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2.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theme/theme4.xml" ContentType="application/vnd.openxmlformats-officedocument.theme+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theme/theme5.xml" ContentType="application/vnd.openxmlformats-officedocument.theme+xml"/>
  <Override PartName="/ppt/tags/tag23.xml" ContentType="application/vnd.openxmlformats-officedocument.presentationml.tags+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theme/theme6.xml" ContentType="application/vnd.openxmlformats-officedocument.theme+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7.xml" ContentType="application/vnd.openxmlformats-officedocument.theme+xml"/>
  <Override PartName="/ppt/tags/tag34.xml" ContentType="application/vnd.openxmlformats-officedocument.presentationml.tags+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theme/theme8.xml" ContentType="application/vnd.openxmlformats-officedocument.theme+xml"/>
  <Override PartName="/ppt/tags/tag35.xml" ContentType="application/vnd.openxmlformats-officedocument.presentationml.tags+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theme/theme9.xml" ContentType="application/vnd.openxmlformats-officedocument.theme+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theme/theme10.xml" ContentType="application/vnd.openxmlformats-officedocument.theme+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theme/theme11.xml" ContentType="application/vnd.openxmlformats-officedocument.theme+xml"/>
  <Override PartName="/ppt/tags/tag53.xml" ContentType="application/vnd.openxmlformats-officedocument.presentationml.tags+xml"/>
  <Override PartName="/ppt/theme/theme12.xml" ContentType="application/vnd.openxmlformats-officedocument.theme+xml"/>
  <Override PartName="/ppt/notesSlides/notesSlide1.xml" ContentType="application/vnd.openxmlformats-officedocument.presentationml.notesSlide+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95.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comments/modernComment_7FFFE739_60C200E2.xml" ContentType="application/vnd.ms-powerpoint.comments+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omments/modernComment_7FFFE754_BF27EB03.xml" ContentType="application/vnd.ms-powerpoint.comments+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comments/modernComment_13D_A3B2AEF9.xml" ContentType="application/vnd.ms-powerpoint.comments+xml"/>
  <Override PartName="/ppt/notesSlides/notesSlide86.xml" ContentType="application/vnd.openxmlformats-officedocument.presentationml.notesSlide+xml"/>
  <Override PartName="/ppt/comments/modernComment_122_50EFFA4.xml" ContentType="application/vnd.ms-powerpoint.comments+xml"/>
  <Override PartName="/ppt/notesSlides/notesSlide87.xml" ContentType="application/vnd.openxmlformats-officedocument.presentationml.notesSlide+xml"/>
  <Override PartName="/ppt/comments/modernComment_152_47C1F9E9.xml" ContentType="application/vnd.ms-powerpoint.comments+xml"/>
  <Override PartName="/ppt/notesSlides/notesSlide88.xml" ContentType="application/vnd.openxmlformats-officedocument.presentationml.notesSlide+xml"/>
  <Override PartName="/ppt/comments/modernComment_7FFFFFFC_3112F2B4.xml" ContentType="application/vnd.ms-powerpoint.comments+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comments/modernComment_121_F2076C1A.xml" ContentType="application/vnd.ms-powerpoint.comments+xml"/>
  <Override PartName="/ppt/comments/modernComment_7FFFFFF8_3A74F313.xml" ContentType="application/vnd.ms-powerpoint.comments+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comments/modernComment_12E_57758AF.xml" ContentType="application/vnd.ms-powerpoint.comments+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comments/modernComment_167_15452C78.xml" ContentType="application/vnd.ms-powerpoint.comments+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comments/modernComment_15C_B436B5B1.xml" ContentType="application/vnd.ms-powerpoint.comments+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comments/modernComment_12A_8709227F.xml" ContentType="application/vnd.ms-powerpoint.comments+xml"/>
  <Override PartName="/ppt/notesSlides/notesSlide130.xml" ContentType="application/vnd.openxmlformats-officedocument.presentationml.notesSlide+xml"/>
  <Override PartName="/ppt/comments/modernComment_16D_98868F86.xml" ContentType="application/vnd.ms-powerpoint.comments+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tags/tag96.xml" ContentType="application/vnd.openxmlformats-officedocument.presentationml.tags+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tags/tag97.xml" ContentType="application/vnd.openxmlformats-officedocument.presentationml.tags+xml"/>
  <Override PartName="/ppt/tags/tag98.xml" ContentType="application/vnd.openxmlformats-officedocument.presentationml.tags+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notesSlides/notesSlide147.xml" ContentType="application/vnd.openxmlformats-officedocument.presentationml.notesSlide+xml"/>
  <Override PartName="/ppt/tags/tag104.xml" ContentType="application/vnd.openxmlformats-officedocument.presentationml.tags+xml"/>
  <Override PartName="/ppt/tags/tag105.xml" ContentType="application/vnd.openxmlformats-officedocument.presentationml.tags+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 id="2147483675" r:id="rId5"/>
    <p:sldMasterId id="2147483723" r:id="rId6"/>
    <p:sldMasterId id="2147483798" r:id="rId7"/>
    <p:sldMasterId id="2147483834" r:id="rId8"/>
    <p:sldMasterId id="2147483880" r:id="rId9"/>
    <p:sldMasterId id="2147483916" r:id="rId10"/>
    <p:sldMasterId id="2147483999" r:id="rId11"/>
    <p:sldMasterId id="2147484054" r:id="rId12"/>
    <p:sldMasterId id="2147484090" r:id="rId13"/>
    <p:sldMasterId id="2147484097" r:id="rId14"/>
  </p:sldMasterIdLst>
  <p:notesMasterIdLst>
    <p:notesMasterId r:id="rId212"/>
  </p:notesMasterIdLst>
  <p:sldIdLst>
    <p:sldId id="274" r:id="rId15"/>
    <p:sldId id="273" r:id="rId16"/>
    <p:sldId id="2147483603" r:id="rId17"/>
    <p:sldId id="275" r:id="rId18"/>
    <p:sldId id="2147483631" r:id="rId19"/>
    <p:sldId id="282" r:id="rId20"/>
    <p:sldId id="2147477350" r:id="rId21"/>
    <p:sldId id="276" r:id="rId22"/>
    <p:sldId id="281" r:id="rId23"/>
    <p:sldId id="271" r:id="rId24"/>
    <p:sldId id="2147477312" r:id="rId25"/>
    <p:sldId id="2147473840" r:id="rId26"/>
    <p:sldId id="256" r:id="rId27"/>
    <p:sldId id="2147477341" r:id="rId28"/>
    <p:sldId id="314" r:id="rId29"/>
    <p:sldId id="2147477297" r:id="rId30"/>
    <p:sldId id="2147477316" r:id="rId31"/>
    <p:sldId id="2147477342" r:id="rId32"/>
    <p:sldId id="270" r:id="rId33"/>
    <p:sldId id="2147477310" r:id="rId34"/>
    <p:sldId id="2147477311" r:id="rId35"/>
    <p:sldId id="2147477299" r:id="rId36"/>
    <p:sldId id="2147477298" r:id="rId37"/>
    <p:sldId id="336" r:id="rId38"/>
    <p:sldId id="2147477325" r:id="rId39"/>
    <p:sldId id="2147477309" r:id="rId40"/>
    <p:sldId id="2147477313" r:id="rId41"/>
    <p:sldId id="344" r:id="rId42"/>
    <p:sldId id="2147477301" r:id="rId43"/>
    <p:sldId id="2147477302" r:id="rId44"/>
    <p:sldId id="2147483645" r:id="rId45"/>
    <p:sldId id="2147477306" r:id="rId46"/>
    <p:sldId id="2147477343" r:id="rId47"/>
    <p:sldId id="2147477303" r:id="rId48"/>
    <p:sldId id="2147477304" r:id="rId49"/>
    <p:sldId id="341" r:id="rId50"/>
    <p:sldId id="2147477326" r:id="rId51"/>
    <p:sldId id="2147477307" r:id="rId52"/>
    <p:sldId id="2147477305" r:id="rId53"/>
    <p:sldId id="2147477315" r:id="rId54"/>
    <p:sldId id="2147477344" r:id="rId55"/>
    <p:sldId id="2147477314" r:id="rId56"/>
    <p:sldId id="343" r:id="rId57"/>
    <p:sldId id="259" r:id="rId58"/>
    <p:sldId id="2147477327" r:id="rId59"/>
    <p:sldId id="2147477328" r:id="rId60"/>
    <p:sldId id="2147477329" r:id="rId61"/>
    <p:sldId id="2147477330" r:id="rId62"/>
    <p:sldId id="2147477331" r:id="rId63"/>
    <p:sldId id="2147477332" r:id="rId64"/>
    <p:sldId id="2147477333" r:id="rId65"/>
    <p:sldId id="2147477345" r:id="rId66"/>
    <p:sldId id="2147477346" r:id="rId67"/>
    <p:sldId id="260" r:id="rId68"/>
    <p:sldId id="2147477320" r:id="rId69"/>
    <p:sldId id="2147477334" r:id="rId70"/>
    <p:sldId id="2147477335" r:id="rId71"/>
    <p:sldId id="2147477336" r:id="rId72"/>
    <p:sldId id="2147477337" r:id="rId73"/>
    <p:sldId id="2147477338" r:id="rId74"/>
    <p:sldId id="261" r:id="rId75"/>
    <p:sldId id="262" r:id="rId76"/>
    <p:sldId id="2147477388" r:id="rId77"/>
    <p:sldId id="2147477389" r:id="rId78"/>
    <p:sldId id="2147483647" r:id="rId79"/>
    <p:sldId id="283" r:id="rId80"/>
    <p:sldId id="284" r:id="rId81"/>
    <p:sldId id="2147477390" r:id="rId82"/>
    <p:sldId id="2147477391" r:id="rId83"/>
    <p:sldId id="286" r:id="rId84"/>
    <p:sldId id="287" r:id="rId85"/>
    <p:sldId id="288" r:id="rId86"/>
    <p:sldId id="2147477392" r:id="rId87"/>
    <p:sldId id="285" r:id="rId88"/>
    <p:sldId id="263" r:id="rId89"/>
    <p:sldId id="2147477382" r:id="rId90"/>
    <p:sldId id="277" r:id="rId91"/>
    <p:sldId id="2147477354" r:id="rId92"/>
    <p:sldId id="337" r:id="rId93"/>
    <p:sldId id="2147477383" r:id="rId94"/>
    <p:sldId id="2147477384" r:id="rId95"/>
    <p:sldId id="2147477380" r:id="rId96"/>
    <p:sldId id="278" r:id="rId97"/>
    <p:sldId id="339" r:id="rId98"/>
    <p:sldId id="2147477381" r:id="rId99"/>
    <p:sldId id="340" r:id="rId100"/>
    <p:sldId id="2147483646" r:id="rId101"/>
    <p:sldId id="257" r:id="rId102"/>
    <p:sldId id="2147477386" r:id="rId103"/>
    <p:sldId id="264" r:id="rId104"/>
    <p:sldId id="280" r:id="rId105"/>
    <p:sldId id="265" r:id="rId106"/>
    <p:sldId id="266" r:id="rId107"/>
    <p:sldId id="267" r:id="rId108"/>
    <p:sldId id="268" r:id="rId109"/>
    <p:sldId id="269" r:id="rId110"/>
    <p:sldId id="272" r:id="rId111"/>
    <p:sldId id="342" r:id="rId112"/>
    <p:sldId id="2147477395" r:id="rId113"/>
    <p:sldId id="2147477397" r:id="rId114"/>
    <p:sldId id="304" r:id="rId115"/>
    <p:sldId id="301" r:id="rId116"/>
    <p:sldId id="354" r:id="rId117"/>
    <p:sldId id="296" r:id="rId118"/>
    <p:sldId id="668" r:id="rId119"/>
    <p:sldId id="317" r:id="rId120"/>
    <p:sldId id="290" r:id="rId121"/>
    <p:sldId id="338" r:id="rId122"/>
    <p:sldId id="2147483644" r:id="rId123"/>
    <p:sldId id="2147477398" r:id="rId124"/>
    <p:sldId id="289" r:id="rId125"/>
    <p:sldId id="2147483640" r:id="rId126"/>
    <p:sldId id="292" r:id="rId127"/>
    <p:sldId id="346" r:id="rId128"/>
    <p:sldId id="347" r:id="rId129"/>
    <p:sldId id="302" r:id="rId130"/>
    <p:sldId id="297" r:id="rId131"/>
    <p:sldId id="675" r:id="rId132"/>
    <p:sldId id="359" r:id="rId133"/>
    <p:sldId id="358" r:id="rId134"/>
    <p:sldId id="360" r:id="rId135"/>
    <p:sldId id="293" r:id="rId136"/>
    <p:sldId id="353" r:id="rId137"/>
    <p:sldId id="279" r:id="rId138"/>
    <p:sldId id="355" r:id="rId139"/>
    <p:sldId id="356" r:id="rId140"/>
    <p:sldId id="357" r:id="rId141"/>
    <p:sldId id="328" r:id="rId142"/>
    <p:sldId id="364" r:id="rId143"/>
    <p:sldId id="2147477280" r:id="rId144"/>
    <p:sldId id="2147472934" r:id="rId145"/>
    <p:sldId id="361" r:id="rId146"/>
    <p:sldId id="2147481716" r:id="rId147"/>
    <p:sldId id="362" r:id="rId148"/>
    <p:sldId id="2147473811" r:id="rId149"/>
    <p:sldId id="363" r:id="rId150"/>
    <p:sldId id="345" r:id="rId151"/>
    <p:sldId id="349" r:id="rId152"/>
    <p:sldId id="348" r:id="rId153"/>
    <p:sldId id="2147472921" r:id="rId154"/>
    <p:sldId id="2147481712" r:id="rId155"/>
    <p:sldId id="2147477277" r:id="rId156"/>
    <p:sldId id="329" r:id="rId157"/>
    <p:sldId id="330" r:id="rId158"/>
    <p:sldId id="638" r:id="rId159"/>
    <p:sldId id="295" r:id="rId160"/>
    <p:sldId id="2147483525" r:id="rId161"/>
    <p:sldId id="318" r:id="rId162"/>
    <p:sldId id="310" r:id="rId163"/>
    <p:sldId id="678" r:id="rId164"/>
    <p:sldId id="352" r:id="rId165"/>
    <p:sldId id="321" r:id="rId166"/>
    <p:sldId id="331" r:id="rId167"/>
    <p:sldId id="332" r:id="rId168"/>
    <p:sldId id="333" r:id="rId169"/>
    <p:sldId id="334" r:id="rId170"/>
    <p:sldId id="335" r:id="rId171"/>
    <p:sldId id="294" r:id="rId172"/>
    <p:sldId id="299" r:id="rId173"/>
    <p:sldId id="300" r:id="rId174"/>
    <p:sldId id="303" r:id="rId175"/>
    <p:sldId id="298" r:id="rId176"/>
    <p:sldId id="365" r:id="rId177"/>
    <p:sldId id="305" r:id="rId178"/>
    <p:sldId id="291" r:id="rId179"/>
    <p:sldId id="311" r:id="rId180"/>
    <p:sldId id="312" r:id="rId181"/>
    <p:sldId id="258" r:id="rId182"/>
    <p:sldId id="350" r:id="rId183"/>
    <p:sldId id="307" r:id="rId184"/>
    <p:sldId id="308" r:id="rId185"/>
    <p:sldId id="309" r:id="rId186"/>
    <p:sldId id="316" r:id="rId187"/>
    <p:sldId id="306" r:id="rId188"/>
    <p:sldId id="326" r:id="rId189"/>
    <p:sldId id="327" r:id="rId190"/>
    <p:sldId id="322" r:id="rId191"/>
    <p:sldId id="323" r:id="rId192"/>
    <p:sldId id="2147475211" r:id="rId193"/>
    <p:sldId id="2147483552" r:id="rId194"/>
    <p:sldId id="2147483567" r:id="rId195"/>
    <p:sldId id="325" r:id="rId196"/>
    <p:sldId id="2147483570" r:id="rId197"/>
    <p:sldId id="324" r:id="rId198"/>
    <p:sldId id="2147483569" r:id="rId199"/>
    <p:sldId id="351" r:id="rId200"/>
    <p:sldId id="315" r:id="rId201"/>
    <p:sldId id="313" r:id="rId202"/>
    <p:sldId id="2147483643" r:id="rId203"/>
    <p:sldId id="2147483636" r:id="rId204"/>
    <p:sldId id="2147473414" r:id="rId205"/>
    <p:sldId id="319" r:id="rId206"/>
    <p:sldId id="320" r:id="rId207"/>
    <p:sldId id="2147477349" r:id="rId208"/>
    <p:sldId id="2147477317" r:id="rId209"/>
    <p:sldId id="2147477318" r:id="rId210"/>
    <p:sldId id="2147477319" r:id="rId211"/>
  </p:sldIdLst>
  <p:sldSz cx="12192000" cy="6858000"/>
  <p:notesSz cx="6858000" cy="9144000"/>
  <p:custDataLst>
    <p:tags r:id="rId213"/>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General Scope &amp; Assumption &amp; Requirement" id="{AC18042B-B54F-416B-9400-7391B40CA4A7}">
          <p14:sldIdLst>
            <p14:sldId id="274"/>
            <p14:sldId id="273"/>
            <p14:sldId id="2147483603"/>
            <p14:sldId id="275"/>
            <p14:sldId id="2147483631"/>
            <p14:sldId id="282"/>
            <p14:sldId id="2147477350"/>
            <p14:sldId id="276"/>
            <p14:sldId id="281"/>
            <p14:sldId id="271"/>
            <p14:sldId id="2147477312"/>
            <p14:sldId id="2147473840"/>
            <p14:sldId id="256"/>
            <p14:sldId id="2147477341"/>
            <p14:sldId id="314"/>
          </p14:sldIdLst>
        </p14:section>
        <p14:section name="DaaS_S&amp;D_MSA&amp;MLA" id="{4A97F797-2737-40B8-9DC2-0F34B090EE95}">
          <p14:sldIdLst>
            <p14:sldId id="2147477297"/>
            <p14:sldId id="2147477316"/>
            <p14:sldId id="2147477342"/>
            <p14:sldId id="270"/>
            <p14:sldId id="2147477310"/>
            <p14:sldId id="2147477311"/>
            <p14:sldId id="2147477299"/>
            <p14:sldId id="2147477298"/>
            <p14:sldId id="336"/>
            <p14:sldId id="2147477325"/>
            <p14:sldId id="2147477309"/>
            <p14:sldId id="2147477313"/>
            <p14:sldId id="344"/>
          </p14:sldIdLst>
        </p14:section>
        <p14:section name="DaaS_AFE_MSA&amp;MLA" id="{0566A2DE-F4A6-47C3-A4C9-DD0D18140083}">
          <p14:sldIdLst>
            <p14:sldId id="2147477301"/>
            <p14:sldId id="2147477302"/>
            <p14:sldId id="2147483645"/>
            <p14:sldId id="2147477306"/>
            <p14:sldId id="2147477343"/>
            <p14:sldId id="2147477303"/>
            <p14:sldId id="2147477304"/>
            <p14:sldId id="341"/>
            <p14:sldId id="2147477326"/>
            <p14:sldId id="2147477307"/>
            <p14:sldId id="2147477305"/>
            <p14:sldId id="2147477315"/>
            <p14:sldId id="2147477344"/>
            <p14:sldId id="2147477314"/>
            <p14:sldId id="343"/>
          </p14:sldIdLst>
        </p14:section>
        <p14:section name="DaaS_AFE HUB_MSA&amp;MLA" id="{1D262279-5B26-4AC6-B7A2-F78DADEDF8D5}">
          <p14:sldIdLst>
            <p14:sldId id="259"/>
            <p14:sldId id="2147477327"/>
            <p14:sldId id="2147477328"/>
            <p14:sldId id="2147477329"/>
            <p14:sldId id="2147477330"/>
            <p14:sldId id="2147477331"/>
            <p14:sldId id="2147477332"/>
            <p14:sldId id="2147477333"/>
            <p14:sldId id="2147477345"/>
            <p14:sldId id="2147477346"/>
          </p14:sldIdLst>
        </p14:section>
        <p14:section name="DaaS_AFE Central_MSA&amp;MLA" id="{3D0BE9E8-1149-413C-8BD8-511388DE884C}">
          <p14:sldIdLst>
            <p14:sldId id="260"/>
            <p14:sldId id="2147477320"/>
            <p14:sldId id="2147477334"/>
            <p14:sldId id="2147477335"/>
            <p14:sldId id="2147477336"/>
            <p14:sldId id="2147477337"/>
            <p14:sldId id="2147477338"/>
          </p14:sldIdLst>
        </p14:section>
        <p14:section name="DaaS_AFE_Managed Capex" id="{EF7198AD-2614-4C62-8508-EBF5EBF5B9B7}">
          <p14:sldIdLst>
            <p14:sldId id="261"/>
          </p14:sldIdLst>
        </p14:section>
        <p14:section name="DaaS_S&amp;D_Managed Capex" id="{20AC4933-C4E7-48C1-B619-1B256AE750B1}">
          <p14:sldIdLst>
            <p14:sldId id="262"/>
          </p14:sldIdLst>
        </p14:section>
        <p14:section name="ISGLEASE_S&amp;D_MLA" id="{227C2E66-AE57-4B5C-9A2F-093FC567FF58}">
          <p14:sldIdLst>
            <p14:sldId id="2147477388"/>
            <p14:sldId id="2147477389"/>
            <p14:sldId id="2147483647"/>
            <p14:sldId id="283"/>
            <p14:sldId id="284"/>
            <p14:sldId id="2147477390"/>
          </p14:sldIdLst>
        </p14:section>
        <p14:section name="ISGLEASE_AFE_MLA" id="{F00DB9CD-BC96-4749-8095-67636980BF22}">
          <p14:sldIdLst>
            <p14:sldId id="2147477391"/>
            <p14:sldId id="286"/>
            <p14:sldId id="287"/>
            <p14:sldId id="288"/>
            <p14:sldId id="2147477392"/>
          </p14:sldIdLst>
        </p14:section>
        <p14:section name="ISGLEASE_AFE HUB_MLA" id="{ACFDFA6F-AEC1-4828-BD09-55FAD515626F}">
          <p14:sldIdLst>
            <p14:sldId id="285"/>
          </p14:sldIdLst>
        </p14:section>
        <p14:section name="IAAS_S&amp;D_MSA" id="{BEB8DB92-0C99-49E0-8284-6BB7E3818653}">
          <p14:sldIdLst>
            <p14:sldId id="263"/>
            <p14:sldId id="2147477382"/>
            <p14:sldId id="277"/>
            <p14:sldId id="2147477354"/>
            <p14:sldId id="337"/>
            <p14:sldId id="2147477383"/>
            <p14:sldId id="2147477384"/>
          </p14:sldIdLst>
        </p14:section>
        <p14:section name="IAAS_AFE_MSA" id="{37FBD06D-9B4A-4922-B94D-29EC2D7B1009}">
          <p14:sldIdLst>
            <p14:sldId id="2147477380"/>
            <p14:sldId id="278"/>
            <p14:sldId id="339"/>
            <p14:sldId id="2147477381"/>
            <p14:sldId id="340"/>
            <p14:sldId id="2147483646"/>
            <p14:sldId id="257"/>
            <p14:sldId id="2147477386"/>
            <p14:sldId id="264"/>
          </p14:sldIdLst>
        </p14:section>
        <p14:section name="IAAS_AFE HUB_MSA" id="{E624A214-E771-45B4-9E6D-B165124FA63E}">
          <p14:sldIdLst>
            <p14:sldId id="280"/>
            <p14:sldId id="265"/>
            <p14:sldId id="266"/>
            <p14:sldId id="267"/>
            <p14:sldId id="268"/>
            <p14:sldId id="269"/>
            <p14:sldId id="272"/>
          </p14:sldIdLst>
        </p14:section>
        <p14:section name="Manual Entry" id="{5E330831-D46B-4115-B688-E303D9C1B95F}">
          <p14:sldIdLst>
            <p14:sldId id="342"/>
          </p14:sldIdLst>
        </p14:section>
        <p14:section name="New 95 Requirement" id="{83E037EF-D72C-4B35-B182-4FEF1ABED560}">
          <p14:sldIdLst>
            <p14:sldId id="2147477395"/>
            <p14:sldId id="2147477397"/>
            <p14:sldId id="304"/>
            <p14:sldId id="301"/>
            <p14:sldId id="354"/>
          </p14:sldIdLst>
        </p14:section>
        <p14:section name="Capex+Ondemand Billing" id="{CCAE5C92-4550-466E-A830-A4F715D1B73C}">
          <p14:sldIdLst>
            <p14:sldId id="296"/>
            <p14:sldId id="668"/>
            <p14:sldId id="317"/>
            <p14:sldId id="290"/>
            <p14:sldId id="338"/>
            <p14:sldId id="2147483644"/>
            <p14:sldId id="2147477398"/>
            <p14:sldId id="289"/>
            <p14:sldId id="2147483640"/>
          </p14:sldIdLst>
        </p14:section>
        <p14:section name="Semi year/Yearly Billing" id="{6AA20F20-4D68-4CD4-8241-C1AE77029B0A}">
          <p14:sldIdLst>
            <p14:sldId id="292"/>
            <p14:sldId id="346"/>
            <p14:sldId id="347"/>
            <p14:sldId id="302"/>
          </p14:sldIdLst>
        </p14:section>
        <p14:section name="Interim charge" id="{E1C3D25D-C690-407C-A909-F0D0644396DA}">
          <p14:sldIdLst>
            <p14:sldId id="297"/>
            <p14:sldId id="675"/>
            <p14:sldId id="359"/>
            <p14:sldId id="358"/>
            <p14:sldId id="360"/>
          </p14:sldIdLst>
        </p14:section>
        <p14:section name="DaaS/ISGLEASE S&amp;D" id="{F4737709-9E53-4FF7-8742-9FB0F1528B13}">
          <p14:sldIdLst>
            <p14:sldId id="293"/>
            <p14:sldId id="353"/>
          </p14:sldIdLst>
        </p14:section>
        <p14:section name="DaaS/ISGLEASE AFE" id="{0961E34E-E531-4CAB-9FD6-E3FC1EA2AAD8}">
          <p14:sldIdLst>
            <p14:sldId id="279"/>
            <p14:sldId id="355"/>
            <p14:sldId id="356"/>
            <p14:sldId id="357"/>
          </p14:sldIdLst>
        </p14:section>
        <p14:section name="Mid Term ReWrite" id="{B2F4D990-D0ED-4774-AD9F-42BF608FC95F}">
          <p14:sldIdLst>
            <p14:sldId id="328"/>
            <p14:sldId id="364"/>
          </p14:sldIdLst>
        </p14:section>
        <p14:section name="OL change to OL" id="{801B08F1-DA2D-4EFD-A812-7E45EF8A1946}">
          <p14:sldIdLst>
            <p14:sldId id="2147477280"/>
            <p14:sldId id="2147472934"/>
            <p14:sldId id="361"/>
          </p14:sldIdLst>
        </p14:section>
        <p14:section name="FL change to FL" id="{AB88CAC6-F5FF-4C01-B037-2D2184732E55}">
          <p14:sldIdLst>
            <p14:sldId id="2147481716"/>
            <p14:sldId id="362"/>
            <p14:sldId id="2147473811"/>
            <p14:sldId id="363"/>
          </p14:sldIdLst>
        </p14:section>
        <p14:section name="OL change to FL" id="{7256CEC6-99CC-4082-BC4E-A02E992717FC}">
          <p14:sldIdLst>
            <p14:sldId id="345"/>
            <p14:sldId id="349"/>
            <p14:sldId id="348"/>
          </p14:sldIdLst>
        </p14:section>
        <p14:section name="EOT-Extension" id="{115EB80C-C20A-42E6-AC3E-F67216296537}">
          <p14:sldIdLst>
            <p14:sldId id="2147472921"/>
            <p14:sldId id="2147481712"/>
            <p14:sldId id="2147477277"/>
            <p14:sldId id="329"/>
            <p14:sldId id="330"/>
          </p14:sldIdLst>
        </p14:section>
        <p14:section name="Structure Payment" id="{AC24494F-3EB4-4991-833F-472D9D220C40}">
          <p14:sldIdLst>
            <p14:sldId id="638"/>
            <p14:sldId id="295"/>
            <p14:sldId id="2147483525"/>
            <p14:sldId id="318"/>
            <p14:sldId id="310"/>
            <p14:sldId id="678"/>
            <p14:sldId id="352"/>
            <p14:sldId id="321"/>
            <p14:sldId id="331"/>
            <p14:sldId id="332"/>
            <p14:sldId id="333"/>
            <p14:sldId id="334"/>
            <p14:sldId id="335"/>
          </p14:sldIdLst>
        </p14:section>
        <p14:section name="DAAS_S&amp;D_MLA" id="{773A0689-18E4-4A49-BF8E-698F42C72723}">
          <p14:sldIdLst>
            <p14:sldId id="294"/>
            <p14:sldId id="299"/>
            <p14:sldId id="300"/>
            <p14:sldId id="303"/>
            <p14:sldId id="298"/>
            <p14:sldId id="365"/>
          </p14:sldIdLst>
        </p14:section>
        <p14:section name="DAAS_AFE_MLA" id="{60E2D924-930E-4B06-B419-18EB30CD93EF}">
          <p14:sldIdLst>
            <p14:sldId id="305"/>
            <p14:sldId id="291"/>
            <p14:sldId id="311"/>
            <p14:sldId id="312"/>
          </p14:sldIdLst>
        </p14:section>
        <p14:section name="Advanced billing" id="{12708D51-89D8-4C3B-A49A-E367819B89E4}">
          <p14:sldIdLst>
            <p14:sldId id="258"/>
            <p14:sldId id="350"/>
            <p14:sldId id="307"/>
            <p14:sldId id="308"/>
            <p14:sldId id="309"/>
            <p14:sldId id="316"/>
          </p14:sldIdLst>
        </p14:section>
        <p14:section name="IaaS OPP ID report" id="{480850EB-77FA-4277-BEE2-46CD3DEF1358}">
          <p14:sldIdLst>
            <p14:sldId id="306"/>
            <p14:sldId id="326"/>
            <p14:sldId id="327"/>
          </p14:sldIdLst>
        </p14:section>
        <p14:section name="MR" id="{CE3B9468-BF29-4A40-9130-D3085E1B0A6F}">
          <p14:sldIdLst>
            <p14:sldId id="322"/>
            <p14:sldId id="323"/>
            <p14:sldId id="2147475211"/>
            <p14:sldId id="2147483552"/>
            <p14:sldId id="2147483567"/>
            <p14:sldId id="325"/>
            <p14:sldId id="2147483570"/>
            <p14:sldId id="324"/>
            <p14:sldId id="2147483569"/>
            <p14:sldId id="351"/>
          </p14:sldIdLst>
        </p14:section>
        <p14:section name="PRC Hitachi central billing" id="{C36FF17D-2FDA-41D4-B7F1-7EB557B40E65}">
          <p14:sldIdLst>
            <p14:sldId id="315"/>
            <p14:sldId id="313"/>
          </p14:sldIdLst>
        </p14:section>
        <p14:section name="Backlog" id="{D3529493-6D61-47FC-8516-6367EBF5C72E}">
          <p14:sldIdLst>
            <p14:sldId id="2147483643"/>
            <p14:sldId id="2147483636"/>
            <p14:sldId id="2147473414"/>
            <p14:sldId id="319"/>
            <p14:sldId id="320"/>
            <p14:sldId id="2147477349"/>
            <p14:sldId id="2147477317"/>
            <p14:sldId id="2147477318"/>
            <p14:sldId id="2147477319"/>
          </p14:sldIdLst>
        </p14:section>
      </p14:section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48ED9B07-B22D-5D85-4A1E-C2D32A443E6C}" name="Grace JJ10 Feng" initials="" userId="S::fengjj10@Lenovo.com::73994a99-c49c-411b-904b-b660c4adb7d4" providerId="AD"/>
  <p188:author id="{F7766C1E-B9D6-CE90-E97E-609D0C95743E}" name="Eric GQ11 Wang" initials="GW" userId="S::wanggq11@Lenovo.com::6ecf9a85-9875-48bf-869a-8bf2d1be0f20" providerId="AD"/>
  <p188:author id="{3CC8213C-9803-1B72-3775-BF2FA19C2369}" name="Aria Wen1 Yuan" initials="WY" userId="S::yuanwen1@Lenovo.com::88712611-f57a-4302-8c84-7ff6d6f79198" providerId="AD"/>
  <p188:author id="{F6B640A8-E5AF-3960-0361-FD49429450CF}" name="Edison Yu8 Liang" initials="YL" userId="S::liangyu8@Lenovo.com::346c4b67-572a-4ef8-9615-28762147d973" providerId="AD"/>
  <p188:author id="{ACC250B3-CA8F-1C15-E28A-32A7A62F14E9}" name="Zhonghua ZH5 Xue" initials="" userId="S::xuezh5@Lenovo.com::23257825-937d-4609-937d-abe7f4ae1e13" providerId="AD"/>
  <p188:author id="{3B4826B6-5FBE-E1CC-C43D-2FA53B79267B}" name="Aria Wen1 Yuan" initials="AY" userId="S::yuanwen1@lenovo.com::88712611-f57a-4302-8c84-7ff6d6f79198" providerId="AD"/>
  <p188:author id="{DBB97ADA-1F82-5743-F235-5446849B007F}" name="Emma Cameron" initials="EC" userId="S::ecameron@Lenovo.com::0477a9a8-c446-41d8-b76b-07e33a2e3625"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9D9D9"/>
    <a:srgbClr val="D8E8F8"/>
    <a:srgbClr val="E9F5F9"/>
    <a:srgbClr val="D1D1D1"/>
    <a:srgbClr val="46C8E1"/>
    <a:srgbClr val="FFE1CC"/>
    <a:srgbClr val="ED7D31"/>
    <a:srgbClr val="E8EEF9"/>
    <a:srgbClr val="3E8DDD"/>
    <a:srgbClr val="6AC34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DA30C8A-B895-43A4-94BF-86CBF8EF2B54}" v="7" dt="2026-09-21T03:03:03.236"/>
  </p1510:revLst>
</p1510:revInfo>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D7B26C5-4107-4FEC-AEDC-1716B250A1EF}" styleName="浅色样式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3C2FFA5D-87B4-456A-9821-1D502468CF0F}" styleName="主题样式 1 - 强调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gridSpacing cx="76200" cy="76200"/>
</p:viewPr>
</file>

<file path=ppt/_rels/presentation.xml.rels>&#65279;<?xml version="1.0" encoding="utf-8"?><Relationships xmlns="http://schemas.openxmlformats.org/package/2006/relationships"><Relationship Type="http://schemas.openxmlformats.org/officeDocument/2006/relationships/slide" Target="slides/slide103.xml" Id="rId117" /><Relationship Type="http://schemas.openxmlformats.org/officeDocument/2006/relationships/slide" Target="slides/slide7.xml" Id="rId21" /><Relationship Type="http://schemas.openxmlformats.org/officeDocument/2006/relationships/slide" Target="slides/slide28.xml" Id="rId42" /><Relationship Type="http://schemas.openxmlformats.org/officeDocument/2006/relationships/slide" Target="slides/slide49.xml" Id="rId63" /><Relationship Type="http://schemas.openxmlformats.org/officeDocument/2006/relationships/slide" Target="slides/slide70.xml" Id="rId84" /><Relationship Type="http://schemas.openxmlformats.org/officeDocument/2006/relationships/slide" Target="slides/slide124.xml" Id="rId138" /><Relationship Type="http://schemas.openxmlformats.org/officeDocument/2006/relationships/slide" Target="slides/slide145.xml" Id="rId159" /><Relationship Type="http://schemas.openxmlformats.org/officeDocument/2006/relationships/slide" Target="slides/slide156.xml" Id="rId170" /><Relationship Type="http://schemas.openxmlformats.org/officeDocument/2006/relationships/slide" Target="slides/slide177.xml" Id="rId191" /><Relationship Type="http://schemas.openxmlformats.org/officeDocument/2006/relationships/slide" Target="slides/slide191.xml" Id="rId205" /><Relationship Type="http://schemas.openxmlformats.org/officeDocument/2006/relationships/slide" Target="slides/slide93.xml" Id="rId107" /><Relationship Type="http://schemas.openxmlformats.org/officeDocument/2006/relationships/slideMaster" Target="slideMasters/slideMaster8.xml" Id="rId11" /><Relationship Type="http://schemas.openxmlformats.org/officeDocument/2006/relationships/slide" Target="slides/slide18.xml" Id="rId32" /><Relationship Type="http://schemas.openxmlformats.org/officeDocument/2006/relationships/slide" Target="slides/slide39.xml" Id="rId53" /><Relationship Type="http://schemas.openxmlformats.org/officeDocument/2006/relationships/slide" Target="slides/slide60.xml" Id="rId74" /><Relationship Type="http://schemas.openxmlformats.org/officeDocument/2006/relationships/slide" Target="slides/slide114.xml" Id="rId128" /><Relationship Type="http://schemas.openxmlformats.org/officeDocument/2006/relationships/slide" Target="slides/slide135.xml" Id="rId149" /><Relationship Type="http://schemas.openxmlformats.org/officeDocument/2006/relationships/slideMaster" Target="slideMasters/slideMaster2.xml" Id="rId5" /><Relationship Type="http://schemas.openxmlformats.org/officeDocument/2006/relationships/slide" Target="slides/slide81.xml" Id="rId95" /><Relationship Type="http://schemas.openxmlformats.org/officeDocument/2006/relationships/slide" Target="slides/slide146.xml" Id="rId160" /><Relationship Type="http://schemas.openxmlformats.org/officeDocument/2006/relationships/slide" Target="slides/slide167.xml" Id="rId181" /><Relationship Type="http://schemas.openxmlformats.org/officeDocument/2006/relationships/theme" Target="theme/theme1.xml" Id="rId216" /><Relationship Type="http://schemas.openxmlformats.org/officeDocument/2006/relationships/slide" Target="slides/slide8.xml" Id="rId22" /><Relationship Type="http://schemas.openxmlformats.org/officeDocument/2006/relationships/slide" Target="slides/slide29.xml" Id="rId43" /><Relationship Type="http://schemas.openxmlformats.org/officeDocument/2006/relationships/slide" Target="slides/slide50.xml" Id="rId64" /><Relationship Type="http://schemas.openxmlformats.org/officeDocument/2006/relationships/slide" Target="slides/slide104.xml" Id="rId118" /><Relationship Type="http://schemas.openxmlformats.org/officeDocument/2006/relationships/slide" Target="slides/slide125.xml" Id="rId139" /><Relationship Type="http://schemas.openxmlformats.org/officeDocument/2006/relationships/slide" Target="slides/slide71.xml" Id="rId85" /><Relationship Type="http://schemas.openxmlformats.org/officeDocument/2006/relationships/slide" Target="slides/slide136.xml" Id="rId150" /><Relationship Type="http://schemas.openxmlformats.org/officeDocument/2006/relationships/slide" Target="slides/slide157.xml" Id="rId171" /><Relationship Type="http://schemas.openxmlformats.org/officeDocument/2006/relationships/slide" Target="slides/slide178.xml" Id="rId192" /><Relationship Type="http://schemas.openxmlformats.org/officeDocument/2006/relationships/slide" Target="slides/slide192.xml" Id="rId206" /><Relationship Type="http://schemas.openxmlformats.org/officeDocument/2006/relationships/slideMaster" Target="slideMasters/slideMaster9.xml" Id="rId12" /><Relationship Type="http://schemas.openxmlformats.org/officeDocument/2006/relationships/slide" Target="slides/slide19.xml" Id="rId33" /><Relationship Type="http://schemas.openxmlformats.org/officeDocument/2006/relationships/slide" Target="slides/slide94.xml" Id="rId108" /><Relationship Type="http://schemas.openxmlformats.org/officeDocument/2006/relationships/slide" Target="slides/slide115.xml" Id="rId129" /><Relationship Type="http://schemas.openxmlformats.org/officeDocument/2006/relationships/slide" Target="slides/slide40.xml" Id="rId54" /><Relationship Type="http://schemas.openxmlformats.org/officeDocument/2006/relationships/slide" Target="slides/slide61.xml" Id="rId75" /><Relationship Type="http://schemas.openxmlformats.org/officeDocument/2006/relationships/slide" Target="slides/slide82.xml" Id="rId96" /><Relationship Type="http://schemas.openxmlformats.org/officeDocument/2006/relationships/slide" Target="slides/slide126.xml" Id="rId140" /><Relationship Type="http://schemas.openxmlformats.org/officeDocument/2006/relationships/slide" Target="slides/slide147.xml" Id="rId161" /><Relationship Type="http://schemas.openxmlformats.org/officeDocument/2006/relationships/slide" Target="slides/slide168.xml" Id="rId182" /><Relationship Type="http://schemas.openxmlformats.org/officeDocument/2006/relationships/tableStyles" Target="tableStyles.xml" Id="rId217" /><Relationship Type="http://schemas.openxmlformats.org/officeDocument/2006/relationships/slideMaster" Target="slideMasters/slideMaster3.xml" Id="rId6" /><Relationship Type="http://schemas.openxmlformats.org/officeDocument/2006/relationships/slide" Target="slides/slide9.xml" Id="rId23" /><Relationship Type="http://schemas.openxmlformats.org/officeDocument/2006/relationships/slide" Target="slides/slide105.xml" Id="rId119" /><Relationship Type="http://schemas.openxmlformats.org/officeDocument/2006/relationships/slide" Target="slides/slide30.xml" Id="rId44" /><Relationship Type="http://schemas.openxmlformats.org/officeDocument/2006/relationships/slide" Target="slides/slide51.xml" Id="rId65" /><Relationship Type="http://schemas.openxmlformats.org/officeDocument/2006/relationships/slide" Target="slides/slide72.xml" Id="rId86" /><Relationship Type="http://schemas.openxmlformats.org/officeDocument/2006/relationships/slide" Target="slides/slide116.xml" Id="rId130" /><Relationship Type="http://schemas.openxmlformats.org/officeDocument/2006/relationships/slide" Target="slides/slide137.xml" Id="rId151" /><Relationship Type="http://schemas.openxmlformats.org/officeDocument/2006/relationships/slide" Target="slides/slide158.xml" Id="rId172" /><Relationship Type="http://schemas.openxmlformats.org/officeDocument/2006/relationships/slide" Target="slides/slide179.xml" Id="rId193" /><Relationship Type="http://schemas.openxmlformats.org/officeDocument/2006/relationships/slide" Target="slides/slide193.xml" Id="rId207" /><Relationship Type="http://schemas.openxmlformats.org/officeDocument/2006/relationships/slideMaster" Target="slideMasters/slideMaster10.xml" Id="rId13" /><Relationship Type="http://schemas.openxmlformats.org/officeDocument/2006/relationships/slide" Target="slides/slide95.xml" Id="rId109" /><Relationship Type="http://schemas.openxmlformats.org/officeDocument/2006/relationships/slide" Target="slides/slide20.xml" Id="rId34" /><Relationship Type="http://schemas.openxmlformats.org/officeDocument/2006/relationships/slide" Target="slides/slide41.xml" Id="rId55" /><Relationship Type="http://schemas.openxmlformats.org/officeDocument/2006/relationships/slide" Target="slides/slide62.xml" Id="rId76" /><Relationship Type="http://schemas.openxmlformats.org/officeDocument/2006/relationships/slide" Target="slides/slide83.xml" Id="rId97" /><Relationship Type="http://schemas.openxmlformats.org/officeDocument/2006/relationships/slide" Target="slides/slide106.xml" Id="rId120" /><Relationship Type="http://schemas.openxmlformats.org/officeDocument/2006/relationships/slide" Target="slides/slide127.xml" Id="rId141" /><Relationship Type="http://schemas.openxmlformats.org/officeDocument/2006/relationships/slideMaster" Target="slideMasters/slideMaster4.xml" Id="rId7" /><Relationship Type="http://schemas.openxmlformats.org/officeDocument/2006/relationships/slide" Target="slides/slide148.xml" Id="rId162" /><Relationship Type="http://schemas.openxmlformats.org/officeDocument/2006/relationships/slide" Target="slides/slide169.xml" Id="rId183" /><Relationship Type="http://schemas.openxmlformats.org/officeDocument/2006/relationships/slide" Target="slides/slide10.xml" Id="rId24" /><Relationship Type="http://schemas.openxmlformats.org/officeDocument/2006/relationships/slide" Target="slides/slide31.xml" Id="rId45" /><Relationship Type="http://schemas.openxmlformats.org/officeDocument/2006/relationships/slide" Target="slides/slide52.xml" Id="rId66" /><Relationship Type="http://schemas.openxmlformats.org/officeDocument/2006/relationships/slide" Target="slides/slide73.xml" Id="rId87" /><Relationship Type="http://schemas.openxmlformats.org/officeDocument/2006/relationships/slide" Target="slides/slide96.xml" Id="rId110" /><Relationship Type="http://schemas.openxmlformats.org/officeDocument/2006/relationships/slide" Target="slides/slide117.xml" Id="rId131" /><Relationship Type="http://schemas.openxmlformats.org/officeDocument/2006/relationships/slide" Target="slides/slide138.xml" Id="rId152" /><Relationship Type="http://schemas.openxmlformats.org/officeDocument/2006/relationships/slide" Target="slides/slide159.xml" Id="rId173" /><Relationship Type="http://schemas.openxmlformats.org/officeDocument/2006/relationships/slide" Target="slides/slide180.xml" Id="rId194" /><Relationship Type="http://schemas.openxmlformats.org/officeDocument/2006/relationships/slide" Target="slides/slide194.xml" Id="rId208" /><Relationship Type="http://schemas.openxmlformats.org/officeDocument/2006/relationships/slideMaster" Target="slideMasters/slideMaster11.xml" Id="rId14" /><Relationship Type="http://schemas.openxmlformats.org/officeDocument/2006/relationships/slide" Target="slides/slide16.xml" Id="rId30" /><Relationship Type="http://schemas.openxmlformats.org/officeDocument/2006/relationships/slide" Target="slides/slide21.xml" Id="rId35" /><Relationship Type="http://schemas.openxmlformats.org/officeDocument/2006/relationships/slide" Target="slides/slide42.xml" Id="rId56" /><Relationship Type="http://schemas.openxmlformats.org/officeDocument/2006/relationships/slide" Target="slides/slide63.xml" Id="rId77" /><Relationship Type="http://schemas.openxmlformats.org/officeDocument/2006/relationships/slide" Target="slides/slide86.xml" Id="rId100" /><Relationship Type="http://schemas.openxmlformats.org/officeDocument/2006/relationships/slide" Target="slides/slide91.xml" Id="rId105" /><Relationship Type="http://schemas.openxmlformats.org/officeDocument/2006/relationships/slide" Target="slides/slide112.xml" Id="rId126" /><Relationship Type="http://schemas.openxmlformats.org/officeDocument/2006/relationships/slide" Target="slides/slide133.xml" Id="rId147" /><Relationship Type="http://schemas.openxmlformats.org/officeDocument/2006/relationships/slide" Target="slides/slide154.xml" Id="rId168" /><Relationship Type="http://schemas.openxmlformats.org/officeDocument/2006/relationships/slideMaster" Target="slideMasters/slideMaster5.xml" Id="rId8" /><Relationship Type="http://schemas.openxmlformats.org/officeDocument/2006/relationships/slide" Target="slides/slide37.xml" Id="rId51" /><Relationship Type="http://schemas.openxmlformats.org/officeDocument/2006/relationships/slide" Target="slides/slide58.xml" Id="rId72" /><Relationship Type="http://schemas.openxmlformats.org/officeDocument/2006/relationships/slide" Target="slides/slide79.xml" Id="rId93" /><Relationship Type="http://schemas.openxmlformats.org/officeDocument/2006/relationships/slide" Target="slides/slide84.xml" Id="rId98" /><Relationship Type="http://schemas.openxmlformats.org/officeDocument/2006/relationships/slide" Target="slides/slide107.xml" Id="rId121" /><Relationship Type="http://schemas.openxmlformats.org/officeDocument/2006/relationships/slide" Target="slides/slide128.xml" Id="rId142" /><Relationship Type="http://schemas.openxmlformats.org/officeDocument/2006/relationships/slide" Target="slides/slide149.xml" Id="rId163" /><Relationship Type="http://schemas.openxmlformats.org/officeDocument/2006/relationships/slide" Target="slides/slide170.xml" Id="rId184" /><Relationship Type="http://schemas.openxmlformats.org/officeDocument/2006/relationships/slide" Target="slides/slide175.xml" Id="rId189" /><Relationship Type="http://schemas.microsoft.com/office/2015/10/relationships/revisionInfo" Target="revisionInfo.xml" Id="rId219" /><Relationship Type="http://schemas.openxmlformats.org/officeDocument/2006/relationships/customXml" Target="../customXml/item3.xml" Id="rId3" /><Relationship Type="http://schemas.openxmlformats.org/officeDocument/2006/relationships/presProps" Target="presProps.xml" Id="rId214" /><Relationship Type="http://schemas.openxmlformats.org/officeDocument/2006/relationships/slide" Target="slides/slide11.xml" Id="rId25" /><Relationship Type="http://schemas.openxmlformats.org/officeDocument/2006/relationships/slide" Target="slides/slide32.xml" Id="rId46" /><Relationship Type="http://schemas.openxmlformats.org/officeDocument/2006/relationships/slide" Target="slides/slide53.xml" Id="rId67" /><Relationship Type="http://schemas.openxmlformats.org/officeDocument/2006/relationships/slide" Target="slides/slide102.xml" Id="rId116" /><Relationship Type="http://schemas.openxmlformats.org/officeDocument/2006/relationships/slide" Target="slides/slide123.xml" Id="rId137" /><Relationship Type="http://schemas.openxmlformats.org/officeDocument/2006/relationships/slide" Target="slides/slide144.xml" Id="rId158" /><Relationship Type="http://schemas.openxmlformats.org/officeDocument/2006/relationships/slide" Target="slides/slide6.xml" Id="rId20" /><Relationship Type="http://schemas.openxmlformats.org/officeDocument/2006/relationships/slide" Target="slides/slide27.xml" Id="rId41" /><Relationship Type="http://schemas.openxmlformats.org/officeDocument/2006/relationships/slide" Target="slides/slide48.xml" Id="rId62" /><Relationship Type="http://schemas.openxmlformats.org/officeDocument/2006/relationships/slide" Target="slides/slide69.xml" Id="rId83" /><Relationship Type="http://schemas.openxmlformats.org/officeDocument/2006/relationships/slide" Target="slides/slide74.xml" Id="rId88" /><Relationship Type="http://schemas.openxmlformats.org/officeDocument/2006/relationships/slide" Target="slides/slide97.xml" Id="rId111" /><Relationship Type="http://schemas.openxmlformats.org/officeDocument/2006/relationships/slide" Target="slides/slide118.xml" Id="rId132" /><Relationship Type="http://schemas.openxmlformats.org/officeDocument/2006/relationships/slide" Target="slides/slide139.xml" Id="rId153" /><Relationship Type="http://schemas.openxmlformats.org/officeDocument/2006/relationships/slide" Target="slides/slide160.xml" Id="rId174" /><Relationship Type="http://schemas.openxmlformats.org/officeDocument/2006/relationships/slide" Target="slides/slide165.xml" Id="rId179" /><Relationship Type="http://schemas.openxmlformats.org/officeDocument/2006/relationships/slide" Target="slides/slide181.xml" Id="rId195" /><Relationship Type="http://schemas.openxmlformats.org/officeDocument/2006/relationships/slide" Target="slides/slide195.xml" Id="rId209" /><Relationship Type="http://schemas.openxmlformats.org/officeDocument/2006/relationships/slide" Target="slides/slide176.xml" Id="rId190" /><Relationship Type="http://schemas.openxmlformats.org/officeDocument/2006/relationships/slide" Target="slides/slide190.xml" Id="rId204" /><Relationship Type="http://schemas.microsoft.com/office/2018/10/relationships/authors" Target="authors.xml" Id="rId220" /><Relationship Type="http://schemas.openxmlformats.org/officeDocument/2006/relationships/slide" Target="slides/slide1.xml" Id="rId15" /><Relationship Type="http://schemas.openxmlformats.org/officeDocument/2006/relationships/slide" Target="slides/slide22.xml" Id="rId36" /><Relationship Type="http://schemas.openxmlformats.org/officeDocument/2006/relationships/slide" Target="slides/slide43.xml" Id="rId57" /><Relationship Type="http://schemas.openxmlformats.org/officeDocument/2006/relationships/slide" Target="slides/slide92.xml" Id="rId106" /><Relationship Type="http://schemas.openxmlformats.org/officeDocument/2006/relationships/slide" Target="slides/slide113.xml" Id="rId127" /><Relationship Type="http://schemas.openxmlformats.org/officeDocument/2006/relationships/slideMaster" Target="slideMasters/slideMaster7.xml" Id="rId10" /><Relationship Type="http://schemas.openxmlformats.org/officeDocument/2006/relationships/slide" Target="slides/slide17.xml" Id="rId31" /><Relationship Type="http://schemas.openxmlformats.org/officeDocument/2006/relationships/slide" Target="slides/slide38.xml" Id="rId52" /><Relationship Type="http://schemas.openxmlformats.org/officeDocument/2006/relationships/slide" Target="slides/slide59.xml" Id="rId73" /><Relationship Type="http://schemas.openxmlformats.org/officeDocument/2006/relationships/slide" Target="slides/slide64.xml" Id="rId78" /><Relationship Type="http://schemas.openxmlformats.org/officeDocument/2006/relationships/slide" Target="slides/slide80.xml" Id="rId94" /><Relationship Type="http://schemas.openxmlformats.org/officeDocument/2006/relationships/slide" Target="slides/slide85.xml" Id="rId99" /><Relationship Type="http://schemas.openxmlformats.org/officeDocument/2006/relationships/slide" Target="slides/slide87.xml" Id="rId101" /><Relationship Type="http://schemas.openxmlformats.org/officeDocument/2006/relationships/slide" Target="slides/slide108.xml" Id="rId122" /><Relationship Type="http://schemas.openxmlformats.org/officeDocument/2006/relationships/slide" Target="slides/slide129.xml" Id="rId143" /><Relationship Type="http://schemas.openxmlformats.org/officeDocument/2006/relationships/slide" Target="slides/slide134.xml" Id="rId148" /><Relationship Type="http://schemas.openxmlformats.org/officeDocument/2006/relationships/slide" Target="slides/slide150.xml" Id="rId164" /><Relationship Type="http://schemas.openxmlformats.org/officeDocument/2006/relationships/slide" Target="slides/slide155.xml" Id="rId169" /><Relationship Type="http://schemas.openxmlformats.org/officeDocument/2006/relationships/slide" Target="slides/slide171.xml" Id="rId185" /><Relationship Type="http://schemas.openxmlformats.org/officeDocument/2006/relationships/slideMaster" Target="slideMasters/slideMaster1.xml" Id="rId4" /><Relationship Type="http://schemas.openxmlformats.org/officeDocument/2006/relationships/slideMaster" Target="slideMasters/slideMaster6.xml" Id="rId9" /><Relationship Type="http://schemas.openxmlformats.org/officeDocument/2006/relationships/slide" Target="slides/slide166.xml" Id="rId180" /><Relationship Type="http://schemas.openxmlformats.org/officeDocument/2006/relationships/slide" Target="slides/slide196.xml" Id="rId210" /><Relationship Type="http://schemas.openxmlformats.org/officeDocument/2006/relationships/viewProps" Target="viewProps.xml" Id="rId215" /><Relationship Type="http://schemas.openxmlformats.org/officeDocument/2006/relationships/slide" Target="slides/slide12.xml" Id="rId26" /><Relationship Type="http://schemas.openxmlformats.org/officeDocument/2006/relationships/slide" Target="slides/slide33.xml" Id="rId47" /><Relationship Type="http://schemas.openxmlformats.org/officeDocument/2006/relationships/slide" Target="slides/slide54.xml" Id="rId68" /><Relationship Type="http://schemas.openxmlformats.org/officeDocument/2006/relationships/slide" Target="slides/slide75.xml" Id="rId89" /><Relationship Type="http://schemas.openxmlformats.org/officeDocument/2006/relationships/slide" Target="slides/slide98.xml" Id="rId112" /><Relationship Type="http://schemas.openxmlformats.org/officeDocument/2006/relationships/slide" Target="slides/slide119.xml" Id="rId133" /><Relationship Type="http://schemas.openxmlformats.org/officeDocument/2006/relationships/slide" Target="slides/slide140.xml" Id="rId154" /><Relationship Type="http://schemas.openxmlformats.org/officeDocument/2006/relationships/slide" Target="slides/slide161.xml" Id="rId175" /><Relationship Type="http://schemas.openxmlformats.org/officeDocument/2006/relationships/slide" Target="slides/slide182.xml" Id="rId196" /><Relationship Type="http://schemas.openxmlformats.org/officeDocument/2006/relationships/slide" Target="slides/slide186.xml" Id="rId200" /><Relationship Type="http://schemas.openxmlformats.org/officeDocument/2006/relationships/slide" Target="slides/slide2.xml" Id="rId16" /><Relationship Type="http://schemas.openxmlformats.org/officeDocument/2006/relationships/slide" Target="slides/slide23.xml" Id="rId37" /><Relationship Type="http://schemas.openxmlformats.org/officeDocument/2006/relationships/slide" Target="slides/slide44.xml" Id="rId58" /><Relationship Type="http://schemas.openxmlformats.org/officeDocument/2006/relationships/slide" Target="slides/slide65.xml" Id="rId79" /><Relationship Type="http://schemas.openxmlformats.org/officeDocument/2006/relationships/slide" Target="slides/slide88.xml" Id="rId102" /><Relationship Type="http://schemas.openxmlformats.org/officeDocument/2006/relationships/slide" Target="slides/slide109.xml" Id="rId123" /><Relationship Type="http://schemas.openxmlformats.org/officeDocument/2006/relationships/slide" Target="slides/slide130.xml" Id="rId144" /><Relationship Type="http://schemas.openxmlformats.org/officeDocument/2006/relationships/slide" Target="slides/slide76.xml" Id="rId90" /><Relationship Type="http://schemas.openxmlformats.org/officeDocument/2006/relationships/slide" Target="slides/slide151.xml" Id="rId165" /><Relationship Type="http://schemas.openxmlformats.org/officeDocument/2006/relationships/slide" Target="slides/slide172.xml" Id="rId186" /><Relationship Type="http://schemas.openxmlformats.org/officeDocument/2006/relationships/slide" Target="slides/slide197.xml" Id="rId211" /><Relationship Type="http://schemas.openxmlformats.org/officeDocument/2006/relationships/slide" Target="slides/slide13.xml" Id="rId27" /><Relationship Type="http://schemas.openxmlformats.org/officeDocument/2006/relationships/slide" Target="slides/slide34.xml" Id="rId48" /><Relationship Type="http://schemas.openxmlformats.org/officeDocument/2006/relationships/slide" Target="slides/slide55.xml" Id="rId69" /><Relationship Type="http://schemas.openxmlformats.org/officeDocument/2006/relationships/slide" Target="slides/slide99.xml" Id="rId113" /><Relationship Type="http://schemas.openxmlformats.org/officeDocument/2006/relationships/slide" Target="slides/slide120.xml" Id="rId134" /><Relationship Type="http://schemas.openxmlformats.org/officeDocument/2006/relationships/slide" Target="slides/slide66.xml" Id="rId80" /><Relationship Type="http://schemas.openxmlformats.org/officeDocument/2006/relationships/slide" Target="slides/slide141.xml" Id="rId155" /><Relationship Type="http://schemas.openxmlformats.org/officeDocument/2006/relationships/slide" Target="slides/slide162.xml" Id="rId176" /><Relationship Type="http://schemas.openxmlformats.org/officeDocument/2006/relationships/slide" Target="slides/slide183.xml" Id="rId197" /><Relationship Type="http://schemas.openxmlformats.org/officeDocument/2006/relationships/slide" Target="slides/slide187.xml" Id="rId201" /><Relationship Type="http://schemas.openxmlformats.org/officeDocument/2006/relationships/slide" Target="slides/slide3.xml" Id="rId17" /><Relationship Type="http://schemas.openxmlformats.org/officeDocument/2006/relationships/slide" Target="slides/slide24.xml" Id="rId38" /><Relationship Type="http://schemas.openxmlformats.org/officeDocument/2006/relationships/slide" Target="slides/slide45.xml" Id="rId59" /><Relationship Type="http://schemas.openxmlformats.org/officeDocument/2006/relationships/slide" Target="slides/slide89.xml" Id="rId103" /><Relationship Type="http://schemas.openxmlformats.org/officeDocument/2006/relationships/slide" Target="slides/slide110.xml" Id="rId124" /><Relationship Type="http://schemas.openxmlformats.org/officeDocument/2006/relationships/slide" Target="slides/slide56.xml" Id="rId70" /><Relationship Type="http://schemas.openxmlformats.org/officeDocument/2006/relationships/slide" Target="slides/slide77.xml" Id="rId91" /><Relationship Type="http://schemas.openxmlformats.org/officeDocument/2006/relationships/slide" Target="slides/slide131.xml" Id="rId145" /><Relationship Type="http://schemas.openxmlformats.org/officeDocument/2006/relationships/slide" Target="slides/slide152.xml" Id="rId166" /><Relationship Type="http://schemas.openxmlformats.org/officeDocument/2006/relationships/slide" Target="slides/slide173.xml" Id="rId187" /><Relationship Type="http://schemas.openxmlformats.org/officeDocument/2006/relationships/customXml" Target="../customXml/item1.xml" Id="rId1" /><Relationship Type="http://schemas.openxmlformats.org/officeDocument/2006/relationships/notesMaster" Target="notesMasters/notesMaster1.xml" Id="rId212" /><Relationship Type="http://schemas.openxmlformats.org/officeDocument/2006/relationships/slide" Target="slides/slide14.xml" Id="rId28" /><Relationship Type="http://schemas.openxmlformats.org/officeDocument/2006/relationships/slide" Target="slides/slide35.xml" Id="rId49" /><Relationship Type="http://schemas.openxmlformats.org/officeDocument/2006/relationships/slide" Target="slides/slide100.xml" Id="rId114" /><Relationship Type="http://schemas.openxmlformats.org/officeDocument/2006/relationships/slide" Target="slides/slide46.xml" Id="rId60" /><Relationship Type="http://schemas.openxmlformats.org/officeDocument/2006/relationships/slide" Target="slides/slide67.xml" Id="rId81" /><Relationship Type="http://schemas.openxmlformats.org/officeDocument/2006/relationships/slide" Target="slides/slide121.xml" Id="rId135" /><Relationship Type="http://schemas.openxmlformats.org/officeDocument/2006/relationships/slide" Target="slides/slide142.xml" Id="rId156" /><Relationship Type="http://schemas.openxmlformats.org/officeDocument/2006/relationships/slide" Target="slides/slide163.xml" Id="rId177" /><Relationship Type="http://schemas.openxmlformats.org/officeDocument/2006/relationships/slide" Target="slides/slide184.xml" Id="rId198" /><Relationship Type="http://schemas.openxmlformats.org/officeDocument/2006/relationships/slide" Target="slides/slide188.xml" Id="rId202" /><Relationship Type="http://schemas.openxmlformats.org/officeDocument/2006/relationships/slide" Target="slides/slide4.xml" Id="rId18" /><Relationship Type="http://schemas.openxmlformats.org/officeDocument/2006/relationships/slide" Target="slides/slide25.xml" Id="rId39" /><Relationship Type="http://schemas.openxmlformats.org/officeDocument/2006/relationships/slide" Target="slides/slide36.xml" Id="rId50" /><Relationship Type="http://schemas.openxmlformats.org/officeDocument/2006/relationships/slide" Target="slides/slide90.xml" Id="rId104" /><Relationship Type="http://schemas.openxmlformats.org/officeDocument/2006/relationships/slide" Target="slides/slide111.xml" Id="rId125" /><Relationship Type="http://schemas.openxmlformats.org/officeDocument/2006/relationships/slide" Target="slides/slide132.xml" Id="rId146" /><Relationship Type="http://schemas.openxmlformats.org/officeDocument/2006/relationships/slide" Target="slides/slide153.xml" Id="rId167" /><Relationship Type="http://schemas.openxmlformats.org/officeDocument/2006/relationships/slide" Target="slides/slide174.xml" Id="rId188" /><Relationship Type="http://schemas.openxmlformats.org/officeDocument/2006/relationships/slide" Target="slides/slide57.xml" Id="rId71" /><Relationship Type="http://schemas.openxmlformats.org/officeDocument/2006/relationships/slide" Target="slides/slide78.xml" Id="rId92" /><Relationship Type="http://schemas.openxmlformats.org/officeDocument/2006/relationships/tags" Target="tags/tag1.xml" Id="rId213" /><Relationship Type="http://schemas.openxmlformats.org/officeDocument/2006/relationships/customXml" Target="../customXml/item2.xml" Id="rId2" /><Relationship Type="http://schemas.openxmlformats.org/officeDocument/2006/relationships/slide" Target="slides/slide15.xml" Id="rId29" /><Relationship Type="http://schemas.openxmlformats.org/officeDocument/2006/relationships/slide" Target="slides/slide26.xml" Id="rId40" /><Relationship Type="http://schemas.openxmlformats.org/officeDocument/2006/relationships/slide" Target="slides/slide101.xml" Id="rId115" /><Relationship Type="http://schemas.openxmlformats.org/officeDocument/2006/relationships/slide" Target="slides/slide122.xml" Id="rId136" /><Relationship Type="http://schemas.openxmlformats.org/officeDocument/2006/relationships/slide" Target="slides/slide143.xml" Id="rId157" /><Relationship Type="http://schemas.openxmlformats.org/officeDocument/2006/relationships/slide" Target="slides/slide164.xml" Id="rId178" /><Relationship Type="http://schemas.openxmlformats.org/officeDocument/2006/relationships/slide" Target="slides/slide47.xml" Id="rId61" /><Relationship Type="http://schemas.openxmlformats.org/officeDocument/2006/relationships/slide" Target="slides/slide68.xml" Id="rId82" /><Relationship Type="http://schemas.openxmlformats.org/officeDocument/2006/relationships/slide" Target="slides/slide185.xml" Id="rId199" /><Relationship Type="http://schemas.openxmlformats.org/officeDocument/2006/relationships/slide" Target="slides/slide189.xml" Id="rId203" /><Relationship Type="http://schemas.openxmlformats.org/officeDocument/2006/relationships/slide" Target="slides/slide5.xml" Id="rId19" /></Relationships>
</file>

<file path=ppt/comments/modernComment_7FFFE739_60C200E2.xml><?xml version="1.0" encoding="utf-8"?>
<p188:cmLst xmlns:a="http://schemas.openxmlformats.org/drawingml/2006/main" xmlns:r="http://schemas.openxmlformats.org/officeDocument/2006/relationships" xmlns:p188="http://schemas.microsoft.com/office/powerpoint/2018/8/main">
  <p188:cm id="{4A1B82D1-40B3-4E63-9F1A-BEA2426AE78B}" authorId="{3CC8213C-9803-1B72-3775-BF2FA19C2369}" created="2026-07-01T08:18:28.690" startDate="2026-07-01T08:18:28.690" dueDate="2026-07-01T08:18:28.690" assignedTo="{ACC250B3-CA8F-1C15-E28A-32A7A62F14E9}" title="@Zhonghua ZH5 Xue FL/OL修改premier support为nonfunded，同时要传回给S&amp;D">
    <ac:deMkLst xmlns:ac="http://schemas.microsoft.com/office/drawing/2013/main/command">
      <pc:docMk xmlns:pc="http://schemas.microsoft.com/office/powerpoint/2013/main/command"/>
      <pc:sldMk xmlns:pc="http://schemas.microsoft.com/office/powerpoint/2013/main/command" cId="1623326946" sldId="2147477305"/>
      <ac:graphicFrameMk id="11" creationId="{13450B35-1CC7-7B80-8A13-8A7A8973BDDD}"/>
    </ac:deMkLst>
    <p188:txBody>
      <a:bodyPr/>
      <a:lstStyle/>
      <a:p>
        <a:r>
          <a:rPr lang="zh-CN" altLang="en-US"/>
          <a:t>[@Zhonghua ZH5 Xue] FL/OL修改premier support为nonfunded，同时要传回给S&amp;D</a:t>
        </a:r>
      </a:p>
    </p188:txBody>
    <p188:extLst>
      <p:ext xmlns:p="http://schemas.openxmlformats.org/presentationml/2006/main" uri="{5BB2D875-25FF-4072-B9AC-8F64D62656EB}">
        <p228:taskDetails xmlns:p228="http://schemas.microsoft.com/office/powerpoint/2022/08/main">
          <p228:history>
            <p228:event time="2026-07-01T08:18:28.690" id="{59B520BB-6A16-462E-B49F-2921EB4938FA}">
              <p228:atrbtn authorId="{3CC8213C-9803-1B72-3775-BF2FA19C2369}"/>
              <p228:anchr>
                <p228:comment id="{4A1B82D1-40B3-4E63-9F1A-BEA2426AE78B}"/>
              </p228:anchr>
              <p228:add/>
            </p228:event>
            <p228:event time="2026-07-01T08:18:28.690" id="{225E8BD3-FE89-422E-8BAD-10660BFCE1A9}">
              <p228:atrbtn authorId="{3CC8213C-9803-1B72-3775-BF2FA19C2369}"/>
              <p228:anchr>
                <p228:comment id="{4A1B82D1-40B3-4E63-9F1A-BEA2426AE78B}"/>
              </p228:anchr>
              <p228:asgn authorId="{ACC250B3-CA8F-1C15-E28A-32A7A62F14E9}"/>
            </p228:event>
            <p228:event time="2026-07-01T08:18:28.690" id="{F89971DD-D871-4453-B315-44B68118FBEF}">
              <p228:atrbtn authorId="{3CC8213C-9803-1B72-3775-BF2FA19C2369}"/>
              <p228:anchr>
                <p228:comment id="{4A1B82D1-40B3-4E63-9F1A-BEA2426AE78B}"/>
              </p228:anchr>
              <p228:title val="@Zhonghua ZH5 Xue FL/OL修改premier support为nonfunded，同时要传回给S&amp;D"/>
            </p228:event>
            <p228:event time="2026-07-01T08:18:28.690" id="{00B6A1E7-CA47-4D01-9EE5-9F84F708249F}">
              <p228:atrbtn authorId="{3CC8213C-9803-1B72-3775-BF2FA19C2369}"/>
              <p228:anchr>
                <p228:comment id="{4A1B82D1-40B3-4E63-9F1A-BEA2426AE78B}"/>
              </p228:anchr>
              <p228:date stDt="2026-07-01T08:18:28.690" endDt="2026-07-01T08:18:28.690"/>
            </p228:event>
          </p228:history>
        </p228:taskDetails>
      </p:ext>
    </p188:extLst>
  </p188:cm>
</p188:cmLst>
</file>

<file path=ppt/comments/modernComment_7FFFE754_BF27EB03.xml><?xml version="1.0" encoding="utf-8"?>
<p188:cmLst xmlns:a="http://schemas.openxmlformats.org/drawingml/2006/main" xmlns:r="http://schemas.openxmlformats.org/officeDocument/2006/relationships" xmlns:p188="http://schemas.microsoft.com/office/powerpoint/2018/8/main">
  <p188:cm id="{A301438C-C588-4760-838A-BD9CA4A48CC5}" authorId="{3CC8213C-9803-1B72-3775-BF2FA19C2369}" created="2026-07-01T08:24:13.534" startDate="2026-07-01T08:24:13.534" dueDate="2026-07-01T08:24:13.534" assignedTo="{ACC250B3-CA8F-1C15-E28A-32A7A62F14E9}" title="@Zhonghua ZH5 Xue 这里也加上nonfunded premier support传回HK08的分录">
    <ac:deMkLst xmlns:ac="http://schemas.microsoft.com/office/drawing/2013/main/command">
      <pc:docMk xmlns:pc="http://schemas.microsoft.com/office/powerpoint/2013/main/command"/>
      <pc:sldMk xmlns:pc="http://schemas.microsoft.com/office/powerpoint/2013/main/command" cId="3207064323" sldId="2147477332"/>
      <ac:graphicFrameMk id="2" creationId="{BFF42173-EF93-5D29-294B-17137E20B99F}"/>
    </ac:deMkLst>
    <p188:txBody>
      <a:bodyPr/>
      <a:lstStyle/>
      <a:p>
        <a:r>
          <a:rPr lang="zh-CN" altLang="en-US"/>
          <a:t>[@Zhonghua ZH5 Xue] 这里也加上nonfunded premier support传回HK08的分录</a:t>
        </a:r>
      </a:p>
    </p188:txBody>
    <p188:extLst>
      <p:ext xmlns:p="http://schemas.openxmlformats.org/presentationml/2006/main" uri="{5BB2D875-25FF-4072-B9AC-8F64D62656EB}">
        <p228:taskDetails xmlns:p228="http://schemas.microsoft.com/office/powerpoint/2022/08/main">
          <p228:history>
            <p228:event time="2026-07-01T08:24:13.534" id="{76B4A3FD-F9F5-43F6-B398-0500660286DB}">
              <p228:atrbtn authorId="{3CC8213C-9803-1B72-3775-BF2FA19C2369}"/>
              <p228:anchr>
                <p228:comment id="{A301438C-C588-4760-838A-BD9CA4A48CC5}"/>
              </p228:anchr>
              <p228:add/>
            </p228:event>
            <p228:event time="2026-07-01T08:24:13.534" id="{87D853C0-30D2-450B-93B9-C5C9D884B6D1}">
              <p228:atrbtn authorId="{3CC8213C-9803-1B72-3775-BF2FA19C2369}"/>
              <p228:anchr>
                <p228:comment id="{A301438C-C588-4760-838A-BD9CA4A48CC5}"/>
              </p228:anchr>
              <p228:asgn authorId="{ACC250B3-CA8F-1C15-E28A-32A7A62F14E9}"/>
            </p228:event>
            <p228:event time="2026-07-01T08:24:13.534" id="{4EE2D7A1-CF76-472C-A249-13A25C1162D7}">
              <p228:atrbtn authorId="{3CC8213C-9803-1B72-3775-BF2FA19C2369}"/>
              <p228:anchr>
                <p228:comment id="{A301438C-C588-4760-838A-BD9CA4A48CC5}"/>
              </p228:anchr>
              <p228:title val="@Zhonghua ZH5 Xue 这里也加上nonfunded premier support传回HK08的分录"/>
            </p228:event>
            <p228:event time="2026-07-01T08:24:13.534" id="{C87EED0C-3FF5-4B81-9589-F7AD743A4070}">
              <p228:atrbtn authorId="{3CC8213C-9803-1B72-3775-BF2FA19C2369}"/>
              <p228:anchr>
                <p228:comment id="{A301438C-C588-4760-838A-BD9CA4A48CC5}"/>
              </p228:anchr>
              <p228:date stDt="2026-07-01T08:24:13.534" endDt="2026-07-01T08:24:13.534"/>
            </p228:event>
          </p228:history>
        </p228:taskDetails>
      </p:ext>
    </p188:extLst>
  </p188:cm>
</p188:cmLst>
</file>

<file path=ppt/comments/modernComment_7FFFFFF8_3A74F313.xml><?xml version="1.0" encoding="utf-8"?>
<p188:cmLst xmlns:a="http://schemas.openxmlformats.org/drawingml/2006/main" xmlns:r="http://schemas.openxmlformats.org/officeDocument/2006/relationships" xmlns:p188="http://schemas.microsoft.com/office/powerpoint/2018/8/main">
  <p188:cm id="{C386024F-0379-4070-BBD3-6C063D615F6D}" authorId="{F6B640A8-E5AF-3960-0361-FD49429450CF}" created="2026-03-11T11:45:28.247">
    <ac:txMkLst xmlns:ac="http://schemas.microsoft.com/office/drawing/2013/main/command">
      <pc:docMk xmlns:pc="http://schemas.microsoft.com/office/powerpoint/2013/main/command"/>
      <pc:sldMk xmlns:pc="http://schemas.microsoft.com/office/powerpoint/2013/main/command" cId="980742931" sldId="2147483640"/>
      <ac:graphicFrameMk id="3" creationId="{8F77A47D-E6EA-C2CB-85B1-A17C558C3997}"/>
      <ac:tblMk/>
      <ac:tcMk rowId="533855811" colId="3603859997"/>
      <ac:txMk cp="0" len="18">
        <ac:context len="19" hash="1359541517"/>
      </ac:txMk>
    </ac:txMkLst>
    <p188:replyLst>
      <p188:reply id="{8DA5D4F2-D8D8-4B2C-83F8-46C1CFAD2B74}" authorId="{F6B640A8-E5AF-3960-0361-FD49429450CF}" created="2026-03-11T12:05:34.995">
        <p188:txBody>
          <a:bodyPr/>
          <a:lstStyle/>
          <a:p>
            <a:r>
              <a:rPr lang="zh-CN" altLang="en-US"/>
              <a:t>Similar questions on the following pages will not be repeated in the comments.</a:t>
            </a:r>
          </a:p>
        </p188:txBody>
      </p188:reply>
      <p188:reply id="{1BCF122A-E183-4F7B-A0E3-EABCE8D5FE96}" authorId="{3CC8213C-9803-1B72-3775-BF2FA19C2369}" created="2026-03-12T08:10:53.839">
        <p188:txBody>
          <a:bodyPr/>
          <a:lstStyle/>
          <a:p>
            <a:r>
              <a:rPr lang="zh-CN" altLang="en-US"/>
              <a:t>Only show 3PO PN in comments</a:t>
            </a:r>
          </a:p>
        </p188:txBody>
      </p188:reply>
    </p188:replyLst>
    <p188:txBody>
      <a:bodyPr/>
      <a:lstStyle/>
      <a:p>
        <a:r>
          <a:rPr lang="zh-CN" altLang="en-US"/>
          <a:t>It is suggested that a note be used to indicate that 3PO will use 30 PC as shown below, in order to avoid confusion caused by the inequality of the debit and credit sides.</a:t>
        </a:r>
      </a:p>
    </p188:txBody>
  </p188:cm>
</p188:cmLst>
</file>

<file path=ppt/comments/modernComment_7FFFFFFC_3112F2B4.xml><?xml version="1.0" encoding="utf-8"?>
<p188:cmLst xmlns:a="http://schemas.openxmlformats.org/drawingml/2006/main" xmlns:r="http://schemas.openxmlformats.org/officeDocument/2006/relationships" xmlns:p188="http://schemas.microsoft.com/office/powerpoint/2018/8/main">
  <p188:cm id="{2622EE41-63B0-43CF-B538-966F5BD63CB6}" authorId="{F6B640A8-E5AF-3960-0361-FD49429450CF}" created="2026-03-11T11:27:26.392">
    <ac:deMkLst xmlns:ac="http://schemas.microsoft.com/office/drawing/2013/main/command">
      <pc:docMk xmlns:pc="http://schemas.microsoft.com/office/powerpoint/2013/main/command"/>
      <pc:sldMk xmlns:pc="http://schemas.microsoft.com/office/powerpoint/2013/main/command" cId="823325364" sldId="2147483644"/>
      <ac:graphicFrameMk id="9" creationId="{1EF32B1B-5438-40CE-AFA5-DA6F026E73CB}"/>
    </ac:deMkLst>
    <p188:replyLst>
      <p188:reply id="{7B5483AE-2D2F-4452-B1D9-D17F1A82AB9A}" authorId="{3CC8213C-9803-1B72-3775-BF2FA19C2369}" created="2026-03-12T09:11:59.443">
        <p188:txBody>
          <a:bodyPr/>
          <a:lstStyle/>
          <a:p>
            <a:r>
              <a:rPr lang="zh-CN" altLang="en-US"/>
              <a:t>Update AFE model GIT amt to 150</a:t>
            </a:r>
          </a:p>
        </p188:txBody>
      </p188:reply>
    </p188:replyLst>
    <p188:txBody>
      <a:bodyPr/>
      <a:lstStyle/>
      <a:p>
        <a:r>
          <a:rPr lang="zh-CN" altLang="en-US"/>
          <a:t>The amounts of COST and GIT do not include the cost of hardware.</a:t>
        </a:r>
      </a:p>
    </p188:txBody>
  </p188:cm>
  <p188:cm id="{FAC079CE-57B7-41B8-986F-223D159CD69C}" authorId="{F6B640A8-E5AF-3960-0361-FD49429450CF}" created="2026-03-11T11:30:21.197">
    <ac:deMkLst xmlns:ac="http://schemas.microsoft.com/office/drawing/2013/main/command">
      <pc:docMk xmlns:pc="http://schemas.microsoft.com/office/powerpoint/2013/main/command"/>
      <pc:sldMk xmlns:pc="http://schemas.microsoft.com/office/powerpoint/2013/main/command" cId="823325364" sldId="2147483644"/>
      <ac:graphicFrameMk id="8" creationId="{465FF868-237D-AED8-1A47-5790F7C95EC2}"/>
    </ac:deMkLst>
    <p188:replyLst>
      <p188:reply id="{94C678E2-227C-4D37-B61B-3D2FD45532E2}" authorId="{3CC8213C-9803-1B72-3775-BF2FA19C2369}" created="2026-03-12T06:34:33.459">
        <p188:txBody>
          <a:bodyPr/>
          <a:lstStyle/>
          <a:p>
            <a:r>
              <a:rPr lang="zh-CN" altLang="en-US"/>
              <a:t>Upfront directly recognize in S&amp;D when customer acceptance</a:t>
            </a:r>
          </a:p>
        </p188:txBody>
      </p188:reply>
    </p188:replyLst>
    <p188:txBody>
      <a:bodyPr/>
      <a:lstStyle/>
      <a:p>
        <a:r>
          <a:rPr lang="zh-CN" altLang="en-US"/>
          <a:t>Why was the upfront service charge not transferred to S&amp;D?</a:t>
        </a:r>
      </a:p>
    </p188:txBody>
  </p188:cm>
  <p188:cm id="{630EA60C-F13D-4C81-AFD0-343639B4C2B8}" authorId="{F6B640A8-E5AF-3960-0361-FD49429450CF}" created="2026-03-11T11:31:17.388">
    <ac:txMkLst xmlns:ac="http://schemas.microsoft.com/office/drawing/2013/main/command">
      <pc:docMk xmlns:pc="http://schemas.microsoft.com/office/powerpoint/2013/main/command"/>
      <pc:sldMk xmlns:pc="http://schemas.microsoft.com/office/powerpoint/2013/main/command" cId="823325364" sldId="2147483644"/>
      <ac:spMk id="7" creationId="{2C10D9AA-6A4D-513D-824E-FF066BF4FBA5}"/>
      <ac:txMk cp="0" len="9">
        <ac:context len="10" hash="873412202"/>
      </ac:txMk>
    </ac:txMkLst>
    <p188:pos x="1227789" y="266700"/>
    <p188:replyLst>
      <p188:reply id="{46291161-447D-4466-8301-04EFFAB4D54E}" authorId="{3CC8213C-9803-1B72-3775-BF2FA19C2369}" created="2026-03-12T06:35:08.130">
        <p188:txBody>
          <a:bodyPr/>
          <a:lstStyle/>
          <a:p>
            <a:r>
              <a:rPr lang="zh-CN" altLang="en-US"/>
              <a:t>[@Edison Yu8 Liang] AFE only worked as billing agent and don’t realize HW revenue in this managed Capex scenario</a:t>
            </a:r>
          </a:p>
        </p188:txBody>
      </p188:reply>
    </p188:replyLst>
    <p188:txBody>
      <a:bodyPr/>
      <a:lstStyle/>
      <a:p>
        <a:r>
          <a:rPr lang="zh-CN" altLang="en-US"/>
          <a:t>Can AFE directly offer Managed CAPEX to customers?</a:t>
        </a:r>
      </a:p>
    </p188:txBody>
  </p188:cm>
</p188:cmLst>
</file>

<file path=ppt/comments/modernComment_12A_8709227F.xml><?xml version="1.0" encoding="utf-8"?>
<p188:cmLst xmlns:a="http://schemas.openxmlformats.org/drawingml/2006/main" xmlns:r="http://schemas.openxmlformats.org/officeDocument/2006/relationships" xmlns:p188="http://schemas.microsoft.com/office/powerpoint/2018/8/main">
  <p188:cm id="{A9C1C7D5-92D4-4E29-BF93-9E3FBCABDA51}" authorId="{F6B640A8-E5AF-3960-0361-FD49429450CF}" created="2026-03-11T12:33:41.796">
    <ac:txMkLst xmlns:ac="http://schemas.microsoft.com/office/drawing/2013/main/command">
      <pc:docMk xmlns:pc="http://schemas.microsoft.com/office/powerpoint/2013/main/command"/>
      <pc:sldMk xmlns:pc="http://schemas.microsoft.com/office/powerpoint/2013/main/command" cId="2265522815" sldId="298"/>
      <ac:spMk id="10" creationId="{13B4174A-BFAB-2A6E-4842-0AEE1F07E6BF}"/>
      <ac:txMk cp="0" len="167">
        <ac:context len="168" hash="954910748"/>
      </ac:txMk>
    </ac:txMkLst>
    <p188:pos x="3224374" y="372408"/>
    <p188:txBody>
      <a:bodyPr/>
      <a:lstStyle/>
      <a:p>
        <a:r>
          <a:rPr lang="zh-CN" altLang="en-US"/>
          <a:t>As previously discussed, we cannot list all possible scenarios that may lead to CMR/DMR, so we cannot say with 100% certainty that all CMR/DMR scenarios will not hit P&amp;L. So, strictly speaking, a generally applicable solution would be to reverse the affected entries when an incident occurs and re-generate the correct ones based on the correct logic.</a:t>
        </a:r>
      </a:p>
    </p188:txBody>
  </p188:cm>
</p188:cmLst>
</file>

<file path=ppt/comments/modernComment_12E_57758AF.xml><?xml version="1.0" encoding="utf-8"?>
<p188:cmLst xmlns:a="http://schemas.openxmlformats.org/drawingml/2006/main" xmlns:r="http://schemas.openxmlformats.org/officeDocument/2006/relationships" xmlns:p188="http://schemas.microsoft.com/office/powerpoint/2018/8/main">
  <p188:cm id="{06DBCE38-2457-4D59-82F0-661E111FB4F8}" authorId="{F6B640A8-E5AF-3960-0361-FD49429450CF}" created="2026-03-11T12:01:25.653">
    <ac:txMkLst xmlns:ac="http://schemas.microsoft.com/office/drawing/2013/main/command">
      <pc:docMk xmlns:pc="http://schemas.microsoft.com/office/powerpoint/2013/main/command"/>
      <pc:sldMk xmlns:pc="http://schemas.microsoft.com/office/powerpoint/2013/main/command" cId="91707567" sldId="302"/>
      <ac:graphicFrameMk id="8" creationId="{BA1988D9-3819-6AA2-A27B-57C0F47D01DC}"/>
      <ac:tblMk/>
      <ac:tcMk rowId="2739065243" colId="3603859997"/>
      <ac:txMk cp="0" len="17">
        <ac:context len="18" hash="7799817"/>
      </ac:txMk>
    </ac:txMkLst>
    <p188:pos x="2252918" y="1010990"/>
    <p188:replyLst>
      <p188:reply id="{2FBF68E5-AF65-4CDB-8E69-8B3740B9CD2D}" authorId="{F6B640A8-E5AF-3960-0361-FD49429450CF}" created="2026-03-11T12:03:42.623">
        <p188:txBody>
          <a:bodyPr/>
          <a:lstStyle/>
          <a:p>
            <a:r>
              <a:rPr lang="zh-CN" altLang="en-US"/>
              <a:t>Additionally, under the S&amp;D model on the left, the monthly leasing revenue is indicated as 28. Why then does the total billing amount for the semi-annual period amount to only 55.9?</a:t>
            </a:r>
          </a:p>
        </p188:txBody>
      </p188:reply>
      <p188:reply id="{BC11BD09-FBB9-4304-A874-E47361CB9B1D}" authorId="{3CC8213C-9803-1B72-3775-BF2FA19C2369}" created="2026-03-12T06:41:26.099">
        <p188:txBody>
          <a:bodyPr/>
          <a:lstStyle/>
          <a:p>
            <a:r>
              <a:rPr lang="zh-CN" altLang="en-US"/>
              <a:t>Updated AR semi amt and monthly rev amt in semi calculation logic [@Edison Yu8 Liang] </a:t>
            </a:r>
          </a:p>
        </p188:txBody>
      </p188:reply>
    </p188:replyLst>
    <p188:txBody>
      <a:bodyPr/>
      <a:lstStyle/>
      <a:p>
        <a:r>
          <a:rPr lang="zh-CN" altLang="en-US"/>
          <a:t>The amounts in the current table seem illogical. For instance, why is the AR only 55.9 but 84 of the long-term AR has been settled?</a:t>
        </a:r>
      </a:p>
    </p188:txBody>
  </p188:cm>
</p188:cmLst>
</file>

<file path=ppt/comments/modernComment_13D_A3B2AEF9.xml><?xml version="1.0" encoding="utf-8"?>
<p188:cmLst xmlns:a="http://schemas.openxmlformats.org/drawingml/2006/main" xmlns:r="http://schemas.openxmlformats.org/officeDocument/2006/relationships" xmlns:p188="http://schemas.microsoft.com/office/powerpoint/2018/8/main">
  <p188:cm id="{1A5C6E01-FF14-423B-88BD-2BA6DE5D1C27}" authorId="{F6B640A8-E5AF-3960-0361-FD49429450CF}" created="2026-03-11T06:29:05.916">
    <ac:deMkLst xmlns:ac="http://schemas.microsoft.com/office/drawing/2013/main/command">
      <pc:docMk xmlns:pc="http://schemas.microsoft.com/office/powerpoint/2013/main/command"/>
      <pc:sldMk xmlns:pc="http://schemas.microsoft.com/office/powerpoint/2013/main/command" cId="2746396409" sldId="317"/>
      <ac:graphicFrameMk id="7" creationId="{F4FE26A4-2A05-5D44-FF7F-C884406FA4A3}"/>
    </ac:deMkLst>
    <p188:replyLst>
      <p188:reply id="{E3D23A16-F9EF-4B05-A2F1-5CA4D0555BE9}" authorId="{F6B640A8-E5AF-3960-0361-FD49429450CF}" created="2026-03-11T06:30:11.460">
        <p188:txBody>
          <a:bodyPr/>
          <a:lstStyle/>
          <a:p>
            <a:r>
              <a:rPr lang="zh-CN" altLang="en-US"/>
              <a:t>It also applies to AFE model</a:t>
            </a:r>
          </a:p>
        </p188:txBody>
      </p188:reply>
      <p188:reply id="{9EFF7B7E-1990-4D7C-B202-26E9CCC1DCBB}" authorId="{3CC8213C-9803-1B72-3775-BF2FA19C2369}" created="2026-03-12T07:25:15.973">
        <p188:txBody>
          <a:bodyPr/>
          <a:lstStyle/>
          <a:p>
            <a:r>
              <a:rPr lang="zh-CN" altLang="en-US"/>
              <a:t>add description on penalty to make clear refund nature for penalty invoice (credit) [@Edison Yu8 Liang] </a:t>
            </a:r>
          </a:p>
        </p188:txBody>
      </p188:reply>
    </p188:replyLst>
    <p188:txBody>
      <a:bodyPr/>
      <a:lstStyle/>
      <a:p>
        <a:r>
          <a:rPr lang="zh-CN" altLang="en-US"/>
          <a:t>The nature of penalties and contractual terms may influence the utilization of COA, necessitating a case-by-case evaluation rather than a one-size-fits-all solution.</a:t>
        </a:r>
      </a:p>
    </p188:txBody>
  </p188:cm>
</p188:cmLst>
</file>

<file path=ppt/comments/modernComment_15C_B436B5B1.xml><?xml version="1.0" encoding="utf-8"?>
<p188:cmLst xmlns:a="http://schemas.openxmlformats.org/drawingml/2006/main" xmlns:r="http://schemas.openxmlformats.org/officeDocument/2006/relationships" xmlns:p188="http://schemas.microsoft.com/office/powerpoint/2018/8/main">
  <p188:cm id="{C7DCA855-103F-4A16-AA8C-F14DD01AFFB0}" authorId="{3CC8213C-9803-1B72-3775-BF2FA19C2369}" created="2026-09-11T02:21:40.722">
    <pc:sldMkLst xmlns:pc="http://schemas.microsoft.com/office/powerpoint/2013/main/command">
      <pc:docMk/>
      <pc:sldMk cId="3023484337" sldId="348"/>
    </pc:sldMkLst>
    <p188:txBody>
      <a:bodyPr/>
      <a:lstStyle/>
      <a:p>
        <a:r>
          <a:rPr lang="zh-CN" altLang="en-US"/>
          <a:t>[@Edison Yu8 Liang] 已修改AFE未确认rev&amp;cost</a:t>
        </a:r>
      </a:p>
    </p188:txBody>
  </p188:cm>
</p188:cmLst>
</file>

<file path=ppt/comments/modernComment_16D_98868F86.xml><?xml version="1.0" encoding="utf-8"?>
<p188:cmLst xmlns:a="http://schemas.openxmlformats.org/drawingml/2006/main" xmlns:r="http://schemas.openxmlformats.org/officeDocument/2006/relationships" xmlns:p188="http://schemas.microsoft.com/office/powerpoint/2018/8/main">
  <p188:cm id="{53367F69-AE8E-4DB1-8D16-E285D075537A}" authorId="{F6B640A8-E5AF-3960-0361-FD49429450CF}" created="2026-03-11T12:33:41.796">
    <ac:txMkLst xmlns:ac="http://schemas.microsoft.com/office/drawing/2013/main/command">
      <pc:docMk xmlns:pc="http://schemas.microsoft.com/office/powerpoint/2013/main/command"/>
      <pc:sldMk xmlns:pc="http://schemas.microsoft.com/office/powerpoint/2013/main/command" cId="2558955398" sldId="365"/>
      <ac:spMk id="10" creationId="{36CC9BA6-D9D1-A13B-5D65-86FAA75D9D27}"/>
      <ac:txMk cp="0" len="167">
        <ac:context len="168" hash="954910748"/>
      </ac:txMk>
    </ac:txMkLst>
    <p188:pos x="3224374" y="372408"/>
    <p188:txBody>
      <a:bodyPr/>
      <a:lstStyle/>
      <a:p>
        <a:r>
          <a:rPr lang="zh-CN" altLang="en-US"/>
          <a:t>As previously discussed, we cannot list all possible scenarios that may lead to CMR/DMR, so we cannot say with 100% certainty that all CMR/DMR scenarios will not hit P&amp;L. So, strictly speaking, a generally applicable solution would be to reverse the affected entries when an incident occurs and re-generate the correct ones based on the correct logic.</a:t>
        </a:r>
      </a:p>
    </p188:txBody>
  </p188:cm>
</p188:cmLst>
</file>

<file path=ppt/comments/modernComment_121_F2076C1A.xml><?xml version="1.0" encoding="utf-8"?>
<p188:cmLst xmlns:a="http://schemas.openxmlformats.org/drawingml/2006/main" xmlns:r="http://schemas.openxmlformats.org/officeDocument/2006/relationships" xmlns:p188="http://schemas.microsoft.com/office/powerpoint/2018/8/main">
  <p188:cm id="{AC4D7A65-5987-477B-AB25-14728AAFEF38}" authorId="{F6B640A8-E5AF-3960-0361-FD49429450CF}" created="2026-03-11T11:37:36.088">
    <ac:txMkLst xmlns:ac="http://schemas.microsoft.com/office/drawing/2013/main/command">
      <pc:docMk xmlns:pc="http://schemas.microsoft.com/office/powerpoint/2013/main/command"/>
      <pc:sldMk xmlns:pc="http://schemas.microsoft.com/office/powerpoint/2013/main/command" cId="4060572698" sldId="289"/>
      <ac:graphicFrameMk id="6" creationId="{1C847291-0CBC-5249-3CCE-D95F3683670B}"/>
      <ac:tblMk/>
      <ac:tcMk rowId="786772307" colId="3603859997"/>
      <ac:txMk cp="0">
        <ac:context len="31" hash="233070855"/>
      </ac:txMk>
    </ac:txMkLst>
    <p188:pos x="2645357" y="1453291"/>
    <p188:replyLst>
      <p188:reply id="{9E247A92-F337-4A7C-BB24-65B9A1682FA0}" authorId="{3CC8213C-9803-1B72-3775-BF2FA19C2369}" created="2026-03-12T06:44:35.843">
        <p188:txBody>
          <a:bodyPr/>
          <a:lstStyle/>
          <a:p>
            <a:r>
              <a:rPr lang="zh-CN" altLang="en-US"/>
              <a:t>Updated 5220206 account description to financial expenses - factoring
</a:t>
            </a:r>
          </a:p>
        </p188:txBody>
      </p188:reply>
    </p188:replyLst>
    <p188:txBody>
      <a:bodyPr/>
      <a:lstStyle/>
      <a:p>
        <a:r>
          <a:rPr lang="zh-CN" altLang="en-US"/>
          <a:t>Please update the COA to Financial Expenses - Factoring to be consistent with the next line‘s item.</a:t>
        </a:r>
      </a:p>
    </p188:txBody>
  </p188:cm>
  <p188:cm id="{08A4A372-2768-4697-810E-F3590B9F2B9F}" authorId="{F6B640A8-E5AF-3960-0361-FD49429450CF}" created="2026-03-11T11:40:59.122">
    <ac:deMkLst xmlns:ac="http://schemas.microsoft.com/office/drawing/2013/main/command">
      <pc:docMk xmlns:pc="http://schemas.microsoft.com/office/powerpoint/2013/main/command"/>
      <pc:sldMk xmlns:pc="http://schemas.microsoft.com/office/powerpoint/2013/main/command" cId="4060572698" sldId="289"/>
      <ac:graphicFrameMk id="6" creationId="{1C847291-0CBC-5249-3CCE-D95F3683670B}"/>
    </ac:deMkLst>
    <p188:replyLst>
      <p188:reply id="{13C263D3-AD8B-4660-8A3B-54A8C1A67865}" authorId="{3CC8213C-9803-1B72-3775-BF2FA19C2369}" created="2026-03-12T06:51:33.828">
        <p188:txBody>
          <a:bodyPr/>
          <a:lstStyle/>
          <a:p>
            <a:r>
              <a:rPr lang="zh-CN" altLang="en-US"/>
              <a:t>List separate S&amp;D and AFE  model entries for without recourse [@Edison Yu8 Liang] </a:t>
            </a:r>
          </a:p>
        </p188:txBody>
      </p188:reply>
    </p188:replyLst>
    <p188:txBody>
      <a:bodyPr/>
      <a:lstStyle/>
      <a:p>
        <a:r>
          <a:rPr lang="zh-CN" altLang="en-US"/>
          <a:t>Given that COAs such as LR - Funded Premier and Agent Revenue are not used in the S&amp;D model, please make separate tables for the S&amp;D and AFE models to avoid confusion.</a:t>
        </a:r>
      </a:p>
    </p188:txBody>
  </p188:cm>
</p188:cmLst>
</file>

<file path=ppt/comments/modernComment_122_50EFFA4.xml><?xml version="1.0" encoding="utf-8"?>
<p188:cmLst xmlns:a="http://schemas.openxmlformats.org/drawingml/2006/main" xmlns:r="http://schemas.openxmlformats.org/officeDocument/2006/relationships" xmlns:p188="http://schemas.microsoft.com/office/powerpoint/2018/8/main">
  <p188:cm id="{13757A8F-6FC8-4E03-A6FC-E2C28E02DC08}" authorId="{F6B640A8-E5AF-3960-0361-FD49429450CF}" created="2026-03-11T06:31:30.803">
    <ac:deMkLst xmlns:ac="http://schemas.microsoft.com/office/drawing/2013/main/command">
      <pc:docMk xmlns:pc="http://schemas.microsoft.com/office/powerpoint/2013/main/command"/>
      <pc:sldMk xmlns:pc="http://schemas.microsoft.com/office/powerpoint/2013/main/command" cId="84869028" sldId="290"/>
      <ac:graphicFrameMk id="4" creationId="{F11751F6-D3D7-E8AA-5071-FA2F3AC3CF8D}"/>
    </ac:deMkLst>
    <p188:replyLst>
      <p188:reply id="{DCFB16C2-6902-4ACC-B75E-272E1F28EC19}" authorId="{3CC8213C-9803-1B72-3775-BF2FA19C2369}" created="2026-03-12T09:43:08.999">
        <p188:txBody>
          <a:bodyPr/>
          <a:lstStyle/>
          <a:p>
            <a:r>
              <a:rPr lang="zh-CN" altLang="en-US"/>
              <a:t>[@Edison Yu8 Liang]  property tax only applicable for US </a:t>
            </a:r>
          </a:p>
        </p188:txBody>
      </p188:reply>
    </p188:replyLst>
    <p188:txBody>
      <a:bodyPr/>
      <a:lstStyle/>
      <a:p>
        <a:r>
          <a:rPr lang="zh-CN" altLang="en-US"/>
          <a:t>Does Property Tax exist in regions other than NA? If this accounting treatment is specific to NA, need double confirm with the local accounting team (Leandro‘s team)</a:t>
        </a:r>
      </a:p>
    </p188:txBody>
  </p188:cm>
</p188:cmLst>
</file>

<file path=ppt/comments/modernComment_152_47C1F9E9.xml><?xml version="1.0" encoding="utf-8"?>
<p188:cmLst xmlns:a="http://schemas.openxmlformats.org/drawingml/2006/main" xmlns:r="http://schemas.openxmlformats.org/officeDocument/2006/relationships" xmlns:p188="http://schemas.microsoft.com/office/powerpoint/2018/8/main">
  <p188:cm id="{0A6ED486-BA54-4394-9CAF-AD7F14845A91}" authorId="{F6B640A8-E5AF-3960-0361-FD49429450CF}" created="2026-03-11T06:31:30.803">
    <ac:deMkLst xmlns:ac="http://schemas.microsoft.com/office/drawing/2013/main/command">
      <pc:docMk xmlns:pc="http://schemas.microsoft.com/office/powerpoint/2013/main/command"/>
      <pc:sldMk xmlns:pc="http://schemas.microsoft.com/office/powerpoint/2013/main/command" cId="1203894761" sldId="338"/>
      <ac:graphicFrameMk id="4" creationId="{D658C570-4B24-12B6-7843-A741191274EB}"/>
    </ac:deMkLst>
    <p188:replyLst>
      <p188:reply id="{DCFB16C2-6902-4ACC-B75E-272E1F28EC19}" authorId="{3CC8213C-9803-1B72-3775-BF2FA19C2369}" created="2026-03-12T09:43:08.999">
        <p188:txBody>
          <a:bodyPr/>
          <a:lstStyle/>
          <a:p>
            <a:r>
              <a:rPr lang="zh-CN" altLang="en-US"/>
              <a:t>[@Edison Yu8 Liang]  property tax only applicable for US </a:t>
            </a:r>
          </a:p>
        </p188:txBody>
      </p188:reply>
    </p188:replyLst>
    <p188:txBody>
      <a:bodyPr/>
      <a:lstStyle/>
      <a:p>
        <a:r>
          <a:rPr lang="zh-CN" altLang="en-US"/>
          <a:t>Does Property Tax exist in regions other than NA? If this accounting treatment is specific to NA, need double confirm with the local accounting team (Leandro‘s team)</a:t>
        </a:r>
      </a:p>
    </p188:txBody>
  </p188:cm>
</p188:cmLst>
</file>

<file path=ppt/comments/modernComment_167_15452C78.xml><?xml version="1.0" encoding="utf-8"?>
<p188:cmLst xmlns:a="http://schemas.openxmlformats.org/drawingml/2006/main" xmlns:r="http://schemas.openxmlformats.org/officeDocument/2006/relationships" xmlns:p188="http://schemas.microsoft.com/office/powerpoint/2018/8/main">
  <p188:cm id="{A3CAF542-1306-4F81-9DA5-CFA6EA2FE9C4}" authorId="{3CC8213C-9803-1B72-3775-BF2FA19C2369}" created="2026-09-11T02:03:46.294">
    <pc:sldMkLst xmlns:pc="http://schemas.microsoft.com/office/powerpoint/2013/main/command">
      <pc:docMk/>
      <pc:sldMk cId="356854904" sldId="359"/>
    </pc:sldMkLst>
    <p188:txBody>
      <a:bodyPr/>
      <a:lstStyle/>
      <a:p>
        <a:r>
          <a:rPr lang="zh-CN" altLang="en-US"/>
          <a:t>[@Edison Yu8 Liang] upfront svc only trigger one time at lease commence month, so interim billing will not charge upfront svc separately. </a:t>
        </a:r>
      </a:p>
    </p188:txBody>
  </p188:cm>
  <p188:cm id="{9C2BDBDE-705A-4ABF-93DB-BE56404A4033}" authorId="{3CC8213C-9803-1B72-3775-BF2FA19C2369}" created="2026-09-11T02:06:20.293">
    <pc:sldMkLst xmlns:pc="http://schemas.microsoft.com/office/powerpoint/2013/main/command">
      <pc:docMk/>
      <pc:sldMk cId="356854904" sldId="359"/>
    </pc:sldMkLst>
    <p188:txBody>
      <a:bodyPr/>
      <a:lstStyle/>
      <a:p>
        <a:r>
          <a:rPr lang="zh-CN" altLang="en-US"/>
          <a:t>[@Edison Yu8 Liang] interim billing should charge ARS different amt compare from monthly ARS </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1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0DC0C55-86CB-4DD6-A791-6BABDB6353B4}" type="datetimeFigureOut">
              <a:t>9/20/2026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FCD7C6C-628C-4A66-96CF-D2300D9F95AC}" type="slidenum">
              <a:t>‹#›</a:t>
            </a:fld>
            <a:endParaRPr lang="en-US"/>
          </a:p>
        </p:txBody>
      </p:sp>
    </p:spTree>
    <p:extLst>
      <p:ext uri="{BB962C8B-B14F-4D97-AF65-F5344CB8AC3E}">
        <p14:creationId xmlns:p14="http://schemas.microsoft.com/office/powerpoint/2010/main" val="17193090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E04654-C090-2409-2949-EA675601EB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4D3F88A-F65F-F5AD-674A-E0C4A17984B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0FD4A2-1EB7-96F7-BA77-384A13E6757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BA1E1366-111F-4D64-F484-AA1D6D5E8FB3}"/>
              </a:ext>
            </a:extLst>
          </p:cNvPr>
          <p:cNvSpPr>
            <a:spLocks noGrp="1"/>
          </p:cNvSpPr>
          <p:nvPr>
            <p:ph type="sldNum" sz="quarter" idx="10"/>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4AED87EB-65D7-4500-873C-410831173A82}" type="slidenum">
              <a:rPr kumimoji="0" lang="en-US" sz="800" b="0" i="0" u="none" strike="noStrike" kern="1200" cap="none" spc="0" normalizeH="0" baseline="0" noProof="0" smtClean="0">
                <a:ln>
                  <a:noFill/>
                </a:ln>
                <a:solidFill>
                  <a:prstClr val="black"/>
                </a:solidFill>
                <a:effectLst/>
                <a:uLnTx/>
                <a:uFillTx/>
                <a:latin typeface="Arial" pitchFamily="34" charset="0"/>
                <a:ea typeface="+mn-ea"/>
                <a:cs typeface="Arial" pitchFamily="34" charset="0"/>
              </a:rPr>
              <a:pPr marL="0" marR="0" lvl="0" indent="0" algn="r" defTabSz="1218987" rtl="0" eaLnBrk="1" fontAlgn="auto" latinLnBrk="0" hangingPunct="1">
                <a:lnSpc>
                  <a:spcPct val="100000"/>
                </a:lnSpc>
                <a:spcBef>
                  <a:spcPts val="0"/>
                </a:spcBef>
                <a:spcAft>
                  <a:spcPts val="0"/>
                </a:spcAft>
                <a:buClrTx/>
                <a:buSzTx/>
                <a:buFontTx/>
                <a:buNone/>
                <a:tabLst/>
                <a:defRPr/>
              </a:pPr>
              <a:t>1</a:t>
            </a:fld>
            <a:endParaRPr kumimoji="0" lang="en-US" sz="800" b="0" i="0" u="none" strike="noStrike" kern="1200" cap="none" spc="0" normalizeH="0" baseline="0" noProof="0">
              <a:ln>
                <a:noFill/>
              </a:ln>
              <a:solidFill>
                <a:prstClr val="black"/>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44585347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r>
              <a:rPr lang="en-US"/>
              <a:t>Consider performance verification with benchmark as measurement</a:t>
            </a:r>
          </a:p>
          <a:p>
            <a:pPr marL="342900" indent="-342900">
              <a:buAutoNum type="arabicPeriod"/>
            </a:pPr>
            <a:r>
              <a:rPr lang="en-US"/>
              <a:t>Ensure NA sunset BRIM end of 2026</a:t>
            </a:r>
          </a:p>
          <a:p>
            <a:pPr marL="342900" indent="-342900">
              <a:buAutoNum type="arabicPeriod"/>
            </a:pPr>
            <a:r>
              <a:rPr lang="en-US"/>
              <a:t>HW enhancement to be considered per performance benchmark and consider HW spending as part of cost</a:t>
            </a:r>
          </a:p>
          <a:p>
            <a:pPr marL="342900" indent="-342900">
              <a:buAutoNum type="arabicPeriod"/>
            </a:pPr>
            <a:endParaRPr lang="en-US"/>
          </a:p>
        </p:txBody>
      </p:sp>
      <p:sp>
        <p:nvSpPr>
          <p:cNvPr id="4" name="Slide Number Placeholder 3"/>
          <p:cNvSpPr>
            <a:spLocks noGrp="1"/>
          </p:cNvSpPr>
          <p:nvPr>
            <p:ph type="sldNum" sz="quarter" idx="5"/>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4AED87EB-65D7-4500-873C-410831173A82}" type="slidenum">
              <a:rPr kumimoji="0" lang="en-US" sz="800" b="0" i="0" u="none" strike="noStrike" kern="1200" cap="none" spc="0" normalizeH="0" baseline="0" noProof="0" smtClean="0">
                <a:ln>
                  <a:noFill/>
                </a:ln>
                <a:solidFill>
                  <a:prstClr val="black"/>
                </a:solidFill>
                <a:effectLst/>
                <a:uLnTx/>
                <a:uFillTx/>
                <a:latin typeface="Arial" pitchFamily="34" charset="0"/>
                <a:ea typeface="+mn-ea"/>
                <a:cs typeface="Arial" pitchFamily="34" charset="0"/>
              </a:rPr>
              <a:pPr marL="0" marR="0" lvl="0" indent="0" algn="r" defTabSz="1218987" rtl="0" eaLnBrk="1" fontAlgn="auto" latinLnBrk="0" hangingPunct="1">
                <a:lnSpc>
                  <a:spcPct val="100000"/>
                </a:lnSpc>
                <a:spcBef>
                  <a:spcPts val="0"/>
                </a:spcBef>
                <a:spcAft>
                  <a:spcPts val="0"/>
                </a:spcAft>
                <a:buClrTx/>
                <a:buSzTx/>
                <a:buFontTx/>
                <a:buNone/>
                <a:tabLst/>
                <a:defRPr/>
              </a:pPr>
              <a:t>3</a:t>
            </a:fld>
            <a:endParaRPr kumimoji="0" lang="en-US" sz="800" b="0" i="0" u="none" strike="noStrike" kern="1200" cap="none" spc="0" normalizeH="0" baseline="0" noProof="0">
              <a:ln>
                <a:noFill/>
              </a:ln>
              <a:solidFill>
                <a:prstClr val="black"/>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18139573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F95CBB-F989-754F-95CE-726BE3537EA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CE6B72D-FBE8-B34D-A800-846BDD1BEACD}"/>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F47801CA-2D46-3EBB-27C5-1487A95B1BBA}"/>
              </a:ext>
            </a:extLst>
          </p:cNvPr>
          <p:cNvSpPr>
            <a:spLocks noGrp="1"/>
          </p:cNvSpPr>
          <p:nvPr>
            <p:ph type="body" idx="1"/>
          </p:nvPr>
        </p:nvSpPr>
        <p:spPr/>
        <p:txBody>
          <a:bodyPr/>
          <a:lstStyle/>
          <a:p>
            <a:pPr marL="0" indent="0">
              <a:buNone/>
            </a:pPr>
            <a:r>
              <a:rPr lang="zh-CN" altLang="en-US"/>
              <a:t>外部流程拿到框外面。</a:t>
            </a:r>
            <a:endParaRPr lang="en-US" altLang="zh-CN"/>
          </a:p>
          <a:p>
            <a:pPr marL="0" indent="0">
              <a:buNone/>
            </a:pPr>
            <a:r>
              <a:rPr lang="en-US" altLang="zh-CN"/>
              <a:t>Master Contract</a:t>
            </a:r>
            <a:r>
              <a:rPr lang="zh-CN" altLang="en-US"/>
              <a:t>的价格管理。交叉验证。</a:t>
            </a:r>
            <a:endParaRPr lang="en-US" altLang="zh-CN"/>
          </a:p>
          <a:p>
            <a:pPr marL="0" indent="0">
              <a:buNone/>
            </a:pPr>
            <a:endParaRPr lang="en-US" altLang="zh-CN"/>
          </a:p>
        </p:txBody>
      </p:sp>
      <p:sp>
        <p:nvSpPr>
          <p:cNvPr id="4" name="灯片编号占位符 3">
            <a:extLst>
              <a:ext uri="{FF2B5EF4-FFF2-40B4-BE49-F238E27FC236}">
                <a16:creationId xmlns:a16="http://schemas.microsoft.com/office/drawing/2014/main" id="{4D36F681-B180-C636-BED7-FA0DF645AAB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53BD2C2-4A44-42D1-9F4B-E18FC11F0FD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itchFamily="34" charset="0"/>
            </a:endParaRPr>
          </a:p>
        </p:txBody>
      </p:sp>
    </p:spTree>
    <p:extLst>
      <p:ext uri="{BB962C8B-B14F-4D97-AF65-F5344CB8AC3E}">
        <p14:creationId xmlns:p14="http://schemas.microsoft.com/office/powerpoint/2010/main" val="101317231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4AED87EB-65D7-4500-873C-410831173A82}" type="slidenum">
              <a:rPr kumimoji="0" lang="en-US" sz="800" b="0" i="0" u="none" strike="noStrike" kern="1200" cap="none" spc="0" normalizeH="0" baseline="0" noProof="0" smtClean="0">
                <a:ln>
                  <a:noFill/>
                </a:ln>
                <a:solidFill>
                  <a:prstClr val="black"/>
                </a:solidFill>
                <a:effectLst/>
                <a:uLnTx/>
                <a:uFillTx/>
                <a:latin typeface="Arial" pitchFamily="34" charset="0"/>
                <a:ea typeface="+mn-ea"/>
                <a:cs typeface="Arial" pitchFamily="34" charset="0"/>
              </a:rPr>
              <a:pPr marL="0" marR="0" lvl="0" indent="0" algn="r" defTabSz="1218987" rtl="0" eaLnBrk="1" fontAlgn="auto" latinLnBrk="0" hangingPunct="1">
                <a:lnSpc>
                  <a:spcPct val="100000"/>
                </a:lnSpc>
                <a:spcBef>
                  <a:spcPts val="0"/>
                </a:spcBef>
                <a:spcAft>
                  <a:spcPts val="0"/>
                </a:spcAft>
                <a:buClrTx/>
                <a:buSzTx/>
                <a:buFontTx/>
                <a:buNone/>
                <a:tabLst/>
                <a:defRPr/>
              </a:pPr>
              <a:t>5</a:t>
            </a:fld>
            <a:endParaRPr kumimoji="0" lang="en-US" sz="800" b="0" i="0" u="none" strike="noStrike" kern="1200" cap="none" spc="0" normalizeH="0" baseline="0" noProof="0">
              <a:ln>
                <a:noFill/>
              </a:ln>
              <a:solidFill>
                <a:prstClr val="black"/>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49233660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CE5E40-1FE5-9A5E-8806-5CD147FC9E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45ECE90-FEA5-7405-0F26-C4198B97B70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F6218E-AE0D-1BA3-049B-6C65D005D22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554C8B2-A0BF-6054-AA8E-D704A8CC0E24}"/>
              </a:ext>
            </a:extLst>
          </p:cNvPr>
          <p:cNvSpPr>
            <a:spLocks noGrp="1"/>
          </p:cNvSpPr>
          <p:nvPr>
            <p:ph type="sldNum" sz="quarter" idx="5"/>
          </p:nvPr>
        </p:nvSpPr>
        <p:spPr/>
        <p:txBody>
          <a:bodyPr/>
          <a:lstStyle/>
          <a:p>
            <a:fld id="{9FCD7C6C-628C-4A66-96CF-D2300D9F95AC}" type="slidenum">
              <a:rPr lang="en-US" smtClean="0"/>
              <a:t>6</a:t>
            </a:fld>
            <a:endParaRPr lang="en-US"/>
          </a:p>
        </p:txBody>
      </p:sp>
    </p:spTree>
    <p:extLst>
      <p:ext uri="{BB962C8B-B14F-4D97-AF65-F5344CB8AC3E}">
        <p14:creationId xmlns:p14="http://schemas.microsoft.com/office/powerpoint/2010/main" val="335533359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3677B6-4534-9E3F-12FF-30ADB29C00F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7134359-0EFF-6A57-AC1A-244644D92D6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08069AA-6DD1-6F8A-35E2-D931367D8030}"/>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94DF61E-19F7-CCDB-0D0F-CD5148A42D98}"/>
              </a:ext>
            </a:extLst>
          </p:cNvPr>
          <p:cNvSpPr>
            <a:spLocks noGrp="1"/>
          </p:cNvSpPr>
          <p:nvPr>
            <p:ph type="sldNum" sz="quarter" idx="5"/>
          </p:nvPr>
        </p:nvSpPr>
        <p:spPr/>
        <p:txBody>
          <a:bodyPr/>
          <a:lstStyle/>
          <a:p>
            <a:fld id="{9FCD7C6C-628C-4A66-96CF-D2300D9F95AC}" type="slidenum">
              <a:rPr lang="en-US" smtClean="0"/>
              <a:t>7</a:t>
            </a:fld>
            <a:endParaRPr lang="en-US"/>
          </a:p>
        </p:txBody>
      </p:sp>
    </p:spTree>
    <p:extLst>
      <p:ext uri="{BB962C8B-B14F-4D97-AF65-F5344CB8AC3E}">
        <p14:creationId xmlns:p14="http://schemas.microsoft.com/office/powerpoint/2010/main" val="97173090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1642B9-0ABC-D9CD-20CE-95D7688F06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0A9C92-0851-C0EF-90CC-6BBC771E278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F65B09C-C87A-86DF-87B4-473538EB673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0660422-587D-8112-3E71-4E8CA7FE12AE}"/>
              </a:ext>
            </a:extLst>
          </p:cNvPr>
          <p:cNvSpPr>
            <a:spLocks noGrp="1"/>
          </p:cNvSpPr>
          <p:nvPr>
            <p:ph type="sldNum" sz="quarter" idx="5"/>
          </p:nvPr>
        </p:nvSpPr>
        <p:spPr/>
        <p:txBody>
          <a:bodyPr/>
          <a:lstStyle/>
          <a:p>
            <a:fld id="{9FCD7C6C-628C-4A66-96CF-D2300D9F95AC}" type="slidenum">
              <a:rPr lang="en-US" smtClean="0"/>
              <a:t>8</a:t>
            </a:fld>
            <a:endParaRPr lang="en-US"/>
          </a:p>
        </p:txBody>
      </p:sp>
    </p:spTree>
    <p:extLst>
      <p:ext uri="{BB962C8B-B14F-4D97-AF65-F5344CB8AC3E}">
        <p14:creationId xmlns:p14="http://schemas.microsoft.com/office/powerpoint/2010/main" val="402334179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28B250-C755-EF3F-3EE1-47FD8112F5D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B80341F-1BBA-B972-A75F-1396F32F63D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7DB3BF6-02B4-B72B-95CD-233DC416E4B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9F2BABD-5351-16A7-B9A7-609D7ED38D5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CD7C6C-628C-4A66-96CF-D2300D9F95A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093906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11</a:t>
            </a:fld>
            <a:endParaRPr lang="zh-Hans" altLang="en-US"/>
          </a:p>
        </p:txBody>
      </p:sp>
    </p:spTree>
    <p:extLst>
      <p:ext uri="{BB962C8B-B14F-4D97-AF65-F5344CB8AC3E}">
        <p14:creationId xmlns:p14="http://schemas.microsoft.com/office/powerpoint/2010/main" val="53007488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AED87EB-65D7-4500-873C-410831173A8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953869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9FCD7C6C-628C-4A66-96CF-D2300D9F95AC}" type="slidenum">
              <a:rPr lang="en-US" smtClean="0"/>
              <a:t>13</a:t>
            </a:fld>
            <a:endParaRPr lang="en-US"/>
          </a:p>
        </p:txBody>
      </p:sp>
    </p:spTree>
    <p:extLst>
      <p:ext uri="{BB962C8B-B14F-4D97-AF65-F5344CB8AC3E}">
        <p14:creationId xmlns:p14="http://schemas.microsoft.com/office/powerpoint/2010/main" val="407739246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494F64-398C-CA19-252E-C41087CCF44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115E1A0-3537-D6C9-D487-4BACE2B1374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D772BA5-51D2-7812-D2BC-B22957AD20FB}"/>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B02831AB-613D-E135-E32A-EE4DDCDC4B82}"/>
              </a:ext>
            </a:extLst>
          </p:cNvPr>
          <p:cNvSpPr>
            <a:spLocks noGrp="1"/>
          </p:cNvSpPr>
          <p:nvPr>
            <p:ph type="sldNum" sz="quarter" idx="5"/>
          </p:nvPr>
        </p:nvSpPr>
        <p:spPr/>
        <p:txBody>
          <a:bodyPr/>
          <a:lstStyle/>
          <a:p>
            <a:fld id="{B3301143-C1B6-4937-A606-3B9718B3D291}" type="slidenum">
              <a:rPr lang="en-US" smtClean="0"/>
              <a:t>14</a:t>
            </a:fld>
            <a:endParaRPr lang="en-US"/>
          </a:p>
        </p:txBody>
      </p:sp>
    </p:spTree>
    <p:extLst>
      <p:ext uri="{BB962C8B-B14F-4D97-AF65-F5344CB8AC3E}">
        <p14:creationId xmlns:p14="http://schemas.microsoft.com/office/powerpoint/2010/main" val="282685499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0820E6-E8E9-8CE5-DF17-1D36ADCD9E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41F7FE8-9E2D-37EB-A5BD-216A191CD37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785C5B2-25DD-3D3A-BD49-2EC6E22F683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198711A-148D-57A6-CFB7-FCB5D4B5B3E4}"/>
              </a:ext>
            </a:extLst>
          </p:cNvPr>
          <p:cNvSpPr>
            <a:spLocks noGrp="1"/>
          </p:cNvSpPr>
          <p:nvPr>
            <p:ph type="sldNum" sz="quarter" idx="10"/>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4AED87EB-65D7-4500-873C-410831173A82}" type="slidenum">
              <a:rPr kumimoji="0" lang="en-US" sz="800" b="0" i="0" u="none" strike="noStrike" kern="1200" cap="none" spc="0" normalizeH="0" baseline="0" noProof="0" smtClean="0">
                <a:ln>
                  <a:noFill/>
                </a:ln>
                <a:solidFill>
                  <a:prstClr val="black"/>
                </a:solidFill>
                <a:effectLst/>
                <a:uLnTx/>
                <a:uFillTx/>
                <a:latin typeface="Arial" pitchFamily="34" charset="0"/>
                <a:ea typeface="+mn-ea"/>
                <a:cs typeface="Arial" pitchFamily="34" charset="0"/>
              </a:rPr>
              <a:pPr marL="0" marR="0" lvl="0" indent="0" algn="r" defTabSz="1218987" rtl="0" eaLnBrk="1" fontAlgn="auto" latinLnBrk="0" hangingPunct="1">
                <a:lnSpc>
                  <a:spcPct val="100000"/>
                </a:lnSpc>
                <a:spcBef>
                  <a:spcPts val="0"/>
                </a:spcBef>
                <a:spcAft>
                  <a:spcPts val="0"/>
                </a:spcAft>
                <a:buClrTx/>
                <a:buSzTx/>
                <a:buFontTx/>
                <a:buNone/>
                <a:tabLst/>
                <a:defRPr/>
              </a:pPr>
              <a:t>15</a:t>
            </a:fld>
            <a:endParaRPr kumimoji="0" lang="en-US" sz="800" b="0" i="0" u="none" strike="noStrike" kern="1200" cap="none" spc="0" normalizeH="0" baseline="0" noProof="0">
              <a:ln>
                <a:noFill/>
              </a:ln>
              <a:solidFill>
                <a:prstClr val="black"/>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319221307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根据</a:t>
            </a:r>
            <a:r>
              <a:rPr lang="en-US" altLang="zh-CN"/>
              <a:t>excel matrix </a:t>
            </a:r>
            <a:r>
              <a:rPr lang="zh-CN" altLang="en-US"/>
              <a:t>标黄是否去掉？</a:t>
            </a:r>
          </a:p>
        </p:txBody>
      </p:sp>
      <p:sp>
        <p:nvSpPr>
          <p:cNvPr id="4" name="灯片编号占位符 3"/>
          <p:cNvSpPr>
            <a:spLocks noGrp="1"/>
          </p:cNvSpPr>
          <p:nvPr>
            <p:ph type="sldNum" sz="quarter" idx="5"/>
          </p:nvPr>
        </p:nvSpPr>
        <p:spPr/>
        <p:txBody>
          <a:bodyPr/>
          <a:lstStyle/>
          <a:p>
            <a:fld id="{B3301143-C1B6-4937-A606-3B9718B3D291}" type="slidenum">
              <a:rPr lang="en-US" smtClean="0"/>
              <a:t>16</a:t>
            </a:fld>
            <a:endParaRPr lang="en-US"/>
          </a:p>
        </p:txBody>
      </p:sp>
    </p:spTree>
    <p:extLst>
      <p:ext uri="{BB962C8B-B14F-4D97-AF65-F5344CB8AC3E}">
        <p14:creationId xmlns:p14="http://schemas.microsoft.com/office/powerpoint/2010/main" val="71907244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3AC09A-B8FC-D754-DE91-2C6FB965050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12ABA0D-8403-BDD0-9534-DF8BCACC5B2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117EBB7-F4BB-7610-3774-F16032DD6666}"/>
              </a:ext>
            </a:extLst>
          </p:cNvPr>
          <p:cNvSpPr>
            <a:spLocks noGrp="1"/>
          </p:cNvSpPr>
          <p:nvPr>
            <p:ph type="body" idx="1"/>
          </p:nvPr>
        </p:nvSpPr>
        <p:spPr/>
        <p:txBody>
          <a:bodyPr/>
          <a:lstStyle/>
          <a:p>
            <a:r>
              <a:rPr lang="en-US" altLang="zh-CN"/>
              <a:t>FLEX move to next</a:t>
            </a:r>
            <a:endParaRPr lang="zh-CN" altLang="en-US"/>
          </a:p>
        </p:txBody>
      </p:sp>
      <p:sp>
        <p:nvSpPr>
          <p:cNvPr id="4" name="灯片编号占位符 3">
            <a:extLst>
              <a:ext uri="{FF2B5EF4-FFF2-40B4-BE49-F238E27FC236}">
                <a16:creationId xmlns:a16="http://schemas.microsoft.com/office/drawing/2014/main" id="{F5267A63-DE8D-2D2F-1C7A-0C1DA51C9858}"/>
              </a:ext>
            </a:extLst>
          </p:cNvPr>
          <p:cNvSpPr>
            <a:spLocks noGrp="1"/>
          </p:cNvSpPr>
          <p:nvPr>
            <p:ph type="sldNum" sz="quarter" idx="5"/>
          </p:nvPr>
        </p:nvSpPr>
        <p:spPr/>
        <p:txBody>
          <a:bodyPr/>
          <a:lstStyle/>
          <a:p>
            <a:fld id="{9FCD7C6C-628C-4A66-96CF-D2300D9F95AC}" type="slidenum">
              <a:rPr lang="en-US" altLang="zh-Hans" smtClean="0"/>
              <a:t>18</a:t>
            </a:fld>
            <a:endParaRPr lang="zh-Hans" altLang="en-US"/>
          </a:p>
        </p:txBody>
      </p:sp>
    </p:spTree>
    <p:extLst>
      <p:ext uri="{BB962C8B-B14F-4D97-AF65-F5344CB8AC3E}">
        <p14:creationId xmlns:p14="http://schemas.microsoft.com/office/powerpoint/2010/main" val="133885243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82789D-12D2-B6AC-8D35-248EB56CF04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BF632DB-2528-FFF1-F3C7-689F7C20318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A4C4027-5FA8-938E-87B7-2528884DFC84}"/>
              </a:ext>
            </a:extLst>
          </p:cNvPr>
          <p:cNvSpPr>
            <a:spLocks noGrp="1"/>
          </p:cNvSpPr>
          <p:nvPr>
            <p:ph type="body" idx="1"/>
          </p:nvPr>
        </p:nvSpPr>
        <p:spPr/>
        <p:txBody>
          <a:bodyPr/>
          <a:lstStyle/>
          <a:p>
            <a:r>
              <a:rPr lang="en-US" altLang="zh-CN"/>
              <a:t>LE open=</a:t>
            </a:r>
            <a:r>
              <a:rPr lang="zh-CN" altLang="en-US"/>
              <a:t>一个接着一个月续租，无折扣</a:t>
            </a:r>
          </a:p>
        </p:txBody>
      </p:sp>
      <p:sp>
        <p:nvSpPr>
          <p:cNvPr id="4" name="灯片编号占位符 3">
            <a:extLst>
              <a:ext uri="{FF2B5EF4-FFF2-40B4-BE49-F238E27FC236}">
                <a16:creationId xmlns:a16="http://schemas.microsoft.com/office/drawing/2014/main" id="{5013328C-2156-2A5A-80C3-08FFE7392B15}"/>
              </a:ext>
            </a:extLst>
          </p:cNvPr>
          <p:cNvSpPr>
            <a:spLocks noGrp="1"/>
          </p:cNvSpPr>
          <p:nvPr>
            <p:ph type="sldNum" sz="quarter" idx="5"/>
          </p:nvPr>
        </p:nvSpPr>
        <p:spPr/>
        <p:txBody>
          <a:bodyPr/>
          <a:lstStyle/>
          <a:p>
            <a:fld id="{9FCD7C6C-628C-4A66-96CF-D2300D9F95AC}" type="slidenum">
              <a:rPr lang="en-US" altLang="zh-Hans" smtClean="0"/>
              <a:t>20</a:t>
            </a:fld>
            <a:endParaRPr lang="zh-Hans" altLang="en-US"/>
          </a:p>
        </p:txBody>
      </p:sp>
    </p:spTree>
    <p:extLst>
      <p:ext uri="{BB962C8B-B14F-4D97-AF65-F5344CB8AC3E}">
        <p14:creationId xmlns:p14="http://schemas.microsoft.com/office/powerpoint/2010/main" val="87892287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62BB6D-3F81-FEDE-47F0-A6F7FCC8272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93D8DBF-2505-38F8-E7F7-D7EDB8DD3B4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B04E03C-46A9-67D1-617B-C7FC3CA351E0}"/>
              </a:ext>
            </a:extLst>
          </p:cNvPr>
          <p:cNvSpPr>
            <a:spLocks noGrp="1"/>
          </p:cNvSpPr>
          <p:nvPr>
            <p:ph type="body" idx="1"/>
          </p:nvPr>
        </p:nvSpPr>
        <p:spPr/>
        <p:txBody>
          <a:bodyPr/>
          <a:lstStyle/>
          <a:p>
            <a:r>
              <a:rPr lang="en-US" altLang="zh-CN"/>
              <a:t>LE open=</a:t>
            </a:r>
            <a:r>
              <a:rPr lang="zh-CN" altLang="en-US"/>
              <a:t>一个接着一个月续租，无折扣</a:t>
            </a:r>
          </a:p>
        </p:txBody>
      </p:sp>
      <p:sp>
        <p:nvSpPr>
          <p:cNvPr id="4" name="灯片编号占位符 3">
            <a:extLst>
              <a:ext uri="{FF2B5EF4-FFF2-40B4-BE49-F238E27FC236}">
                <a16:creationId xmlns:a16="http://schemas.microsoft.com/office/drawing/2014/main" id="{8FB39986-0AD3-6741-1574-BC8E0AE72BD3}"/>
              </a:ext>
            </a:extLst>
          </p:cNvPr>
          <p:cNvSpPr>
            <a:spLocks noGrp="1"/>
          </p:cNvSpPr>
          <p:nvPr>
            <p:ph type="sldNum" sz="quarter" idx="5"/>
          </p:nvPr>
        </p:nvSpPr>
        <p:spPr/>
        <p:txBody>
          <a:bodyPr/>
          <a:lstStyle/>
          <a:p>
            <a:fld id="{9FCD7C6C-628C-4A66-96CF-D2300D9F95AC}" type="slidenum">
              <a:rPr lang="en-US" altLang="zh-Hans" smtClean="0"/>
              <a:t>21</a:t>
            </a:fld>
            <a:endParaRPr lang="zh-Hans" altLang="en-US"/>
          </a:p>
        </p:txBody>
      </p:sp>
    </p:spTree>
    <p:extLst>
      <p:ext uri="{BB962C8B-B14F-4D97-AF65-F5344CB8AC3E}">
        <p14:creationId xmlns:p14="http://schemas.microsoft.com/office/powerpoint/2010/main" val="290634482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SOR-without recourse-</a:t>
            </a:r>
            <a:r>
              <a:rPr lang="zh-CN" altLang="en-US"/>
              <a:t>不变</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22</a:t>
            </a:fld>
            <a:endParaRPr lang="zh-Hans" altLang="en-US"/>
          </a:p>
        </p:txBody>
      </p:sp>
    </p:spTree>
    <p:extLst>
      <p:ext uri="{BB962C8B-B14F-4D97-AF65-F5344CB8AC3E}">
        <p14:creationId xmlns:p14="http://schemas.microsoft.com/office/powerpoint/2010/main" val="343046321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23</a:t>
            </a:fld>
            <a:endParaRPr lang="zh-Hans" altLang="en-US"/>
          </a:p>
        </p:txBody>
      </p:sp>
    </p:spTree>
    <p:extLst>
      <p:ext uri="{BB962C8B-B14F-4D97-AF65-F5344CB8AC3E}">
        <p14:creationId xmlns:p14="http://schemas.microsoft.com/office/powerpoint/2010/main" val="342864452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C0F926-2035-8C77-EEEC-5CB97E900CD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C55D1DE-96BD-4DC1-FE47-49515144777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D9D1255-B5BA-57EB-812C-2D6B30763BA4}"/>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F992782F-A362-7815-9C71-D538362D6F1B}"/>
              </a:ext>
            </a:extLst>
          </p:cNvPr>
          <p:cNvSpPr>
            <a:spLocks noGrp="1"/>
          </p:cNvSpPr>
          <p:nvPr>
            <p:ph type="sldNum" sz="quarter" idx="5"/>
          </p:nvPr>
        </p:nvSpPr>
        <p:spPr/>
        <p:txBody>
          <a:bodyPr/>
          <a:lstStyle/>
          <a:p>
            <a:fld id="{9FCD7C6C-628C-4A66-96CF-D2300D9F95AC}" type="slidenum">
              <a:rPr lang="en-US" altLang="zh-Hans" smtClean="0"/>
              <a:t>24</a:t>
            </a:fld>
            <a:endParaRPr lang="zh-Hans" altLang="en-US"/>
          </a:p>
        </p:txBody>
      </p:sp>
    </p:spTree>
    <p:extLst>
      <p:ext uri="{BB962C8B-B14F-4D97-AF65-F5344CB8AC3E}">
        <p14:creationId xmlns:p14="http://schemas.microsoft.com/office/powerpoint/2010/main" val="252784321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F5133A-3F7A-67EB-0271-C191800B487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3296C9A-C9F1-EF11-2710-E29D47FCA89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1515C0F-7C27-9645-A649-D93D93AAC8D8}"/>
              </a:ext>
            </a:extLst>
          </p:cNvPr>
          <p:cNvSpPr>
            <a:spLocks noGrp="1"/>
          </p:cNvSpPr>
          <p:nvPr>
            <p:ph type="body" idx="1"/>
          </p:nvPr>
        </p:nvSpPr>
        <p:spPr/>
        <p:txBody>
          <a:bodyPr/>
          <a:lstStyle/>
          <a:p>
            <a:r>
              <a:rPr lang="en-US" altLang="zh-CN"/>
              <a:t>Full syndication funded item transfer to external funder,</a:t>
            </a:r>
            <a:endParaRPr lang="zh-CN" altLang="en-US"/>
          </a:p>
        </p:txBody>
      </p:sp>
      <p:sp>
        <p:nvSpPr>
          <p:cNvPr id="4" name="灯片编号占位符 3">
            <a:extLst>
              <a:ext uri="{FF2B5EF4-FFF2-40B4-BE49-F238E27FC236}">
                <a16:creationId xmlns:a16="http://schemas.microsoft.com/office/drawing/2014/main" id="{C74F71AE-8031-294A-5384-23E79BF6BEE2}"/>
              </a:ext>
            </a:extLst>
          </p:cNvPr>
          <p:cNvSpPr>
            <a:spLocks noGrp="1"/>
          </p:cNvSpPr>
          <p:nvPr>
            <p:ph type="sldNum" sz="quarter" idx="5"/>
          </p:nvPr>
        </p:nvSpPr>
        <p:spPr/>
        <p:txBody>
          <a:bodyPr/>
          <a:lstStyle/>
          <a:p>
            <a:fld id="{9FCD7C6C-628C-4A66-96CF-D2300D9F95AC}" type="slidenum">
              <a:rPr lang="en-US" altLang="zh-Hans" smtClean="0"/>
              <a:t>25</a:t>
            </a:fld>
            <a:endParaRPr lang="zh-Hans" altLang="en-US"/>
          </a:p>
        </p:txBody>
      </p:sp>
    </p:spTree>
    <p:extLst>
      <p:ext uri="{BB962C8B-B14F-4D97-AF65-F5344CB8AC3E}">
        <p14:creationId xmlns:p14="http://schemas.microsoft.com/office/powerpoint/2010/main" val="268558138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Pause/</a:t>
            </a:r>
            <a:r>
              <a:rPr lang="en-US" altLang="zh-CN" err="1"/>
              <a:t>unpause</a:t>
            </a:r>
            <a:endParaRPr lang="en-US" altLang="zh-CN"/>
          </a:p>
          <a:p>
            <a:r>
              <a:rPr lang="en-US" altLang="zh-CN"/>
              <a:t>Down</a:t>
            </a:r>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26</a:t>
            </a:fld>
            <a:endParaRPr lang="zh-Hans" altLang="en-US"/>
          </a:p>
        </p:txBody>
      </p:sp>
    </p:spTree>
    <p:extLst>
      <p:ext uri="{BB962C8B-B14F-4D97-AF65-F5344CB8AC3E}">
        <p14:creationId xmlns:p14="http://schemas.microsoft.com/office/powerpoint/2010/main" val="270977065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27</a:t>
            </a:fld>
            <a:endParaRPr lang="zh-Hans" altLang="en-US"/>
          </a:p>
        </p:txBody>
      </p:sp>
    </p:spTree>
    <p:extLst>
      <p:ext uri="{BB962C8B-B14F-4D97-AF65-F5344CB8AC3E}">
        <p14:creationId xmlns:p14="http://schemas.microsoft.com/office/powerpoint/2010/main" val="248356567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285490-7865-E64E-1D4B-EB6B7D122E3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EDF29DD-34A3-FFEA-C31B-EE1B6C10A7E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DDAA324-292F-78E4-A3A2-05C46C0D3A11}"/>
              </a:ext>
            </a:extLst>
          </p:cNvPr>
          <p:cNvSpPr>
            <a:spLocks noGrp="1"/>
          </p:cNvSpPr>
          <p:nvPr>
            <p:ph type="body" idx="1"/>
          </p:nvPr>
        </p:nvSpPr>
        <p:spPr/>
        <p:txBody>
          <a:bodyPr/>
          <a:lstStyle/>
          <a:p>
            <a:r>
              <a:rPr lang="en-US" altLang="zh-CN"/>
              <a:t>Normal pass</a:t>
            </a:r>
            <a:r>
              <a:rPr lang="zh-CN" altLang="en-US"/>
              <a:t>里面 </a:t>
            </a:r>
            <a:r>
              <a:rPr lang="en-US" altLang="zh-CN"/>
              <a:t>funded premier</a:t>
            </a:r>
            <a:r>
              <a:rPr lang="zh-CN" altLang="en-US"/>
              <a:t>由于在</a:t>
            </a:r>
            <a:r>
              <a:rPr lang="en-US" altLang="zh-CN"/>
              <a:t>inter-co M0 </a:t>
            </a:r>
            <a:r>
              <a:rPr lang="zh-CN" altLang="en-US"/>
              <a:t>期间已经一笔头转回给</a:t>
            </a:r>
            <a:r>
              <a:rPr lang="en-US" altLang="zh-CN"/>
              <a:t>S&amp;D</a:t>
            </a:r>
            <a:r>
              <a:rPr lang="zh-CN" altLang="en-US"/>
              <a:t>，所以不会在</a:t>
            </a:r>
            <a:r>
              <a:rPr lang="en-US" altLang="zh-CN"/>
              <a:t>AFE monthly </a:t>
            </a:r>
            <a:r>
              <a:rPr lang="en-US" altLang="zh-CN" err="1"/>
              <a:t>interco</a:t>
            </a:r>
            <a:r>
              <a:rPr lang="en-US" altLang="zh-CN"/>
              <a:t> </a:t>
            </a:r>
            <a:r>
              <a:rPr lang="zh-CN" altLang="en-US"/>
              <a:t>凭证里出现</a:t>
            </a:r>
            <a:r>
              <a:rPr lang="en-US" altLang="zh-CN"/>
              <a:t>premier support</a:t>
            </a:r>
            <a:endParaRPr lang="zh-CN" altLang="en-US"/>
          </a:p>
        </p:txBody>
      </p:sp>
      <p:sp>
        <p:nvSpPr>
          <p:cNvPr id="4" name="灯片编号占位符 3">
            <a:extLst>
              <a:ext uri="{FF2B5EF4-FFF2-40B4-BE49-F238E27FC236}">
                <a16:creationId xmlns:a16="http://schemas.microsoft.com/office/drawing/2014/main" id="{03C4C27E-118F-C996-01DE-A277208A1FE2}"/>
              </a:ext>
            </a:extLst>
          </p:cNvPr>
          <p:cNvSpPr>
            <a:spLocks noGrp="1"/>
          </p:cNvSpPr>
          <p:nvPr>
            <p:ph type="sldNum" sz="quarter" idx="5"/>
          </p:nvPr>
        </p:nvSpPr>
        <p:spPr/>
        <p:txBody>
          <a:bodyPr/>
          <a:lstStyle/>
          <a:p>
            <a:fld id="{9FCD7C6C-628C-4A66-96CF-D2300D9F95AC}" type="slidenum">
              <a:rPr lang="en-US" altLang="zh-Hans" smtClean="0"/>
              <a:t>28</a:t>
            </a:fld>
            <a:endParaRPr lang="zh-Hans" altLang="en-US"/>
          </a:p>
        </p:txBody>
      </p:sp>
    </p:spTree>
    <p:extLst>
      <p:ext uri="{BB962C8B-B14F-4D97-AF65-F5344CB8AC3E}">
        <p14:creationId xmlns:p14="http://schemas.microsoft.com/office/powerpoint/2010/main" val="219113774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C5FF20-A5EC-2FF3-5A8C-ABF8E8FF70F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C012888-81CF-3198-7A52-118F3F3104B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5FD189E-9FDA-9758-50B8-4E698B0B0325}"/>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17D65091-7927-0B65-B299-7015D8CF3F6E}"/>
              </a:ext>
            </a:extLst>
          </p:cNvPr>
          <p:cNvSpPr>
            <a:spLocks noGrp="1"/>
          </p:cNvSpPr>
          <p:nvPr>
            <p:ph type="sldNum" sz="quarter" idx="5"/>
          </p:nvPr>
        </p:nvSpPr>
        <p:spPr/>
        <p:txBody>
          <a:bodyPr/>
          <a:lstStyle/>
          <a:p>
            <a:fld id="{B3301143-C1B6-4937-A606-3B9718B3D291}" type="slidenum">
              <a:rPr lang="en-US" smtClean="0"/>
              <a:t>29</a:t>
            </a:fld>
            <a:endParaRPr lang="en-US"/>
          </a:p>
        </p:txBody>
      </p:sp>
    </p:spTree>
    <p:extLst>
      <p:ext uri="{BB962C8B-B14F-4D97-AF65-F5344CB8AC3E}">
        <p14:creationId xmlns:p14="http://schemas.microsoft.com/office/powerpoint/2010/main" val="390131575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3B1C24-8DB9-4E3D-4269-9BA2D6EE2B8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C566574-2F11-83FC-D406-154F1A8A01E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18E4C74-1124-695F-8B9A-6E7DC6F55FF7}"/>
              </a:ext>
            </a:extLst>
          </p:cNvPr>
          <p:cNvSpPr>
            <a:spLocks noGrp="1"/>
          </p:cNvSpPr>
          <p:nvPr>
            <p:ph type="body" idx="1"/>
          </p:nvPr>
        </p:nvSpPr>
        <p:spPr/>
        <p:txBody>
          <a:bodyPr/>
          <a:lstStyle/>
          <a:p>
            <a:r>
              <a:rPr lang="en-US" altLang="zh-CN"/>
              <a:t>Normal pass</a:t>
            </a:r>
            <a:r>
              <a:rPr lang="zh-CN" altLang="en-US"/>
              <a:t>里面 </a:t>
            </a:r>
            <a:r>
              <a:rPr lang="en-US" altLang="zh-CN"/>
              <a:t>funded premier</a:t>
            </a:r>
            <a:r>
              <a:rPr lang="zh-CN" altLang="en-US"/>
              <a:t>由于在</a:t>
            </a:r>
            <a:r>
              <a:rPr lang="en-US" altLang="zh-CN"/>
              <a:t>inter-co M0 </a:t>
            </a:r>
            <a:r>
              <a:rPr lang="zh-CN" altLang="en-US"/>
              <a:t>期间已经一笔头转回给</a:t>
            </a:r>
            <a:r>
              <a:rPr lang="en-US" altLang="zh-CN"/>
              <a:t>S&amp;D</a:t>
            </a:r>
            <a:r>
              <a:rPr lang="zh-CN" altLang="en-US"/>
              <a:t>，所以不会在</a:t>
            </a:r>
            <a:r>
              <a:rPr lang="en-US" altLang="zh-CN"/>
              <a:t>AFE monthly </a:t>
            </a:r>
            <a:r>
              <a:rPr lang="en-US" altLang="zh-CN" err="1"/>
              <a:t>interco</a:t>
            </a:r>
            <a:r>
              <a:rPr lang="en-US" altLang="zh-CN"/>
              <a:t> </a:t>
            </a:r>
            <a:r>
              <a:rPr lang="zh-CN" altLang="en-US"/>
              <a:t>凭证里出现</a:t>
            </a:r>
            <a:r>
              <a:rPr lang="en-US" altLang="zh-CN"/>
              <a:t>premier support</a:t>
            </a:r>
            <a:endParaRPr lang="zh-CN" altLang="en-US"/>
          </a:p>
        </p:txBody>
      </p:sp>
      <p:sp>
        <p:nvSpPr>
          <p:cNvPr id="4" name="灯片编号占位符 3">
            <a:extLst>
              <a:ext uri="{FF2B5EF4-FFF2-40B4-BE49-F238E27FC236}">
                <a16:creationId xmlns:a16="http://schemas.microsoft.com/office/drawing/2014/main" id="{D249A32A-BD66-0D4A-17D6-80FC34EBF0F9}"/>
              </a:ext>
            </a:extLst>
          </p:cNvPr>
          <p:cNvSpPr>
            <a:spLocks noGrp="1"/>
          </p:cNvSpPr>
          <p:nvPr>
            <p:ph type="sldNum" sz="quarter" idx="5"/>
          </p:nvPr>
        </p:nvSpPr>
        <p:spPr/>
        <p:txBody>
          <a:bodyPr/>
          <a:lstStyle/>
          <a:p>
            <a:fld id="{9FCD7C6C-628C-4A66-96CF-D2300D9F95AC}" type="slidenum">
              <a:rPr lang="en-US" altLang="zh-Hans" smtClean="0"/>
              <a:t>30</a:t>
            </a:fld>
            <a:endParaRPr lang="zh-Hans" altLang="en-US"/>
          </a:p>
        </p:txBody>
      </p:sp>
    </p:spTree>
    <p:extLst>
      <p:ext uri="{BB962C8B-B14F-4D97-AF65-F5344CB8AC3E}">
        <p14:creationId xmlns:p14="http://schemas.microsoft.com/office/powerpoint/2010/main" val="23845349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B8A6DF-8032-07B9-82BC-3BD8DD4FDFD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2C417B2-7E07-C8D0-B108-BF32276362B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504727F-BDB3-E306-7374-D8AD081C7109}"/>
              </a:ext>
            </a:extLst>
          </p:cNvPr>
          <p:cNvSpPr>
            <a:spLocks noGrp="1"/>
          </p:cNvSpPr>
          <p:nvPr>
            <p:ph type="body" idx="1"/>
          </p:nvPr>
        </p:nvSpPr>
        <p:spPr/>
        <p:txBody>
          <a:bodyPr/>
          <a:lstStyle/>
          <a:p>
            <a:r>
              <a:rPr lang="en-US" altLang="zh-CN"/>
              <a:t>AFE</a:t>
            </a:r>
            <a:r>
              <a:rPr lang="zh-CN" altLang="en-US"/>
              <a:t>模式下 </a:t>
            </a:r>
            <a:r>
              <a:rPr lang="en-US" altLang="zh-CN"/>
              <a:t>SOR</a:t>
            </a:r>
            <a:r>
              <a:rPr lang="zh-CN" altLang="en-US"/>
              <a:t>有追索时，</a:t>
            </a:r>
            <a:r>
              <a:rPr lang="en-US" altLang="zh-CN"/>
              <a:t>premier funded</a:t>
            </a:r>
            <a:r>
              <a:rPr lang="zh-CN" altLang="en-US"/>
              <a:t>处理和</a:t>
            </a:r>
            <a:r>
              <a:rPr lang="en-US" altLang="zh-CN"/>
              <a:t>normal pass</a:t>
            </a:r>
            <a:r>
              <a:rPr lang="zh-CN" altLang="en-US"/>
              <a:t>一样，只在</a:t>
            </a:r>
            <a:r>
              <a:rPr lang="en-US" altLang="zh-CN"/>
              <a:t>monthly </a:t>
            </a:r>
            <a:r>
              <a:rPr lang="zh-CN" altLang="en-US"/>
              <a:t>对客确认</a:t>
            </a:r>
            <a:r>
              <a:rPr lang="en-US" altLang="zh-CN"/>
              <a:t>agent rev</a:t>
            </a:r>
            <a:r>
              <a:rPr lang="zh-CN" altLang="en-US"/>
              <a:t>，无需</a:t>
            </a:r>
            <a:r>
              <a:rPr lang="en-US" altLang="zh-CN"/>
              <a:t>monthly inter co</a:t>
            </a:r>
            <a:r>
              <a:rPr lang="zh-CN" altLang="en-US"/>
              <a:t>转回。</a:t>
            </a:r>
            <a:endParaRPr lang="en-US" altLang="zh-CN"/>
          </a:p>
        </p:txBody>
      </p:sp>
      <p:sp>
        <p:nvSpPr>
          <p:cNvPr id="4" name="灯片编号占位符 3">
            <a:extLst>
              <a:ext uri="{FF2B5EF4-FFF2-40B4-BE49-F238E27FC236}">
                <a16:creationId xmlns:a16="http://schemas.microsoft.com/office/drawing/2014/main" id="{6C00F773-B099-2D58-FE78-30DCCC6B5EE5}"/>
              </a:ext>
            </a:extLst>
          </p:cNvPr>
          <p:cNvSpPr>
            <a:spLocks noGrp="1"/>
          </p:cNvSpPr>
          <p:nvPr>
            <p:ph type="sldNum" sz="quarter" idx="5"/>
          </p:nvPr>
        </p:nvSpPr>
        <p:spPr/>
        <p:txBody>
          <a:bodyPr/>
          <a:lstStyle/>
          <a:p>
            <a:fld id="{9FCD7C6C-628C-4A66-96CF-D2300D9F95AC}" type="slidenum">
              <a:rPr lang="en-US" altLang="zh-Hans" smtClean="0"/>
              <a:t>31</a:t>
            </a:fld>
            <a:endParaRPr lang="zh-Hans" altLang="en-US"/>
          </a:p>
        </p:txBody>
      </p:sp>
    </p:spTree>
    <p:extLst>
      <p:ext uri="{BB962C8B-B14F-4D97-AF65-F5344CB8AC3E}">
        <p14:creationId xmlns:p14="http://schemas.microsoft.com/office/powerpoint/2010/main" val="60053424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a:t>AFE </a:t>
            </a:r>
            <a:r>
              <a:rPr lang="zh-CN" altLang="en-US"/>
              <a:t>模式，</a:t>
            </a:r>
            <a:r>
              <a:rPr lang="en-US" altLang="zh-CN"/>
              <a:t>SOR</a:t>
            </a:r>
            <a:r>
              <a:rPr lang="zh-CN" altLang="en-US"/>
              <a:t>无追索时，</a:t>
            </a:r>
            <a:r>
              <a:rPr lang="en-US" altLang="zh-CN"/>
              <a:t>premier funded</a:t>
            </a:r>
            <a:r>
              <a:rPr lang="zh-CN" altLang="en-US"/>
              <a:t>在</a:t>
            </a:r>
            <a:r>
              <a:rPr lang="en-US" altLang="zh-CN"/>
              <a:t>monthly </a:t>
            </a:r>
            <a:r>
              <a:rPr lang="zh-CN" altLang="en-US"/>
              <a:t>对客需要在</a:t>
            </a:r>
            <a:r>
              <a:rPr lang="en-US" altLang="zh-CN"/>
              <a:t>OP</a:t>
            </a:r>
            <a:r>
              <a:rPr lang="zh-CN" altLang="en-US"/>
              <a:t>确认，然后转给</a:t>
            </a:r>
            <a:r>
              <a:rPr lang="en-US" altLang="zh-CN"/>
              <a:t>external funder</a:t>
            </a:r>
            <a:r>
              <a:rPr lang="zh-CN" altLang="en-US"/>
              <a:t>。</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32</a:t>
            </a:fld>
            <a:endParaRPr lang="zh-Hans" altLang="en-US"/>
          </a:p>
        </p:txBody>
      </p:sp>
    </p:spTree>
    <p:extLst>
      <p:ext uri="{BB962C8B-B14F-4D97-AF65-F5344CB8AC3E}">
        <p14:creationId xmlns:p14="http://schemas.microsoft.com/office/powerpoint/2010/main" val="345788525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7ABBBB-0226-C722-5747-316C94CA205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CDE63DD-9979-8B36-66BE-6D8BCBED576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8270C43-D9B4-C6B0-CB80-8BB244C7DA44}"/>
              </a:ext>
            </a:extLst>
          </p:cNvPr>
          <p:cNvSpPr>
            <a:spLocks noGrp="1"/>
          </p:cNvSpPr>
          <p:nvPr>
            <p:ph type="body" idx="1"/>
          </p:nvPr>
        </p:nvSpPr>
        <p:spPr/>
        <p:txBody>
          <a:bodyPr/>
          <a:lstStyle/>
          <a:p>
            <a:r>
              <a:rPr lang="en-US" altLang="zh-CN"/>
              <a:t>FLEX move to next</a:t>
            </a:r>
            <a:endParaRPr lang="zh-CN" altLang="en-US"/>
          </a:p>
        </p:txBody>
      </p:sp>
      <p:sp>
        <p:nvSpPr>
          <p:cNvPr id="4" name="灯片编号占位符 3">
            <a:extLst>
              <a:ext uri="{FF2B5EF4-FFF2-40B4-BE49-F238E27FC236}">
                <a16:creationId xmlns:a16="http://schemas.microsoft.com/office/drawing/2014/main" id="{D66AAB51-1131-E97A-E0AD-C687D0F958E6}"/>
              </a:ext>
            </a:extLst>
          </p:cNvPr>
          <p:cNvSpPr>
            <a:spLocks noGrp="1"/>
          </p:cNvSpPr>
          <p:nvPr>
            <p:ph type="sldNum" sz="quarter" idx="5"/>
          </p:nvPr>
        </p:nvSpPr>
        <p:spPr/>
        <p:txBody>
          <a:bodyPr/>
          <a:lstStyle/>
          <a:p>
            <a:fld id="{9FCD7C6C-628C-4A66-96CF-D2300D9F95AC}" type="slidenum">
              <a:rPr lang="en-US" altLang="zh-Hans" smtClean="0"/>
              <a:t>33</a:t>
            </a:fld>
            <a:endParaRPr lang="zh-Hans" altLang="en-US"/>
          </a:p>
        </p:txBody>
      </p:sp>
    </p:spTree>
    <p:extLst>
      <p:ext uri="{BB962C8B-B14F-4D97-AF65-F5344CB8AC3E}">
        <p14:creationId xmlns:p14="http://schemas.microsoft.com/office/powerpoint/2010/main" val="270759154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终止换机器后，机器有损坏，</a:t>
            </a:r>
            <a:r>
              <a:rPr lang="en-US" altLang="zh-CN"/>
              <a:t>charge</a:t>
            </a:r>
            <a:r>
              <a:rPr lang="zh-CN" altLang="en-US"/>
              <a:t>客户。</a:t>
            </a:r>
            <a:endParaRPr lang="en-US" altLang="zh-CN"/>
          </a:p>
          <a:p>
            <a:r>
              <a:rPr lang="en-US" altLang="zh-CN"/>
              <a:t>Syndication</a:t>
            </a:r>
            <a:r>
              <a:rPr lang="zh-CN" altLang="en-US"/>
              <a:t>场景：原来的</a:t>
            </a:r>
            <a:r>
              <a:rPr lang="en-US" altLang="zh-CN"/>
              <a:t>BSR,AFE monthly</a:t>
            </a:r>
            <a:r>
              <a:rPr lang="zh-CN" altLang="en-US"/>
              <a:t>对客是确认的</a:t>
            </a:r>
            <a:r>
              <a:rPr lang="en-US" altLang="zh-CN"/>
              <a:t>agent revenue</a:t>
            </a:r>
            <a:r>
              <a:rPr lang="zh-CN" altLang="en-US"/>
              <a:t>，由于</a:t>
            </a:r>
            <a:r>
              <a:rPr lang="en-US" altLang="zh-CN" err="1"/>
              <a:t>nexbill</a:t>
            </a:r>
            <a:r>
              <a:rPr lang="zh-CN" altLang="en-US"/>
              <a:t>想要优化减少一笔凭证，所以直接用</a:t>
            </a:r>
            <a:r>
              <a:rPr lang="en-US" altLang="zh-CN"/>
              <a:t>OP </a:t>
            </a:r>
            <a:r>
              <a:rPr lang="zh-CN" altLang="en-US"/>
              <a:t>代替。</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34</a:t>
            </a:fld>
            <a:endParaRPr lang="zh-Hans" altLang="en-US"/>
          </a:p>
        </p:txBody>
      </p:sp>
    </p:spTree>
    <p:extLst>
      <p:ext uri="{BB962C8B-B14F-4D97-AF65-F5344CB8AC3E}">
        <p14:creationId xmlns:p14="http://schemas.microsoft.com/office/powerpoint/2010/main" val="214821853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35</a:t>
            </a:fld>
            <a:endParaRPr lang="zh-Hans" altLang="en-US"/>
          </a:p>
        </p:txBody>
      </p:sp>
    </p:spTree>
    <p:extLst>
      <p:ext uri="{BB962C8B-B14F-4D97-AF65-F5344CB8AC3E}">
        <p14:creationId xmlns:p14="http://schemas.microsoft.com/office/powerpoint/2010/main" val="420280082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5775CC-A1AC-0854-448F-79F2402C144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492C749-D70E-756F-678C-2C9CAFD5C72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E0236BB-025F-84DE-577D-076FA834CE53}"/>
              </a:ext>
            </a:extLst>
          </p:cNvPr>
          <p:cNvSpPr>
            <a:spLocks noGrp="1"/>
          </p:cNvSpPr>
          <p:nvPr>
            <p:ph type="body" idx="1"/>
          </p:nvPr>
        </p:nvSpPr>
        <p:spPr/>
        <p:txBody>
          <a:bodyPr/>
          <a:lstStyle/>
          <a:p>
            <a:r>
              <a:rPr lang="en-US" altLang="zh-CN"/>
              <a:t>5010514 need to double check</a:t>
            </a:r>
            <a:endParaRPr lang="zh-CN" altLang="en-US"/>
          </a:p>
        </p:txBody>
      </p:sp>
      <p:sp>
        <p:nvSpPr>
          <p:cNvPr id="4" name="灯片编号占位符 3">
            <a:extLst>
              <a:ext uri="{FF2B5EF4-FFF2-40B4-BE49-F238E27FC236}">
                <a16:creationId xmlns:a16="http://schemas.microsoft.com/office/drawing/2014/main" id="{61B83386-B315-53D1-F823-D3888D672299}"/>
              </a:ext>
            </a:extLst>
          </p:cNvPr>
          <p:cNvSpPr>
            <a:spLocks noGrp="1"/>
          </p:cNvSpPr>
          <p:nvPr>
            <p:ph type="sldNum" sz="quarter" idx="5"/>
          </p:nvPr>
        </p:nvSpPr>
        <p:spPr/>
        <p:txBody>
          <a:bodyPr/>
          <a:lstStyle/>
          <a:p>
            <a:fld id="{9FCD7C6C-628C-4A66-96CF-D2300D9F95AC}" type="slidenum">
              <a:rPr lang="en-US" altLang="zh-Hans" smtClean="0"/>
              <a:t>36</a:t>
            </a:fld>
            <a:endParaRPr lang="zh-Hans" altLang="en-US"/>
          </a:p>
        </p:txBody>
      </p:sp>
    </p:spTree>
    <p:extLst>
      <p:ext uri="{BB962C8B-B14F-4D97-AF65-F5344CB8AC3E}">
        <p14:creationId xmlns:p14="http://schemas.microsoft.com/office/powerpoint/2010/main" val="109492060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3E1773-1759-E87C-82C7-0F617AA882E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CD8EF65-3BBF-3913-8DE3-6900DA7A65F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C73A6DA-0CA5-4F3D-0D44-000AFC318E91}"/>
              </a:ext>
            </a:extLst>
          </p:cNvPr>
          <p:cNvSpPr>
            <a:spLocks noGrp="1"/>
          </p:cNvSpPr>
          <p:nvPr>
            <p:ph type="body" idx="1"/>
          </p:nvPr>
        </p:nvSpPr>
        <p:spPr/>
        <p:txBody>
          <a:bodyPr/>
          <a:lstStyle/>
          <a:p>
            <a:r>
              <a:rPr lang="en-US" altLang="zh-CN"/>
              <a:t>5010514 need to double check</a:t>
            </a:r>
          </a:p>
          <a:p>
            <a:endParaRPr lang="zh-CN" altLang="en-US"/>
          </a:p>
        </p:txBody>
      </p:sp>
      <p:sp>
        <p:nvSpPr>
          <p:cNvPr id="4" name="灯片编号占位符 3">
            <a:extLst>
              <a:ext uri="{FF2B5EF4-FFF2-40B4-BE49-F238E27FC236}">
                <a16:creationId xmlns:a16="http://schemas.microsoft.com/office/drawing/2014/main" id="{4712737A-945E-45BC-570D-0EBD83A58CE4}"/>
              </a:ext>
            </a:extLst>
          </p:cNvPr>
          <p:cNvSpPr>
            <a:spLocks noGrp="1"/>
          </p:cNvSpPr>
          <p:nvPr>
            <p:ph type="sldNum" sz="quarter" idx="5"/>
          </p:nvPr>
        </p:nvSpPr>
        <p:spPr/>
        <p:txBody>
          <a:bodyPr/>
          <a:lstStyle/>
          <a:p>
            <a:fld id="{9FCD7C6C-628C-4A66-96CF-D2300D9F95AC}" type="slidenum">
              <a:rPr lang="en-US" altLang="zh-Hans" smtClean="0"/>
              <a:t>37</a:t>
            </a:fld>
            <a:endParaRPr lang="zh-Hans" altLang="en-US"/>
          </a:p>
        </p:txBody>
      </p:sp>
    </p:spTree>
    <p:extLst>
      <p:ext uri="{BB962C8B-B14F-4D97-AF65-F5344CB8AC3E}">
        <p14:creationId xmlns:p14="http://schemas.microsoft.com/office/powerpoint/2010/main" val="153141347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是否可以和</a:t>
            </a:r>
            <a:r>
              <a:rPr lang="en-US" altLang="zh-CN"/>
              <a:t>normal pass </a:t>
            </a:r>
            <a:r>
              <a:rPr lang="zh-CN" altLang="en-US"/>
              <a:t>合并，以及</a:t>
            </a:r>
            <a:r>
              <a:rPr lang="en-US" altLang="zh-CN"/>
              <a:t>Flex down </a:t>
            </a:r>
            <a:r>
              <a:rPr lang="zh-CN" altLang="en-US"/>
              <a:t>确认</a:t>
            </a:r>
            <a:r>
              <a:rPr lang="en-US" altLang="zh-CN"/>
              <a:t>defer</a:t>
            </a:r>
            <a:r>
              <a:rPr lang="zh-CN" altLang="en-US"/>
              <a:t>那笔是否自动</a:t>
            </a:r>
            <a:r>
              <a:rPr lang="en-US" altLang="zh-CN"/>
              <a:t>po</a:t>
            </a:r>
            <a:r>
              <a:rPr lang="zh-CN" altLang="en-US"/>
              <a:t>账</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38</a:t>
            </a:fld>
            <a:endParaRPr lang="zh-Hans" altLang="en-US"/>
          </a:p>
        </p:txBody>
      </p:sp>
    </p:spTree>
    <p:extLst>
      <p:ext uri="{BB962C8B-B14F-4D97-AF65-F5344CB8AC3E}">
        <p14:creationId xmlns:p14="http://schemas.microsoft.com/office/powerpoint/2010/main" val="423223978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延期的假设里</a:t>
            </a:r>
            <a:r>
              <a:rPr lang="en-US" altLang="zh-CN"/>
              <a:t>premier</a:t>
            </a:r>
            <a:r>
              <a:rPr lang="zh-CN" altLang="en-US"/>
              <a:t>就是</a:t>
            </a:r>
            <a:r>
              <a:rPr lang="en-US" altLang="zh-CN"/>
              <a:t>not funded,</a:t>
            </a:r>
            <a:r>
              <a:rPr lang="zh-CN" altLang="en-US"/>
              <a:t>所以需要每月转回给</a:t>
            </a:r>
            <a:r>
              <a:rPr lang="en-US" altLang="zh-CN"/>
              <a:t>S&amp;D</a:t>
            </a:r>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39</a:t>
            </a:fld>
            <a:endParaRPr lang="zh-Hans" altLang="en-US"/>
          </a:p>
        </p:txBody>
      </p:sp>
    </p:spTree>
    <p:extLst>
      <p:ext uri="{BB962C8B-B14F-4D97-AF65-F5344CB8AC3E}">
        <p14:creationId xmlns:p14="http://schemas.microsoft.com/office/powerpoint/2010/main" val="425933457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72B5B2-1E08-F840-0E79-C83BBCB779F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D5F38F8-FE47-8FB2-BD4F-16ED58812D1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3D10FE3-6ADF-6CB2-C871-EBE17666775A}"/>
              </a:ext>
            </a:extLst>
          </p:cNvPr>
          <p:cNvSpPr>
            <a:spLocks noGrp="1"/>
          </p:cNvSpPr>
          <p:nvPr>
            <p:ph type="body" idx="1"/>
          </p:nvPr>
        </p:nvSpPr>
        <p:spPr/>
        <p:txBody>
          <a:bodyPr/>
          <a:lstStyle/>
          <a:p>
            <a:r>
              <a:rPr lang="en-US" altLang="zh-CN"/>
              <a:t>LE open=</a:t>
            </a:r>
            <a:r>
              <a:rPr lang="zh-CN" altLang="en-US"/>
              <a:t>一个接着一个月续租，无折扣</a:t>
            </a:r>
          </a:p>
        </p:txBody>
      </p:sp>
      <p:sp>
        <p:nvSpPr>
          <p:cNvPr id="4" name="灯片编号占位符 3">
            <a:extLst>
              <a:ext uri="{FF2B5EF4-FFF2-40B4-BE49-F238E27FC236}">
                <a16:creationId xmlns:a16="http://schemas.microsoft.com/office/drawing/2014/main" id="{A9F60FB9-696A-EE4E-ED2F-CF25B0D186DE}"/>
              </a:ext>
            </a:extLst>
          </p:cNvPr>
          <p:cNvSpPr>
            <a:spLocks noGrp="1"/>
          </p:cNvSpPr>
          <p:nvPr>
            <p:ph type="sldNum" sz="quarter" idx="5"/>
          </p:nvPr>
        </p:nvSpPr>
        <p:spPr/>
        <p:txBody>
          <a:bodyPr/>
          <a:lstStyle/>
          <a:p>
            <a:fld id="{9FCD7C6C-628C-4A66-96CF-D2300D9F95AC}" type="slidenum">
              <a:rPr lang="en-US" altLang="zh-Hans" smtClean="0"/>
              <a:t>40</a:t>
            </a:fld>
            <a:endParaRPr lang="zh-Hans" altLang="en-US"/>
          </a:p>
        </p:txBody>
      </p:sp>
    </p:spTree>
    <p:extLst>
      <p:ext uri="{BB962C8B-B14F-4D97-AF65-F5344CB8AC3E}">
        <p14:creationId xmlns:p14="http://schemas.microsoft.com/office/powerpoint/2010/main" val="380078723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9DB537-5386-9A9F-2124-2A254B15C7B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02D9390-B135-760D-BC8A-984EFB92E97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C183AD7-5CBF-6E7E-083D-B6C3DCF8BA53}"/>
              </a:ext>
            </a:extLst>
          </p:cNvPr>
          <p:cNvSpPr>
            <a:spLocks noGrp="1"/>
          </p:cNvSpPr>
          <p:nvPr>
            <p:ph type="body" idx="1"/>
          </p:nvPr>
        </p:nvSpPr>
        <p:spPr/>
        <p:txBody>
          <a:bodyPr/>
          <a:lstStyle/>
          <a:p>
            <a:r>
              <a:rPr lang="en-US" altLang="zh-CN"/>
              <a:t>Normal pass</a:t>
            </a:r>
            <a:r>
              <a:rPr lang="zh-CN" altLang="en-US"/>
              <a:t>里面 </a:t>
            </a:r>
            <a:r>
              <a:rPr lang="en-US" altLang="zh-CN"/>
              <a:t>funded premier</a:t>
            </a:r>
            <a:r>
              <a:rPr lang="zh-CN" altLang="en-US"/>
              <a:t>由于在</a:t>
            </a:r>
            <a:r>
              <a:rPr lang="en-US" altLang="zh-CN"/>
              <a:t>inter-co M0 </a:t>
            </a:r>
            <a:r>
              <a:rPr lang="zh-CN" altLang="en-US"/>
              <a:t>期间已经一笔头转回给</a:t>
            </a:r>
            <a:r>
              <a:rPr lang="en-US" altLang="zh-CN"/>
              <a:t>S&amp;D</a:t>
            </a:r>
            <a:r>
              <a:rPr lang="zh-CN" altLang="en-US"/>
              <a:t>，所以不会在</a:t>
            </a:r>
            <a:r>
              <a:rPr lang="en-US" altLang="zh-CN"/>
              <a:t>AFE monthly </a:t>
            </a:r>
            <a:r>
              <a:rPr lang="en-US" altLang="zh-CN" err="1"/>
              <a:t>interco</a:t>
            </a:r>
            <a:r>
              <a:rPr lang="en-US" altLang="zh-CN"/>
              <a:t> </a:t>
            </a:r>
            <a:r>
              <a:rPr lang="zh-CN" altLang="en-US"/>
              <a:t>凭证里出现</a:t>
            </a:r>
            <a:r>
              <a:rPr lang="en-US" altLang="zh-CN"/>
              <a:t>premier support</a:t>
            </a:r>
            <a:endParaRPr lang="zh-CN" altLang="en-US"/>
          </a:p>
        </p:txBody>
      </p:sp>
      <p:sp>
        <p:nvSpPr>
          <p:cNvPr id="4" name="灯片编号占位符 3">
            <a:extLst>
              <a:ext uri="{FF2B5EF4-FFF2-40B4-BE49-F238E27FC236}">
                <a16:creationId xmlns:a16="http://schemas.microsoft.com/office/drawing/2014/main" id="{8374F646-97AB-F144-B12D-0575D0216D43}"/>
              </a:ext>
            </a:extLst>
          </p:cNvPr>
          <p:cNvSpPr>
            <a:spLocks noGrp="1"/>
          </p:cNvSpPr>
          <p:nvPr>
            <p:ph type="sldNum" sz="quarter" idx="5"/>
          </p:nvPr>
        </p:nvSpPr>
        <p:spPr/>
        <p:txBody>
          <a:bodyPr/>
          <a:lstStyle/>
          <a:p>
            <a:fld id="{9FCD7C6C-628C-4A66-96CF-D2300D9F95AC}" type="slidenum">
              <a:rPr lang="en-US" altLang="zh-Hans" smtClean="0"/>
              <a:t>43</a:t>
            </a:fld>
            <a:endParaRPr lang="zh-Hans" altLang="en-US"/>
          </a:p>
        </p:txBody>
      </p:sp>
    </p:spTree>
    <p:extLst>
      <p:ext uri="{BB962C8B-B14F-4D97-AF65-F5344CB8AC3E}">
        <p14:creationId xmlns:p14="http://schemas.microsoft.com/office/powerpoint/2010/main" val="156641622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91F264-B555-9EE3-7A36-F4A5A9CEC04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E1A1CC1-0A6A-6F70-9DD7-5A0789D33AD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9040843-2E78-FDC5-8E68-9E34C5F5AEEF}"/>
              </a:ext>
            </a:extLst>
          </p:cNvPr>
          <p:cNvSpPr>
            <a:spLocks noGrp="1"/>
          </p:cNvSpPr>
          <p:nvPr>
            <p:ph type="body" idx="1"/>
          </p:nvPr>
        </p:nvSpPr>
        <p:spPr/>
        <p:txBody>
          <a:bodyPr/>
          <a:lstStyle/>
          <a:p>
            <a:r>
              <a:rPr lang="en-US" altLang="zh-CN"/>
              <a:t>FLEX move to next</a:t>
            </a:r>
            <a:endParaRPr lang="zh-CN" altLang="en-US"/>
          </a:p>
        </p:txBody>
      </p:sp>
      <p:sp>
        <p:nvSpPr>
          <p:cNvPr id="4" name="灯片编号占位符 3">
            <a:extLst>
              <a:ext uri="{FF2B5EF4-FFF2-40B4-BE49-F238E27FC236}">
                <a16:creationId xmlns:a16="http://schemas.microsoft.com/office/drawing/2014/main" id="{84D55E91-DF8B-8538-8030-A8D154F9C6F6}"/>
              </a:ext>
            </a:extLst>
          </p:cNvPr>
          <p:cNvSpPr>
            <a:spLocks noGrp="1"/>
          </p:cNvSpPr>
          <p:nvPr>
            <p:ph type="sldNum" sz="quarter" idx="5"/>
          </p:nvPr>
        </p:nvSpPr>
        <p:spPr/>
        <p:txBody>
          <a:bodyPr/>
          <a:lstStyle/>
          <a:p>
            <a:fld id="{9FCD7C6C-628C-4A66-96CF-D2300D9F95AC}" type="slidenum">
              <a:rPr lang="en-US" altLang="zh-Hans" smtClean="0"/>
              <a:t>45</a:t>
            </a:fld>
            <a:endParaRPr lang="zh-Hans" altLang="en-US"/>
          </a:p>
        </p:txBody>
      </p:sp>
    </p:spTree>
    <p:extLst>
      <p:ext uri="{BB962C8B-B14F-4D97-AF65-F5344CB8AC3E}">
        <p14:creationId xmlns:p14="http://schemas.microsoft.com/office/powerpoint/2010/main" val="374326106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935E10-946B-99F9-0D2E-0D1DACE02AB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5D0E259-B8DB-99A5-755B-C2F2BDDDA4D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E7F8490-969F-6DB1-15E6-E6FE792D786D}"/>
              </a:ext>
            </a:extLst>
          </p:cNvPr>
          <p:cNvSpPr>
            <a:spLocks noGrp="1"/>
          </p:cNvSpPr>
          <p:nvPr>
            <p:ph type="body" idx="1"/>
          </p:nvPr>
        </p:nvSpPr>
        <p:spPr/>
        <p:txBody>
          <a:bodyPr/>
          <a:lstStyle/>
          <a:p>
            <a:r>
              <a:rPr lang="en-US" altLang="zh-CN"/>
              <a:t>5010514 need to double check</a:t>
            </a:r>
            <a:endParaRPr lang="zh-CN" altLang="en-US"/>
          </a:p>
        </p:txBody>
      </p:sp>
      <p:sp>
        <p:nvSpPr>
          <p:cNvPr id="4" name="灯片编号占位符 3">
            <a:extLst>
              <a:ext uri="{FF2B5EF4-FFF2-40B4-BE49-F238E27FC236}">
                <a16:creationId xmlns:a16="http://schemas.microsoft.com/office/drawing/2014/main" id="{225D7449-69D1-ABD9-7181-09B0EC1321D2}"/>
              </a:ext>
            </a:extLst>
          </p:cNvPr>
          <p:cNvSpPr>
            <a:spLocks noGrp="1"/>
          </p:cNvSpPr>
          <p:nvPr>
            <p:ph type="sldNum" sz="quarter" idx="5"/>
          </p:nvPr>
        </p:nvSpPr>
        <p:spPr/>
        <p:txBody>
          <a:bodyPr/>
          <a:lstStyle/>
          <a:p>
            <a:fld id="{9FCD7C6C-628C-4A66-96CF-D2300D9F95AC}" type="slidenum">
              <a:rPr lang="en-US" altLang="zh-Hans" smtClean="0"/>
              <a:t>47</a:t>
            </a:fld>
            <a:endParaRPr lang="zh-Hans" altLang="en-US"/>
          </a:p>
        </p:txBody>
      </p:sp>
    </p:spTree>
    <p:extLst>
      <p:ext uri="{BB962C8B-B14F-4D97-AF65-F5344CB8AC3E}">
        <p14:creationId xmlns:p14="http://schemas.microsoft.com/office/powerpoint/2010/main" val="110173850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536B50-CA7E-2AB5-827D-1F4A741C04E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9C68E42-7421-B60E-72EB-E0C2D83E9DA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AF4CAF8-772D-5D8E-5E7D-1F3C293D56FD}"/>
              </a:ext>
            </a:extLst>
          </p:cNvPr>
          <p:cNvSpPr>
            <a:spLocks noGrp="1"/>
          </p:cNvSpPr>
          <p:nvPr>
            <p:ph type="body" idx="1"/>
          </p:nvPr>
        </p:nvSpPr>
        <p:spPr/>
        <p:txBody>
          <a:bodyPr/>
          <a:lstStyle/>
          <a:p>
            <a:r>
              <a:rPr lang="en-US" altLang="zh-CN"/>
              <a:t>5010514 need to double check</a:t>
            </a:r>
            <a:endParaRPr lang="zh-CN" altLang="en-US"/>
          </a:p>
        </p:txBody>
      </p:sp>
      <p:sp>
        <p:nvSpPr>
          <p:cNvPr id="4" name="灯片编号占位符 3">
            <a:extLst>
              <a:ext uri="{FF2B5EF4-FFF2-40B4-BE49-F238E27FC236}">
                <a16:creationId xmlns:a16="http://schemas.microsoft.com/office/drawing/2014/main" id="{196D2BC0-02A0-533E-2AAB-BCF63DFA4C8B}"/>
              </a:ext>
            </a:extLst>
          </p:cNvPr>
          <p:cNvSpPr>
            <a:spLocks noGrp="1"/>
          </p:cNvSpPr>
          <p:nvPr>
            <p:ph type="sldNum" sz="quarter" idx="5"/>
          </p:nvPr>
        </p:nvSpPr>
        <p:spPr/>
        <p:txBody>
          <a:bodyPr/>
          <a:lstStyle/>
          <a:p>
            <a:fld id="{9FCD7C6C-628C-4A66-96CF-D2300D9F95AC}" type="slidenum">
              <a:rPr lang="en-US" altLang="zh-Hans" smtClean="0"/>
              <a:t>48</a:t>
            </a:fld>
            <a:endParaRPr lang="zh-Hans" altLang="en-US"/>
          </a:p>
        </p:txBody>
      </p:sp>
    </p:spTree>
    <p:extLst>
      <p:ext uri="{BB962C8B-B14F-4D97-AF65-F5344CB8AC3E}">
        <p14:creationId xmlns:p14="http://schemas.microsoft.com/office/powerpoint/2010/main" val="1641048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301FAC-8285-D03D-7594-753E7C8ABDA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A1E839C-972D-4687-2D38-C925FE23570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646DD1A-5AC4-C04A-ECDF-DE341BA33F47}"/>
              </a:ext>
            </a:extLst>
          </p:cNvPr>
          <p:cNvSpPr>
            <a:spLocks noGrp="1"/>
          </p:cNvSpPr>
          <p:nvPr>
            <p:ph type="body" idx="1"/>
          </p:nvPr>
        </p:nvSpPr>
        <p:spPr/>
        <p:txBody>
          <a:bodyPr/>
          <a:lstStyle/>
          <a:p>
            <a:r>
              <a:rPr lang="zh-CN" altLang="en-US"/>
              <a:t>是否可以和</a:t>
            </a:r>
            <a:r>
              <a:rPr lang="en-US" altLang="zh-CN"/>
              <a:t>normal pass </a:t>
            </a:r>
            <a:r>
              <a:rPr lang="zh-CN" altLang="en-US"/>
              <a:t>合并，以及</a:t>
            </a:r>
            <a:r>
              <a:rPr lang="en-US" altLang="zh-CN"/>
              <a:t>Flex down </a:t>
            </a:r>
            <a:r>
              <a:rPr lang="zh-CN" altLang="en-US"/>
              <a:t>确认</a:t>
            </a:r>
            <a:r>
              <a:rPr lang="en-US" altLang="zh-CN"/>
              <a:t>defer</a:t>
            </a:r>
            <a:r>
              <a:rPr lang="zh-CN" altLang="en-US"/>
              <a:t>那笔是否自动</a:t>
            </a:r>
            <a:r>
              <a:rPr lang="en-US" altLang="zh-CN"/>
              <a:t>po</a:t>
            </a:r>
            <a:r>
              <a:rPr lang="zh-CN" altLang="en-US"/>
              <a:t>账</a:t>
            </a:r>
          </a:p>
        </p:txBody>
      </p:sp>
      <p:sp>
        <p:nvSpPr>
          <p:cNvPr id="4" name="灯片编号占位符 3">
            <a:extLst>
              <a:ext uri="{FF2B5EF4-FFF2-40B4-BE49-F238E27FC236}">
                <a16:creationId xmlns:a16="http://schemas.microsoft.com/office/drawing/2014/main" id="{E5CBA47F-83C0-9AD3-72BF-BB5EE5806577}"/>
              </a:ext>
            </a:extLst>
          </p:cNvPr>
          <p:cNvSpPr>
            <a:spLocks noGrp="1"/>
          </p:cNvSpPr>
          <p:nvPr>
            <p:ph type="sldNum" sz="quarter" idx="5"/>
          </p:nvPr>
        </p:nvSpPr>
        <p:spPr/>
        <p:txBody>
          <a:bodyPr/>
          <a:lstStyle/>
          <a:p>
            <a:fld id="{9FCD7C6C-628C-4A66-96CF-D2300D9F95AC}" type="slidenum">
              <a:rPr lang="en-US" altLang="zh-Hans" smtClean="0"/>
              <a:t>49</a:t>
            </a:fld>
            <a:endParaRPr lang="zh-Hans" altLang="en-US"/>
          </a:p>
        </p:txBody>
      </p:sp>
    </p:spTree>
    <p:extLst>
      <p:ext uri="{BB962C8B-B14F-4D97-AF65-F5344CB8AC3E}">
        <p14:creationId xmlns:p14="http://schemas.microsoft.com/office/powerpoint/2010/main" val="361030286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9FC7D8-3891-B379-7DC9-565CC5534B8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42E3F24-4C5A-807B-45DB-0681FAB589E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CCCC05C-5EFA-9562-9107-05A3B44FD171}"/>
              </a:ext>
            </a:extLst>
          </p:cNvPr>
          <p:cNvSpPr>
            <a:spLocks noGrp="1"/>
          </p:cNvSpPr>
          <p:nvPr>
            <p:ph type="body" idx="1"/>
          </p:nvPr>
        </p:nvSpPr>
        <p:spPr/>
        <p:txBody>
          <a:bodyPr/>
          <a:lstStyle/>
          <a:p>
            <a:r>
              <a:rPr lang="en-US" altLang="zh-CN"/>
              <a:t>LE open=</a:t>
            </a:r>
            <a:r>
              <a:rPr lang="zh-CN" altLang="en-US"/>
              <a:t>一个接着一个月续租，无折扣</a:t>
            </a:r>
          </a:p>
        </p:txBody>
      </p:sp>
      <p:sp>
        <p:nvSpPr>
          <p:cNvPr id="4" name="灯片编号占位符 3">
            <a:extLst>
              <a:ext uri="{FF2B5EF4-FFF2-40B4-BE49-F238E27FC236}">
                <a16:creationId xmlns:a16="http://schemas.microsoft.com/office/drawing/2014/main" id="{CFC4F0E2-87B0-92B5-0D16-BABE65FE5292}"/>
              </a:ext>
            </a:extLst>
          </p:cNvPr>
          <p:cNvSpPr>
            <a:spLocks noGrp="1"/>
          </p:cNvSpPr>
          <p:nvPr>
            <p:ph type="sldNum" sz="quarter" idx="5"/>
          </p:nvPr>
        </p:nvSpPr>
        <p:spPr/>
        <p:txBody>
          <a:bodyPr/>
          <a:lstStyle/>
          <a:p>
            <a:fld id="{9FCD7C6C-628C-4A66-96CF-D2300D9F95AC}" type="slidenum">
              <a:rPr lang="en-US" altLang="zh-Hans" smtClean="0"/>
              <a:t>51</a:t>
            </a:fld>
            <a:endParaRPr lang="zh-Hans" altLang="en-US"/>
          </a:p>
        </p:txBody>
      </p:sp>
    </p:spTree>
    <p:extLst>
      <p:ext uri="{BB962C8B-B14F-4D97-AF65-F5344CB8AC3E}">
        <p14:creationId xmlns:p14="http://schemas.microsoft.com/office/powerpoint/2010/main" val="242516487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55</a:t>
            </a:fld>
            <a:endParaRPr lang="zh-Hans" altLang="en-US"/>
          </a:p>
        </p:txBody>
      </p:sp>
    </p:spTree>
    <p:extLst>
      <p:ext uri="{BB962C8B-B14F-4D97-AF65-F5344CB8AC3E}">
        <p14:creationId xmlns:p14="http://schemas.microsoft.com/office/powerpoint/2010/main" val="131183176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HITACHI only have op</a:t>
            </a:r>
          </a:p>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57</a:t>
            </a:fld>
            <a:endParaRPr lang="zh-Hans" altLang="en-US"/>
          </a:p>
        </p:txBody>
      </p:sp>
    </p:spTree>
    <p:extLst>
      <p:ext uri="{BB962C8B-B14F-4D97-AF65-F5344CB8AC3E}">
        <p14:creationId xmlns:p14="http://schemas.microsoft.com/office/powerpoint/2010/main" val="84625105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C44EF5-DAA9-4D99-9581-7653CAFD76F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159F09C-4B15-3A63-78D4-0839F0E061D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D083A9B-DD35-460D-F13A-59384264B84D}"/>
              </a:ext>
            </a:extLst>
          </p:cNvPr>
          <p:cNvSpPr>
            <a:spLocks noGrp="1"/>
          </p:cNvSpPr>
          <p:nvPr>
            <p:ph type="body" idx="1"/>
          </p:nvPr>
        </p:nvSpPr>
        <p:spPr/>
        <p:txBody>
          <a:bodyPr/>
          <a:lstStyle/>
          <a:p>
            <a:r>
              <a:rPr lang="zh-CN" altLang="en-US"/>
              <a:t>是否可以和</a:t>
            </a:r>
            <a:r>
              <a:rPr lang="en-US" altLang="zh-CN"/>
              <a:t>normal pass </a:t>
            </a:r>
            <a:r>
              <a:rPr lang="zh-CN" altLang="en-US"/>
              <a:t>合并，以及</a:t>
            </a:r>
            <a:r>
              <a:rPr lang="en-US" altLang="zh-CN"/>
              <a:t>Flex down </a:t>
            </a:r>
            <a:r>
              <a:rPr lang="zh-CN" altLang="en-US"/>
              <a:t>确认</a:t>
            </a:r>
            <a:r>
              <a:rPr lang="en-US" altLang="zh-CN"/>
              <a:t>defer</a:t>
            </a:r>
            <a:r>
              <a:rPr lang="zh-CN" altLang="en-US"/>
              <a:t>那笔是否自动</a:t>
            </a:r>
            <a:r>
              <a:rPr lang="en-US" altLang="zh-CN"/>
              <a:t>po</a:t>
            </a:r>
            <a:r>
              <a:rPr lang="zh-CN" altLang="en-US"/>
              <a:t>账</a:t>
            </a:r>
          </a:p>
        </p:txBody>
      </p:sp>
      <p:sp>
        <p:nvSpPr>
          <p:cNvPr id="4" name="灯片编号占位符 3">
            <a:extLst>
              <a:ext uri="{FF2B5EF4-FFF2-40B4-BE49-F238E27FC236}">
                <a16:creationId xmlns:a16="http://schemas.microsoft.com/office/drawing/2014/main" id="{C31E8F77-E94D-E4F4-5515-9E4D1AC9F498}"/>
              </a:ext>
            </a:extLst>
          </p:cNvPr>
          <p:cNvSpPr>
            <a:spLocks noGrp="1"/>
          </p:cNvSpPr>
          <p:nvPr>
            <p:ph type="sldNum" sz="quarter" idx="5"/>
          </p:nvPr>
        </p:nvSpPr>
        <p:spPr/>
        <p:txBody>
          <a:bodyPr/>
          <a:lstStyle/>
          <a:p>
            <a:fld id="{9FCD7C6C-628C-4A66-96CF-D2300D9F95AC}" type="slidenum">
              <a:rPr lang="en-US" altLang="zh-Hans" smtClean="0"/>
              <a:t>58</a:t>
            </a:fld>
            <a:endParaRPr lang="zh-Hans" altLang="en-US"/>
          </a:p>
        </p:txBody>
      </p:sp>
    </p:spTree>
    <p:extLst>
      <p:ext uri="{BB962C8B-B14F-4D97-AF65-F5344CB8AC3E}">
        <p14:creationId xmlns:p14="http://schemas.microsoft.com/office/powerpoint/2010/main" val="244195923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CCCA12-1395-DBF3-8F33-4138E00DA12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2C4720D-DC4E-1580-0E8C-79566801274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085B83E-2688-6FD2-28C4-FA9F89128C80}"/>
              </a:ext>
            </a:extLst>
          </p:cNvPr>
          <p:cNvSpPr>
            <a:spLocks noGrp="1"/>
          </p:cNvSpPr>
          <p:nvPr>
            <p:ph type="body" idx="1"/>
          </p:nvPr>
        </p:nvSpPr>
        <p:spPr/>
        <p:txBody>
          <a:bodyPr/>
          <a:lstStyle/>
          <a:p>
            <a:r>
              <a:rPr lang="en-US" altLang="zh-CN"/>
              <a:t>5010514 need to double check</a:t>
            </a:r>
            <a:endParaRPr lang="zh-CN" altLang="en-US"/>
          </a:p>
        </p:txBody>
      </p:sp>
      <p:sp>
        <p:nvSpPr>
          <p:cNvPr id="4" name="灯片编号占位符 3">
            <a:extLst>
              <a:ext uri="{FF2B5EF4-FFF2-40B4-BE49-F238E27FC236}">
                <a16:creationId xmlns:a16="http://schemas.microsoft.com/office/drawing/2014/main" id="{7122E6E1-01C8-29AB-6824-8C83CAC7E3DF}"/>
              </a:ext>
            </a:extLst>
          </p:cNvPr>
          <p:cNvSpPr>
            <a:spLocks noGrp="1"/>
          </p:cNvSpPr>
          <p:nvPr>
            <p:ph type="sldNum" sz="quarter" idx="5"/>
          </p:nvPr>
        </p:nvSpPr>
        <p:spPr/>
        <p:txBody>
          <a:bodyPr/>
          <a:lstStyle/>
          <a:p>
            <a:fld id="{9FCD7C6C-628C-4A66-96CF-D2300D9F95AC}" type="slidenum">
              <a:rPr lang="en-US" altLang="zh-Hans" smtClean="0"/>
              <a:t>59</a:t>
            </a:fld>
            <a:endParaRPr lang="zh-Hans" altLang="en-US"/>
          </a:p>
        </p:txBody>
      </p:sp>
    </p:spTree>
    <p:extLst>
      <p:ext uri="{BB962C8B-B14F-4D97-AF65-F5344CB8AC3E}">
        <p14:creationId xmlns:p14="http://schemas.microsoft.com/office/powerpoint/2010/main" val="271813406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80BC81-3BA8-67B3-948C-A21A800369E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5E32FAF-D286-B728-C6BA-5E2EEF98D1D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9CF85C0-C5AF-19F9-8A72-0C74B23363C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p>
        </p:txBody>
      </p:sp>
      <p:sp>
        <p:nvSpPr>
          <p:cNvPr id="4" name="Slide Number Placeholder 3">
            <a:extLst>
              <a:ext uri="{FF2B5EF4-FFF2-40B4-BE49-F238E27FC236}">
                <a16:creationId xmlns:a16="http://schemas.microsoft.com/office/drawing/2014/main" id="{AB6C27B9-5CDE-50A7-1BB6-5A34B8B91525}"/>
              </a:ext>
            </a:extLst>
          </p:cNvPr>
          <p:cNvSpPr>
            <a:spLocks noGrp="1"/>
          </p:cNvSpPr>
          <p:nvPr>
            <p:ph type="sldNum" sz="quarter" idx="5"/>
          </p:nvPr>
        </p:nvSpPr>
        <p:spPr/>
        <p:txBody>
          <a:bodyPr/>
          <a:lstStyle/>
          <a:p>
            <a:fld id="{9FCD7C6C-628C-4A66-96CF-D2300D9F95AC}" type="slidenum">
              <a:rPr lang="en-US" smtClean="0"/>
              <a:t>63</a:t>
            </a:fld>
            <a:endParaRPr lang="en-US"/>
          </a:p>
        </p:txBody>
      </p:sp>
    </p:spTree>
    <p:extLst>
      <p:ext uri="{BB962C8B-B14F-4D97-AF65-F5344CB8AC3E}">
        <p14:creationId xmlns:p14="http://schemas.microsoft.com/office/powerpoint/2010/main" val="139899167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F49732-2F66-B3EB-754B-EC4D32D6000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BC70982-05F7-4AF5-05C4-530B8CF7645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33A72E7-B989-73A5-D436-1911AE7D015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a:t>Double booked for ISG &amp; SSG</a:t>
            </a:r>
          </a:p>
        </p:txBody>
      </p:sp>
      <p:sp>
        <p:nvSpPr>
          <p:cNvPr id="4" name="灯片编号占位符 3">
            <a:extLst>
              <a:ext uri="{FF2B5EF4-FFF2-40B4-BE49-F238E27FC236}">
                <a16:creationId xmlns:a16="http://schemas.microsoft.com/office/drawing/2014/main" id="{948F2F58-6472-9E0A-F625-5ACE93F9C9C3}"/>
              </a:ext>
            </a:extLst>
          </p:cNvPr>
          <p:cNvSpPr>
            <a:spLocks noGrp="1"/>
          </p:cNvSpPr>
          <p:nvPr>
            <p:ph type="sldNum" sz="quarter" idx="5"/>
          </p:nvPr>
        </p:nvSpPr>
        <p:spPr/>
        <p:txBody>
          <a:bodyPr/>
          <a:lstStyle/>
          <a:p>
            <a:fld id="{9FCD7C6C-628C-4A66-96CF-D2300D9F95AC}" type="slidenum">
              <a:rPr lang="en-US" altLang="zh-Hans" smtClean="0"/>
              <a:t>64</a:t>
            </a:fld>
            <a:endParaRPr lang="zh-Hans" altLang="en-US"/>
          </a:p>
        </p:txBody>
      </p:sp>
    </p:spTree>
    <p:extLst>
      <p:ext uri="{BB962C8B-B14F-4D97-AF65-F5344CB8AC3E}">
        <p14:creationId xmlns:p14="http://schemas.microsoft.com/office/powerpoint/2010/main" val="224492431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CF6E70-FF89-854F-BADF-48C6DDA5668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BF5A5FF-2D3F-D87B-70A6-196723FDF49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60E5FA3-D5F7-4058-BB34-102E986D5B1A}"/>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A96FD21B-F785-EF2A-D2B7-4E4A71BF4A1F}"/>
              </a:ext>
            </a:extLst>
          </p:cNvPr>
          <p:cNvSpPr>
            <a:spLocks noGrp="1"/>
          </p:cNvSpPr>
          <p:nvPr>
            <p:ph type="sldNum" sz="quarter" idx="5"/>
          </p:nvPr>
        </p:nvSpPr>
        <p:spPr/>
        <p:txBody>
          <a:bodyPr/>
          <a:lstStyle/>
          <a:p>
            <a:fld id="{9FCD7C6C-628C-4A66-96CF-D2300D9F95AC}" type="slidenum">
              <a:rPr lang="en-US" altLang="zh-Hans" smtClean="0"/>
              <a:t>65</a:t>
            </a:fld>
            <a:endParaRPr lang="zh-Hans" altLang="en-US"/>
          </a:p>
        </p:txBody>
      </p:sp>
    </p:spTree>
    <p:extLst>
      <p:ext uri="{BB962C8B-B14F-4D97-AF65-F5344CB8AC3E}">
        <p14:creationId xmlns:p14="http://schemas.microsoft.com/office/powerpoint/2010/main" val="256782195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A5CF37-40CA-CCF9-0317-A123C6AC3F9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1939D99-2DB6-C262-32AE-9772B301532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0B57E7E-93F6-227A-F53A-B330F3F5BA8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solidFill>
                  <a:schemeClr val="tx1"/>
                </a:solidFill>
                <a:highlight>
                  <a:srgbClr val="FFFF00"/>
                </a:highlight>
              </a:rPr>
              <a:t>ET no-return covered</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solidFill>
                  <a:schemeClr val="tx1"/>
                </a:solidFill>
                <a:highlight>
                  <a:srgbClr val="FFFF00"/>
                </a:highlight>
              </a:rPr>
              <a:t>On-going service</a:t>
            </a:r>
          </a:p>
          <a:p>
            <a:endParaRPr lang="zh-CN" altLang="en-US"/>
          </a:p>
        </p:txBody>
      </p:sp>
      <p:sp>
        <p:nvSpPr>
          <p:cNvPr id="4" name="灯片编号占位符 3">
            <a:extLst>
              <a:ext uri="{FF2B5EF4-FFF2-40B4-BE49-F238E27FC236}">
                <a16:creationId xmlns:a16="http://schemas.microsoft.com/office/drawing/2014/main" id="{588B890F-E880-C2E9-C190-25FC5C3AE717}"/>
              </a:ext>
            </a:extLst>
          </p:cNvPr>
          <p:cNvSpPr>
            <a:spLocks noGrp="1"/>
          </p:cNvSpPr>
          <p:nvPr>
            <p:ph type="sldNum" sz="quarter" idx="5"/>
          </p:nvPr>
        </p:nvSpPr>
        <p:spPr/>
        <p:txBody>
          <a:bodyPr/>
          <a:lstStyle/>
          <a:p>
            <a:fld id="{9FCD7C6C-628C-4A66-96CF-D2300D9F95AC}" type="slidenum">
              <a:rPr lang="en-US" altLang="zh-Hans" smtClean="0"/>
              <a:t>66</a:t>
            </a:fld>
            <a:endParaRPr lang="zh-Hans" altLang="en-US"/>
          </a:p>
        </p:txBody>
      </p:sp>
    </p:spTree>
    <p:extLst>
      <p:ext uri="{BB962C8B-B14F-4D97-AF65-F5344CB8AC3E}">
        <p14:creationId xmlns:p14="http://schemas.microsoft.com/office/powerpoint/2010/main" val="28632592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3F349A-8E83-219B-DEAC-4DE1B2391D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B6F6D2-7357-012F-8903-8958036E8EE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0014EF-00C1-B0B0-2087-80A1B60A4D08}"/>
              </a:ext>
            </a:extLst>
          </p:cNvPr>
          <p:cNvSpPr>
            <a:spLocks noGrp="1"/>
          </p:cNvSpPr>
          <p:nvPr>
            <p:ph type="body" idx="1"/>
          </p:nvPr>
        </p:nvSpPr>
        <p:spPr/>
        <p:txBody>
          <a:bodyPr/>
          <a:lstStyle/>
          <a:p>
            <a:r>
              <a:rPr lang="en-US"/>
              <a:t>OL/FL, normally monthly billing, except upfront service </a:t>
            </a:r>
          </a:p>
          <a:p>
            <a:r>
              <a:rPr lang="en-US"/>
              <a:t>FL only recognize interest income in Odessa</a:t>
            </a:r>
          </a:p>
        </p:txBody>
      </p:sp>
      <p:sp>
        <p:nvSpPr>
          <p:cNvPr id="4" name="Slide Number Placeholder 3">
            <a:extLst>
              <a:ext uri="{FF2B5EF4-FFF2-40B4-BE49-F238E27FC236}">
                <a16:creationId xmlns:a16="http://schemas.microsoft.com/office/drawing/2014/main" id="{6784CDE2-CD0B-EA1C-35F5-8EBE53624DB8}"/>
              </a:ext>
            </a:extLst>
          </p:cNvPr>
          <p:cNvSpPr>
            <a:spLocks noGrp="1"/>
          </p:cNvSpPr>
          <p:nvPr>
            <p:ph type="sldNum" sz="quarter" idx="5"/>
          </p:nvPr>
        </p:nvSpPr>
        <p:spPr/>
        <p:txBody>
          <a:bodyPr/>
          <a:lstStyle/>
          <a:p>
            <a:fld id="{9FCD7C6C-628C-4A66-96CF-D2300D9F95AC}" type="slidenum">
              <a:rPr lang="en-US" smtClean="0"/>
              <a:t>67</a:t>
            </a:fld>
            <a:endParaRPr lang="en-US"/>
          </a:p>
        </p:txBody>
      </p:sp>
    </p:spTree>
    <p:extLst>
      <p:ext uri="{BB962C8B-B14F-4D97-AF65-F5344CB8AC3E}">
        <p14:creationId xmlns:p14="http://schemas.microsoft.com/office/powerpoint/2010/main" val="243641097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FD4858-4293-6184-050B-E5BE67B8171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041E53C-0234-30FD-EA46-CAB5CAD8850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0AE872D-B2EC-D7D9-33E0-E8E40E11A682}"/>
              </a:ext>
            </a:extLst>
          </p:cNvPr>
          <p:cNvSpPr>
            <a:spLocks noGrp="1"/>
          </p:cNvSpPr>
          <p:nvPr>
            <p:ph type="body" idx="1"/>
          </p:nvPr>
        </p:nvSpPr>
        <p:spPr/>
        <p:txBody>
          <a:bodyPr/>
          <a:lstStyle/>
          <a:p>
            <a:pPr marL="0" indent="0">
              <a:buNone/>
            </a:pPr>
            <a:endParaRPr lang="zh-CN" altLang="en-US"/>
          </a:p>
        </p:txBody>
      </p:sp>
      <p:sp>
        <p:nvSpPr>
          <p:cNvPr id="4" name="灯片编号占位符 3">
            <a:extLst>
              <a:ext uri="{FF2B5EF4-FFF2-40B4-BE49-F238E27FC236}">
                <a16:creationId xmlns:a16="http://schemas.microsoft.com/office/drawing/2014/main" id="{6327C32C-5CBD-8043-36EA-E33F02ED27DF}"/>
              </a:ext>
            </a:extLst>
          </p:cNvPr>
          <p:cNvSpPr>
            <a:spLocks noGrp="1"/>
          </p:cNvSpPr>
          <p:nvPr>
            <p:ph type="sldNum" sz="quarter" idx="5"/>
          </p:nvPr>
        </p:nvSpPr>
        <p:spPr/>
        <p:txBody>
          <a:bodyPr/>
          <a:lstStyle/>
          <a:p>
            <a:fld id="{9FCD7C6C-628C-4A66-96CF-D2300D9F95AC}" type="slidenum">
              <a:rPr lang="en-US" altLang="zh-Hans" smtClean="0"/>
              <a:t>68</a:t>
            </a:fld>
            <a:endParaRPr lang="zh-Hans" altLang="en-US"/>
          </a:p>
        </p:txBody>
      </p:sp>
    </p:spTree>
    <p:extLst>
      <p:ext uri="{BB962C8B-B14F-4D97-AF65-F5344CB8AC3E}">
        <p14:creationId xmlns:p14="http://schemas.microsoft.com/office/powerpoint/2010/main" val="348803340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C53C9E-44CC-D7D6-D81E-D39A833F0CB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50B3B48-BAC0-31BD-6E54-96AC90E05EC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9DC88C2-935E-46C3-6E31-05757EB20E39}"/>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AB0AA9B3-9135-937C-CBEE-B577881CA17D}"/>
              </a:ext>
            </a:extLst>
          </p:cNvPr>
          <p:cNvSpPr>
            <a:spLocks noGrp="1"/>
          </p:cNvSpPr>
          <p:nvPr>
            <p:ph type="sldNum" sz="quarter" idx="5"/>
          </p:nvPr>
        </p:nvSpPr>
        <p:spPr/>
        <p:txBody>
          <a:bodyPr/>
          <a:lstStyle/>
          <a:p>
            <a:fld id="{9FCD7C6C-628C-4A66-96CF-D2300D9F95AC}" type="slidenum">
              <a:rPr lang="en-US" altLang="zh-Hans" smtClean="0"/>
              <a:t>69</a:t>
            </a:fld>
            <a:endParaRPr lang="zh-Hans" altLang="en-US"/>
          </a:p>
        </p:txBody>
      </p:sp>
    </p:spTree>
    <p:extLst>
      <p:ext uri="{BB962C8B-B14F-4D97-AF65-F5344CB8AC3E}">
        <p14:creationId xmlns:p14="http://schemas.microsoft.com/office/powerpoint/2010/main" val="22279292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FA3DD3-684E-120C-5F49-90B1ACBE217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E7FE66D-36E5-15EB-6841-5D9FFF752DE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C70B373-9EDF-E9EB-89EA-CE3DD3237EC7}"/>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15822CB6-EABA-FFE5-D463-C3355775FB83}"/>
              </a:ext>
            </a:extLst>
          </p:cNvPr>
          <p:cNvSpPr>
            <a:spLocks noGrp="1"/>
          </p:cNvSpPr>
          <p:nvPr>
            <p:ph type="sldNum" sz="quarter" idx="5"/>
          </p:nvPr>
        </p:nvSpPr>
        <p:spPr/>
        <p:txBody>
          <a:bodyPr/>
          <a:lstStyle/>
          <a:p>
            <a:fld id="{9FCD7C6C-628C-4A66-96CF-D2300D9F95AC}" type="slidenum">
              <a:rPr lang="en-US" altLang="zh-Hans" smtClean="0"/>
              <a:t>71</a:t>
            </a:fld>
            <a:endParaRPr lang="zh-Hans" altLang="en-US"/>
          </a:p>
        </p:txBody>
      </p:sp>
    </p:spTree>
    <p:extLst>
      <p:ext uri="{BB962C8B-B14F-4D97-AF65-F5344CB8AC3E}">
        <p14:creationId xmlns:p14="http://schemas.microsoft.com/office/powerpoint/2010/main" val="73693255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7A0D7E-73EE-1B31-E642-76ACC101D1B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78A8E7D-E03F-FC31-C7B7-269563ED151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B6897E6-FFE4-6D12-9B8F-3FA4F4CE0271}"/>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32C554EA-3227-39F9-A8B6-601DD4859A5F}"/>
              </a:ext>
            </a:extLst>
          </p:cNvPr>
          <p:cNvSpPr>
            <a:spLocks noGrp="1"/>
          </p:cNvSpPr>
          <p:nvPr>
            <p:ph type="sldNum" sz="quarter" idx="5"/>
          </p:nvPr>
        </p:nvSpPr>
        <p:spPr/>
        <p:txBody>
          <a:bodyPr/>
          <a:lstStyle/>
          <a:p>
            <a:fld id="{9FCD7C6C-628C-4A66-96CF-D2300D9F95AC}" type="slidenum">
              <a:rPr lang="en-US" altLang="zh-Hans" smtClean="0"/>
              <a:t>72</a:t>
            </a:fld>
            <a:endParaRPr lang="zh-Hans" altLang="en-US"/>
          </a:p>
        </p:txBody>
      </p:sp>
    </p:spTree>
    <p:extLst>
      <p:ext uri="{BB962C8B-B14F-4D97-AF65-F5344CB8AC3E}">
        <p14:creationId xmlns:p14="http://schemas.microsoft.com/office/powerpoint/2010/main" val="162306226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F6DEDE-0F4D-9D08-ADBA-C2A88625AD6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A883CCF-E241-E386-ADFE-736B5F20BF4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CDBB7E4-D726-74C5-46F8-A3E83376D325}"/>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F9D54917-8708-1359-7634-75C7775D38B8}"/>
              </a:ext>
            </a:extLst>
          </p:cNvPr>
          <p:cNvSpPr>
            <a:spLocks noGrp="1"/>
          </p:cNvSpPr>
          <p:nvPr>
            <p:ph type="sldNum" sz="quarter" idx="5"/>
          </p:nvPr>
        </p:nvSpPr>
        <p:spPr/>
        <p:txBody>
          <a:bodyPr/>
          <a:lstStyle/>
          <a:p>
            <a:fld id="{9FCD7C6C-628C-4A66-96CF-D2300D9F95AC}" type="slidenum">
              <a:rPr lang="en-US" altLang="zh-Hans" smtClean="0"/>
              <a:t>73</a:t>
            </a:fld>
            <a:endParaRPr lang="zh-Hans" altLang="en-US"/>
          </a:p>
        </p:txBody>
      </p:sp>
    </p:spTree>
    <p:extLst>
      <p:ext uri="{BB962C8B-B14F-4D97-AF65-F5344CB8AC3E}">
        <p14:creationId xmlns:p14="http://schemas.microsoft.com/office/powerpoint/2010/main" val="200722593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F8C3A5-9F14-52AB-0A86-D1F6CC26E09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20B4384-11C9-6122-AA0B-59C34A3C0C7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105F8A7-8017-1597-FE28-51C37CA27DF7}"/>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C0B1FA9D-914F-6EC3-530C-B1B917C237AE}"/>
              </a:ext>
            </a:extLst>
          </p:cNvPr>
          <p:cNvSpPr>
            <a:spLocks noGrp="1"/>
          </p:cNvSpPr>
          <p:nvPr>
            <p:ph type="sldNum" sz="quarter" idx="5"/>
          </p:nvPr>
        </p:nvSpPr>
        <p:spPr/>
        <p:txBody>
          <a:bodyPr/>
          <a:lstStyle/>
          <a:p>
            <a:fld id="{9FCD7C6C-628C-4A66-96CF-D2300D9F95AC}" type="slidenum">
              <a:rPr lang="en-US" altLang="zh-Hans" smtClean="0"/>
              <a:t>74</a:t>
            </a:fld>
            <a:endParaRPr lang="zh-Hans" altLang="en-US"/>
          </a:p>
        </p:txBody>
      </p:sp>
    </p:spTree>
    <p:extLst>
      <p:ext uri="{BB962C8B-B14F-4D97-AF65-F5344CB8AC3E}">
        <p14:creationId xmlns:p14="http://schemas.microsoft.com/office/powerpoint/2010/main" val="360567631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a:t>M1a</a:t>
            </a:r>
            <a:r>
              <a:rPr lang="zh-CN" altLang="en-US"/>
              <a:t>，</a:t>
            </a:r>
            <a:r>
              <a:rPr lang="en-US" altLang="zh-CN"/>
              <a:t>EU offshore</a:t>
            </a:r>
            <a:r>
              <a:rPr lang="zh-CN" altLang="en-US"/>
              <a:t> </a:t>
            </a:r>
            <a:r>
              <a:rPr lang="en-US" altLang="zh-CN"/>
              <a:t>central to local</a:t>
            </a:r>
          </a:p>
          <a:p>
            <a:r>
              <a:rPr lang="en-US" altLang="zh-CN"/>
              <a:t>Quarterly </a:t>
            </a:r>
            <a:r>
              <a:rPr lang="zh-CN" altLang="en-US"/>
              <a:t>未来可能会有</a:t>
            </a:r>
            <a:endParaRPr lang="en-US" altLang="zh-CN"/>
          </a:p>
        </p:txBody>
      </p:sp>
      <p:sp>
        <p:nvSpPr>
          <p:cNvPr id="4" name="Slide Number Placeholder 3"/>
          <p:cNvSpPr>
            <a:spLocks noGrp="1"/>
          </p:cNvSpPr>
          <p:nvPr>
            <p:ph type="sldNum" sz="quarter" idx="5"/>
          </p:nvPr>
        </p:nvSpPr>
        <p:spPr/>
        <p:txBody>
          <a:bodyPr/>
          <a:lstStyle/>
          <a:p>
            <a:fld id="{9FCD7C6C-628C-4A66-96CF-D2300D9F95AC}" type="slidenum">
              <a:rPr lang="en-US" smtClean="0"/>
              <a:t>75</a:t>
            </a:fld>
            <a:endParaRPr lang="en-US"/>
          </a:p>
        </p:txBody>
      </p:sp>
    </p:spTree>
    <p:extLst>
      <p:ext uri="{BB962C8B-B14F-4D97-AF65-F5344CB8AC3E}">
        <p14:creationId xmlns:p14="http://schemas.microsoft.com/office/powerpoint/2010/main" val="113634427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AF9837-68AA-D40A-D3FE-0DDB10A977C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4B833B0-6AE6-2956-B67A-A4187314C1E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F326760-3BF8-301A-AE97-5AAE19342EF0}"/>
              </a:ext>
            </a:extLst>
          </p:cNvPr>
          <p:cNvSpPr>
            <a:spLocks noGrp="1"/>
          </p:cNvSpPr>
          <p:nvPr>
            <p:ph type="body" idx="1"/>
          </p:nvPr>
        </p:nvSpPr>
        <p:spPr/>
        <p:txBody>
          <a:bodyPr/>
          <a:lstStyle/>
          <a:p>
            <a:pPr marL="0" indent="0">
              <a:buNone/>
            </a:pPr>
            <a:r>
              <a:rPr lang="en-US" altLang="zh-CN"/>
              <a:t>Consolidate with 1</a:t>
            </a:r>
            <a:r>
              <a:rPr lang="en-US" altLang="zh-CN" baseline="30000"/>
              <a:t>st</a:t>
            </a:r>
            <a:r>
              <a:rPr lang="en-US" altLang="zh-CN"/>
              <a:t> monthly billing</a:t>
            </a:r>
            <a:endParaRPr lang="zh-CN" altLang="en-US"/>
          </a:p>
        </p:txBody>
      </p:sp>
      <p:sp>
        <p:nvSpPr>
          <p:cNvPr id="4" name="灯片编号占位符 3">
            <a:extLst>
              <a:ext uri="{FF2B5EF4-FFF2-40B4-BE49-F238E27FC236}">
                <a16:creationId xmlns:a16="http://schemas.microsoft.com/office/drawing/2014/main" id="{37FABAD0-3374-9509-63AA-3E5A977AF576}"/>
              </a:ext>
            </a:extLst>
          </p:cNvPr>
          <p:cNvSpPr>
            <a:spLocks noGrp="1"/>
          </p:cNvSpPr>
          <p:nvPr>
            <p:ph type="sldNum" sz="quarter" idx="5"/>
          </p:nvPr>
        </p:nvSpPr>
        <p:spPr/>
        <p:txBody>
          <a:bodyPr/>
          <a:lstStyle/>
          <a:p>
            <a:fld id="{9FCD7C6C-628C-4A66-96CF-D2300D9F95AC}" type="slidenum">
              <a:rPr lang="en-US" altLang="zh-Hans" smtClean="0"/>
              <a:t>77</a:t>
            </a:fld>
            <a:endParaRPr lang="zh-Hans" altLang="en-US"/>
          </a:p>
        </p:txBody>
      </p:sp>
    </p:spTree>
    <p:extLst>
      <p:ext uri="{BB962C8B-B14F-4D97-AF65-F5344CB8AC3E}">
        <p14:creationId xmlns:p14="http://schemas.microsoft.com/office/powerpoint/2010/main" val="71247130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3AC09A-B8FC-D754-DE91-2C6FB965050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12ABA0D-8403-BDD0-9534-DF8BCACC5B2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117EBB7-F4BB-7610-3774-F16032DD6666}"/>
              </a:ext>
            </a:extLst>
          </p:cNvPr>
          <p:cNvSpPr>
            <a:spLocks noGrp="1"/>
          </p:cNvSpPr>
          <p:nvPr>
            <p:ph type="body" idx="1"/>
          </p:nvPr>
        </p:nvSpPr>
        <p:spPr/>
        <p:txBody>
          <a:bodyPr/>
          <a:lstStyle/>
          <a:p>
            <a:pPr marL="0" indent="0">
              <a:buNone/>
            </a:pPr>
            <a:r>
              <a:rPr lang="en-US" altLang="zh-CN"/>
              <a:t>Software</a:t>
            </a:r>
          </a:p>
          <a:p>
            <a:pPr marL="0" indent="0">
              <a:buNone/>
            </a:pPr>
            <a:r>
              <a:rPr lang="en-US" altLang="zh-CN"/>
              <a:t>Unbilled AR</a:t>
            </a:r>
          </a:p>
          <a:p>
            <a:pPr marL="0" indent="0">
              <a:buNone/>
            </a:pPr>
            <a:r>
              <a:rPr lang="en-US" altLang="zh-CN"/>
              <a:t>Variable </a:t>
            </a:r>
          </a:p>
          <a:p>
            <a:pPr marL="0" indent="0">
              <a:buNone/>
            </a:pPr>
            <a:endParaRPr lang="zh-CN" altLang="en-US"/>
          </a:p>
        </p:txBody>
      </p:sp>
      <p:sp>
        <p:nvSpPr>
          <p:cNvPr id="4" name="灯片编号占位符 3">
            <a:extLst>
              <a:ext uri="{FF2B5EF4-FFF2-40B4-BE49-F238E27FC236}">
                <a16:creationId xmlns:a16="http://schemas.microsoft.com/office/drawing/2014/main" id="{F5267A63-DE8D-2D2F-1C7A-0C1DA51C9858}"/>
              </a:ext>
            </a:extLst>
          </p:cNvPr>
          <p:cNvSpPr>
            <a:spLocks noGrp="1"/>
          </p:cNvSpPr>
          <p:nvPr>
            <p:ph type="sldNum" sz="quarter" idx="5"/>
          </p:nvPr>
        </p:nvSpPr>
        <p:spPr/>
        <p:txBody>
          <a:bodyPr/>
          <a:lstStyle/>
          <a:p>
            <a:fld id="{9FCD7C6C-628C-4A66-96CF-D2300D9F95AC}" type="slidenum">
              <a:rPr lang="en-US" altLang="zh-Hans" smtClean="0"/>
              <a:t>78</a:t>
            </a:fld>
            <a:endParaRPr lang="zh-Hans" altLang="en-US"/>
          </a:p>
        </p:txBody>
      </p:sp>
    </p:spTree>
    <p:extLst>
      <p:ext uri="{BB962C8B-B14F-4D97-AF65-F5344CB8AC3E}">
        <p14:creationId xmlns:p14="http://schemas.microsoft.com/office/powerpoint/2010/main" val="133885243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E4F7D1-B5D8-0CAB-D859-5E447E87400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809E009-94C2-8FC8-D2C8-D1D1650E515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38378F0-2BB0-F1AF-28BF-8BB60A9078CC}"/>
              </a:ext>
            </a:extLst>
          </p:cNvPr>
          <p:cNvSpPr>
            <a:spLocks noGrp="1"/>
          </p:cNvSpPr>
          <p:nvPr>
            <p:ph type="body" idx="1"/>
          </p:nvPr>
        </p:nvSpPr>
        <p:spPr/>
        <p:txBody>
          <a:bodyPr/>
          <a:lstStyle/>
          <a:p>
            <a:pPr marL="0" indent="0">
              <a:buNone/>
            </a:pPr>
            <a:r>
              <a:rPr lang="en-US" altLang="zh-CN"/>
              <a:t>Software</a:t>
            </a:r>
          </a:p>
          <a:p>
            <a:pPr marL="0" indent="0">
              <a:buNone/>
            </a:pPr>
            <a:r>
              <a:rPr lang="en-US" altLang="zh-CN"/>
              <a:t>Unbilled AR</a:t>
            </a:r>
          </a:p>
          <a:p>
            <a:pPr marL="0" indent="0">
              <a:buNone/>
            </a:pPr>
            <a:r>
              <a:rPr lang="en-US" altLang="zh-CN"/>
              <a:t>Variable </a:t>
            </a:r>
          </a:p>
          <a:p>
            <a:pPr marL="0" indent="0">
              <a:buNone/>
            </a:pPr>
            <a:endParaRPr lang="zh-CN" altLang="en-US"/>
          </a:p>
        </p:txBody>
      </p:sp>
      <p:sp>
        <p:nvSpPr>
          <p:cNvPr id="4" name="灯片编号占位符 3">
            <a:extLst>
              <a:ext uri="{FF2B5EF4-FFF2-40B4-BE49-F238E27FC236}">
                <a16:creationId xmlns:a16="http://schemas.microsoft.com/office/drawing/2014/main" id="{221187EF-2FA3-DC35-95F0-46050B4BC31C}"/>
              </a:ext>
            </a:extLst>
          </p:cNvPr>
          <p:cNvSpPr>
            <a:spLocks noGrp="1"/>
          </p:cNvSpPr>
          <p:nvPr>
            <p:ph type="sldNum" sz="quarter" idx="5"/>
          </p:nvPr>
        </p:nvSpPr>
        <p:spPr/>
        <p:txBody>
          <a:bodyPr/>
          <a:lstStyle/>
          <a:p>
            <a:fld id="{9FCD7C6C-628C-4A66-96CF-D2300D9F95AC}" type="slidenum">
              <a:rPr lang="en-US" altLang="zh-Hans" smtClean="0"/>
              <a:t>79</a:t>
            </a:fld>
            <a:endParaRPr lang="zh-Hans" altLang="en-US"/>
          </a:p>
        </p:txBody>
      </p:sp>
    </p:spTree>
    <p:extLst>
      <p:ext uri="{BB962C8B-B14F-4D97-AF65-F5344CB8AC3E}">
        <p14:creationId xmlns:p14="http://schemas.microsoft.com/office/powerpoint/2010/main" val="329592680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F72785-24BC-8F65-2381-5A33130A6E1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C428B3A-E4B0-0747-6866-AD0FC4CFF41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8B045A0-9896-B1B0-2C83-4F32C78E9BA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solidFill>
                  <a:schemeClr val="tx1"/>
                </a:solidFill>
                <a:highlight>
                  <a:srgbClr val="FFFF00"/>
                </a:highlight>
              </a:rPr>
              <a:t>ET no-return covered</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solidFill>
                  <a:schemeClr val="tx1"/>
                </a:solidFill>
                <a:highlight>
                  <a:srgbClr val="FFFF00"/>
                </a:highlight>
              </a:rPr>
              <a:t>On-going service</a:t>
            </a:r>
          </a:p>
          <a:p>
            <a:endParaRPr lang="zh-CN" altLang="en-US"/>
          </a:p>
        </p:txBody>
      </p:sp>
      <p:sp>
        <p:nvSpPr>
          <p:cNvPr id="4" name="灯片编号占位符 3">
            <a:extLst>
              <a:ext uri="{FF2B5EF4-FFF2-40B4-BE49-F238E27FC236}">
                <a16:creationId xmlns:a16="http://schemas.microsoft.com/office/drawing/2014/main" id="{E2C40B9A-5633-E3F2-49C7-E9D0F0597D32}"/>
              </a:ext>
            </a:extLst>
          </p:cNvPr>
          <p:cNvSpPr>
            <a:spLocks noGrp="1"/>
          </p:cNvSpPr>
          <p:nvPr>
            <p:ph type="sldNum" sz="quarter" idx="5"/>
          </p:nvPr>
        </p:nvSpPr>
        <p:spPr/>
        <p:txBody>
          <a:bodyPr/>
          <a:lstStyle/>
          <a:p>
            <a:fld id="{9FCD7C6C-628C-4A66-96CF-D2300D9F95AC}" type="slidenum">
              <a:rPr lang="en-US" altLang="zh-Hans" smtClean="0"/>
              <a:t>80</a:t>
            </a:fld>
            <a:endParaRPr lang="zh-Hans" altLang="en-US"/>
          </a:p>
        </p:txBody>
      </p:sp>
    </p:spTree>
    <p:extLst>
      <p:ext uri="{BB962C8B-B14F-4D97-AF65-F5344CB8AC3E}">
        <p14:creationId xmlns:p14="http://schemas.microsoft.com/office/powerpoint/2010/main" val="278737544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OL/FL, normally monthly billing, except upfront service </a:t>
            </a:r>
          </a:p>
          <a:p>
            <a:r>
              <a:rPr lang="en-US"/>
              <a:t>FL only recognize interest income in Odessa</a:t>
            </a:r>
          </a:p>
        </p:txBody>
      </p:sp>
      <p:sp>
        <p:nvSpPr>
          <p:cNvPr id="4" name="Slide Number Placeholder 3"/>
          <p:cNvSpPr>
            <a:spLocks noGrp="1"/>
          </p:cNvSpPr>
          <p:nvPr>
            <p:ph type="sldNum" sz="quarter" idx="5"/>
          </p:nvPr>
        </p:nvSpPr>
        <p:spPr/>
        <p:txBody>
          <a:bodyPr/>
          <a:lstStyle/>
          <a:p>
            <a:fld id="{9FCD7C6C-628C-4A66-96CF-D2300D9F95AC}" type="slidenum">
              <a:rPr lang="en-US" smtClean="0"/>
              <a:t>81</a:t>
            </a:fld>
            <a:endParaRPr lang="en-US"/>
          </a:p>
        </p:txBody>
      </p:sp>
    </p:spTree>
    <p:extLst>
      <p:ext uri="{BB962C8B-B14F-4D97-AF65-F5344CB8AC3E}">
        <p14:creationId xmlns:p14="http://schemas.microsoft.com/office/powerpoint/2010/main" val="208215436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4C285C-52C4-513A-D5A1-717910957A6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94EB136-E33D-A5DC-5346-2C4C519FA7E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E3C2E26-EA66-D8BC-182C-DAD6889A130D}"/>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A06D99DF-B4A6-DAA5-BAAE-FE78FFEC6CA8}"/>
              </a:ext>
            </a:extLst>
          </p:cNvPr>
          <p:cNvSpPr>
            <a:spLocks noGrp="1"/>
          </p:cNvSpPr>
          <p:nvPr>
            <p:ph type="sldNum" sz="quarter" idx="5"/>
          </p:nvPr>
        </p:nvSpPr>
        <p:spPr/>
        <p:txBody>
          <a:bodyPr/>
          <a:lstStyle/>
          <a:p>
            <a:fld id="{9FCD7C6C-628C-4A66-96CF-D2300D9F95AC}" type="slidenum">
              <a:rPr lang="en-US" altLang="zh-Hans" smtClean="0"/>
              <a:t>82</a:t>
            </a:fld>
            <a:endParaRPr lang="zh-Hans" altLang="en-US"/>
          </a:p>
        </p:txBody>
      </p:sp>
    </p:spTree>
    <p:extLst>
      <p:ext uri="{BB962C8B-B14F-4D97-AF65-F5344CB8AC3E}">
        <p14:creationId xmlns:p14="http://schemas.microsoft.com/office/powerpoint/2010/main" val="324384269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E35BCA-FE5E-D38B-443D-7CF881999C2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BC6DD54-197C-7C48-4FA7-11F3B2A8A8A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76E09DC-617E-C3E6-0DD4-005BEF6A224A}"/>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E9BA9D63-FB7E-89E5-2245-400504C02234}"/>
              </a:ext>
            </a:extLst>
          </p:cNvPr>
          <p:cNvSpPr>
            <a:spLocks noGrp="1"/>
          </p:cNvSpPr>
          <p:nvPr>
            <p:ph type="sldNum" sz="quarter" idx="5"/>
          </p:nvPr>
        </p:nvSpPr>
        <p:spPr/>
        <p:txBody>
          <a:bodyPr/>
          <a:lstStyle/>
          <a:p>
            <a:fld id="{9FCD7C6C-628C-4A66-96CF-D2300D9F95AC}" type="slidenum">
              <a:rPr lang="en-US" altLang="zh-Hans" smtClean="0"/>
              <a:t>83</a:t>
            </a:fld>
            <a:endParaRPr lang="zh-Hans" altLang="en-US"/>
          </a:p>
        </p:txBody>
      </p:sp>
    </p:spTree>
    <p:extLst>
      <p:ext uri="{BB962C8B-B14F-4D97-AF65-F5344CB8AC3E}">
        <p14:creationId xmlns:p14="http://schemas.microsoft.com/office/powerpoint/2010/main" val="219534167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B259D-7D53-859E-2FA5-272A1D08F6A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8E76B16-5D93-B987-FDDC-969C2AA9EA4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1A0DEAE-8645-4407-847B-FDDABFFC451D}"/>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5E156AAE-CC3A-479D-5E67-DC586CCD01B6}"/>
              </a:ext>
            </a:extLst>
          </p:cNvPr>
          <p:cNvSpPr>
            <a:spLocks noGrp="1"/>
          </p:cNvSpPr>
          <p:nvPr>
            <p:ph type="sldNum" sz="quarter" idx="5"/>
          </p:nvPr>
        </p:nvSpPr>
        <p:spPr/>
        <p:txBody>
          <a:bodyPr/>
          <a:lstStyle/>
          <a:p>
            <a:fld id="{9FCD7C6C-628C-4A66-96CF-D2300D9F95AC}" type="slidenum">
              <a:rPr lang="en-US" altLang="zh-Hans" smtClean="0"/>
              <a:t>84</a:t>
            </a:fld>
            <a:endParaRPr lang="zh-Hans" altLang="en-US"/>
          </a:p>
        </p:txBody>
      </p:sp>
    </p:spTree>
    <p:extLst>
      <p:ext uri="{BB962C8B-B14F-4D97-AF65-F5344CB8AC3E}">
        <p14:creationId xmlns:p14="http://schemas.microsoft.com/office/powerpoint/2010/main" val="316628158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8D916C-380B-58B3-E18B-6185731BEA5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3ECF113-5A7C-F572-3D5E-BCF96A0CD69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039798B-D3AB-B668-C5F8-0214C49B1E15}"/>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D1834F6B-FF51-9F70-1226-368D4F548FA7}"/>
              </a:ext>
            </a:extLst>
          </p:cNvPr>
          <p:cNvSpPr>
            <a:spLocks noGrp="1"/>
          </p:cNvSpPr>
          <p:nvPr>
            <p:ph type="sldNum" sz="quarter" idx="5"/>
          </p:nvPr>
        </p:nvSpPr>
        <p:spPr/>
        <p:txBody>
          <a:bodyPr/>
          <a:lstStyle/>
          <a:p>
            <a:fld id="{9FCD7C6C-628C-4A66-96CF-D2300D9F95AC}" type="slidenum">
              <a:rPr lang="en-US" altLang="zh-Hans" smtClean="0"/>
              <a:t>85</a:t>
            </a:fld>
            <a:endParaRPr lang="zh-Hans" altLang="en-US"/>
          </a:p>
        </p:txBody>
      </p:sp>
    </p:spTree>
    <p:extLst>
      <p:ext uri="{BB962C8B-B14F-4D97-AF65-F5344CB8AC3E}">
        <p14:creationId xmlns:p14="http://schemas.microsoft.com/office/powerpoint/2010/main" val="52408415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C4C850-FF60-D85F-57EB-C67C0B52FA2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02BEFCB-366E-15EC-33E8-0D2D79C6CA5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B15BA0C-C9C1-2046-D8BE-3C24CFE25B64}"/>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5E4D2B68-4A56-1CC0-796A-4542226A5CF8}"/>
              </a:ext>
            </a:extLst>
          </p:cNvPr>
          <p:cNvSpPr>
            <a:spLocks noGrp="1"/>
          </p:cNvSpPr>
          <p:nvPr>
            <p:ph type="sldNum" sz="quarter" idx="5"/>
          </p:nvPr>
        </p:nvSpPr>
        <p:spPr/>
        <p:txBody>
          <a:bodyPr/>
          <a:lstStyle/>
          <a:p>
            <a:fld id="{9FCD7C6C-628C-4A66-96CF-D2300D9F95AC}" type="slidenum">
              <a:rPr lang="en-US" altLang="zh-Hans" smtClean="0"/>
              <a:t>86</a:t>
            </a:fld>
            <a:endParaRPr lang="zh-Hans" altLang="en-US"/>
          </a:p>
        </p:txBody>
      </p:sp>
    </p:spTree>
    <p:extLst>
      <p:ext uri="{BB962C8B-B14F-4D97-AF65-F5344CB8AC3E}">
        <p14:creationId xmlns:p14="http://schemas.microsoft.com/office/powerpoint/2010/main" val="413246862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FCDC1C-0FE3-46EF-0071-946935275F4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4E6E0A6-865C-F7E6-8C55-639BF15ECCE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CA4E4C1-1D28-A964-D638-63D6B469570D}"/>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1E19773A-88AC-E7DF-ABAC-DEBEF67F0540}"/>
              </a:ext>
            </a:extLst>
          </p:cNvPr>
          <p:cNvSpPr>
            <a:spLocks noGrp="1"/>
          </p:cNvSpPr>
          <p:nvPr>
            <p:ph type="sldNum" sz="quarter" idx="5"/>
          </p:nvPr>
        </p:nvSpPr>
        <p:spPr/>
        <p:txBody>
          <a:bodyPr/>
          <a:lstStyle/>
          <a:p>
            <a:fld id="{9FCD7C6C-628C-4A66-96CF-D2300D9F95AC}" type="slidenum">
              <a:rPr lang="en-US" altLang="zh-Hans" smtClean="0"/>
              <a:t>87</a:t>
            </a:fld>
            <a:endParaRPr lang="zh-Hans" altLang="en-US"/>
          </a:p>
        </p:txBody>
      </p:sp>
    </p:spTree>
    <p:extLst>
      <p:ext uri="{BB962C8B-B14F-4D97-AF65-F5344CB8AC3E}">
        <p14:creationId xmlns:p14="http://schemas.microsoft.com/office/powerpoint/2010/main" val="157206284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2B0B19-06B3-E906-971D-2705DDC9288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A8F90EC-9243-7CB1-9735-4B40E3A5967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C21DFE2-938D-819F-FB4E-B724E902502C}"/>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312532F9-486D-3975-C3D8-6A1381339331}"/>
              </a:ext>
            </a:extLst>
          </p:cNvPr>
          <p:cNvSpPr>
            <a:spLocks noGrp="1"/>
          </p:cNvSpPr>
          <p:nvPr>
            <p:ph type="sldNum" sz="quarter" idx="5"/>
          </p:nvPr>
        </p:nvSpPr>
        <p:spPr/>
        <p:txBody>
          <a:bodyPr/>
          <a:lstStyle/>
          <a:p>
            <a:fld id="{9FCD7C6C-628C-4A66-96CF-D2300D9F95AC}" type="slidenum">
              <a:rPr lang="en-US" altLang="zh-Hans" smtClean="0"/>
              <a:t>88</a:t>
            </a:fld>
            <a:endParaRPr lang="zh-Hans" altLang="en-US"/>
          </a:p>
        </p:txBody>
      </p:sp>
    </p:spTree>
    <p:extLst>
      <p:ext uri="{BB962C8B-B14F-4D97-AF65-F5344CB8AC3E}">
        <p14:creationId xmlns:p14="http://schemas.microsoft.com/office/powerpoint/2010/main" val="215580675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67C67E-45D7-E995-0409-ACD302CAD25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6B22B58-5474-9186-7913-A7AD610C2CF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5DA237C-4FA6-406C-0EB5-F53F590AF64C}"/>
              </a:ext>
            </a:extLst>
          </p:cNvPr>
          <p:cNvSpPr>
            <a:spLocks noGrp="1"/>
          </p:cNvSpPr>
          <p:nvPr>
            <p:ph type="body" idx="1"/>
          </p:nvPr>
        </p:nvSpPr>
        <p:spPr/>
        <p:txBody>
          <a:bodyPr/>
          <a:lstStyle/>
          <a:p>
            <a:r>
              <a:rPr lang="en-US" altLang="zh-CN"/>
              <a:t>Upfront service, AFE recognize interest income</a:t>
            </a:r>
            <a:endParaRPr lang="zh-CN" altLang="en-US"/>
          </a:p>
        </p:txBody>
      </p:sp>
      <p:sp>
        <p:nvSpPr>
          <p:cNvPr id="4" name="灯片编号占位符 3">
            <a:extLst>
              <a:ext uri="{FF2B5EF4-FFF2-40B4-BE49-F238E27FC236}">
                <a16:creationId xmlns:a16="http://schemas.microsoft.com/office/drawing/2014/main" id="{B264C682-4F38-257D-D83B-4995D7CE1F22}"/>
              </a:ext>
            </a:extLst>
          </p:cNvPr>
          <p:cNvSpPr>
            <a:spLocks noGrp="1"/>
          </p:cNvSpPr>
          <p:nvPr>
            <p:ph type="sldNum" sz="quarter" idx="5"/>
          </p:nvPr>
        </p:nvSpPr>
        <p:spPr/>
        <p:txBody>
          <a:bodyPr/>
          <a:lstStyle/>
          <a:p>
            <a:fld id="{9FCD7C6C-628C-4A66-96CF-D2300D9F95AC}" type="slidenum">
              <a:rPr lang="en-US" altLang="zh-Hans" smtClean="0"/>
              <a:t>89</a:t>
            </a:fld>
            <a:endParaRPr lang="zh-Hans" altLang="en-US"/>
          </a:p>
        </p:txBody>
      </p:sp>
    </p:spTree>
    <p:extLst>
      <p:ext uri="{BB962C8B-B14F-4D97-AF65-F5344CB8AC3E}">
        <p14:creationId xmlns:p14="http://schemas.microsoft.com/office/powerpoint/2010/main" val="300882433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D0784C-2D02-8CA7-3BBC-F5F27DDFA24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E995E09-F483-525F-0109-19ACDA1284D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3E98178-8749-8158-8676-E684B031F2AA}"/>
              </a:ext>
            </a:extLst>
          </p:cNvPr>
          <p:cNvSpPr>
            <a:spLocks noGrp="1"/>
          </p:cNvSpPr>
          <p:nvPr>
            <p:ph type="body" idx="1"/>
          </p:nvPr>
        </p:nvSpPr>
        <p:spPr/>
        <p:txBody>
          <a:bodyPr/>
          <a:lstStyle/>
          <a:p>
            <a:r>
              <a:rPr lang="en-US" altLang="zh-CN"/>
              <a:t>FL, lease extension period</a:t>
            </a:r>
            <a:r>
              <a:rPr lang="zh-CN" altLang="en-US"/>
              <a:t>，</a:t>
            </a:r>
            <a:r>
              <a:rPr lang="en-US" altLang="zh-CN"/>
              <a:t>FL only recognize only interest income</a:t>
            </a:r>
            <a:endParaRPr lang="zh-CN" altLang="en-US"/>
          </a:p>
        </p:txBody>
      </p:sp>
      <p:sp>
        <p:nvSpPr>
          <p:cNvPr id="4" name="灯片编号占位符 3">
            <a:extLst>
              <a:ext uri="{FF2B5EF4-FFF2-40B4-BE49-F238E27FC236}">
                <a16:creationId xmlns:a16="http://schemas.microsoft.com/office/drawing/2014/main" id="{BCFA33EC-5725-4884-31A4-16ABC38BE48C}"/>
              </a:ext>
            </a:extLst>
          </p:cNvPr>
          <p:cNvSpPr>
            <a:spLocks noGrp="1"/>
          </p:cNvSpPr>
          <p:nvPr>
            <p:ph type="sldNum" sz="quarter" idx="5"/>
          </p:nvPr>
        </p:nvSpPr>
        <p:spPr/>
        <p:txBody>
          <a:bodyPr/>
          <a:lstStyle/>
          <a:p>
            <a:fld id="{9FCD7C6C-628C-4A66-96CF-D2300D9F95AC}" type="slidenum">
              <a:rPr lang="en-US" altLang="zh-Hans" smtClean="0"/>
              <a:t>90</a:t>
            </a:fld>
            <a:endParaRPr lang="zh-Hans" altLang="en-US"/>
          </a:p>
        </p:txBody>
      </p:sp>
    </p:spTree>
    <p:extLst>
      <p:ext uri="{BB962C8B-B14F-4D97-AF65-F5344CB8AC3E}">
        <p14:creationId xmlns:p14="http://schemas.microsoft.com/office/powerpoint/2010/main" val="259611285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CD44D0-7C3C-C60F-5ABB-73F90CC6C33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31CBCB5-EA09-2628-D648-EC53B51EC63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0EECF13-8BB5-57E7-4E2E-F7941A9D2458}"/>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7A5F1FDB-B3F7-F394-C4D5-3A95354EC464}"/>
              </a:ext>
            </a:extLst>
          </p:cNvPr>
          <p:cNvSpPr>
            <a:spLocks noGrp="1"/>
          </p:cNvSpPr>
          <p:nvPr>
            <p:ph type="sldNum" sz="quarter" idx="5"/>
          </p:nvPr>
        </p:nvSpPr>
        <p:spPr/>
        <p:txBody>
          <a:bodyPr/>
          <a:lstStyle/>
          <a:p>
            <a:fld id="{9FCD7C6C-628C-4A66-96CF-D2300D9F95AC}" type="slidenum">
              <a:rPr lang="en-US" altLang="zh-Hans" smtClean="0"/>
              <a:t>91</a:t>
            </a:fld>
            <a:endParaRPr lang="zh-Hans" altLang="en-US"/>
          </a:p>
        </p:txBody>
      </p:sp>
    </p:spTree>
    <p:extLst>
      <p:ext uri="{BB962C8B-B14F-4D97-AF65-F5344CB8AC3E}">
        <p14:creationId xmlns:p14="http://schemas.microsoft.com/office/powerpoint/2010/main" val="74524530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99443A-6772-F1CB-BFD5-346A38B1F9E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17DD157-1CE9-8C69-1A13-CACB09DB9B3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3157F7E-3017-EC13-A34C-57457071CAEB}"/>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CAA4E865-563E-CBDB-BC5D-2C879FF4A9FC}"/>
              </a:ext>
            </a:extLst>
          </p:cNvPr>
          <p:cNvSpPr>
            <a:spLocks noGrp="1"/>
          </p:cNvSpPr>
          <p:nvPr>
            <p:ph type="sldNum" sz="quarter" idx="5"/>
          </p:nvPr>
        </p:nvSpPr>
        <p:spPr/>
        <p:txBody>
          <a:bodyPr/>
          <a:lstStyle/>
          <a:p>
            <a:fld id="{9FCD7C6C-628C-4A66-96CF-D2300D9F95AC}" type="slidenum">
              <a:rPr lang="en-US" altLang="zh-Hans" smtClean="0"/>
              <a:t>92</a:t>
            </a:fld>
            <a:endParaRPr lang="zh-Hans" altLang="en-US"/>
          </a:p>
        </p:txBody>
      </p:sp>
    </p:spTree>
    <p:extLst>
      <p:ext uri="{BB962C8B-B14F-4D97-AF65-F5344CB8AC3E}">
        <p14:creationId xmlns:p14="http://schemas.microsoft.com/office/powerpoint/2010/main" val="284457974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F84B99-0EF6-FF16-97EC-7BCD8B12867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114BE02-AA3F-5B91-2352-B0515745D3E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B981D8F-401C-F298-F370-C30D7A967C4B}"/>
              </a:ext>
            </a:extLst>
          </p:cNvPr>
          <p:cNvSpPr>
            <a:spLocks noGrp="1"/>
          </p:cNvSpPr>
          <p:nvPr>
            <p:ph type="body" idx="1"/>
          </p:nvPr>
        </p:nvSpPr>
        <p:spPr/>
        <p:txBody>
          <a:bodyPr/>
          <a:lstStyle/>
          <a:p>
            <a:r>
              <a:rPr lang="en-US" altLang="zh-CN"/>
              <a:t>FLEX move to next</a:t>
            </a:r>
            <a:endParaRPr lang="zh-CN" altLang="en-US"/>
          </a:p>
        </p:txBody>
      </p:sp>
      <p:sp>
        <p:nvSpPr>
          <p:cNvPr id="4" name="灯片编号占位符 3">
            <a:extLst>
              <a:ext uri="{FF2B5EF4-FFF2-40B4-BE49-F238E27FC236}">
                <a16:creationId xmlns:a16="http://schemas.microsoft.com/office/drawing/2014/main" id="{0B6DEBCB-BBE4-0623-7977-57176E1D5B3B}"/>
              </a:ext>
            </a:extLst>
          </p:cNvPr>
          <p:cNvSpPr>
            <a:spLocks noGrp="1"/>
          </p:cNvSpPr>
          <p:nvPr>
            <p:ph type="sldNum" sz="quarter" idx="5"/>
          </p:nvPr>
        </p:nvSpPr>
        <p:spPr/>
        <p:txBody>
          <a:bodyPr/>
          <a:lstStyle/>
          <a:p>
            <a:fld id="{9FCD7C6C-628C-4A66-96CF-D2300D9F95AC}" type="slidenum">
              <a:rPr lang="en-US" altLang="zh-Hans" smtClean="0"/>
              <a:t>93</a:t>
            </a:fld>
            <a:endParaRPr lang="zh-Hans" altLang="en-US"/>
          </a:p>
        </p:txBody>
      </p:sp>
    </p:spTree>
    <p:extLst>
      <p:ext uri="{BB962C8B-B14F-4D97-AF65-F5344CB8AC3E}">
        <p14:creationId xmlns:p14="http://schemas.microsoft.com/office/powerpoint/2010/main" val="234095468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1DE6D7-2604-27EF-A5E0-A4518E66ED1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F8F06F3-94E2-E64E-4FA9-0E30141CA7C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7174679-5161-CBFB-0C06-E37F0D413557}"/>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A2EB1590-4A9B-CF33-4014-A5387867D5D8}"/>
              </a:ext>
            </a:extLst>
          </p:cNvPr>
          <p:cNvSpPr>
            <a:spLocks noGrp="1"/>
          </p:cNvSpPr>
          <p:nvPr>
            <p:ph type="sldNum" sz="quarter" idx="5"/>
          </p:nvPr>
        </p:nvSpPr>
        <p:spPr/>
        <p:txBody>
          <a:bodyPr/>
          <a:lstStyle/>
          <a:p>
            <a:fld id="{9FCD7C6C-628C-4A66-96CF-D2300D9F95AC}" type="slidenum">
              <a:rPr lang="en-US" altLang="zh-Hans" smtClean="0"/>
              <a:t>94</a:t>
            </a:fld>
            <a:endParaRPr lang="zh-Hans" altLang="en-US"/>
          </a:p>
        </p:txBody>
      </p:sp>
    </p:spTree>
    <p:extLst>
      <p:ext uri="{BB962C8B-B14F-4D97-AF65-F5344CB8AC3E}">
        <p14:creationId xmlns:p14="http://schemas.microsoft.com/office/powerpoint/2010/main" val="187779476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69F6AE-1D5F-82B2-DCF2-327F1116004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7B45DB0-B545-66B6-71E3-D76F9F4DB0C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730AF89-1B4A-4410-A341-9FB7C3B82F67}"/>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6C339CF1-32B5-6095-2837-527E88AAB522}"/>
              </a:ext>
            </a:extLst>
          </p:cNvPr>
          <p:cNvSpPr>
            <a:spLocks noGrp="1"/>
          </p:cNvSpPr>
          <p:nvPr>
            <p:ph type="sldNum" sz="quarter" idx="5"/>
          </p:nvPr>
        </p:nvSpPr>
        <p:spPr/>
        <p:txBody>
          <a:bodyPr/>
          <a:lstStyle/>
          <a:p>
            <a:fld id="{9FCD7C6C-628C-4A66-96CF-D2300D9F95AC}" type="slidenum">
              <a:rPr lang="en-US" altLang="zh-Hans" smtClean="0"/>
              <a:t>95</a:t>
            </a:fld>
            <a:endParaRPr lang="zh-Hans" altLang="en-US"/>
          </a:p>
        </p:txBody>
      </p:sp>
    </p:spTree>
    <p:extLst>
      <p:ext uri="{BB962C8B-B14F-4D97-AF65-F5344CB8AC3E}">
        <p14:creationId xmlns:p14="http://schemas.microsoft.com/office/powerpoint/2010/main" val="3023979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DFEC72-25AC-9435-0A47-0F3520400F8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D7ED3F6-9B7C-2BB4-2980-CEACECDD3A5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BC0695B-116C-00F4-A77C-45E692F202DA}"/>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FEA0D371-B172-8B42-9350-552C61AAAD39}"/>
              </a:ext>
            </a:extLst>
          </p:cNvPr>
          <p:cNvSpPr>
            <a:spLocks noGrp="1"/>
          </p:cNvSpPr>
          <p:nvPr>
            <p:ph type="sldNum" sz="quarter" idx="5"/>
          </p:nvPr>
        </p:nvSpPr>
        <p:spPr/>
        <p:txBody>
          <a:bodyPr/>
          <a:lstStyle/>
          <a:p>
            <a:fld id="{9FCD7C6C-628C-4A66-96CF-D2300D9F95AC}" type="slidenum">
              <a:rPr lang="en-US" altLang="zh-Hans" smtClean="0"/>
              <a:t>96</a:t>
            </a:fld>
            <a:endParaRPr lang="zh-Hans" altLang="en-US"/>
          </a:p>
        </p:txBody>
      </p:sp>
    </p:spTree>
    <p:extLst>
      <p:ext uri="{BB962C8B-B14F-4D97-AF65-F5344CB8AC3E}">
        <p14:creationId xmlns:p14="http://schemas.microsoft.com/office/powerpoint/2010/main" val="30034266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AD5187-E002-A3A4-1343-CC2F00097BF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970BFAB-C866-296D-45CE-6E614A238C5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FBF9D3C-0243-4BD2-C3C2-39A0747DEBAE}"/>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36F945EA-7D22-7A27-1FE2-3CF3CCA74300}"/>
              </a:ext>
            </a:extLst>
          </p:cNvPr>
          <p:cNvSpPr>
            <a:spLocks noGrp="1"/>
          </p:cNvSpPr>
          <p:nvPr>
            <p:ph type="sldNum" sz="quarter" idx="5"/>
          </p:nvPr>
        </p:nvSpPr>
        <p:spPr/>
        <p:txBody>
          <a:bodyPr/>
          <a:lstStyle/>
          <a:p>
            <a:fld id="{9FCD7C6C-628C-4A66-96CF-D2300D9F95AC}" type="slidenum">
              <a:rPr lang="en-US" altLang="zh-Hans" smtClean="0"/>
              <a:t>97</a:t>
            </a:fld>
            <a:endParaRPr lang="zh-Hans" altLang="en-US"/>
          </a:p>
        </p:txBody>
      </p:sp>
    </p:spTree>
    <p:extLst>
      <p:ext uri="{BB962C8B-B14F-4D97-AF65-F5344CB8AC3E}">
        <p14:creationId xmlns:p14="http://schemas.microsoft.com/office/powerpoint/2010/main" val="202620032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a:solidFill>
                  <a:sysClr val="windowText" lastClr="000000"/>
                </a:solidFill>
              </a:rPr>
              <a:t>Manual Monthly Billing</a:t>
            </a:r>
            <a:r>
              <a:rPr lang="zh-CN" altLang="en-US" sz="1200">
                <a:solidFill>
                  <a:sysClr val="windowText" lastClr="000000"/>
                </a:solidFill>
              </a:rPr>
              <a:t>：</a:t>
            </a:r>
            <a:r>
              <a:rPr lang="zh-CN" altLang="en-US"/>
              <a:t>这是针对</a:t>
            </a:r>
            <a:r>
              <a:rPr lang="en-US" altLang="zh-CN"/>
              <a:t>Early Order</a:t>
            </a:r>
            <a:r>
              <a:rPr lang="zh-CN" altLang="en-US"/>
              <a:t>的场景，</a:t>
            </a:r>
            <a:r>
              <a:rPr lang="en-US" altLang="zh-CN"/>
              <a:t>Onboarding</a:t>
            </a:r>
            <a:r>
              <a:rPr lang="zh-CN" altLang="en-US"/>
              <a:t>还没做好，需要提前开票的时候，那么就用这种来开票。如果</a:t>
            </a:r>
            <a:r>
              <a:rPr lang="en-US" altLang="zh-CN"/>
              <a:t>Onboarding</a:t>
            </a:r>
            <a:r>
              <a:rPr lang="zh-CN" altLang="en-US"/>
              <a:t>做好之后，做</a:t>
            </a:r>
            <a:r>
              <a:rPr lang="en-US" altLang="zh-CN" err="1"/>
              <a:t>Migiration</a:t>
            </a:r>
            <a:r>
              <a:rPr lang="zh-CN" altLang="en-US"/>
              <a:t>进来，然后已经开票的期数就不在开票了。而且物料是用的</a:t>
            </a:r>
            <a:r>
              <a:rPr lang="en-US" altLang="zh-CN"/>
              <a:t>dummy</a:t>
            </a:r>
            <a:r>
              <a:rPr lang="zh-CN" altLang="en-US"/>
              <a:t>的一个总的物料</a:t>
            </a:r>
            <a:endParaRPr lang="en-US" altLang="zh-CN"/>
          </a:p>
          <a:p>
            <a:r>
              <a:rPr lang="en-US" altLang="zh-CN"/>
              <a:t>Manual-ICO monthly Billing</a:t>
            </a:r>
            <a:r>
              <a:rPr lang="zh-CN" altLang="en-US"/>
              <a:t>：</a:t>
            </a:r>
            <a:r>
              <a:rPr lang="en-US" altLang="zh-CN"/>
              <a:t>ICO AR BIT</a:t>
            </a:r>
            <a:r>
              <a:rPr lang="zh-CN" altLang="en-US"/>
              <a:t>的时候，自动产生</a:t>
            </a:r>
            <a:r>
              <a:rPr lang="en-US" altLang="zh-CN"/>
              <a:t>ICO-AP BIT(ICOR) US HK08</a:t>
            </a:r>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98</a:t>
            </a:fld>
            <a:endParaRPr lang="zh-Hans" altLang="en-US"/>
          </a:p>
        </p:txBody>
      </p:sp>
    </p:spTree>
    <p:extLst>
      <p:ext uri="{BB962C8B-B14F-4D97-AF65-F5344CB8AC3E}">
        <p14:creationId xmlns:p14="http://schemas.microsoft.com/office/powerpoint/2010/main" val="375335259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88F51A-BD6E-8C67-9F82-8155B2B670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EA38341-CAF2-925B-82DF-41D9DC824FD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1C8F989-182D-EDE9-D7FA-547FE90BB86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32F7A9F-6A48-EA8B-9E50-6E49E48DE5C3}"/>
              </a:ext>
            </a:extLst>
          </p:cNvPr>
          <p:cNvSpPr>
            <a:spLocks noGrp="1"/>
          </p:cNvSpPr>
          <p:nvPr>
            <p:ph type="sldNum" sz="quarter" idx="10"/>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4AED87EB-65D7-4500-873C-410831173A82}" type="slidenum">
              <a:rPr kumimoji="0" lang="en-US" sz="800" b="0" i="0" u="none" strike="noStrike" kern="1200" cap="none" spc="0" normalizeH="0" baseline="0" noProof="0" smtClean="0">
                <a:ln>
                  <a:noFill/>
                </a:ln>
                <a:solidFill>
                  <a:prstClr val="black"/>
                </a:solidFill>
                <a:effectLst/>
                <a:uLnTx/>
                <a:uFillTx/>
                <a:latin typeface="Arial" pitchFamily="34" charset="0"/>
                <a:ea typeface="+mn-ea"/>
                <a:cs typeface="Arial" pitchFamily="34" charset="0"/>
              </a:rPr>
              <a:pPr marL="0" marR="0" lvl="0" indent="0" algn="r" defTabSz="1218987" rtl="0" eaLnBrk="1" fontAlgn="auto" latinLnBrk="0" hangingPunct="1">
                <a:lnSpc>
                  <a:spcPct val="100000"/>
                </a:lnSpc>
                <a:spcBef>
                  <a:spcPts val="0"/>
                </a:spcBef>
                <a:spcAft>
                  <a:spcPts val="0"/>
                </a:spcAft>
                <a:buClrTx/>
                <a:buSzTx/>
                <a:buFontTx/>
                <a:buNone/>
                <a:tabLst/>
                <a:defRPr/>
              </a:pPr>
              <a:t>99</a:t>
            </a:fld>
            <a:endParaRPr kumimoji="0" lang="en-US" sz="800" b="0" i="0" u="none" strike="noStrike" kern="1200" cap="none" spc="0" normalizeH="0" baseline="0" noProof="0">
              <a:ln>
                <a:noFill/>
              </a:ln>
              <a:solidFill>
                <a:prstClr val="black"/>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43480245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CN" smtClean="0"/>
              <a:t>100</a:t>
            </a:fld>
            <a:endParaRPr lang="zh-CN" altLang="en-US"/>
          </a:p>
        </p:txBody>
      </p:sp>
    </p:spTree>
    <p:extLst>
      <p:ext uri="{BB962C8B-B14F-4D97-AF65-F5344CB8AC3E}">
        <p14:creationId xmlns:p14="http://schemas.microsoft.com/office/powerpoint/2010/main" val="114043158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strike="sngStrike" baseline="0"/>
              <a:t>Structure IT</a:t>
            </a:r>
            <a:r>
              <a:rPr lang="zh-CN" altLang="en-US" strike="sngStrike" baseline="0"/>
              <a:t> </a:t>
            </a:r>
            <a:r>
              <a:rPr lang="en-US" altLang="zh-CN" strike="sngStrike" baseline="0"/>
              <a:t>solution--CMR</a:t>
            </a:r>
            <a:r>
              <a:rPr lang="zh-CN" altLang="en-US" strike="sngStrike" baseline="0"/>
              <a:t>：不管是正向还是负向，都入到</a:t>
            </a:r>
            <a:r>
              <a:rPr lang="en-US" altLang="zh-CN" strike="sngStrike" baseline="0"/>
              <a:t>defer</a:t>
            </a:r>
            <a:r>
              <a:rPr lang="zh-CN" altLang="en-US" strike="sngStrike" baseline="0"/>
              <a:t>。在最后一期的时候，直接把</a:t>
            </a:r>
            <a:r>
              <a:rPr lang="en-US" altLang="zh-CN" strike="sngStrike" baseline="0"/>
              <a:t>defer </a:t>
            </a:r>
            <a:r>
              <a:rPr lang="zh-CN" altLang="en-US" strike="sngStrike" baseline="0"/>
              <a:t>剩余的金额转到</a:t>
            </a:r>
            <a:r>
              <a:rPr lang="en-US" altLang="zh-CN" strike="sngStrike" baseline="0"/>
              <a:t>revenue</a:t>
            </a:r>
            <a:r>
              <a:rPr lang="zh-CN" altLang="en-US" strike="sngStrike" baseline="0"/>
              <a:t>，保证</a:t>
            </a:r>
            <a:r>
              <a:rPr lang="en-US" altLang="zh-CN" strike="sngStrike" baseline="0"/>
              <a:t>defer</a:t>
            </a:r>
            <a:r>
              <a:rPr lang="zh-CN" altLang="en-US" strike="sngStrike" baseline="0"/>
              <a:t>的余额为</a:t>
            </a:r>
            <a:r>
              <a:rPr lang="en-US" altLang="zh-CN" strike="sngStrike" baseline="0"/>
              <a:t>0</a:t>
            </a:r>
            <a:r>
              <a:rPr lang="zh-CN" altLang="en-US" strike="sngStrike" baseline="0"/>
              <a:t>。多余的再进</a:t>
            </a:r>
            <a:r>
              <a:rPr lang="en-US" altLang="zh-CN" strike="sngStrike" baseline="0"/>
              <a:t>revenue</a:t>
            </a:r>
            <a:r>
              <a:rPr lang="zh-CN" altLang="en-US" strike="sngStrike" baseline="0"/>
              <a:t>。</a:t>
            </a:r>
            <a:endParaRPr lang="en-US" strike="sngStrike" baseline="0"/>
          </a:p>
        </p:txBody>
      </p:sp>
      <p:sp>
        <p:nvSpPr>
          <p:cNvPr id="4" name="Slide Number Placeholder 3"/>
          <p:cNvSpPr>
            <a:spLocks noGrp="1"/>
          </p:cNvSpPr>
          <p:nvPr>
            <p:ph type="sldNum" sz="quarter" idx="5"/>
          </p:nvPr>
        </p:nvSpPr>
        <p:spPr/>
        <p:txBody>
          <a:bodyPr/>
          <a:lstStyle/>
          <a:p>
            <a:fld id="{9FCD7C6C-628C-4A66-96CF-D2300D9F95AC}" type="slidenum">
              <a:rPr lang="en-US" smtClean="0"/>
              <a:t>102</a:t>
            </a:fld>
            <a:endParaRPr lang="en-US"/>
          </a:p>
        </p:txBody>
      </p:sp>
    </p:spTree>
    <p:extLst>
      <p:ext uri="{BB962C8B-B14F-4D97-AF65-F5344CB8AC3E}">
        <p14:creationId xmlns:p14="http://schemas.microsoft.com/office/powerpoint/2010/main" val="35622482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E1F5AE-998D-002F-A40C-8B33C602F0D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5FAE468-ACB9-8198-CCA3-5E002D4AE75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74D0FED-7192-D9D3-20C3-87DAC7457E8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7AA0B3B-48C4-B42A-C45E-2660340F5E90}"/>
              </a:ext>
            </a:extLst>
          </p:cNvPr>
          <p:cNvSpPr>
            <a:spLocks noGrp="1"/>
          </p:cNvSpPr>
          <p:nvPr>
            <p:ph type="sldNum" sz="quarter" idx="5"/>
          </p:nvPr>
        </p:nvSpPr>
        <p:spPr/>
        <p:txBody>
          <a:bodyPr/>
          <a:lstStyle/>
          <a:p>
            <a:fld id="{9FCD7C6C-628C-4A66-96CF-D2300D9F95AC}" type="slidenum">
              <a:rPr lang="en-US" smtClean="0"/>
              <a:t>103</a:t>
            </a:fld>
            <a:endParaRPr lang="en-US"/>
          </a:p>
        </p:txBody>
      </p:sp>
    </p:spTree>
    <p:extLst>
      <p:ext uri="{BB962C8B-B14F-4D97-AF65-F5344CB8AC3E}">
        <p14:creationId xmlns:p14="http://schemas.microsoft.com/office/powerpoint/2010/main" val="76065274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Managed CAPEX Invoice &amp; Managed CAPEX ICO will have SO from IT point of view.</a:t>
            </a:r>
            <a:endParaRPr lang="zh-CN" altLang="en-US"/>
          </a:p>
        </p:txBody>
      </p:sp>
      <p:sp>
        <p:nvSpPr>
          <p:cNvPr id="4" name="灯片编号占位符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53BD2C2-4A44-42D1-9F4B-E18FC11F0FD5}" type="slidenum">
              <a:rPr kumimoji="0" lang="en-US" sz="1200" b="0" i="0" u="none" strike="noStrike" kern="1200" cap="none" spc="0" normalizeH="0" baseline="0" noProof="0" smtClean="0">
                <a:ln>
                  <a:noFill/>
                </a:ln>
                <a:solidFill>
                  <a:prstClr val="black"/>
                </a:solidFill>
                <a:effectLst/>
                <a:uLnTx/>
                <a:uFillTx/>
                <a:latin typeface="等线"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等线" panose="02110004020202020204"/>
              <a:ea typeface="+mn-ea"/>
              <a:cs typeface="+mn-cs"/>
            </a:endParaRPr>
          </a:p>
        </p:txBody>
      </p:sp>
    </p:spTree>
    <p:extLst>
      <p:ext uri="{BB962C8B-B14F-4D97-AF65-F5344CB8AC3E}">
        <p14:creationId xmlns:p14="http://schemas.microsoft.com/office/powerpoint/2010/main" val="404616402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kern="1200">
                <a:solidFill>
                  <a:schemeClr val="tx1"/>
                </a:solidFill>
                <a:effectLst/>
                <a:latin typeface="+mn-lt"/>
                <a:ea typeface="+mn-ea"/>
                <a:cs typeface="+mn-cs"/>
              </a:rPr>
              <a:t>the first one entry is we will receive property tax from  US customers. And it is applicable when external funded customer, S&amp;D internal funded customer and AFE internal funded customer. </a:t>
            </a:r>
            <a:endParaRPr lang="zh-CN" altLang="zh-CN" sz="1200" kern="1200">
              <a:solidFill>
                <a:schemeClr val="tx1"/>
              </a:solidFill>
              <a:effectLst/>
              <a:latin typeface="+mn-lt"/>
              <a:ea typeface="+mn-ea"/>
              <a:cs typeface="+mn-cs"/>
            </a:endParaRPr>
          </a:p>
          <a:p>
            <a:r>
              <a:rPr lang="en-US" altLang="zh-CN" sz="1200" kern="1200">
                <a:solidFill>
                  <a:schemeClr val="tx1"/>
                </a:solidFill>
                <a:effectLst/>
                <a:latin typeface="+mn-lt"/>
                <a:ea typeface="+mn-ea"/>
                <a:cs typeface="+mn-cs"/>
              </a:rPr>
              <a:t>The second scenario is when AFE internal DAAS, we directly book property tax, AFE was the entity who bear this tax. </a:t>
            </a:r>
            <a:endParaRPr lang="zh-CN" altLang="zh-CN" sz="1200" kern="1200">
              <a:solidFill>
                <a:schemeClr val="tx1"/>
              </a:solidFill>
              <a:effectLst/>
              <a:latin typeface="+mn-lt"/>
              <a:ea typeface="+mn-ea"/>
              <a:cs typeface="+mn-cs"/>
            </a:endParaRPr>
          </a:p>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107</a:t>
            </a:fld>
            <a:endParaRPr lang="zh-Hans" altLang="en-US"/>
          </a:p>
        </p:txBody>
      </p:sp>
    </p:spTree>
    <p:extLst>
      <p:ext uri="{BB962C8B-B14F-4D97-AF65-F5344CB8AC3E}">
        <p14:creationId xmlns:p14="http://schemas.microsoft.com/office/powerpoint/2010/main" val="424017622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solidFill>
                  <a:srgbClr val="FF0000"/>
                </a:solidFill>
              </a:rPr>
              <a:t>CRF if received in the first billing to customer (ERIC)</a:t>
            </a:r>
          </a:p>
          <a:p>
            <a:r>
              <a:rPr lang="en-US" altLang="zh-CN">
                <a:solidFill>
                  <a:srgbClr val="FF0000"/>
                </a:solidFill>
              </a:rPr>
              <a:t>Upfront tax if follow structure </a:t>
            </a:r>
            <a:r>
              <a:rPr lang="en-US" altLang="zh-CN" err="1">
                <a:solidFill>
                  <a:srgbClr val="FF0000"/>
                </a:solidFill>
              </a:rPr>
              <a:t>pmt</a:t>
            </a:r>
            <a:r>
              <a:rPr lang="en-US" altLang="zh-CN">
                <a:solidFill>
                  <a:srgbClr val="FF0000"/>
                </a:solidFill>
              </a:rPr>
              <a:t> logic/+upfront tax monthly billing</a:t>
            </a:r>
          </a:p>
          <a:p>
            <a:r>
              <a:rPr lang="en-US" altLang="zh-CN">
                <a:solidFill>
                  <a:srgbClr val="FF0000"/>
                </a:solidFill>
              </a:rPr>
              <a:t> upfront tax </a:t>
            </a:r>
            <a:r>
              <a:rPr lang="zh-CN" altLang="en-US">
                <a:solidFill>
                  <a:srgbClr val="FF0000"/>
                </a:solidFill>
              </a:rPr>
              <a:t>补</a:t>
            </a:r>
            <a:r>
              <a:rPr lang="en-US" altLang="zh-CN">
                <a:solidFill>
                  <a:srgbClr val="FF0000"/>
                </a:solidFill>
              </a:rPr>
              <a:t>monthly charge JE</a:t>
            </a:r>
          </a:p>
          <a:p>
            <a:r>
              <a:rPr lang="en-US" altLang="zh-CN">
                <a:solidFill>
                  <a:srgbClr val="FF0000"/>
                </a:solidFill>
              </a:rPr>
              <a:t>CRF </a:t>
            </a:r>
            <a:r>
              <a:rPr lang="zh-CN" altLang="en-US">
                <a:solidFill>
                  <a:srgbClr val="FF0000"/>
                </a:solidFill>
              </a:rPr>
              <a:t>补全分录</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108</a:t>
            </a:fld>
            <a:endParaRPr lang="zh-Hans" altLang="en-US"/>
          </a:p>
        </p:txBody>
      </p:sp>
    </p:spTree>
    <p:extLst>
      <p:ext uri="{BB962C8B-B14F-4D97-AF65-F5344CB8AC3E}">
        <p14:creationId xmlns:p14="http://schemas.microsoft.com/office/powerpoint/2010/main" val="105678380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在</a:t>
            </a:r>
            <a:r>
              <a:rPr lang="en-US" altLang="zh-CN"/>
              <a:t>S&amp;D</a:t>
            </a:r>
            <a:r>
              <a:rPr lang="zh-CN" altLang="en-US"/>
              <a:t>模式下，我们确认硬件收入、销售成本以及前期服务费用。</a:t>
            </a:r>
            <a:endParaRPr lang="en-US" altLang="zh-CN"/>
          </a:p>
          <a:p>
            <a:r>
              <a:rPr lang="en-US" altLang="zh-CN"/>
              <a:t>AFE</a:t>
            </a:r>
            <a:r>
              <a:rPr lang="zh-CN" altLang="en-US"/>
              <a:t>模式下我们采用相同方式，唯一的区别是使用</a:t>
            </a:r>
            <a:r>
              <a:rPr lang="en-US" altLang="zh-CN"/>
              <a:t>AFE</a:t>
            </a:r>
            <a:r>
              <a:rPr lang="zh-CN" altLang="en-US"/>
              <a:t>实体向客户开具账单，并通过内部月度结算将款项转回</a:t>
            </a:r>
            <a:r>
              <a:rPr lang="en-US" altLang="zh-CN"/>
              <a:t>S&amp;D</a:t>
            </a:r>
            <a:r>
              <a:rPr lang="zh-CN" altLang="en-US"/>
              <a:t>。</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109</a:t>
            </a:fld>
            <a:endParaRPr lang="zh-Hans" altLang="en-US"/>
          </a:p>
        </p:txBody>
      </p:sp>
    </p:spTree>
    <p:extLst>
      <p:ext uri="{BB962C8B-B14F-4D97-AF65-F5344CB8AC3E}">
        <p14:creationId xmlns:p14="http://schemas.microsoft.com/office/powerpoint/2010/main" val="17951248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由于我们在租赁开始前就已出售了应收账款，因此将客户硬件金额记入未计账应收账款，预付服务记入长期应收款；由于当时我们尚未履行</a:t>
            </a:r>
            <a:r>
              <a:rPr lang="en-US" altLang="zh-CN"/>
              <a:t>ongoing</a:t>
            </a:r>
            <a:r>
              <a:rPr lang="zh-CN" altLang="en-US"/>
              <a:t>，所以高级支持金额在此记入递延收入。在</a:t>
            </a:r>
            <a:r>
              <a:rPr lang="en-US" altLang="zh-CN"/>
              <a:t>AFE</a:t>
            </a:r>
            <a:r>
              <a:rPr lang="zh-CN" altLang="en-US"/>
              <a:t>模式下，我们将硬件记入未计账应收账款，服务记入应收账款账户。</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110</a:t>
            </a:fld>
            <a:endParaRPr lang="zh-Hans" altLang="en-US"/>
          </a:p>
        </p:txBody>
      </p:sp>
    </p:spTree>
    <p:extLst>
      <p:ext uri="{BB962C8B-B14F-4D97-AF65-F5344CB8AC3E}">
        <p14:creationId xmlns:p14="http://schemas.microsoft.com/office/powerpoint/2010/main" val="86809519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SOR</a:t>
            </a:r>
            <a:r>
              <a:rPr lang="zh-CN" altLang="en-US"/>
              <a:t>与</a:t>
            </a:r>
            <a:r>
              <a:rPr lang="en-US" altLang="zh-CN"/>
              <a:t>full syndication</a:t>
            </a:r>
            <a:r>
              <a:rPr lang="zh-CN" altLang="en-US"/>
              <a:t>之间有两个不同之处：第一，当我们出售应收账款时，会将应收账款的回收价值（</a:t>
            </a:r>
            <a:r>
              <a:rPr lang="en-US" altLang="zh-CN"/>
              <a:t>RV</a:t>
            </a:r>
            <a:r>
              <a:rPr lang="zh-CN" altLang="en-US"/>
              <a:t>）保留在</a:t>
            </a:r>
            <a:r>
              <a:rPr lang="en-US" altLang="zh-CN"/>
              <a:t>SOR</a:t>
            </a:r>
            <a:r>
              <a:rPr lang="zh-CN" altLang="en-US"/>
              <a:t>中；第二，我们可以在租赁开始后出售应收账款。</a:t>
            </a:r>
            <a:endParaRPr lang="en-US" altLang="zh-CN"/>
          </a:p>
          <a:p>
            <a:r>
              <a:rPr lang="zh-CN" altLang="en-US"/>
              <a:t>经营性租赁且无追索权。在应收账款（</a:t>
            </a:r>
            <a:r>
              <a:rPr lang="en-US" altLang="zh-CN"/>
              <a:t>AR</a:t>
            </a:r>
            <a:r>
              <a:rPr lang="zh-CN" altLang="en-US"/>
              <a:t>）中可以看到三个金额，分别代表硬件成本、预付费用以及融资本金。当我们向外部资金方开具</a:t>
            </a:r>
            <a:r>
              <a:rPr lang="en-US" altLang="zh-CN"/>
              <a:t>SOR</a:t>
            </a:r>
            <a:r>
              <a:rPr lang="zh-CN" altLang="en-US"/>
              <a:t>账单时，会将硬件金额记入其他应付款项（因为我们已在</a:t>
            </a:r>
            <a:r>
              <a:rPr lang="en-US" altLang="zh-CN"/>
              <a:t>Odessa</a:t>
            </a:r>
            <a:r>
              <a:rPr lang="zh-CN" altLang="en-US"/>
              <a:t>已确认租赁收入；在</a:t>
            </a:r>
            <a:r>
              <a:rPr lang="en-US" altLang="zh-CN"/>
              <a:t>Odessa</a:t>
            </a:r>
            <a:r>
              <a:rPr lang="zh-CN" altLang="en-US"/>
              <a:t>，我们借记</a:t>
            </a:r>
            <a:r>
              <a:rPr lang="en-US" altLang="zh-CN"/>
              <a:t>LTAR</a:t>
            </a:r>
            <a:r>
              <a:rPr lang="zh-CN" altLang="en-US"/>
              <a:t>，贷记代理收入预付），并且在抵消预付费用的应收账款余额后，可能产生损失，因此我们将该损失记入其他利息收入。最后三行用于有资金支持的持续服务，在此情况下，我们将冲销</a:t>
            </a:r>
            <a:r>
              <a:rPr lang="en-US" altLang="zh-CN"/>
              <a:t>LTAR</a:t>
            </a:r>
            <a:r>
              <a:rPr lang="zh-CN" altLang="en-US"/>
              <a:t>中由</a:t>
            </a:r>
            <a:r>
              <a:rPr lang="en-US" altLang="zh-CN"/>
              <a:t>M0</a:t>
            </a:r>
            <a:r>
              <a:rPr lang="zh-CN" altLang="en-US"/>
              <a:t>资助的优先款项以及已确认的优先利息，然后净额将计入财务费用。</a:t>
            </a:r>
            <a:endParaRPr lang="en-US" altLang="zh-CN"/>
          </a:p>
          <a:p>
            <a:r>
              <a:rPr lang="zh-CN" altLang="en-US"/>
              <a:t>第二笔分录是无追索权的融资租赁。同样地，假设在租赁开始后我们出售应收账款，因此可以实现剩余租赁期间的利息收入，并从</a:t>
            </a:r>
            <a:r>
              <a:rPr lang="en-US" altLang="zh-CN"/>
              <a:t>LTAR</a:t>
            </a:r>
            <a:r>
              <a:rPr lang="zh-CN" altLang="en-US"/>
              <a:t>中抵消相同金额。如果存在损失，则需在财务费用账户中记录该损失。以下分录采用相同的会计处理逻辑。</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111</a:t>
            </a:fld>
            <a:endParaRPr lang="zh-Hans" altLang="en-US"/>
          </a:p>
        </p:txBody>
      </p:sp>
    </p:spTree>
    <p:extLst>
      <p:ext uri="{BB962C8B-B14F-4D97-AF65-F5344CB8AC3E}">
        <p14:creationId xmlns:p14="http://schemas.microsoft.com/office/powerpoint/2010/main" val="126722227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两个</a:t>
            </a:r>
            <a:r>
              <a:rPr lang="en-US" altLang="zh-CN"/>
              <a:t>option</a:t>
            </a:r>
            <a:r>
              <a:rPr lang="zh-CN" altLang="en-US"/>
              <a:t>对分录没有影响，第一期都是</a:t>
            </a:r>
            <a:r>
              <a:rPr lang="en-US" altLang="zh-CN"/>
              <a:t>defer</a:t>
            </a:r>
            <a:r>
              <a:rPr lang="zh-CN" altLang="en-US"/>
              <a:t>入账然后按月确认收入。</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113</a:t>
            </a:fld>
            <a:endParaRPr lang="zh-Hans" altLang="en-US"/>
          </a:p>
        </p:txBody>
      </p:sp>
    </p:spTree>
    <p:extLst>
      <p:ext uri="{BB962C8B-B14F-4D97-AF65-F5344CB8AC3E}">
        <p14:creationId xmlns:p14="http://schemas.microsoft.com/office/powerpoint/2010/main" val="323125710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E9B990-F269-9A09-DE6C-3993F009EB7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2617D67-E6D9-A076-9B7F-936C5A71155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E7D90E8-168F-110A-4BFD-80BDA0FE77B5}"/>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64FDBB86-1CB2-8179-308C-0ED0219B1FB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CBF588A-4A99-4C86-855F-D00401570153}" type="slidenum">
              <a:rPr kumimoji="0" lang="zh-CN" altLang="en-US" sz="1200" b="0" i="0" u="none" strike="noStrike" kern="1200" cap="none" spc="0" normalizeH="0" baseline="0" noProof="0" smtClean="0">
                <a:ln>
                  <a:noFill/>
                </a:ln>
                <a:solidFill>
                  <a:prstClr val="black"/>
                </a:solidFill>
                <a:effectLst/>
                <a:uLnTx/>
                <a:uFillTx/>
                <a:latin typeface="等线" panose="0211000402020202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zh-CN" altLang="en-US" sz="1200" b="0" i="0" u="none" strike="noStrike" kern="1200" cap="none" spc="0" normalizeH="0" baseline="0" noProof="0">
              <a:ln>
                <a:noFill/>
              </a:ln>
              <a:solidFill>
                <a:prstClr val="black"/>
              </a:solidFill>
              <a:effectLst/>
              <a:uLnTx/>
              <a:uFillTx/>
              <a:latin typeface="等线" panose="02110004020202020204"/>
              <a:ea typeface="等线" panose="02010600030101010101" pitchFamily="2" charset="-122"/>
              <a:cs typeface="+mn-cs"/>
            </a:endParaRPr>
          </a:p>
        </p:txBody>
      </p:sp>
    </p:spTree>
    <p:extLst>
      <p:ext uri="{BB962C8B-B14F-4D97-AF65-F5344CB8AC3E}">
        <p14:creationId xmlns:p14="http://schemas.microsoft.com/office/powerpoint/2010/main" val="134566744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4E6198-E281-16CD-D494-B4B2034F494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BB7D795-1A03-3DCD-26E9-7AB9136601C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602D02D-1732-9A46-A366-F2FFD55749AB}"/>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5B231FEF-D861-2C2C-C1CA-B6D8AA0924D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CBF588A-4A99-4C86-855F-D00401570153}" type="slidenum">
              <a:rPr kumimoji="0" lang="zh-CN" altLang="en-US" sz="1200" b="0" i="0" u="none" strike="noStrike" kern="1200" cap="none" spc="0" normalizeH="0" baseline="0" noProof="0" smtClean="0">
                <a:ln>
                  <a:noFill/>
                </a:ln>
                <a:solidFill>
                  <a:prstClr val="black"/>
                </a:solidFill>
                <a:effectLst/>
                <a:uLnTx/>
                <a:uFillTx/>
                <a:latin typeface="等线" panose="02110004020202020204"/>
                <a:ea typeface="等线" panose="02010600030101010101" pitchFamily="2" charset="-122"/>
                <a:cs typeface="Arial"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zh-CN" altLang="en-US" sz="1200" b="0" i="0" u="none" strike="noStrike" kern="1200" cap="none" spc="0" normalizeH="0" baseline="0" noProof="0">
              <a:ln>
                <a:noFill/>
              </a:ln>
              <a:solidFill>
                <a:prstClr val="black"/>
              </a:solidFill>
              <a:effectLst/>
              <a:uLnTx/>
              <a:uFillTx/>
              <a:latin typeface="等线" panose="02110004020202020204"/>
              <a:ea typeface="等线" panose="02010600030101010101" pitchFamily="2" charset="-122"/>
              <a:cs typeface="Arial" pitchFamily="34" charset="0"/>
            </a:endParaRPr>
          </a:p>
        </p:txBody>
      </p:sp>
    </p:spTree>
    <p:extLst>
      <p:ext uri="{BB962C8B-B14F-4D97-AF65-F5344CB8AC3E}">
        <p14:creationId xmlns:p14="http://schemas.microsoft.com/office/powerpoint/2010/main" val="560257184"/>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A19834-BEBE-AFF0-D31A-2EBCBBB9F3A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1756795-40D1-0263-0030-E3D9868A330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09B4603-D957-DD7E-8723-AF19FD5C85DA}"/>
              </a:ext>
            </a:extLst>
          </p:cNvPr>
          <p:cNvSpPr>
            <a:spLocks noGrp="1"/>
          </p:cNvSpPr>
          <p:nvPr>
            <p:ph type="body" idx="1"/>
          </p:nvPr>
        </p:nvSpPr>
        <p:spPr/>
        <p:txBody>
          <a:bodyPr/>
          <a:lstStyle/>
          <a:p>
            <a:r>
              <a:rPr lang="zh-CN" altLang="en-US"/>
              <a:t>无论</a:t>
            </a:r>
            <a:r>
              <a:rPr lang="en-US" altLang="zh-CN"/>
              <a:t>tranche</a:t>
            </a:r>
            <a:r>
              <a:rPr lang="zh-CN" altLang="en-US"/>
              <a:t>是</a:t>
            </a:r>
            <a:r>
              <a:rPr lang="en-US" altLang="zh-CN"/>
              <a:t>monthly or </a:t>
            </a:r>
            <a:r>
              <a:rPr lang="en-US" altLang="zh-CN" err="1"/>
              <a:t>quartely</a:t>
            </a:r>
            <a:r>
              <a:rPr lang="zh-CN" altLang="en-US"/>
              <a:t>等等，每月从</a:t>
            </a:r>
            <a:r>
              <a:rPr lang="en-US" altLang="zh-CN"/>
              <a:t>defer</a:t>
            </a:r>
            <a:r>
              <a:rPr lang="zh-CN" altLang="en-US"/>
              <a:t>的金额都是</a:t>
            </a:r>
            <a:r>
              <a:rPr lang="en-US" altLang="zh-CN"/>
              <a:t>total billing cycle/</a:t>
            </a:r>
            <a:r>
              <a:rPr lang="zh-CN" altLang="en-US"/>
              <a:t>月份数量，分录是不变的。</a:t>
            </a:r>
            <a:endParaRPr lang="en-US" altLang="zh-CN"/>
          </a:p>
        </p:txBody>
      </p:sp>
      <p:sp>
        <p:nvSpPr>
          <p:cNvPr id="4" name="灯片编号占位符 3">
            <a:extLst>
              <a:ext uri="{FF2B5EF4-FFF2-40B4-BE49-F238E27FC236}">
                <a16:creationId xmlns:a16="http://schemas.microsoft.com/office/drawing/2014/main" id="{A63F5FC4-F290-C89B-6B48-C484F1814B8D}"/>
              </a:ext>
            </a:extLst>
          </p:cNvPr>
          <p:cNvSpPr>
            <a:spLocks noGrp="1"/>
          </p:cNvSpPr>
          <p:nvPr>
            <p:ph type="sldNum" sz="quarter" idx="5"/>
          </p:nvPr>
        </p:nvSpPr>
        <p:spPr/>
        <p:txBody>
          <a:bodyPr/>
          <a:lstStyle/>
          <a:p>
            <a:fld id="{9FCD7C6C-628C-4A66-96CF-D2300D9F95AC}" type="slidenum">
              <a:rPr lang="en-US" altLang="zh-Hans" smtClean="0"/>
              <a:t>116</a:t>
            </a:fld>
            <a:endParaRPr lang="zh-Hans" altLang="en-US"/>
          </a:p>
        </p:txBody>
      </p:sp>
    </p:spTree>
    <p:extLst>
      <p:ext uri="{BB962C8B-B14F-4D97-AF65-F5344CB8AC3E}">
        <p14:creationId xmlns:p14="http://schemas.microsoft.com/office/powerpoint/2010/main" val="417073696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Monthly tranche </a:t>
            </a:r>
            <a:r>
              <a:rPr lang="zh-CN" altLang="en-US"/>
              <a:t>是不会有</a:t>
            </a:r>
            <a:r>
              <a:rPr lang="en-US" altLang="zh-CN"/>
              <a:t>interim charge,</a:t>
            </a:r>
          </a:p>
          <a:p>
            <a:r>
              <a:rPr lang="en-US" altLang="zh-CN"/>
              <a:t>capex </a:t>
            </a:r>
            <a:r>
              <a:rPr lang="en-US" altLang="zh-CN" err="1"/>
              <a:t>excluded,IAAS</a:t>
            </a:r>
            <a:r>
              <a:rPr lang="zh-CN" altLang="en-US"/>
              <a:t>也都不在范围里面</a:t>
            </a:r>
            <a:endParaRPr lang="en-US" altLang="zh-CN"/>
          </a:p>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117</a:t>
            </a:fld>
            <a:endParaRPr lang="zh-Hans" altLang="en-US"/>
          </a:p>
        </p:txBody>
      </p:sp>
    </p:spTree>
    <p:extLst>
      <p:ext uri="{BB962C8B-B14F-4D97-AF65-F5344CB8AC3E}">
        <p14:creationId xmlns:p14="http://schemas.microsoft.com/office/powerpoint/2010/main" val="95208808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986F93-AA11-9698-945B-BEE4311111B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4852E2B-3D60-9E9C-99C1-A0CAA92B817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59EF6F9-113A-DA82-3BB0-02C1C8C8FA59}"/>
              </a:ext>
            </a:extLst>
          </p:cNvPr>
          <p:cNvSpPr>
            <a:spLocks noGrp="1"/>
          </p:cNvSpPr>
          <p:nvPr>
            <p:ph type="body" idx="1"/>
          </p:nvPr>
        </p:nvSpPr>
        <p:spPr/>
        <p:txBody>
          <a:bodyPr/>
          <a:lstStyle/>
          <a:p>
            <a:r>
              <a:rPr lang="en-US" altLang="zh-CN"/>
              <a:t>1,  90/180/360, add description</a:t>
            </a:r>
          </a:p>
          <a:p>
            <a:r>
              <a:rPr lang="en-US" altLang="zh-CN"/>
              <a:t>2   Ask detail about </a:t>
            </a:r>
            <a:r>
              <a:rPr lang="en-US" altLang="zh-CN" err="1"/>
              <a:t>upf</a:t>
            </a:r>
            <a:r>
              <a:rPr lang="en-US" altLang="zh-CN"/>
              <a:t> svc, on going, EOL… service item . </a:t>
            </a:r>
            <a:endParaRPr lang="zh-CN" altLang="en-US"/>
          </a:p>
        </p:txBody>
      </p:sp>
      <p:sp>
        <p:nvSpPr>
          <p:cNvPr id="4" name="灯片编号占位符 3">
            <a:extLst>
              <a:ext uri="{FF2B5EF4-FFF2-40B4-BE49-F238E27FC236}">
                <a16:creationId xmlns:a16="http://schemas.microsoft.com/office/drawing/2014/main" id="{B73E6A58-F83C-04CC-253B-45C9A79AC82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CBF588A-4A99-4C86-855F-D00401570153}" type="slidenum">
              <a:rPr kumimoji="0" lang="zh-CN" altLang="en-US" sz="1200" b="0" i="0" u="none" strike="noStrike" kern="1200" cap="none" spc="0" normalizeH="0" baseline="0" noProof="0" smtClean="0">
                <a:ln>
                  <a:noFill/>
                </a:ln>
                <a:solidFill>
                  <a:prstClr val="black"/>
                </a:solidFill>
                <a:effectLst/>
                <a:uLnTx/>
                <a:uFillTx/>
                <a:latin typeface="等线" panose="0211000402020202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zh-CN" altLang="en-US" sz="1200" b="0" i="0" u="none" strike="noStrike" kern="1200" cap="none" spc="0" normalizeH="0" baseline="0" noProof="0">
              <a:ln>
                <a:noFill/>
              </a:ln>
              <a:solidFill>
                <a:prstClr val="black"/>
              </a:solidFill>
              <a:effectLst/>
              <a:uLnTx/>
              <a:uFillTx/>
              <a:latin typeface="等线" panose="02110004020202020204"/>
              <a:ea typeface="等线" panose="02010600030101010101" pitchFamily="2" charset="-122"/>
              <a:cs typeface="+mn-cs"/>
            </a:endParaRPr>
          </a:p>
        </p:txBody>
      </p:sp>
    </p:spTree>
    <p:extLst>
      <p:ext uri="{BB962C8B-B14F-4D97-AF65-F5344CB8AC3E}">
        <p14:creationId xmlns:p14="http://schemas.microsoft.com/office/powerpoint/2010/main" val="419178603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119</a:t>
            </a:fld>
            <a:endParaRPr lang="zh-Hans" altLang="en-US"/>
          </a:p>
        </p:txBody>
      </p:sp>
    </p:spTree>
    <p:extLst>
      <p:ext uri="{BB962C8B-B14F-4D97-AF65-F5344CB8AC3E}">
        <p14:creationId xmlns:p14="http://schemas.microsoft.com/office/powerpoint/2010/main" val="75851207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B7248C-54A7-A1CC-9713-854F56AD3A3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E619D41-9E30-9217-7150-B9C29EF752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F7C6361-2F18-63A5-BEBD-3309719887A9}"/>
              </a:ext>
            </a:extLst>
          </p:cNvPr>
          <p:cNvSpPr>
            <a:spLocks noGrp="1"/>
          </p:cNvSpPr>
          <p:nvPr>
            <p:ph type="body" idx="1"/>
          </p:nvPr>
        </p:nvSpPr>
        <p:spPr/>
        <p:txBody>
          <a:bodyPr/>
          <a:lstStyle/>
          <a:p>
            <a:r>
              <a:rPr lang="en-US"/>
              <a:t>Flex options</a:t>
            </a:r>
            <a:r>
              <a:rPr lang="zh-CN" altLang="en-US"/>
              <a:t>的单子不会</a:t>
            </a:r>
            <a:r>
              <a:rPr lang="en-US" altLang="zh-CN"/>
              <a:t>rewrite</a:t>
            </a:r>
            <a:r>
              <a:rPr lang="zh-CN" altLang="en-US"/>
              <a:t>，</a:t>
            </a:r>
            <a:r>
              <a:rPr lang="en-US" altLang="zh-CN"/>
              <a:t>rewrite </a:t>
            </a:r>
            <a:r>
              <a:rPr lang="zh-CN" altLang="en-US"/>
              <a:t>只延长不缩短，</a:t>
            </a:r>
            <a:r>
              <a:rPr lang="en-US" altLang="zh-CN"/>
              <a:t>SOR in scope</a:t>
            </a:r>
            <a:r>
              <a:rPr lang="zh-CN" altLang="en-US"/>
              <a:t>（少分录</a:t>
            </a:r>
            <a:r>
              <a:rPr lang="en-US" altLang="zh-CN"/>
              <a:t>Eddison </a:t>
            </a:r>
            <a:r>
              <a:rPr lang="zh-CN" altLang="en-US"/>
              <a:t>要提供）</a:t>
            </a:r>
            <a:endParaRPr lang="en-US" altLang="zh-CN"/>
          </a:p>
          <a:p>
            <a:r>
              <a:rPr lang="en-US"/>
              <a:t>If non-funded premier support from 37</a:t>
            </a:r>
            <a:r>
              <a:rPr lang="en-US" baseline="30000"/>
              <a:t>th</a:t>
            </a:r>
            <a:r>
              <a:rPr lang="en-US"/>
              <a:t> </a:t>
            </a:r>
          </a:p>
        </p:txBody>
      </p:sp>
      <p:sp>
        <p:nvSpPr>
          <p:cNvPr id="4" name="Slide Number Placeholder 3">
            <a:extLst>
              <a:ext uri="{FF2B5EF4-FFF2-40B4-BE49-F238E27FC236}">
                <a16:creationId xmlns:a16="http://schemas.microsoft.com/office/drawing/2014/main" id="{FB78CEC7-3CDB-CD6F-AE2C-27897F49DB8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CD7C6C-628C-4A66-96CF-D2300D9F95A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198477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Input: </a:t>
            </a:r>
            <a:r>
              <a:rPr lang="zh-CN" altLang="en-US"/>
              <a:t>需要</a:t>
            </a:r>
            <a:r>
              <a:rPr lang="en-US" altLang="zh-CN"/>
              <a:t>Rewrite </a:t>
            </a:r>
            <a:r>
              <a:rPr lang="zh-CN" altLang="en-US"/>
              <a:t>生效开始时间。</a:t>
            </a:r>
            <a:endParaRPr lang="en-US" altLang="zh-CN"/>
          </a:p>
          <a:p>
            <a:r>
              <a:rPr lang="zh-CN" altLang="en-US"/>
              <a:t>怎么进行</a:t>
            </a:r>
            <a:r>
              <a:rPr lang="en-US" altLang="zh-CN"/>
              <a:t>Rounding?</a:t>
            </a:r>
            <a:endParaRPr lang="zh-CN" altLang="en-US"/>
          </a:p>
        </p:txBody>
      </p:sp>
      <p:sp>
        <p:nvSpPr>
          <p:cNvPr id="4" name="灯片编号占位符 3"/>
          <p:cNvSpPr>
            <a:spLocks noGrp="1"/>
          </p:cNvSpPr>
          <p:nvPr>
            <p:ph type="sldNum" sz="quarter" idx="5"/>
          </p:nvPr>
        </p:nvSpPr>
        <p:spPr/>
        <p:txBody>
          <a:bodyPr/>
          <a:lstStyle/>
          <a:p>
            <a:fld id="{4AED87EB-65D7-4500-873C-410831173A82}" type="slidenum">
              <a:rPr lang="en-US" smtClean="0"/>
              <a:pPr/>
              <a:t>129</a:t>
            </a:fld>
            <a:endParaRPr lang="en-US"/>
          </a:p>
        </p:txBody>
      </p:sp>
    </p:spTree>
    <p:extLst>
      <p:ext uri="{BB962C8B-B14F-4D97-AF65-F5344CB8AC3E}">
        <p14:creationId xmlns:p14="http://schemas.microsoft.com/office/powerpoint/2010/main" val="150110071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左边是</a:t>
            </a:r>
            <a:r>
              <a:rPr lang="en-US" altLang="zh-CN"/>
              <a:t>S&amp;D OL </a:t>
            </a:r>
            <a:r>
              <a:rPr lang="zh-CN" altLang="en-US"/>
              <a:t>正常期间的分录</a:t>
            </a:r>
            <a:endParaRPr lang="en-US" altLang="zh-CN"/>
          </a:p>
          <a:p>
            <a:r>
              <a:rPr lang="en-US" altLang="zh-CN"/>
              <a:t>Odessa should enable to do mid term rewrite entry and adjust depreciation amt after rewrite</a:t>
            </a:r>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130</a:t>
            </a:fld>
            <a:endParaRPr lang="zh-Hans" altLang="en-US"/>
          </a:p>
        </p:txBody>
      </p:sp>
    </p:spTree>
    <p:extLst>
      <p:ext uri="{BB962C8B-B14F-4D97-AF65-F5344CB8AC3E}">
        <p14:creationId xmlns:p14="http://schemas.microsoft.com/office/powerpoint/2010/main" val="340083160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a:latin typeface="Arial"/>
                <a:ea typeface="等线"/>
                <a:cs typeface="Arial"/>
              </a:rPr>
              <a:t>AFE Operating lease </a:t>
            </a:r>
            <a:r>
              <a:rPr lang="zh-CN" altLang="en-US">
                <a:latin typeface="Arial"/>
                <a:ea typeface="等线"/>
                <a:cs typeface="Arial"/>
              </a:rPr>
              <a:t>正常期间分录</a:t>
            </a:r>
            <a:endParaRPr lang="en-US" altLang="zh-CN">
              <a:latin typeface="Arial"/>
              <a:ea typeface="等线"/>
              <a:cs typeface="Arial"/>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1A0E1FA-C7A6-400E-8DA1-CA68AB877A89}"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14299796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BB47C5-740E-207C-EDBE-EB5199717F9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7FDD5A3-854D-FCD1-B689-A3B64A3AD5F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C99765A-44A7-1E70-635C-CC499629BECC}"/>
              </a:ext>
            </a:extLst>
          </p:cNvPr>
          <p:cNvSpPr>
            <a:spLocks noGrp="1"/>
          </p:cNvSpPr>
          <p:nvPr>
            <p:ph type="body" idx="1"/>
          </p:nvPr>
        </p:nvSpPr>
        <p:spPr/>
        <p:txBody>
          <a:bodyPr/>
          <a:lstStyle/>
          <a:p>
            <a:r>
              <a:rPr lang="en-US" altLang="zh-CN"/>
              <a:t>Odessa should enable to do mid term rewrite entry and adjust depreciation amt after rewrite</a:t>
            </a:r>
            <a:endParaRPr lang="zh-CN" altLang="en-US"/>
          </a:p>
        </p:txBody>
      </p:sp>
      <p:sp>
        <p:nvSpPr>
          <p:cNvPr id="4" name="灯片编号占位符 3">
            <a:extLst>
              <a:ext uri="{FF2B5EF4-FFF2-40B4-BE49-F238E27FC236}">
                <a16:creationId xmlns:a16="http://schemas.microsoft.com/office/drawing/2014/main" id="{7DF23A16-0582-E926-B92D-91AC6B198378}"/>
              </a:ext>
            </a:extLst>
          </p:cNvPr>
          <p:cNvSpPr>
            <a:spLocks noGrp="1"/>
          </p:cNvSpPr>
          <p:nvPr>
            <p:ph type="sldNum" sz="quarter" idx="5"/>
          </p:nvPr>
        </p:nvSpPr>
        <p:spPr/>
        <p:txBody>
          <a:bodyPr/>
          <a:lstStyle/>
          <a:p>
            <a:fld id="{9FCD7C6C-628C-4A66-96CF-D2300D9F95AC}" type="slidenum">
              <a:rPr lang="en-US" altLang="zh-Hans" smtClean="0"/>
              <a:t>132</a:t>
            </a:fld>
            <a:endParaRPr lang="zh-Hans" altLang="en-US"/>
          </a:p>
        </p:txBody>
      </p:sp>
    </p:spTree>
    <p:extLst>
      <p:ext uri="{BB962C8B-B14F-4D97-AF65-F5344CB8AC3E}">
        <p14:creationId xmlns:p14="http://schemas.microsoft.com/office/powerpoint/2010/main" val="363330416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S&amp;D Finance lease </a:t>
            </a:r>
            <a:r>
              <a:rPr lang="zh-CN" altLang="en-US"/>
              <a:t>原期间的分录</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133</a:t>
            </a:fld>
            <a:endParaRPr lang="zh-Hans" altLang="en-US"/>
          </a:p>
        </p:txBody>
      </p:sp>
    </p:spTree>
    <p:extLst>
      <p:ext uri="{BB962C8B-B14F-4D97-AF65-F5344CB8AC3E}">
        <p14:creationId xmlns:p14="http://schemas.microsoft.com/office/powerpoint/2010/main" val="402910372"/>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ea typeface="Calibri"/>
                <a:cs typeface="Calibri"/>
              </a:rPr>
              <a:t>AFE Finance lease </a:t>
            </a:r>
            <a:r>
              <a:rPr lang="zh-CN" altLang="en-US">
                <a:ea typeface="Calibri"/>
                <a:cs typeface="Calibri"/>
              </a:rPr>
              <a:t>正常期间的分录</a:t>
            </a:r>
            <a:endParaRPr lang="en-US">
              <a:solidFill>
                <a:srgbClr val="444444"/>
              </a:solidFill>
            </a:endParaRPr>
          </a:p>
          <a:p>
            <a:endParaRPr lang="en-US">
              <a:ea typeface="Calibri"/>
              <a:cs typeface="Calibri"/>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1A0E1FA-C7A6-400E-8DA1-CA68AB877A89}"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63358886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D58C71-79E6-A142-14E7-789C61DDB8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8A9C89B-FA53-6A87-467C-3A42301A914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7EF53B8-2E06-20CE-7DE9-02A4C22F49F7}"/>
              </a:ext>
            </a:extLst>
          </p:cNvPr>
          <p:cNvSpPr>
            <a:spLocks noGrp="1"/>
          </p:cNvSpPr>
          <p:nvPr>
            <p:ph type="body" idx="1"/>
          </p:nvPr>
        </p:nvSpPr>
        <p:spPr/>
        <p:txBody>
          <a:bodyPr/>
          <a:lstStyle/>
          <a:p>
            <a:r>
              <a:rPr lang="en-US" altLang="zh-CN">
                <a:latin typeface="Arial"/>
                <a:ea typeface="等线"/>
                <a:cs typeface="Arial"/>
              </a:rPr>
              <a:t>FL/OL: Odessa SPLIT ENTRY: </a:t>
            </a:r>
          </a:p>
          <a:p>
            <a:r>
              <a:rPr lang="en-US" altLang="zh-CN">
                <a:latin typeface="Arial"/>
                <a:ea typeface="等线"/>
                <a:cs typeface="Arial"/>
              </a:rPr>
              <a:t>DR REV CR REV (第一个月）0.01 CA</a:t>
            </a:r>
          </a:p>
          <a:p>
            <a:r>
              <a:rPr lang="en-US" altLang="zh-CN">
                <a:latin typeface="Arial"/>
                <a:ea typeface="等线"/>
                <a:cs typeface="Arial"/>
              </a:rPr>
              <a:t>       DR COST CR COST (每个月）0.01 CA</a:t>
            </a:r>
          </a:p>
        </p:txBody>
      </p:sp>
      <p:sp>
        <p:nvSpPr>
          <p:cNvPr id="4" name="Slide Number Placeholder 3">
            <a:extLst>
              <a:ext uri="{FF2B5EF4-FFF2-40B4-BE49-F238E27FC236}">
                <a16:creationId xmlns:a16="http://schemas.microsoft.com/office/drawing/2014/main" id="{A1E4603A-A441-1F01-C8D9-505BA3428F7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1A0E1FA-C7A6-400E-8DA1-CA68AB877A89}"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83217446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C3D215-487D-0457-2F15-7ED60EEAE52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D8E367E-BB12-09A0-2A42-98941D976A3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B1AF0C2-3CBD-D89F-D0C4-3D59259002CA}"/>
              </a:ext>
            </a:extLst>
          </p:cNvPr>
          <p:cNvSpPr>
            <a:spLocks noGrp="1"/>
          </p:cNvSpPr>
          <p:nvPr>
            <p:ph type="body" idx="1"/>
          </p:nvPr>
        </p:nvSpPr>
        <p:spPr/>
        <p:txBody>
          <a:bodyPr/>
          <a:lstStyle/>
          <a:p>
            <a:r>
              <a:rPr lang="en-US" altLang="zh-CN"/>
              <a:t>Odessa should enable to do mid term rewrite entry and adjust depreciation amt after rewrite</a:t>
            </a:r>
            <a:endParaRPr lang="zh-CN" altLang="en-US"/>
          </a:p>
        </p:txBody>
      </p:sp>
      <p:sp>
        <p:nvSpPr>
          <p:cNvPr id="4" name="灯片编号占位符 3">
            <a:extLst>
              <a:ext uri="{FF2B5EF4-FFF2-40B4-BE49-F238E27FC236}">
                <a16:creationId xmlns:a16="http://schemas.microsoft.com/office/drawing/2014/main" id="{8E0E82D5-D988-FBF7-024D-05CB9A923C70}"/>
              </a:ext>
            </a:extLst>
          </p:cNvPr>
          <p:cNvSpPr>
            <a:spLocks noGrp="1"/>
          </p:cNvSpPr>
          <p:nvPr>
            <p:ph type="sldNum" sz="quarter" idx="5"/>
          </p:nvPr>
        </p:nvSpPr>
        <p:spPr/>
        <p:txBody>
          <a:bodyPr/>
          <a:lstStyle/>
          <a:p>
            <a:fld id="{9FCD7C6C-628C-4A66-96CF-D2300D9F95AC}" type="slidenum">
              <a:rPr lang="en-US" altLang="zh-Hans" smtClean="0"/>
              <a:t>137</a:t>
            </a:fld>
            <a:endParaRPr lang="zh-Hans" altLang="en-US"/>
          </a:p>
        </p:txBody>
      </p:sp>
    </p:spTree>
    <p:extLst>
      <p:ext uri="{BB962C8B-B14F-4D97-AF65-F5344CB8AC3E}">
        <p14:creationId xmlns:p14="http://schemas.microsoft.com/office/powerpoint/2010/main" val="3414546618"/>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DE3066-9DA0-D1E3-418A-BBD5FBA654F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8AC4DC-9109-F2EB-877C-4AD772DEBF0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7ECF44-09A6-DA58-7824-8B2FCC8E4F70}"/>
              </a:ext>
            </a:extLst>
          </p:cNvPr>
          <p:cNvSpPr>
            <a:spLocks noGrp="1"/>
          </p:cNvSpPr>
          <p:nvPr>
            <p:ph type="body" idx="1"/>
          </p:nvPr>
        </p:nvSpPr>
        <p:spPr/>
        <p:txBody>
          <a:bodyPr/>
          <a:lstStyle/>
          <a:p>
            <a:endParaRPr lang="en-US" altLang="zh-CN">
              <a:latin typeface="Arial"/>
              <a:ea typeface="等线"/>
              <a:cs typeface="Arial"/>
            </a:endParaRPr>
          </a:p>
        </p:txBody>
      </p:sp>
      <p:sp>
        <p:nvSpPr>
          <p:cNvPr id="4" name="Slide Number Placeholder 3">
            <a:extLst>
              <a:ext uri="{FF2B5EF4-FFF2-40B4-BE49-F238E27FC236}">
                <a16:creationId xmlns:a16="http://schemas.microsoft.com/office/drawing/2014/main" id="{A672BA43-A5F2-63BE-50F1-D341164A7DA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1A0E1FA-C7A6-400E-8DA1-CA68AB877A89}"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87052029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cs typeface="Calibri"/>
            </a:endParaRPr>
          </a:p>
          <a:p>
            <a:endParaRPr lang="en-US">
              <a:cs typeface="Calibri"/>
            </a:endParaRPr>
          </a:p>
          <a:p>
            <a:endParaRPr lang="en-US">
              <a:cs typeface="Calibri"/>
            </a:endParaRPr>
          </a:p>
          <a:p>
            <a:endParaRPr lang="en-US">
              <a:cs typeface="Calibri"/>
            </a:endParaRPr>
          </a:p>
          <a:p>
            <a:r>
              <a:rPr lang="en-US">
                <a:cs typeface="Calibri"/>
              </a:rPr>
              <a:t>Add </a:t>
            </a:r>
            <a:r>
              <a:rPr lang="en-US" err="1">
                <a:cs typeface="Calibri"/>
              </a:rPr>
              <a:t>Intergral</a:t>
            </a:r>
            <a:r>
              <a:rPr lang="en-US">
                <a:cs typeface="Calibri"/>
              </a:rPr>
              <a:t> to HW or something that is distinct to the hardware?</a:t>
            </a:r>
          </a:p>
          <a:p>
            <a:endParaRPr lang="en-US">
              <a:cs typeface="Calibri"/>
            </a:endParaRPr>
          </a:p>
          <a:p>
            <a:r>
              <a:rPr lang="en-US">
                <a:cs typeface="Calibri"/>
              </a:rPr>
              <a:t>Subscription- Microsoft Office (Comes with a periodic price (monthly, annually, etc.) also offer a one time cash price as a fall back position)</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9A1D90-E286-4175-9D83-FAF54238C39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60388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cs typeface="Calibri"/>
            </a:endParaRPr>
          </a:p>
          <a:p>
            <a:endParaRPr lang="en-US">
              <a:cs typeface="Calibri"/>
            </a:endParaRPr>
          </a:p>
          <a:p>
            <a:endParaRPr lang="en-US">
              <a:cs typeface="Calibri"/>
            </a:endParaRPr>
          </a:p>
          <a:p>
            <a:endParaRPr lang="en-US">
              <a:cs typeface="Calibri"/>
            </a:endParaRPr>
          </a:p>
          <a:p>
            <a:r>
              <a:rPr lang="en-US">
                <a:cs typeface="Calibri"/>
              </a:rPr>
              <a:t>Add </a:t>
            </a:r>
            <a:r>
              <a:rPr lang="en-US" err="1">
                <a:cs typeface="Calibri"/>
              </a:rPr>
              <a:t>Intergral</a:t>
            </a:r>
            <a:r>
              <a:rPr lang="en-US">
                <a:cs typeface="Calibri"/>
              </a:rPr>
              <a:t> to HW or something that is distinct to the hardware?</a:t>
            </a:r>
          </a:p>
          <a:p>
            <a:endParaRPr lang="en-US">
              <a:cs typeface="Calibri"/>
            </a:endParaRPr>
          </a:p>
          <a:p>
            <a:r>
              <a:rPr lang="en-US">
                <a:cs typeface="Calibri"/>
              </a:rPr>
              <a:t>Subscription- Microsoft Office (Comes with a periodic price (monthly, annually, etc.) also offer a one time cash price as a fall back position)</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9A1D90-E286-4175-9D83-FAF54238C39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411477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cs typeface="Calibri"/>
            </a:endParaRPr>
          </a:p>
          <a:p>
            <a:endParaRPr lang="en-US">
              <a:cs typeface="Calibri"/>
            </a:endParaRPr>
          </a:p>
          <a:p>
            <a:endParaRPr lang="en-US">
              <a:cs typeface="Calibri"/>
            </a:endParaRPr>
          </a:p>
          <a:p>
            <a:endParaRPr lang="en-US">
              <a:cs typeface="Calibri"/>
            </a:endParaRPr>
          </a:p>
          <a:p>
            <a:r>
              <a:rPr lang="en-US">
                <a:cs typeface="Calibri"/>
              </a:rPr>
              <a:t>Add </a:t>
            </a:r>
            <a:r>
              <a:rPr lang="en-US" err="1">
                <a:cs typeface="Calibri"/>
              </a:rPr>
              <a:t>Intergral</a:t>
            </a:r>
            <a:r>
              <a:rPr lang="en-US">
                <a:cs typeface="Calibri"/>
              </a:rPr>
              <a:t> to HW or something that is distinct to the hardware?</a:t>
            </a:r>
          </a:p>
          <a:p>
            <a:endParaRPr lang="en-US">
              <a:cs typeface="Calibri"/>
            </a:endParaRPr>
          </a:p>
          <a:p>
            <a:r>
              <a:rPr lang="en-US">
                <a:cs typeface="Calibri"/>
              </a:rPr>
              <a:t>Subscription- Microsoft Office (Comes with a periodic price (monthly, annually, etc.) also offer a one time cash price as a fall back position)</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9A1D90-E286-4175-9D83-FAF54238C39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9346447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1. </a:t>
            </a:r>
            <a:r>
              <a:rPr lang="zh-CN" altLang="en-US"/>
              <a:t>重写是否会影响</a:t>
            </a:r>
            <a:r>
              <a:rPr lang="en-US" altLang="zh-CN"/>
              <a:t>OLFL</a:t>
            </a:r>
            <a:r>
              <a:rPr lang="zh-CN" altLang="en-US"/>
              <a:t>判断？</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143</a:t>
            </a:fld>
            <a:endParaRPr lang="zh-Hans" altLang="en-US"/>
          </a:p>
        </p:txBody>
      </p:sp>
    </p:spTree>
    <p:extLst>
      <p:ext uri="{BB962C8B-B14F-4D97-AF65-F5344CB8AC3E}">
        <p14:creationId xmlns:p14="http://schemas.microsoft.com/office/powerpoint/2010/main" val="144086575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228600" indent="-228600">
              <a:buAutoNum type="arabicPeriod"/>
            </a:pPr>
            <a:r>
              <a:rPr lang="zh-CN" altLang="en-US"/>
              <a:t>重写之后是一个新的</a:t>
            </a:r>
            <a:r>
              <a:rPr lang="en-US" altLang="zh-CN"/>
              <a:t>tranche</a:t>
            </a:r>
            <a:r>
              <a:rPr lang="zh-CN" altLang="en-US"/>
              <a:t>，对于原来的</a:t>
            </a:r>
            <a:r>
              <a:rPr lang="en-US" altLang="zh-CN"/>
              <a:t>tranche</a:t>
            </a:r>
            <a:r>
              <a:rPr lang="zh-CN" altLang="en-US"/>
              <a:t>来说，</a:t>
            </a:r>
            <a:r>
              <a:rPr lang="en-US" altLang="zh-CN"/>
              <a:t>lease commence </a:t>
            </a:r>
            <a:r>
              <a:rPr lang="zh-CN" altLang="en-US"/>
              <a:t>那笔收入确认是否需要调整确认金额？</a:t>
            </a:r>
            <a:r>
              <a:rPr lang="en-US" altLang="zh-CN"/>
              <a:t>AR</a:t>
            </a:r>
            <a:r>
              <a:rPr lang="zh-CN" altLang="en-US"/>
              <a:t>就收不到原来这么多了，如何清账呢？</a:t>
            </a:r>
            <a:r>
              <a:rPr lang="en-US" altLang="zh-CN"/>
              <a:t>HW RV</a:t>
            </a:r>
            <a:r>
              <a:rPr lang="zh-CN" altLang="en-US"/>
              <a:t>金额重算的话，分录也要修改？</a:t>
            </a:r>
            <a:endParaRPr lang="en-US" altLang="zh-CN"/>
          </a:p>
          <a:p>
            <a:pPr marL="228600" indent="-228600">
              <a:buAutoNum type="arabicPeriod"/>
            </a:pPr>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144</a:t>
            </a:fld>
            <a:endParaRPr lang="zh-Hans" altLang="en-US"/>
          </a:p>
        </p:txBody>
      </p:sp>
    </p:spTree>
    <p:extLst>
      <p:ext uri="{BB962C8B-B14F-4D97-AF65-F5344CB8AC3E}">
        <p14:creationId xmlns:p14="http://schemas.microsoft.com/office/powerpoint/2010/main" val="940347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a:latin typeface="Lato" panose="020F0502020204030203" pitchFamily="34" charset="0"/>
                <a:ea typeface="Lato" panose="020F0502020204030203" pitchFamily="34" charset="0"/>
                <a:cs typeface="Lato" panose="020F0502020204030203" pitchFamily="34" charset="0"/>
              </a:rPr>
              <a:t>customized payment schedules, a </a:t>
            </a:r>
            <a:r>
              <a:rPr lang="en-US" altLang="zh-CN" sz="1200" b="1">
                <a:latin typeface="Lato" panose="020F0502020204030203" pitchFamily="34" charset="0"/>
                <a:ea typeface="Lato" panose="020F0502020204030203" pitchFamily="34" charset="0"/>
                <a:cs typeface="Lato" panose="020F0502020204030203" pitchFamily="34" charset="0"/>
              </a:rPr>
              <a:t>non-equal, flexible payment structure</a:t>
            </a:r>
            <a:r>
              <a:rPr lang="en-US" altLang="zh-CN" sz="1200">
                <a:latin typeface="Lato" panose="020F0502020204030203" pitchFamily="34" charset="0"/>
                <a:ea typeface="Lato" panose="020F0502020204030203" pitchFamily="34" charset="0"/>
                <a:cs typeface="Lato" panose="020F0502020204030203" pitchFamily="34" charset="0"/>
              </a:rPr>
              <a:t> </a:t>
            </a:r>
          </a:p>
          <a:p>
            <a:r>
              <a:rPr lang="zh-CN" altLang="en-US" sz="1200" b="1">
                <a:highlight>
                  <a:srgbClr val="00FFFF"/>
                </a:highlight>
                <a:latin typeface="Lato" panose="020F0502020204030203" pitchFamily="34" charset="0"/>
                <a:ea typeface="Lato" panose="020F0502020204030203" pitchFamily="34" charset="0"/>
                <a:cs typeface="Lato" panose="020F0502020204030203" pitchFamily="34" charset="0"/>
              </a:rPr>
              <a:t>第</a:t>
            </a:r>
            <a:r>
              <a:rPr lang="en-US" altLang="zh-CN" sz="1200" b="1">
                <a:highlight>
                  <a:srgbClr val="00FFFF"/>
                </a:highlight>
                <a:latin typeface="Lato" panose="020F0502020204030203" pitchFamily="34" charset="0"/>
                <a:ea typeface="Lato" panose="020F0502020204030203" pitchFamily="34" charset="0"/>
                <a:cs typeface="Lato" panose="020F0502020204030203" pitchFamily="34" charset="0"/>
              </a:rPr>
              <a:t>6</a:t>
            </a:r>
            <a:r>
              <a:rPr lang="zh-CN" altLang="en-US" sz="1200" b="1">
                <a:highlight>
                  <a:srgbClr val="00FFFF"/>
                </a:highlight>
                <a:latin typeface="Lato" panose="020F0502020204030203" pitchFamily="34" charset="0"/>
                <a:ea typeface="Lato" panose="020F0502020204030203" pitchFamily="34" charset="0"/>
                <a:cs typeface="Lato" panose="020F0502020204030203" pitchFamily="34" charset="0"/>
              </a:rPr>
              <a:t>条，是前端给到金额进行判断，</a:t>
            </a:r>
            <a:r>
              <a:rPr lang="en-US" altLang="zh-CN" sz="1200" b="1">
                <a:highlight>
                  <a:srgbClr val="00FFFF"/>
                </a:highlight>
                <a:latin typeface="Lato" panose="020F0502020204030203" pitchFamily="34" charset="0"/>
                <a:ea typeface="Lato" panose="020F0502020204030203" pitchFamily="34" charset="0"/>
                <a:cs typeface="Lato" panose="020F0502020204030203" pitchFamily="34" charset="0"/>
              </a:rPr>
              <a:t>nonfunded</a:t>
            </a:r>
            <a:r>
              <a:rPr lang="zh-CN" altLang="en-US" sz="1200" b="1">
                <a:highlight>
                  <a:srgbClr val="00FFFF"/>
                </a:highlight>
                <a:latin typeface="Lato" panose="020F0502020204030203" pitchFamily="34" charset="0"/>
                <a:ea typeface="Lato" panose="020F0502020204030203" pitchFamily="34" charset="0"/>
                <a:cs typeface="Lato" panose="020F0502020204030203" pitchFamily="34" charset="0"/>
              </a:rPr>
              <a:t>的是</a:t>
            </a:r>
            <a:r>
              <a:rPr lang="en-US" altLang="zh-CN" sz="1200" b="1">
                <a:highlight>
                  <a:srgbClr val="00FFFF"/>
                </a:highlight>
                <a:latin typeface="Lato" panose="020F0502020204030203" pitchFamily="34" charset="0"/>
                <a:ea typeface="Lato" panose="020F0502020204030203" pitchFamily="34" charset="0"/>
                <a:cs typeface="Lato" panose="020F0502020204030203" pitchFamily="34" charset="0"/>
              </a:rPr>
              <a:t>0</a:t>
            </a:r>
          </a:p>
          <a:p>
            <a:r>
              <a:rPr kumimoji="0" lang="en-US" altLang="zh-CN" sz="1200" i="0" u="none" strike="noStrike" kern="1200" cap="none" spc="0" normalizeH="0" baseline="0" noProof="0">
                <a:ln>
                  <a:noFill/>
                </a:ln>
                <a:solidFill>
                  <a:srgbClr val="000000"/>
                </a:solidFill>
                <a:effectLst/>
                <a:highlight>
                  <a:srgbClr val="FFFF00"/>
                </a:highlight>
                <a:uLnTx/>
                <a:uFillTx/>
                <a:latin typeface="Tenorite" panose="00000500000000000000" pitchFamily="2" charset="0"/>
                <a:ea typeface="黑体" panose="02010609060101010101" pitchFamily="49" charset="-122"/>
                <a:cs typeface="Arial" pitchFamily="34" charset="0"/>
              </a:rPr>
              <a:t>reference key 3,P0D</a:t>
            </a:r>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CN" smtClean="0"/>
              <a:t>145</a:t>
            </a:fld>
            <a:endParaRPr lang="zh-CN" altLang="en-US"/>
          </a:p>
        </p:txBody>
      </p:sp>
    </p:spTree>
    <p:extLst>
      <p:ext uri="{BB962C8B-B14F-4D97-AF65-F5344CB8AC3E}">
        <p14:creationId xmlns:p14="http://schemas.microsoft.com/office/powerpoint/2010/main" val="208696921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0FAAE4-46F3-5580-A54B-0FDA0074165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5B68384-7DB2-BA4C-DB7C-9F917E856A5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BC28D1F-A737-F8EE-FC43-EBA86F4A40F4}"/>
              </a:ext>
            </a:extLst>
          </p:cNvPr>
          <p:cNvSpPr>
            <a:spLocks noGrp="1"/>
          </p:cNvSpPr>
          <p:nvPr>
            <p:ph type="body" idx="1"/>
          </p:nvPr>
        </p:nvSpPr>
        <p:spPr/>
        <p:txBody>
          <a:bodyPr/>
          <a:lstStyle/>
          <a:p>
            <a:r>
              <a:rPr lang="en-US" altLang="zh-CN" sz="1200"/>
              <a:t>on a straight-line basis over the lease term.</a:t>
            </a:r>
          </a:p>
          <a:p>
            <a:r>
              <a:rPr lang="en-US" altLang="zh-CN" sz="1200"/>
              <a:t>e.g., customer discounts, monthly price adjustments, foreign exchange</a:t>
            </a:r>
          </a:p>
          <a:p>
            <a:r>
              <a:rPr lang="en-US" altLang="zh-CN" sz="1200"/>
              <a:t>Standard payment based on catalog price</a:t>
            </a:r>
            <a:endParaRPr lang="zh-CN" altLang="en-US"/>
          </a:p>
        </p:txBody>
      </p:sp>
      <p:sp>
        <p:nvSpPr>
          <p:cNvPr id="4" name="灯片编号占位符 3">
            <a:extLst>
              <a:ext uri="{FF2B5EF4-FFF2-40B4-BE49-F238E27FC236}">
                <a16:creationId xmlns:a16="http://schemas.microsoft.com/office/drawing/2014/main" id="{A9BFBFA2-4244-7153-DF03-D43BF54F6EA2}"/>
              </a:ext>
            </a:extLst>
          </p:cNvPr>
          <p:cNvSpPr>
            <a:spLocks noGrp="1"/>
          </p:cNvSpPr>
          <p:nvPr>
            <p:ph type="sldNum" sz="quarter" idx="5"/>
          </p:nvPr>
        </p:nvSpPr>
        <p:spPr/>
        <p:txBody>
          <a:bodyPr/>
          <a:lstStyle/>
          <a:p>
            <a:fld id="{9FCD7C6C-628C-4A66-96CF-D2300D9F95AC}" type="slidenum">
              <a:rPr lang="en-US" altLang="zh-CN" smtClean="0"/>
              <a:t>146</a:t>
            </a:fld>
            <a:endParaRPr lang="zh-CN" altLang="en-US"/>
          </a:p>
        </p:txBody>
      </p:sp>
    </p:spTree>
    <p:extLst>
      <p:ext uri="{BB962C8B-B14F-4D97-AF65-F5344CB8AC3E}">
        <p14:creationId xmlns:p14="http://schemas.microsoft.com/office/powerpoint/2010/main" val="2757061384"/>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开票开晚了，</a:t>
            </a:r>
            <a:r>
              <a:rPr lang="en-US" altLang="zh-CN"/>
              <a:t>defer</a:t>
            </a:r>
            <a:r>
              <a:rPr lang="zh-CN" altLang="en-US"/>
              <a:t>不够了，依然要每月转收入，这种时候进</a:t>
            </a:r>
            <a:r>
              <a:rPr lang="en-US" altLang="zh-CN"/>
              <a:t>unbilled</a:t>
            </a:r>
            <a:r>
              <a:rPr lang="zh-CN" altLang="en-US"/>
              <a:t>吗？直接进</a:t>
            </a:r>
            <a:r>
              <a:rPr lang="en-US" altLang="zh-CN"/>
              <a:t>revenue</a:t>
            </a:r>
            <a:r>
              <a:rPr lang="zh-CN" altLang="en-US"/>
              <a:t>。</a:t>
            </a:r>
          </a:p>
        </p:txBody>
      </p:sp>
      <p:sp>
        <p:nvSpPr>
          <p:cNvPr id="4" name="灯片编号占位符 3"/>
          <p:cNvSpPr>
            <a:spLocks noGrp="1"/>
          </p:cNvSpPr>
          <p:nvPr>
            <p:ph type="sldNum" sz="quarter" idx="5"/>
          </p:nvPr>
        </p:nvSpPr>
        <p:spPr/>
        <p:txBody>
          <a:bodyPr/>
          <a:lstStyle/>
          <a:p>
            <a:fld id="{9FCD7C6C-628C-4A66-96CF-D2300D9F95AC}" type="slidenum">
              <a:rPr lang="en-US" altLang="zh-Hans" smtClean="0"/>
              <a:t>147</a:t>
            </a:fld>
            <a:endParaRPr lang="zh-Hans" altLang="en-US"/>
          </a:p>
        </p:txBody>
      </p:sp>
    </p:spTree>
    <p:extLst>
      <p:ext uri="{BB962C8B-B14F-4D97-AF65-F5344CB8AC3E}">
        <p14:creationId xmlns:p14="http://schemas.microsoft.com/office/powerpoint/2010/main" val="195597468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16332B-4704-AFEE-09CB-9CEF468805C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050CE82-263D-31D6-65EE-EFBB6B845E0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ECF23DA-C010-7B84-EE34-6EE94A9EB74C}"/>
              </a:ext>
            </a:extLst>
          </p:cNvPr>
          <p:cNvSpPr>
            <a:spLocks noGrp="1"/>
          </p:cNvSpPr>
          <p:nvPr>
            <p:ph type="body" idx="1"/>
          </p:nvPr>
        </p:nvSpPr>
        <p:spPr/>
        <p:txBody>
          <a:bodyPr/>
          <a:lstStyle/>
          <a:p>
            <a:r>
              <a:rPr lang="zh-CN" altLang="en-US"/>
              <a:t>前端表里只存</a:t>
            </a:r>
            <a:r>
              <a:rPr lang="en-US" altLang="zh-CN"/>
              <a:t>unit price</a:t>
            </a:r>
            <a:r>
              <a:rPr lang="zh-CN" altLang="en-US"/>
              <a:t>。在</a:t>
            </a:r>
            <a:r>
              <a:rPr lang="en-US" altLang="zh-CN"/>
              <a:t>SO</a:t>
            </a:r>
            <a:r>
              <a:rPr lang="zh-CN" altLang="en-US"/>
              <a:t>的表里存的。</a:t>
            </a:r>
            <a:endParaRPr lang="en-US" altLang="zh-CN"/>
          </a:p>
          <a:p>
            <a:r>
              <a:rPr lang="en-US" altLang="zh-CN"/>
              <a:t>ET</a:t>
            </a:r>
            <a:r>
              <a:rPr lang="zh-CN" altLang="en-US"/>
              <a:t>开的票就是金额</a:t>
            </a:r>
            <a:endParaRPr lang="en-US" altLang="zh-CN"/>
          </a:p>
        </p:txBody>
      </p:sp>
      <p:sp>
        <p:nvSpPr>
          <p:cNvPr id="4" name="灯片编号占位符 3">
            <a:extLst>
              <a:ext uri="{FF2B5EF4-FFF2-40B4-BE49-F238E27FC236}">
                <a16:creationId xmlns:a16="http://schemas.microsoft.com/office/drawing/2014/main" id="{BA065660-B742-4A1C-6D04-4C6AD9EB54F9}"/>
              </a:ext>
            </a:extLst>
          </p:cNvPr>
          <p:cNvSpPr>
            <a:spLocks noGrp="1"/>
          </p:cNvSpPr>
          <p:nvPr>
            <p:ph type="sldNum" sz="quarter" idx="5"/>
          </p:nvPr>
        </p:nvSpPr>
        <p:spPr/>
        <p:txBody>
          <a:bodyPr/>
          <a:lstStyle/>
          <a:p>
            <a:fld id="{9FCD7C6C-628C-4A66-96CF-D2300D9F95AC}" type="slidenum">
              <a:rPr lang="en-US" altLang="zh-CN" smtClean="0"/>
              <a:t>148</a:t>
            </a:fld>
            <a:endParaRPr lang="zh-CN" altLang="en-US"/>
          </a:p>
        </p:txBody>
      </p:sp>
    </p:spTree>
    <p:extLst>
      <p:ext uri="{BB962C8B-B14F-4D97-AF65-F5344CB8AC3E}">
        <p14:creationId xmlns:p14="http://schemas.microsoft.com/office/powerpoint/2010/main" val="242745906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CDB7F5-52C2-47AE-454B-B99415D78E7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EE20AEE-EF8D-7A1F-FFB3-9C1917BC789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43340F3-450E-8D83-E5AC-B3E84B1F9033}"/>
              </a:ext>
            </a:extLst>
          </p:cNvPr>
          <p:cNvSpPr>
            <a:spLocks noGrp="1"/>
          </p:cNvSpPr>
          <p:nvPr>
            <p:ph type="body" idx="1"/>
          </p:nvPr>
        </p:nvSpPr>
        <p:spPr/>
        <p:txBody>
          <a:bodyPr/>
          <a:lstStyle/>
          <a:p>
            <a:r>
              <a:rPr lang="en-US" altLang="zh-CN"/>
              <a:t>structured payments do not affect P&amp;L account amounts </a:t>
            </a:r>
          </a:p>
        </p:txBody>
      </p:sp>
      <p:sp>
        <p:nvSpPr>
          <p:cNvPr id="4" name="灯片编号占位符 3">
            <a:extLst>
              <a:ext uri="{FF2B5EF4-FFF2-40B4-BE49-F238E27FC236}">
                <a16:creationId xmlns:a16="http://schemas.microsoft.com/office/drawing/2014/main" id="{2D7213A2-DF9F-2EFB-1E8D-28DB7BA1402E}"/>
              </a:ext>
            </a:extLst>
          </p:cNvPr>
          <p:cNvSpPr>
            <a:spLocks noGrp="1"/>
          </p:cNvSpPr>
          <p:nvPr>
            <p:ph type="sldNum" sz="quarter" idx="5"/>
          </p:nvPr>
        </p:nvSpPr>
        <p:spPr/>
        <p:txBody>
          <a:bodyPr/>
          <a:lstStyle/>
          <a:p>
            <a:fld id="{9FCD7C6C-628C-4A66-96CF-D2300D9F95AC}" type="slidenum">
              <a:rPr lang="en-US" altLang="zh-CN" smtClean="0"/>
              <a:t>149</a:t>
            </a:fld>
            <a:endParaRPr lang="zh-CN" altLang="en-US"/>
          </a:p>
        </p:txBody>
      </p:sp>
    </p:spTree>
    <p:extLst>
      <p:ext uri="{BB962C8B-B14F-4D97-AF65-F5344CB8AC3E}">
        <p14:creationId xmlns:p14="http://schemas.microsoft.com/office/powerpoint/2010/main" val="424502715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95966F-6005-6CB0-C959-A26D8990AAC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3C953C4-E79F-B269-A4F7-430EA4A8BA1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D1C7FB9-E1F5-8E6D-630A-355BAD2BEC21}"/>
              </a:ext>
            </a:extLst>
          </p:cNvPr>
          <p:cNvSpPr>
            <a:spLocks noGrp="1"/>
          </p:cNvSpPr>
          <p:nvPr>
            <p:ph type="body" idx="1"/>
          </p:nvPr>
        </p:nvSpPr>
        <p:spPr/>
        <p:txBody>
          <a:bodyPr/>
          <a:lstStyle/>
          <a:p>
            <a:r>
              <a:rPr lang="en-US" altLang="zh-CN" sz="1200"/>
              <a:t>e.g., customer discounts, monthly price adjustments, foreign exchange</a:t>
            </a:r>
          </a:p>
          <a:p>
            <a:r>
              <a:rPr lang="en-US" altLang="zh-CN" sz="1200"/>
              <a:t>Standard payment based on catalog price</a:t>
            </a:r>
          </a:p>
          <a:p>
            <a:r>
              <a:rPr lang="zh-CN" altLang="en-US" sz="1200"/>
              <a:t>有退回一部分的情况，退还给客户，按照</a:t>
            </a:r>
            <a:r>
              <a:rPr lang="en-US" altLang="zh-CN" sz="1200"/>
              <a:t>PN level</a:t>
            </a:r>
            <a:r>
              <a:rPr lang="zh-CN" altLang="en-US" sz="1200"/>
              <a:t>，如果需要多</a:t>
            </a:r>
            <a:r>
              <a:rPr lang="en-US" altLang="zh-CN" sz="1200"/>
              <a:t>charge</a:t>
            </a:r>
            <a:r>
              <a:rPr lang="zh-CN" altLang="en-US" sz="1200"/>
              <a:t>，就直接</a:t>
            </a:r>
            <a:r>
              <a:rPr lang="en-US" altLang="zh-CN" sz="1200"/>
              <a:t>charge </a:t>
            </a:r>
            <a:r>
              <a:rPr lang="zh-CN" altLang="en-US" sz="1200"/>
              <a:t>差额那部分，也是</a:t>
            </a:r>
            <a:r>
              <a:rPr lang="en-US" altLang="zh-CN" sz="1200" err="1"/>
              <a:t>Pnlevel</a:t>
            </a:r>
            <a:r>
              <a:rPr lang="zh-CN" altLang="en-US" sz="1200"/>
              <a:t>。</a:t>
            </a:r>
            <a:endParaRPr lang="en-US" altLang="zh-CN" sz="1200"/>
          </a:p>
          <a:p>
            <a:pPr lvl="0">
              <a:lnSpc>
                <a:spcPct val="150000"/>
              </a:lnSpc>
              <a:defRPr/>
            </a:pPr>
            <a:r>
              <a:rPr lang="en-US" altLang="zh-CN" sz="1200">
                <a:highlight>
                  <a:srgbClr val="FFFF00"/>
                </a:highlight>
              </a:rPr>
              <a:t>Partial CMR</a:t>
            </a:r>
            <a:r>
              <a:rPr lang="zh-CN" altLang="en-US" sz="1200">
                <a:highlight>
                  <a:srgbClr val="FFFF00"/>
                </a:highlight>
              </a:rPr>
              <a:t>（</a:t>
            </a:r>
            <a:r>
              <a:rPr lang="en-US" altLang="zh-CN" sz="1200">
                <a:highlight>
                  <a:srgbClr val="FFFF00"/>
                </a:highlight>
              </a:rPr>
              <a:t>miss SLA</a:t>
            </a:r>
            <a:r>
              <a:rPr lang="zh-CN" altLang="en-US" sz="1200">
                <a:highlight>
                  <a:srgbClr val="FFFF00"/>
                </a:highlight>
              </a:rPr>
              <a:t>），因服务未达标，在某个</a:t>
            </a:r>
            <a:r>
              <a:rPr lang="en-US" altLang="zh-CN" sz="1200">
                <a:highlight>
                  <a:srgbClr val="FFFF00"/>
                </a:highlight>
              </a:rPr>
              <a:t>Service Item</a:t>
            </a:r>
            <a:r>
              <a:rPr lang="zh-CN" altLang="en-US" sz="1200">
                <a:highlight>
                  <a:srgbClr val="FFFF00"/>
                </a:highlight>
              </a:rPr>
              <a:t>上做部分冲销。</a:t>
            </a:r>
            <a:r>
              <a:rPr lang="zh-CN" altLang="en-US" sz="1200">
                <a:highlight>
                  <a:srgbClr val="00FFFF"/>
                </a:highlight>
              </a:rPr>
              <a:t>是针对</a:t>
            </a:r>
            <a:r>
              <a:rPr lang="en-US" altLang="zh-CN" sz="1200">
                <a:highlight>
                  <a:srgbClr val="00FFFF"/>
                </a:highlight>
              </a:rPr>
              <a:t>Bundle</a:t>
            </a:r>
            <a:r>
              <a:rPr lang="zh-CN" altLang="en-US" sz="1200">
                <a:highlight>
                  <a:srgbClr val="00FFFF"/>
                </a:highlight>
              </a:rPr>
              <a:t>下的某个</a:t>
            </a:r>
            <a:r>
              <a:rPr lang="en-US" altLang="zh-CN" sz="1200">
                <a:highlight>
                  <a:srgbClr val="00FFFF"/>
                </a:highlight>
              </a:rPr>
              <a:t>Item</a:t>
            </a:r>
            <a:r>
              <a:rPr lang="zh-CN" altLang="en-US" sz="1200">
                <a:highlight>
                  <a:srgbClr val="00FFFF"/>
                </a:highlight>
              </a:rPr>
              <a:t>某个</a:t>
            </a:r>
            <a:r>
              <a:rPr lang="en-US" altLang="zh-CN" sz="1200">
                <a:highlight>
                  <a:srgbClr val="00FFFF"/>
                </a:highlight>
              </a:rPr>
              <a:t>service item</a:t>
            </a:r>
            <a:r>
              <a:rPr lang="zh-CN" altLang="en-US" sz="1200">
                <a:highlight>
                  <a:srgbClr val="00FFFF"/>
                </a:highlight>
              </a:rPr>
              <a:t>上去开，一定是</a:t>
            </a:r>
            <a:r>
              <a:rPr lang="en-US" altLang="zh-CN" sz="1200">
                <a:highlight>
                  <a:srgbClr val="00FFFF"/>
                </a:highlight>
              </a:rPr>
              <a:t>service</a:t>
            </a:r>
            <a:r>
              <a:rPr lang="zh-CN" altLang="en-US" sz="1200">
                <a:highlight>
                  <a:srgbClr val="00FFFF"/>
                </a:highlight>
              </a:rPr>
              <a:t>，不影响</a:t>
            </a:r>
            <a:r>
              <a:rPr lang="en-US" altLang="zh-CN" sz="1200">
                <a:highlight>
                  <a:srgbClr val="00FFFF"/>
                </a:highlight>
              </a:rPr>
              <a:t>HW funded item</a:t>
            </a:r>
            <a:r>
              <a:rPr lang="zh-CN" altLang="en-US" sz="1200">
                <a:highlight>
                  <a:srgbClr val="00FFFF"/>
                </a:highlight>
              </a:rPr>
              <a:t>。不影响标杆金额。</a:t>
            </a:r>
            <a:endParaRPr lang="en-US" altLang="zh-CN" sz="1200">
              <a:highlight>
                <a:srgbClr val="00FFFF"/>
              </a:highlight>
            </a:endParaRPr>
          </a:p>
          <a:p>
            <a:pPr lvl="0">
              <a:lnSpc>
                <a:spcPct val="150000"/>
              </a:lnSpc>
              <a:defRPr/>
            </a:pPr>
            <a:r>
              <a:rPr lang="en-US" altLang="zh-CN" sz="1200" b="1">
                <a:highlight>
                  <a:srgbClr val="00FFFF"/>
                </a:highlight>
              </a:rPr>
              <a:t>Accounting</a:t>
            </a:r>
            <a:r>
              <a:rPr lang="zh-CN" altLang="en-US" sz="1200" b="1">
                <a:highlight>
                  <a:srgbClr val="00FFFF"/>
                </a:highlight>
              </a:rPr>
              <a:t>要求：</a:t>
            </a:r>
            <a:r>
              <a:rPr lang="zh-CN" altLang="en-US" sz="1200">
                <a:highlight>
                  <a:srgbClr val="00FFFF"/>
                </a:highlight>
              </a:rPr>
              <a:t> </a:t>
            </a:r>
            <a:r>
              <a:rPr lang="en-US" altLang="zh-CN" sz="1200">
                <a:highlight>
                  <a:srgbClr val="00FFFF"/>
                </a:highlight>
              </a:rPr>
              <a:t>CMR</a:t>
            </a:r>
            <a:r>
              <a:rPr lang="zh-CN" altLang="en-US" sz="1200">
                <a:highlight>
                  <a:srgbClr val="00FFFF"/>
                </a:highlight>
              </a:rPr>
              <a:t>当期发生必须当期确认。</a:t>
            </a:r>
            <a:r>
              <a:rPr lang="en-US" b="1" err="1">
                <a:highlight>
                  <a:srgbClr val="00FFFF"/>
                </a:highlight>
              </a:rPr>
              <a:t>业务要做CMR的时候</a:t>
            </a:r>
            <a:r>
              <a:rPr lang="en-US" b="1">
                <a:highlight>
                  <a:srgbClr val="00FFFF"/>
                </a:highlight>
              </a:rPr>
              <a:t> </a:t>
            </a:r>
            <a:r>
              <a:rPr lang="en-US" b="1" err="1">
                <a:highlight>
                  <a:srgbClr val="00FFFF"/>
                </a:highlight>
              </a:rPr>
              <a:t>标记这种CMR的原因是</a:t>
            </a:r>
            <a:r>
              <a:rPr lang="en-US" b="1">
                <a:highlight>
                  <a:srgbClr val="00FFFF"/>
                </a:highlight>
              </a:rPr>
              <a:t> SLA,  </a:t>
            </a:r>
            <a:r>
              <a:rPr lang="en-US" b="1" err="1">
                <a:highlight>
                  <a:srgbClr val="00FFFF"/>
                </a:highlight>
              </a:rPr>
              <a:t>上游需要把标记传递给</a:t>
            </a:r>
            <a:r>
              <a:rPr lang="en-US" b="1">
                <a:highlight>
                  <a:srgbClr val="00FFFF"/>
                </a:highlight>
              </a:rPr>
              <a:t> FI IT</a:t>
            </a:r>
            <a:endParaRPr lang="en-US" altLang="zh-CN" sz="1200" b="1">
              <a:highlight>
                <a:srgbClr val="00FFFF"/>
              </a:highlight>
            </a:endParaRPr>
          </a:p>
          <a:p>
            <a:endParaRPr lang="zh-CN" altLang="en-US"/>
          </a:p>
        </p:txBody>
      </p:sp>
      <p:sp>
        <p:nvSpPr>
          <p:cNvPr id="4" name="灯片编号占位符 3">
            <a:extLst>
              <a:ext uri="{FF2B5EF4-FFF2-40B4-BE49-F238E27FC236}">
                <a16:creationId xmlns:a16="http://schemas.microsoft.com/office/drawing/2014/main" id="{FE640901-6B13-E97E-5C49-069757D8028D}"/>
              </a:ext>
            </a:extLst>
          </p:cNvPr>
          <p:cNvSpPr>
            <a:spLocks noGrp="1"/>
          </p:cNvSpPr>
          <p:nvPr>
            <p:ph type="sldNum" sz="quarter" idx="5"/>
          </p:nvPr>
        </p:nvSpPr>
        <p:spPr/>
        <p:txBody>
          <a:bodyPr/>
          <a:lstStyle/>
          <a:p>
            <a:fld id="{9FCD7C6C-628C-4A66-96CF-D2300D9F95AC}" type="slidenum">
              <a:rPr lang="en-US" altLang="zh-CN" smtClean="0"/>
              <a:t>151</a:t>
            </a:fld>
            <a:endParaRPr lang="zh-CN" altLang="en-US"/>
          </a:p>
        </p:txBody>
      </p:sp>
    </p:spTree>
    <p:extLst>
      <p:ext uri="{BB962C8B-B14F-4D97-AF65-F5344CB8AC3E}">
        <p14:creationId xmlns:p14="http://schemas.microsoft.com/office/powerpoint/2010/main" val="390507931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7F41A1-CBBB-52FA-BA08-5D5BB31AEDB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D9486B6-96E0-DED1-89EA-7AEC19A0EC1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5727C41-51BC-9BE2-F9DE-0E87BA7B447D}"/>
              </a:ext>
            </a:extLst>
          </p:cNvPr>
          <p:cNvSpPr>
            <a:spLocks noGrp="1"/>
          </p:cNvSpPr>
          <p:nvPr>
            <p:ph type="body" idx="1"/>
          </p:nvPr>
        </p:nvSpPr>
        <p:spPr/>
        <p:txBody>
          <a:bodyPr/>
          <a:lstStyle/>
          <a:p>
            <a:r>
              <a:rPr lang="en-US" altLang="zh-CN" sz="1200"/>
              <a:t>e.g., customer discounts, monthly price adjustments, foreign exchange</a:t>
            </a:r>
          </a:p>
          <a:p>
            <a:r>
              <a:rPr lang="en-US" altLang="zh-CN" sz="1200"/>
              <a:t>Standard payment based on catalog price</a:t>
            </a:r>
            <a:endParaRPr lang="zh-CN" altLang="en-US"/>
          </a:p>
        </p:txBody>
      </p:sp>
      <p:sp>
        <p:nvSpPr>
          <p:cNvPr id="4" name="灯片编号占位符 3">
            <a:extLst>
              <a:ext uri="{FF2B5EF4-FFF2-40B4-BE49-F238E27FC236}">
                <a16:creationId xmlns:a16="http://schemas.microsoft.com/office/drawing/2014/main" id="{B1FBD9C8-27A8-5E9A-2FDE-545D7E497952}"/>
              </a:ext>
            </a:extLst>
          </p:cNvPr>
          <p:cNvSpPr>
            <a:spLocks noGrp="1"/>
          </p:cNvSpPr>
          <p:nvPr>
            <p:ph type="sldNum" sz="quarter" idx="5"/>
          </p:nvPr>
        </p:nvSpPr>
        <p:spPr/>
        <p:txBody>
          <a:bodyPr/>
          <a:lstStyle/>
          <a:p>
            <a:fld id="{9FCD7C6C-628C-4A66-96CF-D2300D9F95AC}" type="slidenum">
              <a:rPr lang="en-US" altLang="zh-CN" smtClean="0"/>
              <a:t>152</a:t>
            </a:fld>
            <a:endParaRPr lang="zh-CN" altLang="en-US"/>
          </a:p>
        </p:txBody>
      </p:sp>
    </p:spTree>
    <p:extLst>
      <p:ext uri="{BB962C8B-B14F-4D97-AF65-F5344CB8AC3E}">
        <p14:creationId xmlns:p14="http://schemas.microsoft.com/office/powerpoint/2010/main" val="80111244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CB2317-D206-E7E0-7366-C71CC4CC78C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3260473-555D-593A-72F1-9FD2BB10FEE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C39A2A4-B96B-B654-BDAD-4CF6645E25FB}"/>
              </a:ext>
            </a:extLst>
          </p:cNvPr>
          <p:cNvSpPr>
            <a:spLocks noGrp="1"/>
          </p:cNvSpPr>
          <p:nvPr>
            <p:ph type="body" idx="1"/>
          </p:nvPr>
        </p:nvSpPr>
        <p:spPr/>
        <p:txBody>
          <a:bodyPr/>
          <a:lstStyle/>
          <a:p>
            <a:r>
              <a:rPr lang="en-US" altLang="zh-CN" sz="1200"/>
              <a:t>e.g., customer discounts, monthly price adjustments, foreign exchange</a:t>
            </a:r>
          </a:p>
          <a:p>
            <a:r>
              <a:rPr lang="en-US" altLang="zh-CN" sz="1200"/>
              <a:t>Standard payment based on catalog price</a:t>
            </a:r>
          </a:p>
          <a:p>
            <a:r>
              <a:rPr lang="zh-CN" altLang="en-US" sz="1200"/>
              <a:t>有退回一部分的情况，退还给客户，按照</a:t>
            </a:r>
            <a:r>
              <a:rPr lang="en-US" altLang="zh-CN" sz="1200"/>
              <a:t>PN level</a:t>
            </a:r>
            <a:r>
              <a:rPr lang="zh-CN" altLang="en-US" sz="1200"/>
              <a:t>，如果需要多</a:t>
            </a:r>
            <a:r>
              <a:rPr lang="en-US" altLang="zh-CN" sz="1200"/>
              <a:t>charge</a:t>
            </a:r>
            <a:r>
              <a:rPr lang="zh-CN" altLang="en-US" sz="1200"/>
              <a:t>，就直接</a:t>
            </a:r>
            <a:r>
              <a:rPr lang="en-US" altLang="zh-CN" sz="1200"/>
              <a:t>charge </a:t>
            </a:r>
            <a:r>
              <a:rPr lang="zh-CN" altLang="en-US" sz="1200"/>
              <a:t>差额那部分，也是</a:t>
            </a:r>
            <a:r>
              <a:rPr lang="en-US" altLang="zh-CN" sz="1200" err="1"/>
              <a:t>Pnlevel</a:t>
            </a:r>
            <a:r>
              <a:rPr lang="zh-CN" altLang="en-US" sz="1200"/>
              <a:t>。</a:t>
            </a:r>
            <a:endParaRPr lang="en-US" altLang="zh-CN" sz="1200"/>
          </a:p>
          <a:p>
            <a:pPr lvl="0">
              <a:lnSpc>
                <a:spcPct val="150000"/>
              </a:lnSpc>
              <a:defRPr/>
            </a:pPr>
            <a:r>
              <a:rPr lang="en-US" altLang="zh-CN" sz="1200">
                <a:highlight>
                  <a:srgbClr val="FFFF00"/>
                </a:highlight>
              </a:rPr>
              <a:t>Partial CMR</a:t>
            </a:r>
            <a:r>
              <a:rPr lang="zh-CN" altLang="en-US" sz="1200">
                <a:highlight>
                  <a:srgbClr val="FFFF00"/>
                </a:highlight>
              </a:rPr>
              <a:t>（</a:t>
            </a:r>
            <a:r>
              <a:rPr lang="en-US" altLang="zh-CN" sz="1200">
                <a:highlight>
                  <a:srgbClr val="FFFF00"/>
                </a:highlight>
              </a:rPr>
              <a:t>miss SLA</a:t>
            </a:r>
            <a:r>
              <a:rPr lang="zh-CN" altLang="en-US" sz="1200">
                <a:highlight>
                  <a:srgbClr val="FFFF00"/>
                </a:highlight>
              </a:rPr>
              <a:t>），因服务未达标，在某个</a:t>
            </a:r>
            <a:r>
              <a:rPr lang="en-US" altLang="zh-CN" sz="1200">
                <a:highlight>
                  <a:srgbClr val="FFFF00"/>
                </a:highlight>
              </a:rPr>
              <a:t>Service Item</a:t>
            </a:r>
            <a:r>
              <a:rPr lang="zh-CN" altLang="en-US" sz="1200">
                <a:highlight>
                  <a:srgbClr val="FFFF00"/>
                </a:highlight>
              </a:rPr>
              <a:t>上做部分冲销。</a:t>
            </a:r>
            <a:r>
              <a:rPr lang="zh-CN" altLang="en-US" sz="1200">
                <a:highlight>
                  <a:srgbClr val="00FFFF"/>
                </a:highlight>
              </a:rPr>
              <a:t>是针对</a:t>
            </a:r>
            <a:r>
              <a:rPr lang="en-US" altLang="zh-CN" sz="1200">
                <a:highlight>
                  <a:srgbClr val="00FFFF"/>
                </a:highlight>
              </a:rPr>
              <a:t>Bundle</a:t>
            </a:r>
            <a:r>
              <a:rPr lang="zh-CN" altLang="en-US" sz="1200">
                <a:highlight>
                  <a:srgbClr val="00FFFF"/>
                </a:highlight>
              </a:rPr>
              <a:t>下的某个</a:t>
            </a:r>
            <a:r>
              <a:rPr lang="en-US" altLang="zh-CN" sz="1200">
                <a:highlight>
                  <a:srgbClr val="00FFFF"/>
                </a:highlight>
              </a:rPr>
              <a:t>Item</a:t>
            </a:r>
            <a:r>
              <a:rPr lang="zh-CN" altLang="en-US" sz="1200">
                <a:highlight>
                  <a:srgbClr val="00FFFF"/>
                </a:highlight>
              </a:rPr>
              <a:t>某个</a:t>
            </a:r>
            <a:r>
              <a:rPr lang="en-US" altLang="zh-CN" sz="1200">
                <a:highlight>
                  <a:srgbClr val="00FFFF"/>
                </a:highlight>
              </a:rPr>
              <a:t>service item</a:t>
            </a:r>
            <a:r>
              <a:rPr lang="zh-CN" altLang="en-US" sz="1200">
                <a:highlight>
                  <a:srgbClr val="00FFFF"/>
                </a:highlight>
              </a:rPr>
              <a:t>上去开，一定是</a:t>
            </a:r>
            <a:r>
              <a:rPr lang="en-US" altLang="zh-CN" sz="1200">
                <a:highlight>
                  <a:srgbClr val="00FFFF"/>
                </a:highlight>
              </a:rPr>
              <a:t>service</a:t>
            </a:r>
            <a:r>
              <a:rPr lang="zh-CN" altLang="en-US" sz="1200">
                <a:highlight>
                  <a:srgbClr val="00FFFF"/>
                </a:highlight>
              </a:rPr>
              <a:t>，不影响</a:t>
            </a:r>
            <a:r>
              <a:rPr lang="en-US" altLang="zh-CN" sz="1200">
                <a:highlight>
                  <a:srgbClr val="00FFFF"/>
                </a:highlight>
              </a:rPr>
              <a:t>HW funded item</a:t>
            </a:r>
            <a:r>
              <a:rPr lang="zh-CN" altLang="en-US" sz="1200">
                <a:highlight>
                  <a:srgbClr val="00FFFF"/>
                </a:highlight>
              </a:rPr>
              <a:t>。不影响标杆金额。</a:t>
            </a:r>
            <a:endParaRPr lang="en-US" altLang="zh-CN" sz="1200">
              <a:highlight>
                <a:srgbClr val="00FFFF"/>
              </a:highlight>
            </a:endParaRPr>
          </a:p>
          <a:p>
            <a:pPr lvl="0">
              <a:lnSpc>
                <a:spcPct val="150000"/>
              </a:lnSpc>
              <a:defRPr/>
            </a:pPr>
            <a:r>
              <a:rPr lang="en-US" altLang="zh-CN" sz="1200" b="1">
                <a:highlight>
                  <a:srgbClr val="00FFFF"/>
                </a:highlight>
              </a:rPr>
              <a:t>Accounting</a:t>
            </a:r>
            <a:r>
              <a:rPr lang="zh-CN" altLang="en-US" sz="1200" b="1">
                <a:highlight>
                  <a:srgbClr val="00FFFF"/>
                </a:highlight>
              </a:rPr>
              <a:t>要求：</a:t>
            </a:r>
            <a:r>
              <a:rPr lang="zh-CN" altLang="en-US" sz="1200">
                <a:highlight>
                  <a:srgbClr val="00FFFF"/>
                </a:highlight>
              </a:rPr>
              <a:t> </a:t>
            </a:r>
            <a:r>
              <a:rPr lang="en-US" altLang="zh-CN" sz="1200">
                <a:highlight>
                  <a:srgbClr val="00FFFF"/>
                </a:highlight>
              </a:rPr>
              <a:t>CMR</a:t>
            </a:r>
            <a:r>
              <a:rPr lang="zh-CN" altLang="en-US" sz="1200">
                <a:highlight>
                  <a:srgbClr val="00FFFF"/>
                </a:highlight>
              </a:rPr>
              <a:t>当期发生必须当期确认。</a:t>
            </a:r>
            <a:r>
              <a:rPr lang="en-US" b="1" err="1">
                <a:highlight>
                  <a:srgbClr val="00FFFF"/>
                </a:highlight>
              </a:rPr>
              <a:t>业务要做CMR的时候</a:t>
            </a:r>
            <a:r>
              <a:rPr lang="en-US" b="1">
                <a:highlight>
                  <a:srgbClr val="00FFFF"/>
                </a:highlight>
              </a:rPr>
              <a:t> </a:t>
            </a:r>
            <a:r>
              <a:rPr lang="en-US" b="1" err="1">
                <a:highlight>
                  <a:srgbClr val="00FFFF"/>
                </a:highlight>
              </a:rPr>
              <a:t>标记这种CMR的原因是</a:t>
            </a:r>
            <a:r>
              <a:rPr lang="en-US" b="1">
                <a:highlight>
                  <a:srgbClr val="00FFFF"/>
                </a:highlight>
              </a:rPr>
              <a:t> SLA,  </a:t>
            </a:r>
            <a:r>
              <a:rPr lang="en-US" b="1" err="1">
                <a:highlight>
                  <a:srgbClr val="00FFFF"/>
                </a:highlight>
              </a:rPr>
              <a:t>上游需要把标记传递给</a:t>
            </a:r>
            <a:r>
              <a:rPr lang="en-US" b="1">
                <a:highlight>
                  <a:srgbClr val="00FFFF"/>
                </a:highlight>
              </a:rPr>
              <a:t> FI IT</a:t>
            </a:r>
            <a:endParaRPr lang="en-US" altLang="zh-CN" sz="1200" b="1">
              <a:highlight>
                <a:srgbClr val="00FFFF"/>
              </a:highlight>
            </a:endParaRPr>
          </a:p>
          <a:p>
            <a:endParaRPr lang="zh-CN" altLang="en-US"/>
          </a:p>
        </p:txBody>
      </p:sp>
      <p:sp>
        <p:nvSpPr>
          <p:cNvPr id="4" name="灯片编号占位符 3">
            <a:extLst>
              <a:ext uri="{FF2B5EF4-FFF2-40B4-BE49-F238E27FC236}">
                <a16:creationId xmlns:a16="http://schemas.microsoft.com/office/drawing/2014/main" id="{DDF88E8E-AA27-655D-D6BF-6127904CA688}"/>
              </a:ext>
            </a:extLst>
          </p:cNvPr>
          <p:cNvSpPr>
            <a:spLocks noGrp="1"/>
          </p:cNvSpPr>
          <p:nvPr>
            <p:ph type="sldNum" sz="quarter" idx="5"/>
          </p:nvPr>
        </p:nvSpPr>
        <p:spPr/>
        <p:txBody>
          <a:bodyPr/>
          <a:lstStyle/>
          <a:p>
            <a:fld id="{9FCD7C6C-628C-4A66-96CF-D2300D9F95AC}" type="slidenum">
              <a:rPr lang="en-US" altLang="zh-CN" smtClean="0"/>
              <a:t>153</a:t>
            </a:fld>
            <a:endParaRPr lang="zh-CN" altLang="en-US"/>
          </a:p>
        </p:txBody>
      </p:sp>
    </p:spTree>
    <p:extLst>
      <p:ext uri="{BB962C8B-B14F-4D97-AF65-F5344CB8AC3E}">
        <p14:creationId xmlns:p14="http://schemas.microsoft.com/office/powerpoint/2010/main" val="305792067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46520D-940A-5090-74FC-0C0F57D8264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5C7EFA4-4F52-6A96-17C4-580BBDC2AB3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F3AD53D-F1A0-6012-FA2B-D4CCCA7AE7ED}"/>
              </a:ext>
            </a:extLst>
          </p:cNvPr>
          <p:cNvSpPr>
            <a:spLocks noGrp="1"/>
          </p:cNvSpPr>
          <p:nvPr>
            <p:ph type="body" idx="1"/>
          </p:nvPr>
        </p:nvSpPr>
        <p:spPr/>
        <p:txBody>
          <a:bodyPr/>
          <a:lstStyle/>
          <a:p>
            <a:r>
              <a:rPr lang="en-US" altLang="zh-CN" sz="1200"/>
              <a:t>e.g., customer discounts, monthly price adjustments, foreign exchange</a:t>
            </a:r>
          </a:p>
          <a:p>
            <a:r>
              <a:rPr lang="en-US" altLang="zh-CN" sz="1200"/>
              <a:t>Standard payment based on catalog price</a:t>
            </a:r>
            <a:endParaRPr lang="zh-CN" altLang="en-US"/>
          </a:p>
        </p:txBody>
      </p:sp>
      <p:sp>
        <p:nvSpPr>
          <p:cNvPr id="4" name="灯片编号占位符 3">
            <a:extLst>
              <a:ext uri="{FF2B5EF4-FFF2-40B4-BE49-F238E27FC236}">
                <a16:creationId xmlns:a16="http://schemas.microsoft.com/office/drawing/2014/main" id="{B8DBF6F1-EDA7-4BFF-19B0-1C3823651670}"/>
              </a:ext>
            </a:extLst>
          </p:cNvPr>
          <p:cNvSpPr>
            <a:spLocks noGrp="1"/>
          </p:cNvSpPr>
          <p:nvPr>
            <p:ph type="sldNum" sz="quarter" idx="5"/>
          </p:nvPr>
        </p:nvSpPr>
        <p:spPr/>
        <p:txBody>
          <a:bodyPr/>
          <a:lstStyle/>
          <a:p>
            <a:fld id="{9FCD7C6C-628C-4A66-96CF-D2300D9F95AC}" type="slidenum">
              <a:rPr lang="en-US" altLang="zh-CN" smtClean="0"/>
              <a:t>154</a:t>
            </a:fld>
            <a:endParaRPr lang="zh-CN" altLang="en-US"/>
          </a:p>
        </p:txBody>
      </p:sp>
    </p:spTree>
    <p:extLst>
      <p:ext uri="{BB962C8B-B14F-4D97-AF65-F5344CB8AC3E}">
        <p14:creationId xmlns:p14="http://schemas.microsoft.com/office/powerpoint/2010/main" val="130678967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5FF69C-69B2-06C7-4E59-0F3C817588F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EABA735-9E59-B36F-5E0E-7DA6F3C8F5C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E4AF66C-C302-F819-A72A-1D99677FD5DC}"/>
              </a:ext>
            </a:extLst>
          </p:cNvPr>
          <p:cNvSpPr>
            <a:spLocks noGrp="1"/>
          </p:cNvSpPr>
          <p:nvPr>
            <p:ph type="body" idx="1"/>
          </p:nvPr>
        </p:nvSpPr>
        <p:spPr/>
        <p:txBody>
          <a:bodyPr/>
          <a:lstStyle/>
          <a:p>
            <a:r>
              <a:rPr lang="en-US" altLang="zh-CN" sz="1200"/>
              <a:t>e.g., customer discounts, monthly price adjustments, foreign exchange</a:t>
            </a:r>
          </a:p>
          <a:p>
            <a:r>
              <a:rPr lang="en-US" altLang="zh-CN" sz="1200"/>
              <a:t>Standard payment based on catalog price</a:t>
            </a:r>
            <a:endParaRPr lang="zh-CN" altLang="en-US"/>
          </a:p>
        </p:txBody>
      </p:sp>
      <p:sp>
        <p:nvSpPr>
          <p:cNvPr id="4" name="灯片编号占位符 3">
            <a:extLst>
              <a:ext uri="{FF2B5EF4-FFF2-40B4-BE49-F238E27FC236}">
                <a16:creationId xmlns:a16="http://schemas.microsoft.com/office/drawing/2014/main" id="{96C98CC7-F9B5-CE3E-CFFF-179047EE02DC}"/>
              </a:ext>
            </a:extLst>
          </p:cNvPr>
          <p:cNvSpPr>
            <a:spLocks noGrp="1"/>
          </p:cNvSpPr>
          <p:nvPr>
            <p:ph type="sldNum" sz="quarter" idx="5"/>
          </p:nvPr>
        </p:nvSpPr>
        <p:spPr/>
        <p:txBody>
          <a:bodyPr/>
          <a:lstStyle/>
          <a:p>
            <a:fld id="{9FCD7C6C-628C-4A66-96CF-D2300D9F95AC}" type="slidenum">
              <a:rPr lang="en-US" altLang="zh-CN" smtClean="0"/>
              <a:t>155</a:t>
            </a:fld>
            <a:endParaRPr lang="zh-CN" altLang="en-US"/>
          </a:p>
        </p:txBody>
      </p:sp>
    </p:spTree>
    <p:extLst>
      <p:ext uri="{BB962C8B-B14F-4D97-AF65-F5344CB8AC3E}">
        <p14:creationId xmlns:p14="http://schemas.microsoft.com/office/powerpoint/2010/main" val="640156977"/>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A63C4B-DD26-A851-6961-38AD8D509B1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5B2C8B3-455D-1C23-90E5-55E70E8F0E3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4D50C57-0A9D-9179-EBAF-E22CD8F50D43}"/>
              </a:ext>
            </a:extLst>
          </p:cNvPr>
          <p:cNvSpPr>
            <a:spLocks noGrp="1"/>
          </p:cNvSpPr>
          <p:nvPr>
            <p:ph type="body" idx="1"/>
          </p:nvPr>
        </p:nvSpPr>
        <p:spPr/>
        <p:txBody>
          <a:bodyPr/>
          <a:lstStyle/>
          <a:p>
            <a:r>
              <a:rPr lang="en-US" altLang="zh-CN" sz="1200"/>
              <a:t>e.g., customer discounts, monthly price adjustments, foreign exchange</a:t>
            </a:r>
          </a:p>
          <a:p>
            <a:r>
              <a:rPr lang="en-US" altLang="zh-CN" sz="1200"/>
              <a:t>Standard payment based on catalog price</a:t>
            </a:r>
            <a:endParaRPr lang="zh-CN" altLang="en-US"/>
          </a:p>
        </p:txBody>
      </p:sp>
      <p:sp>
        <p:nvSpPr>
          <p:cNvPr id="4" name="灯片编号占位符 3">
            <a:extLst>
              <a:ext uri="{FF2B5EF4-FFF2-40B4-BE49-F238E27FC236}">
                <a16:creationId xmlns:a16="http://schemas.microsoft.com/office/drawing/2014/main" id="{DC93CACB-C952-739C-3924-25CD72B80730}"/>
              </a:ext>
            </a:extLst>
          </p:cNvPr>
          <p:cNvSpPr>
            <a:spLocks noGrp="1"/>
          </p:cNvSpPr>
          <p:nvPr>
            <p:ph type="sldNum" sz="quarter" idx="5"/>
          </p:nvPr>
        </p:nvSpPr>
        <p:spPr/>
        <p:txBody>
          <a:bodyPr/>
          <a:lstStyle/>
          <a:p>
            <a:fld id="{9FCD7C6C-628C-4A66-96CF-D2300D9F95AC}" type="slidenum">
              <a:rPr lang="en-US" altLang="zh-CN" smtClean="0"/>
              <a:t>156</a:t>
            </a:fld>
            <a:endParaRPr lang="zh-CN" altLang="en-US"/>
          </a:p>
        </p:txBody>
      </p:sp>
    </p:spTree>
    <p:extLst>
      <p:ext uri="{BB962C8B-B14F-4D97-AF65-F5344CB8AC3E}">
        <p14:creationId xmlns:p14="http://schemas.microsoft.com/office/powerpoint/2010/main" val="353914466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9467AF-C21E-5072-8FA7-3816322A29B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F3A3D6E-4324-D99B-8F06-E51A98E5E53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AEBCAC7-ADEC-C829-4DD4-641B32050FA7}"/>
              </a:ext>
            </a:extLst>
          </p:cNvPr>
          <p:cNvSpPr>
            <a:spLocks noGrp="1"/>
          </p:cNvSpPr>
          <p:nvPr>
            <p:ph type="body" idx="1"/>
          </p:nvPr>
        </p:nvSpPr>
        <p:spPr/>
        <p:txBody>
          <a:bodyPr/>
          <a:lstStyle/>
          <a:p>
            <a:r>
              <a:rPr lang="en-US" altLang="zh-CN" sz="1200"/>
              <a:t>e.g., customer discounts, monthly price adjustments, foreign exchange</a:t>
            </a:r>
          </a:p>
          <a:p>
            <a:r>
              <a:rPr lang="en-US" altLang="zh-CN" sz="1200"/>
              <a:t>Standard payment based on catalog price</a:t>
            </a:r>
            <a:endParaRPr lang="zh-CN" altLang="en-US"/>
          </a:p>
        </p:txBody>
      </p:sp>
      <p:sp>
        <p:nvSpPr>
          <p:cNvPr id="4" name="灯片编号占位符 3">
            <a:extLst>
              <a:ext uri="{FF2B5EF4-FFF2-40B4-BE49-F238E27FC236}">
                <a16:creationId xmlns:a16="http://schemas.microsoft.com/office/drawing/2014/main" id="{B2FB0327-07F6-5640-E821-062E9BE353B5}"/>
              </a:ext>
            </a:extLst>
          </p:cNvPr>
          <p:cNvSpPr>
            <a:spLocks noGrp="1"/>
          </p:cNvSpPr>
          <p:nvPr>
            <p:ph type="sldNum" sz="quarter" idx="5"/>
          </p:nvPr>
        </p:nvSpPr>
        <p:spPr/>
        <p:txBody>
          <a:bodyPr/>
          <a:lstStyle/>
          <a:p>
            <a:fld id="{9FCD7C6C-628C-4A66-96CF-D2300D9F95AC}" type="slidenum">
              <a:rPr lang="en-US" altLang="zh-CN" smtClean="0"/>
              <a:t>157</a:t>
            </a:fld>
            <a:endParaRPr lang="zh-CN" altLang="en-US"/>
          </a:p>
        </p:txBody>
      </p:sp>
    </p:spTree>
    <p:extLst>
      <p:ext uri="{BB962C8B-B14F-4D97-AF65-F5344CB8AC3E}">
        <p14:creationId xmlns:p14="http://schemas.microsoft.com/office/powerpoint/2010/main" val="2033321312"/>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182F3A-A372-F044-0AE2-81167A99CA3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9366A5C-2E79-7898-9EBA-9C032144D8A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EFF8753-41B9-06E9-EAC0-08C4C32F1E17}"/>
              </a:ext>
            </a:extLst>
          </p:cNvPr>
          <p:cNvSpPr>
            <a:spLocks noGrp="1"/>
          </p:cNvSpPr>
          <p:nvPr>
            <p:ph type="body" idx="1"/>
          </p:nvPr>
        </p:nvSpPr>
        <p:spPr/>
        <p:txBody>
          <a:bodyPr/>
          <a:lstStyle/>
          <a:p>
            <a:r>
              <a:rPr lang="en-US" altLang="zh-CN"/>
              <a:t>Key Assumption, downpayment will be after lease commenced, 1400301 have been booked in Odessa, 1400308 have been booked in SAP.</a:t>
            </a:r>
          </a:p>
          <a:p>
            <a:r>
              <a:rPr lang="en-US" altLang="zh-CN"/>
              <a:t>Downpayment</a:t>
            </a:r>
            <a:r>
              <a:rPr lang="zh-CN" altLang="en-US"/>
              <a:t>：</a:t>
            </a:r>
            <a:r>
              <a:rPr lang="en-US" altLang="zh-CN"/>
              <a:t>1. OL</a:t>
            </a:r>
            <a:r>
              <a:rPr lang="zh-CN" altLang="en-US"/>
              <a:t>下，全部进</a:t>
            </a:r>
            <a:r>
              <a:rPr lang="en-US" altLang="zh-CN"/>
              <a:t>defer</a:t>
            </a:r>
            <a:r>
              <a:rPr lang="zh-CN" altLang="en-US"/>
              <a:t>，都属于多收的。</a:t>
            </a:r>
            <a:r>
              <a:rPr lang="en-US" altLang="zh-CN"/>
              <a:t>Upfront </a:t>
            </a:r>
            <a:r>
              <a:rPr lang="zh-CN" altLang="en-US"/>
              <a:t>正常冲抵 </a:t>
            </a:r>
            <a:r>
              <a:rPr lang="en-US" altLang="zh-CN"/>
              <a:t>1400308</a:t>
            </a:r>
            <a:r>
              <a:rPr lang="zh-CN" altLang="en-US"/>
              <a:t>，属于</a:t>
            </a:r>
            <a:r>
              <a:rPr lang="en-US" altLang="zh-CN"/>
              <a:t>LTAR</a:t>
            </a:r>
            <a:r>
              <a:rPr lang="zh-CN" altLang="en-US"/>
              <a:t>的</a:t>
            </a:r>
            <a:r>
              <a:rPr lang="en-US" altLang="zh-CN"/>
              <a:t>setoff</a:t>
            </a:r>
            <a:r>
              <a:rPr lang="zh-CN" altLang="en-US"/>
              <a:t>。 </a:t>
            </a:r>
            <a:r>
              <a:rPr lang="en-US" altLang="zh-CN"/>
              <a:t>2. FL</a:t>
            </a:r>
            <a:r>
              <a:rPr lang="zh-CN" altLang="en-US"/>
              <a:t>下，</a:t>
            </a:r>
            <a:r>
              <a:rPr lang="en-US" altLang="zh-CN"/>
              <a:t>HW</a:t>
            </a:r>
            <a:r>
              <a:rPr lang="zh-CN" altLang="en-US"/>
              <a:t>的</a:t>
            </a:r>
            <a:r>
              <a:rPr lang="en-US" altLang="zh-CN"/>
              <a:t>LTAR</a:t>
            </a:r>
            <a:r>
              <a:rPr lang="zh-CN" altLang="en-US"/>
              <a:t>正常抵消，因为</a:t>
            </a:r>
            <a:r>
              <a:rPr lang="en-US" altLang="zh-CN"/>
              <a:t>M0</a:t>
            </a:r>
            <a:r>
              <a:rPr lang="zh-CN" altLang="en-US"/>
              <a:t>都已经算好了。</a:t>
            </a:r>
            <a:endParaRPr lang="en-US" altLang="zh-CN"/>
          </a:p>
          <a:p>
            <a:r>
              <a:rPr lang="en-US" altLang="zh-CN"/>
              <a:t>Downpayment</a:t>
            </a:r>
            <a:r>
              <a:rPr lang="zh-CN" altLang="en-US"/>
              <a:t>有两种场景在前端，</a:t>
            </a:r>
            <a:r>
              <a:rPr lang="en-US" altLang="zh-CN"/>
              <a:t>1.</a:t>
            </a:r>
            <a:r>
              <a:rPr lang="zh-CN" altLang="en-US"/>
              <a:t>所有的</a:t>
            </a:r>
            <a:r>
              <a:rPr lang="en-US" altLang="zh-CN"/>
              <a:t>PN</a:t>
            </a:r>
            <a:r>
              <a:rPr lang="zh-CN" altLang="en-US"/>
              <a:t>都有</a:t>
            </a:r>
            <a:r>
              <a:rPr lang="en-US" altLang="zh-CN"/>
              <a:t>downpayment</a:t>
            </a:r>
            <a:r>
              <a:rPr lang="zh-CN" altLang="en-US"/>
              <a:t>。 </a:t>
            </a:r>
            <a:r>
              <a:rPr lang="en-US" altLang="zh-CN"/>
              <a:t>2. downpayment</a:t>
            </a:r>
            <a:r>
              <a:rPr lang="zh-CN" altLang="en-US"/>
              <a:t>只</a:t>
            </a:r>
            <a:r>
              <a:rPr lang="en-US" altLang="zh-CN"/>
              <a:t>cover funded items</a:t>
            </a:r>
            <a:r>
              <a:rPr lang="zh-CN" altLang="en-US"/>
              <a:t>，但对财务无影响，因为金额为</a:t>
            </a:r>
            <a:r>
              <a:rPr lang="en-US" altLang="zh-CN"/>
              <a:t>0</a:t>
            </a:r>
            <a:r>
              <a:rPr lang="zh-CN" altLang="en-US"/>
              <a:t>。</a:t>
            </a:r>
          </a:p>
        </p:txBody>
      </p:sp>
      <p:sp>
        <p:nvSpPr>
          <p:cNvPr id="4" name="灯片编号占位符 3">
            <a:extLst>
              <a:ext uri="{FF2B5EF4-FFF2-40B4-BE49-F238E27FC236}">
                <a16:creationId xmlns:a16="http://schemas.microsoft.com/office/drawing/2014/main" id="{33758732-2072-51F6-51D0-D4A187CDA205}"/>
              </a:ext>
            </a:extLst>
          </p:cNvPr>
          <p:cNvSpPr>
            <a:spLocks noGrp="1"/>
          </p:cNvSpPr>
          <p:nvPr>
            <p:ph type="sldNum" sz="quarter" idx="5"/>
          </p:nvPr>
        </p:nvSpPr>
        <p:spPr/>
        <p:txBody>
          <a:bodyPr/>
          <a:lstStyle/>
          <a:p>
            <a:fld id="{9FCD7C6C-628C-4A66-96CF-D2300D9F95AC}" type="slidenum">
              <a:rPr lang="en-US" altLang="zh-Hans" smtClean="0"/>
              <a:t>158</a:t>
            </a:fld>
            <a:endParaRPr lang="zh-Hans" altLang="en-US"/>
          </a:p>
        </p:txBody>
      </p:sp>
    </p:spTree>
    <p:extLst>
      <p:ext uri="{BB962C8B-B14F-4D97-AF65-F5344CB8AC3E}">
        <p14:creationId xmlns:p14="http://schemas.microsoft.com/office/powerpoint/2010/main" val="320696430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43DDF9-55FD-6759-CAF5-873986C5860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E676E1B-891D-A1BA-3759-31B31327000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3059044-88B7-1A4C-9EC3-DC30B655E1F0}"/>
              </a:ext>
            </a:extLst>
          </p:cNvPr>
          <p:cNvSpPr>
            <a:spLocks noGrp="1"/>
          </p:cNvSpPr>
          <p:nvPr>
            <p:ph type="body" idx="1"/>
          </p:nvPr>
        </p:nvSpPr>
        <p:spPr/>
        <p:txBody>
          <a:bodyPr/>
          <a:lstStyle/>
          <a:p>
            <a:r>
              <a:rPr lang="zh-CN" altLang="en-US"/>
              <a:t>针对</a:t>
            </a:r>
            <a:r>
              <a:rPr lang="en-US" altLang="zh-CN"/>
              <a:t>monthly billing</a:t>
            </a:r>
            <a:r>
              <a:rPr lang="zh-CN" altLang="en-US"/>
              <a:t>的</a:t>
            </a:r>
            <a:r>
              <a:rPr lang="en-US" altLang="zh-CN"/>
              <a:t>Credit/Debit note</a:t>
            </a:r>
            <a:r>
              <a:rPr lang="zh-CN" altLang="en-US"/>
              <a:t>？</a:t>
            </a:r>
            <a:endParaRPr lang="en-US" altLang="zh-CN"/>
          </a:p>
          <a:p>
            <a:r>
              <a:rPr lang="zh-CN" altLang="en-US"/>
              <a:t>左边：</a:t>
            </a:r>
            <a:r>
              <a:rPr lang="en-US" altLang="zh-CN"/>
              <a:t>Monthly</a:t>
            </a:r>
            <a:r>
              <a:rPr lang="zh-CN" altLang="en-US"/>
              <a:t>金额低于</a:t>
            </a:r>
            <a:r>
              <a:rPr lang="en-US" altLang="zh-CN"/>
              <a:t>average</a:t>
            </a:r>
            <a:r>
              <a:rPr lang="zh-CN" altLang="en-US"/>
              <a:t>，直接确认收入，原本需要冲</a:t>
            </a:r>
            <a:r>
              <a:rPr lang="en-US" altLang="zh-CN"/>
              <a:t>LTAR</a:t>
            </a:r>
            <a:r>
              <a:rPr lang="zh-CN" altLang="en-US"/>
              <a:t>的和进</a:t>
            </a:r>
            <a:r>
              <a:rPr lang="en-US" altLang="zh-CN"/>
              <a:t>defer</a:t>
            </a:r>
            <a:r>
              <a:rPr lang="zh-CN" altLang="en-US"/>
              <a:t>的保持不变。</a:t>
            </a:r>
            <a:endParaRPr lang="en-US" altLang="zh-CN"/>
          </a:p>
          <a:p>
            <a:r>
              <a:rPr lang="zh-CN" altLang="en-US"/>
              <a:t>右边：怎么去做</a:t>
            </a:r>
            <a:r>
              <a:rPr lang="en-US" altLang="zh-CN"/>
              <a:t>amortization</a:t>
            </a:r>
            <a:r>
              <a:rPr lang="zh-CN" altLang="en-US"/>
              <a:t>，根据算出来的差额，从</a:t>
            </a:r>
            <a:r>
              <a:rPr lang="en-US" altLang="zh-CN"/>
              <a:t>defer</a:t>
            </a:r>
            <a:r>
              <a:rPr lang="zh-CN" altLang="en-US"/>
              <a:t>转到</a:t>
            </a:r>
            <a:r>
              <a:rPr lang="en-US" altLang="zh-CN"/>
              <a:t>revenue</a:t>
            </a:r>
            <a:r>
              <a:rPr lang="zh-CN" altLang="en-US"/>
              <a:t>。总共确认</a:t>
            </a:r>
            <a:r>
              <a:rPr lang="en-US" altLang="zh-CN"/>
              <a:t>revenue</a:t>
            </a:r>
            <a:r>
              <a:rPr lang="zh-CN" altLang="en-US"/>
              <a:t>的就是每个月应该确认的收入金额。</a:t>
            </a:r>
          </a:p>
        </p:txBody>
      </p:sp>
      <p:sp>
        <p:nvSpPr>
          <p:cNvPr id="4" name="灯片编号占位符 3">
            <a:extLst>
              <a:ext uri="{FF2B5EF4-FFF2-40B4-BE49-F238E27FC236}">
                <a16:creationId xmlns:a16="http://schemas.microsoft.com/office/drawing/2014/main" id="{1AFB504F-CD74-F08E-CECC-9872F6ACEADF}"/>
              </a:ext>
            </a:extLst>
          </p:cNvPr>
          <p:cNvSpPr>
            <a:spLocks noGrp="1"/>
          </p:cNvSpPr>
          <p:nvPr>
            <p:ph type="sldNum" sz="quarter" idx="5"/>
          </p:nvPr>
        </p:nvSpPr>
        <p:spPr/>
        <p:txBody>
          <a:bodyPr/>
          <a:lstStyle/>
          <a:p>
            <a:fld id="{9FCD7C6C-628C-4A66-96CF-D2300D9F95AC}" type="slidenum">
              <a:rPr lang="en-US" altLang="zh-Hans" smtClean="0"/>
              <a:t>159</a:t>
            </a:fld>
            <a:endParaRPr lang="zh-Hans" altLang="en-US"/>
          </a:p>
        </p:txBody>
      </p:sp>
    </p:spTree>
    <p:extLst>
      <p:ext uri="{BB962C8B-B14F-4D97-AF65-F5344CB8AC3E}">
        <p14:creationId xmlns:p14="http://schemas.microsoft.com/office/powerpoint/2010/main" val="2191500828"/>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4D3A50-82D1-4274-9300-C6062A51D55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C8A2FEF-870A-0DB4-AE02-726DE327426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4AA9476-AC16-F12C-793E-086B8A2843FF}"/>
              </a:ext>
            </a:extLst>
          </p:cNvPr>
          <p:cNvSpPr>
            <a:spLocks noGrp="1"/>
          </p:cNvSpPr>
          <p:nvPr>
            <p:ph type="body" idx="1"/>
          </p:nvPr>
        </p:nvSpPr>
        <p:spPr/>
        <p:txBody>
          <a:bodyPr/>
          <a:lstStyle/>
          <a:p>
            <a:r>
              <a:rPr lang="en-US" altLang="zh-CN"/>
              <a:t>Billing</a:t>
            </a:r>
            <a:r>
              <a:rPr lang="zh-CN" altLang="en-US"/>
              <a:t>金额高于月平均金额：按月平均金额确认</a:t>
            </a:r>
            <a:r>
              <a:rPr lang="en-US" altLang="zh-CN"/>
              <a:t>revenue</a:t>
            </a:r>
            <a:r>
              <a:rPr lang="zh-CN" altLang="en-US"/>
              <a:t>。多出来的部分进到</a:t>
            </a:r>
            <a:r>
              <a:rPr lang="en-US" altLang="zh-CN"/>
              <a:t>defer</a:t>
            </a:r>
            <a:r>
              <a:rPr lang="zh-CN" altLang="en-US"/>
              <a:t>。</a:t>
            </a:r>
            <a:endParaRPr lang="en-US" altLang="zh-CN"/>
          </a:p>
          <a:p>
            <a:r>
              <a:rPr lang="zh-CN" altLang="en-US"/>
              <a:t>受影响的部分：</a:t>
            </a:r>
            <a:r>
              <a:rPr lang="en-US" altLang="zh-CN"/>
              <a:t>OL HW </a:t>
            </a:r>
            <a:r>
              <a:rPr lang="zh-CN" altLang="en-US"/>
              <a:t>和 </a:t>
            </a:r>
            <a:r>
              <a:rPr lang="en-US" altLang="zh-CN"/>
              <a:t>ongoing service</a:t>
            </a:r>
            <a:r>
              <a:rPr lang="zh-CN" altLang="en-US"/>
              <a:t>多出来的进</a:t>
            </a:r>
            <a:r>
              <a:rPr lang="en-US" altLang="zh-CN"/>
              <a:t>defer</a:t>
            </a:r>
            <a:r>
              <a:rPr lang="zh-CN" altLang="en-US"/>
              <a:t>。</a:t>
            </a:r>
            <a:r>
              <a:rPr lang="en-US" altLang="zh-CN"/>
              <a:t>ARS</a:t>
            </a:r>
            <a:r>
              <a:rPr lang="zh-CN" altLang="en-US"/>
              <a:t>和</a:t>
            </a:r>
            <a:r>
              <a:rPr lang="en-US" altLang="zh-CN"/>
              <a:t>DF</a:t>
            </a:r>
            <a:r>
              <a:rPr lang="zh-CN" altLang="en-US"/>
              <a:t>按照往常一样进</a:t>
            </a:r>
            <a:r>
              <a:rPr lang="en-US" altLang="zh-CN"/>
              <a:t>defer</a:t>
            </a:r>
            <a:r>
              <a:rPr lang="zh-CN" altLang="en-US"/>
              <a:t>。</a:t>
            </a:r>
          </a:p>
        </p:txBody>
      </p:sp>
      <p:sp>
        <p:nvSpPr>
          <p:cNvPr id="4" name="灯片编号占位符 3">
            <a:extLst>
              <a:ext uri="{FF2B5EF4-FFF2-40B4-BE49-F238E27FC236}">
                <a16:creationId xmlns:a16="http://schemas.microsoft.com/office/drawing/2014/main" id="{2EACB68A-9037-841E-651F-90DDA9F2860D}"/>
              </a:ext>
            </a:extLst>
          </p:cNvPr>
          <p:cNvSpPr>
            <a:spLocks noGrp="1"/>
          </p:cNvSpPr>
          <p:nvPr>
            <p:ph type="sldNum" sz="quarter" idx="5"/>
          </p:nvPr>
        </p:nvSpPr>
        <p:spPr/>
        <p:txBody>
          <a:bodyPr/>
          <a:lstStyle/>
          <a:p>
            <a:fld id="{9FCD7C6C-628C-4A66-96CF-D2300D9F95AC}" type="slidenum">
              <a:rPr lang="en-US" altLang="zh-Hans" smtClean="0"/>
              <a:t>160</a:t>
            </a:fld>
            <a:endParaRPr lang="zh-Hans" altLang="en-US"/>
          </a:p>
        </p:txBody>
      </p:sp>
    </p:spTree>
    <p:extLst>
      <p:ext uri="{BB962C8B-B14F-4D97-AF65-F5344CB8AC3E}">
        <p14:creationId xmlns:p14="http://schemas.microsoft.com/office/powerpoint/2010/main" val="2166174268"/>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60CCCA-1270-B622-C1C0-9B086A943D6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A4411C7-AC6F-2BBD-EDEE-494B9E8A06E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FE654AD-B991-2047-3DEF-33F495319F8F}"/>
              </a:ext>
            </a:extLst>
          </p:cNvPr>
          <p:cNvSpPr>
            <a:spLocks noGrp="1"/>
          </p:cNvSpPr>
          <p:nvPr>
            <p:ph type="body" idx="1"/>
          </p:nvPr>
        </p:nvSpPr>
        <p:spPr/>
        <p:txBody>
          <a:bodyPr/>
          <a:lstStyle/>
          <a:p>
            <a:r>
              <a:rPr lang="en-US" altLang="zh-CN"/>
              <a:t>ET</a:t>
            </a:r>
            <a:r>
              <a:rPr lang="zh-CN" altLang="en-US"/>
              <a:t>，一台</a:t>
            </a:r>
            <a:r>
              <a:rPr lang="en-US" altLang="zh-CN"/>
              <a:t>ET</a:t>
            </a:r>
            <a:r>
              <a:rPr lang="zh-CN" altLang="en-US"/>
              <a:t>的机器计算</a:t>
            </a:r>
            <a:r>
              <a:rPr lang="en-US" altLang="zh-CN"/>
              <a:t>FMV+ remaining rental</a:t>
            </a:r>
            <a:r>
              <a:rPr lang="zh-CN" altLang="en-US"/>
              <a:t>的罚金单独出票，当期直接确认收入。</a:t>
            </a:r>
            <a:endParaRPr lang="en-US" altLang="zh-CN"/>
          </a:p>
          <a:p>
            <a:r>
              <a:rPr lang="zh-CN" altLang="en-US">
                <a:solidFill>
                  <a:srgbClr val="FF0000"/>
                </a:solidFill>
              </a:rPr>
              <a:t>之后</a:t>
            </a:r>
            <a:r>
              <a:rPr lang="en-US" altLang="zh-CN">
                <a:solidFill>
                  <a:srgbClr val="FF0000"/>
                </a:solidFill>
              </a:rPr>
              <a:t>monthly</a:t>
            </a:r>
            <a:r>
              <a:rPr lang="zh-CN" altLang="en-US">
                <a:solidFill>
                  <a:srgbClr val="FF0000"/>
                </a:solidFill>
              </a:rPr>
              <a:t>的票，减少了一台机器：标杆的计算要按照</a:t>
            </a:r>
            <a:r>
              <a:rPr lang="en-US" altLang="zh-CN">
                <a:solidFill>
                  <a:srgbClr val="FF0000"/>
                </a:solidFill>
              </a:rPr>
              <a:t>unit price*</a:t>
            </a:r>
            <a:r>
              <a:rPr lang="zh-CN" altLang="en-US">
                <a:solidFill>
                  <a:srgbClr val="FF0000"/>
                </a:solidFill>
              </a:rPr>
              <a:t>台数，台数减少了，标杆自然减少。</a:t>
            </a:r>
            <a:endParaRPr lang="en-US" altLang="zh-CN">
              <a:solidFill>
                <a:srgbClr val="FF0000"/>
              </a:solidFill>
            </a:endParaRPr>
          </a:p>
          <a:p>
            <a:r>
              <a:rPr lang="zh-CN" altLang="en-US">
                <a:solidFill>
                  <a:srgbClr val="FF0000"/>
                </a:solidFill>
              </a:rPr>
              <a:t>确认</a:t>
            </a:r>
            <a:r>
              <a:rPr lang="en-US" altLang="zh-CN">
                <a:solidFill>
                  <a:srgbClr val="FF0000"/>
                </a:solidFill>
              </a:rPr>
              <a:t>revenue</a:t>
            </a:r>
            <a:r>
              <a:rPr lang="zh-CN" altLang="en-US">
                <a:solidFill>
                  <a:srgbClr val="FF0000"/>
                </a:solidFill>
              </a:rPr>
              <a:t>的金额就是按照这个标准去确认。</a:t>
            </a:r>
            <a:endParaRPr lang="en-US" altLang="zh-CN">
              <a:solidFill>
                <a:srgbClr val="FF0000"/>
              </a:solidFill>
            </a:endParaRPr>
          </a:p>
          <a:p>
            <a:r>
              <a:rPr lang="zh-CN" altLang="en-US">
                <a:solidFill>
                  <a:srgbClr val="FF0000"/>
                </a:solidFill>
              </a:rPr>
              <a:t>如果按照此标准，那不会出现期末</a:t>
            </a:r>
            <a:r>
              <a:rPr lang="en-US" altLang="zh-CN">
                <a:solidFill>
                  <a:srgbClr val="FF0000"/>
                </a:solidFill>
              </a:rPr>
              <a:t>defer</a:t>
            </a:r>
            <a:r>
              <a:rPr lang="zh-CN" altLang="en-US">
                <a:solidFill>
                  <a:srgbClr val="FF0000"/>
                </a:solidFill>
              </a:rPr>
              <a:t>不够转</a:t>
            </a:r>
            <a:r>
              <a:rPr lang="en-US" altLang="zh-CN">
                <a:solidFill>
                  <a:srgbClr val="FF0000"/>
                </a:solidFill>
              </a:rPr>
              <a:t>revenue</a:t>
            </a:r>
            <a:r>
              <a:rPr lang="zh-CN" altLang="en-US">
                <a:solidFill>
                  <a:srgbClr val="FF0000"/>
                </a:solidFill>
              </a:rPr>
              <a:t>的情况。</a:t>
            </a:r>
          </a:p>
        </p:txBody>
      </p:sp>
      <p:sp>
        <p:nvSpPr>
          <p:cNvPr id="4" name="灯片编号占位符 3">
            <a:extLst>
              <a:ext uri="{FF2B5EF4-FFF2-40B4-BE49-F238E27FC236}">
                <a16:creationId xmlns:a16="http://schemas.microsoft.com/office/drawing/2014/main" id="{65D748EB-C088-B873-C71E-109CB0815D93}"/>
              </a:ext>
            </a:extLst>
          </p:cNvPr>
          <p:cNvSpPr>
            <a:spLocks noGrp="1"/>
          </p:cNvSpPr>
          <p:nvPr>
            <p:ph type="sldNum" sz="quarter" idx="5"/>
          </p:nvPr>
        </p:nvSpPr>
        <p:spPr/>
        <p:txBody>
          <a:bodyPr/>
          <a:lstStyle/>
          <a:p>
            <a:fld id="{9FCD7C6C-628C-4A66-96CF-D2300D9F95AC}" type="slidenum">
              <a:rPr lang="en-US" altLang="zh-Hans" smtClean="0"/>
              <a:t>161</a:t>
            </a:fld>
            <a:endParaRPr lang="zh-Hans" altLang="en-US"/>
          </a:p>
        </p:txBody>
      </p:sp>
    </p:spTree>
    <p:extLst>
      <p:ext uri="{BB962C8B-B14F-4D97-AF65-F5344CB8AC3E}">
        <p14:creationId xmlns:p14="http://schemas.microsoft.com/office/powerpoint/2010/main" val="365815629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FAFEB4-3CA2-88BA-79EE-76978DFBD39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8B10509-8AFA-0122-BFE1-B2A1E6F2418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A3756B5-26FE-6CAA-2069-0581F5380AC3}"/>
              </a:ext>
            </a:extLst>
          </p:cNvPr>
          <p:cNvSpPr>
            <a:spLocks noGrp="1"/>
          </p:cNvSpPr>
          <p:nvPr>
            <p:ph type="body" idx="1"/>
          </p:nvPr>
        </p:nvSpPr>
        <p:spPr/>
        <p:txBody>
          <a:bodyPr/>
          <a:lstStyle/>
          <a:p>
            <a:r>
              <a:rPr lang="zh-CN" altLang="en-US"/>
              <a:t>出现</a:t>
            </a:r>
            <a:r>
              <a:rPr lang="en-US" altLang="zh-CN"/>
              <a:t>partial CMR</a:t>
            </a:r>
            <a:r>
              <a:rPr lang="zh-CN" altLang="en-US"/>
              <a:t>，</a:t>
            </a:r>
            <a:r>
              <a:rPr lang="en-US" altLang="zh-CN"/>
              <a:t>miss SLA</a:t>
            </a:r>
            <a:r>
              <a:rPr lang="zh-CN" altLang="en-US"/>
              <a:t>场景：需要前端业务标记这种</a:t>
            </a:r>
            <a:r>
              <a:rPr lang="en-US" altLang="zh-CN"/>
              <a:t>CMR</a:t>
            </a:r>
            <a:r>
              <a:rPr lang="zh-CN" altLang="en-US"/>
              <a:t>的原因是 </a:t>
            </a:r>
            <a:r>
              <a:rPr lang="en-US" altLang="zh-CN"/>
              <a:t>SLA</a:t>
            </a:r>
            <a:r>
              <a:rPr lang="zh-CN" altLang="en-US"/>
              <a:t>，上游需要把标记传递给 </a:t>
            </a:r>
            <a:r>
              <a:rPr lang="en-US" altLang="zh-CN"/>
              <a:t>FI IT</a:t>
            </a:r>
            <a:r>
              <a:rPr lang="zh-CN" altLang="en-US"/>
              <a:t>，当期确认收入。</a:t>
            </a:r>
            <a:endParaRPr lang="en-US" altLang="zh-CN"/>
          </a:p>
          <a:p>
            <a:r>
              <a:rPr lang="zh-CN" altLang="en-US"/>
              <a:t>整体</a:t>
            </a:r>
            <a:r>
              <a:rPr lang="en-US" altLang="zh-CN"/>
              <a:t>structure payment</a:t>
            </a:r>
            <a:r>
              <a:rPr lang="zh-CN" altLang="en-US"/>
              <a:t>的结构不变，不重算。</a:t>
            </a:r>
          </a:p>
        </p:txBody>
      </p:sp>
      <p:sp>
        <p:nvSpPr>
          <p:cNvPr id="4" name="灯片编号占位符 3">
            <a:extLst>
              <a:ext uri="{FF2B5EF4-FFF2-40B4-BE49-F238E27FC236}">
                <a16:creationId xmlns:a16="http://schemas.microsoft.com/office/drawing/2014/main" id="{CE451529-4152-C8C1-D583-8E9D95E54D38}"/>
              </a:ext>
            </a:extLst>
          </p:cNvPr>
          <p:cNvSpPr>
            <a:spLocks noGrp="1"/>
          </p:cNvSpPr>
          <p:nvPr>
            <p:ph type="sldNum" sz="quarter" idx="5"/>
          </p:nvPr>
        </p:nvSpPr>
        <p:spPr/>
        <p:txBody>
          <a:bodyPr/>
          <a:lstStyle/>
          <a:p>
            <a:fld id="{9FCD7C6C-628C-4A66-96CF-D2300D9F95AC}" type="slidenum">
              <a:rPr lang="en-US" altLang="zh-Hans" smtClean="0"/>
              <a:t>162</a:t>
            </a:fld>
            <a:endParaRPr lang="zh-Hans" altLang="en-US"/>
          </a:p>
        </p:txBody>
      </p:sp>
    </p:spTree>
    <p:extLst>
      <p:ext uri="{BB962C8B-B14F-4D97-AF65-F5344CB8AC3E}">
        <p14:creationId xmlns:p14="http://schemas.microsoft.com/office/powerpoint/2010/main" val="1222155470"/>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A835A4-6F1F-0293-0F0F-A3167A0EC64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6BD6875-3C53-3B66-4609-43A302C4B68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3609231-329D-A805-F491-723B94D8DAE5}"/>
              </a:ext>
            </a:extLst>
          </p:cNvPr>
          <p:cNvSpPr>
            <a:spLocks noGrp="1"/>
          </p:cNvSpPr>
          <p:nvPr>
            <p:ph type="body" idx="1"/>
          </p:nvPr>
        </p:nvSpPr>
        <p:spPr/>
        <p:txBody>
          <a:bodyPr/>
          <a:lstStyle/>
          <a:p>
            <a:r>
              <a:rPr lang="zh-CN" altLang="en-US"/>
              <a:t>出现</a:t>
            </a:r>
            <a:r>
              <a:rPr lang="en-US" altLang="zh-CN"/>
              <a:t>partial CMR</a:t>
            </a:r>
            <a:r>
              <a:rPr lang="zh-CN" altLang="en-US"/>
              <a:t>，</a:t>
            </a:r>
            <a:r>
              <a:rPr lang="en-US" altLang="zh-CN"/>
              <a:t>miss SLA</a:t>
            </a:r>
            <a:r>
              <a:rPr lang="zh-CN" altLang="en-US"/>
              <a:t>场景：需要前端业务标记这种</a:t>
            </a:r>
            <a:r>
              <a:rPr lang="en-US" altLang="zh-CN"/>
              <a:t>CMR</a:t>
            </a:r>
            <a:r>
              <a:rPr lang="zh-CN" altLang="en-US"/>
              <a:t>的原因是 </a:t>
            </a:r>
            <a:r>
              <a:rPr lang="en-US" altLang="zh-CN"/>
              <a:t>SLA</a:t>
            </a:r>
            <a:r>
              <a:rPr lang="zh-CN" altLang="en-US"/>
              <a:t>，上游需要把标记传递给 </a:t>
            </a:r>
            <a:r>
              <a:rPr lang="en-US" altLang="zh-CN"/>
              <a:t>FI IT</a:t>
            </a:r>
            <a:r>
              <a:rPr lang="zh-CN" altLang="en-US"/>
              <a:t>，当期确认收入。</a:t>
            </a:r>
            <a:endParaRPr lang="en-US" altLang="zh-CN"/>
          </a:p>
          <a:p>
            <a:r>
              <a:rPr lang="zh-CN" altLang="en-US"/>
              <a:t>整体</a:t>
            </a:r>
            <a:r>
              <a:rPr lang="en-US" altLang="zh-CN"/>
              <a:t>structure payment</a:t>
            </a:r>
            <a:r>
              <a:rPr lang="zh-CN" altLang="en-US"/>
              <a:t>的结构不变，不重算。</a:t>
            </a:r>
          </a:p>
        </p:txBody>
      </p:sp>
      <p:sp>
        <p:nvSpPr>
          <p:cNvPr id="4" name="灯片编号占位符 3">
            <a:extLst>
              <a:ext uri="{FF2B5EF4-FFF2-40B4-BE49-F238E27FC236}">
                <a16:creationId xmlns:a16="http://schemas.microsoft.com/office/drawing/2014/main" id="{BC72360D-E857-5D01-5448-99A0D0C32A94}"/>
              </a:ext>
            </a:extLst>
          </p:cNvPr>
          <p:cNvSpPr>
            <a:spLocks noGrp="1"/>
          </p:cNvSpPr>
          <p:nvPr>
            <p:ph type="sldNum" sz="quarter" idx="5"/>
          </p:nvPr>
        </p:nvSpPr>
        <p:spPr/>
        <p:txBody>
          <a:bodyPr/>
          <a:lstStyle/>
          <a:p>
            <a:fld id="{9FCD7C6C-628C-4A66-96CF-D2300D9F95AC}" type="slidenum">
              <a:rPr lang="en-US" altLang="zh-Hans" smtClean="0"/>
              <a:t>163</a:t>
            </a:fld>
            <a:endParaRPr lang="zh-Hans" altLang="en-US"/>
          </a:p>
        </p:txBody>
      </p:sp>
    </p:spTree>
    <p:extLst>
      <p:ext uri="{BB962C8B-B14F-4D97-AF65-F5344CB8AC3E}">
        <p14:creationId xmlns:p14="http://schemas.microsoft.com/office/powerpoint/2010/main" val="4067046422"/>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solidFill>
                  <a:srgbClr val="FF0000"/>
                </a:solidFill>
              </a:rPr>
              <a:t>1400308 booked in M0 </a:t>
            </a:r>
            <a:r>
              <a:rPr lang="en-US" altLang="zh-CN" err="1">
                <a:solidFill>
                  <a:srgbClr val="FF0000"/>
                </a:solidFill>
              </a:rPr>
              <a:t>interco</a:t>
            </a:r>
            <a:r>
              <a:rPr lang="en-US" altLang="zh-CN">
                <a:solidFill>
                  <a:srgbClr val="FF0000"/>
                </a:solidFill>
              </a:rPr>
              <a:t> billing</a:t>
            </a:r>
          </a:p>
          <a:p>
            <a:r>
              <a:rPr lang="en-US" altLang="zh-CN">
                <a:solidFill>
                  <a:srgbClr val="FF0000"/>
                </a:solidFill>
              </a:rPr>
              <a:t>Odessa</a:t>
            </a:r>
            <a:r>
              <a:rPr lang="zh-CN" altLang="en-US">
                <a:solidFill>
                  <a:srgbClr val="FF0000"/>
                </a:solidFill>
              </a:rPr>
              <a:t>：这个抵消，金额就是按照</a:t>
            </a:r>
            <a:r>
              <a:rPr lang="en-US" altLang="zh-CN">
                <a:solidFill>
                  <a:srgbClr val="FF0000"/>
                </a:solidFill>
              </a:rPr>
              <a:t>monthly</a:t>
            </a:r>
            <a:r>
              <a:rPr lang="zh-CN" altLang="en-US">
                <a:solidFill>
                  <a:srgbClr val="FF0000"/>
                </a:solidFill>
              </a:rPr>
              <a:t>的结构做冲抵</a:t>
            </a:r>
            <a:endParaRPr lang="en-US" altLang="zh-CN">
              <a:solidFill>
                <a:srgbClr val="FF0000"/>
              </a:solidFill>
            </a:endParaRPr>
          </a:p>
        </p:txBody>
      </p:sp>
      <p:sp>
        <p:nvSpPr>
          <p:cNvPr id="4" name="灯片编号占位符 3"/>
          <p:cNvSpPr>
            <a:spLocks noGrp="1"/>
          </p:cNvSpPr>
          <p:nvPr>
            <p:ph type="sldNum" sz="quarter" idx="5"/>
          </p:nvPr>
        </p:nvSpPr>
        <p:spPr/>
        <p:txBody>
          <a:bodyPr/>
          <a:lstStyle/>
          <a:p>
            <a:fld id="{9FCD7C6C-628C-4A66-96CF-D2300D9F95AC}" type="slidenum">
              <a:rPr lang="en-US" altLang="zh-CN" smtClean="0"/>
              <a:t>164</a:t>
            </a:fld>
            <a:endParaRPr lang="zh-CN" altLang="en-US"/>
          </a:p>
        </p:txBody>
      </p:sp>
    </p:spTree>
    <p:extLst>
      <p:ext uri="{BB962C8B-B14F-4D97-AF65-F5344CB8AC3E}">
        <p14:creationId xmlns:p14="http://schemas.microsoft.com/office/powerpoint/2010/main" val="249863536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9FCD7C6C-628C-4A66-96CF-D2300D9F95AC}" type="slidenum">
              <a:rPr lang="en-US" altLang="zh-CN" smtClean="0"/>
              <a:t>165</a:t>
            </a:fld>
            <a:endParaRPr lang="zh-CN" altLang="en-US"/>
          </a:p>
        </p:txBody>
      </p:sp>
    </p:spTree>
    <p:extLst>
      <p:ext uri="{BB962C8B-B14F-4D97-AF65-F5344CB8AC3E}">
        <p14:creationId xmlns:p14="http://schemas.microsoft.com/office/powerpoint/2010/main" val="2432921995"/>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953A8B-817B-54EF-89FC-BA8C75EDC19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66EF59B-6AA2-B289-C2D4-E089801CC6D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2E3944D-07F1-6725-7AAE-A887C046DA13}"/>
              </a:ext>
            </a:extLst>
          </p:cNvPr>
          <p:cNvSpPr>
            <a:spLocks noGrp="1"/>
          </p:cNvSpPr>
          <p:nvPr>
            <p:ph type="body" idx="1"/>
          </p:nvPr>
        </p:nvSpPr>
        <p:spPr/>
        <p:txBody>
          <a:bodyPr/>
          <a:lstStyle/>
          <a:p>
            <a:r>
              <a:rPr lang="en-US" altLang="zh-CN"/>
              <a:t>Normal </a:t>
            </a:r>
            <a:r>
              <a:rPr lang="zh-CN" altLang="en-US"/>
              <a:t>下的</a:t>
            </a:r>
            <a:r>
              <a:rPr lang="en-US" altLang="zh-CN"/>
              <a:t>ET</a:t>
            </a:r>
            <a:r>
              <a:rPr lang="zh-CN" altLang="en-US"/>
              <a:t>， </a:t>
            </a:r>
            <a:r>
              <a:rPr lang="en-US" altLang="zh-CN"/>
              <a:t>premier support</a:t>
            </a:r>
            <a:r>
              <a:rPr lang="zh-CN" altLang="en-US"/>
              <a:t>的</a:t>
            </a:r>
            <a:r>
              <a:rPr lang="en-US" altLang="zh-CN"/>
              <a:t>set off</a:t>
            </a:r>
            <a:r>
              <a:rPr lang="zh-CN" altLang="en-US"/>
              <a:t>：如果半年，</a:t>
            </a:r>
            <a:r>
              <a:rPr lang="en-US" altLang="zh-CN" err="1"/>
              <a:t>odessa</a:t>
            </a:r>
            <a:r>
              <a:rPr lang="zh-CN" altLang="en-US"/>
              <a:t>会按照半年一次性确认的</a:t>
            </a:r>
            <a:r>
              <a:rPr lang="en-US" altLang="zh-CN"/>
              <a:t>revenue</a:t>
            </a:r>
            <a:r>
              <a:rPr lang="zh-CN" altLang="en-US"/>
              <a:t>分摊到各个月份，如果下半年发生</a:t>
            </a:r>
            <a:r>
              <a:rPr lang="en-US" altLang="zh-CN"/>
              <a:t>ET</a:t>
            </a:r>
            <a:r>
              <a:rPr lang="zh-CN" altLang="en-US"/>
              <a:t>增加了，也是按照增加的这个数字去分摊下半年的各个月份。</a:t>
            </a:r>
          </a:p>
        </p:txBody>
      </p:sp>
      <p:sp>
        <p:nvSpPr>
          <p:cNvPr id="4" name="灯片编号占位符 3">
            <a:extLst>
              <a:ext uri="{FF2B5EF4-FFF2-40B4-BE49-F238E27FC236}">
                <a16:creationId xmlns:a16="http://schemas.microsoft.com/office/drawing/2014/main" id="{6B976B4A-7A13-7705-F700-7682D8BF29F0}"/>
              </a:ext>
            </a:extLst>
          </p:cNvPr>
          <p:cNvSpPr>
            <a:spLocks noGrp="1"/>
          </p:cNvSpPr>
          <p:nvPr>
            <p:ph type="sldNum" sz="quarter" idx="5"/>
          </p:nvPr>
        </p:nvSpPr>
        <p:spPr/>
        <p:txBody>
          <a:bodyPr/>
          <a:lstStyle/>
          <a:p>
            <a:fld id="{9FCD7C6C-628C-4A66-96CF-D2300D9F95AC}" type="slidenum">
              <a:rPr lang="en-US" altLang="zh-Hans" smtClean="0"/>
              <a:t>167</a:t>
            </a:fld>
            <a:endParaRPr lang="zh-Hans" altLang="en-US"/>
          </a:p>
        </p:txBody>
      </p:sp>
    </p:spTree>
    <p:extLst>
      <p:ext uri="{BB962C8B-B14F-4D97-AF65-F5344CB8AC3E}">
        <p14:creationId xmlns:p14="http://schemas.microsoft.com/office/powerpoint/2010/main" val="37803604"/>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前端：</a:t>
            </a:r>
            <a:r>
              <a:rPr lang="en-US" altLang="zh-CN"/>
              <a:t>Issuing Invoice in Advance</a:t>
            </a:r>
            <a:r>
              <a:rPr lang="zh-CN" altLang="en-US"/>
              <a:t>：目前</a:t>
            </a:r>
            <a:r>
              <a:rPr lang="en-US" altLang="zh-CN" err="1"/>
              <a:t>quaterly</a:t>
            </a:r>
            <a:r>
              <a:rPr lang="zh-CN" altLang="en-US"/>
              <a:t>有，在</a:t>
            </a:r>
            <a:r>
              <a:rPr lang="en-US" altLang="zh-CN"/>
              <a:t>BRIM</a:t>
            </a:r>
            <a:r>
              <a:rPr lang="zh-CN" altLang="en-US"/>
              <a:t>种，但是</a:t>
            </a:r>
            <a:r>
              <a:rPr lang="en-US" altLang="zh-CN"/>
              <a:t>semi yearly </a:t>
            </a:r>
            <a:r>
              <a:rPr lang="zh-CN" altLang="en-US"/>
              <a:t>和</a:t>
            </a:r>
            <a:r>
              <a:rPr lang="en-US" altLang="zh-CN"/>
              <a:t>yearly</a:t>
            </a:r>
            <a:r>
              <a:rPr lang="zh-CN" altLang="en-US"/>
              <a:t>没有，需要作为</a:t>
            </a:r>
            <a:r>
              <a:rPr lang="en-US" altLang="zh-CN"/>
              <a:t>CR</a:t>
            </a:r>
            <a:r>
              <a:rPr lang="zh-CN" altLang="en-US"/>
              <a:t>去做。</a:t>
            </a:r>
            <a:endParaRPr lang="en-US" altLang="zh-CN"/>
          </a:p>
          <a:p>
            <a:r>
              <a:rPr lang="zh-CN" altLang="en-US"/>
              <a:t>分录与</a:t>
            </a:r>
            <a:r>
              <a:rPr lang="en-US" altLang="zh-CN"/>
              <a:t>billing cycle</a:t>
            </a:r>
            <a:r>
              <a:rPr lang="zh-CN" altLang="en-US"/>
              <a:t>部分一致，但是开票时点提前，拆分的时点</a:t>
            </a:r>
            <a:endParaRPr lang="en-US" altLang="zh-CN"/>
          </a:p>
          <a:p>
            <a:r>
              <a:rPr lang="zh-CN" altLang="en-US"/>
              <a:t>不管提前开几个月季度或者几个半年，都按照</a:t>
            </a:r>
            <a:r>
              <a:rPr lang="en-US" altLang="zh-CN" err="1"/>
              <a:t>billingcycle</a:t>
            </a:r>
            <a:r>
              <a:rPr lang="zh-CN" altLang="en-US"/>
              <a:t>出票，一个季度一个票，两个季度两个票。</a:t>
            </a:r>
          </a:p>
        </p:txBody>
      </p:sp>
      <p:sp>
        <p:nvSpPr>
          <p:cNvPr id="4" name="灯片编号占位符 3"/>
          <p:cNvSpPr>
            <a:spLocks noGrp="1"/>
          </p:cNvSpPr>
          <p:nvPr>
            <p:ph type="sldNum" sz="quarter" idx="5"/>
          </p:nvPr>
        </p:nvSpPr>
        <p:spPr/>
        <p:txBody>
          <a:bodyPr/>
          <a:lstStyle/>
          <a:p>
            <a:fld id="{9FCD7C6C-628C-4A66-96CF-D2300D9F95AC}" type="slidenum">
              <a:rPr lang="en-US" altLang="zh-CN" smtClean="0"/>
              <a:t>168</a:t>
            </a:fld>
            <a:endParaRPr lang="zh-CN" altLang="en-US"/>
          </a:p>
        </p:txBody>
      </p:sp>
    </p:spTree>
    <p:extLst>
      <p:ext uri="{BB962C8B-B14F-4D97-AF65-F5344CB8AC3E}">
        <p14:creationId xmlns:p14="http://schemas.microsoft.com/office/powerpoint/2010/main" val="10203201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F24F0F-481A-40A8-2E72-D3EBE32B9AF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7741F83-E520-428A-DC84-B14165E8B67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E6A1636-303B-37CC-8701-31B7A4026292}"/>
              </a:ext>
            </a:extLst>
          </p:cNvPr>
          <p:cNvSpPr>
            <a:spLocks noGrp="1"/>
          </p:cNvSpPr>
          <p:nvPr>
            <p:ph type="body" idx="1"/>
          </p:nvPr>
        </p:nvSpPr>
        <p:spPr/>
        <p:txBody>
          <a:bodyPr/>
          <a:lstStyle/>
          <a:p>
            <a:r>
              <a:rPr lang="zh-CN" altLang="en-US"/>
              <a:t>季度，半年，一年，都是几个月体现在一张发票上，比如季度，就是某几个季度，不会有具体月份，因为也拿不到</a:t>
            </a:r>
            <a:r>
              <a:rPr lang="en-US" altLang="zh-CN"/>
              <a:t>monthly</a:t>
            </a:r>
            <a:r>
              <a:rPr lang="zh-CN" altLang="en-US"/>
              <a:t>的价格。</a:t>
            </a:r>
            <a:endParaRPr lang="en-US" altLang="zh-CN"/>
          </a:p>
          <a:p>
            <a:r>
              <a:rPr lang="zh-CN" altLang="en-US"/>
              <a:t>客户可能线下就要求提前开，</a:t>
            </a:r>
            <a:r>
              <a:rPr lang="en-US" altLang="zh-CN"/>
              <a:t>LOT</a:t>
            </a:r>
            <a:r>
              <a:rPr lang="zh-CN" altLang="en-US"/>
              <a:t>就在系统做</a:t>
            </a:r>
            <a:r>
              <a:rPr lang="en-US" altLang="zh-CN"/>
              <a:t>submit</a:t>
            </a:r>
            <a:endParaRPr lang="en-US"/>
          </a:p>
        </p:txBody>
      </p:sp>
      <p:sp>
        <p:nvSpPr>
          <p:cNvPr id="4" name="Slide Number Placeholder 3">
            <a:extLst>
              <a:ext uri="{FF2B5EF4-FFF2-40B4-BE49-F238E27FC236}">
                <a16:creationId xmlns:a16="http://schemas.microsoft.com/office/drawing/2014/main" id="{3BCE1912-E369-480A-C719-861E4A69969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B7F1CE8-4ACD-4D73-B450-97509F9A082B}" type="slidenum">
              <a:rPr kumimoji="0" lang="en-US" sz="1800" b="0" i="0" u="none" strike="noStrike" kern="1200" cap="none" spc="0" normalizeH="0" baseline="0" noProof="0" smtClean="0">
                <a:ln>
                  <a:noFill/>
                </a:ln>
                <a:solidFill>
                  <a:prstClr val="black"/>
                </a:solidFill>
                <a:effectLst/>
                <a:uLnTx/>
                <a:uFillTx/>
                <a:latin typeface="Calibri" panose="020F0502020204030204"/>
                <a:ea typeface="+mn-ea"/>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sz="1800" b="0" i="0" u="none" strike="noStrike" kern="1200" cap="none" spc="0" normalizeH="0" baseline="0" noProof="0">
              <a:ln>
                <a:noFill/>
              </a:ln>
              <a:solidFill>
                <a:prstClr val="black"/>
              </a:solidFill>
              <a:effectLst/>
              <a:uLnTx/>
              <a:uFillTx/>
              <a:latin typeface="Calibri" panose="020F0502020204030204"/>
              <a:ea typeface="+mn-ea"/>
            </a:endParaRPr>
          </a:p>
        </p:txBody>
      </p:sp>
    </p:spTree>
    <p:extLst>
      <p:ext uri="{BB962C8B-B14F-4D97-AF65-F5344CB8AC3E}">
        <p14:creationId xmlns:p14="http://schemas.microsoft.com/office/powerpoint/2010/main" val="1137574022"/>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EE5809-10AD-FDF4-779E-8E50CA5C495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1B45216-C4AE-3AA0-ECB3-D28004F0571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BA36452-CE8F-6D5C-3758-BC4CCD8B011C}"/>
              </a:ext>
            </a:extLst>
          </p:cNvPr>
          <p:cNvSpPr>
            <a:spLocks noGrp="1"/>
          </p:cNvSpPr>
          <p:nvPr>
            <p:ph type="body" idx="1"/>
          </p:nvPr>
        </p:nvSpPr>
        <p:spPr/>
        <p:txBody>
          <a:bodyPr/>
          <a:lstStyle/>
          <a:p>
            <a:r>
              <a:rPr lang="zh-CN" altLang="en-US"/>
              <a:t>第二笔凭证：到了这笔</a:t>
            </a:r>
            <a:r>
              <a:rPr lang="en-US" altLang="zh-CN"/>
              <a:t>billing</a:t>
            </a:r>
            <a:r>
              <a:rPr lang="zh-CN" altLang="en-US"/>
              <a:t>对应的月底，就要把这个</a:t>
            </a:r>
            <a:r>
              <a:rPr lang="en-US" altLang="zh-CN"/>
              <a:t>billing</a:t>
            </a:r>
            <a:r>
              <a:rPr lang="zh-CN" altLang="en-US"/>
              <a:t>对应的</a:t>
            </a:r>
            <a:r>
              <a:rPr lang="en-US" altLang="zh-CN"/>
              <a:t>defer</a:t>
            </a:r>
            <a:r>
              <a:rPr lang="zh-CN" altLang="en-US"/>
              <a:t>转进当月的收入。必须是对应的月底。</a:t>
            </a:r>
            <a:endParaRPr lang="en-US" altLang="zh-CN"/>
          </a:p>
          <a:p>
            <a:endParaRPr lang="zh-CN" altLang="en-US"/>
          </a:p>
        </p:txBody>
      </p:sp>
      <p:sp>
        <p:nvSpPr>
          <p:cNvPr id="4" name="灯片编号占位符 3">
            <a:extLst>
              <a:ext uri="{FF2B5EF4-FFF2-40B4-BE49-F238E27FC236}">
                <a16:creationId xmlns:a16="http://schemas.microsoft.com/office/drawing/2014/main" id="{20BF08D3-2C50-F0FC-778D-5123354C7E39}"/>
              </a:ext>
            </a:extLst>
          </p:cNvPr>
          <p:cNvSpPr>
            <a:spLocks noGrp="1"/>
          </p:cNvSpPr>
          <p:nvPr>
            <p:ph type="sldNum" sz="quarter" idx="5"/>
          </p:nvPr>
        </p:nvSpPr>
        <p:spPr/>
        <p:txBody>
          <a:bodyPr/>
          <a:lstStyle/>
          <a:p>
            <a:fld id="{9FCD7C6C-628C-4A66-96CF-D2300D9F95AC}" type="slidenum">
              <a:rPr lang="en-US" altLang="zh-Hans" smtClean="0"/>
              <a:t>170</a:t>
            </a:fld>
            <a:endParaRPr lang="zh-Hans" altLang="en-US"/>
          </a:p>
        </p:txBody>
      </p:sp>
    </p:spTree>
    <p:extLst>
      <p:ext uri="{BB962C8B-B14F-4D97-AF65-F5344CB8AC3E}">
        <p14:creationId xmlns:p14="http://schemas.microsoft.com/office/powerpoint/2010/main" val="240843471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228C74-070E-1372-9C17-274D56FD29A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983C044-E099-1267-81FA-A5E44624E04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5ABD387-7C3C-870F-C1DA-A1A978826C91}"/>
              </a:ext>
            </a:extLst>
          </p:cNvPr>
          <p:cNvSpPr>
            <a:spLocks noGrp="1"/>
          </p:cNvSpPr>
          <p:nvPr>
            <p:ph type="body" idx="1"/>
          </p:nvPr>
        </p:nvSpPr>
        <p:spPr/>
        <p:txBody>
          <a:bodyPr/>
          <a:lstStyle/>
          <a:p>
            <a:r>
              <a:rPr lang="zh-CN" altLang="en-US"/>
              <a:t>季度：开了下一个季度的，那每月底转出去确认收入的就是</a:t>
            </a:r>
            <a:r>
              <a:rPr lang="en-US" altLang="zh-CN"/>
              <a:t>1/3</a:t>
            </a:r>
            <a:r>
              <a:rPr lang="zh-CN" altLang="en-US"/>
              <a:t>和</a:t>
            </a:r>
            <a:r>
              <a:rPr lang="en-US" altLang="zh-CN"/>
              <a:t>1/3</a:t>
            </a:r>
            <a:r>
              <a:rPr lang="zh-CN" altLang="en-US"/>
              <a:t>和</a:t>
            </a:r>
            <a:r>
              <a:rPr lang="en-US" altLang="zh-CN"/>
              <a:t>1/3</a:t>
            </a:r>
            <a:r>
              <a:rPr lang="zh-CN" altLang="en-US"/>
              <a:t>。正常季度开票的时点是事前开。</a:t>
            </a:r>
            <a:endParaRPr lang="en-US" altLang="zh-CN"/>
          </a:p>
        </p:txBody>
      </p:sp>
      <p:sp>
        <p:nvSpPr>
          <p:cNvPr id="4" name="灯片编号占位符 3">
            <a:extLst>
              <a:ext uri="{FF2B5EF4-FFF2-40B4-BE49-F238E27FC236}">
                <a16:creationId xmlns:a16="http://schemas.microsoft.com/office/drawing/2014/main" id="{D3A0F3C5-EEAB-7385-7534-FAA1FF148193}"/>
              </a:ext>
            </a:extLst>
          </p:cNvPr>
          <p:cNvSpPr>
            <a:spLocks noGrp="1"/>
          </p:cNvSpPr>
          <p:nvPr>
            <p:ph type="sldNum" sz="quarter" idx="5"/>
          </p:nvPr>
        </p:nvSpPr>
        <p:spPr/>
        <p:txBody>
          <a:bodyPr/>
          <a:lstStyle/>
          <a:p>
            <a:fld id="{9FCD7C6C-628C-4A66-96CF-D2300D9F95AC}" type="slidenum">
              <a:rPr lang="en-US" altLang="zh-Hans" smtClean="0"/>
              <a:t>171</a:t>
            </a:fld>
            <a:endParaRPr lang="zh-Hans" altLang="en-US"/>
          </a:p>
        </p:txBody>
      </p:sp>
    </p:spTree>
    <p:extLst>
      <p:ext uri="{BB962C8B-B14F-4D97-AF65-F5344CB8AC3E}">
        <p14:creationId xmlns:p14="http://schemas.microsoft.com/office/powerpoint/2010/main" val="200282389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0DCAE0-3AC8-4417-3632-3E804A2AE94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68DB0C2-A232-B543-E499-AF5618AF1A8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273FCE4-669A-962E-14BF-65E1BEFCC2EF}"/>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537A0D3E-4A37-07AA-67CF-2265C2724B0A}"/>
              </a:ext>
            </a:extLst>
          </p:cNvPr>
          <p:cNvSpPr>
            <a:spLocks noGrp="1"/>
          </p:cNvSpPr>
          <p:nvPr>
            <p:ph type="sldNum" sz="quarter" idx="5"/>
          </p:nvPr>
        </p:nvSpPr>
        <p:spPr/>
        <p:txBody>
          <a:bodyPr/>
          <a:lstStyle/>
          <a:p>
            <a:fld id="{9FCD7C6C-628C-4A66-96CF-D2300D9F95AC}" type="slidenum">
              <a:rPr lang="en-US" altLang="zh-Hans" smtClean="0"/>
              <a:t>172</a:t>
            </a:fld>
            <a:endParaRPr lang="zh-Hans" altLang="en-US"/>
          </a:p>
        </p:txBody>
      </p:sp>
    </p:spTree>
    <p:extLst>
      <p:ext uri="{BB962C8B-B14F-4D97-AF65-F5344CB8AC3E}">
        <p14:creationId xmlns:p14="http://schemas.microsoft.com/office/powerpoint/2010/main" val="347587956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a:t>AFE</a:t>
            </a:r>
            <a:r>
              <a:rPr lang="zh-CN" altLang="en-US" strike="sngStrike" baseline="0"/>
              <a:t>： </a:t>
            </a:r>
            <a:r>
              <a:rPr lang="en-US" altLang="zh-CN" strike="sngStrike" baseline="0" err="1"/>
              <a:t>odessa</a:t>
            </a:r>
            <a:r>
              <a:rPr lang="zh-CN" altLang="en-US" strike="sngStrike" baseline="0"/>
              <a:t>也要跟</a:t>
            </a:r>
            <a:r>
              <a:rPr lang="en-US" altLang="zh-CN" strike="sngStrike" baseline="0"/>
              <a:t>advanced billing</a:t>
            </a:r>
            <a:r>
              <a:rPr lang="zh-CN" altLang="en-US" strike="sngStrike" baseline="0"/>
              <a:t>节奏去做</a:t>
            </a:r>
            <a:r>
              <a:rPr lang="en-US" altLang="zh-CN" strike="sngStrike" baseline="0"/>
              <a:t>LTAR</a:t>
            </a:r>
            <a:r>
              <a:rPr lang="zh-CN" altLang="en-US" strike="sngStrike" baseline="0"/>
              <a:t>的</a:t>
            </a:r>
            <a:r>
              <a:rPr lang="en-US" altLang="zh-CN" strike="sngStrike" baseline="0"/>
              <a:t>setoff</a:t>
            </a:r>
            <a:r>
              <a:rPr lang="zh-CN" altLang="en-US" strike="sngStrike" baseline="0"/>
              <a:t>。</a:t>
            </a:r>
            <a:r>
              <a:rPr lang="en-US" altLang="zh-CN" strike="sngStrike" baseline="0"/>
              <a:t>Advanced </a:t>
            </a:r>
            <a:r>
              <a:rPr lang="zh-CN" altLang="en-US" strike="sngStrike" baseline="0"/>
              <a:t>的信息要传给</a:t>
            </a:r>
            <a:r>
              <a:rPr lang="en-US" altLang="zh-CN" strike="sngStrike" baseline="0" err="1"/>
              <a:t>odessa</a:t>
            </a:r>
            <a:r>
              <a:rPr lang="zh-CN" altLang="en-US" strike="sngStrike" baseline="0"/>
              <a:t>。</a:t>
            </a:r>
          </a:p>
        </p:txBody>
      </p:sp>
      <p:sp>
        <p:nvSpPr>
          <p:cNvPr id="4" name="灯片编号占位符 3"/>
          <p:cNvSpPr>
            <a:spLocks noGrp="1"/>
          </p:cNvSpPr>
          <p:nvPr>
            <p:ph type="sldNum" sz="quarter" idx="5"/>
          </p:nvPr>
        </p:nvSpPr>
        <p:spPr/>
        <p:txBody>
          <a:bodyPr/>
          <a:lstStyle/>
          <a:p>
            <a:fld id="{9FCD7C6C-628C-4A66-96CF-D2300D9F95AC}" type="slidenum">
              <a:rPr lang="en-US" altLang="zh-CN" smtClean="0"/>
              <a:t>173</a:t>
            </a:fld>
            <a:endParaRPr lang="zh-CN" altLang="en-US"/>
          </a:p>
        </p:txBody>
      </p:sp>
    </p:spTree>
    <p:extLst>
      <p:ext uri="{BB962C8B-B14F-4D97-AF65-F5344CB8AC3E}">
        <p14:creationId xmlns:p14="http://schemas.microsoft.com/office/powerpoint/2010/main" val="1348902455"/>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0FDDE4-83CC-53FD-F93F-8F430A5CBA1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FEA7126-0EF7-AA9C-8352-04A3337347C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885EDEE-AEA0-C5AD-2615-1600FCC77D23}"/>
              </a:ext>
            </a:extLst>
          </p:cNvPr>
          <p:cNvSpPr>
            <a:spLocks noGrp="1"/>
          </p:cNvSpPr>
          <p:nvPr>
            <p:ph type="body" idx="1"/>
          </p:nvPr>
        </p:nvSpPr>
        <p:spPr/>
        <p:txBody>
          <a:bodyPr/>
          <a:lstStyle/>
          <a:p>
            <a:r>
              <a:rPr lang="en-US" altLang="zh-CN"/>
              <a:t>A flexible type of one time invoice , to input any data to generate invoice ,  for service , for HW, or for penalty </a:t>
            </a:r>
            <a:endParaRPr lang="zh-CN" altLang="en-US"/>
          </a:p>
        </p:txBody>
      </p:sp>
      <p:sp>
        <p:nvSpPr>
          <p:cNvPr id="4" name="灯片编号占位符 3">
            <a:extLst>
              <a:ext uri="{FF2B5EF4-FFF2-40B4-BE49-F238E27FC236}">
                <a16:creationId xmlns:a16="http://schemas.microsoft.com/office/drawing/2014/main" id="{81B99851-5D76-01BA-A43D-FC92E32BF2EA}"/>
              </a:ext>
            </a:extLst>
          </p:cNvPr>
          <p:cNvSpPr>
            <a:spLocks noGrp="1"/>
          </p:cNvSpPr>
          <p:nvPr>
            <p:ph type="sldNum" sz="quarter" idx="5"/>
          </p:nvPr>
        </p:nvSpPr>
        <p:spPr/>
        <p:txBody>
          <a:bodyPr/>
          <a:lstStyle/>
          <a:p>
            <a:fld id="{4AED87EB-65D7-4500-873C-410831173A82}" type="slidenum">
              <a:rPr lang="en-US" smtClean="0"/>
              <a:pPr/>
              <a:t>174</a:t>
            </a:fld>
            <a:endParaRPr lang="en-US"/>
          </a:p>
        </p:txBody>
      </p:sp>
    </p:spTree>
    <p:extLst>
      <p:ext uri="{BB962C8B-B14F-4D97-AF65-F5344CB8AC3E}">
        <p14:creationId xmlns:p14="http://schemas.microsoft.com/office/powerpoint/2010/main" val="363037439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A1A196-51B4-B483-FD06-B4E0724DFA8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C180DCA-0F01-88AE-77BB-46471EB281D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95A97E3-5F77-6961-FE2D-2D897FD322B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83E620F7-453C-82DD-7E45-01B875DE6BE4}"/>
              </a:ext>
            </a:extLst>
          </p:cNvPr>
          <p:cNvSpPr>
            <a:spLocks noGrp="1"/>
          </p:cNvSpPr>
          <p:nvPr>
            <p:ph type="sldNum" sz="quarter" idx="10"/>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4AED87EB-65D7-4500-873C-410831173A82}" type="slidenum">
              <a:rPr kumimoji="0" lang="en-US" sz="800" b="0" i="0" u="none" strike="noStrike" kern="1200" cap="none" spc="0" normalizeH="0" baseline="0" noProof="0" smtClean="0">
                <a:ln>
                  <a:noFill/>
                </a:ln>
                <a:solidFill>
                  <a:prstClr val="black"/>
                </a:solidFill>
                <a:effectLst/>
                <a:uLnTx/>
                <a:uFillTx/>
                <a:latin typeface="Arial" pitchFamily="34" charset="0"/>
                <a:ea typeface="+mn-ea"/>
                <a:cs typeface="Arial" pitchFamily="34" charset="0"/>
              </a:rPr>
              <a:pPr marL="0" marR="0" lvl="0" indent="0" algn="r" defTabSz="1218987" rtl="0" eaLnBrk="1" fontAlgn="auto" latinLnBrk="0" hangingPunct="1">
                <a:lnSpc>
                  <a:spcPct val="100000"/>
                </a:lnSpc>
                <a:spcBef>
                  <a:spcPts val="0"/>
                </a:spcBef>
                <a:spcAft>
                  <a:spcPts val="0"/>
                </a:spcAft>
                <a:buClrTx/>
                <a:buSzTx/>
                <a:buFontTx/>
                <a:buNone/>
                <a:tabLst/>
                <a:defRPr/>
              </a:pPr>
              <a:t>177</a:t>
            </a:fld>
            <a:endParaRPr kumimoji="0" lang="en-US" sz="800" b="0" i="0" u="none" strike="noStrike" kern="1200" cap="none" spc="0" normalizeH="0" baseline="0" noProof="0">
              <a:ln>
                <a:noFill/>
              </a:ln>
              <a:solidFill>
                <a:prstClr val="black"/>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105062005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Tx/>
              <a:buNone/>
            </a:pPr>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BEC59FF-65F6-4E1B-AC3F-3EF7A15570A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itchFamily="34" charset="0"/>
            </a:endParaRPr>
          </a:p>
        </p:txBody>
      </p:sp>
    </p:spTree>
    <p:extLst>
      <p:ext uri="{BB962C8B-B14F-4D97-AF65-F5344CB8AC3E}">
        <p14:creationId xmlns:p14="http://schemas.microsoft.com/office/powerpoint/2010/main" val="360701792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F22056-7A2E-5198-D08C-200B20BBE48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8C294D4-3140-FA7C-5CD1-0F2E22B9832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D9B5344-D037-D8EF-DAEB-8458D0646192}"/>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3D34E8BA-5530-E9C2-9DE3-2E8B52C621A5}"/>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AED87EB-65D7-4500-873C-410831173A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9209444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7E6BD6-30F2-F2C4-DA26-04DBB4006D9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CE1CBFB-3D89-129A-9195-35906699F3D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E82C1F0-342C-B159-6AE1-984BF126DA51}"/>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DD037111-514D-DFDB-752E-FFCB95783593}"/>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AED87EB-65D7-4500-873C-410831173A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1559187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420152-9844-22C8-9DA2-A7ACDFD8E2D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C864118-5488-8A69-AEA1-A80091A9A6D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C1D5F10-B55B-7B28-6EB0-CEF48F90B555}"/>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A34A09FE-6428-6C83-FA80-396F11B74EA5}"/>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AED87EB-65D7-4500-873C-410831173A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731687475"/>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6C2FD7-7561-6663-6ACF-F043B2CB435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DB836D9-2AE6-787C-297E-95186E7774F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D816AC1-A0EE-6FDF-56C5-FC66A6254858}"/>
              </a:ext>
            </a:extLst>
          </p:cNvPr>
          <p:cNvSpPr>
            <a:spLocks noGrp="1"/>
          </p:cNvSpPr>
          <p:nvPr>
            <p:ph type="body" idx="1"/>
          </p:nvPr>
        </p:nvSpPr>
        <p:spPr/>
        <p:txBody>
          <a:bodyPr/>
          <a:lstStyle/>
          <a:p>
            <a:endParaRPr lang="zh-CN" altLang="en-US"/>
          </a:p>
        </p:txBody>
      </p:sp>
      <p:sp>
        <p:nvSpPr>
          <p:cNvPr id="4" name="灯片编号占位符 3">
            <a:extLst>
              <a:ext uri="{FF2B5EF4-FFF2-40B4-BE49-F238E27FC236}">
                <a16:creationId xmlns:a16="http://schemas.microsoft.com/office/drawing/2014/main" id="{1BAC4483-439C-BE68-072C-D2124D58ADDB}"/>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AED87EB-65D7-4500-873C-410831173A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183</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34889399"/>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75C948-D6FE-43EC-856D-13DBAE8B866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CA721C1-121F-892C-AECA-09A61DBBE0D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CFDC9AB-1FF7-FD8A-171B-2DA6B4F83D9D}"/>
              </a:ext>
            </a:extLst>
          </p:cNvPr>
          <p:cNvSpPr>
            <a:spLocks noGrp="1"/>
          </p:cNvSpPr>
          <p:nvPr>
            <p:ph type="body" idx="1"/>
          </p:nvPr>
        </p:nvSpPr>
        <p:spPr/>
        <p:txBody>
          <a:bodyPr/>
          <a:lstStyle/>
          <a:p>
            <a:r>
              <a:rPr lang="en-US" altLang="zh-CN"/>
              <a:t>Key Assumption, downpayment will be after lease commenced, 1400301 have been booked in Odessa, 1400308 have been booked in SAP.</a:t>
            </a:r>
            <a:endParaRPr lang="zh-CN" altLang="en-US"/>
          </a:p>
        </p:txBody>
      </p:sp>
      <p:sp>
        <p:nvSpPr>
          <p:cNvPr id="4" name="灯片编号占位符 3">
            <a:extLst>
              <a:ext uri="{FF2B5EF4-FFF2-40B4-BE49-F238E27FC236}">
                <a16:creationId xmlns:a16="http://schemas.microsoft.com/office/drawing/2014/main" id="{F57281C9-8453-A18B-DB8E-F643CB79B43C}"/>
              </a:ext>
            </a:extLst>
          </p:cNvPr>
          <p:cNvSpPr>
            <a:spLocks noGrp="1"/>
          </p:cNvSpPr>
          <p:nvPr>
            <p:ph type="sldNum" sz="quarter" idx="5"/>
          </p:nvPr>
        </p:nvSpPr>
        <p:spPr/>
        <p:txBody>
          <a:bodyPr/>
          <a:lstStyle/>
          <a:p>
            <a:fld id="{9FCD7C6C-628C-4A66-96CF-D2300D9F95AC}" type="slidenum">
              <a:rPr lang="en-US" altLang="zh-Hans" smtClean="0"/>
              <a:t>188</a:t>
            </a:fld>
            <a:endParaRPr lang="zh-Hans" altLang="en-US"/>
          </a:p>
        </p:txBody>
      </p:sp>
    </p:spTree>
    <p:extLst>
      <p:ext uri="{BB962C8B-B14F-4D97-AF65-F5344CB8AC3E}">
        <p14:creationId xmlns:p14="http://schemas.microsoft.com/office/powerpoint/2010/main" val="915262606"/>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时间节点：</a:t>
            </a:r>
            <a:endParaRPr lang="en-US" altLang="zh-CN"/>
          </a:p>
          <a:p>
            <a:pPr marL="171450" indent="-171450">
              <a:buFontTx/>
              <a:buChar char="-"/>
            </a:pPr>
            <a:r>
              <a:rPr lang="en-US" altLang="zh-CN"/>
              <a:t>DAAS converge: 1</a:t>
            </a:r>
            <a:r>
              <a:rPr lang="en-US" altLang="zh-CN" baseline="30000"/>
              <a:t>st</a:t>
            </a:r>
            <a:r>
              <a:rPr lang="en-US" altLang="zh-CN"/>
              <a:t>-5</a:t>
            </a:r>
            <a:r>
              <a:rPr lang="en-US" altLang="zh-CN" baseline="30000"/>
              <a:t>th</a:t>
            </a:r>
            <a:endParaRPr lang="en-US" altLang="zh-CN"/>
          </a:p>
          <a:p>
            <a:pPr marL="171450" indent="-171450">
              <a:buFontTx/>
              <a:buChar char="-"/>
            </a:pPr>
            <a:r>
              <a:rPr lang="en-US" altLang="zh-CN"/>
              <a:t>DAAS detail: before 25</a:t>
            </a:r>
            <a:r>
              <a:rPr lang="en-US" altLang="zh-CN" baseline="30000"/>
              <a:t>th</a:t>
            </a:r>
            <a:r>
              <a:rPr lang="en-US" altLang="zh-CN"/>
              <a:t> </a:t>
            </a:r>
          </a:p>
          <a:p>
            <a:pPr marL="171450" indent="-171450">
              <a:buFontTx/>
              <a:buChar char="-"/>
            </a:pPr>
            <a:endParaRPr lang="en-US" altLang="zh-CN"/>
          </a:p>
          <a:p>
            <a:r>
              <a:rPr lang="zh-CN" altLang="en-US"/>
              <a:t>触发方和触发条件：</a:t>
            </a:r>
            <a:endParaRPr lang="en-US" altLang="zh-CN"/>
          </a:p>
          <a:p>
            <a:pPr marL="171450" indent="-171450">
              <a:buFontTx/>
              <a:buChar char="-"/>
            </a:pPr>
            <a:r>
              <a:rPr lang="en-US" altLang="zh-CN"/>
              <a:t>Customer acceptance </a:t>
            </a:r>
            <a:r>
              <a:rPr lang="zh-CN" altLang="en-US"/>
              <a:t>假设</a:t>
            </a:r>
            <a:r>
              <a:rPr lang="en-US" altLang="zh-CN"/>
              <a:t>1.18</a:t>
            </a:r>
            <a:r>
              <a:rPr lang="zh-CN" altLang="en-US"/>
              <a:t>， </a:t>
            </a:r>
            <a:r>
              <a:rPr lang="en-US" altLang="zh-CN"/>
              <a:t>SPS 1.25</a:t>
            </a:r>
          </a:p>
          <a:p>
            <a:pPr marL="171450" indent="-171450">
              <a:buFontTx/>
              <a:buChar char="-"/>
            </a:pPr>
            <a:endParaRPr lang="en-US" altLang="zh-CN"/>
          </a:p>
          <a:p>
            <a:pPr marL="0" indent="0">
              <a:buFontTx/>
              <a:buNone/>
            </a:pPr>
            <a:endParaRPr lang="zh-CN" altLang="en-US"/>
          </a:p>
        </p:txBody>
      </p:sp>
      <p:sp>
        <p:nvSpPr>
          <p:cNvPr id="4" name="灯片编号占位符 3"/>
          <p:cNvSpPr>
            <a:spLocks noGrp="1"/>
          </p:cNvSpPr>
          <p:nvPr>
            <p:ph type="sldNum" sz="quarter" idx="5"/>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4AED87EB-65D7-4500-873C-410831173A82}" type="slidenum">
              <a:rPr kumimoji="0" lang="en-US" sz="800" b="0" i="0" u="none" strike="noStrike" kern="1200" cap="none" spc="0" normalizeH="0" baseline="0" noProof="0" smtClean="0">
                <a:ln>
                  <a:noFill/>
                </a:ln>
                <a:solidFill>
                  <a:prstClr val="black"/>
                </a:solidFill>
                <a:effectLst/>
                <a:uLnTx/>
                <a:uFillTx/>
                <a:latin typeface="Arial" pitchFamily="34" charset="0"/>
                <a:ea typeface="+mn-ea"/>
                <a:cs typeface="Arial" pitchFamily="34" charset="0"/>
              </a:rPr>
              <a:pPr marL="0" marR="0" lvl="0" indent="0" algn="r" defTabSz="1218987" rtl="0" eaLnBrk="1" fontAlgn="auto" latinLnBrk="0" hangingPunct="1">
                <a:lnSpc>
                  <a:spcPct val="100000"/>
                </a:lnSpc>
                <a:spcBef>
                  <a:spcPts val="0"/>
                </a:spcBef>
                <a:spcAft>
                  <a:spcPts val="0"/>
                </a:spcAft>
                <a:buClrTx/>
                <a:buSzTx/>
                <a:buFontTx/>
                <a:buNone/>
                <a:tabLst/>
                <a:defRPr/>
              </a:pPr>
              <a:t>191</a:t>
            </a:fld>
            <a:endParaRPr kumimoji="0" lang="en-US" sz="800" b="0" i="0" u="none" strike="noStrike" kern="1200" cap="none" spc="0" normalizeH="0" baseline="0" noProof="0">
              <a:ln>
                <a:noFill/>
              </a:ln>
              <a:solidFill>
                <a:prstClr val="black"/>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4234176149"/>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5A9805-6FFC-471A-E30C-A1D24BD75D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195AAE-CC01-117A-9938-6C9713874DF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D313FD5-3B4B-B8E4-2C8E-2AE0A806A77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E42EE2E-4061-602A-4061-8D1AC30944F9}"/>
              </a:ext>
            </a:extLst>
          </p:cNvPr>
          <p:cNvSpPr>
            <a:spLocks noGrp="1"/>
          </p:cNvSpPr>
          <p:nvPr>
            <p:ph type="sldNum" sz="quarter" idx="5"/>
          </p:nvPr>
        </p:nvSpPr>
        <p:spPr/>
        <p:txBody>
          <a:bodyPr/>
          <a:lstStyle/>
          <a:p>
            <a:fld id="{9FCD7C6C-628C-4A66-96CF-D2300D9F95AC}" type="slidenum">
              <a:rPr lang="en-US" smtClean="0"/>
              <a:t>195</a:t>
            </a:fld>
            <a:endParaRPr lang="en-US"/>
          </a:p>
        </p:txBody>
      </p:sp>
    </p:spTree>
    <p:extLst>
      <p:ext uri="{BB962C8B-B14F-4D97-AF65-F5344CB8AC3E}">
        <p14:creationId xmlns:p14="http://schemas.microsoft.com/office/powerpoint/2010/main" val="363157728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0DBDBC-E670-C335-DCE6-1FA093801B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5C8DF97-7F82-0986-912B-239D2A2DBBF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87B3E36-F84D-0AF4-A6ED-B2E4CE0B69A0}"/>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A65BBA2B-6E4A-C7C0-ABE2-666F35A31895}"/>
              </a:ext>
            </a:extLst>
          </p:cNvPr>
          <p:cNvSpPr>
            <a:spLocks noGrp="1"/>
          </p:cNvSpPr>
          <p:nvPr>
            <p:ph type="sldNum" sz="quarter" idx="5"/>
          </p:nvPr>
        </p:nvSpPr>
        <p:spPr/>
        <p:txBody>
          <a:bodyPr/>
          <a:lstStyle/>
          <a:p>
            <a:fld id="{9FCD7C6C-628C-4A66-96CF-D2300D9F95AC}" type="slidenum">
              <a:rPr lang="en-US" smtClean="0"/>
              <a:t>196</a:t>
            </a:fld>
            <a:endParaRPr lang="en-US"/>
          </a:p>
        </p:txBody>
      </p:sp>
    </p:spTree>
    <p:extLst>
      <p:ext uri="{BB962C8B-B14F-4D97-AF65-F5344CB8AC3E}">
        <p14:creationId xmlns:p14="http://schemas.microsoft.com/office/powerpoint/2010/main" val="3967093018"/>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11E294-C58A-0272-DB39-6221D1A6E9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8C6C90-B582-21EB-FBDD-D05FBF8AEB2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B52F22D-F7D1-ED7D-33F0-37C954E9565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6C6938A-68B7-C3CD-24D5-BC14134E6AE4}"/>
              </a:ext>
            </a:extLst>
          </p:cNvPr>
          <p:cNvSpPr>
            <a:spLocks noGrp="1"/>
          </p:cNvSpPr>
          <p:nvPr>
            <p:ph type="sldNum" sz="quarter" idx="5"/>
          </p:nvPr>
        </p:nvSpPr>
        <p:spPr/>
        <p:txBody>
          <a:bodyPr/>
          <a:lstStyle/>
          <a:p>
            <a:fld id="{9FCD7C6C-628C-4A66-96CF-D2300D9F95AC}" type="slidenum">
              <a:rPr lang="en-US" smtClean="0"/>
              <a:t>197</a:t>
            </a:fld>
            <a:endParaRPr lang="en-US"/>
          </a:p>
        </p:txBody>
      </p:sp>
    </p:spTree>
    <p:extLst>
      <p:ext uri="{BB962C8B-B14F-4D97-AF65-F5344CB8AC3E}">
        <p14:creationId xmlns:p14="http://schemas.microsoft.com/office/powerpoint/2010/main" val="14164860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3.xml"/><Relationship Id="rId1" Type="http://schemas.openxmlformats.org/officeDocument/2006/relationships/tags" Target="../tags/tag3.xml"/><Relationship Id="rId4" Type="http://schemas.openxmlformats.org/officeDocument/2006/relationships/image" Target="../media/image16.emf"/></Relationships>
</file>

<file path=ppt/slideLayouts/_rels/slideLayout119.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3.xml"/><Relationship Id="rId1" Type="http://schemas.openxmlformats.org/officeDocument/2006/relationships/tags" Target="../tags/tag4.xml"/><Relationship Id="rId4" Type="http://schemas.openxmlformats.org/officeDocument/2006/relationships/image" Target="../media/image16.emf"/></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5.xml"/><Relationship Id="rId5" Type="http://schemas.openxmlformats.org/officeDocument/2006/relationships/image" Target="../media/image1.png"/><Relationship Id="rId4" Type="http://schemas.openxmlformats.org/officeDocument/2006/relationships/image" Target="../media/image18.emf"/></Relationships>
</file>

<file path=ppt/slideLayouts/_rels/slideLayout122.xml.rels><?xml version="1.0" encoding="UTF-8" standalone="yes"?>
<Relationships xmlns="http://schemas.openxmlformats.org/package/2006/relationships"><Relationship Id="rId8" Type="http://schemas.openxmlformats.org/officeDocument/2006/relationships/slideMaster" Target="../slideMasters/slideMaster3.xml"/><Relationship Id="rId3" Type="http://schemas.openxmlformats.org/officeDocument/2006/relationships/tags" Target="../tags/tag8.xml"/><Relationship Id="rId7" Type="http://schemas.openxmlformats.org/officeDocument/2006/relationships/tags" Target="../tags/tag12.xml"/><Relationship Id="rId2" Type="http://schemas.openxmlformats.org/officeDocument/2006/relationships/tags" Target="../tags/tag7.xml"/><Relationship Id="rId1" Type="http://schemas.openxmlformats.org/officeDocument/2006/relationships/tags" Target="../tags/tag6.xml"/><Relationship Id="rId6" Type="http://schemas.openxmlformats.org/officeDocument/2006/relationships/tags" Target="../tags/tag11.xml"/><Relationship Id="rId5" Type="http://schemas.openxmlformats.org/officeDocument/2006/relationships/tags" Target="../tags/tag10.xml"/><Relationship Id="rId10" Type="http://schemas.openxmlformats.org/officeDocument/2006/relationships/image" Target="../media/image19.emf"/><Relationship Id="rId4" Type="http://schemas.openxmlformats.org/officeDocument/2006/relationships/tags" Target="../tags/tag9.xml"/><Relationship Id="rId9" Type="http://schemas.openxmlformats.org/officeDocument/2006/relationships/oleObject" Target="../embeddings/oleObject5.bin"/></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jpeg"/><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3" Type="http://schemas.openxmlformats.org/officeDocument/2006/relationships/slideMaster" Target="../slideMasters/slideMaster4.xml"/><Relationship Id="rId2" Type="http://schemas.openxmlformats.org/officeDocument/2006/relationships/tags" Target="../tags/tag15.xml"/><Relationship Id="rId1" Type="http://schemas.openxmlformats.org/officeDocument/2006/relationships/tags" Target="../tags/tag14.xml"/><Relationship Id="rId5" Type="http://schemas.openxmlformats.org/officeDocument/2006/relationships/image" Target="../media/image25.emf"/><Relationship Id="rId4" Type="http://schemas.openxmlformats.org/officeDocument/2006/relationships/oleObject" Target="../embeddings/oleObject7.bin"/></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8" Type="http://schemas.openxmlformats.org/officeDocument/2006/relationships/slideMaster" Target="../slideMasters/slideMaster4.xml"/><Relationship Id="rId3" Type="http://schemas.openxmlformats.org/officeDocument/2006/relationships/tags" Target="../tags/tag18.xml"/><Relationship Id="rId7" Type="http://schemas.openxmlformats.org/officeDocument/2006/relationships/tags" Target="../tags/tag22.xml"/><Relationship Id="rId2" Type="http://schemas.openxmlformats.org/officeDocument/2006/relationships/tags" Target="../tags/tag17.xml"/><Relationship Id="rId1" Type="http://schemas.openxmlformats.org/officeDocument/2006/relationships/tags" Target="../tags/tag16.xml"/><Relationship Id="rId6" Type="http://schemas.openxmlformats.org/officeDocument/2006/relationships/tags" Target="../tags/tag21.xml"/><Relationship Id="rId5" Type="http://schemas.openxmlformats.org/officeDocument/2006/relationships/tags" Target="../tags/tag20.xml"/><Relationship Id="rId10" Type="http://schemas.openxmlformats.org/officeDocument/2006/relationships/image" Target="../media/image19.emf"/><Relationship Id="rId4" Type="http://schemas.openxmlformats.org/officeDocument/2006/relationships/tags" Target="../tags/tag19.xml"/><Relationship Id="rId9" Type="http://schemas.openxmlformats.org/officeDocument/2006/relationships/oleObject" Target="../embeddings/oleObject8.bin"/></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6.xml"/></Relationships>
</file>

<file path=ppt/slideLayouts/_rels/slideLayout24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jpeg"/><Relationship Id="rId1" Type="http://schemas.openxmlformats.org/officeDocument/2006/relationships/slideMaster" Target="../slideMasters/slideMaster6.xml"/></Relationships>
</file>

<file path=ppt/slideLayouts/_rels/slideLayout241.xml.rels><?xml version="1.0" encoding="UTF-8" standalone="yes"?>
<Relationships xmlns="http://schemas.openxmlformats.org/package/2006/relationships"><Relationship Id="rId3" Type="http://schemas.openxmlformats.org/officeDocument/2006/relationships/slideMaster" Target="../slideMasters/slideMaster6.xml"/><Relationship Id="rId2" Type="http://schemas.openxmlformats.org/officeDocument/2006/relationships/tags" Target="../tags/tag26.xml"/><Relationship Id="rId1" Type="http://schemas.openxmlformats.org/officeDocument/2006/relationships/tags" Target="../tags/tag25.xml"/><Relationship Id="rId5" Type="http://schemas.openxmlformats.org/officeDocument/2006/relationships/image" Target="../media/image25.emf"/><Relationship Id="rId4" Type="http://schemas.openxmlformats.org/officeDocument/2006/relationships/oleObject" Target="../embeddings/oleObject7.bin"/></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3.xml.rels><?xml version="1.0" encoding="UTF-8" standalone="yes"?>
<Relationships xmlns="http://schemas.openxmlformats.org/package/2006/relationships"><Relationship Id="rId8" Type="http://schemas.openxmlformats.org/officeDocument/2006/relationships/slideMaster" Target="../slideMasters/slideMaster6.xml"/><Relationship Id="rId3" Type="http://schemas.openxmlformats.org/officeDocument/2006/relationships/tags" Target="../tags/tag29.xml"/><Relationship Id="rId7" Type="http://schemas.openxmlformats.org/officeDocument/2006/relationships/tags" Target="../tags/tag33.xml"/><Relationship Id="rId2" Type="http://schemas.openxmlformats.org/officeDocument/2006/relationships/tags" Target="../tags/tag28.xml"/><Relationship Id="rId1" Type="http://schemas.openxmlformats.org/officeDocument/2006/relationships/tags" Target="../tags/tag27.xml"/><Relationship Id="rId6" Type="http://schemas.openxmlformats.org/officeDocument/2006/relationships/tags" Target="../tags/tag32.xml"/><Relationship Id="rId5" Type="http://schemas.openxmlformats.org/officeDocument/2006/relationships/tags" Target="../tags/tag31.xml"/><Relationship Id="rId10" Type="http://schemas.openxmlformats.org/officeDocument/2006/relationships/image" Target="../media/image19.emf"/><Relationship Id="rId4" Type="http://schemas.openxmlformats.org/officeDocument/2006/relationships/tags" Target="../tags/tag30.xml"/><Relationship Id="rId9" Type="http://schemas.openxmlformats.org/officeDocument/2006/relationships/oleObject" Target="../embeddings/oleObject8.bin"/></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8.xml"/></Relationships>
</file>

<file path=ppt/slideLayouts/_rels/slideLayout26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6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63.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6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6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6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70.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9.xml"/></Relationships>
</file>

<file path=ppt/slideLayouts/_rels/slideLayout30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jpeg"/><Relationship Id="rId1" Type="http://schemas.openxmlformats.org/officeDocument/2006/relationships/slideMaster" Target="../slideMasters/slideMaster9.xml"/></Relationships>
</file>

<file path=ppt/slideLayouts/_rels/slideLayout306.xml.rels><?xml version="1.0" encoding="UTF-8" standalone="yes"?>
<Relationships xmlns="http://schemas.openxmlformats.org/package/2006/relationships"><Relationship Id="rId3" Type="http://schemas.openxmlformats.org/officeDocument/2006/relationships/slideMaster" Target="../slideMasters/slideMaster9.xml"/><Relationship Id="rId2" Type="http://schemas.openxmlformats.org/officeDocument/2006/relationships/tags" Target="../tags/tag38.xml"/><Relationship Id="rId1" Type="http://schemas.openxmlformats.org/officeDocument/2006/relationships/tags" Target="../tags/tag37.xml"/><Relationship Id="rId5" Type="http://schemas.openxmlformats.org/officeDocument/2006/relationships/image" Target="../media/image25.emf"/><Relationship Id="rId4" Type="http://schemas.openxmlformats.org/officeDocument/2006/relationships/oleObject" Target="../embeddings/oleObject7.bin"/></Relationships>
</file>

<file path=ppt/slideLayouts/_rels/slideLayout307.xml.rels><?xml version="1.0" encoding="UTF-8" standalone="yes"?>
<Relationships xmlns="http://schemas.openxmlformats.org/package/2006/relationships"><Relationship Id="rId8" Type="http://schemas.openxmlformats.org/officeDocument/2006/relationships/slideMaster" Target="../slideMasters/slideMaster9.xml"/><Relationship Id="rId3" Type="http://schemas.openxmlformats.org/officeDocument/2006/relationships/tags" Target="../tags/tag41.xml"/><Relationship Id="rId7" Type="http://schemas.openxmlformats.org/officeDocument/2006/relationships/tags" Target="../tags/tag45.xml"/><Relationship Id="rId2" Type="http://schemas.openxmlformats.org/officeDocument/2006/relationships/tags" Target="../tags/tag40.xml"/><Relationship Id="rId1" Type="http://schemas.openxmlformats.org/officeDocument/2006/relationships/tags" Target="../tags/tag39.xml"/><Relationship Id="rId6" Type="http://schemas.openxmlformats.org/officeDocument/2006/relationships/tags" Target="../tags/tag44.xml"/><Relationship Id="rId5" Type="http://schemas.openxmlformats.org/officeDocument/2006/relationships/tags" Target="../tags/tag43.xml"/><Relationship Id="rId10" Type="http://schemas.openxmlformats.org/officeDocument/2006/relationships/image" Target="../media/image19.emf"/><Relationship Id="rId4" Type="http://schemas.openxmlformats.org/officeDocument/2006/relationships/tags" Target="../tags/tag42.xml"/><Relationship Id="rId9" Type="http://schemas.openxmlformats.org/officeDocument/2006/relationships/oleObject" Target="../embeddings/oleObject8.bin"/></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0.xml.rels><?xml version="1.0" encoding="UTF-8" standalone="yes"?>
<Relationships xmlns="http://schemas.openxmlformats.org/package/2006/relationships"><Relationship Id="rId3" Type="http://schemas.openxmlformats.org/officeDocument/2006/relationships/tags" Target="../tags/tag49.xml"/><Relationship Id="rId7" Type="http://schemas.openxmlformats.org/officeDocument/2006/relationships/slideMaster" Target="../slideMasters/slideMaster10.xml"/><Relationship Id="rId2" Type="http://schemas.openxmlformats.org/officeDocument/2006/relationships/tags" Target="../tags/tag48.xml"/><Relationship Id="rId1" Type="http://schemas.openxmlformats.org/officeDocument/2006/relationships/tags" Target="../tags/tag47.xml"/><Relationship Id="rId6" Type="http://schemas.openxmlformats.org/officeDocument/2006/relationships/tags" Target="../tags/tag52.xml"/><Relationship Id="rId5" Type="http://schemas.openxmlformats.org/officeDocument/2006/relationships/tags" Target="../tags/tag51.xml"/><Relationship Id="rId4" Type="http://schemas.openxmlformats.org/officeDocument/2006/relationships/tags" Target="../tags/tag50.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1.xml"/></Relationships>
</file>

<file path=ppt/slideLayouts/_rels/slideLayout31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31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3.png"/><Relationship Id="rId1" Type="http://schemas.openxmlformats.org/officeDocument/2006/relationships/slideMaster" Target="../slideMasters/slideMaster11.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1.xml"/></Relationships>
</file>

<file path=ppt/slideLayouts/_rels/slideLayout319.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320.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2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32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3.png"/><Relationship Id="rId1" Type="http://schemas.openxmlformats.org/officeDocument/2006/relationships/slideMaster" Target="../slideMasters/slideMaster11.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1.xml"/></Relationships>
</file>

<file path=ppt/slideLayouts/_rels/slideLayout32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326.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2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846CE7D5-CF57-46EF-B807-FDD0502418D4}" type="datetimeFigureOut">
              <a:rPr lang="en-US" smtClean="0"/>
              <a:t>9/20/2026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38538789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9/20/2026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94913845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846CE7D5-CF57-46EF-B807-FDD0502418D4}" type="datetimeFigureOut">
              <a:rPr lang="en-US" smtClean="0"/>
              <a:t>9/20/2026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59152452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846CE7D5-CF57-46EF-B807-FDD0502418D4}" type="datetimeFigureOut">
              <a:rPr lang="en-US" smtClean="0"/>
              <a:t>9/20/2026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20309203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846CE7D5-CF57-46EF-B807-FDD0502418D4}" type="datetimeFigureOut">
              <a:rPr lang="en-US" smtClean="0"/>
              <a:t>9/20/2026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73317233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46CE7D5-CF57-46EF-B807-FDD0502418D4}" type="datetimeFigureOut">
              <a:rPr lang="en-US" smtClean="0"/>
              <a:t>9/20/2026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21031255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46CE7D5-CF57-46EF-B807-FDD0502418D4}" type="datetimeFigureOut">
              <a:rPr lang="en-US" smtClean="0"/>
              <a:t>9/20/2026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14638898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9/20/2026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17184145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9/20/2026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71895827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9/20/2026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20290545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9/20/2026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47944565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Title and Content_Black">
    <p:bg>
      <p:bgRef idx="1001">
        <a:schemeClr val="bg1"/>
      </p:bgRef>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987" rtl="0" eaLnBrk="1" latinLnBrk="0" hangingPunct="1">
              <a:lnSpc>
                <a:spcPts val="32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548783" y="1307593"/>
            <a:ext cx="11076268" cy="4919588"/>
          </a:xfrm>
          <a:prstGeom prst="rect">
            <a:avLst/>
          </a:prstGeom>
        </p:spPr>
        <p:txBody>
          <a:bodyPr lIns="0" tIns="0" rIns="0" bIns="0"/>
          <a:lstStyle>
            <a:lvl1pPr marL="171450" indent="-171450">
              <a:lnSpc>
                <a:spcPct val="90000"/>
              </a:lnSpc>
              <a:spcBef>
                <a:spcPts val="5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6" name="TextBox 5"/>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2021 Lenovo Internal. All rights reserved.</a:t>
            </a:r>
          </a:p>
        </p:txBody>
      </p:sp>
      <p:grpSp>
        <p:nvGrpSpPr>
          <p:cNvPr id="7" name="Group 6"/>
          <p:cNvGrpSpPr/>
          <p:nvPr userDrawn="1"/>
        </p:nvGrpSpPr>
        <p:grpSpPr>
          <a:xfrm>
            <a:off x="554483" y="6421482"/>
            <a:ext cx="734547" cy="245008"/>
            <a:chOff x="547688" y="952500"/>
            <a:chExt cx="12190413" cy="4067175"/>
          </a:xfrm>
        </p:grpSpPr>
        <p:sp>
          <p:nvSpPr>
            <p:cNvPr id="8" name="Rectangle 7"/>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bg1"/>
                </a:solidFill>
              </a:endParaRPr>
            </a:p>
          </p:txBody>
        </p:sp>
        <p:sp>
          <p:nvSpPr>
            <p:cNvPr id="9" name="Freeform 8"/>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bg1"/>
                </a:solidFill>
              </a:endParaRPr>
            </a:p>
          </p:txBody>
        </p:sp>
        <p:sp>
          <p:nvSpPr>
            <p:cNvPr id="12" name="Freeform 11"/>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bg1"/>
                </a:solidFill>
              </a:endParaRPr>
            </a:p>
          </p:txBody>
        </p:sp>
        <p:sp>
          <p:nvSpPr>
            <p:cNvPr id="13" name="Freeform 12"/>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bg1"/>
                </a:solidFill>
              </a:endParaRPr>
            </a:p>
          </p:txBody>
        </p:sp>
        <p:sp>
          <p:nvSpPr>
            <p:cNvPr id="14" name="Freeform 13"/>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bg1"/>
                </a:solidFill>
              </a:endParaRPr>
            </a:p>
          </p:txBody>
        </p:sp>
        <p:sp>
          <p:nvSpPr>
            <p:cNvPr id="15"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bg1"/>
                </a:solidFill>
              </a:endParaRPr>
            </a:p>
          </p:txBody>
        </p:sp>
        <p:sp>
          <p:nvSpPr>
            <p:cNvPr id="16"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bg1"/>
                </a:solidFill>
              </a:endParaRPr>
            </a:p>
          </p:txBody>
        </p:sp>
      </p:grpSp>
    </p:spTree>
    <p:extLst>
      <p:ext uri="{BB962C8B-B14F-4D97-AF65-F5344CB8AC3E}">
        <p14:creationId xmlns:p14="http://schemas.microsoft.com/office/powerpoint/2010/main" val="3979422096"/>
      </p:ext>
    </p:extLst>
  </p:cSld>
  <p:clrMapOvr>
    <a:overrideClrMapping bg1="lt1" tx1="dk1" bg2="lt2" tx2="dk2" accent1="accent1" accent2="accent2" accent3="accent3" accent4="accent4" accent5="accent5" accent6="accent6" hlink="hlink" folHlink="folHlink"/>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ctr" anchorCtr="0">
            <a:noAutofit/>
          </a:bodyPr>
          <a:lstStyle>
            <a:lvl1pPr marL="0" indent="0">
              <a:lnSpc>
                <a:spcPts val="2200"/>
              </a:lnSpc>
              <a:spcBef>
                <a:spcPts val="0"/>
              </a:spcBef>
              <a:buNone/>
              <a:defRPr sz="22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548783" y="402337"/>
            <a:ext cx="11076268" cy="356789"/>
          </a:xfrm>
          <a:prstGeom prst="rect">
            <a:avLst/>
          </a:prstGeom>
        </p:spPr>
        <p:txBody>
          <a:bodyPr wrap="square" lIns="0" tIns="0" rIns="0" bIns="0" anchor="t" anchorCtr="0"/>
          <a:lstStyle>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216305678"/>
      </p:ext>
    </p:extLst>
  </p:cSld>
  <p:clrMapOvr>
    <a:masterClrMapping/>
  </p:clrMapOvr>
  <p:transition spd="med"/>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userDrawn="1">
  <p:cSld name="Title Slide_Black_Alt">
    <p:bg>
      <p:bgPr>
        <a:solidFill>
          <a:schemeClr val="tx1"/>
        </a:solidFill>
        <a:effectLst/>
      </p:bgPr>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3A0DD018-EAF2-48F3-ABFD-828A5E37FEA0}"/>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sp>
        <p:nvSpPr>
          <p:cNvPr id="56" name="Title 16"/>
          <p:cNvSpPr>
            <a:spLocks noGrp="1"/>
          </p:cNvSpPr>
          <p:nvPr userDrawn="1">
            <p:ph type="title" hasCustomPrompt="1"/>
          </p:nvPr>
        </p:nvSpPr>
        <p:spPr bwMode="gray">
          <a:xfrm>
            <a:off x="750529" y="1524000"/>
            <a:ext cx="9914678" cy="3273368"/>
          </a:xfrm>
          <a:prstGeom prst="rect">
            <a:avLst/>
          </a:prstGeom>
        </p:spPr>
        <p:txBody>
          <a:bodyPr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lstStyle>
            <a:lvl1pPr marL="0" indent="0" algn="l" defTabSz="1218987" rtl="0" eaLnBrk="1" latinLnBrk="0" hangingPunct="1">
              <a:lnSpc>
                <a:spcPct val="90000"/>
              </a:lnSpc>
              <a:spcBef>
                <a:spcPct val="0"/>
              </a:spcBef>
              <a:buNone/>
              <a:defRPr lang="en-US" sz="2600" b="0" kern="1200" cap="none" spc="0" baseline="0" dirty="0">
                <a:solidFill>
                  <a:schemeClr val="bg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grpSp>
        <p:nvGrpSpPr>
          <p:cNvPr id="68" name="Group 67">
            <a:extLst>
              <a:ext uri="{FF2B5EF4-FFF2-40B4-BE49-F238E27FC236}">
                <a16:creationId xmlns:a16="http://schemas.microsoft.com/office/drawing/2014/main" id="{C178D7C6-5801-6B30-A6A7-963788E95D85}"/>
              </a:ext>
            </a:extLst>
          </p:cNvPr>
          <p:cNvGrpSpPr>
            <a:grpSpLocks noChangeAspect="1"/>
          </p:cNvGrpSpPr>
          <p:nvPr userDrawn="1"/>
        </p:nvGrpSpPr>
        <p:grpSpPr>
          <a:xfrm rot="16200000">
            <a:off x="10152631" y="2542790"/>
            <a:ext cx="3058160" cy="1020580"/>
            <a:chOff x="547688" y="952500"/>
            <a:chExt cx="12190413" cy="4067175"/>
          </a:xfrm>
        </p:grpSpPr>
        <p:sp>
          <p:nvSpPr>
            <p:cNvPr id="69" name="Rectangle 68">
              <a:extLst>
                <a:ext uri="{FF2B5EF4-FFF2-40B4-BE49-F238E27FC236}">
                  <a16:creationId xmlns:a16="http://schemas.microsoft.com/office/drawing/2014/main" id="{69E9C34A-28EF-207E-149B-9EBED2862D65}"/>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7">
              <a:extLst>
                <a:ext uri="{FF2B5EF4-FFF2-40B4-BE49-F238E27FC236}">
                  <a16:creationId xmlns:a16="http://schemas.microsoft.com/office/drawing/2014/main" id="{158C3A6B-F5BB-E37E-DB3D-C1ABEA07F21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8">
              <a:extLst>
                <a:ext uri="{FF2B5EF4-FFF2-40B4-BE49-F238E27FC236}">
                  <a16:creationId xmlns:a16="http://schemas.microsoft.com/office/drawing/2014/main" id="{A56AE87F-217D-4207-F227-987A2E7FEBFA}"/>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2" name="Freeform 9">
              <a:extLst>
                <a:ext uri="{FF2B5EF4-FFF2-40B4-BE49-F238E27FC236}">
                  <a16:creationId xmlns:a16="http://schemas.microsoft.com/office/drawing/2014/main" id="{D65BCC2D-74A9-8E37-6BBC-33B74966DAC1}"/>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10">
              <a:extLst>
                <a:ext uri="{FF2B5EF4-FFF2-40B4-BE49-F238E27FC236}">
                  <a16:creationId xmlns:a16="http://schemas.microsoft.com/office/drawing/2014/main" id="{BA8558ED-E4BF-D888-EF3B-A311AFE8C47C}"/>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10">
              <a:extLst>
                <a:ext uri="{FF2B5EF4-FFF2-40B4-BE49-F238E27FC236}">
                  <a16:creationId xmlns:a16="http://schemas.microsoft.com/office/drawing/2014/main" id="{AFF1776F-9DBA-D51E-8F71-E1FB30D76794}"/>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11">
              <a:extLst>
                <a:ext uri="{FF2B5EF4-FFF2-40B4-BE49-F238E27FC236}">
                  <a16:creationId xmlns:a16="http://schemas.microsoft.com/office/drawing/2014/main" id="{820D6E3B-9704-EBDF-9D0D-A571A36CBC77}"/>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76" name="Freeform 5">
            <a:extLst>
              <a:ext uri="{FF2B5EF4-FFF2-40B4-BE49-F238E27FC236}">
                <a16:creationId xmlns:a16="http://schemas.microsoft.com/office/drawing/2014/main" id="{C002511A-253F-7F55-6C4F-3D51611D3CBF}"/>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sp>
        <p:nvSpPr>
          <p:cNvPr id="82" name="TextBox 81">
            <a:extLst>
              <a:ext uri="{FF2B5EF4-FFF2-40B4-BE49-F238E27FC236}">
                <a16:creationId xmlns:a16="http://schemas.microsoft.com/office/drawing/2014/main" id="{D0375F64-E651-1A0A-ABF1-9C38BA663F9F}"/>
              </a:ext>
            </a:extLst>
          </p:cNvPr>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2026 Lenovo Internal. All rights reserved.</a:t>
            </a:r>
          </a:p>
        </p:txBody>
      </p:sp>
    </p:spTree>
    <p:extLst>
      <p:ext uri="{BB962C8B-B14F-4D97-AF65-F5344CB8AC3E}">
        <p14:creationId xmlns:p14="http://schemas.microsoft.com/office/powerpoint/2010/main" val="3626009168"/>
      </p:ext>
    </p:extLst>
  </p:cSld>
  <p:clrMapOvr>
    <a:masterClrMapping/>
  </p:clrMapOvr>
  <p:transition spd="med"/>
</p:sldLayout>
</file>

<file path=ppt/slideLayouts/slideLayout15.xml><?xml version="1.0" encoding="utf-8"?>
<p:sldLayout xmlns:a="http://schemas.openxmlformats.org/drawingml/2006/main" xmlns:r="http://schemas.openxmlformats.org/officeDocument/2006/relationships" xmlns:p="http://schemas.openxmlformats.org/presentationml/2006/main">
  <p:cSld name="Title &amp; 1 column text">
    <p:spTree>
      <p:nvGrpSpPr>
        <p:cNvPr id="1" name=""/>
        <p:cNvGrpSpPr/>
        <p:nvPr/>
      </p:nvGrpSpPr>
      <p:grpSpPr>
        <a:xfrm>
          <a:off x="0" y="0"/>
          <a:ext cx="0" cy="0"/>
          <a:chOff x="0" y="0"/>
          <a:chExt cx="0" cy="0"/>
        </a:xfrm>
      </p:grpSpPr>
      <p:sp>
        <p:nvSpPr>
          <p:cNvPr id="14" name="文字"/>
          <p:cNvSpPr>
            <a:spLocks noGrp="1"/>
          </p:cNvSpPr>
          <p:nvPr>
            <p:ph idx="1"/>
          </p:nvPr>
        </p:nvSpPr>
        <p:spPr>
          <a:xfrm>
            <a:off x="501651" y="1665289"/>
            <a:ext cx="11165416" cy="4716463"/>
          </a:xfrm>
          <a:prstGeom prst="rect">
            <a:avLst/>
          </a:prstGeom>
        </p:spPr>
        <p:txBody>
          <a:bodyPr vert="horz" lIns="0" tIns="0" rIns="0" bIns="0" rtlCol="0">
            <a:normAutofit/>
          </a:bodyPr>
          <a:lstStyle>
            <a:lvl1pPr>
              <a:defRPr>
                <a:latin typeface="+mn-lt"/>
              </a:defRPr>
            </a:lvl1pPr>
            <a:lvl2pPr>
              <a:defRPr>
                <a:latin typeface="+mj-lt"/>
              </a:defRPr>
            </a:lvl2pPr>
            <a:lvl3pPr>
              <a:defRPr>
                <a:latin typeface="+mn-lt"/>
              </a:defRPr>
            </a:lvl3pPr>
            <a:lvl4pPr>
              <a:defRPr>
                <a:latin typeface="+mn-lt"/>
              </a:defRPr>
            </a:lvl4pPr>
            <a:lvl5pPr>
              <a:defRPr>
                <a:latin typeface="+mn-lt"/>
              </a:defRPr>
            </a:lvl5pPr>
          </a:lstStyle>
          <a:p>
            <a:pPr lvl="0"/>
            <a:r>
              <a:rPr lang="zh-CN" altLang="en-US"/>
              <a:t>按一下此處編輯母版文本樣式</a:t>
            </a:r>
          </a:p>
          <a:p>
            <a:pPr lvl="1"/>
            <a:r>
              <a:rPr lang="zh-CN" altLang="en-US"/>
              <a:t>二級</a:t>
            </a:r>
          </a:p>
          <a:p>
            <a:pPr lvl="2"/>
            <a:r>
              <a:rPr lang="zh-CN" altLang="en-US"/>
              <a:t>三級</a:t>
            </a:r>
          </a:p>
          <a:p>
            <a:pPr lvl="3"/>
            <a:r>
              <a:rPr lang="zh-CN" altLang="en-US"/>
              <a:t>四級</a:t>
            </a:r>
          </a:p>
          <a:p>
            <a:pPr lvl="4"/>
            <a:r>
              <a:rPr lang="zh-CN" altLang="en-US"/>
              <a:t>五級</a:t>
            </a:r>
            <a:endParaRPr lang="en-GB"/>
          </a:p>
        </p:txBody>
      </p:sp>
      <p:sp>
        <p:nvSpPr>
          <p:cNvPr id="2" name="標題"/>
          <p:cNvSpPr>
            <a:spLocks noGrp="1"/>
          </p:cNvSpPr>
          <p:nvPr>
            <p:ph type="title"/>
          </p:nvPr>
        </p:nvSpPr>
        <p:spPr>
          <a:xfrm>
            <a:off x="501651" y="317501"/>
            <a:ext cx="11188700" cy="698500"/>
          </a:xfrm>
        </p:spPr>
        <p:txBody>
          <a:bodyPr/>
          <a:lstStyle/>
          <a:p>
            <a:r>
              <a:rPr lang="zh-CN" altLang="en-US"/>
              <a:t>按一下此處編輯母版標題樣式</a:t>
            </a:r>
            <a:endParaRPr lang="en-US"/>
          </a:p>
        </p:txBody>
      </p:sp>
    </p:spTree>
    <p:extLst>
      <p:ext uri="{BB962C8B-B14F-4D97-AF65-F5344CB8AC3E}">
        <p14:creationId xmlns:p14="http://schemas.microsoft.com/office/powerpoint/2010/main" val="2434744306"/>
      </p:ext>
    </p:extLst>
  </p:cSld>
  <p:clrMapOvr>
    <a:masterClrMapping/>
  </p:clrMapOvr>
  <p:transition>
    <p:fade/>
  </p:transition>
  <p:hf hdr="0" dt="0"/>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Title and Content - No Background">
    <p:spTree>
      <p:nvGrpSpPr>
        <p:cNvPr id="1" name=""/>
        <p:cNvGrpSpPr/>
        <p:nvPr/>
      </p:nvGrpSpPr>
      <p:grpSpPr>
        <a:xfrm>
          <a:off x="0" y="0"/>
          <a:ext cx="0" cy="0"/>
          <a:chOff x="0" y="0"/>
          <a:chExt cx="0" cy="0"/>
        </a:xfrm>
      </p:grpSpPr>
      <p:sp>
        <p:nvSpPr>
          <p:cNvPr id="15" name="Footer Placeholder 14"/>
          <p:cNvSpPr>
            <a:spLocks noGrp="1"/>
          </p:cNvSpPr>
          <p:nvPr>
            <p:ph type="ftr" sz="quarter" idx="10"/>
          </p:nvPr>
        </p:nvSpPr>
        <p:spPr>
          <a:xfrm>
            <a:off x="548782" y="6473952"/>
            <a:ext cx="3201234" cy="153888"/>
          </a:xfrm>
          <a:prstGeom prst="rect">
            <a:avLst/>
          </a:prstGeom>
        </p:spPr>
        <p:txBody>
          <a:bodyPr/>
          <a:lstStyle/>
          <a:p>
            <a:r>
              <a:rPr lang="en-US">
                <a:cs typeface="Arial" pitchFamily="34" charset="0"/>
              </a:rPr>
              <a:t>2020 Lenovo Internal. All rights reserved.</a:t>
            </a:r>
            <a:endParaRPr lang="en-US" sz="1000">
              <a:solidFill>
                <a:srgbClr val="939598"/>
              </a:solidFill>
              <a:cs typeface="Arial" pitchFamily="34" charset="0"/>
            </a:endParaRPr>
          </a:p>
        </p:txBody>
      </p:sp>
      <p:sp>
        <p:nvSpPr>
          <p:cNvPr id="10" name="Title 28"/>
          <p:cNvSpPr>
            <a:spLocks noGrp="1"/>
          </p:cNvSpPr>
          <p:nvPr>
            <p:ph type="title" hasCustomPrompt="1"/>
          </p:nvPr>
        </p:nvSpPr>
        <p:spPr bwMode="gray">
          <a:xfrm>
            <a:off x="548783" y="274320"/>
            <a:ext cx="11076268" cy="521208"/>
          </a:xfrm>
          <a:prstGeom prst="rect">
            <a:avLst/>
          </a:prstGeom>
        </p:spPr>
        <p:txBody>
          <a:bodyPr wrap="square" lIns="0" tIns="0" rIns="0" bIns="0" anchor="ctr" anchorCtr="0"/>
          <a:lstStyle>
            <a:lvl1pPr marL="0" algn="l" defTabSz="1218255" rtl="0" eaLnBrk="1" latinLnBrk="0" hangingPunct="1">
              <a:lnSpc>
                <a:spcPct val="100000"/>
              </a:lnSpc>
              <a:spcBef>
                <a:spcPct val="0"/>
              </a:spcBef>
              <a:buNone/>
              <a:tabLst>
                <a:tab pos="1218255" algn="l"/>
              </a:tabLst>
              <a:defRPr lang="en-US" sz="3598" kern="1200" cap="none" spc="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548783" y="1179577"/>
            <a:ext cx="11076268" cy="521169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23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9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38102331"/>
      </p:ext>
    </p:extLst>
  </p:cSld>
  <p:clrMapOvr>
    <a:masterClrMapping/>
  </p:clrMapOvr>
  <p:transition spd="med"/>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_Content w/ Product">
    <p:spTree>
      <p:nvGrpSpPr>
        <p:cNvPr id="1" name=""/>
        <p:cNvGrpSpPr/>
        <p:nvPr/>
      </p:nvGrpSpPr>
      <p:grpSpPr>
        <a:xfrm>
          <a:off x="0" y="0"/>
          <a:ext cx="0" cy="0"/>
          <a:chOff x="0" y="0"/>
          <a:chExt cx="0" cy="0"/>
        </a:xfrm>
      </p:grpSpPr>
      <p:sp>
        <p:nvSpPr>
          <p:cNvPr id="9" name="Content Placeholder 2"/>
          <p:cNvSpPr>
            <a:spLocks noGrp="1"/>
          </p:cNvSpPr>
          <p:nvPr>
            <p:ph sz="half" idx="18"/>
          </p:nvPr>
        </p:nvSpPr>
        <p:spPr bwMode="gray">
          <a:xfrm>
            <a:off x="6858198" y="1307593"/>
            <a:ext cx="4573192"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11" name="Title 28"/>
          <p:cNvSpPr>
            <a:spLocks noGrp="1"/>
          </p:cNvSpPr>
          <p:nvPr>
            <p:ph type="title" hasCustomPrompt="1"/>
          </p:nvPr>
        </p:nvSpPr>
        <p:spPr bwMode="gray">
          <a:xfrm>
            <a:off x="6858198" y="442528"/>
            <a:ext cx="4573192"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0AFBC96C-E04F-90E6-1BBE-C65ECD6E5C14}"/>
              </a:ext>
            </a:extLst>
          </p:cNvPr>
          <p:cNvSpPr>
            <a:spLocks noGrp="1"/>
          </p:cNvSpPr>
          <p:nvPr>
            <p:ph type="sldNum" sz="quarter" idx="19"/>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920368431"/>
      </p:ext>
    </p:extLst>
  </p:cSld>
  <p:clrMapOvr>
    <a:masterClrMapping/>
  </p:clrMapOvr>
  <p:transition spd="med"/>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Title Slide_White">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F66F013C-4673-4598-B729-A71D9DC33DF1}"/>
              </a:ext>
            </a:extLst>
          </p:cNvPr>
          <p:cNvPicPr>
            <a:picLocks noChangeAspect="1"/>
          </p:cNvPicPr>
          <p:nvPr userDrawn="1"/>
        </p:nvPicPr>
        <p:blipFill>
          <a:blip r:embed="rId2"/>
          <a:stretch>
            <a:fillRect/>
          </a:stretch>
        </p:blipFill>
        <p:spPr>
          <a:xfrm>
            <a:off x="1" y="36"/>
            <a:ext cx="12192000" cy="6857965"/>
          </a:xfrm>
          <a:prstGeom prst="rect">
            <a:avLst/>
          </a:prstGeom>
        </p:spPr>
      </p:pic>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accent4"/>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accent4"/>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2024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rgbClr val="4D144A"/>
          </a:solidFill>
          <a:ln>
            <a:noFill/>
          </a:ln>
        </p:spPr>
        <p:txBody>
          <a:bodyPr vert="horz" wrap="square" lIns="91440" tIns="45720" rIns="91440" bIns="45720" numCol="1" anchor="t" anchorCtr="0" compatLnSpc="1">
            <a:prstTxWarp prst="textNoShape">
              <a:avLst/>
            </a:prstTxWarp>
          </a:bodyPr>
          <a:lstStyle/>
          <a:p>
            <a:endParaRPr lang="en-US" sz="1800">
              <a:solidFill>
                <a:srgbClr val="4D144A"/>
              </a:solidFill>
            </a:endParaRPr>
          </a:p>
        </p:txBody>
      </p:sp>
    </p:spTree>
    <p:extLst>
      <p:ext uri="{BB962C8B-B14F-4D97-AF65-F5344CB8AC3E}">
        <p14:creationId xmlns:p14="http://schemas.microsoft.com/office/powerpoint/2010/main" val="4236594261"/>
      </p:ext>
    </p:extLst>
  </p:cSld>
  <p:clrMapOvr>
    <a:masterClrMapping/>
  </p:clrMapOvr>
  <p:transition spd="med"/>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Title Slide_White_Alt">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0490B93F-C25A-476B-A1B0-5F566C0157D6}"/>
              </a:ext>
            </a:extLst>
          </p:cNvPr>
          <p:cNvPicPr>
            <a:picLocks noChangeAspect="1"/>
          </p:cNvPicPr>
          <p:nvPr userDrawn="1"/>
        </p:nvPicPr>
        <p:blipFill>
          <a:blip r:embed="rId2"/>
          <a:stretch>
            <a:fillRect/>
          </a:stretch>
        </p:blipFill>
        <p:spPr>
          <a:xfrm>
            <a:off x="1" y="72"/>
            <a:ext cx="12192000" cy="6857929"/>
          </a:xfrm>
          <a:prstGeom prst="rect">
            <a:avLst/>
          </a:prstGeom>
        </p:spPr>
      </p:pic>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accent4"/>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accent4"/>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2024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rgbClr val="4D144A"/>
          </a:solidFill>
          <a:ln>
            <a:noFill/>
          </a:ln>
        </p:spPr>
        <p:txBody>
          <a:bodyPr vert="horz" wrap="square" lIns="91440" tIns="45720" rIns="91440" bIns="45720" numCol="1" anchor="t" anchorCtr="0" compatLnSpc="1">
            <a:prstTxWarp prst="textNoShape">
              <a:avLst/>
            </a:prstTxWarp>
          </a:bodyPr>
          <a:lstStyle/>
          <a:p>
            <a:endParaRPr lang="en-US" sz="1800"/>
          </a:p>
        </p:txBody>
      </p:sp>
    </p:spTree>
    <p:extLst>
      <p:ext uri="{BB962C8B-B14F-4D97-AF65-F5344CB8AC3E}">
        <p14:creationId xmlns:p14="http://schemas.microsoft.com/office/powerpoint/2010/main" val="203524953"/>
      </p:ext>
    </p:extLst>
  </p:cSld>
  <p:clrMapOvr>
    <a:masterClrMapping/>
  </p:clrMapOvr>
  <p:transition spd="med"/>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Title Slide_Black">
    <p:bg>
      <p:bgPr>
        <a:solidFill>
          <a:schemeClr val="tx1"/>
        </a:solidFill>
        <a:effectLst/>
      </p:bgPr>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0A3FDCC7-BA62-4365-BA68-B2059C6747E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sp>
        <p:nvSpPr>
          <p:cNvPr id="56" name="Title 16"/>
          <p:cNvSpPr>
            <a:spLocks noGrp="1"/>
          </p:cNvSpPr>
          <p:nvPr userDrawn="1">
            <p:ph type="title" hasCustomPrompt="1"/>
          </p:nvPr>
        </p:nvSpPr>
        <p:spPr bwMode="gray">
          <a:xfrm>
            <a:off x="750529" y="1524000"/>
            <a:ext cx="9914678" cy="3273368"/>
          </a:xfrm>
          <a:prstGeom prst="rect">
            <a:avLst/>
          </a:prstGeom>
        </p:spPr>
        <p:txBody>
          <a:bodyPr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lstStyle>
            <a:lvl1pPr marL="0" indent="0" algn="l" defTabSz="1218987" rtl="0" eaLnBrk="1" latinLnBrk="0" hangingPunct="1">
              <a:lnSpc>
                <a:spcPct val="90000"/>
              </a:lnSpc>
              <a:spcBef>
                <a:spcPct val="0"/>
              </a:spcBef>
              <a:buNone/>
              <a:defRPr lang="en-US" sz="2600" b="0" kern="1200" cap="none" spc="0" baseline="0" dirty="0">
                <a:solidFill>
                  <a:schemeClr val="bg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grpSp>
        <p:nvGrpSpPr>
          <p:cNvPr id="68" name="Group 67">
            <a:extLst>
              <a:ext uri="{FF2B5EF4-FFF2-40B4-BE49-F238E27FC236}">
                <a16:creationId xmlns:a16="http://schemas.microsoft.com/office/drawing/2014/main" id="{C178D7C6-5801-6B30-A6A7-963788E95D85}"/>
              </a:ext>
            </a:extLst>
          </p:cNvPr>
          <p:cNvGrpSpPr>
            <a:grpSpLocks noChangeAspect="1"/>
          </p:cNvGrpSpPr>
          <p:nvPr userDrawn="1"/>
        </p:nvGrpSpPr>
        <p:grpSpPr>
          <a:xfrm rot="16200000">
            <a:off x="10152631" y="2542790"/>
            <a:ext cx="3058160" cy="1020580"/>
            <a:chOff x="547688" y="952500"/>
            <a:chExt cx="12190413" cy="4067175"/>
          </a:xfrm>
        </p:grpSpPr>
        <p:sp>
          <p:nvSpPr>
            <p:cNvPr id="69" name="Rectangle 68">
              <a:extLst>
                <a:ext uri="{FF2B5EF4-FFF2-40B4-BE49-F238E27FC236}">
                  <a16:creationId xmlns:a16="http://schemas.microsoft.com/office/drawing/2014/main" id="{69E9C34A-28EF-207E-149B-9EBED2862D65}"/>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7">
              <a:extLst>
                <a:ext uri="{FF2B5EF4-FFF2-40B4-BE49-F238E27FC236}">
                  <a16:creationId xmlns:a16="http://schemas.microsoft.com/office/drawing/2014/main" id="{158C3A6B-F5BB-E37E-DB3D-C1ABEA07F21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8">
              <a:extLst>
                <a:ext uri="{FF2B5EF4-FFF2-40B4-BE49-F238E27FC236}">
                  <a16:creationId xmlns:a16="http://schemas.microsoft.com/office/drawing/2014/main" id="{A56AE87F-217D-4207-F227-987A2E7FEBFA}"/>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2" name="Freeform 9">
              <a:extLst>
                <a:ext uri="{FF2B5EF4-FFF2-40B4-BE49-F238E27FC236}">
                  <a16:creationId xmlns:a16="http://schemas.microsoft.com/office/drawing/2014/main" id="{D65BCC2D-74A9-8E37-6BBC-33B74966DAC1}"/>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10">
              <a:extLst>
                <a:ext uri="{FF2B5EF4-FFF2-40B4-BE49-F238E27FC236}">
                  <a16:creationId xmlns:a16="http://schemas.microsoft.com/office/drawing/2014/main" id="{BA8558ED-E4BF-D888-EF3B-A311AFE8C47C}"/>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10">
              <a:extLst>
                <a:ext uri="{FF2B5EF4-FFF2-40B4-BE49-F238E27FC236}">
                  <a16:creationId xmlns:a16="http://schemas.microsoft.com/office/drawing/2014/main" id="{AFF1776F-9DBA-D51E-8F71-E1FB30D76794}"/>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11">
              <a:extLst>
                <a:ext uri="{FF2B5EF4-FFF2-40B4-BE49-F238E27FC236}">
                  <a16:creationId xmlns:a16="http://schemas.microsoft.com/office/drawing/2014/main" id="{820D6E3B-9704-EBDF-9D0D-A571A36CBC77}"/>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76" name="Freeform 5">
            <a:extLst>
              <a:ext uri="{FF2B5EF4-FFF2-40B4-BE49-F238E27FC236}">
                <a16:creationId xmlns:a16="http://schemas.microsoft.com/office/drawing/2014/main" id="{C002511A-253F-7F55-6C4F-3D51611D3CBF}"/>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sp>
        <p:nvSpPr>
          <p:cNvPr id="82" name="TextBox 81">
            <a:extLst>
              <a:ext uri="{FF2B5EF4-FFF2-40B4-BE49-F238E27FC236}">
                <a16:creationId xmlns:a16="http://schemas.microsoft.com/office/drawing/2014/main" id="{D0375F64-E651-1A0A-ABF1-9C38BA663F9F}"/>
              </a:ext>
            </a:extLst>
          </p:cNvPr>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2024 Lenovo Internal. All rights reserved.</a:t>
            </a:r>
          </a:p>
        </p:txBody>
      </p:sp>
    </p:spTree>
    <p:extLst>
      <p:ext uri="{BB962C8B-B14F-4D97-AF65-F5344CB8AC3E}">
        <p14:creationId xmlns:p14="http://schemas.microsoft.com/office/powerpoint/2010/main" val="908653494"/>
      </p:ext>
    </p:extLst>
  </p:cSld>
  <p:clrMapOvr>
    <a:masterClrMapping/>
  </p:clrMapOvr>
  <p:transition spd="med"/>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Title Slide_Black_Alt">
    <p:bg>
      <p:bgPr>
        <a:solidFill>
          <a:schemeClr val="tx1"/>
        </a:solidFill>
        <a:effectLst/>
      </p:bgPr>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3A0DD018-EAF2-48F3-ABFD-828A5E37FEA0}"/>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sp>
        <p:nvSpPr>
          <p:cNvPr id="56" name="Title 16"/>
          <p:cNvSpPr>
            <a:spLocks noGrp="1"/>
          </p:cNvSpPr>
          <p:nvPr userDrawn="1">
            <p:ph type="title" hasCustomPrompt="1"/>
          </p:nvPr>
        </p:nvSpPr>
        <p:spPr bwMode="gray">
          <a:xfrm>
            <a:off x="750529" y="1524000"/>
            <a:ext cx="9914678" cy="3273368"/>
          </a:xfrm>
          <a:prstGeom prst="rect">
            <a:avLst/>
          </a:prstGeom>
        </p:spPr>
        <p:txBody>
          <a:bodyPr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lstStyle>
            <a:lvl1pPr marL="0" indent="0" algn="l" defTabSz="1218987" rtl="0" eaLnBrk="1" latinLnBrk="0" hangingPunct="1">
              <a:lnSpc>
                <a:spcPct val="90000"/>
              </a:lnSpc>
              <a:spcBef>
                <a:spcPct val="0"/>
              </a:spcBef>
              <a:buNone/>
              <a:defRPr lang="en-US" sz="2600" b="0" kern="1200" cap="none" spc="0" baseline="0" dirty="0">
                <a:solidFill>
                  <a:schemeClr val="bg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grpSp>
        <p:nvGrpSpPr>
          <p:cNvPr id="68" name="Group 67">
            <a:extLst>
              <a:ext uri="{FF2B5EF4-FFF2-40B4-BE49-F238E27FC236}">
                <a16:creationId xmlns:a16="http://schemas.microsoft.com/office/drawing/2014/main" id="{C178D7C6-5801-6B30-A6A7-963788E95D85}"/>
              </a:ext>
            </a:extLst>
          </p:cNvPr>
          <p:cNvGrpSpPr>
            <a:grpSpLocks noChangeAspect="1"/>
          </p:cNvGrpSpPr>
          <p:nvPr userDrawn="1"/>
        </p:nvGrpSpPr>
        <p:grpSpPr>
          <a:xfrm rot="16200000">
            <a:off x="10152631" y="2542790"/>
            <a:ext cx="3058160" cy="1020580"/>
            <a:chOff x="547688" y="952500"/>
            <a:chExt cx="12190413" cy="4067175"/>
          </a:xfrm>
        </p:grpSpPr>
        <p:sp>
          <p:nvSpPr>
            <p:cNvPr id="69" name="Rectangle 68">
              <a:extLst>
                <a:ext uri="{FF2B5EF4-FFF2-40B4-BE49-F238E27FC236}">
                  <a16:creationId xmlns:a16="http://schemas.microsoft.com/office/drawing/2014/main" id="{69E9C34A-28EF-207E-149B-9EBED2862D65}"/>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7">
              <a:extLst>
                <a:ext uri="{FF2B5EF4-FFF2-40B4-BE49-F238E27FC236}">
                  <a16:creationId xmlns:a16="http://schemas.microsoft.com/office/drawing/2014/main" id="{158C3A6B-F5BB-E37E-DB3D-C1ABEA07F21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8">
              <a:extLst>
                <a:ext uri="{FF2B5EF4-FFF2-40B4-BE49-F238E27FC236}">
                  <a16:creationId xmlns:a16="http://schemas.microsoft.com/office/drawing/2014/main" id="{A56AE87F-217D-4207-F227-987A2E7FEBFA}"/>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2" name="Freeform 9">
              <a:extLst>
                <a:ext uri="{FF2B5EF4-FFF2-40B4-BE49-F238E27FC236}">
                  <a16:creationId xmlns:a16="http://schemas.microsoft.com/office/drawing/2014/main" id="{D65BCC2D-74A9-8E37-6BBC-33B74966DAC1}"/>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10">
              <a:extLst>
                <a:ext uri="{FF2B5EF4-FFF2-40B4-BE49-F238E27FC236}">
                  <a16:creationId xmlns:a16="http://schemas.microsoft.com/office/drawing/2014/main" id="{BA8558ED-E4BF-D888-EF3B-A311AFE8C47C}"/>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10">
              <a:extLst>
                <a:ext uri="{FF2B5EF4-FFF2-40B4-BE49-F238E27FC236}">
                  <a16:creationId xmlns:a16="http://schemas.microsoft.com/office/drawing/2014/main" id="{AFF1776F-9DBA-D51E-8F71-E1FB30D76794}"/>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11">
              <a:extLst>
                <a:ext uri="{FF2B5EF4-FFF2-40B4-BE49-F238E27FC236}">
                  <a16:creationId xmlns:a16="http://schemas.microsoft.com/office/drawing/2014/main" id="{820D6E3B-9704-EBDF-9D0D-A571A36CBC77}"/>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76" name="Freeform 5">
            <a:extLst>
              <a:ext uri="{FF2B5EF4-FFF2-40B4-BE49-F238E27FC236}">
                <a16:creationId xmlns:a16="http://schemas.microsoft.com/office/drawing/2014/main" id="{C002511A-253F-7F55-6C4F-3D51611D3CBF}"/>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sp>
        <p:nvSpPr>
          <p:cNvPr id="82" name="TextBox 81">
            <a:extLst>
              <a:ext uri="{FF2B5EF4-FFF2-40B4-BE49-F238E27FC236}">
                <a16:creationId xmlns:a16="http://schemas.microsoft.com/office/drawing/2014/main" id="{D0375F64-E651-1A0A-ABF1-9C38BA663F9F}"/>
              </a:ext>
            </a:extLst>
          </p:cNvPr>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2026 Lenovo Internal. All rights reserved.</a:t>
            </a:r>
          </a:p>
        </p:txBody>
      </p:sp>
    </p:spTree>
    <p:extLst>
      <p:ext uri="{BB962C8B-B14F-4D97-AF65-F5344CB8AC3E}">
        <p14:creationId xmlns:p14="http://schemas.microsoft.com/office/powerpoint/2010/main" val="3246759137"/>
      </p:ext>
    </p:extLst>
  </p:cSld>
  <p:clrMapOvr>
    <a:masterClrMapping/>
  </p:clrMapOvr>
  <p:transition spd="med"/>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Section Header_White">
    <p:bg>
      <p:bgPr>
        <a:solidFill>
          <a:schemeClr val="bg1"/>
        </a:solidFill>
        <a:effectLst/>
      </p:bgPr>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C08B439B-E84A-4380-B725-5C2E2A35786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pic>
        <p:nvPicPr>
          <p:cNvPr id="3" name="Picture 2">
            <a:extLst>
              <a:ext uri="{FF2B5EF4-FFF2-40B4-BE49-F238E27FC236}">
                <a16:creationId xmlns:a16="http://schemas.microsoft.com/office/drawing/2014/main" id="{DD813522-5B75-F893-0706-7E3AB7106AEE}"/>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r="1515" b="1414"/>
          <a:stretch/>
        </p:blipFill>
        <p:spPr>
          <a:xfrm flipH="1">
            <a:off x="7618809" y="34"/>
            <a:ext cx="4573191" cy="6857966"/>
          </a:xfrm>
          <a:prstGeom prst="rect">
            <a:avLst/>
          </a:prstGeom>
        </p:spPr>
      </p:pic>
      <p:sp>
        <p:nvSpPr>
          <p:cNvPr id="16" name="TextBox 15">
            <a:extLst>
              <a:ext uri="{FF2B5EF4-FFF2-40B4-BE49-F238E27FC236}">
                <a16:creationId xmlns:a16="http://schemas.microsoft.com/office/drawing/2014/main" id="{89C3EB64-A851-71DD-8882-1FDB7C2E99CB}"/>
              </a:ext>
            </a:extLst>
          </p:cNvPr>
          <p:cNvSpPr txBox="1"/>
          <p:nvPr userDrawn="1"/>
        </p:nvSpPr>
        <p:spPr>
          <a:xfrm>
            <a:off x="1603772"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2026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8" y="1549492"/>
            <a:ext cx="6265272"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accent4"/>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6265272"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accent4"/>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709024102"/>
      </p:ext>
    </p:extLst>
  </p:cSld>
  <p:clrMapOvr>
    <a:masterClrMapping/>
  </p:clrMapOvr>
  <p:transition spd="med"/>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Section Header_White_Alt">
    <p:bg>
      <p:bgPr>
        <a:solidFill>
          <a:schemeClr val="bg1"/>
        </a:solidFill>
        <a:effectLst/>
      </p:bgPr>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D5C4C27E-C20F-40CB-85CF-27223BC9C55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pic>
        <p:nvPicPr>
          <p:cNvPr id="4" name="Picture 3" descr="A person in a white dress&#10;&#10;Description automatically generated with low confidence">
            <a:extLst>
              <a:ext uri="{FF2B5EF4-FFF2-40B4-BE49-F238E27FC236}">
                <a16:creationId xmlns:a16="http://schemas.microsoft.com/office/drawing/2014/main" id="{1852C0BD-7572-C8B3-D29B-44B7409BB262}"/>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618809" y="0"/>
            <a:ext cx="4573191" cy="6858000"/>
          </a:xfrm>
          <a:prstGeom prst="rect">
            <a:avLst/>
          </a:prstGeom>
        </p:spPr>
      </p:pic>
      <p:sp>
        <p:nvSpPr>
          <p:cNvPr id="16" name="TextBox 15">
            <a:extLst>
              <a:ext uri="{FF2B5EF4-FFF2-40B4-BE49-F238E27FC236}">
                <a16:creationId xmlns:a16="http://schemas.microsoft.com/office/drawing/2014/main" id="{89C3EB64-A851-71DD-8882-1FDB7C2E99CB}"/>
              </a:ext>
            </a:extLst>
          </p:cNvPr>
          <p:cNvSpPr txBox="1"/>
          <p:nvPr userDrawn="1"/>
        </p:nvSpPr>
        <p:spPr>
          <a:xfrm>
            <a:off x="1603772"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2026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8" y="1549492"/>
            <a:ext cx="6265272"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accent4"/>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6265272"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accent4"/>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39758927"/>
      </p:ext>
    </p:extLst>
  </p:cSld>
  <p:clrMapOvr>
    <a:masterClrMapping/>
  </p:clrMapOvr>
  <p:transition spd="med"/>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
    <p:bg>
      <p:bgPr>
        <a:solidFill>
          <a:schemeClr val="tx1"/>
        </a:solidFill>
        <a:effectLst/>
      </p:bgPr>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BCB70D7F-DA6D-4CCD-81E9-90248EF641E0}"/>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pic>
        <p:nvPicPr>
          <p:cNvPr id="27" name="Picture 26">
            <a:extLst>
              <a:ext uri="{FF2B5EF4-FFF2-40B4-BE49-F238E27FC236}">
                <a16:creationId xmlns:a16="http://schemas.microsoft.com/office/drawing/2014/main" id="{4E412EDD-C562-F92D-41A2-18849B2F30CE}"/>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7618809" y="36"/>
            <a:ext cx="4573191" cy="6857929"/>
          </a:xfrm>
          <a:prstGeom prst="rect">
            <a:avLst/>
          </a:prstGeom>
        </p:spPr>
      </p:pic>
      <p:sp>
        <p:nvSpPr>
          <p:cNvPr id="16" name="TextBox 15">
            <a:extLst>
              <a:ext uri="{FF2B5EF4-FFF2-40B4-BE49-F238E27FC236}">
                <a16:creationId xmlns:a16="http://schemas.microsoft.com/office/drawing/2014/main" id="{C50D814F-EE5B-C084-7424-D39C0DE54FF7}"/>
              </a:ext>
            </a:extLst>
          </p:cNvPr>
          <p:cNvSpPr txBox="1"/>
          <p:nvPr userDrawn="1"/>
        </p:nvSpPr>
        <p:spPr>
          <a:xfrm>
            <a:off x="1603772"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2024 Lenovo Internal. All rights reserved.</a:t>
            </a:r>
          </a:p>
        </p:txBody>
      </p:sp>
      <p:grpSp>
        <p:nvGrpSpPr>
          <p:cNvPr id="17" name="Group 16">
            <a:extLst>
              <a:ext uri="{FF2B5EF4-FFF2-40B4-BE49-F238E27FC236}">
                <a16:creationId xmlns:a16="http://schemas.microsoft.com/office/drawing/2014/main" id="{3C498D60-2F6C-6ADE-BB9A-D957660E0731}"/>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C8414641-DA5A-BDF2-889C-1430A63E358C}"/>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6CAA72E6-FAE3-6740-34C0-7A08091254BD}"/>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0EE70422-5E10-8634-79CC-15428116CD0F}"/>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F9B9866C-878A-3BAE-D601-6317EEEB78A9}"/>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20DD7C9B-A88C-7ECB-27AE-CB4579CDB90D}"/>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084B2859-A58F-9171-5328-94CFD162F589}"/>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DC1829C2-6CD9-FE35-3F45-EEC10E2F169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6265272" cy="2405203"/>
          </a:xfrm>
          <a:prstGeom prst="rect">
            <a:avLst/>
          </a:prstGeom>
        </p:spPr>
        <p:txBody>
          <a:bodyPr lIns="0" tIns="0" rIns="0" bIns="0" anchor="b" anchorCtr="0"/>
          <a:lstStyle>
            <a:lvl1pPr marL="0" algn="l" defTabSz="1218987" rtl="0" eaLnBrk="1" latinLnBrk="0" hangingPunct="1">
              <a:lnSpc>
                <a:spcPct val="85000"/>
              </a:lnSpc>
              <a:spcBef>
                <a:spcPct val="0"/>
              </a:spcBef>
              <a:buNone/>
              <a:defRPr lang="en-US" sz="6000"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6265272" cy="327013"/>
          </a:xfrm>
          <a:prstGeom prst="rect">
            <a:avLst/>
          </a:prstGeom>
        </p:spPr>
        <p:txBody>
          <a:bodyPr lIns="0" tIns="0" rIns="0" bIns="0" anchor="t" anchorCtr="0">
            <a:spAutoFit/>
          </a:bodyPr>
          <a:lstStyle>
            <a:lvl1pPr marL="0" indent="0">
              <a:lnSpc>
                <a:spcPct val="85000"/>
              </a:lnSpc>
              <a:spcBef>
                <a:spcPts val="0"/>
              </a:spcBef>
              <a:buNone/>
              <a:defRPr sz="2500" spc="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2" name="Slide Number Placeholder 1">
            <a:extLst>
              <a:ext uri="{FF2B5EF4-FFF2-40B4-BE49-F238E27FC236}">
                <a16:creationId xmlns:a16="http://schemas.microsoft.com/office/drawing/2014/main" id="{E01CC465-FDF1-C0A2-5A83-FB03B2F0F4B6}"/>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797949627"/>
      </p:ext>
    </p:extLst>
  </p:cSld>
  <p:clrMapOvr>
    <a:masterClrMapping/>
  </p:clrMapOvr>
  <p:transition spd="med"/>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_Alt">
    <p:bg>
      <p:bgPr>
        <a:solidFill>
          <a:schemeClr val="tx1"/>
        </a:solidFill>
        <a:effectLst/>
      </p:bgPr>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D2ED0643-8C31-4A20-AE73-693EFF66546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pic>
        <p:nvPicPr>
          <p:cNvPr id="28" name="Picture 27" descr="A picture containing tree, plant&#10;&#10;Description automatically generated">
            <a:extLst>
              <a:ext uri="{FF2B5EF4-FFF2-40B4-BE49-F238E27FC236}">
                <a16:creationId xmlns:a16="http://schemas.microsoft.com/office/drawing/2014/main" id="{9C99B980-13C4-5E34-911C-94CDEEA6063C}"/>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618809" y="0"/>
            <a:ext cx="4573191" cy="6858000"/>
          </a:xfrm>
          <a:prstGeom prst="rect">
            <a:avLst/>
          </a:prstGeom>
        </p:spPr>
      </p:pic>
      <p:sp>
        <p:nvSpPr>
          <p:cNvPr id="16" name="TextBox 15">
            <a:extLst>
              <a:ext uri="{FF2B5EF4-FFF2-40B4-BE49-F238E27FC236}">
                <a16:creationId xmlns:a16="http://schemas.microsoft.com/office/drawing/2014/main" id="{C50D814F-EE5B-C084-7424-D39C0DE54FF7}"/>
              </a:ext>
            </a:extLst>
          </p:cNvPr>
          <p:cNvSpPr txBox="1"/>
          <p:nvPr userDrawn="1"/>
        </p:nvSpPr>
        <p:spPr>
          <a:xfrm>
            <a:off x="1603772"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2024 Lenovo Internal. All rights reserved.</a:t>
            </a:r>
          </a:p>
        </p:txBody>
      </p:sp>
      <p:grpSp>
        <p:nvGrpSpPr>
          <p:cNvPr id="17" name="Group 16">
            <a:extLst>
              <a:ext uri="{FF2B5EF4-FFF2-40B4-BE49-F238E27FC236}">
                <a16:creationId xmlns:a16="http://schemas.microsoft.com/office/drawing/2014/main" id="{3C498D60-2F6C-6ADE-BB9A-D957660E0731}"/>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C8414641-DA5A-BDF2-889C-1430A63E358C}"/>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6CAA72E6-FAE3-6740-34C0-7A08091254BD}"/>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0EE70422-5E10-8634-79CC-15428116CD0F}"/>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F9B9866C-878A-3BAE-D601-6317EEEB78A9}"/>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20DD7C9B-A88C-7ECB-27AE-CB4579CDB90D}"/>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084B2859-A58F-9171-5328-94CFD162F589}"/>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DC1829C2-6CD9-FE35-3F45-EEC10E2F169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6265272" cy="2405203"/>
          </a:xfrm>
          <a:prstGeom prst="rect">
            <a:avLst/>
          </a:prstGeom>
        </p:spPr>
        <p:txBody>
          <a:bodyPr lIns="0" tIns="0" rIns="0" bIns="0" anchor="b" anchorCtr="0"/>
          <a:lstStyle>
            <a:lvl1pPr marL="0" algn="l" defTabSz="1218987" rtl="0" eaLnBrk="1" latinLnBrk="0" hangingPunct="1">
              <a:lnSpc>
                <a:spcPct val="85000"/>
              </a:lnSpc>
              <a:spcBef>
                <a:spcPct val="0"/>
              </a:spcBef>
              <a:buNone/>
              <a:defRPr lang="en-US" sz="6000"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6265272" cy="327013"/>
          </a:xfrm>
          <a:prstGeom prst="rect">
            <a:avLst/>
          </a:prstGeom>
        </p:spPr>
        <p:txBody>
          <a:bodyPr lIns="0" tIns="0" rIns="0" bIns="0" anchor="t" anchorCtr="0">
            <a:spAutoFit/>
          </a:bodyPr>
          <a:lstStyle>
            <a:lvl1pPr marL="0" indent="0">
              <a:lnSpc>
                <a:spcPct val="85000"/>
              </a:lnSpc>
              <a:spcBef>
                <a:spcPts val="0"/>
              </a:spcBef>
              <a:buNone/>
              <a:defRPr sz="2500" spc="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2" name="Slide Number Placeholder 1">
            <a:extLst>
              <a:ext uri="{FF2B5EF4-FFF2-40B4-BE49-F238E27FC236}">
                <a16:creationId xmlns:a16="http://schemas.microsoft.com/office/drawing/2014/main" id="{E01CC465-FDF1-C0A2-5A83-FB03B2F0F4B6}"/>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78933683"/>
      </p:ext>
    </p:extLst>
  </p:cSld>
  <p:clrMapOvr>
    <a:masterClrMapping/>
  </p:clrMapOvr>
  <p:transition spd="med"/>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99A0C0A2-1C95-CF60-15E7-57B445A8992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255922077"/>
      </p:ext>
    </p:extLst>
  </p:cSld>
  <p:clrMapOvr>
    <a:masterClrMapping/>
  </p:clrMapOvr>
  <p:transition spd="med"/>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Title Only_Black">
    <p:bg>
      <p:bgPr>
        <a:solidFill>
          <a:srgbClr val="1E0013"/>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A245D89D-54AB-A7D6-4141-95E6B3C3695D}"/>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881891474"/>
      </p:ext>
    </p:extLst>
  </p:cSld>
  <p:clrMapOvr>
    <a:masterClrMapping/>
  </p:clrMapOvr>
  <p:transition spd="med"/>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55B6443-4299-282C-565B-68E5F9702780}"/>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988081151"/>
      </p:ext>
    </p:extLst>
  </p:cSld>
  <p:clrMapOvr>
    <a:masterClrMapping/>
  </p:clrMapOvr>
  <p:transition spd="med"/>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Only_Black">
    <p:bg>
      <p:bgPr>
        <a:solidFill>
          <a:srgbClr val="1E0013"/>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bg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BC296FD5-38BC-1E97-5513-17F333DF59B9}"/>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46017966"/>
      </p:ext>
    </p:extLst>
  </p:cSld>
  <p:clrMapOvr>
    <a:masterClrMapping/>
  </p:clrMapOvr>
  <p:transition spd="med"/>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1" y="1308880"/>
            <a:ext cx="1067382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BC5559F-D4D6-DA53-A720-07C2A2D68FA6}"/>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703334344"/>
      </p:ext>
    </p:extLst>
  </p:cSld>
  <p:clrMapOvr>
    <a:masterClrMapping/>
  </p:clrMapOvr>
  <p:transition spd="med"/>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Title and Content_Black">
    <p:bg>
      <p:bgPr>
        <a:solidFill>
          <a:srgbClr val="1E00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2" y="1308880"/>
            <a:ext cx="1067077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2B190EFC-69A6-D92C-008E-75B891AE7709}"/>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931625156"/>
      </p:ext>
    </p:extLst>
  </p:cSld>
  <p:clrMapOvr>
    <a:masterClrMapping/>
  </p:clrMapOvr>
  <p:transition spd="med"/>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with Subtitle Content">
    <p:bg>
      <p:bgPr>
        <a:solidFill>
          <a:schemeClr val="bg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0" y="1749388"/>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827BD319-CE6A-C56C-FAF4-F7D3C4B20C07}"/>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962851269"/>
      </p:ext>
    </p:extLst>
  </p:cSld>
  <p:clrMapOvr>
    <a:masterClrMapping/>
  </p:clrMapOvr>
  <p:transition spd="med"/>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Content_Black">
    <p:bg>
      <p:bgPr>
        <a:solidFill>
          <a:srgbClr val="1E0013"/>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0" y="1749389"/>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bg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2F390D5-FAC3-3E07-D977-2FACDFA7E866}"/>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279509086"/>
      </p:ext>
    </p:extLst>
  </p:cSld>
  <p:clrMapOvr>
    <a:masterClrMapping/>
  </p:clrMapOvr>
  <p:transition spd="med"/>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wo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3"/>
            <a:ext cx="5070324"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340962" y="1307593"/>
            <a:ext cx="5067096"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2FE5186-E704-46DB-A234-0339427F829C}"/>
              </a:ext>
            </a:extLst>
          </p:cNvPr>
          <p:cNvSpPr>
            <a:spLocks noGrp="1"/>
          </p:cNvSpPr>
          <p:nvPr>
            <p:ph type="sldNum" sz="quarter" idx="15"/>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816483611"/>
      </p:ext>
    </p:extLst>
  </p:cSld>
  <p:clrMapOvr>
    <a:masterClrMapping/>
  </p:clrMapOvr>
  <p:transition spd="med"/>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Two Column Slide_Black">
    <p:bg>
      <p:bgPr>
        <a:solidFill>
          <a:srgbClr val="1E00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4"/>
            <a:ext cx="5070324"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340962" y="1307594"/>
            <a:ext cx="506709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A1D52F52-4191-E70A-A15D-3F4D0CF0AA2B}"/>
              </a:ext>
            </a:extLst>
          </p:cNvPr>
          <p:cNvSpPr>
            <a:spLocks noGrp="1"/>
          </p:cNvSpPr>
          <p:nvPr>
            <p:ph type="sldNum" sz="quarter" idx="15"/>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309594540"/>
      </p:ext>
    </p:extLst>
  </p:cSld>
  <p:clrMapOvr>
    <a:masterClrMapping/>
  </p:clrMapOvr>
  <p:transition spd="med"/>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hree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2"/>
          <p:cNvSpPr>
            <a:spLocks noGrp="1"/>
          </p:cNvSpPr>
          <p:nvPr>
            <p:ph sz="half" idx="10"/>
          </p:nvPr>
        </p:nvSpPr>
        <p:spPr bwMode="gray">
          <a:xfrm>
            <a:off x="4378398" y="1307594"/>
            <a:ext cx="3344059"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017903" y="1307594"/>
            <a:ext cx="341653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C61C74C-45BE-3DE8-0DFD-4B97D814FB04}"/>
              </a:ext>
            </a:extLst>
          </p:cNvPr>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886050210"/>
      </p:ext>
    </p:extLst>
  </p:cSld>
  <p:clrMapOvr>
    <a:masterClrMapping/>
  </p:clrMapOvr>
  <p:transition spd="med"/>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Three Column Slide_Black">
    <p:bg>
      <p:bgPr>
        <a:solidFill>
          <a:srgbClr val="1E00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2"/>
          <p:cNvSpPr>
            <a:spLocks noGrp="1"/>
          </p:cNvSpPr>
          <p:nvPr>
            <p:ph sz="half" idx="10"/>
          </p:nvPr>
        </p:nvSpPr>
        <p:spPr bwMode="gray">
          <a:xfrm>
            <a:off x="4378399"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017903" y="1307594"/>
            <a:ext cx="341653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3A92B045-EC23-B30D-E716-8FEBB279E86E}"/>
              </a:ext>
            </a:extLst>
          </p:cNvPr>
          <p:cNvSpPr>
            <a:spLocks noGrp="1"/>
          </p:cNvSpPr>
          <p:nvPr>
            <p:ph type="sldNum" sz="quarter" idx="12"/>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537910983"/>
      </p:ext>
    </p:extLst>
  </p:cSld>
  <p:clrMapOvr>
    <a:masterClrMapping/>
  </p:clrMapOvr>
  <p:transition spd="med"/>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tle w/Imag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5725006"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3"/>
            <a:ext cx="5725006"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C8F3C117-A202-AC1A-30DA-A95049B2670E}"/>
              </a:ext>
            </a:extLst>
          </p:cNvPr>
          <p:cNvSpPr>
            <a:spLocks noGrp="1"/>
          </p:cNvSpPr>
          <p:nvPr>
            <p:ph type="sldNum" sz="quarter" idx="17"/>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450318230"/>
      </p:ext>
    </p:extLst>
  </p:cSld>
  <p:clrMapOvr>
    <a:masterClrMapping/>
  </p:clrMapOvr>
  <p:transition spd="med"/>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Title w/Image_Black">
    <p:bg>
      <p:bgPr>
        <a:solidFill>
          <a:srgbClr val="1E00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5725006"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3"/>
            <a:ext cx="5725006" cy="4919589"/>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EF7E7426-E0FB-DA60-E1E0-A41FD9009F5D}"/>
              </a:ext>
            </a:extLst>
          </p:cNvPr>
          <p:cNvSpPr>
            <a:spLocks noGrp="1"/>
          </p:cNvSpPr>
          <p:nvPr>
            <p:ph type="sldNum" sz="quarter" idx="17"/>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215291777"/>
      </p:ext>
    </p:extLst>
  </p:cSld>
  <p:clrMapOvr>
    <a:masterClrMapping/>
  </p:clrMapOvr>
  <p:transition spd="med"/>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Photo + Statement">
    <p:spTree>
      <p:nvGrpSpPr>
        <p:cNvPr id="1" name=""/>
        <p:cNvGrpSpPr/>
        <p:nvPr/>
      </p:nvGrpSpPr>
      <p:grpSpPr>
        <a:xfrm>
          <a:off x="0" y="0"/>
          <a:ext cx="0" cy="0"/>
          <a:chOff x="0" y="0"/>
          <a:chExt cx="0" cy="0"/>
        </a:xfrm>
      </p:grpSpPr>
      <p:sp>
        <p:nvSpPr>
          <p:cNvPr id="3" name="Rectangle 2"/>
          <p:cNvSpPr/>
          <p:nvPr userDrawn="1"/>
        </p:nvSpPr>
        <p:spPr>
          <a:xfrm>
            <a:off x="1"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8"/>
          <p:cNvSpPr>
            <a:spLocks noGrp="1"/>
          </p:cNvSpPr>
          <p:nvPr>
            <p:ph type="pic" sz="quarter" idx="16"/>
          </p:nvPr>
        </p:nvSpPr>
        <p:spPr>
          <a:xfrm>
            <a:off x="4062849" y="0"/>
            <a:ext cx="8129151"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14" name="Text Placeholder 3"/>
          <p:cNvSpPr>
            <a:spLocks noGrp="1"/>
          </p:cNvSpPr>
          <p:nvPr>
            <p:ph type="body" sz="quarter" idx="18" hasCustomPrompt="1"/>
          </p:nvPr>
        </p:nvSpPr>
        <p:spPr>
          <a:xfrm>
            <a:off x="548783" y="849536"/>
            <a:ext cx="3514066" cy="1926795"/>
          </a:xfrm>
          <a:prstGeom prst="rect">
            <a:avLst/>
          </a:prstGeom>
          <a:noFill/>
        </p:spPr>
        <p:txBody>
          <a:bodyPr lIns="0" tIns="0" rIns="0" bIns="0" anchor="t">
            <a:noAutofit/>
          </a:bodyPr>
          <a:lstStyle>
            <a:lvl1pPr marL="0" indent="0">
              <a:lnSpc>
                <a:spcPts val="4200"/>
              </a:lnSpc>
              <a:spcBef>
                <a:spcPts val="0"/>
              </a:spcBef>
              <a:buFont typeface="Arial" panose="020B0604020202020204" pitchFamily="34" charset="0"/>
              <a:buNone/>
              <a:defRPr sz="4600" b="1" strike="noStrike" spc="-150" baseline="0">
                <a:solidFill>
                  <a:schemeClr val="tx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Photo plus</a:t>
            </a:r>
            <a:br>
              <a:rPr lang="en-US"/>
            </a:br>
            <a:r>
              <a:rPr lang="en-US"/>
              <a:t>statement</a:t>
            </a:r>
            <a:br>
              <a:rPr lang="en-US"/>
            </a:br>
            <a:r>
              <a:rPr lang="en-US"/>
              <a:t>layout</a:t>
            </a:r>
          </a:p>
        </p:txBody>
      </p:sp>
      <p:sp>
        <p:nvSpPr>
          <p:cNvPr id="8" name="Text Placeholder 7"/>
          <p:cNvSpPr>
            <a:spLocks noGrp="1"/>
          </p:cNvSpPr>
          <p:nvPr>
            <p:ph type="body" sz="quarter" idx="19" hasCustomPrompt="1"/>
          </p:nvPr>
        </p:nvSpPr>
        <p:spPr>
          <a:xfrm>
            <a:off x="548784" y="2943639"/>
            <a:ext cx="3514065" cy="1641615"/>
          </a:xfrm>
          <a:prstGeom prst="rect">
            <a:avLst/>
          </a:prstGeom>
        </p:spPr>
        <p:txBody>
          <a:bodyPr lIns="0" tIns="0" rIns="0" bIns="0"/>
          <a:lstStyle>
            <a:lvl1pPr marL="0" indent="0">
              <a:lnSpc>
                <a:spcPts val="2400"/>
              </a:lnSpc>
              <a:spcBef>
                <a:spcPts val="0"/>
              </a:spcBef>
              <a:buNone/>
              <a:defRPr sz="2400" baseline="0">
                <a:solidFill>
                  <a:schemeClr val="tx1"/>
                </a:solidFill>
              </a:defRPr>
            </a:lvl1pPr>
            <a:lvl2pPr marL="609494" indent="0">
              <a:buNone/>
              <a:defRPr/>
            </a:lvl2pPr>
            <a:lvl3pPr marL="1218986" indent="0">
              <a:buNone/>
              <a:defRPr/>
            </a:lvl3pPr>
            <a:lvl4pPr marL="1828480" indent="0">
              <a:buNone/>
              <a:defRPr/>
            </a:lvl4pPr>
            <a:lvl5pPr marL="2437973" indent="0">
              <a:buNone/>
              <a:defRPr/>
            </a:lvl5pPr>
          </a:lstStyle>
          <a:p>
            <a:pPr lvl="0"/>
            <a:r>
              <a:rPr lang="en-US"/>
              <a:t>Subtitle goes here</a:t>
            </a:r>
          </a:p>
        </p:txBody>
      </p:sp>
      <p:sp>
        <p:nvSpPr>
          <p:cNvPr id="7" name="Slide Number Placeholder 1">
            <a:extLst>
              <a:ext uri="{FF2B5EF4-FFF2-40B4-BE49-F238E27FC236}">
                <a16:creationId xmlns:a16="http://schemas.microsoft.com/office/drawing/2014/main" id="{C9E4313D-4BB5-4FBE-BED7-2E337B7C6B9C}"/>
              </a:ext>
            </a:extLst>
          </p:cNvPr>
          <p:cNvSpPr>
            <a:spLocks noGrp="1"/>
          </p:cNvSpPr>
          <p:nvPr>
            <p:ph type="sldNum" sz="quarter" idx="20"/>
          </p:nvPr>
        </p:nvSpPr>
        <p:spPr>
          <a:xfrm>
            <a:off x="11672569" y="6400800"/>
            <a:ext cx="439026" cy="155448"/>
          </a:xfrm>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741459861"/>
      </p:ext>
    </p:extLst>
  </p:cSld>
  <p:clrMapOvr>
    <a:masterClrMapping/>
  </p:clrMapOvr>
  <p:transition spd="med"/>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Photo + Statement_Black">
    <p:bg>
      <p:bgPr>
        <a:solidFill>
          <a:srgbClr val="1E0013"/>
        </a:solidFill>
        <a:effectLst/>
      </p:bgPr>
    </p:bg>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B8CB8992-3FC1-1D5A-F5A3-5A7867B1CF80}"/>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17" name="Picture Placeholder 8">
            <a:extLst>
              <a:ext uri="{FF2B5EF4-FFF2-40B4-BE49-F238E27FC236}">
                <a16:creationId xmlns:a16="http://schemas.microsoft.com/office/drawing/2014/main" id="{FF9FB968-F2A9-4C72-AC3C-DC44BBB699A7}"/>
              </a:ext>
            </a:extLst>
          </p:cNvPr>
          <p:cNvSpPr>
            <a:spLocks noGrp="1"/>
          </p:cNvSpPr>
          <p:nvPr>
            <p:ph type="pic" sz="quarter" idx="16"/>
          </p:nvPr>
        </p:nvSpPr>
        <p:spPr>
          <a:xfrm>
            <a:off x="4062849" y="0"/>
            <a:ext cx="8129151"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18" name="Text Placeholder 3">
            <a:extLst>
              <a:ext uri="{FF2B5EF4-FFF2-40B4-BE49-F238E27FC236}">
                <a16:creationId xmlns:a16="http://schemas.microsoft.com/office/drawing/2014/main" id="{BB9C095A-1012-467F-9C44-B19F964C0089}"/>
              </a:ext>
            </a:extLst>
          </p:cNvPr>
          <p:cNvSpPr>
            <a:spLocks noGrp="1"/>
          </p:cNvSpPr>
          <p:nvPr>
            <p:ph type="body" sz="quarter" idx="18" hasCustomPrompt="1"/>
          </p:nvPr>
        </p:nvSpPr>
        <p:spPr>
          <a:xfrm>
            <a:off x="548783" y="849536"/>
            <a:ext cx="3514066" cy="1926795"/>
          </a:xfrm>
          <a:prstGeom prst="rect">
            <a:avLst/>
          </a:prstGeom>
          <a:noFill/>
        </p:spPr>
        <p:txBody>
          <a:bodyPr lIns="0" tIns="0" rIns="0" bIns="0" anchor="t">
            <a:noAutofit/>
          </a:bodyPr>
          <a:lstStyle>
            <a:lvl1pPr marL="0" indent="0">
              <a:lnSpc>
                <a:spcPts val="4200"/>
              </a:lnSpc>
              <a:spcBef>
                <a:spcPts val="0"/>
              </a:spcBef>
              <a:buFont typeface="Arial" panose="020B0604020202020204" pitchFamily="34" charset="0"/>
              <a:buNone/>
              <a:defRPr sz="4600" b="1" strike="noStrike" spc="-150" baseline="0">
                <a:solidFill>
                  <a:schemeClr val="bg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Photo plus</a:t>
            </a:r>
            <a:br>
              <a:rPr lang="en-US"/>
            </a:br>
            <a:r>
              <a:rPr lang="en-US"/>
              <a:t>statement</a:t>
            </a:r>
            <a:br>
              <a:rPr lang="en-US"/>
            </a:br>
            <a:r>
              <a:rPr lang="en-US"/>
              <a:t>layout</a:t>
            </a:r>
          </a:p>
        </p:txBody>
      </p:sp>
      <p:sp>
        <p:nvSpPr>
          <p:cNvPr id="19" name="Text Placeholder 7">
            <a:extLst>
              <a:ext uri="{FF2B5EF4-FFF2-40B4-BE49-F238E27FC236}">
                <a16:creationId xmlns:a16="http://schemas.microsoft.com/office/drawing/2014/main" id="{20B0D42B-CBC4-443F-B475-39C1A11F88E2}"/>
              </a:ext>
            </a:extLst>
          </p:cNvPr>
          <p:cNvSpPr>
            <a:spLocks noGrp="1"/>
          </p:cNvSpPr>
          <p:nvPr>
            <p:ph type="body" sz="quarter" idx="19" hasCustomPrompt="1"/>
          </p:nvPr>
        </p:nvSpPr>
        <p:spPr>
          <a:xfrm>
            <a:off x="548784" y="2943639"/>
            <a:ext cx="3514065" cy="1641615"/>
          </a:xfrm>
          <a:prstGeom prst="rect">
            <a:avLst/>
          </a:prstGeom>
        </p:spPr>
        <p:txBody>
          <a:bodyPr lIns="0" tIns="0" rIns="0" bIns="0"/>
          <a:lstStyle>
            <a:lvl1pPr marL="0" indent="0">
              <a:lnSpc>
                <a:spcPts val="2400"/>
              </a:lnSpc>
              <a:spcBef>
                <a:spcPts val="0"/>
              </a:spcBef>
              <a:buNone/>
              <a:defRPr sz="2400" baseline="0">
                <a:solidFill>
                  <a:schemeClr val="bg1"/>
                </a:solidFill>
              </a:defRPr>
            </a:lvl1pPr>
            <a:lvl2pPr marL="609494" indent="0">
              <a:buNone/>
              <a:defRPr/>
            </a:lvl2pPr>
            <a:lvl3pPr marL="1218986" indent="0">
              <a:buNone/>
              <a:defRPr/>
            </a:lvl3pPr>
            <a:lvl4pPr marL="1828480" indent="0">
              <a:buNone/>
              <a:defRPr/>
            </a:lvl4pPr>
            <a:lvl5pPr marL="2437973" indent="0">
              <a:buNone/>
              <a:defRPr/>
            </a:lvl5pPr>
          </a:lstStyle>
          <a:p>
            <a:pPr lvl="0"/>
            <a:r>
              <a:rPr lang="en-US"/>
              <a:t>Subtitle goes here</a:t>
            </a:r>
          </a:p>
        </p:txBody>
      </p:sp>
    </p:spTree>
    <p:extLst>
      <p:ext uri="{BB962C8B-B14F-4D97-AF65-F5344CB8AC3E}">
        <p14:creationId xmlns:p14="http://schemas.microsoft.com/office/powerpoint/2010/main" val="647107425"/>
      </p:ext>
    </p:extLst>
  </p:cSld>
  <p:clrMapOvr>
    <a:masterClrMapping/>
  </p:clrMapOvr>
  <p:transition spd="med"/>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Big Idea">
    <p:bg>
      <p:bgPr>
        <a:solidFill>
          <a:schemeClr val="accent3">
            <a:lumMod val="25000"/>
          </a:schemeClr>
        </a:solidFill>
        <a:effectLst/>
      </p:bgPr>
    </p:bg>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B8CB8992-3FC1-1D5A-F5A3-5A7867B1CF80}"/>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7" name="Text Placeholder 6">
            <a:extLst>
              <a:ext uri="{FF2B5EF4-FFF2-40B4-BE49-F238E27FC236}">
                <a16:creationId xmlns:a16="http://schemas.microsoft.com/office/drawing/2014/main" id="{EFEF7F64-EAB6-F941-857A-EB6862B07383}"/>
              </a:ext>
            </a:extLst>
          </p:cNvPr>
          <p:cNvSpPr>
            <a:spLocks noGrp="1"/>
          </p:cNvSpPr>
          <p:nvPr>
            <p:ph type="body" sz="quarter" idx="11" hasCustomPrompt="1"/>
          </p:nvPr>
        </p:nvSpPr>
        <p:spPr>
          <a:xfrm>
            <a:off x="760611" y="1757775"/>
            <a:ext cx="10670779" cy="3342453"/>
          </a:xfrm>
          <a:prstGeom prst="rect">
            <a:avLst/>
          </a:prstGeom>
        </p:spPr>
        <p:txBody>
          <a:bodyPr wrap="square" lIns="0" rIns="0" anchor="ctr" anchorCtr="0">
            <a:spAutoFit/>
          </a:bodyPr>
          <a:lstStyle>
            <a:lvl1pPr marL="0" indent="0">
              <a:lnSpc>
                <a:spcPct val="80000"/>
              </a:lnSpc>
              <a:spcBef>
                <a:spcPts val="0"/>
              </a:spcBef>
              <a:buNone/>
              <a:defRPr sz="8800" b="1">
                <a:solidFill>
                  <a:schemeClr val="bg1"/>
                </a:solidFill>
              </a:defRPr>
            </a:lvl1pPr>
            <a:lvl2pPr marL="609494" indent="0">
              <a:buNone/>
              <a:defRPr/>
            </a:lvl2pPr>
          </a:lstStyle>
          <a:p>
            <a:pPr lvl="0"/>
            <a:r>
              <a:rPr lang="en-US"/>
              <a:t>Click to edit big idea, statement or subject</a:t>
            </a:r>
          </a:p>
        </p:txBody>
      </p:sp>
    </p:spTree>
    <p:extLst>
      <p:ext uri="{BB962C8B-B14F-4D97-AF65-F5344CB8AC3E}">
        <p14:creationId xmlns:p14="http://schemas.microsoft.com/office/powerpoint/2010/main" val="1314792615"/>
      </p:ext>
    </p:extLst>
  </p:cSld>
  <p:clrMapOvr>
    <a:masterClrMapping/>
  </p:clrMapOvr>
  <p:transition spd="med"/>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Quote Layout">
    <p:bg>
      <p:bgPr>
        <a:solidFill>
          <a:schemeClr val="bg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A037CD95-D004-2B21-4A36-C02C76A5C015}"/>
              </a:ext>
              <a:ext uri="{C183D7F6-B498-43B3-948B-1728B52AA6E4}">
                <adec:decorative xmlns:adec="http://schemas.microsoft.com/office/drawing/2017/decorative" val="1"/>
              </a:ext>
            </a:extLst>
          </p:cNvPr>
          <p:cNvGrpSpPr/>
          <p:nvPr userDrawn="1"/>
        </p:nvGrpSpPr>
        <p:grpSpPr>
          <a:xfrm>
            <a:off x="759024" y="788988"/>
            <a:ext cx="990858" cy="735013"/>
            <a:chOff x="657226" y="398463"/>
            <a:chExt cx="990600" cy="735013"/>
          </a:xfrm>
          <a:gradFill>
            <a:gsLst>
              <a:gs pos="100000">
                <a:srgbClr val="F5A598"/>
              </a:gs>
              <a:gs pos="47000">
                <a:srgbClr val="D2ADC9"/>
              </a:gs>
              <a:gs pos="77000">
                <a:srgbClr val="E6BDC1"/>
              </a:gs>
              <a:gs pos="9000">
                <a:srgbClr val="A7B6D3"/>
              </a:gs>
            </a:gsLst>
            <a:lin ang="13500000" scaled="1"/>
          </a:gradFill>
        </p:grpSpPr>
        <p:sp>
          <p:nvSpPr>
            <p:cNvPr id="12" name="Freeform 5">
              <a:extLst>
                <a:ext uri="{FF2B5EF4-FFF2-40B4-BE49-F238E27FC236}">
                  <a16:creationId xmlns:a16="http://schemas.microsoft.com/office/drawing/2014/main" id="{7478010D-01FF-497C-41EB-76A4E063D3B3}"/>
                </a:ext>
              </a:extLst>
            </p:cNvPr>
            <p:cNvSpPr>
              <a:spLocks/>
            </p:cNvSpPr>
            <p:nvPr userDrawn="1"/>
          </p:nvSpPr>
          <p:spPr bwMode="auto">
            <a:xfrm>
              <a:off x="657226"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3" name="Freeform 6">
              <a:extLst>
                <a:ext uri="{FF2B5EF4-FFF2-40B4-BE49-F238E27FC236}">
                  <a16:creationId xmlns:a16="http://schemas.microsoft.com/office/drawing/2014/main" id="{C7C4737E-BF88-7B2F-7399-008A3E052A17}"/>
                </a:ext>
              </a:extLst>
            </p:cNvPr>
            <p:cNvSpPr>
              <a:spLocks/>
            </p:cNvSpPr>
            <p:nvPr userDrawn="1"/>
          </p:nvSpPr>
          <p:spPr bwMode="auto">
            <a:xfrm>
              <a:off x="1195388"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15" name="Text Placeholder 107"/>
          <p:cNvSpPr>
            <a:spLocks noGrp="1"/>
          </p:cNvSpPr>
          <p:nvPr>
            <p:ph type="body" sz="quarter" idx="18" hasCustomPrompt="1"/>
          </p:nvPr>
        </p:nvSpPr>
        <p:spPr bwMode="white">
          <a:xfrm>
            <a:off x="759025" y="1812556"/>
            <a:ext cx="9910169" cy="2759445"/>
          </a:xfrm>
          <a:prstGeom prst="rect">
            <a:avLst/>
          </a:prstGeom>
        </p:spPr>
        <p:txBody>
          <a:bodyPr lIns="0" anchor="t">
            <a:normAutofit/>
          </a:bodyPr>
          <a:lstStyle>
            <a:lvl1pPr marL="0" indent="0" algn="l">
              <a:lnSpc>
                <a:spcPct val="85000"/>
              </a:lnSpc>
              <a:spcBef>
                <a:spcPts val="0"/>
              </a:spcBef>
              <a:buNone/>
              <a:defRPr sz="4400" b="1" spc="-150">
                <a:solidFill>
                  <a:schemeClr val="tx1"/>
                </a:solidFill>
              </a:defRPr>
            </a:lvl1pPr>
            <a:lvl2pPr marL="341313" indent="0" algn="ctr">
              <a:buNone/>
              <a:defRPr>
                <a:solidFill>
                  <a:schemeClr val="bg1"/>
                </a:solidFill>
              </a:defRPr>
            </a:lvl2pPr>
            <a:lvl3pPr marL="679450" indent="0" algn="ctr">
              <a:buNone/>
              <a:defRPr>
                <a:solidFill>
                  <a:schemeClr val="bg1"/>
                </a:solidFill>
              </a:defRPr>
            </a:lvl3pPr>
            <a:lvl4pPr marL="966787" indent="0" algn="ctr">
              <a:buNone/>
              <a:defRPr>
                <a:solidFill>
                  <a:schemeClr val="bg1"/>
                </a:solidFill>
              </a:defRPr>
            </a:lvl4pPr>
            <a:lvl5pPr marL="1146175" indent="0" algn="ctr">
              <a:buNone/>
              <a:defRPr>
                <a:solidFill>
                  <a:schemeClr val="bg1"/>
                </a:solidFill>
              </a:defRPr>
            </a:lvl5pPr>
          </a:lstStyle>
          <a:p>
            <a:pPr lvl="0"/>
            <a:r>
              <a:rPr lang="en-US"/>
              <a:t>Click to edit quote</a:t>
            </a:r>
          </a:p>
        </p:txBody>
      </p:sp>
      <p:sp>
        <p:nvSpPr>
          <p:cNvPr id="17" name="Text Placeholder 110"/>
          <p:cNvSpPr>
            <a:spLocks noGrp="1"/>
          </p:cNvSpPr>
          <p:nvPr>
            <p:ph type="body" sz="quarter" idx="19" hasCustomPrompt="1"/>
          </p:nvPr>
        </p:nvSpPr>
        <p:spPr>
          <a:xfrm>
            <a:off x="759024" y="5045446"/>
            <a:ext cx="9910169" cy="406265"/>
          </a:xfrm>
          <a:prstGeom prst="rect">
            <a:avLst/>
          </a:prstGeom>
        </p:spPr>
        <p:txBody>
          <a:bodyPr lIns="0">
            <a:spAutoFit/>
          </a:bodyPr>
          <a:lstStyle>
            <a:lvl1pPr marL="0" indent="0" algn="l">
              <a:lnSpc>
                <a:spcPct val="85000"/>
              </a:lnSpc>
              <a:spcBef>
                <a:spcPts val="0"/>
              </a:spcBef>
              <a:buNone/>
              <a:defRPr sz="2400" b="1" spc="-150" baseline="0">
                <a:solidFill>
                  <a:schemeClr val="tx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Click to edit quote source</a:t>
            </a:r>
          </a:p>
        </p:txBody>
      </p:sp>
      <p:sp>
        <p:nvSpPr>
          <p:cNvPr id="2" name="Slide Number Placeholder 1">
            <a:extLst>
              <a:ext uri="{FF2B5EF4-FFF2-40B4-BE49-F238E27FC236}">
                <a16:creationId xmlns:a16="http://schemas.microsoft.com/office/drawing/2014/main" id="{3E815315-0D5A-DC09-BF8B-373910164840}"/>
              </a:ext>
            </a:extLst>
          </p:cNvPr>
          <p:cNvSpPr>
            <a:spLocks noGrp="1"/>
          </p:cNvSpPr>
          <p:nvPr>
            <p:ph type="sldNum" sz="quarter" idx="2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161311612"/>
      </p:ext>
    </p:extLst>
  </p:cSld>
  <p:clrMapOvr>
    <a:masterClrMapping/>
  </p:clrMapOvr>
  <p:transition spd="med"/>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Quote Layout_Black">
    <p:bg>
      <p:bgPr>
        <a:solidFill>
          <a:srgbClr val="1E0113"/>
        </a:solidFill>
        <a:effectLst/>
      </p:bgPr>
    </p:bg>
    <p:spTree>
      <p:nvGrpSpPr>
        <p:cNvPr id="1" name=""/>
        <p:cNvGrpSpPr/>
        <p:nvPr/>
      </p:nvGrpSpPr>
      <p:grpSpPr>
        <a:xfrm>
          <a:off x="0" y="0"/>
          <a:ext cx="0" cy="0"/>
          <a:chOff x="0" y="0"/>
          <a:chExt cx="0" cy="0"/>
        </a:xfrm>
      </p:grpSpPr>
      <p:sp>
        <p:nvSpPr>
          <p:cNvPr id="15" name="Text Placeholder 107"/>
          <p:cNvSpPr>
            <a:spLocks noGrp="1"/>
          </p:cNvSpPr>
          <p:nvPr>
            <p:ph type="body" sz="quarter" idx="18" hasCustomPrompt="1"/>
          </p:nvPr>
        </p:nvSpPr>
        <p:spPr bwMode="white">
          <a:xfrm>
            <a:off x="759025" y="1812556"/>
            <a:ext cx="9914678" cy="2763845"/>
          </a:xfrm>
          <a:prstGeom prst="rect">
            <a:avLst/>
          </a:prstGeom>
        </p:spPr>
        <p:txBody>
          <a:bodyPr lIns="0" anchor="t">
            <a:normAutofit/>
          </a:bodyPr>
          <a:lstStyle>
            <a:lvl1pPr marL="0" indent="0" algn="l">
              <a:lnSpc>
                <a:spcPct val="85000"/>
              </a:lnSpc>
              <a:spcBef>
                <a:spcPts val="0"/>
              </a:spcBef>
              <a:buNone/>
              <a:defRPr sz="4400" b="1" spc="-150">
                <a:solidFill>
                  <a:schemeClr val="bg1"/>
                </a:solidFill>
              </a:defRPr>
            </a:lvl1pPr>
            <a:lvl2pPr marL="341313" indent="0" algn="ctr">
              <a:buNone/>
              <a:defRPr>
                <a:solidFill>
                  <a:schemeClr val="bg1"/>
                </a:solidFill>
              </a:defRPr>
            </a:lvl2pPr>
            <a:lvl3pPr marL="679450" indent="0" algn="ctr">
              <a:buNone/>
              <a:defRPr>
                <a:solidFill>
                  <a:schemeClr val="bg1"/>
                </a:solidFill>
              </a:defRPr>
            </a:lvl3pPr>
            <a:lvl4pPr marL="966787" indent="0" algn="ctr">
              <a:buNone/>
              <a:defRPr>
                <a:solidFill>
                  <a:schemeClr val="bg1"/>
                </a:solidFill>
              </a:defRPr>
            </a:lvl4pPr>
            <a:lvl5pPr marL="1146175" indent="0" algn="ctr">
              <a:buNone/>
              <a:defRPr>
                <a:solidFill>
                  <a:schemeClr val="bg1"/>
                </a:solidFill>
              </a:defRPr>
            </a:lvl5pPr>
          </a:lstStyle>
          <a:p>
            <a:pPr lvl="0"/>
            <a:r>
              <a:rPr lang="en-US"/>
              <a:t>Click to edit quote</a:t>
            </a:r>
          </a:p>
        </p:txBody>
      </p:sp>
      <p:sp>
        <p:nvSpPr>
          <p:cNvPr id="17" name="Text Placeholder 110"/>
          <p:cNvSpPr>
            <a:spLocks noGrp="1"/>
          </p:cNvSpPr>
          <p:nvPr>
            <p:ph type="body" sz="quarter" idx="19" hasCustomPrompt="1"/>
          </p:nvPr>
        </p:nvSpPr>
        <p:spPr>
          <a:xfrm>
            <a:off x="759024" y="5045446"/>
            <a:ext cx="9914679" cy="406265"/>
          </a:xfrm>
          <a:prstGeom prst="rect">
            <a:avLst/>
          </a:prstGeom>
        </p:spPr>
        <p:txBody>
          <a:bodyPr lIns="0">
            <a:noAutofit/>
          </a:bodyPr>
          <a:lstStyle>
            <a:lvl1pPr marL="0" indent="0" algn="l">
              <a:lnSpc>
                <a:spcPct val="85000"/>
              </a:lnSpc>
              <a:spcBef>
                <a:spcPts val="0"/>
              </a:spcBef>
              <a:buNone/>
              <a:defRPr sz="2400" b="1" spc="-150" baseline="0">
                <a:solidFill>
                  <a:schemeClr val="bg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Click to edit quote source</a:t>
            </a:r>
          </a:p>
        </p:txBody>
      </p:sp>
      <p:sp>
        <p:nvSpPr>
          <p:cNvPr id="2" name="Slide Number Placeholder 1">
            <a:extLst>
              <a:ext uri="{FF2B5EF4-FFF2-40B4-BE49-F238E27FC236}">
                <a16:creationId xmlns:a16="http://schemas.microsoft.com/office/drawing/2014/main" id="{765C380F-7235-3AB0-03FD-9418F9E88CA5}"/>
              </a:ext>
            </a:extLst>
          </p:cNvPr>
          <p:cNvSpPr>
            <a:spLocks noGrp="1"/>
          </p:cNvSpPr>
          <p:nvPr>
            <p:ph type="sldNum" sz="quarter" idx="20"/>
          </p:nvPr>
        </p:nvSpPr>
        <p:spPr/>
        <p:txBody>
          <a:bodyPr/>
          <a:lstStyle>
            <a:lvl1pPr>
              <a:defRPr>
                <a:solidFill>
                  <a:schemeClr val="bg1"/>
                </a:solidFill>
              </a:defRPr>
            </a:lvl1pPr>
          </a:lstStyle>
          <a:p>
            <a:fld id="{6D22F896-40B5-4ADD-8801-0D06FADFA095}" type="slidenum">
              <a:rPr lang="en-US" smtClean="0"/>
              <a:pPr/>
              <a:t>‹#›</a:t>
            </a:fld>
            <a:endParaRPr lang="en-US"/>
          </a:p>
        </p:txBody>
      </p:sp>
      <p:grpSp>
        <p:nvGrpSpPr>
          <p:cNvPr id="18" name="Group 17">
            <a:extLst>
              <a:ext uri="{FF2B5EF4-FFF2-40B4-BE49-F238E27FC236}">
                <a16:creationId xmlns:a16="http://schemas.microsoft.com/office/drawing/2014/main" id="{3302BD98-6DAE-1743-EC0B-3BD86F2E6E9E}"/>
              </a:ext>
            </a:extLst>
          </p:cNvPr>
          <p:cNvGrpSpPr/>
          <p:nvPr userDrawn="1"/>
        </p:nvGrpSpPr>
        <p:grpSpPr>
          <a:xfrm>
            <a:off x="759024" y="788988"/>
            <a:ext cx="990858" cy="735013"/>
            <a:chOff x="657226" y="398463"/>
            <a:chExt cx="990600" cy="735013"/>
          </a:xfrm>
          <a:gradFill>
            <a:gsLst>
              <a:gs pos="100000">
                <a:srgbClr val="391262"/>
              </a:gs>
              <a:gs pos="26000">
                <a:srgbClr val="64131E"/>
              </a:gs>
              <a:gs pos="0">
                <a:srgbClr val="831B22"/>
              </a:gs>
              <a:gs pos="66000">
                <a:srgbClr val="4D144A"/>
              </a:gs>
            </a:gsLst>
            <a:lin ang="13500000" scaled="1"/>
          </a:gradFill>
        </p:grpSpPr>
        <p:sp>
          <p:nvSpPr>
            <p:cNvPr id="19" name="Freeform 5">
              <a:extLst>
                <a:ext uri="{FF2B5EF4-FFF2-40B4-BE49-F238E27FC236}">
                  <a16:creationId xmlns:a16="http://schemas.microsoft.com/office/drawing/2014/main" id="{7427A43A-50DD-D6E1-5FBF-AC4CB787054F}"/>
                </a:ext>
              </a:extLst>
            </p:cNvPr>
            <p:cNvSpPr>
              <a:spLocks/>
            </p:cNvSpPr>
            <p:nvPr userDrawn="1"/>
          </p:nvSpPr>
          <p:spPr bwMode="auto">
            <a:xfrm>
              <a:off x="657226"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6">
              <a:extLst>
                <a:ext uri="{FF2B5EF4-FFF2-40B4-BE49-F238E27FC236}">
                  <a16:creationId xmlns:a16="http://schemas.microsoft.com/office/drawing/2014/main" id="{10BB8F0C-C9B6-64D7-DD2C-3BDDA0FDE7B3}"/>
                </a:ext>
              </a:extLst>
            </p:cNvPr>
            <p:cNvSpPr>
              <a:spLocks/>
            </p:cNvSpPr>
            <p:nvPr userDrawn="1"/>
          </p:nvSpPr>
          <p:spPr bwMode="auto">
            <a:xfrm>
              <a:off x="1195388"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Tree>
    <p:extLst>
      <p:ext uri="{BB962C8B-B14F-4D97-AF65-F5344CB8AC3E}">
        <p14:creationId xmlns:p14="http://schemas.microsoft.com/office/powerpoint/2010/main" val="3830362169"/>
      </p:ext>
    </p:extLst>
  </p:cSld>
  <p:clrMapOvr>
    <a:masterClrMapping/>
  </p:clrMapOvr>
  <p:transition spd="med"/>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userDrawn="1">
  <p:cSld name="Quote Layout_Color">
    <p:bg>
      <p:bgPr>
        <a:gradFill>
          <a:gsLst>
            <a:gs pos="100000">
              <a:srgbClr val="391262"/>
            </a:gs>
            <a:gs pos="38000">
              <a:srgbClr val="64131E"/>
            </a:gs>
            <a:gs pos="0">
              <a:srgbClr val="831B22"/>
            </a:gs>
            <a:gs pos="71000">
              <a:srgbClr val="4D144A"/>
            </a:gs>
          </a:gsLst>
          <a:path path="circle">
            <a:fillToRect l="100000" t="100000"/>
          </a:path>
        </a:gradFill>
        <a:effectLst/>
      </p:bgPr>
    </p:bg>
    <p:spTree>
      <p:nvGrpSpPr>
        <p:cNvPr id="1" name=""/>
        <p:cNvGrpSpPr/>
        <p:nvPr/>
      </p:nvGrpSpPr>
      <p:grpSpPr>
        <a:xfrm>
          <a:off x="0" y="0"/>
          <a:ext cx="0" cy="0"/>
          <a:chOff x="0" y="0"/>
          <a:chExt cx="0" cy="0"/>
        </a:xfrm>
      </p:grpSpPr>
      <p:sp>
        <p:nvSpPr>
          <p:cNvPr id="15" name="Text Placeholder 107"/>
          <p:cNvSpPr>
            <a:spLocks noGrp="1"/>
          </p:cNvSpPr>
          <p:nvPr>
            <p:ph type="body" sz="quarter" idx="18" hasCustomPrompt="1"/>
          </p:nvPr>
        </p:nvSpPr>
        <p:spPr bwMode="white">
          <a:xfrm>
            <a:off x="759025" y="1812556"/>
            <a:ext cx="9910167" cy="2759445"/>
          </a:xfrm>
          <a:prstGeom prst="rect">
            <a:avLst/>
          </a:prstGeom>
        </p:spPr>
        <p:txBody>
          <a:bodyPr lIns="0" anchor="t">
            <a:normAutofit/>
          </a:bodyPr>
          <a:lstStyle>
            <a:lvl1pPr marL="0" indent="0" algn="l">
              <a:lnSpc>
                <a:spcPct val="85000"/>
              </a:lnSpc>
              <a:spcBef>
                <a:spcPts val="0"/>
              </a:spcBef>
              <a:buNone/>
              <a:defRPr sz="4400" b="1" spc="-150">
                <a:solidFill>
                  <a:schemeClr val="bg1"/>
                </a:solidFill>
              </a:defRPr>
            </a:lvl1pPr>
            <a:lvl2pPr marL="341313" indent="0" algn="ctr">
              <a:buNone/>
              <a:defRPr>
                <a:solidFill>
                  <a:schemeClr val="bg1"/>
                </a:solidFill>
              </a:defRPr>
            </a:lvl2pPr>
            <a:lvl3pPr marL="679450" indent="0" algn="ctr">
              <a:buNone/>
              <a:defRPr>
                <a:solidFill>
                  <a:schemeClr val="bg1"/>
                </a:solidFill>
              </a:defRPr>
            </a:lvl3pPr>
            <a:lvl4pPr marL="966787" indent="0" algn="ctr">
              <a:buNone/>
              <a:defRPr>
                <a:solidFill>
                  <a:schemeClr val="bg1"/>
                </a:solidFill>
              </a:defRPr>
            </a:lvl4pPr>
            <a:lvl5pPr marL="1146175" indent="0" algn="ctr">
              <a:buNone/>
              <a:defRPr>
                <a:solidFill>
                  <a:schemeClr val="bg1"/>
                </a:solidFill>
              </a:defRPr>
            </a:lvl5pPr>
          </a:lstStyle>
          <a:p>
            <a:pPr lvl="0"/>
            <a:r>
              <a:rPr lang="en-US"/>
              <a:t>Click to edit quote</a:t>
            </a:r>
          </a:p>
        </p:txBody>
      </p:sp>
      <p:sp>
        <p:nvSpPr>
          <p:cNvPr id="17" name="Text Placeholder 110"/>
          <p:cNvSpPr>
            <a:spLocks noGrp="1"/>
          </p:cNvSpPr>
          <p:nvPr>
            <p:ph type="body" sz="quarter" idx="19" hasCustomPrompt="1"/>
          </p:nvPr>
        </p:nvSpPr>
        <p:spPr>
          <a:xfrm>
            <a:off x="759024" y="5045446"/>
            <a:ext cx="9910168" cy="406265"/>
          </a:xfrm>
          <a:prstGeom prst="rect">
            <a:avLst/>
          </a:prstGeom>
        </p:spPr>
        <p:txBody>
          <a:bodyPr lIns="0">
            <a:noAutofit/>
          </a:bodyPr>
          <a:lstStyle>
            <a:lvl1pPr marL="0" indent="0" algn="l">
              <a:lnSpc>
                <a:spcPct val="85000"/>
              </a:lnSpc>
              <a:spcBef>
                <a:spcPts val="0"/>
              </a:spcBef>
              <a:buNone/>
              <a:defRPr sz="2400" b="1" spc="-150" baseline="0">
                <a:solidFill>
                  <a:schemeClr val="bg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Click to edit quote source</a:t>
            </a:r>
          </a:p>
        </p:txBody>
      </p:sp>
      <p:sp>
        <p:nvSpPr>
          <p:cNvPr id="2" name="Slide Number Placeholder 1">
            <a:extLst>
              <a:ext uri="{FF2B5EF4-FFF2-40B4-BE49-F238E27FC236}">
                <a16:creationId xmlns:a16="http://schemas.microsoft.com/office/drawing/2014/main" id="{EBA179E8-3325-1689-7216-8DD26DF9516C}"/>
              </a:ext>
            </a:extLst>
          </p:cNvPr>
          <p:cNvSpPr>
            <a:spLocks noGrp="1"/>
          </p:cNvSpPr>
          <p:nvPr>
            <p:ph type="sldNum" sz="quarter" idx="20"/>
          </p:nvPr>
        </p:nvSpPr>
        <p:spPr/>
        <p:txBody>
          <a:bodyPr/>
          <a:lstStyle>
            <a:lvl1pPr>
              <a:defRPr>
                <a:solidFill>
                  <a:schemeClr val="bg1"/>
                </a:solidFill>
              </a:defRPr>
            </a:lvl1pPr>
          </a:lstStyle>
          <a:p>
            <a:fld id="{6D22F896-40B5-4ADD-8801-0D06FADFA095}" type="slidenum">
              <a:rPr lang="en-US" smtClean="0"/>
              <a:pPr/>
              <a:t>‹#›</a:t>
            </a:fld>
            <a:endParaRPr lang="en-US"/>
          </a:p>
        </p:txBody>
      </p:sp>
      <p:grpSp>
        <p:nvGrpSpPr>
          <p:cNvPr id="34" name="Group 33">
            <a:extLst>
              <a:ext uri="{FF2B5EF4-FFF2-40B4-BE49-F238E27FC236}">
                <a16:creationId xmlns:a16="http://schemas.microsoft.com/office/drawing/2014/main" id="{E897E0CA-E9A9-E0E3-3CBF-4638AF7AEA37}"/>
              </a:ext>
            </a:extLst>
          </p:cNvPr>
          <p:cNvGrpSpPr/>
          <p:nvPr userDrawn="1"/>
        </p:nvGrpSpPr>
        <p:grpSpPr>
          <a:xfrm>
            <a:off x="759024" y="788988"/>
            <a:ext cx="990858" cy="735013"/>
            <a:chOff x="657226" y="398463"/>
            <a:chExt cx="990600" cy="735013"/>
          </a:xfrm>
          <a:solidFill>
            <a:schemeClr val="bg1"/>
          </a:solidFill>
        </p:grpSpPr>
        <p:sp>
          <p:nvSpPr>
            <p:cNvPr id="35" name="Freeform 5">
              <a:extLst>
                <a:ext uri="{FF2B5EF4-FFF2-40B4-BE49-F238E27FC236}">
                  <a16:creationId xmlns:a16="http://schemas.microsoft.com/office/drawing/2014/main" id="{7EEF4626-4306-CF44-30F2-238CF5A9D249}"/>
                </a:ext>
              </a:extLst>
            </p:cNvPr>
            <p:cNvSpPr>
              <a:spLocks/>
            </p:cNvSpPr>
            <p:nvPr userDrawn="1"/>
          </p:nvSpPr>
          <p:spPr bwMode="auto">
            <a:xfrm>
              <a:off x="657226"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6" name="Freeform 6">
              <a:extLst>
                <a:ext uri="{FF2B5EF4-FFF2-40B4-BE49-F238E27FC236}">
                  <a16:creationId xmlns:a16="http://schemas.microsoft.com/office/drawing/2014/main" id="{6E76F828-F318-AE96-8117-C054CA893D32}"/>
                </a:ext>
              </a:extLst>
            </p:cNvPr>
            <p:cNvSpPr>
              <a:spLocks/>
            </p:cNvSpPr>
            <p:nvPr userDrawn="1"/>
          </p:nvSpPr>
          <p:spPr bwMode="auto">
            <a:xfrm>
              <a:off x="1195388"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Tree>
    <p:extLst>
      <p:ext uri="{BB962C8B-B14F-4D97-AF65-F5344CB8AC3E}">
        <p14:creationId xmlns:p14="http://schemas.microsoft.com/office/powerpoint/2010/main" val="2605220551"/>
      </p:ext>
    </p:extLst>
  </p:cSld>
  <p:clrMapOvr>
    <a:masterClrMapping/>
  </p:clrMapOvr>
  <p:transition spd="med"/>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Content w/ Product">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9" name="Content Placeholder 2"/>
          <p:cNvSpPr>
            <a:spLocks noGrp="1"/>
          </p:cNvSpPr>
          <p:nvPr>
            <p:ph sz="half" idx="18"/>
          </p:nvPr>
        </p:nvSpPr>
        <p:spPr bwMode="gray">
          <a:xfrm>
            <a:off x="6858198" y="1307593"/>
            <a:ext cx="4573192"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58198" y="442528"/>
            <a:ext cx="4573192"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0AFBC96C-E04F-90E6-1BBE-C65ECD6E5C14}"/>
              </a:ext>
            </a:extLst>
          </p:cNvPr>
          <p:cNvSpPr>
            <a:spLocks noGrp="1"/>
          </p:cNvSpPr>
          <p:nvPr>
            <p:ph type="sldNum" sz="quarter" idx="19"/>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629830365"/>
      </p:ext>
    </p:extLst>
  </p:cSld>
  <p:clrMapOvr>
    <a:masterClrMapping/>
  </p:clrMapOvr>
  <p:transition spd="med"/>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userDrawn="1">
  <p:cSld name="Content w/ Product_Black">
    <p:bg>
      <p:bgPr>
        <a:solidFill>
          <a:srgbClr val="1E0013"/>
        </a:solidFill>
        <a:effectLst/>
      </p:bgPr>
    </p:bg>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9" name="Content Placeholder 2"/>
          <p:cNvSpPr>
            <a:spLocks noGrp="1"/>
          </p:cNvSpPr>
          <p:nvPr>
            <p:ph sz="half" idx="18"/>
          </p:nvPr>
        </p:nvSpPr>
        <p:spPr bwMode="gray">
          <a:xfrm>
            <a:off x="6858200" y="1307592"/>
            <a:ext cx="4573191" cy="4788408"/>
          </a:xfrm>
          <a:prstGeom prst="rect">
            <a:avLst/>
          </a:prstGeom>
        </p:spPr>
        <p:txBody>
          <a:bodyPr lIns="0" tIns="0" rIns="0" bIns="0"/>
          <a:lstStyle>
            <a:lvl1pPr marL="171450" indent="-171450">
              <a:lnSpc>
                <a:spcPct val="90000"/>
              </a:lnSpc>
              <a:spcBef>
                <a:spcPts val="5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58199" y="442528"/>
            <a:ext cx="4573192" cy="418576"/>
          </a:xfrm>
          <a:prstGeom prst="rect">
            <a:avLst/>
          </a:prstGeom>
        </p:spPr>
        <p:txBody>
          <a:bodyPr wrap="square" lIns="0" tIns="0" rIns="0" bIns="0" anchor="t" anchorCtr="0">
            <a:sp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E5A84DA8-2577-7EF4-6122-06E4DEEB80AF}"/>
              </a:ext>
            </a:extLst>
          </p:cNvPr>
          <p:cNvSpPr>
            <a:spLocks noGrp="1"/>
          </p:cNvSpPr>
          <p:nvPr>
            <p:ph type="sldNum" sz="quarter" idx="19"/>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72202695"/>
      </p:ext>
    </p:extLst>
  </p:cSld>
  <p:clrMapOvr>
    <a:masterClrMapping/>
  </p:clrMapOvr>
  <p:transition spd="med"/>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sp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760612" y="1524000"/>
            <a:ext cx="10670779" cy="4572000"/>
          </a:xfrm>
          <a:prstGeom prst="rect">
            <a:avLst/>
          </a:prstGeom>
        </p:spPr>
        <p:txBody>
          <a:bodyPr lIns="121899" tIns="853291" rIns="121899" bIns="60949" anchor="ctr" anchorCtr="0"/>
          <a:lstStyle>
            <a:lvl1pPr marL="0" indent="0" algn="ctr">
              <a:buFontTx/>
              <a:buNone/>
              <a:defRPr sz="2400" baseline="0">
                <a:solidFill>
                  <a:schemeClr val="bg2"/>
                </a:solidFill>
              </a:defRPr>
            </a:lvl1pPr>
          </a:lstStyle>
          <a:p>
            <a:r>
              <a:rPr lang="en-US"/>
              <a:t>Click icon to create chart</a:t>
            </a:r>
          </a:p>
        </p:txBody>
      </p:sp>
      <p:sp>
        <p:nvSpPr>
          <p:cNvPr id="2" name="Slide Number Placeholder 1">
            <a:extLst>
              <a:ext uri="{FF2B5EF4-FFF2-40B4-BE49-F238E27FC236}">
                <a16:creationId xmlns:a16="http://schemas.microsoft.com/office/drawing/2014/main" id="{BBE9C038-E754-006F-B382-D714EB949571}"/>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421272982"/>
      </p:ext>
    </p:extLst>
  </p:cSld>
  <p:clrMapOvr>
    <a:masterClrMapping/>
  </p:clrMapOvr>
  <p:transition spd="med"/>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Chart Slide_Black">
    <p:bg>
      <p:bgPr>
        <a:solidFill>
          <a:srgbClr val="1E00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760612" y="1524000"/>
            <a:ext cx="10670779" cy="4572001"/>
          </a:xfrm>
          <a:prstGeom prst="rect">
            <a:avLst/>
          </a:prstGeom>
        </p:spPr>
        <p:txBody>
          <a:bodyPr lIns="121899" tIns="853291" rIns="121899" bIns="60949" anchor="ctr" anchorCtr="0"/>
          <a:lstStyle>
            <a:lvl1pPr marL="0" indent="0" algn="ctr">
              <a:buFontTx/>
              <a:buNone/>
              <a:defRPr sz="2400" baseline="0">
                <a:solidFill>
                  <a:schemeClr val="bg1"/>
                </a:solidFill>
              </a:defRPr>
            </a:lvl1pPr>
          </a:lstStyle>
          <a:p>
            <a:r>
              <a:rPr lang="en-US"/>
              <a:t>Click icon to create chart</a:t>
            </a:r>
          </a:p>
        </p:txBody>
      </p:sp>
      <p:sp>
        <p:nvSpPr>
          <p:cNvPr id="2" name="Slide Number Placeholder 1">
            <a:extLst>
              <a:ext uri="{FF2B5EF4-FFF2-40B4-BE49-F238E27FC236}">
                <a16:creationId xmlns:a16="http://schemas.microsoft.com/office/drawing/2014/main" id="{A1222CEF-FCD3-E840-7AE1-E900A5D59CF2}"/>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87080009"/>
      </p:ext>
    </p:extLst>
  </p:cSld>
  <p:clrMapOvr>
    <a:masterClrMapping/>
  </p:clrMapOvr>
  <p:transition spd="med"/>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12E9409-35B8-57EB-2941-154C5CA02C3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4006986585"/>
      </p:ext>
    </p:extLst>
  </p:cSld>
  <p:clrMapOvr>
    <a:masterClrMapping/>
  </p:clrMapOvr>
  <p:transition spd="med"/>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userDrawn="1">
  <p:cSld name="Blank Slide_Black">
    <p:bg>
      <p:bgPr>
        <a:solidFill>
          <a:srgbClr val="1E0013"/>
        </a:solidFill>
        <a:effectLst/>
      </p:bgPr>
    </p:bg>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0094B782-D6B1-E164-080E-40821B7DAFAF}"/>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856980475"/>
      </p:ext>
    </p:extLst>
  </p:cSld>
  <p:clrMapOvr>
    <a:masterClrMapping/>
  </p:clrMapOvr>
  <p:transition spd="med"/>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Closing Slide_White">
    <p:bg>
      <p:bgPr>
        <a:solidFill>
          <a:schemeClr val="bg1"/>
        </a:solidFill>
        <a:effectLst/>
      </p:bgPr>
    </p:bg>
    <p:spTree>
      <p:nvGrpSpPr>
        <p:cNvPr id="1" name=""/>
        <p:cNvGrpSpPr/>
        <p:nvPr/>
      </p:nvGrpSpPr>
      <p:grpSpPr>
        <a:xfrm>
          <a:off x="0" y="0"/>
          <a:ext cx="0" cy="0"/>
          <a:chOff x="0" y="0"/>
          <a:chExt cx="0" cy="0"/>
        </a:xfrm>
      </p:grpSpPr>
      <p:sp>
        <p:nvSpPr>
          <p:cNvPr id="3" name="Rectangle 2" descr="Lenovo pale smarter gradient, &quot;Wonder&quot; combines pale reds, purples and blue">
            <a:extLst>
              <a:ext uri="{FF2B5EF4-FFF2-40B4-BE49-F238E27FC236}">
                <a16:creationId xmlns:a16="http://schemas.microsoft.com/office/drawing/2014/main" id="{4CE51E88-E558-34ED-C018-94C35789BBF8}"/>
              </a:ext>
            </a:extLst>
          </p:cNvPr>
          <p:cNvSpPr/>
          <p:nvPr userDrawn="1"/>
        </p:nvSpPr>
        <p:spPr>
          <a:xfrm>
            <a:off x="1" y="0"/>
            <a:ext cx="12192000" cy="6858000"/>
          </a:xfrm>
          <a:prstGeom prst="rect">
            <a:avLst/>
          </a:prstGeom>
          <a:gradFill>
            <a:gsLst>
              <a:gs pos="100000">
                <a:srgbClr val="F5A598"/>
              </a:gs>
              <a:gs pos="47000">
                <a:srgbClr val="D2ADC9"/>
              </a:gs>
              <a:gs pos="77000">
                <a:srgbClr val="E6BDC1"/>
              </a:gs>
              <a:gs pos="9000">
                <a:srgbClr val="A7B6D3"/>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algn="ctr"/>
            <a:endParaRPr lang="en-US" sz="1200" b="1">
              <a:solidFill>
                <a:schemeClr val="tx1"/>
              </a:solidFill>
            </a:endParaRPr>
          </a:p>
        </p:txBody>
      </p:sp>
      <p:grpSp>
        <p:nvGrpSpPr>
          <p:cNvPr id="2" name="Group 1">
            <a:extLst>
              <a:ext uri="{FF2B5EF4-FFF2-40B4-BE49-F238E27FC236}">
                <a16:creationId xmlns:a16="http://schemas.microsoft.com/office/drawing/2014/main" id="{937F1298-487A-B4E6-4008-0A5D51F1C143}"/>
              </a:ext>
            </a:extLst>
          </p:cNvPr>
          <p:cNvGrpSpPr/>
          <p:nvPr userDrawn="1"/>
        </p:nvGrpSpPr>
        <p:grpSpPr>
          <a:xfrm>
            <a:off x="9392771" y="767096"/>
            <a:ext cx="2800816" cy="1898696"/>
            <a:chOff x="9390324" y="767096"/>
            <a:chExt cx="2800087" cy="1898696"/>
          </a:xfrm>
        </p:grpSpPr>
        <p:grpSp>
          <p:nvGrpSpPr>
            <p:cNvPr id="63" name="Group 62">
              <a:extLst>
                <a:ext uri="{FF2B5EF4-FFF2-40B4-BE49-F238E27FC236}">
                  <a16:creationId xmlns:a16="http://schemas.microsoft.com/office/drawing/2014/main" id="{DBC4C027-8FC0-71EF-963F-3B8A0447C1E8}"/>
                </a:ext>
              </a:extLst>
            </p:cNvPr>
            <p:cNvGrpSpPr/>
            <p:nvPr userDrawn="1"/>
          </p:nvGrpSpPr>
          <p:grpSpPr>
            <a:xfrm>
              <a:off x="9390324" y="936748"/>
              <a:ext cx="1965963" cy="1042086"/>
              <a:chOff x="4988072" y="501936"/>
              <a:chExt cx="1978802" cy="1051017"/>
            </a:xfrm>
            <a:solidFill>
              <a:schemeClr val="accent1"/>
            </a:solidFill>
          </p:grpSpPr>
          <p:sp>
            <p:nvSpPr>
              <p:cNvPr id="72" name="Freeform 5">
                <a:extLst>
                  <a:ext uri="{FF2B5EF4-FFF2-40B4-BE49-F238E27FC236}">
                    <a16:creationId xmlns:a16="http://schemas.microsoft.com/office/drawing/2014/main" id="{AC114BA7-B808-0C61-F4C4-498846EB2C1F}"/>
                  </a:ext>
                </a:extLst>
              </p:cNvPr>
              <p:cNvSpPr>
                <a:spLocks/>
              </p:cNvSpPr>
              <p:nvPr userDrawn="1"/>
            </p:nvSpPr>
            <p:spPr bwMode="auto">
              <a:xfrm>
                <a:off x="5559016" y="501936"/>
                <a:ext cx="218094" cy="282813"/>
              </a:xfrm>
              <a:custGeom>
                <a:avLst/>
                <a:gdLst>
                  <a:gd name="T0" fmla="*/ 0 w 502"/>
                  <a:gd name="T1" fmla="*/ 550 h 651"/>
                  <a:gd name="T2" fmla="*/ 83 w 502"/>
                  <a:gd name="T3" fmla="*/ 451 h 651"/>
                  <a:gd name="T4" fmla="*/ 272 w 502"/>
                  <a:gd name="T5" fmla="*/ 528 h 651"/>
                  <a:gd name="T6" fmla="*/ 363 w 502"/>
                  <a:gd name="T7" fmla="*/ 469 h 651"/>
                  <a:gd name="T8" fmla="*/ 363 w 502"/>
                  <a:gd name="T9" fmla="*/ 467 h 651"/>
                  <a:gd name="T10" fmla="*/ 236 w 502"/>
                  <a:gd name="T11" fmla="*/ 386 h 651"/>
                  <a:gd name="T12" fmla="*/ 26 w 502"/>
                  <a:gd name="T13" fmla="*/ 192 h 651"/>
                  <a:gd name="T14" fmla="*/ 26 w 502"/>
                  <a:gd name="T15" fmla="*/ 191 h 651"/>
                  <a:gd name="T16" fmla="*/ 247 w 502"/>
                  <a:gd name="T17" fmla="*/ 0 h 651"/>
                  <a:gd name="T18" fmla="*/ 483 w 502"/>
                  <a:gd name="T19" fmla="*/ 80 h 651"/>
                  <a:gd name="T20" fmla="*/ 410 w 502"/>
                  <a:gd name="T21" fmla="*/ 185 h 651"/>
                  <a:gd name="T22" fmla="*/ 246 w 502"/>
                  <a:gd name="T23" fmla="*/ 123 h 651"/>
                  <a:gd name="T24" fmla="*/ 164 w 502"/>
                  <a:gd name="T25" fmla="*/ 178 h 651"/>
                  <a:gd name="T26" fmla="*/ 164 w 502"/>
                  <a:gd name="T27" fmla="*/ 180 h 651"/>
                  <a:gd name="T28" fmla="*/ 301 w 502"/>
                  <a:gd name="T29" fmla="*/ 263 h 651"/>
                  <a:gd name="T30" fmla="*/ 502 w 502"/>
                  <a:gd name="T31" fmla="*/ 453 h 651"/>
                  <a:gd name="T32" fmla="*/ 502 w 502"/>
                  <a:gd name="T33" fmla="*/ 455 h 651"/>
                  <a:gd name="T34" fmla="*/ 269 w 502"/>
                  <a:gd name="T35" fmla="*/ 651 h 651"/>
                  <a:gd name="T36" fmla="*/ 0 w 502"/>
                  <a:gd name="T37" fmla="*/ 55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651">
                    <a:moveTo>
                      <a:pt x="0" y="550"/>
                    </a:moveTo>
                    <a:cubicBezTo>
                      <a:pt x="83" y="451"/>
                      <a:pt x="83" y="451"/>
                      <a:pt x="83" y="451"/>
                    </a:cubicBezTo>
                    <a:cubicBezTo>
                      <a:pt x="140" y="498"/>
                      <a:pt x="200" y="528"/>
                      <a:pt x="272" y="528"/>
                    </a:cubicBezTo>
                    <a:cubicBezTo>
                      <a:pt x="329" y="528"/>
                      <a:pt x="363" y="506"/>
                      <a:pt x="363" y="469"/>
                    </a:cubicBezTo>
                    <a:cubicBezTo>
                      <a:pt x="363" y="467"/>
                      <a:pt x="363" y="467"/>
                      <a:pt x="363" y="467"/>
                    </a:cubicBezTo>
                    <a:cubicBezTo>
                      <a:pt x="363" y="431"/>
                      <a:pt x="342" y="413"/>
                      <a:pt x="236" y="386"/>
                    </a:cubicBezTo>
                    <a:cubicBezTo>
                      <a:pt x="108" y="354"/>
                      <a:pt x="26" y="318"/>
                      <a:pt x="26" y="192"/>
                    </a:cubicBezTo>
                    <a:cubicBezTo>
                      <a:pt x="26" y="191"/>
                      <a:pt x="26" y="191"/>
                      <a:pt x="26" y="191"/>
                    </a:cubicBezTo>
                    <a:cubicBezTo>
                      <a:pt x="26" y="76"/>
                      <a:pt x="118" y="0"/>
                      <a:pt x="247" y="0"/>
                    </a:cubicBezTo>
                    <a:cubicBezTo>
                      <a:pt x="340" y="0"/>
                      <a:pt x="419" y="29"/>
                      <a:pt x="483" y="80"/>
                    </a:cubicBezTo>
                    <a:cubicBezTo>
                      <a:pt x="410" y="185"/>
                      <a:pt x="410" y="185"/>
                      <a:pt x="410" y="185"/>
                    </a:cubicBezTo>
                    <a:cubicBezTo>
                      <a:pt x="354" y="146"/>
                      <a:pt x="299" y="123"/>
                      <a:pt x="246" y="123"/>
                    </a:cubicBezTo>
                    <a:cubicBezTo>
                      <a:pt x="192" y="123"/>
                      <a:pt x="164" y="147"/>
                      <a:pt x="164" y="178"/>
                    </a:cubicBezTo>
                    <a:cubicBezTo>
                      <a:pt x="164" y="180"/>
                      <a:pt x="164" y="180"/>
                      <a:pt x="164" y="180"/>
                    </a:cubicBezTo>
                    <a:cubicBezTo>
                      <a:pt x="164" y="221"/>
                      <a:pt x="191" y="235"/>
                      <a:pt x="301" y="263"/>
                    </a:cubicBezTo>
                    <a:cubicBezTo>
                      <a:pt x="429" y="297"/>
                      <a:pt x="502" y="343"/>
                      <a:pt x="502" y="453"/>
                    </a:cubicBezTo>
                    <a:cubicBezTo>
                      <a:pt x="502" y="455"/>
                      <a:pt x="502" y="455"/>
                      <a:pt x="502" y="455"/>
                    </a:cubicBezTo>
                    <a:cubicBezTo>
                      <a:pt x="502" y="581"/>
                      <a:pt x="406" y="651"/>
                      <a:pt x="269" y="651"/>
                    </a:cubicBezTo>
                    <a:cubicBezTo>
                      <a:pt x="173" y="651"/>
                      <a:pt x="76" y="618"/>
                      <a:pt x="0" y="550"/>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6">
                <a:extLst>
                  <a:ext uri="{FF2B5EF4-FFF2-40B4-BE49-F238E27FC236}">
                    <a16:creationId xmlns:a16="http://schemas.microsoft.com/office/drawing/2014/main" id="{03055FF5-EB33-F09D-784D-C7AD01880326}"/>
                  </a:ext>
                </a:extLst>
              </p:cNvPr>
              <p:cNvSpPr>
                <a:spLocks/>
              </p:cNvSpPr>
              <p:nvPr userDrawn="1"/>
            </p:nvSpPr>
            <p:spPr bwMode="auto">
              <a:xfrm>
                <a:off x="5791295" y="566212"/>
                <a:ext cx="322264" cy="214547"/>
              </a:xfrm>
              <a:custGeom>
                <a:avLst/>
                <a:gdLst>
                  <a:gd name="T0" fmla="*/ 0 w 741"/>
                  <a:gd name="T1" fmla="*/ 9 h 494"/>
                  <a:gd name="T2" fmla="*/ 138 w 741"/>
                  <a:gd name="T3" fmla="*/ 9 h 494"/>
                  <a:gd name="T4" fmla="*/ 138 w 741"/>
                  <a:gd name="T5" fmla="*/ 78 h 494"/>
                  <a:gd name="T6" fmla="*/ 281 w 741"/>
                  <a:gd name="T7" fmla="*/ 0 h 494"/>
                  <a:gd name="T8" fmla="*/ 418 w 741"/>
                  <a:gd name="T9" fmla="*/ 77 h 494"/>
                  <a:gd name="T10" fmla="*/ 577 w 741"/>
                  <a:gd name="T11" fmla="*/ 0 h 494"/>
                  <a:gd name="T12" fmla="*/ 741 w 741"/>
                  <a:gd name="T13" fmla="*/ 178 h 494"/>
                  <a:gd name="T14" fmla="*/ 741 w 741"/>
                  <a:gd name="T15" fmla="*/ 494 h 494"/>
                  <a:gd name="T16" fmla="*/ 603 w 741"/>
                  <a:gd name="T17" fmla="*/ 494 h 494"/>
                  <a:gd name="T18" fmla="*/ 603 w 741"/>
                  <a:gd name="T19" fmla="*/ 224 h 494"/>
                  <a:gd name="T20" fmla="*/ 523 w 741"/>
                  <a:gd name="T21" fmla="*/ 125 h 494"/>
                  <a:gd name="T22" fmla="*/ 439 w 741"/>
                  <a:gd name="T23" fmla="*/ 224 h 494"/>
                  <a:gd name="T24" fmla="*/ 439 w 741"/>
                  <a:gd name="T25" fmla="*/ 494 h 494"/>
                  <a:gd name="T26" fmla="*/ 302 w 741"/>
                  <a:gd name="T27" fmla="*/ 494 h 494"/>
                  <a:gd name="T28" fmla="*/ 302 w 741"/>
                  <a:gd name="T29" fmla="*/ 224 h 494"/>
                  <a:gd name="T30" fmla="*/ 221 w 741"/>
                  <a:gd name="T31" fmla="*/ 125 h 494"/>
                  <a:gd name="T32" fmla="*/ 138 w 741"/>
                  <a:gd name="T33" fmla="*/ 224 h 494"/>
                  <a:gd name="T34" fmla="*/ 138 w 741"/>
                  <a:gd name="T35" fmla="*/ 494 h 494"/>
                  <a:gd name="T36" fmla="*/ 0 w 741"/>
                  <a:gd name="T37" fmla="*/ 494 h 494"/>
                  <a:gd name="T38" fmla="*/ 0 w 741"/>
                  <a:gd name="T39"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1" h="494">
                    <a:moveTo>
                      <a:pt x="0" y="9"/>
                    </a:moveTo>
                    <a:cubicBezTo>
                      <a:pt x="138" y="9"/>
                      <a:pt x="138" y="9"/>
                      <a:pt x="138" y="9"/>
                    </a:cubicBezTo>
                    <a:cubicBezTo>
                      <a:pt x="138" y="78"/>
                      <a:pt x="138" y="78"/>
                      <a:pt x="138" y="78"/>
                    </a:cubicBezTo>
                    <a:cubicBezTo>
                      <a:pt x="170" y="37"/>
                      <a:pt x="211" y="0"/>
                      <a:pt x="281" y="0"/>
                    </a:cubicBezTo>
                    <a:cubicBezTo>
                      <a:pt x="344" y="0"/>
                      <a:pt x="392" y="28"/>
                      <a:pt x="418" y="77"/>
                    </a:cubicBezTo>
                    <a:cubicBezTo>
                      <a:pt x="460" y="27"/>
                      <a:pt x="511" y="0"/>
                      <a:pt x="577" y="0"/>
                    </a:cubicBezTo>
                    <a:cubicBezTo>
                      <a:pt x="679" y="0"/>
                      <a:pt x="741" y="62"/>
                      <a:pt x="741" y="178"/>
                    </a:cubicBezTo>
                    <a:cubicBezTo>
                      <a:pt x="741" y="494"/>
                      <a:pt x="741" y="494"/>
                      <a:pt x="741" y="494"/>
                    </a:cubicBezTo>
                    <a:cubicBezTo>
                      <a:pt x="603" y="494"/>
                      <a:pt x="603" y="494"/>
                      <a:pt x="603" y="494"/>
                    </a:cubicBezTo>
                    <a:cubicBezTo>
                      <a:pt x="603" y="224"/>
                      <a:pt x="603" y="224"/>
                      <a:pt x="603" y="224"/>
                    </a:cubicBezTo>
                    <a:cubicBezTo>
                      <a:pt x="603" y="159"/>
                      <a:pt x="574" y="125"/>
                      <a:pt x="523" y="125"/>
                    </a:cubicBezTo>
                    <a:cubicBezTo>
                      <a:pt x="471" y="125"/>
                      <a:pt x="439" y="159"/>
                      <a:pt x="439" y="224"/>
                    </a:cubicBezTo>
                    <a:cubicBezTo>
                      <a:pt x="439" y="494"/>
                      <a:pt x="439" y="494"/>
                      <a:pt x="439" y="494"/>
                    </a:cubicBezTo>
                    <a:cubicBezTo>
                      <a:pt x="302" y="494"/>
                      <a:pt x="302" y="494"/>
                      <a:pt x="302" y="494"/>
                    </a:cubicBezTo>
                    <a:cubicBezTo>
                      <a:pt x="302" y="224"/>
                      <a:pt x="302" y="224"/>
                      <a:pt x="302" y="224"/>
                    </a:cubicBezTo>
                    <a:cubicBezTo>
                      <a:pt x="302" y="159"/>
                      <a:pt x="273" y="125"/>
                      <a:pt x="221" y="125"/>
                    </a:cubicBezTo>
                    <a:cubicBezTo>
                      <a:pt x="170" y="125"/>
                      <a:pt x="138" y="159"/>
                      <a:pt x="138" y="224"/>
                    </a:cubicBezTo>
                    <a:cubicBezTo>
                      <a:pt x="138" y="494"/>
                      <a:pt x="138" y="494"/>
                      <a:pt x="138" y="494"/>
                    </a:cubicBezTo>
                    <a:cubicBezTo>
                      <a:pt x="0" y="494"/>
                      <a:pt x="0" y="494"/>
                      <a:pt x="0" y="494"/>
                    </a:cubicBezTo>
                    <a:lnTo>
                      <a:pt x="0" y="9"/>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7">
                <a:extLst>
                  <a:ext uri="{FF2B5EF4-FFF2-40B4-BE49-F238E27FC236}">
                    <a16:creationId xmlns:a16="http://schemas.microsoft.com/office/drawing/2014/main" id="{EF0C28DE-3EA0-613C-F6F5-A668E5A933D2}"/>
                  </a:ext>
                </a:extLst>
              </p:cNvPr>
              <p:cNvSpPr>
                <a:spLocks noEditPoints="1"/>
              </p:cNvSpPr>
              <p:nvPr userDrawn="1"/>
            </p:nvSpPr>
            <p:spPr bwMode="auto">
              <a:xfrm>
                <a:off x="6125971" y="567985"/>
                <a:ext cx="193713" cy="216764"/>
              </a:xfrm>
              <a:custGeom>
                <a:avLst/>
                <a:gdLst>
                  <a:gd name="T0" fmla="*/ 0 w 446"/>
                  <a:gd name="T1" fmla="*/ 351 h 499"/>
                  <a:gd name="T2" fmla="*/ 0 w 446"/>
                  <a:gd name="T3" fmla="*/ 349 h 499"/>
                  <a:gd name="T4" fmla="*/ 195 w 446"/>
                  <a:gd name="T5" fmla="*/ 194 h 499"/>
                  <a:gd name="T6" fmla="*/ 314 w 446"/>
                  <a:gd name="T7" fmla="*/ 214 h 499"/>
                  <a:gd name="T8" fmla="*/ 314 w 446"/>
                  <a:gd name="T9" fmla="*/ 206 h 499"/>
                  <a:gd name="T10" fmla="*/ 210 w 446"/>
                  <a:gd name="T11" fmla="*/ 117 h 499"/>
                  <a:gd name="T12" fmla="*/ 76 w 446"/>
                  <a:gd name="T13" fmla="*/ 144 h 499"/>
                  <a:gd name="T14" fmla="*/ 42 w 446"/>
                  <a:gd name="T15" fmla="*/ 39 h 499"/>
                  <a:gd name="T16" fmla="*/ 230 w 446"/>
                  <a:gd name="T17" fmla="*/ 0 h 499"/>
                  <a:gd name="T18" fmla="*/ 394 w 446"/>
                  <a:gd name="T19" fmla="*/ 54 h 499"/>
                  <a:gd name="T20" fmla="*/ 446 w 446"/>
                  <a:gd name="T21" fmla="*/ 209 h 499"/>
                  <a:gd name="T22" fmla="*/ 446 w 446"/>
                  <a:gd name="T23" fmla="*/ 490 h 499"/>
                  <a:gd name="T24" fmla="*/ 313 w 446"/>
                  <a:gd name="T25" fmla="*/ 490 h 499"/>
                  <a:gd name="T26" fmla="*/ 313 w 446"/>
                  <a:gd name="T27" fmla="*/ 438 h 499"/>
                  <a:gd name="T28" fmla="*/ 166 w 446"/>
                  <a:gd name="T29" fmla="*/ 499 h 499"/>
                  <a:gd name="T30" fmla="*/ 0 w 446"/>
                  <a:gd name="T31" fmla="*/ 351 h 499"/>
                  <a:gd name="T32" fmla="*/ 316 w 446"/>
                  <a:gd name="T33" fmla="*/ 319 h 499"/>
                  <a:gd name="T34" fmla="*/ 316 w 446"/>
                  <a:gd name="T35" fmla="*/ 295 h 499"/>
                  <a:gd name="T36" fmla="*/ 228 w 446"/>
                  <a:gd name="T37" fmla="*/ 277 h 499"/>
                  <a:gd name="T38" fmla="*/ 133 w 446"/>
                  <a:gd name="T39" fmla="*/ 344 h 499"/>
                  <a:gd name="T40" fmla="*/ 133 w 446"/>
                  <a:gd name="T41" fmla="*/ 346 h 499"/>
                  <a:gd name="T42" fmla="*/ 208 w 446"/>
                  <a:gd name="T43" fmla="*/ 404 h 499"/>
                  <a:gd name="T44" fmla="*/ 316 w 446"/>
                  <a:gd name="T45" fmla="*/ 31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499">
                    <a:moveTo>
                      <a:pt x="0" y="351"/>
                    </a:moveTo>
                    <a:cubicBezTo>
                      <a:pt x="0" y="349"/>
                      <a:pt x="0" y="349"/>
                      <a:pt x="0" y="349"/>
                    </a:cubicBezTo>
                    <a:cubicBezTo>
                      <a:pt x="0" y="243"/>
                      <a:pt x="80" y="194"/>
                      <a:pt x="195" y="194"/>
                    </a:cubicBezTo>
                    <a:cubicBezTo>
                      <a:pt x="244" y="194"/>
                      <a:pt x="280" y="202"/>
                      <a:pt x="314" y="214"/>
                    </a:cubicBezTo>
                    <a:cubicBezTo>
                      <a:pt x="314" y="206"/>
                      <a:pt x="314" y="206"/>
                      <a:pt x="314" y="206"/>
                    </a:cubicBezTo>
                    <a:cubicBezTo>
                      <a:pt x="314" y="149"/>
                      <a:pt x="279" y="117"/>
                      <a:pt x="210" y="117"/>
                    </a:cubicBezTo>
                    <a:cubicBezTo>
                      <a:pt x="157" y="117"/>
                      <a:pt x="120" y="127"/>
                      <a:pt x="76" y="144"/>
                    </a:cubicBezTo>
                    <a:cubicBezTo>
                      <a:pt x="42" y="39"/>
                      <a:pt x="42" y="39"/>
                      <a:pt x="42" y="39"/>
                    </a:cubicBezTo>
                    <a:cubicBezTo>
                      <a:pt x="95" y="15"/>
                      <a:pt x="147" y="0"/>
                      <a:pt x="230" y="0"/>
                    </a:cubicBezTo>
                    <a:cubicBezTo>
                      <a:pt x="305" y="0"/>
                      <a:pt x="359" y="20"/>
                      <a:pt x="394" y="54"/>
                    </a:cubicBezTo>
                    <a:cubicBezTo>
                      <a:pt x="430" y="90"/>
                      <a:pt x="446" y="144"/>
                      <a:pt x="446" y="209"/>
                    </a:cubicBezTo>
                    <a:cubicBezTo>
                      <a:pt x="446" y="490"/>
                      <a:pt x="446" y="490"/>
                      <a:pt x="446" y="490"/>
                    </a:cubicBezTo>
                    <a:cubicBezTo>
                      <a:pt x="313" y="490"/>
                      <a:pt x="313" y="490"/>
                      <a:pt x="313" y="490"/>
                    </a:cubicBezTo>
                    <a:cubicBezTo>
                      <a:pt x="313" y="438"/>
                      <a:pt x="313" y="438"/>
                      <a:pt x="313" y="438"/>
                    </a:cubicBezTo>
                    <a:cubicBezTo>
                      <a:pt x="280" y="475"/>
                      <a:pt x="233" y="499"/>
                      <a:pt x="166" y="499"/>
                    </a:cubicBezTo>
                    <a:cubicBezTo>
                      <a:pt x="75" y="499"/>
                      <a:pt x="0" y="447"/>
                      <a:pt x="0" y="351"/>
                    </a:cubicBezTo>
                    <a:close/>
                    <a:moveTo>
                      <a:pt x="316" y="319"/>
                    </a:moveTo>
                    <a:cubicBezTo>
                      <a:pt x="316" y="295"/>
                      <a:pt x="316" y="295"/>
                      <a:pt x="316" y="295"/>
                    </a:cubicBezTo>
                    <a:cubicBezTo>
                      <a:pt x="292" y="284"/>
                      <a:pt x="262" y="277"/>
                      <a:pt x="228" y="277"/>
                    </a:cubicBezTo>
                    <a:cubicBezTo>
                      <a:pt x="169" y="277"/>
                      <a:pt x="133" y="300"/>
                      <a:pt x="133" y="344"/>
                    </a:cubicBezTo>
                    <a:cubicBezTo>
                      <a:pt x="133" y="346"/>
                      <a:pt x="133" y="346"/>
                      <a:pt x="133" y="346"/>
                    </a:cubicBezTo>
                    <a:cubicBezTo>
                      <a:pt x="133" y="383"/>
                      <a:pt x="164" y="404"/>
                      <a:pt x="208" y="404"/>
                    </a:cubicBezTo>
                    <a:cubicBezTo>
                      <a:pt x="272" y="404"/>
                      <a:pt x="316" y="369"/>
                      <a:pt x="316" y="319"/>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8">
                <a:extLst>
                  <a:ext uri="{FF2B5EF4-FFF2-40B4-BE49-F238E27FC236}">
                    <a16:creationId xmlns:a16="http://schemas.microsoft.com/office/drawing/2014/main" id="{AA3A9144-5E21-1340-D82E-781E8E03088B}"/>
                  </a:ext>
                </a:extLst>
              </p:cNvPr>
              <p:cNvSpPr>
                <a:spLocks/>
              </p:cNvSpPr>
              <p:nvPr userDrawn="1"/>
            </p:nvSpPr>
            <p:spPr bwMode="auto">
              <a:xfrm>
                <a:off x="6336529" y="564438"/>
                <a:ext cx="127665"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6" name="Freeform 9">
                <a:extLst>
                  <a:ext uri="{FF2B5EF4-FFF2-40B4-BE49-F238E27FC236}">
                    <a16:creationId xmlns:a16="http://schemas.microsoft.com/office/drawing/2014/main" id="{16E502AF-0487-43AF-00DB-14F962B92CFF}"/>
                  </a:ext>
                </a:extLst>
              </p:cNvPr>
              <p:cNvSpPr>
                <a:spLocks/>
              </p:cNvSpPr>
              <p:nvPr userDrawn="1"/>
            </p:nvSpPr>
            <p:spPr bwMode="auto">
              <a:xfrm>
                <a:off x="6475719" y="516121"/>
                <a:ext cx="134757" cy="268184"/>
              </a:xfrm>
              <a:custGeom>
                <a:avLst/>
                <a:gdLst>
                  <a:gd name="T0" fmla="*/ 58 w 310"/>
                  <a:gd name="T1" fmla="*/ 472 h 617"/>
                  <a:gd name="T2" fmla="*/ 58 w 310"/>
                  <a:gd name="T3" fmla="*/ 242 h 617"/>
                  <a:gd name="T4" fmla="*/ 0 w 310"/>
                  <a:gd name="T5" fmla="*/ 242 h 617"/>
                  <a:gd name="T6" fmla="*/ 0 w 310"/>
                  <a:gd name="T7" fmla="*/ 124 h 617"/>
                  <a:gd name="T8" fmla="*/ 58 w 310"/>
                  <a:gd name="T9" fmla="*/ 124 h 617"/>
                  <a:gd name="T10" fmla="*/ 58 w 310"/>
                  <a:gd name="T11" fmla="*/ 0 h 617"/>
                  <a:gd name="T12" fmla="*/ 196 w 310"/>
                  <a:gd name="T13" fmla="*/ 0 h 617"/>
                  <a:gd name="T14" fmla="*/ 196 w 310"/>
                  <a:gd name="T15" fmla="*/ 124 h 617"/>
                  <a:gd name="T16" fmla="*/ 310 w 310"/>
                  <a:gd name="T17" fmla="*/ 124 h 617"/>
                  <a:gd name="T18" fmla="*/ 310 w 310"/>
                  <a:gd name="T19" fmla="*/ 242 h 617"/>
                  <a:gd name="T20" fmla="*/ 196 w 310"/>
                  <a:gd name="T21" fmla="*/ 242 h 617"/>
                  <a:gd name="T22" fmla="*/ 196 w 310"/>
                  <a:gd name="T23" fmla="*/ 449 h 617"/>
                  <a:gd name="T24" fmla="*/ 240 w 310"/>
                  <a:gd name="T25" fmla="*/ 496 h 617"/>
                  <a:gd name="T26" fmla="*/ 308 w 310"/>
                  <a:gd name="T27" fmla="*/ 479 h 617"/>
                  <a:gd name="T28" fmla="*/ 308 w 310"/>
                  <a:gd name="T29" fmla="*/ 589 h 617"/>
                  <a:gd name="T30" fmla="*/ 199 w 310"/>
                  <a:gd name="T31" fmla="*/ 617 h 617"/>
                  <a:gd name="T32" fmla="*/ 58 w 310"/>
                  <a:gd name="T33" fmla="*/ 472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7">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6" y="0"/>
                      <a:pt x="196" y="0"/>
                      <a:pt x="196" y="0"/>
                    </a:cubicBezTo>
                    <a:cubicBezTo>
                      <a:pt x="196" y="124"/>
                      <a:pt x="196" y="124"/>
                      <a:pt x="196" y="124"/>
                    </a:cubicBezTo>
                    <a:cubicBezTo>
                      <a:pt x="310" y="124"/>
                      <a:pt x="310" y="124"/>
                      <a:pt x="310" y="124"/>
                    </a:cubicBezTo>
                    <a:cubicBezTo>
                      <a:pt x="310" y="242"/>
                      <a:pt x="310" y="242"/>
                      <a:pt x="310" y="242"/>
                    </a:cubicBezTo>
                    <a:cubicBezTo>
                      <a:pt x="196" y="242"/>
                      <a:pt x="196" y="242"/>
                      <a:pt x="196" y="242"/>
                    </a:cubicBezTo>
                    <a:cubicBezTo>
                      <a:pt x="196" y="449"/>
                      <a:pt x="196" y="449"/>
                      <a:pt x="196" y="449"/>
                    </a:cubicBezTo>
                    <a:cubicBezTo>
                      <a:pt x="196" y="481"/>
                      <a:pt x="209" y="496"/>
                      <a:pt x="240" y="496"/>
                    </a:cubicBezTo>
                    <a:cubicBezTo>
                      <a:pt x="265" y="496"/>
                      <a:pt x="288" y="490"/>
                      <a:pt x="308" y="479"/>
                    </a:cubicBezTo>
                    <a:cubicBezTo>
                      <a:pt x="308" y="589"/>
                      <a:pt x="308" y="589"/>
                      <a:pt x="308" y="589"/>
                    </a:cubicBezTo>
                    <a:cubicBezTo>
                      <a:pt x="279" y="607"/>
                      <a:pt x="245" y="617"/>
                      <a:pt x="199" y="617"/>
                    </a:cubicBezTo>
                    <a:cubicBezTo>
                      <a:pt x="115" y="617"/>
                      <a:pt x="58" y="584"/>
                      <a:pt x="58" y="472"/>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7" name="Freeform 10">
                <a:extLst>
                  <a:ext uri="{FF2B5EF4-FFF2-40B4-BE49-F238E27FC236}">
                    <a16:creationId xmlns:a16="http://schemas.microsoft.com/office/drawing/2014/main" id="{0DE8FD0D-C28A-B61F-DFEE-6F90FAD7BFAA}"/>
                  </a:ext>
                </a:extLst>
              </p:cNvPr>
              <p:cNvSpPr>
                <a:spLocks noEditPoints="1"/>
              </p:cNvSpPr>
              <p:nvPr userDrawn="1"/>
            </p:nvSpPr>
            <p:spPr bwMode="auto">
              <a:xfrm>
                <a:off x="6618455" y="566212"/>
                <a:ext cx="207012" cy="219424"/>
              </a:xfrm>
              <a:custGeom>
                <a:avLst/>
                <a:gdLst>
                  <a:gd name="T0" fmla="*/ 0 w 476"/>
                  <a:gd name="T1" fmla="*/ 254 h 505"/>
                  <a:gd name="T2" fmla="*/ 0 w 476"/>
                  <a:gd name="T3" fmla="*/ 253 h 505"/>
                  <a:gd name="T4" fmla="*/ 240 w 476"/>
                  <a:gd name="T5" fmla="*/ 0 h 505"/>
                  <a:gd name="T6" fmla="*/ 476 w 476"/>
                  <a:gd name="T7" fmla="*/ 263 h 505"/>
                  <a:gd name="T8" fmla="*/ 475 w 476"/>
                  <a:gd name="T9" fmla="*/ 300 h 505"/>
                  <a:gd name="T10" fmla="*/ 137 w 476"/>
                  <a:gd name="T11" fmla="*/ 300 h 505"/>
                  <a:gd name="T12" fmla="*/ 256 w 476"/>
                  <a:gd name="T13" fmla="*/ 395 h 505"/>
                  <a:gd name="T14" fmla="*/ 373 w 476"/>
                  <a:gd name="T15" fmla="*/ 345 h 505"/>
                  <a:gd name="T16" fmla="*/ 452 w 476"/>
                  <a:gd name="T17" fmla="*/ 415 h 505"/>
                  <a:gd name="T18" fmla="*/ 254 w 476"/>
                  <a:gd name="T19" fmla="*/ 505 h 505"/>
                  <a:gd name="T20" fmla="*/ 0 w 476"/>
                  <a:gd name="T21" fmla="*/ 254 h 505"/>
                  <a:gd name="T22" fmla="*/ 342 w 476"/>
                  <a:gd name="T23" fmla="*/ 214 h 505"/>
                  <a:gd name="T24" fmla="*/ 240 w 476"/>
                  <a:gd name="T25" fmla="*/ 111 h 505"/>
                  <a:gd name="T26" fmla="*/ 135 w 476"/>
                  <a:gd name="T27" fmla="*/ 214 h 505"/>
                  <a:gd name="T28" fmla="*/ 342 w 476"/>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6" h="505">
                    <a:moveTo>
                      <a:pt x="0" y="254"/>
                    </a:moveTo>
                    <a:cubicBezTo>
                      <a:pt x="0" y="253"/>
                      <a:pt x="0" y="253"/>
                      <a:pt x="0" y="253"/>
                    </a:cubicBezTo>
                    <a:cubicBezTo>
                      <a:pt x="0" y="114"/>
                      <a:pt x="99" y="0"/>
                      <a:pt x="240" y="0"/>
                    </a:cubicBezTo>
                    <a:cubicBezTo>
                      <a:pt x="402" y="0"/>
                      <a:pt x="476" y="126"/>
                      <a:pt x="476" y="263"/>
                    </a:cubicBezTo>
                    <a:cubicBezTo>
                      <a:pt x="476"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2" y="214"/>
                    </a:moveTo>
                    <a:cubicBezTo>
                      <a:pt x="334" y="152"/>
                      <a:pt x="298" y="111"/>
                      <a:pt x="240" y="111"/>
                    </a:cubicBezTo>
                    <a:cubicBezTo>
                      <a:pt x="183" y="111"/>
                      <a:pt x="146" y="151"/>
                      <a:pt x="135" y="214"/>
                    </a:cubicBezTo>
                    <a:lnTo>
                      <a:pt x="342" y="214"/>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8" name="Freeform 11">
                <a:extLst>
                  <a:ext uri="{FF2B5EF4-FFF2-40B4-BE49-F238E27FC236}">
                    <a16:creationId xmlns:a16="http://schemas.microsoft.com/office/drawing/2014/main" id="{F351CFF9-9DD1-E9B5-EE76-334AE5F03491}"/>
                  </a:ext>
                </a:extLst>
              </p:cNvPr>
              <p:cNvSpPr>
                <a:spLocks/>
              </p:cNvSpPr>
              <p:nvPr userDrawn="1"/>
            </p:nvSpPr>
            <p:spPr bwMode="auto">
              <a:xfrm>
                <a:off x="6837879" y="564438"/>
                <a:ext cx="127221"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9" name="Freeform 12">
                <a:extLst>
                  <a:ext uri="{FF2B5EF4-FFF2-40B4-BE49-F238E27FC236}">
                    <a16:creationId xmlns:a16="http://schemas.microsoft.com/office/drawing/2014/main" id="{5CBDFCA1-F27C-774F-EB38-070587A34AB2}"/>
                  </a:ext>
                </a:extLst>
              </p:cNvPr>
              <p:cNvSpPr>
                <a:spLocks/>
              </p:cNvSpPr>
              <p:nvPr userDrawn="1"/>
            </p:nvSpPr>
            <p:spPr bwMode="auto">
              <a:xfrm>
                <a:off x="4988072" y="888476"/>
                <a:ext cx="134757" cy="268628"/>
              </a:xfrm>
              <a:custGeom>
                <a:avLst/>
                <a:gdLst>
                  <a:gd name="T0" fmla="*/ 58 w 310"/>
                  <a:gd name="T1" fmla="*/ 472 h 618"/>
                  <a:gd name="T2" fmla="*/ 58 w 310"/>
                  <a:gd name="T3" fmla="*/ 242 h 618"/>
                  <a:gd name="T4" fmla="*/ 0 w 310"/>
                  <a:gd name="T5" fmla="*/ 242 h 618"/>
                  <a:gd name="T6" fmla="*/ 0 w 310"/>
                  <a:gd name="T7" fmla="*/ 124 h 618"/>
                  <a:gd name="T8" fmla="*/ 58 w 310"/>
                  <a:gd name="T9" fmla="*/ 124 h 618"/>
                  <a:gd name="T10" fmla="*/ 58 w 310"/>
                  <a:gd name="T11" fmla="*/ 0 h 618"/>
                  <a:gd name="T12" fmla="*/ 195 w 310"/>
                  <a:gd name="T13" fmla="*/ 0 h 618"/>
                  <a:gd name="T14" fmla="*/ 195 w 310"/>
                  <a:gd name="T15" fmla="*/ 124 h 618"/>
                  <a:gd name="T16" fmla="*/ 310 w 310"/>
                  <a:gd name="T17" fmla="*/ 124 h 618"/>
                  <a:gd name="T18" fmla="*/ 310 w 310"/>
                  <a:gd name="T19" fmla="*/ 242 h 618"/>
                  <a:gd name="T20" fmla="*/ 195 w 310"/>
                  <a:gd name="T21" fmla="*/ 242 h 618"/>
                  <a:gd name="T22" fmla="*/ 195 w 310"/>
                  <a:gd name="T23" fmla="*/ 449 h 618"/>
                  <a:gd name="T24" fmla="*/ 240 w 310"/>
                  <a:gd name="T25" fmla="*/ 496 h 618"/>
                  <a:gd name="T26" fmla="*/ 308 w 310"/>
                  <a:gd name="T27" fmla="*/ 479 h 618"/>
                  <a:gd name="T28" fmla="*/ 308 w 310"/>
                  <a:gd name="T29" fmla="*/ 590 h 618"/>
                  <a:gd name="T30" fmla="*/ 199 w 310"/>
                  <a:gd name="T31" fmla="*/ 618 h 618"/>
                  <a:gd name="T32" fmla="*/ 58 w 310"/>
                  <a:gd name="T33" fmla="*/ 472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8">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5" y="0"/>
                      <a:pt x="195" y="0"/>
                      <a:pt x="195" y="0"/>
                    </a:cubicBezTo>
                    <a:cubicBezTo>
                      <a:pt x="195" y="124"/>
                      <a:pt x="195" y="124"/>
                      <a:pt x="195" y="124"/>
                    </a:cubicBezTo>
                    <a:cubicBezTo>
                      <a:pt x="310" y="124"/>
                      <a:pt x="310" y="124"/>
                      <a:pt x="310" y="124"/>
                    </a:cubicBezTo>
                    <a:cubicBezTo>
                      <a:pt x="310" y="242"/>
                      <a:pt x="310" y="242"/>
                      <a:pt x="310" y="242"/>
                    </a:cubicBezTo>
                    <a:cubicBezTo>
                      <a:pt x="195" y="242"/>
                      <a:pt x="195" y="242"/>
                      <a:pt x="195" y="242"/>
                    </a:cubicBezTo>
                    <a:cubicBezTo>
                      <a:pt x="195" y="449"/>
                      <a:pt x="195" y="449"/>
                      <a:pt x="195" y="449"/>
                    </a:cubicBezTo>
                    <a:cubicBezTo>
                      <a:pt x="195" y="481"/>
                      <a:pt x="209" y="496"/>
                      <a:pt x="240" y="496"/>
                    </a:cubicBezTo>
                    <a:cubicBezTo>
                      <a:pt x="265" y="496"/>
                      <a:pt x="288" y="490"/>
                      <a:pt x="308" y="479"/>
                    </a:cubicBezTo>
                    <a:cubicBezTo>
                      <a:pt x="308" y="590"/>
                      <a:pt x="308" y="590"/>
                      <a:pt x="308" y="590"/>
                    </a:cubicBezTo>
                    <a:cubicBezTo>
                      <a:pt x="279" y="607"/>
                      <a:pt x="245" y="618"/>
                      <a:pt x="199" y="618"/>
                    </a:cubicBezTo>
                    <a:cubicBezTo>
                      <a:pt x="115" y="618"/>
                      <a:pt x="58" y="584"/>
                      <a:pt x="58" y="472"/>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0" name="Freeform 13">
                <a:extLst>
                  <a:ext uri="{FF2B5EF4-FFF2-40B4-BE49-F238E27FC236}">
                    <a16:creationId xmlns:a16="http://schemas.microsoft.com/office/drawing/2014/main" id="{32C7C41D-9C2F-F9CB-F801-1289ECF5E586}"/>
                  </a:ext>
                </a:extLst>
              </p:cNvPr>
              <p:cNvSpPr>
                <a:spLocks noEditPoints="1"/>
              </p:cNvSpPr>
              <p:nvPr userDrawn="1"/>
            </p:nvSpPr>
            <p:spPr bwMode="auto">
              <a:xfrm>
                <a:off x="5131251" y="938123"/>
                <a:ext cx="207455" cy="219867"/>
              </a:xfrm>
              <a:custGeom>
                <a:avLst/>
                <a:gdLst>
                  <a:gd name="T0" fmla="*/ 0 w 477"/>
                  <a:gd name="T1" fmla="*/ 254 h 505"/>
                  <a:gd name="T2" fmla="*/ 0 w 477"/>
                  <a:gd name="T3" fmla="*/ 253 h 505"/>
                  <a:gd name="T4" fmla="*/ 240 w 477"/>
                  <a:gd name="T5" fmla="*/ 0 h 505"/>
                  <a:gd name="T6" fmla="*/ 477 w 477"/>
                  <a:gd name="T7" fmla="*/ 263 h 505"/>
                  <a:gd name="T8" fmla="*/ 475 w 477"/>
                  <a:gd name="T9" fmla="*/ 300 h 505"/>
                  <a:gd name="T10" fmla="*/ 137 w 477"/>
                  <a:gd name="T11" fmla="*/ 300 h 505"/>
                  <a:gd name="T12" fmla="*/ 256 w 477"/>
                  <a:gd name="T13" fmla="*/ 395 h 505"/>
                  <a:gd name="T14" fmla="*/ 373 w 477"/>
                  <a:gd name="T15" fmla="*/ 345 h 505"/>
                  <a:gd name="T16" fmla="*/ 452 w 477"/>
                  <a:gd name="T17" fmla="*/ 415 h 505"/>
                  <a:gd name="T18" fmla="*/ 254 w 477"/>
                  <a:gd name="T19" fmla="*/ 505 h 505"/>
                  <a:gd name="T20" fmla="*/ 0 w 477"/>
                  <a:gd name="T21" fmla="*/ 254 h 505"/>
                  <a:gd name="T22" fmla="*/ 343 w 477"/>
                  <a:gd name="T23" fmla="*/ 214 h 505"/>
                  <a:gd name="T24" fmla="*/ 240 w 477"/>
                  <a:gd name="T25" fmla="*/ 111 h 505"/>
                  <a:gd name="T26" fmla="*/ 135 w 477"/>
                  <a:gd name="T27" fmla="*/ 214 h 505"/>
                  <a:gd name="T28" fmla="*/ 343 w 477"/>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7" h="505">
                    <a:moveTo>
                      <a:pt x="0" y="254"/>
                    </a:moveTo>
                    <a:cubicBezTo>
                      <a:pt x="0" y="253"/>
                      <a:pt x="0" y="253"/>
                      <a:pt x="0" y="253"/>
                    </a:cubicBezTo>
                    <a:cubicBezTo>
                      <a:pt x="0" y="114"/>
                      <a:pt x="99" y="0"/>
                      <a:pt x="240" y="0"/>
                    </a:cubicBezTo>
                    <a:cubicBezTo>
                      <a:pt x="402" y="0"/>
                      <a:pt x="477" y="126"/>
                      <a:pt x="477" y="263"/>
                    </a:cubicBezTo>
                    <a:cubicBezTo>
                      <a:pt x="477"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3" y="214"/>
                    </a:moveTo>
                    <a:cubicBezTo>
                      <a:pt x="334" y="152"/>
                      <a:pt x="298" y="111"/>
                      <a:pt x="240" y="111"/>
                    </a:cubicBezTo>
                    <a:cubicBezTo>
                      <a:pt x="183" y="111"/>
                      <a:pt x="146" y="151"/>
                      <a:pt x="135" y="214"/>
                    </a:cubicBezTo>
                    <a:lnTo>
                      <a:pt x="343" y="214"/>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1" name="Freeform 14">
                <a:extLst>
                  <a:ext uri="{FF2B5EF4-FFF2-40B4-BE49-F238E27FC236}">
                    <a16:creationId xmlns:a16="http://schemas.microsoft.com/office/drawing/2014/main" id="{D3D8F53A-7C54-73FF-7202-68AF9530CEF8}"/>
                  </a:ext>
                </a:extLst>
              </p:cNvPr>
              <p:cNvSpPr>
                <a:spLocks/>
              </p:cNvSpPr>
              <p:nvPr userDrawn="1"/>
            </p:nvSpPr>
            <p:spPr bwMode="auto">
              <a:xfrm>
                <a:off x="5348015" y="938123"/>
                <a:ext cx="195486" cy="219867"/>
              </a:xfrm>
              <a:custGeom>
                <a:avLst/>
                <a:gdLst>
                  <a:gd name="T0" fmla="*/ 0 w 450"/>
                  <a:gd name="T1" fmla="*/ 254 h 505"/>
                  <a:gd name="T2" fmla="*/ 0 w 450"/>
                  <a:gd name="T3" fmla="*/ 253 h 505"/>
                  <a:gd name="T4" fmla="*/ 254 w 450"/>
                  <a:gd name="T5" fmla="*/ 0 h 505"/>
                  <a:gd name="T6" fmla="*/ 448 w 450"/>
                  <a:gd name="T7" fmla="*/ 82 h 505"/>
                  <a:gd name="T8" fmla="*/ 363 w 450"/>
                  <a:gd name="T9" fmla="*/ 172 h 505"/>
                  <a:gd name="T10" fmla="*/ 253 w 450"/>
                  <a:gd name="T11" fmla="*/ 119 h 505"/>
                  <a:gd name="T12" fmla="*/ 135 w 450"/>
                  <a:gd name="T13" fmla="*/ 251 h 505"/>
                  <a:gd name="T14" fmla="*/ 135 w 450"/>
                  <a:gd name="T15" fmla="*/ 253 h 505"/>
                  <a:gd name="T16" fmla="*/ 258 w 450"/>
                  <a:gd name="T17" fmla="*/ 387 h 505"/>
                  <a:gd name="T18" fmla="*/ 370 w 450"/>
                  <a:gd name="T19" fmla="*/ 335 h 505"/>
                  <a:gd name="T20" fmla="*/ 450 w 450"/>
                  <a:gd name="T21" fmla="*/ 416 h 505"/>
                  <a:gd name="T22" fmla="*/ 252 w 450"/>
                  <a:gd name="T23" fmla="*/ 505 h 505"/>
                  <a:gd name="T24" fmla="*/ 0 w 450"/>
                  <a:gd name="T25"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0" h="505">
                    <a:moveTo>
                      <a:pt x="0" y="254"/>
                    </a:moveTo>
                    <a:cubicBezTo>
                      <a:pt x="0" y="253"/>
                      <a:pt x="0" y="253"/>
                      <a:pt x="0" y="253"/>
                    </a:cubicBezTo>
                    <a:cubicBezTo>
                      <a:pt x="0" y="114"/>
                      <a:pt x="106" y="0"/>
                      <a:pt x="254" y="0"/>
                    </a:cubicBezTo>
                    <a:cubicBezTo>
                      <a:pt x="345" y="0"/>
                      <a:pt x="402" y="31"/>
                      <a:pt x="448" y="82"/>
                    </a:cubicBezTo>
                    <a:cubicBezTo>
                      <a:pt x="363" y="172"/>
                      <a:pt x="363" y="172"/>
                      <a:pt x="363" y="172"/>
                    </a:cubicBezTo>
                    <a:cubicBezTo>
                      <a:pt x="333" y="139"/>
                      <a:pt x="302" y="119"/>
                      <a:pt x="253" y="119"/>
                    </a:cubicBezTo>
                    <a:cubicBezTo>
                      <a:pt x="184" y="119"/>
                      <a:pt x="135" y="179"/>
                      <a:pt x="135" y="251"/>
                    </a:cubicBezTo>
                    <a:cubicBezTo>
                      <a:pt x="135" y="253"/>
                      <a:pt x="135" y="253"/>
                      <a:pt x="135" y="253"/>
                    </a:cubicBezTo>
                    <a:cubicBezTo>
                      <a:pt x="135" y="327"/>
                      <a:pt x="183" y="387"/>
                      <a:pt x="258" y="387"/>
                    </a:cubicBezTo>
                    <a:cubicBezTo>
                      <a:pt x="305" y="387"/>
                      <a:pt x="336" y="367"/>
                      <a:pt x="370" y="335"/>
                    </a:cubicBezTo>
                    <a:cubicBezTo>
                      <a:pt x="450" y="416"/>
                      <a:pt x="450" y="416"/>
                      <a:pt x="450" y="416"/>
                    </a:cubicBezTo>
                    <a:cubicBezTo>
                      <a:pt x="403" y="468"/>
                      <a:pt x="349" y="505"/>
                      <a:pt x="252" y="505"/>
                    </a:cubicBezTo>
                    <a:cubicBezTo>
                      <a:pt x="106" y="505"/>
                      <a:pt x="0" y="393"/>
                      <a:pt x="0" y="254"/>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2" name="Freeform 15">
                <a:extLst>
                  <a:ext uri="{FF2B5EF4-FFF2-40B4-BE49-F238E27FC236}">
                    <a16:creationId xmlns:a16="http://schemas.microsoft.com/office/drawing/2014/main" id="{BD2B90D5-630B-CFC6-CE5B-4A3E77847404}"/>
                  </a:ext>
                </a:extLst>
              </p:cNvPr>
              <p:cNvSpPr>
                <a:spLocks/>
              </p:cNvSpPr>
              <p:nvPr userDrawn="1"/>
            </p:nvSpPr>
            <p:spPr bwMode="auto">
              <a:xfrm>
                <a:off x="5553254" y="866312"/>
                <a:ext cx="193270" cy="286802"/>
              </a:xfrm>
              <a:custGeom>
                <a:avLst/>
                <a:gdLst>
                  <a:gd name="T0" fmla="*/ 0 w 445"/>
                  <a:gd name="T1" fmla="*/ 0 h 660"/>
                  <a:gd name="T2" fmla="*/ 138 w 445"/>
                  <a:gd name="T3" fmla="*/ 0 h 660"/>
                  <a:gd name="T4" fmla="*/ 138 w 445"/>
                  <a:gd name="T5" fmla="*/ 244 h 660"/>
                  <a:gd name="T6" fmla="*/ 280 w 445"/>
                  <a:gd name="T7" fmla="*/ 166 h 660"/>
                  <a:gd name="T8" fmla="*/ 445 w 445"/>
                  <a:gd name="T9" fmla="*/ 346 h 660"/>
                  <a:gd name="T10" fmla="*/ 445 w 445"/>
                  <a:gd name="T11" fmla="*/ 660 h 660"/>
                  <a:gd name="T12" fmla="*/ 307 w 445"/>
                  <a:gd name="T13" fmla="*/ 660 h 660"/>
                  <a:gd name="T14" fmla="*/ 307 w 445"/>
                  <a:gd name="T15" fmla="*/ 390 h 660"/>
                  <a:gd name="T16" fmla="*/ 224 w 445"/>
                  <a:gd name="T17" fmla="*/ 291 h 660"/>
                  <a:gd name="T18" fmla="*/ 138 w 445"/>
                  <a:gd name="T19" fmla="*/ 390 h 660"/>
                  <a:gd name="T20" fmla="*/ 138 w 445"/>
                  <a:gd name="T21" fmla="*/ 660 h 660"/>
                  <a:gd name="T22" fmla="*/ 0 w 445"/>
                  <a:gd name="T23" fmla="*/ 660 h 660"/>
                  <a:gd name="T24" fmla="*/ 0 w 445"/>
                  <a:gd name="T25"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5" h="660">
                    <a:moveTo>
                      <a:pt x="0" y="0"/>
                    </a:moveTo>
                    <a:cubicBezTo>
                      <a:pt x="138" y="0"/>
                      <a:pt x="138" y="0"/>
                      <a:pt x="138" y="0"/>
                    </a:cubicBezTo>
                    <a:cubicBezTo>
                      <a:pt x="138" y="244"/>
                      <a:pt x="138" y="244"/>
                      <a:pt x="138" y="244"/>
                    </a:cubicBezTo>
                    <a:cubicBezTo>
                      <a:pt x="169" y="203"/>
                      <a:pt x="210" y="166"/>
                      <a:pt x="280" y="166"/>
                    </a:cubicBezTo>
                    <a:cubicBezTo>
                      <a:pt x="384" y="166"/>
                      <a:pt x="445" y="235"/>
                      <a:pt x="445" y="346"/>
                    </a:cubicBezTo>
                    <a:cubicBezTo>
                      <a:pt x="445" y="660"/>
                      <a:pt x="445" y="660"/>
                      <a:pt x="445" y="660"/>
                    </a:cubicBezTo>
                    <a:cubicBezTo>
                      <a:pt x="307" y="660"/>
                      <a:pt x="307" y="660"/>
                      <a:pt x="307" y="660"/>
                    </a:cubicBezTo>
                    <a:cubicBezTo>
                      <a:pt x="307" y="390"/>
                      <a:pt x="307" y="390"/>
                      <a:pt x="307" y="390"/>
                    </a:cubicBezTo>
                    <a:cubicBezTo>
                      <a:pt x="307" y="324"/>
                      <a:pt x="276" y="291"/>
                      <a:pt x="224" y="291"/>
                    </a:cubicBezTo>
                    <a:cubicBezTo>
                      <a:pt x="171" y="291"/>
                      <a:pt x="138" y="324"/>
                      <a:pt x="138" y="390"/>
                    </a:cubicBezTo>
                    <a:cubicBezTo>
                      <a:pt x="138" y="660"/>
                      <a:pt x="138" y="660"/>
                      <a:pt x="138" y="660"/>
                    </a:cubicBezTo>
                    <a:cubicBezTo>
                      <a:pt x="0" y="660"/>
                      <a:pt x="0" y="660"/>
                      <a:pt x="0" y="660"/>
                    </a:cubicBezTo>
                    <a:lnTo>
                      <a:pt x="0" y="0"/>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3" name="Freeform 16">
                <a:extLst>
                  <a:ext uri="{FF2B5EF4-FFF2-40B4-BE49-F238E27FC236}">
                    <a16:creationId xmlns:a16="http://schemas.microsoft.com/office/drawing/2014/main" id="{44BDC175-2104-E7E3-2519-DA2F92A4A931}"/>
                  </a:ext>
                </a:extLst>
              </p:cNvPr>
              <p:cNvSpPr>
                <a:spLocks/>
              </p:cNvSpPr>
              <p:nvPr userDrawn="1"/>
            </p:nvSpPr>
            <p:spPr bwMode="auto">
              <a:xfrm>
                <a:off x="5762039" y="938123"/>
                <a:ext cx="192827" cy="214991"/>
              </a:xfrm>
              <a:custGeom>
                <a:avLst/>
                <a:gdLst>
                  <a:gd name="T0" fmla="*/ 0 w 444"/>
                  <a:gd name="T1" fmla="*/ 9 h 494"/>
                  <a:gd name="T2" fmla="*/ 137 w 444"/>
                  <a:gd name="T3" fmla="*/ 9 h 494"/>
                  <a:gd name="T4" fmla="*/ 137 w 444"/>
                  <a:gd name="T5" fmla="*/ 78 h 494"/>
                  <a:gd name="T6" fmla="*/ 279 w 444"/>
                  <a:gd name="T7" fmla="*/ 0 h 494"/>
                  <a:gd name="T8" fmla="*/ 444 w 444"/>
                  <a:gd name="T9" fmla="*/ 180 h 494"/>
                  <a:gd name="T10" fmla="*/ 444 w 444"/>
                  <a:gd name="T11" fmla="*/ 494 h 494"/>
                  <a:gd name="T12" fmla="*/ 306 w 444"/>
                  <a:gd name="T13" fmla="*/ 494 h 494"/>
                  <a:gd name="T14" fmla="*/ 306 w 444"/>
                  <a:gd name="T15" fmla="*/ 224 h 494"/>
                  <a:gd name="T16" fmla="*/ 223 w 444"/>
                  <a:gd name="T17" fmla="*/ 125 h 494"/>
                  <a:gd name="T18" fmla="*/ 137 w 444"/>
                  <a:gd name="T19" fmla="*/ 224 h 494"/>
                  <a:gd name="T20" fmla="*/ 137 w 444"/>
                  <a:gd name="T21" fmla="*/ 494 h 494"/>
                  <a:gd name="T22" fmla="*/ 0 w 444"/>
                  <a:gd name="T23" fmla="*/ 494 h 494"/>
                  <a:gd name="T24" fmla="*/ 0 w 444"/>
                  <a:gd name="T25"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4" h="494">
                    <a:moveTo>
                      <a:pt x="0" y="9"/>
                    </a:moveTo>
                    <a:cubicBezTo>
                      <a:pt x="137" y="9"/>
                      <a:pt x="137" y="9"/>
                      <a:pt x="137" y="9"/>
                    </a:cubicBezTo>
                    <a:cubicBezTo>
                      <a:pt x="137" y="78"/>
                      <a:pt x="137" y="78"/>
                      <a:pt x="137" y="78"/>
                    </a:cubicBezTo>
                    <a:cubicBezTo>
                      <a:pt x="169" y="37"/>
                      <a:pt x="210" y="0"/>
                      <a:pt x="279" y="0"/>
                    </a:cubicBezTo>
                    <a:cubicBezTo>
                      <a:pt x="383" y="0"/>
                      <a:pt x="444" y="69"/>
                      <a:pt x="444" y="180"/>
                    </a:cubicBezTo>
                    <a:cubicBezTo>
                      <a:pt x="444" y="494"/>
                      <a:pt x="444" y="494"/>
                      <a:pt x="444" y="494"/>
                    </a:cubicBezTo>
                    <a:cubicBezTo>
                      <a:pt x="306" y="494"/>
                      <a:pt x="306" y="494"/>
                      <a:pt x="306" y="494"/>
                    </a:cubicBezTo>
                    <a:cubicBezTo>
                      <a:pt x="306" y="224"/>
                      <a:pt x="306" y="224"/>
                      <a:pt x="306" y="224"/>
                    </a:cubicBezTo>
                    <a:cubicBezTo>
                      <a:pt x="306" y="158"/>
                      <a:pt x="276" y="125"/>
                      <a:pt x="223" y="125"/>
                    </a:cubicBezTo>
                    <a:cubicBezTo>
                      <a:pt x="171" y="125"/>
                      <a:pt x="137" y="158"/>
                      <a:pt x="137" y="224"/>
                    </a:cubicBezTo>
                    <a:cubicBezTo>
                      <a:pt x="137" y="494"/>
                      <a:pt x="137" y="494"/>
                      <a:pt x="137" y="494"/>
                    </a:cubicBezTo>
                    <a:cubicBezTo>
                      <a:pt x="0" y="494"/>
                      <a:pt x="0" y="494"/>
                      <a:pt x="0" y="494"/>
                    </a:cubicBezTo>
                    <a:lnTo>
                      <a:pt x="0" y="9"/>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4" name="Freeform 17">
                <a:extLst>
                  <a:ext uri="{FF2B5EF4-FFF2-40B4-BE49-F238E27FC236}">
                    <a16:creationId xmlns:a16="http://schemas.microsoft.com/office/drawing/2014/main" id="{E76CB955-2FC2-83C2-AC09-AD01BCCF18B2}"/>
                  </a:ext>
                </a:extLst>
              </p:cNvPr>
              <p:cNvSpPr>
                <a:spLocks noEditPoints="1"/>
              </p:cNvSpPr>
              <p:nvPr userDrawn="1"/>
            </p:nvSpPr>
            <p:spPr bwMode="auto">
              <a:xfrm>
                <a:off x="5967277" y="938123"/>
                <a:ext cx="228289" cy="219867"/>
              </a:xfrm>
              <a:custGeom>
                <a:avLst/>
                <a:gdLst>
                  <a:gd name="T0" fmla="*/ 0 w 525"/>
                  <a:gd name="T1" fmla="*/ 254 h 505"/>
                  <a:gd name="T2" fmla="*/ 0 w 525"/>
                  <a:gd name="T3" fmla="*/ 253 h 505"/>
                  <a:gd name="T4" fmla="*/ 263 w 525"/>
                  <a:gd name="T5" fmla="*/ 0 h 505"/>
                  <a:gd name="T6" fmla="*/ 525 w 525"/>
                  <a:gd name="T7" fmla="*/ 251 h 505"/>
                  <a:gd name="T8" fmla="*/ 525 w 525"/>
                  <a:gd name="T9" fmla="*/ 253 h 505"/>
                  <a:gd name="T10" fmla="*/ 262 w 525"/>
                  <a:gd name="T11" fmla="*/ 505 h 505"/>
                  <a:gd name="T12" fmla="*/ 0 w 525"/>
                  <a:gd name="T13" fmla="*/ 254 h 505"/>
                  <a:gd name="T14" fmla="*/ 389 w 525"/>
                  <a:gd name="T15" fmla="*/ 254 h 505"/>
                  <a:gd name="T16" fmla="*/ 389 w 525"/>
                  <a:gd name="T17" fmla="*/ 253 h 505"/>
                  <a:gd name="T18" fmla="*/ 262 w 525"/>
                  <a:gd name="T19" fmla="*/ 119 h 505"/>
                  <a:gd name="T20" fmla="*/ 136 w 525"/>
                  <a:gd name="T21" fmla="*/ 251 h 505"/>
                  <a:gd name="T22" fmla="*/ 136 w 525"/>
                  <a:gd name="T23" fmla="*/ 253 h 505"/>
                  <a:gd name="T24" fmla="*/ 263 w 525"/>
                  <a:gd name="T25" fmla="*/ 387 h 505"/>
                  <a:gd name="T26" fmla="*/ 389 w 525"/>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5">
                    <a:moveTo>
                      <a:pt x="0" y="254"/>
                    </a:moveTo>
                    <a:cubicBezTo>
                      <a:pt x="0" y="253"/>
                      <a:pt x="0" y="253"/>
                      <a:pt x="0" y="253"/>
                    </a:cubicBezTo>
                    <a:cubicBezTo>
                      <a:pt x="0" y="113"/>
                      <a:pt x="112" y="0"/>
                      <a:pt x="263" y="0"/>
                    </a:cubicBezTo>
                    <a:cubicBezTo>
                      <a:pt x="414" y="0"/>
                      <a:pt x="525" y="111"/>
                      <a:pt x="525" y="251"/>
                    </a:cubicBezTo>
                    <a:cubicBezTo>
                      <a:pt x="525" y="253"/>
                      <a:pt x="525" y="253"/>
                      <a:pt x="525" y="253"/>
                    </a:cubicBezTo>
                    <a:cubicBezTo>
                      <a:pt x="525" y="392"/>
                      <a:pt x="413" y="505"/>
                      <a:pt x="262" y="505"/>
                    </a:cubicBezTo>
                    <a:cubicBezTo>
                      <a:pt x="111" y="505"/>
                      <a:pt x="0" y="394"/>
                      <a:pt x="0" y="254"/>
                    </a:cubicBezTo>
                    <a:close/>
                    <a:moveTo>
                      <a:pt x="389" y="254"/>
                    </a:moveTo>
                    <a:cubicBezTo>
                      <a:pt x="389" y="253"/>
                      <a:pt x="389" y="253"/>
                      <a:pt x="389" y="253"/>
                    </a:cubicBezTo>
                    <a:cubicBezTo>
                      <a:pt x="389" y="181"/>
                      <a:pt x="338" y="119"/>
                      <a:pt x="262" y="119"/>
                    </a:cubicBezTo>
                    <a:cubicBezTo>
                      <a:pt x="183" y="119"/>
                      <a:pt x="136" y="179"/>
                      <a:pt x="136" y="251"/>
                    </a:cubicBezTo>
                    <a:cubicBezTo>
                      <a:pt x="136" y="253"/>
                      <a:pt x="136" y="253"/>
                      <a:pt x="136" y="253"/>
                    </a:cubicBezTo>
                    <a:cubicBezTo>
                      <a:pt x="136" y="324"/>
                      <a:pt x="187" y="387"/>
                      <a:pt x="263" y="387"/>
                    </a:cubicBezTo>
                    <a:cubicBezTo>
                      <a:pt x="342" y="387"/>
                      <a:pt x="389" y="326"/>
                      <a:pt x="389" y="254"/>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5" name="Rectangle 18">
                <a:extLst>
                  <a:ext uri="{FF2B5EF4-FFF2-40B4-BE49-F238E27FC236}">
                    <a16:creationId xmlns:a16="http://schemas.microsoft.com/office/drawing/2014/main" id="{BB15E459-A560-CBA7-38D2-49EC0DF1798C}"/>
                  </a:ext>
                </a:extLst>
              </p:cNvPr>
              <p:cNvSpPr>
                <a:spLocks noChangeArrowheads="1"/>
              </p:cNvSpPr>
              <p:nvPr userDrawn="1"/>
            </p:nvSpPr>
            <p:spPr bwMode="auto">
              <a:xfrm>
                <a:off x="6207091" y="866312"/>
                <a:ext cx="59843" cy="286802"/>
              </a:xfrm>
              <a:prstGeom prst="rect">
                <a:avLst/>
              </a:prstGeom>
              <a:solidFill>
                <a:srgbClr val="4D14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6" name="Freeform 19">
                <a:extLst>
                  <a:ext uri="{FF2B5EF4-FFF2-40B4-BE49-F238E27FC236}">
                    <a16:creationId xmlns:a16="http://schemas.microsoft.com/office/drawing/2014/main" id="{A894E637-6612-023A-5D26-292EB224BB2E}"/>
                  </a:ext>
                </a:extLst>
              </p:cNvPr>
              <p:cNvSpPr>
                <a:spLocks noEditPoints="1"/>
              </p:cNvSpPr>
              <p:nvPr userDrawn="1"/>
            </p:nvSpPr>
            <p:spPr bwMode="auto">
              <a:xfrm>
                <a:off x="6278460" y="938123"/>
                <a:ext cx="228732" cy="219867"/>
              </a:xfrm>
              <a:custGeom>
                <a:avLst/>
                <a:gdLst>
                  <a:gd name="T0" fmla="*/ 0 w 526"/>
                  <a:gd name="T1" fmla="*/ 254 h 505"/>
                  <a:gd name="T2" fmla="*/ 0 w 526"/>
                  <a:gd name="T3" fmla="*/ 253 h 505"/>
                  <a:gd name="T4" fmla="*/ 264 w 526"/>
                  <a:gd name="T5" fmla="*/ 0 h 505"/>
                  <a:gd name="T6" fmla="*/ 526 w 526"/>
                  <a:gd name="T7" fmla="*/ 251 h 505"/>
                  <a:gd name="T8" fmla="*/ 526 w 526"/>
                  <a:gd name="T9" fmla="*/ 253 h 505"/>
                  <a:gd name="T10" fmla="*/ 262 w 526"/>
                  <a:gd name="T11" fmla="*/ 505 h 505"/>
                  <a:gd name="T12" fmla="*/ 0 w 526"/>
                  <a:gd name="T13" fmla="*/ 254 h 505"/>
                  <a:gd name="T14" fmla="*/ 390 w 526"/>
                  <a:gd name="T15" fmla="*/ 254 h 505"/>
                  <a:gd name="T16" fmla="*/ 390 w 526"/>
                  <a:gd name="T17" fmla="*/ 253 h 505"/>
                  <a:gd name="T18" fmla="*/ 262 w 526"/>
                  <a:gd name="T19" fmla="*/ 119 h 505"/>
                  <a:gd name="T20" fmla="*/ 136 w 526"/>
                  <a:gd name="T21" fmla="*/ 251 h 505"/>
                  <a:gd name="T22" fmla="*/ 136 w 526"/>
                  <a:gd name="T23" fmla="*/ 253 h 505"/>
                  <a:gd name="T24" fmla="*/ 264 w 526"/>
                  <a:gd name="T25" fmla="*/ 387 h 505"/>
                  <a:gd name="T26" fmla="*/ 390 w 526"/>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505">
                    <a:moveTo>
                      <a:pt x="0" y="254"/>
                    </a:moveTo>
                    <a:cubicBezTo>
                      <a:pt x="0" y="253"/>
                      <a:pt x="0" y="253"/>
                      <a:pt x="0" y="253"/>
                    </a:cubicBezTo>
                    <a:cubicBezTo>
                      <a:pt x="0" y="113"/>
                      <a:pt x="113" y="0"/>
                      <a:pt x="264" y="0"/>
                    </a:cubicBezTo>
                    <a:cubicBezTo>
                      <a:pt x="414" y="0"/>
                      <a:pt x="526" y="111"/>
                      <a:pt x="526" y="251"/>
                    </a:cubicBezTo>
                    <a:cubicBezTo>
                      <a:pt x="526" y="253"/>
                      <a:pt x="526" y="253"/>
                      <a:pt x="526" y="253"/>
                    </a:cubicBezTo>
                    <a:cubicBezTo>
                      <a:pt x="526" y="392"/>
                      <a:pt x="413" y="505"/>
                      <a:pt x="262" y="505"/>
                    </a:cubicBezTo>
                    <a:cubicBezTo>
                      <a:pt x="112" y="505"/>
                      <a:pt x="0" y="394"/>
                      <a:pt x="0" y="254"/>
                    </a:cubicBezTo>
                    <a:close/>
                    <a:moveTo>
                      <a:pt x="390" y="254"/>
                    </a:moveTo>
                    <a:cubicBezTo>
                      <a:pt x="390" y="253"/>
                      <a:pt x="390" y="253"/>
                      <a:pt x="390" y="253"/>
                    </a:cubicBezTo>
                    <a:cubicBezTo>
                      <a:pt x="390" y="181"/>
                      <a:pt x="338" y="119"/>
                      <a:pt x="262" y="119"/>
                    </a:cubicBezTo>
                    <a:cubicBezTo>
                      <a:pt x="183" y="119"/>
                      <a:pt x="136" y="179"/>
                      <a:pt x="136" y="251"/>
                    </a:cubicBezTo>
                    <a:cubicBezTo>
                      <a:pt x="136" y="253"/>
                      <a:pt x="136" y="253"/>
                      <a:pt x="136" y="253"/>
                    </a:cubicBezTo>
                    <a:cubicBezTo>
                      <a:pt x="136" y="324"/>
                      <a:pt x="188" y="387"/>
                      <a:pt x="264" y="387"/>
                    </a:cubicBezTo>
                    <a:cubicBezTo>
                      <a:pt x="343" y="387"/>
                      <a:pt x="390" y="326"/>
                      <a:pt x="390" y="254"/>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7" name="Freeform 20">
                <a:extLst>
                  <a:ext uri="{FF2B5EF4-FFF2-40B4-BE49-F238E27FC236}">
                    <a16:creationId xmlns:a16="http://schemas.microsoft.com/office/drawing/2014/main" id="{C612BEEF-FFCF-00C7-83E8-3D6CD89DD8B2}"/>
                  </a:ext>
                </a:extLst>
              </p:cNvPr>
              <p:cNvSpPr>
                <a:spLocks noEditPoints="1"/>
              </p:cNvSpPr>
              <p:nvPr userDrawn="1"/>
            </p:nvSpPr>
            <p:spPr bwMode="auto">
              <a:xfrm>
                <a:off x="6516057" y="938123"/>
                <a:ext cx="221197" cy="278823"/>
              </a:xfrm>
              <a:custGeom>
                <a:avLst/>
                <a:gdLst>
                  <a:gd name="T0" fmla="*/ 24 w 509"/>
                  <a:gd name="T1" fmla="*/ 590 h 641"/>
                  <a:gd name="T2" fmla="*/ 71 w 509"/>
                  <a:gd name="T3" fmla="*/ 487 h 641"/>
                  <a:gd name="T4" fmla="*/ 235 w 509"/>
                  <a:gd name="T5" fmla="*/ 531 h 641"/>
                  <a:gd name="T6" fmla="*/ 373 w 509"/>
                  <a:gd name="T7" fmla="*/ 399 h 641"/>
                  <a:gd name="T8" fmla="*/ 373 w 509"/>
                  <a:gd name="T9" fmla="*/ 376 h 641"/>
                  <a:gd name="T10" fmla="*/ 215 w 509"/>
                  <a:gd name="T11" fmla="*/ 454 h 641"/>
                  <a:gd name="T12" fmla="*/ 0 w 509"/>
                  <a:gd name="T13" fmla="*/ 228 h 641"/>
                  <a:gd name="T14" fmla="*/ 0 w 509"/>
                  <a:gd name="T15" fmla="*/ 226 h 641"/>
                  <a:gd name="T16" fmla="*/ 215 w 509"/>
                  <a:gd name="T17" fmla="*/ 0 h 641"/>
                  <a:gd name="T18" fmla="*/ 372 w 509"/>
                  <a:gd name="T19" fmla="*/ 72 h 641"/>
                  <a:gd name="T20" fmla="*/ 372 w 509"/>
                  <a:gd name="T21" fmla="*/ 9 h 641"/>
                  <a:gd name="T22" fmla="*/ 509 w 509"/>
                  <a:gd name="T23" fmla="*/ 9 h 641"/>
                  <a:gd name="T24" fmla="*/ 509 w 509"/>
                  <a:gd name="T25" fmla="*/ 385 h 641"/>
                  <a:gd name="T26" fmla="*/ 448 w 509"/>
                  <a:gd name="T27" fmla="*/ 576 h 641"/>
                  <a:gd name="T28" fmla="*/ 239 w 509"/>
                  <a:gd name="T29" fmla="*/ 641 h 641"/>
                  <a:gd name="T30" fmla="*/ 24 w 509"/>
                  <a:gd name="T31" fmla="*/ 590 h 641"/>
                  <a:gd name="T32" fmla="*/ 373 w 509"/>
                  <a:gd name="T33" fmla="*/ 228 h 641"/>
                  <a:gd name="T34" fmla="*/ 373 w 509"/>
                  <a:gd name="T35" fmla="*/ 226 h 641"/>
                  <a:gd name="T36" fmla="*/ 255 w 509"/>
                  <a:gd name="T37" fmla="*/ 114 h 641"/>
                  <a:gd name="T38" fmla="*/ 137 w 509"/>
                  <a:gd name="T39" fmla="*/ 226 h 641"/>
                  <a:gd name="T40" fmla="*/ 137 w 509"/>
                  <a:gd name="T41" fmla="*/ 228 h 641"/>
                  <a:gd name="T42" fmla="*/ 255 w 509"/>
                  <a:gd name="T43" fmla="*/ 340 h 641"/>
                  <a:gd name="T44" fmla="*/ 373 w 509"/>
                  <a:gd name="T45" fmla="*/ 228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9" h="641">
                    <a:moveTo>
                      <a:pt x="24" y="590"/>
                    </a:moveTo>
                    <a:cubicBezTo>
                      <a:pt x="71" y="487"/>
                      <a:pt x="71" y="487"/>
                      <a:pt x="71" y="487"/>
                    </a:cubicBezTo>
                    <a:cubicBezTo>
                      <a:pt x="121" y="515"/>
                      <a:pt x="171" y="531"/>
                      <a:pt x="235" y="531"/>
                    </a:cubicBezTo>
                    <a:cubicBezTo>
                      <a:pt x="329" y="531"/>
                      <a:pt x="373" y="486"/>
                      <a:pt x="373" y="399"/>
                    </a:cubicBezTo>
                    <a:cubicBezTo>
                      <a:pt x="373" y="376"/>
                      <a:pt x="373" y="376"/>
                      <a:pt x="373" y="376"/>
                    </a:cubicBezTo>
                    <a:cubicBezTo>
                      <a:pt x="333" y="425"/>
                      <a:pt x="288" y="454"/>
                      <a:pt x="215" y="454"/>
                    </a:cubicBezTo>
                    <a:cubicBezTo>
                      <a:pt x="102" y="454"/>
                      <a:pt x="0" y="372"/>
                      <a:pt x="0" y="228"/>
                    </a:cubicBezTo>
                    <a:cubicBezTo>
                      <a:pt x="0" y="226"/>
                      <a:pt x="0" y="226"/>
                      <a:pt x="0" y="226"/>
                    </a:cubicBezTo>
                    <a:cubicBezTo>
                      <a:pt x="0" y="82"/>
                      <a:pt x="104" y="0"/>
                      <a:pt x="215" y="0"/>
                    </a:cubicBezTo>
                    <a:cubicBezTo>
                      <a:pt x="290" y="0"/>
                      <a:pt x="334" y="32"/>
                      <a:pt x="372" y="72"/>
                    </a:cubicBezTo>
                    <a:cubicBezTo>
                      <a:pt x="372" y="9"/>
                      <a:pt x="372" y="9"/>
                      <a:pt x="372" y="9"/>
                    </a:cubicBezTo>
                    <a:cubicBezTo>
                      <a:pt x="509" y="9"/>
                      <a:pt x="509" y="9"/>
                      <a:pt x="509" y="9"/>
                    </a:cubicBezTo>
                    <a:cubicBezTo>
                      <a:pt x="509" y="385"/>
                      <a:pt x="509" y="385"/>
                      <a:pt x="509" y="385"/>
                    </a:cubicBezTo>
                    <a:cubicBezTo>
                      <a:pt x="509" y="472"/>
                      <a:pt x="488" y="535"/>
                      <a:pt x="448" y="576"/>
                    </a:cubicBezTo>
                    <a:cubicBezTo>
                      <a:pt x="402" y="621"/>
                      <a:pt x="333" y="641"/>
                      <a:pt x="239" y="641"/>
                    </a:cubicBezTo>
                    <a:cubicBezTo>
                      <a:pt x="160" y="641"/>
                      <a:pt x="86" y="623"/>
                      <a:pt x="24" y="590"/>
                    </a:cubicBezTo>
                    <a:close/>
                    <a:moveTo>
                      <a:pt x="373" y="228"/>
                    </a:moveTo>
                    <a:cubicBezTo>
                      <a:pt x="373" y="226"/>
                      <a:pt x="373" y="226"/>
                      <a:pt x="373" y="226"/>
                    </a:cubicBezTo>
                    <a:cubicBezTo>
                      <a:pt x="373" y="160"/>
                      <a:pt x="322" y="114"/>
                      <a:pt x="255" y="114"/>
                    </a:cubicBezTo>
                    <a:cubicBezTo>
                      <a:pt x="188" y="114"/>
                      <a:pt x="137" y="160"/>
                      <a:pt x="137" y="226"/>
                    </a:cubicBezTo>
                    <a:cubicBezTo>
                      <a:pt x="137" y="228"/>
                      <a:pt x="137" y="228"/>
                      <a:pt x="137" y="228"/>
                    </a:cubicBezTo>
                    <a:cubicBezTo>
                      <a:pt x="137" y="295"/>
                      <a:pt x="188" y="340"/>
                      <a:pt x="255" y="340"/>
                    </a:cubicBezTo>
                    <a:cubicBezTo>
                      <a:pt x="322" y="340"/>
                      <a:pt x="373" y="294"/>
                      <a:pt x="373" y="228"/>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8" name="Freeform 21">
                <a:extLst>
                  <a:ext uri="{FF2B5EF4-FFF2-40B4-BE49-F238E27FC236}">
                    <a16:creationId xmlns:a16="http://schemas.microsoft.com/office/drawing/2014/main" id="{535443A8-F420-58B0-6940-C7217CB7D304}"/>
                  </a:ext>
                </a:extLst>
              </p:cNvPr>
              <p:cNvSpPr>
                <a:spLocks/>
              </p:cNvSpPr>
              <p:nvPr userDrawn="1"/>
            </p:nvSpPr>
            <p:spPr bwMode="auto">
              <a:xfrm>
                <a:off x="6747450" y="942113"/>
                <a:ext cx="219424" cy="275277"/>
              </a:xfrm>
              <a:custGeom>
                <a:avLst/>
                <a:gdLst>
                  <a:gd name="T0" fmla="*/ 362 w 505"/>
                  <a:gd name="T1" fmla="*/ 0 h 633"/>
                  <a:gd name="T2" fmla="*/ 505 w 505"/>
                  <a:gd name="T3" fmla="*/ 0 h 633"/>
                  <a:gd name="T4" fmla="*/ 319 w 505"/>
                  <a:gd name="T5" fmla="*/ 497 h 633"/>
                  <a:gd name="T6" fmla="*/ 159 w 505"/>
                  <a:gd name="T7" fmla="*/ 633 h 633"/>
                  <a:gd name="T8" fmla="*/ 37 w 505"/>
                  <a:gd name="T9" fmla="*/ 599 h 633"/>
                  <a:gd name="T10" fmla="*/ 83 w 505"/>
                  <a:gd name="T11" fmla="*/ 500 h 633"/>
                  <a:gd name="T12" fmla="*/ 142 w 505"/>
                  <a:gd name="T13" fmla="*/ 519 h 633"/>
                  <a:gd name="T14" fmla="*/ 190 w 505"/>
                  <a:gd name="T15" fmla="*/ 487 h 633"/>
                  <a:gd name="T16" fmla="*/ 0 w 505"/>
                  <a:gd name="T17" fmla="*/ 0 h 633"/>
                  <a:gd name="T18" fmla="*/ 146 w 505"/>
                  <a:gd name="T19" fmla="*/ 0 h 633"/>
                  <a:gd name="T20" fmla="*/ 256 w 505"/>
                  <a:gd name="T21" fmla="*/ 331 h 633"/>
                  <a:gd name="T22" fmla="*/ 362 w 505"/>
                  <a:gd name="T23"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633">
                    <a:moveTo>
                      <a:pt x="362" y="0"/>
                    </a:moveTo>
                    <a:cubicBezTo>
                      <a:pt x="505" y="0"/>
                      <a:pt x="505" y="0"/>
                      <a:pt x="505" y="0"/>
                    </a:cubicBezTo>
                    <a:cubicBezTo>
                      <a:pt x="319" y="497"/>
                      <a:pt x="319" y="497"/>
                      <a:pt x="319" y="497"/>
                    </a:cubicBezTo>
                    <a:cubicBezTo>
                      <a:pt x="282" y="596"/>
                      <a:pt x="242" y="633"/>
                      <a:pt x="159" y="633"/>
                    </a:cubicBezTo>
                    <a:cubicBezTo>
                      <a:pt x="110" y="633"/>
                      <a:pt x="73" y="620"/>
                      <a:pt x="37" y="599"/>
                    </a:cubicBezTo>
                    <a:cubicBezTo>
                      <a:pt x="83" y="500"/>
                      <a:pt x="83" y="500"/>
                      <a:pt x="83" y="500"/>
                    </a:cubicBezTo>
                    <a:cubicBezTo>
                      <a:pt x="101" y="511"/>
                      <a:pt x="124" y="519"/>
                      <a:pt x="142" y="519"/>
                    </a:cubicBezTo>
                    <a:cubicBezTo>
                      <a:pt x="166" y="519"/>
                      <a:pt x="178" y="512"/>
                      <a:pt x="190" y="487"/>
                    </a:cubicBezTo>
                    <a:cubicBezTo>
                      <a:pt x="0" y="0"/>
                      <a:pt x="0" y="0"/>
                      <a:pt x="0" y="0"/>
                    </a:cubicBezTo>
                    <a:cubicBezTo>
                      <a:pt x="146" y="0"/>
                      <a:pt x="146" y="0"/>
                      <a:pt x="146" y="0"/>
                    </a:cubicBezTo>
                    <a:cubicBezTo>
                      <a:pt x="256" y="331"/>
                      <a:pt x="256" y="331"/>
                      <a:pt x="256" y="331"/>
                    </a:cubicBezTo>
                    <a:lnTo>
                      <a:pt x="362" y="0"/>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9" name="Freeform 22">
                <a:extLst>
                  <a:ext uri="{FF2B5EF4-FFF2-40B4-BE49-F238E27FC236}">
                    <a16:creationId xmlns:a16="http://schemas.microsoft.com/office/drawing/2014/main" id="{D577C4C5-162A-509E-0F90-2D9CF5560B46}"/>
                  </a:ext>
                </a:extLst>
              </p:cNvPr>
              <p:cNvSpPr>
                <a:spLocks/>
              </p:cNvSpPr>
              <p:nvPr userDrawn="1"/>
            </p:nvSpPr>
            <p:spPr bwMode="auto">
              <a:xfrm>
                <a:off x="6005842" y="1258171"/>
                <a:ext cx="132541" cy="290348"/>
              </a:xfrm>
              <a:custGeom>
                <a:avLst/>
                <a:gdLst>
                  <a:gd name="T0" fmla="*/ 57 w 305"/>
                  <a:gd name="T1" fmla="*/ 299 h 667"/>
                  <a:gd name="T2" fmla="*/ 0 w 305"/>
                  <a:gd name="T3" fmla="*/ 299 h 667"/>
                  <a:gd name="T4" fmla="*/ 0 w 305"/>
                  <a:gd name="T5" fmla="*/ 186 h 667"/>
                  <a:gd name="T6" fmla="*/ 57 w 305"/>
                  <a:gd name="T7" fmla="*/ 186 h 667"/>
                  <a:gd name="T8" fmla="*/ 57 w 305"/>
                  <a:gd name="T9" fmla="*/ 155 h 667"/>
                  <a:gd name="T10" fmla="*/ 96 w 305"/>
                  <a:gd name="T11" fmla="*/ 38 h 667"/>
                  <a:gd name="T12" fmla="*/ 208 w 305"/>
                  <a:gd name="T13" fmla="*/ 0 h 667"/>
                  <a:gd name="T14" fmla="*/ 305 w 305"/>
                  <a:gd name="T15" fmla="*/ 13 h 667"/>
                  <a:gd name="T16" fmla="*/ 305 w 305"/>
                  <a:gd name="T17" fmla="*/ 127 h 667"/>
                  <a:gd name="T18" fmla="*/ 243 w 305"/>
                  <a:gd name="T19" fmla="*/ 115 h 667"/>
                  <a:gd name="T20" fmla="*/ 193 w 305"/>
                  <a:gd name="T21" fmla="*/ 168 h 667"/>
                  <a:gd name="T22" fmla="*/ 193 w 305"/>
                  <a:gd name="T23" fmla="*/ 187 h 667"/>
                  <a:gd name="T24" fmla="*/ 305 w 305"/>
                  <a:gd name="T25" fmla="*/ 187 h 667"/>
                  <a:gd name="T26" fmla="*/ 305 w 305"/>
                  <a:gd name="T27" fmla="*/ 299 h 667"/>
                  <a:gd name="T28" fmla="*/ 195 w 305"/>
                  <a:gd name="T29" fmla="*/ 299 h 667"/>
                  <a:gd name="T30" fmla="*/ 195 w 305"/>
                  <a:gd name="T31" fmla="*/ 667 h 667"/>
                  <a:gd name="T32" fmla="*/ 57 w 305"/>
                  <a:gd name="T33" fmla="*/ 667 h 667"/>
                  <a:gd name="T34" fmla="*/ 57 w 305"/>
                  <a:gd name="T35" fmla="*/ 29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667">
                    <a:moveTo>
                      <a:pt x="57" y="299"/>
                    </a:moveTo>
                    <a:cubicBezTo>
                      <a:pt x="0" y="299"/>
                      <a:pt x="0" y="299"/>
                      <a:pt x="0" y="299"/>
                    </a:cubicBezTo>
                    <a:cubicBezTo>
                      <a:pt x="0" y="186"/>
                      <a:pt x="0" y="186"/>
                      <a:pt x="0" y="186"/>
                    </a:cubicBezTo>
                    <a:cubicBezTo>
                      <a:pt x="57" y="186"/>
                      <a:pt x="57" y="186"/>
                      <a:pt x="57" y="186"/>
                    </a:cubicBezTo>
                    <a:cubicBezTo>
                      <a:pt x="57" y="155"/>
                      <a:pt x="57" y="155"/>
                      <a:pt x="57" y="155"/>
                    </a:cubicBezTo>
                    <a:cubicBezTo>
                      <a:pt x="57" y="102"/>
                      <a:pt x="71" y="63"/>
                      <a:pt x="96" y="38"/>
                    </a:cubicBezTo>
                    <a:cubicBezTo>
                      <a:pt x="122" y="12"/>
                      <a:pt x="159" y="0"/>
                      <a:pt x="208" y="0"/>
                    </a:cubicBezTo>
                    <a:cubicBezTo>
                      <a:pt x="251" y="0"/>
                      <a:pt x="280" y="5"/>
                      <a:pt x="305" y="13"/>
                    </a:cubicBezTo>
                    <a:cubicBezTo>
                      <a:pt x="305" y="127"/>
                      <a:pt x="305" y="127"/>
                      <a:pt x="305" y="127"/>
                    </a:cubicBezTo>
                    <a:cubicBezTo>
                      <a:pt x="286" y="120"/>
                      <a:pt x="267" y="115"/>
                      <a:pt x="243" y="115"/>
                    </a:cubicBezTo>
                    <a:cubicBezTo>
                      <a:pt x="211" y="115"/>
                      <a:pt x="193" y="132"/>
                      <a:pt x="193" y="168"/>
                    </a:cubicBezTo>
                    <a:cubicBezTo>
                      <a:pt x="193" y="187"/>
                      <a:pt x="193" y="187"/>
                      <a:pt x="193" y="187"/>
                    </a:cubicBezTo>
                    <a:cubicBezTo>
                      <a:pt x="305" y="187"/>
                      <a:pt x="305" y="187"/>
                      <a:pt x="305" y="187"/>
                    </a:cubicBezTo>
                    <a:cubicBezTo>
                      <a:pt x="305" y="299"/>
                      <a:pt x="305" y="299"/>
                      <a:pt x="305" y="299"/>
                    </a:cubicBezTo>
                    <a:cubicBezTo>
                      <a:pt x="195" y="299"/>
                      <a:pt x="195" y="299"/>
                      <a:pt x="195" y="299"/>
                    </a:cubicBezTo>
                    <a:cubicBezTo>
                      <a:pt x="195" y="667"/>
                      <a:pt x="195" y="667"/>
                      <a:pt x="195" y="667"/>
                    </a:cubicBezTo>
                    <a:cubicBezTo>
                      <a:pt x="57" y="667"/>
                      <a:pt x="57" y="667"/>
                      <a:pt x="57" y="667"/>
                    </a:cubicBezTo>
                    <a:lnTo>
                      <a:pt x="57" y="299"/>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0" name="Freeform 23">
                <a:extLst>
                  <a:ext uri="{FF2B5EF4-FFF2-40B4-BE49-F238E27FC236}">
                    <a16:creationId xmlns:a16="http://schemas.microsoft.com/office/drawing/2014/main" id="{9CB671CE-477D-F1B3-6894-F85448189A99}"/>
                  </a:ext>
                </a:extLst>
              </p:cNvPr>
              <p:cNvSpPr>
                <a:spLocks noEditPoints="1"/>
              </p:cNvSpPr>
              <p:nvPr userDrawn="1"/>
            </p:nvSpPr>
            <p:spPr bwMode="auto">
              <a:xfrm>
                <a:off x="6137497" y="1333086"/>
                <a:ext cx="228289" cy="219867"/>
              </a:xfrm>
              <a:custGeom>
                <a:avLst/>
                <a:gdLst>
                  <a:gd name="T0" fmla="*/ 0 w 525"/>
                  <a:gd name="T1" fmla="*/ 255 h 506"/>
                  <a:gd name="T2" fmla="*/ 0 w 525"/>
                  <a:gd name="T3" fmla="*/ 253 h 506"/>
                  <a:gd name="T4" fmla="*/ 263 w 525"/>
                  <a:gd name="T5" fmla="*/ 0 h 506"/>
                  <a:gd name="T6" fmla="*/ 525 w 525"/>
                  <a:gd name="T7" fmla="*/ 251 h 506"/>
                  <a:gd name="T8" fmla="*/ 525 w 525"/>
                  <a:gd name="T9" fmla="*/ 253 h 506"/>
                  <a:gd name="T10" fmla="*/ 261 w 525"/>
                  <a:gd name="T11" fmla="*/ 506 h 506"/>
                  <a:gd name="T12" fmla="*/ 0 w 525"/>
                  <a:gd name="T13" fmla="*/ 255 h 506"/>
                  <a:gd name="T14" fmla="*/ 389 w 525"/>
                  <a:gd name="T15" fmla="*/ 255 h 506"/>
                  <a:gd name="T16" fmla="*/ 389 w 525"/>
                  <a:gd name="T17" fmla="*/ 253 h 506"/>
                  <a:gd name="T18" fmla="*/ 261 w 525"/>
                  <a:gd name="T19" fmla="*/ 119 h 506"/>
                  <a:gd name="T20" fmla="*/ 135 w 525"/>
                  <a:gd name="T21" fmla="*/ 251 h 506"/>
                  <a:gd name="T22" fmla="*/ 135 w 525"/>
                  <a:gd name="T23" fmla="*/ 253 h 506"/>
                  <a:gd name="T24" fmla="*/ 263 w 525"/>
                  <a:gd name="T25" fmla="*/ 387 h 506"/>
                  <a:gd name="T26" fmla="*/ 389 w 525"/>
                  <a:gd name="T27" fmla="*/ 25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6">
                    <a:moveTo>
                      <a:pt x="0" y="255"/>
                    </a:moveTo>
                    <a:cubicBezTo>
                      <a:pt x="0" y="253"/>
                      <a:pt x="0" y="253"/>
                      <a:pt x="0" y="253"/>
                    </a:cubicBezTo>
                    <a:cubicBezTo>
                      <a:pt x="0" y="114"/>
                      <a:pt x="112" y="0"/>
                      <a:pt x="263" y="0"/>
                    </a:cubicBezTo>
                    <a:cubicBezTo>
                      <a:pt x="413" y="0"/>
                      <a:pt x="525" y="112"/>
                      <a:pt x="525" y="251"/>
                    </a:cubicBezTo>
                    <a:cubicBezTo>
                      <a:pt x="525" y="253"/>
                      <a:pt x="525" y="253"/>
                      <a:pt x="525" y="253"/>
                    </a:cubicBezTo>
                    <a:cubicBezTo>
                      <a:pt x="525" y="392"/>
                      <a:pt x="412" y="506"/>
                      <a:pt x="261" y="506"/>
                    </a:cubicBezTo>
                    <a:cubicBezTo>
                      <a:pt x="111" y="506"/>
                      <a:pt x="0" y="394"/>
                      <a:pt x="0" y="255"/>
                    </a:cubicBezTo>
                    <a:close/>
                    <a:moveTo>
                      <a:pt x="389" y="255"/>
                    </a:moveTo>
                    <a:cubicBezTo>
                      <a:pt x="389" y="253"/>
                      <a:pt x="389" y="253"/>
                      <a:pt x="389" y="253"/>
                    </a:cubicBezTo>
                    <a:cubicBezTo>
                      <a:pt x="389" y="182"/>
                      <a:pt x="337" y="119"/>
                      <a:pt x="261" y="119"/>
                    </a:cubicBezTo>
                    <a:cubicBezTo>
                      <a:pt x="183" y="119"/>
                      <a:pt x="135" y="180"/>
                      <a:pt x="135" y="251"/>
                    </a:cubicBezTo>
                    <a:cubicBezTo>
                      <a:pt x="135" y="253"/>
                      <a:pt x="135" y="253"/>
                      <a:pt x="135" y="253"/>
                    </a:cubicBezTo>
                    <a:cubicBezTo>
                      <a:pt x="135" y="325"/>
                      <a:pt x="187" y="387"/>
                      <a:pt x="263" y="387"/>
                    </a:cubicBezTo>
                    <a:cubicBezTo>
                      <a:pt x="342" y="387"/>
                      <a:pt x="389" y="326"/>
                      <a:pt x="389" y="255"/>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1" name="Freeform 24">
                <a:extLst>
                  <a:ext uri="{FF2B5EF4-FFF2-40B4-BE49-F238E27FC236}">
                    <a16:creationId xmlns:a16="http://schemas.microsoft.com/office/drawing/2014/main" id="{2D545142-881D-002A-830D-2B1960B7F79A}"/>
                  </a:ext>
                </a:extLst>
              </p:cNvPr>
              <p:cNvSpPr>
                <a:spLocks/>
              </p:cNvSpPr>
              <p:nvPr userDrawn="1"/>
            </p:nvSpPr>
            <p:spPr bwMode="auto">
              <a:xfrm>
                <a:off x="6379084" y="1331756"/>
                <a:ext cx="127665" cy="216764"/>
              </a:xfrm>
              <a:custGeom>
                <a:avLst/>
                <a:gdLst>
                  <a:gd name="T0" fmla="*/ 0 w 293"/>
                  <a:gd name="T1" fmla="*/ 13 h 498"/>
                  <a:gd name="T2" fmla="*/ 138 w 293"/>
                  <a:gd name="T3" fmla="*/ 13 h 498"/>
                  <a:gd name="T4" fmla="*/ 138 w 293"/>
                  <a:gd name="T5" fmla="*/ 110 h 498"/>
                  <a:gd name="T6" fmla="*/ 293 w 293"/>
                  <a:gd name="T7" fmla="*/ 3 h 498"/>
                  <a:gd name="T8" fmla="*/ 293 w 293"/>
                  <a:gd name="T9" fmla="*/ 147 h 498"/>
                  <a:gd name="T10" fmla="*/ 286 w 293"/>
                  <a:gd name="T11" fmla="*/ 147 h 498"/>
                  <a:gd name="T12" fmla="*/ 138 w 293"/>
                  <a:gd name="T13" fmla="*/ 318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0"/>
                      <a:pt x="138" y="110"/>
                      <a:pt x="138" y="110"/>
                    </a:cubicBezTo>
                    <a:cubicBezTo>
                      <a:pt x="166" y="43"/>
                      <a:pt x="211" y="0"/>
                      <a:pt x="293" y="3"/>
                    </a:cubicBezTo>
                    <a:cubicBezTo>
                      <a:pt x="293" y="147"/>
                      <a:pt x="293" y="147"/>
                      <a:pt x="293" y="147"/>
                    </a:cubicBezTo>
                    <a:cubicBezTo>
                      <a:pt x="286" y="147"/>
                      <a:pt x="286" y="147"/>
                      <a:pt x="286" y="147"/>
                    </a:cubicBezTo>
                    <a:cubicBezTo>
                      <a:pt x="194" y="147"/>
                      <a:pt x="138" y="203"/>
                      <a:pt x="138" y="318"/>
                    </a:cubicBezTo>
                    <a:cubicBezTo>
                      <a:pt x="138" y="498"/>
                      <a:pt x="138" y="498"/>
                      <a:pt x="138" y="498"/>
                    </a:cubicBezTo>
                    <a:cubicBezTo>
                      <a:pt x="0" y="498"/>
                      <a:pt x="0" y="498"/>
                      <a:pt x="0" y="498"/>
                    </a:cubicBezTo>
                    <a:lnTo>
                      <a:pt x="0" y="13"/>
                    </a:ln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2" name="Freeform 25">
                <a:extLst>
                  <a:ext uri="{FF2B5EF4-FFF2-40B4-BE49-F238E27FC236}">
                    <a16:creationId xmlns:a16="http://schemas.microsoft.com/office/drawing/2014/main" id="{5C959273-267C-8CBA-996C-EC8514CCD7D2}"/>
                  </a:ext>
                </a:extLst>
              </p:cNvPr>
              <p:cNvSpPr>
                <a:spLocks noEditPoints="1"/>
              </p:cNvSpPr>
              <p:nvPr userDrawn="1"/>
            </p:nvSpPr>
            <p:spPr bwMode="auto">
              <a:xfrm>
                <a:off x="6582993" y="1334859"/>
                <a:ext cx="194157" cy="217207"/>
              </a:xfrm>
              <a:custGeom>
                <a:avLst/>
                <a:gdLst>
                  <a:gd name="T0" fmla="*/ 0 w 446"/>
                  <a:gd name="T1" fmla="*/ 351 h 500"/>
                  <a:gd name="T2" fmla="*/ 0 w 446"/>
                  <a:gd name="T3" fmla="*/ 349 h 500"/>
                  <a:gd name="T4" fmla="*/ 195 w 446"/>
                  <a:gd name="T5" fmla="*/ 195 h 500"/>
                  <a:gd name="T6" fmla="*/ 314 w 446"/>
                  <a:gd name="T7" fmla="*/ 215 h 500"/>
                  <a:gd name="T8" fmla="*/ 314 w 446"/>
                  <a:gd name="T9" fmla="*/ 206 h 500"/>
                  <a:gd name="T10" fmla="*/ 210 w 446"/>
                  <a:gd name="T11" fmla="*/ 118 h 500"/>
                  <a:gd name="T12" fmla="*/ 76 w 446"/>
                  <a:gd name="T13" fmla="*/ 144 h 500"/>
                  <a:gd name="T14" fmla="*/ 42 w 446"/>
                  <a:gd name="T15" fmla="*/ 39 h 500"/>
                  <a:gd name="T16" fmla="*/ 230 w 446"/>
                  <a:gd name="T17" fmla="*/ 0 h 500"/>
                  <a:gd name="T18" fmla="*/ 394 w 446"/>
                  <a:gd name="T19" fmla="*/ 54 h 500"/>
                  <a:gd name="T20" fmla="*/ 446 w 446"/>
                  <a:gd name="T21" fmla="*/ 209 h 500"/>
                  <a:gd name="T22" fmla="*/ 446 w 446"/>
                  <a:gd name="T23" fmla="*/ 491 h 500"/>
                  <a:gd name="T24" fmla="*/ 313 w 446"/>
                  <a:gd name="T25" fmla="*/ 491 h 500"/>
                  <a:gd name="T26" fmla="*/ 313 w 446"/>
                  <a:gd name="T27" fmla="*/ 438 h 500"/>
                  <a:gd name="T28" fmla="*/ 167 w 446"/>
                  <a:gd name="T29" fmla="*/ 500 h 500"/>
                  <a:gd name="T30" fmla="*/ 0 w 446"/>
                  <a:gd name="T31" fmla="*/ 351 h 500"/>
                  <a:gd name="T32" fmla="*/ 316 w 446"/>
                  <a:gd name="T33" fmla="*/ 320 h 500"/>
                  <a:gd name="T34" fmla="*/ 316 w 446"/>
                  <a:gd name="T35" fmla="*/ 295 h 500"/>
                  <a:gd name="T36" fmla="*/ 228 w 446"/>
                  <a:gd name="T37" fmla="*/ 277 h 500"/>
                  <a:gd name="T38" fmla="*/ 133 w 446"/>
                  <a:gd name="T39" fmla="*/ 344 h 500"/>
                  <a:gd name="T40" fmla="*/ 133 w 446"/>
                  <a:gd name="T41" fmla="*/ 346 h 500"/>
                  <a:gd name="T42" fmla="*/ 208 w 446"/>
                  <a:gd name="T43" fmla="*/ 405 h 500"/>
                  <a:gd name="T44" fmla="*/ 316 w 446"/>
                  <a:gd name="T45" fmla="*/ 32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500">
                    <a:moveTo>
                      <a:pt x="0" y="351"/>
                    </a:moveTo>
                    <a:cubicBezTo>
                      <a:pt x="0" y="349"/>
                      <a:pt x="0" y="349"/>
                      <a:pt x="0" y="349"/>
                    </a:cubicBezTo>
                    <a:cubicBezTo>
                      <a:pt x="0" y="244"/>
                      <a:pt x="81" y="195"/>
                      <a:pt x="195" y="195"/>
                    </a:cubicBezTo>
                    <a:cubicBezTo>
                      <a:pt x="244" y="195"/>
                      <a:pt x="280" y="203"/>
                      <a:pt x="314" y="215"/>
                    </a:cubicBezTo>
                    <a:cubicBezTo>
                      <a:pt x="314" y="206"/>
                      <a:pt x="314" y="206"/>
                      <a:pt x="314" y="206"/>
                    </a:cubicBezTo>
                    <a:cubicBezTo>
                      <a:pt x="314" y="149"/>
                      <a:pt x="279" y="118"/>
                      <a:pt x="210" y="118"/>
                    </a:cubicBezTo>
                    <a:cubicBezTo>
                      <a:pt x="157" y="118"/>
                      <a:pt x="120" y="128"/>
                      <a:pt x="76" y="144"/>
                    </a:cubicBezTo>
                    <a:cubicBezTo>
                      <a:pt x="42" y="39"/>
                      <a:pt x="42" y="39"/>
                      <a:pt x="42" y="39"/>
                    </a:cubicBezTo>
                    <a:cubicBezTo>
                      <a:pt x="95" y="15"/>
                      <a:pt x="148" y="0"/>
                      <a:pt x="230" y="0"/>
                    </a:cubicBezTo>
                    <a:cubicBezTo>
                      <a:pt x="305" y="0"/>
                      <a:pt x="359" y="20"/>
                      <a:pt x="394" y="54"/>
                    </a:cubicBezTo>
                    <a:cubicBezTo>
                      <a:pt x="430" y="91"/>
                      <a:pt x="446" y="144"/>
                      <a:pt x="446" y="209"/>
                    </a:cubicBezTo>
                    <a:cubicBezTo>
                      <a:pt x="446" y="491"/>
                      <a:pt x="446" y="491"/>
                      <a:pt x="446" y="491"/>
                    </a:cubicBezTo>
                    <a:cubicBezTo>
                      <a:pt x="313" y="491"/>
                      <a:pt x="313" y="491"/>
                      <a:pt x="313" y="491"/>
                    </a:cubicBezTo>
                    <a:cubicBezTo>
                      <a:pt x="313" y="438"/>
                      <a:pt x="313" y="438"/>
                      <a:pt x="313" y="438"/>
                    </a:cubicBezTo>
                    <a:cubicBezTo>
                      <a:pt x="280" y="475"/>
                      <a:pt x="234" y="500"/>
                      <a:pt x="167" y="500"/>
                    </a:cubicBezTo>
                    <a:cubicBezTo>
                      <a:pt x="75" y="500"/>
                      <a:pt x="0" y="447"/>
                      <a:pt x="0" y="351"/>
                    </a:cubicBezTo>
                    <a:close/>
                    <a:moveTo>
                      <a:pt x="316" y="320"/>
                    </a:moveTo>
                    <a:cubicBezTo>
                      <a:pt x="316" y="295"/>
                      <a:pt x="316" y="295"/>
                      <a:pt x="316" y="295"/>
                    </a:cubicBezTo>
                    <a:cubicBezTo>
                      <a:pt x="292" y="284"/>
                      <a:pt x="262" y="277"/>
                      <a:pt x="228" y="277"/>
                    </a:cubicBezTo>
                    <a:cubicBezTo>
                      <a:pt x="169" y="277"/>
                      <a:pt x="133" y="301"/>
                      <a:pt x="133" y="344"/>
                    </a:cubicBezTo>
                    <a:cubicBezTo>
                      <a:pt x="133" y="346"/>
                      <a:pt x="133" y="346"/>
                      <a:pt x="133" y="346"/>
                    </a:cubicBezTo>
                    <a:cubicBezTo>
                      <a:pt x="133" y="383"/>
                      <a:pt x="164" y="405"/>
                      <a:pt x="208" y="405"/>
                    </a:cubicBezTo>
                    <a:cubicBezTo>
                      <a:pt x="272" y="405"/>
                      <a:pt x="316" y="369"/>
                      <a:pt x="316" y="320"/>
                    </a:cubicBezTo>
                    <a:close/>
                  </a:path>
                </a:pathLst>
              </a:custGeom>
              <a:solidFill>
                <a:srgbClr val="4D1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3" name="Rectangle 26">
                <a:extLst>
                  <a:ext uri="{FF2B5EF4-FFF2-40B4-BE49-F238E27FC236}">
                    <a16:creationId xmlns:a16="http://schemas.microsoft.com/office/drawing/2014/main" id="{2F1B0169-414B-8F53-D204-E4FC9132C39A}"/>
                  </a:ext>
                </a:extLst>
              </p:cNvPr>
              <p:cNvSpPr>
                <a:spLocks noChangeArrowheads="1"/>
              </p:cNvSpPr>
              <p:nvPr userDrawn="1"/>
            </p:nvSpPr>
            <p:spPr bwMode="auto">
              <a:xfrm>
                <a:off x="6801973" y="1260831"/>
                <a:ext cx="59843" cy="287689"/>
              </a:xfrm>
              <a:prstGeom prst="rect">
                <a:avLst/>
              </a:prstGeom>
              <a:solidFill>
                <a:srgbClr val="4D14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4" name="Rectangle 27">
                <a:extLst>
                  <a:ext uri="{FF2B5EF4-FFF2-40B4-BE49-F238E27FC236}">
                    <a16:creationId xmlns:a16="http://schemas.microsoft.com/office/drawing/2014/main" id="{FD3CEF0B-9316-CAAF-B811-7977EA0FDC71}"/>
                  </a:ext>
                </a:extLst>
              </p:cNvPr>
              <p:cNvSpPr>
                <a:spLocks noChangeArrowheads="1"/>
              </p:cNvSpPr>
              <p:nvPr userDrawn="1"/>
            </p:nvSpPr>
            <p:spPr bwMode="auto">
              <a:xfrm>
                <a:off x="6886639" y="1260831"/>
                <a:ext cx="59399" cy="287689"/>
              </a:xfrm>
              <a:prstGeom prst="rect">
                <a:avLst/>
              </a:prstGeom>
              <a:solidFill>
                <a:srgbClr val="4D14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64" name="Rectangle 28">
              <a:extLst>
                <a:ext uri="{FF2B5EF4-FFF2-40B4-BE49-F238E27FC236}">
                  <a16:creationId xmlns:a16="http://schemas.microsoft.com/office/drawing/2014/main" id="{C44969F7-1BF0-A4FA-F4EB-8003272D98C6}"/>
                </a:ext>
              </a:extLst>
            </p:cNvPr>
            <p:cNvSpPr>
              <a:spLocks noChangeArrowheads="1"/>
            </p:cNvSpPr>
            <p:nvPr userDrawn="1"/>
          </p:nvSpPr>
          <p:spPr bwMode="auto">
            <a:xfrm>
              <a:off x="11556230" y="767096"/>
              <a:ext cx="634181" cy="1898696"/>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grpSp>
          <p:nvGrpSpPr>
            <p:cNvPr id="65" name="Group 64">
              <a:extLst>
                <a:ext uri="{FF2B5EF4-FFF2-40B4-BE49-F238E27FC236}">
                  <a16:creationId xmlns:a16="http://schemas.microsoft.com/office/drawing/2014/main" id="{5AB97A83-AA92-5D2A-D89F-2B85130F597F}"/>
                </a:ext>
              </a:extLst>
            </p:cNvPr>
            <p:cNvGrpSpPr/>
            <p:nvPr userDrawn="1"/>
          </p:nvGrpSpPr>
          <p:grpSpPr>
            <a:xfrm>
              <a:off x="11701122" y="936748"/>
              <a:ext cx="321494" cy="1552800"/>
              <a:chOff x="7313961" y="501936"/>
              <a:chExt cx="323594" cy="1566108"/>
            </a:xfrm>
          </p:grpSpPr>
          <p:sp>
            <p:nvSpPr>
              <p:cNvPr id="66" name="Freeform 29">
                <a:extLst>
                  <a:ext uri="{FF2B5EF4-FFF2-40B4-BE49-F238E27FC236}">
                    <a16:creationId xmlns:a16="http://schemas.microsoft.com/office/drawing/2014/main" id="{93913DCE-D7C5-993F-1CBD-D671F4E01A37}"/>
                  </a:ext>
                </a:extLst>
              </p:cNvPr>
              <p:cNvSpPr>
                <a:spLocks/>
              </p:cNvSpPr>
              <p:nvPr userDrawn="1"/>
            </p:nvSpPr>
            <p:spPr bwMode="auto">
              <a:xfrm>
                <a:off x="7383556" y="1311808"/>
                <a:ext cx="249567" cy="247350"/>
              </a:xfrm>
              <a:custGeom>
                <a:avLst/>
                <a:gdLst>
                  <a:gd name="T0" fmla="*/ 0 w 574"/>
                  <a:gd name="T1" fmla="*/ 229 h 569"/>
                  <a:gd name="T2" fmla="*/ 90 w 574"/>
                  <a:gd name="T3" fmla="*/ 413 h 569"/>
                  <a:gd name="T4" fmla="*/ 90 w 574"/>
                  <a:gd name="T5" fmla="*/ 413 h 569"/>
                  <a:gd name="T6" fmla="*/ 90 w 574"/>
                  <a:gd name="T7" fmla="*/ 413 h 569"/>
                  <a:gd name="T8" fmla="*/ 9 w 574"/>
                  <a:gd name="T9" fmla="*/ 413 h 569"/>
                  <a:gd name="T10" fmla="*/ 9 w 574"/>
                  <a:gd name="T11" fmla="*/ 569 h 569"/>
                  <a:gd name="T12" fmla="*/ 574 w 574"/>
                  <a:gd name="T13" fmla="*/ 569 h 569"/>
                  <a:gd name="T14" fmla="*/ 574 w 574"/>
                  <a:gd name="T15" fmla="*/ 413 h 569"/>
                  <a:gd name="T16" fmla="*/ 253 w 574"/>
                  <a:gd name="T17" fmla="*/ 413 h 569"/>
                  <a:gd name="T18" fmla="*/ 133 w 574"/>
                  <a:gd name="T19" fmla="*/ 286 h 569"/>
                  <a:gd name="T20" fmla="*/ 253 w 574"/>
                  <a:gd name="T21" fmla="*/ 155 h 569"/>
                  <a:gd name="T22" fmla="*/ 574 w 574"/>
                  <a:gd name="T23" fmla="*/ 155 h 569"/>
                  <a:gd name="T24" fmla="*/ 574 w 574"/>
                  <a:gd name="T25" fmla="*/ 0 h 569"/>
                  <a:gd name="T26" fmla="*/ 224 w 574"/>
                  <a:gd name="T27" fmla="*/ 0 h 569"/>
                  <a:gd name="T28" fmla="*/ 0 w 574"/>
                  <a:gd name="T29" fmla="*/ 229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4" h="569">
                    <a:moveTo>
                      <a:pt x="0" y="229"/>
                    </a:moveTo>
                    <a:cubicBezTo>
                      <a:pt x="0" y="294"/>
                      <a:pt x="30" y="368"/>
                      <a:pt x="90" y="413"/>
                    </a:cubicBezTo>
                    <a:cubicBezTo>
                      <a:pt x="90" y="413"/>
                      <a:pt x="90" y="413"/>
                      <a:pt x="90" y="413"/>
                    </a:cubicBezTo>
                    <a:cubicBezTo>
                      <a:pt x="90" y="413"/>
                      <a:pt x="90" y="413"/>
                      <a:pt x="90" y="413"/>
                    </a:cubicBezTo>
                    <a:cubicBezTo>
                      <a:pt x="9" y="413"/>
                      <a:pt x="9" y="413"/>
                      <a:pt x="9" y="413"/>
                    </a:cubicBezTo>
                    <a:cubicBezTo>
                      <a:pt x="9" y="569"/>
                      <a:pt x="9" y="569"/>
                      <a:pt x="9" y="569"/>
                    </a:cubicBezTo>
                    <a:cubicBezTo>
                      <a:pt x="574" y="569"/>
                      <a:pt x="574" y="569"/>
                      <a:pt x="574" y="569"/>
                    </a:cubicBezTo>
                    <a:cubicBezTo>
                      <a:pt x="574" y="413"/>
                      <a:pt x="574" y="413"/>
                      <a:pt x="574" y="413"/>
                    </a:cubicBezTo>
                    <a:cubicBezTo>
                      <a:pt x="253" y="413"/>
                      <a:pt x="253" y="413"/>
                      <a:pt x="253" y="413"/>
                    </a:cubicBezTo>
                    <a:cubicBezTo>
                      <a:pt x="195" y="413"/>
                      <a:pt x="133" y="369"/>
                      <a:pt x="133" y="286"/>
                    </a:cubicBezTo>
                    <a:cubicBezTo>
                      <a:pt x="133" y="221"/>
                      <a:pt x="178" y="155"/>
                      <a:pt x="253" y="155"/>
                    </a:cubicBezTo>
                    <a:cubicBezTo>
                      <a:pt x="574" y="155"/>
                      <a:pt x="574" y="155"/>
                      <a:pt x="574" y="155"/>
                    </a:cubicBezTo>
                    <a:cubicBezTo>
                      <a:pt x="574" y="0"/>
                      <a:pt x="574" y="0"/>
                      <a:pt x="574" y="0"/>
                    </a:cubicBezTo>
                    <a:cubicBezTo>
                      <a:pt x="224" y="0"/>
                      <a:pt x="224" y="0"/>
                      <a:pt x="224" y="0"/>
                    </a:cubicBezTo>
                    <a:cubicBezTo>
                      <a:pt x="94" y="0"/>
                      <a:pt x="0" y="93"/>
                      <a:pt x="0" y="22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7" name="Freeform 30">
                <a:extLst>
                  <a:ext uri="{FF2B5EF4-FFF2-40B4-BE49-F238E27FC236}">
                    <a16:creationId xmlns:a16="http://schemas.microsoft.com/office/drawing/2014/main" id="{6D0A5711-84F8-6852-FC23-C9222B8AB056}"/>
                  </a:ext>
                </a:extLst>
              </p:cNvPr>
              <p:cNvSpPr>
                <a:spLocks/>
              </p:cNvSpPr>
              <p:nvPr userDrawn="1"/>
            </p:nvSpPr>
            <p:spPr bwMode="auto">
              <a:xfrm>
                <a:off x="7387546" y="755049"/>
                <a:ext cx="245577" cy="276163"/>
              </a:xfrm>
              <a:custGeom>
                <a:avLst/>
                <a:gdLst>
                  <a:gd name="T0" fmla="*/ 0 w 554"/>
                  <a:gd name="T1" fmla="*/ 174 h 623"/>
                  <a:gd name="T2" fmla="*/ 377 w 554"/>
                  <a:gd name="T3" fmla="*/ 311 h 623"/>
                  <a:gd name="T4" fmla="*/ 0 w 554"/>
                  <a:gd name="T5" fmla="*/ 450 h 623"/>
                  <a:gd name="T6" fmla="*/ 0 w 554"/>
                  <a:gd name="T7" fmla="*/ 623 h 623"/>
                  <a:gd name="T8" fmla="*/ 554 w 554"/>
                  <a:gd name="T9" fmla="*/ 395 h 623"/>
                  <a:gd name="T10" fmla="*/ 554 w 554"/>
                  <a:gd name="T11" fmla="*/ 228 h 623"/>
                  <a:gd name="T12" fmla="*/ 0 w 554"/>
                  <a:gd name="T13" fmla="*/ 0 h 623"/>
                  <a:gd name="T14" fmla="*/ 0 w 554"/>
                  <a:gd name="T15" fmla="*/ 174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623">
                    <a:moveTo>
                      <a:pt x="0" y="174"/>
                    </a:moveTo>
                    <a:lnTo>
                      <a:pt x="377" y="311"/>
                    </a:lnTo>
                    <a:lnTo>
                      <a:pt x="0" y="450"/>
                    </a:lnTo>
                    <a:lnTo>
                      <a:pt x="0" y="623"/>
                    </a:lnTo>
                    <a:lnTo>
                      <a:pt x="554" y="395"/>
                    </a:lnTo>
                    <a:lnTo>
                      <a:pt x="554" y="228"/>
                    </a:lnTo>
                    <a:lnTo>
                      <a:pt x="0" y="0"/>
                    </a:lnTo>
                    <a:lnTo>
                      <a:pt x="0"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8" name="Freeform 31">
                <a:extLst>
                  <a:ext uri="{FF2B5EF4-FFF2-40B4-BE49-F238E27FC236}">
                    <a16:creationId xmlns:a16="http://schemas.microsoft.com/office/drawing/2014/main" id="{185085EF-D1B3-20ED-1267-AC7FAB1644FE}"/>
                  </a:ext>
                </a:extLst>
              </p:cNvPr>
              <p:cNvSpPr>
                <a:spLocks noEditPoints="1"/>
              </p:cNvSpPr>
              <p:nvPr userDrawn="1"/>
            </p:nvSpPr>
            <p:spPr bwMode="auto">
              <a:xfrm>
                <a:off x="7383556" y="1583096"/>
                <a:ext cx="253999" cy="256659"/>
              </a:xfrm>
              <a:custGeom>
                <a:avLst/>
                <a:gdLst>
                  <a:gd name="T0" fmla="*/ 401 w 584"/>
                  <a:gd name="T1" fmla="*/ 110 h 590"/>
                  <a:gd name="T2" fmla="*/ 460 w 584"/>
                  <a:gd name="T3" fmla="*/ 272 h 590"/>
                  <a:gd name="T4" fmla="*/ 415 w 584"/>
                  <a:gd name="T5" fmla="*/ 397 h 590"/>
                  <a:gd name="T6" fmla="*/ 250 w 584"/>
                  <a:gd name="T7" fmla="*/ 0 h 590"/>
                  <a:gd name="T8" fmla="*/ 92 w 584"/>
                  <a:gd name="T9" fmla="*/ 68 h 590"/>
                  <a:gd name="T10" fmla="*/ 0 w 584"/>
                  <a:gd name="T11" fmla="*/ 291 h 590"/>
                  <a:gd name="T12" fmla="*/ 292 w 584"/>
                  <a:gd name="T13" fmla="*/ 590 h 590"/>
                  <a:gd name="T14" fmla="*/ 584 w 584"/>
                  <a:gd name="T15" fmla="*/ 274 h 590"/>
                  <a:gd name="T16" fmla="*/ 476 w 584"/>
                  <a:gd name="T17" fmla="*/ 12 h 590"/>
                  <a:gd name="T18" fmla="*/ 401 w 584"/>
                  <a:gd name="T19" fmla="*/ 110 h 590"/>
                  <a:gd name="T20" fmla="*/ 179 w 584"/>
                  <a:gd name="T21" fmla="*/ 408 h 590"/>
                  <a:gd name="T22" fmla="*/ 123 w 584"/>
                  <a:gd name="T23" fmla="*/ 288 h 590"/>
                  <a:gd name="T24" fmla="*/ 202 w 584"/>
                  <a:gd name="T25" fmla="*/ 168 h 590"/>
                  <a:gd name="T26" fmla="*/ 315 w 584"/>
                  <a:gd name="T27" fmla="*/ 439 h 590"/>
                  <a:gd name="T28" fmla="*/ 179 w 584"/>
                  <a:gd name="T29" fmla="*/ 408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4" h="590">
                    <a:moveTo>
                      <a:pt x="401" y="110"/>
                    </a:moveTo>
                    <a:cubicBezTo>
                      <a:pt x="449" y="175"/>
                      <a:pt x="460" y="212"/>
                      <a:pt x="460" y="272"/>
                    </a:cubicBezTo>
                    <a:cubicBezTo>
                      <a:pt x="460" y="325"/>
                      <a:pt x="444" y="367"/>
                      <a:pt x="415" y="397"/>
                    </a:cubicBezTo>
                    <a:cubicBezTo>
                      <a:pt x="250" y="0"/>
                      <a:pt x="250" y="0"/>
                      <a:pt x="250" y="0"/>
                    </a:cubicBezTo>
                    <a:cubicBezTo>
                      <a:pt x="189" y="9"/>
                      <a:pt x="134" y="32"/>
                      <a:pt x="92" y="68"/>
                    </a:cubicBezTo>
                    <a:cubicBezTo>
                      <a:pt x="32" y="120"/>
                      <a:pt x="0" y="197"/>
                      <a:pt x="0" y="291"/>
                    </a:cubicBezTo>
                    <a:cubicBezTo>
                      <a:pt x="0" y="462"/>
                      <a:pt x="126" y="590"/>
                      <a:pt x="292" y="590"/>
                    </a:cubicBezTo>
                    <a:cubicBezTo>
                      <a:pt x="462" y="590"/>
                      <a:pt x="584" y="462"/>
                      <a:pt x="584" y="274"/>
                    </a:cubicBezTo>
                    <a:cubicBezTo>
                      <a:pt x="584" y="169"/>
                      <a:pt x="534" y="62"/>
                      <a:pt x="476" y="12"/>
                    </a:cubicBezTo>
                    <a:lnTo>
                      <a:pt x="401" y="110"/>
                    </a:lnTo>
                    <a:close/>
                    <a:moveTo>
                      <a:pt x="179" y="408"/>
                    </a:moveTo>
                    <a:cubicBezTo>
                      <a:pt x="144" y="381"/>
                      <a:pt x="123" y="339"/>
                      <a:pt x="123" y="288"/>
                    </a:cubicBezTo>
                    <a:cubicBezTo>
                      <a:pt x="123" y="232"/>
                      <a:pt x="155" y="190"/>
                      <a:pt x="202" y="168"/>
                    </a:cubicBezTo>
                    <a:cubicBezTo>
                      <a:pt x="315" y="439"/>
                      <a:pt x="315" y="439"/>
                      <a:pt x="315" y="439"/>
                    </a:cubicBezTo>
                    <a:cubicBezTo>
                      <a:pt x="257" y="447"/>
                      <a:pt x="212" y="432"/>
                      <a:pt x="179" y="4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9" name="Freeform 32">
                <a:extLst>
                  <a:ext uri="{FF2B5EF4-FFF2-40B4-BE49-F238E27FC236}">
                    <a16:creationId xmlns:a16="http://schemas.microsoft.com/office/drawing/2014/main" id="{8434C32D-C325-1F32-5E19-6C9FC933AC3B}"/>
                  </a:ext>
                </a:extLst>
              </p:cNvPr>
              <p:cNvSpPr>
                <a:spLocks/>
              </p:cNvSpPr>
              <p:nvPr userDrawn="1"/>
            </p:nvSpPr>
            <p:spPr bwMode="auto">
              <a:xfrm>
                <a:off x="7313961" y="1846404"/>
                <a:ext cx="319161" cy="221640"/>
              </a:xfrm>
              <a:custGeom>
                <a:avLst/>
                <a:gdLst>
                  <a:gd name="T0" fmla="*/ 580 w 720"/>
                  <a:gd name="T1" fmla="*/ 0 h 500"/>
                  <a:gd name="T2" fmla="*/ 580 w 720"/>
                  <a:gd name="T3" fmla="*/ 346 h 500"/>
                  <a:gd name="T4" fmla="*/ 0 w 720"/>
                  <a:gd name="T5" fmla="*/ 346 h 500"/>
                  <a:gd name="T6" fmla="*/ 0 w 720"/>
                  <a:gd name="T7" fmla="*/ 500 h 500"/>
                  <a:gd name="T8" fmla="*/ 720 w 720"/>
                  <a:gd name="T9" fmla="*/ 500 h 500"/>
                  <a:gd name="T10" fmla="*/ 720 w 720"/>
                  <a:gd name="T11" fmla="*/ 0 h 500"/>
                  <a:gd name="T12" fmla="*/ 580 w 720"/>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720" h="500">
                    <a:moveTo>
                      <a:pt x="580" y="0"/>
                    </a:moveTo>
                    <a:lnTo>
                      <a:pt x="580" y="346"/>
                    </a:lnTo>
                    <a:lnTo>
                      <a:pt x="0" y="346"/>
                    </a:lnTo>
                    <a:lnTo>
                      <a:pt x="0" y="500"/>
                    </a:lnTo>
                    <a:lnTo>
                      <a:pt x="720" y="500"/>
                    </a:lnTo>
                    <a:lnTo>
                      <a:pt x="720" y="0"/>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33">
                <a:extLst>
                  <a:ext uri="{FF2B5EF4-FFF2-40B4-BE49-F238E27FC236}">
                    <a16:creationId xmlns:a16="http://schemas.microsoft.com/office/drawing/2014/main" id="{A281B950-B57F-4814-65C4-87F843CA0E1C}"/>
                  </a:ext>
                </a:extLst>
              </p:cNvPr>
              <p:cNvSpPr>
                <a:spLocks noEditPoints="1"/>
              </p:cNvSpPr>
              <p:nvPr userDrawn="1"/>
            </p:nvSpPr>
            <p:spPr bwMode="auto">
              <a:xfrm>
                <a:off x="7383556" y="501936"/>
                <a:ext cx="253999" cy="263752"/>
              </a:xfrm>
              <a:custGeom>
                <a:avLst/>
                <a:gdLst>
                  <a:gd name="T0" fmla="*/ 584 w 584"/>
                  <a:gd name="T1" fmla="*/ 304 h 607"/>
                  <a:gd name="T2" fmla="*/ 292 w 584"/>
                  <a:gd name="T3" fmla="*/ 607 h 607"/>
                  <a:gd name="T4" fmla="*/ 0 w 584"/>
                  <a:gd name="T5" fmla="*/ 302 h 607"/>
                  <a:gd name="T6" fmla="*/ 292 w 584"/>
                  <a:gd name="T7" fmla="*/ 0 h 607"/>
                  <a:gd name="T8" fmla="*/ 584 w 584"/>
                  <a:gd name="T9" fmla="*/ 304 h 607"/>
                  <a:gd name="T10" fmla="*/ 133 w 584"/>
                  <a:gd name="T11" fmla="*/ 304 h 607"/>
                  <a:gd name="T12" fmla="*/ 292 w 584"/>
                  <a:gd name="T13" fmla="*/ 454 h 607"/>
                  <a:gd name="T14" fmla="*/ 451 w 584"/>
                  <a:gd name="T15" fmla="*/ 302 h 607"/>
                  <a:gd name="T16" fmla="*/ 292 w 584"/>
                  <a:gd name="T17" fmla="*/ 153 h 607"/>
                  <a:gd name="T18" fmla="*/ 133 w 584"/>
                  <a:gd name="T19" fmla="*/ 304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4"/>
                    </a:moveTo>
                    <a:cubicBezTo>
                      <a:pt x="584" y="474"/>
                      <a:pt x="457" y="607"/>
                      <a:pt x="292" y="607"/>
                    </a:cubicBezTo>
                    <a:cubicBezTo>
                      <a:pt x="128" y="607"/>
                      <a:pt x="0" y="473"/>
                      <a:pt x="0" y="302"/>
                    </a:cubicBezTo>
                    <a:cubicBezTo>
                      <a:pt x="0" y="133"/>
                      <a:pt x="126" y="0"/>
                      <a:pt x="292" y="0"/>
                    </a:cubicBezTo>
                    <a:cubicBezTo>
                      <a:pt x="455" y="0"/>
                      <a:pt x="584" y="133"/>
                      <a:pt x="584" y="304"/>
                    </a:cubicBezTo>
                    <a:moveTo>
                      <a:pt x="133" y="304"/>
                    </a:moveTo>
                    <a:cubicBezTo>
                      <a:pt x="133" y="391"/>
                      <a:pt x="198" y="454"/>
                      <a:pt x="292" y="454"/>
                    </a:cubicBezTo>
                    <a:cubicBezTo>
                      <a:pt x="381" y="454"/>
                      <a:pt x="451" y="387"/>
                      <a:pt x="451" y="302"/>
                    </a:cubicBezTo>
                    <a:cubicBezTo>
                      <a:pt x="451" y="216"/>
                      <a:pt x="383" y="153"/>
                      <a:pt x="292" y="153"/>
                    </a:cubicBezTo>
                    <a:cubicBezTo>
                      <a:pt x="203" y="153"/>
                      <a:pt x="133" y="219"/>
                      <a:pt x="133" y="30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34">
                <a:extLst>
                  <a:ext uri="{FF2B5EF4-FFF2-40B4-BE49-F238E27FC236}">
                    <a16:creationId xmlns:a16="http://schemas.microsoft.com/office/drawing/2014/main" id="{EE465ED6-53DE-A385-42CB-0B5A75477346}"/>
                  </a:ext>
                </a:extLst>
              </p:cNvPr>
              <p:cNvSpPr>
                <a:spLocks noEditPoints="1"/>
              </p:cNvSpPr>
              <p:nvPr userDrawn="1"/>
            </p:nvSpPr>
            <p:spPr bwMode="auto">
              <a:xfrm>
                <a:off x="7383556" y="1021017"/>
                <a:ext cx="253999" cy="263752"/>
              </a:xfrm>
              <a:custGeom>
                <a:avLst/>
                <a:gdLst>
                  <a:gd name="T0" fmla="*/ 584 w 584"/>
                  <a:gd name="T1" fmla="*/ 305 h 607"/>
                  <a:gd name="T2" fmla="*/ 292 w 584"/>
                  <a:gd name="T3" fmla="*/ 607 h 607"/>
                  <a:gd name="T4" fmla="*/ 0 w 584"/>
                  <a:gd name="T5" fmla="*/ 303 h 607"/>
                  <a:gd name="T6" fmla="*/ 292 w 584"/>
                  <a:gd name="T7" fmla="*/ 0 h 607"/>
                  <a:gd name="T8" fmla="*/ 584 w 584"/>
                  <a:gd name="T9" fmla="*/ 305 h 607"/>
                  <a:gd name="T10" fmla="*/ 133 w 584"/>
                  <a:gd name="T11" fmla="*/ 305 h 607"/>
                  <a:gd name="T12" fmla="*/ 292 w 584"/>
                  <a:gd name="T13" fmla="*/ 454 h 607"/>
                  <a:gd name="T14" fmla="*/ 451 w 584"/>
                  <a:gd name="T15" fmla="*/ 303 h 607"/>
                  <a:gd name="T16" fmla="*/ 292 w 584"/>
                  <a:gd name="T17" fmla="*/ 153 h 607"/>
                  <a:gd name="T18" fmla="*/ 133 w 584"/>
                  <a:gd name="T19" fmla="*/ 30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5"/>
                    </a:moveTo>
                    <a:cubicBezTo>
                      <a:pt x="584" y="474"/>
                      <a:pt x="457" y="607"/>
                      <a:pt x="292" y="607"/>
                    </a:cubicBezTo>
                    <a:cubicBezTo>
                      <a:pt x="128" y="607"/>
                      <a:pt x="0" y="474"/>
                      <a:pt x="0" y="303"/>
                    </a:cubicBezTo>
                    <a:cubicBezTo>
                      <a:pt x="0" y="133"/>
                      <a:pt x="126" y="0"/>
                      <a:pt x="292" y="0"/>
                    </a:cubicBezTo>
                    <a:cubicBezTo>
                      <a:pt x="455" y="0"/>
                      <a:pt x="584" y="134"/>
                      <a:pt x="584" y="305"/>
                    </a:cubicBezTo>
                    <a:moveTo>
                      <a:pt x="133" y="305"/>
                    </a:moveTo>
                    <a:cubicBezTo>
                      <a:pt x="133" y="391"/>
                      <a:pt x="198" y="454"/>
                      <a:pt x="292" y="454"/>
                    </a:cubicBezTo>
                    <a:cubicBezTo>
                      <a:pt x="381" y="454"/>
                      <a:pt x="451" y="388"/>
                      <a:pt x="451" y="303"/>
                    </a:cubicBezTo>
                    <a:cubicBezTo>
                      <a:pt x="451" y="216"/>
                      <a:pt x="383" y="153"/>
                      <a:pt x="292" y="153"/>
                    </a:cubicBezTo>
                    <a:cubicBezTo>
                      <a:pt x="203" y="153"/>
                      <a:pt x="133" y="220"/>
                      <a:pt x="133" y="30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grpSp>
        <p:nvGrpSpPr>
          <p:cNvPr id="42" name="Group 41">
            <a:extLst>
              <a:ext uri="{FF2B5EF4-FFF2-40B4-BE49-F238E27FC236}">
                <a16:creationId xmlns:a16="http://schemas.microsoft.com/office/drawing/2014/main" id="{320E6808-E70B-FA4B-99F6-1C02BBC16598}"/>
              </a:ext>
            </a:extLst>
          </p:cNvPr>
          <p:cNvGrpSpPr/>
          <p:nvPr userDrawn="1"/>
        </p:nvGrpSpPr>
        <p:grpSpPr>
          <a:xfrm>
            <a:off x="1539348" y="3561908"/>
            <a:ext cx="7853422" cy="1769127"/>
            <a:chOff x="541049" y="2649538"/>
            <a:chExt cx="9285724" cy="2092325"/>
          </a:xfrm>
          <a:solidFill>
            <a:srgbClr val="4D144A"/>
          </a:solidFill>
        </p:grpSpPr>
        <p:sp>
          <p:nvSpPr>
            <p:cNvPr id="43" name="Freeform 5">
              <a:extLst>
                <a:ext uri="{FF2B5EF4-FFF2-40B4-BE49-F238E27FC236}">
                  <a16:creationId xmlns:a16="http://schemas.microsoft.com/office/drawing/2014/main" id="{4C297CEF-136F-B1B7-09B1-55E4D7563FDB}"/>
                </a:ext>
              </a:extLst>
            </p:cNvPr>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4" name="Freeform 6">
              <a:extLst>
                <a:ext uri="{FF2B5EF4-FFF2-40B4-BE49-F238E27FC236}">
                  <a16:creationId xmlns:a16="http://schemas.microsoft.com/office/drawing/2014/main" id="{622BAF6B-1742-15FD-B0EB-40B8C3DC1168}"/>
                </a:ext>
              </a:extLst>
            </p:cNvPr>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5" name="Freeform 7">
              <a:extLst>
                <a:ext uri="{FF2B5EF4-FFF2-40B4-BE49-F238E27FC236}">
                  <a16:creationId xmlns:a16="http://schemas.microsoft.com/office/drawing/2014/main" id="{788B3367-A4C9-CCD9-A688-1D2826A4B010}"/>
                </a:ext>
              </a:extLst>
            </p:cNvPr>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3" name="Freeform 8">
              <a:extLst>
                <a:ext uri="{FF2B5EF4-FFF2-40B4-BE49-F238E27FC236}">
                  <a16:creationId xmlns:a16="http://schemas.microsoft.com/office/drawing/2014/main" id="{E75C15B3-8177-7E6B-C4A7-1B9D3FB9D027}"/>
                </a:ext>
              </a:extLst>
            </p:cNvPr>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4" name="Freeform 9">
              <a:extLst>
                <a:ext uri="{FF2B5EF4-FFF2-40B4-BE49-F238E27FC236}">
                  <a16:creationId xmlns:a16="http://schemas.microsoft.com/office/drawing/2014/main" id="{AA27F0F6-EBAD-77B3-0964-617F5FC5A0BD}"/>
                </a:ext>
              </a:extLst>
            </p:cNvPr>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5" name="Freeform 10">
              <a:extLst>
                <a:ext uri="{FF2B5EF4-FFF2-40B4-BE49-F238E27FC236}">
                  <a16:creationId xmlns:a16="http://schemas.microsoft.com/office/drawing/2014/main" id="{0D449E32-BCCB-5FA7-37E4-30FF7569B638}"/>
                </a:ext>
              </a:extLst>
            </p:cNvPr>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6" name="Oval 11">
              <a:extLst>
                <a:ext uri="{FF2B5EF4-FFF2-40B4-BE49-F238E27FC236}">
                  <a16:creationId xmlns:a16="http://schemas.microsoft.com/office/drawing/2014/main" id="{DF4FD3AA-2A1C-04CA-7759-A7926327B4AA}"/>
                </a:ext>
              </a:extLst>
            </p:cNvPr>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Tree>
    <p:extLst>
      <p:ext uri="{BB962C8B-B14F-4D97-AF65-F5344CB8AC3E}">
        <p14:creationId xmlns:p14="http://schemas.microsoft.com/office/powerpoint/2010/main" val="416758181"/>
      </p:ext>
    </p:extLst>
  </p:cSld>
  <p:clrMapOvr>
    <a:masterClrMapping/>
  </p:clrMapOvr>
  <p:transition spd="med"/>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Closing Slide_Black">
    <p:bg>
      <p:bgPr>
        <a:gradFill>
          <a:gsLst>
            <a:gs pos="100000">
              <a:srgbClr val="391262"/>
            </a:gs>
            <a:gs pos="38000">
              <a:srgbClr val="64131E"/>
            </a:gs>
            <a:gs pos="0">
              <a:srgbClr val="831B22"/>
            </a:gs>
            <a:gs pos="71000">
              <a:srgbClr val="4D144A"/>
            </a:gs>
          </a:gsLst>
          <a:path path="circle">
            <a:fillToRect l="100000" t="100000"/>
          </a:path>
        </a:gradFill>
        <a:effectLst/>
      </p:bgPr>
    </p:bg>
    <p:spTree>
      <p:nvGrpSpPr>
        <p:cNvPr id="1" name=""/>
        <p:cNvGrpSpPr/>
        <p:nvPr/>
      </p:nvGrpSpPr>
      <p:grpSpPr>
        <a:xfrm>
          <a:off x="0" y="0"/>
          <a:ext cx="0" cy="0"/>
          <a:chOff x="0" y="0"/>
          <a:chExt cx="0" cy="0"/>
        </a:xfrm>
      </p:grpSpPr>
      <p:grpSp>
        <p:nvGrpSpPr>
          <p:cNvPr id="166" name="Group 165">
            <a:extLst>
              <a:ext uri="{FF2B5EF4-FFF2-40B4-BE49-F238E27FC236}">
                <a16:creationId xmlns:a16="http://schemas.microsoft.com/office/drawing/2014/main" id="{45DF6D6F-9C39-7C31-64D4-4BCE9C9CA5D6}"/>
              </a:ext>
            </a:extLst>
          </p:cNvPr>
          <p:cNvGrpSpPr/>
          <p:nvPr userDrawn="1"/>
        </p:nvGrpSpPr>
        <p:grpSpPr>
          <a:xfrm>
            <a:off x="1539348" y="3561908"/>
            <a:ext cx="7853422" cy="1769127"/>
            <a:chOff x="541049" y="2649538"/>
            <a:chExt cx="9285724" cy="2092325"/>
          </a:xfrm>
          <a:solidFill>
            <a:schemeClr val="bg1"/>
          </a:solidFill>
        </p:grpSpPr>
        <p:sp>
          <p:nvSpPr>
            <p:cNvPr id="167" name="Freeform 5">
              <a:extLst>
                <a:ext uri="{FF2B5EF4-FFF2-40B4-BE49-F238E27FC236}">
                  <a16:creationId xmlns:a16="http://schemas.microsoft.com/office/drawing/2014/main" id="{E109AFA1-C190-E6CF-D819-5DDBF44B5ED2}"/>
                </a:ext>
              </a:extLst>
            </p:cNvPr>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8" name="Freeform 6">
              <a:extLst>
                <a:ext uri="{FF2B5EF4-FFF2-40B4-BE49-F238E27FC236}">
                  <a16:creationId xmlns:a16="http://schemas.microsoft.com/office/drawing/2014/main" id="{1969BD4D-0C40-739F-FF6B-4214C2BEBC90}"/>
                </a:ext>
              </a:extLst>
            </p:cNvPr>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9" name="Freeform 7">
              <a:extLst>
                <a:ext uri="{FF2B5EF4-FFF2-40B4-BE49-F238E27FC236}">
                  <a16:creationId xmlns:a16="http://schemas.microsoft.com/office/drawing/2014/main" id="{6DB7C37A-1FE6-9BFA-5E83-3EC0F79497F5}"/>
                </a:ext>
              </a:extLst>
            </p:cNvPr>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0" name="Freeform 8">
              <a:extLst>
                <a:ext uri="{FF2B5EF4-FFF2-40B4-BE49-F238E27FC236}">
                  <a16:creationId xmlns:a16="http://schemas.microsoft.com/office/drawing/2014/main" id="{3AEA624F-19C6-31CA-5CD9-7E42ED68DA56}"/>
                </a:ext>
              </a:extLst>
            </p:cNvPr>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1" name="Freeform 9">
              <a:extLst>
                <a:ext uri="{FF2B5EF4-FFF2-40B4-BE49-F238E27FC236}">
                  <a16:creationId xmlns:a16="http://schemas.microsoft.com/office/drawing/2014/main" id="{ED142D15-3F97-1719-8D74-37D26D1CAA33}"/>
                </a:ext>
              </a:extLst>
            </p:cNvPr>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2" name="Freeform 10">
              <a:extLst>
                <a:ext uri="{FF2B5EF4-FFF2-40B4-BE49-F238E27FC236}">
                  <a16:creationId xmlns:a16="http://schemas.microsoft.com/office/drawing/2014/main" id="{6FEBB0B2-4586-05AB-B4FE-055E54F117A8}"/>
                </a:ext>
              </a:extLst>
            </p:cNvPr>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3" name="Oval 11">
              <a:extLst>
                <a:ext uri="{FF2B5EF4-FFF2-40B4-BE49-F238E27FC236}">
                  <a16:creationId xmlns:a16="http://schemas.microsoft.com/office/drawing/2014/main" id="{70877F96-1F23-E1FC-71E9-01EE358F60FD}"/>
                </a:ext>
              </a:extLst>
            </p:cNvPr>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nvGrpSpPr>
          <p:cNvPr id="2" name="Group 1">
            <a:extLst>
              <a:ext uri="{FF2B5EF4-FFF2-40B4-BE49-F238E27FC236}">
                <a16:creationId xmlns:a16="http://schemas.microsoft.com/office/drawing/2014/main" id="{59C8C1D9-B375-1D63-409C-0E8AA8DEE2D1}"/>
              </a:ext>
            </a:extLst>
          </p:cNvPr>
          <p:cNvGrpSpPr/>
          <p:nvPr userDrawn="1"/>
        </p:nvGrpSpPr>
        <p:grpSpPr>
          <a:xfrm>
            <a:off x="9392771" y="767096"/>
            <a:ext cx="2800816" cy="1898696"/>
            <a:chOff x="9390324" y="767096"/>
            <a:chExt cx="2800087" cy="1898696"/>
          </a:xfrm>
        </p:grpSpPr>
        <p:grpSp>
          <p:nvGrpSpPr>
            <p:cNvPr id="76" name="Group 75">
              <a:extLst>
                <a:ext uri="{FF2B5EF4-FFF2-40B4-BE49-F238E27FC236}">
                  <a16:creationId xmlns:a16="http://schemas.microsoft.com/office/drawing/2014/main" id="{04DB0252-2F51-9D54-5F87-47E8112037C5}"/>
                </a:ext>
              </a:extLst>
            </p:cNvPr>
            <p:cNvGrpSpPr/>
            <p:nvPr userDrawn="1"/>
          </p:nvGrpSpPr>
          <p:grpSpPr>
            <a:xfrm>
              <a:off x="9390324" y="936748"/>
              <a:ext cx="1965963" cy="1042086"/>
              <a:chOff x="4988072" y="501936"/>
              <a:chExt cx="1978802" cy="1051017"/>
            </a:xfrm>
            <a:solidFill>
              <a:schemeClr val="bg1"/>
            </a:solidFill>
          </p:grpSpPr>
          <p:sp>
            <p:nvSpPr>
              <p:cNvPr id="85" name="Freeform 5">
                <a:extLst>
                  <a:ext uri="{FF2B5EF4-FFF2-40B4-BE49-F238E27FC236}">
                    <a16:creationId xmlns:a16="http://schemas.microsoft.com/office/drawing/2014/main" id="{433FD598-576F-FFF0-672B-6A9B1AF51242}"/>
                  </a:ext>
                </a:extLst>
              </p:cNvPr>
              <p:cNvSpPr>
                <a:spLocks/>
              </p:cNvSpPr>
              <p:nvPr userDrawn="1"/>
            </p:nvSpPr>
            <p:spPr bwMode="auto">
              <a:xfrm>
                <a:off x="5559016" y="501936"/>
                <a:ext cx="218094" cy="282813"/>
              </a:xfrm>
              <a:custGeom>
                <a:avLst/>
                <a:gdLst>
                  <a:gd name="T0" fmla="*/ 0 w 502"/>
                  <a:gd name="T1" fmla="*/ 550 h 651"/>
                  <a:gd name="T2" fmla="*/ 83 w 502"/>
                  <a:gd name="T3" fmla="*/ 451 h 651"/>
                  <a:gd name="T4" fmla="*/ 272 w 502"/>
                  <a:gd name="T5" fmla="*/ 528 h 651"/>
                  <a:gd name="T6" fmla="*/ 363 w 502"/>
                  <a:gd name="T7" fmla="*/ 469 h 651"/>
                  <a:gd name="T8" fmla="*/ 363 w 502"/>
                  <a:gd name="T9" fmla="*/ 467 h 651"/>
                  <a:gd name="T10" fmla="*/ 236 w 502"/>
                  <a:gd name="T11" fmla="*/ 386 h 651"/>
                  <a:gd name="T12" fmla="*/ 26 w 502"/>
                  <a:gd name="T13" fmla="*/ 192 h 651"/>
                  <a:gd name="T14" fmla="*/ 26 w 502"/>
                  <a:gd name="T15" fmla="*/ 191 h 651"/>
                  <a:gd name="T16" fmla="*/ 247 w 502"/>
                  <a:gd name="T17" fmla="*/ 0 h 651"/>
                  <a:gd name="T18" fmla="*/ 483 w 502"/>
                  <a:gd name="T19" fmla="*/ 80 h 651"/>
                  <a:gd name="T20" fmla="*/ 410 w 502"/>
                  <a:gd name="T21" fmla="*/ 185 h 651"/>
                  <a:gd name="T22" fmla="*/ 246 w 502"/>
                  <a:gd name="T23" fmla="*/ 123 h 651"/>
                  <a:gd name="T24" fmla="*/ 164 w 502"/>
                  <a:gd name="T25" fmla="*/ 178 h 651"/>
                  <a:gd name="T26" fmla="*/ 164 w 502"/>
                  <a:gd name="T27" fmla="*/ 180 h 651"/>
                  <a:gd name="T28" fmla="*/ 301 w 502"/>
                  <a:gd name="T29" fmla="*/ 263 h 651"/>
                  <a:gd name="T30" fmla="*/ 502 w 502"/>
                  <a:gd name="T31" fmla="*/ 453 h 651"/>
                  <a:gd name="T32" fmla="*/ 502 w 502"/>
                  <a:gd name="T33" fmla="*/ 455 h 651"/>
                  <a:gd name="T34" fmla="*/ 269 w 502"/>
                  <a:gd name="T35" fmla="*/ 651 h 651"/>
                  <a:gd name="T36" fmla="*/ 0 w 502"/>
                  <a:gd name="T37" fmla="*/ 55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651">
                    <a:moveTo>
                      <a:pt x="0" y="550"/>
                    </a:moveTo>
                    <a:cubicBezTo>
                      <a:pt x="83" y="451"/>
                      <a:pt x="83" y="451"/>
                      <a:pt x="83" y="451"/>
                    </a:cubicBezTo>
                    <a:cubicBezTo>
                      <a:pt x="140" y="498"/>
                      <a:pt x="200" y="528"/>
                      <a:pt x="272" y="528"/>
                    </a:cubicBezTo>
                    <a:cubicBezTo>
                      <a:pt x="329" y="528"/>
                      <a:pt x="363" y="506"/>
                      <a:pt x="363" y="469"/>
                    </a:cubicBezTo>
                    <a:cubicBezTo>
                      <a:pt x="363" y="467"/>
                      <a:pt x="363" y="467"/>
                      <a:pt x="363" y="467"/>
                    </a:cubicBezTo>
                    <a:cubicBezTo>
                      <a:pt x="363" y="431"/>
                      <a:pt x="342" y="413"/>
                      <a:pt x="236" y="386"/>
                    </a:cubicBezTo>
                    <a:cubicBezTo>
                      <a:pt x="108" y="354"/>
                      <a:pt x="26" y="318"/>
                      <a:pt x="26" y="192"/>
                    </a:cubicBezTo>
                    <a:cubicBezTo>
                      <a:pt x="26" y="191"/>
                      <a:pt x="26" y="191"/>
                      <a:pt x="26" y="191"/>
                    </a:cubicBezTo>
                    <a:cubicBezTo>
                      <a:pt x="26" y="76"/>
                      <a:pt x="118" y="0"/>
                      <a:pt x="247" y="0"/>
                    </a:cubicBezTo>
                    <a:cubicBezTo>
                      <a:pt x="340" y="0"/>
                      <a:pt x="419" y="29"/>
                      <a:pt x="483" y="80"/>
                    </a:cubicBezTo>
                    <a:cubicBezTo>
                      <a:pt x="410" y="185"/>
                      <a:pt x="410" y="185"/>
                      <a:pt x="410" y="185"/>
                    </a:cubicBezTo>
                    <a:cubicBezTo>
                      <a:pt x="354" y="146"/>
                      <a:pt x="299" y="123"/>
                      <a:pt x="246" y="123"/>
                    </a:cubicBezTo>
                    <a:cubicBezTo>
                      <a:pt x="192" y="123"/>
                      <a:pt x="164" y="147"/>
                      <a:pt x="164" y="178"/>
                    </a:cubicBezTo>
                    <a:cubicBezTo>
                      <a:pt x="164" y="180"/>
                      <a:pt x="164" y="180"/>
                      <a:pt x="164" y="180"/>
                    </a:cubicBezTo>
                    <a:cubicBezTo>
                      <a:pt x="164" y="221"/>
                      <a:pt x="191" y="235"/>
                      <a:pt x="301" y="263"/>
                    </a:cubicBezTo>
                    <a:cubicBezTo>
                      <a:pt x="429" y="297"/>
                      <a:pt x="502" y="343"/>
                      <a:pt x="502" y="453"/>
                    </a:cubicBezTo>
                    <a:cubicBezTo>
                      <a:pt x="502" y="455"/>
                      <a:pt x="502" y="455"/>
                      <a:pt x="502" y="455"/>
                    </a:cubicBezTo>
                    <a:cubicBezTo>
                      <a:pt x="502" y="581"/>
                      <a:pt x="406" y="651"/>
                      <a:pt x="269" y="651"/>
                    </a:cubicBezTo>
                    <a:cubicBezTo>
                      <a:pt x="173" y="651"/>
                      <a:pt x="76" y="618"/>
                      <a:pt x="0" y="5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6" name="Freeform 6">
                <a:extLst>
                  <a:ext uri="{FF2B5EF4-FFF2-40B4-BE49-F238E27FC236}">
                    <a16:creationId xmlns:a16="http://schemas.microsoft.com/office/drawing/2014/main" id="{824AAD10-C96C-2D4A-15C2-1D354C7C691E}"/>
                  </a:ext>
                </a:extLst>
              </p:cNvPr>
              <p:cNvSpPr>
                <a:spLocks/>
              </p:cNvSpPr>
              <p:nvPr userDrawn="1"/>
            </p:nvSpPr>
            <p:spPr bwMode="auto">
              <a:xfrm>
                <a:off x="5791295" y="566212"/>
                <a:ext cx="322264" cy="214547"/>
              </a:xfrm>
              <a:custGeom>
                <a:avLst/>
                <a:gdLst>
                  <a:gd name="T0" fmla="*/ 0 w 741"/>
                  <a:gd name="T1" fmla="*/ 9 h 494"/>
                  <a:gd name="T2" fmla="*/ 138 w 741"/>
                  <a:gd name="T3" fmla="*/ 9 h 494"/>
                  <a:gd name="T4" fmla="*/ 138 w 741"/>
                  <a:gd name="T5" fmla="*/ 78 h 494"/>
                  <a:gd name="T6" fmla="*/ 281 w 741"/>
                  <a:gd name="T7" fmla="*/ 0 h 494"/>
                  <a:gd name="T8" fmla="*/ 418 w 741"/>
                  <a:gd name="T9" fmla="*/ 77 h 494"/>
                  <a:gd name="T10" fmla="*/ 577 w 741"/>
                  <a:gd name="T11" fmla="*/ 0 h 494"/>
                  <a:gd name="T12" fmla="*/ 741 w 741"/>
                  <a:gd name="T13" fmla="*/ 178 h 494"/>
                  <a:gd name="T14" fmla="*/ 741 w 741"/>
                  <a:gd name="T15" fmla="*/ 494 h 494"/>
                  <a:gd name="T16" fmla="*/ 603 w 741"/>
                  <a:gd name="T17" fmla="*/ 494 h 494"/>
                  <a:gd name="T18" fmla="*/ 603 w 741"/>
                  <a:gd name="T19" fmla="*/ 224 h 494"/>
                  <a:gd name="T20" fmla="*/ 523 w 741"/>
                  <a:gd name="T21" fmla="*/ 125 h 494"/>
                  <a:gd name="T22" fmla="*/ 439 w 741"/>
                  <a:gd name="T23" fmla="*/ 224 h 494"/>
                  <a:gd name="T24" fmla="*/ 439 w 741"/>
                  <a:gd name="T25" fmla="*/ 494 h 494"/>
                  <a:gd name="T26" fmla="*/ 302 w 741"/>
                  <a:gd name="T27" fmla="*/ 494 h 494"/>
                  <a:gd name="T28" fmla="*/ 302 w 741"/>
                  <a:gd name="T29" fmla="*/ 224 h 494"/>
                  <a:gd name="T30" fmla="*/ 221 w 741"/>
                  <a:gd name="T31" fmla="*/ 125 h 494"/>
                  <a:gd name="T32" fmla="*/ 138 w 741"/>
                  <a:gd name="T33" fmla="*/ 224 h 494"/>
                  <a:gd name="T34" fmla="*/ 138 w 741"/>
                  <a:gd name="T35" fmla="*/ 494 h 494"/>
                  <a:gd name="T36" fmla="*/ 0 w 741"/>
                  <a:gd name="T37" fmla="*/ 494 h 494"/>
                  <a:gd name="T38" fmla="*/ 0 w 741"/>
                  <a:gd name="T39"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1" h="494">
                    <a:moveTo>
                      <a:pt x="0" y="9"/>
                    </a:moveTo>
                    <a:cubicBezTo>
                      <a:pt x="138" y="9"/>
                      <a:pt x="138" y="9"/>
                      <a:pt x="138" y="9"/>
                    </a:cubicBezTo>
                    <a:cubicBezTo>
                      <a:pt x="138" y="78"/>
                      <a:pt x="138" y="78"/>
                      <a:pt x="138" y="78"/>
                    </a:cubicBezTo>
                    <a:cubicBezTo>
                      <a:pt x="170" y="37"/>
                      <a:pt x="211" y="0"/>
                      <a:pt x="281" y="0"/>
                    </a:cubicBezTo>
                    <a:cubicBezTo>
                      <a:pt x="344" y="0"/>
                      <a:pt x="392" y="28"/>
                      <a:pt x="418" y="77"/>
                    </a:cubicBezTo>
                    <a:cubicBezTo>
                      <a:pt x="460" y="27"/>
                      <a:pt x="511" y="0"/>
                      <a:pt x="577" y="0"/>
                    </a:cubicBezTo>
                    <a:cubicBezTo>
                      <a:pt x="679" y="0"/>
                      <a:pt x="741" y="62"/>
                      <a:pt x="741" y="178"/>
                    </a:cubicBezTo>
                    <a:cubicBezTo>
                      <a:pt x="741" y="494"/>
                      <a:pt x="741" y="494"/>
                      <a:pt x="741" y="494"/>
                    </a:cubicBezTo>
                    <a:cubicBezTo>
                      <a:pt x="603" y="494"/>
                      <a:pt x="603" y="494"/>
                      <a:pt x="603" y="494"/>
                    </a:cubicBezTo>
                    <a:cubicBezTo>
                      <a:pt x="603" y="224"/>
                      <a:pt x="603" y="224"/>
                      <a:pt x="603" y="224"/>
                    </a:cubicBezTo>
                    <a:cubicBezTo>
                      <a:pt x="603" y="159"/>
                      <a:pt x="574" y="125"/>
                      <a:pt x="523" y="125"/>
                    </a:cubicBezTo>
                    <a:cubicBezTo>
                      <a:pt x="471" y="125"/>
                      <a:pt x="439" y="159"/>
                      <a:pt x="439" y="224"/>
                    </a:cubicBezTo>
                    <a:cubicBezTo>
                      <a:pt x="439" y="494"/>
                      <a:pt x="439" y="494"/>
                      <a:pt x="439" y="494"/>
                    </a:cubicBezTo>
                    <a:cubicBezTo>
                      <a:pt x="302" y="494"/>
                      <a:pt x="302" y="494"/>
                      <a:pt x="302" y="494"/>
                    </a:cubicBezTo>
                    <a:cubicBezTo>
                      <a:pt x="302" y="224"/>
                      <a:pt x="302" y="224"/>
                      <a:pt x="302" y="224"/>
                    </a:cubicBezTo>
                    <a:cubicBezTo>
                      <a:pt x="302" y="159"/>
                      <a:pt x="273" y="125"/>
                      <a:pt x="221" y="125"/>
                    </a:cubicBezTo>
                    <a:cubicBezTo>
                      <a:pt x="170" y="125"/>
                      <a:pt x="138" y="159"/>
                      <a:pt x="138" y="224"/>
                    </a:cubicBezTo>
                    <a:cubicBezTo>
                      <a:pt x="138" y="494"/>
                      <a:pt x="138" y="494"/>
                      <a:pt x="138"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7" name="Freeform 7">
                <a:extLst>
                  <a:ext uri="{FF2B5EF4-FFF2-40B4-BE49-F238E27FC236}">
                    <a16:creationId xmlns:a16="http://schemas.microsoft.com/office/drawing/2014/main" id="{8776387C-7DBE-0FBD-3AED-689433E76864}"/>
                  </a:ext>
                </a:extLst>
              </p:cNvPr>
              <p:cNvSpPr>
                <a:spLocks noEditPoints="1"/>
              </p:cNvSpPr>
              <p:nvPr userDrawn="1"/>
            </p:nvSpPr>
            <p:spPr bwMode="auto">
              <a:xfrm>
                <a:off x="6125971" y="567985"/>
                <a:ext cx="193713" cy="216764"/>
              </a:xfrm>
              <a:custGeom>
                <a:avLst/>
                <a:gdLst>
                  <a:gd name="T0" fmla="*/ 0 w 446"/>
                  <a:gd name="T1" fmla="*/ 351 h 499"/>
                  <a:gd name="T2" fmla="*/ 0 w 446"/>
                  <a:gd name="T3" fmla="*/ 349 h 499"/>
                  <a:gd name="T4" fmla="*/ 195 w 446"/>
                  <a:gd name="T5" fmla="*/ 194 h 499"/>
                  <a:gd name="T6" fmla="*/ 314 w 446"/>
                  <a:gd name="T7" fmla="*/ 214 h 499"/>
                  <a:gd name="T8" fmla="*/ 314 w 446"/>
                  <a:gd name="T9" fmla="*/ 206 h 499"/>
                  <a:gd name="T10" fmla="*/ 210 w 446"/>
                  <a:gd name="T11" fmla="*/ 117 h 499"/>
                  <a:gd name="T12" fmla="*/ 76 w 446"/>
                  <a:gd name="T13" fmla="*/ 144 h 499"/>
                  <a:gd name="T14" fmla="*/ 42 w 446"/>
                  <a:gd name="T15" fmla="*/ 39 h 499"/>
                  <a:gd name="T16" fmla="*/ 230 w 446"/>
                  <a:gd name="T17" fmla="*/ 0 h 499"/>
                  <a:gd name="T18" fmla="*/ 394 w 446"/>
                  <a:gd name="T19" fmla="*/ 54 h 499"/>
                  <a:gd name="T20" fmla="*/ 446 w 446"/>
                  <a:gd name="T21" fmla="*/ 209 h 499"/>
                  <a:gd name="T22" fmla="*/ 446 w 446"/>
                  <a:gd name="T23" fmla="*/ 490 h 499"/>
                  <a:gd name="T24" fmla="*/ 313 w 446"/>
                  <a:gd name="T25" fmla="*/ 490 h 499"/>
                  <a:gd name="T26" fmla="*/ 313 w 446"/>
                  <a:gd name="T27" fmla="*/ 438 h 499"/>
                  <a:gd name="T28" fmla="*/ 166 w 446"/>
                  <a:gd name="T29" fmla="*/ 499 h 499"/>
                  <a:gd name="T30" fmla="*/ 0 w 446"/>
                  <a:gd name="T31" fmla="*/ 351 h 499"/>
                  <a:gd name="T32" fmla="*/ 316 w 446"/>
                  <a:gd name="T33" fmla="*/ 319 h 499"/>
                  <a:gd name="T34" fmla="*/ 316 w 446"/>
                  <a:gd name="T35" fmla="*/ 295 h 499"/>
                  <a:gd name="T36" fmla="*/ 228 w 446"/>
                  <a:gd name="T37" fmla="*/ 277 h 499"/>
                  <a:gd name="T38" fmla="*/ 133 w 446"/>
                  <a:gd name="T39" fmla="*/ 344 h 499"/>
                  <a:gd name="T40" fmla="*/ 133 w 446"/>
                  <a:gd name="T41" fmla="*/ 346 h 499"/>
                  <a:gd name="T42" fmla="*/ 208 w 446"/>
                  <a:gd name="T43" fmla="*/ 404 h 499"/>
                  <a:gd name="T44" fmla="*/ 316 w 446"/>
                  <a:gd name="T45" fmla="*/ 31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499">
                    <a:moveTo>
                      <a:pt x="0" y="351"/>
                    </a:moveTo>
                    <a:cubicBezTo>
                      <a:pt x="0" y="349"/>
                      <a:pt x="0" y="349"/>
                      <a:pt x="0" y="349"/>
                    </a:cubicBezTo>
                    <a:cubicBezTo>
                      <a:pt x="0" y="243"/>
                      <a:pt x="80" y="194"/>
                      <a:pt x="195" y="194"/>
                    </a:cubicBezTo>
                    <a:cubicBezTo>
                      <a:pt x="244" y="194"/>
                      <a:pt x="280" y="202"/>
                      <a:pt x="314" y="214"/>
                    </a:cubicBezTo>
                    <a:cubicBezTo>
                      <a:pt x="314" y="206"/>
                      <a:pt x="314" y="206"/>
                      <a:pt x="314" y="206"/>
                    </a:cubicBezTo>
                    <a:cubicBezTo>
                      <a:pt x="314" y="149"/>
                      <a:pt x="279" y="117"/>
                      <a:pt x="210" y="117"/>
                    </a:cubicBezTo>
                    <a:cubicBezTo>
                      <a:pt x="157" y="117"/>
                      <a:pt x="120" y="127"/>
                      <a:pt x="76" y="144"/>
                    </a:cubicBezTo>
                    <a:cubicBezTo>
                      <a:pt x="42" y="39"/>
                      <a:pt x="42" y="39"/>
                      <a:pt x="42" y="39"/>
                    </a:cubicBezTo>
                    <a:cubicBezTo>
                      <a:pt x="95" y="15"/>
                      <a:pt x="147" y="0"/>
                      <a:pt x="230" y="0"/>
                    </a:cubicBezTo>
                    <a:cubicBezTo>
                      <a:pt x="305" y="0"/>
                      <a:pt x="359" y="20"/>
                      <a:pt x="394" y="54"/>
                    </a:cubicBezTo>
                    <a:cubicBezTo>
                      <a:pt x="430" y="90"/>
                      <a:pt x="446" y="144"/>
                      <a:pt x="446" y="209"/>
                    </a:cubicBezTo>
                    <a:cubicBezTo>
                      <a:pt x="446" y="490"/>
                      <a:pt x="446" y="490"/>
                      <a:pt x="446" y="490"/>
                    </a:cubicBezTo>
                    <a:cubicBezTo>
                      <a:pt x="313" y="490"/>
                      <a:pt x="313" y="490"/>
                      <a:pt x="313" y="490"/>
                    </a:cubicBezTo>
                    <a:cubicBezTo>
                      <a:pt x="313" y="438"/>
                      <a:pt x="313" y="438"/>
                      <a:pt x="313" y="438"/>
                    </a:cubicBezTo>
                    <a:cubicBezTo>
                      <a:pt x="280" y="475"/>
                      <a:pt x="233" y="499"/>
                      <a:pt x="166" y="499"/>
                    </a:cubicBezTo>
                    <a:cubicBezTo>
                      <a:pt x="75" y="499"/>
                      <a:pt x="0" y="447"/>
                      <a:pt x="0" y="351"/>
                    </a:cubicBezTo>
                    <a:close/>
                    <a:moveTo>
                      <a:pt x="316" y="319"/>
                    </a:moveTo>
                    <a:cubicBezTo>
                      <a:pt x="316" y="295"/>
                      <a:pt x="316" y="295"/>
                      <a:pt x="316" y="295"/>
                    </a:cubicBezTo>
                    <a:cubicBezTo>
                      <a:pt x="292" y="284"/>
                      <a:pt x="262" y="277"/>
                      <a:pt x="228" y="277"/>
                    </a:cubicBezTo>
                    <a:cubicBezTo>
                      <a:pt x="169" y="277"/>
                      <a:pt x="133" y="300"/>
                      <a:pt x="133" y="344"/>
                    </a:cubicBezTo>
                    <a:cubicBezTo>
                      <a:pt x="133" y="346"/>
                      <a:pt x="133" y="346"/>
                      <a:pt x="133" y="346"/>
                    </a:cubicBezTo>
                    <a:cubicBezTo>
                      <a:pt x="133" y="383"/>
                      <a:pt x="164" y="404"/>
                      <a:pt x="208" y="404"/>
                    </a:cubicBezTo>
                    <a:cubicBezTo>
                      <a:pt x="272" y="404"/>
                      <a:pt x="316" y="369"/>
                      <a:pt x="316" y="3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8" name="Freeform 8">
                <a:extLst>
                  <a:ext uri="{FF2B5EF4-FFF2-40B4-BE49-F238E27FC236}">
                    <a16:creationId xmlns:a16="http://schemas.microsoft.com/office/drawing/2014/main" id="{262E0FEC-2981-11B0-3D88-8A94D08178CF}"/>
                  </a:ext>
                </a:extLst>
              </p:cNvPr>
              <p:cNvSpPr>
                <a:spLocks/>
              </p:cNvSpPr>
              <p:nvPr userDrawn="1"/>
            </p:nvSpPr>
            <p:spPr bwMode="auto">
              <a:xfrm>
                <a:off x="6336529" y="564438"/>
                <a:ext cx="127665"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9" name="Freeform 9">
                <a:extLst>
                  <a:ext uri="{FF2B5EF4-FFF2-40B4-BE49-F238E27FC236}">
                    <a16:creationId xmlns:a16="http://schemas.microsoft.com/office/drawing/2014/main" id="{FECC1288-545E-BDB4-6462-3EE5544D7025}"/>
                  </a:ext>
                </a:extLst>
              </p:cNvPr>
              <p:cNvSpPr>
                <a:spLocks/>
              </p:cNvSpPr>
              <p:nvPr userDrawn="1"/>
            </p:nvSpPr>
            <p:spPr bwMode="auto">
              <a:xfrm>
                <a:off x="6475719" y="516121"/>
                <a:ext cx="134757" cy="268184"/>
              </a:xfrm>
              <a:custGeom>
                <a:avLst/>
                <a:gdLst>
                  <a:gd name="T0" fmla="*/ 58 w 310"/>
                  <a:gd name="T1" fmla="*/ 472 h 617"/>
                  <a:gd name="T2" fmla="*/ 58 w 310"/>
                  <a:gd name="T3" fmla="*/ 242 h 617"/>
                  <a:gd name="T4" fmla="*/ 0 w 310"/>
                  <a:gd name="T5" fmla="*/ 242 h 617"/>
                  <a:gd name="T6" fmla="*/ 0 w 310"/>
                  <a:gd name="T7" fmla="*/ 124 h 617"/>
                  <a:gd name="T8" fmla="*/ 58 w 310"/>
                  <a:gd name="T9" fmla="*/ 124 h 617"/>
                  <a:gd name="T10" fmla="*/ 58 w 310"/>
                  <a:gd name="T11" fmla="*/ 0 h 617"/>
                  <a:gd name="T12" fmla="*/ 196 w 310"/>
                  <a:gd name="T13" fmla="*/ 0 h 617"/>
                  <a:gd name="T14" fmla="*/ 196 w 310"/>
                  <a:gd name="T15" fmla="*/ 124 h 617"/>
                  <a:gd name="T16" fmla="*/ 310 w 310"/>
                  <a:gd name="T17" fmla="*/ 124 h 617"/>
                  <a:gd name="T18" fmla="*/ 310 w 310"/>
                  <a:gd name="T19" fmla="*/ 242 h 617"/>
                  <a:gd name="T20" fmla="*/ 196 w 310"/>
                  <a:gd name="T21" fmla="*/ 242 h 617"/>
                  <a:gd name="T22" fmla="*/ 196 w 310"/>
                  <a:gd name="T23" fmla="*/ 449 h 617"/>
                  <a:gd name="T24" fmla="*/ 240 w 310"/>
                  <a:gd name="T25" fmla="*/ 496 h 617"/>
                  <a:gd name="T26" fmla="*/ 308 w 310"/>
                  <a:gd name="T27" fmla="*/ 479 h 617"/>
                  <a:gd name="T28" fmla="*/ 308 w 310"/>
                  <a:gd name="T29" fmla="*/ 589 h 617"/>
                  <a:gd name="T30" fmla="*/ 199 w 310"/>
                  <a:gd name="T31" fmla="*/ 617 h 617"/>
                  <a:gd name="T32" fmla="*/ 58 w 310"/>
                  <a:gd name="T33" fmla="*/ 472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7">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6" y="0"/>
                      <a:pt x="196" y="0"/>
                      <a:pt x="196" y="0"/>
                    </a:cubicBezTo>
                    <a:cubicBezTo>
                      <a:pt x="196" y="124"/>
                      <a:pt x="196" y="124"/>
                      <a:pt x="196" y="124"/>
                    </a:cubicBezTo>
                    <a:cubicBezTo>
                      <a:pt x="310" y="124"/>
                      <a:pt x="310" y="124"/>
                      <a:pt x="310" y="124"/>
                    </a:cubicBezTo>
                    <a:cubicBezTo>
                      <a:pt x="310" y="242"/>
                      <a:pt x="310" y="242"/>
                      <a:pt x="310" y="242"/>
                    </a:cubicBezTo>
                    <a:cubicBezTo>
                      <a:pt x="196" y="242"/>
                      <a:pt x="196" y="242"/>
                      <a:pt x="196" y="242"/>
                    </a:cubicBezTo>
                    <a:cubicBezTo>
                      <a:pt x="196" y="449"/>
                      <a:pt x="196" y="449"/>
                      <a:pt x="196" y="449"/>
                    </a:cubicBezTo>
                    <a:cubicBezTo>
                      <a:pt x="196" y="481"/>
                      <a:pt x="209" y="496"/>
                      <a:pt x="240" y="496"/>
                    </a:cubicBezTo>
                    <a:cubicBezTo>
                      <a:pt x="265" y="496"/>
                      <a:pt x="288" y="490"/>
                      <a:pt x="308" y="479"/>
                    </a:cubicBezTo>
                    <a:cubicBezTo>
                      <a:pt x="308" y="589"/>
                      <a:pt x="308" y="589"/>
                      <a:pt x="308" y="589"/>
                    </a:cubicBezTo>
                    <a:cubicBezTo>
                      <a:pt x="279" y="607"/>
                      <a:pt x="245" y="617"/>
                      <a:pt x="199" y="617"/>
                    </a:cubicBezTo>
                    <a:cubicBezTo>
                      <a:pt x="115" y="617"/>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0" name="Freeform 10">
                <a:extLst>
                  <a:ext uri="{FF2B5EF4-FFF2-40B4-BE49-F238E27FC236}">
                    <a16:creationId xmlns:a16="http://schemas.microsoft.com/office/drawing/2014/main" id="{9DB49BE1-F1C8-5A4F-1BE7-B9C5B671A4B9}"/>
                  </a:ext>
                </a:extLst>
              </p:cNvPr>
              <p:cNvSpPr>
                <a:spLocks noEditPoints="1"/>
              </p:cNvSpPr>
              <p:nvPr userDrawn="1"/>
            </p:nvSpPr>
            <p:spPr bwMode="auto">
              <a:xfrm>
                <a:off x="6618455" y="566212"/>
                <a:ext cx="207012" cy="219424"/>
              </a:xfrm>
              <a:custGeom>
                <a:avLst/>
                <a:gdLst>
                  <a:gd name="T0" fmla="*/ 0 w 476"/>
                  <a:gd name="T1" fmla="*/ 254 h 505"/>
                  <a:gd name="T2" fmla="*/ 0 w 476"/>
                  <a:gd name="T3" fmla="*/ 253 h 505"/>
                  <a:gd name="T4" fmla="*/ 240 w 476"/>
                  <a:gd name="T5" fmla="*/ 0 h 505"/>
                  <a:gd name="T6" fmla="*/ 476 w 476"/>
                  <a:gd name="T7" fmla="*/ 263 h 505"/>
                  <a:gd name="T8" fmla="*/ 475 w 476"/>
                  <a:gd name="T9" fmla="*/ 300 h 505"/>
                  <a:gd name="T10" fmla="*/ 137 w 476"/>
                  <a:gd name="T11" fmla="*/ 300 h 505"/>
                  <a:gd name="T12" fmla="*/ 256 w 476"/>
                  <a:gd name="T13" fmla="*/ 395 h 505"/>
                  <a:gd name="T14" fmla="*/ 373 w 476"/>
                  <a:gd name="T15" fmla="*/ 345 h 505"/>
                  <a:gd name="T16" fmla="*/ 452 w 476"/>
                  <a:gd name="T17" fmla="*/ 415 h 505"/>
                  <a:gd name="T18" fmla="*/ 254 w 476"/>
                  <a:gd name="T19" fmla="*/ 505 h 505"/>
                  <a:gd name="T20" fmla="*/ 0 w 476"/>
                  <a:gd name="T21" fmla="*/ 254 h 505"/>
                  <a:gd name="T22" fmla="*/ 342 w 476"/>
                  <a:gd name="T23" fmla="*/ 214 h 505"/>
                  <a:gd name="T24" fmla="*/ 240 w 476"/>
                  <a:gd name="T25" fmla="*/ 111 h 505"/>
                  <a:gd name="T26" fmla="*/ 135 w 476"/>
                  <a:gd name="T27" fmla="*/ 214 h 505"/>
                  <a:gd name="T28" fmla="*/ 342 w 476"/>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6" h="505">
                    <a:moveTo>
                      <a:pt x="0" y="254"/>
                    </a:moveTo>
                    <a:cubicBezTo>
                      <a:pt x="0" y="253"/>
                      <a:pt x="0" y="253"/>
                      <a:pt x="0" y="253"/>
                    </a:cubicBezTo>
                    <a:cubicBezTo>
                      <a:pt x="0" y="114"/>
                      <a:pt x="99" y="0"/>
                      <a:pt x="240" y="0"/>
                    </a:cubicBezTo>
                    <a:cubicBezTo>
                      <a:pt x="402" y="0"/>
                      <a:pt x="476" y="126"/>
                      <a:pt x="476" y="263"/>
                    </a:cubicBezTo>
                    <a:cubicBezTo>
                      <a:pt x="476"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2" y="214"/>
                    </a:moveTo>
                    <a:cubicBezTo>
                      <a:pt x="334" y="152"/>
                      <a:pt x="298" y="111"/>
                      <a:pt x="240" y="111"/>
                    </a:cubicBezTo>
                    <a:cubicBezTo>
                      <a:pt x="183" y="111"/>
                      <a:pt x="146" y="151"/>
                      <a:pt x="135" y="214"/>
                    </a:cubicBezTo>
                    <a:lnTo>
                      <a:pt x="342"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1" name="Freeform 11">
                <a:extLst>
                  <a:ext uri="{FF2B5EF4-FFF2-40B4-BE49-F238E27FC236}">
                    <a16:creationId xmlns:a16="http://schemas.microsoft.com/office/drawing/2014/main" id="{5700CEE7-82FA-F314-D150-00348A9C1993}"/>
                  </a:ext>
                </a:extLst>
              </p:cNvPr>
              <p:cNvSpPr>
                <a:spLocks/>
              </p:cNvSpPr>
              <p:nvPr userDrawn="1"/>
            </p:nvSpPr>
            <p:spPr bwMode="auto">
              <a:xfrm>
                <a:off x="6837879" y="564438"/>
                <a:ext cx="127221"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2" name="Freeform 12">
                <a:extLst>
                  <a:ext uri="{FF2B5EF4-FFF2-40B4-BE49-F238E27FC236}">
                    <a16:creationId xmlns:a16="http://schemas.microsoft.com/office/drawing/2014/main" id="{FC0AB9F7-3D02-4537-31F6-D98B2250C9F3}"/>
                  </a:ext>
                </a:extLst>
              </p:cNvPr>
              <p:cNvSpPr>
                <a:spLocks/>
              </p:cNvSpPr>
              <p:nvPr userDrawn="1"/>
            </p:nvSpPr>
            <p:spPr bwMode="auto">
              <a:xfrm>
                <a:off x="4988072" y="888476"/>
                <a:ext cx="134757" cy="268628"/>
              </a:xfrm>
              <a:custGeom>
                <a:avLst/>
                <a:gdLst>
                  <a:gd name="T0" fmla="*/ 58 w 310"/>
                  <a:gd name="T1" fmla="*/ 472 h 618"/>
                  <a:gd name="T2" fmla="*/ 58 w 310"/>
                  <a:gd name="T3" fmla="*/ 242 h 618"/>
                  <a:gd name="T4" fmla="*/ 0 w 310"/>
                  <a:gd name="T5" fmla="*/ 242 h 618"/>
                  <a:gd name="T6" fmla="*/ 0 w 310"/>
                  <a:gd name="T7" fmla="*/ 124 h 618"/>
                  <a:gd name="T8" fmla="*/ 58 w 310"/>
                  <a:gd name="T9" fmla="*/ 124 h 618"/>
                  <a:gd name="T10" fmla="*/ 58 w 310"/>
                  <a:gd name="T11" fmla="*/ 0 h 618"/>
                  <a:gd name="T12" fmla="*/ 195 w 310"/>
                  <a:gd name="T13" fmla="*/ 0 h 618"/>
                  <a:gd name="T14" fmla="*/ 195 w 310"/>
                  <a:gd name="T15" fmla="*/ 124 h 618"/>
                  <a:gd name="T16" fmla="*/ 310 w 310"/>
                  <a:gd name="T17" fmla="*/ 124 h 618"/>
                  <a:gd name="T18" fmla="*/ 310 w 310"/>
                  <a:gd name="T19" fmla="*/ 242 h 618"/>
                  <a:gd name="T20" fmla="*/ 195 w 310"/>
                  <a:gd name="T21" fmla="*/ 242 h 618"/>
                  <a:gd name="T22" fmla="*/ 195 w 310"/>
                  <a:gd name="T23" fmla="*/ 449 h 618"/>
                  <a:gd name="T24" fmla="*/ 240 w 310"/>
                  <a:gd name="T25" fmla="*/ 496 h 618"/>
                  <a:gd name="T26" fmla="*/ 308 w 310"/>
                  <a:gd name="T27" fmla="*/ 479 h 618"/>
                  <a:gd name="T28" fmla="*/ 308 w 310"/>
                  <a:gd name="T29" fmla="*/ 590 h 618"/>
                  <a:gd name="T30" fmla="*/ 199 w 310"/>
                  <a:gd name="T31" fmla="*/ 618 h 618"/>
                  <a:gd name="T32" fmla="*/ 58 w 310"/>
                  <a:gd name="T33" fmla="*/ 472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8">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5" y="0"/>
                      <a:pt x="195" y="0"/>
                      <a:pt x="195" y="0"/>
                    </a:cubicBezTo>
                    <a:cubicBezTo>
                      <a:pt x="195" y="124"/>
                      <a:pt x="195" y="124"/>
                      <a:pt x="195" y="124"/>
                    </a:cubicBezTo>
                    <a:cubicBezTo>
                      <a:pt x="310" y="124"/>
                      <a:pt x="310" y="124"/>
                      <a:pt x="310" y="124"/>
                    </a:cubicBezTo>
                    <a:cubicBezTo>
                      <a:pt x="310" y="242"/>
                      <a:pt x="310" y="242"/>
                      <a:pt x="310" y="242"/>
                    </a:cubicBezTo>
                    <a:cubicBezTo>
                      <a:pt x="195" y="242"/>
                      <a:pt x="195" y="242"/>
                      <a:pt x="195" y="242"/>
                    </a:cubicBezTo>
                    <a:cubicBezTo>
                      <a:pt x="195" y="449"/>
                      <a:pt x="195" y="449"/>
                      <a:pt x="195" y="449"/>
                    </a:cubicBezTo>
                    <a:cubicBezTo>
                      <a:pt x="195" y="481"/>
                      <a:pt x="209" y="496"/>
                      <a:pt x="240" y="496"/>
                    </a:cubicBezTo>
                    <a:cubicBezTo>
                      <a:pt x="265" y="496"/>
                      <a:pt x="288" y="490"/>
                      <a:pt x="308" y="479"/>
                    </a:cubicBezTo>
                    <a:cubicBezTo>
                      <a:pt x="308" y="590"/>
                      <a:pt x="308" y="590"/>
                      <a:pt x="308" y="590"/>
                    </a:cubicBezTo>
                    <a:cubicBezTo>
                      <a:pt x="279" y="607"/>
                      <a:pt x="245" y="618"/>
                      <a:pt x="199" y="618"/>
                    </a:cubicBezTo>
                    <a:cubicBezTo>
                      <a:pt x="115" y="618"/>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3" name="Freeform 13">
                <a:extLst>
                  <a:ext uri="{FF2B5EF4-FFF2-40B4-BE49-F238E27FC236}">
                    <a16:creationId xmlns:a16="http://schemas.microsoft.com/office/drawing/2014/main" id="{12D11DBC-90A7-4337-F6CB-C20DBD872CBD}"/>
                  </a:ext>
                </a:extLst>
              </p:cNvPr>
              <p:cNvSpPr>
                <a:spLocks noEditPoints="1"/>
              </p:cNvSpPr>
              <p:nvPr userDrawn="1"/>
            </p:nvSpPr>
            <p:spPr bwMode="auto">
              <a:xfrm>
                <a:off x="5131251" y="938123"/>
                <a:ext cx="207455" cy="219867"/>
              </a:xfrm>
              <a:custGeom>
                <a:avLst/>
                <a:gdLst>
                  <a:gd name="T0" fmla="*/ 0 w 477"/>
                  <a:gd name="T1" fmla="*/ 254 h 505"/>
                  <a:gd name="T2" fmla="*/ 0 w 477"/>
                  <a:gd name="T3" fmla="*/ 253 h 505"/>
                  <a:gd name="T4" fmla="*/ 240 w 477"/>
                  <a:gd name="T5" fmla="*/ 0 h 505"/>
                  <a:gd name="T6" fmla="*/ 477 w 477"/>
                  <a:gd name="T7" fmla="*/ 263 h 505"/>
                  <a:gd name="T8" fmla="*/ 475 w 477"/>
                  <a:gd name="T9" fmla="*/ 300 h 505"/>
                  <a:gd name="T10" fmla="*/ 137 w 477"/>
                  <a:gd name="T11" fmla="*/ 300 h 505"/>
                  <a:gd name="T12" fmla="*/ 256 w 477"/>
                  <a:gd name="T13" fmla="*/ 395 h 505"/>
                  <a:gd name="T14" fmla="*/ 373 w 477"/>
                  <a:gd name="T15" fmla="*/ 345 h 505"/>
                  <a:gd name="T16" fmla="*/ 452 w 477"/>
                  <a:gd name="T17" fmla="*/ 415 h 505"/>
                  <a:gd name="T18" fmla="*/ 254 w 477"/>
                  <a:gd name="T19" fmla="*/ 505 h 505"/>
                  <a:gd name="T20" fmla="*/ 0 w 477"/>
                  <a:gd name="T21" fmla="*/ 254 h 505"/>
                  <a:gd name="T22" fmla="*/ 343 w 477"/>
                  <a:gd name="T23" fmla="*/ 214 h 505"/>
                  <a:gd name="T24" fmla="*/ 240 w 477"/>
                  <a:gd name="T25" fmla="*/ 111 h 505"/>
                  <a:gd name="T26" fmla="*/ 135 w 477"/>
                  <a:gd name="T27" fmla="*/ 214 h 505"/>
                  <a:gd name="T28" fmla="*/ 343 w 477"/>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7" h="505">
                    <a:moveTo>
                      <a:pt x="0" y="254"/>
                    </a:moveTo>
                    <a:cubicBezTo>
                      <a:pt x="0" y="253"/>
                      <a:pt x="0" y="253"/>
                      <a:pt x="0" y="253"/>
                    </a:cubicBezTo>
                    <a:cubicBezTo>
                      <a:pt x="0" y="114"/>
                      <a:pt x="99" y="0"/>
                      <a:pt x="240" y="0"/>
                    </a:cubicBezTo>
                    <a:cubicBezTo>
                      <a:pt x="402" y="0"/>
                      <a:pt x="477" y="126"/>
                      <a:pt x="477" y="263"/>
                    </a:cubicBezTo>
                    <a:cubicBezTo>
                      <a:pt x="477"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3" y="214"/>
                    </a:moveTo>
                    <a:cubicBezTo>
                      <a:pt x="334" y="152"/>
                      <a:pt x="298" y="111"/>
                      <a:pt x="240" y="111"/>
                    </a:cubicBezTo>
                    <a:cubicBezTo>
                      <a:pt x="183" y="111"/>
                      <a:pt x="146" y="151"/>
                      <a:pt x="135" y="214"/>
                    </a:cubicBezTo>
                    <a:lnTo>
                      <a:pt x="343"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4" name="Freeform 14">
                <a:extLst>
                  <a:ext uri="{FF2B5EF4-FFF2-40B4-BE49-F238E27FC236}">
                    <a16:creationId xmlns:a16="http://schemas.microsoft.com/office/drawing/2014/main" id="{F524D8E9-37C3-A27E-30E8-DF8ACF25D41F}"/>
                  </a:ext>
                </a:extLst>
              </p:cNvPr>
              <p:cNvSpPr>
                <a:spLocks/>
              </p:cNvSpPr>
              <p:nvPr userDrawn="1"/>
            </p:nvSpPr>
            <p:spPr bwMode="auto">
              <a:xfrm>
                <a:off x="5348015" y="938123"/>
                <a:ext cx="195486" cy="219867"/>
              </a:xfrm>
              <a:custGeom>
                <a:avLst/>
                <a:gdLst>
                  <a:gd name="T0" fmla="*/ 0 w 450"/>
                  <a:gd name="T1" fmla="*/ 254 h 505"/>
                  <a:gd name="T2" fmla="*/ 0 w 450"/>
                  <a:gd name="T3" fmla="*/ 253 h 505"/>
                  <a:gd name="T4" fmla="*/ 254 w 450"/>
                  <a:gd name="T5" fmla="*/ 0 h 505"/>
                  <a:gd name="T6" fmla="*/ 448 w 450"/>
                  <a:gd name="T7" fmla="*/ 82 h 505"/>
                  <a:gd name="T8" fmla="*/ 363 w 450"/>
                  <a:gd name="T9" fmla="*/ 172 h 505"/>
                  <a:gd name="T10" fmla="*/ 253 w 450"/>
                  <a:gd name="T11" fmla="*/ 119 h 505"/>
                  <a:gd name="T12" fmla="*/ 135 w 450"/>
                  <a:gd name="T13" fmla="*/ 251 h 505"/>
                  <a:gd name="T14" fmla="*/ 135 w 450"/>
                  <a:gd name="T15" fmla="*/ 253 h 505"/>
                  <a:gd name="T16" fmla="*/ 258 w 450"/>
                  <a:gd name="T17" fmla="*/ 387 h 505"/>
                  <a:gd name="T18" fmla="*/ 370 w 450"/>
                  <a:gd name="T19" fmla="*/ 335 h 505"/>
                  <a:gd name="T20" fmla="*/ 450 w 450"/>
                  <a:gd name="T21" fmla="*/ 416 h 505"/>
                  <a:gd name="T22" fmla="*/ 252 w 450"/>
                  <a:gd name="T23" fmla="*/ 505 h 505"/>
                  <a:gd name="T24" fmla="*/ 0 w 450"/>
                  <a:gd name="T25"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0" h="505">
                    <a:moveTo>
                      <a:pt x="0" y="254"/>
                    </a:moveTo>
                    <a:cubicBezTo>
                      <a:pt x="0" y="253"/>
                      <a:pt x="0" y="253"/>
                      <a:pt x="0" y="253"/>
                    </a:cubicBezTo>
                    <a:cubicBezTo>
                      <a:pt x="0" y="114"/>
                      <a:pt x="106" y="0"/>
                      <a:pt x="254" y="0"/>
                    </a:cubicBezTo>
                    <a:cubicBezTo>
                      <a:pt x="345" y="0"/>
                      <a:pt x="402" y="31"/>
                      <a:pt x="448" y="82"/>
                    </a:cubicBezTo>
                    <a:cubicBezTo>
                      <a:pt x="363" y="172"/>
                      <a:pt x="363" y="172"/>
                      <a:pt x="363" y="172"/>
                    </a:cubicBezTo>
                    <a:cubicBezTo>
                      <a:pt x="333" y="139"/>
                      <a:pt x="302" y="119"/>
                      <a:pt x="253" y="119"/>
                    </a:cubicBezTo>
                    <a:cubicBezTo>
                      <a:pt x="184" y="119"/>
                      <a:pt x="135" y="179"/>
                      <a:pt x="135" y="251"/>
                    </a:cubicBezTo>
                    <a:cubicBezTo>
                      <a:pt x="135" y="253"/>
                      <a:pt x="135" y="253"/>
                      <a:pt x="135" y="253"/>
                    </a:cubicBezTo>
                    <a:cubicBezTo>
                      <a:pt x="135" y="327"/>
                      <a:pt x="183" y="387"/>
                      <a:pt x="258" y="387"/>
                    </a:cubicBezTo>
                    <a:cubicBezTo>
                      <a:pt x="305" y="387"/>
                      <a:pt x="336" y="367"/>
                      <a:pt x="370" y="335"/>
                    </a:cubicBezTo>
                    <a:cubicBezTo>
                      <a:pt x="450" y="416"/>
                      <a:pt x="450" y="416"/>
                      <a:pt x="450" y="416"/>
                    </a:cubicBezTo>
                    <a:cubicBezTo>
                      <a:pt x="403" y="468"/>
                      <a:pt x="349" y="505"/>
                      <a:pt x="252" y="505"/>
                    </a:cubicBezTo>
                    <a:cubicBezTo>
                      <a:pt x="106" y="505"/>
                      <a:pt x="0" y="393"/>
                      <a:pt x="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5" name="Freeform 15">
                <a:extLst>
                  <a:ext uri="{FF2B5EF4-FFF2-40B4-BE49-F238E27FC236}">
                    <a16:creationId xmlns:a16="http://schemas.microsoft.com/office/drawing/2014/main" id="{083673F6-E265-4005-D62C-293234A8CE09}"/>
                  </a:ext>
                </a:extLst>
              </p:cNvPr>
              <p:cNvSpPr>
                <a:spLocks/>
              </p:cNvSpPr>
              <p:nvPr userDrawn="1"/>
            </p:nvSpPr>
            <p:spPr bwMode="auto">
              <a:xfrm>
                <a:off x="5553254" y="866312"/>
                <a:ext cx="193270" cy="286802"/>
              </a:xfrm>
              <a:custGeom>
                <a:avLst/>
                <a:gdLst>
                  <a:gd name="T0" fmla="*/ 0 w 445"/>
                  <a:gd name="T1" fmla="*/ 0 h 660"/>
                  <a:gd name="T2" fmla="*/ 138 w 445"/>
                  <a:gd name="T3" fmla="*/ 0 h 660"/>
                  <a:gd name="T4" fmla="*/ 138 w 445"/>
                  <a:gd name="T5" fmla="*/ 244 h 660"/>
                  <a:gd name="T6" fmla="*/ 280 w 445"/>
                  <a:gd name="T7" fmla="*/ 166 h 660"/>
                  <a:gd name="T8" fmla="*/ 445 w 445"/>
                  <a:gd name="T9" fmla="*/ 346 h 660"/>
                  <a:gd name="T10" fmla="*/ 445 w 445"/>
                  <a:gd name="T11" fmla="*/ 660 h 660"/>
                  <a:gd name="T12" fmla="*/ 307 w 445"/>
                  <a:gd name="T13" fmla="*/ 660 h 660"/>
                  <a:gd name="T14" fmla="*/ 307 w 445"/>
                  <a:gd name="T15" fmla="*/ 390 h 660"/>
                  <a:gd name="T16" fmla="*/ 224 w 445"/>
                  <a:gd name="T17" fmla="*/ 291 h 660"/>
                  <a:gd name="T18" fmla="*/ 138 w 445"/>
                  <a:gd name="T19" fmla="*/ 390 h 660"/>
                  <a:gd name="T20" fmla="*/ 138 w 445"/>
                  <a:gd name="T21" fmla="*/ 660 h 660"/>
                  <a:gd name="T22" fmla="*/ 0 w 445"/>
                  <a:gd name="T23" fmla="*/ 660 h 660"/>
                  <a:gd name="T24" fmla="*/ 0 w 445"/>
                  <a:gd name="T25"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5" h="660">
                    <a:moveTo>
                      <a:pt x="0" y="0"/>
                    </a:moveTo>
                    <a:cubicBezTo>
                      <a:pt x="138" y="0"/>
                      <a:pt x="138" y="0"/>
                      <a:pt x="138" y="0"/>
                    </a:cubicBezTo>
                    <a:cubicBezTo>
                      <a:pt x="138" y="244"/>
                      <a:pt x="138" y="244"/>
                      <a:pt x="138" y="244"/>
                    </a:cubicBezTo>
                    <a:cubicBezTo>
                      <a:pt x="169" y="203"/>
                      <a:pt x="210" y="166"/>
                      <a:pt x="280" y="166"/>
                    </a:cubicBezTo>
                    <a:cubicBezTo>
                      <a:pt x="384" y="166"/>
                      <a:pt x="445" y="235"/>
                      <a:pt x="445" y="346"/>
                    </a:cubicBezTo>
                    <a:cubicBezTo>
                      <a:pt x="445" y="660"/>
                      <a:pt x="445" y="660"/>
                      <a:pt x="445" y="660"/>
                    </a:cubicBezTo>
                    <a:cubicBezTo>
                      <a:pt x="307" y="660"/>
                      <a:pt x="307" y="660"/>
                      <a:pt x="307" y="660"/>
                    </a:cubicBezTo>
                    <a:cubicBezTo>
                      <a:pt x="307" y="390"/>
                      <a:pt x="307" y="390"/>
                      <a:pt x="307" y="390"/>
                    </a:cubicBezTo>
                    <a:cubicBezTo>
                      <a:pt x="307" y="324"/>
                      <a:pt x="276" y="291"/>
                      <a:pt x="224" y="291"/>
                    </a:cubicBezTo>
                    <a:cubicBezTo>
                      <a:pt x="171" y="291"/>
                      <a:pt x="138" y="324"/>
                      <a:pt x="138" y="390"/>
                    </a:cubicBezTo>
                    <a:cubicBezTo>
                      <a:pt x="138" y="660"/>
                      <a:pt x="138" y="660"/>
                      <a:pt x="138" y="660"/>
                    </a:cubicBezTo>
                    <a:cubicBezTo>
                      <a:pt x="0" y="660"/>
                      <a:pt x="0" y="660"/>
                      <a:pt x="0" y="66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6" name="Freeform 16">
                <a:extLst>
                  <a:ext uri="{FF2B5EF4-FFF2-40B4-BE49-F238E27FC236}">
                    <a16:creationId xmlns:a16="http://schemas.microsoft.com/office/drawing/2014/main" id="{4F04928C-BA06-2085-F636-A4F44FC6E987}"/>
                  </a:ext>
                </a:extLst>
              </p:cNvPr>
              <p:cNvSpPr>
                <a:spLocks/>
              </p:cNvSpPr>
              <p:nvPr userDrawn="1"/>
            </p:nvSpPr>
            <p:spPr bwMode="auto">
              <a:xfrm>
                <a:off x="5762039" y="938123"/>
                <a:ext cx="192827" cy="214991"/>
              </a:xfrm>
              <a:custGeom>
                <a:avLst/>
                <a:gdLst>
                  <a:gd name="T0" fmla="*/ 0 w 444"/>
                  <a:gd name="T1" fmla="*/ 9 h 494"/>
                  <a:gd name="T2" fmla="*/ 137 w 444"/>
                  <a:gd name="T3" fmla="*/ 9 h 494"/>
                  <a:gd name="T4" fmla="*/ 137 w 444"/>
                  <a:gd name="T5" fmla="*/ 78 h 494"/>
                  <a:gd name="T6" fmla="*/ 279 w 444"/>
                  <a:gd name="T7" fmla="*/ 0 h 494"/>
                  <a:gd name="T8" fmla="*/ 444 w 444"/>
                  <a:gd name="T9" fmla="*/ 180 h 494"/>
                  <a:gd name="T10" fmla="*/ 444 w 444"/>
                  <a:gd name="T11" fmla="*/ 494 h 494"/>
                  <a:gd name="T12" fmla="*/ 306 w 444"/>
                  <a:gd name="T13" fmla="*/ 494 h 494"/>
                  <a:gd name="T14" fmla="*/ 306 w 444"/>
                  <a:gd name="T15" fmla="*/ 224 h 494"/>
                  <a:gd name="T16" fmla="*/ 223 w 444"/>
                  <a:gd name="T17" fmla="*/ 125 h 494"/>
                  <a:gd name="T18" fmla="*/ 137 w 444"/>
                  <a:gd name="T19" fmla="*/ 224 h 494"/>
                  <a:gd name="T20" fmla="*/ 137 w 444"/>
                  <a:gd name="T21" fmla="*/ 494 h 494"/>
                  <a:gd name="T22" fmla="*/ 0 w 444"/>
                  <a:gd name="T23" fmla="*/ 494 h 494"/>
                  <a:gd name="T24" fmla="*/ 0 w 444"/>
                  <a:gd name="T25"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4" h="494">
                    <a:moveTo>
                      <a:pt x="0" y="9"/>
                    </a:moveTo>
                    <a:cubicBezTo>
                      <a:pt x="137" y="9"/>
                      <a:pt x="137" y="9"/>
                      <a:pt x="137" y="9"/>
                    </a:cubicBezTo>
                    <a:cubicBezTo>
                      <a:pt x="137" y="78"/>
                      <a:pt x="137" y="78"/>
                      <a:pt x="137" y="78"/>
                    </a:cubicBezTo>
                    <a:cubicBezTo>
                      <a:pt x="169" y="37"/>
                      <a:pt x="210" y="0"/>
                      <a:pt x="279" y="0"/>
                    </a:cubicBezTo>
                    <a:cubicBezTo>
                      <a:pt x="383" y="0"/>
                      <a:pt x="444" y="69"/>
                      <a:pt x="444" y="180"/>
                    </a:cubicBezTo>
                    <a:cubicBezTo>
                      <a:pt x="444" y="494"/>
                      <a:pt x="444" y="494"/>
                      <a:pt x="444" y="494"/>
                    </a:cubicBezTo>
                    <a:cubicBezTo>
                      <a:pt x="306" y="494"/>
                      <a:pt x="306" y="494"/>
                      <a:pt x="306" y="494"/>
                    </a:cubicBezTo>
                    <a:cubicBezTo>
                      <a:pt x="306" y="224"/>
                      <a:pt x="306" y="224"/>
                      <a:pt x="306" y="224"/>
                    </a:cubicBezTo>
                    <a:cubicBezTo>
                      <a:pt x="306" y="158"/>
                      <a:pt x="276" y="125"/>
                      <a:pt x="223" y="125"/>
                    </a:cubicBezTo>
                    <a:cubicBezTo>
                      <a:pt x="171" y="125"/>
                      <a:pt x="137" y="158"/>
                      <a:pt x="137" y="224"/>
                    </a:cubicBezTo>
                    <a:cubicBezTo>
                      <a:pt x="137" y="494"/>
                      <a:pt x="137" y="494"/>
                      <a:pt x="137"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7" name="Freeform 17">
                <a:extLst>
                  <a:ext uri="{FF2B5EF4-FFF2-40B4-BE49-F238E27FC236}">
                    <a16:creationId xmlns:a16="http://schemas.microsoft.com/office/drawing/2014/main" id="{0B7609F1-6889-0F3F-1078-1078D3AEDAE7}"/>
                  </a:ext>
                </a:extLst>
              </p:cNvPr>
              <p:cNvSpPr>
                <a:spLocks noEditPoints="1"/>
              </p:cNvSpPr>
              <p:nvPr userDrawn="1"/>
            </p:nvSpPr>
            <p:spPr bwMode="auto">
              <a:xfrm>
                <a:off x="5967277" y="938123"/>
                <a:ext cx="228289" cy="219867"/>
              </a:xfrm>
              <a:custGeom>
                <a:avLst/>
                <a:gdLst>
                  <a:gd name="T0" fmla="*/ 0 w 525"/>
                  <a:gd name="T1" fmla="*/ 254 h 505"/>
                  <a:gd name="T2" fmla="*/ 0 w 525"/>
                  <a:gd name="T3" fmla="*/ 253 h 505"/>
                  <a:gd name="T4" fmla="*/ 263 w 525"/>
                  <a:gd name="T5" fmla="*/ 0 h 505"/>
                  <a:gd name="T6" fmla="*/ 525 w 525"/>
                  <a:gd name="T7" fmla="*/ 251 h 505"/>
                  <a:gd name="T8" fmla="*/ 525 w 525"/>
                  <a:gd name="T9" fmla="*/ 253 h 505"/>
                  <a:gd name="T10" fmla="*/ 262 w 525"/>
                  <a:gd name="T11" fmla="*/ 505 h 505"/>
                  <a:gd name="T12" fmla="*/ 0 w 525"/>
                  <a:gd name="T13" fmla="*/ 254 h 505"/>
                  <a:gd name="T14" fmla="*/ 389 w 525"/>
                  <a:gd name="T15" fmla="*/ 254 h 505"/>
                  <a:gd name="T16" fmla="*/ 389 w 525"/>
                  <a:gd name="T17" fmla="*/ 253 h 505"/>
                  <a:gd name="T18" fmla="*/ 262 w 525"/>
                  <a:gd name="T19" fmla="*/ 119 h 505"/>
                  <a:gd name="T20" fmla="*/ 136 w 525"/>
                  <a:gd name="T21" fmla="*/ 251 h 505"/>
                  <a:gd name="T22" fmla="*/ 136 w 525"/>
                  <a:gd name="T23" fmla="*/ 253 h 505"/>
                  <a:gd name="T24" fmla="*/ 263 w 525"/>
                  <a:gd name="T25" fmla="*/ 387 h 505"/>
                  <a:gd name="T26" fmla="*/ 389 w 525"/>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5">
                    <a:moveTo>
                      <a:pt x="0" y="254"/>
                    </a:moveTo>
                    <a:cubicBezTo>
                      <a:pt x="0" y="253"/>
                      <a:pt x="0" y="253"/>
                      <a:pt x="0" y="253"/>
                    </a:cubicBezTo>
                    <a:cubicBezTo>
                      <a:pt x="0" y="113"/>
                      <a:pt x="112" y="0"/>
                      <a:pt x="263" y="0"/>
                    </a:cubicBezTo>
                    <a:cubicBezTo>
                      <a:pt x="414" y="0"/>
                      <a:pt x="525" y="111"/>
                      <a:pt x="525" y="251"/>
                    </a:cubicBezTo>
                    <a:cubicBezTo>
                      <a:pt x="525" y="253"/>
                      <a:pt x="525" y="253"/>
                      <a:pt x="525" y="253"/>
                    </a:cubicBezTo>
                    <a:cubicBezTo>
                      <a:pt x="525" y="392"/>
                      <a:pt x="413" y="505"/>
                      <a:pt x="262" y="505"/>
                    </a:cubicBezTo>
                    <a:cubicBezTo>
                      <a:pt x="111" y="505"/>
                      <a:pt x="0" y="394"/>
                      <a:pt x="0" y="254"/>
                    </a:cubicBezTo>
                    <a:close/>
                    <a:moveTo>
                      <a:pt x="389" y="254"/>
                    </a:moveTo>
                    <a:cubicBezTo>
                      <a:pt x="389" y="253"/>
                      <a:pt x="389" y="253"/>
                      <a:pt x="389" y="253"/>
                    </a:cubicBezTo>
                    <a:cubicBezTo>
                      <a:pt x="389" y="181"/>
                      <a:pt x="338" y="119"/>
                      <a:pt x="262" y="119"/>
                    </a:cubicBezTo>
                    <a:cubicBezTo>
                      <a:pt x="183" y="119"/>
                      <a:pt x="136" y="179"/>
                      <a:pt x="136" y="251"/>
                    </a:cubicBezTo>
                    <a:cubicBezTo>
                      <a:pt x="136" y="253"/>
                      <a:pt x="136" y="253"/>
                      <a:pt x="136" y="253"/>
                    </a:cubicBezTo>
                    <a:cubicBezTo>
                      <a:pt x="136" y="324"/>
                      <a:pt x="187" y="387"/>
                      <a:pt x="263" y="387"/>
                    </a:cubicBezTo>
                    <a:cubicBezTo>
                      <a:pt x="342" y="387"/>
                      <a:pt x="389" y="326"/>
                      <a:pt x="389"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8" name="Rectangle 18">
                <a:extLst>
                  <a:ext uri="{FF2B5EF4-FFF2-40B4-BE49-F238E27FC236}">
                    <a16:creationId xmlns:a16="http://schemas.microsoft.com/office/drawing/2014/main" id="{14DEDB85-DF79-F93C-595F-4B0E6B36F339}"/>
                  </a:ext>
                </a:extLst>
              </p:cNvPr>
              <p:cNvSpPr>
                <a:spLocks noChangeArrowheads="1"/>
              </p:cNvSpPr>
              <p:nvPr userDrawn="1"/>
            </p:nvSpPr>
            <p:spPr bwMode="auto">
              <a:xfrm>
                <a:off x="6207091" y="866312"/>
                <a:ext cx="59843" cy="28680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9" name="Freeform 19">
                <a:extLst>
                  <a:ext uri="{FF2B5EF4-FFF2-40B4-BE49-F238E27FC236}">
                    <a16:creationId xmlns:a16="http://schemas.microsoft.com/office/drawing/2014/main" id="{481DD98C-1DDB-14FF-BA62-46FAD00BAA89}"/>
                  </a:ext>
                </a:extLst>
              </p:cNvPr>
              <p:cNvSpPr>
                <a:spLocks noEditPoints="1"/>
              </p:cNvSpPr>
              <p:nvPr userDrawn="1"/>
            </p:nvSpPr>
            <p:spPr bwMode="auto">
              <a:xfrm>
                <a:off x="6278460" y="938123"/>
                <a:ext cx="228732" cy="219867"/>
              </a:xfrm>
              <a:custGeom>
                <a:avLst/>
                <a:gdLst>
                  <a:gd name="T0" fmla="*/ 0 w 526"/>
                  <a:gd name="T1" fmla="*/ 254 h 505"/>
                  <a:gd name="T2" fmla="*/ 0 w 526"/>
                  <a:gd name="T3" fmla="*/ 253 h 505"/>
                  <a:gd name="T4" fmla="*/ 264 w 526"/>
                  <a:gd name="T5" fmla="*/ 0 h 505"/>
                  <a:gd name="T6" fmla="*/ 526 w 526"/>
                  <a:gd name="T7" fmla="*/ 251 h 505"/>
                  <a:gd name="T8" fmla="*/ 526 w 526"/>
                  <a:gd name="T9" fmla="*/ 253 h 505"/>
                  <a:gd name="T10" fmla="*/ 262 w 526"/>
                  <a:gd name="T11" fmla="*/ 505 h 505"/>
                  <a:gd name="T12" fmla="*/ 0 w 526"/>
                  <a:gd name="T13" fmla="*/ 254 h 505"/>
                  <a:gd name="T14" fmla="*/ 390 w 526"/>
                  <a:gd name="T15" fmla="*/ 254 h 505"/>
                  <a:gd name="T16" fmla="*/ 390 w 526"/>
                  <a:gd name="T17" fmla="*/ 253 h 505"/>
                  <a:gd name="T18" fmla="*/ 262 w 526"/>
                  <a:gd name="T19" fmla="*/ 119 h 505"/>
                  <a:gd name="T20" fmla="*/ 136 w 526"/>
                  <a:gd name="T21" fmla="*/ 251 h 505"/>
                  <a:gd name="T22" fmla="*/ 136 w 526"/>
                  <a:gd name="T23" fmla="*/ 253 h 505"/>
                  <a:gd name="T24" fmla="*/ 264 w 526"/>
                  <a:gd name="T25" fmla="*/ 387 h 505"/>
                  <a:gd name="T26" fmla="*/ 390 w 526"/>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505">
                    <a:moveTo>
                      <a:pt x="0" y="254"/>
                    </a:moveTo>
                    <a:cubicBezTo>
                      <a:pt x="0" y="253"/>
                      <a:pt x="0" y="253"/>
                      <a:pt x="0" y="253"/>
                    </a:cubicBezTo>
                    <a:cubicBezTo>
                      <a:pt x="0" y="113"/>
                      <a:pt x="113" y="0"/>
                      <a:pt x="264" y="0"/>
                    </a:cubicBezTo>
                    <a:cubicBezTo>
                      <a:pt x="414" y="0"/>
                      <a:pt x="526" y="111"/>
                      <a:pt x="526" y="251"/>
                    </a:cubicBezTo>
                    <a:cubicBezTo>
                      <a:pt x="526" y="253"/>
                      <a:pt x="526" y="253"/>
                      <a:pt x="526" y="253"/>
                    </a:cubicBezTo>
                    <a:cubicBezTo>
                      <a:pt x="526" y="392"/>
                      <a:pt x="413" y="505"/>
                      <a:pt x="262" y="505"/>
                    </a:cubicBezTo>
                    <a:cubicBezTo>
                      <a:pt x="112" y="505"/>
                      <a:pt x="0" y="394"/>
                      <a:pt x="0" y="254"/>
                    </a:cubicBezTo>
                    <a:close/>
                    <a:moveTo>
                      <a:pt x="390" y="254"/>
                    </a:moveTo>
                    <a:cubicBezTo>
                      <a:pt x="390" y="253"/>
                      <a:pt x="390" y="253"/>
                      <a:pt x="390" y="253"/>
                    </a:cubicBezTo>
                    <a:cubicBezTo>
                      <a:pt x="390" y="181"/>
                      <a:pt x="338" y="119"/>
                      <a:pt x="262" y="119"/>
                    </a:cubicBezTo>
                    <a:cubicBezTo>
                      <a:pt x="183" y="119"/>
                      <a:pt x="136" y="179"/>
                      <a:pt x="136" y="251"/>
                    </a:cubicBezTo>
                    <a:cubicBezTo>
                      <a:pt x="136" y="253"/>
                      <a:pt x="136" y="253"/>
                      <a:pt x="136" y="253"/>
                    </a:cubicBezTo>
                    <a:cubicBezTo>
                      <a:pt x="136" y="324"/>
                      <a:pt x="188" y="387"/>
                      <a:pt x="264" y="387"/>
                    </a:cubicBezTo>
                    <a:cubicBezTo>
                      <a:pt x="343" y="387"/>
                      <a:pt x="390" y="326"/>
                      <a:pt x="39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0" name="Freeform 20">
                <a:extLst>
                  <a:ext uri="{FF2B5EF4-FFF2-40B4-BE49-F238E27FC236}">
                    <a16:creationId xmlns:a16="http://schemas.microsoft.com/office/drawing/2014/main" id="{BDC10D2B-8240-1306-CC54-B3F0CF2378C2}"/>
                  </a:ext>
                </a:extLst>
              </p:cNvPr>
              <p:cNvSpPr>
                <a:spLocks noEditPoints="1"/>
              </p:cNvSpPr>
              <p:nvPr userDrawn="1"/>
            </p:nvSpPr>
            <p:spPr bwMode="auto">
              <a:xfrm>
                <a:off x="6516057" y="938123"/>
                <a:ext cx="221197" cy="278823"/>
              </a:xfrm>
              <a:custGeom>
                <a:avLst/>
                <a:gdLst>
                  <a:gd name="T0" fmla="*/ 24 w 509"/>
                  <a:gd name="T1" fmla="*/ 590 h 641"/>
                  <a:gd name="T2" fmla="*/ 71 w 509"/>
                  <a:gd name="T3" fmla="*/ 487 h 641"/>
                  <a:gd name="T4" fmla="*/ 235 w 509"/>
                  <a:gd name="T5" fmla="*/ 531 h 641"/>
                  <a:gd name="T6" fmla="*/ 373 w 509"/>
                  <a:gd name="T7" fmla="*/ 399 h 641"/>
                  <a:gd name="T8" fmla="*/ 373 w 509"/>
                  <a:gd name="T9" fmla="*/ 376 h 641"/>
                  <a:gd name="T10" fmla="*/ 215 w 509"/>
                  <a:gd name="T11" fmla="*/ 454 h 641"/>
                  <a:gd name="T12" fmla="*/ 0 w 509"/>
                  <a:gd name="T13" fmla="*/ 228 h 641"/>
                  <a:gd name="T14" fmla="*/ 0 w 509"/>
                  <a:gd name="T15" fmla="*/ 226 h 641"/>
                  <a:gd name="T16" fmla="*/ 215 w 509"/>
                  <a:gd name="T17" fmla="*/ 0 h 641"/>
                  <a:gd name="T18" fmla="*/ 372 w 509"/>
                  <a:gd name="T19" fmla="*/ 72 h 641"/>
                  <a:gd name="T20" fmla="*/ 372 w 509"/>
                  <a:gd name="T21" fmla="*/ 9 h 641"/>
                  <a:gd name="T22" fmla="*/ 509 w 509"/>
                  <a:gd name="T23" fmla="*/ 9 h 641"/>
                  <a:gd name="T24" fmla="*/ 509 w 509"/>
                  <a:gd name="T25" fmla="*/ 385 h 641"/>
                  <a:gd name="T26" fmla="*/ 448 w 509"/>
                  <a:gd name="T27" fmla="*/ 576 h 641"/>
                  <a:gd name="T28" fmla="*/ 239 w 509"/>
                  <a:gd name="T29" fmla="*/ 641 h 641"/>
                  <a:gd name="T30" fmla="*/ 24 w 509"/>
                  <a:gd name="T31" fmla="*/ 590 h 641"/>
                  <a:gd name="T32" fmla="*/ 373 w 509"/>
                  <a:gd name="T33" fmla="*/ 228 h 641"/>
                  <a:gd name="T34" fmla="*/ 373 w 509"/>
                  <a:gd name="T35" fmla="*/ 226 h 641"/>
                  <a:gd name="T36" fmla="*/ 255 w 509"/>
                  <a:gd name="T37" fmla="*/ 114 h 641"/>
                  <a:gd name="T38" fmla="*/ 137 w 509"/>
                  <a:gd name="T39" fmla="*/ 226 h 641"/>
                  <a:gd name="T40" fmla="*/ 137 w 509"/>
                  <a:gd name="T41" fmla="*/ 228 h 641"/>
                  <a:gd name="T42" fmla="*/ 255 w 509"/>
                  <a:gd name="T43" fmla="*/ 340 h 641"/>
                  <a:gd name="T44" fmla="*/ 373 w 509"/>
                  <a:gd name="T45" fmla="*/ 228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9" h="641">
                    <a:moveTo>
                      <a:pt x="24" y="590"/>
                    </a:moveTo>
                    <a:cubicBezTo>
                      <a:pt x="71" y="487"/>
                      <a:pt x="71" y="487"/>
                      <a:pt x="71" y="487"/>
                    </a:cubicBezTo>
                    <a:cubicBezTo>
                      <a:pt x="121" y="515"/>
                      <a:pt x="171" y="531"/>
                      <a:pt x="235" y="531"/>
                    </a:cubicBezTo>
                    <a:cubicBezTo>
                      <a:pt x="329" y="531"/>
                      <a:pt x="373" y="486"/>
                      <a:pt x="373" y="399"/>
                    </a:cubicBezTo>
                    <a:cubicBezTo>
                      <a:pt x="373" y="376"/>
                      <a:pt x="373" y="376"/>
                      <a:pt x="373" y="376"/>
                    </a:cubicBezTo>
                    <a:cubicBezTo>
                      <a:pt x="333" y="425"/>
                      <a:pt x="288" y="454"/>
                      <a:pt x="215" y="454"/>
                    </a:cubicBezTo>
                    <a:cubicBezTo>
                      <a:pt x="102" y="454"/>
                      <a:pt x="0" y="372"/>
                      <a:pt x="0" y="228"/>
                    </a:cubicBezTo>
                    <a:cubicBezTo>
                      <a:pt x="0" y="226"/>
                      <a:pt x="0" y="226"/>
                      <a:pt x="0" y="226"/>
                    </a:cubicBezTo>
                    <a:cubicBezTo>
                      <a:pt x="0" y="82"/>
                      <a:pt x="104" y="0"/>
                      <a:pt x="215" y="0"/>
                    </a:cubicBezTo>
                    <a:cubicBezTo>
                      <a:pt x="290" y="0"/>
                      <a:pt x="334" y="32"/>
                      <a:pt x="372" y="72"/>
                    </a:cubicBezTo>
                    <a:cubicBezTo>
                      <a:pt x="372" y="9"/>
                      <a:pt x="372" y="9"/>
                      <a:pt x="372" y="9"/>
                    </a:cubicBezTo>
                    <a:cubicBezTo>
                      <a:pt x="509" y="9"/>
                      <a:pt x="509" y="9"/>
                      <a:pt x="509" y="9"/>
                    </a:cubicBezTo>
                    <a:cubicBezTo>
                      <a:pt x="509" y="385"/>
                      <a:pt x="509" y="385"/>
                      <a:pt x="509" y="385"/>
                    </a:cubicBezTo>
                    <a:cubicBezTo>
                      <a:pt x="509" y="472"/>
                      <a:pt x="488" y="535"/>
                      <a:pt x="448" y="576"/>
                    </a:cubicBezTo>
                    <a:cubicBezTo>
                      <a:pt x="402" y="621"/>
                      <a:pt x="333" y="641"/>
                      <a:pt x="239" y="641"/>
                    </a:cubicBezTo>
                    <a:cubicBezTo>
                      <a:pt x="160" y="641"/>
                      <a:pt x="86" y="623"/>
                      <a:pt x="24" y="590"/>
                    </a:cubicBezTo>
                    <a:close/>
                    <a:moveTo>
                      <a:pt x="373" y="228"/>
                    </a:moveTo>
                    <a:cubicBezTo>
                      <a:pt x="373" y="226"/>
                      <a:pt x="373" y="226"/>
                      <a:pt x="373" y="226"/>
                    </a:cubicBezTo>
                    <a:cubicBezTo>
                      <a:pt x="373" y="160"/>
                      <a:pt x="322" y="114"/>
                      <a:pt x="255" y="114"/>
                    </a:cubicBezTo>
                    <a:cubicBezTo>
                      <a:pt x="188" y="114"/>
                      <a:pt x="137" y="160"/>
                      <a:pt x="137" y="226"/>
                    </a:cubicBezTo>
                    <a:cubicBezTo>
                      <a:pt x="137" y="228"/>
                      <a:pt x="137" y="228"/>
                      <a:pt x="137" y="228"/>
                    </a:cubicBezTo>
                    <a:cubicBezTo>
                      <a:pt x="137" y="295"/>
                      <a:pt x="188" y="340"/>
                      <a:pt x="255" y="340"/>
                    </a:cubicBezTo>
                    <a:cubicBezTo>
                      <a:pt x="322" y="340"/>
                      <a:pt x="373" y="294"/>
                      <a:pt x="373"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1" name="Freeform 21">
                <a:extLst>
                  <a:ext uri="{FF2B5EF4-FFF2-40B4-BE49-F238E27FC236}">
                    <a16:creationId xmlns:a16="http://schemas.microsoft.com/office/drawing/2014/main" id="{A2A74FC7-B210-AC23-8BAD-A8CEF20144F7}"/>
                  </a:ext>
                </a:extLst>
              </p:cNvPr>
              <p:cNvSpPr>
                <a:spLocks/>
              </p:cNvSpPr>
              <p:nvPr userDrawn="1"/>
            </p:nvSpPr>
            <p:spPr bwMode="auto">
              <a:xfrm>
                <a:off x="6747450" y="942113"/>
                <a:ext cx="219424" cy="275277"/>
              </a:xfrm>
              <a:custGeom>
                <a:avLst/>
                <a:gdLst>
                  <a:gd name="T0" fmla="*/ 362 w 505"/>
                  <a:gd name="T1" fmla="*/ 0 h 633"/>
                  <a:gd name="T2" fmla="*/ 505 w 505"/>
                  <a:gd name="T3" fmla="*/ 0 h 633"/>
                  <a:gd name="T4" fmla="*/ 319 w 505"/>
                  <a:gd name="T5" fmla="*/ 497 h 633"/>
                  <a:gd name="T6" fmla="*/ 159 w 505"/>
                  <a:gd name="T7" fmla="*/ 633 h 633"/>
                  <a:gd name="T8" fmla="*/ 37 w 505"/>
                  <a:gd name="T9" fmla="*/ 599 h 633"/>
                  <a:gd name="T10" fmla="*/ 83 w 505"/>
                  <a:gd name="T11" fmla="*/ 500 h 633"/>
                  <a:gd name="T12" fmla="*/ 142 w 505"/>
                  <a:gd name="T13" fmla="*/ 519 h 633"/>
                  <a:gd name="T14" fmla="*/ 190 w 505"/>
                  <a:gd name="T15" fmla="*/ 487 h 633"/>
                  <a:gd name="T16" fmla="*/ 0 w 505"/>
                  <a:gd name="T17" fmla="*/ 0 h 633"/>
                  <a:gd name="T18" fmla="*/ 146 w 505"/>
                  <a:gd name="T19" fmla="*/ 0 h 633"/>
                  <a:gd name="T20" fmla="*/ 256 w 505"/>
                  <a:gd name="T21" fmla="*/ 331 h 633"/>
                  <a:gd name="T22" fmla="*/ 362 w 505"/>
                  <a:gd name="T23"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633">
                    <a:moveTo>
                      <a:pt x="362" y="0"/>
                    </a:moveTo>
                    <a:cubicBezTo>
                      <a:pt x="505" y="0"/>
                      <a:pt x="505" y="0"/>
                      <a:pt x="505" y="0"/>
                    </a:cubicBezTo>
                    <a:cubicBezTo>
                      <a:pt x="319" y="497"/>
                      <a:pt x="319" y="497"/>
                      <a:pt x="319" y="497"/>
                    </a:cubicBezTo>
                    <a:cubicBezTo>
                      <a:pt x="282" y="596"/>
                      <a:pt x="242" y="633"/>
                      <a:pt x="159" y="633"/>
                    </a:cubicBezTo>
                    <a:cubicBezTo>
                      <a:pt x="110" y="633"/>
                      <a:pt x="73" y="620"/>
                      <a:pt x="37" y="599"/>
                    </a:cubicBezTo>
                    <a:cubicBezTo>
                      <a:pt x="83" y="500"/>
                      <a:pt x="83" y="500"/>
                      <a:pt x="83" y="500"/>
                    </a:cubicBezTo>
                    <a:cubicBezTo>
                      <a:pt x="101" y="511"/>
                      <a:pt x="124" y="519"/>
                      <a:pt x="142" y="519"/>
                    </a:cubicBezTo>
                    <a:cubicBezTo>
                      <a:pt x="166" y="519"/>
                      <a:pt x="178" y="512"/>
                      <a:pt x="190" y="487"/>
                    </a:cubicBezTo>
                    <a:cubicBezTo>
                      <a:pt x="0" y="0"/>
                      <a:pt x="0" y="0"/>
                      <a:pt x="0" y="0"/>
                    </a:cubicBezTo>
                    <a:cubicBezTo>
                      <a:pt x="146" y="0"/>
                      <a:pt x="146" y="0"/>
                      <a:pt x="146" y="0"/>
                    </a:cubicBezTo>
                    <a:cubicBezTo>
                      <a:pt x="256" y="331"/>
                      <a:pt x="256" y="331"/>
                      <a:pt x="256" y="331"/>
                    </a:cubicBezTo>
                    <a:lnTo>
                      <a:pt x="3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2" name="Freeform 22">
                <a:extLst>
                  <a:ext uri="{FF2B5EF4-FFF2-40B4-BE49-F238E27FC236}">
                    <a16:creationId xmlns:a16="http://schemas.microsoft.com/office/drawing/2014/main" id="{ACC82ECF-72D6-6ED9-EF73-7495DE192F95}"/>
                  </a:ext>
                </a:extLst>
              </p:cNvPr>
              <p:cNvSpPr>
                <a:spLocks/>
              </p:cNvSpPr>
              <p:nvPr userDrawn="1"/>
            </p:nvSpPr>
            <p:spPr bwMode="auto">
              <a:xfrm>
                <a:off x="6005842" y="1258171"/>
                <a:ext cx="132541" cy="290348"/>
              </a:xfrm>
              <a:custGeom>
                <a:avLst/>
                <a:gdLst>
                  <a:gd name="T0" fmla="*/ 57 w 305"/>
                  <a:gd name="T1" fmla="*/ 299 h 667"/>
                  <a:gd name="T2" fmla="*/ 0 w 305"/>
                  <a:gd name="T3" fmla="*/ 299 h 667"/>
                  <a:gd name="T4" fmla="*/ 0 w 305"/>
                  <a:gd name="T5" fmla="*/ 186 h 667"/>
                  <a:gd name="T6" fmla="*/ 57 w 305"/>
                  <a:gd name="T7" fmla="*/ 186 h 667"/>
                  <a:gd name="T8" fmla="*/ 57 w 305"/>
                  <a:gd name="T9" fmla="*/ 155 h 667"/>
                  <a:gd name="T10" fmla="*/ 96 w 305"/>
                  <a:gd name="T11" fmla="*/ 38 h 667"/>
                  <a:gd name="T12" fmla="*/ 208 w 305"/>
                  <a:gd name="T13" fmla="*/ 0 h 667"/>
                  <a:gd name="T14" fmla="*/ 305 w 305"/>
                  <a:gd name="T15" fmla="*/ 13 h 667"/>
                  <a:gd name="T16" fmla="*/ 305 w 305"/>
                  <a:gd name="T17" fmla="*/ 127 h 667"/>
                  <a:gd name="T18" fmla="*/ 243 w 305"/>
                  <a:gd name="T19" fmla="*/ 115 h 667"/>
                  <a:gd name="T20" fmla="*/ 193 w 305"/>
                  <a:gd name="T21" fmla="*/ 168 h 667"/>
                  <a:gd name="T22" fmla="*/ 193 w 305"/>
                  <a:gd name="T23" fmla="*/ 187 h 667"/>
                  <a:gd name="T24" fmla="*/ 305 w 305"/>
                  <a:gd name="T25" fmla="*/ 187 h 667"/>
                  <a:gd name="T26" fmla="*/ 305 w 305"/>
                  <a:gd name="T27" fmla="*/ 299 h 667"/>
                  <a:gd name="T28" fmla="*/ 195 w 305"/>
                  <a:gd name="T29" fmla="*/ 299 h 667"/>
                  <a:gd name="T30" fmla="*/ 195 w 305"/>
                  <a:gd name="T31" fmla="*/ 667 h 667"/>
                  <a:gd name="T32" fmla="*/ 57 w 305"/>
                  <a:gd name="T33" fmla="*/ 667 h 667"/>
                  <a:gd name="T34" fmla="*/ 57 w 305"/>
                  <a:gd name="T35" fmla="*/ 29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667">
                    <a:moveTo>
                      <a:pt x="57" y="299"/>
                    </a:moveTo>
                    <a:cubicBezTo>
                      <a:pt x="0" y="299"/>
                      <a:pt x="0" y="299"/>
                      <a:pt x="0" y="299"/>
                    </a:cubicBezTo>
                    <a:cubicBezTo>
                      <a:pt x="0" y="186"/>
                      <a:pt x="0" y="186"/>
                      <a:pt x="0" y="186"/>
                    </a:cubicBezTo>
                    <a:cubicBezTo>
                      <a:pt x="57" y="186"/>
                      <a:pt x="57" y="186"/>
                      <a:pt x="57" y="186"/>
                    </a:cubicBezTo>
                    <a:cubicBezTo>
                      <a:pt x="57" y="155"/>
                      <a:pt x="57" y="155"/>
                      <a:pt x="57" y="155"/>
                    </a:cubicBezTo>
                    <a:cubicBezTo>
                      <a:pt x="57" y="102"/>
                      <a:pt x="71" y="63"/>
                      <a:pt x="96" y="38"/>
                    </a:cubicBezTo>
                    <a:cubicBezTo>
                      <a:pt x="122" y="12"/>
                      <a:pt x="159" y="0"/>
                      <a:pt x="208" y="0"/>
                    </a:cubicBezTo>
                    <a:cubicBezTo>
                      <a:pt x="251" y="0"/>
                      <a:pt x="280" y="5"/>
                      <a:pt x="305" y="13"/>
                    </a:cubicBezTo>
                    <a:cubicBezTo>
                      <a:pt x="305" y="127"/>
                      <a:pt x="305" y="127"/>
                      <a:pt x="305" y="127"/>
                    </a:cubicBezTo>
                    <a:cubicBezTo>
                      <a:pt x="286" y="120"/>
                      <a:pt x="267" y="115"/>
                      <a:pt x="243" y="115"/>
                    </a:cubicBezTo>
                    <a:cubicBezTo>
                      <a:pt x="211" y="115"/>
                      <a:pt x="193" y="132"/>
                      <a:pt x="193" y="168"/>
                    </a:cubicBezTo>
                    <a:cubicBezTo>
                      <a:pt x="193" y="187"/>
                      <a:pt x="193" y="187"/>
                      <a:pt x="193" y="187"/>
                    </a:cubicBezTo>
                    <a:cubicBezTo>
                      <a:pt x="305" y="187"/>
                      <a:pt x="305" y="187"/>
                      <a:pt x="305" y="187"/>
                    </a:cubicBezTo>
                    <a:cubicBezTo>
                      <a:pt x="305" y="299"/>
                      <a:pt x="305" y="299"/>
                      <a:pt x="305" y="299"/>
                    </a:cubicBezTo>
                    <a:cubicBezTo>
                      <a:pt x="195" y="299"/>
                      <a:pt x="195" y="299"/>
                      <a:pt x="195" y="299"/>
                    </a:cubicBezTo>
                    <a:cubicBezTo>
                      <a:pt x="195" y="667"/>
                      <a:pt x="195" y="667"/>
                      <a:pt x="195" y="667"/>
                    </a:cubicBezTo>
                    <a:cubicBezTo>
                      <a:pt x="57" y="667"/>
                      <a:pt x="57" y="667"/>
                      <a:pt x="57" y="667"/>
                    </a:cubicBezTo>
                    <a:lnTo>
                      <a:pt x="57"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3" name="Freeform 23">
                <a:extLst>
                  <a:ext uri="{FF2B5EF4-FFF2-40B4-BE49-F238E27FC236}">
                    <a16:creationId xmlns:a16="http://schemas.microsoft.com/office/drawing/2014/main" id="{22DAB937-2E79-C195-4D0E-AD10E570DD17}"/>
                  </a:ext>
                </a:extLst>
              </p:cNvPr>
              <p:cNvSpPr>
                <a:spLocks noEditPoints="1"/>
              </p:cNvSpPr>
              <p:nvPr userDrawn="1"/>
            </p:nvSpPr>
            <p:spPr bwMode="auto">
              <a:xfrm>
                <a:off x="6137497" y="1333086"/>
                <a:ext cx="228289" cy="219867"/>
              </a:xfrm>
              <a:custGeom>
                <a:avLst/>
                <a:gdLst>
                  <a:gd name="T0" fmla="*/ 0 w 525"/>
                  <a:gd name="T1" fmla="*/ 255 h 506"/>
                  <a:gd name="T2" fmla="*/ 0 w 525"/>
                  <a:gd name="T3" fmla="*/ 253 h 506"/>
                  <a:gd name="T4" fmla="*/ 263 w 525"/>
                  <a:gd name="T5" fmla="*/ 0 h 506"/>
                  <a:gd name="T6" fmla="*/ 525 w 525"/>
                  <a:gd name="T7" fmla="*/ 251 h 506"/>
                  <a:gd name="T8" fmla="*/ 525 w 525"/>
                  <a:gd name="T9" fmla="*/ 253 h 506"/>
                  <a:gd name="T10" fmla="*/ 261 w 525"/>
                  <a:gd name="T11" fmla="*/ 506 h 506"/>
                  <a:gd name="T12" fmla="*/ 0 w 525"/>
                  <a:gd name="T13" fmla="*/ 255 h 506"/>
                  <a:gd name="T14" fmla="*/ 389 w 525"/>
                  <a:gd name="T15" fmla="*/ 255 h 506"/>
                  <a:gd name="T16" fmla="*/ 389 w 525"/>
                  <a:gd name="T17" fmla="*/ 253 h 506"/>
                  <a:gd name="T18" fmla="*/ 261 w 525"/>
                  <a:gd name="T19" fmla="*/ 119 h 506"/>
                  <a:gd name="T20" fmla="*/ 135 w 525"/>
                  <a:gd name="T21" fmla="*/ 251 h 506"/>
                  <a:gd name="T22" fmla="*/ 135 w 525"/>
                  <a:gd name="T23" fmla="*/ 253 h 506"/>
                  <a:gd name="T24" fmla="*/ 263 w 525"/>
                  <a:gd name="T25" fmla="*/ 387 h 506"/>
                  <a:gd name="T26" fmla="*/ 389 w 525"/>
                  <a:gd name="T27" fmla="*/ 25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6">
                    <a:moveTo>
                      <a:pt x="0" y="255"/>
                    </a:moveTo>
                    <a:cubicBezTo>
                      <a:pt x="0" y="253"/>
                      <a:pt x="0" y="253"/>
                      <a:pt x="0" y="253"/>
                    </a:cubicBezTo>
                    <a:cubicBezTo>
                      <a:pt x="0" y="114"/>
                      <a:pt x="112" y="0"/>
                      <a:pt x="263" y="0"/>
                    </a:cubicBezTo>
                    <a:cubicBezTo>
                      <a:pt x="413" y="0"/>
                      <a:pt x="525" y="112"/>
                      <a:pt x="525" y="251"/>
                    </a:cubicBezTo>
                    <a:cubicBezTo>
                      <a:pt x="525" y="253"/>
                      <a:pt x="525" y="253"/>
                      <a:pt x="525" y="253"/>
                    </a:cubicBezTo>
                    <a:cubicBezTo>
                      <a:pt x="525" y="392"/>
                      <a:pt x="412" y="506"/>
                      <a:pt x="261" y="506"/>
                    </a:cubicBezTo>
                    <a:cubicBezTo>
                      <a:pt x="111" y="506"/>
                      <a:pt x="0" y="394"/>
                      <a:pt x="0" y="255"/>
                    </a:cubicBezTo>
                    <a:close/>
                    <a:moveTo>
                      <a:pt x="389" y="255"/>
                    </a:moveTo>
                    <a:cubicBezTo>
                      <a:pt x="389" y="253"/>
                      <a:pt x="389" y="253"/>
                      <a:pt x="389" y="253"/>
                    </a:cubicBezTo>
                    <a:cubicBezTo>
                      <a:pt x="389" y="182"/>
                      <a:pt x="337" y="119"/>
                      <a:pt x="261" y="119"/>
                    </a:cubicBezTo>
                    <a:cubicBezTo>
                      <a:pt x="183" y="119"/>
                      <a:pt x="135" y="180"/>
                      <a:pt x="135" y="251"/>
                    </a:cubicBezTo>
                    <a:cubicBezTo>
                      <a:pt x="135" y="253"/>
                      <a:pt x="135" y="253"/>
                      <a:pt x="135" y="253"/>
                    </a:cubicBezTo>
                    <a:cubicBezTo>
                      <a:pt x="135" y="325"/>
                      <a:pt x="187" y="387"/>
                      <a:pt x="263" y="387"/>
                    </a:cubicBezTo>
                    <a:cubicBezTo>
                      <a:pt x="342" y="387"/>
                      <a:pt x="389" y="326"/>
                      <a:pt x="389"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4" name="Freeform 24">
                <a:extLst>
                  <a:ext uri="{FF2B5EF4-FFF2-40B4-BE49-F238E27FC236}">
                    <a16:creationId xmlns:a16="http://schemas.microsoft.com/office/drawing/2014/main" id="{10B466F6-F9DE-C9E9-D98F-5CB17B8BE4DB}"/>
                  </a:ext>
                </a:extLst>
              </p:cNvPr>
              <p:cNvSpPr>
                <a:spLocks/>
              </p:cNvSpPr>
              <p:nvPr userDrawn="1"/>
            </p:nvSpPr>
            <p:spPr bwMode="auto">
              <a:xfrm>
                <a:off x="6379084" y="1331756"/>
                <a:ext cx="127665" cy="216764"/>
              </a:xfrm>
              <a:custGeom>
                <a:avLst/>
                <a:gdLst>
                  <a:gd name="T0" fmla="*/ 0 w 293"/>
                  <a:gd name="T1" fmla="*/ 13 h 498"/>
                  <a:gd name="T2" fmla="*/ 138 w 293"/>
                  <a:gd name="T3" fmla="*/ 13 h 498"/>
                  <a:gd name="T4" fmla="*/ 138 w 293"/>
                  <a:gd name="T5" fmla="*/ 110 h 498"/>
                  <a:gd name="T6" fmla="*/ 293 w 293"/>
                  <a:gd name="T7" fmla="*/ 3 h 498"/>
                  <a:gd name="T8" fmla="*/ 293 w 293"/>
                  <a:gd name="T9" fmla="*/ 147 h 498"/>
                  <a:gd name="T10" fmla="*/ 286 w 293"/>
                  <a:gd name="T11" fmla="*/ 147 h 498"/>
                  <a:gd name="T12" fmla="*/ 138 w 293"/>
                  <a:gd name="T13" fmla="*/ 318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0"/>
                      <a:pt x="138" y="110"/>
                      <a:pt x="138" y="110"/>
                    </a:cubicBezTo>
                    <a:cubicBezTo>
                      <a:pt x="166" y="43"/>
                      <a:pt x="211" y="0"/>
                      <a:pt x="293" y="3"/>
                    </a:cubicBezTo>
                    <a:cubicBezTo>
                      <a:pt x="293" y="147"/>
                      <a:pt x="293" y="147"/>
                      <a:pt x="293" y="147"/>
                    </a:cubicBezTo>
                    <a:cubicBezTo>
                      <a:pt x="286" y="147"/>
                      <a:pt x="286" y="147"/>
                      <a:pt x="286" y="147"/>
                    </a:cubicBezTo>
                    <a:cubicBezTo>
                      <a:pt x="194" y="147"/>
                      <a:pt x="138" y="203"/>
                      <a:pt x="138" y="318"/>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5" name="Freeform 25">
                <a:extLst>
                  <a:ext uri="{FF2B5EF4-FFF2-40B4-BE49-F238E27FC236}">
                    <a16:creationId xmlns:a16="http://schemas.microsoft.com/office/drawing/2014/main" id="{AD3E18E3-90EA-4D54-E039-6221DAC55953}"/>
                  </a:ext>
                </a:extLst>
              </p:cNvPr>
              <p:cNvSpPr>
                <a:spLocks noEditPoints="1"/>
              </p:cNvSpPr>
              <p:nvPr userDrawn="1"/>
            </p:nvSpPr>
            <p:spPr bwMode="auto">
              <a:xfrm>
                <a:off x="6582993" y="1334859"/>
                <a:ext cx="194157" cy="217207"/>
              </a:xfrm>
              <a:custGeom>
                <a:avLst/>
                <a:gdLst>
                  <a:gd name="T0" fmla="*/ 0 w 446"/>
                  <a:gd name="T1" fmla="*/ 351 h 500"/>
                  <a:gd name="T2" fmla="*/ 0 w 446"/>
                  <a:gd name="T3" fmla="*/ 349 h 500"/>
                  <a:gd name="T4" fmla="*/ 195 w 446"/>
                  <a:gd name="T5" fmla="*/ 195 h 500"/>
                  <a:gd name="T6" fmla="*/ 314 w 446"/>
                  <a:gd name="T7" fmla="*/ 215 h 500"/>
                  <a:gd name="T8" fmla="*/ 314 w 446"/>
                  <a:gd name="T9" fmla="*/ 206 h 500"/>
                  <a:gd name="T10" fmla="*/ 210 w 446"/>
                  <a:gd name="T11" fmla="*/ 118 h 500"/>
                  <a:gd name="T12" fmla="*/ 76 w 446"/>
                  <a:gd name="T13" fmla="*/ 144 h 500"/>
                  <a:gd name="T14" fmla="*/ 42 w 446"/>
                  <a:gd name="T15" fmla="*/ 39 h 500"/>
                  <a:gd name="T16" fmla="*/ 230 w 446"/>
                  <a:gd name="T17" fmla="*/ 0 h 500"/>
                  <a:gd name="T18" fmla="*/ 394 w 446"/>
                  <a:gd name="T19" fmla="*/ 54 h 500"/>
                  <a:gd name="T20" fmla="*/ 446 w 446"/>
                  <a:gd name="T21" fmla="*/ 209 h 500"/>
                  <a:gd name="T22" fmla="*/ 446 w 446"/>
                  <a:gd name="T23" fmla="*/ 491 h 500"/>
                  <a:gd name="T24" fmla="*/ 313 w 446"/>
                  <a:gd name="T25" fmla="*/ 491 h 500"/>
                  <a:gd name="T26" fmla="*/ 313 w 446"/>
                  <a:gd name="T27" fmla="*/ 438 h 500"/>
                  <a:gd name="T28" fmla="*/ 167 w 446"/>
                  <a:gd name="T29" fmla="*/ 500 h 500"/>
                  <a:gd name="T30" fmla="*/ 0 w 446"/>
                  <a:gd name="T31" fmla="*/ 351 h 500"/>
                  <a:gd name="T32" fmla="*/ 316 w 446"/>
                  <a:gd name="T33" fmla="*/ 320 h 500"/>
                  <a:gd name="T34" fmla="*/ 316 w 446"/>
                  <a:gd name="T35" fmla="*/ 295 h 500"/>
                  <a:gd name="T36" fmla="*/ 228 w 446"/>
                  <a:gd name="T37" fmla="*/ 277 h 500"/>
                  <a:gd name="T38" fmla="*/ 133 w 446"/>
                  <a:gd name="T39" fmla="*/ 344 h 500"/>
                  <a:gd name="T40" fmla="*/ 133 w 446"/>
                  <a:gd name="T41" fmla="*/ 346 h 500"/>
                  <a:gd name="T42" fmla="*/ 208 w 446"/>
                  <a:gd name="T43" fmla="*/ 405 h 500"/>
                  <a:gd name="T44" fmla="*/ 316 w 446"/>
                  <a:gd name="T45" fmla="*/ 32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500">
                    <a:moveTo>
                      <a:pt x="0" y="351"/>
                    </a:moveTo>
                    <a:cubicBezTo>
                      <a:pt x="0" y="349"/>
                      <a:pt x="0" y="349"/>
                      <a:pt x="0" y="349"/>
                    </a:cubicBezTo>
                    <a:cubicBezTo>
                      <a:pt x="0" y="244"/>
                      <a:pt x="81" y="195"/>
                      <a:pt x="195" y="195"/>
                    </a:cubicBezTo>
                    <a:cubicBezTo>
                      <a:pt x="244" y="195"/>
                      <a:pt x="280" y="203"/>
                      <a:pt x="314" y="215"/>
                    </a:cubicBezTo>
                    <a:cubicBezTo>
                      <a:pt x="314" y="206"/>
                      <a:pt x="314" y="206"/>
                      <a:pt x="314" y="206"/>
                    </a:cubicBezTo>
                    <a:cubicBezTo>
                      <a:pt x="314" y="149"/>
                      <a:pt x="279" y="118"/>
                      <a:pt x="210" y="118"/>
                    </a:cubicBezTo>
                    <a:cubicBezTo>
                      <a:pt x="157" y="118"/>
                      <a:pt x="120" y="128"/>
                      <a:pt x="76" y="144"/>
                    </a:cubicBezTo>
                    <a:cubicBezTo>
                      <a:pt x="42" y="39"/>
                      <a:pt x="42" y="39"/>
                      <a:pt x="42" y="39"/>
                    </a:cubicBezTo>
                    <a:cubicBezTo>
                      <a:pt x="95" y="15"/>
                      <a:pt x="148" y="0"/>
                      <a:pt x="230" y="0"/>
                    </a:cubicBezTo>
                    <a:cubicBezTo>
                      <a:pt x="305" y="0"/>
                      <a:pt x="359" y="20"/>
                      <a:pt x="394" y="54"/>
                    </a:cubicBezTo>
                    <a:cubicBezTo>
                      <a:pt x="430" y="91"/>
                      <a:pt x="446" y="144"/>
                      <a:pt x="446" y="209"/>
                    </a:cubicBezTo>
                    <a:cubicBezTo>
                      <a:pt x="446" y="491"/>
                      <a:pt x="446" y="491"/>
                      <a:pt x="446" y="491"/>
                    </a:cubicBezTo>
                    <a:cubicBezTo>
                      <a:pt x="313" y="491"/>
                      <a:pt x="313" y="491"/>
                      <a:pt x="313" y="491"/>
                    </a:cubicBezTo>
                    <a:cubicBezTo>
                      <a:pt x="313" y="438"/>
                      <a:pt x="313" y="438"/>
                      <a:pt x="313" y="438"/>
                    </a:cubicBezTo>
                    <a:cubicBezTo>
                      <a:pt x="280" y="475"/>
                      <a:pt x="234" y="500"/>
                      <a:pt x="167" y="500"/>
                    </a:cubicBezTo>
                    <a:cubicBezTo>
                      <a:pt x="75" y="500"/>
                      <a:pt x="0" y="447"/>
                      <a:pt x="0" y="351"/>
                    </a:cubicBezTo>
                    <a:close/>
                    <a:moveTo>
                      <a:pt x="316" y="320"/>
                    </a:moveTo>
                    <a:cubicBezTo>
                      <a:pt x="316" y="295"/>
                      <a:pt x="316" y="295"/>
                      <a:pt x="316" y="295"/>
                    </a:cubicBezTo>
                    <a:cubicBezTo>
                      <a:pt x="292" y="284"/>
                      <a:pt x="262" y="277"/>
                      <a:pt x="228" y="277"/>
                    </a:cubicBezTo>
                    <a:cubicBezTo>
                      <a:pt x="169" y="277"/>
                      <a:pt x="133" y="301"/>
                      <a:pt x="133" y="344"/>
                    </a:cubicBezTo>
                    <a:cubicBezTo>
                      <a:pt x="133" y="346"/>
                      <a:pt x="133" y="346"/>
                      <a:pt x="133" y="346"/>
                    </a:cubicBezTo>
                    <a:cubicBezTo>
                      <a:pt x="133" y="383"/>
                      <a:pt x="164" y="405"/>
                      <a:pt x="208" y="405"/>
                    </a:cubicBezTo>
                    <a:cubicBezTo>
                      <a:pt x="272" y="405"/>
                      <a:pt x="316" y="369"/>
                      <a:pt x="316" y="3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6" name="Rectangle 26">
                <a:extLst>
                  <a:ext uri="{FF2B5EF4-FFF2-40B4-BE49-F238E27FC236}">
                    <a16:creationId xmlns:a16="http://schemas.microsoft.com/office/drawing/2014/main" id="{144E16EA-4F3F-420C-5D8D-753A1E9F0B11}"/>
                  </a:ext>
                </a:extLst>
              </p:cNvPr>
              <p:cNvSpPr>
                <a:spLocks noChangeArrowheads="1"/>
              </p:cNvSpPr>
              <p:nvPr userDrawn="1"/>
            </p:nvSpPr>
            <p:spPr bwMode="auto">
              <a:xfrm>
                <a:off x="6801973" y="1260831"/>
                <a:ext cx="59843"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7" name="Rectangle 27">
                <a:extLst>
                  <a:ext uri="{FF2B5EF4-FFF2-40B4-BE49-F238E27FC236}">
                    <a16:creationId xmlns:a16="http://schemas.microsoft.com/office/drawing/2014/main" id="{E009FD22-AB72-D26D-205F-29DF66B5BFFA}"/>
                  </a:ext>
                </a:extLst>
              </p:cNvPr>
              <p:cNvSpPr>
                <a:spLocks noChangeArrowheads="1"/>
              </p:cNvSpPr>
              <p:nvPr userDrawn="1"/>
            </p:nvSpPr>
            <p:spPr bwMode="auto">
              <a:xfrm>
                <a:off x="6886639" y="1260831"/>
                <a:ext cx="59399"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77" name="Rectangle 28">
              <a:extLst>
                <a:ext uri="{FF2B5EF4-FFF2-40B4-BE49-F238E27FC236}">
                  <a16:creationId xmlns:a16="http://schemas.microsoft.com/office/drawing/2014/main" id="{FB305569-AB33-7799-ED76-68F103CE5B8C}"/>
                </a:ext>
              </a:extLst>
            </p:cNvPr>
            <p:cNvSpPr>
              <a:spLocks noChangeArrowheads="1"/>
            </p:cNvSpPr>
            <p:nvPr userDrawn="1"/>
          </p:nvSpPr>
          <p:spPr bwMode="auto">
            <a:xfrm>
              <a:off x="11556230" y="767096"/>
              <a:ext cx="634181" cy="1898696"/>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grpSp>
          <p:nvGrpSpPr>
            <p:cNvPr id="78" name="Group 77">
              <a:extLst>
                <a:ext uri="{FF2B5EF4-FFF2-40B4-BE49-F238E27FC236}">
                  <a16:creationId xmlns:a16="http://schemas.microsoft.com/office/drawing/2014/main" id="{DC4D5431-76CB-4561-B2E0-664C3E75E88C}"/>
                </a:ext>
              </a:extLst>
            </p:cNvPr>
            <p:cNvGrpSpPr/>
            <p:nvPr userDrawn="1"/>
          </p:nvGrpSpPr>
          <p:grpSpPr>
            <a:xfrm>
              <a:off x="11701122" y="936748"/>
              <a:ext cx="321494" cy="1552800"/>
              <a:chOff x="7313961" y="501936"/>
              <a:chExt cx="323594" cy="1566108"/>
            </a:xfrm>
          </p:grpSpPr>
          <p:sp>
            <p:nvSpPr>
              <p:cNvPr id="79" name="Freeform 29">
                <a:extLst>
                  <a:ext uri="{FF2B5EF4-FFF2-40B4-BE49-F238E27FC236}">
                    <a16:creationId xmlns:a16="http://schemas.microsoft.com/office/drawing/2014/main" id="{9EB7EA56-59D4-7E58-E9A3-5C4585DF00FE}"/>
                  </a:ext>
                </a:extLst>
              </p:cNvPr>
              <p:cNvSpPr>
                <a:spLocks/>
              </p:cNvSpPr>
              <p:nvPr userDrawn="1"/>
            </p:nvSpPr>
            <p:spPr bwMode="auto">
              <a:xfrm>
                <a:off x="7383556" y="1311808"/>
                <a:ext cx="249567" cy="247350"/>
              </a:xfrm>
              <a:custGeom>
                <a:avLst/>
                <a:gdLst>
                  <a:gd name="T0" fmla="*/ 0 w 574"/>
                  <a:gd name="T1" fmla="*/ 229 h 569"/>
                  <a:gd name="T2" fmla="*/ 90 w 574"/>
                  <a:gd name="T3" fmla="*/ 413 h 569"/>
                  <a:gd name="T4" fmla="*/ 90 w 574"/>
                  <a:gd name="T5" fmla="*/ 413 h 569"/>
                  <a:gd name="T6" fmla="*/ 90 w 574"/>
                  <a:gd name="T7" fmla="*/ 413 h 569"/>
                  <a:gd name="T8" fmla="*/ 9 w 574"/>
                  <a:gd name="T9" fmla="*/ 413 h 569"/>
                  <a:gd name="T10" fmla="*/ 9 w 574"/>
                  <a:gd name="T11" fmla="*/ 569 h 569"/>
                  <a:gd name="T12" fmla="*/ 574 w 574"/>
                  <a:gd name="T13" fmla="*/ 569 h 569"/>
                  <a:gd name="T14" fmla="*/ 574 w 574"/>
                  <a:gd name="T15" fmla="*/ 413 h 569"/>
                  <a:gd name="T16" fmla="*/ 253 w 574"/>
                  <a:gd name="T17" fmla="*/ 413 h 569"/>
                  <a:gd name="T18" fmla="*/ 133 w 574"/>
                  <a:gd name="T19" fmla="*/ 286 h 569"/>
                  <a:gd name="T20" fmla="*/ 253 w 574"/>
                  <a:gd name="T21" fmla="*/ 155 h 569"/>
                  <a:gd name="T22" fmla="*/ 574 w 574"/>
                  <a:gd name="T23" fmla="*/ 155 h 569"/>
                  <a:gd name="T24" fmla="*/ 574 w 574"/>
                  <a:gd name="T25" fmla="*/ 0 h 569"/>
                  <a:gd name="T26" fmla="*/ 224 w 574"/>
                  <a:gd name="T27" fmla="*/ 0 h 569"/>
                  <a:gd name="T28" fmla="*/ 0 w 574"/>
                  <a:gd name="T29" fmla="*/ 229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4" h="569">
                    <a:moveTo>
                      <a:pt x="0" y="229"/>
                    </a:moveTo>
                    <a:cubicBezTo>
                      <a:pt x="0" y="294"/>
                      <a:pt x="30" y="368"/>
                      <a:pt x="90" y="413"/>
                    </a:cubicBezTo>
                    <a:cubicBezTo>
                      <a:pt x="90" y="413"/>
                      <a:pt x="90" y="413"/>
                      <a:pt x="90" y="413"/>
                    </a:cubicBezTo>
                    <a:cubicBezTo>
                      <a:pt x="90" y="413"/>
                      <a:pt x="90" y="413"/>
                      <a:pt x="90" y="413"/>
                    </a:cubicBezTo>
                    <a:cubicBezTo>
                      <a:pt x="9" y="413"/>
                      <a:pt x="9" y="413"/>
                      <a:pt x="9" y="413"/>
                    </a:cubicBezTo>
                    <a:cubicBezTo>
                      <a:pt x="9" y="569"/>
                      <a:pt x="9" y="569"/>
                      <a:pt x="9" y="569"/>
                    </a:cubicBezTo>
                    <a:cubicBezTo>
                      <a:pt x="574" y="569"/>
                      <a:pt x="574" y="569"/>
                      <a:pt x="574" y="569"/>
                    </a:cubicBezTo>
                    <a:cubicBezTo>
                      <a:pt x="574" y="413"/>
                      <a:pt x="574" y="413"/>
                      <a:pt x="574" y="413"/>
                    </a:cubicBezTo>
                    <a:cubicBezTo>
                      <a:pt x="253" y="413"/>
                      <a:pt x="253" y="413"/>
                      <a:pt x="253" y="413"/>
                    </a:cubicBezTo>
                    <a:cubicBezTo>
                      <a:pt x="195" y="413"/>
                      <a:pt x="133" y="369"/>
                      <a:pt x="133" y="286"/>
                    </a:cubicBezTo>
                    <a:cubicBezTo>
                      <a:pt x="133" y="221"/>
                      <a:pt x="178" y="155"/>
                      <a:pt x="253" y="155"/>
                    </a:cubicBezTo>
                    <a:cubicBezTo>
                      <a:pt x="574" y="155"/>
                      <a:pt x="574" y="155"/>
                      <a:pt x="574" y="155"/>
                    </a:cubicBezTo>
                    <a:cubicBezTo>
                      <a:pt x="574" y="0"/>
                      <a:pt x="574" y="0"/>
                      <a:pt x="574" y="0"/>
                    </a:cubicBezTo>
                    <a:cubicBezTo>
                      <a:pt x="224" y="0"/>
                      <a:pt x="224" y="0"/>
                      <a:pt x="224" y="0"/>
                    </a:cubicBezTo>
                    <a:cubicBezTo>
                      <a:pt x="94" y="0"/>
                      <a:pt x="0" y="93"/>
                      <a:pt x="0" y="22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0" name="Freeform 30">
                <a:extLst>
                  <a:ext uri="{FF2B5EF4-FFF2-40B4-BE49-F238E27FC236}">
                    <a16:creationId xmlns:a16="http://schemas.microsoft.com/office/drawing/2014/main" id="{93B05BBE-DBEC-684B-B012-F63384131C10}"/>
                  </a:ext>
                </a:extLst>
              </p:cNvPr>
              <p:cNvSpPr>
                <a:spLocks/>
              </p:cNvSpPr>
              <p:nvPr userDrawn="1"/>
            </p:nvSpPr>
            <p:spPr bwMode="auto">
              <a:xfrm>
                <a:off x="7387546" y="755049"/>
                <a:ext cx="245577" cy="276163"/>
              </a:xfrm>
              <a:custGeom>
                <a:avLst/>
                <a:gdLst>
                  <a:gd name="T0" fmla="*/ 0 w 554"/>
                  <a:gd name="T1" fmla="*/ 174 h 623"/>
                  <a:gd name="T2" fmla="*/ 377 w 554"/>
                  <a:gd name="T3" fmla="*/ 311 h 623"/>
                  <a:gd name="T4" fmla="*/ 0 w 554"/>
                  <a:gd name="T5" fmla="*/ 450 h 623"/>
                  <a:gd name="T6" fmla="*/ 0 w 554"/>
                  <a:gd name="T7" fmla="*/ 623 h 623"/>
                  <a:gd name="T8" fmla="*/ 554 w 554"/>
                  <a:gd name="T9" fmla="*/ 395 h 623"/>
                  <a:gd name="T10" fmla="*/ 554 w 554"/>
                  <a:gd name="T11" fmla="*/ 228 h 623"/>
                  <a:gd name="T12" fmla="*/ 0 w 554"/>
                  <a:gd name="T13" fmla="*/ 0 h 623"/>
                  <a:gd name="T14" fmla="*/ 0 w 554"/>
                  <a:gd name="T15" fmla="*/ 174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623">
                    <a:moveTo>
                      <a:pt x="0" y="174"/>
                    </a:moveTo>
                    <a:lnTo>
                      <a:pt x="377" y="311"/>
                    </a:lnTo>
                    <a:lnTo>
                      <a:pt x="0" y="450"/>
                    </a:lnTo>
                    <a:lnTo>
                      <a:pt x="0" y="623"/>
                    </a:lnTo>
                    <a:lnTo>
                      <a:pt x="554" y="395"/>
                    </a:lnTo>
                    <a:lnTo>
                      <a:pt x="554" y="228"/>
                    </a:lnTo>
                    <a:lnTo>
                      <a:pt x="0" y="0"/>
                    </a:lnTo>
                    <a:lnTo>
                      <a:pt x="0"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1" name="Freeform 31">
                <a:extLst>
                  <a:ext uri="{FF2B5EF4-FFF2-40B4-BE49-F238E27FC236}">
                    <a16:creationId xmlns:a16="http://schemas.microsoft.com/office/drawing/2014/main" id="{972F0292-22E7-DDB2-79F6-6703AF74768F}"/>
                  </a:ext>
                </a:extLst>
              </p:cNvPr>
              <p:cNvSpPr>
                <a:spLocks noEditPoints="1"/>
              </p:cNvSpPr>
              <p:nvPr userDrawn="1"/>
            </p:nvSpPr>
            <p:spPr bwMode="auto">
              <a:xfrm>
                <a:off x="7383556" y="1583096"/>
                <a:ext cx="253999" cy="256659"/>
              </a:xfrm>
              <a:custGeom>
                <a:avLst/>
                <a:gdLst>
                  <a:gd name="T0" fmla="*/ 401 w 584"/>
                  <a:gd name="T1" fmla="*/ 110 h 590"/>
                  <a:gd name="T2" fmla="*/ 460 w 584"/>
                  <a:gd name="T3" fmla="*/ 272 h 590"/>
                  <a:gd name="T4" fmla="*/ 415 w 584"/>
                  <a:gd name="T5" fmla="*/ 397 h 590"/>
                  <a:gd name="T6" fmla="*/ 250 w 584"/>
                  <a:gd name="T7" fmla="*/ 0 h 590"/>
                  <a:gd name="T8" fmla="*/ 92 w 584"/>
                  <a:gd name="T9" fmla="*/ 68 h 590"/>
                  <a:gd name="T10" fmla="*/ 0 w 584"/>
                  <a:gd name="T11" fmla="*/ 291 h 590"/>
                  <a:gd name="T12" fmla="*/ 292 w 584"/>
                  <a:gd name="T13" fmla="*/ 590 h 590"/>
                  <a:gd name="T14" fmla="*/ 584 w 584"/>
                  <a:gd name="T15" fmla="*/ 274 h 590"/>
                  <a:gd name="T16" fmla="*/ 476 w 584"/>
                  <a:gd name="T17" fmla="*/ 12 h 590"/>
                  <a:gd name="T18" fmla="*/ 401 w 584"/>
                  <a:gd name="T19" fmla="*/ 110 h 590"/>
                  <a:gd name="T20" fmla="*/ 179 w 584"/>
                  <a:gd name="T21" fmla="*/ 408 h 590"/>
                  <a:gd name="T22" fmla="*/ 123 w 584"/>
                  <a:gd name="T23" fmla="*/ 288 h 590"/>
                  <a:gd name="T24" fmla="*/ 202 w 584"/>
                  <a:gd name="T25" fmla="*/ 168 h 590"/>
                  <a:gd name="T26" fmla="*/ 315 w 584"/>
                  <a:gd name="T27" fmla="*/ 439 h 590"/>
                  <a:gd name="T28" fmla="*/ 179 w 584"/>
                  <a:gd name="T29" fmla="*/ 408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4" h="590">
                    <a:moveTo>
                      <a:pt x="401" y="110"/>
                    </a:moveTo>
                    <a:cubicBezTo>
                      <a:pt x="449" y="175"/>
                      <a:pt x="460" y="212"/>
                      <a:pt x="460" y="272"/>
                    </a:cubicBezTo>
                    <a:cubicBezTo>
                      <a:pt x="460" y="325"/>
                      <a:pt x="444" y="367"/>
                      <a:pt x="415" y="397"/>
                    </a:cubicBezTo>
                    <a:cubicBezTo>
                      <a:pt x="250" y="0"/>
                      <a:pt x="250" y="0"/>
                      <a:pt x="250" y="0"/>
                    </a:cubicBezTo>
                    <a:cubicBezTo>
                      <a:pt x="189" y="9"/>
                      <a:pt x="134" y="32"/>
                      <a:pt x="92" y="68"/>
                    </a:cubicBezTo>
                    <a:cubicBezTo>
                      <a:pt x="32" y="120"/>
                      <a:pt x="0" y="197"/>
                      <a:pt x="0" y="291"/>
                    </a:cubicBezTo>
                    <a:cubicBezTo>
                      <a:pt x="0" y="462"/>
                      <a:pt x="126" y="590"/>
                      <a:pt x="292" y="590"/>
                    </a:cubicBezTo>
                    <a:cubicBezTo>
                      <a:pt x="462" y="590"/>
                      <a:pt x="584" y="462"/>
                      <a:pt x="584" y="274"/>
                    </a:cubicBezTo>
                    <a:cubicBezTo>
                      <a:pt x="584" y="169"/>
                      <a:pt x="534" y="62"/>
                      <a:pt x="476" y="12"/>
                    </a:cubicBezTo>
                    <a:lnTo>
                      <a:pt x="401" y="110"/>
                    </a:lnTo>
                    <a:close/>
                    <a:moveTo>
                      <a:pt x="179" y="408"/>
                    </a:moveTo>
                    <a:cubicBezTo>
                      <a:pt x="144" y="381"/>
                      <a:pt x="123" y="339"/>
                      <a:pt x="123" y="288"/>
                    </a:cubicBezTo>
                    <a:cubicBezTo>
                      <a:pt x="123" y="232"/>
                      <a:pt x="155" y="190"/>
                      <a:pt x="202" y="168"/>
                    </a:cubicBezTo>
                    <a:cubicBezTo>
                      <a:pt x="315" y="439"/>
                      <a:pt x="315" y="439"/>
                      <a:pt x="315" y="439"/>
                    </a:cubicBezTo>
                    <a:cubicBezTo>
                      <a:pt x="257" y="447"/>
                      <a:pt x="212" y="432"/>
                      <a:pt x="179" y="4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2" name="Freeform 32">
                <a:extLst>
                  <a:ext uri="{FF2B5EF4-FFF2-40B4-BE49-F238E27FC236}">
                    <a16:creationId xmlns:a16="http://schemas.microsoft.com/office/drawing/2014/main" id="{8FB3E4DF-D685-E83E-C831-3D30D6486411}"/>
                  </a:ext>
                </a:extLst>
              </p:cNvPr>
              <p:cNvSpPr>
                <a:spLocks/>
              </p:cNvSpPr>
              <p:nvPr userDrawn="1"/>
            </p:nvSpPr>
            <p:spPr bwMode="auto">
              <a:xfrm>
                <a:off x="7313961" y="1846404"/>
                <a:ext cx="319161" cy="221640"/>
              </a:xfrm>
              <a:custGeom>
                <a:avLst/>
                <a:gdLst>
                  <a:gd name="T0" fmla="*/ 580 w 720"/>
                  <a:gd name="T1" fmla="*/ 0 h 500"/>
                  <a:gd name="T2" fmla="*/ 580 w 720"/>
                  <a:gd name="T3" fmla="*/ 346 h 500"/>
                  <a:gd name="T4" fmla="*/ 0 w 720"/>
                  <a:gd name="T5" fmla="*/ 346 h 500"/>
                  <a:gd name="T6" fmla="*/ 0 w 720"/>
                  <a:gd name="T7" fmla="*/ 500 h 500"/>
                  <a:gd name="T8" fmla="*/ 720 w 720"/>
                  <a:gd name="T9" fmla="*/ 500 h 500"/>
                  <a:gd name="T10" fmla="*/ 720 w 720"/>
                  <a:gd name="T11" fmla="*/ 0 h 500"/>
                  <a:gd name="T12" fmla="*/ 580 w 720"/>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720" h="500">
                    <a:moveTo>
                      <a:pt x="580" y="0"/>
                    </a:moveTo>
                    <a:lnTo>
                      <a:pt x="580" y="346"/>
                    </a:lnTo>
                    <a:lnTo>
                      <a:pt x="0" y="346"/>
                    </a:lnTo>
                    <a:lnTo>
                      <a:pt x="0" y="500"/>
                    </a:lnTo>
                    <a:lnTo>
                      <a:pt x="720" y="500"/>
                    </a:lnTo>
                    <a:lnTo>
                      <a:pt x="720" y="0"/>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3" name="Freeform 33">
                <a:extLst>
                  <a:ext uri="{FF2B5EF4-FFF2-40B4-BE49-F238E27FC236}">
                    <a16:creationId xmlns:a16="http://schemas.microsoft.com/office/drawing/2014/main" id="{7E51460F-8A6D-E455-ADF5-BF3600A7DAC9}"/>
                  </a:ext>
                </a:extLst>
              </p:cNvPr>
              <p:cNvSpPr>
                <a:spLocks noEditPoints="1"/>
              </p:cNvSpPr>
              <p:nvPr userDrawn="1"/>
            </p:nvSpPr>
            <p:spPr bwMode="auto">
              <a:xfrm>
                <a:off x="7383556" y="501936"/>
                <a:ext cx="253999" cy="263752"/>
              </a:xfrm>
              <a:custGeom>
                <a:avLst/>
                <a:gdLst>
                  <a:gd name="T0" fmla="*/ 584 w 584"/>
                  <a:gd name="T1" fmla="*/ 304 h 607"/>
                  <a:gd name="T2" fmla="*/ 292 w 584"/>
                  <a:gd name="T3" fmla="*/ 607 h 607"/>
                  <a:gd name="T4" fmla="*/ 0 w 584"/>
                  <a:gd name="T5" fmla="*/ 302 h 607"/>
                  <a:gd name="T6" fmla="*/ 292 w 584"/>
                  <a:gd name="T7" fmla="*/ 0 h 607"/>
                  <a:gd name="T8" fmla="*/ 584 w 584"/>
                  <a:gd name="T9" fmla="*/ 304 h 607"/>
                  <a:gd name="T10" fmla="*/ 133 w 584"/>
                  <a:gd name="T11" fmla="*/ 304 h 607"/>
                  <a:gd name="T12" fmla="*/ 292 w 584"/>
                  <a:gd name="T13" fmla="*/ 454 h 607"/>
                  <a:gd name="T14" fmla="*/ 451 w 584"/>
                  <a:gd name="T15" fmla="*/ 302 h 607"/>
                  <a:gd name="T16" fmla="*/ 292 w 584"/>
                  <a:gd name="T17" fmla="*/ 153 h 607"/>
                  <a:gd name="T18" fmla="*/ 133 w 584"/>
                  <a:gd name="T19" fmla="*/ 304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4"/>
                    </a:moveTo>
                    <a:cubicBezTo>
                      <a:pt x="584" y="474"/>
                      <a:pt x="457" y="607"/>
                      <a:pt x="292" y="607"/>
                    </a:cubicBezTo>
                    <a:cubicBezTo>
                      <a:pt x="128" y="607"/>
                      <a:pt x="0" y="473"/>
                      <a:pt x="0" y="302"/>
                    </a:cubicBezTo>
                    <a:cubicBezTo>
                      <a:pt x="0" y="133"/>
                      <a:pt x="126" y="0"/>
                      <a:pt x="292" y="0"/>
                    </a:cubicBezTo>
                    <a:cubicBezTo>
                      <a:pt x="455" y="0"/>
                      <a:pt x="584" y="133"/>
                      <a:pt x="584" y="304"/>
                    </a:cubicBezTo>
                    <a:moveTo>
                      <a:pt x="133" y="304"/>
                    </a:moveTo>
                    <a:cubicBezTo>
                      <a:pt x="133" y="391"/>
                      <a:pt x="198" y="454"/>
                      <a:pt x="292" y="454"/>
                    </a:cubicBezTo>
                    <a:cubicBezTo>
                      <a:pt x="381" y="454"/>
                      <a:pt x="451" y="387"/>
                      <a:pt x="451" y="302"/>
                    </a:cubicBezTo>
                    <a:cubicBezTo>
                      <a:pt x="451" y="216"/>
                      <a:pt x="383" y="153"/>
                      <a:pt x="292" y="153"/>
                    </a:cubicBezTo>
                    <a:cubicBezTo>
                      <a:pt x="203" y="153"/>
                      <a:pt x="133" y="219"/>
                      <a:pt x="133" y="30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4" name="Freeform 34">
                <a:extLst>
                  <a:ext uri="{FF2B5EF4-FFF2-40B4-BE49-F238E27FC236}">
                    <a16:creationId xmlns:a16="http://schemas.microsoft.com/office/drawing/2014/main" id="{9296505E-2DA9-07F7-31C5-6D802244B0F4}"/>
                  </a:ext>
                </a:extLst>
              </p:cNvPr>
              <p:cNvSpPr>
                <a:spLocks noEditPoints="1"/>
              </p:cNvSpPr>
              <p:nvPr userDrawn="1"/>
            </p:nvSpPr>
            <p:spPr bwMode="auto">
              <a:xfrm>
                <a:off x="7383556" y="1021017"/>
                <a:ext cx="253999" cy="263752"/>
              </a:xfrm>
              <a:custGeom>
                <a:avLst/>
                <a:gdLst>
                  <a:gd name="T0" fmla="*/ 584 w 584"/>
                  <a:gd name="T1" fmla="*/ 305 h 607"/>
                  <a:gd name="T2" fmla="*/ 292 w 584"/>
                  <a:gd name="T3" fmla="*/ 607 h 607"/>
                  <a:gd name="T4" fmla="*/ 0 w 584"/>
                  <a:gd name="T5" fmla="*/ 303 h 607"/>
                  <a:gd name="T6" fmla="*/ 292 w 584"/>
                  <a:gd name="T7" fmla="*/ 0 h 607"/>
                  <a:gd name="T8" fmla="*/ 584 w 584"/>
                  <a:gd name="T9" fmla="*/ 305 h 607"/>
                  <a:gd name="T10" fmla="*/ 133 w 584"/>
                  <a:gd name="T11" fmla="*/ 305 h 607"/>
                  <a:gd name="T12" fmla="*/ 292 w 584"/>
                  <a:gd name="T13" fmla="*/ 454 h 607"/>
                  <a:gd name="T14" fmla="*/ 451 w 584"/>
                  <a:gd name="T15" fmla="*/ 303 h 607"/>
                  <a:gd name="T16" fmla="*/ 292 w 584"/>
                  <a:gd name="T17" fmla="*/ 153 h 607"/>
                  <a:gd name="T18" fmla="*/ 133 w 584"/>
                  <a:gd name="T19" fmla="*/ 30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5"/>
                    </a:moveTo>
                    <a:cubicBezTo>
                      <a:pt x="584" y="474"/>
                      <a:pt x="457" y="607"/>
                      <a:pt x="292" y="607"/>
                    </a:cubicBezTo>
                    <a:cubicBezTo>
                      <a:pt x="128" y="607"/>
                      <a:pt x="0" y="474"/>
                      <a:pt x="0" y="303"/>
                    </a:cubicBezTo>
                    <a:cubicBezTo>
                      <a:pt x="0" y="133"/>
                      <a:pt x="126" y="0"/>
                      <a:pt x="292" y="0"/>
                    </a:cubicBezTo>
                    <a:cubicBezTo>
                      <a:pt x="455" y="0"/>
                      <a:pt x="584" y="134"/>
                      <a:pt x="584" y="305"/>
                    </a:cubicBezTo>
                    <a:moveTo>
                      <a:pt x="133" y="305"/>
                    </a:moveTo>
                    <a:cubicBezTo>
                      <a:pt x="133" y="391"/>
                      <a:pt x="198" y="454"/>
                      <a:pt x="292" y="454"/>
                    </a:cubicBezTo>
                    <a:cubicBezTo>
                      <a:pt x="381" y="454"/>
                      <a:pt x="451" y="388"/>
                      <a:pt x="451" y="303"/>
                    </a:cubicBezTo>
                    <a:cubicBezTo>
                      <a:pt x="451" y="216"/>
                      <a:pt x="383" y="153"/>
                      <a:pt x="292" y="153"/>
                    </a:cubicBezTo>
                    <a:cubicBezTo>
                      <a:pt x="203" y="153"/>
                      <a:pt x="133" y="220"/>
                      <a:pt x="133" y="30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spTree>
    <p:extLst>
      <p:ext uri="{BB962C8B-B14F-4D97-AF65-F5344CB8AC3E}">
        <p14:creationId xmlns:p14="http://schemas.microsoft.com/office/powerpoint/2010/main" val="1529971638"/>
      </p:ext>
    </p:extLst>
  </p:cSld>
  <p:clrMapOvr>
    <a:masterClrMapping/>
  </p:clrMapOvr>
  <p:transition spd="med"/>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userDrawn="1">
  <p:cSld name="5_Title Slide_Black">
    <p:bg>
      <p:bgPr>
        <a:solidFill>
          <a:schemeClr val="tx1"/>
        </a:solidFill>
        <a:effectLst/>
      </p:bgPr>
    </p:bg>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100707FD-CFDF-94DD-E63F-30F84B238F78}"/>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rot="10800000">
            <a:off x="-1" y="-1"/>
            <a:ext cx="12192000" cy="6858000"/>
          </a:xfrm>
          <a:prstGeom prst="rect">
            <a:avLst/>
          </a:prstGeom>
        </p:spPr>
      </p:pic>
      <p:pic>
        <p:nvPicPr>
          <p:cNvPr id="4" name="Picture 3">
            <a:extLst>
              <a:ext uri="{FF2B5EF4-FFF2-40B4-BE49-F238E27FC236}">
                <a16:creationId xmlns:a16="http://schemas.microsoft.com/office/drawing/2014/main" id="{CF717A39-7720-9E8D-286C-20142A00CE1F}"/>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784992" y="-1"/>
            <a:ext cx="5407009" cy="6858001"/>
          </a:xfrm>
          <a:prstGeom prst="rect">
            <a:avLst/>
          </a:prstGeom>
        </p:spPr>
      </p:pic>
      <p:sp>
        <p:nvSpPr>
          <p:cNvPr id="56" name="Title 16"/>
          <p:cNvSpPr>
            <a:spLocks noGrp="1"/>
          </p:cNvSpPr>
          <p:nvPr userDrawn="1">
            <p:ph type="title" hasCustomPrompt="1"/>
          </p:nvPr>
        </p:nvSpPr>
        <p:spPr bwMode="gray">
          <a:xfrm>
            <a:off x="750531" y="1524000"/>
            <a:ext cx="5958747" cy="3273368"/>
          </a:xfrm>
          <a:prstGeom prst="rect">
            <a:avLst/>
          </a:prstGeom>
        </p:spPr>
        <p:txBody>
          <a:bodyPr lIns="0" tIns="0" rIns="121899" bIns="0" anchor="b" anchorCtr="0"/>
          <a:lstStyle>
            <a:lvl1pPr marL="0" algn="l" defTabSz="1218621" rtl="0" eaLnBrk="1" latinLnBrk="0" hangingPunct="1">
              <a:lnSpc>
                <a:spcPct val="75000"/>
              </a:lnSpc>
              <a:spcBef>
                <a:spcPct val="0"/>
              </a:spcBef>
              <a:buNone/>
              <a:defRPr lang="en-US" sz="6998"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3" y="5046115"/>
            <a:ext cx="5958747" cy="356616"/>
          </a:xfrm>
          <a:prstGeom prst="rect">
            <a:avLst/>
          </a:prstGeom>
        </p:spPr>
        <p:txBody>
          <a:bodyPr lIns="0" tIns="0" rIns="0" bIns="0" anchor="t" anchorCtr="0"/>
          <a:lstStyle>
            <a:lvl1pPr marL="0" indent="0" algn="l" defTabSz="1218621" rtl="0" eaLnBrk="1" latinLnBrk="0" hangingPunct="1">
              <a:lnSpc>
                <a:spcPct val="90000"/>
              </a:lnSpc>
              <a:spcBef>
                <a:spcPct val="0"/>
              </a:spcBef>
              <a:buNone/>
              <a:defRPr lang="en-US" sz="2599" b="0" kern="1200" cap="none" spc="0" baseline="0" dirty="0">
                <a:solidFill>
                  <a:schemeClr val="bg1"/>
                </a:solidFill>
                <a:latin typeface="Arial" pitchFamily="34" charset="0"/>
                <a:ea typeface="+mn-ea"/>
                <a:cs typeface="Arial" pitchFamily="34" charset="0"/>
              </a:defRPr>
            </a:lvl1pPr>
            <a:lvl2pPr marL="609310" indent="0" algn="ctr">
              <a:buNone/>
              <a:defRPr>
                <a:solidFill>
                  <a:schemeClr val="tx1">
                    <a:tint val="75000"/>
                  </a:schemeClr>
                </a:solidFill>
              </a:defRPr>
            </a:lvl2pPr>
            <a:lvl3pPr marL="1218621" indent="0" algn="ctr">
              <a:buNone/>
              <a:defRPr>
                <a:solidFill>
                  <a:schemeClr val="tx1">
                    <a:tint val="75000"/>
                  </a:schemeClr>
                </a:solidFill>
              </a:defRPr>
            </a:lvl3pPr>
            <a:lvl4pPr marL="1827931" indent="0" algn="ctr">
              <a:buNone/>
              <a:defRPr>
                <a:solidFill>
                  <a:schemeClr val="tx1">
                    <a:tint val="75000"/>
                  </a:schemeClr>
                </a:solidFill>
              </a:defRPr>
            </a:lvl4pPr>
            <a:lvl5pPr marL="2437242" indent="0" algn="ctr">
              <a:buNone/>
              <a:defRPr>
                <a:solidFill>
                  <a:schemeClr val="tx1">
                    <a:tint val="75000"/>
                  </a:schemeClr>
                </a:solidFill>
              </a:defRPr>
            </a:lvl5pPr>
            <a:lvl6pPr marL="3046553" indent="0" algn="ctr">
              <a:buNone/>
              <a:defRPr>
                <a:solidFill>
                  <a:schemeClr val="tx1">
                    <a:tint val="75000"/>
                  </a:schemeClr>
                </a:solidFill>
              </a:defRPr>
            </a:lvl6pPr>
            <a:lvl7pPr marL="3655863" indent="0" algn="ctr">
              <a:buNone/>
              <a:defRPr>
                <a:solidFill>
                  <a:schemeClr val="tx1">
                    <a:tint val="75000"/>
                  </a:schemeClr>
                </a:solidFill>
              </a:defRPr>
            </a:lvl7pPr>
            <a:lvl8pPr marL="4265173" indent="0" algn="ctr">
              <a:buNone/>
              <a:defRPr>
                <a:solidFill>
                  <a:schemeClr val="tx1">
                    <a:tint val="75000"/>
                  </a:schemeClr>
                </a:solidFill>
              </a:defRPr>
            </a:lvl8pPr>
            <a:lvl9pPr marL="4874484" indent="0" algn="ctr">
              <a:buNone/>
              <a:defRPr>
                <a:solidFill>
                  <a:schemeClr val="tx1">
                    <a:tint val="75000"/>
                  </a:schemeClr>
                </a:solidFill>
              </a:defRPr>
            </a:lvl9pPr>
          </a:lstStyle>
          <a:p>
            <a:r>
              <a:rPr lang="en-US"/>
              <a:t>Speaker Name | Date</a:t>
            </a:r>
          </a:p>
        </p:txBody>
      </p:sp>
      <p:sp>
        <p:nvSpPr>
          <p:cNvPr id="82" name="TextBox 81">
            <a:extLst>
              <a:ext uri="{FF2B5EF4-FFF2-40B4-BE49-F238E27FC236}">
                <a16:creationId xmlns:a16="http://schemas.microsoft.com/office/drawing/2014/main" id="{D0375F64-E651-1A0A-ABF1-9C38BA663F9F}"/>
              </a:ext>
            </a:extLst>
          </p:cNvPr>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All rights reserved.</a:t>
            </a:r>
          </a:p>
        </p:txBody>
      </p:sp>
      <p:grpSp>
        <p:nvGrpSpPr>
          <p:cNvPr id="14" name="Group 13">
            <a:extLst>
              <a:ext uri="{FF2B5EF4-FFF2-40B4-BE49-F238E27FC236}">
                <a16:creationId xmlns:a16="http://schemas.microsoft.com/office/drawing/2014/main" id="{62D158B4-6BCE-19D4-4FA2-E1DB49D9AA2B}"/>
              </a:ext>
            </a:extLst>
          </p:cNvPr>
          <p:cNvGrpSpPr>
            <a:grpSpLocks noChangeAspect="1"/>
          </p:cNvGrpSpPr>
          <p:nvPr userDrawn="1"/>
        </p:nvGrpSpPr>
        <p:grpSpPr>
          <a:xfrm rot="16200000">
            <a:off x="10177784" y="2392268"/>
            <a:ext cx="3058160" cy="1020580"/>
            <a:chOff x="547688" y="952500"/>
            <a:chExt cx="12190413" cy="4067175"/>
          </a:xfrm>
        </p:grpSpPr>
        <p:sp>
          <p:nvSpPr>
            <p:cNvPr id="15" name="Rectangle 14">
              <a:extLst>
                <a:ext uri="{FF2B5EF4-FFF2-40B4-BE49-F238E27FC236}">
                  <a16:creationId xmlns:a16="http://schemas.microsoft.com/office/drawing/2014/main" id="{46535BB9-6B06-5867-031F-5169F0D00FE5}"/>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6" name="Freeform 15">
              <a:extLst>
                <a:ext uri="{FF2B5EF4-FFF2-40B4-BE49-F238E27FC236}">
                  <a16:creationId xmlns:a16="http://schemas.microsoft.com/office/drawing/2014/main" id="{E724C423-0FB3-BA60-4424-CB29675D6B9B}"/>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7" name="Freeform 16">
              <a:extLst>
                <a:ext uri="{FF2B5EF4-FFF2-40B4-BE49-F238E27FC236}">
                  <a16:creationId xmlns:a16="http://schemas.microsoft.com/office/drawing/2014/main" id="{8ACCDC9B-BFCA-426C-9CAC-E6085EAF463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8" name="Freeform 17">
              <a:extLst>
                <a:ext uri="{FF2B5EF4-FFF2-40B4-BE49-F238E27FC236}">
                  <a16:creationId xmlns:a16="http://schemas.microsoft.com/office/drawing/2014/main" id="{EE61D4C5-6898-FCEB-952B-78F5DBDDC71D}"/>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9" name="Freeform 18">
              <a:extLst>
                <a:ext uri="{FF2B5EF4-FFF2-40B4-BE49-F238E27FC236}">
                  <a16:creationId xmlns:a16="http://schemas.microsoft.com/office/drawing/2014/main" id="{889E4066-CD50-AE50-097B-D5B586A85203}"/>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0" name="Freeform 10">
              <a:extLst>
                <a:ext uri="{FF2B5EF4-FFF2-40B4-BE49-F238E27FC236}">
                  <a16:creationId xmlns:a16="http://schemas.microsoft.com/office/drawing/2014/main" id="{161A8B7B-2E45-6C26-96C4-383B905CC3A2}"/>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1" name="Freeform 11">
              <a:extLst>
                <a:ext uri="{FF2B5EF4-FFF2-40B4-BE49-F238E27FC236}">
                  <a16:creationId xmlns:a16="http://schemas.microsoft.com/office/drawing/2014/main" id="{F127C91A-2137-AE2D-AD9C-56BBCF0AD26D}"/>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Tree>
    <p:extLst>
      <p:ext uri="{BB962C8B-B14F-4D97-AF65-F5344CB8AC3E}">
        <p14:creationId xmlns:p14="http://schemas.microsoft.com/office/powerpoint/2010/main" val="1440452142"/>
      </p:ext>
    </p:extLst>
  </p:cSld>
  <p:clrMapOvr>
    <a:masterClrMapping/>
  </p:clrMapOvr>
  <p:transition spd="med"/>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2024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rgbClr val="4D144A"/>
          </a:solidFill>
          <a:ln>
            <a:noFill/>
          </a:ln>
        </p:spPr>
        <p:txBody>
          <a:bodyPr vert="horz" wrap="square" lIns="91440" tIns="45720" rIns="91440" bIns="45720" numCol="1" anchor="t" anchorCtr="0" compatLnSpc="1">
            <a:prstTxWarp prst="textNoShape">
              <a:avLst/>
            </a:prstTxWarp>
          </a:bodyPr>
          <a:lstStyle/>
          <a:p>
            <a:endParaRPr lang="en-US" sz="1800"/>
          </a:p>
        </p:txBody>
      </p:sp>
    </p:spTree>
    <p:extLst>
      <p:ext uri="{BB962C8B-B14F-4D97-AF65-F5344CB8AC3E}">
        <p14:creationId xmlns:p14="http://schemas.microsoft.com/office/powerpoint/2010/main" val="1403603099"/>
      </p:ext>
    </p:extLst>
  </p:cSld>
  <p:clrMapOvr>
    <a:masterClrMapping/>
  </p:clrMapOvr>
  <p:transition spd="med"/>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Title Slide_Black">
    <p:bg>
      <p:bgPr>
        <a:solidFill>
          <a:srgbClr val="1E0113"/>
        </a:solidFill>
        <a:effectLst/>
      </p:bgPr>
    </p:bg>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bg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2024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spTree>
    <p:extLst>
      <p:ext uri="{BB962C8B-B14F-4D97-AF65-F5344CB8AC3E}">
        <p14:creationId xmlns:p14="http://schemas.microsoft.com/office/powerpoint/2010/main" val="170577049"/>
      </p:ext>
    </p:extLst>
  </p:cSld>
  <p:clrMapOvr>
    <a:masterClrMapping/>
  </p:clrMapOvr>
  <p:transition spd="med"/>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Section Header_White">
    <p:bg>
      <p:bgPr>
        <a:solidFill>
          <a:schemeClr val="bg1"/>
        </a:solidFill>
        <a:effectLst/>
      </p:bgPr>
    </p:bg>
    <p:spTree>
      <p:nvGrpSpPr>
        <p:cNvPr id="1" name=""/>
        <p:cNvGrpSpPr/>
        <p:nvPr/>
      </p:nvGrpSpPr>
      <p:grpSpPr>
        <a:xfrm>
          <a:off x="0" y="0"/>
          <a:ext cx="0" cy="0"/>
          <a:chOff x="0" y="0"/>
          <a:chExt cx="0" cy="0"/>
        </a:xfrm>
      </p:grpSpPr>
      <p:sp>
        <p:nvSpPr>
          <p:cNvPr id="46" name="Title 16"/>
          <p:cNvSpPr>
            <a:spLocks noGrp="1"/>
          </p:cNvSpPr>
          <p:nvPr>
            <p:ph type="title" hasCustomPrompt="1"/>
          </p:nvPr>
        </p:nvSpPr>
        <p:spPr bwMode="gray">
          <a:xfrm>
            <a:off x="750528" y="1549492"/>
            <a:ext cx="9914678"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9914678"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sp>
        <p:nvSpPr>
          <p:cNvPr id="2" name="TextBox 1">
            <a:extLst>
              <a:ext uri="{FF2B5EF4-FFF2-40B4-BE49-F238E27FC236}">
                <a16:creationId xmlns:a16="http://schemas.microsoft.com/office/drawing/2014/main" id="{3E1CB3FA-A40E-89BA-D9B4-612659A1D7F8}"/>
              </a:ext>
            </a:extLst>
          </p:cNvPr>
          <p:cNvSpPr txBox="1"/>
          <p:nvPr userDrawn="1"/>
        </p:nvSpPr>
        <p:spPr>
          <a:xfrm>
            <a:off x="1602706" y="6401580"/>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2024 Lenovo Internal. All rights reserved.</a:t>
            </a:r>
          </a:p>
        </p:txBody>
      </p:sp>
      <p:grpSp>
        <p:nvGrpSpPr>
          <p:cNvPr id="3" name="Group 2">
            <a:extLst>
              <a:ext uri="{FF2B5EF4-FFF2-40B4-BE49-F238E27FC236}">
                <a16:creationId xmlns:a16="http://schemas.microsoft.com/office/drawing/2014/main" id="{FB68E53D-8D38-4B99-06F1-FB4045C1E803}"/>
              </a:ext>
            </a:extLst>
          </p:cNvPr>
          <p:cNvGrpSpPr>
            <a:grpSpLocks noChangeAspect="1"/>
          </p:cNvGrpSpPr>
          <p:nvPr userDrawn="1"/>
        </p:nvGrpSpPr>
        <p:grpSpPr>
          <a:xfrm>
            <a:off x="760611" y="6348283"/>
            <a:ext cx="777442" cy="259316"/>
            <a:chOff x="547688" y="952500"/>
            <a:chExt cx="12190413" cy="4067175"/>
          </a:xfrm>
        </p:grpSpPr>
        <p:sp>
          <p:nvSpPr>
            <p:cNvPr id="4" name="Rectangle 3">
              <a:extLst>
                <a:ext uri="{FF2B5EF4-FFF2-40B4-BE49-F238E27FC236}">
                  <a16:creationId xmlns:a16="http://schemas.microsoft.com/office/drawing/2014/main" id="{7B980263-2916-F21B-C57E-4D2C5D0C6879}"/>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 name="Freeform 7">
              <a:extLst>
                <a:ext uri="{FF2B5EF4-FFF2-40B4-BE49-F238E27FC236}">
                  <a16:creationId xmlns:a16="http://schemas.microsoft.com/office/drawing/2014/main" id="{9963EF3A-E5EB-BF83-AE65-6242B1661D0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 name="Freeform 8">
              <a:extLst>
                <a:ext uri="{FF2B5EF4-FFF2-40B4-BE49-F238E27FC236}">
                  <a16:creationId xmlns:a16="http://schemas.microsoft.com/office/drawing/2014/main" id="{8E894888-D539-48CF-7E80-4B30A55764E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 name="Freeform 9">
              <a:extLst>
                <a:ext uri="{FF2B5EF4-FFF2-40B4-BE49-F238E27FC236}">
                  <a16:creationId xmlns:a16="http://schemas.microsoft.com/office/drawing/2014/main" id="{A681269A-84EF-7A74-26C2-AA9D63BF38D7}"/>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 name="Freeform 10">
              <a:extLst>
                <a:ext uri="{FF2B5EF4-FFF2-40B4-BE49-F238E27FC236}">
                  <a16:creationId xmlns:a16="http://schemas.microsoft.com/office/drawing/2014/main" id="{A46570AB-4E06-E508-810C-A8843C51D4F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 name="Freeform 10">
              <a:extLst>
                <a:ext uri="{FF2B5EF4-FFF2-40B4-BE49-F238E27FC236}">
                  <a16:creationId xmlns:a16="http://schemas.microsoft.com/office/drawing/2014/main" id="{E4BCE35C-5FE5-30D2-825F-5F6BD7E2E562}"/>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2" name="Freeform 11">
              <a:extLst>
                <a:ext uri="{FF2B5EF4-FFF2-40B4-BE49-F238E27FC236}">
                  <a16:creationId xmlns:a16="http://schemas.microsoft.com/office/drawing/2014/main" id="{84957B54-C991-1A8F-6F65-A7A27118B92B}"/>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Tree>
    <p:extLst>
      <p:ext uri="{BB962C8B-B14F-4D97-AF65-F5344CB8AC3E}">
        <p14:creationId xmlns:p14="http://schemas.microsoft.com/office/powerpoint/2010/main" val="3310046852"/>
      </p:ext>
    </p:extLst>
  </p:cSld>
  <p:clrMapOvr>
    <a:masterClrMapping/>
  </p:clrMapOvr>
  <p:transition spd="med"/>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
    <p:bg>
      <p:bgPr>
        <a:solidFill>
          <a:srgbClr val="1E0113"/>
        </a:solidFill>
        <a:effectLst/>
      </p:bgPr>
    </p:bg>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89C3EB64-A851-71DD-8882-1FDB7C2E99CB}"/>
              </a:ext>
            </a:extLst>
          </p:cNvPr>
          <p:cNvSpPr txBox="1"/>
          <p:nvPr userDrawn="1"/>
        </p:nvSpPr>
        <p:spPr>
          <a:xfrm>
            <a:off x="1602806"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2024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9923824"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9923824"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569609559"/>
      </p:ext>
    </p:extLst>
  </p:cSld>
  <p:clrMapOvr>
    <a:masterClrMapping/>
  </p:clrMapOvr>
  <p:transition spd="med"/>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99A0C0A2-1C95-CF60-15E7-57B445A8992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293387223"/>
      </p:ext>
    </p:extLst>
  </p:cSld>
  <p:clrMapOvr>
    <a:masterClrMapping/>
  </p:clrMapOvr>
  <p:transition spd="med"/>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Title Only_Black">
    <p:bg>
      <p:bgPr>
        <a:solidFill>
          <a:srgbClr val="1E0113"/>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A245D89D-54AB-A7D6-4141-95E6B3C3695D}"/>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371053978"/>
      </p:ext>
    </p:extLst>
  </p:cSld>
  <p:clrMapOvr>
    <a:masterClrMapping/>
  </p:clrMapOvr>
  <p:transition spd="med"/>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55B6443-4299-282C-565B-68E5F9702780}"/>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723588354"/>
      </p:ext>
    </p:extLst>
  </p:cSld>
  <p:clrMapOvr>
    <a:masterClrMapping/>
  </p:clrMapOvr>
  <p:transition spd="med"/>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Only_Black">
    <p:bg>
      <p:bgPr>
        <a:solidFill>
          <a:srgbClr val="1E0113"/>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bg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BC296FD5-38BC-1E97-5513-17F333DF59B9}"/>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109931217"/>
      </p:ext>
    </p:extLst>
  </p:cSld>
  <p:clrMapOvr>
    <a:masterClrMapping/>
  </p:clrMapOvr>
  <p:transition spd="med"/>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1" y="1308880"/>
            <a:ext cx="1067382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BC5559F-D4D6-DA53-A720-07C2A2D68FA6}"/>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581194347"/>
      </p:ext>
    </p:extLst>
  </p:cSld>
  <p:clrMapOvr>
    <a:masterClrMapping/>
  </p:clrMapOvr>
  <p:transition spd="med"/>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Title and Content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2" y="1308880"/>
            <a:ext cx="1067077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2B190EFC-69A6-D92C-008E-75B891AE7709}"/>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014518135"/>
      </p:ext>
    </p:extLst>
  </p:cSld>
  <p:clrMapOvr>
    <a:masterClrMapping/>
  </p:clrMapOvr>
  <p:transition spd="med"/>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itle with Subtitle Content">
    <p:bg>
      <p:bgPr>
        <a:solidFill>
          <a:schemeClr val="bg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0" y="1749388"/>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827BD319-CE6A-C56C-FAF4-F7D3C4B20C07}"/>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01054357"/>
      </p:ext>
    </p:extLst>
  </p:cSld>
  <p:clrMapOvr>
    <a:masterClrMapping/>
  </p:clrMapOvr>
  <p:transition spd="med"/>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Content_Black">
    <p:bg>
      <p:bgPr>
        <a:solidFill>
          <a:srgbClr val="1E0113"/>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0" y="1749389"/>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bg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2F390D5-FAC3-3E07-D977-2FACDFA7E866}"/>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914261653"/>
      </p:ext>
    </p:extLst>
  </p:cSld>
  <p:clrMapOvr>
    <a:masterClrMapping/>
  </p:clrMapOvr>
  <p:transition spd="med"/>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wo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3"/>
            <a:ext cx="5070324"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340962" y="1307593"/>
            <a:ext cx="5067096"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2FE5186-E704-46DB-A234-0339427F829C}"/>
              </a:ext>
            </a:extLst>
          </p:cNvPr>
          <p:cNvSpPr>
            <a:spLocks noGrp="1"/>
          </p:cNvSpPr>
          <p:nvPr>
            <p:ph type="sldNum" sz="quarter" idx="15"/>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067762670"/>
      </p:ext>
    </p:extLst>
  </p:cSld>
  <p:clrMapOvr>
    <a:masterClrMapping/>
  </p:clrMapOvr>
  <p:transition spd="med"/>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Two Column Slide_Black">
    <p:bg>
      <p:bgPr>
        <a:solidFill>
          <a:srgbClr val="1E01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4"/>
            <a:ext cx="5070324"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340962" y="1307594"/>
            <a:ext cx="506709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A1D52F52-4191-E70A-A15D-3F4D0CF0AA2B}"/>
              </a:ext>
            </a:extLst>
          </p:cNvPr>
          <p:cNvSpPr>
            <a:spLocks noGrp="1"/>
          </p:cNvSpPr>
          <p:nvPr>
            <p:ph type="sldNum" sz="quarter" idx="15"/>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999827391"/>
      </p:ext>
    </p:extLst>
  </p:cSld>
  <p:clrMapOvr>
    <a:masterClrMapping/>
  </p:clrMapOvr>
  <p:transition spd="med"/>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hree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2"/>
          <p:cNvSpPr>
            <a:spLocks noGrp="1"/>
          </p:cNvSpPr>
          <p:nvPr>
            <p:ph sz="half" idx="10"/>
          </p:nvPr>
        </p:nvSpPr>
        <p:spPr bwMode="gray">
          <a:xfrm>
            <a:off x="4378398" y="1307594"/>
            <a:ext cx="3344059"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017903" y="1307594"/>
            <a:ext cx="341653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C61C74C-45BE-3DE8-0DFD-4B97D814FB04}"/>
              </a:ext>
            </a:extLst>
          </p:cNvPr>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877290669"/>
      </p:ext>
    </p:extLst>
  </p:cSld>
  <p:clrMapOvr>
    <a:masterClrMapping/>
  </p:clrMapOvr>
  <p:transition spd="med"/>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preserve="1" userDrawn="1">
  <p:cSld name="Three Column Slide_Black">
    <p:bg>
      <p:bgPr>
        <a:solidFill>
          <a:srgbClr val="1E01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2"/>
          <p:cNvSpPr>
            <a:spLocks noGrp="1"/>
          </p:cNvSpPr>
          <p:nvPr>
            <p:ph sz="half" idx="10"/>
          </p:nvPr>
        </p:nvSpPr>
        <p:spPr bwMode="gray">
          <a:xfrm>
            <a:off x="4378399"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017903" y="1307594"/>
            <a:ext cx="341653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3A92B045-EC23-B30D-E716-8FEBB279E86E}"/>
              </a:ext>
            </a:extLst>
          </p:cNvPr>
          <p:cNvSpPr>
            <a:spLocks noGrp="1"/>
          </p:cNvSpPr>
          <p:nvPr>
            <p:ph type="sldNum" sz="quarter" idx="12"/>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333244427"/>
      </p:ext>
    </p:extLst>
  </p:cSld>
  <p:clrMapOvr>
    <a:masterClrMapping/>
  </p:clrMapOvr>
  <p:transition spd="med"/>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le w/Imag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5725006"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3"/>
            <a:ext cx="5725006"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C8F3C117-A202-AC1A-30DA-A95049B2670E}"/>
              </a:ext>
            </a:extLst>
          </p:cNvPr>
          <p:cNvSpPr>
            <a:spLocks noGrp="1"/>
          </p:cNvSpPr>
          <p:nvPr>
            <p:ph type="sldNum" sz="quarter" idx="17"/>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091684889"/>
      </p:ext>
    </p:extLst>
  </p:cSld>
  <p:clrMapOvr>
    <a:masterClrMapping/>
  </p:clrMapOvr>
  <p:transition spd="med"/>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preserve="1" userDrawn="1">
  <p:cSld name="Title w/Image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5725006"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3"/>
            <a:ext cx="5725006" cy="4919589"/>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EF7E7426-E0FB-DA60-E1E0-A41FD9009F5D}"/>
              </a:ext>
            </a:extLst>
          </p:cNvPr>
          <p:cNvSpPr>
            <a:spLocks noGrp="1"/>
          </p:cNvSpPr>
          <p:nvPr>
            <p:ph type="sldNum" sz="quarter" idx="17"/>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409796677"/>
      </p:ext>
    </p:extLst>
  </p:cSld>
  <p:clrMapOvr>
    <a:masterClrMapping/>
  </p:clrMapOvr>
  <p:transition spd="med"/>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Photo + Statement">
    <p:spTree>
      <p:nvGrpSpPr>
        <p:cNvPr id="1" name=""/>
        <p:cNvGrpSpPr/>
        <p:nvPr/>
      </p:nvGrpSpPr>
      <p:grpSpPr>
        <a:xfrm>
          <a:off x="0" y="0"/>
          <a:ext cx="0" cy="0"/>
          <a:chOff x="0" y="0"/>
          <a:chExt cx="0" cy="0"/>
        </a:xfrm>
      </p:grpSpPr>
      <p:sp>
        <p:nvSpPr>
          <p:cNvPr id="3" name="Rectangle 2"/>
          <p:cNvSpPr/>
          <p:nvPr userDrawn="1"/>
        </p:nvSpPr>
        <p:spPr>
          <a:xfrm>
            <a:off x="1"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8"/>
          <p:cNvSpPr>
            <a:spLocks noGrp="1"/>
          </p:cNvSpPr>
          <p:nvPr>
            <p:ph type="pic" sz="quarter" idx="16"/>
          </p:nvPr>
        </p:nvSpPr>
        <p:spPr>
          <a:xfrm>
            <a:off x="4571604" y="0"/>
            <a:ext cx="7620396"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14" name="Text Placeholder 3"/>
          <p:cNvSpPr>
            <a:spLocks noGrp="1"/>
          </p:cNvSpPr>
          <p:nvPr>
            <p:ph type="body" sz="quarter" idx="18" hasCustomPrompt="1"/>
          </p:nvPr>
        </p:nvSpPr>
        <p:spPr>
          <a:xfrm>
            <a:off x="760610" y="995010"/>
            <a:ext cx="3428016" cy="1436465"/>
          </a:xfrm>
          <a:prstGeom prst="rect">
            <a:avLst/>
          </a:prstGeom>
          <a:noFill/>
        </p:spPr>
        <p:txBody>
          <a:bodyPr lIns="0" tIns="0" rIns="0" bIns="0" anchor="b" anchorCtr="0">
            <a:noAutofit/>
          </a:bodyPr>
          <a:lstStyle>
            <a:lvl1pPr marL="0" indent="0">
              <a:lnSpc>
                <a:spcPct val="85000"/>
              </a:lnSpc>
              <a:spcBef>
                <a:spcPts val="0"/>
              </a:spcBef>
              <a:buFont typeface="Arial" panose="020B0604020202020204" pitchFamily="34" charset="0"/>
              <a:buNone/>
              <a:defRPr sz="4400" b="1" strike="noStrike" spc="-150" baseline="0">
                <a:solidFill>
                  <a:schemeClr val="tx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Click to edit slide title</a:t>
            </a:r>
          </a:p>
        </p:txBody>
      </p:sp>
      <p:sp>
        <p:nvSpPr>
          <p:cNvPr id="2" name="Slide Number Placeholder 1">
            <a:extLst>
              <a:ext uri="{FF2B5EF4-FFF2-40B4-BE49-F238E27FC236}">
                <a16:creationId xmlns:a16="http://schemas.microsoft.com/office/drawing/2014/main" id="{DA2637C5-16EA-761D-E2F8-7F6B3E3B6F6C}"/>
              </a:ext>
            </a:extLst>
          </p:cNvPr>
          <p:cNvSpPr>
            <a:spLocks noGrp="1"/>
          </p:cNvSpPr>
          <p:nvPr>
            <p:ph type="sldNum" sz="quarter" idx="20"/>
          </p:nvPr>
        </p:nvSpPr>
        <p:spPr/>
        <p:txBody>
          <a:bodyPr/>
          <a:lstStyle/>
          <a:p>
            <a:fld id="{6D22F896-40B5-4ADD-8801-0D06FADFA095}" type="slidenum">
              <a:rPr lang="en-US" smtClean="0"/>
              <a:pPr/>
              <a:t>‹#›</a:t>
            </a:fld>
            <a:endParaRPr lang="en-US"/>
          </a:p>
        </p:txBody>
      </p:sp>
      <p:sp>
        <p:nvSpPr>
          <p:cNvPr id="12" name="Content Placeholder 2">
            <a:extLst>
              <a:ext uri="{FF2B5EF4-FFF2-40B4-BE49-F238E27FC236}">
                <a16:creationId xmlns:a16="http://schemas.microsoft.com/office/drawing/2014/main" id="{3939283D-21AA-FD28-A517-FFF4AF9FDA82}"/>
              </a:ext>
            </a:extLst>
          </p:cNvPr>
          <p:cNvSpPr>
            <a:spLocks noGrp="1"/>
          </p:cNvSpPr>
          <p:nvPr>
            <p:ph sz="half" idx="1"/>
          </p:nvPr>
        </p:nvSpPr>
        <p:spPr bwMode="gray">
          <a:xfrm>
            <a:off x="760610" y="2815936"/>
            <a:ext cx="3428016" cy="3280064"/>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4365973"/>
      </p:ext>
    </p:extLst>
  </p:cSld>
  <p:clrMapOvr>
    <a:masterClrMapping/>
  </p:clrMapOvr>
  <p:transition spd="med"/>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Photo + Statement_Black">
    <p:bg>
      <p:bgPr>
        <a:solidFill>
          <a:srgbClr val="1E0113"/>
        </a:solidFill>
        <a:effectLst/>
      </p:bgPr>
    </p:bg>
    <p:spTree>
      <p:nvGrpSpPr>
        <p:cNvPr id="1" name=""/>
        <p:cNvGrpSpPr/>
        <p:nvPr/>
      </p:nvGrpSpPr>
      <p:grpSpPr>
        <a:xfrm>
          <a:off x="0" y="0"/>
          <a:ext cx="0" cy="0"/>
          <a:chOff x="0" y="0"/>
          <a:chExt cx="0" cy="0"/>
        </a:xfrm>
      </p:grpSpPr>
      <p:sp>
        <p:nvSpPr>
          <p:cNvPr id="3" name="Rectangle 2"/>
          <p:cNvSpPr/>
          <p:nvPr userDrawn="1"/>
        </p:nvSpPr>
        <p:spPr>
          <a:xfrm>
            <a:off x="1"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8"/>
          <p:cNvSpPr>
            <a:spLocks noGrp="1"/>
          </p:cNvSpPr>
          <p:nvPr>
            <p:ph type="pic" sz="quarter" idx="16"/>
          </p:nvPr>
        </p:nvSpPr>
        <p:spPr>
          <a:xfrm>
            <a:off x="4571604" y="0"/>
            <a:ext cx="7620396"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EC182470-3621-1323-235D-7DBA176E68EC}"/>
              </a:ext>
            </a:extLst>
          </p:cNvPr>
          <p:cNvSpPr>
            <a:spLocks noGrp="1"/>
          </p:cNvSpPr>
          <p:nvPr>
            <p:ph type="sldNum" sz="quarter" idx="2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29" name="Text Placeholder 3">
            <a:extLst>
              <a:ext uri="{FF2B5EF4-FFF2-40B4-BE49-F238E27FC236}">
                <a16:creationId xmlns:a16="http://schemas.microsoft.com/office/drawing/2014/main" id="{C11FB6FD-7B80-D920-2B92-D358B184462D}"/>
              </a:ext>
            </a:extLst>
          </p:cNvPr>
          <p:cNvSpPr>
            <a:spLocks noGrp="1"/>
          </p:cNvSpPr>
          <p:nvPr>
            <p:ph type="body" sz="quarter" idx="18" hasCustomPrompt="1"/>
          </p:nvPr>
        </p:nvSpPr>
        <p:spPr>
          <a:xfrm>
            <a:off x="760610" y="995010"/>
            <a:ext cx="3428016" cy="1436465"/>
          </a:xfrm>
          <a:prstGeom prst="rect">
            <a:avLst/>
          </a:prstGeom>
          <a:noFill/>
        </p:spPr>
        <p:txBody>
          <a:bodyPr lIns="0" tIns="0" rIns="0" bIns="0" anchor="b" anchorCtr="0">
            <a:noAutofit/>
          </a:bodyPr>
          <a:lstStyle>
            <a:lvl1pPr marL="0" indent="0">
              <a:lnSpc>
                <a:spcPct val="85000"/>
              </a:lnSpc>
              <a:spcBef>
                <a:spcPts val="0"/>
              </a:spcBef>
              <a:buFont typeface="Arial" panose="020B0604020202020204" pitchFamily="34" charset="0"/>
              <a:buNone/>
              <a:defRPr sz="4400" b="1" strike="noStrike" spc="-150" baseline="0">
                <a:solidFill>
                  <a:schemeClr val="bg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Click to edit slide title</a:t>
            </a:r>
          </a:p>
        </p:txBody>
      </p:sp>
      <p:sp>
        <p:nvSpPr>
          <p:cNvPr id="30" name="Content Placeholder 2">
            <a:extLst>
              <a:ext uri="{FF2B5EF4-FFF2-40B4-BE49-F238E27FC236}">
                <a16:creationId xmlns:a16="http://schemas.microsoft.com/office/drawing/2014/main" id="{5F150789-C64C-B456-4B9A-24AED7315FBB}"/>
              </a:ext>
            </a:extLst>
          </p:cNvPr>
          <p:cNvSpPr>
            <a:spLocks noGrp="1"/>
          </p:cNvSpPr>
          <p:nvPr>
            <p:ph sz="half" idx="1"/>
          </p:nvPr>
        </p:nvSpPr>
        <p:spPr bwMode="gray">
          <a:xfrm>
            <a:off x="760610" y="2815936"/>
            <a:ext cx="3428016" cy="3280064"/>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74593665"/>
      </p:ext>
    </p:extLst>
  </p:cSld>
  <p:clrMapOvr>
    <a:masterClrMapping/>
  </p:clrMapOvr>
  <p:transition spd="med"/>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Big Idea">
    <p:bg>
      <p:bgPr>
        <a:solidFill>
          <a:schemeClr val="accent3">
            <a:lumMod val="25000"/>
          </a:schemeClr>
        </a:solidFill>
        <a:effectLst/>
      </p:bgPr>
    </p:bg>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B8CB8992-3FC1-1D5A-F5A3-5A7867B1CF80}"/>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7" name="Text Placeholder 6">
            <a:extLst>
              <a:ext uri="{FF2B5EF4-FFF2-40B4-BE49-F238E27FC236}">
                <a16:creationId xmlns:a16="http://schemas.microsoft.com/office/drawing/2014/main" id="{EFEF7F64-EAB6-F941-857A-EB6862B07383}"/>
              </a:ext>
            </a:extLst>
          </p:cNvPr>
          <p:cNvSpPr>
            <a:spLocks noGrp="1"/>
          </p:cNvSpPr>
          <p:nvPr>
            <p:ph type="body" sz="quarter" idx="11" hasCustomPrompt="1"/>
          </p:nvPr>
        </p:nvSpPr>
        <p:spPr>
          <a:xfrm>
            <a:off x="760611" y="1757775"/>
            <a:ext cx="10670779" cy="3342453"/>
          </a:xfrm>
          <a:prstGeom prst="rect">
            <a:avLst/>
          </a:prstGeom>
        </p:spPr>
        <p:txBody>
          <a:bodyPr wrap="square" lIns="0" rIns="0" anchor="ctr" anchorCtr="0">
            <a:spAutoFit/>
          </a:bodyPr>
          <a:lstStyle>
            <a:lvl1pPr marL="0" indent="0">
              <a:lnSpc>
                <a:spcPct val="80000"/>
              </a:lnSpc>
              <a:spcBef>
                <a:spcPts val="0"/>
              </a:spcBef>
              <a:buNone/>
              <a:defRPr sz="8800" b="1">
                <a:solidFill>
                  <a:schemeClr val="bg1"/>
                </a:solidFill>
              </a:defRPr>
            </a:lvl1pPr>
            <a:lvl2pPr marL="609494" indent="0">
              <a:buNone/>
              <a:defRPr/>
            </a:lvl2pPr>
          </a:lstStyle>
          <a:p>
            <a:pPr lvl="0"/>
            <a:r>
              <a:rPr lang="en-US"/>
              <a:t>Click to edit big idea, statement or subject</a:t>
            </a:r>
          </a:p>
        </p:txBody>
      </p:sp>
    </p:spTree>
    <p:extLst>
      <p:ext uri="{BB962C8B-B14F-4D97-AF65-F5344CB8AC3E}">
        <p14:creationId xmlns:p14="http://schemas.microsoft.com/office/powerpoint/2010/main" val="482985498"/>
      </p:ext>
    </p:extLst>
  </p:cSld>
  <p:clrMapOvr>
    <a:masterClrMapping/>
  </p:clrMapOvr>
  <p:transition spd="med"/>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Content w/ Product">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9" name="Content Placeholder 2"/>
          <p:cNvSpPr>
            <a:spLocks noGrp="1"/>
          </p:cNvSpPr>
          <p:nvPr>
            <p:ph sz="half" idx="18"/>
          </p:nvPr>
        </p:nvSpPr>
        <p:spPr bwMode="gray">
          <a:xfrm>
            <a:off x="6858198" y="1307593"/>
            <a:ext cx="4573192"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58198" y="442528"/>
            <a:ext cx="4573192"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0AFBC96C-E04F-90E6-1BBE-C65ECD6E5C14}"/>
              </a:ext>
            </a:extLst>
          </p:cNvPr>
          <p:cNvSpPr>
            <a:spLocks noGrp="1"/>
          </p:cNvSpPr>
          <p:nvPr>
            <p:ph type="sldNum" sz="quarter" idx="19"/>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643288649"/>
      </p:ext>
    </p:extLst>
  </p:cSld>
  <p:clrMapOvr>
    <a:masterClrMapping/>
  </p:clrMapOvr>
  <p:transition spd="med"/>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Content w/ Product_Black">
    <p:bg>
      <p:bgPr>
        <a:solidFill>
          <a:srgbClr val="1E0113"/>
        </a:solidFill>
        <a:effectLst/>
      </p:bgPr>
    </p:bg>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9" name="Content Placeholder 2"/>
          <p:cNvSpPr>
            <a:spLocks noGrp="1"/>
          </p:cNvSpPr>
          <p:nvPr>
            <p:ph sz="half" idx="18"/>
          </p:nvPr>
        </p:nvSpPr>
        <p:spPr bwMode="gray">
          <a:xfrm>
            <a:off x="6858200" y="1307592"/>
            <a:ext cx="4573191" cy="4788408"/>
          </a:xfrm>
          <a:prstGeom prst="rect">
            <a:avLst/>
          </a:prstGeom>
        </p:spPr>
        <p:txBody>
          <a:bodyPr lIns="0" tIns="0" rIns="0" bIns="0"/>
          <a:lstStyle>
            <a:lvl1pPr marL="171450" indent="-171450">
              <a:lnSpc>
                <a:spcPct val="90000"/>
              </a:lnSpc>
              <a:spcBef>
                <a:spcPts val="5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58199" y="442528"/>
            <a:ext cx="4573192" cy="418576"/>
          </a:xfrm>
          <a:prstGeom prst="rect">
            <a:avLst/>
          </a:prstGeom>
        </p:spPr>
        <p:txBody>
          <a:bodyPr wrap="square" lIns="0" tIns="0" rIns="0" bIns="0" anchor="t" anchorCtr="0">
            <a:sp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E5A84DA8-2577-7EF4-6122-06E4DEEB80AF}"/>
              </a:ext>
            </a:extLst>
          </p:cNvPr>
          <p:cNvSpPr>
            <a:spLocks noGrp="1"/>
          </p:cNvSpPr>
          <p:nvPr>
            <p:ph type="sldNum" sz="quarter" idx="19"/>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932871444"/>
      </p:ext>
    </p:extLst>
  </p:cSld>
  <p:clrMapOvr>
    <a:masterClrMapping/>
  </p:clrMapOvr>
  <p:transition spd="med"/>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sp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760612" y="1524000"/>
            <a:ext cx="10670779" cy="4572000"/>
          </a:xfrm>
          <a:prstGeom prst="rect">
            <a:avLst/>
          </a:prstGeom>
        </p:spPr>
        <p:txBody>
          <a:bodyPr lIns="121899" tIns="853291" rIns="121899" bIns="60949" anchor="ctr" anchorCtr="0"/>
          <a:lstStyle>
            <a:lvl1pPr marL="0" indent="0" algn="ctr">
              <a:buFontTx/>
              <a:buNone/>
              <a:defRPr sz="2400" baseline="0">
                <a:solidFill>
                  <a:schemeClr val="bg2"/>
                </a:solidFill>
              </a:defRPr>
            </a:lvl1pPr>
          </a:lstStyle>
          <a:p>
            <a:r>
              <a:rPr lang="en-US"/>
              <a:t>Click icon to create chart</a:t>
            </a:r>
          </a:p>
        </p:txBody>
      </p:sp>
      <p:sp>
        <p:nvSpPr>
          <p:cNvPr id="2" name="Slide Number Placeholder 1">
            <a:extLst>
              <a:ext uri="{FF2B5EF4-FFF2-40B4-BE49-F238E27FC236}">
                <a16:creationId xmlns:a16="http://schemas.microsoft.com/office/drawing/2014/main" id="{BBE9C038-E754-006F-B382-D714EB949571}"/>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09400249"/>
      </p:ext>
    </p:extLst>
  </p:cSld>
  <p:clrMapOvr>
    <a:masterClrMapping/>
  </p:clrMapOvr>
  <p:transition spd="med"/>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Chart Slide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760612" y="1524000"/>
            <a:ext cx="10670779" cy="4572001"/>
          </a:xfrm>
          <a:prstGeom prst="rect">
            <a:avLst/>
          </a:prstGeom>
        </p:spPr>
        <p:txBody>
          <a:bodyPr lIns="121899" tIns="853291" rIns="121899" bIns="60949" anchor="ctr" anchorCtr="0"/>
          <a:lstStyle>
            <a:lvl1pPr marL="0" indent="0" algn="ctr">
              <a:buFontTx/>
              <a:buNone/>
              <a:defRPr sz="2400" baseline="0">
                <a:solidFill>
                  <a:schemeClr val="bg1"/>
                </a:solidFill>
              </a:defRPr>
            </a:lvl1pPr>
          </a:lstStyle>
          <a:p>
            <a:r>
              <a:rPr lang="en-US"/>
              <a:t>Click icon to create chart</a:t>
            </a:r>
          </a:p>
        </p:txBody>
      </p:sp>
      <p:sp>
        <p:nvSpPr>
          <p:cNvPr id="2" name="Slide Number Placeholder 1">
            <a:extLst>
              <a:ext uri="{FF2B5EF4-FFF2-40B4-BE49-F238E27FC236}">
                <a16:creationId xmlns:a16="http://schemas.microsoft.com/office/drawing/2014/main" id="{A1222CEF-FCD3-E840-7AE1-E900A5D59CF2}"/>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504285928"/>
      </p:ext>
    </p:extLst>
  </p:cSld>
  <p:clrMapOvr>
    <a:masterClrMapping/>
  </p:clrMapOvr>
  <p:transition spd="med"/>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12E9409-35B8-57EB-2941-154C5CA02C3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245777499"/>
      </p:ext>
    </p:extLst>
  </p:cSld>
  <p:clrMapOvr>
    <a:masterClrMapping/>
  </p:clrMapOvr>
  <p:transition spd="med"/>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userDrawn="1">
  <p:cSld name="Blank Slide_Black">
    <p:bg>
      <p:bgPr>
        <a:solidFill>
          <a:srgbClr val="1E0113"/>
        </a:solidFill>
        <a:effectLst/>
      </p:bgPr>
    </p:bg>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0094B782-D6B1-E164-080E-40821B7DAFAF}"/>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260386998"/>
      </p:ext>
    </p:extLst>
  </p:cSld>
  <p:clrMapOvr>
    <a:masterClrMapping/>
  </p:clrMapOvr>
  <p:transition spd="med"/>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Closing Slide">
    <p:bg>
      <p:bgPr>
        <a:solidFill>
          <a:schemeClr val="bg1"/>
        </a:solidFill>
        <a:effectLst/>
      </p:bgPr>
    </p:bg>
    <p:spTree>
      <p:nvGrpSpPr>
        <p:cNvPr id="1" name=""/>
        <p:cNvGrpSpPr/>
        <p:nvPr/>
      </p:nvGrpSpPr>
      <p:grpSpPr>
        <a:xfrm>
          <a:off x="0" y="0"/>
          <a:ext cx="0" cy="0"/>
          <a:chOff x="0" y="0"/>
          <a:chExt cx="0" cy="0"/>
        </a:xfrm>
      </p:grpSpPr>
      <p:grpSp>
        <p:nvGrpSpPr>
          <p:cNvPr id="76" name="Group 75">
            <a:extLst>
              <a:ext uri="{FF2B5EF4-FFF2-40B4-BE49-F238E27FC236}">
                <a16:creationId xmlns:a16="http://schemas.microsoft.com/office/drawing/2014/main" id="{04DB0252-2F51-9D54-5F87-47E8112037C5}"/>
              </a:ext>
            </a:extLst>
          </p:cNvPr>
          <p:cNvGrpSpPr/>
          <p:nvPr userDrawn="1"/>
        </p:nvGrpSpPr>
        <p:grpSpPr>
          <a:xfrm>
            <a:off x="9392771" y="936748"/>
            <a:ext cx="1966475" cy="1042086"/>
            <a:chOff x="4988072" y="501936"/>
            <a:chExt cx="1978802" cy="1051017"/>
          </a:xfrm>
          <a:solidFill>
            <a:srgbClr val="4D144A"/>
          </a:solidFill>
        </p:grpSpPr>
        <p:sp>
          <p:nvSpPr>
            <p:cNvPr id="85" name="Freeform 5">
              <a:extLst>
                <a:ext uri="{FF2B5EF4-FFF2-40B4-BE49-F238E27FC236}">
                  <a16:creationId xmlns:a16="http://schemas.microsoft.com/office/drawing/2014/main" id="{433FD598-576F-FFF0-672B-6A9B1AF51242}"/>
                </a:ext>
              </a:extLst>
            </p:cNvPr>
            <p:cNvSpPr>
              <a:spLocks/>
            </p:cNvSpPr>
            <p:nvPr userDrawn="1"/>
          </p:nvSpPr>
          <p:spPr bwMode="auto">
            <a:xfrm>
              <a:off x="5559016" y="501936"/>
              <a:ext cx="218094" cy="282813"/>
            </a:xfrm>
            <a:custGeom>
              <a:avLst/>
              <a:gdLst>
                <a:gd name="T0" fmla="*/ 0 w 502"/>
                <a:gd name="T1" fmla="*/ 550 h 651"/>
                <a:gd name="T2" fmla="*/ 83 w 502"/>
                <a:gd name="T3" fmla="*/ 451 h 651"/>
                <a:gd name="T4" fmla="*/ 272 w 502"/>
                <a:gd name="T5" fmla="*/ 528 h 651"/>
                <a:gd name="T6" fmla="*/ 363 w 502"/>
                <a:gd name="T7" fmla="*/ 469 h 651"/>
                <a:gd name="T8" fmla="*/ 363 w 502"/>
                <a:gd name="T9" fmla="*/ 467 h 651"/>
                <a:gd name="T10" fmla="*/ 236 w 502"/>
                <a:gd name="T11" fmla="*/ 386 h 651"/>
                <a:gd name="T12" fmla="*/ 26 w 502"/>
                <a:gd name="T13" fmla="*/ 192 h 651"/>
                <a:gd name="T14" fmla="*/ 26 w 502"/>
                <a:gd name="T15" fmla="*/ 191 h 651"/>
                <a:gd name="T16" fmla="*/ 247 w 502"/>
                <a:gd name="T17" fmla="*/ 0 h 651"/>
                <a:gd name="T18" fmla="*/ 483 w 502"/>
                <a:gd name="T19" fmla="*/ 80 h 651"/>
                <a:gd name="T20" fmla="*/ 410 w 502"/>
                <a:gd name="T21" fmla="*/ 185 h 651"/>
                <a:gd name="T22" fmla="*/ 246 w 502"/>
                <a:gd name="T23" fmla="*/ 123 h 651"/>
                <a:gd name="T24" fmla="*/ 164 w 502"/>
                <a:gd name="T25" fmla="*/ 178 h 651"/>
                <a:gd name="T26" fmla="*/ 164 w 502"/>
                <a:gd name="T27" fmla="*/ 180 h 651"/>
                <a:gd name="T28" fmla="*/ 301 w 502"/>
                <a:gd name="T29" fmla="*/ 263 h 651"/>
                <a:gd name="T30" fmla="*/ 502 w 502"/>
                <a:gd name="T31" fmla="*/ 453 h 651"/>
                <a:gd name="T32" fmla="*/ 502 w 502"/>
                <a:gd name="T33" fmla="*/ 455 h 651"/>
                <a:gd name="T34" fmla="*/ 269 w 502"/>
                <a:gd name="T35" fmla="*/ 651 h 651"/>
                <a:gd name="T36" fmla="*/ 0 w 502"/>
                <a:gd name="T37" fmla="*/ 55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651">
                  <a:moveTo>
                    <a:pt x="0" y="550"/>
                  </a:moveTo>
                  <a:cubicBezTo>
                    <a:pt x="83" y="451"/>
                    <a:pt x="83" y="451"/>
                    <a:pt x="83" y="451"/>
                  </a:cubicBezTo>
                  <a:cubicBezTo>
                    <a:pt x="140" y="498"/>
                    <a:pt x="200" y="528"/>
                    <a:pt x="272" y="528"/>
                  </a:cubicBezTo>
                  <a:cubicBezTo>
                    <a:pt x="329" y="528"/>
                    <a:pt x="363" y="506"/>
                    <a:pt x="363" y="469"/>
                  </a:cubicBezTo>
                  <a:cubicBezTo>
                    <a:pt x="363" y="467"/>
                    <a:pt x="363" y="467"/>
                    <a:pt x="363" y="467"/>
                  </a:cubicBezTo>
                  <a:cubicBezTo>
                    <a:pt x="363" y="431"/>
                    <a:pt x="342" y="413"/>
                    <a:pt x="236" y="386"/>
                  </a:cubicBezTo>
                  <a:cubicBezTo>
                    <a:pt x="108" y="354"/>
                    <a:pt x="26" y="318"/>
                    <a:pt x="26" y="192"/>
                  </a:cubicBezTo>
                  <a:cubicBezTo>
                    <a:pt x="26" y="191"/>
                    <a:pt x="26" y="191"/>
                    <a:pt x="26" y="191"/>
                  </a:cubicBezTo>
                  <a:cubicBezTo>
                    <a:pt x="26" y="76"/>
                    <a:pt x="118" y="0"/>
                    <a:pt x="247" y="0"/>
                  </a:cubicBezTo>
                  <a:cubicBezTo>
                    <a:pt x="340" y="0"/>
                    <a:pt x="419" y="29"/>
                    <a:pt x="483" y="80"/>
                  </a:cubicBezTo>
                  <a:cubicBezTo>
                    <a:pt x="410" y="185"/>
                    <a:pt x="410" y="185"/>
                    <a:pt x="410" y="185"/>
                  </a:cubicBezTo>
                  <a:cubicBezTo>
                    <a:pt x="354" y="146"/>
                    <a:pt x="299" y="123"/>
                    <a:pt x="246" y="123"/>
                  </a:cubicBezTo>
                  <a:cubicBezTo>
                    <a:pt x="192" y="123"/>
                    <a:pt x="164" y="147"/>
                    <a:pt x="164" y="178"/>
                  </a:cubicBezTo>
                  <a:cubicBezTo>
                    <a:pt x="164" y="180"/>
                    <a:pt x="164" y="180"/>
                    <a:pt x="164" y="180"/>
                  </a:cubicBezTo>
                  <a:cubicBezTo>
                    <a:pt x="164" y="221"/>
                    <a:pt x="191" y="235"/>
                    <a:pt x="301" y="263"/>
                  </a:cubicBezTo>
                  <a:cubicBezTo>
                    <a:pt x="429" y="297"/>
                    <a:pt x="502" y="343"/>
                    <a:pt x="502" y="453"/>
                  </a:cubicBezTo>
                  <a:cubicBezTo>
                    <a:pt x="502" y="455"/>
                    <a:pt x="502" y="455"/>
                    <a:pt x="502" y="455"/>
                  </a:cubicBezTo>
                  <a:cubicBezTo>
                    <a:pt x="502" y="581"/>
                    <a:pt x="406" y="651"/>
                    <a:pt x="269" y="651"/>
                  </a:cubicBezTo>
                  <a:cubicBezTo>
                    <a:pt x="173" y="651"/>
                    <a:pt x="76" y="618"/>
                    <a:pt x="0" y="5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6" name="Freeform 6">
              <a:extLst>
                <a:ext uri="{FF2B5EF4-FFF2-40B4-BE49-F238E27FC236}">
                  <a16:creationId xmlns:a16="http://schemas.microsoft.com/office/drawing/2014/main" id="{824AAD10-C96C-2D4A-15C2-1D354C7C691E}"/>
                </a:ext>
              </a:extLst>
            </p:cNvPr>
            <p:cNvSpPr>
              <a:spLocks/>
            </p:cNvSpPr>
            <p:nvPr userDrawn="1"/>
          </p:nvSpPr>
          <p:spPr bwMode="auto">
            <a:xfrm>
              <a:off x="5791295" y="566212"/>
              <a:ext cx="322264" cy="214547"/>
            </a:xfrm>
            <a:custGeom>
              <a:avLst/>
              <a:gdLst>
                <a:gd name="T0" fmla="*/ 0 w 741"/>
                <a:gd name="T1" fmla="*/ 9 h 494"/>
                <a:gd name="T2" fmla="*/ 138 w 741"/>
                <a:gd name="T3" fmla="*/ 9 h 494"/>
                <a:gd name="T4" fmla="*/ 138 w 741"/>
                <a:gd name="T5" fmla="*/ 78 h 494"/>
                <a:gd name="T6" fmla="*/ 281 w 741"/>
                <a:gd name="T7" fmla="*/ 0 h 494"/>
                <a:gd name="T8" fmla="*/ 418 w 741"/>
                <a:gd name="T9" fmla="*/ 77 h 494"/>
                <a:gd name="T10" fmla="*/ 577 w 741"/>
                <a:gd name="T11" fmla="*/ 0 h 494"/>
                <a:gd name="T12" fmla="*/ 741 w 741"/>
                <a:gd name="T13" fmla="*/ 178 h 494"/>
                <a:gd name="T14" fmla="*/ 741 w 741"/>
                <a:gd name="T15" fmla="*/ 494 h 494"/>
                <a:gd name="T16" fmla="*/ 603 w 741"/>
                <a:gd name="T17" fmla="*/ 494 h 494"/>
                <a:gd name="T18" fmla="*/ 603 w 741"/>
                <a:gd name="T19" fmla="*/ 224 h 494"/>
                <a:gd name="T20" fmla="*/ 523 w 741"/>
                <a:gd name="T21" fmla="*/ 125 h 494"/>
                <a:gd name="T22" fmla="*/ 439 w 741"/>
                <a:gd name="T23" fmla="*/ 224 h 494"/>
                <a:gd name="T24" fmla="*/ 439 w 741"/>
                <a:gd name="T25" fmla="*/ 494 h 494"/>
                <a:gd name="T26" fmla="*/ 302 w 741"/>
                <a:gd name="T27" fmla="*/ 494 h 494"/>
                <a:gd name="T28" fmla="*/ 302 w 741"/>
                <a:gd name="T29" fmla="*/ 224 h 494"/>
                <a:gd name="T30" fmla="*/ 221 w 741"/>
                <a:gd name="T31" fmla="*/ 125 h 494"/>
                <a:gd name="T32" fmla="*/ 138 w 741"/>
                <a:gd name="T33" fmla="*/ 224 h 494"/>
                <a:gd name="T34" fmla="*/ 138 w 741"/>
                <a:gd name="T35" fmla="*/ 494 h 494"/>
                <a:gd name="T36" fmla="*/ 0 w 741"/>
                <a:gd name="T37" fmla="*/ 494 h 494"/>
                <a:gd name="T38" fmla="*/ 0 w 741"/>
                <a:gd name="T39"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1" h="494">
                  <a:moveTo>
                    <a:pt x="0" y="9"/>
                  </a:moveTo>
                  <a:cubicBezTo>
                    <a:pt x="138" y="9"/>
                    <a:pt x="138" y="9"/>
                    <a:pt x="138" y="9"/>
                  </a:cubicBezTo>
                  <a:cubicBezTo>
                    <a:pt x="138" y="78"/>
                    <a:pt x="138" y="78"/>
                    <a:pt x="138" y="78"/>
                  </a:cubicBezTo>
                  <a:cubicBezTo>
                    <a:pt x="170" y="37"/>
                    <a:pt x="211" y="0"/>
                    <a:pt x="281" y="0"/>
                  </a:cubicBezTo>
                  <a:cubicBezTo>
                    <a:pt x="344" y="0"/>
                    <a:pt x="392" y="28"/>
                    <a:pt x="418" y="77"/>
                  </a:cubicBezTo>
                  <a:cubicBezTo>
                    <a:pt x="460" y="27"/>
                    <a:pt x="511" y="0"/>
                    <a:pt x="577" y="0"/>
                  </a:cubicBezTo>
                  <a:cubicBezTo>
                    <a:pt x="679" y="0"/>
                    <a:pt x="741" y="62"/>
                    <a:pt x="741" y="178"/>
                  </a:cubicBezTo>
                  <a:cubicBezTo>
                    <a:pt x="741" y="494"/>
                    <a:pt x="741" y="494"/>
                    <a:pt x="741" y="494"/>
                  </a:cubicBezTo>
                  <a:cubicBezTo>
                    <a:pt x="603" y="494"/>
                    <a:pt x="603" y="494"/>
                    <a:pt x="603" y="494"/>
                  </a:cubicBezTo>
                  <a:cubicBezTo>
                    <a:pt x="603" y="224"/>
                    <a:pt x="603" y="224"/>
                    <a:pt x="603" y="224"/>
                  </a:cubicBezTo>
                  <a:cubicBezTo>
                    <a:pt x="603" y="159"/>
                    <a:pt x="574" y="125"/>
                    <a:pt x="523" y="125"/>
                  </a:cubicBezTo>
                  <a:cubicBezTo>
                    <a:pt x="471" y="125"/>
                    <a:pt x="439" y="159"/>
                    <a:pt x="439" y="224"/>
                  </a:cubicBezTo>
                  <a:cubicBezTo>
                    <a:pt x="439" y="494"/>
                    <a:pt x="439" y="494"/>
                    <a:pt x="439" y="494"/>
                  </a:cubicBezTo>
                  <a:cubicBezTo>
                    <a:pt x="302" y="494"/>
                    <a:pt x="302" y="494"/>
                    <a:pt x="302" y="494"/>
                  </a:cubicBezTo>
                  <a:cubicBezTo>
                    <a:pt x="302" y="224"/>
                    <a:pt x="302" y="224"/>
                    <a:pt x="302" y="224"/>
                  </a:cubicBezTo>
                  <a:cubicBezTo>
                    <a:pt x="302" y="159"/>
                    <a:pt x="273" y="125"/>
                    <a:pt x="221" y="125"/>
                  </a:cubicBezTo>
                  <a:cubicBezTo>
                    <a:pt x="170" y="125"/>
                    <a:pt x="138" y="159"/>
                    <a:pt x="138" y="224"/>
                  </a:cubicBezTo>
                  <a:cubicBezTo>
                    <a:pt x="138" y="494"/>
                    <a:pt x="138" y="494"/>
                    <a:pt x="138"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7" name="Freeform 7">
              <a:extLst>
                <a:ext uri="{FF2B5EF4-FFF2-40B4-BE49-F238E27FC236}">
                  <a16:creationId xmlns:a16="http://schemas.microsoft.com/office/drawing/2014/main" id="{8776387C-7DBE-0FBD-3AED-689433E76864}"/>
                </a:ext>
              </a:extLst>
            </p:cNvPr>
            <p:cNvSpPr>
              <a:spLocks noEditPoints="1"/>
            </p:cNvSpPr>
            <p:nvPr userDrawn="1"/>
          </p:nvSpPr>
          <p:spPr bwMode="auto">
            <a:xfrm>
              <a:off x="6125971" y="567985"/>
              <a:ext cx="193713" cy="216764"/>
            </a:xfrm>
            <a:custGeom>
              <a:avLst/>
              <a:gdLst>
                <a:gd name="T0" fmla="*/ 0 w 446"/>
                <a:gd name="T1" fmla="*/ 351 h 499"/>
                <a:gd name="T2" fmla="*/ 0 w 446"/>
                <a:gd name="T3" fmla="*/ 349 h 499"/>
                <a:gd name="T4" fmla="*/ 195 w 446"/>
                <a:gd name="T5" fmla="*/ 194 h 499"/>
                <a:gd name="T6" fmla="*/ 314 w 446"/>
                <a:gd name="T7" fmla="*/ 214 h 499"/>
                <a:gd name="T8" fmla="*/ 314 w 446"/>
                <a:gd name="T9" fmla="*/ 206 h 499"/>
                <a:gd name="T10" fmla="*/ 210 w 446"/>
                <a:gd name="T11" fmla="*/ 117 h 499"/>
                <a:gd name="T12" fmla="*/ 76 w 446"/>
                <a:gd name="T13" fmla="*/ 144 h 499"/>
                <a:gd name="T14" fmla="*/ 42 w 446"/>
                <a:gd name="T15" fmla="*/ 39 h 499"/>
                <a:gd name="T16" fmla="*/ 230 w 446"/>
                <a:gd name="T17" fmla="*/ 0 h 499"/>
                <a:gd name="T18" fmla="*/ 394 w 446"/>
                <a:gd name="T19" fmla="*/ 54 h 499"/>
                <a:gd name="T20" fmla="*/ 446 w 446"/>
                <a:gd name="T21" fmla="*/ 209 h 499"/>
                <a:gd name="T22" fmla="*/ 446 w 446"/>
                <a:gd name="T23" fmla="*/ 490 h 499"/>
                <a:gd name="T24" fmla="*/ 313 w 446"/>
                <a:gd name="T25" fmla="*/ 490 h 499"/>
                <a:gd name="T26" fmla="*/ 313 w 446"/>
                <a:gd name="T27" fmla="*/ 438 h 499"/>
                <a:gd name="T28" fmla="*/ 166 w 446"/>
                <a:gd name="T29" fmla="*/ 499 h 499"/>
                <a:gd name="T30" fmla="*/ 0 w 446"/>
                <a:gd name="T31" fmla="*/ 351 h 499"/>
                <a:gd name="T32" fmla="*/ 316 w 446"/>
                <a:gd name="T33" fmla="*/ 319 h 499"/>
                <a:gd name="T34" fmla="*/ 316 w 446"/>
                <a:gd name="T35" fmla="*/ 295 h 499"/>
                <a:gd name="T36" fmla="*/ 228 w 446"/>
                <a:gd name="T37" fmla="*/ 277 h 499"/>
                <a:gd name="T38" fmla="*/ 133 w 446"/>
                <a:gd name="T39" fmla="*/ 344 h 499"/>
                <a:gd name="T40" fmla="*/ 133 w 446"/>
                <a:gd name="T41" fmla="*/ 346 h 499"/>
                <a:gd name="T42" fmla="*/ 208 w 446"/>
                <a:gd name="T43" fmla="*/ 404 h 499"/>
                <a:gd name="T44" fmla="*/ 316 w 446"/>
                <a:gd name="T45" fmla="*/ 31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499">
                  <a:moveTo>
                    <a:pt x="0" y="351"/>
                  </a:moveTo>
                  <a:cubicBezTo>
                    <a:pt x="0" y="349"/>
                    <a:pt x="0" y="349"/>
                    <a:pt x="0" y="349"/>
                  </a:cubicBezTo>
                  <a:cubicBezTo>
                    <a:pt x="0" y="243"/>
                    <a:pt x="80" y="194"/>
                    <a:pt x="195" y="194"/>
                  </a:cubicBezTo>
                  <a:cubicBezTo>
                    <a:pt x="244" y="194"/>
                    <a:pt x="280" y="202"/>
                    <a:pt x="314" y="214"/>
                  </a:cubicBezTo>
                  <a:cubicBezTo>
                    <a:pt x="314" y="206"/>
                    <a:pt x="314" y="206"/>
                    <a:pt x="314" y="206"/>
                  </a:cubicBezTo>
                  <a:cubicBezTo>
                    <a:pt x="314" y="149"/>
                    <a:pt x="279" y="117"/>
                    <a:pt x="210" y="117"/>
                  </a:cubicBezTo>
                  <a:cubicBezTo>
                    <a:pt x="157" y="117"/>
                    <a:pt x="120" y="127"/>
                    <a:pt x="76" y="144"/>
                  </a:cubicBezTo>
                  <a:cubicBezTo>
                    <a:pt x="42" y="39"/>
                    <a:pt x="42" y="39"/>
                    <a:pt x="42" y="39"/>
                  </a:cubicBezTo>
                  <a:cubicBezTo>
                    <a:pt x="95" y="15"/>
                    <a:pt x="147" y="0"/>
                    <a:pt x="230" y="0"/>
                  </a:cubicBezTo>
                  <a:cubicBezTo>
                    <a:pt x="305" y="0"/>
                    <a:pt x="359" y="20"/>
                    <a:pt x="394" y="54"/>
                  </a:cubicBezTo>
                  <a:cubicBezTo>
                    <a:pt x="430" y="90"/>
                    <a:pt x="446" y="144"/>
                    <a:pt x="446" y="209"/>
                  </a:cubicBezTo>
                  <a:cubicBezTo>
                    <a:pt x="446" y="490"/>
                    <a:pt x="446" y="490"/>
                    <a:pt x="446" y="490"/>
                  </a:cubicBezTo>
                  <a:cubicBezTo>
                    <a:pt x="313" y="490"/>
                    <a:pt x="313" y="490"/>
                    <a:pt x="313" y="490"/>
                  </a:cubicBezTo>
                  <a:cubicBezTo>
                    <a:pt x="313" y="438"/>
                    <a:pt x="313" y="438"/>
                    <a:pt x="313" y="438"/>
                  </a:cubicBezTo>
                  <a:cubicBezTo>
                    <a:pt x="280" y="475"/>
                    <a:pt x="233" y="499"/>
                    <a:pt x="166" y="499"/>
                  </a:cubicBezTo>
                  <a:cubicBezTo>
                    <a:pt x="75" y="499"/>
                    <a:pt x="0" y="447"/>
                    <a:pt x="0" y="351"/>
                  </a:cubicBezTo>
                  <a:close/>
                  <a:moveTo>
                    <a:pt x="316" y="319"/>
                  </a:moveTo>
                  <a:cubicBezTo>
                    <a:pt x="316" y="295"/>
                    <a:pt x="316" y="295"/>
                    <a:pt x="316" y="295"/>
                  </a:cubicBezTo>
                  <a:cubicBezTo>
                    <a:pt x="292" y="284"/>
                    <a:pt x="262" y="277"/>
                    <a:pt x="228" y="277"/>
                  </a:cubicBezTo>
                  <a:cubicBezTo>
                    <a:pt x="169" y="277"/>
                    <a:pt x="133" y="300"/>
                    <a:pt x="133" y="344"/>
                  </a:cubicBezTo>
                  <a:cubicBezTo>
                    <a:pt x="133" y="346"/>
                    <a:pt x="133" y="346"/>
                    <a:pt x="133" y="346"/>
                  </a:cubicBezTo>
                  <a:cubicBezTo>
                    <a:pt x="133" y="383"/>
                    <a:pt x="164" y="404"/>
                    <a:pt x="208" y="404"/>
                  </a:cubicBezTo>
                  <a:cubicBezTo>
                    <a:pt x="272" y="404"/>
                    <a:pt x="316" y="369"/>
                    <a:pt x="316" y="3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8" name="Freeform 8">
              <a:extLst>
                <a:ext uri="{FF2B5EF4-FFF2-40B4-BE49-F238E27FC236}">
                  <a16:creationId xmlns:a16="http://schemas.microsoft.com/office/drawing/2014/main" id="{262E0FEC-2981-11B0-3D88-8A94D08178CF}"/>
                </a:ext>
              </a:extLst>
            </p:cNvPr>
            <p:cNvSpPr>
              <a:spLocks/>
            </p:cNvSpPr>
            <p:nvPr userDrawn="1"/>
          </p:nvSpPr>
          <p:spPr bwMode="auto">
            <a:xfrm>
              <a:off x="6336529" y="564438"/>
              <a:ext cx="127665"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9" name="Freeform 9">
              <a:extLst>
                <a:ext uri="{FF2B5EF4-FFF2-40B4-BE49-F238E27FC236}">
                  <a16:creationId xmlns:a16="http://schemas.microsoft.com/office/drawing/2014/main" id="{FECC1288-545E-BDB4-6462-3EE5544D7025}"/>
                </a:ext>
              </a:extLst>
            </p:cNvPr>
            <p:cNvSpPr>
              <a:spLocks/>
            </p:cNvSpPr>
            <p:nvPr userDrawn="1"/>
          </p:nvSpPr>
          <p:spPr bwMode="auto">
            <a:xfrm>
              <a:off x="6475719" y="516121"/>
              <a:ext cx="134757" cy="268184"/>
            </a:xfrm>
            <a:custGeom>
              <a:avLst/>
              <a:gdLst>
                <a:gd name="T0" fmla="*/ 58 w 310"/>
                <a:gd name="T1" fmla="*/ 472 h 617"/>
                <a:gd name="T2" fmla="*/ 58 w 310"/>
                <a:gd name="T3" fmla="*/ 242 h 617"/>
                <a:gd name="T4" fmla="*/ 0 w 310"/>
                <a:gd name="T5" fmla="*/ 242 h 617"/>
                <a:gd name="T6" fmla="*/ 0 w 310"/>
                <a:gd name="T7" fmla="*/ 124 h 617"/>
                <a:gd name="T8" fmla="*/ 58 w 310"/>
                <a:gd name="T9" fmla="*/ 124 h 617"/>
                <a:gd name="T10" fmla="*/ 58 w 310"/>
                <a:gd name="T11" fmla="*/ 0 h 617"/>
                <a:gd name="T12" fmla="*/ 196 w 310"/>
                <a:gd name="T13" fmla="*/ 0 h 617"/>
                <a:gd name="T14" fmla="*/ 196 w 310"/>
                <a:gd name="T15" fmla="*/ 124 h 617"/>
                <a:gd name="T16" fmla="*/ 310 w 310"/>
                <a:gd name="T17" fmla="*/ 124 h 617"/>
                <a:gd name="T18" fmla="*/ 310 w 310"/>
                <a:gd name="T19" fmla="*/ 242 h 617"/>
                <a:gd name="T20" fmla="*/ 196 w 310"/>
                <a:gd name="T21" fmla="*/ 242 h 617"/>
                <a:gd name="T22" fmla="*/ 196 w 310"/>
                <a:gd name="T23" fmla="*/ 449 h 617"/>
                <a:gd name="T24" fmla="*/ 240 w 310"/>
                <a:gd name="T25" fmla="*/ 496 h 617"/>
                <a:gd name="T26" fmla="*/ 308 w 310"/>
                <a:gd name="T27" fmla="*/ 479 h 617"/>
                <a:gd name="T28" fmla="*/ 308 w 310"/>
                <a:gd name="T29" fmla="*/ 589 h 617"/>
                <a:gd name="T30" fmla="*/ 199 w 310"/>
                <a:gd name="T31" fmla="*/ 617 h 617"/>
                <a:gd name="T32" fmla="*/ 58 w 310"/>
                <a:gd name="T33" fmla="*/ 472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7">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6" y="0"/>
                    <a:pt x="196" y="0"/>
                    <a:pt x="196" y="0"/>
                  </a:cubicBezTo>
                  <a:cubicBezTo>
                    <a:pt x="196" y="124"/>
                    <a:pt x="196" y="124"/>
                    <a:pt x="196" y="124"/>
                  </a:cubicBezTo>
                  <a:cubicBezTo>
                    <a:pt x="310" y="124"/>
                    <a:pt x="310" y="124"/>
                    <a:pt x="310" y="124"/>
                  </a:cubicBezTo>
                  <a:cubicBezTo>
                    <a:pt x="310" y="242"/>
                    <a:pt x="310" y="242"/>
                    <a:pt x="310" y="242"/>
                  </a:cubicBezTo>
                  <a:cubicBezTo>
                    <a:pt x="196" y="242"/>
                    <a:pt x="196" y="242"/>
                    <a:pt x="196" y="242"/>
                  </a:cubicBezTo>
                  <a:cubicBezTo>
                    <a:pt x="196" y="449"/>
                    <a:pt x="196" y="449"/>
                    <a:pt x="196" y="449"/>
                  </a:cubicBezTo>
                  <a:cubicBezTo>
                    <a:pt x="196" y="481"/>
                    <a:pt x="209" y="496"/>
                    <a:pt x="240" y="496"/>
                  </a:cubicBezTo>
                  <a:cubicBezTo>
                    <a:pt x="265" y="496"/>
                    <a:pt x="288" y="490"/>
                    <a:pt x="308" y="479"/>
                  </a:cubicBezTo>
                  <a:cubicBezTo>
                    <a:pt x="308" y="589"/>
                    <a:pt x="308" y="589"/>
                    <a:pt x="308" y="589"/>
                  </a:cubicBezTo>
                  <a:cubicBezTo>
                    <a:pt x="279" y="607"/>
                    <a:pt x="245" y="617"/>
                    <a:pt x="199" y="617"/>
                  </a:cubicBezTo>
                  <a:cubicBezTo>
                    <a:pt x="115" y="617"/>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0" name="Freeform 10">
              <a:extLst>
                <a:ext uri="{FF2B5EF4-FFF2-40B4-BE49-F238E27FC236}">
                  <a16:creationId xmlns:a16="http://schemas.microsoft.com/office/drawing/2014/main" id="{9DB49BE1-F1C8-5A4F-1BE7-B9C5B671A4B9}"/>
                </a:ext>
              </a:extLst>
            </p:cNvPr>
            <p:cNvSpPr>
              <a:spLocks noEditPoints="1"/>
            </p:cNvSpPr>
            <p:nvPr userDrawn="1"/>
          </p:nvSpPr>
          <p:spPr bwMode="auto">
            <a:xfrm>
              <a:off x="6618455" y="566212"/>
              <a:ext cx="207012" cy="219424"/>
            </a:xfrm>
            <a:custGeom>
              <a:avLst/>
              <a:gdLst>
                <a:gd name="T0" fmla="*/ 0 w 476"/>
                <a:gd name="T1" fmla="*/ 254 h 505"/>
                <a:gd name="T2" fmla="*/ 0 w 476"/>
                <a:gd name="T3" fmla="*/ 253 h 505"/>
                <a:gd name="T4" fmla="*/ 240 w 476"/>
                <a:gd name="T5" fmla="*/ 0 h 505"/>
                <a:gd name="T6" fmla="*/ 476 w 476"/>
                <a:gd name="T7" fmla="*/ 263 h 505"/>
                <a:gd name="T8" fmla="*/ 475 w 476"/>
                <a:gd name="T9" fmla="*/ 300 h 505"/>
                <a:gd name="T10" fmla="*/ 137 w 476"/>
                <a:gd name="T11" fmla="*/ 300 h 505"/>
                <a:gd name="T12" fmla="*/ 256 w 476"/>
                <a:gd name="T13" fmla="*/ 395 h 505"/>
                <a:gd name="T14" fmla="*/ 373 w 476"/>
                <a:gd name="T15" fmla="*/ 345 h 505"/>
                <a:gd name="T16" fmla="*/ 452 w 476"/>
                <a:gd name="T17" fmla="*/ 415 h 505"/>
                <a:gd name="T18" fmla="*/ 254 w 476"/>
                <a:gd name="T19" fmla="*/ 505 h 505"/>
                <a:gd name="T20" fmla="*/ 0 w 476"/>
                <a:gd name="T21" fmla="*/ 254 h 505"/>
                <a:gd name="T22" fmla="*/ 342 w 476"/>
                <a:gd name="T23" fmla="*/ 214 h 505"/>
                <a:gd name="T24" fmla="*/ 240 w 476"/>
                <a:gd name="T25" fmla="*/ 111 h 505"/>
                <a:gd name="T26" fmla="*/ 135 w 476"/>
                <a:gd name="T27" fmla="*/ 214 h 505"/>
                <a:gd name="T28" fmla="*/ 342 w 476"/>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6" h="505">
                  <a:moveTo>
                    <a:pt x="0" y="254"/>
                  </a:moveTo>
                  <a:cubicBezTo>
                    <a:pt x="0" y="253"/>
                    <a:pt x="0" y="253"/>
                    <a:pt x="0" y="253"/>
                  </a:cubicBezTo>
                  <a:cubicBezTo>
                    <a:pt x="0" y="114"/>
                    <a:pt x="99" y="0"/>
                    <a:pt x="240" y="0"/>
                  </a:cubicBezTo>
                  <a:cubicBezTo>
                    <a:pt x="402" y="0"/>
                    <a:pt x="476" y="126"/>
                    <a:pt x="476" y="263"/>
                  </a:cubicBezTo>
                  <a:cubicBezTo>
                    <a:pt x="476"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2" y="214"/>
                  </a:moveTo>
                  <a:cubicBezTo>
                    <a:pt x="334" y="152"/>
                    <a:pt x="298" y="111"/>
                    <a:pt x="240" y="111"/>
                  </a:cubicBezTo>
                  <a:cubicBezTo>
                    <a:pt x="183" y="111"/>
                    <a:pt x="146" y="151"/>
                    <a:pt x="135" y="214"/>
                  </a:cubicBezTo>
                  <a:lnTo>
                    <a:pt x="342"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1" name="Freeform 11">
              <a:extLst>
                <a:ext uri="{FF2B5EF4-FFF2-40B4-BE49-F238E27FC236}">
                  <a16:creationId xmlns:a16="http://schemas.microsoft.com/office/drawing/2014/main" id="{5700CEE7-82FA-F314-D150-00348A9C1993}"/>
                </a:ext>
              </a:extLst>
            </p:cNvPr>
            <p:cNvSpPr>
              <a:spLocks/>
            </p:cNvSpPr>
            <p:nvPr userDrawn="1"/>
          </p:nvSpPr>
          <p:spPr bwMode="auto">
            <a:xfrm>
              <a:off x="6837879" y="564438"/>
              <a:ext cx="127221"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2" name="Freeform 12">
              <a:extLst>
                <a:ext uri="{FF2B5EF4-FFF2-40B4-BE49-F238E27FC236}">
                  <a16:creationId xmlns:a16="http://schemas.microsoft.com/office/drawing/2014/main" id="{FC0AB9F7-3D02-4537-31F6-D98B2250C9F3}"/>
                </a:ext>
              </a:extLst>
            </p:cNvPr>
            <p:cNvSpPr>
              <a:spLocks/>
            </p:cNvSpPr>
            <p:nvPr userDrawn="1"/>
          </p:nvSpPr>
          <p:spPr bwMode="auto">
            <a:xfrm>
              <a:off x="4988072" y="888476"/>
              <a:ext cx="134757" cy="268628"/>
            </a:xfrm>
            <a:custGeom>
              <a:avLst/>
              <a:gdLst>
                <a:gd name="T0" fmla="*/ 58 w 310"/>
                <a:gd name="T1" fmla="*/ 472 h 618"/>
                <a:gd name="T2" fmla="*/ 58 w 310"/>
                <a:gd name="T3" fmla="*/ 242 h 618"/>
                <a:gd name="T4" fmla="*/ 0 w 310"/>
                <a:gd name="T5" fmla="*/ 242 h 618"/>
                <a:gd name="T6" fmla="*/ 0 w 310"/>
                <a:gd name="T7" fmla="*/ 124 h 618"/>
                <a:gd name="T8" fmla="*/ 58 w 310"/>
                <a:gd name="T9" fmla="*/ 124 h 618"/>
                <a:gd name="T10" fmla="*/ 58 w 310"/>
                <a:gd name="T11" fmla="*/ 0 h 618"/>
                <a:gd name="T12" fmla="*/ 195 w 310"/>
                <a:gd name="T13" fmla="*/ 0 h 618"/>
                <a:gd name="T14" fmla="*/ 195 w 310"/>
                <a:gd name="T15" fmla="*/ 124 h 618"/>
                <a:gd name="T16" fmla="*/ 310 w 310"/>
                <a:gd name="T17" fmla="*/ 124 h 618"/>
                <a:gd name="T18" fmla="*/ 310 w 310"/>
                <a:gd name="T19" fmla="*/ 242 h 618"/>
                <a:gd name="T20" fmla="*/ 195 w 310"/>
                <a:gd name="T21" fmla="*/ 242 h 618"/>
                <a:gd name="T22" fmla="*/ 195 w 310"/>
                <a:gd name="T23" fmla="*/ 449 h 618"/>
                <a:gd name="T24" fmla="*/ 240 w 310"/>
                <a:gd name="T25" fmla="*/ 496 h 618"/>
                <a:gd name="T26" fmla="*/ 308 w 310"/>
                <a:gd name="T27" fmla="*/ 479 h 618"/>
                <a:gd name="T28" fmla="*/ 308 w 310"/>
                <a:gd name="T29" fmla="*/ 590 h 618"/>
                <a:gd name="T30" fmla="*/ 199 w 310"/>
                <a:gd name="T31" fmla="*/ 618 h 618"/>
                <a:gd name="T32" fmla="*/ 58 w 310"/>
                <a:gd name="T33" fmla="*/ 472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8">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5" y="0"/>
                    <a:pt x="195" y="0"/>
                    <a:pt x="195" y="0"/>
                  </a:cubicBezTo>
                  <a:cubicBezTo>
                    <a:pt x="195" y="124"/>
                    <a:pt x="195" y="124"/>
                    <a:pt x="195" y="124"/>
                  </a:cubicBezTo>
                  <a:cubicBezTo>
                    <a:pt x="310" y="124"/>
                    <a:pt x="310" y="124"/>
                    <a:pt x="310" y="124"/>
                  </a:cubicBezTo>
                  <a:cubicBezTo>
                    <a:pt x="310" y="242"/>
                    <a:pt x="310" y="242"/>
                    <a:pt x="310" y="242"/>
                  </a:cubicBezTo>
                  <a:cubicBezTo>
                    <a:pt x="195" y="242"/>
                    <a:pt x="195" y="242"/>
                    <a:pt x="195" y="242"/>
                  </a:cubicBezTo>
                  <a:cubicBezTo>
                    <a:pt x="195" y="449"/>
                    <a:pt x="195" y="449"/>
                    <a:pt x="195" y="449"/>
                  </a:cubicBezTo>
                  <a:cubicBezTo>
                    <a:pt x="195" y="481"/>
                    <a:pt x="209" y="496"/>
                    <a:pt x="240" y="496"/>
                  </a:cubicBezTo>
                  <a:cubicBezTo>
                    <a:pt x="265" y="496"/>
                    <a:pt x="288" y="490"/>
                    <a:pt x="308" y="479"/>
                  </a:cubicBezTo>
                  <a:cubicBezTo>
                    <a:pt x="308" y="590"/>
                    <a:pt x="308" y="590"/>
                    <a:pt x="308" y="590"/>
                  </a:cubicBezTo>
                  <a:cubicBezTo>
                    <a:pt x="279" y="607"/>
                    <a:pt x="245" y="618"/>
                    <a:pt x="199" y="618"/>
                  </a:cubicBezTo>
                  <a:cubicBezTo>
                    <a:pt x="115" y="618"/>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3" name="Freeform 13">
              <a:extLst>
                <a:ext uri="{FF2B5EF4-FFF2-40B4-BE49-F238E27FC236}">
                  <a16:creationId xmlns:a16="http://schemas.microsoft.com/office/drawing/2014/main" id="{12D11DBC-90A7-4337-F6CB-C20DBD872CBD}"/>
                </a:ext>
              </a:extLst>
            </p:cNvPr>
            <p:cNvSpPr>
              <a:spLocks noEditPoints="1"/>
            </p:cNvSpPr>
            <p:nvPr userDrawn="1"/>
          </p:nvSpPr>
          <p:spPr bwMode="auto">
            <a:xfrm>
              <a:off x="5131251" y="938123"/>
              <a:ext cx="207455" cy="219867"/>
            </a:xfrm>
            <a:custGeom>
              <a:avLst/>
              <a:gdLst>
                <a:gd name="T0" fmla="*/ 0 w 477"/>
                <a:gd name="T1" fmla="*/ 254 h 505"/>
                <a:gd name="T2" fmla="*/ 0 w 477"/>
                <a:gd name="T3" fmla="*/ 253 h 505"/>
                <a:gd name="T4" fmla="*/ 240 w 477"/>
                <a:gd name="T5" fmla="*/ 0 h 505"/>
                <a:gd name="T6" fmla="*/ 477 w 477"/>
                <a:gd name="T7" fmla="*/ 263 h 505"/>
                <a:gd name="T8" fmla="*/ 475 w 477"/>
                <a:gd name="T9" fmla="*/ 300 h 505"/>
                <a:gd name="T10" fmla="*/ 137 w 477"/>
                <a:gd name="T11" fmla="*/ 300 h 505"/>
                <a:gd name="T12" fmla="*/ 256 w 477"/>
                <a:gd name="T13" fmla="*/ 395 h 505"/>
                <a:gd name="T14" fmla="*/ 373 w 477"/>
                <a:gd name="T15" fmla="*/ 345 h 505"/>
                <a:gd name="T16" fmla="*/ 452 w 477"/>
                <a:gd name="T17" fmla="*/ 415 h 505"/>
                <a:gd name="T18" fmla="*/ 254 w 477"/>
                <a:gd name="T19" fmla="*/ 505 h 505"/>
                <a:gd name="T20" fmla="*/ 0 w 477"/>
                <a:gd name="T21" fmla="*/ 254 h 505"/>
                <a:gd name="T22" fmla="*/ 343 w 477"/>
                <a:gd name="T23" fmla="*/ 214 h 505"/>
                <a:gd name="T24" fmla="*/ 240 w 477"/>
                <a:gd name="T25" fmla="*/ 111 h 505"/>
                <a:gd name="T26" fmla="*/ 135 w 477"/>
                <a:gd name="T27" fmla="*/ 214 h 505"/>
                <a:gd name="T28" fmla="*/ 343 w 477"/>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7" h="505">
                  <a:moveTo>
                    <a:pt x="0" y="254"/>
                  </a:moveTo>
                  <a:cubicBezTo>
                    <a:pt x="0" y="253"/>
                    <a:pt x="0" y="253"/>
                    <a:pt x="0" y="253"/>
                  </a:cubicBezTo>
                  <a:cubicBezTo>
                    <a:pt x="0" y="114"/>
                    <a:pt x="99" y="0"/>
                    <a:pt x="240" y="0"/>
                  </a:cubicBezTo>
                  <a:cubicBezTo>
                    <a:pt x="402" y="0"/>
                    <a:pt x="477" y="126"/>
                    <a:pt x="477" y="263"/>
                  </a:cubicBezTo>
                  <a:cubicBezTo>
                    <a:pt x="477"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3" y="214"/>
                  </a:moveTo>
                  <a:cubicBezTo>
                    <a:pt x="334" y="152"/>
                    <a:pt x="298" y="111"/>
                    <a:pt x="240" y="111"/>
                  </a:cubicBezTo>
                  <a:cubicBezTo>
                    <a:pt x="183" y="111"/>
                    <a:pt x="146" y="151"/>
                    <a:pt x="135" y="214"/>
                  </a:cubicBezTo>
                  <a:lnTo>
                    <a:pt x="343"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4" name="Freeform 14">
              <a:extLst>
                <a:ext uri="{FF2B5EF4-FFF2-40B4-BE49-F238E27FC236}">
                  <a16:creationId xmlns:a16="http://schemas.microsoft.com/office/drawing/2014/main" id="{F524D8E9-37C3-A27E-30E8-DF8ACF25D41F}"/>
                </a:ext>
              </a:extLst>
            </p:cNvPr>
            <p:cNvSpPr>
              <a:spLocks/>
            </p:cNvSpPr>
            <p:nvPr userDrawn="1"/>
          </p:nvSpPr>
          <p:spPr bwMode="auto">
            <a:xfrm>
              <a:off x="5348015" y="938123"/>
              <a:ext cx="195486" cy="219867"/>
            </a:xfrm>
            <a:custGeom>
              <a:avLst/>
              <a:gdLst>
                <a:gd name="T0" fmla="*/ 0 w 450"/>
                <a:gd name="T1" fmla="*/ 254 h 505"/>
                <a:gd name="T2" fmla="*/ 0 w 450"/>
                <a:gd name="T3" fmla="*/ 253 h 505"/>
                <a:gd name="T4" fmla="*/ 254 w 450"/>
                <a:gd name="T5" fmla="*/ 0 h 505"/>
                <a:gd name="T6" fmla="*/ 448 w 450"/>
                <a:gd name="T7" fmla="*/ 82 h 505"/>
                <a:gd name="T8" fmla="*/ 363 w 450"/>
                <a:gd name="T9" fmla="*/ 172 h 505"/>
                <a:gd name="T10" fmla="*/ 253 w 450"/>
                <a:gd name="T11" fmla="*/ 119 h 505"/>
                <a:gd name="T12" fmla="*/ 135 w 450"/>
                <a:gd name="T13" fmla="*/ 251 h 505"/>
                <a:gd name="T14" fmla="*/ 135 w 450"/>
                <a:gd name="T15" fmla="*/ 253 h 505"/>
                <a:gd name="T16" fmla="*/ 258 w 450"/>
                <a:gd name="T17" fmla="*/ 387 h 505"/>
                <a:gd name="T18" fmla="*/ 370 w 450"/>
                <a:gd name="T19" fmla="*/ 335 h 505"/>
                <a:gd name="T20" fmla="*/ 450 w 450"/>
                <a:gd name="T21" fmla="*/ 416 h 505"/>
                <a:gd name="T22" fmla="*/ 252 w 450"/>
                <a:gd name="T23" fmla="*/ 505 h 505"/>
                <a:gd name="T24" fmla="*/ 0 w 450"/>
                <a:gd name="T25"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0" h="505">
                  <a:moveTo>
                    <a:pt x="0" y="254"/>
                  </a:moveTo>
                  <a:cubicBezTo>
                    <a:pt x="0" y="253"/>
                    <a:pt x="0" y="253"/>
                    <a:pt x="0" y="253"/>
                  </a:cubicBezTo>
                  <a:cubicBezTo>
                    <a:pt x="0" y="114"/>
                    <a:pt x="106" y="0"/>
                    <a:pt x="254" y="0"/>
                  </a:cubicBezTo>
                  <a:cubicBezTo>
                    <a:pt x="345" y="0"/>
                    <a:pt x="402" y="31"/>
                    <a:pt x="448" y="82"/>
                  </a:cubicBezTo>
                  <a:cubicBezTo>
                    <a:pt x="363" y="172"/>
                    <a:pt x="363" y="172"/>
                    <a:pt x="363" y="172"/>
                  </a:cubicBezTo>
                  <a:cubicBezTo>
                    <a:pt x="333" y="139"/>
                    <a:pt x="302" y="119"/>
                    <a:pt x="253" y="119"/>
                  </a:cubicBezTo>
                  <a:cubicBezTo>
                    <a:pt x="184" y="119"/>
                    <a:pt x="135" y="179"/>
                    <a:pt x="135" y="251"/>
                  </a:cubicBezTo>
                  <a:cubicBezTo>
                    <a:pt x="135" y="253"/>
                    <a:pt x="135" y="253"/>
                    <a:pt x="135" y="253"/>
                  </a:cubicBezTo>
                  <a:cubicBezTo>
                    <a:pt x="135" y="327"/>
                    <a:pt x="183" y="387"/>
                    <a:pt x="258" y="387"/>
                  </a:cubicBezTo>
                  <a:cubicBezTo>
                    <a:pt x="305" y="387"/>
                    <a:pt x="336" y="367"/>
                    <a:pt x="370" y="335"/>
                  </a:cubicBezTo>
                  <a:cubicBezTo>
                    <a:pt x="450" y="416"/>
                    <a:pt x="450" y="416"/>
                    <a:pt x="450" y="416"/>
                  </a:cubicBezTo>
                  <a:cubicBezTo>
                    <a:pt x="403" y="468"/>
                    <a:pt x="349" y="505"/>
                    <a:pt x="252" y="505"/>
                  </a:cubicBezTo>
                  <a:cubicBezTo>
                    <a:pt x="106" y="505"/>
                    <a:pt x="0" y="393"/>
                    <a:pt x="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5" name="Freeform 15">
              <a:extLst>
                <a:ext uri="{FF2B5EF4-FFF2-40B4-BE49-F238E27FC236}">
                  <a16:creationId xmlns:a16="http://schemas.microsoft.com/office/drawing/2014/main" id="{083673F6-E265-4005-D62C-293234A8CE09}"/>
                </a:ext>
              </a:extLst>
            </p:cNvPr>
            <p:cNvSpPr>
              <a:spLocks/>
            </p:cNvSpPr>
            <p:nvPr userDrawn="1"/>
          </p:nvSpPr>
          <p:spPr bwMode="auto">
            <a:xfrm>
              <a:off x="5553254" y="866312"/>
              <a:ext cx="193270" cy="286802"/>
            </a:xfrm>
            <a:custGeom>
              <a:avLst/>
              <a:gdLst>
                <a:gd name="T0" fmla="*/ 0 w 445"/>
                <a:gd name="T1" fmla="*/ 0 h 660"/>
                <a:gd name="T2" fmla="*/ 138 w 445"/>
                <a:gd name="T3" fmla="*/ 0 h 660"/>
                <a:gd name="T4" fmla="*/ 138 w 445"/>
                <a:gd name="T5" fmla="*/ 244 h 660"/>
                <a:gd name="T6" fmla="*/ 280 w 445"/>
                <a:gd name="T7" fmla="*/ 166 h 660"/>
                <a:gd name="T8" fmla="*/ 445 w 445"/>
                <a:gd name="T9" fmla="*/ 346 h 660"/>
                <a:gd name="T10" fmla="*/ 445 w 445"/>
                <a:gd name="T11" fmla="*/ 660 h 660"/>
                <a:gd name="T12" fmla="*/ 307 w 445"/>
                <a:gd name="T13" fmla="*/ 660 h 660"/>
                <a:gd name="T14" fmla="*/ 307 w 445"/>
                <a:gd name="T15" fmla="*/ 390 h 660"/>
                <a:gd name="T16" fmla="*/ 224 w 445"/>
                <a:gd name="T17" fmla="*/ 291 h 660"/>
                <a:gd name="T18" fmla="*/ 138 w 445"/>
                <a:gd name="T19" fmla="*/ 390 h 660"/>
                <a:gd name="T20" fmla="*/ 138 w 445"/>
                <a:gd name="T21" fmla="*/ 660 h 660"/>
                <a:gd name="T22" fmla="*/ 0 w 445"/>
                <a:gd name="T23" fmla="*/ 660 h 660"/>
                <a:gd name="T24" fmla="*/ 0 w 445"/>
                <a:gd name="T25"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5" h="660">
                  <a:moveTo>
                    <a:pt x="0" y="0"/>
                  </a:moveTo>
                  <a:cubicBezTo>
                    <a:pt x="138" y="0"/>
                    <a:pt x="138" y="0"/>
                    <a:pt x="138" y="0"/>
                  </a:cubicBezTo>
                  <a:cubicBezTo>
                    <a:pt x="138" y="244"/>
                    <a:pt x="138" y="244"/>
                    <a:pt x="138" y="244"/>
                  </a:cubicBezTo>
                  <a:cubicBezTo>
                    <a:pt x="169" y="203"/>
                    <a:pt x="210" y="166"/>
                    <a:pt x="280" y="166"/>
                  </a:cubicBezTo>
                  <a:cubicBezTo>
                    <a:pt x="384" y="166"/>
                    <a:pt x="445" y="235"/>
                    <a:pt x="445" y="346"/>
                  </a:cubicBezTo>
                  <a:cubicBezTo>
                    <a:pt x="445" y="660"/>
                    <a:pt x="445" y="660"/>
                    <a:pt x="445" y="660"/>
                  </a:cubicBezTo>
                  <a:cubicBezTo>
                    <a:pt x="307" y="660"/>
                    <a:pt x="307" y="660"/>
                    <a:pt x="307" y="660"/>
                  </a:cubicBezTo>
                  <a:cubicBezTo>
                    <a:pt x="307" y="390"/>
                    <a:pt x="307" y="390"/>
                    <a:pt x="307" y="390"/>
                  </a:cubicBezTo>
                  <a:cubicBezTo>
                    <a:pt x="307" y="324"/>
                    <a:pt x="276" y="291"/>
                    <a:pt x="224" y="291"/>
                  </a:cubicBezTo>
                  <a:cubicBezTo>
                    <a:pt x="171" y="291"/>
                    <a:pt x="138" y="324"/>
                    <a:pt x="138" y="390"/>
                  </a:cubicBezTo>
                  <a:cubicBezTo>
                    <a:pt x="138" y="660"/>
                    <a:pt x="138" y="660"/>
                    <a:pt x="138" y="660"/>
                  </a:cubicBezTo>
                  <a:cubicBezTo>
                    <a:pt x="0" y="660"/>
                    <a:pt x="0" y="660"/>
                    <a:pt x="0" y="66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6" name="Freeform 16">
              <a:extLst>
                <a:ext uri="{FF2B5EF4-FFF2-40B4-BE49-F238E27FC236}">
                  <a16:creationId xmlns:a16="http://schemas.microsoft.com/office/drawing/2014/main" id="{4F04928C-BA06-2085-F636-A4F44FC6E987}"/>
                </a:ext>
              </a:extLst>
            </p:cNvPr>
            <p:cNvSpPr>
              <a:spLocks/>
            </p:cNvSpPr>
            <p:nvPr userDrawn="1"/>
          </p:nvSpPr>
          <p:spPr bwMode="auto">
            <a:xfrm>
              <a:off x="5762039" y="938123"/>
              <a:ext cx="192827" cy="214991"/>
            </a:xfrm>
            <a:custGeom>
              <a:avLst/>
              <a:gdLst>
                <a:gd name="T0" fmla="*/ 0 w 444"/>
                <a:gd name="T1" fmla="*/ 9 h 494"/>
                <a:gd name="T2" fmla="*/ 137 w 444"/>
                <a:gd name="T3" fmla="*/ 9 h 494"/>
                <a:gd name="T4" fmla="*/ 137 w 444"/>
                <a:gd name="T5" fmla="*/ 78 h 494"/>
                <a:gd name="T6" fmla="*/ 279 w 444"/>
                <a:gd name="T7" fmla="*/ 0 h 494"/>
                <a:gd name="T8" fmla="*/ 444 w 444"/>
                <a:gd name="T9" fmla="*/ 180 h 494"/>
                <a:gd name="T10" fmla="*/ 444 w 444"/>
                <a:gd name="T11" fmla="*/ 494 h 494"/>
                <a:gd name="T12" fmla="*/ 306 w 444"/>
                <a:gd name="T13" fmla="*/ 494 h 494"/>
                <a:gd name="T14" fmla="*/ 306 w 444"/>
                <a:gd name="T15" fmla="*/ 224 h 494"/>
                <a:gd name="T16" fmla="*/ 223 w 444"/>
                <a:gd name="T17" fmla="*/ 125 h 494"/>
                <a:gd name="T18" fmla="*/ 137 w 444"/>
                <a:gd name="T19" fmla="*/ 224 h 494"/>
                <a:gd name="T20" fmla="*/ 137 w 444"/>
                <a:gd name="T21" fmla="*/ 494 h 494"/>
                <a:gd name="T22" fmla="*/ 0 w 444"/>
                <a:gd name="T23" fmla="*/ 494 h 494"/>
                <a:gd name="T24" fmla="*/ 0 w 444"/>
                <a:gd name="T25"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4" h="494">
                  <a:moveTo>
                    <a:pt x="0" y="9"/>
                  </a:moveTo>
                  <a:cubicBezTo>
                    <a:pt x="137" y="9"/>
                    <a:pt x="137" y="9"/>
                    <a:pt x="137" y="9"/>
                  </a:cubicBezTo>
                  <a:cubicBezTo>
                    <a:pt x="137" y="78"/>
                    <a:pt x="137" y="78"/>
                    <a:pt x="137" y="78"/>
                  </a:cubicBezTo>
                  <a:cubicBezTo>
                    <a:pt x="169" y="37"/>
                    <a:pt x="210" y="0"/>
                    <a:pt x="279" y="0"/>
                  </a:cubicBezTo>
                  <a:cubicBezTo>
                    <a:pt x="383" y="0"/>
                    <a:pt x="444" y="69"/>
                    <a:pt x="444" y="180"/>
                  </a:cubicBezTo>
                  <a:cubicBezTo>
                    <a:pt x="444" y="494"/>
                    <a:pt x="444" y="494"/>
                    <a:pt x="444" y="494"/>
                  </a:cubicBezTo>
                  <a:cubicBezTo>
                    <a:pt x="306" y="494"/>
                    <a:pt x="306" y="494"/>
                    <a:pt x="306" y="494"/>
                  </a:cubicBezTo>
                  <a:cubicBezTo>
                    <a:pt x="306" y="224"/>
                    <a:pt x="306" y="224"/>
                    <a:pt x="306" y="224"/>
                  </a:cubicBezTo>
                  <a:cubicBezTo>
                    <a:pt x="306" y="158"/>
                    <a:pt x="276" y="125"/>
                    <a:pt x="223" y="125"/>
                  </a:cubicBezTo>
                  <a:cubicBezTo>
                    <a:pt x="171" y="125"/>
                    <a:pt x="137" y="158"/>
                    <a:pt x="137" y="224"/>
                  </a:cubicBezTo>
                  <a:cubicBezTo>
                    <a:pt x="137" y="494"/>
                    <a:pt x="137" y="494"/>
                    <a:pt x="137"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7" name="Freeform 17">
              <a:extLst>
                <a:ext uri="{FF2B5EF4-FFF2-40B4-BE49-F238E27FC236}">
                  <a16:creationId xmlns:a16="http://schemas.microsoft.com/office/drawing/2014/main" id="{0B7609F1-6889-0F3F-1078-1078D3AEDAE7}"/>
                </a:ext>
              </a:extLst>
            </p:cNvPr>
            <p:cNvSpPr>
              <a:spLocks noEditPoints="1"/>
            </p:cNvSpPr>
            <p:nvPr userDrawn="1"/>
          </p:nvSpPr>
          <p:spPr bwMode="auto">
            <a:xfrm>
              <a:off x="5967277" y="938123"/>
              <a:ext cx="228289" cy="219867"/>
            </a:xfrm>
            <a:custGeom>
              <a:avLst/>
              <a:gdLst>
                <a:gd name="T0" fmla="*/ 0 w 525"/>
                <a:gd name="T1" fmla="*/ 254 h 505"/>
                <a:gd name="T2" fmla="*/ 0 w 525"/>
                <a:gd name="T3" fmla="*/ 253 h 505"/>
                <a:gd name="T4" fmla="*/ 263 w 525"/>
                <a:gd name="T5" fmla="*/ 0 h 505"/>
                <a:gd name="T6" fmla="*/ 525 w 525"/>
                <a:gd name="T7" fmla="*/ 251 h 505"/>
                <a:gd name="T8" fmla="*/ 525 w 525"/>
                <a:gd name="T9" fmla="*/ 253 h 505"/>
                <a:gd name="T10" fmla="*/ 262 w 525"/>
                <a:gd name="T11" fmla="*/ 505 h 505"/>
                <a:gd name="T12" fmla="*/ 0 w 525"/>
                <a:gd name="T13" fmla="*/ 254 h 505"/>
                <a:gd name="T14" fmla="*/ 389 w 525"/>
                <a:gd name="T15" fmla="*/ 254 h 505"/>
                <a:gd name="T16" fmla="*/ 389 w 525"/>
                <a:gd name="T17" fmla="*/ 253 h 505"/>
                <a:gd name="T18" fmla="*/ 262 w 525"/>
                <a:gd name="T19" fmla="*/ 119 h 505"/>
                <a:gd name="T20" fmla="*/ 136 w 525"/>
                <a:gd name="T21" fmla="*/ 251 h 505"/>
                <a:gd name="T22" fmla="*/ 136 w 525"/>
                <a:gd name="T23" fmla="*/ 253 h 505"/>
                <a:gd name="T24" fmla="*/ 263 w 525"/>
                <a:gd name="T25" fmla="*/ 387 h 505"/>
                <a:gd name="T26" fmla="*/ 389 w 525"/>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5">
                  <a:moveTo>
                    <a:pt x="0" y="254"/>
                  </a:moveTo>
                  <a:cubicBezTo>
                    <a:pt x="0" y="253"/>
                    <a:pt x="0" y="253"/>
                    <a:pt x="0" y="253"/>
                  </a:cubicBezTo>
                  <a:cubicBezTo>
                    <a:pt x="0" y="113"/>
                    <a:pt x="112" y="0"/>
                    <a:pt x="263" y="0"/>
                  </a:cubicBezTo>
                  <a:cubicBezTo>
                    <a:pt x="414" y="0"/>
                    <a:pt x="525" y="111"/>
                    <a:pt x="525" y="251"/>
                  </a:cubicBezTo>
                  <a:cubicBezTo>
                    <a:pt x="525" y="253"/>
                    <a:pt x="525" y="253"/>
                    <a:pt x="525" y="253"/>
                  </a:cubicBezTo>
                  <a:cubicBezTo>
                    <a:pt x="525" y="392"/>
                    <a:pt x="413" y="505"/>
                    <a:pt x="262" y="505"/>
                  </a:cubicBezTo>
                  <a:cubicBezTo>
                    <a:pt x="111" y="505"/>
                    <a:pt x="0" y="394"/>
                    <a:pt x="0" y="254"/>
                  </a:cubicBezTo>
                  <a:close/>
                  <a:moveTo>
                    <a:pt x="389" y="254"/>
                  </a:moveTo>
                  <a:cubicBezTo>
                    <a:pt x="389" y="253"/>
                    <a:pt x="389" y="253"/>
                    <a:pt x="389" y="253"/>
                  </a:cubicBezTo>
                  <a:cubicBezTo>
                    <a:pt x="389" y="181"/>
                    <a:pt x="338" y="119"/>
                    <a:pt x="262" y="119"/>
                  </a:cubicBezTo>
                  <a:cubicBezTo>
                    <a:pt x="183" y="119"/>
                    <a:pt x="136" y="179"/>
                    <a:pt x="136" y="251"/>
                  </a:cubicBezTo>
                  <a:cubicBezTo>
                    <a:pt x="136" y="253"/>
                    <a:pt x="136" y="253"/>
                    <a:pt x="136" y="253"/>
                  </a:cubicBezTo>
                  <a:cubicBezTo>
                    <a:pt x="136" y="324"/>
                    <a:pt x="187" y="387"/>
                    <a:pt x="263" y="387"/>
                  </a:cubicBezTo>
                  <a:cubicBezTo>
                    <a:pt x="342" y="387"/>
                    <a:pt x="389" y="326"/>
                    <a:pt x="389"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8" name="Rectangle 18">
              <a:extLst>
                <a:ext uri="{FF2B5EF4-FFF2-40B4-BE49-F238E27FC236}">
                  <a16:creationId xmlns:a16="http://schemas.microsoft.com/office/drawing/2014/main" id="{14DEDB85-DF79-F93C-595F-4B0E6B36F339}"/>
                </a:ext>
              </a:extLst>
            </p:cNvPr>
            <p:cNvSpPr>
              <a:spLocks noChangeArrowheads="1"/>
            </p:cNvSpPr>
            <p:nvPr userDrawn="1"/>
          </p:nvSpPr>
          <p:spPr bwMode="auto">
            <a:xfrm>
              <a:off x="6207091" y="866312"/>
              <a:ext cx="59843" cy="28680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9" name="Freeform 19">
              <a:extLst>
                <a:ext uri="{FF2B5EF4-FFF2-40B4-BE49-F238E27FC236}">
                  <a16:creationId xmlns:a16="http://schemas.microsoft.com/office/drawing/2014/main" id="{481DD98C-1DDB-14FF-BA62-46FAD00BAA89}"/>
                </a:ext>
              </a:extLst>
            </p:cNvPr>
            <p:cNvSpPr>
              <a:spLocks noEditPoints="1"/>
            </p:cNvSpPr>
            <p:nvPr userDrawn="1"/>
          </p:nvSpPr>
          <p:spPr bwMode="auto">
            <a:xfrm>
              <a:off x="6278460" y="938123"/>
              <a:ext cx="228732" cy="219867"/>
            </a:xfrm>
            <a:custGeom>
              <a:avLst/>
              <a:gdLst>
                <a:gd name="T0" fmla="*/ 0 w 526"/>
                <a:gd name="T1" fmla="*/ 254 h 505"/>
                <a:gd name="T2" fmla="*/ 0 w 526"/>
                <a:gd name="T3" fmla="*/ 253 h 505"/>
                <a:gd name="T4" fmla="*/ 264 w 526"/>
                <a:gd name="T5" fmla="*/ 0 h 505"/>
                <a:gd name="T6" fmla="*/ 526 w 526"/>
                <a:gd name="T7" fmla="*/ 251 h 505"/>
                <a:gd name="T8" fmla="*/ 526 w 526"/>
                <a:gd name="T9" fmla="*/ 253 h 505"/>
                <a:gd name="T10" fmla="*/ 262 w 526"/>
                <a:gd name="T11" fmla="*/ 505 h 505"/>
                <a:gd name="T12" fmla="*/ 0 w 526"/>
                <a:gd name="T13" fmla="*/ 254 h 505"/>
                <a:gd name="T14" fmla="*/ 390 w 526"/>
                <a:gd name="T15" fmla="*/ 254 h 505"/>
                <a:gd name="T16" fmla="*/ 390 w 526"/>
                <a:gd name="T17" fmla="*/ 253 h 505"/>
                <a:gd name="T18" fmla="*/ 262 w 526"/>
                <a:gd name="T19" fmla="*/ 119 h 505"/>
                <a:gd name="T20" fmla="*/ 136 w 526"/>
                <a:gd name="T21" fmla="*/ 251 h 505"/>
                <a:gd name="T22" fmla="*/ 136 w 526"/>
                <a:gd name="T23" fmla="*/ 253 h 505"/>
                <a:gd name="T24" fmla="*/ 264 w 526"/>
                <a:gd name="T25" fmla="*/ 387 h 505"/>
                <a:gd name="T26" fmla="*/ 390 w 526"/>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505">
                  <a:moveTo>
                    <a:pt x="0" y="254"/>
                  </a:moveTo>
                  <a:cubicBezTo>
                    <a:pt x="0" y="253"/>
                    <a:pt x="0" y="253"/>
                    <a:pt x="0" y="253"/>
                  </a:cubicBezTo>
                  <a:cubicBezTo>
                    <a:pt x="0" y="113"/>
                    <a:pt x="113" y="0"/>
                    <a:pt x="264" y="0"/>
                  </a:cubicBezTo>
                  <a:cubicBezTo>
                    <a:pt x="414" y="0"/>
                    <a:pt x="526" y="111"/>
                    <a:pt x="526" y="251"/>
                  </a:cubicBezTo>
                  <a:cubicBezTo>
                    <a:pt x="526" y="253"/>
                    <a:pt x="526" y="253"/>
                    <a:pt x="526" y="253"/>
                  </a:cubicBezTo>
                  <a:cubicBezTo>
                    <a:pt x="526" y="392"/>
                    <a:pt x="413" y="505"/>
                    <a:pt x="262" y="505"/>
                  </a:cubicBezTo>
                  <a:cubicBezTo>
                    <a:pt x="112" y="505"/>
                    <a:pt x="0" y="394"/>
                    <a:pt x="0" y="254"/>
                  </a:cubicBezTo>
                  <a:close/>
                  <a:moveTo>
                    <a:pt x="390" y="254"/>
                  </a:moveTo>
                  <a:cubicBezTo>
                    <a:pt x="390" y="253"/>
                    <a:pt x="390" y="253"/>
                    <a:pt x="390" y="253"/>
                  </a:cubicBezTo>
                  <a:cubicBezTo>
                    <a:pt x="390" y="181"/>
                    <a:pt x="338" y="119"/>
                    <a:pt x="262" y="119"/>
                  </a:cubicBezTo>
                  <a:cubicBezTo>
                    <a:pt x="183" y="119"/>
                    <a:pt x="136" y="179"/>
                    <a:pt x="136" y="251"/>
                  </a:cubicBezTo>
                  <a:cubicBezTo>
                    <a:pt x="136" y="253"/>
                    <a:pt x="136" y="253"/>
                    <a:pt x="136" y="253"/>
                  </a:cubicBezTo>
                  <a:cubicBezTo>
                    <a:pt x="136" y="324"/>
                    <a:pt x="188" y="387"/>
                    <a:pt x="264" y="387"/>
                  </a:cubicBezTo>
                  <a:cubicBezTo>
                    <a:pt x="343" y="387"/>
                    <a:pt x="390" y="326"/>
                    <a:pt x="39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0" name="Freeform 20">
              <a:extLst>
                <a:ext uri="{FF2B5EF4-FFF2-40B4-BE49-F238E27FC236}">
                  <a16:creationId xmlns:a16="http://schemas.microsoft.com/office/drawing/2014/main" id="{BDC10D2B-8240-1306-CC54-B3F0CF2378C2}"/>
                </a:ext>
              </a:extLst>
            </p:cNvPr>
            <p:cNvSpPr>
              <a:spLocks noEditPoints="1"/>
            </p:cNvSpPr>
            <p:nvPr userDrawn="1"/>
          </p:nvSpPr>
          <p:spPr bwMode="auto">
            <a:xfrm>
              <a:off x="6516057" y="938123"/>
              <a:ext cx="221197" cy="278823"/>
            </a:xfrm>
            <a:custGeom>
              <a:avLst/>
              <a:gdLst>
                <a:gd name="T0" fmla="*/ 24 w 509"/>
                <a:gd name="T1" fmla="*/ 590 h 641"/>
                <a:gd name="T2" fmla="*/ 71 w 509"/>
                <a:gd name="T3" fmla="*/ 487 h 641"/>
                <a:gd name="T4" fmla="*/ 235 w 509"/>
                <a:gd name="T5" fmla="*/ 531 h 641"/>
                <a:gd name="T6" fmla="*/ 373 w 509"/>
                <a:gd name="T7" fmla="*/ 399 h 641"/>
                <a:gd name="T8" fmla="*/ 373 w 509"/>
                <a:gd name="T9" fmla="*/ 376 h 641"/>
                <a:gd name="T10" fmla="*/ 215 w 509"/>
                <a:gd name="T11" fmla="*/ 454 h 641"/>
                <a:gd name="T12" fmla="*/ 0 w 509"/>
                <a:gd name="T13" fmla="*/ 228 h 641"/>
                <a:gd name="T14" fmla="*/ 0 w 509"/>
                <a:gd name="T15" fmla="*/ 226 h 641"/>
                <a:gd name="T16" fmla="*/ 215 w 509"/>
                <a:gd name="T17" fmla="*/ 0 h 641"/>
                <a:gd name="T18" fmla="*/ 372 w 509"/>
                <a:gd name="T19" fmla="*/ 72 h 641"/>
                <a:gd name="T20" fmla="*/ 372 w 509"/>
                <a:gd name="T21" fmla="*/ 9 h 641"/>
                <a:gd name="T22" fmla="*/ 509 w 509"/>
                <a:gd name="T23" fmla="*/ 9 h 641"/>
                <a:gd name="T24" fmla="*/ 509 w 509"/>
                <a:gd name="T25" fmla="*/ 385 h 641"/>
                <a:gd name="T26" fmla="*/ 448 w 509"/>
                <a:gd name="T27" fmla="*/ 576 h 641"/>
                <a:gd name="T28" fmla="*/ 239 w 509"/>
                <a:gd name="T29" fmla="*/ 641 h 641"/>
                <a:gd name="T30" fmla="*/ 24 w 509"/>
                <a:gd name="T31" fmla="*/ 590 h 641"/>
                <a:gd name="T32" fmla="*/ 373 w 509"/>
                <a:gd name="T33" fmla="*/ 228 h 641"/>
                <a:gd name="T34" fmla="*/ 373 w 509"/>
                <a:gd name="T35" fmla="*/ 226 h 641"/>
                <a:gd name="T36" fmla="*/ 255 w 509"/>
                <a:gd name="T37" fmla="*/ 114 h 641"/>
                <a:gd name="T38" fmla="*/ 137 w 509"/>
                <a:gd name="T39" fmla="*/ 226 h 641"/>
                <a:gd name="T40" fmla="*/ 137 w 509"/>
                <a:gd name="T41" fmla="*/ 228 h 641"/>
                <a:gd name="T42" fmla="*/ 255 w 509"/>
                <a:gd name="T43" fmla="*/ 340 h 641"/>
                <a:gd name="T44" fmla="*/ 373 w 509"/>
                <a:gd name="T45" fmla="*/ 228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9" h="641">
                  <a:moveTo>
                    <a:pt x="24" y="590"/>
                  </a:moveTo>
                  <a:cubicBezTo>
                    <a:pt x="71" y="487"/>
                    <a:pt x="71" y="487"/>
                    <a:pt x="71" y="487"/>
                  </a:cubicBezTo>
                  <a:cubicBezTo>
                    <a:pt x="121" y="515"/>
                    <a:pt x="171" y="531"/>
                    <a:pt x="235" y="531"/>
                  </a:cubicBezTo>
                  <a:cubicBezTo>
                    <a:pt x="329" y="531"/>
                    <a:pt x="373" y="486"/>
                    <a:pt x="373" y="399"/>
                  </a:cubicBezTo>
                  <a:cubicBezTo>
                    <a:pt x="373" y="376"/>
                    <a:pt x="373" y="376"/>
                    <a:pt x="373" y="376"/>
                  </a:cubicBezTo>
                  <a:cubicBezTo>
                    <a:pt x="333" y="425"/>
                    <a:pt x="288" y="454"/>
                    <a:pt x="215" y="454"/>
                  </a:cubicBezTo>
                  <a:cubicBezTo>
                    <a:pt x="102" y="454"/>
                    <a:pt x="0" y="372"/>
                    <a:pt x="0" y="228"/>
                  </a:cubicBezTo>
                  <a:cubicBezTo>
                    <a:pt x="0" y="226"/>
                    <a:pt x="0" y="226"/>
                    <a:pt x="0" y="226"/>
                  </a:cubicBezTo>
                  <a:cubicBezTo>
                    <a:pt x="0" y="82"/>
                    <a:pt x="104" y="0"/>
                    <a:pt x="215" y="0"/>
                  </a:cubicBezTo>
                  <a:cubicBezTo>
                    <a:pt x="290" y="0"/>
                    <a:pt x="334" y="32"/>
                    <a:pt x="372" y="72"/>
                  </a:cubicBezTo>
                  <a:cubicBezTo>
                    <a:pt x="372" y="9"/>
                    <a:pt x="372" y="9"/>
                    <a:pt x="372" y="9"/>
                  </a:cubicBezTo>
                  <a:cubicBezTo>
                    <a:pt x="509" y="9"/>
                    <a:pt x="509" y="9"/>
                    <a:pt x="509" y="9"/>
                  </a:cubicBezTo>
                  <a:cubicBezTo>
                    <a:pt x="509" y="385"/>
                    <a:pt x="509" y="385"/>
                    <a:pt x="509" y="385"/>
                  </a:cubicBezTo>
                  <a:cubicBezTo>
                    <a:pt x="509" y="472"/>
                    <a:pt x="488" y="535"/>
                    <a:pt x="448" y="576"/>
                  </a:cubicBezTo>
                  <a:cubicBezTo>
                    <a:pt x="402" y="621"/>
                    <a:pt x="333" y="641"/>
                    <a:pt x="239" y="641"/>
                  </a:cubicBezTo>
                  <a:cubicBezTo>
                    <a:pt x="160" y="641"/>
                    <a:pt x="86" y="623"/>
                    <a:pt x="24" y="590"/>
                  </a:cubicBezTo>
                  <a:close/>
                  <a:moveTo>
                    <a:pt x="373" y="228"/>
                  </a:moveTo>
                  <a:cubicBezTo>
                    <a:pt x="373" y="226"/>
                    <a:pt x="373" y="226"/>
                    <a:pt x="373" y="226"/>
                  </a:cubicBezTo>
                  <a:cubicBezTo>
                    <a:pt x="373" y="160"/>
                    <a:pt x="322" y="114"/>
                    <a:pt x="255" y="114"/>
                  </a:cubicBezTo>
                  <a:cubicBezTo>
                    <a:pt x="188" y="114"/>
                    <a:pt x="137" y="160"/>
                    <a:pt x="137" y="226"/>
                  </a:cubicBezTo>
                  <a:cubicBezTo>
                    <a:pt x="137" y="228"/>
                    <a:pt x="137" y="228"/>
                    <a:pt x="137" y="228"/>
                  </a:cubicBezTo>
                  <a:cubicBezTo>
                    <a:pt x="137" y="295"/>
                    <a:pt x="188" y="340"/>
                    <a:pt x="255" y="340"/>
                  </a:cubicBezTo>
                  <a:cubicBezTo>
                    <a:pt x="322" y="340"/>
                    <a:pt x="373" y="294"/>
                    <a:pt x="373"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1" name="Freeform 21">
              <a:extLst>
                <a:ext uri="{FF2B5EF4-FFF2-40B4-BE49-F238E27FC236}">
                  <a16:creationId xmlns:a16="http://schemas.microsoft.com/office/drawing/2014/main" id="{A2A74FC7-B210-AC23-8BAD-A8CEF20144F7}"/>
                </a:ext>
              </a:extLst>
            </p:cNvPr>
            <p:cNvSpPr>
              <a:spLocks/>
            </p:cNvSpPr>
            <p:nvPr userDrawn="1"/>
          </p:nvSpPr>
          <p:spPr bwMode="auto">
            <a:xfrm>
              <a:off x="6747450" y="942113"/>
              <a:ext cx="219424" cy="275277"/>
            </a:xfrm>
            <a:custGeom>
              <a:avLst/>
              <a:gdLst>
                <a:gd name="T0" fmla="*/ 362 w 505"/>
                <a:gd name="T1" fmla="*/ 0 h 633"/>
                <a:gd name="T2" fmla="*/ 505 w 505"/>
                <a:gd name="T3" fmla="*/ 0 h 633"/>
                <a:gd name="T4" fmla="*/ 319 w 505"/>
                <a:gd name="T5" fmla="*/ 497 h 633"/>
                <a:gd name="T6" fmla="*/ 159 w 505"/>
                <a:gd name="T7" fmla="*/ 633 h 633"/>
                <a:gd name="T8" fmla="*/ 37 w 505"/>
                <a:gd name="T9" fmla="*/ 599 h 633"/>
                <a:gd name="T10" fmla="*/ 83 w 505"/>
                <a:gd name="T11" fmla="*/ 500 h 633"/>
                <a:gd name="T12" fmla="*/ 142 w 505"/>
                <a:gd name="T13" fmla="*/ 519 h 633"/>
                <a:gd name="T14" fmla="*/ 190 w 505"/>
                <a:gd name="T15" fmla="*/ 487 h 633"/>
                <a:gd name="T16" fmla="*/ 0 w 505"/>
                <a:gd name="T17" fmla="*/ 0 h 633"/>
                <a:gd name="T18" fmla="*/ 146 w 505"/>
                <a:gd name="T19" fmla="*/ 0 h 633"/>
                <a:gd name="T20" fmla="*/ 256 w 505"/>
                <a:gd name="T21" fmla="*/ 331 h 633"/>
                <a:gd name="T22" fmla="*/ 362 w 505"/>
                <a:gd name="T23"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633">
                  <a:moveTo>
                    <a:pt x="362" y="0"/>
                  </a:moveTo>
                  <a:cubicBezTo>
                    <a:pt x="505" y="0"/>
                    <a:pt x="505" y="0"/>
                    <a:pt x="505" y="0"/>
                  </a:cubicBezTo>
                  <a:cubicBezTo>
                    <a:pt x="319" y="497"/>
                    <a:pt x="319" y="497"/>
                    <a:pt x="319" y="497"/>
                  </a:cubicBezTo>
                  <a:cubicBezTo>
                    <a:pt x="282" y="596"/>
                    <a:pt x="242" y="633"/>
                    <a:pt x="159" y="633"/>
                  </a:cubicBezTo>
                  <a:cubicBezTo>
                    <a:pt x="110" y="633"/>
                    <a:pt x="73" y="620"/>
                    <a:pt x="37" y="599"/>
                  </a:cubicBezTo>
                  <a:cubicBezTo>
                    <a:pt x="83" y="500"/>
                    <a:pt x="83" y="500"/>
                    <a:pt x="83" y="500"/>
                  </a:cubicBezTo>
                  <a:cubicBezTo>
                    <a:pt x="101" y="511"/>
                    <a:pt x="124" y="519"/>
                    <a:pt x="142" y="519"/>
                  </a:cubicBezTo>
                  <a:cubicBezTo>
                    <a:pt x="166" y="519"/>
                    <a:pt x="178" y="512"/>
                    <a:pt x="190" y="487"/>
                  </a:cubicBezTo>
                  <a:cubicBezTo>
                    <a:pt x="0" y="0"/>
                    <a:pt x="0" y="0"/>
                    <a:pt x="0" y="0"/>
                  </a:cubicBezTo>
                  <a:cubicBezTo>
                    <a:pt x="146" y="0"/>
                    <a:pt x="146" y="0"/>
                    <a:pt x="146" y="0"/>
                  </a:cubicBezTo>
                  <a:cubicBezTo>
                    <a:pt x="256" y="331"/>
                    <a:pt x="256" y="331"/>
                    <a:pt x="256" y="331"/>
                  </a:cubicBezTo>
                  <a:lnTo>
                    <a:pt x="3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2" name="Freeform 22">
              <a:extLst>
                <a:ext uri="{FF2B5EF4-FFF2-40B4-BE49-F238E27FC236}">
                  <a16:creationId xmlns:a16="http://schemas.microsoft.com/office/drawing/2014/main" id="{ACC82ECF-72D6-6ED9-EF73-7495DE192F95}"/>
                </a:ext>
              </a:extLst>
            </p:cNvPr>
            <p:cNvSpPr>
              <a:spLocks/>
            </p:cNvSpPr>
            <p:nvPr userDrawn="1"/>
          </p:nvSpPr>
          <p:spPr bwMode="auto">
            <a:xfrm>
              <a:off x="6005842" y="1258171"/>
              <a:ext cx="132541" cy="290348"/>
            </a:xfrm>
            <a:custGeom>
              <a:avLst/>
              <a:gdLst>
                <a:gd name="T0" fmla="*/ 57 w 305"/>
                <a:gd name="T1" fmla="*/ 299 h 667"/>
                <a:gd name="T2" fmla="*/ 0 w 305"/>
                <a:gd name="T3" fmla="*/ 299 h 667"/>
                <a:gd name="T4" fmla="*/ 0 w 305"/>
                <a:gd name="T5" fmla="*/ 186 h 667"/>
                <a:gd name="T6" fmla="*/ 57 w 305"/>
                <a:gd name="T7" fmla="*/ 186 h 667"/>
                <a:gd name="T8" fmla="*/ 57 w 305"/>
                <a:gd name="T9" fmla="*/ 155 h 667"/>
                <a:gd name="T10" fmla="*/ 96 w 305"/>
                <a:gd name="T11" fmla="*/ 38 h 667"/>
                <a:gd name="T12" fmla="*/ 208 w 305"/>
                <a:gd name="T13" fmla="*/ 0 h 667"/>
                <a:gd name="T14" fmla="*/ 305 w 305"/>
                <a:gd name="T15" fmla="*/ 13 h 667"/>
                <a:gd name="T16" fmla="*/ 305 w 305"/>
                <a:gd name="T17" fmla="*/ 127 h 667"/>
                <a:gd name="T18" fmla="*/ 243 w 305"/>
                <a:gd name="T19" fmla="*/ 115 h 667"/>
                <a:gd name="T20" fmla="*/ 193 w 305"/>
                <a:gd name="T21" fmla="*/ 168 h 667"/>
                <a:gd name="T22" fmla="*/ 193 w 305"/>
                <a:gd name="T23" fmla="*/ 187 h 667"/>
                <a:gd name="T24" fmla="*/ 305 w 305"/>
                <a:gd name="T25" fmla="*/ 187 h 667"/>
                <a:gd name="T26" fmla="*/ 305 w 305"/>
                <a:gd name="T27" fmla="*/ 299 h 667"/>
                <a:gd name="T28" fmla="*/ 195 w 305"/>
                <a:gd name="T29" fmla="*/ 299 h 667"/>
                <a:gd name="T30" fmla="*/ 195 w 305"/>
                <a:gd name="T31" fmla="*/ 667 h 667"/>
                <a:gd name="T32" fmla="*/ 57 w 305"/>
                <a:gd name="T33" fmla="*/ 667 h 667"/>
                <a:gd name="T34" fmla="*/ 57 w 305"/>
                <a:gd name="T35" fmla="*/ 29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667">
                  <a:moveTo>
                    <a:pt x="57" y="299"/>
                  </a:moveTo>
                  <a:cubicBezTo>
                    <a:pt x="0" y="299"/>
                    <a:pt x="0" y="299"/>
                    <a:pt x="0" y="299"/>
                  </a:cubicBezTo>
                  <a:cubicBezTo>
                    <a:pt x="0" y="186"/>
                    <a:pt x="0" y="186"/>
                    <a:pt x="0" y="186"/>
                  </a:cubicBezTo>
                  <a:cubicBezTo>
                    <a:pt x="57" y="186"/>
                    <a:pt x="57" y="186"/>
                    <a:pt x="57" y="186"/>
                  </a:cubicBezTo>
                  <a:cubicBezTo>
                    <a:pt x="57" y="155"/>
                    <a:pt x="57" y="155"/>
                    <a:pt x="57" y="155"/>
                  </a:cubicBezTo>
                  <a:cubicBezTo>
                    <a:pt x="57" y="102"/>
                    <a:pt x="71" y="63"/>
                    <a:pt x="96" y="38"/>
                  </a:cubicBezTo>
                  <a:cubicBezTo>
                    <a:pt x="122" y="12"/>
                    <a:pt x="159" y="0"/>
                    <a:pt x="208" y="0"/>
                  </a:cubicBezTo>
                  <a:cubicBezTo>
                    <a:pt x="251" y="0"/>
                    <a:pt x="280" y="5"/>
                    <a:pt x="305" y="13"/>
                  </a:cubicBezTo>
                  <a:cubicBezTo>
                    <a:pt x="305" y="127"/>
                    <a:pt x="305" y="127"/>
                    <a:pt x="305" y="127"/>
                  </a:cubicBezTo>
                  <a:cubicBezTo>
                    <a:pt x="286" y="120"/>
                    <a:pt x="267" y="115"/>
                    <a:pt x="243" y="115"/>
                  </a:cubicBezTo>
                  <a:cubicBezTo>
                    <a:pt x="211" y="115"/>
                    <a:pt x="193" y="132"/>
                    <a:pt x="193" y="168"/>
                  </a:cubicBezTo>
                  <a:cubicBezTo>
                    <a:pt x="193" y="187"/>
                    <a:pt x="193" y="187"/>
                    <a:pt x="193" y="187"/>
                  </a:cubicBezTo>
                  <a:cubicBezTo>
                    <a:pt x="305" y="187"/>
                    <a:pt x="305" y="187"/>
                    <a:pt x="305" y="187"/>
                  </a:cubicBezTo>
                  <a:cubicBezTo>
                    <a:pt x="305" y="299"/>
                    <a:pt x="305" y="299"/>
                    <a:pt x="305" y="299"/>
                  </a:cubicBezTo>
                  <a:cubicBezTo>
                    <a:pt x="195" y="299"/>
                    <a:pt x="195" y="299"/>
                    <a:pt x="195" y="299"/>
                  </a:cubicBezTo>
                  <a:cubicBezTo>
                    <a:pt x="195" y="667"/>
                    <a:pt x="195" y="667"/>
                    <a:pt x="195" y="667"/>
                  </a:cubicBezTo>
                  <a:cubicBezTo>
                    <a:pt x="57" y="667"/>
                    <a:pt x="57" y="667"/>
                    <a:pt x="57" y="667"/>
                  </a:cubicBezTo>
                  <a:lnTo>
                    <a:pt x="57"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3" name="Freeform 23">
              <a:extLst>
                <a:ext uri="{FF2B5EF4-FFF2-40B4-BE49-F238E27FC236}">
                  <a16:creationId xmlns:a16="http://schemas.microsoft.com/office/drawing/2014/main" id="{22DAB937-2E79-C195-4D0E-AD10E570DD17}"/>
                </a:ext>
              </a:extLst>
            </p:cNvPr>
            <p:cNvSpPr>
              <a:spLocks noEditPoints="1"/>
            </p:cNvSpPr>
            <p:nvPr userDrawn="1"/>
          </p:nvSpPr>
          <p:spPr bwMode="auto">
            <a:xfrm>
              <a:off x="6137497" y="1333086"/>
              <a:ext cx="228289" cy="219867"/>
            </a:xfrm>
            <a:custGeom>
              <a:avLst/>
              <a:gdLst>
                <a:gd name="T0" fmla="*/ 0 w 525"/>
                <a:gd name="T1" fmla="*/ 255 h 506"/>
                <a:gd name="T2" fmla="*/ 0 w 525"/>
                <a:gd name="T3" fmla="*/ 253 h 506"/>
                <a:gd name="T4" fmla="*/ 263 w 525"/>
                <a:gd name="T5" fmla="*/ 0 h 506"/>
                <a:gd name="T6" fmla="*/ 525 w 525"/>
                <a:gd name="T7" fmla="*/ 251 h 506"/>
                <a:gd name="T8" fmla="*/ 525 w 525"/>
                <a:gd name="T9" fmla="*/ 253 h 506"/>
                <a:gd name="T10" fmla="*/ 261 w 525"/>
                <a:gd name="T11" fmla="*/ 506 h 506"/>
                <a:gd name="T12" fmla="*/ 0 w 525"/>
                <a:gd name="T13" fmla="*/ 255 h 506"/>
                <a:gd name="T14" fmla="*/ 389 w 525"/>
                <a:gd name="T15" fmla="*/ 255 h 506"/>
                <a:gd name="T16" fmla="*/ 389 w 525"/>
                <a:gd name="T17" fmla="*/ 253 h 506"/>
                <a:gd name="T18" fmla="*/ 261 w 525"/>
                <a:gd name="T19" fmla="*/ 119 h 506"/>
                <a:gd name="T20" fmla="*/ 135 w 525"/>
                <a:gd name="T21" fmla="*/ 251 h 506"/>
                <a:gd name="T22" fmla="*/ 135 w 525"/>
                <a:gd name="T23" fmla="*/ 253 h 506"/>
                <a:gd name="T24" fmla="*/ 263 w 525"/>
                <a:gd name="T25" fmla="*/ 387 h 506"/>
                <a:gd name="T26" fmla="*/ 389 w 525"/>
                <a:gd name="T27" fmla="*/ 25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6">
                  <a:moveTo>
                    <a:pt x="0" y="255"/>
                  </a:moveTo>
                  <a:cubicBezTo>
                    <a:pt x="0" y="253"/>
                    <a:pt x="0" y="253"/>
                    <a:pt x="0" y="253"/>
                  </a:cubicBezTo>
                  <a:cubicBezTo>
                    <a:pt x="0" y="114"/>
                    <a:pt x="112" y="0"/>
                    <a:pt x="263" y="0"/>
                  </a:cubicBezTo>
                  <a:cubicBezTo>
                    <a:pt x="413" y="0"/>
                    <a:pt x="525" y="112"/>
                    <a:pt x="525" y="251"/>
                  </a:cubicBezTo>
                  <a:cubicBezTo>
                    <a:pt x="525" y="253"/>
                    <a:pt x="525" y="253"/>
                    <a:pt x="525" y="253"/>
                  </a:cubicBezTo>
                  <a:cubicBezTo>
                    <a:pt x="525" y="392"/>
                    <a:pt x="412" y="506"/>
                    <a:pt x="261" y="506"/>
                  </a:cubicBezTo>
                  <a:cubicBezTo>
                    <a:pt x="111" y="506"/>
                    <a:pt x="0" y="394"/>
                    <a:pt x="0" y="255"/>
                  </a:cubicBezTo>
                  <a:close/>
                  <a:moveTo>
                    <a:pt x="389" y="255"/>
                  </a:moveTo>
                  <a:cubicBezTo>
                    <a:pt x="389" y="253"/>
                    <a:pt x="389" y="253"/>
                    <a:pt x="389" y="253"/>
                  </a:cubicBezTo>
                  <a:cubicBezTo>
                    <a:pt x="389" y="182"/>
                    <a:pt x="337" y="119"/>
                    <a:pt x="261" y="119"/>
                  </a:cubicBezTo>
                  <a:cubicBezTo>
                    <a:pt x="183" y="119"/>
                    <a:pt x="135" y="180"/>
                    <a:pt x="135" y="251"/>
                  </a:cubicBezTo>
                  <a:cubicBezTo>
                    <a:pt x="135" y="253"/>
                    <a:pt x="135" y="253"/>
                    <a:pt x="135" y="253"/>
                  </a:cubicBezTo>
                  <a:cubicBezTo>
                    <a:pt x="135" y="325"/>
                    <a:pt x="187" y="387"/>
                    <a:pt x="263" y="387"/>
                  </a:cubicBezTo>
                  <a:cubicBezTo>
                    <a:pt x="342" y="387"/>
                    <a:pt x="389" y="326"/>
                    <a:pt x="389"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4" name="Freeform 24">
              <a:extLst>
                <a:ext uri="{FF2B5EF4-FFF2-40B4-BE49-F238E27FC236}">
                  <a16:creationId xmlns:a16="http://schemas.microsoft.com/office/drawing/2014/main" id="{10B466F6-F9DE-C9E9-D98F-5CB17B8BE4DB}"/>
                </a:ext>
              </a:extLst>
            </p:cNvPr>
            <p:cNvSpPr>
              <a:spLocks/>
            </p:cNvSpPr>
            <p:nvPr userDrawn="1"/>
          </p:nvSpPr>
          <p:spPr bwMode="auto">
            <a:xfrm>
              <a:off x="6379084" y="1331756"/>
              <a:ext cx="127665" cy="216764"/>
            </a:xfrm>
            <a:custGeom>
              <a:avLst/>
              <a:gdLst>
                <a:gd name="T0" fmla="*/ 0 w 293"/>
                <a:gd name="T1" fmla="*/ 13 h 498"/>
                <a:gd name="T2" fmla="*/ 138 w 293"/>
                <a:gd name="T3" fmla="*/ 13 h 498"/>
                <a:gd name="T4" fmla="*/ 138 w 293"/>
                <a:gd name="T5" fmla="*/ 110 h 498"/>
                <a:gd name="T6" fmla="*/ 293 w 293"/>
                <a:gd name="T7" fmla="*/ 3 h 498"/>
                <a:gd name="T8" fmla="*/ 293 w 293"/>
                <a:gd name="T9" fmla="*/ 147 h 498"/>
                <a:gd name="T10" fmla="*/ 286 w 293"/>
                <a:gd name="T11" fmla="*/ 147 h 498"/>
                <a:gd name="T12" fmla="*/ 138 w 293"/>
                <a:gd name="T13" fmla="*/ 318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0"/>
                    <a:pt x="138" y="110"/>
                    <a:pt x="138" y="110"/>
                  </a:cubicBezTo>
                  <a:cubicBezTo>
                    <a:pt x="166" y="43"/>
                    <a:pt x="211" y="0"/>
                    <a:pt x="293" y="3"/>
                  </a:cubicBezTo>
                  <a:cubicBezTo>
                    <a:pt x="293" y="147"/>
                    <a:pt x="293" y="147"/>
                    <a:pt x="293" y="147"/>
                  </a:cubicBezTo>
                  <a:cubicBezTo>
                    <a:pt x="286" y="147"/>
                    <a:pt x="286" y="147"/>
                    <a:pt x="286" y="147"/>
                  </a:cubicBezTo>
                  <a:cubicBezTo>
                    <a:pt x="194" y="147"/>
                    <a:pt x="138" y="203"/>
                    <a:pt x="138" y="318"/>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5" name="Freeform 25">
              <a:extLst>
                <a:ext uri="{FF2B5EF4-FFF2-40B4-BE49-F238E27FC236}">
                  <a16:creationId xmlns:a16="http://schemas.microsoft.com/office/drawing/2014/main" id="{AD3E18E3-90EA-4D54-E039-6221DAC55953}"/>
                </a:ext>
              </a:extLst>
            </p:cNvPr>
            <p:cNvSpPr>
              <a:spLocks noEditPoints="1"/>
            </p:cNvSpPr>
            <p:nvPr userDrawn="1"/>
          </p:nvSpPr>
          <p:spPr bwMode="auto">
            <a:xfrm>
              <a:off x="6582993" y="1334859"/>
              <a:ext cx="194157" cy="217207"/>
            </a:xfrm>
            <a:custGeom>
              <a:avLst/>
              <a:gdLst>
                <a:gd name="T0" fmla="*/ 0 w 446"/>
                <a:gd name="T1" fmla="*/ 351 h 500"/>
                <a:gd name="T2" fmla="*/ 0 w 446"/>
                <a:gd name="T3" fmla="*/ 349 h 500"/>
                <a:gd name="T4" fmla="*/ 195 w 446"/>
                <a:gd name="T5" fmla="*/ 195 h 500"/>
                <a:gd name="T6" fmla="*/ 314 w 446"/>
                <a:gd name="T7" fmla="*/ 215 h 500"/>
                <a:gd name="T8" fmla="*/ 314 w 446"/>
                <a:gd name="T9" fmla="*/ 206 h 500"/>
                <a:gd name="T10" fmla="*/ 210 w 446"/>
                <a:gd name="T11" fmla="*/ 118 h 500"/>
                <a:gd name="T12" fmla="*/ 76 w 446"/>
                <a:gd name="T13" fmla="*/ 144 h 500"/>
                <a:gd name="T14" fmla="*/ 42 w 446"/>
                <a:gd name="T15" fmla="*/ 39 h 500"/>
                <a:gd name="T16" fmla="*/ 230 w 446"/>
                <a:gd name="T17" fmla="*/ 0 h 500"/>
                <a:gd name="T18" fmla="*/ 394 w 446"/>
                <a:gd name="T19" fmla="*/ 54 h 500"/>
                <a:gd name="T20" fmla="*/ 446 w 446"/>
                <a:gd name="T21" fmla="*/ 209 h 500"/>
                <a:gd name="T22" fmla="*/ 446 w 446"/>
                <a:gd name="T23" fmla="*/ 491 h 500"/>
                <a:gd name="T24" fmla="*/ 313 w 446"/>
                <a:gd name="T25" fmla="*/ 491 h 500"/>
                <a:gd name="T26" fmla="*/ 313 w 446"/>
                <a:gd name="T27" fmla="*/ 438 h 500"/>
                <a:gd name="T28" fmla="*/ 167 w 446"/>
                <a:gd name="T29" fmla="*/ 500 h 500"/>
                <a:gd name="T30" fmla="*/ 0 w 446"/>
                <a:gd name="T31" fmla="*/ 351 h 500"/>
                <a:gd name="T32" fmla="*/ 316 w 446"/>
                <a:gd name="T33" fmla="*/ 320 h 500"/>
                <a:gd name="T34" fmla="*/ 316 w 446"/>
                <a:gd name="T35" fmla="*/ 295 h 500"/>
                <a:gd name="T36" fmla="*/ 228 w 446"/>
                <a:gd name="T37" fmla="*/ 277 h 500"/>
                <a:gd name="T38" fmla="*/ 133 w 446"/>
                <a:gd name="T39" fmla="*/ 344 h 500"/>
                <a:gd name="T40" fmla="*/ 133 w 446"/>
                <a:gd name="T41" fmla="*/ 346 h 500"/>
                <a:gd name="T42" fmla="*/ 208 w 446"/>
                <a:gd name="T43" fmla="*/ 405 h 500"/>
                <a:gd name="T44" fmla="*/ 316 w 446"/>
                <a:gd name="T45" fmla="*/ 32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500">
                  <a:moveTo>
                    <a:pt x="0" y="351"/>
                  </a:moveTo>
                  <a:cubicBezTo>
                    <a:pt x="0" y="349"/>
                    <a:pt x="0" y="349"/>
                    <a:pt x="0" y="349"/>
                  </a:cubicBezTo>
                  <a:cubicBezTo>
                    <a:pt x="0" y="244"/>
                    <a:pt x="81" y="195"/>
                    <a:pt x="195" y="195"/>
                  </a:cubicBezTo>
                  <a:cubicBezTo>
                    <a:pt x="244" y="195"/>
                    <a:pt x="280" y="203"/>
                    <a:pt x="314" y="215"/>
                  </a:cubicBezTo>
                  <a:cubicBezTo>
                    <a:pt x="314" y="206"/>
                    <a:pt x="314" y="206"/>
                    <a:pt x="314" y="206"/>
                  </a:cubicBezTo>
                  <a:cubicBezTo>
                    <a:pt x="314" y="149"/>
                    <a:pt x="279" y="118"/>
                    <a:pt x="210" y="118"/>
                  </a:cubicBezTo>
                  <a:cubicBezTo>
                    <a:pt x="157" y="118"/>
                    <a:pt x="120" y="128"/>
                    <a:pt x="76" y="144"/>
                  </a:cubicBezTo>
                  <a:cubicBezTo>
                    <a:pt x="42" y="39"/>
                    <a:pt x="42" y="39"/>
                    <a:pt x="42" y="39"/>
                  </a:cubicBezTo>
                  <a:cubicBezTo>
                    <a:pt x="95" y="15"/>
                    <a:pt x="148" y="0"/>
                    <a:pt x="230" y="0"/>
                  </a:cubicBezTo>
                  <a:cubicBezTo>
                    <a:pt x="305" y="0"/>
                    <a:pt x="359" y="20"/>
                    <a:pt x="394" y="54"/>
                  </a:cubicBezTo>
                  <a:cubicBezTo>
                    <a:pt x="430" y="91"/>
                    <a:pt x="446" y="144"/>
                    <a:pt x="446" y="209"/>
                  </a:cubicBezTo>
                  <a:cubicBezTo>
                    <a:pt x="446" y="491"/>
                    <a:pt x="446" y="491"/>
                    <a:pt x="446" y="491"/>
                  </a:cubicBezTo>
                  <a:cubicBezTo>
                    <a:pt x="313" y="491"/>
                    <a:pt x="313" y="491"/>
                    <a:pt x="313" y="491"/>
                  </a:cubicBezTo>
                  <a:cubicBezTo>
                    <a:pt x="313" y="438"/>
                    <a:pt x="313" y="438"/>
                    <a:pt x="313" y="438"/>
                  </a:cubicBezTo>
                  <a:cubicBezTo>
                    <a:pt x="280" y="475"/>
                    <a:pt x="234" y="500"/>
                    <a:pt x="167" y="500"/>
                  </a:cubicBezTo>
                  <a:cubicBezTo>
                    <a:pt x="75" y="500"/>
                    <a:pt x="0" y="447"/>
                    <a:pt x="0" y="351"/>
                  </a:cubicBezTo>
                  <a:close/>
                  <a:moveTo>
                    <a:pt x="316" y="320"/>
                  </a:moveTo>
                  <a:cubicBezTo>
                    <a:pt x="316" y="295"/>
                    <a:pt x="316" y="295"/>
                    <a:pt x="316" y="295"/>
                  </a:cubicBezTo>
                  <a:cubicBezTo>
                    <a:pt x="292" y="284"/>
                    <a:pt x="262" y="277"/>
                    <a:pt x="228" y="277"/>
                  </a:cubicBezTo>
                  <a:cubicBezTo>
                    <a:pt x="169" y="277"/>
                    <a:pt x="133" y="301"/>
                    <a:pt x="133" y="344"/>
                  </a:cubicBezTo>
                  <a:cubicBezTo>
                    <a:pt x="133" y="346"/>
                    <a:pt x="133" y="346"/>
                    <a:pt x="133" y="346"/>
                  </a:cubicBezTo>
                  <a:cubicBezTo>
                    <a:pt x="133" y="383"/>
                    <a:pt x="164" y="405"/>
                    <a:pt x="208" y="405"/>
                  </a:cubicBezTo>
                  <a:cubicBezTo>
                    <a:pt x="272" y="405"/>
                    <a:pt x="316" y="369"/>
                    <a:pt x="316" y="3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6" name="Rectangle 26">
              <a:extLst>
                <a:ext uri="{FF2B5EF4-FFF2-40B4-BE49-F238E27FC236}">
                  <a16:creationId xmlns:a16="http://schemas.microsoft.com/office/drawing/2014/main" id="{144E16EA-4F3F-420C-5D8D-753A1E9F0B11}"/>
                </a:ext>
              </a:extLst>
            </p:cNvPr>
            <p:cNvSpPr>
              <a:spLocks noChangeArrowheads="1"/>
            </p:cNvSpPr>
            <p:nvPr userDrawn="1"/>
          </p:nvSpPr>
          <p:spPr bwMode="auto">
            <a:xfrm>
              <a:off x="6801973" y="1260831"/>
              <a:ext cx="59843"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7" name="Rectangle 27">
              <a:extLst>
                <a:ext uri="{FF2B5EF4-FFF2-40B4-BE49-F238E27FC236}">
                  <a16:creationId xmlns:a16="http://schemas.microsoft.com/office/drawing/2014/main" id="{E009FD22-AB72-D26D-205F-29DF66B5BFFA}"/>
                </a:ext>
              </a:extLst>
            </p:cNvPr>
            <p:cNvSpPr>
              <a:spLocks noChangeArrowheads="1"/>
            </p:cNvSpPr>
            <p:nvPr userDrawn="1"/>
          </p:nvSpPr>
          <p:spPr bwMode="auto">
            <a:xfrm>
              <a:off x="6886639" y="1260831"/>
              <a:ext cx="59399"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nvGrpSpPr>
          <p:cNvPr id="3" name="Group 2">
            <a:extLst>
              <a:ext uri="{FF2B5EF4-FFF2-40B4-BE49-F238E27FC236}">
                <a16:creationId xmlns:a16="http://schemas.microsoft.com/office/drawing/2014/main" id="{1C38DDA1-EC9C-CA43-6B38-399660A513F2}"/>
              </a:ext>
            </a:extLst>
          </p:cNvPr>
          <p:cNvGrpSpPr/>
          <p:nvPr userDrawn="1"/>
        </p:nvGrpSpPr>
        <p:grpSpPr>
          <a:xfrm>
            <a:off x="11559241" y="767096"/>
            <a:ext cx="634346" cy="1898696"/>
            <a:chOff x="11556230" y="767096"/>
            <a:chExt cx="634181" cy="1898696"/>
          </a:xfrm>
        </p:grpSpPr>
        <p:sp>
          <p:nvSpPr>
            <p:cNvPr id="77" name="Rectangle 28">
              <a:extLst>
                <a:ext uri="{FF2B5EF4-FFF2-40B4-BE49-F238E27FC236}">
                  <a16:creationId xmlns:a16="http://schemas.microsoft.com/office/drawing/2014/main" id="{FB305569-AB33-7799-ED76-68F103CE5B8C}"/>
                </a:ext>
              </a:extLst>
            </p:cNvPr>
            <p:cNvSpPr>
              <a:spLocks noChangeArrowheads="1"/>
            </p:cNvSpPr>
            <p:nvPr userDrawn="1"/>
          </p:nvSpPr>
          <p:spPr bwMode="auto">
            <a:xfrm>
              <a:off x="11556230" y="767096"/>
              <a:ext cx="634181" cy="1898696"/>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grpSp>
          <p:nvGrpSpPr>
            <p:cNvPr id="78" name="Group 77">
              <a:extLst>
                <a:ext uri="{FF2B5EF4-FFF2-40B4-BE49-F238E27FC236}">
                  <a16:creationId xmlns:a16="http://schemas.microsoft.com/office/drawing/2014/main" id="{DC4D5431-76CB-4561-B2E0-664C3E75E88C}"/>
                </a:ext>
              </a:extLst>
            </p:cNvPr>
            <p:cNvGrpSpPr/>
            <p:nvPr userDrawn="1"/>
          </p:nvGrpSpPr>
          <p:grpSpPr>
            <a:xfrm>
              <a:off x="11701122" y="936748"/>
              <a:ext cx="321494" cy="1552800"/>
              <a:chOff x="7313961" y="501936"/>
              <a:chExt cx="323594" cy="1566108"/>
            </a:xfrm>
          </p:grpSpPr>
          <p:sp>
            <p:nvSpPr>
              <p:cNvPr id="79" name="Freeform 29">
                <a:extLst>
                  <a:ext uri="{FF2B5EF4-FFF2-40B4-BE49-F238E27FC236}">
                    <a16:creationId xmlns:a16="http://schemas.microsoft.com/office/drawing/2014/main" id="{9EB7EA56-59D4-7E58-E9A3-5C4585DF00FE}"/>
                  </a:ext>
                </a:extLst>
              </p:cNvPr>
              <p:cNvSpPr>
                <a:spLocks/>
              </p:cNvSpPr>
              <p:nvPr userDrawn="1"/>
            </p:nvSpPr>
            <p:spPr bwMode="auto">
              <a:xfrm>
                <a:off x="7383556" y="1311808"/>
                <a:ext cx="249567" cy="247350"/>
              </a:xfrm>
              <a:custGeom>
                <a:avLst/>
                <a:gdLst>
                  <a:gd name="T0" fmla="*/ 0 w 574"/>
                  <a:gd name="T1" fmla="*/ 229 h 569"/>
                  <a:gd name="T2" fmla="*/ 90 w 574"/>
                  <a:gd name="T3" fmla="*/ 413 h 569"/>
                  <a:gd name="T4" fmla="*/ 90 w 574"/>
                  <a:gd name="T5" fmla="*/ 413 h 569"/>
                  <a:gd name="T6" fmla="*/ 90 w 574"/>
                  <a:gd name="T7" fmla="*/ 413 h 569"/>
                  <a:gd name="T8" fmla="*/ 9 w 574"/>
                  <a:gd name="T9" fmla="*/ 413 h 569"/>
                  <a:gd name="T10" fmla="*/ 9 w 574"/>
                  <a:gd name="T11" fmla="*/ 569 h 569"/>
                  <a:gd name="T12" fmla="*/ 574 w 574"/>
                  <a:gd name="T13" fmla="*/ 569 h 569"/>
                  <a:gd name="T14" fmla="*/ 574 w 574"/>
                  <a:gd name="T15" fmla="*/ 413 h 569"/>
                  <a:gd name="T16" fmla="*/ 253 w 574"/>
                  <a:gd name="T17" fmla="*/ 413 h 569"/>
                  <a:gd name="T18" fmla="*/ 133 w 574"/>
                  <a:gd name="T19" fmla="*/ 286 h 569"/>
                  <a:gd name="T20" fmla="*/ 253 w 574"/>
                  <a:gd name="T21" fmla="*/ 155 h 569"/>
                  <a:gd name="T22" fmla="*/ 574 w 574"/>
                  <a:gd name="T23" fmla="*/ 155 h 569"/>
                  <a:gd name="T24" fmla="*/ 574 w 574"/>
                  <a:gd name="T25" fmla="*/ 0 h 569"/>
                  <a:gd name="T26" fmla="*/ 224 w 574"/>
                  <a:gd name="T27" fmla="*/ 0 h 569"/>
                  <a:gd name="T28" fmla="*/ 0 w 574"/>
                  <a:gd name="T29" fmla="*/ 229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4" h="569">
                    <a:moveTo>
                      <a:pt x="0" y="229"/>
                    </a:moveTo>
                    <a:cubicBezTo>
                      <a:pt x="0" y="294"/>
                      <a:pt x="30" y="368"/>
                      <a:pt x="90" y="413"/>
                    </a:cubicBezTo>
                    <a:cubicBezTo>
                      <a:pt x="90" y="413"/>
                      <a:pt x="90" y="413"/>
                      <a:pt x="90" y="413"/>
                    </a:cubicBezTo>
                    <a:cubicBezTo>
                      <a:pt x="90" y="413"/>
                      <a:pt x="90" y="413"/>
                      <a:pt x="90" y="413"/>
                    </a:cubicBezTo>
                    <a:cubicBezTo>
                      <a:pt x="9" y="413"/>
                      <a:pt x="9" y="413"/>
                      <a:pt x="9" y="413"/>
                    </a:cubicBezTo>
                    <a:cubicBezTo>
                      <a:pt x="9" y="569"/>
                      <a:pt x="9" y="569"/>
                      <a:pt x="9" y="569"/>
                    </a:cubicBezTo>
                    <a:cubicBezTo>
                      <a:pt x="574" y="569"/>
                      <a:pt x="574" y="569"/>
                      <a:pt x="574" y="569"/>
                    </a:cubicBezTo>
                    <a:cubicBezTo>
                      <a:pt x="574" y="413"/>
                      <a:pt x="574" y="413"/>
                      <a:pt x="574" y="413"/>
                    </a:cubicBezTo>
                    <a:cubicBezTo>
                      <a:pt x="253" y="413"/>
                      <a:pt x="253" y="413"/>
                      <a:pt x="253" y="413"/>
                    </a:cubicBezTo>
                    <a:cubicBezTo>
                      <a:pt x="195" y="413"/>
                      <a:pt x="133" y="369"/>
                      <a:pt x="133" y="286"/>
                    </a:cubicBezTo>
                    <a:cubicBezTo>
                      <a:pt x="133" y="221"/>
                      <a:pt x="178" y="155"/>
                      <a:pt x="253" y="155"/>
                    </a:cubicBezTo>
                    <a:cubicBezTo>
                      <a:pt x="574" y="155"/>
                      <a:pt x="574" y="155"/>
                      <a:pt x="574" y="155"/>
                    </a:cubicBezTo>
                    <a:cubicBezTo>
                      <a:pt x="574" y="0"/>
                      <a:pt x="574" y="0"/>
                      <a:pt x="574" y="0"/>
                    </a:cubicBezTo>
                    <a:cubicBezTo>
                      <a:pt x="224" y="0"/>
                      <a:pt x="224" y="0"/>
                      <a:pt x="224" y="0"/>
                    </a:cubicBezTo>
                    <a:cubicBezTo>
                      <a:pt x="94" y="0"/>
                      <a:pt x="0" y="93"/>
                      <a:pt x="0" y="22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0" name="Freeform 30">
                <a:extLst>
                  <a:ext uri="{FF2B5EF4-FFF2-40B4-BE49-F238E27FC236}">
                    <a16:creationId xmlns:a16="http://schemas.microsoft.com/office/drawing/2014/main" id="{93B05BBE-DBEC-684B-B012-F63384131C10}"/>
                  </a:ext>
                </a:extLst>
              </p:cNvPr>
              <p:cNvSpPr>
                <a:spLocks/>
              </p:cNvSpPr>
              <p:nvPr userDrawn="1"/>
            </p:nvSpPr>
            <p:spPr bwMode="auto">
              <a:xfrm>
                <a:off x="7387546" y="755049"/>
                <a:ext cx="245577" cy="276163"/>
              </a:xfrm>
              <a:custGeom>
                <a:avLst/>
                <a:gdLst>
                  <a:gd name="T0" fmla="*/ 0 w 554"/>
                  <a:gd name="T1" fmla="*/ 174 h 623"/>
                  <a:gd name="T2" fmla="*/ 377 w 554"/>
                  <a:gd name="T3" fmla="*/ 311 h 623"/>
                  <a:gd name="T4" fmla="*/ 0 w 554"/>
                  <a:gd name="T5" fmla="*/ 450 h 623"/>
                  <a:gd name="T6" fmla="*/ 0 w 554"/>
                  <a:gd name="T7" fmla="*/ 623 h 623"/>
                  <a:gd name="T8" fmla="*/ 554 w 554"/>
                  <a:gd name="T9" fmla="*/ 395 h 623"/>
                  <a:gd name="T10" fmla="*/ 554 w 554"/>
                  <a:gd name="T11" fmla="*/ 228 h 623"/>
                  <a:gd name="T12" fmla="*/ 0 w 554"/>
                  <a:gd name="T13" fmla="*/ 0 h 623"/>
                  <a:gd name="T14" fmla="*/ 0 w 554"/>
                  <a:gd name="T15" fmla="*/ 174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623">
                    <a:moveTo>
                      <a:pt x="0" y="174"/>
                    </a:moveTo>
                    <a:lnTo>
                      <a:pt x="377" y="311"/>
                    </a:lnTo>
                    <a:lnTo>
                      <a:pt x="0" y="450"/>
                    </a:lnTo>
                    <a:lnTo>
                      <a:pt x="0" y="623"/>
                    </a:lnTo>
                    <a:lnTo>
                      <a:pt x="554" y="395"/>
                    </a:lnTo>
                    <a:lnTo>
                      <a:pt x="554" y="228"/>
                    </a:lnTo>
                    <a:lnTo>
                      <a:pt x="0" y="0"/>
                    </a:lnTo>
                    <a:lnTo>
                      <a:pt x="0"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1" name="Freeform 31">
                <a:extLst>
                  <a:ext uri="{FF2B5EF4-FFF2-40B4-BE49-F238E27FC236}">
                    <a16:creationId xmlns:a16="http://schemas.microsoft.com/office/drawing/2014/main" id="{972F0292-22E7-DDB2-79F6-6703AF74768F}"/>
                  </a:ext>
                </a:extLst>
              </p:cNvPr>
              <p:cNvSpPr>
                <a:spLocks noEditPoints="1"/>
              </p:cNvSpPr>
              <p:nvPr userDrawn="1"/>
            </p:nvSpPr>
            <p:spPr bwMode="auto">
              <a:xfrm>
                <a:off x="7383556" y="1583096"/>
                <a:ext cx="253999" cy="256659"/>
              </a:xfrm>
              <a:custGeom>
                <a:avLst/>
                <a:gdLst>
                  <a:gd name="T0" fmla="*/ 401 w 584"/>
                  <a:gd name="T1" fmla="*/ 110 h 590"/>
                  <a:gd name="T2" fmla="*/ 460 w 584"/>
                  <a:gd name="T3" fmla="*/ 272 h 590"/>
                  <a:gd name="T4" fmla="*/ 415 w 584"/>
                  <a:gd name="T5" fmla="*/ 397 h 590"/>
                  <a:gd name="T6" fmla="*/ 250 w 584"/>
                  <a:gd name="T7" fmla="*/ 0 h 590"/>
                  <a:gd name="T8" fmla="*/ 92 w 584"/>
                  <a:gd name="T9" fmla="*/ 68 h 590"/>
                  <a:gd name="T10" fmla="*/ 0 w 584"/>
                  <a:gd name="T11" fmla="*/ 291 h 590"/>
                  <a:gd name="T12" fmla="*/ 292 w 584"/>
                  <a:gd name="T13" fmla="*/ 590 h 590"/>
                  <a:gd name="T14" fmla="*/ 584 w 584"/>
                  <a:gd name="T15" fmla="*/ 274 h 590"/>
                  <a:gd name="T16" fmla="*/ 476 w 584"/>
                  <a:gd name="T17" fmla="*/ 12 h 590"/>
                  <a:gd name="T18" fmla="*/ 401 w 584"/>
                  <a:gd name="T19" fmla="*/ 110 h 590"/>
                  <a:gd name="T20" fmla="*/ 179 w 584"/>
                  <a:gd name="T21" fmla="*/ 408 h 590"/>
                  <a:gd name="T22" fmla="*/ 123 w 584"/>
                  <a:gd name="T23" fmla="*/ 288 h 590"/>
                  <a:gd name="T24" fmla="*/ 202 w 584"/>
                  <a:gd name="T25" fmla="*/ 168 h 590"/>
                  <a:gd name="T26" fmla="*/ 315 w 584"/>
                  <a:gd name="T27" fmla="*/ 439 h 590"/>
                  <a:gd name="T28" fmla="*/ 179 w 584"/>
                  <a:gd name="T29" fmla="*/ 408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4" h="590">
                    <a:moveTo>
                      <a:pt x="401" y="110"/>
                    </a:moveTo>
                    <a:cubicBezTo>
                      <a:pt x="449" y="175"/>
                      <a:pt x="460" y="212"/>
                      <a:pt x="460" y="272"/>
                    </a:cubicBezTo>
                    <a:cubicBezTo>
                      <a:pt x="460" y="325"/>
                      <a:pt x="444" y="367"/>
                      <a:pt x="415" y="397"/>
                    </a:cubicBezTo>
                    <a:cubicBezTo>
                      <a:pt x="250" y="0"/>
                      <a:pt x="250" y="0"/>
                      <a:pt x="250" y="0"/>
                    </a:cubicBezTo>
                    <a:cubicBezTo>
                      <a:pt x="189" y="9"/>
                      <a:pt x="134" y="32"/>
                      <a:pt x="92" y="68"/>
                    </a:cubicBezTo>
                    <a:cubicBezTo>
                      <a:pt x="32" y="120"/>
                      <a:pt x="0" y="197"/>
                      <a:pt x="0" y="291"/>
                    </a:cubicBezTo>
                    <a:cubicBezTo>
                      <a:pt x="0" y="462"/>
                      <a:pt x="126" y="590"/>
                      <a:pt x="292" y="590"/>
                    </a:cubicBezTo>
                    <a:cubicBezTo>
                      <a:pt x="462" y="590"/>
                      <a:pt x="584" y="462"/>
                      <a:pt x="584" y="274"/>
                    </a:cubicBezTo>
                    <a:cubicBezTo>
                      <a:pt x="584" y="169"/>
                      <a:pt x="534" y="62"/>
                      <a:pt x="476" y="12"/>
                    </a:cubicBezTo>
                    <a:lnTo>
                      <a:pt x="401" y="110"/>
                    </a:lnTo>
                    <a:close/>
                    <a:moveTo>
                      <a:pt x="179" y="408"/>
                    </a:moveTo>
                    <a:cubicBezTo>
                      <a:pt x="144" y="381"/>
                      <a:pt x="123" y="339"/>
                      <a:pt x="123" y="288"/>
                    </a:cubicBezTo>
                    <a:cubicBezTo>
                      <a:pt x="123" y="232"/>
                      <a:pt x="155" y="190"/>
                      <a:pt x="202" y="168"/>
                    </a:cubicBezTo>
                    <a:cubicBezTo>
                      <a:pt x="315" y="439"/>
                      <a:pt x="315" y="439"/>
                      <a:pt x="315" y="439"/>
                    </a:cubicBezTo>
                    <a:cubicBezTo>
                      <a:pt x="257" y="447"/>
                      <a:pt x="212" y="432"/>
                      <a:pt x="179" y="4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2" name="Freeform 32">
                <a:extLst>
                  <a:ext uri="{FF2B5EF4-FFF2-40B4-BE49-F238E27FC236}">
                    <a16:creationId xmlns:a16="http://schemas.microsoft.com/office/drawing/2014/main" id="{8FB3E4DF-D685-E83E-C831-3D30D6486411}"/>
                  </a:ext>
                </a:extLst>
              </p:cNvPr>
              <p:cNvSpPr>
                <a:spLocks/>
              </p:cNvSpPr>
              <p:nvPr userDrawn="1"/>
            </p:nvSpPr>
            <p:spPr bwMode="auto">
              <a:xfrm>
                <a:off x="7313961" y="1846404"/>
                <a:ext cx="319161" cy="221640"/>
              </a:xfrm>
              <a:custGeom>
                <a:avLst/>
                <a:gdLst>
                  <a:gd name="T0" fmla="*/ 580 w 720"/>
                  <a:gd name="T1" fmla="*/ 0 h 500"/>
                  <a:gd name="T2" fmla="*/ 580 w 720"/>
                  <a:gd name="T3" fmla="*/ 346 h 500"/>
                  <a:gd name="T4" fmla="*/ 0 w 720"/>
                  <a:gd name="T5" fmla="*/ 346 h 500"/>
                  <a:gd name="T6" fmla="*/ 0 w 720"/>
                  <a:gd name="T7" fmla="*/ 500 h 500"/>
                  <a:gd name="T8" fmla="*/ 720 w 720"/>
                  <a:gd name="T9" fmla="*/ 500 h 500"/>
                  <a:gd name="T10" fmla="*/ 720 w 720"/>
                  <a:gd name="T11" fmla="*/ 0 h 500"/>
                  <a:gd name="T12" fmla="*/ 580 w 720"/>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720" h="500">
                    <a:moveTo>
                      <a:pt x="580" y="0"/>
                    </a:moveTo>
                    <a:lnTo>
                      <a:pt x="580" y="346"/>
                    </a:lnTo>
                    <a:lnTo>
                      <a:pt x="0" y="346"/>
                    </a:lnTo>
                    <a:lnTo>
                      <a:pt x="0" y="500"/>
                    </a:lnTo>
                    <a:lnTo>
                      <a:pt x="720" y="500"/>
                    </a:lnTo>
                    <a:lnTo>
                      <a:pt x="720" y="0"/>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3" name="Freeform 33">
                <a:extLst>
                  <a:ext uri="{FF2B5EF4-FFF2-40B4-BE49-F238E27FC236}">
                    <a16:creationId xmlns:a16="http://schemas.microsoft.com/office/drawing/2014/main" id="{7E51460F-8A6D-E455-ADF5-BF3600A7DAC9}"/>
                  </a:ext>
                </a:extLst>
              </p:cNvPr>
              <p:cNvSpPr>
                <a:spLocks noEditPoints="1"/>
              </p:cNvSpPr>
              <p:nvPr userDrawn="1"/>
            </p:nvSpPr>
            <p:spPr bwMode="auto">
              <a:xfrm>
                <a:off x="7383556" y="501936"/>
                <a:ext cx="253999" cy="263752"/>
              </a:xfrm>
              <a:custGeom>
                <a:avLst/>
                <a:gdLst>
                  <a:gd name="T0" fmla="*/ 584 w 584"/>
                  <a:gd name="T1" fmla="*/ 304 h 607"/>
                  <a:gd name="T2" fmla="*/ 292 w 584"/>
                  <a:gd name="T3" fmla="*/ 607 h 607"/>
                  <a:gd name="T4" fmla="*/ 0 w 584"/>
                  <a:gd name="T5" fmla="*/ 302 h 607"/>
                  <a:gd name="T6" fmla="*/ 292 w 584"/>
                  <a:gd name="T7" fmla="*/ 0 h 607"/>
                  <a:gd name="T8" fmla="*/ 584 w 584"/>
                  <a:gd name="T9" fmla="*/ 304 h 607"/>
                  <a:gd name="T10" fmla="*/ 133 w 584"/>
                  <a:gd name="T11" fmla="*/ 304 h 607"/>
                  <a:gd name="T12" fmla="*/ 292 w 584"/>
                  <a:gd name="T13" fmla="*/ 454 h 607"/>
                  <a:gd name="T14" fmla="*/ 451 w 584"/>
                  <a:gd name="T15" fmla="*/ 302 h 607"/>
                  <a:gd name="T16" fmla="*/ 292 w 584"/>
                  <a:gd name="T17" fmla="*/ 153 h 607"/>
                  <a:gd name="T18" fmla="*/ 133 w 584"/>
                  <a:gd name="T19" fmla="*/ 304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4"/>
                    </a:moveTo>
                    <a:cubicBezTo>
                      <a:pt x="584" y="474"/>
                      <a:pt x="457" y="607"/>
                      <a:pt x="292" y="607"/>
                    </a:cubicBezTo>
                    <a:cubicBezTo>
                      <a:pt x="128" y="607"/>
                      <a:pt x="0" y="473"/>
                      <a:pt x="0" y="302"/>
                    </a:cubicBezTo>
                    <a:cubicBezTo>
                      <a:pt x="0" y="133"/>
                      <a:pt x="126" y="0"/>
                      <a:pt x="292" y="0"/>
                    </a:cubicBezTo>
                    <a:cubicBezTo>
                      <a:pt x="455" y="0"/>
                      <a:pt x="584" y="133"/>
                      <a:pt x="584" y="304"/>
                    </a:cubicBezTo>
                    <a:moveTo>
                      <a:pt x="133" y="304"/>
                    </a:moveTo>
                    <a:cubicBezTo>
                      <a:pt x="133" y="391"/>
                      <a:pt x="198" y="454"/>
                      <a:pt x="292" y="454"/>
                    </a:cubicBezTo>
                    <a:cubicBezTo>
                      <a:pt x="381" y="454"/>
                      <a:pt x="451" y="387"/>
                      <a:pt x="451" y="302"/>
                    </a:cubicBezTo>
                    <a:cubicBezTo>
                      <a:pt x="451" y="216"/>
                      <a:pt x="383" y="153"/>
                      <a:pt x="292" y="153"/>
                    </a:cubicBezTo>
                    <a:cubicBezTo>
                      <a:pt x="203" y="153"/>
                      <a:pt x="133" y="219"/>
                      <a:pt x="133" y="30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4" name="Freeform 34">
                <a:extLst>
                  <a:ext uri="{FF2B5EF4-FFF2-40B4-BE49-F238E27FC236}">
                    <a16:creationId xmlns:a16="http://schemas.microsoft.com/office/drawing/2014/main" id="{9296505E-2DA9-07F7-31C5-6D802244B0F4}"/>
                  </a:ext>
                </a:extLst>
              </p:cNvPr>
              <p:cNvSpPr>
                <a:spLocks noEditPoints="1"/>
              </p:cNvSpPr>
              <p:nvPr userDrawn="1"/>
            </p:nvSpPr>
            <p:spPr bwMode="auto">
              <a:xfrm>
                <a:off x="7383556" y="1021017"/>
                <a:ext cx="253999" cy="263752"/>
              </a:xfrm>
              <a:custGeom>
                <a:avLst/>
                <a:gdLst>
                  <a:gd name="T0" fmla="*/ 584 w 584"/>
                  <a:gd name="T1" fmla="*/ 305 h 607"/>
                  <a:gd name="T2" fmla="*/ 292 w 584"/>
                  <a:gd name="T3" fmla="*/ 607 h 607"/>
                  <a:gd name="T4" fmla="*/ 0 w 584"/>
                  <a:gd name="T5" fmla="*/ 303 h 607"/>
                  <a:gd name="T6" fmla="*/ 292 w 584"/>
                  <a:gd name="T7" fmla="*/ 0 h 607"/>
                  <a:gd name="T8" fmla="*/ 584 w 584"/>
                  <a:gd name="T9" fmla="*/ 305 h 607"/>
                  <a:gd name="T10" fmla="*/ 133 w 584"/>
                  <a:gd name="T11" fmla="*/ 305 h 607"/>
                  <a:gd name="T12" fmla="*/ 292 w 584"/>
                  <a:gd name="T13" fmla="*/ 454 h 607"/>
                  <a:gd name="T14" fmla="*/ 451 w 584"/>
                  <a:gd name="T15" fmla="*/ 303 h 607"/>
                  <a:gd name="T16" fmla="*/ 292 w 584"/>
                  <a:gd name="T17" fmla="*/ 153 h 607"/>
                  <a:gd name="T18" fmla="*/ 133 w 584"/>
                  <a:gd name="T19" fmla="*/ 30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5"/>
                    </a:moveTo>
                    <a:cubicBezTo>
                      <a:pt x="584" y="474"/>
                      <a:pt x="457" y="607"/>
                      <a:pt x="292" y="607"/>
                    </a:cubicBezTo>
                    <a:cubicBezTo>
                      <a:pt x="128" y="607"/>
                      <a:pt x="0" y="474"/>
                      <a:pt x="0" y="303"/>
                    </a:cubicBezTo>
                    <a:cubicBezTo>
                      <a:pt x="0" y="133"/>
                      <a:pt x="126" y="0"/>
                      <a:pt x="292" y="0"/>
                    </a:cubicBezTo>
                    <a:cubicBezTo>
                      <a:pt x="455" y="0"/>
                      <a:pt x="584" y="134"/>
                      <a:pt x="584" y="305"/>
                    </a:cubicBezTo>
                    <a:moveTo>
                      <a:pt x="133" y="305"/>
                    </a:moveTo>
                    <a:cubicBezTo>
                      <a:pt x="133" y="391"/>
                      <a:pt x="198" y="454"/>
                      <a:pt x="292" y="454"/>
                    </a:cubicBezTo>
                    <a:cubicBezTo>
                      <a:pt x="381" y="454"/>
                      <a:pt x="451" y="388"/>
                      <a:pt x="451" y="303"/>
                    </a:cubicBezTo>
                    <a:cubicBezTo>
                      <a:pt x="451" y="216"/>
                      <a:pt x="383" y="153"/>
                      <a:pt x="292" y="153"/>
                    </a:cubicBezTo>
                    <a:cubicBezTo>
                      <a:pt x="203" y="153"/>
                      <a:pt x="133" y="220"/>
                      <a:pt x="133" y="30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pic>
        <p:nvPicPr>
          <p:cNvPr id="12" name="Picture 11">
            <a:extLst>
              <a:ext uri="{FF2B5EF4-FFF2-40B4-BE49-F238E27FC236}">
                <a16:creationId xmlns:a16="http://schemas.microsoft.com/office/drawing/2014/main" id="{65866607-25A7-FC68-0DCF-36B98EC529BE}"/>
              </a:ext>
            </a:extLst>
          </p:cNvPr>
          <p:cNvPicPr>
            <a:picLocks noChangeAspect="1"/>
          </p:cNvPicPr>
          <p:nvPr userDrawn="1"/>
        </p:nvPicPr>
        <p:blipFill>
          <a:blip r:embed="rId2"/>
          <a:stretch>
            <a:fillRect/>
          </a:stretch>
        </p:blipFill>
        <p:spPr>
          <a:xfrm>
            <a:off x="1539349" y="3561907"/>
            <a:ext cx="7854374" cy="1774090"/>
          </a:xfrm>
          <a:prstGeom prst="rect">
            <a:avLst/>
          </a:prstGeom>
        </p:spPr>
      </p:pic>
    </p:spTree>
    <p:extLst>
      <p:ext uri="{BB962C8B-B14F-4D97-AF65-F5344CB8AC3E}">
        <p14:creationId xmlns:p14="http://schemas.microsoft.com/office/powerpoint/2010/main" val="2711693191"/>
      </p:ext>
    </p:extLst>
  </p:cSld>
  <p:clrMapOvr>
    <a:masterClrMapping/>
  </p:clrMapOvr>
  <p:transition spd="med"/>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Closing Slide_Black">
    <p:bg>
      <p:bgPr>
        <a:solidFill>
          <a:srgbClr val="1E0113"/>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F7FEAA-CD25-31FD-0E8A-E47145F5F9EB}"/>
              </a:ext>
            </a:extLst>
          </p:cNvPr>
          <p:cNvGrpSpPr/>
          <p:nvPr userDrawn="1"/>
        </p:nvGrpSpPr>
        <p:grpSpPr>
          <a:xfrm>
            <a:off x="9392771" y="767096"/>
            <a:ext cx="2800816" cy="1898696"/>
            <a:chOff x="9390324" y="767096"/>
            <a:chExt cx="2800087" cy="1898696"/>
          </a:xfrm>
        </p:grpSpPr>
        <p:grpSp>
          <p:nvGrpSpPr>
            <p:cNvPr id="63" name="Group 62">
              <a:extLst>
                <a:ext uri="{FF2B5EF4-FFF2-40B4-BE49-F238E27FC236}">
                  <a16:creationId xmlns:a16="http://schemas.microsoft.com/office/drawing/2014/main" id="{DBC4C027-8FC0-71EF-963F-3B8A0447C1E8}"/>
                </a:ext>
              </a:extLst>
            </p:cNvPr>
            <p:cNvGrpSpPr/>
            <p:nvPr userDrawn="1"/>
          </p:nvGrpSpPr>
          <p:grpSpPr>
            <a:xfrm>
              <a:off x="9390324" y="936748"/>
              <a:ext cx="1965963" cy="1042086"/>
              <a:chOff x="4988072" y="501936"/>
              <a:chExt cx="1978802" cy="1051017"/>
            </a:xfrm>
            <a:solidFill>
              <a:schemeClr val="bg1"/>
            </a:solidFill>
          </p:grpSpPr>
          <p:sp>
            <p:nvSpPr>
              <p:cNvPr id="72" name="Freeform 5">
                <a:extLst>
                  <a:ext uri="{FF2B5EF4-FFF2-40B4-BE49-F238E27FC236}">
                    <a16:creationId xmlns:a16="http://schemas.microsoft.com/office/drawing/2014/main" id="{AC114BA7-B808-0C61-F4C4-498846EB2C1F}"/>
                  </a:ext>
                </a:extLst>
              </p:cNvPr>
              <p:cNvSpPr>
                <a:spLocks/>
              </p:cNvSpPr>
              <p:nvPr userDrawn="1"/>
            </p:nvSpPr>
            <p:spPr bwMode="auto">
              <a:xfrm>
                <a:off x="5559016" y="501936"/>
                <a:ext cx="218094" cy="282813"/>
              </a:xfrm>
              <a:custGeom>
                <a:avLst/>
                <a:gdLst>
                  <a:gd name="T0" fmla="*/ 0 w 502"/>
                  <a:gd name="T1" fmla="*/ 550 h 651"/>
                  <a:gd name="T2" fmla="*/ 83 w 502"/>
                  <a:gd name="T3" fmla="*/ 451 h 651"/>
                  <a:gd name="T4" fmla="*/ 272 w 502"/>
                  <a:gd name="T5" fmla="*/ 528 h 651"/>
                  <a:gd name="T6" fmla="*/ 363 w 502"/>
                  <a:gd name="T7" fmla="*/ 469 h 651"/>
                  <a:gd name="T8" fmla="*/ 363 w 502"/>
                  <a:gd name="T9" fmla="*/ 467 h 651"/>
                  <a:gd name="T10" fmla="*/ 236 w 502"/>
                  <a:gd name="T11" fmla="*/ 386 h 651"/>
                  <a:gd name="T12" fmla="*/ 26 w 502"/>
                  <a:gd name="T13" fmla="*/ 192 h 651"/>
                  <a:gd name="T14" fmla="*/ 26 w 502"/>
                  <a:gd name="T15" fmla="*/ 191 h 651"/>
                  <a:gd name="T16" fmla="*/ 247 w 502"/>
                  <a:gd name="T17" fmla="*/ 0 h 651"/>
                  <a:gd name="T18" fmla="*/ 483 w 502"/>
                  <a:gd name="T19" fmla="*/ 80 h 651"/>
                  <a:gd name="T20" fmla="*/ 410 w 502"/>
                  <a:gd name="T21" fmla="*/ 185 h 651"/>
                  <a:gd name="T22" fmla="*/ 246 w 502"/>
                  <a:gd name="T23" fmla="*/ 123 h 651"/>
                  <a:gd name="T24" fmla="*/ 164 w 502"/>
                  <a:gd name="T25" fmla="*/ 178 h 651"/>
                  <a:gd name="T26" fmla="*/ 164 w 502"/>
                  <a:gd name="T27" fmla="*/ 180 h 651"/>
                  <a:gd name="T28" fmla="*/ 301 w 502"/>
                  <a:gd name="T29" fmla="*/ 263 h 651"/>
                  <a:gd name="T30" fmla="*/ 502 w 502"/>
                  <a:gd name="T31" fmla="*/ 453 h 651"/>
                  <a:gd name="T32" fmla="*/ 502 w 502"/>
                  <a:gd name="T33" fmla="*/ 455 h 651"/>
                  <a:gd name="T34" fmla="*/ 269 w 502"/>
                  <a:gd name="T35" fmla="*/ 651 h 651"/>
                  <a:gd name="T36" fmla="*/ 0 w 502"/>
                  <a:gd name="T37" fmla="*/ 55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651">
                    <a:moveTo>
                      <a:pt x="0" y="550"/>
                    </a:moveTo>
                    <a:cubicBezTo>
                      <a:pt x="83" y="451"/>
                      <a:pt x="83" y="451"/>
                      <a:pt x="83" y="451"/>
                    </a:cubicBezTo>
                    <a:cubicBezTo>
                      <a:pt x="140" y="498"/>
                      <a:pt x="200" y="528"/>
                      <a:pt x="272" y="528"/>
                    </a:cubicBezTo>
                    <a:cubicBezTo>
                      <a:pt x="329" y="528"/>
                      <a:pt x="363" y="506"/>
                      <a:pt x="363" y="469"/>
                    </a:cubicBezTo>
                    <a:cubicBezTo>
                      <a:pt x="363" y="467"/>
                      <a:pt x="363" y="467"/>
                      <a:pt x="363" y="467"/>
                    </a:cubicBezTo>
                    <a:cubicBezTo>
                      <a:pt x="363" y="431"/>
                      <a:pt x="342" y="413"/>
                      <a:pt x="236" y="386"/>
                    </a:cubicBezTo>
                    <a:cubicBezTo>
                      <a:pt x="108" y="354"/>
                      <a:pt x="26" y="318"/>
                      <a:pt x="26" y="192"/>
                    </a:cubicBezTo>
                    <a:cubicBezTo>
                      <a:pt x="26" y="191"/>
                      <a:pt x="26" y="191"/>
                      <a:pt x="26" y="191"/>
                    </a:cubicBezTo>
                    <a:cubicBezTo>
                      <a:pt x="26" y="76"/>
                      <a:pt x="118" y="0"/>
                      <a:pt x="247" y="0"/>
                    </a:cubicBezTo>
                    <a:cubicBezTo>
                      <a:pt x="340" y="0"/>
                      <a:pt x="419" y="29"/>
                      <a:pt x="483" y="80"/>
                    </a:cubicBezTo>
                    <a:cubicBezTo>
                      <a:pt x="410" y="185"/>
                      <a:pt x="410" y="185"/>
                      <a:pt x="410" y="185"/>
                    </a:cubicBezTo>
                    <a:cubicBezTo>
                      <a:pt x="354" y="146"/>
                      <a:pt x="299" y="123"/>
                      <a:pt x="246" y="123"/>
                    </a:cubicBezTo>
                    <a:cubicBezTo>
                      <a:pt x="192" y="123"/>
                      <a:pt x="164" y="147"/>
                      <a:pt x="164" y="178"/>
                    </a:cubicBezTo>
                    <a:cubicBezTo>
                      <a:pt x="164" y="180"/>
                      <a:pt x="164" y="180"/>
                      <a:pt x="164" y="180"/>
                    </a:cubicBezTo>
                    <a:cubicBezTo>
                      <a:pt x="164" y="221"/>
                      <a:pt x="191" y="235"/>
                      <a:pt x="301" y="263"/>
                    </a:cubicBezTo>
                    <a:cubicBezTo>
                      <a:pt x="429" y="297"/>
                      <a:pt x="502" y="343"/>
                      <a:pt x="502" y="453"/>
                    </a:cubicBezTo>
                    <a:cubicBezTo>
                      <a:pt x="502" y="455"/>
                      <a:pt x="502" y="455"/>
                      <a:pt x="502" y="455"/>
                    </a:cubicBezTo>
                    <a:cubicBezTo>
                      <a:pt x="502" y="581"/>
                      <a:pt x="406" y="651"/>
                      <a:pt x="269" y="651"/>
                    </a:cubicBezTo>
                    <a:cubicBezTo>
                      <a:pt x="173" y="651"/>
                      <a:pt x="76" y="618"/>
                      <a:pt x="0" y="5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6">
                <a:extLst>
                  <a:ext uri="{FF2B5EF4-FFF2-40B4-BE49-F238E27FC236}">
                    <a16:creationId xmlns:a16="http://schemas.microsoft.com/office/drawing/2014/main" id="{03055FF5-EB33-F09D-784D-C7AD01880326}"/>
                  </a:ext>
                </a:extLst>
              </p:cNvPr>
              <p:cNvSpPr>
                <a:spLocks/>
              </p:cNvSpPr>
              <p:nvPr userDrawn="1"/>
            </p:nvSpPr>
            <p:spPr bwMode="auto">
              <a:xfrm>
                <a:off x="5791295" y="566212"/>
                <a:ext cx="322264" cy="214547"/>
              </a:xfrm>
              <a:custGeom>
                <a:avLst/>
                <a:gdLst>
                  <a:gd name="T0" fmla="*/ 0 w 741"/>
                  <a:gd name="T1" fmla="*/ 9 h 494"/>
                  <a:gd name="T2" fmla="*/ 138 w 741"/>
                  <a:gd name="T3" fmla="*/ 9 h 494"/>
                  <a:gd name="T4" fmla="*/ 138 w 741"/>
                  <a:gd name="T5" fmla="*/ 78 h 494"/>
                  <a:gd name="T6" fmla="*/ 281 w 741"/>
                  <a:gd name="T7" fmla="*/ 0 h 494"/>
                  <a:gd name="T8" fmla="*/ 418 w 741"/>
                  <a:gd name="T9" fmla="*/ 77 h 494"/>
                  <a:gd name="T10" fmla="*/ 577 w 741"/>
                  <a:gd name="T11" fmla="*/ 0 h 494"/>
                  <a:gd name="T12" fmla="*/ 741 w 741"/>
                  <a:gd name="T13" fmla="*/ 178 h 494"/>
                  <a:gd name="T14" fmla="*/ 741 w 741"/>
                  <a:gd name="T15" fmla="*/ 494 h 494"/>
                  <a:gd name="T16" fmla="*/ 603 w 741"/>
                  <a:gd name="T17" fmla="*/ 494 h 494"/>
                  <a:gd name="T18" fmla="*/ 603 w 741"/>
                  <a:gd name="T19" fmla="*/ 224 h 494"/>
                  <a:gd name="T20" fmla="*/ 523 w 741"/>
                  <a:gd name="T21" fmla="*/ 125 h 494"/>
                  <a:gd name="T22" fmla="*/ 439 w 741"/>
                  <a:gd name="T23" fmla="*/ 224 h 494"/>
                  <a:gd name="T24" fmla="*/ 439 w 741"/>
                  <a:gd name="T25" fmla="*/ 494 h 494"/>
                  <a:gd name="T26" fmla="*/ 302 w 741"/>
                  <a:gd name="T27" fmla="*/ 494 h 494"/>
                  <a:gd name="T28" fmla="*/ 302 w 741"/>
                  <a:gd name="T29" fmla="*/ 224 h 494"/>
                  <a:gd name="T30" fmla="*/ 221 w 741"/>
                  <a:gd name="T31" fmla="*/ 125 h 494"/>
                  <a:gd name="T32" fmla="*/ 138 w 741"/>
                  <a:gd name="T33" fmla="*/ 224 h 494"/>
                  <a:gd name="T34" fmla="*/ 138 w 741"/>
                  <a:gd name="T35" fmla="*/ 494 h 494"/>
                  <a:gd name="T36" fmla="*/ 0 w 741"/>
                  <a:gd name="T37" fmla="*/ 494 h 494"/>
                  <a:gd name="T38" fmla="*/ 0 w 741"/>
                  <a:gd name="T39"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1" h="494">
                    <a:moveTo>
                      <a:pt x="0" y="9"/>
                    </a:moveTo>
                    <a:cubicBezTo>
                      <a:pt x="138" y="9"/>
                      <a:pt x="138" y="9"/>
                      <a:pt x="138" y="9"/>
                    </a:cubicBezTo>
                    <a:cubicBezTo>
                      <a:pt x="138" y="78"/>
                      <a:pt x="138" y="78"/>
                      <a:pt x="138" y="78"/>
                    </a:cubicBezTo>
                    <a:cubicBezTo>
                      <a:pt x="170" y="37"/>
                      <a:pt x="211" y="0"/>
                      <a:pt x="281" y="0"/>
                    </a:cubicBezTo>
                    <a:cubicBezTo>
                      <a:pt x="344" y="0"/>
                      <a:pt x="392" y="28"/>
                      <a:pt x="418" y="77"/>
                    </a:cubicBezTo>
                    <a:cubicBezTo>
                      <a:pt x="460" y="27"/>
                      <a:pt x="511" y="0"/>
                      <a:pt x="577" y="0"/>
                    </a:cubicBezTo>
                    <a:cubicBezTo>
                      <a:pt x="679" y="0"/>
                      <a:pt x="741" y="62"/>
                      <a:pt x="741" y="178"/>
                    </a:cubicBezTo>
                    <a:cubicBezTo>
                      <a:pt x="741" y="494"/>
                      <a:pt x="741" y="494"/>
                      <a:pt x="741" y="494"/>
                    </a:cubicBezTo>
                    <a:cubicBezTo>
                      <a:pt x="603" y="494"/>
                      <a:pt x="603" y="494"/>
                      <a:pt x="603" y="494"/>
                    </a:cubicBezTo>
                    <a:cubicBezTo>
                      <a:pt x="603" y="224"/>
                      <a:pt x="603" y="224"/>
                      <a:pt x="603" y="224"/>
                    </a:cubicBezTo>
                    <a:cubicBezTo>
                      <a:pt x="603" y="159"/>
                      <a:pt x="574" y="125"/>
                      <a:pt x="523" y="125"/>
                    </a:cubicBezTo>
                    <a:cubicBezTo>
                      <a:pt x="471" y="125"/>
                      <a:pt x="439" y="159"/>
                      <a:pt x="439" y="224"/>
                    </a:cubicBezTo>
                    <a:cubicBezTo>
                      <a:pt x="439" y="494"/>
                      <a:pt x="439" y="494"/>
                      <a:pt x="439" y="494"/>
                    </a:cubicBezTo>
                    <a:cubicBezTo>
                      <a:pt x="302" y="494"/>
                      <a:pt x="302" y="494"/>
                      <a:pt x="302" y="494"/>
                    </a:cubicBezTo>
                    <a:cubicBezTo>
                      <a:pt x="302" y="224"/>
                      <a:pt x="302" y="224"/>
                      <a:pt x="302" y="224"/>
                    </a:cubicBezTo>
                    <a:cubicBezTo>
                      <a:pt x="302" y="159"/>
                      <a:pt x="273" y="125"/>
                      <a:pt x="221" y="125"/>
                    </a:cubicBezTo>
                    <a:cubicBezTo>
                      <a:pt x="170" y="125"/>
                      <a:pt x="138" y="159"/>
                      <a:pt x="138" y="224"/>
                    </a:cubicBezTo>
                    <a:cubicBezTo>
                      <a:pt x="138" y="494"/>
                      <a:pt x="138" y="494"/>
                      <a:pt x="138"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7">
                <a:extLst>
                  <a:ext uri="{FF2B5EF4-FFF2-40B4-BE49-F238E27FC236}">
                    <a16:creationId xmlns:a16="http://schemas.microsoft.com/office/drawing/2014/main" id="{EF0C28DE-3EA0-613C-F6F5-A668E5A933D2}"/>
                  </a:ext>
                </a:extLst>
              </p:cNvPr>
              <p:cNvSpPr>
                <a:spLocks noEditPoints="1"/>
              </p:cNvSpPr>
              <p:nvPr userDrawn="1"/>
            </p:nvSpPr>
            <p:spPr bwMode="auto">
              <a:xfrm>
                <a:off x="6125971" y="567985"/>
                <a:ext cx="193713" cy="216764"/>
              </a:xfrm>
              <a:custGeom>
                <a:avLst/>
                <a:gdLst>
                  <a:gd name="T0" fmla="*/ 0 w 446"/>
                  <a:gd name="T1" fmla="*/ 351 h 499"/>
                  <a:gd name="T2" fmla="*/ 0 w 446"/>
                  <a:gd name="T3" fmla="*/ 349 h 499"/>
                  <a:gd name="T4" fmla="*/ 195 w 446"/>
                  <a:gd name="T5" fmla="*/ 194 h 499"/>
                  <a:gd name="T6" fmla="*/ 314 w 446"/>
                  <a:gd name="T7" fmla="*/ 214 h 499"/>
                  <a:gd name="T8" fmla="*/ 314 w 446"/>
                  <a:gd name="T9" fmla="*/ 206 h 499"/>
                  <a:gd name="T10" fmla="*/ 210 w 446"/>
                  <a:gd name="T11" fmla="*/ 117 h 499"/>
                  <a:gd name="T12" fmla="*/ 76 w 446"/>
                  <a:gd name="T13" fmla="*/ 144 h 499"/>
                  <a:gd name="T14" fmla="*/ 42 w 446"/>
                  <a:gd name="T15" fmla="*/ 39 h 499"/>
                  <a:gd name="T16" fmla="*/ 230 w 446"/>
                  <a:gd name="T17" fmla="*/ 0 h 499"/>
                  <a:gd name="T18" fmla="*/ 394 w 446"/>
                  <a:gd name="T19" fmla="*/ 54 h 499"/>
                  <a:gd name="T20" fmla="*/ 446 w 446"/>
                  <a:gd name="T21" fmla="*/ 209 h 499"/>
                  <a:gd name="T22" fmla="*/ 446 w 446"/>
                  <a:gd name="T23" fmla="*/ 490 h 499"/>
                  <a:gd name="T24" fmla="*/ 313 w 446"/>
                  <a:gd name="T25" fmla="*/ 490 h 499"/>
                  <a:gd name="T26" fmla="*/ 313 w 446"/>
                  <a:gd name="T27" fmla="*/ 438 h 499"/>
                  <a:gd name="T28" fmla="*/ 166 w 446"/>
                  <a:gd name="T29" fmla="*/ 499 h 499"/>
                  <a:gd name="T30" fmla="*/ 0 w 446"/>
                  <a:gd name="T31" fmla="*/ 351 h 499"/>
                  <a:gd name="T32" fmla="*/ 316 w 446"/>
                  <a:gd name="T33" fmla="*/ 319 h 499"/>
                  <a:gd name="T34" fmla="*/ 316 w 446"/>
                  <a:gd name="T35" fmla="*/ 295 h 499"/>
                  <a:gd name="T36" fmla="*/ 228 w 446"/>
                  <a:gd name="T37" fmla="*/ 277 h 499"/>
                  <a:gd name="T38" fmla="*/ 133 w 446"/>
                  <a:gd name="T39" fmla="*/ 344 h 499"/>
                  <a:gd name="T40" fmla="*/ 133 w 446"/>
                  <a:gd name="T41" fmla="*/ 346 h 499"/>
                  <a:gd name="T42" fmla="*/ 208 w 446"/>
                  <a:gd name="T43" fmla="*/ 404 h 499"/>
                  <a:gd name="T44" fmla="*/ 316 w 446"/>
                  <a:gd name="T45" fmla="*/ 31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499">
                    <a:moveTo>
                      <a:pt x="0" y="351"/>
                    </a:moveTo>
                    <a:cubicBezTo>
                      <a:pt x="0" y="349"/>
                      <a:pt x="0" y="349"/>
                      <a:pt x="0" y="349"/>
                    </a:cubicBezTo>
                    <a:cubicBezTo>
                      <a:pt x="0" y="243"/>
                      <a:pt x="80" y="194"/>
                      <a:pt x="195" y="194"/>
                    </a:cubicBezTo>
                    <a:cubicBezTo>
                      <a:pt x="244" y="194"/>
                      <a:pt x="280" y="202"/>
                      <a:pt x="314" y="214"/>
                    </a:cubicBezTo>
                    <a:cubicBezTo>
                      <a:pt x="314" y="206"/>
                      <a:pt x="314" y="206"/>
                      <a:pt x="314" y="206"/>
                    </a:cubicBezTo>
                    <a:cubicBezTo>
                      <a:pt x="314" y="149"/>
                      <a:pt x="279" y="117"/>
                      <a:pt x="210" y="117"/>
                    </a:cubicBezTo>
                    <a:cubicBezTo>
                      <a:pt x="157" y="117"/>
                      <a:pt x="120" y="127"/>
                      <a:pt x="76" y="144"/>
                    </a:cubicBezTo>
                    <a:cubicBezTo>
                      <a:pt x="42" y="39"/>
                      <a:pt x="42" y="39"/>
                      <a:pt x="42" y="39"/>
                    </a:cubicBezTo>
                    <a:cubicBezTo>
                      <a:pt x="95" y="15"/>
                      <a:pt x="147" y="0"/>
                      <a:pt x="230" y="0"/>
                    </a:cubicBezTo>
                    <a:cubicBezTo>
                      <a:pt x="305" y="0"/>
                      <a:pt x="359" y="20"/>
                      <a:pt x="394" y="54"/>
                    </a:cubicBezTo>
                    <a:cubicBezTo>
                      <a:pt x="430" y="90"/>
                      <a:pt x="446" y="144"/>
                      <a:pt x="446" y="209"/>
                    </a:cubicBezTo>
                    <a:cubicBezTo>
                      <a:pt x="446" y="490"/>
                      <a:pt x="446" y="490"/>
                      <a:pt x="446" y="490"/>
                    </a:cubicBezTo>
                    <a:cubicBezTo>
                      <a:pt x="313" y="490"/>
                      <a:pt x="313" y="490"/>
                      <a:pt x="313" y="490"/>
                    </a:cubicBezTo>
                    <a:cubicBezTo>
                      <a:pt x="313" y="438"/>
                      <a:pt x="313" y="438"/>
                      <a:pt x="313" y="438"/>
                    </a:cubicBezTo>
                    <a:cubicBezTo>
                      <a:pt x="280" y="475"/>
                      <a:pt x="233" y="499"/>
                      <a:pt x="166" y="499"/>
                    </a:cubicBezTo>
                    <a:cubicBezTo>
                      <a:pt x="75" y="499"/>
                      <a:pt x="0" y="447"/>
                      <a:pt x="0" y="351"/>
                    </a:cubicBezTo>
                    <a:close/>
                    <a:moveTo>
                      <a:pt x="316" y="319"/>
                    </a:moveTo>
                    <a:cubicBezTo>
                      <a:pt x="316" y="295"/>
                      <a:pt x="316" y="295"/>
                      <a:pt x="316" y="295"/>
                    </a:cubicBezTo>
                    <a:cubicBezTo>
                      <a:pt x="292" y="284"/>
                      <a:pt x="262" y="277"/>
                      <a:pt x="228" y="277"/>
                    </a:cubicBezTo>
                    <a:cubicBezTo>
                      <a:pt x="169" y="277"/>
                      <a:pt x="133" y="300"/>
                      <a:pt x="133" y="344"/>
                    </a:cubicBezTo>
                    <a:cubicBezTo>
                      <a:pt x="133" y="346"/>
                      <a:pt x="133" y="346"/>
                      <a:pt x="133" y="346"/>
                    </a:cubicBezTo>
                    <a:cubicBezTo>
                      <a:pt x="133" y="383"/>
                      <a:pt x="164" y="404"/>
                      <a:pt x="208" y="404"/>
                    </a:cubicBezTo>
                    <a:cubicBezTo>
                      <a:pt x="272" y="404"/>
                      <a:pt x="316" y="369"/>
                      <a:pt x="316" y="3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8">
                <a:extLst>
                  <a:ext uri="{FF2B5EF4-FFF2-40B4-BE49-F238E27FC236}">
                    <a16:creationId xmlns:a16="http://schemas.microsoft.com/office/drawing/2014/main" id="{AA3A9144-5E21-1340-D82E-781E8E03088B}"/>
                  </a:ext>
                </a:extLst>
              </p:cNvPr>
              <p:cNvSpPr>
                <a:spLocks/>
              </p:cNvSpPr>
              <p:nvPr userDrawn="1"/>
            </p:nvSpPr>
            <p:spPr bwMode="auto">
              <a:xfrm>
                <a:off x="6336529" y="564438"/>
                <a:ext cx="127665"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6" name="Freeform 9">
                <a:extLst>
                  <a:ext uri="{FF2B5EF4-FFF2-40B4-BE49-F238E27FC236}">
                    <a16:creationId xmlns:a16="http://schemas.microsoft.com/office/drawing/2014/main" id="{16E502AF-0487-43AF-00DB-14F962B92CFF}"/>
                  </a:ext>
                </a:extLst>
              </p:cNvPr>
              <p:cNvSpPr>
                <a:spLocks/>
              </p:cNvSpPr>
              <p:nvPr userDrawn="1"/>
            </p:nvSpPr>
            <p:spPr bwMode="auto">
              <a:xfrm>
                <a:off x="6475719" y="516121"/>
                <a:ext cx="134757" cy="268184"/>
              </a:xfrm>
              <a:custGeom>
                <a:avLst/>
                <a:gdLst>
                  <a:gd name="T0" fmla="*/ 58 w 310"/>
                  <a:gd name="T1" fmla="*/ 472 h 617"/>
                  <a:gd name="T2" fmla="*/ 58 w 310"/>
                  <a:gd name="T3" fmla="*/ 242 h 617"/>
                  <a:gd name="T4" fmla="*/ 0 w 310"/>
                  <a:gd name="T5" fmla="*/ 242 h 617"/>
                  <a:gd name="T6" fmla="*/ 0 w 310"/>
                  <a:gd name="T7" fmla="*/ 124 h 617"/>
                  <a:gd name="T8" fmla="*/ 58 w 310"/>
                  <a:gd name="T9" fmla="*/ 124 h 617"/>
                  <a:gd name="T10" fmla="*/ 58 w 310"/>
                  <a:gd name="T11" fmla="*/ 0 h 617"/>
                  <a:gd name="T12" fmla="*/ 196 w 310"/>
                  <a:gd name="T13" fmla="*/ 0 h 617"/>
                  <a:gd name="T14" fmla="*/ 196 w 310"/>
                  <a:gd name="T15" fmla="*/ 124 h 617"/>
                  <a:gd name="T16" fmla="*/ 310 w 310"/>
                  <a:gd name="T17" fmla="*/ 124 h 617"/>
                  <a:gd name="T18" fmla="*/ 310 w 310"/>
                  <a:gd name="T19" fmla="*/ 242 h 617"/>
                  <a:gd name="T20" fmla="*/ 196 w 310"/>
                  <a:gd name="T21" fmla="*/ 242 h 617"/>
                  <a:gd name="T22" fmla="*/ 196 w 310"/>
                  <a:gd name="T23" fmla="*/ 449 h 617"/>
                  <a:gd name="T24" fmla="*/ 240 w 310"/>
                  <a:gd name="T25" fmla="*/ 496 h 617"/>
                  <a:gd name="T26" fmla="*/ 308 w 310"/>
                  <a:gd name="T27" fmla="*/ 479 h 617"/>
                  <a:gd name="T28" fmla="*/ 308 w 310"/>
                  <a:gd name="T29" fmla="*/ 589 h 617"/>
                  <a:gd name="T30" fmla="*/ 199 w 310"/>
                  <a:gd name="T31" fmla="*/ 617 h 617"/>
                  <a:gd name="T32" fmla="*/ 58 w 310"/>
                  <a:gd name="T33" fmla="*/ 472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7">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6" y="0"/>
                      <a:pt x="196" y="0"/>
                      <a:pt x="196" y="0"/>
                    </a:cubicBezTo>
                    <a:cubicBezTo>
                      <a:pt x="196" y="124"/>
                      <a:pt x="196" y="124"/>
                      <a:pt x="196" y="124"/>
                    </a:cubicBezTo>
                    <a:cubicBezTo>
                      <a:pt x="310" y="124"/>
                      <a:pt x="310" y="124"/>
                      <a:pt x="310" y="124"/>
                    </a:cubicBezTo>
                    <a:cubicBezTo>
                      <a:pt x="310" y="242"/>
                      <a:pt x="310" y="242"/>
                      <a:pt x="310" y="242"/>
                    </a:cubicBezTo>
                    <a:cubicBezTo>
                      <a:pt x="196" y="242"/>
                      <a:pt x="196" y="242"/>
                      <a:pt x="196" y="242"/>
                    </a:cubicBezTo>
                    <a:cubicBezTo>
                      <a:pt x="196" y="449"/>
                      <a:pt x="196" y="449"/>
                      <a:pt x="196" y="449"/>
                    </a:cubicBezTo>
                    <a:cubicBezTo>
                      <a:pt x="196" y="481"/>
                      <a:pt x="209" y="496"/>
                      <a:pt x="240" y="496"/>
                    </a:cubicBezTo>
                    <a:cubicBezTo>
                      <a:pt x="265" y="496"/>
                      <a:pt x="288" y="490"/>
                      <a:pt x="308" y="479"/>
                    </a:cubicBezTo>
                    <a:cubicBezTo>
                      <a:pt x="308" y="589"/>
                      <a:pt x="308" y="589"/>
                      <a:pt x="308" y="589"/>
                    </a:cubicBezTo>
                    <a:cubicBezTo>
                      <a:pt x="279" y="607"/>
                      <a:pt x="245" y="617"/>
                      <a:pt x="199" y="617"/>
                    </a:cubicBezTo>
                    <a:cubicBezTo>
                      <a:pt x="115" y="617"/>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7" name="Freeform 10">
                <a:extLst>
                  <a:ext uri="{FF2B5EF4-FFF2-40B4-BE49-F238E27FC236}">
                    <a16:creationId xmlns:a16="http://schemas.microsoft.com/office/drawing/2014/main" id="{0DE8FD0D-C28A-B61F-DFEE-6F90FAD7BFAA}"/>
                  </a:ext>
                </a:extLst>
              </p:cNvPr>
              <p:cNvSpPr>
                <a:spLocks noEditPoints="1"/>
              </p:cNvSpPr>
              <p:nvPr userDrawn="1"/>
            </p:nvSpPr>
            <p:spPr bwMode="auto">
              <a:xfrm>
                <a:off x="6618455" y="566212"/>
                <a:ext cx="207012" cy="219424"/>
              </a:xfrm>
              <a:custGeom>
                <a:avLst/>
                <a:gdLst>
                  <a:gd name="T0" fmla="*/ 0 w 476"/>
                  <a:gd name="T1" fmla="*/ 254 h 505"/>
                  <a:gd name="T2" fmla="*/ 0 w 476"/>
                  <a:gd name="T3" fmla="*/ 253 h 505"/>
                  <a:gd name="T4" fmla="*/ 240 w 476"/>
                  <a:gd name="T5" fmla="*/ 0 h 505"/>
                  <a:gd name="T6" fmla="*/ 476 w 476"/>
                  <a:gd name="T7" fmla="*/ 263 h 505"/>
                  <a:gd name="T8" fmla="*/ 475 w 476"/>
                  <a:gd name="T9" fmla="*/ 300 h 505"/>
                  <a:gd name="T10" fmla="*/ 137 w 476"/>
                  <a:gd name="T11" fmla="*/ 300 h 505"/>
                  <a:gd name="T12" fmla="*/ 256 w 476"/>
                  <a:gd name="T13" fmla="*/ 395 h 505"/>
                  <a:gd name="T14" fmla="*/ 373 w 476"/>
                  <a:gd name="T15" fmla="*/ 345 h 505"/>
                  <a:gd name="T16" fmla="*/ 452 w 476"/>
                  <a:gd name="T17" fmla="*/ 415 h 505"/>
                  <a:gd name="T18" fmla="*/ 254 w 476"/>
                  <a:gd name="T19" fmla="*/ 505 h 505"/>
                  <a:gd name="T20" fmla="*/ 0 w 476"/>
                  <a:gd name="T21" fmla="*/ 254 h 505"/>
                  <a:gd name="T22" fmla="*/ 342 w 476"/>
                  <a:gd name="T23" fmla="*/ 214 h 505"/>
                  <a:gd name="T24" fmla="*/ 240 w 476"/>
                  <a:gd name="T25" fmla="*/ 111 h 505"/>
                  <a:gd name="T26" fmla="*/ 135 w 476"/>
                  <a:gd name="T27" fmla="*/ 214 h 505"/>
                  <a:gd name="T28" fmla="*/ 342 w 476"/>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6" h="505">
                    <a:moveTo>
                      <a:pt x="0" y="254"/>
                    </a:moveTo>
                    <a:cubicBezTo>
                      <a:pt x="0" y="253"/>
                      <a:pt x="0" y="253"/>
                      <a:pt x="0" y="253"/>
                    </a:cubicBezTo>
                    <a:cubicBezTo>
                      <a:pt x="0" y="114"/>
                      <a:pt x="99" y="0"/>
                      <a:pt x="240" y="0"/>
                    </a:cubicBezTo>
                    <a:cubicBezTo>
                      <a:pt x="402" y="0"/>
                      <a:pt x="476" y="126"/>
                      <a:pt x="476" y="263"/>
                    </a:cubicBezTo>
                    <a:cubicBezTo>
                      <a:pt x="476"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2" y="214"/>
                    </a:moveTo>
                    <a:cubicBezTo>
                      <a:pt x="334" y="152"/>
                      <a:pt x="298" y="111"/>
                      <a:pt x="240" y="111"/>
                    </a:cubicBezTo>
                    <a:cubicBezTo>
                      <a:pt x="183" y="111"/>
                      <a:pt x="146" y="151"/>
                      <a:pt x="135" y="214"/>
                    </a:cubicBezTo>
                    <a:lnTo>
                      <a:pt x="342"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8" name="Freeform 11">
                <a:extLst>
                  <a:ext uri="{FF2B5EF4-FFF2-40B4-BE49-F238E27FC236}">
                    <a16:creationId xmlns:a16="http://schemas.microsoft.com/office/drawing/2014/main" id="{F351CFF9-9DD1-E9B5-EE76-334AE5F03491}"/>
                  </a:ext>
                </a:extLst>
              </p:cNvPr>
              <p:cNvSpPr>
                <a:spLocks/>
              </p:cNvSpPr>
              <p:nvPr userDrawn="1"/>
            </p:nvSpPr>
            <p:spPr bwMode="auto">
              <a:xfrm>
                <a:off x="6837879" y="564438"/>
                <a:ext cx="127221"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9" name="Freeform 12">
                <a:extLst>
                  <a:ext uri="{FF2B5EF4-FFF2-40B4-BE49-F238E27FC236}">
                    <a16:creationId xmlns:a16="http://schemas.microsoft.com/office/drawing/2014/main" id="{5CBDFCA1-F27C-774F-EB38-070587A34AB2}"/>
                  </a:ext>
                </a:extLst>
              </p:cNvPr>
              <p:cNvSpPr>
                <a:spLocks/>
              </p:cNvSpPr>
              <p:nvPr userDrawn="1"/>
            </p:nvSpPr>
            <p:spPr bwMode="auto">
              <a:xfrm>
                <a:off x="4988072" y="888476"/>
                <a:ext cx="134757" cy="268628"/>
              </a:xfrm>
              <a:custGeom>
                <a:avLst/>
                <a:gdLst>
                  <a:gd name="T0" fmla="*/ 58 w 310"/>
                  <a:gd name="T1" fmla="*/ 472 h 618"/>
                  <a:gd name="T2" fmla="*/ 58 w 310"/>
                  <a:gd name="T3" fmla="*/ 242 h 618"/>
                  <a:gd name="T4" fmla="*/ 0 w 310"/>
                  <a:gd name="T5" fmla="*/ 242 h 618"/>
                  <a:gd name="T6" fmla="*/ 0 w 310"/>
                  <a:gd name="T7" fmla="*/ 124 h 618"/>
                  <a:gd name="T8" fmla="*/ 58 w 310"/>
                  <a:gd name="T9" fmla="*/ 124 h 618"/>
                  <a:gd name="T10" fmla="*/ 58 w 310"/>
                  <a:gd name="T11" fmla="*/ 0 h 618"/>
                  <a:gd name="T12" fmla="*/ 195 w 310"/>
                  <a:gd name="T13" fmla="*/ 0 h 618"/>
                  <a:gd name="T14" fmla="*/ 195 w 310"/>
                  <a:gd name="T15" fmla="*/ 124 h 618"/>
                  <a:gd name="T16" fmla="*/ 310 w 310"/>
                  <a:gd name="T17" fmla="*/ 124 h 618"/>
                  <a:gd name="T18" fmla="*/ 310 w 310"/>
                  <a:gd name="T19" fmla="*/ 242 h 618"/>
                  <a:gd name="T20" fmla="*/ 195 w 310"/>
                  <a:gd name="T21" fmla="*/ 242 h 618"/>
                  <a:gd name="T22" fmla="*/ 195 w 310"/>
                  <a:gd name="T23" fmla="*/ 449 h 618"/>
                  <a:gd name="T24" fmla="*/ 240 w 310"/>
                  <a:gd name="T25" fmla="*/ 496 h 618"/>
                  <a:gd name="T26" fmla="*/ 308 w 310"/>
                  <a:gd name="T27" fmla="*/ 479 h 618"/>
                  <a:gd name="T28" fmla="*/ 308 w 310"/>
                  <a:gd name="T29" fmla="*/ 590 h 618"/>
                  <a:gd name="T30" fmla="*/ 199 w 310"/>
                  <a:gd name="T31" fmla="*/ 618 h 618"/>
                  <a:gd name="T32" fmla="*/ 58 w 310"/>
                  <a:gd name="T33" fmla="*/ 472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8">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5" y="0"/>
                      <a:pt x="195" y="0"/>
                      <a:pt x="195" y="0"/>
                    </a:cubicBezTo>
                    <a:cubicBezTo>
                      <a:pt x="195" y="124"/>
                      <a:pt x="195" y="124"/>
                      <a:pt x="195" y="124"/>
                    </a:cubicBezTo>
                    <a:cubicBezTo>
                      <a:pt x="310" y="124"/>
                      <a:pt x="310" y="124"/>
                      <a:pt x="310" y="124"/>
                    </a:cubicBezTo>
                    <a:cubicBezTo>
                      <a:pt x="310" y="242"/>
                      <a:pt x="310" y="242"/>
                      <a:pt x="310" y="242"/>
                    </a:cubicBezTo>
                    <a:cubicBezTo>
                      <a:pt x="195" y="242"/>
                      <a:pt x="195" y="242"/>
                      <a:pt x="195" y="242"/>
                    </a:cubicBezTo>
                    <a:cubicBezTo>
                      <a:pt x="195" y="449"/>
                      <a:pt x="195" y="449"/>
                      <a:pt x="195" y="449"/>
                    </a:cubicBezTo>
                    <a:cubicBezTo>
                      <a:pt x="195" y="481"/>
                      <a:pt x="209" y="496"/>
                      <a:pt x="240" y="496"/>
                    </a:cubicBezTo>
                    <a:cubicBezTo>
                      <a:pt x="265" y="496"/>
                      <a:pt x="288" y="490"/>
                      <a:pt x="308" y="479"/>
                    </a:cubicBezTo>
                    <a:cubicBezTo>
                      <a:pt x="308" y="590"/>
                      <a:pt x="308" y="590"/>
                      <a:pt x="308" y="590"/>
                    </a:cubicBezTo>
                    <a:cubicBezTo>
                      <a:pt x="279" y="607"/>
                      <a:pt x="245" y="618"/>
                      <a:pt x="199" y="618"/>
                    </a:cubicBezTo>
                    <a:cubicBezTo>
                      <a:pt x="115" y="618"/>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0" name="Freeform 13">
                <a:extLst>
                  <a:ext uri="{FF2B5EF4-FFF2-40B4-BE49-F238E27FC236}">
                    <a16:creationId xmlns:a16="http://schemas.microsoft.com/office/drawing/2014/main" id="{32C7C41D-9C2F-F9CB-F801-1289ECF5E586}"/>
                  </a:ext>
                </a:extLst>
              </p:cNvPr>
              <p:cNvSpPr>
                <a:spLocks noEditPoints="1"/>
              </p:cNvSpPr>
              <p:nvPr userDrawn="1"/>
            </p:nvSpPr>
            <p:spPr bwMode="auto">
              <a:xfrm>
                <a:off x="5131251" y="938123"/>
                <a:ext cx="207455" cy="219867"/>
              </a:xfrm>
              <a:custGeom>
                <a:avLst/>
                <a:gdLst>
                  <a:gd name="T0" fmla="*/ 0 w 477"/>
                  <a:gd name="T1" fmla="*/ 254 h 505"/>
                  <a:gd name="T2" fmla="*/ 0 w 477"/>
                  <a:gd name="T3" fmla="*/ 253 h 505"/>
                  <a:gd name="T4" fmla="*/ 240 w 477"/>
                  <a:gd name="T5" fmla="*/ 0 h 505"/>
                  <a:gd name="T6" fmla="*/ 477 w 477"/>
                  <a:gd name="T7" fmla="*/ 263 h 505"/>
                  <a:gd name="T8" fmla="*/ 475 w 477"/>
                  <a:gd name="T9" fmla="*/ 300 h 505"/>
                  <a:gd name="T10" fmla="*/ 137 w 477"/>
                  <a:gd name="T11" fmla="*/ 300 h 505"/>
                  <a:gd name="T12" fmla="*/ 256 w 477"/>
                  <a:gd name="T13" fmla="*/ 395 h 505"/>
                  <a:gd name="T14" fmla="*/ 373 w 477"/>
                  <a:gd name="T15" fmla="*/ 345 h 505"/>
                  <a:gd name="T16" fmla="*/ 452 w 477"/>
                  <a:gd name="T17" fmla="*/ 415 h 505"/>
                  <a:gd name="T18" fmla="*/ 254 w 477"/>
                  <a:gd name="T19" fmla="*/ 505 h 505"/>
                  <a:gd name="T20" fmla="*/ 0 w 477"/>
                  <a:gd name="T21" fmla="*/ 254 h 505"/>
                  <a:gd name="T22" fmla="*/ 343 w 477"/>
                  <a:gd name="T23" fmla="*/ 214 h 505"/>
                  <a:gd name="T24" fmla="*/ 240 w 477"/>
                  <a:gd name="T25" fmla="*/ 111 h 505"/>
                  <a:gd name="T26" fmla="*/ 135 w 477"/>
                  <a:gd name="T27" fmla="*/ 214 h 505"/>
                  <a:gd name="T28" fmla="*/ 343 w 477"/>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7" h="505">
                    <a:moveTo>
                      <a:pt x="0" y="254"/>
                    </a:moveTo>
                    <a:cubicBezTo>
                      <a:pt x="0" y="253"/>
                      <a:pt x="0" y="253"/>
                      <a:pt x="0" y="253"/>
                    </a:cubicBezTo>
                    <a:cubicBezTo>
                      <a:pt x="0" y="114"/>
                      <a:pt x="99" y="0"/>
                      <a:pt x="240" y="0"/>
                    </a:cubicBezTo>
                    <a:cubicBezTo>
                      <a:pt x="402" y="0"/>
                      <a:pt x="477" y="126"/>
                      <a:pt x="477" y="263"/>
                    </a:cubicBezTo>
                    <a:cubicBezTo>
                      <a:pt x="477"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3" y="214"/>
                    </a:moveTo>
                    <a:cubicBezTo>
                      <a:pt x="334" y="152"/>
                      <a:pt x="298" y="111"/>
                      <a:pt x="240" y="111"/>
                    </a:cubicBezTo>
                    <a:cubicBezTo>
                      <a:pt x="183" y="111"/>
                      <a:pt x="146" y="151"/>
                      <a:pt x="135" y="214"/>
                    </a:cubicBezTo>
                    <a:lnTo>
                      <a:pt x="343"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1" name="Freeform 14">
                <a:extLst>
                  <a:ext uri="{FF2B5EF4-FFF2-40B4-BE49-F238E27FC236}">
                    <a16:creationId xmlns:a16="http://schemas.microsoft.com/office/drawing/2014/main" id="{D3D8F53A-7C54-73FF-7202-68AF9530CEF8}"/>
                  </a:ext>
                </a:extLst>
              </p:cNvPr>
              <p:cNvSpPr>
                <a:spLocks/>
              </p:cNvSpPr>
              <p:nvPr userDrawn="1"/>
            </p:nvSpPr>
            <p:spPr bwMode="auto">
              <a:xfrm>
                <a:off x="5348015" y="938123"/>
                <a:ext cx="195486" cy="219867"/>
              </a:xfrm>
              <a:custGeom>
                <a:avLst/>
                <a:gdLst>
                  <a:gd name="T0" fmla="*/ 0 w 450"/>
                  <a:gd name="T1" fmla="*/ 254 h 505"/>
                  <a:gd name="T2" fmla="*/ 0 w 450"/>
                  <a:gd name="T3" fmla="*/ 253 h 505"/>
                  <a:gd name="T4" fmla="*/ 254 w 450"/>
                  <a:gd name="T5" fmla="*/ 0 h 505"/>
                  <a:gd name="T6" fmla="*/ 448 w 450"/>
                  <a:gd name="T7" fmla="*/ 82 h 505"/>
                  <a:gd name="T8" fmla="*/ 363 w 450"/>
                  <a:gd name="T9" fmla="*/ 172 h 505"/>
                  <a:gd name="T10" fmla="*/ 253 w 450"/>
                  <a:gd name="T11" fmla="*/ 119 h 505"/>
                  <a:gd name="T12" fmla="*/ 135 w 450"/>
                  <a:gd name="T13" fmla="*/ 251 h 505"/>
                  <a:gd name="T14" fmla="*/ 135 w 450"/>
                  <a:gd name="T15" fmla="*/ 253 h 505"/>
                  <a:gd name="T16" fmla="*/ 258 w 450"/>
                  <a:gd name="T17" fmla="*/ 387 h 505"/>
                  <a:gd name="T18" fmla="*/ 370 w 450"/>
                  <a:gd name="T19" fmla="*/ 335 h 505"/>
                  <a:gd name="T20" fmla="*/ 450 w 450"/>
                  <a:gd name="T21" fmla="*/ 416 h 505"/>
                  <a:gd name="T22" fmla="*/ 252 w 450"/>
                  <a:gd name="T23" fmla="*/ 505 h 505"/>
                  <a:gd name="T24" fmla="*/ 0 w 450"/>
                  <a:gd name="T25"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0" h="505">
                    <a:moveTo>
                      <a:pt x="0" y="254"/>
                    </a:moveTo>
                    <a:cubicBezTo>
                      <a:pt x="0" y="253"/>
                      <a:pt x="0" y="253"/>
                      <a:pt x="0" y="253"/>
                    </a:cubicBezTo>
                    <a:cubicBezTo>
                      <a:pt x="0" y="114"/>
                      <a:pt x="106" y="0"/>
                      <a:pt x="254" y="0"/>
                    </a:cubicBezTo>
                    <a:cubicBezTo>
                      <a:pt x="345" y="0"/>
                      <a:pt x="402" y="31"/>
                      <a:pt x="448" y="82"/>
                    </a:cubicBezTo>
                    <a:cubicBezTo>
                      <a:pt x="363" y="172"/>
                      <a:pt x="363" y="172"/>
                      <a:pt x="363" y="172"/>
                    </a:cubicBezTo>
                    <a:cubicBezTo>
                      <a:pt x="333" y="139"/>
                      <a:pt x="302" y="119"/>
                      <a:pt x="253" y="119"/>
                    </a:cubicBezTo>
                    <a:cubicBezTo>
                      <a:pt x="184" y="119"/>
                      <a:pt x="135" y="179"/>
                      <a:pt x="135" y="251"/>
                    </a:cubicBezTo>
                    <a:cubicBezTo>
                      <a:pt x="135" y="253"/>
                      <a:pt x="135" y="253"/>
                      <a:pt x="135" y="253"/>
                    </a:cubicBezTo>
                    <a:cubicBezTo>
                      <a:pt x="135" y="327"/>
                      <a:pt x="183" y="387"/>
                      <a:pt x="258" y="387"/>
                    </a:cubicBezTo>
                    <a:cubicBezTo>
                      <a:pt x="305" y="387"/>
                      <a:pt x="336" y="367"/>
                      <a:pt x="370" y="335"/>
                    </a:cubicBezTo>
                    <a:cubicBezTo>
                      <a:pt x="450" y="416"/>
                      <a:pt x="450" y="416"/>
                      <a:pt x="450" y="416"/>
                    </a:cubicBezTo>
                    <a:cubicBezTo>
                      <a:pt x="403" y="468"/>
                      <a:pt x="349" y="505"/>
                      <a:pt x="252" y="505"/>
                    </a:cubicBezTo>
                    <a:cubicBezTo>
                      <a:pt x="106" y="505"/>
                      <a:pt x="0" y="393"/>
                      <a:pt x="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2" name="Freeform 15">
                <a:extLst>
                  <a:ext uri="{FF2B5EF4-FFF2-40B4-BE49-F238E27FC236}">
                    <a16:creationId xmlns:a16="http://schemas.microsoft.com/office/drawing/2014/main" id="{BD2B90D5-630B-CFC6-CE5B-4A3E77847404}"/>
                  </a:ext>
                </a:extLst>
              </p:cNvPr>
              <p:cNvSpPr>
                <a:spLocks/>
              </p:cNvSpPr>
              <p:nvPr userDrawn="1"/>
            </p:nvSpPr>
            <p:spPr bwMode="auto">
              <a:xfrm>
                <a:off x="5553254" y="866312"/>
                <a:ext cx="193270" cy="286802"/>
              </a:xfrm>
              <a:custGeom>
                <a:avLst/>
                <a:gdLst>
                  <a:gd name="T0" fmla="*/ 0 w 445"/>
                  <a:gd name="T1" fmla="*/ 0 h 660"/>
                  <a:gd name="T2" fmla="*/ 138 w 445"/>
                  <a:gd name="T3" fmla="*/ 0 h 660"/>
                  <a:gd name="T4" fmla="*/ 138 w 445"/>
                  <a:gd name="T5" fmla="*/ 244 h 660"/>
                  <a:gd name="T6" fmla="*/ 280 w 445"/>
                  <a:gd name="T7" fmla="*/ 166 h 660"/>
                  <a:gd name="T8" fmla="*/ 445 w 445"/>
                  <a:gd name="T9" fmla="*/ 346 h 660"/>
                  <a:gd name="T10" fmla="*/ 445 w 445"/>
                  <a:gd name="T11" fmla="*/ 660 h 660"/>
                  <a:gd name="T12" fmla="*/ 307 w 445"/>
                  <a:gd name="T13" fmla="*/ 660 h 660"/>
                  <a:gd name="T14" fmla="*/ 307 w 445"/>
                  <a:gd name="T15" fmla="*/ 390 h 660"/>
                  <a:gd name="T16" fmla="*/ 224 w 445"/>
                  <a:gd name="T17" fmla="*/ 291 h 660"/>
                  <a:gd name="T18" fmla="*/ 138 w 445"/>
                  <a:gd name="T19" fmla="*/ 390 h 660"/>
                  <a:gd name="T20" fmla="*/ 138 w 445"/>
                  <a:gd name="T21" fmla="*/ 660 h 660"/>
                  <a:gd name="T22" fmla="*/ 0 w 445"/>
                  <a:gd name="T23" fmla="*/ 660 h 660"/>
                  <a:gd name="T24" fmla="*/ 0 w 445"/>
                  <a:gd name="T25"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5" h="660">
                    <a:moveTo>
                      <a:pt x="0" y="0"/>
                    </a:moveTo>
                    <a:cubicBezTo>
                      <a:pt x="138" y="0"/>
                      <a:pt x="138" y="0"/>
                      <a:pt x="138" y="0"/>
                    </a:cubicBezTo>
                    <a:cubicBezTo>
                      <a:pt x="138" y="244"/>
                      <a:pt x="138" y="244"/>
                      <a:pt x="138" y="244"/>
                    </a:cubicBezTo>
                    <a:cubicBezTo>
                      <a:pt x="169" y="203"/>
                      <a:pt x="210" y="166"/>
                      <a:pt x="280" y="166"/>
                    </a:cubicBezTo>
                    <a:cubicBezTo>
                      <a:pt x="384" y="166"/>
                      <a:pt x="445" y="235"/>
                      <a:pt x="445" y="346"/>
                    </a:cubicBezTo>
                    <a:cubicBezTo>
                      <a:pt x="445" y="660"/>
                      <a:pt x="445" y="660"/>
                      <a:pt x="445" y="660"/>
                    </a:cubicBezTo>
                    <a:cubicBezTo>
                      <a:pt x="307" y="660"/>
                      <a:pt x="307" y="660"/>
                      <a:pt x="307" y="660"/>
                    </a:cubicBezTo>
                    <a:cubicBezTo>
                      <a:pt x="307" y="390"/>
                      <a:pt x="307" y="390"/>
                      <a:pt x="307" y="390"/>
                    </a:cubicBezTo>
                    <a:cubicBezTo>
                      <a:pt x="307" y="324"/>
                      <a:pt x="276" y="291"/>
                      <a:pt x="224" y="291"/>
                    </a:cubicBezTo>
                    <a:cubicBezTo>
                      <a:pt x="171" y="291"/>
                      <a:pt x="138" y="324"/>
                      <a:pt x="138" y="390"/>
                    </a:cubicBezTo>
                    <a:cubicBezTo>
                      <a:pt x="138" y="660"/>
                      <a:pt x="138" y="660"/>
                      <a:pt x="138" y="660"/>
                    </a:cubicBezTo>
                    <a:cubicBezTo>
                      <a:pt x="0" y="660"/>
                      <a:pt x="0" y="660"/>
                      <a:pt x="0" y="66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3" name="Freeform 16">
                <a:extLst>
                  <a:ext uri="{FF2B5EF4-FFF2-40B4-BE49-F238E27FC236}">
                    <a16:creationId xmlns:a16="http://schemas.microsoft.com/office/drawing/2014/main" id="{44BDC175-2104-E7E3-2519-DA2F92A4A931}"/>
                  </a:ext>
                </a:extLst>
              </p:cNvPr>
              <p:cNvSpPr>
                <a:spLocks/>
              </p:cNvSpPr>
              <p:nvPr userDrawn="1"/>
            </p:nvSpPr>
            <p:spPr bwMode="auto">
              <a:xfrm>
                <a:off x="5762039" y="938123"/>
                <a:ext cx="192827" cy="214991"/>
              </a:xfrm>
              <a:custGeom>
                <a:avLst/>
                <a:gdLst>
                  <a:gd name="T0" fmla="*/ 0 w 444"/>
                  <a:gd name="T1" fmla="*/ 9 h 494"/>
                  <a:gd name="T2" fmla="*/ 137 w 444"/>
                  <a:gd name="T3" fmla="*/ 9 h 494"/>
                  <a:gd name="T4" fmla="*/ 137 w 444"/>
                  <a:gd name="T5" fmla="*/ 78 h 494"/>
                  <a:gd name="T6" fmla="*/ 279 w 444"/>
                  <a:gd name="T7" fmla="*/ 0 h 494"/>
                  <a:gd name="T8" fmla="*/ 444 w 444"/>
                  <a:gd name="T9" fmla="*/ 180 h 494"/>
                  <a:gd name="T10" fmla="*/ 444 w 444"/>
                  <a:gd name="T11" fmla="*/ 494 h 494"/>
                  <a:gd name="T12" fmla="*/ 306 w 444"/>
                  <a:gd name="T13" fmla="*/ 494 h 494"/>
                  <a:gd name="T14" fmla="*/ 306 w 444"/>
                  <a:gd name="T15" fmla="*/ 224 h 494"/>
                  <a:gd name="T16" fmla="*/ 223 w 444"/>
                  <a:gd name="T17" fmla="*/ 125 h 494"/>
                  <a:gd name="T18" fmla="*/ 137 w 444"/>
                  <a:gd name="T19" fmla="*/ 224 h 494"/>
                  <a:gd name="T20" fmla="*/ 137 w 444"/>
                  <a:gd name="T21" fmla="*/ 494 h 494"/>
                  <a:gd name="T22" fmla="*/ 0 w 444"/>
                  <a:gd name="T23" fmla="*/ 494 h 494"/>
                  <a:gd name="T24" fmla="*/ 0 w 444"/>
                  <a:gd name="T25"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4" h="494">
                    <a:moveTo>
                      <a:pt x="0" y="9"/>
                    </a:moveTo>
                    <a:cubicBezTo>
                      <a:pt x="137" y="9"/>
                      <a:pt x="137" y="9"/>
                      <a:pt x="137" y="9"/>
                    </a:cubicBezTo>
                    <a:cubicBezTo>
                      <a:pt x="137" y="78"/>
                      <a:pt x="137" y="78"/>
                      <a:pt x="137" y="78"/>
                    </a:cubicBezTo>
                    <a:cubicBezTo>
                      <a:pt x="169" y="37"/>
                      <a:pt x="210" y="0"/>
                      <a:pt x="279" y="0"/>
                    </a:cubicBezTo>
                    <a:cubicBezTo>
                      <a:pt x="383" y="0"/>
                      <a:pt x="444" y="69"/>
                      <a:pt x="444" y="180"/>
                    </a:cubicBezTo>
                    <a:cubicBezTo>
                      <a:pt x="444" y="494"/>
                      <a:pt x="444" y="494"/>
                      <a:pt x="444" y="494"/>
                    </a:cubicBezTo>
                    <a:cubicBezTo>
                      <a:pt x="306" y="494"/>
                      <a:pt x="306" y="494"/>
                      <a:pt x="306" y="494"/>
                    </a:cubicBezTo>
                    <a:cubicBezTo>
                      <a:pt x="306" y="224"/>
                      <a:pt x="306" y="224"/>
                      <a:pt x="306" y="224"/>
                    </a:cubicBezTo>
                    <a:cubicBezTo>
                      <a:pt x="306" y="158"/>
                      <a:pt x="276" y="125"/>
                      <a:pt x="223" y="125"/>
                    </a:cubicBezTo>
                    <a:cubicBezTo>
                      <a:pt x="171" y="125"/>
                      <a:pt x="137" y="158"/>
                      <a:pt x="137" y="224"/>
                    </a:cubicBezTo>
                    <a:cubicBezTo>
                      <a:pt x="137" y="494"/>
                      <a:pt x="137" y="494"/>
                      <a:pt x="137"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4" name="Freeform 17">
                <a:extLst>
                  <a:ext uri="{FF2B5EF4-FFF2-40B4-BE49-F238E27FC236}">
                    <a16:creationId xmlns:a16="http://schemas.microsoft.com/office/drawing/2014/main" id="{E76CB955-2FC2-83C2-AC09-AD01BCCF18B2}"/>
                  </a:ext>
                </a:extLst>
              </p:cNvPr>
              <p:cNvSpPr>
                <a:spLocks noEditPoints="1"/>
              </p:cNvSpPr>
              <p:nvPr userDrawn="1"/>
            </p:nvSpPr>
            <p:spPr bwMode="auto">
              <a:xfrm>
                <a:off x="5967277" y="938123"/>
                <a:ext cx="228289" cy="219867"/>
              </a:xfrm>
              <a:custGeom>
                <a:avLst/>
                <a:gdLst>
                  <a:gd name="T0" fmla="*/ 0 w 525"/>
                  <a:gd name="T1" fmla="*/ 254 h 505"/>
                  <a:gd name="T2" fmla="*/ 0 w 525"/>
                  <a:gd name="T3" fmla="*/ 253 h 505"/>
                  <a:gd name="T4" fmla="*/ 263 w 525"/>
                  <a:gd name="T5" fmla="*/ 0 h 505"/>
                  <a:gd name="T6" fmla="*/ 525 w 525"/>
                  <a:gd name="T7" fmla="*/ 251 h 505"/>
                  <a:gd name="T8" fmla="*/ 525 w 525"/>
                  <a:gd name="T9" fmla="*/ 253 h 505"/>
                  <a:gd name="T10" fmla="*/ 262 w 525"/>
                  <a:gd name="T11" fmla="*/ 505 h 505"/>
                  <a:gd name="T12" fmla="*/ 0 w 525"/>
                  <a:gd name="T13" fmla="*/ 254 h 505"/>
                  <a:gd name="T14" fmla="*/ 389 w 525"/>
                  <a:gd name="T15" fmla="*/ 254 h 505"/>
                  <a:gd name="T16" fmla="*/ 389 w 525"/>
                  <a:gd name="T17" fmla="*/ 253 h 505"/>
                  <a:gd name="T18" fmla="*/ 262 w 525"/>
                  <a:gd name="T19" fmla="*/ 119 h 505"/>
                  <a:gd name="T20" fmla="*/ 136 w 525"/>
                  <a:gd name="T21" fmla="*/ 251 h 505"/>
                  <a:gd name="T22" fmla="*/ 136 w 525"/>
                  <a:gd name="T23" fmla="*/ 253 h 505"/>
                  <a:gd name="T24" fmla="*/ 263 w 525"/>
                  <a:gd name="T25" fmla="*/ 387 h 505"/>
                  <a:gd name="T26" fmla="*/ 389 w 525"/>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5">
                    <a:moveTo>
                      <a:pt x="0" y="254"/>
                    </a:moveTo>
                    <a:cubicBezTo>
                      <a:pt x="0" y="253"/>
                      <a:pt x="0" y="253"/>
                      <a:pt x="0" y="253"/>
                    </a:cubicBezTo>
                    <a:cubicBezTo>
                      <a:pt x="0" y="113"/>
                      <a:pt x="112" y="0"/>
                      <a:pt x="263" y="0"/>
                    </a:cubicBezTo>
                    <a:cubicBezTo>
                      <a:pt x="414" y="0"/>
                      <a:pt x="525" y="111"/>
                      <a:pt x="525" y="251"/>
                    </a:cubicBezTo>
                    <a:cubicBezTo>
                      <a:pt x="525" y="253"/>
                      <a:pt x="525" y="253"/>
                      <a:pt x="525" y="253"/>
                    </a:cubicBezTo>
                    <a:cubicBezTo>
                      <a:pt x="525" y="392"/>
                      <a:pt x="413" y="505"/>
                      <a:pt x="262" y="505"/>
                    </a:cubicBezTo>
                    <a:cubicBezTo>
                      <a:pt x="111" y="505"/>
                      <a:pt x="0" y="394"/>
                      <a:pt x="0" y="254"/>
                    </a:cubicBezTo>
                    <a:close/>
                    <a:moveTo>
                      <a:pt x="389" y="254"/>
                    </a:moveTo>
                    <a:cubicBezTo>
                      <a:pt x="389" y="253"/>
                      <a:pt x="389" y="253"/>
                      <a:pt x="389" y="253"/>
                    </a:cubicBezTo>
                    <a:cubicBezTo>
                      <a:pt x="389" y="181"/>
                      <a:pt x="338" y="119"/>
                      <a:pt x="262" y="119"/>
                    </a:cubicBezTo>
                    <a:cubicBezTo>
                      <a:pt x="183" y="119"/>
                      <a:pt x="136" y="179"/>
                      <a:pt x="136" y="251"/>
                    </a:cubicBezTo>
                    <a:cubicBezTo>
                      <a:pt x="136" y="253"/>
                      <a:pt x="136" y="253"/>
                      <a:pt x="136" y="253"/>
                    </a:cubicBezTo>
                    <a:cubicBezTo>
                      <a:pt x="136" y="324"/>
                      <a:pt x="187" y="387"/>
                      <a:pt x="263" y="387"/>
                    </a:cubicBezTo>
                    <a:cubicBezTo>
                      <a:pt x="342" y="387"/>
                      <a:pt x="389" y="326"/>
                      <a:pt x="389"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5" name="Rectangle 18">
                <a:extLst>
                  <a:ext uri="{FF2B5EF4-FFF2-40B4-BE49-F238E27FC236}">
                    <a16:creationId xmlns:a16="http://schemas.microsoft.com/office/drawing/2014/main" id="{BB15E459-A560-CBA7-38D2-49EC0DF1798C}"/>
                  </a:ext>
                </a:extLst>
              </p:cNvPr>
              <p:cNvSpPr>
                <a:spLocks noChangeArrowheads="1"/>
              </p:cNvSpPr>
              <p:nvPr userDrawn="1"/>
            </p:nvSpPr>
            <p:spPr bwMode="auto">
              <a:xfrm>
                <a:off x="6207091" y="866312"/>
                <a:ext cx="59843" cy="28680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6" name="Freeform 19">
                <a:extLst>
                  <a:ext uri="{FF2B5EF4-FFF2-40B4-BE49-F238E27FC236}">
                    <a16:creationId xmlns:a16="http://schemas.microsoft.com/office/drawing/2014/main" id="{A894E637-6612-023A-5D26-292EB224BB2E}"/>
                  </a:ext>
                </a:extLst>
              </p:cNvPr>
              <p:cNvSpPr>
                <a:spLocks noEditPoints="1"/>
              </p:cNvSpPr>
              <p:nvPr userDrawn="1"/>
            </p:nvSpPr>
            <p:spPr bwMode="auto">
              <a:xfrm>
                <a:off x="6278460" y="938123"/>
                <a:ext cx="228732" cy="219867"/>
              </a:xfrm>
              <a:custGeom>
                <a:avLst/>
                <a:gdLst>
                  <a:gd name="T0" fmla="*/ 0 w 526"/>
                  <a:gd name="T1" fmla="*/ 254 h 505"/>
                  <a:gd name="T2" fmla="*/ 0 w 526"/>
                  <a:gd name="T3" fmla="*/ 253 h 505"/>
                  <a:gd name="T4" fmla="*/ 264 w 526"/>
                  <a:gd name="T5" fmla="*/ 0 h 505"/>
                  <a:gd name="T6" fmla="*/ 526 w 526"/>
                  <a:gd name="T7" fmla="*/ 251 h 505"/>
                  <a:gd name="T8" fmla="*/ 526 w 526"/>
                  <a:gd name="T9" fmla="*/ 253 h 505"/>
                  <a:gd name="T10" fmla="*/ 262 w 526"/>
                  <a:gd name="T11" fmla="*/ 505 h 505"/>
                  <a:gd name="T12" fmla="*/ 0 w 526"/>
                  <a:gd name="T13" fmla="*/ 254 h 505"/>
                  <a:gd name="T14" fmla="*/ 390 w 526"/>
                  <a:gd name="T15" fmla="*/ 254 h 505"/>
                  <a:gd name="T16" fmla="*/ 390 w 526"/>
                  <a:gd name="T17" fmla="*/ 253 h 505"/>
                  <a:gd name="T18" fmla="*/ 262 w 526"/>
                  <a:gd name="T19" fmla="*/ 119 h 505"/>
                  <a:gd name="T20" fmla="*/ 136 w 526"/>
                  <a:gd name="T21" fmla="*/ 251 h 505"/>
                  <a:gd name="T22" fmla="*/ 136 w 526"/>
                  <a:gd name="T23" fmla="*/ 253 h 505"/>
                  <a:gd name="T24" fmla="*/ 264 w 526"/>
                  <a:gd name="T25" fmla="*/ 387 h 505"/>
                  <a:gd name="T26" fmla="*/ 390 w 526"/>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505">
                    <a:moveTo>
                      <a:pt x="0" y="254"/>
                    </a:moveTo>
                    <a:cubicBezTo>
                      <a:pt x="0" y="253"/>
                      <a:pt x="0" y="253"/>
                      <a:pt x="0" y="253"/>
                    </a:cubicBezTo>
                    <a:cubicBezTo>
                      <a:pt x="0" y="113"/>
                      <a:pt x="113" y="0"/>
                      <a:pt x="264" y="0"/>
                    </a:cubicBezTo>
                    <a:cubicBezTo>
                      <a:pt x="414" y="0"/>
                      <a:pt x="526" y="111"/>
                      <a:pt x="526" y="251"/>
                    </a:cubicBezTo>
                    <a:cubicBezTo>
                      <a:pt x="526" y="253"/>
                      <a:pt x="526" y="253"/>
                      <a:pt x="526" y="253"/>
                    </a:cubicBezTo>
                    <a:cubicBezTo>
                      <a:pt x="526" y="392"/>
                      <a:pt x="413" y="505"/>
                      <a:pt x="262" y="505"/>
                    </a:cubicBezTo>
                    <a:cubicBezTo>
                      <a:pt x="112" y="505"/>
                      <a:pt x="0" y="394"/>
                      <a:pt x="0" y="254"/>
                    </a:cubicBezTo>
                    <a:close/>
                    <a:moveTo>
                      <a:pt x="390" y="254"/>
                    </a:moveTo>
                    <a:cubicBezTo>
                      <a:pt x="390" y="253"/>
                      <a:pt x="390" y="253"/>
                      <a:pt x="390" y="253"/>
                    </a:cubicBezTo>
                    <a:cubicBezTo>
                      <a:pt x="390" y="181"/>
                      <a:pt x="338" y="119"/>
                      <a:pt x="262" y="119"/>
                    </a:cubicBezTo>
                    <a:cubicBezTo>
                      <a:pt x="183" y="119"/>
                      <a:pt x="136" y="179"/>
                      <a:pt x="136" y="251"/>
                    </a:cubicBezTo>
                    <a:cubicBezTo>
                      <a:pt x="136" y="253"/>
                      <a:pt x="136" y="253"/>
                      <a:pt x="136" y="253"/>
                    </a:cubicBezTo>
                    <a:cubicBezTo>
                      <a:pt x="136" y="324"/>
                      <a:pt x="188" y="387"/>
                      <a:pt x="264" y="387"/>
                    </a:cubicBezTo>
                    <a:cubicBezTo>
                      <a:pt x="343" y="387"/>
                      <a:pt x="390" y="326"/>
                      <a:pt x="39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7" name="Freeform 20">
                <a:extLst>
                  <a:ext uri="{FF2B5EF4-FFF2-40B4-BE49-F238E27FC236}">
                    <a16:creationId xmlns:a16="http://schemas.microsoft.com/office/drawing/2014/main" id="{C612BEEF-FFCF-00C7-83E8-3D6CD89DD8B2}"/>
                  </a:ext>
                </a:extLst>
              </p:cNvPr>
              <p:cNvSpPr>
                <a:spLocks noEditPoints="1"/>
              </p:cNvSpPr>
              <p:nvPr userDrawn="1"/>
            </p:nvSpPr>
            <p:spPr bwMode="auto">
              <a:xfrm>
                <a:off x="6516057" y="938123"/>
                <a:ext cx="221197" cy="278823"/>
              </a:xfrm>
              <a:custGeom>
                <a:avLst/>
                <a:gdLst>
                  <a:gd name="T0" fmla="*/ 24 w 509"/>
                  <a:gd name="T1" fmla="*/ 590 h 641"/>
                  <a:gd name="T2" fmla="*/ 71 w 509"/>
                  <a:gd name="T3" fmla="*/ 487 h 641"/>
                  <a:gd name="T4" fmla="*/ 235 w 509"/>
                  <a:gd name="T5" fmla="*/ 531 h 641"/>
                  <a:gd name="T6" fmla="*/ 373 w 509"/>
                  <a:gd name="T7" fmla="*/ 399 h 641"/>
                  <a:gd name="T8" fmla="*/ 373 w 509"/>
                  <a:gd name="T9" fmla="*/ 376 h 641"/>
                  <a:gd name="T10" fmla="*/ 215 w 509"/>
                  <a:gd name="T11" fmla="*/ 454 h 641"/>
                  <a:gd name="T12" fmla="*/ 0 w 509"/>
                  <a:gd name="T13" fmla="*/ 228 h 641"/>
                  <a:gd name="T14" fmla="*/ 0 w 509"/>
                  <a:gd name="T15" fmla="*/ 226 h 641"/>
                  <a:gd name="T16" fmla="*/ 215 w 509"/>
                  <a:gd name="T17" fmla="*/ 0 h 641"/>
                  <a:gd name="T18" fmla="*/ 372 w 509"/>
                  <a:gd name="T19" fmla="*/ 72 h 641"/>
                  <a:gd name="T20" fmla="*/ 372 w 509"/>
                  <a:gd name="T21" fmla="*/ 9 h 641"/>
                  <a:gd name="T22" fmla="*/ 509 w 509"/>
                  <a:gd name="T23" fmla="*/ 9 h 641"/>
                  <a:gd name="T24" fmla="*/ 509 w 509"/>
                  <a:gd name="T25" fmla="*/ 385 h 641"/>
                  <a:gd name="T26" fmla="*/ 448 w 509"/>
                  <a:gd name="T27" fmla="*/ 576 h 641"/>
                  <a:gd name="T28" fmla="*/ 239 w 509"/>
                  <a:gd name="T29" fmla="*/ 641 h 641"/>
                  <a:gd name="T30" fmla="*/ 24 w 509"/>
                  <a:gd name="T31" fmla="*/ 590 h 641"/>
                  <a:gd name="T32" fmla="*/ 373 w 509"/>
                  <a:gd name="T33" fmla="*/ 228 h 641"/>
                  <a:gd name="T34" fmla="*/ 373 w 509"/>
                  <a:gd name="T35" fmla="*/ 226 h 641"/>
                  <a:gd name="T36" fmla="*/ 255 w 509"/>
                  <a:gd name="T37" fmla="*/ 114 h 641"/>
                  <a:gd name="T38" fmla="*/ 137 w 509"/>
                  <a:gd name="T39" fmla="*/ 226 h 641"/>
                  <a:gd name="T40" fmla="*/ 137 w 509"/>
                  <a:gd name="T41" fmla="*/ 228 h 641"/>
                  <a:gd name="T42" fmla="*/ 255 w 509"/>
                  <a:gd name="T43" fmla="*/ 340 h 641"/>
                  <a:gd name="T44" fmla="*/ 373 w 509"/>
                  <a:gd name="T45" fmla="*/ 228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9" h="641">
                    <a:moveTo>
                      <a:pt x="24" y="590"/>
                    </a:moveTo>
                    <a:cubicBezTo>
                      <a:pt x="71" y="487"/>
                      <a:pt x="71" y="487"/>
                      <a:pt x="71" y="487"/>
                    </a:cubicBezTo>
                    <a:cubicBezTo>
                      <a:pt x="121" y="515"/>
                      <a:pt x="171" y="531"/>
                      <a:pt x="235" y="531"/>
                    </a:cubicBezTo>
                    <a:cubicBezTo>
                      <a:pt x="329" y="531"/>
                      <a:pt x="373" y="486"/>
                      <a:pt x="373" y="399"/>
                    </a:cubicBezTo>
                    <a:cubicBezTo>
                      <a:pt x="373" y="376"/>
                      <a:pt x="373" y="376"/>
                      <a:pt x="373" y="376"/>
                    </a:cubicBezTo>
                    <a:cubicBezTo>
                      <a:pt x="333" y="425"/>
                      <a:pt x="288" y="454"/>
                      <a:pt x="215" y="454"/>
                    </a:cubicBezTo>
                    <a:cubicBezTo>
                      <a:pt x="102" y="454"/>
                      <a:pt x="0" y="372"/>
                      <a:pt x="0" y="228"/>
                    </a:cubicBezTo>
                    <a:cubicBezTo>
                      <a:pt x="0" y="226"/>
                      <a:pt x="0" y="226"/>
                      <a:pt x="0" y="226"/>
                    </a:cubicBezTo>
                    <a:cubicBezTo>
                      <a:pt x="0" y="82"/>
                      <a:pt x="104" y="0"/>
                      <a:pt x="215" y="0"/>
                    </a:cubicBezTo>
                    <a:cubicBezTo>
                      <a:pt x="290" y="0"/>
                      <a:pt x="334" y="32"/>
                      <a:pt x="372" y="72"/>
                    </a:cubicBezTo>
                    <a:cubicBezTo>
                      <a:pt x="372" y="9"/>
                      <a:pt x="372" y="9"/>
                      <a:pt x="372" y="9"/>
                    </a:cubicBezTo>
                    <a:cubicBezTo>
                      <a:pt x="509" y="9"/>
                      <a:pt x="509" y="9"/>
                      <a:pt x="509" y="9"/>
                    </a:cubicBezTo>
                    <a:cubicBezTo>
                      <a:pt x="509" y="385"/>
                      <a:pt x="509" y="385"/>
                      <a:pt x="509" y="385"/>
                    </a:cubicBezTo>
                    <a:cubicBezTo>
                      <a:pt x="509" y="472"/>
                      <a:pt x="488" y="535"/>
                      <a:pt x="448" y="576"/>
                    </a:cubicBezTo>
                    <a:cubicBezTo>
                      <a:pt x="402" y="621"/>
                      <a:pt x="333" y="641"/>
                      <a:pt x="239" y="641"/>
                    </a:cubicBezTo>
                    <a:cubicBezTo>
                      <a:pt x="160" y="641"/>
                      <a:pt x="86" y="623"/>
                      <a:pt x="24" y="590"/>
                    </a:cubicBezTo>
                    <a:close/>
                    <a:moveTo>
                      <a:pt x="373" y="228"/>
                    </a:moveTo>
                    <a:cubicBezTo>
                      <a:pt x="373" y="226"/>
                      <a:pt x="373" y="226"/>
                      <a:pt x="373" y="226"/>
                    </a:cubicBezTo>
                    <a:cubicBezTo>
                      <a:pt x="373" y="160"/>
                      <a:pt x="322" y="114"/>
                      <a:pt x="255" y="114"/>
                    </a:cubicBezTo>
                    <a:cubicBezTo>
                      <a:pt x="188" y="114"/>
                      <a:pt x="137" y="160"/>
                      <a:pt x="137" y="226"/>
                    </a:cubicBezTo>
                    <a:cubicBezTo>
                      <a:pt x="137" y="228"/>
                      <a:pt x="137" y="228"/>
                      <a:pt x="137" y="228"/>
                    </a:cubicBezTo>
                    <a:cubicBezTo>
                      <a:pt x="137" y="295"/>
                      <a:pt x="188" y="340"/>
                      <a:pt x="255" y="340"/>
                    </a:cubicBezTo>
                    <a:cubicBezTo>
                      <a:pt x="322" y="340"/>
                      <a:pt x="373" y="294"/>
                      <a:pt x="373"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8" name="Freeform 21">
                <a:extLst>
                  <a:ext uri="{FF2B5EF4-FFF2-40B4-BE49-F238E27FC236}">
                    <a16:creationId xmlns:a16="http://schemas.microsoft.com/office/drawing/2014/main" id="{535443A8-F420-58B0-6940-C7217CB7D304}"/>
                  </a:ext>
                </a:extLst>
              </p:cNvPr>
              <p:cNvSpPr>
                <a:spLocks/>
              </p:cNvSpPr>
              <p:nvPr userDrawn="1"/>
            </p:nvSpPr>
            <p:spPr bwMode="auto">
              <a:xfrm>
                <a:off x="6747450" y="942113"/>
                <a:ext cx="219424" cy="275277"/>
              </a:xfrm>
              <a:custGeom>
                <a:avLst/>
                <a:gdLst>
                  <a:gd name="T0" fmla="*/ 362 w 505"/>
                  <a:gd name="T1" fmla="*/ 0 h 633"/>
                  <a:gd name="T2" fmla="*/ 505 w 505"/>
                  <a:gd name="T3" fmla="*/ 0 h 633"/>
                  <a:gd name="T4" fmla="*/ 319 w 505"/>
                  <a:gd name="T5" fmla="*/ 497 h 633"/>
                  <a:gd name="T6" fmla="*/ 159 w 505"/>
                  <a:gd name="T7" fmla="*/ 633 h 633"/>
                  <a:gd name="T8" fmla="*/ 37 w 505"/>
                  <a:gd name="T9" fmla="*/ 599 h 633"/>
                  <a:gd name="T10" fmla="*/ 83 w 505"/>
                  <a:gd name="T11" fmla="*/ 500 h 633"/>
                  <a:gd name="T12" fmla="*/ 142 w 505"/>
                  <a:gd name="T13" fmla="*/ 519 h 633"/>
                  <a:gd name="T14" fmla="*/ 190 w 505"/>
                  <a:gd name="T15" fmla="*/ 487 h 633"/>
                  <a:gd name="T16" fmla="*/ 0 w 505"/>
                  <a:gd name="T17" fmla="*/ 0 h 633"/>
                  <a:gd name="T18" fmla="*/ 146 w 505"/>
                  <a:gd name="T19" fmla="*/ 0 h 633"/>
                  <a:gd name="T20" fmla="*/ 256 w 505"/>
                  <a:gd name="T21" fmla="*/ 331 h 633"/>
                  <a:gd name="T22" fmla="*/ 362 w 505"/>
                  <a:gd name="T23"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633">
                    <a:moveTo>
                      <a:pt x="362" y="0"/>
                    </a:moveTo>
                    <a:cubicBezTo>
                      <a:pt x="505" y="0"/>
                      <a:pt x="505" y="0"/>
                      <a:pt x="505" y="0"/>
                    </a:cubicBezTo>
                    <a:cubicBezTo>
                      <a:pt x="319" y="497"/>
                      <a:pt x="319" y="497"/>
                      <a:pt x="319" y="497"/>
                    </a:cubicBezTo>
                    <a:cubicBezTo>
                      <a:pt x="282" y="596"/>
                      <a:pt x="242" y="633"/>
                      <a:pt x="159" y="633"/>
                    </a:cubicBezTo>
                    <a:cubicBezTo>
                      <a:pt x="110" y="633"/>
                      <a:pt x="73" y="620"/>
                      <a:pt x="37" y="599"/>
                    </a:cubicBezTo>
                    <a:cubicBezTo>
                      <a:pt x="83" y="500"/>
                      <a:pt x="83" y="500"/>
                      <a:pt x="83" y="500"/>
                    </a:cubicBezTo>
                    <a:cubicBezTo>
                      <a:pt x="101" y="511"/>
                      <a:pt x="124" y="519"/>
                      <a:pt x="142" y="519"/>
                    </a:cubicBezTo>
                    <a:cubicBezTo>
                      <a:pt x="166" y="519"/>
                      <a:pt x="178" y="512"/>
                      <a:pt x="190" y="487"/>
                    </a:cubicBezTo>
                    <a:cubicBezTo>
                      <a:pt x="0" y="0"/>
                      <a:pt x="0" y="0"/>
                      <a:pt x="0" y="0"/>
                    </a:cubicBezTo>
                    <a:cubicBezTo>
                      <a:pt x="146" y="0"/>
                      <a:pt x="146" y="0"/>
                      <a:pt x="146" y="0"/>
                    </a:cubicBezTo>
                    <a:cubicBezTo>
                      <a:pt x="256" y="331"/>
                      <a:pt x="256" y="331"/>
                      <a:pt x="256" y="331"/>
                    </a:cubicBezTo>
                    <a:lnTo>
                      <a:pt x="3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9" name="Freeform 22">
                <a:extLst>
                  <a:ext uri="{FF2B5EF4-FFF2-40B4-BE49-F238E27FC236}">
                    <a16:creationId xmlns:a16="http://schemas.microsoft.com/office/drawing/2014/main" id="{D577C4C5-162A-509E-0F90-2D9CF5560B46}"/>
                  </a:ext>
                </a:extLst>
              </p:cNvPr>
              <p:cNvSpPr>
                <a:spLocks/>
              </p:cNvSpPr>
              <p:nvPr userDrawn="1"/>
            </p:nvSpPr>
            <p:spPr bwMode="auto">
              <a:xfrm>
                <a:off x="6005842" y="1258171"/>
                <a:ext cx="132541" cy="290348"/>
              </a:xfrm>
              <a:custGeom>
                <a:avLst/>
                <a:gdLst>
                  <a:gd name="T0" fmla="*/ 57 w 305"/>
                  <a:gd name="T1" fmla="*/ 299 h 667"/>
                  <a:gd name="T2" fmla="*/ 0 w 305"/>
                  <a:gd name="T3" fmla="*/ 299 h 667"/>
                  <a:gd name="T4" fmla="*/ 0 w 305"/>
                  <a:gd name="T5" fmla="*/ 186 h 667"/>
                  <a:gd name="T6" fmla="*/ 57 w 305"/>
                  <a:gd name="T7" fmla="*/ 186 h 667"/>
                  <a:gd name="T8" fmla="*/ 57 w 305"/>
                  <a:gd name="T9" fmla="*/ 155 h 667"/>
                  <a:gd name="T10" fmla="*/ 96 w 305"/>
                  <a:gd name="T11" fmla="*/ 38 h 667"/>
                  <a:gd name="T12" fmla="*/ 208 w 305"/>
                  <a:gd name="T13" fmla="*/ 0 h 667"/>
                  <a:gd name="T14" fmla="*/ 305 w 305"/>
                  <a:gd name="T15" fmla="*/ 13 h 667"/>
                  <a:gd name="T16" fmla="*/ 305 w 305"/>
                  <a:gd name="T17" fmla="*/ 127 h 667"/>
                  <a:gd name="T18" fmla="*/ 243 w 305"/>
                  <a:gd name="T19" fmla="*/ 115 h 667"/>
                  <a:gd name="T20" fmla="*/ 193 w 305"/>
                  <a:gd name="T21" fmla="*/ 168 h 667"/>
                  <a:gd name="T22" fmla="*/ 193 w 305"/>
                  <a:gd name="T23" fmla="*/ 187 h 667"/>
                  <a:gd name="T24" fmla="*/ 305 w 305"/>
                  <a:gd name="T25" fmla="*/ 187 h 667"/>
                  <a:gd name="T26" fmla="*/ 305 w 305"/>
                  <a:gd name="T27" fmla="*/ 299 h 667"/>
                  <a:gd name="T28" fmla="*/ 195 w 305"/>
                  <a:gd name="T29" fmla="*/ 299 h 667"/>
                  <a:gd name="T30" fmla="*/ 195 w 305"/>
                  <a:gd name="T31" fmla="*/ 667 h 667"/>
                  <a:gd name="T32" fmla="*/ 57 w 305"/>
                  <a:gd name="T33" fmla="*/ 667 h 667"/>
                  <a:gd name="T34" fmla="*/ 57 w 305"/>
                  <a:gd name="T35" fmla="*/ 29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667">
                    <a:moveTo>
                      <a:pt x="57" y="299"/>
                    </a:moveTo>
                    <a:cubicBezTo>
                      <a:pt x="0" y="299"/>
                      <a:pt x="0" y="299"/>
                      <a:pt x="0" y="299"/>
                    </a:cubicBezTo>
                    <a:cubicBezTo>
                      <a:pt x="0" y="186"/>
                      <a:pt x="0" y="186"/>
                      <a:pt x="0" y="186"/>
                    </a:cubicBezTo>
                    <a:cubicBezTo>
                      <a:pt x="57" y="186"/>
                      <a:pt x="57" y="186"/>
                      <a:pt x="57" y="186"/>
                    </a:cubicBezTo>
                    <a:cubicBezTo>
                      <a:pt x="57" y="155"/>
                      <a:pt x="57" y="155"/>
                      <a:pt x="57" y="155"/>
                    </a:cubicBezTo>
                    <a:cubicBezTo>
                      <a:pt x="57" y="102"/>
                      <a:pt x="71" y="63"/>
                      <a:pt x="96" y="38"/>
                    </a:cubicBezTo>
                    <a:cubicBezTo>
                      <a:pt x="122" y="12"/>
                      <a:pt x="159" y="0"/>
                      <a:pt x="208" y="0"/>
                    </a:cubicBezTo>
                    <a:cubicBezTo>
                      <a:pt x="251" y="0"/>
                      <a:pt x="280" y="5"/>
                      <a:pt x="305" y="13"/>
                    </a:cubicBezTo>
                    <a:cubicBezTo>
                      <a:pt x="305" y="127"/>
                      <a:pt x="305" y="127"/>
                      <a:pt x="305" y="127"/>
                    </a:cubicBezTo>
                    <a:cubicBezTo>
                      <a:pt x="286" y="120"/>
                      <a:pt x="267" y="115"/>
                      <a:pt x="243" y="115"/>
                    </a:cubicBezTo>
                    <a:cubicBezTo>
                      <a:pt x="211" y="115"/>
                      <a:pt x="193" y="132"/>
                      <a:pt x="193" y="168"/>
                    </a:cubicBezTo>
                    <a:cubicBezTo>
                      <a:pt x="193" y="187"/>
                      <a:pt x="193" y="187"/>
                      <a:pt x="193" y="187"/>
                    </a:cubicBezTo>
                    <a:cubicBezTo>
                      <a:pt x="305" y="187"/>
                      <a:pt x="305" y="187"/>
                      <a:pt x="305" y="187"/>
                    </a:cubicBezTo>
                    <a:cubicBezTo>
                      <a:pt x="305" y="299"/>
                      <a:pt x="305" y="299"/>
                      <a:pt x="305" y="299"/>
                    </a:cubicBezTo>
                    <a:cubicBezTo>
                      <a:pt x="195" y="299"/>
                      <a:pt x="195" y="299"/>
                      <a:pt x="195" y="299"/>
                    </a:cubicBezTo>
                    <a:cubicBezTo>
                      <a:pt x="195" y="667"/>
                      <a:pt x="195" y="667"/>
                      <a:pt x="195" y="667"/>
                    </a:cubicBezTo>
                    <a:cubicBezTo>
                      <a:pt x="57" y="667"/>
                      <a:pt x="57" y="667"/>
                      <a:pt x="57" y="667"/>
                    </a:cubicBezTo>
                    <a:lnTo>
                      <a:pt x="57"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0" name="Freeform 23">
                <a:extLst>
                  <a:ext uri="{FF2B5EF4-FFF2-40B4-BE49-F238E27FC236}">
                    <a16:creationId xmlns:a16="http://schemas.microsoft.com/office/drawing/2014/main" id="{9CB671CE-477D-F1B3-6894-F85448189A99}"/>
                  </a:ext>
                </a:extLst>
              </p:cNvPr>
              <p:cNvSpPr>
                <a:spLocks noEditPoints="1"/>
              </p:cNvSpPr>
              <p:nvPr userDrawn="1"/>
            </p:nvSpPr>
            <p:spPr bwMode="auto">
              <a:xfrm>
                <a:off x="6137497" y="1333086"/>
                <a:ext cx="228289" cy="219867"/>
              </a:xfrm>
              <a:custGeom>
                <a:avLst/>
                <a:gdLst>
                  <a:gd name="T0" fmla="*/ 0 w 525"/>
                  <a:gd name="T1" fmla="*/ 255 h 506"/>
                  <a:gd name="T2" fmla="*/ 0 w 525"/>
                  <a:gd name="T3" fmla="*/ 253 h 506"/>
                  <a:gd name="T4" fmla="*/ 263 w 525"/>
                  <a:gd name="T5" fmla="*/ 0 h 506"/>
                  <a:gd name="T6" fmla="*/ 525 w 525"/>
                  <a:gd name="T7" fmla="*/ 251 h 506"/>
                  <a:gd name="T8" fmla="*/ 525 w 525"/>
                  <a:gd name="T9" fmla="*/ 253 h 506"/>
                  <a:gd name="T10" fmla="*/ 261 w 525"/>
                  <a:gd name="T11" fmla="*/ 506 h 506"/>
                  <a:gd name="T12" fmla="*/ 0 w 525"/>
                  <a:gd name="T13" fmla="*/ 255 h 506"/>
                  <a:gd name="T14" fmla="*/ 389 w 525"/>
                  <a:gd name="T15" fmla="*/ 255 h 506"/>
                  <a:gd name="T16" fmla="*/ 389 w 525"/>
                  <a:gd name="T17" fmla="*/ 253 h 506"/>
                  <a:gd name="T18" fmla="*/ 261 w 525"/>
                  <a:gd name="T19" fmla="*/ 119 h 506"/>
                  <a:gd name="T20" fmla="*/ 135 w 525"/>
                  <a:gd name="T21" fmla="*/ 251 h 506"/>
                  <a:gd name="T22" fmla="*/ 135 w 525"/>
                  <a:gd name="T23" fmla="*/ 253 h 506"/>
                  <a:gd name="T24" fmla="*/ 263 w 525"/>
                  <a:gd name="T25" fmla="*/ 387 h 506"/>
                  <a:gd name="T26" fmla="*/ 389 w 525"/>
                  <a:gd name="T27" fmla="*/ 25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6">
                    <a:moveTo>
                      <a:pt x="0" y="255"/>
                    </a:moveTo>
                    <a:cubicBezTo>
                      <a:pt x="0" y="253"/>
                      <a:pt x="0" y="253"/>
                      <a:pt x="0" y="253"/>
                    </a:cubicBezTo>
                    <a:cubicBezTo>
                      <a:pt x="0" y="114"/>
                      <a:pt x="112" y="0"/>
                      <a:pt x="263" y="0"/>
                    </a:cubicBezTo>
                    <a:cubicBezTo>
                      <a:pt x="413" y="0"/>
                      <a:pt x="525" y="112"/>
                      <a:pt x="525" y="251"/>
                    </a:cubicBezTo>
                    <a:cubicBezTo>
                      <a:pt x="525" y="253"/>
                      <a:pt x="525" y="253"/>
                      <a:pt x="525" y="253"/>
                    </a:cubicBezTo>
                    <a:cubicBezTo>
                      <a:pt x="525" y="392"/>
                      <a:pt x="412" y="506"/>
                      <a:pt x="261" y="506"/>
                    </a:cubicBezTo>
                    <a:cubicBezTo>
                      <a:pt x="111" y="506"/>
                      <a:pt x="0" y="394"/>
                      <a:pt x="0" y="255"/>
                    </a:cubicBezTo>
                    <a:close/>
                    <a:moveTo>
                      <a:pt x="389" y="255"/>
                    </a:moveTo>
                    <a:cubicBezTo>
                      <a:pt x="389" y="253"/>
                      <a:pt x="389" y="253"/>
                      <a:pt x="389" y="253"/>
                    </a:cubicBezTo>
                    <a:cubicBezTo>
                      <a:pt x="389" y="182"/>
                      <a:pt x="337" y="119"/>
                      <a:pt x="261" y="119"/>
                    </a:cubicBezTo>
                    <a:cubicBezTo>
                      <a:pt x="183" y="119"/>
                      <a:pt x="135" y="180"/>
                      <a:pt x="135" y="251"/>
                    </a:cubicBezTo>
                    <a:cubicBezTo>
                      <a:pt x="135" y="253"/>
                      <a:pt x="135" y="253"/>
                      <a:pt x="135" y="253"/>
                    </a:cubicBezTo>
                    <a:cubicBezTo>
                      <a:pt x="135" y="325"/>
                      <a:pt x="187" y="387"/>
                      <a:pt x="263" y="387"/>
                    </a:cubicBezTo>
                    <a:cubicBezTo>
                      <a:pt x="342" y="387"/>
                      <a:pt x="389" y="326"/>
                      <a:pt x="389"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1" name="Freeform 24">
                <a:extLst>
                  <a:ext uri="{FF2B5EF4-FFF2-40B4-BE49-F238E27FC236}">
                    <a16:creationId xmlns:a16="http://schemas.microsoft.com/office/drawing/2014/main" id="{2D545142-881D-002A-830D-2B1960B7F79A}"/>
                  </a:ext>
                </a:extLst>
              </p:cNvPr>
              <p:cNvSpPr>
                <a:spLocks/>
              </p:cNvSpPr>
              <p:nvPr userDrawn="1"/>
            </p:nvSpPr>
            <p:spPr bwMode="auto">
              <a:xfrm>
                <a:off x="6379084" y="1331756"/>
                <a:ext cx="127665" cy="216764"/>
              </a:xfrm>
              <a:custGeom>
                <a:avLst/>
                <a:gdLst>
                  <a:gd name="T0" fmla="*/ 0 w 293"/>
                  <a:gd name="T1" fmla="*/ 13 h 498"/>
                  <a:gd name="T2" fmla="*/ 138 w 293"/>
                  <a:gd name="T3" fmla="*/ 13 h 498"/>
                  <a:gd name="T4" fmla="*/ 138 w 293"/>
                  <a:gd name="T5" fmla="*/ 110 h 498"/>
                  <a:gd name="T6" fmla="*/ 293 w 293"/>
                  <a:gd name="T7" fmla="*/ 3 h 498"/>
                  <a:gd name="T8" fmla="*/ 293 w 293"/>
                  <a:gd name="T9" fmla="*/ 147 h 498"/>
                  <a:gd name="T10" fmla="*/ 286 w 293"/>
                  <a:gd name="T11" fmla="*/ 147 h 498"/>
                  <a:gd name="T12" fmla="*/ 138 w 293"/>
                  <a:gd name="T13" fmla="*/ 318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0"/>
                      <a:pt x="138" y="110"/>
                      <a:pt x="138" y="110"/>
                    </a:cubicBezTo>
                    <a:cubicBezTo>
                      <a:pt x="166" y="43"/>
                      <a:pt x="211" y="0"/>
                      <a:pt x="293" y="3"/>
                    </a:cubicBezTo>
                    <a:cubicBezTo>
                      <a:pt x="293" y="147"/>
                      <a:pt x="293" y="147"/>
                      <a:pt x="293" y="147"/>
                    </a:cubicBezTo>
                    <a:cubicBezTo>
                      <a:pt x="286" y="147"/>
                      <a:pt x="286" y="147"/>
                      <a:pt x="286" y="147"/>
                    </a:cubicBezTo>
                    <a:cubicBezTo>
                      <a:pt x="194" y="147"/>
                      <a:pt x="138" y="203"/>
                      <a:pt x="138" y="318"/>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2" name="Freeform 25">
                <a:extLst>
                  <a:ext uri="{FF2B5EF4-FFF2-40B4-BE49-F238E27FC236}">
                    <a16:creationId xmlns:a16="http://schemas.microsoft.com/office/drawing/2014/main" id="{5C959273-267C-8CBA-996C-EC8514CCD7D2}"/>
                  </a:ext>
                </a:extLst>
              </p:cNvPr>
              <p:cNvSpPr>
                <a:spLocks noEditPoints="1"/>
              </p:cNvSpPr>
              <p:nvPr userDrawn="1"/>
            </p:nvSpPr>
            <p:spPr bwMode="auto">
              <a:xfrm>
                <a:off x="6582993" y="1334859"/>
                <a:ext cx="194157" cy="217207"/>
              </a:xfrm>
              <a:custGeom>
                <a:avLst/>
                <a:gdLst>
                  <a:gd name="T0" fmla="*/ 0 w 446"/>
                  <a:gd name="T1" fmla="*/ 351 h 500"/>
                  <a:gd name="T2" fmla="*/ 0 w 446"/>
                  <a:gd name="T3" fmla="*/ 349 h 500"/>
                  <a:gd name="T4" fmla="*/ 195 w 446"/>
                  <a:gd name="T5" fmla="*/ 195 h 500"/>
                  <a:gd name="T6" fmla="*/ 314 w 446"/>
                  <a:gd name="T7" fmla="*/ 215 h 500"/>
                  <a:gd name="T8" fmla="*/ 314 w 446"/>
                  <a:gd name="T9" fmla="*/ 206 h 500"/>
                  <a:gd name="T10" fmla="*/ 210 w 446"/>
                  <a:gd name="T11" fmla="*/ 118 h 500"/>
                  <a:gd name="T12" fmla="*/ 76 w 446"/>
                  <a:gd name="T13" fmla="*/ 144 h 500"/>
                  <a:gd name="T14" fmla="*/ 42 w 446"/>
                  <a:gd name="T15" fmla="*/ 39 h 500"/>
                  <a:gd name="T16" fmla="*/ 230 w 446"/>
                  <a:gd name="T17" fmla="*/ 0 h 500"/>
                  <a:gd name="T18" fmla="*/ 394 w 446"/>
                  <a:gd name="T19" fmla="*/ 54 h 500"/>
                  <a:gd name="T20" fmla="*/ 446 w 446"/>
                  <a:gd name="T21" fmla="*/ 209 h 500"/>
                  <a:gd name="T22" fmla="*/ 446 w 446"/>
                  <a:gd name="T23" fmla="*/ 491 h 500"/>
                  <a:gd name="T24" fmla="*/ 313 w 446"/>
                  <a:gd name="T25" fmla="*/ 491 h 500"/>
                  <a:gd name="T26" fmla="*/ 313 w 446"/>
                  <a:gd name="T27" fmla="*/ 438 h 500"/>
                  <a:gd name="T28" fmla="*/ 167 w 446"/>
                  <a:gd name="T29" fmla="*/ 500 h 500"/>
                  <a:gd name="T30" fmla="*/ 0 w 446"/>
                  <a:gd name="T31" fmla="*/ 351 h 500"/>
                  <a:gd name="T32" fmla="*/ 316 w 446"/>
                  <a:gd name="T33" fmla="*/ 320 h 500"/>
                  <a:gd name="T34" fmla="*/ 316 w 446"/>
                  <a:gd name="T35" fmla="*/ 295 h 500"/>
                  <a:gd name="T36" fmla="*/ 228 w 446"/>
                  <a:gd name="T37" fmla="*/ 277 h 500"/>
                  <a:gd name="T38" fmla="*/ 133 w 446"/>
                  <a:gd name="T39" fmla="*/ 344 h 500"/>
                  <a:gd name="T40" fmla="*/ 133 w 446"/>
                  <a:gd name="T41" fmla="*/ 346 h 500"/>
                  <a:gd name="T42" fmla="*/ 208 w 446"/>
                  <a:gd name="T43" fmla="*/ 405 h 500"/>
                  <a:gd name="T44" fmla="*/ 316 w 446"/>
                  <a:gd name="T45" fmla="*/ 32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500">
                    <a:moveTo>
                      <a:pt x="0" y="351"/>
                    </a:moveTo>
                    <a:cubicBezTo>
                      <a:pt x="0" y="349"/>
                      <a:pt x="0" y="349"/>
                      <a:pt x="0" y="349"/>
                    </a:cubicBezTo>
                    <a:cubicBezTo>
                      <a:pt x="0" y="244"/>
                      <a:pt x="81" y="195"/>
                      <a:pt x="195" y="195"/>
                    </a:cubicBezTo>
                    <a:cubicBezTo>
                      <a:pt x="244" y="195"/>
                      <a:pt x="280" y="203"/>
                      <a:pt x="314" y="215"/>
                    </a:cubicBezTo>
                    <a:cubicBezTo>
                      <a:pt x="314" y="206"/>
                      <a:pt x="314" y="206"/>
                      <a:pt x="314" y="206"/>
                    </a:cubicBezTo>
                    <a:cubicBezTo>
                      <a:pt x="314" y="149"/>
                      <a:pt x="279" y="118"/>
                      <a:pt x="210" y="118"/>
                    </a:cubicBezTo>
                    <a:cubicBezTo>
                      <a:pt x="157" y="118"/>
                      <a:pt x="120" y="128"/>
                      <a:pt x="76" y="144"/>
                    </a:cubicBezTo>
                    <a:cubicBezTo>
                      <a:pt x="42" y="39"/>
                      <a:pt x="42" y="39"/>
                      <a:pt x="42" y="39"/>
                    </a:cubicBezTo>
                    <a:cubicBezTo>
                      <a:pt x="95" y="15"/>
                      <a:pt x="148" y="0"/>
                      <a:pt x="230" y="0"/>
                    </a:cubicBezTo>
                    <a:cubicBezTo>
                      <a:pt x="305" y="0"/>
                      <a:pt x="359" y="20"/>
                      <a:pt x="394" y="54"/>
                    </a:cubicBezTo>
                    <a:cubicBezTo>
                      <a:pt x="430" y="91"/>
                      <a:pt x="446" y="144"/>
                      <a:pt x="446" y="209"/>
                    </a:cubicBezTo>
                    <a:cubicBezTo>
                      <a:pt x="446" y="491"/>
                      <a:pt x="446" y="491"/>
                      <a:pt x="446" y="491"/>
                    </a:cubicBezTo>
                    <a:cubicBezTo>
                      <a:pt x="313" y="491"/>
                      <a:pt x="313" y="491"/>
                      <a:pt x="313" y="491"/>
                    </a:cubicBezTo>
                    <a:cubicBezTo>
                      <a:pt x="313" y="438"/>
                      <a:pt x="313" y="438"/>
                      <a:pt x="313" y="438"/>
                    </a:cubicBezTo>
                    <a:cubicBezTo>
                      <a:pt x="280" y="475"/>
                      <a:pt x="234" y="500"/>
                      <a:pt x="167" y="500"/>
                    </a:cubicBezTo>
                    <a:cubicBezTo>
                      <a:pt x="75" y="500"/>
                      <a:pt x="0" y="447"/>
                      <a:pt x="0" y="351"/>
                    </a:cubicBezTo>
                    <a:close/>
                    <a:moveTo>
                      <a:pt x="316" y="320"/>
                    </a:moveTo>
                    <a:cubicBezTo>
                      <a:pt x="316" y="295"/>
                      <a:pt x="316" y="295"/>
                      <a:pt x="316" y="295"/>
                    </a:cubicBezTo>
                    <a:cubicBezTo>
                      <a:pt x="292" y="284"/>
                      <a:pt x="262" y="277"/>
                      <a:pt x="228" y="277"/>
                    </a:cubicBezTo>
                    <a:cubicBezTo>
                      <a:pt x="169" y="277"/>
                      <a:pt x="133" y="301"/>
                      <a:pt x="133" y="344"/>
                    </a:cubicBezTo>
                    <a:cubicBezTo>
                      <a:pt x="133" y="346"/>
                      <a:pt x="133" y="346"/>
                      <a:pt x="133" y="346"/>
                    </a:cubicBezTo>
                    <a:cubicBezTo>
                      <a:pt x="133" y="383"/>
                      <a:pt x="164" y="405"/>
                      <a:pt x="208" y="405"/>
                    </a:cubicBezTo>
                    <a:cubicBezTo>
                      <a:pt x="272" y="405"/>
                      <a:pt x="316" y="369"/>
                      <a:pt x="316" y="3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3" name="Rectangle 26">
                <a:extLst>
                  <a:ext uri="{FF2B5EF4-FFF2-40B4-BE49-F238E27FC236}">
                    <a16:creationId xmlns:a16="http://schemas.microsoft.com/office/drawing/2014/main" id="{2F1B0169-414B-8F53-D204-E4FC9132C39A}"/>
                  </a:ext>
                </a:extLst>
              </p:cNvPr>
              <p:cNvSpPr>
                <a:spLocks noChangeArrowheads="1"/>
              </p:cNvSpPr>
              <p:nvPr userDrawn="1"/>
            </p:nvSpPr>
            <p:spPr bwMode="auto">
              <a:xfrm>
                <a:off x="6801973" y="1260831"/>
                <a:ext cx="59843"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4" name="Rectangle 27">
                <a:extLst>
                  <a:ext uri="{FF2B5EF4-FFF2-40B4-BE49-F238E27FC236}">
                    <a16:creationId xmlns:a16="http://schemas.microsoft.com/office/drawing/2014/main" id="{FD3CEF0B-9316-CAAF-B811-7977EA0FDC71}"/>
                  </a:ext>
                </a:extLst>
              </p:cNvPr>
              <p:cNvSpPr>
                <a:spLocks noChangeArrowheads="1"/>
              </p:cNvSpPr>
              <p:nvPr userDrawn="1"/>
            </p:nvSpPr>
            <p:spPr bwMode="auto">
              <a:xfrm>
                <a:off x="6886639" y="1260831"/>
                <a:ext cx="59399"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64" name="Rectangle 28">
              <a:extLst>
                <a:ext uri="{FF2B5EF4-FFF2-40B4-BE49-F238E27FC236}">
                  <a16:creationId xmlns:a16="http://schemas.microsoft.com/office/drawing/2014/main" id="{C44969F7-1BF0-A4FA-F4EB-8003272D98C6}"/>
                </a:ext>
              </a:extLst>
            </p:cNvPr>
            <p:cNvSpPr>
              <a:spLocks noChangeArrowheads="1"/>
            </p:cNvSpPr>
            <p:nvPr userDrawn="1"/>
          </p:nvSpPr>
          <p:spPr bwMode="auto">
            <a:xfrm>
              <a:off x="11556230" y="767096"/>
              <a:ext cx="634181" cy="1898696"/>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grpSp>
          <p:nvGrpSpPr>
            <p:cNvPr id="65" name="Group 64">
              <a:extLst>
                <a:ext uri="{FF2B5EF4-FFF2-40B4-BE49-F238E27FC236}">
                  <a16:creationId xmlns:a16="http://schemas.microsoft.com/office/drawing/2014/main" id="{5AB97A83-AA92-5D2A-D89F-2B85130F597F}"/>
                </a:ext>
              </a:extLst>
            </p:cNvPr>
            <p:cNvGrpSpPr/>
            <p:nvPr userDrawn="1"/>
          </p:nvGrpSpPr>
          <p:grpSpPr>
            <a:xfrm>
              <a:off x="11701122" y="936748"/>
              <a:ext cx="321494" cy="1552800"/>
              <a:chOff x="7313961" y="501936"/>
              <a:chExt cx="323594" cy="1566108"/>
            </a:xfrm>
          </p:grpSpPr>
          <p:sp>
            <p:nvSpPr>
              <p:cNvPr id="66" name="Freeform 29">
                <a:extLst>
                  <a:ext uri="{FF2B5EF4-FFF2-40B4-BE49-F238E27FC236}">
                    <a16:creationId xmlns:a16="http://schemas.microsoft.com/office/drawing/2014/main" id="{93913DCE-D7C5-993F-1CBD-D671F4E01A37}"/>
                  </a:ext>
                </a:extLst>
              </p:cNvPr>
              <p:cNvSpPr>
                <a:spLocks/>
              </p:cNvSpPr>
              <p:nvPr userDrawn="1"/>
            </p:nvSpPr>
            <p:spPr bwMode="auto">
              <a:xfrm>
                <a:off x="7383556" y="1311808"/>
                <a:ext cx="249567" cy="247350"/>
              </a:xfrm>
              <a:custGeom>
                <a:avLst/>
                <a:gdLst>
                  <a:gd name="T0" fmla="*/ 0 w 574"/>
                  <a:gd name="T1" fmla="*/ 229 h 569"/>
                  <a:gd name="T2" fmla="*/ 90 w 574"/>
                  <a:gd name="T3" fmla="*/ 413 h 569"/>
                  <a:gd name="T4" fmla="*/ 90 w 574"/>
                  <a:gd name="T5" fmla="*/ 413 h 569"/>
                  <a:gd name="T6" fmla="*/ 90 w 574"/>
                  <a:gd name="T7" fmla="*/ 413 h 569"/>
                  <a:gd name="T8" fmla="*/ 9 w 574"/>
                  <a:gd name="T9" fmla="*/ 413 h 569"/>
                  <a:gd name="T10" fmla="*/ 9 w 574"/>
                  <a:gd name="T11" fmla="*/ 569 h 569"/>
                  <a:gd name="T12" fmla="*/ 574 w 574"/>
                  <a:gd name="T13" fmla="*/ 569 h 569"/>
                  <a:gd name="T14" fmla="*/ 574 w 574"/>
                  <a:gd name="T15" fmla="*/ 413 h 569"/>
                  <a:gd name="T16" fmla="*/ 253 w 574"/>
                  <a:gd name="T17" fmla="*/ 413 h 569"/>
                  <a:gd name="T18" fmla="*/ 133 w 574"/>
                  <a:gd name="T19" fmla="*/ 286 h 569"/>
                  <a:gd name="T20" fmla="*/ 253 w 574"/>
                  <a:gd name="T21" fmla="*/ 155 h 569"/>
                  <a:gd name="T22" fmla="*/ 574 w 574"/>
                  <a:gd name="T23" fmla="*/ 155 h 569"/>
                  <a:gd name="T24" fmla="*/ 574 w 574"/>
                  <a:gd name="T25" fmla="*/ 0 h 569"/>
                  <a:gd name="T26" fmla="*/ 224 w 574"/>
                  <a:gd name="T27" fmla="*/ 0 h 569"/>
                  <a:gd name="T28" fmla="*/ 0 w 574"/>
                  <a:gd name="T29" fmla="*/ 229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4" h="569">
                    <a:moveTo>
                      <a:pt x="0" y="229"/>
                    </a:moveTo>
                    <a:cubicBezTo>
                      <a:pt x="0" y="294"/>
                      <a:pt x="30" y="368"/>
                      <a:pt x="90" y="413"/>
                    </a:cubicBezTo>
                    <a:cubicBezTo>
                      <a:pt x="90" y="413"/>
                      <a:pt x="90" y="413"/>
                      <a:pt x="90" y="413"/>
                    </a:cubicBezTo>
                    <a:cubicBezTo>
                      <a:pt x="90" y="413"/>
                      <a:pt x="90" y="413"/>
                      <a:pt x="90" y="413"/>
                    </a:cubicBezTo>
                    <a:cubicBezTo>
                      <a:pt x="9" y="413"/>
                      <a:pt x="9" y="413"/>
                      <a:pt x="9" y="413"/>
                    </a:cubicBezTo>
                    <a:cubicBezTo>
                      <a:pt x="9" y="569"/>
                      <a:pt x="9" y="569"/>
                      <a:pt x="9" y="569"/>
                    </a:cubicBezTo>
                    <a:cubicBezTo>
                      <a:pt x="574" y="569"/>
                      <a:pt x="574" y="569"/>
                      <a:pt x="574" y="569"/>
                    </a:cubicBezTo>
                    <a:cubicBezTo>
                      <a:pt x="574" y="413"/>
                      <a:pt x="574" y="413"/>
                      <a:pt x="574" y="413"/>
                    </a:cubicBezTo>
                    <a:cubicBezTo>
                      <a:pt x="253" y="413"/>
                      <a:pt x="253" y="413"/>
                      <a:pt x="253" y="413"/>
                    </a:cubicBezTo>
                    <a:cubicBezTo>
                      <a:pt x="195" y="413"/>
                      <a:pt x="133" y="369"/>
                      <a:pt x="133" y="286"/>
                    </a:cubicBezTo>
                    <a:cubicBezTo>
                      <a:pt x="133" y="221"/>
                      <a:pt x="178" y="155"/>
                      <a:pt x="253" y="155"/>
                    </a:cubicBezTo>
                    <a:cubicBezTo>
                      <a:pt x="574" y="155"/>
                      <a:pt x="574" y="155"/>
                      <a:pt x="574" y="155"/>
                    </a:cubicBezTo>
                    <a:cubicBezTo>
                      <a:pt x="574" y="0"/>
                      <a:pt x="574" y="0"/>
                      <a:pt x="574" y="0"/>
                    </a:cubicBezTo>
                    <a:cubicBezTo>
                      <a:pt x="224" y="0"/>
                      <a:pt x="224" y="0"/>
                      <a:pt x="224" y="0"/>
                    </a:cubicBezTo>
                    <a:cubicBezTo>
                      <a:pt x="94" y="0"/>
                      <a:pt x="0" y="93"/>
                      <a:pt x="0" y="22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7" name="Freeform 30">
                <a:extLst>
                  <a:ext uri="{FF2B5EF4-FFF2-40B4-BE49-F238E27FC236}">
                    <a16:creationId xmlns:a16="http://schemas.microsoft.com/office/drawing/2014/main" id="{6D0A5711-84F8-6852-FC23-C9222B8AB056}"/>
                  </a:ext>
                </a:extLst>
              </p:cNvPr>
              <p:cNvSpPr>
                <a:spLocks/>
              </p:cNvSpPr>
              <p:nvPr userDrawn="1"/>
            </p:nvSpPr>
            <p:spPr bwMode="auto">
              <a:xfrm>
                <a:off x="7387546" y="755049"/>
                <a:ext cx="245577" cy="276163"/>
              </a:xfrm>
              <a:custGeom>
                <a:avLst/>
                <a:gdLst>
                  <a:gd name="T0" fmla="*/ 0 w 554"/>
                  <a:gd name="T1" fmla="*/ 174 h 623"/>
                  <a:gd name="T2" fmla="*/ 377 w 554"/>
                  <a:gd name="T3" fmla="*/ 311 h 623"/>
                  <a:gd name="T4" fmla="*/ 0 w 554"/>
                  <a:gd name="T5" fmla="*/ 450 h 623"/>
                  <a:gd name="T6" fmla="*/ 0 w 554"/>
                  <a:gd name="T7" fmla="*/ 623 h 623"/>
                  <a:gd name="T8" fmla="*/ 554 w 554"/>
                  <a:gd name="T9" fmla="*/ 395 h 623"/>
                  <a:gd name="T10" fmla="*/ 554 w 554"/>
                  <a:gd name="T11" fmla="*/ 228 h 623"/>
                  <a:gd name="T12" fmla="*/ 0 w 554"/>
                  <a:gd name="T13" fmla="*/ 0 h 623"/>
                  <a:gd name="T14" fmla="*/ 0 w 554"/>
                  <a:gd name="T15" fmla="*/ 174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623">
                    <a:moveTo>
                      <a:pt x="0" y="174"/>
                    </a:moveTo>
                    <a:lnTo>
                      <a:pt x="377" y="311"/>
                    </a:lnTo>
                    <a:lnTo>
                      <a:pt x="0" y="450"/>
                    </a:lnTo>
                    <a:lnTo>
                      <a:pt x="0" y="623"/>
                    </a:lnTo>
                    <a:lnTo>
                      <a:pt x="554" y="395"/>
                    </a:lnTo>
                    <a:lnTo>
                      <a:pt x="554" y="228"/>
                    </a:lnTo>
                    <a:lnTo>
                      <a:pt x="0" y="0"/>
                    </a:lnTo>
                    <a:lnTo>
                      <a:pt x="0"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8" name="Freeform 31">
                <a:extLst>
                  <a:ext uri="{FF2B5EF4-FFF2-40B4-BE49-F238E27FC236}">
                    <a16:creationId xmlns:a16="http://schemas.microsoft.com/office/drawing/2014/main" id="{185085EF-D1B3-20ED-1267-AC7FAB1644FE}"/>
                  </a:ext>
                </a:extLst>
              </p:cNvPr>
              <p:cNvSpPr>
                <a:spLocks noEditPoints="1"/>
              </p:cNvSpPr>
              <p:nvPr userDrawn="1"/>
            </p:nvSpPr>
            <p:spPr bwMode="auto">
              <a:xfrm>
                <a:off x="7383556" y="1583096"/>
                <a:ext cx="253999" cy="256659"/>
              </a:xfrm>
              <a:custGeom>
                <a:avLst/>
                <a:gdLst>
                  <a:gd name="T0" fmla="*/ 401 w 584"/>
                  <a:gd name="T1" fmla="*/ 110 h 590"/>
                  <a:gd name="T2" fmla="*/ 460 w 584"/>
                  <a:gd name="T3" fmla="*/ 272 h 590"/>
                  <a:gd name="T4" fmla="*/ 415 w 584"/>
                  <a:gd name="T5" fmla="*/ 397 h 590"/>
                  <a:gd name="T6" fmla="*/ 250 w 584"/>
                  <a:gd name="T7" fmla="*/ 0 h 590"/>
                  <a:gd name="T8" fmla="*/ 92 w 584"/>
                  <a:gd name="T9" fmla="*/ 68 h 590"/>
                  <a:gd name="T10" fmla="*/ 0 w 584"/>
                  <a:gd name="T11" fmla="*/ 291 h 590"/>
                  <a:gd name="T12" fmla="*/ 292 w 584"/>
                  <a:gd name="T13" fmla="*/ 590 h 590"/>
                  <a:gd name="T14" fmla="*/ 584 w 584"/>
                  <a:gd name="T15" fmla="*/ 274 h 590"/>
                  <a:gd name="T16" fmla="*/ 476 w 584"/>
                  <a:gd name="T17" fmla="*/ 12 h 590"/>
                  <a:gd name="T18" fmla="*/ 401 w 584"/>
                  <a:gd name="T19" fmla="*/ 110 h 590"/>
                  <a:gd name="T20" fmla="*/ 179 w 584"/>
                  <a:gd name="T21" fmla="*/ 408 h 590"/>
                  <a:gd name="T22" fmla="*/ 123 w 584"/>
                  <a:gd name="T23" fmla="*/ 288 h 590"/>
                  <a:gd name="T24" fmla="*/ 202 w 584"/>
                  <a:gd name="T25" fmla="*/ 168 h 590"/>
                  <a:gd name="T26" fmla="*/ 315 w 584"/>
                  <a:gd name="T27" fmla="*/ 439 h 590"/>
                  <a:gd name="T28" fmla="*/ 179 w 584"/>
                  <a:gd name="T29" fmla="*/ 408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4" h="590">
                    <a:moveTo>
                      <a:pt x="401" y="110"/>
                    </a:moveTo>
                    <a:cubicBezTo>
                      <a:pt x="449" y="175"/>
                      <a:pt x="460" y="212"/>
                      <a:pt x="460" y="272"/>
                    </a:cubicBezTo>
                    <a:cubicBezTo>
                      <a:pt x="460" y="325"/>
                      <a:pt x="444" y="367"/>
                      <a:pt x="415" y="397"/>
                    </a:cubicBezTo>
                    <a:cubicBezTo>
                      <a:pt x="250" y="0"/>
                      <a:pt x="250" y="0"/>
                      <a:pt x="250" y="0"/>
                    </a:cubicBezTo>
                    <a:cubicBezTo>
                      <a:pt x="189" y="9"/>
                      <a:pt x="134" y="32"/>
                      <a:pt x="92" y="68"/>
                    </a:cubicBezTo>
                    <a:cubicBezTo>
                      <a:pt x="32" y="120"/>
                      <a:pt x="0" y="197"/>
                      <a:pt x="0" y="291"/>
                    </a:cubicBezTo>
                    <a:cubicBezTo>
                      <a:pt x="0" y="462"/>
                      <a:pt x="126" y="590"/>
                      <a:pt x="292" y="590"/>
                    </a:cubicBezTo>
                    <a:cubicBezTo>
                      <a:pt x="462" y="590"/>
                      <a:pt x="584" y="462"/>
                      <a:pt x="584" y="274"/>
                    </a:cubicBezTo>
                    <a:cubicBezTo>
                      <a:pt x="584" y="169"/>
                      <a:pt x="534" y="62"/>
                      <a:pt x="476" y="12"/>
                    </a:cubicBezTo>
                    <a:lnTo>
                      <a:pt x="401" y="110"/>
                    </a:lnTo>
                    <a:close/>
                    <a:moveTo>
                      <a:pt x="179" y="408"/>
                    </a:moveTo>
                    <a:cubicBezTo>
                      <a:pt x="144" y="381"/>
                      <a:pt x="123" y="339"/>
                      <a:pt x="123" y="288"/>
                    </a:cubicBezTo>
                    <a:cubicBezTo>
                      <a:pt x="123" y="232"/>
                      <a:pt x="155" y="190"/>
                      <a:pt x="202" y="168"/>
                    </a:cubicBezTo>
                    <a:cubicBezTo>
                      <a:pt x="315" y="439"/>
                      <a:pt x="315" y="439"/>
                      <a:pt x="315" y="439"/>
                    </a:cubicBezTo>
                    <a:cubicBezTo>
                      <a:pt x="257" y="447"/>
                      <a:pt x="212" y="432"/>
                      <a:pt x="179" y="4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9" name="Freeform 32">
                <a:extLst>
                  <a:ext uri="{FF2B5EF4-FFF2-40B4-BE49-F238E27FC236}">
                    <a16:creationId xmlns:a16="http://schemas.microsoft.com/office/drawing/2014/main" id="{8434C32D-C325-1F32-5E19-6C9FC933AC3B}"/>
                  </a:ext>
                </a:extLst>
              </p:cNvPr>
              <p:cNvSpPr>
                <a:spLocks/>
              </p:cNvSpPr>
              <p:nvPr userDrawn="1"/>
            </p:nvSpPr>
            <p:spPr bwMode="auto">
              <a:xfrm>
                <a:off x="7313961" y="1846404"/>
                <a:ext cx="319161" cy="221640"/>
              </a:xfrm>
              <a:custGeom>
                <a:avLst/>
                <a:gdLst>
                  <a:gd name="T0" fmla="*/ 580 w 720"/>
                  <a:gd name="T1" fmla="*/ 0 h 500"/>
                  <a:gd name="T2" fmla="*/ 580 w 720"/>
                  <a:gd name="T3" fmla="*/ 346 h 500"/>
                  <a:gd name="T4" fmla="*/ 0 w 720"/>
                  <a:gd name="T5" fmla="*/ 346 h 500"/>
                  <a:gd name="T6" fmla="*/ 0 w 720"/>
                  <a:gd name="T7" fmla="*/ 500 h 500"/>
                  <a:gd name="T8" fmla="*/ 720 w 720"/>
                  <a:gd name="T9" fmla="*/ 500 h 500"/>
                  <a:gd name="T10" fmla="*/ 720 w 720"/>
                  <a:gd name="T11" fmla="*/ 0 h 500"/>
                  <a:gd name="T12" fmla="*/ 580 w 720"/>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720" h="500">
                    <a:moveTo>
                      <a:pt x="580" y="0"/>
                    </a:moveTo>
                    <a:lnTo>
                      <a:pt x="580" y="346"/>
                    </a:lnTo>
                    <a:lnTo>
                      <a:pt x="0" y="346"/>
                    </a:lnTo>
                    <a:lnTo>
                      <a:pt x="0" y="500"/>
                    </a:lnTo>
                    <a:lnTo>
                      <a:pt x="720" y="500"/>
                    </a:lnTo>
                    <a:lnTo>
                      <a:pt x="720" y="0"/>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33">
                <a:extLst>
                  <a:ext uri="{FF2B5EF4-FFF2-40B4-BE49-F238E27FC236}">
                    <a16:creationId xmlns:a16="http://schemas.microsoft.com/office/drawing/2014/main" id="{A281B950-B57F-4814-65C4-87F843CA0E1C}"/>
                  </a:ext>
                </a:extLst>
              </p:cNvPr>
              <p:cNvSpPr>
                <a:spLocks noEditPoints="1"/>
              </p:cNvSpPr>
              <p:nvPr userDrawn="1"/>
            </p:nvSpPr>
            <p:spPr bwMode="auto">
              <a:xfrm>
                <a:off x="7383556" y="501936"/>
                <a:ext cx="253999" cy="263752"/>
              </a:xfrm>
              <a:custGeom>
                <a:avLst/>
                <a:gdLst>
                  <a:gd name="T0" fmla="*/ 584 w 584"/>
                  <a:gd name="T1" fmla="*/ 304 h 607"/>
                  <a:gd name="T2" fmla="*/ 292 w 584"/>
                  <a:gd name="T3" fmla="*/ 607 h 607"/>
                  <a:gd name="T4" fmla="*/ 0 w 584"/>
                  <a:gd name="T5" fmla="*/ 302 h 607"/>
                  <a:gd name="T6" fmla="*/ 292 w 584"/>
                  <a:gd name="T7" fmla="*/ 0 h 607"/>
                  <a:gd name="T8" fmla="*/ 584 w 584"/>
                  <a:gd name="T9" fmla="*/ 304 h 607"/>
                  <a:gd name="T10" fmla="*/ 133 w 584"/>
                  <a:gd name="T11" fmla="*/ 304 h 607"/>
                  <a:gd name="T12" fmla="*/ 292 w 584"/>
                  <a:gd name="T13" fmla="*/ 454 h 607"/>
                  <a:gd name="T14" fmla="*/ 451 w 584"/>
                  <a:gd name="T15" fmla="*/ 302 h 607"/>
                  <a:gd name="T16" fmla="*/ 292 w 584"/>
                  <a:gd name="T17" fmla="*/ 153 h 607"/>
                  <a:gd name="T18" fmla="*/ 133 w 584"/>
                  <a:gd name="T19" fmla="*/ 304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4"/>
                    </a:moveTo>
                    <a:cubicBezTo>
                      <a:pt x="584" y="474"/>
                      <a:pt x="457" y="607"/>
                      <a:pt x="292" y="607"/>
                    </a:cubicBezTo>
                    <a:cubicBezTo>
                      <a:pt x="128" y="607"/>
                      <a:pt x="0" y="473"/>
                      <a:pt x="0" y="302"/>
                    </a:cubicBezTo>
                    <a:cubicBezTo>
                      <a:pt x="0" y="133"/>
                      <a:pt x="126" y="0"/>
                      <a:pt x="292" y="0"/>
                    </a:cubicBezTo>
                    <a:cubicBezTo>
                      <a:pt x="455" y="0"/>
                      <a:pt x="584" y="133"/>
                      <a:pt x="584" y="304"/>
                    </a:cubicBezTo>
                    <a:moveTo>
                      <a:pt x="133" y="304"/>
                    </a:moveTo>
                    <a:cubicBezTo>
                      <a:pt x="133" y="391"/>
                      <a:pt x="198" y="454"/>
                      <a:pt x="292" y="454"/>
                    </a:cubicBezTo>
                    <a:cubicBezTo>
                      <a:pt x="381" y="454"/>
                      <a:pt x="451" y="387"/>
                      <a:pt x="451" y="302"/>
                    </a:cubicBezTo>
                    <a:cubicBezTo>
                      <a:pt x="451" y="216"/>
                      <a:pt x="383" y="153"/>
                      <a:pt x="292" y="153"/>
                    </a:cubicBezTo>
                    <a:cubicBezTo>
                      <a:pt x="203" y="153"/>
                      <a:pt x="133" y="219"/>
                      <a:pt x="133" y="30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34">
                <a:extLst>
                  <a:ext uri="{FF2B5EF4-FFF2-40B4-BE49-F238E27FC236}">
                    <a16:creationId xmlns:a16="http://schemas.microsoft.com/office/drawing/2014/main" id="{EE465ED6-53DE-A385-42CB-0B5A75477346}"/>
                  </a:ext>
                </a:extLst>
              </p:cNvPr>
              <p:cNvSpPr>
                <a:spLocks noEditPoints="1"/>
              </p:cNvSpPr>
              <p:nvPr userDrawn="1"/>
            </p:nvSpPr>
            <p:spPr bwMode="auto">
              <a:xfrm>
                <a:off x="7383556" y="1021017"/>
                <a:ext cx="253999" cy="263752"/>
              </a:xfrm>
              <a:custGeom>
                <a:avLst/>
                <a:gdLst>
                  <a:gd name="T0" fmla="*/ 584 w 584"/>
                  <a:gd name="T1" fmla="*/ 305 h 607"/>
                  <a:gd name="T2" fmla="*/ 292 w 584"/>
                  <a:gd name="T3" fmla="*/ 607 h 607"/>
                  <a:gd name="T4" fmla="*/ 0 w 584"/>
                  <a:gd name="T5" fmla="*/ 303 h 607"/>
                  <a:gd name="T6" fmla="*/ 292 w 584"/>
                  <a:gd name="T7" fmla="*/ 0 h 607"/>
                  <a:gd name="T8" fmla="*/ 584 w 584"/>
                  <a:gd name="T9" fmla="*/ 305 h 607"/>
                  <a:gd name="T10" fmla="*/ 133 w 584"/>
                  <a:gd name="T11" fmla="*/ 305 h 607"/>
                  <a:gd name="T12" fmla="*/ 292 w 584"/>
                  <a:gd name="T13" fmla="*/ 454 h 607"/>
                  <a:gd name="T14" fmla="*/ 451 w 584"/>
                  <a:gd name="T15" fmla="*/ 303 h 607"/>
                  <a:gd name="T16" fmla="*/ 292 w 584"/>
                  <a:gd name="T17" fmla="*/ 153 h 607"/>
                  <a:gd name="T18" fmla="*/ 133 w 584"/>
                  <a:gd name="T19" fmla="*/ 30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5"/>
                    </a:moveTo>
                    <a:cubicBezTo>
                      <a:pt x="584" y="474"/>
                      <a:pt x="457" y="607"/>
                      <a:pt x="292" y="607"/>
                    </a:cubicBezTo>
                    <a:cubicBezTo>
                      <a:pt x="128" y="607"/>
                      <a:pt x="0" y="474"/>
                      <a:pt x="0" y="303"/>
                    </a:cubicBezTo>
                    <a:cubicBezTo>
                      <a:pt x="0" y="133"/>
                      <a:pt x="126" y="0"/>
                      <a:pt x="292" y="0"/>
                    </a:cubicBezTo>
                    <a:cubicBezTo>
                      <a:pt x="455" y="0"/>
                      <a:pt x="584" y="134"/>
                      <a:pt x="584" y="305"/>
                    </a:cubicBezTo>
                    <a:moveTo>
                      <a:pt x="133" y="305"/>
                    </a:moveTo>
                    <a:cubicBezTo>
                      <a:pt x="133" y="391"/>
                      <a:pt x="198" y="454"/>
                      <a:pt x="292" y="454"/>
                    </a:cubicBezTo>
                    <a:cubicBezTo>
                      <a:pt x="381" y="454"/>
                      <a:pt x="451" y="388"/>
                      <a:pt x="451" y="303"/>
                    </a:cubicBezTo>
                    <a:cubicBezTo>
                      <a:pt x="451" y="216"/>
                      <a:pt x="383" y="153"/>
                      <a:pt x="292" y="153"/>
                    </a:cubicBezTo>
                    <a:cubicBezTo>
                      <a:pt x="203" y="153"/>
                      <a:pt x="133" y="220"/>
                      <a:pt x="133" y="30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grpSp>
        <p:nvGrpSpPr>
          <p:cNvPr id="42" name="Group 41">
            <a:extLst>
              <a:ext uri="{FF2B5EF4-FFF2-40B4-BE49-F238E27FC236}">
                <a16:creationId xmlns:a16="http://schemas.microsoft.com/office/drawing/2014/main" id="{320E6808-E70B-FA4B-99F6-1C02BBC16598}"/>
              </a:ext>
            </a:extLst>
          </p:cNvPr>
          <p:cNvGrpSpPr/>
          <p:nvPr userDrawn="1"/>
        </p:nvGrpSpPr>
        <p:grpSpPr>
          <a:xfrm>
            <a:off x="1539348" y="3561908"/>
            <a:ext cx="7853422" cy="1769127"/>
            <a:chOff x="541049" y="2649538"/>
            <a:chExt cx="9285724" cy="2092325"/>
          </a:xfrm>
          <a:solidFill>
            <a:schemeClr val="bg1"/>
          </a:solidFill>
        </p:grpSpPr>
        <p:sp>
          <p:nvSpPr>
            <p:cNvPr id="43" name="Freeform 5">
              <a:extLst>
                <a:ext uri="{FF2B5EF4-FFF2-40B4-BE49-F238E27FC236}">
                  <a16:creationId xmlns:a16="http://schemas.microsoft.com/office/drawing/2014/main" id="{4C297CEF-136F-B1B7-09B1-55E4D7563FDB}"/>
                </a:ext>
              </a:extLst>
            </p:cNvPr>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4" name="Freeform 6">
              <a:extLst>
                <a:ext uri="{FF2B5EF4-FFF2-40B4-BE49-F238E27FC236}">
                  <a16:creationId xmlns:a16="http://schemas.microsoft.com/office/drawing/2014/main" id="{622BAF6B-1742-15FD-B0EB-40B8C3DC1168}"/>
                </a:ext>
              </a:extLst>
            </p:cNvPr>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5" name="Freeform 7">
              <a:extLst>
                <a:ext uri="{FF2B5EF4-FFF2-40B4-BE49-F238E27FC236}">
                  <a16:creationId xmlns:a16="http://schemas.microsoft.com/office/drawing/2014/main" id="{788B3367-A4C9-CCD9-A688-1D2826A4B010}"/>
                </a:ext>
              </a:extLst>
            </p:cNvPr>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3" name="Freeform 8">
              <a:extLst>
                <a:ext uri="{FF2B5EF4-FFF2-40B4-BE49-F238E27FC236}">
                  <a16:creationId xmlns:a16="http://schemas.microsoft.com/office/drawing/2014/main" id="{E75C15B3-8177-7E6B-C4A7-1B9D3FB9D027}"/>
                </a:ext>
              </a:extLst>
            </p:cNvPr>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4" name="Freeform 9">
              <a:extLst>
                <a:ext uri="{FF2B5EF4-FFF2-40B4-BE49-F238E27FC236}">
                  <a16:creationId xmlns:a16="http://schemas.microsoft.com/office/drawing/2014/main" id="{AA27F0F6-EBAD-77B3-0964-617F5FC5A0BD}"/>
                </a:ext>
              </a:extLst>
            </p:cNvPr>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5" name="Freeform 10">
              <a:extLst>
                <a:ext uri="{FF2B5EF4-FFF2-40B4-BE49-F238E27FC236}">
                  <a16:creationId xmlns:a16="http://schemas.microsoft.com/office/drawing/2014/main" id="{0D449E32-BCCB-5FA7-37E4-30FF7569B638}"/>
                </a:ext>
              </a:extLst>
            </p:cNvPr>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6" name="Oval 11">
              <a:extLst>
                <a:ext uri="{FF2B5EF4-FFF2-40B4-BE49-F238E27FC236}">
                  <a16:creationId xmlns:a16="http://schemas.microsoft.com/office/drawing/2014/main" id="{DF4FD3AA-2A1C-04CA-7759-A7926327B4AA}"/>
                </a:ext>
              </a:extLst>
            </p:cNvPr>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Tree>
    <p:extLst>
      <p:ext uri="{BB962C8B-B14F-4D97-AF65-F5344CB8AC3E}">
        <p14:creationId xmlns:p14="http://schemas.microsoft.com/office/powerpoint/2010/main" val="1559810758"/>
      </p:ext>
    </p:extLst>
  </p:cSld>
  <p:clrMapOvr>
    <a:masterClrMapping/>
  </p:clrMapOvr>
  <p:transition spd="med"/>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userDrawn="1">
  <p:cSld name="2_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2"/>
            <a:ext cx="9914678" cy="3269709"/>
          </a:xfrm>
          <a:prstGeom prst="rect">
            <a:avLst/>
          </a:prstGeom>
        </p:spPr>
        <p:txBody>
          <a:bodyPr wrap="square" lIns="0" tIns="0" rIns="121899" bIns="0" anchor="b" anchorCtr="0"/>
          <a:lstStyle>
            <a:lvl1pPr marL="0" algn="l" defTabSz="1218621" rtl="0" eaLnBrk="1" latinLnBrk="0" hangingPunct="1">
              <a:lnSpc>
                <a:spcPct val="75000"/>
              </a:lnSpc>
              <a:spcBef>
                <a:spcPct val="0"/>
              </a:spcBef>
              <a:buNone/>
              <a:defRPr lang="en-US" sz="7998" b="1" kern="1200" cap="none" spc="-15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621" rtl="0" eaLnBrk="1" latinLnBrk="0" hangingPunct="1">
              <a:lnSpc>
                <a:spcPct val="90000"/>
              </a:lnSpc>
              <a:spcBef>
                <a:spcPct val="0"/>
              </a:spcBef>
              <a:buNone/>
              <a:defRPr lang="en-US" sz="2599" b="0" kern="1200" cap="none" spc="0" baseline="0" dirty="0">
                <a:solidFill>
                  <a:schemeClr val="tx1"/>
                </a:solidFill>
                <a:latin typeface="Arial" pitchFamily="34" charset="0"/>
                <a:ea typeface="+mn-ea"/>
                <a:cs typeface="Arial" pitchFamily="34" charset="0"/>
              </a:defRPr>
            </a:lvl1pPr>
            <a:lvl2pPr marL="609310" indent="0" algn="ctr">
              <a:buNone/>
              <a:defRPr>
                <a:solidFill>
                  <a:schemeClr val="tx1">
                    <a:tint val="75000"/>
                  </a:schemeClr>
                </a:solidFill>
              </a:defRPr>
            </a:lvl2pPr>
            <a:lvl3pPr marL="1218621" indent="0" algn="ctr">
              <a:buNone/>
              <a:defRPr>
                <a:solidFill>
                  <a:schemeClr val="tx1">
                    <a:tint val="75000"/>
                  </a:schemeClr>
                </a:solidFill>
              </a:defRPr>
            </a:lvl3pPr>
            <a:lvl4pPr marL="1827931" indent="0" algn="ctr">
              <a:buNone/>
              <a:defRPr>
                <a:solidFill>
                  <a:schemeClr val="tx1">
                    <a:tint val="75000"/>
                  </a:schemeClr>
                </a:solidFill>
              </a:defRPr>
            </a:lvl4pPr>
            <a:lvl5pPr marL="2437242" indent="0" algn="ctr">
              <a:buNone/>
              <a:defRPr>
                <a:solidFill>
                  <a:schemeClr val="tx1">
                    <a:tint val="75000"/>
                  </a:schemeClr>
                </a:solidFill>
              </a:defRPr>
            </a:lvl5pPr>
            <a:lvl6pPr marL="3046553" indent="0" algn="ctr">
              <a:buNone/>
              <a:defRPr>
                <a:solidFill>
                  <a:schemeClr val="tx1">
                    <a:tint val="75000"/>
                  </a:schemeClr>
                </a:solidFill>
              </a:defRPr>
            </a:lvl6pPr>
            <a:lvl7pPr marL="3655863" indent="0" algn="ctr">
              <a:buNone/>
              <a:defRPr>
                <a:solidFill>
                  <a:schemeClr val="tx1">
                    <a:tint val="75000"/>
                  </a:schemeClr>
                </a:solidFill>
              </a:defRPr>
            </a:lvl7pPr>
            <a:lvl8pPr marL="4265173" indent="0" algn="ctr">
              <a:buNone/>
              <a:defRPr>
                <a:solidFill>
                  <a:schemeClr val="tx1">
                    <a:tint val="75000"/>
                  </a:schemeClr>
                </a:solidFill>
              </a:defRPr>
            </a:lvl8pPr>
            <a:lvl9pPr marL="4874484"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2024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rgbClr val="4D144A"/>
          </a:solidFill>
          <a:ln>
            <a:noFill/>
          </a:ln>
        </p:spPr>
        <p:txBody>
          <a:bodyPr vert="horz" wrap="square" lIns="91416" tIns="45708" rIns="91416" bIns="45708" numCol="1" anchor="t" anchorCtr="0" compatLnSpc="1">
            <a:prstTxWarp prst="textNoShape">
              <a:avLst/>
            </a:prstTxWarp>
          </a:bodyPr>
          <a:lstStyle/>
          <a:p>
            <a:endParaRPr lang="en-US" sz="1799"/>
          </a:p>
        </p:txBody>
      </p:sp>
    </p:spTree>
    <p:extLst>
      <p:ext uri="{BB962C8B-B14F-4D97-AF65-F5344CB8AC3E}">
        <p14:creationId xmlns:p14="http://schemas.microsoft.com/office/powerpoint/2010/main" val="3254192525"/>
      </p:ext>
    </p:extLst>
  </p:cSld>
  <p:clrMapOvr>
    <a:masterClrMapping/>
  </p:clrMapOvr>
  <p:transition spd="med"/>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2_Title Slide_Black">
    <p:bg>
      <p:bgPr>
        <a:solidFill>
          <a:srgbClr val="1E0113"/>
        </a:solidFill>
        <a:effectLst/>
      </p:bgPr>
    </p:bg>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2"/>
            <a:ext cx="9914678" cy="3269709"/>
          </a:xfrm>
          <a:prstGeom prst="rect">
            <a:avLst/>
          </a:prstGeom>
        </p:spPr>
        <p:txBody>
          <a:bodyPr wrap="square" lIns="0" tIns="0" rIns="121899" bIns="0" anchor="b" anchorCtr="0"/>
          <a:lstStyle>
            <a:lvl1pPr marL="0" algn="l" defTabSz="1218621" rtl="0" eaLnBrk="1" latinLnBrk="0" hangingPunct="1">
              <a:lnSpc>
                <a:spcPct val="75000"/>
              </a:lnSpc>
              <a:spcBef>
                <a:spcPct val="0"/>
              </a:spcBef>
              <a:buNone/>
              <a:defRPr lang="en-US" sz="7998"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621" rtl="0" eaLnBrk="1" latinLnBrk="0" hangingPunct="1">
              <a:lnSpc>
                <a:spcPct val="90000"/>
              </a:lnSpc>
              <a:spcBef>
                <a:spcPct val="0"/>
              </a:spcBef>
              <a:buNone/>
              <a:defRPr lang="en-US" sz="2599" b="0" kern="1200" cap="none" spc="0" baseline="0" dirty="0">
                <a:solidFill>
                  <a:schemeClr val="bg1"/>
                </a:solidFill>
                <a:latin typeface="Arial" pitchFamily="34" charset="0"/>
                <a:ea typeface="+mn-ea"/>
                <a:cs typeface="Arial" pitchFamily="34" charset="0"/>
              </a:defRPr>
            </a:lvl1pPr>
            <a:lvl2pPr marL="609310" indent="0" algn="ctr">
              <a:buNone/>
              <a:defRPr>
                <a:solidFill>
                  <a:schemeClr val="tx1">
                    <a:tint val="75000"/>
                  </a:schemeClr>
                </a:solidFill>
              </a:defRPr>
            </a:lvl2pPr>
            <a:lvl3pPr marL="1218621" indent="0" algn="ctr">
              <a:buNone/>
              <a:defRPr>
                <a:solidFill>
                  <a:schemeClr val="tx1">
                    <a:tint val="75000"/>
                  </a:schemeClr>
                </a:solidFill>
              </a:defRPr>
            </a:lvl3pPr>
            <a:lvl4pPr marL="1827931" indent="0" algn="ctr">
              <a:buNone/>
              <a:defRPr>
                <a:solidFill>
                  <a:schemeClr val="tx1">
                    <a:tint val="75000"/>
                  </a:schemeClr>
                </a:solidFill>
              </a:defRPr>
            </a:lvl4pPr>
            <a:lvl5pPr marL="2437242" indent="0" algn="ctr">
              <a:buNone/>
              <a:defRPr>
                <a:solidFill>
                  <a:schemeClr val="tx1">
                    <a:tint val="75000"/>
                  </a:schemeClr>
                </a:solidFill>
              </a:defRPr>
            </a:lvl5pPr>
            <a:lvl6pPr marL="3046553" indent="0" algn="ctr">
              <a:buNone/>
              <a:defRPr>
                <a:solidFill>
                  <a:schemeClr val="tx1">
                    <a:tint val="75000"/>
                  </a:schemeClr>
                </a:solidFill>
              </a:defRPr>
            </a:lvl6pPr>
            <a:lvl7pPr marL="3655863" indent="0" algn="ctr">
              <a:buNone/>
              <a:defRPr>
                <a:solidFill>
                  <a:schemeClr val="tx1">
                    <a:tint val="75000"/>
                  </a:schemeClr>
                </a:solidFill>
              </a:defRPr>
            </a:lvl7pPr>
            <a:lvl8pPr marL="4265173" indent="0" algn="ctr">
              <a:buNone/>
              <a:defRPr>
                <a:solidFill>
                  <a:schemeClr val="tx1">
                    <a:tint val="75000"/>
                  </a:schemeClr>
                </a:solidFill>
              </a:defRPr>
            </a:lvl8pPr>
            <a:lvl9pPr marL="4874484"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2024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16" tIns="45708" rIns="91416" bIns="45708" numCol="1" anchor="t" anchorCtr="0" compatLnSpc="1">
            <a:prstTxWarp prst="textNoShape">
              <a:avLst/>
            </a:prstTxWarp>
          </a:bodyPr>
          <a:lstStyle/>
          <a:p>
            <a:endParaRPr lang="en-US" sz="1799"/>
          </a:p>
        </p:txBody>
      </p:sp>
    </p:spTree>
    <p:extLst>
      <p:ext uri="{BB962C8B-B14F-4D97-AF65-F5344CB8AC3E}">
        <p14:creationId xmlns:p14="http://schemas.microsoft.com/office/powerpoint/2010/main" val="2037182176"/>
      </p:ext>
    </p:extLst>
  </p:cSld>
  <p:clrMapOvr>
    <a:masterClrMapping/>
  </p:clrMapOvr>
  <p:transition spd="med"/>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2_Section Header_White">
    <p:bg>
      <p:bgPr>
        <a:solidFill>
          <a:schemeClr val="bg1"/>
        </a:solidFill>
        <a:effectLst/>
      </p:bgPr>
    </p:bg>
    <p:spTree>
      <p:nvGrpSpPr>
        <p:cNvPr id="1" name=""/>
        <p:cNvGrpSpPr/>
        <p:nvPr/>
      </p:nvGrpSpPr>
      <p:grpSpPr>
        <a:xfrm>
          <a:off x="0" y="0"/>
          <a:ext cx="0" cy="0"/>
          <a:chOff x="0" y="0"/>
          <a:chExt cx="0" cy="0"/>
        </a:xfrm>
      </p:grpSpPr>
      <p:sp>
        <p:nvSpPr>
          <p:cNvPr id="46" name="Title 16"/>
          <p:cNvSpPr>
            <a:spLocks noGrp="1"/>
          </p:cNvSpPr>
          <p:nvPr>
            <p:ph type="title" hasCustomPrompt="1"/>
          </p:nvPr>
        </p:nvSpPr>
        <p:spPr bwMode="gray">
          <a:xfrm>
            <a:off x="750528" y="1549494"/>
            <a:ext cx="9914678" cy="2405203"/>
          </a:xfrm>
          <a:prstGeom prst="rect">
            <a:avLst/>
          </a:prstGeom>
        </p:spPr>
        <p:txBody>
          <a:bodyPr lIns="0" tIns="0" rIns="0" bIns="0" anchor="b" anchorCtr="0"/>
          <a:lstStyle>
            <a:lvl1pPr marL="0" algn="l" defTabSz="1218621" rtl="0" eaLnBrk="1" latinLnBrk="0" hangingPunct="1">
              <a:lnSpc>
                <a:spcPct val="75000"/>
              </a:lnSpc>
              <a:spcBef>
                <a:spcPct val="0"/>
              </a:spcBef>
              <a:buNone/>
              <a:defRPr lang="en-US" sz="5998"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2"/>
            <a:ext cx="9914678" cy="327013"/>
          </a:xfrm>
          <a:prstGeom prst="rect">
            <a:avLst/>
          </a:prstGeom>
        </p:spPr>
        <p:txBody>
          <a:bodyPr wrap="square" lIns="0" tIns="0" rIns="0" bIns="0" anchor="t" anchorCtr="0">
            <a:spAutoFit/>
          </a:bodyPr>
          <a:lstStyle>
            <a:lvl1pPr marL="0" indent="0">
              <a:lnSpc>
                <a:spcPct val="85000"/>
              </a:lnSpc>
              <a:spcBef>
                <a:spcPts val="0"/>
              </a:spcBef>
              <a:buNone/>
              <a:defRPr sz="2499" spc="0" baseline="0">
                <a:solidFill>
                  <a:schemeClr val="tx1"/>
                </a:solidFill>
              </a:defRPr>
            </a:lvl1pPr>
            <a:lvl2pPr marL="457063" indent="0">
              <a:buNone/>
              <a:defRPr sz="1999">
                <a:solidFill>
                  <a:schemeClr val="tx1">
                    <a:tint val="75000"/>
                  </a:schemeClr>
                </a:solidFill>
              </a:defRPr>
            </a:lvl2pPr>
            <a:lvl3pPr marL="914126" indent="0">
              <a:buNone/>
              <a:defRPr sz="1799">
                <a:solidFill>
                  <a:schemeClr val="tx1">
                    <a:tint val="75000"/>
                  </a:schemeClr>
                </a:solidFill>
              </a:defRPr>
            </a:lvl3pPr>
            <a:lvl4pPr marL="1371189" indent="0">
              <a:buNone/>
              <a:defRPr sz="1600">
                <a:solidFill>
                  <a:schemeClr val="tx1">
                    <a:tint val="75000"/>
                  </a:schemeClr>
                </a:solidFill>
              </a:defRPr>
            </a:lvl4pPr>
            <a:lvl5pPr marL="1828251" indent="0">
              <a:buNone/>
              <a:defRPr sz="1600">
                <a:solidFill>
                  <a:schemeClr val="tx1">
                    <a:tint val="75000"/>
                  </a:schemeClr>
                </a:solidFill>
              </a:defRPr>
            </a:lvl5pPr>
            <a:lvl6pPr marL="2285314" indent="0">
              <a:buNone/>
              <a:defRPr sz="1600">
                <a:solidFill>
                  <a:schemeClr val="tx1">
                    <a:tint val="75000"/>
                  </a:schemeClr>
                </a:solidFill>
              </a:defRPr>
            </a:lvl6pPr>
            <a:lvl7pPr marL="2742377" indent="0">
              <a:buNone/>
              <a:defRPr sz="1600">
                <a:solidFill>
                  <a:schemeClr val="tx1">
                    <a:tint val="75000"/>
                  </a:schemeClr>
                </a:solidFill>
              </a:defRPr>
            </a:lvl7pPr>
            <a:lvl8pPr marL="3199440" indent="0">
              <a:buNone/>
              <a:defRPr sz="1600">
                <a:solidFill>
                  <a:schemeClr val="tx1">
                    <a:tint val="75000"/>
                  </a:schemeClr>
                </a:solidFill>
              </a:defRPr>
            </a:lvl8pPr>
            <a:lvl9pPr marL="3656503"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sp>
        <p:nvSpPr>
          <p:cNvPr id="2" name="TextBox 1">
            <a:extLst>
              <a:ext uri="{FF2B5EF4-FFF2-40B4-BE49-F238E27FC236}">
                <a16:creationId xmlns:a16="http://schemas.microsoft.com/office/drawing/2014/main" id="{3E1CB3FA-A40E-89BA-D9B4-612659A1D7F8}"/>
              </a:ext>
            </a:extLst>
          </p:cNvPr>
          <p:cNvSpPr txBox="1"/>
          <p:nvPr userDrawn="1"/>
        </p:nvSpPr>
        <p:spPr>
          <a:xfrm>
            <a:off x="1602706" y="6401580"/>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2024 Lenovo Internal. All rights reserved.</a:t>
            </a:r>
          </a:p>
        </p:txBody>
      </p:sp>
      <p:grpSp>
        <p:nvGrpSpPr>
          <p:cNvPr id="3" name="Group 2">
            <a:extLst>
              <a:ext uri="{FF2B5EF4-FFF2-40B4-BE49-F238E27FC236}">
                <a16:creationId xmlns:a16="http://schemas.microsoft.com/office/drawing/2014/main" id="{FB68E53D-8D38-4B99-06F1-FB4045C1E803}"/>
              </a:ext>
            </a:extLst>
          </p:cNvPr>
          <p:cNvGrpSpPr>
            <a:grpSpLocks noChangeAspect="1"/>
          </p:cNvGrpSpPr>
          <p:nvPr userDrawn="1"/>
        </p:nvGrpSpPr>
        <p:grpSpPr>
          <a:xfrm>
            <a:off x="760611" y="6348283"/>
            <a:ext cx="777442" cy="259316"/>
            <a:chOff x="547688" y="952500"/>
            <a:chExt cx="12190413" cy="4067175"/>
          </a:xfrm>
        </p:grpSpPr>
        <p:sp>
          <p:nvSpPr>
            <p:cNvPr id="4" name="Rectangle 3">
              <a:extLst>
                <a:ext uri="{FF2B5EF4-FFF2-40B4-BE49-F238E27FC236}">
                  <a16:creationId xmlns:a16="http://schemas.microsoft.com/office/drawing/2014/main" id="{7B980263-2916-F21B-C57E-4D2C5D0C6879}"/>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6" name="Freeform 7">
              <a:extLst>
                <a:ext uri="{FF2B5EF4-FFF2-40B4-BE49-F238E27FC236}">
                  <a16:creationId xmlns:a16="http://schemas.microsoft.com/office/drawing/2014/main" id="{9963EF3A-E5EB-BF83-AE65-6242B1661D0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 name="Freeform 8">
              <a:extLst>
                <a:ext uri="{FF2B5EF4-FFF2-40B4-BE49-F238E27FC236}">
                  <a16:creationId xmlns:a16="http://schemas.microsoft.com/office/drawing/2014/main" id="{8E894888-D539-48CF-7E80-4B30A55764E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 name="Freeform 9">
              <a:extLst>
                <a:ext uri="{FF2B5EF4-FFF2-40B4-BE49-F238E27FC236}">
                  <a16:creationId xmlns:a16="http://schemas.microsoft.com/office/drawing/2014/main" id="{A681269A-84EF-7A74-26C2-AA9D63BF38D7}"/>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 name="Freeform 10">
              <a:extLst>
                <a:ext uri="{FF2B5EF4-FFF2-40B4-BE49-F238E27FC236}">
                  <a16:creationId xmlns:a16="http://schemas.microsoft.com/office/drawing/2014/main" id="{A46570AB-4E06-E508-810C-A8843C51D4F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 name="Freeform 10">
              <a:extLst>
                <a:ext uri="{FF2B5EF4-FFF2-40B4-BE49-F238E27FC236}">
                  <a16:creationId xmlns:a16="http://schemas.microsoft.com/office/drawing/2014/main" id="{E4BCE35C-5FE5-30D2-825F-5F6BD7E2E562}"/>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2" name="Freeform 11">
              <a:extLst>
                <a:ext uri="{FF2B5EF4-FFF2-40B4-BE49-F238E27FC236}">
                  <a16:creationId xmlns:a16="http://schemas.microsoft.com/office/drawing/2014/main" id="{84957B54-C991-1A8F-6F65-A7A27118B92B}"/>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Tree>
    <p:extLst>
      <p:ext uri="{BB962C8B-B14F-4D97-AF65-F5344CB8AC3E}">
        <p14:creationId xmlns:p14="http://schemas.microsoft.com/office/powerpoint/2010/main" val="2413406152"/>
      </p:ext>
    </p:extLst>
  </p:cSld>
  <p:clrMapOvr>
    <a:masterClrMapping/>
  </p:clrMapOvr>
  <p:transition spd="med"/>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2_Section Header_Black">
    <p:bg>
      <p:bgPr>
        <a:solidFill>
          <a:srgbClr val="1E0113"/>
        </a:solidFill>
        <a:effectLst/>
      </p:bgPr>
    </p:bg>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89C3EB64-A851-71DD-8882-1FDB7C2E99CB}"/>
              </a:ext>
            </a:extLst>
          </p:cNvPr>
          <p:cNvSpPr txBox="1"/>
          <p:nvPr userDrawn="1"/>
        </p:nvSpPr>
        <p:spPr>
          <a:xfrm>
            <a:off x="1602806"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2024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9" name="Freeform 7">
              <a:extLst>
                <a:ext uri="{FF2B5EF4-FFF2-40B4-BE49-F238E27FC236}">
                  <a16:creationId xmlns:a16="http://schemas.microsoft.com/office/drawing/2014/main" id="{AFC16D85-BEED-1820-DFF9-5D8B0AACAC2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0" name="Freeform 8">
              <a:extLst>
                <a:ext uri="{FF2B5EF4-FFF2-40B4-BE49-F238E27FC236}">
                  <a16:creationId xmlns:a16="http://schemas.microsoft.com/office/drawing/2014/main" id="{1F2566FE-64C0-16F6-945D-2961668799EB}"/>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1" name="Freeform 9">
              <a:extLst>
                <a:ext uri="{FF2B5EF4-FFF2-40B4-BE49-F238E27FC236}">
                  <a16:creationId xmlns:a16="http://schemas.microsoft.com/office/drawing/2014/main" id="{D3B60C47-FE53-B519-B5B0-91907EAADB5E}"/>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2" name="Freeform 10">
              <a:extLst>
                <a:ext uri="{FF2B5EF4-FFF2-40B4-BE49-F238E27FC236}">
                  <a16:creationId xmlns:a16="http://schemas.microsoft.com/office/drawing/2014/main" id="{51BD7309-4598-0B4D-F955-25A4778655B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3" name="Freeform 10">
              <a:extLst>
                <a:ext uri="{FF2B5EF4-FFF2-40B4-BE49-F238E27FC236}">
                  <a16:creationId xmlns:a16="http://schemas.microsoft.com/office/drawing/2014/main" id="{3AB317A1-606F-084E-CD32-A64A53D259C5}"/>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4" name="Freeform 11">
              <a:extLst>
                <a:ext uri="{FF2B5EF4-FFF2-40B4-BE49-F238E27FC236}">
                  <a16:creationId xmlns:a16="http://schemas.microsoft.com/office/drawing/2014/main" id="{3ECEF077-D5E5-A906-C26A-748935BA5E8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46" name="Title 16"/>
          <p:cNvSpPr>
            <a:spLocks noGrp="1"/>
          </p:cNvSpPr>
          <p:nvPr>
            <p:ph type="title" hasCustomPrompt="1"/>
          </p:nvPr>
        </p:nvSpPr>
        <p:spPr bwMode="gray">
          <a:xfrm>
            <a:off x="750529" y="1549494"/>
            <a:ext cx="9923824" cy="2405203"/>
          </a:xfrm>
          <a:prstGeom prst="rect">
            <a:avLst/>
          </a:prstGeom>
        </p:spPr>
        <p:txBody>
          <a:bodyPr lIns="0" tIns="0" rIns="0" bIns="0" anchor="b" anchorCtr="0"/>
          <a:lstStyle>
            <a:lvl1pPr marL="0" algn="l" defTabSz="1218621" rtl="0" eaLnBrk="1" latinLnBrk="0" hangingPunct="1">
              <a:lnSpc>
                <a:spcPct val="75000"/>
              </a:lnSpc>
              <a:spcBef>
                <a:spcPct val="0"/>
              </a:spcBef>
              <a:buNone/>
              <a:defRPr lang="en-US" sz="5998"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2"/>
            <a:ext cx="9923824" cy="327013"/>
          </a:xfrm>
          <a:prstGeom prst="rect">
            <a:avLst/>
          </a:prstGeom>
        </p:spPr>
        <p:txBody>
          <a:bodyPr wrap="square" lIns="0" tIns="0" rIns="0" bIns="0" anchor="t" anchorCtr="0">
            <a:spAutoFit/>
          </a:bodyPr>
          <a:lstStyle>
            <a:lvl1pPr marL="0" indent="0">
              <a:lnSpc>
                <a:spcPct val="85000"/>
              </a:lnSpc>
              <a:spcBef>
                <a:spcPts val="0"/>
              </a:spcBef>
              <a:buNone/>
              <a:defRPr sz="2499" spc="0" baseline="0">
                <a:solidFill>
                  <a:schemeClr val="bg1"/>
                </a:solidFill>
              </a:defRPr>
            </a:lvl1pPr>
            <a:lvl2pPr marL="457063" indent="0">
              <a:buNone/>
              <a:defRPr sz="1999">
                <a:solidFill>
                  <a:schemeClr val="tx1">
                    <a:tint val="75000"/>
                  </a:schemeClr>
                </a:solidFill>
              </a:defRPr>
            </a:lvl2pPr>
            <a:lvl3pPr marL="914126" indent="0">
              <a:buNone/>
              <a:defRPr sz="1799">
                <a:solidFill>
                  <a:schemeClr val="tx1">
                    <a:tint val="75000"/>
                  </a:schemeClr>
                </a:solidFill>
              </a:defRPr>
            </a:lvl3pPr>
            <a:lvl4pPr marL="1371189" indent="0">
              <a:buNone/>
              <a:defRPr sz="1600">
                <a:solidFill>
                  <a:schemeClr val="tx1">
                    <a:tint val="75000"/>
                  </a:schemeClr>
                </a:solidFill>
              </a:defRPr>
            </a:lvl4pPr>
            <a:lvl5pPr marL="1828251" indent="0">
              <a:buNone/>
              <a:defRPr sz="1600">
                <a:solidFill>
                  <a:schemeClr val="tx1">
                    <a:tint val="75000"/>
                  </a:schemeClr>
                </a:solidFill>
              </a:defRPr>
            </a:lvl5pPr>
            <a:lvl6pPr marL="2285314" indent="0">
              <a:buNone/>
              <a:defRPr sz="1600">
                <a:solidFill>
                  <a:schemeClr val="tx1">
                    <a:tint val="75000"/>
                  </a:schemeClr>
                </a:solidFill>
              </a:defRPr>
            </a:lvl6pPr>
            <a:lvl7pPr marL="2742377" indent="0">
              <a:buNone/>
              <a:defRPr sz="1600">
                <a:solidFill>
                  <a:schemeClr val="tx1">
                    <a:tint val="75000"/>
                  </a:schemeClr>
                </a:solidFill>
              </a:defRPr>
            </a:lvl7pPr>
            <a:lvl8pPr marL="3199440" indent="0">
              <a:buNone/>
              <a:defRPr sz="1600">
                <a:solidFill>
                  <a:schemeClr val="tx1">
                    <a:tint val="75000"/>
                  </a:schemeClr>
                </a:solidFill>
              </a:defRPr>
            </a:lvl8pPr>
            <a:lvl9pPr marL="3656503"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676537536"/>
      </p:ext>
    </p:extLst>
  </p:cSld>
  <p:clrMapOvr>
    <a:masterClrMapping/>
  </p:clrMapOvr>
  <p:transition spd="med"/>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2" y="442528"/>
            <a:ext cx="10670780"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99A0C0A2-1C95-CF60-15E7-57B445A8992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65078727"/>
      </p:ext>
    </p:extLst>
  </p:cSld>
  <p:clrMapOvr>
    <a:masterClrMapping/>
  </p:clrMapOvr>
  <p:transition spd="med"/>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2_Title Only_Black">
    <p:bg>
      <p:bgPr>
        <a:solidFill>
          <a:srgbClr val="1E0113"/>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2" y="442528"/>
            <a:ext cx="10670780"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A245D89D-54AB-A7D6-4141-95E6B3C3695D}"/>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006532869"/>
      </p:ext>
    </p:extLst>
  </p:cSld>
  <p:clrMapOvr>
    <a:masterClrMapping/>
  </p:clrMapOvr>
  <p:transition spd="med"/>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2_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1999" b="0">
                <a:solidFill>
                  <a:schemeClr val="tx1"/>
                </a:solidFill>
                <a:latin typeface="Arial" pitchFamily="34" charset="0"/>
                <a:cs typeface="Arial" pitchFamily="34" charset="0"/>
              </a:defRPr>
            </a:lvl1pPr>
            <a:lvl2pPr marL="609310" indent="0">
              <a:buNone/>
              <a:defRPr sz="2699" b="1"/>
            </a:lvl2pPr>
            <a:lvl3pPr marL="1218621" indent="0">
              <a:buNone/>
              <a:defRPr sz="2399" b="1"/>
            </a:lvl3pPr>
            <a:lvl4pPr marL="1827931" indent="0">
              <a:buNone/>
              <a:defRPr sz="2099" b="1"/>
            </a:lvl4pPr>
            <a:lvl5pPr marL="2437242" indent="0">
              <a:buNone/>
              <a:defRPr sz="2099" b="1"/>
            </a:lvl5pPr>
            <a:lvl6pPr marL="3046553" indent="0">
              <a:buNone/>
              <a:defRPr sz="2099" b="1"/>
            </a:lvl6pPr>
            <a:lvl7pPr marL="3655863" indent="0">
              <a:buNone/>
              <a:defRPr sz="2099" b="1"/>
            </a:lvl7pPr>
            <a:lvl8pPr marL="4265173" indent="0">
              <a:buNone/>
              <a:defRPr sz="2099" b="1"/>
            </a:lvl8pPr>
            <a:lvl9pPr marL="4874484" indent="0">
              <a:buNone/>
              <a:defRPr sz="2099" b="1"/>
            </a:lvl9pPr>
          </a:lstStyle>
          <a:p>
            <a:pPr lvl="0"/>
            <a:r>
              <a:rPr lang="en-US"/>
              <a:t>Click to edit master text styles</a:t>
            </a:r>
          </a:p>
        </p:txBody>
      </p:sp>
      <p:sp>
        <p:nvSpPr>
          <p:cNvPr id="11" name="Title 28"/>
          <p:cNvSpPr>
            <a:spLocks noGrp="1"/>
          </p:cNvSpPr>
          <p:nvPr>
            <p:ph type="title" hasCustomPrompt="1"/>
          </p:nvPr>
        </p:nvSpPr>
        <p:spPr bwMode="gray">
          <a:xfrm>
            <a:off x="760612" y="442528"/>
            <a:ext cx="10670780"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55B6443-4299-282C-565B-68E5F9702780}"/>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917752887"/>
      </p:ext>
    </p:extLst>
  </p:cSld>
  <p:clrMapOvr>
    <a:masterClrMapping/>
  </p:clrMapOvr>
  <p:transition spd="med"/>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2_Title with Subtitle Only_Black">
    <p:bg>
      <p:bgPr>
        <a:solidFill>
          <a:srgbClr val="1E0113"/>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1999" b="0">
                <a:solidFill>
                  <a:schemeClr val="bg1"/>
                </a:solidFill>
                <a:latin typeface="Arial" pitchFamily="34" charset="0"/>
                <a:cs typeface="Arial" pitchFamily="34" charset="0"/>
              </a:defRPr>
            </a:lvl1pPr>
            <a:lvl2pPr marL="609310" indent="0">
              <a:buNone/>
              <a:defRPr sz="2699" b="1"/>
            </a:lvl2pPr>
            <a:lvl3pPr marL="1218621" indent="0">
              <a:buNone/>
              <a:defRPr sz="2399" b="1"/>
            </a:lvl3pPr>
            <a:lvl4pPr marL="1827931" indent="0">
              <a:buNone/>
              <a:defRPr sz="2099" b="1"/>
            </a:lvl4pPr>
            <a:lvl5pPr marL="2437242" indent="0">
              <a:buNone/>
              <a:defRPr sz="2099" b="1"/>
            </a:lvl5pPr>
            <a:lvl6pPr marL="3046553" indent="0">
              <a:buNone/>
              <a:defRPr sz="2099" b="1"/>
            </a:lvl6pPr>
            <a:lvl7pPr marL="3655863" indent="0">
              <a:buNone/>
              <a:defRPr sz="2099" b="1"/>
            </a:lvl7pPr>
            <a:lvl8pPr marL="4265173" indent="0">
              <a:buNone/>
              <a:defRPr sz="2099" b="1"/>
            </a:lvl8pPr>
            <a:lvl9pPr marL="4874484" indent="0">
              <a:buNone/>
              <a:defRPr sz="2099"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BC296FD5-38BC-1E97-5513-17F333DF59B9}"/>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499119471"/>
      </p:ext>
    </p:extLst>
  </p:cSld>
  <p:clrMapOvr>
    <a:masterClrMapping/>
  </p:clrMapOvr>
  <p:transition spd="med"/>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1" y="1308880"/>
            <a:ext cx="10673828" cy="4787120"/>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BC5559F-D4D6-DA53-A720-07C2A2D68FA6}"/>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609223728"/>
      </p:ext>
    </p:extLst>
  </p:cSld>
  <p:clrMapOvr>
    <a:masterClrMapping/>
  </p:clrMapOvr>
  <p:transition spd="med"/>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2_Title and Content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10673829"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3" y="1308880"/>
            <a:ext cx="10670778" cy="4787120"/>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2B190EFC-69A6-D92C-008E-75B891AE7709}"/>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4058483"/>
      </p:ext>
    </p:extLst>
  </p:cSld>
  <p:clrMapOvr>
    <a:masterClrMapping/>
  </p:clrMapOvr>
  <p:transition spd="med"/>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2_Title with Subtitle Content">
    <p:bg>
      <p:bgPr>
        <a:solidFill>
          <a:schemeClr val="bg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1" y="1749388"/>
            <a:ext cx="10673829" cy="4346612"/>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1999" b="0">
                <a:solidFill>
                  <a:schemeClr val="tx1"/>
                </a:solidFill>
                <a:latin typeface="Arial" pitchFamily="34" charset="0"/>
                <a:cs typeface="Arial" pitchFamily="34" charset="0"/>
              </a:defRPr>
            </a:lvl1pPr>
            <a:lvl2pPr marL="609310" indent="0">
              <a:buNone/>
              <a:defRPr sz="2699" b="1"/>
            </a:lvl2pPr>
            <a:lvl3pPr marL="1218621" indent="0">
              <a:buNone/>
              <a:defRPr sz="2399" b="1"/>
            </a:lvl3pPr>
            <a:lvl4pPr marL="1827931" indent="0">
              <a:buNone/>
              <a:defRPr sz="2099" b="1"/>
            </a:lvl4pPr>
            <a:lvl5pPr marL="2437242" indent="0">
              <a:buNone/>
              <a:defRPr sz="2099" b="1"/>
            </a:lvl5pPr>
            <a:lvl6pPr marL="3046553" indent="0">
              <a:buNone/>
              <a:defRPr sz="2099" b="1"/>
            </a:lvl6pPr>
            <a:lvl7pPr marL="3655863" indent="0">
              <a:buNone/>
              <a:defRPr sz="2099" b="1"/>
            </a:lvl7pPr>
            <a:lvl8pPr marL="4265173" indent="0">
              <a:buNone/>
              <a:defRPr sz="2099" b="1"/>
            </a:lvl8pPr>
            <a:lvl9pPr marL="4874484" indent="0">
              <a:buNone/>
              <a:defRPr sz="2099" b="1"/>
            </a:lvl9pPr>
          </a:lstStyle>
          <a:p>
            <a:pPr lvl="0"/>
            <a:r>
              <a:rPr lang="en-US"/>
              <a:t>Click to edit Master text styles</a:t>
            </a:r>
          </a:p>
        </p:txBody>
      </p:sp>
      <p:sp>
        <p:nvSpPr>
          <p:cNvPr id="11" name="Title 28"/>
          <p:cNvSpPr>
            <a:spLocks noGrp="1"/>
          </p:cNvSpPr>
          <p:nvPr>
            <p:ph type="title" hasCustomPrompt="1"/>
          </p:nvPr>
        </p:nvSpPr>
        <p:spPr bwMode="gray">
          <a:xfrm>
            <a:off x="760611" y="442528"/>
            <a:ext cx="10673829"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827BD319-CE6A-C56C-FAF4-F7D3C4B20C07}"/>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560660725"/>
      </p:ext>
    </p:extLst>
  </p:cSld>
  <p:clrMapOvr>
    <a:masterClrMapping/>
  </p:clrMapOvr>
  <p:transition spd="med"/>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2_Title with Subtitle Content_Black">
    <p:bg>
      <p:bgPr>
        <a:solidFill>
          <a:srgbClr val="1E0113"/>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1" y="1749389"/>
            <a:ext cx="10673829" cy="4346612"/>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1999" b="0">
                <a:solidFill>
                  <a:schemeClr val="bg1"/>
                </a:solidFill>
                <a:latin typeface="Arial" pitchFamily="34" charset="0"/>
                <a:cs typeface="Arial" pitchFamily="34" charset="0"/>
              </a:defRPr>
            </a:lvl1pPr>
            <a:lvl2pPr marL="609310" indent="0">
              <a:buNone/>
              <a:defRPr sz="2699" b="1"/>
            </a:lvl2pPr>
            <a:lvl3pPr marL="1218621" indent="0">
              <a:buNone/>
              <a:defRPr sz="2399" b="1"/>
            </a:lvl3pPr>
            <a:lvl4pPr marL="1827931" indent="0">
              <a:buNone/>
              <a:defRPr sz="2099" b="1"/>
            </a:lvl4pPr>
            <a:lvl5pPr marL="2437242" indent="0">
              <a:buNone/>
              <a:defRPr sz="2099" b="1"/>
            </a:lvl5pPr>
            <a:lvl6pPr marL="3046553" indent="0">
              <a:buNone/>
              <a:defRPr sz="2099" b="1"/>
            </a:lvl6pPr>
            <a:lvl7pPr marL="3655863" indent="0">
              <a:buNone/>
              <a:defRPr sz="2099" b="1"/>
            </a:lvl7pPr>
            <a:lvl8pPr marL="4265173" indent="0">
              <a:buNone/>
              <a:defRPr sz="2099" b="1"/>
            </a:lvl8pPr>
            <a:lvl9pPr marL="4874484" indent="0">
              <a:buNone/>
              <a:defRPr sz="2099" b="1"/>
            </a:lvl9pPr>
          </a:lstStyle>
          <a:p>
            <a:pPr lvl="0"/>
            <a:r>
              <a:rPr lang="en-US"/>
              <a:t>Click to edit master text styles</a:t>
            </a:r>
          </a:p>
        </p:txBody>
      </p:sp>
      <p:sp>
        <p:nvSpPr>
          <p:cNvPr id="11" name="Title 28"/>
          <p:cNvSpPr>
            <a:spLocks noGrp="1"/>
          </p:cNvSpPr>
          <p:nvPr>
            <p:ph type="title" hasCustomPrompt="1"/>
          </p:nvPr>
        </p:nvSpPr>
        <p:spPr bwMode="gray">
          <a:xfrm>
            <a:off x="760611" y="442528"/>
            <a:ext cx="10673829"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2F390D5-FAC3-3E07-D977-2FACDFA7E866}"/>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173790867"/>
      </p:ext>
    </p:extLst>
  </p:cSld>
  <p:clrMapOvr>
    <a:masterClrMapping/>
  </p:clrMapOvr>
  <p:transition spd="med"/>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2_Two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1" y="442528"/>
            <a:ext cx="10673829"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3"/>
            <a:ext cx="5070324" cy="4788408"/>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340962" y="1307593"/>
            <a:ext cx="5067096" cy="4788408"/>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2FE5186-E704-46DB-A234-0339427F829C}"/>
              </a:ext>
            </a:extLst>
          </p:cNvPr>
          <p:cNvSpPr>
            <a:spLocks noGrp="1"/>
          </p:cNvSpPr>
          <p:nvPr>
            <p:ph type="sldNum" sz="quarter" idx="15"/>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586906405"/>
      </p:ext>
    </p:extLst>
  </p:cSld>
  <p:clrMapOvr>
    <a:masterClrMapping/>
  </p:clrMapOvr>
  <p:transition spd="med"/>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2_Two Column Slide_Black">
    <p:bg>
      <p:bgPr>
        <a:solidFill>
          <a:srgbClr val="1E01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2" y="442528"/>
            <a:ext cx="10670780"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6"/>
            <a:ext cx="5070324" cy="4788407"/>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340962" y="1307596"/>
            <a:ext cx="5067096" cy="4788407"/>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A1D52F52-4191-E70A-A15D-3F4D0CF0AA2B}"/>
              </a:ext>
            </a:extLst>
          </p:cNvPr>
          <p:cNvSpPr>
            <a:spLocks noGrp="1"/>
          </p:cNvSpPr>
          <p:nvPr>
            <p:ph type="sldNum" sz="quarter" idx="15"/>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271378136"/>
      </p:ext>
    </p:extLst>
  </p:cSld>
  <p:clrMapOvr>
    <a:masterClrMapping/>
  </p:clrMapOvr>
  <p:transition spd="med"/>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2_Three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1" y="442528"/>
            <a:ext cx="10673829"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6"/>
            <a:ext cx="3343142" cy="4788407"/>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2"/>
          <p:cNvSpPr>
            <a:spLocks noGrp="1"/>
          </p:cNvSpPr>
          <p:nvPr>
            <p:ph sz="half" idx="10"/>
          </p:nvPr>
        </p:nvSpPr>
        <p:spPr bwMode="gray">
          <a:xfrm>
            <a:off x="4378398" y="1307596"/>
            <a:ext cx="3344059" cy="4788407"/>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017903" y="1307596"/>
            <a:ext cx="3416536" cy="4788407"/>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C61C74C-45BE-3DE8-0DFD-4B97D814FB04}"/>
              </a:ext>
            </a:extLst>
          </p:cNvPr>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971635740"/>
      </p:ext>
    </p:extLst>
  </p:cSld>
  <p:clrMapOvr>
    <a:masterClrMapping/>
  </p:clrMapOvr>
  <p:transition spd="med"/>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3_Three Column Slide_Black">
    <p:bg>
      <p:bgPr>
        <a:solidFill>
          <a:srgbClr val="1E01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1" y="442528"/>
            <a:ext cx="10673829"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6"/>
            <a:ext cx="3343142" cy="4788407"/>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2"/>
          <p:cNvSpPr>
            <a:spLocks noGrp="1"/>
          </p:cNvSpPr>
          <p:nvPr>
            <p:ph sz="half" idx="10"/>
          </p:nvPr>
        </p:nvSpPr>
        <p:spPr bwMode="gray">
          <a:xfrm>
            <a:off x="4378400" y="1307596"/>
            <a:ext cx="3343142" cy="4788407"/>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017903" y="1307596"/>
            <a:ext cx="3416536" cy="4788407"/>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3A92B045-EC23-B30D-E716-8FEBB279E86E}"/>
              </a:ext>
            </a:extLst>
          </p:cNvPr>
          <p:cNvSpPr>
            <a:spLocks noGrp="1"/>
          </p:cNvSpPr>
          <p:nvPr>
            <p:ph type="sldNum" sz="quarter" idx="12"/>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169726098"/>
      </p:ext>
    </p:extLst>
  </p:cSld>
  <p:clrMapOvr>
    <a:masterClrMapping/>
  </p:clrMapOvr>
  <p:transition spd="med"/>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2_Title w/Imag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2" y="442528"/>
            <a:ext cx="5725006"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2" y="1307593"/>
            <a:ext cx="5725006" cy="4788408"/>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399">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C8F3C117-A202-AC1A-30DA-A95049B2670E}"/>
              </a:ext>
            </a:extLst>
          </p:cNvPr>
          <p:cNvSpPr>
            <a:spLocks noGrp="1"/>
          </p:cNvSpPr>
          <p:nvPr>
            <p:ph type="sldNum" sz="quarter" idx="17"/>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364474447"/>
      </p:ext>
    </p:extLst>
  </p:cSld>
  <p:clrMapOvr>
    <a:masterClrMapping/>
  </p:clrMapOvr>
  <p:transition spd="med"/>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2_Title w/Image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2" y="442528"/>
            <a:ext cx="5725006"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2" y="1307595"/>
            <a:ext cx="5725006" cy="4919589"/>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399">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EF7E7426-E0FB-DA60-E1E0-A41FD9009F5D}"/>
              </a:ext>
            </a:extLst>
          </p:cNvPr>
          <p:cNvSpPr>
            <a:spLocks noGrp="1"/>
          </p:cNvSpPr>
          <p:nvPr>
            <p:ph type="sldNum" sz="quarter" idx="17"/>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411211490"/>
      </p:ext>
    </p:extLst>
  </p:cSld>
  <p:clrMapOvr>
    <a:masterClrMapping/>
  </p:clrMapOvr>
  <p:transition spd="med"/>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2_Photo + Statement">
    <p:spTree>
      <p:nvGrpSpPr>
        <p:cNvPr id="1" name=""/>
        <p:cNvGrpSpPr/>
        <p:nvPr/>
      </p:nvGrpSpPr>
      <p:grpSpPr>
        <a:xfrm>
          <a:off x="0" y="0"/>
          <a:ext cx="0" cy="0"/>
          <a:chOff x="0" y="0"/>
          <a:chExt cx="0" cy="0"/>
        </a:xfrm>
      </p:grpSpPr>
      <p:sp>
        <p:nvSpPr>
          <p:cNvPr id="3" name="Rectangle 2"/>
          <p:cNvSpPr/>
          <p:nvPr userDrawn="1"/>
        </p:nvSpPr>
        <p:spPr>
          <a:xfrm>
            <a:off x="2"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6" name="Picture Placeholder 8"/>
          <p:cNvSpPr>
            <a:spLocks noGrp="1"/>
          </p:cNvSpPr>
          <p:nvPr>
            <p:ph type="pic" sz="quarter" idx="16"/>
          </p:nvPr>
        </p:nvSpPr>
        <p:spPr>
          <a:xfrm>
            <a:off x="4571604" y="0"/>
            <a:ext cx="7620396" cy="6858000"/>
          </a:xfrm>
          <a:prstGeom prst="rect">
            <a:avLst/>
          </a:prstGeom>
        </p:spPr>
        <p:txBody>
          <a:bodyPr anchor="ctr"/>
          <a:lstStyle>
            <a:lvl1pPr marL="0" indent="0" algn="ctr">
              <a:buNone/>
              <a:defRPr sz="2399">
                <a:solidFill>
                  <a:schemeClr val="accent1"/>
                </a:solidFill>
              </a:defRPr>
            </a:lvl1pPr>
          </a:lstStyle>
          <a:p>
            <a:r>
              <a:rPr lang="en-US"/>
              <a:t>Click icon to add picture</a:t>
            </a:r>
          </a:p>
        </p:txBody>
      </p:sp>
      <p:sp>
        <p:nvSpPr>
          <p:cNvPr id="14" name="Text Placeholder 3"/>
          <p:cNvSpPr>
            <a:spLocks noGrp="1"/>
          </p:cNvSpPr>
          <p:nvPr>
            <p:ph type="body" sz="quarter" idx="18" hasCustomPrompt="1"/>
          </p:nvPr>
        </p:nvSpPr>
        <p:spPr>
          <a:xfrm>
            <a:off x="760610" y="995012"/>
            <a:ext cx="3428016" cy="1436465"/>
          </a:xfrm>
          <a:prstGeom prst="rect">
            <a:avLst/>
          </a:prstGeom>
          <a:noFill/>
        </p:spPr>
        <p:txBody>
          <a:bodyPr lIns="0" tIns="0" rIns="0" bIns="0" anchor="b" anchorCtr="0">
            <a:noAutofit/>
          </a:bodyPr>
          <a:lstStyle>
            <a:lvl1pPr marL="0" indent="0">
              <a:lnSpc>
                <a:spcPct val="85000"/>
              </a:lnSpc>
              <a:spcBef>
                <a:spcPts val="0"/>
              </a:spcBef>
              <a:buFont typeface="Arial" panose="020B0604020202020204" pitchFamily="34" charset="0"/>
              <a:buNone/>
              <a:defRPr sz="4399" b="1" strike="noStrike" spc="-150" baseline="0">
                <a:solidFill>
                  <a:schemeClr val="tx1"/>
                </a:solidFill>
              </a:defRPr>
            </a:lvl1pPr>
            <a:lvl2pPr marL="341211" indent="0">
              <a:buNone/>
              <a:defRPr/>
            </a:lvl2pPr>
            <a:lvl3pPr marL="679246" indent="0">
              <a:buNone/>
              <a:defRPr/>
            </a:lvl3pPr>
            <a:lvl4pPr marL="966497" indent="0">
              <a:buNone/>
              <a:defRPr/>
            </a:lvl4pPr>
            <a:lvl5pPr marL="1145831" indent="0">
              <a:buNone/>
              <a:defRPr/>
            </a:lvl5pPr>
          </a:lstStyle>
          <a:p>
            <a:pPr lvl="0"/>
            <a:r>
              <a:rPr lang="en-US"/>
              <a:t>Click to edit slide title</a:t>
            </a:r>
          </a:p>
        </p:txBody>
      </p:sp>
      <p:sp>
        <p:nvSpPr>
          <p:cNvPr id="2" name="Slide Number Placeholder 1">
            <a:extLst>
              <a:ext uri="{FF2B5EF4-FFF2-40B4-BE49-F238E27FC236}">
                <a16:creationId xmlns:a16="http://schemas.microsoft.com/office/drawing/2014/main" id="{DA2637C5-16EA-761D-E2F8-7F6B3E3B6F6C}"/>
              </a:ext>
            </a:extLst>
          </p:cNvPr>
          <p:cNvSpPr>
            <a:spLocks noGrp="1"/>
          </p:cNvSpPr>
          <p:nvPr>
            <p:ph type="sldNum" sz="quarter" idx="20"/>
          </p:nvPr>
        </p:nvSpPr>
        <p:spPr/>
        <p:txBody>
          <a:bodyPr/>
          <a:lstStyle/>
          <a:p>
            <a:fld id="{6D22F896-40B5-4ADD-8801-0D06FADFA095}" type="slidenum">
              <a:rPr lang="en-US" smtClean="0"/>
              <a:pPr/>
              <a:t>‹#›</a:t>
            </a:fld>
            <a:endParaRPr lang="en-US"/>
          </a:p>
        </p:txBody>
      </p:sp>
      <p:sp>
        <p:nvSpPr>
          <p:cNvPr id="12" name="Content Placeholder 2">
            <a:extLst>
              <a:ext uri="{FF2B5EF4-FFF2-40B4-BE49-F238E27FC236}">
                <a16:creationId xmlns:a16="http://schemas.microsoft.com/office/drawing/2014/main" id="{3939283D-21AA-FD28-A517-FFF4AF9FDA82}"/>
              </a:ext>
            </a:extLst>
          </p:cNvPr>
          <p:cNvSpPr>
            <a:spLocks noGrp="1"/>
          </p:cNvSpPr>
          <p:nvPr>
            <p:ph sz="half" idx="1"/>
          </p:nvPr>
        </p:nvSpPr>
        <p:spPr bwMode="gray">
          <a:xfrm>
            <a:off x="760610" y="2815936"/>
            <a:ext cx="3428016" cy="3280064"/>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05057657"/>
      </p:ext>
    </p:extLst>
  </p:cSld>
  <p:clrMapOvr>
    <a:masterClrMapping/>
  </p:clrMapOvr>
  <p:transition spd="med"/>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preserve="1" userDrawn="1">
  <p:cSld name="2_Photo + Statement_Black">
    <p:bg>
      <p:bgPr>
        <a:solidFill>
          <a:srgbClr val="1E0113"/>
        </a:solidFill>
        <a:effectLst/>
      </p:bgPr>
    </p:bg>
    <p:spTree>
      <p:nvGrpSpPr>
        <p:cNvPr id="1" name=""/>
        <p:cNvGrpSpPr/>
        <p:nvPr/>
      </p:nvGrpSpPr>
      <p:grpSpPr>
        <a:xfrm>
          <a:off x="0" y="0"/>
          <a:ext cx="0" cy="0"/>
          <a:chOff x="0" y="0"/>
          <a:chExt cx="0" cy="0"/>
        </a:xfrm>
      </p:grpSpPr>
      <p:sp>
        <p:nvSpPr>
          <p:cNvPr id="3" name="Rectangle 2"/>
          <p:cNvSpPr/>
          <p:nvPr userDrawn="1"/>
        </p:nvSpPr>
        <p:spPr>
          <a:xfrm>
            <a:off x="2"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6" name="Picture Placeholder 8"/>
          <p:cNvSpPr>
            <a:spLocks noGrp="1"/>
          </p:cNvSpPr>
          <p:nvPr>
            <p:ph type="pic" sz="quarter" idx="16"/>
          </p:nvPr>
        </p:nvSpPr>
        <p:spPr>
          <a:xfrm>
            <a:off x="4571604" y="0"/>
            <a:ext cx="7620396" cy="6858000"/>
          </a:xfrm>
          <a:prstGeom prst="rect">
            <a:avLst/>
          </a:prstGeom>
        </p:spPr>
        <p:txBody>
          <a:bodyPr anchor="ctr"/>
          <a:lstStyle>
            <a:lvl1pPr marL="0" indent="0" algn="ctr">
              <a:buNone/>
              <a:defRPr sz="2399">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EC182470-3621-1323-235D-7DBA176E68EC}"/>
              </a:ext>
            </a:extLst>
          </p:cNvPr>
          <p:cNvSpPr>
            <a:spLocks noGrp="1"/>
          </p:cNvSpPr>
          <p:nvPr>
            <p:ph type="sldNum" sz="quarter" idx="2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29" name="Text Placeholder 3">
            <a:extLst>
              <a:ext uri="{FF2B5EF4-FFF2-40B4-BE49-F238E27FC236}">
                <a16:creationId xmlns:a16="http://schemas.microsoft.com/office/drawing/2014/main" id="{C11FB6FD-7B80-D920-2B92-D358B184462D}"/>
              </a:ext>
            </a:extLst>
          </p:cNvPr>
          <p:cNvSpPr>
            <a:spLocks noGrp="1"/>
          </p:cNvSpPr>
          <p:nvPr>
            <p:ph type="body" sz="quarter" idx="18" hasCustomPrompt="1"/>
          </p:nvPr>
        </p:nvSpPr>
        <p:spPr>
          <a:xfrm>
            <a:off x="760610" y="995012"/>
            <a:ext cx="3428016" cy="1436465"/>
          </a:xfrm>
          <a:prstGeom prst="rect">
            <a:avLst/>
          </a:prstGeom>
          <a:noFill/>
        </p:spPr>
        <p:txBody>
          <a:bodyPr lIns="0" tIns="0" rIns="0" bIns="0" anchor="b" anchorCtr="0">
            <a:noAutofit/>
          </a:bodyPr>
          <a:lstStyle>
            <a:lvl1pPr marL="0" indent="0">
              <a:lnSpc>
                <a:spcPct val="85000"/>
              </a:lnSpc>
              <a:spcBef>
                <a:spcPts val="0"/>
              </a:spcBef>
              <a:buFont typeface="Arial" panose="020B0604020202020204" pitchFamily="34" charset="0"/>
              <a:buNone/>
              <a:defRPr sz="4399" b="1" strike="noStrike" spc="-150" baseline="0">
                <a:solidFill>
                  <a:schemeClr val="bg1"/>
                </a:solidFill>
              </a:defRPr>
            </a:lvl1pPr>
            <a:lvl2pPr marL="341211" indent="0">
              <a:buNone/>
              <a:defRPr/>
            </a:lvl2pPr>
            <a:lvl3pPr marL="679246" indent="0">
              <a:buNone/>
              <a:defRPr/>
            </a:lvl3pPr>
            <a:lvl4pPr marL="966497" indent="0">
              <a:buNone/>
              <a:defRPr/>
            </a:lvl4pPr>
            <a:lvl5pPr marL="1145831" indent="0">
              <a:buNone/>
              <a:defRPr/>
            </a:lvl5pPr>
          </a:lstStyle>
          <a:p>
            <a:pPr lvl="0"/>
            <a:r>
              <a:rPr lang="en-US"/>
              <a:t>Click to edit slide title</a:t>
            </a:r>
          </a:p>
        </p:txBody>
      </p:sp>
      <p:sp>
        <p:nvSpPr>
          <p:cNvPr id="30" name="Content Placeholder 2">
            <a:extLst>
              <a:ext uri="{FF2B5EF4-FFF2-40B4-BE49-F238E27FC236}">
                <a16:creationId xmlns:a16="http://schemas.microsoft.com/office/drawing/2014/main" id="{5F150789-C64C-B456-4B9A-24AED7315FBB}"/>
              </a:ext>
            </a:extLst>
          </p:cNvPr>
          <p:cNvSpPr>
            <a:spLocks noGrp="1"/>
          </p:cNvSpPr>
          <p:nvPr>
            <p:ph sz="half" idx="1"/>
          </p:nvPr>
        </p:nvSpPr>
        <p:spPr bwMode="gray">
          <a:xfrm>
            <a:off x="760610" y="2815936"/>
            <a:ext cx="3428016" cy="3280064"/>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9398620"/>
      </p:ext>
    </p:extLst>
  </p:cSld>
  <p:clrMapOvr>
    <a:masterClrMapping/>
  </p:clrMapOvr>
  <p:transition spd="med"/>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preserve="1" userDrawn="1">
  <p:cSld name="2_Big Idea">
    <p:bg>
      <p:bgPr>
        <a:solidFill>
          <a:schemeClr val="accent3">
            <a:lumMod val="25000"/>
          </a:schemeClr>
        </a:solidFill>
        <a:effectLst/>
      </p:bgPr>
    </p:bg>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B8CB8992-3FC1-1D5A-F5A3-5A7867B1CF80}"/>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7" name="Text Placeholder 6">
            <a:extLst>
              <a:ext uri="{FF2B5EF4-FFF2-40B4-BE49-F238E27FC236}">
                <a16:creationId xmlns:a16="http://schemas.microsoft.com/office/drawing/2014/main" id="{EFEF7F64-EAB6-F941-857A-EB6862B07383}"/>
              </a:ext>
            </a:extLst>
          </p:cNvPr>
          <p:cNvSpPr>
            <a:spLocks noGrp="1"/>
          </p:cNvSpPr>
          <p:nvPr>
            <p:ph type="body" sz="quarter" idx="11" hasCustomPrompt="1"/>
          </p:nvPr>
        </p:nvSpPr>
        <p:spPr>
          <a:xfrm>
            <a:off x="760611" y="1757777"/>
            <a:ext cx="10670779" cy="3342453"/>
          </a:xfrm>
          <a:prstGeom prst="rect">
            <a:avLst/>
          </a:prstGeom>
        </p:spPr>
        <p:txBody>
          <a:bodyPr wrap="square" lIns="0" rIns="0" anchor="ctr" anchorCtr="0">
            <a:spAutoFit/>
          </a:bodyPr>
          <a:lstStyle>
            <a:lvl1pPr marL="0" indent="0">
              <a:lnSpc>
                <a:spcPct val="80000"/>
              </a:lnSpc>
              <a:spcBef>
                <a:spcPts val="0"/>
              </a:spcBef>
              <a:buNone/>
              <a:defRPr sz="8797" b="1">
                <a:solidFill>
                  <a:schemeClr val="bg1"/>
                </a:solidFill>
              </a:defRPr>
            </a:lvl1pPr>
            <a:lvl2pPr marL="609311" indent="0">
              <a:buNone/>
              <a:defRPr/>
            </a:lvl2pPr>
          </a:lstStyle>
          <a:p>
            <a:pPr lvl="0"/>
            <a:r>
              <a:rPr lang="en-US"/>
              <a:t>Click to edit big idea, statement or subject</a:t>
            </a:r>
          </a:p>
        </p:txBody>
      </p:sp>
    </p:spTree>
    <p:extLst>
      <p:ext uri="{BB962C8B-B14F-4D97-AF65-F5344CB8AC3E}">
        <p14:creationId xmlns:p14="http://schemas.microsoft.com/office/powerpoint/2010/main" val="680720279"/>
      </p:ext>
    </p:extLst>
  </p:cSld>
  <p:clrMapOvr>
    <a:masterClrMapping/>
  </p:clrMapOvr>
  <p:transition spd="med"/>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2_Content w/ Product">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399">
                <a:solidFill>
                  <a:schemeClr val="accent1"/>
                </a:solidFill>
              </a:defRPr>
            </a:lvl1pPr>
          </a:lstStyle>
          <a:p>
            <a:r>
              <a:rPr lang="en-US"/>
              <a:t>Click icon to add picture</a:t>
            </a:r>
          </a:p>
        </p:txBody>
      </p:sp>
      <p:sp>
        <p:nvSpPr>
          <p:cNvPr id="9" name="Content Placeholder 2"/>
          <p:cNvSpPr>
            <a:spLocks noGrp="1"/>
          </p:cNvSpPr>
          <p:nvPr>
            <p:ph sz="half" idx="18"/>
          </p:nvPr>
        </p:nvSpPr>
        <p:spPr bwMode="gray">
          <a:xfrm>
            <a:off x="6858198" y="1307593"/>
            <a:ext cx="4573192" cy="4788408"/>
          </a:xfrm>
          <a:prstGeom prst="rect">
            <a:avLst/>
          </a:prstGeom>
        </p:spPr>
        <p:txBody>
          <a:bodyPr lIns="0" tIns="0" rIns="0" bIns="0"/>
          <a:lstStyle>
            <a:lvl1pPr marL="171399" indent="-171399">
              <a:lnSpc>
                <a:spcPct val="90000"/>
              </a:lnSpc>
              <a:spcBef>
                <a:spcPts val="10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58198" y="442528"/>
            <a:ext cx="4573192"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0AFBC96C-E04F-90E6-1BBE-C65ECD6E5C14}"/>
              </a:ext>
            </a:extLst>
          </p:cNvPr>
          <p:cNvSpPr>
            <a:spLocks noGrp="1"/>
          </p:cNvSpPr>
          <p:nvPr>
            <p:ph type="sldNum" sz="quarter" idx="19"/>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820723658"/>
      </p:ext>
    </p:extLst>
  </p:cSld>
  <p:clrMapOvr>
    <a:masterClrMapping/>
  </p:clrMapOvr>
  <p:transition spd="med"/>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userDrawn="1">
  <p:cSld name="2_Content w/ Product_Black">
    <p:bg>
      <p:bgPr>
        <a:solidFill>
          <a:srgbClr val="1E0113"/>
        </a:solidFill>
        <a:effectLst/>
      </p:bgPr>
    </p:bg>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399">
                <a:solidFill>
                  <a:schemeClr val="accent1"/>
                </a:solidFill>
              </a:defRPr>
            </a:lvl1pPr>
          </a:lstStyle>
          <a:p>
            <a:r>
              <a:rPr lang="en-US"/>
              <a:t>Click icon to add picture</a:t>
            </a:r>
          </a:p>
        </p:txBody>
      </p:sp>
      <p:sp>
        <p:nvSpPr>
          <p:cNvPr id="9" name="Content Placeholder 2"/>
          <p:cNvSpPr>
            <a:spLocks noGrp="1"/>
          </p:cNvSpPr>
          <p:nvPr>
            <p:ph sz="half" idx="18"/>
          </p:nvPr>
        </p:nvSpPr>
        <p:spPr bwMode="gray">
          <a:xfrm>
            <a:off x="6858201" y="1307592"/>
            <a:ext cx="4573191" cy="4788408"/>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58199" y="442528"/>
            <a:ext cx="4573192" cy="418576"/>
          </a:xfrm>
          <a:prstGeom prst="rect">
            <a:avLst/>
          </a:prstGeom>
        </p:spPr>
        <p:txBody>
          <a:bodyPr wrap="square" lIns="0" tIns="0" rIns="0" bIns="0" anchor="t" anchorCtr="0">
            <a:sp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E5A84DA8-2577-7EF4-6122-06E4DEEB80AF}"/>
              </a:ext>
            </a:extLst>
          </p:cNvPr>
          <p:cNvSpPr>
            <a:spLocks noGrp="1"/>
          </p:cNvSpPr>
          <p:nvPr>
            <p:ph type="sldNum" sz="quarter" idx="19"/>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089331021"/>
      </p:ext>
    </p:extLst>
  </p:cSld>
  <p:clrMapOvr>
    <a:masterClrMapping/>
  </p:clrMapOvr>
  <p:transition spd="med"/>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2_Chart Slid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10673829" cy="418576"/>
          </a:xfrm>
          <a:prstGeom prst="rect">
            <a:avLst/>
          </a:prstGeom>
        </p:spPr>
        <p:txBody>
          <a:bodyPr wrap="square" lIns="0" tIns="0" rIns="0" bIns="0" anchor="t" anchorCtr="0">
            <a:sp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760612" y="1524000"/>
            <a:ext cx="10670779" cy="4572000"/>
          </a:xfrm>
          <a:prstGeom prst="rect">
            <a:avLst/>
          </a:prstGeom>
        </p:spPr>
        <p:txBody>
          <a:bodyPr lIns="121899" tIns="853291" rIns="121899" bIns="60949" anchor="ctr" anchorCtr="0"/>
          <a:lstStyle>
            <a:lvl1pPr marL="0" indent="0" algn="ctr">
              <a:buFontTx/>
              <a:buNone/>
              <a:defRPr sz="2399" baseline="0">
                <a:solidFill>
                  <a:schemeClr val="bg2"/>
                </a:solidFill>
              </a:defRPr>
            </a:lvl1pPr>
          </a:lstStyle>
          <a:p>
            <a:r>
              <a:rPr lang="en-US"/>
              <a:t>Click icon to create chart</a:t>
            </a:r>
          </a:p>
        </p:txBody>
      </p:sp>
      <p:sp>
        <p:nvSpPr>
          <p:cNvPr id="2" name="Slide Number Placeholder 1">
            <a:extLst>
              <a:ext uri="{FF2B5EF4-FFF2-40B4-BE49-F238E27FC236}">
                <a16:creationId xmlns:a16="http://schemas.microsoft.com/office/drawing/2014/main" id="{BBE9C038-E754-006F-B382-D714EB949571}"/>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4211222663"/>
      </p:ext>
    </p:extLst>
  </p:cSld>
  <p:clrMapOvr>
    <a:masterClrMapping/>
  </p:clrMapOvr>
  <p:transition spd="med"/>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userDrawn="1">
  <p:cSld name="2_Chart Slide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2" y="442528"/>
            <a:ext cx="10670780"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760612" y="1524002"/>
            <a:ext cx="10670779" cy="4572001"/>
          </a:xfrm>
          <a:prstGeom prst="rect">
            <a:avLst/>
          </a:prstGeom>
        </p:spPr>
        <p:txBody>
          <a:bodyPr lIns="121899" tIns="853291" rIns="121899" bIns="60949" anchor="ctr" anchorCtr="0"/>
          <a:lstStyle>
            <a:lvl1pPr marL="0" indent="0" algn="ctr">
              <a:buFontTx/>
              <a:buNone/>
              <a:defRPr sz="2399" baseline="0">
                <a:solidFill>
                  <a:schemeClr val="bg1"/>
                </a:solidFill>
              </a:defRPr>
            </a:lvl1pPr>
          </a:lstStyle>
          <a:p>
            <a:r>
              <a:rPr lang="en-US"/>
              <a:t>Click icon to create chart</a:t>
            </a:r>
          </a:p>
        </p:txBody>
      </p:sp>
      <p:sp>
        <p:nvSpPr>
          <p:cNvPr id="2" name="Slide Number Placeholder 1">
            <a:extLst>
              <a:ext uri="{FF2B5EF4-FFF2-40B4-BE49-F238E27FC236}">
                <a16:creationId xmlns:a16="http://schemas.microsoft.com/office/drawing/2014/main" id="{A1222CEF-FCD3-E840-7AE1-E900A5D59CF2}"/>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3121323"/>
      </p:ext>
    </p:extLst>
  </p:cSld>
  <p:clrMapOvr>
    <a:masterClrMapping/>
  </p:clrMapOvr>
  <p:transition spd="med"/>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2_Closing Slide">
    <p:bg>
      <p:bgPr>
        <a:solidFill>
          <a:schemeClr val="bg1"/>
        </a:solidFill>
        <a:effectLst/>
      </p:bgPr>
    </p:bg>
    <p:spTree>
      <p:nvGrpSpPr>
        <p:cNvPr id="1" name=""/>
        <p:cNvGrpSpPr/>
        <p:nvPr/>
      </p:nvGrpSpPr>
      <p:grpSpPr>
        <a:xfrm>
          <a:off x="0" y="0"/>
          <a:ext cx="0" cy="0"/>
          <a:chOff x="0" y="0"/>
          <a:chExt cx="0" cy="0"/>
        </a:xfrm>
      </p:grpSpPr>
      <p:grpSp>
        <p:nvGrpSpPr>
          <p:cNvPr id="76" name="Group 75">
            <a:extLst>
              <a:ext uri="{FF2B5EF4-FFF2-40B4-BE49-F238E27FC236}">
                <a16:creationId xmlns:a16="http://schemas.microsoft.com/office/drawing/2014/main" id="{04DB0252-2F51-9D54-5F87-47E8112037C5}"/>
              </a:ext>
            </a:extLst>
          </p:cNvPr>
          <p:cNvGrpSpPr/>
          <p:nvPr userDrawn="1"/>
        </p:nvGrpSpPr>
        <p:grpSpPr>
          <a:xfrm>
            <a:off x="9392772" y="936748"/>
            <a:ext cx="1966475" cy="1042086"/>
            <a:chOff x="4988072" y="501936"/>
            <a:chExt cx="1978802" cy="1051017"/>
          </a:xfrm>
          <a:solidFill>
            <a:srgbClr val="4D144A"/>
          </a:solidFill>
        </p:grpSpPr>
        <p:sp>
          <p:nvSpPr>
            <p:cNvPr id="85" name="Freeform 5">
              <a:extLst>
                <a:ext uri="{FF2B5EF4-FFF2-40B4-BE49-F238E27FC236}">
                  <a16:creationId xmlns:a16="http://schemas.microsoft.com/office/drawing/2014/main" id="{433FD598-576F-FFF0-672B-6A9B1AF51242}"/>
                </a:ext>
              </a:extLst>
            </p:cNvPr>
            <p:cNvSpPr>
              <a:spLocks/>
            </p:cNvSpPr>
            <p:nvPr userDrawn="1"/>
          </p:nvSpPr>
          <p:spPr bwMode="auto">
            <a:xfrm>
              <a:off x="5559016" y="501936"/>
              <a:ext cx="218094" cy="282813"/>
            </a:xfrm>
            <a:custGeom>
              <a:avLst/>
              <a:gdLst>
                <a:gd name="T0" fmla="*/ 0 w 502"/>
                <a:gd name="T1" fmla="*/ 550 h 651"/>
                <a:gd name="T2" fmla="*/ 83 w 502"/>
                <a:gd name="T3" fmla="*/ 451 h 651"/>
                <a:gd name="T4" fmla="*/ 272 w 502"/>
                <a:gd name="T5" fmla="*/ 528 h 651"/>
                <a:gd name="T6" fmla="*/ 363 w 502"/>
                <a:gd name="T7" fmla="*/ 469 h 651"/>
                <a:gd name="T8" fmla="*/ 363 w 502"/>
                <a:gd name="T9" fmla="*/ 467 h 651"/>
                <a:gd name="T10" fmla="*/ 236 w 502"/>
                <a:gd name="T11" fmla="*/ 386 h 651"/>
                <a:gd name="T12" fmla="*/ 26 w 502"/>
                <a:gd name="T13" fmla="*/ 192 h 651"/>
                <a:gd name="T14" fmla="*/ 26 w 502"/>
                <a:gd name="T15" fmla="*/ 191 h 651"/>
                <a:gd name="T16" fmla="*/ 247 w 502"/>
                <a:gd name="T17" fmla="*/ 0 h 651"/>
                <a:gd name="T18" fmla="*/ 483 w 502"/>
                <a:gd name="T19" fmla="*/ 80 h 651"/>
                <a:gd name="T20" fmla="*/ 410 w 502"/>
                <a:gd name="T21" fmla="*/ 185 h 651"/>
                <a:gd name="T22" fmla="*/ 246 w 502"/>
                <a:gd name="T23" fmla="*/ 123 h 651"/>
                <a:gd name="T24" fmla="*/ 164 w 502"/>
                <a:gd name="T25" fmla="*/ 178 h 651"/>
                <a:gd name="T26" fmla="*/ 164 w 502"/>
                <a:gd name="T27" fmla="*/ 180 h 651"/>
                <a:gd name="T28" fmla="*/ 301 w 502"/>
                <a:gd name="T29" fmla="*/ 263 h 651"/>
                <a:gd name="T30" fmla="*/ 502 w 502"/>
                <a:gd name="T31" fmla="*/ 453 h 651"/>
                <a:gd name="T32" fmla="*/ 502 w 502"/>
                <a:gd name="T33" fmla="*/ 455 h 651"/>
                <a:gd name="T34" fmla="*/ 269 w 502"/>
                <a:gd name="T35" fmla="*/ 651 h 651"/>
                <a:gd name="T36" fmla="*/ 0 w 502"/>
                <a:gd name="T37" fmla="*/ 55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651">
                  <a:moveTo>
                    <a:pt x="0" y="550"/>
                  </a:moveTo>
                  <a:cubicBezTo>
                    <a:pt x="83" y="451"/>
                    <a:pt x="83" y="451"/>
                    <a:pt x="83" y="451"/>
                  </a:cubicBezTo>
                  <a:cubicBezTo>
                    <a:pt x="140" y="498"/>
                    <a:pt x="200" y="528"/>
                    <a:pt x="272" y="528"/>
                  </a:cubicBezTo>
                  <a:cubicBezTo>
                    <a:pt x="329" y="528"/>
                    <a:pt x="363" y="506"/>
                    <a:pt x="363" y="469"/>
                  </a:cubicBezTo>
                  <a:cubicBezTo>
                    <a:pt x="363" y="467"/>
                    <a:pt x="363" y="467"/>
                    <a:pt x="363" y="467"/>
                  </a:cubicBezTo>
                  <a:cubicBezTo>
                    <a:pt x="363" y="431"/>
                    <a:pt x="342" y="413"/>
                    <a:pt x="236" y="386"/>
                  </a:cubicBezTo>
                  <a:cubicBezTo>
                    <a:pt x="108" y="354"/>
                    <a:pt x="26" y="318"/>
                    <a:pt x="26" y="192"/>
                  </a:cubicBezTo>
                  <a:cubicBezTo>
                    <a:pt x="26" y="191"/>
                    <a:pt x="26" y="191"/>
                    <a:pt x="26" y="191"/>
                  </a:cubicBezTo>
                  <a:cubicBezTo>
                    <a:pt x="26" y="76"/>
                    <a:pt x="118" y="0"/>
                    <a:pt x="247" y="0"/>
                  </a:cubicBezTo>
                  <a:cubicBezTo>
                    <a:pt x="340" y="0"/>
                    <a:pt x="419" y="29"/>
                    <a:pt x="483" y="80"/>
                  </a:cubicBezTo>
                  <a:cubicBezTo>
                    <a:pt x="410" y="185"/>
                    <a:pt x="410" y="185"/>
                    <a:pt x="410" y="185"/>
                  </a:cubicBezTo>
                  <a:cubicBezTo>
                    <a:pt x="354" y="146"/>
                    <a:pt x="299" y="123"/>
                    <a:pt x="246" y="123"/>
                  </a:cubicBezTo>
                  <a:cubicBezTo>
                    <a:pt x="192" y="123"/>
                    <a:pt x="164" y="147"/>
                    <a:pt x="164" y="178"/>
                  </a:cubicBezTo>
                  <a:cubicBezTo>
                    <a:pt x="164" y="180"/>
                    <a:pt x="164" y="180"/>
                    <a:pt x="164" y="180"/>
                  </a:cubicBezTo>
                  <a:cubicBezTo>
                    <a:pt x="164" y="221"/>
                    <a:pt x="191" y="235"/>
                    <a:pt x="301" y="263"/>
                  </a:cubicBezTo>
                  <a:cubicBezTo>
                    <a:pt x="429" y="297"/>
                    <a:pt x="502" y="343"/>
                    <a:pt x="502" y="453"/>
                  </a:cubicBezTo>
                  <a:cubicBezTo>
                    <a:pt x="502" y="455"/>
                    <a:pt x="502" y="455"/>
                    <a:pt x="502" y="455"/>
                  </a:cubicBezTo>
                  <a:cubicBezTo>
                    <a:pt x="502" y="581"/>
                    <a:pt x="406" y="651"/>
                    <a:pt x="269" y="651"/>
                  </a:cubicBezTo>
                  <a:cubicBezTo>
                    <a:pt x="173" y="651"/>
                    <a:pt x="76" y="618"/>
                    <a:pt x="0" y="5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6" name="Freeform 6">
              <a:extLst>
                <a:ext uri="{FF2B5EF4-FFF2-40B4-BE49-F238E27FC236}">
                  <a16:creationId xmlns:a16="http://schemas.microsoft.com/office/drawing/2014/main" id="{824AAD10-C96C-2D4A-15C2-1D354C7C691E}"/>
                </a:ext>
              </a:extLst>
            </p:cNvPr>
            <p:cNvSpPr>
              <a:spLocks/>
            </p:cNvSpPr>
            <p:nvPr userDrawn="1"/>
          </p:nvSpPr>
          <p:spPr bwMode="auto">
            <a:xfrm>
              <a:off x="5791295" y="566212"/>
              <a:ext cx="322264" cy="214547"/>
            </a:xfrm>
            <a:custGeom>
              <a:avLst/>
              <a:gdLst>
                <a:gd name="T0" fmla="*/ 0 w 741"/>
                <a:gd name="T1" fmla="*/ 9 h 494"/>
                <a:gd name="T2" fmla="*/ 138 w 741"/>
                <a:gd name="T3" fmla="*/ 9 h 494"/>
                <a:gd name="T4" fmla="*/ 138 w 741"/>
                <a:gd name="T5" fmla="*/ 78 h 494"/>
                <a:gd name="T6" fmla="*/ 281 w 741"/>
                <a:gd name="T7" fmla="*/ 0 h 494"/>
                <a:gd name="T8" fmla="*/ 418 w 741"/>
                <a:gd name="T9" fmla="*/ 77 h 494"/>
                <a:gd name="T10" fmla="*/ 577 w 741"/>
                <a:gd name="T11" fmla="*/ 0 h 494"/>
                <a:gd name="T12" fmla="*/ 741 w 741"/>
                <a:gd name="T13" fmla="*/ 178 h 494"/>
                <a:gd name="T14" fmla="*/ 741 w 741"/>
                <a:gd name="T15" fmla="*/ 494 h 494"/>
                <a:gd name="T16" fmla="*/ 603 w 741"/>
                <a:gd name="T17" fmla="*/ 494 h 494"/>
                <a:gd name="T18" fmla="*/ 603 w 741"/>
                <a:gd name="T19" fmla="*/ 224 h 494"/>
                <a:gd name="T20" fmla="*/ 523 w 741"/>
                <a:gd name="T21" fmla="*/ 125 h 494"/>
                <a:gd name="T22" fmla="*/ 439 w 741"/>
                <a:gd name="T23" fmla="*/ 224 h 494"/>
                <a:gd name="T24" fmla="*/ 439 w 741"/>
                <a:gd name="T25" fmla="*/ 494 h 494"/>
                <a:gd name="T26" fmla="*/ 302 w 741"/>
                <a:gd name="T27" fmla="*/ 494 h 494"/>
                <a:gd name="T28" fmla="*/ 302 w 741"/>
                <a:gd name="T29" fmla="*/ 224 h 494"/>
                <a:gd name="T30" fmla="*/ 221 w 741"/>
                <a:gd name="T31" fmla="*/ 125 h 494"/>
                <a:gd name="T32" fmla="*/ 138 w 741"/>
                <a:gd name="T33" fmla="*/ 224 h 494"/>
                <a:gd name="T34" fmla="*/ 138 w 741"/>
                <a:gd name="T35" fmla="*/ 494 h 494"/>
                <a:gd name="T36" fmla="*/ 0 w 741"/>
                <a:gd name="T37" fmla="*/ 494 h 494"/>
                <a:gd name="T38" fmla="*/ 0 w 741"/>
                <a:gd name="T39"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1" h="494">
                  <a:moveTo>
                    <a:pt x="0" y="9"/>
                  </a:moveTo>
                  <a:cubicBezTo>
                    <a:pt x="138" y="9"/>
                    <a:pt x="138" y="9"/>
                    <a:pt x="138" y="9"/>
                  </a:cubicBezTo>
                  <a:cubicBezTo>
                    <a:pt x="138" y="78"/>
                    <a:pt x="138" y="78"/>
                    <a:pt x="138" y="78"/>
                  </a:cubicBezTo>
                  <a:cubicBezTo>
                    <a:pt x="170" y="37"/>
                    <a:pt x="211" y="0"/>
                    <a:pt x="281" y="0"/>
                  </a:cubicBezTo>
                  <a:cubicBezTo>
                    <a:pt x="344" y="0"/>
                    <a:pt x="392" y="28"/>
                    <a:pt x="418" y="77"/>
                  </a:cubicBezTo>
                  <a:cubicBezTo>
                    <a:pt x="460" y="27"/>
                    <a:pt x="511" y="0"/>
                    <a:pt x="577" y="0"/>
                  </a:cubicBezTo>
                  <a:cubicBezTo>
                    <a:pt x="679" y="0"/>
                    <a:pt x="741" y="62"/>
                    <a:pt x="741" y="178"/>
                  </a:cubicBezTo>
                  <a:cubicBezTo>
                    <a:pt x="741" y="494"/>
                    <a:pt x="741" y="494"/>
                    <a:pt x="741" y="494"/>
                  </a:cubicBezTo>
                  <a:cubicBezTo>
                    <a:pt x="603" y="494"/>
                    <a:pt x="603" y="494"/>
                    <a:pt x="603" y="494"/>
                  </a:cubicBezTo>
                  <a:cubicBezTo>
                    <a:pt x="603" y="224"/>
                    <a:pt x="603" y="224"/>
                    <a:pt x="603" y="224"/>
                  </a:cubicBezTo>
                  <a:cubicBezTo>
                    <a:pt x="603" y="159"/>
                    <a:pt x="574" y="125"/>
                    <a:pt x="523" y="125"/>
                  </a:cubicBezTo>
                  <a:cubicBezTo>
                    <a:pt x="471" y="125"/>
                    <a:pt x="439" y="159"/>
                    <a:pt x="439" y="224"/>
                  </a:cubicBezTo>
                  <a:cubicBezTo>
                    <a:pt x="439" y="494"/>
                    <a:pt x="439" y="494"/>
                    <a:pt x="439" y="494"/>
                  </a:cubicBezTo>
                  <a:cubicBezTo>
                    <a:pt x="302" y="494"/>
                    <a:pt x="302" y="494"/>
                    <a:pt x="302" y="494"/>
                  </a:cubicBezTo>
                  <a:cubicBezTo>
                    <a:pt x="302" y="224"/>
                    <a:pt x="302" y="224"/>
                    <a:pt x="302" y="224"/>
                  </a:cubicBezTo>
                  <a:cubicBezTo>
                    <a:pt x="302" y="159"/>
                    <a:pt x="273" y="125"/>
                    <a:pt x="221" y="125"/>
                  </a:cubicBezTo>
                  <a:cubicBezTo>
                    <a:pt x="170" y="125"/>
                    <a:pt x="138" y="159"/>
                    <a:pt x="138" y="224"/>
                  </a:cubicBezTo>
                  <a:cubicBezTo>
                    <a:pt x="138" y="494"/>
                    <a:pt x="138" y="494"/>
                    <a:pt x="138"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7" name="Freeform 7">
              <a:extLst>
                <a:ext uri="{FF2B5EF4-FFF2-40B4-BE49-F238E27FC236}">
                  <a16:creationId xmlns:a16="http://schemas.microsoft.com/office/drawing/2014/main" id="{8776387C-7DBE-0FBD-3AED-689433E76864}"/>
                </a:ext>
              </a:extLst>
            </p:cNvPr>
            <p:cNvSpPr>
              <a:spLocks noEditPoints="1"/>
            </p:cNvSpPr>
            <p:nvPr userDrawn="1"/>
          </p:nvSpPr>
          <p:spPr bwMode="auto">
            <a:xfrm>
              <a:off x="6125971" y="567985"/>
              <a:ext cx="193713" cy="216764"/>
            </a:xfrm>
            <a:custGeom>
              <a:avLst/>
              <a:gdLst>
                <a:gd name="T0" fmla="*/ 0 w 446"/>
                <a:gd name="T1" fmla="*/ 351 h 499"/>
                <a:gd name="T2" fmla="*/ 0 w 446"/>
                <a:gd name="T3" fmla="*/ 349 h 499"/>
                <a:gd name="T4" fmla="*/ 195 w 446"/>
                <a:gd name="T5" fmla="*/ 194 h 499"/>
                <a:gd name="T6" fmla="*/ 314 w 446"/>
                <a:gd name="T7" fmla="*/ 214 h 499"/>
                <a:gd name="T8" fmla="*/ 314 w 446"/>
                <a:gd name="T9" fmla="*/ 206 h 499"/>
                <a:gd name="T10" fmla="*/ 210 w 446"/>
                <a:gd name="T11" fmla="*/ 117 h 499"/>
                <a:gd name="T12" fmla="*/ 76 w 446"/>
                <a:gd name="T13" fmla="*/ 144 h 499"/>
                <a:gd name="T14" fmla="*/ 42 w 446"/>
                <a:gd name="T15" fmla="*/ 39 h 499"/>
                <a:gd name="T16" fmla="*/ 230 w 446"/>
                <a:gd name="T17" fmla="*/ 0 h 499"/>
                <a:gd name="T18" fmla="*/ 394 w 446"/>
                <a:gd name="T19" fmla="*/ 54 h 499"/>
                <a:gd name="T20" fmla="*/ 446 w 446"/>
                <a:gd name="T21" fmla="*/ 209 h 499"/>
                <a:gd name="T22" fmla="*/ 446 w 446"/>
                <a:gd name="T23" fmla="*/ 490 h 499"/>
                <a:gd name="T24" fmla="*/ 313 w 446"/>
                <a:gd name="T25" fmla="*/ 490 h 499"/>
                <a:gd name="T26" fmla="*/ 313 w 446"/>
                <a:gd name="T27" fmla="*/ 438 h 499"/>
                <a:gd name="T28" fmla="*/ 166 w 446"/>
                <a:gd name="T29" fmla="*/ 499 h 499"/>
                <a:gd name="T30" fmla="*/ 0 w 446"/>
                <a:gd name="T31" fmla="*/ 351 h 499"/>
                <a:gd name="T32" fmla="*/ 316 w 446"/>
                <a:gd name="T33" fmla="*/ 319 h 499"/>
                <a:gd name="T34" fmla="*/ 316 w 446"/>
                <a:gd name="T35" fmla="*/ 295 h 499"/>
                <a:gd name="T36" fmla="*/ 228 w 446"/>
                <a:gd name="T37" fmla="*/ 277 h 499"/>
                <a:gd name="T38" fmla="*/ 133 w 446"/>
                <a:gd name="T39" fmla="*/ 344 h 499"/>
                <a:gd name="T40" fmla="*/ 133 w 446"/>
                <a:gd name="T41" fmla="*/ 346 h 499"/>
                <a:gd name="T42" fmla="*/ 208 w 446"/>
                <a:gd name="T43" fmla="*/ 404 h 499"/>
                <a:gd name="T44" fmla="*/ 316 w 446"/>
                <a:gd name="T45" fmla="*/ 31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499">
                  <a:moveTo>
                    <a:pt x="0" y="351"/>
                  </a:moveTo>
                  <a:cubicBezTo>
                    <a:pt x="0" y="349"/>
                    <a:pt x="0" y="349"/>
                    <a:pt x="0" y="349"/>
                  </a:cubicBezTo>
                  <a:cubicBezTo>
                    <a:pt x="0" y="243"/>
                    <a:pt x="80" y="194"/>
                    <a:pt x="195" y="194"/>
                  </a:cubicBezTo>
                  <a:cubicBezTo>
                    <a:pt x="244" y="194"/>
                    <a:pt x="280" y="202"/>
                    <a:pt x="314" y="214"/>
                  </a:cubicBezTo>
                  <a:cubicBezTo>
                    <a:pt x="314" y="206"/>
                    <a:pt x="314" y="206"/>
                    <a:pt x="314" y="206"/>
                  </a:cubicBezTo>
                  <a:cubicBezTo>
                    <a:pt x="314" y="149"/>
                    <a:pt x="279" y="117"/>
                    <a:pt x="210" y="117"/>
                  </a:cubicBezTo>
                  <a:cubicBezTo>
                    <a:pt x="157" y="117"/>
                    <a:pt x="120" y="127"/>
                    <a:pt x="76" y="144"/>
                  </a:cubicBezTo>
                  <a:cubicBezTo>
                    <a:pt x="42" y="39"/>
                    <a:pt x="42" y="39"/>
                    <a:pt x="42" y="39"/>
                  </a:cubicBezTo>
                  <a:cubicBezTo>
                    <a:pt x="95" y="15"/>
                    <a:pt x="147" y="0"/>
                    <a:pt x="230" y="0"/>
                  </a:cubicBezTo>
                  <a:cubicBezTo>
                    <a:pt x="305" y="0"/>
                    <a:pt x="359" y="20"/>
                    <a:pt x="394" y="54"/>
                  </a:cubicBezTo>
                  <a:cubicBezTo>
                    <a:pt x="430" y="90"/>
                    <a:pt x="446" y="144"/>
                    <a:pt x="446" y="209"/>
                  </a:cubicBezTo>
                  <a:cubicBezTo>
                    <a:pt x="446" y="490"/>
                    <a:pt x="446" y="490"/>
                    <a:pt x="446" y="490"/>
                  </a:cubicBezTo>
                  <a:cubicBezTo>
                    <a:pt x="313" y="490"/>
                    <a:pt x="313" y="490"/>
                    <a:pt x="313" y="490"/>
                  </a:cubicBezTo>
                  <a:cubicBezTo>
                    <a:pt x="313" y="438"/>
                    <a:pt x="313" y="438"/>
                    <a:pt x="313" y="438"/>
                  </a:cubicBezTo>
                  <a:cubicBezTo>
                    <a:pt x="280" y="475"/>
                    <a:pt x="233" y="499"/>
                    <a:pt x="166" y="499"/>
                  </a:cubicBezTo>
                  <a:cubicBezTo>
                    <a:pt x="75" y="499"/>
                    <a:pt x="0" y="447"/>
                    <a:pt x="0" y="351"/>
                  </a:cubicBezTo>
                  <a:close/>
                  <a:moveTo>
                    <a:pt x="316" y="319"/>
                  </a:moveTo>
                  <a:cubicBezTo>
                    <a:pt x="316" y="295"/>
                    <a:pt x="316" y="295"/>
                    <a:pt x="316" y="295"/>
                  </a:cubicBezTo>
                  <a:cubicBezTo>
                    <a:pt x="292" y="284"/>
                    <a:pt x="262" y="277"/>
                    <a:pt x="228" y="277"/>
                  </a:cubicBezTo>
                  <a:cubicBezTo>
                    <a:pt x="169" y="277"/>
                    <a:pt x="133" y="300"/>
                    <a:pt x="133" y="344"/>
                  </a:cubicBezTo>
                  <a:cubicBezTo>
                    <a:pt x="133" y="346"/>
                    <a:pt x="133" y="346"/>
                    <a:pt x="133" y="346"/>
                  </a:cubicBezTo>
                  <a:cubicBezTo>
                    <a:pt x="133" y="383"/>
                    <a:pt x="164" y="404"/>
                    <a:pt x="208" y="404"/>
                  </a:cubicBezTo>
                  <a:cubicBezTo>
                    <a:pt x="272" y="404"/>
                    <a:pt x="316" y="369"/>
                    <a:pt x="316" y="3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8" name="Freeform 8">
              <a:extLst>
                <a:ext uri="{FF2B5EF4-FFF2-40B4-BE49-F238E27FC236}">
                  <a16:creationId xmlns:a16="http://schemas.microsoft.com/office/drawing/2014/main" id="{262E0FEC-2981-11B0-3D88-8A94D08178CF}"/>
                </a:ext>
              </a:extLst>
            </p:cNvPr>
            <p:cNvSpPr>
              <a:spLocks/>
            </p:cNvSpPr>
            <p:nvPr userDrawn="1"/>
          </p:nvSpPr>
          <p:spPr bwMode="auto">
            <a:xfrm>
              <a:off x="6336529" y="564438"/>
              <a:ext cx="127665"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9" name="Freeform 9">
              <a:extLst>
                <a:ext uri="{FF2B5EF4-FFF2-40B4-BE49-F238E27FC236}">
                  <a16:creationId xmlns:a16="http://schemas.microsoft.com/office/drawing/2014/main" id="{FECC1288-545E-BDB4-6462-3EE5544D7025}"/>
                </a:ext>
              </a:extLst>
            </p:cNvPr>
            <p:cNvSpPr>
              <a:spLocks/>
            </p:cNvSpPr>
            <p:nvPr userDrawn="1"/>
          </p:nvSpPr>
          <p:spPr bwMode="auto">
            <a:xfrm>
              <a:off x="6475719" y="516121"/>
              <a:ext cx="134757" cy="268184"/>
            </a:xfrm>
            <a:custGeom>
              <a:avLst/>
              <a:gdLst>
                <a:gd name="T0" fmla="*/ 58 w 310"/>
                <a:gd name="T1" fmla="*/ 472 h 617"/>
                <a:gd name="T2" fmla="*/ 58 w 310"/>
                <a:gd name="T3" fmla="*/ 242 h 617"/>
                <a:gd name="T4" fmla="*/ 0 w 310"/>
                <a:gd name="T5" fmla="*/ 242 h 617"/>
                <a:gd name="T6" fmla="*/ 0 w 310"/>
                <a:gd name="T7" fmla="*/ 124 h 617"/>
                <a:gd name="T8" fmla="*/ 58 w 310"/>
                <a:gd name="T9" fmla="*/ 124 h 617"/>
                <a:gd name="T10" fmla="*/ 58 w 310"/>
                <a:gd name="T11" fmla="*/ 0 h 617"/>
                <a:gd name="T12" fmla="*/ 196 w 310"/>
                <a:gd name="T13" fmla="*/ 0 h 617"/>
                <a:gd name="T14" fmla="*/ 196 w 310"/>
                <a:gd name="T15" fmla="*/ 124 h 617"/>
                <a:gd name="T16" fmla="*/ 310 w 310"/>
                <a:gd name="T17" fmla="*/ 124 h 617"/>
                <a:gd name="T18" fmla="*/ 310 w 310"/>
                <a:gd name="T19" fmla="*/ 242 h 617"/>
                <a:gd name="T20" fmla="*/ 196 w 310"/>
                <a:gd name="T21" fmla="*/ 242 h 617"/>
                <a:gd name="T22" fmla="*/ 196 w 310"/>
                <a:gd name="T23" fmla="*/ 449 h 617"/>
                <a:gd name="T24" fmla="*/ 240 w 310"/>
                <a:gd name="T25" fmla="*/ 496 h 617"/>
                <a:gd name="T26" fmla="*/ 308 w 310"/>
                <a:gd name="T27" fmla="*/ 479 h 617"/>
                <a:gd name="T28" fmla="*/ 308 w 310"/>
                <a:gd name="T29" fmla="*/ 589 h 617"/>
                <a:gd name="T30" fmla="*/ 199 w 310"/>
                <a:gd name="T31" fmla="*/ 617 h 617"/>
                <a:gd name="T32" fmla="*/ 58 w 310"/>
                <a:gd name="T33" fmla="*/ 472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7">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6" y="0"/>
                    <a:pt x="196" y="0"/>
                    <a:pt x="196" y="0"/>
                  </a:cubicBezTo>
                  <a:cubicBezTo>
                    <a:pt x="196" y="124"/>
                    <a:pt x="196" y="124"/>
                    <a:pt x="196" y="124"/>
                  </a:cubicBezTo>
                  <a:cubicBezTo>
                    <a:pt x="310" y="124"/>
                    <a:pt x="310" y="124"/>
                    <a:pt x="310" y="124"/>
                  </a:cubicBezTo>
                  <a:cubicBezTo>
                    <a:pt x="310" y="242"/>
                    <a:pt x="310" y="242"/>
                    <a:pt x="310" y="242"/>
                  </a:cubicBezTo>
                  <a:cubicBezTo>
                    <a:pt x="196" y="242"/>
                    <a:pt x="196" y="242"/>
                    <a:pt x="196" y="242"/>
                  </a:cubicBezTo>
                  <a:cubicBezTo>
                    <a:pt x="196" y="449"/>
                    <a:pt x="196" y="449"/>
                    <a:pt x="196" y="449"/>
                  </a:cubicBezTo>
                  <a:cubicBezTo>
                    <a:pt x="196" y="481"/>
                    <a:pt x="209" y="496"/>
                    <a:pt x="240" y="496"/>
                  </a:cubicBezTo>
                  <a:cubicBezTo>
                    <a:pt x="265" y="496"/>
                    <a:pt x="288" y="490"/>
                    <a:pt x="308" y="479"/>
                  </a:cubicBezTo>
                  <a:cubicBezTo>
                    <a:pt x="308" y="589"/>
                    <a:pt x="308" y="589"/>
                    <a:pt x="308" y="589"/>
                  </a:cubicBezTo>
                  <a:cubicBezTo>
                    <a:pt x="279" y="607"/>
                    <a:pt x="245" y="617"/>
                    <a:pt x="199" y="617"/>
                  </a:cubicBezTo>
                  <a:cubicBezTo>
                    <a:pt x="115" y="617"/>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0" name="Freeform 10">
              <a:extLst>
                <a:ext uri="{FF2B5EF4-FFF2-40B4-BE49-F238E27FC236}">
                  <a16:creationId xmlns:a16="http://schemas.microsoft.com/office/drawing/2014/main" id="{9DB49BE1-F1C8-5A4F-1BE7-B9C5B671A4B9}"/>
                </a:ext>
              </a:extLst>
            </p:cNvPr>
            <p:cNvSpPr>
              <a:spLocks noEditPoints="1"/>
            </p:cNvSpPr>
            <p:nvPr userDrawn="1"/>
          </p:nvSpPr>
          <p:spPr bwMode="auto">
            <a:xfrm>
              <a:off x="6618455" y="566212"/>
              <a:ext cx="207012" cy="219424"/>
            </a:xfrm>
            <a:custGeom>
              <a:avLst/>
              <a:gdLst>
                <a:gd name="T0" fmla="*/ 0 w 476"/>
                <a:gd name="T1" fmla="*/ 254 h 505"/>
                <a:gd name="T2" fmla="*/ 0 w 476"/>
                <a:gd name="T3" fmla="*/ 253 h 505"/>
                <a:gd name="T4" fmla="*/ 240 w 476"/>
                <a:gd name="T5" fmla="*/ 0 h 505"/>
                <a:gd name="T6" fmla="*/ 476 w 476"/>
                <a:gd name="T7" fmla="*/ 263 h 505"/>
                <a:gd name="T8" fmla="*/ 475 w 476"/>
                <a:gd name="T9" fmla="*/ 300 h 505"/>
                <a:gd name="T10" fmla="*/ 137 w 476"/>
                <a:gd name="T11" fmla="*/ 300 h 505"/>
                <a:gd name="T12" fmla="*/ 256 w 476"/>
                <a:gd name="T13" fmla="*/ 395 h 505"/>
                <a:gd name="T14" fmla="*/ 373 w 476"/>
                <a:gd name="T15" fmla="*/ 345 h 505"/>
                <a:gd name="T16" fmla="*/ 452 w 476"/>
                <a:gd name="T17" fmla="*/ 415 h 505"/>
                <a:gd name="T18" fmla="*/ 254 w 476"/>
                <a:gd name="T19" fmla="*/ 505 h 505"/>
                <a:gd name="T20" fmla="*/ 0 w 476"/>
                <a:gd name="T21" fmla="*/ 254 h 505"/>
                <a:gd name="T22" fmla="*/ 342 w 476"/>
                <a:gd name="T23" fmla="*/ 214 h 505"/>
                <a:gd name="T24" fmla="*/ 240 w 476"/>
                <a:gd name="T25" fmla="*/ 111 h 505"/>
                <a:gd name="T26" fmla="*/ 135 w 476"/>
                <a:gd name="T27" fmla="*/ 214 h 505"/>
                <a:gd name="T28" fmla="*/ 342 w 476"/>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6" h="505">
                  <a:moveTo>
                    <a:pt x="0" y="254"/>
                  </a:moveTo>
                  <a:cubicBezTo>
                    <a:pt x="0" y="253"/>
                    <a:pt x="0" y="253"/>
                    <a:pt x="0" y="253"/>
                  </a:cubicBezTo>
                  <a:cubicBezTo>
                    <a:pt x="0" y="114"/>
                    <a:pt x="99" y="0"/>
                    <a:pt x="240" y="0"/>
                  </a:cubicBezTo>
                  <a:cubicBezTo>
                    <a:pt x="402" y="0"/>
                    <a:pt x="476" y="126"/>
                    <a:pt x="476" y="263"/>
                  </a:cubicBezTo>
                  <a:cubicBezTo>
                    <a:pt x="476"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2" y="214"/>
                  </a:moveTo>
                  <a:cubicBezTo>
                    <a:pt x="334" y="152"/>
                    <a:pt x="298" y="111"/>
                    <a:pt x="240" y="111"/>
                  </a:cubicBezTo>
                  <a:cubicBezTo>
                    <a:pt x="183" y="111"/>
                    <a:pt x="146" y="151"/>
                    <a:pt x="135" y="214"/>
                  </a:cubicBezTo>
                  <a:lnTo>
                    <a:pt x="342"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1" name="Freeform 11">
              <a:extLst>
                <a:ext uri="{FF2B5EF4-FFF2-40B4-BE49-F238E27FC236}">
                  <a16:creationId xmlns:a16="http://schemas.microsoft.com/office/drawing/2014/main" id="{5700CEE7-82FA-F314-D150-00348A9C1993}"/>
                </a:ext>
              </a:extLst>
            </p:cNvPr>
            <p:cNvSpPr>
              <a:spLocks/>
            </p:cNvSpPr>
            <p:nvPr userDrawn="1"/>
          </p:nvSpPr>
          <p:spPr bwMode="auto">
            <a:xfrm>
              <a:off x="6837879" y="564438"/>
              <a:ext cx="127221"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2" name="Freeform 12">
              <a:extLst>
                <a:ext uri="{FF2B5EF4-FFF2-40B4-BE49-F238E27FC236}">
                  <a16:creationId xmlns:a16="http://schemas.microsoft.com/office/drawing/2014/main" id="{FC0AB9F7-3D02-4537-31F6-D98B2250C9F3}"/>
                </a:ext>
              </a:extLst>
            </p:cNvPr>
            <p:cNvSpPr>
              <a:spLocks/>
            </p:cNvSpPr>
            <p:nvPr userDrawn="1"/>
          </p:nvSpPr>
          <p:spPr bwMode="auto">
            <a:xfrm>
              <a:off x="4988072" y="888476"/>
              <a:ext cx="134757" cy="268628"/>
            </a:xfrm>
            <a:custGeom>
              <a:avLst/>
              <a:gdLst>
                <a:gd name="T0" fmla="*/ 58 w 310"/>
                <a:gd name="T1" fmla="*/ 472 h 618"/>
                <a:gd name="T2" fmla="*/ 58 w 310"/>
                <a:gd name="T3" fmla="*/ 242 h 618"/>
                <a:gd name="T4" fmla="*/ 0 w 310"/>
                <a:gd name="T5" fmla="*/ 242 h 618"/>
                <a:gd name="T6" fmla="*/ 0 w 310"/>
                <a:gd name="T7" fmla="*/ 124 h 618"/>
                <a:gd name="T8" fmla="*/ 58 w 310"/>
                <a:gd name="T9" fmla="*/ 124 h 618"/>
                <a:gd name="T10" fmla="*/ 58 w 310"/>
                <a:gd name="T11" fmla="*/ 0 h 618"/>
                <a:gd name="T12" fmla="*/ 195 w 310"/>
                <a:gd name="T13" fmla="*/ 0 h 618"/>
                <a:gd name="T14" fmla="*/ 195 w 310"/>
                <a:gd name="T15" fmla="*/ 124 h 618"/>
                <a:gd name="T16" fmla="*/ 310 w 310"/>
                <a:gd name="T17" fmla="*/ 124 h 618"/>
                <a:gd name="T18" fmla="*/ 310 w 310"/>
                <a:gd name="T19" fmla="*/ 242 h 618"/>
                <a:gd name="T20" fmla="*/ 195 w 310"/>
                <a:gd name="T21" fmla="*/ 242 h 618"/>
                <a:gd name="T22" fmla="*/ 195 w 310"/>
                <a:gd name="T23" fmla="*/ 449 h 618"/>
                <a:gd name="T24" fmla="*/ 240 w 310"/>
                <a:gd name="T25" fmla="*/ 496 h 618"/>
                <a:gd name="T26" fmla="*/ 308 w 310"/>
                <a:gd name="T27" fmla="*/ 479 h 618"/>
                <a:gd name="T28" fmla="*/ 308 w 310"/>
                <a:gd name="T29" fmla="*/ 590 h 618"/>
                <a:gd name="T30" fmla="*/ 199 w 310"/>
                <a:gd name="T31" fmla="*/ 618 h 618"/>
                <a:gd name="T32" fmla="*/ 58 w 310"/>
                <a:gd name="T33" fmla="*/ 472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8">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5" y="0"/>
                    <a:pt x="195" y="0"/>
                    <a:pt x="195" y="0"/>
                  </a:cubicBezTo>
                  <a:cubicBezTo>
                    <a:pt x="195" y="124"/>
                    <a:pt x="195" y="124"/>
                    <a:pt x="195" y="124"/>
                  </a:cubicBezTo>
                  <a:cubicBezTo>
                    <a:pt x="310" y="124"/>
                    <a:pt x="310" y="124"/>
                    <a:pt x="310" y="124"/>
                  </a:cubicBezTo>
                  <a:cubicBezTo>
                    <a:pt x="310" y="242"/>
                    <a:pt x="310" y="242"/>
                    <a:pt x="310" y="242"/>
                  </a:cubicBezTo>
                  <a:cubicBezTo>
                    <a:pt x="195" y="242"/>
                    <a:pt x="195" y="242"/>
                    <a:pt x="195" y="242"/>
                  </a:cubicBezTo>
                  <a:cubicBezTo>
                    <a:pt x="195" y="449"/>
                    <a:pt x="195" y="449"/>
                    <a:pt x="195" y="449"/>
                  </a:cubicBezTo>
                  <a:cubicBezTo>
                    <a:pt x="195" y="481"/>
                    <a:pt x="209" y="496"/>
                    <a:pt x="240" y="496"/>
                  </a:cubicBezTo>
                  <a:cubicBezTo>
                    <a:pt x="265" y="496"/>
                    <a:pt x="288" y="490"/>
                    <a:pt x="308" y="479"/>
                  </a:cubicBezTo>
                  <a:cubicBezTo>
                    <a:pt x="308" y="590"/>
                    <a:pt x="308" y="590"/>
                    <a:pt x="308" y="590"/>
                  </a:cubicBezTo>
                  <a:cubicBezTo>
                    <a:pt x="279" y="607"/>
                    <a:pt x="245" y="618"/>
                    <a:pt x="199" y="618"/>
                  </a:cubicBezTo>
                  <a:cubicBezTo>
                    <a:pt x="115" y="618"/>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3" name="Freeform 13">
              <a:extLst>
                <a:ext uri="{FF2B5EF4-FFF2-40B4-BE49-F238E27FC236}">
                  <a16:creationId xmlns:a16="http://schemas.microsoft.com/office/drawing/2014/main" id="{12D11DBC-90A7-4337-F6CB-C20DBD872CBD}"/>
                </a:ext>
              </a:extLst>
            </p:cNvPr>
            <p:cNvSpPr>
              <a:spLocks noEditPoints="1"/>
            </p:cNvSpPr>
            <p:nvPr userDrawn="1"/>
          </p:nvSpPr>
          <p:spPr bwMode="auto">
            <a:xfrm>
              <a:off x="5131251" y="938123"/>
              <a:ext cx="207455" cy="219867"/>
            </a:xfrm>
            <a:custGeom>
              <a:avLst/>
              <a:gdLst>
                <a:gd name="T0" fmla="*/ 0 w 477"/>
                <a:gd name="T1" fmla="*/ 254 h 505"/>
                <a:gd name="T2" fmla="*/ 0 w 477"/>
                <a:gd name="T3" fmla="*/ 253 h 505"/>
                <a:gd name="T4" fmla="*/ 240 w 477"/>
                <a:gd name="T5" fmla="*/ 0 h 505"/>
                <a:gd name="T6" fmla="*/ 477 w 477"/>
                <a:gd name="T7" fmla="*/ 263 h 505"/>
                <a:gd name="T8" fmla="*/ 475 w 477"/>
                <a:gd name="T9" fmla="*/ 300 h 505"/>
                <a:gd name="T10" fmla="*/ 137 w 477"/>
                <a:gd name="T11" fmla="*/ 300 h 505"/>
                <a:gd name="T12" fmla="*/ 256 w 477"/>
                <a:gd name="T13" fmla="*/ 395 h 505"/>
                <a:gd name="T14" fmla="*/ 373 w 477"/>
                <a:gd name="T15" fmla="*/ 345 h 505"/>
                <a:gd name="T16" fmla="*/ 452 w 477"/>
                <a:gd name="T17" fmla="*/ 415 h 505"/>
                <a:gd name="T18" fmla="*/ 254 w 477"/>
                <a:gd name="T19" fmla="*/ 505 h 505"/>
                <a:gd name="T20" fmla="*/ 0 w 477"/>
                <a:gd name="T21" fmla="*/ 254 h 505"/>
                <a:gd name="T22" fmla="*/ 343 w 477"/>
                <a:gd name="T23" fmla="*/ 214 h 505"/>
                <a:gd name="T24" fmla="*/ 240 w 477"/>
                <a:gd name="T25" fmla="*/ 111 h 505"/>
                <a:gd name="T26" fmla="*/ 135 w 477"/>
                <a:gd name="T27" fmla="*/ 214 h 505"/>
                <a:gd name="T28" fmla="*/ 343 w 477"/>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7" h="505">
                  <a:moveTo>
                    <a:pt x="0" y="254"/>
                  </a:moveTo>
                  <a:cubicBezTo>
                    <a:pt x="0" y="253"/>
                    <a:pt x="0" y="253"/>
                    <a:pt x="0" y="253"/>
                  </a:cubicBezTo>
                  <a:cubicBezTo>
                    <a:pt x="0" y="114"/>
                    <a:pt x="99" y="0"/>
                    <a:pt x="240" y="0"/>
                  </a:cubicBezTo>
                  <a:cubicBezTo>
                    <a:pt x="402" y="0"/>
                    <a:pt x="477" y="126"/>
                    <a:pt x="477" y="263"/>
                  </a:cubicBezTo>
                  <a:cubicBezTo>
                    <a:pt x="477"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3" y="214"/>
                  </a:moveTo>
                  <a:cubicBezTo>
                    <a:pt x="334" y="152"/>
                    <a:pt x="298" y="111"/>
                    <a:pt x="240" y="111"/>
                  </a:cubicBezTo>
                  <a:cubicBezTo>
                    <a:pt x="183" y="111"/>
                    <a:pt x="146" y="151"/>
                    <a:pt x="135" y="214"/>
                  </a:cubicBezTo>
                  <a:lnTo>
                    <a:pt x="343"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4" name="Freeform 14">
              <a:extLst>
                <a:ext uri="{FF2B5EF4-FFF2-40B4-BE49-F238E27FC236}">
                  <a16:creationId xmlns:a16="http://schemas.microsoft.com/office/drawing/2014/main" id="{F524D8E9-37C3-A27E-30E8-DF8ACF25D41F}"/>
                </a:ext>
              </a:extLst>
            </p:cNvPr>
            <p:cNvSpPr>
              <a:spLocks/>
            </p:cNvSpPr>
            <p:nvPr userDrawn="1"/>
          </p:nvSpPr>
          <p:spPr bwMode="auto">
            <a:xfrm>
              <a:off x="5348015" y="938123"/>
              <a:ext cx="195486" cy="219867"/>
            </a:xfrm>
            <a:custGeom>
              <a:avLst/>
              <a:gdLst>
                <a:gd name="T0" fmla="*/ 0 w 450"/>
                <a:gd name="T1" fmla="*/ 254 h 505"/>
                <a:gd name="T2" fmla="*/ 0 w 450"/>
                <a:gd name="T3" fmla="*/ 253 h 505"/>
                <a:gd name="T4" fmla="*/ 254 w 450"/>
                <a:gd name="T5" fmla="*/ 0 h 505"/>
                <a:gd name="T6" fmla="*/ 448 w 450"/>
                <a:gd name="T7" fmla="*/ 82 h 505"/>
                <a:gd name="T8" fmla="*/ 363 w 450"/>
                <a:gd name="T9" fmla="*/ 172 h 505"/>
                <a:gd name="T10" fmla="*/ 253 w 450"/>
                <a:gd name="T11" fmla="*/ 119 h 505"/>
                <a:gd name="T12" fmla="*/ 135 w 450"/>
                <a:gd name="T13" fmla="*/ 251 h 505"/>
                <a:gd name="T14" fmla="*/ 135 w 450"/>
                <a:gd name="T15" fmla="*/ 253 h 505"/>
                <a:gd name="T16" fmla="*/ 258 w 450"/>
                <a:gd name="T17" fmla="*/ 387 h 505"/>
                <a:gd name="T18" fmla="*/ 370 w 450"/>
                <a:gd name="T19" fmla="*/ 335 h 505"/>
                <a:gd name="T20" fmla="*/ 450 w 450"/>
                <a:gd name="T21" fmla="*/ 416 h 505"/>
                <a:gd name="T22" fmla="*/ 252 w 450"/>
                <a:gd name="T23" fmla="*/ 505 h 505"/>
                <a:gd name="T24" fmla="*/ 0 w 450"/>
                <a:gd name="T25"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0" h="505">
                  <a:moveTo>
                    <a:pt x="0" y="254"/>
                  </a:moveTo>
                  <a:cubicBezTo>
                    <a:pt x="0" y="253"/>
                    <a:pt x="0" y="253"/>
                    <a:pt x="0" y="253"/>
                  </a:cubicBezTo>
                  <a:cubicBezTo>
                    <a:pt x="0" y="114"/>
                    <a:pt x="106" y="0"/>
                    <a:pt x="254" y="0"/>
                  </a:cubicBezTo>
                  <a:cubicBezTo>
                    <a:pt x="345" y="0"/>
                    <a:pt x="402" y="31"/>
                    <a:pt x="448" y="82"/>
                  </a:cubicBezTo>
                  <a:cubicBezTo>
                    <a:pt x="363" y="172"/>
                    <a:pt x="363" y="172"/>
                    <a:pt x="363" y="172"/>
                  </a:cubicBezTo>
                  <a:cubicBezTo>
                    <a:pt x="333" y="139"/>
                    <a:pt x="302" y="119"/>
                    <a:pt x="253" y="119"/>
                  </a:cubicBezTo>
                  <a:cubicBezTo>
                    <a:pt x="184" y="119"/>
                    <a:pt x="135" y="179"/>
                    <a:pt x="135" y="251"/>
                  </a:cubicBezTo>
                  <a:cubicBezTo>
                    <a:pt x="135" y="253"/>
                    <a:pt x="135" y="253"/>
                    <a:pt x="135" y="253"/>
                  </a:cubicBezTo>
                  <a:cubicBezTo>
                    <a:pt x="135" y="327"/>
                    <a:pt x="183" y="387"/>
                    <a:pt x="258" y="387"/>
                  </a:cubicBezTo>
                  <a:cubicBezTo>
                    <a:pt x="305" y="387"/>
                    <a:pt x="336" y="367"/>
                    <a:pt x="370" y="335"/>
                  </a:cubicBezTo>
                  <a:cubicBezTo>
                    <a:pt x="450" y="416"/>
                    <a:pt x="450" y="416"/>
                    <a:pt x="450" y="416"/>
                  </a:cubicBezTo>
                  <a:cubicBezTo>
                    <a:pt x="403" y="468"/>
                    <a:pt x="349" y="505"/>
                    <a:pt x="252" y="505"/>
                  </a:cubicBezTo>
                  <a:cubicBezTo>
                    <a:pt x="106" y="505"/>
                    <a:pt x="0" y="393"/>
                    <a:pt x="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5" name="Freeform 15">
              <a:extLst>
                <a:ext uri="{FF2B5EF4-FFF2-40B4-BE49-F238E27FC236}">
                  <a16:creationId xmlns:a16="http://schemas.microsoft.com/office/drawing/2014/main" id="{083673F6-E265-4005-D62C-293234A8CE09}"/>
                </a:ext>
              </a:extLst>
            </p:cNvPr>
            <p:cNvSpPr>
              <a:spLocks/>
            </p:cNvSpPr>
            <p:nvPr userDrawn="1"/>
          </p:nvSpPr>
          <p:spPr bwMode="auto">
            <a:xfrm>
              <a:off x="5553254" y="866312"/>
              <a:ext cx="193270" cy="286802"/>
            </a:xfrm>
            <a:custGeom>
              <a:avLst/>
              <a:gdLst>
                <a:gd name="T0" fmla="*/ 0 w 445"/>
                <a:gd name="T1" fmla="*/ 0 h 660"/>
                <a:gd name="T2" fmla="*/ 138 w 445"/>
                <a:gd name="T3" fmla="*/ 0 h 660"/>
                <a:gd name="T4" fmla="*/ 138 w 445"/>
                <a:gd name="T5" fmla="*/ 244 h 660"/>
                <a:gd name="T6" fmla="*/ 280 w 445"/>
                <a:gd name="T7" fmla="*/ 166 h 660"/>
                <a:gd name="T8" fmla="*/ 445 w 445"/>
                <a:gd name="T9" fmla="*/ 346 h 660"/>
                <a:gd name="T10" fmla="*/ 445 w 445"/>
                <a:gd name="T11" fmla="*/ 660 h 660"/>
                <a:gd name="T12" fmla="*/ 307 w 445"/>
                <a:gd name="T13" fmla="*/ 660 h 660"/>
                <a:gd name="T14" fmla="*/ 307 w 445"/>
                <a:gd name="T15" fmla="*/ 390 h 660"/>
                <a:gd name="T16" fmla="*/ 224 w 445"/>
                <a:gd name="T17" fmla="*/ 291 h 660"/>
                <a:gd name="T18" fmla="*/ 138 w 445"/>
                <a:gd name="T19" fmla="*/ 390 h 660"/>
                <a:gd name="T20" fmla="*/ 138 w 445"/>
                <a:gd name="T21" fmla="*/ 660 h 660"/>
                <a:gd name="T22" fmla="*/ 0 w 445"/>
                <a:gd name="T23" fmla="*/ 660 h 660"/>
                <a:gd name="T24" fmla="*/ 0 w 445"/>
                <a:gd name="T25"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5" h="660">
                  <a:moveTo>
                    <a:pt x="0" y="0"/>
                  </a:moveTo>
                  <a:cubicBezTo>
                    <a:pt x="138" y="0"/>
                    <a:pt x="138" y="0"/>
                    <a:pt x="138" y="0"/>
                  </a:cubicBezTo>
                  <a:cubicBezTo>
                    <a:pt x="138" y="244"/>
                    <a:pt x="138" y="244"/>
                    <a:pt x="138" y="244"/>
                  </a:cubicBezTo>
                  <a:cubicBezTo>
                    <a:pt x="169" y="203"/>
                    <a:pt x="210" y="166"/>
                    <a:pt x="280" y="166"/>
                  </a:cubicBezTo>
                  <a:cubicBezTo>
                    <a:pt x="384" y="166"/>
                    <a:pt x="445" y="235"/>
                    <a:pt x="445" y="346"/>
                  </a:cubicBezTo>
                  <a:cubicBezTo>
                    <a:pt x="445" y="660"/>
                    <a:pt x="445" y="660"/>
                    <a:pt x="445" y="660"/>
                  </a:cubicBezTo>
                  <a:cubicBezTo>
                    <a:pt x="307" y="660"/>
                    <a:pt x="307" y="660"/>
                    <a:pt x="307" y="660"/>
                  </a:cubicBezTo>
                  <a:cubicBezTo>
                    <a:pt x="307" y="390"/>
                    <a:pt x="307" y="390"/>
                    <a:pt x="307" y="390"/>
                  </a:cubicBezTo>
                  <a:cubicBezTo>
                    <a:pt x="307" y="324"/>
                    <a:pt x="276" y="291"/>
                    <a:pt x="224" y="291"/>
                  </a:cubicBezTo>
                  <a:cubicBezTo>
                    <a:pt x="171" y="291"/>
                    <a:pt x="138" y="324"/>
                    <a:pt x="138" y="390"/>
                  </a:cubicBezTo>
                  <a:cubicBezTo>
                    <a:pt x="138" y="660"/>
                    <a:pt x="138" y="660"/>
                    <a:pt x="138" y="660"/>
                  </a:cubicBezTo>
                  <a:cubicBezTo>
                    <a:pt x="0" y="660"/>
                    <a:pt x="0" y="660"/>
                    <a:pt x="0" y="66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6" name="Freeform 16">
              <a:extLst>
                <a:ext uri="{FF2B5EF4-FFF2-40B4-BE49-F238E27FC236}">
                  <a16:creationId xmlns:a16="http://schemas.microsoft.com/office/drawing/2014/main" id="{4F04928C-BA06-2085-F636-A4F44FC6E987}"/>
                </a:ext>
              </a:extLst>
            </p:cNvPr>
            <p:cNvSpPr>
              <a:spLocks/>
            </p:cNvSpPr>
            <p:nvPr userDrawn="1"/>
          </p:nvSpPr>
          <p:spPr bwMode="auto">
            <a:xfrm>
              <a:off x="5762039" y="938123"/>
              <a:ext cx="192827" cy="214991"/>
            </a:xfrm>
            <a:custGeom>
              <a:avLst/>
              <a:gdLst>
                <a:gd name="T0" fmla="*/ 0 w 444"/>
                <a:gd name="T1" fmla="*/ 9 h 494"/>
                <a:gd name="T2" fmla="*/ 137 w 444"/>
                <a:gd name="T3" fmla="*/ 9 h 494"/>
                <a:gd name="T4" fmla="*/ 137 w 444"/>
                <a:gd name="T5" fmla="*/ 78 h 494"/>
                <a:gd name="T6" fmla="*/ 279 w 444"/>
                <a:gd name="T7" fmla="*/ 0 h 494"/>
                <a:gd name="T8" fmla="*/ 444 w 444"/>
                <a:gd name="T9" fmla="*/ 180 h 494"/>
                <a:gd name="T10" fmla="*/ 444 w 444"/>
                <a:gd name="T11" fmla="*/ 494 h 494"/>
                <a:gd name="T12" fmla="*/ 306 w 444"/>
                <a:gd name="T13" fmla="*/ 494 h 494"/>
                <a:gd name="T14" fmla="*/ 306 w 444"/>
                <a:gd name="T15" fmla="*/ 224 h 494"/>
                <a:gd name="T16" fmla="*/ 223 w 444"/>
                <a:gd name="T17" fmla="*/ 125 h 494"/>
                <a:gd name="T18" fmla="*/ 137 w 444"/>
                <a:gd name="T19" fmla="*/ 224 h 494"/>
                <a:gd name="T20" fmla="*/ 137 w 444"/>
                <a:gd name="T21" fmla="*/ 494 h 494"/>
                <a:gd name="T22" fmla="*/ 0 w 444"/>
                <a:gd name="T23" fmla="*/ 494 h 494"/>
                <a:gd name="T24" fmla="*/ 0 w 444"/>
                <a:gd name="T25"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4" h="494">
                  <a:moveTo>
                    <a:pt x="0" y="9"/>
                  </a:moveTo>
                  <a:cubicBezTo>
                    <a:pt x="137" y="9"/>
                    <a:pt x="137" y="9"/>
                    <a:pt x="137" y="9"/>
                  </a:cubicBezTo>
                  <a:cubicBezTo>
                    <a:pt x="137" y="78"/>
                    <a:pt x="137" y="78"/>
                    <a:pt x="137" y="78"/>
                  </a:cubicBezTo>
                  <a:cubicBezTo>
                    <a:pt x="169" y="37"/>
                    <a:pt x="210" y="0"/>
                    <a:pt x="279" y="0"/>
                  </a:cubicBezTo>
                  <a:cubicBezTo>
                    <a:pt x="383" y="0"/>
                    <a:pt x="444" y="69"/>
                    <a:pt x="444" y="180"/>
                  </a:cubicBezTo>
                  <a:cubicBezTo>
                    <a:pt x="444" y="494"/>
                    <a:pt x="444" y="494"/>
                    <a:pt x="444" y="494"/>
                  </a:cubicBezTo>
                  <a:cubicBezTo>
                    <a:pt x="306" y="494"/>
                    <a:pt x="306" y="494"/>
                    <a:pt x="306" y="494"/>
                  </a:cubicBezTo>
                  <a:cubicBezTo>
                    <a:pt x="306" y="224"/>
                    <a:pt x="306" y="224"/>
                    <a:pt x="306" y="224"/>
                  </a:cubicBezTo>
                  <a:cubicBezTo>
                    <a:pt x="306" y="158"/>
                    <a:pt x="276" y="125"/>
                    <a:pt x="223" y="125"/>
                  </a:cubicBezTo>
                  <a:cubicBezTo>
                    <a:pt x="171" y="125"/>
                    <a:pt x="137" y="158"/>
                    <a:pt x="137" y="224"/>
                  </a:cubicBezTo>
                  <a:cubicBezTo>
                    <a:pt x="137" y="494"/>
                    <a:pt x="137" y="494"/>
                    <a:pt x="137"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7" name="Freeform 17">
              <a:extLst>
                <a:ext uri="{FF2B5EF4-FFF2-40B4-BE49-F238E27FC236}">
                  <a16:creationId xmlns:a16="http://schemas.microsoft.com/office/drawing/2014/main" id="{0B7609F1-6889-0F3F-1078-1078D3AEDAE7}"/>
                </a:ext>
              </a:extLst>
            </p:cNvPr>
            <p:cNvSpPr>
              <a:spLocks noEditPoints="1"/>
            </p:cNvSpPr>
            <p:nvPr userDrawn="1"/>
          </p:nvSpPr>
          <p:spPr bwMode="auto">
            <a:xfrm>
              <a:off x="5967277" y="938123"/>
              <a:ext cx="228289" cy="219867"/>
            </a:xfrm>
            <a:custGeom>
              <a:avLst/>
              <a:gdLst>
                <a:gd name="T0" fmla="*/ 0 w 525"/>
                <a:gd name="T1" fmla="*/ 254 h 505"/>
                <a:gd name="T2" fmla="*/ 0 w 525"/>
                <a:gd name="T3" fmla="*/ 253 h 505"/>
                <a:gd name="T4" fmla="*/ 263 w 525"/>
                <a:gd name="T5" fmla="*/ 0 h 505"/>
                <a:gd name="T6" fmla="*/ 525 w 525"/>
                <a:gd name="T7" fmla="*/ 251 h 505"/>
                <a:gd name="T8" fmla="*/ 525 w 525"/>
                <a:gd name="T9" fmla="*/ 253 h 505"/>
                <a:gd name="T10" fmla="*/ 262 w 525"/>
                <a:gd name="T11" fmla="*/ 505 h 505"/>
                <a:gd name="T12" fmla="*/ 0 w 525"/>
                <a:gd name="T13" fmla="*/ 254 h 505"/>
                <a:gd name="T14" fmla="*/ 389 w 525"/>
                <a:gd name="T15" fmla="*/ 254 h 505"/>
                <a:gd name="T16" fmla="*/ 389 w 525"/>
                <a:gd name="T17" fmla="*/ 253 h 505"/>
                <a:gd name="T18" fmla="*/ 262 w 525"/>
                <a:gd name="T19" fmla="*/ 119 h 505"/>
                <a:gd name="T20" fmla="*/ 136 w 525"/>
                <a:gd name="T21" fmla="*/ 251 h 505"/>
                <a:gd name="T22" fmla="*/ 136 w 525"/>
                <a:gd name="T23" fmla="*/ 253 h 505"/>
                <a:gd name="T24" fmla="*/ 263 w 525"/>
                <a:gd name="T25" fmla="*/ 387 h 505"/>
                <a:gd name="T26" fmla="*/ 389 w 525"/>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5">
                  <a:moveTo>
                    <a:pt x="0" y="254"/>
                  </a:moveTo>
                  <a:cubicBezTo>
                    <a:pt x="0" y="253"/>
                    <a:pt x="0" y="253"/>
                    <a:pt x="0" y="253"/>
                  </a:cubicBezTo>
                  <a:cubicBezTo>
                    <a:pt x="0" y="113"/>
                    <a:pt x="112" y="0"/>
                    <a:pt x="263" y="0"/>
                  </a:cubicBezTo>
                  <a:cubicBezTo>
                    <a:pt x="414" y="0"/>
                    <a:pt x="525" y="111"/>
                    <a:pt x="525" y="251"/>
                  </a:cubicBezTo>
                  <a:cubicBezTo>
                    <a:pt x="525" y="253"/>
                    <a:pt x="525" y="253"/>
                    <a:pt x="525" y="253"/>
                  </a:cubicBezTo>
                  <a:cubicBezTo>
                    <a:pt x="525" y="392"/>
                    <a:pt x="413" y="505"/>
                    <a:pt x="262" y="505"/>
                  </a:cubicBezTo>
                  <a:cubicBezTo>
                    <a:pt x="111" y="505"/>
                    <a:pt x="0" y="394"/>
                    <a:pt x="0" y="254"/>
                  </a:cubicBezTo>
                  <a:close/>
                  <a:moveTo>
                    <a:pt x="389" y="254"/>
                  </a:moveTo>
                  <a:cubicBezTo>
                    <a:pt x="389" y="253"/>
                    <a:pt x="389" y="253"/>
                    <a:pt x="389" y="253"/>
                  </a:cubicBezTo>
                  <a:cubicBezTo>
                    <a:pt x="389" y="181"/>
                    <a:pt x="338" y="119"/>
                    <a:pt x="262" y="119"/>
                  </a:cubicBezTo>
                  <a:cubicBezTo>
                    <a:pt x="183" y="119"/>
                    <a:pt x="136" y="179"/>
                    <a:pt x="136" y="251"/>
                  </a:cubicBezTo>
                  <a:cubicBezTo>
                    <a:pt x="136" y="253"/>
                    <a:pt x="136" y="253"/>
                    <a:pt x="136" y="253"/>
                  </a:cubicBezTo>
                  <a:cubicBezTo>
                    <a:pt x="136" y="324"/>
                    <a:pt x="187" y="387"/>
                    <a:pt x="263" y="387"/>
                  </a:cubicBezTo>
                  <a:cubicBezTo>
                    <a:pt x="342" y="387"/>
                    <a:pt x="389" y="326"/>
                    <a:pt x="389"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8" name="Rectangle 18">
              <a:extLst>
                <a:ext uri="{FF2B5EF4-FFF2-40B4-BE49-F238E27FC236}">
                  <a16:creationId xmlns:a16="http://schemas.microsoft.com/office/drawing/2014/main" id="{14DEDB85-DF79-F93C-595F-4B0E6B36F339}"/>
                </a:ext>
              </a:extLst>
            </p:cNvPr>
            <p:cNvSpPr>
              <a:spLocks noChangeArrowheads="1"/>
            </p:cNvSpPr>
            <p:nvPr userDrawn="1"/>
          </p:nvSpPr>
          <p:spPr bwMode="auto">
            <a:xfrm>
              <a:off x="6207091" y="866312"/>
              <a:ext cx="59843" cy="28680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9" name="Freeform 19">
              <a:extLst>
                <a:ext uri="{FF2B5EF4-FFF2-40B4-BE49-F238E27FC236}">
                  <a16:creationId xmlns:a16="http://schemas.microsoft.com/office/drawing/2014/main" id="{481DD98C-1DDB-14FF-BA62-46FAD00BAA89}"/>
                </a:ext>
              </a:extLst>
            </p:cNvPr>
            <p:cNvSpPr>
              <a:spLocks noEditPoints="1"/>
            </p:cNvSpPr>
            <p:nvPr userDrawn="1"/>
          </p:nvSpPr>
          <p:spPr bwMode="auto">
            <a:xfrm>
              <a:off x="6278460" y="938123"/>
              <a:ext cx="228732" cy="219867"/>
            </a:xfrm>
            <a:custGeom>
              <a:avLst/>
              <a:gdLst>
                <a:gd name="T0" fmla="*/ 0 w 526"/>
                <a:gd name="T1" fmla="*/ 254 h 505"/>
                <a:gd name="T2" fmla="*/ 0 w 526"/>
                <a:gd name="T3" fmla="*/ 253 h 505"/>
                <a:gd name="T4" fmla="*/ 264 w 526"/>
                <a:gd name="T5" fmla="*/ 0 h 505"/>
                <a:gd name="T6" fmla="*/ 526 w 526"/>
                <a:gd name="T7" fmla="*/ 251 h 505"/>
                <a:gd name="T8" fmla="*/ 526 w 526"/>
                <a:gd name="T9" fmla="*/ 253 h 505"/>
                <a:gd name="T10" fmla="*/ 262 w 526"/>
                <a:gd name="T11" fmla="*/ 505 h 505"/>
                <a:gd name="T12" fmla="*/ 0 w 526"/>
                <a:gd name="T13" fmla="*/ 254 h 505"/>
                <a:gd name="T14" fmla="*/ 390 w 526"/>
                <a:gd name="T15" fmla="*/ 254 h 505"/>
                <a:gd name="T16" fmla="*/ 390 w 526"/>
                <a:gd name="T17" fmla="*/ 253 h 505"/>
                <a:gd name="T18" fmla="*/ 262 w 526"/>
                <a:gd name="T19" fmla="*/ 119 h 505"/>
                <a:gd name="T20" fmla="*/ 136 w 526"/>
                <a:gd name="T21" fmla="*/ 251 h 505"/>
                <a:gd name="T22" fmla="*/ 136 w 526"/>
                <a:gd name="T23" fmla="*/ 253 h 505"/>
                <a:gd name="T24" fmla="*/ 264 w 526"/>
                <a:gd name="T25" fmla="*/ 387 h 505"/>
                <a:gd name="T26" fmla="*/ 390 w 526"/>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505">
                  <a:moveTo>
                    <a:pt x="0" y="254"/>
                  </a:moveTo>
                  <a:cubicBezTo>
                    <a:pt x="0" y="253"/>
                    <a:pt x="0" y="253"/>
                    <a:pt x="0" y="253"/>
                  </a:cubicBezTo>
                  <a:cubicBezTo>
                    <a:pt x="0" y="113"/>
                    <a:pt x="113" y="0"/>
                    <a:pt x="264" y="0"/>
                  </a:cubicBezTo>
                  <a:cubicBezTo>
                    <a:pt x="414" y="0"/>
                    <a:pt x="526" y="111"/>
                    <a:pt x="526" y="251"/>
                  </a:cubicBezTo>
                  <a:cubicBezTo>
                    <a:pt x="526" y="253"/>
                    <a:pt x="526" y="253"/>
                    <a:pt x="526" y="253"/>
                  </a:cubicBezTo>
                  <a:cubicBezTo>
                    <a:pt x="526" y="392"/>
                    <a:pt x="413" y="505"/>
                    <a:pt x="262" y="505"/>
                  </a:cubicBezTo>
                  <a:cubicBezTo>
                    <a:pt x="112" y="505"/>
                    <a:pt x="0" y="394"/>
                    <a:pt x="0" y="254"/>
                  </a:cubicBezTo>
                  <a:close/>
                  <a:moveTo>
                    <a:pt x="390" y="254"/>
                  </a:moveTo>
                  <a:cubicBezTo>
                    <a:pt x="390" y="253"/>
                    <a:pt x="390" y="253"/>
                    <a:pt x="390" y="253"/>
                  </a:cubicBezTo>
                  <a:cubicBezTo>
                    <a:pt x="390" y="181"/>
                    <a:pt x="338" y="119"/>
                    <a:pt x="262" y="119"/>
                  </a:cubicBezTo>
                  <a:cubicBezTo>
                    <a:pt x="183" y="119"/>
                    <a:pt x="136" y="179"/>
                    <a:pt x="136" y="251"/>
                  </a:cubicBezTo>
                  <a:cubicBezTo>
                    <a:pt x="136" y="253"/>
                    <a:pt x="136" y="253"/>
                    <a:pt x="136" y="253"/>
                  </a:cubicBezTo>
                  <a:cubicBezTo>
                    <a:pt x="136" y="324"/>
                    <a:pt x="188" y="387"/>
                    <a:pt x="264" y="387"/>
                  </a:cubicBezTo>
                  <a:cubicBezTo>
                    <a:pt x="343" y="387"/>
                    <a:pt x="390" y="326"/>
                    <a:pt x="39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0" name="Freeform 20">
              <a:extLst>
                <a:ext uri="{FF2B5EF4-FFF2-40B4-BE49-F238E27FC236}">
                  <a16:creationId xmlns:a16="http://schemas.microsoft.com/office/drawing/2014/main" id="{BDC10D2B-8240-1306-CC54-B3F0CF2378C2}"/>
                </a:ext>
              </a:extLst>
            </p:cNvPr>
            <p:cNvSpPr>
              <a:spLocks noEditPoints="1"/>
            </p:cNvSpPr>
            <p:nvPr userDrawn="1"/>
          </p:nvSpPr>
          <p:spPr bwMode="auto">
            <a:xfrm>
              <a:off x="6516057" y="938123"/>
              <a:ext cx="221197" cy="278823"/>
            </a:xfrm>
            <a:custGeom>
              <a:avLst/>
              <a:gdLst>
                <a:gd name="T0" fmla="*/ 24 w 509"/>
                <a:gd name="T1" fmla="*/ 590 h 641"/>
                <a:gd name="T2" fmla="*/ 71 w 509"/>
                <a:gd name="T3" fmla="*/ 487 h 641"/>
                <a:gd name="T4" fmla="*/ 235 w 509"/>
                <a:gd name="T5" fmla="*/ 531 h 641"/>
                <a:gd name="T6" fmla="*/ 373 w 509"/>
                <a:gd name="T7" fmla="*/ 399 h 641"/>
                <a:gd name="T8" fmla="*/ 373 w 509"/>
                <a:gd name="T9" fmla="*/ 376 h 641"/>
                <a:gd name="T10" fmla="*/ 215 w 509"/>
                <a:gd name="T11" fmla="*/ 454 h 641"/>
                <a:gd name="T12" fmla="*/ 0 w 509"/>
                <a:gd name="T13" fmla="*/ 228 h 641"/>
                <a:gd name="T14" fmla="*/ 0 w 509"/>
                <a:gd name="T15" fmla="*/ 226 h 641"/>
                <a:gd name="T16" fmla="*/ 215 w 509"/>
                <a:gd name="T17" fmla="*/ 0 h 641"/>
                <a:gd name="T18" fmla="*/ 372 w 509"/>
                <a:gd name="T19" fmla="*/ 72 h 641"/>
                <a:gd name="T20" fmla="*/ 372 w 509"/>
                <a:gd name="T21" fmla="*/ 9 h 641"/>
                <a:gd name="T22" fmla="*/ 509 w 509"/>
                <a:gd name="T23" fmla="*/ 9 h 641"/>
                <a:gd name="T24" fmla="*/ 509 w 509"/>
                <a:gd name="T25" fmla="*/ 385 h 641"/>
                <a:gd name="T26" fmla="*/ 448 w 509"/>
                <a:gd name="T27" fmla="*/ 576 h 641"/>
                <a:gd name="T28" fmla="*/ 239 w 509"/>
                <a:gd name="T29" fmla="*/ 641 h 641"/>
                <a:gd name="T30" fmla="*/ 24 w 509"/>
                <a:gd name="T31" fmla="*/ 590 h 641"/>
                <a:gd name="T32" fmla="*/ 373 w 509"/>
                <a:gd name="T33" fmla="*/ 228 h 641"/>
                <a:gd name="T34" fmla="*/ 373 w 509"/>
                <a:gd name="T35" fmla="*/ 226 h 641"/>
                <a:gd name="T36" fmla="*/ 255 w 509"/>
                <a:gd name="T37" fmla="*/ 114 h 641"/>
                <a:gd name="T38" fmla="*/ 137 w 509"/>
                <a:gd name="T39" fmla="*/ 226 h 641"/>
                <a:gd name="T40" fmla="*/ 137 w 509"/>
                <a:gd name="T41" fmla="*/ 228 h 641"/>
                <a:gd name="T42" fmla="*/ 255 w 509"/>
                <a:gd name="T43" fmla="*/ 340 h 641"/>
                <a:gd name="T44" fmla="*/ 373 w 509"/>
                <a:gd name="T45" fmla="*/ 228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9" h="641">
                  <a:moveTo>
                    <a:pt x="24" y="590"/>
                  </a:moveTo>
                  <a:cubicBezTo>
                    <a:pt x="71" y="487"/>
                    <a:pt x="71" y="487"/>
                    <a:pt x="71" y="487"/>
                  </a:cubicBezTo>
                  <a:cubicBezTo>
                    <a:pt x="121" y="515"/>
                    <a:pt x="171" y="531"/>
                    <a:pt x="235" y="531"/>
                  </a:cubicBezTo>
                  <a:cubicBezTo>
                    <a:pt x="329" y="531"/>
                    <a:pt x="373" y="486"/>
                    <a:pt x="373" y="399"/>
                  </a:cubicBezTo>
                  <a:cubicBezTo>
                    <a:pt x="373" y="376"/>
                    <a:pt x="373" y="376"/>
                    <a:pt x="373" y="376"/>
                  </a:cubicBezTo>
                  <a:cubicBezTo>
                    <a:pt x="333" y="425"/>
                    <a:pt x="288" y="454"/>
                    <a:pt x="215" y="454"/>
                  </a:cubicBezTo>
                  <a:cubicBezTo>
                    <a:pt x="102" y="454"/>
                    <a:pt x="0" y="372"/>
                    <a:pt x="0" y="228"/>
                  </a:cubicBezTo>
                  <a:cubicBezTo>
                    <a:pt x="0" y="226"/>
                    <a:pt x="0" y="226"/>
                    <a:pt x="0" y="226"/>
                  </a:cubicBezTo>
                  <a:cubicBezTo>
                    <a:pt x="0" y="82"/>
                    <a:pt x="104" y="0"/>
                    <a:pt x="215" y="0"/>
                  </a:cubicBezTo>
                  <a:cubicBezTo>
                    <a:pt x="290" y="0"/>
                    <a:pt x="334" y="32"/>
                    <a:pt x="372" y="72"/>
                  </a:cubicBezTo>
                  <a:cubicBezTo>
                    <a:pt x="372" y="9"/>
                    <a:pt x="372" y="9"/>
                    <a:pt x="372" y="9"/>
                  </a:cubicBezTo>
                  <a:cubicBezTo>
                    <a:pt x="509" y="9"/>
                    <a:pt x="509" y="9"/>
                    <a:pt x="509" y="9"/>
                  </a:cubicBezTo>
                  <a:cubicBezTo>
                    <a:pt x="509" y="385"/>
                    <a:pt x="509" y="385"/>
                    <a:pt x="509" y="385"/>
                  </a:cubicBezTo>
                  <a:cubicBezTo>
                    <a:pt x="509" y="472"/>
                    <a:pt x="488" y="535"/>
                    <a:pt x="448" y="576"/>
                  </a:cubicBezTo>
                  <a:cubicBezTo>
                    <a:pt x="402" y="621"/>
                    <a:pt x="333" y="641"/>
                    <a:pt x="239" y="641"/>
                  </a:cubicBezTo>
                  <a:cubicBezTo>
                    <a:pt x="160" y="641"/>
                    <a:pt x="86" y="623"/>
                    <a:pt x="24" y="590"/>
                  </a:cubicBezTo>
                  <a:close/>
                  <a:moveTo>
                    <a:pt x="373" y="228"/>
                  </a:moveTo>
                  <a:cubicBezTo>
                    <a:pt x="373" y="226"/>
                    <a:pt x="373" y="226"/>
                    <a:pt x="373" y="226"/>
                  </a:cubicBezTo>
                  <a:cubicBezTo>
                    <a:pt x="373" y="160"/>
                    <a:pt x="322" y="114"/>
                    <a:pt x="255" y="114"/>
                  </a:cubicBezTo>
                  <a:cubicBezTo>
                    <a:pt x="188" y="114"/>
                    <a:pt x="137" y="160"/>
                    <a:pt x="137" y="226"/>
                  </a:cubicBezTo>
                  <a:cubicBezTo>
                    <a:pt x="137" y="228"/>
                    <a:pt x="137" y="228"/>
                    <a:pt x="137" y="228"/>
                  </a:cubicBezTo>
                  <a:cubicBezTo>
                    <a:pt x="137" y="295"/>
                    <a:pt x="188" y="340"/>
                    <a:pt x="255" y="340"/>
                  </a:cubicBezTo>
                  <a:cubicBezTo>
                    <a:pt x="322" y="340"/>
                    <a:pt x="373" y="294"/>
                    <a:pt x="373"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1" name="Freeform 21">
              <a:extLst>
                <a:ext uri="{FF2B5EF4-FFF2-40B4-BE49-F238E27FC236}">
                  <a16:creationId xmlns:a16="http://schemas.microsoft.com/office/drawing/2014/main" id="{A2A74FC7-B210-AC23-8BAD-A8CEF20144F7}"/>
                </a:ext>
              </a:extLst>
            </p:cNvPr>
            <p:cNvSpPr>
              <a:spLocks/>
            </p:cNvSpPr>
            <p:nvPr userDrawn="1"/>
          </p:nvSpPr>
          <p:spPr bwMode="auto">
            <a:xfrm>
              <a:off x="6747450" y="942113"/>
              <a:ext cx="219424" cy="275277"/>
            </a:xfrm>
            <a:custGeom>
              <a:avLst/>
              <a:gdLst>
                <a:gd name="T0" fmla="*/ 362 w 505"/>
                <a:gd name="T1" fmla="*/ 0 h 633"/>
                <a:gd name="T2" fmla="*/ 505 w 505"/>
                <a:gd name="T3" fmla="*/ 0 h 633"/>
                <a:gd name="T4" fmla="*/ 319 w 505"/>
                <a:gd name="T5" fmla="*/ 497 h 633"/>
                <a:gd name="T6" fmla="*/ 159 w 505"/>
                <a:gd name="T7" fmla="*/ 633 h 633"/>
                <a:gd name="T8" fmla="*/ 37 w 505"/>
                <a:gd name="T9" fmla="*/ 599 h 633"/>
                <a:gd name="T10" fmla="*/ 83 w 505"/>
                <a:gd name="T11" fmla="*/ 500 h 633"/>
                <a:gd name="T12" fmla="*/ 142 w 505"/>
                <a:gd name="T13" fmla="*/ 519 h 633"/>
                <a:gd name="T14" fmla="*/ 190 w 505"/>
                <a:gd name="T15" fmla="*/ 487 h 633"/>
                <a:gd name="T16" fmla="*/ 0 w 505"/>
                <a:gd name="T17" fmla="*/ 0 h 633"/>
                <a:gd name="T18" fmla="*/ 146 w 505"/>
                <a:gd name="T19" fmla="*/ 0 h 633"/>
                <a:gd name="T20" fmla="*/ 256 w 505"/>
                <a:gd name="T21" fmla="*/ 331 h 633"/>
                <a:gd name="T22" fmla="*/ 362 w 505"/>
                <a:gd name="T23"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633">
                  <a:moveTo>
                    <a:pt x="362" y="0"/>
                  </a:moveTo>
                  <a:cubicBezTo>
                    <a:pt x="505" y="0"/>
                    <a:pt x="505" y="0"/>
                    <a:pt x="505" y="0"/>
                  </a:cubicBezTo>
                  <a:cubicBezTo>
                    <a:pt x="319" y="497"/>
                    <a:pt x="319" y="497"/>
                    <a:pt x="319" y="497"/>
                  </a:cubicBezTo>
                  <a:cubicBezTo>
                    <a:pt x="282" y="596"/>
                    <a:pt x="242" y="633"/>
                    <a:pt x="159" y="633"/>
                  </a:cubicBezTo>
                  <a:cubicBezTo>
                    <a:pt x="110" y="633"/>
                    <a:pt x="73" y="620"/>
                    <a:pt x="37" y="599"/>
                  </a:cubicBezTo>
                  <a:cubicBezTo>
                    <a:pt x="83" y="500"/>
                    <a:pt x="83" y="500"/>
                    <a:pt x="83" y="500"/>
                  </a:cubicBezTo>
                  <a:cubicBezTo>
                    <a:pt x="101" y="511"/>
                    <a:pt x="124" y="519"/>
                    <a:pt x="142" y="519"/>
                  </a:cubicBezTo>
                  <a:cubicBezTo>
                    <a:pt x="166" y="519"/>
                    <a:pt x="178" y="512"/>
                    <a:pt x="190" y="487"/>
                  </a:cubicBezTo>
                  <a:cubicBezTo>
                    <a:pt x="0" y="0"/>
                    <a:pt x="0" y="0"/>
                    <a:pt x="0" y="0"/>
                  </a:cubicBezTo>
                  <a:cubicBezTo>
                    <a:pt x="146" y="0"/>
                    <a:pt x="146" y="0"/>
                    <a:pt x="146" y="0"/>
                  </a:cubicBezTo>
                  <a:cubicBezTo>
                    <a:pt x="256" y="331"/>
                    <a:pt x="256" y="331"/>
                    <a:pt x="256" y="331"/>
                  </a:cubicBezTo>
                  <a:lnTo>
                    <a:pt x="3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2" name="Freeform 22">
              <a:extLst>
                <a:ext uri="{FF2B5EF4-FFF2-40B4-BE49-F238E27FC236}">
                  <a16:creationId xmlns:a16="http://schemas.microsoft.com/office/drawing/2014/main" id="{ACC82ECF-72D6-6ED9-EF73-7495DE192F95}"/>
                </a:ext>
              </a:extLst>
            </p:cNvPr>
            <p:cNvSpPr>
              <a:spLocks/>
            </p:cNvSpPr>
            <p:nvPr userDrawn="1"/>
          </p:nvSpPr>
          <p:spPr bwMode="auto">
            <a:xfrm>
              <a:off x="6005842" y="1258171"/>
              <a:ext cx="132541" cy="290348"/>
            </a:xfrm>
            <a:custGeom>
              <a:avLst/>
              <a:gdLst>
                <a:gd name="T0" fmla="*/ 57 w 305"/>
                <a:gd name="T1" fmla="*/ 299 h 667"/>
                <a:gd name="T2" fmla="*/ 0 w 305"/>
                <a:gd name="T3" fmla="*/ 299 h 667"/>
                <a:gd name="T4" fmla="*/ 0 w 305"/>
                <a:gd name="T5" fmla="*/ 186 h 667"/>
                <a:gd name="T6" fmla="*/ 57 w 305"/>
                <a:gd name="T7" fmla="*/ 186 h 667"/>
                <a:gd name="T8" fmla="*/ 57 w 305"/>
                <a:gd name="T9" fmla="*/ 155 h 667"/>
                <a:gd name="T10" fmla="*/ 96 w 305"/>
                <a:gd name="T11" fmla="*/ 38 h 667"/>
                <a:gd name="T12" fmla="*/ 208 w 305"/>
                <a:gd name="T13" fmla="*/ 0 h 667"/>
                <a:gd name="T14" fmla="*/ 305 w 305"/>
                <a:gd name="T15" fmla="*/ 13 h 667"/>
                <a:gd name="T16" fmla="*/ 305 w 305"/>
                <a:gd name="T17" fmla="*/ 127 h 667"/>
                <a:gd name="T18" fmla="*/ 243 w 305"/>
                <a:gd name="T19" fmla="*/ 115 h 667"/>
                <a:gd name="T20" fmla="*/ 193 w 305"/>
                <a:gd name="T21" fmla="*/ 168 h 667"/>
                <a:gd name="T22" fmla="*/ 193 w 305"/>
                <a:gd name="T23" fmla="*/ 187 h 667"/>
                <a:gd name="T24" fmla="*/ 305 w 305"/>
                <a:gd name="T25" fmla="*/ 187 h 667"/>
                <a:gd name="T26" fmla="*/ 305 w 305"/>
                <a:gd name="T27" fmla="*/ 299 h 667"/>
                <a:gd name="T28" fmla="*/ 195 w 305"/>
                <a:gd name="T29" fmla="*/ 299 h 667"/>
                <a:gd name="T30" fmla="*/ 195 w 305"/>
                <a:gd name="T31" fmla="*/ 667 h 667"/>
                <a:gd name="T32" fmla="*/ 57 w 305"/>
                <a:gd name="T33" fmla="*/ 667 h 667"/>
                <a:gd name="T34" fmla="*/ 57 w 305"/>
                <a:gd name="T35" fmla="*/ 29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667">
                  <a:moveTo>
                    <a:pt x="57" y="299"/>
                  </a:moveTo>
                  <a:cubicBezTo>
                    <a:pt x="0" y="299"/>
                    <a:pt x="0" y="299"/>
                    <a:pt x="0" y="299"/>
                  </a:cubicBezTo>
                  <a:cubicBezTo>
                    <a:pt x="0" y="186"/>
                    <a:pt x="0" y="186"/>
                    <a:pt x="0" y="186"/>
                  </a:cubicBezTo>
                  <a:cubicBezTo>
                    <a:pt x="57" y="186"/>
                    <a:pt x="57" y="186"/>
                    <a:pt x="57" y="186"/>
                  </a:cubicBezTo>
                  <a:cubicBezTo>
                    <a:pt x="57" y="155"/>
                    <a:pt x="57" y="155"/>
                    <a:pt x="57" y="155"/>
                  </a:cubicBezTo>
                  <a:cubicBezTo>
                    <a:pt x="57" y="102"/>
                    <a:pt x="71" y="63"/>
                    <a:pt x="96" y="38"/>
                  </a:cubicBezTo>
                  <a:cubicBezTo>
                    <a:pt x="122" y="12"/>
                    <a:pt x="159" y="0"/>
                    <a:pt x="208" y="0"/>
                  </a:cubicBezTo>
                  <a:cubicBezTo>
                    <a:pt x="251" y="0"/>
                    <a:pt x="280" y="5"/>
                    <a:pt x="305" y="13"/>
                  </a:cubicBezTo>
                  <a:cubicBezTo>
                    <a:pt x="305" y="127"/>
                    <a:pt x="305" y="127"/>
                    <a:pt x="305" y="127"/>
                  </a:cubicBezTo>
                  <a:cubicBezTo>
                    <a:pt x="286" y="120"/>
                    <a:pt x="267" y="115"/>
                    <a:pt x="243" y="115"/>
                  </a:cubicBezTo>
                  <a:cubicBezTo>
                    <a:pt x="211" y="115"/>
                    <a:pt x="193" y="132"/>
                    <a:pt x="193" y="168"/>
                  </a:cubicBezTo>
                  <a:cubicBezTo>
                    <a:pt x="193" y="187"/>
                    <a:pt x="193" y="187"/>
                    <a:pt x="193" y="187"/>
                  </a:cubicBezTo>
                  <a:cubicBezTo>
                    <a:pt x="305" y="187"/>
                    <a:pt x="305" y="187"/>
                    <a:pt x="305" y="187"/>
                  </a:cubicBezTo>
                  <a:cubicBezTo>
                    <a:pt x="305" y="299"/>
                    <a:pt x="305" y="299"/>
                    <a:pt x="305" y="299"/>
                  </a:cubicBezTo>
                  <a:cubicBezTo>
                    <a:pt x="195" y="299"/>
                    <a:pt x="195" y="299"/>
                    <a:pt x="195" y="299"/>
                  </a:cubicBezTo>
                  <a:cubicBezTo>
                    <a:pt x="195" y="667"/>
                    <a:pt x="195" y="667"/>
                    <a:pt x="195" y="667"/>
                  </a:cubicBezTo>
                  <a:cubicBezTo>
                    <a:pt x="57" y="667"/>
                    <a:pt x="57" y="667"/>
                    <a:pt x="57" y="667"/>
                  </a:cubicBezTo>
                  <a:lnTo>
                    <a:pt x="57"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3" name="Freeform 23">
              <a:extLst>
                <a:ext uri="{FF2B5EF4-FFF2-40B4-BE49-F238E27FC236}">
                  <a16:creationId xmlns:a16="http://schemas.microsoft.com/office/drawing/2014/main" id="{22DAB937-2E79-C195-4D0E-AD10E570DD17}"/>
                </a:ext>
              </a:extLst>
            </p:cNvPr>
            <p:cNvSpPr>
              <a:spLocks noEditPoints="1"/>
            </p:cNvSpPr>
            <p:nvPr userDrawn="1"/>
          </p:nvSpPr>
          <p:spPr bwMode="auto">
            <a:xfrm>
              <a:off x="6137497" y="1333086"/>
              <a:ext cx="228289" cy="219867"/>
            </a:xfrm>
            <a:custGeom>
              <a:avLst/>
              <a:gdLst>
                <a:gd name="T0" fmla="*/ 0 w 525"/>
                <a:gd name="T1" fmla="*/ 255 h 506"/>
                <a:gd name="T2" fmla="*/ 0 w 525"/>
                <a:gd name="T3" fmla="*/ 253 h 506"/>
                <a:gd name="T4" fmla="*/ 263 w 525"/>
                <a:gd name="T5" fmla="*/ 0 h 506"/>
                <a:gd name="T6" fmla="*/ 525 w 525"/>
                <a:gd name="T7" fmla="*/ 251 h 506"/>
                <a:gd name="T8" fmla="*/ 525 w 525"/>
                <a:gd name="T9" fmla="*/ 253 h 506"/>
                <a:gd name="T10" fmla="*/ 261 w 525"/>
                <a:gd name="T11" fmla="*/ 506 h 506"/>
                <a:gd name="T12" fmla="*/ 0 w 525"/>
                <a:gd name="T13" fmla="*/ 255 h 506"/>
                <a:gd name="T14" fmla="*/ 389 w 525"/>
                <a:gd name="T15" fmla="*/ 255 h 506"/>
                <a:gd name="T16" fmla="*/ 389 w 525"/>
                <a:gd name="T17" fmla="*/ 253 h 506"/>
                <a:gd name="T18" fmla="*/ 261 w 525"/>
                <a:gd name="T19" fmla="*/ 119 h 506"/>
                <a:gd name="T20" fmla="*/ 135 w 525"/>
                <a:gd name="T21" fmla="*/ 251 h 506"/>
                <a:gd name="T22" fmla="*/ 135 w 525"/>
                <a:gd name="T23" fmla="*/ 253 h 506"/>
                <a:gd name="T24" fmla="*/ 263 w 525"/>
                <a:gd name="T25" fmla="*/ 387 h 506"/>
                <a:gd name="T26" fmla="*/ 389 w 525"/>
                <a:gd name="T27" fmla="*/ 25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6">
                  <a:moveTo>
                    <a:pt x="0" y="255"/>
                  </a:moveTo>
                  <a:cubicBezTo>
                    <a:pt x="0" y="253"/>
                    <a:pt x="0" y="253"/>
                    <a:pt x="0" y="253"/>
                  </a:cubicBezTo>
                  <a:cubicBezTo>
                    <a:pt x="0" y="114"/>
                    <a:pt x="112" y="0"/>
                    <a:pt x="263" y="0"/>
                  </a:cubicBezTo>
                  <a:cubicBezTo>
                    <a:pt x="413" y="0"/>
                    <a:pt x="525" y="112"/>
                    <a:pt x="525" y="251"/>
                  </a:cubicBezTo>
                  <a:cubicBezTo>
                    <a:pt x="525" y="253"/>
                    <a:pt x="525" y="253"/>
                    <a:pt x="525" y="253"/>
                  </a:cubicBezTo>
                  <a:cubicBezTo>
                    <a:pt x="525" y="392"/>
                    <a:pt x="412" y="506"/>
                    <a:pt x="261" y="506"/>
                  </a:cubicBezTo>
                  <a:cubicBezTo>
                    <a:pt x="111" y="506"/>
                    <a:pt x="0" y="394"/>
                    <a:pt x="0" y="255"/>
                  </a:cubicBezTo>
                  <a:close/>
                  <a:moveTo>
                    <a:pt x="389" y="255"/>
                  </a:moveTo>
                  <a:cubicBezTo>
                    <a:pt x="389" y="253"/>
                    <a:pt x="389" y="253"/>
                    <a:pt x="389" y="253"/>
                  </a:cubicBezTo>
                  <a:cubicBezTo>
                    <a:pt x="389" y="182"/>
                    <a:pt x="337" y="119"/>
                    <a:pt x="261" y="119"/>
                  </a:cubicBezTo>
                  <a:cubicBezTo>
                    <a:pt x="183" y="119"/>
                    <a:pt x="135" y="180"/>
                    <a:pt x="135" y="251"/>
                  </a:cubicBezTo>
                  <a:cubicBezTo>
                    <a:pt x="135" y="253"/>
                    <a:pt x="135" y="253"/>
                    <a:pt x="135" y="253"/>
                  </a:cubicBezTo>
                  <a:cubicBezTo>
                    <a:pt x="135" y="325"/>
                    <a:pt x="187" y="387"/>
                    <a:pt x="263" y="387"/>
                  </a:cubicBezTo>
                  <a:cubicBezTo>
                    <a:pt x="342" y="387"/>
                    <a:pt x="389" y="326"/>
                    <a:pt x="389"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4" name="Freeform 24">
              <a:extLst>
                <a:ext uri="{FF2B5EF4-FFF2-40B4-BE49-F238E27FC236}">
                  <a16:creationId xmlns:a16="http://schemas.microsoft.com/office/drawing/2014/main" id="{10B466F6-F9DE-C9E9-D98F-5CB17B8BE4DB}"/>
                </a:ext>
              </a:extLst>
            </p:cNvPr>
            <p:cNvSpPr>
              <a:spLocks/>
            </p:cNvSpPr>
            <p:nvPr userDrawn="1"/>
          </p:nvSpPr>
          <p:spPr bwMode="auto">
            <a:xfrm>
              <a:off x="6379084" y="1331756"/>
              <a:ext cx="127665" cy="216764"/>
            </a:xfrm>
            <a:custGeom>
              <a:avLst/>
              <a:gdLst>
                <a:gd name="T0" fmla="*/ 0 w 293"/>
                <a:gd name="T1" fmla="*/ 13 h 498"/>
                <a:gd name="T2" fmla="*/ 138 w 293"/>
                <a:gd name="T3" fmla="*/ 13 h 498"/>
                <a:gd name="T4" fmla="*/ 138 w 293"/>
                <a:gd name="T5" fmla="*/ 110 h 498"/>
                <a:gd name="T6" fmla="*/ 293 w 293"/>
                <a:gd name="T7" fmla="*/ 3 h 498"/>
                <a:gd name="T8" fmla="*/ 293 w 293"/>
                <a:gd name="T9" fmla="*/ 147 h 498"/>
                <a:gd name="T10" fmla="*/ 286 w 293"/>
                <a:gd name="T11" fmla="*/ 147 h 498"/>
                <a:gd name="T12" fmla="*/ 138 w 293"/>
                <a:gd name="T13" fmla="*/ 318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0"/>
                    <a:pt x="138" y="110"/>
                    <a:pt x="138" y="110"/>
                  </a:cubicBezTo>
                  <a:cubicBezTo>
                    <a:pt x="166" y="43"/>
                    <a:pt x="211" y="0"/>
                    <a:pt x="293" y="3"/>
                  </a:cubicBezTo>
                  <a:cubicBezTo>
                    <a:pt x="293" y="147"/>
                    <a:pt x="293" y="147"/>
                    <a:pt x="293" y="147"/>
                  </a:cubicBezTo>
                  <a:cubicBezTo>
                    <a:pt x="286" y="147"/>
                    <a:pt x="286" y="147"/>
                    <a:pt x="286" y="147"/>
                  </a:cubicBezTo>
                  <a:cubicBezTo>
                    <a:pt x="194" y="147"/>
                    <a:pt x="138" y="203"/>
                    <a:pt x="138" y="318"/>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5" name="Freeform 25">
              <a:extLst>
                <a:ext uri="{FF2B5EF4-FFF2-40B4-BE49-F238E27FC236}">
                  <a16:creationId xmlns:a16="http://schemas.microsoft.com/office/drawing/2014/main" id="{AD3E18E3-90EA-4D54-E039-6221DAC55953}"/>
                </a:ext>
              </a:extLst>
            </p:cNvPr>
            <p:cNvSpPr>
              <a:spLocks noEditPoints="1"/>
            </p:cNvSpPr>
            <p:nvPr userDrawn="1"/>
          </p:nvSpPr>
          <p:spPr bwMode="auto">
            <a:xfrm>
              <a:off x="6582993" y="1334859"/>
              <a:ext cx="194157" cy="217207"/>
            </a:xfrm>
            <a:custGeom>
              <a:avLst/>
              <a:gdLst>
                <a:gd name="T0" fmla="*/ 0 w 446"/>
                <a:gd name="T1" fmla="*/ 351 h 500"/>
                <a:gd name="T2" fmla="*/ 0 w 446"/>
                <a:gd name="T3" fmla="*/ 349 h 500"/>
                <a:gd name="T4" fmla="*/ 195 w 446"/>
                <a:gd name="T5" fmla="*/ 195 h 500"/>
                <a:gd name="T6" fmla="*/ 314 w 446"/>
                <a:gd name="T7" fmla="*/ 215 h 500"/>
                <a:gd name="T8" fmla="*/ 314 w 446"/>
                <a:gd name="T9" fmla="*/ 206 h 500"/>
                <a:gd name="T10" fmla="*/ 210 w 446"/>
                <a:gd name="T11" fmla="*/ 118 h 500"/>
                <a:gd name="T12" fmla="*/ 76 w 446"/>
                <a:gd name="T13" fmla="*/ 144 h 500"/>
                <a:gd name="T14" fmla="*/ 42 w 446"/>
                <a:gd name="T15" fmla="*/ 39 h 500"/>
                <a:gd name="T16" fmla="*/ 230 w 446"/>
                <a:gd name="T17" fmla="*/ 0 h 500"/>
                <a:gd name="T18" fmla="*/ 394 w 446"/>
                <a:gd name="T19" fmla="*/ 54 h 500"/>
                <a:gd name="T20" fmla="*/ 446 w 446"/>
                <a:gd name="T21" fmla="*/ 209 h 500"/>
                <a:gd name="T22" fmla="*/ 446 w 446"/>
                <a:gd name="T23" fmla="*/ 491 h 500"/>
                <a:gd name="T24" fmla="*/ 313 w 446"/>
                <a:gd name="T25" fmla="*/ 491 h 500"/>
                <a:gd name="T26" fmla="*/ 313 w 446"/>
                <a:gd name="T27" fmla="*/ 438 h 500"/>
                <a:gd name="T28" fmla="*/ 167 w 446"/>
                <a:gd name="T29" fmla="*/ 500 h 500"/>
                <a:gd name="T30" fmla="*/ 0 w 446"/>
                <a:gd name="T31" fmla="*/ 351 h 500"/>
                <a:gd name="T32" fmla="*/ 316 w 446"/>
                <a:gd name="T33" fmla="*/ 320 h 500"/>
                <a:gd name="T34" fmla="*/ 316 w 446"/>
                <a:gd name="T35" fmla="*/ 295 h 500"/>
                <a:gd name="T36" fmla="*/ 228 w 446"/>
                <a:gd name="T37" fmla="*/ 277 h 500"/>
                <a:gd name="T38" fmla="*/ 133 w 446"/>
                <a:gd name="T39" fmla="*/ 344 h 500"/>
                <a:gd name="T40" fmla="*/ 133 w 446"/>
                <a:gd name="T41" fmla="*/ 346 h 500"/>
                <a:gd name="T42" fmla="*/ 208 w 446"/>
                <a:gd name="T43" fmla="*/ 405 h 500"/>
                <a:gd name="T44" fmla="*/ 316 w 446"/>
                <a:gd name="T45" fmla="*/ 32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500">
                  <a:moveTo>
                    <a:pt x="0" y="351"/>
                  </a:moveTo>
                  <a:cubicBezTo>
                    <a:pt x="0" y="349"/>
                    <a:pt x="0" y="349"/>
                    <a:pt x="0" y="349"/>
                  </a:cubicBezTo>
                  <a:cubicBezTo>
                    <a:pt x="0" y="244"/>
                    <a:pt x="81" y="195"/>
                    <a:pt x="195" y="195"/>
                  </a:cubicBezTo>
                  <a:cubicBezTo>
                    <a:pt x="244" y="195"/>
                    <a:pt x="280" y="203"/>
                    <a:pt x="314" y="215"/>
                  </a:cubicBezTo>
                  <a:cubicBezTo>
                    <a:pt x="314" y="206"/>
                    <a:pt x="314" y="206"/>
                    <a:pt x="314" y="206"/>
                  </a:cubicBezTo>
                  <a:cubicBezTo>
                    <a:pt x="314" y="149"/>
                    <a:pt x="279" y="118"/>
                    <a:pt x="210" y="118"/>
                  </a:cubicBezTo>
                  <a:cubicBezTo>
                    <a:pt x="157" y="118"/>
                    <a:pt x="120" y="128"/>
                    <a:pt x="76" y="144"/>
                  </a:cubicBezTo>
                  <a:cubicBezTo>
                    <a:pt x="42" y="39"/>
                    <a:pt x="42" y="39"/>
                    <a:pt x="42" y="39"/>
                  </a:cubicBezTo>
                  <a:cubicBezTo>
                    <a:pt x="95" y="15"/>
                    <a:pt x="148" y="0"/>
                    <a:pt x="230" y="0"/>
                  </a:cubicBezTo>
                  <a:cubicBezTo>
                    <a:pt x="305" y="0"/>
                    <a:pt x="359" y="20"/>
                    <a:pt x="394" y="54"/>
                  </a:cubicBezTo>
                  <a:cubicBezTo>
                    <a:pt x="430" y="91"/>
                    <a:pt x="446" y="144"/>
                    <a:pt x="446" y="209"/>
                  </a:cubicBezTo>
                  <a:cubicBezTo>
                    <a:pt x="446" y="491"/>
                    <a:pt x="446" y="491"/>
                    <a:pt x="446" y="491"/>
                  </a:cubicBezTo>
                  <a:cubicBezTo>
                    <a:pt x="313" y="491"/>
                    <a:pt x="313" y="491"/>
                    <a:pt x="313" y="491"/>
                  </a:cubicBezTo>
                  <a:cubicBezTo>
                    <a:pt x="313" y="438"/>
                    <a:pt x="313" y="438"/>
                    <a:pt x="313" y="438"/>
                  </a:cubicBezTo>
                  <a:cubicBezTo>
                    <a:pt x="280" y="475"/>
                    <a:pt x="234" y="500"/>
                    <a:pt x="167" y="500"/>
                  </a:cubicBezTo>
                  <a:cubicBezTo>
                    <a:pt x="75" y="500"/>
                    <a:pt x="0" y="447"/>
                    <a:pt x="0" y="351"/>
                  </a:cubicBezTo>
                  <a:close/>
                  <a:moveTo>
                    <a:pt x="316" y="320"/>
                  </a:moveTo>
                  <a:cubicBezTo>
                    <a:pt x="316" y="295"/>
                    <a:pt x="316" y="295"/>
                    <a:pt x="316" y="295"/>
                  </a:cubicBezTo>
                  <a:cubicBezTo>
                    <a:pt x="292" y="284"/>
                    <a:pt x="262" y="277"/>
                    <a:pt x="228" y="277"/>
                  </a:cubicBezTo>
                  <a:cubicBezTo>
                    <a:pt x="169" y="277"/>
                    <a:pt x="133" y="301"/>
                    <a:pt x="133" y="344"/>
                  </a:cubicBezTo>
                  <a:cubicBezTo>
                    <a:pt x="133" y="346"/>
                    <a:pt x="133" y="346"/>
                    <a:pt x="133" y="346"/>
                  </a:cubicBezTo>
                  <a:cubicBezTo>
                    <a:pt x="133" y="383"/>
                    <a:pt x="164" y="405"/>
                    <a:pt x="208" y="405"/>
                  </a:cubicBezTo>
                  <a:cubicBezTo>
                    <a:pt x="272" y="405"/>
                    <a:pt x="316" y="369"/>
                    <a:pt x="316" y="3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6" name="Rectangle 26">
              <a:extLst>
                <a:ext uri="{FF2B5EF4-FFF2-40B4-BE49-F238E27FC236}">
                  <a16:creationId xmlns:a16="http://schemas.microsoft.com/office/drawing/2014/main" id="{144E16EA-4F3F-420C-5D8D-753A1E9F0B11}"/>
                </a:ext>
              </a:extLst>
            </p:cNvPr>
            <p:cNvSpPr>
              <a:spLocks noChangeArrowheads="1"/>
            </p:cNvSpPr>
            <p:nvPr userDrawn="1"/>
          </p:nvSpPr>
          <p:spPr bwMode="auto">
            <a:xfrm>
              <a:off x="6801973" y="1260831"/>
              <a:ext cx="59843"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7" name="Rectangle 27">
              <a:extLst>
                <a:ext uri="{FF2B5EF4-FFF2-40B4-BE49-F238E27FC236}">
                  <a16:creationId xmlns:a16="http://schemas.microsoft.com/office/drawing/2014/main" id="{E009FD22-AB72-D26D-205F-29DF66B5BFFA}"/>
                </a:ext>
              </a:extLst>
            </p:cNvPr>
            <p:cNvSpPr>
              <a:spLocks noChangeArrowheads="1"/>
            </p:cNvSpPr>
            <p:nvPr userDrawn="1"/>
          </p:nvSpPr>
          <p:spPr bwMode="auto">
            <a:xfrm>
              <a:off x="6886639" y="1260831"/>
              <a:ext cx="59399"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grpSp>
        <p:nvGrpSpPr>
          <p:cNvPr id="3" name="Group 2">
            <a:extLst>
              <a:ext uri="{FF2B5EF4-FFF2-40B4-BE49-F238E27FC236}">
                <a16:creationId xmlns:a16="http://schemas.microsoft.com/office/drawing/2014/main" id="{1C38DDA1-EC9C-CA43-6B38-399660A513F2}"/>
              </a:ext>
            </a:extLst>
          </p:cNvPr>
          <p:cNvGrpSpPr/>
          <p:nvPr userDrawn="1"/>
        </p:nvGrpSpPr>
        <p:grpSpPr>
          <a:xfrm>
            <a:off x="11559242" y="767096"/>
            <a:ext cx="634346" cy="1898696"/>
            <a:chOff x="11556230" y="767096"/>
            <a:chExt cx="634181" cy="1898696"/>
          </a:xfrm>
        </p:grpSpPr>
        <p:sp>
          <p:nvSpPr>
            <p:cNvPr id="77" name="Rectangle 28">
              <a:extLst>
                <a:ext uri="{FF2B5EF4-FFF2-40B4-BE49-F238E27FC236}">
                  <a16:creationId xmlns:a16="http://schemas.microsoft.com/office/drawing/2014/main" id="{FB305569-AB33-7799-ED76-68F103CE5B8C}"/>
                </a:ext>
              </a:extLst>
            </p:cNvPr>
            <p:cNvSpPr>
              <a:spLocks noChangeArrowheads="1"/>
            </p:cNvSpPr>
            <p:nvPr userDrawn="1"/>
          </p:nvSpPr>
          <p:spPr bwMode="auto">
            <a:xfrm>
              <a:off x="11556230" y="767096"/>
              <a:ext cx="634181" cy="1898696"/>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799"/>
            </a:p>
          </p:txBody>
        </p:sp>
        <p:grpSp>
          <p:nvGrpSpPr>
            <p:cNvPr id="78" name="Group 77">
              <a:extLst>
                <a:ext uri="{FF2B5EF4-FFF2-40B4-BE49-F238E27FC236}">
                  <a16:creationId xmlns:a16="http://schemas.microsoft.com/office/drawing/2014/main" id="{DC4D5431-76CB-4561-B2E0-664C3E75E88C}"/>
                </a:ext>
              </a:extLst>
            </p:cNvPr>
            <p:cNvGrpSpPr/>
            <p:nvPr userDrawn="1"/>
          </p:nvGrpSpPr>
          <p:grpSpPr>
            <a:xfrm>
              <a:off x="11701122" y="936748"/>
              <a:ext cx="321494" cy="1552800"/>
              <a:chOff x="7313961" y="501936"/>
              <a:chExt cx="323594" cy="1566108"/>
            </a:xfrm>
          </p:grpSpPr>
          <p:sp>
            <p:nvSpPr>
              <p:cNvPr id="79" name="Freeform 29">
                <a:extLst>
                  <a:ext uri="{FF2B5EF4-FFF2-40B4-BE49-F238E27FC236}">
                    <a16:creationId xmlns:a16="http://schemas.microsoft.com/office/drawing/2014/main" id="{9EB7EA56-59D4-7E58-E9A3-5C4585DF00FE}"/>
                  </a:ext>
                </a:extLst>
              </p:cNvPr>
              <p:cNvSpPr>
                <a:spLocks/>
              </p:cNvSpPr>
              <p:nvPr userDrawn="1"/>
            </p:nvSpPr>
            <p:spPr bwMode="auto">
              <a:xfrm>
                <a:off x="7383556" y="1311808"/>
                <a:ext cx="249567" cy="247350"/>
              </a:xfrm>
              <a:custGeom>
                <a:avLst/>
                <a:gdLst>
                  <a:gd name="T0" fmla="*/ 0 w 574"/>
                  <a:gd name="T1" fmla="*/ 229 h 569"/>
                  <a:gd name="T2" fmla="*/ 90 w 574"/>
                  <a:gd name="T3" fmla="*/ 413 h 569"/>
                  <a:gd name="T4" fmla="*/ 90 w 574"/>
                  <a:gd name="T5" fmla="*/ 413 h 569"/>
                  <a:gd name="T6" fmla="*/ 90 w 574"/>
                  <a:gd name="T7" fmla="*/ 413 h 569"/>
                  <a:gd name="T8" fmla="*/ 9 w 574"/>
                  <a:gd name="T9" fmla="*/ 413 h 569"/>
                  <a:gd name="T10" fmla="*/ 9 w 574"/>
                  <a:gd name="T11" fmla="*/ 569 h 569"/>
                  <a:gd name="T12" fmla="*/ 574 w 574"/>
                  <a:gd name="T13" fmla="*/ 569 h 569"/>
                  <a:gd name="T14" fmla="*/ 574 w 574"/>
                  <a:gd name="T15" fmla="*/ 413 h 569"/>
                  <a:gd name="T16" fmla="*/ 253 w 574"/>
                  <a:gd name="T17" fmla="*/ 413 h 569"/>
                  <a:gd name="T18" fmla="*/ 133 w 574"/>
                  <a:gd name="T19" fmla="*/ 286 h 569"/>
                  <a:gd name="T20" fmla="*/ 253 w 574"/>
                  <a:gd name="T21" fmla="*/ 155 h 569"/>
                  <a:gd name="T22" fmla="*/ 574 w 574"/>
                  <a:gd name="T23" fmla="*/ 155 h 569"/>
                  <a:gd name="T24" fmla="*/ 574 w 574"/>
                  <a:gd name="T25" fmla="*/ 0 h 569"/>
                  <a:gd name="T26" fmla="*/ 224 w 574"/>
                  <a:gd name="T27" fmla="*/ 0 h 569"/>
                  <a:gd name="T28" fmla="*/ 0 w 574"/>
                  <a:gd name="T29" fmla="*/ 229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4" h="569">
                    <a:moveTo>
                      <a:pt x="0" y="229"/>
                    </a:moveTo>
                    <a:cubicBezTo>
                      <a:pt x="0" y="294"/>
                      <a:pt x="30" y="368"/>
                      <a:pt x="90" y="413"/>
                    </a:cubicBezTo>
                    <a:cubicBezTo>
                      <a:pt x="90" y="413"/>
                      <a:pt x="90" y="413"/>
                      <a:pt x="90" y="413"/>
                    </a:cubicBezTo>
                    <a:cubicBezTo>
                      <a:pt x="90" y="413"/>
                      <a:pt x="90" y="413"/>
                      <a:pt x="90" y="413"/>
                    </a:cubicBezTo>
                    <a:cubicBezTo>
                      <a:pt x="9" y="413"/>
                      <a:pt x="9" y="413"/>
                      <a:pt x="9" y="413"/>
                    </a:cubicBezTo>
                    <a:cubicBezTo>
                      <a:pt x="9" y="569"/>
                      <a:pt x="9" y="569"/>
                      <a:pt x="9" y="569"/>
                    </a:cubicBezTo>
                    <a:cubicBezTo>
                      <a:pt x="574" y="569"/>
                      <a:pt x="574" y="569"/>
                      <a:pt x="574" y="569"/>
                    </a:cubicBezTo>
                    <a:cubicBezTo>
                      <a:pt x="574" y="413"/>
                      <a:pt x="574" y="413"/>
                      <a:pt x="574" y="413"/>
                    </a:cubicBezTo>
                    <a:cubicBezTo>
                      <a:pt x="253" y="413"/>
                      <a:pt x="253" y="413"/>
                      <a:pt x="253" y="413"/>
                    </a:cubicBezTo>
                    <a:cubicBezTo>
                      <a:pt x="195" y="413"/>
                      <a:pt x="133" y="369"/>
                      <a:pt x="133" y="286"/>
                    </a:cubicBezTo>
                    <a:cubicBezTo>
                      <a:pt x="133" y="221"/>
                      <a:pt x="178" y="155"/>
                      <a:pt x="253" y="155"/>
                    </a:cubicBezTo>
                    <a:cubicBezTo>
                      <a:pt x="574" y="155"/>
                      <a:pt x="574" y="155"/>
                      <a:pt x="574" y="155"/>
                    </a:cubicBezTo>
                    <a:cubicBezTo>
                      <a:pt x="574" y="0"/>
                      <a:pt x="574" y="0"/>
                      <a:pt x="574" y="0"/>
                    </a:cubicBezTo>
                    <a:cubicBezTo>
                      <a:pt x="224" y="0"/>
                      <a:pt x="224" y="0"/>
                      <a:pt x="224" y="0"/>
                    </a:cubicBezTo>
                    <a:cubicBezTo>
                      <a:pt x="94" y="0"/>
                      <a:pt x="0" y="93"/>
                      <a:pt x="0" y="22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0" name="Freeform 30">
                <a:extLst>
                  <a:ext uri="{FF2B5EF4-FFF2-40B4-BE49-F238E27FC236}">
                    <a16:creationId xmlns:a16="http://schemas.microsoft.com/office/drawing/2014/main" id="{93B05BBE-DBEC-684B-B012-F63384131C10}"/>
                  </a:ext>
                </a:extLst>
              </p:cNvPr>
              <p:cNvSpPr>
                <a:spLocks/>
              </p:cNvSpPr>
              <p:nvPr userDrawn="1"/>
            </p:nvSpPr>
            <p:spPr bwMode="auto">
              <a:xfrm>
                <a:off x="7387546" y="755049"/>
                <a:ext cx="245577" cy="276163"/>
              </a:xfrm>
              <a:custGeom>
                <a:avLst/>
                <a:gdLst>
                  <a:gd name="T0" fmla="*/ 0 w 554"/>
                  <a:gd name="T1" fmla="*/ 174 h 623"/>
                  <a:gd name="T2" fmla="*/ 377 w 554"/>
                  <a:gd name="T3" fmla="*/ 311 h 623"/>
                  <a:gd name="T4" fmla="*/ 0 w 554"/>
                  <a:gd name="T5" fmla="*/ 450 h 623"/>
                  <a:gd name="T6" fmla="*/ 0 w 554"/>
                  <a:gd name="T7" fmla="*/ 623 h 623"/>
                  <a:gd name="T8" fmla="*/ 554 w 554"/>
                  <a:gd name="T9" fmla="*/ 395 h 623"/>
                  <a:gd name="T10" fmla="*/ 554 w 554"/>
                  <a:gd name="T11" fmla="*/ 228 h 623"/>
                  <a:gd name="T12" fmla="*/ 0 w 554"/>
                  <a:gd name="T13" fmla="*/ 0 h 623"/>
                  <a:gd name="T14" fmla="*/ 0 w 554"/>
                  <a:gd name="T15" fmla="*/ 174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623">
                    <a:moveTo>
                      <a:pt x="0" y="174"/>
                    </a:moveTo>
                    <a:lnTo>
                      <a:pt x="377" y="311"/>
                    </a:lnTo>
                    <a:lnTo>
                      <a:pt x="0" y="450"/>
                    </a:lnTo>
                    <a:lnTo>
                      <a:pt x="0" y="623"/>
                    </a:lnTo>
                    <a:lnTo>
                      <a:pt x="554" y="395"/>
                    </a:lnTo>
                    <a:lnTo>
                      <a:pt x="554" y="228"/>
                    </a:lnTo>
                    <a:lnTo>
                      <a:pt x="0" y="0"/>
                    </a:lnTo>
                    <a:lnTo>
                      <a:pt x="0"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1" name="Freeform 31">
                <a:extLst>
                  <a:ext uri="{FF2B5EF4-FFF2-40B4-BE49-F238E27FC236}">
                    <a16:creationId xmlns:a16="http://schemas.microsoft.com/office/drawing/2014/main" id="{972F0292-22E7-DDB2-79F6-6703AF74768F}"/>
                  </a:ext>
                </a:extLst>
              </p:cNvPr>
              <p:cNvSpPr>
                <a:spLocks noEditPoints="1"/>
              </p:cNvSpPr>
              <p:nvPr userDrawn="1"/>
            </p:nvSpPr>
            <p:spPr bwMode="auto">
              <a:xfrm>
                <a:off x="7383556" y="1583096"/>
                <a:ext cx="253999" cy="256659"/>
              </a:xfrm>
              <a:custGeom>
                <a:avLst/>
                <a:gdLst>
                  <a:gd name="T0" fmla="*/ 401 w 584"/>
                  <a:gd name="T1" fmla="*/ 110 h 590"/>
                  <a:gd name="T2" fmla="*/ 460 w 584"/>
                  <a:gd name="T3" fmla="*/ 272 h 590"/>
                  <a:gd name="T4" fmla="*/ 415 w 584"/>
                  <a:gd name="T5" fmla="*/ 397 h 590"/>
                  <a:gd name="T6" fmla="*/ 250 w 584"/>
                  <a:gd name="T7" fmla="*/ 0 h 590"/>
                  <a:gd name="T8" fmla="*/ 92 w 584"/>
                  <a:gd name="T9" fmla="*/ 68 h 590"/>
                  <a:gd name="T10" fmla="*/ 0 w 584"/>
                  <a:gd name="T11" fmla="*/ 291 h 590"/>
                  <a:gd name="T12" fmla="*/ 292 w 584"/>
                  <a:gd name="T13" fmla="*/ 590 h 590"/>
                  <a:gd name="T14" fmla="*/ 584 w 584"/>
                  <a:gd name="T15" fmla="*/ 274 h 590"/>
                  <a:gd name="T16" fmla="*/ 476 w 584"/>
                  <a:gd name="T17" fmla="*/ 12 h 590"/>
                  <a:gd name="T18" fmla="*/ 401 w 584"/>
                  <a:gd name="T19" fmla="*/ 110 h 590"/>
                  <a:gd name="T20" fmla="*/ 179 w 584"/>
                  <a:gd name="T21" fmla="*/ 408 h 590"/>
                  <a:gd name="T22" fmla="*/ 123 w 584"/>
                  <a:gd name="T23" fmla="*/ 288 h 590"/>
                  <a:gd name="T24" fmla="*/ 202 w 584"/>
                  <a:gd name="T25" fmla="*/ 168 h 590"/>
                  <a:gd name="T26" fmla="*/ 315 w 584"/>
                  <a:gd name="T27" fmla="*/ 439 h 590"/>
                  <a:gd name="T28" fmla="*/ 179 w 584"/>
                  <a:gd name="T29" fmla="*/ 408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4" h="590">
                    <a:moveTo>
                      <a:pt x="401" y="110"/>
                    </a:moveTo>
                    <a:cubicBezTo>
                      <a:pt x="449" y="175"/>
                      <a:pt x="460" y="212"/>
                      <a:pt x="460" y="272"/>
                    </a:cubicBezTo>
                    <a:cubicBezTo>
                      <a:pt x="460" y="325"/>
                      <a:pt x="444" y="367"/>
                      <a:pt x="415" y="397"/>
                    </a:cubicBezTo>
                    <a:cubicBezTo>
                      <a:pt x="250" y="0"/>
                      <a:pt x="250" y="0"/>
                      <a:pt x="250" y="0"/>
                    </a:cubicBezTo>
                    <a:cubicBezTo>
                      <a:pt x="189" y="9"/>
                      <a:pt x="134" y="32"/>
                      <a:pt x="92" y="68"/>
                    </a:cubicBezTo>
                    <a:cubicBezTo>
                      <a:pt x="32" y="120"/>
                      <a:pt x="0" y="197"/>
                      <a:pt x="0" y="291"/>
                    </a:cubicBezTo>
                    <a:cubicBezTo>
                      <a:pt x="0" y="462"/>
                      <a:pt x="126" y="590"/>
                      <a:pt x="292" y="590"/>
                    </a:cubicBezTo>
                    <a:cubicBezTo>
                      <a:pt x="462" y="590"/>
                      <a:pt x="584" y="462"/>
                      <a:pt x="584" y="274"/>
                    </a:cubicBezTo>
                    <a:cubicBezTo>
                      <a:pt x="584" y="169"/>
                      <a:pt x="534" y="62"/>
                      <a:pt x="476" y="12"/>
                    </a:cubicBezTo>
                    <a:lnTo>
                      <a:pt x="401" y="110"/>
                    </a:lnTo>
                    <a:close/>
                    <a:moveTo>
                      <a:pt x="179" y="408"/>
                    </a:moveTo>
                    <a:cubicBezTo>
                      <a:pt x="144" y="381"/>
                      <a:pt x="123" y="339"/>
                      <a:pt x="123" y="288"/>
                    </a:cubicBezTo>
                    <a:cubicBezTo>
                      <a:pt x="123" y="232"/>
                      <a:pt x="155" y="190"/>
                      <a:pt x="202" y="168"/>
                    </a:cubicBezTo>
                    <a:cubicBezTo>
                      <a:pt x="315" y="439"/>
                      <a:pt x="315" y="439"/>
                      <a:pt x="315" y="439"/>
                    </a:cubicBezTo>
                    <a:cubicBezTo>
                      <a:pt x="257" y="447"/>
                      <a:pt x="212" y="432"/>
                      <a:pt x="179" y="4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2" name="Freeform 32">
                <a:extLst>
                  <a:ext uri="{FF2B5EF4-FFF2-40B4-BE49-F238E27FC236}">
                    <a16:creationId xmlns:a16="http://schemas.microsoft.com/office/drawing/2014/main" id="{8FB3E4DF-D685-E83E-C831-3D30D6486411}"/>
                  </a:ext>
                </a:extLst>
              </p:cNvPr>
              <p:cNvSpPr>
                <a:spLocks/>
              </p:cNvSpPr>
              <p:nvPr userDrawn="1"/>
            </p:nvSpPr>
            <p:spPr bwMode="auto">
              <a:xfrm>
                <a:off x="7313961" y="1846404"/>
                <a:ext cx="319161" cy="221640"/>
              </a:xfrm>
              <a:custGeom>
                <a:avLst/>
                <a:gdLst>
                  <a:gd name="T0" fmla="*/ 580 w 720"/>
                  <a:gd name="T1" fmla="*/ 0 h 500"/>
                  <a:gd name="T2" fmla="*/ 580 w 720"/>
                  <a:gd name="T3" fmla="*/ 346 h 500"/>
                  <a:gd name="T4" fmla="*/ 0 w 720"/>
                  <a:gd name="T5" fmla="*/ 346 h 500"/>
                  <a:gd name="T6" fmla="*/ 0 w 720"/>
                  <a:gd name="T7" fmla="*/ 500 h 500"/>
                  <a:gd name="T8" fmla="*/ 720 w 720"/>
                  <a:gd name="T9" fmla="*/ 500 h 500"/>
                  <a:gd name="T10" fmla="*/ 720 w 720"/>
                  <a:gd name="T11" fmla="*/ 0 h 500"/>
                  <a:gd name="T12" fmla="*/ 580 w 720"/>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720" h="500">
                    <a:moveTo>
                      <a:pt x="580" y="0"/>
                    </a:moveTo>
                    <a:lnTo>
                      <a:pt x="580" y="346"/>
                    </a:lnTo>
                    <a:lnTo>
                      <a:pt x="0" y="346"/>
                    </a:lnTo>
                    <a:lnTo>
                      <a:pt x="0" y="500"/>
                    </a:lnTo>
                    <a:lnTo>
                      <a:pt x="720" y="500"/>
                    </a:lnTo>
                    <a:lnTo>
                      <a:pt x="720" y="0"/>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3" name="Freeform 33">
                <a:extLst>
                  <a:ext uri="{FF2B5EF4-FFF2-40B4-BE49-F238E27FC236}">
                    <a16:creationId xmlns:a16="http://schemas.microsoft.com/office/drawing/2014/main" id="{7E51460F-8A6D-E455-ADF5-BF3600A7DAC9}"/>
                  </a:ext>
                </a:extLst>
              </p:cNvPr>
              <p:cNvSpPr>
                <a:spLocks noEditPoints="1"/>
              </p:cNvSpPr>
              <p:nvPr userDrawn="1"/>
            </p:nvSpPr>
            <p:spPr bwMode="auto">
              <a:xfrm>
                <a:off x="7383556" y="501936"/>
                <a:ext cx="253999" cy="263752"/>
              </a:xfrm>
              <a:custGeom>
                <a:avLst/>
                <a:gdLst>
                  <a:gd name="T0" fmla="*/ 584 w 584"/>
                  <a:gd name="T1" fmla="*/ 304 h 607"/>
                  <a:gd name="T2" fmla="*/ 292 w 584"/>
                  <a:gd name="T3" fmla="*/ 607 h 607"/>
                  <a:gd name="T4" fmla="*/ 0 w 584"/>
                  <a:gd name="T5" fmla="*/ 302 h 607"/>
                  <a:gd name="T6" fmla="*/ 292 w 584"/>
                  <a:gd name="T7" fmla="*/ 0 h 607"/>
                  <a:gd name="T8" fmla="*/ 584 w 584"/>
                  <a:gd name="T9" fmla="*/ 304 h 607"/>
                  <a:gd name="T10" fmla="*/ 133 w 584"/>
                  <a:gd name="T11" fmla="*/ 304 h 607"/>
                  <a:gd name="T12" fmla="*/ 292 w 584"/>
                  <a:gd name="T13" fmla="*/ 454 h 607"/>
                  <a:gd name="T14" fmla="*/ 451 w 584"/>
                  <a:gd name="T15" fmla="*/ 302 h 607"/>
                  <a:gd name="T16" fmla="*/ 292 w 584"/>
                  <a:gd name="T17" fmla="*/ 153 h 607"/>
                  <a:gd name="T18" fmla="*/ 133 w 584"/>
                  <a:gd name="T19" fmla="*/ 304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4"/>
                    </a:moveTo>
                    <a:cubicBezTo>
                      <a:pt x="584" y="474"/>
                      <a:pt x="457" y="607"/>
                      <a:pt x="292" y="607"/>
                    </a:cubicBezTo>
                    <a:cubicBezTo>
                      <a:pt x="128" y="607"/>
                      <a:pt x="0" y="473"/>
                      <a:pt x="0" y="302"/>
                    </a:cubicBezTo>
                    <a:cubicBezTo>
                      <a:pt x="0" y="133"/>
                      <a:pt x="126" y="0"/>
                      <a:pt x="292" y="0"/>
                    </a:cubicBezTo>
                    <a:cubicBezTo>
                      <a:pt x="455" y="0"/>
                      <a:pt x="584" y="133"/>
                      <a:pt x="584" y="304"/>
                    </a:cubicBezTo>
                    <a:moveTo>
                      <a:pt x="133" y="304"/>
                    </a:moveTo>
                    <a:cubicBezTo>
                      <a:pt x="133" y="391"/>
                      <a:pt x="198" y="454"/>
                      <a:pt x="292" y="454"/>
                    </a:cubicBezTo>
                    <a:cubicBezTo>
                      <a:pt x="381" y="454"/>
                      <a:pt x="451" y="387"/>
                      <a:pt x="451" y="302"/>
                    </a:cubicBezTo>
                    <a:cubicBezTo>
                      <a:pt x="451" y="216"/>
                      <a:pt x="383" y="153"/>
                      <a:pt x="292" y="153"/>
                    </a:cubicBezTo>
                    <a:cubicBezTo>
                      <a:pt x="203" y="153"/>
                      <a:pt x="133" y="219"/>
                      <a:pt x="133" y="30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4" name="Freeform 34">
                <a:extLst>
                  <a:ext uri="{FF2B5EF4-FFF2-40B4-BE49-F238E27FC236}">
                    <a16:creationId xmlns:a16="http://schemas.microsoft.com/office/drawing/2014/main" id="{9296505E-2DA9-07F7-31C5-6D802244B0F4}"/>
                  </a:ext>
                </a:extLst>
              </p:cNvPr>
              <p:cNvSpPr>
                <a:spLocks noEditPoints="1"/>
              </p:cNvSpPr>
              <p:nvPr userDrawn="1"/>
            </p:nvSpPr>
            <p:spPr bwMode="auto">
              <a:xfrm>
                <a:off x="7383556" y="1021017"/>
                <a:ext cx="253999" cy="263752"/>
              </a:xfrm>
              <a:custGeom>
                <a:avLst/>
                <a:gdLst>
                  <a:gd name="T0" fmla="*/ 584 w 584"/>
                  <a:gd name="T1" fmla="*/ 305 h 607"/>
                  <a:gd name="T2" fmla="*/ 292 w 584"/>
                  <a:gd name="T3" fmla="*/ 607 h 607"/>
                  <a:gd name="T4" fmla="*/ 0 w 584"/>
                  <a:gd name="T5" fmla="*/ 303 h 607"/>
                  <a:gd name="T6" fmla="*/ 292 w 584"/>
                  <a:gd name="T7" fmla="*/ 0 h 607"/>
                  <a:gd name="T8" fmla="*/ 584 w 584"/>
                  <a:gd name="T9" fmla="*/ 305 h 607"/>
                  <a:gd name="T10" fmla="*/ 133 w 584"/>
                  <a:gd name="T11" fmla="*/ 305 h 607"/>
                  <a:gd name="T12" fmla="*/ 292 w 584"/>
                  <a:gd name="T13" fmla="*/ 454 h 607"/>
                  <a:gd name="T14" fmla="*/ 451 w 584"/>
                  <a:gd name="T15" fmla="*/ 303 h 607"/>
                  <a:gd name="T16" fmla="*/ 292 w 584"/>
                  <a:gd name="T17" fmla="*/ 153 h 607"/>
                  <a:gd name="T18" fmla="*/ 133 w 584"/>
                  <a:gd name="T19" fmla="*/ 30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5"/>
                    </a:moveTo>
                    <a:cubicBezTo>
                      <a:pt x="584" y="474"/>
                      <a:pt x="457" y="607"/>
                      <a:pt x="292" y="607"/>
                    </a:cubicBezTo>
                    <a:cubicBezTo>
                      <a:pt x="128" y="607"/>
                      <a:pt x="0" y="474"/>
                      <a:pt x="0" y="303"/>
                    </a:cubicBezTo>
                    <a:cubicBezTo>
                      <a:pt x="0" y="133"/>
                      <a:pt x="126" y="0"/>
                      <a:pt x="292" y="0"/>
                    </a:cubicBezTo>
                    <a:cubicBezTo>
                      <a:pt x="455" y="0"/>
                      <a:pt x="584" y="134"/>
                      <a:pt x="584" y="305"/>
                    </a:cubicBezTo>
                    <a:moveTo>
                      <a:pt x="133" y="305"/>
                    </a:moveTo>
                    <a:cubicBezTo>
                      <a:pt x="133" y="391"/>
                      <a:pt x="198" y="454"/>
                      <a:pt x="292" y="454"/>
                    </a:cubicBezTo>
                    <a:cubicBezTo>
                      <a:pt x="381" y="454"/>
                      <a:pt x="451" y="388"/>
                      <a:pt x="451" y="303"/>
                    </a:cubicBezTo>
                    <a:cubicBezTo>
                      <a:pt x="451" y="216"/>
                      <a:pt x="383" y="153"/>
                      <a:pt x="292" y="153"/>
                    </a:cubicBezTo>
                    <a:cubicBezTo>
                      <a:pt x="203" y="153"/>
                      <a:pt x="133" y="220"/>
                      <a:pt x="133" y="30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grpSp>
      <p:pic>
        <p:nvPicPr>
          <p:cNvPr id="12" name="Picture 11">
            <a:extLst>
              <a:ext uri="{FF2B5EF4-FFF2-40B4-BE49-F238E27FC236}">
                <a16:creationId xmlns:a16="http://schemas.microsoft.com/office/drawing/2014/main" id="{65866607-25A7-FC68-0DCF-36B98EC529BE}"/>
              </a:ext>
            </a:extLst>
          </p:cNvPr>
          <p:cNvPicPr>
            <a:picLocks noChangeAspect="1"/>
          </p:cNvPicPr>
          <p:nvPr userDrawn="1"/>
        </p:nvPicPr>
        <p:blipFill>
          <a:blip r:embed="rId2"/>
          <a:stretch>
            <a:fillRect/>
          </a:stretch>
        </p:blipFill>
        <p:spPr>
          <a:xfrm>
            <a:off x="1539350" y="3561907"/>
            <a:ext cx="7854374" cy="1774090"/>
          </a:xfrm>
          <a:prstGeom prst="rect">
            <a:avLst/>
          </a:prstGeom>
        </p:spPr>
      </p:pic>
    </p:spTree>
    <p:extLst>
      <p:ext uri="{BB962C8B-B14F-4D97-AF65-F5344CB8AC3E}">
        <p14:creationId xmlns:p14="http://schemas.microsoft.com/office/powerpoint/2010/main" val="2256788188"/>
      </p:ext>
    </p:extLst>
  </p:cSld>
  <p:clrMapOvr>
    <a:masterClrMapping/>
  </p:clrMapOvr>
  <p:transition spd="med"/>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userDrawn="1">
  <p:cSld name="2_Closing Slide_Black">
    <p:bg>
      <p:bgPr>
        <a:solidFill>
          <a:srgbClr val="1E0113"/>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F7FEAA-CD25-31FD-0E8A-E47145F5F9EB}"/>
              </a:ext>
            </a:extLst>
          </p:cNvPr>
          <p:cNvGrpSpPr/>
          <p:nvPr userDrawn="1"/>
        </p:nvGrpSpPr>
        <p:grpSpPr>
          <a:xfrm>
            <a:off x="9392772" y="767096"/>
            <a:ext cx="2800816" cy="1898696"/>
            <a:chOff x="9390324" y="767096"/>
            <a:chExt cx="2800087" cy="1898696"/>
          </a:xfrm>
        </p:grpSpPr>
        <p:grpSp>
          <p:nvGrpSpPr>
            <p:cNvPr id="63" name="Group 62">
              <a:extLst>
                <a:ext uri="{FF2B5EF4-FFF2-40B4-BE49-F238E27FC236}">
                  <a16:creationId xmlns:a16="http://schemas.microsoft.com/office/drawing/2014/main" id="{DBC4C027-8FC0-71EF-963F-3B8A0447C1E8}"/>
                </a:ext>
              </a:extLst>
            </p:cNvPr>
            <p:cNvGrpSpPr/>
            <p:nvPr userDrawn="1"/>
          </p:nvGrpSpPr>
          <p:grpSpPr>
            <a:xfrm>
              <a:off x="9390324" y="936748"/>
              <a:ext cx="1965963" cy="1042086"/>
              <a:chOff x="4988072" y="501936"/>
              <a:chExt cx="1978802" cy="1051017"/>
            </a:xfrm>
            <a:solidFill>
              <a:schemeClr val="bg1"/>
            </a:solidFill>
          </p:grpSpPr>
          <p:sp>
            <p:nvSpPr>
              <p:cNvPr id="72" name="Freeform 5">
                <a:extLst>
                  <a:ext uri="{FF2B5EF4-FFF2-40B4-BE49-F238E27FC236}">
                    <a16:creationId xmlns:a16="http://schemas.microsoft.com/office/drawing/2014/main" id="{AC114BA7-B808-0C61-F4C4-498846EB2C1F}"/>
                  </a:ext>
                </a:extLst>
              </p:cNvPr>
              <p:cNvSpPr>
                <a:spLocks/>
              </p:cNvSpPr>
              <p:nvPr userDrawn="1"/>
            </p:nvSpPr>
            <p:spPr bwMode="auto">
              <a:xfrm>
                <a:off x="5559016" y="501936"/>
                <a:ext cx="218094" cy="282813"/>
              </a:xfrm>
              <a:custGeom>
                <a:avLst/>
                <a:gdLst>
                  <a:gd name="T0" fmla="*/ 0 w 502"/>
                  <a:gd name="T1" fmla="*/ 550 h 651"/>
                  <a:gd name="T2" fmla="*/ 83 w 502"/>
                  <a:gd name="T3" fmla="*/ 451 h 651"/>
                  <a:gd name="T4" fmla="*/ 272 w 502"/>
                  <a:gd name="T5" fmla="*/ 528 h 651"/>
                  <a:gd name="T6" fmla="*/ 363 w 502"/>
                  <a:gd name="T7" fmla="*/ 469 h 651"/>
                  <a:gd name="T8" fmla="*/ 363 w 502"/>
                  <a:gd name="T9" fmla="*/ 467 h 651"/>
                  <a:gd name="T10" fmla="*/ 236 w 502"/>
                  <a:gd name="T11" fmla="*/ 386 h 651"/>
                  <a:gd name="T12" fmla="*/ 26 w 502"/>
                  <a:gd name="T13" fmla="*/ 192 h 651"/>
                  <a:gd name="T14" fmla="*/ 26 w 502"/>
                  <a:gd name="T15" fmla="*/ 191 h 651"/>
                  <a:gd name="T16" fmla="*/ 247 w 502"/>
                  <a:gd name="T17" fmla="*/ 0 h 651"/>
                  <a:gd name="T18" fmla="*/ 483 w 502"/>
                  <a:gd name="T19" fmla="*/ 80 h 651"/>
                  <a:gd name="T20" fmla="*/ 410 w 502"/>
                  <a:gd name="T21" fmla="*/ 185 h 651"/>
                  <a:gd name="T22" fmla="*/ 246 w 502"/>
                  <a:gd name="T23" fmla="*/ 123 h 651"/>
                  <a:gd name="T24" fmla="*/ 164 w 502"/>
                  <a:gd name="T25" fmla="*/ 178 h 651"/>
                  <a:gd name="T26" fmla="*/ 164 w 502"/>
                  <a:gd name="T27" fmla="*/ 180 h 651"/>
                  <a:gd name="T28" fmla="*/ 301 w 502"/>
                  <a:gd name="T29" fmla="*/ 263 h 651"/>
                  <a:gd name="T30" fmla="*/ 502 w 502"/>
                  <a:gd name="T31" fmla="*/ 453 h 651"/>
                  <a:gd name="T32" fmla="*/ 502 w 502"/>
                  <a:gd name="T33" fmla="*/ 455 h 651"/>
                  <a:gd name="T34" fmla="*/ 269 w 502"/>
                  <a:gd name="T35" fmla="*/ 651 h 651"/>
                  <a:gd name="T36" fmla="*/ 0 w 502"/>
                  <a:gd name="T37" fmla="*/ 55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651">
                    <a:moveTo>
                      <a:pt x="0" y="550"/>
                    </a:moveTo>
                    <a:cubicBezTo>
                      <a:pt x="83" y="451"/>
                      <a:pt x="83" y="451"/>
                      <a:pt x="83" y="451"/>
                    </a:cubicBezTo>
                    <a:cubicBezTo>
                      <a:pt x="140" y="498"/>
                      <a:pt x="200" y="528"/>
                      <a:pt x="272" y="528"/>
                    </a:cubicBezTo>
                    <a:cubicBezTo>
                      <a:pt x="329" y="528"/>
                      <a:pt x="363" y="506"/>
                      <a:pt x="363" y="469"/>
                    </a:cubicBezTo>
                    <a:cubicBezTo>
                      <a:pt x="363" y="467"/>
                      <a:pt x="363" y="467"/>
                      <a:pt x="363" y="467"/>
                    </a:cubicBezTo>
                    <a:cubicBezTo>
                      <a:pt x="363" y="431"/>
                      <a:pt x="342" y="413"/>
                      <a:pt x="236" y="386"/>
                    </a:cubicBezTo>
                    <a:cubicBezTo>
                      <a:pt x="108" y="354"/>
                      <a:pt x="26" y="318"/>
                      <a:pt x="26" y="192"/>
                    </a:cubicBezTo>
                    <a:cubicBezTo>
                      <a:pt x="26" y="191"/>
                      <a:pt x="26" y="191"/>
                      <a:pt x="26" y="191"/>
                    </a:cubicBezTo>
                    <a:cubicBezTo>
                      <a:pt x="26" y="76"/>
                      <a:pt x="118" y="0"/>
                      <a:pt x="247" y="0"/>
                    </a:cubicBezTo>
                    <a:cubicBezTo>
                      <a:pt x="340" y="0"/>
                      <a:pt x="419" y="29"/>
                      <a:pt x="483" y="80"/>
                    </a:cubicBezTo>
                    <a:cubicBezTo>
                      <a:pt x="410" y="185"/>
                      <a:pt x="410" y="185"/>
                      <a:pt x="410" y="185"/>
                    </a:cubicBezTo>
                    <a:cubicBezTo>
                      <a:pt x="354" y="146"/>
                      <a:pt x="299" y="123"/>
                      <a:pt x="246" y="123"/>
                    </a:cubicBezTo>
                    <a:cubicBezTo>
                      <a:pt x="192" y="123"/>
                      <a:pt x="164" y="147"/>
                      <a:pt x="164" y="178"/>
                    </a:cubicBezTo>
                    <a:cubicBezTo>
                      <a:pt x="164" y="180"/>
                      <a:pt x="164" y="180"/>
                      <a:pt x="164" y="180"/>
                    </a:cubicBezTo>
                    <a:cubicBezTo>
                      <a:pt x="164" y="221"/>
                      <a:pt x="191" y="235"/>
                      <a:pt x="301" y="263"/>
                    </a:cubicBezTo>
                    <a:cubicBezTo>
                      <a:pt x="429" y="297"/>
                      <a:pt x="502" y="343"/>
                      <a:pt x="502" y="453"/>
                    </a:cubicBezTo>
                    <a:cubicBezTo>
                      <a:pt x="502" y="455"/>
                      <a:pt x="502" y="455"/>
                      <a:pt x="502" y="455"/>
                    </a:cubicBezTo>
                    <a:cubicBezTo>
                      <a:pt x="502" y="581"/>
                      <a:pt x="406" y="651"/>
                      <a:pt x="269" y="651"/>
                    </a:cubicBezTo>
                    <a:cubicBezTo>
                      <a:pt x="173" y="651"/>
                      <a:pt x="76" y="618"/>
                      <a:pt x="0" y="5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3" name="Freeform 6">
                <a:extLst>
                  <a:ext uri="{FF2B5EF4-FFF2-40B4-BE49-F238E27FC236}">
                    <a16:creationId xmlns:a16="http://schemas.microsoft.com/office/drawing/2014/main" id="{03055FF5-EB33-F09D-784D-C7AD01880326}"/>
                  </a:ext>
                </a:extLst>
              </p:cNvPr>
              <p:cNvSpPr>
                <a:spLocks/>
              </p:cNvSpPr>
              <p:nvPr userDrawn="1"/>
            </p:nvSpPr>
            <p:spPr bwMode="auto">
              <a:xfrm>
                <a:off x="5791295" y="566212"/>
                <a:ext cx="322264" cy="214547"/>
              </a:xfrm>
              <a:custGeom>
                <a:avLst/>
                <a:gdLst>
                  <a:gd name="T0" fmla="*/ 0 w 741"/>
                  <a:gd name="T1" fmla="*/ 9 h 494"/>
                  <a:gd name="T2" fmla="*/ 138 w 741"/>
                  <a:gd name="T3" fmla="*/ 9 h 494"/>
                  <a:gd name="T4" fmla="*/ 138 w 741"/>
                  <a:gd name="T5" fmla="*/ 78 h 494"/>
                  <a:gd name="T6" fmla="*/ 281 w 741"/>
                  <a:gd name="T7" fmla="*/ 0 h 494"/>
                  <a:gd name="T8" fmla="*/ 418 w 741"/>
                  <a:gd name="T9" fmla="*/ 77 h 494"/>
                  <a:gd name="T10" fmla="*/ 577 w 741"/>
                  <a:gd name="T11" fmla="*/ 0 h 494"/>
                  <a:gd name="T12" fmla="*/ 741 w 741"/>
                  <a:gd name="T13" fmla="*/ 178 h 494"/>
                  <a:gd name="T14" fmla="*/ 741 w 741"/>
                  <a:gd name="T15" fmla="*/ 494 h 494"/>
                  <a:gd name="T16" fmla="*/ 603 w 741"/>
                  <a:gd name="T17" fmla="*/ 494 h 494"/>
                  <a:gd name="T18" fmla="*/ 603 w 741"/>
                  <a:gd name="T19" fmla="*/ 224 h 494"/>
                  <a:gd name="T20" fmla="*/ 523 w 741"/>
                  <a:gd name="T21" fmla="*/ 125 h 494"/>
                  <a:gd name="T22" fmla="*/ 439 w 741"/>
                  <a:gd name="T23" fmla="*/ 224 h 494"/>
                  <a:gd name="T24" fmla="*/ 439 w 741"/>
                  <a:gd name="T25" fmla="*/ 494 h 494"/>
                  <a:gd name="T26" fmla="*/ 302 w 741"/>
                  <a:gd name="T27" fmla="*/ 494 h 494"/>
                  <a:gd name="T28" fmla="*/ 302 w 741"/>
                  <a:gd name="T29" fmla="*/ 224 h 494"/>
                  <a:gd name="T30" fmla="*/ 221 w 741"/>
                  <a:gd name="T31" fmla="*/ 125 h 494"/>
                  <a:gd name="T32" fmla="*/ 138 w 741"/>
                  <a:gd name="T33" fmla="*/ 224 h 494"/>
                  <a:gd name="T34" fmla="*/ 138 w 741"/>
                  <a:gd name="T35" fmla="*/ 494 h 494"/>
                  <a:gd name="T36" fmla="*/ 0 w 741"/>
                  <a:gd name="T37" fmla="*/ 494 h 494"/>
                  <a:gd name="T38" fmla="*/ 0 w 741"/>
                  <a:gd name="T39"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1" h="494">
                    <a:moveTo>
                      <a:pt x="0" y="9"/>
                    </a:moveTo>
                    <a:cubicBezTo>
                      <a:pt x="138" y="9"/>
                      <a:pt x="138" y="9"/>
                      <a:pt x="138" y="9"/>
                    </a:cubicBezTo>
                    <a:cubicBezTo>
                      <a:pt x="138" y="78"/>
                      <a:pt x="138" y="78"/>
                      <a:pt x="138" y="78"/>
                    </a:cubicBezTo>
                    <a:cubicBezTo>
                      <a:pt x="170" y="37"/>
                      <a:pt x="211" y="0"/>
                      <a:pt x="281" y="0"/>
                    </a:cubicBezTo>
                    <a:cubicBezTo>
                      <a:pt x="344" y="0"/>
                      <a:pt x="392" y="28"/>
                      <a:pt x="418" y="77"/>
                    </a:cubicBezTo>
                    <a:cubicBezTo>
                      <a:pt x="460" y="27"/>
                      <a:pt x="511" y="0"/>
                      <a:pt x="577" y="0"/>
                    </a:cubicBezTo>
                    <a:cubicBezTo>
                      <a:pt x="679" y="0"/>
                      <a:pt x="741" y="62"/>
                      <a:pt x="741" y="178"/>
                    </a:cubicBezTo>
                    <a:cubicBezTo>
                      <a:pt x="741" y="494"/>
                      <a:pt x="741" y="494"/>
                      <a:pt x="741" y="494"/>
                    </a:cubicBezTo>
                    <a:cubicBezTo>
                      <a:pt x="603" y="494"/>
                      <a:pt x="603" y="494"/>
                      <a:pt x="603" y="494"/>
                    </a:cubicBezTo>
                    <a:cubicBezTo>
                      <a:pt x="603" y="224"/>
                      <a:pt x="603" y="224"/>
                      <a:pt x="603" y="224"/>
                    </a:cubicBezTo>
                    <a:cubicBezTo>
                      <a:pt x="603" y="159"/>
                      <a:pt x="574" y="125"/>
                      <a:pt x="523" y="125"/>
                    </a:cubicBezTo>
                    <a:cubicBezTo>
                      <a:pt x="471" y="125"/>
                      <a:pt x="439" y="159"/>
                      <a:pt x="439" y="224"/>
                    </a:cubicBezTo>
                    <a:cubicBezTo>
                      <a:pt x="439" y="494"/>
                      <a:pt x="439" y="494"/>
                      <a:pt x="439" y="494"/>
                    </a:cubicBezTo>
                    <a:cubicBezTo>
                      <a:pt x="302" y="494"/>
                      <a:pt x="302" y="494"/>
                      <a:pt x="302" y="494"/>
                    </a:cubicBezTo>
                    <a:cubicBezTo>
                      <a:pt x="302" y="224"/>
                      <a:pt x="302" y="224"/>
                      <a:pt x="302" y="224"/>
                    </a:cubicBezTo>
                    <a:cubicBezTo>
                      <a:pt x="302" y="159"/>
                      <a:pt x="273" y="125"/>
                      <a:pt x="221" y="125"/>
                    </a:cubicBezTo>
                    <a:cubicBezTo>
                      <a:pt x="170" y="125"/>
                      <a:pt x="138" y="159"/>
                      <a:pt x="138" y="224"/>
                    </a:cubicBezTo>
                    <a:cubicBezTo>
                      <a:pt x="138" y="494"/>
                      <a:pt x="138" y="494"/>
                      <a:pt x="138"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4" name="Freeform 7">
                <a:extLst>
                  <a:ext uri="{FF2B5EF4-FFF2-40B4-BE49-F238E27FC236}">
                    <a16:creationId xmlns:a16="http://schemas.microsoft.com/office/drawing/2014/main" id="{EF0C28DE-3EA0-613C-F6F5-A668E5A933D2}"/>
                  </a:ext>
                </a:extLst>
              </p:cNvPr>
              <p:cNvSpPr>
                <a:spLocks noEditPoints="1"/>
              </p:cNvSpPr>
              <p:nvPr userDrawn="1"/>
            </p:nvSpPr>
            <p:spPr bwMode="auto">
              <a:xfrm>
                <a:off x="6125971" y="567985"/>
                <a:ext cx="193713" cy="216764"/>
              </a:xfrm>
              <a:custGeom>
                <a:avLst/>
                <a:gdLst>
                  <a:gd name="T0" fmla="*/ 0 w 446"/>
                  <a:gd name="T1" fmla="*/ 351 h 499"/>
                  <a:gd name="T2" fmla="*/ 0 w 446"/>
                  <a:gd name="T3" fmla="*/ 349 h 499"/>
                  <a:gd name="T4" fmla="*/ 195 w 446"/>
                  <a:gd name="T5" fmla="*/ 194 h 499"/>
                  <a:gd name="T6" fmla="*/ 314 w 446"/>
                  <a:gd name="T7" fmla="*/ 214 h 499"/>
                  <a:gd name="T8" fmla="*/ 314 w 446"/>
                  <a:gd name="T9" fmla="*/ 206 h 499"/>
                  <a:gd name="T10" fmla="*/ 210 w 446"/>
                  <a:gd name="T11" fmla="*/ 117 h 499"/>
                  <a:gd name="T12" fmla="*/ 76 w 446"/>
                  <a:gd name="T13" fmla="*/ 144 h 499"/>
                  <a:gd name="T14" fmla="*/ 42 w 446"/>
                  <a:gd name="T15" fmla="*/ 39 h 499"/>
                  <a:gd name="T16" fmla="*/ 230 w 446"/>
                  <a:gd name="T17" fmla="*/ 0 h 499"/>
                  <a:gd name="T18" fmla="*/ 394 w 446"/>
                  <a:gd name="T19" fmla="*/ 54 h 499"/>
                  <a:gd name="T20" fmla="*/ 446 w 446"/>
                  <a:gd name="T21" fmla="*/ 209 h 499"/>
                  <a:gd name="T22" fmla="*/ 446 w 446"/>
                  <a:gd name="T23" fmla="*/ 490 h 499"/>
                  <a:gd name="T24" fmla="*/ 313 w 446"/>
                  <a:gd name="T25" fmla="*/ 490 h 499"/>
                  <a:gd name="T26" fmla="*/ 313 w 446"/>
                  <a:gd name="T27" fmla="*/ 438 h 499"/>
                  <a:gd name="T28" fmla="*/ 166 w 446"/>
                  <a:gd name="T29" fmla="*/ 499 h 499"/>
                  <a:gd name="T30" fmla="*/ 0 w 446"/>
                  <a:gd name="T31" fmla="*/ 351 h 499"/>
                  <a:gd name="T32" fmla="*/ 316 w 446"/>
                  <a:gd name="T33" fmla="*/ 319 h 499"/>
                  <a:gd name="T34" fmla="*/ 316 w 446"/>
                  <a:gd name="T35" fmla="*/ 295 h 499"/>
                  <a:gd name="T36" fmla="*/ 228 w 446"/>
                  <a:gd name="T37" fmla="*/ 277 h 499"/>
                  <a:gd name="T38" fmla="*/ 133 w 446"/>
                  <a:gd name="T39" fmla="*/ 344 h 499"/>
                  <a:gd name="T40" fmla="*/ 133 w 446"/>
                  <a:gd name="T41" fmla="*/ 346 h 499"/>
                  <a:gd name="T42" fmla="*/ 208 w 446"/>
                  <a:gd name="T43" fmla="*/ 404 h 499"/>
                  <a:gd name="T44" fmla="*/ 316 w 446"/>
                  <a:gd name="T45" fmla="*/ 31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499">
                    <a:moveTo>
                      <a:pt x="0" y="351"/>
                    </a:moveTo>
                    <a:cubicBezTo>
                      <a:pt x="0" y="349"/>
                      <a:pt x="0" y="349"/>
                      <a:pt x="0" y="349"/>
                    </a:cubicBezTo>
                    <a:cubicBezTo>
                      <a:pt x="0" y="243"/>
                      <a:pt x="80" y="194"/>
                      <a:pt x="195" y="194"/>
                    </a:cubicBezTo>
                    <a:cubicBezTo>
                      <a:pt x="244" y="194"/>
                      <a:pt x="280" y="202"/>
                      <a:pt x="314" y="214"/>
                    </a:cubicBezTo>
                    <a:cubicBezTo>
                      <a:pt x="314" y="206"/>
                      <a:pt x="314" y="206"/>
                      <a:pt x="314" y="206"/>
                    </a:cubicBezTo>
                    <a:cubicBezTo>
                      <a:pt x="314" y="149"/>
                      <a:pt x="279" y="117"/>
                      <a:pt x="210" y="117"/>
                    </a:cubicBezTo>
                    <a:cubicBezTo>
                      <a:pt x="157" y="117"/>
                      <a:pt x="120" y="127"/>
                      <a:pt x="76" y="144"/>
                    </a:cubicBezTo>
                    <a:cubicBezTo>
                      <a:pt x="42" y="39"/>
                      <a:pt x="42" y="39"/>
                      <a:pt x="42" y="39"/>
                    </a:cubicBezTo>
                    <a:cubicBezTo>
                      <a:pt x="95" y="15"/>
                      <a:pt x="147" y="0"/>
                      <a:pt x="230" y="0"/>
                    </a:cubicBezTo>
                    <a:cubicBezTo>
                      <a:pt x="305" y="0"/>
                      <a:pt x="359" y="20"/>
                      <a:pt x="394" y="54"/>
                    </a:cubicBezTo>
                    <a:cubicBezTo>
                      <a:pt x="430" y="90"/>
                      <a:pt x="446" y="144"/>
                      <a:pt x="446" y="209"/>
                    </a:cubicBezTo>
                    <a:cubicBezTo>
                      <a:pt x="446" y="490"/>
                      <a:pt x="446" y="490"/>
                      <a:pt x="446" y="490"/>
                    </a:cubicBezTo>
                    <a:cubicBezTo>
                      <a:pt x="313" y="490"/>
                      <a:pt x="313" y="490"/>
                      <a:pt x="313" y="490"/>
                    </a:cubicBezTo>
                    <a:cubicBezTo>
                      <a:pt x="313" y="438"/>
                      <a:pt x="313" y="438"/>
                      <a:pt x="313" y="438"/>
                    </a:cubicBezTo>
                    <a:cubicBezTo>
                      <a:pt x="280" y="475"/>
                      <a:pt x="233" y="499"/>
                      <a:pt x="166" y="499"/>
                    </a:cubicBezTo>
                    <a:cubicBezTo>
                      <a:pt x="75" y="499"/>
                      <a:pt x="0" y="447"/>
                      <a:pt x="0" y="351"/>
                    </a:cubicBezTo>
                    <a:close/>
                    <a:moveTo>
                      <a:pt x="316" y="319"/>
                    </a:moveTo>
                    <a:cubicBezTo>
                      <a:pt x="316" y="295"/>
                      <a:pt x="316" y="295"/>
                      <a:pt x="316" y="295"/>
                    </a:cubicBezTo>
                    <a:cubicBezTo>
                      <a:pt x="292" y="284"/>
                      <a:pt x="262" y="277"/>
                      <a:pt x="228" y="277"/>
                    </a:cubicBezTo>
                    <a:cubicBezTo>
                      <a:pt x="169" y="277"/>
                      <a:pt x="133" y="300"/>
                      <a:pt x="133" y="344"/>
                    </a:cubicBezTo>
                    <a:cubicBezTo>
                      <a:pt x="133" y="346"/>
                      <a:pt x="133" y="346"/>
                      <a:pt x="133" y="346"/>
                    </a:cubicBezTo>
                    <a:cubicBezTo>
                      <a:pt x="133" y="383"/>
                      <a:pt x="164" y="404"/>
                      <a:pt x="208" y="404"/>
                    </a:cubicBezTo>
                    <a:cubicBezTo>
                      <a:pt x="272" y="404"/>
                      <a:pt x="316" y="369"/>
                      <a:pt x="316" y="3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5" name="Freeform 8">
                <a:extLst>
                  <a:ext uri="{FF2B5EF4-FFF2-40B4-BE49-F238E27FC236}">
                    <a16:creationId xmlns:a16="http://schemas.microsoft.com/office/drawing/2014/main" id="{AA3A9144-5E21-1340-D82E-781E8E03088B}"/>
                  </a:ext>
                </a:extLst>
              </p:cNvPr>
              <p:cNvSpPr>
                <a:spLocks/>
              </p:cNvSpPr>
              <p:nvPr userDrawn="1"/>
            </p:nvSpPr>
            <p:spPr bwMode="auto">
              <a:xfrm>
                <a:off x="6336529" y="564438"/>
                <a:ext cx="127665"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6" name="Freeform 9">
                <a:extLst>
                  <a:ext uri="{FF2B5EF4-FFF2-40B4-BE49-F238E27FC236}">
                    <a16:creationId xmlns:a16="http://schemas.microsoft.com/office/drawing/2014/main" id="{16E502AF-0487-43AF-00DB-14F962B92CFF}"/>
                  </a:ext>
                </a:extLst>
              </p:cNvPr>
              <p:cNvSpPr>
                <a:spLocks/>
              </p:cNvSpPr>
              <p:nvPr userDrawn="1"/>
            </p:nvSpPr>
            <p:spPr bwMode="auto">
              <a:xfrm>
                <a:off x="6475719" y="516121"/>
                <a:ext cx="134757" cy="268184"/>
              </a:xfrm>
              <a:custGeom>
                <a:avLst/>
                <a:gdLst>
                  <a:gd name="T0" fmla="*/ 58 w 310"/>
                  <a:gd name="T1" fmla="*/ 472 h 617"/>
                  <a:gd name="T2" fmla="*/ 58 w 310"/>
                  <a:gd name="T3" fmla="*/ 242 h 617"/>
                  <a:gd name="T4" fmla="*/ 0 w 310"/>
                  <a:gd name="T5" fmla="*/ 242 h 617"/>
                  <a:gd name="T6" fmla="*/ 0 w 310"/>
                  <a:gd name="T7" fmla="*/ 124 h 617"/>
                  <a:gd name="T8" fmla="*/ 58 w 310"/>
                  <a:gd name="T9" fmla="*/ 124 h 617"/>
                  <a:gd name="T10" fmla="*/ 58 w 310"/>
                  <a:gd name="T11" fmla="*/ 0 h 617"/>
                  <a:gd name="T12" fmla="*/ 196 w 310"/>
                  <a:gd name="T13" fmla="*/ 0 h 617"/>
                  <a:gd name="T14" fmla="*/ 196 w 310"/>
                  <a:gd name="T15" fmla="*/ 124 h 617"/>
                  <a:gd name="T16" fmla="*/ 310 w 310"/>
                  <a:gd name="T17" fmla="*/ 124 h 617"/>
                  <a:gd name="T18" fmla="*/ 310 w 310"/>
                  <a:gd name="T19" fmla="*/ 242 h 617"/>
                  <a:gd name="T20" fmla="*/ 196 w 310"/>
                  <a:gd name="T21" fmla="*/ 242 h 617"/>
                  <a:gd name="T22" fmla="*/ 196 w 310"/>
                  <a:gd name="T23" fmla="*/ 449 h 617"/>
                  <a:gd name="T24" fmla="*/ 240 w 310"/>
                  <a:gd name="T25" fmla="*/ 496 h 617"/>
                  <a:gd name="T26" fmla="*/ 308 w 310"/>
                  <a:gd name="T27" fmla="*/ 479 h 617"/>
                  <a:gd name="T28" fmla="*/ 308 w 310"/>
                  <a:gd name="T29" fmla="*/ 589 h 617"/>
                  <a:gd name="T30" fmla="*/ 199 w 310"/>
                  <a:gd name="T31" fmla="*/ 617 h 617"/>
                  <a:gd name="T32" fmla="*/ 58 w 310"/>
                  <a:gd name="T33" fmla="*/ 472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7">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6" y="0"/>
                      <a:pt x="196" y="0"/>
                      <a:pt x="196" y="0"/>
                    </a:cubicBezTo>
                    <a:cubicBezTo>
                      <a:pt x="196" y="124"/>
                      <a:pt x="196" y="124"/>
                      <a:pt x="196" y="124"/>
                    </a:cubicBezTo>
                    <a:cubicBezTo>
                      <a:pt x="310" y="124"/>
                      <a:pt x="310" y="124"/>
                      <a:pt x="310" y="124"/>
                    </a:cubicBezTo>
                    <a:cubicBezTo>
                      <a:pt x="310" y="242"/>
                      <a:pt x="310" y="242"/>
                      <a:pt x="310" y="242"/>
                    </a:cubicBezTo>
                    <a:cubicBezTo>
                      <a:pt x="196" y="242"/>
                      <a:pt x="196" y="242"/>
                      <a:pt x="196" y="242"/>
                    </a:cubicBezTo>
                    <a:cubicBezTo>
                      <a:pt x="196" y="449"/>
                      <a:pt x="196" y="449"/>
                      <a:pt x="196" y="449"/>
                    </a:cubicBezTo>
                    <a:cubicBezTo>
                      <a:pt x="196" y="481"/>
                      <a:pt x="209" y="496"/>
                      <a:pt x="240" y="496"/>
                    </a:cubicBezTo>
                    <a:cubicBezTo>
                      <a:pt x="265" y="496"/>
                      <a:pt x="288" y="490"/>
                      <a:pt x="308" y="479"/>
                    </a:cubicBezTo>
                    <a:cubicBezTo>
                      <a:pt x="308" y="589"/>
                      <a:pt x="308" y="589"/>
                      <a:pt x="308" y="589"/>
                    </a:cubicBezTo>
                    <a:cubicBezTo>
                      <a:pt x="279" y="607"/>
                      <a:pt x="245" y="617"/>
                      <a:pt x="199" y="617"/>
                    </a:cubicBezTo>
                    <a:cubicBezTo>
                      <a:pt x="115" y="617"/>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7" name="Freeform 10">
                <a:extLst>
                  <a:ext uri="{FF2B5EF4-FFF2-40B4-BE49-F238E27FC236}">
                    <a16:creationId xmlns:a16="http://schemas.microsoft.com/office/drawing/2014/main" id="{0DE8FD0D-C28A-B61F-DFEE-6F90FAD7BFAA}"/>
                  </a:ext>
                </a:extLst>
              </p:cNvPr>
              <p:cNvSpPr>
                <a:spLocks noEditPoints="1"/>
              </p:cNvSpPr>
              <p:nvPr userDrawn="1"/>
            </p:nvSpPr>
            <p:spPr bwMode="auto">
              <a:xfrm>
                <a:off x="6618455" y="566212"/>
                <a:ext cx="207012" cy="219424"/>
              </a:xfrm>
              <a:custGeom>
                <a:avLst/>
                <a:gdLst>
                  <a:gd name="T0" fmla="*/ 0 w 476"/>
                  <a:gd name="T1" fmla="*/ 254 h 505"/>
                  <a:gd name="T2" fmla="*/ 0 w 476"/>
                  <a:gd name="T3" fmla="*/ 253 h 505"/>
                  <a:gd name="T4" fmla="*/ 240 w 476"/>
                  <a:gd name="T5" fmla="*/ 0 h 505"/>
                  <a:gd name="T6" fmla="*/ 476 w 476"/>
                  <a:gd name="T7" fmla="*/ 263 h 505"/>
                  <a:gd name="T8" fmla="*/ 475 w 476"/>
                  <a:gd name="T9" fmla="*/ 300 h 505"/>
                  <a:gd name="T10" fmla="*/ 137 w 476"/>
                  <a:gd name="T11" fmla="*/ 300 h 505"/>
                  <a:gd name="T12" fmla="*/ 256 w 476"/>
                  <a:gd name="T13" fmla="*/ 395 h 505"/>
                  <a:gd name="T14" fmla="*/ 373 w 476"/>
                  <a:gd name="T15" fmla="*/ 345 h 505"/>
                  <a:gd name="T16" fmla="*/ 452 w 476"/>
                  <a:gd name="T17" fmla="*/ 415 h 505"/>
                  <a:gd name="T18" fmla="*/ 254 w 476"/>
                  <a:gd name="T19" fmla="*/ 505 h 505"/>
                  <a:gd name="T20" fmla="*/ 0 w 476"/>
                  <a:gd name="T21" fmla="*/ 254 h 505"/>
                  <a:gd name="T22" fmla="*/ 342 w 476"/>
                  <a:gd name="T23" fmla="*/ 214 h 505"/>
                  <a:gd name="T24" fmla="*/ 240 w 476"/>
                  <a:gd name="T25" fmla="*/ 111 h 505"/>
                  <a:gd name="T26" fmla="*/ 135 w 476"/>
                  <a:gd name="T27" fmla="*/ 214 h 505"/>
                  <a:gd name="T28" fmla="*/ 342 w 476"/>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6" h="505">
                    <a:moveTo>
                      <a:pt x="0" y="254"/>
                    </a:moveTo>
                    <a:cubicBezTo>
                      <a:pt x="0" y="253"/>
                      <a:pt x="0" y="253"/>
                      <a:pt x="0" y="253"/>
                    </a:cubicBezTo>
                    <a:cubicBezTo>
                      <a:pt x="0" y="114"/>
                      <a:pt x="99" y="0"/>
                      <a:pt x="240" y="0"/>
                    </a:cubicBezTo>
                    <a:cubicBezTo>
                      <a:pt x="402" y="0"/>
                      <a:pt x="476" y="126"/>
                      <a:pt x="476" y="263"/>
                    </a:cubicBezTo>
                    <a:cubicBezTo>
                      <a:pt x="476"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2" y="214"/>
                    </a:moveTo>
                    <a:cubicBezTo>
                      <a:pt x="334" y="152"/>
                      <a:pt x="298" y="111"/>
                      <a:pt x="240" y="111"/>
                    </a:cubicBezTo>
                    <a:cubicBezTo>
                      <a:pt x="183" y="111"/>
                      <a:pt x="146" y="151"/>
                      <a:pt x="135" y="214"/>
                    </a:cubicBezTo>
                    <a:lnTo>
                      <a:pt x="342"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8" name="Freeform 11">
                <a:extLst>
                  <a:ext uri="{FF2B5EF4-FFF2-40B4-BE49-F238E27FC236}">
                    <a16:creationId xmlns:a16="http://schemas.microsoft.com/office/drawing/2014/main" id="{F351CFF9-9DD1-E9B5-EE76-334AE5F03491}"/>
                  </a:ext>
                </a:extLst>
              </p:cNvPr>
              <p:cNvSpPr>
                <a:spLocks/>
              </p:cNvSpPr>
              <p:nvPr userDrawn="1"/>
            </p:nvSpPr>
            <p:spPr bwMode="auto">
              <a:xfrm>
                <a:off x="6837879" y="564438"/>
                <a:ext cx="127221"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9" name="Freeform 12">
                <a:extLst>
                  <a:ext uri="{FF2B5EF4-FFF2-40B4-BE49-F238E27FC236}">
                    <a16:creationId xmlns:a16="http://schemas.microsoft.com/office/drawing/2014/main" id="{5CBDFCA1-F27C-774F-EB38-070587A34AB2}"/>
                  </a:ext>
                </a:extLst>
              </p:cNvPr>
              <p:cNvSpPr>
                <a:spLocks/>
              </p:cNvSpPr>
              <p:nvPr userDrawn="1"/>
            </p:nvSpPr>
            <p:spPr bwMode="auto">
              <a:xfrm>
                <a:off x="4988072" y="888476"/>
                <a:ext cx="134757" cy="268628"/>
              </a:xfrm>
              <a:custGeom>
                <a:avLst/>
                <a:gdLst>
                  <a:gd name="T0" fmla="*/ 58 w 310"/>
                  <a:gd name="T1" fmla="*/ 472 h 618"/>
                  <a:gd name="T2" fmla="*/ 58 w 310"/>
                  <a:gd name="T3" fmla="*/ 242 h 618"/>
                  <a:gd name="T4" fmla="*/ 0 w 310"/>
                  <a:gd name="T5" fmla="*/ 242 h 618"/>
                  <a:gd name="T6" fmla="*/ 0 w 310"/>
                  <a:gd name="T7" fmla="*/ 124 h 618"/>
                  <a:gd name="T8" fmla="*/ 58 w 310"/>
                  <a:gd name="T9" fmla="*/ 124 h 618"/>
                  <a:gd name="T10" fmla="*/ 58 w 310"/>
                  <a:gd name="T11" fmla="*/ 0 h 618"/>
                  <a:gd name="T12" fmla="*/ 195 w 310"/>
                  <a:gd name="T13" fmla="*/ 0 h 618"/>
                  <a:gd name="T14" fmla="*/ 195 w 310"/>
                  <a:gd name="T15" fmla="*/ 124 h 618"/>
                  <a:gd name="T16" fmla="*/ 310 w 310"/>
                  <a:gd name="T17" fmla="*/ 124 h 618"/>
                  <a:gd name="T18" fmla="*/ 310 w 310"/>
                  <a:gd name="T19" fmla="*/ 242 h 618"/>
                  <a:gd name="T20" fmla="*/ 195 w 310"/>
                  <a:gd name="T21" fmla="*/ 242 h 618"/>
                  <a:gd name="T22" fmla="*/ 195 w 310"/>
                  <a:gd name="T23" fmla="*/ 449 h 618"/>
                  <a:gd name="T24" fmla="*/ 240 w 310"/>
                  <a:gd name="T25" fmla="*/ 496 h 618"/>
                  <a:gd name="T26" fmla="*/ 308 w 310"/>
                  <a:gd name="T27" fmla="*/ 479 h 618"/>
                  <a:gd name="T28" fmla="*/ 308 w 310"/>
                  <a:gd name="T29" fmla="*/ 590 h 618"/>
                  <a:gd name="T30" fmla="*/ 199 w 310"/>
                  <a:gd name="T31" fmla="*/ 618 h 618"/>
                  <a:gd name="T32" fmla="*/ 58 w 310"/>
                  <a:gd name="T33" fmla="*/ 472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8">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5" y="0"/>
                      <a:pt x="195" y="0"/>
                      <a:pt x="195" y="0"/>
                    </a:cubicBezTo>
                    <a:cubicBezTo>
                      <a:pt x="195" y="124"/>
                      <a:pt x="195" y="124"/>
                      <a:pt x="195" y="124"/>
                    </a:cubicBezTo>
                    <a:cubicBezTo>
                      <a:pt x="310" y="124"/>
                      <a:pt x="310" y="124"/>
                      <a:pt x="310" y="124"/>
                    </a:cubicBezTo>
                    <a:cubicBezTo>
                      <a:pt x="310" y="242"/>
                      <a:pt x="310" y="242"/>
                      <a:pt x="310" y="242"/>
                    </a:cubicBezTo>
                    <a:cubicBezTo>
                      <a:pt x="195" y="242"/>
                      <a:pt x="195" y="242"/>
                      <a:pt x="195" y="242"/>
                    </a:cubicBezTo>
                    <a:cubicBezTo>
                      <a:pt x="195" y="449"/>
                      <a:pt x="195" y="449"/>
                      <a:pt x="195" y="449"/>
                    </a:cubicBezTo>
                    <a:cubicBezTo>
                      <a:pt x="195" y="481"/>
                      <a:pt x="209" y="496"/>
                      <a:pt x="240" y="496"/>
                    </a:cubicBezTo>
                    <a:cubicBezTo>
                      <a:pt x="265" y="496"/>
                      <a:pt x="288" y="490"/>
                      <a:pt x="308" y="479"/>
                    </a:cubicBezTo>
                    <a:cubicBezTo>
                      <a:pt x="308" y="590"/>
                      <a:pt x="308" y="590"/>
                      <a:pt x="308" y="590"/>
                    </a:cubicBezTo>
                    <a:cubicBezTo>
                      <a:pt x="279" y="607"/>
                      <a:pt x="245" y="618"/>
                      <a:pt x="199" y="618"/>
                    </a:cubicBezTo>
                    <a:cubicBezTo>
                      <a:pt x="115" y="618"/>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0" name="Freeform 13">
                <a:extLst>
                  <a:ext uri="{FF2B5EF4-FFF2-40B4-BE49-F238E27FC236}">
                    <a16:creationId xmlns:a16="http://schemas.microsoft.com/office/drawing/2014/main" id="{32C7C41D-9C2F-F9CB-F801-1289ECF5E586}"/>
                  </a:ext>
                </a:extLst>
              </p:cNvPr>
              <p:cNvSpPr>
                <a:spLocks noEditPoints="1"/>
              </p:cNvSpPr>
              <p:nvPr userDrawn="1"/>
            </p:nvSpPr>
            <p:spPr bwMode="auto">
              <a:xfrm>
                <a:off x="5131251" y="938123"/>
                <a:ext cx="207455" cy="219867"/>
              </a:xfrm>
              <a:custGeom>
                <a:avLst/>
                <a:gdLst>
                  <a:gd name="T0" fmla="*/ 0 w 477"/>
                  <a:gd name="T1" fmla="*/ 254 h 505"/>
                  <a:gd name="T2" fmla="*/ 0 w 477"/>
                  <a:gd name="T3" fmla="*/ 253 h 505"/>
                  <a:gd name="T4" fmla="*/ 240 w 477"/>
                  <a:gd name="T5" fmla="*/ 0 h 505"/>
                  <a:gd name="T6" fmla="*/ 477 w 477"/>
                  <a:gd name="T7" fmla="*/ 263 h 505"/>
                  <a:gd name="T8" fmla="*/ 475 w 477"/>
                  <a:gd name="T9" fmla="*/ 300 h 505"/>
                  <a:gd name="T10" fmla="*/ 137 w 477"/>
                  <a:gd name="T11" fmla="*/ 300 h 505"/>
                  <a:gd name="T12" fmla="*/ 256 w 477"/>
                  <a:gd name="T13" fmla="*/ 395 h 505"/>
                  <a:gd name="T14" fmla="*/ 373 w 477"/>
                  <a:gd name="T15" fmla="*/ 345 h 505"/>
                  <a:gd name="T16" fmla="*/ 452 w 477"/>
                  <a:gd name="T17" fmla="*/ 415 h 505"/>
                  <a:gd name="T18" fmla="*/ 254 w 477"/>
                  <a:gd name="T19" fmla="*/ 505 h 505"/>
                  <a:gd name="T20" fmla="*/ 0 w 477"/>
                  <a:gd name="T21" fmla="*/ 254 h 505"/>
                  <a:gd name="T22" fmla="*/ 343 w 477"/>
                  <a:gd name="T23" fmla="*/ 214 h 505"/>
                  <a:gd name="T24" fmla="*/ 240 w 477"/>
                  <a:gd name="T25" fmla="*/ 111 h 505"/>
                  <a:gd name="T26" fmla="*/ 135 w 477"/>
                  <a:gd name="T27" fmla="*/ 214 h 505"/>
                  <a:gd name="T28" fmla="*/ 343 w 477"/>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7" h="505">
                    <a:moveTo>
                      <a:pt x="0" y="254"/>
                    </a:moveTo>
                    <a:cubicBezTo>
                      <a:pt x="0" y="253"/>
                      <a:pt x="0" y="253"/>
                      <a:pt x="0" y="253"/>
                    </a:cubicBezTo>
                    <a:cubicBezTo>
                      <a:pt x="0" y="114"/>
                      <a:pt x="99" y="0"/>
                      <a:pt x="240" y="0"/>
                    </a:cubicBezTo>
                    <a:cubicBezTo>
                      <a:pt x="402" y="0"/>
                      <a:pt x="477" y="126"/>
                      <a:pt x="477" y="263"/>
                    </a:cubicBezTo>
                    <a:cubicBezTo>
                      <a:pt x="477"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3" y="214"/>
                    </a:moveTo>
                    <a:cubicBezTo>
                      <a:pt x="334" y="152"/>
                      <a:pt x="298" y="111"/>
                      <a:pt x="240" y="111"/>
                    </a:cubicBezTo>
                    <a:cubicBezTo>
                      <a:pt x="183" y="111"/>
                      <a:pt x="146" y="151"/>
                      <a:pt x="135" y="214"/>
                    </a:cubicBezTo>
                    <a:lnTo>
                      <a:pt x="343"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1" name="Freeform 14">
                <a:extLst>
                  <a:ext uri="{FF2B5EF4-FFF2-40B4-BE49-F238E27FC236}">
                    <a16:creationId xmlns:a16="http://schemas.microsoft.com/office/drawing/2014/main" id="{D3D8F53A-7C54-73FF-7202-68AF9530CEF8}"/>
                  </a:ext>
                </a:extLst>
              </p:cNvPr>
              <p:cNvSpPr>
                <a:spLocks/>
              </p:cNvSpPr>
              <p:nvPr userDrawn="1"/>
            </p:nvSpPr>
            <p:spPr bwMode="auto">
              <a:xfrm>
                <a:off x="5348015" y="938123"/>
                <a:ext cx="195486" cy="219867"/>
              </a:xfrm>
              <a:custGeom>
                <a:avLst/>
                <a:gdLst>
                  <a:gd name="T0" fmla="*/ 0 w 450"/>
                  <a:gd name="T1" fmla="*/ 254 h 505"/>
                  <a:gd name="T2" fmla="*/ 0 w 450"/>
                  <a:gd name="T3" fmla="*/ 253 h 505"/>
                  <a:gd name="T4" fmla="*/ 254 w 450"/>
                  <a:gd name="T5" fmla="*/ 0 h 505"/>
                  <a:gd name="T6" fmla="*/ 448 w 450"/>
                  <a:gd name="T7" fmla="*/ 82 h 505"/>
                  <a:gd name="T8" fmla="*/ 363 w 450"/>
                  <a:gd name="T9" fmla="*/ 172 h 505"/>
                  <a:gd name="T10" fmla="*/ 253 w 450"/>
                  <a:gd name="T11" fmla="*/ 119 h 505"/>
                  <a:gd name="T12" fmla="*/ 135 w 450"/>
                  <a:gd name="T13" fmla="*/ 251 h 505"/>
                  <a:gd name="T14" fmla="*/ 135 w 450"/>
                  <a:gd name="T15" fmla="*/ 253 h 505"/>
                  <a:gd name="T16" fmla="*/ 258 w 450"/>
                  <a:gd name="T17" fmla="*/ 387 h 505"/>
                  <a:gd name="T18" fmla="*/ 370 w 450"/>
                  <a:gd name="T19" fmla="*/ 335 h 505"/>
                  <a:gd name="T20" fmla="*/ 450 w 450"/>
                  <a:gd name="T21" fmla="*/ 416 h 505"/>
                  <a:gd name="T22" fmla="*/ 252 w 450"/>
                  <a:gd name="T23" fmla="*/ 505 h 505"/>
                  <a:gd name="T24" fmla="*/ 0 w 450"/>
                  <a:gd name="T25"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0" h="505">
                    <a:moveTo>
                      <a:pt x="0" y="254"/>
                    </a:moveTo>
                    <a:cubicBezTo>
                      <a:pt x="0" y="253"/>
                      <a:pt x="0" y="253"/>
                      <a:pt x="0" y="253"/>
                    </a:cubicBezTo>
                    <a:cubicBezTo>
                      <a:pt x="0" y="114"/>
                      <a:pt x="106" y="0"/>
                      <a:pt x="254" y="0"/>
                    </a:cubicBezTo>
                    <a:cubicBezTo>
                      <a:pt x="345" y="0"/>
                      <a:pt x="402" y="31"/>
                      <a:pt x="448" y="82"/>
                    </a:cubicBezTo>
                    <a:cubicBezTo>
                      <a:pt x="363" y="172"/>
                      <a:pt x="363" y="172"/>
                      <a:pt x="363" y="172"/>
                    </a:cubicBezTo>
                    <a:cubicBezTo>
                      <a:pt x="333" y="139"/>
                      <a:pt x="302" y="119"/>
                      <a:pt x="253" y="119"/>
                    </a:cubicBezTo>
                    <a:cubicBezTo>
                      <a:pt x="184" y="119"/>
                      <a:pt x="135" y="179"/>
                      <a:pt x="135" y="251"/>
                    </a:cubicBezTo>
                    <a:cubicBezTo>
                      <a:pt x="135" y="253"/>
                      <a:pt x="135" y="253"/>
                      <a:pt x="135" y="253"/>
                    </a:cubicBezTo>
                    <a:cubicBezTo>
                      <a:pt x="135" y="327"/>
                      <a:pt x="183" y="387"/>
                      <a:pt x="258" y="387"/>
                    </a:cubicBezTo>
                    <a:cubicBezTo>
                      <a:pt x="305" y="387"/>
                      <a:pt x="336" y="367"/>
                      <a:pt x="370" y="335"/>
                    </a:cubicBezTo>
                    <a:cubicBezTo>
                      <a:pt x="450" y="416"/>
                      <a:pt x="450" y="416"/>
                      <a:pt x="450" y="416"/>
                    </a:cubicBezTo>
                    <a:cubicBezTo>
                      <a:pt x="403" y="468"/>
                      <a:pt x="349" y="505"/>
                      <a:pt x="252" y="505"/>
                    </a:cubicBezTo>
                    <a:cubicBezTo>
                      <a:pt x="106" y="505"/>
                      <a:pt x="0" y="393"/>
                      <a:pt x="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2" name="Freeform 15">
                <a:extLst>
                  <a:ext uri="{FF2B5EF4-FFF2-40B4-BE49-F238E27FC236}">
                    <a16:creationId xmlns:a16="http://schemas.microsoft.com/office/drawing/2014/main" id="{BD2B90D5-630B-CFC6-CE5B-4A3E77847404}"/>
                  </a:ext>
                </a:extLst>
              </p:cNvPr>
              <p:cNvSpPr>
                <a:spLocks/>
              </p:cNvSpPr>
              <p:nvPr userDrawn="1"/>
            </p:nvSpPr>
            <p:spPr bwMode="auto">
              <a:xfrm>
                <a:off x="5553254" y="866312"/>
                <a:ext cx="193270" cy="286802"/>
              </a:xfrm>
              <a:custGeom>
                <a:avLst/>
                <a:gdLst>
                  <a:gd name="T0" fmla="*/ 0 w 445"/>
                  <a:gd name="T1" fmla="*/ 0 h 660"/>
                  <a:gd name="T2" fmla="*/ 138 w 445"/>
                  <a:gd name="T3" fmla="*/ 0 h 660"/>
                  <a:gd name="T4" fmla="*/ 138 w 445"/>
                  <a:gd name="T5" fmla="*/ 244 h 660"/>
                  <a:gd name="T6" fmla="*/ 280 w 445"/>
                  <a:gd name="T7" fmla="*/ 166 h 660"/>
                  <a:gd name="T8" fmla="*/ 445 w 445"/>
                  <a:gd name="T9" fmla="*/ 346 h 660"/>
                  <a:gd name="T10" fmla="*/ 445 w 445"/>
                  <a:gd name="T11" fmla="*/ 660 h 660"/>
                  <a:gd name="T12" fmla="*/ 307 w 445"/>
                  <a:gd name="T13" fmla="*/ 660 h 660"/>
                  <a:gd name="T14" fmla="*/ 307 w 445"/>
                  <a:gd name="T15" fmla="*/ 390 h 660"/>
                  <a:gd name="T16" fmla="*/ 224 w 445"/>
                  <a:gd name="T17" fmla="*/ 291 h 660"/>
                  <a:gd name="T18" fmla="*/ 138 w 445"/>
                  <a:gd name="T19" fmla="*/ 390 h 660"/>
                  <a:gd name="T20" fmla="*/ 138 w 445"/>
                  <a:gd name="T21" fmla="*/ 660 h 660"/>
                  <a:gd name="T22" fmla="*/ 0 w 445"/>
                  <a:gd name="T23" fmla="*/ 660 h 660"/>
                  <a:gd name="T24" fmla="*/ 0 w 445"/>
                  <a:gd name="T25"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5" h="660">
                    <a:moveTo>
                      <a:pt x="0" y="0"/>
                    </a:moveTo>
                    <a:cubicBezTo>
                      <a:pt x="138" y="0"/>
                      <a:pt x="138" y="0"/>
                      <a:pt x="138" y="0"/>
                    </a:cubicBezTo>
                    <a:cubicBezTo>
                      <a:pt x="138" y="244"/>
                      <a:pt x="138" y="244"/>
                      <a:pt x="138" y="244"/>
                    </a:cubicBezTo>
                    <a:cubicBezTo>
                      <a:pt x="169" y="203"/>
                      <a:pt x="210" y="166"/>
                      <a:pt x="280" y="166"/>
                    </a:cubicBezTo>
                    <a:cubicBezTo>
                      <a:pt x="384" y="166"/>
                      <a:pt x="445" y="235"/>
                      <a:pt x="445" y="346"/>
                    </a:cubicBezTo>
                    <a:cubicBezTo>
                      <a:pt x="445" y="660"/>
                      <a:pt x="445" y="660"/>
                      <a:pt x="445" y="660"/>
                    </a:cubicBezTo>
                    <a:cubicBezTo>
                      <a:pt x="307" y="660"/>
                      <a:pt x="307" y="660"/>
                      <a:pt x="307" y="660"/>
                    </a:cubicBezTo>
                    <a:cubicBezTo>
                      <a:pt x="307" y="390"/>
                      <a:pt x="307" y="390"/>
                      <a:pt x="307" y="390"/>
                    </a:cubicBezTo>
                    <a:cubicBezTo>
                      <a:pt x="307" y="324"/>
                      <a:pt x="276" y="291"/>
                      <a:pt x="224" y="291"/>
                    </a:cubicBezTo>
                    <a:cubicBezTo>
                      <a:pt x="171" y="291"/>
                      <a:pt x="138" y="324"/>
                      <a:pt x="138" y="390"/>
                    </a:cubicBezTo>
                    <a:cubicBezTo>
                      <a:pt x="138" y="660"/>
                      <a:pt x="138" y="660"/>
                      <a:pt x="138" y="660"/>
                    </a:cubicBezTo>
                    <a:cubicBezTo>
                      <a:pt x="0" y="660"/>
                      <a:pt x="0" y="660"/>
                      <a:pt x="0" y="66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3" name="Freeform 16">
                <a:extLst>
                  <a:ext uri="{FF2B5EF4-FFF2-40B4-BE49-F238E27FC236}">
                    <a16:creationId xmlns:a16="http://schemas.microsoft.com/office/drawing/2014/main" id="{44BDC175-2104-E7E3-2519-DA2F92A4A931}"/>
                  </a:ext>
                </a:extLst>
              </p:cNvPr>
              <p:cNvSpPr>
                <a:spLocks/>
              </p:cNvSpPr>
              <p:nvPr userDrawn="1"/>
            </p:nvSpPr>
            <p:spPr bwMode="auto">
              <a:xfrm>
                <a:off x="5762039" y="938123"/>
                <a:ext cx="192827" cy="214991"/>
              </a:xfrm>
              <a:custGeom>
                <a:avLst/>
                <a:gdLst>
                  <a:gd name="T0" fmla="*/ 0 w 444"/>
                  <a:gd name="T1" fmla="*/ 9 h 494"/>
                  <a:gd name="T2" fmla="*/ 137 w 444"/>
                  <a:gd name="T3" fmla="*/ 9 h 494"/>
                  <a:gd name="T4" fmla="*/ 137 w 444"/>
                  <a:gd name="T5" fmla="*/ 78 h 494"/>
                  <a:gd name="T6" fmla="*/ 279 w 444"/>
                  <a:gd name="T7" fmla="*/ 0 h 494"/>
                  <a:gd name="T8" fmla="*/ 444 w 444"/>
                  <a:gd name="T9" fmla="*/ 180 h 494"/>
                  <a:gd name="T10" fmla="*/ 444 w 444"/>
                  <a:gd name="T11" fmla="*/ 494 h 494"/>
                  <a:gd name="T12" fmla="*/ 306 w 444"/>
                  <a:gd name="T13" fmla="*/ 494 h 494"/>
                  <a:gd name="T14" fmla="*/ 306 w 444"/>
                  <a:gd name="T15" fmla="*/ 224 h 494"/>
                  <a:gd name="T16" fmla="*/ 223 w 444"/>
                  <a:gd name="T17" fmla="*/ 125 h 494"/>
                  <a:gd name="T18" fmla="*/ 137 w 444"/>
                  <a:gd name="T19" fmla="*/ 224 h 494"/>
                  <a:gd name="T20" fmla="*/ 137 w 444"/>
                  <a:gd name="T21" fmla="*/ 494 h 494"/>
                  <a:gd name="T22" fmla="*/ 0 w 444"/>
                  <a:gd name="T23" fmla="*/ 494 h 494"/>
                  <a:gd name="T24" fmla="*/ 0 w 444"/>
                  <a:gd name="T25"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4" h="494">
                    <a:moveTo>
                      <a:pt x="0" y="9"/>
                    </a:moveTo>
                    <a:cubicBezTo>
                      <a:pt x="137" y="9"/>
                      <a:pt x="137" y="9"/>
                      <a:pt x="137" y="9"/>
                    </a:cubicBezTo>
                    <a:cubicBezTo>
                      <a:pt x="137" y="78"/>
                      <a:pt x="137" y="78"/>
                      <a:pt x="137" y="78"/>
                    </a:cubicBezTo>
                    <a:cubicBezTo>
                      <a:pt x="169" y="37"/>
                      <a:pt x="210" y="0"/>
                      <a:pt x="279" y="0"/>
                    </a:cubicBezTo>
                    <a:cubicBezTo>
                      <a:pt x="383" y="0"/>
                      <a:pt x="444" y="69"/>
                      <a:pt x="444" y="180"/>
                    </a:cubicBezTo>
                    <a:cubicBezTo>
                      <a:pt x="444" y="494"/>
                      <a:pt x="444" y="494"/>
                      <a:pt x="444" y="494"/>
                    </a:cubicBezTo>
                    <a:cubicBezTo>
                      <a:pt x="306" y="494"/>
                      <a:pt x="306" y="494"/>
                      <a:pt x="306" y="494"/>
                    </a:cubicBezTo>
                    <a:cubicBezTo>
                      <a:pt x="306" y="224"/>
                      <a:pt x="306" y="224"/>
                      <a:pt x="306" y="224"/>
                    </a:cubicBezTo>
                    <a:cubicBezTo>
                      <a:pt x="306" y="158"/>
                      <a:pt x="276" y="125"/>
                      <a:pt x="223" y="125"/>
                    </a:cubicBezTo>
                    <a:cubicBezTo>
                      <a:pt x="171" y="125"/>
                      <a:pt x="137" y="158"/>
                      <a:pt x="137" y="224"/>
                    </a:cubicBezTo>
                    <a:cubicBezTo>
                      <a:pt x="137" y="494"/>
                      <a:pt x="137" y="494"/>
                      <a:pt x="137"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4" name="Freeform 17">
                <a:extLst>
                  <a:ext uri="{FF2B5EF4-FFF2-40B4-BE49-F238E27FC236}">
                    <a16:creationId xmlns:a16="http://schemas.microsoft.com/office/drawing/2014/main" id="{E76CB955-2FC2-83C2-AC09-AD01BCCF18B2}"/>
                  </a:ext>
                </a:extLst>
              </p:cNvPr>
              <p:cNvSpPr>
                <a:spLocks noEditPoints="1"/>
              </p:cNvSpPr>
              <p:nvPr userDrawn="1"/>
            </p:nvSpPr>
            <p:spPr bwMode="auto">
              <a:xfrm>
                <a:off x="5967277" y="938123"/>
                <a:ext cx="228289" cy="219867"/>
              </a:xfrm>
              <a:custGeom>
                <a:avLst/>
                <a:gdLst>
                  <a:gd name="T0" fmla="*/ 0 w 525"/>
                  <a:gd name="T1" fmla="*/ 254 h 505"/>
                  <a:gd name="T2" fmla="*/ 0 w 525"/>
                  <a:gd name="T3" fmla="*/ 253 h 505"/>
                  <a:gd name="T4" fmla="*/ 263 w 525"/>
                  <a:gd name="T5" fmla="*/ 0 h 505"/>
                  <a:gd name="T6" fmla="*/ 525 w 525"/>
                  <a:gd name="T7" fmla="*/ 251 h 505"/>
                  <a:gd name="T8" fmla="*/ 525 w 525"/>
                  <a:gd name="T9" fmla="*/ 253 h 505"/>
                  <a:gd name="T10" fmla="*/ 262 w 525"/>
                  <a:gd name="T11" fmla="*/ 505 h 505"/>
                  <a:gd name="T12" fmla="*/ 0 w 525"/>
                  <a:gd name="T13" fmla="*/ 254 h 505"/>
                  <a:gd name="T14" fmla="*/ 389 w 525"/>
                  <a:gd name="T15" fmla="*/ 254 h 505"/>
                  <a:gd name="T16" fmla="*/ 389 w 525"/>
                  <a:gd name="T17" fmla="*/ 253 h 505"/>
                  <a:gd name="T18" fmla="*/ 262 w 525"/>
                  <a:gd name="T19" fmla="*/ 119 h 505"/>
                  <a:gd name="T20" fmla="*/ 136 w 525"/>
                  <a:gd name="T21" fmla="*/ 251 h 505"/>
                  <a:gd name="T22" fmla="*/ 136 w 525"/>
                  <a:gd name="T23" fmla="*/ 253 h 505"/>
                  <a:gd name="T24" fmla="*/ 263 w 525"/>
                  <a:gd name="T25" fmla="*/ 387 h 505"/>
                  <a:gd name="T26" fmla="*/ 389 w 525"/>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5">
                    <a:moveTo>
                      <a:pt x="0" y="254"/>
                    </a:moveTo>
                    <a:cubicBezTo>
                      <a:pt x="0" y="253"/>
                      <a:pt x="0" y="253"/>
                      <a:pt x="0" y="253"/>
                    </a:cubicBezTo>
                    <a:cubicBezTo>
                      <a:pt x="0" y="113"/>
                      <a:pt x="112" y="0"/>
                      <a:pt x="263" y="0"/>
                    </a:cubicBezTo>
                    <a:cubicBezTo>
                      <a:pt x="414" y="0"/>
                      <a:pt x="525" y="111"/>
                      <a:pt x="525" y="251"/>
                    </a:cubicBezTo>
                    <a:cubicBezTo>
                      <a:pt x="525" y="253"/>
                      <a:pt x="525" y="253"/>
                      <a:pt x="525" y="253"/>
                    </a:cubicBezTo>
                    <a:cubicBezTo>
                      <a:pt x="525" y="392"/>
                      <a:pt x="413" y="505"/>
                      <a:pt x="262" y="505"/>
                    </a:cubicBezTo>
                    <a:cubicBezTo>
                      <a:pt x="111" y="505"/>
                      <a:pt x="0" y="394"/>
                      <a:pt x="0" y="254"/>
                    </a:cubicBezTo>
                    <a:close/>
                    <a:moveTo>
                      <a:pt x="389" y="254"/>
                    </a:moveTo>
                    <a:cubicBezTo>
                      <a:pt x="389" y="253"/>
                      <a:pt x="389" y="253"/>
                      <a:pt x="389" y="253"/>
                    </a:cubicBezTo>
                    <a:cubicBezTo>
                      <a:pt x="389" y="181"/>
                      <a:pt x="338" y="119"/>
                      <a:pt x="262" y="119"/>
                    </a:cubicBezTo>
                    <a:cubicBezTo>
                      <a:pt x="183" y="119"/>
                      <a:pt x="136" y="179"/>
                      <a:pt x="136" y="251"/>
                    </a:cubicBezTo>
                    <a:cubicBezTo>
                      <a:pt x="136" y="253"/>
                      <a:pt x="136" y="253"/>
                      <a:pt x="136" y="253"/>
                    </a:cubicBezTo>
                    <a:cubicBezTo>
                      <a:pt x="136" y="324"/>
                      <a:pt x="187" y="387"/>
                      <a:pt x="263" y="387"/>
                    </a:cubicBezTo>
                    <a:cubicBezTo>
                      <a:pt x="342" y="387"/>
                      <a:pt x="389" y="326"/>
                      <a:pt x="389"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5" name="Rectangle 18">
                <a:extLst>
                  <a:ext uri="{FF2B5EF4-FFF2-40B4-BE49-F238E27FC236}">
                    <a16:creationId xmlns:a16="http://schemas.microsoft.com/office/drawing/2014/main" id="{BB15E459-A560-CBA7-38D2-49EC0DF1798C}"/>
                  </a:ext>
                </a:extLst>
              </p:cNvPr>
              <p:cNvSpPr>
                <a:spLocks noChangeArrowheads="1"/>
              </p:cNvSpPr>
              <p:nvPr userDrawn="1"/>
            </p:nvSpPr>
            <p:spPr bwMode="auto">
              <a:xfrm>
                <a:off x="6207091" y="866312"/>
                <a:ext cx="59843" cy="28680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6" name="Freeform 19">
                <a:extLst>
                  <a:ext uri="{FF2B5EF4-FFF2-40B4-BE49-F238E27FC236}">
                    <a16:creationId xmlns:a16="http://schemas.microsoft.com/office/drawing/2014/main" id="{A894E637-6612-023A-5D26-292EB224BB2E}"/>
                  </a:ext>
                </a:extLst>
              </p:cNvPr>
              <p:cNvSpPr>
                <a:spLocks noEditPoints="1"/>
              </p:cNvSpPr>
              <p:nvPr userDrawn="1"/>
            </p:nvSpPr>
            <p:spPr bwMode="auto">
              <a:xfrm>
                <a:off x="6278460" y="938123"/>
                <a:ext cx="228732" cy="219867"/>
              </a:xfrm>
              <a:custGeom>
                <a:avLst/>
                <a:gdLst>
                  <a:gd name="T0" fmla="*/ 0 w 526"/>
                  <a:gd name="T1" fmla="*/ 254 h 505"/>
                  <a:gd name="T2" fmla="*/ 0 w 526"/>
                  <a:gd name="T3" fmla="*/ 253 h 505"/>
                  <a:gd name="T4" fmla="*/ 264 w 526"/>
                  <a:gd name="T5" fmla="*/ 0 h 505"/>
                  <a:gd name="T6" fmla="*/ 526 w 526"/>
                  <a:gd name="T7" fmla="*/ 251 h 505"/>
                  <a:gd name="T8" fmla="*/ 526 w 526"/>
                  <a:gd name="T9" fmla="*/ 253 h 505"/>
                  <a:gd name="T10" fmla="*/ 262 w 526"/>
                  <a:gd name="T11" fmla="*/ 505 h 505"/>
                  <a:gd name="T12" fmla="*/ 0 w 526"/>
                  <a:gd name="T13" fmla="*/ 254 h 505"/>
                  <a:gd name="T14" fmla="*/ 390 w 526"/>
                  <a:gd name="T15" fmla="*/ 254 h 505"/>
                  <a:gd name="T16" fmla="*/ 390 w 526"/>
                  <a:gd name="T17" fmla="*/ 253 h 505"/>
                  <a:gd name="T18" fmla="*/ 262 w 526"/>
                  <a:gd name="T19" fmla="*/ 119 h 505"/>
                  <a:gd name="T20" fmla="*/ 136 w 526"/>
                  <a:gd name="T21" fmla="*/ 251 h 505"/>
                  <a:gd name="T22" fmla="*/ 136 w 526"/>
                  <a:gd name="T23" fmla="*/ 253 h 505"/>
                  <a:gd name="T24" fmla="*/ 264 w 526"/>
                  <a:gd name="T25" fmla="*/ 387 h 505"/>
                  <a:gd name="T26" fmla="*/ 390 w 526"/>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505">
                    <a:moveTo>
                      <a:pt x="0" y="254"/>
                    </a:moveTo>
                    <a:cubicBezTo>
                      <a:pt x="0" y="253"/>
                      <a:pt x="0" y="253"/>
                      <a:pt x="0" y="253"/>
                    </a:cubicBezTo>
                    <a:cubicBezTo>
                      <a:pt x="0" y="113"/>
                      <a:pt x="113" y="0"/>
                      <a:pt x="264" y="0"/>
                    </a:cubicBezTo>
                    <a:cubicBezTo>
                      <a:pt x="414" y="0"/>
                      <a:pt x="526" y="111"/>
                      <a:pt x="526" y="251"/>
                    </a:cubicBezTo>
                    <a:cubicBezTo>
                      <a:pt x="526" y="253"/>
                      <a:pt x="526" y="253"/>
                      <a:pt x="526" y="253"/>
                    </a:cubicBezTo>
                    <a:cubicBezTo>
                      <a:pt x="526" y="392"/>
                      <a:pt x="413" y="505"/>
                      <a:pt x="262" y="505"/>
                    </a:cubicBezTo>
                    <a:cubicBezTo>
                      <a:pt x="112" y="505"/>
                      <a:pt x="0" y="394"/>
                      <a:pt x="0" y="254"/>
                    </a:cubicBezTo>
                    <a:close/>
                    <a:moveTo>
                      <a:pt x="390" y="254"/>
                    </a:moveTo>
                    <a:cubicBezTo>
                      <a:pt x="390" y="253"/>
                      <a:pt x="390" y="253"/>
                      <a:pt x="390" y="253"/>
                    </a:cubicBezTo>
                    <a:cubicBezTo>
                      <a:pt x="390" y="181"/>
                      <a:pt x="338" y="119"/>
                      <a:pt x="262" y="119"/>
                    </a:cubicBezTo>
                    <a:cubicBezTo>
                      <a:pt x="183" y="119"/>
                      <a:pt x="136" y="179"/>
                      <a:pt x="136" y="251"/>
                    </a:cubicBezTo>
                    <a:cubicBezTo>
                      <a:pt x="136" y="253"/>
                      <a:pt x="136" y="253"/>
                      <a:pt x="136" y="253"/>
                    </a:cubicBezTo>
                    <a:cubicBezTo>
                      <a:pt x="136" y="324"/>
                      <a:pt x="188" y="387"/>
                      <a:pt x="264" y="387"/>
                    </a:cubicBezTo>
                    <a:cubicBezTo>
                      <a:pt x="343" y="387"/>
                      <a:pt x="390" y="326"/>
                      <a:pt x="39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7" name="Freeform 20">
                <a:extLst>
                  <a:ext uri="{FF2B5EF4-FFF2-40B4-BE49-F238E27FC236}">
                    <a16:creationId xmlns:a16="http://schemas.microsoft.com/office/drawing/2014/main" id="{C612BEEF-FFCF-00C7-83E8-3D6CD89DD8B2}"/>
                  </a:ext>
                </a:extLst>
              </p:cNvPr>
              <p:cNvSpPr>
                <a:spLocks noEditPoints="1"/>
              </p:cNvSpPr>
              <p:nvPr userDrawn="1"/>
            </p:nvSpPr>
            <p:spPr bwMode="auto">
              <a:xfrm>
                <a:off x="6516057" y="938123"/>
                <a:ext cx="221197" cy="278823"/>
              </a:xfrm>
              <a:custGeom>
                <a:avLst/>
                <a:gdLst>
                  <a:gd name="T0" fmla="*/ 24 w 509"/>
                  <a:gd name="T1" fmla="*/ 590 h 641"/>
                  <a:gd name="T2" fmla="*/ 71 w 509"/>
                  <a:gd name="T3" fmla="*/ 487 h 641"/>
                  <a:gd name="T4" fmla="*/ 235 w 509"/>
                  <a:gd name="T5" fmla="*/ 531 h 641"/>
                  <a:gd name="T6" fmla="*/ 373 w 509"/>
                  <a:gd name="T7" fmla="*/ 399 h 641"/>
                  <a:gd name="T8" fmla="*/ 373 w 509"/>
                  <a:gd name="T9" fmla="*/ 376 h 641"/>
                  <a:gd name="T10" fmla="*/ 215 w 509"/>
                  <a:gd name="T11" fmla="*/ 454 h 641"/>
                  <a:gd name="T12" fmla="*/ 0 w 509"/>
                  <a:gd name="T13" fmla="*/ 228 h 641"/>
                  <a:gd name="T14" fmla="*/ 0 w 509"/>
                  <a:gd name="T15" fmla="*/ 226 h 641"/>
                  <a:gd name="T16" fmla="*/ 215 w 509"/>
                  <a:gd name="T17" fmla="*/ 0 h 641"/>
                  <a:gd name="T18" fmla="*/ 372 w 509"/>
                  <a:gd name="T19" fmla="*/ 72 h 641"/>
                  <a:gd name="T20" fmla="*/ 372 w 509"/>
                  <a:gd name="T21" fmla="*/ 9 h 641"/>
                  <a:gd name="T22" fmla="*/ 509 w 509"/>
                  <a:gd name="T23" fmla="*/ 9 h 641"/>
                  <a:gd name="T24" fmla="*/ 509 w 509"/>
                  <a:gd name="T25" fmla="*/ 385 h 641"/>
                  <a:gd name="T26" fmla="*/ 448 w 509"/>
                  <a:gd name="T27" fmla="*/ 576 h 641"/>
                  <a:gd name="T28" fmla="*/ 239 w 509"/>
                  <a:gd name="T29" fmla="*/ 641 h 641"/>
                  <a:gd name="T30" fmla="*/ 24 w 509"/>
                  <a:gd name="T31" fmla="*/ 590 h 641"/>
                  <a:gd name="T32" fmla="*/ 373 w 509"/>
                  <a:gd name="T33" fmla="*/ 228 h 641"/>
                  <a:gd name="T34" fmla="*/ 373 w 509"/>
                  <a:gd name="T35" fmla="*/ 226 h 641"/>
                  <a:gd name="T36" fmla="*/ 255 w 509"/>
                  <a:gd name="T37" fmla="*/ 114 h 641"/>
                  <a:gd name="T38" fmla="*/ 137 w 509"/>
                  <a:gd name="T39" fmla="*/ 226 h 641"/>
                  <a:gd name="T40" fmla="*/ 137 w 509"/>
                  <a:gd name="T41" fmla="*/ 228 h 641"/>
                  <a:gd name="T42" fmla="*/ 255 w 509"/>
                  <a:gd name="T43" fmla="*/ 340 h 641"/>
                  <a:gd name="T44" fmla="*/ 373 w 509"/>
                  <a:gd name="T45" fmla="*/ 228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9" h="641">
                    <a:moveTo>
                      <a:pt x="24" y="590"/>
                    </a:moveTo>
                    <a:cubicBezTo>
                      <a:pt x="71" y="487"/>
                      <a:pt x="71" y="487"/>
                      <a:pt x="71" y="487"/>
                    </a:cubicBezTo>
                    <a:cubicBezTo>
                      <a:pt x="121" y="515"/>
                      <a:pt x="171" y="531"/>
                      <a:pt x="235" y="531"/>
                    </a:cubicBezTo>
                    <a:cubicBezTo>
                      <a:pt x="329" y="531"/>
                      <a:pt x="373" y="486"/>
                      <a:pt x="373" y="399"/>
                    </a:cubicBezTo>
                    <a:cubicBezTo>
                      <a:pt x="373" y="376"/>
                      <a:pt x="373" y="376"/>
                      <a:pt x="373" y="376"/>
                    </a:cubicBezTo>
                    <a:cubicBezTo>
                      <a:pt x="333" y="425"/>
                      <a:pt x="288" y="454"/>
                      <a:pt x="215" y="454"/>
                    </a:cubicBezTo>
                    <a:cubicBezTo>
                      <a:pt x="102" y="454"/>
                      <a:pt x="0" y="372"/>
                      <a:pt x="0" y="228"/>
                    </a:cubicBezTo>
                    <a:cubicBezTo>
                      <a:pt x="0" y="226"/>
                      <a:pt x="0" y="226"/>
                      <a:pt x="0" y="226"/>
                    </a:cubicBezTo>
                    <a:cubicBezTo>
                      <a:pt x="0" y="82"/>
                      <a:pt x="104" y="0"/>
                      <a:pt x="215" y="0"/>
                    </a:cubicBezTo>
                    <a:cubicBezTo>
                      <a:pt x="290" y="0"/>
                      <a:pt x="334" y="32"/>
                      <a:pt x="372" y="72"/>
                    </a:cubicBezTo>
                    <a:cubicBezTo>
                      <a:pt x="372" y="9"/>
                      <a:pt x="372" y="9"/>
                      <a:pt x="372" y="9"/>
                    </a:cubicBezTo>
                    <a:cubicBezTo>
                      <a:pt x="509" y="9"/>
                      <a:pt x="509" y="9"/>
                      <a:pt x="509" y="9"/>
                    </a:cubicBezTo>
                    <a:cubicBezTo>
                      <a:pt x="509" y="385"/>
                      <a:pt x="509" y="385"/>
                      <a:pt x="509" y="385"/>
                    </a:cubicBezTo>
                    <a:cubicBezTo>
                      <a:pt x="509" y="472"/>
                      <a:pt x="488" y="535"/>
                      <a:pt x="448" y="576"/>
                    </a:cubicBezTo>
                    <a:cubicBezTo>
                      <a:pt x="402" y="621"/>
                      <a:pt x="333" y="641"/>
                      <a:pt x="239" y="641"/>
                    </a:cubicBezTo>
                    <a:cubicBezTo>
                      <a:pt x="160" y="641"/>
                      <a:pt x="86" y="623"/>
                      <a:pt x="24" y="590"/>
                    </a:cubicBezTo>
                    <a:close/>
                    <a:moveTo>
                      <a:pt x="373" y="228"/>
                    </a:moveTo>
                    <a:cubicBezTo>
                      <a:pt x="373" y="226"/>
                      <a:pt x="373" y="226"/>
                      <a:pt x="373" y="226"/>
                    </a:cubicBezTo>
                    <a:cubicBezTo>
                      <a:pt x="373" y="160"/>
                      <a:pt x="322" y="114"/>
                      <a:pt x="255" y="114"/>
                    </a:cubicBezTo>
                    <a:cubicBezTo>
                      <a:pt x="188" y="114"/>
                      <a:pt x="137" y="160"/>
                      <a:pt x="137" y="226"/>
                    </a:cubicBezTo>
                    <a:cubicBezTo>
                      <a:pt x="137" y="228"/>
                      <a:pt x="137" y="228"/>
                      <a:pt x="137" y="228"/>
                    </a:cubicBezTo>
                    <a:cubicBezTo>
                      <a:pt x="137" y="295"/>
                      <a:pt x="188" y="340"/>
                      <a:pt x="255" y="340"/>
                    </a:cubicBezTo>
                    <a:cubicBezTo>
                      <a:pt x="322" y="340"/>
                      <a:pt x="373" y="294"/>
                      <a:pt x="373"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8" name="Freeform 21">
                <a:extLst>
                  <a:ext uri="{FF2B5EF4-FFF2-40B4-BE49-F238E27FC236}">
                    <a16:creationId xmlns:a16="http://schemas.microsoft.com/office/drawing/2014/main" id="{535443A8-F420-58B0-6940-C7217CB7D304}"/>
                  </a:ext>
                </a:extLst>
              </p:cNvPr>
              <p:cNvSpPr>
                <a:spLocks/>
              </p:cNvSpPr>
              <p:nvPr userDrawn="1"/>
            </p:nvSpPr>
            <p:spPr bwMode="auto">
              <a:xfrm>
                <a:off x="6747450" y="942113"/>
                <a:ext cx="219424" cy="275277"/>
              </a:xfrm>
              <a:custGeom>
                <a:avLst/>
                <a:gdLst>
                  <a:gd name="T0" fmla="*/ 362 w 505"/>
                  <a:gd name="T1" fmla="*/ 0 h 633"/>
                  <a:gd name="T2" fmla="*/ 505 w 505"/>
                  <a:gd name="T3" fmla="*/ 0 h 633"/>
                  <a:gd name="T4" fmla="*/ 319 w 505"/>
                  <a:gd name="T5" fmla="*/ 497 h 633"/>
                  <a:gd name="T6" fmla="*/ 159 w 505"/>
                  <a:gd name="T7" fmla="*/ 633 h 633"/>
                  <a:gd name="T8" fmla="*/ 37 w 505"/>
                  <a:gd name="T9" fmla="*/ 599 h 633"/>
                  <a:gd name="T10" fmla="*/ 83 w 505"/>
                  <a:gd name="T11" fmla="*/ 500 h 633"/>
                  <a:gd name="T12" fmla="*/ 142 w 505"/>
                  <a:gd name="T13" fmla="*/ 519 h 633"/>
                  <a:gd name="T14" fmla="*/ 190 w 505"/>
                  <a:gd name="T15" fmla="*/ 487 h 633"/>
                  <a:gd name="T16" fmla="*/ 0 w 505"/>
                  <a:gd name="T17" fmla="*/ 0 h 633"/>
                  <a:gd name="T18" fmla="*/ 146 w 505"/>
                  <a:gd name="T19" fmla="*/ 0 h 633"/>
                  <a:gd name="T20" fmla="*/ 256 w 505"/>
                  <a:gd name="T21" fmla="*/ 331 h 633"/>
                  <a:gd name="T22" fmla="*/ 362 w 505"/>
                  <a:gd name="T23"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633">
                    <a:moveTo>
                      <a:pt x="362" y="0"/>
                    </a:moveTo>
                    <a:cubicBezTo>
                      <a:pt x="505" y="0"/>
                      <a:pt x="505" y="0"/>
                      <a:pt x="505" y="0"/>
                    </a:cubicBezTo>
                    <a:cubicBezTo>
                      <a:pt x="319" y="497"/>
                      <a:pt x="319" y="497"/>
                      <a:pt x="319" y="497"/>
                    </a:cubicBezTo>
                    <a:cubicBezTo>
                      <a:pt x="282" y="596"/>
                      <a:pt x="242" y="633"/>
                      <a:pt x="159" y="633"/>
                    </a:cubicBezTo>
                    <a:cubicBezTo>
                      <a:pt x="110" y="633"/>
                      <a:pt x="73" y="620"/>
                      <a:pt x="37" y="599"/>
                    </a:cubicBezTo>
                    <a:cubicBezTo>
                      <a:pt x="83" y="500"/>
                      <a:pt x="83" y="500"/>
                      <a:pt x="83" y="500"/>
                    </a:cubicBezTo>
                    <a:cubicBezTo>
                      <a:pt x="101" y="511"/>
                      <a:pt x="124" y="519"/>
                      <a:pt x="142" y="519"/>
                    </a:cubicBezTo>
                    <a:cubicBezTo>
                      <a:pt x="166" y="519"/>
                      <a:pt x="178" y="512"/>
                      <a:pt x="190" y="487"/>
                    </a:cubicBezTo>
                    <a:cubicBezTo>
                      <a:pt x="0" y="0"/>
                      <a:pt x="0" y="0"/>
                      <a:pt x="0" y="0"/>
                    </a:cubicBezTo>
                    <a:cubicBezTo>
                      <a:pt x="146" y="0"/>
                      <a:pt x="146" y="0"/>
                      <a:pt x="146" y="0"/>
                    </a:cubicBezTo>
                    <a:cubicBezTo>
                      <a:pt x="256" y="331"/>
                      <a:pt x="256" y="331"/>
                      <a:pt x="256" y="331"/>
                    </a:cubicBezTo>
                    <a:lnTo>
                      <a:pt x="3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9" name="Freeform 22">
                <a:extLst>
                  <a:ext uri="{FF2B5EF4-FFF2-40B4-BE49-F238E27FC236}">
                    <a16:creationId xmlns:a16="http://schemas.microsoft.com/office/drawing/2014/main" id="{D577C4C5-162A-509E-0F90-2D9CF5560B46}"/>
                  </a:ext>
                </a:extLst>
              </p:cNvPr>
              <p:cNvSpPr>
                <a:spLocks/>
              </p:cNvSpPr>
              <p:nvPr userDrawn="1"/>
            </p:nvSpPr>
            <p:spPr bwMode="auto">
              <a:xfrm>
                <a:off x="6005842" y="1258171"/>
                <a:ext cx="132541" cy="290348"/>
              </a:xfrm>
              <a:custGeom>
                <a:avLst/>
                <a:gdLst>
                  <a:gd name="T0" fmla="*/ 57 w 305"/>
                  <a:gd name="T1" fmla="*/ 299 h 667"/>
                  <a:gd name="T2" fmla="*/ 0 w 305"/>
                  <a:gd name="T3" fmla="*/ 299 h 667"/>
                  <a:gd name="T4" fmla="*/ 0 w 305"/>
                  <a:gd name="T5" fmla="*/ 186 h 667"/>
                  <a:gd name="T6" fmla="*/ 57 w 305"/>
                  <a:gd name="T7" fmla="*/ 186 h 667"/>
                  <a:gd name="T8" fmla="*/ 57 w 305"/>
                  <a:gd name="T9" fmla="*/ 155 h 667"/>
                  <a:gd name="T10" fmla="*/ 96 w 305"/>
                  <a:gd name="T11" fmla="*/ 38 h 667"/>
                  <a:gd name="T12" fmla="*/ 208 w 305"/>
                  <a:gd name="T13" fmla="*/ 0 h 667"/>
                  <a:gd name="T14" fmla="*/ 305 w 305"/>
                  <a:gd name="T15" fmla="*/ 13 h 667"/>
                  <a:gd name="T16" fmla="*/ 305 w 305"/>
                  <a:gd name="T17" fmla="*/ 127 h 667"/>
                  <a:gd name="T18" fmla="*/ 243 w 305"/>
                  <a:gd name="T19" fmla="*/ 115 h 667"/>
                  <a:gd name="T20" fmla="*/ 193 w 305"/>
                  <a:gd name="T21" fmla="*/ 168 h 667"/>
                  <a:gd name="T22" fmla="*/ 193 w 305"/>
                  <a:gd name="T23" fmla="*/ 187 h 667"/>
                  <a:gd name="T24" fmla="*/ 305 w 305"/>
                  <a:gd name="T25" fmla="*/ 187 h 667"/>
                  <a:gd name="T26" fmla="*/ 305 w 305"/>
                  <a:gd name="T27" fmla="*/ 299 h 667"/>
                  <a:gd name="T28" fmla="*/ 195 w 305"/>
                  <a:gd name="T29" fmla="*/ 299 h 667"/>
                  <a:gd name="T30" fmla="*/ 195 w 305"/>
                  <a:gd name="T31" fmla="*/ 667 h 667"/>
                  <a:gd name="T32" fmla="*/ 57 w 305"/>
                  <a:gd name="T33" fmla="*/ 667 h 667"/>
                  <a:gd name="T34" fmla="*/ 57 w 305"/>
                  <a:gd name="T35" fmla="*/ 29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667">
                    <a:moveTo>
                      <a:pt x="57" y="299"/>
                    </a:moveTo>
                    <a:cubicBezTo>
                      <a:pt x="0" y="299"/>
                      <a:pt x="0" y="299"/>
                      <a:pt x="0" y="299"/>
                    </a:cubicBezTo>
                    <a:cubicBezTo>
                      <a:pt x="0" y="186"/>
                      <a:pt x="0" y="186"/>
                      <a:pt x="0" y="186"/>
                    </a:cubicBezTo>
                    <a:cubicBezTo>
                      <a:pt x="57" y="186"/>
                      <a:pt x="57" y="186"/>
                      <a:pt x="57" y="186"/>
                    </a:cubicBezTo>
                    <a:cubicBezTo>
                      <a:pt x="57" y="155"/>
                      <a:pt x="57" y="155"/>
                      <a:pt x="57" y="155"/>
                    </a:cubicBezTo>
                    <a:cubicBezTo>
                      <a:pt x="57" y="102"/>
                      <a:pt x="71" y="63"/>
                      <a:pt x="96" y="38"/>
                    </a:cubicBezTo>
                    <a:cubicBezTo>
                      <a:pt x="122" y="12"/>
                      <a:pt x="159" y="0"/>
                      <a:pt x="208" y="0"/>
                    </a:cubicBezTo>
                    <a:cubicBezTo>
                      <a:pt x="251" y="0"/>
                      <a:pt x="280" y="5"/>
                      <a:pt x="305" y="13"/>
                    </a:cubicBezTo>
                    <a:cubicBezTo>
                      <a:pt x="305" y="127"/>
                      <a:pt x="305" y="127"/>
                      <a:pt x="305" y="127"/>
                    </a:cubicBezTo>
                    <a:cubicBezTo>
                      <a:pt x="286" y="120"/>
                      <a:pt x="267" y="115"/>
                      <a:pt x="243" y="115"/>
                    </a:cubicBezTo>
                    <a:cubicBezTo>
                      <a:pt x="211" y="115"/>
                      <a:pt x="193" y="132"/>
                      <a:pt x="193" y="168"/>
                    </a:cubicBezTo>
                    <a:cubicBezTo>
                      <a:pt x="193" y="187"/>
                      <a:pt x="193" y="187"/>
                      <a:pt x="193" y="187"/>
                    </a:cubicBezTo>
                    <a:cubicBezTo>
                      <a:pt x="305" y="187"/>
                      <a:pt x="305" y="187"/>
                      <a:pt x="305" y="187"/>
                    </a:cubicBezTo>
                    <a:cubicBezTo>
                      <a:pt x="305" y="299"/>
                      <a:pt x="305" y="299"/>
                      <a:pt x="305" y="299"/>
                    </a:cubicBezTo>
                    <a:cubicBezTo>
                      <a:pt x="195" y="299"/>
                      <a:pt x="195" y="299"/>
                      <a:pt x="195" y="299"/>
                    </a:cubicBezTo>
                    <a:cubicBezTo>
                      <a:pt x="195" y="667"/>
                      <a:pt x="195" y="667"/>
                      <a:pt x="195" y="667"/>
                    </a:cubicBezTo>
                    <a:cubicBezTo>
                      <a:pt x="57" y="667"/>
                      <a:pt x="57" y="667"/>
                      <a:pt x="57" y="667"/>
                    </a:cubicBezTo>
                    <a:lnTo>
                      <a:pt x="57"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0" name="Freeform 23">
                <a:extLst>
                  <a:ext uri="{FF2B5EF4-FFF2-40B4-BE49-F238E27FC236}">
                    <a16:creationId xmlns:a16="http://schemas.microsoft.com/office/drawing/2014/main" id="{9CB671CE-477D-F1B3-6894-F85448189A99}"/>
                  </a:ext>
                </a:extLst>
              </p:cNvPr>
              <p:cNvSpPr>
                <a:spLocks noEditPoints="1"/>
              </p:cNvSpPr>
              <p:nvPr userDrawn="1"/>
            </p:nvSpPr>
            <p:spPr bwMode="auto">
              <a:xfrm>
                <a:off x="6137497" y="1333086"/>
                <a:ext cx="228289" cy="219867"/>
              </a:xfrm>
              <a:custGeom>
                <a:avLst/>
                <a:gdLst>
                  <a:gd name="T0" fmla="*/ 0 w 525"/>
                  <a:gd name="T1" fmla="*/ 255 h 506"/>
                  <a:gd name="T2" fmla="*/ 0 w 525"/>
                  <a:gd name="T3" fmla="*/ 253 h 506"/>
                  <a:gd name="T4" fmla="*/ 263 w 525"/>
                  <a:gd name="T5" fmla="*/ 0 h 506"/>
                  <a:gd name="T6" fmla="*/ 525 w 525"/>
                  <a:gd name="T7" fmla="*/ 251 h 506"/>
                  <a:gd name="T8" fmla="*/ 525 w 525"/>
                  <a:gd name="T9" fmla="*/ 253 h 506"/>
                  <a:gd name="T10" fmla="*/ 261 w 525"/>
                  <a:gd name="T11" fmla="*/ 506 h 506"/>
                  <a:gd name="T12" fmla="*/ 0 w 525"/>
                  <a:gd name="T13" fmla="*/ 255 h 506"/>
                  <a:gd name="T14" fmla="*/ 389 w 525"/>
                  <a:gd name="T15" fmla="*/ 255 h 506"/>
                  <a:gd name="T16" fmla="*/ 389 w 525"/>
                  <a:gd name="T17" fmla="*/ 253 h 506"/>
                  <a:gd name="T18" fmla="*/ 261 w 525"/>
                  <a:gd name="T19" fmla="*/ 119 h 506"/>
                  <a:gd name="T20" fmla="*/ 135 w 525"/>
                  <a:gd name="T21" fmla="*/ 251 h 506"/>
                  <a:gd name="T22" fmla="*/ 135 w 525"/>
                  <a:gd name="T23" fmla="*/ 253 h 506"/>
                  <a:gd name="T24" fmla="*/ 263 w 525"/>
                  <a:gd name="T25" fmla="*/ 387 h 506"/>
                  <a:gd name="T26" fmla="*/ 389 w 525"/>
                  <a:gd name="T27" fmla="*/ 25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6">
                    <a:moveTo>
                      <a:pt x="0" y="255"/>
                    </a:moveTo>
                    <a:cubicBezTo>
                      <a:pt x="0" y="253"/>
                      <a:pt x="0" y="253"/>
                      <a:pt x="0" y="253"/>
                    </a:cubicBezTo>
                    <a:cubicBezTo>
                      <a:pt x="0" y="114"/>
                      <a:pt x="112" y="0"/>
                      <a:pt x="263" y="0"/>
                    </a:cubicBezTo>
                    <a:cubicBezTo>
                      <a:pt x="413" y="0"/>
                      <a:pt x="525" y="112"/>
                      <a:pt x="525" y="251"/>
                    </a:cubicBezTo>
                    <a:cubicBezTo>
                      <a:pt x="525" y="253"/>
                      <a:pt x="525" y="253"/>
                      <a:pt x="525" y="253"/>
                    </a:cubicBezTo>
                    <a:cubicBezTo>
                      <a:pt x="525" y="392"/>
                      <a:pt x="412" y="506"/>
                      <a:pt x="261" y="506"/>
                    </a:cubicBezTo>
                    <a:cubicBezTo>
                      <a:pt x="111" y="506"/>
                      <a:pt x="0" y="394"/>
                      <a:pt x="0" y="255"/>
                    </a:cubicBezTo>
                    <a:close/>
                    <a:moveTo>
                      <a:pt x="389" y="255"/>
                    </a:moveTo>
                    <a:cubicBezTo>
                      <a:pt x="389" y="253"/>
                      <a:pt x="389" y="253"/>
                      <a:pt x="389" y="253"/>
                    </a:cubicBezTo>
                    <a:cubicBezTo>
                      <a:pt x="389" y="182"/>
                      <a:pt x="337" y="119"/>
                      <a:pt x="261" y="119"/>
                    </a:cubicBezTo>
                    <a:cubicBezTo>
                      <a:pt x="183" y="119"/>
                      <a:pt x="135" y="180"/>
                      <a:pt x="135" y="251"/>
                    </a:cubicBezTo>
                    <a:cubicBezTo>
                      <a:pt x="135" y="253"/>
                      <a:pt x="135" y="253"/>
                      <a:pt x="135" y="253"/>
                    </a:cubicBezTo>
                    <a:cubicBezTo>
                      <a:pt x="135" y="325"/>
                      <a:pt x="187" y="387"/>
                      <a:pt x="263" y="387"/>
                    </a:cubicBezTo>
                    <a:cubicBezTo>
                      <a:pt x="342" y="387"/>
                      <a:pt x="389" y="326"/>
                      <a:pt x="389"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1" name="Freeform 24">
                <a:extLst>
                  <a:ext uri="{FF2B5EF4-FFF2-40B4-BE49-F238E27FC236}">
                    <a16:creationId xmlns:a16="http://schemas.microsoft.com/office/drawing/2014/main" id="{2D545142-881D-002A-830D-2B1960B7F79A}"/>
                  </a:ext>
                </a:extLst>
              </p:cNvPr>
              <p:cNvSpPr>
                <a:spLocks/>
              </p:cNvSpPr>
              <p:nvPr userDrawn="1"/>
            </p:nvSpPr>
            <p:spPr bwMode="auto">
              <a:xfrm>
                <a:off x="6379084" y="1331756"/>
                <a:ext cx="127665" cy="216764"/>
              </a:xfrm>
              <a:custGeom>
                <a:avLst/>
                <a:gdLst>
                  <a:gd name="T0" fmla="*/ 0 w 293"/>
                  <a:gd name="T1" fmla="*/ 13 h 498"/>
                  <a:gd name="T2" fmla="*/ 138 w 293"/>
                  <a:gd name="T3" fmla="*/ 13 h 498"/>
                  <a:gd name="T4" fmla="*/ 138 w 293"/>
                  <a:gd name="T5" fmla="*/ 110 h 498"/>
                  <a:gd name="T6" fmla="*/ 293 w 293"/>
                  <a:gd name="T7" fmla="*/ 3 h 498"/>
                  <a:gd name="T8" fmla="*/ 293 w 293"/>
                  <a:gd name="T9" fmla="*/ 147 h 498"/>
                  <a:gd name="T10" fmla="*/ 286 w 293"/>
                  <a:gd name="T11" fmla="*/ 147 h 498"/>
                  <a:gd name="T12" fmla="*/ 138 w 293"/>
                  <a:gd name="T13" fmla="*/ 318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0"/>
                      <a:pt x="138" y="110"/>
                      <a:pt x="138" y="110"/>
                    </a:cubicBezTo>
                    <a:cubicBezTo>
                      <a:pt x="166" y="43"/>
                      <a:pt x="211" y="0"/>
                      <a:pt x="293" y="3"/>
                    </a:cubicBezTo>
                    <a:cubicBezTo>
                      <a:pt x="293" y="147"/>
                      <a:pt x="293" y="147"/>
                      <a:pt x="293" y="147"/>
                    </a:cubicBezTo>
                    <a:cubicBezTo>
                      <a:pt x="286" y="147"/>
                      <a:pt x="286" y="147"/>
                      <a:pt x="286" y="147"/>
                    </a:cubicBezTo>
                    <a:cubicBezTo>
                      <a:pt x="194" y="147"/>
                      <a:pt x="138" y="203"/>
                      <a:pt x="138" y="318"/>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2" name="Freeform 25">
                <a:extLst>
                  <a:ext uri="{FF2B5EF4-FFF2-40B4-BE49-F238E27FC236}">
                    <a16:creationId xmlns:a16="http://schemas.microsoft.com/office/drawing/2014/main" id="{5C959273-267C-8CBA-996C-EC8514CCD7D2}"/>
                  </a:ext>
                </a:extLst>
              </p:cNvPr>
              <p:cNvSpPr>
                <a:spLocks noEditPoints="1"/>
              </p:cNvSpPr>
              <p:nvPr userDrawn="1"/>
            </p:nvSpPr>
            <p:spPr bwMode="auto">
              <a:xfrm>
                <a:off x="6582993" y="1334859"/>
                <a:ext cx="194157" cy="217207"/>
              </a:xfrm>
              <a:custGeom>
                <a:avLst/>
                <a:gdLst>
                  <a:gd name="T0" fmla="*/ 0 w 446"/>
                  <a:gd name="T1" fmla="*/ 351 h 500"/>
                  <a:gd name="T2" fmla="*/ 0 w 446"/>
                  <a:gd name="T3" fmla="*/ 349 h 500"/>
                  <a:gd name="T4" fmla="*/ 195 w 446"/>
                  <a:gd name="T5" fmla="*/ 195 h 500"/>
                  <a:gd name="T6" fmla="*/ 314 w 446"/>
                  <a:gd name="T7" fmla="*/ 215 h 500"/>
                  <a:gd name="T8" fmla="*/ 314 w 446"/>
                  <a:gd name="T9" fmla="*/ 206 h 500"/>
                  <a:gd name="T10" fmla="*/ 210 w 446"/>
                  <a:gd name="T11" fmla="*/ 118 h 500"/>
                  <a:gd name="T12" fmla="*/ 76 w 446"/>
                  <a:gd name="T13" fmla="*/ 144 h 500"/>
                  <a:gd name="T14" fmla="*/ 42 w 446"/>
                  <a:gd name="T15" fmla="*/ 39 h 500"/>
                  <a:gd name="T16" fmla="*/ 230 w 446"/>
                  <a:gd name="T17" fmla="*/ 0 h 500"/>
                  <a:gd name="T18" fmla="*/ 394 w 446"/>
                  <a:gd name="T19" fmla="*/ 54 h 500"/>
                  <a:gd name="T20" fmla="*/ 446 w 446"/>
                  <a:gd name="T21" fmla="*/ 209 h 500"/>
                  <a:gd name="T22" fmla="*/ 446 w 446"/>
                  <a:gd name="T23" fmla="*/ 491 h 500"/>
                  <a:gd name="T24" fmla="*/ 313 w 446"/>
                  <a:gd name="T25" fmla="*/ 491 h 500"/>
                  <a:gd name="T26" fmla="*/ 313 w 446"/>
                  <a:gd name="T27" fmla="*/ 438 h 500"/>
                  <a:gd name="T28" fmla="*/ 167 w 446"/>
                  <a:gd name="T29" fmla="*/ 500 h 500"/>
                  <a:gd name="T30" fmla="*/ 0 w 446"/>
                  <a:gd name="T31" fmla="*/ 351 h 500"/>
                  <a:gd name="T32" fmla="*/ 316 w 446"/>
                  <a:gd name="T33" fmla="*/ 320 h 500"/>
                  <a:gd name="T34" fmla="*/ 316 w 446"/>
                  <a:gd name="T35" fmla="*/ 295 h 500"/>
                  <a:gd name="T36" fmla="*/ 228 w 446"/>
                  <a:gd name="T37" fmla="*/ 277 h 500"/>
                  <a:gd name="T38" fmla="*/ 133 w 446"/>
                  <a:gd name="T39" fmla="*/ 344 h 500"/>
                  <a:gd name="T40" fmla="*/ 133 w 446"/>
                  <a:gd name="T41" fmla="*/ 346 h 500"/>
                  <a:gd name="T42" fmla="*/ 208 w 446"/>
                  <a:gd name="T43" fmla="*/ 405 h 500"/>
                  <a:gd name="T44" fmla="*/ 316 w 446"/>
                  <a:gd name="T45" fmla="*/ 32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500">
                    <a:moveTo>
                      <a:pt x="0" y="351"/>
                    </a:moveTo>
                    <a:cubicBezTo>
                      <a:pt x="0" y="349"/>
                      <a:pt x="0" y="349"/>
                      <a:pt x="0" y="349"/>
                    </a:cubicBezTo>
                    <a:cubicBezTo>
                      <a:pt x="0" y="244"/>
                      <a:pt x="81" y="195"/>
                      <a:pt x="195" y="195"/>
                    </a:cubicBezTo>
                    <a:cubicBezTo>
                      <a:pt x="244" y="195"/>
                      <a:pt x="280" y="203"/>
                      <a:pt x="314" y="215"/>
                    </a:cubicBezTo>
                    <a:cubicBezTo>
                      <a:pt x="314" y="206"/>
                      <a:pt x="314" y="206"/>
                      <a:pt x="314" y="206"/>
                    </a:cubicBezTo>
                    <a:cubicBezTo>
                      <a:pt x="314" y="149"/>
                      <a:pt x="279" y="118"/>
                      <a:pt x="210" y="118"/>
                    </a:cubicBezTo>
                    <a:cubicBezTo>
                      <a:pt x="157" y="118"/>
                      <a:pt x="120" y="128"/>
                      <a:pt x="76" y="144"/>
                    </a:cubicBezTo>
                    <a:cubicBezTo>
                      <a:pt x="42" y="39"/>
                      <a:pt x="42" y="39"/>
                      <a:pt x="42" y="39"/>
                    </a:cubicBezTo>
                    <a:cubicBezTo>
                      <a:pt x="95" y="15"/>
                      <a:pt x="148" y="0"/>
                      <a:pt x="230" y="0"/>
                    </a:cubicBezTo>
                    <a:cubicBezTo>
                      <a:pt x="305" y="0"/>
                      <a:pt x="359" y="20"/>
                      <a:pt x="394" y="54"/>
                    </a:cubicBezTo>
                    <a:cubicBezTo>
                      <a:pt x="430" y="91"/>
                      <a:pt x="446" y="144"/>
                      <a:pt x="446" y="209"/>
                    </a:cubicBezTo>
                    <a:cubicBezTo>
                      <a:pt x="446" y="491"/>
                      <a:pt x="446" y="491"/>
                      <a:pt x="446" y="491"/>
                    </a:cubicBezTo>
                    <a:cubicBezTo>
                      <a:pt x="313" y="491"/>
                      <a:pt x="313" y="491"/>
                      <a:pt x="313" y="491"/>
                    </a:cubicBezTo>
                    <a:cubicBezTo>
                      <a:pt x="313" y="438"/>
                      <a:pt x="313" y="438"/>
                      <a:pt x="313" y="438"/>
                    </a:cubicBezTo>
                    <a:cubicBezTo>
                      <a:pt x="280" y="475"/>
                      <a:pt x="234" y="500"/>
                      <a:pt x="167" y="500"/>
                    </a:cubicBezTo>
                    <a:cubicBezTo>
                      <a:pt x="75" y="500"/>
                      <a:pt x="0" y="447"/>
                      <a:pt x="0" y="351"/>
                    </a:cubicBezTo>
                    <a:close/>
                    <a:moveTo>
                      <a:pt x="316" y="320"/>
                    </a:moveTo>
                    <a:cubicBezTo>
                      <a:pt x="316" y="295"/>
                      <a:pt x="316" y="295"/>
                      <a:pt x="316" y="295"/>
                    </a:cubicBezTo>
                    <a:cubicBezTo>
                      <a:pt x="292" y="284"/>
                      <a:pt x="262" y="277"/>
                      <a:pt x="228" y="277"/>
                    </a:cubicBezTo>
                    <a:cubicBezTo>
                      <a:pt x="169" y="277"/>
                      <a:pt x="133" y="301"/>
                      <a:pt x="133" y="344"/>
                    </a:cubicBezTo>
                    <a:cubicBezTo>
                      <a:pt x="133" y="346"/>
                      <a:pt x="133" y="346"/>
                      <a:pt x="133" y="346"/>
                    </a:cubicBezTo>
                    <a:cubicBezTo>
                      <a:pt x="133" y="383"/>
                      <a:pt x="164" y="405"/>
                      <a:pt x="208" y="405"/>
                    </a:cubicBezTo>
                    <a:cubicBezTo>
                      <a:pt x="272" y="405"/>
                      <a:pt x="316" y="369"/>
                      <a:pt x="316" y="3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3" name="Rectangle 26">
                <a:extLst>
                  <a:ext uri="{FF2B5EF4-FFF2-40B4-BE49-F238E27FC236}">
                    <a16:creationId xmlns:a16="http://schemas.microsoft.com/office/drawing/2014/main" id="{2F1B0169-414B-8F53-D204-E4FC9132C39A}"/>
                  </a:ext>
                </a:extLst>
              </p:cNvPr>
              <p:cNvSpPr>
                <a:spLocks noChangeArrowheads="1"/>
              </p:cNvSpPr>
              <p:nvPr userDrawn="1"/>
            </p:nvSpPr>
            <p:spPr bwMode="auto">
              <a:xfrm>
                <a:off x="6801973" y="1260831"/>
                <a:ext cx="59843"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4" name="Rectangle 27">
                <a:extLst>
                  <a:ext uri="{FF2B5EF4-FFF2-40B4-BE49-F238E27FC236}">
                    <a16:creationId xmlns:a16="http://schemas.microsoft.com/office/drawing/2014/main" id="{FD3CEF0B-9316-CAAF-B811-7977EA0FDC71}"/>
                  </a:ext>
                </a:extLst>
              </p:cNvPr>
              <p:cNvSpPr>
                <a:spLocks noChangeArrowheads="1"/>
              </p:cNvSpPr>
              <p:nvPr userDrawn="1"/>
            </p:nvSpPr>
            <p:spPr bwMode="auto">
              <a:xfrm>
                <a:off x="6886639" y="1260831"/>
                <a:ext cx="59399"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64" name="Rectangle 28">
              <a:extLst>
                <a:ext uri="{FF2B5EF4-FFF2-40B4-BE49-F238E27FC236}">
                  <a16:creationId xmlns:a16="http://schemas.microsoft.com/office/drawing/2014/main" id="{C44969F7-1BF0-A4FA-F4EB-8003272D98C6}"/>
                </a:ext>
              </a:extLst>
            </p:cNvPr>
            <p:cNvSpPr>
              <a:spLocks noChangeArrowheads="1"/>
            </p:cNvSpPr>
            <p:nvPr userDrawn="1"/>
          </p:nvSpPr>
          <p:spPr bwMode="auto">
            <a:xfrm>
              <a:off x="11556230" y="767096"/>
              <a:ext cx="634181" cy="1898696"/>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799"/>
            </a:p>
          </p:txBody>
        </p:sp>
        <p:grpSp>
          <p:nvGrpSpPr>
            <p:cNvPr id="65" name="Group 64">
              <a:extLst>
                <a:ext uri="{FF2B5EF4-FFF2-40B4-BE49-F238E27FC236}">
                  <a16:creationId xmlns:a16="http://schemas.microsoft.com/office/drawing/2014/main" id="{5AB97A83-AA92-5D2A-D89F-2B85130F597F}"/>
                </a:ext>
              </a:extLst>
            </p:cNvPr>
            <p:cNvGrpSpPr/>
            <p:nvPr userDrawn="1"/>
          </p:nvGrpSpPr>
          <p:grpSpPr>
            <a:xfrm>
              <a:off x="11701122" y="936748"/>
              <a:ext cx="321494" cy="1552800"/>
              <a:chOff x="7313961" y="501936"/>
              <a:chExt cx="323594" cy="1566108"/>
            </a:xfrm>
          </p:grpSpPr>
          <p:sp>
            <p:nvSpPr>
              <p:cNvPr id="66" name="Freeform 29">
                <a:extLst>
                  <a:ext uri="{FF2B5EF4-FFF2-40B4-BE49-F238E27FC236}">
                    <a16:creationId xmlns:a16="http://schemas.microsoft.com/office/drawing/2014/main" id="{93913DCE-D7C5-993F-1CBD-D671F4E01A37}"/>
                  </a:ext>
                </a:extLst>
              </p:cNvPr>
              <p:cNvSpPr>
                <a:spLocks/>
              </p:cNvSpPr>
              <p:nvPr userDrawn="1"/>
            </p:nvSpPr>
            <p:spPr bwMode="auto">
              <a:xfrm>
                <a:off x="7383556" y="1311808"/>
                <a:ext cx="249567" cy="247350"/>
              </a:xfrm>
              <a:custGeom>
                <a:avLst/>
                <a:gdLst>
                  <a:gd name="T0" fmla="*/ 0 w 574"/>
                  <a:gd name="T1" fmla="*/ 229 h 569"/>
                  <a:gd name="T2" fmla="*/ 90 w 574"/>
                  <a:gd name="T3" fmla="*/ 413 h 569"/>
                  <a:gd name="T4" fmla="*/ 90 w 574"/>
                  <a:gd name="T5" fmla="*/ 413 h 569"/>
                  <a:gd name="T6" fmla="*/ 90 w 574"/>
                  <a:gd name="T7" fmla="*/ 413 h 569"/>
                  <a:gd name="T8" fmla="*/ 9 w 574"/>
                  <a:gd name="T9" fmla="*/ 413 h 569"/>
                  <a:gd name="T10" fmla="*/ 9 w 574"/>
                  <a:gd name="T11" fmla="*/ 569 h 569"/>
                  <a:gd name="T12" fmla="*/ 574 w 574"/>
                  <a:gd name="T13" fmla="*/ 569 h 569"/>
                  <a:gd name="T14" fmla="*/ 574 w 574"/>
                  <a:gd name="T15" fmla="*/ 413 h 569"/>
                  <a:gd name="T16" fmla="*/ 253 w 574"/>
                  <a:gd name="T17" fmla="*/ 413 h 569"/>
                  <a:gd name="T18" fmla="*/ 133 w 574"/>
                  <a:gd name="T19" fmla="*/ 286 h 569"/>
                  <a:gd name="T20" fmla="*/ 253 w 574"/>
                  <a:gd name="T21" fmla="*/ 155 h 569"/>
                  <a:gd name="T22" fmla="*/ 574 w 574"/>
                  <a:gd name="T23" fmla="*/ 155 h 569"/>
                  <a:gd name="T24" fmla="*/ 574 w 574"/>
                  <a:gd name="T25" fmla="*/ 0 h 569"/>
                  <a:gd name="T26" fmla="*/ 224 w 574"/>
                  <a:gd name="T27" fmla="*/ 0 h 569"/>
                  <a:gd name="T28" fmla="*/ 0 w 574"/>
                  <a:gd name="T29" fmla="*/ 229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4" h="569">
                    <a:moveTo>
                      <a:pt x="0" y="229"/>
                    </a:moveTo>
                    <a:cubicBezTo>
                      <a:pt x="0" y="294"/>
                      <a:pt x="30" y="368"/>
                      <a:pt x="90" y="413"/>
                    </a:cubicBezTo>
                    <a:cubicBezTo>
                      <a:pt x="90" y="413"/>
                      <a:pt x="90" y="413"/>
                      <a:pt x="90" y="413"/>
                    </a:cubicBezTo>
                    <a:cubicBezTo>
                      <a:pt x="90" y="413"/>
                      <a:pt x="90" y="413"/>
                      <a:pt x="90" y="413"/>
                    </a:cubicBezTo>
                    <a:cubicBezTo>
                      <a:pt x="9" y="413"/>
                      <a:pt x="9" y="413"/>
                      <a:pt x="9" y="413"/>
                    </a:cubicBezTo>
                    <a:cubicBezTo>
                      <a:pt x="9" y="569"/>
                      <a:pt x="9" y="569"/>
                      <a:pt x="9" y="569"/>
                    </a:cubicBezTo>
                    <a:cubicBezTo>
                      <a:pt x="574" y="569"/>
                      <a:pt x="574" y="569"/>
                      <a:pt x="574" y="569"/>
                    </a:cubicBezTo>
                    <a:cubicBezTo>
                      <a:pt x="574" y="413"/>
                      <a:pt x="574" y="413"/>
                      <a:pt x="574" y="413"/>
                    </a:cubicBezTo>
                    <a:cubicBezTo>
                      <a:pt x="253" y="413"/>
                      <a:pt x="253" y="413"/>
                      <a:pt x="253" y="413"/>
                    </a:cubicBezTo>
                    <a:cubicBezTo>
                      <a:pt x="195" y="413"/>
                      <a:pt x="133" y="369"/>
                      <a:pt x="133" y="286"/>
                    </a:cubicBezTo>
                    <a:cubicBezTo>
                      <a:pt x="133" y="221"/>
                      <a:pt x="178" y="155"/>
                      <a:pt x="253" y="155"/>
                    </a:cubicBezTo>
                    <a:cubicBezTo>
                      <a:pt x="574" y="155"/>
                      <a:pt x="574" y="155"/>
                      <a:pt x="574" y="155"/>
                    </a:cubicBezTo>
                    <a:cubicBezTo>
                      <a:pt x="574" y="0"/>
                      <a:pt x="574" y="0"/>
                      <a:pt x="574" y="0"/>
                    </a:cubicBezTo>
                    <a:cubicBezTo>
                      <a:pt x="224" y="0"/>
                      <a:pt x="224" y="0"/>
                      <a:pt x="224" y="0"/>
                    </a:cubicBezTo>
                    <a:cubicBezTo>
                      <a:pt x="94" y="0"/>
                      <a:pt x="0" y="93"/>
                      <a:pt x="0" y="22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67" name="Freeform 30">
                <a:extLst>
                  <a:ext uri="{FF2B5EF4-FFF2-40B4-BE49-F238E27FC236}">
                    <a16:creationId xmlns:a16="http://schemas.microsoft.com/office/drawing/2014/main" id="{6D0A5711-84F8-6852-FC23-C9222B8AB056}"/>
                  </a:ext>
                </a:extLst>
              </p:cNvPr>
              <p:cNvSpPr>
                <a:spLocks/>
              </p:cNvSpPr>
              <p:nvPr userDrawn="1"/>
            </p:nvSpPr>
            <p:spPr bwMode="auto">
              <a:xfrm>
                <a:off x="7387546" y="755049"/>
                <a:ext cx="245577" cy="276163"/>
              </a:xfrm>
              <a:custGeom>
                <a:avLst/>
                <a:gdLst>
                  <a:gd name="T0" fmla="*/ 0 w 554"/>
                  <a:gd name="T1" fmla="*/ 174 h 623"/>
                  <a:gd name="T2" fmla="*/ 377 w 554"/>
                  <a:gd name="T3" fmla="*/ 311 h 623"/>
                  <a:gd name="T4" fmla="*/ 0 w 554"/>
                  <a:gd name="T5" fmla="*/ 450 h 623"/>
                  <a:gd name="T6" fmla="*/ 0 w 554"/>
                  <a:gd name="T7" fmla="*/ 623 h 623"/>
                  <a:gd name="T8" fmla="*/ 554 w 554"/>
                  <a:gd name="T9" fmla="*/ 395 h 623"/>
                  <a:gd name="T10" fmla="*/ 554 w 554"/>
                  <a:gd name="T11" fmla="*/ 228 h 623"/>
                  <a:gd name="T12" fmla="*/ 0 w 554"/>
                  <a:gd name="T13" fmla="*/ 0 h 623"/>
                  <a:gd name="T14" fmla="*/ 0 w 554"/>
                  <a:gd name="T15" fmla="*/ 174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623">
                    <a:moveTo>
                      <a:pt x="0" y="174"/>
                    </a:moveTo>
                    <a:lnTo>
                      <a:pt x="377" y="311"/>
                    </a:lnTo>
                    <a:lnTo>
                      <a:pt x="0" y="450"/>
                    </a:lnTo>
                    <a:lnTo>
                      <a:pt x="0" y="623"/>
                    </a:lnTo>
                    <a:lnTo>
                      <a:pt x="554" y="395"/>
                    </a:lnTo>
                    <a:lnTo>
                      <a:pt x="554" y="228"/>
                    </a:lnTo>
                    <a:lnTo>
                      <a:pt x="0" y="0"/>
                    </a:lnTo>
                    <a:lnTo>
                      <a:pt x="0"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68" name="Freeform 31">
                <a:extLst>
                  <a:ext uri="{FF2B5EF4-FFF2-40B4-BE49-F238E27FC236}">
                    <a16:creationId xmlns:a16="http://schemas.microsoft.com/office/drawing/2014/main" id="{185085EF-D1B3-20ED-1267-AC7FAB1644FE}"/>
                  </a:ext>
                </a:extLst>
              </p:cNvPr>
              <p:cNvSpPr>
                <a:spLocks noEditPoints="1"/>
              </p:cNvSpPr>
              <p:nvPr userDrawn="1"/>
            </p:nvSpPr>
            <p:spPr bwMode="auto">
              <a:xfrm>
                <a:off x="7383556" y="1583096"/>
                <a:ext cx="253999" cy="256659"/>
              </a:xfrm>
              <a:custGeom>
                <a:avLst/>
                <a:gdLst>
                  <a:gd name="T0" fmla="*/ 401 w 584"/>
                  <a:gd name="T1" fmla="*/ 110 h 590"/>
                  <a:gd name="T2" fmla="*/ 460 w 584"/>
                  <a:gd name="T3" fmla="*/ 272 h 590"/>
                  <a:gd name="T4" fmla="*/ 415 w 584"/>
                  <a:gd name="T5" fmla="*/ 397 h 590"/>
                  <a:gd name="T6" fmla="*/ 250 w 584"/>
                  <a:gd name="T7" fmla="*/ 0 h 590"/>
                  <a:gd name="T8" fmla="*/ 92 w 584"/>
                  <a:gd name="T9" fmla="*/ 68 h 590"/>
                  <a:gd name="T10" fmla="*/ 0 w 584"/>
                  <a:gd name="T11" fmla="*/ 291 h 590"/>
                  <a:gd name="T12" fmla="*/ 292 w 584"/>
                  <a:gd name="T13" fmla="*/ 590 h 590"/>
                  <a:gd name="T14" fmla="*/ 584 w 584"/>
                  <a:gd name="T15" fmla="*/ 274 h 590"/>
                  <a:gd name="T16" fmla="*/ 476 w 584"/>
                  <a:gd name="T17" fmla="*/ 12 h 590"/>
                  <a:gd name="T18" fmla="*/ 401 w 584"/>
                  <a:gd name="T19" fmla="*/ 110 h 590"/>
                  <a:gd name="T20" fmla="*/ 179 w 584"/>
                  <a:gd name="T21" fmla="*/ 408 h 590"/>
                  <a:gd name="T22" fmla="*/ 123 w 584"/>
                  <a:gd name="T23" fmla="*/ 288 h 590"/>
                  <a:gd name="T24" fmla="*/ 202 w 584"/>
                  <a:gd name="T25" fmla="*/ 168 h 590"/>
                  <a:gd name="T26" fmla="*/ 315 w 584"/>
                  <a:gd name="T27" fmla="*/ 439 h 590"/>
                  <a:gd name="T28" fmla="*/ 179 w 584"/>
                  <a:gd name="T29" fmla="*/ 408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4" h="590">
                    <a:moveTo>
                      <a:pt x="401" y="110"/>
                    </a:moveTo>
                    <a:cubicBezTo>
                      <a:pt x="449" y="175"/>
                      <a:pt x="460" y="212"/>
                      <a:pt x="460" y="272"/>
                    </a:cubicBezTo>
                    <a:cubicBezTo>
                      <a:pt x="460" y="325"/>
                      <a:pt x="444" y="367"/>
                      <a:pt x="415" y="397"/>
                    </a:cubicBezTo>
                    <a:cubicBezTo>
                      <a:pt x="250" y="0"/>
                      <a:pt x="250" y="0"/>
                      <a:pt x="250" y="0"/>
                    </a:cubicBezTo>
                    <a:cubicBezTo>
                      <a:pt x="189" y="9"/>
                      <a:pt x="134" y="32"/>
                      <a:pt x="92" y="68"/>
                    </a:cubicBezTo>
                    <a:cubicBezTo>
                      <a:pt x="32" y="120"/>
                      <a:pt x="0" y="197"/>
                      <a:pt x="0" y="291"/>
                    </a:cubicBezTo>
                    <a:cubicBezTo>
                      <a:pt x="0" y="462"/>
                      <a:pt x="126" y="590"/>
                      <a:pt x="292" y="590"/>
                    </a:cubicBezTo>
                    <a:cubicBezTo>
                      <a:pt x="462" y="590"/>
                      <a:pt x="584" y="462"/>
                      <a:pt x="584" y="274"/>
                    </a:cubicBezTo>
                    <a:cubicBezTo>
                      <a:pt x="584" y="169"/>
                      <a:pt x="534" y="62"/>
                      <a:pt x="476" y="12"/>
                    </a:cubicBezTo>
                    <a:lnTo>
                      <a:pt x="401" y="110"/>
                    </a:lnTo>
                    <a:close/>
                    <a:moveTo>
                      <a:pt x="179" y="408"/>
                    </a:moveTo>
                    <a:cubicBezTo>
                      <a:pt x="144" y="381"/>
                      <a:pt x="123" y="339"/>
                      <a:pt x="123" y="288"/>
                    </a:cubicBezTo>
                    <a:cubicBezTo>
                      <a:pt x="123" y="232"/>
                      <a:pt x="155" y="190"/>
                      <a:pt x="202" y="168"/>
                    </a:cubicBezTo>
                    <a:cubicBezTo>
                      <a:pt x="315" y="439"/>
                      <a:pt x="315" y="439"/>
                      <a:pt x="315" y="439"/>
                    </a:cubicBezTo>
                    <a:cubicBezTo>
                      <a:pt x="257" y="447"/>
                      <a:pt x="212" y="432"/>
                      <a:pt x="179" y="4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69" name="Freeform 32">
                <a:extLst>
                  <a:ext uri="{FF2B5EF4-FFF2-40B4-BE49-F238E27FC236}">
                    <a16:creationId xmlns:a16="http://schemas.microsoft.com/office/drawing/2014/main" id="{8434C32D-C325-1F32-5E19-6C9FC933AC3B}"/>
                  </a:ext>
                </a:extLst>
              </p:cNvPr>
              <p:cNvSpPr>
                <a:spLocks/>
              </p:cNvSpPr>
              <p:nvPr userDrawn="1"/>
            </p:nvSpPr>
            <p:spPr bwMode="auto">
              <a:xfrm>
                <a:off x="7313961" y="1846404"/>
                <a:ext cx="319161" cy="221640"/>
              </a:xfrm>
              <a:custGeom>
                <a:avLst/>
                <a:gdLst>
                  <a:gd name="T0" fmla="*/ 580 w 720"/>
                  <a:gd name="T1" fmla="*/ 0 h 500"/>
                  <a:gd name="T2" fmla="*/ 580 w 720"/>
                  <a:gd name="T3" fmla="*/ 346 h 500"/>
                  <a:gd name="T4" fmla="*/ 0 w 720"/>
                  <a:gd name="T5" fmla="*/ 346 h 500"/>
                  <a:gd name="T6" fmla="*/ 0 w 720"/>
                  <a:gd name="T7" fmla="*/ 500 h 500"/>
                  <a:gd name="T8" fmla="*/ 720 w 720"/>
                  <a:gd name="T9" fmla="*/ 500 h 500"/>
                  <a:gd name="T10" fmla="*/ 720 w 720"/>
                  <a:gd name="T11" fmla="*/ 0 h 500"/>
                  <a:gd name="T12" fmla="*/ 580 w 720"/>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720" h="500">
                    <a:moveTo>
                      <a:pt x="580" y="0"/>
                    </a:moveTo>
                    <a:lnTo>
                      <a:pt x="580" y="346"/>
                    </a:lnTo>
                    <a:lnTo>
                      <a:pt x="0" y="346"/>
                    </a:lnTo>
                    <a:lnTo>
                      <a:pt x="0" y="500"/>
                    </a:lnTo>
                    <a:lnTo>
                      <a:pt x="720" y="500"/>
                    </a:lnTo>
                    <a:lnTo>
                      <a:pt x="720" y="0"/>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0" name="Freeform 33">
                <a:extLst>
                  <a:ext uri="{FF2B5EF4-FFF2-40B4-BE49-F238E27FC236}">
                    <a16:creationId xmlns:a16="http://schemas.microsoft.com/office/drawing/2014/main" id="{A281B950-B57F-4814-65C4-87F843CA0E1C}"/>
                  </a:ext>
                </a:extLst>
              </p:cNvPr>
              <p:cNvSpPr>
                <a:spLocks noEditPoints="1"/>
              </p:cNvSpPr>
              <p:nvPr userDrawn="1"/>
            </p:nvSpPr>
            <p:spPr bwMode="auto">
              <a:xfrm>
                <a:off x="7383556" y="501936"/>
                <a:ext cx="253999" cy="263752"/>
              </a:xfrm>
              <a:custGeom>
                <a:avLst/>
                <a:gdLst>
                  <a:gd name="T0" fmla="*/ 584 w 584"/>
                  <a:gd name="T1" fmla="*/ 304 h 607"/>
                  <a:gd name="T2" fmla="*/ 292 w 584"/>
                  <a:gd name="T3" fmla="*/ 607 h 607"/>
                  <a:gd name="T4" fmla="*/ 0 w 584"/>
                  <a:gd name="T5" fmla="*/ 302 h 607"/>
                  <a:gd name="T6" fmla="*/ 292 w 584"/>
                  <a:gd name="T7" fmla="*/ 0 h 607"/>
                  <a:gd name="T8" fmla="*/ 584 w 584"/>
                  <a:gd name="T9" fmla="*/ 304 h 607"/>
                  <a:gd name="T10" fmla="*/ 133 w 584"/>
                  <a:gd name="T11" fmla="*/ 304 h 607"/>
                  <a:gd name="T12" fmla="*/ 292 w 584"/>
                  <a:gd name="T13" fmla="*/ 454 h 607"/>
                  <a:gd name="T14" fmla="*/ 451 w 584"/>
                  <a:gd name="T15" fmla="*/ 302 h 607"/>
                  <a:gd name="T16" fmla="*/ 292 w 584"/>
                  <a:gd name="T17" fmla="*/ 153 h 607"/>
                  <a:gd name="T18" fmla="*/ 133 w 584"/>
                  <a:gd name="T19" fmla="*/ 304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4"/>
                    </a:moveTo>
                    <a:cubicBezTo>
                      <a:pt x="584" y="474"/>
                      <a:pt x="457" y="607"/>
                      <a:pt x="292" y="607"/>
                    </a:cubicBezTo>
                    <a:cubicBezTo>
                      <a:pt x="128" y="607"/>
                      <a:pt x="0" y="473"/>
                      <a:pt x="0" y="302"/>
                    </a:cubicBezTo>
                    <a:cubicBezTo>
                      <a:pt x="0" y="133"/>
                      <a:pt x="126" y="0"/>
                      <a:pt x="292" y="0"/>
                    </a:cubicBezTo>
                    <a:cubicBezTo>
                      <a:pt x="455" y="0"/>
                      <a:pt x="584" y="133"/>
                      <a:pt x="584" y="304"/>
                    </a:cubicBezTo>
                    <a:moveTo>
                      <a:pt x="133" y="304"/>
                    </a:moveTo>
                    <a:cubicBezTo>
                      <a:pt x="133" y="391"/>
                      <a:pt x="198" y="454"/>
                      <a:pt x="292" y="454"/>
                    </a:cubicBezTo>
                    <a:cubicBezTo>
                      <a:pt x="381" y="454"/>
                      <a:pt x="451" y="387"/>
                      <a:pt x="451" y="302"/>
                    </a:cubicBezTo>
                    <a:cubicBezTo>
                      <a:pt x="451" y="216"/>
                      <a:pt x="383" y="153"/>
                      <a:pt x="292" y="153"/>
                    </a:cubicBezTo>
                    <a:cubicBezTo>
                      <a:pt x="203" y="153"/>
                      <a:pt x="133" y="219"/>
                      <a:pt x="133" y="30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71" name="Freeform 34">
                <a:extLst>
                  <a:ext uri="{FF2B5EF4-FFF2-40B4-BE49-F238E27FC236}">
                    <a16:creationId xmlns:a16="http://schemas.microsoft.com/office/drawing/2014/main" id="{EE465ED6-53DE-A385-42CB-0B5A75477346}"/>
                  </a:ext>
                </a:extLst>
              </p:cNvPr>
              <p:cNvSpPr>
                <a:spLocks noEditPoints="1"/>
              </p:cNvSpPr>
              <p:nvPr userDrawn="1"/>
            </p:nvSpPr>
            <p:spPr bwMode="auto">
              <a:xfrm>
                <a:off x="7383556" y="1021017"/>
                <a:ext cx="253999" cy="263752"/>
              </a:xfrm>
              <a:custGeom>
                <a:avLst/>
                <a:gdLst>
                  <a:gd name="T0" fmla="*/ 584 w 584"/>
                  <a:gd name="T1" fmla="*/ 305 h 607"/>
                  <a:gd name="T2" fmla="*/ 292 w 584"/>
                  <a:gd name="T3" fmla="*/ 607 h 607"/>
                  <a:gd name="T4" fmla="*/ 0 w 584"/>
                  <a:gd name="T5" fmla="*/ 303 h 607"/>
                  <a:gd name="T6" fmla="*/ 292 w 584"/>
                  <a:gd name="T7" fmla="*/ 0 h 607"/>
                  <a:gd name="T8" fmla="*/ 584 w 584"/>
                  <a:gd name="T9" fmla="*/ 305 h 607"/>
                  <a:gd name="T10" fmla="*/ 133 w 584"/>
                  <a:gd name="T11" fmla="*/ 305 h 607"/>
                  <a:gd name="T12" fmla="*/ 292 w 584"/>
                  <a:gd name="T13" fmla="*/ 454 h 607"/>
                  <a:gd name="T14" fmla="*/ 451 w 584"/>
                  <a:gd name="T15" fmla="*/ 303 h 607"/>
                  <a:gd name="T16" fmla="*/ 292 w 584"/>
                  <a:gd name="T17" fmla="*/ 153 h 607"/>
                  <a:gd name="T18" fmla="*/ 133 w 584"/>
                  <a:gd name="T19" fmla="*/ 30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5"/>
                    </a:moveTo>
                    <a:cubicBezTo>
                      <a:pt x="584" y="474"/>
                      <a:pt x="457" y="607"/>
                      <a:pt x="292" y="607"/>
                    </a:cubicBezTo>
                    <a:cubicBezTo>
                      <a:pt x="128" y="607"/>
                      <a:pt x="0" y="474"/>
                      <a:pt x="0" y="303"/>
                    </a:cubicBezTo>
                    <a:cubicBezTo>
                      <a:pt x="0" y="133"/>
                      <a:pt x="126" y="0"/>
                      <a:pt x="292" y="0"/>
                    </a:cubicBezTo>
                    <a:cubicBezTo>
                      <a:pt x="455" y="0"/>
                      <a:pt x="584" y="134"/>
                      <a:pt x="584" y="305"/>
                    </a:cubicBezTo>
                    <a:moveTo>
                      <a:pt x="133" y="305"/>
                    </a:moveTo>
                    <a:cubicBezTo>
                      <a:pt x="133" y="391"/>
                      <a:pt x="198" y="454"/>
                      <a:pt x="292" y="454"/>
                    </a:cubicBezTo>
                    <a:cubicBezTo>
                      <a:pt x="381" y="454"/>
                      <a:pt x="451" y="388"/>
                      <a:pt x="451" y="303"/>
                    </a:cubicBezTo>
                    <a:cubicBezTo>
                      <a:pt x="451" y="216"/>
                      <a:pt x="383" y="153"/>
                      <a:pt x="292" y="153"/>
                    </a:cubicBezTo>
                    <a:cubicBezTo>
                      <a:pt x="203" y="153"/>
                      <a:pt x="133" y="220"/>
                      <a:pt x="133" y="30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grpSp>
      <p:grpSp>
        <p:nvGrpSpPr>
          <p:cNvPr id="42" name="Group 41">
            <a:extLst>
              <a:ext uri="{FF2B5EF4-FFF2-40B4-BE49-F238E27FC236}">
                <a16:creationId xmlns:a16="http://schemas.microsoft.com/office/drawing/2014/main" id="{320E6808-E70B-FA4B-99F6-1C02BBC16598}"/>
              </a:ext>
            </a:extLst>
          </p:cNvPr>
          <p:cNvGrpSpPr/>
          <p:nvPr userDrawn="1"/>
        </p:nvGrpSpPr>
        <p:grpSpPr>
          <a:xfrm>
            <a:off x="1539348" y="3561910"/>
            <a:ext cx="7853422" cy="1769127"/>
            <a:chOff x="541049" y="2649538"/>
            <a:chExt cx="9285724" cy="2092325"/>
          </a:xfrm>
          <a:solidFill>
            <a:schemeClr val="bg1"/>
          </a:solidFill>
        </p:grpSpPr>
        <p:sp>
          <p:nvSpPr>
            <p:cNvPr id="43" name="Freeform 5">
              <a:extLst>
                <a:ext uri="{FF2B5EF4-FFF2-40B4-BE49-F238E27FC236}">
                  <a16:creationId xmlns:a16="http://schemas.microsoft.com/office/drawing/2014/main" id="{4C297CEF-136F-B1B7-09B1-55E4D7563FDB}"/>
                </a:ext>
              </a:extLst>
            </p:cNvPr>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44" name="Freeform 6">
              <a:extLst>
                <a:ext uri="{FF2B5EF4-FFF2-40B4-BE49-F238E27FC236}">
                  <a16:creationId xmlns:a16="http://schemas.microsoft.com/office/drawing/2014/main" id="{622BAF6B-1742-15FD-B0EB-40B8C3DC1168}"/>
                </a:ext>
              </a:extLst>
            </p:cNvPr>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45" name="Freeform 7">
              <a:extLst>
                <a:ext uri="{FF2B5EF4-FFF2-40B4-BE49-F238E27FC236}">
                  <a16:creationId xmlns:a16="http://schemas.microsoft.com/office/drawing/2014/main" id="{788B3367-A4C9-CCD9-A688-1D2826A4B010}"/>
                </a:ext>
              </a:extLst>
            </p:cNvPr>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3" name="Freeform 8">
              <a:extLst>
                <a:ext uri="{FF2B5EF4-FFF2-40B4-BE49-F238E27FC236}">
                  <a16:creationId xmlns:a16="http://schemas.microsoft.com/office/drawing/2014/main" id="{E75C15B3-8177-7E6B-C4A7-1B9D3FB9D027}"/>
                </a:ext>
              </a:extLst>
            </p:cNvPr>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4" name="Freeform 9">
              <a:extLst>
                <a:ext uri="{FF2B5EF4-FFF2-40B4-BE49-F238E27FC236}">
                  <a16:creationId xmlns:a16="http://schemas.microsoft.com/office/drawing/2014/main" id="{AA27F0F6-EBAD-77B3-0964-617F5FC5A0BD}"/>
                </a:ext>
              </a:extLst>
            </p:cNvPr>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5" name="Freeform 10">
              <a:extLst>
                <a:ext uri="{FF2B5EF4-FFF2-40B4-BE49-F238E27FC236}">
                  <a16:creationId xmlns:a16="http://schemas.microsoft.com/office/drawing/2014/main" id="{0D449E32-BCCB-5FA7-37E4-30FF7569B638}"/>
                </a:ext>
              </a:extLst>
            </p:cNvPr>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6" name="Oval 11">
              <a:extLst>
                <a:ext uri="{FF2B5EF4-FFF2-40B4-BE49-F238E27FC236}">
                  <a16:creationId xmlns:a16="http://schemas.microsoft.com/office/drawing/2014/main" id="{DF4FD3AA-2A1C-04CA-7759-A7926327B4AA}"/>
                </a:ext>
              </a:extLst>
            </p:cNvPr>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Tree>
    <p:extLst>
      <p:ext uri="{BB962C8B-B14F-4D97-AF65-F5344CB8AC3E}">
        <p14:creationId xmlns:p14="http://schemas.microsoft.com/office/powerpoint/2010/main" val="257337829"/>
      </p:ext>
    </p:extLst>
  </p:cSld>
  <p:clrMapOvr>
    <a:masterClrMapping/>
  </p:clrMapOvr>
  <p:transition spd="med"/>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userDrawn="1">
  <p:cSld name="4_Title Slide_Black">
    <p:bg>
      <p:bgPr>
        <a:solidFill>
          <a:schemeClr val="tx1"/>
        </a:solidFill>
        <a:effectLst/>
      </p:bgPr>
    </p:bg>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100707FD-CFDF-94DD-E63F-30F84B238F78}"/>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rot="10800000">
            <a:off x="-1" y="-1"/>
            <a:ext cx="12192000" cy="6858000"/>
          </a:xfrm>
          <a:prstGeom prst="rect">
            <a:avLst/>
          </a:prstGeom>
        </p:spPr>
      </p:pic>
      <p:pic>
        <p:nvPicPr>
          <p:cNvPr id="4" name="Picture 3">
            <a:extLst>
              <a:ext uri="{FF2B5EF4-FFF2-40B4-BE49-F238E27FC236}">
                <a16:creationId xmlns:a16="http://schemas.microsoft.com/office/drawing/2014/main" id="{CF717A39-7720-9E8D-286C-20142A00CE1F}"/>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784993" y="-1"/>
            <a:ext cx="5407009" cy="6858001"/>
          </a:xfrm>
          <a:prstGeom prst="rect">
            <a:avLst/>
          </a:prstGeom>
        </p:spPr>
      </p:pic>
      <p:sp>
        <p:nvSpPr>
          <p:cNvPr id="56" name="Title 16"/>
          <p:cNvSpPr>
            <a:spLocks noGrp="1"/>
          </p:cNvSpPr>
          <p:nvPr userDrawn="1">
            <p:ph type="title" hasCustomPrompt="1"/>
          </p:nvPr>
        </p:nvSpPr>
        <p:spPr bwMode="gray">
          <a:xfrm>
            <a:off x="750532" y="1524000"/>
            <a:ext cx="5958747" cy="3273368"/>
          </a:xfrm>
          <a:prstGeom prst="rect">
            <a:avLst/>
          </a:prstGeom>
        </p:spPr>
        <p:txBody>
          <a:bodyPr lIns="0" tIns="0" rIns="121899" bIns="0" anchor="b" anchorCtr="0"/>
          <a:lstStyle>
            <a:lvl1pPr marL="0" algn="l" defTabSz="1218255" rtl="0" eaLnBrk="1" latinLnBrk="0" hangingPunct="1">
              <a:lnSpc>
                <a:spcPct val="75000"/>
              </a:lnSpc>
              <a:spcBef>
                <a:spcPct val="0"/>
              </a:spcBef>
              <a:buNone/>
              <a:defRPr lang="en-US" sz="6996"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4" y="5046115"/>
            <a:ext cx="5958747" cy="356616"/>
          </a:xfrm>
          <a:prstGeom prst="rect">
            <a:avLst/>
          </a:prstGeom>
        </p:spPr>
        <p:txBody>
          <a:bodyPr lIns="0" tIns="0" rIns="0" bIns="0" anchor="t" anchorCtr="0"/>
          <a:lstStyle>
            <a:lvl1pPr marL="0" indent="0" algn="l" defTabSz="1218255" rtl="0" eaLnBrk="1" latinLnBrk="0" hangingPunct="1">
              <a:lnSpc>
                <a:spcPct val="90000"/>
              </a:lnSpc>
              <a:spcBef>
                <a:spcPct val="0"/>
              </a:spcBef>
              <a:buNone/>
              <a:defRPr lang="en-US" sz="2598" b="0" kern="1200" cap="none" spc="0" baseline="0" dirty="0">
                <a:solidFill>
                  <a:schemeClr val="bg1"/>
                </a:solidFill>
                <a:latin typeface="Arial" pitchFamily="34" charset="0"/>
                <a:ea typeface="+mn-ea"/>
                <a:cs typeface="Arial" pitchFamily="34" charset="0"/>
              </a:defRPr>
            </a:lvl1pPr>
            <a:lvl2pPr marL="609127" indent="0" algn="ctr">
              <a:buNone/>
              <a:defRPr>
                <a:solidFill>
                  <a:schemeClr val="tx1">
                    <a:tint val="75000"/>
                  </a:schemeClr>
                </a:solidFill>
              </a:defRPr>
            </a:lvl2pPr>
            <a:lvl3pPr marL="1218255" indent="0" algn="ctr">
              <a:buNone/>
              <a:defRPr>
                <a:solidFill>
                  <a:schemeClr val="tx1">
                    <a:tint val="75000"/>
                  </a:schemeClr>
                </a:solidFill>
              </a:defRPr>
            </a:lvl3pPr>
            <a:lvl4pPr marL="1827383" indent="0" algn="ctr">
              <a:buNone/>
              <a:defRPr>
                <a:solidFill>
                  <a:schemeClr val="tx1">
                    <a:tint val="75000"/>
                  </a:schemeClr>
                </a:solidFill>
              </a:defRPr>
            </a:lvl4pPr>
            <a:lvl5pPr marL="2436511" indent="0" algn="ctr">
              <a:buNone/>
              <a:defRPr>
                <a:solidFill>
                  <a:schemeClr val="tx1">
                    <a:tint val="75000"/>
                  </a:schemeClr>
                </a:solidFill>
              </a:defRPr>
            </a:lvl5pPr>
            <a:lvl6pPr marL="3045639" indent="0" algn="ctr">
              <a:buNone/>
              <a:defRPr>
                <a:solidFill>
                  <a:schemeClr val="tx1">
                    <a:tint val="75000"/>
                  </a:schemeClr>
                </a:solidFill>
              </a:defRPr>
            </a:lvl6pPr>
            <a:lvl7pPr marL="3654766" indent="0" algn="ctr">
              <a:buNone/>
              <a:defRPr>
                <a:solidFill>
                  <a:schemeClr val="tx1">
                    <a:tint val="75000"/>
                  </a:schemeClr>
                </a:solidFill>
              </a:defRPr>
            </a:lvl7pPr>
            <a:lvl8pPr marL="4263893" indent="0" algn="ctr">
              <a:buNone/>
              <a:defRPr>
                <a:solidFill>
                  <a:schemeClr val="tx1">
                    <a:tint val="75000"/>
                  </a:schemeClr>
                </a:solidFill>
              </a:defRPr>
            </a:lvl8pPr>
            <a:lvl9pPr marL="4873022" indent="0" algn="ctr">
              <a:buNone/>
              <a:defRPr>
                <a:solidFill>
                  <a:schemeClr val="tx1">
                    <a:tint val="75000"/>
                  </a:schemeClr>
                </a:solidFill>
              </a:defRPr>
            </a:lvl9pPr>
          </a:lstStyle>
          <a:p>
            <a:r>
              <a:rPr lang="en-US"/>
              <a:t>Speaker Name | Date</a:t>
            </a:r>
          </a:p>
        </p:txBody>
      </p:sp>
      <p:sp>
        <p:nvSpPr>
          <p:cNvPr id="82" name="TextBox 81">
            <a:extLst>
              <a:ext uri="{FF2B5EF4-FFF2-40B4-BE49-F238E27FC236}">
                <a16:creationId xmlns:a16="http://schemas.microsoft.com/office/drawing/2014/main" id="{D0375F64-E651-1A0A-ABF1-9C38BA663F9F}"/>
              </a:ext>
            </a:extLst>
          </p:cNvPr>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2024 Lenovo. All rights reserved.</a:t>
            </a:r>
          </a:p>
        </p:txBody>
      </p:sp>
      <p:grpSp>
        <p:nvGrpSpPr>
          <p:cNvPr id="14" name="Group 13">
            <a:extLst>
              <a:ext uri="{FF2B5EF4-FFF2-40B4-BE49-F238E27FC236}">
                <a16:creationId xmlns:a16="http://schemas.microsoft.com/office/drawing/2014/main" id="{62D158B4-6BCE-19D4-4FA2-E1DB49D9AA2B}"/>
              </a:ext>
            </a:extLst>
          </p:cNvPr>
          <p:cNvGrpSpPr>
            <a:grpSpLocks noChangeAspect="1"/>
          </p:cNvGrpSpPr>
          <p:nvPr userDrawn="1"/>
        </p:nvGrpSpPr>
        <p:grpSpPr>
          <a:xfrm rot="16200000">
            <a:off x="10152631" y="3293735"/>
            <a:ext cx="3058160" cy="1020580"/>
            <a:chOff x="547688" y="952500"/>
            <a:chExt cx="12190413" cy="4067175"/>
          </a:xfrm>
        </p:grpSpPr>
        <p:sp>
          <p:nvSpPr>
            <p:cNvPr id="15" name="Rectangle 14">
              <a:extLst>
                <a:ext uri="{FF2B5EF4-FFF2-40B4-BE49-F238E27FC236}">
                  <a16:creationId xmlns:a16="http://schemas.microsoft.com/office/drawing/2014/main" id="{46535BB9-6B06-5867-031F-5169F0D00FE5}"/>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6" name="Freeform 15">
              <a:extLst>
                <a:ext uri="{FF2B5EF4-FFF2-40B4-BE49-F238E27FC236}">
                  <a16:creationId xmlns:a16="http://schemas.microsoft.com/office/drawing/2014/main" id="{E724C423-0FB3-BA60-4424-CB29675D6B9B}"/>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7" name="Freeform 16">
              <a:extLst>
                <a:ext uri="{FF2B5EF4-FFF2-40B4-BE49-F238E27FC236}">
                  <a16:creationId xmlns:a16="http://schemas.microsoft.com/office/drawing/2014/main" id="{8ACCDC9B-BFCA-426C-9CAC-E6085EAF463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8" name="Freeform 17">
              <a:extLst>
                <a:ext uri="{FF2B5EF4-FFF2-40B4-BE49-F238E27FC236}">
                  <a16:creationId xmlns:a16="http://schemas.microsoft.com/office/drawing/2014/main" id="{EE61D4C5-6898-FCEB-952B-78F5DBDDC71D}"/>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9" name="Freeform 18">
              <a:extLst>
                <a:ext uri="{FF2B5EF4-FFF2-40B4-BE49-F238E27FC236}">
                  <a16:creationId xmlns:a16="http://schemas.microsoft.com/office/drawing/2014/main" id="{889E4066-CD50-AE50-097B-D5B586A85203}"/>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20" name="Freeform 10">
              <a:extLst>
                <a:ext uri="{FF2B5EF4-FFF2-40B4-BE49-F238E27FC236}">
                  <a16:creationId xmlns:a16="http://schemas.microsoft.com/office/drawing/2014/main" id="{161A8B7B-2E45-6C26-96C4-383B905CC3A2}"/>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21" name="Freeform 11">
              <a:extLst>
                <a:ext uri="{FF2B5EF4-FFF2-40B4-BE49-F238E27FC236}">
                  <a16:creationId xmlns:a16="http://schemas.microsoft.com/office/drawing/2014/main" id="{F127C91A-2137-AE2D-AD9C-56BBCF0AD26D}"/>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Tree>
    <p:extLst>
      <p:ext uri="{BB962C8B-B14F-4D97-AF65-F5344CB8AC3E}">
        <p14:creationId xmlns:p14="http://schemas.microsoft.com/office/powerpoint/2010/main" val="1451326266"/>
      </p:ext>
    </p:extLst>
  </p:cSld>
  <p:clrMapOvr>
    <a:masterClrMapping/>
  </p:clrMapOvr>
  <p:transition spd="med"/>
</p:sldLayout>
</file>

<file path=ppt/slideLayouts/slideLayout112.xml><?xml version="1.0" encoding="utf-8"?>
<p:sldLayout xmlns:a="http://schemas.openxmlformats.org/drawingml/2006/main" xmlns:r="http://schemas.openxmlformats.org/officeDocument/2006/relationships" xmlns:p="http://schemas.openxmlformats.org/presentationml/2006/main" type="obj">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198" b="1" i="0">
                <a:solidFill>
                  <a:schemeClr val="bg1"/>
                </a:solidFill>
                <a:latin typeface="Arial"/>
                <a:cs typeface="Arial"/>
              </a:defRPr>
            </a:lvl1pPr>
          </a:lstStyle>
          <a:p>
            <a:endParaRPr/>
          </a:p>
        </p:txBody>
      </p:sp>
      <p:sp>
        <p:nvSpPr>
          <p:cNvPr id="3" name="Holder 3"/>
          <p:cNvSpPr>
            <a:spLocks noGrp="1"/>
          </p:cNvSpPr>
          <p:nvPr>
            <p:ph sz="half" idx="2"/>
          </p:nvPr>
        </p:nvSpPr>
        <p:spPr>
          <a:xfrm>
            <a:off x="609600" y="1577340"/>
            <a:ext cx="5303520" cy="661720"/>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278882" y="1577340"/>
            <a:ext cx="5303520" cy="661720"/>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9/20/2026</a:t>
            </a:fld>
            <a:endParaRPr lang="en-US"/>
          </a:p>
        </p:txBody>
      </p:sp>
      <p:sp>
        <p:nvSpPr>
          <p:cNvPr id="7" name="Holder 7"/>
          <p:cNvSpPr>
            <a:spLocks noGrp="1"/>
          </p:cNvSpPr>
          <p:nvPr>
            <p:ph type="sldNum" sz="quarter" idx="7"/>
          </p:nvPr>
        </p:nvSpPr>
        <p:spPr/>
        <p:txBody>
          <a:bodyPr lIns="0" tIns="0" rIns="0" bIns="0"/>
          <a:lstStyle>
            <a:lvl1pPr>
              <a:defRPr sz="800" b="0" i="0">
                <a:solidFill>
                  <a:srgbClr val="95958A"/>
                </a:solidFill>
                <a:latin typeface="Arial"/>
                <a:cs typeface="Arial"/>
              </a:defRPr>
            </a:lvl1pPr>
          </a:lstStyle>
          <a:p>
            <a:pPr marL="127559">
              <a:lnSpc>
                <a:spcPts val="919"/>
              </a:lnSpc>
            </a:pPr>
            <a:fld id="{81D60167-4931-47E6-BA6A-407CBD079E47}" type="slidenum">
              <a:rPr lang="en-US" spc="-50" smtClean="0">
                <a:solidFill>
                  <a:srgbClr val="717167"/>
                </a:solidFill>
              </a:rPr>
              <a:pPr marL="127559">
                <a:lnSpc>
                  <a:spcPts val="919"/>
                </a:lnSpc>
              </a:pPr>
              <a:t>‹#›</a:t>
            </a:fld>
            <a:endParaRPr lang="en-US" spc="-50">
              <a:solidFill>
                <a:srgbClr val="717167"/>
              </a:solidFill>
            </a:endParaRPr>
          </a:p>
        </p:txBody>
      </p:sp>
    </p:spTree>
    <p:extLst>
      <p:ext uri="{BB962C8B-B14F-4D97-AF65-F5344CB8AC3E}">
        <p14:creationId xmlns:p14="http://schemas.microsoft.com/office/powerpoint/2010/main" val="101960001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DF9E33-76EC-42FE-85A2-0A84B74FC080}"/>
              </a:ext>
            </a:extLst>
          </p:cNvPr>
          <p:cNvSpPr>
            <a:spLocks noGrp="1"/>
          </p:cNvSpPr>
          <p:nvPr>
            <p:ph type="title"/>
          </p:nvPr>
        </p:nvSpPr>
        <p:spPr>
          <a:xfrm>
            <a:off x="838420" y="365128"/>
            <a:ext cx="10515163" cy="1325563"/>
          </a:xfrm>
          <a:prstGeom prst="rect">
            <a:avLst/>
          </a:prstGeom>
        </p:spPr>
        <p:txBody>
          <a:bodyPr/>
          <a:lstStyle/>
          <a:p>
            <a:r>
              <a:rPr lang="en-US"/>
              <a:t>Click to edit Master title style</a:t>
            </a:r>
          </a:p>
        </p:txBody>
      </p:sp>
      <p:sp>
        <p:nvSpPr>
          <p:cNvPr id="3" name="Content Placeholder 2">
            <a:extLst>
              <a:ext uri="{FF2B5EF4-FFF2-40B4-BE49-F238E27FC236}">
                <a16:creationId xmlns:a16="http://schemas.microsoft.com/office/drawing/2014/main" id="{09B49BFD-0C5D-4BC5-B0D3-41635FD36564}"/>
              </a:ext>
            </a:extLst>
          </p:cNvPr>
          <p:cNvSpPr>
            <a:spLocks noGrp="1"/>
          </p:cNvSpPr>
          <p:nvPr>
            <p:ph idx="1"/>
          </p:nvPr>
        </p:nvSpPr>
        <p:spPr>
          <a:xfrm>
            <a:off x="838420" y="1825625"/>
            <a:ext cx="10515163"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95FE047A-00F5-4BFA-85D2-F5F0989E2A2A}"/>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029204859"/>
      </p:ext>
    </p:extLst>
  </p:cSld>
  <p:clrMapOvr>
    <a:masterClrMapping/>
  </p:clrMapOvr>
  <p:transition spd="med"/>
</p:sldLayout>
</file>

<file path=ppt/slideLayouts/slideLayout114.xml><?xml version="1.0" encoding="utf-8"?>
<p:sldLayout xmlns:a="http://schemas.openxmlformats.org/drawingml/2006/main" xmlns:r="http://schemas.openxmlformats.org/officeDocument/2006/relationships" xmlns:p="http://schemas.openxmlformats.org/presentationml/2006/main">
  <p:cSld name="Opening Title">
    <p:bg>
      <p:bgRef idx="1001">
        <a:schemeClr val="bg2"/>
      </p:bgRef>
    </p:bg>
    <p:spTree>
      <p:nvGrpSpPr>
        <p:cNvPr id="1" name=""/>
        <p:cNvGrpSpPr/>
        <p:nvPr/>
      </p:nvGrpSpPr>
      <p:grpSpPr>
        <a:xfrm>
          <a:off x="0" y="0"/>
          <a:ext cx="0" cy="0"/>
          <a:chOff x="0" y="0"/>
          <a:chExt cx="0" cy="0"/>
        </a:xfrm>
      </p:grpSpPr>
      <p:sp>
        <p:nvSpPr>
          <p:cNvPr id="302" name="Parallelogram 4">
            <a:extLst>
              <a:ext uri="{FF2B5EF4-FFF2-40B4-BE49-F238E27FC236}">
                <a16:creationId xmlns:a16="http://schemas.microsoft.com/office/drawing/2014/main" id="{1DE7D695-B76D-4140-81DB-C4EFCDF1A78D}"/>
              </a:ext>
            </a:extLst>
          </p:cNvPr>
          <p:cNvSpPr/>
          <p:nvPr/>
        </p:nvSpPr>
        <p:spPr>
          <a:xfrm>
            <a:off x="-41796" y="2598827"/>
            <a:ext cx="6683228" cy="13909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398"/>
          </a:p>
        </p:txBody>
      </p:sp>
      <p:sp>
        <p:nvSpPr>
          <p:cNvPr id="303" name="Text Placeholder 14">
            <a:extLst>
              <a:ext uri="{FF2B5EF4-FFF2-40B4-BE49-F238E27FC236}">
                <a16:creationId xmlns:a16="http://schemas.microsoft.com/office/drawing/2014/main" id="{5523E11E-8FE0-4348-B863-F4C3C455ECF4}"/>
              </a:ext>
            </a:extLst>
          </p:cNvPr>
          <p:cNvSpPr>
            <a:spLocks noGrp="1"/>
          </p:cNvSpPr>
          <p:nvPr>
            <p:ph type="body" sz="quarter" idx="11"/>
          </p:nvPr>
        </p:nvSpPr>
        <p:spPr>
          <a:xfrm>
            <a:off x="701675" y="2935710"/>
            <a:ext cx="5827462" cy="1054104"/>
          </a:xfrm>
        </p:spPr>
        <p:txBody>
          <a:bodyPr>
            <a:noAutofit/>
          </a:bodyPr>
          <a:lstStyle>
            <a:lvl1pPr marL="0" indent="0">
              <a:buNone/>
              <a:defRPr sz="2998">
                <a:solidFill>
                  <a:schemeClr val="tx1"/>
                </a:solidFill>
                <a:latin typeface="Maison Neue Medium" panose="020B0604040000000000" pitchFamily="34" charset="0"/>
              </a:defRPr>
            </a:lvl1pPr>
            <a:lvl2pPr>
              <a:defRPr sz="3798">
                <a:solidFill>
                  <a:schemeClr val="bg2"/>
                </a:solidFill>
                <a:latin typeface="Lato Light" panose="020F0302020204030203" pitchFamily="34" charset="0"/>
              </a:defRPr>
            </a:lvl2pPr>
            <a:lvl3pPr>
              <a:defRPr sz="3798">
                <a:solidFill>
                  <a:schemeClr val="bg2"/>
                </a:solidFill>
                <a:latin typeface="Lato Light" panose="020F0302020204030203" pitchFamily="34" charset="0"/>
              </a:defRPr>
            </a:lvl3pPr>
            <a:lvl4pPr>
              <a:defRPr sz="3798">
                <a:solidFill>
                  <a:schemeClr val="bg2"/>
                </a:solidFill>
                <a:latin typeface="Lato Light" panose="020F0302020204030203" pitchFamily="34" charset="0"/>
              </a:defRPr>
            </a:lvl4pPr>
            <a:lvl5pPr>
              <a:defRPr sz="3798">
                <a:solidFill>
                  <a:schemeClr val="bg2"/>
                </a:solidFill>
                <a:latin typeface="Lato Light" panose="020F0302020204030203" pitchFamily="34" charset="0"/>
              </a:defRPr>
            </a:lvl5pPr>
          </a:lstStyle>
          <a:p>
            <a:pPr lvl="0"/>
            <a:r>
              <a:rPr lang="en-US"/>
              <a:t>Click to edit Master text styles</a:t>
            </a:r>
          </a:p>
        </p:txBody>
      </p:sp>
      <p:sp>
        <p:nvSpPr>
          <p:cNvPr id="304" name="Text Placeholder 16">
            <a:extLst>
              <a:ext uri="{FF2B5EF4-FFF2-40B4-BE49-F238E27FC236}">
                <a16:creationId xmlns:a16="http://schemas.microsoft.com/office/drawing/2014/main" id="{1B881EF9-ADAA-4128-9869-138E030BEDDD}"/>
              </a:ext>
            </a:extLst>
          </p:cNvPr>
          <p:cNvSpPr>
            <a:spLocks noGrp="1"/>
          </p:cNvSpPr>
          <p:nvPr>
            <p:ph type="body" sz="quarter" idx="12"/>
          </p:nvPr>
        </p:nvSpPr>
        <p:spPr>
          <a:xfrm>
            <a:off x="701677" y="4194533"/>
            <a:ext cx="5025357" cy="441636"/>
          </a:xfrm>
        </p:spPr>
        <p:txBody>
          <a:bodyPr anchor="ctr">
            <a:noAutofit/>
          </a:bodyPr>
          <a:lstStyle>
            <a:lvl1pPr marL="0" indent="0">
              <a:buNone/>
              <a:defRPr sz="1500">
                <a:solidFill>
                  <a:schemeClr val="tx1"/>
                </a:solidFill>
                <a:latin typeface="+mn-lt"/>
              </a:defRPr>
            </a:lvl1pPr>
            <a:lvl2pPr>
              <a:defRPr sz="2198">
                <a:solidFill>
                  <a:schemeClr val="bg2"/>
                </a:solidFill>
                <a:latin typeface="Lato Light" panose="020F0302020204030203" pitchFamily="34" charset="0"/>
              </a:defRPr>
            </a:lvl2pPr>
            <a:lvl3pPr>
              <a:defRPr sz="2198">
                <a:solidFill>
                  <a:schemeClr val="bg2"/>
                </a:solidFill>
                <a:latin typeface="Lato Light" panose="020F0302020204030203" pitchFamily="34" charset="0"/>
              </a:defRPr>
            </a:lvl3pPr>
            <a:lvl4pPr>
              <a:defRPr sz="2198">
                <a:solidFill>
                  <a:schemeClr val="bg2"/>
                </a:solidFill>
                <a:latin typeface="Lato Light" panose="020F0302020204030203" pitchFamily="34" charset="0"/>
              </a:defRPr>
            </a:lvl4pPr>
            <a:lvl5pPr>
              <a:defRPr sz="2198">
                <a:solidFill>
                  <a:schemeClr val="bg2"/>
                </a:solidFill>
                <a:latin typeface="Lato Light" panose="020F0302020204030203" pitchFamily="34" charset="0"/>
              </a:defRPr>
            </a:lvl5pPr>
          </a:lstStyle>
          <a:p>
            <a:pPr lvl="0"/>
            <a:r>
              <a:rPr lang="en-US"/>
              <a:t>Click to edit Master text styles</a:t>
            </a:r>
          </a:p>
        </p:txBody>
      </p:sp>
      <p:pic>
        <p:nvPicPr>
          <p:cNvPr id="306" name="Picture 305">
            <a:extLst>
              <a:ext uri="{FF2B5EF4-FFF2-40B4-BE49-F238E27FC236}">
                <a16:creationId xmlns:a16="http://schemas.microsoft.com/office/drawing/2014/main" id="{726B7FE5-4214-4F29-98E5-4DFC0434509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3821" y="1455153"/>
            <a:ext cx="2142358" cy="664442"/>
          </a:xfrm>
          <a:prstGeom prst="rect">
            <a:avLst/>
          </a:prstGeom>
        </p:spPr>
      </p:pic>
      <p:sp>
        <p:nvSpPr>
          <p:cNvPr id="307" name="Text Placeholder 16">
            <a:extLst>
              <a:ext uri="{FF2B5EF4-FFF2-40B4-BE49-F238E27FC236}">
                <a16:creationId xmlns:a16="http://schemas.microsoft.com/office/drawing/2014/main" id="{3558E73A-F7BE-4DAE-AD9A-79AB8B9A04F4}"/>
              </a:ext>
            </a:extLst>
          </p:cNvPr>
          <p:cNvSpPr>
            <a:spLocks noGrp="1"/>
          </p:cNvSpPr>
          <p:nvPr>
            <p:ph type="body" sz="quarter" idx="13"/>
          </p:nvPr>
        </p:nvSpPr>
        <p:spPr>
          <a:xfrm>
            <a:off x="701677" y="4518054"/>
            <a:ext cx="5025357" cy="441636"/>
          </a:xfrm>
        </p:spPr>
        <p:txBody>
          <a:bodyPr anchor="ctr">
            <a:noAutofit/>
          </a:bodyPr>
          <a:lstStyle>
            <a:lvl1pPr marL="0" indent="0">
              <a:buNone/>
              <a:defRPr sz="1500">
                <a:solidFill>
                  <a:schemeClr val="tx1"/>
                </a:solidFill>
                <a:latin typeface="+mn-lt"/>
              </a:defRPr>
            </a:lvl1pPr>
            <a:lvl2pPr>
              <a:defRPr sz="2198">
                <a:solidFill>
                  <a:schemeClr val="bg2"/>
                </a:solidFill>
                <a:latin typeface="Lato Light" panose="020F0302020204030203" pitchFamily="34" charset="0"/>
              </a:defRPr>
            </a:lvl2pPr>
            <a:lvl3pPr>
              <a:defRPr sz="2198">
                <a:solidFill>
                  <a:schemeClr val="bg2"/>
                </a:solidFill>
                <a:latin typeface="Lato Light" panose="020F0302020204030203" pitchFamily="34" charset="0"/>
              </a:defRPr>
            </a:lvl3pPr>
            <a:lvl4pPr>
              <a:defRPr sz="2198">
                <a:solidFill>
                  <a:schemeClr val="bg2"/>
                </a:solidFill>
                <a:latin typeface="Lato Light" panose="020F0302020204030203" pitchFamily="34" charset="0"/>
              </a:defRPr>
            </a:lvl4pPr>
            <a:lvl5pPr>
              <a:defRPr sz="2198">
                <a:solidFill>
                  <a:schemeClr val="bg2"/>
                </a:solidFill>
                <a:latin typeface="Lato Light" panose="020F0302020204030203" pitchFamily="34" charset="0"/>
              </a:defRPr>
            </a:lvl5pPr>
          </a:lstStyle>
          <a:p>
            <a:pPr lvl="0"/>
            <a:r>
              <a:rPr lang="en-US"/>
              <a:t>Click to edit Master text styles</a:t>
            </a:r>
          </a:p>
        </p:txBody>
      </p:sp>
      <p:pic>
        <p:nvPicPr>
          <p:cNvPr id="308" name="Picture 307" descr="Diagram, engineering drawing&#10;&#10;Description automatically generated">
            <a:extLst>
              <a:ext uri="{FF2B5EF4-FFF2-40B4-BE49-F238E27FC236}">
                <a16:creationId xmlns:a16="http://schemas.microsoft.com/office/drawing/2014/main" id="{4F18BE19-F6F9-4CBE-A045-35EDE4418667}"/>
              </a:ext>
            </a:extLst>
          </p:cNvPr>
          <p:cNvPicPr>
            <a:picLocks noChangeAspect="1"/>
          </p:cNvPicPr>
          <p:nvPr/>
        </p:nvPicPr>
        <p:blipFill rotWithShape="1">
          <a:blip r:embed="rId3">
            <a:extLst>
              <a:ext uri="{28A0092B-C50C-407E-A947-70E740481C1C}">
                <a14:useLocalDpi xmlns:a14="http://schemas.microsoft.com/office/drawing/2010/main" val="0"/>
              </a:ext>
            </a:extLst>
          </a:blip>
          <a:srcRect r="5066" b="14404"/>
          <a:stretch/>
        </p:blipFill>
        <p:spPr>
          <a:xfrm>
            <a:off x="4465491" y="3186634"/>
            <a:ext cx="7726510" cy="3673744"/>
          </a:xfrm>
          <a:prstGeom prst="rect">
            <a:avLst/>
          </a:prstGeom>
        </p:spPr>
      </p:pic>
    </p:spTree>
    <p:extLst>
      <p:ext uri="{BB962C8B-B14F-4D97-AF65-F5344CB8AC3E}">
        <p14:creationId xmlns:p14="http://schemas.microsoft.com/office/powerpoint/2010/main" val="216853529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userDrawn="1">
  <p:cSld name="Agenda">
    <p:spTree>
      <p:nvGrpSpPr>
        <p:cNvPr id="1" name=""/>
        <p:cNvGrpSpPr/>
        <p:nvPr/>
      </p:nvGrpSpPr>
      <p:grpSpPr>
        <a:xfrm>
          <a:off x="0" y="0"/>
          <a:ext cx="0" cy="0"/>
          <a:chOff x="0" y="0"/>
          <a:chExt cx="0" cy="0"/>
        </a:xfrm>
      </p:grpSpPr>
      <p:sp>
        <p:nvSpPr>
          <p:cNvPr id="140" name="Text Placeholder 139"/>
          <p:cNvSpPr>
            <a:spLocks noGrp="1"/>
          </p:cNvSpPr>
          <p:nvPr>
            <p:ph type="body" sz="quarter" idx="14"/>
          </p:nvPr>
        </p:nvSpPr>
        <p:spPr>
          <a:xfrm>
            <a:off x="642938" y="1674813"/>
            <a:ext cx="4329112" cy="3925887"/>
          </a:xfrm>
          <a:prstGeom prst="rect">
            <a:avLst/>
          </a:prstGeom>
        </p:spPr>
        <p:txBody>
          <a:bodyPr/>
          <a:lstStyle>
            <a:lvl1pPr marL="228462" indent="-228462">
              <a:lnSpc>
                <a:spcPct val="150000"/>
              </a:lnSpc>
              <a:spcBef>
                <a:spcPts val="0"/>
              </a:spcBef>
              <a:spcAft>
                <a:spcPts val="600"/>
              </a:spcAft>
              <a:buFont typeface="Courier New" panose="02070309020205020404" pitchFamily="49" charset="0"/>
              <a:buChar char="o"/>
              <a:defRPr sz="1600">
                <a:solidFill>
                  <a:schemeClr val="tx1">
                    <a:lumMod val="60000"/>
                    <a:lumOff val="40000"/>
                  </a:schemeClr>
                </a:solidFill>
                <a:latin typeface="Maison Neue Medium" panose="020B0604040000000000" pitchFamily="34" charset="0"/>
              </a:defRPr>
            </a:lvl1pPr>
            <a:lvl2pPr marL="685388" indent="-228462">
              <a:buFont typeface="Courier New" panose="02070309020205020404" pitchFamily="49" charset="0"/>
              <a:buChar char="o"/>
              <a:defRPr sz="1500">
                <a:solidFill>
                  <a:schemeClr val="tx1">
                    <a:lumMod val="60000"/>
                    <a:lumOff val="40000"/>
                  </a:schemeClr>
                </a:solidFill>
                <a:latin typeface="Maison Neue Medium" panose="020B0604040000000000" pitchFamily="34" charset="0"/>
              </a:defRPr>
            </a:lvl2pPr>
            <a:lvl3pPr marL="1142314" indent="-228462">
              <a:buFont typeface="Courier New" panose="02070309020205020404" pitchFamily="49" charset="0"/>
              <a:buChar char="o"/>
              <a:defRPr sz="1400">
                <a:solidFill>
                  <a:schemeClr val="tx1">
                    <a:lumMod val="60000"/>
                    <a:lumOff val="40000"/>
                  </a:schemeClr>
                </a:solidFill>
                <a:latin typeface="Maison Neue Medium" panose="020B0604040000000000" pitchFamily="34" charset="0"/>
              </a:defRPr>
            </a:lvl3pPr>
            <a:lvl4pPr marL="1599240" indent="-228462">
              <a:buFont typeface="Courier New" panose="02070309020205020404" pitchFamily="49" charset="0"/>
              <a:buChar char="o"/>
              <a:defRPr sz="1300">
                <a:solidFill>
                  <a:schemeClr val="tx1">
                    <a:lumMod val="60000"/>
                    <a:lumOff val="40000"/>
                  </a:schemeClr>
                </a:solidFill>
                <a:latin typeface="Maison Neue Medium" panose="020B0604040000000000" pitchFamily="34" charset="0"/>
              </a:defRPr>
            </a:lvl4pPr>
            <a:lvl5pPr marL="2056166" indent="-228462">
              <a:buFont typeface="Courier New" panose="02070309020205020404" pitchFamily="49" charset="0"/>
              <a:buChar char="o"/>
              <a:defRPr sz="1200">
                <a:solidFill>
                  <a:schemeClr val="tx1">
                    <a:lumMod val="60000"/>
                    <a:lumOff val="40000"/>
                  </a:schemeClr>
                </a:solidFill>
                <a:latin typeface="Maison Neue Medium" panose="020B0604040000000000" pitchFamily="34"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41" name="Text Placeholder 139"/>
          <p:cNvSpPr>
            <a:spLocks noGrp="1"/>
          </p:cNvSpPr>
          <p:nvPr>
            <p:ph type="body" sz="quarter" idx="15"/>
          </p:nvPr>
        </p:nvSpPr>
        <p:spPr>
          <a:xfrm>
            <a:off x="5213247" y="1674813"/>
            <a:ext cx="4329112" cy="3925887"/>
          </a:xfrm>
          <a:prstGeom prst="rect">
            <a:avLst/>
          </a:prstGeom>
        </p:spPr>
        <p:txBody>
          <a:bodyPr/>
          <a:lstStyle>
            <a:lvl1pPr marL="0" indent="0">
              <a:lnSpc>
                <a:spcPct val="150000"/>
              </a:lnSpc>
              <a:spcBef>
                <a:spcPts val="0"/>
              </a:spcBef>
              <a:spcAft>
                <a:spcPts val="600"/>
              </a:spcAft>
              <a:buFontTx/>
              <a:buNone/>
              <a:defRPr sz="1600">
                <a:solidFill>
                  <a:schemeClr val="accent1"/>
                </a:solidFill>
                <a:latin typeface="Maison Neue Medium" panose="020B0604040000000000" pitchFamily="34" charset="0"/>
              </a:defRPr>
            </a:lvl1pPr>
            <a:lvl2pPr marL="456926" indent="0">
              <a:buFontTx/>
              <a:buNone/>
              <a:defRPr sz="1500">
                <a:solidFill>
                  <a:schemeClr val="accent1"/>
                </a:solidFill>
                <a:latin typeface="Maison Neue Medium" panose="020B0604040000000000" pitchFamily="34" charset="0"/>
              </a:defRPr>
            </a:lvl2pPr>
            <a:lvl3pPr marL="913852" indent="0">
              <a:buFontTx/>
              <a:buNone/>
              <a:defRPr sz="1400">
                <a:solidFill>
                  <a:schemeClr val="accent1"/>
                </a:solidFill>
                <a:latin typeface="Maison Neue Medium" panose="020B0604040000000000" pitchFamily="34" charset="0"/>
              </a:defRPr>
            </a:lvl3pPr>
            <a:lvl4pPr marL="1370778" indent="0">
              <a:buFontTx/>
              <a:buNone/>
              <a:defRPr sz="1300">
                <a:solidFill>
                  <a:schemeClr val="accent1"/>
                </a:solidFill>
                <a:latin typeface="Maison Neue Medium" panose="020B0604040000000000" pitchFamily="34" charset="0"/>
              </a:defRPr>
            </a:lvl4pPr>
            <a:lvl5pPr marL="1827703" indent="0">
              <a:buFontTx/>
              <a:buNone/>
              <a:defRPr sz="1200">
                <a:solidFill>
                  <a:schemeClr val="accent1"/>
                </a:solidFill>
                <a:latin typeface="Maison Neue Medium" panose="020B0604040000000000" pitchFamily="34" charset="0"/>
              </a:defRPr>
            </a:lvl5pPr>
          </a:lstStyle>
          <a:p>
            <a:pPr lvl="0"/>
            <a:r>
              <a:rPr lang="en-US"/>
              <a:t>Edit Master text styles</a:t>
            </a:r>
          </a:p>
        </p:txBody>
      </p:sp>
      <p:sp>
        <p:nvSpPr>
          <p:cNvPr id="142" name="Title 1"/>
          <p:cNvSpPr>
            <a:spLocks noGrp="1"/>
          </p:cNvSpPr>
          <p:nvPr>
            <p:ph type="ctrTitle" hasCustomPrompt="1"/>
          </p:nvPr>
        </p:nvSpPr>
        <p:spPr>
          <a:xfrm>
            <a:off x="643051" y="410884"/>
            <a:ext cx="7157527" cy="490457"/>
          </a:xfrm>
          <a:prstGeom prst="rect">
            <a:avLst/>
          </a:prstGeom>
        </p:spPr>
        <p:txBody>
          <a:bodyPr wrap="square" anchor="t" anchorCtr="0">
            <a:noAutofit/>
          </a:bodyPr>
          <a:lstStyle>
            <a:lvl1pPr algn="l">
              <a:lnSpc>
                <a:spcPct val="90000"/>
              </a:lnSpc>
              <a:defRPr sz="2998" b="0" i="0">
                <a:solidFill>
                  <a:schemeClr val="tx1">
                    <a:lumMod val="85000"/>
                    <a:lumOff val="15000"/>
                  </a:schemeClr>
                </a:solidFill>
                <a:latin typeface="Maison Neue Bold" panose="020B0804040000000000" pitchFamily="34" charset="0"/>
                <a:ea typeface="Gulim" pitchFamily="34" charset="-127"/>
              </a:defRPr>
            </a:lvl1pPr>
          </a:lstStyle>
          <a:p>
            <a:r>
              <a:rPr lang="en-US"/>
              <a:t>Agenda</a:t>
            </a:r>
          </a:p>
        </p:txBody>
      </p:sp>
      <p:sp>
        <p:nvSpPr>
          <p:cNvPr id="143" name="Text Placeholder 8"/>
          <p:cNvSpPr>
            <a:spLocks noGrp="1"/>
          </p:cNvSpPr>
          <p:nvPr>
            <p:ph type="body" sz="quarter" idx="32" hasCustomPrompt="1"/>
          </p:nvPr>
        </p:nvSpPr>
        <p:spPr>
          <a:xfrm>
            <a:off x="643049" y="884768"/>
            <a:ext cx="5821166" cy="240851"/>
          </a:xfrm>
          <a:prstGeom prst="rect">
            <a:avLst/>
          </a:prstGeom>
          <a:noFill/>
          <a:ln>
            <a:noFill/>
          </a:ln>
        </p:spPr>
        <p:txBody>
          <a:bodyPr anchor="ctr">
            <a:noAutofit/>
          </a:bodyPr>
          <a:lstStyle>
            <a:lvl1pPr marL="0" indent="0" algn="l">
              <a:lnSpc>
                <a:spcPct val="90000"/>
              </a:lnSpc>
              <a:spcBef>
                <a:spcPts val="1200"/>
              </a:spcBef>
              <a:buNone/>
              <a:defRPr sz="1350" b="0" i="0" baseline="0">
                <a:solidFill>
                  <a:schemeClr val="bg1">
                    <a:lumMod val="50000"/>
                  </a:schemeClr>
                </a:solidFill>
                <a:latin typeface="+mn-lt"/>
              </a:defRPr>
            </a:lvl1pPr>
          </a:lstStyle>
          <a:p>
            <a:pPr lvl="0"/>
            <a:r>
              <a:rPr lang="id-ID"/>
              <a:t>Lorem Ipsum Dolor sit Amet</a:t>
            </a:r>
            <a:endParaRPr lang="en-US"/>
          </a:p>
        </p:txBody>
      </p:sp>
      <p:pic>
        <p:nvPicPr>
          <p:cNvPr id="135" name="Picture 134" descr="A picture containing circuit&#10;&#10;Description automatically generated">
            <a:extLst>
              <a:ext uri="{FF2B5EF4-FFF2-40B4-BE49-F238E27FC236}">
                <a16:creationId xmlns:a16="http://schemas.microsoft.com/office/drawing/2014/main" id="{2430B58D-04AC-4D05-ABDC-BA7FEFFEE3F6}"/>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t="10319" r="6074"/>
          <a:stretch/>
        </p:blipFill>
        <p:spPr>
          <a:xfrm>
            <a:off x="6025067" y="4"/>
            <a:ext cx="6178612" cy="2531409"/>
          </a:xfrm>
          <a:prstGeom prst="rect">
            <a:avLst/>
          </a:prstGeom>
        </p:spPr>
      </p:pic>
    </p:spTree>
    <p:extLst>
      <p:ext uri="{BB962C8B-B14F-4D97-AF65-F5344CB8AC3E}">
        <p14:creationId xmlns:p14="http://schemas.microsoft.com/office/powerpoint/2010/main" val="586917931"/>
      </p:ext>
    </p:extLst>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p:cSld name="Blank Background_logo">
    <p:spTree>
      <p:nvGrpSpPr>
        <p:cNvPr id="1" name=""/>
        <p:cNvGrpSpPr/>
        <p:nvPr/>
      </p:nvGrpSpPr>
      <p:grpSpPr>
        <a:xfrm>
          <a:off x="0" y="0"/>
          <a:ext cx="0" cy="0"/>
          <a:chOff x="0" y="0"/>
          <a:chExt cx="0" cy="0"/>
        </a:xfrm>
      </p:grpSpPr>
    </p:spTree>
    <p:extLst>
      <p:ext uri="{BB962C8B-B14F-4D97-AF65-F5344CB8AC3E}">
        <p14:creationId xmlns:p14="http://schemas.microsoft.com/office/powerpoint/2010/main" val="281275879"/>
      </p:ext>
    </p:extLst>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hf sldNum="0" hdr="0" dt="0"/>
</p:sldLayout>
</file>

<file path=ppt/slideLayouts/slideLayout117.xml><?xml version="1.0" encoding="utf-8"?>
<p:sldLayout xmlns:a="http://schemas.openxmlformats.org/drawingml/2006/main" xmlns:r="http://schemas.openxmlformats.org/officeDocument/2006/relationships" xmlns:p="http://schemas.openxmlformats.org/presentationml/2006/main">
  <p:cSld name="Title and Content dark grey">
    <p:bg>
      <p:bgPr>
        <a:solidFill>
          <a:schemeClr val="accent4"/>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E6BB52B-0C5D-4023-89D5-282E9A520223}"/>
              </a:ext>
            </a:extLst>
          </p:cNvPr>
          <p:cNvSpPr>
            <a:spLocks noGrp="1"/>
          </p:cNvSpPr>
          <p:nvPr>
            <p:ph type="title"/>
          </p:nvPr>
        </p:nvSpPr>
        <p:spPr/>
        <p:txBody>
          <a:bodyPr/>
          <a:lstStyle>
            <a:lvl1pPr>
              <a:defRPr>
                <a:solidFill>
                  <a:schemeClr val="bg1"/>
                </a:solidFill>
              </a:defRPr>
            </a:lvl1pPr>
          </a:lstStyle>
          <a:p>
            <a:r>
              <a:rPr lang="en-US"/>
              <a:t>Click to edit Master title style</a:t>
            </a:r>
            <a:endParaRPr lang="de-DE"/>
          </a:p>
        </p:txBody>
      </p:sp>
      <p:sp>
        <p:nvSpPr>
          <p:cNvPr id="10" name="Espace réservé du texte 9">
            <a:extLst>
              <a:ext uri="{FF2B5EF4-FFF2-40B4-BE49-F238E27FC236}">
                <a16:creationId xmlns:a16="http://schemas.microsoft.com/office/drawing/2014/main" id="{0850DA69-657E-41C3-B340-B16C354CA1D0}"/>
              </a:ext>
            </a:extLst>
          </p:cNvPr>
          <p:cNvSpPr>
            <a:spLocks noGrp="1"/>
          </p:cNvSpPr>
          <p:nvPr>
            <p:ph type="body" sz="quarter" idx="10"/>
          </p:nvPr>
        </p:nvSpPr>
        <p:spPr>
          <a:xfrm>
            <a:off x="404815" y="1447804"/>
            <a:ext cx="11406187" cy="4951413"/>
          </a:xfrm>
        </p:spPr>
        <p:txBody>
          <a:bodyPr/>
          <a:lstStyle>
            <a:lvl1pPr>
              <a:defRPr>
                <a:solidFill>
                  <a:schemeClr val="bg1"/>
                </a:solidFill>
              </a:defRPr>
            </a:lvl1pPr>
            <a:lvl2pPr>
              <a:defRPr>
                <a:solidFill>
                  <a:schemeClr val="bg1"/>
                </a:solidFill>
              </a:defRPr>
            </a:lvl2pPr>
            <a:lvl3pPr>
              <a:defRPr>
                <a:solidFill>
                  <a:schemeClr val="bg1"/>
                </a:solidFill>
              </a:defRPr>
            </a:lvl3pPr>
            <a:lvl4pPr>
              <a:buClr>
                <a:schemeClr val="accent5"/>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e 1">
            <a:extLst>
              <a:ext uri="{FF2B5EF4-FFF2-40B4-BE49-F238E27FC236}">
                <a16:creationId xmlns:a16="http://schemas.microsoft.com/office/drawing/2014/main" id="{A74E45E1-B612-98A6-1681-1F3278D3174B}"/>
              </a:ext>
              <a:ext uri="{C183D7F6-B498-43B3-948B-1728B52AA6E4}">
                <adec:decorative xmlns:adec="http://schemas.microsoft.com/office/drawing/2017/decorative" val="1"/>
              </a:ext>
            </a:extLst>
          </p:cNvPr>
          <p:cNvGrpSpPr>
            <a:grpSpLocks noChangeAspect="1"/>
          </p:cNvGrpSpPr>
          <p:nvPr userDrawn="1"/>
        </p:nvGrpSpPr>
        <p:grpSpPr>
          <a:xfrm>
            <a:off x="11562165" y="205059"/>
            <a:ext cx="419436" cy="388988"/>
            <a:chOff x="11501102" y="171573"/>
            <a:chExt cx="419436" cy="388988"/>
          </a:xfrm>
        </p:grpSpPr>
        <p:sp>
          <p:nvSpPr>
            <p:cNvPr id="4" name="Freeform 13">
              <a:extLst>
                <a:ext uri="{FF2B5EF4-FFF2-40B4-BE49-F238E27FC236}">
                  <a16:creationId xmlns:a16="http://schemas.microsoft.com/office/drawing/2014/main" id="{920123ED-2444-850F-F966-7E96F6AA183F}"/>
                </a:ext>
              </a:extLst>
            </p:cNvPr>
            <p:cNvSpPr>
              <a:spLocks/>
            </p:cNvSpPr>
            <p:nvPr/>
          </p:nvSpPr>
          <p:spPr bwMode="auto">
            <a:xfrm>
              <a:off x="11644642" y="334376"/>
              <a:ext cx="275896" cy="226185"/>
            </a:xfrm>
            <a:custGeom>
              <a:avLst/>
              <a:gdLst/>
              <a:ahLst/>
              <a:cxnLst>
                <a:cxn ang="0">
                  <a:pos x="125" y="107"/>
                </a:cxn>
                <a:cxn ang="0">
                  <a:pos x="188" y="43"/>
                </a:cxn>
                <a:cxn ang="0">
                  <a:pos x="141" y="0"/>
                </a:cxn>
                <a:cxn ang="0">
                  <a:pos x="49" y="99"/>
                </a:cxn>
                <a:cxn ang="0">
                  <a:pos x="0" y="144"/>
                </a:cxn>
                <a:cxn ang="0">
                  <a:pos x="37" y="154"/>
                </a:cxn>
                <a:cxn ang="0">
                  <a:pos x="125" y="125"/>
                </a:cxn>
                <a:cxn ang="0">
                  <a:pos x="81" y="86"/>
                </a:cxn>
                <a:cxn ang="0">
                  <a:pos x="125" y="107"/>
                </a:cxn>
              </a:cxnLst>
              <a:rect l="0" t="0" r="r" b="b"/>
              <a:pathLst>
                <a:path w="188" h="154">
                  <a:moveTo>
                    <a:pt x="125" y="107"/>
                  </a:moveTo>
                  <a:cubicBezTo>
                    <a:pt x="160" y="107"/>
                    <a:pt x="188" y="78"/>
                    <a:pt x="188" y="43"/>
                  </a:cubicBezTo>
                  <a:cubicBezTo>
                    <a:pt x="186" y="28"/>
                    <a:pt x="181" y="0"/>
                    <a:pt x="141" y="0"/>
                  </a:cubicBezTo>
                  <a:cubicBezTo>
                    <a:pt x="99" y="0"/>
                    <a:pt x="84" y="60"/>
                    <a:pt x="49" y="99"/>
                  </a:cubicBezTo>
                  <a:cubicBezTo>
                    <a:pt x="47" y="121"/>
                    <a:pt x="26" y="140"/>
                    <a:pt x="0" y="144"/>
                  </a:cubicBezTo>
                  <a:cubicBezTo>
                    <a:pt x="6" y="150"/>
                    <a:pt x="20" y="154"/>
                    <a:pt x="37" y="154"/>
                  </a:cubicBezTo>
                  <a:cubicBezTo>
                    <a:pt x="68" y="154"/>
                    <a:pt x="106" y="145"/>
                    <a:pt x="125" y="125"/>
                  </a:cubicBezTo>
                  <a:cubicBezTo>
                    <a:pt x="99" y="126"/>
                    <a:pt x="82" y="109"/>
                    <a:pt x="81" y="86"/>
                  </a:cubicBezTo>
                  <a:cubicBezTo>
                    <a:pt x="93" y="101"/>
                    <a:pt x="108" y="107"/>
                    <a:pt x="125" y="107"/>
                  </a:cubicBezTo>
                </a:path>
              </a:pathLst>
            </a:custGeom>
            <a:solidFill>
              <a:srgbClr val="12ABDB"/>
            </a:solidFill>
            <a:ln w="9525">
              <a:noFill/>
              <a:round/>
              <a:headEnd/>
              <a:tailEnd/>
            </a:ln>
          </p:spPr>
          <p:txBody>
            <a:bodyPr vert="horz" wrap="square" lIns="91440" tIns="45720" rIns="91440" bIns="45720" numCol="1" anchor="t" anchorCtr="0" compatLnSpc="1">
              <a:prstTxWarp prst="textNoShape">
                <a:avLst/>
              </a:prstTxWarp>
            </a:bodyPr>
            <a:lstStyle/>
            <a:p>
              <a:endParaRPr lang="en-GB" sz="2398"/>
            </a:p>
          </p:txBody>
        </p:sp>
        <p:sp>
          <p:nvSpPr>
            <p:cNvPr id="5" name="Freeform 14">
              <a:extLst>
                <a:ext uri="{FF2B5EF4-FFF2-40B4-BE49-F238E27FC236}">
                  <a16:creationId xmlns:a16="http://schemas.microsoft.com/office/drawing/2014/main" id="{3A0260D5-B5E4-BAFF-9550-BB8643DD2AEA}"/>
                </a:ext>
              </a:extLst>
            </p:cNvPr>
            <p:cNvSpPr>
              <a:spLocks/>
            </p:cNvSpPr>
            <p:nvPr/>
          </p:nvSpPr>
          <p:spPr bwMode="auto">
            <a:xfrm>
              <a:off x="11501102" y="171573"/>
              <a:ext cx="419436" cy="356676"/>
            </a:xfrm>
            <a:custGeom>
              <a:avLst/>
              <a:gdLst/>
              <a:ahLst/>
              <a:cxnLst>
                <a:cxn ang="0">
                  <a:pos x="286" y="152"/>
                </a:cxn>
                <a:cxn ang="0">
                  <a:pos x="237" y="51"/>
                </a:cxn>
                <a:cxn ang="0">
                  <a:pos x="160" y="3"/>
                </a:cxn>
                <a:cxn ang="0">
                  <a:pos x="153" y="0"/>
                </a:cxn>
                <a:cxn ang="0">
                  <a:pos x="153" y="0"/>
                </a:cxn>
                <a:cxn ang="0">
                  <a:pos x="0" y="158"/>
                </a:cxn>
                <a:cxn ang="0">
                  <a:pos x="53" y="236"/>
                </a:cxn>
                <a:cxn ang="0">
                  <a:pos x="107" y="237"/>
                </a:cxn>
                <a:cxn ang="0">
                  <a:pos x="147" y="210"/>
                </a:cxn>
                <a:cxn ang="0">
                  <a:pos x="239" y="111"/>
                </a:cxn>
                <a:cxn ang="0">
                  <a:pos x="286" y="154"/>
                </a:cxn>
                <a:cxn ang="0">
                  <a:pos x="286" y="152"/>
                </a:cxn>
              </a:cxnLst>
              <a:rect l="0" t="0" r="r" b="b"/>
              <a:pathLst>
                <a:path w="286" h="243">
                  <a:moveTo>
                    <a:pt x="286" y="152"/>
                  </a:moveTo>
                  <a:cubicBezTo>
                    <a:pt x="286" y="112"/>
                    <a:pt x="266" y="78"/>
                    <a:pt x="237" y="51"/>
                  </a:cubicBezTo>
                  <a:cubicBezTo>
                    <a:pt x="215" y="30"/>
                    <a:pt x="188" y="15"/>
                    <a:pt x="160" y="3"/>
                  </a:cubicBezTo>
                  <a:cubicBezTo>
                    <a:pt x="158" y="2"/>
                    <a:pt x="156" y="1"/>
                    <a:pt x="153" y="0"/>
                  </a:cubicBezTo>
                  <a:cubicBezTo>
                    <a:pt x="153" y="0"/>
                    <a:pt x="153" y="0"/>
                    <a:pt x="153" y="0"/>
                  </a:cubicBezTo>
                  <a:cubicBezTo>
                    <a:pt x="119" y="41"/>
                    <a:pt x="0" y="72"/>
                    <a:pt x="0" y="158"/>
                  </a:cubicBezTo>
                  <a:cubicBezTo>
                    <a:pt x="0" y="192"/>
                    <a:pt x="21" y="224"/>
                    <a:pt x="53" y="236"/>
                  </a:cubicBezTo>
                  <a:cubicBezTo>
                    <a:pt x="71" y="243"/>
                    <a:pt x="89" y="243"/>
                    <a:pt x="107" y="237"/>
                  </a:cubicBezTo>
                  <a:cubicBezTo>
                    <a:pt x="123" y="232"/>
                    <a:pt x="136" y="222"/>
                    <a:pt x="147" y="210"/>
                  </a:cubicBezTo>
                  <a:cubicBezTo>
                    <a:pt x="182" y="171"/>
                    <a:pt x="197" y="111"/>
                    <a:pt x="239" y="111"/>
                  </a:cubicBezTo>
                  <a:cubicBezTo>
                    <a:pt x="279" y="111"/>
                    <a:pt x="284" y="139"/>
                    <a:pt x="286" y="154"/>
                  </a:cubicBezTo>
                  <a:cubicBezTo>
                    <a:pt x="286" y="154"/>
                    <a:pt x="286" y="153"/>
                    <a:pt x="286" y="152"/>
                  </a:cubicBezTo>
                </a:path>
              </a:pathLst>
            </a:custGeom>
            <a:solidFill>
              <a:srgbClr val="0070AD"/>
            </a:solidFill>
            <a:ln w="9525">
              <a:noFill/>
              <a:round/>
              <a:headEnd/>
              <a:tailEnd/>
            </a:ln>
          </p:spPr>
          <p:txBody>
            <a:bodyPr vert="horz" wrap="square" lIns="91440" tIns="45720" rIns="91440" bIns="45720" numCol="1" anchor="t" anchorCtr="0" compatLnSpc="1">
              <a:prstTxWarp prst="textNoShape">
                <a:avLst/>
              </a:prstTxWarp>
            </a:bodyPr>
            <a:lstStyle/>
            <a:p>
              <a:endParaRPr lang="en-GB" sz="2398"/>
            </a:p>
          </p:txBody>
        </p:sp>
      </p:grpSp>
    </p:spTree>
    <p:extLst>
      <p:ext uri="{BB962C8B-B14F-4D97-AF65-F5344CB8AC3E}">
        <p14:creationId xmlns:p14="http://schemas.microsoft.com/office/powerpoint/2010/main" val="3707910315"/>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1_Titre seul">
    <p:bg>
      <p:bgPr>
        <a:solidFill>
          <a:schemeClr val="accent4"/>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9" y="1592"/>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9" y="1592"/>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Espace réservé du texte 9">
            <a:extLst>
              <a:ext uri="{FF2B5EF4-FFF2-40B4-BE49-F238E27FC236}">
                <a16:creationId xmlns:a16="http://schemas.microsoft.com/office/drawing/2014/main" id="{0850DA69-657E-41C3-B340-B16C354CA1D0}"/>
              </a:ext>
            </a:extLst>
          </p:cNvPr>
          <p:cNvSpPr>
            <a:spLocks noGrp="1"/>
          </p:cNvSpPr>
          <p:nvPr>
            <p:ph type="body" sz="quarter" idx="10"/>
          </p:nvPr>
        </p:nvSpPr>
        <p:spPr>
          <a:xfrm>
            <a:off x="404815" y="1447804"/>
            <a:ext cx="11406187" cy="4951413"/>
          </a:xfrm>
        </p:spPr>
        <p:txBody>
          <a:bodyPr/>
          <a:lstStyle>
            <a:lvl1pPr>
              <a:defRPr>
                <a:solidFill>
                  <a:schemeClr val="bg1"/>
                </a:solidFill>
              </a:defRPr>
            </a:lvl1pPr>
            <a:lvl2pPr>
              <a:defRPr>
                <a:solidFill>
                  <a:schemeClr val="bg1"/>
                </a:solidFill>
              </a:defRPr>
            </a:lvl2pPr>
            <a:lvl3pPr>
              <a:defRPr>
                <a:solidFill>
                  <a:schemeClr val="bg1"/>
                </a:solidFill>
              </a:defRPr>
            </a:lvl3pPr>
            <a:lvl4pPr>
              <a:buClr>
                <a:schemeClr val="accent5"/>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2">
            <a:extLst>
              <a:ext uri="{FF2B5EF4-FFF2-40B4-BE49-F238E27FC236}">
                <a16:creationId xmlns:a16="http://schemas.microsoft.com/office/drawing/2014/main" id="{5E6BB52B-0C5D-4023-89D5-282E9A520223}"/>
              </a:ext>
            </a:extLst>
          </p:cNvPr>
          <p:cNvSpPr>
            <a:spLocks noGrp="1"/>
          </p:cNvSpPr>
          <p:nvPr>
            <p:ph type="title"/>
          </p:nvPr>
        </p:nvSpPr>
        <p:spPr/>
        <p:txBody>
          <a:bodyPr/>
          <a:lstStyle>
            <a:lvl1pPr>
              <a:defRPr sz="2398">
                <a:solidFill>
                  <a:schemeClr val="bg1"/>
                </a:solidFill>
              </a:defRPr>
            </a:lvl1pPr>
          </a:lstStyle>
          <a:p>
            <a:r>
              <a:rPr lang="en-US"/>
              <a:t>Click to edit Master title style</a:t>
            </a:r>
            <a:endParaRPr lang="de-DE"/>
          </a:p>
        </p:txBody>
      </p:sp>
      <p:grpSp>
        <p:nvGrpSpPr>
          <p:cNvPr id="2" name="Groupe 1">
            <a:extLst>
              <a:ext uri="{FF2B5EF4-FFF2-40B4-BE49-F238E27FC236}">
                <a16:creationId xmlns:a16="http://schemas.microsoft.com/office/drawing/2014/main" id="{E69A371A-2B47-7807-0FB1-D0EB1F7C396E}"/>
              </a:ext>
              <a:ext uri="{C183D7F6-B498-43B3-948B-1728B52AA6E4}">
                <adec:decorative xmlns:adec="http://schemas.microsoft.com/office/drawing/2017/decorative" val="1"/>
              </a:ext>
            </a:extLst>
          </p:cNvPr>
          <p:cNvGrpSpPr>
            <a:grpSpLocks noChangeAspect="1"/>
          </p:cNvGrpSpPr>
          <p:nvPr userDrawn="1"/>
        </p:nvGrpSpPr>
        <p:grpSpPr>
          <a:xfrm>
            <a:off x="11562165" y="205059"/>
            <a:ext cx="419436" cy="388988"/>
            <a:chOff x="11501102" y="171573"/>
            <a:chExt cx="419436" cy="388988"/>
          </a:xfrm>
        </p:grpSpPr>
        <p:sp>
          <p:nvSpPr>
            <p:cNvPr id="4" name="Freeform 13">
              <a:extLst>
                <a:ext uri="{FF2B5EF4-FFF2-40B4-BE49-F238E27FC236}">
                  <a16:creationId xmlns:a16="http://schemas.microsoft.com/office/drawing/2014/main" id="{F5F02195-7B28-F2E4-213C-3C5062008FD5}"/>
                </a:ext>
              </a:extLst>
            </p:cNvPr>
            <p:cNvSpPr>
              <a:spLocks/>
            </p:cNvSpPr>
            <p:nvPr/>
          </p:nvSpPr>
          <p:spPr bwMode="auto">
            <a:xfrm>
              <a:off x="11644642" y="334376"/>
              <a:ext cx="275896" cy="226185"/>
            </a:xfrm>
            <a:custGeom>
              <a:avLst/>
              <a:gdLst/>
              <a:ahLst/>
              <a:cxnLst>
                <a:cxn ang="0">
                  <a:pos x="125" y="107"/>
                </a:cxn>
                <a:cxn ang="0">
                  <a:pos x="188" y="43"/>
                </a:cxn>
                <a:cxn ang="0">
                  <a:pos x="141" y="0"/>
                </a:cxn>
                <a:cxn ang="0">
                  <a:pos x="49" y="99"/>
                </a:cxn>
                <a:cxn ang="0">
                  <a:pos x="0" y="144"/>
                </a:cxn>
                <a:cxn ang="0">
                  <a:pos x="37" y="154"/>
                </a:cxn>
                <a:cxn ang="0">
                  <a:pos x="125" y="125"/>
                </a:cxn>
                <a:cxn ang="0">
                  <a:pos x="81" y="86"/>
                </a:cxn>
                <a:cxn ang="0">
                  <a:pos x="125" y="107"/>
                </a:cxn>
              </a:cxnLst>
              <a:rect l="0" t="0" r="r" b="b"/>
              <a:pathLst>
                <a:path w="188" h="154">
                  <a:moveTo>
                    <a:pt x="125" y="107"/>
                  </a:moveTo>
                  <a:cubicBezTo>
                    <a:pt x="160" y="107"/>
                    <a:pt x="188" y="78"/>
                    <a:pt x="188" y="43"/>
                  </a:cubicBezTo>
                  <a:cubicBezTo>
                    <a:pt x="186" y="28"/>
                    <a:pt x="181" y="0"/>
                    <a:pt x="141" y="0"/>
                  </a:cubicBezTo>
                  <a:cubicBezTo>
                    <a:pt x="99" y="0"/>
                    <a:pt x="84" y="60"/>
                    <a:pt x="49" y="99"/>
                  </a:cubicBezTo>
                  <a:cubicBezTo>
                    <a:pt x="47" y="121"/>
                    <a:pt x="26" y="140"/>
                    <a:pt x="0" y="144"/>
                  </a:cubicBezTo>
                  <a:cubicBezTo>
                    <a:pt x="6" y="150"/>
                    <a:pt x="20" y="154"/>
                    <a:pt x="37" y="154"/>
                  </a:cubicBezTo>
                  <a:cubicBezTo>
                    <a:pt x="68" y="154"/>
                    <a:pt x="106" y="145"/>
                    <a:pt x="125" y="125"/>
                  </a:cubicBezTo>
                  <a:cubicBezTo>
                    <a:pt x="99" y="126"/>
                    <a:pt x="82" y="109"/>
                    <a:pt x="81" y="86"/>
                  </a:cubicBezTo>
                  <a:cubicBezTo>
                    <a:pt x="93" y="101"/>
                    <a:pt x="108" y="107"/>
                    <a:pt x="125" y="107"/>
                  </a:cubicBezTo>
                </a:path>
              </a:pathLst>
            </a:custGeom>
            <a:solidFill>
              <a:srgbClr val="12ABDB"/>
            </a:solidFill>
            <a:ln w="9525">
              <a:noFill/>
              <a:round/>
              <a:headEnd/>
              <a:tailEnd/>
            </a:ln>
          </p:spPr>
          <p:txBody>
            <a:bodyPr vert="horz" wrap="square" lIns="91440" tIns="45720" rIns="91440" bIns="45720" numCol="1" anchor="t" anchorCtr="0" compatLnSpc="1">
              <a:prstTxWarp prst="textNoShape">
                <a:avLst/>
              </a:prstTxWarp>
            </a:bodyPr>
            <a:lstStyle/>
            <a:p>
              <a:endParaRPr lang="en-GB" sz="2398"/>
            </a:p>
          </p:txBody>
        </p:sp>
        <p:sp>
          <p:nvSpPr>
            <p:cNvPr id="6" name="Freeform 14">
              <a:extLst>
                <a:ext uri="{FF2B5EF4-FFF2-40B4-BE49-F238E27FC236}">
                  <a16:creationId xmlns:a16="http://schemas.microsoft.com/office/drawing/2014/main" id="{35F2E386-F59C-5022-D85D-1991688812A3}"/>
                </a:ext>
              </a:extLst>
            </p:cNvPr>
            <p:cNvSpPr>
              <a:spLocks/>
            </p:cNvSpPr>
            <p:nvPr/>
          </p:nvSpPr>
          <p:spPr bwMode="auto">
            <a:xfrm>
              <a:off x="11501102" y="171573"/>
              <a:ext cx="419436" cy="356676"/>
            </a:xfrm>
            <a:custGeom>
              <a:avLst/>
              <a:gdLst/>
              <a:ahLst/>
              <a:cxnLst>
                <a:cxn ang="0">
                  <a:pos x="286" y="152"/>
                </a:cxn>
                <a:cxn ang="0">
                  <a:pos x="237" y="51"/>
                </a:cxn>
                <a:cxn ang="0">
                  <a:pos x="160" y="3"/>
                </a:cxn>
                <a:cxn ang="0">
                  <a:pos x="153" y="0"/>
                </a:cxn>
                <a:cxn ang="0">
                  <a:pos x="153" y="0"/>
                </a:cxn>
                <a:cxn ang="0">
                  <a:pos x="0" y="158"/>
                </a:cxn>
                <a:cxn ang="0">
                  <a:pos x="53" y="236"/>
                </a:cxn>
                <a:cxn ang="0">
                  <a:pos x="107" y="237"/>
                </a:cxn>
                <a:cxn ang="0">
                  <a:pos x="147" y="210"/>
                </a:cxn>
                <a:cxn ang="0">
                  <a:pos x="239" y="111"/>
                </a:cxn>
                <a:cxn ang="0">
                  <a:pos x="286" y="154"/>
                </a:cxn>
                <a:cxn ang="0">
                  <a:pos x="286" y="152"/>
                </a:cxn>
              </a:cxnLst>
              <a:rect l="0" t="0" r="r" b="b"/>
              <a:pathLst>
                <a:path w="286" h="243">
                  <a:moveTo>
                    <a:pt x="286" y="152"/>
                  </a:moveTo>
                  <a:cubicBezTo>
                    <a:pt x="286" y="112"/>
                    <a:pt x="266" y="78"/>
                    <a:pt x="237" y="51"/>
                  </a:cubicBezTo>
                  <a:cubicBezTo>
                    <a:pt x="215" y="30"/>
                    <a:pt x="188" y="15"/>
                    <a:pt x="160" y="3"/>
                  </a:cubicBezTo>
                  <a:cubicBezTo>
                    <a:pt x="158" y="2"/>
                    <a:pt x="156" y="1"/>
                    <a:pt x="153" y="0"/>
                  </a:cubicBezTo>
                  <a:cubicBezTo>
                    <a:pt x="153" y="0"/>
                    <a:pt x="153" y="0"/>
                    <a:pt x="153" y="0"/>
                  </a:cubicBezTo>
                  <a:cubicBezTo>
                    <a:pt x="119" y="41"/>
                    <a:pt x="0" y="72"/>
                    <a:pt x="0" y="158"/>
                  </a:cubicBezTo>
                  <a:cubicBezTo>
                    <a:pt x="0" y="192"/>
                    <a:pt x="21" y="224"/>
                    <a:pt x="53" y="236"/>
                  </a:cubicBezTo>
                  <a:cubicBezTo>
                    <a:pt x="71" y="243"/>
                    <a:pt x="89" y="243"/>
                    <a:pt x="107" y="237"/>
                  </a:cubicBezTo>
                  <a:cubicBezTo>
                    <a:pt x="123" y="232"/>
                    <a:pt x="136" y="222"/>
                    <a:pt x="147" y="210"/>
                  </a:cubicBezTo>
                  <a:cubicBezTo>
                    <a:pt x="182" y="171"/>
                    <a:pt x="197" y="111"/>
                    <a:pt x="239" y="111"/>
                  </a:cubicBezTo>
                  <a:cubicBezTo>
                    <a:pt x="279" y="111"/>
                    <a:pt x="284" y="139"/>
                    <a:pt x="286" y="154"/>
                  </a:cubicBezTo>
                  <a:cubicBezTo>
                    <a:pt x="286" y="154"/>
                    <a:pt x="286" y="153"/>
                    <a:pt x="286" y="152"/>
                  </a:cubicBezTo>
                </a:path>
              </a:pathLst>
            </a:custGeom>
            <a:solidFill>
              <a:srgbClr val="0070AD"/>
            </a:solidFill>
            <a:ln w="9525">
              <a:noFill/>
              <a:round/>
              <a:headEnd/>
              <a:tailEnd/>
            </a:ln>
          </p:spPr>
          <p:txBody>
            <a:bodyPr vert="horz" wrap="square" lIns="91440" tIns="45720" rIns="91440" bIns="45720" numCol="1" anchor="t" anchorCtr="0" compatLnSpc="1">
              <a:prstTxWarp prst="textNoShape">
                <a:avLst/>
              </a:prstTxWarp>
            </a:bodyPr>
            <a:lstStyle/>
            <a:p>
              <a:endParaRPr lang="en-GB" sz="2398"/>
            </a:p>
          </p:txBody>
        </p:sp>
      </p:grpSp>
    </p:spTree>
    <p:extLst>
      <p:ext uri="{BB962C8B-B14F-4D97-AF65-F5344CB8AC3E}">
        <p14:creationId xmlns:p14="http://schemas.microsoft.com/office/powerpoint/2010/main" val="419776958"/>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3_Titre seul">
    <p:bg>
      <p:bgPr>
        <a:solidFill>
          <a:schemeClr val="accent4"/>
        </a:solidFill>
        <a:effectLst/>
      </p:bgPr>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9" y="1592"/>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9" y="1592"/>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5E6BB52B-0C5D-4023-89D5-282E9A520223}"/>
              </a:ext>
            </a:extLst>
          </p:cNvPr>
          <p:cNvSpPr>
            <a:spLocks noGrp="1"/>
          </p:cNvSpPr>
          <p:nvPr>
            <p:ph type="title"/>
          </p:nvPr>
        </p:nvSpPr>
        <p:spPr/>
        <p:txBody>
          <a:bodyPr/>
          <a:lstStyle>
            <a:lvl1pPr>
              <a:defRPr>
                <a:solidFill>
                  <a:schemeClr val="bg1"/>
                </a:solidFill>
              </a:defRPr>
            </a:lvl1pPr>
          </a:lstStyle>
          <a:p>
            <a:r>
              <a:rPr lang="en-US"/>
              <a:t>Click to edit Master title style</a:t>
            </a:r>
            <a:endParaRPr lang="de-DE"/>
          </a:p>
        </p:txBody>
      </p:sp>
      <p:grpSp>
        <p:nvGrpSpPr>
          <p:cNvPr id="2" name="Groupe 1">
            <a:extLst>
              <a:ext uri="{FF2B5EF4-FFF2-40B4-BE49-F238E27FC236}">
                <a16:creationId xmlns:a16="http://schemas.microsoft.com/office/drawing/2014/main" id="{5A91963A-6867-ACE7-EC62-4DAB28A90C37}"/>
              </a:ext>
              <a:ext uri="{C183D7F6-B498-43B3-948B-1728B52AA6E4}">
                <adec:decorative xmlns:adec="http://schemas.microsoft.com/office/drawing/2017/decorative" val="1"/>
              </a:ext>
            </a:extLst>
          </p:cNvPr>
          <p:cNvGrpSpPr>
            <a:grpSpLocks noChangeAspect="1"/>
          </p:cNvGrpSpPr>
          <p:nvPr userDrawn="1"/>
        </p:nvGrpSpPr>
        <p:grpSpPr>
          <a:xfrm>
            <a:off x="11562165" y="205059"/>
            <a:ext cx="419436" cy="388988"/>
            <a:chOff x="11501102" y="171573"/>
            <a:chExt cx="419436" cy="388988"/>
          </a:xfrm>
        </p:grpSpPr>
        <p:sp>
          <p:nvSpPr>
            <p:cNvPr id="4" name="Freeform 13">
              <a:extLst>
                <a:ext uri="{FF2B5EF4-FFF2-40B4-BE49-F238E27FC236}">
                  <a16:creationId xmlns:a16="http://schemas.microsoft.com/office/drawing/2014/main" id="{F8EA1A57-1A05-776E-CB70-ECB8335A6423}"/>
                </a:ext>
              </a:extLst>
            </p:cNvPr>
            <p:cNvSpPr>
              <a:spLocks/>
            </p:cNvSpPr>
            <p:nvPr/>
          </p:nvSpPr>
          <p:spPr bwMode="auto">
            <a:xfrm>
              <a:off x="11644642" y="334376"/>
              <a:ext cx="275896" cy="226185"/>
            </a:xfrm>
            <a:custGeom>
              <a:avLst/>
              <a:gdLst/>
              <a:ahLst/>
              <a:cxnLst>
                <a:cxn ang="0">
                  <a:pos x="125" y="107"/>
                </a:cxn>
                <a:cxn ang="0">
                  <a:pos x="188" y="43"/>
                </a:cxn>
                <a:cxn ang="0">
                  <a:pos x="141" y="0"/>
                </a:cxn>
                <a:cxn ang="0">
                  <a:pos x="49" y="99"/>
                </a:cxn>
                <a:cxn ang="0">
                  <a:pos x="0" y="144"/>
                </a:cxn>
                <a:cxn ang="0">
                  <a:pos x="37" y="154"/>
                </a:cxn>
                <a:cxn ang="0">
                  <a:pos x="125" y="125"/>
                </a:cxn>
                <a:cxn ang="0">
                  <a:pos x="81" y="86"/>
                </a:cxn>
                <a:cxn ang="0">
                  <a:pos x="125" y="107"/>
                </a:cxn>
              </a:cxnLst>
              <a:rect l="0" t="0" r="r" b="b"/>
              <a:pathLst>
                <a:path w="188" h="154">
                  <a:moveTo>
                    <a:pt x="125" y="107"/>
                  </a:moveTo>
                  <a:cubicBezTo>
                    <a:pt x="160" y="107"/>
                    <a:pt x="188" y="78"/>
                    <a:pt x="188" y="43"/>
                  </a:cubicBezTo>
                  <a:cubicBezTo>
                    <a:pt x="186" y="28"/>
                    <a:pt x="181" y="0"/>
                    <a:pt x="141" y="0"/>
                  </a:cubicBezTo>
                  <a:cubicBezTo>
                    <a:pt x="99" y="0"/>
                    <a:pt x="84" y="60"/>
                    <a:pt x="49" y="99"/>
                  </a:cubicBezTo>
                  <a:cubicBezTo>
                    <a:pt x="47" y="121"/>
                    <a:pt x="26" y="140"/>
                    <a:pt x="0" y="144"/>
                  </a:cubicBezTo>
                  <a:cubicBezTo>
                    <a:pt x="6" y="150"/>
                    <a:pt x="20" y="154"/>
                    <a:pt x="37" y="154"/>
                  </a:cubicBezTo>
                  <a:cubicBezTo>
                    <a:pt x="68" y="154"/>
                    <a:pt x="106" y="145"/>
                    <a:pt x="125" y="125"/>
                  </a:cubicBezTo>
                  <a:cubicBezTo>
                    <a:pt x="99" y="126"/>
                    <a:pt x="82" y="109"/>
                    <a:pt x="81" y="86"/>
                  </a:cubicBezTo>
                  <a:cubicBezTo>
                    <a:pt x="93" y="101"/>
                    <a:pt x="108" y="107"/>
                    <a:pt x="125" y="107"/>
                  </a:cubicBezTo>
                </a:path>
              </a:pathLst>
            </a:custGeom>
            <a:solidFill>
              <a:srgbClr val="12ABDB"/>
            </a:solidFill>
            <a:ln w="9525">
              <a:noFill/>
              <a:round/>
              <a:headEnd/>
              <a:tailEnd/>
            </a:ln>
          </p:spPr>
          <p:txBody>
            <a:bodyPr vert="horz" wrap="square" lIns="91440" tIns="45720" rIns="91440" bIns="45720" numCol="1" anchor="t" anchorCtr="0" compatLnSpc="1">
              <a:prstTxWarp prst="textNoShape">
                <a:avLst/>
              </a:prstTxWarp>
            </a:bodyPr>
            <a:lstStyle/>
            <a:p>
              <a:endParaRPr lang="en-GB" sz="2398"/>
            </a:p>
          </p:txBody>
        </p:sp>
        <p:sp>
          <p:nvSpPr>
            <p:cNvPr id="6" name="Freeform 14">
              <a:extLst>
                <a:ext uri="{FF2B5EF4-FFF2-40B4-BE49-F238E27FC236}">
                  <a16:creationId xmlns:a16="http://schemas.microsoft.com/office/drawing/2014/main" id="{92E5A9FE-0DBD-0267-A360-7A2F0DD21711}"/>
                </a:ext>
              </a:extLst>
            </p:cNvPr>
            <p:cNvSpPr>
              <a:spLocks/>
            </p:cNvSpPr>
            <p:nvPr/>
          </p:nvSpPr>
          <p:spPr bwMode="auto">
            <a:xfrm>
              <a:off x="11501102" y="171573"/>
              <a:ext cx="419436" cy="356676"/>
            </a:xfrm>
            <a:custGeom>
              <a:avLst/>
              <a:gdLst/>
              <a:ahLst/>
              <a:cxnLst>
                <a:cxn ang="0">
                  <a:pos x="286" y="152"/>
                </a:cxn>
                <a:cxn ang="0">
                  <a:pos x="237" y="51"/>
                </a:cxn>
                <a:cxn ang="0">
                  <a:pos x="160" y="3"/>
                </a:cxn>
                <a:cxn ang="0">
                  <a:pos x="153" y="0"/>
                </a:cxn>
                <a:cxn ang="0">
                  <a:pos x="153" y="0"/>
                </a:cxn>
                <a:cxn ang="0">
                  <a:pos x="0" y="158"/>
                </a:cxn>
                <a:cxn ang="0">
                  <a:pos x="53" y="236"/>
                </a:cxn>
                <a:cxn ang="0">
                  <a:pos x="107" y="237"/>
                </a:cxn>
                <a:cxn ang="0">
                  <a:pos x="147" y="210"/>
                </a:cxn>
                <a:cxn ang="0">
                  <a:pos x="239" y="111"/>
                </a:cxn>
                <a:cxn ang="0">
                  <a:pos x="286" y="154"/>
                </a:cxn>
                <a:cxn ang="0">
                  <a:pos x="286" y="152"/>
                </a:cxn>
              </a:cxnLst>
              <a:rect l="0" t="0" r="r" b="b"/>
              <a:pathLst>
                <a:path w="286" h="243">
                  <a:moveTo>
                    <a:pt x="286" y="152"/>
                  </a:moveTo>
                  <a:cubicBezTo>
                    <a:pt x="286" y="112"/>
                    <a:pt x="266" y="78"/>
                    <a:pt x="237" y="51"/>
                  </a:cubicBezTo>
                  <a:cubicBezTo>
                    <a:pt x="215" y="30"/>
                    <a:pt x="188" y="15"/>
                    <a:pt x="160" y="3"/>
                  </a:cubicBezTo>
                  <a:cubicBezTo>
                    <a:pt x="158" y="2"/>
                    <a:pt x="156" y="1"/>
                    <a:pt x="153" y="0"/>
                  </a:cubicBezTo>
                  <a:cubicBezTo>
                    <a:pt x="153" y="0"/>
                    <a:pt x="153" y="0"/>
                    <a:pt x="153" y="0"/>
                  </a:cubicBezTo>
                  <a:cubicBezTo>
                    <a:pt x="119" y="41"/>
                    <a:pt x="0" y="72"/>
                    <a:pt x="0" y="158"/>
                  </a:cubicBezTo>
                  <a:cubicBezTo>
                    <a:pt x="0" y="192"/>
                    <a:pt x="21" y="224"/>
                    <a:pt x="53" y="236"/>
                  </a:cubicBezTo>
                  <a:cubicBezTo>
                    <a:pt x="71" y="243"/>
                    <a:pt x="89" y="243"/>
                    <a:pt x="107" y="237"/>
                  </a:cubicBezTo>
                  <a:cubicBezTo>
                    <a:pt x="123" y="232"/>
                    <a:pt x="136" y="222"/>
                    <a:pt x="147" y="210"/>
                  </a:cubicBezTo>
                  <a:cubicBezTo>
                    <a:pt x="182" y="171"/>
                    <a:pt x="197" y="111"/>
                    <a:pt x="239" y="111"/>
                  </a:cubicBezTo>
                  <a:cubicBezTo>
                    <a:pt x="279" y="111"/>
                    <a:pt x="284" y="139"/>
                    <a:pt x="286" y="154"/>
                  </a:cubicBezTo>
                  <a:cubicBezTo>
                    <a:pt x="286" y="154"/>
                    <a:pt x="286" y="153"/>
                    <a:pt x="286" y="152"/>
                  </a:cubicBezTo>
                </a:path>
              </a:pathLst>
            </a:custGeom>
            <a:solidFill>
              <a:srgbClr val="0070AD"/>
            </a:solidFill>
            <a:ln w="9525">
              <a:noFill/>
              <a:round/>
              <a:headEnd/>
              <a:tailEnd/>
            </a:ln>
          </p:spPr>
          <p:txBody>
            <a:bodyPr vert="horz" wrap="square" lIns="91440" tIns="45720" rIns="91440" bIns="45720" numCol="1" anchor="t" anchorCtr="0" compatLnSpc="1">
              <a:prstTxWarp prst="textNoShape">
                <a:avLst/>
              </a:prstTxWarp>
            </a:bodyPr>
            <a:lstStyle/>
            <a:p>
              <a:endParaRPr lang="en-GB" sz="2398"/>
            </a:p>
          </p:txBody>
        </p:sp>
      </p:grpSp>
    </p:spTree>
    <p:extLst>
      <p:ext uri="{BB962C8B-B14F-4D97-AF65-F5344CB8AC3E}">
        <p14:creationId xmlns:p14="http://schemas.microsoft.com/office/powerpoint/2010/main" val="3161536754"/>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userDrawn="1">
  <p:cSld name="2_Section Header_Black_Alt_Internal">
    <p:bg>
      <p:bgPr>
        <a:solidFill>
          <a:schemeClr val="tx1"/>
        </a:solidFill>
        <a:effectLst/>
      </p:bgPr>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D2ED0643-8C31-4A20-AE73-693EFF66546C}"/>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8" y="39"/>
            <a:ext cx="12192000" cy="6857929"/>
          </a:xfrm>
          <a:prstGeom prst="rect">
            <a:avLst/>
          </a:prstGeom>
        </p:spPr>
      </p:pic>
      <p:sp>
        <p:nvSpPr>
          <p:cNvPr id="16" name="TextBox 15">
            <a:extLst>
              <a:ext uri="{FF2B5EF4-FFF2-40B4-BE49-F238E27FC236}">
                <a16:creationId xmlns:a16="http://schemas.microsoft.com/office/drawing/2014/main" id="{C50D814F-EE5B-C084-7424-D39C0DE54FF7}"/>
              </a:ext>
            </a:extLst>
          </p:cNvPr>
          <p:cNvSpPr txBox="1"/>
          <p:nvPr/>
        </p:nvSpPr>
        <p:spPr>
          <a:xfrm>
            <a:off x="1376561"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2024 Lenovo </a:t>
            </a:r>
            <a:r>
              <a:rPr lang="en-US" sz="1000">
                <a:solidFill>
                  <a:prstClr val="white"/>
                </a:solidFill>
                <a:latin typeface="Arial" pitchFamily="34" charset="0"/>
                <a:cs typeface="Arial" pitchFamily="34" charset="0"/>
              </a:rPr>
              <a:t>Internal</a:t>
            </a:r>
            <a:r>
              <a:rPr lang="en-US" sz="1000">
                <a:solidFill>
                  <a:schemeClr val="bg1"/>
                </a:solidFill>
                <a:latin typeface="Arial" pitchFamily="34" charset="0"/>
                <a:cs typeface="Arial" pitchFamily="34" charset="0"/>
              </a:rPr>
              <a:t>. All rights reserved.</a:t>
            </a:r>
          </a:p>
        </p:txBody>
      </p:sp>
      <p:sp>
        <p:nvSpPr>
          <p:cNvPr id="2" name="Slide Number Placeholder 1">
            <a:extLst>
              <a:ext uri="{FF2B5EF4-FFF2-40B4-BE49-F238E27FC236}">
                <a16:creationId xmlns:a16="http://schemas.microsoft.com/office/drawing/2014/main" id="{E01CC465-FDF1-C0A2-5A83-FB03B2F0F4B6}"/>
              </a:ext>
            </a:extLst>
          </p:cNvPr>
          <p:cNvSpPr>
            <a:spLocks noGrp="1"/>
          </p:cNvSpPr>
          <p:nvPr>
            <p:ph type="sldNum" sz="quarter" idx="10"/>
          </p:nvPr>
        </p:nvSpPr>
        <p:spPr/>
        <p:txBody>
          <a:bodyPr/>
          <a:lstStyle>
            <a:lvl1pPr>
              <a:defRPr>
                <a:solidFill>
                  <a:schemeClr val="bg1"/>
                </a:solidFill>
              </a:defRPr>
            </a:lvl1pPr>
          </a:lstStyle>
          <a:p>
            <a:fld id="{7188F480-4EAF-44B7-AF77-EE194D93580F}" type="slidenum">
              <a:rPr lang="en-US" smtClean="0"/>
              <a:t>‹#›</a:t>
            </a:fld>
            <a:endParaRPr lang="en-US"/>
          </a:p>
        </p:txBody>
      </p:sp>
      <p:sp>
        <p:nvSpPr>
          <p:cNvPr id="3" name="Title 28">
            <a:extLst>
              <a:ext uri="{FF2B5EF4-FFF2-40B4-BE49-F238E27FC236}">
                <a16:creationId xmlns:a16="http://schemas.microsoft.com/office/drawing/2014/main" id="{37C545B6-586A-4B0A-DF86-CFF59B525A7E}"/>
              </a:ext>
            </a:extLst>
          </p:cNvPr>
          <p:cNvSpPr>
            <a:spLocks noGrp="1"/>
          </p:cNvSpPr>
          <p:nvPr>
            <p:ph type="title" hasCustomPrompt="1"/>
          </p:nvPr>
        </p:nvSpPr>
        <p:spPr bwMode="gray">
          <a:xfrm>
            <a:off x="533404" y="442528"/>
            <a:ext cx="11125200" cy="418576"/>
          </a:xfrm>
          <a:prstGeom prst="rect">
            <a:avLst/>
          </a:prstGeom>
        </p:spPr>
        <p:txBody>
          <a:bodyPr wrap="square" lIns="0" tIns="0" rIns="0" bIns="0" anchor="t" anchorCtr="0">
            <a:noAutofit/>
          </a:bodyPr>
          <a:lstStyle>
            <a:lvl1pPr marL="0" algn="l" defTabSz="1216430" rtl="0" eaLnBrk="1" latinLnBrk="0" hangingPunct="1">
              <a:lnSpc>
                <a:spcPct val="85000"/>
              </a:lnSpc>
              <a:spcBef>
                <a:spcPct val="0"/>
              </a:spcBef>
              <a:buNone/>
              <a:tabLst>
                <a:tab pos="1216430" algn="l"/>
              </a:tabLst>
              <a:defRPr lang="en-US" sz="3193"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grpSp>
        <p:nvGrpSpPr>
          <p:cNvPr id="12" name="Group 11">
            <a:extLst>
              <a:ext uri="{FF2B5EF4-FFF2-40B4-BE49-F238E27FC236}">
                <a16:creationId xmlns:a16="http://schemas.microsoft.com/office/drawing/2014/main" id="{D9035450-D3EC-6C07-F2A4-8858400AB929}"/>
              </a:ext>
            </a:extLst>
          </p:cNvPr>
          <p:cNvGrpSpPr/>
          <p:nvPr userDrawn="1"/>
        </p:nvGrpSpPr>
        <p:grpSpPr>
          <a:xfrm>
            <a:off x="554487" y="6421482"/>
            <a:ext cx="734547" cy="245008"/>
            <a:chOff x="547688" y="952500"/>
            <a:chExt cx="12190413" cy="4067175"/>
          </a:xfrm>
        </p:grpSpPr>
        <p:sp>
          <p:nvSpPr>
            <p:cNvPr id="13" name="Rectangle 12">
              <a:extLst>
                <a:ext uri="{FF2B5EF4-FFF2-40B4-BE49-F238E27FC236}">
                  <a16:creationId xmlns:a16="http://schemas.microsoft.com/office/drawing/2014/main" id="{BD8B6BBC-AEE4-A100-D990-901101109DF8}"/>
                </a:ext>
              </a:extLst>
            </p:cNvPr>
            <p:cNvSpPr>
              <a:spLocks noChangeArrowheads="1"/>
            </p:cNvSpPr>
            <p:nvPr userDrawn="1"/>
          </p:nvSpPr>
          <p:spPr bwMode="auto">
            <a:xfrm>
              <a:off x="547688" y="952500"/>
              <a:ext cx="12190413" cy="4067175"/>
            </a:xfrm>
            <a:prstGeom prst="rect">
              <a:avLst/>
            </a:prstGeom>
            <a:solidFill>
              <a:srgbClr val="E1140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3852" eaLnBrk="1" fontAlgn="auto" latinLnBrk="0" hangingPunct="1">
                <a:lnSpc>
                  <a:spcPct val="100000"/>
                </a:lnSpc>
                <a:spcBef>
                  <a:spcPts val="0"/>
                </a:spcBef>
                <a:spcAft>
                  <a:spcPts val="0"/>
                </a:spcAft>
                <a:buClrTx/>
                <a:buSzTx/>
                <a:buFontTx/>
                <a:buNone/>
                <a:tabLst/>
                <a:defRPr/>
              </a:pPr>
              <a:endParaRPr kumimoji="0" lang="en-US" sz="1796" b="0" i="0" u="none" strike="noStrike" kern="0" cap="none" spc="0" normalizeH="0" baseline="0" noProof="0">
                <a:ln>
                  <a:noFill/>
                </a:ln>
                <a:solidFill>
                  <a:prstClr val="white"/>
                </a:solidFill>
                <a:effectLst/>
                <a:uLnTx/>
                <a:uFillTx/>
              </a:endParaRPr>
            </a:p>
          </p:txBody>
        </p:sp>
        <p:sp>
          <p:nvSpPr>
            <p:cNvPr id="14" name="Freeform 11">
              <a:extLst>
                <a:ext uri="{FF2B5EF4-FFF2-40B4-BE49-F238E27FC236}">
                  <a16:creationId xmlns:a16="http://schemas.microsoft.com/office/drawing/2014/main" id="{74C384B6-1FB3-32E3-D9E9-5E72F2E28D06}"/>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852" eaLnBrk="1" fontAlgn="auto" latinLnBrk="0" hangingPunct="1">
                <a:lnSpc>
                  <a:spcPct val="100000"/>
                </a:lnSpc>
                <a:spcBef>
                  <a:spcPts val="0"/>
                </a:spcBef>
                <a:spcAft>
                  <a:spcPts val="0"/>
                </a:spcAft>
                <a:buClrTx/>
                <a:buSzTx/>
                <a:buFontTx/>
                <a:buNone/>
                <a:tabLst/>
                <a:defRPr/>
              </a:pPr>
              <a:endParaRPr kumimoji="0" lang="en-US" sz="1796" b="0" i="0" u="none" strike="noStrike" kern="0" cap="none" spc="0" normalizeH="0" baseline="0" noProof="0">
                <a:ln>
                  <a:noFill/>
                </a:ln>
                <a:solidFill>
                  <a:prstClr val="white"/>
                </a:solidFill>
                <a:effectLst/>
                <a:uLnTx/>
                <a:uFillTx/>
              </a:endParaRPr>
            </a:p>
          </p:txBody>
        </p:sp>
        <p:sp>
          <p:nvSpPr>
            <p:cNvPr id="15" name="Freeform 14">
              <a:extLst>
                <a:ext uri="{FF2B5EF4-FFF2-40B4-BE49-F238E27FC236}">
                  <a16:creationId xmlns:a16="http://schemas.microsoft.com/office/drawing/2014/main" id="{48F73ABB-7E4B-E9B8-596C-01D66A157F20}"/>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852" eaLnBrk="1" fontAlgn="auto" latinLnBrk="0" hangingPunct="1">
                <a:lnSpc>
                  <a:spcPct val="100000"/>
                </a:lnSpc>
                <a:spcBef>
                  <a:spcPts val="0"/>
                </a:spcBef>
                <a:spcAft>
                  <a:spcPts val="0"/>
                </a:spcAft>
                <a:buClrTx/>
                <a:buSzTx/>
                <a:buFontTx/>
                <a:buNone/>
                <a:tabLst/>
                <a:defRPr/>
              </a:pPr>
              <a:endParaRPr kumimoji="0" lang="en-US" sz="1796" b="0" i="0" u="none" strike="noStrike" kern="0" cap="none" spc="0" normalizeH="0" baseline="0" noProof="0">
                <a:ln>
                  <a:noFill/>
                </a:ln>
                <a:solidFill>
                  <a:prstClr val="white"/>
                </a:solidFill>
                <a:effectLst/>
                <a:uLnTx/>
                <a:uFillTx/>
              </a:endParaRPr>
            </a:p>
          </p:txBody>
        </p:sp>
        <p:sp>
          <p:nvSpPr>
            <p:cNvPr id="26" name="Freeform 15">
              <a:extLst>
                <a:ext uri="{FF2B5EF4-FFF2-40B4-BE49-F238E27FC236}">
                  <a16:creationId xmlns:a16="http://schemas.microsoft.com/office/drawing/2014/main" id="{672A249B-46E4-1999-663C-5D68E92C76C2}"/>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852" eaLnBrk="1" fontAlgn="auto" latinLnBrk="0" hangingPunct="1">
                <a:lnSpc>
                  <a:spcPct val="100000"/>
                </a:lnSpc>
                <a:spcBef>
                  <a:spcPts val="0"/>
                </a:spcBef>
                <a:spcAft>
                  <a:spcPts val="0"/>
                </a:spcAft>
                <a:buClrTx/>
                <a:buSzTx/>
                <a:buFontTx/>
                <a:buNone/>
                <a:tabLst/>
                <a:defRPr/>
              </a:pPr>
              <a:endParaRPr kumimoji="0" lang="en-US" sz="1796" b="0" i="0" u="none" strike="noStrike" kern="0" cap="none" spc="0" normalizeH="0" baseline="0" noProof="0">
                <a:ln>
                  <a:noFill/>
                </a:ln>
                <a:solidFill>
                  <a:prstClr val="white"/>
                </a:solidFill>
                <a:effectLst/>
                <a:uLnTx/>
                <a:uFillTx/>
              </a:endParaRPr>
            </a:p>
          </p:txBody>
        </p:sp>
        <p:sp>
          <p:nvSpPr>
            <p:cNvPr id="27" name="Freeform 16">
              <a:extLst>
                <a:ext uri="{FF2B5EF4-FFF2-40B4-BE49-F238E27FC236}">
                  <a16:creationId xmlns:a16="http://schemas.microsoft.com/office/drawing/2014/main" id="{8B37675C-74F1-AF49-DCB4-A86F1A132BF6}"/>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852" eaLnBrk="1" fontAlgn="auto" latinLnBrk="0" hangingPunct="1">
                <a:lnSpc>
                  <a:spcPct val="100000"/>
                </a:lnSpc>
                <a:spcBef>
                  <a:spcPts val="0"/>
                </a:spcBef>
                <a:spcAft>
                  <a:spcPts val="0"/>
                </a:spcAft>
                <a:buClrTx/>
                <a:buSzTx/>
                <a:buFontTx/>
                <a:buNone/>
                <a:tabLst/>
                <a:defRPr/>
              </a:pPr>
              <a:endParaRPr kumimoji="0" lang="en-US" sz="1796" b="0" i="0" u="none" strike="noStrike" kern="0" cap="none" spc="0" normalizeH="0" baseline="0" noProof="0">
                <a:ln>
                  <a:noFill/>
                </a:ln>
                <a:solidFill>
                  <a:prstClr val="white"/>
                </a:solidFill>
                <a:effectLst/>
                <a:uLnTx/>
                <a:uFillTx/>
              </a:endParaRPr>
            </a:p>
          </p:txBody>
        </p:sp>
        <p:sp>
          <p:nvSpPr>
            <p:cNvPr id="28" name="Freeform 10">
              <a:extLst>
                <a:ext uri="{FF2B5EF4-FFF2-40B4-BE49-F238E27FC236}">
                  <a16:creationId xmlns:a16="http://schemas.microsoft.com/office/drawing/2014/main" id="{77554750-757A-21A2-49D8-33DBC8647F62}"/>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852" eaLnBrk="1" fontAlgn="auto" latinLnBrk="0" hangingPunct="1">
                <a:lnSpc>
                  <a:spcPct val="100000"/>
                </a:lnSpc>
                <a:spcBef>
                  <a:spcPts val="0"/>
                </a:spcBef>
                <a:spcAft>
                  <a:spcPts val="0"/>
                </a:spcAft>
                <a:buClrTx/>
                <a:buSzTx/>
                <a:buFontTx/>
                <a:buNone/>
                <a:tabLst/>
                <a:defRPr/>
              </a:pPr>
              <a:endParaRPr kumimoji="0" lang="en-US" sz="1796" b="0" i="0" u="none" strike="noStrike" kern="0" cap="none" spc="0" normalizeH="0" baseline="0" noProof="0">
                <a:ln>
                  <a:noFill/>
                </a:ln>
                <a:solidFill>
                  <a:prstClr val="white"/>
                </a:solidFill>
                <a:effectLst/>
                <a:uLnTx/>
                <a:uFillTx/>
              </a:endParaRPr>
            </a:p>
          </p:txBody>
        </p:sp>
        <p:sp>
          <p:nvSpPr>
            <p:cNvPr id="29" name="Freeform 11">
              <a:extLst>
                <a:ext uri="{FF2B5EF4-FFF2-40B4-BE49-F238E27FC236}">
                  <a16:creationId xmlns:a16="http://schemas.microsoft.com/office/drawing/2014/main" id="{6781303C-C734-15F3-86BF-AED6BEFE3AAA}"/>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852" eaLnBrk="1" fontAlgn="auto" latinLnBrk="0" hangingPunct="1">
                <a:lnSpc>
                  <a:spcPct val="100000"/>
                </a:lnSpc>
                <a:spcBef>
                  <a:spcPts val="0"/>
                </a:spcBef>
                <a:spcAft>
                  <a:spcPts val="0"/>
                </a:spcAft>
                <a:buClrTx/>
                <a:buSzTx/>
                <a:buFontTx/>
                <a:buNone/>
                <a:tabLst/>
                <a:defRPr/>
              </a:pPr>
              <a:endParaRPr kumimoji="0" lang="en-US" sz="1796" b="0" i="0" u="none" strike="noStrike" kern="0" cap="none" spc="0" normalizeH="0" baseline="0" noProof="0">
                <a:ln>
                  <a:noFill/>
                </a:ln>
                <a:solidFill>
                  <a:prstClr val="white"/>
                </a:solidFill>
                <a:effectLst/>
                <a:uLnTx/>
                <a:uFillTx/>
              </a:endParaRPr>
            </a:p>
          </p:txBody>
        </p:sp>
      </p:grpSp>
    </p:spTree>
    <p:extLst>
      <p:ext uri="{BB962C8B-B14F-4D97-AF65-F5344CB8AC3E}">
        <p14:creationId xmlns:p14="http://schemas.microsoft.com/office/powerpoint/2010/main" val="3184870743"/>
      </p:ext>
    </p:extLst>
  </p:cSld>
  <p:clrMapOvr>
    <a:masterClrMapping/>
  </p:clrMapOvr>
  <p:transition spd="med"/>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userDrawn="1">
  <p:cSld name="Section Header_Black_Alt">
    <p:bg>
      <p:bgPr>
        <a:solidFill>
          <a:schemeClr val="tx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BEC7E6EC-4EB4-59F7-3E20-3D2CA48F7D24}"/>
              </a:ext>
            </a:extLst>
          </p:cNvPr>
          <p:cNvGraphicFramePr>
            <a:graphicFrameLocks noChangeAspect="1"/>
          </p:cNvGraphicFramePr>
          <p:nvPr userDrawn="1">
            <p:custDataLst>
              <p:tags r:id="rId1"/>
            </p:custDataLst>
            <p:extLst>
              <p:ext uri="{D42A27DB-BD31-4B8C-83A1-F6EECF244321}">
                <p14:modId xmlns:p14="http://schemas.microsoft.com/office/powerpoint/2010/main" val="12983979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8" imgH="338" progId="TCLayout.ActiveDocument.1">
                  <p:embed/>
                </p:oleObj>
              </mc:Choice>
              <mc:Fallback>
                <p:oleObj name="think-cell Slide" r:id="rId3" imgW="338" imgH="338" progId="TCLayout.ActiveDocument.1">
                  <p:embed/>
                  <p:pic>
                    <p:nvPicPr>
                      <p:cNvPr id="3" name="think-cell data - do not delete" hidden="1">
                        <a:extLst>
                          <a:ext uri="{FF2B5EF4-FFF2-40B4-BE49-F238E27FC236}">
                            <a16:creationId xmlns:a16="http://schemas.microsoft.com/office/drawing/2014/main" id="{BEC7E6EC-4EB4-59F7-3E20-3D2CA48F7D2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5" name="Picture 24" descr="Background pattern&#10;&#10;Description automatically generated">
            <a:extLst>
              <a:ext uri="{FF2B5EF4-FFF2-40B4-BE49-F238E27FC236}">
                <a16:creationId xmlns:a16="http://schemas.microsoft.com/office/drawing/2014/main" id="{D2ED0643-8C31-4A20-AE73-693EFF66546C}"/>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5" y="39"/>
            <a:ext cx="12192000" cy="6857929"/>
          </a:xfrm>
          <a:prstGeom prst="rect">
            <a:avLst/>
          </a:prstGeom>
        </p:spPr>
      </p:pic>
      <p:sp>
        <p:nvSpPr>
          <p:cNvPr id="2" name="Slide Number Placeholder 1">
            <a:extLst>
              <a:ext uri="{FF2B5EF4-FFF2-40B4-BE49-F238E27FC236}">
                <a16:creationId xmlns:a16="http://schemas.microsoft.com/office/drawing/2014/main" id="{E01CC465-FDF1-C0A2-5A83-FB03B2F0F4B6}"/>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4" name="Title 28">
            <a:extLst>
              <a:ext uri="{FF2B5EF4-FFF2-40B4-BE49-F238E27FC236}">
                <a16:creationId xmlns:a16="http://schemas.microsoft.com/office/drawing/2014/main" id="{BF22E6D3-A2FE-63D7-CC2C-E255E86DE650}"/>
              </a:ext>
            </a:extLst>
          </p:cNvPr>
          <p:cNvSpPr>
            <a:spLocks noGrp="1"/>
          </p:cNvSpPr>
          <p:nvPr>
            <p:ph type="title" hasCustomPrompt="1"/>
          </p:nvPr>
        </p:nvSpPr>
        <p:spPr bwMode="gray">
          <a:xfrm>
            <a:off x="760615" y="442528"/>
            <a:ext cx="10670780" cy="418576"/>
          </a:xfrm>
          <a:prstGeom prst="rect">
            <a:avLst/>
          </a:prstGeom>
        </p:spPr>
        <p:txBody>
          <a:bodyPr vert="horz" wrap="square" lIns="0" tIns="0" rIns="0" bIns="0" anchor="t" anchorCtr="0">
            <a:noAutofit/>
          </a:bodyPr>
          <a:lstStyle>
            <a:lvl1pPr marL="0" algn="l" defTabSz="1217525" rtl="0" eaLnBrk="1" latinLnBrk="0" hangingPunct="1">
              <a:lnSpc>
                <a:spcPct val="85000"/>
              </a:lnSpc>
              <a:spcBef>
                <a:spcPct val="0"/>
              </a:spcBef>
              <a:buNone/>
              <a:tabLst>
                <a:tab pos="1217525" algn="l"/>
              </a:tabLst>
              <a:defRPr lang="en-US" sz="3196"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Tree>
    <p:extLst>
      <p:ext uri="{BB962C8B-B14F-4D97-AF65-F5344CB8AC3E}">
        <p14:creationId xmlns:p14="http://schemas.microsoft.com/office/powerpoint/2010/main" val="1114232308"/>
      </p:ext>
    </p:extLst>
  </p:cSld>
  <p:clrMapOvr>
    <a:masterClrMapping/>
  </p:clrMapOvr>
  <p:transition spd="med"/>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7746323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3"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497" b="1" i="0" baseline="0">
              <a:solidFill>
                <a:schemeClr val="bg1"/>
              </a:solidFill>
              <a:latin typeface="Arial" panose="020B0604020202020204" pitchFamily="34" charset="0"/>
              <a:ea typeface="+mj-ea"/>
              <a:cs typeface="+mj-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7" y="919253"/>
            <a:ext cx="11082528" cy="661720"/>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b="0" baseline="0" dirty="0"/>
            </a:lvl1pPr>
          </a:lstStyle>
          <a:p>
            <a:pPr lvl="0">
              <a:buNone/>
            </a:pPr>
            <a:r>
              <a:rPr lang="en-US"/>
              <a:t>Click to edit Master subtitle style</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4"/>
            </p:custDataLst>
          </p:nvPr>
        </p:nvSpPr>
        <p:spPr>
          <a:xfrm>
            <a:off x="554738" y="41603"/>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800" b="0" dirty="0">
                <a:cs typeface="+mn-cs"/>
              </a:defRPr>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5"/>
            </p:custDataLst>
          </p:nvPr>
        </p:nvSpPr>
        <p:spPr>
          <a:xfrm>
            <a:off x="554737" y="172212"/>
            <a:ext cx="11082528" cy="731520"/>
          </a:xfrm>
          <a:prstGeom prst="rect">
            <a:avLst/>
          </a:prstGeom>
        </p:spPr>
        <p:txBody>
          <a:bodyPr vert="horz" wrap="square" lIns="0" tIns="0" rIns="0" bIns="0" rtlCol="0" anchor="b" anchorCtr="0">
            <a:noAutofit/>
          </a:bodyPr>
          <a:lstStyle>
            <a:lvl1pPr>
              <a:defRPr lang="en-US" dirty="0"/>
            </a:lvl1pPr>
          </a:lstStyle>
          <a:p>
            <a:pPr lvl="0"/>
            <a:r>
              <a:rPr lang="en-US"/>
              <a:t>Click to edit Master title style</a:t>
            </a:r>
          </a:p>
        </p:txBody>
      </p:sp>
      <p:sp>
        <p:nvSpPr>
          <p:cNvPr id="12" name="Slide Number">
            <a:extLst>
              <a:ext uri="{FF2B5EF4-FFF2-40B4-BE49-F238E27FC236}">
                <a16:creationId xmlns:a16="http://schemas.microsoft.com/office/drawing/2014/main" id="{A7D78624-1011-4805-A38F-2790B0C90EC1}"/>
              </a:ext>
            </a:extLst>
          </p:cNvPr>
          <p:cNvSpPr>
            <a:spLocks noChangeArrowheads="1"/>
          </p:cNvSpPr>
          <p:nvPr userDrawn="1">
            <p:custDataLst>
              <p:tags r:id="rId6"/>
            </p:custDataLst>
          </p:nvPr>
        </p:nvSpPr>
        <p:spPr bwMode="black">
          <a:xfrm>
            <a:off x="11312528" y="6474743"/>
            <a:ext cx="325501" cy="138499"/>
          </a:xfrm>
          <a:prstGeom prst="rect">
            <a:avLst/>
          </a:prstGeom>
          <a:noFill/>
          <a:ln w="9525" algn="ctr">
            <a:noFill/>
            <a:miter lim="800000"/>
            <a:headEnd/>
            <a:tailEnd/>
          </a:ln>
          <a:effectLst/>
        </p:spPr>
        <p:txBody>
          <a:bodyPr wrap="square" lIns="0" tIns="0" rIns="0" bIns="0" anchor="b">
            <a:spAutoFit/>
          </a:bodyPr>
          <a:lstStyle/>
          <a:p>
            <a:pPr algn="r" defTabSz="610195" rtl="0" fontAlgn="auto">
              <a:spcBef>
                <a:spcPts val="0"/>
              </a:spcBef>
              <a:spcAft>
                <a:spcPts val="0"/>
              </a:spcAft>
              <a:defRPr/>
            </a:pPr>
            <a:fld id="{4ABDCABE-3F10-B64C-92F1-862014417034}" type="slidenum">
              <a:rPr lang="en-US" sz="900" b="0" smtClean="0">
                <a:solidFill>
                  <a:schemeClr val="tx1"/>
                </a:solidFill>
                <a:latin typeface="+mn-lt"/>
                <a:ea typeface="+mn-ea"/>
                <a:cs typeface="Arial" panose="020B0604020202020204" pitchFamily="34" charset="0"/>
              </a:rPr>
              <a:pPr algn="r" defTabSz="610195" rtl="0" fontAlgn="auto">
                <a:spcBef>
                  <a:spcPts val="0"/>
                </a:spcBef>
                <a:spcAft>
                  <a:spcPts val="0"/>
                </a:spcAft>
                <a:defRPr/>
              </a:pPr>
              <a:t>‹#›</a:t>
            </a:fld>
            <a:endParaRPr lang="en-US" sz="900" b="0">
              <a:solidFill>
                <a:schemeClr val="tx1"/>
              </a:solidFill>
              <a:latin typeface="+mn-lt"/>
              <a:ea typeface="+mn-ea"/>
              <a:cs typeface="Arial" panose="020B0604020202020204" pitchFamily="34" charset="0"/>
            </a:endParaRPr>
          </a:p>
        </p:txBody>
      </p:sp>
      <p:sp>
        <p:nvSpPr>
          <p:cNvPr id="13" name="5. Source" hidden="1">
            <a:extLst>
              <a:ext uri="{FF2B5EF4-FFF2-40B4-BE49-F238E27FC236}">
                <a16:creationId xmlns:a16="http://schemas.microsoft.com/office/drawing/2014/main" id="{F172C844-171A-4841-A93B-2ED21E411498}"/>
              </a:ext>
            </a:extLst>
          </p:cNvPr>
          <p:cNvSpPr txBox="1"/>
          <p:nvPr userDrawn="1">
            <p:custDataLst>
              <p:tags r:id="rId7"/>
            </p:custDataLst>
          </p:nvPr>
        </p:nvSpPr>
        <p:spPr>
          <a:xfrm>
            <a:off x="554738" y="6255868"/>
            <a:ext cx="7277861" cy="123111"/>
          </a:xfrm>
          <a:prstGeom prst="rect">
            <a:avLst/>
          </a:prstGeom>
        </p:spPr>
        <p:txBody>
          <a:bodyPr vert="horz" wrap="square" lIns="0" tIns="0" rIns="0" bIns="0" rtlCol="0" anchor="b">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Tree>
    <p:extLst>
      <p:ext uri="{BB962C8B-B14F-4D97-AF65-F5344CB8AC3E}">
        <p14:creationId xmlns:p14="http://schemas.microsoft.com/office/powerpoint/2010/main" val="3299421140"/>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1_Custom Layou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2B928E-07F6-2132-B388-8875FA0A16B6}"/>
              </a:ext>
            </a:extLst>
          </p:cNvPr>
          <p:cNvSpPr>
            <a:spLocks noGrp="1"/>
          </p:cNvSpPr>
          <p:nvPr>
            <p:ph type="title"/>
          </p:nvPr>
        </p:nvSpPr>
        <p:spPr>
          <a:xfrm>
            <a:off x="838201" y="365129"/>
            <a:ext cx="10515600" cy="1325563"/>
          </a:xfrm>
          <a:prstGeom prst="rect">
            <a:avLst/>
          </a:prstGeom>
        </p:spPr>
        <p:txBody>
          <a:bodyPr/>
          <a:lstStyle/>
          <a:p>
            <a:r>
              <a:rPr lang="en-US"/>
              <a:t>Click to edit Master title style</a:t>
            </a:r>
            <a:endParaRPr lang="fr-FR"/>
          </a:p>
        </p:txBody>
      </p:sp>
      <p:sp>
        <p:nvSpPr>
          <p:cNvPr id="3" name="Slide Number Placeholder 2">
            <a:extLst>
              <a:ext uri="{FF2B5EF4-FFF2-40B4-BE49-F238E27FC236}">
                <a16:creationId xmlns:a16="http://schemas.microsoft.com/office/drawing/2014/main" id="{FA832A37-2EE2-ACFB-A428-A5BE566C01F8}"/>
              </a:ext>
            </a:extLst>
          </p:cNvPr>
          <p:cNvSpPr>
            <a:spLocks noGrp="1"/>
          </p:cNvSpPr>
          <p:nvPr>
            <p:ph type="sldNum" sz="quarter" idx="10"/>
          </p:nvPr>
        </p:nvSpPr>
        <p:spPr/>
        <p:txBody>
          <a:bodyPr/>
          <a:lstStyle/>
          <a:p>
            <a:fld id="{6D22F896-40B5-4ADD-8801-0D06FADFA095}" type="slidenum">
              <a:rPr lang="en-US" smtClean="0"/>
              <a:pPr/>
              <a:t>‹#›</a:t>
            </a:fld>
            <a:endParaRPr lang="en-US"/>
          </a:p>
        </p:txBody>
      </p:sp>
      <p:pic>
        <p:nvPicPr>
          <p:cNvPr id="4" name="Picture 3">
            <a:extLst>
              <a:ext uri="{FF2B5EF4-FFF2-40B4-BE49-F238E27FC236}">
                <a16:creationId xmlns:a16="http://schemas.microsoft.com/office/drawing/2014/main" id="{2DF37BCE-718A-FC15-C8DD-3A56C2030BD1}"/>
              </a:ext>
            </a:extLst>
          </p:cNvPr>
          <p:cNvPicPr>
            <a:picLocks noChangeAspect="1"/>
          </p:cNvPicPr>
          <p:nvPr userDrawn="1"/>
        </p:nvPicPr>
        <p:blipFill rotWithShape="1">
          <a:blip r:embed="rId2"/>
          <a:srcRect l="32043" t="11491" r="5965" b="53451"/>
          <a:stretch/>
        </p:blipFill>
        <p:spPr>
          <a:xfrm rot="16200000" flipH="1">
            <a:off x="2667009" y="-2666999"/>
            <a:ext cx="6858001" cy="12191999"/>
          </a:xfrm>
          <a:prstGeom prst="rect">
            <a:avLst/>
          </a:prstGeom>
        </p:spPr>
      </p:pic>
      <p:sp>
        <p:nvSpPr>
          <p:cNvPr id="5" name="Rectangle 4">
            <a:extLst>
              <a:ext uri="{FF2B5EF4-FFF2-40B4-BE49-F238E27FC236}">
                <a16:creationId xmlns:a16="http://schemas.microsoft.com/office/drawing/2014/main" id="{8B5F64C2-EDC4-44D2-4A86-422748017BA8}"/>
              </a:ext>
            </a:extLst>
          </p:cNvPr>
          <p:cNvSpPr/>
          <p:nvPr userDrawn="1"/>
        </p:nvSpPr>
        <p:spPr>
          <a:xfrm>
            <a:off x="9" y="-1"/>
            <a:ext cx="12192000" cy="6858000"/>
          </a:xfrm>
          <a:prstGeom prst="rect">
            <a:avLst/>
          </a:prstGeom>
          <a:solidFill>
            <a:srgbClr val="471B48">
              <a:alpha val="8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448" tIns="182448" rIns="182448" bIns="182448" rtlCol="0" anchor="t"/>
          <a:lstStyle/>
          <a:p>
            <a:pPr algn="l"/>
            <a:endParaRPr lang="en-US" sz="1600" err="1">
              <a:solidFill>
                <a:prstClr val="white"/>
              </a:solidFill>
            </a:endParaRPr>
          </a:p>
        </p:txBody>
      </p:sp>
      <p:sp>
        <p:nvSpPr>
          <p:cNvPr id="6" name="Slide Number Placeholder 4">
            <a:extLst>
              <a:ext uri="{FF2B5EF4-FFF2-40B4-BE49-F238E27FC236}">
                <a16:creationId xmlns:a16="http://schemas.microsoft.com/office/drawing/2014/main" id="{8F9D7093-6CA4-29EB-574A-50C20E4E60E9}"/>
              </a:ext>
            </a:extLst>
          </p:cNvPr>
          <p:cNvSpPr txBox="1">
            <a:spLocks/>
          </p:cNvSpPr>
          <p:nvPr userDrawn="1"/>
        </p:nvSpPr>
        <p:spPr>
          <a:xfrm>
            <a:off x="11672569" y="6400800"/>
            <a:ext cx="439026" cy="155448"/>
          </a:xfrm>
          <a:prstGeom prst="rect">
            <a:avLst/>
          </a:prstGeom>
        </p:spPr>
        <p:txBody>
          <a:bodyPr/>
          <a:lstStyle>
            <a:defPPr>
              <a:defRPr lang="en-US"/>
            </a:defPPr>
            <a:lvl1pPr marL="0" algn="l" defTabSz="914400" rtl="0" eaLnBrk="1" latinLnBrk="0" hangingPunct="1">
              <a:defRPr sz="16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6D22F896-40B5-4ADD-8801-0D06FADFA095}" type="slidenum">
              <a:rPr lang="en-US" sz="1600" smtClean="0"/>
              <a:pPr/>
              <a:t>‹#›</a:t>
            </a:fld>
            <a:endParaRPr lang="en-US" sz="1600"/>
          </a:p>
        </p:txBody>
      </p:sp>
    </p:spTree>
    <p:extLst>
      <p:ext uri="{BB962C8B-B14F-4D97-AF65-F5344CB8AC3E}">
        <p14:creationId xmlns:p14="http://schemas.microsoft.com/office/powerpoint/2010/main" val="1098324223"/>
      </p:ext>
    </p:extLst>
  </p:cSld>
  <p:clrMapOvr>
    <a:overrideClrMapping bg1="lt1" tx1="dk1" bg2="lt2" tx2="dk2" accent1="accent1" accent2="accent2" accent3="accent3" accent4="accent4" accent5="accent5" accent6="accent6" hlink="hlink" folHlink="folHlink"/>
  </p:clrMapOvr>
  <p:transition spd="med"/>
</p:sldLayout>
</file>

<file path=ppt/slideLayouts/slideLayout12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D43757B-392D-9124-D3C3-C232AA23A1AC}"/>
              </a:ext>
            </a:extLst>
          </p:cNvPr>
          <p:cNvSpPr>
            <a:spLocks noGrp="1"/>
          </p:cNvSpPr>
          <p:nvPr>
            <p:ph type="dt" sz="half" idx="10"/>
          </p:nvPr>
        </p:nvSpPr>
        <p:spPr/>
        <p:txBody>
          <a:bodyPr/>
          <a:lstStyle/>
          <a:p>
            <a:fld id="{94CEE24A-8FE5-425E-B397-CA2F82FAE5BB}" type="datetimeFigureOut">
              <a:rPr lang="en-US" smtClean="0"/>
              <a:t>9/20/2026</a:t>
            </a:fld>
            <a:endParaRPr lang="en-US"/>
          </a:p>
        </p:txBody>
      </p:sp>
      <p:sp>
        <p:nvSpPr>
          <p:cNvPr id="3" name="Footer Placeholder 2">
            <a:extLst>
              <a:ext uri="{FF2B5EF4-FFF2-40B4-BE49-F238E27FC236}">
                <a16:creationId xmlns:a16="http://schemas.microsoft.com/office/drawing/2014/main" id="{41935478-37AD-8500-9298-9DB9A3F4593C}"/>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AA23B2C3-D420-9A86-84D2-0CA722AFE6DE}"/>
              </a:ext>
            </a:extLst>
          </p:cNvPr>
          <p:cNvSpPr>
            <a:spLocks noGrp="1"/>
          </p:cNvSpPr>
          <p:nvPr>
            <p:ph type="sldNum" sz="quarter" idx="12"/>
          </p:nvPr>
        </p:nvSpPr>
        <p:spPr/>
        <p:txBody>
          <a:bodyPr/>
          <a:lstStyle/>
          <a:p>
            <a:fld id="{09922683-70D2-44BA-B681-72A8F545644B}" type="slidenum">
              <a:rPr lang="en-US" smtClean="0"/>
              <a:t>‹#›</a:t>
            </a:fld>
            <a:endParaRPr lang="en-US"/>
          </a:p>
        </p:txBody>
      </p:sp>
    </p:spTree>
    <p:extLst>
      <p:ext uri="{BB962C8B-B14F-4D97-AF65-F5344CB8AC3E}">
        <p14:creationId xmlns:p14="http://schemas.microsoft.com/office/powerpoint/2010/main" val="405249420"/>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userDrawn="1">
  <p:cSld name="2_Three Column Slide_Black">
    <p:bg>
      <p:bgPr>
        <a:solidFill>
          <a:srgbClr val="1E0013"/>
        </a:solidFill>
        <a:effectLst/>
      </p:bgPr>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2E953437-7BD2-C772-170F-ED44D8CD8DA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 y="39"/>
            <a:ext cx="12192000" cy="6857929"/>
          </a:xfrm>
          <a:prstGeom prst="rect">
            <a:avLst/>
          </a:prstGeom>
        </p:spPr>
      </p:pic>
      <p:sp>
        <p:nvSpPr>
          <p:cNvPr id="11" name="Title 28"/>
          <p:cNvSpPr>
            <a:spLocks noGrp="1"/>
          </p:cNvSpPr>
          <p:nvPr>
            <p:ph type="title" hasCustomPrompt="1"/>
          </p:nvPr>
        </p:nvSpPr>
        <p:spPr bwMode="gray">
          <a:xfrm>
            <a:off x="760613" y="442528"/>
            <a:ext cx="10673829" cy="418576"/>
          </a:xfrm>
          <a:prstGeom prst="rect">
            <a:avLst/>
          </a:prstGeom>
        </p:spPr>
        <p:txBody>
          <a:bodyPr wrap="square" lIns="0" tIns="0" rIns="0" bIns="0" anchor="t" anchorCtr="0">
            <a:noAutofit/>
          </a:bodyPr>
          <a:lstStyle>
            <a:lvl1pPr marL="0" algn="l" defTabSz="1217890" rtl="0" eaLnBrk="1" latinLnBrk="0" hangingPunct="1">
              <a:lnSpc>
                <a:spcPct val="85000"/>
              </a:lnSpc>
              <a:spcBef>
                <a:spcPct val="0"/>
              </a:spcBef>
              <a:buNone/>
              <a:tabLst>
                <a:tab pos="1217890" algn="l"/>
              </a:tabLst>
              <a:defRPr lang="en-US" sz="3197"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3246902"/>
            <a:ext cx="3343142" cy="2849105"/>
          </a:xfrm>
          <a:prstGeom prst="rect">
            <a:avLst/>
          </a:prstGeom>
        </p:spPr>
        <p:txBody>
          <a:bodyPr lIns="0" tIns="0" rIns="0" bIns="0"/>
          <a:lstStyle>
            <a:lvl1pPr marL="0" indent="0">
              <a:lnSpc>
                <a:spcPct val="90000"/>
              </a:lnSpc>
              <a:spcBef>
                <a:spcPts val="1000"/>
              </a:spcBef>
              <a:buClrTx/>
              <a:buFont typeface="Arial" panose="020B0604020202020204" pitchFamily="34" charset="0"/>
              <a:buNone/>
              <a:defRPr sz="1600">
                <a:solidFill>
                  <a:schemeClr val="bg1"/>
                </a:solidFill>
                <a:latin typeface="Arial" pitchFamily="34" charset="0"/>
                <a:cs typeface="Arial" pitchFamily="34" charset="0"/>
              </a:defRPr>
            </a:lvl1pPr>
            <a:lvl2pPr marL="380591" indent="0">
              <a:lnSpc>
                <a:spcPct val="90000"/>
              </a:lnSpc>
              <a:spcBef>
                <a:spcPts val="500"/>
              </a:spcBef>
              <a:buClrTx/>
              <a:buFont typeface="Arial" pitchFamily="34" charset="0"/>
              <a:buNone/>
              <a:defRPr sz="1600">
                <a:solidFill>
                  <a:schemeClr val="bg1"/>
                </a:solidFill>
                <a:latin typeface="Arial" pitchFamily="34" charset="0"/>
                <a:cs typeface="Arial" pitchFamily="34" charset="0"/>
              </a:defRPr>
            </a:lvl2pPr>
            <a:lvl3pPr marL="685062" indent="0">
              <a:lnSpc>
                <a:spcPct val="90000"/>
              </a:lnSpc>
              <a:spcBef>
                <a:spcPts val="500"/>
              </a:spcBef>
              <a:buClrTx/>
              <a:buFont typeface="Arial" panose="020B0604020202020204" pitchFamily="34" charset="0"/>
              <a:buNone/>
              <a:defRPr sz="1600">
                <a:solidFill>
                  <a:schemeClr val="bg1"/>
                </a:solidFill>
                <a:latin typeface="Arial" pitchFamily="34" charset="0"/>
                <a:cs typeface="Arial" pitchFamily="34" charset="0"/>
              </a:defRPr>
            </a:lvl3pPr>
            <a:lvl4pPr marL="989536" indent="0">
              <a:lnSpc>
                <a:spcPct val="90000"/>
              </a:lnSpc>
              <a:spcBef>
                <a:spcPts val="500"/>
              </a:spcBef>
              <a:buClrTx/>
              <a:buFont typeface="Arial" panose="020B0604020202020204" pitchFamily="34" charset="0"/>
              <a:buNone/>
              <a:defRPr sz="1600">
                <a:solidFill>
                  <a:schemeClr val="bg1"/>
                </a:solidFill>
                <a:latin typeface="Arial" pitchFamily="34" charset="0"/>
                <a:cs typeface="Arial" pitchFamily="34" charset="0"/>
              </a:defRPr>
            </a:lvl4pPr>
            <a:lvl5pPr marL="1294008" indent="0">
              <a:lnSpc>
                <a:spcPct val="90000"/>
              </a:lnSpc>
              <a:spcBef>
                <a:spcPts val="500"/>
              </a:spcBef>
              <a:buClrTx/>
              <a:buFont typeface="Arial" panose="020B0604020202020204" pitchFamily="34" charset="0"/>
              <a:buNone/>
              <a:defRPr sz="1600">
                <a:solidFill>
                  <a:schemeClr val="bg1"/>
                </a:solidFill>
                <a:latin typeface="Arial" pitchFamily="34" charset="0"/>
                <a:cs typeface="Arial" pitchFamily="34" charset="0"/>
              </a:defRPr>
            </a:lvl5pPr>
            <a:lvl6pPr>
              <a:defRPr sz="2397"/>
            </a:lvl6pPr>
            <a:lvl7pPr>
              <a:defRPr sz="2397"/>
            </a:lvl7pPr>
            <a:lvl8pPr>
              <a:defRPr sz="2397"/>
            </a:lvl8pPr>
            <a:lvl9pPr>
              <a:defRPr sz="239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2"/>
          <p:cNvSpPr>
            <a:spLocks noGrp="1"/>
          </p:cNvSpPr>
          <p:nvPr>
            <p:ph sz="half" idx="10"/>
          </p:nvPr>
        </p:nvSpPr>
        <p:spPr bwMode="gray">
          <a:xfrm>
            <a:off x="4378402" y="3246902"/>
            <a:ext cx="3343142" cy="2849105"/>
          </a:xfrm>
          <a:prstGeom prst="rect">
            <a:avLst/>
          </a:prstGeom>
        </p:spPr>
        <p:txBody>
          <a:bodyPr lIns="0" tIns="0" rIns="0" bIns="0"/>
          <a:lstStyle>
            <a:lvl1pPr marL="0" indent="0">
              <a:lnSpc>
                <a:spcPct val="90000"/>
              </a:lnSpc>
              <a:spcBef>
                <a:spcPts val="1000"/>
              </a:spcBef>
              <a:buClrTx/>
              <a:buFont typeface="Arial" panose="020B0604020202020204" pitchFamily="34" charset="0"/>
              <a:buNone/>
              <a:defRPr sz="1600">
                <a:solidFill>
                  <a:schemeClr val="bg1"/>
                </a:solidFill>
                <a:latin typeface="Arial" pitchFamily="34" charset="0"/>
                <a:cs typeface="Arial" pitchFamily="34" charset="0"/>
              </a:defRPr>
            </a:lvl1pPr>
            <a:lvl2pPr marL="380591" indent="0">
              <a:lnSpc>
                <a:spcPct val="90000"/>
              </a:lnSpc>
              <a:spcBef>
                <a:spcPts val="500"/>
              </a:spcBef>
              <a:buClrTx/>
              <a:buFont typeface="Arial" pitchFamily="34" charset="0"/>
              <a:buNone/>
              <a:defRPr sz="1600">
                <a:solidFill>
                  <a:schemeClr val="bg1"/>
                </a:solidFill>
                <a:latin typeface="Arial" pitchFamily="34" charset="0"/>
                <a:cs typeface="Arial" pitchFamily="34" charset="0"/>
              </a:defRPr>
            </a:lvl2pPr>
            <a:lvl3pPr marL="685062" indent="0">
              <a:lnSpc>
                <a:spcPct val="90000"/>
              </a:lnSpc>
              <a:spcBef>
                <a:spcPts val="500"/>
              </a:spcBef>
              <a:buClrTx/>
              <a:buFont typeface="Arial" panose="020B0604020202020204" pitchFamily="34" charset="0"/>
              <a:buNone/>
              <a:defRPr sz="1600">
                <a:solidFill>
                  <a:schemeClr val="bg1"/>
                </a:solidFill>
                <a:latin typeface="Arial" pitchFamily="34" charset="0"/>
                <a:cs typeface="Arial" pitchFamily="34" charset="0"/>
              </a:defRPr>
            </a:lvl3pPr>
            <a:lvl4pPr marL="989536" indent="0">
              <a:lnSpc>
                <a:spcPct val="90000"/>
              </a:lnSpc>
              <a:spcBef>
                <a:spcPts val="500"/>
              </a:spcBef>
              <a:buClrTx/>
              <a:buFont typeface="Arial" panose="020B0604020202020204" pitchFamily="34" charset="0"/>
              <a:buNone/>
              <a:defRPr sz="1600">
                <a:solidFill>
                  <a:schemeClr val="bg1"/>
                </a:solidFill>
                <a:latin typeface="Arial" pitchFamily="34" charset="0"/>
                <a:cs typeface="Arial" pitchFamily="34" charset="0"/>
              </a:defRPr>
            </a:lvl4pPr>
            <a:lvl5pPr marL="1294008" indent="0">
              <a:lnSpc>
                <a:spcPct val="90000"/>
              </a:lnSpc>
              <a:spcBef>
                <a:spcPts val="500"/>
              </a:spcBef>
              <a:buClrTx/>
              <a:buFont typeface="Arial" panose="020B0604020202020204" pitchFamily="34" charset="0"/>
              <a:buNone/>
              <a:defRPr sz="1600">
                <a:solidFill>
                  <a:schemeClr val="bg1"/>
                </a:solidFill>
                <a:latin typeface="Arial" pitchFamily="34" charset="0"/>
                <a:cs typeface="Arial" pitchFamily="34" charset="0"/>
              </a:defRPr>
            </a:lvl5pPr>
            <a:lvl6pPr>
              <a:defRPr sz="2397"/>
            </a:lvl6pPr>
            <a:lvl7pPr>
              <a:defRPr sz="2397"/>
            </a:lvl7pPr>
            <a:lvl8pPr>
              <a:defRPr sz="2397"/>
            </a:lvl8pPr>
            <a:lvl9pPr>
              <a:defRPr sz="239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017903" y="3246902"/>
            <a:ext cx="3416536" cy="2849105"/>
          </a:xfrm>
          <a:prstGeom prst="rect">
            <a:avLst/>
          </a:prstGeom>
        </p:spPr>
        <p:txBody>
          <a:bodyPr lIns="0" tIns="0" rIns="0" bIns="0"/>
          <a:lstStyle>
            <a:lvl1pPr marL="0" indent="0">
              <a:lnSpc>
                <a:spcPct val="90000"/>
              </a:lnSpc>
              <a:spcBef>
                <a:spcPts val="1000"/>
              </a:spcBef>
              <a:buClrTx/>
              <a:buFont typeface="Arial" panose="020B0604020202020204" pitchFamily="34" charset="0"/>
              <a:buNone/>
              <a:defRPr sz="1600">
                <a:solidFill>
                  <a:schemeClr val="bg1"/>
                </a:solidFill>
                <a:latin typeface="Arial" pitchFamily="34" charset="0"/>
                <a:cs typeface="Arial" pitchFamily="34" charset="0"/>
              </a:defRPr>
            </a:lvl1pPr>
            <a:lvl2pPr marL="380591" indent="0">
              <a:lnSpc>
                <a:spcPct val="90000"/>
              </a:lnSpc>
              <a:spcBef>
                <a:spcPts val="500"/>
              </a:spcBef>
              <a:buClrTx/>
              <a:buFont typeface="Arial" pitchFamily="34" charset="0"/>
              <a:buNone/>
              <a:defRPr sz="1600">
                <a:solidFill>
                  <a:schemeClr val="bg1"/>
                </a:solidFill>
                <a:latin typeface="Arial" pitchFamily="34" charset="0"/>
                <a:cs typeface="Arial" pitchFamily="34" charset="0"/>
              </a:defRPr>
            </a:lvl2pPr>
            <a:lvl3pPr marL="685062" indent="0">
              <a:lnSpc>
                <a:spcPct val="90000"/>
              </a:lnSpc>
              <a:spcBef>
                <a:spcPts val="500"/>
              </a:spcBef>
              <a:buClrTx/>
              <a:buFont typeface="Arial" panose="020B0604020202020204" pitchFamily="34" charset="0"/>
              <a:buNone/>
              <a:defRPr sz="1600">
                <a:solidFill>
                  <a:schemeClr val="bg1"/>
                </a:solidFill>
                <a:latin typeface="Arial" pitchFamily="34" charset="0"/>
                <a:cs typeface="Arial" pitchFamily="34" charset="0"/>
              </a:defRPr>
            </a:lvl3pPr>
            <a:lvl4pPr marL="989536" indent="0">
              <a:lnSpc>
                <a:spcPct val="90000"/>
              </a:lnSpc>
              <a:spcBef>
                <a:spcPts val="500"/>
              </a:spcBef>
              <a:buClrTx/>
              <a:buFont typeface="Arial" panose="020B0604020202020204" pitchFamily="34" charset="0"/>
              <a:buNone/>
              <a:defRPr sz="1600">
                <a:solidFill>
                  <a:schemeClr val="bg1"/>
                </a:solidFill>
                <a:latin typeface="Arial" pitchFamily="34" charset="0"/>
                <a:cs typeface="Arial" pitchFamily="34" charset="0"/>
              </a:defRPr>
            </a:lvl4pPr>
            <a:lvl5pPr marL="1294008" indent="0">
              <a:lnSpc>
                <a:spcPct val="90000"/>
              </a:lnSpc>
              <a:spcBef>
                <a:spcPts val="500"/>
              </a:spcBef>
              <a:buClrTx/>
              <a:buFont typeface="Arial" panose="020B0604020202020204" pitchFamily="34" charset="0"/>
              <a:buNone/>
              <a:defRPr sz="1600">
                <a:solidFill>
                  <a:schemeClr val="bg1"/>
                </a:solidFill>
                <a:latin typeface="Arial" pitchFamily="34" charset="0"/>
                <a:cs typeface="Arial" pitchFamily="34" charset="0"/>
              </a:defRPr>
            </a:lvl5pPr>
            <a:lvl6pPr>
              <a:defRPr sz="2397"/>
            </a:lvl6pPr>
            <a:lvl7pPr>
              <a:defRPr sz="2397"/>
            </a:lvl7pPr>
            <a:lvl8pPr>
              <a:defRPr sz="2397"/>
            </a:lvl8pPr>
            <a:lvl9pPr>
              <a:defRPr sz="239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2" name="TextBox 21">
            <a:extLst>
              <a:ext uri="{FF2B5EF4-FFF2-40B4-BE49-F238E27FC236}">
                <a16:creationId xmlns:a16="http://schemas.microsoft.com/office/drawing/2014/main" id="{5C06526B-689D-F225-B2C2-E0BBC08CF3D7}"/>
              </a:ext>
            </a:extLst>
          </p:cNvPr>
          <p:cNvSpPr txBox="1"/>
          <p:nvPr userDrawn="1"/>
        </p:nvSpPr>
        <p:spPr>
          <a:xfrm>
            <a:off x="1602706"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2025 Lenovo Internal. All rights reserved.</a:t>
            </a:r>
          </a:p>
        </p:txBody>
      </p:sp>
      <p:grpSp>
        <p:nvGrpSpPr>
          <p:cNvPr id="23" name="Group 22">
            <a:extLst>
              <a:ext uri="{FF2B5EF4-FFF2-40B4-BE49-F238E27FC236}">
                <a16:creationId xmlns:a16="http://schemas.microsoft.com/office/drawing/2014/main" id="{BB227283-6F61-7A48-A890-A6560B0C46EE}"/>
              </a:ext>
            </a:extLst>
          </p:cNvPr>
          <p:cNvGrpSpPr>
            <a:grpSpLocks noChangeAspect="1"/>
          </p:cNvGrpSpPr>
          <p:nvPr userDrawn="1"/>
        </p:nvGrpSpPr>
        <p:grpSpPr>
          <a:xfrm>
            <a:off x="760611" y="6348283"/>
            <a:ext cx="777442" cy="259316"/>
            <a:chOff x="547688" y="952500"/>
            <a:chExt cx="12190413" cy="4067175"/>
          </a:xfrm>
        </p:grpSpPr>
        <p:sp>
          <p:nvSpPr>
            <p:cNvPr id="24" name="Rectangle 23">
              <a:extLst>
                <a:ext uri="{FF2B5EF4-FFF2-40B4-BE49-F238E27FC236}">
                  <a16:creationId xmlns:a16="http://schemas.microsoft.com/office/drawing/2014/main" id="{65B243C2-75F5-6AC0-1833-76F42C53A2A8}"/>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25" name="Freeform 7">
              <a:extLst>
                <a:ext uri="{FF2B5EF4-FFF2-40B4-BE49-F238E27FC236}">
                  <a16:creationId xmlns:a16="http://schemas.microsoft.com/office/drawing/2014/main" id="{3D61DFCD-9B7B-9CEE-09F1-B3FFBCEC4B62}"/>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26" name="Freeform 8">
              <a:extLst>
                <a:ext uri="{FF2B5EF4-FFF2-40B4-BE49-F238E27FC236}">
                  <a16:creationId xmlns:a16="http://schemas.microsoft.com/office/drawing/2014/main" id="{2E7D430F-6BD5-C242-3242-1C4393E85FE7}"/>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27" name="Freeform 9">
              <a:extLst>
                <a:ext uri="{FF2B5EF4-FFF2-40B4-BE49-F238E27FC236}">
                  <a16:creationId xmlns:a16="http://schemas.microsoft.com/office/drawing/2014/main" id="{15AA8EC8-6FD0-6F7C-5280-A51D23117751}"/>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28" name="Freeform 10">
              <a:extLst>
                <a:ext uri="{FF2B5EF4-FFF2-40B4-BE49-F238E27FC236}">
                  <a16:creationId xmlns:a16="http://schemas.microsoft.com/office/drawing/2014/main" id="{E7CAAC3B-4107-FAE2-2BB7-B0E46A4F5E4A}"/>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29" name="Freeform 10">
              <a:extLst>
                <a:ext uri="{FF2B5EF4-FFF2-40B4-BE49-F238E27FC236}">
                  <a16:creationId xmlns:a16="http://schemas.microsoft.com/office/drawing/2014/main" id="{F163CF3C-7F65-26FA-53B9-F3B8000834C4}"/>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30" name="Freeform 11">
              <a:extLst>
                <a:ext uri="{FF2B5EF4-FFF2-40B4-BE49-F238E27FC236}">
                  <a16:creationId xmlns:a16="http://schemas.microsoft.com/office/drawing/2014/main" id="{FA837C5D-6026-3DC8-E17F-DE9A1A333732}"/>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grpSp>
      <p:sp>
        <p:nvSpPr>
          <p:cNvPr id="2" name="Slide Number Placeholder 1">
            <a:extLst>
              <a:ext uri="{FF2B5EF4-FFF2-40B4-BE49-F238E27FC236}">
                <a16:creationId xmlns:a16="http://schemas.microsoft.com/office/drawing/2014/main" id="{3A92B045-EC23-B30D-E716-8FEBB279E86E}"/>
              </a:ext>
            </a:extLst>
          </p:cNvPr>
          <p:cNvSpPr>
            <a:spLocks noGrp="1"/>
          </p:cNvSpPr>
          <p:nvPr>
            <p:ph type="sldNum" sz="quarter" idx="12"/>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3" name="Text Placeholder 2">
            <a:extLst>
              <a:ext uri="{FF2B5EF4-FFF2-40B4-BE49-F238E27FC236}">
                <a16:creationId xmlns:a16="http://schemas.microsoft.com/office/drawing/2014/main" id="{ACB2420C-6E33-C81A-8CE0-7C556CB928D7}"/>
              </a:ext>
            </a:extLst>
          </p:cNvPr>
          <p:cNvSpPr>
            <a:spLocks noGrp="1"/>
          </p:cNvSpPr>
          <p:nvPr>
            <p:ph type="body" idx="13"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1997" b="0">
                <a:solidFill>
                  <a:schemeClr val="bg1"/>
                </a:solidFill>
                <a:latin typeface="Arial" pitchFamily="34" charset="0"/>
                <a:cs typeface="Arial" pitchFamily="34" charset="0"/>
              </a:defRPr>
            </a:lvl1pPr>
            <a:lvl2pPr marL="608944" indent="0">
              <a:buNone/>
              <a:defRPr sz="2697" b="1"/>
            </a:lvl2pPr>
            <a:lvl3pPr marL="1217890" indent="0">
              <a:buNone/>
              <a:defRPr sz="2397" b="1"/>
            </a:lvl3pPr>
            <a:lvl4pPr marL="1826835" indent="0">
              <a:buNone/>
              <a:defRPr sz="2097" b="1"/>
            </a:lvl4pPr>
            <a:lvl5pPr marL="2435780" indent="0">
              <a:buNone/>
              <a:defRPr sz="2097" b="1"/>
            </a:lvl5pPr>
            <a:lvl6pPr marL="3044725" indent="0">
              <a:buNone/>
              <a:defRPr sz="2097" b="1"/>
            </a:lvl6pPr>
            <a:lvl7pPr marL="3653670" indent="0">
              <a:buNone/>
              <a:defRPr sz="2097" b="1"/>
            </a:lvl7pPr>
            <a:lvl8pPr marL="4262614" indent="0">
              <a:buNone/>
              <a:defRPr sz="2097" b="1"/>
            </a:lvl8pPr>
            <a:lvl9pPr marL="4871560" indent="0">
              <a:buNone/>
              <a:defRPr sz="2097" b="1"/>
            </a:lvl9pPr>
          </a:lstStyle>
          <a:p>
            <a:pPr lvl="0"/>
            <a:r>
              <a:rPr lang="en-US"/>
              <a:t>Click to edit master text styles</a:t>
            </a:r>
          </a:p>
        </p:txBody>
      </p:sp>
    </p:spTree>
    <p:extLst>
      <p:ext uri="{BB962C8B-B14F-4D97-AF65-F5344CB8AC3E}">
        <p14:creationId xmlns:p14="http://schemas.microsoft.com/office/powerpoint/2010/main" val="656513851"/>
      </p:ext>
    </p:extLst>
  </p:cSld>
  <p:clrMapOvr>
    <a:masterClrMapping/>
  </p:clrMapOvr>
  <p:transition spd="med"/>
</p:sldLayout>
</file>

<file path=ppt/slideLayouts/slideLayout12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D2FC2F5-E86E-C294-4341-9E65F00B22F6}"/>
              </a:ext>
            </a:extLst>
          </p:cNvPr>
          <p:cNvSpPr>
            <a:spLocks noGrp="1"/>
          </p:cNvSpPr>
          <p:nvPr>
            <p:ph type="ctrTitle"/>
          </p:nvPr>
        </p:nvSpPr>
        <p:spPr>
          <a:xfrm>
            <a:off x="1524003" y="1122363"/>
            <a:ext cx="9144000" cy="2387600"/>
          </a:xfrm>
        </p:spPr>
        <p:txBody>
          <a:bodyPr anchor="b"/>
          <a:lstStyle>
            <a:lvl1pPr algn="ctr">
              <a:defRPr sz="5994"/>
            </a:lvl1pPr>
          </a:lstStyle>
          <a:p>
            <a:r>
              <a:rPr kumimoji="1" lang="zh-CN" altLang="en-US"/>
              <a:t>单击此处编辑母版标题样式</a:t>
            </a:r>
          </a:p>
        </p:txBody>
      </p:sp>
      <p:sp>
        <p:nvSpPr>
          <p:cNvPr id="3" name="副标题 2">
            <a:extLst>
              <a:ext uri="{FF2B5EF4-FFF2-40B4-BE49-F238E27FC236}">
                <a16:creationId xmlns:a16="http://schemas.microsoft.com/office/drawing/2014/main" id="{363BCE0D-6471-FDA0-7D7D-FC96DF20ADC0}"/>
              </a:ext>
            </a:extLst>
          </p:cNvPr>
          <p:cNvSpPr>
            <a:spLocks noGrp="1"/>
          </p:cNvSpPr>
          <p:nvPr>
            <p:ph type="subTitle" idx="1"/>
          </p:nvPr>
        </p:nvSpPr>
        <p:spPr>
          <a:xfrm>
            <a:off x="1524003" y="3602038"/>
            <a:ext cx="9144000" cy="1655762"/>
          </a:xfrm>
        </p:spPr>
        <p:txBody>
          <a:bodyPr/>
          <a:lstStyle>
            <a:lvl1pPr marL="0" indent="0" algn="ctr">
              <a:buNone/>
              <a:defRPr sz="2397"/>
            </a:lvl1pPr>
            <a:lvl2pPr marL="456789" indent="0" algn="ctr">
              <a:buNone/>
              <a:defRPr sz="1997"/>
            </a:lvl2pPr>
            <a:lvl3pPr marL="913578" indent="0" algn="ctr">
              <a:buNone/>
              <a:defRPr sz="1797"/>
            </a:lvl3pPr>
            <a:lvl4pPr marL="1370367" indent="0" algn="ctr">
              <a:buNone/>
              <a:defRPr sz="1600"/>
            </a:lvl4pPr>
            <a:lvl5pPr marL="1827155" indent="0" algn="ctr">
              <a:buNone/>
              <a:defRPr sz="1600"/>
            </a:lvl5pPr>
            <a:lvl6pPr marL="2283943" indent="0" algn="ctr">
              <a:buNone/>
              <a:defRPr sz="1600"/>
            </a:lvl6pPr>
            <a:lvl7pPr marL="2740732" indent="0" algn="ctr">
              <a:buNone/>
              <a:defRPr sz="1600"/>
            </a:lvl7pPr>
            <a:lvl8pPr marL="3197520" indent="0" algn="ctr">
              <a:buNone/>
              <a:defRPr sz="1600"/>
            </a:lvl8pPr>
            <a:lvl9pPr marL="3654309" indent="0" algn="ctr">
              <a:buNone/>
              <a:defRPr sz="1600"/>
            </a:lvl9pPr>
          </a:lstStyle>
          <a:p>
            <a:r>
              <a:rPr kumimoji="1" lang="zh-CN" altLang="en-US"/>
              <a:t>单击此处编辑母版副标题样式</a:t>
            </a:r>
          </a:p>
        </p:txBody>
      </p:sp>
      <p:sp>
        <p:nvSpPr>
          <p:cNvPr id="4" name="日期占位符 3">
            <a:extLst>
              <a:ext uri="{FF2B5EF4-FFF2-40B4-BE49-F238E27FC236}">
                <a16:creationId xmlns:a16="http://schemas.microsoft.com/office/drawing/2014/main" id="{3B81CD84-A85D-8CB1-EB7D-D102AC876662}"/>
              </a:ext>
            </a:extLst>
          </p:cNvPr>
          <p:cNvSpPr>
            <a:spLocks noGrp="1"/>
          </p:cNvSpPr>
          <p:nvPr>
            <p:ph type="dt" sz="half" idx="10"/>
          </p:nvPr>
        </p:nvSpPr>
        <p:spPr/>
        <p:txBody>
          <a:bodyPr/>
          <a:lstStyle/>
          <a:p>
            <a:fld id="{401720EA-E037-1549-A65A-15BA74C769CC}" type="datetimeFigureOut">
              <a:rPr kumimoji="1" lang="zh-CN" altLang="en-US" smtClean="0"/>
              <a:t>2026/9/20</a:t>
            </a:fld>
            <a:endParaRPr kumimoji="1" lang="zh-CN" altLang="en-US"/>
          </a:p>
        </p:txBody>
      </p:sp>
      <p:sp>
        <p:nvSpPr>
          <p:cNvPr id="5" name="页脚占位符 4">
            <a:extLst>
              <a:ext uri="{FF2B5EF4-FFF2-40B4-BE49-F238E27FC236}">
                <a16:creationId xmlns:a16="http://schemas.microsoft.com/office/drawing/2014/main" id="{82678884-F541-B640-8494-E0F595DAAB81}"/>
              </a:ext>
            </a:extLst>
          </p:cNvPr>
          <p:cNvSpPr>
            <a:spLocks noGrp="1"/>
          </p:cNvSpPr>
          <p:nvPr>
            <p:ph type="ftr" sz="quarter" idx="11"/>
          </p:nvPr>
        </p:nvSpPr>
        <p:spPr/>
        <p:txBody>
          <a:bodyPr/>
          <a:lstStyle/>
          <a:p>
            <a:endParaRPr kumimoji="1" lang="zh-CN" altLang="en-US"/>
          </a:p>
        </p:txBody>
      </p:sp>
      <p:sp>
        <p:nvSpPr>
          <p:cNvPr id="6" name="灯片编号占位符 5">
            <a:extLst>
              <a:ext uri="{FF2B5EF4-FFF2-40B4-BE49-F238E27FC236}">
                <a16:creationId xmlns:a16="http://schemas.microsoft.com/office/drawing/2014/main" id="{24A7F01E-82D8-5719-1FF5-DE636F78DAC3}"/>
              </a:ext>
            </a:extLst>
          </p:cNvPr>
          <p:cNvSpPr>
            <a:spLocks noGrp="1"/>
          </p:cNvSpPr>
          <p:nvPr>
            <p:ph type="sldNum" sz="quarter" idx="12"/>
          </p:nvPr>
        </p:nvSpPr>
        <p:spPr/>
        <p:txBody>
          <a:bodyPr/>
          <a:lstStyle/>
          <a:p>
            <a:fld id="{C4672A32-DE14-AF45-A081-3424774CD98D}" type="slidenum">
              <a:rPr kumimoji="1" lang="zh-CN" altLang="en-US" smtClean="0"/>
              <a:t>‹#›</a:t>
            </a:fld>
            <a:endParaRPr kumimoji="1" lang="zh-CN" altLang="en-US"/>
          </a:p>
        </p:txBody>
      </p:sp>
    </p:spTree>
    <p:extLst>
      <p:ext uri="{BB962C8B-B14F-4D97-AF65-F5344CB8AC3E}">
        <p14:creationId xmlns:p14="http://schemas.microsoft.com/office/powerpoint/2010/main" val="48056189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preserve="1" userDrawn="1">
  <p:cSld name="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548783" y="1685684"/>
            <a:ext cx="9962830" cy="2894768"/>
          </a:xfrm>
          <a:prstGeom prst="rect">
            <a:avLst/>
          </a:prstGeom>
        </p:spPr>
        <p:txBody>
          <a:bodyPr wrap="square" lIns="0" tIns="0" rIns="121899" bIns="0" anchor="b" anchorCtr="0"/>
          <a:lstStyle>
            <a:lvl1pPr marL="0" algn="l" defTabSz="1218621" rtl="0" eaLnBrk="1" latinLnBrk="0" hangingPunct="1">
              <a:lnSpc>
                <a:spcPts val="6798"/>
              </a:lnSpc>
              <a:spcBef>
                <a:spcPct val="0"/>
              </a:spcBef>
              <a:buNone/>
              <a:defRPr lang="en-US" sz="7998" b="1" kern="1200" cap="none" spc="-15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br>
              <a:rPr lang="en-US"/>
            </a:br>
            <a:r>
              <a:rPr lang="en-US"/>
              <a:t>three lines</a:t>
            </a:r>
          </a:p>
        </p:txBody>
      </p:sp>
      <p:sp>
        <p:nvSpPr>
          <p:cNvPr id="55" name="Subtitle 2"/>
          <p:cNvSpPr>
            <a:spLocks noGrp="1"/>
          </p:cNvSpPr>
          <p:nvPr userDrawn="1">
            <p:ph type="subTitle" idx="1" hasCustomPrompt="1"/>
          </p:nvPr>
        </p:nvSpPr>
        <p:spPr bwMode="gray">
          <a:xfrm>
            <a:off x="548783" y="4715116"/>
            <a:ext cx="9952388" cy="457200"/>
          </a:xfrm>
          <a:prstGeom prst="rect">
            <a:avLst/>
          </a:prstGeom>
        </p:spPr>
        <p:txBody>
          <a:bodyPr lIns="0" tIns="0" rIns="0" bIns="0" anchor="b" anchorCtr="0"/>
          <a:lstStyle>
            <a:lvl1pPr marL="0" indent="0" algn="l" defTabSz="1218621" rtl="0" eaLnBrk="1" latinLnBrk="0" hangingPunct="1">
              <a:lnSpc>
                <a:spcPct val="90000"/>
              </a:lnSpc>
              <a:spcBef>
                <a:spcPct val="0"/>
              </a:spcBef>
              <a:buNone/>
              <a:defRPr lang="en-US" sz="2599" b="0" kern="1200" cap="none" spc="0" baseline="0" dirty="0">
                <a:solidFill>
                  <a:schemeClr val="tx1"/>
                </a:solidFill>
                <a:latin typeface="Arial" pitchFamily="34" charset="0"/>
                <a:ea typeface="+mn-ea"/>
                <a:cs typeface="Arial" pitchFamily="34" charset="0"/>
              </a:defRPr>
            </a:lvl1pPr>
            <a:lvl2pPr marL="609310" indent="0" algn="ctr">
              <a:buNone/>
              <a:defRPr>
                <a:solidFill>
                  <a:schemeClr val="tx1">
                    <a:tint val="75000"/>
                  </a:schemeClr>
                </a:solidFill>
              </a:defRPr>
            </a:lvl2pPr>
            <a:lvl3pPr marL="1218621" indent="0" algn="ctr">
              <a:buNone/>
              <a:defRPr>
                <a:solidFill>
                  <a:schemeClr val="tx1">
                    <a:tint val="75000"/>
                  </a:schemeClr>
                </a:solidFill>
              </a:defRPr>
            </a:lvl3pPr>
            <a:lvl4pPr marL="1827931" indent="0" algn="ctr">
              <a:buNone/>
              <a:defRPr>
                <a:solidFill>
                  <a:schemeClr val="tx1">
                    <a:tint val="75000"/>
                  </a:schemeClr>
                </a:solidFill>
              </a:defRPr>
            </a:lvl4pPr>
            <a:lvl5pPr marL="2437242" indent="0" algn="ctr">
              <a:buNone/>
              <a:defRPr>
                <a:solidFill>
                  <a:schemeClr val="tx1">
                    <a:tint val="75000"/>
                  </a:schemeClr>
                </a:solidFill>
              </a:defRPr>
            </a:lvl5pPr>
            <a:lvl6pPr marL="3046553" indent="0" algn="ctr">
              <a:buNone/>
              <a:defRPr>
                <a:solidFill>
                  <a:schemeClr val="tx1">
                    <a:tint val="75000"/>
                  </a:schemeClr>
                </a:solidFill>
              </a:defRPr>
            </a:lvl6pPr>
            <a:lvl7pPr marL="3655863" indent="0" algn="ctr">
              <a:buNone/>
              <a:defRPr>
                <a:solidFill>
                  <a:schemeClr val="tx1">
                    <a:tint val="75000"/>
                  </a:schemeClr>
                </a:solidFill>
              </a:defRPr>
            </a:lvl7pPr>
            <a:lvl8pPr marL="4265173" indent="0" algn="ctr">
              <a:buNone/>
              <a:defRPr>
                <a:solidFill>
                  <a:schemeClr val="tx1">
                    <a:tint val="75000"/>
                  </a:schemeClr>
                </a:solidFill>
              </a:defRPr>
            </a:lvl8pPr>
            <a:lvl9pPr marL="4874484"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548783" y="6473952"/>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2020 Lenovo Internal. All rights reserved.</a:t>
            </a:r>
          </a:p>
        </p:txBody>
      </p:sp>
      <p:grpSp>
        <p:nvGrpSpPr>
          <p:cNvPr id="48" name="Group 47">
            <a:extLst>
              <a:ext uri="{FF2B5EF4-FFF2-40B4-BE49-F238E27FC236}">
                <a16:creationId xmlns:a16="http://schemas.microsoft.com/office/drawing/2014/main" id="{F4B5B53C-9814-4319-B2AA-2C21FFC03C69}"/>
              </a:ext>
            </a:extLst>
          </p:cNvPr>
          <p:cNvGrpSpPr>
            <a:grpSpLocks noChangeAspect="1"/>
          </p:cNvGrpSpPr>
          <p:nvPr userDrawn="1"/>
        </p:nvGrpSpPr>
        <p:grpSpPr>
          <a:xfrm rot="16200000">
            <a:off x="9858491" y="2024528"/>
            <a:ext cx="3499241" cy="1167779"/>
            <a:chOff x="547688" y="952500"/>
            <a:chExt cx="12190413" cy="4067175"/>
          </a:xfrm>
        </p:grpSpPr>
        <p:sp>
          <p:nvSpPr>
            <p:cNvPr id="50" name="Rectangle 49">
              <a:extLst>
                <a:ext uri="{FF2B5EF4-FFF2-40B4-BE49-F238E27FC236}">
                  <a16:creationId xmlns:a16="http://schemas.microsoft.com/office/drawing/2014/main" id="{A86DAFFA-DD2C-4B45-869C-80A8537FFB18}"/>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1" name="Freeform 7">
              <a:extLst>
                <a:ext uri="{FF2B5EF4-FFF2-40B4-BE49-F238E27FC236}">
                  <a16:creationId xmlns:a16="http://schemas.microsoft.com/office/drawing/2014/main" id="{26F6C622-0F1C-400B-80F7-27499D487BE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2" name="Freeform 8">
              <a:extLst>
                <a:ext uri="{FF2B5EF4-FFF2-40B4-BE49-F238E27FC236}">
                  <a16:creationId xmlns:a16="http://schemas.microsoft.com/office/drawing/2014/main" id="{3843D85E-D61D-49D2-8C0B-2814AA27614C}"/>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3" name="Freeform 9">
              <a:extLst>
                <a:ext uri="{FF2B5EF4-FFF2-40B4-BE49-F238E27FC236}">
                  <a16:creationId xmlns:a16="http://schemas.microsoft.com/office/drawing/2014/main" id="{3230BEAE-88C1-454A-9CCC-1D4B1775E57B}"/>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4" name="Freeform 10">
              <a:extLst>
                <a:ext uri="{FF2B5EF4-FFF2-40B4-BE49-F238E27FC236}">
                  <a16:creationId xmlns:a16="http://schemas.microsoft.com/office/drawing/2014/main" id="{051B78A0-6BF0-417B-86F2-F30C15214E88}"/>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7" name="Freeform 10">
              <a:extLst>
                <a:ext uri="{FF2B5EF4-FFF2-40B4-BE49-F238E27FC236}">
                  <a16:creationId xmlns:a16="http://schemas.microsoft.com/office/drawing/2014/main" id="{DC72F71B-EE86-4EF7-B865-447B4ED71B2C}"/>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8" name="Freeform 11">
              <a:extLst>
                <a:ext uri="{FF2B5EF4-FFF2-40B4-BE49-F238E27FC236}">
                  <a16:creationId xmlns:a16="http://schemas.microsoft.com/office/drawing/2014/main" id="{A3EC0C04-B0DD-4A32-813E-011A695342F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63" name="Freeform 5">
            <a:extLst>
              <a:ext uri="{FF2B5EF4-FFF2-40B4-BE49-F238E27FC236}">
                <a16:creationId xmlns:a16="http://schemas.microsoft.com/office/drawing/2014/main" id="{433BBA68-D2F6-45DA-B6D3-4CBDACC1E270}"/>
              </a:ext>
            </a:extLst>
          </p:cNvPr>
          <p:cNvSpPr>
            <a:spLocks noChangeAspect="1" noEditPoints="1"/>
          </p:cNvSpPr>
          <p:nvPr userDrawn="1"/>
        </p:nvSpPr>
        <p:spPr bwMode="auto">
          <a:xfrm>
            <a:off x="548784" y="858794"/>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gradFill>
            <a:gsLst>
              <a:gs pos="100000">
                <a:srgbClr val="F15F22"/>
              </a:gs>
              <a:gs pos="54000">
                <a:srgbClr val="F06422"/>
              </a:gs>
              <a:gs pos="76000">
                <a:srgbClr val="E32526"/>
              </a:gs>
              <a:gs pos="0">
                <a:srgbClr val="E32F2A"/>
              </a:gs>
              <a:gs pos="26000">
                <a:srgbClr val="A32022"/>
              </a:gs>
            </a:gsLst>
            <a:lin ang="2400000" scaled="0"/>
          </a:gradFill>
          <a:ln>
            <a:noFill/>
          </a:ln>
        </p:spPr>
        <p:txBody>
          <a:bodyPr vert="horz" wrap="square" lIns="91416" tIns="45708" rIns="91416" bIns="45708" numCol="1" anchor="t" anchorCtr="0" compatLnSpc="1">
            <a:prstTxWarp prst="textNoShape">
              <a:avLst/>
            </a:prstTxWarp>
          </a:bodyPr>
          <a:lstStyle/>
          <a:p>
            <a:endParaRPr lang="en-US" sz="1799"/>
          </a:p>
        </p:txBody>
      </p:sp>
    </p:spTree>
    <p:extLst>
      <p:ext uri="{BB962C8B-B14F-4D97-AF65-F5344CB8AC3E}">
        <p14:creationId xmlns:p14="http://schemas.microsoft.com/office/powerpoint/2010/main" val="440734647"/>
      </p:ext>
    </p:extLst>
  </p:cSld>
  <p:clrMapOvr>
    <a:masterClrMapping/>
  </p:clrMapOvr>
  <p:transition spd="med"/>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Title Slide_Black">
    <p:bg>
      <p:bgPr>
        <a:solidFill>
          <a:schemeClr val="tx1"/>
        </a:solidFill>
        <a:effectLst/>
      </p:bgPr>
    </p:bg>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548783" y="1682496"/>
            <a:ext cx="9962830" cy="2898648"/>
          </a:xfrm>
          <a:prstGeom prst="rect">
            <a:avLst/>
          </a:prstGeom>
        </p:spPr>
        <p:txBody>
          <a:bodyPr lIns="0" tIns="0" rIns="121899" bIns="0" anchor="b" anchorCtr="0"/>
          <a:lstStyle>
            <a:lvl1pPr marL="0" algn="l" defTabSz="1218621" rtl="0" eaLnBrk="1" latinLnBrk="0" hangingPunct="1">
              <a:lnSpc>
                <a:spcPts val="6798"/>
              </a:lnSpc>
              <a:spcBef>
                <a:spcPct val="0"/>
              </a:spcBef>
              <a:buNone/>
              <a:defRPr lang="en-US" sz="7998"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br>
              <a:rPr lang="en-US"/>
            </a:br>
            <a:r>
              <a:rPr lang="en-US"/>
              <a:t>three lines</a:t>
            </a:r>
          </a:p>
        </p:txBody>
      </p:sp>
      <p:sp>
        <p:nvSpPr>
          <p:cNvPr id="55" name="Subtitle 2"/>
          <p:cNvSpPr>
            <a:spLocks noGrp="1"/>
          </p:cNvSpPr>
          <p:nvPr userDrawn="1">
            <p:ph type="subTitle" idx="1" hasCustomPrompt="1"/>
          </p:nvPr>
        </p:nvSpPr>
        <p:spPr bwMode="gray">
          <a:xfrm>
            <a:off x="548783" y="4718304"/>
            <a:ext cx="9952388" cy="457200"/>
          </a:xfrm>
          <a:prstGeom prst="rect">
            <a:avLst/>
          </a:prstGeom>
        </p:spPr>
        <p:txBody>
          <a:bodyPr lIns="0" tIns="0" rIns="0" bIns="0" anchor="b" anchorCtr="0"/>
          <a:lstStyle>
            <a:lvl1pPr marL="0" indent="0" algn="l" defTabSz="1218621" rtl="0" eaLnBrk="1" latinLnBrk="0" hangingPunct="1">
              <a:lnSpc>
                <a:spcPct val="90000"/>
              </a:lnSpc>
              <a:spcBef>
                <a:spcPct val="0"/>
              </a:spcBef>
              <a:buNone/>
              <a:defRPr lang="en-US" sz="2599" b="0" kern="1200" cap="none" spc="0" baseline="0" dirty="0">
                <a:solidFill>
                  <a:schemeClr val="bg1"/>
                </a:solidFill>
                <a:latin typeface="Arial" pitchFamily="34" charset="0"/>
                <a:ea typeface="+mn-ea"/>
                <a:cs typeface="Arial" pitchFamily="34" charset="0"/>
              </a:defRPr>
            </a:lvl1pPr>
            <a:lvl2pPr marL="609310" indent="0" algn="ctr">
              <a:buNone/>
              <a:defRPr>
                <a:solidFill>
                  <a:schemeClr val="tx1">
                    <a:tint val="75000"/>
                  </a:schemeClr>
                </a:solidFill>
              </a:defRPr>
            </a:lvl2pPr>
            <a:lvl3pPr marL="1218621" indent="0" algn="ctr">
              <a:buNone/>
              <a:defRPr>
                <a:solidFill>
                  <a:schemeClr val="tx1">
                    <a:tint val="75000"/>
                  </a:schemeClr>
                </a:solidFill>
              </a:defRPr>
            </a:lvl3pPr>
            <a:lvl4pPr marL="1827931" indent="0" algn="ctr">
              <a:buNone/>
              <a:defRPr>
                <a:solidFill>
                  <a:schemeClr val="tx1">
                    <a:tint val="75000"/>
                  </a:schemeClr>
                </a:solidFill>
              </a:defRPr>
            </a:lvl4pPr>
            <a:lvl5pPr marL="2437242" indent="0" algn="ctr">
              <a:buNone/>
              <a:defRPr>
                <a:solidFill>
                  <a:schemeClr val="tx1">
                    <a:tint val="75000"/>
                  </a:schemeClr>
                </a:solidFill>
              </a:defRPr>
            </a:lvl5pPr>
            <a:lvl6pPr marL="3046553" indent="0" algn="ctr">
              <a:buNone/>
              <a:defRPr>
                <a:solidFill>
                  <a:schemeClr val="tx1">
                    <a:tint val="75000"/>
                  </a:schemeClr>
                </a:solidFill>
              </a:defRPr>
            </a:lvl6pPr>
            <a:lvl7pPr marL="3655863" indent="0" algn="ctr">
              <a:buNone/>
              <a:defRPr>
                <a:solidFill>
                  <a:schemeClr val="tx1">
                    <a:tint val="75000"/>
                  </a:schemeClr>
                </a:solidFill>
              </a:defRPr>
            </a:lvl7pPr>
            <a:lvl8pPr marL="4265173" indent="0" algn="ctr">
              <a:buNone/>
              <a:defRPr>
                <a:solidFill>
                  <a:schemeClr val="tx1">
                    <a:tint val="75000"/>
                  </a:schemeClr>
                </a:solidFill>
              </a:defRPr>
            </a:lvl8pPr>
            <a:lvl9pPr marL="4874484"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548783"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48" name="Group 47">
            <a:extLst>
              <a:ext uri="{FF2B5EF4-FFF2-40B4-BE49-F238E27FC236}">
                <a16:creationId xmlns:a16="http://schemas.microsoft.com/office/drawing/2014/main" id="{AE4354B5-047A-475C-B07D-46E2DFF45FA8}"/>
              </a:ext>
            </a:extLst>
          </p:cNvPr>
          <p:cNvGrpSpPr>
            <a:grpSpLocks noChangeAspect="1"/>
          </p:cNvGrpSpPr>
          <p:nvPr userDrawn="1"/>
        </p:nvGrpSpPr>
        <p:grpSpPr>
          <a:xfrm rot="16200000">
            <a:off x="9858491" y="2024528"/>
            <a:ext cx="3499241" cy="1167779"/>
            <a:chOff x="547688" y="952500"/>
            <a:chExt cx="12190413" cy="4067175"/>
          </a:xfrm>
        </p:grpSpPr>
        <p:sp>
          <p:nvSpPr>
            <p:cNvPr id="95" name="Rectangle 94">
              <a:extLst>
                <a:ext uri="{FF2B5EF4-FFF2-40B4-BE49-F238E27FC236}">
                  <a16:creationId xmlns:a16="http://schemas.microsoft.com/office/drawing/2014/main" id="{33F3F616-0187-486C-92AE-8E9BB4F5D864}"/>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6" name="Freeform 7">
              <a:extLst>
                <a:ext uri="{FF2B5EF4-FFF2-40B4-BE49-F238E27FC236}">
                  <a16:creationId xmlns:a16="http://schemas.microsoft.com/office/drawing/2014/main" id="{39D476EA-97BB-4757-AE8D-46ABA28B578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7" name="Freeform 8">
              <a:extLst>
                <a:ext uri="{FF2B5EF4-FFF2-40B4-BE49-F238E27FC236}">
                  <a16:creationId xmlns:a16="http://schemas.microsoft.com/office/drawing/2014/main" id="{83FC1BD3-A3C2-46E0-8E09-0F43D0DB3EE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8" name="Freeform 9">
              <a:extLst>
                <a:ext uri="{FF2B5EF4-FFF2-40B4-BE49-F238E27FC236}">
                  <a16:creationId xmlns:a16="http://schemas.microsoft.com/office/drawing/2014/main" id="{B07C1556-FAA5-423D-9C3E-BFD6B99A6BBD}"/>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9" name="Freeform 10">
              <a:extLst>
                <a:ext uri="{FF2B5EF4-FFF2-40B4-BE49-F238E27FC236}">
                  <a16:creationId xmlns:a16="http://schemas.microsoft.com/office/drawing/2014/main" id="{1DB9EF8A-92AF-4FB6-9EB8-BBB43909F2F8}"/>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0" name="Freeform 10">
              <a:extLst>
                <a:ext uri="{FF2B5EF4-FFF2-40B4-BE49-F238E27FC236}">
                  <a16:creationId xmlns:a16="http://schemas.microsoft.com/office/drawing/2014/main" id="{07C51CC9-E5B8-4E20-A914-408659940AB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1" name="Freeform 11">
              <a:extLst>
                <a:ext uri="{FF2B5EF4-FFF2-40B4-BE49-F238E27FC236}">
                  <a16:creationId xmlns:a16="http://schemas.microsoft.com/office/drawing/2014/main" id="{B5BD15B5-4CE4-4224-95C9-541647C53947}"/>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102" name="Freeform 5">
            <a:extLst>
              <a:ext uri="{FF2B5EF4-FFF2-40B4-BE49-F238E27FC236}">
                <a16:creationId xmlns:a16="http://schemas.microsoft.com/office/drawing/2014/main" id="{8B5168CF-498E-4EAB-8120-11D6F6835047}"/>
              </a:ext>
            </a:extLst>
          </p:cNvPr>
          <p:cNvSpPr>
            <a:spLocks noChangeAspect="1" noEditPoints="1"/>
          </p:cNvSpPr>
          <p:nvPr userDrawn="1"/>
        </p:nvSpPr>
        <p:spPr bwMode="auto">
          <a:xfrm>
            <a:off x="548784" y="858794"/>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gradFill>
            <a:gsLst>
              <a:gs pos="100000">
                <a:srgbClr val="F15F22"/>
              </a:gs>
              <a:gs pos="54000">
                <a:srgbClr val="F06422"/>
              </a:gs>
              <a:gs pos="76000">
                <a:srgbClr val="E32526"/>
              </a:gs>
              <a:gs pos="0">
                <a:srgbClr val="E32F2A"/>
              </a:gs>
              <a:gs pos="26000">
                <a:srgbClr val="A32022"/>
              </a:gs>
            </a:gsLst>
            <a:lin ang="2400000" scaled="0"/>
          </a:gradFill>
          <a:ln>
            <a:noFill/>
          </a:ln>
        </p:spPr>
        <p:txBody>
          <a:bodyPr vert="horz" wrap="square" lIns="91416" tIns="45708" rIns="91416" bIns="45708" numCol="1" anchor="t" anchorCtr="0" compatLnSpc="1">
            <a:prstTxWarp prst="textNoShape">
              <a:avLst/>
            </a:prstTxWarp>
          </a:bodyPr>
          <a:lstStyle/>
          <a:p>
            <a:endParaRPr lang="en-US" sz="1799"/>
          </a:p>
        </p:txBody>
      </p:sp>
    </p:spTree>
    <p:extLst>
      <p:ext uri="{BB962C8B-B14F-4D97-AF65-F5344CB8AC3E}">
        <p14:creationId xmlns:p14="http://schemas.microsoft.com/office/powerpoint/2010/main" val="274826690"/>
      </p:ext>
    </p:extLst>
  </p:cSld>
  <p:clrMapOvr>
    <a:masterClrMapping/>
  </p:clrMapOvr>
  <p:transition spd="med"/>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Section Header_White">
    <p:bg>
      <p:bgPr>
        <a:solidFill>
          <a:schemeClr val="bg1"/>
        </a:solidFill>
        <a:effectLst/>
      </p:bgPr>
    </p:bg>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D7C56BA8-590A-4028-A3BD-EBB4F41E7443}"/>
              </a:ext>
            </a:extLst>
          </p:cNvPr>
          <p:cNvGrpSpPr>
            <a:grpSpLocks noChangeAspect="1"/>
          </p:cNvGrpSpPr>
          <p:nvPr userDrawn="1"/>
        </p:nvGrpSpPr>
        <p:grpSpPr>
          <a:xfrm rot="16200000">
            <a:off x="9858491" y="2024528"/>
            <a:ext cx="3499241" cy="1167779"/>
            <a:chOff x="547688" y="952500"/>
            <a:chExt cx="12190413" cy="4067175"/>
          </a:xfrm>
        </p:grpSpPr>
        <p:sp>
          <p:nvSpPr>
            <p:cNvPr id="53" name="Rectangle 52">
              <a:extLst>
                <a:ext uri="{FF2B5EF4-FFF2-40B4-BE49-F238E27FC236}">
                  <a16:creationId xmlns:a16="http://schemas.microsoft.com/office/drawing/2014/main" id="{19186E01-E5DD-4CF8-B980-31578D78DA2C}"/>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4" name="Freeform 7">
              <a:extLst>
                <a:ext uri="{FF2B5EF4-FFF2-40B4-BE49-F238E27FC236}">
                  <a16:creationId xmlns:a16="http://schemas.microsoft.com/office/drawing/2014/main" id="{4297898A-7690-4887-A538-06925E32496A}"/>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5" name="Freeform 8">
              <a:extLst>
                <a:ext uri="{FF2B5EF4-FFF2-40B4-BE49-F238E27FC236}">
                  <a16:creationId xmlns:a16="http://schemas.microsoft.com/office/drawing/2014/main" id="{EBE1A931-8ED4-4023-B1E7-E7C0FCB53CF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6" name="Freeform 9">
              <a:extLst>
                <a:ext uri="{FF2B5EF4-FFF2-40B4-BE49-F238E27FC236}">
                  <a16:creationId xmlns:a16="http://schemas.microsoft.com/office/drawing/2014/main" id="{3DFA30DE-FC15-4449-9A0C-173C6898FE60}"/>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7" name="Freeform 10">
              <a:extLst>
                <a:ext uri="{FF2B5EF4-FFF2-40B4-BE49-F238E27FC236}">
                  <a16:creationId xmlns:a16="http://schemas.microsoft.com/office/drawing/2014/main" id="{2C43BCA4-E25C-47F7-A5A5-C71BAFE37ABD}"/>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8" name="Freeform 10">
              <a:extLst>
                <a:ext uri="{FF2B5EF4-FFF2-40B4-BE49-F238E27FC236}">
                  <a16:creationId xmlns:a16="http://schemas.microsoft.com/office/drawing/2014/main" id="{6476CD2B-51BA-4E82-9674-026AAE497F13}"/>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9" name="Freeform 11">
              <a:extLst>
                <a:ext uri="{FF2B5EF4-FFF2-40B4-BE49-F238E27FC236}">
                  <a16:creationId xmlns:a16="http://schemas.microsoft.com/office/drawing/2014/main" id="{F65A61BF-2424-45EF-AEBD-67F3A1E98F2D}"/>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46" name="Title 16"/>
          <p:cNvSpPr>
            <a:spLocks noGrp="1"/>
          </p:cNvSpPr>
          <p:nvPr>
            <p:ph type="title" hasCustomPrompt="1"/>
          </p:nvPr>
        </p:nvSpPr>
        <p:spPr bwMode="gray">
          <a:xfrm>
            <a:off x="548782" y="1508932"/>
            <a:ext cx="9960410" cy="2405203"/>
          </a:xfrm>
          <a:prstGeom prst="rect">
            <a:avLst/>
          </a:prstGeom>
        </p:spPr>
        <p:txBody>
          <a:bodyPr lIns="0" tIns="0" rIns="0" bIns="0" anchor="b" anchorCtr="0"/>
          <a:lstStyle>
            <a:lvl1pPr marL="0" algn="l" defTabSz="1218621" rtl="0" eaLnBrk="1" latinLnBrk="0" hangingPunct="1">
              <a:lnSpc>
                <a:spcPts val="4999"/>
              </a:lnSpc>
              <a:spcBef>
                <a:spcPct val="0"/>
              </a:spcBef>
              <a:buNone/>
              <a:defRPr lang="en-US" sz="5998"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548783" y="3956227"/>
            <a:ext cx="9960410" cy="462018"/>
          </a:xfrm>
          <a:prstGeom prst="rect">
            <a:avLst/>
          </a:prstGeom>
        </p:spPr>
        <p:txBody>
          <a:bodyPr lIns="0" tIns="0" rIns="0" bIns="0" anchor="b"/>
          <a:lstStyle>
            <a:lvl1pPr marL="0" indent="0">
              <a:lnSpc>
                <a:spcPts val="2399"/>
              </a:lnSpc>
              <a:spcBef>
                <a:spcPts val="0"/>
              </a:spcBef>
              <a:buNone/>
              <a:defRPr sz="2499" spc="0" baseline="0">
                <a:solidFill>
                  <a:schemeClr val="tx1"/>
                </a:solidFill>
              </a:defRPr>
            </a:lvl1pPr>
            <a:lvl2pPr marL="457063" indent="0">
              <a:buNone/>
              <a:defRPr sz="1999">
                <a:solidFill>
                  <a:schemeClr val="tx1">
                    <a:tint val="75000"/>
                  </a:schemeClr>
                </a:solidFill>
              </a:defRPr>
            </a:lvl2pPr>
            <a:lvl3pPr marL="914126" indent="0">
              <a:buNone/>
              <a:defRPr sz="1799">
                <a:solidFill>
                  <a:schemeClr val="tx1">
                    <a:tint val="75000"/>
                  </a:schemeClr>
                </a:solidFill>
              </a:defRPr>
            </a:lvl3pPr>
            <a:lvl4pPr marL="1371189" indent="0">
              <a:buNone/>
              <a:defRPr sz="1600">
                <a:solidFill>
                  <a:schemeClr val="tx1">
                    <a:tint val="75000"/>
                  </a:schemeClr>
                </a:solidFill>
              </a:defRPr>
            </a:lvl4pPr>
            <a:lvl5pPr marL="1828251" indent="0">
              <a:buNone/>
              <a:defRPr sz="1600">
                <a:solidFill>
                  <a:schemeClr val="tx1">
                    <a:tint val="75000"/>
                  </a:schemeClr>
                </a:solidFill>
              </a:defRPr>
            </a:lvl5pPr>
            <a:lvl6pPr marL="2285314" indent="0">
              <a:buNone/>
              <a:defRPr sz="1600">
                <a:solidFill>
                  <a:schemeClr val="tx1">
                    <a:tint val="75000"/>
                  </a:schemeClr>
                </a:solidFill>
              </a:defRPr>
            </a:lvl6pPr>
            <a:lvl7pPr marL="2742377" indent="0">
              <a:buNone/>
              <a:defRPr sz="1600">
                <a:solidFill>
                  <a:schemeClr val="tx1">
                    <a:tint val="75000"/>
                  </a:schemeClr>
                </a:solidFill>
              </a:defRPr>
            </a:lvl7pPr>
            <a:lvl8pPr marL="3199440" indent="0">
              <a:buNone/>
              <a:defRPr sz="1600">
                <a:solidFill>
                  <a:schemeClr val="tx1">
                    <a:tint val="75000"/>
                  </a:schemeClr>
                </a:solidFill>
              </a:defRPr>
            </a:lvl8pPr>
            <a:lvl9pPr marL="3656503" indent="0">
              <a:buNone/>
              <a:defRPr sz="1600">
                <a:solidFill>
                  <a:schemeClr val="tx1">
                    <a:tint val="75000"/>
                  </a:schemeClr>
                </a:solidFill>
              </a:defRPr>
            </a:lvl9pPr>
          </a:lstStyle>
          <a:p>
            <a:pPr lvl="0"/>
            <a:r>
              <a:rPr lang="en-US"/>
              <a:t>Subhead here</a:t>
            </a:r>
          </a:p>
        </p:txBody>
      </p:sp>
      <p:sp>
        <p:nvSpPr>
          <p:cNvPr id="5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5" name="TextBox 74"/>
          <p:cNvSpPr txBox="1"/>
          <p:nvPr userDrawn="1"/>
        </p:nvSpPr>
        <p:spPr>
          <a:xfrm>
            <a:off x="548783" y="6473952"/>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2020 Lenovo Internal. All rights reserved.</a:t>
            </a:r>
          </a:p>
        </p:txBody>
      </p:sp>
    </p:spTree>
    <p:extLst>
      <p:ext uri="{BB962C8B-B14F-4D97-AF65-F5344CB8AC3E}">
        <p14:creationId xmlns:p14="http://schemas.microsoft.com/office/powerpoint/2010/main" val="242324367"/>
      </p:ext>
    </p:extLst>
  </p:cSld>
  <p:clrMapOvr>
    <a:masterClrMapping/>
  </p:clrMapOvr>
  <p:transition spd="med"/>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
    <p:bg>
      <p:bgPr>
        <a:solidFill>
          <a:schemeClr val="tx1"/>
        </a:solidFill>
        <a:effectLst/>
      </p:bgPr>
    </p:bg>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D7C56BA8-590A-4028-A3BD-EBB4F41E7443}"/>
              </a:ext>
            </a:extLst>
          </p:cNvPr>
          <p:cNvGrpSpPr>
            <a:grpSpLocks noChangeAspect="1"/>
          </p:cNvGrpSpPr>
          <p:nvPr userDrawn="1"/>
        </p:nvGrpSpPr>
        <p:grpSpPr>
          <a:xfrm rot="16200000">
            <a:off x="9858491" y="2024528"/>
            <a:ext cx="3499241" cy="1167779"/>
            <a:chOff x="547688" y="952500"/>
            <a:chExt cx="12190413" cy="4067175"/>
          </a:xfrm>
        </p:grpSpPr>
        <p:sp>
          <p:nvSpPr>
            <p:cNvPr id="53" name="Rectangle 52">
              <a:extLst>
                <a:ext uri="{FF2B5EF4-FFF2-40B4-BE49-F238E27FC236}">
                  <a16:creationId xmlns:a16="http://schemas.microsoft.com/office/drawing/2014/main" id="{19186E01-E5DD-4CF8-B980-31578D78DA2C}"/>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4" name="Freeform 7">
              <a:extLst>
                <a:ext uri="{FF2B5EF4-FFF2-40B4-BE49-F238E27FC236}">
                  <a16:creationId xmlns:a16="http://schemas.microsoft.com/office/drawing/2014/main" id="{4297898A-7690-4887-A538-06925E32496A}"/>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5" name="Freeform 8">
              <a:extLst>
                <a:ext uri="{FF2B5EF4-FFF2-40B4-BE49-F238E27FC236}">
                  <a16:creationId xmlns:a16="http://schemas.microsoft.com/office/drawing/2014/main" id="{EBE1A931-8ED4-4023-B1E7-E7C0FCB53CF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6" name="Freeform 9">
              <a:extLst>
                <a:ext uri="{FF2B5EF4-FFF2-40B4-BE49-F238E27FC236}">
                  <a16:creationId xmlns:a16="http://schemas.microsoft.com/office/drawing/2014/main" id="{3DFA30DE-FC15-4449-9A0C-173C6898FE60}"/>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7" name="Freeform 10">
              <a:extLst>
                <a:ext uri="{FF2B5EF4-FFF2-40B4-BE49-F238E27FC236}">
                  <a16:creationId xmlns:a16="http://schemas.microsoft.com/office/drawing/2014/main" id="{2C43BCA4-E25C-47F7-A5A5-C71BAFE37ABD}"/>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8" name="Freeform 10">
              <a:extLst>
                <a:ext uri="{FF2B5EF4-FFF2-40B4-BE49-F238E27FC236}">
                  <a16:creationId xmlns:a16="http://schemas.microsoft.com/office/drawing/2014/main" id="{6476CD2B-51BA-4E82-9674-026AAE497F13}"/>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9" name="Freeform 11">
              <a:extLst>
                <a:ext uri="{FF2B5EF4-FFF2-40B4-BE49-F238E27FC236}">
                  <a16:creationId xmlns:a16="http://schemas.microsoft.com/office/drawing/2014/main" id="{F65A61BF-2424-45EF-AEBD-67F3A1E98F2D}"/>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46" name="Title 16"/>
          <p:cNvSpPr>
            <a:spLocks noGrp="1"/>
          </p:cNvSpPr>
          <p:nvPr>
            <p:ph type="title" hasCustomPrompt="1"/>
          </p:nvPr>
        </p:nvSpPr>
        <p:spPr bwMode="gray">
          <a:xfrm>
            <a:off x="548782" y="1508932"/>
            <a:ext cx="9960410" cy="2405203"/>
          </a:xfrm>
          <a:prstGeom prst="rect">
            <a:avLst/>
          </a:prstGeom>
        </p:spPr>
        <p:txBody>
          <a:bodyPr lIns="0" tIns="0" rIns="0" bIns="0" anchor="b" anchorCtr="0"/>
          <a:lstStyle>
            <a:lvl1pPr marL="0" algn="l" defTabSz="1218621" rtl="0" eaLnBrk="1" latinLnBrk="0" hangingPunct="1">
              <a:lnSpc>
                <a:spcPts val="4999"/>
              </a:lnSpc>
              <a:spcBef>
                <a:spcPct val="0"/>
              </a:spcBef>
              <a:buNone/>
              <a:defRPr lang="en-US" sz="5998"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548783" y="3956227"/>
            <a:ext cx="9960410" cy="462018"/>
          </a:xfrm>
          <a:prstGeom prst="rect">
            <a:avLst/>
          </a:prstGeom>
        </p:spPr>
        <p:txBody>
          <a:bodyPr lIns="0" tIns="0" rIns="0" bIns="0" anchor="b"/>
          <a:lstStyle>
            <a:lvl1pPr marL="0" indent="0">
              <a:lnSpc>
                <a:spcPts val="2399"/>
              </a:lnSpc>
              <a:spcBef>
                <a:spcPts val="0"/>
              </a:spcBef>
              <a:buNone/>
              <a:defRPr sz="2499" spc="0" baseline="0">
                <a:solidFill>
                  <a:schemeClr val="bg1"/>
                </a:solidFill>
              </a:defRPr>
            </a:lvl1pPr>
            <a:lvl2pPr marL="457063" indent="0">
              <a:buNone/>
              <a:defRPr sz="1999">
                <a:solidFill>
                  <a:schemeClr val="tx1">
                    <a:tint val="75000"/>
                  </a:schemeClr>
                </a:solidFill>
              </a:defRPr>
            </a:lvl2pPr>
            <a:lvl3pPr marL="914126" indent="0">
              <a:buNone/>
              <a:defRPr sz="1799">
                <a:solidFill>
                  <a:schemeClr val="tx1">
                    <a:tint val="75000"/>
                  </a:schemeClr>
                </a:solidFill>
              </a:defRPr>
            </a:lvl3pPr>
            <a:lvl4pPr marL="1371189" indent="0">
              <a:buNone/>
              <a:defRPr sz="1600">
                <a:solidFill>
                  <a:schemeClr val="tx1">
                    <a:tint val="75000"/>
                  </a:schemeClr>
                </a:solidFill>
              </a:defRPr>
            </a:lvl4pPr>
            <a:lvl5pPr marL="1828251" indent="0">
              <a:buNone/>
              <a:defRPr sz="1600">
                <a:solidFill>
                  <a:schemeClr val="tx1">
                    <a:tint val="75000"/>
                  </a:schemeClr>
                </a:solidFill>
              </a:defRPr>
            </a:lvl5pPr>
            <a:lvl6pPr marL="2285314" indent="0">
              <a:buNone/>
              <a:defRPr sz="1600">
                <a:solidFill>
                  <a:schemeClr val="tx1">
                    <a:tint val="75000"/>
                  </a:schemeClr>
                </a:solidFill>
              </a:defRPr>
            </a:lvl6pPr>
            <a:lvl7pPr marL="2742377" indent="0">
              <a:buNone/>
              <a:defRPr sz="1600">
                <a:solidFill>
                  <a:schemeClr val="tx1">
                    <a:tint val="75000"/>
                  </a:schemeClr>
                </a:solidFill>
              </a:defRPr>
            </a:lvl7pPr>
            <a:lvl8pPr marL="3199440" indent="0">
              <a:buNone/>
              <a:defRPr sz="1600">
                <a:solidFill>
                  <a:schemeClr val="tx1">
                    <a:tint val="75000"/>
                  </a:schemeClr>
                </a:solidFill>
              </a:defRPr>
            </a:lvl8pPr>
            <a:lvl9pPr marL="3656503" indent="0">
              <a:buNone/>
              <a:defRPr sz="1600">
                <a:solidFill>
                  <a:schemeClr val="tx1">
                    <a:tint val="75000"/>
                  </a:schemeClr>
                </a:solidFill>
              </a:defRPr>
            </a:lvl9pPr>
          </a:lstStyle>
          <a:p>
            <a:pPr lvl="0"/>
            <a:r>
              <a:rPr lang="en-US"/>
              <a:t>Subhead here</a:t>
            </a:r>
          </a:p>
        </p:txBody>
      </p:sp>
      <p:sp>
        <p:nvSpPr>
          <p:cNvPr id="5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5" name="TextBox 74"/>
          <p:cNvSpPr txBox="1"/>
          <p:nvPr userDrawn="1"/>
        </p:nvSpPr>
        <p:spPr>
          <a:xfrm>
            <a:off x="548783"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spTree>
    <p:extLst>
      <p:ext uri="{BB962C8B-B14F-4D97-AF65-F5344CB8AC3E}">
        <p14:creationId xmlns:p14="http://schemas.microsoft.com/office/powerpoint/2010/main" val="2402983450"/>
      </p:ext>
    </p:extLst>
  </p:cSld>
  <p:clrMapOvr>
    <a:masterClrMapping/>
  </p:clrMapOvr>
  <p:transition spd="med"/>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65534928"/>
      </p:ext>
    </p:extLst>
  </p:cSld>
  <p:clrMapOvr>
    <a:masterClrMapping/>
  </p:clrMapOvr>
  <p:transition spd="med"/>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Title Only_Black">
    <p:bg>
      <p:bgPr>
        <a:solidFill>
          <a:schemeClr val="tx1"/>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0"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5" name="TextBox 4"/>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6" name="Group 5"/>
          <p:cNvGrpSpPr/>
          <p:nvPr userDrawn="1"/>
        </p:nvGrpSpPr>
        <p:grpSpPr>
          <a:xfrm>
            <a:off x="554484" y="6421482"/>
            <a:ext cx="734547" cy="245008"/>
            <a:chOff x="547688" y="952500"/>
            <a:chExt cx="12190413" cy="4067175"/>
          </a:xfrm>
        </p:grpSpPr>
        <p:sp>
          <p:nvSpPr>
            <p:cNvPr id="7" name="Rectangle 6"/>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8" name="Freeform 7"/>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9" name="Freeform 8"/>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1" name="Freeform 10"/>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2" name="Freeform 11"/>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3"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4"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643313102"/>
      </p:ext>
    </p:extLst>
  </p:cSld>
  <p:clrMapOvr>
    <a:masterClrMapping/>
  </p:clrMapOvr>
  <p:transition spd="med"/>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ctr" anchorCtr="0">
            <a:noAutofit/>
          </a:bodyPr>
          <a:lstStyle>
            <a:lvl1pPr marL="0" indent="0">
              <a:lnSpc>
                <a:spcPts val="2199"/>
              </a:lnSpc>
              <a:spcBef>
                <a:spcPts val="0"/>
              </a:spcBef>
              <a:buNone/>
              <a:defRPr sz="2199" b="0">
                <a:solidFill>
                  <a:schemeClr val="tx1"/>
                </a:solidFill>
                <a:latin typeface="Arial" pitchFamily="34" charset="0"/>
                <a:cs typeface="Arial" pitchFamily="34" charset="0"/>
              </a:defRPr>
            </a:lvl1pPr>
            <a:lvl2pPr marL="609310" indent="0">
              <a:buNone/>
              <a:defRPr sz="2699" b="1"/>
            </a:lvl2pPr>
            <a:lvl3pPr marL="1218621" indent="0">
              <a:buNone/>
              <a:defRPr sz="2399" b="1"/>
            </a:lvl3pPr>
            <a:lvl4pPr marL="1827931" indent="0">
              <a:buNone/>
              <a:defRPr sz="2099" b="1"/>
            </a:lvl4pPr>
            <a:lvl5pPr marL="2437242" indent="0">
              <a:buNone/>
              <a:defRPr sz="2099" b="1"/>
            </a:lvl5pPr>
            <a:lvl6pPr marL="3046553" indent="0">
              <a:buNone/>
              <a:defRPr sz="2099" b="1"/>
            </a:lvl6pPr>
            <a:lvl7pPr marL="3655863" indent="0">
              <a:buNone/>
              <a:defRPr sz="2099" b="1"/>
            </a:lvl7pPr>
            <a:lvl8pPr marL="4265173" indent="0">
              <a:buNone/>
              <a:defRPr sz="2099" b="1"/>
            </a:lvl8pPr>
            <a:lvl9pPr marL="4874484" indent="0">
              <a:buNone/>
              <a:defRPr sz="2099" b="1"/>
            </a:lvl9pPr>
          </a:lstStyle>
          <a:p>
            <a:pPr lvl="0"/>
            <a:r>
              <a:rPr lang="en-US"/>
              <a:t>Click to edit master text styles</a:t>
            </a:r>
          </a:p>
        </p:txBody>
      </p:sp>
      <p:sp>
        <p:nvSpPr>
          <p:cNvPr id="11" name="Title 28"/>
          <p:cNvSpPr>
            <a:spLocks noGrp="1"/>
          </p:cNvSpPr>
          <p:nvPr>
            <p:ph type="title" hasCustomPrompt="1"/>
          </p:nvPr>
        </p:nvSpPr>
        <p:spPr bwMode="gray">
          <a:xfrm>
            <a:off x="548783" y="402339"/>
            <a:ext cx="11076268" cy="356789"/>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227376435"/>
      </p:ext>
    </p:extLst>
  </p:cSld>
  <p:clrMapOvr>
    <a:masterClrMapping/>
  </p:clrMapOvr>
  <p:transition spd="med"/>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Only_Black">
    <p:bg>
      <p:bgPr>
        <a:solidFill>
          <a:schemeClr val="tx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t" anchorCtr="0">
            <a:noAutofit/>
          </a:bodyPr>
          <a:lstStyle>
            <a:lvl1pPr marL="0" indent="0">
              <a:lnSpc>
                <a:spcPts val="2199"/>
              </a:lnSpc>
              <a:spcBef>
                <a:spcPts val="0"/>
              </a:spcBef>
              <a:buNone/>
              <a:defRPr sz="1999" b="0">
                <a:solidFill>
                  <a:schemeClr val="bg1"/>
                </a:solidFill>
                <a:latin typeface="Arial" pitchFamily="34" charset="0"/>
                <a:cs typeface="Arial" pitchFamily="34" charset="0"/>
              </a:defRPr>
            </a:lvl1pPr>
            <a:lvl2pPr marL="609310" indent="0">
              <a:buNone/>
              <a:defRPr sz="2699" b="1"/>
            </a:lvl2pPr>
            <a:lvl3pPr marL="1218621" indent="0">
              <a:buNone/>
              <a:defRPr sz="2399" b="1"/>
            </a:lvl3pPr>
            <a:lvl4pPr marL="1827931" indent="0">
              <a:buNone/>
              <a:defRPr sz="2099" b="1"/>
            </a:lvl4pPr>
            <a:lvl5pPr marL="2437242" indent="0">
              <a:buNone/>
              <a:defRPr sz="2099" b="1"/>
            </a:lvl5pPr>
            <a:lvl6pPr marL="3046553" indent="0">
              <a:buNone/>
              <a:defRPr sz="2099" b="1"/>
            </a:lvl6pPr>
            <a:lvl7pPr marL="3655863" indent="0">
              <a:buNone/>
              <a:defRPr sz="2099" b="1"/>
            </a:lvl7pPr>
            <a:lvl8pPr marL="4265173" indent="0">
              <a:buNone/>
              <a:defRPr sz="2099" b="1"/>
            </a:lvl8pPr>
            <a:lvl9pPr marL="4874484" indent="0">
              <a:buNone/>
              <a:defRPr sz="2099" b="1"/>
            </a:lvl9pPr>
          </a:lstStyle>
          <a:p>
            <a:pPr lvl="0"/>
            <a:r>
              <a:rPr lang="en-US"/>
              <a:t>Click to edit master text styles</a:t>
            </a:r>
          </a:p>
        </p:txBody>
      </p:sp>
      <p:sp>
        <p:nvSpPr>
          <p:cNvPr id="11" name="Title 28"/>
          <p:cNvSpPr>
            <a:spLocks noGrp="1"/>
          </p:cNvSpPr>
          <p:nvPr>
            <p:ph type="title" hasCustomPrompt="1"/>
          </p:nvPr>
        </p:nvSpPr>
        <p:spPr bwMode="gray">
          <a:xfrm>
            <a:off x="548783" y="402339"/>
            <a:ext cx="11076268" cy="399921"/>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 name="TextBox 6"/>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8" name="Group 7"/>
          <p:cNvGrpSpPr/>
          <p:nvPr userDrawn="1"/>
        </p:nvGrpSpPr>
        <p:grpSpPr>
          <a:xfrm>
            <a:off x="554484" y="6421482"/>
            <a:ext cx="734547" cy="245008"/>
            <a:chOff x="547688" y="952500"/>
            <a:chExt cx="12190413" cy="4067175"/>
          </a:xfrm>
        </p:grpSpPr>
        <p:sp>
          <p:nvSpPr>
            <p:cNvPr id="9" name="Rectangle 8"/>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0" name="Freeform 9"/>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3632573048"/>
      </p:ext>
    </p:extLst>
  </p:cSld>
  <p:clrMapOvr>
    <a:masterClrMapping/>
  </p:clrMapOvr>
  <p:transition spd="med"/>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3624"/>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548783" y="1308880"/>
            <a:ext cx="11076268" cy="4906726"/>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824481212"/>
      </p:ext>
    </p:extLst>
  </p:cSld>
  <p:clrMapOvr>
    <a:masterClrMapping/>
  </p:clrMapOvr>
  <p:transition spd="med"/>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userDrawn="1">
  <p:cSld name="Title and Content_Black">
    <p:bg>
      <p:bgPr>
        <a:solidFill>
          <a:schemeClr val="tx1"/>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548783" y="1307593"/>
            <a:ext cx="11076268" cy="4919588"/>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6" name="TextBox 5"/>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7" name="Group 6"/>
          <p:cNvGrpSpPr/>
          <p:nvPr userDrawn="1"/>
        </p:nvGrpSpPr>
        <p:grpSpPr>
          <a:xfrm>
            <a:off x="554484" y="6421482"/>
            <a:ext cx="734547" cy="245008"/>
            <a:chOff x="547688" y="952500"/>
            <a:chExt cx="12190413" cy="4067175"/>
          </a:xfrm>
        </p:grpSpPr>
        <p:sp>
          <p:nvSpPr>
            <p:cNvPr id="8" name="Rectangle 7"/>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9" name="Freeform 8"/>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2" name="Freeform 11"/>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3" name="Freeform 12"/>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4" name="Freeform 13"/>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5"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6"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3881203084"/>
      </p:ext>
    </p:extLst>
  </p:cSld>
  <p:clrMapOvr>
    <a:masterClrMapping/>
  </p:clrMapOvr>
  <p:transition spd="med"/>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Title with Subtitle Content">
    <p:bg>
      <p:bgPr>
        <a:solidFill>
          <a:schemeClr val="bg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548783" y="1575767"/>
            <a:ext cx="11076268" cy="4651413"/>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p:nvPr>
        </p:nvSpPr>
        <p:spPr bwMode="gray">
          <a:xfrm>
            <a:off x="557930" y="899112"/>
            <a:ext cx="11076268" cy="292608"/>
          </a:xfrm>
          <a:prstGeom prst="rect">
            <a:avLst/>
          </a:prstGeom>
        </p:spPr>
        <p:txBody>
          <a:bodyPr lIns="0" tIns="0" rIns="0" bIns="0" anchor="ctr" anchorCtr="0">
            <a:noAutofit/>
          </a:bodyPr>
          <a:lstStyle>
            <a:lvl1pPr marL="0" indent="0">
              <a:lnSpc>
                <a:spcPts val="2199"/>
              </a:lnSpc>
              <a:spcBef>
                <a:spcPts val="0"/>
              </a:spcBef>
              <a:buNone/>
              <a:defRPr sz="2199" b="0">
                <a:solidFill>
                  <a:schemeClr val="tx1"/>
                </a:solidFill>
                <a:latin typeface="Arial" pitchFamily="34" charset="0"/>
                <a:cs typeface="Arial" pitchFamily="34" charset="0"/>
              </a:defRPr>
            </a:lvl1pPr>
            <a:lvl2pPr marL="609310" indent="0">
              <a:buNone/>
              <a:defRPr sz="2699" b="1"/>
            </a:lvl2pPr>
            <a:lvl3pPr marL="1218621" indent="0">
              <a:buNone/>
              <a:defRPr sz="2399" b="1"/>
            </a:lvl3pPr>
            <a:lvl4pPr marL="1827931" indent="0">
              <a:buNone/>
              <a:defRPr sz="2099" b="1"/>
            </a:lvl4pPr>
            <a:lvl5pPr marL="2437242" indent="0">
              <a:buNone/>
              <a:defRPr sz="2099" b="1"/>
            </a:lvl5pPr>
            <a:lvl6pPr marL="3046553" indent="0">
              <a:buNone/>
              <a:defRPr sz="2099" b="1"/>
            </a:lvl6pPr>
            <a:lvl7pPr marL="3655863" indent="0">
              <a:buNone/>
              <a:defRPr sz="2099" b="1"/>
            </a:lvl7pPr>
            <a:lvl8pPr marL="4265173" indent="0">
              <a:buNone/>
              <a:defRPr sz="2099" b="1"/>
            </a:lvl8pPr>
            <a:lvl9pPr marL="4874484" indent="0">
              <a:buNone/>
              <a:defRPr sz="2099" b="1"/>
            </a:lvl9pPr>
          </a:lstStyle>
          <a:p>
            <a:pPr lvl="0"/>
            <a:r>
              <a:rPr lang="en-US"/>
              <a:t>Click to edit Master text styles</a:t>
            </a:r>
          </a:p>
        </p:txBody>
      </p:sp>
      <p:sp>
        <p:nvSpPr>
          <p:cNvPr id="11" name="Title 28"/>
          <p:cNvSpPr>
            <a:spLocks noGrp="1"/>
          </p:cNvSpPr>
          <p:nvPr>
            <p:ph type="title" hasCustomPrompt="1"/>
          </p:nvPr>
        </p:nvSpPr>
        <p:spPr bwMode="gray">
          <a:xfrm>
            <a:off x="548783" y="402339"/>
            <a:ext cx="11076268" cy="369451"/>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206624500"/>
      </p:ext>
    </p:extLst>
  </p:cSld>
  <p:clrMapOvr>
    <a:masterClrMapping/>
  </p:clrMapOvr>
  <p:transition spd="med"/>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Content_Black">
    <p:bg>
      <p:bgPr>
        <a:solidFill>
          <a:schemeClr val="tx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548783" y="1572770"/>
            <a:ext cx="11076268" cy="4654413"/>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t" anchorCtr="0">
            <a:noAutofit/>
          </a:bodyPr>
          <a:lstStyle>
            <a:lvl1pPr marL="0" indent="0">
              <a:lnSpc>
                <a:spcPts val="2199"/>
              </a:lnSpc>
              <a:spcBef>
                <a:spcPts val="0"/>
              </a:spcBef>
              <a:buNone/>
              <a:defRPr sz="1999" b="0">
                <a:solidFill>
                  <a:schemeClr val="bg1"/>
                </a:solidFill>
                <a:latin typeface="Arial" pitchFamily="34" charset="0"/>
                <a:cs typeface="Arial" pitchFamily="34" charset="0"/>
              </a:defRPr>
            </a:lvl1pPr>
            <a:lvl2pPr marL="609310" indent="0">
              <a:buNone/>
              <a:defRPr sz="2699" b="1"/>
            </a:lvl2pPr>
            <a:lvl3pPr marL="1218621" indent="0">
              <a:buNone/>
              <a:defRPr sz="2399" b="1"/>
            </a:lvl3pPr>
            <a:lvl4pPr marL="1827931" indent="0">
              <a:buNone/>
              <a:defRPr sz="2099" b="1"/>
            </a:lvl4pPr>
            <a:lvl5pPr marL="2437242" indent="0">
              <a:buNone/>
              <a:defRPr sz="2099" b="1"/>
            </a:lvl5pPr>
            <a:lvl6pPr marL="3046553" indent="0">
              <a:buNone/>
              <a:defRPr sz="2099" b="1"/>
            </a:lvl6pPr>
            <a:lvl7pPr marL="3655863" indent="0">
              <a:buNone/>
              <a:defRPr sz="2099" b="1"/>
            </a:lvl7pPr>
            <a:lvl8pPr marL="4265173" indent="0">
              <a:buNone/>
              <a:defRPr sz="2099" b="1"/>
            </a:lvl8pPr>
            <a:lvl9pPr marL="4874484" indent="0">
              <a:buNone/>
              <a:defRPr sz="2099" b="1"/>
            </a:lvl9pPr>
          </a:lstStyle>
          <a:p>
            <a:pPr lvl="0"/>
            <a:r>
              <a:rPr lang="en-US"/>
              <a:t>Click to edit master text styles</a:t>
            </a:r>
          </a:p>
        </p:txBody>
      </p:sp>
      <p:sp>
        <p:nvSpPr>
          <p:cNvPr id="11" name="Title 28"/>
          <p:cNvSpPr>
            <a:spLocks noGrp="1"/>
          </p:cNvSpPr>
          <p:nvPr>
            <p:ph type="title" hasCustomPrompt="1"/>
          </p:nvPr>
        </p:nvSpPr>
        <p:spPr bwMode="gray">
          <a:xfrm>
            <a:off x="548783" y="402336"/>
            <a:ext cx="11076268" cy="392616"/>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 name="TextBox 6"/>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8" name="Group 7"/>
          <p:cNvGrpSpPr/>
          <p:nvPr userDrawn="1"/>
        </p:nvGrpSpPr>
        <p:grpSpPr>
          <a:xfrm>
            <a:off x="554484" y="6421482"/>
            <a:ext cx="734547" cy="245008"/>
            <a:chOff x="547688" y="952500"/>
            <a:chExt cx="12190413" cy="4067175"/>
          </a:xfrm>
        </p:grpSpPr>
        <p:sp>
          <p:nvSpPr>
            <p:cNvPr id="9" name="Rectangle 8"/>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0" name="Freeform 9"/>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207345659"/>
      </p:ext>
    </p:extLst>
  </p:cSld>
  <p:clrMapOvr>
    <a:masterClrMapping/>
  </p:clrMapOvr>
  <p:transition spd="med"/>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Two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4" y="1307595"/>
            <a:ext cx="5380359" cy="4919589"/>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244692" y="1307595"/>
            <a:ext cx="5380359" cy="4919589"/>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617014201"/>
      </p:ext>
    </p:extLst>
  </p:cSld>
  <p:clrMapOvr>
    <a:masterClrMapping/>
  </p:clrMapOvr>
  <p:transition spd="med"/>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preserve="1" userDrawn="1">
  <p:cSld name="Two Column Slide_Black">
    <p:bg>
      <p:bgPr>
        <a:solidFill>
          <a:schemeClr val="tx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4" y="1307595"/>
            <a:ext cx="5380359" cy="4919589"/>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244692" y="1307595"/>
            <a:ext cx="5380359" cy="4919589"/>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 name="TextBox 6"/>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8" name="Group 7"/>
          <p:cNvGrpSpPr/>
          <p:nvPr userDrawn="1"/>
        </p:nvGrpSpPr>
        <p:grpSpPr>
          <a:xfrm>
            <a:off x="554484" y="6421482"/>
            <a:ext cx="734547" cy="245008"/>
            <a:chOff x="547688" y="952500"/>
            <a:chExt cx="12190413" cy="4067175"/>
          </a:xfrm>
        </p:grpSpPr>
        <p:sp>
          <p:nvSpPr>
            <p:cNvPr id="9" name="Rectangle 8"/>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0" name="Freeform 9"/>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7"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8"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3381636485"/>
      </p:ext>
    </p:extLst>
  </p:cSld>
  <p:clrMapOvr>
    <a:masterClrMapping/>
  </p:clrMapOvr>
  <p:transition spd="med"/>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hree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4" y="1307593"/>
            <a:ext cx="3475625" cy="4919588"/>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8" name="Content Placeholder 2"/>
          <p:cNvSpPr>
            <a:spLocks noGrp="1"/>
          </p:cNvSpPr>
          <p:nvPr>
            <p:ph sz="half" idx="10"/>
          </p:nvPr>
        </p:nvSpPr>
        <p:spPr bwMode="gray">
          <a:xfrm>
            <a:off x="4349106" y="1307593"/>
            <a:ext cx="3475625" cy="4919588"/>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149426" y="1307593"/>
            <a:ext cx="3475625" cy="4919588"/>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30306731"/>
      </p:ext>
    </p:extLst>
  </p:cSld>
  <p:clrMapOvr>
    <a:masterClrMapping/>
  </p:clrMapOvr>
  <p:transition spd="med"/>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preserve="1" userDrawn="1">
  <p:cSld name="Three Column Slide_Black">
    <p:bg>
      <p:bgPr>
        <a:solidFill>
          <a:schemeClr val="tx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4" y="1307593"/>
            <a:ext cx="3475625" cy="4919588"/>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8" name="Content Placeholder 2"/>
          <p:cNvSpPr>
            <a:spLocks noGrp="1"/>
          </p:cNvSpPr>
          <p:nvPr>
            <p:ph sz="half" idx="10"/>
          </p:nvPr>
        </p:nvSpPr>
        <p:spPr bwMode="gray">
          <a:xfrm>
            <a:off x="4349106" y="1307593"/>
            <a:ext cx="3475625" cy="4919588"/>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149426" y="1307593"/>
            <a:ext cx="3475625" cy="4919588"/>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Box 9"/>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2" name="Group 11"/>
          <p:cNvGrpSpPr/>
          <p:nvPr userDrawn="1"/>
        </p:nvGrpSpPr>
        <p:grpSpPr>
          <a:xfrm>
            <a:off x="554484" y="6421482"/>
            <a:ext cx="734547" cy="245008"/>
            <a:chOff x="547688" y="952500"/>
            <a:chExt cx="12190413" cy="4067175"/>
          </a:xfrm>
        </p:grpSpPr>
        <p:sp>
          <p:nvSpPr>
            <p:cNvPr id="13" name="Rectangle 12"/>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4" name="Freeform 13"/>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5" name="Freeform 14"/>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8" name="Freeform 17"/>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9" name="Freeform 18"/>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0"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1"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3371139377"/>
      </p:ext>
    </p:extLst>
  </p:cSld>
  <p:clrMapOvr>
    <a:masterClrMapping/>
  </p:clrMapOvr>
  <p:transition spd="med"/>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Title w/Imag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6038290"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3" y="1307595"/>
            <a:ext cx="6038290" cy="4919589"/>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37067" y="0"/>
            <a:ext cx="5354934" cy="6858000"/>
          </a:xfrm>
          <a:prstGeom prst="rect">
            <a:avLst/>
          </a:prstGeom>
        </p:spPr>
        <p:txBody>
          <a:bodyPr anchor="ctr"/>
          <a:lstStyle>
            <a:lvl1pPr marL="0" indent="0" algn="ctr">
              <a:buNone/>
              <a:defRPr sz="2399">
                <a:solidFill>
                  <a:schemeClr val="accent1"/>
                </a:solidFill>
              </a:defRPr>
            </a:lvl1pPr>
          </a:lstStyle>
          <a:p>
            <a:endParaRPr lang="en-US"/>
          </a:p>
        </p:txBody>
      </p:sp>
      <p:sp>
        <p:nvSpPr>
          <p:cNvPr id="18"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72291763"/>
      </p:ext>
    </p:extLst>
  </p:cSld>
  <p:clrMapOvr>
    <a:masterClrMapping/>
  </p:clrMapOvr>
  <p:transition spd="med"/>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preserve="1" userDrawn="1">
  <p:cSld name="Title w/Image_Black">
    <p:bg>
      <p:bgPr>
        <a:solidFill>
          <a:schemeClr val="tx1"/>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6038290"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3" y="1307595"/>
            <a:ext cx="6038290" cy="4919589"/>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37067" y="0"/>
            <a:ext cx="5354934" cy="6858000"/>
          </a:xfrm>
          <a:prstGeom prst="rect">
            <a:avLst/>
          </a:prstGeom>
        </p:spPr>
        <p:txBody>
          <a:bodyPr anchor="ctr"/>
          <a:lstStyle>
            <a:lvl1pPr marL="0" indent="0" algn="ctr">
              <a:buNone/>
              <a:defRPr sz="2399">
                <a:solidFill>
                  <a:schemeClr val="accent1"/>
                </a:solidFill>
              </a:defRPr>
            </a:lvl1pPr>
          </a:lstStyle>
          <a:p>
            <a:endParaRPr lang="en-US"/>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19" name="TextBox 18"/>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20" name="Group 19"/>
          <p:cNvGrpSpPr/>
          <p:nvPr userDrawn="1"/>
        </p:nvGrpSpPr>
        <p:grpSpPr>
          <a:xfrm>
            <a:off x="554484" y="6421482"/>
            <a:ext cx="734547" cy="245008"/>
            <a:chOff x="547688" y="952500"/>
            <a:chExt cx="12190413" cy="4067175"/>
          </a:xfrm>
        </p:grpSpPr>
        <p:sp>
          <p:nvSpPr>
            <p:cNvPr id="21" name="Rectangle 20"/>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2" name="Freeform 21"/>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3" name="Freeform 2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4" name="Freeform 2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5" name="Freeform 2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3008945600"/>
      </p:ext>
    </p:extLst>
  </p:cSld>
  <p:clrMapOvr>
    <a:masterClrMapping/>
  </p:clrMapOvr>
  <p:transition spd="med"/>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Photo + Statement">
    <p:spTree>
      <p:nvGrpSpPr>
        <p:cNvPr id="1" name=""/>
        <p:cNvGrpSpPr/>
        <p:nvPr/>
      </p:nvGrpSpPr>
      <p:grpSpPr>
        <a:xfrm>
          <a:off x="0" y="0"/>
          <a:ext cx="0" cy="0"/>
          <a:chOff x="0" y="0"/>
          <a:chExt cx="0" cy="0"/>
        </a:xfrm>
      </p:grpSpPr>
      <p:sp>
        <p:nvSpPr>
          <p:cNvPr id="3" name="Rectangle 2"/>
          <p:cNvSpPr/>
          <p:nvPr userDrawn="1"/>
        </p:nvSpPr>
        <p:spPr>
          <a:xfrm>
            <a:off x="2"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6" name="Picture Placeholder 8"/>
          <p:cNvSpPr>
            <a:spLocks noGrp="1"/>
          </p:cNvSpPr>
          <p:nvPr>
            <p:ph type="pic" sz="quarter" idx="16"/>
          </p:nvPr>
        </p:nvSpPr>
        <p:spPr>
          <a:xfrm>
            <a:off x="4062849" y="0"/>
            <a:ext cx="8129151" cy="6858000"/>
          </a:xfrm>
          <a:prstGeom prst="rect">
            <a:avLst/>
          </a:prstGeom>
        </p:spPr>
        <p:txBody>
          <a:bodyPr anchor="ctr"/>
          <a:lstStyle>
            <a:lvl1pPr marL="0" indent="0" algn="ctr">
              <a:buNone/>
              <a:defRPr sz="2399">
                <a:solidFill>
                  <a:schemeClr val="accent1"/>
                </a:solidFill>
              </a:defRPr>
            </a:lvl1pPr>
          </a:lstStyle>
          <a:p>
            <a:endParaRPr lang="en-US"/>
          </a:p>
        </p:txBody>
      </p:sp>
      <p:sp>
        <p:nvSpPr>
          <p:cNvPr id="14" name="Text Placeholder 3"/>
          <p:cNvSpPr>
            <a:spLocks noGrp="1"/>
          </p:cNvSpPr>
          <p:nvPr>
            <p:ph type="body" sz="quarter" idx="18" hasCustomPrompt="1"/>
          </p:nvPr>
        </p:nvSpPr>
        <p:spPr>
          <a:xfrm>
            <a:off x="548783" y="849538"/>
            <a:ext cx="3514066" cy="1926795"/>
          </a:xfrm>
          <a:prstGeom prst="rect">
            <a:avLst/>
          </a:prstGeom>
          <a:noFill/>
        </p:spPr>
        <p:txBody>
          <a:bodyPr lIns="0" tIns="0" rIns="0" bIns="0" anchor="t">
            <a:noAutofit/>
          </a:bodyPr>
          <a:lstStyle>
            <a:lvl1pPr marL="0" indent="0">
              <a:lnSpc>
                <a:spcPts val="4199"/>
              </a:lnSpc>
              <a:spcBef>
                <a:spcPts val="0"/>
              </a:spcBef>
              <a:buFont typeface="Arial" panose="020B0604020202020204" pitchFamily="34" charset="0"/>
              <a:buNone/>
              <a:defRPr sz="4599" b="1" strike="noStrike" spc="-150" baseline="0">
                <a:solidFill>
                  <a:schemeClr val="tx1"/>
                </a:solidFill>
              </a:defRPr>
            </a:lvl1pPr>
            <a:lvl2pPr marL="341211" indent="0">
              <a:buNone/>
              <a:defRPr/>
            </a:lvl2pPr>
            <a:lvl3pPr marL="679246" indent="0">
              <a:buNone/>
              <a:defRPr/>
            </a:lvl3pPr>
            <a:lvl4pPr marL="966497" indent="0">
              <a:buNone/>
              <a:defRPr/>
            </a:lvl4pPr>
            <a:lvl5pPr marL="1145831" indent="0">
              <a:buNone/>
              <a:defRPr/>
            </a:lvl5pPr>
          </a:lstStyle>
          <a:p>
            <a:pPr lvl="0"/>
            <a:r>
              <a:rPr lang="en-US"/>
              <a:t>Photo plus</a:t>
            </a:r>
            <a:br>
              <a:rPr lang="en-US"/>
            </a:br>
            <a:r>
              <a:rPr lang="en-US"/>
              <a:t>statement</a:t>
            </a:r>
            <a:br>
              <a:rPr lang="en-US"/>
            </a:br>
            <a:r>
              <a:rPr lang="en-US"/>
              <a:t>layout</a:t>
            </a:r>
          </a:p>
        </p:txBody>
      </p:sp>
      <p:sp>
        <p:nvSpPr>
          <p:cNvPr id="8" name="Text Placeholder 7"/>
          <p:cNvSpPr>
            <a:spLocks noGrp="1"/>
          </p:cNvSpPr>
          <p:nvPr>
            <p:ph type="body" sz="quarter" idx="19" hasCustomPrompt="1"/>
          </p:nvPr>
        </p:nvSpPr>
        <p:spPr>
          <a:xfrm>
            <a:off x="548785" y="2943641"/>
            <a:ext cx="3514065" cy="1641615"/>
          </a:xfrm>
          <a:prstGeom prst="rect">
            <a:avLst/>
          </a:prstGeom>
        </p:spPr>
        <p:txBody>
          <a:bodyPr lIns="0" tIns="0" rIns="0" bIns="0"/>
          <a:lstStyle>
            <a:lvl1pPr marL="0" indent="0">
              <a:lnSpc>
                <a:spcPts val="2399"/>
              </a:lnSpc>
              <a:spcBef>
                <a:spcPts val="0"/>
              </a:spcBef>
              <a:buNone/>
              <a:defRPr sz="2399" baseline="0">
                <a:solidFill>
                  <a:schemeClr val="tx1"/>
                </a:solidFill>
              </a:defRPr>
            </a:lvl1pPr>
            <a:lvl2pPr marL="609311" indent="0">
              <a:buNone/>
              <a:defRPr/>
            </a:lvl2pPr>
            <a:lvl3pPr marL="1218620" indent="0">
              <a:buNone/>
              <a:defRPr/>
            </a:lvl3pPr>
            <a:lvl4pPr marL="1827931" indent="0">
              <a:buNone/>
              <a:defRPr/>
            </a:lvl4pPr>
            <a:lvl5pPr marL="2437242" indent="0">
              <a:buNone/>
              <a:defRPr/>
            </a:lvl5pPr>
          </a:lstStyle>
          <a:p>
            <a:pPr lvl="0"/>
            <a:r>
              <a:rPr lang="en-US"/>
              <a:t>Subtitle goes here</a:t>
            </a:r>
          </a:p>
        </p:txBody>
      </p:sp>
      <p:sp>
        <p:nvSpPr>
          <p:cNvPr id="18"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242710781"/>
      </p:ext>
    </p:extLst>
  </p:cSld>
  <p:clrMapOvr>
    <a:masterClrMapping/>
  </p:clrMapOvr>
  <p:transition spd="med"/>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Photo + Statement_Black">
    <p:bg>
      <p:bgPr>
        <a:solidFill>
          <a:schemeClr val="tx1"/>
        </a:solidFill>
        <a:effectLst/>
      </p:bgPr>
    </p:bg>
    <p:spTree>
      <p:nvGrpSpPr>
        <p:cNvPr id="1" name=""/>
        <p:cNvGrpSpPr/>
        <p:nvPr/>
      </p:nvGrpSpPr>
      <p:grpSpPr>
        <a:xfrm>
          <a:off x="0" y="0"/>
          <a:ext cx="0" cy="0"/>
          <a:chOff x="0" y="0"/>
          <a:chExt cx="0" cy="0"/>
        </a:xfrm>
      </p:grpSpPr>
      <p:sp>
        <p:nvSpPr>
          <p:cNvPr id="3" name="Rectangle 2"/>
          <p:cNvSpPr/>
          <p:nvPr userDrawn="1"/>
        </p:nvSpPr>
        <p:spPr>
          <a:xfrm>
            <a:off x="2"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6" name="Picture Placeholder 8"/>
          <p:cNvSpPr>
            <a:spLocks noGrp="1"/>
          </p:cNvSpPr>
          <p:nvPr>
            <p:ph type="pic" sz="quarter" idx="16"/>
          </p:nvPr>
        </p:nvSpPr>
        <p:spPr>
          <a:xfrm>
            <a:off x="4062849" y="0"/>
            <a:ext cx="8129151" cy="6858000"/>
          </a:xfrm>
          <a:prstGeom prst="rect">
            <a:avLst/>
          </a:prstGeom>
        </p:spPr>
        <p:txBody>
          <a:bodyPr anchor="ctr"/>
          <a:lstStyle>
            <a:lvl1pPr marL="0" indent="0" algn="ctr">
              <a:buNone/>
              <a:defRPr sz="2399">
                <a:solidFill>
                  <a:schemeClr val="accent1"/>
                </a:solidFill>
              </a:defRPr>
            </a:lvl1pPr>
          </a:lstStyle>
          <a:p>
            <a:endParaRPr lang="en-US"/>
          </a:p>
        </p:txBody>
      </p:sp>
      <p:sp>
        <p:nvSpPr>
          <p:cNvPr id="14" name="Text Placeholder 3"/>
          <p:cNvSpPr>
            <a:spLocks noGrp="1"/>
          </p:cNvSpPr>
          <p:nvPr>
            <p:ph type="body" sz="quarter" idx="18" hasCustomPrompt="1"/>
          </p:nvPr>
        </p:nvSpPr>
        <p:spPr>
          <a:xfrm>
            <a:off x="548783" y="849538"/>
            <a:ext cx="3514066" cy="1926795"/>
          </a:xfrm>
          <a:prstGeom prst="rect">
            <a:avLst/>
          </a:prstGeom>
          <a:noFill/>
        </p:spPr>
        <p:txBody>
          <a:bodyPr lIns="0" tIns="0" rIns="0" bIns="0" anchor="t">
            <a:noAutofit/>
          </a:bodyPr>
          <a:lstStyle>
            <a:lvl1pPr marL="0" indent="0">
              <a:lnSpc>
                <a:spcPts val="4199"/>
              </a:lnSpc>
              <a:spcBef>
                <a:spcPts val="0"/>
              </a:spcBef>
              <a:buFont typeface="Arial" panose="020B0604020202020204" pitchFamily="34" charset="0"/>
              <a:buNone/>
              <a:defRPr sz="4599" b="1" strike="noStrike" spc="-150" baseline="0">
                <a:solidFill>
                  <a:schemeClr val="bg1"/>
                </a:solidFill>
              </a:defRPr>
            </a:lvl1pPr>
            <a:lvl2pPr marL="341211" indent="0">
              <a:buNone/>
              <a:defRPr/>
            </a:lvl2pPr>
            <a:lvl3pPr marL="679246" indent="0">
              <a:buNone/>
              <a:defRPr/>
            </a:lvl3pPr>
            <a:lvl4pPr marL="966497" indent="0">
              <a:buNone/>
              <a:defRPr/>
            </a:lvl4pPr>
            <a:lvl5pPr marL="1145831" indent="0">
              <a:buNone/>
              <a:defRPr/>
            </a:lvl5pPr>
          </a:lstStyle>
          <a:p>
            <a:pPr lvl="0"/>
            <a:r>
              <a:rPr lang="en-US"/>
              <a:t>Photo plus</a:t>
            </a:r>
            <a:br>
              <a:rPr lang="en-US"/>
            </a:br>
            <a:r>
              <a:rPr lang="en-US"/>
              <a:t>statement</a:t>
            </a:r>
            <a:br>
              <a:rPr lang="en-US"/>
            </a:br>
            <a:r>
              <a:rPr lang="en-US"/>
              <a:t>layout</a:t>
            </a:r>
          </a:p>
        </p:txBody>
      </p:sp>
      <p:sp>
        <p:nvSpPr>
          <p:cNvPr id="8" name="Text Placeholder 7"/>
          <p:cNvSpPr>
            <a:spLocks noGrp="1"/>
          </p:cNvSpPr>
          <p:nvPr>
            <p:ph type="body" sz="quarter" idx="19" hasCustomPrompt="1"/>
          </p:nvPr>
        </p:nvSpPr>
        <p:spPr>
          <a:xfrm>
            <a:off x="548785" y="2943641"/>
            <a:ext cx="3514065" cy="1641615"/>
          </a:xfrm>
          <a:prstGeom prst="rect">
            <a:avLst/>
          </a:prstGeom>
        </p:spPr>
        <p:txBody>
          <a:bodyPr lIns="0" tIns="0" rIns="0" bIns="0"/>
          <a:lstStyle>
            <a:lvl1pPr marL="0" indent="0">
              <a:lnSpc>
                <a:spcPts val="2399"/>
              </a:lnSpc>
              <a:spcBef>
                <a:spcPts val="0"/>
              </a:spcBef>
              <a:buNone/>
              <a:defRPr sz="2399" baseline="0">
                <a:solidFill>
                  <a:schemeClr val="bg1"/>
                </a:solidFill>
              </a:defRPr>
            </a:lvl1pPr>
            <a:lvl2pPr marL="609311" indent="0">
              <a:buNone/>
              <a:defRPr/>
            </a:lvl2pPr>
            <a:lvl3pPr marL="1218620" indent="0">
              <a:buNone/>
              <a:defRPr/>
            </a:lvl3pPr>
            <a:lvl4pPr marL="1827931" indent="0">
              <a:buNone/>
              <a:defRPr/>
            </a:lvl4pPr>
            <a:lvl5pPr marL="2437242" indent="0">
              <a:buNone/>
              <a:defRPr/>
            </a:lvl5pPr>
          </a:lstStyle>
          <a:p>
            <a:pPr lvl="0"/>
            <a:r>
              <a:rPr lang="en-US"/>
              <a:t>Subtitle goes here</a:t>
            </a:r>
          </a:p>
        </p:txBody>
      </p:sp>
      <p:sp>
        <p:nvSpPr>
          <p:cNvPr id="13"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9" name="TextBox 8"/>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0" name="Group 9"/>
          <p:cNvGrpSpPr/>
          <p:nvPr userDrawn="1"/>
        </p:nvGrpSpPr>
        <p:grpSpPr>
          <a:xfrm>
            <a:off x="554484" y="6421482"/>
            <a:ext cx="734547" cy="245008"/>
            <a:chOff x="547688" y="952500"/>
            <a:chExt cx="12190413" cy="4067175"/>
          </a:xfrm>
        </p:grpSpPr>
        <p:sp>
          <p:nvSpPr>
            <p:cNvPr id="11" name="Rectangle 10"/>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2" name="Freeform 11"/>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5" name="Freeform 14"/>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6" name="Freeform 15"/>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7" name="Freeform 16"/>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8"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9"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1228549235"/>
      </p:ext>
    </p:extLst>
  </p:cSld>
  <p:clrMapOvr>
    <a:masterClrMapping/>
  </p:clrMapOvr>
  <p:transition spd="med"/>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Quote Layout">
    <p:bg>
      <p:bgPr>
        <a:solidFill>
          <a:schemeClr val="bg1"/>
        </a:solidFill>
        <a:effectLst/>
      </p:bgPr>
    </p:bg>
    <p:spTree>
      <p:nvGrpSpPr>
        <p:cNvPr id="1" name=""/>
        <p:cNvGrpSpPr/>
        <p:nvPr/>
      </p:nvGrpSpPr>
      <p:grpSpPr>
        <a:xfrm>
          <a:off x="0" y="0"/>
          <a:ext cx="0" cy="0"/>
          <a:chOff x="0" y="0"/>
          <a:chExt cx="0" cy="0"/>
        </a:xfrm>
      </p:grpSpPr>
      <p:sp>
        <p:nvSpPr>
          <p:cNvPr id="15" name="Text Placeholder 107"/>
          <p:cNvSpPr>
            <a:spLocks noGrp="1"/>
          </p:cNvSpPr>
          <p:nvPr>
            <p:ph type="body" sz="quarter" idx="18" hasCustomPrompt="1"/>
          </p:nvPr>
        </p:nvSpPr>
        <p:spPr bwMode="white">
          <a:xfrm>
            <a:off x="548783" y="1276352"/>
            <a:ext cx="10167728" cy="3242641"/>
          </a:xfrm>
          <a:prstGeom prst="rect">
            <a:avLst/>
          </a:prstGeom>
        </p:spPr>
        <p:txBody>
          <a:bodyPr lIns="0" anchor="t">
            <a:normAutofit/>
          </a:bodyPr>
          <a:lstStyle>
            <a:lvl1pPr marL="0" indent="0" algn="l">
              <a:lnSpc>
                <a:spcPct val="100000"/>
              </a:lnSpc>
              <a:buNone/>
              <a:defRPr sz="4399" b="1" spc="-150">
                <a:solidFill>
                  <a:schemeClr val="tx1"/>
                </a:solidFill>
              </a:defRPr>
            </a:lvl1pPr>
            <a:lvl2pPr marL="341211" indent="0" algn="ctr">
              <a:buNone/>
              <a:defRPr>
                <a:solidFill>
                  <a:schemeClr val="bg1"/>
                </a:solidFill>
              </a:defRPr>
            </a:lvl2pPr>
            <a:lvl3pPr marL="679246" indent="0" algn="ctr">
              <a:buNone/>
              <a:defRPr>
                <a:solidFill>
                  <a:schemeClr val="bg1"/>
                </a:solidFill>
              </a:defRPr>
            </a:lvl3pPr>
            <a:lvl4pPr marL="966497" indent="0" algn="ctr">
              <a:buNone/>
              <a:defRPr>
                <a:solidFill>
                  <a:schemeClr val="bg1"/>
                </a:solidFill>
              </a:defRPr>
            </a:lvl4pPr>
            <a:lvl5pPr marL="1145831" indent="0" algn="ctr">
              <a:buNone/>
              <a:defRPr>
                <a:solidFill>
                  <a:schemeClr val="bg1"/>
                </a:solidFill>
              </a:defRPr>
            </a:lvl5pPr>
          </a:lstStyle>
          <a:p>
            <a:pPr lvl="0"/>
            <a:r>
              <a:rPr lang="en-US"/>
              <a:t>Click to edit quote</a:t>
            </a:r>
          </a:p>
        </p:txBody>
      </p:sp>
      <p:sp>
        <p:nvSpPr>
          <p:cNvPr id="17" name="Text Placeholder 110"/>
          <p:cNvSpPr>
            <a:spLocks noGrp="1"/>
          </p:cNvSpPr>
          <p:nvPr>
            <p:ph type="body" sz="quarter" idx="19" hasCustomPrompt="1"/>
          </p:nvPr>
        </p:nvSpPr>
        <p:spPr>
          <a:xfrm>
            <a:off x="554483" y="4623890"/>
            <a:ext cx="10162029" cy="876300"/>
          </a:xfrm>
          <a:prstGeom prst="rect">
            <a:avLst/>
          </a:prstGeom>
        </p:spPr>
        <p:txBody>
          <a:bodyPr lIns="0"/>
          <a:lstStyle>
            <a:lvl1pPr marL="0" indent="0" algn="l">
              <a:buNone/>
              <a:defRPr sz="2399" b="1" spc="-150" baseline="0">
                <a:solidFill>
                  <a:schemeClr val="tx1"/>
                </a:solidFill>
              </a:defRPr>
            </a:lvl1pPr>
            <a:lvl2pPr marL="341211" indent="0">
              <a:buNone/>
              <a:defRPr/>
            </a:lvl2pPr>
            <a:lvl3pPr marL="679246" indent="0">
              <a:buNone/>
              <a:defRPr/>
            </a:lvl3pPr>
            <a:lvl4pPr marL="966497" indent="0">
              <a:buNone/>
              <a:defRPr/>
            </a:lvl4pPr>
            <a:lvl5pPr marL="1145831" indent="0">
              <a:buNone/>
              <a:defRPr/>
            </a:lvl5pPr>
          </a:lstStyle>
          <a:p>
            <a:pPr lvl="0"/>
            <a:r>
              <a:rPr lang="en-US"/>
              <a:t>Click to edit quote source</a:t>
            </a:r>
          </a:p>
        </p:txBody>
      </p:sp>
      <p:grpSp>
        <p:nvGrpSpPr>
          <p:cNvPr id="12" name="Group 11"/>
          <p:cNvGrpSpPr/>
          <p:nvPr userDrawn="1"/>
        </p:nvGrpSpPr>
        <p:grpSpPr>
          <a:xfrm>
            <a:off x="548783" y="398466"/>
            <a:ext cx="990858" cy="735013"/>
            <a:chOff x="657226" y="398463"/>
            <a:chExt cx="990600" cy="735013"/>
          </a:xfrm>
          <a:gradFill>
            <a:gsLst>
              <a:gs pos="0">
                <a:srgbClr val="F2A11F"/>
              </a:gs>
              <a:gs pos="37000">
                <a:srgbClr val="EC5124"/>
              </a:gs>
              <a:gs pos="79000">
                <a:srgbClr val="D32A27"/>
              </a:gs>
              <a:gs pos="100000">
                <a:srgbClr val="7A425E"/>
              </a:gs>
            </a:gsLst>
            <a:lin ang="2400000" scaled="0"/>
          </a:gradFill>
        </p:grpSpPr>
        <p:sp>
          <p:nvSpPr>
            <p:cNvPr id="7" name="Freeform 5"/>
            <p:cNvSpPr>
              <a:spLocks/>
            </p:cNvSpPr>
            <p:nvPr userDrawn="1"/>
          </p:nvSpPr>
          <p:spPr bwMode="auto">
            <a:xfrm>
              <a:off x="657226"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 name="Freeform 6"/>
            <p:cNvSpPr>
              <a:spLocks/>
            </p:cNvSpPr>
            <p:nvPr userDrawn="1"/>
          </p:nvSpPr>
          <p:spPr bwMode="auto">
            <a:xfrm>
              <a:off x="1195388"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2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908295266"/>
      </p:ext>
    </p:extLst>
  </p:cSld>
  <p:clrMapOvr>
    <a:masterClrMapping/>
  </p:clrMapOvr>
  <p:transition spd="med"/>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Quote Layout_Black">
    <p:bg>
      <p:bgPr>
        <a:solidFill>
          <a:schemeClr val="tx1"/>
        </a:solidFill>
        <a:effectLst/>
      </p:bgPr>
    </p:bg>
    <p:spTree>
      <p:nvGrpSpPr>
        <p:cNvPr id="1" name=""/>
        <p:cNvGrpSpPr/>
        <p:nvPr/>
      </p:nvGrpSpPr>
      <p:grpSpPr>
        <a:xfrm>
          <a:off x="0" y="0"/>
          <a:ext cx="0" cy="0"/>
          <a:chOff x="0" y="0"/>
          <a:chExt cx="0" cy="0"/>
        </a:xfrm>
      </p:grpSpPr>
      <p:sp>
        <p:nvSpPr>
          <p:cNvPr id="15" name="Text Placeholder 107"/>
          <p:cNvSpPr>
            <a:spLocks noGrp="1"/>
          </p:cNvSpPr>
          <p:nvPr>
            <p:ph type="body" sz="quarter" idx="18" hasCustomPrompt="1"/>
          </p:nvPr>
        </p:nvSpPr>
        <p:spPr bwMode="white">
          <a:xfrm>
            <a:off x="548783" y="1276352"/>
            <a:ext cx="10167728" cy="3242641"/>
          </a:xfrm>
          <a:prstGeom prst="rect">
            <a:avLst/>
          </a:prstGeom>
        </p:spPr>
        <p:txBody>
          <a:bodyPr lIns="0" anchor="t">
            <a:normAutofit/>
          </a:bodyPr>
          <a:lstStyle>
            <a:lvl1pPr marL="0" indent="0" algn="l">
              <a:lnSpc>
                <a:spcPct val="100000"/>
              </a:lnSpc>
              <a:buNone/>
              <a:defRPr sz="4399" b="1" spc="-150">
                <a:solidFill>
                  <a:schemeClr val="bg1"/>
                </a:solidFill>
              </a:defRPr>
            </a:lvl1pPr>
            <a:lvl2pPr marL="341211" indent="0" algn="ctr">
              <a:buNone/>
              <a:defRPr>
                <a:solidFill>
                  <a:schemeClr val="bg1"/>
                </a:solidFill>
              </a:defRPr>
            </a:lvl2pPr>
            <a:lvl3pPr marL="679246" indent="0" algn="ctr">
              <a:buNone/>
              <a:defRPr>
                <a:solidFill>
                  <a:schemeClr val="bg1"/>
                </a:solidFill>
              </a:defRPr>
            </a:lvl3pPr>
            <a:lvl4pPr marL="966497" indent="0" algn="ctr">
              <a:buNone/>
              <a:defRPr>
                <a:solidFill>
                  <a:schemeClr val="bg1"/>
                </a:solidFill>
              </a:defRPr>
            </a:lvl4pPr>
            <a:lvl5pPr marL="1145831" indent="0" algn="ctr">
              <a:buNone/>
              <a:defRPr>
                <a:solidFill>
                  <a:schemeClr val="bg1"/>
                </a:solidFill>
              </a:defRPr>
            </a:lvl5pPr>
          </a:lstStyle>
          <a:p>
            <a:pPr lvl="0"/>
            <a:r>
              <a:rPr lang="en-US"/>
              <a:t>Click to edit quote</a:t>
            </a:r>
          </a:p>
        </p:txBody>
      </p:sp>
      <p:sp>
        <p:nvSpPr>
          <p:cNvPr id="17" name="Text Placeholder 110"/>
          <p:cNvSpPr>
            <a:spLocks noGrp="1"/>
          </p:cNvSpPr>
          <p:nvPr>
            <p:ph type="body" sz="quarter" idx="19" hasCustomPrompt="1"/>
          </p:nvPr>
        </p:nvSpPr>
        <p:spPr>
          <a:xfrm>
            <a:off x="554483" y="4623890"/>
            <a:ext cx="10162029" cy="876300"/>
          </a:xfrm>
          <a:prstGeom prst="rect">
            <a:avLst/>
          </a:prstGeom>
        </p:spPr>
        <p:txBody>
          <a:bodyPr lIns="0"/>
          <a:lstStyle>
            <a:lvl1pPr marL="0" indent="0" algn="l">
              <a:buNone/>
              <a:defRPr sz="2399" b="1" spc="-150" baseline="0">
                <a:solidFill>
                  <a:schemeClr val="bg1"/>
                </a:solidFill>
              </a:defRPr>
            </a:lvl1pPr>
            <a:lvl2pPr marL="341211" indent="0">
              <a:buNone/>
              <a:defRPr/>
            </a:lvl2pPr>
            <a:lvl3pPr marL="679246" indent="0">
              <a:buNone/>
              <a:defRPr/>
            </a:lvl3pPr>
            <a:lvl4pPr marL="966497" indent="0">
              <a:buNone/>
              <a:defRPr/>
            </a:lvl4pPr>
            <a:lvl5pPr marL="1145831" indent="0">
              <a:buNone/>
              <a:defRPr/>
            </a:lvl5pPr>
          </a:lstStyle>
          <a:p>
            <a:pPr lvl="0"/>
            <a:r>
              <a:rPr lang="en-US"/>
              <a:t>Click to edit quote source</a:t>
            </a:r>
          </a:p>
        </p:txBody>
      </p:sp>
      <p:sp>
        <p:nvSpPr>
          <p:cNvPr id="1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9" name="TextBox 8"/>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0" name="Group 9"/>
          <p:cNvGrpSpPr/>
          <p:nvPr userDrawn="1"/>
        </p:nvGrpSpPr>
        <p:grpSpPr>
          <a:xfrm>
            <a:off x="554484" y="6421482"/>
            <a:ext cx="734547" cy="245008"/>
            <a:chOff x="547688" y="952500"/>
            <a:chExt cx="12190413" cy="4067175"/>
          </a:xfrm>
        </p:grpSpPr>
        <p:sp>
          <p:nvSpPr>
            <p:cNvPr id="11" name="Rectangle 10"/>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3" name="Freeform 12"/>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6" name="Freeform 15"/>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8" name="Freeform 17"/>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9" name="Freeform 18"/>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0"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1"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grpSp>
        <p:nvGrpSpPr>
          <p:cNvPr id="22" name="Group 21">
            <a:extLst>
              <a:ext uri="{FF2B5EF4-FFF2-40B4-BE49-F238E27FC236}">
                <a16:creationId xmlns:a16="http://schemas.microsoft.com/office/drawing/2014/main" id="{99371872-34E0-4E87-A880-855C986DEFEB}"/>
              </a:ext>
            </a:extLst>
          </p:cNvPr>
          <p:cNvGrpSpPr/>
          <p:nvPr userDrawn="1"/>
        </p:nvGrpSpPr>
        <p:grpSpPr>
          <a:xfrm>
            <a:off x="548783" y="398466"/>
            <a:ext cx="990858" cy="735013"/>
            <a:chOff x="657226" y="398463"/>
            <a:chExt cx="990600" cy="735013"/>
          </a:xfrm>
          <a:gradFill>
            <a:gsLst>
              <a:gs pos="0">
                <a:srgbClr val="F2A11F"/>
              </a:gs>
              <a:gs pos="37000">
                <a:srgbClr val="EC5124"/>
              </a:gs>
              <a:gs pos="79000">
                <a:srgbClr val="D32A27"/>
              </a:gs>
              <a:gs pos="100000">
                <a:srgbClr val="7A425E"/>
              </a:gs>
            </a:gsLst>
            <a:lin ang="2400000" scaled="0"/>
          </a:gradFill>
        </p:grpSpPr>
        <p:sp>
          <p:nvSpPr>
            <p:cNvPr id="23" name="Freeform 5">
              <a:extLst>
                <a:ext uri="{FF2B5EF4-FFF2-40B4-BE49-F238E27FC236}">
                  <a16:creationId xmlns:a16="http://schemas.microsoft.com/office/drawing/2014/main" id="{CA59E31A-C52B-4474-A5A0-530DF770A454}"/>
                </a:ext>
              </a:extLst>
            </p:cNvPr>
            <p:cNvSpPr>
              <a:spLocks/>
            </p:cNvSpPr>
            <p:nvPr userDrawn="1"/>
          </p:nvSpPr>
          <p:spPr bwMode="auto">
            <a:xfrm>
              <a:off x="657226"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4" name="Freeform 6">
              <a:extLst>
                <a:ext uri="{FF2B5EF4-FFF2-40B4-BE49-F238E27FC236}">
                  <a16:creationId xmlns:a16="http://schemas.microsoft.com/office/drawing/2014/main" id="{123B3F17-34EE-4FBA-8852-7ED07762D8EB}"/>
                </a:ext>
              </a:extLst>
            </p:cNvPr>
            <p:cNvSpPr>
              <a:spLocks/>
            </p:cNvSpPr>
            <p:nvPr userDrawn="1"/>
          </p:nvSpPr>
          <p:spPr bwMode="auto">
            <a:xfrm>
              <a:off x="1195388"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Tree>
    <p:extLst>
      <p:ext uri="{BB962C8B-B14F-4D97-AF65-F5344CB8AC3E}">
        <p14:creationId xmlns:p14="http://schemas.microsoft.com/office/powerpoint/2010/main" val="1386158497"/>
      </p:ext>
    </p:extLst>
  </p:cSld>
  <p:clrMapOvr>
    <a:masterClrMapping/>
  </p:clrMapOvr>
  <p:transition spd="med"/>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Content w/ Product">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1" y="0"/>
            <a:ext cx="6568599" cy="6858000"/>
          </a:xfrm>
          <a:prstGeom prst="rect">
            <a:avLst/>
          </a:prstGeom>
        </p:spPr>
        <p:txBody>
          <a:bodyPr anchor="ctr"/>
          <a:lstStyle>
            <a:lvl1pPr marL="0" indent="0" algn="ctr">
              <a:buNone/>
              <a:defRPr sz="2399">
                <a:solidFill>
                  <a:schemeClr val="accent1"/>
                </a:solidFill>
              </a:defRPr>
            </a:lvl1pPr>
          </a:lstStyle>
          <a:p>
            <a:endParaRPr lang="en-US"/>
          </a:p>
        </p:txBody>
      </p:sp>
      <p:sp>
        <p:nvSpPr>
          <p:cNvPr id="9" name="Content Placeholder 2"/>
          <p:cNvSpPr>
            <a:spLocks noGrp="1"/>
          </p:cNvSpPr>
          <p:nvPr>
            <p:ph sz="half" idx="18"/>
          </p:nvPr>
        </p:nvSpPr>
        <p:spPr bwMode="gray">
          <a:xfrm>
            <a:off x="6837066" y="1307595"/>
            <a:ext cx="4708781" cy="4919589"/>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tx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tx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tx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37065" y="402336"/>
            <a:ext cx="4708781"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title</a:t>
            </a:r>
          </a:p>
        </p:txBody>
      </p:sp>
      <p:sp>
        <p:nvSpPr>
          <p:cNvPr id="18"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143104850"/>
      </p:ext>
    </p:extLst>
  </p:cSld>
  <p:clrMapOvr>
    <a:masterClrMapping/>
  </p:clrMapOvr>
  <p:transition spd="med"/>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preserve="1" userDrawn="1">
  <p:cSld name="Content w/ Product_Black">
    <p:bg>
      <p:bgPr>
        <a:solidFill>
          <a:schemeClr val="tx1"/>
        </a:solidFill>
        <a:effectLst/>
      </p:bgPr>
    </p:bg>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1" y="0"/>
            <a:ext cx="6568599" cy="6858000"/>
          </a:xfrm>
          <a:prstGeom prst="rect">
            <a:avLst/>
          </a:prstGeom>
        </p:spPr>
        <p:txBody>
          <a:bodyPr anchor="ctr"/>
          <a:lstStyle>
            <a:lvl1pPr marL="0" indent="0" algn="ctr">
              <a:buNone/>
              <a:defRPr sz="2399">
                <a:solidFill>
                  <a:schemeClr val="accent1"/>
                </a:solidFill>
              </a:defRPr>
            </a:lvl1pPr>
          </a:lstStyle>
          <a:p>
            <a:endParaRPr lang="en-US"/>
          </a:p>
        </p:txBody>
      </p:sp>
      <p:sp>
        <p:nvSpPr>
          <p:cNvPr id="9" name="Content Placeholder 2"/>
          <p:cNvSpPr>
            <a:spLocks noGrp="1"/>
          </p:cNvSpPr>
          <p:nvPr>
            <p:ph sz="half" idx="18"/>
          </p:nvPr>
        </p:nvSpPr>
        <p:spPr bwMode="gray">
          <a:xfrm>
            <a:off x="6837066" y="1307592"/>
            <a:ext cx="4708781" cy="5023760"/>
          </a:xfrm>
          <a:prstGeom prst="rect">
            <a:avLst/>
          </a:prstGeom>
        </p:spPr>
        <p:txBody>
          <a:bodyPr lIns="0" tIns="0" rIns="0" bIns="0"/>
          <a:lstStyle>
            <a:lvl1pPr marL="171399" indent="-171399">
              <a:lnSpc>
                <a:spcPct val="90000"/>
              </a:lnSpc>
              <a:spcBef>
                <a:spcPts val="500"/>
              </a:spcBef>
              <a:buClrTx/>
              <a:buFont typeface="Arial" panose="020B0604020202020204" pitchFamily="34" charset="0"/>
              <a:buChar char="•"/>
              <a:defRPr sz="1999">
                <a:solidFill>
                  <a:schemeClr val="bg1"/>
                </a:solidFill>
                <a:latin typeface="Arial" pitchFamily="34" charset="0"/>
                <a:cs typeface="Arial" pitchFamily="34" charset="0"/>
              </a:defRPr>
            </a:lvl1pPr>
            <a:lvl2pPr marL="609310" indent="-228491">
              <a:lnSpc>
                <a:spcPct val="90000"/>
              </a:lnSpc>
              <a:spcBef>
                <a:spcPts val="500"/>
              </a:spcBef>
              <a:buClrTx/>
              <a:buFont typeface="Arial" pitchFamily="34" charset="0"/>
              <a:buChar char="–"/>
              <a:defRPr sz="1799">
                <a:solidFill>
                  <a:schemeClr val="bg1"/>
                </a:solidFill>
                <a:latin typeface="Arial" pitchFamily="34" charset="0"/>
                <a:cs typeface="Arial" pitchFamily="34" charset="0"/>
              </a:defRPr>
            </a:lvl2pPr>
            <a:lvl3pPr marL="83568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3pPr>
            <a:lvl4pPr marL="1146689" indent="-156559">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4pPr>
            <a:lvl5pPr marL="1444997" indent="-150213">
              <a:lnSpc>
                <a:spcPct val="90000"/>
              </a:lnSpc>
              <a:spcBef>
                <a:spcPts val="500"/>
              </a:spcBef>
              <a:buClrTx/>
              <a:buFont typeface="Arial" panose="020B0604020202020204" pitchFamily="34" charset="0"/>
              <a:buChar char="-"/>
              <a:defRPr sz="1799">
                <a:solidFill>
                  <a:schemeClr val="bg1"/>
                </a:solidFill>
                <a:latin typeface="Arial" pitchFamily="34" charset="0"/>
                <a:cs typeface="Arial" pitchFamily="34" charset="0"/>
              </a:defRPr>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37065" y="402336"/>
            <a:ext cx="4708781"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title</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8" name="TextBox 7"/>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0" name="Group 9"/>
          <p:cNvGrpSpPr/>
          <p:nvPr userDrawn="1"/>
        </p:nvGrpSpPr>
        <p:grpSpPr>
          <a:xfrm>
            <a:off x="554484" y="6421482"/>
            <a:ext cx="734547" cy="245008"/>
            <a:chOff x="547688" y="952500"/>
            <a:chExt cx="12190413" cy="4067175"/>
          </a:xfrm>
        </p:grpSpPr>
        <p:sp>
          <p:nvSpPr>
            <p:cNvPr id="13" name="Rectangle 12"/>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4" name="Freeform 13"/>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5" name="Freeform 14"/>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6" name="Freeform 15"/>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7" name="Freeform 16"/>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8"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9"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687755337"/>
      </p:ext>
    </p:extLst>
  </p:cSld>
  <p:clrMapOvr>
    <a:masterClrMapping/>
  </p:clrMapOvr>
  <p:transition spd="med"/>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548784" y="1307593"/>
            <a:ext cx="11076269" cy="4919588"/>
          </a:xfrm>
          <a:prstGeom prst="rect">
            <a:avLst/>
          </a:prstGeom>
        </p:spPr>
        <p:txBody>
          <a:bodyPr lIns="121899" tIns="853291" rIns="121899" bIns="60949" anchor="ctr" anchorCtr="0"/>
          <a:lstStyle>
            <a:lvl1pPr marL="0" indent="0" algn="ctr">
              <a:buFontTx/>
              <a:buNone/>
              <a:defRPr sz="2399" baseline="0">
                <a:solidFill>
                  <a:schemeClr val="bg2"/>
                </a:solidFill>
              </a:defRPr>
            </a:lvl1pPr>
          </a:lstStyle>
          <a:p>
            <a:r>
              <a:rPr lang="en-US"/>
              <a:t>Click icon to create chart</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141685136"/>
      </p:ext>
    </p:extLst>
  </p:cSld>
  <p:clrMapOvr>
    <a:masterClrMapping/>
  </p:clrMapOvr>
  <p:transition spd="med"/>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Chart Slide_Black">
    <p:bg>
      <p:bgPr>
        <a:solidFill>
          <a:schemeClr val="tx1"/>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621" rtl="0" eaLnBrk="1" latinLnBrk="0" hangingPunct="1">
              <a:lnSpc>
                <a:spcPts val="3199"/>
              </a:lnSpc>
              <a:spcBef>
                <a:spcPct val="0"/>
              </a:spcBef>
              <a:buNone/>
              <a:tabLst>
                <a:tab pos="1218621" algn="l"/>
              </a:tabLst>
              <a:defRPr lang="en-US" sz="3199"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548784" y="1307593"/>
            <a:ext cx="11076269" cy="4919588"/>
          </a:xfrm>
          <a:prstGeom prst="rect">
            <a:avLst/>
          </a:prstGeom>
        </p:spPr>
        <p:txBody>
          <a:bodyPr lIns="121899" tIns="853291" rIns="121899" bIns="60949" anchor="ctr" anchorCtr="0"/>
          <a:lstStyle>
            <a:lvl1pPr marL="0" indent="0" algn="ctr">
              <a:buFontTx/>
              <a:buNone/>
              <a:defRPr sz="2399" baseline="0">
                <a:solidFill>
                  <a:schemeClr val="bg1"/>
                </a:solidFill>
              </a:defRPr>
            </a:lvl1pPr>
          </a:lstStyle>
          <a:p>
            <a:r>
              <a:rPr lang="en-US"/>
              <a:t>Click icon to create chart</a:t>
            </a:r>
          </a:p>
        </p:txBody>
      </p:sp>
      <p:sp>
        <p:nvSpPr>
          <p:cNvPr id="1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6" name="TextBox 5"/>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7" name="Group 6"/>
          <p:cNvGrpSpPr/>
          <p:nvPr userDrawn="1"/>
        </p:nvGrpSpPr>
        <p:grpSpPr>
          <a:xfrm>
            <a:off x="554484" y="6421482"/>
            <a:ext cx="734547" cy="245008"/>
            <a:chOff x="547688" y="952500"/>
            <a:chExt cx="12190413" cy="4067175"/>
          </a:xfrm>
        </p:grpSpPr>
        <p:sp>
          <p:nvSpPr>
            <p:cNvPr id="8" name="Rectangle 7"/>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2" name="Freeform 11"/>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100311746"/>
      </p:ext>
    </p:extLst>
  </p:cSld>
  <p:clrMapOvr>
    <a:masterClrMapping/>
  </p:clrMapOvr>
  <p:transition spd="med"/>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952210087"/>
      </p:ext>
    </p:extLst>
  </p:cSld>
  <p:clrMapOvr>
    <a:masterClrMapping/>
  </p:clrMapOvr>
  <p:transition spd="med"/>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preserve="1" userDrawn="1">
  <p:cSld name="Blank Slide_Black">
    <p:bg>
      <p:bgPr>
        <a:solidFill>
          <a:schemeClr val="tx1"/>
        </a:solidFill>
        <a:effectLst/>
      </p:bgPr>
    </p:bg>
    <p:spTree>
      <p:nvGrpSpPr>
        <p:cNvPr id="1" name=""/>
        <p:cNvGrpSpPr/>
        <p:nvPr/>
      </p:nvGrpSpPr>
      <p:grpSpPr>
        <a:xfrm>
          <a:off x="0" y="0"/>
          <a:ext cx="0" cy="0"/>
          <a:chOff x="0" y="0"/>
          <a:chExt cx="0" cy="0"/>
        </a:xfrm>
      </p:grpSpPr>
      <p:sp>
        <p:nvSpPr>
          <p:cNvPr id="9"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14" name="TextBox 13"/>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5" name="Group 14"/>
          <p:cNvGrpSpPr/>
          <p:nvPr userDrawn="1"/>
        </p:nvGrpSpPr>
        <p:grpSpPr>
          <a:xfrm>
            <a:off x="554484" y="6421482"/>
            <a:ext cx="734547" cy="245008"/>
            <a:chOff x="547688" y="952500"/>
            <a:chExt cx="12190413" cy="4067175"/>
          </a:xfrm>
        </p:grpSpPr>
        <p:sp>
          <p:nvSpPr>
            <p:cNvPr id="16" name="Rectangle 15"/>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7" name="Freeform 16"/>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8" name="Freeform 17"/>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19" name="Freeform 18"/>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0" name="Freeform 19"/>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1"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sp>
          <p:nvSpPr>
            <p:cNvPr id="22"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solidFill>
                  <a:schemeClr val="bg1"/>
                </a:solidFill>
              </a:endParaRPr>
            </a:p>
          </p:txBody>
        </p:sp>
      </p:grpSp>
    </p:spTree>
    <p:extLst>
      <p:ext uri="{BB962C8B-B14F-4D97-AF65-F5344CB8AC3E}">
        <p14:creationId xmlns:p14="http://schemas.microsoft.com/office/powerpoint/2010/main" val="4130571560"/>
      </p:ext>
    </p:extLst>
  </p:cSld>
  <p:clrMapOvr>
    <a:masterClrMapping/>
  </p:clrMapOvr>
  <p:transition spd="med"/>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preserve="1" userDrawn="1">
  <p:cSld name="Closing Slide">
    <p:spTree>
      <p:nvGrpSpPr>
        <p:cNvPr id="1" name=""/>
        <p:cNvGrpSpPr/>
        <p:nvPr/>
      </p:nvGrpSpPr>
      <p:grpSpPr>
        <a:xfrm>
          <a:off x="0" y="0"/>
          <a:ext cx="0" cy="0"/>
          <a:chOff x="0" y="0"/>
          <a:chExt cx="0" cy="0"/>
        </a:xfrm>
      </p:grpSpPr>
      <p:grpSp>
        <p:nvGrpSpPr>
          <p:cNvPr id="81" name="Group 80"/>
          <p:cNvGrpSpPr/>
          <p:nvPr userDrawn="1"/>
        </p:nvGrpSpPr>
        <p:grpSpPr>
          <a:xfrm rot="16200000">
            <a:off x="373582" y="2655459"/>
            <a:ext cx="6856214" cy="1545292"/>
            <a:chOff x="541049" y="2649538"/>
            <a:chExt cx="9285724" cy="2092325"/>
          </a:xfrm>
          <a:solidFill>
            <a:schemeClr val="tx1"/>
          </a:solidFill>
        </p:grpSpPr>
        <p:sp>
          <p:nvSpPr>
            <p:cNvPr id="5" name="Freeform 5"/>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 name="Freeform 6"/>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 name="Freeform 7"/>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 name="Freeform 8"/>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1" name="Freeform 9"/>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4" name="Freeform 10"/>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6" name="Oval 11"/>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grpSp>
        <p:nvGrpSpPr>
          <p:cNvPr id="22" name="Group 21">
            <a:extLst>
              <a:ext uri="{FF2B5EF4-FFF2-40B4-BE49-F238E27FC236}">
                <a16:creationId xmlns:a16="http://schemas.microsoft.com/office/drawing/2014/main" id="{D217900D-5033-4638-8DF2-07DE57B5B97E}"/>
              </a:ext>
            </a:extLst>
          </p:cNvPr>
          <p:cNvGrpSpPr/>
          <p:nvPr userDrawn="1"/>
        </p:nvGrpSpPr>
        <p:grpSpPr>
          <a:xfrm>
            <a:off x="7047162" y="1676401"/>
            <a:ext cx="5146427" cy="3505200"/>
            <a:chOff x="7045325" y="1676401"/>
            <a:chExt cx="5145087" cy="3505200"/>
          </a:xfrm>
        </p:grpSpPr>
        <p:sp>
          <p:nvSpPr>
            <p:cNvPr id="12" name="Freeform 5">
              <a:extLst>
                <a:ext uri="{FF2B5EF4-FFF2-40B4-BE49-F238E27FC236}">
                  <a16:creationId xmlns:a16="http://schemas.microsoft.com/office/drawing/2014/main" id="{42A022AC-236A-4C47-9960-6BBBDE197CD4}"/>
                </a:ext>
              </a:extLst>
            </p:cNvPr>
            <p:cNvSpPr>
              <a:spLocks noEditPoints="1"/>
            </p:cNvSpPr>
            <p:nvPr userDrawn="1"/>
          </p:nvSpPr>
          <p:spPr bwMode="auto">
            <a:xfrm>
              <a:off x="7045325" y="1676401"/>
              <a:ext cx="5145087" cy="3505200"/>
            </a:xfrm>
            <a:custGeom>
              <a:avLst/>
              <a:gdLst>
                <a:gd name="T0" fmla="*/ 717 w 2697"/>
                <a:gd name="T1" fmla="*/ 241 h 1832"/>
                <a:gd name="T2" fmla="*/ 698 w 2697"/>
                <a:gd name="T3" fmla="*/ 358 h 1832"/>
                <a:gd name="T4" fmla="*/ 755 w 2697"/>
                <a:gd name="T5" fmla="*/ 353 h 1832"/>
                <a:gd name="T6" fmla="*/ 952 w 2697"/>
                <a:gd name="T7" fmla="*/ 431 h 1832"/>
                <a:gd name="T8" fmla="*/ 1077 w 2697"/>
                <a:gd name="T9" fmla="*/ 299 h 1832"/>
                <a:gd name="T10" fmla="*/ 769 w 2697"/>
                <a:gd name="T11" fmla="*/ 229 h 1832"/>
                <a:gd name="T12" fmla="*/ 1219 w 2697"/>
                <a:gd name="T13" fmla="*/ 431 h 1832"/>
                <a:gd name="T14" fmla="*/ 1120 w 2697"/>
                <a:gd name="T15" fmla="*/ 287 h 1832"/>
                <a:gd name="T16" fmla="*/ 1089 w 2697"/>
                <a:gd name="T17" fmla="*/ 373 h 1832"/>
                <a:gd name="T18" fmla="*/ 1175 w 2697"/>
                <a:gd name="T19" fmla="*/ 395 h 1832"/>
                <a:gd name="T20" fmla="*/ 1412 w 2697"/>
                <a:gd name="T21" fmla="*/ 225 h 1832"/>
                <a:gd name="T22" fmla="*/ 1348 w 2697"/>
                <a:gd name="T23" fmla="*/ 356 h 1832"/>
                <a:gd name="T24" fmla="*/ 1505 w 2697"/>
                <a:gd name="T25" fmla="*/ 364 h 1832"/>
                <a:gd name="T26" fmla="*/ 1448 w 2697"/>
                <a:gd name="T27" fmla="*/ 177 h 1832"/>
                <a:gd name="T28" fmla="*/ 1666 w 2697"/>
                <a:gd name="T29" fmla="*/ 435 h 1832"/>
                <a:gd name="T30" fmla="*/ 1758 w 2697"/>
                <a:gd name="T31" fmla="*/ 335 h 1832"/>
                <a:gd name="T32" fmla="*/ 1703 w 2697"/>
                <a:gd name="T33" fmla="*/ 314 h 1832"/>
                <a:gd name="T34" fmla="*/ 1892 w 2697"/>
                <a:gd name="T35" fmla="*/ 225 h 1832"/>
                <a:gd name="T36" fmla="*/ 1828 w 2697"/>
                <a:gd name="T37" fmla="*/ 356 h 1832"/>
                <a:gd name="T38" fmla="*/ 24 w 2697"/>
                <a:gd name="T39" fmla="*/ 634 h 1832"/>
                <a:gd name="T40" fmla="*/ 81 w 2697"/>
                <a:gd name="T41" fmla="*/ 720 h 1832"/>
                <a:gd name="T42" fmla="*/ 237 w 2697"/>
                <a:gd name="T43" fmla="*/ 581 h 1832"/>
                <a:gd name="T44" fmla="*/ 243 w 2697"/>
                <a:gd name="T45" fmla="*/ 745 h 1832"/>
                <a:gd name="T46" fmla="*/ 237 w 2697"/>
                <a:gd name="T47" fmla="*/ 627 h 1832"/>
                <a:gd name="T48" fmla="*/ 450 w 2697"/>
                <a:gd name="T49" fmla="*/ 631 h 1832"/>
                <a:gd name="T50" fmla="*/ 449 w 2697"/>
                <a:gd name="T51" fmla="*/ 791 h 1832"/>
                <a:gd name="T52" fmla="*/ 598 w 2697"/>
                <a:gd name="T53" fmla="*/ 512 h 1832"/>
                <a:gd name="T54" fmla="*/ 669 w 2697"/>
                <a:gd name="T55" fmla="*/ 674 h 1832"/>
                <a:gd name="T56" fmla="*/ 798 w 2697"/>
                <a:gd name="T57" fmla="*/ 614 h 1832"/>
                <a:gd name="T58" fmla="*/ 833 w 2697"/>
                <a:gd name="T59" fmla="*/ 633 h 1832"/>
                <a:gd name="T60" fmla="*/ 1155 w 2697"/>
                <a:gd name="T61" fmla="*/ 686 h 1832"/>
                <a:gd name="T62" fmla="*/ 1155 w 2697"/>
                <a:gd name="T63" fmla="*/ 686 h 1832"/>
                <a:gd name="T64" fmla="*/ 1047 w 2697"/>
                <a:gd name="T65" fmla="*/ 742 h 1832"/>
                <a:gd name="T66" fmla="*/ 1167 w 2697"/>
                <a:gd name="T67" fmla="*/ 787 h 1832"/>
                <a:gd name="T68" fmla="*/ 1453 w 2697"/>
                <a:gd name="T69" fmla="*/ 686 h 1832"/>
                <a:gd name="T70" fmla="*/ 1344 w 2697"/>
                <a:gd name="T71" fmla="*/ 631 h 1832"/>
                <a:gd name="T72" fmla="*/ 1562 w 2697"/>
                <a:gd name="T73" fmla="*/ 848 h 1832"/>
                <a:gd name="T74" fmla="*/ 1552 w 2697"/>
                <a:gd name="T75" fmla="*/ 581 h 1832"/>
                <a:gd name="T76" fmla="*/ 1560 w 2697"/>
                <a:gd name="T77" fmla="*/ 802 h 1832"/>
                <a:gd name="T78" fmla="*/ 1618 w 2697"/>
                <a:gd name="T79" fmla="*/ 676 h 1832"/>
                <a:gd name="T80" fmla="*/ 1743 w 2697"/>
                <a:gd name="T81" fmla="*/ 801 h 1832"/>
                <a:gd name="T82" fmla="*/ 1834 w 2697"/>
                <a:gd name="T83" fmla="*/ 585 h 1832"/>
                <a:gd name="T84" fmla="*/ 1101 w 2697"/>
                <a:gd name="T85" fmla="*/ 940 h 1832"/>
                <a:gd name="T86" fmla="*/ 974 w 2697"/>
                <a:gd name="T87" fmla="*/ 965 h 1832"/>
                <a:gd name="T88" fmla="*/ 1101 w 2697"/>
                <a:gd name="T89" fmla="*/ 1012 h 1832"/>
                <a:gd name="T90" fmla="*/ 1318 w 2697"/>
                <a:gd name="T91" fmla="*/ 1064 h 1832"/>
                <a:gd name="T92" fmla="*/ 1156 w 2697"/>
                <a:gd name="T93" fmla="*/ 1063 h 1832"/>
                <a:gd name="T94" fmla="*/ 1332 w 2697"/>
                <a:gd name="T95" fmla="*/ 963 h 1832"/>
                <a:gd name="T96" fmla="*/ 1453 w 2697"/>
                <a:gd name="T97" fmla="*/ 959 h 1832"/>
                <a:gd name="T98" fmla="*/ 1657 w 2697"/>
                <a:gd name="T99" fmla="*/ 1046 h 1832"/>
                <a:gd name="T100" fmla="*/ 1657 w 2697"/>
                <a:gd name="T101" fmla="*/ 1143 h 1832"/>
                <a:gd name="T102" fmla="*/ 1658 w 2697"/>
                <a:gd name="T103" fmla="*/ 1094 h 1832"/>
                <a:gd name="T104" fmla="*/ 1658 w 2697"/>
                <a:gd name="T105" fmla="*/ 1094 h 1832"/>
                <a:gd name="T106" fmla="*/ 1817 w 2697"/>
                <a:gd name="T107" fmla="*/ 1165 h 1832"/>
                <a:gd name="T108" fmla="*/ 2086 w 2697"/>
                <a:gd name="T109" fmla="*/ 1832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7" h="1832">
                  <a:moveTo>
                    <a:pt x="755" y="352"/>
                  </a:moveTo>
                  <a:cubicBezTo>
                    <a:pt x="755" y="306"/>
                    <a:pt x="725" y="287"/>
                    <a:pt x="672" y="273"/>
                  </a:cubicBezTo>
                  <a:cubicBezTo>
                    <a:pt x="626" y="261"/>
                    <a:pt x="615" y="256"/>
                    <a:pt x="615" y="238"/>
                  </a:cubicBezTo>
                  <a:cubicBezTo>
                    <a:pt x="615" y="238"/>
                    <a:pt x="615" y="238"/>
                    <a:pt x="615" y="238"/>
                  </a:cubicBezTo>
                  <a:cubicBezTo>
                    <a:pt x="615" y="225"/>
                    <a:pt x="626" y="215"/>
                    <a:pt x="649" y="215"/>
                  </a:cubicBezTo>
                  <a:cubicBezTo>
                    <a:pt x="671" y="215"/>
                    <a:pt x="694" y="224"/>
                    <a:pt x="717" y="241"/>
                  </a:cubicBezTo>
                  <a:cubicBezTo>
                    <a:pt x="747" y="197"/>
                    <a:pt x="747" y="197"/>
                    <a:pt x="747" y="197"/>
                  </a:cubicBezTo>
                  <a:cubicBezTo>
                    <a:pt x="720" y="175"/>
                    <a:pt x="688" y="163"/>
                    <a:pt x="649" y="163"/>
                  </a:cubicBezTo>
                  <a:cubicBezTo>
                    <a:pt x="595" y="163"/>
                    <a:pt x="557" y="195"/>
                    <a:pt x="557" y="243"/>
                  </a:cubicBezTo>
                  <a:cubicBezTo>
                    <a:pt x="557" y="244"/>
                    <a:pt x="557" y="244"/>
                    <a:pt x="557" y="244"/>
                  </a:cubicBezTo>
                  <a:cubicBezTo>
                    <a:pt x="557" y="296"/>
                    <a:pt x="591" y="311"/>
                    <a:pt x="644" y="324"/>
                  </a:cubicBezTo>
                  <a:cubicBezTo>
                    <a:pt x="688" y="335"/>
                    <a:pt x="698" y="343"/>
                    <a:pt x="698" y="358"/>
                  </a:cubicBezTo>
                  <a:cubicBezTo>
                    <a:pt x="698" y="358"/>
                    <a:pt x="698" y="358"/>
                    <a:pt x="698" y="358"/>
                  </a:cubicBezTo>
                  <a:cubicBezTo>
                    <a:pt x="698" y="374"/>
                    <a:pt x="683" y="383"/>
                    <a:pt x="659" y="383"/>
                  </a:cubicBezTo>
                  <a:cubicBezTo>
                    <a:pt x="629" y="383"/>
                    <a:pt x="605" y="371"/>
                    <a:pt x="581" y="351"/>
                  </a:cubicBezTo>
                  <a:cubicBezTo>
                    <a:pt x="547" y="392"/>
                    <a:pt x="547" y="392"/>
                    <a:pt x="547" y="392"/>
                  </a:cubicBezTo>
                  <a:cubicBezTo>
                    <a:pt x="578" y="421"/>
                    <a:pt x="618" y="435"/>
                    <a:pt x="658" y="435"/>
                  </a:cubicBezTo>
                  <a:cubicBezTo>
                    <a:pt x="715" y="435"/>
                    <a:pt x="755" y="405"/>
                    <a:pt x="755" y="353"/>
                  </a:cubicBezTo>
                  <a:lnTo>
                    <a:pt x="755" y="352"/>
                  </a:lnTo>
                  <a:close/>
                  <a:moveTo>
                    <a:pt x="826" y="318"/>
                  </a:moveTo>
                  <a:cubicBezTo>
                    <a:pt x="826" y="291"/>
                    <a:pt x="839" y="277"/>
                    <a:pt x="861" y="277"/>
                  </a:cubicBezTo>
                  <a:cubicBezTo>
                    <a:pt x="882" y="277"/>
                    <a:pt x="894" y="291"/>
                    <a:pt x="894" y="318"/>
                  </a:cubicBezTo>
                  <a:cubicBezTo>
                    <a:pt x="894" y="431"/>
                    <a:pt x="894" y="431"/>
                    <a:pt x="894" y="431"/>
                  </a:cubicBezTo>
                  <a:cubicBezTo>
                    <a:pt x="952" y="431"/>
                    <a:pt x="952" y="431"/>
                    <a:pt x="952" y="431"/>
                  </a:cubicBezTo>
                  <a:cubicBezTo>
                    <a:pt x="952" y="318"/>
                    <a:pt x="952" y="318"/>
                    <a:pt x="952" y="318"/>
                  </a:cubicBezTo>
                  <a:cubicBezTo>
                    <a:pt x="952" y="291"/>
                    <a:pt x="965" y="277"/>
                    <a:pt x="986" y="277"/>
                  </a:cubicBezTo>
                  <a:cubicBezTo>
                    <a:pt x="1008" y="277"/>
                    <a:pt x="1020" y="291"/>
                    <a:pt x="1020" y="318"/>
                  </a:cubicBezTo>
                  <a:cubicBezTo>
                    <a:pt x="1020" y="431"/>
                    <a:pt x="1020" y="431"/>
                    <a:pt x="1020" y="431"/>
                  </a:cubicBezTo>
                  <a:cubicBezTo>
                    <a:pt x="1077" y="431"/>
                    <a:pt x="1077" y="431"/>
                    <a:pt x="1077" y="431"/>
                  </a:cubicBezTo>
                  <a:cubicBezTo>
                    <a:pt x="1077" y="299"/>
                    <a:pt x="1077" y="299"/>
                    <a:pt x="1077" y="299"/>
                  </a:cubicBezTo>
                  <a:cubicBezTo>
                    <a:pt x="1077" y="251"/>
                    <a:pt x="1051" y="225"/>
                    <a:pt x="1009" y="225"/>
                  </a:cubicBezTo>
                  <a:cubicBezTo>
                    <a:pt x="981" y="225"/>
                    <a:pt x="960" y="236"/>
                    <a:pt x="943" y="257"/>
                  </a:cubicBezTo>
                  <a:cubicBezTo>
                    <a:pt x="932" y="237"/>
                    <a:pt x="912" y="225"/>
                    <a:pt x="886" y="225"/>
                  </a:cubicBezTo>
                  <a:cubicBezTo>
                    <a:pt x="857" y="225"/>
                    <a:pt x="839" y="241"/>
                    <a:pt x="826" y="258"/>
                  </a:cubicBezTo>
                  <a:cubicBezTo>
                    <a:pt x="826" y="229"/>
                    <a:pt x="826" y="229"/>
                    <a:pt x="826" y="229"/>
                  </a:cubicBezTo>
                  <a:cubicBezTo>
                    <a:pt x="769" y="229"/>
                    <a:pt x="769" y="229"/>
                    <a:pt x="769" y="229"/>
                  </a:cubicBezTo>
                  <a:cubicBezTo>
                    <a:pt x="769" y="431"/>
                    <a:pt x="769" y="431"/>
                    <a:pt x="769" y="431"/>
                  </a:cubicBezTo>
                  <a:cubicBezTo>
                    <a:pt x="826" y="431"/>
                    <a:pt x="826" y="431"/>
                    <a:pt x="826" y="431"/>
                  </a:cubicBezTo>
                  <a:lnTo>
                    <a:pt x="826" y="318"/>
                  </a:lnTo>
                  <a:close/>
                  <a:moveTo>
                    <a:pt x="1158" y="435"/>
                  </a:moveTo>
                  <a:cubicBezTo>
                    <a:pt x="1186" y="435"/>
                    <a:pt x="1205" y="424"/>
                    <a:pt x="1219" y="409"/>
                  </a:cubicBezTo>
                  <a:cubicBezTo>
                    <a:pt x="1219" y="431"/>
                    <a:pt x="1219" y="431"/>
                    <a:pt x="1219" y="431"/>
                  </a:cubicBezTo>
                  <a:cubicBezTo>
                    <a:pt x="1274" y="431"/>
                    <a:pt x="1274" y="431"/>
                    <a:pt x="1274" y="431"/>
                  </a:cubicBezTo>
                  <a:cubicBezTo>
                    <a:pt x="1274" y="314"/>
                    <a:pt x="1274" y="314"/>
                    <a:pt x="1274" y="314"/>
                  </a:cubicBezTo>
                  <a:cubicBezTo>
                    <a:pt x="1274" y="287"/>
                    <a:pt x="1268" y="264"/>
                    <a:pt x="1253" y="249"/>
                  </a:cubicBezTo>
                  <a:cubicBezTo>
                    <a:pt x="1238" y="235"/>
                    <a:pt x="1216" y="227"/>
                    <a:pt x="1184" y="227"/>
                  </a:cubicBezTo>
                  <a:cubicBezTo>
                    <a:pt x="1150" y="227"/>
                    <a:pt x="1128" y="233"/>
                    <a:pt x="1106" y="243"/>
                  </a:cubicBezTo>
                  <a:cubicBezTo>
                    <a:pt x="1120" y="287"/>
                    <a:pt x="1120" y="287"/>
                    <a:pt x="1120" y="287"/>
                  </a:cubicBezTo>
                  <a:cubicBezTo>
                    <a:pt x="1139" y="280"/>
                    <a:pt x="1154" y="276"/>
                    <a:pt x="1176" y="276"/>
                  </a:cubicBezTo>
                  <a:cubicBezTo>
                    <a:pt x="1205" y="276"/>
                    <a:pt x="1219" y="289"/>
                    <a:pt x="1219" y="313"/>
                  </a:cubicBezTo>
                  <a:cubicBezTo>
                    <a:pt x="1219" y="316"/>
                    <a:pt x="1219" y="316"/>
                    <a:pt x="1219" y="316"/>
                  </a:cubicBezTo>
                  <a:cubicBezTo>
                    <a:pt x="1205" y="311"/>
                    <a:pt x="1190" y="308"/>
                    <a:pt x="1170" y="308"/>
                  </a:cubicBezTo>
                  <a:cubicBezTo>
                    <a:pt x="1122" y="308"/>
                    <a:pt x="1089" y="328"/>
                    <a:pt x="1089" y="372"/>
                  </a:cubicBezTo>
                  <a:cubicBezTo>
                    <a:pt x="1089" y="373"/>
                    <a:pt x="1089" y="373"/>
                    <a:pt x="1089" y="373"/>
                  </a:cubicBezTo>
                  <a:cubicBezTo>
                    <a:pt x="1089" y="413"/>
                    <a:pt x="1120" y="435"/>
                    <a:pt x="1158" y="435"/>
                  </a:cubicBezTo>
                  <a:close/>
                  <a:moveTo>
                    <a:pt x="1144" y="370"/>
                  </a:moveTo>
                  <a:cubicBezTo>
                    <a:pt x="1144" y="352"/>
                    <a:pt x="1159" y="342"/>
                    <a:pt x="1184" y="342"/>
                  </a:cubicBezTo>
                  <a:cubicBezTo>
                    <a:pt x="1198" y="342"/>
                    <a:pt x="1210" y="345"/>
                    <a:pt x="1220" y="349"/>
                  </a:cubicBezTo>
                  <a:cubicBezTo>
                    <a:pt x="1220" y="360"/>
                    <a:pt x="1220" y="360"/>
                    <a:pt x="1220" y="360"/>
                  </a:cubicBezTo>
                  <a:cubicBezTo>
                    <a:pt x="1220" y="380"/>
                    <a:pt x="1202" y="395"/>
                    <a:pt x="1175" y="395"/>
                  </a:cubicBezTo>
                  <a:cubicBezTo>
                    <a:pt x="1157" y="395"/>
                    <a:pt x="1144" y="386"/>
                    <a:pt x="1144" y="371"/>
                  </a:cubicBezTo>
                  <a:lnTo>
                    <a:pt x="1144" y="370"/>
                  </a:lnTo>
                  <a:close/>
                  <a:moveTo>
                    <a:pt x="1348" y="356"/>
                  </a:moveTo>
                  <a:cubicBezTo>
                    <a:pt x="1348" y="308"/>
                    <a:pt x="1371" y="285"/>
                    <a:pt x="1409" y="285"/>
                  </a:cubicBezTo>
                  <a:cubicBezTo>
                    <a:pt x="1412" y="285"/>
                    <a:pt x="1412" y="285"/>
                    <a:pt x="1412" y="285"/>
                  </a:cubicBezTo>
                  <a:cubicBezTo>
                    <a:pt x="1412" y="225"/>
                    <a:pt x="1412" y="225"/>
                    <a:pt x="1412" y="225"/>
                  </a:cubicBezTo>
                  <a:cubicBezTo>
                    <a:pt x="1378" y="224"/>
                    <a:pt x="1360" y="242"/>
                    <a:pt x="1348" y="270"/>
                  </a:cubicBezTo>
                  <a:cubicBezTo>
                    <a:pt x="1348" y="229"/>
                    <a:pt x="1348" y="229"/>
                    <a:pt x="1348" y="229"/>
                  </a:cubicBezTo>
                  <a:cubicBezTo>
                    <a:pt x="1291" y="229"/>
                    <a:pt x="1291" y="229"/>
                    <a:pt x="1291" y="229"/>
                  </a:cubicBezTo>
                  <a:cubicBezTo>
                    <a:pt x="1291" y="431"/>
                    <a:pt x="1291" y="431"/>
                    <a:pt x="1291" y="431"/>
                  </a:cubicBezTo>
                  <a:cubicBezTo>
                    <a:pt x="1348" y="431"/>
                    <a:pt x="1348" y="431"/>
                    <a:pt x="1348" y="431"/>
                  </a:cubicBezTo>
                  <a:lnTo>
                    <a:pt x="1348" y="356"/>
                  </a:lnTo>
                  <a:close/>
                  <a:moveTo>
                    <a:pt x="1448" y="374"/>
                  </a:moveTo>
                  <a:cubicBezTo>
                    <a:pt x="1448" y="420"/>
                    <a:pt x="1472" y="434"/>
                    <a:pt x="1507" y="434"/>
                  </a:cubicBezTo>
                  <a:cubicBezTo>
                    <a:pt x="1526" y="434"/>
                    <a:pt x="1540" y="430"/>
                    <a:pt x="1552" y="422"/>
                  </a:cubicBezTo>
                  <a:cubicBezTo>
                    <a:pt x="1552" y="377"/>
                    <a:pt x="1552" y="377"/>
                    <a:pt x="1552" y="377"/>
                  </a:cubicBezTo>
                  <a:cubicBezTo>
                    <a:pt x="1543" y="381"/>
                    <a:pt x="1534" y="384"/>
                    <a:pt x="1524" y="384"/>
                  </a:cubicBezTo>
                  <a:cubicBezTo>
                    <a:pt x="1511" y="384"/>
                    <a:pt x="1505" y="377"/>
                    <a:pt x="1505" y="364"/>
                  </a:cubicBezTo>
                  <a:cubicBezTo>
                    <a:pt x="1505" y="278"/>
                    <a:pt x="1505" y="278"/>
                    <a:pt x="1505" y="278"/>
                  </a:cubicBezTo>
                  <a:cubicBezTo>
                    <a:pt x="1553" y="278"/>
                    <a:pt x="1553" y="278"/>
                    <a:pt x="1553" y="278"/>
                  </a:cubicBezTo>
                  <a:cubicBezTo>
                    <a:pt x="1553" y="229"/>
                    <a:pt x="1553" y="229"/>
                    <a:pt x="1553" y="229"/>
                  </a:cubicBezTo>
                  <a:cubicBezTo>
                    <a:pt x="1505" y="229"/>
                    <a:pt x="1505" y="229"/>
                    <a:pt x="1505" y="229"/>
                  </a:cubicBezTo>
                  <a:cubicBezTo>
                    <a:pt x="1505" y="177"/>
                    <a:pt x="1505" y="177"/>
                    <a:pt x="1505" y="177"/>
                  </a:cubicBezTo>
                  <a:cubicBezTo>
                    <a:pt x="1448" y="177"/>
                    <a:pt x="1448" y="177"/>
                    <a:pt x="1448" y="177"/>
                  </a:cubicBezTo>
                  <a:cubicBezTo>
                    <a:pt x="1448" y="229"/>
                    <a:pt x="1448" y="229"/>
                    <a:pt x="1448" y="229"/>
                  </a:cubicBezTo>
                  <a:cubicBezTo>
                    <a:pt x="1424" y="229"/>
                    <a:pt x="1424" y="229"/>
                    <a:pt x="1424" y="229"/>
                  </a:cubicBezTo>
                  <a:cubicBezTo>
                    <a:pt x="1424" y="278"/>
                    <a:pt x="1424" y="278"/>
                    <a:pt x="1424" y="278"/>
                  </a:cubicBezTo>
                  <a:cubicBezTo>
                    <a:pt x="1448" y="278"/>
                    <a:pt x="1448" y="278"/>
                    <a:pt x="1448" y="278"/>
                  </a:cubicBezTo>
                  <a:lnTo>
                    <a:pt x="1448" y="374"/>
                  </a:lnTo>
                  <a:close/>
                  <a:moveTo>
                    <a:pt x="1666" y="435"/>
                  </a:moveTo>
                  <a:cubicBezTo>
                    <a:pt x="1702" y="435"/>
                    <a:pt x="1729" y="421"/>
                    <a:pt x="1748" y="398"/>
                  </a:cubicBezTo>
                  <a:cubicBezTo>
                    <a:pt x="1715" y="369"/>
                    <a:pt x="1715" y="369"/>
                    <a:pt x="1715" y="369"/>
                  </a:cubicBezTo>
                  <a:cubicBezTo>
                    <a:pt x="1700" y="383"/>
                    <a:pt x="1686" y="389"/>
                    <a:pt x="1666" y="389"/>
                  </a:cubicBezTo>
                  <a:cubicBezTo>
                    <a:pt x="1641" y="389"/>
                    <a:pt x="1623" y="376"/>
                    <a:pt x="1617" y="350"/>
                  </a:cubicBezTo>
                  <a:cubicBezTo>
                    <a:pt x="1758" y="350"/>
                    <a:pt x="1758" y="350"/>
                    <a:pt x="1758" y="350"/>
                  </a:cubicBezTo>
                  <a:cubicBezTo>
                    <a:pt x="1758" y="345"/>
                    <a:pt x="1758" y="339"/>
                    <a:pt x="1758" y="335"/>
                  </a:cubicBezTo>
                  <a:cubicBezTo>
                    <a:pt x="1758" y="277"/>
                    <a:pt x="1727" y="225"/>
                    <a:pt x="1660" y="225"/>
                  </a:cubicBezTo>
                  <a:cubicBezTo>
                    <a:pt x="1601" y="225"/>
                    <a:pt x="1560" y="273"/>
                    <a:pt x="1560" y="330"/>
                  </a:cubicBezTo>
                  <a:cubicBezTo>
                    <a:pt x="1560" y="331"/>
                    <a:pt x="1560" y="331"/>
                    <a:pt x="1560" y="331"/>
                  </a:cubicBezTo>
                  <a:cubicBezTo>
                    <a:pt x="1560" y="393"/>
                    <a:pt x="1605" y="435"/>
                    <a:pt x="1666" y="435"/>
                  </a:cubicBezTo>
                  <a:close/>
                  <a:moveTo>
                    <a:pt x="1660" y="271"/>
                  </a:moveTo>
                  <a:cubicBezTo>
                    <a:pt x="1684" y="271"/>
                    <a:pt x="1699" y="288"/>
                    <a:pt x="1703" y="314"/>
                  </a:cubicBezTo>
                  <a:cubicBezTo>
                    <a:pt x="1616" y="314"/>
                    <a:pt x="1616" y="314"/>
                    <a:pt x="1616" y="314"/>
                  </a:cubicBezTo>
                  <a:cubicBezTo>
                    <a:pt x="1621" y="288"/>
                    <a:pt x="1636" y="271"/>
                    <a:pt x="1660" y="271"/>
                  </a:cubicBezTo>
                  <a:close/>
                  <a:moveTo>
                    <a:pt x="1828" y="356"/>
                  </a:moveTo>
                  <a:cubicBezTo>
                    <a:pt x="1828" y="308"/>
                    <a:pt x="1851" y="285"/>
                    <a:pt x="1889" y="285"/>
                  </a:cubicBezTo>
                  <a:cubicBezTo>
                    <a:pt x="1892" y="285"/>
                    <a:pt x="1892" y="285"/>
                    <a:pt x="1892" y="285"/>
                  </a:cubicBezTo>
                  <a:cubicBezTo>
                    <a:pt x="1892" y="225"/>
                    <a:pt x="1892" y="225"/>
                    <a:pt x="1892" y="225"/>
                  </a:cubicBezTo>
                  <a:cubicBezTo>
                    <a:pt x="1858" y="224"/>
                    <a:pt x="1839" y="242"/>
                    <a:pt x="1828" y="270"/>
                  </a:cubicBezTo>
                  <a:cubicBezTo>
                    <a:pt x="1828" y="229"/>
                    <a:pt x="1828" y="229"/>
                    <a:pt x="1828" y="229"/>
                  </a:cubicBezTo>
                  <a:cubicBezTo>
                    <a:pt x="1770" y="229"/>
                    <a:pt x="1770" y="229"/>
                    <a:pt x="1770" y="229"/>
                  </a:cubicBezTo>
                  <a:cubicBezTo>
                    <a:pt x="1770" y="431"/>
                    <a:pt x="1770" y="431"/>
                    <a:pt x="1770" y="431"/>
                  </a:cubicBezTo>
                  <a:cubicBezTo>
                    <a:pt x="1828" y="431"/>
                    <a:pt x="1828" y="431"/>
                    <a:pt x="1828" y="431"/>
                  </a:cubicBezTo>
                  <a:lnTo>
                    <a:pt x="1828" y="356"/>
                  </a:lnTo>
                  <a:close/>
                  <a:moveTo>
                    <a:pt x="81" y="533"/>
                  </a:moveTo>
                  <a:cubicBezTo>
                    <a:pt x="24" y="533"/>
                    <a:pt x="24" y="533"/>
                    <a:pt x="24" y="533"/>
                  </a:cubicBezTo>
                  <a:cubicBezTo>
                    <a:pt x="24" y="585"/>
                    <a:pt x="24" y="585"/>
                    <a:pt x="24" y="585"/>
                  </a:cubicBezTo>
                  <a:cubicBezTo>
                    <a:pt x="0" y="585"/>
                    <a:pt x="0" y="585"/>
                    <a:pt x="0" y="585"/>
                  </a:cubicBezTo>
                  <a:cubicBezTo>
                    <a:pt x="0" y="634"/>
                    <a:pt x="0" y="634"/>
                    <a:pt x="0" y="634"/>
                  </a:cubicBezTo>
                  <a:cubicBezTo>
                    <a:pt x="24" y="634"/>
                    <a:pt x="24" y="634"/>
                    <a:pt x="24" y="634"/>
                  </a:cubicBezTo>
                  <a:cubicBezTo>
                    <a:pt x="24" y="730"/>
                    <a:pt x="24" y="730"/>
                    <a:pt x="24" y="730"/>
                  </a:cubicBezTo>
                  <a:cubicBezTo>
                    <a:pt x="24" y="776"/>
                    <a:pt x="48" y="790"/>
                    <a:pt x="83" y="790"/>
                  </a:cubicBezTo>
                  <a:cubicBezTo>
                    <a:pt x="102" y="790"/>
                    <a:pt x="116" y="786"/>
                    <a:pt x="128" y="779"/>
                  </a:cubicBezTo>
                  <a:cubicBezTo>
                    <a:pt x="128" y="733"/>
                    <a:pt x="128" y="733"/>
                    <a:pt x="128" y="733"/>
                  </a:cubicBezTo>
                  <a:cubicBezTo>
                    <a:pt x="120" y="737"/>
                    <a:pt x="110" y="740"/>
                    <a:pt x="100" y="740"/>
                  </a:cubicBezTo>
                  <a:cubicBezTo>
                    <a:pt x="87" y="740"/>
                    <a:pt x="81" y="733"/>
                    <a:pt x="81" y="720"/>
                  </a:cubicBezTo>
                  <a:cubicBezTo>
                    <a:pt x="81" y="634"/>
                    <a:pt x="81" y="634"/>
                    <a:pt x="81" y="634"/>
                  </a:cubicBezTo>
                  <a:cubicBezTo>
                    <a:pt x="129" y="634"/>
                    <a:pt x="129" y="634"/>
                    <a:pt x="129" y="634"/>
                  </a:cubicBezTo>
                  <a:cubicBezTo>
                    <a:pt x="129" y="585"/>
                    <a:pt x="129" y="585"/>
                    <a:pt x="129" y="585"/>
                  </a:cubicBezTo>
                  <a:cubicBezTo>
                    <a:pt x="81" y="585"/>
                    <a:pt x="81" y="585"/>
                    <a:pt x="81" y="585"/>
                  </a:cubicBezTo>
                  <a:lnTo>
                    <a:pt x="81" y="533"/>
                  </a:lnTo>
                  <a:close/>
                  <a:moveTo>
                    <a:pt x="237" y="581"/>
                  </a:moveTo>
                  <a:cubicBezTo>
                    <a:pt x="178" y="581"/>
                    <a:pt x="137" y="629"/>
                    <a:pt x="137" y="686"/>
                  </a:cubicBezTo>
                  <a:cubicBezTo>
                    <a:pt x="137" y="687"/>
                    <a:pt x="137" y="687"/>
                    <a:pt x="137" y="687"/>
                  </a:cubicBezTo>
                  <a:cubicBezTo>
                    <a:pt x="137" y="749"/>
                    <a:pt x="182" y="791"/>
                    <a:pt x="243" y="791"/>
                  </a:cubicBezTo>
                  <a:cubicBezTo>
                    <a:pt x="279" y="791"/>
                    <a:pt x="306" y="777"/>
                    <a:pt x="325" y="754"/>
                  </a:cubicBezTo>
                  <a:cubicBezTo>
                    <a:pt x="292" y="725"/>
                    <a:pt x="292" y="725"/>
                    <a:pt x="292" y="725"/>
                  </a:cubicBezTo>
                  <a:cubicBezTo>
                    <a:pt x="277" y="739"/>
                    <a:pt x="263" y="745"/>
                    <a:pt x="243" y="745"/>
                  </a:cubicBezTo>
                  <a:cubicBezTo>
                    <a:pt x="218" y="745"/>
                    <a:pt x="200" y="732"/>
                    <a:pt x="194" y="706"/>
                  </a:cubicBezTo>
                  <a:cubicBezTo>
                    <a:pt x="335" y="706"/>
                    <a:pt x="335" y="706"/>
                    <a:pt x="335" y="706"/>
                  </a:cubicBezTo>
                  <a:cubicBezTo>
                    <a:pt x="335" y="701"/>
                    <a:pt x="335" y="695"/>
                    <a:pt x="335" y="691"/>
                  </a:cubicBezTo>
                  <a:cubicBezTo>
                    <a:pt x="335" y="634"/>
                    <a:pt x="304" y="581"/>
                    <a:pt x="237" y="581"/>
                  </a:cubicBezTo>
                  <a:close/>
                  <a:moveTo>
                    <a:pt x="193" y="670"/>
                  </a:moveTo>
                  <a:cubicBezTo>
                    <a:pt x="198" y="644"/>
                    <a:pt x="213" y="627"/>
                    <a:pt x="237" y="627"/>
                  </a:cubicBezTo>
                  <a:cubicBezTo>
                    <a:pt x="261" y="627"/>
                    <a:pt x="276" y="644"/>
                    <a:pt x="280" y="670"/>
                  </a:cubicBezTo>
                  <a:lnTo>
                    <a:pt x="193" y="670"/>
                  </a:lnTo>
                  <a:close/>
                  <a:moveTo>
                    <a:pt x="452" y="742"/>
                  </a:moveTo>
                  <a:cubicBezTo>
                    <a:pt x="421" y="742"/>
                    <a:pt x="401" y="717"/>
                    <a:pt x="401" y="686"/>
                  </a:cubicBezTo>
                  <a:cubicBezTo>
                    <a:pt x="401" y="686"/>
                    <a:pt x="401" y="686"/>
                    <a:pt x="401" y="686"/>
                  </a:cubicBezTo>
                  <a:cubicBezTo>
                    <a:pt x="401" y="656"/>
                    <a:pt x="421" y="631"/>
                    <a:pt x="450" y="631"/>
                  </a:cubicBezTo>
                  <a:cubicBezTo>
                    <a:pt x="470" y="631"/>
                    <a:pt x="483" y="639"/>
                    <a:pt x="496" y="653"/>
                  </a:cubicBezTo>
                  <a:cubicBezTo>
                    <a:pt x="531" y="615"/>
                    <a:pt x="531" y="615"/>
                    <a:pt x="531" y="615"/>
                  </a:cubicBezTo>
                  <a:cubicBezTo>
                    <a:pt x="512" y="594"/>
                    <a:pt x="488" y="581"/>
                    <a:pt x="450" y="581"/>
                  </a:cubicBezTo>
                  <a:cubicBezTo>
                    <a:pt x="388" y="581"/>
                    <a:pt x="344" y="629"/>
                    <a:pt x="344" y="686"/>
                  </a:cubicBezTo>
                  <a:cubicBezTo>
                    <a:pt x="344" y="687"/>
                    <a:pt x="344" y="687"/>
                    <a:pt x="344" y="687"/>
                  </a:cubicBezTo>
                  <a:cubicBezTo>
                    <a:pt x="344" y="745"/>
                    <a:pt x="389" y="791"/>
                    <a:pt x="449" y="791"/>
                  </a:cubicBezTo>
                  <a:cubicBezTo>
                    <a:pt x="490" y="791"/>
                    <a:pt x="512" y="776"/>
                    <a:pt x="532" y="754"/>
                  </a:cubicBezTo>
                  <a:cubicBezTo>
                    <a:pt x="498" y="721"/>
                    <a:pt x="498" y="721"/>
                    <a:pt x="498" y="721"/>
                  </a:cubicBezTo>
                  <a:cubicBezTo>
                    <a:pt x="485" y="734"/>
                    <a:pt x="471" y="742"/>
                    <a:pt x="452" y="742"/>
                  </a:cubicBezTo>
                  <a:close/>
                  <a:moveTo>
                    <a:pt x="657" y="581"/>
                  </a:moveTo>
                  <a:cubicBezTo>
                    <a:pt x="628" y="581"/>
                    <a:pt x="611" y="597"/>
                    <a:pt x="598" y="614"/>
                  </a:cubicBezTo>
                  <a:cubicBezTo>
                    <a:pt x="598" y="512"/>
                    <a:pt x="598" y="512"/>
                    <a:pt x="598" y="512"/>
                  </a:cubicBezTo>
                  <a:cubicBezTo>
                    <a:pt x="541" y="512"/>
                    <a:pt x="541" y="512"/>
                    <a:pt x="541" y="512"/>
                  </a:cubicBezTo>
                  <a:cubicBezTo>
                    <a:pt x="541" y="787"/>
                    <a:pt x="541" y="787"/>
                    <a:pt x="541" y="787"/>
                  </a:cubicBezTo>
                  <a:cubicBezTo>
                    <a:pt x="598" y="787"/>
                    <a:pt x="598" y="787"/>
                    <a:pt x="598" y="787"/>
                  </a:cubicBezTo>
                  <a:cubicBezTo>
                    <a:pt x="598" y="674"/>
                    <a:pt x="598" y="674"/>
                    <a:pt x="598" y="674"/>
                  </a:cubicBezTo>
                  <a:cubicBezTo>
                    <a:pt x="598" y="647"/>
                    <a:pt x="612" y="633"/>
                    <a:pt x="634" y="633"/>
                  </a:cubicBezTo>
                  <a:cubicBezTo>
                    <a:pt x="656" y="633"/>
                    <a:pt x="669" y="647"/>
                    <a:pt x="669" y="674"/>
                  </a:cubicBezTo>
                  <a:cubicBezTo>
                    <a:pt x="669" y="787"/>
                    <a:pt x="669" y="787"/>
                    <a:pt x="669" y="787"/>
                  </a:cubicBezTo>
                  <a:cubicBezTo>
                    <a:pt x="726" y="787"/>
                    <a:pt x="726" y="787"/>
                    <a:pt x="726" y="787"/>
                  </a:cubicBezTo>
                  <a:cubicBezTo>
                    <a:pt x="726" y="656"/>
                    <a:pt x="726" y="656"/>
                    <a:pt x="726" y="656"/>
                  </a:cubicBezTo>
                  <a:cubicBezTo>
                    <a:pt x="726" y="610"/>
                    <a:pt x="701" y="581"/>
                    <a:pt x="657" y="581"/>
                  </a:cubicBezTo>
                  <a:close/>
                  <a:moveTo>
                    <a:pt x="857" y="581"/>
                  </a:moveTo>
                  <a:cubicBezTo>
                    <a:pt x="828" y="581"/>
                    <a:pt x="811" y="597"/>
                    <a:pt x="798" y="614"/>
                  </a:cubicBezTo>
                  <a:cubicBezTo>
                    <a:pt x="798" y="585"/>
                    <a:pt x="798" y="585"/>
                    <a:pt x="798" y="585"/>
                  </a:cubicBezTo>
                  <a:cubicBezTo>
                    <a:pt x="740" y="585"/>
                    <a:pt x="740" y="585"/>
                    <a:pt x="740" y="585"/>
                  </a:cubicBezTo>
                  <a:cubicBezTo>
                    <a:pt x="740" y="787"/>
                    <a:pt x="740" y="787"/>
                    <a:pt x="740" y="787"/>
                  </a:cubicBezTo>
                  <a:cubicBezTo>
                    <a:pt x="798" y="787"/>
                    <a:pt x="798" y="787"/>
                    <a:pt x="798" y="787"/>
                  </a:cubicBezTo>
                  <a:cubicBezTo>
                    <a:pt x="798" y="674"/>
                    <a:pt x="798" y="674"/>
                    <a:pt x="798" y="674"/>
                  </a:cubicBezTo>
                  <a:cubicBezTo>
                    <a:pt x="798" y="647"/>
                    <a:pt x="812" y="633"/>
                    <a:pt x="833" y="633"/>
                  </a:cubicBezTo>
                  <a:cubicBezTo>
                    <a:pt x="855" y="633"/>
                    <a:pt x="868" y="647"/>
                    <a:pt x="868" y="674"/>
                  </a:cubicBezTo>
                  <a:cubicBezTo>
                    <a:pt x="868" y="787"/>
                    <a:pt x="868" y="787"/>
                    <a:pt x="868" y="787"/>
                  </a:cubicBezTo>
                  <a:cubicBezTo>
                    <a:pt x="925" y="787"/>
                    <a:pt x="925" y="787"/>
                    <a:pt x="925" y="787"/>
                  </a:cubicBezTo>
                  <a:cubicBezTo>
                    <a:pt x="925" y="656"/>
                    <a:pt x="925" y="656"/>
                    <a:pt x="925" y="656"/>
                  </a:cubicBezTo>
                  <a:cubicBezTo>
                    <a:pt x="925" y="610"/>
                    <a:pt x="900" y="581"/>
                    <a:pt x="857" y="581"/>
                  </a:cubicBezTo>
                  <a:close/>
                  <a:moveTo>
                    <a:pt x="1155" y="686"/>
                  </a:moveTo>
                  <a:cubicBezTo>
                    <a:pt x="1155" y="686"/>
                    <a:pt x="1155" y="686"/>
                    <a:pt x="1155" y="686"/>
                  </a:cubicBezTo>
                  <a:cubicBezTo>
                    <a:pt x="1155" y="628"/>
                    <a:pt x="1109" y="581"/>
                    <a:pt x="1047" y="581"/>
                  </a:cubicBezTo>
                  <a:cubicBezTo>
                    <a:pt x="984" y="581"/>
                    <a:pt x="937" y="628"/>
                    <a:pt x="937" y="686"/>
                  </a:cubicBezTo>
                  <a:cubicBezTo>
                    <a:pt x="937" y="687"/>
                    <a:pt x="937" y="687"/>
                    <a:pt x="937" y="687"/>
                  </a:cubicBezTo>
                  <a:cubicBezTo>
                    <a:pt x="937" y="745"/>
                    <a:pt x="983" y="791"/>
                    <a:pt x="1046" y="791"/>
                  </a:cubicBezTo>
                  <a:cubicBezTo>
                    <a:pt x="1109" y="791"/>
                    <a:pt x="1155" y="744"/>
                    <a:pt x="1155" y="686"/>
                  </a:cubicBezTo>
                  <a:close/>
                  <a:moveTo>
                    <a:pt x="993" y="686"/>
                  </a:moveTo>
                  <a:cubicBezTo>
                    <a:pt x="993" y="686"/>
                    <a:pt x="993" y="686"/>
                    <a:pt x="993" y="686"/>
                  </a:cubicBezTo>
                  <a:cubicBezTo>
                    <a:pt x="993" y="656"/>
                    <a:pt x="1013" y="631"/>
                    <a:pt x="1046" y="631"/>
                  </a:cubicBezTo>
                  <a:cubicBezTo>
                    <a:pt x="1077" y="631"/>
                    <a:pt x="1099" y="657"/>
                    <a:pt x="1099" y="686"/>
                  </a:cubicBezTo>
                  <a:cubicBezTo>
                    <a:pt x="1099" y="687"/>
                    <a:pt x="1099" y="687"/>
                    <a:pt x="1099" y="687"/>
                  </a:cubicBezTo>
                  <a:cubicBezTo>
                    <a:pt x="1099" y="717"/>
                    <a:pt x="1079" y="742"/>
                    <a:pt x="1047" y="742"/>
                  </a:cubicBezTo>
                  <a:cubicBezTo>
                    <a:pt x="1015" y="742"/>
                    <a:pt x="993" y="716"/>
                    <a:pt x="993" y="686"/>
                  </a:cubicBezTo>
                  <a:close/>
                  <a:moveTo>
                    <a:pt x="1167" y="787"/>
                  </a:moveTo>
                  <a:cubicBezTo>
                    <a:pt x="1224" y="787"/>
                    <a:pt x="1224" y="787"/>
                    <a:pt x="1224" y="787"/>
                  </a:cubicBezTo>
                  <a:cubicBezTo>
                    <a:pt x="1224" y="512"/>
                    <a:pt x="1224" y="512"/>
                    <a:pt x="1224" y="512"/>
                  </a:cubicBezTo>
                  <a:cubicBezTo>
                    <a:pt x="1167" y="512"/>
                    <a:pt x="1167" y="512"/>
                    <a:pt x="1167" y="512"/>
                  </a:cubicBezTo>
                  <a:lnTo>
                    <a:pt x="1167" y="787"/>
                  </a:lnTo>
                  <a:close/>
                  <a:moveTo>
                    <a:pt x="1345" y="581"/>
                  </a:moveTo>
                  <a:cubicBezTo>
                    <a:pt x="1282" y="581"/>
                    <a:pt x="1235" y="628"/>
                    <a:pt x="1235" y="686"/>
                  </a:cubicBezTo>
                  <a:cubicBezTo>
                    <a:pt x="1235" y="687"/>
                    <a:pt x="1235" y="687"/>
                    <a:pt x="1235" y="687"/>
                  </a:cubicBezTo>
                  <a:cubicBezTo>
                    <a:pt x="1235" y="745"/>
                    <a:pt x="1281" y="791"/>
                    <a:pt x="1344" y="791"/>
                  </a:cubicBezTo>
                  <a:cubicBezTo>
                    <a:pt x="1407" y="791"/>
                    <a:pt x="1453" y="744"/>
                    <a:pt x="1453" y="686"/>
                  </a:cubicBezTo>
                  <a:cubicBezTo>
                    <a:pt x="1453" y="686"/>
                    <a:pt x="1453" y="686"/>
                    <a:pt x="1453" y="686"/>
                  </a:cubicBezTo>
                  <a:cubicBezTo>
                    <a:pt x="1453" y="628"/>
                    <a:pt x="1407" y="581"/>
                    <a:pt x="1345" y="581"/>
                  </a:cubicBezTo>
                  <a:close/>
                  <a:moveTo>
                    <a:pt x="1397" y="687"/>
                  </a:moveTo>
                  <a:cubicBezTo>
                    <a:pt x="1397" y="717"/>
                    <a:pt x="1377" y="742"/>
                    <a:pt x="1345" y="742"/>
                  </a:cubicBezTo>
                  <a:cubicBezTo>
                    <a:pt x="1313" y="742"/>
                    <a:pt x="1292" y="716"/>
                    <a:pt x="1292" y="686"/>
                  </a:cubicBezTo>
                  <a:cubicBezTo>
                    <a:pt x="1292" y="686"/>
                    <a:pt x="1292" y="686"/>
                    <a:pt x="1292" y="686"/>
                  </a:cubicBezTo>
                  <a:cubicBezTo>
                    <a:pt x="1292" y="656"/>
                    <a:pt x="1311" y="631"/>
                    <a:pt x="1344" y="631"/>
                  </a:cubicBezTo>
                  <a:cubicBezTo>
                    <a:pt x="1375" y="631"/>
                    <a:pt x="1397" y="657"/>
                    <a:pt x="1397" y="686"/>
                  </a:cubicBezTo>
                  <a:lnTo>
                    <a:pt x="1397" y="687"/>
                  </a:lnTo>
                  <a:close/>
                  <a:moveTo>
                    <a:pt x="1560" y="802"/>
                  </a:moveTo>
                  <a:cubicBezTo>
                    <a:pt x="1533" y="802"/>
                    <a:pt x="1513" y="795"/>
                    <a:pt x="1492" y="784"/>
                  </a:cubicBezTo>
                  <a:cubicBezTo>
                    <a:pt x="1472" y="827"/>
                    <a:pt x="1472" y="827"/>
                    <a:pt x="1472" y="827"/>
                  </a:cubicBezTo>
                  <a:cubicBezTo>
                    <a:pt x="1498" y="840"/>
                    <a:pt x="1529" y="848"/>
                    <a:pt x="1562" y="848"/>
                  </a:cubicBezTo>
                  <a:cubicBezTo>
                    <a:pt x="1601" y="848"/>
                    <a:pt x="1630" y="840"/>
                    <a:pt x="1649" y="821"/>
                  </a:cubicBezTo>
                  <a:cubicBezTo>
                    <a:pt x="1666" y="804"/>
                    <a:pt x="1674" y="777"/>
                    <a:pt x="1674" y="741"/>
                  </a:cubicBezTo>
                  <a:cubicBezTo>
                    <a:pt x="1674" y="585"/>
                    <a:pt x="1674" y="585"/>
                    <a:pt x="1674" y="585"/>
                  </a:cubicBezTo>
                  <a:cubicBezTo>
                    <a:pt x="1617" y="585"/>
                    <a:pt x="1617" y="585"/>
                    <a:pt x="1617" y="585"/>
                  </a:cubicBezTo>
                  <a:cubicBezTo>
                    <a:pt x="1617" y="611"/>
                    <a:pt x="1617" y="611"/>
                    <a:pt x="1617" y="611"/>
                  </a:cubicBezTo>
                  <a:cubicBezTo>
                    <a:pt x="1602" y="594"/>
                    <a:pt x="1583" y="581"/>
                    <a:pt x="1552" y="581"/>
                  </a:cubicBezTo>
                  <a:cubicBezTo>
                    <a:pt x="1505" y="581"/>
                    <a:pt x="1462" y="615"/>
                    <a:pt x="1462" y="675"/>
                  </a:cubicBezTo>
                  <a:cubicBezTo>
                    <a:pt x="1462" y="676"/>
                    <a:pt x="1462" y="676"/>
                    <a:pt x="1462" y="676"/>
                  </a:cubicBezTo>
                  <a:cubicBezTo>
                    <a:pt x="1462" y="736"/>
                    <a:pt x="1505" y="770"/>
                    <a:pt x="1552" y="770"/>
                  </a:cubicBezTo>
                  <a:cubicBezTo>
                    <a:pt x="1582" y="770"/>
                    <a:pt x="1601" y="758"/>
                    <a:pt x="1618" y="737"/>
                  </a:cubicBezTo>
                  <a:cubicBezTo>
                    <a:pt x="1618" y="747"/>
                    <a:pt x="1618" y="747"/>
                    <a:pt x="1618" y="747"/>
                  </a:cubicBezTo>
                  <a:cubicBezTo>
                    <a:pt x="1618" y="783"/>
                    <a:pt x="1599" y="802"/>
                    <a:pt x="1560" y="802"/>
                  </a:cubicBezTo>
                  <a:close/>
                  <a:moveTo>
                    <a:pt x="1568" y="723"/>
                  </a:moveTo>
                  <a:cubicBezTo>
                    <a:pt x="1541" y="723"/>
                    <a:pt x="1519" y="704"/>
                    <a:pt x="1519" y="676"/>
                  </a:cubicBezTo>
                  <a:cubicBezTo>
                    <a:pt x="1519" y="675"/>
                    <a:pt x="1519" y="675"/>
                    <a:pt x="1519" y="675"/>
                  </a:cubicBezTo>
                  <a:cubicBezTo>
                    <a:pt x="1519" y="648"/>
                    <a:pt x="1541" y="629"/>
                    <a:pt x="1568" y="629"/>
                  </a:cubicBezTo>
                  <a:cubicBezTo>
                    <a:pt x="1596" y="629"/>
                    <a:pt x="1618" y="648"/>
                    <a:pt x="1618" y="675"/>
                  </a:cubicBezTo>
                  <a:cubicBezTo>
                    <a:pt x="1618" y="676"/>
                    <a:pt x="1618" y="676"/>
                    <a:pt x="1618" y="676"/>
                  </a:cubicBezTo>
                  <a:cubicBezTo>
                    <a:pt x="1618" y="704"/>
                    <a:pt x="1596" y="723"/>
                    <a:pt x="1568" y="723"/>
                  </a:cubicBezTo>
                  <a:close/>
                  <a:moveTo>
                    <a:pt x="1790" y="722"/>
                  </a:moveTo>
                  <a:cubicBezTo>
                    <a:pt x="1744" y="585"/>
                    <a:pt x="1744" y="585"/>
                    <a:pt x="1744" y="585"/>
                  </a:cubicBezTo>
                  <a:cubicBezTo>
                    <a:pt x="1684" y="585"/>
                    <a:pt x="1684" y="585"/>
                    <a:pt x="1684" y="585"/>
                  </a:cubicBezTo>
                  <a:cubicBezTo>
                    <a:pt x="1763" y="788"/>
                    <a:pt x="1763" y="788"/>
                    <a:pt x="1763" y="788"/>
                  </a:cubicBezTo>
                  <a:cubicBezTo>
                    <a:pt x="1758" y="798"/>
                    <a:pt x="1753" y="801"/>
                    <a:pt x="1743" y="801"/>
                  </a:cubicBezTo>
                  <a:cubicBezTo>
                    <a:pt x="1735" y="801"/>
                    <a:pt x="1726" y="797"/>
                    <a:pt x="1718" y="793"/>
                  </a:cubicBezTo>
                  <a:cubicBezTo>
                    <a:pt x="1699" y="834"/>
                    <a:pt x="1699" y="834"/>
                    <a:pt x="1699" y="834"/>
                  </a:cubicBezTo>
                  <a:cubicBezTo>
                    <a:pt x="1714" y="843"/>
                    <a:pt x="1729" y="848"/>
                    <a:pt x="1750" y="848"/>
                  </a:cubicBezTo>
                  <a:cubicBezTo>
                    <a:pt x="1784" y="848"/>
                    <a:pt x="1801" y="833"/>
                    <a:pt x="1816" y="792"/>
                  </a:cubicBezTo>
                  <a:cubicBezTo>
                    <a:pt x="1894" y="585"/>
                    <a:pt x="1894" y="585"/>
                    <a:pt x="1894" y="585"/>
                  </a:cubicBezTo>
                  <a:cubicBezTo>
                    <a:pt x="1834" y="585"/>
                    <a:pt x="1834" y="585"/>
                    <a:pt x="1834" y="585"/>
                  </a:cubicBezTo>
                  <a:lnTo>
                    <a:pt x="1790" y="722"/>
                  </a:lnTo>
                  <a:close/>
                  <a:moveTo>
                    <a:pt x="1101" y="965"/>
                  </a:moveTo>
                  <a:cubicBezTo>
                    <a:pt x="1054" y="965"/>
                    <a:pt x="1054" y="965"/>
                    <a:pt x="1054" y="965"/>
                  </a:cubicBezTo>
                  <a:cubicBezTo>
                    <a:pt x="1054" y="957"/>
                    <a:pt x="1054" y="957"/>
                    <a:pt x="1054" y="957"/>
                  </a:cubicBezTo>
                  <a:cubicBezTo>
                    <a:pt x="1054" y="942"/>
                    <a:pt x="1062" y="935"/>
                    <a:pt x="1075" y="935"/>
                  </a:cubicBezTo>
                  <a:cubicBezTo>
                    <a:pt x="1085" y="935"/>
                    <a:pt x="1093" y="937"/>
                    <a:pt x="1101" y="940"/>
                  </a:cubicBezTo>
                  <a:cubicBezTo>
                    <a:pt x="1101" y="893"/>
                    <a:pt x="1101" y="893"/>
                    <a:pt x="1101" y="893"/>
                  </a:cubicBezTo>
                  <a:cubicBezTo>
                    <a:pt x="1091" y="889"/>
                    <a:pt x="1078" y="887"/>
                    <a:pt x="1060" y="887"/>
                  </a:cubicBezTo>
                  <a:cubicBezTo>
                    <a:pt x="1040" y="887"/>
                    <a:pt x="1025" y="892"/>
                    <a:pt x="1014" y="903"/>
                  </a:cubicBezTo>
                  <a:cubicBezTo>
                    <a:pt x="1004" y="914"/>
                    <a:pt x="998" y="930"/>
                    <a:pt x="998" y="952"/>
                  </a:cubicBezTo>
                  <a:cubicBezTo>
                    <a:pt x="998" y="965"/>
                    <a:pt x="998" y="965"/>
                    <a:pt x="998" y="965"/>
                  </a:cubicBezTo>
                  <a:cubicBezTo>
                    <a:pt x="974" y="965"/>
                    <a:pt x="974" y="965"/>
                    <a:pt x="974" y="965"/>
                  </a:cubicBezTo>
                  <a:cubicBezTo>
                    <a:pt x="974" y="1012"/>
                    <a:pt x="974" y="1012"/>
                    <a:pt x="974" y="1012"/>
                  </a:cubicBezTo>
                  <a:cubicBezTo>
                    <a:pt x="998" y="1012"/>
                    <a:pt x="998" y="1012"/>
                    <a:pt x="998" y="1012"/>
                  </a:cubicBezTo>
                  <a:cubicBezTo>
                    <a:pt x="998" y="1165"/>
                    <a:pt x="998" y="1165"/>
                    <a:pt x="998" y="1165"/>
                  </a:cubicBezTo>
                  <a:cubicBezTo>
                    <a:pt x="1055" y="1165"/>
                    <a:pt x="1055" y="1165"/>
                    <a:pt x="1055" y="1165"/>
                  </a:cubicBezTo>
                  <a:cubicBezTo>
                    <a:pt x="1055" y="1012"/>
                    <a:pt x="1055" y="1012"/>
                    <a:pt x="1055" y="1012"/>
                  </a:cubicBezTo>
                  <a:cubicBezTo>
                    <a:pt x="1101" y="1012"/>
                    <a:pt x="1101" y="1012"/>
                    <a:pt x="1101" y="1012"/>
                  </a:cubicBezTo>
                  <a:lnTo>
                    <a:pt x="1101" y="965"/>
                  </a:lnTo>
                  <a:close/>
                  <a:moveTo>
                    <a:pt x="1209" y="959"/>
                  </a:moveTo>
                  <a:cubicBezTo>
                    <a:pt x="1147" y="959"/>
                    <a:pt x="1100" y="1006"/>
                    <a:pt x="1100" y="1064"/>
                  </a:cubicBezTo>
                  <a:cubicBezTo>
                    <a:pt x="1100" y="1065"/>
                    <a:pt x="1100" y="1065"/>
                    <a:pt x="1100" y="1065"/>
                  </a:cubicBezTo>
                  <a:cubicBezTo>
                    <a:pt x="1100" y="1123"/>
                    <a:pt x="1146" y="1169"/>
                    <a:pt x="1209" y="1169"/>
                  </a:cubicBezTo>
                  <a:cubicBezTo>
                    <a:pt x="1272" y="1169"/>
                    <a:pt x="1318" y="1122"/>
                    <a:pt x="1318" y="1064"/>
                  </a:cubicBezTo>
                  <a:cubicBezTo>
                    <a:pt x="1318" y="1063"/>
                    <a:pt x="1318" y="1063"/>
                    <a:pt x="1318" y="1063"/>
                  </a:cubicBezTo>
                  <a:cubicBezTo>
                    <a:pt x="1318" y="1005"/>
                    <a:pt x="1272" y="959"/>
                    <a:pt x="1209" y="959"/>
                  </a:cubicBezTo>
                  <a:close/>
                  <a:moveTo>
                    <a:pt x="1262" y="1065"/>
                  </a:moveTo>
                  <a:cubicBezTo>
                    <a:pt x="1262" y="1095"/>
                    <a:pt x="1242" y="1120"/>
                    <a:pt x="1209" y="1120"/>
                  </a:cubicBezTo>
                  <a:cubicBezTo>
                    <a:pt x="1178" y="1120"/>
                    <a:pt x="1156" y="1094"/>
                    <a:pt x="1156" y="1064"/>
                  </a:cubicBezTo>
                  <a:cubicBezTo>
                    <a:pt x="1156" y="1063"/>
                    <a:pt x="1156" y="1063"/>
                    <a:pt x="1156" y="1063"/>
                  </a:cubicBezTo>
                  <a:cubicBezTo>
                    <a:pt x="1156" y="1034"/>
                    <a:pt x="1176" y="1008"/>
                    <a:pt x="1209" y="1008"/>
                  </a:cubicBezTo>
                  <a:cubicBezTo>
                    <a:pt x="1240" y="1008"/>
                    <a:pt x="1262" y="1034"/>
                    <a:pt x="1262" y="1064"/>
                  </a:cubicBezTo>
                  <a:lnTo>
                    <a:pt x="1262" y="1065"/>
                  </a:lnTo>
                  <a:close/>
                  <a:moveTo>
                    <a:pt x="1389" y="1004"/>
                  </a:moveTo>
                  <a:cubicBezTo>
                    <a:pt x="1389" y="963"/>
                    <a:pt x="1389" y="963"/>
                    <a:pt x="1389" y="963"/>
                  </a:cubicBezTo>
                  <a:cubicBezTo>
                    <a:pt x="1332" y="963"/>
                    <a:pt x="1332" y="963"/>
                    <a:pt x="1332" y="963"/>
                  </a:cubicBezTo>
                  <a:cubicBezTo>
                    <a:pt x="1332" y="1165"/>
                    <a:pt x="1332" y="1165"/>
                    <a:pt x="1332" y="1165"/>
                  </a:cubicBezTo>
                  <a:cubicBezTo>
                    <a:pt x="1389" y="1165"/>
                    <a:pt x="1389" y="1165"/>
                    <a:pt x="1389" y="1165"/>
                  </a:cubicBezTo>
                  <a:cubicBezTo>
                    <a:pt x="1389" y="1090"/>
                    <a:pt x="1389" y="1090"/>
                    <a:pt x="1389" y="1090"/>
                  </a:cubicBezTo>
                  <a:cubicBezTo>
                    <a:pt x="1389" y="1042"/>
                    <a:pt x="1412" y="1019"/>
                    <a:pt x="1450" y="1019"/>
                  </a:cubicBezTo>
                  <a:cubicBezTo>
                    <a:pt x="1453" y="1019"/>
                    <a:pt x="1453" y="1019"/>
                    <a:pt x="1453" y="1019"/>
                  </a:cubicBezTo>
                  <a:cubicBezTo>
                    <a:pt x="1453" y="959"/>
                    <a:pt x="1453" y="959"/>
                    <a:pt x="1453" y="959"/>
                  </a:cubicBezTo>
                  <a:cubicBezTo>
                    <a:pt x="1419" y="958"/>
                    <a:pt x="1400" y="976"/>
                    <a:pt x="1389" y="1004"/>
                  </a:cubicBezTo>
                  <a:close/>
                  <a:moveTo>
                    <a:pt x="1622" y="961"/>
                  </a:moveTo>
                  <a:cubicBezTo>
                    <a:pt x="1588" y="961"/>
                    <a:pt x="1566" y="967"/>
                    <a:pt x="1544" y="977"/>
                  </a:cubicBezTo>
                  <a:cubicBezTo>
                    <a:pt x="1558" y="1020"/>
                    <a:pt x="1558" y="1020"/>
                    <a:pt x="1558" y="1020"/>
                  </a:cubicBezTo>
                  <a:cubicBezTo>
                    <a:pt x="1576" y="1014"/>
                    <a:pt x="1592" y="1010"/>
                    <a:pt x="1614" y="1010"/>
                  </a:cubicBezTo>
                  <a:cubicBezTo>
                    <a:pt x="1642" y="1010"/>
                    <a:pt x="1657" y="1023"/>
                    <a:pt x="1657" y="1046"/>
                  </a:cubicBezTo>
                  <a:cubicBezTo>
                    <a:pt x="1657" y="1050"/>
                    <a:pt x="1657" y="1050"/>
                    <a:pt x="1657" y="1050"/>
                  </a:cubicBezTo>
                  <a:cubicBezTo>
                    <a:pt x="1643" y="1045"/>
                    <a:pt x="1628" y="1042"/>
                    <a:pt x="1608" y="1042"/>
                  </a:cubicBezTo>
                  <a:cubicBezTo>
                    <a:pt x="1560" y="1042"/>
                    <a:pt x="1526" y="1062"/>
                    <a:pt x="1526" y="1106"/>
                  </a:cubicBezTo>
                  <a:cubicBezTo>
                    <a:pt x="1526" y="1107"/>
                    <a:pt x="1526" y="1107"/>
                    <a:pt x="1526" y="1107"/>
                  </a:cubicBezTo>
                  <a:cubicBezTo>
                    <a:pt x="1526" y="1147"/>
                    <a:pt x="1558" y="1168"/>
                    <a:pt x="1596" y="1168"/>
                  </a:cubicBezTo>
                  <a:cubicBezTo>
                    <a:pt x="1624" y="1168"/>
                    <a:pt x="1643" y="1158"/>
                    <a:pt x="1657" y="1143"/>
                  </a:cubicBezTo>
                  <a:cubicBezTo>
                    <a:pt x="1657" y="1165"/>
                    <a:pt x="1657" y="1165"/>
                    <a:pt x="1657" y="1165"/>
                  </a:cubicBezTo>
                  <a:cubicBezTo>
                    <a:pt x="1712" y="1165"/>
                    <a:pt x="1712" y="1165"/>
                    <a:pt x="1712" y="1165"/>
                  </a:cubicBezTo>
                  <a:cubicBezTo>
                    <a:pt x="1712" y="1048"/>
                    <a:pt x="1712" y="1048"/>
                    <a:pt x="1712" y="1048"/>
                  </a:cubicBezTo>
                  <a:cubicBezTo>
                    <a:pt x="1712" y="1020"/>
                    <a:pt x="1705" y="998"/>
                    <a:pt x="1690" y="983"/>
                  </a:cubicBezTo>
                  <a:cubicBezTo>
                    <a:pt x="1676" y="969"/>
                    <a:pt x="1653" y="961"/>
                    <a:pt x="1622" y="961"/>
                  </a:cubicBezTo>
                  <a:close/>
                  <a:moveTo>
                    <a:pt x="1658" y="1094"/>
                  </a:moveTo>
                  <a:cubicBezTo>
                    <a:pt x="1658" y="1114"/>
                    <a:pt x="1640" y="1129"/>
                    <a:pt x="1613" y="1129"/>
                  </a:cubicBezTo>
                  <a:cubicBezTo>
                    <a:pt x="1595" y="1129"/>
                    <a:pt x="1582" y="1120"/>
                    <a:pt x="1582" y="1104"/>
                  </a:cubicBezTo>
                  <a:cubicBezTo>
                    <a:pt x="1582" y="1104"/>
                    <a:pt x="1582" y="1104"/>
                    <a:pt x="1582" y="1104"/>
                  </a:cubicBezTo>
                  <a:cubicBezTo>
                    <a:pt x="1582" y="1086"/>
                    <a:pt x="1597" y="1076"/>
                    <a:pt x="1621" y="1076"/>
                  </a:cubicBezTo>
                  <a:cubicBezTo>
                    <a:pt x="1635" y="1076"/>
                    <a:pt x="1648" y="1079"/>
                    <a:pt x="1658" y="1083"/>
                  </a:cubicBezTo>
                  <a:lnTo>
                    <a:pt x="1658" y="1094"/>
                  </a:lnTo>
                  <a:close/>
                  <a:moveTo>
                    <a:pt x="1736" y="1165"/>
                  </a:moveTo>
                  <a:cubicBezTo>
                    <a:pt x="1793" y="1165"/>
                    <a:pt x="1793" y="1165"/>
                    <a:pt x="1793" y="1165"/>
                  </a:cubicBezTo>
                  <a:cubicBezTo>
                    <a:pt x="1793" y="890"/>
                    <a:pt x="1793" y="890"/>
                    <a:pt x="1793" y="890"/>
                  </a:cubicBezTo>
                  <a:cubicBezTo>
                    <a:pt x="1736" y="890"/>
                    <a:pt x="1736" y="890"/>
                    <a:pt x="1736" y="890"/>
                  </a:cubicBezTo>
                  <a:lnTo>
                    <a:pt x="1736" y="1165"/>
                  </a:lnTo>
                  <a:close/>
                  <a:moveTo>
                    <a:pt x="1817" y="1165"/>
                  </a:moveTo>
                  <a:cubicBezTo>
                    <a:pt x="1874" y="1165"/>
                    <a:pt x="1874" y="1165"/>
                    <a:pt x="1874" y="1165"/>
                  </a:cubicBezTo>
                  <a:cubicBezTo>
                    <a:pt x="1874" y="890"/>
                    <a:pt x="1874" y="890"/>
                    <a:pt x="1874" y="890"/>
                  </a:cubicBezTo>
                  <a:cubicBezTo>
                    <a:pt x="1817" y="890"/>
                    <a:pt x="1817" y="890"/>
                    <a:pt x="1817" y="890"/>
                  </a:cubicBezTo>
                  <a:lnTo>
                    <a:pt x="1817" y="1165"/>
                  </a:lnTo>
                  <a:close/>
                  <a:moveTo>
                    <a:pt x="2086" y="0"/>
                  </a:moveTo>
                  <a:cubicBezTo>
                    <a:pt x="2086" y="1832"/>
                    <a:pt x="2086" y="1832"/>
                    <a:pt x="2086" y="1832"/>
                  </a:cubicBezTo>
                  <a:cubicBezTo>
                    <a:pt x="2697" y="1832"/>
                    <a:pt x="2697" y="1832"/>
                    <a:pt x="2697" y="1832"/>
                  </a:cubicBezTo>
                  <a:cubicBezTo>
                    <a:pt x="2697" y="0"/>
                    <a:pt x="2697" y="0"/>
                    <a:pt x="2697" y="0"/>
                  </a:cubicBezTo>
                  <a:lnTo>
                    <a:pt x="2086" y="0"/>
                  </a:lnTo>
                  <a:close/>
                </a:path>
              </a:pathLst>
            </a:custGeom>
            <a:gradFill flip="none" rotWithShape="1">
              <a:gsLst>
                <a:gs pos="37000">
                  <a:srgbClr val="F2A11F"/>
                </a:gs>
                <a:gs pos="56000">
                  <a:srgbClr val="EC5124"/>
                </a:gs>
                <a:gs pos="83000">
                  <a:srgbClr val="D32A27"/>
                </a:gs>
                <a:gs pos="100000">
                  <a:srgbClr val="7A425E"/>
                </a:gs>
              </a:gsLst>
              <a:lin ang="18900000" scaled="1"/>
              <a:tileRect/>
            </a:gradFill>
            <a:ln>
              <a:noFill/>
            </a:ln>
          </p:spPr>
          <p:txBody>
            <a:bodyPr vert="horz" wrap="square" lIns="91440" tIns="45720" rIns="91440" bIns="45720" numCol="1" anchor="t" anchorCtr="0" compatLnSpc="1">
              <a:prstTxWarp prst="textNoShape">
                <a:avLst/>
              </a:prstTxWarp>
            </a:bodyPr>
            <a:lstStyle/>
            <a:p>
              <a:endParaRPr lang="en-US" sz="1799"/>
            </a:p>
          </p:txBody>
        </p:sp>
        <p:grpSp>
          <p:nvGrpSpPr>
            <p:cNvPr id="21" name="Group 20">
              <a:extLst>
                <a:ext uri="{FF2B5EF4-FFF2-40B4-BE49-F238E27FC236}">
                  <a16:creationId xmlns:a16="http://schemas.microsoft.com/office/drawing/2014/main" id="{F28F2614-0FCC-4D8C-BC98-D03E162B4F33}"/>
                </a:ext>
              </a:extLst>
            </p:cNvPr>
            <p:cNvGrpSpPr/>
            <p:nvPr userDrawn="1"/>
          </p:nvGrpSpPr>
          <p:grpSpPr>
            <a:xfrm>
              <a:off x="11291887" y="1987551"/>
              <a:ext cx="590550" cy="2868613"/>
              <a:chOff x="11291887" y="1987551"/>
              <a:chExt cx="590550" cy="2868613"/>
            </a:xfrm>
          </p:grpSpPr>
          <p:sp>
            <p:nvSpPr>
              <p:cNvPr id="13" name="Freeform 6">
                <a:extLst>
                  <a:ext uri="{FF2B5EF4-FFF2-40B4-BE49-F238E27FC236}">
                    <a16:creationId xmlns:a16="http://schemas.microsoft.com/office/drawing/2014/main" id="{4BE4413F-C77A-40BA-9643-97A55AFCF5AB}"/>
                  </a:ext>
                </a:extLst>
              </p:cNvPr>
              <p:cNvSpPr>
                <a:spLocks/>
              </p:cNvSpPr>
              <p:nvPr userDrawn="1"/>
            </p:nvSpPr>
            <p:spPr bwMode="auto">
              <a:xfrm>
                <a:off x="11418887" y="3471864"/>
                <a:ext cx="455612" cy="452438"/>
              </a:xfrm>
              <a:custGeom>
                <a:avLst/>
                <a:gdLst>
                  <a:gd name="T0" fmla="*/ 0 w 239"/>
                  <a:gd name="T1" fmla="*/ 96 h 237"/>
                  <a:gd name="T2" fmla="*/ 38 w 239"/>
                  <a:gd name="T3" fmla="*/ 173 h 237"/>
                  <a:gd name="T4" fmla="*/ 38 w 239"/>
                  <a:gd name="T5" fmla="*/ 173 h 237"/>
                  <a:gd name="T6" fmla="*/ 38 w 239"/>
                  <a:gd name="T7" fmla="*/ 173 h 237"/>
                  <a:gd name="T8" fmla="*/ 4 w 239"/>
                  <a:gd name="T9" fmla="*/ 173 h 237"/>
                  <a:gd name="T10" fmla="*/ 4 w 239"/>
                  <a:gd name="T11" fmla="*/ 237 h 237"/>
                  <a:gd name="T12" fmla="*/ 239 w 239"/>
                  <a:gd name="T13" fmla="*/ 237 h 237"/>
                  <a:gd name="T14" fmla="*/ 239 w 239"/>
                  <a:gd name="T15" fmla="*/ 173 h 237"/>
                  <a:gd name="T16" fmla="*/ 105 w 239"/>
                  <a:gd name="T17" fmla="*/ 173 h 237"/>
                  <a:gd name="T18" fmla="*/ 56 w 239"/>
                  <a:gd name="T19" fmla="*/ 119 h 237"/>
                  <a:gd name="T20" fmla="*/ 105 w 239"/>
                  <a:gd name="T21" fmla="*/ 65 h 237"/>
                  <a:gd name="T22" fmla="*/ 239 w 239"/>
                  <a:gd name="T23" fmla="*/ 65 h 237"/>
                  <a:gd name="T24" fmla="*/ 239 w 239"/>
                  <a:gd name="T25" fmla="*/ 0 h 237"/>
                  <a:gd name="T26" fmla="*/ 93 w 239"/>
                  <a:gd name="T27" fmla="*/ 0 h 237"/>
                  <a:gd name="T28" fmla="*/ 0 w 239"/>
                  <a:gd name="T29" fmla="*/ 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9" h="237">
                    <a:moveTo>
                      <a:pt x="0" y="96"/>
                    </a:moveTo>
                    <a:cubicBezTo>
                      <a:pt x="0" y="123"/>
                      <a:pt x="13" y="154"/>
                      <a:pt x="38" y="173"/>
                    </a:cubicBezTo>
                    <a:cubicBezTo>
                      <a:pt x="38" y="173"/>
                      <a:pt x="38" y="173"/>
                      <a:pt x="38" y="173"/>
                    </a:cubicBezTo>
                    <a:cubicBezTo>
                      <a:pt x="38" y="173"/>
                      <a:pt x="38" y="173"/>
                      <a:pt x="38" y="173"/>
                    </a:cubicBezTo>
                    <a:cubicBezTo>
                      <a:pt x="4" y="173"/>
                      <a:pt x="4" y="173"/>
                      <a:pt x="4" y="173"/>
                    </a:cubicBezTo>
                    <a:cubicBezTo>
                      <a:pt x="4" y="237"/>
                      <a:pt x="4" y="237"/>
                      <a:pt x="4" y="237"/>
                    </a:cubicBezTo>
                    <a:cubicBezTo>
                      <a:pt x="239" y="237"/>
                      <a:pt x="239" y="237"/>
                      <a:pt x="239" y="237"/>
                    </a:cubicBezTo>
                    <a:cubicBezTo>
                      <a:pt x="239" y="173"/>
                      <a:pt x="239" y="173"/>
                      <a:pt x="239" y="173"/>
                    </a:cubicBezTo>
                    <a:cubicBezTo>
                      <a:pt x="105" y="173"/>
                      <a:pt x="105" y="173"/>
                      <a:pt x="105" y="173"/>
                    </a:cubicBezTo>
                    <a:cubicBezTo>
                      <a:pt x="81" y="173"/>
                      <a:pt x="56" y="154"/>
                      <a:pt x="56" y="119"/>
                    </a:cubicBezTo>
                    <a:cubicBezTo>
                      <a:pt x="56" y="93"/>
                      <a:pt x="74" y="65"/>
                      <a:pt x="105" y="65"/>
                    </a:cubicBezTo>
                    <a:cubicBezTo>
                      <a:pt x="239" y="65"/>
                      <a:pt x="239" y="65"/>
                      <a:pt x="239" y="65"/>
                    </a:cubicBezTo>
                    <a:cubicBezTo>
                      <a:pt x="239" y="0"/>
                      <a:pt x="239" y="0"/>
                      <a:pt x="239" y="0"/>
                    </a:cubicBezTo>
                    <a:cubicBezTo>
                      <a:pt x="93" y="0"/>
                      <a:pt x="93" y="0"/>
                      <a:pt x="93" y="0"/>
                    </a:cubicBezTo>
                    <a:cubicBezTo>
                      <a:pt x="39" y="0"/>
                      <a:pt x="0" y="39"/>
                      <a:pt x="0" y="9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5" name="Freeform 7">
                <a:extLst>
                  <a:ext uri="{FF2B5EF4-FFF2-40B4-BE49-F238E27FC236}">
                    <a16:creationId xmlns:a16="http://schemas.microsoft.com/office/drawing/2014/main" id="{3CA96921-0134-4138-B35F-24FF94928025}"/>
                  </a:ext>
                </a:extLst>
              </p:cNvPr>
              <p:cNvSpPr>
                <a:spLocks/>
              </p:cNvSpPr>
              <p:nvPr userDrawn="1"/>
            </p:nvSpPr>
            <p:spPr bwMode="auto">
              <a:xfrm>
                <a:off x="11425237" y="2452689"/>
                <a:ext cx="449262" cy="506413"/>
              </a:xfrm>
              <a:custGeom>
                <a:avLst/>
                <a:gdLst>
                  <a:gd name="T0" fmla="*/ 0 w 283"/>
                  <a:gd name="T1" fmla="*/ 89 h 319"/>
                  <a:gd name="T2" fmla="*/ 193 w 283"/>
                  <a:gd name="T3" fmla="*/ 159 h 319"/>
                  <a:gd name="T4" fmla="*/ 0 w 283"/>
                  <a:gd name="T5" fmla="*/ 229 h 319"/>
                  <a:gd name="T6" fmla="*/ 0 w 283"/>
                  <a:gd name="T7" fmla="*/ 319 h 319"/>
                  <a:gd name="T8" fmla="*/ 283 w 283"/>
                  <a:gd name="T9" fmla="*/ 202 h 319"/>
                  <a:gd name="T10" fmla="*/ 283 w 283"/>
                  <a:gd name="T11" fmla="*/ 117 h 319"/>
                  <a:gd name="T12" fmla="*/ 0 w 283"/>
                  <a:gd name="T13" fmla="*/ 0 h 319"/>
                  <a:gd name="T14" fmla="*/ 0 w 283"/>
                  <a:gd name="T15" fmla="*/ 89 h 3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319">
                    <a:moveTo>
                      <a:pt x="0" y="89"/>
                    </a:moveTo>
                    <a:lnTo>
                      <a:pt x="193" y="159"/>
                    </a:lnTo>
                    <a:lnTo>
                      <a:pt x="0" y="229"/>
                    </a:lnTo>
                    <a:lnTo>
                      <a:pt x="0" y="319"/>
                    </a:lnTo>
                    <a:lnTo>
                      <a:pt x="283" y="202"/>
                    </a:lnTo>
                    <a:lnTo>
                      <a:pt x="283" y="117"/>
                    </a:lnTo>
                    <a:lnTo>
                      <a:pt x="0" y="0"/>
                    </a:lnTo>
                    <a:lnTo>
                      <a:pt x="0" y="8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7" name="Freeform 8">
                <a:extLst>
                  <a:ext uri="{FF2B5EF4-FFF2-40B4-BE49-F238E27FC236}">
                    <a16:creationId xmlns:a16="http://schemas.microsoft.com/office/drawing/2014/main" id="{294835C9-5930-4B1D-B981-5AC310AA6029}"/>
                  </a:ext>
                </a:extLst>
              </p:cNvPr>
              <p:cNvSpPr>
                <a:spLocks noEditPoints="1"/>
              </p:cNvSpPr>
              <p:nvPr userDrawn="1"/>
            </p:nvSpPr>
            <p:spPr bwMode="auto">
              <a:xfrm>
                <a:off x="11418887" y="3968751"/>
                <a:ext cx="463550" cy="471488"/>
              </a:xfrm>
              <a:custGeom>
                <a:avLst/>
                <a:gdLst>
                  <a:gd name="T0" fmla="*/ 167 w 243"/>
                  <a:gd name="T1" fmla="*/ 46 h 246"/>
                  <a:gd name="T2" fmla="*/ 192 w 243"/>
                  <a:gd name="T3" fmla="*/ 113 h 246"/>
                  <a:gd name="T4" fmla="*/ 173 w 243"/>
                  <a:gd name="T5" fmla="*/ 165 h 246"/>
                  <a:gd name="T6" fmla="*/ 104 w 243"/>
                  <a:gd name="T7" fmla="*/ 0 h 246"/>
                  <a:gd name="T8" fmla="*/ 39 w 243"/>
                  <a:gd name="T9" fmla="*/ 28 h 246"/>
                  <a:gd name="T10" fmla="*/ 0 w 243"/>
                  <a:gd name="T11" fmla="*/ 121 h 246"/>
                  <a:gd name="T12" fmla="*/ 122 w 243"/>
                  <a:gd name="T13" fmla="*/ 246 h 246"/>
                  <a:gd name="T14" fmla="*/ 243 w 243"/>
                  <a:gd name="T15" fmla="*/ 114 h 246"/>
                  <a:gd name="T16" fmla="*/ 198 w 243"/>
                  <a:gd name="T17" fmla="*/ 5 h 246"/>
                  <a:gd name="T18" fmla="*/ 167 w 243"/>
                  <a:gd name="T19" fmla="*/ 46 h 246"/>
                  <a:gd name="T20" fmla="*/ 75 w 243"/>
                  <a:gd name="T21" fmla="*/ 170 h 246"/>
                  <a:gd name="T22" fmla="*/ 51 w 243"/>
                  <a:gd name="T23" fmla="*/ 120 h 246"/>
                  <a:gd name="T24" fmla="*/ 84 w 243"/>
                  <a:gd name="T25" fmla="*/ 70 h 246"/>
                  <a:gd name="T26" fmla="*/ 131 w 243"/>
                  <a:gd name="T27" fmla="*/ 183 h 246"/>
                  <a:gd name="T28" fmla="*/ 75 w 243"/>
                  <a:gd name="T29" fmla="*/ 17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3" h="246">
                    <a:moveTo>
                      <a:pt x="167" y="46"/>
                    </a:moveTo>
                    <a:cubicBezTo>
                      <a:pt x="187" y="73"/>
                      <a:pt x="192" y="88"/>
                      <a:pt x="192" y="113"/>
                    </a:cubicBezTo>
                    <a:cubicBezTo>
                      <a:pt x="192" y="135"/>
                      <a:pt x="185" y="153"/>
                      <a:pt x="173" y="165"/>
                    </a:cubicBezTo>
                    <a:cubicBezTo>
                      <a:pt x="104" y="0"/>
                      <a:pt x="104" y="0"/>
                      <a:pt x="104" y="0"/>
                    </a:cubicBezTo>
                    <a:cubicBezTo>
                      <a:pt x="79" y="4"/>
                      <a:pt x="56" y="14"/>
                      <a:pt x="39" y="28"/>
                    </a:cubicBezTo>
                    <a:cubicBezTo>
                      <a:pt x="13" y="50"/>
                      <a:pt x="0" y="82"/>
                      <a:pt x="0" y="121"/>
                    </a:cubicBezTo>
                    <a:cubicBezTo>
                      <a:pt x="0" y="192"/>
                      <a:pt x="52" y="246"/>
                      <a:pt x="122" y="246"/>
                    </a:cubicBezTo>
                    <a:cubicBezTo>
                      <a:pt x="193" y="246"/>
                      <a:pt x="243" y="192"/>
                      <a:pt x="243" y="114"/>
                    </a:cubicBezTo>
                    <a:cubicBezTo>
                      <a:pt x="243" y="70"/>
                      <a:pt x="222" y="26"/>
                      <a:pt x="198" y="5"/>
                    </a:cubicBezTo>
                    <a:lnTo>
                      <a:pt x="167" y="46"/>
                    </a:lnTo>
                    <a:close/>
                    <a:moveTo>
                      <a:pt x="75" y="170"/>
                    </a:moveTo>
                    <a:cubicBezTo>
                      <a:pt x="60" y="159"/>
                      <a:pt x="51" y="141"/>
                      <a:pt x="51" y="120"/>
                    </a:cubicBezTo>
                    <a:cubicBezTo>
                      <a:pt x="51" y="97"/>
                      <a:pt x="65" y="79"/>
                      <a:pt x="84" y="70"/>
                    </a:cubicBezTo>
                    <a:cubicBezTo>
                      <a:pt x="131" y="183"/>
                      <a:pt x="131" y="183"/>
                      <a:pt x="131" y="183"/>
                    </a:cubicBezTo>
                    <a:cubicBezTo>
                      <a:pt x="107" y="186"/>
                      <a:pt x="88" y="180"/>
                      <a:pt x="75"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8" name="Freeform 9">
                <a:extLst>
                  <a:ext uri="{FF2B5EF4-FFF2-40B4-BE49-F238E27FC236}">
                    <a16:creationId xmlns:a16="http://schemas.microsoft.com/office/drawing/2014/main" id="{C78C8B28-A3DD-4458-8A59-EE68D1ACDDF2}"/>
                  </a:ext>
                </a:extLst>
              </p:cNvPr>
              <p:cNvSpPr>
                <a:spLocks/>
              </p:cNvSpPr>
              <p:nvPr userDrawn="1"/>
            </p:nvSpPr>
            <p:spPr bwMode="auto">
              <a:xfrm>
                <a:off x="11291887" y="4451351"/>
                <a:ext cx="582612" cy="404813"/>
              </a:xfrm>
              <a:custGeom>
                <a:avLst/>
                <a:gdLst>
                  <a:gd name="T0" fmla="*/ 296 w 367"/>
                  <a:gd name="T1" fmla="*/ 0 h 255"/>
                  <a:gd name="T2" fmla="*/ 296 w 367"/>
                  <a:gd name="T3" fmla="*/ 177 h 255"/>
                  <a:gd name="T4" fmla="*/ 0 w 367"/>
                  <a:gd name="T5" fmla="*/ 177 h 255"/>
                  <a:gd name="T6" fmla="*/ 0 w 367"/>
                  <a:gd name="T7" fmla="*/ 255 h 255"/>
                  <a:gd name="T8" fmla="*/ 367 w 367"/>
                  <a:gd name="T9" fmla="*/ 255 h 255"/>
                  <a:gd name="T10" fmla="*/ 367 w 367"/>
                  <a:gd name="T11" fmla="*/ 0 h 255"/>
                  <a:gd name="T12" fmla="*/ 296 w 367"/>
                  <a:gd name="T13" fmla="*/ 0 h 255"/>
                </a:gdLst>
                <a:ahLst/>
                <a:cxnLst>
                  <a:cxn ang="0">
                    <a:pos x="T0" y="T1"/>
                  </a:cxn>
                  <a:cxn ang="0">
                    <a:pos x="T2" y="T3"/>
                  </a:cxn>
                  <a:cxn ang="0">
                    <a:pos x="T4" y="T5"/>
                  </a:cxn>
                  <a:cxn ang="0">
                    <a:pos x="T6" y="T7"/>
                  </a:cxn>
                  <a:cxn ang="0">
                    <a:pos x="T8" y="T9"/>
                  </a:cxn>
                  <a:cxn ang="0">
                    <a:pos x="T10" y="T11"/>
                  </a:cxn>
                  <a:cxn ang="0">
                    <a:pos x="T12" y="T13"/>
                  </a:cxn>
                </a:cxnLst>
                <a:rect l="0" t="0" r="r" b="b"/>
                <a:pathLst>
                  <a:path w="367" h="255">
                    <a:moveTo>
                      <a:pt x="296" y="0"/>
                    </a:moveTo>
                    <a:lnTo>
                      <a:pt x="296" y="177"/>
                    </a:lnTo>
                    <a:lnTo>
                      <a:pt x="0" y="177"/>
                    </a:lnTo>
                    <a:lnTo>
                      <a:pt x="0" y="255"/>
                    </a:lnTo>
                    <a:lnTo>
                      <a:pt x="367" y="255"/>
                    </a:lnTo>
                    <a:lnTo>
                      <a:pt x="367" y="0"/>
                    </a:lnTo>
                    <a:lnTo>
                      <a:pt x="2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9" name="Freeform 10">
                <a:extLst>
                  <a:ext uri="{FF2B5EF4-FFF2-40B4-BE49-F238E27FC236}">
                    <a16:creationId xmlns:a16="http://schemas.microsoft.com/office/drawing/2014/main" id="{C8D26C51-B040-4FC2-B37F-5972C012FEE6}"/>
                  </a:ext>
                </a:extLst>
              </p:cNvPr>
              <p:cNvSpPr>
                <a:spLocks noEditPoints="1"/>
              </p:cNvSpPr>
              <p:nvPr userDrawn="1"/>
            </p:nvSpPr>
            <p:spPr bwMode="auto">
              <a:xfrm>
                <a:off x="11418887" y="1987551"/>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0" name="Freeform 11">
                <a:extLst>
                  <a:ext uri="{FF2B5EF4-FFF2-40B4-BE49-F238E27FC236}">
                    <a16:creationId xmlns:a16="http://schemas.microsoft.com/office/drawing/2014/main" id="{37678D62-51AF-470A-BDE3-8ED3FCCDE0FF}"/>
                  </a:ext>
                </a:extLst>
              </p:cNvPr>
              <p:cNvSpPr>
                <a:spLocks noEditPoints="1"/>
              </p:cNvSpPr>
              <p:nvPr userDrawn="1"/>
            </p:nvSpPr>
            <p:spPr bwMode="auto">
              <a:xfrm>
                <a:off x="11418887" y="2938464"/>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grpSp>
    </p:spTree>
    <p:extLst>
      <p:ext uri="{BB962C8B-B14F-4D97-AF65-F5344CB8AC3E}">
        <p14:creationId xmlns:p14="http://schemas.microsoft.com/office/powerpoint/2010/main" val="366217838"/>
      </p:ext>
    </p:extLst>
  </p:cSld>
  <p:clrMapOvr>
    <a:masterClrMapping/>
  </p:clrMapOvr>
  <p:transition spd="med"/>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reserve="1" userDrawn="1">
  <p:cSld name="Closing Slide_Black">
    <p:bg>
      <p:bgPr>
        <a:solidFill>
          <a:schemeClr val="tx1"/>
        </a:solidFill>
        <a:effectLst/>
      </p:bgPr>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80CD9248-0A2C-4050-B347-2980229F11A8}"/>
              </a:ext>
            </a:extLst>
          </p:cNvPr>
          <p:cNvGrpSpPr/>
          <p:nvPr userDrawn="1"/>
        </p:nvGrpSpPr>
        <p:grpSpPr>
          <a:xfrm rot="16200000">
            <a:off x="373582" y="2655459"/>
            <a:ext cx="6856214" cy="1545292"/>
            <a:chOff x="541049" y="2649538"/>
            <a:chExt cx="9285724" cy="2092325"/>
          </a:xfrm>
          <a:solidFill>
            <a:schemeClr val="bg1"/>
          </a:solidFill>
        </p:grpSpPr>
        <p:sp>
          <p:nvSpPr>
            <p:cNvPr id="54" name="Freeform 5">
              <a:extLst>
                <a:ext uri="{FF2B5EF4-FFF2-40B4-BE49-F238E27FC236}">
                  <a16:creationId xmlns:a16="http://schemas.microsoft.com/office/drawing/2014/main" id="{99FEE917-CD84-4C97-B4F9-73DFE2A473DA}"/>
                </a:ext>
              </a:extLst>
            </p:cNvPr>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5" name="Freeform 6">
              <a:extLst>
                <a:ext uri="{FF2B5EF4-FFF2-40B4-BE49-F238E27FC236}">
                  <a16:creationId xmlns:a16="http://schemas.microsoft.com/office/drawing/2014/main" id="{78C9364A-BFFF-4F94-9D90-8A71731D6352}"/>
                </a:ext>
              </a:extLst>
            </p:cNvPr>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6" name="Freeform 7">
              <a:extLst>
                <a:ext uri="{FF2B5EF4-FFF2-40B4-BE49-F238E27FC236}">
                  <a16:creationId xmlns:a16="http://schemas.microsoft.com/office/drawing/2014/main" id="{E572E624-9DE1-4F42-A7F5-36B7B8A2F63B}"/>
                </a:ext>
              </a:extLst>
            </p:cNvPr>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7" name="Freeform 8">
              <a:extLst>
                <a:ext uri="{FF2B5EF4-FFF2-40B4-BE49-F238E27FC236}">
                  <a16:creationId xmlns:a16="http://schemas.microsoft.com/office/drawing/2014/main" id="{DD8A238C-0295-48D1-8872-FE51165DDEE4}"/>
                </a:ext>
              </a:extLst>
            </p:cNvPr>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8" name="Freeform 9">
              <a:extLst>
                <a:ext uri="{FF2B5EF4-FFF2-40B4-BE49-F238E27FC236}">
                  <a16:creationId xmlns:a16="http://schemas.microsoft.com/office/drawing/2014/main" id="{6849E95A-0C53-4220-85E0-6DFCEA7D1C44}"/>
                </a:ext>
              </a:extLst>
            </p:cNvPr>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59" name="Freeform 10">
              <a:extLst>
                <a:ext uri="{FF2B5EF4-FFF2-40B4-BE49-F238E27FC236}">
                  <a16:creationId xmlns:a16="http://schemas.microsoft.com/office/drawing/2014/main" id="{056EAF60-5381-416A-895C-D1FAED9FDFFF}"/>
                </a:ext>
              </a:extLst>
            </p:cNvPr>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60" name="Oval 11">
              <a:extLst>
                <a:ext uri="{FF2B5EF4-FFF2-40B4-BE49-F238E27FC236}">
                  <a16:creationId xmlns:a16="http://schemas.microsoft.com/office/drawing/2014/main" id="{0154DA0C-208D-4580-AFAD-81B221FB1EE9}"/>
                </a:ext>
              </a:extLst>
            </p:cNvPr>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grpSp>
        <p:nvGrpSpPr>
          <p:cNvPr id="105" name="Group 104">
            <a:extLst>
              <a:ext uri="{FF2B5EF4-FFF2-40B4-BE49-F238E27FC236}">
                <a16:creationId xmlns:a16="http://schemas.microsoft.com/office/drawing/2014/main" id="{1F1F6355-08A9-4C09-B618-1C445A02E219}"/>
              </a:ext>
            </a:extLst>
          </p:cNvPr>
          <p:cNvGrpSpPr/>
          <p:nvPr userDrawn="1"/>
        </p:nvGrpSpPr>
        <p:grpSpPr>
          <a:xfrm>
            <a:off x="7047162" y="1676401"/>
            <a:ext cx="5146427" cy="3505200"/>
            <a:chOff x="7045325" y="1676401"/>
            <a:chExt cx="5145087" cy="3505200"/>
          </a:xfrm>
        </p:grpSpPr>
        <p:sp>
          <p:nvSpPr>
            <p:cNvPr id="106" name="Freeform 5">
              <a:extLst>
                <a:ext uri="{FF2B5EF4-FFF2-40B4-BE49-F238E27FC236}">
                  <a16:creationId xmlns:a16="http://schemas.microsoft.com/office/drawing/2014/main" id="{B42EB7FA-FF17-4B14-9DA1-B0E656D461A7}"/>
                </a:ext>
              </a:extLst>
            </p:cNvPr>
            <p:cNvSpPr>
              <a:spLocks noEditPoints="1"/>
            </p:cNvSpPr>
            <p:nvPr userDrawn="1"/>
          </p:nvSpPr>
          <p:spPr bwMode="auto">
            <a:xfrm>
              <a:off x="7045325" y="1676401"/>
              <a:ext cx="5145087" cy="3505200"/>
            </a:xfrm>
            <a:custGeom>
              <a:avLst/>
              <a:gdLst>
                <a:gd name="T0" fmla="*/ 717 w 2697"/>
                <a:gd name="T1" fmla="*/ 241 h 1832"/>
                <a:gd name="T2" fmla="*/ 698 w 2697"/>
                <a:gd name="T3" fmla="*/ 358 h 1832"/>
                <a:gd name="T4" fmla="*/ 755 w 2697"/>
                <a:gd name="T5" fmla="*/ 353 h 1832"/>
                <a:gd name="T6" fmla="*/ 952 w 2697"/>
                <a:gd name="T7" fmla="*/ 431 h 1832"/>
                <a:gd name="T8" fmla="*/ 1077 w 2697"/>
                <a:gd name="T9" fmla="*/ 299 h 1832"/>
                <a:gd name="T10" fmla="*/ 769 w 2697"/>
                <a:gd name="T11" fmla="*/ 229 h 1832"/>
                <a:gd name="T12" fmla="*/ 1219 w 2697"/>
                <a:gd name="T13" fmla="*/ 431 h 1832"/>
                <a:gd name="T14" fmla="*/ 1120 w 2697"/>
                <a:gd name="T15" fmla="*/ 287 h 1832"/>
                <a:gd name="T16" fmla="*/ 1089 w 2697"/>
                <a:gd name="T17" fmla="*/ 373 h 1832"/>
                <a:gd name="T18" fmla="*/ 1175 w 2697"/>
                <a:gd name="T19" fmla="*/ 395 h 1832"/>
                <a:gd name="T20" fmla="*/ 1412 w 2697"/>
                <a:gd name="T21" fmla="*/ 225 h 1832"/>
                <a:gd name="T22" fmla="*/ 1348 w 2697"/>
                <a:gd name="T23" fmla="*/ 356 h 1832"/>
                <a:gd name="T24" fmla="*/ 1505 w 2697"/>
                <a:gd name="T25" fmla="*/ 364 h 1832"/>
                <a:gd name="T26" fmla="*/ 1448 w 2697"/>
                <a:gd name="T27" fmla="*/ 177 h 1832"/>
                <a:gd name="T28" fmla="*/ 1666 w 2697"/>
                <a:gd name="T29" fmla="*/ 435 h 1832"/>
                <a:gd name="T30" fmla="*/ 1758 w 2697"/>
                <a:gd name="T31" fmla="*/ 335 h 1832"/>
                <a:gd name="T32" fmla="*/ 1703 w 2697"/>
                <a:gd name="T33" fmla="*/ 314 h 1832"/>
                <a:gd name="T34" fmla="*/ 1892 w 2697"/>
                <a:gd name="T35" fmla="*/ 225 h 1832"/>
                <a:gd name="T36" fmla="*/ 1828 w 2697"/>
                <a:gd name="T37" fmla="*/ 356 h 1832"/>
                <a:gd name="T38" fmla="*/ 24 w 2697"/>
                <a:gd name="T39" fmla="*/ 634 h 1832"/>
                <a:gd name="T40" fmla="*/ 81 w 2697"/>
                <a:gd name="T41" fmla="*/ 720 h 1832"/>
                <a:gd name="T42" fmla="*/ 237 w 2697"/>
                <a:gd name="T43" fmla="*/ 581 h 1832"/>
                <a:gd name="T44" fmla="*/ 243 w 2697"/>
                <a:gd name="T45" fmla="*/ 745 h 1832"/>
                <a:gd name="T46" fmla="*/ 237 w 2697"/>
                <a:gd name="T47" fmla="*/ 627 h 1832"/>
                <a:gd name="T48" fmla="*/ 450 w 2697"/>
                <a:gd name="T49" fmla="*/ 631 h 1832"/>
                <a:gd name="T50" fmla="*/ 449 w 2697"/>
                <a:gd name="T51" fmla="*/ 791 h 1832"/>
                <a:gd name="T52" fmla="*/ 598 w 2697"/>
                <a:gd name="T53" fmla="*/ 512 h 1832"/>
                <a:gd name="T54" fmla="*/ 669 w 2697"/>
                <a:gd name="T55" fmla="*/ 674 h 1832"/>
                <a:gd name="T56" fmla="*/ 798 w 2697"/>
                <a:gd name="T57" fmla="*/ 614 h 1832"/>
                <a:gd name="T58" fmla="*/ 833 w 2697"/>
                <a:gd name="T59" fmla="*/ 633 h 1832"/>
                <a:gd name="T60" fmla="*/ 1155 w 2697"/>
                <a:gd name="T61" fmla="*/ 686 h 1832"/>
                <a:gd name="T62" fmla="*/ 1155 w 2697"/>
                <a:gd name="T63" fmla="*/ 686 h 1832"/>
                <a:gd name="T64" fmla="*/ 1047 w 2697"/>
                <a:gd name="T65" fmla="*/ 742 h 1832"/>
                <a:gd name="T66" fmla="*/ 1167 w 2697"/>
                <a:gd name="T67" fmla="*/ 787 h 1832"/>
                <a:gd name="T68" fmla="*/ 1453 w 2697"/>
                <a:gd name="T69" fmla="*/ 686 h 1832"/>
                <a:gd name="T70" fmla="*/ 1344 w 2697"/>
                <a:gd name="T71" fmla="*/ 631 h 1832"/>
                <a:gd name="T72" fmla="*/ 1562 w 2697"/>
                <a:gd name="T73" fmla="*/ 848 h 1832"/>
                <a:gd name="T74" fmla="*/ 1552 w 2697"/>
                <a:gd name="T75" fmla="*/ 581 h 1832"/>
                <a:gd name="T76" fmla="*/ 1560 w 2697"/>
                <a:gd name="T77" fmla="*/ 802 h 1832"/>
                <a:gd name="T78" fmla="*/ 1618 w 2697"/>
                <a:gd name="T79" fmla="*/ 676 h 1832"/>
                <a:gd name="T80" fmla="*/ 1743 w 2697"/>
                <a:gd name="T81" fmla="*/ 801 h 1832"/>
                <a:gd name="T82" fmla="*/ 1834 w 2697"/>
                <a:gd name="T83" fmla="*/ 585 h 1832"/>
                <a:gd name="T84" fmla="*/ 1101 w 2697"/>
                <a:gd name="T85" fmla="*/ 940 h 1832"/>
                <a:gd name="T86" fmla="*/ 974 w 2697"/>
                <a:gd name="T87" fmla="*/ 965 h 1832"/>
                <a:gd name="T88" fmla="*/ 1101 w 2697"/>
                <a:gd name="T89" fmla="*/ 1012 h 1832"/>
                <a:gd name="T90" fmla="*/ 1318 w 2697"/>
                <a:gd name="T91" fmla="*/ 1064 h 1832"/>
                <a:gd name="T92" fmla="*/ 1156 w 2697"/>
                <a:gd name="T93" fmla="*/ 1063 h 1832"/>
                <a:gd name="T94" fmla="*/ 1332 w 2697"/>
                <a:gd name="T95" fmla="*/ 963 h 1832"/>
                <a:gd name="T96" fmla="*/ 1453 w 2697"/>
                <a:gd name="T97" fmla="*/ 959 h 1832"/>
                <a:gd name="T98" fmla="*/ 1657 w 2697"/>
                <a:gd name="T99" fmla="*/ 1046 h 1832"/>
                <a:gd name="T100" fmla="*/ 1657 w 2697"/>
                <a:gd name="T101" fmla="*/ 1143 h 1832"/>
                <a:gd name="T102" fmla="*/ 1658 w 2697"/>
                <a:gd name="T103" fmla="*/ 1094 h 1832"/>
                <a:gd name="T104" fmla="*/ 1658 w 2697"/>
                <a:gd name="T105" fmla="*/ 1094 h 1832"/>
                <a:gd name="T106" fmla="*/ 1817 w 2697"/>
                <a:gd name="T107" fmla="*/ 1165 h 1832"/>
                <a:gd name="T108" fmla="*/ 2086 w 2697"/>
                <a:gd name="T109" fmla="*/ 1832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7" h="1832">
                  <a:moveTo>
                    <a:pt x="755" y="352"/>
                  </a:moveTo>
                  <a:cubicBezTo>
                    <a:pt x="755" y="306"/>
                    <a:pt x="725" y="287"/>
                    <a:pt x="672" y="273"/>
                  </a:cubicBezTo>
                  <a:cubicBezTo>
                    <a:pt x="626" y="261"/>
                    <a:pt x="615" y="256"/>
                    <a:pt x="615" y="238"/>
                  </a:cubicBezTo>
                  <a:cubicBezTo>
                    <a:pt x="615" y="238"/>
                    <a:pt x="615" y="238"/>
                    <a:pt x="615" y="238"/>
                  </a:cubicBezTo>
                  <a:cubicBezTo>
                    <a:pt x="615" y="225"/>
                    <a:pt x="626" y="215"/>
                    <a:pt x="649" y="215"/>
                  </a:cubicBezTo>
                  <a:cubicBezTo>
                    <a:pt x="671" y="215"/>
                    <a:pt x="694" y="224"/>
                    <a:pt x="717" y="241"/>
                  </a:cubicBezTo>
                  <a:cubicBezTo>
                    <a:pt x="747" y="197"/>
                    <a:pt x="747" y="197"/>
                    <a:pt x="747" y="197"/>
                  </a:cubicBezTo>
                  <a:cubicBezTo>
                    <a:pt x="720" y="175"/>
                    <a:pt x="688" y="163"/>
                    <a:pt x="649" y="163"/>
                  </a:cubicBezTo>
                  <a:cubicBezTo>
                    <a:pt x="595" y="163"/>
                    <a:pt x="557" y="195"/>
                    <a:pt x="557" y="243"/>
                  </a:cubicBezTo>
                  <a:cubicBezTo>
                    <a:pt x="557" y="244"/>
                    <a:pt x="557" y="244"/>
                    <a:pt x="557" y="244"/>
                  </a:cubicBezTo>
                  <a:cubicBezTo>
                    <a:pt x="557" y="296"/>
                    <a:pt x="591" y="311"/>
                    <a:pt x="644" y="324"/>
                  </a:cubicBezTo>
                  <a:cubicBezTo>
                    <a:pt x="688" y="335"/>
                    <a:pt x="698" y="343"/>
                    <a:pt x="698" y="358"/>
                  </a:cubicBezTo>
                  <a:cubicBezTo>
                    <a:pt x="698" y="358"/>
                    <a:pt x="698" y="358"/>
                    <a:pt x="698" y="358"/>
                  </a:cubicBezTo>
                  <a:cubicBezTo>
                    <a:pt x="698" y="374"/>
                    <a:pt x="683" y="383"/>
                    <a:pt x="659" y="383"/>
                  </a:cubicBezTo>
                  <a:cubicBezTo>
                    <a:pt x="629" y="383"/>
                    <a:pt x="605" y="371"/>
                    <a:pt x="581" y="351"/>
                  </a:cubicBezTo>
                  <a:cubicBezTo>
                    <a:pt x="547" y="392"/>
                    <a:pt x="547" y="392"/>
                    <a:pt x="547" y="392"/>
                  </a:cubicBezTo>
                  <a:cubicBezTo>
                    <a:pt x="578" y="421"/>
                    <a:pt x="618" y="435"/>
                    <a:pt x="658" y="435"/>
                  </a:cubicBezTo>
                  <a:cubicBezTo>
                    <a:pt x="715" y="435"/>
                    <a:pt x="755" y="405"/>
                    <a:pt x="755" y="353"/>
                  </a:cubicBezTo>
                  <a:lnTo>
                    <a:pt x="755" y="352"/>
                  </a:lnTo>
                  <a:close/>
                  <a:moveTo>
                    <a:pt x="826" y="318"/>
                  </a:moveTo>
                  <a:cubicBezTo>
                    <a:pt x="826" y="291"/>
                    <a:pt x="839" y="277"/>
                    <a:pt x="861" y="277"/>
                  </a:cubicBezTo>
                  <a:cubicBezTo>
                    <a:pt x="882" y="277"/>
                    <a:pt x="894" y="291"/>
                    <a:pt x="894" y="318"/>
                  </a:cubicBezTo>
                  <a:cubicBezTo>
                    <a:pt x="894" y="431"/>
                    <a:pt x="894" y="431"/>
                    <a:pt x="894" y="431"/>
                  </a:cubicBezTo>
                  <a:cubicBezTo>
                    <a:pt x="952" y="431"/>
                    <a:pt x="952" y="431"/>
                    <a:pt x="952" y="431"/>
                  </a:cubicBezTo>
                  <a:cubicBezTo>
                    <a:pt x="952" y="318"/>
                    <a:pt x="952" y="318"/>
                    <a:pt x="952" y="318"/>
                  </a:cubicBezTo>
                  <a:cubicBezTo>
                    <a:pt x="952" y="291"/>
                    <a:pt x="965" y="277"/>
                    <a:pt x="986" y="277"/>
                  </a:cubicBezTo>
                  <a:cubicBezTo>
                    <a:pt x="1008" y="277"/>
                    <a:pt x="1020" y="291"/>
                    <a:pt x="1020" y="318"/>
                  </a:cubicBezTo>
                  <a:cubicBezTo>
                    <a:pt x="1020" y="431"/>
                    <a:pt x="1020" y="431"/>
                    <a:pt x="1020" y="431"/>
                  </a:cubicBezTo>
                  <a:cubicBezTo>
                    <a:pt x="1077" y="431"/>
                    <a:pt x="1077" y="431"/>
                    <a:pt x="1077" y="431"/>
                  </a:cubicBezTo>
                  <a:cubicBezTo>
                    <a:pt x="1077" y="299"/>
                    <a:pt x="1077" y="299"/>
                    <a:pt x="1077" y="299"/>
                  </a:cubicBezTo>
                  <a:cubicBezTo>
                    <a:pt x="1077" y="251"/>
                    <a:pt x="1051" y="225"/>
                    <a:pt x="1009" y="225"/>
                  </a:cubicBezTo>
                  <a:cubicBezTo>
                    <a:pt x="981" y="225"/>
                    <a:pt x="960" y="236"/>
                    <a:pt x="943" y="257"/>
                  </a:cubicBezTo>
                  <a:cubicBezTo>
                    <a:pt x="932" y="237"/>
                    <a:pt x="912" y="225"/>
                    <a:pt x="886" y="225"/>
                  </a:cubicBezTo>
                  <a:cubicBezTo>
                    <a:pt x="857" y="225"/>
                    <a:pt x="839" y="241"/>
                    <a:pt x="826" y="258"/>
                  </a:cubicBezTo>
                  <a:cubicBezTo>
                    <a:pt x="826" y="229"/>
                    <a:pt x="826" y="229"/>
                    <a:pt x="826" y="229"/>
                  </a:cubicBezTo>
                  <a:cubicBezTo>
                    <a:pt x="769" y="229"/>
                    <a:pt x="769" y="229"/>
                    <a:pt x="769" y="229"/>
                  </a:cubicBezTo>
                  <a:cubicBezTo>
                    <a:pt x="769" y="431"/>
                    <a:pt x="769" y="431"/>
                    <a:pt x="769" y="431"/>
                  </a:cubicBezTo>
                  <a:cubicBezTo>
                    <a:pt x="826" y="431"/>
                    <a:pt x="826" y="431"/>
                    <a:pt x="826" y="431"/>
                  </a:cubicBezTo>
                  <a:lnTo>
                    <a:pt x="826" y="318"/>
                  </a:lnTo>
                  <a:close/>
                  <a:moveTo>
                    <a:pt x="1158" y="435"/>
                  </a:moveTo>
                  <a:cubicBezTo>
                    <a:pt x="1186" y="435"/>
                    <a:pt x="1205" y="424"/>
                    <a:pt x="1219" y="409"/>
                  </a:cubicBezTo>
                  <a:cubicBezTo>
                    <a:pt x="1219" y="431"/>
                    <a:pt x="1219" y="431"/>
                    <a:pt x="1219" y="431"/>
                  </a:cubicBezTo>
                  <a:cubicBezTo>
                    <a:pt x="1274" y="431"/>
                    <a:pt x="1274" y="431"/>
                    <a:pt x="1274" y="431"/>
                  </a:cubicBezTo>
                  <a:cubicBezTo>
                    <a:pt x="1274" y="314"/>
                    <a:pt x="1274" y="314"/>
                    <a:pt x="1274" y="314"/>
                  </a:cubicBezTo>
                  <a:cubicBezTo>
                    <a:pt x="1274" y="287"/>
                    <a:pt x="1268" y="264"/>
                    <a:pt x="1253" y="249"/>
                  </a:cubicBezTo>
                  <a:cubicBezTo>
                    <a:pt x="1238" y="235"/>
                    <a:pt x="1216" y="227"/>
                    <a:pt x="1184" y="227"/>
                  </a:cubicBezTo>
                  <a:cubicBezTo>
                    <a:pt x="1150" y="227"/>
                    <a:pt x="1128" y="233"/>
                    <a:pt x="1106" y="243"/>
                  </a:cubicBezTo>
                  <a:cubicBezTo>
                    <a:pt x="1120" y="287"/>
                    <a:pt x="1120" y="287"/>
                    <a:pt x="1120" y="287"/>
                  </a:cubicBezTo>
                  <a:cubicBezTo>
                    <a:pt x="1139" y="280"/>
                    <a:pt x="1154" y="276"/>
                    <a:pt x="1176" y="276"/>
                  </a:cubicBezTo>
                  <a:cubicBezTo>
                    <a:pt x="1205" y="276"/>
                    <a:pt x="1219" y="289"/>
                    <a:pt x="1219" y="313"/>
                  </a:cubicBezTo>
                  <a:cubicBezTo>
                    <a:pt x="1219" y="316"/>
                    <a:pt x="1219" y="316"/>
                    <a:pt x="1219" y="316"/>
                  </a:cubicBezTo>
                  <a:cubicBezTo>
                    <a:pt x="1205" y="311"/>
                    <a:pt x="1190" y="308"/>
                    <a:pt x="1170" y="308"/>
                  </a:cubicBezTo>
                  <a:cubicBezTo>
                    <a:pt x="1122" y="308"/>
                    <a:pt x="1089" y="328"/>
                    <a:pt x="1089" y="372"/>
                  </a:cubicBezTo>
                  <a:cubicBezTo>
                    <a:pt x="1089" y="373"/>
                    <a:pt x="1089" y="373"/>
                    <a:pt x="1089" y="373"/>
                  </a:cubicBezTo>
                  <a:cubicBezTo>
                    <a:pt x="1089" y="413"/>
                    <a:pt x="1120" y="435"/>
                    <a:pt x="1158" y="435"/>
                  </a:cubicBezTo>
                  <a:close/>
                  <a:moveTo>
                    <a:pt x="1144" y="370"/>
                  </a:moveTo>
                  <a:cubicBezTo>
                    <a:pt x="1144" y="352"/>
                    <a:pt x="1159" y="342"/>
                    <a:pt x="1184" y="342"/>
                  </a:cubicBezTo>
                  <a:cubicBezTo>
                    <a:pt x="1198" y="342"/>
                    <a:pt x="1210" y="345"/>
                    <a:pt x="1220" y="349"/>
                  </a:cubicBezTo>
                  <a:cubicBezTo>
                    <a:pt x="1220" y="360"/>
                    <a:pt x="1220" y="360"/>
                    <a:pt x="1220" y="360"/>
                  </a:cubicBezTo>
                  <a:cubicBezTo>
                    <a:pt x="1220" y="380"/>
                    <a:pt x="1202" y="395"/>
                    <a:pt x="1175" y="395"/>
                  </a:cubicBezTo>
                  <a:cubicBezTo>
                    <a:pt x="1157" y="395"/>
                    <a:pt x="1144" y="386"/>
                    <a:pt x="1144" y="371"/>
                  </a:cubicBezTo>
                  <a:lnTo>
                    <a:pt x="1144" y="370"/>
                  </a:lnTo>
                  <a:close/>
                  <a:moveTo>
                    <a:pt x="1348" y="356"/>
                  </a:moveTo>
                  <a:cubicBezTo>
                    <a:pt x="1348" y="308"/>
                    <a:pt x="1371" y="285"/>
                    <a:pt x="1409" y="285"/>
                  </a:cubicBezTo>
                  <a:cubicBezTo>
                    <a:pt x="1412" y="285"/>
                    <a:pt x="1412" y="285"/>
                    <a:pt x="1412" y="285"/>
                  </a:cubicBezTo>
                  <a:cubicBezTo>
                    <a:pt x="1412" y="225"/>
                    <a:pt x="1412" y="225"/>
                    <a:pt x="1412" y="225"/>
                  </a:cubicBezTo>
                  <a:cubicBezTo>
                    <a:pt x="1378" y="224"/>
                    <a:pt x="1360" y="242"/>
                    <a:pt x="1348" y="270"/>
                  </a:cubicBezTo>
                  <a:cubicBezTo>
                    <a:pt x="1348" y="229"/>
                    <a:pt x="1348" y="229"/>
                    <a:pt x="1348" y="229"/>
                  </a:cubicBezTo>
                  <a:cubicBezTo>
                    <a:pt x="1291" y="229"/>
                    <a:pt x="1291" y="229"/>
                    <a:pt x="1291" y="229"/>
                  </a:cubicBezTo>
                  <a:cubicBezTo>
                    <a:pt x="1291" y="431"/>
                    <a:pt x="1291" y="431"/>
                    <a:pt x="1291" y="431"/>
                  </a:cubicBezTo>
                  <a:cubicBezTo>
                    <a:pt x="1348" y="431"/>
                    <a:pt x="1348" y="431"/>
                    <a:pt x="1348" y="431"/>
                  </a:cubicBezTo>
                  <a:lnTo>
                    <a:pt x="1348" y="356"/>
                  </a:lnTo>
                  <a:close/>
                  <a:moveTo>
                    <a:pt x="1448" y="374"/>
                  </a:moveTo>
                  <a:cubicBezTo>
                    <a:pt x="1448" y="420"/>
                    <a:pt x="1472" y="434"/>
                    <a:pt x="1507" y="434"/>
                  </a:cubicBezTo>
                  <a:cubicBezTo>
                    <a:pt x="1526" y="434"/>
                    <a:pt x="1540" y="430"/>
                    <a:pt x="1552" y="422"/>
                  </a:cubicBezTo>
                  <a:cubicBezTo>
                    <a:pt x="1552" y="377"/>
                    <a:pt x="1552" y="377"/>
                    <a:pt x="1552" y="377"/>
                  </a:cubicBezTo>
                  <a:cubicBezTo>
                    <a:pt x="1543" y="381"/>
                    <a:pt x="1534" y="384"/>
                    <a:pt x="1524" y="384"/>
                  </a:cubicBezTo>
                  <a:cubicBezTo>
                    <a:pt x="1511" y="384"/>
                    <a:pt x="1505" y="377"/>
                    <a:pt x="1505" y="364"/>
                  </a:cubicBezTo>
                  <a:cubicBezTo>
                    <a:pt x="1505" y="278"/>
                    <a:pt x="1505" y="278"/>
                    <a:pt x="1505" y="278"/>
                  </a:cubicBezTo>
                  <a:cubicBezTo>
                    <a:pt x="1553" y="278"/>
                    <a:pt x="1553" y="278"/>
                    <a:pt x="1553" y="278"/>
                  </a:cubicBezTo>
                  <a:cubicBezTo>
                    <a:pt x="1553" y="229"/>
                    <a:pt x="1553" y="229"/>
                    <a:pt x="1553" y="229"/>
                  </a:cubicBezTo>
                  <a:cubicBezTo>
                    <a:pt x="1505" y="229"/>
                    <a:pt x="1505" y="229"/>
                    <a:pt x="1505" y="229"/>
                  </a:cubicBezTo>
                  <a:cubicBezTo>
                    <a:pt x="1505" y="177"/>
                    <a:pt x="1505" y="177"/>
                    <a:pt x="1505" y="177"/>
                  </a:cubicBezTo>
                  <a:cubicBezTo>
                    <a:pt x="1448" y="177"/>
                    <a:pt x="1448" y="177"/>
                    <a:pt x="1448" y="177"/>
                  </a:cubicBezTo>
                  <a:cubicBezTo>
                    <a:pt x="1448" y="229"/>
                    <a:pt x="1448" y="229"/>
                    <a:pt x="1448" y="229"/>
                  </a:cubicBezTo>
                  <a:cubicBezTo>
                    <a:pt x="1424" y="229"/>
                    <a:pt x="1424" y="229"/>
                    <a:pt x="1424" y="229"/>
                  </a:cubicBezTo>
                  <a:cubicBezTo>
                    <a:pt x="1424" y="278"/>
                    <a:pt x="1424" y="278"/>
                    <a:pt x="1424" y="278"/>
                  </a:cubicBezTo>
                  <a:cubicBezTo>
                    <a:pt x="1448" y="278"/>
                    <a:pt x="1448" y="278"/>
                    <a:pt x="1448" y="278"/>
                  </a:cubicBezTo>
                  <a:lnTo>
                    <a:pt x="1448" y="374"/>
                  </a:lnTo>
                  <a:close/>
                  <a:moveTo>
                    <a:pt x="1666" y="435"/>
                  </a:moveTo>
                  <a:cubicBezTo>
                    <a:pt x="1702" y="435"/>
                    <a:pt x="1729" y="421"/>
                    <a:pt x="1748" y="398"/>
                  </a:cubicBezTo>
                  <a:cubicBezTo>
                    <a:pt x="1715" y="369"/>
                    <a:pt x="1715" y="369"/>
                    <a:pt x="1715" y="369"/>
                  </a:cubicBezTo>
                  <a:cubicBezTo>
                    <a:pt x="1700" y="383"/>
                    <a:pt x="1686" y="389"/>
                    <a:pt x="1666" y="389"/>
                  </a:cubicBezTo>
                  <a:cubicBezTo>
                    <a:pt x="1641" y="389"/>
                    <a:pt x="1623" y="376"/>
                    <a:pt x="1617" y="350"/>
                  </a:cubicBezTo>
                  <a:cubicBezTo>
                    <a:pt x="1758" y="350"/>
                    <a:pt x="1758" y="350"/>
                    <a:pt x="1758" y="350"/>
                  </a:cubicBezTo>
                  <a:cubicBezTo>
                    <a:pt x="1758" y="345"/>
                    <a:pt x="1758" y="339"/>
                    <a:pt x="1758" y="335"/>
                  </a:cubicBezTo>
                  <a:cubicBezTo>
                    <a:pt x="1758" y="277"/>
                    <a:pt x="1727" y="225"/>
                    <a:pt x="1660" y="225"/>
                  </a:cubicBezTo>
                  <a:cubicBezTo>
                    <a:pt x="1601" y="225"/>
                    <a:pt x="1560" y="273"/>
                    <a:pt x="1560" y="330"/>
                  </a:cubicBezTo>
                  <a:cubicBezTo>
                    <a:pt x="1560" y="331"/>
                    <a:pt x="1560" y="331"/>
                    <a:pt x="1560" y="331"/>
                  </a:cubicBezTo>
                  <a:cubicBezTo>
                    <a:pt x="1560" y="393"/>
                    <a:pt x="1605" y="435"/>
                    <a:pt x="1666" y="435"/>
                  </a:cubicBezTo>
                  <a:close/>
                  <a:moveTo>
                    <a:pt x="1660" y="271"/>
                  </a:moveTo>
                  <a:cubicBezTo>
                    <a:pt x="1684" y="271"/>
                    <a:pt x="1699" y="288"/>
                    <a:pt x="1703" y="314"/>
                  </a:cubicBezTo>
                  <a:cubicBezTo>
                    <a:pt x="1616" y="314"/>
                    <a:pt x="1616" y="314"/>
                    <a:pt x="1616" y="314"/>
                  </a:cubicBezTo>
                  <a:cubicBezTo>
                    <a:pt x="1621" y="288"/>
                    <a:pt x="1636" y="271"/>
                    <a:pt x="1660" y="271"/>
                  </a:cubicBezTo>
                  <a:close/>
                  <a:moveTo>
                    <a:pt x="1828" y="356"/>
                  </a:moveTo>
                  <a:cubicBezTo>
                    <a:pt x="1828" y="308"/>
                    <a:pt x="1851" y="285"/>
                    <a:pt x="1889" y="285"/>
                  </a:cubicBezTo>
                  <a:cubicBezTo>
                    <a:pt x="1892" y="285"/>
                    <a:pt x="1892" y="285"/>
                    <a:pt x="1892" y="285"/>
                  </a:cubicBezTo>
                  <a:cubicBezTo>
                    <a:pt x="1892" y="225"/>
                    <a:pt x="1892" y="225"/>
                    <a:pt x="1892" y="225"/>
                  </a:cubicBezTo>
                  <a:cubicBezTo>
                    <a:pt x="1858" y="224"/>
                    <a:pt x="1839" y="242"/>
                    <a:pt x="1828" y="270"/>
                  </a:cubicBezTo>
                  <a:cubicBezTo>
                    <a:pt x="1828" y="229"/>
                    <a:pt x="1828" y="229"/>
                    <a:pt x="1828" y="229"/>
                  </a:cubicBezTo>
                  <a:cubicBezTo>
                    <a:pt x="1770" y="229"/>
                    <a:pt x="1770" y="229"/>
                    <a:pt x="1770" y="229"/>
                  </a:cubicBezTo>
                  <a:cubicBezTo>
                    <a:pt x="1770" y="431"/>
                    <a:pt x="1770" y="431"/>
                    <a:pt x="1770" y="431"/>
                  </a:cubicBezTo>
                  <a:cubicBezTo>
                    <a:pt x="1828" y="431"/>
                    <a:pt x="1828" y="431"/>
                    <a:pt x="1828" y="431"/>
                  </a:cubicBezTo>
                  <a:lnTo>
                    <a:pt x="1828" y="356"/>
                  </a:lnTo>
                  <a:close/>
                  <a:moveTo>
                    <a:pt x="81" y="533"/>
                  </a:moveTo>
                  <a:cubicBezTo>
                    <a:pt x="24" y="533"/>
                    <a:pt x="24" y="533"/>
                    <a:pt x="24" y="533"/>
                  </a:cubicBezTo>
                  <a:cubicBezTo>
                    <a:pt x="24" y="585"/>
                    <a:pt x="24" y="585"/>
                    <a:pt x="24" y="585"/>
                  </a:cubicBezTo>
                  <a:cubicBezTo>
                    <a:pt x="0" y="585"/>
                    <a:pt x="0" y="585"/>
                    <a:pt x="0" y="585"/>
                  </a:cubicBezTo>
                  <a:cubicBezTo>
                    <a:pt x="0" y="634"/>
                    <a:pt x="0" y="634"/>
                    <a:pt x="0" y="634"/>
                  </a:cubicBezTo>
                  <a:cubicBezTo>
                    <a:pt x="24" y="634"/>
                    <a:pt x="24" y="634"/>
                    <a:pt x="24" y="634"/>
                  </a:cubicBezTo>
                  <a:cubicBezTo>
                    <a:pt x="24" y="730"/>
                    <a:pt x="24" y="730"/>
                    <a:pt x="24" y="730"/>
                  </a:cubicBezTo>
                  <a:cubicBezTo>
                    <a:pt x="24" y="776"/>
                    <a:pt x="48" y="790"/>
                    <a:pt x="83" y="790"/>
                  </a:cubicBezTo>
                  <a:cubicBezTo>
                    <a:pt x="102" y="790"/>
                    <a:pt x="116" y="786"/>
                    <a:pt x="128" y="779"/>
                  </a:cubicBezTo>
                  <a:cubicBezTo>
                    <a:pt x="128" y="733"/>
                    <a:pt x="128" y="733"/>
                    <a:pt x="128" y="733"/>
                  </a:cubicBezTo>
                  <a:cubicBezTo>
                    <a:pt x="120" y="737"/>
                    <a:pt x="110" y="740"/>
                    <a:pt x="100" y="740"/>
                  </a:cubicBezTo>
                  <a:cubicBezTo>
                    <a:pt x="87" y="740"/>
                    <a:pt x="81" y="733"/>
                    <a:pt x="81" y="720"/>
                  </a:cubicBezTo>
                  <a:cubicBezTo>
                    <a:pt x="81" y="634"/>
                    <a:pt x="81" y="634"/>
                    <a:pt x="81" y="634"/>
                  </a:cubicBezTo>
                  <a:cubicBezTo>
                    <a:pt x="129" y="634"/>
                    <a:pt x="129" y="634"/>
                    <a:pt x="129" y="634"/>
                  </a:cubicBezTo>
                  <a:cubicBezTo>
                    <a:pt x="129" y="585"/>
                    <a:pt x="129" y="585"/>
                    <a:pt x="129" y="585"/>
                  </a:cubicBezTo>
                  <a:cubicBezTo>
                    <a:pt x="81" y="585"/>
                    <a:pt x="81" y="585"/>
                    <a:pt x="81" y="585"/>
                  </a:cubicBezTo>
                  <a:lnTo>
                    <a:pt x="81" y="533"/>
                  </a:lnTo>
                  <a:close/>
                  <a:moveTo>
                    <a:pt x="237" y="581"/>
                  </a:moveTo>
                  <a:cubicBezTo>
                    <a:pt x="178" y="581"/>
                    <a:pt x="137" y="629"/>
                    <a:pt x="137" y="686"/>
                  </a:cubicBezTo>
                  <a:cubicBezTo>
                    <a:pt x="137" y="687"/>
                    <a:pt x="137" y="687"/>
                    <a:pt x="137" y="687"/>
                  </a:cubicBezTo>
                  <a:cubicBezTo>
                    <a:pt x="137" y="749"/>
                    <a:pt x="182" y="791"/>
                    <a:pt x="243" y="791"/>
                  </a:cubicBezTo>
                  <a:cubicBezTo>
                    <a:pt x="279" y="791"/>
                    <a:pt x="306" y="777"/>
                    <a:pt x="325" y="754"/>
                  </a:cubicBezTo>
                  <a:cubicBezTo>
                    <a:pt x="292" y="725"/>
                    <a:pt x="292" y="725"/>
                    <a:pt x="292" y="725"/>
                  </a:cubicBezTo>
                  <a:cubicBezTo>
                    <a:pt x="277" y="739"/>
                    <a:pt x="263" y="745"/>
                    <a:pt x="243" y="745"/>
                  </a:cubicBezTo>
                  <a:cubicBezTo>
                    <a:pt x="218" y="745"/>
                    <a:pt x="200" y="732"/>
                    <a:pt x="194" y="706"/>
                  </a:cubicBezTo>
                  <a:cubicBezTo>
                    <a:pt x="335" y="706"/>
                    <a:pt x="335" y="706"/>
                    <a:pt x="335" y="706"/>
                  </a:cubicBezTo>
                  <a:cubicBezTo>
                    <a:pt x="335" y="701"/>
                    <a:pt x="335" y="695"/>
                    <a:pt x="335" y="691"/>
                  </a:cubicBezTo>
                  <a:cubicBezTo>
                    <a:pt x="335" y="634"/>
                    <a:pt x="304" y="581"/>
                    <a:pt x="237" y="581"/>
                  </a:cubicBezTo>
                  <a:close/>
                  <a:moveTo>
                    <a:pt x="193" y="670"/>
                  </a:moveTo>
                  <a:cubicBezTo>
                    <a:pt x="198" y="644"/>
                    <a:pt x="213" y="627"/>
                    <a:pt x="237" y="627"/>
                  </a:cubicBezTo>
                  <a:cubicBezTo>
                    <a:pt x="261" y="627"/>
                    <a:pt x="276" y="644"/>
                    <a:pt x="280" y="670"/>
                  </a:cubicBezTo>
                  <a:lnTo>
                    <a:pt x="193" y="670"/>
                  </a:lnTo>
                  <a:close/>
                  <a:moveTo>
                    <a:pt x="452" y="742"/>
                  </a:moveTo>
                  <a:cubicBezTo>
                    <a:pt x="421" y="742"/>
                    <a:pt x="401" y="717"/>
                    <a:pt x="401" y="686"/>
                  </a:cubicBezTo>
                  <a:cubicBezTo>
                    <a:pt x="401" y="686"/>
                    <a:pt x="401" y="686"/>
                    <a:pt x="401" y="686"/>
                  </a:cubicBezTo>
                  <a:cubicBezTo>
                    <a:pt x="401" y="656"/>
                    <a:pt x="421" y="631"/>
                    <a:pt x="450" y="631"/>
                  </a:cubicBezTo>
                  <a:cubicBezTo>
                    <a:pt x="470" y="631"/>
                    <a:pt x="483" y="639"/>
                    <a:pt x="496" y="653"/>
                  </a:cubicBezTo>
                  <a:cubicBezTo>
                    <a:pt x="531" y="615"/>
                    <a:pt x="531" y="615"/>
                    <a:pt x="531" y="615"/>
                  </a:cubicBezTo>
                  <a:cubicBezTo>
                    <a:pt x="512" y="594"/>
                    <a:pt x="488" y="581"/>
                    <a:pt x="450" y="581"/>
                  </a:cubicBezTo>
                  <a:cubicBezTo>
                    <a:pt x="388" y="581"/>
                    <a:pt x="344" y="629"/>
                    <a:pt x="344" y="686"/>
                  </a:cubicBezTo>
                  <a:cubicBezTo>
                    <a:pt x="344" y="687"/>
                    <a:pt x="344" y="687"/>
                    <a:pt x="344" y="687"/>
                  </a:cubicBezTo>
                  <a:cubicBezTo>
                    <a:pt x="344" y="745"/>
                    <a:pt x="389" y="791"/>
                    <a:pt x="449" y="791"/>
                  </a:cubicBezTo>
                  <a:cubicBezTo>
                    <a:pt x="490" y="791"/>
                    <a:pt x="512" y="776"/>
                    <a:pt x="532" y="754"/>
                  </a:cubicBezTo>
                  <a:cubicBezTo>
                    <a:pt x="498" y="721"/>
                    <a:pt x="498" y="721"/>
                    <a:pt x="498" y="721"/>
                  </a:cubicBezTo>
                  <a:cubicBezTo>
                    <a:pt x="485" y="734"/>
                    <a:pt x="471" y="742"/>
                    <a:pt x="452" y="742"/>
                  </a:cubicBezTo>
                  <a:close/>
                  <a:moveTo>
                    <a:pt x="657" y="581"/>
                  </a:moveTo>
                  <a:cubicBezTo>
                    <a:pt x="628" y="581"/>
                    <a:pt x="611" y="597"/>
                    <a:pt x="598" y="614"/>
                  </a:cubicBezTo>
                  <a:cubicBezTo>
                    <a:pt x="598" y="512"/>
                    <a:pt x="598" y="512"/>
                    <a:pt x="598" y="512"/>
                  </a:cubicBezTo>
                  <a:cubicBezTo>
                    <a:pt x="541" y="512"/>
                    <a:pt x="541" y="512"/>
                    <a:pt x="541" y="512"/>
                  </a:cubicBezTo>
                  <a:cubicBezTo>
                    <a:pt x="541" y="787"/>
                    <a:pt x="541" y="787"/>
                    <a:pt x="541" y="787"/>
                  </a:cubicBezTo>
                  <a:cubicBezTo>
                    <a:pt x="598" y="787"/>
                    <a:pt x="598" y="787"/>
                    <a:pt x="598" y="787"/>
                  </a:cubicBezTo>
                  <a:cubicBezTo>
                    <a:pt x="598" y="674"/>
                    <a:pt x="598" y="674"/>
                    <a:pt x="598" y="674"/>
                  </a:cubicBezTo>
                  <a:cubicBezTo>
                    <a:pt x="598" y="647"/>
                    <a:pt x="612" y="633"/>
                    <a:pt x="634" y="633"/>
                  </a:cubicBezTo>
                  <a:cubicBezTo>
                    <a:pt x="656" y="633"/>
                    <a:pt x="669" y="647"/>
                    <a:pt x="669" y="674"/>
                  </a:cubicBezTo>
                  <a:cubicBezTo>
                    <a:pt x="669" y="787"/>
                    <a:pt x="669" y="787"/>
                    <a:pt x="669" y="787"/>
                  </a:cubicBezTo>
                  <a:cubicBezTo>
                    <a:pt x="726" y="787"/>
                    <a:pt x="726" y="787"/>
                    <a:pt x="726" y="787"/>
                  </a:cubicBezTo>
                  <a:cubicBezTo>
                    <a:pt x="726" y="656"/>
                    <a:pt x="726" y="656"/>
                    <a:pt x="726" y="656"/>
                  </a:cubicBezTo>
                  <a:cubicBezTo>
                    <a:pt x="726" y="610"/>
                    <a:pt x="701" y="581"/>
                    <a:pt x="657" y="581"/>
                  </a:cubicBezTo>
                  <a:close/>
                  <a:moveTo>
                    <a:pt x="857" y="581"/>
                  </a:moveTo>
                  <a:cubicBezTo>
                    <a:pt x="828" y="581"/>
                    <a:pt x="811" y="597"/>
                    <a:pt x="798" y="614"/>
                  </a:cubicBezTo>
                  <a:cubicBezTo>
                    <a:pt x="798" y="585"/>
                    <a:pt x="798" y="585"/>
                    <a:pt x="798" y="585"/>
                  </a:cubicBezTo>
                  <a:cubicBezTo>
                    <a:pt x="740" y="585"/>
                    <a:pt x="740" y="585"/>
                    <a:pt x="740" y="585"/>
                  </a:cubicBezTo>
                  <a:cubicBezTo>
                    <a:pt x="740" y="787"/>
                    <a:pt x="740" y="787"/>
                    <a:pt x="740" y="787"/>
                  </a:cubicBezTo>
                  <a:cubicBezTo>
                    <a:pt x="798" y="787"/>
                    <a:pt x="798" y="787"/>
                    <a:pt x="798" y="787"/>
                  </a:cubicBezTo>
                  <a:cubicBezTo>
                    <a:pt x="798" y="674"/>
                    <a:pt x="798" y="674"/>
                    <a:pt x="798" y="674"/>
                  </a:cubicBezTo>
                  <a:cubicBezTo>
                    <a:pt x="798" y="647"/>
                    <a:pt x="812" y="633"/>
                    <a:pt x="833" y="633"/>
                  </a:cubicBezTo>
                  <a:cubicBezTo>
                    <a:pt x="855" y="633"/>
                    <a:pt x="868" y="647"/>
                    <a:pt x="868" y="674"/>
                  </a:cubicBezTo>
                  <a:cubicBezTo>
                    <a:pt x="868" y="787"/>
                    <a:pt x="868" y="787"/>
                    <a:pt x="868" y="787"/>
                  </a:cubicBezTo>
                  <a:cubicBezTo>
                    <a:pt x="925" y="787"/>
                    <a:pt x="925" y="787"/>
                    <a:pt x="925" y="787"/>
                  </a:cubicBezTo>
                  <a:cubicBezTo>
                    <a:pt x="925" y="656"/>
                    <a:pt x="925" y="656"/>
                    <a:pt x="925" y="656"/>
                  </a:cubicBezTo>
                  <a:cubicBezTo>
                    <a:pt x="925" y="610"/>
                    <a:pt x="900" y="581"/>
                    <a:pt x="857" y="581"/>
                  </a:cubicBezTo>
                  <a:close/>
                  <a:moveTo>
                    <a:pt x="1155" y="686"/>
                  </a:moveTo>
                  <a:cubicBezTo>
                    <a:pt x="1155" y="686"/>
                    <a:pt x="1155" y="686"/>
                    <a:pt x="1155" y="686"/>
                  </a:cubicBezTo>
                  <a:cubicBezTo>
                    <a:pt x="1155" y="628"/>
                    <a:pt x="1109" y="581"/>
                    <a:pt x="1047" y="581"/>
                  </a:cubicBezTo>
                  <a:cubicBezTo>
                    <a:pt x="984" y="581"/>
                    <a:pt x="937" y="628"/>
                    <a:pt x="937" y="686"/>
                  </a:cubicBezTo>
                  <a:cubicBezTo>
                    <a:pt x="937" y="687"/>
                    <a:pt x="937" y="687"/>
                    <a:pt x="937" y="687"/>
                  </a:cubicBezTo>
                  <a:cubicBezTo>
                    <a:pt x="937" y="745"/>
                    <a:pt x="983" y="791"/>
                    <a:pt x="1046" y="791"/>
                  </a:cubicBezTo>
                  <a:cubicBezTo>
                    <a:pt x="1109" y="791"/>
                    <a:pt x="1155" y="744"/>
                    <a:pt x="1155" y="686"/>
                  </a:cubicBezTo>
                  <a:close/>
                  <a:moveTo>
                    <a:pt x="993" y="686"/>
                  </a:moveTo>
                  <a:cubicBezTo>
                    <a:pt x="993" y="686"/>
                    <a:pt x="993" y="686"/>
                    <a:pt x="993" y="686"/>
                  </a:cubicBezTo>
                  <a:cubicBezTo>
                    <a:pt x="993" y="656"/>
                    <a:pt x="1013" y="631"/>
                    <a:pt x="1046" y="631"/>
                  </a:cubicBezTo>
                  <a:cubicBezTo>
                    <a:pt x="1077" y="631"/>
                    <a:pt x="1099" y="657"/>
                    <a:pt x="1099" y="686"/>
                  </a:cubicBezTo>
                  <a:cubicBezTo>
                    <a:pt x="1099" y="687"/>
                    <a:pt x="1099" y="687"/>
                    <a:pt x="1099" y="687"/>
                  </a:cubicBezTo>
                  <a:cubicBezTo>
                    <a:pt x="1099" y="717"/>
                    <a:pt x="1079" y="742"/>
                    <a:pt x="1047" y="742"/>
                  </a:cubicBezTo>
                  <a:cubicBezTo>
                    <a:pt x="1015" y="742"/>
                    <a:pt x="993" y="716"/>
                    <a:pt x="993" y="686"/>
                  </a:cubicBezTo>
                  <a:close/>
                  <a:moveTo>
                    <a:pt x="1167" y="787"/>
                  </a:moveTo>
                  <a:cubicBezTo>
                    <a:pt x="1224" y="787"/>
                    <a:pt x="1224" y="787"/>
                    <a:pt x="1224" y="787"/>
                  </a:cubicBezTo>
                  <a:cubicBezTo>
                    <a:pt x="1224" y="512"/>
                    <a:pt x="1224" y="512"/>
                    <a:pt x="1224" y="512"/>
                  </a:cubicBezTo>
                  <a:cubicBezTo>
                    <a:pt x="1167" y="512"/>
                    <a:pt x="1167" y="512"/>
                    <a:pt x="1167" y="512"/>
                  </a:cubicBezTo>
                  <a:lnTo>
                    <a:pt x="1167" y="787"/>
                  </a:lnTo>
                  <a:close/>
                  <a:moveTo>
                    <a:pt x="1345" y="581"/>
                  </a:moveTo>
                  <a:cubicBezTo>
                    <a:pt x="1282" y="581"/>
                    <a:pt x="1235" y="628"/>
                    <a:pt x="1235" y="686"/>
                  </a:cubicBezTo>
                  <a:cubicBezTo>
                    <a:pt x="1235" y="687"/>
                    <a:pt x="1235" y="687"/>
                    <a:pt x="1235" y="687"/>
                  </a:cubicBezTo>
                  <a:cubicBezTo>
                    <a:pt x="1235" y="745"/>
                    <a:pt x="1281" y="791"/>
                    <a:pt x="1344" y="791"/>
                  </a:cubicBezTo>
                  <a:cubicBezTo>
                    <a:pt x="1407" y="791"/>
                    <a:pt x="1453" y="744"/>
                    <a:pt x="1453" y="686"/>
                  </a:cubicBezTo>
                  <a:cubicBezTo>
                    <a:pt x="1453" y="686"/>
                    <a:pt x="1453" y="686"/>
                    <a:pt x="1453" y="686"/>
                  </a:cubicBezTo>
                  <a:cubicBezTo>
                    <a:pt x="1453" y="628"/>
                    <a:pt x="1407" y="581"/>
                    <a:pt x="1345" y="581"/>
                  </a:cubicBezTo>
                  <a:close/>
                  <a:moveTo>
                    <a:pt x="1397" y="687"/>
                  </a:moveTo>
                  <a:cubicBezTo>
                    <a:pt x="1397" y="717"/>
                    <a:pt x="1377" y="742"/>
                    <a:pt x="1345" y="742"/>
                  </a:cubicBezTo>
                  <a:cubicBezTo>
                    <a:pt x="1313" y="742"/>
                    <a:pt x="1292" y="716"/>
                    <a:pt x="1292" y="686"/>
                  </a:cubicBezTo>
                  <a:cubicBezTo>
                    <a:pt x="1292" y="686"/>
                    <a:pt x="1292" y="686"/>
                    <a:pt x="1292" y="686"/>
                  </a:cubicBezTo>
                  <a:cubicBezTo>
                    <a:pt x="1292" y="656"/>
                    <a:pt x="1311" y="631"/>
                    <a:pt x="1344" y="631"/>
                  </a:cubicBezTo>
                  <a:cubicBezTo>
                    <a:pt x="1375" y="631"/>
                    <a:pt x="1397" y="657"/>
                    <a:pt x="1397" y="686"/>
                  </a:cubicBezTo>
                  <a:lnTo>
                    <a:pt x="1397" y="687"/>
                  </a:lnTo>
                  <a:close/>
                  <a:moveTo>
                    <a:pt x="1560" y="802"/>
                  </a:moveTo>
                  <a:cubicBezTo>
                    <a:pt x="1533" y="802"/>
                    <a:pt x="1513" y="795"/>
                    <a:pt x="1492" y="784"/>
                  </a:cubicBezTo>
                  <a:cubicBezTo>
                    <a:pt x="1472" y="827"/>
                    <a:pt x="1472" y="827"/>
                    <a:pt x="1472" y="827"/>
                  </a:cubicBezTo>
                  <a:cubicBezTo>
                    <a:pt x="1498" y="840"/>
                    <a:pt x="1529" y="848"/>
                    <a:pt x="1562" y="848"/>
                  </a:cubicBezTo>
                  <a:cubicBezTo>
                    <a:pt x="1601" y="848"/>
                    <a:pt x="1630" y="840"/>
                    <a:pt x="1649" y="821"/>
                  </a:cubicBezTo>
                  <a:cubicBezTo>
                    <a:pt x="1666" y="804"/>
                    <a:pt x="1674" y="777"/>
                    <a:pt x="1674" y="741"/>
                  </a:cubicBezTo>
                  <a:cubicBezTo>
                    <a:pt x="1674" y="585"/>
                    <a:pt x="1674" y="585"/>
                    <a:pt x="1674" y="585"/>
                  </a:cubicBezTo>
                  <a:cubicBezTo>
                    <a:pt x="1617" y="585"/>
                    <a:pt x="1617" y="585"/>
                    <a:pt x="1617" y="585"/>
                  </a:cubicBezTo>
                  <a:cubicBezTo>
                    <a:pt x="1617" y="611"/>
                    <a:pt x="1617" y="611"/>
                    <a:pt x="1617" y="611"/>
                  </a:cubicBezTo>
                  <a:cubicBezTo>
                    <a:pt x="1602" y="594"/>
                    <a:pt x="1583" y="581"/>
                    <a:pt x="1552" y="581"/>
                  </a:cubicBezTo>
                  <a:cubicBezTo>
                    <a:pt x="1505" y="581"/>
                    <a:pt x="1462" y="615"/>
                    <a:pt x="1462" y="675"/>
                  </a:cubicBezTo>
                  <a:cubicBezTo>
                    <a:pt x="1462" y="676"/>
                    <a:pt x="1462" y="676"/>
                    <a:pt x="1462" y="676"/>
                  </a:cubicBezTo>
                  <a:cubicBezTo>
                    <a:pt x="1462" y="736"/>
                    <a:pt x="1505" y="770"/>
                    <a:pt x="1552" y="770"/>
                  </a:cubicBezTo>
                  <a:cubicBezTo>
                    <a:pt x="1582" y="770"/>
                    <a:pt x="1601" y="758"/>
                    <a:pt x="1618" y="737"/>
                  </a:cubicBezTo>
                  <a:cubicBezTo>
                    <a:pt x="1618" y="747"/>
                    <a:pt x="1618" y="747"/>
                    <a:pt x="1618" y="747"/>
                  </a:cubicBezTo>
                  <a:cubicBezTo>
                    <a:pt x="1618" y="783"/>
                    <a:pt x="1599" y="802"/>
                    <a:pt x="1560" y="802"/>
                  </a:cubicBezTo>
                  <a:close/>
                  <a:moveTo>
                    <a:pt x="1568" y="723"/>
                  </a:moveTo>
                  <a:cubicBezTo>
                    <a:pt x="1541" y="723"/>
                    <a:pt x="1519" y="704"/>
                    <a:pt x="1519" y="676"/>
                  </a:cubicBezTo>
                  <a:cubicBezTo>
                    <a:pt x="1519" y="675"/>
                    <a:pt x="1519" y="675"/>
                    <a:pt x="1519" y="675"/>
                  </a:cubicBezTo>
                  <a:cubicBezTo>
                    <a:pt x="1519" y="648"/>
                    <a:pt x="1541" y="629"/>
                    <a:pt x="1568" y="629"/>
                  </a:cubicBezTo>
                  <a:cubicBezTo>
                    <a:pt x="1596" y="629"/>
                    <a:pt x="1618" y="648"/>
                    <a:pt x="1618" y="675"/>
                  </a:cubicBezTo>
                  <a:cubicBezTo>
                    <a:pt x="1618" y="676"/>
                    <a:pt x="1618" y="676"/>
                    <a:pt x="1618" y="676"/>
                  </a:cubicBezTo>
                  <a:cubicBezTo>
                    <a:pt x="1618" y="704"/>
                    <a:pt x="1596" y="723"/>
                    <a:pt x="1568" y="723"/>
                  </a:cubicBezTo>
                  <a:close/>
                  <a:moveTo>
                    <a:pt x="1790" y="722"/>
                  </a:moveTo>
                  <a:cubicBezTo>
                    <a:pt x="1744" y="585"/>
                    <a:pt x="1744" y="585"/>
                    <a:pt x="1744" y="585"/>
                  </a:cubicBezTo>
                  <a:cubicBezTo>
                    <a:pt x="1684" y="585"/>
                    <a:pt x="1684" y="585"/>
                    <a:pt x="1684" y="585"/>
                  </a:cubicBezTo>
                  <a:cubicBezTo>
                    <a:pt x="1763" y="788"/>
                    <a:pt x="1763" y="788"/>
                    <a:pt x="1763" y="788"/>
                  </a:cubicBezTo>
                  <a:cubicBezTo>
                    <a:pt x="1758" y="798"/>
                    <a:pt x="1753" y="801"/>
                    <a:pt x="1743" y="801"/>
                  </a:cubicBezTo>
                  <a:cubicBezTo>
                    <a:pt x="1735" y="801"/>
                    <a:pt x="1726" y="797"/>
                    <a:pt x="1718" y="793"/>
                  </a:cubicBezTo>
                  <a:cubicBezTo>
                    <a:pt x="1699" y="834"/>
                    <a:pt x="1699" y="834"/>
                    <a:pt x="1699" y="834"/>
                  </a:cubicBezTo>
                  <a:cubicBezTo>
                    <a:pt x="1714" y="843"/>
                    <a:pt x="1729" y="848"/>
                    <a:pt x="1750" y="848"/>
                  </a:cubicBezTo>
                  <a:cubicBezTo>
                    <a:pt x="1784" y="848"/>
                    <a:pt x="1801" y="833"/>
                    <a:pt x="1816" y="792"/>
                  </a:cubicBezTo>
                  <a:cubicBezTo>
                    <a:pt x="1894" y="585"/>
                    <a:pt x="1894" y="585"/>
                    <a:pt x="1894" y="585"/>
                  </a:cubicBezTo>
                  <a:cubicBezTo>
                    <a:pt x="1834" y="585"/>
                    <a:pt x="1834" y="585"/>
                    <a:pt x="1834" y="585"/>
                  </a:cubicBezTo>
                  <a:lnTo>
                    <a:pt x="1790" y="722"/>
                  </a:lnTo>
                  <a:close/>
                  <a:moveTo>
                    <a:pt x="1101" y="965"/>
                  </a:moveTo>
                  <a:cubicBezTo>
                    <a:pt x="1054" y="965"/>
                    <a:pt x="1054" y="965"/>
                    <a:pt x="1054" y="965"/>
                  </a:cubicBezTo>
                  <a:cubicBezTo>
                    <a:pt x="1054" y="957"/>
                    <a:pt x="1054" y="957"/>
                    <a:pt x="1054" y="957"/>
                  </a:cubicBezTo>
                  <a:cubicBezTo>
                    <a:pt x="1054" y="942"/>
                    <a:pt x="1062" y="935"/>
                    <a:pt x="1075" y="935"/>
                  </a:cubicBezTo>
                  <a:cubicBezTo>
                    <a:pt x="1085" y="935"/>
                    <a:pt x="1093" y="937"/>
                    <a:pt x="1101" y="940"/>
                  </a:cubicBezTo>
                  <a:cubicBezTo>
                    <a:pt x="1101" y="893"/>
                    <a:pt x="1101" y="893"/>
                    <a:pt x="1101" y="893"/>
                  </a:cubicBezTo>
                  <a:cubicBezTo>
                    <a:pt x="1091" y="889"/>
                    <a:pt x="1078" y="887"/>
                    <a:pt x="1060" y="887"/>
                  </a:cubicBezTo>
                  <a:cubicBezTo>
                    <a:pt x="1040" y="887"/>
                    <a:pt x="1025" y="892"/>
                    <a:pt x="1014" y="903"/>
                  </a:cubicBezTo>
                  <a:cubicBezTo>
                    <a:pt x="1004" y="914"/>
                    <a:pt x="998" y="930"/>
                    <a:pt x="998" y="952"/>
                  </a:cubicBezTo>
                  <a:cubicBezTo>
                    <a:pt x="998" y="965"/>
                    <a:pt x="998" y="965"/>
                    <a:pt x="998" y="965"/>
                  </a:cubicBezTo>
                  <a:cubicBezTo>
                    <a:pt x="974" y="965"/>
                    <a:pt x="974" y="965"/>
                    <a:pt x="974" y="965"/>
                  </a:cubicBezTo>
                  <a:cubicBezTo>
                    <a:pt x="974" y="1012"/>
                    <a:pt x="974" y="1012"/>
                    <a:pt x="974" y="1012"/>
                  </a:cubicBezTo>
                  <a:cubicBezTo>
                    <a:pt x="998" y="1012"/>
                    <a:pt x="998" y="1012"/>
                    <a:pt x="998" y="1012"/>
                  </a:cubicBezTo>
                  <a:cubicBezTo>
                    <a:pt x="998" y="1165"/>
                    <a:pt x="998" y="1165"/>
                    <a:pt x="998" y="1165"/>
                  </a:cubicBezTo>
                  <a:cubicBezTo>
                    <a:pt x="1055" y="1165"/>
                    <a:pt x="1055" y="1165"/>
                    <a:pt x="1055" y="1165"/>
                  </a:cubicBezTo>
                  <a:cubicBezTo>
                    <a:pt x="1055" y="1012"/>
                    <a:pt x="1055" y="1012"/>
                    <a:pt x="1055" y="1012"/>
                  </a:cubicBezTo>
                  <a:cubicBezTo>
                    <a:pt x="1101" y="1012"/>
                    <a:pt x="1101" y="1012"/>
                    <a:pt x="1101" y="1012"/>
                  </a:cubicBezTo>
                  <a:lnTo>
                    <a:pt x="1101" y="965"/>
                  </a:lnTo>
                  <a:close/>
                  <a:moveTo>
                    <a:pt x="1209" y="959"/>
                  </a:moveTo>
                  <a:cubicBezTo>
                    <a:pt x="1147" y="959"/>
                    <a:pt x="1100" y="1006"/>
                    <a:pt x="1100" y="1064"/>
                  </a:cubicBezTo>
                  <a:cubicBezTo>
                    <a:pt x="1100" y="1065"/>
                    <a:pt x="1100" y="1065"/>
                    <a:pt x="1100" y="1065"/>
                  </a:cubicBezTo>
                  <a:cubicBezTo>
                    <a:pt x="1100" y="1123"/>
                    <a:pt x="1146" y="1169"/>
                    <a:pt x="1209" y="1169"/>
                  </a:cubicBezTo>
                  <a:cubicBezTo>
                    <a:pt x="1272" y="1169"/>
                    <a:pt x="1318" y="1122"/>
                    <a:pt x="1318" y="1064"/>
                  </a:cubicBezTo>
                  <a:cubicBezTo>
                    <a:pt x="1318" y="1063"/>
                    <a:pt x="1318" y="1063"/>
                    <a:pt x="1318" y="1063"/>
                  </a:cubicBezTo>
                  <a:cubicBezTo>
                    <a:pt x="1318" y="1005"/>
                    <a:pt x="1272" y="959"/>
                    <a:pt x="1209" y="959"/>
                  </a:cubicBezTo>
                  <a:close/>
                  <a:moveTo>
                    <a:pt x="1262" y="1065"/>
                  </a:moveTo>
                  <a:cubicBezTo>
                    <a:pt x="1262" y="1095"/>
                    <a:pt x="1242" y="1120"/>
                    <a:pt x="1209" y="1120"/>
                  </a:cubicBezTo>
                  <a:cubicBezTo>
                    <a:pt x="1178" y="1120"/>
                    <a:pt x="1156" y="1094"/>
                    <a:pt x="1156" y="1064"/>
                  </a:cubicBezTo>
                  <a:cubicBezTo>
                    <a:pt x="1156" y="1063"/>
                    <a:pt x="1156" y="1063"/>
                    <a:pt x="1156" y="1063"/>
                  </a:cubicBezTo>
                  <a:cubicBezTo>
                    <a:pt x="1156" y="1034"/>
                    <a:pt x="1176" y="1008"/>
                    <a:pt x="1209" y="1008"/>
                  </a:cubicBezTo>
                  <a:cubicBezTo>
                    <a:pt x="1240" y="1008"/>
                    <a:pt x="1262" y="1034"/>
                    <a:pt x="1262" y="1064"/>
                  </a:cubicBezTo>
                  <a:lnTo>
                    <a:pt x="1262" y="1065"/>
                  </a:lnTo>
                  <a:close/>
                  <a:moveTo>
                    <a:pt x="1389" y="1004"/>
                  </a:moveTo>
                  <a:cubicBezTo>
                    <a:pt x="1389" y="963"/>
                    <a:pt x="1389" y="963"/>
                    <a:pt x="1389" y="963"/>
                  </a:cubicBezTo>
                  <a:cubicBezTo>
                    <a:pt x="1332" y="963"/>
                    <a:pt x="1332" y="963"/>
                    <a:pt x="1332" y="963"/>
                  </a:cubicBezTo>
                  <a:cubicBezTo>
                    <a:pt x="1332" y="1165"/>
                    <a:pt x="1332" y="1165"/>
                    <a:pt x="1332" y="1165"/>
                  </a:cubicBezTo>
                  <a:cubicBezTo>
                    <a:pt x="1389" y="1165"/>
                    <a:pt x="1389" y="1165"/>
                    <a:pt x="1389" y="1165"/>
                  </a:cubicBezTo>
                  <a:cubicBezTo>
                    <a:pt x="1389" y="1090"/>
                    <a:pt x="1389" y="1090"/>
                    <a:pt x="1389" y="1090"/>
                  </a:cubicBezTo>
                  <a:cubicBezTo>
                    <a:pt x="1389" y="1042"/>
                    <a:pt x="1412" y="1019"/>
                    <a:pt x="1450" y="1019"/>
                  </a:cubicBezTo>
                  <a:cubicBezTo>
                    <a:pt x="1453" y="1019"/>
                    <a:pt x="1453" y="1019"/>
                    <a:pt x="1453" y="1019"/>
                  </a:cubicBezTo>
                  <a:cubicBezTo>
                    <a:pt x="1453" y="959"/>
                    <a:pt x="1453" y="959"/>
                    <a:pt x="1453" y="959"/>
                  </a:cubicBezTo>
                  <a:cubicBezTo>
                    <a:pt x="1419" y="958"/>
                    <a:pt x="1400" y="976"/>
                    <a:pt x="1389" y="1004"/>
                  </a:cubicBezTo>
                  <a:close/>
                  <a:moveTo>
                    <a:pt x="1622" y="961"/>
                  </a:moveTo>
                  <a:cubicBezTo>
                    <a:pt x="1588" y="961"/>
                    <a:pt x="1566" y="967"/>
                    <a:pt x="1544" y="977"/>
                  </a:cubicBezTo>
                  <a:cubicBezTo>
                    <a:pt x="1558" y="1020"/>
                    <a:pt x="1558" y="1020"/>
                    <a:pt x="1558" y="1020"/>
                  </a:cubicBezTo>
                  <a:cubicBezTo>
                    <a:pt x="1576" y="1014"/>
                    <a:pt x="1592" y="1010"/>
                    <a:pt x="1614" y="1010"/>
                  </a:cubicBezTo>
                  <a:cubicBezTo>
                    <a:pt x="1642" y="1010"/>
                    <a:pt x="1657" y="1023"/>
                    <a:pt x="1657" y="1046"/>
                  </a:cubicBezTo>
                  <a:cubicBezTo>
                    <a:pt x="1657" y="1050"/>
                    <a:pt x="1657" y="1050"/>
                    <a:pt x="1657" y="1050"/>
                  </a:cubicBezTo>
                  <a:cubicBezTo>
                    <a:pt x="1643" y="1045"/>
                    <a:pt x="1628" y="1042"/>
                    <a:pt x="1608" y="1042"/>
                  </a:cubicBezTo>
                  <a:cubicBezTo>
                    <a:pt x="1560" y="1042"/>
                    <a:pt x="1526" y="1062"/>
                    <a:pt x="1526" y="1106"/>
                  </a:cubicBezTo>
                  <a:cubicBezTo>
                    <a:pt x="1526" y="1107"/>
                    <a:pt x="1526" y="1107"/>
                    <a:pt x="1526" y="1107"/>
                  </a:cubicBezTo>
                  <a:cubicBezTo>
                    <a:pt x="1526" y="1147"/>
                    <a:pt x="1558" y="1168"/>
                    <a:pt x="1596" y="1168"/>
                  </a:cubicBezTo>
                  <a:cubicBezTo>
                    <a:pt x="1624" y="1168"/>
                    <a:pt x="1643" y="1158"/>
                    <a:pt x="1657" y="1143"/>
                  </a:cubicBezTo>
                  <a:cubicBezTo>
                    <a:pt x="1657" y="1165"/>
                    <a:pt x="1657" y="1165"/>
                    <a:pt x="1657" y="1165"/>
                  </a:cubicBezTo>
                  <a:cubicBezTo>
                    <a:pt x="1712" y="1165"/>
                    <a:pt x="1712" y="1165"/>
                    <a:pt x="1712" y="1165"/>
                  </a:cubicBezTo>
                  <a:cubicBezTo>
                    <a:pt x="1712" y="1048"/>
                    <a:pt x="1712" y="1048"/>
                    <a:pt x="1712" y="1048"/>
                  </a:cubicBezTo>
                  <a:cubicBezTo>
                    <a:pt x="1712" y="1020"/>
                    <a:pt x="1705" y="998"/>
                    <a:pt x="1690" y="983"/>
                  </a:cubicBezTo>
                  <a:cubicBezTo>
                    <a:pt x="1676" y="969"/>
                    <a:pt x="1653" y="961"/>
                    <a:pt x="1622" y="961"/>
                  </a:cubicBezTo>
                  <a:close/>
                  <a:moveTo>
                    <a:pt x="1658" y="1094"/>
                  </a:moveTo>
                  <a:cubicBezTo>
                    <a:pt x="1658" y="1114"/>
                    <a:pt x="1640" y="1129"/>
                    <a:pt x="1613" y="1129"/>
                  </a:cubicBezTo>
                  <a:cubicBezTo>
                    <a:pt x="1595" y="1129"/>
                    <a:pt x="1582" y="1120"/>
                    <a:pt x="1582" y="1104"/>
                  </a:cubicBezTo>
                  <a:cubicBezTo>
                    <a:pt x="1582" y="1104"/>
                    <a:pt x="1582" y="1104"/>
                    <a:pt x="1582" y="1104"/>
                  </a:cubicBezTo>
                  <a:cubicBezTo>
                    <a:pt x="1582" y="1086"/>
                    <a:pt x="1597" y="1076"/>
                    <a:pt x="1621" y="1076"/>
                  </a:cubicBezTo>
                  <a:cubicBezTo>
                    <a:pt x="1635" y="1076"/>
                    <a:pt x="1648" y="1079"/>
                    <a:pt x="1658" y="1083"/>
                  </a:cubicBezTo>
                  <a:lnTo>
                    <a:pt x="1658" y="1094"/>
                  </a:lnTo>
                  <a:close/>
                  <a:moveTo>
                    <a:pt x="1736" y="1165"/>
                  </a:moveTo>
                  <a:cubicBezTo>
                    <a:pt x="1793" y="1165"/>
                    <a:pt x="1793" y="1165"/>
                    <a:pt x="1793" y="1165"/>
                  </a:cubicBezTo>
                  <a:cubicBezTo>
                    <a:pt x="1793" y="890"/>
                    <a:pt x="1793" y="890"/>
                    <a:pt x="1793" y="890"/>
                  </a:cubicBezTo>
                  <a:cubicBezTo>
                    <a:pt x="1736" y="890"/>
                    <a:pt x="1736" y="890"/>
                    <a:pt x="1736" y="890"/>
                  </a:cubicBezTo>
                  <a:lnTo>
                    <a:pt x="1736" y="1165"/>
                  </a:lnTo>
                  <a:close/>
                  <a:moveTo>
                    <a:pt x="1817" y="1165"/>
                  </a:moveTo>
                  <a:cubicBezTo>
                    <a:pt x="1874" y="1165"/>
                    <a:pt x="1874" y="1165"/>
                    <a:pt x="1874" y="1165"/>
                  </a:cubicBezTo>
                  <a:cubicBezTo>
                    <a:pt x="1874" y="890"/>
                    <a:pt x="1874" y="890"/>
                    <a:pt x="1874" y="890"/>
                  </a:cubicBezTo>
                  <a:cubicBezTo>
                    <a:pt x="1817" y="890"/>
                    <a:pt x="1817" y="890"/>
                    <a:pt x="1817" y="890"/>
                  </a:cubicBezTo>
                  <a:lnTo>
                    <a:pt x="1817" y="1165"/>
                  </a:lnTo>
                  <a:close/>
                  <a:moveTo>
                    <a:pt x="2086" y="0"/>
                  </a:moveTo>
                  <a:cubicBezTo>
                    <a:pt x="2086" y="1832"/>
                    <a:pt x="2086" y="1832"/>
                    <a:pt x="2086" y="1832"/>
                  </a:cubicBezTo>
                  <a:cubicBezTo>
                    <a:pt x="2697" y="1832"/>
                    <a:pt x="2697" y="1832"/>
                    <a:pt x="2697" y="1832"/>
                  </a:cubicBezTo>
                  <a:cubicBezTo>
                    <a:pt x="2697" y="0"/>
                    <a:pt x="2697" y="0"/>
                    <a:pt x="2697" y="0"/>
                  </a:cubicBezTo>
                  <a:lnTo>
                    <a:pt x="2086" y="0"/>
                  </a:lnTo>
                  <a:close/>
                </a:path>
              </a:pathLst>
            </a:custGeom>
            <a:gradFill flip="none" rotWithShape="1">
              <a:gsLst>
                <a:gs pos="37000">
                  <a:srgbClr val="F2A11F"/>
                </a:gs>
                <a:gs pos="56000">
                  <a:srgbClr val="EC5124"/>
                </a:gs>
                <a:gs pos="83000">
                  <a:srgbClr val="D32A27"/>
                </a:gs>
                <a:gs pos="100000">
                  <a:srgbClr val="7A425E"/>
                </a:gs>
              </a:gsLst>
              <a:lin ang="18900000" scaled="1"/>
              <a:tileRect/>
            </a:gradFill>
            <a:ln>
              <a:noFill/>
            </a:ln>
          </p:spPr>
          <p:txBody>
            <a:bodyPr vert="horz" wrap="square" lIns="91440" tIns="45720" rIns="91440" bIns="45720" numCol="1" anchor="t" anchorCtr="0" compatLnSpc="1">
              <a:prstTxWarp prst="textNoShape">
                <a:avLst/>
              </a:prstTxWarp>
            </a:bodyPr>
            <a:lstStyle/>
            <a:p>
              <a:endParaRPr lang="en-US" sz="1799"/>
            </a:p>
          </p:txBody>
        </p:sp>
        <p:grpSp>
          <p:nvGrpSpPr>
            <p:cNvPr id="107" name="Group 106">
              <a:extLst>
                <a:ext uri="{FF2B5EF4-FFF2-40B4-BE49-F238E27FC236}">
                  <a16:creationId xmlns:a16="http://schemas.microsoft.com/office/drawing/2014/main" id="{A6EECAC4-C77C-49AB-B254-48D8B0737DBE}"/>
                </a:ext>
              </a:extLst>
            </p:cNvPr>
            <p:cNvGrpSpPr/>
            <p:nvPr userDrawn="1"/>
          </p:nvGrpSpPr>
          <p:grpSpPr>
            <a:xfrm>
              <a:off x="11291887" y="1987551"/>
              <a:ext cx="590550" cy="2868613"/>
              <a:chOff x="11291887" y="1987551"/>
              <a:chExt cx="590550" cy="2868613"/>
            </a:xfrm>
          </p:grpSpPr>
          <p:sp>
            <p:nvSpPr>
              <p:cNvPr id="108" name="Freeform 6">
                <a:extLst>
                  <a:ext uri="{FF2B5EF4-FFF2-40B4-BE49-F238E27FC236}">
                    <a16:creationId xmlns:a16="http://schemas.microsoft.com/office/drawing/2014/main" id="{D00C9BBA-FC7E-4243-8134-0B959E4BB233}"/>
                  </a:ext>
                </a:extLst>
              </p:cNvPr>
              <p:cNvSpPr>
                <a:spLocks/>
              </p:cNvSpPr>
              <p:nvPr userDrawn="1"/>
            </p:nvSpPr>
            <p:spPr bwMode="auto">
              <a:xfrm>
                <a:off x="11418887" y="3471864"/>
                <a:ext cx="455612" cy="452438"/>
              </a:xfrm>
              <a:custGeom>
                <a:avLst/>
                <a:gdLst>
                  <a:gd name="T0" fmla="*/ 0 w 239"/>
                  <a:gd name="T1" fmla="*/ 96 h 237"/>
                  <a:gd name="T2" fmla="*/ 38 w 239"/>
                  <a:gd name="T3" fmla="*/ 173 h 237"/>
                  <a:gd name="T4" fmla="*/ 38 w 239"/>
                  <a:gd name="T5" fmla="*/ 173 h 237"/>
                  <a:gd name="T6" fmla="*/ 38 w 239"/>
                  <a:gd name="T7" fmla="*/ 173 h 237"/>
                  <a:gd name="T8" fmla="*/ 4 w 239"/>
                  <a:gd name="T9" fmla="*/ 173 h 237"/>
                  <a:gd name="T10" fmla="*/ 4 w 239"/>
                  <a:gd name="T11" fmla="*/ 237 h 237"/>
                  <a:gd name="T12" fmla="*/ 239 w 239"/>
                  <a:gd name="T13" fmla="*/ 237 h 237"/>
                  <a:gd name="T14" fmla="*/ 239 w 239"/>
                  <a:gd name="T15" fmla="*/ 173 h 237"/>
                  <a:gd name="T16" fmla="*/ 105 w 239"/>
                  <a:gd name="T17" fmla="*/ 173 h 237"/>
                  <a:gd name="T18" fmla="*/ 56 w 239"/>
                  <a:gd name="T19" fmla="*/ 119 h 237"/>
                  <a:gd name="T20" fmla="*/ 105 w 239"/>
                  <a:gd name="T21" fmla="*/ 65 h 237"/>
                  <a:gd name="T22" fmla="*/ 239 w 239"/>
                  <a:gd name="T23" fmla="*/ 65 h 237"/>
                  <a:gd name="T24" fmla="*/ 239 w 239"/>
                  <a:gd name="T25" fmla="*/ 0 h 237"/>
                  <a:gd name="T26" fmla="*/ 93 w 239"/>
                  <a:gd name="T27" fmla="*/ 0 h 237"/>
                  <a:gd name="T28" fmla="*/ 0 w 239"/>
                  <a:gd name="T29" fmla="*/ 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9" h="237">
                    <a:moveTo>
                      <a:pt x="0" y="96"/>
                    </a:moveTo>
                    <a:cubicBezTo>
                      <a:pt x="0" y="123"/>
                      <a:pt x="13" y="154"/>
                      <a:pt x="38" y="173"/>
                    </a:cubicBezTo>
                    <a:cubicBezTo>
                      <a:pt x="38" y="173"/>
                      <a:pt x="38" y="173"/>
                      <a:pt x="38" y="173"/>
                    </a:cubicBezTo>
                    <a:cubicBezTo>
                      <a:pt x="38" y="173"/>
                      <a:pt x="38" y="173"/>
                      <a:pt x="38" y="173"/>
                    </a:cubicBezTo>
                    <a:cubicBezTo>
                      <a:pt x="4" y="173"/>
                      <a:pt x="4" y="173"/>
                      <a:pt x="4" y="173"/>
                    </a:cubicBezTo>
                    <a:cubicBezTo>
                      <a:pt x="4" y="237"/>
                      <a:pt x="4" y="237"/>
                      <a:pt x="4" y="237"/>
                    </a:cubicBezTo>
                    <a:cubicBezTo>
                      <a:pt x="239" y="237"/>
                      <a:pt x="239" y="237"/>
                      <a:pt x="239" y="237"/>
                    </a:cubicBezTo>
                    <a:cubicBezTo>
                      <a:pt x="239" y="173"/>
                      <a:pt x="239" y="173"/>
                      <a:pt x="239" y="173"/>
                    </a:cubicBezTo>
                    <a:cubicBezTo>
                      <a:pt x="105" y="173"/>
                      <a:pt x="105" y="173"/>
                      <a:pt x="105" y="173"/>
                    </a:cubicBezTo>
                    <a:cubicBezTo>
                      <a:pt x="81" y="173"/>
                      <a:pt x="56" y="154"/>
                      <a:pt x="56" y="119"/>
                    </a:cubicBezTo>
                    <a:cubicBezTo>
                      <a:pt x="56" y="93"/>
                      <a:pt x="74" y="65"/>
                      <a:pt x="105" y="65"/>
                    </a:cubicBezTo>
                    <a:cubicBezTo>
                      <a:pt x="239" y="65"/>
                      <a:pt x="239" y="65"/>
                      <a:pt x="239" y="65"/>
                    </a:cubicBezTo>
                    <a:cubicBezTo>
                      <a:pt x="239" y="0"/>
                      <a:pt x="239" y="0"/>
                      <a:pt x="239" y="0"/>
                    </a:cubicBezTo>
                    <a:cubicBezTo>
                      <a:pt x="93" y="0"/>
                      <a:pt x="93" y="0"/>
                      <a:pt x="93" y="0"/>
                    </a:cubicBezTo>
                    <a:cubicBezTo>
                      <a:pt x="39" y="0"/>
                      <a:pt x="0" y="39"/>
                      <a:pt x="0" y="9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9" name="Freeform 7">
                <a:extLst>
                  <a:ext uri="{FF2B5EF4-FFF2-40B4-BE49-F238E27FC236}">
                    <a16:creationId xmlns:a16="http://schemas.microsoft.com/office/drawing/2014/main" id="{F71F105A-138E-453C-A355-31EA2B0C8B87}"/>
                  </a:ext>
                </a:extLst>
              </p:cNvPr>
              <p:cNvSpPr>
                <a:spLocks/>
              </p:cNvSpPr>
              <p:nvPr userDrawn="1"/>
            </p:nvSpPr>
            <p:spPr bwMode="auto">
              <a:xfrm>
                <a:off x="11425237" y="2452689"/>
                <a:ext cx="449262" cy="506413"/>
              </a:xfrm>
              <a:custGeom>
                <a:avLst/>
                <a:gdLst>
                  <a:gd name="T0" fmla="*/ 0 w 283"/>
                  <a:gd name="T1" fmla="*/ 89 h 319"/>
                  <a:gd name="T2" fmla="*/ 193 w 283"/>
                  <a:gd name="T3" fmla="*/ 159 h 319"/>
                  <a:gd name="T4" fmla="*/ 0 w 283"/>
                  <a:gd name="T5" fmla="*/ 229 h 319"/>
                  <a:gd name="T6" fmla="*/ 0 w 283"/>
                  <a:gd name="T7" fmla="*/ 319 h 319"/>
                  <a:gd name="T8" fmla="*/ 283 w 283"/>
                  <a:gd name="T9" fmla="*/ 202 h 319"/>
                  <a:gd name="T10" fmla="*/ 283 w 283"/>
                  <a:gd name="T11" fmla="*/ 117 h 319"/>
                  <a:gd name="T12" fmla="*/ 0 w 283"/>
                  <a:gd name="T13" fmla="*/ 0 h 319"/>
                  <a:gd name="T14" fmla="*/ 0 w 283"/>
                  <a:gd name="T15" fmla="*/ 89 h 3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319">
                    <a:moveTo>
                      <a:pt x="0" y="89"/>
                    </a:moveTo>
                    <a:lnTo>
                      <a:pt x="193" y="159"/>
                    </a:lnTo>
                    <a:lnTo>
                      <a:pt x="0" y="229"/>
                    </a:lnTo>
                    <a:lnTo>
                      <a:pt x="0" y="319"/>
                    </a:lnTo>
                    <a:lnTo>
                      <a:pt x="283" y="202"/>
                    </a:lnTo>
                    <a:lnTo>
                      <a:pt x="283" y="117"/>
                    </a:lnTo>
                    <a:lnTo>
                      <a:pt x="0" y="0"/>
                    </a:lnTo>
                    <a:lnTo>
                      <a:pt x="0" y="8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10" name="Freeform 8">
                <a:extLst>
                  <a:ext uri="{FF2B5EF4-FFF2-40B4-BE49-F238E27FC236}">
                    <a16:creationId xmlns:a16="http://schemas.microsoft.com/office/drawing/2014/main" id="{49854997-23FD-4E3C-82E8-D973E90ABF35}"/>
                  </a:ext>
                </a:extLst>
              </p:cNvPr>
              <p:cNvSpPr>
                <a:spLocks noEditPoints="1"/>
              </p:cNvSpPr>
              <p:nvPr userDrawn="1"/>
            </p:nvSpPr>
            <p:spPr bwMode="auto">
              <a:xfrm>
                <a:off x="11418887" y="3968751"/>
                <a:ext cx="463550" cy="471488"/>
              </a:xfrm>
              <a:custGeom>
                <a:avLst/>
                <a:gdLst>
                  <a:gd name="T0" fmla="*/ 167 w 243"/>
                  <a:gd name="T1" fmla="*/ 46 h 246"/>
                  <a:gd name="T2" fmla="*/ 192 w 243"/>
                  <a:gd name="T3" fmla="*/ 113 h 246"/>
                  <a:gd name="T4" fmla="*/ 173 w 243"/>
                  <a:gd name="T5" fmla="*/ 165 h 246"/>
                  <a:gd name="T6" fmla="*/ 104 w 243"/>
                  <a:gd name="T7" fmla="*/ 0 h 246"/>
                  <a:gd name="T8" fmla="*/ 39 w 243"/>
                  <a:gd name="T9" fmla="*/ 28 h 246"/>
                  <a:gd name="T10" fmla="*/ 0 w 243"/>
                  <a:gd name="T11" fmla="*/ 121 h 246"/>
                  <a:gd name="T12" fmla="*/ 122 w 243"/>
                  <a:gd name="T13" fmla="*/ 246 h 246"/>
                  <a:gd name="T14" fmla="*/ 243 w 243"/>
                  <a:gd name="T15" fmla="*/ 114 h 246"/>
                  <a:gd name="T16" fmla="*/ 198 w 243"/>
                  <a:gd name="T17" fmla="*/ 5 h 246"/>
                  <a:gd name="T18" fmla="*/ 167 w 243"/>
                  <a:gd name="T19" fmla="*/ 46 h 246"/>
                  <a:gd name="T20" fmla="*/ 75 w 243"/>
                  <a:gd name="T21" fmla="*/ 170 h 246"/>
                  <a:gd name="T22" fmla="*/ 51 w 243"/>
                  <a:gd name="T23" fmla="*/ 120 h 246"/>
                  <a:gd name="T24" fmla="*/ 84 w 243"/>
                  <a:gd name="T25" fmla="*/ 70 h 246"/>
                  <a:gd name="T26" fmla="*/ 131 w 243"/>
                  <a:gd name="T27" fmla="*/ 183 h 246"/>
                  <a:gd name="T28" fmla="*/ 75 w 243"/>
                  <a:gd name="T29" fmla="*/ 17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3" h="246">
                    <a:moveTo>
                      <a:pt x="167" y="46"/>
                    </a:moveTo>
                    <a:cubicBezTo>
                      <a:pt x="187" y="73"/>
                      <a:pt x="192" y="88"/>
                      <a:pt x="192" y="113"/>
                    </a:cubicBezTo>
                    <a:cubicBezTo>
                      <a:pt x="192" y="135"/>
                      <a:pt x="185" y="153"/>
                      <a:pt x="173" y="165"/>
                    </a:cubicBezTo>
                    <a:cubicBezTo>
                      <a:pt x="104" y="0"/>
                      <a:pt x="104" y="0"/>
                      <a:pt x="104" y="0"/>
                    </a:cubicBezTo>
                    <a:cubicBezTo>
                      <a:pt x="79" y="4"/>
                      <a:pt x="56" y="14"/>
                      <a:pt x="39" y="28"/>
                    </a:cubicBezTo>
                    <a:cubicBezTo>
                      <a:pt x="13" y="50"/>
                      <a:pt x="0" y="82"/>
                      <a:pt x="0" y="121"/>
                    </a:cubicBezTo>
                    <a:cubicBezTo>
                      <a:pt x="0" y="192"/>
                      <a:pt x="52" y="246"/>
                      <a:pt x="122" y="246"/>
                    </a:cubicBezTo>
                    <a:cubicBezTo>
                      <a:pt x="193" y="246"/>
                      <a:pt x="243" y="192"/>
                      <a:pt x="243" y="114"/>
                    </a:cubicBezTo>
                    <a:cubicBezTo>
                      <a:pt x="243" y="70"/>
                      <a:pt x="222" y="26"/>
                      <a:pt x="198" y="5"/>
                    </a:cubicBezTo>
                    <a:lnTo>
                      <a:pt x="167" y="46"/>
                    </a:lnTo>
                    <a:close/>
                    <a:moveTo>
                      <a:pt x="75" y="170"/>
                    </a:moveTo>
                    <a:cubicBezTo>
                      <a:pt x="60" y="159"/>
                      <a:pt x="51" y="141"/>
                      <a:pt x="51" y="120"/>
                    </a:cubicBezTo>
                    <a:cubicBezTo>
                      <a:pt x="51" y="97"/>
                      <a:pt x="65" y="79"/>
                      <a:pt x="84" y="70"/>
                    </a:cubicBezTo>
                    <a:cubicBezTo>
                      <a:pt x="131" y="183"/>
                      <a:pt x="131" y="183"/>
                      <a:pt x="131" y="183"/>
                    </a:cubicBezTo>
                    <a:cubicBezTo>
                      <a:pt x="107" y="186"/>
                      <a:pt x="88" y="180"/>
                      <a:pt x="75"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11" name="Freeform 9">
                <a:extLst>
                  <a:ext uri="{FF2B5EF4-FFF2-40B4-BE49-F238E27FC236}">
                    <a16:creationId xmlns:a16="http://schemas.microsoft.com/office/drawing/2014/main" id="{DFC48EA1-BF0E-478F-9540-C906E2ADBE10}"/>
                  </a:ext>
                </a:extLst>
              </p:cNvPr>
              <p:cNvSpPr>
                <a:spLocks/>
              </p:cNvSpPr>
              <p:nvPr userDrawn="1"/>
            </p:nvSpPr>
            <p:spPr bwMode="auto">
              <a:xfrm>
                <a:off x="11291887" y="4451351"/>
                <a:ext cx="582612" cy="404813"/>
              </a:xfrm>
              <a:custGeom>
                <a:avLst/>
                <a:gdLst>
                  <a:gd name="T0" fmla="*/ 296 w 367"/>
                  <a:gd name="T1" fmla="*/ 0 h 255"/>
                  <a:gd name="T2" fmla="*/ 296 w 367"/>
                  <a:gd name="T3" fmla="*/ 177 h 255"/>
                  <a:gd name="T4" fmla="*/ 0 w 367"/>
                  <a:gd name="T5" fmla="*/ 177 h 255"/>
                  <a:gd name="T6" fmla="*/ 0 w 367"/>
                  <a:gd name="T7" fmla="*/ 255 h 255"/>
                  <a:gd name="T8" fmla="*/ 367 w 367"/>
                  <a:gd name="T9" fmla="*/ 255 h 255"/>
                  <a:gd name="T10" fmla="*/ 367 w 367"/>
                  <a:gd name="T11" fmla="*/ 0 h 255"/>
                  <a:gd name="T12" fmla="*/ 296 w 367"/>
                  <a:gd name="T13" fmla="*/ 0 h 255"/>
                </a:gdLst>
                <a:ahLst/>
                <a:cxnLst>
                  <a:cxn ang="0">
                    <a:pos x="T0" y="T1"/>
                  </a:cxn>
                  <a:cxn ang="0">
                    <a:pos x="T2" y="T3"/>
                  </a:cxn>
                  <a:cxn ang="0">
                    <a:pos x="T4" y="T5"/>
                  </a:cxn>
                  <a:cxn ang="0">
                    <a:pos x="T6" y="T7"/>
                  </a:cxn>
                  <a:cxn ang="0">
                    <a:pos x="T8" y="T9"/>
                  </a:cxn>
                  <a:cxn ang="0">
                    <a:pos x="T10" y="T11"/>
                  </a:cxn>
                  <a:cxn ang="0">
                    <a:pos x="T12" y="T13"/>
                  </a:cxn>
                </a:cxnLst>
                <a:rect l="0" t="0" r="r" b="b"/>
                <a:pathLst>
                  <a:path w="367" h="255">
                    <a:moveTo>
                      <a:pt x="296" y="0"/>
                    </a:moveTo>
                    <a:lnTo>
                      <a:pt x="296" y="177"/>
                    </a:lnTo>
                    <a:lnTo>
                      <a:pt x="0" y="177"/>
                    </a:lnTo>
                    <a:lnTo>
                      <a:pt x="0" y="255"/>
                    </a:lnTo>
                    <a:lnTo>
                      <a:pt x="367" y="255"/>
                    </a:lnTo>
                    <a:lnTo>
                      <a:pt x="367" y="0"/>
                    </a:lnTo>
                    <a:lnTo>
                      <a:pt x="2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12" name="Freeform 10">
                <a:extLst>
                  <a:ext uri="{FF2B5EF4-FFF2-40B4-BE49-F238E27FC236}">
                    <a16:creationId xmlns:a16="http://schemas.microsoft.com/office/drawing/2014/main" id="{66D58043-225E-4AF1-86C5-EAC10AA263B5}"/>
                  </a:ext>
                </a:extLst>
              </p:cNvPr>
              <p:cNvSpPr>
                <a:spLocks noEditPoints="1"/>
              </p:cNvSpPr>
              <p:nvPr userDrawn="1"/>
            </p:nvSpPr>
            <p:spPr bwMode="auto">
              <a:xfrm>
                <a:off x="11418887" y="1987551"/>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13" name="Freeform 11">
                <a:extLst>
                  <a:ext uri="{FF2B5EF4-FFF2-40B4-BE49-F238E27FC236}">
                    <a16:creationId xmlns:a16="http://schemas.microsoft.com/office/drawing/2014/main" id="{3EDD390D-BF7B-4689-9B90-0E8DC4C75E16}"/>
                  </a:ext>
                </a:extLst>
              </p:cNvPr>
              <p:cNvSpPr>
                <a:spLocks noEditPoints="1"/>
              </p:cNvSpPr>
              <p:nvPr userDrawn="1"/>
            </p:nvSpPr>
            <p:spPr bwMode="auto">
              <a:xfrm>
                <a:off x="11418887" y="2938464"/>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grpSp>
    </p:spTree>
    <p:extLst>
      <p:ext uri="{BB962C8B-B14F-4D97-AF65-F5344CB8AC3E}">
        <p14:creationId xmlns:p14="http://schemas.microsoft.com/office/powerpoint/2010/main" val="1483814821"/>
      </p:ext>
    </p:extLst>
  </p:cSld>
  <p:clrMapOvr>
    <a:masterClrMapping/>
  </p:clrMapOvr>
  <p:transition spd="med"/>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userDrawn="1">
  <p:cSld name="Section Header_KO1">
    <p:bg>
      <p:bgPr>
        <a:solidFill>
          <a:schemeClr val="tx1"/>
        </a:solidFill>
        <a:effectLst/>
      </p:bgPr>
    </p:bg>
    <p:spTree>
      <p:nvGrpSpPr>
        <p:cNvPr id="1" name=""/>
        <p:cNvGrpSpPr/>
        <p:nvPr/>
      </p:nvGrpSpPr>
      <p:grpSpPr>
        <a:xfrm>
          <a:off x="0" y="0"/>
          <a:ext cx="0" cy="0"/>
          <a:chOff x="0" y="0"/>
          <a:chExt cx="0" cy="0"/>
        </a:xfrm>
      </p:grpSpPr>
      <p:pic>
        <p:nvPicPr>
          <p:cNvPr id="4" name="圖片 3">
            <a:extLst>
              <a:ext uri="{FF2B5EF4-FFF2-40B4-BE49-F238E27FC236}">
                <a16:creationId xmlns:a16="http://schemas.microsoft.com/office/drawing/2014/main" id="{B91160EA-2565-5C4E-A8AC-934E5A0FA72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1" y="0"/>
            <a:ext cx="12188708" cy="6858000"/>
          </a:xfrm>
          <a:prstGeom prst="rect">
            <a:avLst/>
          </a:prstGeom>
        </p:spPr>
      </p:pic>
      <p:sp>
        <p:nvSpPr>
          <p:cNvPr id="23" name="Rectangle 15">
            <a:extLst>
              <a:ext uri="{FF2B5EF4-FFF2-40B4-BE49-F238E27FC236}">
                <a16:creationId xmlns:a16="http://schemas.microsoft.com/office/drawing/2014/main" id="{557AE5CC-D97B-8441-9DBD-855CE997C8AE}"/>
              </a:ext>
            </a:extLst>
          </p:cNvPr>
          <p:cNvSpPr/>
          <p:nvPr userDrawn="1"/>
        </p:nvSpPr>
        <p:spPr>
          <a:xfrm>
            <a:off x="2251" y="897"/>
            <a:ext cx="12192000" cy="6856213"/>
          </a:xfrm>
          <a:prstGeom prst="rect">
            <a:avLst/>
          </a:prstGeom>
          <a:gradFill>
            <a:gsLst>
              <a:gs pos="100000">
                <a:schemeClr val="bg2">
                  <a:alpha val="0"/>
                </a:schemeClr>
              </a:gs>
              <a:gs pos="8000">
                <a:schemeClr val="tx1">
                  <a:alpha val="47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grpSp>
        <p:nvGrpSpPr>
          <p:cNvPr id="17" name="Group 16"/>
          <p:cNvGrpSpPr/>
          <p:nvPr/>
        </p:nvGrpSpPr>
        <p:grpSpPr>
          <a:xfrm>
            <a:off x="8758816" y="3448226"/>
            <a:ext cx="3429893" cy="3429000"/>
            <a:chOff x="6728604" y="-1"/>
            <a:chExt cx="6728604" cy="6831181"/>
          </a:xfrm>
          <a:solidFill>
            <a:srgbClr val="4CC2E2">
              <a:alpha val="30000"/>
            </a:srgbClr>
          </a:solidFill>
        </p:grpSpPr>
        <p:sp>
          <p:nvSpPr>
            <p:cNvPr id="21" name="Freeform 5"/>
            <p:cNvSpPr>
              <a:spLocks/>
            </p:cNvSpPr>
            <p:nvPr/>
          </p:nvSpPr>
          <p:spPr bwMode="auto">
            <a:xfrm>
              <a:off x="6728604" y="-1"/>
              <a:ext cx="6728604" cy="6831181"/>
            </a:xfrm>
            <a:custGeom>
              <a:avLst/>
              <a:gdLst>
                <a:gd name="T0" fmla="*/ 328 w 328"/>
                <a:gd name="T1" fmla="*/ 333 h 333"/>
                <a:gd name="T2" fmla="*/ 328 w 328"/>
                <a:gd name="T3" fmla="*/ 333 h 333"/>
                <a:gd name="T4" fmla="*/ 328 w 328"/>
                <a:gd name="T5" fmla="*/ 0 h 333"/>
                <a:gd name="T6" fmla="*/ 0 w 328"/>
                <a:gd name="T7" fmla="*/ 0 h 333"/>
                <a:gd name="T8" fmla="*/ 0 w 328"/>
                <a:gd name="T9" fmla="*/ 0 h 333"/>
                <a:gd name="T10" fmla="*/ 328 w 328"/>
                <a:gd name="T11" fmla="*/ 333 h 333"/>
              </a:gdLst>
              <a:ahLst/>
              <a:cxnLst>
                <a:cxn ang="0">
                  <a:pos x="T0" y="T1"/>
                </a:cxn>
                <a:cxn ang="0">
                  <a:pos x="T2" y="T3"/>
                </a:cxn>
                <a:cxn ang="0">
                  <a:pos x="T4" y="T5"/>
                </a:cxn>
                <a:cxn ang="0">
                  <a:pos x="T6" y="T7"/>
                </a:cxn>
                <a:cxn ang="0">
                  <a:pos x="T8" y="T9"/>
                </a:cxn>
                <a:cxn ang="0">
                  <a:pos x="T10" y="T11"/>
                </a:cxn>
              </a:cxnLst>
              <a:rect l="0" t="0" r="r" b="b"/>
              <a:pathLst>
                <a:path w="328" h="333">
                  <a:moveTo>
                    <a:pt x="328" y="333"/>
                  </a:moveTo>
                  <a:lnTo>
                    <a:pt x="328" y="333"/>
                  </a:lnTo>
                  <a:lnTo>
                    <a:pt x="328" y="0"/>
                  </a:lnTo>
                  <a:lnTo>
                    <a:pt x="0" y="0"/>
                  </a:lnTo>
                  <a:lnTo>
                    <a:pt x="0" y="0"/>
                  </a:lnTo>
                  <a:lnTo>
                    <a:pt x="328" y="3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22" name="Freeform 6"/>
            <p:cNvSpPr>
              <a:spLocks/>
            </p:cNvSpPr>
            <p:nvPr/>
          </p:nvSpPr>
          <p:spPr bwMode="auto">
            <a:xfrm>
              <a:off x="6728604" y="3405332"/>
              <a:ext cx="3384816" cy="3425848"/>
            </a:xfrm>
            <a:custGeom>
              <a:avLst/>
              <a:gdLst>
                <a:gd name="T0" fmla="*/ 0 w 165"/>
                <a:gd name="T1" fmla="*/ 0 h 167"/>
                <a:gd name="T2" fmla="*/ 0 w 165"/>
                <a:gd name="T3" fmla="*/ 0 h 167"/>
                <a:gd name="T4" fmla="*/ 0 w 165"/>
                <a:gd name="T5" fmla="*/ 167 h 167"/>
                <a:gd name="T6" fmla="*/ 165 w 165"/>
                <a:gd name="T7" fmla="*/ 167 h 167"/>
                <a:gd name="T8" fmla="*/ 165 w 165"/>
                <a:gd name="T9" fmla="*/ 167 h 167"/>
                <a:gd name="T10" fmla="*/ 0 w 165"/>
                <a:gd name="T11" fmla="*/ 0 h 167"/>
              </a:gdLst>
              <a:ahLst/>
              <a:cxnLst>
                <a:cxn ang="0">
                  <a:pos x="T0" y="T1"/>
                </a:cxn>
                <a:cxn ang="0">
                  <a:pos x="T2" y="T3"/>
                </a:cxn>
                <a:cxn ang="0">
                  <a:pos x="T4" y="T5"/>
                </a:cxn>
                <a:cxn ang="0">
                  <a:pos x="T6" y="T7"/>
                </a:cxn>
                <a:cxn ang="0">
                  <a:pos x="T8" y="T9"/>
                </a:cxn>
                <a:cxn ang="0">
                  <a:pos x="T10" y="T11"/>
                </a:cxn>
              </a:cxnLst>
              <a:rect l="0" t="0" r="r" b="b"/>
              <a:pathLst>
                <a:path w="165" h="167">
                  <a:moveTo>
                    <a:pt x="0" y="0"/>
                  </a:moveTo>
                  <a:lnTo>
                    <a:pt x="0" y="0"/>
                  </a:lnTo>
                  <a:lnTo>
                    <a:pt x="0" y="167"/>
                  </a:lnTo>
                  <a:lnTo>
                    <a:pt x="165" y="167"/>
                  </a:lnTo>
                  <a:lnTo>
                    <a:pt x="165" y="167"/>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grpSp>
        <p:nvGrpSpPr>
          <p:cNvPr id="18" name="Group 17"/>
          <p:cNvGrpSpPr/>
          <p:nvPr/>
        </p:nvGrpSpPr>
        <p:grpSpPr>
          <a:xfrm>
            <a:off x="5328925" y="19226"/>
            <a:ext cx="3429893" cy="3429000"/>
            <a:chOff x="0" y="-1"/>
            <a:chExt cx="6728604" cy="6831181"/>
          </a:xfrm>
          <a:solidFill>
            <a:srgbClr val="4CC2E2">
              <a:alpha val="30000"/>
            </a:srgbClr>
          </a:solidFill>
        </p:grpSpPr>
        <p:sp>
          <p:nvSpPr>
            <p:cNvPr id="19" name="Freeform 7"/>
            <p:cNvSpPr>
              <a:spLocks/>
            </p:cNvSpPr>
            <p:nvPr/>
          </p:nvSpPr>
          <p:spPr bwMode="auto">
            <a:xfrm>
              <a:off x="0" y="-1"/>
              <a:ext cx="3343788" cy="6831181"/>
            </a:xfrm>
            <a:custGeom>
              <a:avLst/>
              <a:gdLst>
                <a:gd name="T0" fmla="*/ 120 w 120"/>
                <a:gd name="T1" fmla="*/ 121 h 242"/>
                <a:gd name="T2" fmla="*/ 0 w 120"/>
                <a:gd name="T3" fmla="*/ 242 h 242"/>
                <a:gd name="T4" fmla="*/ 0 w 120"/>
                <a:gd name="T5" fmla="*/ 0 h 242"/>
                <a:gd name="T6" fmla="*/ 120 w 120"/>
                <a:gd name="T7" fmla="*/ 121 h 242"/>
              </a:gdLst>
              <a:ahLst/>
              <a:cxnLst>
                <a:cxn ang="0">
                  <a:pos x="T0" y="T1"/>
                </a:cxn>
                <a:cxn ang="0">
                  <a:pos x="T2" y="T3"/>
                </a:cxn>
                <a:cxn ang="0">
                  <a:pos x="T4" y="T5"/>
                </a:cxn>
                <a:cxn ang="0">
                  <a:pos x="T6" y="T7"/>
                </a:cxn>
              </a:cxnLst>
              <a:rect l="0" t="0" r="r" b="b"/>
              <a:pathLst>
                <a:path w="120" h="242">
                  <a:moveTo>
                    <a:pt x="120" y="121"/>
                  </a:moveTo>
                  <a:cubicBezTo>
                    <a:pt x="120" y="188"/>
                    <a:pt x="66" y="242"/>
                    <a:pt x="0" y="242"/>
                  </a:cubicBezTo>
                  <a:cubicBezTo>
                    <a:pt x="0" y="0"/>
                    <a:pt x="0" y="0"/>
                    <a:pt x="0" y="0"/>
                  </a:cubicBezTo>
                  <a:cubicBezTo>
                    <a:pt x="66" y="0"/>
                    <a:pt x="120" y="54"/>
                    <a:pt x="120"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20" name="Freeform 8"/>
            <p:cNvSpPr>
              <a:spLocks/>
            </p:cNvSpPr>
            <p:nvPr/>
          </p:nvSpPr>
          <p:spPr bwMode="auto">
            <a:xfrm>
              <a:off x="3343788" y="-1"/>
              <a:ext cx="3384816" cy="6831181"/>
            </a:xfrm>
            <a:custGeom>
              <a:avLst/>
              <a:gdLst>
                <a:gd name="T0" fmla="*/ 121 w 121"/>
                <a:gd name="T1" fmla="*/ 0 h 242"/>
                <a:gd name="T2" fmla="*/ 121 w 121"/>
                <a:gd name="T3" fmla="*/ 242 h 242"/>
                <a:gd name="T4" fmla="*/ 0 w 121"/>
                <a:gd name="T5" fmla="*/ 121 h 242"/>
                <a:gd name="T6" fmla="*/ 121 w 121"/>
                <a:gd name="T7" fmla="*/ 0 h 242"/>
              </a:gdLst>
              <a:ahLst/>
              <a:cxnLst>
                <a:cxn ang="0">
                  <a:pos x="T0" y="T1"/>
                </a:cxn>
                <a:cxn ang="0">
                  <a:pos x="T2" y="T3"/>
                </a:cxn>
                <a:cxn ang="0">
                  <a:pos x="T4" y="T5"/>
                </a:cxn>
                <a:cxn ang="0">
                  <a:pos x="T6" y="T7"/>
                </a:cxn>
              </a:cxnLst>
              <a:rect l="0" t="0" r="r" b="b"/>
              <a:pathLst>
                <a:path w="121" h="242">
                  <a:moveTo>
                    <a:pt x="121" y="0"/>
                  </a:moveTo>
                  <a:cubicBezTo>
                    <a:pt x="121" y="242"/>
                    <a:pt x="121" y="242"/>
                    <a:pt x="121" y="242"/>
                  </a:cubicBezTo>
                  <a:cubicBezTo>
                    <a:pt x="54" y="242"/>
                    <a:pt x="0" y="188"/>
                    <a:pt x="0" y="121"/>
                  </a:cubicBezTo>
                  <a:cubicBezTo>
                    <a:pt x="0" y="54"/>
                    <a:pt x="54" y="0"/>
                    <a:pt x="1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51" name="Slide Number Placeholder 5"/>
          <p:cNvSpPr>
            <a:spLocks noGrp="1"/>
          </p:cNvSpPr>
          <p:nvPr userDrawn="1">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5" name="TextBox 74"/>
          <p:cNvSpPr txBox="1"/>
          <p:nvPr userDrawn="1"/>
        </p:nvSpPr>
        <p:spPr>
          <a:xfrm>
            <a:off x="548783"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2019 Lenovo Internal. All rights reserved.</a:t>
            </a:r>
          </a:p>
        </p:txBody>
      </p:sp>
      <p:sp>
        <p:nvSpPr>
          <p:cNvPr id="11" name="Text Placeholder 2"/>
          <p:cNvSpPr>
            <a:spLocks noGrp="1"/>
          </p:cNvSpPr>
          <p:nvPr userDrawn="1">
            <p:ph type="body" idx="1" hasCustomPrompt="1"/>
          </p:nvPr>
        </p:nvSpPr>
        <p:spPr bwMode="white">
          <a:xfrm>
            <a:off x="548783" y="3999750"/>
            <a:ext cx="9960410" cy="462018"/>
          </a:xfrm>
          <a:prstGeom prst="rect">
            <a:avLst/>
          </a:prstGeom>
        </p:spPr>
        <p:txBody>
          <a:bodyPr lIns="0" tIns="0" rIns="0" bIns="0"/>
          <a:lstStyle>
            <a:lvl1pPr marL="0" indent="0">
              <a:lnSpc>
                <a:spcPts val="2398"/>
              </a:lnSpc>
              <a:spcBef>
                <a:spcPts val="0"/>
              </a:spcBef>
              <a:buNone/>
              <a:defRPr sz="2498" spc="0" baseline="0">
                <a:solidFill>
                  <a:schemeClr val="accent2"/>
                </a:solidFill>
              </a:defRPr>
            </a:lvl1pPr>
            <a:lvl2pPr marL="456926" indent="0">
              <a:buNone/>
              <a:defRPr sz="1998">
                <a:solidFill>
                  <a:schemeClr val="tx1">
                    <a:tint val="75000"/>
                  </a:schemeClr>
                </a:solidFill>
              </a:defRPr>
            </a:lvl2pPr>
            <a:lvl3pPr marL="913852" indent="0">
              <a:buNone/>
              <a:defRPr sz="1798">
                <a:solidFill>
                  <a:schemeClr val="tx1">
                    <a:tint val="75000"/>
                  </a:schemeClr>
                </a:solidFill>
              </a:defRPr>
            </a:lvl3pPr>
            <a:lvl4pPr marL="1370778" indent="0">
              <a:buNone/>
              <a:defRPr sz="1600">
                <a:solidFill>
                  <a:schemeClr val="tx1">
                    <a:tint val="75000"/>
                  </a:schemeClr>
                </a:solidFill>
              </a:defRPr>
            </a:lvl4pPr>
            <a:lvl5pPr marL="1827703" indent="0">
              <a:buNone/>
              <a:defRPr sz="1600">
                <a:solidFill>
                  <a:schemeClr val="tx1">
                    <a:tint val="75000"/>
                  </a:schemeClr>
                </a:solidFill>
              </a:defRPr>
            </a:lvl5pPr>
            <a:lvl6pPr marL="2284628" indent="0">
              <a:buNone/>
              <a:defRPr sz="1600">
                <a:solidFill>
                  <a:schemeClr val="tx1">
                    <a:tint val="75000"/>
                  </a:schemeClr>
                </a:solidFill>
              </a:defRPr>
            </a:lvl6pPr>
            <a:lvl7pPr marL="2741554" indent="0">
              <a:buNone/>
              <a:defRPr sz="1600">
                <a:solidFill>
                  <a:schemeClr val="tx1">
                    <a:tint val="75000"/>
                  </a:schemeClr>
                </a:solidFill>
              </a:defRPr>
            </a:lvl7pPr>
            <a:lvl8pPr marL="3198480" indent="0">
              <a:buNone/>
              <a:defRPr sz="1600">
                <a:solidFill>
                  <a:schemeClr val="tx1">
                    <a:tint val="75000"/>
                  </a:schemeClr>
                </a:solidFill>
              </a:defRPr>
            </a:lvl8pPr>
            <a:lvl9pPr marL="3655406" indent="0">
              <a:buNone/>
              <a:defRPr sz="1600">
                <a:solidFill>
                  <a:schemeClr val="tx1">
                    <a:tint val="75000"/>
                  </a:schemeClr>
                </a:solidFill>
              </a:defRPr>
            </a:lvl9pPr>
          </a:lstStyle>
          <a:p>
            <a:pPr lvl="0"/>
            <a:r>
              <a:rPr lang="en-US"/>
              <a:t>Subhead here</a:t>
            </a:r>
          </a:p>
        </p:txBody>
      </p:sp>
      <p:grpSp>
        <p:nvGrpSpPr>
          <p:cNvPr id="119" name="Group 118"/>
          <p:cNvGrpSpPr>
            <a:grpSpLocks noChangeAspect="1"/>
          </p:cNvGrpSpPr>
          <p:nvPr userDrawn="1"/>
        </p:nvGrpSpPr>
        <p:grpSpPr>
          <a:xfrm rot="16200000">
            <a:off x="10143517" y="2413287"/>
            <a:ext cx="3070226" cy="1026741"/>
            <a:chOff x="3900488" y="595313"/>
            <a:chExt cx="5830888" cy="1949450"/>
          </a:xfrm>
        </p:grpSpPr>
        <p:sp>
          <p:nvSpPr>
            <p:cNvPr id="120" name="Rectangle 50"/>
            <p:cNvSpPr>
              <a:spLocks noChangeArrowheads="1"/>
            </p:cNvSpPr>
            <p:nvPr userDrawn="1"/>
          </p:nvSpPr>
          <p:spPr bwMode="auto">
            <a:xfrm>
              <a:off x="3900488" y="595313"/>
              <a:ext cx="5830888" cy="1949450"/>
            </a:xfrm>
            <a:prstGeom prst="rect">
              <a:avLst/>
            </a:prstGeom>
            <a:solidFill>
              <a:srgbClr val="F36C2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21" name="Freeform 51"/>
            <p:cNvSpPr>
              <a:spLocks/>
            </p:cNvSpPr>
            <p:nvPr userDrawn="1"/>
          </p:nvSpPr>
          <p:spPr bwMode="auto">
            <a:xfrm>
              <a:off x="5991226" y="1252538"/>
              <a:ext cx="752475" cy="762000"/>
            </a:xfrm>
            <a:custGeom>
              <a:avLst/>
              <a:gdLst>
                <a:gd name="T0" fmla="*/ 493 w 826"/>
                <a:gd name="T1" fmla="*/ 0 h 834"/>
                <a:gd name="T2" fmla="*/ 225 w 826"/>
                <a:gd name="T3" fmla="*/ 131 h 834"/>
                <a:gd name="T4" fmla="*/ 225 w 826"/>
                <a:gd name="T5" fmla="*/ 131 h 834"/>
                <a:gd name="T6" fmla="*/ 225 w 826"/>
                <a:gd name="T7" fmla="*/ 131 h 834"/>
                <a:gd name="T8" fmla="*/ 225 w 826"/>
                <a:gd name="T9" fmla="*/ 13 h 834"/>
                <a:gd name="T10" fmla="*/ 0 w 826"/>
                <a:gd name="T11" fmla="*/ 13 h 834"/>
                <a:gd name="T12" fmla="*/ 0 w 826"/>
                <a:gd name="T13" fmla="*/ 834 h 834"/>
                <a:gd name="T14" fmla="*/ 225 w 826"/>
                <a:gd name="T15" fmla="*/ 834 h 834"/>
                <a:gd name="T16" fmla="*/ 225 w 826"/>
                <a:gd name="T17" fmla="*/ 367 h 834"/>
                <a:gd name="T18" fmla="*/ 411 w 826"/>
                <a:gd name="T19" fmla="*/ 194 h 834"/>
                <a:gd name="T20" fmla="*/ 601 w 826"/>
                <a:gd name="T21" fmla="*/ 367 h 834"/>
                <a:gd name="T22" fmla="*/ 601 w 826"/>
                <a:gd name="T23" fmla="*/ 834 h 834"/>
                <a:gd name="T24" fmla="*/ 826 w 826"/>
                <a:gd name="T25" fmla="*/ 834 h 834"/>
                <a:gd name="T26" fmla="*/ 826 w 826"/>
                <a:gd name="T27" fmla="*/ 325 h 834"/>
                <a:gd name="T28" fmla="*/ 493 w 826"/>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6" h="834">
                  <a:moveTo>
                    <a:pt x="493" y="0"/>
                  </a:moveTo>
                  <a:cubicBezTo>
                    <a:pt x="398" y="0"/>
                    <a:pt x="291" y="43"/>
                    <a:pt x="225" y="131"/>
                  </a:cubicBezTo>
                  <a:cubicBezTo>
                    <a:pt x="225" y="131"/>
                    <a:pt x="225" y="131"/>
                    <a:pt x="225" y="131"/>
                  </a:cubicBezTo>
                  <a:cubicBezTo>
                    <a:pt x="225" y="131"/>
                    <a:pt x="225" y="131"/>
                    <a:pt x="225" y="131"/>
                  </a:cubicBezTo>
                  <a:cubicBezTo>
                    <a:pt x="225" y="13"/>
                    <a:pt x="225" y="13"/>
                    <a:pt x="225" y="13"/>
                  </a:cubicBezTo>
                  <a:cubicBezTo>
                    <a:pt x="0" y="13"/>
                    <a:pt x="0" y="13"/>
                    <a:pt x="0" y="13"/>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1" y="259"/>
                    <a:pt x="601" y="367"/>
                  </a:cubicBezTo>
                  <a:cubicBezTo>
                    <a:pt x="601" y="834"/>
                    <a:pt x="601" y="834"/>
                    <a:pt x="601" y="834"/>
                  </a:cubicBezTo>
                  <a:cubicBezTo>
                    <a:pt x="826" y="834"/>
                    <a:pt x="826" y="834"/>
                    <a:pt x="826" y="834"/>
                  </a:cubicBezTo>
                  <a:cubicBezTo>
                    <a:pt x="826" y="325"/>
                    <a:pt x="826" y="325"/>
                    <a:pt x="826" y="325"/>
                  </a:cubicBezTo>
                  <a:cubicBezTo>
                    <a:pt x="826" y="137"/>
                    <a:pt x="691" y="0"/>
                    <a:pt x="493"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22" name="Freeform 52"/>
            <p:cNvSpPr>
              <a:spLocks/>
            </p:cNvSpPr>
            <p:nvPr userDrawn="1"/>
          </p:nvSpPr>
          <p:spPr bwMode="auto">
            <a:xfrm>
              <a:off x="7599363" y="1263651"/>
              <a:ext cx="839788" cy="750888"/>
            </a:xfrm>
            <a:custGeom>
              <a:avLst/>
              <a:gdLst>
                <a:gd name="T0" fmla="*/ 381 w 529"/>
                <a:gd name="T1" fmla="*/ 0 h 473"/>
                <a:gd name="T2" fmla="*/ 264 w 529"/>
                <a:gd name="T3" fmla="*/ 323 h 473"/>
                <a:gd name="T4" fmla="*/ 147 w 529"/>
                <a:gd name="T5" fmla="*/ 0 h 473"/>
                <a:gd name="T6" fmla="*/ 0 w 529"/>
                <a:gd name="T7" fmla="*/ 0 h 473"/>
                <a:gd name="T8" fmla="*/ 193 w 529"/>
                <a:gd name="T9" fmla="*/ 473 h 473"/>
                <a:gd name="T10" fmla="*/ 335 w 529"/>
                <a:gd name="T11" fmla="*/ 473 h 473"/>
                <a:gd name="T12" fmla="*/ 529 w 529"/>
                <a:gd name="T13" fmla="*/ 0 h 473"/>
                <a:gd name="T14" fmla="*/ 381 w 529"/>
                <a:gd name="T15" fmla="*/ 0 h 4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9" h="473">
                  <a:moveTo>
                    <a:pt x="381" y="0"/>
                  </a:moveTo>
                  <a:lnTo>
                    <a:pt x="264" y="323"/>
                  </a:lnTo>
                  <a:lnTo>
                    <a:pt x="147" y="0"/>
                  </a:lnTo>
                  <a:lnTo>
                    <a:pt x="0" y="0"/>
                  </a:lnTo>
                  <a:lnTo>
                    <a:pt x="193" y="473"/>
                  </a:lnTo>
                  <a:lnTo>
                    <a:pt x="335" y="473"/>
                  </a:lnTo>
                  <a:lnTo>
                    <a:pt x="529" y="0"/>
                  </a:lnTo>
                  <a:lnTo>
                    <a:pt x="38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23" name="Freeform 53"/>
            <p:cNvSpPr>
              <a:spLocks noEditPoints="1"/>
            </p:cNvSpPr>
            <p:nvPr userDrawn="1"/>
          </p:nvSpPr>
          <p:spPr bwMode="auto">
            <a:xfrm>
              <a:off x="5137151" y="1252538"/>
              <a:ext cx="781050" cy="774700"/>
            </a:xfrm>
            <a:custGeom>
              <a:avLst/>
              <a:gdLst>
                <a:gd name="T0" fmla="*/ 699 w 858"/>
                <a:gd name="T1" fmla="*/ 582 h 848"/>
                <a:gd name="T2" fmla="*/ 463 w 858"/>
                <a:gd name="T3" fmla="*/ 669 h 848"/>
                <a:gd name="T4" fmla="*/ 281 w 858"/>
                <a:gd name="T5" fmla="*/ 602 h 848"/>
                <a:gd name="T6" fmla="*/ 858 w 858"/>
                <a:gd name="T7" fmla="*/ 363 h 848"/>
                <a:gd name="T8" fmla="*/ 759 w 858"/>
                <a:gd name="T9" fmla="*/ 134 h 848"/>
                <a:gd name="T10" fmla="*/ 435 w 858"/>
                <a:gd name="T11" fmla="*/ 0 h 848"/>
                <a:gd name="T12" fmla="*/ 0 w 858"/>
                <a:gd name="T13" fmla="*/ 424 h 848"/>
                <a:gd name="T14" fmla="*/ 460 w 858"/>
                <a:gd name="T15" fmla="*/ 848 h 848"/>
                <a:gd name="T16" fmla="*/ 841 w 858"/>
                <a:gd name="T17" fmla="*/ 692 h 848"/>
                <a:gd name="T18" fmla="*/ 699 w 858"/>
                <a:gd name="T19" fmla="*/ 582 h 848"/>
                <a:gd name="T20" fmla="*/ 266 w 858"/>
                <a:gd name="T21" fmla="*/ 261 h 848"/>
                <a:gd name="T22" fmla="*/ 439 w 858"/>
                <a:gd name="T23" fmla="*/ 179 h 848"/>
                <a:gd name="T24" fmla="*/ 614 w 858"/>
                <a:gd name="T25" fmla="*/ 294 h 848"/>
                <a:gd name="T26" fmla="*/ 220 w 858"/>
                <a:gd name="T27" fmla="*/ 457 h 848"/>
                <a:gd name="T28" fmla="*/ 266 w 858"/>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8" h="848">
                  <a:moveTo>
                    <a:pt x="699" y="582"/>
                  </a:moveTo>
                  <a:cubicBezTo>
                    <a:pt x="604" y="652"/>
                    <a:pt x="550" y="669"/>
                    <a:pt x="463" y="669"/>
                  </a:cubicBezTo>
                  <a:cubicBezTo>
                    <a:pt x="385" y="669"/>
                    <a:pt x="324" y="645"/>
                    <a:pt x="281" y="602"/>
                  </a:cubicBezTo>
                  <a:cubicBezTo>
                    <a:pt x="858" y="363"/>
                    <a:pt x="858" y="363"/>
                    <a:pt x="858" y="363"/>
                  </a:cubicBezTo>
                  <a:cubicBezTo>
                    <a:pt x="845" y="274"/>
                    <a:pt x="811" y="195"/>
                    <a:pt x="759" y="134"/>
                  </a:cubicBezTo>
                  <a:cubicBezTo>
                    <a:pt x="683" y="46"/>
                    <a:pt x="571" y="0"/>
                    <a:pt x="435" y="0"/>
                  </a:cubicBezTo>
                  <a:cubicBezTo>
                    <a:pt x="187" y="0"/>
                    <a:pt x="0" y="182"/>
                    <a:pt x="0" y="424"/>
                  </a:cubicBezTo>
                  <a:cubicBezTo>
                    <a:pt x="0" y="672"/>
                    <a:pt x="187" y="848"/>
                    <a:pt x="460" y="848"/>
                  </a:cubicBezTo>
                  <a:cubicBezTo>
                    <a:pt x="612" y="848"/>
                    <a:pt x="768" y="776"/>
                    <a:pt x="841" y="692"/>
                  </a:cubicBezTo>
                  <a:lnTo>
                    <a:pt x="699" y="582"/>
                  </a:lnTo>
                  <a:close/>
                  <a:moveTo>
                    <a:pt x="266" y="261"/>
                  </a:moveTo>
                  <a:cubicBezTo>
                    <a:pt x="304" y="209"/>
                    <a:pt x="365" y="179"/>
                    <a:pt x="439" y="179"/>
                  </a:cubicBezTo>
                  <a:cubicBezTo>
                    <a:pt x="520" y="179"/>
                    <a:pt x="582" y="225"/>
                    <a:pt x="614" y="294"/>
                  </a:cubicBezTo>
                  <a:cubicBezTo>
                    <a:pt x="220" y="457"/>
                    <a:pt x="220" y="457"/>
                    <a:pt x="220" y="457"/>
                  </a:cubicBezTo>
                  <a:cubicBezTo>
                    <a:pt x="209" y="373"/>
                    <a:pt x="231" y="308"/>
                    <a:pt x="266"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24" name="Freeform 54"/>
            <p:cNvSpPr>
              <a:spLocks/>
            </p:cNvSpPr>
            <p:nvPr userDrawn="1"/>
          </p:nvSpPr>
          <p:spPr bwMode="auto">
            <a:xfrm>
              <a:off x="4441826" y="1039813"/>
              <a:ext cx="676275" cy="974725"/>
            </a:xfrm>
            <a:custGeom>
              <a:avLst/>
              <a:gdLst>
                <a:gd name="T0" fmla="*/ 426 w 426"/>
                <a:gd name="T1" fmla="*/ 495 h 614"/>
                <a:gd name="T2" fmla="*/ 131 w 426"/>
                <a:gd name="T3" fmla="*/ 495 h 614"/>
                <a:gd name="T4" fmla="*/ 131 w 426"/>
                <a:gd name="T5" fmla="*/ 0 h 614"/>
                <a:gd name="T6" fmla="*/ 0 w 426"/>
                <a:gd name="T7" fmla="*/ 0 h 614"/>
                <a:gd name="T8" fmla="*/ 0 w 426"/>
                <a:gd name="T9" fmla="*/ 614 h 614"/>
                <a:gd name="T10" fmla="*/ 426 w 426"/>
                <a:gd name="T11" fmla="*/ 614 h 614"/>
                <a:gd name="T12" fmla="*/ 426 w 426"/>
                <a:gd name="T13" fmla="*/ 495 h 614"/>
              </a:gdLst>
              <a:ahLst/>
              <a:cxnLst>
                <a:cxn ang="0">
                  <a:pos x="T0" y="T1"/>
                </a:cxn>
                <a:cxn ang="0">
                  <a:pos x="T2" y="T3"/>
                </a:cxn>
                <a:cxn ang="0">
                  <a:pos x="T4" y="T5"/>
                </a:cxn>
                <a:cxn ang="0">
                  <a:pos x="T6" y="T7"/>
                </a:cxn>
                <a:cxn ang="0">
                  <a:pos x="T8" y="T9"/>
                </a:cxn>
                <a:cxn ang="0">
                  <a:pos x="T10" y="T11"/>
                </a:cxn>
                <a:cxn ang="0">
                  <a:pos x="T12" y="T13"/>
                </a:cxn>
              </a:cxnLst>
              <a:rect l="0" t="0" r="r" b="b"/>
              <a:pathLst>
                <a:path w="426" h="614">
                  <a:moveTo>
                    <a:pt x="426" y="495"/>
                  </a:moveTo>
                  <a:lnTo>
                    <a:pt x="131" y="495"/>
                  </a:lnTo>
                  <a:lnTo>
                    <a:pt x="131" y="0"/>
                  </a:lnTo>
                  <a:lnTo>
                    <a:pt x="0" y="0"/>
                  </a:lnTo>
                  <a:lnTo>
                    <a:pt x="0" y="614"/>
                  </a:lnTo>
                  <a:lnTo>
                    <a:pt x="426" y="614"/>
                  </a:lnTo>
                  <a:lnTo>
                    <a:pt x="426" y="4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25" name="Freeform 55"/>
            <p:cNvSpPr>
              <a:spLocks noEditPoints="1"/>
            </p:cNvSpPr>
            <p:nvPr userDrawn="1"/>
          </p:nvSpPr>
          <p:spPr bwMode="auto">
            <a:xfrm>
              <a:off x="8407401" y="1252538"/>
              <a:ext cx="803275" cy="774700"/>
            </a:xfrm>
            <a:custGeom>
              <a:avLst/>
              <a:gdLst>
                <a:gd name="T0" fmla="*/ 440 w 883"/>
                <a:gd name="T1" fmla="*/ 848 h 848"/>
                <a:gd name="T2" fmla="*/ 0 w 883"/>
                <a:gd name="T3" fmla="*/ 424 h 848"/>
                <a:gd name="T4" fmla="*/ 443 w 883"/>
                <a:gd name="T5" fmla="*/ 0 h 848"/>
                <a:gd name="T6" fmla="*/ 883 w 883"/>
                <a:gd name="T7" fmla="*/ 424 h 848"/>
                <a:gd name="T8" fmla="*/ 440 w 883"/>
                <a:gd name="T9" fmla="*/ 848 h 848"/>
                <a:gd name="T10" fmla="*/ 440 w 883"/>
                <a:gd name="T11" fmla="*/ 193 h 848"/>
                <a:gd name="T12" fmla="*/ 223 w 883"/>
                <a:gd name="T13" fmla="*/ 424 h 848"/>
                <a:gd name="T14" fmla="*/ 443 w 883"/>
                <a:gd name="T15" fmla="*/ 655 h 848"/>
                <a:gd name="T16" fmla="*/ 660 w 883"/>
                <a:gd name="T17" fmla="*/ 424 h 848"/>
                <a:gd name="T18" fmla="*/ 440 w 883"/>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848">
                  <a:moveTo>
                    <a:pt x="440" y="848"/>
                  </a:moveTo>
                  <a:cubicBezTo>
                    <a:pt x="193" y="848"/>
                    <a:pt x="0" y="665"/>
                    <a:pt x="0" y="424"/>
                  </a:cubicBezTo>
                  <a:cubicBezTo>
                    <a:pt x="0" y="186"/>
                    <a:pt x="195" y="0"/>
                    <a:pt x="443" y="0"/>
                  </a:cubicBezTo>
                  <a:cubicBezTo>
                    <a:pt x="690" y="0"/>
                    <a:pt x="883" y="183"/>
                    <a:pt x="883" y="424"/>
                  </a:cubicBezTo>
                  <a:cubicBezTo>
                    <a:pt x="883" y="662"/>
                    <a:pt x="688" y="848"/>
                    <a:pt x="440" y="848"/>
                  </a:cubicBezTo>
                  <a:moveTo>
                    <a:pt x="440" y="193"/>
                  </a:moveTo>
                  <a:cubicBezTo>
                    <a:pt x="314" y="193"/>
                    <a:pt x="223" y="288"/>
                    <a:pt x="223" y="424"/>
                  </a:cubicBezTo>
                  <a:cubicBezTo>
                    <a:pt x="223" y="554"/>
                    <a:pt x="320" y="655"/>
                    <a:pt x="443" y="655"/>
                  </a:cubicBezTo>
                  <a:cubicBezTo>
                    <a:pt x="569" y="655"/>
                    <a:pt x="660" y="557"/>
                    <a:pt x="660" y="424"/>
                  </a:cubicBezTo>
                  <a:cubicBezTo>
                    <a:pt x="660" y="294"/>
                    <a:pt x="564" y="193"/>
                    <a:pt x="440"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26" name="Freeform 56"/>
            <p:cNvSpPr>
              <a:spLocks noEditPoints="1"/>
            </p:cNvSpPr>
            <p:nvPr userDrawn="1"/>
          </p:nvSpPr>
          <p:spPr bwMode="auto">
            <a:xfrm>
              <a:off x="6824663" y="1252538"/>
              <a:ext cx="804863" cy="774700"/>
            </a:xfrm>
            <a:custGeom>
              <a:avLst/>
              <a:gdLst>
                <a:gd name="T0" fmla="*/ 440 w 883"/>
                <a:gd name="T1" fmla="*/ 848 h 848"/>
                <a:gd name="T2" fmla="*/ 0 w 883"/>
                <a:gd name="T3" fmla="*/ 424 h 848"/>
                <a:gd name="T4" fmla="*/ 443 w 883"/>
                <a:gd name="T5" fmla="*/ 0 h 848"/>
                <a:gd name="T6" fmla="*/ 883 w 883"/>
                <a:gd name="T7" fmla="*/ 424 h 848"/>
                <a:gd name="T8" fmla="*/ 440 w 883"/>
                <a:gd name="T9" fmla="*/ 848 h 848"/>
                <a:gd name="T10" fmla="*/ 440 w 883"/>
                <a:gd name="T11" fmla="*/ 193 h 848"/>
                <a:gd name="T12" fmla="*/ 223 w 883"/>
                <a:gd name="T13" fmla="*/ 424 h 848"/>
                <a:gd name="T14" fmla="*/ 443 w 883"/>
                <a:gd name="T15" fmla="*/ 655 h 848"/>
                <a:gd name="T16" fmla="*/ 661 w 883"/>
                <a:gd name="T17" fmla="*/ 424 h 848"/>
                <a:gd name="T18" fmla="*/ 440 w 883"/>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848">
                  <a:moveTo>
                    <a:pt x="440" y="848"/>
                  </a:moveTo>
                  <a:cubicBezTo>
                    <a:pt x="194" y="848"/>
                    <a:pt x="0" y="665"/>
                    <a:pt x="0" y="424"/>
                  </a:cubicBezTo>
                  <a:cubicBezTo>
                    <a:pt x="0" y="186"/>
                    <a:pt x="195" y="0"/>
                    <a:pt x="443" y="0"/>
                  </a:cubicBezTo>
                  <a:cubicBezTo>
                    <a:pt x="690" y="0"/>
                    <a:pt x="883" y="183"/>
                    <a:pt x="883" y="424"/>
                  </a:cubicBezTo>
                  <a:cubicBezTo>
                    <a:pt x="883" y="662"/>
                    <a:pt x="688" y="848"/>
                    <a:pt x="440" y="848"/>
                  </a:cubicBezTo>
                  <a:moveTo>
                    <a:pt x="440" y="193"/>
                  </a:moveTo>
                  <a:cubicBezTo>
                    <a:pt x="314" y="193"/>
                    <a:pt x="223" y="288"/>
                    <a:pt x="223" y="424"/>
                  </a:cubicBezTo>
                  <a:cubicBezTo>
                    <a:pt x="223" y="554"/>
                    <a:pt x="320" y="655"/>
                    <a:pt x="443" y="655"/>
                  </a:cubicBezTo>
                  <a:cubicBezTo>
                    <a:pt x="569" y="655"/>
                    <a:pt x="661" y="557"/>
                    <a:pt x="661" y="424"/>
                  </a:cubicBezTo>
                  <a:cubicBezTo>
                    <a:pt x="661" y="294"/>
                    <a:pt x="564" y="193"/>
                    <a:pt x="440"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24" name="Title 16">
            <a:extLst>
              <a:ext uri="{FF2B5EF4-FFF2-40B4-BE49-F238E27FC236}">
                <a16:creationId xmlns:a16="http://schemas.microsoft.com/office/drawing/2014/main" id="{542F2901-56C5-6245-B188-570498220D2B}"/>
              </a:ext>
            </a:extLst>
          </p:cNvPr>
          <p:cNvSpPr>
            <a:spLocks noGrp="1"/>
          </p:cNvSpPr>
          <p:nvPr>
            <p:ph type="title" hasCustomPrompt="1"/>
          </p:nvPr>
        </p:nvSpPr>
        <p:spPr bwMode="gray">
          <a:xfrm>
            <a:off x="548782" y="1391548"/>
            <a:ext cx="9960410" cy="2405203"/>
          </a:xfrm>
          <a:prstGeom prst="rect">
            <a:avLst/>
          </a:prstGeom>
        </p:spPr>
        <p:txBody>
          <a:bodyPr lIns="0" tIns="0" rIns="0" bIns="0" anchor="b" anchorCtr="0"/>
          <a:lstStyle>
            <a:lvl1pPr marL="0" algn="l" defTabSz="1218255" rtl="0" eaLnBrk="1" latinLnBrk="0" hangingPunct="1">
              <a:lnSpc>
                <a:spcPts val="4998"/>
              </a:lnSpc>
              <a:spcBef>
                <a:spcPct val="0"/>
              </a:spcBef>
              <a:buNone/>
              <a:defRPr lang="en-US" sz="5996" b="1" kern="1200" cap="none" spc="-150" baseline="0" dirty="0">
                <a:solidFill>
                  <a:schemeClr val="bg1"/>
                </a:solidFill>
                <a:latin typeface="Arial" pitchFamily="34" charset="0"/>
                <a:ea typeface="+mn-ea"/>
                <a:cs typeface="Arial" pitchFamily="34" charset="0"/>
              </a:defRPr>
            </a:lvl1pPr>
          </a:lstStyle>
          <a:p>
            <a:r>
              <a:rPr lang="en-US"/>
              <a:t>Section Header</a:t>
            </a:r>
          </a:p>
        </p:txBody>
      </p:sp>
    </p:spTree>
    <p:extLst>
      <p:ext uri="{BB962C8B-B14F-4D97-AF65-F5344CB8AC3E}">
        <p14:creationId xmlns:p14="http://schemas.microsoft.com/office/powerpoint/2010/main" val="3327310756"/>
      </p:ext>
    </p:extLst>
  </p:cSld>
  <p:clrMapOvr>
    <a:masterClrMapping/>
  </p:clrMapOvr>
  <p:transition spd="med"/>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Title Slide_Photo">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77432" y="-266700"/>
            <a:ext cx="12669432" cy="7124700"/>
          </a:xfrm>
          <a:prstGeom prst="rect">
            <a:avLst/>
          </a:prstGeom>
        </p:spPr>
      </p:pic>
      <p:sp>
        <p:nvSpPr>
          <p:cNvPr id="7" name="矩形 6"/>
          <p:cNvSpPr/>
          <p:nvPr userDrawn="1"/>
        </p:nvSpPr>
        <p:spPr>
          <a:xfrm>
            <a:off x="-477432" y="-266700"/>
            <a:ext cx="12669432" cy="7124700"/>
          </a:xfrm>
          <a:prstGeom prst="rect">
            <a:avLst/>
          </a:prstGeom>
          <a:solidFill>
            <a:schemeClr val="bg2">
              <a:lumMod val="75000"/>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99"/>
          </a:p>
        </p:txBody>
      </p:sp>
      <p:sp>
        <p:nvSpPr>
          <p:cNvPr id="18" name="Title 16"/>
          <p:cNvSpPr>
            <a:spLocks noGrp="1"/>
          </p:cNvSpPr>
          <p:nvPr>
            <p:ph type="title" hasCustomPrompt="1"/>
          </p:nvPr>
        </p:nvSpPr>
        <p:spPr bwMode="gray">
          <a:xfrm>
            <a:off x="548783" y="1437136"/>
            <a:ext cx="9962830" cy="3026868"/>
          </a:xfrm>
          <a:prstGeom prst="rect">
            <a:avLst/>
          </a:prstGeom>
        </p:spPr>
        <p:txBody>
          <a:bodyPr lIns="0" tIns="60949" rIns="121899" bIns="60949" anchor="b" anchorCtr="0"/>
          <a:lstStyle>
            <a:lvl1pPr marL="0" algn="l" defTabSz="1218199" rtl="0" eaLnBrk="1" latinLnBrk="0" hangingPunct="1">
              <a:lnSpc>
                <a:spcPts val="7498"/>
              </a:lnSpc>
              <a:spcBef>
                <a:spcPct val="0"/>
              </a:spcBef>
              <a:buNone/>
              <a:defRPr lang="en-US" sz="7198" b="1" kern="1200" cap="none" spc="-150" baseline="0" dirty="0">
                <a:solidFill>
                  <a:schemeClr val="bg1"/>
                </a:solidFill>
                <a:latin typeface="微软雅黑" panose="020B0502040204020203" pitchFamily="34" charset="-122"/>
                <a:ea typeface="微软雅黑" panose="020B0502040204020203" pitchFamily="34" charset="-122"/>
                <a:cs typeface="Arial" panose="020B0604020202020204" pitchFamily="34" charset="0"/>
              </a:defRPr>
            </a:lvl1pPr>
          </a:lstStyle>
          <a:p>
            <a:r>
              <a:rPr lang="zh-CN" altLang="en-US"/>
              <a:t>图片版</a:t>
            </a:r>
            <a:br>
              <a:rPr lang="en-US" altLang="zh-CN"/>
            </a:br>
            <a:r>
              <a:rPr lang="zh-CN" altLang="en-US"/>
              <a:t>演示标题</a:t>
            </a:r>
            <a:br>
              <a:rPr lang="en-US" altLang="zh-CN"/>
            </a:br>
            <a:r>
              <a:rPr lang="zh-CN" altLang="en-US"/>
              <a:t>区域</a:t>
            </a:r>
            <a:endParaRPr lang="en-US"/>
          </a:p>
        </p:txBody>
      </p:sp>
      <p:sp>
        <p:nvSpPr>
          <p:cNvPr id="19" name="Subtitle 2"/>
          <p:cNvSpPr>
            <a:spLocks noGrp="1"/>
          </p:cNvSpPr>
          <p:nvPr>
            <p:ph type="subTitle" idx="1" hasCustomPrompt="1"/>
          </p:nvPr>
        </p:nvSpPr>
        <p:spPr bwMode="gray">
          <a:xfrm>
            <a:off x="548783" y="5205790"/>
            <a:ext cx="9952388" cy="457200"/>
          </a:xfrm>
          <a:prstGeom prst="rect">
            <a:avLst/>
          </a:prstGeom>
        </p:spPr>
        <p:txBody>
          <a:bodyPr lIns="0" tIns="0" rIns="0" bIns="0" anchor="b" anchorCtr="0"/>
          <a:lstStyle>
            <a:lvl1pPr marL="0" indent="0" algn="l" defTabSz="1218199" rtl="0" eaLnBrk="1" latinLnBrk="0" hangingPunct="1">
              <a:lnSpc>
                <a:spcPct val="90000"/>
              </a:lnSpc>
              <a:spcBef>
                <a:spcPct val="0"/>
              </a:spcBef>
              <a:buNone/>
              <a:defRPr lang="en-US" sz="2599" b="0" kern="1200" cap="none" spc="0" baseline="0" dirty="0">
                <a:solidFill>
                  <a:schemeClr val="bg1"/>
                </a:solidFill>
                <a:latin typeface="微软雅黑" panose="020B0502040204020203" pitchFamily="34" charset="-122"/>
                <a:ea typeface="微软雅黑" panose="020B0502040204020203" pitchFamily="34" charset="-122"/>
                <a:cs typeface="Arial" panose="020B0604020202020204" pitchFamily="34" charset="0"/>
              </a:defRPr>
            </a:lvl1pPr>
            <a:lvl2pPr marL="609417" indent="0" algn="ctr">
              <a:buNone/>
              <a:defRPr>
                <a:solidFill>
                  <a:schemeClr val="tx1">
                    <a:tint val="75000"/>
                  </a:schemeClr>
                </a:solidFill>
              </a:defRPr>
            </a:lvl2pPr>
            <a:lvl3pPr marL="1218834" indent="0" algn="ctr">
              <a:buNone/>
              <a:defRPr>
                <a:solidFill>
                  <a:schemeClr val="tx1">
                    <a:tint val="75000"/>
                  </a:schemeClr>
                </a:solidFill>
              </a:defRPr>
            </a:lvl3pPr>
            <a:lvl4pPr marL="1827617" indent="0" algn="ctr">
              <a:buNone/>
              <a:defRPr>
                <a:solidFill>
                  <a:schemeClr val="tx1">
                    <a:tint val="75000"/>
                  </a:schemeClr>
                </a:solidFill>
              </a:defRPr>
            </a:lvl4pPr>
            <a:lvl5pPr marL="2437034" indent="0" algn="ctr">
              <a:buNone/>
              <a:defRPr>
                <a:solidFill>
                  <a:schemeClr val="tx1">
                    <a:tint val="75000"/>
                  </a:schemeClr>
                </a:solidFill>
              </a:defRPr>
            </a:lvl5pPr>
            <a:lvl6pPr marL="3046451" indent="0" algn="ctr">
              <a:buNone/>
              <a:defRPr>
                <a:solidFill>
                  <a:schemeClr val="tx1">
                    <a:tint val="75000"/>
                  </a:schemeClr>
                </a:solidFill>
              </a:defRPr>
            </a:lvl6pPr>
            <a:lvl7pPr marL="3655868" indent="0" algn="ctr">
              <a:buNone/>
              <a:defRPr>
                <a:solidFill>
                  <a:schemeClr val="tx1">
                    <a:tint val="75000"/>
                  </a:schemeClr>
                </a:solidFill>
              </a:defRPr>
            </a:lvl7pPr>
            <a:lvl8pPr marL="4265285" indent="0" algn="ctr">
              <a:buNone/>
              <a:defRPr>
                <a:solidFill>
                  <a:schemeClr val="tx1">
                    <a:tint val="75000"/>
                  </a:schemeClr>
                </a:solidFill>
              </a:defRPr>
            </a:lvl8pPr>
            <a:lvl9pPr marL="4874702" indent="0" algn="ctr">
              <a:buNone/>
              <a:defRPr>
                <a:solidFill>
                  <a:schemeClr val="tx1">
                    <a:tint val="75000"/>
                  </a:schemeClr>
                </a:solidFill>
              </a:defRPr>
            </a:lvl9pPr>
          </a:lstStyle>
          <a:p>
            <a:r>
              <a:rPr lang="zh-CN" altLang="en-US"/>
              <a:t>副标题注解区域</a:t>
            </a:r>
            <a:endParaRPr lang="en-US"/>
          </a:p>
        </p:txBody>
      </p:sp>
      <p:sp>
        <p:nvSpPr>
          <p:cNvPr id="11" name="Footer Placeholder 1"/>
          <p:cNvSpPr txBox="1"/>
          <p:nvPr userDrawn="1"/>
        </p:nvSpPr>
        <p:spPr>
          <a:xfrm>
            <a:off x="484651" y="6291017"/>
            <a:ext cx="2317663" cy="227518"/>
          </a:xfrm>
          <a:prstGeom prst="rect">
            <a:avLst/>
          </a:prstGeom>
        </p:spPr>
        <p:txBody>
          <a:bodyPr/>
          <a:lstStyle>
            <a:defPPr>
              <a:defRPr lang="en-US"/>
            </a:defPPr>
            <a:lvl1pPr marL="0" algn="l" defTabSz="1218565" rtl="0" eaLnBrk="1" latinLnBrk="0" hangingPunct="1">
              <a:defRPr sz="900" kern="1200">
                <a:solidFill>
                  <a:schemeClr val="bg1"/>
                </a:solidFill>
                <a:latin typeface="+mn-lt"/>
                <a:ea typeface="+mn-ea"/>
                <a:cs typeface="+mn-cs"/>
              </a:defRPr>
            </a:lvl1pPr>
            <a:lvl2pPr marL="609600" algn="l" defTabSz="1218565" rtl="0" eaLnBrk="1" latinLnBrk="0" hangingPunct="1">
              <a:defRPr sz="2400" kern="1200">
                <a:solidFill>
                  <a:schemeClr val="tx1"/>
                </a:solidFill>
                <a:latin typeface="+mn-lt"/>
                <a:ea typeface="+mn-ea"/>
                <a:cs typeface="+mn-cs"/>
              </a:defRPr>
            </a:lvl2pPr>
            <a:lvl3pPr marL="1219200" algn="l" defTabSz="1218565" rtl="0" eaLnBrk="1" latinLnBrk="0" hangingPunct="1">
              <a:defRPr sz="2400" kern="1200">
                <a:solidFill>
                  <a:schemeClr val="tx1"/>
                </a:solidFill>
                <a:latin typeface="+mn-lt"/>
                <a:ea typeface="+mn-ea"/>
                <a:cs typeface="+mn-cs"/>
              </a:defRPr>
            </a:lvl3pPr>
            <a:lvl4pPr marL="1828165" algn="l" defTabSz="1218565" rtl="0" eaLnBrk="1" latinLnBrk="0" hangingPunct="1">
              <a:defRPr sz="2400" kern="1200">
                <a:solidFill>
                  <a:schemeClr val="tx1"/>
                </a:solidFill>
                <a:latin typeface="+mn-lt"/>
                <a:ea typeface="+mn-ea"/>
                <a:cs typeface="+mn-cs"/>
              </a:defRPr>
            </a:lvl4pPr>
            <a:lvl5pPr marL="2437765" algn="l" defTabSz="1218565" rtl="0" eaLnBrk="1" latinLnBrk="0" hangingPunct="1">
              <a:defRPr sz="2400" kern="1200">
                <a:solidFill>
                  <a:schemeClr val="tx1"/>
                </a:solidFill>
                <a:latin typeface="+mn-lt"/>
                <a:ea typeface="+mn-ea"/>
                <a:cs typeface="+mn-cs"/>
              </a:defRPr>
            </a:lvl5pPr>
            <a:lvl6pPr marL="3047365" algn="l" defTabSz="1218565" rtl="0" eaLnBrk="1" latinLnBrk="0" hangingPunct="1">
              <a:defRPr sz="2400" kern="1200">
                <a:solidFill>
                  <a:schemeClr val="tx1"/>
                </a:solidFill>
                <a:latin typeface="+mn-lt"/>
                <a:ea typeface="+mn-ea"/>
                <a:cs typeface="+mn-cs"/>
              </a:defRPr>
            </a:lvl6pPr>
            <a:lvl7pPr marL="3656965" algn="l" defTabSz="1218565" rtl="0" eaLnBrk="1" latinLnBrk="0" hangingPunct="1">
              <a:defRPr sz="2400" kern="1200">
                <a:solidFill>
                  <a:schemeClr val="tx1"/>
                </a:solidFill>
                <a:latin typeface="+mn-lt"/>
                <a:ea typeface="+mn-ea"/>
                <a:cs typeface="+mn-cs"/>
              </a:defRPr>
            </a:lvl7pPr>
            <a:lvl8pPr marL="4266565" algn="l" defTabSz="1218565" rtl="0" eaLnBrk="1" latinLnBrk="0" hangingPunct="1">
              <a:defRPr sz="2400" kern="1200">
                <a:solidFill>
                  <a:schemeClr val="tx1"/>
                </a:solidFill>
                <a:latin typeface="+mn-lt"/>
                <a:ea typeface="+mn-ea"/>
                <a:cs typeface="+mn-cs"/>
              </a:defRPr>
            </a:lvl8pPr>
            <a:lvl9pPr marL="4876165" algn="l" defTabSz="1218565" rtl="0" eaLnBrk="1" latinLnBrk="0" hangingPunct="1">
              <a:defRPr sz="2400" kern="1200">
                <a:solidFill>
                  <a:schemeClr val="tx1"/>
                </a:solidFill>
                <a:latin typeface="+mn-lt"/>
                <a:ea typeface="+mn-ea"/>
                <a:cs typeface="+mn-cs"/>
              </a:defRPr>
            </a:lvl9pPr>
          </a:lstStyle>
          <a:p>
            <a:r>
              <a:rPr lang="en-US" sz="900">
                <a:solidFill>
                  <a:schemeClr val="bg1"/>
                </a:solidFill>
              </a:rPr>
              <a:t>20</a:t>
            </a:r>
            <a:r>
              <a:rPr lang="en-US" altLang="zh-CN" sz="900">
                <a:solidFill>
                  <a:schemeClr val="bg1"/>
                </a:solidFill>
              </a:rPr>
              <a:t>22</a:t>
            </a:r>
            <a:r>
              <a:rPr lang="en-US" sz="900">
                <a:solidFill>
                  <a:schemeClr val="bg1"/>
                </a:solidFill>
              </a:rPr>
              <a:t> Lenovo Internal. All rights reserved.</a:t>
            </a:r>
          </a:p>
        </p:txBody>
      </p:sp>
      <p:pic>
        <p:nvPicPr>
          <p:cNvPr id="8" name="图片 7"/>
          <p:cNvPicPr>
            <a:picLocks noChangeAspect="1"/>
          </p:cNvPicPr>
          <p:nvPr userDrawn="1"/>
        </p:nvPicPr>
        <p:blipFill>
          <a:blip r:embed="rId3"/>
          <a:stretch>
            <a:fillRect/>
          </a:stretch>
        </p:blipFill>
        <p:spPr>
          <a:xfrm>
            <a:off x="9051312" y="5697499"/>
            <a:ext cx="2502310" cy="501203"/>
          </a:xfrm>
          <a:prstGeom prst="rect">
            <a:avLst/>
          </a:prstGeom>
        </p:spPr>
      </p:pic>
    </p:spTree>
    <p:extLst>
      <p:ext uri="{BB962C8B-B14F-4D97-AF65-F5344CB8AC3E}">
        <p14:creationId xmlns:p14="http://schemas.microsoft.com/office/powerpoint/2010/main" val="142805615"/>
      </p:ext>
    </p:extLst>
  </p:cSld>
  <p:clrMapOvr>
    <a:masterClrMapping/>
  </p:clrMapOvr>
  <p:transition spd="med"/>
</p:sldLayout>
</file>

<file path=ppt/slideLayouts/slideLayout159.xml><?xml version="1.0" encoding="utf-8"?>
<p:sldLayout xmlns:a="http://schemas.openxmlformats.org/drawingml/2006/main" xmlns:r="http://schemas.openxmlformats.org/officeDocument/2006/relationships" xmlns:p="http://schemas.openxmlformats.org/presentationml/2006/main" userDrawn="1">
  <p:cSld name="5_Title Only">
    <p:spTree>
      <p:nvGrpSpPr>
        <p:cNvPr id="1" name=""/>
        <p:cNvGrpSpPr/>
        <p:nvPr/>
      </p:nvGrpSpPr>
      <p:grpSpPr>
        <a:xfrm>
          <a:off x="0" y="0"/>
          <a:ext cx="0" cy="0"/>
          <a:chOff x="0" y="0"/>
          <a:chExt cx="0" cy="0"/>
        </a:xfrm>
      </p:grpSpPr>
      <p:sp>
        <p:nvSpPr>
          <p:cNvPr id="6" name="Text Placeholder 2">
            <a:extLst>
              <a:ext uri="{FF2B5EF4-FFF2-40B4-BE49-F238E27FC236}">
                <a16:creationId xmlns:a16="http://schemas.microsoft.com/office/drawing/2014/main" id="{AF2A82E2-E356-4E65-B732-6515BA3FDA92}"/>
              </a:ext>
            </a:extLst>
          </p:cNvPr>
          <p:cNvSpPr>
            <a:spLocks noGrp="1"/>
          </p:cNvSpPr>
          <p:nvPr>
            <p:ph type="body" idx="11" hasCustomPrompt="1"/>
          </p:nvPr>
        </p:nvSpPr>
        <p:spPr bwMode="gray">
          <a:xfrm>
            <a:off x="557930" y="914400"/>
            <a:ext cx="11076268" cy="292608"/>
          </a:xfrm>
          <a:prstGeom prst="rect">
            <a:avLst/>
          </a:prstGeom>
        </p:spPr>
        <p:txBody>
          <a:bodyPr lIns="0" tIns="0" rIns="0" bIns="0" anchor="t" anchorCtr="0">
            <a:noAutofit/>
          </a:bodyPr>
          <a:lstStyle>
            <a:lvl1pPr marL="0" indent="0">
              <a:spcBef>
                <a:spcPts val="0"/>
              </a:spcBef>
              <a:buNone/>
              <a:defRPr sz="1797" b="0">
                <a:solidFill>
                  <a:schemeClr val="tx1"/>
                </a:solidFill>
                <a:latin typeface="+mn-lt"/>
                <a:cs typeface="Arial" pitchFamily="34" charset="0"/>
              </a:defRPr>
            </a:lvl1pPr>
            <a:lvl2pPr marL="608944" indent="0">
              <a:buNone/>
              <a:defRPr sz="2697" b="1"/>
            </a:lvl2pPr>
            <a:lvl3pPr marL="1217890" indent="0">
              <a:buNone/>
              <a:defRPr sz="2397" b="1"/>
            </a:lvl3pPr>
            <a:lvl4pPr marL="1826835" indent="0">
              <a:buNone/>
              <a:defRPr sz="2097" b="1"/>
            </a:lvl4pPr>
            <a:lvl5pPr marL="2435780" indent="0">
              <a:buNone/>
              <a:defRPr sz="2097" b="1"/>
            </a:lvl5pPr>
            <a:lvl6pPr marL="3044725" indent="0">
              <a:buNone/>
              <a:defRPr sz="2097" b="1"/>
            </a:lvl6pPr>
            <a:lvl7pPr marL="3653670" indent="0">
              <a:buNone/>
              <a:defRPr sz="2097" b="1"/>
            </a:lvl7pPr>
            <a:lvl8pPr marL="4262614" indent="0">
              <a:buNone/>
              <a:defRPr sz="2097" b="1"/>
            </a:lvl8pPr>
            <a:lvl9pPr marL="4871560" indent="0">
              <a:buNone/>
              <a:defRPr sz="2097" b="1"/>
            </a:lvl9pPr>
          </a:lstStyle>
          <a:p>
            <a:pPr lvl="0"/>
            <a:r>
              <a:rPr lang="en-US"/>
              <a:t> to edit Master text styles</a:t>
            </a:r>
          </a:p>
        </p:txBody>
      </p:sp>
      <p:graphicFrame>
        <p:nvGraphicFramePr>
          <p:cNvPr id="2" name="Object 1" hidden="1"/>
          <p:cNvGraphicFramePr>
            <a:graphicFrameLocks noChangeAspect="1"/>
          </p:cNvGraphicFramePr>
          <p:nvPr userDrawn="1">
            <p:custDataLst>
              <p:tags r:id="rId1"/>
            </p:custDataLst>
          </p:nvPr>
        </p:nvGraphicFramePr>
        <p:xfrm>
          <a:off x="1592" y="1595"/>
          <a:ext cx="1587" cy="1587"/>
        </p:xfrm>
        <a:graphic>
          <a:graphicData uri="http://schemas.openxmlformats.org/presentationml/2006/ole">
            <mc:AlternateContent xmlns:mc="http://schemas.openxmlformats.org/markup-compatibility/2006">
              <mc:Choice xmlns:v="urn:schemas-microsoft-com:vml" Requires="v">
                <p:oleObj name="think-cell Slide" r:id="rId4" imgW="508" imgH="508" progId="TCLayout.ActiveDocument.1">
                  <p:embed/>
                </p:oleObj>
              </mc:Choice>
              <mc:Fallback>
                <p:oleObj name="think-cell Slide" r:id="rId4" imgW="508" imgH="508" progId="TCLayout.ActiveDocument.1">
                  <p:embed/>
                  <p:pic>
                    <p:nvPicPr>
                      <p:cNvPr id="2" name="Object 1" hidden="1"/>
                      <p:cNvPicPr/>
                      <p:nvPr/>
                    </p:nvPicPr>
                    <p:blipFill>
                      <a:blip r:embed="rId5"/>
                      <a:stretch>
                        <a:fillRect/>
                      </a:stretch>
                    </p:blipFill>
                    <p:spPr>
                      <a:xfrm>
                        <a:off x="1592" y="1595"/>
                        <a:ext cx="1587" cy="1587"/>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6A04CCC1-2C90-44F6-9C76-69B95A27578A}"/>
              </a:ext>
            </a:extLst>
          </p:cNvPr>
          <p:cNvSpPr/>
          <p:nvPr userDrawn="1">
            <p:custDataLst>
              <p:tags r:id="rId2"/>
            </p:custDataLst>
          </p:nvPr>
        </p:nvSpPr>
        <p:spPr>
          <a:xfrm>
            <a:off x="3" y="0"/>
            <a:ext cx="158750" cy="1587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marL="0" lvl="0" indent="0" algn="ctr" eaLnBrk="1">
              <a:lnSpc>
                <a:spcPct val="100000"/>
              </a:lnSpc>
              <a:spcBef>
                <a:spcPct val="0"/>
              </a:spcBef>
              <a:spcAft>
                <a:spcPct val="0"/>
              </a:spcAft>
            </a:pPr>
            <a:endParaRPr lang="en-US" sz="2797" b="1" i="0" baseline="0">
              <a:latin typeface="Open Sans" panose="020B0606030504020204" pitchFamily="34" charset="0"/>
              <a:ea typeface="+mj-ea"/>
              <a:cs typeface="Arial" panose="020B0604020202020204" pitchFamily="34" charset="0"/>
              <a:sym typeface="Open Sans" panose="020B0606030504020204" pitchFamily="34" charset="0"/>
            </a:endParaRPr>
          </a:p>
        </p:txBody>
      </p:sp>
      <p:sp>
        <p:nvSpPr>
          <p:cNvPr id="3" name="Title 2">
            <a:extLst>
              <a:ext uri="{FF2B5EF4-FFF2-40B4-BE49-F238E27FC236}">
                <a16:creationId xmlns:a16="http://schemas.microsoft.com/office/drawing/2014/main" id="{6B86DA36-CF0D-4BD0-BC5C-53D6B40A47BE}"/>
              </a:ext>
            </a:extLst>
          </p:cNvPr>
          <p:cNvSpPr>
            <a:spLocks noGrp="1"/>
          </p:cNvSpPr>
          <p:nvPr>
            <p:ph type="title"/>
          </p:nvPr>
        </p:nvSpPr>
        <p:spPr/>
        <p:txBody>
          <a:bodyPr/>
          <a:lstStyle/>
          <a:p>
            <a:r>
              <a:rPr lang="en-US"/>
              <a:t>Click to edit Master title style</a:t>
            </a:r>
          </a:p>
        </p:txBody>
      </p:sp>
      <p:sp>
        <p:nvSpPr>
          <p:cNvPr id="4" name="Slide Number Placeholder 3">
            <a:extLst>
              <a:ext uri="{FF2B5EF4-FFF2-40B4-BE49-F238E27FC236}">
                <a16:creationId xmlns:a16="http://schemas.microsoft.com/office/drawing/2014/main" id="{47CB6638-1A88-497C-BAC0-E0CC6F961C3C}"/>
              </a:ext>
            </a:extLst>
          </p:cNvPr>
          <p:cNvSpPr>
            <a:spLocks noGrp="1"/>
          </p:cNvSpPr>
          <p:nvPr>
            <p:ph type="sldNum" sz="quarter" idx="10"/>
          </p:nvPr>
        </p:nvSpPr>
        <p:spPr/>
        <p:txBody>
          <a:bodyPr/>
          <a:lstStyle/>
          <a:p>
            <a:pPr algn="ctr"/>
            <a:fld id="{4CDEA398-9212-4567-91A3-BCE54ECD0B59}" type="slidenum">
              <a:rPr lang="en-US" smtClean="0"/>
              <a:pPr algn="ctr"/>
              <a:t>‹#›</a:t>
            </a:fld>
            <a:endParaRPr lang="en-US"/>
          </a:p>
        </p:txBody>
      </p:sp>
    </p:spTree>
    <p:extLst>
      <p:ext uri="{BB962C8B-B14F-4D97-AF65-F5344CB8AC3E}">
        <p14:creationId xmlns:p14="http://schemas.microsoft.com/office/powerpoint/2010/main" val="3826330733"/>
      </p:ext>
    </p:extLst>
  </p:cSld>
  <p:clrMapOvr>
    <a:masterClrMapping/>
  </p:clrMapOvr>
  <p:transition spd="med"/>
</p:sldLayout>
</file>

<file path=ppt/slideLayouts/slideLayout160.xml><?xml version="1.0" encoding="utf-8"?>
<p:sldLayout xmlns:a="http://schemas.openxmlformats.org/drawingml/2006/main" xmlns:r="http://schemas.openxmlformats.org/officeDocument/2006/relationships" xmlns:p="http://schemas.openxmlformats.org/presentationml/2006/main">
  <p:cSld name="Title &amp; 1 column text">
    <p:spTree>
      <p:nvGrpSpPr>
        <p:cNvPr id="1" name=""/>
        <p:cNvGrpSpPr/>
        <p:nvPr/>
      </p:nvGrpSpPr>
      <p:grpSpPr>
        <a:xfrm>
          <a:off x="0" y="0"/>
          <a:ext cx="0" cy="0"/>
          <a:chOff x="0" y="0"/>
          <a:chExt cx="0" cy="0"/>
        </a:xfrm>
      </p:grpSpPr>
      <p:sp>
        <p:nvSpPr>
          <p:cNvPr id="14" name="文字"/>
          <p:cNvSpPr>
            <a:spLocks noGrp="1"/>
          </p:cNvSpPr>
          <p:nvPr>
            <p:ph idx="1"/>
          </p:nvPr>
        </p:nvSpPr>
        <p:spPr>
          <a:xfrm>
            <a:off x="501651" y="1665289"/>
            <a:ext cx="11165416" cy="4716463"/>
          </a:xfrm>
          <a:prstGeom prst="rect">
            <a:avLst/>
          </a:prstGeom>
        </p:spPr>
        <p:txBody>
          <a:bodyPr vert="horz" lIns="0" tIns="0" rIns="0" bIns="0" rtlCol="0">
            <a:normAutofit/>
          </a:bodyPr>
          <a:lstStyle>
            <a:lvl1pPr>
              <a:defRPr>
                <a:latin typeface="+mn-lt"/>
              </a:defRPr>
            </a:lvl1pPr>
            <a:lvl2pPr>
              <a:defRPr>
                <a:latin typeface="+mj-lt"/>
              </a:defRPr>
            </a:lvl2pPr>
            <a:lvl3pPr>
              <a:defRPr>
                <a:latin typeface="+mn-lt"/>
              </a:defRPr>
            </a:lvl3pPr>
            <a:lvl4pPr>
              <a:defRPr>
                <a:latin typeface="+mn-lt"/>
              </a:defRPr>
            </a:lvl4pPr>
            <a:lvl5pPr>
              <a:defRPr>
                <a:latin typeface="+mn-lt"/>
              </a:defRPr>
            </a:lvl5pPr>
          </a:lstStyle>
          <a:p>
            <a:pPr lvl="0"/>
            <a:r>
              <a:rPr lang="zh-CN" altLang="en-US"/>
              <a:t>按一下此處編輯母版文本樣式</a:t>
            </a:r>
          </a:p>
          <a:p>
            <a:pPr lvl="1"/>
            <a:r>
              <a:rPr lang="zh-CN" altLang="en-US"/>
              <a:t>二級</a:t>
            </a:r>
          </a:p>
          <a:p>
            <a:pPr lvl="2"/>
            <a:r>
              <a:rPr lang="zh-CN" altLang="en-US"/>
              <a:t>三級</a:t>
            </a:r>
          </a:p>
          <a:p>
            <a:pPr lvl="3"/>
            <a:r>
              <a:rPr lang="zh-CN" altLang="en-US"/>
              <a:t>四級</a:t>
            </a:r>
          </a:p>
          <a:p>
            <a:pPr lvl="4"/>
            <a:r>
              <a:rPr lang="zh-CN" altLang="en-US"/>
              <a:t>五級</a:t>
            </a:r>
            <a:endParaRPr lang="en-GB"/>
          </a:p>
        </p:txBody>
      </p:sp>
      <p:sp>
        <p:nvSpPr>
          <p:cNvPr id="2" name="標題"/>
          <p:cNvSpPr>
            <a:spLocks noGrp="1"/>
          </p:cNvSpPr>
          <p:nvPr>
            <p:ph type="title"/>
          </p:nvPr>
        </p:nvSpPr>
        <p:spPr>
          <a:xfrm>
            <a:off x="501651" y="317501"/>
            <a:ext cx="11188700" cy="698500"/>
          </a:xfrm>
        </p:spPr>
        <p:txBody>
          <a:bodyPr/>
          <a:lstStyle/>
          <a:p>
            <a:r>
              <a:rPr lang="zh-CN" altLang="en-US"/>
              <a:t>按一下此處編輯母版標題樣式</a:t>
            </a:r>
            <a:endParaRPr lang="en-US"/>
          </a:p>
        </p:txBody>
      </p:sp>
    </p:spTree>
    <p:extLst>
      <p:ext uri="{BB962C8B-B14F-4D97-AF65-F5344CB8AC3E}">
        <p14:creationId xmlns:p14="http://schemas.microsoft.com/office/powerpoint/2010/main" val="3287719790"/>
      </p:ext>
    </p:extLst>
  </p:cSld>
  <p:clrMapOvr>
    <a:masterClrMapping/>
  </p:clrMapOvr>
  <p:transition>
    <p:fade/>
  </p:transition>
  <p:hf hdr="0" dt="0"/>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7746323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1"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499" b="1" i="0" baseline="0">
              <a:solidFill>
                <a:schemeClr val="bg1"/>
              </a:solidFill>
              <a:latin typeface="Arial" panose="020B0604020202020204" pitchFamily="34" charset="0"/>
              <a:ea typeface="+mj-ea"/>
              <a:cs typeface="+mj-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7" y="919252"/>
            <a:ext cx="11082528" cy="66159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b="0" baseline="0" dirty="0"/>
            </a:lvl1pPr>
          </a:lstStyle>
          <a:p>
            <a:pPr lvl="0">
              <a:buNone/>
            </a:pPr>
            <a:r>
              <a:rPr lang="en-US"/>
              <a:t>Click to edit Master subtitle style</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4"/>
            </p:custDataLst>
          </p:nvPr>
        </p:nvSpPr>
        <p:spPr>
          <a:xfrm>
            <a:off x="554736" y="41599"/>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800" b="0" dirty="0">
                <a:cs typeface="+mn-cs"/>
              </a:defRPr>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5"/>
            </p:custDataLst>
          </p:nvPr>
        </p:nvSpPr>
        <p:spPr>
          <a:xfrm>
            <a:off x="554737" y="172212"/>
            <a:ext cx="11082528" cy="731520"/>
          </a:xfrm>
          <a:prstGeom prst="rect">
            <a:avLst/>
          </a:prstGeom>
        </p:spPr>
        <p:txBody>
          <a:bodyPr vert="horz" wrap="square" lIns="0" tIns="0" rIns="0" bIns="0" rtlCol="0" anchor="b" anchorCtr="0">
            <a:noAutofit/>
          </a:bodyPr>
          <a:lstStyle>
            <a:lvl1pPr>
              <a:defRPr lang="en-US" dirty="0"/>
            </a:lvl1pPr>
          </a:lstStyle>
          <a:p>
            <a:pPr lvl="0"/>
            <a:r>
              <a:rPr lang="en-US"/>
              <a:t>Click to edit Master title style</a:t>
            </a:r>
          </a:p>
        </p:txBody>
      </p:sp>
      <p:sp>
        <p:nvSpPr>
          <p:cNvPr id="12" name="Slide Number">
            <a:extLst>
              <a:ext uri="{FF2B5EF4-FFF2-40B4-BE49-F238E27FC236}">
                <a16:creationId xmlns:a16="http://schemas.microsoft.com/office/drawing/2014/main" id="{A7D78624-1011-4805-A38F-2790B0C90EC1}"/>
              </a:ext>
            </a:extLst>
          </p:cNvPr>
          <p:cNvSpPr>
            <a:spLocks noChangeArrowheads="1"/>
          </p:cNvSpPr>
          <p:nvPr userDrawn="1">
            <p:custDataLst>
              <p:tags r:id="rId6"/>
            </p:custDataLst>
          </p:nvPr>
        </p:nvSpPr>
        <p:spPr bwMode="black">
          <a:xfrm>
            <a:off x="11312526" y="6474739"/>
            <a:ext cx="325501" cy="138499"/>
          </a:xfrm>
          <a:prstGeom prst="rect">
            <a:avLst/>
          </a:prstGeom>
          <a:noFill/>
          <a:ln w="9525" algn="ctr">
            <a:noFill/>
            <a:miter lim="800000"/>
            <a:headEnd/>
            <a:tailEnd/>
          </a:ln>
          <a:effectLst/>
        </p:spPr>
        <p:txBody>
          <a:bodyPr wrap="square" lIns="0" tIns="0" rIns="0" bIns="0" anchor="b">
            <a:spAutoFit/>
          </a:bodyPr>
          <a:lstStyle/>
          <a:p>
            <a:pPr algn="r" defTabSz="610561" rtl="0" fontAlgn="auto">
              <a:spcBef>
                <a:spcPts val="0"/>
              </a:spcBef>
              <a:spcAft>
                <a:spcPts val="0"/>
              </a:spcAft>
              <a:defRPr/>
            </a:pPr>
            <a:fld id="{4ABDCABE-3F10-B64C-92F1-862014417034}" type="slidenum">
              <a:rPr lang="en-US" sz="900" b="0" smtClean="0">
                <a:solidFill>
                  <a:schemeClr val="tx1"/>
                </a:solidFill>
                <a:latin typeface="+mn-lt"/>
                <a:ea typeface="+mn-ea"/>
                <a:cs typeface="Arial" panose="020B0604020202020204" pitchFamily="34" charset="0"/>
              </a:rPr>
              <a:pPr algn="r" defTabSz="610561" rtl="0" fontAlgn="auto">
                <a:spcBef>
                  <a:spcPts val="0"/>
                </a:spcBef>
                <a:spcAft>
                  <a:spcPts val="0"/>
                </a:spcAft>
                <a:defRPr/>
              </a:pPr>
              <a:t>‹#›</a:t>
            </a:fld>
            <a:endParaRPr lang="en-US" sz="900" b="0">
              <a:solidFill>
                <a:schemeClr val="tx1"/>
              </a:solidFill>
              <a:latin typeface="+mn-lt"/>
              <a:ea typeface="+mn-ea"/>
              <a:cs typeface="Arial" panose="020B0604020202020204" pitchFamily="34" charset="0"/>
            </a:endParaRPr>
          </a:p>
        </p:txBody>
      </p:sp>
      <p:sp>
        <p:nvSpPr>
          <p:cNvPr id="13" name="5. Source" hidden="1">
            <a:extLst>
              <a:ext uri="{FF2B5EF4-FFF2-40B4-BE49-F238E27FC236}">
                <a16:creationId xmlns:a16="http://schemas.microsoft.com/office/drawing/2014/main" id="{F172C844-171A-4841-A93B-2ED21E411498}"/>
              </a:ext>
            </a:extLst>
          </p:cNvPr>
          <p:cNvSpPr txBox="1"/>
          <p:nvPr userDrawn="1">
            <p:custDataLst>
              <p:tags r:id="rId7"/>
            </p:custDataLst>
          </p:nvPr>
        </p:nvSpPr>
        <p:spPr>
          <a:xfrm>
            <a:off x="554736" y="6255864"/>
            <a:ext cx="7277861" cy="123111"/>
          </a:xfrm>
          <a:prstGeom prst="rect">
            <a:avLst/>
          </a:prstGeom>
        </p:spPr>
        <p:txBody>
          <a:bodyPr vert="horz" wrap="square" lIns="0" tIns="0" rIns="0" bIns="0" rtlCol="0" anchor="b">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Tree>
    <p:extLst>
      <p:ext uri="{BB962C8B-B14F-4D97-AF65-F5344CB8AC3E}">
        <p14:creationId xmlns:p14="http://schemas.microsoft.com/office/powerpoint/2010/main" val="384543846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userDrawn="1">
  <p:cSld name="Title Slide_Black_Alt">
    <p:bg>
      <p:bgPr>
        <a:solidFill>
          <a:schemeClr val="tx1"/>
        </a:solidFill>
        <a:effectLst/>
      </p:bgPr>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3A0DD018-EAF2-48F3-ABFD-828A5E37FEA0}"/>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sp>
        <p:nvSpPr>
          <p:cNvPr id="56" name="Title 16"/>
          <p:cNvSpPr>
            <a:spLocks noGrp="1"/>
          </p:cNvSpPr>
          <p:nvPr userDrawn="1">
            <p:ph type="title" hasCustomPrompt="1"/>
          </p:nvPr>
        </p:nvSpPr>
        <p:spPr bwMode="gray">
          <a:xfrm>
            <a:off x="750529" y="1524000"/>
            <a:ext cx="9914678" cy="3273368"/>
          </a:xfrm>
          <a:prstGeom prst="rect">
            <a:avLst/>
          </a:prstGeom>
        </p:spPr>
        <p:txBody>
          <a:bodyPr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lstStyle>
            <a:lvl1pPr marL="0" indent="0" algn="l" defTabSz="1218987" rtl="0" eaLnBrk="1" latinLnBrk="0" hangingPunct="1">
              <a:lnSpc>
                <a:spcPct val="90000"/>
              </a:lnSpc>
              <a:spcBef>
                <a:spcPct val="0"/>
              </a:spcBef>
              <a:buNone/>
              <a:defRPr lang="en-US" sz="2600" b="0" kern="1200" cap="none" spc="0" baseline="0" dirty="0">
                <a:solidFill>
                  <a:schemeClr val="bg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grpSp>
        <p:nvGrpSpPr>
          <p:cNvPr id="68" name="Group 67">
            <a:extLst>
              <a:ext uri="{FF2B5EF4-FFF2-40B4-BE49-F238E27FC236}">
                <a16:creationId xmlns:a16="http://schemas.microsoft.com/office/drawing/2014/main" id="{C178D7C6-5801-6B30-A6A7-963788E95D85}"/>
              </a:ext>
            </a:extLst>
          </p:cNvPr>
          <p:cNvGrpSpPr>
            <a:grpSpLocks noChangeAspect="1"/>
          </p:cNvGrpSpPr>
          <p:nvPr userDrawn="1"/>
        </p:nvGrpSpPr>
        <p:grpSpPr>
          <a:xfrm rot="16200000">
            <a:off x="10152631" y="2542790"/>
            <a:ext cx="3058160" cy="1020580"/>
            <a:chOff x="547688" y="952500"/>
            <a:chExt cx="12190413" cy="4067175"/>
          </a:xfrm>
        </p:grpSpPr>
        <p:sp>
          <p:nvSpPr>
            <p:cNvPr id="69" name="Rectangle 68">
              <a:extLst>
                <a:ext uri="{FF2B5EF4-FFF2-40B4-BE49-F238E27FC236}">
                  <a16:creationId xmlns:a16="http://schemas.microsoft.com/office/drawing/2014/main" id="{69E9C34A-28EF-207E-149B-9EBED2862D65}"/>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7">
              <a:extLst>
                <a:ext uri="{FF2B5EF4-FFF2-40B4-BE49-F238E27FC236}">
                  <a16:creationId xmlns:a16="http://schemas.microsoft.com/office/drawing/2014/main" id="{158C3A6B-F5BB-E37E-DB3D-C1ABEA07F21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8">
              <a:extLst>
                <a:ext uri="{FF2B5EF4-FFF2-40B4-BE49-F238E27FC236}">
                  <a16:creationId xmlns:a16="http://schemas.microsoft.com/office/drawing/2014/main" id="{A56AE87F-217D-4207-F227-987A2E7FEBFA}"/>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2" name="Freeform 9">
              <a:extLst>
                <a:ext uri="{FF2B5EF4-FFF2-40B4-BE49-F238E27FC236}">
                  <a16:creationId xmlns:a16="http://schemas.microsoft.com/office/drawing/2014/main" id="{D65BCC2D-74A9-8E37-6BBC-33B74966DAC1}"/>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10">
              <a:extLst>
                <a:ext uri="{FF2B5EF4-FFF2-40B4-BE49-F238E27FC236}">
                  <a16:creationId xmlns:a16="http://schemas.microsoft.com/office/drawing/2014/main" id="{BA8558ED-E4BF-D888-EF3B-A311AFE8C47C}"/>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10">
              <a:extLst>
                <a:ext uri="{FF2B5EF4-FFF2-40B4-BE49-F238E27FC236}">
                  <a16:creationId xmlns:a16="http://schemas.microsoft.com/office/drawing/2014/main" id="{AFF1776F-9DBA-D51E-8F71-E1FB30D76794}"/>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11">
              <a:extLst>
                <a:ext uri="{FF2B5EF4-FFF2-40B4-BE49-F238E27FC236}">
                  <a16:creationId xmlns:a16="http://schemas.microsoft.com/office/drawing/2014/main" id="{820D6E3B-9704-EBDF-9D0D-A571A36CBC77}"/>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76" name="Freeform 5">
            <a:extLst>
              <a:ext uri="{FF2B5EF4-FFF2-40B4-BE49-F238E27FC236}">
                <a16:creationId xmlns:a16="http://schemas.microsoft.com/office/drawing/2014/main" id="{C002511A-253F-7F55-6C4F-3D51611D3CBF}"/>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sp>
        <p:nvSpPr>
          <p:cNvPr id="82" name="TextBox 81">
            <a:extLst>
              <a:ext uri="{FF2B5EF4-FFF2-40B4-BE49-F238E27FC236}">
                <a16:creationId xmlns:a16="http://schemas.microsoft.com/office/drawing/2014/main" id="{D0375F64-E651-1A0A-ABF1-9C38BA663F9F}"/>
              </a:ext>
            </a:extLst>
          </p:cNvPr>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2026 Lenovo Internal. All rights reserved.</a:t>
            </a:r>
          </a:p>
        </p:txBody>
      </p:sp>
    </p:spTree>
    <p:extLst>
      <p:ext uri="{BB962C8B-B14F-4D97-AF65-F5344CB8AC3E}">
        <p14:creationId xmlns:p14="http://schemas.microsoft.com/office/powerpoint/2010/main" val="4216859779"/>
      </p:ext>
    </p:extLst>
  </p:cSld>
  <p:clrMapOvr>
    <a:masterClrMapping/>
  </p:clrMapOvr>
  <p:transition spd="med"/>
</p:sldLayout>
</file>

<file path=ppt/slideLayouts/slideLayout16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846CE7D5-CF57-46EF-B807-FDD0502418D4}" type="datetimeFigureOut">
              <a:rPr lang="en-US" smtClean="0"/>
              <a:t>9/20/2026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418688481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preserve="1" userDrawn="1">
  <p:cSld name="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2025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rgbClr val="4D144A"/>
          </a:solidFill>
          <a:ln>
            <a:noFill/>
          </a:ln>
        </p:spPr>
        <p:txBody>
          <a:bodyPr vert="horz" wrap="square" lIns="91440" tIns="45720" rIns="91440" bIns="45720" numCol="1" anchor="t" anchorCtr="0" compatLnSpc="1">
            <a:prstTxWarp prst="textNoShape">
              <a:avLst/>
            </a:prstTxWarp>
          </a:bodyPr>
          <a:lstStyle/>
          <a:p>
            <a:endParaRPr lang="en-US" sz="1800"/>
          </a:p>
        </p:txBody>
      </p:sp>
    </p:spTree>
    <p:extLst>
      <p:ext uri="{BB962C8B-B14F-4D97-AF65-F5344CB8AC3E}">
        <p14:creationId xmlns:p14="http://schemas.microsoft.com/office/powerpoint/2010/main" val="764512430"/>
      </p:ext>
    </p:extLst>
  </p:cSld>
  <p:clrMapOvr>
    <a:masterClrMapping/>
  </p:clrMapOvr>
  <p:transition spd="med"/>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preserve="1" userDrawn="1">
  <p:cSld name="Title Slide_Black">
    <p:bg>
      <p:bgPr>
        <a:solidFill>
          <a:srgbClr val="1E0113"/>
        </a:solidFill>
        <a:effectLst/>
      </p:bgPr>
    </p:bg>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121899" bIns="0" anchor="b" anchorCtr="0"/>
          <a:lstStyle>
            <a:lvl1pPr marL="0" algn="l" defTabSz="1218987" rtl="0" eaLnBrk="1" latinLnBrk="0" hangingPunct="1">
              <a:lnSpc>
                <a:spcPct val="75000"/>
              </a:lnSpc>
              <a:spcBef>
                <a:spcPct val="0"/>
              </a:spcBef>
              <a:buNone/>
              <a:defRPr lang="en-US" sz="8000"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bg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2025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spTree>
    <p:extLst>
      <p:ext uri="{BB962C8B-B14F-4D97-AF65-F5344CB8AC3E}">
        <p14:creationId xmlns:p14="http://schemas.microsoft.com/office/powerpoint/2010/main" val="3897422151"/>
      </p:ext>
    </p:extLst>
  </p:cSld>
  <p:clrMapOvr>
    <a:masterClrMapping/>
  </p:clrMapOvr>
  <p:transition spd="med"/>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Section Header_White">
    <p:bg>
      <p:bgPr>
        <a:solidFill>
          <a:schemeClr val="bg1"/>
        </a:solidFill>
        <a:effectLst/>
      </p:bgPr>
    </p:bg>
    <p:spTree>
      <p:nvGrpSpPr>
        <p:cNvPr id="1" name=""/>
        <p:cNvGrpSpPr/>
        <p:nvPr/>
      </p:nvGrpSpPr>
      <p:grpSpPr>
        <a:xfrm>
          <a:off x="0" y="0"/>
          <a:ext cx="0" cy="0"/>
          <a:chOff x="0" y="0"/>
          <a:chExt cx="0" cy="0"/>
        </a:xfrm>
      </p:grpSpPr>
      <p:sp>
        <p:nvSpPr>
          <p:cNvPr id="46" name="Title 16"/>
          <p:cNvSpPr>
            <a:spLocks noGrp="1"/>
          </p:cNvSpPr>
          <p:nvPr>
            <p:ph type="title" hasCustomPrompt="1"/>
          </p:nvPr>
        </p:nvSpPr>
        <p:spPr bwMode="gray">
          <a:xfrm>
            <a:off x="750528" y="1549492"/>
            <a:ext cx="9914678"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9914678"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sp>
        <p:nvSpPr>
          <p:cNvPr id="2" name="TextBox 1">
            <a:extLst>
              <a:ext uri="{FF2B5EF4-FFF2-40B4-BE49-F238E27FC236}">
                <a16:creationId xmlns:a16="http://schemas.microsoft.com/office/drawing/2014/main" id="{3E1CB3FA-A40E-89BA-D9B4-612659A1D7F8}"/>
              </a:ext>
            </a:extLst>
          </p:cNvPr>
          <p:cNvSpPr txBox="1"/>
          <p:nvPr userDrawn="1"/>
        </p:nvSpPr>
        <p:spPr>
          <a:xfrm>
            <a:off x="1602706" y="6401580"/>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2025 Lenovo Internal. All rights reserved.</a:t>
            </a:r>
          </a:p>
        </p:txBody>
      </p:sp>
      <p:grpSp>
        <p:nvGrpSpPr>
          <p:cNvPr id="3" name="Group 2">
            <a:extLst>
              <a:ext uri="{FF2B5EF4-FFF2-40B4-BE49-F238E27FC236}">
                <a16:creationId xmlns:a16="http://schemas.microsoft.com/office/drawing/2014/main" id="{FB68E53D-8D38-4B99-06F1-FB4045C1E803}"/>
              </a:ext>
            </a:extLst>
          </p:cNvPr>
          <p:cNvGrpSpPr>
            <a:grpSpLocks noChangeAspect="1"/>
          </p:cNvGrpSpPr>
          <p:nvPr userDrawn="1"/>
        </p:nvGrpSpPr>
        <p:grpSpPr>
          <a:xfrm>
            <a:off x="760611" y="6348283"/>
            <a:ext cx="777442" cy="259316"/>
            <a:chOff x="547688" y="952500"/>
            <a:chExt cx="12190413" cy="4067175"/>
          </a:xfrm>
        </p:grpSpPr>
        <p:sp>
          <p:nvSpPr>
            <p:cNvPr id="4" name="Rectangle 3">
              <a:extLst>
                <a:ext uri="{FF2B5EF4-FFF2-40B4-BE49-F238E27FC236}">
                  <a16:creationId xmlns:a16="http://schemas.microsoft.com/office/drawing/2014/main" id="{7B980263-2916-F21B-C57E-4D2C5D0C6879}"/>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 name="Freeform 7">
              <a:extLst>
                <a:ext uri="{FF2B5EF4-FFF2-40B4-BE49-F238E27FC236}">
                  <a16:creationId xmlns:a16="http://schemas.microsoft.com/office/drawing/2014/main" id="{9963EF3A-E5EB-BF83-AE65-6242B1661D0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 name="Freeform 8">
              <a:extLst>
                <a:ext uri="{FF2B5EF4-FFF2-40B4-BE49-F238E27FC236}">
                  <a16:creationId xmlns:a16="http://schemas.microsoft.com/office/drawing/2014/main" id="{8E894888-D539-48CF-7E80-4B30A55764E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 name="Freeform 9">
              <a:extLst>
                <a:ext uri="{FF2B5EF4-FFF2-40B4-BE49-F238E27FC236}">
                  <a16:creationId xmlns:a16="http://schemas.microsoft.com/office/drawing/2014/main" id="{A681269A-84EF-7A74-26C2-AA9D63BF38D7}"/>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 name="Freeform 10">
              <a:extLst>
                <a:ext uri="{FF2B5EF4-FFF2-40B4-BE49-F238E27FC236}">
                  <a16:creationId xmlns:a16="http://schemas.microsoft.com/office/drawing/2014/main" id="{A46570AB-4E06-E508-810C-A8843C51D4F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 name="Freeform 10">
              <a:extLst>
                <a:ext uri="{FF2B5EF4-FFF2-40B4-BE49-F238E27FC236}">
                  <a16:creationId xmlns:a16="http://schemas.microsoft.com/office/drawing/2014/main" id="{E4BCE35C-5FE5-30D2-825F-5F6BD7E2E562}"/>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2" name="Freeform 11">
              <a:extLst>
                <a:ext uri="{FF2B5EF4-FFF2-40B4-BE49-F238E27FC236}">
                  <a16:creationId xmlns:a16="http://schemas.microsoft.com/office/drawing/2014/main" id="{84957B54-C991-1A8F-6F65-A7A27118B92B}"/>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Tree>
    <p:extLst>
      <p:ext uri="{BB962C8B-B14F-4D97-AF65-F5344CB8AC3E}">
        <p14:creationId xmlns:p14="http://schemas.microsoft.com/office/powerpoint/2010/main" val="347437978"/>
      </p:ext>
    </p:extLst>
  </p:cSld>
  <p:clrMapOvr>
    <a:masterClrMapping/>
  </p:clrMapOvr>
  <p:transition spd="med"/>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
    <p:bg>
      <p:bgPr>
        <a:solidFill>
          <a:srgbClr val="1E0113"/>
        </a:solidFill>
        <a:effectLst/>
      </p:bgPr>
    </p:bg>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89C3EB64-A851-71DD-8882-1FDB7C2E99CB}"/>
              </a:ext>
            </a:extLst>
          </p:cNvPr>
          <p:cNvSpPr txBox="1"/>
          <p:nvPr userDrawn="1"/>
        </p:nvSpPr>
        <p:spPr>
          <a:xfrm>
            <a:off x="1602806"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2025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9923824"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9923824"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670551147"/>
      </p:ext>
    </p:extLst>
  </p:cSld>
  <p:clrMapOvr>
    <a:masterClrMapping/>
  </p:clrMapOvr>
  <p:transition spd="med"/>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99A0C0A2-1C95-CF60-15E7-57B445A8992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655448601"/>
      </p:ext>
    </p:extLst>
  </p:cSld>
  <p:clrMapOvr>
    <a:masterClrMapping/>
  </p:clrMapOvr>
  <p:transition spd="med"/>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preserve="1" userDrawn="1">
  <p:cSld name="Title Only_Black">
    <p:bg>
      <p:bgPr>
        <a:solidFill>
          <a:srgbClr val="1E0113"/>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A245D89D-54AB-A7D6-4141-95E6B3C3695D}"/>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469904037"/>
      </p:ext>
    </p:extLst>
  </p:cSld>
  <p:clrMapOvr>
    <a:masterClrMapping/>
  </p:clrMapOvr>
  <p:transition spd="med"/>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55B6443-4299-282C-565B-68E5F9702780}"/>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092683786"/>
      </p:ext>
    </p:extLst>
  </p:cSld>
  <p:clrMapOvr>
    <a:masterClrMapping/>
  </p:clrMapOvr>
  <p:transition spd="med"/>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Only_Black">
    <p:bg>
      <p:bgPr>
        <a:solidFill>
          <a:srgbClr val="1E0113"/>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bg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BC296FD5-38BC-1E97-5513-17F333DF59B9}"/>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616766071"/>
      </p:ext>
    </p:extLst>
  </p:cSld>
  <p:clrMapOvr>
    <a:masterClrMapping/>
  </p:clrMapOvr>
  <p:transition spd="med"/>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1" y="1308880"/>
            <a:ext cx="1067382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BC5559F-D4D6-DA53-A720-07C2A2D68FA6}"/>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577189274"/>
      </p:ext>
    </p:extLst>
  </p:cSld>
  <p:clrMapOvr>
    <a:masterClrMapping/>
  </p:clrMapOvr>
  <p:transition spd="med"/>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preserve="1" userDrawn="1">
  <p:cSld name="Title and Content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2" y="1308880"/>
            <a:ext cx="1067077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2B190EFC-69A6-D92C-008E-75B891AE7709}"/>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51276508"/>
      </p:ext>
    </p:extLst>
  </p:cSld>
  <p:clrMapOvr>
    <a:masterClrMapping/>
  </p:clrMapOvr>
  <p:transition spd="med"/>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Title with Subtitle Content">
    <p:bg>
      <p:bgPr>
        <a:solidFill>
          <a:schemeClr val="bg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0" y="1749388"/>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827BD319-CE6A-C56C-FAF4-F7D3C4B20C07}"/>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368872410"/>
      </p:ext>
    </p:extLst>
  </p:cSld>
  <p:clrMapOvr>
    <a:masterClrMapping/>
  </p:clrMapOvr>
  <p:transition spd="med"/>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Content_Black">
    <p:bg>
      <p:bgPr>
        <a:solidFill>
          <a:srgbClr val="1E0113"/>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0" y="1749389"/>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bg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2F390D5-FAC3-3E07-D977-2FACDFA7E866}"/>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826528001"/>
      </p:ext>
    </p:extLst>
  </p:cSld>
  <p:clrMapOvr>
    <a:masterClrMapping/>
  </p:clrMapOvr>
  <p:transition spd="med"/>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Two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3"/>
            <a:ext cx="5070324"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340962" y="1307593"/>
            <a:ext cx="5067096"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2FE5186-E704-46DB-A234-0339427F829C}"/>
              </a:ext>
            </a:extLst>
          </p:cNvPr>
          <p:cNvSpPr>
            <a:spLocks noGrp="1"/>
          </p:cNvSpPr>
          <p:nvPr>
            <p:ph type="sldNum" sz="quarter" idx="15"/>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550463289"/>
      </p:ext>
    </p:extLst>
  </p:cSld>
  <p:clrMapOvr>
    <a:masterClrMapping/>
  </p:clrMapOvr>
  <p:transition spd="med"/>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preserve="1" userDrawn="1">
  <p:cSld name="Two Column Slide_Black">
    <p:bg>
      <p:bgPr>
        <a:solidFill>
          <a:srgbClr val="1E01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4"/>
            <a:ext cx="5070324"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340962" y="1307594"/>
            <a:ext cx="506709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A1D52F52-4191-E70A-A15D-3F4D0CF0AA2B}"/>
              </a:ext>
            </a:extLst>
          </p:cNvPr>
          <p:cNvSpPr>
            <a:spLocks noGrp="1"/>
          </p:cNvSpPr>
          <p:nvPr>
            <p:ph type="sldNum" sz="quarter" idx="15"/>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800203031"/>
      </p:ext>
    </p:extLst>
  </p:cSld>
  <p:clrMapOvr>
    <a:masterClrMapping/>
  </p:clrMapOvr>
  <p:transition spd="med"/>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Three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2"/>
          <p:cNvSpPr>
            <a:spLocks noGrp="1"/>
          </p:cNvSpPr>
          <p:nvPr>
            <p:ph sz="half" idx="10"/>
          </p:nvPr>
        </p:nvSpPr>
        <p:spPr bwMode="gray">
          <a:xfrm>
            <a:off x="4378398" y="1307594"/>
            <a:ext cx="3344059"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017903" y="1307594"/>
            <a:ext cx="341653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C61C74C-45BE-3DE8-0DFD-4B97D814FB04}"/>
              </a:ext>
            </a:extLst>
          </p:cNvPr>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877228607"/>
      </p:ext>
    </p:extLst>
  </p:cSld>
  <p:clrMapOvr>
    <a:masterClrMapping/>
  </p:clrMapOvr>
  <p:transition spd="med"/>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preserve="1" userDrawn="1">
  <p:cSld name="Three Column Slide_Black">
    <p:bg>
      <p:bgPr>
        <a:solidFill>
          <a:srgbClr val="1E01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2"/>
          <p:cNvSpPr>
            <a:spLocks noGrp="1"/>
          </p:cNvSpPr>
          <p:nvPr>
            <p:ph sz="half" idx="10"/>
          </p:nvPr>
        </p:nvSpPr>
        <p:spPr bwMode="gray">
          <a:xfrm>
            <a:off x="4378399"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017903" y="1307594"/>
            <a:ext cx="341653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3A92B045-EC23-B30D-E716-8FEBB279E86E}"/>
              </a:ext>
            </a:extLst>
          </p:cNvPr>
          <p:cNvSpPr>
            <a:spLocks noGrp="1"/>
          </p:cNvSpPr>
          <p:nvPr>
            <p:ph type="sldNum" sz="quarter" idx="12"/>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367304299"/>
      </p:ext>
    </p:extLst>
  </p:cSld>
  <p:clrMapOvr>
    <a:masterClrMapping/>
  </p:clrMapOvr>
  <p:transition spd="med"/>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Title w/Imag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5725006"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3"/>
            <a:ext cx="5725006"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C8F3C117-A202-AC1A-30DA-A95049B2670E}"/>
              </a:ext>
            </a:extLst>
          </p:cNvPr>
          <p:cNvSpPr>
            <a:spLocks noGrp="1"/>
          </p:cNvSpPr>
          <p:nvPr>
            <p:ph type="sldNum" sz="quarter" idx="17"/>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816850224"/>
      </p:ext>
    </p:extLst>
  </p:cSld>
  <p:clrMapOvr>
    <a:masterClrMapping/>
  </p:clrMapOvr>
  <p:transition spd="med"/>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preserve="1" userDrawn="1">
  <p:cSld name="Title w/Image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5725006"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3"/>
            <a:ext cx="5725006" cy="4919589"/>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EF7E7426-E0FB-DA60-E1E0-A41FD9009F5D}"/>
              </a:ext>
            </a:extLst>
          </p:cNvPr>
          <p:cNvSpPr>
            <a:spLocks noGrp="1"/>
          </p:cNvSpPr>
          <p:nvPr>
            <p:ph type="sldNum" sz="quarter" idx="17"/>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067036277"/>
      </p:ext>
    </p:extLst>
  </p:cSld>
  <p:clrMapOvr>
    <a:masterClrMapping/>
  </p:clrMapOvr>
  <p:transition spd="med"/>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Photo + Statement">
    <p:spTree>
      <p:nvGrpSpPr>
        <p:cNvPr id="1" name=""/>
        <p:cNvGrpSpPr/>
        <p:nvPr/>
      </p:nvGrpSpPr>
      <p:grpSpPr>
        <a:xfrm>
          <a:off x="0" y="0"/>
          <a:ext cx="0" cy="0"/>
          <a:chOff x="0" y="0"/>
          <a:chExt cx="0" cy="0"/>
        </a:xfrm>
      </p:grpSpPr>
      <p:sp>
        <p:nvSpPr>
          <p:cNvPr id="3" name="Rectangle 2"/>
          <p:cNvSpPr/>
          <p:nvPr userDrawn="1"/>
        </p:nvSpPr>
        <p:spPr>
          <a:xfrm>
            <a:off x="1"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8"/>
          <p:cNvSpPr>
            <a:spLocks noGrp="1"/>
          </p:cNvSpPr>
          <p:nvPr>
            <p:ph type="pic" sz="quarter" idx="16"/>
          </p:nvPr>
        </p:nvSpPr>
        <p:spPr>
          <a:xfrm>
            <a:off x="4571604" y="0"/>
            <a:ext cx="7620396"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14" name="Text Placeholder 3"/>
          <p:cNvSpPr>
            <a:spLocks noGrp="1"/>
          </p:cNvSpPr>
          <p:nvPr>
            <p:ph type="body" sz="quarter" idx="18" hasCustomPrompt="1"/>
          </p:nvPr>
        </p:nvSpPr>
        <p:spPr>
          <a:xfrm>
            <a:off x="760610" y="995010"/>
            <a:ext cx="3428016" cy="1436465"/>
          </a:xfrm>
          <a:prstGeom prst="rect">
            <a:avLst/>
          </a:prstGeom>
          <a:noFill/>
        </p:spPr>
        <p:txBody>
          <a:bodyPr lIns="0" tIns="0" rIns="0" bIns="0" anchor="b" anchorCtr="0">
            <a:noAutofit/>
          </a:bodyPr>
          <a:lstStyle>
            <a:lvl1pPr marL="0" indent="0">
              <a:lnSpc>
                <a:spcPct val="85000"/>
              </a:lnSpc>
              <a:spcBef>
                <a:spcPts val="0"/>
              </a:spcBef>
              <a:buFont typeface="Arial" panose="020B0604020202020204" pitchFamily="34" charset="0"/>
              <a:buNone/>
              <a:defRPr sz="4400" b="1" strike="noStrike" spc="-150" baseline="0">
                <a:solidFill>
                  <a:schemeClr val="tx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Click to edit slide title</a:t>
            </a:r>
          </a:p>
        </p:txBody>
      </p:sp>
      <p:sp>
        <p:nvSpPr>
          <p:cNvPr id="2" name="Slide Number Placeholder 1">
            <a:extLst>
              <a:ext uri="{FF2B5EF4-FFF2-40B4-BE49-F238E27FC236}">
                <a16:creationId xmlns:a16="http://schemas.microsoft.com/office/drawing/2014/main" id="{DA2637C5-16EA-761D-E2F8-7F6B3E3B6F6C}"/>
              </a:ext>
            </a:extLst>
          </p:cNvPr>
          <p:cNvSpPr>
            <a:spLocks noGrp="1"/>
          </p:cNvSpPr>
          <p:nvPr>
            <p:ph type="sldNum" sz="quarter" idx="20"/>
          </p:nvPr>
        </p:nvSpPr>
        <p:spPr/>
        <p:txBody>
          <a:bodyPr/>
          <a:lstStyle/>
          <a:p>
            <a:fld id="{6D22F896-40B5-4ADD-8801-0D06FADFA095}" type="slidenum">
              <a:rPr lang="en-US" smtClean="0"/>
              <a:pPr/>
              <a:t>‹#›</a:t>
            </a:fld>
            <a:endParaRPr lang="en-US"/>
          </a:p>
        </p:txBody>
      </p:sp>
      <p:sp>
        <p:nvSpPr>
          <p:cNvPr id="12" name="Content Placeholder 2">
            <a:extLst>
              <a:ext uri="{FF2B5EF4-FFF2-40B4-BE49-F238E27FC236}">
                <a16:creationId xmlns:a16="http://schemas.microsoft.com/office/drawing/2014/main" id="{3939283D-21AA-FD28-A517-FFF4AF9FDA82}"/>
              </a:ext>
            </a:extLst>
          </p:cNvPr>
          <p:cNvSpPr>
            <a:spLocks noGrp="1"/>
          </p:cNvSpPr>
          <p:nvPr>
            <p:ph sz="half" idx="1"/>
          </p:nvPr>
        </p:nvSpPr>
        <p:spPr bwMode="gray">
          <a:xfrm>
            <a:off x="760610" y="2815936"/>
            <a:ext cx="3428016" cy="3280064"/>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21326822"/>
      </p:ext>
    </p:extLst>
  </p:cSld>
  <p:clrMapOvr>
    <a:masterClrMapping/>
  </p:clrMapOvr>
  <p:transition spd="med"/>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preserve="1" userDrawn="1">
  <p:cSld name="Photo + Statement_Black">
    <p:bg>
      <p:bgPr>
        <a:solidFill>
          <a:srgbClr val="1E0113"/>
        </a:solidFill>
        <a:effectLst/>
      </p:bgPr>
    </p:bg>
    <p:spTree>
      <p:nvGrpSpPr>
        <p:cNvPr id="1" name=""/>
        <p:cNvGrpSpPr/>
        <p:nvPr/>
      </p:nvGrpSpPr>
      <p:grpSpPr>
        <a:xfrm>
          <a:off x="0" y="0"/>
          <a:ext cx="0" cy="0"/>
          <a:chOff x="0" y="0"/>
          <a:chExt cx="0" cy="0"/>
        </a:xfrm>
      </p:grpSpPr>
      <p:sp>
        <p:nvSpPr>
          <p:cNvPr id="3" name="Rectangle 2"/>
          <p:cNvSpPr/>
          <p:nvPr userDrawn="1"/>
        </p:nvSpPr>
        <p:spPr>
          <a:xfrm>
            <a:off x="1"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8"/>
          <p:cNvSpPr>
            <a:spLocks noGrp="1"/>
          </p:cNvSpPr>
          <p:nvPr>
            <p:ph type="pic" sz="quarter" idx="16"/>
          </p:nvPr>
        </p:nvSpPr>
        <p:spPr>
          <a:xfrm>
            <a:off x="4571604" y="0"/>
            <a:ext cx="7620396"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2" name="Slide Number Placeholder 1">
            <a:extLst>
              <a:ext uri="{FF2B5EF4-FFF2-40B4-BE49-F238E27FC236}">
                <a16:creationId xmlns:a16="http://schemas.microsoft.com/office/drawing/2014/main" id="{EC182470-3621-1323-235D-7DBA176E68EC}"/>
              </a:ext>
            </a:extLst>
          </p:cNvPr>
          <p:cNvSpPr>
            <a:spLocks noGrp="1"/>
          </p:cNvSpPr>
          <p:nvPr>
            <p:ph type="sldNum" sz="quarter" idx="2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29" name="Text Placeholder 3">
            <a:extLst>
              <a:ext uri="{FF2B5EF4-FFF2-40B4-BE49-F238E27FC236}">
                <a16:creationId xmlns:a16="http://schemas.microsoft.com/office/drawing/2014/main" id="{C11FB6FD-7B80-D920-2B92-D358B184462D}"/>
              </a:ext>
            </a:extLst>
          </p:cNvPr>
          <p:cNvSpPr>
            <a:spLocks noGrp="1"/>
          </p:cNvSpPr>
          <p:nvPr>
            <p:ph type="body" sz="quarter" idx="18" hasCustomPrompt="1"/>
          </p:nvPr>
        </p:nvSpPr>
        <p:spPr>
          <a:xfrm>
            <a:off x="760610" y="995010"/>
            <a:ext cx="3428016" cy="1436465"/>
          </a:xfrm>
          <a:prstGeom prst="rect">
            <a:avLst/>
          </a:prstGeom>
          <a:noFill/>
        </p:spPr>
        <p:txBody>
          <a:bodyPr lIns="0" tIns="0" rIns="0" bIns="0" anchor="b" anchorCtr="0">
            <a:noAutofit/>
          </a:bodyPr>
          <a:lstStyle>
            <a:lvl1pPr marL="0" indent="0">
              <a:lnSpc>
                <a:spcPct val="85000"/>
              </a:lnSpc>
              <a:spcBef>
                <a:spcPts val="0"/>
              </a:spcBef>
              <a:buFont typeface="Arial" panose="020B0604020202020204" pitchFamily="34" charset="0"/>
              <a:buNone/>
              <a:defRPr sz="4400" b="1" strike="noStrike" spc="-150" baseline="0">
                <a:solidFill>
                  <a:schemeClr val="bg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Click to edit slide title</a:t>
            </a:r>
          </a:p>
        </p:txBody>
      </p:sp>
      <p:sp>
        <p:nvSpPr>
          <p:cNvPr id="30" name="Content Placeholder 2">
            <a:extLst>
              <a:ext uri="{FF2B5EF4-FFF2-40B4-BE49-F238E27FC236}">
                <a16:creationId xmlns:a16="http://schemas.microsoft.com/office/drawing/2014/main" id="{5F150789-C64C-B456-4B9A-24AED7315FBB}"/>
              </a:ext>
            </a:extLst>
          </p:cNvPr>
          <p:cNvSpPr>
            <a:spLocks noGrp="1"/>
          </p:cNvSpPr>
          <p:nvPr>
            <p:ph sz="half" idx="1"/>
          </p:nvPr>
        </p:nvSpPr>
        <p:spPr bwMode="gray">
          <a:xfrm>
            <a:off x="760610" y="2815936"/>
            <a:ext cx="3428016" cy="3280064"/>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89280662"/>
      </p:ext>
    </p:extLst>
  </p:cSld>
  <p:clrMapOvr>
    <a:masterClrMapping/>
  </p:clrMapOvr>
  <p:transition spd="med"/>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preserve="1" userDrawn="1">
  <p:cSld name="Big Idea">
    <p:bg>
      <p:bgPr>
        <a:solidFill>
          <a:schemeClr val="accent3">
            <a:lumMod val="25000"/>
          </a:schemeClr>
        </a:solidFill>
        <a:effectLst/>
      </p:bgPr>
    </p:bg>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B8CB8992-3FC1-1D5A-F5A3-5A7867B1CF80}"/>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7" name="Text Placeholder 6">
            <a:extLst>
              <a:ext uri="{FF2B5EF4-FFF2-40B4-BE49-F238E27FC236}">
                <a16:creationId xmlns:a16="http://schemas.microsoft.com/office/drawing/2014/main" id="{EFEF7F64-EAB6-F941-857A-EB6862B07383}"/>
              </a:ext>
            </a:extLst>
          </p:cNvPr>
          <p:cNvSpPr>
            <a:spLocks noGrp="1"/>
          </p:cNvSpPr>
          <p:nvPr>
            <p:ph type="body" sz="quarter" idx="11" hasCustomPrompt="1"/>
          </p:nvPr>
        </p:nvSpPr>
        <p:spPr>
          <a:xfrm>
            <a:off x="760611" y="1757775"/>
            <a:ext cx="10670779" cy="3342453"/>
          </a:xfrm>
          <a:prstGeom prst="rect">
            <a:avLst/>
          </a:prstGeom>
        </p:spPr>
        <p:txBody>
          <a:bodyPr wrap="square" lIns="0" rIns="0" anchor="ctr" anchorCtr="0">
            <a:spAutoFit/>
          </a:bodyPr>
          <a:lstStyle>
            <a:lvl1pPr marL="0" indent="0">
              <a:lnSpc>
                <a:spcPct val="80000"/>
              </a:lnSpc>
              <a:spcBef>
                <a:spcPts val="0"/>
              </a:spcBef>
              <a:buNone/>
              <a:defRPr sz="8800" b="1">
                <a:solidFill>
                  <a:schemeClr val="bg1"/>
                </a:solidFill>
              </a:defRPr>
            </a:lvl1pPr>
            <a:lvl2pPr marL="609494" indent="0">
              <a:buNone/>
              <a:defRPr/>
            </a:lvl2pPr>
          </a:lstStyle>
          <a:p>
            <a:pPr lvl="0"/>
            <a:r>
              <a:rPr lang="en-US"/>
              <a:t>Click to edit big idea, statement or subject</a:t>
            </a:r>
          </a:p>
        </p:txBody>
      </p:sp>
    </p:spTree>
    <p:extLst>
      <p:ext uri="{BB962C8B-B14F-4D97-AF65-F5344CB8AC3E}">
        <p14:creationId xmlns:p14="http://schemas.microsoft.com/office/powerpoint/2010/main" val="3564932804"/>
      </p:ext>
    </p:extLst>
  </p:cSld>
  <p:clrMapOvr>
    <a:masterClrMapping/>
  </p:clrMapOvr>
  <p:transition spd="med"/>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Content w/ Product">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9" name="Content Placeholder 2"/>
          <p:cNvSpPr>
            <a:spLocks noGrp="1"/>
          </p:cNvSpPr>
          <p:nvPr>
            <p:ph sz="half" idx="18"/>
          </p:nvPr>
        </p:nvSpPr>
        <p:spPr bwMode="gray">
          <a:xfrm>
            <a:off x="6858198" y="1307593"/>
            <a:ext cx="4573192"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58198" y="442528"/>
            <a:ext cx="4573192"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0AFBC96C-E04F-90E6-1BBE-C65ECD6E5C14}"/>
              </a:ext>
            </a:extLst>
          </p:cNvPr>
          <p:cNvSpPr>
            <a:spLocks noGrp="1"/>
          </p:cNvSpPr>
          <p:nvPr>
            <p:ph type="sldNum" sz="quarter" idx="19"/>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448261488"/>
      </p:ext>
    </p:extLst>
  </p:cSld>
  <p:clrMapOvr>
    <a:masterClrMapping/>
  </p:clrMapOvr>
  <p:transition spd="med"/>
</p:sldLayout>
</file>

<file path=ppt/slideLayouts/slideLayout186.xml><?xml version="1.0" encoding="utf-8"?>
<p:sldLayout xmlns:a="http://schemas.openxmlformats.org/drawingml/2006/main" xmlns:r="http://schemas.openxmlformats.org/officeDocument/2006/relationships" xmlns:p="http://schemas.openxmlformats.org/presentationml/2006/main" showMasterSp="0" preserve="1" userDrawn="1">
  <p:cSld name="Content w/ Product_Black">
    <p:bg>
      <p:bgPr>
        <a:solidFill>
          <a:srgbClr val="1E0113"/>
        </a:solidFill>
        <a:effectLst/>
      </p:bgPr>
    </p:bg>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400">
                <a:solidFill>
                  <a:schemeClr val="accent1"/>
                </a:solidFill>
              </a:defRPr>
            </a:lvl1pPr>
          </a:lstStyle>
          <a:p>
            <a:r>
              <a:rPr lang="en-US"/>
              <a:t>Click icon to add picture</a:t>
            </a:r>
          </a:p>
        </p:txBody>
      </p:sp>
      <p:sp>
        <p:nvSpPr>
          <p:cNvPr id="9" name="Content Placeholder 2"/>
          <p:cNvSpPr>
            <a:spLocks noGrp="1"/>
          </p:cNvSpPr>
          <p:nvPr>
            <p:ph sz="half" idx="18"/>
          </p:nvPr>
        </p:nvSpPr>
        <p:spPr bwMode="gray">
          <a:xfrm>
            <a:off x="6858200" y="1307592"/>
            <a:ext cx="4573191" cy="4788408"/>
          </a:xfrm>
          <a:prstGeom prst="rect">
            <a:avLst/>
          </a:prstGeom>
        </p:spPr>
        <p:txBody>
          <a:bodyPr lIns="0" tIns="0" rIns="0" bIns="0"/>
          <a:lstStyle>
            <a:lvl1pPr marL="171450" indent="-171450">
              <a:lnSpc>
                <a:spcPct val="90000"/>
              </a:lnSpc>
              <a:spcBef>
                <a:spcPts val="5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58199" y="442528"/>
            <a:ext cx="4573192" cy="418576"/>
          </a:xfrm>
          <a:prstGeom prst="rect">
            <a:avLst/>
          </a:prstGeom>
        </p:spPr>
        <p:txBody>
          <a:bodyPr wrap="square" lIns="0" tIns="0" rIns="0" bIns="0" anchor="t" anchorCtr="0">
            <a:sp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E5A84DA8-2577-7EF4-6122-06E4DEEB80AF}"/>
              </a:ext>
            </a:extLst>
          </p:cNvPr>
          <p:cNvSpPr>
            <a:spLocks noGrp="1"/>
          </p:cNvSpPr>
          <p:nvPr>
            <p:ph type="sldNum" sz="quarter" idx="19"/>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421766567"/>
      </p:ext>
    </p:extLst>
  </p:cSld>
  <p:clrMapOvr>
    <a:masterClrMapping/>
  </p:clrMapOvr>
  <p:transition spd="med"/>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sp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760612" y="1524000"/>
            <a:ext cx="10670779" cy="4572000"/>
          </a:xfrm>
          <a:prstGeom prst="rect">
            <a:avLst/>
          </a:prstGeom>
        </p:spPr>
        <p:txBody>
          <a:bodyPr lIns="121899" tIns="853291" rIns="121899" bIns="60949" anchor="ctr" anchorCtr="0"/>
          <a:lstStyle>
            <a:lvl1pPr marL="0" indent="0" algn="ctr">
              <a:buFontTx/>
              <a:buNone/>
              <a:defRPr sz="2400" baseline="0">
                <a:solidFill>
                  <a:schemeClr val="bg2"/>
                </a:solidFill>
              </a:defRPr>
            </a:lvl1pPr>
          </a:lstStyle>
          <a:p>
            <a:r>
              <a:rPr lang="en-US"/>
              <a:t>Click icon to create chart</a:t>
            </a:r>
          </a:p>
        </p:txBody>
      </p:sp>
      <p:sp>
        <p:nvSpPr>
          <p:cNvPr id="2" name="Slide Number Placeholder 1">
            <a:extLst>
              <a:ext uri="{FF2B5EF4-FFF2-40B4-BE49-F238E27FC236}">
                <a16:creationId xmlns:a16="http://schemas.microsoft.com/office/drawing/2014/main" id="{BBE9C038-E754-006F-B382-D714EB949571}"/>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285483457"/>
      </p:ext>
    </p:extLst>
  </p:cSld>
  <p:clrMapOvr>
    <a:masterClrMapping/>
  </p:clrMapOvr>
  <p:transition spd="med"/>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preserve="1" userDrawn="1">
  <p:cSld name="Chart Slide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760612" y="1524000"/>
            <a:ext cx="10670779" cy="4572001"/>
          </a:xfrm>
          <a:prstGeom prst="rect">
            <a:avLst/>
          </a:prstGeom>
        </p:spPr>
        <p:txBody>
          <a:bodyPr lIns="121899" tIns="853291" rIns="121899" bIns="60949" anchor="ctr" anchorCtr="0"/>
          <a:lstStyle>
            <a:lvl1pPr marL="0" indent="0" algn="ctr">
              <a:buFontTx/>
              <a:buNone/>
              <a:defRPr sz="2400" baseline="0">
                <a:solidFill>
                  <a:schemeClr val="bg1"/>
                </a:solidFill>
              </a:defRPr>
            </a:lvl1pPr>
          </a:lstStyle>
          <a:p>
            <a:r>
              <a:rPr lang="en-US"/>
              <a:t>Click icon to create chart</a:t>
            </a:r>
          </a:p>
        </p:txBody>
      </p:sp>
      <p:sp>
        <p:nvSpPr>
          <p:cNvPr id="2" name="Slide Number Placeholder 1">
            <a:extLst>
              <a:ext uri="{FF2B5EF4-FFF2-40B4-BE49-F238E27FC236}">
                <a16:creationId xmlns:a16="http://schemas.microsoft.com/office/drawing/2014/main" id="{A1222CEF-FCD3-E840-7AE1-E900A5D59CF2}"/>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038533634"/>
      </p:ext>
    </p:extLst>
  </p:cSld>
  <p:clrMapOvr>
    <a:masterClrMapping/>
  </p:clrMapOvr>
  <p:transition spd="med"/>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12E9409-35B8-57EB-2941-154C5CA02C3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482698797"/>
      </p:ext>
    </p:extLst>
  </p:cSld>
  <p:clrMapOvr>
    <a:masterClrMapping/>
  </p:clrMapOvr>
  <p:transition spd="med"/>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preserve="1" userDrawn="1">
  <p:cSld name="Blank Slide_Black">
    <p:bg>
      <p:bgPr>
        <a:solidFill>
          <a:srgbClr val="1E0113"/>
        </a:solidFill>
        <a:effectLst/>
      </p:bgPr>
    </p:bg>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0094B782-D6B1-E164-080E-40821B7DAFAF}"/>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665236575"/>
      </p:ext>
    </p:extLst>
  </p:cSld>
  <p:clrMapOvr>
    <a:masterClrMapping/>
  </p:clrMapOvr>
  <p:transition spd="med"/>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preserve="1" userDrawn="1">
  <p:cSld name="Closing Slide">
    <p:bg>
      <p:bgPr>
        <a:solidFill>
          <a:schemeClr val="bg1"/>
        </a:solidFill>
        <a:effectLst/>
      </p:bgPr>
    </p:bg>
    <p:spTree>
      <p:nvGrpSpPr>
        <p:cNvPr id="1" name=""/>
        <p:cNvGrpSpPr/>
        <p:nvPr/>
      </p:nvGrpSpPr>
      <p:grpSpPr>
        <a:xfrm>
          <a:off x="0" y="0"/>
          <a:ext cx="0" cy="0"/>
          <a:chOff x="0" y="0"/>
          <a:chExt cx="0" cy="0"/>
        </a:xfrm>
      </p:grpSpPr>
      <p:grpSp>
        <p:nvGrpSpPr>
          <p:cNvPr id="76" name="Group 75">
            <a:extLst>
              <a:ext uri="{FF2B5EF4-FFF2-40B4-BE49-F238E27FC236}">
                <a16:creationId xmlns:a16="http://schemas.microsoft.com/office/drawing/2014/main" id="{04DB0252-2F51-9D54-5F87-47E8112037C5}"/>
              </a:ext>
            </a:extLst>
          </p:cNvPr>
          <p:cNvGrpSpPr/>
          <p:nvPr userDrawn="1"/>
        </p:nvGrpSpPr>
        <p:grpSpPr>
          <a:xfrm>
            <a:off x="9392771" y="936748"/>
            <a:ext cx="1966475" cy="1042086"/>
            <a:chOff x="4988072" y="501936"/>
            <a:chExt cx="1978802" cy="1051017"/>
          </a:xfrm>
          <a:solidFill>
            <a:srgbClr val="4D144A"/>
          </a:solidFill>
        </p:grpSpPr>
        <p:sp>
          <p:nvSpPr>
            <p:cNvPr id="85" name="Freeform 5">
              <a:extLst>
                <a:ext uri="{FF2B5EF4-FFF2-40B4-BE49-F238E27FC236}">
                  <a16:creationId xmlns:a16="http://schemas.microsoft.com/office/drawing/2014/main" id="{433FD598-576F-FFF0-672B-6A9B1AF51242}"/>
                </a:ext>
              </a:extLst>
            </p:cNvPr>
            <p:cNvSpPr>
              <a:spLocks/>
            </p:cNvSpPr>
            <p:nvPr userDrawn="1"/>
          </p:nvSpPr>
          <p:spPr bwMode="auto">
            <a:xfrm>
              <a:off x="5559016" y="501936"/>
              <a:ext cx="218094" cy="282813"/>
            </a:xfrm>
            <a:custGeom>
              <a:avLst/>
              <a:gdLst>
                <a:gd name="T0" fmla="*/ 0 w 502"/>
                <a:gd name="T1" fmla="*/ 550 h 651"/>
                <a:gd name="T2" fmla="*/ 83 w 502"/>
                <a:gd name="T3" fmla="*/ 451 h 651"/>
                <a:gd name="T4" fmla="*/ 272 w 502"/>
                <a:gd name="T5" fmla="*/ 528 h 651"/>
                <a:gd name="T6" fmla="*/ 363 w 502"/>
                <a:gd name="T7" fmla="*/ 469 h 651"/>
                <a:gd name="T8" fmla="*/ 363 w 502"/>
                <a:gd name="T9" fmla="*/ 467 h 651"/>
                <a:gd name="T10" fmla="*/ 236 w 502"/>
                <a:gd name="T11" fmla="*/ 386 h 651"/>
                <a:gd name="T12" fmla="*/ 26 w 502"/>
                <a:gd name="T13" fmla="*/ 192 h 651"/>
                <a:gd name="T14" fmla="*/ 26 w 502"/>
                <a:gd name="T15" fmla="*/ 191 h 651"/>
                <a:gd name="T16" fmla="*/ 247 w 502"/>
                <a:gd name="T17" fmla="*/ 0 h 651"/>
                <a:gd name="T18" fmla="*/ 483 w 502"/>
                <a:gd name="T19" fmla="*/ 80 h 651"/>
                <a:gd name="T20" fmla="*/ 410 w 502"/>
                <a:gd name="T21" fmla="*/ 185 h 651"/>
                <a:gd name="T22" fmla="*/ 246 w 502"/>
                <a:gd name="T23" fmla="*/ 123 h 651"/>
                <a:gd name="T24" fmla="*/ 164 w 502"/>
                <a:gd name="T25" fmla="*/ 178 h 651"/>
                <a:gd name="T26" fmla="*/ 164 w 502"/>
                <a:gd name="T27" fmla="*/ 180 h 651"/>
                <a:gd name="T28" fmla="*/ 301 w 502"/>
                <a:gd name="T29" fmla="*/ 263 h 651"/>
                <a:gd name="T30" fmla="*/ 502 w 502"/>
                <a:gd name="T31" fmla="*/ 453 h 651"/>
                <a:gd name="T32" fmla="*/ 502 w 502"/>
                <a:gd name="T33" fmla="*/ 455 h 651"/>
                <a:gd name="T34" fmla="*/ 269 w 502"/>
                <a:gd name="T35" fmla="*/ 651 h 651"/>
                <a:gd name="T36" fmla="*/ 0 w 502"/>
                <a:gd name="T37" fmla="*/ 55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651">
                  <a:moveTo>
                    <a:pt x="0" y="550"/>
                  </a:moveTo>
                  <a:cubicBezTo>
                    <a:pt x="83" y="451"/>
                    <a:pt x="83" y="451"/>
                    <a:pt x="83" y="451"/>
                  </a:cubicBezTo>
                  <a:cubicBezTo>
                    <a:pt x="140" y="498"/>
                    <a:pt x="200" y="528"/>
                    <a:pt x="272" y="528"/>
                  </a:cubicBezTo>
                  <a:cubicBezTo>
                    <a:pt x="329" y="528"/>
                    <a:pt x="363" y="506"/>
                    <a:pt x="363" y="469"/>
                  </a:cubicBezTo>
                  <a:cubicBezTo>
                    <a:pt x="363" y="467"/>
                    <a:pt x="363" y="467"/>
                    <a:pt x="363" y="467"/>
                  </a:cubicBezTo>
                  <a:cubicBezTo>
                    <a:pt x="363" y="431"/>
                    <a:pt x="342" y="413"/>
                    <a:pt x="236" y="386"/>
                  </a:cubicBezTo>
                  <a:cubicBezTo>
                    <a:pt x="108" y="354"/>
                    <a:pt x="26" y="318"/>
                    <a:pt x="26" y="192"/>
                  </a:cubicBezTo>
                  <a:cubicBezTo>
                    <a:pt x="26" y="191"/>
                    <a:pt x="26" y="191"/>
                    <a:pt x="26" y="191"/>
                  </a:cubicBezTo>
                  <a:cubicBezTo>
                    <a:pt x="26" y="76"/>
                    <a:pt x="118" y="0"/>
                    <a:pt x="247" y="0"/>
                  </a:cubicBezTo>
                  <a:cubicBezTo>
                    <a:pt x="340" y="0"/>
                    <a:pt x="419" y="29"/>
                    <a:pt x="483" y="80"/>
                  </a:cubicBezTo>
                  <a:cubicBezTo>
                    <a:pt x="410" y="185"/>
                    <a:pt x="410" y="185"/>
                    <a:pt x="410" y="185"/>
                  </a:cubicBezTo>
                  <a:cubicBezTo>
                    <a:pt x="354" y="146"/>
                    <a:pt x="299" y="123"/>
                    <a:pt x="246" y="123"/>
                  </a:cubicBezTo>
                  <a:cubicBezTo>
                    <a:pt x="192" y="123"/>
                    <a:pt x="164" y="147"/>
                    <a:pt x="164" y="178"/>
                  </a:cubicBezTo>
                  <a:cubicBezTo>
                    <a:pt x="164" y="180"/>
                    <a:pt x="164" y="180"/>
                    <a:pt x="164" y="180"/>
                  </a:cubicBezTo>
                  <a:cubicBezTo>
                    <a:pt x="164" y="221"/>
                    <a:pt x="191" y="235"/>
                    <a:pt x="301" y="263"/>
                  </a:cubicBezTo>
                  <a:cubicBezTo>
                    <a:pt x="429" y="297"/>
                    <a:pt x="502" y="343"/>
                    <a:pt x="502" y="453"/>
                  </a:cubicBezTo>
                  <a:cubicBezTo>
                    <a:pt x="502" y="455"/>
                    <a:pt x="502" y="455"/>
                    <a:pt x="502" y="455"/>
                  </a:cubicBezTo>
                  <a:cubicBezTo>
                    <a:pt x="502" y="581"/>
                    <a:pt x="406" y="651"/>
                    <a:pt x="269" y="651"/>
                  </a:cubicBezTo>
                  <a:cubicBezTo>
                    <a:pt x="173" y="651"/>
                    <a:pt x="76" y="618"/>
                    <a:pt x="0" y="5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6" name="Freeform 6">
              <a:extLst>
                <a:ext uri="{FF2B5EF4-FFF2-40B4-BE49-F238E27FC236}">
                  <a16:creationId xmlns:a16="http://schemas.microsoft.com/office/drawing/2014/main" id="{824AAD10-C96C-2D4A-15C2-1D354C7C691E}"/>
                </a:ext>
              </a:extLst>
            </p:cNvPr>
            <p:cNvSpPr>
              <a:spLocks/>
            </p:cNvSpPr>
            <p:nvPr userDrawn="1"/>
          </p:nvSpPr>
          <p:spPr bwMode="auto">
            <a:xfrm>
              <a:off x="5791295" y="566212"/>
              <a:ext cx="322264" cy="214547"/>
            </a:xfrm>
            <a:custGeom>
              <a:avLst/>
              <a:gdLst>
                <a:gd name="T0" fmla="*/ 0 w 741"/>
                <a:gd name="T1" fmla="*/ 9 h 494"/>
                <a:gd name="T2" fmla="*/ 138 w 741"/>
                <a:gd name="T3" fmla="*/ 9 h 494"/>
                <a:gd name="T4" fmla="*/ 138 w 741"/>
                <a:gd name="T5" fmla="*/ 78 h 494"/>
                <a:gd name="T6" fmla="*/ 281 w 741"/>
                <a:gd name="T7" fmla="*/ 0 h 494"/>
                <a:gd name="T8" fmla="*/ 418 w 741"/>
                <a:gd name="T9" fmla="*/ 77 h 494"/>
                <a:gd name="T10" fmla="*/ 577 w 741"/>
                <a:gd name="T11" fmla="*/ 0 h 494"/>
                <a:gd name="T12" fmla="*/ 741 w 741"/>
                <a:gd name="T13" fmla="*/ 178 h 494"/>
                <a:gd name="T14" fmla="*/ 741 w 741"/>
                <a:gd name="T15" fmla="*/ 494 h 494"/>
                <a:gd name="T16" fmla="*/ 603 w 741"/>
                <a:gd name="T17" fmla="*/ 494 h 494"/>
                <a:gd name="T18" fmla="*/ 603 w 741"/>
                <a:gd name="T19" fmla="*/ 224 h 494"/>
                <a:gd name="T20" fmla="*/ 523 w 741"/>
                <a:gd name="T21" fmla="*/ 125 h 494"/>
                <a:gd name="T22" fmla="*/ 439 w 741"/>
                <a:gd name="T23" fmla="*/ 224 h 494"/>
                <a:gd name="T24" fmla="*/ 439 w 741"/>
                <a:gd name="T25" fmla="*/ 494 h 494"/>
                <a:gd name="T26" fmla="*/ 302 w 741"/>
                <a:gd name="T27" fmla="*/ 494 h 494"/>
                <a:gd name="T28" fmla="*/ 302 w 741"/>
                <a:gd name="T29" fmla="*/ 224 h 494"/>
                <a:gd name="T30" fmla="*/ 221 w 741"/>
                <a:gd name="T31" fmla="*/ 125 h 494"/>
                <a:gd name="T32" fmla="*/ 138 w 741"/>
                <a:gd name="T33" fmla="*/ 224 h 494"/>
                <a:gd name="T34" fmla="*/ 138 w 741"/>
                <a:gd name="T35" fmla="*/ 494 h 494"/>
                <a:gd name="T36" fmla="*/ 0 w 741"/>
                <a:gd name="T37" fmla="*/ 494 h 494"/>
                <a:gd name="T38" fmla="*/ 0 w 741"/>
                <a:gd name="T39"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1" h="494">
                  <a:moveTo>
                    <a:pt x="0" y="9"/>
                  </a:moveTo>
                  <a:cubicBezTo>
                    <a:pt x="138" y="9"/>
                    <a:pt x="138" y="9"/>
                    <a:pt x="138" y="9"/>
                  </a:cubicBezTo>
                  <a:cubicBezTo>
                    <a:pt x="138" y="78"/>
                    <a:pt x="138" y="78"/>
                    <a:pt x="138" y="78"/>
                  </a:cubicBezTo>
                  <a:cubicBezTo>
                    <a:pt x="170" y="37"/>
                    <a:pt x="211" y="0"/>
                    <a:pt x="281" y="0"/>
                  </a:cubicBezTo>
                  <a:cubicBezTo>
                    <a:pt x="344" y="0"/>
                    <a:pt x="392" y="28"/>
                    <a:pt x="418" y="77"/>
                  </a:cubicBezTo>
                  <a:cubicBezTo>
                    <a:pt x="460" y="27"/>
                    <a:pt x="511" y="0"/>
                    <a:pt x="577" y="0"/>
                  </a:cubicBezTo>
                  <a:cubicBezTo>
                    <a:pt x="679" y="0"/>
                    <a:pt x="741" y="62"/>
                    <a:pt x="741" y="178"/>
                  </a:cubicBezTo>
                  <a:cubicBezTo>
                    <a:pt x="741" y="494"/>
                    <a:pt x="741" y="494"/>
                    <a:pt x="741" y="494"/>
                  </a:cubicBezTo>
                  <a:cubicBezTo>
                    <a:pt x="603" y="494"/>
                    <a:pt x="603" y="494"/>
                    <a:pt x="603" y="494"/>
                  </a:cubicBezTo>
                  <a:cubicBezTo>
                    <a:pt x="603" y="224"/>
                    <a:pt x="603" y="224"/>
                    <a:pt x="603" y="224"/>
                  </a:cubicBezTo>
                  <a:cubicBezTo>
                    <a:pt x="603" y="159"/>
                    <a:pt x="574" y="125"/>
                    <a:pt x="523" y="125"/>
                  </a:cubicBezTo>
                  <a:cubicBezTo>
                    <a:pt x="471" y="125"/>
                    <a:pt x="439" y="159"/>
                    <a:pt x="439" y="224"/>
                  </a:cubicBezTo>
                  <a:cubicBezTo>
                    <a:pt x="439" y="494"/>
                    <a:pt x="439" y="494"/>
                    <a:pt x="439" y="494"/>
                  </a:cubicBezTo>
                  <a:cubicBezTo>
                    <a:pt x="302" y="494"/>
                    <a:pt x="302" y="494"/>
                    <a:pt x="302" y="494"/>
                  </a:cubicBezTo>
                  <a:cubicBezTo>
                    <a:pt x="302" y="224"/>
                    <a:pt x="302" y="224"/>
                    <a:pt x="302" y="224"/>
                  </a:cubicBezTo>
                  <a:cubicBezTo>
                    <a:pt x="302" y="159"/>
                    <a:pt x="273" y="125"/>
                    <a:pt x="221" y="125"/>
                  </a:cubicBezTo>
                  <a:cubicBezTo>
                    <a:pt x="170" y="125"/>
                    <a:pt x="138" y="159"/>
                    <a:pt x="138" y="224"/>
                  </a:cubicBezTo>
                  <a:cubicBezTo>
                    <a:pt x="138" y="494"/>
                    <a:pt x="138" y="494"/>
                    <a:pt x="138"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7" name="Freeform 7">
              <a:extLst>
                <a:ext uri="{FF2B5EF4-FFF2-40B4-BE49-F238E27FC236}">
                  <a16:creationId xmlns:a16="http://schemas.microsoft.com/office/drawing/2014/main" id="{8776387C-7DBE-0FBD-3AED-689433E76864}"/>
                </a:ext>
              </a:extLst>
            </p:cNvPr>
            <p:cNvSpPr>
              <a:spLocks noEditPoints="1"/>
            </p:cNvSpPr>
            <p:nvPr userDrawn="1"/>
          </p:nvSpPr>
          <p:spPr bwMode="auto">
            <a:xfrm>
              <a:off x="6125971" y="567985"/>
              <a:ext cx="193713" cy="216764"/>
            </a:xfrm>
            <a:custGeom>
              <a:avLst/>
              <a:gdLst>
                <a:gd name="T0" fmla="*/ 0 w 446"/>
                <a:gd name="T1" fmla="*/ 351 h 499"/>
                <a:gd name="T2" fmla="*/ 0 w 446"/>
                <a:gd name="T3" fmla="*/ 349 h 499"/>
                <a:gd name="T4" fmla="*/ 195 w 446"/>
                <a:gd name="T5" fmla="*/ 194 h 499"/>
                <a:gd name="T6" fmla="*/ 314 w 446"/>
                <a:gd name="T7" fmla="*/ 214 h 499"/>
                <a:gd name="T8" fmla="*/ 314 w 446"/>
                <a:gd name="T9" fmla="*/ 206 h 499"/>
                <a:gd name="T10" fmla="*/ 210 w 446"/>
                <a:gd name="T11" fmla="*/ 117 h 499"/>
                <a:gd name="T12" fmla="*/ 76 w 446"/>
                <a:gd name="T13" fmla="*/ 144 h 499"/>
                <a:gd name="T14" fmla="*/ 42 w 446"/>
                <a:gd name="T15" fmla="*/ 39 h 499"/>
                <a:gd name="T16" fmla="*/ 230 w 446"/>
                <a:gd name="T17" fmla="*/ 0 h 499"/>
                <a:gd name="T18" fmla="*/ 394 w 446"/>
                <a:gd name="T19" fmla="*/ 54 h 499"/>
                <a:gd name="T20" fmla="*/ 446 w 446"/>
                <a:gd name="T21" fmla="*/ 209 h 499"/>
                <a:gd name="T22" fmla="*/ 446 w 446"/>
                <a:gd name="T23" fmla="*/ 490 h 499"/>
                <a:gd name="T24" fmla="*/ 313 w 446"/>
                <a:gd name="T25" fmla="*/ 490 h 499"/>
                <a:gd name="T26" fmla="*/ 313 w 446"/>
                <a:gd name="T27" fmla="*/ 438 h 499"/>
                <a:gd name="T28" fmla="*/ 166 w 446"/>
                <a:gd name="T29" fmla="*/ 499 h 499"/>
                <a:gd name="T30" fmla="*/ 0 w 446"/>
                <a:gd name="T31" fmla="*/ 351 h 499"/>
                <a:gd name="T32" fmla="*/ 316 w 446"/>
                <a:gd name="T33" fmla="*/ 319 h 499"/>
                <a:gd name="T34" fmla="*/ 316 w 446"/>
                <a:gd name="T35" fmla="*/ 295 h 499"/>
                <a:gd name="T36" fmla="*/ 228 w 446"/>
                <a:gd name="T37" fmla="*/ 277 h 499"/>
                <a:gd name="T38" fmla="*/ 133 w 446"/>
                <a:gd name="T39" fmla="*/ 344 h 499"/>
                <a:gd name="T40" fmla="*/ 133 w 446"/>
                <a:gd name="T41" fmla="*/ 346 h 499"/>
                <a:gd name="T42" fmla="*/ 208 w 446"/>
                <a:gd name="T43" fmla="*/ 404 h 499"/>
                <a:gd name="T44" fmla="*/ 316 w 446"/>
                <a:gd name="T45" fmla="*/ 31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499">
                  <a:moveTo>
                    <a:pt x="0" y="351"/>
                  </a:moveTo>
                  <a:cubicBezTo>
                    <a:pt x="0" y="349"/>
                    <a:pt x="0" y="349"/>
                    <a:pt x="0" y="349"/>
                  </a:cubicBezTo>
                  <a:cubicBezTo>
                    <a:pt x="0" y="243"/>
                    <a:pt x="80" y="194"/>
                    <a:pt x="195" y="194"/>
                  </a:cubicBezTo>
                  <a:cubicBezTo>
                    <a:pt x="244" y="194"/>
                    <a:pt x="280" y="202"/>
                    <a:pt x="314" y="214"/>
                  </a:cubicBezTo>
                  <a:cubicBezTo>
                    <a:pt x="314" y="206"/>
                    <a:pt x="314" y="206"/>
                    <a:pt x="314" y="206"/>
                  </a:cubicBezTo>
                  <a:cubicBezTo>
                    <a:pt x="314" y="149"/>
                    <a:pt x="279" y="117"/>
                    <a:pt x="210" y="117"/>
                  </a:cubicBezTo>
                  <a:cubicBezTo>
                    <a:pt x="157" y="117"/>
                    <a:pt x="120" y="127"/>
                    <a:pt x="76" y="144"/>
                  </a:cubicBezTo>
                  <a:cubicBezTo>
                    <a:pt x="42" y="39"/>
                    <a:pt x="42" y="39"/>
                    <a:pt x="42" y="39"/>
                  </a:cubicBezTo>
                  <a:cubicBezTo>
                    <a:pt x="95" y="15"/>
                    <a:pt x="147" y="0"/>
                    <a:pt x="230" y="0"/>
                  </a:cubicBezTo>
                  <a:cubicBezTo>
                    <a:pt x="305" y="0"/>
                    <a:pt x="359" y="20"/>
                    <a:pt x="394" y="54"/>
                  </a:cubicBezTo>
                  <a:cubicBezTo>
                    <a:pt x="430" y="90"/>
                    <a:pt x="446" y="144"/>
                    <a:pt x="446" y="209"/>
                  </a:cubicBezTo>
                  <a:cubicBezTo>
                    <a:pt x="446" y="490"/>
                    <a:pt x="446" y="490"/>
                    <a:pt x="446" y="490"/>
                  </a:cubicBezTo>
                  <a:cubicBezTo>
                    <a:pt x="313" y="490"/>
                    <a:pt x="313" y="490"/>
                    <a:pt x="313" y="490"/>
                  </a:cubicBezTo>
                  <a:cubicBezTo>
                    <a:pt x="313" y="438"/>
                    <a:pt x="313" y="438"/>
                    <a:pt x="313" y="438"/>
                  </a:cubicBezTo>
                  <a:cubicBezTo>
                    <a:pt x="280" y="475"/>
                    <a:pt x="233" y="499"/>
                    <a:pt x="166" y="499"/>
                  </a:cubicBezTo>
                  <a:cubicBezTo>
                    <a:pt x="75" y="499"/>
                    <a:pt x="0" y="447"/>
                    <a:pt x="0" y="351"/>
                  </a:cubicBezTo>
                  <a:close/>
                  <a:moveTo>
                    <a:pt x="316" y="319"/>
                  </a:moveTo>
                  <a:cubicBezTo>
                    <a:pt x="316" y="295"/>
                    <a:pt x="316" y="295"/>
                    <a:pt x="316" y="295"/>
                  </a:cubicBezTo>
                  <a:cubicBezTo>
                    <a:pt x="292" y="284"/>
                    <a:pt x="262" y="277"/>
                    <a:pt x="228" y="277"/>
                  </a:cubicBezTo>
                  <a:cubicBezTo>
                    <a:pt x="169" y="277"/>
                    <a:pt x="133" y="300"/>
                    <a:pt x="133" y="344"/>
                  </a:cubicBezTo>
                  <a:cubicBezTo>
                    <a:pt x="133" y="346"/>
                    <a:pt x="133" y="346"/>
                    <a:pt x="133" y="346"/>
                  </a:cubicBezTo>
                  <a:cubicBezTo>
                    <a:pt x="133" y="383"/>
                    <a:pt x="164" y="404"/>
                    <a:pt x="208" y="404"/>
                  </a:cubicBezTo>
                  <a:cubicBezTo>
                    <a:pt x="272" y="404"/>
                    <a:pt x="316" y="369"/>
                    <a:pt x="316" y="3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8" name="Freeform 8">
              <a:extLst>
                <a:ext uri="{FF2B5EF4-FFF2-40B4-BE49-F238E27FC236}">
                  <a16:creationId xmlns:a16="http://schemas.microsoft.com/office/drawing/2014/main" id="{262E0FEC-2981-11B0-3D88-8A94D08178CF}"/>
                </a:ext>
              </a:extLst>
            </p:cNvPr>
            <p:cNvSpPr>
              <a:spLocks/>
            </p:cNvSpPr>
            <p:nvPr userDrawn="1"/>
          </p:nvSpPr>
          <p:spPr bwMode="auto">
            <a:xfrm>
              <a:off x="6336529" y="564438"/>
              <a:ext cx="127665"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9" name="Freeform 9">
              <a:extLst>
                <a:ext uri="{FF2B5EF4-FFF2-40B4-BE49-F238E27FC236}">
                  <a16:creationId xmlns:a16="http://schemas.microsoft.com/office/drawing/2014/main" id="{FECC1288-545E-BDB4-6462-3EE5544D7025}"/>
                </a:ext>
              </a:extLst>
            </p:cNvPr>
            <p:cNvSpPr>
              <a:spLocks/>
            </p:cNvSpPr>
            <p:nvPr userDrawn="1"/>
          </p:nvSpPr>
          <p:spPr bwMode="auto">
            <a:xfrm>
              <a:off x="6475719" y="516121"/>
              <a:ext cx="134757" cy="268184"/>
            </a:xfrm>
            <a:custGeom>
              <a:avLst/>
              <a:gdLst>
                <a:gd name="T0" fmla="*/ 58 w 310"/>
                <a:gd name="T1" fmla="*/ 472 h 617"/>
                <a:gd name="T2" fmla="*/ 58 w 310"/>
                <a:gd name="T3" fmla="*/ 242 h 617"/>
                <a:gd name="T4" fmla="*/ 0 w 310"/>
                <a:gd name="T5" fmla="*/ 242 h 617"/>
                <a:gd name="T6" fmla="*/ 0 w 310"/>
                <a:gd name="T7" fmla="*/ 124 h 617"/>
                <a:gd name="T8" fmla="*/ 58 w 310"/>
                <a:gd name="T9" fmla="*/ 124 h 617"/>
                <a:gd name="T10" fmla="*/ 58 w 310"/>
                <a:gd name="T11" fmla="*/ 0 h 617"/>
                <a:gd name="T12" fmla="*/ 196 w 310"/>
                <a:gd name="T13" fmla="*/ 0 h 617"/>
                <a:gd name="T14" fmla="*/ 196 w 310"/>
                <a:gd name="T15" fmla="*/ 124 h 617"/>
                <a:gd name="T16" fmla="*/ 310 w 310"/>
                <a:gd name="T17" fmla="*/ 124 h 617"/>
                <a:gd name="T18" fmla="*/ 310 w 310"/>
                <a:gd name="T19" fmla="*/ 242 h 617"/>
                <a:gd name="T20" fmla="*/ 196 w 310"/>
                <a:gd name="T21" fmla="*/ 242 h 617"/>
                <a:gd name="T22" fmla="*/ 196 w 310"/>
                <a:gd name="T23" fmla="*/ 449 h 617"/>
                <a:gd name="T24" fmla="*/ 240 w 310"/>
                <a:gd name="T25" fmla="*/ 496 h 617"/>
                <a:gd name="T26" fmla="*/ 308 w 310"/>
                <a:gd name="T27" fmla="*/ 479 h 617"/>
                <a:gd name="T28" fmla="*/ 308 w 310"/>
                <a:gd name="T29" fmla="*/ 589 h 617"/>
                <a:gd name="T30" fmla="*/ 199 w 310"/>
                <a:gd name="T31" fmla="*/ 617 h 617"/>
                <a:gd name="T32" fmla="*/ 58 w 310"/>
                <a:gd name="T33" fmla="*/ 472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7">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6" y="0"/>
                    <a:pt x="196" y="0"/>
                    <a:pt x="196" y="0"/>
                  </a:cubicBezTo>
                  <a:cubicBezTo>
                    <a:pt x="196" y="124"/>
                    <a:pt x="196" y="124"/>
                    <a:pt x="196" y="124"/>
                  </a:cubicBezTo>
                  <a:cubicBezTo>
                    <a:pt x="310" y="124"/>
                    <a:pt x="310" y="124"/>
                    <a:pt x="310" y="124"/>
                  </a:cubicBezTo>
                  <a:cubicBezTo>
                    <a:pt x="310" y="242"/>
                    <a:pt x="310" y="242"/>
                    <a:pt x="310" y="242"/>
                  </a:cubicBezTo>
                  <a:cubicBezTo>
                    <a:pt x="196" y="242"/>
                    <a:pt x="196" y="242"/>
                    <a:pt x="196" y="242"/>
                  </a:cubicBezTo>
                  <a:cubicBezTo>
                    <a:pt x="196" y="449"/>
                    <a:pt x="196" y="449"/>
                    <a:pt x="196" y="449"/>
                  </a:cubicBezTo>
                  <a:cubicBezTo>
                    <a:pt x="196" y="481"/>
                    <a:pt x="209" y="496"/>
                    <a:pt x="240" y="496"/>
                  </a:cubicBezTo>
                  <a:cubicBezTo>
                    <a:pt x="265" y="496"/>
                    <a:pt x="288" y="490"/>
                    <a:pt x="308" y="479"/>
                  </a:cubicBezTo>
                  <a:cubicBezTo>
                    <a:pt x="308" y="589"/>
                    <a:pt x="308" y="589"/>
                    <a:pt x="308" y="589"/>
                  </a:cubicBezTo>
                  <a:cubicBezTo>
                    <a:pt x="279" y="607"/>
                    <a:pt x="245" y="617"/>
                    <a:pt x="199" y="617"/>
                  </a:cubicBezTo>
                  <a:cubicBezTo>
                    <a:pt x="115" y="617"/>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0" name="Freeform 10">
              <a:extLst>
                <a:ext uri="{FF2B5EF4-FFF2-40B4-BE49-F238E27FC236}">
                  <a16:creationId xmlns:a16="http://schemas.microsoft.com/office/drawing/2014/main" id="{9DB49BE1-F1C8-5A4F-1BE7-B9C5B671A4B9}"/>
                </a:ext>
              </a:extLst>
            </p:cNvPr>
            <p:cNvSpPr>
              <a:spLocks noEditPoints="1"/>
            </p:cNvSpPr>
            <p:nvPr userDrawn="1"/>
          </p:nvSpPr>
          <p:spPr bwMode="auto">
            <a:xfrm>
              <a:off x="6618455" y="566212"/>
              <a:ext cx="207012" cy="219424"/>
            </a:xfrm>
            <a:custGeom>
              <a:avLst/>
              <a:gdLst>
                <a:gd name="T0" fmla="*/ 0 w 476"/>
                <a:gd name="T1" fmla="*/ 254 h 505"/>
                <a:gd name="T2" fmla="*/ 0 w 476"/>
                <a:gd name="T3" fmla="*/ 253 h 505"/>
                <a:gd name="T4" fmla="*/ 240 w 476"/>
                <a:gd name="T5" fmla="*/ 0 h 505"/>
                <a:gd name="T6" fmla="*/ 476 w 476"/>
                <a:gd name="T7" fmla="*/ 263 h 505"/>
                <a:gd name="T8" fmla="*/ 475 w 476"/>
                <a:gd name="T9" fmla="*/ 300 h 505"/>
                <a:gd name="T10" fmla="*/ 137 w 476"/>
                <a:gd name="T11" fmla="*/ 300 h 505"/>
                <a:gd name="T12" fmla="*/ 256 w 476"/>
                <a:gd name="T13" fmla="*/ 395 h 505"/>
                <a:gd name="T14" fmla="*/ 373 w 476"/>
                <a:gd name="T15" fmla="*/ 345 h 505"/>
                <a:gd name="T16" fmla="*/ 452 w 476"/>
                <a:gd name="T17" fmla="*/ 415 h 505"/>
                <a:gd name="T18" fmla="*/ 254 w 476"/>
                <a:gd name="T19" fmla="*/ 505 h 505"/>
                <a:gd name="T20" fmla="*/ 0 w 476"/>
                <a:gd name="T21" fmla="*/ 254 h 505"/>
                <a:gd name="T22" fmla="*/ 342 w 476"/>
                <a:gd name="T23" fmla="*/ 214 h 505"/>
                <a:gd name="T24" fmla="*/ 240 w 476"/>
                <a:gd name="T25" fmla="*/ 111 h 505"/>
                <a:gd name="T26" fmla="*/ 135 w 476"/>
                <a:gd name="T27" fmla="*/ 214 h 505"/>
                <a:gd name="T28" fmla="*/ 342 w 476"/>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6" h="505">
                  <a:moveTo>
                    <a:pt x="0" y="254"/>
                  </a:moveTo>
                  <a:cubicBezTo>
                    <a:pt x="0" y="253"/>
                    <a:pt x="0" y="253"/>
                    <a:pt x="0" y="253"/>
                  </a:cubicBezTo>
                  <a:cubicBezTo>
                    <a:pt x="0" y="114"/>
                    <a:pt x="99" y="0"/>
                    <a:pt x="240" y="0"/>
                  </a:cubicBezTo>
                  <a:cubicBezTo>
                    <a:pt x="402" y="0"/>
                    <a:pt x="476" y="126"/>
                    <a:pt x="476" y="263"/>
                  </a:cubicBezTo>
                  <a:cubicBezTo>
                    <a:pt x="476"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2" y="214"/>
                  </a:moveTo>
                  <a:cubicBezTo>
                    <a:pt x="334" y="152"/>
                    <a:pt x="298" y="111"/>
                    <a:pt x="240" y="111"/>
                  </a:cubicBezTo>
                  <a:cubicBezTo>
                    <a:pt x="183" y="111"/>
                    <a:pt x="146" y="151"/>
                    <a:pt x="135" y="214"/>
                  </a:cubicBezTo>
                  <a:lnTo>
                    <a:pt x="342"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1" name="Freeform 11">
              <a:extLst>
                <a:ext uri="{FF2B5EF4-FFF2-40B4-BE49-F238E27FC236}">
                  <a16:creationId xmlns:a16="http://schemas.microsoft.com/office/drawing/2014/main" id="{5700CEE7-82FA-F314-D150-00348A9C1993}"/>
                </a:ext>
              </a:extLst>
            </p:cNvPr>
            <p:cNvSpPr>
              <a:spLocks/>
            </p:cNvSpPr>
            <p:nvPr userDrawn="1"/>
          </p:nvSpPr>
          <p:spPr bwMode="auto">
            <a:xfrm>
              <a:off x="6837879" y="564438"/>
              <a:ext cx="127221"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2" name="Freeform 12">
              <a:extLst>
                <a:ext uri="{FF2B5EF4-FFF2-40B4-BE49-F238E27FC236}">
                  <a16:creationId xmlns:a16="http://schemas.microsoft.com/office/drawing/2014/main" id="{FC0AB9F7-3D02-4537-31F6-D98B2250C9F3}"/>
                </a:ext>
              </a:extLst>
            </p:cNvPr>
            <p:cNvSpPr>
              <a:spLocks/>
            </p:cNvSpPr>
            <p:nvPr userDrawn="1"/>
          </p:nvSpPr>
          <p:spPr bwMode="auto">
            <a:xfrm>
              <a:off x="4988072" y="888476"/>
              <a:ext cx="134757" cy="268628"/>
            </a:xfrm>
            <a:custGeom>
              <a:avLst/>
              <a:gdLst>
                <a:gd name="T0" fmla="*/ 58 w 310"/>
                <a:gd name="T1" fmla="*/ 472 h 618"/>
                <a:gd name="T2" fmla="*/ 58 w 310"/>
                <a:gd name="T3" fmla="*/ 242 h 618"/>
                <a:gd name="T4" fmla="*/ 0 w 310"/>
                <a:gd name="T5" fmla="*/ 242 h 618"/>
                <a:gd name="T6" fmla="*/ 0 w 310"/>
                <a:gd name="T7" fmla="*/ 124 h 618"/>
                <a:gd name="T8" fmla="*/ 58 w 310"/>
                <a:gd name="T9" fmla="*/ 124 h 618"/>
                <a:gd name="T10" fmla="*/ 58 w 310"/>
                <a:gd name="T11" fmla="*/ 0 h 618"/>
                <a:gd name="T12" fmla="*/ 195 w 310"/>
                <a:gd name="T13" fmla="*/ 0 h 618"/>
                <a:gd name="T14" fmla="*/ 195 w 310"/>
                <a:gd name="T15" fmla="*/ 124 h 618"/>
                <a:gd name="T16" fmla="*/ 310 w 310"/>
                <a:gd name="T17" fmla="*/ 124 h 618"/>
                <a:gd name="T18" fmla="*/ 310 w 310"/>
                <a:gd name="T19" fmla="*/ 242 h 618"/>
                <a:gd name="T20" fmla="*/ 195 w 310"/>
                <a:gd name="T21" fmla="*/ 242 h 618"/>
                <a:gd name="T22" fmla="*/ 195 w 310"/>
                <a:gd name="T23" fmla="*/ 449 h 618"/>
                <a:gd name="T24" fmla="*/ 240 w 310"/>
                <a:gd name="T25" fmla="*/ 496 h 618"/>
                <a:gd name="T26" fmla="*/ 308 w 310"/>
                <a:gd name="T27" fmla="*/ 479 h 618"/>
                <a:gd name="T28" fmla="*/ 308 w 310"/>
                <a:gd name="T29" fmla="*/ 590 h 618"/>
                <a:gd name="T30" fmla="*/ 199 w 310"/>
                <a:gd name="T31" fmla="*/ 618 h 618"/>
                <a:gd name="T32" fmla="*/ 58 w 310"/>
                <a:gd name="T33" fmla="*/ 472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8">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5" y="0"/>
                    <a:pt x="195" y="0"/>
                    <a:pt x="195" y="0"/>
                  </a:cubicBezTo>
                  <a:cubicBezTo>
                    <a:pt x="195" y="124"/>
                    <a:pt x="195" y="124"/>
                    <a:pt x="195" y="124"/>
                  </a:cubicBezTo>
                  <a:cubicBezTo>
                    <a:pt x="310" y="124"/>
                    <a:pt x="310" y="124"/>
                    <a:pt x="310" y="124"/>
                  </a:cubicBezTo>
                  <a:cubicBezTo>
                    <a:pt x="310" y="242"/>
                    <a:pt x="310" y="242"/>
                    <a:pt x="310" y="242"/>
                  </a:cubicBezTo>
                  <a:cubicBezTo>
                    <a:pt x="195" y="242"/>
                    <a:pt x="195" y="242"/>
                    <a:pt x="195" y="242"/>
                  </a:cubicBezTo>
                  <a:cubicBezTo>
                    <a:pt x="195" y="449"/>
                    <a:pt x="195" y="449"/>
                    <a:pt x="195" y="449"/>
                  </a:cubicBezTo>
                  <a:cubicBezTo>
                    <a:pt x="195" y="481"/>
                    <a:pt x="209" y="496"/>
                    <a:pt x="240" y="496"/>
                  </a:cubicBezTo>
                  <a:cubicBezTo>
                    <a:pt x="265" y="496"/>
                    <a:pt x="288" y="490"/>
                    <a:pt x="308" y="479"/>
                  </a:cubicBezTo>
                  <a:cubicBezTo>
                    <a:pt x="308" y="590"/>
                    <a:pt x="308" y="590"/>
                    <a:pt x="308" y="590"/>
                  </a:cubicBezTo>
                  <a:cubicBezTo>
                    <a:pt x="279" y="607"/>
                    <a:pt x="245" y="618"/>
                    <a:pt x="199" y="618"/>
                  </a:cubicBezTo>
                  <a:cubicBezTo>
                    <a:pt x="115" y="618"/>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3" name="Freeform 13">
              <a:extLst>
                <a:ext uri="{FF2B5EF4-FFF2-40B4-BE49-F238E27FC236}">
                  <a16:creationId xmlns:a16="http://schemas.microsoft.com/office/drawing/2014/main" id="{12D11DBC-90A7-4337-F6CB-C20DBD872CBD}"/>
                </a:ext>
              </a:extLst>
            </p:cNvPr>
            <p:cNvSpPr>
              <a:spLocks noEditPoints="1"/>
            </p:cNvSpPr>
            <p:nvPr userDrawn="1"/>
          </p:nvSpPr>
          <p:spPr bwMode="auto">
            <a:xfrm>
              <a:off x="5131251" y="938123"/>
              <a:ext cx="207455" cy="219867"/>
            </a:xfrm>
            <a:custGeom>
              <a:avLst/>
              <a:gdLst>
                <a:gd name="T0" fmla="*/ 0 w 477"/>
                <a:gd name="T1" fmla="*/ 254 h 505"/>
                <a:gd name="T2" fmla="*/ 0 w 477"/>
                <a:gd name="T3" fmla="*/ 253 h 505"/>
                <a:gd name="T4" fmla="*/ 240 w 477"/>
                <a:gd name="T5" fmla="*/ 0 h 505"/>
                <a:gd name="T6" fmla="*/ 477 w 477"/>
                <a:gd name="T7" fmla="*/ 263 h 505"/>
                <a:gd name="T8" fmla="*/ 475 w 477"/>
                <a:gd name="T9" fmla="*/ 300 h 505"/>
                <a:gd name="T10" fmla="*/ 137 w 477"/>
                <a:gd name="T11" fmla="*/ 300 h 505"/>
                <a:gd name="T12" fmla="*/ 256 w 477"/>
                <a:gd name="T13" fmla="*/ 395 h 505"/>
                <a:gd name="T14" fmla="*/ 373 w 477"/>
                <a:gd name="T15" fmla="*/ 345 h 505"/>
                <a:gd name="T16" fmla="*/ 452 w 477"/>
                <a:gd name="T17" fmla="*/ 415 h 505"/>
                <a:gd name="T18" fmla="*/ 254 w 477"/>
                <a:gd name="T19" fmla="*/ 505 h 505"/>
                <a:gd name="T20" fmla="*/ 0 w 477"/>
                <a:gd name="T21" fmla="*/ 254 h 505"/>
                <a:gd name="T22" fmla="*/ 343 w 477"/>
                <a:gd name="T23" fmla="*/ 214 h 505"/>
                <a:gd name="T24" fmla="*/ 240 w 477"/>
                <a:gd name="T25" fmla="*/ 111 h 505"/>
                <a:gd name="T26" fmla="*/ 135 w 477"/>
                <a:gd name="T27" fmla="*/ 214 h 505"/>
                <a:gd name="T28" fmla="*/ 343 w 477"/>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7" h="505">
                  <a:moveTo>
                    <a:pt x="0" y="254"/>
                  </a:moveTo>
                  <a:cubicBezTo>
                    <a:pt x="0" y="253"/>
                    <a:pt x="0" y="253"/>
                    <a:pt x="0" y="253"/>
                  </a:cubicBezTo>
                  <a:cubicBezTo>
                    <a:pt x="0" y="114"/>
                    <a:pt x="99" y="0"/>
                    <a:pt x="240" y="0"/>
                  </a:cubicBezTo>
                  <a:cubicBezTo>
                    <a:pt x="402" y="0"/>
                    <a:pt x="477" y="126"/>
                    <a:pt x="477" y="263"/>
                  </a:cubicBezTo>
                  <a:cubicBezTo>
                    <a:pt x="477"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3" y="214"/>
                  </a:moveTo>
                  <a:cubicBezTo>
                    <a:pt x="334" y="152"/>
                    <a:pt x="298" y="111"/>
                    <a:pt x="240" y="111"/>
                  </a:cubicBezTo>
                  <a:cubicBezTo>
                    <a:pt x="183" y="111"/>
                    <a:pt x="146" y="151"/>
                    <a:pt x="135" y="214"/>
                  </a:cubicBezTo>
                  <a:lnTo>
                    <a:pt x="343"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4" name="Freeform 14">
              <a:extLst>
                <a:ext uri="{FF2B5EF4-FFF2-40B4-BE49-F238E27FC236}">
                  <a16:creationId xmlns:a16="http://schemas.microsoft.com/office/drawing/2014/main" id="{F524D8E9-37C3-A27E-30E8-DF8ACF25D41F}"/>
                </a:ext>
              </a:extLst>
            </p:cNvPr>
            <p:cNvSpPr>
              <a:spLocks/>
            </p:cNvSpPr>
            <p:nvPr userDrawn="1"/>
          </p:nvSpPr>
          <p:spPr bwMode="auto">
            <a:xfrm>
              <a:off x="5348015" y="938123"/>
              <a:ext cx="195486" cy="219867"/>
            </a:xfrm>
            <a:custGeom>
              <a:avLst/>
              <a:gdLst>
                <a:gd name="T0" fmla="*/ 0 w 450"/>
                <a:gd name="T1" fmla="*/ 254 h 505"/>
                <a:gd name="T2" fmla="*/ 0 w 450"/>
                <a:gd name="T3" fmla="*/ 253 h 505"/>
                <a:gd name="T4" fmla="*/ 254 w 450"/>
                <a:gd name="T5" fmla="*/ 0 h 505"/>
                <a:gd name="T6" fmla="*/ 448 w 450"/>
                <a:gd name="T7" fmla="*/ 82 h 505"/>
                <a:gd name="T8" fmla="*/ 363 w 450"/>
                <a:gd name="T9" fmla="*/ 172 h 505"/>
                <a:gd name="T10" fmla="*/ 253 w 450"/>
                <a:gd name="T11" fmla="*/ 119 h 505"/>
                <a:gd name="T12" fmla="*/ 135 w 450"/>
                <a:gd name="T13" fmla="*/ 251 h 505"/>
                <a:gd name="T14" fmla="*/ 135 w 450"/>
                <a:gd name="T15" fmla="*/ 253 h 505"/>
                <a:gd name="T16" fmla="*/ 258 w 450"/>
                <a:gd name="T17" fmla="*/ 387 h 505"/>
                <a:gd name="T18" fmla="*/ 370 w 450"/>
                <a:gd name="T19" fmla="*/ 335 h 505"/>
                <a:gd name="T20" fmla="*/ 450 w 450"/>
                <a:gd name="T21" fmla="*/ 416 h 505"/>
                <a:gd name="T22" fmla="*/ 252 w 450"/>
                <a:gd name="T23" fmla="*/ 505 h 505"/>
                <a:gd name="T24" fmla="*/ 0 w 450"/>
                <a:gd name="T25"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0" h="505">
                  <a:moveTo>
                    <a:pt x="0" y="254"/>
                  </a:moveTo>
                  <a:cubicBezTo>
                    <a:pt x="0" y="253"/>
                    <a:pt x="0" y="253"/>
                    <a:pt x="0" y="253"/>
                  </a:cubicBezTo>
                  <a:cubicBezTo>
                    <a:pt x="0" y="114"/>
                    <a:pt x="106" y="0"/>
                    <a:pt x="254" y="0"/>
                  </a:cubicBezTo>
                  <a:cubicBezTo>
                    <a:pt x="345" y="0"/>
                    <a:pt x="402" y="31"/>
                    <a:pt x="448" y="82"/>
                  </a:cubicBezTo>
                  <a:cubicBezTo>
                    <a:pt x="363" y="172"/>
                    <a:pt x="363" y="172"/>
                    <a:pt x="363" y="172"/>
                  </a:cubicBezTo>
                  <a:cubicBezTo>
                    <a:pt x="333" y="139"/>
                    <a:pt x="302" y="119"/>
                    <a:pt x="253" y="119"/>
                  </a:cubicBezTo>
                  <a:cubicBezTo>
                    <a:pt x="184" y="119"/>
                    <a:pt x="135" y="179"/>
                    <a:pt x="135" y="251"/>
                  </a:cubicBezTo>
                  <a:cubicBezTo>
                    <a:pt x="135" y="253"/>
                    <a:pt x="135" y="253"/>
                    <a:pt x="135" y="253"/>
                  </a:cubicBezTo>
                  <a:cubicBezTo>
                    <a:pt x="135" y="327"/>
                    <a:pt x="183" y="387"/>
                    <a:pt x="258" y="387"/>
                  </a:cubicBezTo>
                  <a:cubicBezTo>
                    <a:pt x="305" y="387"/>
                    <a:pt x="336" y="367"/>
                    <a:pt x="370" y="335"/>
                  </a:cubicBezTo>
                  <a:cubicBezTo>
                    <a:pt x="450" y="416"/>
                    <a:pt x="450" y="416"/>
                    <a:pt x="450" y="416"/>
                  </a:cubicBezTo>
                  <a:cubicBezTo>
                    <a:pt x="403" y="468"/>
                    <a:pt x="349" y="505"/>
                    <a:pt x="252" y="505"/>
                  </a:cubicBezTo>
                  <a:cubicBezTo>
                    <a:pt x="106" y="505"/>
                    <a:pt x="0" y="393"/>
                    <a:pt x="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5" name="Freeform 15">
              <a:extLst>
                <a:ext uri="{FF2B5EF4-FFF2-40B4-BE49-F238E27FC236}">
                  <a16:creationId xmlns:a16="http://schemas.microsoft.com/office/drawing/2014/main" id="{083673F6-E265-4005-D62C-293234A8CE09}"/>
                </a:ext>
              </a:extLst>
            </p:cNvPr>
            <p:cNvSpPr>
              <a:spLocks/>
            </p:cNvSpPr>
            <p:nvPr userDrawn="1"/>
          </p:nvSpPr>
          <p:spPr bwMode="auto">
            <a:xfrm>
              <a:off x="5553254" y="866312"/>
              <a:ext cx="193270" cy="286802"/>
            </a:xfrm>
            <a:custGeom>
              <a:avLst/>
              <a:gdLst>
                <a:gd name="T0" fmla="*/ 0 w 445"/>
                <a:gd name="T1" fmla="*/ 0 h 660"/>
                <a:gd name="T2" fmla="*/ 138 w 445"/>
                <a:gd name="T3" fmla="*/ 0 h 660"/>
                <a:gd name="T4" fmla="*/ 138 w 445"/>
                <a:gd name="T5" fmla="*/ 244 h 660"/>
                <a:gd name="T6" fmla="*/ 280 w 445"/>
                <a:gd name="T7" fmla="*/ 166 h 660"/>
                <a:gd name="T8" fmla="*/ 445 w 445"/>
                <a:gd name="T9" fmla="*/ 346 h 660"/>
                <a:gd name="T10" fmla="*/ 445 w 445"/>
                <a:gd name="T11" fmla="*/ 660 h 660"/>
                <a:gd name="T12" fmla="*/ 307 w 445"/>
                <a:gd name="T13" fmla="*/ 660 h 660"/>
                <a:gd name="T14" fmla="*/ 307 w 445"/>
                <a:gd name="T15" fmla="*/ 390 h 660"/>
                <a:gd name="T16" fmla="*/ 224 w 445"/>
                <a:gd name="T17" fmla="*/ 291 h 660"/>
                <a:gd name="T18" fmla="*/ 138 w 445"/>
                <a:gd name="T19" fmla="*/ 390 h 660"/>
                <a:gd name="T20" fmla="*/ 138 w 445"/>
                <a:gd name="T21" fmla="*/ 660 h 660"/>
                <a:gd name="T22" fmla="*/ 0 w 445"/>
                <a:gd name="T23" fmla="*/ 660 h 660"/>
                <a:gd name="T24" fmla="*/ 0 w 445"/>
                <a:gd name="T25"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5" h="660">
                  <a:moveTo>
                    <a:pt x="0" y="0"/>
                  </a:moveTo>
                  <a:cubicBezTo>
                    <a:pt x="138" y="0"/>
                    <a:pt x="138" y="0"/>
                    <a:pt x="138" y="0"/>
                  </a:cubicBezTo>
                  <a:cubicBezTo>
                    <a:pt x="138" y="244"/>
                    <a:pt x="138" y="244"/>
                    <a:pt x="138" y="244"/>
                  </a:cubicBezTo>
                  <a:cubicBezTo>
                    <a:pt x="169" y="203"/>
                    <a:pt x="210" y="166"/>
                    <a:pt x="280" y="166"/>
                  </a:cubicBezTo>
                  <a:cubicBezTo>
                    <a:pt x="384" y="166"/>
                    <a:pt x="445" y="235"/>
                    <a:pt x="445" y="346"/>
                  </a:cubicBezTo>
                  <a:cubicBezTo>
                    <a:pt x="445" y="660"/>
                    <a:pt x="445" y="660"/>
                    <a:pt x="445" y="660"/>
                  </a:cubicBezTo>
                  <a:cubicBezTo>
                    <a:pt x="307" y="660"/>
                    <a:pt x="307" y="660"/>
                    <a:pt x="307" y="660"/>
                  </a:cubicBezTo>
                  <a:cubicBezTo>
                    <a:pt x="307" y="390"/>
                    <a:pt x="307" y="390"/>
                    <a:pt x="307" y="390"/>
                  </a:cubicBezTo>
                  <a:cubicBezTo>
                    <a:pt x="307" y="324"/>
                    <a:pt x="276" y="291"/>
                    <a:pt x="224" y="291"/>
                  </a:cubicBezTo>
                  <a:cubicBezTo>
                    <a:pt x="171" y="291"/>
                    <a:pt x="138" y="324"/>
                    <a:pt x="138" y="390"/>
                  </a:cubicBezTo>
                  <a:cubicBezTo>
                    <a:pt x="138" y="660"/>
                    <a:pt x="138" y="660"/>
                    <a:pt x="138" y="660"/>
                  </a:cubicBezTo>
                  <a:cubicBezTo>
                    <a:pt x="0" y="660"/>
                    <a:pt x="0" y="660"/>
                    <a:pt x="0" y="66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6" name="Freeform 16">
              <a:extLst>
                <a:ext uri="{FF2B5EF4-FFF2-40B4-BE49-F238E27FC236}">
                  <a16:creationId xmlns:a16="http://schemas.microsoft.com/office/drawing/2014/main" id="{4F04928C-BA06-2085-F636-A4F44FC6E987}"/>
                </a:ext>
              </a:extLst>
            </p:cNvPr>
            <p:cNvSpPr>
              <a:spLocks/>
            </p:cNvSpPr>
            <p:nvPr userDrawn="1"/>
          </p:nvSpPr>
          <p:spPr bwMode="auto">
            <a:xfrm>
              <a:off x="5762039" y="938123"/>
              <a:ext cx="192827" cy="214991"/>
            </a:xfrm>
            <a:custGeom>
              <a:avLst/>
              <a:gdLst>
                <a:gd name="T0" fmla="*/ 0 w 444"/>
                <a:gd name="T1" fmla="*/ 9 h 494"/>
                <a:gd name="T2" fmla="*/ 137 w 444"/>
                <a:gd name="T3" fmla="*/ 9 h 494"/>
                <a:gd name="T4" fmla="*/ 137 w 444"/>
                <a:gd name="T5" fmla="*/ 78 h 494"/>
                <a:gd name="T6" fmla="*/ 279 w 444"/>
                <a:gd name="T7" fmla="*/ 0 h 494"/>
                <a:gd name="T8" fmla="*/ 444 w 444"/>
                <a:gd name="T9" fmla="*/ 180 h 494"/>
                <a:gd name="T10" fmla="*/ 444 w 444"/>
                <a:gd name="T11" fmla="*/ 494 h 494"/>
                <a:gd name="T12" fmla="*/ 306 w 444"/>
                <a:gd name="T13" fmla="*/ 494 h 494"/>
                <a:gd name="T14" fmla="*/ 306 w 444"/>
                <a:gd name="T15" fmla="*/ 224 h 494"/>
                <a:gd name="T16" fmla="*/ 223 w 444"/>
                <a:gd name="T17" fmla="*/ 125 h 494"/>
                <a:gd name="T18" fmla="*/ 137 w 444"/>
                <a:gd name="T19" fmla="*/ 224 h 494"/>
                <a:gd name="T20" fmla="*/ 137 w 444"/>
                <a:gd name="T21" fmla="*/ 494 h 494"/>
                <a:gd name="T22" fmla="*/ 0 w 444"/>
                <a:gd name="T23" fmla="*/ 494 h 494"/>
                <a:gd name="T24" fmla="*/ 0 w 444"/>
                <a:gd name="T25"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4" h="494">
                  <a:moveTo>
                    <a:pt x="0" y="9"/>
                  </a:moveTo>
                  <a:cubicBezTo>
                    <a:pt x="137" y="9"/>
                    <a:pt x="137" y="9"/>
                    <a:pt x="137" y="9"/>
                  </a:cubicBezTo>
                  <a:cubicBezTo>
                    <a:pt x="137" y="78"/>
                    <a:pt x="137" y="78"/>
                    <a:pt x="137" y="78"/>
                  </a:cubicBezTo>
                  <a:cubicBezTo>
                    <a:pt x="169" y="37"/>
                    <a:pt x="210" y="0"/>
                    <a:pt x="279" y="0"/>
                  </a:cubicBezTo>
                  <a:cubicBezTo>
                    <a:pt x="383" y="0"/>
                    <a:pt x="444" y="69"/>
                    <a:pt x="444" y="180"/>
                  </a:cubicBezTo>
                  <a:cubicBezTo>
                    <a:pt x="444" y="494"/>
                    <a:pt x="444" y="494"/>
                    <a:pt x="444" y="494"/>
                  </a:cubicBezTo>
                  <a:cubicBezTo>
                    <a:pt x="306" y="494"/>
                    <a:pt x="306" y="494"/>
                    <a:pt x="306" y="494"/>
                  </a:cubicBezTo>
                  <a:cubicBezTo>
                    <a:pt x="306" y="224"/>
                    <a:pt x="306" y="224"/>
                    <a:pt x="306" y="224"/>
                  </a:cubicBezTo>
                  <a:cubicBezTo>
                    <a:pt x="306" y="158"/>
                    <a:pt x="276" y="125"/>
                    <a:pt x="223" y="125"/>
                  </a:cubicBezTo>
                  <a:cubicBezTo>
                    <a:pt x="171" y="125"/>
                    <a:pt x="137" y="158"/>
                    <a:pt x="137" y="224"/>
                  </a:cubicBezTo>
                  <a:cubicBezTo>
                    <a:pt x="137" y="494"/>
                    <a:pt x="137" y="494"/>
                    <a:pt x="137"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7" name="Freeform 17">
              <a:extLst>
                <a:ext uri="{FF2B5EF4-FFF2-40B4-BE49-F238E27FC236}">
                  <a16:creationId xmlns:a16="http://schemas.microsoft.com/office/drawing/2014/main" id="{0B7609F1-6889-0F3F-1078-1078D3AEDAE7}"/>
                </a:ext>
              </a:extLst>
            </p:cNvPr>
            <p:cNvSpPr>
              <a:spLocks noEditPoints="1"/>
            </p:cNvSpPr>
            <p:nvPr userDrawn="1"/>
          </p:nvSpPr>
          <p:spPr bwMode="auto">
            <a:xfrm>
              <a:off x="5967277" y="938123"/>
              <a:ext cx="228289" cy="219867"/>
            </a:xfrm>
            <a:custGeom>
              <a:avLst/>
              <a:gdLst>
                <a:gd name="T0" fmla="*/ 0 w 525"/>
                <a:gd name="T1" fmla="*/ 254 h 505"/>
                <a:gd name="T2" fmla="*/ 0 w 525"/>
                <a:gd name="T3" fmla="*/ 253 h 505"/>
                <a:gd name="T4" fmla="*/ 263 w 525"/>
                <a:gd name="T5" fmla="*/ 0 h 505"/>
                <a:gd name="T6" fmla="*/ 525 w 525"/>
                <a:gd name="T7" fmla="*/ 251 h 505"/>
                <a:gd name="T8" fmla="*/ 525 w 525"/>
                <a:gd name="T9" fmla="*/ 253 h 505"/>
                <a:gd name="T10" fmla="*/ 262 w 525"/>
                <a:gd name="T11" fmla="*/ 505 h 505"/>
                <a:gd name="T12" fmla="*/ 0 w 525"/>
                <a:gd name="T13" fmla="*/ 254 h 505"/>
                <a:gd name="T14" fmla="*/ 389 w 525"/>
                <a:gd name="T15" fmla="*/ 254 h 505"/>
                <a:gd name="T16" fmla="*/ 389 w 525"/>
                <a:gd name="T17" fmla="*/ 253 h 505"/>
                <a:gd name="T18" fmla="*/ 262 w 525"/>
                <a:gd name="T19" fmla="*/ 119 h 505"/>
                <a:gd name="T20" fmla="*/ 136 w 525"/>
                <a:gd name="T21" fmla="*/ 251 h 505"/>
                <a:gd name="T22" fmla="*/ 136 w 525"/>
                <a:gd name="T23" fmla="*/ 253 h 505"/>
                <a:gd name="T24" fmla="*/ 263 w 525"/>
                <a:gd name="T25" fmla="*/ 387 h 505"/>
                <a:gd name="T26" fmla="*/ 389 w 525"/>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5">
                  <a:moveTo>
                    <a:pt x="0" y="254"/>
                  </a:moveTo>
                  <a:cubicBezTo>
                    <a:pt x="0" y="253"/>
                    <a:pt x="0" y="253"/>
                    <a:pt x="0" y="253"/>
                  </a:cubicBezTo>
                  <a:cubicBezTo>
                    <a:pt x="0" y="113"/>
                    <a:pt x="112" y="0"/>
                    <a:pt x="263" y="0"/>
                  </a:cubicBezTo>
                  <a:cubicBezTo>
                    <a:pt x="414" y="0"/>
                    <a:pt x="525" y="111"/>
                    <a:pt x="525" y="251"/>
                  </a:cubicBezTo>
                  <a:cubicBezTo>
                    <a:pt x="525" y="253"/>
                    <a:pt x="525" y="253"/>
                    <a:pt x="525" y="253"/>
                  </a:cubicBezTo>
                  <a:cubicBezTo>
                    <a:pt x="525" y="392"/>
                    <a:pt x="413" y="505"/>
                    <a:pt x="262" y="505"/>
                  </a:cubicBezTo>
                  <a:cubicBezTo>
                    <a:pt x="111" y="505"/>
                    <a:pt x="0" y="394"/>
                    <a:pt x="0" y="254"/>
                  </a:cubicBezTo>
                  <a:close/>
                  <a:moveTo>
                    <a:pt x="389" y="254"/>
                  </a:moveTo>
                  <a:cubicBezTo>
                    <a:pt x="389" y="253"/>
                    <a:pt x="389" y="253"/>
                    <a:pt x="389" y="253"/>
                  </a:cubicBezTo>
                  <a:cubicBezTo>
                    <a:pt x="389" y="181"/>
                    <a:pt x="338" y="119"/>
                    <a:pt x="262" y="119"/>
                  </a:cubicBezTo>
                  <a:cubicBezTo>
                    <a:pt x="183" y="119"/>
                    <a:pt x="136" y="179"/>
                    <a:pt x="136" y="251"/>
                  </a:cubicBezTo>
                  <a:cubicBezTo>
                    <a:pt x="136" y="253"/>
                    <a:pt x="136" y="253"/>
                    <a:pt x="136" y="253"/>
                  </a:cubicBezTo>
                  <a:cubicBezTo>
                    <a:pt x="136" y="324"/>
                    <a:pt x="187" y="387"/>
                    <a:pt x="263" y="387"/>
                  </a:cubicBezTo>
                  <a:cubicBezTo>
                    <a:pt x="342" y="387"/>
                    <a:pt x="389" y="326"/>
                    <a:pt x="389"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8" name="Rectangle 18">
              <a:extLst>
                <a:ext uri="{FF2B5EF4-FFF2-40B4-BE49-F238E27FC236}">
                  <a16:creationId xmlns:a16="http://schemas.microsoft.com/office/drawing/2014/main" id="{14DEDB85-DF79-F93C-595F-4B0E6B36F339}"/>
                </a:ext>
              </a:extLst>
            </p:cNvPr>
            <p:cNvSpPr>
              <a:spLocks noChangeArrowheads="1"/>
            </p:cNvSpPr>
            <p:nvPr userDrawn="1"/>
          </p:nvSpPr>
          <p:spPr bwMode="auto">
            <a:xfrm>
              <a:off x="6207091" y="866312"/>
              <a:ext cx="59843" cy="28680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9" name="Freeform 19">
              <a:extLst>
                <a:ext uri="{FF2B5EF4-FFF2-40B4-BE49-F238E27FC236}">
                  <a16:creationId xmlns:a16="http://schemas.microsoft.com/office/drawing/2014/main" id="{481DD98C-1DDB-14FF-BA62-46FAD00BAA89}"/>
                </a:ext>
              </a:extLst>
            </p:cNvPr>
            <p:cNvSpPr>
              <a:spLocks noEditPoints="1"/>
            </p:cNvSpPr>
            <p:nvPr userDrawn="1"/>
          </p:nvSpPr>
          <p:spPr bwMode="auto">
            <a:xfrm>
              <a:off x="6278460" y="938123"/>
              <a:ext cx="228732" cy="219867"/>
            </a:xfrm>
            <a:custGeom>
              <a:avLst/>
              <a:gdLst>
                <a:gd name="T0" fmla="*/ 0 w 526"/>
                <a:gd name="T1" fmla="*/ 254 h 505"/>
                <a:gd name="T2" fmla="*/ 0 w 526"/>
                <a:gd name="T3" fmla="*/ 253 h 505"/>
                <a:gd name="T4" fmla="*/ 264 w 526"/>
                <a:gd name="T5" fmla="*/ 0 h 505"/>
                <a:gd name="T6" fmla="*/ 526 w 526"/>
                <a:gd name="T7" fmla="*/ 251 h 505"/>
                <a:gd name="T8" fmla="*/ 526 w 526"/>
                <a:gd name="T9" fmla="*/ 253 h 505"/>
                <a:gd name="T10" fmla="*/ 262 w 526"/>
                <a:gd name="T11" fmla="*/ 505 h 505"/>
                <a:gd name="T12" fmla="*/ 0 w 526"/>
                <a:gd name="T13" fmla="*/ 254 h 505"/>
                <a:gd name="T14" fmla="*/ 390 w 526"/>
                <a:gd name="T15" fmla="*/ 254 h 505"/>
                <a:gd name="T16" fmla="*/ 390 w 526"/>
                <a:gd name="T17" fmla="*/ 253 h 505"/>
                <a:gd name="T18" fmla="*/ 262 w 526"/>
                <a:gd name="T19" fmla="*/ 119 h 505"/>
                <a:gd name="T20" fmla="*/ 136 w 526"/>
                <a:gd name="T21" fmla="*/ 251 h 505"/>
                <a:gd name="T22" fmla="*/ 136 w 526"/>
                <a:gd name="T23" fmla="*/ 253 h 505"/>
                <a:gd name="T24" fmla="*/ 264 w 526"/>
                <a:gd name="T25" fmla="*/ 387 h 505"/>
                <a:gd name="T26" fmla="*/ 390 w 526"/>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505">
                  <a:moveTo>
                    <a:pt x="0" y="254"/>
                  </a:moveTo>
                  <a:cubicBezTo>
                    <a:pt x="0" y="253"/>
                    <a:pt x="0" y="253"/>
                    <a:pt x="0" y="253"/>
                  </a:cubicBezTo>
                  <a:cubicBezTo>
                    <a:pt x="0" y="113"/>
                    <a:pt x="113" y="0"/>
                    <a:pt x="264" y="0"/>
                  </a:cubicBezTo>
                  <a:cubicBezTo>
                    <a:pt x="414" y="0"/>
                    <a:pt x="526" y="111"/>
                    <a:pt x="526" y="251"/>
                  </a:cubicBezTo>
                  <a:cubicBezTo>
                    <a:pt x="526" y="253"/>
                    <a:pt x="526" y="253"/>
                    <a:pt x="526" y="253"/>
                  </a:cubicBezTo>
                  <a:cubicBezTo>
                    <a:pt x="526" y="392"/>
                    <a:pt x="413" y="505"/>
                    <a:pt x="262" y="505"/>
                  </a:cubicBezTo>
                  <a:cubicBezTo>
                    <a:pt x="112" y="505"/>
                    <a:pt x="0" y="394"/>
                    <a:pt x="0" y="254"/>
                  </a:cubicBezTo>
                  <a:close/>
                  <a:moveTo>
                    <a:pt x="390" y="254"/>
                  </a:moveTo>
                  <a:cubicBezTo>
                    <a:pt x="390" y="253"/>
                    <a:pt x="390" y="253"/>
                    <a:pt x="390" y="253"/>
                  </a:cubicBezTo>
                  <a:cubicBezTo>
                    <a:pt x="390" y="181"/>
                    <a:pt x="338" y="119"/>
                    <a:pt x="262" y="119"/>
                  </a:cubicBezTo>
                  <a:cubicBezTo>
                    <a:pt x="183" y="119"/>
                    <a:pt x="136" y="179"/>
                    <a:pt x="136" y="251"/>
                  </a:cubicBezTo>
                  <a:cubicBezTo>
                    <a:pt x="136" y="253"/>
                    <a:pt x="136" y="253"/>
                    <a:pt x="136" y="253"/>
                  </a:cubicBezTo>
                  <a:cubicBezTo>
                    <a:pt x="136" y="324"/>
                    <a:pt x="188" y="387"/>
                    <a:pt x="264" y="387"/>
                  </a:cubicBezTo>
                  <a:cubicBezTo>
                    <a:pt x="343" y="387"/>
                    <a:pt x="390" y="326"/>
                    <a:pt x="39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0" name="Freeform 20">
              <a:extLst>
                <a:ext uri="{FF2B5EF4-FFF2-40B4-BE49-F238E27FC236}">
                  <a16:creationId xmlns:a16="http://schemas.microsoft.com/office/drawing/2014/main" id="{BDC10D2B-8240-1306-CC54-B3F0CF2378C2}"/>
                </a:ext>
              </a:extLst>
            </p:cNvPr>
            <p:cNvSpPr>
              <a:spLocks noEditPoints="1"/>
            </p:cNvSpPr>
            <p:nvPr userDrawn="1"/>
          </p:nvSpPr>
          <p:spPr bwMode="auto">
            <a:xfrm>
              <a:off x="6516057" y="938123"/>
              <a:ext cx="221197" cy="278823"/>
            </a:xfrm>
            <a:custGeom>
              <a:avLst/>
              <a:gdLst>
                <a:gd name="T0" fmla="*/ 24 w 509"/>
                <a:gd name="T1" fmla="*/ 590 h 641"/>
                <a:gd name="T2" fmla="*/ 71 w 509"/>
                <a:gd name="T3" fmla="*/ 487 h 641"/>
                <a:gd name="T4" fmla="*/ 235 w 509"/>
                <a:gd name="T5" fmla="*/ 531 h 641"/>
                <a:gd name="T6" fmla="*/ 373 w 509"/>
                <a:gd name="T7" fmla="*/ 399 h 641"/>
                <a:gd name="T8" fmla="*/ 373 w 509"/>
                <a:gd name="T9" fmla="*/ 376 h 641"/>
                <a:gd name="T10" fmla="*/ 215 w 509"/>
                <a:gd name="T11" fmla="*/ 454 h 641"/>
                <a:gd name="T12" fmla="*/ 0 w 509"/>
                <a:gd name="T13" fmla="*/ 228 h 641"/>
                <a:gd name="T14" fmla="*/ 0 w 509"/>
                <a:gd name="T15" fmla="*/ 226 h 641"/>
                <a:gd name="T16" fmla="*/ 215 w 509"/>
                <a:gd name="T17" fmla="*/ 0 h 641"/>
                <a:gd name="T18" fmla="*/ 372 w 509"/>
                <a:gd name="T19" fmla="*/ 72 h 641"/>
                <a:gd name="T20" fmla="*/ 372 w 509"/>
                <a:gd name="T21" fmla="*/ 9 h 641"/>
                <a:gd name="T22" fmla="*/ 509 w 509"/>
                <a:gd name="T23" fmla="*/ 9 h 641"/>
                <a:gd name="T24" fmla="*/ 509 w 509"/>
                <a:gd name="T25" fmla="*/ 385 h 641"/>
                <a:gd name="T26" fmla="*/ 448 w 509"/>
                <a:gd name="T27" fmla="*/ 576 h 641"/>
                <a:gd name="T28" fmla="*/ 239 w 509"/>
                <a:gd name="T29" fmla="*/ 641 h 641"/>
                <a:gd name="T30" fmla="*/ 24 w 509"/>
                <a:gd name="T31" fmla="*/ 590 h 641"/>
                <a:gd name="T32" fmla="*/ 373 w 509"/>
                <a:gd name="T33" fmla="*/ 228 h 641"/>
                <a:gd name="T34" fmla="*/ 373 w 509"/>
                <a:gd name="T35" fmla="*/ 226 h 641"/>
                <a:gd name="T36" fmla="*/ 255 w 509"/>
                <a:gd name="T37" fmla="*/ 114 h 641"/>
                <a:gd name="T38" fmla="*/ 137 w 509"/>
                <a:gd name="T39" fmla="*/ 226 h 641"/>
                <a:gd name="T40" fmla="*/ 137 w 509"/>
                <a:gd name="T41" fmla="*/ 228 h 641"/>
                <a:gd name="T42" fmla="*/ 255 w 509"/>
                <a:gd name="T43" fmla="*/ 340 h 641"/>
                <a:gd name="T44" fmla="*/ 373 w 509"/>
                <a:gd name="T45" fmla="*/ 228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9" h="641">
                  <a:moveTo>
                    <a:pt x="24" y="590"/>
                  </a:moveTo>
                  <a:cubicBezTo>
                    <a:pt x="71" y="487"/>
                    <a:pt x="71" y="487"/>
                    <a:pt x="71" y="487"/>
                  </a:cubicBezTo>
                  <a:cubicBezTo>
                    <a:pt x="121" y="515"/>
                    <a:pt x="171" y="531"/>
                    <a:pt x="235" y="531"/>
                  </a:cubicBezTo>
                  <a:cubicBezTo>
                    <a:pt x="329" y="531"/>
                    <a:pt x="373" y="486"/>
                    <a:pt x="373" y="399"/>
                  </a:cubicBezTo>
                  <a:cubicBezTo>
                    <a:pt x="373" y="376"/>
                    <a:pt x="373" y="376"/>
                    <a:pt x="373" y="376"/>
                  </a:cubicBezTo>
                  <a:cubicBezTo>
                    <a:pt x="333" y="425"/>
                    <a:pt x="288" y="454"/>
                    <a:pt x="215" y="454"/>
                  </a:cubicBezTo>
                  <a:cubicBezTo>
                    <a:pt x="102" y="454"/>
                    <a:pt x="0" y="372"/>
                    <a:pt x="0" y="228"/>
                  </a:cubicBezTo>
                  <a:cubicBezTo>
                    <a:pt x="0" y="226"/>
                    <a:pt x="0" y="226"/>
                    <a:pt x="0" y="226"/>
                  </a:cubicBezTo>
                  <a:cubicBezTo>
                    <a:pt x="0" y="82"/>
                    <a:pt x="104" y="0"/>
                    <a:pt x="215" y="0"/>
                  </a:cubicBezTo>
                  <a:cubicBezTo>
                    <a:pt x="290" y="0"/>
                    <a:pt x="334" y="32"/>
                    <a:pt x="372" y="72"/>
                  </a:cubicBezTo>
                  <a:cubicBezTo>
                    <a:pt x="372" y="9"/>
                    <a:pt x="372" y="9"/>
                    <a:pt x="372" y="9"/>
                  </a:cubicBezTo>
                  <a:cubicBezTo>
                    <a:pt x="509" y="9"/>
                    <a:pt x="509" y="9"/>
                    <a:pt x="509" y="9"/>
                  </a:cubicBezTo>
                  <a:cubicBezTo>
                    <a:pt x="509" y="385"/>
                    <a:pt x="509" y="385"/>
                    <a:pt x="509" y="385"/>
                  </a:cubicBezTo>
                  <a:cubicBezTo>
                    <a:pt x="509" y="472"/>
                    <a:pt x="488" y="535"/>
                    <a:pt x="448" y="576"/>
                  </a:cubicBezTo>
                  <a:cubicBezTo>
                    <a:pt x="402" y="621"/>
                    <a:pt x="333" y="641"/>
                    <a:pt x="239" y="641"/>
                  </a:cubicBezTo>
                  <a:cubicBezTo>
                    <a:pt x="160" y="641"/>
                    <a:pt x="86" y="623"/>
                    <a:pt x="24" y="590"/>
                  </a:cubicBezTo>
                  <a:close/>
                  <a:moveTo>
                    <a:pt x="373" y="228"/>
                  </a:moveTo>
                  <a:cubicBezTo>
                    <a:pt x="373" y="226"/>
                    <a:pt x="373" y="226"/>
                    <a:pt x="373" y="226"/>
                  </a:cubicBezTo>
                  <a:cubicBezTo>
                    <a:pt x="373" y="160"/>
                    <a:pt x="322" y="114"/>
                    <a:pt x="255" y="114"/>
                  </a:cubicBezTo>
                  <a:cubicBezTo>
                    <a:pt x="188" y="114"/>
                    <a:pt x="137" y="160"/>
                    <a:pt x="137" y="226"/>
                  </a:cubicBezTo>
                  <a:cubicBezTo>
                    <a:pt x="137" y="228"/>
                    <a:pt x="137" y="228"/>
                    <a:pt x="137" y="228"/>
                  </a:cubicBezTo>
                  <a:cubicBezTo>
                    <a:pt x="137" y="295"/>
                    <a:pt x="188" y="340"/>
                    <a:pt x="255" y="340"/>
                  </a:cubicBezTo>
                  <a:cubicBezTo>
                    <a:pt x="322" y="340"/>
                    <a:pt x="373" y="294"/>
                    <a:pt x="373"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1" name="Freeform 21">
              <a:extLst>
                <a:ext uri="{FF2B5EF4-FFF2-40B4-BE49-F238E27FC236}">
                  <a16:creationId xmlns:a16="http://schemas.microsoft.com/office/drawing/2014/main" id="{A2A74FC7-B210-AC23-8BAD-A8CEF20144F7}"/>
                </a:ext>
              </a:extLst>
            </p:cNvPr>
            <p:cNvSpPr>
              <a:spLocks/>
            </p:cNvSpPr>
            <p:nvPr userDrawn="1"/>
          </p:nvSpPr>
          <p:spPr bwMode="auto">
            <a:xfrm>
              <a:off x="6747450" y="942113"/>
              <a:ext cx="219424" cy="275277"/>
            </a:xfrm>
            <a:custGeom>
              <a:avLst/>
              <a:gdLst>
                <a:gd name="T0" fmla="*/ 362 w 505"/>
                <a:gd name="T1" fmla="*/ 0 h 633"/>
                <a:gd name="T2" fmla="*/ 505 w 505"/>
                <a:gd name="T3" fmla="*/ 0 h 633"/>
                <a:gd name="T4" fmla="*/ 319 w 505"/>
                <a:gd name="T5" fmla="*/ 497 h 633"/>
                <a:gd name="T6" fmla="*/ 159 w 505"/>
                <a:gd name="T7" fmla="*/ 633 h 633"/>
                <a:gd name="T8" fmla="*/ 37 w 505"/>
                <a:gd name="T9" fmla="*/ 599 h 633"/>
                <a:gd name="T10" fmla="*/ 83 w 505"/>
                <a:gd name="T11" fmla="*/ 500 h 633"/>
                <a:gd name="T12" fmla="*/ 142 w 505"/>
                <a:gd name="T13" fmla="*/ 519 h 633"/>
                <a:gd name="T14" fmla="*/ 190 w 505"/>
                <a:gd name="T15" fmla="*/ 487 h 633"/>
                <a:gd name="T16" fmla="*/ 0 w 505"/>
                <a:gd name="T17" fmla="*/ 0 h 633"/>
                <a:gd name="T18" fmla="*/ 146 w 505"/>
                <a:gd name="T19" fmla="*/ 0 h 633"/>
                <a:gd name="T20" fmla="*/ 256 w 505"/>
                <a:gd name="T21" fmla="*/ 331 h 633"/>
                <a:gd name="T22" fmla="*/ 362 w 505"/>
                <a:gd name="T23"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633">
                  <a:moveTo>
                    <a:pt x="362" y="0"/>
                  </a:moveTo>
                  <a:cubicBezTo>
                    <a:pt x="505" y="0"/>
                    <a:pt x="505" y="0"/>
                    <a:pt x="505" y="0"/>
                  </a:cubicBezTo>
                  <a:cubicBezTo>
                    <a:pt x="319" y="497"/>
                    <a:pt x="319" y="497"/>
                    <a:pt x="319" y="497"/>
                  </a:cubicBezTo>
                  <a:cubicBezTo>
                    <a:pt x="282" y="596"/>
                    <a:pt x="242" y="633"/>
                    <a:pt x="159" y="633"/>
                  </a:cubicBezTo>
                  <a:cubicBezTo>
                    <a:pt x="110" y="633"/>
                    <a:pt x="73" y="620"/>
                    <a:pt x="37" y="599"/>
                  </a:cubicBezTo>
                  <a:cubicBezTo>
                    <a:pt x="83" y="500"/>
                    <a:pt x="83" y="500"/>
                    <a:pt x="83" y="500"/>
                  </a:cubicBezTo>
                  <a:cubicBezTo>
                    <a:pt x="101" y="511"/>
                    <a:pt x="124" y="519"/>
                    <a:pt x="142" y="519"/>
                  </a:cubicBezTo>
                  <a:cubicBezTo>
                    <a:pt x="166" y="519"/>
                    <a:pt x="178" y="512"/>
                    <a:pt x="190" y="487"/>
                  </a:cubicBezTo>
                  <a:cubicBezTo>
                    <a:pt x="0" y="0"/>
                    <a:pt x="0" y="0"/>
                    <a:pt x="0" y="0"/>
                  </a:cubicBezTo>
                  <a:cubicBezTo>
                    <a:pt x="146" y="0"/>
                    <a:pt x="146" y="0"/>
                    <a:pt x="146" y="0"/>
                  </a:cubicBezTo>
                  <a:cubicBezTo>
                    <a:pt x="256" y="331"/>
                    <a:pt x="256" y="331"/>
                    <a:pt x="256" y="331"/>
                  </a:cubicBezTo>
                  <a:lnTo>
                    <a:pt x="3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2" name="Freeform 22">
              <a:extLst>
                <a:ext uri="{FF2B5EF4-FFF2-40B4-BE49-F238E27FC236}">
                  <a16:creationId xmlns:a16="http://schemas.microsoft.com/office/drawing/2014/main" id="{ACC82ECF-72D6-6ED9-EF73-7495DE192F95}"/>
                </a:ext>
              </a:extLst>
            </p:cNvPr>
            <p:cNvSpPr>
              <a:spLocks/>
            </p:cNvSpPr>
            <p:nvPr userDrawn="1"/>
          </p:nvSpPr>
          <p:spPr bwMode="auto">
            <a:xfrm>
              <a:off x="6005842" y="1258171"/>
              <a:ext cx="132541" cy="290348"/>
            </a:xfrm>
            <a:custGeom>
              <a:avLst/>
              <a:gdLst>
                <a:gd name="T0" fmla="*/ 57 w 305"/>
                <a:gd name="T1" fmla="*/ 299 h 667"/>
                <a:gd name="T2" fmla="*/ 0 w 305"/>
                <a:gd name="T3" fmla="*/ 299 h 667"/>
                <a:gd name="T4" fmla="*/ 0 w 305"/>
                <a:gd name="T5" fmla="*/ 186 h 667"/>
                <a:gd name="T6" fmla="*/ 57 w 305"/>
                <a:gd name="T7" fmla="*/ 186 h 667"/>
                <a:gd name="T8" fmla="*/ 57 w 305"/>
                <a:gd name="T9" fmla="*/ 155 h 667"/>
                <a:gd name="T10" fmla="*/ 96 w 305"/>
                <a:gd name="T11" fmla="*/ 38 h 667"/>
                <a:gd name="T12" fmla="*/ 208 w 305"/>
                <a:gd name="T13" fmla="*/ 0 h 667"/>
                <a:gd name="T14" fmla="*/ 305 w 305"/>
                <a:gd name="T15" fmla="*/ 13 h 667"/>
                <a:gd name="T16" fmla="*/ 305 w 305"/>
                <a:gd name="T17" fmla="*/ 127 h 667"/>
                <a:gd name="T18" fmla="*/ 243 w 305"/>
                <a:gd name="T19" fmla="*/ 115 h 667"/>
                <a:gd name="T20" fmla="*/ 193 w 305"/>
                <a:gd name="T21" fmla="*/ 168 h 667"/>
                <a:gd name="T22" fmla="*/ 193 w 305"/>
                <a:gd name="T23" fmla="*/ 187 h 667"/>
                <a:gd name="T24" fmla="*/ 305 w 305"/>
                <a:gd name="T25" fmla="*/ 187 h 667"/>
                <a:gd name="T26" fmla="*/ 305 w 305"/>
                <a:gd name="T27" fmla="*/ 299 h 667"/>
                <a:gd name="T28" fmla="*/ 195 w 305"/>
                <a:gd name="T29" fmla="*/ 299 h 667"/>
                <a:gd name="T30" fmla="*/ 195 w 305"/>
                <a:gd name="T31" fmla="*/ 667 h 667"/>
                <a:gd name="T32" fmla="*/ 57 w 305"/>
                <a:gd name="T33" fmla="*/ 667 h 667"/>
                <a:gd name="T34" fmla="*/ 57 w 305"/>
                <a:gd name="T35" fmla="*/ 29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667">
                  <a:moveTo>
                    <a:pt x="57" y="299"/>
                  </a:moveTo>
                  <a:cubicBezTo>
                    <a:pt x="0" y="299"/>
                    <a:pt x="0" y="299"/>
                    <a:pt x="0" y="299"/>
                  </a:cubicBezTo>
                  <a:cubicBezTo>
                    <a:pt x="0" y="186"/>
                    <a:pt x="0" y="186"/>
                    <a:pt x="0" y="186"/>
                  </a:cubicBezTo>
                  <a:cubicBezTo>
                    <a:pt x="57" y="186"/>
                    <a:pt x="57" y="186"/>
                    <a:pt x="57" y="186"/>
                  </a:cubicBezTo>
                  <a:cubicBezTo>
                    <a:pt x="57" y="155"/>
                    <a:pt x="57" y="155"/>
                    <a:pt x="57" y="155"/>
                  </a:cubicBezTo>
                  <a:cubicBezTo>
                    <a:pt x="57" y="102"/>
                    <a:pt x="71" y="63"/>
                    <a:pt x="96" y="38"/>
                  </a:cubicBezTo>
                  <a:cubicBezTo>
                    <a:pt x="122" y="12"/>
                    <a:pt x="159" y="0"/>
                    <a:pt x="208" y="0"/>
                  </a:cubicBezTo>
                  <a:cubicBezTo>
                    <a:pt x="251" y="0"/>
                    <a:pt x="280" y="5"/>
                    <a:pt x="305" y="13"/>
                  </a:cubicBezTo>
                  <a:cubicBezTo>
                    <a:pt x="305" y="127"/>
                    <a:pt x="305" y="127"/>
                    <a:pt x="305" y="127"/>
                  </a:cubicBezTo>
                  <a:cubicBezTo>
                    <a:pt x="286" y="120"/>
                    <a:pt x="267" y="115"/>
                    <a:pt x="243" y="115"/>
                  </a:cubicBezTo>
                  <a:cubicBezTo>
                    <a:pt x="211" y="115"/>
                    <a:pt x="193" y="132"/>
                    <a:pt x="193" y="168"/>
                  </a:cubicBezTo>
                  <a:cubicBezTo>
                    <a:pt x="193" y="187"/>
                    <a:pt x="193" y="187"/>
                    <a:pt x="193" y="187"/>
                  </a:cubicBezTo>
                  <a:cubicBezTo>
                    <a:pt x="305" y="187"/>
                    <a:pt x="305" y="187"/>
                    <a:pt x="305" y="187"/>
                  </a:cubicBezTo>
                  <a:cubicBezTo>
                    <a:pt x="305" y="299"/>
                    <a:pt x="305" y="299"/>
                    <a:pt x="305" y="299"/>
                  </a:cubicBezTo>
                  <a:cubicBezTo>
                    <a:pt x="195" y="299"/>
                    <a:pt x="195" y="299"/>
                    <a:pt x="195" y="299"/>
                  </a:cubicBezTo>
                  <a:cubicBezTo>
                    <a:pt x="195" y="667"/>
                    <a:pt x="195" y="667"/>
                    <a:pt x="195" y="667"/>
                  </a:cubicBezTo>
                  <a:cubicBezTo>
                    <a:pt x="57" y="667"/>
                    <a:pt x="57" y="667"/>
                    <a:pt x="57" y="667"/>
                  </a:cubicBezTo>
                  <a:lnTo>
                    <a:pt x="57"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3" name="Freeform 23">
              <a:extLst>
                <a:ext uri="{FF2B5EF4-FFF2-40B4-BE49-F238E27FC236}">
                  <a16:creationId xmlns:a16="http://schemas.microsoft.com/office/drawing/2014/main" id="{22DAB937-2E79-C195-4D0E-AD10E570DD17}"/>
                </a:ext>
              </a:extLst>
            </p:cNvPr>
            <p:cNvSpPr>
              <a:spLocks noEditPoints="1"/>
            </p:cNvSpPr>
            <p:nvPr userDrawn="1"/>
          </p:nvSpPr>
          <p:spPr bwMode="auto">
            <a:xfrm>
              <a:off x="6137497" y="1333086"/>
              <a:ext cx="228289" cy="219867"/>
            </a:xfrm>
            <a:custGeom>
              <a:avLst/>
              <a:gdLst>
                <a:gd name="T0" fmla="*/ 0 w 525"/>
                <a:gd name="T1" fmla="*/ 255 h 506"/>
                <a:gd name="T2" fmla="*/ 0 w 525"/>
                <a:gd name="T3" fmla="*/ 253 h 506"/>
                <a:gd name="T4" fmla="*/ 263 w 525"/>
                <a:gd name="T5" fmla="*/ 0 h 506"/>
                <a:gd name="T6" fmla="*/ 525 w 525"/>
                <a:gd name="T7" fmla="*/ 251 h 506"/>
                <a:gd name="T8" fmla="*/ 525 w 525"/>
                <a:gd name="T9" fmla="*/ 253 h 506"/>
                <a:gd name="T10" fmla="*/ 261 w 525"/>
                <a:gd name="T11" fmla="*/ 506 h 506"/>
                <a:gd name="T12" fmla="*/ 0 w 525"/>
                <a:gd name="T13" fmla="*/ 255 h 506"/>
                <a:gd name="T14" fmla="*/ 389 w 525"/>
                <a:gd name="T15" fmla="*/ 255 h 506"/>
                <a:gd name="T16" fmla="*/ 389 w 525"/>
                <a:gd name="T17" fmla="*/ 253 h 506"/>
                <a:gd name="T18" fmla="*/ 261 w 525"/>
                <a:gd name="T19" fmla="*/ 119 h 506"/>
                <a:gd name="T20" fmla="*/ 135 w 525"/>
                <a:gd name="T21" fmla="*/ 251 h 506"/>
                <a:gd name="T22" fmla="*/ 135 w 525"/>
                <a:gd name="T23" fmla="*/ 253 h 506"/>
                <a:gd name="T24" fmla="*/ 263 w 525"/>
                <a:gd name="T25" fmla="*/ 387 h 506"/>
                <a:gd name="T26" fmla="*/ 389 w 525"/>
                <a:gd name="T27" fmla="*/ 25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6">
                  <a:moveTo>
                    <a:pt x="0" y="255"/>
                  </a:moveTo>
                  <a:cubicBezTo>
                    <a:pt x="0" y="253"/>
                    <a:pt x="0" y="253"/>
                    <a:pt x="0" y="253"/>
                  </a:cubicBezTo>
                  <a:cubicBezTo>
                    <a:pt x="0" y="114"/>
                    <a:pt x="112" y="0"/>
                    <a:pt x="263" y="0"/>
                  </a:cubicBezTo>
                  <a:cubicBezTo>
                    <a:pt x="413" y="0"/>
                    <a:pt x="525" y="112"/>
                    <a:pt x="525" y="251"/>
                  </a:cubicBezTo>
                  <a:cubicBezTo>
                    <a:pt x="525" y="253"/>
                    <a:pt x="525" y="253"/>
                    <a:pt x="525" y="253"/>
                  </a:cubicBezTo>
                  <a:cubicBezTo>
                    <a:pt x="525" y="392"/>
                    <a:pt x="412" y="506"/>
                    <a:pt x="261" y="506"/>
                  </a:cubicBezTo>
                  <a:cubicBezTo>
                    <a:pt x="111" y="506"/>
                    <a:pt x="0" y="394"/>
                    <a:pt x="0" y="255"/>
                  </a:cubicBezTo>
                  <a:close/>
                  <a:moveTo>
                    <a:pt x="389" y="255"/>
                  </a:moveTo>
                  <a:cubicBezTo>
                    <a:pt x="389" y="253"/>
                    <a:pt x="389" y="253"/>
                    <a:pt x="389" y="253"/>
                  </a:cubicBezTo>
                  <a:cubicBezTo>
                    <a:pt x="389" y="182"/>
                    <a:pt x="337" y="119"/>
                    <a:pt x="261" y="119"/>
                  </a:cubicBezTo>
                  <a:cubicBezTo>
                    <a:pt x="183" y="119"/>
                    <a:pt x="135" y="180"/>
                    <a:pt x="135" y="251"/>
                  </a:cubicBezTo>
                  <a:cubicBezTo>
                    <a:pt x="135" y="253"/>
                    <a:pt x="135" y="253"/>
                    <a:pt x="135" y="253"/>
                  </a:cubicBezTo>
                  <a:cubicBezTo>
                    <a:pt x="135" y="325"/>
                    <a:pt x="187" y="387"/>
                    <a:pt x="263" y="387"/>
                  </a:cubicBezTo>
                  <a:cubicBezTo>
                    <a:pt x="342" y="387"/>
                    <a:pt x="389" y="326"/>
                    <a:pt x="389"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4" name="Freeform 24">
              <a:extLst>
                <a:ext uri="{FF2B5EF4-FFF2-40B4-BE49-F238E27FC236}">
                  <a16:creationId xmlns:a16="http://schemas.microsoft.com/office/drawing/2014/main" id="{10B466F6-F9DE-C9E9-D98F-5CB17B8BE4DB}"/>
                </a:ext>
              </a:extLst>
            </p:cNvPr>
            <p:cNvSpPr>
              <a:spLocks/>
            </p:cNvSpPr>
            <p:nvPr userDrawn="1"/>
          </p:nvSpPr>
          <p:spPr bwMode="auto">
            <a:xfrm>
              <a:off x="6379084" y="1331756"/>
              <a:ext cx="127665" cy="216764"/>
            </a:xfrm>
            <a:custGeom>
              <a:avLst/>
              <a:gdLst>
                <a:gd name="T0" fmla="*/ 0 w 293"/>
                <a:gd name="T1" fmla="*/ 13 h 498"/>
                <a:gd name="T2" fmla="*/ 138 w 293"/>
                <a:gd name="T3" fmla="*/ 13 h 498"/>
                <a:gd name="T4" fmla="*/ 138 w 293"/>
                <a:gd name="T5" fmla="*/ 110 h 498"/>
                <a:gd name="T6" fmla="*/ 293 w 293"/>
                <a:gd name="T7" fmla="*/ 3 h 498"/>
                <a:gd name="T8" fmla="*/ 293 w 293"/>
                <a:gd name="T9" fmla="*/ 147 h 498"/>
                <a:gd name="T10" fmla="*/ 286 w 293"/>
                <a:gd name="T11" fmla="*/ 147 h 498"/>
                <a:gd name="T12" fmla="*/ 138 w 293"/>
                <a:gd name="T13" fmla="*/ 318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0"/>
                    <a:pt x="138" y="110"/>
                    <a:pt x="138" y="110"/>
                  </a:cubicBezTo>
                  <a:cubicBezTo>
                    <a:pt x="166" y="43"/>
                    <a:pt x="211" y="0"/>
                    <a:pt x="293" y="3"/>
                  </a:cubicBezTo>
                  <a:cubicBezTo>
                    <a:pt x="293" y="147"/>
                    <a:pt x="293" y="147"/>
                    <a:pt x="293" y="147"/>
                  </a:cubicBezTo>
                  <a:cubicBezTo>
                    <a:pt x="286" y="147"/>
                    <a:pt x="286" y="147"/>
                    <a:pt x="286" y="147"/>
                  </a:cubicBezTo>
                  <a:cubicBezTo>
                    <a:pt x="194" y="147"/>
                    <a:pt x="138" y="203"/>
                    <a:pt x="138" y="318"/>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5" name="Freeform 25">
              <a:extLst>
                <a:ext uri="{FF2B5EF4-FFF2-40B4-BE49-F238E27FC236}">
                  <a16:creationId xmlns:a16="http://schemas.microsoft.com/office/drawing/2014/main" id="{AD3E18E3-90EA-4D54-E039-6221DAC55953}"/>
                </a:ext>
              </a:extLst>
            </p:cNvPr>
            <p:cNvSpPr>
              <a:spLocks noEditPoints="1"/>
            </p:cNvSpPr>
            <p:nvPr userDrawn="1"/>
          </p:nvSpPr>
          <p:spPr bwMode="auto">
            <a:xfrm>
              <a:off x="6582993" y="1334859"/>
              <a:ext cx="194157" cy="217207"/>
            </a:xfrm>
            <a:custGeom>
              <a:avLst/>
              <a:gdLst>
                <a:gd name="T0" fmla="*/ 0 w 446"/>
                <a:gd name="T1" fmla="*/ 351 h 500"/>
                <a:gd name="T2" fmla="*/ 0 w 446"/>
                <a:gd name="T3" fmla="*/ 349 h 500"/>
                <a:gd name="T4" fmla="*/ 195 w 446"/>
                <a:gd name="T5" fmla="*/ 195 h 500"/>
                <a:gd name="T6" fmla="*/ 314 w 446"/>
                <a:gd name="T7" fmla="*/ 215 h 500"/>
                <a:gd name="T8" fmla="*/ 314 w 446"/>
                <a:gd name="T9" fmla="*/ 206 h 500"/>
                <a:gd name="T10" fmla="*/ 210 w 446"/>
                <a:gd name="T11" fmla="*/ 118 h 500"/>
                <a:gd name="T12" fmla="*/ 76 w 446"/>
                <a:gd name="T13" fmla="*/ 144 h 500"/>
                <a:gd name="T14" fmla="*/ 42 w 446"/>
                <a:gd name="T15" fmla="*/ 39 h 500"/>
                <a:gd name="T16" fmla="*/ 230 w 446"/>
                <a:gd name="T17" fmla="*/ 0 h 500"/>
                <a:gd name="T18" fmla="*/ 394 w 446"/>
                <a:gd name="T19" fmla="*/ 54 h 500"/>
                <a:gd name="T20" fmla="*/ 446 w 446"/>
                <a:gd name="T21" fmla="*/ 209 h 500"/>
                <a:gd name="T22" fmla="*/ 446 w 446"/>
                <a:gd name="T23" fmla="*/ 491 h 500"/>
                <a:gd name="T24" fmla="*/ 313 w 446"/>
                <a:gd name="T25" fmla="*/ 491 h 500"/>
                <a:gd name="T26" fmla="*/ 313 w 446"/>
                <a:gd name="T27" fmla="*/ 438 h 500"/>
                <a:gd name="T28" fmla="*/ 167 w 446"/>
                <a:gd name="T29" fmla="*/ 500 h 500"/>
                <a:gd name="T30" fmla="*/ 0 w 446"/>
                <a:gd name="T31" fmla="*/ 351 h 500"/>
                <a:gd name="T32" fmla="*/ 316 w 446"/>
                <a:gd name="T33" fmla="*/ 320 h 500"/>
                <a:gd name="T34" fmla="*/ 316 w 446"/>
                <a:gd name="T35" fmla="*/ 295 h 500"/>
                <a:gd name="T36" fmla="*/ 228 w 446"/>
                <a:gd name="T37" fmla="*/ 277 h 500"/>
                <a:gd name="T38" fmla="*/ 133 w 446"/>
                <a:gd name="T39" fmla="*/ 344 h 500"/>
                <a:gd name="T40" fmla="*/ 133 w 446"/>
                <a:gd name="T41" fmla="*/ 346 h 500"/>
                <a:gd name="T42" fmla="*/ 208 w 446"/>
                <a:gd name="T43" fmla="*/ 405 h 500"/>
                <a:gd name="T44" fmla="*/ 316 w 446"/>
                <a:gd name="T45" fmla="*/ 32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500">
                  <a:moveTo>
                    <a:pt x="0" y="351"/>
                  </a:moveTo>
                  <a:cubicBezTo>
                    <a:pt x="0" y="349"/>
                    <a:pt x="0" y="349"/>
                    <a:pt x="0" y="349"/>
                  </a:cubicBezTo>
                  <a:cubicBezTo>
                    <a:pt x="0" y="244"/>
                    <a:pt x="81" y="195"/>
                    <a:pt x="195" y="195"/>
                  </a:cubicBezTo>
                  <a:cubicBezTo>
                    <a:pt x="244" y="195"/>
                    <a:pt x="280" y="203"/>
                    <a:pt x="314" y="215"/>
                  </a:cubicBezTo>
                  <a:cubicBezTo>
                    <a:pt x="314" y="206"/>
                    <a:pt x="314" y="206"/>
                    <a:pt x="314" y="206"/>
                  </a:cubicBezTo>
                  <a:cubicBezTo>
                    <a:pt x="314" y="149"/>
                    <a:pt x="279" y="118"/>
                    <a:pt x="210" y="118"/>
                  </a:cubicBezTo>
                  <a:cubicBezTo>
                    <a:pt x="157" y="118"/>
                    <a:pt x="120" y="128"/>
                    <a:pt x="76" y="144"/>
                  </a:cubicBezTo>
                  <a:cubicBezTo>
                    <a:pt x="42" y="39"/>
                    <a:pt x="42" y="39"/>
                    <a:pt x="42" y="39"/>
                  </a:cubicBezTo>
                  <a:cubicBezTo>
                    <a:pt x="95" y="15"/>
                    <a:pt x="148" y="0"/>
                    <a:pt x="230" y="0"/>
                  </a:cubicBezTo>
                  <a:cubicBezTo>
                    <a:pt x="305" y="0"/>
                    <a:pt x="359" y="20"/>
                    <a:pt x="394" y="54"/>
                  </a:cubicBezTo>
                  <a:cubicBezTo>
                    <a:pt x="430" y="91"/>
                    <a:pt x="446" y="144"/>
                    <a:pt x="446" y="209"/>
                  </a:cubicBezTo>
                  <a:cubicBezTo>
                    <a:pt x="446" y="491"/>
                    <a:pt x="446" y="491"/>
                    <a:pt x="446" y="491"/>
                  </a:cubicBezTo>
                  <a:cubicBezTo>
                    <a:pt x="313" y="491"/>
                    <a:pt x="313" y="491"/>
                    <a:pt x="313" y="491"/>
                  </a:cubicBezTo>
                  <a:cubicBezTo>
                    <a:pt x="313" y="438"/>
                    <a:pt x="313" y="438"/>
                    <a:pt x="313" y="438"/>
                  </a:cubicBezTo>
                  <a:cubicBezTo>
                    <a:pt x="280" y="475"/>
                    <a:pt x="234" y="500"/>
                    <a:pt x="167" y="500"/>
                  </a:cubicBezTo>
                  <a:cubicBezTo>
                    <a:pt x="75" y="500"/>
                    <a:pt x="0" y="447"/>
                    <a:pt x="0" y="351"/>
                  </a:cubicBezTo>
                  <a:close/>
                  <a:moveTo>
                    <a:pt x="316" y="320"/>
                  </a:moveTo>
                  <a:cubicBezTo>
                    <a:pt x="316" y="295"/>
                    <a:pt x="316" y="295"/>
                    <a:pt x="316" y="295"/>
                  </a:cubicBezTo>
                  <a:cubicBezTo>
                    <a:pt x="292" y="284"/>
                    <a:pt x="262" y="277"/>
                    <a:pt x="228" y="277"/>
                  </a:cubicBezTo>
                  <a:cubicBezTo>
                    <a:pt x="169" y="277"/>
                    <a:pt x="133" y="301"/>
                    <a:pt x="133" y="344"/>
                  </a:cubicBezTo>
                  <a:cubicBezTo>
                    <a:pt x="133" y="346"/>
                    <a:pt x="133" y="346"/>
                    <a:pt x="133" y="346"/>
                  </a:cubicBezTo>
                  <a:cubicBezTo>
                    <a:pt x="133" y="383"/>
                    <a:pt x="164" y="405"/>
                    <a:pt x="208" y="405"/>
                  </a:cubicBezTo>
                  <a:cubicBezTo>
                    <a:pt x="272" y="405"/>
                    <a:pt x="316" y="369"/>
                    <a:pt x="316" y="3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6" name="Rectangle 26">
              <a:extLst>
                <a:ext uri="{FF2B5EF4-FFF2-40B4-BE49-F238E27FC236}">
                  <a16:creationId xmlns:a16="http://schemas.microsoft.com/office/drawing/2014/main" id="{144E16EA-4F3F-420C-5D8D-753A1E9F0B11}"/>
                </a:ext>
              </a:extLst>
            </p:cNvPr>
            <p:cNvSpPr>
              <a:spLocks noChangeArrowheads="1"/>
            </p:cNvSpPr>
            <p:nvPr userDrawn="1"/>
          </p:nvSpPr>
          <p:spPr bwMode="auto">
            <a:xfrm>
              <a:off x="6801973" y="1260831"/>
              <a:ext cx="59843"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7" name="Rectangle 27">
              <a:extLst>
                <a:ext uri="{FF2B5EF4-FFF2-40B4-BE49-F238E27FC236}">
                  <a16:creationId xmlns:a16="http://schemas.microsoft.com/office/drawing/2014/main" id="{E009FD22-AB72-D26D-205F-29DF66B5BFFA}"/>
                </a:ext>
              </a:extLst>
            </p:cNvPr>
            <p:cNvSpPr>
              <a:spLocks noChangeArrowheads="1"/>
            </p:cNvSpPr>
            <p:nvPr userDrawn="1"/>
          </p:nvSpPr>
          <p:spPr bwMode="auto">
            <a:xfrm>
              <a:off x="6886639" y="1260831"/>
              <a:ext cx="59399"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nvGrpSpPr>
          <p:cNvPr id="3" name="Group 2">
            <a:extLst>
              <a:ext uri="{FF2B5EF4-FFF2-40B4-BE49-F238E27FC236}">
                <a16:creationId xmlns:a16="http://schemas.microsoft.com/office/drawing/2014/main" id="{1C38DDA1-EC9C-CA43-6B38-399660A513F2}"/>
              </a:ext>
            </a:extLst>
          </p:cNvPr>
          <p:cNvGrpSpPr/>
          <p:nvPr userDrawn="1"/>
        </p:nvGrpSpPr>
        <p:grpSpPr>
          <a:xfrm>
            <a:off x="11559241" y="767096"/>
            <a:ext cx="634346" cy="1898696"/>
            <a:chOff x="11556230" y="767096"/>
            <a:chExt cx="634181" cy="1898696"/>
          </a:xfrm>
        </p:grpSpPr>
        <p:sp>
          <p:nvSpPr>
            <p:cNvPr id="77" name="Rectangle 28">
              <a:extLst>
                <a:ext uri="{FF2B5EF4-FFF2-40B4-BE49-F238E27FC236}">
                  <a16:creationId xmlns:a16="http://schemas.microsoft.com/office/drawing/2014/main" id="{FB305569-AB33-7799-ED76-68F103CE5B8C}"/>
                </a:ext>
              </a:extLst>
            </p:cNvPr>
            <p:cNvSpPr>
              <a:spLocks noChangeArrowheads="1"/>
            </p:cNvSpPr>
            <p:nvPr userDrawn="1"/>
          </p:nvSpPr>
          <p:spPr bwMode="auto">
            <a:xfrm>
              <a:off x="11556230" y="767096"/>
              <a:ext cx="634181" cy="1898696"/>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grpSp>
          <p:nvGrpSpPr>
            <p:cNvPr id="78" name="Group 77">
              <a:extLst>
                <a:ext uri="{FF2B5EF4-FFF2-40B4-BE49-F238E27FC236}">
                  <a16:creationId xmlns:a16="http://schemas.microsoft.com/office/drawing/2014/main" id="{DC4D5431-76CB-4561-B2E0-664C3E75E88C}"/>
                </a:ext>
              </a:extLst>
            </p:cNvPr>
            <p:cNvGrpSpPr/>
            <p:nvPr userDrawn="1"/>
          </p:nvGrpSpPr>
          <p:grpSpPr>
            <a:xfrm>
              <a:off x="11701122" y="936748"/>
              <a:ext cx="321494" cy="1552800"/>
              <a:chOff x="7313961" y="501936"/>
              <a:chExt cx="323594" cy="1566108"/>
            </a:xfrm>
          </p:grpSpPr>
          <p:sp>
            <p:nvSpPr>
              <p:cNvPr id="79" name="Freeform 29">
                <a:extLst>
                  <a:ext uri="{FF2B5EF4-FFF2-40B4-BE49-F238E27FC236}">
                    <a16:creationId xmlns:a16="http://schemas.microsoft.com/office/drawing/2014/main" id="{9EB7EA56-59D4-7E58-E9A3-5C4585DF00FE}"/>
                  </a:ext>
                </a:extLst>
              </p:cNvPr>
              <p:cNvSpPr>
                <a:spLocks/>
              </p:cNvSpPr>
              <p:nvPr userDrawn="1"/>
            </p:nvSpPr>
            <p:spPr bwMode="auto">
              <a:xfrm>
                <a:off x="7383556" y="1311808"/>
                <a:ext cx="249567" cy="247350"/>
              </a:xfrm>
              <a:custGeom>
                <a:avLst/>
                <a:gdLst>
                  <a:gd name="T0" fmla="*/ 0 w 574"/>
                  <a:gd name="T1" fmla="*/ 229 h 569"/>
                  <a:gd name="T2" fmla="*/ 90 w 574"/>
                  <a:gd name="T3" fmla="*/ 413 h 569"/>
                  <a:gd name="T4" fmla="*/ 90 w 574"/>
                  <a:gd name="T5" fmla="*/ 413 h 569"/>
                  <a:gd name="T6" fmla="*/ 90 w 574"/>
                  <a:gd name="T7" fmla="*/ 413 h 569"/>
                  <a:gd name="T8" fmla="*/ 9 w 574"/>
                  <a:gd name="T9" fmla="*/ 413 h 569"/>
                  <a:gd name="T10" fmla="*/ 9 w 574"/>
                  <a:gd name="T11" fmla="*/ 569 h 569"/>
                  <a:gd name="T12" fmla="*/ 574 w 574"/>
                  <a:gd name="T13" fmla="*/ 569 h 569"/>
                  <a:gd name="T14" fmla="*/ 574 w 574"/>
                  <a:gd name="T15" fmla="*/ 413 h 569"/>
                  <a:gd name="T16" fmla="*/ 253 w 574"/>
                  <a:gd name="T17" fmla="*/ 413 h 569"/>
                  <a:gd name="T18" fmla="*/ 133 w 574"/>
                  <a:gd name="T19" fmla="*/ 286 h 569"/>
                  <a:gd name="T20" fmla="*/ 253 w 574"/>
                  <a:gd name="T21" fmla="*/ 155 h 569"/>
                  <a:gd name="T22" fmla="*/ 574 w 574"/>
                  <a:gd name="T23" fmla="*/ 155 h 569"/>
                  <a:gd name="T24" fmla="*/ 574 w 574"/>
                  <a:gd name="T25" fmla="*/ 0 h 569"/>
                  <a:gd name="T26" fmla="*/ 224 w 574"/>
                  <a:gd name="T27" fmla="*/ 0 h 569"/>
                  <a:gd name="T28" fmla="*/ 0 w 574"/>
                  <a:gd name="T29" fmla="*/ 229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4" h="569">
                    <a:moveTo>
                      <a:pt x="0" y="229"/>
                    </a:moveTo>
                    <a:cubicBezTo>
                      <a:pt x="0" y="294"/>
                      <a:pt x="30" y="368"/>
                      <a:pt x="90" y="413"/>
                    </a:cubicBezTo>
                    <a:cubicBezTo>
                      <a:pt x="90" y="413"/>
                      <a:pt x="90" y="413"/>
                      <a:pt x="90" y="413"/>
                    </a:cubicBezTo>
                    <a:cubicBezTo>
                      <a:pt x="90" y="413"/>
                      <a:pt x="90" y="413"/>
                      <a:pt x="90" y="413"/>
                    </a:cubicBezTo>
                    <a:cubicBezTo>
                      <a:pt x="9" y="413"/>
                      <a:pt x="9" y="413"/>
                      <a:pt x="9" y="413"/>
                    </a:cubicBezTo>
                    <a:cubicBezTo>
                      <a:pt x="9" y="569"/>
                      <a:pt x="9" y="569"/>
                      <a:pt x="9" y="569"/>
                    </a:cubicBezTo>
                    <a:cubicBezTo>
                      <a:pt x="574" y="569"/>
                      <a:pt x="574" y="569"/>
                      <a:pt x="574" y="569"/>
                    </a:cubicBezTo>
                    <a:cubicBezTo>
                      <a:pt x="574" y="413"/>
                      <a:pt x="574" y="413"/>
                      <a:pt x="574" y="413"/>
                    </a:cubicBezTo>
                    <a:cubicBezTo>
                      <a:pt x="253" y="413"/>
                      <a:pt x="253" y="413"/>
                      <a:pt x="253" y="413"/>
                    </a:cubicBezTo>
                    <a:cubicBezTo>
                      <a:pt x="195" y="413"/>
                      <a:pt x="133" y="369"/>
                      <a:pt x="133" y="286"/>
                    </a:cubicBezTo>
                    <a:cubicBezTo>
                      <a:pt x="133" y="221"/>
                      <a:pt x="178" y="155"/>
                      <a:pt x="253" y="155"/>
                    </a:cubicBezTo>
                    <a:cubicBezTo>
                      <a:pt x="574" y="155"/>
                      <a:pt x="574" y="155"/>
                      <a:pt x="574" y="155"/>
                    </a:cubicBezTo>
                    <a:cubicBezTo>
                      <a:pt x="574" y="0"/>
                      <a:pt x="574" y="0"/>
                      <a:pt x="574" y="0"/>
                    </a:cubicBezTo>
                    <a:cubicBezTo>
                      <a:pt x="224" y="0"/>
                      <a:pt x="224" y="0"/>
                      <a:pt x="224" y="0"/>
                    </a:cubicBezTo>
                    <a:cubicBezTo>
                      <a:pt x="94" y="0"/>
                      <a:pt x="0" y="93"/>
                      <a:pt x="0" y="22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0" name="Freeform 30">
                <a:extLst>
                  <a:ext uri="{FF2B5EF4-FFF2-40B4-BE49-F238E27FC236}">
                    <a16:creationId xmlns:a16="http://schemas.microsoft.com/office/drawing/2014/main" id="{93B05BBE-DBEC-684B-B012-F63384131C10}"/>
                  </a:ext>
                </a:extLst>
              </p:cNvPr>
              <p:cNvSpPr>
                <a:spLocks/>
              </p:cNvSpPr>
              <p:nvPr userDrawn="1"/>
            </p:nvSpPr>
            <p:spPr bwMode="auto">
              <a:xfrm>
                <a:off x="7387546" y="755049"/>
                <a:ext cx="245577" cy="276163"/>
              </a:xfrm>
              <a:custGeom>
                <a:avLst/>
                <a:gdLst>
                  <a:gd name="T0" fmla="*/ 0 w 554"/>
                  <a:gd name="T1" fmla="*/ 174 h 623"/>
                  <a:gd name="T2" fmla="*/ 377 w 554"/>
                  <a:gd name="T3" fmla="*/ 311 h 623"/>
                  <a:gd name="T4" fmla="*/ 0 w 554"/>
                  <a:gd name="T5" fmla="*/ 450 h 623"/>
                  <a:gd name="T6" fmla="*/ 0 w 554"/>
                  <a:gd name="T7" fmla="*/ 623 h 623"/>
                  <a:gd name="T8" fmla="*/ 554 w 554"/>
                  <a:gd name="T9" fmla="*/ 395 h 623"/>
                  <a:gd name="T10" fmla="*/ 554 w 554"/>
                  <a:gd name="T11" fmla="*/ 228 h 623"/>
                  <a:gd name="T12" fmla="*/ 0 w 554"/>
                  <a:gd name="T13" fmla="*/ 0 h 623"/>
                  <a:gd name="T14" fmla="*/ 0 w 554"/>
                  <a:gd name="T15" fmla="*/ 174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623">
                    <a:moveTo>
                      <a:pt x="0" y="174"/>
                    </a:moveTo>
                    <a:lnTo>
                      <a:pt x="377" y="311"/>
                    </a:lnTo>
                    <a:lnTo>
                      <a:pt x="0" y="450"/>
                    </a:lnTo>
                    <a:lnTo>
                      <a:pt x="0" y="623"/>
                    </a:lnTo>
                    <a:lnTo>
                      <a:pt x="554" y="395"/>
                    </a:lnTo>
                    <a:lnTo>
                      <a:pt x="554" y="228"/>
                    </a:lnTo>
                    <a:lnTo>
                      <a:pt x="0" y="0"/>
                    </a:lnTo>
                    <a:lnTo>
                      <a:pt x="0"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1" name="Freeform 31">
                <a:extLst>
                  <a:ext uri="{FF2B5EF4-FFF2-40B4-BE49-F238E27FC236}">
                    <a16:creationId xmlns:a16="http://schemas.microsoft.com/office/drawing/2014/main" id="{972F0292-22E7-DDB2-79F6-6703AF74768F}"/>
                  </a:ext>
                </a:extLst>
              </p:cNvPr>
              <p:cNvSpPr>
                <a:spLocks noEditPoints="1"/>
              </p:cNvSpPr>
              <p:nvPr userDrawn="1"/>
            </p:nvSpPr>
            <p:spPr bwMode="auto">
              <a:xfrm>
                <a:off x="7383556" y="1583096"/>
                <a:ext cx="253999" cy="256659"/>
              </a:xfrm>
              <a:custGeom>
                <a:avLst/>
                <a:gdLst>
                  <a:gd name="T0" fmla="*/ 401 w 584"/>
                  <a:gd name="T1" fmla="*/ 110 h 590"/>
                  <a:gd name="T2" fmla="*/ 460 w 584"/>
                  <a:gd name="T3" fmla="*/ 272 h 590"/>
                  <a:gd name="T4" fmla="*/ 415 w 584"/>
                  <a:gd name="T5" fmla="*/ 397 h 590"/>
                  <a:gd name="T6" fmla="*/ 250 w 584"/>
                  <a:gd name="T7" fmla="*/ 0 h 590"/>
                  <a:gd name="T8" fmla="*/ 92 w 584"/>
                  <a:gd name="T9" fmla="*/ 68 h 590"/>
                  <a:gd name="T10" fmla="*/ 0 w 584"/>
                  <a:gd name="T11" fmla="*/ 291 h 590"/>
                  <a:gd name="T12" fmla="*/ 292 w 584"/>
                  <a:gd name="T13" fmla="*/ 590 h 590"/>
                  <a:gd name="T14" fmla="*/ 584 w 584"/>
                  <a:gd name="T15" fmla="*/ 274 h 590"/>
                  <a:gd name="T16" fmla="*/ 476 w 584"/>
                  <a:gd name="T17" fmla="*/ 12 h 590"/>
                  <a:gd name="T18" fmla="*/ 401 w 584"/>
                  <a:gd name="T19" fmla="*/ 110 h 590"/>
                  <a:gd name="T20" fmla="*/ 179 w 584"/>
                  <a:gd name="T21" fmla="*/ 408 h 590"/>
                  <a:gd name="T22" fmla="*/ 123 w 584"/>
                  <a:gd name="T23" fmla="*/ 288 h 590"/>
                  <a:gd name="T24" fmla="*/ 202 w 584"/>
                  <a:gd name="T25" fmla="*/ 168 h 590"/>
                  <a:gd name="T26" fmla="*/ 315 w 584"/>
                  <a:gd name="T27" fmla="*/ 439 h 590"/>
                  <a:gd name="T28" fmla="*/ 179 w 584"/>
                  <a:gd name="T29" fmla="*/ 408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4" h="590">
                    <a:moveTo>
                      <a:pt x="401" y="110"/>
                    </a:moveTo>
                    <a:cubicBezTo>
                      <a:pt x="449" y="175"/>
                      <a:pt x="460" y="212"/>
                      <a:pt x="460" y="272"/>
                    </a:cubicBezTo>
                    <a:cubicBezTo>
                      <a:pt x="460" y="325"/>
                      <a:pt x="444" y="367"/>
                      <a:pt x="415" y="397"/>
                    </a:cubicBezTo>
                    <a:cubicBezTo>
                      <a:pt x="250" y="0"/>
                      <a:pt x="250" y="0"/>
                      <a:pt x="250" y="0"/>
                    </a:cubicBezTo>
                    <a:cubicBezTo>
                      <a:pt x="189" y="9"/>
                      <a:pt x="134" y="32"/>
                      <a:pt x="92" y="68"/>
                    </a:cubicBezTo>
                    <a:cubicBezTo>
                      <a:pt x="32" y="120"/>
                      <a:pt x="0" y="197"/>
                      <a:pt x="0" y="291"/>
                    </a:cubicBezTo>
                    <a:cubicBezTo>
                      <a:pt x="0" y="462"/>
                      <a:pt x="126" y="590"/>
                      <a:pt x="292" y="590"/>
                    </a:cubicBezTo>
                    <a:cubicBezTo>
                      <a:pt x="462" y="590"/>
                      <a:pt x="584" y="462"/>
                      <a:pt x="584" y="274"/>
                    </a:cubicBezTo>
                    <a:cubicBezTo>
                      <a:pt x="584" y="169"/>
                      <a:pt x="534" y="62"/>
                      <a:pt x="476" y="12"/>
                    </a:cubicBezTo>
                    <a:lnTo>
                      <a:pt x="401" y="110"/>
                    </a:lnTo>
                    <a:close/>
                    <a:moveTo>
                      <a:pt x="179" y="408"/>
                    </a:moveTo>
                    <a:cubicBezTo>
                      <a:pt x="144" y="381"/>
                      <a:pt x="123" y="339"/>
                      <a:pt x="123" y="288"/>
                    </a:cubicBezTo>
                    <a:cubicBezTo>
                      <a:pt x="123" y="232"/>
                      <a:pt x="155" y="190"/>
                      <a:pt x="202" y="168"/>
                    </a:cubicBezTo>
                    <a:cubicBezTo>
                      <a:pt x="315" y="439"/>
                      <a:pt x="315" y="439"/>
                      <a:pt x="315" y="439"/>
                    </a:cubicBezTo>
                    <a:cubicBezTo>
                      <a:pt x="257" y="447"/>
                      <a:pt x="212" y="432"/>
                      <a:pt x="179" y="4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2" name="Freeform 32">
                <a:extLst>
                  <a:ext uri="{FF2B5EF4-FFF2-40B4-BE49-F238E27FC236}">
                    <a16:creationId xmlns:a16="http://schemas.microsoft.com/office/drawing/2014/main" id="{8FB3E4DF-D685-E83E-C831-3D30D6486411}"/>
                  </a:ext>
                </a:extLst>
              </p:cNvPr>
              <p:cNvSpPr>
                <a:spLocks/>
              </p:cNvSpPr>
              <p:nvPr userDrawn="1"/>
            </p:nvSpPr>
            <p:spPr bwMode="auto">
              <a:xfrm>
                <a:off x="7313961" y="1846404"/>
                <a:ext cx="319161" cy="221640"/>
              </a:xfrm>
              <a:custGeom>
                <a:avLst/>
                <a:gdLst>
                  <a:gd name="T0" fmla="*/ 580 w 720"/>
                  <a:gd name="T1" fmla="*/ 0 h 500"/>
                  <a:gd name="T2" fmla="*/ 580 w 720"/>
                  <a:gd name="T3" fmla="*/ 346 h 500"/>
                  <a:gd name="T4" fmla="*/ 0 w 720"/>
                  <a:gd name="T5" fmla="*/ 346 h 500"/>
                  <a:gd name="T6" fmla="*/ 0 w 720"/>
                  <a:gd name="T7" fmla="*/ 500 h 500"/>
                  <a:gd name="T8" fmla="*/ 720 w 720"/>
                  <a:gd name="T9" fmla="*/ 500 h 500"/>
                  <a:gd name="T10" fmla="*/ 720 w 720"/>
                  <a:gd name="T11" fmla="*/ 0 h 500"/>
                  <a:gd name="T12" fmla="*/ 580 w 720"/>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720" h="500">
                    <a:moveTo>
                      <a:pt x="580" y="0"/>
                    </a:moveTo>
                    <a:lnTo>
                      <a:pt x="580" y="346"/>
                    </a:lnTo>
                    <a:lnTo>
                      <a:pt x="0" y="346"/>
                    </a:lnTo>
                    <a:lnTo>
                      <a:pt x="0" y="500"/>
                    </a:lnTo>
                    <a:lnTo>
                      <a:pt x="720" y="500"/>
                    </a:lnTo>
                    <a:lnTo>
                      <a:pt x="720" y="0"/>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3" name="Freeform 33">
                <a:extLst>
                  <a:ext uri="{FF2B5EF4-FFF2-40B4-BE49-F238E27FC236}">
                    <a16:creationId xmlns:a16="http://schemas.microsoft.com/office/drawing/2014/main" id="{7E51460F-8A6D-E455-ADF5-BF3600A7DAC9}"/>
                  </a:ext>
                </a:extLst>
              </p:cNvPr>
              <p:cNvSpPr>
                <a:spLocks noEditPoints="1"/>
              </p:cNvSpPr>
              <p:nvPr userDrawn="1"/>
            </p:nvSpPr>
            <p:spPr bwMode="auto">
              <a:xfrm>
                <a:off x="7383556" y="501936"/>
                <a:ext cx="253999" cy="263752"/>
              </a:xfrm>
              <a:custGeom>
                <a:avLst/>
                <a:gdLst>
                  <a:gd name="T0" fmla="*/ 584 w 584"/>
                  <a:gd name="T1" fmla="*/ 304 h 607"/>
                  <a:gd name="T2" fmla="*/ 292 w 584"/>
                  <a:gd name="T3" fmla="*/ 607 h 607"/>
                  <a:gd name="T4" fmla="*/ 0 w 584"/>
                  <a:gd name="T5" fmla="*/ 302 h 607"/>
                  <a:gd name="T6" fmla="*/ 292 w 584"/>
                  <a:gd name="T7" fmla="*/ 0 h 607"/>
                  <a:gd name="T8" fmla="*/ 584 w 584"/>
                  <a:gd name="T9" fmla="*/ 304 h 607"/>
                  <a:gd name="T10" fmla="*/ 133 w 584"/>
                  <a:gd name="T11" fmla="*/ 304 h 607"/>
                  <a:gd name="T12" fmla="*/ 292 w 584"/>
                  <a:gd name="T13" fmla="*/ 454 h 607"/>
                  <a:gd name="T14" fmla="*/ 451 w 584"/>
                  <a:gd name="T15" fmla="*/ 302 h 607"/>
                  <a:gd name="T16" fmla="*/ 292 w 584"/>
                  <a:gd name="T17" fmla="*/ 153 h 607"/>
                  <a:gd name="T18" fmla="*/ 133 w 584"/>
                  <a:gd name="T19" fmla="*/ 304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4"/>
                    </a:moveTo>
                    <a:cubicBezTo>
                      <a:pt x="584" y="474"/>
                      <a:pt x="457" y="607"/>
                      <a:pt x="292" y="607"/>
                    </a:cubicBezTo>
                    <a:cubicBezTo>
                      <a:pt x="128" y="607"/>
                      <a:pt x="0" y="473"/>
                      <a:pt x="0" y="302"/>
                    </a:cubicBezTo>
                    <a:cubicBezTo>
                      <a:pt x="0" y="133"/>
                      <a:pt x="126" y="0"/>
                      <a:pt x="292" y="0"/>
                    </a:cubicBezTo>
                    <a:cubicBezTo>
                      <a:pt x="455" y="0"/>
                      <a:pt x="584" y="133"/>
                      <a:pt x="584" y="304"/>
                    </a:cubicBezTo>
                    <a:moveTo>
                      <a:pt x="133" y="304"/>
                    </a:moveTo>
                    <a:cubicBezTo>
                      <a:pt x="133" y="391"/>
                      <a:pt x="198" y="454"/>
                      <a:pt x="292" y="454"/>
                    </a:cubicBezTo>
                    <a:cubicBezTo>
                      <a:pt x="381" y="454"/>
                      <a:pt x="451" y="387"/>
                      <a:pt x="451" y="302"/>
                    </a:cubicBezTo>
                    <a:cubicBezTo>
                      <a:pt x="451" y="216"/>
                      <a:pt x="383" y="153"/>
                      <a:pt x="292" y="153"/>
                    </a:cubicBezTo>
                    <a:cubicBezTo>
                      <a:pt x="203" y="153"/>
                      <a:pt x="133" y="219"/>
                      <a:pt x="133" y="30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4" name="Freeform 34">
                <a:extLst>
                  <a:ext uri="{FF2B5EF4-FFF2-40B4-BE49-F238E27FC236}">
                    <a16:creationId xmlns:a16="http://schemas.microsoft.com/office/drawing/2014/main" id="{9296505E-2DA9-07F7-31C5-6D802244B0F4}"/>
                  </a:ext>
                </a:extLst>
              </p:cNvPr>
              <p:cNvSpPr>
                <a:spLocks noEditPoints="1"/>
              </p:cNvSpPr>
              <p:nvPr userDrawn="1"/>
            </p:nvSpPr>
            <p:spPr bwMode="auto">
              <a:xfrm>
                <a:off x="7383556" y="1021017"/>
                <a:ext cx="253999" cy="263752"/>
              </a:xfrm>
              <a:custGeom>
                <a:avLst/>
                <a:gdLst>
                  <a:gd name="T0" fmla="*/ 584 w 584"/>
                  <a:gd name="T1" fmla="*/ 305 h 607"/>
                  <a:gd name="T2" fmla="*/ 292 w 584"/>
                  <a:gd name="T3" fmla="*/ 607 h 607"/>
                  <a:gd name="T4" fmla="*/ 0 w 584"/>
                  <a:gd name="T5" fmla="*/ 303 h 607"/>
                  <a:gd name="T6" fmla="*/ 292 w 584"/>
                  <a:gd name="T7" fmla="*/ 0 h 607"/>
                  <a:gd name="T8" fmla="*/ 584 w 584"/>
                  <a:gd name="T9" fmla="*/ 305 h 607"/>
                  <a:gd name="T10" fmla="*/ 133 w 584"/>
                  <a:gd name="T11" fmla="*/ 305 h 607"/>
                  <a:gd name="T12" fmla="*/ 292 w 584"/>
                  <a:gd name="T13" fmla="*/ 454 h 607"/>
                  <a:gd name="T14" fmla="*/ 451 w 584"/>
                  <a:gd name="T15" fmla="*/ 303 h 607"/>
                  <a:gd name="T16" fmla="*/ 292 w 584"/>
                  <a:gd name="T17" fmla="*/ 153 h 607"/>
                  <a:gd name="T18" fmla="*/ 133 w 584"/>
                  <a:gd name="T19" fmla="*/ 30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5"/>
                    </a:moveTo>
                    <a:cubicBezTo>
                      <a:pt x="584" y="474"/>
                      <a:pt x="457" y="607"/>
                      <a:pt x="292" y="607"/>
                    </a:cubicBezTo>
                    <a:cubicBezTo>
                      <a:pt x="128" y="607"/>
                      <a:pt x="0" y="474"/>
                      <a:pt x="0" y="303"/>
                    </a:cubicBezTo>
                    <a:cubicBezTo>
                      <a:pt x="0" y="133"/>
                      <a:pt x="126" y="0"/>
                      <a:pt x="292" y="0"/>
                    </a:cubicBezTo>
                    <a:cubicBezTo>
                      <a:pt x="455" y="0"/>
                      <a:pt x="584" y="134"/>
                      <a:pt x="584" y="305"/>
                    </a:cubicBezTo>
                    <a:moveTo>
                      <a:pt x="133" y="305"/>
                    </a:moveTo>
                    <a:cubicBezTo>
                      <a:pt x="133" y="391"/>
                      <a:pt x="198" y="454"/>
                      <a:pt x="292" y="454"/>
                    </a:cubicBezTo>
                    <a:cubicBezTo>
                      <a:pt x="381" y="454"/>
                      <a:pt x="451" y="388"/>
                      <a:pt x="451" y="303"/>
                    </a:cubicBezTo>
                    <a:cubicBezTo>
                      <a:pt x="451" y="216"/>
                      <a:pt x="383" y="153"/>
                      <a:pt x="292" y="153"/>
                    </a:cubicBezTo>
                    <a:cubicBezTo>
                      <a:pt x="203" y="153"/>
                      <a:pt x="133" y="220"/>
                      <a:pt x="133" y="30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pic>
        <p:nvPicPr>
          <p:cNvPr id="12" name="Picture 11">
            <a:extLst>
              <a:ext uri="{FF2B5EF4-FFF2-40B4-BE49-F238E27FC236}">
                <a16:creationId xmlns:a16="http://schemas.microsoft.com/office/drawing/2014/main" id="{65866607-25A7-FC68-0DCF-36B98EC529BE}"/>
              </a:ext>
            </a:extLst>
          </p:cNvPr>
          <p:cNvPicPr>
            <a:picLocks noChangeAspect="1"/>
          </p:cNvPicPr>
          <p:nvPr userDrawn="1"/>
        </p:nvPicPr>
        <p:blipFill>
          <a:blip r:embed="rId2"/>
          <a:stretch>
            <a:fillRect/>
          </a:stretch>
        </p:blipFill>
        <p:spPr>
          <a:xfrm>
            <a:off x="1539349" y="3561907"/>
            <a:ext cx="7854374" cy="1774090"/>
          </a:xfrm>
          <a:prstGeom prst="rect">
            <a:avLst/>
          </a:prstGeom>
        </p:spPr>
      </p:pic>
    </p:spTree>
    <p:extLst>
      <p:ext uri="{BB962C8B-B14F-4D97-AF65-F5344CB8AC3E}">
        <p14:creationId xmlns:p14="http://schemas.microsoft.com/office/powerpoint/2010/main" val="1263750849"/>
      </p:ext>
    </p:extLst>
  </p:cSld>
  <p:clrMapOvr>
    <a:masterClrMapping/>
  </p:clrMapOvr>
  <p:transition spd="med"/>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preserve="1" userDrawn="1">
  <p:cSld name="Closing Slide_Black">
    <p:bg>
      <p:bgPr>
        <a:solidFill>
          <a:srgbClr val="1E0113"/>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F7FEAA-CD25-31FD-0E8A-E47145F5F9EB}"/>
              </a:ext>
            </a:extLst>
          </p:cNvPr>
          <p:cNvGrpSpPr/>
          <p:nvPr userDrawn="1"/>
        </p:nvGrpSpPr>
        <p:grpSpPr>
          <a:xfrm>
            <a:off x="9392771" y="767096"/>
            <a:ext cx="2800816" cy="1898696"/>
            <a:chOff x="9390324" y="767096"/>
            <a:chExt cx="2800087" cy="1898696"/>
          </a:xfrm>
        </p:grpSpPr>
        <p:grpSp>
          <p:nvGrpSpPr>
            <p:cNvPr id="63" name="Group 62">
              <a:extLst>
                <a:ext uri="{FF2B5EF4-FFF2-40B4-BE49-F238E27FC236}">
                  <a16:creationId xmlns:a16="http://schemas.microsoft.com/office/drawing/2014/main" id="{DBC4C027-8FC0-71EF-963F-3B8A0447C1E8}"/>
                </a:ext>
              </a:extLst>
            </p:cNvPr>
            <p:cNvGrpSpPr/>
            <p:nvPr userDrawn="1"/>
          </p:nvGrpSpPr>
          <p:grpSpPr>
            <a:xfrm>
              <a:off x="9390324" y="936748"/>
              <a:ext cx="1965963" cy="1042086"/>
              <a:chOff x="4988072" y="501936"/>
              <a:chExt cx="1978802" cy="1051017"/>
            </a:xfrm>
            <a:solidFill>
              <a:schemeClr val="bg1"/>
            </a:solidFill>
          </p:grpSpPr>
          <p:sp>
            <p:nvSpPr>
              <p:cNvPr id="72" name="Freeform 5">
                <a:extLst>
                  <a:ext uri="{FF2B5EF4-FFF2-40B4-BE49-F238E27FC236}">
                    <a16:creationId xmlns:a16="http://schemas.microsoft.com/office/drawing/2014/main" id="{AC114BA7-B808-0C61-F4C4-498846EB2C1F}"/>
                  </a:ext>
                </a:extLst>
              </p:cNvPr>
              <p:cNvSpPr>
                <a:spLocks/>
              </p:cNvSpPr>
              <p:nvPr userDrawn="1"/>
            </p:nvSpPr>
            <p:spPr bwMode="auto">
              <a:xfrm>
                <a:off x="5559016" y="501936"/>
                <a:ext cx="218094" cy="282813"/>
              </a:xfrm>
              <a:custGeom>
                <a:avLst/>
                <a:gdLst>
                  <a:gd name="T0" fmla="*/ 0 w 502"/>
                  <a:gd name="T1" fmla="*/ 550 h 651"/>
                  <a:gd name="T2" fmla="*/ 83 w 502"/>
                  <a:gd name="T3" fmla="*/ 451 h 651"/>
                  <a:gd name="T4" fmla="*/ 272 w 502"/>
                  <a:gd name="T5" fmla="*/ 528 h 651"/>
                  <a:gd name="T6" fmla="*/ 363 w 502"/>
                  <a:gd name="T7" fmla="*/ 469 h 651"/>
                  <a:gd name="T8" fmla="*/ 363 w 502"/>
                  <a:gd name="T9" fmla="*/ 467 h 651"/>
                  <a:gd name="T10" fmla="*/ 236 w 502"/>
                  <a:gd name="T11" fmla="*/ 386 h 651"/>
                  <a:gd name="T12" fmla="*/ 26 w 502"/>
                  <a:gd name="T13" fmla="*/ 192 h 651"/>
                  <a:gd name="T14" fmla="*/ 26 w 502"/>
                  <a:gd name="T15" fmla="*/ 191 h 651"/>
                  <a:gd name="T16" fmla="*/ 247 w 502"/>
                  <a:gd name="T17" fmla="*/ 0 h 651"/>
                  <a:gd name="T18" fmla="*/ 483 w 502"/>
                  <a:gd name="T19" fmla="*/ 80 h 651"/>
                  <a:gd name="T20" fmla="*/ 410 w 502"/>
                  <a:gd name="T21" fmla="*/ 185 h 651"/>
                  <a:gd name="T22" fmla="*/ 246 w 502"/>
                  <a:gd name="T23" fmla="*/ 123 h 651"/>
                  <a:gd name="T24" fmla="*/ 164 w 502"/>
                  <a:gd name="T25" fmla="*/ 178 h 651"/>
                  <a:gd name="T26" fmla="*/ 164 w 502"/>
                  <a:gd name="T27" fmla="*/ 180 h 651"/>
                  <a:gd name="T28" fmla="*/ 301 w 502"/>
                  <a:gd name="T29" fmla="*/ 263 h 651"/>
                  <a:gd name="T30" fmla="*/ 502 w 502"/>
                  <a:gd name="T31" fmla="*/ 453 h 651"/>
                  <a:gd name="T32" fmla="*/ 502 w 502"/>
                  <a:gd name="T33" fmla="*/ 455 h 651"/>
                  <a:gd name="T34" fmla="*/ 269 w 502"/>
                  <a:gd name="T35" fmla="*/ 651 h 651"/>
                  <a:gd name="T36" fmla="*/ 0 w 502"/>
                  <a:gd name="T37" fmla="*/ 55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651">
                    <a:moveTo>
                      <a:pt x="0" y="550"/>
                    </a:moveTo>
                    <a:cubicBezTo>
                      <a:pt x="83" y="451"/>
                      <a:pt x="83" y="451"/>
                      <a:pt x="83" y="451"/>
                    </a:cubicBezTo>
                    <a:cubicBezTo>
                      <a:pt x="140" y="498"/>
                      <a:pt x="200" y="528"/>
                      <a:pt x="272" y="528"/>
                    </a:cubicBezTo>
                    <a:cubicBezTo>
                      <a:pt x="329" y="528"/>
                      <a:pt x="363" y="506"/>
                      <a:pt x="363" y="469"/>
                    </a:cubicBezTo>
                    <a:cubicBezTo>
                      <a:pt x="363" y="467"/>
                      <a:pt x="363" y="467"/>
                      <a:pt x="363" y="467"/>
                    </a:cubicBezTo>
                    <a:cubicBezTo>
                      <a:pt x="363" y="431"/>
                      <a:pt x="342" y="413"/>
                      <a:pt x="236" y="386"/>
                    </a:cubicBezTo>
                    <a:cubicBezTo>
                      <a:pt x="108" y="354"/>
                      <a:pt x="26" y="318"/>
                      <a:pt x="26" y="192"/>
                    </a:cubicBezTo>
                    <a:cubicBezTo>
                      <a:pt x="26" y="191"/>
                      <a:pt x="26" y="191"/>
                      <a:pt x="26" y="191"/>
                    </a:cubicBezTo>
                    <a:cubicBezTo>
                      <a:pt x="26" y="76"/>
                      <a:pt x="118" y="0"/>
                      <a:pt x="247" y="0"/>
                    </a:cubicBezTo>
                    <a:cubicBezTo>
                      <a:pt x="340" y="0"/>
                      <a:pt x="419" y="29"/>
                      <a:pt x="483" y="80"/>
                    </a:cubicBezTo>
                    <a:cubicBezTo>
                      <a:pt x="410" y="185"/>
                      <a:pt x="410" y="185"/>
                      <a:pt x="410" y="185"/>
                    </a:cubicBezTo>
                    <a:cubicBezTo>
                      <a:pt x="354" y="146"/>
                      <a:pt x="299" y="123"/>
                      <a:pt x="246" y="123"/>
                    </a:cubicBezTo>
                    <a:cubicBezTo>
                      <a:pt x="192" y="123"/>
                      <a:pt x="164" y="147"/>
                      <a:pt x="164" y="178"/>
                    </a:cubicBezTo>
                    <a:cubicBezTo>
                      <a:pt x="164" y="180"/>
                      <a:pt x="164" y="180"/>
                      <a:pt x="164" y="180"/>
                    </a:cubicBezTo>
                    <a:cubicBezTo>
                      <a:pt x="164" y="221"/>
                      <a:pt x="191" y="235"/>
                      <a:pt x="301" y="263"/>
                    </a:cubicBezTo>
                    <a:cubicBezTo>
                      <a:pt x="429" y="297"/>
                      <a:pt x="502" y="343"/>
                      <a:pt x="502" y="453"/>
                    </a:cubicBezTo>
                    <a:cubicBezTo>
                      <a:pt x="502" y="455"/>
                      <a:pt x="502" y="455"/>
                      <a:pt x="502" y="455"/>
                    </a:cubicBezTo>
                    <a:cubicBezTo>
                      <a:pt x="502" y="581"/>
                      <a:pt x="406" y="651"/>
                      <a:pt x="269" y="651"/>
                    </a:cubicBezTo>
                    <a:cubicBezTo>
                      <a:pt x="173" y="651"/>
                      <a:pt x="76" y="618"/>
                      <a:pt x="0" y="5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6">
                <a:extLst>
                  <a:ext uri="{FF2B5EF4-FFF2-40B4-BE49-F238E27FC236}">
                    <a16:creationId xmlns:a16="http://schemas.microsoft.com/office/drawing/2014/main" id="{03055FF5-EB33-F09D-784D-C7AD01880326}"/>
                  </a:ext>
                </a:extLst>
              </p:cNvPr>
              <p:cNvSpPr>
                <a:spLocks/>
              </p:cNvSpPr>
              <p:nvPr userDrawn="1"/>
            </p:nvSpPr>
            <p:spPr bwMode="auto">
              <a:xfrm>
                <a:off x="5791295" y="566212"/>
                <a:ext cx="322264" cy="214547"/>
              </a:xfrm>
              <a:custGeom>
                <a:avLst/>
                <a:gdLst>
                  <a:gd name="T0" fmla="*/ 0 w 741"/>
                  <a:gd name="T1" fmla="*/ 9 h 494"/>
                  <a:gd name="T2" fmla="*/ 138 w 741"/>
                  <a:gd name="T3" fmla="*/ 9 h 494"/>
                  <a:gd name="T4" fmla="*/ 138 w 741"/>
                  <a:gd name="T5" fmla="*/ 78 h 494"/>
                  <a:gd name="T6" fmla="*/ 281 w 741"/>
                  <a:gd name="T7" fmla="*/ 0 h 494"/>
                  <a:gd name="T8" fmla="*/ 418 w 741"/>
                  <a:gd name="T9" fmla="*/ 77 h 494"/>
                  <a:gd name="T10" fmla="*/ 577 w 741"/>
                  <a:gd name="T11" fmla="*/ 0 h 494"/>
                  <a:gd name="T12" fmla="*/ 741 w 741"/>
                  <a:gd name="T13" fmla="*/ 178 h 494"/>
                  <a:gd name="T14" fmla="*/ 741 w 741"/>
                  <a:gd name="T15" fmla="*/ 494 h 494"/>
                  <a:gd name="T16" fmla="*/ 603 w 741"/>
                  <a:gd name="T17" fmla="*/ 494 h 494"/>
                  <a:gd name="T18" fmla="*/ 603 w 741"/>
                  <a:gd name="T19" fmla="*/ 224 h 494"/>
                  <a:gd name="T20" fmla="*/ 523 w 741"/>
                  <a:gd name="T21" fmla="*/ 125 h 494"/>
                  <a:gd name="T22" fmla="*/ 439 w 741"/>
                  <a:gd name="T23" fmla="*/ 224 h 494"/>
                  <a:gd name="T24" fmla="*/ 439 w 741"/>
                  <a:gd name="T25" fmla="*/ 494 h 494"/>
                  <a:gd name="T26" fmla="*/ 302 w 741"/>
                  <a:gd name="T27" fmla="*/ 494 h 494"/>
                  <a:gd name="T28" fmla="*/ 302 w 741"/>
                  <a:gd name="T29" fmla="*/ 224 h 494"/>
                  <a:gd name="T30" fmla="*/ 221 w 741"/>
                  <a:gd name="T31" fmla="*/ 125 h 494"/>
                  <a:gd name="T32" fmla="*/ 138 w 741"/>
                  <a:gd name="T33" fmla="*/ 224 h 494"/>
                  <a:gd name="T34" fmla="*/ 138 w 741"/>
                  <a:gd name="T35" fmla="*/ 494 h 494"/>
                  <a:gd name="T36" fmla="*/ 0 w 741"/>
                  <a:gd name="T37" fmla="*/ 494 h 494"/>
                  <a:gd name="T38" fmla="*/ 0 w 741"/>
                  <a:gd name="T39"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1" h="494">
                    <a:moveTo>
                      <a:pt x="0" y="9"/>
                    </a:moveTo>
                    <a:cubicBezTo>
                      <a:pt x="138" y="9"/>
                      <a:pt x="138" y="9"/>
                      <a:pt x="138" y="9"/>
                    </a:cubicBezTo>
                    <a:cubicBezTo>
                      <a:pt x="138" y="78"/>
                      <a:pt x="138" y="78"/>
                      <a:pt x="138" y="78"/>
                    </a:cubicBezTo>
                    <a:cubicBezTo>
                      <a:pt x="170" y="37"/>
                      <a:pt x="211" y="0"/>
                      <a:pt x="281" y="0"/>
                    </a:cubicBezTo>
                    <a:cubicBezTo>
                      <a:pt x="344" y="0"/>
                      <a:pt x="392" y="28"/>
                      <a:pt x="418" y="77"/>
                    </a:cubicBezTo>
                    <a:cubicBezTo>
                      <a:pt x="460" y="27"/>
                      <a:pt x="511" y="0"/>
                      <a:pt x="577" y="0"/>
                    </a:cubicBezTo>
                    <a:cubicBezTo>
                      <a:pt x="679" y="0"/>
                      <a:pt x="741" y="62"/>
                      <a:pt x="741" y="178"/>
                    </a:cubicBezTo>
                    <a:cubicBezTo>
                      <a:pt x="741" y="494"/>
                      <a:pt x="741" y="494"/>
                      <a:pt x="741" y="494"/>
                    </a:cubicBezTo>
                    <a:cubicBezTo>
                      <a:pt x="603" y="494"/>
                      <a:pt x="603" y="494"/>
                      <a:pt x="603" y="494"/>
                    </a:cubicBezTo>
                    <a:cubicBezTo>
                      <a:pt x="603" y="224"/>
                      <a:pt x="603" y="224"/>
                      <a:pt x="603" y="224"/>
                    </a:cubicBezTo>
                    <a:cubicBezTo>
                      <a:pt x="603" y="159"/>
                      <a:pt x="574" y="125"/>
                      <a:pt x="523" y="125"/>
                    </a:cubicBezTo>
                    <a:cubicBezTo>
                      <a:pt x="471" y="125"/>
                      <a:pt x="439" y="159"/>
                      <a:pt x="439" y="224"/>
                    </a:cubicBezTo>
                    <a:cubicBezTo>
                      <a:pt x="439" y="494"/>
                      <a:pt x="439" y="494"/>
                      <a:pt x="439" y="494"/>
                    </a:cubicBezTo>
                    <a:cubicBezTo>
                      <a:pt x="302" y="494"/>
                      <a:pt x="302" y="494"/>
                      <a:pt x="302" y="494"/>
                    </a:cubicBezTo>
                    <a:cubicBezTo>
                      <a:pt x="302" y="224"/>
                      <a:pt x="302" y="224"/>
                      <a:pt x="302" y="224"/>
                    </a:cubicBezTo>
                    <a:cubicBezTo>
                      <a:pt x="302" y="159"/>
                      <a:pt x="273" y="125"/>
                      <a:pt x="221" y="125"/>
                    </a:cubicBezTo>
                    <a:cubicBezTo>
                      <a:pt x="170" y="125"/>
                      <a:pt x="138" y="159"/>
                      <a:pt x="138" y="224"/>
                    </a:cubicBezTo>
                    <a:cubicBezTo>
                      <a:pt x="138" y="494"/>
                      <a:pt x="138" y="494"/>
                      <a:pt x="138"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7">
                <a:extLst>
                  <a:ext uri="{FF2B5EF4-FFF2-40B4-BE49-F238E27FC236}">
                    <a16:creationId xmlns:a16="http://schemas.microsoft.com/office/drawing/2014/main" id="{EF0C28DE-3EA0-613C-F6F5-A668E5A933D2}"/>
                  </a:ext>
                </a:extLst>
              </p:cNvPr>
              <p:cNvSpPr>
                <a:spLocks noEditPoints="1"/>
              </p:cNvSpPr>
              <p:nvPr userDrawn="1"/>
            </p:nvSpPr>
            <p:spPr bwMode="auto">
              <a:xfrm>
                <a:off x="6125971" y="567985"/>
                <a:ext cx="193713" cy="216764"/>
              </a:xfrm>
              <a:custGeom>
                <a:avLst/>
                <a:gdLst>
                  <a:gd name="T0" fmla="*/ 0 w 446"/>
                  <a:gd name="T1" fmla="*/ 351 h 499"/>
                  <a:gd name="T2" fmla="*/ 0 w 446"/>
                  <a:gd name="T3" fmla="*/ 349 h 499"/>
                  <a:gd name="T4" fmla="*/ 195 w 446"/>
                  <a:gd name="T5" fmla="*/ 194 h 499"/>
                  <a:gd name="T6" fmla="*/ 314 w 446"/>
                  <a:gd name="T7" fmla="*/ 214 h 499"/>
                  <a:gd name="T8" fmla="*/ 314 w 446"/>
                  <a:gd name="T9" fmla="*/ 206 h 499"/>
                  <a:gd name="T10" fmla="*/ 210 w 446"/>
                  <a:gd name="T11" fmla="*/ 117 h 499"/>
                  <a:gd name="T12" fmla="*/ 76 w 446"/>
                  <a:gd name="T13" fmla="*/ 144 h 499"/>
                  <a:gd name="T14" fmla="*/ 42 w 446"/>
                  <a:gd name="T15" fmla="*/ 39 h 499"/>
                  <a:gd name="T16" fmla="*/ 230 w 446"/>
                  <a:gd name="T17" fmla="*/ 0 h 499"/>
                  <a:gd name="T18" fmla="*/ 394 w 446"/>
                  <a:gd name="T19" fmla="*/ 54 h 499"/>
                  <a:gd name="T20" fmla="*/ 446 w 446"/>
                  <a:gd name="T21" fmla="*/ 209 h 499"/>
                  <a:gd name="T22" fmla="*/ 446 w 446"/>
                  <a:gd name="T23" fmla="*/ 490 h 499"/>
                  <a:gd name="T24" fmla="*/ 313 w 446"/>
                  <a:gd name="T25" fmla="*/ 490 h 499"/>
                  <a:gd name="T26" fmla="*/ 313 w 446"/>
                  <a:gd name="T27" fmla="*/ 438 h 499"/>
                  <a:gd name="T28" fmla="*/ 166 w 446"/>
                  <a:gd name="T29" fmla="*/ 499 h 499"/>
                  <a:gd name="T30" fmla="*/ 0 w 446"/>
                  <a:gd name="T31" fmla="*/ 351 h 499"/>
                  <a:gd name="T32" fmla="*/ 316 w 446"/>
                  <a:gd name="T33" fmla="*/ 319 h 499"/>
                  <a:gd name="T34" fmla="*/ 316 w 446"/>
                  <a:gd name="T35" fmla="*/ 295 h 499"/>
                  <a:gd name="T36" fmla="*/ 228 w 446"/>
                  <a:gd name="T37" fmla="*/ 277 h 499"/>
                  <a:gd name="T38" fmla="*/ 133 w 446"/>
                  <a:gd name="T39" fmla="*/ 344 h 499"/>
                  <a:gd name="T40" fmla="*/ 133 w 446"/>
                  <a:gd name="T41" fmla="*/ 346 h 499"/>
                  <a:gd name="T42" fmla="*/ 208 w 446"/>
                  <a:gd name="T43" fmla="*/ 404 h 499"/>
                  <a:gd name="T44" fmla="*/ 316 w 446"/>
                  <a:gd name="T45" fmla="*/ 31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499">
                    <a:moveTo>
                      <a:pt x="0" y="351"/>
                    </a:moveTo>
                    <a:cubicBezTo>
                      <a:pt x="0" y="349"/>
                      <a:pt x="0" y="349"/>
                      <a:pt x="0" y="349"/>
                    </a:cubicBezTo>
                    <a:cubicBezTo>
                      <a:pt x="0" y="243"/>
                      <a:pt x="80" y="194"/>
                      <a:pt x="195" y="194"/>
                    </a:cubicBezTo>
                    <a:cubicBezTo>
                      <a:pt x="244" y="194"/>
                      <a:pt x="280" y="202"/>
                      <a:pt x="314" y="214"/>
                    </a:cubicBezTo>
                    <a:cubicBezTo>
                      <a:pt x="314" y="206"/>
                      <a:pt x="314" y="206"/>
                      <a:pt x="314" y="206"/>
                    </a:cubicBezTo>
                    <a:cubicBezTo>
                      <a:pt x="314" y="149"/>
                      <a:pt x="279" y="117"/>
                      <a:pt x="210" y="117"/>
                    </a:cubicBezTo>
                    <a:cubicBezTo>
                      <a:pt x="157" y="117"/>
                      <a:pt x="120" y="127"/>
                      <a:pt x="76" y="144"/>
                    </a:cubicBezTo>
                    <a:cubicBezTo>
                      <a:pt x="42" y="39"/>
                      <a:pt x="42" y="39"/>
                      <a:pt x="42" y="39"/>
                    </a:cubicBezTo>
                    <a:cubicBezTo>
                      <a:pt x="95" y="15"/>
                      <a:pt x="147" y="0"/>
                      <a:pt x="230" y="0"/>
                    </a:cubicBezTo>
                    <a:cubicBezTo>
                      <a:pt x="305" y="0"/>
                      <a:pt x="359" y="20"/>
                      <a:pt x="394" y="54"/>
                    </a:cubicBezTo>
                    <a:cubicBezTo>
                      <a:pt x="430" y="90"/>
                      <a:pt x="446" y="144"/>
                      <a:pt x="446" y="209"/>
                    </a:cubicBezTo>
                    <a:cubicBezTo>
                      <a:pt x="446" y="490"/>
                      <a:pt x="446" y="490"/>
                      <a:pt x="446" y="490"/>
                    </a:cubicBezTo>
                    <a:cubicBezTo>
                      <a:pt x="313" y="490"/>
                      <a:pt x="313" y="490"/>
                      <a:pt x="313" y="490"/>
                    </a:cubicBezTo>
                    <a:cubicBezTo>
                      <a:pt x="313" y="438"/>
                      <a:pt x="313" y="438"/>
                      <a:pt x="313" y="438"/>
                    </a:cubicBezTo>
                    <a:cubicBezTo>
                      <a:pt x="280" y="475"/>
                      <a:pt x="233" y="499"/>
                      <a:pt x="166" y="499"/>
                    </a:cubicBezTo>
                    <a:cubicBezTo>
                      <a:pt x="75" y="499"/>
                      <a:pt x="0" y="447"/>
                      <a:pt x="0" y="351"/>
                    </a:cubicBezTo>
                    <a:close/>
                    <a:moveTo>
                      <a:pt x="316" y="319"/>
                    </a:moveTo>
                    <a:cubicBezTo>
                      <a:pt x="316" y="295"/>
                      <a:pt x="316" y="295"/>
                      <a:pt x="316" y="295"/>
                    </a:cubicBezTo>
                    <a:cubicBezTo>
                      <a:pt x="292" y="284"/>
                      <a:pt x="262" y="277"/>
                      <a:pt x="228" y="277"/>
                    </a:cubicBezTo>
                    <a:cubicBezTo>
                      <a:pt x="169" y="277"/>
                      <a:pt x="133" y="300"/>
                      <a:pt x="133" y="344"/>
                    </a:cubicBezTo>
                    <a:cubicBezTo>
                      <a:pt x="133" y="346"/>
                      <a:pt x="133" y="346"/>
                      <a:pt x="133" y="346"/>
                    </a:cubicBezTo>
                    <a:cubicBezTo>
                      <a:pt x="133" y="383"/>
                      <a:pt x="164" y="404"/>
                      <a:pt x="208" y="404"/>
                    </a:cubicBezTo>
                    <a:cubicBezTo>
                      <a:pt x="272" y="404"/>
                      <a:pt x="316" y="369"/>
                      <a:pt x="316" y="3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8">
                <a:extLst>
                  <a:ext uri="{FF2B5EF4-FFF2-40B4-BE49-F238E27FC236}">
                    <a16:creationId xmlns:a16="http://schemas.microsoft.com/office/drawing/2014/main" id="{AA3A9144-5E21-1340-D82E-781E8E03088B}"/>
                  </a:ext>
                </a:extLst>
              </p:cNvPr>
              <p:cNvSpPr>
                <a:spLocks/>
              </p:cNvSpPr>
              <p:nvPr userDrawn="1"/>
            </p:nvSpPr>
            <p:spPr bwMode="auto">
              <a:xfrm>
                <a:off x="6336529" y="564438"/>
                <a:ext cx="127665"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6" name="Freeform 9">
                <a:extLst>
                  <a:ext uri="{FF2B5EF4-FFF2-40B4-BE49-F238E27FC236}">
                    <a16:creationId xmlns:a16="http://schemas.microsoft.com/office/drawing/2014/main" id="{16E502AF-0487-43AF-00DB-14F962B92CFF}"/>
                  </a:ext>
                </a:extLst>
              </p:cNvPr>
              <p:cNvSpPr>
                <a:spLocks/>
              </p:cNvSpPr>
              <p:nvPr userDrawn="1"/>
            </p:nvSpPr>
            <p:spPr bwMode="auto">
              <a:xfrm>
                <a:off x="6475719" y="516121"/>
                <a:ext cx="134757" cy="268184"/>
              </a:xfrm>
              <a:custGeom>
                <a:avLst/>
                <a:gdLst>
                  <a:gd name="T0" fmla="*/ 58 w 310"/>
                  <a:gd name="T1" fmla="*/ 472 h 617"/>
                  <a:gd name="T2" fmla="*/ 58 w 310"/>
                  <a:gd name="T3" fmla="*/ 242 h 617"/>
                  <a:gd name="T4" fmla="*/ 0 w 310"/>
                  <a:gd name="T5" fmla="*/ 242 h 617"/>
                  <a:gd name="T6" fmla="*/ 0 w 310"/>
                  <a:gd name="T7" fmla="*/ 124 h 617"/>
                  <a:gd name="T8" fmla="*/ 58 w 310"/>
                  <a:gd name="T9" fmla="*/ 124 h 617"/>
                  <a:gd name="T10" fmla="*/ 58 w 310"/>
                  <a:gd name="T11" fmla="*/ 0 h 617"/>
                  <a:gd name="T12" fmla="*/ 196 w 310"/>
                  <a:gd name="T13" fmla="*/ 0 h 617"/>
                  <a:gd name="T14" fmla="*/ 196 w 310"/>
                  <a:gd name="T15" fmla="*/ 124 h 617"/>
                  <a:gd name="T16" fmla="*/ 310 w 310"/>
                  <a:gd name="T17" fmla="*/ 124 h 617"/>
                  <a:gd name="T18" fmla="*/ 310 w 310"/>
                  <a:gd name="T19" fmla="*/ 242 h 617"/>
                  <a:gd name="T20" fmla="*/ 196 w 310"/>
                  <a:gd name="T21" fmla="*/ 242 h 617"/>
                  <a:gd name="T22" fmla="*/ 196 w 310"/>
                  <a:gd name="T23" fmla="*/ 449 h 617"/>
                  <a:gd name="T24" fmla="*/ 240 w 310"/>
                  <a:gd name="T25" fmla="*/ 496 h 617"/>
                  <a:gd name="T26" fmla="*/ 308 w 310"/>
                  <a:gd name="T27" fmla="*/ 479 h 617"/>
                  <a:gd name="T28" fmla="*/ 308 w 310"/>
                  <a:gd name="T29" fmla="*/ 589 h 617"/>
                  <a:gd name="T30" fmla="*/ 199 w 310"/>
                  <a:gd name="T31" fmla="*/ 617 h 617"/>
                  <a:gd name="T32" fmla="*/ 58 w 310"/>
                  <a:gd name="T33" fmla="*/ 472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7">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6" y="0"/>
                      <a:pt x="196" y="0"/>
                      <a:pt x="196" y="0"/>
                    </a:cubicBezTo>
                    <a:cubicBezTo>
                      <a:pt x="196" y="124"/>
                      <a:pt x="196" y="124"/>
                      <a:pt x="196" y="124"/>
                    </a:cubicBezTo>
                    <a:cubicBezTo>
                      <a:pt x="310" y="124"/>
                      <a:pt x="310" y="124"/>
                      <a:pt x="310" y="124"/>
                    </a:cubicBezTo>
                    <a:cubicBezTo>
                      <a:pt x="310" y="242"/>
                      <a:pt x="310" y="242"/>
                      <a:pt x="310" y="242"/>
                    </a:cubicBezTo>
                    <a:cubicBezTo>
                      <a:pt x="196" y="242"/>
                      <a:pt x="196" y="242"/>
                      <a:pt x="196" y="242"/>
                    </a:cubicBezTo>
                    <a:cubicBezTo>
                      <a:pt x="196" y="449"/>
                      <a:pt x="196" y="449"/>
                      <a:pt x="196" y="449"/>
                    </a:cubicBezTo>
                    <a:cubicBezTo>
                      <a:pt x="196" y="481"/>
                      <a:pt x="209" y="496"/>
                      <a:pt x="240" y="496"/>
                    </a:cubicBezTo>
                    <a:cubicBezTo>
                      <a:pt x="265" y="496"/>
                      <a:pt x="288" y="490"/>
                      <a:pt x="308" y="479"/>
                    </a:cubicBezTo>
                    <a:cubicBezTo>
                      <a:pt x="308" y="589"/>
                      <a:pt x="308" y="589"/>
                      <a:pt x="308" y="589"/>
                    </a:cubicBezTo>
                    <a:cubicBezTo>
                      <a:pt x="279" y="607"/>
                      <a:pt x="245" y="617"/>
                      <a:pt x="199" y="617"/>
                    </a:cubicBezTo>
                    <a:cubicBezTo>
                      <a:pt x="115" y="617"/>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7" name="Freeform 10">
                <a:extLst>
                  <a:ext uri="{FF2B5EF4-FFF2-40B4-BE49-F238E27FC236}">
                    <a16:creationId xmlns:a16="http://schemas.microsoft.com/office/drawing/2014/main" id="{0DE8FD0D-C28A-B61F-DFEE-6F90FAD7BFAA}"/>
                  </a:ext>
                </a:extLst>
              </p:cNvPr>
              <p:cNvSpPr>
                <a:spLocks noEditPoints="1"/>
              </p:cNvSpPr>
              <p:nvPr userDrawn="1"/>
            </p:nvSpPr>
            <p:spPr bwMode="auto">
              <a:xfrm>
                <a:off x="6618455" y="566212"/>
                <a:ext cx="207012" cy="219424"/>
              </a:xfrm>
              <a:custGeom>
                <a:avLst/>
                <a:gdLst>
                  <a:gd name="T0" fmla="*/ 0 w 476"/>
                  <a:gd name="T1" fmla="*/ 254 h 505"/>
                  <a:gd name="T2" fmla="*/ 0 w 476"/>
                  <a:gd name="T3" fmla="*/ 253 h 505"/>
                  <a:gd name="T4" fmla="*/ 240 w 476"/>
                  <a:gd name="T5" fmla="*/ 0 h 505"/>
                  <a:gd name="T6" fmla="*/ 476 w 476"/>
                  <a:gd name="T7" fmla="*/ 263 h 505"/>
                  <a:gd name="T8" fmla="*/ 475 w 476"/>
                  <a:gd name="T9" fmla="*/ 300 h 505"/>
                  <a:gd name="T10" fmla="*/ 137 w 476"/>
                  <a:gd name="T11" fmla="*/ 300 h 505"/>
                  <a:gd name="T12" fmla="*/ 256 w 476"/>
                  <a:gd name="T13" fmla="*/ 395 h 505"/>
                  <a:gd name="T14" fmla="*/ 373 w 476"/>
                  <a:gd name="T15" fmla="*/ 345 h 505"/>
                  <a:gd name="T16" fmla="*/ 452 w 476"/>
                  <a:gd name="T17" fmla="*/ 415 h 505"/>
                  <a:gd name="T18" fmla="*/ 254 w 476"/>
                  <a:gd name="T19" fmla="*/ 505 h 505"/>
                  <a:gd name="T20" fmla="*/ 0 w 476"/>
                  <a:gd name="T21" fmla="*/ 254 h 505"/>
                  <a:gd name="T22" fmla="*/ 342 w 476"/>
                  <a:gd name="T23" fmla="*/ 214 h 505"/>
                  <a:gd name="T24" fmla="*/ 240 w 476"/>
                  <a:gd name="T25" fmla="*/ 111 h 505"/>
                  <a:gd name="T26" fmla="*/ 135 w 476"/>
                  <a:gd name="T27" fmla="*/ 214 h 505"/>
                  <a:gd name="T28" fmla="*/ 342 w 476"/>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6" h="505">
                    <a:moveTo>
                      <a:pt x="0" y="254"/>
                    </a:moveTo>
                    <a:cubicBezTo>
                      <a:pt x="0" y="253"/>
                      <a:pt x="0" y="253"/>
                      <a:pt x="0" y="253"/>
                    </a:cubicBezTo>
                    <a:cubicBezTo>
                      <a:pt x="0" y="114"/>
                      <a:pt x="99" y="0"/>
                      <a:pt x="240" y="0"/>
                    </a:cubicBezTo>
                    <a:cubicBezTo>
                      <a:pt x="402" y="0"/>
                      <a:pt x="476" y="126"/>
                      <a:pt x="476" y="263"/>
                    </a:cubicBezTo>
                    <a:cubicBezTo>
                      <a:pt x="476"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2" y="214"/>
                    </a:moveTo>
                    <a:cubicBezTo>
                      <a:pt x="334" y="152"/>
                      <a:pt x="298" y="111"/>
                      <a:pt x="240" y="111"/>
                    </a:cubicBezTo>
                    <a:cubicBezTo>
                      <a:pt x="183" y="111"/>
                      <a:pt x="146" y="151"/>
                      <a:pt x="135" y="214"/>
                    </a:cubicBezTo>
                    <a:lnTo>
                      <a:pt x="342"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8" name="Freeform 11">
                <a:extLst>
                  <a:ext uri="{FF2B5EF4-FFF2-40B4-BE49-F238E27FC236}">
                    <a16:creationId xmlns:a16="http://schemas.microsoft.com/office/drawing/2014/main" id="{F351CFF9-9DD1-E9B5-EE76-334AE5F03491}"/>
                  </a:ext>
                </a:extLst>
              </p:cNvPr>
              <p:cNvSpPr>
                <a:spLocks/>
              </p:cNvSpPr>
              <p:nvPr userDrawn="1"/>
            </p:nvSpPr>
            <p:spPr bwMode="auto">
              <a:xfrm>
                <a:off x="6837879" y="564438"/>
                <a:ext cx="127221" cy="216321"/>
              </a:xfrm>
              <a:custGeom>
                <a:avLst/>
                <a:gdLst>
                  <a:gd name="T0" fmla="*/ 0 w 293"/>
                  <a:gd name="T1" fmla="*/ 13 h 498"/>
                  <a:gd name="T2" fmla="*/ 138 w 293"/>
                  <a:gd name="T3" fmla="*/ 13 h 498"/>
                  <a:gd name="T4" fmla="*/ 138 w 293"/>
                  <a:gd name="T5" fmla="*/ 111 h 498"/>
                  <a:gd name="T6" fmla="*/ 293 w 293"/>
                  <a:gd name="T7" fmla="*/ 4 h 498"/>
                  <a:gd name="T8" fmla="*/ 293 w 293"/>
                  <a:gd name="T9" fmla="*/ 148 h 498"/>
                  <a:gd name="T10" fmla="*/ 285 w 293"/>
                  <a:gd name="T11" fmla="*/ 148 h 498"/>
                  <a:gd name="T12" fmla="*/ 138 w 293"/>
                  <a:gd name="T13" fmla="*/ 319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1"/>
                      <a:pt x="138" y="111"/>
                      <a:pt x="138" y="111"/>
                    </a:cubicBezTo>
                    <a:cubicBezTo>
                      <a:pt x="166" y="44"/>
                      <a:pt x="211" y="0"/>
                      <a:pt x="293" y="4"/>
                    </a:cubicBezTo>
                    <a:cubicBezTo>
                      <a:pt x="293" y="148"/>
                      <a:pt x="293" y="148"/>
                      <a:pt x="293" y="148"/>
                    </a:cubicBezTo>
                    <a:cubicBezTo>
                      <a:pt x="285" y="148"/>
                      <a:pt x="285" y="148"/>
                      <a:pt x="285" y="148"/>
                    </a:cubicBezTo>
                    <a:cubicBezTo>
                      <a:pt x="194" y="148"/>
                      <a:pt x="138" y="203"/>
                      <a:pt x="138" y="319"/>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9" name="Freeform 12">
                <a:extLst>
                  <a:ext uri="{FF2B5EF4-FFF2-40B4-BE49-F238E27FC236}">
                    <a16:creationId xmlns:a16="http://schemas.microsoft.com/office/drawing/2014/main" id="{5CBDFCA1-F27C-774F-EB38-070587A34AB2}"/>
                  </a:ext>
                </a:extLst>
              </p:cNvPr>
              <p:cNvSpPr>
                <a:spLocks/>
              </p:cNvSpPr>
              <p:nvPr userDrawn="1"/>
            </p:nvSpPr>
            <p:spPr bwMode="auto">
              <a:xfrm>
                <a:off x="4988072" y="888476"/>
                <a:ext cx="134757" cy="268628"/>
              </a:xfrm>
              <a:custGeom>
                <a:avLst/>
                <a:gdLst>
                  <a:gd name="T0" fmla="*/ 58 w 310"/>
                  <a:gd name="T1" fmla="*/ 472 h 618"/>
                  <a:gd name="T2" fmla="*/ 58 w 310"/>
                  <a:gd name="T3" fmla="*/ 242 h 618"/>
                  <a:gd name="T4" fmla="*/ 0 w 310"/>
                  <a:gd name="T5" fmla="*/ 242 h 618"/>
                  <a:gd name="T6" fmla="*/ 0 w 310"/>
                  <a:gd name="T7" fmla="*/ 124 h 618"/>
                  <a:gd name="T8" fmla="*/ 58 w 310"/>
                  <a:gd name="T9" fmla="*/ 124 h 618"/>
                  <a:gd name="T10" fmla="*/ 58 w 310"/>
                  <a:gd name="T11" fmla="*/ 0 h 618"/>
                  <a:gd name="T12" fmla="*/ 195 w 310"/>
                  <a:gd name="T13" fmla="*/ 0 h 618"/>
                  <a:gd name="T14" fmla="*/ 195 w 310"/>
                  <a:gd name="T15" fmla="*/ 124 h 618"/>
                  <a:gd name="T16" fmla="*/ 310 w 310"/>
                  <a:gd name="T17" fmla="*/ 124 h 618"/>
                  <a:gd name="T18" fmla="*/ 310 w 310"/>
                  <a:gd name="T19" fmla="*/ 242 h 618"/>
                  <a:gd name="T20" fmla="*/ 195 w 310"/>
                  <a:gd name="T21" fmla="*/ 242 h 618"/>
                  <a:gd name="T22" fmla="*/ 195 w 310"/>
                  <a:gd name="T23" fmla="*/ 449 h 618"/>
                  <a:gd name="T24" fmla="*/ 240 w 310"/>
                  <a:gd name="T25" fmla="*/ 496 h 618"/>
                  <a:gd name="T26" fmla="*/ 308 w 310"/>
                  <a:gd name="T27" fmla="*/ 479 h 618"/>
                  <a:gd name="T28" fmla="*/ 308 w 310"/>
                  <a:gd name="T29" fmla="*/ 590 h 618"/>
                  <a:gd name="T30" fmla="*/ 199 w 310"/>
                  <a:gd name="T31" fmla="*/ 618 h 618"/>
                  <a:gd name="T32" fmla="*/ 58 w 310"/>
                  <a:gd name="T33" fmla="*/ 472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0" h="618">
                    <a:moveTo>
                      <a:pt x="58" y="472"/>
                    </a:moveTo>
                    <a:cubicBezTo>
                      <a:pt x="58" y="242"/>
                      <a:pt x="58" y="242"/>
                      <a:pt x="58" y="242"/>
                    </a:cubicBezTo>
                    <a:cubicBezTo>
                      <a:pt x="0" y="242"/>
                      <a:pt x="0" y="242"/>
                      <a:pt x="0" y="242"/>
                    </a:cubicBezTo>
                    <a:cubicBezTo>
                      <a:pt x="0" y="124"/>
                      <a:pt x="0" y="124"/>
                      <a:pt x="0" y="124"/>
                    </a:cubicBezTo>
                    <a:cubicBezTo>
                      <a:pt x="58" y="124"/>
                      <a:pt x="58" y="124"/>
                      <a:pt x="58" y="124"/>
                    </a:cubicBezTo>
                    <a:cubicBezTo>
                      <a:pt x="58" y="0"/>
                      <a:pt x="58" y="0"/>
                      <a:pt x="58" y="0"/>
                    </a:cubicBezTo>
                    <a:cubicBezTo>
                      <a:pt x="195" y="0"/>
                      <a:pt x="195" y="0"/>
                      <a:pt x="195" y="0"/>
                    </a:cubicBezTo>
                    <a:cubicBezTo>
                      <a:pt x="195" y="124"/>
                      <a:pt x="195" y="124"/>
                      <a:pt x="195" y="124"/>
                    </a:cubicBezTo>
                    <a:cubicBezTo>
                      <a:pt x="310" y="124"/>
                      <a:pt x="310" y="124"/>
                      <a:pt x="310" y="124"/>
                    </a:cubicBezTo>
                    <a:cubicBezTo>
                      <a:pt x="310" y="242"/>
                      <a:pt x="310" y="242"/>
                      <a:pt x="310" y="242"/>
                    </a:cubicBezTo>
                    <a:cubicBezTo>
                      <a:pt x="195" y="242"/>
                      <a:pt x="195" y="242"/>
                      <a:pt x="195" y="242"/>
                    </a:cubicBezTo>
                    <a:cubicBezTo>
                      <a:pt x="195" y="449"/>
                      <a:pt x="195" y="449"/>
                      <a:pt x="195" y="449"/>
                    </a:cubicBezTo>
                    <a:cubicBezTo>
                      <a:pt x="195" y="481"/>
                      <a:pt x="209" y="496"/>
                      <a:pt x="240" y="496"/>
                    </a:cubicBezTo>
                    <a:cubicBezTo>
                      <a:pt x="265" y="496"/>
                      <a:pt x="288" y="490"/>
                      <a:pt x="308" y="479"/>
                    </a:cubicBezTo>
                    <a:cubicBezTo>
                      <a:pt x="308" y="590"/>
                      <a:pt x="308" y="590"/>
                      <a:pt x="308" y="590"/>
                    </a:cubicBezTo>
                    <a:cubicBezTo>
                      <a:pt x="279" y="607"/>
                      <a:pt x="245" y="618"/>
                      <a:pt x="199" y="618"/>
                    </a:cubicBezTo>
                    <a:cubicBezTo>
                      <a:pt x="115" y="618"/>
                      <a:pt x="58" y="584"/>
                      <a:pt x="58" y="4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0" name="Freeform 13">
                <a:extLst>
                  <a:ext uri="{FF2B5EF4-FFF2-40B4-BE49-F238E27FC236}">
                    <a16:creationId xmlns:a16="http://schemas.microsoft.com/office/drawing/2014/main" id="{32C7C41D-9C2F-F9CB-F801-1289ECF5E586}"/>
                  </a:ext>
                </a:extLst>
              </p:cNvPr>
              <p:cNvSpPr>
                <a:spLocks noEditPoints="1"/>
              </p:cNvSpPr>
              <p:nvPr userDrawn="1"/>
            </p:nvSpPr>
            <p:spPr bwMode="auto">
              <a:xfrm>
                <a:off x="5131251" y="938123"/>
                <a:ext cx="207455" cy="219867"/>
              </a:xfrm>
              <a:custGeom>
                <a:avLst/>
                <a:gdLst>
                  <a:gd name="T0" fmla="*/ 0 w 477"/>
                  <a:gd name="T1" fmla="*/ 254 h 505"/>
                  <a:gd name="T2" fmla="*/ 0 w 477"/>
                  <a:gd name="T3" fmla="*/ 253 h 505"/>
                  <a:gd name="T4" fmla="*/ 240 w 477"/>
                  <a:gd name="T5" fmla="*/ 0 h 505"/>
                  <a:gd name="T6" fmla="*/ 477 w 477"/>
                  <a:gd name="T7" fmla="*/ 263 h 505"/>
                  <a:gd name="T8" fmla="*/ 475 w 477"/>
                  <a:gd name="T9" fmla="*/ 300 h 505"/>
                  <a:gd name="T10" fmla="*/ 137 w 477"/>
                  <a:gd name="T11" fmla="*/ 300 h 505"/>
                  <a:gd name="T12" fmla="*/ 256 w 477"/>
                  <a:gd name="T13" fmla="*/ 395 h 505"/>
                  <a:gd name="T14" fmla="*/ 373 w 477"/>
                  <a:gd name="T15" fmla="*/ 345 h 505"/>
                  <a:gd name="T16" fmla="*/ 452 w 477"/>
                  <a:gd name="T17" fmla="*/ 415 h 505"/>
                  <a:gd name="T18" fmla="*/ 254 w 477"/>
                  <a:gd name="T19" fmla="*/ 505 h 505"/>
                  <a:gd name="T20" fmla="*/ 0 w 477"/>
                  <a:gd name="T21" fmla="*/ 254 h 505"/>
                  <a:gd name="T22" fmla="*/ 343 w 477"/>
                  <a:gd name="T23" fmla="*/ 214 h 505"/>
                  <a:gd name="T24" fmla="*/ 240 w 477"/>
                  <a:gd name="T25" fmla="*/ 111 h 505"/>
                  <a:gd name="T26" fmla="*/ 135 w 477"/>
                  <a:gd name="T27" fmla="*/ 214 h 505"/>
                  <a:gd name="T28" fmla="*/ 343 w 477"/>
                  <a:gd name="T29" fmla="*/ 21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7" h="505">
                    <a:moveTo>
                      <a:pt x="0" y="254"/>
                    </a:moveTo>
                    <a:cubicBezTo>
                      <a:pt x="0" y="253"/>
                      <a:pt x="0" y="253"/>
                      <a:pt x="0" y="253"/>
                    </a:cubicBezTo>
                    <a:cubicBezTo>
                      <a:pt x="0" y="114"/>
                      <a:pt x="99" y="0"/>
                      <a:pt x="240" y="0"/>
                    </a:cubicBezTo>
                    <a:cubicBezTo>
                      <a:pt x="402" y="0"/>
                      <a:pt x="477" y="126"/>
                      <a:pt x="477" y="263"/>
                    </a:cubicBezTo>
                    <a:cubicBezTo>
                      <a:pt x="477" y="274"/>
                      <a:pt x="476" y="287"/>
                      <a:pt x="475" y="300"/>
                    </a:cubicBezTo>
                    <a:cubicBezTo>
                      <a:pt x="137" y="300"/>
                      <a:pt x="137" y="300"/>
                      <a:pt x="137" y="300"/>
                    </a:cubicBezTo>
                    <a:cubicBezTo>
                      <a:pt x="151" y="362"/>
                      <a:pt x="194" y="395"/>
                      <a:pt x="256" y="395"/>
                    </a:cubicBezTo>
                    <a:cubicBezTo>
                      <a:pt x="302" y="395"/>
                      <a:pt x="335" y="380"/>
                      <a:pt x="373" y="345"/>
                    </a:cubicBezTo>
                    <a:cubicBezTo>
                      <a:pt x="452" y="415"/>
                      <a:pt x="452" y="415"/>
                      <a:pt x="452" y="415"/>
                    </a:cubicBezTo>
                    <a:cubicBezTo>
                      <a:pt x="407" y="471"/>
                      <a:pt x="342" y="505"/>
                      <a:pt x="254" y="505"/>
                    </a:cubicBezTo>
                    <a:cubicBezTo>
                      <a:pt x="108" y="505"/>
                      <a:pt x="0" y="403"/>
                      <a:pt x="0" y="254"/>
                    </a:cubicBezTo>
                    <a:close/>
                    <a:moveTo>
                      <a:pt x="343" y="214"/>
                    </a:moveTo>
                    <a:cubicBezTo>
                      <a:pt x="334" y="152"/>
                      <a:pt x="298" y="111"/>
                      <a:pt x="240" y="111"/>
                    </a:cubicBezTo>
                    <a:cubicBezTo>
                      <a:pt x="183" y="111"/>
                      <a:pt x="146" y="151"/>
                      <a:pt x="135" y="214"/>
                    </a:cubicBezTo>
                    <a:lnTo>
                      <a:pt x="343" y="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1" name="Freeform 14">
                <a:extLst>
                  <a:ext uri="{FF2B5EF4-FFF2-40B4-BE49-F238E27FC236}">
                    <a16:creationId xmlns:a16="http://schemas.microsoft.com/office/drawing/2014/main" id="{D3D8F53A-7C54-73FF-7202-68AF9530CEF8}"/>
                  </a:ext>
                </a:extLst>
              </p:cNvPr>
              <p:cNvSpPr>
                <a:spLocks/>
              </p:cNvSpPr>
              <p:nvPr userDrawn="1"/>
            </p:nvSpPr>
            <p:spPr bwMode="auto">
              <a:xfrm>
                <a:off x="5348015" y="938123"/>
                <a:ext cx="195486" cy="219867"/>
              </a:xfrm>
              <a:custGeom>
                <a:avLst/>
                <a:gdLst>
                  <a:gd name="T0" fmla="*/ 0 w 450"/>
                  <a:gd name="T1" fmla="*/ 254 h 505"/>
                  <a:gd name="T2" fmla="*/ 0 w 450"/>
                  <a:gd name="T3" fmla="*/ 253 h 505"/>
                  <a:gd name="T4" fmla="*/ 254 w 450"/>
                  <a:gd name="T5" fmla="*/ 0 h 505"/>
                  <a:gd name="T6" fmla="*/ 448 w 450"/>
                  <a:gd name="T7" fmla="*/ 82 h 505"/>
                  <a:gd name="T8" fmla="*/ 363 w 450"/>
                  <a:gd name="T9" fmla="*/ 172 h 505"/>
                  <a:gd name="T10" fmla="*/ 253 w 450"/>
                  <a:gd name="T11" fmla="*/ 119 h 505"/>
                  <a:gd name="T12" fmla="*/ 135 w 450"/>
                  <a:gd name="T13" fmla="*/ 251 h 505"/>
                  <a:gd name="T14" fmla="*/ 135 w 450"/>
                  <a:gd name="T15" fmla="*/ 253 h 505"/>
                  <a:gd name="T16" fmla="*/ 258 w 450"/>
                  <a:gd name="T17" fmla="*/ 387 h 505"/>
                  <a:gd name="T18" fmla="*/ 370 w 450"/>
                  <a:gd name="T19" fmla="*/ 335 h 505"/>
                  <a:gd name="T20" fmla="*/ 450 w 450"/>
                  <a:gd name="T21" fmla="*/ 416 h 505"/>
                  <a:gd name="T22" fmla="*/ 252 w 450"/>
                  <a:gd name="T23" fmla="*/ 505 h 505"/>
                  <a:gd name="T24" fmla="*/ 0 w 450"/>
                  <a:gd name="T25"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0" h="505">
                    <a:moveTo>
                      <a:pt x="0" y="254"/>
                    </a:moveTo>
                    <a:cubicBezTo>
                      <a:pt x="0" y="253"/>
                      <a:pt x="0" y="253"/>
                      <a:pt x="0" y="253"/>
                    </a:cubicBezTo>
                    <a:cubicBezTo>
                      <a:pt x="0" y="114"/>
                      <a:pt x="106" y="0"/>
                      <a:pt x="254" y="0"/>
                    </a:cubicBezTo>
                    <a:cubicBezTo>
                      <a:pt x="345" y="0"/>
                      <a:pt x="402" y="31"/>
                      <a:pt x="448" y="82"/>
                    </a:cubicBezTo>
                    <a:cubicBezTo>
                      <a:pt x="363" y="172"/>
                      <a:pt x="363" y="172"/>
                      <a:pt x="363" y="172"/>
                    </a:cubicBezTo>
                    <a:cubicBezTo>
                      <a:pt x="333" y="139"/>
                      <a:pt x="302" y="119"/>
                      <a:pt x="253" y="119"/>
                    </a:cubicBezTo>
                    <a:cubicBezTo>
                      <a:pt x="184" y="119"/>
                      <a:pt x="135" y="179"/>
                      <a:pt x="135" y="251"/>
                    </a:cubicBezTo>
                    <a:cubicBezTo>
                      <a:pt x="135" y="253"/>
                      <a:pt x="135" y="253"/>
                      <a:pt x="135" y="253"/>
                    </a:cubicBezTo>
                    <a:cubicBezTo>
                      <a:pt x="135" y="327"/>
                      <a:pt x="183" y="387"/>
                      <a:pt x="258" y="387"/>
                    </a:cubicBezTo>
                    <a:cubicBezTo>
                      <a:pt x="305" y="387"/>
                      <a:pt x="336" y="367"/>
                      <a:pt x="370" y="335"/>
                    </a:cubicBezTo>
                    <a:cubicBezTo>
                      <a:pt x="450" y="416"/>
                      <a:pt x="450" y="416"/>
                      <a:pt x="450" y="416"/>
                    </a:cubicBezTo>
                    <a:cubicBezTo>
                      <a:pt x="403" y="468"/>
                      <a:pt x="349" y="505"/>
                      <a:pt x="252" y="505"/>
                    </a:cubicBezTo>
                    <a:cubicBezTo>
                      <a:pt x="106" y="505"/>
                      <a:pt x="0" y="393"/>
                      <a:pt x="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2" name="Freeform 15">
                <a:extLst>
                  <a:ext uri="{FF2B5EF4-FFF2-40B4-BE49-F238E27FC236}">
                    <a16:creationId xmlns:a16="http://schemas.microsoft.com/office/drawing/2014/main" id="{BD2B90D5-630B-CFC6-CE5B-4A3E77847404}"/>
                  </a:ext>
                </a:extLst>
              </p:cNvPr>
              <p:cNvSpPr>
                <a:spLocks/>
              </p:cNvSpPr>
              <p:nvPr userDrawn="1"/>
            </p:nvSpPr>
            <p:spPr bwMode="auto">
              <a:xfrm>
                <a:off x="5553254" y="866312"/>
                <a:ext cx="193270" cy="286802"/>
              </a:xfrm>
              <a:custGeom>
                <a:avLst/>
                <a:gdLst>
                  <a:gd name="T0" fmla="*/ 0 w 445"/>
                  <a:gd name="T1" fmla="*/ 0 h 660"/>
                  <a:gd name="T2" fmla="*/ 138 w 445"/>
                  <a:gd name="T3" fmla="*/ 0 h 660"/>
                  <a:gd name="T4" fmla="*/ 138 w 445"/>
                  <a:gd name="T5" fmla="*/ 244 h 660"/>
                  <a:gd name="T6" fmla="*/ 280 w 445"/>
                  <a:gd name="T7" fmla="*/ 166 h 660"/>
                  <a:gd name="T8" fmla="*/ 445 w 445"/>
                  <a:gd name="T9" fmla="*/ 346 h 660"/>
                  <a:gd name="T10" fmla="*/ 445 w 445"/>
                  <a:gd name="T11" fmla="*/ 660 h 660"/>
                  <a:gd name="T12" fmla="*/ 307 w 445"/>
                  <a:gd name="T13" fmla="*/ 660 h 660"/>
                  <a:gd name="T14" fmla="*/ 307 w 445"/>
                  <a:gd name="T15" fmla="*/ 390 h 660"/>
                  <a:gd name="T16" fmla="*/ 224 w 445"/>
                  <a:gd name="T17" fmla="*/ 291 h 660"/>
                  <a:gd name="T18" fmla="*/ 138 w 445"/>
                  <a:gd name="T19" fmla="*/ 390 h 660"/>
                  <a:gd name="T20" fmla="*/ 138 w 445"/>
                  <a:gd name="T21" fmla="*/ 660 h 660"/>
                  <a:gd name="T22" fmla="*/ 0 w 445"/>
                  <a:gd name="T23" fmla="*/ 660 h 660"/>
                  <a:gd name="T24" fmla="*/ 0 w 445"/>
                  <a:gd name="T25"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5" h="660">
                    <a:moveTo>
                      <a:pt x="0" y="0"/>
                    </a:moveTo>
                    <a:cubicBezTo>
                      <a:pt x="138" y="0"/>
                      <a:pt x="138" y="0"/>
                      <a:pt x="138" y="0"/>
                    </a:cubicBezTo>
                    <a:cubicBezTo>
                      <a:pt x="138" y="244"/>
                      <a:pt x="138" y="244"/>
                      <a:pt x="138" y="244"/>
                    </a:cubicBezTo>
                    <a:cubicBezTo>
                      <a:pt x="169" y="203"/>
                      <a:pt x="210" y="166"/>
                      <a:pt x="280" y="166"/>
                    </a:cubicBezTo>
                    <a:cubicBezTo>
                      <a:pt x="384" y="166"/>
                      <a:pt x="445" y="235"/>
                      <a:pt x="445" y="346"/>
                    </a:cubicBezTo>
                    <a:cubicBezTo>
                      <a:pt x="445" y="660"/>
                      <a:pt x="445" y="660"/>
                      <a:pt x="445" y="660"/>
                    </a:cubicBezTo>
                    <a:cubicBezTo>
                      <a:pt x="307" y="660"/>
                      <a:pt x="307" y="660"/>
                      <a:pt x="307" y="660"/>
                    </a:cubicBezTo>
                    <a:cubicBezTo>
                      <a:pt x="307" y="390"/>
                      <a:pt x="307" y="390"/>
                      <a:pt x="307" y="390"/>
                    </a:cubicBezTo>
                    <a:cubicBezTo>
                      <a:pt x="307" y="324"/>
                      <a:pt x="276" y="291"/>
                      <a:pt x="224" y="291"/>
                    </a:cubicBezTo>
                    <a:cubicBezTo>
                      <a:pt x="171" y="291"/>
                      <a:pt x="138" y="324"/>
                      <a:pt x="138" y="390"/>
                    </a:cubicBezTo>
                    <a:cubicBezTo>
                      <a:pt x="138" y="660"/>
                      <a:pt x="138" y="660"/>
                      <a:pt x="138" y="660"/>
                    </a:cubicBezTo>
                    <a:cubicBezTo>
                      <a:pt x="0" y="660"/>
                      <a:pt x="0" y="660"/>
                      <a:pt x="0" y="66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3" name="Freeform 16">
                <a:extLst>
                  <a:ext uri="{FF2B5EF4-FFF2-40B4-BE49-F238E27FC236}">
                    <a16:creationId xmlns:a16="http://schemas.microsoft.com/office/drawing/2014/main" id="{44BDC175-2104-E7E3-2519-DA2F92A4A931}"/>
                  </a:ext>
                </a:extLst>
              </p:cNvPr>
              <p:cNvSpPr>
                <a:spLocks/>
              </p:cNvSpPr>
              <p:nvPr userDrawn="1"/>
            </p:nvSpPr>
            <p:spPr bwMode="auto">
              <a:xfrm>
                <a:off x="5762039" y="938123"/>
                <a:ext cx="192827" cy="214991"/>
              </a:xfrm>
              <a:custGeom>
                <a:avLst/>
                <a:gdLst>
                  <a:gd name="T0" fmla="*/ 0 w 444"/>
                  <a:gd name="T1" fmla="*/ 9 h 494"/>
                  <a:gd name="T2" fmla="*/ 137 w 444"/>
                  <a:gd name="T3" fmla="*/ 9 h 494"/>
                  <a:gd name="T4" fmla="*/ 137 w 444"/>
                  <a:gd name="T5" fmla="*/ 78 h 494"/>
                  <a:gd name="T6" fmla="*/ 279 w 444"/>
                  <a:gd name="T7" fmla="*/ 0 h 494"/>
                  <a:gd name="T8" fmla="*/ 444 w 444"/>
                  <a:gd name="T9" fmla="*/ 180 h 494"/>
                  <a:gd name="T10" fmla="*/ 444 w 444"/>
                  <a:gd name="T11" fmla="*/ 494 h 494"/>
                  <a:gd name="T12" fmla="*/ 306 w 444"/>
                  <a:gd name="T13" fmla="*/ 494 h 494"/>
                  <a:gd name="T14" fmla="*/ 306 w 444"/>
                  <a:gd name="T15" fmla="*/ 224 h 494"/>
                  <a:gd name="T16" fmla="*/ 223 w 444"/>
                  <a:gd name="T17" fmla="*/ 125 h 494"/>
                  <a:gd name="T18" fmla="*/ 137 w 444"/>
                  <a:gd name="T19" fmla="*/ 224 h 494"/>
                  <a:gd name="T20" fmla="*/ 137 w 444"/>
                  <a:gd name="T21" fmla="*/ 494 h 494"/>
                  <a:gd name="T22" fmla="*/ 0 w 444"/>
                  <a:gd name="T23" fmla="*/ 494 h 494"/>
                  <a:gd name="T24" fmla="*/ 0 w 444"/>
                  <a:gd name="T25" fmla="*/ 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4" h="494">
                    <a:moveTo>
                      <a:pt x="0" y="9"/>
                    </a:moveTo>
                    <a:cubicBezTo>
                      <a:pt x="137" y="9"/>
                      <a:pt x="137" y="9"/>
                      <a:pt x="137" y="9"/>
                    </a:cubicBezTo>
                    <a:cubicBezTo>
                      <a:pt x="137" y="78"/>
                      <a:pt x="137" y="78"/>
                      <a:pt x="137" y="78"/>
                    </a:cubicBezTo>
                    <a:cubicBezTo>
                      <a:pt x="169" y="37"/>
                      <a:pt x="210" y="0"/>
                      <a:pt x="279" y="0"/>
                    </a:cubicBezTo>
                    <a:cubicBezTo>
                      <a:pt x="383" y="0"/>
                      <a:pt x="444" y="69"/>
                      <a:pt x="444" y="180"/>
                    </a:cubicBezTo>
                    <a:cubicBezTo>
                      <a:pt x="444" y="494"/>
                      <a:pt x="444" y="494"/>
                      <a:pt x="444" y="494"/>
                    </a:cubicBezTo>
                    <a:cubicBezTo>
                      <a:pt x="306" y="494"/>
                      <a:pt x="306" y="494"/>
                      <a:pt x="306" y="494"/>
                    </a:cubicBezTo>
                    <a:cubicBezTo>
                      <a:pt x="306" y="224"/>
                      <a:pt x="306" y="224"/>
                      <a:pt x="306" y="224"/>
                    </a:cubicBezTo>
                    <a:cubicBezTo>
                      <a:pt x="306" y="158"/>
                      <a:pt x="276" y="125"/>
                      <a:pt x="223" y="125"/>
                    </a:cubicBezTo>
                    <a:cubicBezTo>
                      <a:pt x="171" y="125"/>
                      <a:pt x="137" y="158"/>
                      <a:pt x="137" y="224"/>
                    </a:cubicBezTo>
                    <a:cubicBezTo>
                      <a:pt x="137" y="494"/>
                      <a:pt x="137" y="494"/>
                      <a:pt x="137" y="494"/>
                    </a:cubicBezTo>
                    <a:cubicBezTo>
                      <a:pt x="0" y="494"/>
                      <a:pt x="0" y="494"/>
                      <a:pt x="0" y="49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4" name="Freeform 17">
                <a:extLst>
                  <a:ext uri="{FF2B5EF4-FFF2-40B4-BE49-F238E27FC236}">
                    <a16:creationId xmlns:a16="http://schemas.microsoft.com/office/drawing/2014/main" id="{E76CB955-2FC2-83C2-AC09-AD01BCCF18B2}"/>
                  </a:ext>
                </a:extLst>
              </p:cNvPr>
              <p:cNvSpPr>
                <a:spLocks noEditPoints="1"/>
              </p:cNvSpPr>
              <p:nvPr userDrawn="1"/>
            </p:nvSpPr>
            <p:spPr bwMode="auto">
              <a:xfrm>
                <a:off x="5967277" y="938123"/>
                <a:ext cx="228289" cy="219867"/>
              </a:xfrm>
              <a:custGeom>
                <a:avLst/>
                <a:gdLst>
                  <a:gd name="T0" fmla="*/ 0 w 525"/>
                  <a:gd name="T1" fmla="*/ 254 h 505"/>
                  <a:gd name="T2" fmla="*/ 0 w 525"/>
                  <a:gd name="T3" fmla="*/ 253 h 505"/>
                  <a:gd name="T4" fmla="*/ 263 w 525"/>
                  <a:gd name="T5" fmla="*/ 0 h 505"/>
                  <a:gd name="T6" fmla="*/ 525 w 525"/>
                  <a:gd name="T7" fmla="*/ 251 h 505"/>
                  <a:gd name="T8" fmla="*/ 525 w 525"/>
                  <a:gd name="T9" fmla="*/ 253 h 505"/>
                  <a:gd name="T10" fmla="*/ 262 w 525"/>
                  <a:gd name="T11" fmla="*/ 505 h 505"/>
                  <a:gd name="T12" fmla="*/ 0 w 525"/>
                  <a:gd name="T13" fmla="*/ 254 h 505"/>
                  <a:gd name="T14" fmla="*/ 389 w 525"/>
                  <a:gd name="T15" fmla="*/ 254 h 505"/>
                  <a:gd name="T16" fmla="*/ 389 w 525"/>
                  <a:gd name="T17" fmla="*/ 253 h 505"/>
                  <a:gd name="T18" fmla="*/ 262 w 525"/>
                  <a:gd name="T19" fmla="*/ 119 h 505"/>
                  <a:gd name="T20" fmla="*/ 136 w 525"/>
                  <a:gd name="T21" fmla="*/ 251 h 505"/>
                  <a:gd name="T22" fmla="*/ 136 w 525"/>
                  <a:gd name="T23" fmla="*/ 253 h 505"/>
                  <a:gd name="T24" fmla="*/ 263 w 525"/>
                  <a:gd name="T25" fmla="*/ 387 h 505"/>
                  <a:gd name="T26" fmla="*/ 389 w 525"/>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5">
                    <a:moveTo>
                      <a:pt x="0" y="254"/>
                    </a:moveTo>
                    <a:cubicBezTo>
                      <a:pt x="0" y="253"/>
                      <a:pt x="0" y="253"/>
                      <a:pt x="0" y="253"/>
                    </a:cubicBezTo>
                    <a:cubicBezTo>
                      <a:pt x="0" y="113"/>
                      <a:pt x="112" y="0"/>
                      <a:pt x="263" y="0"/>
                    </a:cubicBezTo>
                    <a:cubicBezTo>
                      <a:pt x="414" y="0"/>
                      <a:pt x="525" y="111"/>
                      <a:pt x="525" y="251"/>
                    </a:cubicBezTo>
                    <a:cubicBezTo>
                      <a:pt x="525" y="253"/>
                      <a:pt x="525" y="253"/>
                      <a:pt x="525" y="253"/>
                    </a:cubicBezTo>
                    <a:cubicBezTo>
                      <a:pt x="525" y="392"/>
                      <a:pt x="413" y="505"/>
                      <a:pt x="262" y="505"/>
                    </a:cubicBezTo>
                    <a:cubicBezTo>
                      <a:pt x="111" y="505"/>
                      <a:pt x="0" y="394"/>
                      <a:pt x="0" y="254"/>
                    </a:cubicBezTo>
                    <a:close/>
                    <a:moveTo>
                      <a:pt x="389" y="254"/>
                    </a:moveTo>
                    <a:cubicBezTo>
                      <a:pt x="389" y="253"/>
                      <a:pt x="389" y="253"/>
                      <a:pt x="389" y="253"/>
                    </a:cubicBezTo>
                    <a:cubicBezTo>
                      <a:pt x="389" y="181"/>
                      <a:pt x="338" y="119"/>
                      <a:pt x="262" y="119"/>
                    </a:cubicBezTo>
                    <a:cubicBezTo>
                      <a:pt x="183" y="119"/>
                      <a:pt x="136" y="179"/>
                      <a:pt x="136" y="251"/>
                    </a:cubicBezTo>
                    <a:cubicBezTo>
                      <a:pt x="136" y="253"/>
                      <a:pt x="136" y="253"/>
                      <a:pt x="136" y="253"/>
                    </a:cubicBezTo>
                    <a:cubicBezTo>
                      <a:pt x="136" y="324"/>
                      <a:pt x="187" y="387"/>
                      <a:pt x="263" y="387"/>
                    </a:cubicBezTo>
                    <a:cubicBezTo>
                      <a:pt x="342" y="387"/>
                      <a:pt x="389" y="326"/>
                      <a:pt x="389"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5" name="Rectangle 18">
                <a:extLst>
                  <a:ext uri="{FF2B5EF4-FFF2-40B4-BE49-F238E27FC236}">
                    <a16:creationId xmlns:a16="http://schemas.microsoft.com/office/drawing/2014/main" id="{BB15E459-A560-CBA7-38D2-49EC0DF1798C}"/>
                  </a:ext>
                </a:extLst>
              </p:cNvPr>
              <p:cNvSpPr>
                <a:spLocks noChangeArrowheads="1"/>
              </p:cNvSpPr>
              <p:nvPr userDrawn="1"/>
            </p:nvSpPr>
            <p:spPr bwMode="auto">
              <a:xfrm>
                <a:off x="6207091" y="866312"/>
                <a:ext cx="59843" cy="28680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6" name="Freeform 19">
                <a:extLst>
                  <a:ext uri="{FF2B5EF4-FFF2-40B4-BE49-F238E27FC236}">
                    <a16:creationId xmlns:a16="http://schemas.microsoft.com/office/drawing/2014/main" id="{A894E637-6612-023A-5D26-292EB224BB2E}"/>
                  </a:ext>
                </a:extLst>
              </p:cNvPr>
              <p:cNvSpPr>
                <a:spLocks noEditPoints="1"/>
              </p:cNvSpPr>
              <p:nvPr userDrawn="1"/>
            </p:nvSpPr>
            <p:spPr bwMode="auto">
              <a:xfrm>
                <a:off x="6278460" y="938123"/>
                <a:ext cx="228732" cy="219867"/>
              </a:xfrm>
              <a:custGeom>
                <a:avLst/>
                <a:gdLst>
                  <a:gd name="T0" fmla="*/ 0 w 526"/>
                  <a:gd name="T1" fmla="*/ 254 h 505"/>
                  <a:gd name="T2" fmla="*/ 0 w 526"/>
                  <a:gd name="T3" fmla="*/ 253 h 505"/>
                  <a:gd name="T4" fmla="*/ 264 w 526"/>
                  <a:gd name="T5" fmla="*/ 0 h 505"/>
                  <a:gd name="T6" fmla="*/ 526 w 526"/>
                  <a:gd name="T7" fmla="*/ 251 h 505"/>
                  <a:gd name="T8" fmla="*/ 526 w 526"/>
                  <a:gd name="T9" fmla="*/ 253 h 505"/>
                  <a:gd name="T10" fmla="*/ 262 w 526"/>
                  <a:gd name="T11" fmla="*/ 505 h 505"/>
                  <a:gd name="T12" fmla="*/ 0 w 526"/>
                  <a:gd name="T13" fmla="*/ 254 h 505"/>
                  <a:gd name="T14" fmla="*/ 390 w 526"/>
                  <a:gd name="T15" fmla="*/ 254 h 505"/>
                  <a:gd name="T16" fmla="*/ 390 w 526"/>
                  <a:gd name="T17" fmla="*/ 253 h 505"/>
                  <a:gd name="T18" fmla="*/ 262 w 526"/>
                  <a:gd name="T19" fmla="*/ 119 h 505"/>
                  <a:gd name="T20" fmla="*/ 136 w 526"/>
                  <a:gd name="T21" fmla="*/ 251 h 505"/>
                  <a:gd name="T22" fmla="*/ 136 w 526"/>
                  <a:gd name="T23" fmla="*/ 253 h 505"/>
                  <a:gd name="T24" fmla="*/ 264 w 526"/>
                  <a:gd name="T25" fmla="*/ 387 h 505"/>
                  <a:gd name="T26" fmla="*/ 390 w 526"/>
                  <a:gd name="T27" fmla="*/ 25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505">
                    <a:moveTo>
                      <a:pt x="0" y="254"/>
                    </a:moveTo>
                    <a:cubicBezTo>
                      <a:pt x="0" y="253"/>
                      <a:pt x="0" y="253"/>
                      <a:pt x="0" y="253"/>
                    </a:cubicBezTo>
                    <a:cubicBezTo>
                      <a:pt x="0" y="113"/>
                      <a:pt x="113" y="0"/>
                      <a:pt x="264" y="0"/>
                    </a:cubicBezTo>
                    <a:cubicBezTo>
                      <a:pt x="414" y="0"/>
                      <a:pt x="526" y="111"/>
                      <a:pt x="526" y="251"/>
                    </a:cubicBezTo>
                    <a:cubicBezTo>
                      <a:pt x="526" y="253"/>
                      <a:pt x="526" y="253"/>
                      <a:pt x="526" y="253"/>
                    </a:cubicBezTo>
                    <a:cubicBezTo>
                      <a:pt x="526" y="392"/>
                      <a:pt x="413" y="505"/>
                      <a:pt x="262" y="505"/>
                    </a:cubicBezTo>
                    <a:cubicBezTo>
                      <a:pt x="112" y="505"/>
                      <a:pt x="0" y="394"/>
                      <a:pt x="0" y="254"/>
                    </a:cubicBezTo>
                    <a:close/>
                    <a:moveTo>
                      <a:pt x="390" y="254"/>
                    </a:moveTo>
                    <a:cubicBezTo>
                      <a:pt x="390" y="253"/>
                      <a:pt x="390" y="253"/>
                      <a:pt x="390" y="253"/>
                    </a:cubicBezTo>
                    <a:cubicBezTo>
                      <a:pt x="390" y="181"/>
                      <a:pt x="338" y="119"/>
                      <a:pt x="262" y="119"/>
                    </a:cubicBezTo>
                    <a:cubicBezTo>
                      <a:pt x="183" y="119"/>
                      <a:pt x="136" y="179"/>
                      <a:pt x="136" y="251"/>
                    </a:cubicBezTo>
                    <a:cubicBezTo>
                      <a:pt x="136" y="253"/>
                      <a:pt x="136" y="253"/>
                      <a:pt x="136" y="253"/>
                    </a:cubicBezTo>
                    <a:cubicBezTo>
                      <a:pt x="136" y="324"/>
                      <a:pt x="188" y="387"/>
                      <a:pt x="264" y="387"/>
                    </a:cubicBezTo>
                    <a:cubicBezTo>
                      <a:pt x="343" y="387"/>
                      <a:pt x="390" y="326"/>
                      <a:pt x="390"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7" name="Freeform 20">
                <a:extLst>
                  <a:ext uri="{FF2B5EF4-FFF2-40B4-BE49-F238E27FC236}">
                    <a16:creationId xmlns:a16="http://schemas.microsoft.com/office/drawing/2014/main" id="{C612BEEF-FFCF-00C7-83E8-3D6CD89DD8B2}"/>
                  </a:ext>
                </a:extLst>
              </p:cNvPr>
              <p:cNvSpPr>
                <a:spLocks noEditPoints="1"/>
              </p:cNvSpPr>
              <p:nvPr userDrawn="1"/>
            </p:nvSpPr>
            <p:spPr bwMode="auto">
              <a:xfrm>
                <a:off x="6516057" y="938123"/>
                <a:ext cx="221197" cy="278823"/>
              </a:xfrm>
              <a:custGeom>
                <a:avLst/>
                <a:gdLst>
                  <a:gd name="T0" fmla="*/ 24 w 509"/>
                  <a:gd name="T1" fmla="*/ 590 h 641"/>
                  <a:gd name="T2" fmla="*/ 71 w 509"/>
                  <a:gd name="T3" fmla="*/ 487 h 641"/>
                  <a:gd name="T4" fmla="*/ 235 w 509"/>
                  <a:gd name="T5" fmla="*/ 531 h 641"/>
                  <a:gd name="T6" fmla="*/ 373 w 509"/>
                  <a:gd name="T7" fmla="*/ 399 h 641"/>
                  <a:gd name="T8" fmla="*/ 373 w 509"/>
                  <a:gd name="T9" fmla="*/ 376 h 641"/>
                  <a:gd name="T10" fmla="*/ 215 w 509"/>
                  <a:gd name="T11" fmla="*/ 454 h 641"/>
                  <a:gd name="T12" fmla="*/ 0 w 509"/>
                  <a:gd name="T13" fmla="*/ 228 h 641"/>
                  <a:gd name="T14" fmla="*/ 0 w 509"/>
                  <a:gd name="T15" fmla="*/ 226 h 641"/>
                  <a:gd name="T16" fmla="*/ 215 w 509"/>
                  <a:gd name="T17" fmla="*/ 0 h 641"/>
                  <a:gd name="T18" fmla="*/ 372 w 509"/>
                  <a:gd name="T19" fmla="*/ 72 h 641"/>
                  <a:gd name="T20" fmla="*/ 372 w 509"/>
                  <a:gd name="T21" fmla="*/ 9 h 641"/>
                  <a:gd name="T22" fmla="*/ 509 w 509"/>
                  <a:gd name="T23" fmla="*/ 9 h 641"/>
                  <a:gd name="T24" fmla="*/ 509 w 509"/>
                  <a:gd name="T25" fmla="*/ 385 h 641"/>
                  <a:gd name="T26" fmla="*/ 448 w 509"/>
                  <a:gd name="T27" fmla="*/ 576 h 641"/>
                  <a:gd name="T28" fmla="*/ 239 w 509"/>
                  <a:gd name="T29" fmla="*/ 641 h 641"/>
                  <a:gd name="T30" fmla="*/ 24 w 509"/>
                  <a:gd name="T31" fmla="*/ 590 h 641"/>
                  <a:gd name="T32" fmla="*/ 373 w 509"/>
                  <a:gd name="T33" fmla="*/ 228 h 641"/>
                  <a:gd name="T34" fmla="*/ 373 w 509"/>
                  <a:gd name="T35" fmla="*/ 226 h 641"/>
                  <a:gd name="T36" fmla="*/ 255 w 509"/>
                  <a:gd name="T37" fmla="*/ 114 h 641"/>
                  <a:gd name="T38" fmla="*/ 137 w 509"/>
                  <a:gd name="T39" fmla="*/ 226 h 641"/>
                  <a:gd name="T40" fmla="*/ 137 w 509"/>
                  <a:gd name="T41" fmla="*/ 228 h 641"/>
                  <a:gd name="T42" fmla="*/ 255 w 509"/>
                  <a:gd name="T43" fmla="*/ 340 h 641"/>
                  <a:gd name="T44" fmla="*/ 373 w 509"/>
                  <a:gd name="T45" fmla="*/ 228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9" h="641">
                    <a:moveTo>
                      <a:pt x="24" y="590"/>
                    </a:moveTo>
                    <a:cubicBezTo>
                      <a:pt x="71" y="487"/>
                      <a:pt x="71" y="487"/>
                      <a:pt x="71" y="487"/>
                    </a:cubicBezTo>
                    <a:cubicBezTo>
                      <a:pt x="121" y="515"/>
                      <a:pt x="171" y="531"/>
                      <a:pt x="235" y="531"/>
                    </a:cubicBezTo>
                    <a:cubicBezTo>
                      <a:pt x="329" y="531"/>
                      <a:pt x="373" y="486"/>
                      <a:pt x="373" y="399"/>
                    </a:cubicBezTo>
                    <a:cubicBezTo>
                      <a:pt x="373" y="376"/>
                      <a:pt x="373" y="376"/>
                      <a:pt x="373" y="376"/>
                    </a:cubicBezTo>
                    <a:cubicBezTo>
                      <a:pt x="333" y="425"/>
                      <a:pt x="288" y="454"/>
                      <a:pt x="215" y="454"/>
                    </a:cubicBezTo>
                    <a:cubicBezTo>
                      <a:pt x="102" y="454"/>
                      <a:pt x="0" y="372"/>
                      <a:pt x="0" y="228"/>
                    </a:cubicBezTo>
                    <a:cubicBezTo>
                      <a:pt x="0" y="226"/>
                      <a:pt x="0" y="226"/>
                      <a:pt x="0" y="226"/>
                    </a:cubicBezTo>
                    <a:cubicBezTo>
                      <a:pt x="0" y="82"/>
                      <a:pt x="104" y="0"/>
                      <a:pt x="215" y="0"/>
                    </a:cubicBezTo>
                    <a:cubicBezTo>
                      <a:pt x="290" y="0"/>
                      <a:pt x="334" y="32"/>
                      <a:pt x="372" y="72"/>
                    </a:cubicBezTo>
                    <a:cubicBezTo>
                      <a:pt x="372" y="9"/>
                      <a:pt x="372" y="9"/>
                      <a:pt x="372" y="9"/>
                    </a:cubicBezTo>
                    <a:cubicBezTo>
                      <a:pt x="509" y="9"/>
                      <a:pt x="509" y="9"/>
                      <a:pt x="509" y="9"/>
                    </a:cubicBezTo>
                    <a:cubicBezTo>
                      <a:pt x="509" y="385"/>
                      <a:pt x="509" y="385"/>
                      <a:pt x="509" y="385"/>
                    </a:cubicBezTo>
                    <a:cubicBezTo>
                      <a:pt x="509" y="472"/>
                      <a:pt x="488" y="535"/>
                      <a:pt x="448" y="576"/>
                    </a:cubicBezTo>
                    <a:cubicBezTo>
                      <a:pt x="402" y="621"/>
                      <a:pt x="333" y="641"/>
                      <a:pt x="239" y="641"/>
                    </a:cubicBezTo>
                    <a:cubicBezTo>
                      <a:pt x="160" y="641"/>
                      <a:pt x="86" y="623"/>
                      <a:pt x="24" y="590"/>
                    </a:cubicBezTo>
                    <a:close/>
                    <a:moveTo>
                      <a:pt x="373" y="228"/>
                    </a:moveTo>
                    <a:cubicBezTo>
                      <a:pt x="373" y="226"/>
                      <a:pt x="373" y="226"/>
                      <a:pt x="373" y="226"/>
                    </a:cubicBezTo>
                    <a:cubicBezTo>
                      <a:pt x="373" y="160"/>
                      <a:pt x="322" y="114"/>
                      <a:pt x="255" y="114"/>
                    </a:cubicBezTo>
                    <a:cubicBezTo>
                      <a:pt x="188" y="114"/>
                      <a:pt x="137" y="160"/>
                      <a:pt x="137" y="226"/>
                    </a:cubicBezTo>
                    <a:cubicBezTo>
                      <a:pt x="137" y="228"/>
                      <a:pt x="137" y="228"/>
                      <a:pt x="137" y="228"/>
                    </a:cubicBezTo>
                    <a:cubicBezTo>
                      <a:pt x="137" y="295"/>
                      <a:pt x="188" y="340"/>
                      <a:pt x="255" y="340"/>
                    </a:cubicBezTo>
                    <a:cubicBezTo>
                      <a:pt x="322" y="340"/>
                      <a:pt x="373" y="294"/>
                      <a:pt x="373"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8" name="Freeform 21">
                <a:extLst>
                  <a:ext uri="{FF2B5EF4-FFF2-40B4-BE49-F238E27FC236}">
                    <a16:creationId xmlns:a16="http://schemas.microsoft.com/office/drawing/2014/main" id="{535443A8-F420-58B0-6940-C7217CB7D304}"/>
                  </a:ext>
                </a:extLst>
              </p:cNvPr>
              <p:cNvSpPr>
                <a:spLocks/>
              </p:cNvSpPr>
              <p:nvPr userDrawn="1"/>
            </p:nvSpPr>
            <p:spPr bwMode="auto">
              <a:xfrm>
                <a:off x="6747450" y="942113"/>
                <a:ext cx="219424" cy="275277"/>
              </a:xfrm>
              <a:custGeom>
                <a:avLst/>
                <a:gdLst>
                  <a:gd name="T0" fmla="*/ 362 w 505"/>
                  <a:gd name="T1" fmla="*/ 0 h 633"/>
                  <a:gd name="T2" fmla="*/ 505 w 505"/>
                  <a:gd name="T3" fmla="*/ 0 h 633"/>
                  <a:gd name="T4" fmla="*/ 319 w 505"/>
                  <a:gd name="T5" fmla="*/ 497 h 633"/>
                  <a:gd name="T6" fmla="*/ 159 w 505"/>
                  <a:gd name="T7" fmla="*/ 633 h 633"/>
                  <a:gd name="T8" fmla="*/ 37 w 505"/>
                  <a:gd name="T9" fmla="*/ 599 h 633"/>
                  <a:gd name="T10" fmla="*/ 83 w 505"/>
                  <a:gd name="T11" fmla="*/ 500 h 633"/>
                  <a:gd name="T12" fmla="*/ 142 w 505"/>
                  <a:gd name="T13" fmla="*/ 519 h 633"/>
                  <a:gd name="T14" fmla="*/ 190 w 505"/>
                  <a:gd name="T15" fmla="*/ 487 h 633"/>
                  <a:gd name="T16" fmla="*/ 0 w 505"/>
                  <a:gd name="T17" fmla="*/ 0 h 633"/>
                  <a:gd name="T18" fmla="*/ 146 w 505"/>
                  <a:gd name="T19" fmla="*/ 0 h 633"/>
                  <a:gd name="T20" fmla="*/ 256 w 505"/>
                  <a:gd name="T21" fmla="*/ 331 h 633"/>
                  <a:gd name="T22" fmla="*/ 362 w 505"/>
                  <a:gd name="T23"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633">
                    <a:moveTo>
                      <a:pt x="362" y="0"/>
                    </a:moveTo>
                    <a:cubicBezTo>
                      <a:pt x="505" y="0"/>
                      <a:pt x="505" y="0"/>
                      <a:pt x="505" y="0"/>
                    </a:cubicBezTo>
                    <a:cubicBezTo>
                      <a:pt x="319" y="497"/>
                      <a:pt x="319" y="497"/>
                      <a:pt x="319" y="497"/>
                    </a:cubicBezTo>
                    <a:cubicBezTo>
                      <a:pt x="282" y="596"/>
                      <a:pt x="242" y="633"/>
                      <a:pt x="159" y="633"/>
                    </a:cubicBezTo>
                    <a:cubicBezTo>
                      <a:pt x="110" y="633"/>
                      <a:pt x="73" y="620"/>
                      <a:pt x="37" y="599"/>
                    </a:cubicBezTo>
                    <a:cubicBezTo>
                      <a:pt x="83" y="500"/>
                      <a:pt x="83" y="500"/>
                      <a:pt x="83" y="500"/>
                    </a:cubicBezTo>
                    <a:cubicBezTo>
                      <a:pt x="101" y="511"/>
                      <a:pt x="124" y="519"/>
                      <a:pt x="142" y="519"/>
                    </a:cubicBezTo>
                    <a:cubicBezTo>
                      <a:pt x="166" y="519"/>
                      <a:pt x="178" y="512"/>
                      <a:pt x="190" y="487"/>
                    </a:cubicBezTo>
                    <a:cubicBezTo>
                      <a:pt x="0" y="0"/>
                      <a:pt x="0" y="0"/>
                      <a:pt x="0" y="0"/>
                    </a:cubicBezTo>
                    <a:cubicBezTo>
                      <a:pt x="146" y="0"/>
                      <a:pt x="146" y="0"/>
                      <a:pt x="146" y="0"/>
                    </a:cubicBezTo>
                    <a:cubicBezTo>
                      <a:pt x="256" y="331"/>
                      <a:pt x="256" y="331"/>
                      <a:pt x="256" y="331"/>
                    </a:cubicBezTo>
                    <a:lnTo>
                      <a:pt x="3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9" name="Freeform 22">
                <a:extLst>
                  <a:ext uri="{FF2B5EF4-FFF2-40B4-BE49-F238E27FC236}">
                    <a16:creationId xmlns:a16="http://schemas.microsoft.com/office/drawing/2014/main" id="{D577C4C5-162A-509E-0F90-2D9CF5560B46}"/>
                  </a:ext>
                </a:extLst>
              </p:cNvPr>
              <p:cNvSpPr>
                <a:spLocks/>
              </p:cNvSpPr>
              <p:nvPr userDrawn="1"/>
            </p:nvSpPr>
            <p:spPr bwMode="auto">
              <a:xfrm>
                <a:off x="6005842" y="1258171"/>
                <a:ext cx="132541" cy="290348"/>
              </a:xfrm>
              <a:custGeom>
                <a:avLst/>
                <a:gdLst>
                  <a:gd name="T0" fmla="*/ 57 w 305"/>
                  <a:gd name="T1" fmla="*/ 299 h 667"/>
                  <a:gd name="T2" fmla="*/ 0 w 305"/>
                  <a:gd name="T3" fmla="*/ 299 h 667"/>
                  <a:gd name="T4" fmla="*/ 0 w 305"/>
                  <a:gd name="T5" fmla="*/ 186 h 667"/>
                  <a:gd name="T6" fmla="*/ 57 w 305"/>
                  <a:gd name="T7" fmla="*/ 186 h 667"/>
                  <a:gd name="T8" fmla="*/ 57 w 305"/>
                  <a:gd name="T9" fmla="*/ 155 h 667"/>
                  <a:gd name="T10" fmla="*/ 96 w 305"/>
                  <a:gd name="T11" fmla="*/ 38 h 667"/>
                  <a:gd name="T12" fmla="*/ 208 w 305"/>
                  <a:gd name="T13" fmla="*/ 0 h 667"/>
                  <a:gd name="T14" fmla="*/ 305 w 305"/>
                  <a:gd name="T15" fmla="*/ 13 h 667"/>
                  <a:gd name="T16" fmla="*/ 305 w 305"/>
                  <a:gd name="T17" fmla="*/ 127 h 667"/>
                  <a:gd name="T18" fmla="*/ 243 w 305"/>
                  <a:gd name="T19" fmla="*/ 115 h 667"/>
                  <a:gd name="T20" fmla="*/ 193 w 305"/>
                  <a:gd name="T21" fmla="*/ 168 h 667"/>
                  <a:gd name="T22" fmla="*/ 193 w 305"/>
                  <a:gd name="T23" fmla="*/ 187 h 667"/>
                  <a:gd name="T24" fmla="*/ 305 w 305"/>
                  <a:gd name="T25" fmla="*/ 187 h 667"/>
                  <a:gd name="T26" fmla="*/ 305 w 305"/>
                  <a:gd name="T27" fmla="*/ 299 h 667"/>
                  <a:gd name="T28" fmla="*/ 195 w 305"/>
                  <a:gd name="T29" fmla="*/ 299 h 667"/>
                  <a:gd name="T30" fmla="*/ 195 w 305"/>
                  <a:gd name="T31" fmla="*/ 667 h 667"/>
                  <a:gd name="T32" fmla="*/ 57 w 305"/>
                  <a:gd name="T33" fmla="*/ 667 h 667"/>
                  <a:gd name="T34" fmla="*/ 57 w 305"/>
                  <a:gd name="T35" fmla="*/ 29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667">
                    <a:moveTo>
                      <a:pt x="57" y="299"/>
                    </a:moveTo>
                    <a:cubicBezTo>
                      <a:pt x="0" y="299"/>
                      <a:pt x="0" y="299"/>
                      <a:pt x="0" y="299"/>
                    </a:cubicBezTo>
                    <a:cubicBezTo>
                      <a:pt x="0" y="186"/>
                      <a:pt x="0" y="186"/>
                      <a:pt x="0" y="186"/>
                    </a:cubicBezTo>
                    <a:cubicBezTo>
                      <a:pt x="57" y="186"/>
                      <a:pt x="57" y="186"/>
                      <a:pt x="57" y="186"/>
                    </a:cubicBezTo>
                    <a:cubicBezTo>
                      <a:pt x="57" y="155"/>
                      <a:pt x="57" y="155"/>
                      <a:pt x="57" y="155"/>
                    </a:cubicBezTo>
                    <a:cubicBezTo>
                      <a:pt x="57" y="102"/>
                      <a:pt x="71" y="63"/>
                      <a:pt x="96" y="38"/>
                    </a:cubicBezTo>
                    <a:cubicBezTo>
                      <a:pt x="122" y="12"/>
                      <a:pt x="159" y="0"/>
                      <a:pt x="208" y="0"/>
                    </a:cubicBezTo>
                    <a:cubicBezTo>
                      <a:pt x="251" y="0"/>
                      <a:pt x="280" y="5"/>
                      <a:pt x="305" y="13"/>
                    </a:cubicBezTo>
                    <a:cubicBezTo>
                      <a:pt x="305" y="127"/>
                      <a:pt x="305" y="127"/>
                      <a:pt x="305" y="127"/>
                    </a:cubicBezTo>
                    <a:cubicBezTo>
                      <a:pt x="286" y="120"/>
                      <a:pt x="267" y="115"/>
                      <a:pt x="243" y="115"/>
                    </a:cubicBezTo>
                    <a:cubicBezTo>
                      <a:pt x="211" y="115"/>
                      <a:pt x="193" y="132"/>
                      <a:pt x="193" y="168"/>
                    </a:cubicBezTo>
                    <a:cubicBezTo>
                      <a:pt x="193" y="187"/>
                      <a:pt x="193" y="187"/>
                      <a:pt x="193" y="187"/>
                    </a:cubicBezTo>
                    <a:cubicBezTo>
                      <a:pt x="305" y="187"/>
                      <a:pt x="305" y="187"/>
                      <a:pt x="305" y="187"/>
                    </a:cubicBezTo>
                    <a:cubicBezTo>
                      <a:pt x="305" y="299"/>
                      <a:pt x="305" y="299"/>
                      <a:pt x="305" y="299"/>
                    </a:cubicBezTo>
                    <a:cubicBezTo>
                      <a:pt x="195" y="299"/>
                      <a:pt x="195" y="299"/>
                      <a:pt x="195" y="299"/>
                    </a:cubicBezTo>
                    <a:cubicBezTo>
                      <a:pt x="195" y="667"/>
                      <a:pt x="195" y="667"/>
                      <a:pt x="195" y="667"/>
                    </a:cubicBezTo>
                    <a:cubicBezTo>
                      <a:pt x="57" y="667"/>
                      <a:pt x="57" y="667"/>
                      <a:pt x="57" y="667"/>
                    </a:cubicBezTo>
                    <a:lnTo>
                      <a:pt x="57" y="2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0" name="Freeform 23">
                <a:extLst>
                  <a:ext uri="{FF2B5EF4-FFF2-40B4-BE49-F238E27FC236}">
                    <a16:creationId xmlns:a16="http://schemas.microsoft.com/office/drawing/2014/main" id="{9CB671CE-477D-F1B3-6894-F85448189A99}"/>
                  </a:ext>
                </a:extLst>
              </p:cNvPr>
              <p:cNvSpPr>
                <a:spLocks noEditPoints="1"/>
              </p:cNvSpPr>
              <p:nvPr userDrawn="1"/>
            </p:nvSpPr>
            <p:spPr bwMode="auto">
              <a:xfrm>
                <a:off x="6137497" y="1333086"/>
                <a:ext cx="228289" cy="219867"/>
              </a:xfrm>
              <a:custGeom>
                <a:avLst/>
                <a:gdLst>
                  <a:gd name="T0" fmla="*/ 0 w 525"/>
                  <a:gd name="T1" fmla="*/ 255 h 506"/>
                  <a:gd name="T2" fmla="*/ 0 w 525"/>
                  <a:gd name="T3" fmla="*/ 253 h 506"/>
                  <a:gd name="T4" fmla="*/ 263 w 525"/>
                  <a:gd name="T5" fmla="*/ 0 h 506"/>
                  <a:gd name="T6" fmla="*/ 525 w 525"/>
                  <a:gd name="T7" fmla="*/ 251 h 506"/>
                  <a:gd name="T8" fmla="*/ 525 w 525"/>
                  <a:gd name="T9" fmla="*/ 253 h 506"/>
                  <a:gd name="T10" fmla="*/ 261 w 525"/>
                  <a:gd name="T11" fmla="*/ 506 h 506"/>
                  <a:gd name="T12" fmla="*/ 0 w 525"/>
                  <a:gd name="T13" fmla="*/ 255 h 506"/>
                  <a:gd name="T14" fmla="*/ 389 w 525"/>
                  <a:gd name="T15" fmla="*/ 255 h 506"/>
                  <a:gd name="T16" fmla="*/ 389 w 525"/>
                  <a:gd name="T17" fmla="*/ 253 h 506"/>
                  <a:gd name="T18" fmla="*/ 261 w 525"/>
                  <a:gd name="T19" fmla="*/ 119 h 506"/>
                  <a:gd name="T20" fmla="*/ 135 w 525"/>
                  <a:gd name="T21" fmla="*/ 251 h 506"/>
                  <a:gd name="T22" fmla="*/ 135 w 525"/>
                  <a:gd name="T23" fmla="*/ 253 h 506"/>
                  <a:gd name="T24" fmla="*/ 263 w 525"/>
                  <a:gd name="T25" fmla="*/ 387 h 506"/>
                  <a:gd name="T26" fmla="*/ 389 w 525"/>
                  <a:gd name="T27" fmla="*/ 25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06">
                    <a:moveTo>
                      <a:pt x="0" y="255"/>
                    </a:moveTo>
                    <a:cubicBezTo>
                      <a:pt x="0" y="253"/>
                      <a:pt x="0" y="253"/>
                      <a:pt x="0" y="253"/>
                    </a:cubicBezTo>
                    <a:cubicBezTo>
                      <a:pt x="0" y="114"/>
                      <a:pt x="112" y="0"/>
                      <a:pt x="263" y="0"/>
                    </a:cubicBezTo>
                    <a:cubicBezTo>
                      <a:pt x="413" y="0"/>
                      <a:pt x="525" y="112"/>
                      <a:pt x="525" y="251"/>
                    </a:cubicBezTo>
                    <a:cubicBezTo>
                      <a:pt x="525" y="253"/>
                      <a:pt x="525" y="253"/>
                      <a:pt x="525" y="253"/>
                    </a:cubicBezTo>
                    <a:cubicBezTo>
                      <a:pt x="525" y="392"/>
                      <a:pt x="412" y="506"/>
                      <a:pt x="261" y="506"/>
                    </a:cubicBezTo>
                    <a:cubicBezTo>
                      <a:pt x="111" y="506"/>
                      <a:pt x="0" y="394"/>
                      <a:pt x="0" y="255"/>
                    </a:cubicBezTo>
                    <a:close/>
                    <a:moveTo>
                      <a:pt x="389" y="255"/>
                    </a:moveTo>
                    <a:cubicBezTo>
                      <a:pt x="389" y="253"/>
                      <a:pt x="389" y="253"/>
                      <a:pt x="389" y="253"/>
                    </a:cubicBezTo>
                    <a:cubicBezTo>
                      <a:pt x="389" y="182"/>
                      <a:pt x="337" y="119"/>
                      <a:pt x="261" y="119"/>
                    </a:cubicBezTo>
                    <a:cubicBezTo>
                      <a:pt x="183" y="119"/>
                      <a:pt x="135" y="180"/>
                      <a:pt x="135" y="251"/>
                    </a:cubicBezTo>
                    <a:cubicBezTo>
                      <a:pt x="135" y="253"/>
                      <a:pt x="135" y="253"/>
                      <a:pt x="135" y="253"/>
                    </a:cubicBezTo>
                    <a:cubicBezTo>
                      <a:pt x="135" y="325"/>
                      <a:pt x="187" y="387"/>
                      <a:pt x="263" y="387"/>
                    </a:cubicBezTo>
                    <a:cubicBezTo>
                      <a:pt x="342" y="387"/>
                      <a:pt x="389" y="326"/>
                      <a:pt x="389"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1" name="Freeform 24">
                <a:extLst>
                  <a:ext uri="{FF2B5EF4-FFF2-40B4-BE49-F238E27FC236}">
                    <a16:creationId xmlns:a16="http://schemas.microsoft.com/office/drawing/2014/main" id="{2D545142-881D-002A-830D-2B1960B7F79A}"/>
                  </a:ext>
                </a:extLst>
              </p:cNvPr>
              <p:cNvSpPr>
                <a:spLocks/>
              </p:cNvSpPr>
              <p:nvPr userDrawn="1"/>
            </p:nvSpPr>
            <p:spPr bwMode="auto">
              <a:xfrm>
                <a:off x="6379084" y="1331756"/>
                <a:ext cx="127665" cy="216764"/>
              </a:xfrm>
              <a:custGeom>
                <a:avLst/>
                <a:gdLst>
                  <a:gd name="T0" fmla="*/ 0 w 293"/>
                  <a:gd name="T1" fmla="*/ 13 h 498"/>
                  <a:gd name="T2" fmla="*/ 138 w 293"/>
                  <a:gd name="T3" fmla="*/ 13 h 498"/>
                  <a:gd name="T4" fmla="*/ 138 w 293"/>
                  <a:gd name="T5" fmla="*/ 110 h 498"/>
                  <a:gd name="T6" fmla="*/ 293 w 293"/>
                  <a:gd name="T7" fmla="*/ 3 h 498"/>
                  <a:gd name="T8" fmla="*/ 293 w 293"/>
                  <a:gd name="T9" fmla="*/ 147 h 498"/>
                  <a:gd name="T10" fmla="*/ 286 w 293"/>
                  <a:gd name="T11" fmla="*/ 147 h 498"/>
                  <a:gd name="T12" fmla="*/ 138 w 293"/>
                  <a:gd name="T13" fmla="*/ 318 h 498"/>
                  <a:gd name="T14" fmla="*/ 138 w 293"/>
                  <a:gd name="T15" fmla="*/ 498 h 498"/>
                  <a:gd name="T16" fmla="*/ 0 w 293"/>
                  <a:gd name="T17" fmla="*/ 498 h 498"/>
                  <a:gd name="T18" fmla="*/ 0 w 293"/>
                  <a:gd name="T19" fmla="*/ 1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498">
                    <a:moveTo>
                      <a:pt x="0" y="13"/>
                    </a:moveTo>
                    <a:cubicBezTo>
                      <a:pt x="138" y="13"/>
                      <a:pt x="138" y="13"/>
                      <a:pt x="138" y="13"/>
                    </a:cubicBezTo>
                    <a:cubicBezTo>
                      <a:pt x="138" y="110"/>
                      <a:pt x="138" y="110"/>
                      <a:pt x="138" y="110"/>
                    </a:cubicBezTo>
                    <a:cubicBezTo>
                      <a:pt x="166" y="43"/>
                      <a:pt x="211" y="0"/>
                      <a:pt x="293" y="3"/>
                    </a:cubicBezTo>
                    <a:cubicBezTo>
                      <a:pt x="293" y="147"/>
                      <a:pt x="293" y="147"/>
                      <a:pt x="293" y="147"/>
                    </a:cubicBezTo>
                    <a:cubicBezTo>
                      <a:pt x="286" y="147"/>
                      <a:pt x="286" y="147"/>
                      <a:pt x="286" y="147"/>
                    </a:cubicBezTo>
                    <a:cubicBezTo>
                      <a:pt x="194" y="147"/>
                      <a:pt x="138" y="203"/>
                      <a:pt x="138" y="318"/>
                    </a:cubicBezTo>
                    <a:cubicBezTo>
                      <a:pt x="138" y="498"/>
                      <a:pt x="138" y="498"/>
                      <a:pt x="138" y="498"/>
                    </a:cubicBezTo>
                    <a:cubicBezTo>
                      <a:pt x="0" y="498"/>
                      <a:pt x="0" y="498"/>
                      <a:pt x="0" y="498"/>
                    </a:cubicBez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2" name="Freeform 25">
                <a:extLst>
                  <a:ext uri="{FF2B5EF4-FFF2-40B4-BE49-F238E27FC236}">
                    <a16:creationId xmlns:a16="http://schemas.microsoft.com/office/drawing/2014/main" id="{5C959273-267C-8CBA-996C-EC8514CCD7D2}"/>
                  </a:ext>
                </a:extLst>
              </p:cNvPr>
              <p:cNvSpPr>
                <a:spLocks noEditPoints="1"/>
              </p:cNvSpPr>
              <p:nvPr userDrawn="1"/>
            </p:nvSpPr>
            <p:spPr bwMode="auto">
              <a:xfrm>
                <a:off x="6582993" y="1334859"/>
                <a:ext cx="194157" cy="217207"/>
              </a:xfrm>
              <a:custGeom>
                <a:avLst/>
                <a:gdLst>
                  <a:gd name="T0" fmla="*/ 0 w 446"/>
                  <a:gd name="T1" fmla="*/ 351 h 500"/>
                  <a:gd name="T2" fmla="*/ 0 w 446"/>
                  <a:gd name="T3" fmla="*/ 349 h 500"/>
                  <a:gd name="T4" fmla="*/ 195 w 446"/>
                  <a:gd name="T5" fmla="*/ 195 h 500"/>
                  <a:gd name="T6" fmla="*/ 314 w 446"/>
                  <a:gd name="T7" fmla="*/ 215 h 500"/>
                  <a:gd name="T8" fmla="*/ 314 w 446"/>
                  <a:gd name="T9" fmla="*/ 206 h 500"/>
                  <a:gd name="T10" fmla="*/ 210 w 446"/>
                  <a:gd name="T11" fmla="*/ 118 h 500"/>
                  <a:gd name="T12" fmla="*/ 76 w 446"/>
                  <a:gd name="T13" fmla="*/ 144 h 500"/>
                  <a:gd name="T14" fmla="*/ 42 w 446"/>
                  <a:gd name="T15" fmla="*/ 39 h 500"/>
                  <a:gd name="T16" fmla="*/ 230 w 446"/>
                  <a:gd name="T17" fmla="*/ 0 h 500"/>
                  <a:gd name="T18" fmla="*/ 394 w 446"/>
                  <a:gd name="T19" fmla="*/ 54 h 500"/>
                  <a:gd name="T20" fmla="*/ 446 w 446"/>
                  <a:gd name="T21" fmla="*/ 209 h 500"/>
                  <a:gd name="T22" fmla="*/ 446 w 446"/>
                  <a:gd name="T23" fmla="*/ 491 h 500"/>
                  <a:gd name="T24" fmla="*/ 313 w 446"/>
                  <a:gd name="T25" fmla="*/ 491 h 500"/>
                  <a:gd name="T26" fmla="*/ 313 w 446"/>
                  <a:gd name="T27" fmla="*/ 438 h 500"/>
                  <a:gd name="T28" fmla="*/ 167 w 446"/>
                  <a:gd name="T29" fmla="*/ 500 h 500"/>
                  <a:gd name="T30" fmla="*/ 0 w 446"/>
                  <a:gd name="T31" fmla="*/ 351 h 500"/>
                  <a:gd name="T32" fmla="*/ 316 w 446"/>
                  <a:gd name="T33" fmla="*/ 320 h 500"/>
                  <a:gd name="T34" fmla="*/ 316 w 446"/>
                  <a:gd name="T35" fmla="*/ 295 h 500"/>
                  <a:gd name="T36" fmla="*/ 228 w 446"/>
                  <a:gd name="T37" fmla="*/ 277 h 500"/>
                  <a:gd name="T38" fmla="*/ 133 w 446"/>
                  <a:gd name="T39" fmla="*/ 344 h 500"/>
                  <a:gd name="T40" fmla="*/ 133 w 446"/>
                  <a:gd name="T41" fmla="*/ 346 h 500"/>
                  <a:gd name="T42" fmla="*/ 208 w 446"/>
                  <a:gd name="T43" fmla="*/ 405 h 500"/>
                  <a:gd name="T44" fmla="*/ 316 w 446"/>
                  <a:gd name="T45" fmla="*/ 32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6" h="500">
                    <a:moveTo>
                      <a:pt x="0" y="351"/>
                    </a:moveTo>
                    <a:cubicBezTo>
                      <a:pt x="0" y="349"/>
                      <a:pt x="0" y="349"/>
                      <a:pt x="0" y="349"/>
                    </a:cubicBezTo>
                    <a:cubicBezTo>
                      <a:pt x="0" y="244"/>
                      <a:pt x="81" y="195"/>
                      <a:pt x="195" y="195"/>
                    </a:cubicBezTo>
                    <a:cubicBezTo>
                      <a:pt x="244" y="195"/>
                      <a:pt x="280" y="203"/>
                      <a:pt x="314" y="215"/>
                    </a:cubicBezTo>
                    <a:cubicBezTo>
                      <a:pt x="314" y="206"/>
                      <a:pt x="314" y="206"/>
                      <a:pt x="314" y="206"/>
                    </a:cubicBezTo>
                    <a:cubicBezTo>
                      <a:pt x="314" y="149"/>
                      <a:pt x="279" y="118"/>
                      <a:pt x="210" y="118"/>
                    </a:cubicBezTo>
                    <a:cubicBezTo>
                      <a:pt x="157" y="118"/>
                      <a:pt x="120" y="128"/>
                      <a:pt x="76" y="144"/>
                    </a:cubicBezTo>
                    <a:cubicBezTo>
                      <a:pt x="42" y="39"/>
                      <a:pt x="42" y="39"/>
                      <a:pt x="42" y="39"/>
                    </a:cubicBezTo>
                    <a:cubicBezTo>
                      <a:pt x="95" y="15"/>
                      <a:pt x="148" y="0"/>
                      <a:pt x="230" y="0"/>
                    </a:cubicBezTo>
                    <a:cubicBezTo>
                      <a:pt x="305" y="0"/>
                      <a:pt x="359" y="20"/>
                      <a:pt x="394" y="54"/>
                    </a:cubicBezTo>
                    <a:cubicBezTo>
                      <a:pt x="430" y="91"/>
                      <a:pt x="446" y="144"/>
                      <a:pt x="446" y="209"/>
                    </a:cubicBezTo>
                    <a:cubicBezTo>
                      <a:pt x="446" y="491"/>
                      <a:pt x="446" y="491"/>
                      <a:pt x="446" y="491"/>
                    </a:cubicBezTo>
                    <a:cubicBezTo>
                      <a:pt x="313" y="491"/>
                      <a:pt x="313" y="491"/>
                      <a:pt x="313" y="491"/>
                    </a:cubicBezTo>
                    <a:cubicBezTo>
                      <a:pt x="313" y="438"/>
                      <a:pt x="313" y="438"/>
                      <a:pt x="313" y="438"/>
                    </a:cubicBezTo>
                    <a:cubicBezTo>
                      <a:pt x="280" y="475"/>
                      <a:pt x="234" y="500"/>
                      <a:pt x="167" y="500"/>
                    </a:cubicBezTo>
                    <a:cubicBezTo>
                      <a:pt x="75" y="500"/>
                      <a:pt x="0" y="447"/>
                      <a:pt x="0" y="351"/>
                    </a:cubicBezTo>
                    <a:close/>
                    <a:moveTo>
                      <a:pt x="316" y="320"/>
                    </a:moveTo>
                    <a:cubicBezTo>
                      <a:pt x="316" y="295"/>
                      <a:pt x="316" y="295"/>
                      <a:pt x="316" y="295"/>
                    </a:cubicBezTo>
                    <a:cubicBezTo>
                      <a:pt x="292" y="284"/>
                      <a:pt x="262" y="277"/>
                      <a:pt x="228" y="277"/>
                    </a:cubicBezTo>
                    <a:cubicBezTo>
                      <a:pt x="169" y="277"/>
                      <a:pt x="133" y="301"/>
                      <a:pt x="133" y="344"/>
                    </a:cubicBezTo>
                    <a:cubicBezTo>
                      <a:pt x="133" y="346"/>
                      <a:pt x="133" y="346"/>
                      <a:pt x="133" y="346"/>
                    </a:cubicBezTo>
                    <a:cubicBezTo>
                      <a:pt x="133" y="383"/>
                      <a:pt x="164" y="405"/>
                      <a:pt x="208" y="405"/>
                    </a:cubicBezTo>
                    <a:cubicBezTo>
                      <a:pt x="272" y="405"/>
                      <a:pt x="316" y="369"/>
                      <a:pt x="316" y="3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3" name="Rectangle 26">
                <a:extLst>
                  <a:ext uri="{FF2B5EF4-FFF2-40B4-BE49-F238E27FC236}">
                    <a16:creationId xmlns:a16="http://schemas.microsoft.com/office/drawing/2014/main" id="{2F1B0169-414B-8F53-D204-E4FC9132C39A}"/>
                  </a:ext>
                </a:extLst>
              </p:cNvPr>
              <p:cNvSpPr>
                <a:spLocks noChangeArrowheads="1"/>
              </p:cNvSpPr>
              <p:nvPr userDrawn="1"/>
            </p:nvSpPr>
            <p:spPr bwMode="auto">
              <a:xfrm>
                <a:off x="6801973" y="1260831"/>
                <a:ext cx="59843"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4" name="Rectangle 27">
                <a:extLst>
                  <a:ext uri="{FF2B5EF4-FFF2-40B4-BE49-F238E27FC236}">
                    <a16:creationId xmlns:a16="http://schemas.microsoft.com/office/drawing/2014/main" id="{FD3CEF0B-9316-CAAF-B811-7977EA0FDC71}"/>
                  </a:ext>
                </a:extLst>
              </p:cNvPr>
              <p:cNvSpPr>
                <a:spLocks noChangeArrowheads="1"/>
              </p:cNvSpPr>
              <p:nvPr userDrawn="1"/>
            </p:nvSpPr>
            <p:spPr bwMode="auto">
              <a:xfrm>
                <a:off x="6886639" y="1260831"/>
                <a:ext cx="59399" cy="2876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64" name="Rectangle 28">
              <a:extLst>
                <a:ext uri="{FF2B5EF4-FFF2-40B4-BE49-F238E27FC236}">
                  <a16:creationId xmlns:a16="http://schemas.microsoft.com/office/drawing/2014/main" id="{C44969F7-1BF0-A4FA-F4EB-8003272D98C6}"/>
                </a:ext>
              </a:extLst>
            </p:cNvPr>
            <p:cNvSpPr>
              <a:spLocks noChangeArrowheads="1"/>
            </p:cNvSpPr>
            <p:nvPr userDrawn="1"/>
          </p:nvSpPr>
          <p:spPr bwMode="auto">
            <a:xfrm>
              <a:off x="11556230" y="767096"/>
              <a:ext cx="634181" cy="1898696"/>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grpSp>
          <p:nvGrpSpPr>
            <p:cNvPr id="65" name="Group 64">
              <a:extLst>
                <a:ext uri="{FF2B5EF4-FFF2-40B4-BE49-F238E27FC236}">
                  <a16:creationId xmlns:a16="http://schemas.microsoft.com/office/drawing/2014/main" id="{5AB97A83-AA92-5D2A-D89F-2B85130F597F}"/>
                </a:ext>
              </a:extLst>
            </p:cNvPr>
            <p:cNvGrpSpPr/>
            <p:nvPr userDrawn="1"/>
          </p:nvGrpSpPr>
          <p:grpSpPr>
            <a:xfrm>
              <a:off x="11701122" y="936748"/>
              <a:ext cx="321494" cy="1552800"/>
              <a:chOff x="7313961" y="501936"/>
              <a:chExt cx="323594" cy="1566108"/>
            </a:xfrm>
          </p:grpSpPr>
          <p:sp>
            <p:nvSpPr>
              <p:cNvPr id="66" name="Freeform 29">
                <a:extLst>
                  <a:ext uri="{FF2B5EF4-FFF2-40B4-BE49-F238E27FC236}">
                    <a16:creationId xmlns:a16="http://schemas.microsoft.com/office/drawing/2014/main" id="{93913DCE-D7C5-993F-1CBD-D671F4E01A37}"/>
                  </a:ext>
                </a:extLst>
              </p:cNvPr>
              <p:cNvSpPr>
                <a:spLocks/>
              </p:cNvSpPr>
              <p:nvPr userDrawn="1"/>
            </p:nvSpPr>
            <p:spPr bwMode="auto">
              <a:xfrm>
                <a:off x="7383556" y="1311808"/>
                <a:ext cx="249567" cy="247350"/>
              </a:xfrm>
              <a:custGeom>
                <a:avLst/>
                <a:gdLst>
                  <a:gd name="T0" fmla="*/ 0 w 574"/>
                  <a:gd name="T1" fmla="*/ 229 h 569"/>
                  <a:gd name="T2" fmla="*/ 90 w 574"/>
                  <a:gd name="T3" fmla="*/ 413 h 569"/>
                  <a:gd name="T4" fmla="*/ 90 w 574"/>
                  <a:gd name="T5" fmla="*/ 413 h 569"/>
                  <a:gd name="T6" fmla="*/ 90 w 574"/>
                  <a:gd name="T7" fmla="*/ 413 h 569"/>
                  <a:gd name="T8" fmla="*/ 9 w 574"/>
                  <a:gd name="T9" fmla="*/ 413 h 569"/>
                  <a:gd name="T10" fmla="*/ 9 w 574"/>
                  <a:gd name="T11" fmla="*/ 569 h 569"/>
                  <a:gd name="T12" fmla="*/ 574 w 574"/>
                  <a:gd name="T13" fmla="*/ 569 h 569"/>
                  <a:gd name="T14" fmla="*/ 574 w 574"/>
                  <a:gd name="T15" fmla="*/ 413 h 569"/>
                  <a:gd name="T16" fmla="*/ 253 w 574"/>
                  <a:gd name="T17" fmla="*/ 413 h 569"/>
                  <a:gd name="T18" fmla="*/ 133 w 574"/>
                  <a:gd name="T19" fmla="*/ 286 h 569"/>
                  <a:gd name="T20" fmla="*/ 253 w 574"/>
                  <a:gd name="T21" fmla="*/ 155 h 569"/>
                  <a:gd name="T22" fmla="*/ 574 w 574"/>
                  <a:gd name="T23" fmla="*/ 155 h 569"/>
                  <a:gd name="T24" fmla="*/ 574 w 574"/>
                  <a:gd name="T25" fmla="*/ 0 h 569"/>
                  <a:gd name="T26" fmla="*/ 224 w 574"/>
                  <a:gd name="T27" fmla="*/ 0 h 569"/>
                  <a:gd name="T28" fmla="*/ 0 w 574"/>
                  <a:gd name="T29" fmla="*/ 229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4" h="569">
                    <a:moveTo>
                      <a:pt x="0" y="229"/>
                    </a:moveTo>
                    <a:cubicBezTo>
                      <a:pt x="0" y="294"/>
                      <a:pt x="30" y="368"/>
                      <a:pt x="90" y="413"/>
                    </a:cubicBezTo>
                    <a:cubicBezTo>
                      <a:pt x="90" y="413"/>
                      <a:pt x="90" y="413"/>
                      <a:pt x="90" y="413"/>
                    </a:cubicBezTo>
                    <a:cubicBezTo>
                      <a:pt x="90" y="413"/>
                      <a:pt x="90" y="413"/>
                      <a:pt x="90" y="413"/>
                    </a:cubicBezTo>
                    <a:cubicBezTo>
                      <a:pt x="9" y="413"/>
                      <a:pt x="9" y="413"/>
                      <a:pt x="9" y="413"/>
                    </a:cubicBezTo>
                    <a:cubicBezTo>
                      <a:pt x="9" y="569"/>
                      <a:pt x="9" y="569"/>
                      <a:pt x="9" y="569"/>
                    </a:cubicBezTo>
                    <a:cubicBezTo>
                      <a:pt x="574" y="569"/>
                      <a:pt x="574" y="569"/>
                      <a:pt x="574" y="569"/>
                    </a:cubicBezTo>
                    <a:cubicBezTo>
                      <a:pt x="574" y="413"/>
                      <a:pt x="574" y="413"/>
                      <a:pt x="574" y="413"/>
                    </a:cubicBezTo>
                    <a:cubicBezTo>
                      <a:pt x="253" y="413"/>
                      <a:pt x="253" y="413"/>
                      <a:pt x="253" y="413"/>
                    </a:cubicBezTo>
                    <a:cubicBezTo>
                      <a:pt x="195" y="413"/>
                      <a:pt x="133" y="369"/>
                      <a:pt x="133" y="286"/>
                    </a:cubicBezTo>
                    <a:cubicBezTo>
                      <a:pt x="133" y="221"/>
                      <a:pt x="178" y="155"/>
                      <a:pt x="253" y="155"/>
                    </a:cubicBezTo>
                    <a:cubicBezTo>
                      <a:pt x="574" y="155"/>
                      <a:pt x="574" y="155"/>
                      <a:pt x="574" y="155"/>
                    </a:cubicBezTo>
                    <a:cubicBezTo>
                      <a:pt x="574" y="0"/>
                      <a:pt x="574" y="0"/>
                      <a:pt x="574" y="0"/>
                    </a:cubicBezTo>
                    <a:cubicBezTo>
                      <a:pt x="224" y="0"/>
                      <a:pt x="224" y="0"/>
                      <a:pt x="224" y="0"/>
                    </a:cubicBezTo>
                    <a:cubicBezTo>
                      <a:pt x="94" y="0"/>
                      <a:pt x="0" y="93"/>
                      <a:pt x="0" y="22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7" name="Freeform 30">
                <a:extLst>
                  <a:ext uri="{FF2B5EF4-FFF2-40B4-BE49-F238E27FC236}">
                    <a16:creationId xmlns:a16="http://schemas.microsoft.com/office/drawing/2014/main" id="{6D0A5711-84F8-6852-FC23-C9222B8AB056}"/>
                  </a:ext>
                </a:extLst>
              </p:cNvPr>
              <p:cNvSpPr>
                <a:spLocks/>
              </p:cNvSpPr>
              <p:nvPr userDrawn="1"/>
            </p:nvSpPr>
            <p:spPr bwMode="auto">
              <a:xfrm>
                <a:off x="7387546" y="755049"/>
                <a:ext cx="245577" cy="276163"/>
              </a:xfrm>
              <a:custGeom>
                <a:avLst/>
                <a:gdLst>
                  <a:gd name="T0" fmla="*/ 0 w 554"/>
                  <a:gd name="T1" fmla="*/ 174 h 623"/>
                  <a:gd name="T2" fmla="*/ 377 w 554"/>
                  <a:gd name="T3" fmla="*/ 311 h 623"/>
                  <a:gd name="T4" fmla="*/ 0 w 554"/>
                  <a:gd name="T5" fmla="*/ 450 h 623"/>
                  <a:gd name="T6" fmla="*/ 0 w 554"/>
                  <a:gd name="T7" fmla="*/ 623 h 623"/>
                  <a:gd name="T8" fmla="*/ 554 w 554"/>
                  <a:gd name="T9" fmla="*/ 395 h 623"/>
                  <a:gd name="T10" fmla="*/ 554 w 554"/>
                  <a:gd name="T11" fmla="*/ 228 h 623"/>
                  <a:gd name="T12" fmla="*/ 0 w 554"/>
                  <a:gd name="T13" fmla="*/ 0 h 623"/>
                  <a:gd name="T14" fmla="*/ 0 w 554"/>
                  <a:gd name="T15" fmla="*/ 174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623">
                    <a:moveTo>
                      <a:pt x="0" y="174"/>
                    </a:moveTo>
                    <a:lnTo>
                      <a:pt x="377" y="311"/>
                    </a:lnTo>
                    <a:lnTo>
                      <a:pt x="0" y="450"/>
                    </a:lnTo>
                    <a:lnTo>
                      <a:pt x="0" y="623"/>
                    </a:lnTo>
                    <a:lnTo>
                      <a:pt x="554" y="395"/>
                    </a:lnTo>
                    <a:lnTo>
                      <a:pt x="554" y="228"/>
                    </a:lnTo>
                    <a:lnTo>
                      <a:pt x="0" y="0"/>
                    </a:lnTo>
                    <a:lnTo>
                      <a:pt x="0"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8" name="Freeform 31">
                <a:extLst>
                  <a:ext uri="{FF2B5EF4-FFF2-40B4-BE49-F238E27FC236}">
                    <a16:creationId xmlns:a16="http://schemas.microsoft.com/office/drawing/2014/main" id="{185085EF-D1B3-20ED-1267-AC7FAB1644FE}"/>
                  </a:ext>
                </a:extLst>
              </p:cNvPr>
              <p:cNvSpPr>
                <a:spLocks noEditPoints="1"/>
              </p:cNvSpPr>
              <p:nvPr userDrawn="1"/>
            </p:nvSpPr>
            <p:spPr bwMode="auto">
              <a:xfrm>
                <a:off x="7383556" y="1583096"/>
                <a:ext cx="253999" cy="256659"/>
              </a:xfrm>
              <a:custGeom>
                <a:avLst/>
                <a:gdLst>
                  <a:gd name="T0" fmla="*/ 401 w 584"/>
                  <a:gd name="T1" fmla="*/ 110 h 590"/>
                  <a:gd name="T2" fmla="*/ 460 w 584"/>
                  <a:gd name="T3" fmla="*/ 272 h 590"/>
                  <a:gd name="T4" fmla="*/ 415 w 584"/>
                  <a:gd name="T5" fmla="*/ 397 h 590"/>
                  <a:gd name="T6" fmla="*/ 250 w 584"/>
                  <a:gd name="T7" fmla="*/ 0 h 590"/>
                  <a:gd name="T8" fmla="*/ 92 w 584"/>
                  <a:gd name="T9" fmla="*/ 68 h 590"/>
                  <a:gd name="T10" fmla="*/ 0 w 584"/>
                  <a:gd name="T11" fmla="*/ 291 h 590"/>
                  <a:gd name="T12" fmla="*/ 292 w 584"/>
                  <a:gd name="T13" fmla="*/ 590 h 590"/>
                  <a:gd name="T14" fmla="*/ 584 w 584"/>
                  <a:gd name="T15" fmla="*/ 274 h 590"/>
                  <a:gd name="T16" fmla="*/ 476 w 584"/>
                  <a:gd name="T17" fmla="*/ 12 h 590"/>
                  <a:gd name="T18" fmla="*/ 401 w 584"/>
                  <a:gd name="T19" fmla="*/ 110 h 590"/>
                  <a:gd name="T20" fmla="*/ 179 w 584"/>
                  <a:gd name="T21" fmla="*/ 408 h 590"/>
                  <a:gd name="T22" fmla="*/ 123 w 584"/>
                  <a:gd name="T23" fmla="*/ 288 h 590"/>
                  <a:gd name="T24" fmla="*/ 202 w 584"/>
                  <a:gd name="T25" fmla="*/ 168 h 590"/>
                  <a:gd name="T26" fmla="*/ 315 w 584"/>
                  <a:gd name="T27" fmla="*/ 439 h 590"/>
                  <a:gd name="T28" fmla="*/ 179 w 584"/>
                  <a:gd name="T29" fmla="*/ 408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4" h="590">
                    <a:moveTo>
                      <a:pt x="401" y="110"/>
                    </a:moveTo>
                    <a:cubicBezTo>
                      <a:pt x="449" y="175"/>
                      <a:pt x="460" y="212"/>
                      <a:pt x="460" y="272"/>
                    </a:cubicBezTo>
                    <a:cubicBezTo>
                      <a:pt x="460" y="325"/>
                      <a:pt x="444" y="367"/>
                      <a:pt x="415" y="397"/>
                    </a:cubicBezTo>
                    <a:cubicBezTo>
                      <a:pt x="250" y="0"/>
                      <a:pt x="250" y="0"/>
                      <a:pt x="250" y="0"/>
                    </a:cubicBezTo>
                    <a:cubicBezTo>
                      <a:pt x="189" y="9"/>
                      <a:pt x="134" y="32"/>
                      <a:pt x="92" y="68"/>
                    </a:cubicBezTo>
                    <a:cubicBezTo>
                      <a:pt x="32" y="120"/>
                      <a:pt x="0" y="197"/>
                      <a:pt x="0" y="291"/>
                    </a:cubicBezTo>
                    <a:cubicBezTo>
                      <a:pt x="0" y="462"/>
                      <a:pt x="126" y="590"/>
                      <a:pt x="292" y="590"/>
                    </a:cubicBezTo>
                    <a:cubicBezTo>
                      <a:pt x="462" y="590"/>
                      <a:pt x="584" y="462"/>
                      <a:pt x="584" y="274"/>
                    </a:cubicBezTo>
                    <a:cubicBezTo>
                      <a:pt x="584" y="169"/>
                      <a:pt x="534" y="62"/>
                      <a:pt x="476" y="12"/>
                    </a:cubicBezTo>
                    <a:lnTo>
                      <a:pt x="401" y="110"/>
                    </a:lnTo>
                    <a:close/>
                    <a:moveTo>
                      <a:pt x="179" y="408"/>
                    </a:moveTo>
                    <a:cubicBezTo>
                      <a:pt x="144" y="381"/>
                      <a:pt x="123" y="339"/>
                      <a:pt x="123" y="288"/>
                    </a:cubicBezTo>
                    <a:cubicBezTo>
                      <a:pt x="123" y="232"/>
                      <a:pt x="155" y="190"/>
                      <a:pt x="202" y="168"/>
                    </a:cubicBezTo>
                    <a:cubicBezTo>
                      <a:pt x="315" y="439"/>
                      <a:pt x="315" y="439"/>
                      <a:pt x="315" y="439"/>
                    </a:cubicBezTo>
                    <a:cubicBezTo>
                      <a:pt x="257" y="447"/>
                      <a:pt x="212" y="432"/>
                      <a:pt x="179" y="4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9" name="Freeform 32">
                <a:extLst>
                  <a:ext uri="{FF2B5EF4-FFF2-40B4-BE49-F238E27FC236}">
                    <a16:creationId xmlns:a16="http://schemas.microsoft.com/office/drawing/2014/main" id="{8434C32D-C325-1F32-5E19-6C9FC933AC3B}"/>
                  </a:ext>
                </a:extLst>
              </p:cNvPr>
              <p:cNvSpPr>
                <a:spLocks/>
              </p:cNvSpPr>
              <p:nvPr userDrawn="1"/>
            </p:nvSpPr>
            <p:spPr bwMode="auto">
              <a:xfrm>
                <a:off x="7313961" y="1846404"/>
                <a:ext cx="319161" cy="221640"/>
              </a:xfrm>
              <a:custGeom>
                <a:avLst/>
                <a:gdLst>
                  <a:gd name="T0" fmla="*/ 580 w 720"/>
                  <a:gd name="T1" fmla="*/ 0 h 500"/>
                  <a:gd name="T2" fmla="*/ 580 w 720"/>
                  <a:gd name="T3" fmla="*/ 346 h 500"/>
                  <a:gd name="T4" fmla="*/ 0 w 720"/>
                  <a:gd name="T5" fmla="*/ 346 h 500"/>
                  <a:gd name="T6" fmla="*/ 0 w 720"/>
                  <a:gd name="T7" fmla="*/ 500 h 500"/>
                  <a:gd name="T8" fmla="*/ 720 w 720"/>
                  <a:gd name="T9" fmla="*/ 500 h 500"/>
                  <a:gd name="T10" fmla="*/ 720 w 720"/>
                  <a:gd name="T11" fmla="*/ 0 h 500"/>
                  <a:gd name="T12" fmla="*/ 580 w 720"/>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720" h="500">
                    <a:moveTo>
                      <a:pt x="580" y="0"/>
                    </a:moveTo>
                    <a:lnTo>
                      <a:pt x="580" y="346"/>
                    </a:lnTo>
                    <a:lnTo>
                      <a:pt x="0" y="346"/>
                    </a:lnTo>
                    <a:lnTo>
                      <a:pt x="0" y="500"/>
                    </a:lnTo>
                    <a:lnTo>
                      <a:pt x="720" y="500"/>
                    </a:lnTo>
                    <a:lnTo>
                      <a:pt x="720" y="0"/>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33">
                <a:extLst>
                  <a:ext uri="{FF2B5EF4-FFF2-40B4-BE49-F238E27FC236}">
                    <a16:creationId xmlns:a16="http://schemas.microsoft.com/office/drawing/2014/main" id="{A281B950-B57F-4814-65C4-87F843CA0E1C}"/>
                  </a:ext>
                </a:extLst>
              </p:cNvPr>
              <p:cNvSpPr>
                <a:spLocks noEditPoints="1"/>
              </p:cNvSpPr>
              <p:nvPr userDrawn="1"/>
            </p:nvSpPr>
            <p:spPr bwMode="auto">
              <a:xfrm>
                <a:off x="7383556" y="501936"/>
                <a:ext cx="253999" cy="263752"/>
              </a:xfrm>
              <a:custGeom>
                <a:avLst/>
                <a:gdLst>
                  <a:gd name="T0" fmla="*/ 584 w 584"/>
                  <a:gd name="T1" fmla="*/ 304 h 607"/>
                  <a:gd name="T2" fmla="*/ 292 w 584"/>
                  <a:gd name="T3" fmla="*/ 607 h 607"/>
                  <a:gd name="T4" fmla="*/ 0 w 584"/>
                  <a:gd name="T5" fmla="*/ 302 h 607"/>
                  <a:gd name="T6" fmla="*/ 292 w 584"/>
                  <a:gd name="T7" fmla="*/ 0 h 607"/>
                  <a:gd name="T8" fmla="*/ 584 w 584"/>
                  <a:gd name="T9" fmla="*/ 304 h 607"/>
                  <a:gd name="T10" fmla="*/ 133 w 584"/>
                  <a:gd name="T11" fmla="*/ 304 h 607"/>
                  <a:gd name="T12" fmla="*/ 292 w 584"/>
                  <a:gd name="T13" fmla="*/ 454 h 607"/>
                  <a:gd name="T14" fmla="*/ 451 w 584"/>
                  <a:gd name="T15" fmla="*/ 302 h 607"/>
                  <a:gd name="T16" fmla="*/ 292 w 584"/>
                  <a:gd name="T17" fmla="*/ 153 h 607"/>
                  <a:gd name="T18" fmla="*/ 133 w 584"/>
                  <a:gd name="T19" fmla="*/ 304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4"/>
                    </a:moveTo>
                    <a:cubicBezTo>
                      <a:pt x="584" y="474"/>
                      <a:pt x="457" y="607"/>
                      <a:pt x="292" y="607"/>
                    </a:cubicBezTo>
                    <a:cubicBezTo>
                      <a:pt x="128" y="607"/>
                      <a:pt x="0" y="473"/>
                      <a:pt x="0" y="302"/>
                    </a:cubicBezTo>
                    <a:cubicBezTo>
                      <a:pt x="0" y="133"/>
                      <a:pt x="126" y="0"/>
                      <a:pt x="292" y="0"/>
                    </a:cubicBezTo>
                    <a:cubicBezTo>
                      <a:pt x="455" y="0"/>
                      <a:pt x="584" y="133"/>
                      <a:pt x="584" y="304"/>
                    </a:cubicBezTo>
                    <a:moveTo>
                      <a:pt x="133" y="304"/>
                    </a:moveTo>
                    <a:cubicBezTo>
                      <a:pt x="133" y="391"/>
                      <a:pt x="198" y="454"/>
                      <a:pt x="292" y="454"/>
                    </a:cubicBezTo>
                    <a:cubicBezTo>
                      <a:pt x="381" y="454"/>
                      <a:pt x="451" y="387"/>
                      <a:pt x="451" y="302"/>
                    </a:cubicBezTo>
                    <a:cubicBezTo>
                      <a:pt x="451" y="216"/>
                      <a:pt x="383" y="153"/>
                      <a:pt x="292" y="153"/>
                    </a:cubicBezTo>
                    <a:cubicBezTo>
                      <a:pt x="203" y="153"/>
                      <a:pt x="133" y="219"/>
                      <a:pt x="133" y="30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34">
                <a:extLst>
                  <a:ext uri="{FF2B5EF4-FFF2-40B4-BE49-F238E27FC236}">
                    <a16:creationId xmlns:a16="http://schemas.microsoft.com/office/drawing/2014/main" id="{EE465ED6-53DE-A385-42CB-0B5A75477346}"/>
                  </a:ext>
                </a:extLst>
              </p:cNvPr>
              <p:cNvSpPr>
                <a:spLocks noEditPoints="1"/>
              </p:cNvSpPr>
              <p:nvPr userDrawn="1"/>
            </p:nvSpPr>
            <p:spPr bwMode="auto">
              <a:xfrm>
                <a:off x="7383556" y="1021017"/>
                <a:ext cx="253999" cy="263752"/>
              </a:xfrm>
              <a:custGeom>
                <a:avLst/>
                <a:gdLst>
                  <a:gd name="T0" fmla="*/ 584 w 584"/>
                  <a:gd name="T1" fmla="*/ 305 h 607"/>
                  <a:gd name="T2" fmla="*/ 292 w 584"/>
                  <a:gd name="T3" fmla="*/ 607 h 607"/>
                  <a:gd name="T4" fmla="*/ 0 w 584"/>
                  <a:gd name="T5" fmla="*/ 303 h 607"/>
                  <a:gd name="T6" fmla="*/ 292 w 584"/>
                  <a:gd name="T7" fmla="*/ 0 h 607"/>
                  <a:gd name="T8" fmla="*/ 584 w 584"/>
                  <a:gd name="T9" fmla="*/ 305 h 607"/>
                  <a:gd name="T10" fmla="*/ 133 w 584"/>
                  <a:gd name="T11" fmla="*/ 305 h 607"/>
                  <a:gd name="T12" fmla="*/ 292 w 584"/>
                  <a:gd name="T13" fmla="*/ 454 h 607"/>
                  <a:gd name="T14" fmla="*/ 451 w 584"/>
                  <a:gd name="T15" fmla="*/ 303 h 607"/>
                  <a:gd name="T16" fmla="*/ 292 w 584"/>
                  <a:gd name="T17" fmla="*/ 153 h 607"/>
                  <a:gd name="T18" fmla="*/ 133 w 584"/>
                  <a:gd name="T19" fmla="*/ 30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607">
                    <a:moveTo>
                      <a:pt x="584" y="305"/>
                    </a:moveTo>
                    <a:cubicBezTo>
                      <a:pt x="584" y="474"/>
                      <a:pt x="457" y="607"/>
                      <a:pt x="292" y="607"/>
                    </a:cubicBezTo>
                    <a:cubicBezTo>
                      <a:pt x="128" y="607"/>
                      <a:pt x="0" y="474"/>
                      <a:pt x="0" y="303"/>
                    </a:cubicBezTo>
                    <a:cubicBezTo>
                      <a:pt x="0" y="133"/>
                      <a:pt x="126" y="0"/>
                      <a:pt x="292" y="0"/>
                    </a:cubicBezTo>
                    <a:cubicBezTo>
                      <a:pt x="455" y="0"/>
                      <a:pt x="584" y="134"/>
                      <a:pt x="584" y="305"/>
                    </a:cubicBezTo>
                    <a:moveTo>
                      <a:pt x="133" y="305"/>
                    </a:moveTo>
                    <a:cubicBezTo>
                      <a:pt x="133" y="391"/>
                      <a:pt x="198" y="454"/>
                      <a:pt x="292" y="454"/>
                    </a:cubicBezTo>
                    <a:cubicBezTo>
                      <a:pt x="381" y="454"/>
                      <a:pt x="451" y="388"/>
                      <a:pt x="451" y="303"/>
                    </a:cubicBezTo>
                    <a:cubicBezTo>
                      <a:pt x="451" y="216"/>
                      <a:pt x="383" y="153"/>
                      <a:pt x="292" y="153"/>
                    </a:cubicBezTo>
                    <a:cubicBezTo>
                      <a:pt x="203" y="153"/>
                      <a:pt x="133" y="220"/>
                      <a:pt x="133" y="30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grpSp>
        <p:nvGrpSpPr>
          <p:cNvPr id="42" name="Group 41">
            <a:extLst>
              <a:ext uri="{FF2B5EF4-FFF2-40B4-BE49-F238E27FC236}">
                <a16:creationId xmlns:a16="http://schemas.microsoft.com/office/drawing/2014/main" id="{320E6808-E70B-FA4B-99F6-1C02BBC16598}"/>
              </a:ext>
            </a:extLst>
          </p:cNvPr>
          <p:cNvGrpSpPr/>
          <p:nvPr userDrawn="1"/>
        </p:nvGrpSpPr>
        <p:grpSpPr>
          <a:xfrm>
            <a:off x="1539348" y="3561908"/>
            <a:ext cx="7853422" cy="1769127"/>
            <a:chOff x="541049" y="2649538"/>
            <a:chExt cx="9285724" cy="2092325"/>
          </a:xfrm>
          <a:solidFill>
            <a:schemeClr val="bg1"/>
          </a:solidFill>
        </p:grpSpPr>
        <p:sp>
          <p:nvSpPr>
            <p:cNvPr id="43" name="Freeform 5">
              <a:extLst>
                <a:ext uri="{FF2B5EF4-FFF2-40B4-BE49-F238E27FC236}">
                  <a16:creationId xmlns:a16="http://schemas.microsoft.com/office/drawing/2014/main" id="{4C297CEF-136F-B1B7-09B1-55E4D7563FDB}"/>
                </a:ext>
              </a:extLst>
            </p:cNvPr>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4" name="Freeform 6">
              <a:extLst>
                <a:ext uri="{FF2B5EF4-FFF2-40B4-BE49-F238E27FC236}">
                  <a16:creationId xmlns:a16="http://schemas.microsoft.com/office/drawing/2014/main" id="{622BAF6B-1742-15FD-B0EB-40B8C3DC1168}"/>
                </a:ext>
              </a:extLst>
            </p:cNvPr>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5" name="Freeform 7">
              <a:extLst>
                <a:ext uri="{FF2B5EF4-FFF2-40B4-BE49-F238E27FC236}">
                  <a16:creationId xmlns:a16="http://schemas.microsoft.com/office/drawing/2014/main" id="{788B3367-A4C9-CCD9-A688-1D2826A4B010}"/>
                </a:ext>
              </a:extLst>
            </p:cNvPr>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3" name="Freeform 8">
              <a:extLst>
                <a:ext uri="{FF2B5EF4-FFF2-40B4-BE49-F238E27FC236}">
                  <a16:creationId xmlns:a16="http://schemas.microsoft.com/office/drawing/2014/main" id="{E75C15B3-8177-7E6B-C4A7-1B9D3FB9D027}"/>
                </a:ext>
              </a:extLst>
            </p:cNvPr>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4" name="Freeform 9">
              <a:extLst>
                <a:ext uri="{FF2B5EF4-FFF2-40B4-BE49-F238E27FC236}">
                  <a16:creationId xmlns:a16="http://schemas.microsoft.com/office/drawing/2014/main" id="{AA27F0F6-EBAD-77B3-0964-617F5FC5A0BD}"/>
                </a:ext>
              </a:extLst>
            </p:cNvPr>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5" name="Freeform 10">
              <a:extLst>
                <a:ext uri="{FF2B5EF4-FFF2-40B4-BE49-F238E27FC236}">
                  <a16:creationId xmlns:a16="http://schemas.microsoft.com/office/drawing/2014/main" id="{0D449E32-BCCB-5FA7-37E4-30FF7569B638}"/>
                </a:ext>
              </a:extLst>
            </p:cNvPr>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56" name="Oval 11">
              <a:extLst>
                <a:ext uri="{FF2B5EF4-FFF2-40B4-BE49-F238E27FC236}">
                  <a16:creationId xmlns:a16="http://schemas.microsoft.com/office/drawing/2014/main" id="{DF4FD3AA-2A1C-04CA-7759-A7926327B4AA}"/>
                </a:ext>
              </a:extLst>
            </p:cNvPr>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Tree>
    <p:extLst>
      <p:ext uri="{BB962C8B-B14F-4D97-AF65-F5344CB8AC3E}">
        <p14:creationId xmlns:p14="http://schemas.microsoft.com/office/powerpoint/2010/main" val="1396516781"/>
      </p:ext>
    </p:extLst>
  </p:cSld>
  <p:clrMapOvr>
    <a:masterClrMapping/>
  </p:clrMapOvr>
  <p:transition spd="med"/>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99A0C0A2-1C95-CF60-15E7-57B445A8992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299016692"/>
      </p:ext>
    </p:extLst>
  </p:cSld>
  <p:clrMapOvr>
    <a:masterClrMapping/>
  </p:clrMapOvr>
  <p:transition spd="med"/>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1" y="1308880"/>
            <a:ext cx="1067382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 name="Slide Number Placeholder 1">
            <a:extLst>
              <a:ext uri="{FF2B5EF4-FFF2-40B4-BE49-F238E27FC236}">
                <a16:creationId xmlns:a16="http://schemas.microsoft.com/office/drawing/2014/main" id="{0BC5559F-D4D6-DA53-A720-07C2A2D68FA6}"/>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801951450"/>
      </p:ext>
    </p:extLst>
  </p:cSld>
  <p:clrMapOvr>
    <a:masterClrMapping/>
  </p:clrMapOvr>
  <p:transition spd="med"/>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preserve="1" userDrawn="1">
  <p:cSld name="1_Title and Content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2" y="1308880"/>
            <a:ext cx="1067077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 name="Slide Number Placeholder 1">
            <a:extLst>
              <a:ext uri="{FF2B5EF4-FFF2-40B4-BE49-F238E27FC236}">
                <a16:creationId xmlns:a16="http://schemas.microsoft.com/office/drawing/2014/main" id="{2B190EFC-69A6-D92C-008E-75B891AE7709}"/>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175664378"/>
      </p:ext>
    </p:extLst>
  </p:cSld>
  <p:clrMapOvr>
    <a:masterClrMapping/>
  </p:clrMapOvr>
  <p:transition spd="med"/>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1_Title with Subtitle Content">
    <p:bg>
      <p:bgPr>
        <a:solidFill>
          <a:schemeClr val="bg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0" y="1749388"/>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3" name="Text Placeholder 2"/>
          <p:cNvSpPr>
            <a:spLocks noGrp="1"/>
          </p:cNvSpPr>
          <p:nvPr>
            <p:ph type="body" idx="10"/>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zh-CN" altLang="en-US"/>
              <a:t>单击此处编辑母版文本样式</a:t>
            </a:r>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827BD319-CE6A-C56C-FAF4-F7D3C4B20C07}"/>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598121543"/>
      </p:ext>
    </p:extLst>
  </p:cSld>
  <p:clrMapOvr>
    <a:masterClrMapping/>
  </p:clrMapOvr>
  <p:transition spd="med"/>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preserve="1" userDrawn="1">
  <p:cSld name="1_Title with Subtitle Content_Black">
    <p:bg>
      <p:bgPr>
        <a:solidFill>
          <a:srgbClr val="1E0113"/>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760610" y="1749389"/>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bg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2F390D5-FAC3-3E07-D977-2FACDFA7E866}"/>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719660330"/>
      </p:ext>
    </p:extLst>
  </p:cSld>
  <p:clrMapOvr>
    <a:masterClrMapping/>
  </p:clrMapOvr>
  <p:transition spd="med"/>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_Two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3"/>
            <a:ext cx="5070324"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0" name="Content Placeholder 2"/>
          <p:cNvSpPr>
            <a:spLocks noGrp="1"/>
          </p:cNvSpPr>
          <p:nvPr>
            <p:ph sz="half" idx="14"/>
          </p:nvPr>
        </p:nvSpPr>
        <p:spPr bwMode="gray">
          <a:xfrm>
            <a:off x="6340962" y="1307593"/>
            <a:ext cx="5067096"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 name="Slide Number Placeholder 1">
            <a:extLst>
              <a:ext uri="{FF2B5EF4-FFF2-40B4-BE49-F238E27FC236}">
                <a16:creationId xmlns:a16="http://schemas.microsoft.com/office/drawing/2014/main" id="{02FE5186-E704-46DB-A234-0339427F829C}"/>
              </a:ext>
            </a:extLst>
          </p:cNvPr>
          <p:cNvSpPr>
            <a:spLocks noGrp="1"/>
          </p:cNvSpPr>
          <p:nvPr>
            <p:ph type="sldNum" sz="quarter" idx="15"/>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96609977"/>
      </p:ext>
    </p:extLst>
  </p:cSld>
  <p:clrMapOvr>
    <a:masterClrMapping/>
  </p:clrMapOvr>
  <p:transition spd="med"/>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preserve="1" userDrawn="1">
  <p:cSld name="1_Two Column Slide_Black">
    <p:bg>
      <p:bgPr>
        <a:solidFill>
          <a:srgbClr val="1E01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0" y="1307594"/>
            <a:ext cx="5070324"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0" name="Content Placeholder 2"/>
          <p:cNvSpPr>
            <a:spLocks noGrp="1"/>
          </p:cNvSpPr>
          <p:nvPr>
            <p:ph sz="half" idx="14"/>
          </p:nvPr>
        </p:nvSpPr>
        <p:spPr bwMode="gray">
          <a:xfrm>
            <a:off x="6340962" y="1307594"/>
            <a:ext cx="506709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 name="Slide Number Placeholder 1">
            <a:extLst>
              <a:ext uri="{FF2B5EF4-FFF2-40B4-BE49-F238E27FC236}">
                <a16:creationId xmlns:a16="http://schemas.microsoft.com/office/drawing/2014/main" id="{A1D52F52-4191-E70A-A15D-3F4D0CF0AA2B}"/>
              </a:ext>
            </a:extLst>
          </p:cNvPr>
          <p:cNvSpPr>
            <a:spLocks noGrp="1"/>
          </p:cNvSpPr>
          <p:nvPr>
            <p:ph type="sldNum" sz="quarter" idx="15"/>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875329022"/>
      </p:ext>
    </p:extLst>
  </p:cSld>
  <p:clrMapOvr>
    <a:masterClrMapping/>
  </p:clrMapOvr>
  <p:transition spd="med"/>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1_Three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8" name="Content Placeholder 2"/>
          <p:cNvSpPr>
            <a:spLocks noGrp="1"/>
          </p:cNvSpPr>
          <p:nvPr>
            <p:ph sz="half" idx="10"/>
          </p:nvPr>
        </p:nvSpPr>
        <p:spPr bwMode="gray">
          <a:xfrm>
            <a:off x="4378398" y="1307594"/>
            <a:ext cx="3344059"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9" name="Content Placeholder 2"/>
          <p:cNvSpPr>
            <a:spLocks noGrp="1"/>
          </p:cNvSpPr>
          <p:nvPr>
            <p:ph sz="half" idx="11"/>
          </p:nvPr>
        </p:nvSpPr>
        <p:spPr bwMode="gray">
          <a:xfrm>
            <a:off x="8017903" y="1307594"/>
            <a:ext cx="341653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 name="Slide Number Placeholder 1">
            <a:extLst>
              <a:ext uri="{FF2B5EF4-FFF2-40B4-BE49-F238E27FC236}">
                <a16:creationId xmlns:a16="http://schemas.microsoft.com/office/drawing/2014/main" id="{0C61C74C-45BE-3DE8-0DFD-4B97D814FB04}"/>
              </a:ext>
            </a:extLst>
          </p:cNvPr>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842611344"/>
      </p:ext>
    </p:extLst>
  </p:cSld>
  <p:clrMapOvr>
    <a:masterClrMapping/>
  </p:clrMapOvr>
  <p:transition spd="med"/>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preserve="1" userDrawn="1">
  <p:cSld name="1_Three Column Slide_Black">
    <p:bg>
      <p:bgPr>
        <a:solidFill>
          <a:srgbClr val="1E01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8" name="Content Placeholder 2"/>
          <p:cNvSpPr>
            <a:spLocks noGrp="1"/>
          </p:cNvSpPr>
          <p:nvPr>
            <p:ph sz="half" idx="10"/>
          </p:nvPr>
        </p:nvSpPr>
        <p:spPr bwMode="gray">
          <a:xfrm>
            <a:off x="4378399"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9" name="Content Placeholder 2"/>
          <p:cNvSpPr>
            <a:spLocks noGrp="1"/>
          </p:cNvSpPr>
          <p:nvPr>
            <p:ph sz="half" idx="11"/>
          </p:nvPr>
        </p:nvSpPr>
        <p:spPr bwMode="gray">
          <a:xfrm>
            <a:off x="8017903" y="1307594"/>
            <a:ext cx="341653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2" name="Slide Number Placeholder 1">
            <a:extLst>
              <a:ext uri="{FF2B5EF4-FFF2-40B4-BE49-F238E27FC236}">
                <a16:creationId xmlns:a16="http://schemas.microsoft.com/office/drawing/2014/main" id="{3A92B045-EC23-B30D-E716-8FEBB279E86E}"/>
              </a:ext>
            </a:extLst>
          </p:cNvPr>
          <p:cNvSpPr>
            <a:spLocks noGrp="1"/>
          </p:cNvSpPr>
          <p:nvPr>
            <p:ph type="sldNum" sz="quarter" idx="12"/>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226871757"/>
      </p:ext>
    </p:extLst>
  </p:cSld>
  <p:clrMapOvr>
    <a:masterClrMapping/>
  </p:clrMapOvr>
  <p:transition spd="med"/>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1_Title w/Imag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5725006"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3"/>
            <a:ext cx="5725006"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400">
                <a:solidFill>
                  <a:schemeClr val="accent1"/>
                </a:solidFill>
              </a:defRPr>
            </a:lvl1pPr>
          </a:lstStyle>
          <a:p>
            <a:r>
              <a:rPr lang="zh-CN" altLang="en-US"/>
              <a:t>单击图标添加图片</a:t>
            </a:r>
            <a:endParaRPr lang="en-US"/>
          </a:p>
        </p:txBody>
      </p:sp>
      <p:sp>
        <p:nvSpPr>
          <p:cNvPr id="2" name="Slide Number Placeholder 1">
            <a:extLst>
              <a:ext uri="{FF2B5EF4-FFF2-40B4-BE49-F238E27FC236}">
                <a16:creationId xmlns:a16="http://schemas.microsoft.com/office/drawing/2014/main" id="{C8F3C117-A202-AC1A-30DA-A95049B2670E}"/>
              </a:ext>
            </a:extLst>
          </p:cNvPr>
          <p:cNvSpPr>
            <a:spLocks noGrp="1"/>
          </p:cNvSpPr>
          <p:nvPr>
            <p:ph type="sldNum" sz="quarter" idx="17"/>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21857713"/>
      </p:ext>
    </p:extLst>
  </p:cSld>
  <p:clrMapOvr>
    <a:masterClrMapping/>
  </p:clrMapOvr>
  <p:transition spd="med"/>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preserve="1" userDrawn="1">
  <p:cSld name="1_Title w/Image_Black">
    <p:bg>
      <p:bgPr>
        <a:solidFill>
          <a:srgbClr val="1E01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1" y="442528"/>
            <a:ext cx="5725006"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760611" y="1307593"/>
            <a:ext cx="5725006" cy="4919589"/>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6" name="Picture Placeholder 8"/>
          <p:cNvSpPr>
            <a:spLocks noGrp="1"/>
          </p:cNvSpPr>
          <p:nvPr>
            <p:ph type="pic" sz="quarter" idx="16"/>
          </p:nvPr>
        </p:nvSpPr>
        <p:spPr>
          <a:xfrm>
            <a:off x="6858199" y="0"/>
            <a:ext cx="5333800" cy="6858000"/>
          </a:xfrm>
          <a:prstGeom prst="rect">
            <a:avLst/>
          </a:prstGeom>
        </p:spPr>
        <p:txBody>
          <a:bodyPr anchor="ctr"/>
          <a:lstStyle>
            <a:lvl1pPr marL="0" indent="0" algn="ctr">
              <a:buNone/>
              <a:defRPr sz="2400">
                <a:solidFill>
                  <a:schemeClr val="accent1"/>
                </a:solidFill>
              </a:defRPr>
            </a:lvl1pPr>
          </a:lstStyle>
          <a:p>
            <a:r>
              <a:rPr lang="zh-CN" altLang="en-US"/>
              <a:t>单击图标添加图片</a:t>
            </a:r>
            <a:endParaRPr lang="en-US"/>
          </a:p>
        </p:txBody>
      </p:sp>
      <p:sp>
        <p:nvSpPr>
          <p:cNvPr id="2" name="Slide Number Placeholder 1">
            <a:extLst>
              <a:ext uri="{FF2B5EF4-FFF2-40B4-BE49-F238E27FC236}">
                <a16:creationId xmlns:a16="http://schemas.microsoft.com/office/drawing/2014/main" id="{EF7E7426-E0FB-DA60-E1E0-A41FD9009F5D}"/>
              </a:ext>
            </a:extLst>
          </p:cNvPr>
          <p:cNvSpPr>
            <a:spLocks noGrp="1"/>
          </p:cNvSpPr>
          <p:nvPr>
            <p:ph type="sldNum" sz="quarter" idx="17"/>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428170158"/>
      </p:ext>
    </p:extLst>
  </p:cSld>
  <p:clrMapOvr>
    <a:masterClrMapping/>
  </p:clrMapOvr>
  <p:transition spd="med"/>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1_Photo + Statement">
    <p:spTree>
      <p:nvGrpSpPr>
        <p:cNvPr id="1" name=""/>
        <p:cNvGrpSpPr/>
        <p:nvPr/>
      </p:nvGrpSpPr>
      <p:grpSpPr>
        <a:xfrm>
          <a:off x="0" y="0"/>
          <a:ext cx="0" cy="0"/>
          <a:chOff x="0" y="0"/>
          <a:chExt cx="0" cy="0"/>
        </a:xfrm>
      </p:grpSpPr>
      <p:sp>
        <p:nvSpPr>
          <p:cNvPr id="3" name="Rectangle 2"/>
          <p:cNvSpPr/>
          <p:nvPr userDrawn="1"/>
        </p:nvSpPr>
        <p:spPr>
          <a:xfrm>
            <a:off x="1"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8"/>
          <p:cNvSpPr>
            <a:spLocks noGrp="1"/>
          </p:cNvSpPr>
          <p:nvPr>
            <p:ph type="pic" sz="quarter" idx="16"/>
          </p:nvPr>
        </p:nvSpPr>
        <p:spPr>
          <a:xfrm>
            <a:off x="4571604" y="0"/>
            <a:ext cx="7620396" cy="6858000"/>
          </a:xfrm>
          <a:prstGeom prst="rect">
            <a:avLst/>
          </a:prstGeom>
        </p:spPr>
        <p:txBody>
          <a:bodyPr anchor="ctr"/>
          <a:lstStyle>
            <a:lvl1pPr marL="0" indent="0" algn="ctr">
              <a:buNone/>
              <a:defRPr sz="2400">
                <a:solidFill>
                  <a:schemeClr val="accent1"/>
                </a:solidFill>
              </a:defRPr>
            </a:lvl1pPr>
          </a:lstStyle>
          <a:p>
            <a:r>
              <a:rPr lang="zh-CN" altLang="en-US"/>
              <a:t>单击图标添加图片</a:t>
            </a:r>
            <a:endParaRPr lang="en-US"/>
          </a:p>
        </p:txBody>
      </p:sp>
      <p:sp>
        <p:nvSpPr>
          <p:cNvPr id="14" name="Text Placeholder 3"/>
          <p:cNvSpPr>
            <a:spLocks noGrp="1"/>
          </p:cNvSpPr>
          <p:nvPr>
            <p:ph type="body" sz="quarter" idx="18" hasCustomPrompt="1"/>
          </p:nvPr>
        </p:nvSpPr>
        <p:spPr>
          <a:xfrm>
            <a:off x="760610" y="995010"/>
            <a:ext cx="3428016" cy="1436465"/>
          </a:xfrm>
          <a:prstGeom prst="rect">
            <a:avLst/>
          </a:prstGeom>
          <a:noFill/>
        </p:spPr>
        <p:txBody>
          <a:bodyPr lIns="0" tIns="0" rIns="0" bIns="0" anchor="b" anchorCtr="0">
            <a:noAutofit/>
          </a:bodyPr>
          <a:lstStyle>
            <a:lvl1pPr marL="0" indent="0">
              <a:lnSpc>
                <a:spcPct val="85000"/>
              </a:lnSpc>
              <a:spcBef>
                <a:spcPts val="0"/>
              </a:spcBef>
              <a:buFont typeface="Arial" panose="020B0604020202020204" pitchFamily="34" charset="0"/>
              <a:buNone/>
              <a:defRPr sz="4400" b="1" strike="noStrike" spc="-150" baseline="0">
                <a:solidFill>
                  <a:schemeClr val="tx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Click to edit slide title</a:t>
            </a:r>
          </a:p>
        </p:txBody>
      </p:sp>
      <p:sp>
        <p:nvSpPr>
          <p:cNvPr id="2" name="Slide Number Placeholder 1">
            <a:extLst>
              <a:ext uri="{FF2B5EF4-FFF2-40B4-BE49-F238E27FC236}">
                <a16:creationId xmlns:a16="http://schemas.microsoft.com/office/drawing/2014/main" id="{DA2637C5-16EA-761D-E2F8-7F6B3E3B6F6C}"/>
              </a:ext>
            </a:extLst>
          </p:cNvPr>
          <p:cNvSpPr>
            <a:spLocks noGrp="1"/>
          </p:cNvSpPr>
          <p:nvPr>
            <p:ph type="sldNum" sz="quarter" idx="20"/>
          </p:nvPr>
        </p:nvSpPr>
        <p:spPr/>
        <p:txBody>
          <a:bodyPr/>
          <a:lstStyle/>
          <a:p>
            <a:fld id="{6D22F896-40B5-4ADD-8801-0D06FADFA095}" type="slidenum">
              <a:rPr lang="en-US" smtClean="0"/>
              <a:pPr/>
              <a:t>‹#›</a:t>
            </a:fld>
            <a:endParaRPr lang="en-US"/>
          </a:p>
        </p:txBody>
      </p:sp>
      <p:sp>
        <p:nvSpPr>
          <p:cNvPr id="12" name="Content Placeholder 2">
            <a:extLst>
              <a:ext uri="{FF2B5EF4-FFF2-40B4-BE49-F238E27FC236}">
                <a16:creationId xmlns:a16="http://schemas.microsoft.com/office/drawing/2014/main" id="{3939283D-21AA-FD28-A517-FFF4AF9FDA82}"/>
              </a:ext>
            </a:extLst>
          </p:cNvPr>
          <p:cNvSpPr>
            <a:spLocks noGrp="1"/>
          </p:cNvSpPr>
          <p:nvPr>
            <p:ph sz="half" idx="1"/>
          </p:nvPr>
        </p:nvSpPr>
        <p:spPr bwMode="gray">
          <a:xfrm>
            <a:off x="760610" y="2815936"/>
            <a:ext cx="3428016" cy="3280064"/>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Tree>
    <p:extLst>
      <p:ext uri="{BB962C8B-B14F-4D97-AF65-F5344CB8AC3E}">
        <p14:creationId xmlns:p14="http://schemas.microsoft.com/office/powerpoint/2010/main" val="3937436451"/>
      </p:ext>
    </p:extLst>
  </p:cSld>
  <p:clrMapOvr>
    <a:masterClrMapping/>
  </p:clrMapOvr>
  <p:transition spd="med"/>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preserve="1" userDrawn="1">
  <p:cSld name="1_Photo + Statement_Black">
    <p:bg>
      <p:bgPr>
        <a:solidFill>
          <a:srgbClr val="1E0113"/>
        </a:solidFill>
        <a:effectLst/>
      </p:bgPr>
    </p:bg>
    <p:spTree>
      <p:nvGrpSpPr>
        <p:cNvPr id="1" name=""/>
        <p:cNvGrpSpPr/>
        <p:nvPr/>
      </p:nvGrpSpPr>
      <p:grpSpPr>
        <a:xfrm>
          <a:off x="0" y="0"/>
          <a:ext cx="0" cy="0"/>
          <a:chOff x="0" y="0"/>
          <a:chExt cx="0" cy="0"/>
        </a:xfrm>
      </p:grpSpPr>
      <p:sp>
        <p:nvSpPr>
          <p:cNvPr id="3" name="Rectangle 2"/>
          <p:cNvSpPr/>
          <p:nvPr userDrawn="1"/>
        </p:nvSpPr>
        <p:spPr>
          <a:xfrm>
            <a:off x="1"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8"/>
          <p:cNvSpPr>
            <a:spLocks noGrp="1"/>
          </p:cNvSpPr>
          <p:nvPr>
            <p:ph type="pic" sz="quarter" idx="16"/>
          </p:nvPr>
        </p:nvSpPr>
        <p:spPr>
          <a:xfrm>
            <a:off x="4571604" y="0"/>
            <a:ext cx="7620396" cy="6858000"/>
          </a:xfrm>
          <a:prstGeom prst="rect">
            <a:avLst/>
          </a:prstGeom>
        </p:spPr>
        <p:txBody>
          <a:bodyPr anchor="ctr"/>
          <a:lstStyle>
            <a:lvl1pPr marL="0" indent="0" algn="ctr">
              <a:buNone/>
              <a:defRPr sz="2400">
                <a:solidFill>
                  <a:schemeClr val="accent1"/>
                </a:solidFill>
              </a:defRPr>
            </a:lvl1pPr>
          </a:lstStyle>
          <a:p>
            <a:r>
              <a:rPr lang="zh-CN" altLang="en-US"/>
              <a:t>单击图标添加图片</a:t>
            </a:r>
            <a:endParaRPr lang="en-US"/>
          </a:p>
        </p:txBody>
      </p:sp>
      <p:sp>
        <p:nvSpPr>
          <p:cNvPr id="2" name="Slide Number Placeholder 1">
            <a:extLst>
              <a:ext uri="{FF2B5EF4-FFF2-40B4-BE49-F238E27FC236}">
                <a16:creationId xmlns:a16="http://schemas.microsoft.com/office/drawing/2014/main" id="{EC182470-3621-1323-235D-7DBA176E68EC}"/>
              </a:ext>
            </a:extLst>
          </p:cNvPr>
          <p:cNvSpPr>
            <a:spLocks noGrp="1"/>
          </p:cNvSpPr>
          <p:nvPr>
            <p:ph type="sldNum" sz="quarter" idx="20"/>
          </p:nvPr>
        </p:nvSpPr>
        <p:spPr/>
        <p:txBody>
          <a:bodyPr/>
          <a:lstStyle>
            <a:lvl1pPr>
              <a:defRPr>
                <a:solidFill>
                  <a:schemeClr val="bg1"/>
                </a:solidFill>
              </a:defRPr>
            </a:lvl1pPr>
          </a:lstStyle>
          <a:p>
            <a:fld id="{6D22F896-40B5-4ADD-8801-0D06FADFA095}" type="slidenum">
              <a:rPr lang="en-US" smtClean="0"/>
              <a:pPr/>
              <a:t>‹#›</a:t>
            </a:fld>
            <a:endParaRPr lang="en-US"/>
          </a:p>
        </p:txBody>
      </p:sp>
      <p:sp>
        <p:nvSpPr>
          <p:cNvPr id="29" name="Text Placeholder 3">
            <a:extLst>
              <a:ext uri="{FF2B5EF4-FFF2-40B4-BE49-F238E27FC236}">
                <a16:creationId xmlns:a16="http://schemas.microsoft.com/office/drawing/2014/main" id="{C11FB6FD-7B80-D920-2B92-D358B184462D}"/>
              </a:ext>
            </a:extLst>
          </p:cNvPr>
          <p:cNvSpPr>
            <a:spLocks noGrp="1"/>
          </p:cNvSpPr>
          <p:nvPr>
            <p:ph type="body" sz="quarter" idx="18" hasCustomPrompt="1"/>
          </p:nvPr>
        </p:nvSpPr>
        <p:spPr>
          <a:xfrm>
            <a:off x="760610" y="995010"/>
            <a:ext cx="3428016" cy="1436465"/>
          </a:xfrm>
          <a:prstGeom prst="rect">
            <a:avLst/>
          </a:prstGeom>
          <a:noFill/>
        </p:spPr>
        <p:txBody>
          <a:bodyPr lIns="0" tIns="0" rIns="0" bIns="0" anchor="b" anchorCtr="0">
            <a:noAutofit/>
          </a:bodyPr>
          <a:lstStyle>
            <a:lvl1pPr marL="0" indent="0">
              <a:lnSpc>
                <a:spcPct val="85000"/>
              </a:lnSpc>
              <a:spcBef>
                <a:spcPts val="0"/>
              </a:spcBef>
              <a:buFont typeface="Arial" panose="020B0604020202020204" pitchFamily="34" charset="0"/>
              <a:buNone/>
              <a:defRPr sz="4400" b="1" strike="noStrike" spc="-150" baseline="0">
                <a:solidFill>
                  <a:schemeClr val="bg1"/>
                </a:solidFill>
              </a:defRPr>
            </a:lvl1pPr>
            <a:lvl2pPr marL="341313" indent="0">
              <a:buNone/>
              <a:defRPr/>
            </a:lvl2pPr>
            <a:lvl3pPr marL="679450" indent="0">
              <a:buNone/>
              <a:defRPr/>
            </a:lvl3pPr>
            <a:lvl4pPr marL="966787" indent="0">
              <a:buNone/>
              <a:defRPr/>
            </a:lvl4pPr>
            <a:lvl5pPr marL="1146175" indent="0">
              <a:buNone/>
              <a:defRPr/>
            </a:lvl5pPr>
          </a:lstStyle>
          <a:p>
            <a:pPr lvl="0"/>
            <a:r>
              <a:rPr lang="en-US"/>
              <a:t>Click to edit slide title</a:t>
            </a:r>
          </a:p>
        </p:txBody>
      </p:sp>
      <p:sp>
        <p:nvSpPr>
          <p:cNvPr id="30" name="Content Placeholder 2">
            <a:extLst>
              <a:ext uri="{FF2B5EF4-FFF2-40B4-BE49-F238E27FC236}">
                <a16:creationId xmlns:a16="http://schemas.microsoft.com/office/drawing/2014/main" id="{5F150789-C64C-B456-4B9A-24AED7315FBB}"/>
              </a:ext>
            </a:extLst>
          </p:cNvPr>
          <p:cNvSpPr>
            <a:spLocks noGrp="1"/>
          </p:cNvSpPr>
          <p:nvPr>
            <p:ph sz="half" idx="1"/>
          </p:nvPr>
        </p:nvSpPr>
        <p:spPr bwMode="gray">
          <a:xfrm>
            <a:off x="760610" y="2815936"/>
            <a:ext cx="3428016" cy="3280064"/>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Tree>
    <p:extLst>
      <p:ext uri="{BB962C8B-B14F-4D97-AF65-F5344CB8AC3E}">
        <p14:creationId xmlns:p14="http://schemas.microsoft.com/office/powerpoint/2010/main" val="1925996709"/>
      </p:ext>
    </p:extLst>
  </p:cSld>
  <p:clrMapOvr>
    <a:masterClrMapping/>
  </p:clrMapOvr>
  <p:transition spd="med"/>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1_Content w/ Product">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400">
                <a:solidFill>
                  <a:schemeClr val="accent1"/>
                </a:solidFill>
              </a:defRPr>
            </a:lvl1pPr>
          </a:lstStyle>
          <a:p>
            <a:r>
              <a:rPr lang="zh-CN" altLang="en-US"/>
              <a:t>单击图标添加图片</a:t>
            </a:r>
            <a:endParaRPr lang="en-US"/>
          </a:p>
        </p:txBody>
      </p:sp>
      <p:sp>
        <p:nvSpPr>
          <p:cNvPr id="9" name="Content Placeholder 2"/>
          <p:cNvSpPr>
            <a:spLocks noGrp="1"/>
          </p:cNvSpPr>
          <p:nvPr>
            <p:ph sz="half" idx="18"/>
          </p:nvPr>
        </p:nvSpPr>
        <p:spPr bwMode="gray">
          <a:xfrm>
            <a:off x="6858198" y="1307593"/>
            <a:ext cx="4573192"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11" name="Title 28"/>
          <p:cNvSpPr>
            <a:spLocks noGrp="1"/>
          </p:cNvSpPr>
          <p:nvPr>
            <p:ph type="title" hasCustomPrompt="1"/>
          </p:nvPr>
        </p:nvSpPr>
        <p:spPr bwMode="gray">
          <a:xfrm>
            <a:off x="6858198" y="442528"/>
            <a:ext cx="4573192"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0AFBC96C-E04F-90E6-1BBE-C65ECD6E5C14}"/>
              </a:ext>
            </a:extLst>
          </p:cNvPr>
          <p:cNvSpPr>
            <a:spLocks noGrp="1"/>
          </p:cNvSpPr>
          <p:nvPr>
            <p:ph type="sldNum" sz="quarter" idx="19"/>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553138429"/>
      </p:ext>
    </p:extLst>
  </p:cSld>
  <p:clrMapOvr>
    <a:masterClrMapping/>
  </p:clrMapOvr>
  <p:transition spd="med"/>
</p:sldLayout>
</file>

<file path=ppt/slideLayouts/slideLayout207.xml><?xml version="1.0" encoding="utf-8"?>
<p:sldLayout xmlns:a="http://schemas.openxmlformats.org/drawingml/2006/main" xmlns:r="http://schemas.openxmlformats.org/officeDocument/2006/relationships" xmlns:p="http://schemas.openxmlformats.org/presentationml/2006/main" showMasterSp="0" preserve="1" userDrawn="1">
  <p:cSld name="1_Content w/ Product_Black">
    <p:bg>
      <p:bgPr>
        <a:solidFill>
          <a:srgbClr val="1E0113"/>
        </a:solidFill>
        <a:effectLst/>
      </p:bgPr>
    </p:bg>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0" y="0"/>
            <a:ext cx="6095999" cy="6858000"/>
          </a:xfrm>
          <a:prstGeom prst="rect">
            <a:avLst/>
          </a:prstGeom>
        </p:spPr>
        <p:txBody>
          <a:bodyPr anchor="ctr"/>
          <a:lstStyle>
            <a:lvl1pPr marL="0" indent="0" algn="ctr">
              <a:buNone/>
              <a:defRPr sz="2400">
                <a:solidFill>
                  <a:schemeClr val="accent1"/>
                </a:solidFill>
              </a:defRPr>
            </a:lvl1pPr>
          </a:lstStyle>
          <a:p>
            <a:r>
              <a:rPr lang="zh-CN" altLang="en-US"/>
              <a:t>单击图标添加图片</a:t>
            </a:r>
            <a:endParaRPr lang="en-US"/>
          </a:p>
        </p:txBody>
      </p:sp>
      <p:sp>
        <p:nvSpPr>
          <p:cNvPr id="9" name="Content Placeholder 2"/>
          <p:cNvSpPr>
            <a:spLocks noGrp="1"/>
          </p:cNvSpPr>
          <p:nvPr>
            <p:ph sz="half" idx="18"/>
          </p:nvPr>
        </p:nvSpPr>
        <p:spPr bwMode="gray">
          <a:xfrm>
            <a:off x="6858200" y="1307592"/>
            <a:ext cx="4573191" cy="4788408"/>
          </a:xfrm>
          <a:prstGeom prst="rect">
            <a:avLst/>
          </a:prstGeom>
        </p:spPr>
        <p:txBody>
          <a:bodyPr lIns="0" tIns="0" rIns="0" bIns="0"/>
          <a:lstStyle>
            <a:lvl1pPr marL="171450" indent="-171450">
              <a:lnSpc>
                <a:spcPct val="90000"/>
              </a:lnSpc>
              <a:spcBef>
                <a:spcPts val="500"/>
              </a:spcBef>
              <a:buClrTx/>
              <a:buFont typeface="Arial" panose="020B0604020202020204" pitchFamily="34" charset="0"/>
              <a:buChar char="•"/>
              <a:defRPr sz="2000">
                <a:solidFill>
                  <a:schemeClr val="bg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bg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bg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11" name="Title 28"/>
          <p:cNvSpPr>
            <a:spLocks noGrp="1"/>
          </p:cNvSpPr>
          <p:nvPr>
            <p:ph type="title" hasCustomPrompt="1"/>
          </p:nvPr>
        </p:nvSpPr>
        <p:spPr bwMode="gray">
          <a:xfrm>
            <a:off x="6858199" y="442528"/>
            <a:ext cx="4573192" cy="418576"/>
          </a:xfrm>
          <a:prstGeom prst="rect">
            <a:avLst/>
          </a:prstGeom>
        </p:spPr>
        <p:txBody>
          <a:bodyPr wrap="square" lIns="0" tIns="0" rIns="0" bIns="0" anchor="t" anchorCtr="0">
            <a:sp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r>
              <a:rPr lang="en-US"/>
              <a:t>Click to edit title</a:t>
            </a:r>
          </a:p>
        </p:txBody>
      </p:sp>
      <p:sp>
        <p:nvSpPr>
          <p:cNvPr id="2" name="Slide Number Placeholder 1">
            <a:extLst>
              <a:ext uri="{FF2B5EF4-FFF2-40B4-BE49-F238E27FC236}">
                <a16:creationId xmlns:a16="http://schemas.microsoft.com/office/drawing/2014/main" id="{E5A84DA8-2577-7EF4-6122-06E4DEEB80AF}"/>
              </a:ext>
            </a:extLst>
          </p:cNvPr>
          <p:cNvSpPr>
            <a:spLocks noGrp="1"/>
          </p:cNvSpPr>
          <p:nvPr>
            <p:ph type="sldNum" sz="quarter" idx="19"/>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893428831"/>
      </p:ext>
    </p:extLst>
  </p:cSld>
  <p:clrMapOvr>
    <a:masterClrMapping/>
  </p:clrMapOvr>
  <p:transition spd="med"/>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2" y="442528"/>
            <a:ext cx="10670780" cy="418576"/>
          </a:xfrm>
          <a:prstGeom prst="rect">
            <a:avLst/>
          </a:prstGeom>
        </p:spPr>
        <p:txBody>
          <a:bodyPr wrap="square" lIns="0" tIns="0" rIns="0" bIns="0" anchor="t" anchorCtr="0">
            <a:noAutofit/>
          </a:bodyPr>
          <a:lstStyle>
            <a:lvl1pPr marL="0" algn="l" defTabSz="1218621" rtl="0" eaLnBrk="1" latinLnBrk="0" hangingPunct="1">
              <a:lnSpc>
                <a:spcPct val="85000"/>
              </a:lnSpc>
              <a:spcBef>
                <a:spcPct val="0"/>
              </a:spcBef>
              <a:buNone/>
              <a:tabLst>
                <a:tab pos="1218621" algn="l"/>
              </a:tabLst>
              <a:defRPr lang="en-US" sz="3199"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99A0C0A2-1C95-CF60-15E7-57B445A8992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254792910"/>
      </p:ext>
    </p:extLst>
  </p:cSld>
  <p:clrMapOvr>
    <a:masterClrMapping/>
  </p:clrMapOvr>
  <p:transition spd="med"/>
</p:sldLayout>
</file>

<file path=ppt/slideLayouts/slideLayout209.xml><?xml version="1.0" encoding="utf-8"?>
<p:sldLayout xmlns:a="http://schemas.openxmlformats.org/drawingml/2006/main" xmlns:r="http://schemas.openxmlformats.org/officeDocument/2006/relationships" xmlns:p="http://schemas.openxmlformats.org/presentationml/2006/main" showMasterSp="0" preserve="1" userDrawn="1">
  <p:cSld name="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548783" y="1685684"/>
            <a:ext cx="9962830" cy="2894768"/>
          </a:xfrm>
          <a:prstGeom prst="rect">
            <a:avLst/>
          </a:prstGeom>
        </p:spPr>
        <p:txBody>
          <a:bodyPr wrap="square" lIns="0" tIns="0" rIns="121899" bIns="0" anchor="b" anchorCtr="0"/>
          <a:lstStyle>
            <a:lvl1pPr marL="0" algn="l" defTabSz="1218255" rtl="0" eaLnBrk="1" latinLnBrk="0" hangingPunct="1">
              <a:lnSpc>
                <a:spcPts val="6796"/>
              </a:lnSpc>
              <a:spcBef>
                <a:spcPct val="0"/>
              </a:spcBef>
              <a:buNone/>
              <a:defRPr lang="en-US" sz="7996" b="1" kern="1200" cap="none" spc="-15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br>
              <a:rPr lang="en-US"/>
            </a:br>
            <a:r>
              <a:rPr lang="en-US"/>
              <a:t>three lines</a:t>
            </a:r>
          </a:p>
        </p:txBody>
      </p:sp>
      <p:sp>
        <p:nvSpPr>
          <p:cNvPr id="55" name="Subtitle 2"/>
          <p:cNvSpPr>
            <a:spLocks noGrp="1"/>
          </p:cNvSpPr>
          <p:nvPr userDrawn="1">
            <p:ph type="subTitle" idx="1" hasCustomPrompt="1"/>
          </p:nvPr>
        </p:nvSpPr>
        <p:spPr bwMode="gray">
          <a:xfrm>
            <a:off x="548783" y="4715116"/>
            <a:ext cx="9952388" cy="457200"/>
          </a:xfrm>
          <a:prstGeom prst="rect">
            <a:avLst/>
          </a:prstGeom>
        </p:spPr>
        <p:txBody>
          <a:bodyPr lIns="0" tIns="0" rIns="0" bIns="0" anchor="b" anchorCtr="0"/>
          <a:lstStyle>
            <a:lvl1pPr marL="0" indent="0" algn="l" defTabSz="1218255" rtl="0" eaLnBrk="1" latinLnBrk="0" hangingPunct="1">
              <a:lnSpc>
                <a:spcPct val="90000"/>
              </a:lnSpc>
              <a:spcBef>
                <a:spcPct val="0"/>
              </a:spcBef>
              <a:buNone/>
              <a:defRPr lang="en-US" sz="2598" b="0" kern="1200" cap="none" spc="0" baseline="0" dirty="0">
                <a:solidFill>
                  <a:schemeClr val="tx1"/>
                </a:solidFill>
                <a:latin typeface="Arial" pitchFamily="34" charset="0"/>
                <a:ea typeface="+mn-ea"/>
                <a:cs typeface="Arial" pitchFamily="34" charset="0"/>
              </a:defRPr>
            </a:lvl1pPr>
            <a:lvl2pPr marL="609127" indent="0" algn="ctr">
              <a:buNone/>
              <a:defRPr>
                <a:solidFill>
                  <a:schemeClr val="tx1">
                    <a:tint val="75000"/>
                  </a:schemeClr>
                </a:solidFill>
              </a:defRPr>
            </a:lvl2pPr>
            <a:lvl3pPr marL="1218255" indent="0" algn="ctr">
              <a:buNone/>
              <a:defRPr>
                <a:solidFill>
                  <a:schemeClr val="tx1">
                    <a:tint val="75000"/>
                  </a:schemeClr>
                </a:solidFill>
              </a:defRPr>
            </a:lvl3pPr>
            <a:lvl4pPr marL="1827383" indent="0" algn="ctr">
              <a:buNone/>
              <a:defRPr>
                <a:solidFill>
                  <a:schemeClr val="tx1">
                    <a:tint val="75000"/>
                  </a:schemeClr>
                </a:solidFill>
              </a:defRPr>
            </a:lvl4pPr>
            <a:lvl5pPr marL="2436511" indent="0" algn="ctr">
              <a:buNone/>
              <a:defRPr>
                <a:solidFill>
                  <a:schemeClr val="tx1">
                    <a:tint val="75000"/>
                  </a:schemeClr>
                </a:solidFill>
              </a:defRPr>
            </a:lvl5pPr>
            <a:lvl6pPr marL="3045639" indent="0" algn="ctr">
              <a:buNone/>
              <a:defRPr>
                <a:solidFill>
                  <a:schemeClr val="tx1">
                    <a:tint val="75000"/>
                  </a:schemeClr>
                </a:solidFill>
              </a:defRPr>
            </a:lvl6pPr>
            <a:lvl7pPr marL="3654766" indent="0" algn="ctr">
              <a:buNone/>
              <a:defRPr>
                <a:solidFill>
                  <a:schemeClr val="tx1">
                    <a:tint val="75000"/>
                  </a:schemeClr>
                </a:solidFill>
              </a:defRPr>
            </a:lvl7pPr>
            <a:lvl8pPr marL="4263893" indent="0" algn="ctr">
              <a:buNone/>
              <a:defRPr>
                <a:solidFill>
                  <a:schemeClr val="tx1">
                    <a:tint val="75000"/>
                  </a:schemeClr>
                </a:solidFill>
              </a:defRPr>
            </a:lvl8pPr>
            <a:lvl9pPr marL="4873022"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548783" y="6473952"/>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2025 Lenovo Internal. All rights reserved.</a:t>
            </a:r>
          </a:p>
        </p:txBody>
      </p:sp>
      <p:grpSp>
        <p:nvGrpSpPr>
          <p:cNvPr id="48" name="Group 47">
            <a:extLst>
              <a:ext uri="{FF2B5EF4-FFF2-40B4-BE49-F238E27FC236}">
                <a16:creationId xmlns:a16="http://schemas.microsoft.com/office/drawing/2014/main" id="{F4B5B53C-9814-4319-B2AA-2C21FFC03C69}"/>
              </a:ext>
            </a:extLst>
          </p:cNvPr>
          <p:cNvGrpSpPr>
            <a:grpSpLocks noChangeAspect="1"/>
          </p:cNvGrpSpPr>
          <p:nvPr userDrawn="1"/>
        </p:nvGrpSpPr>
        <p:grpSpPr>
          <a:xfrm rot="16200000">
            <a:off x="9858492" y="2024530"/>
            <a:ext cx="3499241" cy="1167779"/>
            <a:chOff x="547688" y="952500"/>
            <a:chExt cx="12190413" cy="4067175"/>
          </a:xfrm>
        </p:grpSpPr>
        <p:sp>
          <p:nvSpPr>
            <p:cNvPr id="50" name="Rectangle 49">
              <a:extLst>
                <a:ext uri="{FF2B5EF4-FFF2-40B4-BE49-F238E27FC236}">
                  <a16:creationId xmlns:a16="http://schemas.microsoft.com/office/drawing/2014/main" id="{A86DAFFA-DD2C-4B45-869C-80A8537FFB18}"/>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1" name="Freeform 7">
              <a:extLst>
                <a:ext uri="{FF2B5EF4-FFF2-40B4-BE49-F238E27FC236}">
                  <a16:creationId xmlns:a16="http://schemas.microsoft.com/office/drawing/2014/main" id="{26F6C622-0F1C-400B-80F7-27499D487BE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2" name="Freeform 8">
              <a:extLst>
                <a:ext uri="{FF2B5EF4-FFF2-40B4-BE49-F238E27FC236}">
                  <a16:creationId xmlns:a16="http://schemas.microsoft.com/office/drawing/2014/main" id="{3843D85E-D61D-49D2-8C0B-2814AA27614C}"/>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3" name="Freeform 9">
              <a:extLst>
                <a:ext uri="{FF2B5EF4-FFF2-40B4-BE49-F238E27FC236}">
                  <a16:creationId xmlns:a16="http://schemas.microsoft.com/office/drawing/2014/main" id="{3230BEAE-88C1-454A-9CCC-1D4B1775E57B}"/>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4" name="Freeform 10">
              <a:extLst>
                <a:ext uri="{FF2B5EF4-FFF2-40B4-BE49-F238E27FC236}">
                  <a16:creationId xmlns:a16="http://schemas.microsoft.com/office/drawing/2014/main" id="{051B78A0-6BF0-417B-86F2-F30C15214E88}"/>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7" name="Freeform 10">
              <a:extLst>
                <a:ext uri="{FF2B5EF4-FFF2-40B4-BE49-F238E27FC236}">
                  <a16:creationId xmlns:a16="http://schemas.microsoft.com/office/drawing/2014/main" id="{DC72F71B-EE86-4EF7-B865-447B4ED71B2C}"/>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8" name="Freeform 11">
              <a:extLst>
                <a:ext uri="{FF2B5EF4-FFF2-40B4-BE49-F238E27FC236}">
                  <a16:creationId xmlns:a16="http://schemas.microsoft.com/office/drawing/2014/main" id="{A3EC0C04-B0DD-4A32-813E-011A695342F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63" name="Freeform 5">
            <a:extLst>
              <a:ext uri="{FF2B5EF4-FFF2-40B4-BE49-F238E27FC236}">
                <a16:creationId xmlns:a16="http://schemas.microsoft.com/office/drawing/2014/main" id="{433BBA68-D2F6-45DA-B6D3-4CBDACC1E270}"/>
              </a:ext>
            </a:extLst>
          </p:cNvPr>
          <p:cNvSpPr>
            <a:spLocks noChangeAspect="1" noEditPoints="1"/>
          </p:cNvSpPr>
          <p:nvPr userDrawn="1"/>
        </p:nvSpPr>
        <p:spPr bwMode="auto">
          <a:xfrm>
            <a:off x="548785" y="858794"/>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gradFill>
            <a:gsLst>
              <a:gs pos="100000">
                <a:srgbClr val="F15F22"/>
              </a:gs>
              <a:gs pos="54000">
                <a:srgbClr val="F06422"/>
              </a:gs>
              <a:gs pos="76000">
                <a:srgbClr val="E32526"/>
              </a:gs>
              <a:gs pos="0">
                <a:srgbClr val="E32F2A"/>
              </a:gs>
              <a:gs pos="26000">
                <a:srgbClr val="A32022"/>
              </a:gs>
            </a:gsLst>
            <a:lin ang="2400000" scaled="0"/>
          </a:gradFill>
          <a:ln>
            <a:noFill/>
          </a:ln>
        </p:spPr>
        <p:txBody>
          <a:bodyPr vert="horz" wrap="square" lIns="91392" tIns="45696" rIns="91392" bIns="45696" numCol="1" anchor="t" anchorCtr="0" compatLnSpc="1">
            <a:prstTxWarp prst="textNoShape">
              <a:avLst/>
            </a:prstTxWarp>
          </a:bodyPr>
          <a:lstStyle/>
          <a:p>
            <a:endParaRPr lang="en-US" sz="1798"/>
          </a:p>
        </p:txBody>
      </p:sp>
    </p:spTree>
    <p:extLst>
      <p:ext uri="{BB962C8B-B14F-4D97-AF65-F5344CB8AC3E}">
        <p14:creationId xmlns:p14="http://schemas.microsoft.com/office/powerpoint/2010/main" val="197280220"/>
      </p:ext>
    </p:extLst>
  </p:cSld>
  <p:clrMapOvr>
    <a:masterClrMapping/>
  </p:clrMapOvr>
  <p:transition spd="med"/>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preserve="1" userDrawn="1">
  <p:cSld name="Title Slide_Black">
    <p:bg>
      <p:bgPr>
        <a:solidFill>
          <a:schemeClr val="tx1"/>
        </a:solidFill>
        <a:effectLst/>
      </p:bgPr>
    </p:bg>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548783" y="1682496"/>
            <a:ext cx="9962830" cy="2898648"/>
          </a:xfrm>
          <a:prstGeom prst="rect">
            <a:avLst/>
          </a:prstGeom>
        </p:spPr>
        <p:txBody>
          <a:bodyPr lIns="0" tIns="0" rIns="121899" bIns="0" anchor="b" anchorCtr="0"/>
          <a:lstStyle>
            <a:lvl1pPr marL="0" algn="l" defTabSz="1218255" rtl="0" eaLnBrk="1" latinLnBrk="0" hangingPunct="1">
              <a:lnSpc>
                <a:spcPts val="6796"/>
              </a:lnSpc>
              <a:spcBef>
                <a:spcPct val="0"/>
              </a:spcBef>
              <a:buNone/>
              <a:defRPr lang="en-US" sz="7996"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br>
              <a:rPr lang="en-US"/>
            </a:br>
            <a:r>
              <a:rPr lang="en-US"/>
              <a:t>three lines</a:t>
            </a:r>
          </a:p>
        </p:txBody>
      </p:sp>
      <p:sp>
        <p:nvSpPr>
          <p:cNvPr id="55" name="Subtitle 2"/>
          <p:cNvSpPr>
            <a:spLocks noGrp="1"/>
          </p:cNvSpPr>
          <p:nvPr userDrawn="1">
            <p:ph type="subTitle" idx="1" hasCustomPrompt="1"/>
          </p:nvPr>
        </p:nvSpPr>
        <p:spPr bwMode="gray">
          <a:xfrm>
            <a:off x="548783" y="4718304"/>
            <a:ext cx="9952388" cy="457200"/>
          </a:xfrm>
          <a:prstGeom prst="rect">
            <a:avLst/>
          </a:prstGeom>
        </p:spPr>
        <p:txBody>
          <a:bodyPr lIns="0" tIns="0" rIns="0" bIns="0" anchor="b" anchorCtr="0"/>
          <a:lstStyle>
            <a:lvl1pPr marL="0" indent="0" algn="l" defTabSz="1218255" rtl="0" eaLnBrk="1" latinLnBrk="0" hangingPunct="1">
              <a:lnSpc>
                <a:spcPct val="90000"/>
              </a:lnSpc>
              <a:spcBef>
                <a:spcPct val="0"/>
              </a:spcBef>
              <a:buNone/>
              <a:defRPr lang="en-US" sz="2598" b="0" kern="1200" cap="none" spc="0" baseline="0" dirty="0">
                <a:solidFill>
                  <a:schemeClr val="bg1"/>
                </a:solidFill>
                <a:latin typeface="Arial" pitchFamily="34" charset="0"/>
                <a:ea typeface="+mn-ea"/>
                <a:cs typeface="Arial" pitchFamily="34" charset="0"/>
              </a:defRPr>
            </a:lvl1pPr>
            <a:lvl2pPr marL="609127" indent="0" algn="ctr">
              <a:buNone/>
              <a:defRPr>
                <a:solidFill>
                  <a:schemeClr val="tx1">
                    <a:tint val="75000"/>
                  </a:schemeClr>
                </a:solidFill>
              </a:defRPr>
            </a:lvl2pPr>
            <a:lvl3pPr marL="1218255" indent="0" algn="ctr">
              <a:buNone/>
              <a:defRPr>
                <a:solidFill>
                  <a:schemeClr val="tx1">
                    <a:tint val="75000"/>
                  </a:schemeClr>
                </a:solidFill>
              </a:defRPr>
            </a:lvl3pPr>
            <a:lvl4pPr marL="1827383" indent="0" algn="ctr">
              <a:buNone/>
              <a:defRPr>
                <a:solidFill>
                  <a:schemeClr val="tx1">
                    <a:tint val="75000"/>
                  </a:schemeClr>
                </a:solidFill>
              </a:defRPr>
            </a:lvl4pPr>
            <a:lvl5pPr marL="2436511" indent="0" algn="ctr">
              <a:buNone/>
              <a:defRPr>
                <a:solidFill>
                  <a:schemeClr val="tx1">
                    <a:tint val="75000"/>
                  </a:schemeClr>
                </a:solidFill>
              </a:defRPr>
            </a:lvl5pPr>
            <a:lvl6pPr marL="3045639" indent="0" algn="ctr">
              <a:buNone/>
              <a:defRPr>
                <a:solidFill>
                  <a:schemeClr val="tx1">
                    <a:tint val="75000"/>
                  </a:schemeClr>
                </a:solidFill>
              </a:defRPr>
            </a:lvl6pPr>
            <a:lvl7pPr marL="3654766" indent="0" algn="ctr">
              <a:buNone/>
              <a:defRPr>
                <a:solidFill>
                  <a:schemeClr val="tx1">
                    <a:tint val="75000"/>
                  </a:schemeClr>
                </a:solidFill>
              </a:defRPr>
            </a:lvl7pPr>
            <a:lvl8pPr marL="4263893" indent="0" algn="ctr">
              <a:buNone/>
              <a:defRPr>
                <a:solidFill>
                  <a:schemeClr val="tx1">
                    <a:tint val="75000"/>
                  </a:schemeClr>
                </a:solidFill>
              </a:defRPr>
            </a:lvl8pPr>
            <a:lvl9pPr marL="4873022"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548783"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48" name="Group 47">
            <a:extLst>
              <a:ext uri="{FF2B5EF4-FFF2-40B4-BE49-F238E27FC236}">
                <a16:creationId xmlns:a16="http://schemas.microsoft.com/office/drawing/2014/main" id="{AE4354B5-047A-475C-B07D-46E2DFF45FA8}"/>
              </a:ext>
            </a:extLst>
          </p:cNvPr>
          <p:cNvGrpSpPr>
            <a:grpSpLocks noChangeAspect="1"/>
          </p:cNvGrpSpPr>
          <p:nvPr userDrawn="1"/>
        </p:nvGrpSpPr>
        <p:grpSpPr>
          <a:xfrm rot="16200000">
            <a:off x="9858492" y="2024530"/>
            <a:ext cx="3499241" cy="1167779"/>
            <a:chOff x="547688" y="952500"/>
            <a:chExt cx="12190413" cy="4067175"/>
          </a:xfrm>
        </p:grpSpPr>
        <p:sp>
          <p:nvSpPr>
            <p:cNvPr id="95" name="Rectangle 94">
              <a:extLst>
                <a:ext uri="{FF2B5EF4-FFF2-40B4-BE49-F238E27FC236}">
                  <a16:creationId xmlns:a16="http://schemas.microsoft.com/office/drawing/2014/main" id="{33F3F616-0187-486C-92AE-8E9BB4F5D864}"/>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6" name="Freeform 7">
              <a:extLst>
                <a:ext uri="{FF2B5EF4-FFF2-40B4-BE49-F238E27FC236}">
                  <a16:creationId xmlns:a16="http://schemas.microsoft.com/office/drawing/2014/main" id="{39D476EA-97BB-4757-AE8D-46ABA28B578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7" name="Freeform 8">
              <a:extLst>
                <a:ext uri="{FF2B5EF4-FFF2-40B4-BE49-F238E27FC236}">
                  <a16:creationId xmlns:a16="http://schemas.microsoft.com/office/drawing/2014/main" id="{83FC1BD3-A3C2-46E0-8E09-0F43D0DB3EE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8" name="Freeform 9">
              <a:extLst>
                <a:ext uri="{FF2B5EF4-FFF2-40B4-BE49-F238E27FC236}">
                  <a16:creationId xmlns:a16="http://schemas.microsoft.com/office/drawing/2014/main" id="{B07C1556-FAA5-423D-9C3E-BFD6B99A6BBD}"/>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9" name="Freeform 10">
              <a:extLst>
                <a:ext uri="{FF2B5EF4-FFF2-40B4-BE49-F238E27FC236}">
                  <a16:creationId xmlns:a16="http://schemas.microsoft.com/office/drawing/2014/main" id="{1DB9EF8A-92AF-4FB6-9EB8-BBB43909F2F8}"/>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0" name="Freeform 10">
              <a:extLst>
                <a:ext uri="{FF2B5EF4-FFF2-40B4-BE49-F238E27FC236}">
                  <a16:creationId xmlns:a16="http://schemas.microsoft.com/office/drawing/2014/main" id="{07C51CC9-E5B8-4E20-A914-408659940AB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1" name="Freeform 11">
              <a:extLst>
                <a:ext uri="{FF2B5EF4-FFF2-40B4-BE49-F238E27FC236}">
                  <a16:creationId xmlns:a16="http://schemas.microsoft.com/office/drawing/2014/main" id="{B5BD15B5-4CE4-4224-95C9-541647C53947}"/>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102" name="Freeform 5">
            <a:extLst>
              <a:ext uri="{FF2B5EF4-FFF2-40B4-BE49-F238E27FC236}">
                <a16:creationId xmlns:a16="http://schemas.microsoft.com/office/drawing/2014/main" id="{8B5168CF-498E-4EAB-8120-11D6F6835047}"/>
              </a:ext>
            </a:extLst>
          </p:cNvPr>
          <p:cNvSpPr>
            <a:spLocks noChangeAspect="1" noEditPoints="1"/>
          </p:cNvSpPr>
          <p:nvPr userDrawn="1"/>
        </p:nvSpPr>
        <p:spPr bwMode="auto">
          <a:xfrm>
            <a:off x="548785" y="858794"/>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gradFill>
            <a:gsLst>
              <a:gs pos="100000">
                <a:srgbClr val="F15F22"/>
              </a:gs>
              <a:gs pos="54000">
                <a:srgbClr val="F06422"/>
              </a:gs>
              <a:gs pos="76000">
                <a:srgbClr val="E32526"/>
              </a:gs>
              <a:gs pos="0">
                <a:srgbClr val="E32F2A"/>
              </a:gs>
              <a:gs pos="26000">
                <a:srgbClr val="A32022"/>
              </a:gs>
            </a:gsLst>
            <a:lin ang="2400000" scaled="0"/>
          </a:gradFill>
          <a:ln>
            <a:noFill/>
          </a:ln>
        </p:spPr>
        <p:txBody>
          <a:bodyPr vert="horz" wrap="square" lIns="91392" tIns="45696" rIns="91392" bIns="45696" numCol="1" anchor="t" anchorCtr="0" compatLnSpc="1">
            <a:prstTxWarp prst="textNoShape">
              <a:avLst/>
            </a:prstTxWarp>
          </a:bodyPr>
          <a:lstStyle/>
          <a:p>
            <a:endParaRPr lang="en-US" sz="1798"/>
          </a:p>
        </p:txBody>
      </p:sp>
    </p:spTree>
    <p:extLst>
      <p:ext uri="{BB962C8B-B14F-4D97-AF65-F5344CB8AC3E}">
        <p14:creationId xmlns:p14="http://schemas.microsoft.com/office/powerpoint/2010/main" val="801407909"/>
      </p:ext>
    </p:extLst>
  </p:cSld>
  <p:clrMapOvr>
    <a:masterClrMapping/>
  </p:clrMapOvr>
  <p:transition spd="med"/>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preserve="1" userDrawn="1">
  <p:cSld name="Section Header_White">
    <p:bg>
      <p:bgPr>
        <a:solidFill>
          <a:schemeClr val="bg1"/>
        </a:solidFill>
        <a:effectLst/>
      </p:bgPr>
    </p:bg>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D7C56BA8-590A-4028-A3BD-EBB4F41E7443}"/>
              </a:ext>
            </a:extLst>
          </p:cNvPr>
          <p:cNvGrpSpPr>
            <a:grpSpLocks noChangeAspect="1"/>
          </p:cNvGrpSpPr>
          <p:nvPr userDrawn="1"/>
        </p:nvGrpSpPr>
        <p:grpSpPr>
          <a:xfrm rot="16200000">
            <a:off x="9858492" y="2024530"/>
            <a:ext cx="3499241" cy="1167779"/>
            <a:chOff x="547688" y="952500"/>
            <a:chExt cx="12190413" cy="4067175"/>
          </a:xfrm>
        </p:grpSpPr>
        <p:sp>
          <p:nvSpPr>
            <p:cNvPr id="53" name="Rectangle 52">
              <a:extLst>
                <a:ext uri="{FF2B5EF4-FFF2-40B4-BE49-F238E27FC236}">
                  <a16:creationId xmlns:a16="http://schemas.microsoft.com/office/drawing/2014/main" id="{19186E01-E5DD-4CF8-B980-31578D78DA2C}"/>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4" name="Freeform 7">
              <a:extLst>
                <a:ext uri="{FF2B5EF4-FFF2-40B4-BE49-F238E27FC236}">
                  <a16:creationId xmlns:a16="http://schemas.microsoft.com/office/drawing/2014/main" id="{4297898A-7690-4887-A538-06925E32496A}"/>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5" name="Freeform 8">
              <a:extLst>
                <a:ext uri="{FF2B5EF4-FFF2-40B4-BE49-F238E27FC236}">
                  <a16:creationId xmlns:a16="http://schemas.microsoft.com/office/drawing/2014/main" id="{EBE1A931-8ED4-4023-B1E7-E7C0FCB53CF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6" name="Freeform 9">
              <a:extLst>
                <a:ext uri="{FF2B5EF4-FFF2-40B4-BE49-F238E27FC236}">
                  <a16:creationId xmlns:a16="http://schemas.microsoft.com/office/drawing/2014/main" id="{3DFA30DE-FC15-4449-9A0C-173C6898FE60}"/>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7" name="Freeform 10">
              <a:extLst>
                <a:ext uri="{FF2B5EF4-FFF2-40B4-BE49-F238E27FC236}">
                  <a16:creationId xmlns:a16="http://schemas.microsoft.com/office/drawing/2014/main" id="{2C43BCA4-E25C-47F7-A5A5-C71BAFE37ABD}"/>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8" name="Freeform 10">
              <a:extLst>
                <a:ext uri="{FF2B5EF4-FFF2-40B4-BE49-F238E27FC236}">
                  <a16:creationId xmlns:a16="http://schemas.microsoft.com/office/drawing/2014/main" id="{6476CD2B-51BA-4E82-9674-026AAE497F13}"/>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9" name="Freeform 11">
              <a:extLst>
                <a:ext uri="{FF2B5EF4-FFF2-40B4-BE49-F238E27FC236}">
                  <a16:creationId xmlns:a16="http://schemas.microsoft.com/office/drawing/2014/main" id="{F65A61BF-2424-45EF-AEBD-67F3A1E98F2D}"/>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46" name="Title 16"/>
          <p:cNvSpPr>
            <a:spLocks noGrp="1"/>
          </p:cNvSpPr>
          <p:nvPr>
            <p:ph type="title" hasCustomPrompt="1"/>
          </p:nvPr>
        </p:nvSpPr>
        <p:spPr bwMode="gray">
          <a:xfrm>
            <a:off x="548782" y="1508934"/>
            <a:ext cx="9960410" cy="2405203"/>
          </a:xfrm>
          <a:prstGeom prst="rect">
            <a:avLst/>
          </a:prstGeom>
        </p:spPr>
        <p:txBody>
          <a:bodyPr lIns="0" tIns="0" rIns="0" bIns="0" anchor="b" anchorCtr="0"/>
          <a:lstStyle>
            <a:lvl1pPr marL="0" algn="l" defTabSz="1218255" rtl="0" eaLnBrk="1" latinLnBrk="0" hangingPunct="1">
              <a:lnSpc>
                <a:spcPts val="4998"/>
              </a:lnSpc>
              <a:spcBef>
                <a:spcPct val="0"/>
              </a:spcBef>
              <a:buNone/>
              <a:defRPr lang="en-US" sz="5996"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548783" y="3956227"/>
            <a:ext cx="9960410" cy="462018"/>
          </a:xfrm>
          <a:prstGeom prst="rect">
            <a:avLst/>
          </a:prstGeom>
        </p:spPr>
        <p:txBody>
          <a:bodyPr lIns="0" tIns="0" rIns="0" bIns="0" anchor="b"/>
          <a:lstStyle>
            <a:lvl1pPr marL="0" indent="0">
              <a:lnSpc>
                <a:spcPts val="2398"/>
              </a:lnSpc>
              <a:spcBef>
                <a:spcPts val="0"/>
              </a:spcBef>
              <a:buNone/>
              <a:defRPr sz="2498" spc="0" baseline="0">
                <a:solidFill>
                  <a:schemeClr val="tx1"/>
                </a:solidFill>
              </a:defRPr>
            </a:lvl1pPr>
            <a:lvl2pPr marL="456926" indent="0">
              <a:buNone/>
              <a:defRPr sz="1998">
                <a:solidFill>
                  <a:schemeClr val="tx1">
                    <a:tint val="75000"/>
                  </a:schemeClr>
                </a:solidFill>
              </a:defRPr>
            </a:lvl2pPr>
            <a:lvl3pPr marL="913852" indent="0">
              <a:buNone/>
              <a:defRPr sz="1798">
                <a:solidFill>
                  <a:schemeClr val="tx1">
                    <a:tint val="75000"/>
                  </a:schemeClr>
                </a:solidFill>
              </a:defRPr>
            </a:lvl3pPr>
            <a:lvl4pPr marL="1370778" indent="0">
              <a:buNone/>
              <a:defRPr sz="1600">
                <a:solidFill>
                  <a:schemeClr val="tx1">
                    <a:tint val="75000"/>
                  </a:schemeClr>
                </a:solidFill>
              </a:defRPr>
            </a:lvl4pPr>
            <a:lvl5pPr marL="1827703" indent="0">
              <a:buNone/>
              <a:defRPr sz="1600">
                <a:solidFill>
                  <a:schemeClr val="tx1">
                    <a:tint val="75000"/>
                  </a:schemeClr>
                </a:solidFill>
              </a:defRPr>
            </a:lvl5pPr>
            <a:lvl6pPr marL="2284628" indent="0">
              <a:buNone/>
              <a:defRPr sz="1600">
                <a:solidFill>
                  <a:schemeClr val="tx1">
                    <a:tint val="75000"/>
                  </a:schemeClr>
                </a:solidFill>
              </a:defRPr>
            </a:lvl6pPr>
            <a:lvl7pPr marL="2741554" indent="0">
              <a:buNone/>
              <a:defRPr sz="1600">
                <a:solidFill>
                  <a:schemeClr val="tx1">
                    <a:tint val="75000"/>
                  </a:schemeClr>
                </a:solidFill>
              </a:defRPr>
            </a:lvl7pPr>
            <a:lvl8pPr marL="3198480" indent="0">
              <a:buNone/>
              <a:defRPr sz="1600">
                <a:solidFill>
                  <a:schemeClr val="tx1">
                    <a:tint val="75000"/>
                  </a:schemeClr>
                </a:solidFill>
              </a:defRPr>
            </a:lvl8pPr>
            <a:lvl9pPr marL="3655406" indent="0">
              <a:buNone/>
              <a:defRPr sz="1600">
                <a:solidFill>
                  <a:schemeClr val="tx1">
                    <a:tint val="75000"/>
                  </a:schemeClr>
                </a:solidFill>
              </a:defRPr>
            </a:lvl9pPr>
          </a:lstStyle>
          <a:p>
            <a:pPr lvl="0"/>
            <a:r>
              <a:rPr lang="en-US"/>
              <a:t>Subhead here</a:t>
            </a:r>
          </a:p>
        </p:txBody>
      </p:sp>
      <p:sp>
        <p:nvSpPr>
          <p:cNvPr id="5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5" name="TextBox 74"/>
          <p:cNvSpPr txBox="1"/>
          <p:nvPr userDrawn="1"/>
        </p:nvSpPr>
        <p:spPr>
          <a:xfrm>
            <a:off x="548783" y="6473952"/>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2020 Lenovo Internal. All rights reserved.</a:t>
            </a:r>
          </a:p>
        </p:txBody>
      </p:sp>
    </p:spTree>
    <p:extLst>
      <p:ext uri="{BB962C8B-B14F-4D97-AF65-F5344CB8AC3E}">
        <p14:creationId xmlns:p14="http://schemas.microsoft.com/office/powerpoint/2010/main" val="700304949"/>
      </p:ext>
    </p:extLst>
  </p:cSld>
  <p:clrMapOvr>
    <a:masterClrMapping/>
  </p:clrMapOvr>
  <p:transition spd="med"/>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
    <p:bg>
      <p:bgPr>
        <a:solidFill>
          <a:schemeClr val="tx1"/>
        </a:solidFill>
        <a:effectLst/>
      </p:bgPr>
    </p:bg>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D7C56BA8-590A-4028-A3BD-EBB4F41E7443}"/>
              </a:ext>
            </a:extLst>
          </p:cNvPr>
          <p:cNvGrpSpPr>
            <a:grpSpLocks noChangeAspect="1"/>
          </p:cNvGrpSpPr>
          <p:nvPr userDrawn="1"/>
        </p:nvGrpSpPr>
        <p:grpSpPr>
          <a:xfrm rot="16200000">
            <a:off x="9858492" y="2024530"/>
            <a:ext cx="3499241" cy="1167779"/>
            <a:chOff x="547688" y="952500"/>
            <a:chExt cx="12190413" cy="4067175"/>
          </a:xfrm>
        </p:grpSpPr>
        <p:sp>
          <p:nvSpPr>
            <p:cNvPr id="53" name="Rectangle 52">
              <a:extLst>
                <a:ext uri="{FF2B5EF4-FFF2-40B4-BE49-F238E27FC236}">
                  <a16:creationId xmlns:a16="http://schemas.microsoft.com/office/drawing/2014/main" id="{19186E01-E5DD-4CF8-B980-31578D78DA2C}"/>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4" name="Freeform 7">
              <a:extLst>
                <a:ext uri="{FF2B5EF4-FFF2-40B4-BE49-F238E27FC236}">
                  <a16:creationId xmlns:a16="http://schemas.microsoft.com/office/drawing/2014/main" id="{4297898A-7690-4887-A538-06925E32496A}"/>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5" name="Freeform 8">
              <a:extLst>
                <a:ext uri="{FF2B5EF4-FFF2-40B4-BE49-F238E27FC236}">
                  <a16:creationId xmlns:a16="http://schemas.microsoft.com/office/drawing/2014/main" id="{EBE1A931-8ED4-4023-B1E7-E7C0FCB53CF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6" name="Freeform 9">
              <a:extLst>
                <a:ext uri="{FF2B5EF4-FFF2-40B4-BE49-F238E27FC236}">
                  <a16:creationId xmlns:a16="http://schemas.microsoft.com/office/drawing/2014/main" id="{3DFA30DE-FC15-4449-9A0C-173C6898FE60}"/>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7" name="Freeform 10">
              <a:extLst>
                <a:ext uri="{FF2B5EF4-FFF2-40B4-BE49-F238E27FC236}">
                  <a16:creationId xmlns:a16="http://schemas.microsoft.com/office/drawing/2014/main" id="{2C43BCA4-E25C-47F7-A5A5-C71BAFE37ABD}"/>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8" name="Freeform 10">
              <a:extLst>
                <a:ext uri="{FF2B5EF4-FFF2-40B4-BE49-F238E27FC236}">
                  <a16:creationId xmlns:a16="http://schemas.microsoft.com/office/drawing/2014/main" id="{6476CD2B-51BA-4E82-9674-026AAE497F13}"/>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9" name="Freeform 11">
              <a:extLst>
                <a:ext uri="{FF2B5EF4-FFF2-40B4-BE49-F238E27FC236}">
                  <a16:creationId xmlns:a16="http://schemas.microsoft.com/office/drawing/2014/main" id="{F65A61BF-2424-45EF-AEBD-67F3A1E98F2D}"/>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46" name="Title 16"/>
          <p:cNvSpPr>
            <a:spLocks noGrp="1"/>
          </p:cNvSpPr>
          <p:nvPr>
            <p:ph type="title" hasCustomPrompt="1"/>
          </p:nvPr>
        </p:nvSpPr>
        <p:spPr bwMode="gray">
          <a:xfrm>
            <a:off x="548782" y="1508934"/>
            <a:ext cx="9960410" cy="2405203"/>
          </a:xfrm>
          <a:prstGeom prst="rect">
            <a:avLst/>
          </a:prstGeom>
        </p:spPr>
        <p:txBody>
          <a:bodyPr lIns="0" tIns="0" rIns="0" bIns="0" anchor="b" anchorCtr="0"/>
          <a:lstStyle>
            <a:lvl1pPr marL="0" algn="l" defTabSz="1218255" rtl="0" eaLnBrk="1" latinLnBrk="0" hangingPunct="1">
              <a:lnSpc>
                <a:spcPts val="4998"/>
              </a:lnSpc>
              <a:spcBef>
                <a:spcPct val="0"/>
              </a:spcBef>
              <a:buNone/>
              <a:defRPr lang="en-US" sz="5996"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548783" y="3956227"/>
            <a:ext cx="9960410" cy="462018"/>
          </a:xfrm>
          <a:prstGeom prst="rect">
            <a:avLst/>
          </a:prstGeom>
        </p:spPr>
        <p:txBody>
          <a:bodyPr lIns="0" tIns="0" rIns="0" bIns="0" anchor="b"/>
          <a:lstStyle>
            <a:lvl1pPr marL="0" indent="0">
              <a:lnSpc>
                <a:spcPts val="2398"/>
              </a:lnSpc>
              <a:spcBef>
                <a:spcPts val="0"/>
              </a:spcBef>
              <a:buNone/>
              <a:defRPr sz="2498" spc="0" baseline="0">
                <a:solidFill>
                  <a:schemeClr val="bg1"/>
                </a:solidFill>
              </a:defRPr>
            </a:lvl1pPr>
            <a:lvl2pPr marL="456926" indent="0">
              <a:buNone/>
              <a:defRPr sz="1998">
                <a:solidFill>
                  <a:schemeClr val="tx1">
                    <a:tint val="75000"/>
                  </a:schemeClr>
                </a:solidFill>
              </a:defRPr>
            </a:lvl2pPr>
            <a:lvl3pPr marL="913852" indent="0">
              <a:buNone/>
              <a:defRPr sz="1798">
                <a:solidFill>
                  <a:schemeClr val="tx1">
                    <a:tint val="75000"/>
                  </a:schemeClr>
                </a:solidFill>
              </a:defRPr>
            </a:lvl3pPr>
            <a:lvl4pPr marL="1370778" indent="0">
              <a:buNone/>
              <a:defRPr sz="1600">
                <a:solidFill>
                  <a:schemeClr val="tx1">
                    <a:tint val="75000"/>
                  </a:schemeClr>
                </a:solidFill>
              </a:defRPr>
            </a:lvl4pPr>
            <a:lvl5pPr marL="1827703" indent="0">
              <a:buNone/>
              <a:defRPr sz="1600">
                <a:solidFill>
                  <a:schemeClr val="tx1">
                    <a:tint val="75000"/>
                  </a:schemeClr>
                </a:solidFill>
              </a:defRPr>
            </a:lvl5pPr>
            <a:lvl6pPr marL="2284628" indent="0">
              <a:buNone/>
              <a:defRPr sz="1600">
                <a:solidFill>
                  <a:schemeClr val="tx1">
                    <a:tint val="75000"/>
                  </a:schemeClr>
                </a:solidFill>
              </a:defRPr>
            </a:lvl6pPr>
            <a:lvl7pPr marL="2741554" indent="0">
              <a:buNone/>
              <a:defRPr sz="1600">
                <a:solidFill>
                  <a:schemeClr val="tx1">
                    <a:tint val="75000"/>
                  </a:schemeClr>
                </a:solidFill>
              </a:defRPr>
            </a:lvl7pPr>
            <a:lvl8pPr marL="3198480" indent="0">
              <a:buNone/>
              <a:defRPr sz="1600">
                <a:solidFill>
                  <a:schemeClr val="tx1">
                    <a:tint val="75000"/>
                  </a:schemeClr>
                </a:solidFill>
              </a:defRPr>
            </a:lvl8pPr>
            <a:lvl9pPr marL="3655406" indent="0">
              <a:buNone/>
              <a:defRPr sz="1600">
                <a:solidFill>
                  <a:schemeClr val="tx1">
                    <a:tint val="75000"/>
                  </a:schemeClr>
                </a:solidFill>
              </a:defRPr>
            </a:lvl9pPr>
          </a:lstStyle>
          <a:p>
            <a:pPr lvl="0"/>
            <a:r>
              <a:rPr lang="en-US"/>
              <a:t>Subhead here</a:t>
            </a:r>
          </a:p>
        </p:txBody>
      </p:sp>
      <p:sp>
        <p:nvSpPr>
          <p:cNvPr id="5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5" name="TextBox 74"/>
          <p:cNvSpPr txBox="1"/>
          <p:nvPr userDrawn="1"/>
        </p:nvSpPr>
        <p:spPr>
          <a:xfrm>
            <a:off x="548783"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spTree>
    <p:extLst>
      <p:ext uri="{BB962C8B-B14F-4D97-AF65-F5344CB8AC3E}">
        <p14:creationId xmlns:p14="http://schemas.microsoft.com/office/powerpoint/2010/main" val="2635663843"/>
      </p:ext>
    </p:extLst>
  </p:cSld>
  <p:clrMapOvr>
    <a:masterClrMapping/>
  </p:clrMapOvr>
  <p:transition spd="med"/>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55025051"/>
      </p:ext>
    </p:extLst>
  </p:cSld>
  <p:clrMapOvr>
    <a:masterClrMapping/>
  </p:clrMapOvr>
  <p:transition spd="med"/>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preserve="1" userDrawn="1">
  <p:cSld name="Title Only_Black">
    <p:bg>
      <p:bgPr>
        <a:solidFill>
          <a:schemeClr val="tx1"/>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0"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5" name="TextBox 4"/>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6" name="Group 5"/>
          <p:cNvGrpSpPr/>
          <p:nvPr userDrawn="1"/>
        </p:nvGrpSpPr>
        <p:grpSpPr>
          <a:xfrm>
            <a:off x="554485" y="6421482"/>
            <a:ext cx="734547" cy="245008"/>
            <a:chOff x="547688" y="952500"/>
            <a:chExt cx="12190413" cy="4067175"/>
          </a:xfrm>
        </p:grpSpPr>
        <p:sp>
          <p:nvSpPr>
            <p:cNvPr id="7" name="Rectangle 6"/>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8" name="Freeform 7"/>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9" name="Freeform 8"/>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1" name="Freeform 10"/>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2" name="Freeform 11"/>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2641036350"/>
      </p:ext>
    </p:extLst>
  </p:cSld>
  <p:clrMapOvr>
    <a:masterClrMapping/>
  </p:clrMapOvr>
  <p:transition spd="med"/>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ctr" anchorCtr="0">
            <a:noAutofit/>
          </a:bodyPr>
          <a:lstStyle>
            <a:lvl1pPr marL="0" indent="0">
              <a:lnSpc>
                <a:spcPts val="2198"/>
              </a:lnSpc>
              <a:spcBef>
                <a:spcPts val="0"/>
              </a:spcBef>
              <a:buNone/>
              <a:defRPr sz="2198" b="0">
                <a:solidFill>
                  <a:schemeClr val="tx1"/>
                </a:solidFill>
                <a:latin typeface="Arial" pitchFamily="34" charset="0"/>
                <a:cs typeface="Arial" pitchFamily="34" charset="0"/>
              </a:defRPr>
            </a:lvl1pPr>
            <a:lvl2pPr marL="609127" indent="0">
              <a:buNone/>
              <a:defRPr sz="2698" b="1"/>
            </a:lvl2pPr>
            <a:lvl3pPr marL="1218255" indent="0">
              <a:buNone/>
              <a:defRPr sz="2398" b="1"/>
            </a:lvl3pPr>
            <a:lvl4pPr marL="1827383" indent="0">
              <a:buNone/>
              <a:defRPr sz="2098" b="1"/>
            </a:lvl4pPr>
            <a:lvl5pPr marL="2436511" indent="0">
              <a:buNone/>
              <a:defRPr sz="2098" b="1"/>
            </a:lvl5pPr>
            <a:lvl6pPr marL="3045639" indent="0">
              <a:buNone/>
              <a:defRPr sz="2098" b="1"/>
            </a:lvl6pPr>
            <a:lvl7pPr marL="3654766" indent="0">
              <a:buNone/>
              <a:defRPr sz="2098" b="1"/>
            </a:lvl7pPr>
            <a:lvl8pPr marL="4263893" indent="0">
              <a:buNone/>
              <a:defRPr sz="2098" b="1"/>
            </a:lvl8pPr>
            <a:lvl9pPr marL="4873022" indent="0">
              <a:buNone/>
              <a:defRPr sz="2098" b="1"/>
            </a:lvl9pPr>
          </a:lstStyle>
          <a:p>
            <a:pPr lvl="0"/>
            <a:r>
              <a:rPr lang="en-US"/>
              <a:t>Click to edit master text styles</a:t>
            </a:r>
          </a:p>
        </p:txBody>
      </p:sp>
      <p:sp>
        <p:nvSpPr>
          <p:cNvPr id="11" name="Title 28"/>
          <p:cNvSpPr>
            <a:spLocks noGrp="1"/>
          </p:cNvSpPr>
          <p:nvPr>
            <p:ph type="title" hasCustomPrompt="1"/>
          </p:nvPr>
        </p:nvSpPr>
        <p:spPr bwMode="gray">
          <a:xfrm>
            <a:off x="548783" y="402341"/>
            <a:ext cx="11076268" cy="356789"/>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530366107"/>
      </p:ext>
    </p:extLst>
  </p:cSld>
  <p:clrMapOvr>
    <a:masterClrMapping/>
  </p:clrMapOvr>
  <p:transition spd="med"/>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Only_Black">
    <p:bg>
      <p:bgPr>
        <a:solidFill>
          <a:schemeClr val="tx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t" anchorCtr="0">
            <a:noAutofit/>
          </a:bodyPr>
          <a:lstStyle>
            <a:lvl1pPr marL="0" indent="0">
              <a:lnSpc>
                <a:spcPts val="2198"/>
              </a:lnSpc>
              <a:spcBef>
                <a:spcPts val="0"/>
              </a:spcBef>
              <a:buNone/>
              <a:defRPr sz="1998" b="0">
                <a:solidFill>
                  <a:schemeClr val="bg1"/>
                </a:solidFill>
                <a:latin typeface="Arial" pitchFamily="34" charset="0"/>
                <a:cs typeface="Arial" pitchFamily="34" charset="0"/>
              </a:defRPr>
            </a:lvl1pPr>
            <a:lvl2pPr marL="609127" indent="0">
              <a:buNone/>
              <a:defRPr sz="2698" b="1"/>
            </a:lvl2pPr>
            <a:lvl3pPr marL="1218255" indent="0">
              <a:buNone/>
              <a:defRPr sz="2398" b="1"/>
            </a:lvl3pPr>
            <a:lvl4pPr marL="1827383" indent="0">
              <a:buNone/>
              <a:defRPr sz="2098" b="1"/>
            </a:lvl4pPr>
            <a:lvl5pPr marL="2436511" indent="0">
              <a:buNone/>
              <a:defRPr sz="2098" b="1"/>
            </a:lvl5pPr>
            <a:lvl6pPr marL="3045639" indent="0">
              <a:buNone/>
              <a:defRPr sz="2098" b="1"/>
            </a:lvl6pPr>
            <a:lvl7pPr marL="3654766" indent="0">
              <a:buNone/>
              <a:defRPr sz="2098" b="1"/>
            </a:lvl7pPr>
            <a:lvl8pPr marL="4263893" indent="0">
              <a:buNone/>
              <a:defRPr sz="2098" b="1"/>
            </a:lvl8pPr>
            <a:lvl9pPr marL="4873022" indent="0">
              <a:buNone/>
              <a:defRPr sz="2098" b="1"/>
            </a:lvl9pPr>
          </a:lstStyle>
          <a:p>
            <a:pPr lvl="0"/>
            <a:r>
              <a:rPr lang="en-US"/>
              <a:t>Click to edit master text styles</a:t>
            </a:r>
          </a:p>
        </p:txBody>
      </p:sp>
      <p:sp>
        <p:nvSpPr>
          <p:cNvPr id="11" name="Title 28"/>
          <p:cNvSpPr>
            <a:spLocks noGrp="1"/>
          </p:cNvSpPr>
          <p:nvPr>
            <p:ph type="title" hasCustomPrompt="1"/>
          </p:nvPr>
        </p:nvSpPr>
        <p:spPr bwMode="gray">
          <a:xfrm>
            <a:off x="548783" y="402341"/>
            <a:ext cx="11076268" cy="399921"/>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 name="TextBox 6"/>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8" name="Group 7"/>
          <p:cNvGrpSpPr/>
          <p:nvPr userDrawn="1"/>
        </p:nvGrpSpPr>
        <p:grpSpPr>
          <a:xfrm>
            <a:off x="554485" y="6421482"/>
            <a:ext cx="734547" cy="245008"/>
            <a:chOff x="547688" y="952500"/>
            <a:chExt cx="12190413" cy="4067175"/>
          </a:xfrm>
        </p:grpSpPr>
        <p:sp>
          <p:nvSpPr>
            <p:cNvPr id="9" name="Rectangle 8"/>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0" name="Freeform 9"/>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2837103070"/>
      </p:ext>
    </p:extLst>
  </p:cSld>
  <p:clrMapOvr>
    <a:masterClrMapping/>
  </p:clrMapOvr>
  <p:transition spd="med"/>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3624"/>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548783" y="1308880"/>
            <a:ext cx="11076268" cy="4906726"/>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8967172"/>
      </p:ext>
    </p:extLst>
  </p:cSld>
  <p:clrMapOvr>
    <a:masterClrMapping/>
  </p:clrMapOvr>
  <p:transition spd="med"/>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preserve="1" userDrawn="1">
  <p:cSld name="Title and Content_Black">
    <p:bg>
      <p:bgPr>
        <a:solidFill>
          <a:schemeClr val="tx1"/>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548783" y="1307593"/>
            <a:ext cx="11076268"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6" name="TextBox 5"/>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7" name="Group 6"/>
          <p:cNvGrpSpPr/>
          <p:nvPr userDrawn="1"/>
        </p:nvGrpSpPr>
        <p:grpSpPr>
          <a:xfrm>
            <a:off x="554485" y="6421482"/>
            <a:ext cx="734547" cy="245008"/>
            <a:chOff x="547688" y="952500"/>
            <a:chExt cx="12190413" cy="4067175"/>
          </a:xfrm>
        </p:grpSpPr>
        <p:sp>
          <p:nvSpPr>
            <p:cNvPr id="8" name="Rectangle 7"/>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9" name="Freeform 8"/>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2" name="Freeform 11"/>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1522803308"/>
      </p:ext>
    </p:extLst>
  </p:cSld>
  <p:clrMapOvr>
    <a:masterClrMapping/>
  </p:clrMapOvr>
  <p:transition spd="med"/>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Title with Subtitle Content">
    <p:bg>
      <p:bgPr>
        <a:solidFill>
          <a:schemeClr val="bg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548783" y="1575767"/>
            <a:ext cx="11076268" cy="4651413"/>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p:nvPr>
        </p:nvSpPr>
        <p:spPr bwMode="gray">
          <a:xfrm>
            <a:off x="557930" y="899112"/>
            <a:ext cx="11076268" cy="292608"/>
          </a:xfrm>
          <a:prstGeom prst="rect">
            <a:avLst/>
          </a:prstGeom>
        </p:spPr>
        <p:txBody>
          <a:bodyPr lIns="0" tIns="0" rIns="0" bIns="0" anchor="ctr" anchorCtr="0">
            <a:noAutofit/>
          </a:bodyPr>
          <a:lstStyle>
            <a:lvl1pPr marL="0" indent="0">
              <a:lnSpc>
                <a:spcPts val="2198"/>
              </a:lnSpc>
              <a:spcBef>
                <a:spcPts val="0"/>
              </a:spcBef>
              <a:buNone/>
              <a:defRPr sz="2198" b="0">
                <a:solidFill>
                  <a:schemeClr val="tx1"/>
                </a:solidFill>
                <a:latin typeface="Arial" pitchFamily="34" charset="0"/>
                <a:cs typeface="Arial" pitchFamily="34" charset="0"/>
              </a:defRPr>
            </a:lvl1pPr>
            <a:lvl2pPr marL="609127" indent="0">
              <a:buNone/>
              <a:defRPr sz="2698" b="1"/>
            </a:lvl2pPr>
            <a:lvl3pPr marL="1218255" indent="0">
              <a:buNone/>
              <a:defRPr sz="2398" b="1"/>
            </a:lvl3pPr>
            <a:lvl4pPr marL="1827383" indent="0">
              <a:buNone/>
              <a:defRPr sz="2098" b="1"/>
            </a:lvl4pPr>
            <a:lvl5pPr marL="2436511" indent="0">
              <a:buNone/>
              <a:defRPr sz="2098" b="1"/>
            </a:lvl5pPr>
            <a:lvl6pPr marL="3045639" indent="0">
              <a:buNone/>
              <a:defRPr sz="2098" b="1"/>
            </a:lvl6pPr>
            <a:lvl7pPr marL="3654766" indent="0">
              <a:buNone/>
              <a:defRPr sz="2098" b="1"/>
            </a:lvl7pPr>
            <a:lvl8pPr marL="4263893" indent="0">
              <a:buNone/>
              <a:defRPr sz="2098" b="1"/>
            </a:lvl8pPr>
            <a:lvl9pPr marL="4873022" indent="0">
              <a:buNone/>
              <a:defRPr sz="2098" b="1"/>
            </a:lvl9pPr>
          </a:lstStyle>
          <a:p>
            <a:pPr lvl="0"/>
            <a:r>
              <a:rPr lang="en-US"/>
              <a:t>Click to edit Master text styles</a:t>
            </a:r>
          </a:p>
        </p:txBody>
      </p:sp>
      <p:sp>
        <p:nvSpPr>
          <p:cNvPr id="11" name="Title 28"/>
          <p:cNvSpPr>
            <a:spLocks noGrp="1"/>
          </p:cNvSpPr>
          <p:nvPr>
            <p:ph type="title" hasCustomPrompt="1"/>
          </p:nvPr>
        </p:nvSpPr>
        <p:spPr bwMode="gray">
          <a:xfrm>
            <a:off x="548783" y="402341"/>
            <a:ext cx="11076268" cy="369451"/>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416621198"/>
      </p:ext>
    </p:extLst>
  </p:cSld>
  <p:clrMapOvr>
    <a:masterClrMapping/>
  </p:clrMapOvr>
  <p:transition spd="med"/>
</p:sldLayout>
</file>

<file path=ppt/slideLayouts/slideLayout220.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Content_Black">
    <p:bg>
      <p:bgPr>
        <a:solidFill>
          <a:schemeClr val="tx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548783" y="1572770"/>
            <a:ext cx="11076268" cy="4654413"/>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t" anchorCtr="0">
            <a:noAutofit/>
          </a:bodyPr>
          <a:lstStyle>
            <a:lvl1pPr marL="0" indent="0">
              <a:lnSpc>
                <a:spcPts val="2198"/>
              </a:lnSpc>
              <a:spcBef>
                <a:spcPts val="0"/>
              </a:spcBef>
              <a:buNone/>
              <a:defRPr sz="1998" b="0">
                <a:solidFill>
                  <a:schemeClr val="bg1"/>
                </a:solidFill>
                <a:latin typeface="Arial" pitchFamily="34" charset="0"/>
                <a:cs typeface="Arial" pitchFamily="34" charset="0"/>
              </a:defRPr>
            </a:lvl1pPr>
            <a:lvl2pPr marL="609127" indent="0">
              <a:buNone/>
              <a:defRPr sz="2698" b="1"/>
            </a:lvl2pPr>
            <a:lvl3pPr marL="1218255" indent="0">
              <a:buNone/>
              <a:defRPr sz="2398" b="1"/>
            </a:lvl3pPr>
            <a:lvl4pPr marL="1827383" indent="0">
              <a:buNone/>
              <a:defRPr sz="2098" b="1"/>
            </a:lvl4pPr>
            <a:lvl5pPr marL="2436511" indent="0">
              <a:buNone/>
              <a:defRPr sz="2098" b="1"/>
            </a:lvl5pPr>
            <a:lvl6pPr marL="3045639" indent="0">
              <a:buNone/>
              <a:defRPr sz="2098" b="1"/>
            </a:lvl6pPr>
            <a:lvl7pPr marL="3654766" indent="0">
              <a:buNone/>
              <a:defRPr sz="2098" b="1"/>
            </a:lvl7pPr>
            <a:lvl8pPr marL="4263893" indent="0">
              <a:buNone/>
              <a:defRPr sz="2098" b="1"/>
            </a:lvl8pPr>
            <a:lvl9pPr marL="4873022" indent="0">
              <a:buNone/>
              <a:defRPr sz="2098" b="1"/>
            </a:lvl9pPr>
          </a:lstStyle>
          <a:p>
            <a:pPr lvl="0"/>
            <a:r>
              <a:rPr lang="en-US"/>
              <a:t>Click to edit master text styles</a:t>
            </a:r>
          </a:p>
        </p:txBody>
      </p:sp>
      <p:sp>
        <p:nvSpPr>
          <p:cNvPr id="11" name="Title 28"/>
          <p:cNvSpPr>
            <a:spLocks noGrp="1"/>
          </p:cNvSpPr>
          <p:nvPr>
            <p:ph type="title" hasCustomPrompt="1"/>
          </p:nvPr>
        </p:nvSpPr>
        <p:spPr bwMode="gray">
          <a:xfrm>
            <a:off x="548783" y="402336"/>
            <a:ext cx="11076268" cy="392616"/>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 name="TextBox 6"/>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8" name="Group 7"/>
          <p:cNvGrpSpPr/>
          <p:nvPr userDrawn="1"/>
        </p:nvGrpSpPr>
        <p:grpSpPr>
          <a:xfrm>
            <a:off x="554485" y="6421482"/>
            <a:ext cx="734547" cy="245008"/>
            <a:chOff x="547688" y="952500"/>
            <a:chExt cx="12190413" cy="4067175"/>
          </a:xfrm>
        </p:grpSpPr>
        <p:sp>
          <p:nvSpPr>
            <p:cNvPr id="9" name="Rectangle 8"/>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0" name="Freeform 9"/>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1730682150"/>
      </p:ext>
    </p:extLst>
  </p:cSld>
  <p:clrMapOvr>
    <a:masterClrMapping/>
  </p:clrMapOvr>
  <p:transition spd="med"/>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Two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5" y="1307596"/>
            <a:ext cx="5380359"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244692" y="1307596"/>
            <a:ext cx="5380359"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034401361"/>
      </p:ext>
    </p:extLst>
  </p:cSld>
  <p:clrMapOvr>
    <a:masterClrMapping/>
  </p:clrMapOvr>
  <p:transition spd="med"/>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preserve="1" userDrawn="1">
  <p:cSld name="Two Column Slide_Black">
    <p:bg>
      <p:bgPr>
        <a:solidFill>
          <a:schemeClr val="tx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5" y="1307596"/>
            <a:ext cx="5380359"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244692" y="1307596"/>
            <a:ext cx="5380359"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 name="TextBox 6"/>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8" name="Group 7"/>
          <p:cNvGrpSpPr/>
          <p:nvPr userDrawn="1"/>
        </p:nvGrpSpPr>
        <p:grpSpPr>
          <a:xfrm>
            <a:off x="554485" y="6421482"/>
            <a:ext cx="734547" cy="245008"/>
            <a:chOff x="547688" y="952500"/>
            <a:chExt cx="12190413" cy="4067175"/>
          </a:xfrm>
        </p:grpSpPr>
        <p:sp>
          <p:nvSpPr>
            <p:cNvPr id="9" name="Rectangle 8"/>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0" name="Freeform 9"/>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17533596"/>
      </p:ext>
    </p:extLst>
  </p:cSld>
  <p:clrMapOvr>
    <a:masterClrMapping/>
  </p:clrMapOvr>
  <p:transition spd="med"/>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Three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5"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8" name="Content Placeholder 2"/>
          <p:cNvSpPr>
            <a:spLocks noGrp="1"/>
          </p:cNvSpPr>
          <p:nvPr>
            <p:ph sz="half" idx="10"/>
          </p:nvPr>
        </p:nvSpPr>
        <p:spPr bwMode="gray">
          <a:xfrm>
            <a:off x="4349107"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149426"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06315185"/>
      </p:ext>
    </p:extLst>
  </p:cSld>
  <p:clrMapOvr>
    <a:masterClrMapping/>
  </p:clrMapOvr>
  <p:transition spd="med"/>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preserve="1" userDrawn="1">
  <p:cSld name="Three Column Slide_Black">
    <p:bg>
      <p:bgPr>
        <a:solidFill>
          <a:schemeClr val="tx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5"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8" name="Content Placeholder 2"/>
          <p:cNvSpPr>
            <a:spLocks noGrp="1"/>
          </p:cNvSpPr>
          <p:nvPr>
            <p:ph sz="half" idx="10"/>
          </p:nvPr>
        </p:nvSpPr>
        <p:spPr bwMode="gray">
          <a:xfrm>
            <a:off x="4349107"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149426"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Box 9"/>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2" name="Group 11"/>
          <p:cNvGrpSpPr/>
          <p:nvPr userDrawn="1"/>
        </p:nvGrpSpPr>
        <p:grpSpPr>
          <a:xfrm>
            <a:off x="554485" y="6421482"/>
            <a:ext cx="734547" cy="245008"/>
            <a:chOff x="547688" y="952500"/>
            <a:chExt cx="12190413" cy="4067175"/>
          </a:xfrm>
        </p:grpSpPr>
        <p:sp>
          <p:nvSpPr>
            <p:cNvPr id="13" name="Rectangle 12"/>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7"/>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8"/>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0"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1"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3746000538"/>
      </p:ext>
    </p:extLst>
  </p:cSld>
  <p:clrMapOvr>
    <a:masterClrMapping/>
  </p:clrMapOvr>
  <p:transition spd="med"/>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Title w/Imag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6038290"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3" y="1307596"/>
            <a:ext cx="6038290"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37068" y="0"/>
            <a:ext cx="5354934"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18"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948943573"/>
      </p:ext>
    </p:extLst>
  </p:cSld>
  <p:clrMapOvr>
    <a:masterClrMapping/>
  </p:clrMapOvr>
  <p:transition spd="med"/>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preserve="1" userDrawn="1">
  <p:cSld name="Title w/Image_Black">
    <p:bg>
      <p:bgPr>
        <a:solidFill>
          <a:schemeClr val="tx1"/>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6038290"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3" y="1307596"/>
            <a:ext cx="6038290"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37068" y="0"/>
            <a:ext cx="5354934"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19" name="TextBox 18"/>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20" name="Group 19"/>
          <p:cNvGrpSpPr/>
          <p:nvPr userDrawn="1"/>
        </p:nvGrpSpPr>
        <p:grpSpPr>
          <a:xfrm>
            <a:off x="554485" y="6421482"/>
            <a:ext cx="734547" cy="245008"/>
            <a:chOff x="547688" y="952500"/>
            <a:chExt cx="12190413" cy="4067175"/>
          </a:xfrm>
        </p:grpSpPr>
        <p:sp>
          <p:nvSpPr>
            <p:cNvPr id="21" name="Rectangle 20"/>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2" name="Freeform 21"/>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3" name="Freeform 2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4" name="Freeform 2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5" name="Freeform 2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4209570020"/>
      </p:ext>
    </p:extLst>
  </p:cSld>
  <p:clrMapOvr>
    <a:masterClrMapping/>
  </p:clrMapOvr>
  <p:transition spd="med"/>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Photo + Statement">
    <p:spTree>
      <p:nvGrpSpPr>
        <p:cNvPr id="1" name=""/>
        <p:cNvGrpSpPr/>
        <p:nvPr/>
      </p:nvGrpSpPr>
      <p:grpSpPr>
        <a:xfrm>
          <a:off x="0" y="0"/>
          <a:ext cx="0" cy="0"/>
          <a:chOff x="0" y="0"/>
          <a:chExt cx="0" cy="0"/>
        </a:xfrm>
      </p:grpSpPr>
      <p:sp>
        <p:nvSpPr>
          <p:cNvPr id="3" name="Rectangle 2"/>
          <p:cNvSpPr/>
          <p:nvPr userDrawn="1"/>
        </p:nvSpPr>
        <p:spPr>
          <a:xfrm>
            <a:off x="3"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6" name="Picture Placeholder 8"/>
          <p:cNvSpPr>
            <a:spLocks noGrp="1"/>
          </p:cNvSpPr>
          <p:nvPr>
            <p:ph type="pic" sz="quarter" idx="16"/>
          </p:nvPr>
        </p:nvSpPr>
        <p:spPr>
          <a:xfrm>
            <a:off x="4062849" y="0"/>
            <a:ext cx="8129151"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14" name="Text Placeholder 3"/>
          <p:cNvSpPr>
            <a:spLocks noGrp="1"/>
          </p:cNvSpPr>
          <p:nvPr>
            <p:ph type="body" sz="quarter" idx="18" hasCustomPrompt="1"/>
          </p:nvPr>
        </p:nvSpPr>
        <p:spPr>
          <a:xfrm>
            <a:off x="548783" y="849538"/>
            <a:ext cx="3514066" cy="1926795"/>
          </a:xfrm>
          <a:prstGeom prst="rect">
            <a:avLst/>
          </a:prstGeom>
          <a:noFill/>
        </p:spPr>
        <p:txBody>
          <a:bodyPr lIns="0" tIns="0" rIns="0" bIns="0" anchor="t">
            <a:noAutofit/>
          </a:bodyPr>
          <a:lstStyle>
            <a:lvl1pPr marL="0" indent="0">
              <a:lnSpc>
                <a:spcPts val="4198"/>
              </a:lnSpc>
              <a:spcBef>
                <a:spcPts val="0"/>
              </a:spcBef>
              <a:buFont typeface="Arial" panose="020B0604020202020204" pitchFamily="34" charset="0"/>
              <a:buNone/>
              <a:defRPr sz="4598" b="1" strike="noStrike" spc="-150" baseline="0">
                <a:solidFill>
                  <a:schemeClr val="tx1"/>
                </a:solidFill>
              </a:defRPr>
            </a:lvl1pPr>
            <a:lvl2pPr marL="341109" indent="0">
              <a:buNone/>
              <a:defRPr/>
            </a:lvl2pPr>
            <a:lvl3pPr marL="679042" indent="0">
              <a:buNone/>
              <a:defRPr/>
            </a:lvl3pPr>
            <a:lvl4pPr marL="966207" indent="0">
              <a:buNone/>
              <a:defRPr/>
            </a:lvl4pPr>
            <a:lvl5pPr marL="1145487" indent="0">
              <a:buNone/>
              <a:defRPr/>
            </a:lvl5pPr>
          </a:lstStyle>
          <a:p>
            <a:pPr lvl="0"/>
            <a:r>
              <a:rPr lang="en-US"/>
              <a:t>Photo plus</a:t>
            </a:r>
            <a:br>
              <a:rPr lang="en-US"/>
            </a:br>
            <a:r>
              <a:rPr lang="en-US"/>
              <a:t>statement</a:t>
            </a:r>
            <a:br>
              <a:rPr lang="en-US"/>
            </a:br>
            <a:r>
              <a:rPr lang="en-US"/>
              <a:t>layout</a:t>
            </a:r>
          </a:p>
        </p:txBody>
      </p:sp>
      <p:sp>
        <p:nvSpPr>
          <p:cNvPr id="8" name="Text Placeholder 7"/>
          <p:cNvSpPr>
            <a:spLocks noGrp="1"/>
          </p:cNvSpPr>
          <p:nvPr>
            <p:ph type="body" sz="quarter" idx="19" hasCustomPrompt="1"/>
          </p:nvPr>
        </p:nvSpPr>
        <p:spPr>
          <a:xfrm>
            <a:off x="548786" y="2943641"/>
            <a:ext cx="3514065" cy="1641615"/>
          </a:xfrm>
          <a:prstGeom prst="rect">
            <a:avLst/>
          </a:prstGeom>
        </p:spPr>
        <p:txBody>
          <a:bodyPr lIns="0" tIns="0" rIns="0" bIns="0"/>
          <a:lstStyle>
            <a:lvl1pPr marL="0" indent="0">
              <a:lnSpc>
                <a:spcPts val="2398"/>
              </a:lnSpc>
              <a:spcBef>
                <a:spcPts val="0"/>
              </a:spcBef>
              <a:buNone/>
              <a:defRPr sz="2398" baseline="0">
                <a:solidFill>
                  <a:schemeClr val="tx1"/>
                </a:solidFill>
              </a:defRPr>
            </a:lvl1pPr>
            <a:lvl2pPr marL="609128" indent="0">
              <a:buNone/>
              <a:defRPr/>
            </a:lvl2pPr>
            <a:lvl3pPr marL="1218254" indent="0">
              <a:buNone/>
              <a:defRPr/>
            </a:lvl3pPr>
            <a:lvl4pPr marL="1827383" indent="0">
              <a:buNone/>
              <a:defRPr/>
            </a:lvl4pPr>
            <a:lvl5pPr marL="2436511" indent="0">
              <a:buNone/>
              <a:defRPr/>
            </a:lvl5pPr>
          </a:lstStyle>
          <a:p>
            <a:pPr lvl="0"/>
            <a:r>
              <a:rPr lang="en-US"/>
              <a:t>Subtitle goes here</a:t>
            </a:r>
          </a:p>
        </p:txBody>
      </p:sp>
      <p:sp>
        <p:nvSpPr>
          <p:cNvPr id="18"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623094408"/>
      </p:ext>
    </p:extLst>
  </p:cSld>
  <p:clrMapOvr>
    <a:masterClrMapping/>
  </p:clrMapOvr>
  <p:transition spd="med"/>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preserve="1" userDrawn="1">
  <p:cSld name="Photo + Statement_Black">
    <p:bg>
      <p:bgPr>
        <a:solidFill>
          <a:schemeClr val="tx1"/>
        </a:solidFill>
        <a:effectLst/>
      </p:bgPr>
    </p:bg>
    <p:spTree>
      <p:nvGrpSpPr>
        <p:cNvPr id="1" name=""/>
        <p:cNvGrpSpPr/>
        <p:nvPr/>
      </p:nvGrpSpPr>
      <p:grpSpPr>
        <a:xfrm>
          <a:off x="0" y="0"/>
          <a:ext cx="0" cy="0"/>
          <a:chOff x="0" y="0"/>
          <a:chExt cx="0" cy="0"/>
        </a:xfrm>
      </p:grpSpPr>
      <p:sp>
        <p:nvSpPr>
          <p:cNvPr id="3" name="Rectangle 2"/>
          <p:cNvSpPr/>
          <p:nvPr userDrawn="1"/>
        </p:nvSpPr>
        <p:spPr>
          <a:xfrm>
            <a:off x="3"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6" name="Picture Placeholder 8"/>
          <p:cNvSpPr>
            <a:spLocks noGrp="1"/>
          </p:cNvSpPr>
          <p:nvPr>
            <p:ph type="pic" sz="quarter" idx="16"/>
          </p:nvPr>
        </p:nvSpPr>
        <p:spPr>
          <a:xfrm>
            <a:off x="4062849" y="0"/>
            <a:ext cx="8129151"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14" name="Text Placeholder 3"/>
          <p:cNvSpPr>
            <a:spLocks noGrp="1"/>
          </p:cNvSpPr>
          <p:nvPr>
            <p:ph type="body" sz="quarter" idx="18" hasCustomPrompt="1"/>
          </p:nvPr>
        </p:nvSpPr>
        <p:spPr>
          <a:xfrm>
            <a:off x="548783" y="849538"/>
            <a:ext cx="3514066" cy="1926795"/>
          </a:xfrm>
          <a:prstGeom prst="rect">
            <a:avLst/>
          </a:prstGeom>
          <a:noFill/>
        </p:spPr>
        <p:txBody>
          <a:bodyPr lIns="0" tIns="0" rIns="0" bIns="0" anchor="t">
            <a:noAutofit/>
          </a:bodyPr>
          <a:lstStyle>
            <a:lvl1pPr marL="0" indent="0">
              <a:lnSpc>
                <a:spcPts val="4198"/>
              </a:lnSpc>
              <a:spcBef>
                <a:spcPts val="0"/>
              </a:spcBef>
              <a:buFont typeface="Arial" panose="020B0604020202020204" pitchFamily="34" charset="0"/>
              <a:buNone/>
              <a:defRPr sz="4598" b="1" strike="noStrike" spc="-150" baseline="0">
                <a:solidFill>
                  <a:schemeClr val="bg1"/>
                </a:solidFill>
              </a:defRPr>
            </a:lvl1pPr>
            <a:lvl2pPr marL="341109" indent="0">
              <a:buNone/>
              <a:defRPr/>
            </a:lvl2pPr>
            <a:lvl3pPr marL="679042" indent="0">
              <a:buNone/>
              <a:defRPr/>
            </a:lvl3pPr>
            <a:lvl4pPr marL="966207" indent="0">
              <a:buNone/>
              <a:defRPr/>
            </a:lvl4pPr>
            <a:lvl5pPr marL="1145487" indent="0">
              <a:buNone/>
              <a:defRPr/>
            </a:lvl5pPr>
          </a:lstStyle>
          <a:p>
            <a:pPr lvl="0"/>
            <a:r>
              <a:rPr lang="en-US"/>
              <a:t>Photo plus</a:t>
            </a:r>
            <a:br>
              <a:rPr lang="en-US"/>
            </a:br>
            <a:r>
              <a:rPr lang="en-US"/>
              <a:t>statement</a:t>
            </a:r>
            <a:br>
              <a:rPr lang="en-US"/>
            </a:br>
            <a:r>
              <a:rPr lang="en-US"/>
              <a:t>layout</a:t>
            </a:r>
          </a:p>
        </p:txBody>
      </p:sp>
      <p:sp>
        <p:nvSpPr>
          <p:cNvPr id="8" name="Text Placeholder 7"/>
          <p:cNvSpPr>
            <a:spLocks noGrp="1"/>
          </p:cNvSpPr>
          <p:nvPr>
            <p:ph type="body" sz="quarter" idx="19" hasCustomPrompt="1"/>
          </p:nvPr>
        </p:nvSpPr>
        <p:spPr>
          <a:xfrm>
            <a:off x="548786" y="2943641"/>
            <a:ext cx="3514065" cy="1641615"/>
          </a:xfrm>
          <a:prstGeom prst="rect">
            <a:avLst/>
          </a:prstGeom>
        </p:spPr>
        <p:txBody>
          <a:bodyPr lIns="0" tIns="0" rIns="0" bIns="0"/>
          <a:lstStyle>
            <a:lvl1pPr marL="0" indent="0">
              <a:lnSpc>
                <a:spcPts val="2398"/>
              </a:lnSpc>
              <a:spcBef>
                <a:spcPts val="0"/>
              </a:spcBef>
              <a:buNone/>
              <a:defRPr sz="2398" baseline="0">
                <a:solidFill>
                  <a:schemeClr val="bg1"/>
                </a:solidFill>
              </a:defRPr>
            </a:lvl1pPr>
            <a:lvl2pPr marL="609128" indent="0">
              <a:buNone/>
              <a:defRPr/>
            </a:lvl2pPr>
            <a:lvl3pPr marL="1218254" indent="0">
              <a:buNone/>
              <a:defRPr/>
            </a:lvl3pPr>
            <a:lvl4pPr marL="1827383" indent="0">
              <a:buNone/>
              <a:defRPr/>
            </a:lvl4pPr>
            <a:lvl5pPr marL="2436511" indent="0">
              <a:buNone/>
              <a:defRPr/>
            </a:lvl5pPr>
          </a:lstStyle>
          <a:p>
            <a:pPr lvl="0"/>
            <a:r>
              <a:rPr lang="en-US"/>
              <a:t>Subtitle goes here</a:t>
            </a:r>
          </a:p>
        </p:txBody>
      </p:sp>
      <p:sp>
        <p:nvSpPr>
          <p:cNvPr id="13"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9" name="TextBox 8"/>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0" name="Group 9"/>
          <p:cNvGrpSpPr/>
          <p:nvPr userDrawn="1"/>
        </p:nvGrpSpPr>
        <p:grpSpPr>
          <a:xfrm>
            <a:off x="554485" y="6421482"/>
            <a:ext cx="734547" cy="245008"/>
            <a:chOff x="547688" y="952500"/>
            <a:chExt cx="12190413" cy="4067175"/>
          </a:xfrm>
        </p:grpSpPr>
        <p:sp>
          <p:nvSpPr>
            <p:cNvPr id="11" name="Rectangle 10"/>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2" name="Freeform 11"/>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5"/>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6"/>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3182503008"/>
      </p:ext>
    </p:extLst>
  </p:cSld>
  <p:clrMapOvr>
    <a:masterClrMapping/>
  </p:clrMapOvr>
  <p:transition spd="med"/>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Quote Layout">
    <p:bg>
      <p:bgPr>
        <a:solidFill>
          <a:schemeClr val="bg1"/>
        </a:solidFill>
        <a:effectLst/>
      </p:bgPr>
    </p:bg>
    <p:spTree>
      <p:nvGrpSpPr>
        <p:cNvPr id="1" name=""/>
        <p:cNvGrpSpPr/>
        <p:nvPr/>
      </p:nvGrpSpPr>
      <p:grpSpPr>
        <a:xfrm>
          <a:off x="0" y="0"/>
          <a:ext cx="0" cy="0"/>
          <a:chOff x="0" y="0"/>
          <a:chExt cx="0" cy="0"/>
        </a:xfrm>
      </p:grpSpPr>
      <p:sp>
        <p:nvSpPr>
          <p:cNvPr id="15" name="Text Placeholder 107"/>
          <p:cNvSpPr>
            <a:spLocks noGrp="1"/>
          </p:cNvSpPr>
          <p:nvPr>
            <p:ph type="body" sz="quarter" idx="18" hasCustomPrompt="1"/>
          </p:nvPr>
        </p:nvSpPr>
        <p:spPr bwMode="white">
          <a:xfrm>
            <a:off x="548783" y="1276354"/>
            <a:ext cx="10167728" cy="3242641"/>
          </a:xfrm>
          <a:prstGeom prst="rect">
            <a:avLst/>
          </a:prstGeom>
        </p:spPr>
        <p:txBody>
          <a:bodyPr lIns="0" anchor="t">
            <a:normAutofit/>
          </a:bodyPr>
          <a:lstStyle>
            <a:lvl1pPr marL="0" indent="0" algn="l">
              <a:lnSpc>
                <a:spcPct val="100000"/>
              </a:lnSpc>
              <a:buNone/>
              <a:defRPr sz="4398" b="1" spc="-150">
                <a:solidFill>
                  <a:schemeClr val="tx1"/>
                </a:solidFill>
              </a:defRPr>
            </a:lvl1pPr>
            <a:lvl2pPr marL="341109" indent="0" algn="ctr">
              <a:buNone/>
              <a:defRPr>
                <a:solidFill>
                  <a:schemeClr val="bg1"/>
                </a:solidFill>
              </a:defRPr>
            </a:lvl2pPr>
            <a:lvl3pPr marL="679042" indent="0" algn="ctr">
              <a:buNone/>
              <a:defRPr>
                <a:solidFill>
                  <a:schemeClr val="bg1"/>
                </a:solidFill>
              </a:defRPr>
            </a:lvl3pPr>
            <a:lvl4pPr marL="966207" indent="0" algn="ctr">
              <a:buNone/>
              <a:defRPr>
                <a:solidFill>
                  <a:schemeClr val="bg1"/>
                </a:solidFill>
              </a:defRPr>
            </a:lvl4pPr>
            <a:lvl5pPr marL="1145487" indent="0" algn="ctr">
              <a:buNone/>
              <a:defRPr>
                <a:solidFill>
                  <a:schemeClr val="bg1"/>
                </a:solidFill>
              </a:defRPr>
            </a:lvl5pPr>
          </a:lstStyle>
          <a:p>
            <a:pPr lvl="0"/>
            <a:r>
              <a:rPr lang="en-US"/>
              <a:t>Click to edit quote</a:t>
            </a:r>
          </a:p>
        </p:txBody>
      </p:sp>
      <p:sp>
        <p:nvSpPr>
          <p:cNvPr id="17" name="Text Placeholder 110"/>
          <p:cNvSpPr>
            <a:spLocks noGrp="1"/>
          </p:cNvSpPr>
          <p:nvPr>
            <p:ph type="body" sz="quarter" idx="19" hasCustomPrompt="1"/>
          </p:nvPr>
        </p:nvSpPr>
        <p:spPr>
          <a:xfrm>
            <a:off x="554484" y="4623890"/>
            <a:ext cx="10162029" cy="876300"/>
          </a:xfrm>
          <a:prstGeom prst="rect">
            <a:avLst/>
          </a:prstGeom>
        </p:spPr>
        <p:txBody>
          <a:bodyPr lIns="0"/>
          <a:lstStyle>
            <a:lvl1pPr marL="0" indent="0" algn="l">
              <a:buNone/>
              <a:defRPr sz="2398" b="1" spc="-150" baseline="0">
                <a:solidFill>
                  <a:schemeClr val="tx1"/>
                </a:solidFill>
              </a:defRPr>
            </a:lvl1pPr>
            <a:lvl2pPr marL="341109" indent="0">
              <a:buNone/>
              <a:defRPr/>
            </a:lvl2pPr>
            <a:lvl3pPr marL="679042" indent="0">
              <a:buNone/>
              <a:defRPr/>
            </a:lvl3pPr>
            <a:lvl4pPr marL="966207" indent="0">
              <a:buNone/>
              <a:defRPr/>
            </a:lvl4pPr>
            <a:lvl5pPr marL="1145487" indent="0">
              <a:buNone/>
              <a:defRPr/>
            </a:lvl5pPr>
          </a:lstStyle>
          <a:p>
            <a:pPr lvl="0"/>
            <a:r>
              <a:rPr lang="en-US"/>
              <a:t>Click to edit quote source</a:t>
            </a:r>
          </a:p>
        </p:txBody>
      </p:sp>
      <p:grpSp>
        <p:nvGrpSpPr>
          <p:cNvPr id="12" name="Group 11"/>
          <p:cNvGrpSpPr/>
          <p:nvPr userDrawn="1"/>
        </p:nvGrpSpPr>
        <p:grpSpPr>
          <a:xfrm>
            <a:off x="548783" y="398468"/>
            <a:ext cx="990858" cy="735013"/>
            <a:chOff x="657226" y="398463"/>
            <a:chExt cx="990600" cy="735013"/>
          </a:xfrm>
          <a:gradFill>
            <a:gsLst>
              <a:gs pos="0">
                <a:srgbClr val="F2A11F"/>
              </a:gs>
              <a:gs pos="37000">
                <a:srgbClr val="EC5124"/>
              </a:gs>
              <a:gs pos="79000">
                <a:srgbClr val="D32A27"/>
              </a:gs>
              <a:gs pos="100000">
                <a:srgbClr val="7A425E"/>
              </a:gs>
            </a:gsLst>
            <a:lin ang="2400000" scaled="0"/>
          </a:gradFill>
        </p:grpSpPr>
        <p:sp>
          <p:nvSpPr>
            <p:cNvPr id="7" name="Freeform 5"/>
            <p:cNvSpPr>
              <a:spLocks/>
            </p:cNvSpPr>
            <p:nvPr userDrawn="1"/>
          </p:nvSpPr>
          <p:spPr bwMode="auto">
            <a:xfrm>
              <a:off x="657226"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8" name="Freeform 6"/>
            <p:cNvSpPr>
              <a:spLocks/>
            </p:cNvSpPr>
            <p:nvPr userDrawn="1"/>
          </p:nvSpPr>
          <p:spPr bwMode="auto">
            <a:xfrm>
              <a:off x="1195388"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2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13044429"/>
      </p:ext>
    </p:extLst>
  </p:cSld>
  <p:clrMapOvr>
    <a:masterClrMapping/>
  </p:clrMapOvr>
  <p:transition spd="med"/>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preserve="1" userDrawn="1">
  <p:cSld name="Quote Layout_Black">
    <p:bg>
      <p:bgPr>
        <a:solidFill>
          <a:schemeClr val="tx1"/>
        </a:solidFill>
        <a:effectLst/>
      </p:bgPr>
    </p:bg>
    <p:spTree>
      <p:nvGrpSpPr>
        <p:cNvPr id="1" name=""/>
        <p:cNvGrpSpPr/>
        <p:nvPr/>
      </p:nvGrpSpPr>
      <p:grpSpPr>
        <a:xfrm>
          <a:off x="0" y="0"/>
          <a:ext cx="0" cy="0"/>
          <a:chOff x="0" y="0"/>
          <a:chExt cx="0" cy="0"/>
        </a:xfrm>
      </p:grpSpPr>
      <p:sp>
        <p:nvSpPr>
          <p:cNvPr id="15" name="Text Placeholder 107"/>
          <p:cNvSpPr>
            <a:spLocks noGrp="1"/>
          </p:cNvSpPr>
          <p:nvPr>
            <p:ph type="body" sz="quarter" idx="18" hasCustomPrompt="1"/>
          </p:nvPr>
        </p:nvSpPr>
        <p:spPr bwMode="white">
          <a:xfrm>
            <a:off x="548783" y="1276354"/>
            <a:ext cx="10167728" cy="3242641"/>
          </a:xfrm>
          <a:prstGeom prst="rect">
            <a:avLst/>
          </a:prstGeom>
        </p:spPr>
        <p:txBody>
          <a:bodyPr lIns="0" anchor="t">
            <a:normAutofit/>
          </a:bodyPr>
          <a:lstStyle>
            <a:lvl1pPr marL="0" indent="0" algn="l">
              <a:lnSpc>
                <a:spcPct val="100000"/>
              </a:lnSpc>
              <a:buNone/>
              <a:defRPr sz="4398" b="1" spc="-150">
                <a:solidFill>
                  <a:schemeClr val="bg1"/>
                </a:solidFill>
              </a:defRPr>
            </a:lvl1pPr>
            <a:lvl2pPr marL="341109" indent="0" algn="ctr">
              <a:buNone/>
              <a:defRPr>
                <a:solidFill>
                  <a:schemeClr val="bg1"/>
                </a:solidFill>
              </a:defRPr>
            </a:lvl2pPr>
            <a:lvl3pPr marL="679042" indent="0" algn="ctr">
              <a:buNone/>
              <a:defRPr>
                <a:solidFill>
                  <a:schemeClr val="bg1"/>
                </a:solidFill>
              </a:defRPr>
            </a:lvl3pPr>
            <a:lvl4pPr marL="966207" indent="0" algn="ctr">
              <a:buNone/>
              <a:defRPr>
                <a:solidFill>
                  <a:schemeClr val="bg1"/>
                </a:solidFill>
              </a:defRPr>
            </a:lvl4pPr>
            <a:lvl5pPr marL="1145487" indent="0" algn="ctr">
              <a:buNone/>
              <a:defRPr>
                <a:solidFill>
                  <a:schemeClr val="bg1"/>
                </a:solidFill>
              </a:defRPr>
            </a:lvl5pPr>
          </a:lstStyle>
          <a:p>
            <a:pPr lvl="0"/>
            <a:r>
              <a:rPr lang="en-US"/>
              <a:t>Click to edit quote</a:t>
            </a:r>
          </a:p>
        </p:txBody>
      </p:sp>
      <p:sp>
        <p:nvSpPr>
          <p:cNvPr id="17" name="Text Placeholder 110"/>
          <p:cNvSpPr>
            <a:spLocks noGrp="1"/>
          </p:cNvSpPr>
          <p:nvPr>
            <p:ph type="body" sz="quarter" idx="19" hasCustomPrompt="1"/>
          </p:nvPr>
        </p:nvSpPr>
        <p:spPr>
          <a:xfrm>
            <a:off x="554484" y="4623890"/>
            <a:ext cx="10162029" cy="876300"/>
          </a:xfrm>
          <a:prstGeom prst="rect">
            <a:avLst/>
          </a:prstGeom>
        </p:spPr>
        <p:txBody>
          <a:bodyPr lIns="0"/>
          <a:lstStyle>
            <a:lvl1pPr marL="0" indent="0" algn="l">
              <a:buNone/>
              <a:defRPr sz="2398" b="1" spc="-150" baseline="0">
                <a:solidFill>
                  <a:schemeClr val="bg1"/>
                </a:solidFill>
              </a:defRPr>
            </a:lvl1pPr>
            <a:lvl2pPr marL="341109" indent="0">
              <a:buNone/>
              <a:defRPr/>
            </a:lvl2pPr>
            <a:lvl3pPr marL="679042" indent="0">
              <a:buNone/>
              <a:defRPr/>
            </a:lvl3pPr>
            <a:lvl4pPr marL="966207" indent="0">
              <a:buNone/>
              <a:defRPr/>
            </a:lvl4pPr>
            <a:lvl5pPr marL="1145487" indent="0">
              <a:buNone/>
              <a:defRPr/>
            </a:lvl5pPr>
          </a:lstStyle>
          <a:p>
            <a:pPr lvl="0"/>
            <a:r>
              <a:rPr lang="en-US"/>
              <a:t>Click to edit quote source</a:t>
            </a:r>
          </a:p>
        </p:txBody>
      </p:sp>
      <p:sp>
        <p:nvSpPr>
          <p:cNvPr id="1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9" name="TextBox 8"/>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0" name="Group 9"/>
          <p:cNvGrpSpPr/>
          <p:nvPr userDrawn="1"/>
        </p:nvGrpSpPr>
        <p:grpSpPr>
          <a:xfrm>
            <a:off x="554485" y="6421482"/>
            <a:ext cx="734547" cy="245008"/>
            <a:chOff x="547688" y="952500"/>
            <a:chExt cx="12190413" cy="4067175"/>
          </a:xfrm>
        </p:grpSpPr>
        <p:sp>
          <p:nvSpPr>
            <p:cNvPr id="11" name="Rectangle 10"/>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5"/>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7"/>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8"/>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0"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1"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grpSp>
        <p:nvGrpSpPr>
          <p:cNvPr id="22" name="Group 21">
            <a:extLst>
              <a:ext uri="{FF2B5EF4-FFF2-40B4-BE49-F238E27FC236}">
                <a16:creationId xmlns:a16="http://schemas.microsoft.com/office/drawing/2014/main" id="{99371872-34E0-4E87-A880-855C986DEFEB}"/>
              </a:ext>
            </a:extLst>
          </p:cNvPr>
          <p:cNvGrpSpPr/>
          <p:nvPr userDrawn="1"/>
        </p:nvGrpSpPr>
        <p:grpSpPr>
          <a:xfrm>
            <a:off x="548783" y="398468"/>
            <a:ext cx="990858" cy="735013"/>
            <a:chOff x="657226" y="398463"/>
            <a:chExt cx="990600" cy="735013"/>
          </a:xfrm>
          <a:gradFill>
            <a:gsLst>
              <a:gs pos="0">
                <a:srgbClr val="F2A11F"/>
              </a:gs>
              <a:gs pos="37000">
                <a:srgbClr val="EC5124"/>
              </a:gs>
              <a:gs pos="79000">
                <a:srgbClr val="D32A27"/>
              </a:gs>
              <a:gs pos="100000">
                <a:srgbClr val="7A425E"/>
              </a:gs>
            </a:gsLst>
            <a:lin ang="2400000" scaled="0"/>
          </a:gradFill>
        </p:grpSpPr>
        <p:sp>
          <p:nvSpPr>
            <p:cNvPr id="23" name="Freeform 5">
              <a:extLst>
                <a:ext uri="{FF2B5EF4-FFF2-40B4-BE49-F238E27FC236}">
                  <a16:creationId xmlns:a16="http://schemas.microsoft.com/office/drawing/2014/main" id="{CA59E31A-C52B-4474-A5A0-530DF770A454}"/>
                </a:ext>
              </a:extLst>
            </p:cNvPr>
            <p:cNvSpPr>
              <a:spLocks/>
            </p:cNvSpPr>
            <p:nvPr userDrawn="1"/>
          </p:nvSpPr>
          <p:spPr bwMode="auto">
            <a:xfrm>
              <a:off x="657226"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24" name="Freeform 6">
              <a:extLst>
                <a:ext uri="{FF2B5EF4-FFF2-40B4-BE49-F238E27FC236}">
                  <a16:creationId xmlns:a16="http://schemas.microsoft.com/office/drawing/2014/main" id="{123B3F17-34EE-4FBA-8852-7ED07762D8EB}"/>
                </a:ext>
              </a:extLst>
            </p:cNvPr>
            <p:cNvSpPr>
              <a:spLocks/>
            </p:cNvSpPr>
            <p:nvPr userDrawn="1"/>
          </p:nvSpPr>
          <p:spPr bwMode="auto">
            <a:xfrm>
              <a:off x="1195388"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Tree>
    <p:extLst>
      <p:ext uri="{BB962C8B-B14F-4D97-AF65-F5344CB8AC3E}">
        <p14:creationId xmlns:p14="http://schemas.microsoft.com/office/powerpoint/2010/main" val="300206282"/>
      </p:ext>
    </p:extLst>
  </p:cSld>
  <p:clrMapOvr>
    <a:masterClrMapping/>
  </p:clrMapOvr>
  <p:transition spd="med"/>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Content w/ Product">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2" y="0"/>
            <a:ext cx="6568599"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9" name="Content Placeholder 2"/>
          <p:cNvSpPr>
            <a:spLocks noGrp="1"/>
          </p:cNvSpPr>
          <p:nvPr>
            <p:ph sz="half" idx="18"/>
          </p:nvPr>
        </p:nvSpPr>
        <p:spPr bwMode="gray">
          <a:xfrm>
            <a:off x="6837067" y="1307596"/>
            <a:ext cx="4708781"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37066" y="402336"/>
            <a:ext cx="4708781"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title</a:t>
            </a:r>
          </a:p>
        </p:txBody>
      </p:sp>
      <p:sp>
        <p:nvSpPr>
          <p:cNvPr id="18"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395386825"/>
      </p:ext>
    </p:extLst>
  </p:cSld>
  <p:clrMapOvr>
    <a:masterClrMapping/>
  </p:clrMapOvr>
  <p:transition spd="med"/>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preserve="1" userDrawn="1">
  <p:cSld name="Content w/ Product_Black">
    <p:bg>
      <p:bgPr>
        <a:solidFill>
          <a:schemeClr val="tx1"/>
        </a:solidFill>
        <a:effectLst/>
      </p:bgPr>
    </p:bg>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2" y="0"/>
            <a:ext cx="6568599"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9" name="Content Placeholder 2"/>
          <p:cNvSpPr>
            <a:spLocks noGrp="1"/>
          </p:cNvSpPr>
          <p:nvPr>
            <p:ph sz="half" idx="18"/>
          </p:nvPr>
        </p:nvSpPr>
        <p:spPr bwMode="gray">
          <a:xfrm>
            <a:off x="6837067" y="1307592"/>
            <a:ext cx="4708781" cy="5023760"/>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37066" y="402336"/>
            <a:ext cx="4708781"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title</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8" name="TextBox 7"/>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0" name="Group 9"/>
          <p:cNvGrpSpPr/>
          <p:nvPr userDrawn="1"/>
        </p:nvGrpSpPr>
        <p:grpSpPr>
          <a:xfrm>
            <a:off x="554485" y="6421482"/>
            <a:ext cx="734547" cy="245008"/>
            <a:chOff x="547688" y="952500"/>
            <a:chExt cx="12190413" cy="4067175"/>
          </a:xfrm>
        </p:grpSpPr>
        <p:sp>
          <p:nvSpPr>
            <p:cNvPr id="13" name="Rectangle 12"/>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5"/>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6"/>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3031219868"/>
      </p:ext>
    </p:extLst>
  </p:cSld>
  <p:clrMapOvr>
    <a:masterClrMapping/>
  </p:clrMapOvr>
  <p:transition spd="med"/>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548785" y="1307593"/>
            <a:ext cx="11076269" cy="4919588"/>
          </a:xfrm>
          <a:prstGeom prst="rect">
            <a:avLst/>
          </a:prstGeom>
        </p:spPr>
        <p:txBody>
          <a:bodyPr lIns="121899" tIns="853291" rIns="121899" bIns="60949" anchor="ctr" anchorCtr="0"/>
          <a:lstStyle>
            <a:lvl1pPr marL="0" indent="0" algn="ctr">
              <a:buFontTx/>
              <a:buNone/>
              <a:defRPr sz="2398" baseline="0">
                <a:solidFill>
                  <a:schemeClr val="bg2"/>
                </a:solidFill>
              </a:defRPr>
            </a:lvl1pPr>
          </a:lstStyle>
          <a:p>
            <a:r>
              <a:rPr lang="en-US"/>
              <a:t>Click icon to create chart</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344530199"/>
      </p:ext>
    </p:extLst>
  </p:cSld>
  <p:clrMapOvr>
    <a:masterClrMapping/>
  </p:clrMapOvr>
  <p:transition spd="med"/>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Chart Slide_Black">
    <p:bg>
      <p:bgPr>
        <a:solidFill>
          <a:schemeClr val="tx1"/>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548785" y="1307593"/>
            <a:ext cx="11076269" cy="4919588"/>
          </a:xfrm>
          <a:prstGeom prst="rect">
            <a:avLst/>
          </a:prstGeom>
        </p:spPr>
        <p:txBody>
          <a:bodyPr lIns="121899" tIns="853291" rIns="121899" bIns="60949" anchor="ctr" anchorCtr="0"/>
          <a:lstStyle>
            <a:lvl1pPr marL="0" indent="0" algn="ctr">
              <a:buFontTx/>
              <a:buNone/>
              <a:defRPr sz="2398" baseline="0">
                <a:solidFill>
                  <a:schemeClr val="bg1"/>
                </a:solidFill>
              </a:defRPr>
            </a:lvl1pPr>
          </a:lstStyle>
          <a:p>
            <a:r>
              <a:rPr lang="en-US"/>
              <a:t>Click icon to create chart</a:t>
            </a:r>
          </a:p>
        </p:txBody>
      </p:sp>
      <p:sp>
        <p:nvSpPr>
          <p:cNvPr id="1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6" name="TextBox 5"/>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7" name="Group 6"/>
          <p:cNvGrpSpPr/>
          <p:nvPr userDrawn="1"/>
        </p:nvGrpSpPr>
        <p:grpSpPr>
          <a:xfrm>
            <a:off x="554485" y="6421482"/>
            <a:ext cx="734547" cy="245008"/>
            <a:chOff x="547688" y="952500"/>
            <a:chExt cx="12190413" cy="4067175"/>
          </a:xfrm>
        </p:grpSpPr>
        <p:sp>
          <p:nvSpPr>
            <p:cNvPr id="8" name="Rectangle 7"/>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2" name="Freeform 11"/>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1240888087"/>
      </p:ext>
    </p:extLst>
  </p:cSld>
  <p:clrMapOvr>
    <a:masterClrMapping/>
  </p:clrMapOvr>
  <p:transition spd="med"/>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67031129"/>
      </p:ext>
    </p:extLst>
  </p:cSld>
  <p:clrMapOvr>
    <a:masterClrMapping/>
  </p:clrMapOvr>
  <p:transition spd="med"/>
</p:sldLayout>
</file>

<file path=ppt/slideLayouts/slideLayout236.xml><?xml version="1.0" encoding="utf-8"?>
<p:sldLayout xmlns:a="http://schemas.openxmlformats.org/drawingml/2006/main" xmlns:r="http://schemas.openxmlformats.org/officeDocument/2006/relationships" xmlns:p="http://schemas.openxmlformats.org/presentationml/2006/main" showMasterSp="0" preserve="1" userDrawn="1">
  <p:cSld name="Blank Slide_Black">
    <p:bg>
      <p:bgPr>
        <a:solidFill>
          <a:schemeClr val="tx1"/>
        </a:solidFill>
        <a:effectLst/>
      </p:bgPr>
    </p:bg>
    <p:spTree>
      <p:nvGrpSpPr>
        <p:cNvPr id="1" name=""/>
        <p:cNvGrpSpPr/>
        <p:nvPr/>
      </p:nvGrpSpPr>
      <p:grpSpPr>
        <a:xfrm>
          <a:off x="0" y="0"/>
          <a:ext cx="0" cy="0"/>
          <a:chOff x="0" y="0"/>
          <a:chExt cx="0" cy="0"/>
        </a:xfrm>
      </p:grpSpPr>
      <p:sp>
        <p:nvSpPr>
          <p:cNvPr id="9"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14" name="TextBox 13"/>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5" name="Group 14"/>
          <p:cNvGrpSpPr/>
          <p:nvPr userDrawn="1"/>
        </p:nvGrpSpPr>
        <p:grpSpPr>
          <a:xfrm>
            <a:off x="554485" y="6421482"/>
            <a:ext cx="734547" cy="245008"/>
            <a:chOff x="547688" y="952500"/>
            <a:chExt cx="12190413" cy="4067175"/>
          </a:xfrm>
        </p:grpSpPr>
        <p:sp>
          <p:nvSpPr>
            <p:cNvPr id="16" name="Rectangle 15"/>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6"/>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7"/>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8"/>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0" name="Freeform 19"/>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1"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2"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1166376324"/>
      </p:ext>
    </p:extLst>
  </p:cSld>
  <p:clrMapOvr>
    <a:masterClrMapping/>
  </p:clrMapOvr>
  <p:transition spd="med"/>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preserve="1" userDrawn="1">
  <p:cSld name="Closing Slide">
    <p:spTree>
      <p:nvGrpSpPr>
        <p:cNvPr id="1" name=""/>
        <p:cNvGrpSpPr/>
        <p:nvPr/>
      </p:nvGrpSpPr>
      <p:grpSpPr>
        <a:xfrm>
          <a:off x="0" y="0"/>
          <a:ext cx="0" cy="0"/>
          <a:chOff x="0" y="0"/>
          <a:chExt cx="0" cy="0"/>
        </a:xfrm>
      </p:grpSpPr>
      <p:grpSp>
        <p:nvGrpSpPr>
          <p:cNvPr id="81" name="Group 80"/>
          <p:cNvGrpSpPr/>
          <p:nvPr userDrawn="1"/>
        </p:nvGrpSpPr>
        <p:grpSpPr>
          <a:xfrm rot="16200000">
            <a:off x="373582" y="2655459"/>
            <a:ext cx="6856214" cy="1545292"/>
            <a:chOff x="541049" y="2649538"/>
            <a:chExt cx="9285724" cy="2092325"/>
          </a:xfrm>
          <a:solidFill>
            <a:schemeClr val="tx1"/>
          </a:solidFill>
        </p:grpSpPr>
        <p:sp>
          <p:nvSpPr>
            <p:cNvPr id="5" name="Freeform 5"/>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8" name="Freeform 6"/>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 name="Freeform 7"/>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 name="Freeform 8"/>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 name="Freeform 9"/>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4" name="Freeform 10"/>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6" name="Oval 11"/>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grpSp>
        <p:nvGrpSpPr>
          <p:cNvPr id="22" name="Group 21">
            <a:extLst>
              <a:ext uri="{FF2B5EF4-FFF2-40B4-BE49-F238E27FC236}">
                <a16:creationId xmlns:a16="http://schemas.microsoft.com/office/drawing/2014/main" id="{D217900D-5033-4638-8DF2-07DE57B5B97E}"/>
              </a:ext>
            </a:extLst>
          </p:cNvPr>
          <p:cNvGrpSpPr/>
          <p:nvPr userDrawn="1"/>
        </p:nvGrpSpPr>
        <p:grpSpPr>
          <a:xfrm>
            <a:off x="7047163" y="1676401"/>
            <a:ext cx="5146427" cy="3505200"/>
            <a:chOff x="7045325" y="1676401"/>
            <a:chExt cx="5145087" cy="3505200"/>
          </a:xfrm>
        </p:grpSpPr>
        <p:sp>
          <p:nvSpPr>
            <p:cNvPr id="12" name="Freeform 5">
              <a:extLst>
                <a:ext uri="{FF2B5EF4-FFF2-40B4-BE49-F238E27FC236}">
                  <a16:creationId xmlns:a16="http://schemas.microsoft.com/office/drawing/2014/main" id="{42A022AC-236A-4C47-9960-6BBBDE197CD4}"/>
                </a:ext>
              </a:extLst>
            </p:cNvPr>
            <p:cNvSpPr>
              <a:spLocks noEditPoints="1"/>
            </p:cNvSpPr>
            <p:nvPr userDrawn="1"/>
          </p:nvSpPr>
          <p:spPr bwMode="auto">
            <a:xfrm>
              <a:off x="7045325" y="1676401"/>
              <a:ext cx="5145087" cy="3505200"/>
            </a:xfrm>
            <a:custGeom>
              <a:avLst/>
              <a:gdLst>
                <a:gd name="T0" fmla="*/ 717 w 2697"/>
                <a:gd name="T1" fmla="*/ 241 h 1832"/>
                <a:gd name="T2" fmla="*/ 698 w 2697"/>
                <a:gd name="T3" fmla="*/ 358 h 1832"/>
                <a:gd name="T4" fmla="*/ 755 w 2697"/>
                <a:gd name="T5" fmla="*/ 353 h 1832"/>
                <a:gd name="T6" fmla="*/ 952 w 2697"/>
                <a:gd name="T7" fmla="*/ 431 h 1832"/>
                <a:gd name="T8" fmla="*/ 1077 w 2697"/>
                <a:gd name="T9" fmla="*/ 299 h 1832"/>
                <a:gd name="T10" fmla="*/ 769 w 2697"/>
                <a:gd name="T11" fmla="*/ 229 h 1832"/>
                <a:gd name="T12" fmla="*/ 1219 w 2697"/>
                <a:gd name="T13" fmla="*/ 431 h 1832"/>
                <a:gd name="T14" fmla="*/ 1120 w 2697"/>
                <a:gd name="T15" fmla="*/ 287 h 1832"/>
                <a:gd name="T16" fmla="*/ 1089 w 2697"/>
                <a:gd name="T17" fmla="*/ 373 h 1832"/>
                <a:gd name="T18" fmla="*/ 1175 w 2697"/>
                <a:gd name="T19" fmla="*/ 395 h 1832"/>
                <a:gd name="T20" fmla="*/ 1412 w 2697"/>
                <a:gd name="T21" fmla="*/ 225 h 1832"/>
                <a:gd name="T22" fmla="*/ 1348 w 2697"/>
                <a:gd name="T23" fmla="*/ 356 h 1832"/>
                <a:gd name="T24" fmla="*/ 1505 w 2697"/>
                <a:gd name="T25" fmla="*/ 364 h 1832"/>
                <a:gd name="T26" fmla="*/ 1448 w 2697"/>
                <a:gd name="T27" fmla="*/ 177 h 1832"/>
                <a:gd name="T28" fmla="*/ 1666 w 2697"/>
                <a:gd name="T29" fmla="*/ 435 h 1832"/>
                <a:gd name="T30" fmla="*/ 1758 w 2697"/>
                <a:gd name="T31" fmla="*/ 335 h 1832"/>
                <a:gd name="T32" fmla="*/ 1703 w 2697"/>
                <a:gd name="T33" fmla="*/ 314 h 1832"/>
                <a:gd name="T34" fmla="*/ 1892 w 2697"/>
                <a:gd name="T35" fmla="*/ 225 h 1832"/>
                <a:gd name="T36" fmla="*/ 1828 w 2697"/>
                <a:gd name="T37" fmla="*/ 356 h 1832"/>
                <a:gd name="T38" fmla="*/ 24 w 2697"/>
                <a:gd name="T39" fmla="*/ 634 h 1832"/>
                <a:gd name="T40" fmla="*/ 81 w 2697"/>
                <a:gd name="T41" fmla="*/ 720 h 1832"/>
                <a:gd name="T42" fmla="*/ 237 w 2697"/>
                <a:gd name="T43" fmla="*/ 581 h 1832"/>
                <a:gd name="T44" fmla="*/ 243 w 2697"/>
                <a:gd name="T45" fmla="*/ 745 h 1832"/>
                <a:gd name="T46" fmla="*/ 237 w 2697"/>
                <a:gd name="T47" fmla="*/ 627 h 1832"/>
                <a:gd name="T48" fmla="*/ 450 w 2697"/>
                <a:gd name="T49" fmla="*/ 631 h 1832"/>
                <a:gd name="T50" fmla="*/ 449 w 2697"/>
                <a:gd name="T51" fmla="*/ 791 h 1832"/>
                <a:gd name="T52" fmla="*/ 598 w 2697"/>
                <a:gd name="T53" fmla="*/ 512 h 1832"/>
                <a:gd name="T54" fmla="*/ 669 w 2697"/>
                <a:gd name="T55" fmla="*/ 674 h 1832"/>
                <a:gd name="T56" fmla="*/ 798 w 2697"/>
                <a:gd name="T57" fmla="*/ 614 h 1832"/>
                <a:gd name="T58" fmla="*/ 833 w 2697"/>
                <a:gd name="T59" fmla="*/ 633 h 1832"/>
                <a:gd name="T60" fmla="*/ 1155 w 2697"/>
                <a:gd name="T61" fmla="*/ 686 h 1832"/>
                <a:gd name="T62" fmla="*/ 1155 w 2697"/>
                <a:gd name="T63" fmla="*/ 686 h 1832"/>
                <a:gd name="T64" fmla="*/ 1047 w 2697"/>
                <a:gd name="T65" fmla="*/ 742 h 1832"/>
                <a:gd name="T66" fmla="*/ 1167 w 2697"/>
                <a:gd name="T67" fmla="*/ 787 h 1832"/>
                <a:gd name="T68" fmla="*/ 1453 w 2697"/>
                <a:gd name="T69" fmla="*/ 686 h 1832"/>
                <a:gd name="T70" fmla="*/ 1344 w 2697"/>
                <a:gd name="T71" fmla="*/ 631 h 1832"/>
                <a:gd name="T72" fmla="*/ 1562 w 2697"/>
                <a:gd name="T73" fmla="*/ 848 h 1832"/>
                <a:gd name="T74" fmla="*/ 1552 w 2697"/>
                <a:gd name="T75" fmla="*/ 581 h 1832"/>
                <a:gd name="T76" fmla="*/ 1560 w 2697"/>
                <a:gd name="T77" fmla="*/ 802 h 1832"/>
                <a:gd name="T78" fmla="*/ 1618 w 2697"/>
                <a:gd name="T79" fmla="*/ 676 h 1832"/>
                <a:gd name="T80" fmla="*/ 1743 w 2697"/>
                <a:gd name="T81" fmla="*/ 801 h 1832"/>
                <a:gd name="T82" fmla="*/ 1834 w 2697"/>
                <a:gd name="T83" fmla="*/ 585 h 1832"/>
                <a:gd name="T84" fmla="*/ 1101 w 2697"/>
                <a:gd name="T85" fmla="*/ 940 h 1832"/>
                <a:gd name="T86" fmla="*/ 974 w 2697"/>
                <a:gd name="T87" fmla="*/ 965 h 1832"/>
                <a:gd name="T88" fmla="*/ 1101 w 2697"/>
                <a:gd name="T89" fmla="*/ 1012 h 1832"/>
                <a:gd name="T90" fmla="*/ 1318 w 2697"/>
                <a:gd name="T91" fmla="*/ 1064 h 1832"/>
                <a:gd name="T92" fmla="*/ 1156 w 2697"/>
                <a:gd name="T93" fmla="*/ 1063 h 1832"/>
                <a:gd name="T94" fmla="*/ 1332 w 2697"/>
                <a:gd name="T95" fmla="*/ 963 h 1832"/>
                <a:gd name="T96" fmla="*/ 1453 w 2697"/>
                <a:gd name="T97" fmla="*/ 959 h 1832"/>
                <a:gd name="T98" fmla="*/ 1657 w 2697"/>
                <a:gd name="T99" fmla="*/ 1046 h 1832"/>
                <a:gd name="T100" fmla="*/ 1657 w 2697"/>
                <a:gd name="T101" fmla="*/ 1143 h 1832"/>
                <a:gd name="T102" fmla="*/ 1658 w 2697"/>
                <a:gd name="T103" fmla="*/ 1094 h 1832"/>
                <a:gd name="T104" fmla="*/ 1658 w 2697"/>
                <a:gd name="T105" fmla="*/ 1094 h 1832"/>
                <a:gd name="T106" fmla="*/ 1817 w 2697"/>
                <a:gd name="T107" fmla="*/ 1165 h 1832"/>
                <a:gd name="T108" fmla="*/ 2086 w 2697"/>
                <a:gd name="T109" fmla="*/ 1832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7" h="1832">
                  <a:moveTo>
                    <a:pt x="755" y="352"/>
                  </a:moveTo>
                  <a:cubicBezTo>
                    <a:pt x="755" y="306"/>
                    <a:pt x="725" y="287"/>
                    <a:pt x="672" y="273"/>
                  </a:cubicBezTo>
                  <a:cubicBezTo>
                    <a:pt x="626" y="261"/>
                    <a:pt x="615" y="256"/>
                    <a:pt x="615" y="238"/>
                  </a:cubicBezTo>
                  <a:cubicBezTo>
                    <a:pt x="615" y="238"/>
                    <a:pt x="615" y="238"/>
                    <a:pt x="615" y="238"/>
                  </a:cubicBezTo>
                  <a:cubicBezTo>
                    <a:pt x="615" y="225"/>
                    <a:pt x="626" y="215"/>
                    <a:pt x="649" y="215"/>
                  </a:cubicBezTo>
                  <a:cubicBezTo>
                    <a:pt x="671" y="215"/>
                    <a:pt x="694" y="224"/>
                    <a:pt x="717" y="241"/>
                  </a:cubicBezTo>
                  <a:cubicBezTo>
                    <a:pt x="747" y="197"/>
                    <a:pt x="747" y="197"/>
                    <a:pt x="747" y="197"/>
                  </a:cubicBezTo>
                  <a:cubicBezTo>
                    <a:pt x="720" y="175"/>
                    <a:pt x="688" y="163"/>
                    <a:pt x="649" y="163"/>
                  </a:cubicBezTo>
                  <a:cubicBezTo>
                    <a:pt x="595" y="163"/>
                    <a:pt x="557" y="195"/>
                    <a:pt x="557" y="243"/>
                  </a:cubicBezTo>
                  <a:cubicBezTo>
                    <a:pt x="557" y="244"/>
                    <a:pt x="557" y="244"/>
                    <a:pt x="557" y="244"/>
                  </a:cubicBezTo>
                  <a:cubicBezTo>
                    <a:pt x="557" y="296"/>
                    <a:pt x="591" y="311"/>
                    <a:pt x="644" y="324"/>
                  </a:cubicBezTo>
                  <a:cubicBezTo>
                    <a:pt x="688" y="335"/>
                    <a:pt x="698" y="343"/>
                    <a:pt x="698" y="358"/>
                  </a:cubicBezTo>
                  <a:cubicBezTo>
                    <a:pt x="698" y="358"/>
                    <a:pt x="698" y="358"/>
                    <a:pt x="698" y="358"/>
                  </a:cubicBezTo>
                  <a:cubicBezTo>
                    <a:pt x="698" y="374"/>
                    <a:pt x="683" y="383"/>
                    <a:pt x="659" y="383"/>
                  </a:cubicBezTo>
                  <a:cubicBezTo>
                    <a:pt x="629" y="383"/>
                    <a:pt x="605" y="371"/>
                    <a:pt x="581" y="351"/>
                  </a:cubicBezTo>
                  <a:cubicBezTo>
                    <a:pt x="547" y="392"/>
                    <a:pt x="547" y="392"/>
                    <a:pt x="547" y="392"/>
                  </a:cubicBezTo>
                  <a:cubicBezTo>
                    <a:pt x="578" y="421"/>
                    <a:pt x="618" y="435"/>
                    <a:pt x="658" y="435"/>
                  </a:cubicBezTo>
                  <a:cubicBezTo>
                    <a:pt x="715" y="435"/>
                    <a:pt x="755" y="405"/>
                    <a:pt x="755" y="353"/>
                  </a:cubicBezTo>
                  <a:lnTo>
                    <a:pt x="755" y="352"/>
                  </a:lnTo>
                  <a:close/>
                  <a:moveTo>
                    <a:pt x="826" y="318"/>
                  </a:moveTo>
                  <a:cubicBezTo>
                    <a:pt x="826" y="291"/>
                    <a:pt x="839" y="277"/>
                    <a:pt x="861" y="277"/>
                  </a:cubicBezTo>
                  <a:cubicBezTo>
                    <a:pt x="882" y="277"/>
                    <a:pt x="894" y="291"/>
                    <a:pt x="894" y="318"/>
                  </a:cubicBezTo>
                  <a:cubicBezTo>
                    <a:pt x="894" y="431"/>
                    <a:pt x="894" y="431"/>
                    <a:pt x="894" y="431"/>
                  </a:cubicBezTo>
                  <a:cubicBezTo>
                    <a:pt x="952" y="431"/>
                    <a:pt x="952" y="431"/>
                    <a:pt x="952" y="431"/>
                  </a:cubicBezTo>
                  <a:cubicBezTo>
                    <a:pt x="952" y="318"/>
                    <a:pt x="952" y="318"/>
                    <a:pt x="952" y="318"/>
                  </a:cubicBezTo>
                  <a:cubicBezTo>
                    <a:pt x="952" y="291"/>
                    <a:pt x="965" y="277"/>
                    <a:pt x="986" y="277"/>
                  </a:cubicBezTo>
                  <a:cubicBezTo>
                    <a:pt x="1008" y="277"/>
                    <a:pt x="1020" y="291"/>
                    <a:pt x="1020" y="318"/>
                  </a:cubicBezTo>
                  <a:cubicBezTo>
                    <a:pt x="1020" y="431"/>
                    <a:pt x="1020" y="431"/>
                    <a:pt x="1020" y="431"/>
                  </a:cubicBezTo>
                  <a:cubicBezTo>
                    <a:pt x="1077" y="431"/>
                    <a:pt x="1077" y="431"/>
                    <a:pt x="1077" y="431"/>
                  </a:cubicBezTo>
                  <a:cubicBezTo>
                    <a:pt x="1077" y="299"/>
                    <a:pt x="1077" y="299"/>
                    <a:pt x="1077" y="299"/>
                  </a:cubicBezTo>
                  <a:cubicBezTo>
                    <a:pt x="1077" y="251"/>
                    <a:pt x="1051" y="225"/>
                    <a:pt x="1009" y="225"/>
                  </a:cubicBezTo>
                  <a:cubicBezTo>
                    <a:pt x="981" y="225"/>
                    <a:pt x="960" y="236"/>
                    <a:pt x="943" y="257"/>
                  </a:cubicBezTo>
                  <a:cubicBezTo>
                    <a:pt x="932" y="237"/>
                    <a:pt x="912" y="225"/>
                    <a:pt x="886" y="225"/>
                  </a:cubicBezTo>
                  <a:cubicBezTo>
                    <a:pt x="857" y="225"/>
                    <a:pt x="839" y="241"/>
                    <a:pt x="826" y="258"/>
                  </a:cubicBezTo>
                  <a:cubicBezTo>
                    <a:pt x="826" y="229"/>
                    <a:pt x="826" y="229"/>
                    <a:pt x="826" y="229"/>
                  </a:cubicBezTo>
                  <a:cubicBezTo>
                    <a:pt x="769" y="229"/>
                    <a:pt x="769" y="229"/>
                    <a:pt x="769" y="229"/>
                  </a:cubicBezTo>
                  <a:cubicBezTo>
                    <a:pt x="769" y="431"/>
                    <a:pt x="769" y="431"/>
                    <a:pt x="769" y="431"/>
                  </a:cubicBezTo>
                  <a:cubicBezTo>
                    <a:pt x="826" y="431"/>
                    <a:pt x="826" y="431"/>
                    <a:pt x="826" y="431"/>
                  </a:cubicBezTo>
                  <a:lnTo>
                    <a:pt x="826" y="318"/>
                  </a:lnTo>
                  <a:close/>
                  <a:moveTo>
                    <a:pt x="1158" y="435"/>
                  </a:moveTo>
                  <a:cubicBezTo>
                    <a:pt x="1186" y="435"/>
                    <a:pt x="1205" y="424"/>
                    <a:pt x="1219" y="409"/>
                  </a:cubicBezTo>
                  <a:cubicBezTo>
                    <a:pt x="1219" y="431"/>
                    <a:pt x="1219" y="431"/>
                    <a:pt x="1219" y="431"/>
                  </a:cubicBezTo>
                  <a:cubicBezTo>
                    <a:pt x="1274" y="431"/>
                    <a:pt x="1274" y="431"/>
                    <a:pt x="1274" y="431"/>
                  </a:cubicBezTo>
                  <a:cubicBezTo>
                    <a:pt x="1274" y="314"/>
                    <a:pt x="1274" y="314"/>
                    <a:pt x="1274" y="314"/>
                  </a:cubicBezTo>
                  <a:cubicBezTo>
                    <a:pt x="1274" y="287"/>
                    <a:pt x="1268" y="264"/>
                    <a:pt x="1253" y="249"/>
                  </a:cubicBezTo>
                  <a:cubicBezTo>
                    <a:pt x="1238" y="235"/>
                    <a:pt x="1216" y="227"/>
                    <a:pt x="1184" y="227"/>
                  </a:cubicBezTo>
                  <a:cubicBezTo>
                    <a:pt x="1150" y="227"/>
                    <a:pt x="1128" y="233"/>
                    <a:pt x="1106" y="243"/>
                  </a:cubicBezTo>
                  <a:cubicBezTo>
                    <a:pt x="1120" y="287"/>
                    <a:pt x="1120" y="287"/>
                    <a:pt x="1120" y="287"/>
                  </a:cubicBezTo>
                  <a:cubicBezTo>
                    <a:pt x="1139" y="280"/>
                    <a:pt x="1154" y="276"/>
                    <a:pt x="1176" y="276"/>
                  </a:cubicBezTo>
                  <a:cubicBezTo>
                    <a:pt x="1205" y="276"/>
                    <a:pt x="1219" y="289"/>
                    <a:pt x="1219" y="313"/>
                  </a:cubicBezTo>
                  <a:cubicBezTo>
                    <a:pt x="1219" y="316"/>
                    <a:pt x="1219" y="316"/>
                    <a:pt x="1219" y="316"/>
                  </a:cubicBezTo>
                  <a:cubicBezTo>
                    <a:pt x="1205" y="311"/>
                    <a:pt x="1190" y="308"/>
                    <a:pt x="1170" y="308"/>
                  </a:cubicBezTo>
                  <a:cubicBezTo>
                    <a:pt x="1122" y="308"/>
                    <a:pt x="1089" y="328"/>
                    <a:pt x="1089" y="372"/>
                  </a:cubicBezTo>
                  <a:cubicBezTo>
                    <a:pt x="1089" y="373"/>
                    <a:pt x="1089" y="373"/>
                    <a:pt x="1089" y="373"/>
                  </a:cubicBezTo>
                  <a:cubicBezTo>
                    <a:pt x="1089" y="413"/>
                    <a:pt x="1120" y="435"/>
                    <a:pt x="1158" y="435"/>
                  </a:cubicBezTo>
                  <a:close/>
                  <a:moveTo>
                    <a:pt x="1144" y="370"/>
                  </a:moveTo>
                  <a:cubicBezTo>
                    <a:pt x="1144" y="352"/>
                    <a:pt x="1159" y="342"/>
                    <a:pt x="1184" y="342"/>
                  </a:cubicBezTo>
                  <a:cubicBezTo>
                    <a:pt x="1198" y="342"/>
                    <a:pt x="1210" y="345"/>
                    <a:pt x="1220" y="349"/>
                  </a:cubicBezTo>
                  <a:cubicBezTo>
                    <a:pt x="1220" y="360"/>
                    <a:pt x="1220" y="360"/>
                    <a:pt x="1220" y="360"/>
                  </a:cubicBezTo>
                  <a:cubicBezTo>
                    <a:pt x="1220" y="380"/>
                    <a:pt x="1202" y="395"/>
                    <a:pt x="1175" y="395"/>
                  </a:cubicBezTo>
                  <a:cubicBezTo>
                    <a:pt x="1157" y="395"/>
                    <a:pt x="1144" y="386"/>
                    <a:pt x="1144" y="371"/>
                  </a:cubicBezTo>
                  <a:lnTo>
                    <a:pt x="1144" y="370"/>
                  </a:lnTo>
                  <a:close/>
                  <a:moveTo>
                    <a:pt x="1348" y="356"/>
                  </a:moveTo>
                  <a:cubicBezTo>
                    <a:pt x="1348" y="308"/>
                    <a:pt x="1371" y="285"/>
                    <a:pt x="1409" y="285"/>
                  </a:cubicBezTo>
                  <a:cubicBezTo>
                    <a:pt x="1412" y="285"/>
                    <a:pt x="1412" y="285"/>
                    <a:pt x="1412" y="285"/>
                  </a:cubicBezTo>
                  <a:cubicBezTo>
                    <a:pt x="1412" y="225"/>
                    <a:pt x="1412" y="225"/>
                    <a:pt x="1412" y="225"/>
                  </a:cubicBezTo>
                  <a:cubicBezTo>
                    <a:pt x="1378" y="224"/>
                    <a:pt x="1360" y="242"/>
                    <a:pt x="1348" y="270"/>
                  </a:cubicBezTo>
                  <a:cubicBezTo>
                    <a:pt x="1348" y="229"/>
                    <a:pt x="1348" y="229"/>
                    <a:pt x="1348" y="229"/>
                  </a:cubicBezTo>
                  <a:cubicBezTo>
                    <a:pt x="1291" y="229"/>
                    <a:pt x="1291" y="229"/>
                    <a:pt x="1291" y="229"/>
                  </a:cubicBezTo>
                  <a:cubicBezTo>
                    <a:pt x="1291" y="431"/>
                    <a:pt x="1291" y="431"/>
                    <a:pt x="1291" y="431"/>
                  </a:cubicBezTo>
                  <a:cubicBezTo>
                    <a:pt x="1348" y="431"/>
                    <a:pt x="1348" y="431"/>
                    <a:pt x="1348" y="431"/>
                  </a:cubicBezTo>
                  <a:lnTo>
                    <a:pt x="1348" y="356"/>
                  </a:lnTo>
                  <a:close/>
                  <a:moveTo>
                    <a:pt x="1448" y="374"/>
                  </a:moveTo>
                  <a:cubicBezTo>
                    <a:pt x="1448" y="420"/>
                    <a:pt x="1472" y="434"/>
                    <a:pt x="1507" y="434"/>
                  </a:cubicBezTo>
                  <a:cubicBezTo>
                    <a:pt x="1526" y="434"/>
                    <a:pt x="1540" y="430"/>
                    <a:pt x="1552" y="422"/>
                  </a:cubicBezTo>
                  <a:cubicBezTo>
                    <a:pt x="1552" y="377"/>
                    <a:pt x="1552" y="377"/>
                    <a:pt x="1552" y="377"/>
                  </a:cubicBezTo>
                  <a:cubicBezTo>
                    <a:pt x="1543" y="381"/>
                    <a:pt x="1534" y="384"/>
                    <a:pt x="1524" y="384"/>
                  </a:cubicBezTo>
                  <a:cubicBezTo>
                    <a:pt x="1511" y="384"/>
                    <a:pt x="1505" y="377"/>
                    <a:pt x="1505" y="364"/>
                  </a:cubicBezTo>
                  <a:cubicBezTo>
                    <a:pt x="1505" y="278"/>
                    <a:pt x="1505" y="278"/>
                    <a:pt x="1505" y="278"/>
                  </a:cubicBezTo>
                  <a:cubicBezTo>
                    <a:pt x="1553" y="278"/>
                    <a:pt x="1553" y="278"/>
                    <a:pt x="1553" y="278"/>
                  </a:cubicBezTo>
                  <a:cubicBezTo>
                    <a:pt x="1553" y="229"/>
                    <a:pt x="1553" y="229"/>
                    <a:pt x="1553" y="229"/>
                  </a:cubicBezTo>
                  <a:cubicBezTo>
                    <a:pt x="1505" y="229"/>
                    <a:pt x="1505" y="229"/>
                    <a:pt x="1505" y="229"/>
                  </a:cubicBezTo>
                  <a:cubicBezTo>
                    <a:pt x="1505" y="177"/>
                    <a:pt x="1505" y="177"/>
                    <a:pt x="1505" y="177"/>
                  </a:cubicBezTo>
                  <a:cubicBezTo>
                    <a:pt x="1448" y="177"/>
                    <a:pt x="1448" y="177"/>
                    <a:pt x="1448" y="177"/>
                  </a:cubicBezTo>
                  <a:cubicBezTo>
                    <a:pt x="1448" y="229"/>
                    <a:pt x="1448" y="229"/>
                    <a:pt x="1448" y="229"/>
                  </a:cubicBezTo>
                  <a:cubicBezTo>
                    <a:pt x="1424" y="229"/>
                    <a:pt x="1424" y="229"/>
                    <a:pt x="1424" y="229"/>
                  </a:cubicBezTo>
                  <a:cubicBezTo>
                    <a:pt x="1424" y="278"/>
                    <a:pt x="1424" y="278"/>
                    <a:pt x="1424" y="278"/>
                  </a:cubicBezTo>
                  <a:cubicBezTo>
                    <a:pt x="1448" y="278"/>
                    <a:pt x="1448" y="278"/>
                    <a:pt x="1448" y="278"/>
                  </a:cubicBezTo>
                  <a:lnTo>
                    <a:pt x="1448" y="374"/>
                  </a:lnTo>
                  <a:close/>
                  <a:moveTo>
                    <a:pt x="1666" y="435"/>
                  </a:moveTo>
                  <a:cubicBezTo>
                    <a:pt x="1702" y="435"/>
                    <a:pt x="1729" y="421"/>
                    <a:pt x="1748" y="398"/>
                  </a:cubicBezTo>
                  <a:cubicBezTo>
                    <a:pt x="1715" y="369"/>
                    <a:pt x="1715" y="369"/>
                    <a:pt x="1715" y="369"/>
                  </a:cubicBezTo>
                  <a:cubicBezTo>
                    <a:pt x="1700" y="383"/>
                    <a:pt x="1686" y="389"/>
                    <a:pt x="1666" y="389"/>
                  </a:cubicBezTo>
                  <a:cubicBezTo>
                    <a:pt x="1641" y="389"/>
                    <a:pt x="1623" y="376"/>
                    <a:pt x="1617" y="350"/>
                  </a:cubicBezTo>
                  <a:cubicBezTo>
                    <a:pt x="1758" y="350"/>
                    <a:pt x="1758" y="350"/>
                    <a:pt x="1758" y="350"/>
                  </a:cubicBezTo>
                  <a:cubicBezTo>
                    <a:pt x="1758" y="345"/>
                    <a:pt x="1758" y="339"/>
                    <a:pt x="1758" y="335"/>
                  </a:cubicBezTo>
                  <a:cubicBezTo>
                    <a:pt x="1758" y="277"/>
                    <a:pt x="1727" y="225"/>
                    <a:pt x="1660" y="225"/>
                  </a:cubicBezTo>
                  <a:cubicBezTo>
                    <a:pt x="1601" y="225"/>
                    <a:pt x="1560" y="273"/>
                    <a:pt x="1560" y="330"/>
                  </a:cubicBezTo>
                  <a:cubicBezTo>
                    <a:pt x="1560" y="331"/>
                    <a:pt x="1560" y="331"/>
                    <a:pt x="1560" y="331"/>
                  </a:cubicBezTo>
                  <a:cubicBezTo>
                    <a:pt x="1560" y="393"/>
                    <a:pt x="1605" y="435"/>
                    <a:pt x="1666" y="435"/>
                  </a:cubicBezTo>
                  <a:close/>
                  <a:moveTo>
                    <a:pt x="1660" y="271"/>
                  </a:moveTo>
                  <a:cubicBezTo>
                    <a:pt x="1684" y="271"/>
                    <a:pt x="1699" y="288"/>
                    <a:pt x="1703" y="314"/>
                  </a:cubicBezTo>
                  <a:cubicBezTo>
                    <a:pt x="1616" y="314"/>
                    <a:pt x="1616" y="314"/>
                    <a:pt x="1616" y="314"/>
                  </a:cubicBezTo>
                  <a:cubicBezTo>
                    <a:pt x="1621" y="288"/>
                    <a:pt x="1636" y="271"/>
                    <a:pt x="1660" y="271"/>
                  </a:cubicBezTo>
                  <a:close/>
                  <a:moveTo>
                    <a:pt x="1828" y="356"/>
                  </a:moveTo>
                  <a:cubicBezTo>
                    <a:pt x="1828" y="308"/>
                    <a:pt x="1851" y="285"/>
                    <a:pt x="1889" y="285"/>
                  </a:cubicBezTo>
                  <a:cubicBezTo>
                    <a:pt x="1892" y="285"/>
                    <a:pt x="1892" y="285"/>
                    <a:pt x="1892" y="285"/>
                  </a:cubicBezTo>
                  <a:cubicBezTo>
                    <a:pt x="1892" y="225"/>
                    <a:pt x="1892" y="225"/>
                    <a:pt x="1892" y="225"/>
                  </a:cubicBezTo>
                  <a:cubicBezTo>
                    <a:pt x="1858" y="224"/>
                    <a:pt x="1839" y="242"/>
                    <a:pt x="1828" y="270"/>
                  </a:cubicBezTo>
                  <a:cubicBezTo>
                    <a:pt x="1828" y="229"/>
                    <a:pt x="1828" y="229"/>
                    <a:pt x="1828" y="229"/>
                  </a:cubicBezTo>
                  <a:cubicBezTo>
                    <a:pt x="1770" y="229"/>
                    <a:pt x="1770" y="229"/>
                    <a:pt x="1770" y="229"/>
                  </a:cubicBezTo>
                  <a:cubicBezTo>
                    <a:pt x="1770" y="431"/>
                    <a:pt x="1770" y="431"/>
                    <a:pt x="1770" y="431"/>
                  </a:cubicBezTo>
                  <a:cubicBezTo>
                    <a:pt x="1828" y="431"/>
                    <a:pt x="1828" y="431"/>
                    <a:pt x="1828" y="431"/>
                  </a:cubicBezTo>
                  <a:lnTo>
                    <a:pt x="1828" y="356"/>
                  </a:lnTo>
                  <a:close/>
                  <a:moveTo>
                    <a:pt x="81" y="533"/>
                  </a:moveTo>
                  <a:cubicBezTo>
                    <a:pt x="24" y="533"/>
                    <a:pt x="24" y="533"/>
                    <a:pt x="24" y="533"/>
                  </a:cubicBezTo>
                  <a:cubicBezTo>
                    <a:pt x="24" y="585"/>
                    <a:pt x="24" y="585"/>
                    <a:pt x="24" y="585"/>
                  </a:cubicBezTo>
                  <a:cubicBezTo>
                    <a:pt x="0" y="585"/>
                    <a:pt x="0" y="585"/>
                    <a:pt x="0" y="585"/>
                  </a:cubicBezTo>
                  <a:cubicBezTo>
                    <a:pt x="0" y="634"/>
                    <a:pt x="0" y="634"/>
                    <a:pt x="0" y="634"/>
                  </a:cubicBezTo>
                  <a:cubicBezTo>
                    <a:pt x="24" y="634"/>
                    <a:pt x="24" y="634"/>
                    <a:pt x="24" y="634"/>
                  </a:cubicBezTo>
                  <a:cubicBezTo>
                    <a:pt x="24" y="730"/>
                    <a:pt x="24" y="730"/>
                    <a:pt x="24" y="730"/>
                  </a:cubicBezTo>
                  <a:cubicBezTo>
                    <a:pt x="24" y="776"/>
                    <a:pt x="48" y="790"/>
                    <a:pt x="83" y="790"/>
                  </a:cubicBezTo>
                  <a:cubicBezTo>
                    <a:pt x="102" y="790"/>
                    <a:pt x="116" y="786"/>
                    <a:pt x="128" y="779"/>
                  </a:cubicBezTo>
                  <a:cubicBezTo>
                    <a:pt x="128" y="733"/>
                    <a:pt x="128" y="733"/>
                    <a:pt x="128" y="733"/>
                  </a:cubicBezTo>
                  <a:cubicBezTo>
                    <a:pt x="120" y="737"/>
                    <a:pt x="110" y="740"/>
                    <a:pt x="100" y="740"/>
                  </a:cubicBezTo>
                  <a:cubicBezTo>
                    <a:pt x="87" y="740"/>
                    <a:pt x="81" y="733"/>
                    <a:pt x="81" y="720"/>
                  </a:cubicBezTo>
                  <a:cubicBezTo>
                    <a:pt x="81" y="634"/>
                    <a:pt x="81" y="634"/>
                    <a:pt x="81" y="634"/>
                  </a:cubicBezTo>
                  <a:cubicBezTo>
                    <a:pt x="129" y="634"/>
                    <a:pt x="129" y="634"/>
                    <a:pt x="129" y="634"/>
                  </a:cubicBezTo>
                  <a:cubicBezTo>
                    <a:pt x="129" y="585"/>
                    <a:pt x="129" y="585"/>
                    <a:pt x="129" y="585"/>
                  </a:cubicBezTo>
                  <a:cubicBezTo>
                    <a:pt x="81" y="585"/>
                    <a:pt x="81" y="585"/>
                    <a:pt x="81" y="585"/>
                  </a:cubicBezTo>
                  <a:lnTo>
                    <a:pt x="81" y="533"/>
                  </a:lnTo>
                  <a:close/>
                  <a:moveTo>
                    <a:pt x="237" y="581"/>
                  </a:moveTo>
                  <a:cubicBezTo>
                    <a:pt x="178" y="581"/>
                    <a:pt x="137" y="629"/>
                    <a:pt x="137" y="686"/>
                  </a:cubicBezTo>
                  <a:cubicBezTo>
                    <a:pt x="137" y="687"/>
                    <a:pt x="137" y="687"/>
                    <a:pt x="137" y="687"/>
                  </a:cubicBezTo>
                  <a:cubicBezTo>
                    <a:pt x="137" y="749"/>
                    <a:pt x="182" y="791"/>
                    <a:pt x="243" y="791"/>
                  </a:cubicBezTo>
                  <a:cubicBezTo>
                    <a:pt x="279" y="791"/>
                    <a:pt x="306" y="777"/>
                    <a:pt x="325" y="754"/>
                  </a:cubicBezTo>
                  <a:cubicBezTo>
                    <a:pt x="292" y="725"/>
                    <a:pt x="292" y="725"/>
                    <a:pt x="292" y="725"/>
                  </a:cubicBezTo>
                  <a:cubicBezTo>
                    <a:pt x="277" y="739"/>
                    <a:pt x="263" y="745"/>
                    <a:pt x="243" y="745"/>
                  </a:cubicBezTo>
                  <a:cubicBezTo>
                    <a:pt x="218" y="745"/>
                    <a:pt x="200" y="732"/>
                    <a:pt x="194" y="706"/>
                  </a:cubicBezTo>
                  <a:cubicBezTo>
                    <a:pt x="335" y="706"/>
                    <a:pt x="335" y="706"/>
                    <a:pt x="335" y="706"/>
                  </a:cubicBezTo>
                  <a:cubicBezTo>
                    <a:pt x="335" y="701"/>
                    <a:pt x="335" y="695"/>
                    <a:pt x="335" y="691"/>
                  </a:cubicBezTo>
                  <a:cubicBezTo>
                    <a:pt x="335" y="634"/>
                    <a:pt x="304" y="581"/>
                    <a:pt x="237" y="581"/>
                  </a:cubicBezTo>
                  <a:close/>
                  <a:moveTo>
                    <a:pt x="193" y="670"/>
                  </a:moveTo>
                  <a:cubicBezTo>
                    <a:pt x="198" y="644"/>
                    <a:pt x="213" y="627"/>
                    <a:pt x="237" y="627"/>
                  </a:cubicBezTo>
                  <a:cubicBezTo>
                    <a:pt x="261" y="627"/>
                    <a:pt x="276" y="644"/>
                    <a:pt x="280" y="670"/>
                  </a:cubicBezTo>
                  <a:lnTo>
                    <a:pt x="193" y="670"/>
                  </a:lnTo>
                  <a:close/>
                  <a:moveTo>
                    <a:pt x="452" y="742"/>
                  </a:moveTo>
                  <a:cubicBezTo>
                    <a:pt x="421" y="742"/>
                    <a:pt x="401" y="717"/>
                    <a:pt x="401" y="686"/>
                  </a:cubicBezTo>
                  <a:cubicBezTo>
                    <a:pt x="401" y="686"/>
                    <a:pt x="401" y="686"/>
                    <a:pt x="401" y="686"/>
                  </a:cubicBezTo>
                  <a:cubicBezTo>
                    <a:pt x="401" y="656"/>
                    <a:pt x="421" y="631"/>
                    <a:pt x="450" y="631"/>
                  </a:cubicBezTo>
                  <a:cubicBezTo>
                    <a:pt x="470" y="631"/>
                    <a:pt x="483" y="639"/>
                    <a:pt x="496" y="653"/>
                  </a:cubicBezTo>
                  <a:cubicBezTo>
                    <a:pt x="531" y="615"/>
                    <a:pt x="531" y="615"/>
                    <a:pt x="531" y="615"/>
                  </a:cubicBezTo>
                  <a:cubicBezTo>
                    <a:pt x="512" y="594"/>
                    <a:pt x="488" y="581"/>
                    <a:pt x="450" y="581"/>
                  </a:cubicBezTo>
                  <a:cubicBezTo>
                    <a:pt x="388" y="581"/>
                    <a:pt x="344" y="629"/>
                    <a:pt x="344" y="686"/>
                  </a:cubicBezTo>
                  <a:cubicBezTo>
                    <a:pt x="344" y="687"/>
                    <a:pt x="344" y="687"/>
                    <a:pt x="344" y="687"/>
                  </a:cubicBezTo>
                  <a:cubicBezTo>
                    <a:pt x="344" y="745"/>
                    <a:pt x="389" y="791"/>
                    <a:pt x="449" y="791"/>
                  </a:cubicBezTo>
                  <a:cubicBezTo>
                    <a:pt x="490" y="791"/>
                    <a:pt x="512" y="776"/>
                    <a:pt x="532" y="754"/>
                  </a:cubicBezTo>
                  <a:cubicBezTo>
                    <a:pt x="498" y="721"/>
                    <a:pt x="498" y="721"/>
                    <a:pt x="498" y="721"/>
                  </a:cubicBezTo>
                  <a:cubicBezTo>
                    <a:pt x="485" y="734"/>
                    <a:pt x="471" y="742"/>
                    <a:pt x="452" y="742"/>
                  </a:cubicBezTo>
                  <a:close/>
                  <a:moveTo>
                    <a:pt x="657" y="581"/>
                  </a:moveTo>
                  <a:cubicBezTo>
                    <a:pt x="628" y="581"/>
                    <a:pt x="611" y="597"/>
                    <a:pt x="598" y="614"/>
                  </a:cubicBezTo>
                  <a:cubicBezTo>
                    <a:pt x="598" y="512"/>
                    <a:pt x="598" y="512"/>
                    <a:pt x="598" y="512"/>
                  </a:cubicBezTo>
                  <a:cubicBezTo>
                    <a:pt x="541" y="512"/>
                    <a:pt x="541" y="512"/>
                    <a:pt x="541" y="512"/>
                  </a:cubicBezTo>
                  <a:cubicBezTo>
                    <a:pt x="541" y="787"/>
                    <a:pt x="541" y="787"/>
                    <a:pt x="541" y="787"/>
                  </a:cubicBezTo>
                  <a:cubicBezTo>
                    <a:pt x="598" y="787"/>
                    <a:pt x="598" y="787"/>
                    <a:pt x="598" y="787"/>
                  </a:cubicBezTo>
                  <a:cubicBezTo>
                    <a:pt x="598" y="674"/>
                    <a:pt x="598" y="674"/>
                    <a:pt x="598" y="674"/>
                  </a:cubicBezTo>
                  <a:cubicBezTo>
                    <a:pt x="598" y="647"/>
                    <a:pt x="612" y="633"/>
                    <a:pt x="634" y="633"/>
                  </a:cubicBezTo>
                  <a:cubicBezTo>
                    <a:pt x="656" y="633"/>
                    <a:pt x="669" y="647"/>
                    <a:pt x="669" y="674"/>
                  </a:cubicBezTo>
                  <a:cubicBezTo>
                    <a:pt x="669" y="787"/>
                    <a:pt x="669" y="787"/>
                    <a:pt x="669" y="787"/>
                  </a:cubicBezTo>
                  <a:cubicBezTo>
                    <a:pt x="726" y="787"/>
                    <a:pt x="726" y="787"/>
                    <a:pt x="726" y="787"/>
                  </a:cubicBezTo>
                  <a:cubicBezTo>
                    <a:pt x="726" y="656"/>
                    <a:pt x="726" y="656"/>
                    <a:pt x="726" y="656"/>
                  </a:cubicBezTo>
                  <a:cubicBezTo>
                    <a:pt x="726" y="610"/>
                    <a:pt x="701" y="581"/>
                    <a:pt x="657" y="581"/>
                  </a:cubicBezTo>
                  <a:close/>
                  <a:moveTo>
                    <a:pt x="857" y="581"/>
                  </a:moveTo>
                  <a:cubicBezTo>
                    <a:pt x="828" y="581"/>
                    <a:pt x="811" y="597"/>
                    <a:pt x="798" y="614"/>
                  </a:cubicBezTo>
                  <a:cubicBezTo>
                    <a:pt x="798" y="585"/>
                    <a:pt x="798" y="585"/>
                    <a:pt x="798" y="585"/>
                  </a:cubicBezTo>
                  <a:cubicBezTo>
                    <a:pt x="740" y="585"/>
                    <a:pt x="740" y="585"/>
                    <a:pt x="740" y="585"/>
                  </a:cubicBezTo>
                  <a:cubicBezTo>
                    <a:pt x="740" y="787"/>
                    <a:pt x="740" y="787"/>
                    <a:pt x="740" y="787"/>
                  </a:cubicBezTo>
                  <a:cubicBezTo>
                    <a:pt x="798" y="787"/>
                    <a:pt x="798" y="787"/>
                    <a:pt x="798" y="787"/>
                  </a:cubicBezTo>
                  <a:cubicBezTo>
                    <a:pt x="798" y="674"/>
                    <a:pt x="798" y="674"/>
                    <a:pt x="798" y="674"/>
                  </a:cubicBezTo>
                  <a:cubicBezTo>
                    <a:pt x="798" y="647"/>
                    <a:pt x="812" y="633"/>
                    <a:pt x="833" y="633"/>
                  </a:cubicBezTo>
                  <a:cubicBezTo>
                    <a:pt x="855" y="633"/>
                    <a:pt x="868" y="647"/>
                    <a:pt x="868" y="674"/>
                  </a:cubicBezTo>
                  <a:cubicBezTo>
                    <a:pt x="868" y="787"/>
                    <a:pt x="868" y="787"/>
                    <a:pt x="868" y="787"/>
                  </a:cubicBezTo>
                  <a:cubicBezTo>
                    <a:pt x="925" y="787"/>
                    <a:pt x="925" y="787"/>
                    <a:pt x="925" y="787"/>
                  </a:cubicBezTo>
                  <a:cubicBezTo>
                    <a:pt x="925" y="656"/>
                    <a:pt x="925" y="656"/>
                    <a:pt x="925" y="656"/>
                  </a:cubicBezTo>
                  <a:cubicBezTo>
                    <a:pt x="925" y="610"/>
                    <a:pt x="900" y="581"/>
                    <a:pt x="857" y="581"/>
                  </a:cubicBezTo>
                  <a:close/>
                  <a:moveTo>
                    <a:pt x="1155" y="686"/>
                  </a:moveTo>
                  <a:cubicBezTo>
                    <a:pt x="1155" y="686"/>
                    <a:pt x="1155" y="686"/>
                    <a:pt x="1155" y="686"/>
                  </a:cubicBezTo>
                  <a:cubicBezTo>
                    <a:pt x="1155" y="628"/>
                    <a:pt x="1109" y="581"/>
                    <a:pt x="1047" y="581"/>
                  </a:cubicBezTo>
                  <a:cubicBezTo>
                    <a:pt x="984" y="581"/>
                    <a:pt x="937" y="628"/>
                    <a:pt x="937" y="686"/>
                  </a:cubicBezTo>
                  <a:cubicBezTo>
                    <a:pt x="937" y="687"/>
                    <a:pt x="937" y="687"/>
                    <a:pt x="937" y="687"/>
                  </a:cubicBezTo>
                  <a:cubicBezTo>
                    <a:pt x="937" y="745"/>
                    <a:pt x="983" y="791"/>
                    <a:pt x="1046" y="791"/>
                  </a:cubicBezTo>
                  <a:cubicBezTo>
                    <a:pt x="1109" y="791"/>
                    <a:pt x="1155" y="744"/>
                    <a:pt x="1155" y="686"/>
                  </a:cubicBezTo>
                  <a:close/>
                  <a:moveTo>
                    <a:pt x="993" y="686"/>
                  </a:moveTo>
                  <a:cubicBezTo>
                    <a:pt x="993" y="686"/>
                    <a:pt x="993" y="686"/>
                    <a:pt x="993" y="686"/>
                  </a:cubicBezTo>
                  <a:cubicBezTo>
                    <a:pt x="993" y="656"/>
                    <a:pt x="1013" y="631"/>
                    <a:pt x="1046" y="631"/>
                  </a:cubicBezTo>
                  <a:cubicBezTo>
                    <a:pt x="1077" y="631"/>
                    <a:pt x="1099" y="657"/>
                    <a:pt x="1099" y="686"/>
                  </a:cubicBezTo>
                  <a:cubicBezTo>
                    <a:pt x="1099" y="687"/>
                    <a:pt x="1099" y="687"/>
                    <a:pt x="1099" y="687"/>
                  </a:cubicBezTo>
                  <a:cubicBezTo>
                    <a:pt x="1099" y="717"/>
                    <a:pt x="1079" y="742"/>
                    <a:pt x="1047" y="742"/>
                  </a:cubicBezTo>
                  <a:cubicBezTo>
                    <a:pt x="1015" y="742"/>
                    <a:pt x="993" y="716"/>
                    <a:pt x="993" y="686"/>
                  </a:cubicBezTo>
                  <a:close/>
                  <a:moveTo>
                    <a:pt x="1167" y="787"/>
                  </a:moveTo>
                  <a:cubicBezTo>
                    <a:pt x="1224" y="787"/>
                    <a:pt x="1224" y="787"/>
                    <a:pt x="1224" y="787"/>
                  </a:cubicBezTo>
                  <a:cubicBezTo>
                    <a:pt x="1224" y="512"/>
                    <a:pt x="1224" y="512"/>
                    <a:pt x="1224" y="512"/>
                  </a:cubicBezTo>
                  <a:cubicBezTo>
                    <a:pt x="1167" y="512"/>
                    <a:pt x="1167" y="512"/>
                    <a:pt x="1167" y="512"/>
                  </a:cubicBezTo>
                  <a:lnTo>
                    <a:pt x="1167" y="787"/>
                  </a:lnTo>
                  <a:close/>
                  <a:moveTo>
                    <a:pt x="1345" y="581"/>
                  </a:moveTo>
                  <a:cubicBezTo>
                    <a:pt x="1282" y="581"/>
                    <a:pt x="1235" y="628"/>
                    <a:pt x="1235" y="686"/>
                  </a:cubicBezTo>
                  <a:cubicBezTo>
                    <a:pt x="1235" y="687"/>
                    <a:pt x="1235" y="687"/>
                    <a:pt x="1235" y="687"/>
                  </a:cubicBezTo>
                  <a:cubicBezTo>
                    <a:pt x="1235" y="745"/>
                    <a:pt x="1281" y="791"/>
                    <a:pt x="1344" y="791"/>
                  </a:cubicBezTo>
                  <a:cubicBezTo>
                    <a:pt x="1407" y="791"/>
                    <a:pt x="1453" y="744"/>
                    <a:pt x="1453" y="686"/>
                  </a:cubicBezTo>
                  <a:cubicBezTo>
                    <a:pt x="1453" y="686"/>
                    <a:pt x="1453" y="686"/>
                    <a:pt x="1453" y="686"/>
                  </a:cubicBezTo>
                  <a:cubicBezTo>
                    <a:pt x="1453" y="628"/>
                    <a:pt x="1407" y="581"/>
                    <a:pt x="1345" y="581"/>
                  </a:cubicBezTo>
                  <a:close/>
                  <a:moveTo>
                    <a:pt x="1397" y="687"/>
                  </a:moveTo>
                  <a:cubicBezTo>
                    <a:pt x="1397" y="717"/>
                    <a:pt x="1377" y="742"/>
                    <a:pt x="1345" y="742"/>
                  </a:cubicBezTo>
                  <a:cubicBezTo>
                    <a:pt x="1313" y="742"/>
                    <a:pt x="1292" y="716"/>
                    <a:pt x="1292" y="686"/>
                  </a:cubicBezTo>
                  <a:cubicBezTo>
                    <a:pt x="1292" y="686"/>
                    <a:pt x="1292" y="686"/>
                    <a:pt x="1292" y="686"/>
                  </a:cubicBezTo>
                  <a:cubicBezTo>
                    <a:pt x="1292" y="656"/>
                    <a:pt x="1311" y="631"/>
                    <a:pt x="1344" y="631"/>
                  </a:cubicBezTo>
                  <a:cubicBezTo>
                    <a:pt x="1375" y="631"/>
                    <a:pt x="1397" y="657"/>
                    <a:pt x="1397" y="686"/>
                  </a:cubicBezTo>
                  <a:lnTo>
                    <a:pt x="1397" y="687"/>
                  </a:lnTo>
                  <a:close/>
                  <a:moveTo>
                    <a:pt x="1560" y="802"/>
                  </a:moveTo>
                  <a:cubicBezTo>
                    <a:pt x="1533" y="802"/>
                    <a:pt x="1513" y="795"/>
                    <a:pt x="1492" y="784"/>
                  </a:cubicBezTo>
                  <a:cubicBezTo>
                    <a:pt x="1472" y="827"/>
                    <a:pt x="1472" y="827"/>
                    <a:pt x="1472" y="827"/>
                  </a:cubicBezTo>
                  <a:cubicBezTo>
                    <a:pt x="1498" y="840"/>
                    <a:pt x="1529" y="848"/>
                    <a:pt x="1562" y="848"/>
                  </a:cubicBezTo>
                  <a:cubicBezTo>
                    <a:pt x="1601" y="848"/>
                    <a:pt x="1630" y="840"/>
                    <a:pt x="1649" y="821"/>
                  </a:cubicBezTo>
                  <a:cubicBezTo>
                    <a:pt x="1666" y="804"/>
                    <a:pt x="1674" y="777"/>
                    <a:pt x="1674" y="741"/>
                  </a:cubicBezTo>
                  <a:cubicBezTo>
                    <a:pt x="1674" y="585"/>
                    <a:pt x="1674" y="585"/>
                    <a:pt x="1674" y="585"/>
                  </a:cubicBezTo>
                  <a:cubicBezTo>
                    <a:pt x="1617" y="585"/>
                    <a:pt x="1617" y="585"/>
                    <a:pt x="1617" y="585"/>
                  </a:cubicBezTo>
                  <a:cubicBezTo>
                    <a:pt x="1617" y="611"/>
                    <a:pt x="1617" y="611"/>
                    <a:pt x="1617" y="611"/>
                  </a:cubicBezTo>
                  <a:cubicBezTo>
                    <a:pt x="1602" y="594"/>
                    <a:pt x="1583" y="581"/>
                    <a:pt x="1552" y="581"/>
                  </a:cubicBezTo>
                  <a:cubicBezTo>
                    <a:pt x="1505" y="581"/>
                    <a:pt x="1462" y="615"/>
                    <a:pt x="1462" y="675"/>
                  </a:cubicBezTo>
                  <a:cubicBezTo>
                    <a:pt x="1462" y="676"/>
                    <a:pt x="1462" y="676"/>
                    <a:pt x="1462" y="676"/>
                  </a:cubicBezTo>
                  <a:cubicBezTo>
                    <a:pt x="1462" y="736"/>
                    <a:pt x="1505" y="770"/>
                    <a:pt x="1552" y="770"/>
                  </a:cubicBezTo>
                  <a:cubicBezTo>
                    <a:pt x="1582" y="770"/>
                    <a:pt x="1601" y="758"/>
                    <a:pt x="1618" y="737"/>
                  </a:cubicBezTo>
                  <a:cubicBezTo>
                    <a:pt x="1618" y="747"/>
                    <a:pt x="1618" y="747"/>
                    <a:pt x="1618" y="747"/>
                  </a:cubicBezTo>
                  <a:cubicBezTo>
                    <a:pt x="1618" y="783"/>
                    <a:pt x="1599" y="802"/>
                    <a:pt x="1560" y="802"/>
                  </a:cubicBezTo>
                  <a:close/>
                  <a:moveTo>
                    <a:pt x="1568" y="723"/>
                  </a:moveTo>
                  <a:cubicBezTo>
                    <a:pt x="1541" y="723"/>
                    <a:pt x="1519" y="704"/>
                    <a:pt x="1519" y="676"/>
                  </a:cubicBezTo>
                  <a:cubicBezTo>
                    <a:pt x="1519" y="675"/>
                    <a:pt x="1519" y="675"/>
                    <a:pt x="1519" y="675"/>
                  </a:cubicBezTo>
                  <a:cubicBezTo>
                    <a:pt x="1519" y="648"/>
                    <a:pt x="1541" y="629"/>
                    <a:pt x="1568" y="629"/>
                  </a:cubicBezTo>
                  <a:cubicBezTo>
                    <a:pt x="1596" y="629"/>
                    <a:pt x="1618" y="648"/>
                    <a:pt x="1618" y="675"/>
                  </a:cubicBezTo>
                  <a:cubicBezTo>
                    <a:pt x="1618" y="676"/>
                    <a:pt x="1618" y="676"/>
                    <a:pt x="1618" y="676"/>
                  </a:cubicBezTo>
                  <a:cubicBezTo>
                    <a:pt x="1618" y="704"/>
                    <a:pt x="1596" y="723"/>
                    <a:pt x="1568" y="723"/>
                  </a:cubicBezTo>
                  <a:close/>
                  <a:moveTo>
                    <a:pt x="1790" y="722"/>
                  </a:moveTo>
                  <a:cubicBezTo>
                    <a:pt x="1744" y="585"/>
                    <a:pt x="1744" y="585"/>
                    <a:pt x="1744" y="585"/>
                  </a:cubicBezTo>
                  <a:cubicBezTo>
                    <a:pt x="1684" y="585"/>
                    <a:pt x="1684" y="585"/>
                    <a:pt x="1684" y="585"/>
                  </a:cubicBezTo>
                  <a:cubicBezTo>
                    <a:pt x="1763" y="788"/>
                    <a:pt x="1763" y="788"/>
                    <a:pt x="1763" y="788"/>
                  </a:cubicBezTo>
                  <a:cubicBezTo>
                    <a:pt x="1758" y="798"/>
                    <a:pt x="1753" y="801"/>
                    <a:pt x="1743" y="801"/>
                  </a:cubicBezTo>
                  <a:cubicBezTo>
                    <a:pt x="1735" y="801"/>
                    <a:pt x="1726" y="797"/>
                    <a:pt x="1718" y="793"/>
                  </a:cubicBezTo>
                  <a:cubicBezTo>
                    <a:pt x="1699" y="834"/>
                    <a:pt x="1699" y="834"/>
                    <a:pt x="1699" y="834"/>
                  </a:cubicBezTo>
                  <a:cubicBezTo>
                    <a:pt x="1714" y="843"/>
                    <a:pt x="1729" y="848"/>
                    <a:pt x="1750" y="848"/>
                  </a:cubicBezTo>
                  <a:cubicBezTo>
                    <a:pt x="1784" y="848"/>
                    <a:pt x="1801" y="833"/>
                    <a:pt x="1816" y="792"/>
                  </a:cubicBezTo>
                  <a:cubicBezTo>
                    <a:pt x="1894" y="585"/>
                    <a:pt x="1894" y="585"/>
                    <a:pt x="1894" y="585"/>
                  </a:cubicBezTo>
                  <a:cubicBezTo>
                    <a:pt x="1834" y="585"/>
                    <a:pt x="1834" y="585"/>
                    <a:pt x="1834" y="585"/>
                  </a:cubicBezTo>
                  <a:lnTo>
                    <a:pt x="1790" y="722"/>
                  </a:lnTo>
                  <a:close/>
                  <a:moveTo>
                    <a:pt x="1101" y="965"/>
                  </a:moveTo>
                  <a:cubicBezTo>
                    <a:pt x="1054" y="965"/>
                    <a:pt x="1054" y="965"/>
                    <a:pt x="1054" y="965"/>
                  </a:cubicBezTo>
                  <a:cubicBezTo>
                    <a:pt x="1054" y="957"/>
                    <a:pt x="1054" y="957"/>
                    <a:pt x="1054" y="957"/>
                  </a:cubicBezTo>
                  <a:cubicBezTo>
                    <a:pt x="1054" y="942"/>
                    <a:pt x="1062" y="935"/>
                    <a:pt x="1075" y="935"/>
                  </a:cubicBezTo>
                  <a:cubicBezTo>
                    <a:pt x="1085" y="935"/>
                    <a:pt x="1093" y="937"/>
                    <a:pt x="1101" y="940"/>
                  </a:cubicBezTo>
                  <a:cubicBezTo>
                    <a:pt x="1101" y="893"/>
                    <a:pt x="1101" y="893"/>
                    <a:pt x="1101" y="893"/>
                  </a:cubicBezTo>
                  <a:cubicBezTo>
                    <a:pt x="1091" y="889"/>
                    <a:pt x="1078" y="887"/>
                    <a:pt x="1060" y="887"/>
                  </a:cubicBezTo>
                  <a:cubicBezTo>
                    <a:pt x="1040" y="887"/>
                    <a:pt x="1025" y="892"/>
                    <a:pt x="1014" y="903"/>
                  </a:cubicBezTo>
                  <a:cubicBezTo>
                    <a:pt x="1004" y="914"/>
                    <a:pt x="998" y="930"/>
                    <a:pt x="998" y="952"/>
                  </a:cubicBezTo>
                  <a:cubicBezTo>
                    <a:pt x="998" y="965"/>
                    <a:pt x="998" y="965"/>
                    <a:pt x="998" y="965"/>
                  </a:cubicBezTo>
                  <a:cubicBezTo>
                    <a:pt x="974" y="965"/>
                    <a:pt x="974" y="965"/>
                    <a:pt x="974" y="965"/>
                  </a:cubicBezTo>
                  <a:cubicBezTo>
                    <a:pt x="974" y="1012"/>
                    <a:pt x="974" y="1012"/>
                    <a:pt x="974" y="1012"/>
                  </a:cubicBezTo>
                  <a:cubicBezTo>
                    <a:pt x="998" y="1012"/>
                    <a:pt x="998" y="1012"/>
                    <a:pt x="998" y="1012"/>
                  </a:cubicBezTo>
                  <a:cubicBezTo>
                    <a:pt x="998" y="1165"/>
                    <a:pt x="998" y="1165"/>
                    <a:pt x="998" y="1165"/>
                  </a:cubicBezTo>
                  <a:cubicBezTo>
                    <a:pt x="1055" y="1165"/>
                    <a:pt x="1055" y="1165"/>
                    <a:pt x="1055" y="1165"/>
                  </a:cubicBezTo>
                  <a:cubicBezTo>
                    <a:pt x="1055" y="1012"/>
                    <a:pt x="1055" y="1012"/>
                    <a:pt x="1055" y="1012"/>
                  </a:cubicBezTo>
                  <a:cubicBezTo>
                    <a:pt x="1101" y="1012"/>
                    <a:pt x="1101" y="1012"/>
                    <a:pt x="1101" y="1012"/>
                  </a:cubicBezTo>
                  <a:lnTo>
                    <a:pt x="1101" y="965"/>
                  </a:lnTo>
                  <a:close/>
                  <a:moveTo>
                    <a:pt x="1209" y="959"/>
                  </a:moveTo>
                  <a:cubicBezTo>
                    <a:pt x="1147" y="959"/>
                    <a:pt x="1100" y="1006"/>
                    <a:pt x="1100" y="1064"/>
                  </a:cubicBezTo>
                  <a:cubicBezTo>
                    <a:pt x="1100" y="1065"/>
                    <a:pt x="1100" y="1065"/>
                    <a:pt x="1100" y="1065"/>
                  </a:cubicBezTo>
                  <a:cubicBezTo>
                    <a:pt x="1100" y="1123"/>
                    <a:pt x="1146" y="1169"/>
                    <a:pt x="1209" y="1169"/>
                  </a:cubicBezTo>
                  <a:cubicBezTo>
                    <a:pt x="1272" y="1169"/>
                    <a:pt x="1318" y="1122"/>
                    <a:pt x="1318" y="1064"/>
                  </a:cubicBezTo>
                  <a:cubicBezTo>
                    <a:pt x="1318" y="1063"/>
                    <a:pt x="1318" y="1063"/>
                    <a:pt x="1318" y="1063"/>
                  </a:cubicBezTo>
                  <a:cubicBezTo>
                    <a:pt x="1318" y="1005"/>
                    <a:pt x="1272" y="959"/>
                    <a:pt x="1209" y="959"/>
                  </a:cubicBezTo>
                  <a:close/>
                  <a:moveTo>
                    <a:pt x="1262" y="1065"/>
                  </a:moveTo>
                  <a:cubicBezTo>
                    <a:pt x="1262" y="1095"/>
                    <a:pt x="1242" y="1120"/>
                    <a:pt x="1209" y="1120"/>
                  </a:cubicBezTo>
                  <a:cubicBezTo>
                    <a:pt x="1178" y="1120"/>
                    <a:pt x="1156" y="1094"/>
                    <a:pt x="1156" y="1064"/>
                  </a:cubicBezTo>
                  <a:cubicBezTo>
                    <a:pt x="1156" y="1063"/>
                    <a:pt x="1156" y="1063"/>
                    <a:pt x="1156" y="1063"/>
                  </a:cubicBezTo>
                  <a:cubicBezTo>
                    <a:pt x="1156" y="1034"/>
                    <a:pt x="1176" y="1008"/>
                    <a:pt x="1209" y="1008"/>
                  </a:cubicBezTo>
                  <a:cubicBezTo>
                    <a:pt x="1240" y="1008"/>
                    <a:pt x="1262" y="1034"/>
                    <a:pt x="1262" y="1064"/>
                  </a:cubicBezTo>
                  <a:lnTo>
                    <a:pt x="1262" y="1065"/>
                  </a:lnTo>
                  <a:close/>
                  <a:moveTo>
                    <a:pt x="1389" y="1004"/>
                  </a:moveTo>
                  <a:cubicBezTo>
                    <a:pt x="1389" y="963"/>
                    <a:pt x="1389" y="963"/>
                    <a:pt x="1389" y="963"/>
                  </a:cubicBezTo>
                  <a:cubicBezTo>
                    <a:pt x="1332" y="963"/>
                    <a:pt x="1332" y="963"/>
                    <a:pt x="1332" y="963"/>
                  </a:cubicBezTo>
                  <a:cubicBezTo>
                    <a:pt x="1332" y="1165"/>
                    <a:pt x="1332" y="1165"/>
                    <a:pt x="1332" y="1165"/>
                  </a:cubicBezTo>
                  <a:cubicBezTo>
                    <a:pt x="1389" y="1165"/>
                    <a:pt x="1389" y="1165"/>
                    <a:pt x="1389" y="1165"/>
                  </a:cubicBezTo>
                  <a:cubicBezTo>
                    <a:pt x="1389" y="1090"/>
                    <a:pt x="1389" y="1090"/>
                    <a:pt x="1389" y="1090"/>
                  </a:cubicBezTo>
                  <a:cubicBezTo>
                    <a:pt x="1389" y="1042"/>
                    <a:pt x="1412" y="1019"/>
                    <a:pt x="1450" y="1019"/>
                  </a:cubicBezTo>
                  <a:cubicBezTo>
                    <a:pt x="1453" y="1019"/>
                    <a:pt x="1453" y="1019"/>
                    <a:pt x="1453" y="1019"/>
                  </a:cubicBezTo>
                  <a:cubicBezTo>
                    <a:pt x="1453" y="959"/>
                    <a:pt x="1453" y="959"/>
                    <a:pt x="1453" y="959"/>
                  </a:cubicBezTo>
                  <a:cubicBezTo>
                    <a:pt x="1419" y="958"/>
                    <a:pt x="1400" y="976"/>
                    <a:pt x="1389" y="1004"/>
                  </a:cubicBezTo>
                  <a:close/>
                  <a:moveTo>
                    <a:pt x="1622" y="961"/>
                  </a:moveTo>
                  <a:cubicBezTo>
                    <a:pt x="1588" y="961"/>
                    <a:pt x="1566" y="967"/>
                    <a:pt x="1544" y="977"/>
                  </a:cubicBezTo>
                  <a:cubicBezTo>
                    <a:pt x="1558" y="1020"/>
                    <a:pt x="1558" y="1020"/>
                    <a:pt x="1558" y="1020"/>
                  </a:cubicBezTo>
                  <a:cubicBezTo>
                    <a:pt x="1576" y="1014"/>
                    <a:pt x="1592" y="1010"/>
                    <a:pt x="1614" y="1010"/>
                  </a:cubicBezTo>
                  <a:cubicBezTo>
                    <a:pt x="1642" y="1010"/>
                    <a:pt x="1657" y="1023"/>
                    <a:pt x="1657" y="1046"/>
                  </a:cubicBezTo>
                  <a:cubicBezTo>
                    <a:pt x="1657" y="1050"/>
                    <a:pt x="1657" y="1050"/>
                    <a:pt x="1657" y="1050"/>
                  </a:cubicBezTo>
                  <a:cubicBezTo>
                    <a:pt x="1643" y="1045"/>
                    <a:pt x="1628" y="1042"/>
                    <a:pt x="1608" y="1042"/>
                  </a:cubicBezTo>
                  <a:cubicBezTo>
                    <a:pt x="1560" y="1042"/>
                    <a:pt x="1526" y="1062"/>
                    <a:pt x="1526" y="1106"/>
                  </a:cubicBezTo>
                  <a:cubicBezTo>
                    <a:pt x="1526" y="1107"/>
                    <a:pt x="1526" y="1107"/>
                    <a:pt x="1526" y="1107"/>
                  </a:cubicBezTo>
                  <a:cubicBezTo>
                    <a:pt x="1526" y="1147"/>
                    <a:pt x="1558" y="1168"/>
                    <a:pt x="1596" y="1168"/>
                  </a:cubicBezTo>
                  <a:cubicBezTo>
                    <a:pt x="1624" y="1168"/>
                    <a:pt x="1643" y="1158"/>
                    <a:pt x="1657" y="1143"/>
                  </a:cubicBezTo>
                  <a:cubicBezTo>
                    <a:pt x="1657" y="1165"/>
                    <a:pt x="1657" y="1165"/>
                    <a:pt x="1657" y="1165"/>
                  </a:cubicBezTo>
                  <a:cubicBezTo>
                    <a:pt x="1712" y="1165"/>
                    <a:pt x="1712" y="1165"/>
                    <a:pt x="1712" y="1165"/>
                  </a:cubicBezTo>
                  <a:cubicBezTo>
                    <a:pt x="1712" y="1048"/>
                    <a:pt x="1712" y="1048"/>
                    <a:pt x="1712" y="1048"/>
                  </a:cubicBezTo>
                  <a:cubicBezTo>
                    <a:pt x="1712" y="1020"/>
                    <a:pt x="1705" y="998"/>
                    <a:pt x="1690" y="983"/>
                  </a:cubicBezTo>
                  <a:cubicBezTo>
                    <a:pt x="1676" y="969"/>
                    <a:pt x="1653" y="961"/>
                    <a:pt x="1622" y="961"/>
                  </a:cubicBezTo>
                  <a:close/>
                  <a:moveTo>
                    <a:pt x="1658" y="1094"/>
                  </a:moveTo>
                  <a:cubicBezTo>
                    <a:pt x="1658" y="1114"/>
                    <a:pt x="1640" y="1129"/>
                    <a:pt x="1613" y="1129"/>
                  </a:cubicBezTo>
                  <a:cubicBezTo>
                    <a:pt x="1595" y="1129"/>
                    <a:pt x="1582" y="1120"/>
                    <a:pt x="1582" y="1104"/>
                  </a:cubicBezTo>
                  <a:cubicBezTo>
                    <a:pt x="1582" y="1104"/>
                    <a:pt x="1582" y="1104"/>
                    <a:pt x="1582" y="1104"/>
                  </a:cubicBezTo>
                  <a:cubicBezTo>
                    <a:pt x="1582" y="1086"/>
                    <a:pt x="1597" y="1076"/>
                    <a:pt x="1621" y="1076"/>
                  </a:cubicBezTo>
                  <a:cubicBezTo>
                    <a:pt x="1635" y="1076"/>
                    <a:pt x="1648" y="1079"/>
                    <a:pt x="1658" y="1083"/>
                  </a:cubicBezTo>
                  <a:lnTo>
                    <a:pt x="1658" y="1094"/>
                  </a:lnTo>
                  <a:close/>
                  <a:moveTo>
                    <a:pt x="1736" y="1165"/>
                  </a:moveTo>
                  <a:cubicBezTo>
                    <a:pt x="1793" y="1165"/>
                    <a:pt x="1793" y="1165"/>
                    <a:pt x="1793" y="1165"/>
                  </a:cubicBezTo>
                  <a:cubicBezTo>
                    <a:pt x="1793" y="890"/>
                    <a:pt x="1793" y="890"/>
                    <a:pt x="1793" y="890"/>
                  </a:cubicBezTo>
                  <a:cubicBezTo>
                    <a:pt x="1736" y="890"/>
                    <a:pt x="1736" y="890"/>
                    <a:pt x="1736" y="890"/>
                  </a:cubicBezTo>
                  <a:lnTo>
                    <a:pt x="1736" y="1165"/>
                  </a:lnTo>
                  <a:close/>
                  <a:moveTo>
                    <a:pt x="1817" y="1165"/>
                  </a:moveTo>
                  <a:cubicBezTo>
                    <a:pt x="1874" y="1165"/>
                    <a:pt x="1874" y="1165"/>
                    <a:pt x="1874" y="1165"/>
                  </a:cubicBezTo>
                  <a:cubicBezTo>
                    <a:pt x="1874" y="890"/>
                    <a:pt x="1874" y="890"/>
                    <a:pt x="1874" y="890"/>
                  </a:cubicBezTo>
                  <a:cubicBezTo>
                    <a:pt x="1817" y="890"/>
                    <a:pt x="1817" y="890"/>
                    <a:pt x="1817" y="890"/>
                  </a:cubicBezTo>
                  <a:lnTo>
                    <a:pt x="1817" y="1165"/>
                  </a:lnTo>
                  <a:close/>
                  <a:moveTo>
                    <a:pt x="2086" y="0"/>
                  </a:moveTo>
                  <a:cubicBezTo>
                    <a:pt x="2086" y="1832"/>
                    <a:pt x="2086" y="1832"/>
                    <a:pt x="2086" y="1832"/>
                  </a:cubicBezTo>
                  <a:cubicBezTo>
                    <a:pt x="2697" y="1832"/>
                    <a:pt x="2697" y="1832"/>
                    <a:pt x="2697" y="1832"/>
                  </a:cubicBezTo>
                  <a:cubicBezTo>
                    <a:pt x="2697" y="0"/>
                    <a:pt x="2697" y="0"/>
                    <a:pt x="2697" y="0"/>
                  </a:cubicBezTo>
                  <a:lnTo>
                    <a:pt x="2086" y="0"/>
                  </a:lnTo>
                  <a:close/>
                </a:path>
              </a:pathLst>
            </a:custGeom>
            <a:gradFill flip="none" rotWithShape="1">
              <a:gsLst>
                <a:gs pos="37000">
                  <a:srgbClr val="F2A11F"/>
                </a:gs>
                <a:gs pos="56000">
                  <a:srgbClr val="EC5124"/>
                </a:gs>
                <a:gs pos="83000">
                  <a:srgbClr val="D32A27"/>
                </a:gs>
                <a:gs pos="100000">
                  <a:srgbClr val="7A425E"/>
                </a:gs>
              </a:gsLst>
              <a:lin ang="18900000" scaled="1"/>
              <a:tileRect/>
            </a:gradFill>
            <a:ln>
              <a:noFill/>
            </a:ln>
          </p:spPr>
          <p:txBody>
            <a:bodyPr vert="horz" wrap="square" lIns="91440" tIns="45720" rIns="91440" bIns="45720" numCol="1" anchor="t" anchorCtr="0" compatLnSpc="1">
              <a:prstTxWarp prst="textNoShape">
                <a:avLst/>
              </a:prstTxWarp>
            </a:bodyPr>
            <a:lstStyle/>
            <a:p>
              <a:endParaRPr lang="en-US" sz="1798"/>
            </a:p>
          </p:txBody>
        </p:sp>
        <p:grpSp>
          <p:nvGrpSpPr>
            <p:cNvPr id="21" name="Group 20">
              <a:extLst>
                <a:ext uri="{FF2B5EF4-FFF2-40B4-BE49-F238E27FC236}">
                  <a16:creationId xmlns:a16="http://schemas.microsoft.com/office/drawing/2014/main" id="{F28F2614-0FCC-4D8C-BC98-D03E162B4F33}"/>
                </a:ext>
              </a:extLst>
            </p:cNvPr>
            <p:cNvGrpSpPr/>
            <p:nvPr userDrawn="1"/>
          </p:nvGrpSpPr>
          <p:grpSpPr>
            <a:xfrm>
              <a:off x="11291887" y="1987551"/>
              <a:ext cx="590550" cy="2868613"/>
              <a:chOff x="11291887" y="1987551"/>
              <a:chExt cx="590550" cy="2868613"/>
            </a:xfrm>
          </p:grpSpPr>
          <p:sp>
            <p:nvSpPr>
              <p:cNvPr id="13" name="Freeform 6">
                <a:extLst>
                  <a:ext uri="{FF2B5EF4-FFF2-40B4-BE49-F238E27FC236}">
                    <a16:creationId xmlns:a16="http://schemas.microsoft.com/office/drawing/2014/main" id="{4BE4413F-C77A-40BA-9643-97A55AFCF5AB}"/>
                  </a:ext>
                </a:extLst>
              </p:cNvPr>
              <p:cNvSpPr>
                <a:spLocks/>
              </p:cNvSpPr>
              <p:nvPr userDrawn="1"/>
            </p:nvSpPr>
            <p:spPr bwMode="auto">
              <a:xfrm>
                <a:off x="11418887" y="3471864"/>
                <a:ext cx="455612" cy="452438"/>
              </a:xfrm>
              <a:custGeom>
                <a:avLst/>
                <a:gdLst>
                  <a:gd name="T0" fmla="*/ 0 w 239"/>
                  <a:gd name="T1" fmla="*/ 96 h 237"/>
                  <a:gd name="T2" fmla="*/ 38 w 239"/>
                  <a:gd name="T3" fmla="*/ 173 h 237"/>
                  <a:gd name="T4" fmla="*/ 38 w 239"/>
                  <a:gd name="T5" fmla="*/ 173 h 237"/>
                  <a:gd name="T6" fmla="*/ 38 w 239"/>
                  <a:gd name="T7" fmla="*/ 173 h 237"/>
                  <a:gd name="T8" fmla="*/ 4 w 239"/>
                  <a:gd name="T9" fmla="*/ 173 h 237"/>
                  <a:gd name="T10" fmla="*/ 4 w 239"/>
                  <a:gd name="T11" fmla="*/ 237 h 237"/>
                  <a:gd name="T12" fmla="*/ 239 w 239"/>
                  <a:gd name="T13" fmla="*/ 237 h 237"/>
                  <a:gd name="T14" fmla="*/ 239 w 239"/>
                  <a:gd name="T15" fmla="*/ 173 h 237"/>
                  <a:gd name="T16" fmla="*/ 105 w 239"/>
                  <a:gd name="T17" fmla="*/ 173 h 237"/>
                  <a:gd name="T18" fmla="*/ 56 w 239"/>
                  <a:gd name="T19" fmla="*/ 119 h 237"/>
                  <a:gd name="T20" fmla="*/ 105 w 239"/>
                  <a:gd name="T21" fmla="*/ 65 h 237"/>
                  <a:gd name="T22" fmla="*/ 239 w 239"/>
                  <a:gd name="T23" fmla="*/ 65 h 237"/>
                  <a:gd name="T24" fmla="*/ 239 w 239"/>
                  <a:gd name="T25" fmla="*/ 0 h 237"/>
                  <a:gd name="T26" fmla="*/ 93 w 239"/>
                  <a:gd name="T27" fmla="*/ 0 h 237"/>
                  <a:gd name="T28" fmla="*/ 0 w 239"/>
                  <a:gd name="T29" fmla="*/ 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9" h="237">
                    <a:moveTo>
                      <a:pt x="0" y="96"/>
                    </a:moveTo>
                    <a:cubicBezTo>
                      <a:pt x="0" y="123"/>
                      <a:pt x="13" y="154"/>
                      <a:pt x="38" y="173"/>
                    </a:cubicBezTo>
                    <a:cubicBezTo>
                      <a:pt x="38" y="173"/>
                      <a:pt x="38" y="173"/>
                      <a:pt x="38" y="173"/>
                    </a:cubicBezTo>
                    <a:cubicBezTo>
                      <a:pt x="38" y="173"/>
                      <a:pt x="38" y="173"/>
                      <a:pt x="38" y="173"/>
                    </a:cubicBezTo>
                    <a:cubicBezTo>
                      <a:pt x="4" y="173"/>
                      <a:pt x="4" y="173"/>
                      <a:pt x="4" y="173"/>
                    </a:cubicBezTo>
                    <a:cubicBezTo>
                      <a:pt x="4" y="237"/>
                      <a:pt x="4" y="237"/>
                      <a:pt x="4" y="237"/>
                    </a:cubicBezTo>
                    <a:cubicBezTo>
                      <a:pt x="239" y="237"/>
                      <a:pt x="239" y="237"/>
                      <a:pt x="239" y="237"/>
                    </a:cubicBezTo>
                    <a:cubicBezTo>
                      <a:pt x="239" y="173"/>
                      <a:pt x="239" y="173"/>
                      <a:pt x="239" y="173"/>
                    </a:cubicBezTo>
                    <a:cubicBezTo>
                      <a:pt x="105" y="173"/>
                      <a:pt x="105" y="173"/>
                      <a:pt x="105" y="173"/>
                    </a:cubicBezTo>
                    <a:cubicBezTo>
                      <a:pt x="81" y="173"/>
                      <a:pt x="56" y="154"/>
                      <a:pt x="56" y="119"/>
                    </a:cubicBezTo>
                    <a:cubicBezTo>
                      <a:pt x="56" y="93"/>
                      <a:pt x="74" y="65"/>
                      <a:pt x="105" y="65"/>
                    </a:cubicBezTo>
                    <a:cubicBezTo>
                      <a:pt x="239" y="65"/>
                      <a:pt x="239" y="65"/>
                      <a:pt x="239" y="65"/>
                    </a:cubicBezTo>
                    <a:cubicBezTo>
                      <a:pt x="239" y="0"/>
                      <a:pt x="239" y="0"/>
                      <a:pt x="239" y="0"/>
                    </a:cubicBezTo>
                    <a:cubicBezTo>
                      <a:pt x="93" y="0"/>
                      <a:pt x="93" y="0"/>
                      <a:pt x="93" y="0"/>
                    </a:cubicBezTo>
                    <a:cubicBezTo>
                      <a:pt x="39" y="0"/>
                      <a:pt x="0" y="39"/>
                      <a:pt x="0" y="9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5" name="Freeform 7">
                <a:extLst>
                  <a:ext uri="{FF2B5EF4-FFF2-40B4-BE49-F238E27FC236}">
                    <a16:creationId xmlns:a16="http://schemas.microsoft.com/office/drawing/2014/main" id="{3CA96921-0134-4138-B35F-24FF94928025}"/>
                  </a:ext>
                </a:extLst>
              </p:cNvPr>
              <p:cNvSpPr>
                <a:spLocks/>
              </p:cNvSpPr>
              <p:nvPr userDrawn="1"/>
            </p:nvSpPr>
            <p:spPr bwMode="auto">
              <a:xfrm>
                <a:off x="11425237" y="2452689"/>
                <a:ext cx="449262" cy="506413"/>
              </a:xfrm>
              <a:custGeom>
                <a:avLst/>
                <a:gdLst>
                  <a:gd name="T0" fmla="*/ 0 w 283"/>
                  <a:gd name="T1" fmla="*/ 89 h 319"/>
                  <a:gd name="T2" fmla="*/ 193 w 283"/>
                  <a:gd name="T3" fmla="*/ 159 h 319"/>
                  <a:gd name="T4" fmla="*/ 0 w 283"/>
                  <a:gd name="T5" fmla="*/ 229 h 319"/>
                  <a:gd name="T6" fmla="*/ 0 w 283"/>
                  <a:gd name="T7" fmla="*/ 319 h 319"/>
                  <a:gd name="T8" fmla="*/ 283 w 283"/>
                  <a:gd name="T9" fmla="*/ 202 h 319"/>
                  <a:gd name="T10" fmla="*/ 283 w 283"/>
                  <a:gd name="T11" fmla="*/ 117 h 319"/>
                  <a:gd name="T12" fmla="*/ 0 w 283"/>
                  <a:gd name="T13" fmla="*/ 0 h 319"/>
                  <a:gd name="T14" fmla="*/ 0 w 283"/>
                  <a:gd name="T15" fmla="*/ 89 h 3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319">
                    <a:moveTo>
                      <a:pt x="0" y="89"/>
                    </a:moveTo>
                    <a:lnTo>
                      <a:pt x="193" y="159"/>
                    </a:lnTo>
                    <a:lnTo>
                      <a:pt x="0" y="229"/>
                    </a:lnTo>
                    <a:lnTo>
                      <a:pt x="0" y="319"/>
                    </a:lnTo>
                    <a:lnTo>
                      <a:pt x="283" y="202"/>
                    </a:lnTo>
                    <a:lnTo>
                      <a:pt x="283" y="117"/>
                    </a:lnTo>
                    <a:lnTo>
                      <a:pt x="0" y="0"/>
                    </a:lnTo>
                    <a:lnTo>
                      <a:pt x="0" y="8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7" name="Freeform 8">
                <a:extLst>
                  <a:ext uri="{FF2B5EF4-FFF2-40B4-BE49-F238E27FC236}">
                    <a16:creationId xmlns:a16="http://schemas.microsoft.com/office/drawing/2014/main" id="{294835C9-5930-4B1D-B981-5AC310AA6029}"/>
                  </a:ext>
                </a:extLst>
              </p:cNvPr>
              <p:cNvSpPr>
                <a:spLocks noEditPoints="1"/>
              </p:cNvSpPr>
              <p:nvPr userDrawn="1"/>
            </p:nvSpPr>
            <p:spPr bwMode="auto">
              <a:xfrm>
                <a:off x="11418887" y="3968751"/>
                <a:ext cx="463550" cy="471488"/>
              </a:xfrm>
              <a:custGeom>
                <a:avLst/>
                <a:gdLst>
                  <a:gd name="T0" fmla="*/ 167 w 243"/>
                  <a:gd name="T1" fmla="*/ 46 h 246"/>
                  <a:gd name="T2" fmla="*/ 192 w 243"/>
                  <a:gd name="T3" fmla="*/ 113 h 246"/>
                  <a:gd name="T4" fmla="*/ 173 w 243"/>
                  <a:gd name="T5" fmla="*/ 165 h 246"/>
                  <a:gd name="T6" fmla="*/ 104 w 243"/>
                  <a:gd name="T7" fmla="*/ 0 h 246"/>
                  <a:gd name="T8" fmla="*/ 39 w 243"/>
                  <a:gd name="T9" fmla="*/ 28 h 246"/>
                  <a:gd name="T10" fmla="*/ 0 w 243"/>
                  <a:gd name="T11" fmla="*/ 121 h 246"/>
                  <a:gd name="T12" fmla="*/ 122 w 243"/>
                  <a:gd name="T13" fmla="*/ 246 h 246"/>
                  <a:gd name="T14" fmla="*/ 243 w 243"/>
                  <a:gd name="T15" fmla="*/ 114 h 246"/>
                  <a:gd name="T16" fmla="*/ 198 w 243"/>
                  <a:gd name="T17" fmla="*/ 5 h 246"/>
                  <a:gd name="T18" fmla="*/ 167 w 243"/>
                  <a:gd name="T19" fmla="*/ 46 h 246"/>
                  <a:gd name="T20" fmla="*/ 75 w 243"/>
                  <a:gd name="T21" fmla="*/ 170 h 246"/>
                  <a:gd name="T22" fmla="*/ 51 w 243"/>
                  <a:gd name="T23" fmla="*/ 120 h 246"/>
                  <a:gd name="T24" fmla="*/ 84 w 243"/>
                  <a:gd name="T25" fmla="*/ 70 h 246"/>
                  <a:gd name="T26" fmla="*/ 131 w 243"/>
                  <a:gd name="T27" fmla="*/ 183 h 246"/>
                  <a:gd name="T28" fmla="*/ 75 w 243"/>
                  <a:gd name="T29" fmla="*/ 17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3" h="246">
                    <a:moveTo>
                      <a:pt x="167" y="46"/>
                    </a:moveTo>
                    <a:cubicBezTo>
                      <a:pt x="187" y="73"/>
                      <a:pt x="192" y="88"/>
                      <a:pt x="192" y="113"/>
                    </a:cubicBezTo>
                    <a:cubicBezTo>
                      <a:pt x="192" y="135"/>
                      <a:pt x="185" y="153"/>
                      <a:pt x="173" y="165"/>
                    </a:cubicBezTo>
                    <a:cubicBezTo>
                      <a:pt x="104" y="0"/>
                      <a:pt x="104" y="0"/>
                      <a:pt x="104" y="0"/>
                    </a:cubicBezTo>
                    <a:cubicBezTo>
                      <a:pt x="79" y="4"/>
                      <a:pt x="56" y="14"/>
                      <a:pt x="39" y="28"/>
                    </a:cubicBezTo>
                    <a:cubicBezTo>
                      <a:pt x="13" y="50"/>
                      <a:pt x="0" y="82"/>
                      <a:pt x="0" y="121"/>
                    </a:cubicBezTo>
                    <a:cubicBezTo>
                      <a:pt x="0" y="192"/>
                      <a:pt x="52" y="246"/>
                      <a:pt x="122" y="246"/>
                    </a:cubicBezTo>
                    <a:cubicBezTo>
                      <a:pt x="193" y="246"/>
                      <a:pt x="243" y="192"/>
                      <a:pt x="243" y="114"/>
                    </a:cubicBezTo>
                    <a:cubicBezTo>
                      <a:pt x="243" y="70"/>
                      <a:pt x="222" y="26"/>
                      <a:pt x="198" y="5"/>
                    </a:cubicBezTo>
                    <a:lnTo>
                      <a:pt x="167" y="46"/>
                    </a:lnTo>
                    <a:close/>
                    <a:moveTo>
                      <a:pt x="75" y="170"/>
                    </a:moveTo>
                    <a:cubicBezTo>
                      <a:pt x="60" y="159"/>
                      <a:pt x="51" y="141"/>
                      <a:pt x="51" y="120"/>
                    </a:cubicBezTo>
                    <a:cubicBezTo>
                      <a:pt x="51" y="97"/>
                      <a:pt x="65" y="79"/>
                      <a:pt x="84" y="70"/>
                    </a:cubicBezTo>
                    <a:cubicBezTo>
                      <a:pt x="131" y="183"/>
                      <a:pt x="131" y="183"/>
                      <a:pt x="131" y="183"/>
                    </a:cubicBezTo>
                    <a:cubicBezTo>
                      <a:pt x="107" y="186"/>
                      <a:pt x="88" y="180"/>
                      <a:pt x="75"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8" name="Freeform 9">
                <a:extLst>
                  <a:ext uri="{FF2B5EF4-FFF2-40B4-BE49-F238E27FC236}">
                    <a16:creationId xmlns:a16="http://schemas.microsoft.com/office/drawing/2014/main" id="{C78C8B28-A3DD-4458-8A59-EE68D1ACDDF2}"/>
                  </a:ext>
                </a:extLst>
              </p:cNvPr>
              <p:cNvSpPr>
                <a:spLocks/>
              </p:cNvSpPr>
              <p:nvPr userDrawn="1"/>
            </p:nvSpPr>
            <p:spPr bwMode="auto">
              <a:xfrm>
                <a:off x="11291887" y="4451351"/>
                <a:ext cx="582612" cy="404813"/>
              </a:xfrm>
              <a:custGeom>
                <a:avLst/>
                <a:gdLst>
                  <a:gd name="T0" fmla="*/ 296 w 367"/>
                  <a:gd name="T1" fmla="*/ 0 h 255"/>
                  <a:gd name="T2" fmla="*/ 296 w 367"/>
                  <a:gd name="T3" fmla="*/ 177 h 255"/>
                  <a:gd name="T4" fmla="*/ 0 w 367"/>
                  <a:gd name="T5" fmla="*/ 177 h 255"/>
                  <a:gd name="T6" fmla="*/ 0 w 367"/>
                  <a:gd name="T7" fmla="*/ 255 h 255"/>
                  <a:gd name="T8" fmla="*/ 367 w 367"/>
                  <a:gd name="T9" fmla="*/ 255 h 255"/>
                  <a:gd name="T10" fmla="*/ 367 w 367"/>
                  <a:gd name="T11" fmla="*/ 0 h 255"/>
                  <a:gd name="T12" fmla="*/ 296 w 367"/>
                  <a:gd name="T13" fmla="*/ 0 h 255"/>
                </a:gdLst>
                <a:ahLst/>
                <a:cxnLst>
                  <a:cxn ang="0">
                    <a:pos x="T0" y="T1"/>
                  </a:cxn>
                  <a:cxn ang="0">
                    <a:pos x="T2" y="T3"/>
                  </a:cxn>
                  <a:cxn ang="0">
                    <a:pos x="T4" y="T5"/>
                  </a:cxn>
                  <a:cxn ang="0">
                    <a:pos x="T6" y="T7"/>
                  </a:cxn>
                  <a:cxn ang="0">
                    <a:pos x="T8" y="T9"/>
                  </a:cxn>
                  <a:cxn ang="0">
                    <a:pos x="T10" y="T11"/>
                  </a:cxn>
                  <a:cxn ang="0">
                    <a:pos x="T12" y="T13"/>
                  </a:cxn>
                </a:cxnLst>
                <a:rect l="0" t="0" r="r" b="b"/>
                <a:pathLst>
                  <a:path w="367" h="255">
                    <a:moveTo>
                      <a:pt x="296" y="0"/>
                    </a:moveTo>
                    <a:lnTo>
                      <a:pt x="296" y="177"/>
                    </a:lnTo>
                    <a:lnTo>
                      <a:pt x="0" y="177"/>
                    </a:lnTo>
                    <a:lnTo>
                      <a:pt x="0" y="255"/>
                    </a:lnTo>
                    <a:lnTo>
                      <a:pt x="367" y="255"/>
                    </a:lnTo>
                    <a:lnTo>
                      <a:pt x="367" y="0"/>
                    </a:lnTo>
                    <a:lnTo>
                      <a:pt x="2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9" name="Freeform 10">
                <a:extLst>
                  <a:ext uri="{FF2B5EF4-FFF2-40B4-BE49-F238E27FC236}">
                    <a16:creationId xmlns:a16="http://schemas.microsoft.com/office/drawing/2014/main" id="{C8D26C51-B040-4FC2-B37F-5972C012FEE6}"/>
                  </a:ext>
                </a:extLst>
              </p:cNvPr>
              <p:cNvSpPr>
                <a:spLocks noEditPoints="1"/>
              </p:cNvSpPr>
              <p:nvPr userDrawn="1"/>
            </p:nvSpPr>
            <p:spPr bwMode="auto">
              <a:xfrm>
                <a:off x="11418887" y="1987551"/>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20" name="Freeform 11">
                <a:extLst>
                  <a:ext uri="{FF2B5EF4-FFF2-40B4-BE49-F238E27FC236}">
                    <a16:creationId xmlns:a16="http://schemas.microsoft.com/office/drawing/2014/main" id="{37678D62-51AF-470A-BDE3-8ED3FCCDE0FF}"/>
                  </a:ext>
                </a:extLst>
              </p:cNvPr>
              <p:cNvSpPr>
                <a:spLocks noEditPoints="1"/>
              </p:cNvSpPr>
              <p:nvPr userDrawn="1"/>
            </p:nvSpPr>
            <p:spPr bwMode="auto">
              <a:xfrm>
                <a:off x="11418887" y="2938464"/>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grpSp>
    </p:spTree>
    <p:extLst>
      <p:ext uri="{BB962C8B-B14F-4D97-AF65-F5344CB8AC3E}">
        <p14:creationId xmlns:p14="http://schemas.microsoft.com/office/powerpoint/2010/main" val="2919301475"/>
      </p:ext>
    </p:extLst>
  </p:cSld>
  <p:clrMapOvr>
    <a:masterClrMapping/>
  </p:clrMapOvr>
  <p:transition spd="med"/>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preserve="1" userDrawn="1">
  <p:cSld name="Closing Slide_Black">
    <p:bg>
      <p:bgPr>
        <a:solidFill>
          <a:schemeClr val="tx1"/>
        </a:solidFill>
        <a:effectLst/>
      </p:bgPr>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80CD9248-0A2C-4050-B347-2980229F11A8}"/>
              </a:ext>
            </a:extLst>
          </p:cNvPr>
          <p:cNvGrpSpPr/>
          <p:nvPr userDrawn="1"/>
        </p:nvGrpSpPr>
        <p:grpSpPr>
          <a:xfrm rot="16200000">
            <a:off x="373582" y="2655459"/>
            <a:ext cx="6856214" cy="1545292"/>
            <a:chOff x="541049" y="2649538"/>
            <a:chExt cx="9285724" cy="2092325"/>
          </a:xfrm>
          <a:solidFill>
            <a:schemeClr val="bg1"/>
          </a:solidFill>
        </p:grpSpPr>
        <p:sp>
          <p:nvSpPr>
            <p:cNvPr id="54" name="Freeform 5">
              <a:extLst>
                <a:ext uri="{FF2B5EF4-FFF2-40B4-BE49-F238E27FC236}">
                  <a16:creationId xmlns:a16="http://schemas.microsoft.com/office/drawing/2014/main" id="{99FEE917-CD84-4C97-B4F9-73DFE2A473DA}"/>
                </a:ext>
              </a:extLst>
            </p:cNvPr>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5" name="Freeform 6">
              <a:extLst>
                <a:ext uri="{FF2B5EF4-FFF2-40B4-BE49-F238E27FC236}">
                  <a16:creationId xmlns:a16="http://schemas.microsoft.com/office/drawing/2014/main" id="{78C9364A-BFFF-4F94-9D90-8A71731D6352}"/>
                </a:ext>
              </a:extLst>
            </p:cNvPr>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6" name="Freeform 7">
              <a:extLst>
                <a:ext uri="{FF2B5EF4-FFF2-40B4-BE49-F238E27FC236}">
                  <a16:creationId xmlns:a16="http://schemas.microsoft.com/office/drawing/2014/main" id="{E572E624-9DE1-4F42-A7F5-36B7B8A2F63B}"/>
                </a:ext>
              </a:extLst>
            </p:cNvPr>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7" name="Freeform 8">
              <a:extLst>
                <a:ext uri="{FF2B5EF4-FFF2-40B4-BE49-F238E27FC236}">
                  <a16:creationId xmlns:a16="http://schemas.microsoft.com/office/drawing/2014/main" id="{DD8A238C-0295-48D1-8872-FE51165DDEE4}"/>
                </a:ext>
              </a:extLst>
            </p:cNvPr>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8" name="Freeform 9">
              <a:extLst>
                <a:ext uri="{FF2B5EF4-FFF2-40B4-BE49-F238E27FC236}">
                  <a16:creationId xmlns:a16="http://schemas.microsoft.com/office/drawing/2014/main" id="{6849E95A-0C53-4220-85E0-6DFCEA7D1C44}"/>
                </a:ext>
              </a:extLst>
            </p:cNvPr>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9" name="Freeform 10">
              <a:extLst>
                <a:ext uri="{FF2B5EF4-FFF2-40B4-BE49-F238E27FC236}">
                  <a16:creationId xmlns:a16="http://schemas.microsoft.com/office/drawing/2014/main" id="{056EAF60-5381-416A-895C-D1FAED9FDFFF}"/>
                </a:ext>
              </a:extLst>
            </p:cNvPr>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60" name="Oval 11">
              <a:extLst>
                <a:ext uri="{FF2B5EF4-FFF2-40B4-BE49-F238E27FC236}">
                  <a16:creationId xmlns:a16="http://schemas.microsoft.com/office/drawing/2014/main" id="{0154DA0C-208D-4580-AFAD-81B221FB1EE9}"/>
                </a:ext>
              </a:extLst>
            </p:cNvPr>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grpSp>
        <p:nvGrpSpPr>
          <p:cNvPr id="105" name="Group 104">
            <a:extLst>
              <a:ext uri="{FF2B5EF4-FFF2-40B4-BE49-F238E27FC236}">
                <a16:creationId xmlns:a16="http://schemas.microsoft.com/office/drawing/2014/main" id="{1F1F6355-08A9-4C09-B618-1C445A02E219}"/>
              </a:ext>
            </a:extLst>
          </p:cNvPr>
          <p:cNvGrpSpPr/>
          <p:nvPr userDrawn="1"/>
        </p:nvGrpSpPr>
        <p:grpSpPr>
          <a:xfrm>
            <a:off x="7047163" y="1676401"/>
            <a:ext cx="5146427" cy="3505200"/>
            <a:chOff x="7045325" y="1676401"/>
            <a:chExt cx="5145087" cy="3505200"/>
          </a:xfrm>
        </p:grpSpPr>
        <p:sp>
          <p:nvSpPr>
            <p:cNvPr id="106" name="Freeform 5">
              <a:extLst>
                <a:ext uri="{FF2B5EF4-FFF2-40B4-BE49-F238E27FC236}">
                  <a16:creationId xmlns:a16="http://schemas.microsoft.com/office/drawing/2014/main" id="{B42EB7FA-FF17-4B14-9DA1-B0E656D461A7}"/>
                </a:ext>
              </a:extLst>
            </p:cNvPr>
            <p:cNvSpPr>
              <a:spLocks noEditPoints="1"/>
            </p:cNvSpPr>
            <p:nvPr userDrawn="1"/>
          </p:nvSpPr>
          <p:spPr bwMode="auto">
            <a:xfrm>
              <a:off x="7045325" y="1676401"/>
              <a:ext cx="5145087" cy="3505200"/>
            </a:xfrm>
            <a:custGeom>
              <a:avLst/>
              <a:gdLst>
                <a:gd name="T0" fmla="*/ 717 w 2697"/>
                <a:gd name="T1" fmla="*/ 241 h 1832"/>
                <a:gd name="T2" fmla="*/ 698 w 2697"/>
                <a:gd name="T3" fmla="*/ 358 h 1832"/>
                <a:gd name="T4" fmla="*/ 755 w 2697"/>
                <a:gd name="T5" fmla="*/ 353 h 1832"/>
                <a:gd name="T6" fmla="*/ 952 w 2697"/>
                <a:gd name="T7" fmla="*/ 431 h 1832"/>
                <a:gd name="T8" fmla="*/ 1077 w 2697"/>
                <a:gd name="T9" fmla="*/ 299 h 1832"/>
                <a:gd name="T10" fmla="*/ 769 w 2697"/>
                <a:gd name="T11" fmla="*/ 229 h 1832"/>
                <a:gd name="T12" fmla="*/ 1219 w 2697"/>
                <a:gd name="T13" fmla="*/ 431 h 1832"/>
                <a:gd name="T14" fmla="*/ 1120 w 2697"/>
                <a:gd name="T15" fmla="*/ 287 h 1832"/>
                <a:gd name="T16" fmla="*/ 1089 w 2697"/>
                <a:gd name="T17" fmla="*/ 373 h 1832"/>
                <a:gd name="T18" fmla="*/ 1175 w 2697"/>
                <a:gd name="T19" fmla="*/ 395 h 1832"/>
                <a:gd name="T20" fmla="*/ 1412 w 2697"/>
                <a:gd name="T21" fmla="*/ 225 h 1832"/>
                <a:gd name="T22" fmla="*/ 1348 w 2697"/>
                <a:gd name="T23" fmla="*/ 356 h 1832"/>
                <a:gd name="T24" fmla="*/ 1505 w 2697"/>
                <a:gd name="T25" fmla="*/ 364 h 1832"/>
                <a:gd name="T26" fmla="*/ 1448 w 2697"/>
                <a:gd name="T27" fmla="*/ 177 h 1832"/>
                <a:gd name="T28" fmla="*/ 1666 w 2697"/>
                <a:gd name="T29" fmla="*/ 435 h 1832"/>
                <a:gd name="T30" fmla="*/ 1758 w 2697"/>
                <a:gd name="T31" fmla="*/ 335 h 1832"/>
                <a:gd name="T32" fmla="*/ 1703 w 2697"/>
                <a:gd name="T33" fmla="*/ 314 h 1832"/>
                <a:gd name="T34" fmla="*/ 1892 w 2697"/>
                <a:gd name="T35" fmla="*/ 225 h 1832"/>
                <a:gd name="T36" fmla="*/ 1828 w 2697"/>
                <a:gd name="T37" fmla="*/ 356 h 1832"/>
                <a:gd name="T38" fmla="*/ 24 w 2697"/>
                <a:gd name="T39" fmla="*/ 634 h 1832"/>
                <a:gd name="T40" fmla="*/ 81 w 2697"/>
                <a:gd name="T41" fmla="*/ 720 h 1832"/>
                <a:gd name="T42" fmla="*/ 237 w 2697"/>
                <a:gd name="T43" fmla="*/ 581 h 1832"/>
                <a:gd name="T44" fmla="*/ 243 w 2697"/>
                <a:gd name="T45" fmla="*/ 745 h 1832"/>
                <a:gd name="T46" fmla="*/ 237 w 2697"/>
                <a:gd name="T47" fmla="*/ 627 h 1832"/>
                <a:gd name="T48" fmla="*/ 450 w 2697"/>
                <a:gd name="T49" fmla="*/ 631 h 1832"/>
                <a:gd name="T50" fmla="*/ 449 w 2697"/>
                <a:gd name="T51" fmla="*/ 791 h 1832"/>
                <a:gd name="T52" fmla="*/ 598 w 2697"/>
                <a:gd name="T53" fmla="*/ 512 h 1832"/>
                <a:gd name="T54" fmla="*/ 669 w 2697"/>
                <a:gd name="T55" fmla="*/ 674 h 1832"/>
                <a:gd name="T56" fmla="*/ 798 w 2697"/>
                <a:gd name="T57" fmla="*/ 614 h 1832"/>
                <a:gd name="T58" fmla="*/ 833 w 2697"/>
                <a:gd name="T59" fmla="*/ 633 h 1832"/>
                <a:gd name="T60" fmla="*/ 1155 w 2697"/>
                <a:gd name="T61" fmla="*/ 686 h 1832"/>
                <a:gd name="T62" fmla="*/ 1155 w 2697"/>
                <a:gd name="T63" fmla="*/ 686 h 1832"/>
                <a:gd name="T64" fmla="*/ 1047 w 2697"/>
                <a:gd name="T65" fmla="*/ 742 h 1832"/>
                <a:gd name="T66" fmla="*/ 1167 w 2697"/>
                <a:gd name="T67" fmla="*/ 787 h 1832"/>
                <a:gd name="T68" fmla="*/ 1453 w 2697"/>
                <a:gd name="T69" fmla="*/ 686 h 1832"/>
                <a:gd name="T70" fmla="*/ 1344 w 2697"/>
                <a:gd name="T71" fmla="*/ 631 h 1832"/>
                <a:gd name="T72" fmla="*/ 1562 w 2697"/>
                <a:gd name="T73" fmla="*/ 848 h 1832"/>
                <a:gd name="T74" fmla="*/ 1552 w 2697"/>
                <a:gd name="T75" fmla="*/ 581 h 1832"/>
                <a:gd name="T76" fmla="*/ 1560 w 2697"/>
                <a:gd name="T77" fmla="*/ 802 h 1832"/>
                <a:gd name="T78" fmla="*/ 1618 w 2697"/>
                <a:gd name="T79" fmla="*/ 676 h 1832"/>
                <a:gd name="T80" fmla="*/ 1743 w 2697"/>
                <a:gd name="T81" fmla="*/ 801 h 1832"/>
                <a:gd name="T82" fmla="*/ 1834 w 2697"/>
                <a:gd name="T83" fmla="*/ 585 h 1832"/>
                <a:gd name="T84" fmla="*/ 1101 w 2697"/>
                <a:gd name="T85" fmla="*/ 940 h 1832"/>
                <a:gd name="T86" fmla="*/ 974 w 2697"/>
                <a:gd name="T87" fmla="*/ 965 h 1832"/>
                <a:gd name="T88" fmla="*/ 1101 w 2697"/>
                <a:gd name="T89" fmla="*/ 1012 h 1832"/>
                <a:gd name="T90" fmla="*/ 1318 w 2697"/>
                <a:gd name="T91" fmla="*/ 1064 h 1832"/>
                <a:gd name="T92" fmla="*/ 1156 w 2697"/>
                <a:gd name="T93" fmla="*/ 1063 h 1832"/>
                <a:gd name="T94" fmla="*/ 1332 w 2697"/>
                <a:gd name="T95" fmla="*/ 963 h 1832"/>
                <a:gd name="T96" fmla="*/ 1453 w 2697"/>
                <a:gd name="T97" fmla="*/ 959 h 1832"/>
                <a:gd name="T98" fmla="*/ 1657 w 2697"/>
                <a:gd name="T99" fmla="*/ 1046 h 1832"/>
                <a:gd name="T100" fmla="*/ 1657 w 2697"/>
                <a:gd name="T101" fmla="*/ 1143 h 1832"/>
                <a:gd name="T102" fmla="*/ 1658 w 2697"/>
                <a:gd name="T103" fmla="*/ 1094 h 1832"/>
                <a:gd name="T104" fmla="*/ 1658 w 2697"/>
                <a:gd name="T105" fmla="*/ 1094 h 1832"/>
                <a:gd name="T106" fmla="*/ 1817 w 2697"/>
                <a:gd name="T107" fmla="*/ 1165 h 1832"/>
                <a:gd name="T108" fmla="*/ 2086 w 2697"/>
                <a:gd name="T109" fmla="*/ 1832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7" h="1832">
                  <a:moveTo>
                    <a:pt x="755" y="352"/>
                  </a:moveTo>
                  <a:cubicBezTo>
                    <a:pt x="755" y="306"/>
                    <a:pt x="725" y="287"/>
                    <a:pt x="672" y="273"/>
                  </a:cubicBezTo>
                  <a:cubicBezTo>
                    <a:pt x="626" y="261"/>
                    <a:pt x="615" y="256"/>
                    <a:pt x="615" y="238"/>
                  </a:cubicBezTo>
                  <a:cubicBezTo>
                    <a:pt x="615" y="238"/>
                    <a:pt x="615" y="238"/>
                    <a:pt x="615" y="238"/>
                  </a:cubicBezTo>
                  <a:cubicBezTo>
                    <a:pt x="615" y="225"/>
                    <a:pt x="626" y="215"/>
                    <a:pt x="649" y="215"/>
                  </a:cubicBezTo>
                  <a:cubicBezTo>
                    <a:pt x="671" y="215"/>
                    <a:pt x="694" y="224"/>
                    <a:pt x="717" y="241"/>
                  </a:cubicBezTo>
                  <a:cubicBezTo>
                    <a:pt x="747" y="197"/>
                    <a:pt x="747" y="197"/>
                    <a:pt x="747" y="197"/>
                  </a:cubicBezTo>
                  <a:cubicBezTo>
                    <a:pt x="720" y="175"/>
                    <a:pt x="688" y="163"/>
                    <a:pt x="649" y="163"/>
                  </a:cubicBezTo>
                  <a:cubicBezTo>
                    <a:pt x="595" y="163"/>
                    <a:pt x="557" y="195"/>
                    <a:pt x="557" y="243"/>
                  </a:cubicBezTo>
                  <a:cubicBezTo>
                    <a:pt x="557" y="244"/>
                    <a:pt x="557" y="244"/>
                    <a:pt x="557" y="244"/>
                  </a:cubicBezTo>
                  <a:cubicBezTo>
                    <a:pt x="557" y="296"/>
                    <a:pt x="591" y="311"/>
                    <a:pt x="644" y="324"/>
                  </a:cubicBezTo>
                  <a:cubicBezTo>
                    <a:pt x="688" y="335"/>
                    <a:pt x="698" y="343"/>
                    <a:pt x="698" y="358"/>
                  </a:cubicBezTo>
                  <a:cubicBezTo>
                    <a:pt x="698" y="358"/>
                    <a:pt x="698" y="358"/>
                    <a:pt x="698" y="358"/>
                  </a:cubicBezTo>
                  <a:cubicBezTo>
                    <a:pt x="698" y="374"/>
                    <a:pt x="683" y="383"/>
                    <a:pt x="659" y="383"/>
                  </a:cubicBezTo>
                  <a:cubicBezTo>
                    <a:pt x="629" y="383"/>
                    <a:pt x="605" y="371"/>
                    <a:pt x="581" y="351"/>
                  </a:cubicBezTo>
                  <a:cubicBezTo>
                    <a:pt x="547" y="392"/>
                    <a:pt x="547" y="392"/>
                    <a:pt x="547" y="392"/>
                  </a:cubicBezTo>
                  <a:cubicBezTo>
                    <a:pt x="578" y="421"/>
                    <a:pt x="618" y="435"/>
                    <a:pt x="658" y="435"/>
                  </a:cubicBezTo>
                  <a:cubicBezTo>
                    <a:pt x="715" y="435"/>
                    <a:pt x="755" y="405"/>
                    <a:pt x="755" y="353"/>
                  </a:cubicBezTo>
                  <a:lnTo>
                    <a:pt x="755" y="352"/>
                  </a:lnTo>
                  <a:close/>
                  <a:moveTo>
                    <a:pt x="826" y="318"/>
                  </a:moveTo>
                  <a:cubicBezTo>
                    <a:pt x="826" y="291"/>
                    <a:pt x="839" y="277"/>
                    <a:pt x="861" y="277"/>
                  </a:cubicBezTo>
                  <a:cubicBezTo>
                    <a:pt x="882" y="277"/>
                    <a:pt x="894" y="291"/>
                    <a:pt x="894" y="318"/>
                  </a:cubicBezTo>
                  <a:cubicBezTo>
                    <a:pt x="894" y="431"/>
                    <a:pt x="894" y="431"/>
                    <a:pt x="894" y="431"/>
                  </a:cubicBezTo>
                  <a:cubicBezTo>
                    <a:pt x="952" y="431"/>
                    <a:pt x="952" y="431"/>
                    <a:pt x="952" y="431"/>
                  </a:cubicBezTo>
                  <a:cubicBezTo>
                    <a:pt x="952" y="318"/>
                    <a:pt x="952" y="318"/>
                    <a:pt x="952" y="318"/>
                  </a:cubicBezTo>
                  <a:cubicBezTo>
                    <a:pt x="952" y="291"/>
                    <a:pt x="965" y="277"/>
                    <a:pt x="986" y="277"/>
                  </a:cubicBezTo>
                  <a:cubicBezTo>
                    <a:pt x="1008" y="277"/>
                    <a:pt x="1020" y="291"/>
                    <a:pt x="1020" y="318"/>
                  </a:cubicBezTo>
                  <a:cubicBezTo>
                    <a:pt x="1020" y="431"/>
                    <a:pt x="1020" y="431"/>
                    <a:pt x="1020" y="431"/>
                  </a:cubicBezTo>
                  <a:cubicBezTo>
                    <a:pt x="1077" y="431"/>
                    <a:pt x="1077" y="431"/>
                    <a:pt x="1077" y="431"/>
                  </a:cubicBezTo>
                  <a:cubicBezTo>
                    <a:pt x="1077" y="299"/>
                    <a:pt x="1077" y="299"/>
                    <a:pt x="1077" y="299"/>
                  </a:cubicBezTo>
                  <a:cubicBezTo>
                    <a:pt x="1077" y="251"/>
                    <a:pt x="1051" y="225"/>
                    <a:pt x="1009" y="225"/>
                  </a:cubicBezTo>
                  <a:cubicBezTo>
                    <a:pt x="981" y="225"/>
                    <a:pt x="960" y="236"/>
                    <a:pt x="943" y="257"/>
                  </a:cubicBezTo>
                  <a:cubicBezTo>
                    <a:pt x="932" y="237"/>
                    <a:pt x="912" y="225"/>
                    <a:pt x="886" y="225"/>
                  </a:cubicBezTo>
                  <a:cubicBezTo>
                    <a:pt x="857" y="225"/>
                    <a:pt x="839" y="241"/>
                    <a:pt x="826" y="258"/>
                  </a:cubicBezTo>
                  <a:cubicBezTo>
                    <a:pt x="826" y="229"/>
                    <a:pt x="826" y="229"/>
                    <a:pt x="826" y="229"/>
                  </a:cubicBezTo>
                  <a:cubicBezTo>
                    <a:pt x="769" y="229"/>
                    <a:pt x="769" y="229"/>
                    <a:pt x="769" y="229"/>
                  </a:cubicBezTo>
                  <a:cubicBezTo>
                    <a:pt x="769" y="431"/>
                    <a:pt x="769" y="431"/>
                    <a:pt x="769" y="431"/>
                  </a:cubicBezTo>
                  <a:cubicBezTo>
                    <a:pt x="826" y="431"/>
                    <a:pt x="826" y="431"/>
                    <a:pt x="826" y="431"/>
                  </a:cubicBezTo>
                  <a:lnTo>
                    <a:pt x="826" y="318"/>
                  </a:lnTo>
                  <a:close/>
                  <a:moveTo>
                    <a:pt x="1158" y="435"/>
                  </a:moveTo>
                  <a:cubicBezTo>
                    <a:pt x="1186" y="435"/>
                    <a:pt x="1205" y="424"/>
                    <a:pt x="1219" y="409"/>
                  </a:cubicBezTo>
                  <a:cubicBezTo>
                    <a:pt x="1219" y="431"/>
                    <a:pt x="1219" y="431"/>
                    <a:pt x="1219" y="431"/>
                  </a:cubicBezTo>
                  <a:cubicBezTo>
                    <a:pt x="1274" y="431"/>
                    <a:pt x="1274" y="431"/>
                    <a:pt x="1274" y="431"/>
                  </a:cubicBezTo>
                  <a:cubicBezTo>
                    <a:pt x="1274" y="314"/>
                    <a:pt x="1274" y="314"/>
                    <a:pt x="1274" y="314"/>
                  </a:cubicBezTo>
                  <a:cubicBezTo>
                    <a:pt x="1274" y="287"/>
                    <a:pt x="1268" y="264"/>
                    <a:pt x="1253" y="249"/>
                  </a:cubicBezTo>
                  <a:cubicBezTo>
                    <a:pt x="1238" y="235"/>
                    <a:pt x="1216" y="227"/>
                    <a:pt x="1184" y="227"/>
                  </a:cubicBezTo>
                  <a:cubicBezTo>
                    <a:pt x="1150" y="227"/>
                    <a:pt x="1128" y="233"/>
                    <a:pt x="1106" y="243"/>
                  </a:cubicBezTo>
                  <a:cubicBezTo>
                    <a:pt x="1120" y="287"/>
                    <a:pt x="1120" y="287"/>
                    <a:pt x="1120" y="287"/>
                  </a:cubicBezTo>
                  <a:cubicBezTo>
                    <a:pt x="1139" y="280"/>
                    <a:pt x="1154" y="276"/>
                    <a:pt x="1176" y="276"/>
                  </a:cubicBezTo>
                  <a:cubicBezTo>
                    <a:pt x="1205" y="276"/>
                    <a:pt x="1219" y="289"/>
                    <a:pt x="1219" y="313"/>
                  </a:cubicBezTo>
                  <a:cubicBezTo>
                    <a:pt x="1219" y="316"/>
                    <a:pt x="1219" y="316"/>
                    <a:pt x="1219" y="316"/>
                  </a:cubicBezTo>
                  <a:cubicBezTo>
                    <a:pt x="1205" y="311"/>
                    <a:pt x="1190" y="308"/>
                    <a:pt x="1170" y="308"/>
                  </a:cubicBezTo>
                  <a:cubicBezTo>
                    <a:pt x="1122" y="308"/>
                    <a:pt x="1089" y="328"/>
                    <a:pt x="1089" y="372"/>
                  </a:cubicBezTo>
                  <a:cubicBezTo>
                    <a:pt x="1089" y="373"/>
                    <a:pt x="1089" y="373"/>
                    <a:pt x="1089" y="373"/>
                  </a:cubicBezTo>
                  <a:cubicBezTo>
                    <a:pt x="1089" y="413"/>
                    <a:pt x="1120" y="435"/>
                    <a:pt x="1158" y="435"/>
                  </a:cubicBezTo>
                  <a:close/>
                  <a:moveTo>
                    <a:pt x="1144" y="370"/>
                  </a:moveTo>
                  <a:cubicBezTo>
                    <a:pt x="1144" y="352"/>
                    <a:pt x="1159" y="342"/>
                    <a:pt x="1184" y="342"/>
                  </a:cubicBezTo>
                  <a:cubicBezTo>
                    <a:pt x="1198" y="342"/>
                    <a:pt x="1210" y="345"/>
                    <a:pt x="1220" y="349"/>
                  </a:cubicBezTo>
                  <a:cubicBezTo>
                    <a:pt x="1220" y="360"/>
                    <a:pt x="1220" y="360"/>
                    <a:pt x="1220" y="360"/>
                  </a:cubicBezTo>
                  <a:cubicBezTo>
                    <a:pt x="1220" y="380"/>
                    <a:pt x="1202" y="395"/>
                    <a:pt x="1175" y="395"/>
                  </a:cubicBezTo>
                  <a:cubicBezTo>
                    <a:pt x="1157" y="395"/>
                    <a:pt x="1144" y="386"/>
                    <a:pt x="1144" y="371"/>
                  </a:cubicBezTo>
                  <a:lnTo>
                    <a:pt x="1144" y="370"/>
                  </a:lnTo>
                  <a:close/>
                  <a:moveTo>
                    <a:pt x="1348" y="356"/>
                  </a:moveTo>
                  <a:cubicBezTo>
                    <a:pt x="1348" y="308"/>
                    <a:pt x="1371" y="285"/>
                    <a:pt x="1409" y="285"/>
                  </a:cubicBezTo>
                  <a:cubicBezTo>
                    <a:pt x="1412" y="285"/>
                    <a:pt x="1412" y="285"/>
                    <a:pt x="1412" y="285"/>
                  </a:cubicBezTo>
                  <a:cubicBezTo>
                    <a:pt x="1412" y="225"/>
                    <a:pt x="1412" y="225"/>
                    <a:pt x="1412" y="225"/>
                  </a:cubicBezTo>
                  <a:cubicBezTo>
                    <a:pt x="1378" y="224"/>
                    <a:pt x="1360" y="242"/>
                    <a:pt x="1348" y="270"/>
                  </a:cubicBezTo>
                  <a:cubicBezTo>
                    <a:pt x="1348" y="229"/>
                    <a:pt x="1348" y="229"/>
                    <a:pt x="1348" y="229"/>
                  </a:cubicBezTo>
                  <a:cubicBezTo>
                    <a:pt x="1291" y="229"/>
                    <a:pt x="1291" y="229"/>
                    <a:pt x="1291" y="229"/>
                  </a:cubicBezTo>
                  <a:cubicBezTo>
                    <a:pt x="1291" y="431"/>
                    <a:pt x="1291" y="431"/>
                    <a:pt x="1291" y="431"/>
                  </a:cubicBezTo>
                  <a:cubicBezTo>
                    <a:pt x="1348" y="431"/>
                    <a:pt x="1348" y="431"/>
                    <a:pt x="1348" y="431"/>
                  </a:cubicBezTo>
                  <a:lnTo>
                    <a:pt x="1348" y="356"/>
                  </a:lnTo>
                  <a:close/>
                  <a:moveTo>
                    <a:pt x="1448" y="374"/>
                  </a:moveTo>
                  <a:cubicBezTo>
                    <a:pt x="1448" y="420"/>
                    <a:pt x="1472" y="434"/>
                    <a:pt x="1507" y="434"/>
                  </a:cubicBezTo>
                  <a:cubicBezTo>
                    <a:pt x="1526" y="434"/>
                    <a:pt x="1540" y="430"/>
                    <a:pt x="1552" y="422"/>
                  </a:cubicBezTo>
                  <a:cubicBezTo>
                    <a:pt x="1552" y="377"/>
                    <a:pt x="1552" y="377"/>
                    <a:pt x="1552" y="377"/>
                  </a:cubicBezTo>
                  <a:cubicBezTo>
                    <a:pt x="1543" y="381"/>
                    <a:pt x="1534" y="384"/>
                    <a:pt x="1524" y="384"/>
                  </a:cubicBezTo>
                  <a:cubicBezTo>
                    <a:pt x="1511" y="384"/>
                    <a:pt x="1505" y="377"/>
                    <a:pt x="1505" y="364"/>
                  </a:cubicBezTo>
                  <a:cubicBezTo>
                    <a:pt x="1505" y="278"/>
                    <a:pt x="1505" y="278"/>
                    <a:pt x="1505" y="278"/>
                  </a:cubicBezTo>
                  <a:cubicBezTo>
                    <a:pt x="1553" y="278"/>
                    <a:pt x="1553" y="278"/>
                    <a:pt x="1553" y="278"/>
                  </a:cubicBezTo>
                  <a:cubicBezTo>
                    <a:pt x="1553" y="229"/>
                    <a:pt x="1553" y="229"/>
                    <a:pt x="1553" y="229"/>
                  </a:cubicBezTo>
                  <a:cubicBezTo>
                    <a:pt x="1505" y="229"/>
                    <a:pt x="1505" y="229"/>
                    <a:pt x="1505" y="229"/>
                  </a:cubicBezTo>
                  <a:cubicBezTo>
                    <a:pt x="1505" y="177"/>
                    <a:pt x="1505" y="177"/>
                    <a:pt x="1505" y="177"/>
                  </a:cubicBezTo>
                  <a:cubicBezTo>
                    <a:pt x="1448" y="177"/>
                    <a:pt x="1448" y="177"/>
                    <a:pt x="1448" y="177"/>
                  </a:cubicBezTo>
                  <a:cubicBezTo>
                    <a:pt x="1448" y="229"/>
                    <a:pt x="1448" y="229"/>
                    <a:pt x="1448" y="229"/>
                  </a:cubicBezTo>
                  <a:cubicBezTo>
                    <a:pt x="1424" y="229"/>
                    <a:pt x="1424" y="229"/>
                    <a:pt x="1424" y="229"/>
                  </a:cubicBezTo>
                  <a:cubicBezTo>
                    <a:pt x="1424" y="278"/>
                    <a:pt x="1424" y="278"/>
                    <a:pt x="1424" y="278"/>
                  </a:cubicBezTo>
                  <a:cubicBezTo>
                    <a:pt x="1448" y="278"/>
                    <a:pt x="1448" y="278"/>
                    <a:pt x="1448" y="278"/>
                  </a:cubicBezTo>
                  <a:lnTo>
                    <a:pt x="1448" y="374"/>
                  </a:lnTo>
                  <a:close/>
                  <a:moveTo>
                    <a:pt x="1666" y="435"/>
                  </a:moveTo>
                  <a:cubicBezTo>
                    <a:pt x="1702" y="435"/>
                    <a:pt x="1729" y="421"/>
                    <a:pt x="1748" y="398"/>
                  </a:cubicBezTo>
                  <a:cubicBezTo>
                    <a:pt x="1715" y="369"/>
                    <a:pt x="1715" y="369"/>
                    <a:pt x="1715" y="369"/>
                  </a:cubicBezTo>
                  <a:cubicBezTo>
                    <a:pt x="1700" y="383"/>
                    <a:pt x="1686" y="389"/>
                    <a:pt x="1666" y="389"/>
                  </a:cubicBezTo>
                  <a:cubicBezTo>
                    <a:pt x="1641" y="389"/>
                    <a:pt x="1623" y="376"/>
                    <a:pt x="1617" y="350"/>
                  </a:cubicBezTo>
                  <a:cubicBezTo>
                    <a:pt x="1758" y="350"/>
                    <a:pt x="1758" y="350"/>
                    <a:pt x="1758" y="350"/>
                  </a:cubicBezTo>
                  <a:cubicBezTo>
                    <a:pt x="1758" y="345"/>
                    <a:pt x="1758" y="339"/>
                    <a:pt x="1758" y="335"/>
                  </a:cubicBezTo>
                  <a:cubicBezTo>
                    <a:pt x="1758" y="277"/>
                    <a:pt x="1727" y="225"/>
                    <a:pt x="1660" y="225"/>
                  </a:cubicBezTo>
                  <a:cubicBezTo>
                    <a:pt x="1601" y="225"/>
                    <a:pt x="1560" y="273"/>
                    <a:pt x="1560" y="330"/>
                  </a:cubicBezTo>
                  <a:cubicBezTo>
                    <a:pt x="1560" y="331"/>
                    <a:pt x="1560" y="331"/>
                    <a:pt x="1560" y="331"/>
                  </a:cubicBezTo>
                  <a:cubicBezTo>
                    <a:pt x="1560" y="393"/>
                    <a:pt x="1605" y="435"/>
                    <a:pt x="1666" y="435"/>
                  </a:cubicBezTo>
                  <a:close/>
                  <a:moveTo>
                    <a:pt x="1660" y="271"/>
                  </a:moveTo>
                  <a:cubicBezTo>
                    <a:pt x="1684" y="271"/>
                    <a:pt x="1699" y="288"/>
                    <a:pt x="1703" y="314"/>
                  </a:cubicBezTo>
                  <a:cubicBezTo>
                    <a:pt x="1616" y="314"/>
                    <a:pt x="1616" y="314"/>
                    <a:pt x="1616" y="314"/>
                  </a:cubicBezTo>
                  <a:cubicBezTo>
                    <a:pt x="1621" y="288"/>
                    <a:pt x="1636" y="271"/>
                    <a:pt x="1660" y="271"/>
                  </a:cubicBezTo>
                  <a:close/>
                  <a:moveTo>
                    <a:pt x="1828" y="356"/>
                  </a:moveTo>
                  <a:cubicBezTo>
                    <a:pt x="1828" y="308"/>
                    <a:pt x="1851" y="285"/>
                    <a:pt x="1889" y="285"/>
                  </a:cubicBezTo>
                  <a:cubicBezTo>
                    <a:pt x="1892" y="285"/>
                    <a:pt x="1892" y="285"/>
                    <a:pt x="1892" y="285"/>
                  </a:cubicBezTo>
                  <a:cubicBezTo>
                    <a:pt x="1892" y="225"/>
                    <a:pt x="1892" y="225"/>
                    <a:pt x="1892" y="225"/>
                  </a:cubicBezTo>
                  <a:cubicBezTo>
                    <a:pt x="1858" y="224"/>
                    <a:pt x="1839" y="242"/>
                    <a:pt x="1828" y="270"/>
                  </a:cubicBezTo>
                  <a:cubicBezTo>
                    <a:pt x="1828" y="229"/>
                    <a:pt x="1828" y="229"/>
                    <a:pt x="1828" y="229"/>
                  </a:cubicBezTo>
                  <a:cubicBezTo>
                    <a:pt x="1770" y="229"/>
                    <a:pt x="1770" y="229"/>
                    <a:pt x="1770" y="229"/>
                  </a:cubicBezTo>
                  <a:cubicBezTo>
                    <a:pt x="1770" y="431"/>
                    <a:pt x="1770" y="431"/>
                    <a:pt x="1770" y="431"/>
                  </a:cubicBezTo>
                  <a:cubicBezTo>
                    <a:pt x="1828" y="431"/>
                    <a:pt x="1828" y="431"/>
                    <a:pt x="1828" y="431"/>
                  </a:cubicBezTo>
                  <a:lnTo>
                    <a:pt x="1828" y="356"/>
                  </a:lnTo>
                  <a:close/>
                  <a:moveTo>
                    <a:pt x="81" y="533"/>
                  </a:moveTo>
                  <a:cubicBezTo>
                    <a:pt x="24" y="533"/>
                    <a:pt x="24" y="533"/>
                    <a:pt x="24" y="533"/>
                  </a:cubicBezTo>
                  <a:cubicBezTo>
                    <a:pt x="24" y="585"/>
                    <a:pt x="24" y="585"/>
                    <a:pt x="24" y="585"/>
                  </a:cubicBezTo>
                  <a:cubicBezTo>
                    <a:pt x="0" y="585"/>
                    <a:pt x="0" y="585"/>
                    <a:pt x="0" y="585"/>
                  </a:cubicBezTo>
                  <a:cubicBezTo>
                    <a:pt x="0" y="634"/>
                    <a:pt x="0" y="634"/>
                    <a:pt x="0" y="634"/>
                  </a:cubicBezTo>
                  <a:cubicBezTo>
                    <a:pt x="24" y="634"/>
                    <a:pt x="24" y="634"/>
                    <a:pt x="24" y="634"/>
                  </a:cubicBezTo>
                  <a:cubicBezTo>
                    <a:pt x="24" y="730"/>
                    <a:pt x="24" y="730"/>
                    <a:pt x="24" y="730"/>
                  </a:cubicBezTo>
                  <a:cubicBezTo>
                    <a:pt x="24" y="776"/>
                    <a:pt x="48" y="790"/>
                    <a:pt x="83" y="790"/>
                  </a:cubicBezTo>
                  <a:cubicBezTo>
                    <a:pt x="102" y="790"/>
                    <a:pt x="116" y="786"/>
                    <a:pt x="128" y="779"/>
                  </a:cubicBezTo>
                  <a:cubicBezTo>
                    <a:pt x="128" y="733"/>
                    <a:pt x="128" y="733"/>
                    <a:pt x="128" y="733"/>
                  </a:cubicBezTo>
                  <a:cubicBezTo>
                    <a:pt x="120" y="737"/>
                    <a:pt x="110" y="740"/>
                    <a:pt x="100" y="740"/>
                  </a:cubicBezTo>
                  <a:cubicBezTo>
                    <a:pt x="87" y="740"/>
                    <a:pt x="81" y="733"/>
                    <a:pt x="81" y="720"/>
                  </a:cubicBezTo>
                  <a:cubicBezTo>
                    <a:pt x="81" y="634"/>
                    <a:pt x="81" y="634"/>
                    <a:pt x="81" y="634"/>
                  </a:cubicBezTo>
                  <a:cubicBezTo>
                    <a:pt x="129" y="634"/>
                    <a:pt x="129" y="634"/>
                    <a:pt x="129" y="634"/>
                  </a:cubicBezTo>
                  <a:cubicBezTo>
                    <a:pt x="129" y="585"/>
                    <a:pt x="129" y="585"/>
                    <a:pt x="129" y="585"/>
                  </a:cubicBezTo>
                  <a:cubicBezTo>
                    <a:pt x="81" y="585"/>
                    <a:pt x="81" y="585"/>
                    <a:pt x="81" y="585"/>
                  </a:cubicBezTo>
                  <a:lnTo>
                    <a:pt x="81" y="533"/>
                  </a:lnTo>
                  <a:close/>
                  <a:moveTo>
                    <a:pt x="237" y="581"/>
                  </a:moveTo>
                  <a:cubicBezTo>
                    <a:pt x="178" y="581"/>
                    <a:pt x="137" y="629"/>
                    <a:pt x="137" y="686"/>
                  </a:cubicBezTo>
                  <a:cubicBezTo>
                    <a:pt x="137" y="687"/>
                    <a:pt x="137" y="687"/>
                    <a:pt x="137" y="687"/>
                  </a:cubicBezTo>
                  <a:cubicBezTo>
                    <a:pt x="137" y="749"/>
                    <a:pt x="182" y="791"/>
                    <a:pt x="243" y="791"/>
                  </a:cubicBezTo>
                  <a:cubicBezTo>
                    <a:pt x="279" y="791"/>
                    <a:pt x="306" y="777"/>
                    <a:pt x="325" y="754"/>
                  </a:cubicBezTo>
                  <a:cubicBezTo>
                    <a:pt x="292" y="725"/>
                    <a:pt x="292" y="725"/>
                    <a:pt x="292" y="725"/>
                  </a:cubicBezTo>
                  <a:cubicBezTo>
                    <a:pt x="277" y="739"/>
                    <a:pt x="263" y="745"/>
                    <a:pt x="243" y="745"/>
                  </a:cubicBezTo>
                  <a:cubicBezTo>
                    <a:pt x="218" y="745"/>
                    <a:pt x="200" y="732"/>
                    <a:pt x="194" y="706"/>
                  </a:cubicBezTo>
                  <a:cubicBezTo>
                    <a:pt x="335" y="706"/>
                    <a:pt x="335" y="706"/>
                    <a:pt x="335" y="706"/>
                  </a:cubicBezTo>
                  <a:cubicBezTo>
                    <a:pt x="335" y="701"/>
                    <a:pt x="335" y="695"/>
                    <a:pt x="335" y="691"/>
                  </a:cubicBezTo>
                  <a:cubicBezTo>
                    <a:pt x="335" y="634"/>
                    <a:pt x="304" y="581"/>
                    <a:pt x="237" y="581"/>
                  </a:cubicBezTo>
                  <a:close/>
                  <a:moveTo>
                    <a:pt x="193" y="670"/>
                  </a:moveTo>
                  <a:cubicBezTo>
                    <a:pt x="198" y="644"/>
                    <a:pt x="213" y="627"/>
                    <a:pt x="237" y="627"/>
                  </a:cubicBezTo>
                  <a:cubicBezTo>
                    <a:pt x="261" y="627"/>
                    <a:pt x="276" y="644"/>
                    <a:pt x="280" y="670"/>
                  </a:cubicBezTo>
                  <a:lnTo>
                    <a:pt x="193" y="670"/>
                  </a:lnTo>
                  <a:close/>
                  <a:moveTo>
                    <a:pt x="452" y="742"/>
                  </a:moveTo>
                  <a:cubicBezTo>
                    <a:pt x="421" y="742"/>
                    <a:pt x="401" y="717"/>
                    <a:pt x="401" y="686"/>
                  </a:cubicBezTo>
                  <a:cubicBezTo>
                    <a:pt x="401" y="686"/>
                    <a:pt x="401" y="686"/>
                    <a:pt x="401" y="686"/>
                  </a:cubicBezTo>
                  <a:cubicBezTo>
                    <a:pt x="401" y="656"/>
                    <a:pt x="421" y="631"/>
                    <a:pt x="450" y="631"/>
                  </a:cubicBezTo>
                  <a:cubicBezTo>
                    <a:pt x="470" y="631"/>
                    <a:pt x="483" y="639"/>
                    <a:pt x="496" y="653"/>
                  </a:cubicBezTo>
                  <a:cubicBezTo>
                    <a:pt x="531" y="615"/>
                    <a:pt x="531" y="615"/>
                    <a:pt x="531" y="615"/>
                  </a:cubicBezTo>
                  <a:cubicBezTo>
                    <a:pt x="512" y="594"/>
                    <a:pt x="488" y="581"/>
                    <a:pt x="450" y="581"/>
                  </a:cubicBezTo>
                  <a:cubicBezTo>
                    <a:pt x="388" y="581"/>
                    <a:pt x="344" y="629"/>
                    <a:pt x="344" y="686"/>
                  </a:cubicBezTo>
                  <a:cubicBezTo>
                    <a:pt x="344" y="687"/>
                    <a:pt x="344" y="687"/>
                    <a:pt x="344" y="687"/>
                  </a:cubicBezTo>
                  <a:cubicBezTo>
                    <a:pt x="344" y="745"/>
                    <a:pt x="389" y="791"/>
                    <a:pt x="449" y="791"/>
                  </a:cubicBezTo>
                  <a:cubicBezTo>
                    <a:pt x="490" y="791"/>
                    <a:pt x="512" y="776"/>
                    <a:pt x="532" y="754"/>
                  </a:cubicBezTo>
                  <a:cubicBezTo>
                    <a:pt x="498" y="721"/>
                    <a:pt x="498" y="721"/>
                    <a:pt x="498" y="721"/>
                  </a:cubicBezTo>
                  <a:cubicBezTo>
                    <a:pt x="485" y="734"/>
                    <a:pt x="471" y="742"/>
                    <a:pt x="452" y="742"/>
                  </a:cubicBezTo>
                  <a:close/>
                  <a:moveTo>
                    <a:pt x="657" y="581"/>
                  </a:moveTo>
                  <a:cubicBezTo>
                    <a:pt x="628" y="581"/>
                    <a:pt x="611" y="597"/>
                    <a:pt x="598" y="614"/>
                  </a:cubicBezTo>
                  <a:cubicBezTo>
                    <a:pt x="598" y="512"/>
                    <a:pt x="598" y="512"/>
                    <a:pt x="598" y="512"/>
                  </a:cubicBezTo>
                  <a:cubicBezTo>
                    <a:pt x="541" y="512"/>
                    <a:pt x="541" y="512"/>
                    <a:pt x="541" y="512"/>
                  </a:cubicBezTo>
                  <a:cubicBezTo>
                    <a:pt x="541" y="787"/>
                    <a:pt x="541" y="787"/>
                    <a:pt x="541" y="787"/>
                  </a:cubicBezTo>
                  <a:cubicBezTo>
                    <a:pt x="598" y="787"/>
                    <a:pt x="598" y="787"/>
                    <a:pt x="598" y="787"/>
                  </a:cubicBezTo>
                  <a:cubicBezTo>
                    <a:pt x="598" y="674"/>
                    <a:pt x="598" y="674"/>
                    <a:pt x="598" y="674"/>
                  </a:cubicBezTo>
                  <a:cubicBezTo>
                    <a:pt x="598" y="647"/>
                    <a:pt x="612" y="633"/>
                    <a:pt x="634" y="633"/>
                  </a:cubicBezTo>
                  <a:cubicBezTo>
                    <a:pt x="656" y="633"/>
                    <a:pt x="669" y="647"/>
                    <a:pt x="669" y="674"/>
                  </a:cubicBezTo>
                  <a:cubicBezTo>
                    <a:pt x="669" y="787"/>
                    <a:pt x="669" y="787"/>
                    <a:pt x="669" y="787"/>
                  </a:cubicBezTo>
                  <a:cubicBezTo>
                    <a:pt x="726" y="787"/>
                    <a:pt x="726" y="787"/>
                    <a:pt x="726" y="787"/>
                  </a:cubicBezTo>
                  <a:cubicBezTo>
                    <a:pt x="726" y="656"/>
                    <a:pt x="726" y="656"/>
                    <a:pt x="726" y="656"/>
                  </a:cubicBezTo>
                  <a:cubicBezTo>
                    <a:pt x="726" y="610"/>
                    <a:pt x="701" y="581"/>
                    <a:pt x="657" y="581"/>
                  </a:cubicBezTo>
                  <a:close/>
                  <a:moveTo>
                    <a:pt x="857" y="581"/>
                  </a:moveTo>
                  <a:cubicBezTo>
                    <a:pt x="828" y="581"/>
                    <a:pt x="811" y="597"/>
                    <a:pt x="798" y="614"/>
                  </a:cubicBezTo>
                  <a:cubicBezTo>
                    <a:pt x="798" y="585"/>
                    <a:pt x="798" y="585"/>
                    <a:pt x="798" y="585"/>
                  </a:cubicBezTo>
                  <a:cubicBezTo>
                    <a:pt x="740" y="585"/>
                    <a:pt x="740" y="585"/>
                    <a:pt x="740" y="585"/>
                  </a:cubicBezTo>
                  <a:cubicBezTo>
                    <a:pt x="740" y="787"/>
                    <a:pt x="740" y="787"/>
                    <a:pt x="740" y="787"/>
                  </a:cubicBezTo>
                  <a:cubicBezTo>
                    <a:pt x="798" y="787"/>
                    <a:pt x="798" y="787"/>
                    <a:pt x="798" y="787"/>
                  </a:cubicBezTo>
                  <a:cubicBezTo>
                    <a:pt x="798" y="674"/>
                    <a:pt x="798" y="674"/>
                    <a:pt x="798" y="674"/>
                  </a:cubicBezTo>
                  <a:cubicBezTo>
                    <a:pt x="798" y="647"/>
                    <a:pt x="812" y="633"/>
                    <a:pt x="833" y="633"/>
                  </a:cubicBezTo>
                  <a:cubicBezTo>
                    <a:pt x="855" y="633"/>
                    <a:pt x="868" y="647"/>
                    <a:pt x="868" y="674"/>
                  </a:cubicBezTo>
                  <a:cubicBezTo>
                    <a:pt x="868" y="787"/>
                    <a:pt x="868" y="787"/>
                    <a:pt x="868" y="787"/>
                  </a:cubicBezTo>
                  <a:cubicBezTo>
                    <a:pt x="925" y="787"/>
                    <a:pt x="925" y="787"/>
                    <a:pt x="925" y="787"/>
                  </a:cubicBezTo>
                  <a:cubicBezTo>
                    <a:pt x="925" y="656"/>
                    <a:pt x="925" y="656"/>
                    <a:pt x="925" y="656"/>
                  </a:cubicBezTo>
                  <a:cubicBezTo>
                    <a:pt x="925" y="610"/>
                    <a:pt x="900" y="581"/>
                    <a:pt x="857" y="581"/>
                  </a:cubicBezTo>
                  <a:close/>
                  <a:moveTo>
                    <a:pt x="1155" y="686"/>
                  </a:moveTo>
                  <a:cubicBezTo>
                    <a:pt x="1155" y="686"/>
                    <a:pt x="1155" y="686"/>
                    <a:pt x="1155" y="686"/>
                  </a:cubicBezTo>
                  <a:cubicBezTo>
                    <a:pt x="1155" y="628"/>
                    <a:pt x="1109" y="581"/>
                    <a:pt x="1047" y="581"/>
                  </a:cubicBezTo>
                  <a:cubicBezTo>
                    <a:pt x="984" y="581"/>
                    <a:pt x="937" y="628"/>
                    <a:pt x="937" y="686"/>
                  </a:cubicBezTo>
                  <a:cubicBezTo>
                    <a:pt x="937" y="687"/>
                    <a:pt x="937" y="687"/>
                    <a:pt x="937" y="687"/>
                  </a:cubicBezTo>
                  <a:cubicBezTo>
                    <a:pt x="937" y="745"/>
                    <a:pt x="983" y="791"/>
                    <a:pt x="1046" y="791"/>
                  </a:cubicBezTo>
                  <a:cubicBezTo>
                    <a:pt x="1109" y="791"/>
                    <a:pt x="1155" y="744"/>
                    <a:pt x="1155" y="686"/>
                  </a:cubicBezTo>
                  <a:close/>
                  <a:moveTo>
                    <a:pt x="993" y="686"/>
                  </a:moveTo>
                  <a:cubicBezTo>
                    <a:pt x="993" y="686"/>
                    <a:pt x="993" y="686"/>
                    <a:pt x="993" y="686"/>
                  </a:cubicBezTo>
                  <a:cubicBezTo>
                    <a:pt x="993" y="656"/>
                    <a:pt x="1013" y="631"/>
                    <a:pt x="1046" y="631"/>
                  </a:cubicBezTo>
                  <a:cubicBezTo>
                    <a:pt x="1077" y="631"/>
                    <a:pt x="1099" y="657"/>
                    <a:pt x="1099" y="686"/>
                  </a:cubicBezTo>
                  <a:cubicBezTo>
                    <a:pt x="1099" y="687"/>
                    <a:pt x="1099" y="687"/>
                    <a:pt x="1099" y="687"/>
                  </a:cubicBezTo>
                  <a:cubicBezTo>
                    <a:pt x="1099" y="717"/>
                    <a:pt x="1079" y="742"/>
                    <a:pt x="1047" y="742"/>
                  </a:cubicBezTo>
                  <a:cubicBezTo>
                    <a:pt x="1015" y="742"/>
                    <a:pt x="993" y="716"/>
                    <a:pt x="993" y="686"/>
                  </a:cubicBezTo>
                  <a:close/>
                  <a:moveTo>
                    <a:pt x="1167" y="787"/>
                  </a:moveTo>
                  <a:cubicBezTo>
                    <a:pt x="1224" y="787"/>
                    <a:pt x="1224" y="787"/>
                    <a:pt x="1224" y="787"/>
                  </a:cubicBezTo>
                  <a:cubicBezTo>
                    <a:pt x="1224" y="512"/>
                    <a:pt x="1224" y="512"/>
                    <a:pt x="1224" y="512"/>
                  </a:cubicBezTo>
                  <a:cubicBezTo>
                    <a:pt x="1167" y="512"/>
                    <a:pt x="1167" y="512"/>
                    <a:pt x="1167" y="512"/>
                  </a:cubicBezTo>
                  <a:lnTo>
                    <a:pt x="1167" y="787"/>
                  </a:lnTo>
                  <a:close/>
                  <a:moveTo>
                    <a:pt x="1345" y="581"/>
                  </a:moveTo>
                  <a:cubicBezTo>
                    <a:pt x="1282" y="581"/>
                    <a:pt x="1235" y="628"/>
                    <a:pt x="1235" y="686"/>
                  </a:cubicBezTo>
                  <a:cubicBezTo>
                    <a:pt x="1235" y="687"/>
                    <a:pt x="1235" y="687"/>
                    <a:pt x="1235" y="687"/>
                  </a:cubicBezTo>
                  <a:cubicBezTo>
                    <a:pt x="1235" y="745"/>
                    <a:pt x="1281" y="791"/>
                    <a:pt x="1344" y="791"/>
                  </a:cubicBezTo>
                  <a:cubicBezTo>
                    <a:pt x="1407" y="791"/>
                    <a:pt x="1453" y="744"/>
                    <a:pt x="1453" y="686"/>
                  </a:cubicBezTo>
                  <a:cubicBezTo>
                    <a:pt x="1453" y="686"/>
                    <a:pt x="1453" y="686"/>
                    <a:pt x="1453" y="686"/>
                  </a:cubicBezTo>
                  <a:cubicBezTo>
                    <a:pt x="1453" y="628"/>
                    <a:pt x="1407" y="581"/>
                    <a:pt x="1345" y="581"/>
                  </a:cubicBezTo>
                  <a:close/>
                  <a:moveTo>
                    <a:pt x="1397" y="687"/>
                  </a:moveTo>
                  <a:cubicBezTo>
                    <a:pt x="1397" y="717"/>
                    <a:pt x="1377" y="742"/>
                    <a:pt x="1345" y="742"/>
                  </a:cubicBezTo>
                  <a:cubicBezTo>
                    <a:pt x="1313" y="742"/>
                    <a:pt x="1292" y="716"/>
                    <a:pt x="1292" y="686"/>
                  </a:cubicBezTo>
                  <a:cubicBezTo>
                    <a:pt x="1292" y="686"/>
                    <a:pt x="1292" y="686"/>
                    <a:pt x="1292" y="686"/>
                  </a:cubicBezTo>
                  <a:cubicBezTo>
                    <a:pt x="1292" y="656"/>
                    <a:pt x="1311" y="631"/>
                    <a:pt x="1344" y="631"/>
                  </a:cubicBezTo>
                  <a:cubicBezTo>
                    <a:pt x="1375" y="631"/>
                    <a:pt x="1397" y="657"/>
                    <a:pt x="1397" y="686"/>
                  </a:cubicBezTo>
                  <a:lnTo>
                    <a:pt x="1397" y="687"/>
                  </a:lnTo>
                  <a:close/>
                  <a:moveTo>
                    <a:pt x="1560" y="802"/>
                  </a:moveTo>
                  <a:cubicBezTo>
                    <a:pt x="1533" y="802"/>
                    <a:pt x="1513" y="795"/>
                    <a:pt x="1492" y="784"/>
                  </a:cubicBezTo>
                  <a:cubicBezTo>
                    <a:pt x="1472" y="827"/>
                    <a:pt x="1472" y="827"/>
                    <a:pt x="1472" y="827"/>
                  </a:cubicBezTo>
                  <a:cubicBezTo>
                    <a:pt x="1498" y="840"/>
                    <a:pt x="1529" y="848"/>
                    <a:pt x="1562" y="848"/>
                  </a:cubicBezTo>
                  <a:cubicBezTo>
                    <a:pt x="1601" y="848"/>
                    <a:pt x="1630" y="840"/>
                    <a:pt x="1649" y="821"/>
                  </a:cubicBezTo>
                  <a:cubicBezTo>
                    <a:pt x="1666" y="804"/>
                    <a:pt x="1674" y="777"/>
                    <a:pt x="1674" y="741"/>
                  </a:cubicBezTo>
                  <a:cubicBezTo>
                    <a:pt x="1674" y="585"/>
                    <a:pt x="1674" y="585"/>
                    <a:pt x="1674" y="585"/>
                  </a:cubicBezTo>
                  <a:cubicBezTo>
                    <a:pt x="1617" y="585"/>
                    <a:pt x="1617" y="585"/>
                    <a:pt x="1617" y="585"/>
                  </a:cubicBezTo>
                  <a:cubicBezTo>
                    <a:pt x="1617" y="611"/>
                    <a:pt x="1617" y="611"/>
                    <a:pt x="1617" y="611"/>
                  </a:cubicBezTo>
                  <a:cubicBezTo>
                    <a:pt x="1602" y="594"/>
                    <a:pt x="1583" y="581"/>
                    <a:pt x="1552" y="581"/>
                  </a:cubicBezTo>
                  <a:cubicBezTo>
                    <a:pt x="1505" y="581"/>
                    <a:pt x="1462" y="615"/>
                    <a:pt x="1462" y="675"/>
                  </a:cubicBezTo>
                  <a:cubicBezTo>
                    <a:pt x="1462" y="676"/>
                    <a:pt x="1462" y="676"/>
                    <a:pt x="1462" y="676"/>
                  </a:cubicBezTo>
                  <a:cubicBezTo>
                    <a:pt x="1462" y="736"/>
                    <a:pt x="1505" y="770"/>
                    <a:pt x="1552" y="770"/>
                  </a:cubicBezTo>
                  <a:cubicBezTo>
                    <a:pt x="1582" y="770"/>
                    <a:pt x="1601" y="758"/>
                    <a:pt x="1618" y="737"/>
                  </a:cubicBezTo>
                  <a:cubicBezTo>
                    <a:pt x="1618" y="747"/>
                    <a:pt x="1618" y="747"/>
                    <a:pt x="1618" y="747"/>
                  </a:cubicBezTo>
                  <a:cubicBezTo>
                    <a:pt x="1618" y="783"/>
                    <a:pt x="1599" y="802"/>
                    <a:pt x="1560" y="802"/>
                  </a:cubicBezTo>
                  <a:close/>
                  <a:moveTo>
                    <a:pt x="1568" y="723"/>
                  </a:moveTo>
                  <a:cubicBezTo>
                    <a:pt x="1541" y="723"/>
                    <a:pt x="1519" y="704"/>
                    <a:pt x="1519" y="676"/>
                  </a:cubicBezTo>
                  <a:cubicBezTo>
                    <a:pt x="1519" y="675"/>
                    <a:pt x="1519" y="675"/>
                    <a:pt x="1519" y="675"/>
                  </a:cubicBezTo>
                  <a:cubicBezTo>
                    <a:pt x="1519" y="648"/>
                    <a:pt x="1541" y="629"/>
                    <a:pt x="1568" y="629"/>
                  </a:cubicBezTo>
                  <a:cubicBezTo>
                    <a:pt x="1596" y="629"/>
                    <a:pt x="1618" y="648"/>
                    <a:pt x="1618" y="675"/>
                  </a:cubicBezTo>
                  <a:cubicBezTo>
                    <a:pt x="1618" y="676"/>
                    <a:pt x="1618" y="676"/>
                    <a:pt x="1618" y="676"/>
                  </a:cubicBezTo>
                  <a:cubicBezTo>
                    <a:pt x="1618" y="704"/>
                    <a:pt x="1596" y="723"/>
                    <a:pt x="1568" y="723"/>
                  </a:cubicBezTo>
                  <a:close/>
                  <a:moveTo>
                    <a:pt x="1790" y="722"/>
                  </a:moveTo>
                  <a:cubicBezTo>
                    <a:pt x="1744" y="585"/>
                    <a:pt x="1744" y="585"/>
                    <a:pt x="1744" y="585"/>
                  </a:cubicBezTo>
                  <a:cubicBezTo>
                    <a:pt x="1684" y="585"/>
                    <a:pt x="1684" y="585"/>
                    <a:pt x="1684" y="585"/>
                  </a:cubicBezTo>
                  <a:cubicBezTo>
                    <a:pt x="1763" y="788"/>
                    <a:pt x="1763" y="788"/>
                    <a:pt x="1763" y="788"/>
                  </a:cubicBezTo>
                  <a:cubicBezTo>
                    <a:pt x="1758" y="798"/>
                    <a:pt x="1753" y="801"/>
                    <a:pt x="1743" y="801"/>
                  </a:cubicBezTo>
                  <a:cubicBezTo>
                    <a:pt x="1735" y="801"/>
                    <a:pt x="1726" y="797"/>
                    <a:pt x="1718" y="793"/>
                  </a:cubicBezTo>
                  <a:cubicBezTo>
                    <a:pt x="1699" y="834"/>
                    <a:pt x="1699" y="834"/>
                    <a:pt x="1699" y="834"/>
                  </a:cubicBezTo>
                  <a:cubicBezTo>
                    <a:pt x="1714" y="843"/>
                    <a:pt x="1729" y="848"/>
                    <a:pt x="1750" y="848"/>
                  </a:cubicBezTo>
                  <a:cubicBezTo>
                    <a:pt x="1784" y="848"/>
                    <a:pt x="1801" y="833"/>
                    <a:pt x="1816" y="792"/>
                  </a:cubicBezTo>
                  <a:cubicBezTo>
                    <a:pt x="1894" y="585"/>
                    <a:pt x="1894" y="585"/>
                    <a:pt x="1894" y="585"/>
                  </a:cubicBezTo>
                  <a:cubicBezTo>
                    <a:pt x="1834" y="585"/>
                    <a:pt x="1834" y="585"/>
                    <a:pt x="1834" y="585"/>
                  </a:cubicBezTo>
                  <a:lnTo>
                    <a:pt x="1790" y="722"/>
                  </a:lnTo>
                  <a:close/>
                  <a:moveTo>
                    <a:pt x="1101" y="965"/>
                  </a:moveTo>
                  <a:cubicBezTo>
                    <a:pt x="1054" y="965"/>
                    <a:pt x="1054" y="965"/>
                    <a:pt x="1054" y="965"/>
                  </a:cubicBezTo>
                  <a:cubicBezTo>
                    <a:pt x="1054" y="957"/>
                    <a:pt x="1054" y="957"/>
                    <a:pt x="1054" y="957"/>
                  </a:cubicBezTo>
                  <a:cubicBezTo>
                    <a:pt x="1054" y="942"/>
                    <a:pt x="1062" y="935"/>
                    <a:pt x="1075" y="935"/>
                  </a:cubicBezTo>
                  <a:cubicBezTo>
                    <a:pt x="1085" y="935"/>
                    <a:pt x="1093" y="937"/>
                    <a:pt x="1101" y="940"/>
                  </a:cubicBezTo>
                  <a:cubicBezTo>
                    <a:pt x="1101" y="893"/>
                    <a:pt x="1101" y="893"/>
                    <a:pt x="1101" y="893"/>
                  </a:cubicBezTo>
                  <a:cubicBezTo>
                    <a:pt x="1091" y="889"/>
                    <a:pt x="1078" y="887"/>
                    <a:pt x="1060" y="887"/>
                  </a:cubicBezTo>
                  <a:cubicBezTo>
                    <a:pt x="1040" y="887"/>
                    <a:pt x="1025" y="892"/>
                    <a:pt x="1014" y="903"/>
                  </a:cubicBezTo>
                  <a:cubicBezTo>
                    <a:pt x="1004" y="914"/>
                    <a:pt x="998" y="930"/>
                    <a:pt x="998" y="952"/>
                  </a:cubicBezTo>
                  <a:cubicBezTo>
                    <a:pt x="998" y="965"/>
                    <a:pt x="998" y="965"/>
                    <a:pt x="998" y="965"/>
                  </a:cubicBezTo>
                  <a:cubicBezTo>
                    <a:pt x="974" y="965"/>
                    <a:pt x="974" y="965"/>
                    <a:pt x="974" y="965"/>
                  </a:cubicBezTo>
                  <a:cubicBezTo>
                    <a:pt x="974" y="1012"/>
                    <a:pt x="974" y="1012"/>
                    <a:pt x="974" y="1012"/>
                  </a:cubicBezTo>
                  <a:cubicBezTo>
                    <a:pt x="998" y="1012"/>
                    <a:pt x="998" y="1012"/>
                    <a:pt x="998" y="1012"/>
                  </a:cubicBezTo>
                  <a:cubicBezTo>
                    <a:pt x="998" y="1165"/>
                    <a:pt x="998" y="1165"/>
                    <a:pt x="998" y="1165"/>
                  </a:cubicBezTo>
                  <a:cubicBezTo>
                    <a:pt x="1055" y="1165"/>
                    <a:pt x="1055" y="1165"/>
                    <a:pt x="1055" y="1165"/>
                  </a:cubicBezTo>
                  <a:cubicBezTo>
                    <a:pt x="1055" y="1012"/>
                    <a:pt x="1055" y="1012"/>
                    <a:pt x="1055" y="1012"/>
                  </a:cubicBezTo>
                  <a:cubicBezTo>
                    <a:pt x="1101" y="1012"/>
                    <a:pt x="1101" y="1012"/>
                    <a:pt x="1101" y="1012"/>
                  </a:cubicBezTo>
                  <a:lnTo>
                    <a:pt x="1101" y="965"/>
                  </a:lnTo>
                  <a:close/>
                  <a:moveTo>
                    <a:pt x="1209" y="959"/>
                  </a:moveTo>
                  <a:cubicBezTo>
                    <a:pt x="1147" y="959"/>
                    <a:pt x="1100" y="1006"/>
                    <a:pt x="1100" y="1064"/>
                  </a:cubicBezTo>
                  <a:cubicBezTo>
                    <a:pt x="1100" y="1065"/>
                    <a:pt x="1100" y="1065"/>
                    <a:pt x="1100" y="1065"/>
                  </a:cubicBezTo>
                  <a:cubicBezTo>
                    <a:pt x="1100" y="1123"/>
                    <a:pt x="1146" y="1169"/>
                    <a:pt x="1209" y="1169"/>
                  </a:cubicBezTo>
                  <a:cubicBezTo>
                    <a:pt x="1272" y="1169"/>
                    <a:pt x="1318" y="1122"/>
                    <a:pt x="1318" y="1064"/>
                  </a:cubicBezTo>
                  <a:cubicBezTo>
                    <a:pt x="1318" y="1063"/>
                    <a:pt x="1318" y="1063"/>
                    <a:pt x="1318" y="1063"/>
                  </a:cubicBezTo>
                  <a:cubicBezTo>
                    <a:pt x="1318" y="1005"/>
                    <a:pt x="1272" y="959"/>
                    <a:pt x="1209" y="959"/>
                  </a:cubicBezTo>
                  <a:close/>
                  <a:moveTo>
                    <a:pt x="1262" y="1065"/>
                  </a:moveTo>
                  <a:cubicBezTo>
                    <a:pt x="1262" y="1095"/>
                    <a:pt x="1242" y="1120"/>
                    <a:pt x="1209" y="1120"/>
                  </a:cubicBezTo>
                  <a:cubicBezTo>
                    <a:pt x="1178" y="1120"/>
                    <a:pt x="1156" y="1094"/>
                    <a:pt x="1156" y="1064"/>
                  </a:cubicBezTo>
                  <a:cubicBezTo>
                    <a:pt x="1156" y="1063"/>
                    <a:pt x="1156" y="1063"/>
                    <a:pt x="1156" y="1063"/>
                  </a:cubicBezTo>
                  <a:cubicBezTo>
                    <a:pt x="1156" y="1034"/>
                    <a:pt x="1176" y="1008"/>
                    <a:pt x="1209" y="1008"/>
                  </a:cubicBezTo>
                  <a:cubicBezTo>
                    <a:pt x="1240" y="1008"/>
                    <a:pt x="1262" y="1034"/>
                    <a:pt x="1262" y="1064"/>
                  </a:cubicBezTo>
                  <a:lnTo>
                    <a:pt x="1262" y="1065"/>
                  </a:lnTo>
                  <a:close/>
                  <a:moveTo>
                    <a:pt x="1389" y="1004"/>
                  </a:moveTo>
                  <a:cubicBezTo>
                    <a:pt x="1389" y="963"/>
                    <a:pt x="1389" y="963"/>
                    <a:pt x="1389" y="963"/>
                  </a:cubicBezTo>
                  <a:cubicBezTo>
                    <a:pt x="1332" y="963"/>
                    <a:pt x="1332" y="963"/>
                    <a:pt x="1332" y="963"/>
                  </a:cubicBezTo>
                  <a:cubicBezTo>
                    <a:pt x="1332" y="1165"/>
                    <a:pt x="1332" y="1165"/>
                    <a:pt x="1332" y="1165"/>
                  </a:cubicBezTo>
                  <a:cubicBezTo>
                    <a:pt x="1389" y="1165"/>
                    <a:pt x="1389" y="1165"/>
                    <a:pt x="1389" y="1165"/>
                  </a:cubicBezTo>
                  <a:cubicBezTo>
                    <a:pt x="1389" y="1090"/>
                    <a:pt x="1389" y="1090"/>
                    <a:pt x="1389" y="1090"/>
                  </a:cubicBezTo>
                  <a:cubicBezTo>
                    <a:pt x="1389" y="1042"/>
                    <a:pt x="1412" y="1019"/>
                    <a:pt x="1450" y="1019"/>
                  </a:cubicBezTo>
                  <a:cubicBezTo>
                    <a:pt x="1453" y="1019"/>
                    <a:pt x="1453" y="1019"/>
                    <a:pt x="1453" y="1019"/>
                  </a:cubicBezTo>
                  <a:cubicBezTo>
                    <a:pt x="1453" y="959"/>
                    <a:pt x="1453" y="959"/>
                    <a:pt x="1453" y="959"/>
                  </a:cubicBezTo>
                  <a:cubicBezTo>
                    <a:pt x="1419" y="958"/>
                    <a:pt x="1400" y="976"/>
                    <a:pt x="1389" y="1004"/>
                  </a:cubicBezTo>
                  <a:close/>
                  <a:moveTo>
                    <a:pt x="1622" y="961"/>
                  </a:moveTo>
                  <a:cubicBezTo>
                    <a:pt x="1588" y="961"/>
                    <a:pt x="1566" y="967"/>
                    <a:pt x="1544" y="977"/>
                  </a:cubicBezTo>
                  <a:cubicBezTo>
                    <a:pt x="1558" y="1020"/>
                    <a:pt x="1558" y="1020"/>
                    <a:pt x="1558" y="1020"/>
                  </a:cubicBezTo>
                  <a:cubicBezTo>
                    <a:pt x="1576" y="1014"/>
                    <a:pt x="1592" y="1010"/>
                    <a:pt x="1614" y="1010"/>
                  </a:cubicBezTo>
                  <a:cubicBezTo>
                    <a:pt x="1642" y="1010"/>
                    <a:pt x="1657" y="1023"/>
                    <a:pt x="1657" y="1046"/>
                  </a:cubicBezTo>
                  <a:cubicBezTo>
                    <a:pt x="1657" y="1050"/>
                    <a:pt x="1657" y="1050"/>
                    <a:pt x="1657" y="1050"/>
                  </a:cubicBezTo>
                  <a:cubicBezTo>
                    <a:pt x="1643" y="1045"/>
                    <a:pt x="1628" y="1042"/>
                    <a:pt x="1608" y="1042"/>
                  </a:cubicBezTo>
                  <a:cubicBezTo>
                    <a:pt x="1560" y="1042"/>
                    <a:pt x="1526" y="1062"/>
                    <a:pt x="1526" y="1106"/>
                  </a:cubicBezTo>
                  <a:cubicBezTo>
                    <a:pt x="1526" y="1107"/>
                    <a:pt x="1526" y="1107"/>
                    <a:pt x="1526" y="1107"/>
                  </a:cubicBezTo>
                  <a:cubicBezTo>
                    <a:pt x="1526" y="1147"/>
                    <a:pt x="1558" y="1168"/>
                    <a:pt x="1596" y="1168"/>
                  </a:cubicBezTo>
                  <a:cubicBezTo>
                    <a:pt x="1624" y="1168"/>
                    <a:pt x="1643" y="1158"/>
                    <a:pt x="1657" y="1143"/>
                  </a:cubicBezTo>
                  <a:cubicBezTo>
                    <a:pt x="1657" y="1165"/>
                    <a:pt x="1657" y="1165"/>
                    <a:pt x="1657" y="1165"/>
                  </a:cubicBezTo>
                  <a:cubicBezTo>
                    <a:pt x="1712" y="1165"/>
                    <a:pt x="1712" y="1165"/>
                    <a:pt x="1712" y="1165"/>
                  </a:cubicBezTo>
                  <a:cubicBezTo>
                    <a:pt x="1712" y="1048"/>
                    <a:pt x="1712" y="1048"/>
                    <a:pt x="1712" y="1048"/>
                  </a:cubicBezTo>
                  <a:cubicBezTo>
                    <a:pt x="1712" y="1020"/>
                    <a:pt x="1705" y="998"/>
                    <a:pt x="1690" y="983"/>
                  </a:cubicBezTo>
                  <a:cubicBezTo>
                    <a:pt x="1676" y="969"/>
                    <a:pt x="1653" y="961"/>
                    <a:pt x="1622" y="961"/>
                  </a:cubicBezTo>
                  <a:close/>
                  <a:moveTo>
                    <a:pt x="1658" y="1094"/>
                  </a:moveTo>
                  <a:cubicBezTo>
                    <a:pt x="1658" y="1114"/>
                    <a:pt x="1640" y="1129"/>
                    <a:pt x="1613" y="1129"/>
                  </a:cubicBezTo>
                  <a:cubicBezTo>
                    <a:pt x="1595" y="1129"/>
                    <a:pt x="1582" y="1120"/>
                    <a:pt x="1582" y="1104"/>
                  </a:cubicBezTo>
                  <a:cubicBezTo>
                    <a:pt x="1582" y="1104"/>
                    <a:pt x="1582" y="1104"/>
                    <a:pt x="1582" y="1104"/>
                  </a:cubicBezTo>
                  <a:cubicBezTo>
                    <a:pt x="1582" y="1086"/>
                    <a:pt x="1597" y="1076"/>
                    <a:pt x="1621" y="1076"/>
                  </a:cubicBezTo>
                  <a:cubicBezTo>
                    <a:pt x="1635" y="1076"/>
                    <a:pt x="1648" y="1079"/>
                    <a:pt x="1658" y="1083"/>
                  </a:cubicBezTo>
                  <a:lnTo>
                    <a:pt x="1658" y="1094"/>
                  </a:lnTo>
                  <a:close/>
                  <a:moveTo>
                    <a:pt x="1736" y="1165"/>
                  </a:moveTo>
                  <a:cubicBezTo>
                    <a:pt x="1793" y="1165"/>
                    <a:pt x="1793" y="1165"/>
                    <a:pt x="1793" y="1165"/>
                  </a:cubicBezTo>
                  <a:cubicBezTo>
                    <a:pt x="1793" y="890"/>
                    <a:pt x="1793" y="890"/>
                    <a:pt x="1793" y="890"/>
                  </a:cubicBezTo>
                  <a:cubicBezTo>
                    <a:pt x="1736" y="890"/>
                    <a:pt x="1736" y="890"/>
                    <a:pt x="1736" y="890"/>
                  </a:cubicBezTo>
                  <a:lnTo>
                    <a:pt x="1736" y="1165"/>
                  </a:lnTo>
                  <a:close/>
                  <a:moveTo>
                    <a:pt x="1817" y="1165"/>
                  </a:moveTo>
                  <a:cubicBezTo>
                    <a:pt x="1874" y="1165"/>
                    <a:pt x="1874" y="1165"/>
                    <a:pt x="1874" y="1165"/>
                  </a:cubicBezTo>
                  <a:cubicBezTo>
                    <a:pt x="1874" y="890"/>
                    <a:pt x="1874" y="890"/>
                    <a:pt x="1874" y="890"/>
                  </a:cubicBezTo>
                  <a:cubicBezTo>
                    <a:pt x="1817" y="890"/>
                    <a:pt x="1817" y="890"/>
                    <a:pt x="1817" y="890"/>
                  </a:cubicBezTo>
                  <a:lnTo>
                    <a:pt x="1817" y="1165"/>
                  </a:lnTo>
                  <a:close/>
                  <a:moveTo>
                    <a:pt x="2086" y="0"/>
                  </a:moveTo>
                  <a:cubicBezTo>
                    <a:pt x="2086" y="1832"/>
                    <a:pt x="2086" y="1832"/>
                    <a:pt x="2086" y="1832"/>
                  </a:cubicBezTo>
                  <a:cubicBezTo>
                    <a:pt x="2697" y="1832"/>
                    <a:pt x="2697" y="1832"/>
                    <a:pt x="2697" y="1832"/>
                  </a:cubicBezTo>
                  <a:cubicBezTo>
                    <a:pt x="2697" y="0"/>
                    <a:pt x="2697" y="0"/>
                    <a:pt x="2697" y="0"/>
                  </a:cubicBezTo>
                  <a:lnTo>
                    <a:pt x="2086" y="0"/>
                  </a:lnTo>
                  <a:close/>
                </a:path>
              </a:pathLst>
            </a:custGeom>
            <a:gradFill flip="none" rotWithShape="1">
              <a:gsLst>
                <a:gs pos="37000">
                  <a:srgbClr val="F2A11F"/>
                </a:gs>
                <a:gs pos="56000">
                  <a:srgbClr val="EC5124"/>
                </a:gs>
                <a:gs pos="83000">
                  <a:srgbClr val="D32A27"/>
                </a:gs>
                <a:gs pos="100000">
                  <a:srgbClr val="7A425E"/>
                </a:gs>
              </a:gsLst>
              <a:lin ang="18900000" scaled="1"/>
              <a:tileRect/>
            </a:gradFill>
            <a:ln>
              <a:noFill/>
            </a:ln>
          </p:spPr>
          <p:txBody>
            <a:bodyPr vert="horz" wrap="square" lIns="91440" tIns="45720" rIns="91440" bIns="45720" numCol="1" anchor="t" anchorCtr="0" compatLnSpc="1">
              <a:prstTxWarp prst="textNoShape">
                <a:avLst/>
              </a:prstTxWarp>
            </a:bodyPr>
            <a:lstStyle/>
            <a:p>
              <a:endParaRPr lang="en-US" sz="1798"/>
            </a:p>
          </p:txBody>
        </p:sp>
        <p:grpSp>
          <p:nvGrpSpPr>
            <p:cNvPr id="107" name="Group 106">
              <a:extLst>
                <a:ext uri="{FF2B5EF4-FFF2-40B4-BE49-F238E27FC236}">
                  <a16:creationId xmlns:a16="http://schemas.microsoft.com/office/drawing/2014/main" id="{A6EECAC4-C77C-49AB-B254-48D8B0737DBE}"/>
                </a:ext>
              </a:extLst>
            </p:cNvPr>
            <p:cNvGrpSpPr/>
            <p:nvPr userDrawn="1"/>
          </p:nvGrpSpPr>
          <p:grpSpPr>
            <a:xfrm>
              <a:off x="11291887" y="1987551"/>
              <a:ext cx="590550" cy="2868613"/>
              <a:chOff x="11291887" y="1987551"/>
              <a:chExt cx="590550" cy="2868613"/>
            </a:xfrm>
          </p:grpSpPr>
          <p:sp>
            <p:nvSpPr>
              <p:cNvPr id="108" name="Freeform 6">
                <a:extLst>
                  <a:ext uri="{FF2B5EF4-FFF2-40B4-BE49-F238E27FC236}">
                    <a16:creationId xmlns:a16="http://schemas.microsoft.com/office/drawing/2014/main" id="{D00C9BBA-FC7E-4243-8134-0B959E4BB233}"/>
                  </a:ext>
                </a:extLst>
              </p:cNvPr>
              <p:cNvSpPr>
                <a:spLocks/>
              </p:cNvSpPr>
              <p:nvPr userDrawn="1"/>
            </p:nvSpPr>
            <p:spPr bwMode="auto">
              <a:xfrm>
                <a:off x="11418887" y="3471864"/>
                <a:ext cx="455612" cy="452438"/>
              </a:xfrm>
              <a:custGeom>
                <a:avLst/>
                <a:gdLst>
                  <a:gd name="T0" fmla="*/ 0 w 239"/>
                  <a:gd name="T1" fmla="*/ 96 h 237"/>
                  <a:gd name="T2" fmla="*/ 38 w 239"/>
                  <a:gd name="T3" fmla="*/ 173 h 237"/>
                  <a:gd name="T4" fmla="*/ 38 w 239"/>
                  <a:gd name="T5" fmla="*/ 173 h 237"/>
                  <a:gd name="T6" fmla="*/ 38 w 239"/>
                  <a:gd name="T7" fmla="*/ 173 h 237"/>
                  <a:gd name="T8" fmla="*/ 4 w 239"/>
                  <a:gd name="T9" fmla="*/ 173 h 237"/>
                  <a:gd name="T10" fmla="*/ 4 w 239"/>
                  <a:gd name="T11" fmla="*/ 237 h 237"/>
                  <a:gd name="T12" fmla="*/ 239 w 239"/>
                  <a:gd name="T13" fmla="*/ 237 h 237"/>
                  <a:gd name="T14" fmla="*/ 239 w 239"/>
                  <a:gd name="T15" fmla="*/ 173 h 237"/>
                  <a:gd name="T16" fmla="*/ 105 w 239"/>
                  <a:gd name="T17" fmla="*/ 173 h 237"/>
                  <a:gd name="T18" fmla="*/ 56 w 239"/>
                  <a:gd name="T19" fmla="*/ 119 h 237"/>
                  <a:gd name="T20" fmla="*/ 105 w 239"/>
                  <a:gd name="T21" fmla="*/ 65 h 237"/>
                  <a:gd name="T22" fmla="*/ 239 w 239"/>
                  <a:gd name="T23" fmla="*/ 65 h 237"/>
                  <a:gd name="T24" fmla="*/ 239 w 239"/>
                  <a:gd name="T25" fmla="*/ 0 h 237"/>
                  <a:gd name="T26" fmla="*/ 93 w 239"/>
                  <a:gd name="T27" fmla="*/ 0 h 237"/>
                  <a:gd name="T28" fmla="*/ 0 w 239"/>
                  <a:gd name="T29" fmla="*/ 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9" h="237">
                    <a:moveTo>
                      <a:pt x="0" y="96"/>
                    </a:moveTo>
                    <a:cubicBezTo>
                      <a:pt x="0" y="123"/>
                      <a:pt x="13" y="154"/>
                      <a:pt x="38" y="173"/>
                    </a:cubicBezTo>
                    <a:cubicBezTo>
                      <a:pt x="38" y="173"/>
                      <a:pt x="38" y="173"/>
                      <a:pt x="38" y="173"/>
                    </a:cubicBezTo>
                    <a:cubicBezTo>
                      <a:pt x="38" y="173"/>
                      <a:pt x="38" y="173"/>
                      <a:pt x="38" y="173"/>
                    </a:cubicBezTo>
                    <a:cubicBezTo>
                      <a:pt x="4" y="173"/>
                      <a:pt x="4" y="173"/>
                      <a:pt x="4" y="173"/>
                    </a:cubicBezTo>
                    <a:cubicBezTo>
                      <a:pt x="4" y="237"/>
                      <a:pt x="4" y="237"/>
                      <a:pt x="4" y="237"/>
                    </a:cubicBezTo>
                    <a:cubicBezTo>
                      <a:pt x="239" y="237"/>
                      <a:pt x="239" y="237"/>
                      <a:pt x="239" y="237"/>
                    </a:cubicBezTo>
                    <a:cubicBezTo>
                      <a:pt x="239" y="173"/>
                      <a:pt x="239" y="173"/>
                      <a:pt x="239" y="173"/>
                    </a:cubicBezTo>
                    <a:cubicBezTo>
                      <a:pt x="105" y="173"/>
                      <a:pt x="105" y="173"/>
                      <a:pt x="105" y="173"/>
                    </a:cubicBezTo>
                    <a:cubicBezTo>
                      <a:pt x="81" y="173"/>
                      <a:pt x="56" y="154"/>
                      <a:pt x="56" y="119"/>
                    </a:cubicBezTo>
                    <a:cubicBezTo>
                      <a:pt x="56" y="93"/>
                      <a:pt x="74" y="65"/>
                      <a:pt x="105" y="65"/>
                    </a:cubicBezTo>
                    <a:cubicBezTo>
                      <a:pt x="239" y="65"/>
                      <a:pt x="239" y="65"/>
                      <a:pt x="239" y="65"/>
                    </a:cubicBezTo>
                    <a:cubicBezTo>
                      <a:pt x="239" y="0"/>
                      <a:pt x="239" y="0"/>
                      <a:pt x="239" y="0"/>
                    </a:cubicBezTo>
                    <a:cubicBezTo>
                      <a:pt x="93" y="0"/>
                      <a:pt x="93" y="0"/>
                      <a:pt x="93" y="0"/>
                    </a:cubicBezTo>
                    <a:cubicBezTo>
                      <a:pt x="39" y="0"/>
                      <a:pt x="0" y="39"/>
                      <a:pt x="0" y="9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9" name="Freeform 7">
                <a:extLst>
                  <a:ext uri="{FF2B5EF4-FFF2-40B4-BE49-F238E27FC236}">
                    <a16:creationId xmlns:a16="http://schemas.microsoft.com/office/drawing/2014/main" id="{F71F105A-138E-453C-A355-31EA2B0C8B87}"/>
                  </a:ext>
                </a:extLst>
              </p:cNvPr>
              <p:cNvSpPr>
                <a:spLocks/>
              </p:cNvSpPr>
              <p:nvPr userDrawn="1"/>
            </p:nvSpPr>
            <p:spPr bwMode="auto">
              <a:xfrm>
                <a:off x="11425237" y="2452689"/>
                <a:ext cx="449262" cy="506413"/>
              </a:xfrm>
              <a:custGeom>
                <a:avLst/>
                <a:gdLst>
                  <a:gd name="T0" fmla="*/ 0 w 283"/>
                  <a:gd name="T1" fmla="*/ 89 h 319"/>
                  <a:gd name="T2" fmla="*/ 193 w 283"/>
                  <a:gd name="T3" fmla="*/ 159 h 319"/>
                  <a:gd name="T4" fmla="*/ 0 w 283"/>
                  <a:gd name="T5" fmla="*/ 229 h 319"/>
                  <a:gd name="T6" fmla="*/ 0 w 283"/>
                  <a:gd name="T7" fmla="*/ 319 h 319"/>
                  <a:gd name="T8" fmla="*/ 283 w 283"/>
                  <a:gd name="T9" fmla="*/ 202 h 319"/>
                  <a:gd name="T10" fmla="*/ 283 w 283"/>
                  <a:gd name="T11" fmla="*/ 117 h 319"/>
                  <a:gd name="T12" fmla="*/ 0 w 283"/>
                  <a:gd name="T13" fmla="*/ 0 h 319"/>
                  <a:gd name="T14" fmla="*/ 0 w 283"/>
                  <a:gd name="T15" fmla="*/ 89 h 3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319">
                    <a:moveTo>
                      <a:pt x="0" y="89"/>
                    </a:moveTo>
                    <a:lnTo>
                      <a:pt x="193" y="159"/>
                    </a:lnTo>
                    <a:lnTo>
                      <a:pt x="0" y="229"/>
                    </a:lnTo>
                    <a:lnTo>
                      <a:pt x="0" y="319"/>
                    </a:lnTo>
                    <a:lnTo>
                      <a:pt x="283" y="202"/>
                    </a:lnTo>
                    <a:lnTo>
                      <a:pt x="283" y="117"/>
                    </a:lnTo>
                    <a:lnTo>
                      <a:pt x="0" y="0"/>
                    </a:lnTo>
                    <a:lnTo>
                      <a:pt x="0" y="8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0" name="Freeform 8">
                <a:extLst>
                  <a:ext uri="{FF2B5EF4-FFF2-40B4-BE49-F238E27FC236}">
                    <a16:creationId xmlns:a16="http://schemas.microsoft.com/office/drawing/2014/main" id="{49854997-23FD-4E3C-82E8-D973E90ABF35}"/>
                  </a:ext>
                </a:extLst>
              </p:cNvPr>
              <p:cNvSpPr>
                <a:spLocks noEditPoints="1"/>
              </p:cNvSpPr>
              <p:nvPr userDrawn="1"/>
            </p:nvSpPr>
            <p:spPr bwMode="auto">
              <a:xfrm>
                <a:off x="11418887" y="3968751"/>
                <a:ext cx="463550" cy="471488"/>
              </a:xfrm>
              <a:custGeom>
                <a:avLst/>
                <a:gdLst>
                  <a:gd name="T0" fmla="*/ 167 w 243"/>
                  <a:gd name="T1" fmla="*/ 46 h 246"/>
                  <a:gd name="T2" fmla="*/ 192 w 243"/>
                  <a:gd name="T3" fmla="*/ 113 h 246"/>
                  <a:gd name="T4" fmla="*/ 173 w 243"/>
                  <a:gd name="T5" fmla="*/ 165 h 246"/>
                  <a:gd name="T6" fmla="*/ 104 w 243"/>
                  <a:gd name="T7" fmla="*/ 0 h 246"/>
                  <a:gd name="T8" fmla="*/ 39 w 243"/>
                  <a:gd name="T9" fmla="*/ 28 h 246"/>
                  <a:gd name="T10" fmla="*/ 0 w 243"/>
                  <a:gd name="T11" fmla="*/ 121 h 246"/>
                  <a:gd name="T12" fmla="*/ 122 w 243"/>
                  <a:gd name="T13" fmla="*/ 246 h 246"/>
                  <a:gd name="T14" fmla="*/ 243 w 243"/>
                  <a:gd name="T15" fmla="*/ 114 h 246"/>
                  <a:gd name="T16" fmla="*/ 198 w 243"/>
                  <a:gd name="T17" fmla="*/ 5 h 246"/>
                  <a:gd name="T18" fmla="*/ 167 w 243"/>
                  <a:gd name="T19" fmla="*/ 46 h 246"/>
                  <a:gd name="T20" fmla="*/ 75 w 243"/>
                  <a:gd name="T21" fmla="*/ 170 h 246"/>
                  <a:gd name="T22" fmla="*/ 51 w 243"/>
                  <a:gd name="T23" fmla="*/ 120 h 246"/>
                  <a:gd name="T24" fmla="*/ 84 w 243"/>
                  <a:gd name="T25" fmla="*/ 70 h 246"/>
                  <a:gd name="T26" fmla="*/ 131 w 243"/>
                  <a:gd name="T27" fmla="*/ 183 h 246"/>
                  <a:gd name="T28" fmla="*/ 75 w 243"/>
                  <a:gd name="T29" fmla="*/ 17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3" h="246">
                    <a:moveTo>
                      <a:pt x="167" y="46"/>
                    </a:moveTo>
                    <a:cubicBezTo>
                      <a:pt x="187" y="73"/>
                      <a:pt x="192" y="88"/>
                      <a:pt x="192" y="113"/>
                    </a:cubicBezTo>
                    <a:cubicBezTo>
                      <a:pt x="192" y="135"/>
                      <a:pt x="185" y="153"/>
                      <a:pt x="173" y="165"/>
                    </a:cubicBezTo>
                    <a:cubicBezTo>
                      <a:pt x="104" y="0"/>
                      <a:pt x="104" y="0"/>
                      <a:pt x="104" y="0"/>
                    </a:cubicBezTo>
                    <a:cubicBezTo>
                      <a:pt x="79" y="4"/>
                      <a:pt x="56" y="14"/>
                      <a:pt x="39" y="28"/>
                    </a:cubicBezTo>
                    <a:cubicBezTo>
                      <a:pt x="13" y="50"/>
                      <a:pt x="0" y="82"/>
                      <a:pt x="0" y="121"/>
                    </a:cubicBezTo>
                    <a:cubicBezTo>
                      <a:pt x="0" y="192"/>
                      <a:pt x="52" y="246"/>
                      <a:pt x="122" y="246"/>
                    </a:cubicBezTo>
                    <a:cubicBezTo>
                      <a:pt x="193" y="246"/>
                      <a:pt x="243" y="192"/>
                      <a:pt x="243" y="114"/>
                    </a:cubicBezTo>
                    <a:cubicBezTo>
                      <a:pt x="243" y="70"/>
                      <a:pt x="222" y="26"/>
                      <a:pt x="198" y="5"/>
                    </a:cubicBezTo>
                    <a:lnTo>
                      <a:pt x="167" y="46"/>
                    </a:lnTo>
                    <a:close/>
                    <a:moveTo>
                      <a:pt x="75" y="170"/>
                    </a:moveTo>
                    <a:cubicBezTo>
                      <a:pt x="60" y="159"/>
                      <a:pt x="51" y="141"/>
                      <a:pt x="51" y="120"/>
                    </a:cubicBezTo>
                    <a:cubicBezTo>
                      <a:pt x="51" y="97"/>
                      <a:pt x="65" y="79"/>
                      <a:pt x="84" y="70"/>
                    </a:cubicBezTo>
                    <a:cubicBezTo>
                      <a:pt x="131" y="183"/>
                      <a:pt x="131" y="183"/>
                      <a:pt x="131" y="183"/>
                    </a:cubicBezTo>
                    <a:cubicBezTo>
                      <a:pt x="107" y="186"/>
                      <a:pt x="88" y="180"/>
                      <a:pt x="75"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1" name="Freeform 9">
                <a:extLst>
                  <a:ext uri="{FF2B5EF4-FFF2-40B4-BE49-F238E27FC236}">
                    <a16:creationId xmlns:a16="http://schemas.microsoft.com/office/drawing/2014/main" id="{DFC48EA1-BF0E-478F-9540-C906E2ADBE10}"/>
                  </a:ext>
                </a:extLst>
              </p:cNvPr>
              <p:cNvSpPr>
                <a:spLocks/>
              </p:cNvSpPr>
              <p:nvPr userDrawn="1"/>
            </p:nvSpPr>
            <p:spPr bwMode="auto">
              <a:xfrm>
                <a:off x="11291887" y="4451351"/>
                <a:ext cx="582612" cy="404813"/>
              </a:xfrm>
              <a:custGeom>
                <a:avLst/>
                <a:gdLst>
                  <a:gd name="T0" fmla="*/ 296 w 367"/>
                  <a:gd name="T1" fmla="*/ 0 h 255"/>
                  <a:gd name="T2" fmla="*/ 296 w 367"/>
                  <a:gd name="T3" fmla="*/ 177 h 255"/>
                  <a:gd name="T4" fmla="*/ 0 w 367"/>
                  <a:gd name="T5" fmla="*/ 177 h 255"/>
                  <a:gd name="T6" fmla="*/ 0 w 367"/>
                  <a:gd name="T7" fmla="*/ 255 h 255"/>
                  <a:gd name="T8" fmla="*/ 367 w 367"/>
                  <a:gd name="T9" fmla="*/ 255 h 255"/>
                  <a:gd name="T10" fmla="*/ 367 w 367"/>
                  <a:gd name="T11" fmla="*/ 0 h 255"/>
                  <a:gd name="T12" fmla="*/ 296 w 367"/>
                  <a:gd name="T13" fmla="*/ 0 h 255"/>
                </a:gdLst>
                <a:ahLst/>
                <a:cxnLst>
                  <a:cxn ang="0">
                    <a:pos x="T0" y="T1"/>
                  </a:cxn>
                  <a:cxn ang="0">
                    <a:pos x="T2" y="T3"/>
                  </a:cxn>
                  <a:cxn ang="0">
                    <a:pos x="T4" y="T5"/>
                  </a:cxn>
                  <a:cxn ang="0">
                    <a:pos x="T6" y="T7"/>
                  </a:cxn>
                  <a:cxn ang="0">
                    <a:pos x="T8" y="T9"/>
                  </a:cxn>
                  <a:cxn ang="0">
                    <a:pos x="T10" y="T11"/>
                  </a:cxn>
                  <a:cxn ang="0">
                    <a:pos x="T12" y="T13"/>
                  </a:cxn>
                </a:cxnLst>
                <a:rect l="0" t="0" r="r" b="b"/>
                <a:pathLst>
                  <a:path w="367" h="255">
                    <a:moveTo>
                      <a:pt x="296" y="0"/>
                    </a:moveTo>
                    <a:lnTo>
                      <a:pt x="296" y="177"/>
                    </a:lnTo>
                    <a:lnTo>
                      <a:pt x="0" y="177"/>
                    </a:lnTo>
                    <a:lnTo>
                      <a:pt x="0" y="255"/>
                    </a:lnTo>
                    <a:lnTo>
                      <a:pt x="367" y="255"/>
                    </a:lnTo>
                    <a:lnTo>
                      <a:pt x="367" y="0"/>
                    </a:lnTo>
                    <a:lnTo>
                      <a:pt x="2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2" name="Freeform 10">
                <a:extLst>
                  <a:ext uri="{FF2B5EF4-FFF2-40B4-BE49-F238E27FC236}">
                    <a16:creationId xmlns:a16="http://schemas.microsoft.com/office/drawing/2014/main" id="{66D58043-225E-4AF1-86C5-EAC10AA263B5}"/>
                  </a:ext>
                </a:extLst>
              </p:cNvPr>
              <p:cNvSpPr>
                <a:spLocks noEditPoints="1"/>
              </p:cNvSpPr>
              <p:nvPr userDrawn="1"/>
            </p:nvSpPr>
            <p:spPr bwMode="auto">
              <a:xfrm>
                <a:off x="11418887" y="1987551"/>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3" name="Freeform 11">
                <a:extLst>
                  <a:ext uri="{FF2B5EF4-FFF2-40B4-BE49-F238E27FC236}">
                    <a16:creationId xmlns:a16="http://schemas.microsoft.com/office/drawing/2014/main" id="{3EDD390D-BF7B-4689-9B90-0E8DC4C75E16}"/>
                  </a:ext>
                </a:extLst>
              </p:cNvPr>
              <p:cNvSpPr>
                <a:spLocks noEditPoints="1"/>
              </p:cNvSpPr>
              <p:nvPr userDrawn="1"/>
            </p:nvSpPr>
            <p:spPr bwMode="auto">
              <a:xfrm>
                <a:off x="11418887" y="2938464"/>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grpSp>
    </p:spTree>
    <p:extLst>
      <p:ext uri="{BB962C8B-B14F-4D97-AF65-F5344CB8AC3E}">
        <p14:creationId xmlns:p14="http://schemas.microsoft.com/office/powerpoint/2010/main" val="1392854849"/>
      </p:ext>
    </p:extLst>
  </p:cSld>
  <p:clrMapOvr>
    <a:masterClrMapping/>
  </p:clrMapOvr>
  <p:transition spd="med"/>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userDrawn="1">
  <p:cSld name="Section Header_KO1">
    <p:bg>
      <p:bgPr>
        <a:solidFill>
          <a:schemeClr val="tx1"/>
        </a:solidFill>
        <a:effectLst/>
      </p:bgPr>
    </p:bg>
    <p:spTree>
      <p:nvGrpSpPr>
        <p:cNvPr id="1" name=""/>
        <p:cNvGrpSpPr/>
        <p:nvPr/>
      </p:nvGrpSpPr>
      <p:grpSpPr>
        <a:xfrm>
          <a:off x="0" y="0"/>
          <a:ext cx="0" cy="0"/>
          <a:chOff x="0" y="0"/>
          <a:chExt cx="0" cy="0"/>
        </a:xfrm>
      </p:grpSpPr>
      <p:pic>
        <p:nvPicPr>
          <p:cNvPr id="4" name="圖片 3">
            <a:extLst>
              <a:ext uri="{FF2B5EF4-FFF2-40B4-BE49-F238E27FC236}">
                <a16:creationId xmlns:a16="http://schemas.microsoft.com/office/drawing/2014/main" id="{B91160EA-2565-5C4E-A8AC-934E5A0FA72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1" y="0"/>
            <a:ext cx="12188708" cy="6858000"/>
          </a:xfrm>
          <a:prstGeom prst="rect">
            <a:avLst/>
          </a:prstGeom>
        </p:spPr>
      </p:pic>
      <p:sp>
        <p:nvSpPr>
          <p:cNvPr id="23" name="Rectangle 15">
            <a:extLst>
              <a:ext uri="{FF2B5EF4-FFF2-40B4-BE49-F238E27FC236}">
                <a16:creationId xmlns:a16="http://schemas.microsoft.com/office/drawing/2014/main" id="{557AE5CC-D97B-8441-9DBD-855CE997C8AE}"/>
              </a:ext>
            </a:extLst>
          </p:cNvPr>
          <p:cNvSpPr/>
          <p:nvPr userDrawn="1"/>
        </p:nvSpPr>
        <p:spPr>
          <a:xfrm>
            <a:off x="2251" y="897"/>
            <a:ext cx="12192000" cy="6856213"/>
          </a:xfrm>
          <a:prstGeom prst="rect">
            <a:avLst/>
          </a:prstGeom>
          <a:gradFill>
            <a:gsLst>
              <a:gs pos="100000">
                <a:schemeClr val="bg2">
                  <a:alpha val="0"/>
                </a:schemeClr>
              </a:gs>
              <a:gs pos="8000">
                <a:schemeClr val="tx1">
                  <a:alpha val="47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7"/>
          </a:p>
        </p:txBody>
      </p:sp>
      <p:grpSp>
        <p:nvGrpSpPr>
          <p:cNvPr id="17" name="Group 16"/>
          <p:cNvGrpSpPr/>
          <p:nvPr/>
        </p:nvGrpSpPr>
        <p:grpSpPr>
          <a:xfrm>
            <a:off x="8758816" y="3448226"/>
            <a:ext cx="3429893" cy="3429000"/>
            <a:chOff x="6728604" y="-1"/>
            <a:chExt cx="6728604" cy="6831181"/>
          </a:xfrm>
          <a:solidFill>
            <a:srgbClr val="4CC2E2">
              <a:alpha val="30000"/>
            </a:srgbClr>
          </a:solidFill>
        </p:grpSpPr>
        <p:sp>
          <p:nvSpPr>
            <p:cNvPr id="21" name="Freeform 5"/>
            <p:cNvSpPr>
              <a:spLocks/>
            </p:cNvSpPr>
            <p:nvPr/>
          </p:nvSpPr>
          <p:spPr bwMode="auto">
            <a:xfrm>
              <a:off x="6728604" y="-1"/>
              <a:ext cx="6728604" cy="6831181"/>
            </a:xfrm>
            <a:custGeom>
              <a:avLst/>
              <a:gdLst>
                <a:gd name="T0" fmla="*/ 328 w 328"/>
                <a:gd name="T1" fmla="*/ 333 h 333"/>
                <a:gd name="T2" fmla="*/ 328 w 328"/>
                <a:gd name="T3" fmla="*/ 333 h 333"/>
                <a:gd name="T4" fmla="*/ 328 w 328"/>
                <a:gd name="T5" fmla="*/ 0 h 333"/>
                <a:gd name="T6" fmla="*/ 0 w 328"/>
                <a:gd name="T7" fmla="*/ 0 h 333"/>
                <a:gd name="T8" fmla="*/ 0 w 328"/>
                <a:gd name="T9" fmla="*/ 0 h 333"/>
                <a:gd name="T10" fmla="*/ 328 w 328"/>
                <a:gd name="T11" fmla="*/ 333 h 333"/>
              </a:gdLst>
              <a:ahLst/>
              <a:cxnLst>
                <a:cxn ang="0">
                  <a:pos x="T0" y="T1"/>
                </a:cxn>
                <a:cxn ang="0">
                  <a:pos x="T2" y="T3"/>
                </a:cxn>
                <a:cxn ang="0">
                  <a:pos x="T4" y="T5"/>
                </a:cxn>
                <a:cxn ang="0">
                  <a:pos x="T6" y="T7"/>
                </a:cxn>
                <a:cxn ang="0">
                  <a:pos x="T8" y="T9"/>
                </a:cxn>
                <a:cxn ang="0">
                  <a:pos x="T10" y="T11"/>
                </a:cxn>
              </a:cxnLst>
              <a:rect l="0" t="0" r="r" b="b"/>
              <a:pathLst>
                <a:path w="328" h="333">
                  <a:moveTo>
                    <a:pt x="328" y="333"/>
                  </a:moveTo>
                  <a:lnTo>
                    <a:pt x="328" y="333"/>
                  </a:lnTo>
                  <a:lnTo>
                    <a:pt x="328" y="0"/>
                  </a:lnTo>
                  <a:lnTo>
                    <a:pt x="0" y="0"/>
                  </a:lnTo>
                  <a:lnTo>
                    <a:pt x="0" y="0"/>
                  </a:lnTo>
                  <a:lnTo>
                    <a:pt x="328" y="3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22" name="Freeform 6"/>
            <p:cNvSpPr>
              <a:spLocks/>
            </p:cNvSpPr>
            <p:nvPr/>
          </p:nvSpPr>
          <p:spPr bwMode="auto">
            <a:xfrm>
              <a:off x="6728604" y="3405332"/>
              <a:ext cx="3384816" cy="3425848"/>
            </a:xfrm>
            <a:custGeom>
              <a:avLst/>
              <a:gdLst>
                <a:gd name="T0" fmla="*/ 0 w 165"/>
                <a:gd name="T1" fmla="*/ 0 h 167"/>
                <a:gd name="T2" fmla="*/ 0 w 165"/>
                <a:gd name="T3" fmla="*/ 0 h 167"/>
                <a:gd name="T4" fmla="*/ 0 w 165"/>
                <a:gd name="T5" fmla="*/ 167 h 167"/>
                <a:gd name="T6" fmla="*/ 165 w 165"/>
                <a:gd name="T7" fmla="*/ 167 h 167"/>
                <a:gd name="T8" fmla="*/ 165 w 165"/>
                <a:gd name="T9" fmla="*/ 167 h 167"/>
                <a:gd name="T10" fmla="*/ 0 w 165"/>
                <a:gd name="T11" fmla="*/ 0 h 167"/>
              </a:gdLst>
              <a:ahLst/>
              <a:cxnLst>
                <a:cxn ang="0">
                  <a:pos x="T0" y="T1"/>
                </a:cxn>
                <a:cxn ang="0">
                  <a:pos x="T2" y="T3"/>
                </a:cxn>
                <a:cxn ang="0">
                  <a:pos x="T4" y="T5"/>
                </a:cxn>
                <a:cxn ang="0">
                  <a:pos x="T6" y="T7"/>
                </a:cxn>
                <a:cxn ang="0">
                  <a:pos x="T8" y="T9"/>
                </a:cxn>
                <a:cxn ang="0">
                  <a:pos x="T10" y="T11"/>
                </a:cxn>
              </a:cxnLst>
              <a:rect l="0" t="0" r="r" b="b"/>
              <a:pathLst>
                <a:path w="165" h="167">
                  <a:moveTo>
                    <a:pt x="0" y="0"/>
                  </a:moveTo>
                  <a:lnTo>
                    <a:pt x="0" y="0"/>
                  </a:lnTo>
                  <a:lnTo>
                    <a:pt x="0" y="167"/>
                  </a:lnTo>
                  <a:lnTo>
                    <a:pt x="165" y="167"/>
                  </a:lnTo>
                  <a:lnTo>
                    <a:pt x="165" y="167"/>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grpSp>
      <p:grpSp>
        <p:nvGrpSpPr>
          <p:cNvPr id="18" name="Group 17"/>
          <p:cNvGrpSpPr/>
          <p:nvPr/>
        </p:nvGrpSpPr>
        <p:grpSpPr>
          <a:xfrm>
            <a:off x="5328926" y="19226"/>
            <a:ext cx="3429893" cy="3429000"/>
            <a:chOff x="0" y="-1"/>
            <a:chExt cx="6728604" cy="6831181"/>
          </a:xfrm>
          <a:solidFill>
            <a:srgbClr val="4CC2E2">
              <a:alpha val="30000"/>
            </a:srgbClr>
          </a:solidFill>
        </p:grpSpPr>
        <p:sp>
          <p:nvSpPr>
            <p:cNvPr id="19" name="Freeform 7"/>
            <p:cNvSpPr>
              <a:spLocks/>
            </p:cNvSpPr>
            <p:nvPr/>
          </p:nvSpPr>
          <p:spPr bwMode="auto">
            <a:xfrm>
              <a:off x="0" y="-1"/>
              <a:ext cx="3343788" cy="6831181"/>
            </a:xfrm>
            <a:custGeom>
              <a:avLst/>
              <a:gdLst>
                <a:gd name="T0" fmla="*/ 120 w 120"/>
                <a:gd name="T1" fmla="*/ 121 h 242"/>
                <a:gd name="T2" fmla="*/ 0 w 120"/>
                <a:gd name="T3" fmla="*/ 242 h 242"/>
                <a:gd name="T4" fmla="*/ 0 w 120"/>
                <a:gd name="T5" fmla="*/ 0 h 242"/>
                <a:gd name="T6" fmla="*/ 120 w 120"/>
                <a:gd name="T7" fmla="*/ 121 h 242"/>
              </a:gdLst>
              <a:ahLst/>
              <a:cxnLst>
                <a:cxn ang="0">
                  <a:pos x="T0" y="T1"/>
                </a:cxn>
                <a:cxn ang="0">
                  <a:pos x="T2" y="T3"/>
                </a:cxn>
                <a:cxn ang="0">
                  <a:pos x="T4" y="T5"/>
                </a:cxn>
                <a:cxn ang="0">
                  <a:pos x="T6" y="T7"/>
                </a:cxn>
              </a:cxnLst>
              <a:rect l="0" t="0" r="r" b="b"/>
              <a:pathLst>
                <a:path w="120" h="242">
                  <a:moveTo>
                    <a:pt x="120" y="121"/>
                  </a:moveTo>
                  <a:cubicBezTo>
                    <a:pt x="120" y="188"/>
                    <a:pt x="66" y="242"/>
                    <a:pt x="0" y="242"/>
                  </a:cubicBezTo>
                  <a:cubicBezTo>
                    <a:pt x="0" y="0"/>
                    <a:pt x="0" y="0"/>
                    <a:pt x="0" y="0"/>
                  </a:cubicBezTo>
                  <a:cubicBezTo>
                    <a:pt x="66" y="0"/>
                    <a:pt x="120" y="54"/>
                    <a:pt x="120"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20" name="Freeform 8"/>
            <p:cNvSpPr>
              <a:spLocks/>
            </p:cNvSpPr>
            <p:nvPr/>
          </p:nvSpPr>
          <p:spPr bwMode="auto">
            <a:xfrm>
              <a:off x="3343788" y="-1"/>
              <a:ext cx="3384816" cy="6831181"/>
            </a:xfrm>
            <a:custGeom>
              <a:avLst/>
              <a:gdLst>
                <a:gd name="T0" fmla="*/ 121 w 121"/>
                <a:gd name="T1" fmla="*/ 0 h 242"/>
                <a:gd name="T2" fmla="*/ 121 w 121"/>
                <a:gd name="T3" fmla="*/ 242 h 242"/>
                <a:gd name="T4" fmla="*/ 0 w 121"/>
                <a:gd name="T5" fmla="*/ 121 h 242"/>
                <a:gd name="T6" fmla="*/ 121 w 121"/>
                <a:gd name="T7" fmla="*/ 0 h 242"/>
              </a:gdLst>
              <a:ahLst/>
              <a:cxnLst>
                <a:cxn ang="0">
                  <a:pos x="T0" y="T1"/>
                </a:cxn>
                <a:cxn ang="0">
                  <a:pos x="T2" y="T3"/>
                </a:cxn>
                <a:cxn ang="0">
                  <a:pos x="T4" y="T5"/>
                </a:cxn>
                <a:cxn ang="0">
                  <a:pos x="T6" y="T7"/>
                </a:cxn>
              </a:cxnLst>
              <a:rect l="0" t="0" r="r" b="b"/>
              <a:pathLst>
                <a:path w="121" h="242">
                  <a:moveTo>
                    <a:pt x="121" y="0"/>
                  </a:moveTo>
                  <a:cubicBezTo>
                    <a:pt x="121" y="242"/>
                    <a:pt x="121" y="242"/>
                    <a:pt x="121" y="242"/>
                  </a:cubicBezTo>
                  <a:cubicBezTo>
                    <a:pt x="54" y="242"/>
                    <a:pt x="0" y="188"/>
                    <a:pt x="0" y="121"/>
                  </a:cubicBezTo>
                  <a:cubicBezTo>
                    <a:pt x="0" y="54"/>
                    <a:pt x="54" y="0"/>
                    <a:pt x="1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grpSp>
      <p:sp>
        <p:nvSpPr>
          <p:cNvPr id="51" name="Slide Number Placeholder 5"/>
          <p:cNvSpPr>
            <a:spLocks noGrp="1"/>
          </p:cNvSpPr>
          <p:nvPr userDrawn="1">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5" name="TextBox 74"/>
          <p:cNvSpPr txBox="1"/>
          <p:nvPr userDrawn="1"/>
        </p:nvSpPr>
        <p:spPr>
          <a:xfrm>
            <a:off x="548783"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2025 Lenovo Internal. All rights reserved.</a:t>
            </a:r>
          </a:p>
        </p:txBody>
      </p:sp>
      <p:sp>
        <p:nvSpPr>
          <p:cNvPr id="11" name="Text Placeholder 2"/>
          <p:cNvSpPr>
            <a:spLocks noGrp="1"/>
          </p:cNvSpPr>
          <p:nvPr userDrawn="1">
            <p:ph type="body" idx="1" hasCustomPrompt="1"/>
          </p:nvPr>
        </p:nvSpPr>
        <p:spPr bwMode="white">
          <a:xfrm>
            <a:off x="548783" y="3999750"/>
            <a:ext cx="9960410" cy="462018"/>
          </a:xfrm>
          <a:prstGeom prst="rect">
            <a:avLst/>
          </a:prstGeom>
        </p:spPr>
        <p:txBody>
          <a:bodyPr lIns="0" tIns="0" rIns="0" bIns="0"/>
          <a:lstStyle>
            <a:lvl1pPr marL="0" indent="0">
              <a:lnSpc>
                <a:spcPts val="2397"/>
              </a:lnSpc>
              <a:spcBef>
                <a:spcPts val="0"/>
              </a:spcBef>
              <a:buNone/>
              <a:defRPr sz="2497" spc="0" baseline="0">
                <a:solidFill>
                  <a:schemeClr val="accent2"/>
                </a:solidFill>
              </a:defRPr>
            </a:lvl1pPr>
            <a:lvl2pPr marL="456789" indent="0">
              <a:buNone/>
              <a:defRPr sz="1997">
                <a:solidFill>
                  <a:schemeClr val="tx1">
                    <a:tint val="75000"/>
                  </a:schemeClr>
                </a:solidFill>
              </a:defRPr>
            </a:lvl2pPr>
            <a:lvl3pPr marL="913578" indent="0">
              <a:buNone/>
              <a:defRPr sz="1797">
                <a:solidFill>
                  <a:schemeClr val="tx1">
                    <a:tint val="75000"/>
                  </a:schemeClr>
                </a:solidFill>
              </a:defRPr>
            </a:lvl3pPr>
            <a:lvl4pPr marL="1370367" indent="0">
              <a:buNone/>
              <a:defRPr sz="1600">
                <a:solidFill>
                  <a:schemeClr val="tx1">
                    <a:tint val="75000"/>
                  </a:schemeClr>
                </a:solidFill>
              </a:defRPr>
            </a:lvl4pPr>
            <a:lvl5pPr marL="1827155" indent="0">
              <a:buNone/>
              <a:defRPr sz="1600">
                <a:solidFill>
                  <a:schemeClr val="tx1">
                    <a:tint val="75000"/>
                  </a:schemeClr>
                </a:solidFill>
              </a:defRPr>
            </a:lvl5pPr>
            <a:lvl6pPr marL="2283943" indent="0">
              <a:buNone/>
              <a:defRPr sz="1600">
                <a:solidFill>
                  <a:schemeClr val="tx1">
                    <a:tint val="75000"/>
                  </a:schemeClr>
                </a:solidFill>
              </a:defRPr>
            </a:lvl6pPr>
            <a:lvl7pPr marL="2740732" indent="0">
              <a:buNone/>
              <a:defRPr sz="1600">
                <a:solidFill>
                  <a:schemeClr val="tx1">
                    <a:tint val="75000"/>
                  </a:schemeClr>
                </a:solidFill>
              </a:defRPr>
            </a:lvl7pPr>
            <a:lvl8pPr marL="3197520" indent="0">
              <a:buNone/>
              <a:defRPr sz="1600">
                <a:solidFill>
                  <a:schemeClr val="tx1">
                    <a:tint val="75000"/>
                  </a:schemeClr>
                </a:solidFill>
              </a:defRPr>
            </a:lvl8pPr>
            <a:lvl9pPr marL="3654309" indent="0">
              <a:buNone/>
              <a:defRPr sz="1600">
                <a:solidFill>
                  <a:schemeClr val="tx1">
                    <a:tint val="75000"/>
                  </a:schemeClr>
                </a:solidFill>
              </a:defRPr>
            </a:lvl9pPr>
          </a:lstStyle>
          <a:p>
            <a:pPr lvl="0"/>
            <a:r>
              <a:rPr lang="en-US"/>
              <a:t>Subhead here</a:t>
            </a:r>
          </a:p>
        </p:txBody>
      </p:sp>
      <p:grpSp>
        <p:nvGrpSpPr>
          <p:cNvPr id="119" name="Group 118"/>
          <p:cNvGrpSpPr>
            <a:grpSpLocks noChangeAspect="1"/>
          </p:cNvGrpSpPr>
          <p:nvPr userDrawn="1"/>
        </p:nvGrpSpPr>
        <p:grpSpPr>
          <a:xfrm rot="16200000">
            <a:off x="10143517" y="2413288"/>
            <a:ext cx="3070226" cy="1026741"/>
            <a:chOff x="3900488" y="595313"/>
            <a:chExt cx="5830888" cy="1949450"/>
          </a:xfrm>
        </p:grpSpPr>
        <p:sp>
          <p:nvSpPr>
            <p:cNvPr id="120" name="Rectangle 50"/>
            <p:cNvSpPr>
              <a:spLocks noChangeArrowheads="1"/>
            </p:cNvSpPr>
            <p:nvPr userDrawn="1"/>
          </p:nvSpPr>
          <p:spPr bwMode="auto">
            <a:xfrm>
              <a:off x="3900488" y="595313"/>
              <a:ext cx="5830888" cy="1949450"/>
            </a:xfrm>
            <a:prstGeom prst="rect">
              <a:avLst/>
            </a:prstGeom>
            <a:solidFill>
              <a:srgbClr val="F36C2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1" name="Freeform 51"/>
            <p:cNvSpPr>
              <a:spLocks/>
            </p:cNvSpPr>
            <p:nvPr userDrawn="1"/>
          </p:nvSpPr>
          <p:spPr bwMode="auto">
            <a:xfrm>
              <a:off x="5991226" y="1252538"/>
              <a:ext cx="752475" cy="762000"/>
            </a:xfrm>
            <a:custGeom>
              <a:avLst/>
              <a:gdLst>
                <a:gd name="T0" fmla="*/ 493 w 826"/>
                <a:gd name="T1" fmla="*/ 0 h 834"/>
                <a:gd name="T2" fmla="*/ 225 w 826"/>
                <a:gd name="T3" fmla="*/ 131 h 834"/>
                <a:gd name="T4" fmla="*/ 225 w 826"/>
                <a:gd name="T5" fmla="*/ 131 h 834"/>
                <a:gd name="T6" fmla="*/ 225 w 826"/>
                <a:gd name="T7" fmla="*/ 131 h 834"/>
                <a:gd name="T8" fmla="*/ 225 w 826"/>
                <a:gd name="T9" fmla="*/ 13 h 834"/>
                <a:gd name="T10" fmla="*/ 0 w 826"/>
                <a:gd name="T11" fmla="*/ 13 h 834"/>
                <a:gd name="T12" fmla="*/ 0 w 826"/>
                <a:gd name="T13" fmla="*/ 834 h 834"/>
                <a:gd name="T14" fmla="*/ 225 w 826"/>
                <a:gd name="T15" fmla="*/ 834 h 834"/>
                <a:gd name="T16" fmla="*/ 225 w 826"/>
                <a:gd name="T17" fmla="*/ 367 h 834"/>
                <a:gd name="T18" fmla="*/ 411 w 826"/>
                <a:gd name="T19" fmla="*/ 194 h 834"/>
                <a:gd name="T20" fmla="*/ 601 w 826"/>
                <a:gd name="T21" fmla="*/ 367 h 834"/>
                <a:gd name="T22" fmla="*/ 601 w 826"/>
                <a:gd name="T23" fmla="*/ 834 h 834"/>
                <a:gd name="T24" fmla="*/ 826 w 826"/>
                <a:gd name="T25" fmla="*/ 834 h 834"/>
                <a:gd name="T26" fmla="*/ 826 w 826"/>
                <a:gd name="T27" fmla="*/ 325 h 834"/>
                <a:gd name="T28" fmla="*/ 493 w 826"/>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6" h="834">
                  <a:moveTo>
                    <a:pt x="493" y="0"/>
                  </a:moveTo>
                  <a:cubicBezTo>
                    <a:pt x="398" y="0"/>
                    <a:pt x="291" y="43"/>
                    <a:pt x="225" y="131"/>
                  </a:cubicBezTo>
                  <a:cubicBezTo>
                    <a:pt x="225" y="131"/>
                    <a:pt x="225" y="131"/>
                    <a:pt x="225" y="131"/>
                  </a:cubicBezTo>
                  <a:cubicBezTo>
                    <a:pt x="225" y="131"/>
                    <a:pt x="225" y="131"/>
                    <a:pt x="225" y="131"/>
                  </a:cubicBezTo>
                  <a:cubicBezTo>
                    <a:pt x="225" y="13"/>
                    <a:pt x="225" y="13"/>
                    <a:pt x="225" y="13"/>
                  </a:cubicBezTo>
                  <a:cubicBezTo>
                    <a:pt x="0" y="13"/>
                    <a:pt x="0" y="13"/>
                    <a:pt x="0" y="13"/>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1" y="259"/>
                    <a:pt x="601" y="367"/>
                  </a:cubicBezTo>
                  <a:cubicBezTo>
                    <a:pt x="601" y="834"/>
                    <a:pt x="601" y="834"/>
                    <a:pt x="601" y="834"/>
                  </a:cubicBezTo>
                  <a:cubicBezTo>
                    <a:pt x="826" y="834"/>
                    <a:pt x="826" y="834"/>
                    <a:pt x="826" y="834"/>
                  </a:cubicBezTo>
                  <a:cubicBezTo>
                    <a:pt x="826" y="325"/>
                    <a:pt x="826" y="325"/>
                    <a:pt x="826" y="325"/>
                  </a:cubicBezTo>
                  <a:cubicBezTo>
                    <a:pt x="826" y="137"/>
                    <a:pt x="691" y="0"/>
                    <a:pt x="493"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2" name="Freeform 52"/>
            <p:cNvSpPr>
              <a:spLocks/>
            </p:cNvSpPr>
            <p:nvPr userDrawn="1"/>
          </p:nvSpPr>
          <p:spPr bwMode="auto">
            <a:xfrm>
              <a:off x="7599363" y="1263651"/>
              <a:ext cx="839788" cy="750888"/>
            </a:xfrm>
            <a:custGeom>
              <a:avLst/>
              <a:gdLst>
                <a:gd name="T0" fmla="*/ 381 w 529"/>
                <a:gd name="T1" fmla="*/ 0 h 473"/>
                <a:gd name="T2" fmla="*/ 264 w 529"/>
                <a:gd name="T3" fmla="*/ 323 h 473"/>
                <a:gd name="T4" fmla="*/ 147 w 529"/>
                <a:gd name="T5" fmla="*/ 0 h 473"/>
                <a:gd name="T6" fmla="*/ 0 w 529"/>
                <a:gd name="T7" fmla="*/ 0 h 473"/>
                <a:gd name="T8" fmla="*/ 193 w 529"/>
                <a:gd name="T9" fmla="*/ 473 h 473"/>
                <a:gd name="T10" fmla="*/ 335 w 529"/>
                <a:gd name="T11" fmla="*/ 473 h 473"/>
                <a:gd name="T12" fmla="*/ 529 w 529"/>
                <a:gd name="T13" fmla="*/ 0 h 473"/>
                <a:gd name="T14" fmla="*/ 381 w 529"/>
                <a:gd name="T15" fmla="*/ 0 h 4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9" h="473">
                  <a:moveTo>
                    <a:pt x="381" y="0"/>
                  </a:moveTo>
                  <a:lnTo>
                    <a:pt x="264" y="323"/>
                  </a:lnTo>
                  <a:lnTo>
                    <a:pt x="147" y="0"/>
                  </a:lnTo>
                  <a:lnTo>
                    <a:pt x="0" y="0"/>
                  </a:lnTo>
                  <a:lnTo>
                    <a:pt x="193" y="473"/>
                  </a:lnTo>
                  <a:lnTo>
                    <a:pt x="335" y="473"/>
                  </a:lnTo>
                  <a:lnTo>
                    <a:pt x="529" y="0"/>
                  </a:lnTo>
                  <a:lnTo>
                    <a:pt x="38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3" name="Freeform 53"/>
            <p:cNvSpPr>
              <a:spLocks noEditPoints="1"/>
            </p:cNvSpPr>
            <p:nvPr userDrawn="1"/>
          </p:nvSpPr>
          <p:spPr bwMode="auto">
            <a:xfrm>
              <a:off x="5137151" y="1252538"/>
              <a:ext cx="781050" cy="774700"/>
            </a:xfrm>
            <a:custGeom>
              <a:avLst/>
              <a:gdLst>
                <a:gd name="T0" fmla="*/ 699 w 858"/>
                <a:gd name="T1" fmla="*/ 582 h 848"/>
                <a:gd name="T2" fmla="*/ 463 w 858"/>
                <a:gd name="T3" fmla="*/ 669 h 848"/>
                <a:gd name="T4" fmla="*/ 281 w 858"/>
                <a:gd name="T5" fmla="*/ 602 h 848"/>
                <a:gd name="T6" fmla="*/ 858 w 858"/>
                <a:gd name="T7" fmla="*/ 363 h 848"/>
                <a:gd name="T8" fmla="*/ 759 w 858"/>
                <a:gd name="T9" fmla="*/ 134 h 848"/>
                <a:gd name="T10" fmla="*/ 435 w 858"/>
                <a:gd name="T11" fmla="*/ 0 h 848"/>
                <a:gd name="T12" fmla="*/ 0 w 858"/>
                <a:gd name="T13" fmla="*/ 424 h 848"/>
                <a:gd name="T14" fmla="*/ 460 w 858"/>
                <a:gd name="T15" fmla="*/ 848 h 848"/>
                <a:gd name="T16" fmla="*/ 841 w 858"/>
                <a:gd name="T17" fmla="*/ 692 h 848"/>
                <a:gd name="T18" fmla="*/ 699 w 858"/>
                <a:gd name="T19" fmla="*/ 582 h 848"/>
                <a:gd name="T20" fmla="*/ 266 w 858"/>
                <a:gd name="T21" fmla="*/ 261 h 848"/>
                <a:gd name="T22" fmla="*/ 439 w 858"/>
                <a:gd name="T23" fmla="*/ 179 h 848"/>
                <a:gd name="T24" fmla="*/ 614 w 858"/>
                <a:gd name="T25" fmla="*/ 294 h 848"/>
                <a:gd name="T26" fmla="*/ 220 w 858"/>
                <a:gd name="T27" fmla="*/ 457 h 848"/>
                <a:gd name="T28" fmla="*/ 266 w 858"/>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8" h="848">
                  <a:moveTo>
                    <a:pt x="699" y="582"/>
                  </a:moveTo>
                  <a:cubicBezTo>
                    <a:pt x="604" y="652"/>
                    <a:pt x="550" y="669"/>
                    <a:pt x="463" y="669"/>
                  </a:cubicBezTo>
                  <a:cubicBezTo>
                    <a:pt x="385" y="669"/>
                    <a:pt x="324" y="645"/>
                    <a:pt x="281" y="602"/>
                  </a:cubicBezTo>
                  <a:cubicBezTo>
                    <a:pt x="858" y="363"/>
                    <a:pt x="858" y="363"/>
                    <a:pt x="858" y="363"/>
                  </a:cubicBezTo>
                  <a:cubicBezTo>
                    <a:pt x="845" y="274"/>
                    <a:pt x="811" y="195"/>
                    <a:pt x="759" y="134"/>
                  </a:cubicBezTo>
                  <a:cubicBezTo>
                    <a:pt x="683" y="46"/>
                    <a:pt x="571" y="0"/>
                    <a:pt x="435" y="0"/>
                  </a:cubicBezTo>
                  <a:cubicBezTo>
                    <a:pt x="187" y="0"/>
                    <a:pt x="0" y="182"/>
                    <a:pt x="0" y="424"/>
                  </a:cubicBezTo>
                  <a:cubicBezTo>
                    <a:pt x="0" y="672"/>
                    <a:pt x="187" y="848"/>
                    <a:pt x="460" y="848"/>
                  </a:cubicBezTo>
                  <a:cubicBezTo>
                    <a:pt x="612" y="848"/>
                    <a:pt x="768" y="776"/>
                    <a:pt x="841" y="692"/>
                  </a:cubicBezTo>
                  <a:lnTo>
                    <a:pt x="699" y="582"/>
                  </a:lnTo>
                  <a:close/>
                  <a:moveTo>
                    <a:pt x="266" y="261"/>
                  </a:moveTo>
                  <a:cubicBezTo>
                    <a:pt x="304" y="209"/>
                    <a:pt x="365" y="179"/>
                    <a:pt x="439" y="179"/>
                  </a:cubicBezTo>
                  <a:cubicBezTo>
                    <a:pt x="520" y="179"/>
                    <a:pt x="582" y="225"/>
                    <a:pt x="614" y="294"/>
                  </a:cubicBezTo>
                  <a:cubicBezTo>
                    <a:pt x="220" y="457"/>
                    <a:pt x="220" y="457"/>
                    <a:pt x="220" y="457"/>
                  </a:cubicBezTo>
                  <a:cubicBezTo>
                    <a:pt x="209" y="373"/>
                    <a:pt x="231" y="308"/>
                    <a:pt x="266"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4" name="Freeform 54"/>
            <p:cNvSpPr>
              <a:spLocks/>
            </p:cNvSpPr>
            <p:nvPr userDrawn="1"/>
          </p:nvSpPr>
          <p:spPr bwMode="auto">
            <a:xfrm>
              <a:off x="4441826" y="1039813"/>
              <a:ext cx="676275" cy="974725"/>
            </a:xfrm>
            <a:custGeom>
              <a:avLst/>
              <a:gdLst>
                <a:gd name="T0" fmla="*/ 426 w 426"/>
                <a:gd name="T1" fmla="*/ 495 h 614"/>
                <a:gd name="T2" fmla="*/ 131 w 426"/>
                <a:gd name="T3" fmla="*/ 495 h 614"/>
                <a:gd name="T4" fmla="*/ 131 w 426"/>
                <a:gd name="T5" fmla="*/ 0 h 614"/>
                <a:gd name="T6" fmla="*/ 0 w 426"/>
                <a:gd name="T7" fmla="*/ 0 h 614"/>
                <a:gd name="T8" fmla="*/ 0 w 426"/>
                <a:gd name="T9" fmla="*/ 614 h 614"/>
                <a:gd name="T10" fmla="*/ 426 w 426"/>
                <a:gd name="T11" fmla="*/ 614 h 614"/>
                <a:gd name="T12" fmla="*/ 426 w 426"/>
                <a:gd name="T13" fmla="*/ 495 h 614"/>
              </a:gdLst>
              <a:ahLst/>
              <a:cxnLst>
                <a:cxn ang="0">
                  <a:pos x="T0" y="T1"/>
                </a:cxn>
                <a:cxn ang="0">
                  <a:pos x="T2" y="T3"/>
                </a:cxn>
                <a:cxn ang="0">
                  <a:pos x="T4" y="T5"/>
                </a:cxn>
                <a:cxn ang="0">
                  <a:pos x="T6" y="T7"/>
                </a:cxn>
                <a:cxn ang="0">
                  <a:pos x="T8" y="T9"/>
                </a:cxn>
                <a:cxn ang="0">
                  <a:pos x="T10" y="T11"/>
                </a:cxn>
                <a:cxn ang="0">
                  <a:pos x="T12" y="T13"/>
                </a:cxn>
              </a:cxnLst>
              <a:rect l="0" t="0" r="r" b="b"/>
              <a:pathLst>
                <a:path w="426" h="614">
                  <a:moveTo>
                    <a:pt x="426" y="495"/>
                  </a:moveTo>
                  <a:lnTo>
                    <a:pt x="131" y="495"/>
                  </a:lnTo>
                  <a:lnTo>
                    <a:pt x="131" y="0"/>
                  </a:lnTo>
                  <a:lnTo>
                    <a:pt x="0" y="0"/>
                  </a:lnTo>
                  <a:lnTo>
                    <a:pt x="0" y="614"/>
                  </a:lnTo>
                  <a:lnTo>
                    <a:pt x="426" y="614"/>
                  </a:lnTo>
                  <a:lnTo>
                    <a:pt x="426" y="4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5" name="Freeform 55"/>
            <p:cNvSpPr>
              <a:spLocks noEditPoints="1"/>
            </p:cNvSpPr>
            <p:nvPr userDrawn="1"/>
          </p:nvSpPr>
          <p:spPr bwMode="auto">
            <a:xfrm>
              <a:off x="8407401" y="1252538"/>
              <a:ext cx="803275" cy="774700"/>
            </a:xfrm>
            <a:custGeom>
              <a:avLst/>
              <a:gdLst>
                <a:gd name="T0" fmla="*/ 440 w 883"/>
                <a:gd name="T1" fmla="*/ 848 h 848"/>
                <a:gd name="T2" fmla="*/ 0 w 883"/>
                <a:gd name="T3" fmla="*/ 424 h 848"/>
                <a:gd name="T4" fmla="*/ 443 w 883"/>
                <a:gd name="T5" fmla="*/ 0 h 848"/>
                <a:gd name="T6" fmla="*/ 883 w 883"/>
                <a:gd name="T7" fmla="*/ 424 h 848"/>
                <a:gd name="T8" fmla="*/ 440 w 883"/>
                <a:gd name="T9" fmla="*/ 848 h 848"/>
                <a:gd name="T10" fmla="*/ 440 w 883"/>
                <a:gd name="T11" fmla="*/ 193 h 848"/>
                <a:gd name="T12" fmla="*/ 223 w 883"/>
                <a:gd name="T13" fmla="*/ 424 h 848"/>
                <a:gd name="T14" fmla="*/ 443 w 883"/>
                <a:gd name="T15" fmla="*/ 655 h 848"/>
                <a:gd name="T16" fmla="*/ 660 w 883"/>
                <a:gd name="T17" fmla="*/ 424 h 848"/>
                <a:gd name="T18" fmla="*/ 440 w 883"/>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848">
                  <a:moveTo>
                    <a:pt x="440" y="848"/>
                  </a:moveTo>
                  <a:cubicBezTo>
                    <a:pt x="193" y="848"/>
                    <a:pt x="0" y="665"/>
                    <a:pt x="0" y="424"/>
                  </a:cubicBezTo>
                  <a:cubicBezTo>
                    <a:pt x="0" y="186"/>
                    <a:pt x="195" y="0"/>
                    <a:pt x="443" y="0"/>
                  </a:cubicBezTo>
                  <a:cubicBezTo>
                    <a:pt x="690" y="0"/>
                    <a:pt x="883" y="183"/>
                    <a:pt x="883" y="424"/>
                  </a:cubicBezTo>
                  <a:cubicBezTo>
                    <a:pt x="883" y="662"/>
                    <a:pt x="688" y="848"/>
                    <a:pt x="440" y="848"/>
                  </a:cubicBezTo>
                  <a:moveTo>
                    <a:pt x="440" y="193"/>
                  </a:moveTo>
                  <a:cubicBezTo>
                    <a:pt x="314" y="193"/>
                    <a:pt x="223" y="288"/>
                    <a:pt x="223" y="424"/>
                  </a:cubicBezTo>
                  <a:cubicBezTo>
                    <a:pt x="223" y="554"/>
                    <a:pt x="320" y="655"/>
                    <a:pt x="443" y="655"/>
                  </a:cubicBezTo>
                  <a:cubicBezTo>
                    <a:pt x="569" y="655"/>
                    <a:pt x="660" y="557"/>
                    <a:pt x="660" y="424"/>
                  </a:cubicBezTo>
                  <a:cubicBezTo>
                    <a:pt x="660" y="294"/>
                    <a:pt x="564" y="193"/>
                    <a:pt x="440"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6" name="Freeform 56"/>
            <p:cNvSpPr>
              <a:spLocks noEditPoints="1"/>
            </p:cNvSpPr>
            <p:nvPr userDrawn="1"/>
          </p:nvSpPr>
          <p:spPr bwMode="auto">
            <a:xfrm>
              <a:off x="6824663" y="1252538"/>
              <a:ext cx="804863" cy="774700"/>
            </a:xfrm>
            <a:custGeom>
              <a:avLst/>
              <a:gdLst>
                <a:gd name="T0" fmla="*/ 440 w 883"/>
                <a:gd name="T1" fmla="*/ 848 h 848"/>
                <a:gd name="T2" fmla="*/ 0 w 883"/>
                <a:gd name="T3" fmla="*/ 424 h 848"/>
                <a:gd name="T4" fmla="*/ 443 w 883"/>
                <a:gd name="T5" fmla="*/ 0 h 848"/>
                <a:gd name="T6" fmla="*/ 883 w 883"/>
                <a:gd name="T7" fmla="*/ 424 h 848"/>
                <a:gd name="T8" fmla="*/ 440 w 883"/>
                <a:gd name="T9" fmla="*/ 848 h 848"/>
                <a:gd name="T10" fmla="*/ 440 w 883"/>
                <a:gd name="T11" fmla="*/ 193 h 848"/>
                <a:gd name="T12" fmla="*/ 223 w 883"/>
                <a:gd name="T13" fmla="*/ 424 h 848"/>
                <a:gd name="T14" fmla="*/ 443 w 883"/>
                <a:gd name="T15" fmla="*/ 655 h 848"/>
                <a:gd name="T16" fmla="*/ 661 w 883"/>
                <a:gd name="T17" fmla="*/ 424 h 848"/>
                <a:gd name="T18" fmla="*/ 440 w 883"/>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848">
                  <a:moveTo>
                    <a:pt x="440" y="848"/>
                  </a:moveTo>
                  <a:cubicBezTo>
                    <a:pt x="194" y="848"/>
                    <a:pt x="0" y="665"/>
                    <a:pt x="0" y="424"/>
                  </a:cubicBezTo>
                  <a:cubicBezTo>
                    <a:pt x="0" y="186"/>
                    <a:pt x="195" y="0"/>
                    <a:pt x="443" y="0"/>
                  </a:cubicBezTo>
                  <a:cubicBezTo>
                    <a:pt x="690" y="0"/>
                    <a:pt x="883" y="183"/>
                    <a:pt x="883" y="424"/>
                  </a:cubicBezTo>
                  <a:cubicBezTo>
                    <a:pt x="883" y="662"/>
                    <a:pt x="688" y="848"/>
                    <a:pt x="440" y="848"/>
                  </a:cubicBezTo>
                  <a:moveTo>
                    <a:pt x="440" y="193"/>
                  </a:moveTo>
                  <a:cubicBezTo>
                    <a:pt x="314" y="193"/>
                    <a:pt x="223" y="288"/>
                    <a:pt x="223" y="424"/>
                  </a:cubicBezTo>
                  <a:cubicBezTo>
                    <a:pt x="223" y="554"/>
                    <a:pt x="320" y="655"/>
                    <a:pt x="443" y="655"/>
                  </a:cubicBezTo>
                  <a:cubicBezTo>
                    <a:pt x="569" y="655"/>
                    <a:pt x="661" y="557"/>
                    <a:pt x="661" y="424"/>
                  </a:cubicBezTo>
                  <a:cubicBezTo>
                    <a:pt x="661" y="294"/>
                    <a:pt x="564" y="193"/>
                    <a:pt x="440"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grpSp>
      <p:sp>
        <p:nvSpPr>
          <p:cNvPr id="24" name="Title 16">
            <a:extLst>
              <a:ext uri="{FF2B5EF4-FFF2-40B4-BE49-F238E27FC236}">
                <a16:creationId xmlns:a16="http://schemas.microsoft.com/office/drawing/2014/main" id="{542F2901-56C5-6245-B188-570498220D2B}"/>
              </a:ext>
            </a:extLst>
          </p:cNvPr>
          <p:cNvSpPr>
            <a:spLocks noGrp="1"/>
          </p:cNvSpPr>
          <p:nvPr>
            <p:ph type="title" hasCustomPrompt="1"/>
          </p:nvPr>
        </p:nvSpPr>
        <p:spPr bwMode="gray">
          <a:xfrm>
            <a:off x="548782" y="1391550"/>
            <a:ext cx="9960410" cy="2405203"/>
          </a:xfrm>
          <a:prstGeom prst="rect">
            <a:avLst/>
          </a:prstGeom>
        </p:spPr>
        <p:txBody>
          <a:bodyPr lIns="0" tIns="0" rIns="0" bIns="0" anchor="b" anchorCtr="0"/>
          <a:lstStyle>
            <a:lvl1pPr marL="0" algn="l" defTabSz="1217890" rtl="0" eaLnBrk="1" latinLnBrk="0" hangingPunct="1">
              <a:lnSpc>
                <a:spcPts val="4997"/>
              </a:lnSpc>
              <a:spcBef>
                <a:spcPct val="0"/>
              </a:spcBef>
              <a:buNone/>
              <a:defRPr lang="en-US" sz="5994" b="1" kern="1200" cap="none" spc="-150" baseline="0" dirty="0">
                <a:solidFill>
                  <a:schemeClr val="bg1"/>
                </a:solidFill>
                <a:latin typeface="Arial" pitchFamily="34" charset="0"/>
                <a:ea typeface="+mn-ea"/>
                <a:cs typeface="Arial" pitchFamily="34" charset="0"/>
              </a:defRPr>
            </a:lvl1pPr>
          </a:lstStyle>
          <a:p>
            <a:r>
              <a:rPr lang="en-US"/>
              <a:t>Section Header</a:t>
            </a:r>
          </a:p>
        </p:txBody>
      </p:sp>
    </p:spTree>
    <p:extLst>
      <p:ext uri="{BB962C8B-B14F-4D97-AF65-F5344CB8AC3E}">
        <p14:creationId xmlns:p14="http://schemas.microsoft.com/office/powerpoint/2010/main" val="3007915470"/>
      </p:ext>
    </p:extLst>
  </p:cSld>
  <p:clrMapOvr>
    <a:masterClrMapping/>
  </p:clrMapOvr>
  <p:transition spd="med"/>
</p:sldLayout>
</file>

<file path=ppt/slideLayouts/slideLayout240.xml><?xml version="1.0" encoding="utf-8"?>
<p:sldLayout xmlns:a="http://schemas.openxmlformats.org/drawingml/2006/main" xmlns:r="http://schemas.openxmlformats.org/officeDocument/2006/relationships" xmlns:p="http://schemas.openxmlformats.org/presentationml/2006/main" userDrawn="1">
  <p:cSld name="Title Slide_Photo">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77432" y="-266700"/>
            <a:ext cx="12669432" cy="7124700"/>
          </a:xfrm>
          <a:prstGeom prst="rect">
            <a:avLst/>
          </a:prstGeom>
        </p:spPr>
      </p:pic>
      <p:sp>
        <p:nvSpPr>
          <p:cNvPr id="7" name="矩形 6"/>
          <p:cNvSpPr/>
          <p:nvPr userDrawn="1"/>
        </p:nvSpPr>
        <p:spPr>
          <a:xfrm>
            <a:off x="-477432" y="-266700"/>
            <a:ext cx="12669432" cy="7124700"/>
          </a:xfrm>
          <a:prstGeom prst="rect">
            <a:avLst/>
          </a:prstGeom>
          <a:solidFill>
            <a:schemeClr val="bg2">
              <a:lumMod val="75000"/>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98"/>
          </a:p>
        </p:txBody>
      </p:sp>
      <p:sp>
        <p:nvSpPr>
          <p:cNvPr id="18" name="Title 16"/>
          <p:cNvSpPr>
            <a:spLocks noGrp="1"/>
          </p:cNvSpPr>
          <p:nvPr>
            <p:ph type="title" hasCustomPrompt="1"/>
          </p:nvPr>
        </p:nvSpPr>
        <p:spPr bwMode="gray">
          <a:xfrm>
            <a:off x="548783" y="1437136"/>
            <a:ext cx="9962830" cy="3026868"/>
          </a:xfrm>
          <a:prstGeom prst="rect">
            <a:avLst/>
          </a:prstGeom>
        </p:spPr>
        <p:txBody>
          <a:bodyPr lIns="0" tIns="60949" rIns="121899" bIns="60949" anchor="b" anchorCtr="0"/>
          <a:lstStyle>
            <a:lvl1pPr marL="0" algn="l" defTabSz="1217834" rtl="0" eaLnBrk="1" latinLnBrk="0" hangingPunct="1">
              <a:lnSpc>
                <a:spcPts val="7496"/>
              </a:lnSpc>
              <a:spcBef>
                <a:spcPct val="0"/>
              </a:spcBef>
              <a:buNone/>
              <a:defRPr lang="en-US" sz="7196" b="1" kern="1200" cap="none" spc="-150" baseline="0" dirty="0">
                <a:solidFill>
                  <a:schemeClr val="bg1"/>
                </a:solidFill>
                <a:latin typeface="微软雅黑" panose="020B0502040204020203" pitchFamily="34" charset="-122"/>
                <a:ea typeface="微软雅黑" panose="020B0502040204020203" pitchFamily="34" charset="-122"/>
                <a:cs typeface="Arial" panose="020B0604020202020204" pitchFamily="34" charset="0"/>
              </a:defRPr>
            </a:lvl1pPr>
          </a:lstStyle>
          <a:p>
            <a:r>
              <a:rPr lang="zh-CN" altLang="en-US"/>
              <a:t>图片版</a:t>
            </a:r>
            <a:br>
              <a:rPr lang="en-US" altLang="zh-CN"/>
            </a:br>
            <a:r>
              <a:rPr lang="zh-CN" altLang="en-US"/>
              <a:t>演示标题</a:t>
            </a:r>
            <a:br>
              <a:rPr lang="en-US" altLang="zh-CN"/>
            </a:br>
            <a:r>
              <a:rPr lang="zh-CN" altLang="en-US"/>
              <a:t>区域</a:t>
            </a:r>
            <a:endParaRPr lang="en-US"/>
          </a:p>
        </p:txBody>
      </p:sp>
      <p:sp>
        <p:nvSpPr>
          <p:cNvPr id="19" name="Subtitle 2"/>
          <p:cNvSpPr>
            <a:spLocks noGrp="1"/>
          </p:cNvSpPr>
          <p:nvPr>
            <p:ph type="subTitle" idx="1" hasCustomPrompt="1"/>
          </p:nvPr>
        </p:nvSpPr>
        <p:spPr bwMode="gray">
          <a:xfrm>
            <a:off x="548783" y="5205790"/>
            <a:ext cx="9952388" cy="457200"/>
          </a:xfrm>
          <a:prstGeom prst="rect">
            <a:avLst/>
          </a:prstGeom>
        </p:spPr>
        <p:txBody>
          <a:bodyPr lIns="0" tIns="0" rIns="0" bIns="0" anchor="b" anchorCtr="0"/>
          <a:lstStyle>
            <a:lvl1pPr marL="0" indent="0" algn="l" defTabSz="1217834" rtl="0" eaLnBrk="1" latinLnBrk="0" hangingPunct="1">
              <a:lnSpc>
                <a:spcPct val="90000"/>
              </a:lnSpc>
              <a:spcBef>
                <a:spcPct val="0"/>
              </a:spcBef>
              <a:buNone/>
              <a:defRPr lang="en-US" sz="2598" b="0" kern="1200" cap="none" spc="0" baseline="0" dirty="0">
                <a:solidFill>
                  <a:schemeClr val="bg1"/>
                </a:solidFill>
                <a:latin typeface="微软雅黑" panose="020B0502040204020203" pitchFamily="34" charset="-122"/>
                <a:ea typeface="微软雅黑" panose="020B0502040204020203" pitchFamily="34" charset="-122"/>
                <a:cs typeface="Arial" panose="020B0604020202020204" pitchFamily="34" charset="0"/>
              </a:defRPr>
            </a:lvl1pPr>
            <a:lvl2pPr marL="609234" indent="0" algn="ctr">
              <a:buNone/>
              <a:defRPr>
                <a:solidFill>
                  <a:schemeClr val="tx1">
                    <a:tint val="75000"/>
                  </a:schemeClr>
                </a:solidFill>
              </a:defRPr>
            </a:lvl2pPr>
            <a:lvl3pPr marL="1218468" indent="0" algn="ctr">
              <a:buNone/>
              <a:defRPr>
                <a:solidFill>
                  <a:schemeClr val="tx1">
                    <a:tint val="75000"/>
                  </a:schemeClr>
                </a:solidFill>
              </a:defRPr>
            </a:lvl3pPr>
            <a:lvl4pPr marL="1827069" indent="0" algn="ctr">
              <a:buNone/>
              <a:defRPr>
                <a:solidFill>
                  <a:schemeClr val="tx1">
                    <a:tint val="75000"/>
                  </a:schemeClr>
                </a:solidFill>
              </a:defRPr>
            </a:lvl4pPr>
            <a:lvl5pPr marL="2436303" indent="0" algn="ctr">
              <a:buNone/>
              <a:defRPr>
                <a:solidFill>
                  <a:schemeClr val="tx1">
                    <a:tint val="75000"/>
                  </a:schemeClr>
                </a:solidFill>
              </a:defRPr>
            </a:lvl5pPr>
            <a:lvl6pPr marL="3045537" indent="0" algn="ctr">
              <a:buNone/>
              <a:defRPr>
                <a:solidFill>
                  <a:schemeClr val="tx1">
                    <a:tint val="75000"/>
                  </a:schemeClr>
                </a:solidFill>
              </a:defRPr>
            </a:lvl6pPr>
            <a:lvl7pPr marL="3654771" indent="0" algn="ctr">
              <a:buNone/>
              <a:defRPr>
                <a:solidFill>
                  <a:schemeClr val="tx1">
                    <a:tint val="75000"/>
                  </a:schemeClr>
                </a:solidFill>
              </a:defRPr>
            </a:lvl7pPr>
            <a:lvl8pPr marL="4264005" indent="0" algn="ctr">
              <a:buNone/>
              <a:defRPr>
                <a:solidFill>
                  <a:schemeClr val="tx1">
                    <a:tint val="75000"/>
                  </a:schemeClr>
                </a:solidFill>
              </a:defRPr>
            </a:lvl8pPr>
            <a:lvl9pPr marL="4873240" indent="0" algn="ctr">
              <a:buNone/>
              <a:defRPr>
                <a:solidFill>
                  <a:schemeClr val="tx1">
                    <a:tint val="75000"/>
                  </a:schemeClr>
                </a:solidFill>
              </a:defRPr>
            </a:lvl9pPr>
          </a:lstStyle>
          <a:p>
            <a:r>
              <a:rPr lang="zh-CN" altLang="en-US"/>
              <a:t>副标题注解区域</a:t>
            </a:r>
            <a:endParaRPr lang="en-US"/>
          </a:p>
        </p:txBody>
      </p:sp>
      <p:sp>
        <p:nvSpPr>
          <p:cNvPr id="11" name="Footer Placeholder 1"/>
          <p:cNvSpPr txBox="1"/>
          <p:nvPr userDrawn="1"/>
        </p:nvSpPr>
        <p:spPr>
          <a:xfrm>
            <a:off x="484652" y="6291017"/>
            <a:ext cx="2317663" cy="227518"/>
          </a:xfrm>
          <a:prstGeom prst="rect">
            <a:avLst/>
          </a:prstGeom>
        </p:spPr>
        <p:txBody>
          <a:bodyPr/>
          <a:lstStyle>
            <a:defPPr>
              <a:defRPr lang="en-US"/>
            </a:defPPr>
            <a:lvl1pPr marL="0" algn="l" defTabSz="1218565" rtl="0" eaLnBrk="1" latinLnBrk="0" hangingPunct="1">
              <a:defRPr sz="900" kern="1200">
                <a:solidFill>
                  <a:schemeClr val="bg1"/>
                </a:solidFill>
                <a:latin typeface="+mn-lt"/>
                <a:ea typeface="+mn-ea"/>
                <a:cs typeface="+mn-cs"/>
              </a:defRPr>
            </a:lvl1pPr>
            <a:lvl2pPr marL="609600" algn="l" defTabSz="1218565" rtl="0" eaLnBrk="1" latinLnBrk="0" hangingPunct="1">
              <a:defRPr sz="2400" kern="1200">
                <a:solidFill>
                  <a:schemeClr val="tx1"/>
                </a:solidFill>
                <a:latin typeface="+mn-lt"/>
                <a:ea typeface="+mn-ea"/>
                <a:cs typeface="+mn-cs"/>
              </a:defRPr>
            </a:lvl2pPr>
            <a:lvl3pPr marL="1219200" algn="l" defTabSz="1218565" rtl="0" eaLnBrk="1" latinLnBrk="0" hangingPunct="1">
              <a:defRPr sz="2400" kern="1200">
                <a:solidFill>
                  <a:schemeClr val="tx1"/>
                </a:solidFill>
                <a:latin typeface="+mn-lt"/>
                <a:ea typeface="+mn-ea"/>
                <a:cs typeface="+mn-cs"/>
              </a:defRPr>
            </a:lvl3pPr>
            <a:lvl4pPr marL="1828165" algn="l" defTabSz="1218565" rtl="0" eaLnBrk="1" latinLnBrk="0" hangingPunct="1">
              <a:defRPr sz="2400" kern="1200">
                <a:solidFill>
                  <a:schemeClr val="tx1"/>
                </a:solidFill>
                <a:latin typeface="+mn-lt"/>
                <a:ea typeface="+mn-ea"/>
                <a:cs typeface="+mn-cs"/>
              </a:defRPr>
            </a:lvl4pPr>
            <a:lvl5pPr marL="2437765" algn="l" defTabSz="1218565" rtl="0" eaLnBrk="1" latinLnBrk="0" hangingPunct="1">
              <a:defRPr sz="2400" kern="1200">
                <a:solidFill>
                  <a:schemeClr val="tx1"/>
                </a:solidFill>
                <a:latin typeface="+mn-lt"/>
                <a:ea typeface="+mn-ea"/>
                <a:cs typeface="+mn-cs"/>
              </a:defRPr>
            </a:lvl5pPr>
            <a:lvl6pPr marL="3047365" algn="l" defTabSz="1218565" rtl="0" eaLnBrk="1" latinLnBrk="0" hangingPunct="1">
              <a:defRPr sz="2400" kern="1200">
                <a:solidFill>
                  <a:schemeClr val="tx1"/>
                </a:solidFill>
                <a:latin typeface="+mn-lt"/>
                <a:ea typeface="+mn-ea"/>
                <a:cs typeface="+mn-cs"/>
              </a:defRPr>
            </a:lvl6pPr>
            <a:lvl7pPr marL="3656965" algn="l" defTabSz="1218565" rtl="0" eaLnBrk="1" latinLnBrk="0" hangingPunct="1">
              <a:defRPr sz="2400" kern="1200">
                <a:solidFill>
                  <a:schemeClr val="tx1"/>
                </a:solidFill>
                <a:latin typeface="+mn-lt"/>
                <a:ea typeface="+mn-ea"/>
                <a:cs typeface="+mn-cs"/>
              </a:defRPr>
            </a:lvl7pPr>
            <a:lvl8pPr marL="4266565" algn="l" defTabSz="1218565" rtl="0" eaLnBrk="1" latinLnBrk="0" hangingPunct="1">
              <a:defRPr sz="2400" kern="1200">
                <a:solidFill>
                  <a:schemeClr val="tx1"/>
                </a:solidFill>
                <a:latin typeface="+mn-lt"/>
                <a:ea typeface="+mn-ea"/>
                <a:cs typeface="+mn-cs"/>
              </a:defRPr>
            </a:lvl8pPr>
            <a:lvl9pPr marL="4876165" algn="l" defTabSz="1218565" rtl="0" eaLnBrk="1" latinLnBrk="0" hangingPunct="1">
              <a:defRPr sz="2400" kern="1200">
                <a:solidFill>
                  <a:schemeClr val="tx1"/>
                </a:solidFill>
                <a:latin typeface="+mn-lt"/>
                <a:ea typeface="+mn-ea"/>
                <a:cs typeface="+mn-cs"/>
              </a:defRPr>
            </a:lvl9pPr>
          </a:lstStyle>
          <a:p>
            <a:r>
              <a:rPr lang="en-US" sz="900">
                <a:solidFill>
                  <a:schemeClr val="bg1"/>
                </a:solidFill>
              </a:rPr>
              <a:t>20</a:t>
            </a:r>
            <a:r>
              <a:rPr lang="en-US" altLang="zh-CN" sz="900">
                <a:solidFill>
                  <a:schemeClr val="bg1"/>
                </a:solidFill>
              </a:rPr>
              <a:t>25</a:t>
            </a:r>
            <a:r>
              <a:rPr lang="en-US" sz="900">
                <a:solidFill>
                  <a:schemeClr val="bg1"/>
                </a:solidFill>
              </a:rPr>
              <a:t> Lenovo Internal. All rights reserved.</a:t>
            </a:r>
          </a:p>
        </p:txBody>
      </p:sp>
      <p:pic>
        <p:nvPicPr>
          <p:cNvPr id="8" name="图片 7"/>
          <p:cNvPicPr>
            <a:picLocks noChangeAspect="1"/>
          </p:cNvPicPr>
          <p:nvPr userDrawn="1"/>
        </p:nvPicPr>
        <p:blipFill>
          <a:blip r:embed="rId3"/>
          <a:stretch>
            <a:fillRect/>
          </a:stretch>
        </p:blipFill>
        <p:spPr>
          <a:xfrm>
            <a:off x="9051312" y="5697501"/>
            <a:ext cx="2502310" cy="501203"/>
          </a:xfrm>
          <a:prstGeom prst="rect">
            <a:avLst/>
          </a:prstGeom>
        </p:spPr>
      </p:pic>
    </p:spTree>
    <p:extLst>
      <p:ext uri="{BB962C8B-B14F-4D97-AF65-F5344CB8AC3E}">
        <p14:creationId xmlns:p14="http://schemas.microsoft.com/office/powerpoint/2010/main" val="3677661129"/>
      </p:ext>
    </p:extLst>
  </p:cSld>
  <p:clrMapOvr>
    <a:masterClrMapping/>
  </p:clrMapOvr>
  <p:transition spd="med"/>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5_Title Only">
    <p:spTree>
      <p:nvGrpSpPr>
        <p:cNvPr id="1" name=""/>
        <p:cNvGrpSpPr/>
        <p:nvPr/>
      </p:nvGrpSpPr>
      <p:grpSpPr>
        <a:xfrm>
          <a:off x="0" y="0"/>
          <a:ext cx="0" cy="0"/>
          <a:chOff x="0" y="0"/>
          <a:chExt cx="0" cy="0"/>
        </a:xfrm>
      </p:grpSpPr>
      <p:sp>
        <p:nvSpPr>
          <p:cNvPr id="6" name="Text Placeholder 2">
            <a:extLst>
              <a:ext uri="{FF2B5EF4-FFF2-40B4-BE49-F238E27FC236}">
                <a16:creationId xmlns:a16="http://schemas.microsoft.com/office/drawing/2014/main" id="{AF2A82E2-E356-4E65-B732-6515BA3FDA92}"/>
              </a:ext>
            </a:extLst>
          </p:cNvPr>
          <p:cNvSpPr>
            <a:spLocks noGrp="1"/>
          </p:cNvSpPr>
          <p:nvPr>
            <p:ph type="body" idx="11" hasCustomPrompt="1"/>
          </p:nvPr>
        </p:nvSpPr>
        <p:spPr bwMode="gray">
          <a:xfrm>
            <a:off x="557930" y="914400"/>
            <a:ext cx="11076268" cy="292608"/>
          </a:xfrm>
          <a:prstGeom prst="rect">
            <a:avLst/>
          </a:prstGeom>
        </p:spPr>
        <p:txBody>
          <a:bodyPr lIns="0" tIns="0" rIns="0" bIns="0" anchor="t" anchorCtr="0">
            <a:noAutofit/>
          </a:bodyPr>
          <a:lstStyle>
            <a:lvl1pPr marL="0" indent="0">
              <a:spcBef>
                <a:spcPts val="0"/>
              </a:spcBef>
              <a:buNone/>
              <a:defRPr sz="1796" b="0">
                <a:solidFill>
                  <a:schemeClr val="tx1"/>
                </a:solidFill>
                <a:latin typeface="+mn-lt"/>
                <a:cs typeface="Arial" pitchFamily="34" charset="0"/>
              </a:defRPr>
            </a:lvl1pPr>
            <a:lvl2pPr marL="608761" indent="0">
              <a:buNone/>
              <a:defRPr sz="2696" b="1"/>
            </a:lvl2pPr>
            <a:lvl3pPr marL="1217525" indent="0">
              <a:buNone/>
              <a:defRPr sz="2396" b="1"/>
            </a:lvl3pPr>
            <a:lvl4pPr marL="1826287" indent="0">
              <a:buNone/>
              <a:defRPr sz="2096" b="1"/>
            </a:lvl4pPr>
            <a:lvl5pPr marL="2435049" indent="0">
              <a:buNone/>
              <a:defRPr sz="2096" b="1"/>
            </a:lvl5pPr>
            <a:lvl6pPr marL="3043812" indent="0">
              <a:buNone/>
              <a:defRPr sz="2096" b="1"/>
            </a:lvl6pPr>
            <a:lvl7pPr marL="3652574" indent="0">
              <a:buNone/>
              <a:defRPr sz="2096" b="1"/>
            </a:lvl7pPr>
            <a:lvl8pPr marL="4261335" indent="0">
              <a:buNone/>
              <a:defRPr sz="2096" b="1"/>
            </a:lvl8pPr>
            <a:lvl9pPr marL="4870099" indent="0">
              <a:buNone/>
              <a:defRPr sz="2096" b="1"/>
            </a:lvl9pPr>
          </a:lstStyle>
          <a:p>
            <a:pPr lvl="0"/>
            <a:r>
              <a:rPr lang="en-US"/>
              <a:t> to edit Master text styles</a:t>
            </a:r>
          </a:p>
        </p:txBody>
      </p:sp>
      <p:graphicFrame>
        <p:nvGraphicFramePr>
          <p:cNvPr id="2" name="Object 1" hidden="1"/>
          <p:cNvGraphicFramePr>
            <a:graphicFrameLocks noChangeAspect="1"/>
          </p:cNvGraphicFramePr>
          <p:nvPr userDrawn="1">
            <p:custDataLst>
              <p:tags r:id="rId1"/>
            </p:custDataLst>
          </p:nvPr>
        </p:nvGraphicFramePr>
        <p:xfrm>
          <a:off x="1593" y="1597"/>
          <a:ext cx="1587" cy="1587"/>
        </p:xfrm>
        <a:graphic>
          <a:graphicData uri="http://schemas.openxmlformats.org/presentationml/2006/ole">
            <mc:AlternateContent xmlns:mc="http://schemas.openxmlformats.org/markup-compatibility/2006">
              <mc:Choice xmlns:v="urn:schemas-microsoft-com:vml" Requires="v">
                <p:oleObj name="think-cell Slide" r:id="rId4" imgW="508" imgH="508" progId="TCLayout.ActiveDocument.1">
                  <p:embed/>
                </p:oleObj>
              </mc:Choice>
              <mc:Fallback>
                <p:oleObj name="think-cell Slide" r:id="rId4" imgW="508" imgH="508" progId="TCLayout.ActiveDocument.1">
                  <p:embed/>
                  <p:pic>
                    <p:nvPicPr>
                      <p:cNvPr id="2" name="Object 1" hidden="1"/>
                      <p:cNvPicPr/>
                      <p:nvPr/>
                    </p:nvPicPr>
                    <p:blipFill>
                      <a:blip r:embed="rId5"/>
                      <a:stretch>
                        <a:fillRect/>
                      </a:stretch>
                    </p:blipFill>
                    <p:spPr>
                      <a:xfrm>
                        <a:off x="1593" y="1597"/>
                        <a:ext cx="1587" cy="1587"/>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6A04CCC1-2C90-44F6-9C76-69B95A27578A}"/>
              </a:ext>
            </a:extLst>
          </p:cNvPr>
          <p:cNvSpPr/>
          <p:nvPr userDrawn="1">
            <p:custDataLst>
              <p:tags r:id="rId2"/>
            </p:custDataLst>
          </p:nvPr>
        </p:nvSpPr>
        <p:spPr>
          <a:xfrm>
            <a:off x="4" y="0"/>
            <a:ext cx="158750" cy="1587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marL="0" lvl="0" indent="0" algn="ctr" eaLnBrk="1">
              <a:lnSpc>
                <a:spcPct val="100000"/>
              </a:lnSpc>
              <a:spcBef>
                <a:spcPct val="0"/>
              </a:spcBef>
              <a:spcAft>
                <a:spcPct val="0"/>
              </a:spcAft>
            </a:pPr>
            <a:endParaRPr lang="en-US" sz="2796" b="1" i="0" baseline="0">
              <a:latin typeface="Open Sans" panose="020B0606030504020204" pitchFamily="34" charset="0"/>
              <a:ea typeface="+mj-ea"/>
              <a:cs typeface="Arial" panose="020B0604020202020204" pitchFamily="34" charset="0"/>
              <a:sym typeface="Open Sans" panose="020B0606030504020204" pitchFamily="34" charset="0"/>
            </a:endParaRPr>
          </a:p>
        </p:txBody>
      </p:sp>
      <p:sp>
        <p:nvSpPr>
          <p:cNvPr id="3" name="Title 2">
            <a:extLst>
              <a:ext uri="{FF2B5EF4-FFF2-40B4-BE49-F238E27FC236}">
                <a16:creationId xmlns:a16="http://schemas.microsoft.com/office/drawing/2014/main" id="{6B86DA36-CF0D-4BD0-BC5C-53D6B40A47BE}"/>
              </a:ext>
            </a:extLst>
          </p:cNvPr>
          <p:cNvSpPr>
            <a:spLocks noGrp="1"/>
          </p:cNvSpPr>
          <p:nvPr>
            <p:ph type="title"/>
          </p:nvPr>
        </p:nvSpPr>
        <p:spPr/>
        <p:txBody>
          <a:bodyPr/>
          <a:lstStyle/>
          <a:p>
            <a:r>
              <a:rPr lang="en-US"/>
              <a:t>Click to edit Master title style</a:t>
            </a:r>
          </a:p>
        </p:txBody>
      </p:sp>
      <p:sp>
        <p:nvSpPr>
          <p:cNvPr id="4" name="Slide Number Placeholder 3">
            <a:extLst>
              <a:ext uri="{FF2B5EF4-FFF2-40B4-BE49-F238E27FC236}">
                <a16:creationId xmlns:a16="http://schemas.microsoft.com/office/drawing/2014/main" id="{47CB6638-1A88-497C-BAC0-E0CC6F961C3C}"/>
              </a:ext>
            </a:extLst>
          </p:cNvPr>
          <p:cNvSpPr>
            <a:spLocks noGrp="1"/>
          </p:cNvSpPr>
          <p:nvPr>
            <p:ph type="sldNum" sz="quarter" idx="10"/>
          </p:nvPr>
        </p:nvSpPr>
        <p:spPr/>
        <p:txBody>
          <a:bodyPr/>
          <a:lstStyle/>
          <a:p>
            <a:pPr algn="ctr"/>
            <a:fld id="{4CDEA398-9212-4567-91A3-BCE54ECD0B59}" type="slidenum">
              <a:rPr lang="en-US" smtClean="0"/>
              <a:pPr algn="ctr"/>
              <a:t>‹#›</a:t>
            </a:fld>
            <a:endParaRPr lang="en-US"/>
          </a:p>
        </p:txBody>
      </p:sp>
    </p:spTree>
    <p:extLst>
      <p:ext uri="{BB962C8B-B14F-4D97-AF65-F5344CB8AC3E}">
        <p14:creationId xmlns:p14="http://schemas.microsoft.com/office/powerpoint/2010/main" val="358276961"/>
      </p:ext>
    </p:extLst>
  </p:cSld>
  <p:clrMapOvr>
    <a:masterClrMapping/>
  </p:clrMapOvr>
  <p:transition spd="med"/>
</p:sldLayout>
</file>

<file path=ppt/slideLayouts/slideLayout242.xml><?xml version="1.0" encoding="utf-8"?>
<p:sldLayout xmlns:a="http://schemas.openxmlformats.org/drawingml/2006/main" xmlns:r="http://schemas.openxmlformats.org/officeDocument/2006/relationships" xmlns:p="http://schemas.openxmlformats.org/presentationml/2006/main">
  <p:cSld name="Title &amp; 1 column text">
    <p:spTree>
      <p:nvGrpSpPr>
        <p:cNvPr id="1" name=""/>
        <p:cNvGrpSpPr/>
        <p:nvPr/>
      </p:nvGrpSpPr>
      <p:grpSpPr>
        <a:xfrm>
          <a:off x="0" y="0"/>
          <a:ext cx="0" cy="0"/>
          <a:chOff x="0" y="0"/>
          <a:chExt cx="0" cy="0"/>
        </a:xfrm>
      </p:grpSpPr>
      <p:sp>
        <p:nvSpPr>
          <p:cNvPr id="14" name="文字"/>
          <p:cNvSpPr>
            <a:spLocks noGrp="1"/>
          </p:cNvSpPr>
          <p:nvPr>
            <p:ph idx="1"/>
          </p:nvPr>
        </p:nvSpPr>
        <p:spPr>
          <a:xfrm>
            <a:off x="501651" y="1665289"/>
            <a:ext cx="11165416" cy="4716463"/>
          </a:xfrm>
          <a:prstGeom prst="rect">
            <a:avLst/>
          </a:prstGeom>
        </p:spPr>
        <p:txBody>
          <a:bodyPr vert="horz" lIns="0" tIns="0" rIns="0" bIns="0" rtlCol="0">
            <a:normAutofit/>
          </a:bodyPr>
          <a:lstStyle>
            <a:lvl1pPr>
              <a:defRPr>
                <a:latin typeface="+mn-lt"/>
              </a:defRPr>
            </a:lvl1pPr>
            <a:lvl2pPr>
              <a:defRPr>
                <a:latin typeface="+mj-lt"/>
              </a:defRPr>
            </a:lvl2pPr>
            <a:lvl3pPr>
              <a:defRPr>
                <a:latin typeface="+mn-lt"/>
              </a:defRPr>
            </a:lvl3pPr>
            <a:lvl4pPr>
              <a:defRPr>
                <a:latin typeface="+mn-lt"/>
              </a:defRPr>
            </a:lvl4pPr>
            <a:lvl5pPr>
              <a:defRPr>
                <a:latin typeface="+mn-lt"/>
              </a:defRPr>
            </a:lvl5pPr>
          </a:lstStyle>
          <a:p>
            <a:pPr lvl="0"/>
            <a:r>
              <a:rPr lang="zh-CN" altLang="en-US"/>
              <a:t>按一下此處編輯母版文本樣式</a:t>
            </a:r>
          </a:p>
          <a:p>
            <a:pPr lvl="1"/>
            <a:r>
              <a:rPr lang="zh-CN" altLang="en-US"/>
              <a:t>二級</a:t>
            </a:r>
          </a:p>
          <a:p>
            <a:pPr lvl="2"/>
            <a:r>
              <a:rPr lang="zh-CN" altLang="en-US"/>
              <a:t>三級</a:t>
            </a:r>
          </a:p>
          <a:p>
            <a:pPr lvl="3"/>
            <a:r>
              <a:rPr lang="zh-CN" altLang="en-US"/>
              <a:t>四級</a:t>
            </a:r>
          </a:p>
          <a:p>
            <a:pPr lvl="4"/>
            <a:r>
              <a:rPr lang="zh-CN" altLang="en-US"/>
              <a:t>五級</a:t>
            </a:r>
            <a:endParaRPr lang="en-GB"/>
          </a:p>
        </p:txBody>
      </p:sp>
      <p:sp>
        <p:nvSpPr>
          <p:cNvPr id="2" name="標題"/>
          <p:cNvSpPr>
            <a:spLocks noGrp="1"/>
          </p:cNvSpPr>
          <p:nvPr>
            <p:ph type="title"/>
          </p:nvPr>
        </p:nvSpPr>
        <p:spPr>
          <a:xfrm>
            <a:off x="501651" y="317501"/>
            <a:ext cx="11188700" cy="698500"/>
          </a:xfrm>
        </p:spPr>
        <p:txBody>
          <a:bodyPr/>
          <a:lstStyle/>
          <a:p>
            <a:r>
              <a:rPr lang="zh-CN" altLang="en-US"/>
              <a:t>按一下此處編輯母版標題樣式</a:t>
            </a:r>
            <a:endParaRPr lang="en-US"/>
          </a:p>
        </p:txBody>
      </p:sp>
    </p:spTree>
    <p:extLst>
      <p:ext uri="{BB962C8B-B14F-4D97-AF65-F5344CB8AC3E}">
        <p14:creationId xmlns:p14="http://schemas.microsoft.com/office/powerpoint/2010/main" val="961961878"/>
      </p:ext>
    </p:extLst>
  </p:cSld>
  <p:clrMapOvr>
    <a:masterClrMapping/>
  </p:clrMapOvr>
  <p:transition>
    <p:fade/>
  </p:transition>
  <p:hf hdr="0" dt="0"/>
</p:sldLayout>
</file>

<file path=ppt/slideLayouts/slideLayout243.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2"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498" b="1" i="0" baseline="0">
              <a:solidFill>
                <a:schemeClr val="bg1"/>
              </a:solidFill>
              <a:latin typeface="Arial" panose="020B0604020202020204" pitchFamily="34" charset="0"/>
              <a:ea typeface="+mj-ea"/>
              <a:cs typeface="+mj-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7" y="919254"/>
            <a:ext cx="11082528" cy="66159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b="0" baseline="0" dirty="0"/>
            </a:lvl1pPr>
          </a:lstStyle>
          <a:p>
            <a:pPr lvl="0">
              <a:buNone/>
            </a:pPr>
            <a:r>
              <a:rPr lang="en-US"/>
              <a:t>Click to edit Master subtitle style</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4"/>
            </p:custDataLst>
          </p:nvPr>
        </p:nvSpPr>
        <p:spPr>
          <a:xfrm>
            <a:off x="554737" y="41601"/>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800" b="0" dirty="0">
                <a:cs typeface="+mn-cs"/>
              </a:defRPr>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5"/>
            </p:custDataLst>
          </p:nvPr>
        </p:nvSpPr>
        <p:spPr>
          <a:xfrm>
            <a:off x="554737" y="172212"/>
            <a:ext cx="11082528" cy="731520"/>
          </a:xfrm>
          <a:prstGeom prst="rect">
            <a:avLst/>
          </a:prstGeom>
        </p:spPr>
        <p:txBody>
          <a:bodyPr vert="horz" wrap="square" lIns="0" tIns="0" rIns="0" bIns="0" rtlCol="0" anchor="b" anchorCtr="0">
            <a:noAutofit/>
          </a:bodyPr>
          <a:lstStyle>
            <a:lvl1pPr>
              <a:defRPr lang="en-US" dirty="0"/>
            </a:lvl1pPr>
          </a:lstStyle>
          <a:p>
            <a:pPr lvl="0"/>
            <a:r>
              <a:rPr lang="en-US"/>
              <a:t>Click to edit Master title style</a:t>
            </a:r>
          </a:p>
        </p:txBody>
      </p:sp>
      <p:sp>
        <p:nvSpPr>
          <p:cNvPr id="12" name="Slide Number">
            <a:extLst>
              <a:ext uri="{FF2B5EF4-FFF2-40B4-BE49-F238E27FC236}">
                <a16:creationId xmlns:a16="http://schemas.microsoft.com/office/drawing/2014/main" id="{A7D78624-1011-4805-A38F-2790B0C90EC1}"/>
              </a:ext>
            </a:extLst>
          </p:cNvPr>
          <p:cNvSpPr>
            <a:spLocks noChangeArrowheads="1"/>
          </p:cNvSpPr>
          <p:nvPr userDrawn="1">
            <p:custDataLst>
              <p:tags r:id="rId6"/>
            </p:custDataLst>
          </p:nvPr>
        </p:nvSpPr>
        <p:spPr bwMode="black">
          <a:xfrm>
            <a:off x="11312527" y="6474741"/>
            <a:ext cx="325501" cy="138499"/>
          </a:xfrm>
          <a:prstGeom prst="rect">
            <a:avLst/>
          </a:prstGeom>
          <a:noFill/>
          <a:ln w="9525" algn="ctr">
            <a:noFill/>
            <a:miter lim="800000"/>
            <a:headEnd/>
            <a:tailEnd/>
          </a:ln>
          <a:effectLst/>
        </p:spPr>
        <p:txBody>
          <a:bodyPr wrap="square" lIns="0" tIns="0" rIns="0" bIns="0" anchor="b">
            <a:spAutoFit/>
          </a:bodyPr>
          <a:lstStyle/>
          <a:p>
            <a:pPr algn="r" defTabSz="610378" rtl="0" fontAlgn="auto">
              <a:spcBef>
                <a:spcPts val="0"/>
              </a:spcBef>
              <a:spcAft>
                <a:spcPts val="0"/>
              </a:spcAft>
              <a:defRPr/>
            </a:pPr>
            <a:fld id="{4ABDCABE-3F10-B64C-92F1-862014417034}" type="slidenum">
              <a:rPr lang="en-US" sz="900" b="0" smtClean="0">
                <a:solidFill>
                  <a:schemeClr val="tx1"/>
                </a:solidFill>
                <a:latin typeface="+mn-lt"/>
                <a:ea typeface="+mn-ea"/>
                <a:cs typeface="Arial" panose="020B0604020202020204" pitchFamily="34" charset="0"/>
              </a:rPr>
              <a:pPr algn="r" defTabSz="610378" rtl="0" fontAlgn="auto">
                <a:spcBef>
                  <a:spcPts val="0"/>
                </a:spcBef>
                <a:spcAft>
                  <a:spcPts val="0"/>
                </a:spcAft>
                <a:defRPr/>
              </a:pPr>
              <a:t>‹#›</a:t>
            </a:fld>
            <a:endParaRPr lang="en-US" sz="900" b="0">
              <a:solidFill>
                <a:schemeClr val="tx1"/>
              </a:solidFill>
              <a:latin typeface="+mn-lt"/>
              <a:ea typeface="+mn-ea"/>
              <a:cs typeface="Arial" panose="020B0604020202020204" pitchFamily="34" charset="0"/>
            </a:endParaRPr>
          </a:p>
        </p:txBody>
      </p:sp>
      <p:sp>
        <p:nvSpPr>
          <p:cNvPr id="13" name="5. Source" hidden="1">
            <a:extLst>
              <a:ext uri="{FF2B5EF4-FFF2-40B4-BE49-F238E27FC236}">
                <a16:creationId xmlns:a16="http://schemas.microsoft.com/office/drawing/2014/main" id="{F172C844-171A-4841-A93B-2ED21E411498}"/>
              </a:ext>
            </a:extLst>
          </p:cNvPr>
          <p:cNvSpPr txBox="1"/>
          <p:nvPr userDrawn="1">
            <p:custDataLst>
              <p:tags r:id="rId7"/>
            </p:custDataLst>
          </p:nvPr>
        </p:nvSpPr>
        <p:spPr>
          <a:xfrm>
            <a:off x="554737" y="6255866"/>
            <a:ext cx="7277861" cy="123111"/>
          </a:xfrm>
          <a:prstGeom prst="rect">
            <a:avLst/>
          </a:prstGeom>
        </p:spPr>
        <p:txBody>
          <a:bodyPr vert="horz" wrap="square" lIns="0" tIns="0" rIns="0" bIns="0" rtlCol="0" anchor="b">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Tree>
    <p:extLst>
      <p:ext uri="{BB962C8B-B14F-4D97-AF65-F5344CB8AC3E}">
        <p14:creationId xmlns:p14="http://schemas.microsoft.com/office/powerpoint/2010/main" val="1867062383"/>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showMasterSp="0" preserve="1" userDrawn="1">
  <p:cSld name="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121899" bIns="0" anchor="b" anchorCtr="0"/>
          <a:lstStyle>
            <a:lvl1pPr marL="0" algn="l" defTabSz="1218987" rtl="0" eaLnBrk="1" latinLnBrk="0" hangingPunct="1">
              <a:lnSpc>
                <a:spcPts val="7500"/>
              </a:lnSpc>
              <a:spcBef>
                <a:spcPct val="0"/>
              </a:spcBef>
              <a:buNone/>
              <a:defRPr lang="en-US" sz="7200" b="1" kern="1200" cap="none" spc="-150" baseline="0" dirty="0">
                <a:solidFill>
                  <a:schemeClr val="tx1">
                    <a:lumMod val="95000"/>
                    <a:lumOff val="5000"/>
                  </a:schemeClr>
                </a:solidFill>
                <a:latin typeface="微软雅黑" panose="020B0503020204020204" pitchFamily="34" charset="-122"/>
                <a:ea typeface="微软雅黑" panose="020B0503020204020204" pitchFamily="34" charset="-122"/>
                <a:cs typeface="Arial" pitchFamily="34" charset="0"/>
              </a:defRPr>
            </a:lvl1pPr>
          </a:lstStyle>
          <a:p>
            <a:r>
              <a:rPr lang="zh-CN" altLang="en-US"/>
              <a:t>幻灯片</a:t>
            </a:r>
            <a:br>
              <a:rPr lang="zh-CN" altLang="en-US"/>
            </a:br>
            <a:r>
              <a:rPr lang="zh-CN" altLang="en-US"/>
              <a:t>演示标题</a:t>
            </a:r>
            <a:br>
              <a:rPr lang="zh-CN" altLang="en-US"/>
            </a:br>
            <a:r>
              <a:rPr lang="zh-CN" altLang="en-US"/>
              <a:t>区域</a:t>
            </a:r>
            <a:endParaRPr lang="en-US"/>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ts val="2700"/>
              </a:lnSpc>
              <a:spcBef>
                <a:spcPct val="0"/>
              </a:spcBef>
              <a:buNone/>
              <a:defRPr lang="en-US" sz="2400" b="0" kern="1200" cap="none" spc="0" baseline="0" dirty="0">
                <a:solidFill>
                  <a:schemeClr val="tx1">
                    <a:lumMod val="95000"/>
                    <a:lumOff val="5000"/>
                  </a:schemeClr>
                </a:solidFill>
                <a:latin typeface="微软雅黑" panose="020B0503020204020204" pitchFamily="34" charset="-122"/>
                <a:ea typeface="微软雅黑" panose="020B0503020204020204" pitchFamily="34" charset="-122"/>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zh-CN" altLang="en-US"/>
              <a:t>主讲人姓名 </a:t>
            </a:r>
            <a:r>
              <a:rPr lang="en-US" altLang="zh-CN"/>
              <a:t>| </a:t>
            </a:r>
            <a:r>
              <a:rPr lang="zh-CN" altLang="en-US"/>
              <a:t>日期</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2025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rgbClr val="4D144A"/>
          </a:solidFill>
          <a:ln>
            <a:noFill/>
          </a:ln>
        </p:spPr>
        <p:txBody>
          <a:bodyPr vert="horz" wrap="square" lIns="91440" tIns="45720" rIns="91440" bIns="45720" numCol="1" anchor="t" anchorCtr="0" compatLnSpc="1">
            <a:prstTxWarp prst="textNoShape">
              <a:avLst/>
            </a:prstTxWarp>
          </a:bodyPr>
          <a:lstStyle/>
          <a:p>
            <a:endParaRPr lang="en-US" sz="1800"/>
          </a:p>
        </p:txBody>
      </p:sp>
    </p:spTree>
    <p:extLst>
      <p:ext uri="{BB962C8B-B14F-4D97-AF65-F5344CB8AC3E}">
        <p14:creationId xmlns:p14="http://schemas.microsoft.com/office/powerpoint/2010/main" val="733865482"/>
      </p:ext>
    </p:extLst>
  </p:cSld>
  <p:clrMapOvr>
    <a:masterClrMapping/>
  </p:clrMapOvr>
  <p:transition spd="med"/>
</p:sldLayout>
</file>

<file path=ppt/slideLayouts/slideLayout245.xml><?xml version="1.0" encoding="utf-8"?>
<p:sldLayout xmlns:a="http://schemas.openxmlformats.org/drawingml/2006/main" xmlns:r="http://schemas.openxmlformats.org/officeDocument/2006/relationships" xmlns:p="http://schemas.openxmlformats.org/presentationml/2006/main" showMasterSp="0" preserve="1" userDrawn="1">
  <p:cSld name="Title Slide_Black">
    <p:bg>
      <p:bgPr>
        <a:solidFill>
          <a:srgbClr val="1E0113"/>
        </a:solidFill>
        <a:effectLst/>
      </p:bgPr>
    </p:bg>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4000"/>
            <a:ext cx="9914678" cy="3273368"/>
          </a:xfrm>
          <a:prstGeom prst="rect">
            <a:avLst/>
          </a:prstGeom>
        </p:spPr>
        <p:txBody>
          <a:bodyPr lIns="0" tIns="0" rIns="121899" bIns="0" anchor="b" anchorCtr="0"/>
          <a:lstStyle>
            <a:lvl1pPr marL="0" algn="l" defTabSz="1218987" rtl="0" eaLnBrk="1" latinLnBrk="0" hangingPunct="1">
              <a:lnSpc>
                <a:spcPts val="7500"/>
              </a:lnSpc>
              <a:spcBef>
                <a:spcPct val="0"/>
              </a:spcBef>
              <a:buNone/>
              <a:defRPr lang="en-US" sz="7200" b="1" kern="1200" cap="none" spc="-150" baseline="0" dirty="0">
                <a:solidFill>
                  <a:schemeClr val="bg1"/>
                </a:solidFill>
                <a:latin typeface="微软雅黑" panose="020B0503020204020204" pitchFamily="34" charset="-122"/>
                <a:ea typeface="微软雅黑" panose="020B0503020204020204" pitchFamily="34" charset="-122"/>
                <a:cs typeface="Arial" pitchFamily="34" charset="0"/>
              </a:defRPr>
            </a:lvl1pPr>
          </a:lstStyle>
          <a:p>
            <a:r>
              <a:rPr lang="zh-CN" altLang="en-US"/>
              <a:t>幻灯片</a:t>
            </a:r>
            <a:br>
              <a:rPr lang="zh-CN" altLang="en-US"/>
            </a:br>
            <a:r>
              <a:rPr lang="zh-CN" altLang="en-US"/>
              <a:t>演示标题</a:t>
            </a:r>
            <a:br>
              <a:rPr lang="zh-CN" altLang="en-US"/>
            </a:br>
            <a:r>
              <a:rPr lang="zh-CN" altLang="en-US"/>
              <a:t>区域</a:t>
            </a:r>
            <a:endParaRPr lang="en-US"/>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lstStyle>
            <a:lvl1pPr marL="0" indent="0" algn="l" defTabSz="1218987" rtl="0" eaLnBrk="1" latinLnBrk="0" hangingPunct="1">
              <a:lnSpc>
                <a:spcPts val="2700"/>
              </a:lnSpc>
              <a:spcBef>
                <a:spcPct val="0"/>
              </a:spcBef>
              <a:buNone/>
              <a:defRPr lang="en-US" sz="2400" b="0" kern="1200" cap="none" spc="0" baseline="0" dirty="0">
                <a:solidFill>
                  <a:schemeClr val="bg1"/>
                </a:solidFill>
                <a:latin typeface="微软雅黑" panose="020B0503020204020204" pitchFamily="34" charset="-122"/>
                <a:ea typeface="微软雅黑" panose="020B0503020204020204" pitchFamily="34" charset="-122"/>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zh-CN" altLang="en-US"/>
              <a:t>主讲人姓名 </a:t>
            </a:r>
            <a:r>
              <a:rPr lang="en-US" altLang="zh-CN"/>
              <a:t>| </a:t>
            </a:r>
            <a:r>
              <a:rPr lang="zh-CN" altLang="en-US"/>
              <a:t>日期</a:t>
            </a:r>
          </a:p>
        </p:txBody>
      </p:sp>
      <p:grpSp>
        <p:nvGrpSpPr>
          <p:cNvPr id="68" name="Group 67">
            <a:extLst>
              <a:ext uri="{FF2B5EF4-FFF2-40B4-BE49-F238E27FC236}">
                <a16:creationId xmlns:a16="http://schemas.microsoft.com/office/drawing/2014/main" id="{C178D7C6-5801-6B30-A6A7-963788E95D85}"/>
              </a:ext>
            </a:extLst>
          </p:cNvPr>
          <p:cNvGrpSpPr>
            <a:grpSpLocks noChangeAspect="1"/>
          </p:cNvGrpSpPr>
          <p:nvPr userDrawn="1"/>
        </p:nvGrpSpPr>
        <p:grpSpPr>
          <a:xfrm rot="16200000">
            <a:off x="10152631" y="2542790"/>
            <a:ext cx="3058160" cy="1020580"/>
            <a:chOff x="547688" y="952500"/>
            <a:chExt cx="12190413" cy="4067175"/>
          </a:xfrm>
        </p:grpSpPr>
        <p:sp>
          <p:nvSpPr>
            <p:cNvPr id="69" name="Rectangle 68">
              <a:extLst>
                <a:ext uri="{FF2B5EF4-FFF2-40B4-BE49-F238E27FC236}">
                  <a16:creationId xmlns:a16="http://schemas.microsoft.com/office/drawing/2014/main" id="{69E9C34A-28EF-207E-149B-9EBED2862D65}"/>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7">
              <a:extLst>
                <a:ext uri="{FF2B5EF4-FFF2-40B4-BE49-F238E27FC236}">
                  <a16:creationId xmlns:a16="http://schemas.microsoft.com/office/drawing/2014/main" id="{158C3A6B-F5BB-E37E-DB3D-C1ABEA07F21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8">
              <a:extLst>
                <a:ext uri="{FF2B5EF4-FFF2-40B4-BE49-F238E27FC236}">
                  <a16:creationId xmlns:a16="http://schemas.microsoft.com/office/drawing/2014/main" id="{A56AE87F-217D-4207-F227-987A2E7FEBFA}"/>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2" name="Freeform 9">
              <a:extLst>
                <a:ext uri="{FF2B5EF4-FFF2-40B4-BE49-F238E27FC236}">
                  <a16:creationId xmlns:a16="http://schemas.microsoft.com/office/drawing/2014/main" id="{D65BCC2D-74A9-8E37-6BBC-33B74966DAC1}"/>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10">
              <a:extLst>
                <a:ext uri="{FF2B5EF4-FFF2-40B4-BE49-F238E27FC236}">
                  <a16:creationId xmlns:a16="http://schemas.microsoft.com/office/drawing/2014/main" id="{BA8558ED-E4BF-D888-EF3B-A311AFE8C47C}"/>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10">
              <a:extLst>
                <a:ext uri="{FF2B5EF4-FFF2-40B4-BE49-F238E27FC236}">
                  <a16:creationId xmlns:a16="http://schemas.microsoft.com/office/drawing/2014/main" id="{AFF1776F-9DBA-D51E-8F71-E1FB30D76794}"/>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11">
              <a:extLst>
                <a:ext uri="{FF2B5EF4-FFF2-40B4-BE49-F238E27FC236}">
                  <a16:creationId xmlns:a16="http://schemas.microsoft.com/office/drawing/2014/main" id="{820D6E3B-9704-EBDF-9D0D-A571A36CBC77}"/>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76" name="Freeform 5">
            <a:extLst>
              <a:ext uri="{FF2B5EF4-FFF2-40B4-BE49-F238E27FC236}">
                <a16:creationId xmlns:a16="http://schemas.microsoft.com/office/drawing/2014/main" id="{C002511A-253F-7F55-6C4F-3D51611D3CBF}"/>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sp>
        <p:nvSpPr>
          <p:cNvPr id="82" name="TextBox 81">
            <a:extLst>
              <a:ext uri="{FF2B5EF4-FFF2-40B4-BE49-F238E27FC236}">
                <a16:creationId xmlns:a16="http://schemas.microsoft.com/office/drawing/2014/main" id="{D0375F64-E651-1A0A-ABF1-9C38BA663F9F}"/>
              </a:ext>
            </a:extLst>
          </p:cNvPr>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2025 Lenovo Internal. All rights reserved.</a:t>
            </a:r>
          </a:p>
        </p:txBody>
      </p:sp>
    </p:spTree>
    <p:extLst>
      <p:ext uri="{BB962C8B-B14F-4D97-AF65-F5344CB8AC3E}">
        <p14:creationId xmlns:p14="http://schemas.microsoft.com/office/powerpoint/2010/main" val="3238403764"/>
      </p:ext>
    </p:extLst>
  </p:cSld>
  <p:clrMapOvr>
    <a:masterClrMapping/>
  </p:clrMapOvr>
  <p:transition spd="med"/>
</p:sldLayout>
</file>

<file path=ppt/slideLayouts/slideLayout246.xml><?xml version="1.0" encoding="utf-8"?>
<p:sldLayout xmlns:a="http://schemas.openxmlformats.org/drawingml/2006/main" xmlns:r="http://schemas.openxmlformats.org/officeDocument/2006/relationships" xmlns:p="http://schemas.openxmlformats.org/presentationml/2006/main" showMasterSp="0" preserve="1" userDrawn="1">
  <p:cSld name="Section Header_White">
    <p:bg>
      <p:bgPr>
        <a:solidFill>
          <a:schemeClr val="bg1"/>
        </a:solidFill>
        <a:effectLst/>
      </p:bgPr>
    </p:bg>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89C3EB64-A851-71DD-8882-1FDB7C2E99CB}"/>
              </a:ext>
            </a:extLst>
          </p:cNvPr>
          <p:cNvSpPr txBox="1"/>
          <p:nvPr userDrawn="1"/>
        </p:nvSpPr>
        <p:spPr>
          <a:xfrm>
            <a:off x="1603772"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2025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8" y="1549492"/>
            <a:ext cx="6265272" cy="2405203"/>
          </a:xfrm>
          <a:prstGeom prst="rect">
            <a:avLst/>
          </a:prstGeom>
        </p:spPr>
        <p:txBody>
          <a:bodyPr lIns="0" tIns="0" rIns="0" bIns="0" anchor="b" anchorCtr="0"/>
          <a:lstStyle>
            <a:lvl1pPr marL="0" algn="l" defTabSz="1218987" rtl="0" eaLnBrk="1" latinLnBrk="0" hangingPunct="1">
              <a:lnSpc>
                <a:spcPts val="5700"/>
              </a:lnSpc>
              <a:spcBef>
                <a:spcPct val="0"/>
              </a:spcBef>
              <a:buNone/>
              <a:defRPr lang="en-US" sz="5400" b="1" kern="1200" cap="none" spc="-150" baseline="0" dirty="0">
                <a:solidFill>
                  <a:schemeClr val="tx1">
                    <a:lumMod val="95000"/>
                    <a:lumOff val="5000"/>
                  </a:schemeClr>
                </a:solidFill>
                <a:latin typeface="微软雅黑" panose="020B0503020204020204" pitchFamily="34" charset="-122"/>
                <a:ea typeface="微软雅黑" panose="020B0503020204020204" pitchFamily="34" charset="-122"/>
                <a:cs typeface="Arial" pitchFamily="34" charset="0"/>
              </a:defRPr>
            </a:lvl1pPr>
          </a:lstStyle>
          <a:p>
            <a:r>
              <a:rPr lang="zh-CN" altLang="en-US"/>
              <a:t>章节标题区域</a:t>
            </a:r>
            <a:endParaRPr lang="en-US"/>
          </a:p>
        </p:txBody>
      </p:sp>
      <p:sp>
        <p:nvSpPr>
          <p:cNvPr id="11" name="Text Placeholder 2"/>
          <p:cNvSpPr>
            <a:spLocks noGrp="1"/>
          </p:cNvSpPr>
          <p:nvPr>
            <p:ph type="body" idx="1" hasCustomPrompt="1"/>
          </p:nvPr>
        </p:nvSpPr>
        <p:spPr bwMode="white">
          <a:xfrm>
            <a:off x="750528" y="4328650"/>
            <a:ext cx="6265272" cy="346249"/>
          </a:xfrm>
          <a:prstGeom prst="rect">
            <a:avLst/>
          </a:prstGeom>
        </p:spPr>
        <p:txBody>
          <a:bodyPr wrap="square" lIns="0" tIns="0" rIns="0" bIns="0" anchor="t" anchorCtr="0">
            <a:spAutoFit/>
          </a:bodyPr>
          <a:lstStyle>
            <a:lvl1pPr marL="0" indent="0">
              <a:lnSpc>
                <a:spcPts val="2700"/>
              </a:lnSpc>
              <a:spcBef>
                <a:spcPts val="0"/>
              </a:spcBef>
              <a:buNone/>
              <a:defRPr sz="2400" spc="0" baseline="0">
                <a:solidFill>
                  <a:schemeClr val="tx1">
                    <a:lumMod val="95000"/>
                    <a:lumOff val="5000"/>
                  </a:schemeClr>
                </a:solidFill>
                <a:latin typeface="微软雅黑" panose="020B0503020204020204" pitchFamily="34" charset="-122"/>
                <a:ea typeface="微软雅黑" panose="020B0503020204020204" pitchFamily="34" charset="-122"/>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副标题区域</a:t>
            </a:r>
            <a:endParaRPr lang="en-US"/>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tx1">
                    <a:lumMod val="95000"/>
                    <a:lumOff val="5000"/>
                  </a:schemeClr>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403074798"/>
      </p:ext>
    </p:extLst>
  </p:cSld>
  <p:clrMapOvr>
    <a:masterClrMapping/>
  </p:clrMapOvr>
  <p:transition spd="med"/>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
    <p:bg>
      <p:bgPr>
        <a:solidFill>
          <a:srgbClr val="1E0113"/>
        </a:solidFill>
        <a:effectLst/>
      </p:bgPr>
    </p:bg>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C50D814F-EE5B-C084-7424-D39C0DE54FF7}"/>
              </a:ext>
            </a:extLst>
          </p:cNvPr>
          <p:cNvSpPr txBox="1"/>
          <p:nvPr userDrawn="1"/>
        </p:nvSpPr>
        <p:spPr>
          <a:xfrm>
            <a:off x="1603772"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2025 Lenovo Internal. All rights reserved.</a:t>
            </a:r>
          </a:p>
        </p:txBody>
      </p:sp>
      <p:grpSp>
        <p:nvGrpSpPr>
          <p:cNvPr id="17" name="Group 16">
            <a:extLst>
              <a:ext uri="{FF2B5EF4-FFF2-40B4-BE49-F238E27FC236}">
                <a16:creationId xmlns:a16="http://schemas.microsoft.com/office/drawing/2014/main" id="{3C498D60-2F6C-6ADE-BB9A-D957660E0731}"/>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C8414641-DA5A-BDF2-889C-1430A63E358C}"/>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6CAA72E6-FAE3-6740-34C0-7A08091254BD}"/>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0EE70422-5E10-8634-79CC-15428116CD0F}"/>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F9B9866C-878A-3BAE-D601-6317EEEB78A9}"/>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20DD7C9B-A88C-7ECB-27AE-CB4579CDB90D}"/>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084B2859-A58F-9171-5328-94CFD162F589}"/>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DC1829C2-6CD9-FE35-3F45-EEC10E2F169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6265272" cy="2405203"/>
          </a:xfrm>
          <a:prstGeom prst="rect">
            <a:avLst/>
          </a:prstGeom>
        </p:spPr>
        <p:txBody>
          <a:bodyPr lIns="0" tIns="0" rIns="0" bIns="0" anchor="b" anchorCtr="0"/>
          <a:lstStyle>
            <a:lvl1pPr marL="0" algn="l" defTabSz="1218987" rtl="0" eaLnBrk="1" latinLnBrk="0" hangingPunct="1">
              <a:lnSpc>
                <a:spcPts val="5700"/>
              </a:lnSpc>
              <a:spcBef>
                <a:spcPct val="0"/>
              </a:spcBef>
              <a:buNone/>
              <a:defRPr lang="en-US" sz="5400" b="1" kern="1200" cap="none" spc="-150" baseline="0" dirty="0">
                <a:solidFill>
                  <a:schemeClr val="bg1"/>
                </a:solidFill>
                <a:latin typeface="微软雅黑" panose="020B0503020204020204" pitchFamily="34" charset="-122"/>
                <a:ea typeface="微软雅黑" panose="020B0503020204020204" pitchFamily="34" charset="-122"/>
                <a:cs typeface="Arial" pitchFamily="34" charset="0"/>
              </a:defRPr>
            </a:lvl1pPr>
          </a:lstStyle>
          <a:p>
            <a:r>
              <a:rPr lang="zh-CN" altLang="en-US"/>
              <a:t>章节标题区域</a:t>
            </a:r>
            <a:endParaRPr lang="en-US"/>
          </a:p>
        </p:txBody>
      </p:sp>
      <p:sp>
        <p:nvSpPr>
          <p:cNvPr id="11" name="Text Placeholder 2"/>
          <p:cNvSpPr>
            <a:spLocks noGrp="1"/>
          </p:cNvSpPr>
          <p:nvPr>
            <p:ph type="body" idx="1" hasCustomPrompt="1"/>
          </p:nvPr>
        </p:nvSpPr>
        <p:spPr bwMode="white">
          <a:xfrm>
            <a:off x="750529" y="4328650"/>
            <a:ext cx="6265272" cy="346249"/>
          </a:xfrm>
          <a:prstGeom prst="rect">
            <a:avLst/>
          </a:prstGeom>
        </p:spPr>
        <p:txBody>
          <a:bodyPr lIns="0" tIns="0" rIns="0" bIns="0" anchor="t" anchorCtr="0">
            <a:spAutoFit/>
          </a:bodyPr>
          <a:lstStyle>
            <a:lvl1pPr marL="0" indent="0">
              <a:lnSpc>
                <a:spcPts val="2700"/>
              </a:lnSpc>
              <a:spcBef>
                <a:spcPts val="0"/>
              </a:spcBef>
              <a:buNone/>
              <a:defRPr sz="2400" spc="0" baseline="0">
                <a:solidFill>
                  <a:schemeClr val="bg1"/>
                </a:solidFill>
                <a:latin typeface="微软雅黑" panose="020B0503020204020204" pitchFamily="34" charset="-122"/>
                <a:ea typeface="微软雅黑" panose="020B0503020204020204" pitchFamily="34" charset="-122"/>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副标题区域 </a:t>
            </a:r>
            <a:endParaRPr lang="en-US" altLang="zh-CN"/>
          </a:p>
        </p:txBody>
      </p:sp>
      <p:sp>
        <p:nvSpPr>
          <p:cNvPr id="2" name="Slide Number Placeholder 1">
            <a:extLst>
              <a:ext uri="{FF2B5EF4-FFF2-40B4-BE49-F238E27FC236}">
                <a16:creationId xmlns:a16="http://schemas.microsoft.com/office/drawing/2014/main" id="{E01CC465-FDF1-C0A2-5A83-FB03B2F0F4B6}"/>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496255855"/>
      </p:ext>
    </p:extLst>
  </p:cSld>
  <p:clrMapOvr>
    <a:masterClrMapping/>
  </p:clrMapOvr>
  <p:transition spd="med"/>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tx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2" name="Slide Number Placeholder 1">
            <a:extLst>
              <a:ext uri="{FF2B5EF4-FFF2-40B4-BE49-F238E27FC236}">
                <a16:creationId xmlns:a16="http://schemas.microsoft.com/office/drawing/2014/main" id="{99A0C0A2-1C95-CF60-15E7-57B445A89924}"/>
              </a:ext>
            </a:extLst>
          </p:cNvPr>
          <p:cNvSpPr>
            <a:spLocks noGrp="1"/>
          </p:cNvSpPr>
          <p:nvPr>
            <p:ph type="sldNum" sz="quarter" idx="10"/>
          </p:nvPr>
        </p:nvSpPr>
        <p:spPr/>
        <p:txBody>
          <a:bodyPr/>
          <a:lstStyle/>
          <a:p>
            <a:fld id="{6D22F896-40B5-4ADD-8801-0D06FADFA095}" type="slidenum">
              <a:rPr lang="en-US" smtClean="0"/>
              <a:pPr/>
              <a:t>‹#›</a:t>
            </a:fld>
            <a:endParaRPr lang="en-US"/>
          </a:p>
        </p:txBody>
      </p:sp>
      <p:sp>
        <p:nvSpPr>
          <p:cNvPr id="11" name="TextBox 15">
            <a:extLst>
              <a:ext uri="{FF2B5EF4-FFF2-40B4-BE49-F238E27FC236}">
                <a16:creationId xmlns:a16="http://schemas.microsoft.com/office/drawing/2014/main" id="{580CD1FD-B194-5CF3-6801-1480A8DAA710}"/>
              </a:ext>
            </a:extLst>
          </p:cNvPr>
          <p:cNvSpPr txBox="1"/>
          <p:nvPr userDrawn="1"/>
        </p:nvSpPr>
        <p:spPr>
          <a:xfrm>
            <a:off x="1603772"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2025 Lenovo Internal. All rights reserved.</a:t>
            </a:r>
          </a:p>
        </p:txBody>
      </p:sp>
      <p:grpSp>
        <p:nvGrpSpPr>
          <p:cNvPr id="12" name="Group 16">
            <a:extLst>
              <a:ext uri="{FF2B5EF4-FFF2-40B4-BE49-F238E27FC236}">
                <a16:creationId xmlns:a16="http://schemas.microsoft.com/office/drawing/2014/main" id="{E9ABD1A6-12ED-6140-9087-1629161AD1B0}"/>
              </a:ext>
            </a:extLst>
          </p:cNvPr>
          <p:cNvGrpSpPr>
            <a:grpSpLocks noChangeAspect="1"/>
          </p:cNvGrpSpPr>
          <p:nvPr userDrawn="1"/>
        </p:nvGrpSpPr>
        <p:grpSpPr>
          <a:xfrm>
            <a:off x="760611" y="6348283"/>
            <a:ext cx="777442" cy="259316"/>
            <a:chOff x="547688" y="952500"/>
            <a:chExt cx="12190413" cy="4067175"/>
          </a:xfrm>
        </p:grpSpPr>
        <p:sp>
          <p:nvSpPr>
            <p:cNvPr id="13" name="Rectangle 17">
              <a:extLst>
                <a:ext uri="{FF2B5EF4-FFF2-40B4-BE49-F238E27FC236}">
                  <a16:creationId xmlns:a16="http://schemas.microsoft.com/office/drawing/2014/main" id="{6835DA03-18F8-7B75-013E-D6C52C5553FD}"/>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4" name="Freeform 7">
              <a:extLst>
                <a:ext uri="{FF2B5EF4-FFF2-40B4-BE49-F238E27FC236}">
                  <a16:creationId xmlns:a16="http://schemas.microsoft.com/office/drawing/2014/main" id="{0610A2D1-3513-A46D-1402-170A204BC12B}"/>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5" name="Freeform 8">
              <a:extLst>
                <a:ext uri="{FF2B5EF4-FFF2-40B4-BE49-F238E27FC236}">
                  <a16:creationId xmlns:a16="http://schemas.microsoft.com/office/drawing/2014/main" id="{0057D7AE-0CE1-4246-3E1A-0A286E21483F}"/>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9">
              <a:extLst>
                <a:ext uri="{FF2B5EF4-FFF2-40B4-BE49-F238E27FC236}">
                  <a16:creationId xmlns:a16="http://schemas.microsoft.com/office/drawing/2014/main" id="{23C09B58-78D7-A393-F30B-D98F51DA0EA2}"/>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10">
              <a:extLst>
                <a:ext uri="{FF2B5EF4-FFF2-40B4-BE49-F238E27FC236}">
                  <a16:creationId xmlns:a16="http://schemas.microsoft.com/office/drawing/2014/main" id="{E9A02B70-70E3-A5D3-8892-7F7500CFE17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10">
              <a:extLst>
                <a:ext uri="{FF2B5EF4-FFF2-40B4-BE49-F238E27FC236}">
                  <a16:creationId xmlns:a16="http://schemas.microsoft.com/office/drawing/2014/main" id="{0C17A574-F1B8-8184-5A1A-7EA95159077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1">
              <a:extLst>
                <a:ext uri="{FF2B5EF4-FFF2-40B4-BE49-F238E27FC236}">
                  <a16:creationId xmlns:a16="http://schemas.microsoft.com/office/drawing/2014/main" id="{6DB9A0D4-7F3E-65C4-8797-11366DF9DC89}"/>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Tree>
    <p:extLst>
      <p:ext uri="{BB962C8B-B14F-4D97-AF65-F5344CB8AC3E}">
        <p14:creationId xmlns:p14="http://schemas.microsoft.com/office/powerpoint/2010/main" val="3273307354"/>
      </p:ext>
    </p:extLst>
  </p:cSld>
  <p:clrMapOvr>
    <a:masterClrMapping/>
  </p:clrMapOvr>
  <p:transition spd="med"/>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preserve="1" userDrawn="1">
  <p:cSld name="Title Only_Black">
    <p:bg>
      <p:bgPr>
        <a:solidFill>
          <a:srgbClr val="1E0013"/>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bg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2" name="Slide Number Placeholder 1">
            <a:extLst>
              <a:ext uri="{FF2B5EF4-FFF2-40B4-BE49-F238E27FC236}">
                <a16:creationId xmlns:a16="http://schemas.microsoft.com/office/drawing/2014/main" id="{A245D89D-54AB-A7D6-4141-95E6B3C3695D}"/>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503939960"/>
      </p:ext>
    </p:extLst>
  </p:cSld>
  <p:clrMapOvr>
    <a:masterClrMapping/>
  </p:clrMapOvr>
  <p:transition spd="med"/>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ts val="2300"/>
              </a:lnSpc>
              <a:spcBef>
                <a:spcPts val="0"/>
              </a:spcBef>
              <a:buNone/>
              <a:defRPr sz="2000" b="0">
                <a:solidFill>
                  <a:schemeClr val="tx1"/>
                </a:solidFill>
                <a:latin typeface="微软雅黑" panose="020B0503020204020204" pitchFamily="34" charset="-122"/>
                <a:ea typeface="微软雅黑" panose="020B0503020204020204" pitchFamily="34" charset="-122"/>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zh-CN" altLang="en-US"/>
              <a:t>添加内容</a:t>
            </a:r>
            <a:endParaRPr lang="en-US"/>
          </a:p>
        </p:txBody>
      </p:sp>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tx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2" name="Slide Number Placeholder 1">
            <a:extLst>
              <a:ext uri="{FF2B5EF4-FFF2-40B4-BE49-F238E27FC236}">
                <a16:creationId xmlns:a16="http://schemas.microsoft.com/office/drawing/2014/main" id="{C55B6443-4299-282C-565B-68E5F9702780}"/>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181983680"/>
      </p:ext>
    </p:extLst>
  </p:cSld>
  <p:clrMapOvr>
    <a:masterClrMapping/>
  </p:clrMapOvr>
  <p:transition spd="med"/>
</p:sldLayout>
</file>

<file path=ppt/slideLayouts/slideLayout251.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Only_Black">
    <p:bg>
      <p:bgPr>
        <a:solidFill>
          <a:srgbClr val="1E0013"/>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ts val="2300"/>
              </a:lnSpc>
              <a:spcBef>
                <a:spcPts val="0"/>
              </a:spcBef>
              <a:buNone/>
              <a:defRPr sz="2000" b="0">
                <a:solidFill>
                  <a:schemeClr val="bg1"/>
                </a:solidFill>
                <a:latin typeface="微软雅黑" panose="020B0503020204020204" pitchFamily="34" charset="-122"/>
                <a:ea typeface="微软雅黑" panose="020B0503020204020204" pitchFamily="34" charset="-122"/>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zh-CN" altLang="en-US"/>
              <a:t>添加内容</a:t>
            </a:r>
            <a:endParaRPr lang="en-US" altLang="zh-CN"/>
          </a:p>
        </p:txBody>
      </p:sp>
      <p:sp>
        <p:nvSpPr>
          <p:cNvPr id="11"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bg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2" name="Slide Number Placeholder 1">
            <a:extLst>
              <a:ext uri="{FF2B5EF4-FFF2-40B4-BE49-F238E27FC236}">
                <a16:creationId xmlns:a16="http://schemas.microsoft.com/office/drawing/2014/main" id="{BC296FD5-38BC-1E97-5513-17F333DF59B9}"/>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514491034"/>
      </p:ext>
    </p:extLst>
  </p:cSld>
  <p:clrMapOvr>
    <a:masterClrMapping/>
  </p:clrMapOvr>
  <p:transition spd="med"/>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tx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22" name="Content Placeholder 2"/>
          <p:cNvSpPr>
            <a:spLocks noGrp="1"/>
          </p:cNvSpPr>
          <p:nvPr>
            <p:ph sz="half" idx="1" hasCustomPrompt="1"/>
          </p:nvPr>
        </p:nvSpPr>
        <p:spPr bwMode="gray">
          <a:xfrm>
            <a:off x="760611" y="1308880"/>
            <a:ext cx="1067382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tx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2" name="Slide Number Placeholder 1">
            <a:extLst>
              <a:ext uri="{FF2B5EF4-FFF2-40B4-BE49-F238E27FC236}">
                <a16:creationId xmlns:a16="http://schemas.microsoft.com/office/drawing/2014/main" id="{0BC5559F-D4D6-DA53-A720-07C2A2D68FA6}"/>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51604529"/>
      </p:ext>
    </p:extLst>
  </p:cSld>
  <p:clrMapOvr>
    <a:masterClrMapping/>
  </p:clrMapOvr>
  <p:transition spd="med"/>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preserve="1" userDrawn="1">
  <p:cSld name="Title and Content_Black">
    <p:bg>
      <p:bgPr>
        <a:solidFill>
          <a:srgbClr val="1E0013"/>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bg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22" name="Content Placeholder 2"/>
          <p:cNvSpPr>
            <a:spLocks noGrp="1"/>
          </p:cNvSpPr>
          <p:nvPr>
            <p:ph sz="half" idx="1" hasCustomPrompt="1"/>
          </p:nvPr>
        </p:nvSpPr>
        <p:spPr bwMode="gray">
          <a:xfrm>
            <a:off x="760612" y="1308880"/>
            <a:ext cx="10670778" cy="4787120"/>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bg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2" name="Slide Number Placeholder 1">
            <a:extLst>
              <a:ext uri="{FF2B5EF4-FFF2-40B4-BE49-F238E27FC236}">
                <a16:creationId xmlns:a16="http://schemas.microsoft.com/office/drawing/2014/main" id="{2B190EFC-69A6-D92C-008E-75B891AE7709}"/>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575804764"/>
      </p:ext>
    </p:extLst>
  </p:cSld>
  <p:clrMapOvr>
    <a:masterClrMapping/>
  </p:clrMapOvr>
  <p:transition spd="med"/>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Title with Subtitle Content">
    <p:bg>
      <p:bgPr>
        <a:solidFill>
          <a:schemeClr val="bg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hasCustomPrompt="1"/>
          </p:nvPr>
        </p:nvSpPr>
        <p:spPr bwMode="gray">
          <a:xfrm>
            <a:off x="760610" y="1749388"/>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tx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ts val="2300"/>
              </a:lnSpc>
              <a:spcBef>
                <a:spcPts val="0"/>
              </a:spcBef>
              <a:buNone/>
              <a:defRPr sz="2000" b="0">
                <a:solidFill>
                  <a:schemeClr val="tx1"/>
                </a:solidFill>
                <a:latin typeface="微软雅黑" panose="020B0503020204020204" pitchFamily="34" charset="-122"/>
                <a:ea typeface="微软雅黑" panose="020B0503020204020204" pitchFamily="34" charset="-122"/>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zh-CN" altLang="en-US"/>
              <a:t>添加内容</a:t>
            </a:r>
            <a:endParaRPr lang="en-US" altLang="zh-CN"/>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tx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2" name="Slide Number Placeholder 1">
            <a:extLst>
              <a:ext uri="{FF2B5EF4-FFF2-40B4-BE49-F238E27FC236}">
                <a16:creationId xmlns:a16="http://schemas.microsoft.com/office/drawing/2014/main" id="{827BD319-CE6A-C56C-FAF4-F7D3C4B20C07}"/>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027045247"/>
      </p:ext>
    </p:extLst>
  </p:cSld>
  <p:clrMapOvr>
    <a:masterClrMapping/>
  </p:clrMapOvr>
  <p:transition spd="med"/>
</p:sldLayout>
</file>

<file path=ppt/slideLayouts/slideLayout255.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Content_Black">
    <p:bg>
      <p:bgPr>
        <a:solidFill>
          <a:srgbClr val="1E0013"/>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hasCustomPrompt="1"/>
          </p:nvPr>
        </p:nvSpPr>
        <p:spPr bwMode="gray">
          <a:xfrm>
            <a:off x="760610" y="1749389"/>
            <a:ext cx="10673829" cy="4346612"/>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bg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ts val="2300"/>
              </a:lnSpc>
              <a:spcBef>
                <a:spcPts val="0"/>
              </a:spcBef>
              <a:buNone/>
              <a:defRPr sz="2000" b="0">
                <a:solidFill>
                  <a:schemeClr val="bg1"/>
                </a:solidFill>
                <a:latin typeface="微软雅黑" panose="020B0503020204020204" pitchFamily="34" charset="-122"/>
                <a:ea typeface="微软雅黑" panose="020B0503020204020204" pitchFamily="34" charset="-122"/>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zh-CN" altLang="en-US"/>
              <a:t>添加内容</a:t>
            </a:r>
            <a:endParaRPr lang="en-US" altLang="zh-CN"/>
          </a:p>
        </p:txBody>
      </p:sp>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bg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2" name="Slide Number Placeholder 1">
            <a:extLst>
              <a:ext uri="{FF2B5EF4-FFF2-40B4-BE49-F238E27FC236}">
                <a16:creationId xmlns:a16="http://schemas.microsoft.com/office/drawing/2014/main" id="{C2F390D5-FAC3-3E07-D977-2FACDFA7E866}"/>
              </a:ext>
            </a:extLst>
          </p:cNvPr>
          <p:cNvSpPr>
            <a:spLocks noGrp="1"/>
          </p:cNvSpPr>
          <p:nvPr>
            <p:ph type="sldNum" sz="quarter" idx="11"/>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293614597"/>
      </p:ext>
    </p:extLst>
  </p:cSld>
  <p:clrMapOvr>
    <a:masterClrMapping/>
  </p:clrMapOvr>
  <p:transition spd="med"/>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Two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tx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16" name="Content Placeholder 2"/>
          <p:cNvSpPr>
            <a:spLocks noGrp="1"/>
          </p:cNvSpPr>
          <p:nvPr>
            <p:ph sz="half" idx="1" hasCustomPrompt="1"/>
          </p:nvPr>
        </p:nvSpPr>
        <p:spPr bwMode="gray">
          <a:xfrm>
            <a:off x="760610" y="1307593"/>
            <a:ext cx="5070324"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tx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20" name="Content Placeholder 2"/>
          <p:cNvSpPr>
            <a:spLocks noGrp="1"/>
          </p:cNvSpPr>
          <p:nvPr>
            <p:ph sz="half" idx="14" hasCustomPrompt="1"/>
          </p:nvPr>
        </p:nvSpPr>
        <p:spPr bwMode="gray">
          <a:xfrm>
            <a:off x="6340962" y="1307593"/>
            <a:ext cx="5067096" cy="4788408"/>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tx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2" name="Slide Number Placeholder 1">
            <a:extLst>
              <a:ext uri="{FF2B5EF4-FFF2-40B4-BE49-F238E27FC236}">
                <a16:creationId xmlns:a16="http://schemas.microsoft.com/office/drawing/2014/main" id="{02FE5186-E704-46DB-A234-0339427F829C}"/>
              </a:ext>
            </a:extLst>
          </p:cNvPr>
          <p:cNvSpPr>
            <a:spLocks noGrp="1"/>
          </p:cNvSpPr>
          <p:nvPr>
            <p:ph type="sldNum" sz="quarter" idx="15"/>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844354597"/>
      </p:ext>
    </p:extLst>
  </p:cSld>
  <p:clrMapOvr>
    <a:masterClrMapping/>
  </p:clrMapOvr>
  <p:transition spd="med"/>
</p:sldLayout>
</file>

<file path=ppt/slideLayouts/slideLayout257.xml><?xml version="1.0" encoding="utf-8"?>
<p:sldLayout xmlns:a="http://schemas.openxmlformats.org/drawingml/2006/main" xmlns:r="http://schemas.openxmlformats.org/officeDocument/2006/relationships" xmlns:p="http://schemas.openxmlformats.org/presentationml/2006/main" showMasterSp="0" preserve="1" userDrawn="1">
  <p:cSld name="Two Column Slide_Black">
    <p:bg>
      <p:bgPr>
        <a:solidFill>
          <a:srgbClr val="1E0013"/>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bg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16" name="Content Placeholder 2"/>
          <p:cNvSpPr>
            <a:spLocks noGrp="1"/>
          </p:cNvSpPr>
          <p:nvPr>
            <p:ph sz="half" idx="1" hasCustomPrompt="1"/>
          </p:nvPr>
        </p:nvSpPr>
        <p:spPr bwMode="gray">
          <a:xfrm>
            <a:off x="760610" y="1307594"/>
            <a:ext cx="5070324"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bg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20" name="Content Placeholder 2"/>
          <p:cNvSpPr>
            <a:spLocks noGrp="1"/>
          </p:cNvSpPr>
          <p:nvPr>
            <p:ph sz="half" idx="14" hasCustomPrompt="1"/>
          </p:nvPr>
        </p:nvSpPr>
        <p:spPr bwMode="gray">
          <a:xfrm>
            <a:off x="6340962" y="1307594"/>
            <a:ext cx="506709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bg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bg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2" name="Slide Number Placeholder 1">
            <a:extLst>
              <a:ext uri="{FF2B5EF4-FFF2-40B4-BE49-F238E27FC236}">
                <a16:creationId xmlns:a16="http://schemas.microsoft.com/office/drawing/2014/main" id="{A1D52F52-4191-E70A-A15D-3F4D0CF0AA2B}"/>
              </a:ext>
            </a:extLst>
          </p:cNvPr>
          <p:cNvSpPr>
            <a:spLocks noGrp="1"/>
          </p:cNvSpPr>
          <p:nvPr>
            <p:ph type="sldNum" sz="quarter" idx="15"/>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12991360"/>
      </p:ext>
    </p:extLst>
  </p:cSld>
  <p:clrMapOvr>
    <a:masterClrMapping/>
  </p:clrMapOvr>
  <p:transition spd="med"/>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Three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760610" y="442528"/>
            <a:ext cx="10673829" cy="418576"/>
          </a:xfrm>
          <a:prstGeom prst="rect">
            <a:avLst/>
          </a:prstGeom>
        </p:spPr>
        <p:txBody>
          <a:bodyPr wrap="square" lIns="0" tIns="0" rIns="0" bIns="0" anchor="t" anchorCtr="0">
            <a:noAutofit/>
          </a:bodyPr>
          <a:lstStyle>
            <a:lvl1pPr marL="0" algn="l" defTabSz="1218987" rtl="0" eaLnBrk="1" latinLnBrk="0" hangingPunct="1">
              <a:lnSpc>
                <a:spcPts val="3300"/>
              </a:lnSpc>
              <a:spcBef>
                <a:spcPct val="0"/>
              </a:spcBef>
              <a:buNone/>
              <a:tabLst>
                <a:tab pos="1218987" algn="l"/>
              </a:tabLst>
              <a:defRPr lang="en-US" sz="3000" b="1" kern="1200" cap="none" spc="-150" baseline="0" dirty="0">
                <a:solidFill>
                  <a:schemeClr val="tx1"/>
                </a:solidFill>
                <a:latin typeface="微软雅黑" panose="020B0503020204020204" pitchFamily="34" charset="-122"/>
                <a:ea typeface="微软雅黑" panose="020B0503020204020204" pitchFamily="34" charset="-122"/>
                <a:cs typeface="Arial" pitchFamily="34" charset="0"/>
              </a:defRPr>
            </a:lvl1pPr>
          </a:lstStyle>
          <a:p>
            <a:r>
              <a:rPr lang="zh-CN" altLang="en-US"/>
              <a:t>添加标题</a:t>
            </a:r>
            <a:endParaRPr lang="en-US"/>
          </a:p>
        </p:txBody>
      </p:sp>
      <p:sp>
        <p:nvSpPr>
          <p:cNvPr id="16" name="Content Placeholder 2"/>
          <p:cNvSpPr>
            <a:spLocks noGrp="1"/>
          </p:cNvSpPr>
          <p:nvPr>
            <p:ph sz="half" idx="1" hasCustomPrompt="1"/>
          </p:nvPr>
        </p:nvSpPr>
        <p:spPr bwMode="gray">
          <a:xfrm>
            <a:off x="760611" y="1307594"/>
            <a:ext cx="3343142"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tx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8" name="Content Placeholder 2"/>
          <p:cNvSpPr>
            <a:spLocks noGrp="1"/>
          </p:cNvSpPr>
          <p:nvPr>
            <p:ph sz="half" idx="10" hasCustomPrompt="1"/>
          </p:nvPr>
        </p:nvSpPr>
        <p:spPr bwMode="gray">
          <a:xfrm>
            <a:off x="4378398" y="1307594"/>
            <a:ext cx="3344059"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tx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9" name="Content Placeholder 2"/>
          <p:cNvSpPr>
            <a:spLocks noGrp="1"/>
          </p:cNvSpPr>
          <p:nvPr>
            <p:ph sz="half" idx="11" hasCustomPrompt="1"/>
          </p:nvPr>
        </p:nvSpPr>
        <p:spPr bwMode="gray">
          <a:xfrm>
            <a:off x="8017903" y="1307594"/>
            <a:ext cx="3416536" cy="4788407"/>
          </a:xfrm>
          <a:prstGeom prst="rect">
            <a:avLst/>
          </a:prstGeom>
        </p:spPr>
        <p:txBody>
          <a:bodyPr lIns="0" tIns="0" rIns="0" bIns="0"/>
          <a:lstStyle>
            <a:lvl1pPr marL="171450" indent="-171450">
              <a:lnSpc>
                <a:spcPct val="90000"/>
              </a:lnSpc>
              <a:spcBef>
                <a:spcPts val="1000"/>
              </a:spcBef>
              <a:buClrTx/>
              <a:buFont typeface="Arial" panose="020B0604020202020204" pitchFamily="34" charset="0"/>
              <a:buChar char="•"/>
              <a:defRPr sz="1800">
                <a:solidFill>
                  <a:schemeClr val="tx1"/>
                </a:solidFill>
                <a:latin typeface="微软雅黑" panose="020B0503020204020204" pitchFamily="34" charset="-122"/>
                <a:ea typeface="微软雅黑" panose="020B0503020204020204" pitchFamily="34" charset="-122"/>
                <a:cs typeface="Arial" pitchFamily="34" charset="0"/>
              </a:defRPr>
            </a:lvl1pPr>
            <a:lvl2pPr marL="609493" indent="-228560">
              <a:lnSpc>
                <a:spcPct val="90000"/>
              </a:lnSpc>
              <a:spcBef>
                <a:spcPts val="500"/>
              </a:spcBef>
              <a:buClrTx/>
              <a:buFont typeface="Arial"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2pPr>
            <a:lvl3pPr marL="835938"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3pPr>
            <a:lvl4pPr marL="1147033" indent="-156606">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4pPr>
            <a:lvl5pPr marL="1445431" indent="-150258">
              <a:lnSpc>
                <a:spcPct val="90000"/>
              </a:lnSpc>
              <a:spcBef>
                <a:spcPts val="500"/>
              </a:spcBef>
              <a:buClrTx/>
              <a:buFont typeface="Arial" panose="020B0604020202020204" pitchFamily="34" charset="0"/>
              <a:buChar char="-"/>
              <a:defRPr sz="1600">
                <a:solidFill>
                  <a:schemeClr val="tx1"/>
                </a:solidFill>
                <a:latin typeface="微软雅黑" panose="020B0503020204020204" pitchFamily="34" charset="-122"/>
                <a:ea typeface="微软雅黑" panose="020B0503020204020204" pitchFamily="34" charset="-122"/>
                <a:cs typeface="Arial" pitchFamily="34" charset="0"/>
              </a:defRPr>
            </a:lvl5pPr>
            <a:lvl6pPr>
              <a:defRPr sz="2400"/>
            </a:lvl6pPr>
            <a:lvl7pPr>
              <a:defRPr sz="2400"/>
            </a:lvl7pPr>
            <a:lvl8pPr>
              <a:defRPr sz="2400"/>
            </a:lvl8pPr>
            <a:lvl9pPr>
              <a:defRPr sz="2400"/>
            </a:lvl9pPr>
          </a:lstStyle>
          <a:p>
            <a:pPr lvl="0"/>
            <a:r>
              <a:rPr lang="zh-CN" altLang="en-US"/>
              <a:t>内容层级</a:t>
            </a:r>
            <a:r>
              <a:rPr lang="en-US" altLang="zh-CN"/>
              <a:t>1</a:t>
            </a:r>
          </a:p>
          <a:p>
            <a:pPr lvl="1"/>
            <a:r>
              <a:rPr lang="zh-CN" altLang="en-US"/>
              <a:t>内容层级</a:t>
            </a:r>
            <a:r>
              <a:rPr lang="en-US" altLang="zh-CN"/>
              <a:t>2</a:t>
            </a:r>
          </a:p>
          <a:p>
            <a:pPr lvl="2"/>
            <a:r>
              <a:rPr lang="zh-CN" altLang="en-US"/>
              <a:t>内容层级</a:t>
            </a:r>
            <a:r>
              <a:rPr lang="en-US" altLang="zh-CN"/>
              <a:t>3</a:t>
            </a:r>
          </a:p>
          <a:p>
            <a:pPr lvl="3"/>
            <a:r>
              <a:rPr lang="zh-CN" altLang="en-US"/>
              <a:t>内容层级</a:t>
            </a:r>
            <a:r>
              <a:rPr lang="en-US" altLang="zh-CN"/>
              <a:t>4</a:t>
            </a:r>
          </a:p>
          <a:p>
            <a:pPr lvl="4"/>
            <a:r>
              <a:rPr lang="zh-CN" altLang="en-US"/>
              <a:t>内容层级</a:t>
            </a:r>
            <a:r>
              <a:rPr lang="en-US" altLang="zh-CN"/>
              <a:t>5</a:t>
            </a:r>
          </a:p>
        </p:txBody>
      </p:sp>
      <p:sp>
        <p:nvSpPr>
          <p:cNvPr id="2" name="Slide Number Placeholder 1">
            <a:extLst>
              <a:ext uri="{FF2B5EF4-FFF2-40B4-BE49-F238E27FC236}">
                <a16:creationId xmlns:a16="http://schemas.microsoft.com/office/drawing/2014/main" id="{0C61C74C-45BE-3DE8-0DFD-4B97D814FB04}"/>
              </a:ext>
            </a:extLst>
          </p:cNvPr>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36814003"/>
      </p:ext>
    </p:extLst>
  </p:cSld>
  <p:clrMapOvr>
    <a:masterClrMapping/>
  </p:clrMapOvr>
  <p:transition spd="med"/>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preserve="1" userDrawn="1">
  <p:cSld name="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3" name="Freeform 5">
            <a:extLst>
              <a:ext uri="{FF2B5EF4-FFF2-40B4-BE49-F238E27FC236}">
                <a16:creationId xmlns:a16="http://schemas.microsoft.com/office/drawing/2014/main" id="{DEE4721E-C958-4154-B9A5-CEFE7618DF24}"/>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25" name="图像" descr="图像">
            <a:extLst>
              <a:ext uri="{FF2B5EF4-FFF2-40B4-BE49-F238E27FC236}">
                <a16:creationId xmlns:a16="http://schemas.microsoft.com/office/drawing/2014/main" id="{C98A5641-AFE6-437D-8FF0-164BB7C44A99}"/>
              </a:ext>
            </a:extLst>
          </p:cNvPr>
          <p:cNvPicPr>
            <a:picLocks noChangeAspect="1"/>
          </p:cNvPicPr>
          <p:nvPr userDrawn="1"/>
        </p:nvPicPr>
        <p:blipFill>
          <a:blip r:embed="rId2"/>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1410883074"/>
      </p:ext>
    </p:extLst>
  </p:cSld>
  <p:clrMapOvr>
    <a:masterClrMapping/>
  </p:clrMapOvr>
  <p:transition spd="med"/>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preserve="1">
  <p:cSld name="Title Slide_White_2">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F66F013C-4673-4598-B729-A71D9DC33DF1}"/>
              </a:ext>
            </a:extLst>
          </p:cNvPr>
          <p:cNvPicPr>
            <a:picLocks noChangeAspect="1"/>
          </p:cNvPicPr>
          <p:nvPr/>
        </p:nvPicPr>
        <p:blipFill>
          <a:blip r:embed="rId2"/>
          <a:stretch>
            <a:fillRect/>
          </a:stretch>
        </p:blipFill>
        <p:spPr>
          <a:xfrm>
            <a:off x="1" y="36"/>
            <a:ext cx="12192000" cy="6857965"/>
          </a:xfrm>
          <a:prstGeom prst="rect">
            <a:avLst/>
          </a:prstGeom>
        </p:spPr>
      </p:pic>
      <p:sp>
        <p:nvSpPr>
          <p:cNvPr id="56" name="Title 16"/>
          <p:cNvSpPr>
            <a:spLocks noGrp="1"/>
          </p:cNvSpPr>
          <p:nvPr>
            <p:ph type="title" hasCustomPrompt="1"/>
          </p:nvPr>
        </p:nvSpPr>
        <p:spPr bwMode="gray">
          <a:xfrm>
            <a:off x="750529" y="1527660"/>
            <a:ext cx="9914678" cy="3269709"/>
          </a:xfrm>
          <a:prstGeom prst="rect">
            <a:avLst/>
          </a:prstGeom>
        </p:spPr>
        <p:txBody>
          <a:bodyPr wrap="square"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accent3">
                    <a:lumMod val="25000"/>
                  </a:schemeClr>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accent3">
                    <a:lumMod val="25000"/>
                  </a:schemeClr>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4" name="Freeform 5">
            <a:extLst>
              <a:ext uri="{FF2B5EF4-FFF2-40B4-BE49-F238E27FC236}">
                <a16:creationId xmlns:a16="http://schemas.microsoft.com/office/drawing/2014/main" id="{737A9231-474C-4CA1-9B1B-7F40D5C83FD8}"/>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22" name="图像" descr="图像">
            <a:extLst>
              <a:ext uri="{FF2B5EF4-FFF2-40B4-BE49-F238E27FC236}">
                <a16:creationId xmlns:a16="http://schemas.microsoft.com/office/drawing/2014/main" id="{23598519-D295-45F4-B57D-05E3A7A180F8}"/>
              </a:ext>
            </a:extLst>
          </p:cNvPr>
          <p:cNvPicPr>
            <a:picLocks noChangeAspect="1"/>
          </p:cNvPicPr>
          <p:nvPr userDrawn="1"/>
        </p:nvPicPr>
        <p:blipFill>
          <a:blip r:embed="rId3"/>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3518288589"/>
      </p:ext>
    </p:extLst>
  </p:cSld>
  <p:clrMapOvr>
    <a:masterClrMapping/>
  </p:clrMapOvr>
  <p:transition spd="med"/>
</p:sldLayout>
</file>

<file path=ppt/slideLayouts/slideLayout261.xml><?xml version="1.0" encoding="utf-8"?>
<p:sldLayout xmlns:a="http://schemas.openxmlformats.org/drawingml/2006/main" xmlns:r="http://schemas.openxmlformats.org/officeDocument/2006/relationships" xmlns:p="http://schemas.openxmlformats.org/presentationml/2006/main" showMasterSp="0" preserve="1">
  <p:cSld name="Title Slide_White_3">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0490B93F-C25A-476B-A1B0-5F566C0157D6}"/>
              </a:ext>
            </a:extLst>
          </p:cNvPr>
          <p:cNvPicPr>
            <a:picLocks noChangeAspect="1"/>
          </p:cNvPicPr>
          <p:nvPr/>
        </p:nvPicPr>
        <p:blipFill>
          <a:blip r:embed="rId2"/>
          <a:stretch>
            <a:fillRect/>
          </a:stretch>
        </p:blipFill>
        <p:spPr>
          <a:xfrm>
            <a:off x="1" y="36"/>
            <a:ext cx="12192000" cy="6857929"/>
          </a:xfrm>
          <a:prstGeom prst="rect">
            <a:avLst/>
          </a:prstGeom>
        </p:spPr>
      </p:pic>
      <p:sp>
        <p:nvSpPr>
          <p:cNvPr id="56" name="Title 16"/>
          <p:cNvSpPr>
            <a:spLocks noGrp="1"/>
          </p:cNvSpPr>
          <p:nvPr>
            <p:ph type="title" hasCustomPrompt="1"/>
          </p:nvPr>
        </p:nvSpPr>
        <p:spPr bwMode="gray">
          <a:xfrm>
            <a:off x="750529" y="1527660"/>
            <a:ext cx="9914678" cy="3269709"/>
          </a:xfrm>
          <a:prstGeom prst="rect">
            <a:avLst/>
          </a:prstGeom>
        </p:spPr>
        <p:txBody>
          <a:bodyPr wrap="square"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accent3">
                    <a:lumMod val="25000"/>
                  </a:schemeClr>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accent3">
                    <a:lumMod val="25000"/>
                  </a:schemeClr>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4" name="Freeform 5">
            <a:extLst>
              <a:ext uri="{FF2B5EF4-FFF2-40B4-BE49-F238E27FC236}">
                <a16:creationId xmlns:a16="http://schemas.microsoft.com/office/drawing/2014/main" id="{C5D7323F-B213-45BD-87E8-FA0F67A8959C}"/>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22" name="图像" descr="图像">
            <a:extLst>
              <a:ext uri="{FF2B5EF4-FFF2-40B4-BE49-F238E27FC236}">
                <a16:creationId xmlns:a16="http://schemas.microsoft.com/office/drawing/2014/main" id="{6C4382F8-208F-4848-AB6D-348BF1F84736}"/>
              </a:ext>
            </a:extLst>
          </p:cNvPr>
          <p:cNvPicPr>
            <a:picLocks noChangeAspect="1"/>
          </p:cNvPicPr>
          <p:nvPr userDrawn="1"/>
        </p:nvPicPr>
        <p:blipFill>
          <a:blip r:embed="rId3"/>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753552526"/>
      </p:ext>
    </p:extLst>
  </p:cSld>
  <p:clrMapOvr>
    <a:masterClrMapping/>
  </p:clrMapOvr>
  <p:transition spd="med"/>
</p:sldLayout>
</file>

<file path=ppt/slideLayouts/slideLayout262.xml><?xml version="1.0" encoding="utf-8"?>
<p:sldLayout xmlns:a="http://schemas.openxmlformats.org/drawingml/2006/main" xmlns:r="http://schemas.openxmlformats.org/officeDocument/2006/relationships" xmlns:p="http://schemas.openxmlformats.org/presentationml/2006/main" showMasterSp="0" preserve="1" userDrawn="1">
  <p:cSld name="Title Slide_Black">
    <p:bg>
      <p:bgPr>
        <a:solidFill>
          <a:srgbClr val="1E0113"/>
        </a:solidFill>
        <a:effectLst/>
      </p:bgPr>
    </p:bg>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3" name="Freeform 5">
            <a:extLst>
              <a:ext uri="{FF2B5EF4-FFF2-40B4-BE49-F238E27FC236}">
                <a16:creationId xmlns:a16="http://schemas.microsoft.com/office/drawing/2014/main" id="{2E739779-A844-40AD-AAF7-D9E51DC47EF0}"/>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24" name="图像" descr="图像">
            <a:extLst>
              <a:ext uri="{FF2B5EF4-FFF2-40B4-BE49-F238E27FC236}">
                <a16:creationId xmlns:a16="http://schemas.microsoft.com/office/drawing/2014/main" id="{EFECEFA5-369A-4F0D-91B6-4C8BE827C268}"/>
              </a:ext>
            </a:extLst>
          </p:cNvPr>
          <p:cNvPicPr>
            <a:picLocks noChangeAspect="1"/>
          </p:cNvPicPr>
          <p:nvPr userDrawn="1"/>
        </p:nvPicPr>
        <p:blipFill>
          <a:blip r:embed="rId2"/>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2826525407"/>
      </p:ext>
    </p:extLst>
  </p:cSld>
  <p:clrMapOvr>
    <a:overrideClrMapping bg1="dk1" tx1="lt1" bg2="dk2" tx2="lt2" accent1="accent1" accent2="accent2" accent3="accent3" accent4="accent4" accent5="accent5" accent6="accent6" hlink="hlink" folHlink="folHlink"/>
  </p:clrMapOvr>
  <p:transition spd="med"/>
</p:sldLayout>
</file>

<file path=ppt/slideLayouts/slideLayout263.xml><?xml version="1.0" encoding="utf-8"?>
<p:sldLayout xmlns:a="http://schemas.openxmlformats.org/drawingml/2006/main" xmlns:r="http://schemas.openxmlformats.org/officeDocument/2006/relationships" xmlns:p="http://schemas.openxmlformats.org/presentationml/2006/main" showMasterSp="0" preserve="1">
  <p:cSld name="Title Slide_Black_2">
    <p:bg>
      <p:bgRef idx="1001">
        <a:schemeClr val="bg1"/>
      </p:bgRef>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0A3FDCC7-BA62-4365-BA68-B2059C6747ED}"/>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sp>
        <p:nvSpPr>
          <p:cNvPr id="56" name="Title 16"/>
          <p:cNvSpPr>
            <a:spLocks noGrp="1"/>
          </p:cNvSpPr>
          <p:nvPr>
            <p:ph type="title" hasCustomPrompt="1"/>
          </p:nvPr>
        </p:nvSpPr>
        <p:spPr bwMode="gray">
          <a:xfrm>
            <a:off x="750529" y="1524000"/>
            <a:ext cx="9914678" cy="3273368"/>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p:ph type="subTitle" idx="1" hasCustomPrompt="1"/>
          </p:nvPr>
        </p:nvSpPr>
        <p:spPr bwMode="gray">
          <a:xfrm>
            <a:off x="760612" y="5046115"/>
            <a:ext cx="9914678" cy="356616"/>
          </a:xfrm>
          <a:prstGeom prst="rect">
            <a:avLst/>
          </a:prstGeom>
        </p:spPr>
        <p:txBody>
          <a:bodyPr lIns="0" tIns="0" rIns="0" bIns="0" anchor="t" anchorCtr="0"/>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grpSp>
        <p:nvGrpSpPr>
          <p:cNvPr id="68" name="Group 67">
            <a:extLst>
              <a:ext uri="{FF2B5EF4-FFF2-40B4-BE49-F238E27FC236}">
                <a16:creationId xmlns:a16="http://schemas.microsoft.com/office/drawing/2014/main" id="{C178D7C6-5801-6B30-A6A7-963788E95D85}"/>
              </a:ext>
            </a:extLst>
          </p:cNvPr>
          <p:cNvGrpSpPr>
            <a:grpSpLocks noChangeAspect="1"/>
          </p:cNvGrpSpPr>
          <p:nvPr/>
        </p:nvGrpSpPr>
        <p:grpSpPr>
          <a:xfrm rot="16200000">
            <a:off x="10152631" y="2542790"/>
            <a:ext cx="3058160" cy="1020580"/>
            <a:chOff x="547688" y="952500"/>
            <a:chExt cx="12190413" cy="4067175"/>
          </a:xfrm>
        </p:grpSpPr>
        <p:sp>
          <p:nvSpPr>
            <p:cNvPr id="69" name="Rectangle 68">
              <a:extLst>
                <a:ext uri="{FF2B5EF4-FFF2-40B4-BE49-F238E27FC236}">
                  <a16:creationId xmlns:a16="http://schemas.microsoft.com/office/drawing/2014/main" id="{69E9C34A-28EF-207E-149B-9EBED2862D65}"/>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7">
              <a:extLst>
                <a:ext uri="{FF2B5EF4-FFF2-40B4-BE49-F238E27FC236}">
                  <a16:creationId xmlns:a16="http://schemas.microsoft.com/office/drawing/2014/main" id="{158C3A6B-F5BB-E37E-DB3D-C1ABEA07F210}"/>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8">
              <a:extLst>
                <a:ext uri="{FF2B5EF4-FFF2-40B4-BE49-F238E27FC236}">
                  <a16:creationId xmlns:a16="http://schemas.microsoft.com/office/drawing/2014/main" id="{A56AE87F-217D-4207-F227-987A2E7FEBFA}"/>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2" name="Freeform 9">
              <a:extLst>
                <a:ext uri="{FF2B5EF4-FFF2-40B4-BE49-F238E27FC236}">
                  <a16:creationId xmlns:a16="http://schemas.microsoft.com/office/drawing/2014/main" id="{D65BCC2D-74A9-8E37-6BBC-33B74966DAC1}"/>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10">
              <a:extLst>
                <a:ext uri="{FF2B5EF4-FFF2-40B4-BE49-F238E27FC236}">
                  <a16:creationId xmlns:a16="http://schemas.microsoft.com/office/drawing/2014/main" id="{BA8558ED-E4BF-D888-EF3B-A311AFE8C47C}"/>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10">
              <a:extLst>
                <a:ext uri="{FF2B5EF4-FFF2-40B4-BE49-F238E27FC236}">
                  <a16:creationId xmlns:a16="http://schemas.microsoft.com/office/drawing/2014/main" id="{AFF1776F-9DBA-D51E-8F71-E1FB30D76794}"/>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11">
              <a:extLst>
                <a:ext uri="{FF2B5EF4-FFF2-40B4-BE49-F238E27FC236}">
                  <a16:creationId xmlns:a16="http://schemas.microsoft.com/office/drawing/2014/main" id="{820D6E3B-9704-EBDF-9D0D-A571A36CBC77}"/>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82" name="TextBox 81">
            <a:extLst>
              <a:ext uri="{FF2B5EF4-FFF2-40B4-BE49-F238E27FC236}">
                <a16:creationId xmlns:a16="http://schemas.microsoft.com/office/drawing/2014/main" id="{D0375F64-E651-1A0A-ABF1-9C38BA663F9F}"/>
              </a:ext>
            </a:extLst>
          </p:cNvPr>
          <p:cNvSpPr txBox="1"/>
          <p:nvPr/>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sp>
        <p:nvSpPr>
          <p:cNvPr id="16" name="Freeform 5">
            <a:extLst>
              <a:ext uri="{FF2B5EF4-FFF2-40B4-BE49-F238E27FC236}">
                <a16:creationId xmlns:a16="http://schemas.microsoft.com/office/drawing/2014/main" id="{CD4B932B-C485-48FF-86A6-1720353F11ED}"/>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17" name="图像" descr="图像">
            <a:extLst>
              <a:ext uri="{FF2B5EF4-FFF2-40B4-BE49-F238E27FC236}">
                <a16:creationId xmlns:a16="http://schemas.microsoft.com/office/drawing/2014/main" id="{72A1AF4C-0E9C-46A4-B475-35B79476E2D7}"/>
              </a:ext>
            </a:extLst>
          </p:cNvPr>
          <p:cNvPicPr>
            <a:picLocks noChangeAspect="1"/>
          </p:cNvPicPr>
          <p:nvPr userDrawn="1"/>
        </p:nvPicPr>
        <p:blipFill>
          <a:blip r:embed="rId3"/>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3377548775"/>
      </p:ext>
    </p:extLst>
  </p:cSld>
  <p:clrMapOvr>
    <a:overrideClrMapping bg1="dk1" tx1="lt1" bg2="dk2" tx2="lt2" accent1="accent1" accent2="accent2" accent3="accent3" accent4="accent4" accent5="accent5" accent6="accent6" hlink="hlink" folHlink="folHlink"/>
  </p:clrMapOvr>
  <p:transition spd="med"/>
</p:sldLayout>
</file>

<file path=ppt/slideLayouts/slideLayout264.xml><?xml version="1.0" encoding="utf-8"?>
<p:sldLayout xmlns:a="http://schemas.openxmlformats.org/drawingml/2006/main" xmlns:r="http://schemas.openxmlformats.org/officeDocument/2006/relationships" xmlns:p="http://schemas.openxmlformats.org/presentationml/2006/main" showMasterSp="0" preserve="1">
  <p:cSld name="Title Slide_Black_3">
    <p:bg>
      <p:bgRef idx="1001">
        <a:schemeClr val="bg1"/>
      </p:bgRef>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3A0DD018-EAF2-48F3-ABFD-828A5E37FEA0}"/>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sp>
        <p:nvSpPr>
          <p:cNvPr id="56" name="Title 16"/>
          <p:cNvSpPr>
            <a:spLocks noGrp="1"/>
          </p:cNvSpPr>
          <p:nvPr>
            <p:ph type="title" hasCustomPrompt="1"/>
          </p:nvPr>
        </p:nvSpPr>
        <p:spPr bwMode="gray">
          <a:xfrm>
            <a:off x="750529" y="1524000"/>
            <a:ext cx="9914678" cy="3273368"/>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p:ph type="subTitle" idx="1" hasCustomPrompt="1"/>
          </p:nvPr>
        </p:nvSpPr>
        <p:spPr bwMode="gray">
          <a:xfrm>
            <a:off x="760612" y="5046115"/>
            <a:ext cx="9914678" cy="356616"/>
          </a:xfrm>
          <a:prstGeom prst="rect">
            <a:avLst/>
          </a:prstGeom>
        </p:spPr>
        <p:txBody>
          <a:bodyPr lIns="0" tIns="0" rIns="0" bIns="0" anchor="t" anchorCtr="0"/>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grpSp>
        <p:nvGrpSpPr>
          <p:cNvPr id="68" name="Group 67">
            <a:extLst>
              <a:ext uri="{FF2B5EF4-FFF2-40B4-BE49-F238E27FC236}">
                <a16:creationId xmlns:a16="http://schemas.microsoft.com/office/drawing/2014/main" id="{C178D7C6-5801-6B30-A6A7-963788E95D85}"/>
              </a:ext>
            </a:extLst>
          </p:cNvPr>
          <p:cNvGrpSpPr>
            <a:grpSpLocks noChangeAspect="1"/>
          </p:cNvGrpSpPr>
          <p:nvPr/>
        </p:nvGrpSpPr>
        <p:grpSpPr>
          <a:xfrm rot="16200000">
            <a:off x="10152631" y="2542790"/>
            <a:ext cx="3058160" cy="1020580"/>
            <a:chOff x="547688" y="952500"/>
            <a:chExt cx="12190413" cy="4067175"/>
          </a:xfrm>
        </p:grpSpPr>
        <p:sp>
          <p:nvSpPr>
            <p:cNvPr id="69" name="Rectangle 68">
              <a:extLst>
                <a:ext uri="{FF2B5EF4-FFF2-40B4-BE49-F238E27FC236}">
                  <a16:creationId xmlns:a16="http://schemas.microsoft.com/office/drawing/2014/main" id="{69E9C34A-28EF-207E-149B-9EBED2862D65}"/>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7">
              <a:extLst>
                <a:ext uri="{FF2B5EF4-FFF2-40B4-BE49-F238E27FC236}">
                  <a16:creationId xmlns:a16="http://schemas.microsoft.com/office/drawing/2014/main" id="{158C3A6B-F5BB-E37E-DB3D-C1ABEA07F210}"/>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8">
              <a:extLst>
                <a:ext uri="{FF2B5EF4-FFF2-40B4-BE49-F238E27FC236}">
                  <a16:creationId xmlns:a16="http://schemas.microsoft.com/office/drawing/2014/main" id="{A56AE87F-217D-4207-F227-987A2E7FEBFA}"/>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2" name="Freeform 9">
              <a:extLst>
                <a:ext uri="{FF2B5EF4-FFF2-40B4-BE49-F238E27FC236}">
                  <a16:creationId xmlns:a16="http://schemas.microsoft.com/office/drawing/2014/main" id="{D65BCC2D-74A9-8E37-6BBC-33B74966DAC1}"/>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10">
              <a:extLst>
                <a:ext uri="{FF2B5EF4-FFF2-40B4-BE49-F238E27FC236}">
                  <a16:creationId xmlns:a16="http://schemas.microsoft.com/office/drawing/2014/main" id="{BA8558ED-E4BF-D888-EF3B-A311AFE8C47C}"/>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10">
              <a:extLst>
                <a:ext uri="{FF2B5EF4-FFF2-40B4-BE49-F238E27FC236}">
                  <a16:creationId xmlns:a16="http://schemas.microsoft.com/office/drawing/2014/main" id="{AFF1776F-9DBA-D51E-8F71-E1FB30D76794}"/>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11">
              <a:extLst>
                <a:ext uri="{FF2B5EF4-FFF2-40B4-BE49-F238E27FC236}">
                  <a16:creationId xmlns:a16="http://schemas.microsoft.com/office/drawing/2014/main" id="{820D6E3B-9704-EBDF-9D0D-A571A36CBC77}"/>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82" name="TextBox 81">
            <a:extLst>
              <a:ext uri="{FF2B5EF4-FFF2-40B4-BE49-F238E27FC236}">
                <a16:creationId xmlns:a16="http://schemas.microsoft.com/office/drawing/2014/main" id="{D0375F64-E651-1A0A-ABF1-9C38BA663F9F}"/>
              </a:ext>
            </a:extLst>
          </p:cNvPr>
          <p:cNvSpPr txBox="1"/>
          <p:nvPr/>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pic>
        <p:nvPicPr>
          <p:cNvPr id="15" name="图像" descr="图像">
            <a:extLst>
              <a:ext uri="{FF2B5EF4-FFF2-40B4-BE49-F238E27FC236}">
                <a16:creationId xmlns:a16="http://schemas.microsoft.com/office/drawing/2014/main" id="{B39A4FC6-1474-4875-8834-4C2FEC2302F1}"/>
              </a:ext>
            </a:extLst>
          </p:cNvPr>
          <p:cNvPicPr>
            <a:picLocks noChangeAspect="1"/>
          </p:cNvPicPr>
          <p:nvPr userDrawn="1"/>
        </p:nvPicPr>
        <p:blipFill>
          <a:blip r:embed="rId3"/>
          <a:stretch>
            <a:fillRect/>
          </a:stretch>
        </p:blipFill>
        <p:spPr>
          <a:xfrm>
            <a:off x="750530" y="556029"/>
            <a:ext cx="2378059" cy="713232"/>
          </a:xfrm>
          <a:prstGeom prst="rect">
            <a:avLst/>
          </a:prstGeom>
          <a:ln w="12700">
            <a:miter lim="400000"/>
          </a:ln>
        </p:spPr>
      </p:pic>
      <p:sp>
        <p:nvSpPr>
          <p:cNvPr id="16" name="Freeform 5">
            <a:extLst>
              <a:ext uri="{FF2B5EF4-FFF2-40B4-BE49-F238E27FC236}">
                <a16:creationId xmlns:a16="http://schemas.microsoft.com/office/drawing/2014/main" id="{F1DF4F47-0EB8-4BD0-88CF-1CCF9B00DDD0}"/>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1800"/>
          </a:p>
        </p:txBody>
      </p:sp>
    </p:spTree>
    <p:extLst>
      <p:ext uri="{BB962C8B-B14F-4D97-AF65-F5344CB8AC3E}">
        <p14:creationId xmlns:p14="http://schemas.microsoft.com/office/powerpoint/2010/main" val="966419379"/>
      </p:ext>
    </p:extLst>
  </p:cSld>
  <p:clrMapOvr>
    <a:overrideClrMapping bg1="dk1" tx1="lt1" bg2="dk2" tx2="lt2" accent1="accent1" accent2="accent2" accent3="accent3" accent4="accent4" accent5="accent5" accent6="accent6" hlink="hlink" folHlink="folHlink"/>
  </p:clrMapOvr>
  <p:transition spd="med"/>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Section Header_White">
    <p:bg>
      <p:bgPr>
        <a:solidFill>
          <a:schemeClr val="bg1"/>
        </a:solidFill>
        <a:effectLst/>
      </p:bgPr>
    </p:bg>
    <p:spTree>
      <p:nvGrpSpPr>
        <p:cNvPr id="1" name=""/>
        <p:cNvGrpSpPr/>
        <p:nvPr/>
      </p:nvGrpSpPr>
      <p:grpSpPr>
        <a:xfrm>
          <a:off x="0" y="0"/>
          <a:ext cx="0" cy="0"/>
          <a:chOff x="0" y="0"/>
          <a:chExt cx="0" cy="0"/>
        </a:xfrm>
      </p:grpSpPr>
      <p:sp>
        <p:nvSpPr>
          <p:cNvPr id="46" name="Title 16"/>
          <p:cNvSpPr>
            <a:spLocks noGrp="1"/>
          </p:cNvSpPr>
          <p:nvPr>
            <p:ph type="title" hasCustomPrompt="1"/>
          </p:nvPr>
        </p:nvSpPr>
        <p:spPr bwMode="gray">
          <a:xfrm>
            <a:off x="750528" y="1549492"/>
            <a:ext cx="9914678"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9914678"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403141031"/>
      </p:ext>
    </p:extLst>
  </p:cSld>
  <p:clrMapOvr>
    <a:masterClrMapping/>
  </p:clrMapOvr>
  <p:transition spd="med"/>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preserve="1">
  <p:cSld name="Section Header_White_2">
    <p:bg>
      <p:bgPr>
        <a:solidFill>
          <a:schemeClr val="bg1"/>
        </a:solidFill>
        <a:effectLst/>
      </p:bgPr>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C08B439B-E84A-4380-B725-5C2E2A35786B}"/>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pic>
        <p:nvPicPr>
          <p:cNvPr id="3" name="Picture 2">
            <a:extLst>
              <a:ext uri="{FF2B5EF4-FFF2-40B4-BE49-F238E27FC236}">
                <a16:creationId xmlns:a16="http://schemas.microsoft.com/office/drawing/2014/main" id="{DD813522-5B75-F893-0706-7E3AB7106AE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b="-100"/>
          <a:stretch/>
        </p:blipFill>
        <p:spPr>
          <a:xfrm flipH="1">
            <a:off x="7618809" y="35"/>
            <a:ext cx="4573191" cy="6857965"/>
          </a:xfrm>
          <a:prstGeom prst="rect">
            <a:avLst/>
          </a:prstGeom>
        </p:spPr>
      </p:pic>
      <p:sp>
        <p:nvSpPr>
          <p:cNvPr id="16" name="TextBox 15">
            <a:extLst>
              <a:ext uri="{FF2B5EF4-FFF2-40B4-BE49-F238E27FC236}">
                <a16:creationId xmlns:a16="http://schemas.microsoft.com/office/drawing/2014/main" id="{89C3EB64-A851-71DD-8882-1FDB7C2E99CB}"/>
              </a:ext>
            </a:extLst>
          </p:cNvPr>
          <p:cNvSpPr txBox="1"/>
          <p:nvPr/>
        </p:nvSpPr>
        <p:spPr>
          <a:xfrm>
            <a:off x="1603772"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8" y="1549492"/>
            <a:ext cx="6265272"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accent3">
                    <a:lumMod val="25000"/>
                  </a:schemeClr>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6265272"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accent3">
                    <a:lumMod val="2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023178156"/>
      </p:ext>
    </p:extLst>
  </p:cSld>
  <p:clrMapOvr>
    <a:masterClrMapping/>
  </p:clrMapOvr>
  <p:transition spd="med"/>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preserve="1">
  <p:cSld name="Section Header_White_3">
    <p:bg>
      <p:bgPr>
        <a:solidFill>
          <a:schemeClr val="bg1"/>
        </a:solidFill>
        <a:effectLst/>
      </p:bgPr>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D5C4C27E-C20F-40CB-85CF-27223BC9C554}"/>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pic>
        <p:nvPicPr>
          <p:cNvPr id="4" name="Picture 3" descr="A person in a white dress&#10;&#10;Description automatically generated with low confidence">
            <a:extLst>
              <a:ext uri="{FF2B5EF4-FFF2-40B4-BE49-F238E27FC236}">
                <a16:creationId xmlns:a16="http://schemas.microsoft.com/office/drawing/2014/main" id="{1852C0BD-7572-C8B3-D29B-44B7409BB26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18809" y="0"/>
            <a:ext cx="4573191" cy="6858000"/>
          </a:xfrm>
          <a:prstGeom prst="rect">
            <a:avLst/>
          </a:prstGeom>
        </p:spPr>
      </p:pic>
      <p:sp>
        <p:nvSpPr>
          <p:cNvPr id="16" name="TextBox 15">
            <a:extLst>
              <a:ext uri="{FF2B5EF4-FFF2-40B4-BE49-F238E27FC236}">
                <a16:creationId xmlns:a16="http://schemas.microsoft.com/office/drawing/2014/main" id="{89C3EB64-A851-71DD-8882-1FDB7C2E99CB}"/>
              </a:ext>
            </a:extLst>
          </p:cNvPr>
          <p:cNvSpPr txBox="1"/>
          <p:nvPr/>
        </p:nvSpPr>
        <p:spPr>
          <a:xfrm>
            <a:off x="1603772"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8" y="1549492"/>
            <a:ext cx="6265272"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accent3">
                    <a:lumMod val="25000"/>
                  </a:schemeClr>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6265272"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accent3">
                    <a:lumMod val="2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437477102"/>
      </p:ext>
    </p:extLst>
  </p:cSld>
  <p:clrMapOvr>
    <a:masterClrMapping/>
  </p:clrMapOvr>
  <p:transition spd="med"/>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
    <p:bg>
      <p:bgPr>
        <a:solidFill>
          <a:srgbClr val="1E0113"/>
        </a:solidFill>
        <a:effectLst/>
      </p:bgPr>
    </p:bg>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89C3EB64-A851-71DD-8882-1FDB7C2E99CB}"/>
              </a:ext>
            </a:extLst>
          </p:cNvPr>
          <p:cNvSpPr txBox="1"/>
          <p:nvPr userDrawn="1"/>
        </p:nvSpPr>
        <p:spPr>
          <a:xfrm>
            <a:off x="1602806"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9923824"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9923824"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pic>
        <p:nvPicPr>
          <p:cNvPr id="14" name="图像" descr="图像">
            <a:extLst>
              <a:ext uri="{FF2B5EF4-FFF2-40B4-BE49-F238E27FC236}">
                <a16:creationId xmlns:a16="http://schemas.microsoft.com/office/drawing/2014/main" id="{6E74FFC8-838C-4A9E-AEC5-E95B94BA799E}"/>
              </a:ext>
            </a:extLst>
          </p:cNvPr>
          <p:cNvPicPr>
            <a:picLocks noChangeAspect="1"/>
          </p:cNvPicPr>
          <p:nvPr userDrawn="1"/>
        </p:nvPicPr>
        <p:blipFill>
          <a:blip r:embed="rId2"/>
          <a:stretch>
            <a:fillRect/>
          </a:stretch>
        </p:blipFill>
        <p:spPr>
          <a:xfrm>
            <a:off x="10353183" y="6358296"/>
            <a:ext cx="1284334" cy="385200"/>
          </a:xfrm>
          <a:prstGeom prst="rect">
            <a:avLst/>
          </a:prstGeom>
          <a:ln w="12700">
            <a:miter lim="400000"/>
          </a:ln>
        </p:spPr>
      </p:pic>
    </p:spTree>
    <p:extLst>
      <p:ext uri="{BB962C8B-B14F-4D97-AF65-F5344CB8AC3E}">
        <p14:creationId xmlns:p14="http://schemas.microsoft.com/office/powerpoint/2010/main" val="2820820296"/>
      </p:ext>
    </p:extLst>
  </p:cSld>
  <p:clrMapOvr>
    <a:masterClrMapping/>
  </p:clrMapOvr>
  <p:transition spd="med"/>
</p:sldLayout>
</file>

<file path=ppt/slideLayouts/slideLayout269.xml><?xml version="1.0" encoding="utf-8"?>
<p:sldLayout xmlns:a="http://schemas.openxmlformats.org/drawingml/2006/main" xmlns:r="http://schemas.openxmlformats.org/officeDocument/2006/relationships" xmlns:p="http://schemas.openxmlformats.org/presentationml/2006/main" showMasterSp="0" preserve="1">
  <p:cSld name="Section Header_Black_2">
    <p:bg>
      <p:bgRef idx="1001">
        <a:schemeClr val="bg1"/>
      </p:bgRef>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BCB70D7F-DA6D-4CCD-81E9-90248EF641E0}"/>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pic>
        <p:nvPicPr>
          <p:cNvPr id="27" name="Picture 26">
            <a:extLst>
              <a:ext uri="{FF2B5EF4-FFF2-40B4-BE49-F238E27FC236}">
                <a16:creationId xmlns:a16="http://schemas.microsoft.com/office/drawing/2014/main" id="{4E412EDD-C562-F92D-41A2-18849B2F30C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7618809" y="36"/>
            <a:ext cx="4573191" cy="6857929"/>
          </a:xfrm>
          <a:prstGeom prst="rect">
            <a:avLst/>
          </a:prstGeom>
        </p:spPr>
      </p:pic>
      <p:sp>
        <p:nvSpPr>
          <p:cNvPr id="16" name="TextBox 15">
            <a:extLst>
              <a:ext uri="{FF2B5EF4-FFF2-40B4-BE49-F238E27FC236}">
                <a16:creationId xmlns:a16="http://schemas.microsoft.com/office/drawing/2014/main" id="{C50D814F-EE5B-C084-7424-D39C0DE54FF7}"/>
              </a:ext>
            </a:extLst>
          </p:cNvPr>
          <p:cNvSpPr txBox="1"/>
          <p:nvPr/>
        </p:nvSpPr>
        <p:spPr>
          <a:xfrm>
            <a:off x="1603772"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3C498D60-2F6C-6ADE-BB9A-D957660E0731}"/>
              </a:ext>
            </a:extLst>
          </p:cNvPr>
          <p:cNvGrpSpPr>
            <a:grpSpLocks noChangeAspect="1"/>
          </p:cNvGrpSpPr>
          <p:nvPr/>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C8414641-DA5A-BDF2-889C-1430A63E358C}"/>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6CAA72E6-FAE3-6740-34C0-7A08091254BD}"/>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0EE70422-5E10-8634-79CC-15428116CD0F}"/>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F9B9866C-878A-3BAE-D601-6317EEEB78A9}"/>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20DD7C9B-A88C-7ECB-27AE-CB4579CDB90D}"/>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084B2859-A58F-9171-5328-94CFD162F589}"/>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DC1829C2-6CD9-FE35-3F45-EEC10E2F169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6265272" cy="2405203"/>
          </a:xfrm>
          <a:prstGeom prst="rect">
            <a:avLst/>
          </a:prstGeom>
        </p:spPr>
        <p:txBody>
          <a:bodyPr lIns="0" tIns="0" rIns="0" bIns="0" anchor="b" anchorCtr="0"/>
          <a:lstStyle>
            <a:lvl1pPr marL="0" algn="l" defTabSz="1218987" rtl="0" eaLnBrk="1" latinLnBrk="0" hangingPunct="1">
              <a:lnSpc>
                <a:spcPct val="85000"/>
              </a:lnSpc>
              <a:spcBef>
                <a:spcPct val="0"/>
              </a:spcBef>
              <a:buNone/>
              <a:defRPr lang="en-US" sz="6000"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6265272" cy="327013"/>
          </a:xfrm>
          <a:prstGeom prst="rect">
            <a:avLst/>
          </a:prstGeom>
        </p:spPr>
        <p:txBody>
          <a:bodyPr lIns="0" tIns="0" rIns="0" bIns="0" anchor="t" anchorCtr="0">
            <a:spAutoFit/>
          </a:bodyPr>
          <a:lstStyle>
            <a:lvl1pPr marL="0" indent="0">
              <a:lnSpc>
                <a:spcPct val="85000"/>
              </a:lnSpc>
              <a:spcBef>
                <a:spcPts val="0"/>
              </a:spcBef>
              <a:buNone/>
              <a:defRPr sz="2500"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2" name="Slide Number Placeholder 1">
            <a:extLst>
              <a:ext uri="{FF2B5EF4-FFF2-40B4-BE49-F238E27FC236}">
                <a16:creationId xmlns:a16="http://schemas.microsoft.com/office/drawing/2014/main" id="{E01CC465-FDF1-C0A2-5A83-FB03B2F0F4B6}"/>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452302978"/>
      </p:ext>
    </p:extLst>
  </p:cSld>
  <p:clrMapOvr>
    <a:overrideClrMapping bg1="dk1" tx1="lt1" bg2="dk2" tx2="lt2" accent1="accent1" accent2="accent2" accent3="accent3" accent4="accent4" accent5="accent5" accent6="accent6" hlink="hlink" folHlink="folHlink"/>
  </p:clrMapOvr>
  <p:transition spd="med"/>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preserve="1">
  <p:cSld name="Section Header_Black_3">
    <p:bg>
      <p:bgRef idx="1001">
        <a:schemeClr val="bg1"/>
      </p:bgRef>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D2ED0643-8C31-4A20-AE73-693EFF66546C}"/>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pic>
        <p:nvPicPr>
          <p:cNvPr id="28" name="Picture 27" descr="A picture containing tree, plant&#10;&#10;Description automatically generated">
            <a:extLst>
              <a:ext uri="{FF2B5EF4-FFF2-40B4-BE49-F238E27FC236}">
                <a16:creationId xmlns:a16="http://schemas.microsoft.com/office/drawing/2014/main" id="{9C99B980-13C4-5E34-911C-94CDEEA6063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18809" y="0"/>
            <a:ext cx="4573191" cy="6858000"/>
          </a:xfrm>
          <a:prstGeom prst="rect">
            <a:avLst/>
          </a:prstGeom>
        </p:spPr>
      </p:pic>
      <p:sp>
        <p:nvSpPr>
          <p:cNvPr id="16" name="TextBox 15">
            <a:extLst>
              <a:ext uri="{FF2B5EF4-FFF2-40B4-BE49-F238E27FC236}">
                <a16:creationId xmlns:a16="http://schemas.microsoft.com/office/drawing/2014/main" id="{C50D814F-EE5B-C084-7424-D39C0DE54FF7}"/>
              </a:ext>
            </a:extLst>
          </p:cNvPr>
          <p:cNvSpPr txBox="1"/>
          <p:nvPr/>
        </p:nvSpPr>
        <p:spPr>
          <a:xfrm>
            <a:off x="1603772"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3C498D60-2F6C-6ADE-BB9A-D957660E0731}"/>
              </a:ext>
            </a:extLst>
          </p:cNvPr>
          <p:cNvGrpSpPr>
            <a:grpSpLocks noChangeAspect="1"/>
          </p:cNvGrpSpPr>
          <p:nvPr/>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C8414641-DA5A-BDF2-889C-1430A63E358C}"/>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6CAA72E6-FAE3-6740-34C0-7A08091254BD}"/>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0EE70422-5E10-8634-79CC-15428116CD0F}"/>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F9B9866C-878A-3BAE-D601-6317EEEB78A9}"/>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20DD7C9B-A88C-7ECB-27AE-CB4579CDB90D}"/>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084B2859-A58F-9171-5328-94CFD162F589}"/>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DC1829C2-6CD9-FE35-3F45-EEC10E2F169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6265272" cy="2405203"/>
          </a:xfrm>
          <a:prstGeom prst="rect">
            <a:avLst/>
          </a:prstGeom>
        </p:spPr>
        <p:txBody>
          <a:bodyPr lIns="0" tIns="0" rIns="0" bIns="0" anchor="b" anchorCtr="0"/>
          <a:lstStyle>
            <a:lvl1pPr marL="0" algn="l" defTabSz="1218987" rtl="0" eaLnBrk="1" latinLnBrk="0" hangingPunct="1">
              <a:lnSpc>
                <a:spcPct val="85000"/>
              </a:lnSpc>
              <a:spcBef>
                <a:spcPct val="0"/>
              </a:spcBef>
              <a:buNone/>
              <a:defRPr lang="en-US" sz="6000"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6265272" cy="327013"/>
          </a:xfrm>
          <a:prstGeom prst="rect">
            <a:avLst/>
          </a:prstGeom>
        </p:spPr>
        <p:txBody>
          <a:bodyPr lIns="0" tIns="0" rIns="0" bIns="0" anchor="t" anchorCtr="0">
            <a:spAutoFit/>
          </a:bodyPr>
          <a:lstStyle>
            <a:lvl1pPr marL="0" indent="0">
              <a:lnSpc>
                <a:spcPct val="85000"/>
              </a:lnSpc>
              <a:spcBef>
                <a:spcPts val="0"/>
              </a:spcBef>
              <a:buNone/>
              <a:defRPr sz="2500"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2" name="Slide Number Placeholder 1">
            <a:extLst>
              <a:ext uri="{FF2B5EF4-FFF2-40B4-BE49-F238E27FC236}">
                <a16:creationId xmlns:a16="http://schemas.microsoft.com/office/drawing/2014/main" id="{E01CC465-FDF1-C0A2-5A83-FB03B2F0F4B6}"/>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937588425"/>
      </p:ext>
    </p:extLst>
  </p:cSld>
  <p:clrMapOvr>
    <a:overrideClrMapping bg1="dk1" tx1="lt1" bg2="dk2" tx2="lt2" accent1="accent1" accent2="accent2" accent3="accent3" accent4="accent4" accent5="accent5" accent6="accent6" hlink="hlink" folHlink="folHlink"/>
  </p:clrMapOvr>
  <p:transition spd="med"/>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99A0C0A2-1C95-CF60-15E7-57B445A8992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547143531"/>
      </p:ext>
    </p:extLst>
  </p:cSld>
  <p:clrMapOvr>
    <a:masterClrMapping/>
  </p:clrMapOvr>
  <p:transition spd="med"/>
</p:sldLayout>
</file>

<file path=ppt/slideLayouts/slideLayout272.xml><?xml version="1.0" encoding="utf-8"?>
<p:sldLayout xmlns:a="http://schemas.openxmlformats.org/drawingml/2006/main" xmlns:r="http://schemas.openxmlformats.org/officeDocument/2006/relationships" xmlns:p="http://schemas.openxmlformats.org/presentationml/2006/main" showMasterSp="0" preserve="1">
  <p:cSld name="Title Only_Black">
    <p:bg>
      <p:bgPr>
        <a:solidFill>
          <a:srgbClr val="1E0113"/>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5" name="TextBox 24">
            <a:extLst>
              <a:ext uri="{FF2B5EF4-FFF2-40B4-BE49-F238E27FC236}">
                <a16:creationId xmlns:a16="http://schemas.microsoft.com/office/drawing/2014/main" id="{CBEE098D-3AB1-76DB-7D94-47416B95B315}"/>
              </a:ext>
            </a:extLst>
          </p:cNvPr>
          <p:cNvSpPr txBox="1"/>
          <p:nvPr/>
        </p:nvSpPr>
        <p:spPr>
          <a:xfrm>
            <a:off x="1602706"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26" name="Group 25">
            <a:extLst>
              <a:ext uri="{FF2B5EF4-FFF2-40B4-BE49-F238E27FC236}">
                <a16:creationId xmlns:a16="http://schemas.microsoft.com/office/drawing/2014/main" id="{7D3A8838-C4DB-A234-AE13-77FD359114A0}"/>
              </a:ext>
            </a:extLst>
          </p:cNvPr>
          <p:cNvGrpSpPr>
            <a:grpSpLocks noChangeAspect="1"/>
          </p:cNvGrpSpPr>
          <p:nvPr/>
        </p:nvGrpSpPr>
        <p:grpSpPr>
          <a:xfrm>
            <a:off x="760611" y="6348283"/>
            <a:ext cx="777442" cy="259316"/>
            <a:chOff x="547688" y="952500"/>
            <a:chExt cx="12190413" cy="4067175"/>
          </a:xfrm>
        </p:grpSpPr>
        <p:sp>
          <p:nvSpPr>
            <p:cNvPr id="27" name="Rectangle 26">
              <a:extLst>
                <a:ext uri="{FF2B5EF4-FFF2-40B4-BE49-F238E27FC236}">
                  <a16:creationId xmlns:a16="http://schemas.microsoft.com/office/drawing/2014/main" id="{27C46987-CA04-04BE-C5FA-56E293EEB905}"/>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8" name="Freeform 7">
              <a:extLst>
                <a:ext uri="{FF2B5EF4-FFF2-40B4-BE49-F238E27FC236}">
                  <a16:creationId xmlns:a16="http://schemas.microsoft.com/office/drawing/2014/main" id="{91EA1B80-EF2A-EAE6-2B00-FF82A1405645}"/>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9" name="Freeform 8">
              <a:extLst>
                <a:ext uri="{FF2B5EF4-FFF2-40B4-BE49-F238E27FC236}">
                  <a16:creationId xmlns:a16="http://schemas.microsoft.com/office/drawing/2014/main" id="{679F583A-C57A-3239-E8A4-1C575A0EA73C}"/>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0" name="Freeform 9">
              <a:extLst>
                <a:ext uri="{FF2B5EF4-FFF2-40B4-BE49-F238E27FC236}">
                  <a16:creationId xmlns:a16="http://schemas.microsoft.com/office/drawing/2014/main" id="{36324797-C488-8192-F77E-9F600E5490D0}"/>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1" name="Freeform 10">
              <a:extLst>
                <a:ext uri="{FF2B5EF4-FFF2-40B4-BE49-F238E27FC236}">
                  <a16:creationId xmlns:a16="http://schemas.microsoft.com/office/drawing/2014/main" id="{6A067FCF-35DE-4E09-CCD5-280D653D4A60}"/>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2" name="Freeform 10">
              <a:extLst>
                <a:ext uri="{FF2B5EF4-FFF2-40B4-BE49-F238E27FC236}">
                  <a16:creationId xmlns:a16="http://schemas.microsoft.com/office/drawing/2014/main" id="{65171654-F4B2-F1B9-6AF4-18F3A499E487}"/>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3" name="Freeform 11">
              <a:extLst>
                <a:ext uri="{FF2B5EF4-FFF2-40B4-BE49-F238E27FC236}">
                  <a16:creationId xmlns:a16="http://schemas.microsoft.com/office/drawing/2014/main" id="{7E3A5950-4507-5E83-F8E2-F78AD0930D0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 name="Slide Number Placeholder 1">
            <a:extLst>
              <a:ext uri="{FF2B5EF4-FFF2-40B4-BE49-F238E27FC236}">
                <a16:creationId xmlns:a16="http://schemas.microsoft.com/office/drawing/2014/main" id="{A245D89D-54AB-A7D6-4141-95E6B3C3695D}"/>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pic>
        <p:nvPicPr>
          <p:cNvPr id="13" name="图像" descr="图像">
            <a:extLst>
              <a:ext uri="{FF2B5EF4-FFF2-40B4-BE49-F238E27FC236}">
                <a16:creationId xmlns:a16="http://schemas.microsoft.com/office/drawing/2014/main" id="{174B4021-3F45-4710-AF12-EFE89FDFFDE9}"/>
              </a:ext>
            </a:extLst>
          </p:cNvPr>
          <p:cNvPicPr>
            <a:picLocks noChangeAspect="1"/>
          </p:cNvPicPr>
          <p:nvPr userDrawn="1"/>
        </p:nvPicPr>
        <p:blipFill>
          <a:blip r:embed="rId2"/>
          <a:stretch>
            <a:fillRect/>
          </a:stretch>
        </p:blipFill>
        <p:spPr>
          <a:xfrm>
            <a:off x="10353183" y="6358296"/>
            <a:ext cx="1284334" cy="385200"/>
          </a:xfrm>
          <a:prstGeom prst="rect">
            <a:avLst/>
          </a:prstGeom>
          <a:ln w="12700">
            <a:miter lim="400000"/>
          </a:ln>
        </p:spPr>
      </p:pic>
    </p:spTree>
    <p:extLst>
      <p:ext uri="{BB962C8B-B14F-4D97-AF65-F5344CB8AC3E}">
        <p14:creationId xmlns:p14="http://schemas.microsoft.com/office/powerpoint/2010/main" val="3300576390"/>
      </p:ext>
    </p:extLst>
  </p:cSld>
  <p:clrMapOvr>
    <a:overrideClrMapping bg1="dk1" tx1="lt1" bg2="dk2" tx2="lt2" accent1="accent1" accent2="accent2" accent3="accent3" accent4="accent4" accent5="accent5" accent6="accent6" hlink="hlink" folHlink="folHlink"/>
  </p:clrMapOvr>
  <p:transition spd="med"/>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55B6443-4299-282C-565B-68E5F9702780}"/>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709414002"/>
      </p:ext>
    </p:extLst>
  </p:cSld>
  <p:clrMapOvr>
    <a:masterClrMapping/>
  </p:clrMapOvr>
  <p:transition spd="med"/>
</p:sldLayout>
</file>

<file path=ppt/slideLayouts/slideLayout274.xml><?xml version="1.0" encoding="utf-8"?>
<p:sldLayout xmlns:a="http://schemas.openxmlformats.org/drawingml/2006/main" xmlns:r="http://schemas.openxmlformats.org/officeDocument/2006/relationships" xmlns:p="http://schemas.openxmlformats.org/presentationml/2006/main" showMasterSp="0" preserve="1" userDrawn="1">
  <p:cSld name="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548783" y="1685684"/>
            <a:ext cx="9962830" cy="2894768"/>
          </a:xfrm>
          <a:prstGeom prst="rect">
            <a:avLst/>
          </a:prstGeom>
        </p:spPr>
        <p:txBody>
          <a:bodyPr wrap="square" lIns="0" tIns="0" rIns="121899" bIns="0" anchor="b" anchorCtr="0"/>
          <a:lstStyle>
            <a:lvl1pPr marL="0" algn="l" defTabSz="1218255" rtl="0" eaLnBrk="1" latinLnBrk="0" hangingPunct="1">
              <a:lnSpc>
                <a:spcPts val="6796"/>
              </a:lnSpc>
              <a:spcBef>
                <a:spcPct val="0"/>
              </a:spcBef>
              <a:buNone/>
              <a:defRPr lang="en-US" sz="7996" b="1" kern="1200" cap="none" spc="-15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br>
              <a:rPr lang="en-US"/>
            </a:br>
            <a:r>
              <a:rPr lang="en-US"/>
              <a:t>three lines</a:t>
            </a:r>
          </a:p>
        </p:txBody>
      </p:sp>
      <p:sp>
        <p:nvSpPr>
          <p:cNvPr id="55" name="Subtitle 2"/>
          <p:cNvSpPr>
            <a:spLocks noGrp="1"/>
          </p:cNvSpPr>
          <p:nvPr userDrawn="1">
            <p:ph type="subTitle" idx="1" hasCustomPrompt="1"/>
          </p:nvPr>
        </p:nvSpPr>
        <p:spPr bwMode="gray">
          <a:xfrm>
            <a:off x="548783" y="4715116"/>
            <a:ext cx="9952388" cy="457200"/>
          </a:xfrm>
          <a:prstGeom prst="rect">
            <a:avLst/>
          </a:prstGeom>
        </p:spPr>
        <p:txBody>
          <a:bodyPr lIns="0" tIns="0" rIns="0" bIns="0" anchor="b" anchorCtr="0"/>
          <a:lstStyle>
            <a:lvl1pPr marL="0" indent="0" algn="l" defTabSz="1218255" rtl="0" eaLnBrk="1" latinLnBrk="0" hangingPunct="1">
              <a:lnSpc>
                <a:spcPct val="90000"/>
              </a:lnSpc>
              <a:spcBef>
                <a:spcPct val="0"/>
              </a:spcBef>
              <a:buNone/>
              <a:defRPr lang="en-US" sz="2598" b="0" kern="1200" cap="none" spc="0" baseline="0" dirty="0">
                <a:solidFill>
                  <a:schemeClr val="tx1"/>
                </a:solidFill>
                <a:latin typeface="Arial" pitchFamily="34" charset="0"/>
                <a:ea typeface="+mn-ea"/>
                <a:cs typeface="Arial" pitchFamily="34" charset="0"/>
              </a:defRPr>
            </a:lvl1pPr>
            <a:lvl2pPr marL="609127" indent="0" algn="ctr">
              <a:buNone/>
              <a:defRPr>
                <a:solidFill>
                  <a:schemeClr val="tx1">
                    <a:tint val="75000"/>
                  </a:schemeClr>
                </a:solidFill>
              </a:defRPr>
            </a:lvl2pPr>
            <a:lvl3pPr marL="1218255" indent="0" algn="ctr">
              <a:buNone/>
              <a:defRPr>
                <a:solidFill>
                  <a:schemeClr val="tx1">
                    <a:tint val="75000"/>
                  </a:schemeClr>
                </a:solidFill>
              </a:defRPr>
            </a:lvl3pPr>
            <a:lvl4pPr marL="1827383" indent="0" algn="ctr">
              <a:buNone/>
              <a:defRPr>
                <a:solidFill>
                  <a:schemeClr val="tx1">
                    <a:tint val="75000"/>
                  </a:schemeClr>
                </a:solidFill>
              </a:defRPr>
            </a:lvl4pPr>
            <a:lvl5pPr marL="2436511" indent="0" algn="ctr">
              <a:buNone/>
              <a:defRPr>
                <a:solidFill>
                  <a:schemeClr val="tx1">
                    <a:tint val="75000"/>
                  </a:schemeClr>
                </a:solidFill>
              </a:defRPr>
            </a:lvl5pPr>
            <a:lvl6pPr marL="3045639" indent="0" algn="ctr">
              <a:buNone/>
              <a:defRPr>
                <a:solidFill>
                  <a:schemeClr val="tx1">
                    <a:tint val="75000"/>
                  </a:schemeClr>
                </a:solidFill>
              </a:defRPr>
            </a:lvl6pPr>
            <a:lvl7pPr marL="3654766" indent="0" algn="ctr">
              <a:buNone/>
              <a:defRPr>
                <a:solidFill>
                  <a:schemeClr val="tx1">
                    <a:tint val="75000"/>
                  </a:schemeClr>
                </a:solidFill>
              </a:defRPr>
            </a:lvl7pPr>
            <a:lvl8pPr marL="4263893" indent="0" algn="ctr">
              <a:buNone/>
              <a:defRPr>
                <a:solidFill>
                  <a:schemeClr val="tx1">
                    <a:tint val="75000"/>
                  </a:schemeClr>
                </a:solidFill>
              </a:defRPr>
            </a:lvl8pPr>
            <a:lvl9pPr marL="4873022"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548783" y="6473952"/>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2020 Lenovo Internal. All rights reserved.</a:t>
            </a:r>
          </a:p>
        </p:txBody>
      </p:sp>
      <p:grpSp>
        <p:nvGrpSpPr>
          <p:cNvPr id="48" name="Group 47">
            <a:extLst>
              <a:ext uri="{FF2B5EF4-FFF2-40B4-BE49-F238E27FC236}">
                <a16:creationId xmlns:a16="http://schemas.microsoft.com/office/drawing/2014/main" id="{F4B5B53C-9814-4319-B2AA-2C21FFC03C69}"/>
              </a:ext>
            </a:extLst>
          </p:cNvPr>
          <p:cNvGrpSpPr>
            <a:grpSpLocks noChangeAspect="1"/>
          </p:cNvGrpSpPr>
          <p:nvPr userDrawn="1"/>
        </p:nvGrpSpPr>
        <p:grpSpPr>
          <a:xfrm rot="16200000">
            <a:off x="9858492" y="2024530"/>
            <a:ext cx="3499241" cy="1167779"/>
            <a:chOff x="547688" y="952500"/>
            <a:chExt cx="12190413" cy="4067175"/>
          </a:xfrm>
        </p:grpSpPr>
        <p:sp>
          <p:nvSpPr>
            <p:cNvPr id="50" name="Rectangle 49">
              <a:extLst>
                <a:ext uri="{FF2B5EF4-FFF2-40B4-BE49-F238E27FC236}">
                  <a16:creationId xmlns:a16="http://schemas.microsoft.com/office/drawing/2014/main" id="{A86DAFFA-DD2C-4B45-869C-80A8537FFB18}"/>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1" name="Freeform 7">
              <a:extLst>
                <a:ext uri="{FF2B5EF4-FFF2-40B4-BE49-F238E27FC236}">
                  <a16:creationId xmlns:a16="http://schemas.microsoft.com/office/drawing/2014/main" id="{26F6C622-0F1C-400B-80F7-27499D487BE0}"/>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2" name="Freeform 8">
              <a:extLst>
                <a:ext uri="{FF2B5EF4-FFF2-40B4-BE49-F238E27FC236}">
                  <a16:creationId xmlns:a16="http://schemas.microsoft.com/office/drawing/2014/main" id="{3843D85E-D61D-49D2-8C0B-2814AA27614C}"/>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3" name="Freeform 9">
              <a:extLst>
                <a:ext uri="{FF2B5EF4-FFF2-40B4-BE49-F238E27FC236}">
                  <a16:creationId xmlns:a16="http://schemas.microsoft.com/office/drawing/2014/main" id="{3230BEAE-88C1-454A-9CCC-1D4B1775E57B}"/>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4" name="Freeform 10">
              <a:extLst>
                <a:ext uri="{FF2B5EF4-FFF2-40B4-BE49-F238E27FC236}">
                  <a16:creationId xmlns:a16="http://schemas.microsoft.com/office/drawing/2014/main" id="{051B78A0-6BF0-417B-86F2-F30C15214E88}"/>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7" name="Freeform 10">
              <a:extLst>
                <a:ext uri="{FF2B5EF4-FFF2-40B4-BE49-F238E27FC236}">
                  <a16:creationId xmlns:a16="http://schemas.microsoft.com/office/drawing/2014/main" id="{DC72F71B-EE86-4EF7-B865-447B4ED71B2C}"/>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8" name="Freeform 11">
              <a:extLst>
                <a:ext uri="{FF2B5EF4-FFF2-40B4-BE49-F238E27FC236}">
                  <a16:creationId xmlns:a16="http://schemas.microsoft.com/office/drawing/2014/main" id="{A3EC0C04-B0DD-4A32-813E-011A695342F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63" name="Freeform 5">
            <a:extLst>
              <a:ext uri="{FF2B5EF4-FFF2-40B4-BE49-F238E27FC236}">
                <a16:creationId xmlns:a16="http://schemas.microsoft.com/office/drawing/2014/main" id="{433BBA68-D2F6-45DA-B6D3-4CBDACC1E270}"/>
              </a:ext>
            </a:extLst>
          </p:cNvPr>
          <p:cNvSpPr>
            <a:spLocks noChangeAspect="1" noEditPoints="1"/>
          </p:cNvSpPr>
          <p:nvPr userDrawn="1"/>
        </p:nvSpPr>
        <p:spPr bwMode="auto">
          <a:xfrm>
            <a:off x="548785" y="858794"/>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gradFill>
            <a:gsLst>
              <a:gs pos="100000">
                <a:srgbClr val="F15F22"/>
              </a:gs>
              <a:gs pos="54000">
                <a:srgbClr val="F06422"/>
              </a:gs>
              <a:gs pos="76000">
                <a:srgbClr val="E32526"/>
              </a:gs>
              <a:gs pos="0">
                <a:srgbClr val="E32F2A"/>
              </a:gs>
              <a:gs pos="26000">
                <a:srgbClr val="A32022"/>
              </a:gs>
            </a:gsLst>
            <a:lin ang="2400000" scaled="0"/>
          </a:gradFill>
          <a:ln>
            <a:noFill/>
          </a:ln>
        </p:spPr>
        <p:txBody>
          <a:bodyPr vert="horz" wrap="square" lIns="91392" tIns="45696" rIns="91392" bIns="45696" numCol="1" anchor="t" anchorCtr="0" compatLnSpc="1">
            <a:prstTxWarp prst="textNoShape">
              <a:avLst/>
            </a:prstTxWarp>
          </a:bodyPr>
          <a:lstStyle/>
          <a:p>
            <a:endParaRPr lang="en-US" sz="1798"/>
          </a:p>
        </p:txBody>
      </p:sp>
    </p:spTree>
    <p:extLst>
      <p:ext uri="{BB962C8B-B14F-4D97-AF65-F5344CB8AC3E}">
        <p14:creationId xmlns:p14="http://schemas.microsoft.com/office/powerpoint/2010/main" val="1801216809"/>
      </p:ext>
    </p:extLst>
  </p:cSld>
  <p:clrMapOvr>
    <a:masterClrMapping/>
  </p:clrMapOvr>
  <p:transition spd="med"/>
</p:sldLayout>
</file>

<file path=ppt/slideLayouts/slideLayout275.xml><?xml version="1.0" encoding="utf-8"?>
<p:sldLayout xmlns:a="http://schemas.openxmlformats.org/drawingml/2006/main" xmlns:r="http://schemas.openxmlformats.org/officeDocument/2006/relationships" xmlns:p="http://schemas.openxmlformats.org/presentationml/2006/main" showMasterSp="0" preserve="1" userDrawn="1">
  <p:cSld name="Title Slide_Black">
    <p:bg>
      <p:bgPr>
        <a:solidFill>
          <a:schemeClr val="tx1"/>
        </a:solidFill>
        <a:effectLst/>
      </p:bgPr>
    </p:bg>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548783" y="1682496"/>
            <a:ext cx="9962830" cy="2898648"/>
          </a:xfrm>
          <a:prstGeom prst="rect">
            <a:avLst/>
          </a:prstGeom>
        </p:spPr>
        <p:txBody>
          <a:bodyPr lIns="0" tIns="0" rIns="121899" bIns="0" anchor="b" anchorCtr="0"/>
          <a:lstStyle>
            <a:lvl1pPr marL="0" algn="l" defTabSz="1218255" rtl="0" eaLnBrk="1" latinLnBrk="0" hangingPunct="1">
              <a:lnSpc>
                <a:spcPts val="6796"/>
              </a:lnSpc>
              <a:spcBef>
                <a:spcPct val="0"/>
              </a:spcBef>
              <a:buNone/>
              <a:defRPr lang="en-US" sz="7996" b="1" kern="1200" cap="none" spc="-150" baseline="0" dirty="0">
                <a:solidFill>
                  <a:schemeClr val="bg1"/>
                </a:solidFill>
                <a:latin typeface="Arial" pitchFamily="34" charset="0"/>
                <a:ea typeface="+mn-ea"/>
                <a:cs typeface="Arial" pitchFamily="34" charset="0"/>
              </a:defRPr>
            </a:lvl1pPr>
          </a:lstStyle>
          <a:p>
            <a:r>
              <a:rPr lang="en-US"/>
              <a:t>Presentation</a:t>
            </a:r>
            <a:br>
              <a:rPr lang="en-US"/>
            </a:br>
            <a:r>
              <a:rPr lang="en-US"/>
              <a:t>title here</a:t>
            </a:r>
            <a:br>
              <a:rPr lang="en-US"/>
            </a:br>
            <a:r>
              <a:rPr lang="en-US"/>
              <a:t>three lines</a:t>
            </a:r>
          </a:p>
        </p:txBody>
      </p:sp>
      <p:sp>
        <p:nvSpPr>
          <p:cNvPr id="55" name="Subtitle 2"/>
          <p:cNvSpPr>
            <a:spLocks noGrp="1"/>
          </p:cNvSpPr>
          <p:nvPr userDrawn="1">
            <p:ph type="subTitle" idx="1" hasCustomPrompt="1"/>
          </p:nvPr>
        </p:nvSpPr>
        <p:spPr bwMode="gray">
          <a:xfrm>
            <a:off x="548783" y="4718304"/>
            <a:ext cx="9952388" cy="457200"/>
          </a:xfrm>
          <a:prstGeom prst="rect">
            <a:avLst/>
          </a:prstGeom>
        </p:spPr>
        <p:txBody>
          <a:bodyPr lIns="0" tIns="0" rIns="0" bIns="0" anchor="b" anchorCtr="0"/>
          <a:lstStyle>
            <a:lvl1pPr marL="0" indent="0" algn="l" defTabSz="1218255" rtl="0" eaLnBrk="1" latinLnBrk="0" hangingPunct="1">
              <a:lnSpc>
                <a:spcPct val="90000"/>
              </a:lnSpc>
              <a:spcBef>
                <a:spcPct val="0"/>
              </a:spcBef>
              <a:buNone/>
              <a:defRPr lang="en-US" sz="2598" b="0" kern="1200" cap="none" spc="0" baseline="0" dirty="0">
                <a:solidFill>
                  <a:schemeClr val="bg1"/>
                </a:solidFill>
                <a:latin typeface="Arial" pitchFamily="34" charset="0"/>
                <a:ea typeface="+mn-ea"/>
                <a:cs typeface="Arial" pitchFamily="34" charset="0"/>
              </a:defRPr>
            </a:lvl1pPr>
            <a:lvl2pPr marL="609127" indent="0" algn="ctr">
              <a:buNone/>
              <a:defRPr>
                <a:solidFill>
                  <a:schemeClr val="tx1">
                    <a:tint val="75000"/>
                  </a:schemeClr>
                </a:solidFill>
              </a:defRPr>
            </a:lvl2pPr>
            <a:lvl3pPr marL="1218255" indent="0" algn="ctr">
              <a:buNone/>
              <a:defRPr>
                <a:solidFill>
                  <a:schemeClr val="tx1">
                    <a:tint val="75000"/>
                  </a:schemeClr>
                </a:solidFill>
              </a:defRPr>
            </a:lvl3pPr>
            <a:lvl4pPr marL="1827383" indent="0" algn="ctr">
              <a:buNone/>
              <a:defRPr>
                <a:solidFill>
                  <a:schemeClr val="tx1">
                    <a:tint val="75000"/>
                  </a:schemeClr>
                </a:solidFill>
              </a:defRPr>
            </a:lvl4pPr>
            <a:lvl5pPr marL="2436511" indent="0" algn="ctr">
              <a:buNone/>
              <a:defRPr>
                <a:solidFill>
                  <a:schemeClr val="tx1">
                    <a:tint val="75000"/>
                  </a:schemeClr>
                </a:solidFill>
              </a:defRPr>
            </a:lvl5pPr>
            <a:lvl6pPr marL="3045639" indent="0" algn="ctr">
              <a:buNone/>
              <a:defRPr>
                <a:solidFill>
                  <a:schemeClr val="tx1">
                    <a:tint val="75000"/>
                  </a:schemeClr>
                </a:solidFill>
              </a:defRPr>
            </a:lvl6pPr>
            <a:lvl7pPr marL="3654766" indent="0" algn="ctr">
              <a:buNone/>
              <a:defRPr>
                <a:solidFill>
                  <a:schemeClr val="tx1">
                    <a:tint val="75000"/>
                  </a:schemeClr>
                </a:solidFill>
              </a:defRPr>
            </a:lvl7pPr>
            <a:lvl8pPr marL="4263893" indent="0" algn="ctr">
              <a:buNone/>
              <a:defRPr>
                <a:solidFill>
                  <a:schemeClr val="tx1">
                    <a:tint val="75000"/>
                  </a:schemeClr>
                </a:solidFill>
              </a:defRPr>
            </a:lvl8pPr>
            <a:lvl9pPr marL="4873022"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548783"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48" name="Group 47">
            <a:extLst>
              <a:ext uri="{FF2B5EF4-FFF2-40B4-BE49-F238E27FC236}">
                <a16:creationId xmlns:a16="http://schemas.microsoft.com/office/drawing/2014/main" id="{AE4354B5-047A-475C-B07D-46E2DFF45FA8}"/>
              </a:ext>
            </a:extLst>
          </p:cNvPr>
          <p:cNvGrpSpPr>
            <a:grpSpLocks noChangeAspect="1"/>
          </p:cNvGrpSpPr>
          <p:nvPr userDrawn="1"/>
        </p:nvGrpSpPr>
        <p:grpSpPr>
          <a:xfrm rot="16200000">
            <a:off x="9858492" y="2024530"/>
            <a:ext cx="3499241" cy="1167779"/>
            <a:chOff x="547688" y="952500"/>
            <a:chExt cx="12190413" cy="4067175"/>
          </a:xfrm>
        </p:grpSpPr>
        <p:sp>
          <p:nvSpPr>
            <p:cNvPr id="95" name="Rectangle 94">
              <a:extLst>
                <a:ext uri="{FF2B5EF4-FFF2-40B4-BE49-F238E27FC236}">
                  <a16:creationId xmlns:a16="http://schemas.microsoft.com/office/drawing/2014/main" id="{33F3F616-0187-486C-92AE-8E9BB4F5D864}"/>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6" name="Freeform 7">
              <a:extLst>
                <a:ext uri="{FF2B5EF4-FFF2-40B4-BE49-F238E27FC236}">
                  <a16:creationId xmlns:a16="http://schemas.microsoft.com/office/drawing/2014/main" id="{39D476EA-97BB-4757-AE8D-46ABA28B578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7" name="Freeform 8">
              <a:extLst>
                <a:ext uri="{FF2B5EF4-FFF2-40B4-BE49-F238E27FC236}">
                  <a16:creationId xmlns:a16="http://schemas.microsoft.com/office/drawing/2014/main" id="{83FC1BD3-A3C2-46E0-8E09-0F43D0DB3EE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8" name="Freeform 9">
              <a:extLst>
                <a:ext uri="{FF2B5EF4-FFF2-40B4-BE49-F238E27FC236}">
                  <a16:creationId xmlns:a16="http://schemas.microsoft.com/office/drawing/2014/main" id="{B07C1556-FAA5-423D-9C3E-BFD6B99A6BBD}"/>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9" name="Freeform 10">
              <a:extLst>
                <a:ext uri="{FF2B5EF4-FFF2-40B4-BE49-F238E27FC236}">
                  <a16:creationId xmlns:a16="http://schemas.microsoft.com/office/drawing/2014/main" id="{1DB9EF8A-92AF-4FB6-9EB8-BBB43909F2F8}"/>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0" name="Freeform 10">
              <a:extLst>
                <a:ext uri="{FF2B5EF4-FFF2-40B4-BE49-F238E27FC236}">
                  <a16:creationId xmlns:a16="http://schemas.microsoft.com/office/drawing/2014/main" id="{07C51CC9-E5B8-4E20-A914-408659940AB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1" name="Freeform 11">
              <a:extLst>
                <a:ext uri="{FF2B5EF4-FFF2-40B4-BE49-F238E27FC236}">
                  <a16:creationId xmlns:a16="http://schemas.microsoft.com/office/drawing/2014/main" id="{B5BD15B5-4CE4-4224-95C9-541647C53947}"/>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102" name="Freeform 5">
            <a:extLst>
              <a:ext uri="{FF2B5EF4-FFF2-40B4-BE49-F238E27FC236}">
                <a16:creationId xmlns:a16="http://schemas.microsoft.com/office/drawing/2014/main" id="{8B5168CF-498E-4EAB-8120-11D6F6835047}"/>
              </a:ext>
            </a:extLst>
          </p:cNvPr>
          <p:cNvSpPr>
            <a:spLocks noChangeAspect="1" noEditPoints="1"/>
          </p:cNvSpPr>
          <p:nvPr userDrawn="1"/>
        </p:nvSpPr>
        <p:spPr bwMode="auto">
          <a:xfrm>
            <a:off x="548785" y="858794"/>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gradFill>
            <a:gsLst>
              <a:gs pos="100000">
                <a:srgbClr val="F15F22"/>
              </a:gs>
              <a:gs pos="54000">
                <a:srgbClr val="F06422"/>
              </a:gs>
              <a:gs pos="76000">
                <a:srgbClr val="E32526"/>
              </a:gs>
              <a:gs pos="0">
                <a:srgbClr val="E32F2A"/>
              </a:gs>
              <a:gs pos="26000">
                <a:srgbClr val="A32022"/>
              </a:gs>
            </a:gsLst>
            <a:lin ang="2400000" scaled="0"/>
          </a:gradFill>
          <a:ln>
            <a:noFill/>
          </a:ln>
        </p:spPr>
        <p:txBody>
          <a:bodyPr vert="horz" wrap="square" lIns="91392" tIns="45696" rIns="91392" bIns="45696" numCol="1" anchor="t" anchorCtr="0" compatLnSpc="1">
            <a:prstTxWarp prst="textNoShape">
              <a:avLst/>
            </a:prstTxWarp>
          </a:bodyPr>
          <a:lstStyle/>
          <a:p>
            <a:endParaRPr lang="en-US" sz="1798"/>
          </a:p>
        </p:txBody>
      </p:sp>
    </p:spTree>
    <p:extLst>
      <p:ext uri="{BB962C8B-B14F-4D97-AF65-F5344CB8AC3E}">
        <p14:creationId xmlns:p14="http://schemas.microsoft.com/office/powerpoint/2010/main" val="3102658058"/>
      </p:ext>
    </p:extLst>
  </p:cSld>
  <p:clrMapOvr>
    <a:masterClrMapping/>
  </p:clrMapOvr>
  <p:transition spd="med"/>
</p:sldLayout>
</file>

<file path=ppt/slideLayouts/slideLayout276.xml><?xml version="1.0" encoding="utf-8"?>
<p:sldLayout xmlns:a="http://schemas.openxmlformats.org/drawingml/2006/main" xmlns:r="http://schemas.openxmlformats.org/officeDocument/2006/relationships" xmlns:p="http://schemas.openxmlformats.org/presentationml/2006/main" showMasterSp="0" preserve="1" userDrawn="1">
  <p:cSld name="Section Header_White">
    <p:bg>
      <p:bgPr>
        <a:solidFill>
          <a:schemeClr val="bg1"/>
        </a:solidFill>
        <a:effectLst/>
      </p:bgPr>
    </p:bg>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D7C56BA8-590A-4028-A3BD-EBB4F41E7443}"/>
              </a:ext>
            </a:extLst>
          </p:cNvPr>
          <p:cNvGrpSpPr>
            <a:grpSpLocks noChangeAspect="1"/>
          </p:cNvGrpSpPr>
          <p:nvPr userDrawn="1"/>
        </p:nvGrpSpPr>
        <p:grpSpPr>
          <a:xfrm rot="16200000">
            <a:off x="9858492" y="2024530"/>
            <a:ext cx="3499241" cy="1167779"/>
            <a:chOff x="547688" y="952500"/>
            <a:chExt cx="12190413" cy="4067175"/>
          </a:xfrm>
        </p:grpSpPr>
        <p:sp>
          <p:nvSpPr>
            <p:cNvPr id="53" name="Rectangle 52">
              <a:extLst>
                <a:ext uri="{FF2B5EF4-FFF2-40B4-BE49-F238E27FC236}">
                  <a16:creationId xmlns:a16="http://schemas.microsoft.com/office/drawing/2014/main" id="{19186E01-E5DD-4CF8-B980-31578D78DA2C}"/>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4" name="Freeform 7">
              <a:extLst>
                <a:ext uri="{FF2B5EF4-FFF2-40B4-BE49-F238E27FC236}">
                  <a16:creationId xmlns:a16="http://schemas.microsoft.com/office/drawing/2014/main" id="{4297898A-7690-4887-A538-06925E32496A}"/>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5" name="Freeform 8">
              <a:extLst>
                <a:ext uri="{FF2B5EF4-FFF2-40B4-BE49-F238E27FC236}">
                  <a16:creationId xmlns:a16="http://schemas.microsoft.com/office/drawing/2014/main" id="{EBE1A931-8ED4-4023-B1E7-E7C0FCB53CF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6" name="Freeform 9">
              <a:extLst>
                <a:ext uri="{FF2B5EF4-FFF2-40B4-BE49-F238E27FC236}">
                  <a16:creationId xmlns:a16="http://schemas.microsoft.com/office/drawing/2014/main" id="{3DFA30DE-FC15-4449-9A0C-173C6898FE60}"/>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7" name="Freeform 10">
              <a:extLst>
                <a:ext uri="{FF2B5EF4-FFF2-40B4-BE49-F238E27FC236}">
                  <a16:creationId xmlns:a16="http://schemas.microsoft.com/office/drawing/2014/main" id="{2C43BCA4-E25C-47F7-A5A5-C71BAFE37ABD}"/>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8" name="Freeform 10">
              <a:extLst>
                <a:ext uri="{FF2B5EF4-FFF2-40B4-BE49-F238E27FC236}">
                  <a16:creationId xmlns:a16="http://schemas.microsoft.com/office/drawing/2014/main" id="{6476CD2B-51BA-4E82-9674-026AAE497F13}"/>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9" name="Freeform 11">
              <a:extLst>
                <a:ext uri="{FF2B5EF4-FFF2-40B4-BE49-F238E27FC236}">
                  <a16:creationId xmlns:a16="http://schemas.microsoft.com/office/drawing/2014/main" id="{F65A61BF-2424-45EF-AEBD-67F3A1E98F2D}"/>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46" name="Title 16"/>
          <p:cNvSpPr>
            <a:spLocks noGrp="1"/>
          </p:cNvSpPr>
          <p:nvPr>
            <p:ph type="title" hasCustomPrompt="1"/>
          </p:nvPr>
        </p:nvSpPr>
        <p:spPr bwMode="gray">
          <a:xfrm>
            <a:off x="548782" y="1508934"/>
            <a:ext cx="9960410" cy="2405203"/>
          </a:xfrm>
          <a:prstGeom prst="rect">
            <a:avLst/>
          </a:prstGeom>
        </p:spPr>
        <p:txBody>
          <a:bodyPr lIns="0" tIns="0" rIns="0" bIns="0" anchor="b" anchorCtr="0"/>
          <a:lstStyle>
            <a:lvl1pPr marL="0" algn="l" defTabSz="1218255" rtl="0" eaLnBrk="1" latinLnBrk="0" hangingPunct="1">
              <a:lnSpc>
                <a:spcPts val="4998"/>
              </a:lnSpc>
              <a:spcBef>
                <a:spcPct val="0"/>
              </a:spcBef>
              <a:buNone/>
              <a:defRPr lang="en-US" sz="5996"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548783" y="3956227"/>
            <a:ext cx="9960410" cy="462018"/>
          </a:xfrm>
          <a:prstGeom prst="rect">
            <a:avLst/>
          </a:prstGeom>
        </p:spPr>
        <p:txBody>
          <a:bodyPr lIns="0" tIns="0" rIns="0" bIns="0" anchor="b"/>
          <a:lstStyle>
            <a:lvl1pPr marL="0" indent="0">
              <a:lnSpc>
                <a:spcPts val="2398"/>
              </a:lnSpc>
              <a:spcBef>
                <a:spcPts val="0"/>
              </a:spcBef>
              <a:buNone/>
              <a:defRPr sz="2498" spc="0" baseline="0">
                <a:solidFill>
                  <a:schemeClr val="tx1"/>
                </a:solidFill>
              </a:defRPr>
            </a:lvl1pPr>
            <a:lvl2pPr marL="456926" indent="0">
              <a:buNone/>
              <a:defRPr sz="1998">
                <a:solidFill>
                  <a:schemeClr val="tx1">
                    <a:tint val="75000"/>
                  </a:schemeClr>
                </a:solidFill>
              </a:defRPr>
            </a:lvl2pPr>
            <a:lvl3pPr marL="913852" indent="0">
              <a:buNone/>
              <a:defRPr sz="1798">
                <a:solidFill>
                  <a:schemeClr val="tx1">
                    <a:tint val="75000"/>
                  </a:schemeClr>
                </a:solidFill>
              </a:defRPr>
            </a:lvl3pPr>
            <a:lvl4pPr marL="1370778" indent="0">
              <a:buNone/>
              <a:defRPr sz="1600">
                <a:solidFill>
                  <a:schemeClr val="tx1">
                    <a:tint val="75000"/>
                  </a:schemeClr>
                </a:solidFill>
              </a:defRPr>
            </a:lvl4pPr>
            <a:lvl5pPr marL="1827703" indent="0">
              <a:buNone/>
              <a:defRPr sz="1600">
                <a:solidFill>
                  <a:schemeClr val="tx1">
                    <a:tint val="75000"/>
                  </a:schemeClr>
                </a:solidFill>
              </a:defRPr>
            </a:lvl5pPr>
            <a:lvl6pPr marL="2284628" indent="0">
              <a:buNone/>
              <a:defRPr sz="1600">
                <a:solidFill>
                  <a:schemeClr val="tx1">
                    <a:tint val="75000"/>
                  </a:schemeClr>
                </a:solidFill>
              </a:defRPr>
            </a:lvl6pPr>
            <a:lvl7pPr marL="2741554" indent="0">
              <a:buNone/>
              <a:defRPr sz="1600">
                <a:solidFill>
                  <a:schemeClr val="tx1">
                    <a:tint val="75000"/>
                  </a:schemeClr>
                </a:solidFill>
              </a:defRPr>
            </a:lvl7pPr>
            <a:lvl8pPr marL="3198480" indent="0">
              <a:buNone/>
              <a:defRPr sz="1600">
                <a:solidFill>
                  <a:schemeClr val="tx1">
                    <a:tint val="75000"/>
                  </a:schemeClr>
                </a:solidFill>
              </a:defRPr>
            </a:lvl8pPr>
            <a:lvl9pPr marL="3655406" indent="0">
              <a:buNone/>
              <a:defRPr sz="1600">
                <a:solidFill>
                  <a:schemeClr val="tx1">
                    <a:tint val="75000"/>
                  </a:schemeClr>
                </a:solidFill>
              </a:defRPr>
            </a:lvl9pPr>
          </a:lstStyle>
          <a:p>
            <a:pPr lvl="0"/>
            <a:r>
              <a:rPr lang="en-US"/>
              <a:t>Subhead here</a:t>
            </a:r>
          </a:p>
        </p:txBody>
      </p:sp>
      <p:sp>
        <p:nvSpPr>
          <p:cNvPr id="5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5" name="TextBox 74"/>
          <p:cNvSpPr txBox="1"/>
          <p:nvPr userDrawn="1"/>
        </p:nvSpPr>
        <p:spPr>
          <a:xfrm>
            <a:off x="548783" y="6473952"/>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2025 Lenovo Internal. All rights reserved.</a:t>
            </a:r>
          </a:p>
        </p:txBody>
      </p:sp>
    </p:spTree>
    <p:extLst>
      <p:ext uri="{BB962C8B-B14F-4D97-AF65-F5344CB8AC3E}">
        <p14:creationId xmlns:p14="http://schemas.microsoft.com/office/powerpoint/2010/main" val="1047820506"/>
      </p:ext>
    </p:extLst>
  </p:cSld>
  <p:clrMapOvr>
    <a:masterClrMapping/>
  </p:clrMapOvr>
  <p:transition spd="med"/>
</p:sldLayout>
</file>

<file path=ppt/slideLayouts/slideLayout277.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
    <p:bg>
      <p:bgPr>
        <a:solidFill>
          <a:schemeClr val="tx1"/>
        </a:solidFill>
        <a:effectLst/>
      </p:bgPr>
    </p:bg>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D7C56BA8-590A-4028-A3BD-EBB4F41E7443}"/>
              </a:ext>
            </a:extLst>
          </p:cNvPr>
          <p:cNvGrpSpPr>
            <a:grpSpLocks noChangeAspect="1"/>
          </p:cNvGrpSpPr>
          <p:nvPr userDrawn="1"/>
        </p:nvGrpSpPr>
        <p:grpSpPr>
          <a:xfrm rot="16200000">
            <a:off x="9858492" y="2024530"/>
            <a:ext cx="3499241" cy="1167779"/>
            <a:chOff x="547688" y="952500"/>
            <a:chExt cx="12190413" cy="4067175"/>
          </a:xfrm>
        </p:grpSpPr>
        <p:sp>
          <p:nvSpPr>
            <p:cNvPr id="53" name="Rectangle 52">
              <a:extLst>
                <a:ext uri="{FF2B5EF4-FFF2-40B4-BE49-F238E27FC236}">
                  <a16:creationId xmlns:a16="http://schemas.microsoft.com/office/drawing/2014/main" id="{19186E01-E5DD-4CF8-B980-31578D78DA2C}"/>
                </a:ext>
              </a:extLst>
            </p:cNvPr>
            <p:cNvSpPr>
              <a:spLocks noChangeArrowheads="1"/>
            </p:cNvSpPr>
            <p:nvPr userDrawn="1"/>
          </p:nvSpPr>
          <p:spPr bwMode="auto">
            <a:xfrm>
              <a:off x="547688" y="952500"/>
              <a:ext cx="12190413" cy="4067175"/>
            </a:xfrm>
            <a:prstGeom prst="rect">
              <a:avLst/>
            </a:prstGeom>
            <a:gradFill flip="none" rotWithShape="1">
              <a:gsLst>
                <a:gs pos="0">
                  <a:srgbClr val="F2A11F"/>
                </a:gs>
                <a:gs pos="37000">
                  <a:srgbClr val="EC5124"/>
                </a:gs>
                <a:gs pos="79000">
                  <a:srgbClr val="D32A27"/>
                </a:gs>
                <a:gs pos="100000">
                  <a:srgbClr val="7A425E"/>
                </a:gs>
              </a:gsLst>
              <a:lin ang="2400000" scaled="0"/>
              <a:tileRect/>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4" name="Freeform 7">
              <a:extLst>
                <a:ext uri="{FF2B5EF4-FFF2-40B4-BE49-F238E27FC236}">
                  <a16:creationId xmlns:a16="http://schemas.microsoft.com/office/drawing/2014/main" id="{4297898A-7690-4887-A538-06925E32496A}"/>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5" name="Freeform 8">
              <a:extLst>
                <a:ext uri="{FF2B5EF4-FFF2-40B4-BE49-F238E27FC236}">
                  <a16:creationId xmlns:a16="http://schemas.microsoft.com/office/drawing/2014/main" id="{EBE1A931-8ED4-4023-B1E7-E7C0FCB53CF1}"/>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6" name="Freeform 9">
              <a:extLst>
                <a:ext uri="{FF2B5EF4-FFF2-40B4-BE49-F238E27FC236}">
                  <a16:creationId xmlns:a16="http://schemas.microsoft.com/office/drawing/2014/main" id="{3DFA30DE-FC15-4449-9A0C-173C6898FE60}"/>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7" name="Freeform 10">
              <a:extLst>
                <a:ext uri="{FF2B5EF4-FFF2-40B4-BE49-F238E27FC236}">
                  <a16:creationId xmlns:a16="http://schemas.microsoft.com/office/drawing/2014/main" id="{2C43BCA4-E25C-47F7-A5A5-C71BAFE37ABD}"/>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8" name="Freeform 10">
              <a:extLst>
                <a:ext uri="{FF2B5EF4-FFF2-40B4-BE49-F238E27FC236}">
                  <a16:creationId xmlns:a16="http://schemas.microsoft.com/office/drawing/2014/main" id="{6476CD2B-51BA-4E82-9674-026AAE497F13}"/>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9" name="Freeform 11">
              <a:extLst>
                <a:ext uri="{FF2B5EF4-FFF2-40B4-BE49-F238E27FC236}">
                  <a16:creationId xmlns:a16="http://schemas.microsoft.com/office/drawing/2014/main" id="{F65A61BF-2424-45EF-AEBD-67F3A1E98F2D}"/>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46" name="Title 16"/>
          <p:cNvSpPr>
            <a:spLocks noGrp="1"/>
          </p:cNvSpPr>
          <p:nvPr>
            <p:ph type="title" hasCustomPrompt="1"/>
          </p:nvPr>
        </p:nvSpPr>
        <p:spPr bwMode="gray">
          <a:xfrm>
            <a:off x="548782" y="1508934"/>
            <a:ext cx="9960410" cy="2405203"/>
          </a:xfrm>
          <a:prstGeom prst="rect">
            <a:avLst/>
          </a:prstGeom>
        </p:spPr>
        <p:txBody>
          <a:bodyPr lIns="0" tIns="0" rIns="0" bIns="0" anchor="b" anchorCtr="0"/>
          <a:lstStyle>
            <a:lvl1pPr marL="0" algn="l" defTabSz="1218255" rtl="0" eaLnBrk="1" latinLnBrk="0" hangingPunct="1">
              <a:lnSpc>
                <a:spcPts val="4998"/>
              </a:lnSpc>
              <a:spcBef>
                <a:spcPct val="0"/>
              </a:spcBef>
              <a:buNone/>
              <a:defRPr lang="en-US" sz="5996"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548783" y="3956227"/>
            <a:ext cx="9960410" cy="462018"/>
          </a:xfrm>
          <a:prstGeom prst="rect">
            <a:avLst/>
          </a:prstGeom>
        </p:spPr>
        <p:txBody>
          <a:bodyPr lIns="0" tIns="0" rIns="0" bIns="0" anchor="b"/>
          <a:lstStyle>
            <a:lvl1pPr marL="0" indent="0">
              <a:lnSpc>
                <a:spcPts val="2398"/>
              </a:lnSpc>
              <a:spcBef>
                <a:spcPts val="0"/>
              </a:spcBef>
              <a:buNone/>
              <a:defRPr sz="2498" spc="0" baseline="0">
                <a:solidFill>
                  <a:schemeClr val="bg1"/>
                </a:solidFill>
              </a:defRPr>
            </a:lvl1pPr>
            <a:lvl2pPr marL="456926" indent="0">
              <a:buNone/>
              <a:defRPr sz="1998">
                <a:solidFill>
                  <a:schemeClr val="tx1">
                    <a:tint val="75000"/>
                  </a:schemeClr>
                </a:solidFill>
              </a:defRPr>
            </a:lvl2pPr>
            <a:lvl3pPr marL="913852" indent="0">
              <a:buNone/>
              <a:defRPr sz="1798">
                <a:solidFill>
                  <a:schemeClr val="tx1">
                    <a:tint val="75000"/>
                  </a:schemeClr>
                </a:solidFill>
              </a:defRPr>
            </a:lvl3pPr>
            <a:lvl4pPr marL="1370778" indent="0">
              <a:buNone/>
              <a:defRPr sz="1600">
                <a:solidFill>
                  <a:schemeClr val="tx1">
                    <a:tint val="75000"/>
                  </a:schemeClr>
                </a:solidFill>
              </a:defRPr>
            </a:lvl4pPr>
            <a:lvl5pPr marL="1827703" indent="0">
              <a:buNone/>
              <a:defRPr sz="1600">
                <a:solidFill>
                  <a:schemeClr val="tx1">
                    <a:tint val="75000"/>
                  </a:schemeClr>
                </a:solidFill>
              </a:defRPr>
            </a:lvl5pPr>
            <a:lvl6pPr marL="2284628" indent="0">
              <a:buNone/>
              <a:defRPr sz="1600">
                <a:solidFill>
                  <a:schemeClr val="tx1">
                    <a:tint val="75000"/>
                  </a:schemeClr>
                </a:solidFill>
              </a:defRPr>
            </a:lvl6pPr>
            <a:lvl7pPr marL="2741554" indent="0">
              <a:buNone/>
              <a:defRPr sz="1600">
                <a:solidFill>
                  <a:schemeClr val="tx1">
                    <a:tint val="75000"/>
                  </a:schemeClr>
                </a:solidFill>
              </a:defRPr>
            </a:lvl7pPr>
            <a:lvl8pPr marL="3198480" indent="0">
              <a:buNone/>
              <a:defRPr sz="1600">
                <a:solidFill>
                  <a:schemeClr val="tx1">
                    <a:tint val="75000"/>
                  </a:schemeClr>
                </a:solidFill>
              </a:defRPr>
            </a:lvl8pPr>
            <a:lvl9pPr marL="3655406" indent="0">
              <a:buNone/>
              <a:defRPr sz="1600">
                <a:solidFill>
                  <a:schemeClr val="tx1">
                    <a:tint val="75000"/>
                  </a:schemeClr>
                </a:solidFill>
              </a:defRPr>
            </a:lvl9pPr>
          </a:lstStyle>
          <a:p>
            <a:pPr lvl="0"/>
            <a:r>
              <a:rPr lang="en-US"/>
              <a:t>Subhead here</a:t>
            </a:r>
          </a:p>
        </p:txBody>
      </p:sp>
      <p:sp>
        <p:nvSpPr>
          <p:cNvPr id="5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5" name="TextBox 74"/>
          <p:cNvSpPr txBox="1"/>
          <p:nvPr userDrawn="1"/>
        </p:nvSpPr>
        <p:spPr>
          <a:xfrm>
            <a:off x="548783"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spTree>
    <p:extLst>
      <p:ext uri="{BB962C8B-B14F-4D97-AF65-F5344CB8AC3E}">
        <p14:creationId xmlns:p14="http://schemas.microsoft.com/office/powerpoint/2010/main" val="1643009142"/>
      </p:ext>
    </p:extLst>
  </p:cSld>
  <p:clrMapOvr>
    <a:masterClrMapping/>
  </p:clrMapOvr>
  <p:transition spd="med"/>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026820933"/>
      </p:ext>
    </p:extLst>
  </p:cSld>
  <p:clrMapOvr>
    <a:masterClrMapping/>
  </p:clrMapOvr>
  <p:transition spd="med"/>
</p:sldLayout>
</file>

<file path=ppt/slideLayouts/slideLayout279.xml><?xml version="1.0" encoding="utf-8"?>
<p:sldLayout xmlns:a="http://schemas.openxmlformats.org/drawingml/2006/main" xmlns:r="http://schemas.openxmlformats.org/officeDocument/2006/relationships" xmlns:p="http://schemas.openxmlformats.org/presentationml/2006/main" showMasterSp="0" preserve="1" userDrawn="1">
  <p:cSld name="Title Only_Black">
    <p:bg>
      <p:bgPr>
        <a:solidFill>
          <a:schemeClr val="tx1"/>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0"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5" name="TextBox 4"/>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6" name="Group 5"/>
          <p:cNvGrpSpPr/>
          <p:nvPr userDrawn="1"/>
        </p:nvGrpSpPr>
        <p:grpSpPr>
          <a:xfrm>
            <a:off x="554485" y="6421482"/>
            <a:ext cx="734547" cy="245008"/>
            <a:chOff x="547688" y="952500"/>
            <a:chExt cx="12190413" cy="4067175"/>
          </a:xfrm>
        </p:grpSpPr>
        <p:sp>
          <p:nvSpPr>
            <p:cNvPr id="7" name="Rectangle 6"/>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8" name="Freeform 7"/>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9" name="Freeform 8"/>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1" name="Freeform 10"/>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2" name="Freeform 11"/>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329937642"/>
      </p:ext>
    </p:extLst>
  </p:cSld>
  <p:clrMapOvr>
    <a:masterClrMapping/>
  </p:clrMapOvr>
  <p:transition spd="med"/>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ctr" anchorCtr="0">
            <a:noAutofit/>
          </a:bodyPr>
          <a:lstStyle>
            <a:lvl1pPr marL="0" indent="0">
              <a:lnSpc>
                <a:spcPts val="2198"/>
              </a:lnSpc>
              <a:spcBef>
                <a:spcPts val="0"/>
              </a:spcBef>
              <a:buNone/>
              <a:defRPr sz="2198" b="0">
                <a:solidFill>
                  <a:schemeClr val="tx1"/>
                </a:solidFill>
                <a:latin typeface="Arial" pitchFamily="34" charset="0"/>
                <a:cs typeface="Arial" pitchFamily="34" charset="0"/>
              </a:defRPr>
            </a:lvl1pPr>
            <a:lvl2pPr marL="609127" indent="0">
              <a:buNone/>
              <a:defRPr sz="2698" b="1"/>
            </a:lvl2pPr>
            <a:lvl3pPr marL="1218255" indent="0">
              <a:buNone/>
              <a:defRPr sz="2398" b="1"/>
            </a:lvl3pPr>
            <a:lvl4pPr marL="1827383" indent="0">
              <a:buNone/>
              <a:defRPr sz="2098" b="1"/>
            </a:lvl4pPr>
            <a:lvl5pPr marL="2436511" indent="0">
              <a:buNone/>
              <a:defRPr sz="2098" b="1"/>
            </a:lvl5pPr>
            <a:lvl6pPr marL="3045639" indent="0">
              <a:buNone/>
              <a:defRPr sz="2098" b="1"/>
            </a:lvl6pPr>
            <a:lvl7pPr marL="3654766" indent="0">
              <a:buNone/>
              <a:defRPr sz="2098" b="1"/>
            </a:lvl7pPr>
            <a:lvl8pPr marL="4263893" indent="0">
              <a:buNone/>
              <a:defRPr sz="2098" b="1"/>
            </a:lvl8pPr>
            <a:lvl9pPr marL="4873022" indent="0">
              <a:buNone/>
              <a:defRPr sz="2098" b="1"/>
            </a:lvl9pPr>
          </a:lstStyle>
          <a:p>
            <a:pPr lvl="0"/>
            <a:r>
              <a:rPr lang="en-US"/>
              <a:t>Click to edit master text styles</a:t>
            </a:r>
          </a:p>
        </p:txBody>
      </p:sp>
      <p:sp>
        <p:nvSpPr>
          <p:cNvPr id="11" name="Title 28"/>
          <p:cNvSpPr>
            <a:spLocks noGrp="1"/>
          </p:cNvSpPr>
          <p:nvPr>
            <p:ph type="title" hasCustomPrompt="1"/>
          </p:nvPr>
        </p:nvSpPr>
        <p:spPr bwMode="gray">
          <a:xfrm>
            <a:off x="548783" y="402341"/>
            <a:ext cx="11076268" cy="356789"/>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702177295"/>
      </p:ext>
    </p:extLst>
  </p:cSld>
  <p:clrMapOvr>
    <a:masterClrMapping/>
  </p:clrMapOvr>
  <p:transition spd="med"/>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Only_Black">
    <p:bg>
      <p:bgPr>
        <a:solidFill>
          <a:schemeClr val="tx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t" anchorCtr="0">
            <a:noAutofit/>
          </a:bodyPr>
          <a:lstStyle>
            <a:lvl1pPr marL="0" indent="0">
              <a:lnSpc>
                <a:spcPts val="2198"/>
              </a:lnSpc>
              <a:spcBef>
                <a:spcPts val="0"/>
              </a:spcBef>
              <a:buNone/>
              <a:defRPr sz="1998" b="0">
                <a:solidFill>
                  <a:schemeClr val="bg1"/>
                </a:solidFill>
                <a:latin typeface="Arial" pitchFamily="34" charset="0"/>
                <a:cs typeface="Arial" pitchFamily="34" charset="0"/>
              </a:defRPr>
            </a:lvl1pPr>
            <a:lvl2pPr marL="609127" indent="0">
              <a:buNone/>
              <a:defRPr sz="2698" b="1"/>
            </a:lvl2pPr>
            <a:lvl3pPr marL="1218255" indent="0">
              <a:buNone/>
              <a:defRPr sz="2398" b="1"/>
            </a:lvl3pPr>
            <a:lvl4pPr marL="1827383" indent="0">
              <a:buNone/>
              <a:defRPr sz="2098" b="1"/>
            </a:lvl4pPr>
            <a:lvl5pPr marL="2436511" indent="0">
              <a:buNone/>
              <a:defRPr sz="2098" b="1"/>
            </a:lvl5pPr>
            <a:lvl6pPr marL="3045639" indent="0">
              <a:buNone/>
              <a:defRPr sz="2098" b="1"/>
            </a:lvl6pPr>
            <a:lvl7pPr marL="3654766" indent="0">
              <a:buNone/>
              <a:defRPr sz="2098" b="1"/>
            </a:lvl7pPr>
            <a:lvl8pPr marL="4263893" indent="0">
              <a:buNone/>
              <a:defRPr sz="2098" b="1"/>
            </a:lvl8pPr>
            <a:lvl9pPr marL="4873022" indent="0">
              <a:buNone/>
              <a:defRPr sz="2098" b="1"/>
            </a:lvl9pPr>
          </a:lstStyle>
          <a:p>
            <a:pPr lvl="0"/>
            <a:r>
              <a:rPr lang="en-US"/>
              <a:t>Click to edit master text styles</a:t>
            </a:r>
          </a:p>
        </p:txBody>
      </p:sp>
      <p:sp>
        <p:nvSpPr>
          <p:cNvPr id="11" name="Title 28"/>
          <p:cNvSpPr>
            <a:spLocks noGrp="1"/>
          </p:cNvSpPr>
          <p:nvPr>
            <p:ph type="title" hasCustomPrompt="1"/>
          </p:nvPr>
        </p:nvSpPr>
        <p:spPr bwMode="gray">
          <a:xfrm>
            <a:off x="548783" y="402341"/>
            <a:ext cx="11076268" cy="399921"/>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 name="TextBox 6"/>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8" name="Group 7"/>
          <p:cNvGrpSpPr/>
          <p:nvPr userDrawn="1"/>
        </p:nvGrpSpPr>
        <p:grpSpPr>
          <a:xfrm>
            <a:off x="554485" y="6421482"/>
            <a:ext cx="734547" cy="245008"/>
            <a:chOff x="547688" y="952500"/>
            <a:chExt cx="12190413" cy="4067175"/>
          </a:xfrm>
        </p:grpSpPr>
        <p:sp>
          <p:nvSpPr>
            <p:cNvPr id="9" name="Rectangle 8"/>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0" name="Freeform 9"/>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327037583"/>
      </p:ext>
    </p:extLst>
  </p:cSld>
  <p:clrMapOvr>
    <a:masterClrMapping/>
  </p:clrMapOvr>
  <p:transition spd="med"/>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3624"/>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548783" y="1308880"/>
            <a:ext cx="11076268" cy="4906726"/>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822499484"/>
      </p:ext>
    </p:extLst>
  </p:cSld>
  <p:clrMapOvr>
    <a:masterClrMapping/>
  </p:clrMapOvr>
  <p:transition spd="med"/>
</p:sldLayout>
</file>

<file path=ppt/slideLayouts/slideLayout283.xml><?xml version="1.0" encoding="utf-8"?>
<p:sldLayout xmlns:a="http://schemas.openxmlformats.org/drawingml/2006/main" xmlns:r="http://schemas.openxmlformats.org/officeDocument/2006/relationships" xmlns:p="http://schemas.openxmlformats.org/presentationml/2006/main" showMasterSp="0" preserve="1" userDrawn="1">
  <p:cSld name="Title and Content_Black">
    <p:bg>
      <p:bgPr>
        <a:solidFill>
          <a:schemeClr val="tx1"/>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548783" y="1307593"/>
            <a:ext cx="11076268"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6" name="TextBox 5"/>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7" name="Group 6"/>
          <p:cNvGrpSpPr/>
          <p:nvPr userDrawn="1"/>
        </p:nvGrpSpPr>
        <p:grpSpPr>
          <a:xfrm>
            <a:off x="554485" y="6421482"/>
            <a:ext cx="734547" cy="245008"/>
            <a:chOff x="547688" y="952500"/>
            <a:chExt cx="12190413" cy="4067175"/>
          </a:xfrm>
        </p:grpSpPr>
        <p:sp>
          <p:nvSpPr>
            <p:cNvPr id="8" name="Rectangle 7"/>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9" name="Freeform 8"/>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2" name="Freeform 11"/>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1198644375"/>
      </p:ext>
    </p:extLst>
  </p:cSld>
  <p:clrMapOvr>
    <a:masterClrMapping/>
  </p:clrMapOvr>
  <p:transition spd="med"/>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Title with Subtitle Content">
    <p:bg>
      <p:bgPr>
        <a:solidFill>
          <a:schemeClr val="bg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548783" y="1575767"/>
            <a:ext cx="11076268" cy="4651413"/>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p:nvPr>
        </p:nvSpPr>
        <p:spPr bwMode="gray">
          <a:xfrm>
            <a:off x="557930" y="899112"/>
            <a:ext cx="11076268" cy="292608"/>
          </a:xfrm>
          <a:prstGeom prst="rect">
            <a:avLst/>
          </a:prstGeom>
        </p:spPr>
        <p:txBody>
          <a:bodyPr lIns="0" tIns="0" rIns="0" bIns="0" anchor="ctr" anchorCtr="0">
            <a:noAutofit/>
          </a:bodyPr>
          <a:lstStyle>
            <a:lvl1pPr marL="0" indent="0">
              <a:lnSpc>
                <a:spcPts val="2198"/>
              </a:lnSpc>
              <a:spcBef>
                <a:spcPts val="0"/>
              </a:spcBef>
              <a:buNone/>
              <a:defRPr sz="2198" b="0">
                <a:solidFill>
                  <a:schemeClr val="tx1"/>
                </a:solidFill>
                <a:latin typeface="Arial" pitchFamily="34" charset="0"/>
                <a:cs typeface="Arial" pitchFamily="34" charset="0"/>
              </a:defRPr>
            </a:lvl1pPr>
            <a:lvl2pPr marL="609127" indent="0">
              <a:buNone/>
              <a:defRPr sz="2698" b="1"/>
            </a:lvl2pPr>
            <a:lvl3pPr marL="1218255" indent="0">
              <a:buNone/>
              <a:defRPr sz="2398" b="1"/>
            </a:lvl3pPr>
            <a:lvl4pPr marL="1827383" indent="0">
              <a:buNone/>
              <a:defRPr sz="2098" b="1"/>
            </a:lvl4pPr>
            <a:lvl5pPr marL="2436511" indent="0">
              <a:buNone/>
              <a:defRPr sz="2098" b="1"/>
            </a:lvl5pPr>
            <a:lvl6pPr marL="3045639" indent="0">
              <a:buNone/>
              <a:defRPr sz="2098" b="1"/>
            </a:lvl6pPr>
            <a:lvl7pPr marL="3654766" indent="0">
              <a:buNone/>
              <a:defRPr sz="2098" b="1"/>
            </a:lvl7pPr>
            <a:lvl8pPr marL="4263893" indent="0">
              <a:buNone/>
              <a:defRPr sz="2098" b="1"/>
            </a:lvl8pPr>
            <a:lvl9pPr marL="4873022" indent="0">
              <a:buNone/>
              <a:defRPr sz="2098" b="1"/>
            </a:lvl9pPr>
          </a:lstStyle>
          <a:p>
            <a:pPr lvl="0"/>
            <a:r>
              <a:rPr lang="en-US"/>
              <a:t>Click to edit Master text styles</a:t>
            </a:r>
          </a:p>
        </p:txBody>
      </p:sp>
      <p:sp>
        <p:nvSpPr>
          <p:cNvPr id="11" name="Title 28"/>
          <p:cNvSpPr>
            <a:spLocks noGrp="1"/>
          </p:cNvSpPr>
          <p:nvPr>
            <p:ph type="title" hasCustomPrompt="1"/>
          </p:nvPr>
        </p:nvSpPr>
        <p:spPr bwMode="gray">
          <a:xfrm>
            <a:off x="548783" y="402341"/>
            <a:ext cx="11076268" cy="369451"/>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549106410"/>
      </p:ext>
    </p:extLst>
  </p:cSld>
  <p:clrMapOvr>
    <a:masterClrMapping/>
  </p:clrMapOvr>
  <p:transition spd="med"/>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preserve="1" userDrawn="1">
  <p:cSld name="Title with Subtitle Content_Black">
    <p:bg>
      <p:bgPr>
        <a:solidFill>
          <a:schemeClr val="tx1"/>
        </a:solidFill>
        <a:effectLst/>
      </p:bgPr>
    </p:bg>
    <p:spTree>
      <p:nvGrpSpPr>
        <p:cNvPr id="1" name=""/>
        <p:cNvGrpSpPr/>
        <p:nvPr/>
      </p:nvGrpSpPr>
      <p:grpSpPr>
        <a:xfrm>
          <a:off x="0" y="0"/>
          <a:ext cx="0" cy="0"/>
          <a:chOff x="0" y="0"/>
          <a:chExt cx="0" cy="0"/>
        </a:xfrm>
      </p:grpSpPr>
      <p:sp>
        <p:nvSpPr>
          <p:cNvPr id="22" name="Content Placeholder 2"/>
          <p:cNvSpPr>
            <a:spLocks noGrp="1"/>
          </p:cNvSpPr>
          <p:nvPr>
            <p:ph sz="half" idx="1"/>
          </p:nvPr>
        </p:nvSpPr>
        <p:spPr bwMode="gray">
          <a:xfrm>
            <a:off x="548783" y="1572770"/>
            <a:ext cx="11076268" cy="4654413"/>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2"/>
          <p:cNvSpPr>
            <a:spLocks noGrp="1"/>
          </p:cNvSpPr>
          <p:nvPr>
            <p:ph type="body" idx="10" hasCustomPrompt="1"/>
          </p:nvPr>
        </p:nvSpPr>
        <p:spPr bwMode="gray">
          <a:xfrm>
            <a:off x="557930" y="896112"/>
            <a:ext cx="11076268" cy="292608"/>
          </a:xfrm>
          <a:prstGeom prst="rect">
            <a:avLst/>
          </a:prstGeom>
        </p:spPr>
        <p:txBody>
          <a:bodyPr lIns="0" tIns="0" rIns="0" bIns="0" anchor="t" anchorCtr="0">
            <a:noAutofit/>
          </a:bodyPr>
          <a:lstStyle>
            <a:lvl1pPr marL="0" indent="0">
              <a:lnSpc>
                <a:spcPts val="2198"/>
              </a:lnSpc>
              <a:spcBef>
                <a:spcPts val="0"/>
              </a:spcBef>
              <a:buNone/>
              <a:defRPr sz="1998" b="0">
                <a:solidFill>
                  <a:schemeClr val="bg1"/>
                </a:solidFill>
                <a:latin typeface="Arial" pitchFamily="34" charset="0"/>
                <a:cs typeface="Arial" pitchFamily="34" charset="0"/>
              </a:defRPr>
            </a:lvl1pPr>
            <a:lvl2pPr marL="609127" indent="0">
              <a:buNone/>
              <a:defRPr sz="2698" b="1"/>
            </a:lvl2pPr>
            <a:lvl3pPr marL="1218255" indent="0">
              <a:buNone/>
              <a:defRPr sz="2398" b="1"/>
            </a:lvl3pPr>
            <a:lvl4pPr marL="1827383" indent="0">
              <a:buNone/>
              <a:defRPr sz="2098" b="1"/>
            </a:lvl4pPr>
            <a:lvl5pPr marL="2436511" indent="0">
              <a:buNone/>
              <a:defRPr sz="2098" b="1"/>
            </a:lvl5pPr>
            <a:lvl6pPr marL="3045639" indent="0">
              <a:buNone/>
              <a:defRPr sz="2098" b="1"/>
            </a:lvl6pPr>
            <a:lvl7pPr marL="3654766" indent="0">
              <a:buNone/>
              <a:defRPr sz="2098" b="1"/>
            </a:lvl7pPr>
            <a:lvl8pPr marL="4263893" indent="0">
              <a:buNone/>
              <a:defRPr sz="2098" b="1"/>
            </a:lvl8pPr>
            <a:lvl9pPr marL="4873022" indent="0">
              <a:buNone/>
              <a:defRPr sz="2098" b="1"/>
            </a:lvl9pPr>
          </a:lstStyle>
          <a:p>
            <a:pPr lvl="0"/>
            <a:r>
              <a:rPr lang="en-US"/>
              <a:t>Click to edit master text styles</a:t>
            </a:r>
          </a:p>
        </p:txBody>
      </p:sp>
      <p:sp>
        <p:nvSpPr>
          <p:cNvPr id="11" name="Title 28"/>
          <p:cNvSpPr>
            <a:spLocks noGrp="1"/>
          </p:cNvSpPr>
          <p:nvPr>
            <p:ph type="title" hasCustomPrompt="1"/>
          </p:nvPr>
        </p:nvSpPr>
        <p:spPr bwMode="gray">
          <a:xfrm>
            <a:off x="548783" y="402336"/>
            <a:ext cx="11076268" cy="392616"/>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 name="TextBox 6"/>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8" name="Group 7"/>
          <p:cNvGrpSpPr/>
          <p:nvPr userDrawn="1"/>
        </p:nvGrpSpPr>
        <p:grpSpPr>
          <a:xfrm>
            <a:off x="554485" y="6421482"/>
            <a:ext cx="734547" cy="245008"/>
            <a:chOff x="547688" y="952500"/>
            <a:chExt cx="12190413" cy="4067175"/>
          </a:xfrm>
        </p:grpSpPr>
        <p:sp>
          <p:nvSpPr>
            <p:cNvPr id="9" name="Rectangle 8"/>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0" name="Freeform 9"/>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1741921612"/>
      </p:ext>
    </p:extLst>
  </p:cSld>
  <p:clrMapOvr>
    <a:masterClrMapping/>
  </p:clrMapOvr>
  <p:transition spd="med"/>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Two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5" y="1307596"/>
            <a:ext cx="5380359"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244692" y="1307596"/>
            <a:ext cx="5380359"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988292034"/>
      </p:ext>
    </p:extLst>
  </p:cSld>
  <p:clrMapOvr>
    <a:masterClrMapping/>
  </p:clrMapOvr>
  <p:transition spd="med"/>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preserve="1" userDrawn="1">
  <p:cSld name="Two Column Slide_Black">
    <p:bg>
      <p:bgPr>
        <a:solidFill>
          <a:schemeClr val="tx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5" y="1307596"/>
            <a:ext cx="5380359"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
          <p:cNvSpPr>
            <a:spLocks noGrp="1"/>
          </p:cNvSpPr>
          <p:nvPr>
            <p:ph sz="half" idx="14"/>
          </p:nvPr>
        </p:nvSpPr>
        <p:spPr bwMode="gray">
          <a:xfrm>
            <a:off x="6244692" y="1307596"/>
            <a:ext cx="5380359"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 name="TextBox 6"/>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8" name="Group 7"/>
          <p:cNvGrpSpPr/>
          <p:nvPr userDrawn="1"/>
        </p:nvGrpSpPr>
        <p:grpSpPr>
          <a:xfrm>
            <a:off x="554485" y="6421482"/>
            <a:ext cx="734547" cy="245008"/>
            <a:chOff x="547688" y="952500"/>
            <a:chExt cx="12190413" cy="4067175"/>
          </a:xfrm>
        </p:grpSpPr>
        <p:sp>
          <p:nvSpPr>
            <p:cNvPr id="9" name="Rectangle 8"/>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0" name="Freeform 9"/>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1721469950"/>
      </p:ext>
    </p:extLst>
  </p:cSld>
  <p:clrMapOvr>
    <a:masterClrMapping/>
  </p:clrMapOvr>
  <p:transition spd="med"/>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Three Column Slide">
    <p:bg>
      <p:bgPr>
        <a:solidFill>
          <a:schemeClr val="bg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5"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8" name="Content Placeholder 2"/>
          <p:cNvSpPr>
            <a:spLocks noGrp="1"/>
          </p:cNvSpPr>
          <p:nvPr>
            <p:ph sz="half" idx="10"/>
          </p:nvPr>
        </p:nvSpPr>
        <p:spPr bwMode="gray">
          <a:xfrm>
            <a:off x="4349107"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149426"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46755230"/>
      </p:ext>
    </p:extLst>
  </p:cSld>
  <p:clrMapOvr>
    <a:masterClrMapping/>
  </p:clrMapOvr>
  <p:transition spd="med"/>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preserve="1" userDrawn="1">
  <p:cSld name="Three Column Slide_Black">
    <p:bg>
      <p:bgPr>
        <a:solidFill>
          <a:schemeClr val="tx1"/>
        </a:solidFill>
        <a:effectLst/>
      </p:bgPr>
    </p:bg>
    <p:spTree>
      <p:nvGrpSpPr>
        <p:cNvPr id="1" name=""/>
        <p:cNvGrpSpPr/>
        <p:nvPr/>
      </p:nvGrpSpPr>
      <p:grpSpPr>
        <a:xfrm>
          <a:off x="0" y="0"/>
          <a:ext cx="0" cy="0"/>
          <a:chOff x="0" y="0"/>
          <a:chExt cx="0" cy="0"/>
        </a:xfrm>
      </p:grpSpPr>
      <p:sp>
        <p:nvSpPr>
          <p:cNvPr id="11"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5"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8" name="Content Placeholder 2"/>
          <p:cNvSpPr>
            <a:spLocks noGrp="1"/>
          </p:cNvSpPr>
          <p:nvPr>
            <p:ph sz="half" idx="10"/>
          </p:nvPr>
        </p:nvSpPr>
        <p:spPr bwMode="gray">
          <a:xfrm>
            <a:off x="4349107"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2"/>
          <p:cNvSpPr>
            <a:spLocks noGrp="1"/>
          </p:cNvSpPr>
          <p:nvPr>
            <p:ph sz="half" idx="11"/>
          </p:nvPr>
        </p:nvSpPr>
        <p:spPr bwMode="gray">
          <a:xfrm>
            <a:off x="8149426" y="1307593"/>
            <a:ext cx="3475625" cy="4919588"/>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Box 9"/>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2" name="Group 11"/>
          <p:cNvGrpSpPr/>
          <p:nvPr userDrawn="1"/>
        </p:nvGrpSpPr>
        <p:grpSpPr>
          <a:xfrm>
            <a:off x="554485" y="6421482"/>
            <a:ext cx="734547" cy="245008"/>
            <a:chOff x="547688" y="952500"/>
            <a:chExt cx="12190413" cy="4067175"/>
          </a:xfrm>
        </p:grpSpPr>
        <p:sp>
          <p:nvSpPr>
            <p:cNvPr id="13" name="Rectangle 12"/>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7"/>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8"/>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0"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1"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2419565011"/>
      </p:ext>
    </p:extLst>
  </p:cSld>
  <p:clrMapOvr>
    <a:masterClrMapping/>
  </p:clrMapOvr>
  <p:transition spd="med"/>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Title w/Imag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6038290"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3" y="1307596"/>
            <a:ext cx="6038290"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37068" y="0"/>
            <a:ext cx="5354934"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18"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913927359"/>
      </p:ext>
    </p:extLst>
  </p:cSld>
  <p:clrMapOvr>
    <a:masterClrMapping/>
  </p:clrMapOvr>
  <p:transition spd="med"/>
</p:sldLayout>
</file>

<file path=ppt/slideLayouts/slideLayout291.xml><?xml version="1.0" encoding="utf-8"?>
<p:sldLayout xmlns:a="http://schemas.openxmlformats.org/drawingml/2006/main" xmlns:r="http://schemas.openxmlformats.org/officeDocument/2006/relationships" xmlns:p="http://schemas.openxmlformats.org/presentationml/2006/main" showMasterSp="0" preserve="1" userDrawn="1">
  <p:cSld name="Title w/Image_Black">
    <p:bg>
      <p:bgPr>
        <a:solidFill>
          <a:schemeClr val="tx1"/>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6038290"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16" name="Content Placeholder 2"/>
          <p:cNvSpPr>
            <a:spLocks noGrp="1"/>
          </p:cNvSpPr>
          <p:nvPr>
            <p:ph sz="half" idx="1"/>
          </p:nvPr>
        </p:nvSpPr>
        <p:spPr bwMode="gray">
          <a:xfrm>
            <a:off x="548783" y="1307596"/>
            <a:ext cx="6038290"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8"/>
          <p:cNvSpPr>
            <a:spLocks noGrp="1"/>
          </p:cNvSpPr>
          <p:nvPr>
            <p:ph type="pic" sz="quarter" idx="16"/>
          </p:nvPr>
        </p:nvSpPr>
        <p:spPr>
          <a:xfrm>
            <a:off x="6837068" y="0"/>
            <a:ext cx="5354934"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19" name="TextBox 18"/>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20" name="Group 19"/>
          <p:cNvGrpSpPr/>
          <p:nvPr userDrawn="1"/>
        </p:nvGrpSpPr>
        <p:grpSpPr>
          <a:xfrm>
            <a:off x="554485" y="6421482"/>
            <a:ext cx="734547" cy="245008"/>
            <a:chOff x="547688" y="952500"/>
            <a:chExt cx="12190413" cy="4067175"/>
          </a:xfrm>
        </p:grpSpPr>
        <p:sp>
          <p:nvSpPr>
            <p:cNvPr id="21" name="Rectangle 20"/>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2" name="Freeform 21"/>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3" name="Freeform 2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4" name="Freeform 2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5" name="Freeform 2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630551242"/>
      </p:ext>
    </p:extLst>
  </p:cSld>
  <p:clrMapOvr>
    <a:masterClrMapping/>
  </p:clrMapOvr>
  <p:transition spd="med"/>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Photo + Statement">
    <p:spTree>
      <p:nvGrpSpPr>
        <p:cNvPr id="1" name=""/>
        <p:cNvGrpSpPr/>
        <p:nvPr/>
      </p:nvGrpSpPr>
      <p:grpSpPr>
        <a:xfrm>
          <a:off x="0" y="0"/>
          <a:ext cx="0" cy="0"/>
          <a:chOff x="0" y="0"/>
          <a:chExt cx="0" cy="0"/>
        </a:xfrm>
      </p:grpSpPr>
      <p:sp>
        <p:nvSpPr>
          <p:cNvPr id="3" name="Rectangle 2"/>
          <p:cNvSpPr/>
          <p:nvPr userDrawn="1"/>
        </p:nvSpPr>
        <p:spPr>
          <a:xfrm>
            <a:off x="3"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6" name="Picture Placeholder 8"/>
          <p:cNvSpPr>
            <a:spLocks noGrp="1"/>
          </p:cNvSpPr>
          <p:nvPr>
            <p:ph type="pic" sz="quarter" idx="16"/>
          </p:nvPr>
        </p:nvSpPr>
        <p:spPr>
          <a:xfrm>
            <a:off x="4062849" y="0"/>
            <a:ext cx="8129151"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14" name="Text Placeholder 3"/>
          <p:cNvSpPr>
            <a:spLocks noGrp="1"/>
          </p:cNvSpPr>
          <p:nvPr>
            <p:ph type="body" sz="quarter" idx="18" hasCustomPrompt="1"/>
          </p:nvPr>
        </p:nvSpPr>
        <p:spPr>
          <a:xfrm>
            <a:off x="548783" y="849538"/>
            <a:ext cx="3514066" cy="1926795"/>
          </a:xfrm>
          <a:prstGeom prst="rect">
            <a:avLst/>
          </a:prstGeom>
          <a:noFill/>
        </p:spPr>
        <p:txBody>
          <a:bodyPr lIns="0" tIns="0" rIns="0" bIns="0" anchor="t">
            <a:noAutofit/>
          </a:bodyPr>
          <a:lstStyle>
            <a:lvl1pPr marL="0" indent="0">
              <a:lnSpc>
                <a:spcPts val="4198"/>
              </a:lnSpc>
              <a:spcBef>
                <a:spcPts val="0"/>
              </a:spcBef>
              <a:buFont typeface="Arial" panose="020B0604020202020204" pitchFamily="34" charset="0"/>
              <a:buNone/>
              <a:defRPr sz="4598" b="1" strike="noStrike" spc="-150" baseline="0">
                <a:solidFill>
                  <a:schemeClr val="tx1"/>
                </a:solidFill>
              </a:defRPr>
            </a:lvl1pPr>
            <a:lvl2pPr marL="341109" indent="0">
              <a:buNone/>
              <a:defRPr/>
            </a:lvl2pPr>
            <a:lvl3pPr marL="679042" indent="0">
              <a:buNone/>
              <a:defRPr/>
            </a:lvl3pPr>
            <a:lvl4pPr marL="966207" indent="0">
              <a:buNone/>
              <a:defRPr/>
            </a:lvl4pPr>
            <a:lvl5pPr marL="1145487" indent="0">
              <a:buNone/>
              <a:defRPr/>
            </a:lvl5pPr>
          </a:lstStyle>
          <a:p>
            <a:pPr lvl="0"/>
            <a:r>
              <a:rPr lang="en-US"/>
              <a:t>Photo plus</a:t>
            </a:r>
            <a:br>
              <a:rPr lang="en-US"/>
            </a:br>
            <a:r>
              <a:rPr lang="en-US"/>
              <a:t>statement</a:t>
            </a:r>
            <a:br>
              <a:rPr lang="en-US"/>
            </a:br>
            <a:r>
              <a:rPr lang="en-US"/>
              <a:t>layout</a:t>
            </a:r>
          </a:p>
        </p:txBody>
      </p:sp>
      <p:sp>
        <p:nvSpPr>
          <p:cNvPr id="8" name="Text Placeholder 7"/>
          <p:cNvSpPr>
            <a:spLocks noGrp="1"/>
          </p:cNvSpPr>
          <p:nvPr>
            <p:ph type="body" sz="quarter" idx="19" hasCustomPrompt="1"/>
          </p:nvPr>
        </p:nvSpPr>
        <p:spPr>
          <a:xfrm>
            <a:off x="548786" y="2943641"/>
            <a:ext cx="3514065" cy="1641615"/>
          </a:xfrm>
          <a:prstGeom prst="rect">
            <a:avLst/>
          </a:prstGeom>
        </p:spPr>
        <p:txBody>
          <a:bodyPr lIns="0" tIns="0" rIns="0" bIns="0"/>
          <a:lstStyle>
            <a:lvl1pPr marL="0" indent="0">
              <a:lnSpc>
                <a:spcPts val="2398"/>
              </a:lnSpc>
              <a:spcBef>
                <a:spcPts val="0"/>
              </a:spcBef>
              <a:buNone/>
              <a:defRPr sz="2398" baseline="0">
                <a:solidFill>
                  <a:schemeClr val="tx1"/>
                </a:solidFill>
              </a:defRPr>
            </a:lvl1pPr>
            <a:lvl2pPr marL="609128" indent="0">
              <a:buNone/>
              <a:defRPr/>
            </a:lvl2pPr>
            <a:lvl3pPr marL="1218254" indent="0">
              <a:buNone/>
              <a:defRPr/>
            </a:lvl3pPr>
            <a:lvl4pPr marL="1827383" indent="0">
              <a:buNone/>
              <a:defRPr/>
            </a:lvl4pPr>
            <a:lvl5pPr marL="2436511" indent="0">
              <a:buNone/>
              <a:defRPr/>
            </a:lvl5pPr>
          </a:lstStyle>
          <a:p>
            <a:pPr lvl="0"/>
            <a:r>
              <a:rPr lang="en-US"/>
              <a:t>Subtitle goes here</a:t>
            </a:r>
          </a:p>
        </p:txBody>
      </p:sp>
      <p:sp>
        <p:nvSpPr>
          <p:cNvPr id="18"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156723733"/>
      </p:ext>
    </p:extLst>
  </p:cSld>
  <p:clrMapOvr>
    <a:masterClrMapping/>
  </p:clrMapOvr>
  <p:transition spd="med"/>
</p:sldLayout>
</file>

<file path=ppt/slideLayouts/slideLayout293.xml><?xml version="1.0" encoding="utf-8"?>
<p:sldLayout xmlns:a="http://schemas.openxmlformats.org/drawingml/2006/main" xmlns:r="http://schemas.openxmlformats.org/officeDocument/2006/relationships" xmlns:p="http://schemas.openxmlformats.org/presentationml/2006/main" showMasterSp="0" preserve="1" userDrawn="1">
  <p:cSld name="Photo + Statement_Black">
    <p:bg>
      <p:bgPr>
        <a:solidFill>
          <a:schemeClr val="tx1"/>
        </a:solidFill>
        <a:effectLst/>
      </p:bgPr>
    </p:bg>
    <p:spTree>
      <p:nvGrpSpPr>
        <p:cNvPr id="1" name=""/>
        <p:cNvGrpSpPr/>
        <p:nvPr/>
      </p:nvGrpSpPr>
      <p:grpSpPr>
        <a:xfrm>
          <a:off x="0" y="0"/>
          <a:ext cx="0" cy="0"/>
          <a:chOff x="0" y="0"/>
          <a:chExt cx="0" cy="0"/>
        </a:xfrm>
      </p:grpSpPr>
      <p:sp>
        <p:nvSpPr>
          <p:cNvPr id="3" name="Rectangle 2"/>
          <p:cNvSpPr/>
          <p:nvPr userDrawn="1"/>
        </p:nvSpPr>
        <p:spPr>
          <a:xfrm>
            <a:off x="3" y="0"/>
            <a:ext cx="4062849"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6" name="Picture Placeholder 8"/>
          <p:cNvSpPr>
            <a:spLocks noGrp="1"/>
          </p:cNvSpPr>
          <p:nvPr>
            <p:ph type="pic" sz="quarter" idx="16"/>
          </p:nvPr>
        </p:nvSpPr>
        <p:spPr>
          <a:xfrm>
            <a:off x="4062849" y="0"/>
            <a:ext cx="8129151"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14" name="Text Placeholder 3"/>
          <p:cNvSpPr>
            <a:spLocks noGrp="1"/>
          </p:cNvSpPr>
          <p:nvPr>
            <p:ph type="body" sz="quarter" idx="18" hasCustomPrompt="1"/>
          </p:nvPr>
        </p:nvSpPr>
        <p:spPr>
          <a:xfrm>
            <a:off x="548783" y="849538"/>
            <a:ext cx="3514066" cy="1926795"/>
          </a:xfrm>
          <a:prstGeom prst="rect">
            <a:avLst/>
          </a:prstGeom>
          <a:noFill/>
        </p:spPr>
        <p:txBody>
          <a:bodyPr lIns="0" tIns="0" rIns="0" bIns="0" anchor="t">
            <a:noAutofit/>
          </a:bodyPr>
          <a:lstStyle>
            <a:lvl1pPr marL="0" indent="0">
              <a:lnSpc>
                <a:spcPts val="4198"/>
              </a:lnSpc>
              <a:spcBef>
                <a:spcPts val="0"/>
              </a:spcBef>
              <a:buFont typeface="Arial" panose="020B0604020202020204" pitchFamily="34" charset="0"/>
              <a:buNone/>
              <a:defRPr sz="4598" b="1" strike="noStrike" spc="-150" baseline="0">
                <a:solidFill>
                  <a:schemeClr val="bg1"/>
                </a:solidFill>
              </a:defRPr>
            </a:lvl1pPr>
            <a:lvl2pPr marL="341109" indent="0">
              <a:buNone/>
              <a:defRPr/>
            </a:lvl2pPr>
            <a:lvl3pPr marL="679042" indent="0">
              <a:buNone/>
              <a:defRPr/>
            </a:lvl3pPr>
            <a:lvl4pPr marL="966207" indent="0">
              <a:buNone/>
              <a:defRPr/>
            </a:lvl4pPr>
            <a:lvl5pPr marL="1145487" indent="0">
              <a:buNone/>
              <a:defRPr/>
            </a:lvl5pPr>
          </a:lstStyle>
          <a:p>
            <a:pPr lvl="0"/>
            <a:r>
              <a:rPr lang="en-US"/>
              <a:t>Photo plus</a:t>
            </a:r>
            <a:br>
              <a:rPr lang="en-US"/>
            </a:br>
            <a:r>
              <a:rPr lang="en-US"/>
              <a:t>statement</a:t>
            </a:r>
            <a:br>
              <a:rPr lang="en-US"/>
            </a:br>
            <a:r>
              <a:rPr lang="en-US"/>
              <a:t>layout</a:t>
            </a:r>
          </a:p>
        </p:txBody>
      </p:sp>
      <p:sp>
        <p:nvSpPr>
          <p:cNvPr id="8" name="Text Placeholder 7"/>
          <p:cNvSpPr>
            <a:spLocks noGrp="1"/>
          </p:cNvSpPr>
          <p:nvPr>
            <p:ph type="body" sz="quarter" idx="19" hasCustomPrompt="1"/>
          </p:nvPr>
        </p:nvSpPr>
        <p:spPr>
          <a:xfrm>
            <a:off x="548786" y="2943641"/>
            <a:ext cx="3514065" cy="1641615"/>
          </a:xfrm>
          <a:prstGeom prst="rect">
            <a:avLst/>
          </a:prstGeom>
        </p:spPr>
        <p:txBody>
          <a:bodyPr lIns="0" tIns="0" rIns="0" bIns="0"/>
          <a:lstStyle>
            <a:lvl1pPr marL="0" indent="0">
              <a:lnSpc>
                <a:spcPts val="2398"/>
              </a:lnSpc>
              <a:spcBef>
                <a:spcPts val="0"/>
              </a:spcBef>
              <a:buNone/>
              <a:defRPr sz="2398" baseline="0">
                <a:solidFill>
                  <a:schemeClr val="bg1"/>
                </a:solidFill>
              </a:defRPr>
            </a:lvl1pPr>
            <a:lvl2pPr marL="609128" indent="0">
              <a:buNone/>
              <a:defRPr/>
            </a:lvl2pPr>
            <a:lvl3pPr marL="1218254" indent="0">
              <a:buNone/>
              <a:defRPr/>
            </a:lvl3pPr>
            <a:lvl4pPr marL="1827383" indent="0">
              <a:buNone/>
              <a:defRPr/>
            </a:lvl4pPr>
            <a:lvl5pPr marL="2436511" indent="0">
              <a:buNone/>
              <a:defRPr/>
            </a:lvl5pPr>
          </a:lstStyle>
          <a:p>
            <a:pPr lvl="0"/>
            <a:r>
              <a:rPr lang="en-US"/>
              <a:t>Subtitle goes here</a:t>
            </a:r>
          </a:p>
        </p:txBody>
      </p:sp>
      <p:sp>
        <p:nvSpPr>
          <p:cNvPr id="13"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9" name="TextBox 8"/>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0" name="Group 9"/>
          <p:cNvGrpSpPr/>
          <p:nvPr userDrawn="1"/>
        </p:nvGrpSpPr>
        <p:grpSpPr>
          <a:xfrm>
            <a:off x="554485" y="6421482"/>
            <a:ext cx="734547" cy="245008"/>
            <a:chOff x="547688" y="952500"/>
            <a:chExt cx="12190413" cy="4067175"/>
          </a:xfrm>
        </p:grpSpPr>
        <p:sp>
          <p:nvSpPr>
            <p:cNvPr id="11" name="Rectangle 10"/>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2" name="Freeform 11"/>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5"/>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6"/>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3731209896"/>
      </p:ext>
    </p:extLst>
  </p:cSld>
  <p:clrMapOvr>
    <a:masterClrMapping/>
  </p:clrMapOvr>
  <p:transition spd="med"/>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Quote Layout">
    <p:bg>
      <p:bgPr>
        <a:solidFill>
          <a:schemeClr val="bg1"/>
        </a:solidFill>
        <a:effectLst/>
      </p:bgPr>
    </p:bg>
    <p:spTree>
      <p:nvGrpSpPr>
        <p:cNvPr id="1" name=""/>
        <p:cNvGrpSpPr/>
        <p:nvPr/>
      </p:nvGrpSpPr>
      <p:grpSpPr>
        <a:xfrm>
          <a:off x="0" y="0"/>
          <a:ext cx="0" cy="0"/>
          <a:chOff x="0" y="0"/>
          <a:chExt cx="0" cy="0"/>
        </a:xfrm>
      </p:grpSpPr>
      <p:sp>
        <p:nvSpPr>
          <p:cNvPr id="15" name="Text Placeholder 107"/>
          <p:cNvSpPr>
            <a:spLocks noGrp="1"/>
          </p:cNvSpPr>
          <p:nvPr>
            <p:ph type="body" sz="quarter" idx="18" hasCustomPrompt="1"/>
          </p:nvPr>
        </p:nvSpPr>
        <p:spPr bwMode="white">
          <a:xfrm>
            <a:off x="548783" y="1276354"/>
            <a:ext cx="10167728" cy="3242641"/>
          </a:xfrm>
          <a:prstGeom prst="rect">
            <a:avLst/>
          </a:prstGeom>
        </p:spPr>
        <p:txBody>
          <a:bodyPr lIns="0" anchor="t">
            <a:normAutofit/>
          </a:bodyPr>
          <a:lstStyle>
            <a:lvl1pPr marL="0" indent="0" algn="l">
              <a:lnSpc>
                <a:spcPct val="100000"/>
              </a:lnSpc>
              <a:buNone/>
              <a:defRPr sz="4398" b="1" spc="-150">
                <a:solidFill>
                  <a:schemeClr val="tx1"/>
                </a:solidFill>
              </a:defRPr>
            </a:lvl1pPr>
            <a:lvl2pPr marL="341109" indent="0" algn="ctr">
              <a:buNone/>
              <a:defRPr>
                <a:solidFill>
                  <a:schemeClr val="bg1"/>
                </a:solidFill>
              </a:defRPr>
            </a:lvl2pPr>
            <a:lvl3pPr marL="679042" indent="0" algn="ctr">
              <a:buNone/>
              <a:defRPr>
                <a:solidFill>
                  <a:schemeClr val="bg1"/>
                </a:solidFill>
              </a:defRPr>
            </a:lvl3pPr>
            <a:lvl4pPr marL="966207" indent="0" algn="ctr">
              <a:buNone/>
              <a:defRPr>
                <a:solidFill>
                  <a:schemeClr val="bg1"/>
                </a:solidFill>
              </a:defRPr>
            </a:lvl4pPr>
            <a:lvl5pPr marL="1145487" indent="0" algn="ctr">
              <a:buNone/>
              <a:defRPr>
                <a:solidFill>
                  <a:schemeClr val="bg1"/>
                </a:solidFill>
              </a:defRPr>
            </a:lvl5pPr>
          </a:lstStyle>
          <a:p>
            <a:pPr lvl="0"/>
            <a:r>
              <a:rPr lang="en-US"/>
              <a:t>Click to edit quote</a:t>
            </a:r>
          </a:p>
        </p:txBody>
      </p:sp>
      <p:sp>
        <p:nvSpPr>
          <p:cNvPr id="17" name="Text Placeholder 110"/>
          <p:cNvSpPr>
            <a:spLocks noGrp="1"/>
          </p:cNvSpPr>
          <p:nvPr>
            <p:ph type="body" sz="quarter" idx="19" hasCustomPrompt="1"/>
          </p:nvPr>
        </p:nvSpPr>
        <p:spPr>
          <a:xfrm>
            <a:off x="554484" y="4623890"/>
            <a:ext cx="10162029" cy="876300"/>
          </a:xfrm>
          <a:prstGeom prst="rect">
            <a:avLst/>
          </a:prstGeom>
        </p:spPr>
        <p:txBody>
          <a:bodyPr lIns="0"/>
          <a:lstStyle>
            <a:lvl1pPr marL="0" indent="0" algn="l">
              <a:buNone/>
              <a:defRPr sz="2398" b="1" spc="-150" baseline="0">
                <a:solidFill>
                  <a:schemeClr val="tx1"/>
                </a:solidFill>
              </a:defRPr>
            </a:lvl1pPr>
            <a:lvl2pPr marL="341109" indent="0">
              <a:buNone/>
              <a:defRPr/>
            </a:lvl2pPr>
            <a:lvl3pPr marL="679042" indent="0">
              <a:buNone/>
              <a:defRPr/>
            </a:lvl3pPr>
            <a:lvl4pPr marL="966207" indent="0">
              <a:buNone/>
              <a:defRPr/>
            </a:lvl4pPr>
            <a:lvl5pPr marL="1145487" indent="0">
              <a:buNone/>
              <a:defRPr/>
            </a:lvl5pPr>
          </a:lstStyle>
          <a:p>
            <a:pPr lvl="0"/>
            <a:r>
              <a:rPr lang="en-US"/>
              <a:t>Click to edit quote source</a:t>
            </a:r>
          </a:p>
        </p:txBody>
      </p:sp>
      <p:grpSp>
        <p:nvGrpSpPr>
          <p:cNvPr id="12" name="Group 11"/>
          <p:cNvGrpSpPr/>
          <p:nvPr userDrawn="1"/>
        </p:nvGrpSpPr>
        <p:grpSpPr>
          <a:xfrm>
            <a:off x="548783" y="398468"/>
            <a:ext cx="990858" cy="735013"/>
            <a:chOff x="657226" y="398463"/>
            <a:chExt cx="990600" cy="735013"/>
          </a:xfrm>
          <a:gradFill>
            <a:gsLst>
              <a:gs pos="0">
                <a:srgbClr val="F2A11F"/>
              </a:gs>
              <a:gs pos="37000">
                <a:srgbClr val="EC5124"/>
              </a:gs>
              <a:gs pos="79000">
                <a:srgbClr val="D32A27"/>
              </a:gs>
              <a:gs pos="100000">
                <a:srgbClr val="7A425E"/>
              </a:gs>
            </a:gsLst>
            <a:lin ang="2400000" scaled="0"/>
          </a:gradFill>
        </p:grpSpPr>
        <p:sp>
          <p:nvSpPr>
            <p:cNvPr id="7" name="Freeform 5"/>
            <p:cNvSpPr>
              <a:spLocks/>
            </p:cNvSpPr>
            <p:nvPr userDrawn="1"/>
          </p:nvSpPr>
          <p:spPr bwMode="auto">
            <a:xfrm>
              <a:off x="657226"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8" name="Freeform 6"/>
            <p:cNvSpPr>
              <a:spLocks/>
            </p:cNvSpPr>
            <p:nvPr userDrawn="1"/>
          </p:nvSpPr>
          <p:spPr bwMode="auto">
            <a:xfrm>
              <a:off x="1195388"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
        <p:nvSpPr>
          <p:cNvPr id="2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524404403"/>
      </p:ext>
    </p:extLst>
  </p:cSld>
  <p:clrMapOvr>
    <a:masterClrMapping/>
  </p:clrMapOvr>
  <p:transition spd="med"/>
</p:sldLayout>
</file>

<file path=ppt/slideLayouts/slideLayout295.xml><?xml version="1.0" encoding="utf-8"?>
<p:sldLayout xmlns:a="http://schemas.openxmlformats.org/drawingml/2006/main" xmlns:r="http://schemas.openxmlformats.org/officeDocument/2006/relationships" xmlns:p="http://schemas.openxmlformats.org/presentationml/2006/main" showMasterSp="0" preserve="1" userDrawn="1">
  <p:cSld name="Quote Layout_Black">
    <p:bg>
      <p:bgPr>
        <a:solidFill>
          <a:schemeClr val="tx1"/>
        </a:solidFill>
        <a:effectLst/>
      </p:bgPr>
    </p:bg>
    <p:spTree>
      <p:nvGrpSpPr>
        <p:cNvPr id="1" name=""/>
        <p:cNvGrpSpPr/>
        <p:nvPr/>
      </p:nvGrpSpPr>
      <p:grpSpPr>
        <a:xfrm>
          <a:off x="0" y="0"/>
          <a:ext cx="0" cy="0"/>
          <a:chOff x="0" y="0"/>
          <a:chExt cx="0" cy="0"/>
        </a:xfrm>
      </p:grpSpPr>
      <p:sp>
        <p:nvSpPr>
          <p:cNvPr id="15" name="Text Placeholder 107"/>
          <p:cNvSpPr>
            <a:spLocks noGrp="1"/>
          </p:cNvSpPr>
          <p:nvPr>
            <p:ph type="body" sz="quarter" idx="18" hasCustomPrompt="1"/>
          </p:nvPr>
        </p:nvSpPr>
        <p:spPr bwMode="white">
          <a:xfrm>
            <a:off x="548783" y="1276354"/>
            <a:ext cx="10167728" cy="3242641"/>
          </a:xfrm>
          <a:prstGeom prst="rect">
            <a:avLst/>
          </a:prstGeom>
        </p:spPr>
        <p:txBody>
          <a:bodyPr lIns="0" anchor="t">
            <a:normAutofit/>
          </a:bodyPr>
          <a:lstStyle>
            <a:lvl1pPr marL="0" indent="0" algn="l">
              <a:lnSpc>
                <a:spcPct val="100000"/>
              </a:lnSpc>
              <a:buNone/>
              <a:defRPr sz="4398" b="1" spc="-150">
                <a:solidFill>
                  <a:schemeClr val="bg1"/>
                </a:solidFill>
              </a:defRPr>
            </a:lvl1pPr>
            <a:lvl2pPr marL="341109" indent="0" algn="ctr">
              <a:buNone/>
              <a:defRPr>
                <a:solidFill>
                  <a:schemeClr val="bg1"/>
                </a:solidFill>
              </a:defRPr>
            </a:lvl2pPr>
            <a:lvl3pPr marL="679042" indent="0" algn="ctr">
              <a:buNone/>
              <a:defRPr>
                <a:solidFill>
                  <a:schemeClr val="bg1"/>
                </a:solidFill>
              </a:defRPr>
            </a:lvl3pPr>
            <a:lvl4pPr marL="966207" indent="0" algn="ctr">
              <a:buNone/>
              <a:defRPr>
                <a:solidFill>
                  <a:schemeClr val="bg1"/>
                </a:solidFill>
              </a:defRPr>
            </a:lvl4pPr>
            <a:lvl5pPr marL="1145487" indent="0" algn="ctr">
              <a:buNone/>
              <a:defRPr>
                <a:solidFill>
                  <a:schemeClr val="bg1"/>
                </a:solidFill>
              </a:defRPr>
            </a:lvl5pPr>
          </a:lstStyle>
          <a:p>
            <a:pPr lvl="0"/>
            <a:r>
              <a:rPr lang="en-US"/>
              <a:t>Click to edit quote</a:t>
            </a:r>
          </a:p>
        </p:txBody>
      </p:sp>
      <p:sp>
        <p:nvSpPr>
          <p:cNvPr id="17" name="Text Placeholder 110"/>
          <p:cNvSpPr>
            <a:spLocks noGrp="1"/>
          </p:cNvSpPr>
          <p:nvPr>
            <p:ph type="body" sz="quarter" idx="19" hasCustomPrompt="1"/>
          </p:nvPr>
        </p:nvSpPr>
        <p:spPr>
          <a:xfrm>
            <a:off x="554484" y="4623890"/>
            <a:ext cx="10162029" cy="876300"/>
          </a:xfrm>
          <a:prstGeom prst="rect">
            <a:avLst/>
          </a:prstGeom>
        </p:spPr>
        <p:txBody>
          <a:bodyPr lIns="0"/>
          <a:lstStyle>
            <a:lvl1pPr marL="0" indent="0" algn="l">
              <a:buNone/>
              <a:defRPr sz="2398" b="1" spc="-150" baseline="0">
                <a:solidFill>
                  <a:schemeClr val="bg1"/>
                </a:solidFill>
              </a:defRPr>
            </a:lvl1pPr>
            <a:lvl2pPr marL="341109" indent="0">
              <a:buNone/>
              <a:defRPr/>
            </a:lvl2pPr>
            <a:lvl3pPr marL="679042" indent="0">
              <a:buNone/>
              <a:defRPr/>
            </a:lvl3pPr>
            <a:lvl4pPr marL="966207" indent="0">
              <a:buNone/>
              <a:defRPr/>
            </a:lvl4pPr>
            <a:lvl5pPr marL="1145487" indent="0">
              <a:buNone/>
              <a:defRPr/>
            </a:lvl5pPr>
          </a:lstStyle>
          <a:p>
            <a:pPr lvl="0"/>
            <a:r>
              <a:rPr lang="en-US"/>
              <a:t>Click to edit quote source</a:t>
            </a:r>
          </a:p>
        </p:txBody>
      </p:sp>
      <p:sp>
        <p:nvSpPr>
          <p:cNvPr id="1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9" name="TextBox 8"/>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0" name="Group 9"/>
          <p:cNvGrpSpPr/>
          <p:nvPr userDrawn="1"/>
        </p:nvGrpSpPr>
        <p:grpSpPr>
          <a:xfrm>
            <a:off x="554485" y="6421482"/>
            <a:ext cx="734547" cy="245008"/>
            <a:chOff x="547688" y="952500"/>
            <a:chExt cx="12190413" cy="4067175"/>
          </a:xfrm>
        </p:grpSpPr>
        <p:sp>
          <p:nvSpPr>
            <p:cNvPr id="11" name="Rectangle 10"/>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5"/>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7"/>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8"/>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0"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1"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grpSp>
        <p:nvGrpSpPr>
          <p:cNvPr id="22" name="Group 21">
            <a:extLst>
              <a:ext uri="{FF2B5EF4-FFF2-40B4-BE49-F238E27FC236}">
                <a16:creationId xmlns:a16="http://schemas.microsoft.com/office/drawing/2014/main" id="{99371872-34E0-4E87-A880-855C986DEFEB}"/>
              </a:ext>
            </a:extLst>
          </p:cNvPr>
          <p:cNvGrpSpPr/>
          <p:nvPr userDrawn="1"/>
        </p:nvGrpSpPr>
        <p:grpSpPr>
          <a:xfrm>
            <a:off x="548783" y="398468"/>
            <a:ext cx="990858" cy="735013"/>
            <a:chOff x="657226" y="398463"/>
            <a:chExt cx="990600" cy="735013"/>
          </a:xfrm>
          <a:gradFill>
            <a:gsLst>
              <a:gs pos="0">
                <a:srgbClr val="F2A11F"/>
              </a:gs>
              <a:gs pos="37000">
                <a:srgbClr val="EC5124"/>
              </a:gs>
              <a:gs pos="79000">
                <a:srgbClr val="D32A27"/>
              </a:gs>
              <a:gs pos="100000">
                <a:srgbClr val="7A425E"/>
              </a:gs>
            </a:gsLst>
            <a:lin ang="2400000" scaled="0"/>
          </a:gradFill>
        </p:grpSpPr>
        <p:sp>
          <p:nvSpPr>
            <p:cNvPr id="23" name="Freeform 5">
              <a:extLst>
                <a:ext uri="{FF2B5EF4-FFF2-40B4-BE49-F238E27FC236}">
                  <a16:creationId xmlns:a16="http://schemas.microsoft.com/office/drawing/2014/main" id="{CA59E31A-C52B-4474-A5A0-530DF770A454}"/>
                </a:ext>
              </a:extLst>
            </p:cNvPr>
            <p:cNvSpPr>
              <a:spLocks/>
            </p:cNvSpPr>
            <p:nvPr userDrawn="1"/>
          </p:nvSpPr>
          <p:spPr bwMode="auto">
            <a:xfrm>
              <a:off x="657226"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24" name="Freeform 6">
              <a:extLst>
                <a:ext uri="{FF2B5EF4-FFF2-40B4-BE49-F238E27FC236}">
                  <a16:creationId xmlns:a16="http://schemas.microsoft.com/office/drawing/2014/main" id="{123B3F17-34EE-4FBA-8852-7ED07762D8EB}"/>
                </a:ext>
              </a:extLst>
            </p:cNvPr>
            <p:cNvSpPr>
              <a:spLocks/>
            </p:cNvSpPr>
            <p:nvPr userDrawn="1"/>
          </p:nvSpPr>
          <p:spPr bwMode="auto">
            <a:xfrm>
              <a:off x="1195388" y="398463"/>
              <a:ext cx="452438" cy="735013"/>
            </a:xfrm>
            <a:custGeom>
              <a:avLst/>
              <a:gdLst>
                <a:gd name="T0" fmla="*/ 0 w 452"/>
                <a:gd name="T1" fmla="*/ 428 h 736"/>
                <a:gd name="T2" fmla="*/ 422 w 452"/>
                <a:gd name="T3" fmla="*/ 0 h 736"/>
                <a:gd name="T4" fmla="*/ 452 w 452"/>
                <a:gd name="T5" fmla="*/ 144 h 736"/>
                <a:gd name="T6" fmla="*/ 228 w 452"/>
                <a:gd name="T7" fmla="*/ 370 h 736"/>
                <a:gd name="T8" fmla="*/ 370 w 452"/>
                <a:gd name="T9" fmla="*/ 370 h 736"/>
                <a:gd name="T10" fmla="*/ 370 w 452"/>
                <a:gd name="T11" fmla="*/ 736 h 736"/>
                <a:gd name="T12" fmla="*/ 0 w 452"/>
                <a:gd name="T13" fmla="*/ 736 h 736"/>
                <a:gd name="T14" fmla="*/ 0 w 452"/>
                <a:gd name="T15" fmla="*/ 428 h 7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736">
                  <a:moveTo>
                    <a:pt x="0" y="428"/>
                  </a:moveTo>
                  <a:cubicBezTo>
                    <a:pt x="0" y="126"/>
                    <a:pt x="151" y="5"/>
                    <a:pt x="422" y="0"/>
                  </a:cubicBezTo>
                  <a:cubicBezTo>
                    <a:pt x="452" y="144"/>
                    <a:pt x="452" y="144"/>
                    <a:pt x="452" y="144"/>
                  </a:cubicBezTo>
                  <a:cubicBezTo>
                    <a:pt x="294" y="160"/>
                    <a:pt x="217" y="240"/>
                    <a:pt x="228" y="370"/>
                  </a:cubicBezTo>
                  <a:cubicBezTo>
                    <a:pt x="370" y="370"/>
                    <a:pt x="370" y="370"/>
                    <a:pt x="370" y="370"/>
                  </a:cubicBezTo>
                  <a:cubicBezTo>
                    <a:pt x="370" y="736"/>
                    <a:pt x="370" y="736"/>
                    <a:pt x="370" y="736"/>
                  </a:cubicBezTo>
                  <a:cubicBezTo>
                    <a:pt x="0" y="736"/>
                    <a:pt x="0" y="736"/>
                    <a:pt x="0" y="736"/>
                  </a:cubicBezTo>
                  <a:lnTo>
                    <a:pt x="0" y="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Tree>
    <p:extLst>
      <p:ext uri="{BB962C8B-B14F-4D97-AF65-F5344CB8AC3E}">
        <p14:creationId xmlns:p14="http://schemas.microsoft.com/office/powerpoint/2010/main" val="3887038944"/>
      </p:ext>
    </p:extLst>
  </p:cSld>
  <p:clrMapOvr>
    <a:masterClrMapping/>
  </p:clrMapOvr>
  <p:transition spd="med"/>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Content w/ Product">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2" y="0"/>
            <a:ext cx="6568599"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9" name="Content Placeholder 2"/>
          <p:cNvSpPr>
            <a:spLocks noGrp="1"/>
          </p:cNvSpPr>
          <p:nvPr>
            <p:ph sz="half" idx="18"/>
          </p:nvPr>
        </p:nvSpPr>
        <p:spPr bwMode="gray">
          <a:xfrm>
            <a:off x="6837067" y="1307596"/>
            <a:ext cx="4708781" cy="4919589"/>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tx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tx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tx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37066" y="402336"/>
            <a:ext cx="4708781"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title</a:t>
            </a:r>
          </a:p>
        </p:txBody>
      </p:sp>
      <p:sp>
        <p:nvSpPr>
          <p:cNvPr id="18"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115418427"/>
      </p:ext>
    </p:extLst>
  </p:cSld>
  <p:clrMapOvr>
    <a:masterClrMapping/>
  </p:clrMapOvr>
  <p:transition spd="med"/>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preserve="1" userDrawn="1">
  <p:cSld name="Content w/ Product_Black">
    <p:bg>
      <p:bgPr>
        <a:solidFill>
          <a:schemeClr val="tx1"/>
        </a:solidFill>
        <a:effectLst/>
      </p:bgPr>
    </p:bg>
    <p:spTree>
      <p:nvGrpSpPr>
        <p:cNvPr id="1" name=""/>
        <p:cNvGrpSpPr/>
        <p:nvPr/>
      </p:nvGrpSpPr>
      <p:grpSpPr>
        <a:xfrm>
          <a:off x="0" y="0"/>
          <a:ext cx="0" cy="0"/>
          <a:chOff x="0" y="0"/>
          <a:chExt cx="0" cy="0"/>
        </a:xfrm>
      </p:grpSpPr>
      <p:sp>
        <p:nvSpPr>
          <p:cNvPr id="7" name="Picture Placeholder 8"/>
          <p:cNvSpPr>
            <a:spLocks noGrp="1"/>
          </p:cNvSpPr>
          <p:nvPr>
            <p:ph type="pic" sz="quarter" idx="17"/>
          </p:nvPr>
        </p:nvSpPr>
        <p:spPr>
          <a:xfrm>
            <a:off x="2" y="0"/>
            <a:ext cx="6568599" cy="6858000"/>
          </a:xfrm>
          <a:prstGeom prst="rect">
            <a:avLst/>
          </a:prstGeom>
        </p:spPr>
        <p:txBody>
          <a:bodyPr anchor="ctr"/>
          <a:lstStyle>
            <a:lvl1pPr marL="0" indent="0" algn="ctr">
              <a:buNone/>
              <a:defRPr sz="2398">
                <a:solidFill>
                  <a:schemeClr val="accent1"/>
                </a:solidFill>
              </a:defRPr>
            </a:lvl1pPr>
          </a:lstStyle>
          <a:p>
            <a:endParaRPr lang="en-US"/>
          </a:p>
        </p:txBody>
      </p:sp>
      <p:sp>
        <p:nvSpPr>
          <p:cNvPr id="9" name="Content Placeholder 2"/>
          <p:cNvSpPr>
            <a:spLocks noGrp="1"/>
          </p:cNvSpPr>
          <p:nvPr>
            <p:ph sz="half" idx="18"/>
          </p:nvPr>
        </p:nvSpPr>
        <p:spPr bwMode="gray">
          <a:xfrm>
            <a:off x="6837067" y="1307592"/>
            <a:ext cx="4708781" cy="5023760"/>
          </a:xfrm>
          <a:prstGeom prst="rect">
            <a:avLst/>
          </a:prstGeom>
        </p:spPr>
        <p:txBody>
          <a:bodyPr lIns="0" tIns="0" rIns="0" bIns="0"/>
          <a:lstStyle>
            <a:lvl1pPr marL="171348" indent="-171348">
              <a:lnSpc>
                <a:spcPct val="90000"/>
              </a:lnSpc>
              <a:spcBef>
                <a:spcPts val="500"/>
              </a:spcBef>
              <a:buClrTx/>
              <a:buFont typeface="Arial" panose="020B0604020202020204" pitchFamily="34" charset="0"/>
              <a:buChar char="•"/>
              <a:defRPr sz="1998">
                <a:solidFill>
                  <a:schemeClr val="bg1"/>
                </a:solidFill>
                <a:latin typeface="Arial" pitchFamily="34" charset="0"/>
                <a:cs typeface="Arial" pitchFamily="34" charset="0"/>
              </a:defRPr>
            </a:lvl1pPr>
            <a:lvl2pPr marL="609127" indent="-228422">
              <a:lnSpc>
                <a:spcPct val="90000"/>
              </a:lnSpc>
              <a:spcBef>
                <a:spcPts val="500"/>
              </a:spcBef>
              <a:buClrTx/>
              <a:buFont typeface="Arial" pitchFamily="34" charset="0"/>
              <a:buChar char="–"/>
              <a:defRPr sz="1798">
                <a:solidFill>
                  <a:schemeClr val="bg1"/>
                </a:solidFill>
                <a:latin typeface="Arial" pitchFamily="34" charset="0"/>
                <a:cs typeface="Arial" pitchFamily="34" charset="0"/>
              </a:defRPr>
            </a:lvl2pPr>
            <a:lvl3pPr marL="835436"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3pPr>
            <a:lvl4pPr marL="1146345" indent="-156512">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4pPr>
            <a:lvl5pPr marL="1444564" indent="-150168">
              <a:lnSpc>
                <a:spcPct val="90000"/>
              </a:lnSpc>
              <a:spcBef>
                <a:spcPts val="500"/>
              </a:spcBef>
              <a:buClrTx/>
              <a:buFont typeface="Arial" panose="020B0604020202020204" pitchFamily="34" charset="0"/>
              <a:buChar char="-"/>
              <a:defRPr sz="1798">
                <a:solidFill>
                  <a:schemeClr val="bg1"/>
                </a:solidFill>
                <a:latin typeface="Arial" pitchFamily="34" charset="0"/>
                <a:cs typeface="Arial" pitchFamily="34" charset="0"/>
              </a:defRPr>
            </a:lvl5pPr>
            <a:lvl6pPr>
              <a:defRPr sz="2398"/>
            </a:lvl6pPr>
            <a:lvl7pPr>
              <a:defRPr sz="2398"/>
            </a:lvl7pPr>
            <a:lvl8pPr>
              <a:defRPr sz="2398"/>
            </a:lvl8pPr>
            <a:lvl9pPr>
              <a:defRPr sz="23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28"/>
          <p:cNvSpPr>
            <a:spLocks noGrp="1"/>
          </p:cNvSpPr>
          <p:nvPr>
            <p:ph type="title" hasCustomPrompt="1"/>
          </p:nvPr>
        </p:nvSpPr>
        <p:spPr bwMode="gray">
          <a:xfrm>
            <a:off x="6837066" y="402336"/>
            <a:ext cx="4708781"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title</a:t>
            </a:r>
          </a:p>
        </p:txBody>
      </p:sp>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8" name="TextBox 7"/>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0" name="Group 9"/>
          <p:cNvGrpSpPr/>
          <p:nvPr userDrawn="1"/>
        </p:nvGrpSpPr>
        <p:grpSpPr>
          <a:xfrm>
            <a:off x="554485" y="6421482"/>
            <a:ext cx="734547" cy="245008"/>
            <a:chOff x="547688" y="952500"/>
            <a:chExt cx="12190413" cy="4067175"/>
          </a:xfrm>
        </p:grpSpPr>
        <p:sp>
          <p:nvSpPr>
            <p:cNvPr id="13" name="Rectangle 12"/>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5"/>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6"/>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3860930876"/>
      </p:ext>
    </p:extLst>
  </p:cSld>
  <p:clrMapOvr>
    <a:masterClrMapping/>
  </p:clrMapOvr>
  <p:transition spd="med"/>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548785" y="1307593"/>
            <a:ext cx="11076269" cy="4919588"/>
          </a:xfrm>
          <a:prstGeom prst="rect">
            <a:avLst/>
          </a:prstGeom>
        </p:spPr>
        <p:txBody>
          <a:bodyPr lIns="121899" tIns="853291" rIns="121899" bIns="60949" anchor="ctr" anchorCtr="0"/>
          <a:lstStyle>
            <a:lvl1pPr marL="0" indent="0" algn="ctr">
              <a:buFontTx/>
              <a:buNone/>
              <a:defRPr sz="2398" baseline="0">
                <a:solidFill>
                  <a:schemeClr val="bg2"/>
                </a:solidFill>
              </a:defRPr>
            </a:lvl1pPr>
          </a:lstStyle>
          <a:p>
            <a:r>
              <a:rPr lang="en-US"/>
              <a:t>Click icon to create chart</a:t>
            </a:r>
          </a:p>
        </p:txBody>
      </p:sp>
      <p:sp>
        <p:nvSpPr>
          <p:cNvPr id="16"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986889998"/>
      </p:ext>
    </p:extLst>
  </p:cSld>
  <p:clrMapOvr>
    <a:masterClrMapping/>
  </p:clrMapOvr>
  <p:transition spd="med"/>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Chart Slide_Black">
    <p:bg>
      <p:bgPr>
        <a:solidFill>
          <a:schemeClr val="tx1"/>
        </a:solidFill>
        <a:effectLst/>
      </p:bgPr>
    </p:bg>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2336"/>
            <a:ext cx="11076268" cy="521208"/>
          </a:xfrm>
          <a:prstGeom prst="rect">
            <a:avLst/>
          </a:prstGeom>
        </p:spPr>
        <p:txBody>
          <a:bodyPr wrap="square" lIns="0" tIns="0" rIns="0" bIns="0" anchor="t" anchorCtr="0"/>
          <a:lstStyle>
            <a:lvl1pPr marL="0" algn="l" defTabSz="1218255" rtl="0" eaLnBrk="1" latinLnBrk="0" hangingPunct="1">
              <a:lnSpc>
                <a:spcPts val="3198"/>
              </a:lnSpc>
              <a:spcBef>
                <a:spcPct val="0"/>
              </a:spcBef>
              <a:buNone/>
              <a:tabLst>
                <a:tab pos="1218255" algn="l"/>
              </a:tabLst>
              <a:defRPr lang="en-US" sz="3198" b="1" kern="1200" cap="none" spc="-150" baseline="0" dirty="0">
                <a:solidFill>
                  <a:schemeClr val="bg1"/>
                </a:solidFill>
                <a:latin typeface="Arial" pitchFamily="34" charset="0"/>
                <a:ea typeface="+mn-ea"/>
                <a:cs typeface="Arial" pitchFamily="34" charset="0"/>
              </a:defRPr>
            </a:lvl1pPr>
          </a:lstStyle>
          <a:p>
            <a:r>
              <a:rPr lang="en-US"/>
              <a:t>Click to edit master title</a:t>
            </a:r>
          </a:p>
        </p:txBody>
      </p:sp>
      <p:sp>
        <p:nvSpPr>
          <p:cNvPr id="9" name="Chart Placeholder 2"/>
          <p:cNvSpPr>
            <a:spLocks noGrp="1"/>
          </p:cNvSpPr>
          <p:nvPr>
            <p:ph type="chart" sz="quarter" idx="10" hasCustomPrompt="1"/>
          </p:nvPr>
        </p:nvSpPr>
        <p:spPr bwMode="gray">
          <a:xfrm>
            <a:off x="548785" y="1307593"/>
            <a:ext cx="11076269" cy="4919588"/>
          </a:xfrm>
          <a:prstGeom prst="rect">
            <a:avLst/>
          </a:prstGeom>
        </p:spPr>
        <p:txBody>
          <a:bodyPr lIns="121899" tIns="853291" rIns="121899" bIns="60949" anchor="ctr" anchorCtr="0"/>
          <a:lstStyle>
            <a:lvl1pPr marL="0" indent="0" algn="ctr">
              <a:buFontTx/>
              <a:buNone/>
              <a:defRPr sz="2398" baseline="0">
                <a:solidFill>
                  <a:schemeClr val="bg1"/>
                </a:solidFill>
              </a:defRPr>
            </a:lvl1pPr>
          </a:lstStyle>
          <a:p>
            <a:r>
              <a:rPr lang="en-US"/>
              <a:t>Click icon to create chart</a:t>
            </a:r>
          </a:p>
        </p:txBody>
      </p:sp>
      <p:sp>
        <p:nvSpPr>
          <p:cNvPr id="11"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6" name="TextBox 5"/>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7" name="Group 6"/>
          <p:cNvGrpSpPr/>
          <p:nvPr userDrawn="1"/>
        </p:nvGrpSpPr>
        <p:grpSpPr>
          <a:xfrm>
            <a:off x="554485" y="6421482"/>
            <a:ext cx="734547" cy="245008"/>
            <a:chOff x="547688" y="952500"/>
            <a:chExt cx="12190413" cy="4067175"/>
          </a:xfrm>
        </p:grpSpPr>
        <p:sp>
          <p:nvSpPr>
            <p:cNvPr id="8" name="Rectangle 7"/>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2" name="Freeform 11"/>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3" name="Freeform 12"/>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4" name="Freeform 13"/>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5" name="Freeform 14"/>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6"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2909427914"/>
      </p:ext>
    </p:extLst>
  </p:cSld>
  <p:clrMapOvr>
    <a:masterClrMapping/>
  </p:clrMapOvr>
  <p:transition spd="med"/>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
        <p:nvSpPr>
          <p:cNvPr id="12"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963230828"/>
      </p:ext>
    </p:extLst>
  </p:cSld>
  <p:clrMapOvr>
    <a:masterClrMapping/>
  </p:clrMapOvr>
  <p:transition spd="med"/>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preserve="1" userDrawn="1">
  <p:cSld name="Blank Slide_Black">
    <p:bg>
      <p:bgPr>
        <a:solidFill>
          <a:schemeClr val="tx1"/>
        </a:solidFill>
        <a:effectLst/>
      </p:bgPr>
    </p:bg>
    <p:spTree>
      <p:nvGrpSpPr>
        <p:cNvPr id="1" name=""/>
        <p:cNvGrpSpPr/>
        <p:nvPr/>
      </p:nvGrpSpPr>
      <p:grpSpPr>
        <a:xfrm>
          <a:off x="0" y="0"/>
          <a:ext cx="0" cy="0"/>
          <a:chOff x="0" y="0"/>
          <a:chExt cx="0" cy="0"/>
        </a:xfrm>
      </p:grpSpPr>
      <p:sp>
        <p:nvSpPr>
          <p:cNvPr id="9"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14" name="TextBox 13"/>
          <p:cNvSpPr txBox="1"/>
          <p:nvPr userDrawn="1"/>
        </p:nvSpPr>
        <p:spPr>
          <a:xfrm>
            <a:off x="1396578"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2020 Lenovo Internal. All rights reserved.</a:t>
            </a:r>
          </a:p>
        </p:txBody>
      </p:sp>
      <p:grpSp>
        <p:nvGrpSpPr>
          <p:cNvPr id="15" name="Group 14"/>
          <p:cNvGrpSpPr/>
          <p:nvPr userDrawn="1"/>
        </p:nvGrpSpPr>
        <p:grpSpPr>
          <a:xfrm>
            <a:off x="554485" y="6421482"/>
            <a:ext cx="734547" cy="245008"/>
            <a:chOff x="547688" y="952500"/>
            <a:chExt cx="12190413" cy="4067175"/>
          </a:xfrm>
        </p:grpSpPr>
        <p:sp>
          <p:nvSpPr>
            <p:cNvPr id="16" name="Rectangle 15"/>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7" name="Freeform 16"/>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8" name="Freeform 17"/>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19" name="Freeform 18"/>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0" name="Freeform 19"/>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1"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sp>
          <p:nvSpPr>
            <p:cNvPr id="22"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solidFill>
                  <a:schemeClr val="bg1"/>
                </a:solidFill>
              </a:endParaRPr>
            </a:p>
          </p:txBody>
        </p:sp>
      </p:grpSp>
    </p:spTree>
    <p:extLst>
      <p:ext uri="{BB962C8B-B14F-4D97-AF65-F5344CB8AC3E}">
        <p14:creationId xmlns:p14="http://schemas.microsoft.com/office/powerpoint/2010/main" val="4234734899"/>
      </p:ext>
    </p:extLst>
  </p:cSld>
  <p:clrMapOvr>
    <a:masterClrMapping/>
  </p:clrMapOvr>
  <p:transition spd="med"/>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preserve="1" userDrawn="1">
  <p:cSld name="Closing Slide">
    <p:spTree>
      <p:nvGrpSpPr>
        <p:cNvPr id="1" name=""/>
        <p:cNvGrpSpPr/>
        <p:nvPr/>
      </p:nvGrpSpPr>
      <p:grpSpPr>
        <a:xfrm>
          <a:off x="0" y="0"/>
          <a:ext cx="0" cy="0"/>
          <a:chOff x="0" y="0"/>
          <a:chExt cx="0" cy="0"/>
        </a:xfrm>
      </p:grpSpPr>
      <p:grpSp>
        <p:nvGrpSpPr>
          <p:cNvPr id="81" name="Group 80"/>
          <p:cNvGrpSpPr/>
          <p:nvPr userDrawn="1"/>
        </p:nvGrpSpPr>
        <p:grpSpPr>
          <a:xfrm rot="16200000">
            <a:off x="373582" y="2655459"/>
            <a:ext cx="6856214" cy="1545292"/>
            <a:chOff x="541049" y="2649538"/>
            <a:chExt cx="9285724" cy="2092325"/>
          </a:xfrm>
          <a:solidFill>
            <a:schemeClr val="tx1"/>
          </a:solidFill>
        </p:grpSpPr>
        <p:sp>
          <p:nvSpPr>
            <p:cNvPr id="5" name="Freeform 5"/>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8" name="Freeform 6"/>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 name="Freeform 7"/>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 name="Freeform 8"/>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 name="Freeform 9"/>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4" name="Freeform 10"/>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6" name="Oval 11"/>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grpSp>
        <p:nvGrpSpPr>
          <p:cNvPr id="22" name="Group 21">
            <a:extLst>
              <a:ext uri="{FF2B5EF4-FFF2-40B4-BE49-F238E27FC236}">
                <a16:creationId xmlns:a16="http://schemas.microsoft.com/office/drawing/2014/main" id="{D217900D-5033-4638-8DF2-07DE57B5B97E}"/>
              </a:ext>
            </a:extLst>
          </p:cNvPr>
          <p:cNvGrpSpPr/>
          <p:nvPr userDrawn="1"/>
        </p:nvGrpSpPr>
        <p:grpSpPr>
          <a:xfrm>
            <a:off x="7047163" y="1676401"/>
            <a:ext cx="5146427" cy="3505200"/>
            <a:chOff x="7045325" y="1676401"/>
            <a:chExt cx="5145087" cy="3505200"/>
          </a:xfrm>
        </p:grpSpPr>
        <p:sp>
          <p:nvSpPr>
            <p:cNvPr id="12" name="Freeform 5">
              <a:extLst>
                <a:ext uri="{FF2B5EF4-FFF2-40B4-BE49-F238E27FC236}">
                  <a16:creationId xmlns:a16="http://schemas.microsoft.com/office/drawing/2014/main" id="{42A022AC-236A-4C47-9960-6BBBDE197CD4}"/>
                </a:ext>
              </a:extLst>
            </p:cNvPr>
            <p:cNvSpPr>
              <a:spLocks noEditPoints="1"/>
            </p:cNvSpPr>
            <p:nvPr userDrawn="1"/>
          </p:nvSpPr>
          <p:spPr bwMode="auto">
            <a:xfrm>
              <a:off x="7045325" y="1676401"/>
              <a:ext cx="5145087" cy="3505200"/>
            </a:xfrm>
            <a:custGeom>
              <a:avLst/>
              <a:gdLst>
                <a:gd name="T0" fmla="*/ 717 w 2697"/>
                <a:gd name="T1" fmla="*/ 241 h 1832"/>
                <a:gd name="T2" fmla="*/ 698 w 2697"/>
                <a:gd name="T3" fmla="*/ 358 h 1832"/>
                <a:gd name="T4" fmla="*/ 755 w 2697"/>
                <a:gd name="T5" fmla="*/ 353 h 1832"/>
                <a:gd name="T6" fmla="*/ 952 w 2697"/>
                <a:gd name="T7" fmla="*/ 431 h 1832"/>
                <a:gd name="T8" fmla="*/ 1077 w 2697"/>
                <a:gd name="T9" fmla="*/ 299 h 1832"/>
                <a:gd name="T10" fmla="*/ 769 w 2697"/>
                <a:gd name="T11" fmla="*/ 229 h 1832"/>
                <a:gd name="T12" fmla="*/ 1219 w 2697"/>
                <a:gd name="T13" fmla="*/ 431 h 1832"/>
                <a:gd name="T14" fmla="*/ 1120 w 2697"/>
                <a:gd name="T15" fmla="*/ 287 h 1832"/>
                <a:gd name="T16" fmla="*/ 1089 w 2697"/>
                <a:gd name="T17" fmla="*/ 373 h 1832"/>
                <a:gd name="T18" fmla="*/ 1175 w 2697"/>
                <a:gd name="T19" fmla="*/ 395 h 1832"/>
                <a:gd name="T20" fmla="*/ 1412 w 2697"/>
                <a:gd name="T21" fmla="*/ 225 h 1832"/>
                <a:gd name="T22" fmla="*/ 1348 w 2697"/>
                <a:gd name="T23" fmla="*/ 356 h 1832"/>
                <a:gd name="T24" fmla="*/ 1505 w 2697"/>
                <a:gd name="T25" fmla="*/ 364 h 1832"/>
                <a:gd name="T26" fmla="*/ 1448 w 2697"/>
                <a:gd name="T27" fmla="*/ 177 h 1832"/>
                <a:gd name="T28" fmla="*/ 1666 w 2697"/>
                <a:gd name="T29" fmla="*/ 435 h 1832"/>
                <a:gd name="T30" fmla="*/ 1758 w 2697"/>
                <a:gd name="T31" fmla="*/ 335 h 1832"/>
                <a:gd name="T32" fmla="*/ 1703 w 2697"/>
                <a:gd name="T33" fmla="*/ 314 h 1832"/>
                <a:gd name="T34" fmla="*/ 1892 w 2697"/>
                <a:gd name="T35" fmla="*/ 225 h 1832"/>
                <a:gd name="T36" fmla="*/ 1828 w 2697"/>
                <a:gd name="T37" fmla="*/ 356 h 1832"/>
                <a:gd name="T38" fmla="*/ 24 w 2697"/>
                <a:gd name="T39" fmla="*/ 634 h 1832"/>
                <a:gd name="T40" fmla="*/ 81 w 2697"/>
                <a:gd name="T41" fmla="*/ 720 h 1832"/>
                <a:gd name="T42" fmla="*/ 237 w 2697"/>
                <a:gd name="T43" fmla="*/ 581 h 1832"/>
                <a:gd name="T44" fmla="*/ 243 w 2697"/>
                <a:gd name="T45" fmla="*/ 745 h 1832"/>
                <a:gd name="T46" fmla="*/ 237 w 2697"/>
                <a:gd name="T47" fmla="*/ 627 h 1832"/>
                <a:gd name="T48" fmla="*/ 450 w 2697"/>
                <a:gd name="T49" fmla="*/ 631 h 1832"/>
                <a:gd name="T50" fmla="*/ 449 w 2697"/>
                <a:gd name="T51" fmla="*/ 791 h 1832"/>
                <a:gd name="T52" fmla="*/ 598 w 2697"/>
                <a:gd name="T53" fmla="*/ 512 h 1832"/>
                <a:gd name="T54" fmla="*/ 669 w 2697"/>
                <a:gd name="T55" fmla="*/ 674 h 1832"/>
                <a:gd name="T56" fmla="*/ 798 w 2697"/>
                <a:gd name="T57" fmla="*/ 614 h 1832"/>
                <a:gd name="T58" fmla="*/ 833 w 2697"/>
                <a:gd name="T59" fmla="*/ 633 h 1832"/>
                <a:gd name="T60" fmla="*/ 1155 w 2697"/>
                <a:gd name="T61" fmla="*/ 686 h 1832"/>
                <a:gd name="T62" fmla="*/ 1155 w 2697"/>
                <a:gd name="T63" fmla="*/ 686 h 1832"/>
                <a:gd name="T64" fmla="*/ 1047 w 2697"/>
                <a:gd name="T65" fmla="*/ 742 h 1832"/>
                <a:gd name="T66" fmla="*/ 1167 w 2697"/>
                <a:gd name="T67" fmla="*/ 787 h 1832"/>
                <a:gd name="T68" fmla="*/ 1453 w 2697"/>
                <a:gd name="T69" fmla="*/ 686 h 1832"/>
                <a:gd name="T70" fmla="*/ 1344 w 2697"/>
                <a:gd name="T71" fmla="*/ 631 h 1832"/>
                <a:gd name="T72" fmla="*/ 1562 w 2697"/>
                <a:gd name="T73" fmla="*/ 848 h 1832"/>
                <a:gd name="T74" fmla="*/ 1552 w 2697"/>
                <a:gd name="T75" fmla="*/ 581 h 1832"/>
                <a:gd name="T76" fmla="*/ 1560 w 2697"/>
                <a:gd name="T77" fmla="*/ 802 h 1832"/>
                <a:gd name="T78" fmla="*/ 1618 w 2697"/>
                <a:gd name="T79" fmla="*/ 676 h 1832"/>
                <a:gd name="T80" fmla="*/ 1743 w 2697"/>
                <a:gd name="T81" fmla="*/ 801 h 1832"/>
                <a:gd name="T82" fmla="*/ 1834 w 2697"/>
                <a:gd name="T83" fmla="*/ 585 h 1832"/>
                <a:gd name="T84" fmla="*/ 1101 w 2697"/>
                <a:gd name="T85" fmla="*/ 940 h 1832"/>
                <a:gd name="T86" fmla="*/ 974 w 2697"/>
                <a:gd name="T87" fmla="*/ 965 h 1832"/>
                <a:gd name="T88" fmla="*/ 1101 w 2697"/>
                <a:gd name="T89" fmla="*/ 1012 h 1832"/>
                <a:gd name="T90" fmla="*/ 1318 w 2697"/>
                <a:gd name="T91" fmla="*/ 1064 h 1832"/>
                <a:gd name="T92" fmla="*/ 1156 w 2697"/>
                <a:gd name="T93" fmla="*/ 1063 h 1832"/>
                <a:gd name="T94" fmla="*/ 1332 w 2697"/>
                <a:gd name="T95" fmla="*/ 963 h 1832"/>
                <a:gd name="T96" fmla="*/ 1453 w 2697"/>
                <a:gd name="T97" fmla="*/ 959 h 1832"/>
                <a:gd name="T98" fmla="*/ 1657 w 2697"/>
                <a:gd name="T99" fmla="*/ 1046 h 1832"/>
                <a:gd name="T100" fmla="*/ 1657 w 2697"/>
                <a:gd name="T101" fmla="*/ 1143 h 1832"/>
                <a:gd name="T102" fmla="*/ 1658 w 2697"/>
                <a:gd name="T103" fmla="*/ 1094 h 1832"/>
                <a:gd name="T104" fmla="*/ 1658 w 2697"/>
                <a:gd name="T105" fmla="*/ 1094 h 1832"/>
                <a:gd name="T106" fmla="*/ 1817 w 2697"/>
                <a:gd name="T107" fmla="*/ 1165 h 1832"/>
                <a:gd name="T108" fmla="*/ 2086 w 2697"/>
                <a:gd name="T109" fmla="*/ 1832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7" h="1832">
                  <a:moveTo>
                    <a:pt x="755" y="352"/>
                  </a:moveTo>
                  <a:cubicBezTo>
                    <a:pt x="755" y="306"/>
                    <a:pt x="725" y="287"/>
                    <a:pt x="672" y="273"/>
                  </a:cubicBezTo>
                  <a:cubicBezTo>
                    <a:pt x="626" y="261"/>
                    <a:pt x="615" y="256"/>
                    <a:pt x="615" y="238"/>
                  </a:cubicBezTo>
                  <a:cubicBezTo>
                    <a:pt x="615" y="238"/>
                    <a:pt x="615" y="238"/>
                    <a:pt x="615" y="238"/>
                  </a:cubicBezTo>
                  <a:cubicBezTo>
                    <a:pt x="615" y="225"/>
                    <a:pt x="626" y="215"/>
                    <a:pt x="649" y="215"/>
                  </a:cubicBezTo>
                  <a:cubicBezTo>
                    <a:pt x="671" y="215"/>
                    <a:pt x="694" y="224"/>
                    <a:pt x="717" y="241"/>
                  </a:cubicBezTo>
                  <a:cubicBezTo>
                    <a:pt x="747" y="197"/>
                    <a:pt x="747" y="197"/>
                    <a:pt x="747" y="197"/>
                  </a:cubicBezTo>
                  <a:cubicBezTo>
                    <a:pt x="720" y="175"/>
                    <a:pt x="688" y="163"/>
                    <a:pt x="649" y="163"/>
                  </a:cubicBezTo>
                  <a:cubicBezTo>
                    <a:pt x="595" y="163"/>
                    <a:pt x="557" y="195"/>
                    <a:pt x="557" y="243"/>
                  </a:cubicBezTo>
                  <a:cubicBezTo>
                    <a:pt x="557" y="244"/>
                    <a:pt x="557" y="244"/>
                    <a:pt x="557" y="244"/>
                  </a:cubicBezTo>
                  <a:cubicBezTo>
                    <a:pt x="557" y="296"/>
                    <a:pt x="591" y="311"/>
                    <a:pt x="644" y="324"/>
                  </a:cubicBezTo>
                  <a:cubicBezTo>
                    <a:pt x="688" y="335"/>
                    <a:pt x="698" y="343"/>
                    <a:pt x="698" y="358"/>
                  </a:cubicBezTo>
                  <a:cubicBezTo>
                    <a:pt x="698" y="358"/>
                    <a:pt x="698" y="358"/>
                    <a:pt x="698" y="358"/>
                  </a:cubicBezTo>
                  <a:cubicBezTo>
                    <a:pt x="698" y="374"/>
                    <a:pt x="683" y="383"/>
                    <a:pt x="659" y="383"/>
                  </a:cubicBezTo>
                  <a:cubicBezTo>
                    <a:pt x="629" y="383"/>
                    <a:pt x="605" y="371"/>
                    <a:pt x="581" y="351"/>
                  </a:cubicBezTo>
                  <a:cubicBezTo>
                    <a:pt x="547" y="392"/>
                    <a:pt x="547" y="392"/>
                    <a:pt x="547" y="392"/>
                  </a:cubicBezTo>
                  <a:cubicBezTo>
                    <a:pt x="578" y="421"/>
                    <a:pt x="618" y="435"/>
                    <a:pt x="658" y="435"/>
                  </a:cubicBezTo>
                  <a:cubicBezTo>
                    <a:pt x="715" y="435"/>
                    <a:pt x="755" y="405"/>
                    <a:pt x="755" y="353"/>
                  </a:cubicBezTo>
                  <a:lnTo>
                    <a:pt x="755" y="352"/>
                  </a:lnTo>
                  <a:close/>
                  <a:moveTo>
                    <a:pt x="826" y="318"/>
                  </a:moveTo>
                  <a:cubicBezTo>
                    <a:pt x="826" y="291"/>
                    <a:pt x="839" y="277"/>
                    <a:pt x="861" y="277"/>
                  </a:cubicBezTo>
                  <a:cubicBezTo>
                    <a:pt x="882" y="277"/>
                    <a:pt x="894" y="291"/>
                    <a:pt x="894" y="318"/>
                  </a:cubicBezTo>
                  <a:cubicBezTo>
                    <a:pt x="894" y="431"/>
                    <a:pt x="894" y="431"/>
                    <a:pt x="894" y="431"/>
                  </a:cubicBezTo>
                  <a:cubicBezTo>
                    <a:pt x="952" y="431"/>
                    <a:pt x="952" y="431"/>
                    <a:pt x="952" y="431"/>
                  </a:cubicBezTo>
                  <a:cubicBezTo>
                    <a:pt x="952" y="318"/>
                    <a:pt x="952" y="318"/>
                    <a:pt x="952" y="318"/>
                  </a:cubicBezTo>
                  <a:cubicBezTo>
                    <a:pt x="952" y="291"/>
                    <a:pt x="965" y="277"/>
                    <a:pt x="986" y="277"/>
                  </a:cubicBezTo>
                  <a:cubicBezTo>
                    <a:pt x="1008" y="277"/>
                    <a:pt x="1020" y="291"/>
                    <a:pt x="1020" y="318"/>
                  </a:cubicBezTo>
                  <a:cubicBezTo>
                    <a:pt x="1020" y="431"/>
                    <a:pt x="1020" y="431"/>
                    <a:pt x="1020" y="431"/>
                  </a:cubicBezTo>
                  <a:cubicBezTo>
                    <a:pt x="1077" y="431"/>
                    <a:pt x="1077" y="431"/>
                    <a:pt x="1077" y="431"/>
                  </a:cubicBezTo>
                  <a:cubicBezTo>
                    <a:pt x="1077" y="299"/>
                    <a:pt x="1077" y="299"/>
                    <a:pt x="1077" y="299"/>
                  </a:cubicBezTo>
                  <a:cubicBezTo>
                    <a:pt x="1077" y="251"/>
                    <a:pt x="1051" y="225"/>
                    <a:pt x="1009" y="225"/>
                  </a:cubicBezTo>
                  <a:cubicBezTo>
                    <a:pt x="981" y="225"/>
                    <a:pt x="960" y="236"/>
                    <a:pt x="943" y="257"/>
                  </a:cubicBezTo>
                  <a:cubicBezTo>
                    <a:pt x="932" y="237"/>
                    <a:pt x="912" y="225"/>
                    <a:pt x="886" y="225"/>
                  </a:cubicBezTo>
                  <a:cubicBezTo>
                    <a:pt x="857" y="225"/>
                    <a:pt x="839" y="241"/>
                    <a:pt x="826" y="258"/>
                  </a:cubicBezTo>
                  <a:cubicBezTo>
                    <a:pt x="826" y="229"/>
                    <a:pt x="826" y="229"/>
                    <a:pt x="826" y="229"/>
                  </a:cubicBezTo>
                  <a:cubicBezTo>
                    <a:pt x="769" y="229"/>
                    <a:pt x="769" y="229"/>
                    <a:pt x="769" y="229"/>
                  </a:cubicBezTo>
                  <a:cubicBezTo>
                    <a:pt x="769" y="431"/>
                    <a:pt x="769" y="431"/>
                    <a:pt x="769" y="431"/>
                  </a:cubicBezTo>
                  <a:cubicBezTo>
                    <a:pt x="826" y="431"/>
                    <a:pt x="826" y="431"/>
                    <a:pt x="826" y="431"/>
                  </a:cubicBezTo>
                  <a:lnTo>
                    <a:pt x="826" y="318"/>
                  </a:lnTo>
                  <a:close/>
                  <a:moveTo>
                    <a:pt x="1158" y="435"/>
                  </a:moveTo>
                  <a:cubicBezTo>
                    <a:pt x="1186" y="435"/>
                    <a:pt x="1205" y="424"/>
                    <a:pt x="1219" y="409"/>
                  </a:cubicBezTo>
                  <a:cubicBezTo>
                    <a:pt x="1219" y="431"/>
                    <a:pt x="1219" y="431"/>
                    <a:pt x="1219" y="431"/>
                  </a:cubicBezTo>
                  <a:cubicBezTo>
                    <a:pt x="1274" y="431"/>
                    <a:pt x="1274" y="431"/>
                    <a:pt x="1274" y="431"/>
                  </a:cubicBezTo>
                  <a:cubicBezTo>
                    <a:pt x="1274" y="314"/>
                    <a:pt x="1274" y="314"/>
                    <a:pt x="1274" y="314"/>
                  </a:cubicBezTo>
                  <a:cubicBezTo>
                    <a:pt x="1274" y="287"/>
                    <a:pt x="1268" y="264"/>
                    <a:pt x="1253" y="249"/>
                  </a:cubicBezTo>
                  <a:cubicBezTo>
                    <a:pt x="1238" y="235"/>
                    <a:pt x="1216" y="227"/>
                    <a:pt x="1184" y="227"/>
                  </a:cubicBezTo>
                  <a:cubicBezTo>
                    <a:pt x="1150" y="227"/>
                    <a:pt x="1128" y="233"/>
                    <a:pt x="1106" y="243"/>
                  </a:cubicBezTo>
                  <a:cubicBezTo>
                    <a:pt x="1120" y="287"/>
                    <a:pt x="1120" y="287"/>
                    <a:pt x="1120" y="287"/>
                  </a:cubicBezTo>
                  <a:cubicBezTo>
                    <a:pt x="1139" y="280"/>
                    <a:pt x="1154" y="276"/>
                    <a:pt x="1176" y="276"/>
                  </a:cubicBezTo>
                  <a:cubicBezTo>
                    <a:pt x="1205" y="276"/>
                    <a:pt x="1219" y="289"/>
                    <a:pt x="1219" y="313"/>
                  </a:cubicBezTo>
                  <a:cubicBezTo>
                    <a:pt x="1219" y="316"/>
                    <a:pt x="1219" y="316"/>
                    <a:pt x="1219" y="316"/>
                  </a:cubicBezTo>
                  <a:cubicBezTo>
                    <a:pt x="1205" y="311"/>
                    <a:pt x="1190" y="308"/>
                    <a:pt x="1170" y="308"/>
                  </a:cubicBezTo>
                  <a:cubicBezTo>
                    <a:pt x="1122" y="308"/>
                    <a:pt x="1089" y="328"/>
                    <a:pt x="1089" y="372"/>
                  </a:cubicBezTo>
                  <a:cubicBezTo>
                    <a:pt x="1089" y="373"/>
                    <a:pt x="1089" y="373"/>
                    <a:pt x="1089" y="373"/>
                  </a:cubicBezTo>
                  <a:cubicBezTo>
                    <a:pt x="1089" y="413"/>
                    <a:pt x="1120" y="435"/>
                    <a:pt x="1158" y="435"/>
                  </a:cubicBezTo>
                  <a:close/>
                  <a:moveTo>
                    <a:pt x="1144" y="370"/>
                  </a:moveTo>
                  <a:cubicBezTo>
                    <a:pt x="1144" y="352"/>
                    <a:pt x="1159" y="342"/>
                    <a:pt x="1184" y="342"/>
                  </a:cubicBezTo>
                  <a:cubicBezTo>
                    <a:pt x="1198" y="342"/>
                    <a:pt x="1210" y="345"/>
                    <a:pt x="1220" y="349"/>
                  </a:cubicBezTo>
                  <a:cubicBezTo>
                    <a:pt x="1220" y="360"/>
                    <a:pt x="1220" y="360"/>
                    <a:pt x="1220" y="360"/>
                  </a:cubicBezTo>
                  <a:cubicBezTo>
                    <a:pt x="1220" y="380"/>
                    <a:pt x="1202" y="395"/>
                    <a:pt x="1175" y="395"/>
                  </a:cubicBezTo>
                  <a:cubicBezTo>
                    <a:pt x="1157" y="395"/>
                    <a:pt x="1144" y="386"/>
                    <a:pt x="1144" y="371"/>
                  </a:cubicBezTo>
                  <a:lnTo>
                    <a:pt x="1144" y="370"/>
                  </a:lnTo>
                  <a:close/>
                  <a:moveTo>
                    <a:pt x="1348" y="356"/>
                  </a:moveTo>
                  <a:cubicBezTo>
                    <a:pt x="1348" y="308"/>
                    <a:pt x="1371" y="285"/>
                    <a:pt x="1409" y="285"/>
                  </a:cubicBezTo>
                  <a:cubicBezTo>
                    <a:pt x="1412" y="285"/>
                    <a:pt x="1412" y="285"/>
                    <a:pt x="1412" y="285"/>
                  </a:cubicBezTo>
                  <a:cubicBezTo>
                    <a:pt x="1412" y="225"/>
                    <a:pt x="1412" y="225"/>
                    <a:pt x="1412" y="225"/>
                  </a:cubicBezTo>
                  <a:cubicBezTo>
                    <a:pt x="1378" y="224"/>
                    <a:pt x="1360" y="242"/>
                    <a:pt x="1348" y="270"/>
                  </a:cubicBezTo>
                  <a:cubicBezTo>
                    <a:pt x="1348" y="229"/>
                    <a:pt x="1348" y="229"/>
                    <a:pt x="1348" y="229"/>
                  </a:cubicBezTo>
                  <a:cubicBezTo>
                    <a:pt x="1291" y="229"/>
                    <a:pt x="1291" y="229"/>
                    <a:pt x="1291" y="229"/>
                  </a:cubicBezTo>
                  <a:cubicBezTo>
                    <a:pt x="1291" y="431"/>
                    <a:pt x="1291" y="431"/>
                    <a:pt x="1291" y="431"/>
                  </a:cubicBezTo>
                  <a:cubicBezTo>
                    <a:pt x="1348" y="431"/>
                    <a:pt x="1348" y="431"/>
                    <a:pt x="1348" y="431"/>
                  </a:cubicBezTo>
                  <a:lnTo>
                    <a:pt x="1348" y="356"/>
                  </a:lnTo>
                  <a:close/>
                  <a:moveTo>
                    <a:pt x="1448" y="374"/>
                  </a:moveTo>
                  <a:cubicBezTo>
                    <a:pt x="1448" y="420"/>
                    <a:pt x="1472" y="434"/>
                    <a:pt x="1507" y="434"/>
                  </a:cubicBezTo>
                  <a:cubicBezTo>
                    <a:pt x="1526" y="434"/>
                    <a:pt x="1540" y="430"/>
                    <a:pt x="1552" y="422"/>
                  </a:cubicBezTo>
                  <a:cubicBezTo>
                    <a:pt x="1552" y="377"/>
                    <a:pt x="1552" y="377"/>
                    <a:pt x="1552" y="377"/>
                  </a:cubicBezTo>
                  <a:cubicBezTo>
                    <a:pt x="1543" y="381"/>
                    <a:pt x="1534" y="384"/>
                    <a:pt x="1524" y="384"/>
                  </a:cubicBezTo>
                  <a:cubicBezTo>
                    <a:pt x="1511" y="384"/>
                    <a:pt x="1505" y="377"/>
                    <a:pt x="1505" y="364"/>
                  </a:cubicBezTo>
                  <a:cubicBezTo>
                    <a:pt x="1505" y="278"/>
                    <a:pt x="1505" y="278"/>
                    <a:pt x="1505" y="278"/>
                  </a:cubicBezTo>
                  <a:cubicBezTo>
                    <a:pt x="1553" y="278"/>
                    <a:pt x="1553" y="278"/>
                    <a:pt x="1553" y="278"/>
                  </a:cubicBezTo>
                  <a:cubicBezTo>
                    <a:pt x="1553" y="229"/>
                    <a:pt x="1553" y="229"/>
                    <a:pt x="1553" y="229"/>
                  </a:cubicBezTo>
                  <a:cubicBezTo>
                    <a:pt x="1505" y="229"/>
                    <a:pt x="1505" y="229"/>
                    <a:pt x="1505" y="229"/>
                  </a:cubicBezTo>
                  <a:cubicBezTo>
                    <a:pt x="1505" y="177"/>
                    <a:pt x="1505" y="177"/>
                    <a:pt x="1505" y="177"/>
                  </a:cubicBezTo>
                  <a:cubicBezTo>
                    <a:pt x="1448" y="177"/>
                    <a:pt x="1448" y="177"/>
                    <a:pt x="1448" y="177"/>
                  </a:cubicBezTo>
                  <a:cubicBezTo>
                    <a:pt x="1448" y="229"/>
                    <a:pt x="1448" y="229"/>
                    <a:pt x="1448" y="229"/>
                  </a:cubicBezTo>
                  <a:cubicBezTo>
                    <a:pt x="1424" y="229"/>
                    <a:pt x="1424" y="229"/>
                    <a:pt x="1424" y="229"/>
                  </a:cubicBezTo>
                  <a:cubicBezTo>
                    <a:pt x="1424" y="278"/>
                    <a:pt x="1424" y="278"/>
                    <a:pt x="1424" y="278"/>
                  </a:cubicBezTo>
                  <a:cubicBezTo>
                    <a:pt x="1448" y="278"/>
                    <a:pt x="1448" y="278"/>
                    <a:pt x="1448" y="278"/>
                  </a:cubicBezTo>
                  <a:lnTo>
                    <a:pt x="1448" y="374"/>
                  </a:lnTo>
                  <a:close/>
                  <a:moveTo>
                    <a:pt x="1666" y="435"/>
                  </a:moveTo>
                  <a:cubicBezTo>
                    <a:pt x="1702" y="435"/>
                    <a:pt x="1729" y="421"/>
                    <a:pt x="1748" y="398"/>
                  </a:cubicBezTo>
                  <a:cubicBezTo>
                    <a:pt x="1715" y="369"/>
                    <a:pt x="1715" y="369"/>
                    <a:pt x="1715" y="369"/>
                  </a:cubicBezTo>
                  <a:cubicBezTo>
                    <a:pt x="1700" y="383"/>
                    <a:pt x="1686" y="389"/>
                    <a:pt x="1666" y="389"/>
                  </a:cubicBezTo>
                  <a:cubicBezTo>
                    <a:pt x="1641" y="389"/>
                    <a:pt x="1623" y="376"/>
                    <a:pt x="1617" y="350"/>
                  </a:cubicBezTo>
                  <a:cubicBezTo>
                    <a:pt x="1758" y="350"/>
                    <a:pt x="1758" y="350"/>
                    <a:pt x="1758" y="350"/>
                  </a:cubicBezTo>
                  <a:cubicBezTo>
                    <a:pt x="1758" y="345"/>
                    <a:pt x="1758" y="339"/>
                    <a:pt x="1758" y="335"/>
                  </a:cubicBezTo>
                  <a:cubicBezTo>
                    <a:pt x="1758" y="277"/>
                    <a:pt x="1727" y="225"/>
                    <a:pt x="1660" y="225"/>
                  </a:cubicBezTo>
                  <a:cubicBezTo>
                    <a:pt x="1601" y="225"/>
                    <a:pt x="1560" y="273"/>
                    <a:pt x="1560" y="330"/>
                  </a:cubicBezTo>
                  <a:cubicBezTo>
                    <a:pt x="1560" y="331"/>
                    <a:pt x="1560" y="331"/>
                    <a:pt x="1560" y="331"/>
                  </a:cubicBezTo>
                  <a:cubicBezTo>
                    <a:pt x="1560" y="393"/>
                    <a:pt x="1605" y="435"/>
                    <a:pt x="1666" y="435"/>
                  </a:cubicBezTo>
                  <a:close/>
                  <a:moveTo>
                    <a:pt x="1660" y="271"/>
                  </a:moveTo>
                  <a:cubicBezTo>
                    <a:pt x="1684" y="271"/>
                    <a:pt x="1699" y="288"/>
                    <a:pt x="1703" y="314"/>
                  </a:cubicBezTo>
                  <a:cubicBezTo>
                    <a:pt x="1616" y="314"/>
                    <a:pt x="1616" y="314"/>
                    <a:pt x="1616" y="314"/>
                  </a:cubicBezTo>
                  <a:cubicBezTo>
                    <a:pt x="1621" y="288"/>
                    <a:pt x="1636" y="271"/>
                    <a:pt x="1660" y="271"/>
                  </a:cubicBezTo>
                  <a:close/>
                  <a:moveTo>
                    <a:pt x="1828" y="356"/>
                  </a:moveTo>
                  <a:cubicBezTo>
                    <a:pt x="1828" y="308"/>
                    <a:pt x="1851" y="285"/>
                    <a:pt x="1889" y="285"/>
                  </a:cubicBezTo>
                  <a:cubicBezTo>
                    <a:pt x="1892" y="285"/>
                    <a:pt x="1892" y="285"/>
                    <a:pt x="1892" y="285"/>
                  </a:cubicBezTo>
                  <a:cubicBezTo>
                    <a:pt x="1892" y="225"/>
                    <a:pt x="1892" y="225"/>
                    <a:pt x="1892" y="225"/>
                  </a:cubicBezTo>
                  <a:cubicBezTo>
                    <a:pt x="1858" y="224"/>
                    <a:pt x="1839" y="242"/>
                    <a:pt x="1828" y="270"/>
                  </a:cubicBezTo>
                  <a:cubicBezTo>
                    <a:pt x="1828" y="229"/>
                    <a:pt x="1828" y="229"/>
                    <a:pt x="1828" y="229"/>
                  </a:cubicBezTo>
                  <a:cubicBezTo>
                    <a:pt x="1770" y="229"/>
                    <a:pt x="1770" y="229"/>
                    <a:pt x="1770" y="229"/>
                  </a:cubicBezTo>
                  <a:cubicBezTo>
                    <a:pt x="1770" y="431"/>
                    <a:pt x="1770" y="431"/>
                    <a:pt x="1770" y="431"/>
                  </a:cubicBezTo>
                  <a:cubicBezTo>
                    <a:pt x="1828" y="431"/>
                    <a:pt x="1828" y="431"/>
                    <a:pt x="1828" y="431"/>
                  </a:cubicBezTo>
                  <a:lnTo>
                    <a:pt x="1828" y="356"/>
                  </a:lnTo>
                  <a:close/>
                  <a:moveTo>
                    <a:pt x="81" y="533"/>
                  </a:moveTo>
                  <a:cubicBezTo>
                    <a:pt x="24" y="533"/>
                    <a:pt x="24" y="533"/>
                    <a:pt x="24" y="533"/>
                  </a:cubicBezTo>
                  <a:cubicBezTo>
                    <a:pt x="24" y="585"/>
                    <a:pt x="24" y="585"/>
                    <a:pt x="24" y="585"/>
                  </a:cubicBezTo>
                  <a:cubicBezTo>
                    <a:pt x="0" y="585"/>
                    <a:pt x="0" y="585"/>
                    <a:pt x="0" y="585"/>
                  </a:cubicBezTo>
                  <a:cubicBezTo>
                    <a:pt x="0" y="634"/>
                    <a:pt x="0" y="634"/>
                    <a:pt x="0" y="634"/>
                  </a:cubicBezTo>
                  <a:cubicBezTo>
                    <a:pt x="24" y="634"/>
                    <a:pt x="24" y="634"/>
                    <a:pt x="24" y="634"/>
                  </a:cubicBezTo>
                  <a:cubicBezTo>
                    <a:pt x="24" y="730"/>
                    <a:pt x="24" y="730"/>
                    <a:pt x="24" y="730"/>
                  </a:cubicBezTo>
                  <a:cubicBezTo>
                    <a:pt x="24" y="776"/>
                    <a:pt x="48" y="790"/>
                    <a:pt x="83" y="790"/>
                  </a:cubicBezTo>
                  <a:cubicBezTo>
                    <a:pt x="102" y="790"/>
                    <a:pt x="116" y="786"/>
                    <a:pt x="128" y="779"/>
                  </a:cubicBezTo>
                  <a:cubicBezTo>
                    <a:pt x="128" y="733"/>
                    <a:pt x="128" y="733"/>
                    <a:pt x="128" y="733"/>
                  </a:cubicBezTo>
                  <a:cubicBezTo>
                    <a:pt x="120" y="737"/>
                    <a:pt x="110" y="740"/>
                    <a:pt x="100" y="740"/>
                  </a:cubicBezTo>
                  <a:cubicBezTo>
                    <a:pt x="87" y="740"/>
                    <a:pt x="81" y="733"/>
                    <a:pt x="81" y="720"/>
                  </a:cubicBezTo>
                  <a:cubicBezTo>
                    <a:pt x="81" y="634"/>
                    <a:pt x="81" y="634"/>
                    <a:pt x="81" y="634"/>
                  </a:cubicBezTo>
                  <a:cubicBezTo>
                    <a:pt x="129" y="634"/>
                    <a:pt x="129" y="634"/>
                    <a:pt x="129" y="634"/>
                  </a:cubicBezTo>
                  <a:cubicBezTo>
                    <a:pt x="129" y="585"/>
                    <a:pt x="129" y="585"/>
                    <a:pt x="129" y="585"/>
                  </a:cubicBezTo>
                  <a:cubicBezTo>
                    <a:pt x="81" y="585"/>
                    <a:pt x="81" y="585"/>
                    <a:pt x="81" y="585"/>
                  </a:cubicBezTo>
                  <a:lnTo>
                    <a:pt x="81" y="533"/>
                  </a:lnTo>
                  <a:close/>
                  <a:moveTo>
                    <a:pt x="237" y="581"/>
                  </a:moveTo>
                  <a:cubicBezTo>
                    <a:pt x="178" y="581"/>
                    <a:pt x="137" y="629"/>
                    <a:pt x="137" y="686"/>
                  </a:cubicBezTo>
                  <a:cubicBezTo>
                    <a:pt x="137" y="687"/>
                    <a:pt x="137" y="687"/>
                    <a:pt x="137" y="687"/>
                  </a:cubicBezTo>
                  <a:cubicBezTo>
                    <a:pt x="137" y="749"/>
                    <a:pt x="182" y="791"/>
                    <a:pt x="243" y="791"/>
                  </a:cubicBezTo>
                  <a:cubicBezTo>
                    <a:pt x="279" y="791"/>
                    <a:pt x="306" y="777"/>
                    <a:pt x="325" y="754"/>
                  </a:cubicBezTo>
                  <a:cubicBezTo>
                    <a:pt x="292" y="725"/>
                    <a:pt x="292" y="725"/>
                    <a:pt x="292" y="725"/>
                  </a:cubicBezTo>
                  <a:cubicBezTo>
                    <a:pt x="277" y="739"/>
                    <a:pt x="263" y="745"/>
                    <a:pt x="243" y="745"/>
                  </a:cubicBezTo>
                  <a:cubicBezTo>
                    <a:pt x="218" y="745"/>
                    <a:pt x="200" y="732"/>
                    <a:pt x="194" y="706"/>
                  </a:cubicBezTo>
                  <a:cubicBezTo>
                    <a:pt x="335" y="706"/>
                    <a:pt x="335" y="706"/>
                    <a:pt x="335" y="706"/>
                  </a:cubicBezTo>
                  <a:cubicBezTo>
                    <a:pt x="335" y="701"/>
                    <a:pt x="335" y="695"/>
                    <a:pt x="335" y="691"/>
                  </a:cubicBezTo>
                  <a:cubicBezTo>
                    <a:pt x="335" y="634"/>
                    <a:pt x="304" y="581"/>
                    <a:pt x="237" y="581"/>
                  </a:cubicBezTo>
                  <a:close/>
                  <a:moveTo>
                    <a:pt x="193" y="670"/>
                  </a:moveTo>
                  <a:cubicBezTo>
                    <a:pt x="198" y="644"/>
                    <a:pt x="213" y="627"/>
                    <a:pt x="237" y="627"/>
                  </a:cubicBezTo>
                  <a:cubicBezTo>
                    <a:pt x="261" y="627"/>
                    <a:pt x="276" y="644"/>
                    <a:pt x="280" y="670"/>
                  </a:cubicBezTo>
                  <a:lnTo>
                    <a:pt x="193" y="670"/>
                  </a:lnTo>
                  <a:close/>
                  <a:moveTo>
                    <a:pt x="452" y="742"/>
                  </a:moveTo>
                  <a:cubicBezTo>
                    <a:pt x="421" y="742"/>
                    <a:pt x="401" y="717"/>
                    <a:pt x="401" y="686"/>
                  </a:cubicBezTo>
                  <a:cubicBezTo>
                    <a:pt x="401" y="686"/>
                    <a:pt x="401" y="686"/>
                    <a:pt x="401" y="686"/>
                  </a:cubicBezTo>
                  <a:cubicBezTo>
                    <a:pt x="401" y="656"/>
                    <a:pt x="421" y="631"/>
                    <a:pt x="450" y="631"/>
                  </a:cubicBezTo>
                  <a:cubicBezTo>
                    <a:pt x="470" y="631"/>
                    <a:pt x="483" y="639"/>
                    <a:pt x="496" y="653"/>
                  </a:cubicBezTo>
                  <a:cubicBezTo>
                    <a:pt x="531" y="615"/>
                    <a:pt x="531" y="615"/>
                    <a:pt x="531" y="615"/>
                  </a:cubicBezTo>
                  <a:cubicBezTo>
                    <a:pt x="512" y="594"/>
                    <a:pt x="488" y="581"/>
                    <a:pt x="450" y="581"/>
                  </a:cubicBezTo>
                  <a:cubicBezTo>
                    <a:pt x="388" y="581"/>
                    <a:pt x="344" y="629"/>
                    <a:pt x="344" y="686"/>
                  </a:cubicBezTo>
                  <a:cubicBezTo>
                    <a:pt x="344" y="687"/>
                    <a:pt x="344" y="687"/>
                    <a:pt x="344" y="687"/>
                  </a:cubicBezTo>
                  <a:cubicBezTo>
                    <a:pt x="344" y="745"/>
                    <a:pt x="389" y="791"/>
                    <a:pt x="449" y="791"/>
                  </a:cubicBezTo>
                  <a:cubicBezTo>
                    <a:pt x="490" y="791"/>
                    <a:pt x="512" y="776"/>
                    <a:pt x="532" y="754"/>
                  </a:cubicBezTo>
                  <a:cubicBezTo>
                    <a:pt x="498" y="721"/>
                    <a:pt x="498" y="721"/>
                    <a:pt x="498" y="721"/>
                  </a:cubicBezTo>
                  <a:cubicBezTo>
                    <a:pt x="485" y="734"/>
                    <a:pt x="471" y="742"/>
                    <a:pt x="452" y="742"/>
                  </a:cubicBezTo>
                  <a:close/>
                  <a:moveTo>
                    <a:pt x="657" y="581"/>
                  </a:moveTo>
                  <a:cubicBezTo>
                    <a:pt x="628" y="581"/>
                    <a:pt x="611" y="597"/>
                    <a:pt x="598" y="614"/>
                  </a:cubicBezTo>
                  <a:cubicBezTo>
                    <a:pt x="598" y="512"/>
                    <a:pt x="598" y="512"/>
                    <a:pt x="598" y="512"/>
                  </a:cubicBezTo>
                  <a:cubicBezTo>
                    <a:pt x="541" y="512"/>
                    <a:pt x="541" y="512"/>
                    <a:pt x="541" y="512"/>
                  </a:cubicBezTo>
                  <a:cubicBezTo>
                    <a:pt x="541" y="787"/>
                    <a:pt x="541" y="787"/>
                    <a:pt x="541" y="787"/>
                  </a:cubicBezTo>
                  <a:cubicBezTo>
                    <a:pt x="598" y="787"/>
                    <a:pt x="598" y="787"/>
                    <a:pt x="598" y="787"/>
                  </a:cubicBezTo>
                  <a:cubicBezTo>
                    <a:pt x="598" y="674"/>
                    <a:pt x="598" y="674"/>
                    <a:pt x="598" y="674"/>
                  </a:cubicBezTo>
                  <a:cubicBezTo>
                    <a:pt x="598" y="647"/>
                    <a:pt x="612" y="633"/>
                    <a:pt x="634" y="633"/>
                  </a:cubicBezTo>
                  <a:cubicBezTo>
                    <a:pt x="656" y="633"/>
                    <a:pt x="669" y="647"/>
                    <a:pt x="669" y="674"/>
                  </a:cubicBezTo>
                  <a:cubicBezTo>
                    <a:pt x="669" y="787"/>
                    <a:pt x="669" y="787"/>
                    <a:pt x="669" y="787"/>
                  </a:cubicBezTo>
                  <a:cubicBezTo>
                    <a:pt x="726" y="787"/>
                    <a:pt x="726" y="787"/>
                    <a:pt x="726" y="787"/>
                  </a:cubicBezTo>
                  <a:cubicBezTo>
                    <a:pt x="726" y="656"/>
                    <a:pt x="726" y="656"/>
                    <a:pt x="726" y="656"/>
                  </a:cubicBezTo>
                  <a:cubicBezTo>
                    <a:pt x="726" y="610"/>
                    <a:pt x="701" y="581"/>
                    <a:pt x="657" y="581"/>
                  </a:cubicBezTo>
                  <a:close/>
                  <a:moveTo>
                    <a:pt x="857" y="581"/>
                  </a:moveTo>
                  <a:cubicBezTo>
                    <a:pt x="828" y="581"/>
                    <a:pt x="811" y="597"/>
                    <a:pt x="798" y="614"/>
                  </a:cubicBezTo>
                  <a:cubicBezTo>
                    <a:pt x="798" y="585"/>
                    <a:pt x="798" y="585"/>
                    <a:pt x="798" y="585"/>
                  </a:cubicBezTo>
                  <a:cubicBezTo>
                    <a:pt x="740" y="585"/>
                    <a:pt x="740" y="585"/>
                    <a:pt x="740" y="585"/>
                  </a:cubicBezTo>
                  <a:cubicBezTo>
                    <a:pt x="740" y="787"/>
                    <a:pt x="740" y="787"/>
                    <a:pt x="740" y="787"/>
                  </a:cubicBezTo>
                  <a:cubicBezTo>
                    <a:pt x="798" y="787"/>
                    <a:pt x="798" y="787"/>
                    <a:pt x="798" y="787"/>
                  </a:cubicBezTo>
                  <a:cubicBezTo>
                    <a:pt x="798" y="674"/>
                    <a:pt x="798" y="674"/>
                    <a:pt x="798" y="674"/>
                  </a:cubicBezTo>
                  <a:cubicBezTo>
                    <a:pt x="798" y="647"/>
                    <a:pt x="812" y="633"/>
                    <a:pt x="833" y="633"/>
                  </a:cubicBezTo>
                  <a:cubicBezTo>
                    <a:pt x="855" y="633"/>
                    <a:pt x="868" y="647"/>
                    <a:pt x="868" y="674"/>
                  </a:cubicBezTo>
                  <a:cubicBezTo>
                    <a:pt x="868" y="787"/>
                    <a:pt x="868" y="787"/>
                    <a:pt x="868" y="787"/>
                  </a:cubicBezTo>
                  <a:cubicBezTo>
                    <a:pt x="925" y="787"/>
                    <a:pt x="925" y="787"/>
                    <a:pt x="925" y="787"/>
                  </a:cubicBezTo>
                  <a:cubicBezTo>
                    <a:pt x="925" y="656"/>
                    <a:pt x="925" y="656"/>
                    <a:pt x="925" y="656"/>
                  </a:cubicBezTo>
                  <a:cubicBezTo>
                    <a:pt x="925" y="610"/>
                    <a:pt x="900" y="581"/>
                    <a:pt x="857" y="581"/>
                  </a:cubicBezTo>
                  <a:close/>
                  <a:moveTo>
                    <a:pt x="1155" y="686"/>
                  </a:moveTo>
                  <a:cubicBezTo>
                    <a:pt x="1155" y="686"/>
                    <a:pt x="1155" y="686"/>
                    <a:pt x="1155" y="686"/>
                  </a:cubicBezTo>
                  <a:cubicBezTo>
                    <a:pt x="1155" y="628"/>
                    <a:pt x="1109" y="581"/>
                    <a:pt x="1047" y="581"/>
                  </a:cubicBezTo>
                  <a:cubicBezTo>
                    <a:pt x="984" y="581"/>
                    <a:pt x="937" y="628"/>
                    <a:pt x="937" y="686"/>
                  </a:cubicBezTo>
                  <a:cubicBezTo>
                    <a:pt x="937" y="687"/>
                    <a:pt x="937" y="687"/>
                    <a:pt x="937" y="687"/>
                  </a:cubicBezTo>
                  <a:cubicBezTo>
                    <a:pt x="937" y="745"/>
                    <a:pt x="983" y="791"/>
                    <a:pt x="1046" y="791"/>
                  </a:cubicBezTo>
                  <a:cubicBezTo>
                    <a:pt x="1109" y="791"/>
                    <a:pt x="1155" y="744"/>
                    <a:pt x="1155" y="686"/>
                  </a:cubicBezTo>
                  <a:close/>
                  <a:moveTo>
                    <a:pt x="993" y="686"/>
                  </a:moveTo>
                  <a:cubicBezTo>
                    <a:pt x="993" y="686"/>
                    <a:pt x="993" y="686"/>
                    <a:pt x="993" y="686"/>
                  </a:cubicBezTo>
                  <a:cubicBezTo>
                    <a:pt x="993" y="656"/>
                    <a:pt x="1013" y="631"/>
                    <a:pt x="1046" y="631"/>
                  </a:cubicBezTo>
                  <a:cubicBezTo>
                    <a:pt x="1077" y="631"/>
                    <a:pt x="1099" y="657"/>
                    <a:pt x="1099" y="686"/>
                  </a:cubicBezTo>
                  <a:cubicBezTo>
                    <a:pt x="1099" y="687"/>
                    <a:pt x="1099" y="687"/>
                    <a:pt x="1099" y="687"/>
                  </a:cubicBezTo>
                  <a:cubicBezTo>
                    <a:pt x="1099" y="717"/>
                    <a:pt x="1079" y="742"/>
                    <a:pt x="1047" y="742"/>
                  </a:cubicBezTo>
                  <a:cubicBezTo>
                    <a:pt x="1015" y="742"/>
                    <a:pt x="993" y="716"/>
                    <a:pt x="993" y="686"/>
                  </a:cubicBezTo>
                  <a:close/>
                  <a:moveTo>
                    <a:pt x="1167" y="787"/>
                  </a:moveTo>
                  <a:cubicBezTo>
                    <a:pt x="1224" y="787"/>
                    <a:pt x="1224" y="787"/>
                    <a:pt x="1224" y="787"/>
                  </a:cubicBezTo>
                  <a:cubicBezTo>
                    <a:pt x="1224" y="512"/>
                    <a:pt x="1224" y="512"/>
                    <a:pt x="1224" y="512"/>
                  </a:cubicBezTo>
                  <a:cubicBezTo>
                    <a:pt x="1167" y="512"/>
                    <a:pt x="1167" y="512"/>
                    <a:pt x="1167" y="512"/>
                  </a:cubicBezTo>
                  <a:lnTo>
                    <a:pt x="1167" y="787"/>
                  </a:lnTo>
                  <a:close/>
                  <a:moveTo>
                    <a:pt x="1345" y="581"/>
                  </a:moveTo>
                  <a:cubicBezTo>
                    <a:pt x="1282" y="581"/>
                    <a:pt x="1235" y="628"/>
                    <a:pt x="1235" y="686"/>
                  </a:cubicBezTo>
                  <a:cubicBezTo>
                    <a:pt x="1235" y="687"/>
                    <a:pt x="1235" y="687"/>
                    <a:pt x="1235" y="687"/>
                  </a:cubicBezTo>
                  <a:cubicBezTo>
                    <a:pt x="1235" y="745"/>
                    <a:pt x="1281" y="791"/>
                    <a:pt x="1344" y="791"/>
                  </a:cubicBezTo>
                  <a:cubicBezTo>
                    <a:pt x="1407" y="791"/>
                    <a:pt x="1453" y="744"/>
                    <a:pt x="1453" y="686"/>
                  </a:cubicBezTo>
                  <a:cubicBezTo>
                    <a:pt x="1453" y="686"/>
                    <a:pt x="1453" y="686"/>
                    <a:pt x="1453" y="686"/>
                  </a:cubicBezTo>
                  <a:cubicBezTo>
                    <a:pt x="1453" y="628"/>
                    <a:pt x="1407" y="581"/>
                    <a:pt x="1345" y="581"/>
                  </a:cubicBezTo>
                  <a:close/>
                  <a:moveTo>
                    <a:pt x="1397" y="687"/>
                  </a:moveTo>
                  <a:cubicBezTo>
                    <a:pt x="1397" y="717"/>
                    <a:pt x="1377" y="742"/>
                    <a:pt x="1345" y="742"/>
                  </a:cubicBezTo>
                  <a:cubicBezTo>
                    <a:pt x="1313" y="742"/>
                    <a:pt x="1292" y="716"/>
                    <a:pt x="1292" y="686"/>
                  </a:cubicBezTo>
                  <a:cubicBezTo>
                    <a:pt x="1292" y="686"/>
                    <a:pt x="1292" y="686"/>
                    <a:pt x="1292" y="686"/>
                  </a:cubicBezTo>
                  <a:cubicBezTo>
                    <a:pt x="1292" y="656"/>
                    <a:pt x="1311" y="631"/>
                    <a:pt x="1344" y="631"/>
                  </a:cubicBezTo>
                  <a:cubicBezTo>
                    <a:pt x="1375" y="631"/>
                    <a:pt x="1397" y="657"/>
                    <a:pt x="1397" y="686"/>
                  </a:cubicBezTo>
                  <a:lnTo>
                    <a:pt x="1397" y="687"/>
                  </a:lnTo>
                  <a:close/>
                  <a:moveTo>
                    <a:pt x="1560" y="802"/>
                  </a:moveTo>
                  <a:cubicBezTo>
                    <a:pt x="1533" y="802"/>
                    <a:pt x="1513" y="795"/>
                    <a:pt x="1492" y="784"/>
                  </a:cubicBezTo>
                  <a:cubicBezTo>
                    <a:pt x="1472" y="827"/>
                    <a:pt x="1472" y="827"/>
                    <a:pt x="1472" y="827"/>
                  </a:cubicBezTo>
                  <a:cubicBezTo>
                    <a:pt x="1498" y="840"/>
                    <a:pt x="1529" y="848"/>
                    <a:pt x="1562" y="848"/>
                  </a:cubicBezTo>
                  <a:cubicBezTo>
                    <a:pt x="1601" y="848"/>
                    <a:pt x="1630" y="840"/>
                    <a:pt x="1649" y="821"/>
                  </a:cubicBezTo>
                  <a:cubicBezTo>
                    <a:pt x="1666" y="804"/>
                    <a:pt x="1674" y="777"/>
                    <a:pt x="1674" y="741"/>
                  </a:cubicBezTo>
                  <a:cubicBezTo>
                    <a:pt x="1674" y="585"/>
                    <a:pt x="1674" y="585"/>
                    <a:pt x="1674" y="585"/>
                  </a:cubicBezTo>
                  <a:cubicBezTo>
                    <a:pt x="1617" y="585"/>
                    <a:pt x="1617" y="585"/>
                    <a:pt x="1617" y="585"/>
                  </a:cubicBezTo>
                  <a:cubicBezTo>
                    <a:pt x="1617" y="611"/>
                    <a:pt x="1617" y="611"/>
                    <a:pt x="1617" y="611"/>
                  </a:cubicBezTo>
                  <a:cubicBezTo>
                    <a:pt x="1602" y="594"/>
                    <a:pt x="1583" y="581"/>
                    <a:pt x="1552" y="581"/>
                  </a:cubicBezTo>
                  <a:cubicBezTo>
                    <a:pt x="1505" y="581"/>
                    <a:pt x="1462" y="615"/>
                    <a:pt x="1462" y="675"/>
                  </a:cubicBezTo>
                  <a:cubicBezTo>
                    <a:pt x="1462" y="676"/>
                    <a:pt x="1462" y="676"/>
                    <a:pt x="1462" y="676"/>
                  </a:cubicBezTo>
                  <a:cubicBezTo>
                    <a:pt x="1462" y="736"/>
                    <a:pt x="1505" y="770"/>
                    <a:pt x="1552" y="770"/>
                  </a:cubicBezTo>
                  <a:cubicBezTo>
                    <a:pt x="1582" y="770"/>
                    <a:pt x="1601" y="758"/>
                    <a:pt x="1618" y="737"/>
                  </a:cubicBezTo>
                  <a:cubicBezTo>
                    <a:pt x="1618" y="747"/>
                    <a:pt x="1618" y="747"/>
                    <a:pt x="1618" y="747"/>
                  </a:cubicBezTo>
                  <a:cubicBezTo>
                    <a:pt x="1618" y="783"/>
                    <a:pt x="1599" y="802"/>
                    <a:pt x="1560" y="802"/>
                  </a:cubicBezTo>
                  <a:close/>
                  <a:moveTo>
                    <a:pt x="1568" y="723"/>
                  </a:moveTo>
                  <a:cubicBezTo>
                    <a:pt x="1541" y="723"/>
                    <a:pt x="1519" y="704"/>
                    <a:pt x="1519" y="676"/>
                  </a:cubicBezTo>
                  <a:cubicBezTo>
                    <a:pt x="1519" y="675"/>
                    <a:pt x="1519" y="675"/>
                    <a:pt x="1519" y="675"/>
                  </a:cubicBezTo>
                  <a:cubicBezTo>
                    <a:pt x="1519" y="648"/>
                    <a:pt x="1541" y="629"/>
                    <a:pt x="1568" y="629"/>
                  </a:cubicBezTo>
                  <a:cubicBezTo>
                    <a:pt x="1596" y="629"/>
                    <a:pt x="1618" y="648"/>
                    <a:pt x="1618" y="675"/>
                  </a:cubicBezTo>
                  <a:cubicBezTo>
                    <a:pt x="1618" y="676"/>
                    <a:pt x="1618" y="676"/>
                    <a:pt x="1618" y="676"/>
                  </a:cubicBezTo>
                  <a:cubicBezTo>
                    <a:pt x="1618" y="704"/>
                    <a:pt x="1596" y="723"/>
                    <a:pt x="1568" y="723"/>
                  </a:cubicBezTo>
                  <a:close/>
                  <a:moveTo>
                    <a:pt x="1790" y="722"/>
                  </a:moveTo>
                  <a:cubicBezTo>
                    <a:pt x="1744" y="585"/>
                    <a:pt x="1744" y="585"/>
                    <a:pt x="1744" y="585"/>
                  </a:cubicBezTo>
                  <a:cubicBezTo>
                    <a:pt x="1684" y="585"/>
                    <a:pt x="1684" y="585"/>
                    <a:pt x="1684" y="585"/>
                  </a:cubicBezTo>
                  <a:cubicBezTo>
                    <a:pt x="1763" y="788"/>
                    <a:pt x="1763" y="788"/>
                    <a:pt x="1763" y="788"/>
                  </a:cubicBezTo>
                  <a:cubicBezTo>
                    <a:pt x="1758" y="798"/>
                    <a:pt x="1753" y="801"/>
                    <a:pt x="1743" y="801"/>
                  </a:cubicBezTo>
                  <a:cubicBezTo>
                    <a:pt x="1735" y="801"/>
                    <a:pt x="1726" y="797"/>
                    <a:pt x="1718" y="793"/>
                  </a:cubicBezTo>
                  <a:cubicBezTo>
                    <a:pt x="1699" y="834"/>
                    <a:pt x="1699" y="834"/>
                    <a:pt x="1699" y="834"/>
                  </a:cubicBezTo>
                  <a:cubicBezTo>
                    <a:pt x="1714" y="843"/>
                    <a:pt x="1729" y="848"/>
                    <a:pt x="1750" y="848"/>
                  </a:cubicBezTo>
                  <a:cubicBezTo>
                    <a:pt x="1784" y="848"/>
                    <a:pt x="1801" y="833"/>
                    <a:pt x="1816" y="792"/>
                  </a:cubicBezTo>
                  <a:cubicBezTo>
                    <a:pt x="1894" y="585"/>
                    <a:pt x="1894" y="585"/>
                    <a:pt x="1894" y="585"/>
                  </a:cubicBezTo>
                  <a:cubicBezTo>
                    <a:pt x="1834" y="585"/>
                    <a:pt x="1834" y="585"/>
                    <a:pt x="1834" y="585"/>
                  </a:cubicBezTo>
                  <a:lnTo>
                    <a:pt x="1790" y="722"/>
                  </a:lnTo>
                  <a:close/>
                  <a:moveTo>
                    <a:pt x="1101" y="965"/>
                  </a:moveTo>
                  <a:cubicBezTo>
                    <a:pt x="1054" y="965"/>
                    <a:pt x="1054" y="965"/>
                    <a:pt x="1054" y="965"/>
                  </a:cubicBezTo>
                  <a:cubicBezTo>
                    <a:pt x="1054" y="957"/>
                    <a:pt x="1054" y="957"/>
                    <a:pt x="1054" y="957"/>
                  </a:cubicBezTo>
                  <a:cubicBezTo>
                    <a:pt x="1054" y="942"/>
                    <a:pt x="1062" y="935"/>
                    <a:pt x="1075" y="935"/>
                  </a:cubicBezTo>
                  <a:cubicBezTo>
                    <a:pt x="1085" y="935"/>
                    <a:pt x="1093" y="937"/>
                    <a:pt x="1101" y="940"/>
                  </a:cubicBezTo>
                  <a:cubicBezTo>
                    <a:pt x="1101" y="893"/>
                    <a:pt x="1101" y="893"/>
                    <a:pt x="1101" y="893"/>
                  </a:cubicBezTo>
                  <a:cubicBezTo>
                    <a:pt x="1091" y="889"/>
                    <a:pt x="1078" y="887"/>
                    <a:pt x="1060" y="887"/>
                  </a:cubicBezTo>
                  <a:cubicBezTo>
                    <a:pt x="1040" y="887"/>
                    <a:pt x="1025" y="892"/>
                    <a:pt x="1014" y="903"/>
                  </a:cubicBezTo>
                  <a:cubicBezTo>
                    <a:pt x="1004" y="914"/>
                    <a:pt x="998" y="930"/>
                    <a:pt x="998" y="952"/>
                  </a:cubicBezTo>
                  <a:cubicBezTo>
                    <a:pt x="998" y="965"/>
                    <a:pt x="998" y="965"/>
                    <a:pt x="998" y="965"/>
                  </a:cubicBezTo>
                  <a:cubicBezTo>
                    <a:pt x="974" y="965"/>
                    <a:pt x="974" y="965"/>
                    <a:pt x="974" y="965"/>
                  </a:cubicBezTo>
                  <a:cubicBezTo>
                    <a:pt x="974" y="1012"/>
                    <a:pt x="974" y="1012"/>
                    <a:pt x="974" y="1012"/>
                  </a:cubicBezTo>
                  <a:cubicBezTo>
                    <a:pt x="998" y="1012"/>
                    <a:pt x="998" y="1012"/>
                    <a:pt x="998" y="1012"/>
                  </a:cubicBezTo>
                  <a:cubicBezTo>
                    <a:pt x="998" y="1165"/>
                    <a:pt x="998" y="1165"/>
                    <a:pt x="998" y="1165"/>
                  </a:cubicBezTo>
                  <a:cubicBezTo>
                    <a:pt x="1055" y="1165"/>
                    <a:pt x="1055" y="1165"/>
                    <a:pt x="1055" y="1165"/>
                  </a:cubicBezTo>
                  <a:cubicBezTo>
                    <a:pt x="1055" y="1012"/>
                    <a:pt x="1055" y="1012"/>
                    <a:pt x="1055" y="1012"/>
                  </a:cubicBezTo>
                  <a:cubicBezTo>
                    <a:pt x="1101" y="1012"/>
                    <a:pt x="1101" y="1012"/>
                    <a:pt x="1101" y="1012"/>
                  </a:cubicBezTo>
                  <a:lnTo>
                    <a:pt x="1101" y="965"/>
                  </a:lnTo>
                  <a:close/>
                  <a:moveTo>
                    <a:pt x="1209" y="959"/>
                  </a:moveTo>
                  <a:cubicBezTo>
                    <a:pt x="1147" y="959"/>
                    <a:pt x="1100" y="1006"/>
                    <a:pt x="1100" y="1064"/>
                  </a:cubicBezTo>
                  <a:cubicBezTo>
                    <a:pt x="1100" y="1065"/>
                    <a:pt x="1100" y="1065"/>
                    <a:pt x="1100" y="1065"/>
                  </a:cubicBezTo>
                  <a:cubicBezTo>
                    <a:pt x="1100" y="1123"/>
                    <a:pt x="1146" y="1169"/>
                    <a:pt x="1209" y="1169"/>
                  </a:cubicBezTo>
                  <a:cubicBezTo>
                    <a:pt x="1272" y="1169"/>
                    <a:pt x="1318" y="1122"/>
                    <a:pt x="1318" y="1064"/>
                  </a:cubicBezTo>
                  <a:cubicBezTo>
                    <a:pt x="1318" y="1063"/>
                    <a:pt x="1318" y="1063"/>
                    <a:pt x="1318" y="1063"/>
                  </a:cubicBezTo>
                  <a:cubicBezTo>
                    <a:pt x="1318" y="1005"/>
                    <a:pt x="1272" y="959"/>
                    <a:pt x="1209" y="959"/>
                  </a:cubicBezTo>
                  <a:close/>
                  <a:moveTo>
                    <a:pt x="1262" y="1065"/>
                  </a:moveTo>
                  <a:cubicBezTo>
                    <a:pt x="1262" y="1095"/>
                    <a:pt x="1242" y="1120"/>
                    <a:pt x="1209" y="1120"/>
                  </a:cubicBezTo>
                  <a:cubicBezTo>
                    <a:pt x="1178" y="1120"/>
                    <a:pt x="1156" y="1094"/>
                    <a:pt x="1156" y="1064"/>
                  </a:cubicBezTo>
                  <a:cubicBezTo>
                    <a:pt x="1156" y="1063"/>
                    <a:pt x="1156" y="1063"/>
                    <a:pt x="1156" y="1063"/>
                  </a:cubicBezTo>
                  <a:cubicBezTo>
                    <a:pt x="1156" y="1034"/>
                    <a:pt x="1176" y="1008"/>
                    <a:pt x="1209" y="1008"/>
                  </a:cubicBezTo>
                  <a:cubicBezTo>
                    <a:pt x="1240" y="1008"/>
                    <a:pt x="1262" y="1034"/>
                    <a:pt x="1262" y="1064"/>
                  </a:cubicBezTo>
                  <a:lnTo>
                    <a:pt x="1262" y="1065"/>
                  </a:lnTo>
                  <a:close/>
                  <a:moveTo>
                    <a:pt x="1389" y="1004"/>
                  </a:moveTo>
                  <a:cubicBezTo>
                    <a:pt x="1389" y="963"/>
                    <a:pt x="1389" y="963"/>
                    <a:pt x="1389" y="963"/>
                  </a:cubicBezTo>
                  <a:cubicBezTo>
                    <a:pt x="1332" y="963"/>
                    <a:pt x="1332" y="963"/>
                    <a:pt x="1332" y="963"/>
                  </a:cubicBezTo>
                  <a:cubicBezTo>
                    <a:pt x="1332" y="1165"/>
                    <a:pt x="1332" y="1165"/>
                    <a:pt x="1332" y="1165"/>
                  </a:cubicBezTo>
                  <a:cubicBezTo>
                    <a:pt x="1389" y="1165"/>
                    <a:pt x="1389" y="1165"/>
                    <a:pt x="1389" y="1165"/>
                  </a:cubicBezTo>
                  <a:cubicBezTo>
                    <a:pt x="1389" y="1090"/>
                    <a:pt x="1389" y="1090"/>
                    <a:pt x="1389" y="1090"/>
                  </a:cubicBezTo>
                  <a:cubicBezTo>
                    <a:pt x="1389" y="1042"/>
                    <a:pt x="1412" y="1019"/>
                    <a:pt x="1450" y="1019"/>
                  </a:cubicBezTo>
                  <a:cubicBezTo>
                    <a:pt x="1453" y="1019"/>
                    <a:pt x="1453" y="1019"/>
                    <a:pt x="1453" y="1019"/>
                  </a:cubicBezTo>
                  <a:cubicBezTo>
                    <a:pt x="1453" y="959"/>
                    <a:pt x="1453" y="959"/>
                    <a:pt x="1453" y="959"/>
                  </a:cubicBezTo>
                  <a:cubicBezTo>
                    <a:pt x="1419" y="958"/>
                    <a:pt x="1400" y="976"/>
                    <a:pt x="1389" y="1004"/>
                  </a:cubicBezTo>
                  <a:close/>
                  <a:moveTo>
                    <a:pt x="1622" y="961"/>
                  </a:moveTo>
                  <a:cubicBezTo>
                    <a:pt x="1588" y="961"/>
                    <a:pt x="1566" y="967"/>
                    <a:pt x="1544" y="977"/>
                  </a:cubicBezTo>
                  <a:cubicBezTo>
                    <a:pt x="1558" y="1020"/>
                    <a:pt x="1558" y="1020"/>
                    <a:pt x="1558" y="1020"/>
                  </a:cubicBezTo>
                  <a:cubicBezTo>
                    <a:pt x="1576" y="1014"/>
                    <a:pt x="1592" y="1010"/>
                    <a:pt x="1614" y="1010"/>
                  </a:cubicBezTo>
                  <a:cubicBezTo>
                    <a:pt x="1642" y="1010"/>
                    <a:pt x="1657" y="1023"/>
                    <a:pt x="1657" y="1046"/>
                  </a:cubicBezTo>
                  <a:cubicBezTo>
                    <a:pt x="1657" y="1050"/>
                    <a:pt x="1657" y="1050"/>
                    <a:pt x="1657" y="1050"/>
                  </a:cubicBezTo>
                  <a:cubicBezTo>
                    <a:pt x="1643" y="1045"/>
                    <a:pt x="1628" y="1042"/>
                    <a:pt x="1608" y="1042"/>
                  </a:cubicBezTo>
                  <a:cubicBezTo>
                    <a:pt x="1560" y="1042"/>
                    <a:pt x="1526" y="1062"/>
                    <a:pt x="1526" y="1106"/>
                  </a:cubicBezTo>
                  <a:cubicBezTo>
                    <a:pt x="1526" y="1107"/>
                    <a:pt x="1526" y="1107"/>
                    <a:pt x="1526" y="1107"/>
                  </a:cubicBezTo>
                  <a:cubicBezTo>
                    <a:pt x="1526" y="1147"/>
                    <a:pt x="1558" y="1168"/>
                    <a:pt x="1596" y="1168"/>
                  </a:cubicBezTo>
                  <a:cubicBezTo>
                    <a:pt x="1624" y="1168"/>
                    <a:pt x="1643" y="1158"/>
                    <a:pt x="1657" y="1143"/>
                  </a:cubicBezTo>
                  <a:cubicBezTo>
                    <a:pt x="1657" y="1165"/>
                    <a:pt x="1657" y="1165"/>
                    <a:pt x="1657" y="1165"/>
                  </a:cubicBezTo>
                  <a:cubicBezTo>
                    <a:pt x="1712" y="1165"/>
                    <a:pt x="1712" y="1165"/>
                    <a:pt x="1712" y="1165"/>
                  </a:cubicBezTo>
                  <a:cubicBezTo>
                    <a:pt x="1712" y="1048"/>
                    <a:pt x="1712" y="1048"/>
                    <a:pt x="1712" y="1048"/>
                  </a:cubicBezTo>
                  <a:cubicBezTo>
                    <a:pt x="1712" y="1020"/>
                    <a:pt x="1705" y="998"/>
                    <a:pt x="1690" y="983"/>
                  </a:cubicBezTo>
                  <a:cubicBezTo>
                    <a:pt x="1676" y="969"/>
                    <a:pt x="1653" y="961"/>
                    <a:pt x="1622" y="961"/>
                  </a:cubicBezTo>
                  <a:close/>
                  <a:moveTo>
                    <a:pt x="1658" y="1094"/>
                  </a:moveTo>
                  <a:cubicBezTo>
                    <a:pt x="1658" y="1114"/>
                    <a:pt x="1640" y="1129"/>
                    <a:pt x="1613" y="1129"/>
                  </a:cubicBezTo>
                  <a:cubicBezTo>
                    <a:pt x="1595" y="1129"/>
                    <a:pt x="1582" y="1120"/>
                    <a:pt x="1582" y="1104"/>
                  </a:cubicBezTo>
                  <a:cubicBezTo>
                    <a:pt x="1582" y="1104"/>
                    <a:pt x="1582" y="1104"/>
                    <a:pt x="1582" y="1104"/>
                  </a:cubicBezTo>
                  <a:cubicBezTo>
                    <a:pt x="1582" y="1086"/>
                    <a:pt x="1597" y="1076"/>
                    <a:pt x="1621" y="1076"/>
                  </a:cubicBezTo>
                  <a:cubicBezTo>
                    <a:pt x="1635" y="1076"/>
                    <a:pt x="1648" y="1079"/>
                    <a:pt x="1658" y="1083"/>
                  </a:cubicBezTo>
                  <a:lnTo>
                    <a:pt x="1658" y="1094"/>
                  </a:lnTo>
                  <a:close/>
                  <a:moveTo>
                    <a:pt x="1736" y="1165"/>
                  </a:moveTo>
                  <a:cubicBezTo>
                    <a:pt x="1793" y="1165"/>
                    <a:pt x="1793" y="1165"/>
                    <a:pt x="1793" y="1165"/>
                  </a:cubicBezTo>
                  <a:cubicBezTo>
                    <a:pt x="1793" y="890"/>
                    <a:pt x="1793" y="890"/>
                    <a:pt x="1793" y="890"/>
                  </a:cubicBezTo>
                  <a:cubicBezTo>
                    <a:pt x="1736" y="890"/>
                    <a:pt x="1736" y="890"/>
                    <a:pt x="1736" y="890"/>
                  </a:cubicBezTo>
                  <a:lnTo>
                    <a:pt x="1736" y="1165"/>
                  </a:lnTo>
                  <a:close/>
                  <a:moveTo>
                    <a:pt x="1817" y="1165"/>
                  </a:moveTo>
                  <a:cubicBezTo>
                    <a:pt x="1874" y="1165"/>
                    <a:pt x="1874" y="1165"/>
                    <a:pt x="1874" y="1165"/>
                  </a:cubicBezTo>
                  <a:cubicBezTo>
                    <a:pt x="1874" y="890"/>
                    <a:pt x="1874" y="890"/>
                    <a:pt x="1874" y="890"/>
                  </a:cubicBezTo>
                  <a:cubicBezTo>
                    <a:pt x="1817" y="890"/>
                    <a:pt x="1817" y="890"/>
                    <a:pt x="1817" y="890"/>
                  </a:cubicBezTo>
                  <a:lnTo>
                    <a:pt x="1817" y="1165"/>
                  </a:lnTo>
                  <a:close/>
                  <a:moveTo>
                    <a:pt x="2086" y="0"/>
                  </a:moveTo>
                  <a:cubicBezTo>
                    <a:pt x="2086" y="1832"/>
                    <a:pt x="2086" y="1832"/>
                    <a:pt x="2086" y="1832"/>
                  </a:cubicBezTo>
                  <a:cubicBezTo>
                    <a:pt x="2697" y="1832"/>
                    <a:pt x="2697" y="1832"/>
                    <a:pt x="2697" y="1832"/>
                  </a:cubicBezTo>
                  <a:cubicBezTo>
                    <a:pt x="2697" y="0"/>
                    <a:pt x="2697" y="0"/>
                    <a:pt x="2697" y="0"/>
                  </a:cubicBezTo>
                  <a:lnTo>
                    <a:pt x="2086" y="0"/>
                  </a:lnTo>
                  <a:close/>
                </a:path>
              </a:pathLst>
            </a:custGeom>
            <a:gradFill flip="none" rotWithShape="1">
              <a:gsLst>
                <a:gs pos="37000">
                  <a:srgbClr val="F2A11F"/>
                </a:gs>
                <a:gs pos="56000">
                  <a:srgbClr val="EC5124"/>
                </a:gs>
                <a:gs pos="83000">
                  <a:srgbClr val="D32A27"/>
                </a:gs>
                <a:gs pos="100000">
                  <a:srgbClr val="7A425E"/>
                </a:gs>
              </a:gsLst>
              <a:lin ang="18900000" scaled="1"/>
              <a:tileRect/>
            </a:gradFill>
            <a:ln>
              <a:noFill/>
            </a:ln>
          </p:spPr>
          <p:txBody>
            <a:bodyPr vert="horz" wrap="square" lIns="91440" tIns="45720" rIns="91440" bIns="45720" numCol="1" anchor="t" anchorCtr="0" compatLnSpc="1">
              <a:prstTxWarp prst="textNoShape">
                <a:avLst/>
              </a:prstTxWarp>
            </a:bodyPr>
            <a:lstStyle/>
            <a:p>
              <a:endParaRPr lang="en-US" sz="1798"/>
            </a:p>
          </p:txBody>
        </p:sp>
        <p:grpSp>
          <p:nvGrpSpPr>
            <p:cNvPr id="21" name="Group 20">
              <a:extLst>
                <a:ext uri="{FF2B5EF4-FFF2-40B4-BE49-F238E27FC236}">
                  <a16:creationId xmlns:a16="http://schemas.microsoft.com/office/drawing/2014/main" id="{F28F2614-0FCC-4D8C-BC98-D03E162B4F33}"/>
                </a:ext>
              </a:extLst>
            </p:cNvPr>
            <p:cNvGrpSpPr/>
            <p:nvPr userDrawn="1"/>
          </p:nvGrpSpPr>
          <p:grpSpPr>
            <a:xfrm>
              <a:off x="11291887" y="1987551"/>
              <a:ext cx="590550" cy="2868613"/>
              <a:chOff x="11291887" y="1987551"/>
              <a:chExt cx="590550" cy="2868613"/>
            </a:xfrm>
          </p:grpSpPr>
          <p:sp>
            <p:nvSpPr>
              <p:cNvPr id="13" name="Freeform 6">
                <a:extLst>
                  <a:ext uri="{FF2B5EF4-FFF2-40B4-BE49-F238E27FC236}">
                    <a16:creationId xmlns:a16="http://schemas.microsoft.com/office/drawing/2014/main" id="{4BE4413F-C77A-40BA-9643-97A55AFCF5AB}"/>
                  </a:ext>
                </a:extLst>
              </p:cNvPr>
              <p:cNvSpPr>
                <a:spLocks/>
              </p:cNvSpPr>
              <p:nvPr userDrawn="1"/>
            </p:nvSpPr>
            <p:spPr bwMode="auto">
              <a:xfrm>
                <a:off x="11418887" y="3471864"/>
                <a:ext cx="455612" cy="452438"/>
              </a:xfrm>
              <a:custGeom>
                <a:avLst/>
                <a:gdLst>
                  <a:gd name="T0" fmla="*/ 0 w 239"/>
                  <a:gd name="T1" fmla="*/ 96 h 237"/>
                  <a:gd name="T2" fmla="*/ 38 w 239"/>
                  <a:gd name="T3" fmla="*/ 173 h 237"/>
                  <a:gd name="T4" fmla="*/ 38 w 239"/>
                  <a:gd name="T5" fmla="*/ 173 h 237"/>
                  <a:gd name="T6" fmla="*/ 38 w 239"/>
                  <a:gd name="T7" fmla="*/ 173 h 237"/>
                  <a:gd name="T8" fmla="*/ 4 w 239"/>
                  <a:gd name="T9" fmla="*/ 173 h 237"/>
                  <a:gd name="T10" fmla="*/ 4 w 239"/>
                  <a:gd name="T11" fmla="*/ 237 h 237"/>
                  <a:gd name="T12" fmla="*/ 239 w 239"/>
                  <a:gd name="T13" fmla="*/ 237 h 237"/>
                  <a:gd name="T14" fmla="*/ 239 w 239"/>
                  <a:gd name="T15" fmla="*/ 173 h 237"/>
                  <a:gd name="T16" fmla="*/ 105 w 239"/>
                  <a:gd name="T17" fmla="*/ 173 h 237"/>
                  <a:gd name="T18" fmla="*/ 56 w 239"/>
                  <a:gd name="T19" fmla="*/ 119 h 237"/>
                  <a:gd name="T20" fmla="*/ 105 w 239"/>
                  <a:gd name="T21" fmla="*/ 65 h 237"/>
                  <a:gd name="T22" fmla="*/ 239 w 239"/>
                  <a:gd name="T23" fmla="*/ 65 h 237"/>
                  <a:gd name="T24" fmla="*/ 239 w 239"/>
                  <a:gd name="T25" fmla="*/ 0 h 237"/>
                  <a:gd name="T26" fmla="*/ 93 w 239"/>
                  <a:gd name="T27" fmla="*/ 0 h 237"/>
                  <a:gd name="T28" fmla="*/ 0 w 239"/>
                  <a:gd name="T29" fmla="*/ 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9" h="237">
                    <a:moveTo>
                      <a:pt x="0" y="96"/>
                    </a:moveTo>
                    <a:cubicBezTo>
                      <a:pt x="0" y="123"/>
                      <a:pt x="13" y="154"/>
                      <a:pt x="38" y="173"/>
                    </a:cubicBezTo>
                    <a:cubicBezTo>
                      <a:pt x="38" y="173"/>
                      <a:pt x="38" y="173"/>
                      <a:pt x="38" y="173"/>
                    </a:cubicBezTo>
                    <a:cubicBezTo>
                      <a:pt x="38" y="173"/>
                      <a:pt x="38" y="173"/>
                      <a:pt x="38" y="173"/>
                    </a:cubicBezTo>
                    <a:cubicBezTo>
                      <a:pt x="4" y="173"/>
                      <a:pt x="4" y="173"/>
                      <a:pt x="4" y="173"/>
                    </a:cubicBezTo>
                    <a:cubicBezTo>
                      <a:pt x="4" y="237"/>
                      <a:pt x="4" y="237"/>
                      <a:pt x="4" y="237"/>
                    </a:cubicBezTo>
                    <a:cubicBezTo>
                      <a:pt x="239" y="237"/>
                      <a:pt x="239" y="237"/>
                      <a:pt x="239" y="237"/>
                    </a:cubicBezTo>
                    <a:cubicBezTo>
                      <a:pt x="239" y="173"/>
                      <a:pt x="239" y="173"/>
                      <a:pt x="239" y="173"/>
                    </a:cubicBezTo>
                    <a:cubicBezTo>
                      <a:pt x="105" y="173"/>
                      <a:pt x="105" y="173"/>
                      <a:pt x="105" y="173"/>
                    </a:cubicBezTo>
                    <a:cubicBezTo>
                      <a:pt x="81" y="173"/>
                      <a:pt x="56" y="154"/>
                      <a:pt x="56" y="119"/>
                    </a:cubicBezTo>
                    <a:cubicBezTo>
                      <a:pt x="56" y="93"/>
                      <a:pt x="74" y="65"/>
                      <a:pt x="105" y="65"/>
                    </a:cubicBezTo>
                    <a:cubicBezTo>
                      <a:pt x="239" y="65"/>
                      <a:pt x="239" y="65"/>
                      <a:pt x="239" y="65"/>
                    </a:cubicBezTo>
                    <a:cubicBezTo>
                      <a:pt x="239" y="0"/>
                      <a:pt x="239" y="0"/>
                      <a:pt x="239" y="0"/>
                    </a:cubicBezTo>
                    <a:cubicBezTo>
                      <a:pt x="93" y="0"/>
                      <a:pt x="93" y="0"/>
                      <a:pt x="93" y="0"/>
                    </a:cubicBezTo>
                    <a:cubicBezTo>
                      <a:pt x="39" y="0"/>
                      <a:pt x="0" y="39"/>
                      <a:pt x="0" y="9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5" name="Freeform 7">
                <a:extLst>
                  <a:ext uri="{FF2B5EF4-FFF2-40B4-BE49-F238E27FC236}">
                    <a16:creationId xmlns:a16="http://schemas.microsoft.com/office/drawing/2014/main" id="{3CA96921-0134-4138-B35F-24FF94928025}"/>
                  </a:ext>
                </a:extLst>
              </p:cNvPr>
              <p:cNvSpPr>
                <a:spLocks/>
              </p:cNvSpPr>
              <p:nvPr userDrawn="1"/>
            </p:nvSpPr>
            <p:spPr bwMode="auto">
              <a:xfrm>
                <a:off x="11425237" y="2452689"/>
                <a:ext cx="449262" cy="506413"/>
              </a:xfrm>
              <a:custGeom>
                <a:avLst/>
                <a:gdLst>
                  <a:gd name="T0" fmla="*/ 0 w 283"/>
                  <a:gd name="T1" fmla="*/ 89 h 319"/>
                  <a:gd name="T2" fmla="*/ 193 w 283"/>
                  <a:gd name="T3" fmla="*/ 159 h 319"/>
                  <a:gd name="T4" fmla="*/ 0 w 283"/>
                  <a:gd name="T5" fmla="*/ 229 h 319"/>
                  <a:gd name="T6" fmla="*/ 0 w 283"/>
                  <a:gd name="T7" fmla="*/ 319 h 319"/>
                  <a:gd name="T8" fmla="*/ 283 w 283"/>
                  <a:gd name="T9" fmla="*/ 202 h 319"/>
                  <a:gd name="T10" fmla="*/ 283 w 283"/>
                  <a:gd name="T11" fmla="*/ 117 h 319"/>
                  <a:gd name="T12" fmla="*/ 0 w 283"/>
                  <a:gd name="T13" fmla="*/ 0 h 319"/>
                  <a:gd name="T14" fmla="*/ 0 w 283"/>
                  <a:gd name="T15" fmla="*/ 89 h 3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319">
                    <a:moveTo>
                      <a:pt x="0" y="89"/>
                    </a:moveTo>
                    <a:lnTo>
                      <a:pt x="193" y="159"/>
                    </a:lnTo>
                    <a:lnTo>
                      <a:pt x="0" y="229"/>
                    </a:lnTo>
                    <a:lnTo>
                      <a:pt x="0" y="319"/>
                    </a:lnTo>
                    <a:lnTo>
                      <a:pt x="283" y="202"/>
                    </a:lnTo>
                    <a:lnTo>
                      <a:pt x="283" y="117"/>
                    </a:lnTo>
                    <a:lnTo>
                      <a:pt x="0" y="0"/>
                    </a:lnTo>
                    <a:lnTo>
                      <a:pt x="0" y="8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7" name="Freeform 8">
                <a:extLst>
                  <a:ext uri="{FF2B5EF4-FFF2-40B4-BE49-F238E27FC236}">
                    <a16:creationId xmlns:a16="http://schemas.microsoft.com/office/drawing/2014/main" id="{294835C9-5930-4B1D-B981-5AC310AA6029}"/>
                  </a:ext>
                </a:extLst>
              </p:cNvPr>
              <p:cNvSpPr>
                <a:spLocks noEditPoints="1"/>
              </p:cNvSpPr>
              <p:nvPr userDrawn="1"/>
            </p:nvSpPr>
            <p:spPr bwMode="auto">
              <a:xfrm>
                <a:off x="11418887" y="3968751"/>
                <a:ext cx="463550" cy="471488"/>
              </a:xfrm>
              <a:custGeom>
                <a:avLst/>
                <a:gdLst>
                  <a:gd name="T0" fmla="*/ 167 w 243"/>
                  <a:gd name="T1" fmla="*/ 46 h 246"/>
                  <a:gd name="T2" fmla="*/ 192 w 243"/>
                  <a:gd name="T3" fmla="*/ 113 h 246"/>
                  <a:gd name="T4" fmla="*/ 173 w 243"/>
                  <a:gd name="T5" fmla="*/ 165 h 246"/>
                  <a:gd name="T6" fmla="*/ 104 w 243"/>
                  <a:gd name="T7" fmla="*/ 0 h 246"/>
                  <a:gd name="T8" fmla="*/ 39 w 243"/>
                  <a:gd name="T9" fmla="*/ 28 h 246"/>
                  <a:gd name="T10" fmla="*/ 0 w 243"/>
                  <a:gd name="T11" fmla="*/ 121 h 246"/>
                  <a:gd name="T12" fmla="*/ 122 w 243"/>
                  <a:gd name="T13" fmla="*/ 246 h 246"/>
                  <a:gd name="T14" fmla="*/ 243 w 243"/>
                  <a:gd name="T15" fmla="*/ 114 h 246"/>
                  <a:gd name="T16" fmla="*/ 198 w 243"/>
                  <a:gd name="T17" fmla="*/ 5 h 246"/>
                  <a:gd name="T18" fmla="*/ 167 w 243"/>
                  <a:gd name="T19" fmla="*/ 46 h 246"/>
                  <a:gd name="T20" fmla="*/ 75 w 243"/>
                  <a:gd name="T21" fmla="*/ 170 h 246"/>
                  <a:gd name="T22" fmla="*/ 51 w 243"/>
                  <a:gd name="T23" fmla="*/ 120 h 246"/>
                  <a:gd name="T24" fmla="*/ 84 w 243"/>
                  <a:gd name="T25" fmla="*/ 70 h 246"/>
                  <a:gd name="T26" fmla="*/ 131 w 243"/>
                  <a:gd name="T27" fmla="*/ 183 h 246"/>
                  <a:gd name="T28" fmla="*/ 75 w 243"/>
                  <a:gd name="T29" fmla="*/ 17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3" h="246">
                    <a:moveTo>
                      <a:pt x="167" y="46"/>
                    </a:moveTo>
                    <a:cubicBezTo>
                      <a:pt x="187" y="73"/>
                      <a:pt x="192" y="88"/>
                      <a:pt x="192" y="113"/>
                    </a:cubicBezTo>
                    <a:cubicBezTo>
                      <a:pt x="192" y="135"/>
                      <a:pt x="185" y="153"/>
                      <a:pt x="173" y="165"/>
                    </a:cubicBezTo>
                    <a:cubicBezTo>
                      <a:pt x="104" y="0"/>
                      <a:pt x="104" y="0"/>
                      <a:pt x="104" y="0"/>
                    </a:cubicBezTo>
                    <a:cubicBezTo>
                      <a:pt x="79" y="4"/>
                      <a:pt x="56" y="14"/>
                      <a:pt x="39" y="28"/>
                    </a:cubicBezTo>
                    <a:cubicBezTo>
                      <a:pt x="13" y="50"/>
                      <a:pt x="0" y="82"/>
                      <a:pt x="0" y="121"/>
                    </a:cubicBezTo>
                    <a:cubicBezTo>
                      <a:pt x="0" y="192"/>
                      <a:pt x="52" y="246"/>
                      <a:pt x="122" y="246"/>
                    </a:cubicBezTo>
                    <a:cubicBezTo>
                      <a:pt x="193" y="246"/>
                      <a:pt x="243" y="192"/>
                      <a:pt x="243" y="114"/>
                    </a:cubicBezTo>
                    <a:cubicBezTo>
                      <a:pt x="243" y="70"/>
                      <a:pt x="222" y="26"/>
                      <a:pt x="198" y="5"/>
                    </a:cubicBezTo>
                    <a:lnTo>
                      <a:pt x="167" y="46"/>
                    </a:lnTo>
                    <a:close/>
                    <a:moveTo>
                      <a:pt x="75" y="170"/>
                    </a:moveTo>
                    <a:cubicBezTo>
                      <a:pt x="60" y="159"/>
                      <a:pt x="51" y="141"/>
                      <a:pt x="51" y="120"/>
                    </a:cubicBezTo>
                    <a:cubicBezTo>
                      <a:pt x="51" y="97"/>
                      <a:pt x="65" y="79"/>
                      <a:pt x="84" y="70"/>
                    </a:cubicBezTo>
                    <a:cubicBezTo>
                      <a:pt x="131" y="183"/>
                      <a:pt x="131" y="183"/>
                      <a:pt x="131" y="183"/>
                    </a:cubicBezTo>
                    <a:cubicBezTo>
                      <a:pt x="107" y="186"/>
                      <a:pt x="88" y="180"/>
                      <a:pt x="75"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8" name="Freeform 9">
                <a:extLst>
                  <a:ext uri="{FF2B5EF4-FFF2-40B4-BE49-F238E27FC236}">
                    <a16:creationId xmlns:a16="http://schemas.microsoft.com/office/drawing/2014/main" id="{C78C8B28-A3DD-4458-8A59-EE68D1ACDDF2}"/>
                  </a:ext>
                </a:extLst>
              </p:cNvPr>
              <p:cNvSpPr>
                <a:spLocks/>
              </p:cNvSpPr>
              <p:nvPr userDrawn="1"/>
            </p:nvSpPr>
            <p:spPr bwMode="auto">
              <a:xfrm>
                <a:off x="11291887" y="4451351"/>
                <a:ext cx="582612" cy="404813"/>
              </a:xfrm>
              <a:custGeom>
                <a:avLst/>
                <a:gdLst>
                  <a:gd name="T0" fmla="*/ 296 w 367"/>
                  <a:gd name="T1" fmla="*/ 0 h 255"/>
                  <a:gd name="T2" fmla="*/ 296 w 367"/>
                  <a:gd name="T3" fmla="*/ 177 h 255"/>
                  <a:gd name="T4" fmla="*/ 0 w 367"/>
                  <a:gd name="T5" fmla="*/ 177 h 255"/>
                  <a:gd name="T6" fmla="*/ 0 w 367"/>
                  <a:gd name="T7" fmla="*/ 255 h 255"/>
                  <a:gd name="T8" fmla="*/ 367 w 367"/>
                  <a:gd name="T9" fmla="*/ 255 h 255"/>
                  <a:gd name="T10" fmla="*/ 367 w 367"/>
                  <a:gd name="T11" fmla="*/ 0 h 255"/>
                  <a:gd name="T12" fmla="*/ 296 w 367"/>
                  <a:gd name="T13" fmla="*/ 0 h 255"/>
                </a:gdLst>
                <a:ahLst/>
                <a:cxnLst>
                  <a:cxn ang="0">
                    <a:pos x="T0" y="T1"/>
                  </a:cxn>
                  <a:cxn ang="0">
                    <a:pos x="T2" y="T3"/>
                  </a:cxn>
                  <a:cxn ang="0">
                    <a:pos x="T4" y="T5"/>
                  </a:cxn>
                  <a:cxn ang="0">
                    <a:pos x="T6" y="T7"/>
                  </a:cxn>
                  <a:cxn ang="0">
                    <a:pos x="T8" y="T9"/>
                  </a:cxn>
                  <a:cxn ang="0">
                    <a:pos x="T10" y="T11"/>
                  </a:cxn>
                  <a:cxn ang="0">
                    <a:pos x="T12" y="T13"/>
                  </a:cxn>
                </a:cxnLst>
                <a:rect l="0" t="0" r="r" b="b"/>
                <a:pathLst>
                  <a:path w="367" h="255">
                    <a:moveTo>
                      <a:pt x="296" y="0"/>
                    </a:moveTo>
                    <a:lnTo>
                      <a:pt x="296" y="177"/>
                    </a:lnTo>
                    <a:lnTo>
                      <a:pt x="0" y="177"/>
                    </a:lnTo>
                    <a:lnTo>
                      <a:pt x="0" y="255"/>
                    </a:lnTo>
                    <a:lnTo>
                      <a:pt x="367" y="255"/>
                    </a:lnTo>
                    <a:lnTo>
                      <a:pt x="367" y="0"/>
                    </a:lnTo>
                    <a:lnTo>
                      <a:pt x="2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9" name="Freeform 10">
                <a:extLst>
                  <a:ext uri="{FF2B5EF4-FFF2-40B4-BE49-F238E27FC236}">
                    <a16:creationId xmlns:a16="http://schemas.microsoft.com/office/drawing/2014/main" id="{C8D26C51-B040-4FC2-B37F-5972C012FEE6}"/>
                  </a:ext>
                </a:extLst>
              </p:cNvPr>
              <p:cNvSpPr>
                <a:spLocks noEditPoints="1"/>
              </p:cNvSpPr>
              <p:nvPr userDrawn="1"/>
            </p:nvSpPr>
            <p:spPr bwMode="auto">
              <a:xfrm>
                <a:off x="11418887" y="1987551"/>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20" name="Freeform 11">
                <a:extLst>
                  <a:ext uri="{FF2B5EF4-FFF2-40B4-BE49-F238E27FC236}">
                    <a16:creationId xmlns:a16="http://schemas.microsoft.com/office/drawing/2014/main" id="{37678D62-51AF-470A-BDE3-8ED3FCCDE0FF}"/>
                  </a:ext>
                </a:extLst>
              </p:cNvPr>
              <p:cNvSpPr>
                <a:spLocks noEditPoints="1"/>
              </p:cNvSpPr>
              <p:nvPr userDrawn="1"/>
            </p:nvSpPr>
            <p:spPr bwMode="auto">
              <a:xfrm>
                <a:off x="11418887" y="2938464"/>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grpSp>
    </p:spTree>
    <p:extLst>
      <p:ext uri="{BB962C8B-B14F-4D97-AF65-F5344CB8AC3E}">
        <p14:creationId xmlns:p14="http://schemas.microsoft.com/office/powerpoint/2010/main" val="2573480636"/>
      </p:ext>
    </p:extLst>
  </p:cSld>
  <p:clrMapOvr>
    <a:masterClrMapping/>
  </p:clrMapOvr>
  <p:transition spd="med"/>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preserve="1" userDrawn="1">
  <p:cSld name="Closing Slide_Black">
    <p:bg>
      <p:bgPr>
        <a:solidFill>
          <a:schemeClr val="tx1"/>
        </a:solidFill>
        <a:effectLst/>
      </p:bgPr>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80CD9248-0A2C-4050-B347-2980229F11A8}"/>
              </a:ext>
            </a:extLst>
          </p:cNvPr>
          <p:cNvGrpSpPr/>
          <p:nvPr userDrawn="1"/>
        </p:nvGrpSpPr>
        <p:grpSpPr>
          <a:xfrm rot="16200000">
            <a:off x="373582" y="2655459"/>
            <a:ext cx="6856214" cy="1545292"/>
            <a:chOff x="541049" y="2649538"/>
            <a:chExt cx="9285724" cy="2092325"/>
          </a:xfrm>
          <a:solidFill>
            <a:schemeClr val="bg1"/>
          </a:solidFill>
        </p:grpSpPr>
        <p:sp>
          <p:nvSpPr>
            <p:cNvPr id="54" name="Freeform 5">
              <a:extLst>
                <a:ext uri="{FF2B5EF4-FFF2-40B4-BE49-F238E27FC236}">
                  <a16:creationId xmlns:a16="http://schemas.microsoft.com/office/drawing/2014/main" id="{99FEE917-CD84-4C97-B4F9-73DFE2A473DA}"/>
                </a:ext>
              </a:extLst>
            </p:cNvPr>
            <p:cNvSpPr>
              <a:spLocks/>
            </p:cNvSpPr>
            <p:nvPr userDrawn="1"/>
          </p:nvSpPr>
          <p:spPr bwMode="auto">
            <a:xfrm>
              <a:off x="541049" y="2809876"/>
              <a:ext cx="963613" cy="1928813"/>
            </a:xfrm>
            <a:custGeom>
              <a:avLst/>
              <a:gdLst>
                <a:gd name="T0" fmla="*/ 57 w 301"/>
                <a:gd name="T1" fmla="*/ 458 h 600"/>
                <a:gd name="T2" fmla="*/ 57 w 301"/>
                <a:gd name="T3" fmla="*/ 235 h 600"/>
                <a:gd name="T4" fmla="*/ 0 w 301"/>
                <a:gd name="T5" fmla="*/ 235 h 600"/>
                <a:gd name="T6" fmla="*/ 0 w 301"/>
                <a:gd name="T7" fmla="*/ 121 h 600"/>
                <a:gd name="T8" fmla="*/ 57 w 301"/>
                <a:gd name="T9" fmla="*/ 121 h 600"/>
                <a:gd name="T10" fmla="*/ 57 w 301"/>
                <a:gd name="T11" fmla="*/ 0 h 600"/>
                <a:gd name="T12" fmla="*/ 190 w 301"/>
                <a:gd name="T13" fmla="*/ 0 h 600"/>
                <a:gd name="T14" fmla="*/ 190 w 301"/>
                <a:gd name="T15" fmla="*/ 121 h 600"/>
                <a:gd name="T16" fmla="*/ 301 w 301"/>
                <a:gd name="T17" fmla="*/ 121 h 600"/>
                <a:gd name="T18" fmla="*/ 301 w 301"/>
                <a:gd name="T19" fmla="*/ 235 h 600"/>
                <a:gd name="T20" fmla="*/ 190 w 301"/>
                <a:gd name="T21" fmla="*/ 235 h 600"/>
                <a:gd name="T22" fmla="*/ 190 w 301"/>
                <a:gd name="T23" fmla="*/ 436 h 600"/>
                <a:gd name="T24" fmla="*/ 233 w 301"/>
                <a:gd name="T25" fmla="*/ 482 h 600"/>
                <a:gd name="T26" fmla="*/ 299 w 301"/>
                <a:gd name="T27" fmla="*/ 465 h 600"/>
                <a:gd name="T28" fmla="*/ 299 w 301"/>
                <a:gd name="T29" fmla="*/ 573 h 600"/>
                <a:gd name="T30" fmla="*/ 194 w 301"/>
                <a:gd name="T31" fmla="*/ 600 h 600"/>
                <a:gd name="T32" fmla="*/ 57 w 301"/>
                <a:gd name="T33" fmla="*/ 45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 h="600">
                  <a:moveTo>
                    <a:pt x="57" y="458"/>
                  </a:moveTo>
                  <a:cubicBezTo>
                    <a:pt x="57" y="235"/>
                    <a:pt x="57" y="235"/>
                    <a:pt x="57" y="235"/>
                  </a:cubicBezTo>
                  <a:cubicBezTo>
                    <a:pt x="0" y="235"/>
                    <a:pt x="0" y="235"/>
                    <a:pt x="0" y="235"/>
                  </a:cubicBezTo>
                  <a:cubicBezTo>
                    <a:pt x="0" y="121"/>
                    <a:pt x="0" y="121"/>
                    <a:pt x="0" y="121"/>
                  </a:cubicBezTo>
                  <a:cubicBezTo>
                    <a:pt x="57" y="121"/>
                    <a:pt x="57" y="121"/>
                    <a:pt x="57" y="121"/>
                  </a:cubicBezTo>
                  <a:cubicBezTo>
                    <a:pt x="57" y="0"/>
                    <a:pt x="57" y="0"/>
                    <a:pt x="57" y="0"/>
                  </a:cubicBezTo>
                  <a:cubicBezTo>
                    <a:pt x="190" y="0"/>
                    <a:pt x="190" y="0"/>
                    <a:pt x="190" y="0"/>
                  </a:cubicBezTo>
                  <a:cubicBezTo>
                    <a:pt x="190" y="121"/>
                    <a:pt x="190" y="121"/>
                    <a:pt x="190" y="121"/>
                  </a:cubicBezTo>
                  <a:cubicBezTo>
                    <a:pt x="301" y="121"/>
                    <a:pt x="301" y="121"/>
                    <a:pt x="301" y="121"/>
                  </a:cubicBezTo>
                  <a:cubicBezTo>
                    <a:pt x="301" y="235"/>
                    <a:pt x="301" y="235"/>
                    <a:pt x="301" y="235"/>
                  </a:cubicBezTo>
                  <a:cubicBezTo>
                    <a:pt x="190" y="235"/>
                    <a:pt x="190" y="235"/>
                    <a:pt x="190" y="235"/>
                  </a:cubicBezTo>
                  <a:cubicBezTo>
                    <a:pt x="190" y="436"/>
                    <a:pt x="190" y="436"/>
                    <a:pt x="190" y="436"/>
                  </a:cubicBezTo>
                  <a:cubicBezTo>
                    <a:pt x="190" y="467"/>
                    <a:pt x="203" y="482"/>
                    <a:pt x="233" y="482"/>
                  </a:cubicBezTo>
                  <a:cubicBezTo>
                    <a:pt x="258" y="482"/>
                    <a:pt x="280" y="476"/>
                    <a:pt x="299" y="465"/>
                  </a:cubicBezTo>
                  <a:cubicBezTo>
                    <a:pt x="299" y="573"/>
                    <a:pt x="299" y="573"/>
                    <a:pt x="299" y="573"/>
                  </a:cubicBezTo>
                  <a:cubicBezTo>
                    <a:pt x="271" y="590"/>
                    <a:pt x="239" y="600"/>
                    <a:pt x="194" y="600"/>
                  </a:cubicBezTo>
                  <a:cubicBezTo>
                    <a:pt x="112" y="600"/>
                    <a:pt x="57" y="568"/>
                    <a:pt x="57" y="4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5" name="Freeform 6">
              <a:extLst>
                <a:ext uri="{FF2B5EF4-FFF2-40B4-BE49-F238E27FC236}">
                  <a16:creationId xmlns:a16="http://schemas.microsoft.com/office/drawing/2014/main" id="{78C9364A-BFFF-4F94-9D90-8A71731D6352}"/>
                </a:ext>
              </a:extLst>
            </p:cNvPr>
            <p:cNvSpPr>
              <a:spLocks/>
            </p:cNvSpPr>
            <p:nvPr userDrawn="1"/>
          </p:nvSpPr>
          <p:spPr bwMode="auto">
            <a:xfrm>
              <a:off x="1708151" y="2649538"/>
              <a:ext cx="1382713" cy="2063750"/>
            </a:xfrm>
            <a:custGeom>
              <a:avLst/>
              <a:gdLst>
                <a:gd name="T0" fmla="*/ 0 w 432"/>
                <a:gd name="T1" fmla="*/ 0 h 642"/>
                <a:gd name="T2" fmla="*/ 134 w 432"/>
                <a:gd name="T3" fmla="*/ 0 h 642"/>
                <a:gd name="T4" fmla="*/ 134 w 432"/>
                <a:gd name="T5" fmla="*/ 237 h 642"/>
                <a:gd name="T6" fmla="*/ 272 w 432"/>
                <a:gd name="T7" fmla="*/ 162 h 642"/>
                <a:gd name="T8" fmla="*/ 432 w 432"/>
                <a:gd name="T9" fmla="*/ 337 h 642"/>
                <a:gd name="T10" fmla="*/ 432 w 432"/>
                <a:gd name="T11" fmla="*/ 642 h 642"/>
                <a:gd name="T12" fmla="*/ 298 w 432"/>
                <a:gd name="T13" fmla="*/ 642 h 642"/>
                <a:gd name="T14" fmla="*/ 298 w 432"/>
                <a:gd name="T15" fmla="*/ 379 h 642"/>
                <a:gd name="T16" fmla="*/ 218 w 432"/>
                <a:gd name="T17" fmla="*/ 283 h 642"/>
                <a:gd name="T18" fmla="*/ 134 w 432"/>
                <a:gd name="T19" fmla="*/ 379 h 642"/>
                <a:gd name="T20" fmla="*/ 134 w 432"/>
                <a:gd name="T21" fmla="*/ 642 h 642"/>
                <a:gd name="T22" fmla="*/ 0 w 432"/>
                <a:gd name="T23" fmla="*/ 642 h 642"/>
                <a:gd name="T24" fmla="*/ 0 w 432"/>
                <a:gd name="T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642">
                  <a:moveTo>
                    <a:pt x="0" y="0"/>
                  </a:moveTo>
                  <a:cubicBezTo>
                    <a:pt x="134" y="0"/>
                    <a:pt x="134" y="0"/>
                    <a:pt x="134" y="0"/>
                  </a:cubicBezTo>
                  <a:cubicBezTo>
                    <a:pt x="134" y="237"/>
                    <a:pt x="134" y="237"/>
                    <a:pt x="134" y="237"/>
                  </a:cubicBezTo>
                  <a:cubicBezTo>
                    <a:pt x="165" y="198"/>
                    <a:pt x="204" y="162"/>
                    <a:pt x="272" y="162"/>
                  </a:cubicBezTo>
                  <a:cubicBezTo>
                    <a:pt x="373" y="162"/>
                    <a:pt x="432" y="229"/>
                    <a:pt x="432" y="337"/>
                  </a:cubicBezTo>
                  <a:cubicBezTo>
                    <a:pt x="432" y="642"/>
                    <a:pt x="432" y="642"/>
                    <a:pt x="432" y="642"/>
                  </a:cubicBezTo>
                  <a:cubicBezTo>
                    <a:pt x="298" y="642"/>
                    <a:pt x="298" y="642"/>
                    <a:pt x="298" y="642"/>
                  </a:cubicBezTo>
                  <a:cubicBezTo>
                    <a:pt x="298" y="379"/>
                    <a:pt x="298" y="379"/>
                    <a:pt x="298" y="379"/>
                  </a:cubicBezTo>
                  <a:cubicBezTo>
                    <a:pt x="298" y="316"/>
                    <a:pt x="269" y="283"/>
                    <a:pt x="218" y="283"/>
                  </a:cubicBezTo>
                  <a:cubicBezTo>
                    <a:pt x="166" y="283"/>
                    <a:pt x="134" y="316"/>
                    <a:pt x="134" y="379"/>
                  </a:cubicBezTo>
                  <a:cubicBezTo>
                    <a:pt x="134" y="642"/>
                    <a:pt x="134" y="642"/>
                    <a:pt x="134" y="642"/>
                  </a:cubicBezTo>
                  <a:cubicBezTo>
                    <a:pt x="0" y="642"/>
                    <a:pt x="0" y="642"/>
                    <a:pt x="0" y="64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6" name="Freeform 7">
              <a:extLst>
                <a:ext uri="{FF2B5EF4-FFF2-40B4-BE49-F238E27FC236}">
                  <a16:creationId xmlns:a16="http://schemas.microsoft.com/office/drawing/2014/main" id="{E572E624-9DE1-4F42-A7F5-36B7B8A2F63B}"/>
                </a:ext>
              </a:extLst>
            </p:cNvPr>
            <p:cNvSpPr>
              <a:spLocks noEditPoints="1"/>
            </p:cNvSpPr>
            <p:nvPr userDrawn="1"/>
          </p:nvSpPr>
          <p:spPr bwMode="auto">
            <a:xfrm>
              <a:off x="3261304" y="3179763"/>
              <a:ext cx="1390650" cy="1562100"/>
            </a:xfrm>
            <a:custGeom>
              <a:avLst/>
              <a:gdLst>
                <a:gd name="T0" fmla="*/ 0 w 434"/>
                <a:gd name="T1" fmla="*/ 342 h 486"/>
                <a:gd name="T2" fmla="*/ 0 w 434"/>
                <a:gd name="T3" fmla="*/ 340 h 486"/>
                <a:gd name="T4" fmla="*/ 190 w 434"/>
                <a:gd name="T5" fmla="*/ 189 h 486"/>
                <a:gd name="T6" fmla="*/ 305 w 434"/>
                <a:gd name="T7" fmla="*/ 209 h 486"/>
                <a:gd name="T8" fmla="*/ 305 w 434"/>
                <a:gd name="T9" fmla="*/ 201 h 486"/>
                <a:gd name="T10" fmla="*/ 204 w 434"/>
                <a:gd name="T11" fmla="*/ 115 h 486"/>
                <a:gd name="T12" fmla="*/ 74 w 434"/>
                <a:gd name="T13" fmla="*/ 140 h 486"/>
                <a:gd name="T14" fmla="*/ 40 w 434"/>
                <a:gd name="T15" fmla="*/ 38 h 486"/>
                <a:gd name="T16" fmla="*/ 223 w 434"/>
                <a:gd name="T17" fmla="*/ 0 h 486"/>
                <a:gd name="T18" fmla="*/ 383 w 434"/>
                <a:gd name="T19" fmla="*/ 53 h 486"/>
                <a:gd name="T20" fmla="*/ 434 w 434"/>
                <a:gd name="T21" fmla="*/ 204 h 486"/>
                <a:gd name="T22" fmla="*/ 434 w 434"/>
                <a:gd name="T23" fmla="*/ 477 h 486"/>
                <a:gd name="T24" fmla="*/ 304 w 434"/>
                <a:gd name="T25" fmla="*/ 477 h 486"/>
                <a:gd name="T26" fmla="*/ 304 w 434"/>
                <a:gd name="T27" fmla="*/ 426 h 486"/>
                <a:gd name="T28" fmla="*/ 162 w 434"/>
                <a:gd name="T29" fmla="*/ 486 h 486"/>
                <a:gd name="T30" fmla="*/ 0 w 434"/>
                <a:gd name="T31" fmla="*/ 342 h 486"/>
                <a:gd name="T32" fmla="*/ 307 w 434"/>
                <a:gd name="T33" fmla="*/ 311 h 486"/>
                <a:gd name="T34" fmla="*/ 307 w 434"/>
                <a:gd name="T35" fmla="*/ 287 h 486"/>
                <a:gd name="T36" fmla="*/ 222 w 434"/>
                <a:gd name="T37" fmla="*/ 270 h 486"/>
                <a:gd name="T38" fmla="*/ 129 w 434"/>
                <a:gd name="T39" fmla="*/ 335 h 486"/>
                <a:gd name="T40" fmla="*/ 129 w 434"/>
                <a:gd name="T41" fmla="*/ 336 h 486"/>
                <a:gd name="T42" fmla="*/ 202 w 434"/>
                <a:gd name="T43" fmla="*/ 394 h 486"/>
                <a:gd name="T44" fmla="*/ 307 w 434"/>
                <a:gd name="T45" fmla="*/ 3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486">
                  <a:moveTo>
                    <a:pt x="0" y="342"/>
                  </a:moveTo>
                  <a:cubicBezTo>
                    <a:pt x="0" y="340"/>
                    <a:pt x="0" y="340"/>
                    <a:pt x="0" y="340"/>
                  </a:cubicBezTo>
                  <a:cubicBezTo>
                    <a:pt x="0" y="237"/>
                    <a:pt x="78" y="189"/>
                    <a:pt x="190" y="189"/>
                  </a:cubicBezTo>
                  <a:cubicBezTo>
                    <a:pt x="237" y="189"/>
                    <a:pt x="272" y="197"/>
                    <a:pt x="305" y="209"/>
                  </a:cubicBezTo>
                  <a:cubicBezTo>
                    <a:pt x="305" y="201"/>
                    <a:pt x="305" y="201"/>
                    <a:pt x="305" y="201"/>
                  </a:cubicBezTo>
                  <a:cubicBezTo>
                    <a:pt x="305" y="145"/>
                    <a:pt x="271" y="115"/>
                    <a:pt x="204" y="115"/>
                  </a:cubicBezTo>
                  <a:cubicBezTo>
                    <a:pt x="153" y="115"/>
                    <a:pt x="117" y="124"/>
                    <a:pt x="74" y="140"/>
                  </a:cubicBezTo>
                  <a:cubicBezTo>
                    <a:pt x="40" y="38"/>
                    <a:pt x="40" y="38"/>
                    <a:pt x="40" y="38"/>
                  </a:cubicBezTo>
                  <a:cubicBezTo>
                    <a:pt x="92" y="15"/>
                    <a:pt x="143" y="0"/>
                    <a:pt x="223" y="0"/>
                  </a:cubicBezTo>
                  <a:cubicBezTo>
                    <a:pt x="296" y="0"/>
                    <a:pt x="349" y="20"/>
                    <a:pt x="383" y="53"/>
                  </a:cubicBezTo>
                  <a:cubicBezTo>
                    <a:pt x="418" y="88"/>
                    <a:pt x="434" y="140"/>
                    <a:pt x="434" y="204"/>
                  </a:cubicBezTo>
                  <a:cubicBezTo>
                    <a:pt x="434" y="477"/>
                    <a:pt x="434" y="477"/>
                    <a:pt x="434" y="477"/>
                  </a:cubicBezTo>
                  <a:cubicBezTo>
                    <a:pt x="304" y="477"/>
                    <a:pt x="304" y="477"/>
                    <a:pt x="304" y="477"/>
                  </a:cubicBezTo>
                  <a:cubicBezTo>
                    <a:pt x="304" y="426"/>
                    <a:pt x="304" y="426"/>
                    <a:pt x="304" y="426"/>
                  </a:cubicBezTo>
                  <a:cubicBezTo>
                    <a:pt x="272" y="462"/>
                    <a:pt x="227" y="486"/>
                    <a:pt x="162" y="486"/>
                  </a:cubicBezTo>
                  <a:cubicBezTo>
                    <a:pt x="73" y="486"/>
                    <a:pt x="0" y="435"/>
                    <a:pt x="0" y="342"/>
                  </a:cubicBezTo>
                  <a:close/>
                  <a:moveTo>
                    <a:pt x="307" y="311"/>
                  </a:moveTo>
                  <a:cubicBezTo>
                    <a:pt x="307" y="287"/>
                    <a:pt x="307" y="287"/>
                    <a:pt x="307" y="287"/>
                  </a:cubicBezTo>
                  <a:cubicBezTo>
                    <a:pt x="284" y="277"/>
                    <a:pt x="254" y="270"/>
                    <a:pt x="222" y="270"/>
                  </a:cubicBezTo>
                  <a:cubicBezTo>
                    <a:pt x="164" y="270"/>
                    <a:pt x="129" y="292"/>
                    <a:pt x="129" y="335"/>
                  </a:cubicBezTo>
                  <a:cubicBezTo>
                    <a:pt x="129" y="336"/>
                    <a:pt x="129" y="336"/>
                    <a:pt x="129" y="336"/>
                  </a:cubicBezTo>
                  <a:cubicBezTo>
                    <a:pt x="129" y="372"/>
                    <a:pt x="159" y="394"/>
                    <a:pt x="202" y="394"/>
                  </a:cubicBezTo>
                  <a:cubicBezTo>
                    <a:pt x="265" y="394"/>
                    <a:pt x="307" y="359"/>
                    <a:pt x="307"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7" name="Freeform 8">
              <a:extLst>
                <a:ext uri="{FF2B5EF4-FFF2-40B4-BE49-F238E27FC236}">
                  <a16:creationId xmlns:a16="http://schemas.microsoft.com/office/drawing/2014/main" id="{DD8A238C-0295-48D1-8872-FE51165DDEE4}"/>
                </a:ext>
              </a:extLst>
            </p:cNvPr>
            <p:cNvSpPr>
              <a:spLocks/>
            </p:cNvSpPr>
            <p:nvPr userDrawn="1"/>
          </p:nvSpPr>
          <p:spPr bwMode="auto">
            <a:xfrm>
              <a:off x="4859916" y="3170238"/>
              <a:ext cx="1384300" cy="1543050"/>
            </a:xfrm>
            <a:custGeom>
              <a:avLst/>
              <a:gdLst>
                <a:gd name="T0" fmla="*/ 0 w 432"/>
                <a:gd name="T1" fmla="*/ 9 h 480"/>
                <a:gd name="T2" fmla="*/ 133 w 432"/>
                <a:gd name="T3" fmla="*/ 9 h 480"/>
                <a:gd name="T4" fmla="*/ 133 w 432"/>
                <a:gd name="T5" fmla="*/ 75 h 480"/>
                <a:gd name="T6" fmla="*/ 272 w 432"/>
                <a:gd name="T7" fmla="*/ 0 h 480"/>
                <a:gd name="T8" fmla="*/ 432 w 432"/>
                <a:gd name="T9" fmla="*/ 175 h 480"/>
                <a:gd name="T10" fmla="*/ 432 w 432"/>
                <a:gd name="T11" fmla="*/ 480 h 480"/>
                <a:gd name="T12" fmla="*/ 298 w 432"/>
                <a:gd name="T13" fmla="*/ 480 h 480"/>
                <a:gd name="T14" fmla="*/ 298 w 432"/>
                <a:gd name="T15" fmla="*/ 217 h 480"/>
                <a:gd name="T16" fmla="*/ 217 w 432"/>
                <a:gd name="T17" fmla="*/ 121 h 480"/>
                <a:gd name="T18" fmla="*/ 133 w 432"/>
                <a:gd name="T19" fmla="*/ 217 h 480"/>
                <a:gd name="T20" fmla="*/ 133 w 432"/>
                <a:gd name="T21" fmla="*/ 480 h 480"/>
                <a:gd name="T22" fmla="*/ 0 w 432"/>
                <a:gd name="T23" fmla="*/ 480 h 480"/>
                <a:gd name="T24" fmla="*/ 0 w 432"/>
                <a:gd name="T25" fmla="*/ 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2" h="480">
                  <a:moveTo>
                    <a:pt x="0" y="9"/>
                  </a:moveTo>
                  <a:cubicBezTo>
                    <a:pt x="133" y="9"/>
                    <a:pt x="133" y="9"/>
                    <a:pt x="133" y="9"/>
                  </a:cubicBezTo>
                  <a:cubicBezTo>
                    <a:pt x="133" y="75"/>
                    <a:pt x="133" y="75"/>
                    <a:pt x="133" y="75"/>
                  </a:cubicBezTo>
                  <a:cubicBezTo>
                    <a:pt x="164" y="36"/>
                    <a:pt x="204" y="0"/>
                    <a:pt x="272" y="0"/>
                  </a:cubicBezTo>
                  <a:cubicBezTo>
                    <a:pt x="373" y="0"/>
                    <a:pt x="432" y="67"/>
                    <a:pt x="432" y="175"/>
                  </a:cubicBezTo>
                  <a:cubicBezTo>
                    <a:pt x="432" y="480"/>
                    <a:pt x="432" y="480"/>
                    <a:pt x="432" y="480"/>
                  </a:cubicBezTo>
                  <a:cubicBezTo>
                    <a:pt x="298" y="480"/>
                    <a:pt x="298" y="480"/>
                    <a:pt x="298" y="480"/>
                  </a:cubicBezTo>
                  <a:cubicBezTo>
                    <a:pt x="298" y="217"/>
                    <a:pt x="298" y="217"/>
                    <a:pt x="298" y="217"/>
                  </a:cubicBezTo>
                  <a:cubicBezTo>
                    <a:pt x="298" y="154"/>
                    <a:pt x="268" y="121"/>
                    <a:pt x="217" y="121"/>
                  </a:cubicBezTo>
                  <a:cubicBezTo>
                    <a:pt x="166" y="121"/>
                    <a:pt x="133" y="154"/>
                    <a:pt x="133" y="217"/>
                  </a:cubicBezTo>
                  <a:cubicBezTo>
                    <a:pt x="133" y="480"/>
                    <a:pt x="133" y="480"/>
                    <a:pt x="133" y="480"/>
                  </a:cubicBezTo>
                  <a:cubicBezTo>
                    <a:pt x="0" y="480"/>
                    <a:pt x="0" y="480"/>
                    <a:pt x="0" y="48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8" name="Freeform 9">
              <a:extLst>
                <a:ext uri="{FF2B5EF4-FFF2-40B4-BE49-F238E27FC236}">
                  <a16:creationId xmlns:a16="http://schemas.microsoft.com/office/drawing/2014/main" id="{6849E95A-0C53-4220-85E0-6DFCEA7D1C44}"/>
                </a:ext>
              </a:extLst>
            </p:cNvPr>
            <p:cNvSpPr>
              <a:spLocks/>
            </p:cNvSpPr>
            <p:nvPr userDrawn="1"/>
          </p:nvSpPr>
          <p:spPr bwMode="auto">
            <a:xfrm>
              <a:off x="6436593" y="2649538"/>
              <a:ext cx="1460500" cy="2063750"/>
            </a:xfrm>
            <a:custGeom>
              <a:avLst/>
              <a:gdLst>
                <a:gd name="T0" fmla="*/ 0 w 920"/>
                <a:gd name="T1" fmla="*/ 0 h 1300"/>
                <a:gd name="T2" fmla="*/ 270 w 920"/>
                <a:gd name="T3" fmla="*/ 0 h 1300"/>
                <a:gd name="T4" fmla="*/ 270 w 920"/>
                <a:gd name="T5" fmla="*/ 692 h 1300"/>
                <a:gd name="T6" fmla="*/ 585 w 920"/>
                <a:gd name="T7" fmla="*/ 346 h 1300"/>
                <a:gd name="T8" fmla="*/ 908 w 920"/>
                <a:gd name="T9" fmla="*/ 346 h 1300"/>
                <a:gd name="T10" fmla="*/ 547 w 920"/>
                <a:gd name="T11" fmla="*/ 721 h 1300"/>
                <a:gd name="T12" fmla="*/ 920 w 920"/>
                <a:gd name="T13" fmla="*/ 1300 h 1300"/>
                <a:gd name="T14" fmla="*/ 609 w 920"/>
                <a:gd name="T15" fmla="*/ 1300 h 1300"/>
                <a:gd name="T16" fmla="*/ 365 w 920"/>
                <a:gd name="T17" fmla="*/ 909 h 1300"/>
                <a:gd name="T18" fmla="*/ 270 w 920"/>
                <a:gd name="T19" fmla="*/ 1010 h 1300"/>
                <a:gd name="T20" fmla="*/ 270 w 920"/>
                <a:gd name="T21" fmla="*/ 1300 h 1300"/>
                <a:gd name="T22" fmla="*/ 0 w 920"/>
                <a:gd name="T23" fmla="*/ 1300 h 1300"/>
                <a:gd name="T24" fmla="*/ 0 w 920"/>
                <a:gd name="T25" fmla="*/ 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0" h="1300">
                  <a:moveTo>
                    <a:pt x="0" y="0"/>
                  </a:moveTo>
                  <a:lnTo>
                    <a:pt x="270" y="0"/>
                  </a:lnTo>
                  <a:lnTo>
                    <a:pt x="270" y="692"/>
                  </a:lnTo>
                  <a:lnTo>
                    <a:pt x="585" y="346"/>
                  </a:lnTo>
                  <a:lnTo>
                    <a:pt x="908" y="346"/>
                  </a:lnTo>
                  <a:lnTo>
                    <a:pt x="547" y="721"/>
                  </a:lnTo>
                  <a:lnTo>
                    <a:pt x="920" y="1300"/>
                  </a:lnTo>
                  <a:lnTo>
                    <a:pt x="609" y="1300"/>
                  </a:lnTo>
                  <a:lnTo>
                    <a:pt x="365" y="909"/>
                  </a:lnTo>
                  <a:lnTo>
                    <a:pt x="270" y="1010"/>
                  </a:lnTo>
                  <a:lnTo>
                    <a:pt x="270" y="1300"/>
                  </a:lnTo>
                  <a:lnTo>
                    <a:pt x="0" y="130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59" name="Freeform 10">
              <a:extLst>
                <a:ext uri="{FF2B5EF4-FFF2-40B4-BE49-F238E27FC236}">
                  <a16:creationId xmlns:a16="http://schemas.microsoft.com/office/drawing/2014/main" id="{056EAF60-5381-416A-895C-D1FAED9FDFFF}"/>
                </a:ext>
              </a:extLst>
            </p:cNvPr>
            <p:cNvSpPr>
              <a:spLocks/>
            </p:cNvSpPr>
            <p:nvPr userDrawn="1"/>
          </p:nvSpPr>
          <p:spPr bwMode="auto">
            <a:xfrm>
              <a:off x="7919896" y="3173413"/>
              <a:ext cx="1227138" cy="1568450"/>
            </a:xfrm>
            <a:custGeom>
              <a:avLst/>
              <a:gdLst>
                <a:gd name="T0" fmla="*/ 0 w 383"/>
                <a:gd name="T1" fmla="*/ 417 h 488"/>
                <a:gd name="T2" fmla="*/ 57 w 383"/>
                <a:gd name="T3" fmla="*/ 329 h 488"/>
                <a:gd name="T4" fmla="*/ 206 w 383"/>
                <a:gd name="T5" fmla="*/ 385 h 488"/>
                <a:gd name="T6" fmla="*/ 262 w 383"/>
                <a:gd name="T7" fmla="*/ 350 h 488"/>
                <a:gd name="T8" fmla="*/ 262 w 383"/>
                <a:gd name="T9" fmla="*/ 348 h 488"/>
                <a:gd name="T10" fmla="*/ 165 w 383"/>
                <a:gd name="T11" fmla="*/ 294 h 488"/>
                <a:gd name="T12" fmla="*/ 24 w 383"/>
                <a:gd name="T13" fmla="*/ 152 h 488"/>
                <a:gd name="T14" fmla="*/ 24 w 383"/>
                <a:gd name="T15" fmla="*/ 150 h 488"/>
                <a:gd name="T16" fmla="*/ 196 w 383"/>
                <a:gd name="T17" fmla="*/ 0 h 488"/>
                <a:gd name="T18" fmla="*/ 372 w 383"/>
                <a:gd name="T19" fmla="*/ 55 h 488"/>
                <a:gd name="T20" fmla="*/ 321 w 383"/>
                <a:gd name="T21" fmla="*/ 147 h 488"/>
                <a:gd name="T22" fmla="*/ 194 w 383"/>
                <a:gd name="T23" fmla="*/ 103 h 488"/>
                <a:gd name="T24" fmla="*/ 144 w 383"/>
                <a:gd name="T25" fmla="*/ 136 h 488"/>
                <a:gd name="T26" fmla="*/ 144 w 383"/>
                <a:gd name="T27" fmla="*/ 138 h 488"/>
                <a:gd name="T28" fmla="*/ 240 w 383"/>
                <a:gd name="T29" fmla="*/ 194 h 488"/>
                <a:gd name="T30" fmla="*/ 383 w 383"/>
                <a:gd name="T31" fmla="*/ 334 h 488"/>
                <a:gd name="T32" fmla="*/ 383 w 383"/>
                <a:gd name="T33" fmla="*/ 336 h 488"/>
                <a:gd name="T34" fmla="*/ 203 w 383"/>
                <a:gd name="T35" fmla="*/ 488 h 488"/>
                <a:gd name="T36" fmla="*/ 0 w 383"/>
                <a:gd name="T37"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 h="488">
                  <a:moveTo>
                    <a:pt x="0" y="417"/>
                  </a:moveTo>
                  <a:cubicBezTo>
                    <a:pt x="57" y="329"/>
                    <a:pt x="57" y="329"/>
                    <a:pt x="57" y="329"/>
                  </a:cubicBezTo>
                  <a:cubicBezTo>
                    <a:pt x="108" y="366"/>
                    <a:pt x="162" y="385"/>
                    <a:pt x="206" y="385"/>
                  </a:cubicBezTo>
                  <a:cubicBezTo>
                    <a:pt x="245" y="385"/>
                    <a:pt x="262" y="371"/>
                    <a:pt x="262" y="350"/>
                  </a:cubicBezTo>
                  <a:cubicBezTo>
                    <a:pt x="262" y="348"/>
                    <a:pt x="262" y="348"/>
                    <a:pt x="262" y="348"/>
                  </a:cubicBezTo>
                  <a:cubicBezTo>
                    <a:pt x="262" y="319"/>
                    <a:pt x="217" y="309"/>
                    <a:pt x="165" y="294"/>
                  </a:cubicBezTo>
                  <a:cubicBezTo>
                    <a:pt x="99" y="274"/>
                    <a:pt x="24" y="243"/>
                    <a:pt x="24" y="152"/>
                  </a:cubicBezTo>
                  <a:cubicBezTo>
                    <a:pt x="24" y="150"/>
                    <a:pt x="24" y="150"/>
                    <a:pt x="24" y="150"/>
                  </a:cubicBezTo>
                  <a:cubicBezTo>
                    <a:pt x="24" y="54"/>
                    <a:pt x="101" y="0"/>
                    <a:pt x="196" y="0"/>
                  </a:cubicBezTo>
                  <a:cubicBezTo>
                    <a:pt x="256" y="0"/>
                    <a:pt x="321" y="21"/>
                    <a:pt x="372" y="55"/>
                  </a:cubicBezTo>
                  <a:cubicBezTo>
                    <a:pt x="321" y="147"/>
                    <a:pt x="321" y="147"/>
                    <a:pt x="321" y="147"/>
                  </a:cubicBezTo>
                  <a:cubicBezTo>
                    <a:pt x="275" y="120"/>
                    <a:pt x="228" y="103"/>
                    <a:pt x="194" y="103"/>
                  </a:cubicBezTo>
                  <a:cubicBezTo>
                    <a:pt x="161" y="103"/>
                    <a:pt x="144" y="118"/>
                    <a:pt x="144" y="136"/>
                  </a:cubicBezTo>
                  <a:cubicBezTo>
                    <a:pt x="144" y="138"/>
                    <a:pt x="144" y="138"/>
                    <a:pt x="144" y="138"/>
                  </a:cubicBezTo>
                  <a:cubicBezTo>
                    <a:pt x="144" y="164"/>
                    <a:pt x="189" y="176"/>
                    <a:pt x="240" y="194"/>
                  </a:cubicBezTo>
                  <a:cubicBezTo>
                    <a:pt x="306" y="216"/>
                    <a:pt x="383" y="248"/>
                    <a:pt x="383" y="334"/>
                  </a:cubicBezTo>
                  <a:cubicBezTo>
                    <a:pt x="383" y="336"/>
                    <a:pt x="383" y="336"/>
                    <a:pt x="383" y="336"/>
                  </a:cubicBezTo>
                  <a:cubicBezTo>
                    <a:pt x="383" y="440"/>
                    <a:pt x="305" y="488"/>
                    <a:pt x="203" y="488"/>
                  </a:cubicBezTo>
                  <a:cubicBezTo>
                    <a:pt x="137" y="488"/>
                    <a:pt x="63" y="466"/>
                    <a:pt x="0" y="4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60" name="Oval 11">
              <a:extLst>
                <a:ext uri="{FF2B5EF4-FFF2-40B4-BE49-F238E27FC236}">
                  <a16:creationId xmlns:a16="http://schemas.microsoft.com/office/drawing/2014/main" id="{0154DA0C-208D-4580-AFAD-81B221FB1EE9}"/>
                </a:ext>
              </a:extLst>
            </p:cNvPr>
            <p:cNvSpPr>
              <a:spLocks noChangeArrowheads="1"/>
            </p:cNvSpPr>
            <p:nvPr userDrawn="1"/>
          </p:nvSpPr>
          <p:spPr bwMode="auto">
            <a:xfrm>
              <a:off x="9282260" y="4167188"/>
              <a:ext cx="544513" cy="546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grpSp>
        <p:nvGrpSpPr>
          <p:cNvPr id="105" name="Group 104">
            <a:extLst>
              <a:ext uri="{FF2B5EF4-FFF2-40B4-BE49-F238E27FC236}">
                <a16:creationId xmlns:a16="http://schemas.microsoft.com/office/drawing/2014/main" id="{1F1F6355-08A9-4C09-B618-1C445A02E219}"/>
              </a:ext>
            </a:extLst>
          </p:cNvPr>
          <p:cNvGrpSpPr/>
          <p:nvPr userDrawn="1"/>
        </p:nvGrpSpPr>
        <p:grpSpPr>
          <a:xfrm>
            <a:off x="7047163" y="1676401"/>
            <a:ext cx="5146427" cy="3505200"/>
            <a:chOff x="7045325" y="1676401"/>
            <a:chExt cx="5145087" cy="3505200"/>
          </a:xfrm>
        </p:grpSpPr>
        <p:sp>
          <p:nvSpPr>
            <p:cNvPr id="106" name="Freeform 5">
              <a:extLst>
                <a:ext uri="{FF2B5EF4-FFF2-40B4-BE49-F238E27FC236}">
                  <a16:creationId xmlns:a16="http://schemas.microsoft.com/office/drawing/2014/main" id="{B42EB7FA-FF17-4B14-9DA1-B0E656D461A7}"/>
                </a:ext>
              </a:extLst>
            </p:cNvPr>
            <p:cNvSpPr>
              <a:spLocks noEditPoints="1"/>
            </p:cNvSpPr>
            <p:nvPr userDrawn="1"/>
          </p:nvSpPr>
          <p:spPr bwMode="auto">
            <a:xfrm>
              <a:off x="7045325" y="1676401"/>
              <a:ext cx="5145087" cy="3505200"/>
            </a:xfrm>
            <a:custGeom>
              <a:avLst/>
              <a:gdLst>
                <a:gd name="T0" fmla="*/ 717 w 2697"/>
                <a:gd name="T1" fmla="*/ 241 h 1832"/>
                <a:gd name="T2" fmla="*/ 698 w 2697"/>
                <a:gd name="T3" fmla="*/ 358 h 1832"/>
                <a:gd name="T4" fmla="*/ 755 w 2697"/>
                <a:gd name="T5" fmla="*/ 353 h 1832"/>
                <a:gd name="T6" fmla="*/ 952 w 2697"/>
                <a:gd name="T7" fmla="*/ 431 h 1832"/>
                <a:gd name="T8" fmla="*/ 1077 w 2697"/>
                <a:gd name="T9" fmla="*/ 299 h 1832"/>
                <a:gd name="T10" fmla="*/ 769 w 2697"/>
                <a:gd name="T11" fmla="*/ 229 h 1832"/>
                <a:gd name="T12" fmla="*/ 1219 w 2697"/>
                <a:gd name="T13" fmla="*/ 431 h 1832"/>
                <a:gd name="T14" fmla="*/ 1120 w 2697"/>
                <a:gd name="T15" fmla="*/ 287 h 1832"/>
                <a:gd name="T16" fmla="*/ 1089 w 2697"/>
                <a:gd name="T17" fmla="*/ 373 h 1832"/>
                <a:gd name="T18" fmla="*/ 1175 w 2697"/>
                <a:gd name="T19" fmla="*/ 395 h 1832"/>
                <a:gd name="T20" fmla="*/ 1412 w 2697"/>
                <a:gd name="T21" fmla="*/ 225 h 1832"/>
                <a:gd name="T22" fmla="*/ 1348 w 2697"/>
                <a:gd name="T23" fmla="*/ 356 h 1832"/>
                <a:gd name="T24" fmla="*/ 1505 w 2697"/>
                <a:gd name="T25" fmla="*/ 364 h 1832"/>
                <a:gd name="T26" fmla="*/ 1448 w 2697"/>
                <a:gd name="T27" fmla="*/ 177 h 1832"/>
                <a:gd name="T28" fmla="*/ 1666 w 2697"/>
                <a:gd name="T29" fmla="*/ 435 h 1832"/>
                <a:gd name="T30" fmla="*/ 1758 w 2697"/>
                <a:gd name="T31" fmla="*/ 335 h 1832"/>
                <a:gd name="T32" fmla="*/ 1703 w 2697"/>
                <a:gd name="T33" fmla="*/ 314 h 1832"/>
                <a:gd name="T34" fmla="*/ 1892 w 2697"/>
                <a:gd name="T35" fmla="*/ 225 h 1832"/>
                <a:gd name="T36" fmla="*/ 1828 w 2697"/>
                <a:gd name="T37" fmla="*/ 356 h 1832"/>
                <a:gd name="T38" fmla="*/ 24 w 2697"/>
                <a:gd name="T39" fmla="*/ 634 h 1832"/>
                <a:gd name="T40" fmla="*/ 81 w 2697"/>
                <a:gd name="T41" fmla="*/ 720 h 1832"/>
                <a:gd name="T42" fmla="*/ 237 w 2697"/>
                <a:gd name="T43" fmla="*/ 581 h 1832"/>
                <a:gd name="T44" fmla="*/ 243 w 2697"/>
                <a:gd name="T45" fmla="*/ 745 h 1832"/>
                <a:gd name="T46" fmla="*/ 237 w 2697"/>
                <a:gd name="T47" fmla="*/ 627 h 1832"/>
                <a:gd name="T48" fmla="*/ 450 w 2697"/>
                <a:gd name="T49" fmla="*/ 631 h 1832"/>
                <a:gd name="T50" fmla="*/ 449 w 2697"/>
                <a:gd name="T51" fmla="*/ 791 h 1832"/>
                <a:gd name="T52" fmla="*/ 598 w 2697"/>
                <a:gd name="T53" fmla="*/ 512 h 1832"/>
                <a:gd name="T54" fmla="*/ 669 w 2697"/>
                <a:gd name="T55" fmla="*/ 674 h 1832"/>
                <a:gd name="T56" fmla="*/ 798 w 2697"/>
                <a:gd name="T57" fmla="*/ 614 h 1832"/>
                <a:gd name="T58" fmla="*/ 833 w 2697"/>
                <a:gd name="T59" fmla="*/ 633 h 1832"/>
                <a:gd name="T60" fmla="*/ 1155 w 2697"/>
                <a:gd name="T61" fmla="*/ 686 h 1832"/>
                <a:gd name="T62" fmla="*/ 1155 w 2697"/>
                <a:gd name="T63" fmla="*/ 686 h 1832"/>
                <a:gd name="T64" fmla="*/ 1047 w 2697"/>
                <a:gd name="T65" fmla="*/ 742 h 1832"/>
                <a:gd name="T66" fmla="*/ 1167 w 2697"/>
                <a:gd name="T67" fmla="*/ 787 h 1832"/>
                <a:gd name="T68" fmla="*/ 1453 w 2697"/>
                <a:gd name="T69" fmla="*/ 686 h 1832"/>
                <a:gd name="T70" fmla="*/ 1344 w 2697"/>
                <a:gd name="T71" fmla="*/ 631 h 1832"/>
                <a:gd name="T72" fmla="*/ 1562 w 2697"/>
                <a:gd name="T73" fmla="*/ 848 h 1832"/>
                <a:gd name="T74" fmla="*/ 1552 w 2697"/>
                <a:gd name="T75" fmla="*/ 581 h 1832"/>
                <a:gd name="T76" fmla="*/ 1560 w 2697"/>
                <a:gd name="T77" fmla="*/ 802 h 1832"/>
                <a:gd name="T78" fmla="*/ 1618 w 2697"/>
                <a:gd name="T79" fmla="*/ 676 h 1832"/>
                <a:gd name="T80" fmla="*/ 1743 w 2697"/>
                <a:gd name="T81" fmla="*/ 801 h 1832"/>
                <a:gd name="T82" fmla="*/ 1834 w 2697"/>
                <a:gd name="T83" fmla="*/ 585 h 1832"/>
                <a:gd name="T84" fmla="*/ 1101 w 2697"/>
                <a:gd name="T85" fmla="*/ 940 h 1832"/>
                <a:gd name="T86" fmla="*/ 974 w 2697"/>
                <a:gd name="T87" fmla="*/ 965 h 1832"/>
                <a:gd name="T88" fmla="*/ 1101 w 2697"/>
                <a:gd name="T89" fmla="*/ 1012 h 1832"/>
                <a:gd name="T90" fmla="*/ 1318 w 2697"/>
                <a:gd name="T91" fmla="*/ 1064 h 1832"/>
                <a:gd name="T92" fmla="*/ 1156 w 2697"/>
                <a:gd name="T93" fmla="*/ 1063 h 1832"/>
                <a:gd name="T94" fmla="*/ 1332 w 2697"/>
                <a:gd name="T95" fmla="*/ 963 h 1832"/>
                <a:gd name="T96" fmla="*/ 1453 w 2697"/>
                <a:gd name="T97" fmla="*/ 959 h 1832"/>
                <a:gd name="T98" fmla="*/ 1657 w 2697"/>
                <a:gd name="T99" fmla="*/ 1046 h 1832"/>
                <a:gd name="T100" fmla="*/ 1657 w 2697"/>
                <a:gd name="T101" fmla="*/ 1143 h 1832"/>
                <a:gd name="T102" fmla="*/ 1658 w 2697"/>
                <a:gd name="T103" fmla="*/ 1094 h 1832"/>
                <a:gd name="T104" fmla="*/ 1658 w 2697"/>
                <a:gd name="T105" fmla="*/ 1094 h 1832"/>
                <a:gd name="T106" fmla="*/ 1817 w 2697"/>
                <a:gd name="T107" fmla="*/ 1165 h 1832"/>
                <a:gd name="T108" fmla="*/ 2086 w 2697"/>
                <a:gd name="T109" fmla="*/ 1832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7" h="1832">
                  <a:moveTo>
                    <a:pt x="755" y="352"/>
                  </a:moveTo>
                  <a:cubicBezTo>
                    <a:pt x="755" y="306"/>
                    <a:pt x="725" y="287"/>
                    <a:pt x="672" y="273"/>
                  </a:cubicBezTo>
                  <a:cubicBezTo>
                    <a:pt x="626" y="261"/>
                    <a:pt x="615" y="256"/>
                    <a:pt x="615" y="238"/>
                  </a:cubicBezTo>
                  <a:cubicBezTo>
                    <a:pt x="615" y="238"/>
                    <a:pt x="615" y="238"/>
                    <a:pt x="615" y="238"/>
                  </a:cubicBezTo>
                  <a:cubicBezTo>
                    <a:pt x="615" y="225"/>
                    <a:pt x="626" y="215"/>
                    <a:pt x="649" y="215"/>
                  </a:cubicBezTo>
                  <a:cubicBezTo>
                    <a:pt x="671" y="215"/>
                    <a:pt x="694" y="224"/>
                    <a:pt x="717" y="241"/>
                  </a:cubicBezTo>
                  <a:cubicBezTo>
                    <a:pt x="747" y="197"/>
                    <a:pt x="747" y="197"/>
                    <a:pt x="747" y="197"/>
                  </a:cubicBezTo>
                  <a:cubicBezTo>
                    <a:pt x="720" y="175"/>
                    <a:pt x="688" y="163"/>
                    <a:pt x="649" y="163"/>
                  </a:cubicBezTo>
                  <a:cubicBezTo>
                    <a:pt x="595" y="163"/>
                    <a:pt x="557" y="195"/>
                    <a:pt x="557" y="243"/>
                  </a:cubicBezTo>
                  <a:cubicBezTo>
                    <a:pt x="557" y="244"/>
                    <a:pt x="557" y="244"/>
                    <a:pt x="557" y="244"/>
                  </a:cubicBezTo>
                  <a:cubicBezTo>
                    <a:pt x="557" y="296"/>
                    <a:pt x="591" y="311"/>
                    <a:pt x="644" y="324"/>
                  </a:cubicBezTo>
                  <a:cubicBezTo>
                    <a:pt x="688" y="335"/>
                    <a:pt x="698" y="343"/>
                    <a:pt x="698" y="358"/>
                  </a:cubicBezTo>
                  <a:cubicBezTo>
                    <a:pt x="698" y="358"/>
                    <a:pt x="698" y="358"/>
                    <a:pt x="698" y="358"/>
                  </a:cubicBezTo>
                  <a:cubicBezTo>
                    <a:pt x="698" y="374"/>
                    <a:pt x="683" y="383"/>
                    <a:pt x="659" y="383"/>
                  </a:cubicBezTo>
                  <a:cubicBezTo>
                    <a:pt x="629" y="383"/>
                    <a:pt x="605" y="371"/>
                    <a:pt x="581" y="351"/>
                  </a:cubicBezTo>
                  <a:cubicBezTo>
                    <a:pt x="547" y="392"/>
                    <a:pt x="547" y="392"/>
                    <a:pt x="547" y="392"/>
                  </a:cubicBezTo>
                  <a:cubicBezTo>
                    <a:pt x="578" y="421"/>
                    <a:pt x="618" y="435"/>
                    <a:pt x="658" y="435"/>
                  </a:cubicBezTo>
                  <a:cubicBezTo>
                    <a:pt x="715" y="435"/>
                    <a:pt x="755" y="405"/>
                    <a:pt x="755" y="353"/>
                  </a:cubicBezTo>
                  <a:lnTo>
                    <a:pt x="755" y="352"/>
                  </a:lnTo>
                  <a:close/>
                  <a:moveTo>
                    <a:pt x="826" y="318"/>
                  </a:moveTo>
                  <a:cubicBezTo>
                    <a:pt x="826" y="291"/>
                    <a:pt x="839" y="277"/>
                    <a:pt x="861" y="277"/>
                  </a:cubicBezTo>
                  <a:cubicBezTo>
                    <a:pt x="882" y="277"/>
                    <a:pt x="894" y="291"/>
                    <a:pt x="894" y="318"/>
                  </a:cubicBezTo>
                  <a:cubicBezTo>
                    <a:pt x="894" y="431"/>
                    <a:pt x="894" y="431"/>
                    <a:pt x="894" y="431"/>
                  </a:cubicBezTo>
                  <a:cubicBezTo>
                    <a:pt x="952" y="431"/>
                    <a:pt x="952" y="431"/>
                    <a:pt x="952" y="431"/>
                  </a:cubicBezTo>
                  <a:cubicBezTo>
                    <a:pt x="952" y="318"/>
                    <a:pt x="952" y="318"/>
                    <a:pt x="952" y="318"/>
                  </a:cubicBezTo>
                  <a:cubicBezTo>
                    <a:pt x="952" y="291"/>
                    <a:pt x="965" y="277"/>
                    <a:pt x="986" y="277"/>
                  </a:cubicBezTo>
                  <a:cubicBezTo>
                    <a:pt x="1008" y="277"/>
                    <a:pt x="1020" y="291"/>
                    <a:pt x="1020" y="318"/>
                  </a:cubicBezTo>
                  <a:cubicBezTo>
                    <a:pt x="1020" y="431"/>
                    <a:pt x="1020" y="431"/>
                    <a:pt x="1020" y="431"/>
                  </a:cubicBezTo>
                  <a:cubicBezTo>
                    <a:pt x="1077" y="431"/>
                    <a:pt x="1077" y="431"/>
                    <a:pt x="1077" y="431"/>
                  </a:cubicBezTo>
                  <a:cubicBezTo>
                    <a:pt x="1077" y="299"/>
                    <a:pt x="1077" y="299"/>
                    <a:pt x="1077" y="299"/>
                  </a:cubicBezTo>
                  <a:cubicBezTo>
                    <a:pt x="1077" y="251"/>
                    <a:pt x="1051" y="225"/>
                    <a:pt x="1009" y="225"/>
                  </a:cubicBezTo>
                  <a:cubicBezTo>
                    <a:pt x="981" y="225"/>
                    <a:pt x="960" y="236"/>
                    <a:pt x="943" y="257"/>
                  </a:cubicBezTo>
                  <a:cubicBezTo>
                    <a:pt x="932" y="237"/>
                    <a:pt x="912" y="225"/>
                    <a:pt x="886" y="225"/>
                  </a:cubicBezTo>
                  <a:cubicBezTo>
                    <a:pt x="857" y="225"/>
                    <a:pt x="839" y="241"/>
                    <a:pt x="826" y="258"/>
                  </a:cubicBezTo>
                  <a:cubicBezTo>
                    <a:pt x="826" y="229"/>
                    <a:pt x="826" y="229"/>
                    <a:pt x="826" y="229"/>
                  </a:cubicBezTo>
                  <a:cubicBezTo>
                    <a:pt x="769" y="229"/>
                    <a:pt x="769" y="229"/>
                    <a:pt x="769" y="229"/>
                  </a:cubicBezTo>
                  <a:cubicBezTo>
                    <a:pt x="769" y="431"/>
                    <a:pt x="769" y="431"/>
                    <a:pt x="769" y="431"/>
                  </a:cubicBezTo>
                  <a:cubicBezTo>
                    <a:pt x="826" y="431"/>
                    <a:pt x="826" y="431"/>
                    <a:pt x="826" y="431"/>
                  </a:cubicBezTo>
                  <a:lnTo>
                    <a:pt x="826" y="318"/>
                  </a:lnTo>
                  <a:close/>
                  <a:moveTo>
                    <a:pt x="1158" y="435"/>
                  </a:moveTo>
                  <a:cubicBezTo>
                    <a:pt x="1186" y="435"/>
                    <a:pt x="1205" y="424"/>
                    <a:pt x="1219" y="409"/>
                  </a:cubicBezTo>
                  <a:cubicBezTo>
                    <a:pt x="1219" y="431"/>
                    <a:pt x="1219" y="431"/>
                    <a:pt x="1219" y="431"/>
                  </a:cubicBezTo>
                  <a:cubicBezTo>
                    <a:pt x="1274" y="431"/>
                    <a:pt x="1274" y="431"/>
                    <a:pt x="1274" y="431"/>
                  </a:cubicBezTo>
                  <a:cubicBezTo>
                    <a:pt x="1274" y="314"/>
                    <a:pt x="1274" y="314"/>
                    <a:pt x="1274" y="314"/>
                  </a:cubicBezTo>
                  <a:cubicBezTo>
                    <a:pt x="1274" y="287"/>
                    <a:pt x="1268" y="264"/>
                    <a:pt x="1253" y="249"/>
                  </a:cubicBezTo>
                  <a:cubicBezTo>
                    <a:pt x="1238" y="235"/>
                    <a:pt x="1216" y="227"/>
                    <a:pt x="1184" y="227"/>
                  </a:cubicBezTo>
                  <a:cubicBezTo>
                    <a:pt x="1150" y="227"/>
                    <a:pt x="1128" y="233"/>
                    <a:pt x="1106" y="243"/>
                  </a:cubicBezTo>
                  <a:cubicBezTo>
                    <a:pt x="1120" y="287"/>
                    <a:pt x="1120" y="287"/>
                    <a:pt x="1120" y="287"/>
                  </a:cubicBezTo>
                  <a:cubicBezTo>
                    <a:pt x="1139" y="280"/>
                    <a:pt x="1154" y="276"/>
                    <a:pt x="1176" y="276"/>
                  </a:cubicBezTo>
                  <a:cubicBezTo>
                    <a:pt x="1205" y="276"/>
                    <a:pt x="1219" y="289"/>
                    <a:pt x="1219" y="313"/>
                  </a:cubicBezTo>
                  <a:cubicBezTo>
                    <a:pt x="1219" y="316"/>
                    <a:pt x="1219" y="316"/>
                    <a:pt x="1219" y="316"/>
                  </a:cubicBezTo>
                  <a:cubicBezTo>
                    <a:pt x="1205" y="311"/>
                    <a:pt x="1190" y="308"/>
                    <a:pt x="1170" y="308"/>
                  </a:cubicBezTo>
                  <a:cubicBezTo>
                    <a:pt x="1122" y="308"/>
                    <a:pt x="1089" y="328"/>
                    <a:pt x="1089" y="372"/>
                  </a:cubicBezTo>
                  <a:cubicBezTo>
                    <a:pt x="1089" y="373"/>
                    <a:pt x="1089" y="373"/>
                    <a:pt x="1089" y="373"/>
                  </a:cubicBezTo>
                  <a:cubicBezTo>
                    <a:pt x="1089" y="413"/>
                    <a:pt x="1120" y="435"/>
                    <a:pt x="1158" y="435"/>
                  </a:cubicBezTo>
                  <a:close/>
                  <a:moveTo>
                    <a:pt x="1144" y="370"/>
                  </a:moveTo>
                  <a:cubicBezTo>
                    <a:pt x="1144" y="352"/>
                    <a:pt x="1159" y="342"/>
                    <a:pt x="1184" y="342"/>
                  </a:cubicBezTo>
                  <a:cubicBezTo>
                    <a:pt x="1198" y="342"/>
                    <a:pt x="1210" y="345"/>
                    <a:pt x="1220" y="349"/>
                  </a:cubicBezTo>
                  <a:cubicBezTo>
                    <a:pt x="1220" y="360"/>
                    <a:pt x="1220" y="360"/>
                    <a:pt x="1220" y="360"/>
                  </a:cubicBezTo>
                  <a:cubicBezTo>
                    <a:pt x="1220" y="380"/>
                    <a:pt x="1202" y="395"/>
                    <a:pt x="1175" y="395"/>
                  </a:cubicBezTo>
                  <a:cubicBezTo>
                    <a:pt x="1157" y="395"/>
                    <a:pt x="1144" y="386"/>
                    <a:pt x="1144" y="371"/>
                  </a:cubicBezTo>
                  <a:lnTo>
                    <a:pt x="1144" y="370"/>
                  </a:lnTo>
                  <a:close/>
                  <a:moveTo>
                    <a:pt x="1348" y="356"/>
                  </a:moveTo>
                  <a:cubicBezTo>
                    <a:pt x="1348" y="308"/>
                    <a:pt x="1371" y="285"/>
                    <a:pt x="1409" y="285"/>
                  </a:cubicBezTo>
                  <a:cubicBezTo>
                    <a:pt x="1412" y="285"/>
                    <a:pt x="1412" y="285"/>
                    <a:pt x="1412" y="285"/>
                  </a:cubicBezTo>
                  <a:cubicBezTo>
                    <a:pt x="1412" y="225"/>
                    <a:pt x="1412" y="225"/>
                    <a:pt x="1412" y="225"/>
                  </a:cubicBezTo>
                  <a:cubicBezTo>
                    <a:pt x="1378" y="224"/>
                    <a:pt x="1360" y="242"/>
                    <a:pt x="1348" y="270"/>
                  </a:cubicBezTo>
                  <a:cubicBezTo>
                    <a:pt x="1348" y="229"/>
                    <a:pt x="1348" y="229"/>
                    <a:pt x="1348" y="229"/>
                  </a:cubicBezTo>
                  <a:cubicBezTo>
                    <a:pt x="1291" y="229"/>
                    <a:pt x="1291" y="229"/>
                    <a:pt x="1291" y="229"/>
                  </a:cubicBezTo>
                  <a:cubicBezTo>
                    <a:pt x="1291" y="431"/>
                    <a:pt x="1291" y="431"/>
                    <a:pt x="1291" y="431"/>
                  </a:cubicBezTo>
                  <a:cubicBezTo>
                    <a:pt x="1348" y="431"/>
                    <a:pt x="1348" y="431"/>
                    <a:pt x="1348" y="431"/>
                  </a:cubicBezTo>
                  <a:lnTo>
                    <a:pt x="1348" y="356"/>
                  </a:lnTo>
                  <a:close/>
                  <a:moveTo>
                    <a:pt x="1448" y="374"/>
                  </a:moveTo>
                  <a:cubicBezTo>
                    <a:pt x="1448" y="420"/>
                    <a:pt x="1472" y="434"/>
                    <a:pt x="1507" y="434"/>
                  </a:cubicBezTo>
                  <a:cubicBezTo>
                    <a:pt x="1526" y="434"/>
                    <a:pt x="1540" y="430"/>
                    <a:pt x="1552" y="422"/>
                  </a:cubicBezTo>
                  <a:cubicBezTo>
                    <a:pt x="1552" y="377"/>
                    <a:pt x="1552" y="377"/>
                    <a:pt x="1552" y="377"/>
                  </a:cubicBezTo>
                  <a:cubicBezTo>
                    <a:pt x="1543" y="381"/>
                    <a:pt x="1534" y="384"/>
                    <a:pt x="1524" y="384"/>
                  </a:cubicBezTo>
                  <a:cubicBezTo>
                    <a:pt x="1511" y="384"/>
                    <a:pt x="1505" y="377"/>
                    <a:pt x="1505" y="364"/>
                  </a:cubicBezTo>
                  <a:cubicBezTo>
                    <a:pt x="1505" y="278"/>
                    <a:pt x="1505" y="278"/>
                    <a:pt x="1505" y="278"/>
                  </a:cubicBezTo>
                  <a:cubicBezTo>
                    <a:pt x="1553" y="278"/>
                    <a:pt x="1553" y="278"/>
                    <a:pt x="1553" y="278"/>
                  </a:cubicBezTo>
                  <a:cubicBezTo>
                    <a:pt x="1553" y="229"/>
                    <a:pt x="1553" y="229"/>
                    <a:pt x="1553" y="229"/>
                  </a:cubicBezTo>
                  <a:cubicBezTo>
                    <a:pt x="1505" y="229"/>
                    <a:pt x="1505" y="229"/>
                    <a:pt x="1505" y="229"/>
                  </a:cubicBezTo>
                  <a:cubicBezTo>
                    <a:pt x="1505" y="177"/>
                    <a:pt x="1505" y="177"/>
                    <a:pt x="1505" y="177"/>
                  </a:cubicBezTo>
                  <a:cubicBezTo>
                    <a:pt x="1448" y="177"/>
                    <a:pt x="1448" y="177"/>
                    <a:pt x="1448" y="177"/>
                  </a:cubicBezTo>
                  <a:cubicBezTo>
                    <a:pt x="1448" y="229"/>
                    <a:pt x="1448" y="229"/>
                    <a:pt x="1448" y="229"/>
                  </a:cubicBezTo>
                  <a:cubicBezTo>
                    <a:pt x="1424" y="229"/>
                    <a:pt x="1424" y="229"/>
                    <a:pt x="1424" y="229"/>
                  </a:cubicBezTo>
                  <a:cubicBezTo>
                    <a:pt x="1424" y="278"/>
                    <a:pt x="1424" y="278"/>
                    <a:pt x="1424" y="278"/>
                  </a:cubicBezTo>
                  <a:cubicBezTo>
                    <a:pt x="1448" y="278"/>
                    <a:pt x="1448" y="278"/>
                    <a:pt x="1448" y="278"/>
                  </a:cubicBezTo>
                  <a:lnTo>
                    <a:pt x="1448" y="374"/>
                  </a:lnTo>
                  <a:close/>
                  <a:moveTo>
                    <a:pt x="1666" y="435"/>
                  </a:moveTo>
                  <a:cubicBezTo>
                    <a:pt x="1702" y="435"/>
                    <a:pt x="1729" y="421"/>
                    <a:pt x="1748" y="398"/>
                  </a:cubicBezTo>
                  <a:cubicBezTo>
                    <a:pt x="1715" y="369"/>
                    <a:pt x="1715" y="369"/>
                    <a:pt x="1715" y="369"/>
                  </a:cubicBezTo>
                  <a:cubicBezTo>
                    <a:pt x="1700" y="383"/>
                    <a:pt x="1686" y="389"/>
                    <a:pt x="1666" y="389"/>
                  </a:cubicBezTo>
                  <a:cubicBezTo>
                    <a:pt x="1641" y="389"/>
                    <a:pt x="1623" y="376"/>
                    <a:pt x="1617" y="350"/>
                  </a:cubicBezTo>
                  <a:cubicBezTo>
                    <a:pt x="1758" y="350"/>
                    <a:pt x="1758" y="350"/>
                    <a:pt x="1758" y="350"/>
                  </a:cubicBezTo>
                  <a:cubicBezTo>
                    <a:pt x="1758" y="345"/>
                    <a:pt x="1758" y="339"/>
                    <a:pt x="1758" y="335"/>
                  </a:cubicBezTo>
                  <a:cubicBezTo>
                    <a:pt x="1758" y="277"/>
                    <a:pt x="1727" y="225"/>
                    <a:pt x="1660" y="225"/>
                  </a:cubicBezTo>
                  <a:cubicBezTo>
                    <a:pt x="1601" y="225"/>
                    <a:pt x="1560" y="273"/>
                    <a:pt x="1560" y="330"/>
                  </a:cubicBezTo>
                  <a:cubicBezTo>
                    <a:pt x="1560" y="331"/>
                    <a:pt x="1560" y="331"/>
                    <a:pt x="1560" y="331"/>
                  </a:cubicBezTo>
                  <a:cubicBezTo>
                    <a:pt x="1560" y="393"/>
                    <a:pt x="1605" y="435"/>
                    <a:pt x="1666" y="435"/>
                  </a:cubicBezTo>
                  <a:close/>
                  <a:moveTo>
                    <a:pt x="1660" y="271"/>
                  </a:moveTo>
                  <a:cubicBezTo>
                    <a:pt x="1684" y="271"/>
                    <a:pt x="1699" y="288"/>
                    <a:pt x="1703" y="314"/>
                  </a:cubicBezTo>
                  <a:cubicBezTo>
                    <a:pt x="1616" y="314"/>
                    <a:pt x="1616" y="314"/>
                    <a:pt x="1616" y="314"/>
                  </a:cubicBezTo>
                  <a:cubicBezTo>
                    <a:pt x="1621" y="288"/>
                    <a:pt x="1636" y="271"/>
                    <a:pt x="1660" y="271"/>
                  </a:cubicBezTo>
                  <a:close/>
                  <a:moveTo>
                    <a:pt x="1828" y="356"/>
                  </a:moveTo>
                  <a:cubicBezTo>
                    <a:pt x="1828" y="308"/>
                    <a:pt x="1851" y="285"/>
                    <a:pt x="1889" y="285"/>
                  </a:cubicBezTo>
                  <a:cubicBezTo>
                    <a:pt x="1892" y="285"/>
                    <a:pt x="1892" y="285"/>
                    <a:pt x="1892" y="285"/>
                  </a:cubicBezTo>
                  <a:cubicBezTo>
                    <a:pt x="1892" y="225"/>
                    <a:pt x="1892" y="225"/>
                    <a:pt x="1892" y="225"/>
                  </a:cubicBezTo>
                  <a:cubicBezTo>
                    <a:pt x="1858" y="224"/>
                    <a:pt x="1839" y="242"/>
                    <a:pt x="1828" y="270"/>
                  </a:cubicBezTo>
                  <a:cubicBezTo>
                    <a:pt x="1828" y="229"/>
                    <a:pt x="1828" y="229"/>
                    <a:pt x="1828" y="229"/>
                  </a:cubicBezTo>
                  <a:cubicBezTo>
                    <a:pt x="1770" y="229"/>
                    <a:pt x="1770" y="229"/>
                    <a:pt x="1770" y="229"/>
                  </a:cubicBezTo>
                  <a:cubicBezTo>
                    <a:pt x="1770" y="431"/>
                    <a:pt x="1770" y="431"/>
                    <a:pt x="1770" y="431"/>
                  </a:cubicBezTo>
                  <a:cubicBezTo>
                    <a:pt x="1828" y="431"/>
                    <a:pt x="1828" y="431"/>
                    <a:pt x="1828" y="431"/>
                  </a:cubicBezTo>
                  <a:lnTo>
                    <a:pt x="1828" y="356"/>
                  </a:lnTo>
                  <a:close/>
                  <a:moveTo>
                    <a:pt x="81" y="533"/>
                  </a:moveTo>
                  <a:cubicBezTo>
                    <a:pt x="24" y="533"/>
                    <a:pt x="24" y="533"/>
                    <a:pt x="24" y="533"/>
                  </a:cubicBezTo>
                  <a:cubicBezTo>
                    <a:pt x="24" y="585"/>
                    <a:pt x="24" y="585"/>
                    <a:pt x="24" y="585"/>
                  </a:cubicBezTo>
                  <a:cubicBezTo>
                    <a:pt x="0" y="585"/>
                    <a:pt x="0" y="585"/>
                    <a:pt x="0" y="585"/>
                  </a:cubicBezTo>
                  <a:cubicBezTo>
                    <a:pt x="0" y="634"/>
                    <a:pt x="0" y="634"/>
                    <a:pt x="0" y="634"/>
                  </a:cubicBezTo>
                  <a:cubicBezTo>
                    <a:pt x="24" y="634"/>
                    <a:pt x="24" y="634"/>
                    <a:pt x="24" y="634"/>
                  </a:cubicBezTo>
                  <a:cubicBezTo>
                    <a:pt x="24" y="730"/>
                    <a:pt x="24" y="730"/>
                    <a:pt x="24" y="730"/>
                  </a:cubicBezTo>
                  <a:cubicBezTo>
                    <a:pt x="24" y="776"/>
                    <a:pt x="48" y="790"/>
                    <a:pt x="83" y="790"/>
                  </a:cubicBezTo>
                  <a:cubicBezTo>
                    <a:pt x="102" y="790"/>
                    <a:pt x="116" y="786"/>
                    <a:pt x="128" y="779"/>
                  </a:cubicBezTo>
                  <a:cubicBezTo>
                    <a:pt x="128" y="733"/>
                    <a:pt x="128" y="733"/>
                    <a:pt x="128" y="733"/>
                  </a:cubicBezTo>
                  <a:cubicBezTo>
                    <a:pt x="120" y="737"/>
                    <a:pt x="110" y="740"/>
                    <a:pt x="100" y="740"/>
                  </a:cubicBezTo>
                  <a:cubicBezTo>
                    <a:pt x="87" y="740"/>
                    <a:pt x="81" y="733"/>
                    <a:pt x="81" y="720"/>
                  </a:cubicBezTo>
                  <a:cubicBezTo>
                    <a:pt x="81" y="634"/>
                    <a:pt x="81" y="634"/>
                    <a:pt x="81" y="634"/>
                  </a:cubicBezTo>
                  <a:cubicBezTo>
                    <a:pt x="129" y="634"/>
                    <a:pt x="129" y="634"/>
                    <a:pt x="129" y="634"/>
                  </a:cubicBezTo>
                  <a:cubicBezTo>
                    <a:pt x="129" y="585"/>
                    <a:pt x="129" y="585"/>
                    <a:pt x="129" y="585"/>
                  </a:cubicBezTo>
                  <a:cubicBezTo>
                    <a:pt x="81" y="585"/>
                    <a:pt x="81" y="585"/>
                    <a:pt x="81" y="585"/>
                  </a:cubicBezTo>
                  <a:lnTo>
                    <a:pt x="81" y="533"/>
                  </a:lnTo>
                  <a:close/>
                  <a:moveTo>
                    <a:pt x="237" y="581"/>
                  </a:moveTo>
                  <a:cubicBezTo>
                    <a:pt x="178" y="581"/>
                    <a:pt x="137" y="629"/>
                    <a:pt x="137" y="686"/>
                  </a:cubicBezTo>
                  <a:cubicBezTo>
                    <a:pt x="137" y="687"/>
                    <a:pt x="137" y="687"/>
                    <a:pt x="137" y="687"/>
                  </a:cubicBezTo>
                  <a:cubicBezTo>
                    <a:pt x="137" y="749"/>
                    <a:pt x="182" y="791"/>
                    <a:pt x="243" y="791"/>
                  </a:cubicBezTo>
                  <a:cubicBezTo>
                    <a:pt x="279" y="791"/>
                    <a:pt x="306" y="777"/>
                    <a:pt x="325" y="754"/>
                  </a:cubicBezTo>
                  <a:cubicBezTo>
                    <a:pt x="292" y="725"/>
                    <a:pt x="292" y="725"/>
                    <a:pt x="292" y="725"/>
                  </a:cubicBezTo>
                  <a:cubicBezTo>
                    <a:pt x="277" y="739"/>
                    <a:pt x="263" y="745"/>
                    <a:pt x="243" y="745"/>
                  </a:cubicBezTo>
                  <a:cubicBezTo>
                    <a:pt x="218" y="745"/>
                    <a:pt x="200" y="732"/>
                    <a:pt x="194" y="706"/>
                  </a:cubicBezTo>
                  <a:cubicBezTo>
                    <a:pt x="335" y="706"/>
                    <a:pt x="335" y="706"/>
                    <a:pt x="335" y="706"/>
                  </a:cubicBezTo>
                  <a:cubicBezTo>
                    <a:pt x="335" y="701"/>
                    <a:pt x="335" y="695"/>
                    <a:pt x="335" y="691"/>
                  </a:cubicBezTo>
                  <a:cubicBezTo>
                    <a:pt x="335" y="634"/>
                    <a:pt x="304" y="581"/>
                    <a:pt x="237" y="581"/>
                  </a:cubicBezTo>
                  <a:close/>
                  <a:moveTo>
                    <a:pt x="193" y="670"/>
                  </a:moveTo>
                  <a:cubicBezTo>
                    <a:pt x="198" y="644"/>
                    <a:pt x="213" y="627"/>
                    <a:pt x="237" y="627"/>
                  </a:cubicBezTo>
                  <a:cubicBezTo>
                    <a:pt x="261" y="627"/>
                    <a:pt x="276" y="644"/>
                    <a:pt x="280" y="670"/>
                  </a:cubicBezTo>
                  <a:lnTo>
                    <a:pt x="193" y="670"/>
                  </a:lnTo>
                  <a:close/>
                  <a:moveTo>
                    <a:pt x="452" y="742"/>
                  </a:moveTo>
                  <a:cubicBezTo>
                    <a:pt x="421" y="742"/>
                    <a:pt x="401" y="717"/>
                    <a:pt x="401" y="686"/>
                  </a:cubicBezTo>
                  <a:cubicBezTo>
                    <a:pt x="401" y="686"/>
                    <a:pt x="401" y="686"/>
                    <a:pt x="401" y="686"/>
                  </a:cubicBezTo>
                  <a:cubicBezTo>
                    <a:pt x="401" y="656"/>
                    <a:pt x="421" y="631"/>
                    <a:pt x="450" y="631"/>
                  </a:cubicBezTo>
                  <a:cubicBezTo>
                    <a:pt x="470" y="631"/>
                    <a:pt x="483" y="639"/>
                    <a:pt x="496" y="653"/>
                  </a:cubicBezTo>
                  <a:cubicBezTo>
                    <a:pt x="531" y="615"/>
                    <a:pt x="531" y="615"/>
                    <a:pt x="531" y="615"/>
                  </a:cubicBezTo>
                  <a:cubicBezTo>
                    <a:pt x="512" y="594"/>
                    <a:pt x="488" y="581"/>
                    <a:pt x="450" y="581"/>
                  </a:cubicBezTo>
                  <a:cubicBezTo>
                    <a:pt x="388" y="581"/>
                    <a:pt x="344" y="629"/>
                    <a:pt x="344" y="686"/>
                  </a:cubicBezTo>
                  <a:cubicBezTo>
                    <a:pt x="344" y="687"/>
                    <a:pt x="344" y="687"/>
                    <a:pt x="344" y="687"/>
                  </a:cubicBezTo>
                  <a:cubicBezTo>
                    <a:pt x="344" y="745"/>
                    <a:pt x="389" y="791"/>
                    <a:pt x="449" y="791"/>
                  </a:cubicBezTo>
                  <a:cubicBezTo>
                    <a:pt x="490" y="791"/>
                    <a:pt x="512" y="776"/>
                    <a:pt x="532" y="754"/>
                  </a:cubicBezTo>
                  <a:cubicBezTo>
                    <a:pt x="498" y="721"/>
                    <a:pt x="498" y="721"/>
                    <a:pt x="498" y="721"/>
                  </a:cubicBezTo>
                  <a:cubicBezTo>
                    <a:pt x="485" y="734"/>
                    <a:pt x="471" y="742"/>
                    <a:pt x="452" y="742"/>
                  </a:cubicBezTo>
                  <a:close/>
                  <a:moveTo>
                    <a:pt x="657" y="581"/>
                  </a:moveTo>
                  <a:cubicBezTo>
                    <a:pt x="628" y="581"/>
                    <a:pt x="611" y="597"/>
                    <a:pt x="598" y="614"/>
                  </a:cubicBezTo>
                  <a:cubicBezTo>
                    <a:pt x="598" y="512"/>
                    <a:pt x="598" y="512"/>
                    <a:pt x="598" y="512"/>
                  </a:cubicBezTo>
                  <a:cubicBezTo>
                    <a:pt x="541" y="512"/>
                    <a:pt x="541" y="512"/>
                    <a:pt x="541" y="512"/>
                  </a:cubicBezTo>
                  <a:cubicBezTo>
                    <a:pt x="541" y="787"/>
                    <a:pt x="541" y="787"/>
                    <a:pt x="541" y="787"/>
                  </a:cubicBezTo>
                  <a:cubicBezTo>
                    <a:pt x="598" y="787"/>
                    <a:pt x="598" y="787"/>
                    <a:pt x="598" y="787"/>
                  </a:cubicBezTo>
                  <a:cubicBezTo>
                    <a:pt x="598" y="674"/>
                    <a:pt x="598" y="674"/>
                    <a:pt x="598" y="674"/>
                  </a:cubicBezTo>
                  <a:cubicBezTo>
                    <a:pt x="598" y="647"/>
                    <a:pt x="612" y="633"/>
                    <a:pt x="634" y="633"/>
                  </a:cubicBezTo>
                  <a:cubicBezTo>
                    <a:pt x="656" y="633"/>
                    <a:pt x="669" y="647"/>
                    <a:pt x="669" y="674"/>
                  </a:cubicBezTo>
                  <a:cubicBezTo>
                    <a:pt x="669" y="787"/>
                    <a:pt x="669" y="787"/>
                    <a:pt x="669" y="787"/>
                  </a:cubicBezTo>
                  <a:cubicBezTo>
                    <a:pt x="726" y="787"/>
                    <a:pt x="726" y="787"/>
                    <a:pt x="726" y="787"/>
                  </a:cubicBezTo>
                  <a:cubicBezTo>
                    <a:pt x="726" y="656"/>
                    <a:pt x="726" y="656"/>
                    <a:pt x="726" y="656"/>
                  </a:cubicBezTo>
                  <a:cubicBezTo>
                    <a:pt x="726" y="610"/>
                    <a:pt x="701" y="581"/>
                    <a:pt x="657" y="581"/>
                  </a:cubicBezTo>
                  <a:close/>
                  <a:moveTo>
                    <a:pt x="857" y="581"/>
                  </a:moveTo>
                  <a:cubicBezTo>
                    <a:pt x="828" y="581"/>
                    <a:pt x="811" y="597"/>
                    <a:pt x="798" y="614"/>
                  </a:cubicBezTo>
                  <a:cubicBezTo>
                    <a:pt x="798" y="585"/>
                    <a:pt x="798" y="585"/>
                    <a:pt x="798" y="585"/>
                  </a:cubicBezTo>
                  <a:cubicBezTo>
                    <a:pt x="740" y="585"/>
                    <a:pt x="740" y="585"/>
                    <a:pt x="740" y="585"/>
                  </a:cubicBezTo>
                  <a:cubicBezTo>
                    <a:pt x="740" y="787"/>
                    <a:pt x="740" y="787"/>
                    <a:pt x="740" y="787"/>
                  </a:cubicBezTo>
                  <a:cubicBezTo>
                    <a:pt x="798" y="787"/>
                    <a:pt x="798" y="787"/>
                    <a:pt x="798" y="787"/>
                  </a:cubicBezTo>
                  <a:cubicBezTo>
                    <a:pt x="798" y="674"/>
                    <a:pt x="798" y="674"/>
                    <a:pt x="798" y="674"/>
                  </a:cubicBezTo>
                  <a:cubicBezTo>
                    <a:pt x="798" y="647"/>
                    <a:pt x="812" y="633"/>
                    <a:pt x="833" y="633"/>
                  </a:cubicBezTo>
                  <a:cubicBezTo>
                    <a:pt x="855" y="633"/>
                    <a:pt x="868" y="647"/>
                    <a:pt x="868" y="674"/>
                  </a:cubicBezTo>
                  <a:cubicBezTo>
                    <a:pt x="868" y="787"/>
                    <a:pt x="868" y="787"/>
                    <a:pt x="868" y="787"/>
                  </a:cubicBezTo>
                  <a:cubicBezTo>
                    <a:pt x="925" y="787"/>
                    <a:pt x="925" y="787"/>
                    <a:pt x="925" y="787"/>
                  </a:cubicBezTo>
                  <a:cubicBezTo>
                    <a:pt x="925" y="656"/>
                    <a:pt x="925" y="656"/>
                    <a:pt x="925" y="656"/>
                  </a:cubicBezTo>
                  <a:cubicBezTo>
                    <a:pt x="925" y="610"/>
                    <a:pt x="900" y="581"/>
                    <a:pt x="857" y="581"/>
                  </a:cubicBezTo>
                  <a:close/>
                  <a:moveTo>
                    <a:pt x="1155" y="686"/>
                  </a:moveTo>
                  <a:cubicBezTo>
                    <a:pt x="1155" y="686"/>
                    <a:pt x="1155" y="686"/>
                    <a:pt x="1155" y="686"/>
                  </a:cubicBezTo>
                  <a:cubicBezTo>
                    <a:pt x="1155" y="628"/>
                    <a:pt x="1109" y="581"/>
                    <a:pt x="1047" y="581"/>
                  </a:cubicBezTo>
                  <a:cubicBezTo>
                    <a:pt x="984" y="581"/>
                    <a:pt x="937" y="628"/>
                    <a:pt x="937" y="686"/>
                  </a:cubicBezTo>
                  <a:cubicBezTo>
                    <a:pt x="937" y="687"/>
                    <a:pt x="937" y="687"/>
                    <a:pt x="937" y="687"/>
                  </a:cubicBezTo>
                  <a:cubicBezTo>
                    <a:pt x="937" y="745"/>
                    <a:pt x="983" y="791"/>
                    <a:pt x="1046" y="791"/>
                  </a:cubicBezTo>
                  <a:cubicBezTo>
                    <a:pt x="1109" y="791"/>
                    <a:pt x="1155" y="744"/>
                    <a:pt x="1155" y="686"/>
                  </a:cubicBezTo>
                  <a:close/>
                  <a:moveTo>
                    <a:pt x="993" y="686"/>
                  </a:moveTo>
                  <a:cubicBezTo>
                    <a:pt x="993" y="686"/>
                    <a:pt x="993" y="686"/>
                    <a:pt x="993" y="686"/>
                  </a:cubicBezTo>
                  <a:cubicBezTo>
                    <a:pt x="993" y="656"/>
                    <a:pt x="1013" y="631"/>
                    <a:pt x="1046" y="631"/>
                  </a:cubicBezTo>
                  <a:cubicBezTo>
                    <a:pt x="1077" y="631"/>
                    <a:pt x="1099" y="657"/>
                    <a:pt x="1099" y="686"/>
                  </a:cubicBezTo>
                  <a:cubicBezTo>
                    <a:pt x="1099" y="687"/>
                    <a:pt x="1099" y="687"/>
                    <a:pt x="1099" y="687"/>
                  </a:cubicBezTo>
                  <a:cubicBezTo>
                    <a:pt x="1099" y="717"/>
                    <a:pt x="1079" y="742"/>
                    <a:pt x="1047" y="742"/>
                  </a:cubicBezTo>
                  <a:cubicBezTo>
                    <a:pt x="1015" y="742"/>
                    <a:pt x="993" y="716"/>
                    <a:pt x="993" y="686"/>
                  </a:cubicBezTo>
                  <a:close/>
                  <a:moveTo>
                    <a:pt x="1167" y="787"/>
                  </a:moveTo>
                  <a:cubicBezTo>
                    <a:pt x="1224" y="787"/>
                    <a:pt x="1224" y="787"/>
                    <a:pt x="1224" y="787"/>
                  </a:cubicBezTo>
                  <a:cubicBezTo>
                    <a:pt x="1224" y="512"/>
                    <a:pt x="1224" y="512"/>
                    <a:pt x="1224" y="512"/>
                  </a:cubicBezTo>
                  <a:cubicBezTo>
                    <a:pt x="1167" y="512"/>
                    <a:pt x="1167" y="512"/>
                    <a:pt x="1167" y="512"/>
                  </a:cubicBezTo>
                  <a:lnTo>
                    <a:pt x="1167" y="787"/>
                  </a:lnTo>
                  <a:close/>
                  <a:moveTo>
                    <a:pt x="1345" y="581"/>
                  </a:moveTo>
                  <a:cubicBezTo>
                    <a:pt x="1282" y="581"/>
                    <a:pt x="1235" y="628"/>
                    <a:pt x="1235" y="686"/>
                  </a:cubicBezTo>
                  <a:cubicBezTo>
                    <a:pt x="1235" y="687"/>
                    <a:pt x="1235" y="687"/>
                    <a:pt x="1235" y="687"/>
                  </a:cubicBezTo>
                  <a:cubicBezTo>
                    <a:pt x="1235" y="745"/>
                    <a:pt x="1281" y="791"/>
                    <a:pt x="1344" y="791"/>
                  </a:cubicBezTo>
                  <a:cubicBezTo>
                    <a:pt x="1407" y="791"/>
                    <a:pt x="1453" y="744"/>
                    <a:pt x="1453" y="686"/>
                  </a:cubicBezTo>
                  <a:cubicBezTo>
                    <a:pt x="1453" y="686"/>
                    <a:pt x="1453" y="686"/>
                    <a:pt x="1453" y="686"/>
                  </a:cubicBezTo>
                  <a:cubicBezTo>
                    <a:pt x="1453" y="628"/>
                    <a:pt x="1407" y="581"/>
                    <a:pt x="1345" y="581"/>
                  </a:cubicBezTo>
                  <a:close/>
                  <a:moveTo>
                    <a:pt x="1397" y="687"/>
                  </a:moveTo>
                  <a:cubicBezTo>
                    <a:pt x="1397" y="717"/>
                    <a:pt x="1377" y="742"/>
                    <a:pt x="1345" y="742"/>
                  </a:cubicBezTo>
                  <a:cubicBezTo>
                    <a:pt x="1313" y="742"/>
                    <a:pt x="1292" y="716"/>
                    <a:pt x="1292" y="686"/>
                  </a:cubicBezTo>
                  <a:cubicBezTo>
                    <a:pt x="1292" y="686"/>
                    <a:pt x="1292" y="686"/>
                    <a:pt x="1292" y="686"/>
                  </a:cubicBezTo>
                  <a:cubicBezTo>
                    <a:pt x="1292" y="656"/>
                    <a:pt x="1311" y="631"/>
                    <a:pt x="1344" y="631"/>
                  </a:cubicBezTo>
                  <a:cubicBezTo>
                    <a:pt x="1375" y="631"/>
                    <a:pt x="1397" y="657"/>
                    <a:pt x="1397" y="686"/>
                  </a:cubicBezTo>
                  <a:lnTo>
                    <a:pt x="1397" y="687"/>
                  </a:lnTo>
                  <a:close/>
                  <a:moveTo>
                    <a:pt x="1560" y="802"/>
                  </a:moveTo>
                  <a:cubicBezTo>
                    <a:pt x="1533" y="802"/>
                    <a:pt x="1513" y="795"/>
                    <a:pt x="1492" y="784"/>
                  </a:cubicBezTo>
                  <a:cubicBezTo>
                    <a:pt x="1472" y="827"/>
                    <a:pt x="1472" y="827"/>
                    <a:pt x="1472" y="827"/>
                  </a:cubicBezTo>
                  <a:cubicBezTo>
                    <a:pt x="1498" y="840"/>
                    <a:pt x="1529" y="848"/>
                    <a:pt x="1562" y="848"/>
                  </a:cubicBezTo>
                  <a:cubicBezTo>
                    <a:pt x="1601" y="848"/>
                    <a:pt x="1630" y="840"/>
                    <a:pt x="1649" y="821"/>
                  </a:cubicBezTo>
                  <a:cubicBezTo>
                    <a:pt x="1666" y="804"/>
                    <a:pt x="1674" y="777"/>
                    <a:pt x="1674" y="741"/>
                  </a:cubicBezTo>
                  <a:cubicBezTo>
                    <a:pt x="1674" y="585"/>
                    <a:pt x="1674" y="585"/>
                    <a:pt x="1674" y="585"/>
                  </a:cubicBezTo>
                  <a:cubicBezTo>
                    <a:pt x="1617" y="585"/>
                    <a:pt x="1617" y="585"/>
                    <a:pt x="1617" y="585"/>
                  </a:cubicBezTo>
                  <a:cubicBezTo>
                    <a:pt x="1617" y="611"/>
                    <a:pt x="1617" y="611"/>
                    <a:pt x="1617" y="611"/>
                  </a:cubicBezTo>
                  <a:cubicBezTo>
                    <a:pt x="1602" y="594"/>
                    <a:pt x="1583" y="581"/>
                    <a:pt x="1552" y="581"/>
                  </a:cubicBezTo>
                  <a:cubicBezTo>
                    <a:pt x="1505" y="581"/>
                    <a:pt x="1462" y="615"/>
                    <a:pt x="1462" y="675"/>
                  </a:cubicBezTo>
                  <a:cubicBezTo>
                    <a:pt x="1462" y="676"/>
                    <a:pt x="1462" y="676"/>
                    <a:pt x="1462" y="676"/>
                  </a:cubicBezTo>
                  <a:cubicBezTo>
                    <a:pt x="1462" y="736"/>
                    <a:pt x="1505" y="770"/>
                    <a:pt x="1552" y="770"/>
                  </a:cubicBezTo>
                  <a:cubicBezTo>
                    <a:pt x="1582" y="770"/>
                    <a:pt x="1601" y="758"/>
                    <a:pt x="1618" y="737"/>
                  </a:cubicBezTo>
                  <a:cubicBezTo>
                    <a:pt x="1618" y="747"/>
                    <a:pt x="1618" y="747"/>
                    <a:pt x="1618" y="747"/>
                  </a:cubicBezTo>
                  <a:cubicBezTo>
                    <a:pt x="1618" y="783"/>
                    <a:pt x="1599" y="802"/>
                    <a:pt x="1560" y="802"/>
                  </a:cubicBezTo>
                  <a:close/>
                  <a:moveTo>
                    <a:pt x="1568" y="723"/>
                  </a:moveTo>
                  <a:cubicBezTo>
                    <a:pt x="1541" y="723"/>
                    <a:pt x="1519" y="704"/>
                    <a:pt x="1519" y="676"/>
                  </a:cubicBezTo>
                  <a:cubicBezTo>
                    <a:pt x="1519" y="675"/>
                    <a:pt x="1519" y="675"/>
                    <a:pt x="1519" y="675"/>
                  </a:cubicBezTo>
                  <a:cubicBezTo>
                    <a:pt x="1519" y="648"/>
                    <a:pt x="1541" y="629"/>
                    <a:pt x="1568" y="629"/>
                  </a:cubicBezTo>
                  <a:cubicBezTo>
                    <a:pt x="1596" y="629"/>
                    <a:pt x="1618" y="648"/>
                    <a:pt x="1618" y="675"/>
                  </a:cubicBezTo>
                  <a:cubicBezTo>
                    <a:pt x="1618" y="676"/>
                    <a:pt x="1618" y="676"/>
                    <a:pt x="1618" y="676"/>
                  </a:cubicBezTo>
                  <a:cubicBezTo>
                    <a:pt x="1618" y="704"/>
                    <a:pt x="1596" y="723"/>
                    <a:pt x="1568" y="723"/>
                  </a:cubicBezTo>
                  <a:close/>
                  <a:moveTo>
                    <a:pt x="1790" y="722"/>
                  </a:moveTo>
                  <a:cubicBezTo>
                    <a:pt x="1744" y="585"/>
                    <a:pt x="1744" y="585"/>
                    <a:pt x="1744" y="585"/>
                  </a:cubicBezTo>
                  <a:cubicBezTo>
                    <a:pt x="1684" y="585"/>
                    <a:pt x="1684" y="585"/>
                    <a:pt x="1684" y="585"/>
                  </a:cubicBezTo>
                  <a:cubicBezTo>
                    <a:pt x="1763" y="788"/>
                    <a:pt x="1763" y="788"/>
                    <a:pt x="1763" y="788"/>
                  </a:cubicBezTo>
                  <a:cubicBezTo>
                    <a:pt x="1758" y="798"/>
                    <a:pt x="1753" y="801"/>
                    <a:pt x="1743" y="801"/>
                  </a:cubicBezTo>
                  <a:cubicBezTo>
                    <a:pt x="1735" y="801"/>
                    <a:pt x="1726" y="797"/>
                    <a:pt x="1718" y="793"/>
                  </a:cubicBezTo>
                  <a:cubicBezTo>
                    <a:pt x="1699" y="834"/>
                    <a:pt x="1699" y="834"/>
                    <a:pt x="1699" y="834"/>
                  </a:cubicBezTo>
                  <a:cubicBezTo>
                    <a:pt x="1714" y="843"/>
                    <a:pt x="1729" y="848"/>
                    <a:pt x="1750" y="848"/>
                  </a:cubicBezTo>
                  <a:cubicBezTo>
                    <a:pt x="1784" y="848"/>
                    <a:pt x="1801" y="833"/>
                    <a:pt x="1816" y="792"/>
                  </a:cubicBezTo>
                  <a:cubicBezTo>
                    <a:pt x="1894" y="585"/>
                    <a:pt x="1894" y="585"/>
                    <a:pt x="1894" y="585"/>
                  </a:cubicBezTo>
                  <a:cubicBezTo>
                    <a:pt x="1834" y="585"/>
                    <a:pt x="1834" y="585"/>
                    <a:pt x="1834" y="585"/>
                  </a:cubicBezTo>
                  <a:lnTo>
                    <a:pt x="1790" y="722"/>
                  </a:lnTo>
                  <a:close/>
                  <a:moveTo>
                    <a:pt x="1101" y="965"/>
                  </a:moveTo>
                  <a:cubicBezTo>
                    <a:pt x="1054" y="965"/>
                    <a:pt x="1054" y="965"/>
                    <a:pt x="1054" y="965"/>
                  </a:cubicBezTo>
                  <a:cubicBezTo>
                    <a:pt x="1054" y="957"/>
                    <a:pt x="1054" y="957"/>
                    <a:pt x="1054" y="957"/>
                  </a:cubicBezTo>
                  <a:cubicBezTo>
                    <a:pt x="1054" y="942"/>
                    <a:pt x="1062" y="935"/>
                    <a:pt x="1075" y="935"/>
                  </a:cubicBezTo>
                  <a:cubicBezTo>
                    <a:pt x="1085" y="935"/>
                    <a:pt x="1093" y="937"/>
                    <a:pt x="1101" y="940"/>
                  </a:cubicBezTo>
                  <a:cubicBezTo>
                    <a:pt x="1101" y="893"/>
                    <a:pt x="1101" y="893"/>
                    <a:pt x="1101" y="893"/>
                  </a:cubicBezTo>
                  <a:cubicBezTo>
                    <a:pt x="1091" y="889"/>
                    <a:pt x="1078" y="887"/>
                    <a:pt x="1060" y="887"/>
                  </a:cubicBezTo>
                  <a:cubicBezTo>
                    <a:pt x="1040" y="887"/>
                    <a:pt x="1025" y="892"/>
                    <a:pt x="1014" y="903"/>
                  </a:cubicBezTo>
                  <a:cubicBezTo>
                    <a:pt x="1004" y="914"/>
                    <a:pt x="998" y="930"/>
                    <a:pt x="998" y="952"/>
                  </a:cubicBezTo>
                  <a:cubicBezTo>
                    <a:pt x="998" y="965"/>
                    <a:pt x="998" y="965"/>
                    <a:pt x="998" y="965"/>
                  </a:cubicBezTo>
                  <a:cubicBezTo>
                    <a:pt x="974" y="965"/>
                    <a:pt x="974" y="965"/>
                    <a:pt x="974" y="965"/>
                  </a:cubicBezTo>
                  <a:cubicBezTo>
                    <a:pt x="974" y="1012"/>
                    <a:pt x="974" y="1012"/>
                    <a:pt x="974" y="1012"/>
                  </a:cubicBezTo>
                  <a:cubicBezTo>
                    <a:pt x="998" y="1012"/>
                    <a:pt x="998" y="1012"/>
                    <a:pt x="998" y="1012"/>
                  </a:cubicBezTo>
                  <a:cubicBezTo>
                    <a:pt x="998" y="1165"/>
                    <a:pt x="998" y="1165"/>
                    <a:pt x="998" y="1165"/>
                  </a:cubicBezTo>
                  <a:cubicBezTo>
                    <a:pt x="1055" y="1165"/>
                    <a:pt x="1055" y="1165"/>
                    <a:pt x="1055" y="1165"/>
                  </a:cubicBezTo>
                  <a:cubicBezTo>
                    <a:pt x="1055" y="1012"/>
                    <a:pt x="1055" y="1012"/>
                    <a:pt x="1055" y="1012"/>
                  </a:cubicBezTo>
                  <a:cubicBezTo>
                    <a:pt x="1101" y="1012"/>
                    <a:pt x="1101" y="1012"/>
                    <a:pt x="1101" y="1012"/>
                  </a:cubicBezTo>
                  <a:lnTo>
                    <a:pt x="1101" y="965"/>
                  </a:lnTo>
                  <a:close/>
                  <a:moveTo>
                    <a:pt x="1209" y="959"/>
                  </a:moveTo>
                  <a:cubicBezTo>
                    <a:pt x="1147" y="959"/>
                    <a:pt x="1100" y="1006"/>
                    <a:pt x="1100" y="1064"/>
                  </a:cubicBezTo>
                  <a:cubicBezTo>
                    <a:pt x="1100" y="1065"/>
                    <a:pt x="1100" y="1065"/>
                    <a:pt x="1100" y="1065"/>
                  </a:cubicBezTo>
                  <a:cubicBezTo>
                    <a:pt x="1100" y="1123"/>
                    <a:pt x="1146" y="1169"/>
                    <a:pt x="1209" y="1169"/>
                  </a:cubicBezTo>
                  <a:cubicBezTo>
                    <a:pt x="1272" y="1169"/>
                    <a:pt x="1318" y="1122"/>
                    <a:pt x="1318" y="1064"/>
                  </a:cubicBezTo>
                  <a:cubicBezTo>
                    <a:pt x="1318" y="1063"/>
                    <a:pt x="1318" y="1063"/>
                    <a:pt x="1318" y="1063"/>
                  </a:cubicBezTo>
                  <a:cubicBezTo>
                    <a:pt x="1318" y="1005"/>
                    <a:pt x="1272" y="959"/>
                    <a:pt x="1209" y="959"/>
                  </a:cubicBezTo>
                  <a:close/>
                  <a:moveTo>
                    <a:pt x="1262" y="1065"/>
                  </a:moveTo>
                  <a:cubicBezTo>
                    <a:pt x="1262" y="1095"/>
                    <a:pt x="1242" y="1120"/>
                    <a:pt x="1209" y="1120"/>
                  </a:cubicBezTo>
                  <a:cubicBezTo>
                    <a:pt x="1178" y="1120"/>
                    <a:pt x="1156" y="1094"/>
                    <a:pt x="1156" y="1064"/>
                  </a:cubicBezTo>
                  <a:cubicBezTo>
                    <a:pt x="1156" y="1063"/>
                    <a:pt x="1156" y="1063"/>
                    <a:pt x="1156" y="1063"/>
                  </a:cubicBezTo>
                  <a:cubicBezTo>
                    <a:pt x="1156" y="1034"/>
                    <a:pt x="1176" y="1008"/>
                    <a:pt x="1209" y="1008"/>
                  </a:cubicBezTo>
                  <a:cubicBezTo>
                    <a:pt x="1240" y="1008"/>
                    <a:pt x="1262" y="1034"/>
                    <a:pt x="1262" y="1064"/>
                  </a:cubicBezTo>
                  <a:lnTo>
                    <a:pt x="1262" y="1065"/>
                  </a:lnTo>
                  <a:close/>
                  <a:moveTo>
                    <a:pt x="1389" y="1004"/>
                  </a:moveTo>
                  <a:cubicBezTo>
                    <a:pt x="1389" y="963"/>
                    <a:pt x="1389" y="963"/>
                    <a:pt x="1389" y="963"/>
                  </a:cubicBezTo>
                  <a:cubicBezTo>
                    <a:pt x="1332" y="963"/>
                    <a:pt x="1332" y="963"/>
                    <a:pt x="1332" y="963"/>
                  </a:cubicBezTo>
                  <a:cubicBezTo>
                    <a:pt x="1332" y="1165"/>
                    <a:pt x="1332" y="1165"/>
                    <a:pt x="1332" y="1165"/>
                  </a:cubicBezTo>
                  <a:cubicBezTo>
                    <a:pt x="1389" y="1165"/>
                    <a:pt x="1389" y="1165"/>
                    <a:pt x="1389" y="1165"/>
                  </a:cubicBezTo>
                  <a:cubicBezTo>
                    <a:pt x="1389" y="1090"/>
                    <a:pt x="1389" y="1090"/>
                    <a:pt x="1389" y="1090"/>
                  </a:cubicBezTo>
                  <a:cubicBezTo>
                    <a:pt x="1389" y="1042"/>
                    <a:pt x="1412" y="1019"/>
                    <a:pt x="1450" y="1019"/>
                  </a:cubicBezTo>
                  <a:cubicBezTo>
                    <a:pt x="1453" y="1019"/>
                    <a:pt x="1453" y="1019"/>
                    <a:pt x="1453" y="1019"/>
                  </a:cubicBezTo>
                  <a:cubicBezTo>
                    <a:pt x="1453" y="959"/>
                    <a:pt x="1453" y="959"/>
                    <a:pt x="1453" y="959"/>
                  </a:cubicBezTo>
                  <a:cubicBezTo>
                    <a:pt x="1419" y="958"/>
                    <a:pt x="1400" y="976"/>
                    <a:pt x="1389" y="1004"/>
                  </a:cubicBezTo>
                  <a:close/>
                  <a:moveTo>
                    <a:pt x="1622" y="961"/>
                  </a:moveTo>
                  <a:cubicBezTo>
                    <a:pt x="1588" y="961"/>
                    <a:pt x="1566" y="967"/>
                    <a:pt x="1544" y="977"/>
                  </a:cubicBezTo>
                  <a:cubicBezTo>
                    <a:pt x="1558" y="1020"/>
                    <a:pt x="1558" y="1020"/>
                    <a:pt x="1558" y="1020"/>
                  </a:cubicBezTo>
                  <a:cubicBezTo>
                    <a:pt x="1576" y="1014"/>
                    <a:pt x="1592" y="1010"/>
                    <a:pt x="1614" y="1010"/>
                  </a:cubicBezTo>
                  <a:cubicBezTo>
                    <a:pt x="1642" y="1010"/>
                    <a:pt x="1657" y="1023"/>
                    <a:pt x="1657" y="1046"/>
                  </a:cubicBezTo>
                  <a:cubicBezTo>
                    <a:pt x="1657" y="1050"/>
                    <a:pt x="1657" y="1050"/>
                    <a:pt x="1657" y="1050"/>
                  </a:cubicBezTo>
                  <a:cubicBezTo>
                    <a:pt x="1643" y="1045"/>
                    <a:pt x="1628" y="1042"/>
                    <a:pt x="1608" y="1042"/>
                  </a:cubicBezTo>
                  <a:cubicBezTo>
                    <a:pt x="1560" y="1042"/>
                    <a:pt x="1526" y="1062"/>
                    <a:pt x="1526" y="1106"/>
                  </a:cubicBezTo>
                  <a:cubicBezTo>
                    <a:pt x="1526" y="1107"/>
                    <a:pt x="1526" y="1107"/>
                    <a:pt x="1526" y="1107"/>
                  </a:cubicBezTo>
                  <a:cubicBezTo>
                    <a:pt x="1526" y="1147"/>
                    <a:pt x="1558" y="1168"/>
                    <a:pt x="1596" y="1168"/>
                  </a:cubicBezTo>
                  <a:cubicBezTo>
                    <a:pt x="1624" y="1168"/>
                    <a:pt x="1643" y="1158"/>
                    <a:pt x="1657" y="1143"/>
                  </a:cubicBezTo>
                  <a:cubicBezTo>
                    <a:pt x="1657" y="1165"/>
                    <a:pt x="1657" y="1165"/>
                    <a:pt x="1657" y="1165"/>
                  </a:cubicBezTo>
                  <a:cubicBezTo>
                    <a:pt x="1712" y="1165"/>
                    <a:pt x="1712" y="1165"/>
                    <a:pt x="1712" y="1165"/>
                  </a:cubicBezTo>
                  <a:cubicBezTo>
                    <a:pt x="1712" y="1048"/>
                    <a:pt x="1712" y="1048"/>
                    <a:pt x="1712" y="1048"/>
                  </a:cubicBezTo>
                  <a:cubicBezTo>
                    <a:pt x="1712" y="1020"/>
                    <a:pt x="1705" y="998"/>
                    <a:pt x="1690" y="983"/>
                  </a:cubicBezTo>
                  <a:cubicBezTo>
                    <a:pt x="1676" y="969"/>
                    <a:pt x="1653" y="961"/>
                    <a:pt x="1622" y="961"/>
                  </a:cubicBezTo>
                  <a:close/>
                  <a:moveTo>
                    <a:pt x="1658" y="1094"/>
                  </a:moveTo>
                  <a:cubicBezTo>
                    <a:pt x="1658" y="1114"/>
                    <a:pt x="1640" y="1129"/>
                    <a:pt x="1613" y="1129"/>
                  </a:cubicBezTo>
                  <a:cubicBezTo>
                    <a:pt x="1595" y="1129"/>
                    <a:pt x="1582" y="1120"/>
                    <a:pt x="1582" y="1104"/>
                  </a:cubicBezTo>
                  <a:cubicBezTo>
                    <a:pt x="1582" y="1104"/>
                    <a:pt x="1582" y="1104"/>
                    <a:pt x="1582" y="1104"/>
                  </a:cubicBezTo>
                  <a:cubicBezTo>
                    <a:pt x="1582" y="1086"/>
                    <a:pt x="1597" y="1076"/>
                    <a:pt x="1621" y="1076"/>
                  </a:cubicBezTo>
                  <a:cubicBezTo>
                    <a:pt x="1635" y="1076"/>
                    <a:pt x="1648" y="1079"/>
                    <a:pt x="1658" y="1083"/>
                  </a:cubicBezTo>
                  <a:lnTo>
                    <a:pt x="1658" y="1094"/>
                  </a:lnTo>
                  <a:close/>
                  <a:moveTo>
                    <a:pt x="1736" y="1165"/>
                  </a:moveTo>
                  <a:cubicBezTo>
                    <a:pt x="1793" y="1165"/>
                    <a:pt x="1793" y="1165"/>
                    <a:pt x="1793" y="1165"/>
                  </a:cubicBezTo>
                  <a:cubicBezTo>
                    <a:pt x="1793" y="890"/>
                    <a:pt x="1793" y="890"/>
                    <a:pt x="1793" y="890"/>
                  </a:cubicBezTo>
                  <a:cubicBezTo>
                    <a:pt x="1736" y="890"/>
                    <a:pt x="1736" y="890"/>
                    <a:pt x="1736" y="890"/>
                  </a:cubicBezTo>
                  <a:lnTo>
                    <a:pt x="1736" y="1165"/>
                  </a:lnTo>
                  <a:close/>
                  <a:moveTo>
                    <a:pt x="1817" y="1165"/>
                  </a:moveTo>
                  <a:cubicBezTo>
                    <a:pt x="1874" y="1165"/>
                    <a:pt x="1874" y="1165"/>
                    <a:pt x="1874" y="1165"/>
                  </a:cubicBezTo>
                  <a:cubicBezTo>
                    <a:pt x="1874" y="890"/>
                    <a:pt x="1874" y="890"/>
                    <a:pt x="1874" y="890"/>
                  </a:cubicBezTo>
                  <a:cubicBezTo>
                    <a:pt x="1817" y="890"/>
                    <a:pt x="1817" y="890"/>
                    <a:pt x="1817" y="890"/>
                  </a:cubicBezTo>
                  <a:lnTo>
                    <a:pt x="1817" y="1165"/>
                  </a:lnTo>
                  <a:close/>
                  <a:moveTo>
                    <a:pt x="2086" y="0"/>
                  </a:moveTo>
                  <a:cubicBezTo>
                    <a:pt x="2086" y="1832"/>
                    <a:pt x="2086" y="1832"/>
                    <a:pt x="2086" y="1832"/>
                  </a:cubicBezTo>
                  <a:cubicBezTo>
                    <a:pt x="2697" y="1832"/>
                    <a:pt x="2697" y="1832"/>
                    <a:pt x="2697" y="1832"/>
                  </a:cubicBezTo>
                  <a:cubicBezTo>
                    <a:pt x="2697" y="0"/>
                    <a:pt x="2697" y="0"/>
                    <a:pt x="2697" y="0"/>
                  </a:cubicBezTo>
                  <a:lnTo>
                    <a:pt x="2086" y="0"/>
                  </a:lnTo>
                  <a:close/>
                </a:path>
              </a:pathLst>
            </a:custGeom>
            <a:gradFill flip="none" rotWithShape="1">
              <a:gsLst>
                <a:gs pos="37000">
                  <a:srgbClr val="F2A11F"/>
                </a:gs>
                <a:gs pos="56000">
                  <a:srgbClr val="EC5124"/>
                </a:gs>
                <a:gs pos="83000">
                  <a:srgbClr val="D32A27"/>
                </a:gs>
                <a:gs pos="100000">
                  <a:srgbClr val="7A425E"/>
                </a:gs>
              </a:gsLst>
              <a:lin ang="18900000" scaled="1"/>
              <a:tileRect/>
            </a:gradFill>
            <a:ln>
              <a:noFill/>
            </a:ln>
          </p:spPr>
          <p:txBody>
            <a:bodyPr vert="horz" wrap="square" lIns="91440" tIns="45720" rIns="91440" bIns="45720" numCol="1" anchor="t" anchorCtr="0" compatLnSpc="1">
              <a:prstTxWarp prst="textNoShape">
                <a:avLst/>
              </a:prstTxWarp>
            </a:bodyPr>
            <a:lstStyle/>
            <a:p>
              <a:endParaRPr lang="en-US" sz="1798"/>
            </a:p>
          </p:txBody>
        </p:sp>
        <p:grpSp>
          <p:nvGrpSpPr>
            <p:cNvPr id="107" name="Group 106">
              <a:extLst>
                <a:ext uri="{FF2B5EF4-FFF2-40B4-BE49-F238E27FC236}">
                  <a16:creationId xmlns:a16="http://schemas.microsoft.com/office/drawing/2014/main" id="{A6EECAC4-C77C-49AB-B254-48D8B0737DBE}"/>
                </a:ext>
              </a:extLst>
            </p:cNvPr>
            <p:cNvGrpSpPr/>
            <p:nvPr userDrawn="1"/>
          </p:nvGrpSpPr>
          <p:grpSpPr>
            <a:xfrm>
              <a:off x="11291887" y="1987551"/>
              <a:ext cx="590550" cy="2868613"/>
              <a:chOff x="11291887" y="1987551"/>
              <a:chExt cx="590550" cy="2868613"/>
            </a:xfrm>
          </p:grpSpPr>
          <p:sp>
            <p:nvSpPr>
              <p:cNvPr id="108" name="Freeform 6">
                <a:extLst>
                  <a:ext uri="{FF2B5EF4-FFF2-40B4-BE49-F238E27FC236}">
                    <a16:creationId xmlns:a16="http://schemas.microsoft.com/office/drawing/2014/main" id="{D00C9BBA-FC7E-4243-8134-0B959E4BB233}"/>
                  </a:ext>
                </a:extLst>
              </p:cNvPr>
              <p:cNvSpPr>
                <a:spLocks/>
              </p:cNvSpPr>
              <p:nvPr userDrawn="1"/>
            </p:nvSpPr>
            <p:spPr bwMode="auto">
              <a:xfrm>
                <a:off x="11418887" y="3471864"/>
                <a:ext cx="455612" cy="452438"/>
              </a:xfrm>
              <a:custGeom>
                <a:avLst/>
                <a:gdLst>
                  <a:gd name="T0" fmla="*/ 0 w 239"/>
                  <a:gd name="T1" fmla="*/ 96 h 237"/>
                  <a:gd name="T2" fmla="*/ 38 w 239"/>
                  <a:gd name="T3" fmla="*/ 173 h 237"/>
                  <a:gd name="T4" fmla="*/ 38 w 239"/>
                  <a:gd name="T5" fmla="*/ 173 h 237"/>
                  <a:gd name="T6" fmla="*/ 38 w 239"/>
                  <a:gd name="T7" fmla="*/ 173 h 237"/>
                  <a:gd name="T8" fmla="*/ 4 w 239"/>
                  <a:gd name="T9" fmla="*/ 173 h 237"/>
                  <a:gd name="T10" fmla="*/ 4 w 239"/>
                  <a:gd name="T11" fmla="*/ 237 h 237"/>
                  <a:gd name="T12" fmla="*/ 239 w 239"/>
                  <a:gd name="T13" fmla="*/ 237 h 237"/>
                  <a:gd name="T14" fmla="*/ 239 w 239"/>
                  <a:gd name="T15" fmla="*/ 173 h 237"/>
                  <a:gd name="T16" fmla="*/ 105 w 239"/>
                  <a:gd name="T17" fmla="*/ 173 h 237"/>
                  <a:gd name="T18" fmla="*/ 56 w 239"/>
                  <a:gd name="T19" fmla="*/ 119 h 237"/>
                  <a:gd name="T20" fmla="*/ 105 w 239"/>
                  <a:gd name="T21" fmla="*/ 65 h 237"/>
                  <a:gd name="T22" fmla="*/ 239 w 239"/>
                  <a:gd name="T23" fmla="*/ 65 h 237"/>
                  <a:gd name="T24" fmla="*/ 239 w 239"/>
                  <a:gd name="T25" fmla="*/ 0 h 237"/>
                  <a:gd name="T26" fmla="*/ 93 w 239"/>
                  <a:gd name="T27" fmla="*/ 0 h 237"/>
                  <a:gd name="T28" fmla="*/ 0 w 239"/>
                  <a:gd name="T29" fmla="*/ 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9" h="237">
                    <a:moveTo>
                      <a:pt x="0" y="96"/>
                    </a:moveTo>
                    <a:cubicBezTo>
                      <a:pt x="0" y="123"/>
                      <a:pt x="13" y="154"/>
                      <a:pt x="38" y="173"/>
                    </a:cubicBezTo>
                    <a:cubicBezTo>
                      <a:pt x="38" y="173"/>
                      <a:pt x="38" y="173"/>
                      <a:pt x="38" y="173"/>
                    </a:cubicBezTo>
                    <a:cubicBezTo>
                      <a:pt x="38" y="173"/>
                      <a:pt x="38" y="173"/>
                      <a:pt x="38" y="173"/>
                    </a:cubicBezTo>
                    <a:cubicBezTo>
                      <a:pt x="4" y="173"/>
                      <a:pt x="4" y="173"/>
                      <a:pt x="4" y="173"/>
                    </a:cubicBezTo>
                    <a:cubicBezTo>
                      <a:pt x="4" y="237"/>
                      <a:pt x="4" y="237"/>
                      <a:pt x="4" y="237"/>
                    </a:cubicBezTo>
                    <a:cubicBezTo>
                      <a:pt x="239" y="237"/>
                      <a:pt x="239" y="237"/>
                      <a:pt x="239" y="237"/>
                    </a:cubicBezTo>
                    <a:cubicBezTo>
                      <a:pt x="239" y="173"/>
                      <a:pt x="239" y="173"/>
                      <a:pt x="239" y="173"/>
                    </a:cubicBezTo>
                    <a:cubicBezTo>
                      <a:pt x="105" y="173"/>
                      <a:pt x="105" y="173"/>
                      <a:pt x="105" y="173"/>
                    </a:cubicBezTo>
                    <a:cubicBezTo>
                      <a:pt x="81" y="173"/>
                      <a:pt x="56" y="154"/>
                      <a:pt x="56" y="119"/>
                    </a:cubicBezTo>
                    <a:cubicBezTo>
                      <a:pt x="56" y="93"/>
                      <a:pt x="74" y="65"/>
                      <a:pt x="105" y="65"/>
                    </a:cubicBezTo>
                    <a:cubicBezTo>
                      <a:pt x="239" y="65"/>
                      <a:pt x="239" y="65"/>
                      <a:pt x="239" y="65"/>
                    </a:cubicBezTo>
                    <a:cubicBezTo>
                      <a:pt x="239" y="0"/>
                      <a:pt x="239" y="0"/>
                      <a:pt x="239" y="0"/>
                    </a:cubicBezTo>
                    <a:cubicBezTo>
                      <a:pt x="93" y="0"/>
                      <a:pt x="93" y="0"/>
                      <a:pt x="93" y="0"/>
                    </a:cubicBezTo>
                    <a:cubicBezTo>
                      <a:pt x="39" y="0"/>
                      <a:pt x="0" y="39"/>
                      <a:pt x="0" y="9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9" name="Freeform 7">
                <a:extLst>
                  <a:ext uri="{FF2B5EF4-FFF2-40B4-BE49-F238E27FC236}">
                    <a16:creationId xmlns:a16="http://schemas.microsoft.com/office/drawing/2014/main" id="{F71F105A-138E-453C-A355-31EA2B0C8B87}"/>
                  </a:ext>
                </a:extLst>
              </p:cNvPr>
              <p:cNvSpPr>
                <a:spLocks/>
              </p:cNvSpPr>
              <p:nvPr userDrawn="1"/>
            </p:nvSpPr>
            <p:spPr bwMode="auto">
              <a:xfrm>
                <a:off x="11425237" y="2452689"/>
                <a:ext cx="449262" cy="506413"/>
              </a:xfrm>
              <a:custGeom>
                <a:avLst/>
                <a:gdLst>
                  <a:gd name="T0" fmla="*/ 0 w 283"/>
                  <a:gd name="T1" fmla="*/ 89 h 319"/>
                  <a:gd name="T2" fmla="*/ 193 w 283"/>
                  <a:gd name="T3" fmla="*/ 159 h 319"/>
                  <a:gd name="T4" fmla="*/ 0 w 283"/>
                  <a:gd name="T5" fmla="*/ 229 h 319"/>
                  <a:gd name="T6" fmla="*/ 0 w 283"/>
                  <a:gd name="T7" fmla="*/ 319 h 319"/>
                  <a:gd name="T8" fmla="*/ 283 w 283"/>
                  <a:gd name="T9" fmla="*/ 202 h 319"/>
                  <a:gd name="T10" fmla="*/ 283 w 283"/>
                  <a:gd name="T11" fmla="*/ 117 h 319"/>
                  <a:gd name="T12" fmla="*/ 0 w 283"/>
                  <a:gd name="T13" fmla="*/ 0 h 319"/>
                  <a:gd name="T14" fmla="*/ 0 w 283"/>
                  <a:gd name="T15" fmla="*/ 89 h 3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319">
                    <a:moveTo>
                      <a:pt x="0" y="89"/>
                    </a:moveTo>
                    <a:lnTo>
                      <a:pt x="193" y="159"/>
                    </a:lnTo>
                    <a:lnTo>
                      <a:pt x="0" y="229"/>
                    </a:lnTo>
                    <a:lnTo>
                      <a:pt x="0" y="319"/>
                    </a:lnTo>
                    <a:lnTo>
                      <a:pt x="283" y="202"/>
                    </a:lnTo>
                    <a:lnTo>
                      <a:pt x="283" y="117"/>
                    </a:lnTo>
                    <a:lnTo>
                      <a:pt x="0" y="0"/>
                    </a:lnTo>
                    <a:lnTo>
                      <a:pt x="0" y="8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0" name="Freeform 8">
                <a:extLst>
                  <a:ext uri="{FF2B5EF4-FFF2-40B4-BE49-F238E27FC236}">
                    <a16:creationId xmlns:a16="http://schemas.microsoft.com/office/drawing/2014/main" id="{49854997-23FD-4E3C-82E8-D973E90ABF35}"/>
                  </a:ext>
                </a:extLst>
              </p:cNvPr>
              <p:cNvSpPr>
                <a:spLocks noEditPoints="1"/>
              </p:cNvSpPr>
              <p:nvPr userDrawn="1"/>
            </p:nvSpPr>
            <p:spPr bwMode="auto">
              <a:xfrm>
                <a:off x="11418887" y="3968751"/>
                <a:ext cx="463550" cy="471488"/>
              </a:xfrm>
              <a:custGeom>
                <a:avLst/>
                <a:gdLst>
                  <a:gd name="T0" fmla="*/ 167 w 243"/>
                  <a:gd name="T1" fmla="*/ 46 h 246"/>
                  <a:gd name="T2" fmla="*/ 192 w 243"/>
                  <a:gd name="T3" fmla="*/ 113 h 246"/>
                  <a:gd name="T4" fmla="*/ 173 w 243"/>
                  <a:gd name="T5" fmla="*/ 165 h 246"/>
                  <a:gd name="T6" fmla="*/ 104 w 243"/>
                  <a:gd name="T7" fmla="*/ 0 h 246"/>
                  <a:gd name="T8" fmla="*/ 39 w 243"/>
                  <a:gd name="T9" fmla="*/ 28 h 246"/>
                  <a:gd name="T10" fmla="*/ 0 w 243"/>
                  <a:gd name="T11" fmla="*/ 121 h 246"/>
                  <a:gd name="T12" fmla="*/ 122 w 243"/>
                  <a:gd name="T13" fmla="*/ 246 h 246"/>
                  <a:gd name="T14" fmla="*/ 243 w 243"/>
                  <a:gd name="T15" fmla="*/ 114 h 246"/>
                  <a:gd name="T16" fmla="*/ 198 w 243"/>
                  <a:gd name="T17" fmla="*/ 5 h 246"/>
                  <a:gd name="T18" fmla="*/ 167 w 243"/>
                  <a:gd name="T19" fmla="*/ 46 h 246"/>
                  <a:gd name="T20" fmla="*/ 75 w 243"/>
                  <a:gd name="T21" fmla="*/ 170 h 246"/>
                  <a:gd name="T22" fmla="*/ 51 w 243"/>
                  <a:gd name="T23" fmla="*/ 120 h 246"/>
                  <a:gd name="T24" fmla="*/ 84 w 243"/>
                  <a:gd name="T25" fmla="*/ 70 h 246"/>
                  <a:gd name="T26" fmla="*/ 131 w 243"/>
                  <a:gd name="T27" fmla="*/ 183 h 246"/>
                  <a:gd name="T28" fmla="*/ 75 w 243"/>
                  <a:gd name="T29" fmla="*/ 17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3" h="246">
                    <a:moveTo>
                      <a:pt x="167" y="46"/>
                    </a:moveTo>
                    <a:cubicBezTo>
                      <a:pt x="187" y="73"/>
                      <a:pt x="192" y="88"/>
                      <a:pt x="192" y="113"/>
                    </a:cubicBezTo>
                    <a:cubicBezTo>
                      <a:pt x="192" y="135"/>
                      <a:pt x="185" y="153"/>
                      <a:pt x="173" y="165"/>
                    </a:cubicBezTo>
                    <a:cubicBezTo>
                      <a:pt x="104" y="0"/>
                      <a:pt x="104" y="0"/>
                      <a:pt x="104" y="0"/>
                    </a:cubicBezTo>
                    <a:cubicBezTo>
                      <a:pt x="79" y="4"/>
                      <a:pt x="56" y="14"/>
                      <a:pt x="39" y="28"/>
                    </a:cubicBezTo>
                    <a:cubicBezTo>
                      <a:pt x="13" y="50"/>
                      <a:pt x="0" y="82"/>
                      <a:pt x="0" y="121"/>
                    </a:cubicBezTo>
                    <a:cubicBezTo>
                      <a:pt x="0" y="192"/>
                      <a:pt x="52" y="246"/>
                      <a:pt x="122" y="246"/>
                    </a:cubicBezTo>
                    <a:cubicBezTo>
                      <a:pt x="193" y="246"/>
                      <a:pt x="243" y="192"/>
                      <a:pt x="243" y="114"/>
                    </a:cubicBezTo>
                    <a:cubicBezTo>
                      <a:pt x="243" y="70"/>
                      <a:pt x="222" y="26"/>
                      <a:pt x="198" y="5"/>
                    </a:cubicBezTo>
                    <a:lnTo>
                      <a:pt x="167" y="46"/>
                    </a:lnTo>
                    <a:close/>
                    <a:moveTo>
                      <a:pt x="75" y="170"/>
                    </a:moveTo>
                    <a:cubicBezTo>
                      <a:pt x="60" y="159"/>
                      <a:pt x="51" y="141"/>
                      <a:pt x="51" y="120"/>
                    </a:cubicBezTo>
                    <a:cubicBezTo>
                      <a:pt x="51" y="97"/>
                      <a:pt x="65" y="79"/>
                      <a:pt x="84" y="70"/>
                    </a:cubicBezTo>
                    <a:cubicBezTo>
                      <a:pt x="131" y="183"/>
                      <a:pt x="131" y="183"/>
                      <a:pt x="131" y="183"/>
                    </a:cubicBezTo>
                    <a:cubicBezTo>
                      <a:pt x="107" y="186"/>
                      <a:pt x="88" y="180"/>
                      <a:pt x="75"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1" name="Freeform 9">
                <a:extLst>
                  <a:ext uri="{FF2B5EF4-FFF2-40B4-BE49-F238E27FC236}">
                    <a16:creationId xmlns:a16="http://schemas.microsoft.com/office/drawing/2014/main" id="{DFC48EA1-BF0E-478F-9540-C906E2ADBE10}"/>
                  </a:ext>
                </a:extLst>
              </p:cNvPr>
              <p:cNvSpPr>
                <a:spLocks/>
              </p:cNvSpPr>
              <p:nvPr userDrawn="1"/>
            </p:nvSpPr>
            <p:spPr bwMode="auto">
              <a:xfrm>
                <a:off x="11291887" y="4451351"/>
                <a:ext cx="582612" cy="404813"/>
              </a:xfrm>
              <a:custGeom>
                <a:avLst/>
                <a:gdLst>
                  <a:gd name="T0" fmla="*/ 296 w 367"/>
                  <a:gd name="T1" fmla="*/ 0 h 255"/>
                  <a:gd name="T2" fmla="*/ 296 w 367"/>
                  <a:gd name="T3" fmla="*/ 177 h 255"/>
                  <a:gd name="T4" fmla="*/ 0 w 367"/>
                  <a:gd name="T5" fmla="*/ 177 h 255"/>
                  <a:gd name="T6" fmla="*/ 0 w 367"/>
                  <a:gd name="T7" fmla="*/ 255 h 255"/>
                  <a:gd name="T8" fmla="*/ 367 w 367"/>
                  <a:gd name="T9" fmla="*/ 255 h 255"/>
                  <a:gd name="T10" fmla="*/ 367 w 367"/>
                  <a:gd name="T11" fmla="*/ 0 h 255"/>
                  <a:gd name="T12" fmla="*/ 296 w 367"/>
                  <a:gd name="T13" fmla="*/ 0 h 255"/>
                </a:gdLst>
                <a:ahLst/>
                <a:cxnLst>
                  <a:cxn ang="0">
                    <a:pos x="T0" y="T1"/>
                  </a:cxn>
                  <a:cxn ang="0">
                    <a:pos x="T2" y="T3"/>
                  </a:cxn>
                  <a:cxn ang="0">
                    <a:pos x="T4" y="T5"/>
                  </a:cxn>
                  <a:cxn ang="0">
                    <a:pos x="T6" y="T7"/>
                  </a:cxn>
                  <a:cxn ang="0">
                    <a:pos x="T8" y="T9"/>
                  </a:cxn>
                  <a:cxn ang="0">
                    <a:pos x="T10" y="T11"/>
                  </a:cxn>
                  <a:cxn ang="0">
                    <a:pos x="T12" y="T13"/>
                  </a:cxn>
                </a:cxnLst>
                <a:rect l="0" t="0" r="r" b="b"/>
                <a:pathLst>
                  <a:path w="367" h="255">
                    <a:moveTo>
                      <a:pt x="296" y="0"/>
                    </a:moveTo>
                    <a:lnTo>
                      <a:pt x="296" y="177"/>
                    </a:lnTo>
                    <a:lnTo>
                      <a:pt x="0" y="177"/>
                    </a:lnTo>
                    <a:lnTo>
                      <a:pt x="0" y="255"/>
                    </a:lnTo>
                    <a:lnTo>
                      <a:pt x="367" y="255"/>
                    </a:lnTo>
                    <a:lnTo>
                      <a:pt x="367" y="0"/>
                    </a:lnTo>
                    <a:lnTo>
                      <a:pt x="2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2" name="Freeform 10">
                <a:extLst>
                  <a:ext uri="{FF2B5EF4-FFF2-40B4-BE49-F238E27FC236}">
                    <a16:creationId xmlns:a16="http://schemas.microsoft.com/office/drawing/2014/main" id="{66D58043-225E-4AF1-86C5-EAC10AA263B5}"/>
                  </a:ext>
                </a:extLst>
              </p:cNvPr>
              <p:cNvSpPr>
                <a:spLocks noEditPoints="1"/>
              </p:cNvSpPr>
              <p:nvPr userDrawn="1"/>
            </p:nvSpPr>
            <p:spPr bwMode="auto">
              <a:xfrm>
                <a:off x="11418887" y="1987551"/>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3" name="Freeform 11">
                <a:extLst>
                  <a:ext uri="{FF2B5EF4-FFF2-40B4-BE49-F238E27FC236}">
                    <a16:creationId xmlns:a16="http://schemas.microsoft.com/office/drawing/2014/main" id="{3EDD390D-BF7B-4689-9B90-0E8DC4C75E16}"/>
                  </a:ext>
                </a:extLst>
              </p:cNvPr>
              <p:cNvSpPr>
                <a:spLocks noEditPoints="1"/>
              </p:cNvSpPr>
              <p:nvPr userDrawn="1"/>
            </p:nvSpPr>
            <p:spPr bwMode="auto">
              <a:xfrm>
                <a:off x="11418887" y="2938464"/>
                <a:ext cx="463550" cy="484188"/>
              </a:xfrm>
              <a:custGeom>
                <a:avLst/>
                <a:gdLst>
                  <a:gd name="T0" fmla="*/ 243 w 243"/>
                  <a:gd name="T1" fmla="*/ 127 h 253"/>
                  <a:gd name="T2" fmla="*/ 122 w 243"/>
                  <a:gd name="T3" fmla="*/ 253 h 253"/>
                  <a:gd name="T4" fmla="*/ 0 w 243"/>
                  <a:gd name="T5" fmla="*/ 126 h 253"/>
                  <a:gd name="T6" fmla="*/ 122 w 243"/>
                  <a:gd name="T7" fmla="*/ 0 h 253"/>
                  <a:gd name="T8" fmla="*/ 243 w 243"/>
                  <a:gd name="T9" fmla="*/ 127 h 253"/>
                  <a:gd name="T10" fmla="*/ 55 w 243"/>
                  <a:gd name="T11" fmla="*/ 127 h 253"/>
                  <a:gd name="T12" fmla="*/ 122 w 243"/>
                  <a:gd name="T13" fmla="*/ 189 h 253"/>
                  <a:gd name="T14" fmla="*/ 188 w 243"/>
                  <a:gd name="T15" fmla="*/ 126 h 253"/>
                  <a:gd name="T16" fmla="*/ 122 w 243"/>
                  <a:gd name="T17" fmla="*/ 64 h 253"/>
                  <a:gd name="T18" fmla="*/ 55 w 243"/>
                  <a:gd name="T19" fmla="*/ 12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53">
                    <a:moveTo>
                      <a:pt x="243" y="127"/>
                    </a:moveTo>
                    <a:cubicBezTo>
                      <a:pt x="243" y="198"/>
                      <a:pt x="190" y="253"/>
                      <a:pt x="122" y="253"/>
                    </a:cubicBezTo>
                    <a:cubicBezTo>
                      <a:pt x="53" y="253"/>
                      <a:pt x="0" y="197"/>
                      <a:pt x="0" y="126"/>
                    </a:cubicBezTo>
                    <a:cubicBezTo>
                      <a:pt x="0" y="56"/>
                      <a:pt x="53" y="0"/>
                      <a:pt x="122" y="0"/>
                    </a:cubicBezTo>
                    <a:cubicBezTo>
                      <a:pt x="190" y="0"/>
                      <a:pt x="243" y="56"/>
                      <a:pt x="243" y="127"/>
                    </a:cubicBezTo>
                    <a:moveTo>
                      <a:pt x="55" y="127"/>
                    </a:moveTo>
                    <a:cubicBezTo>
                      <a:pt x="55" y="163"/>
                      <a:pt x="83" y="189"/>
                      <a:pt x="122" y="189"/>
                    </a:cubicBezTo>
                    <a:cubicBezTo>
                      <a:pt x="159" y="189"/>
                      <a:pt x="188" y="162"/>
                      <a:pt x="188" y="126"/>
                    </a:cubicBezTo>
                    <a:cubicBezTo>
                      <a:pt x="188" y="90"/>
                      <a:pt x="160" y="64"/>
                      <a:pt x="122" y="64"/>
                    </a:cubicBezTo>
                    <a:cubicBezTo>
                      <a:pt x="85" y="64"/>
                      <a:pt x="55" y="92"/>
                      <a:pt x="55" y="12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grpSp>
    </p:spTree>
    <p:extLst>
      <p:ext uri="{BB962C8B-B14F-4D97-AF65-F5344CB8AC3E}">
        <p14:creationId xmlns:p14="http://schemas.microsoft.com/office/powerpoint/2010/main" val="4097613595"/>
      </p:ext>
    </p:extLst>
  </p:cSld>
  <p:clrMapOvr>
    <a:masterClrMapping/>
  </p:clrMapOvr>
  <p:transition spd="med"/>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userDrawn="1">
  <p:cSld name="Section Header_KO1">
    <p:bg>
      <p:bgPr>
        <a:solidFill>
          <a:schemeClr val="tx1"/>
        </a:solidFill>
        <a:effectLst/>
      </p:bgPr>
    </p:bg>
    <p:spTree>
      <p:nvGrpSpPr>
        <p:cNvPr id="1" name=""/>
        <p:cNvGrpSpPr/>
        <p:nvPr/>
      </p:nvGrpSpPr>
      <p:grpSpPr>
        <a:xfrm>
          <a:off x="0" y="0"/>
          <a:ext cx="0" cy="0"/>
          <a:chOff x="0" y="0"/>
          <a:chExt cx="0" cy="0"/>
        </a:xfrm>
      </p:grpSpPr>
      <p:pic>
        <p:nvPicPr>
          <p:cNvPr id="4" name="圖片 3">
            <a:extLst>
              <a:ext uri="{FF2B5EF4-FFF2-40B4-BE49-F238E27FC236}">
                <a16:creationId xmlns:a16="http://schemas.microsoft.com/office/drawing/2014/main" id="{B91160EA-2565-5C4E-A8AC-934E5A0FA72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1" y="0"/>
            <a:ext cx="12188708" cy="6858000"/>
          </a:xfrm>
          <a:prstGeom prst="rect">
            <a:avLst/>
          </a:prstGeom>
        </p:spPr>
      </p:pic>
      <p:sp>
        <p:nvSpPr>
          <p:cNvPr id="23" name="Rectangle 15">
            <a:extLst>
              <a:ext uri="{FF2B5EF4-FFF2-40B4-BE49-F238E27FC236}">
                <a16:creationId xmlns:a16="http://schemas.microsoft.com/office/drawing/2014/main" id="{557AE5CC-D97B-8441-9DBD-855CE997C8AE}"/>
              </a:ext>
            </a:extLst>
          </p:cNvPr>
          <p:cNvSpPr/>
          <p:nvPr userDrawn="1"/>
        </p:nvSpPr>
        <p:spPr>
          <a:xfrm>
            <a:off x="2251" y="897"/>
            <a:ext cx="12192000" cy="6856213"/>
          </a:xfrm>
          <a:prstGeom prst="rect">
            <a:avLst/>
          </a:prstGeom>
          <a:gradFill>
            <a:gsLst>
              <a:gs pos="100000">
                <a:schemeClr val="bg2">
                  <a:alpha val="0"/>
                </a:schemeClr>
              </a:gs>
              <a:gs pos="8000">
                <a:schemeClr val="tx1">
                  <a:alpha val="47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7"/>
          </a:p>
        </p:txBody>
      </p:sp>
      <p:grpSp>
        <p:nvGrpSpPr>
          <p:cNvPr id="17" name="Group 16"/>
          <p:cNvGrpSpPr/>
          <p:nvPr/>
        </p:nvGrpSpPr>
        <p:grpSpPr>
          <a:xfrm>
            <a:off x="8758816" y="3448226"/>
            <a:ext cx="3429893" cy="3429000"/>
            <a:chOff x="6728604" y="-1"/>
            <a:chExt cx="6728604" cy="6831181"/>
          </a:xfrm>
          <a:solidFill>
            <a:srgbClr val="4CC2E2">
              <a:alpha val="30000"/>
            </a:srgbClr>
          </a:solidFill>
        </p:grpSpPr>
        <p:sp>
          <p:nvSpPr>
            <p:cNvPr id="21" name="Freeform 5"/>
            <p:cNvSpPr>
              <a:spLocks/>
            </p:cNvSpPr>
            <p:nvPr/>
          </p:nvSpPr>
          <p:spPr bwMode="auto">
            <a:xfrm>
              <a:off x="6728604" y="-1"/>
              <a:ext cx="6728604" cy="6831181"/>
            </a:xfrm>
            <a:custGeom>
              <a:avLst/>
              <a:gdLst>
                <a:gd name="T0" fmla="*/ 328 w 328"/>
                <a:gd name="T1" fmla="*/ 333 h 333"/>
                <a:gd name="T2" fmla="*/ 328 w 328"/>
                <a:gd name="T3" fmla="*/ 333 h 333"/>
                <a:gd name="T4" fmla="*/ 328 w 328"/>
                <a:gd name="T5" fmla="*/ 0 h 333"/>
                <a:gd name="T6" fmla="*/ 0 w 328"/>
                <a:gd name="T7" fmla="*/ 0 h 333"/>
                <a:gd name="T8" fmla="*/ 0 w 328"/>
                <a:gd name="T9" fmla="*/ 0 h 333"/>
                <a:gd name="T10" fmla="*/ 328 w 328"/>
                <a:gd name="T11" fmla="*/ 333 h 333"/>
              </a:gdLst>
              <a:ahLst/>
              <a:cxnLst>
                <a:cxn ang="0">
                  <a:pos x="T0" y="T1"/>
                </a:cxn>
                <a:cxn ang="0">
                  <a:pos x="T2" y="T3"/>
                </a:cxn>
                <a:cxn ang="0">
                  <a:pos x="T4" y="T5"/>
                </a:cxn>
                <a:cxn ang="0">
                  <a:pos x="T6" y="T7"/>
                </a:cxn>
                <a:cxn ang="0">
                  <a:pos x="T8" y="T9"/>
                </a:cxn>
                <a:cxn ang="0">
                  <a:pos x="T10" y="T11"/>
                </a:cxn>
              </a:cxnLst>
              <a:rect l="0" t="0" r="r" b="b"/>
              <a:pathLst>
                <a:path w="328" h="333">
                  <a:moveTo>
                    <a:pt x="328" y="333"/>
                  </a:moveTo>
                  <a:lnTo>
                    <a:pt x="328" y="333"/>
                  </a:lnTo>
                  <a:lnTo>
                    <a:pt x="328" y="0"/>
                  </a:lnTo>
                  <a:lnTo>
                    <a:pt x="0" y="0"/>
                  </a:lnTo>
                  <a:lnTo>
                    <a:pt x="0" y="0"/>
                  </a:lnTo>
                  <a:lnTo>
                    <a:pt x="328" y="3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22" name="Freeform 6"/>
            <p:cNvSpPr>
              <a:spLocks/>
            </p:cNvSpPr>
            <p:nvPr/>
          </p:nvSpPr>
          <p:spPr bwMode="auto">
            <a:xfrm>
              <a:off x="6728604" y="3405332"/>
              <a:ext cx="3384816" cy="3425848"/>
            </a:xfrm>
            <a:custGeom>
              <a:avLst/>
              <a:gdLst>
                <a:gd name="T0" fmla="*/ 0 w 165"/>
                <a:gd name="T1" fmla="*/ 0 h 167"/>
                <a:gd name="T2" fmla="*/ 0 w 165"/>
                <a:gd name="T3" fmla="*/ 0 h 167"/>
                <a:gd name="T4" fmla="*/ 0 w 165"/>
                <a:gd name="T5" fmla="*/ 167 h 167"/>
                <a:gd name="T6" fmla="*/ 165 w 165"/>
                <a:gd name="T7" fmla="*/ 167 h 167"/>
                <a:gd name="T8" fmla="*/ 165 w 165"/>
                <a:gd name="T9" fmla="*/ 167 h 167"/>
                <a:gd name="T10" fmla="*/ 0 w 165"/>
                <a:gd name="T11" fmla="*/ 0 h 167"/>
              </a:gdLst>
              <a:ahLst/>
              <a:cxnLst>
                <a:cxn ang="0">
                  <a:pos x="T0" y="T1"/>
                </a:cxn>
                <a:cxn ang="0">
                  <a:pos x="T2" y="T3"/>
                </a:cxn>
                <a:cxn ang="0">
                  <a:pos x="T4" y="T5"/>
                </a:cxn>
                <a:cxn ang="0">
                  <a:pos x="T6" y="T7"/>
                </a:cxn>
                <a:cxn ang="0">
                  <a:pos x="T8" y="T9"/>
                </a:cxn>
                <a:cxn ang="0">
                  <a:pos x="T10" y="T11"/>
                </a:cxn>
              </a:cxnLst>
              <a:rect l="0" t="0" r="r" b="b"/>
              <a:pathLst>
                <a:path w="165" h="167">
                  <a:moveTo>
                    <a:pt x="0" y="0"/>
                  </a:moveTo>
                  <a:lnTo>
                    <a:pt x="0" y="0"/>
                  </a:lnTo>
                  <a:lnTo>
                    <a:pt x="0" y="167"/>
                  </a:lnTo>
                  <a:lnTo>
                    <a:pt x="165" y="167"/>
                  </a:lnTo>
                  <a:lnTo>
                    <a:pt x="165" y="167"/>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grpSp>
      <p:grpSp>
        <p:nvGrpSpPr>
          <p:cNvPr id="18" name="Group 17"/>
          <p:cNvGrpSpPr/>
          <p:nvPr/>
        </p:nvGrpSpPr>
        <p:grpSpPr>
          <a:xfrm>
            <a:off x="5328926" y="19226"/>
            <a:ext cx="3429893" cy="3429000"/>
            <a:chOff x="0" y="-1"/>
            <a:chExt cx="6728604" cy="6831181"/>
          </a:xfrm>
          <a:solidFill>
            <a:srgbClr val="4CC2E2">
              <a:alpha val="30000"/>
            </a:srgbClr>
          </a:solidFill>
        </p:grpSpPr>
        <p:sp>
          <p:nvSpPr>
            <p:cNvPr id="19" name="Freeform 7"/>
            <p:cNvSpPr>
              <a:spLocks/>
            </p:cNvSpPr>
            <p:nvPr/>
          </p:nvSpPr>
          <p:spPr bwMode="auto">
            <a:xfrm>
              <a:off x="0" y="-1"/>
              <a:ext cx="3343788" cy="6831181"/>
            </a:xfrm>
            <a:custGeom>
              <a:avLst/>
              <a:gdLst>
                <a:gd name="T0" fmla="*/ 120 w 120"/>
                <a:gd name="T1" fmla="*/ 121 h 242"/>
                <a:gd name="T2" fmla="*/ 0 w 120"/>
                <a:gd name="T3" fmla="*/ 242 h 242"/>
                <a:gd name="T4" fmla="*/ 0 w 120"/>
                <a:gd name="T5" fmla="*/ 0 h 242"/>
                <a:gd name="T6" fmla="*/ 120 w 120"/>
                <a:gd name="T7" fmla="*/ 121 h 242"/>
              </a:gdLst>
              <a:ahLst/>
              <a:cxnLst>
                <a:cxn ang="0">
                  <a:pos x="T0" y="T1"/>
                </a:cxn>
                <a:cxn ang="0">
                  <a:pos x="T2" y="T3"/>
                </a:cxn>
                <a:cxn ang="0">
                  <a:pos x="T4" y="T5"/>
                </a:cxn>
                <a:cxn ang="0">
                  <a:pos x="T6" y="T7"/>
                </a:cxn>
              </a:cxnLst>
              <a:rect l="0" t="0" r="r" b="b"/>
              <a:pathLst>
                <a:path w="120" h="242">
                  <a:moveTo>
                    <a:pt x="120" y="121"/>
                  </a:moveTo>
                  <a:cubicBezTo>
                    <a:pt x="120" y="188"/>
                    <a:pt x="66" y="242"/>
                    <a:pt x="0" y="242"/>
                  </a:cubicBezTo>
                  <a:cubicBezTo>
                    <a:pt x="0" y="0"/>
                    <a:pt x="0" y="0"/>
                    <a:pt x="0" y="0"/>
                  </a:cubicBezTo>
                  <a:cubicBezTo>
                    <a:pt x="66" y="0"/>
                    <a:pt x="120" y="54"/>
                    <a:pt x="120"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20" name="Freeform 8"/>
            <p:cNvSpPr>
              <a:spLocks/>
            </p:cNvSpPr>
            <p:nvPr/>
          </p:nvSpPr>
          <p:spPr bwMode="auto">
            <a:xfrm>
              <a:off x="3343788" y="-1"/>
              <a:ext cx="3384816" cy="6831181"/>
            </a:xfrm>
            <a:custGeom>
              <a:avLst/>
              <a:gdLst>
                <a:gd name="T0" fmla="*/ 121 w 121"/>
                <a:gd name="T1" fmla="*/ 0 h 242"/>
                <a:gd name="T2" fmla="*/ 121 w 121"/>
                <a:gd name="T3" fmla="*/ 242 h 242"/>
                <a:gd name="T4" fmla="*/ 0 w 121"/>
                <a:gd name="T5" fmla="*/ 121 h 242"/>
                <a:gd name="T6" fmla="*/ 121 w 121"/>
                <a:gd name="T7" fmla="*/ 0 h 242"/>
              </a:gdLst>
              <a:ahLst/>
              <a:cxnLst>
                <a:cxn ang="0">
                  <a:pos x="T0" y="T1"/>
                </a:cxn>
                <a:cxn ang="0">
                  <a:pos x="T2" y="T3"/>
                </a:cxn>
                <a:cxn ang="0">
                  <a:pos x="T4" y="T5"/>
                </a:cxn>
                <a:cxn ang="0">
                  <a:pos x="T6" y="T7"/>
                </a:cxn>
              </a:cxnLst>
              <a:rect l="0" t="0" r="r" b="b"/>
              <a:pathLst>
                <a:path w="121" h="242">
                  <a:moveTo>
                    <a:pt x="121" y="0"/>
                  </a:moveTo>
                  <a:cubicBezTo>
                    <a:pt x="121" y="242"/>
                    <a:pt x="121" y="242"/>
                    <a:pt x="121" y="242"/>
                  </a:cubicBezTo>
                  <a:cubicBezTo>
                    <a:pt x="54" y="242"/>
                    <a:pt x="0" y="188"/>
                    <a:pt x="0" y="121"/>
                  </a:cubicBezTo>
                  <a:cubicBezTo>
                    <a:pt x="0" y="54"/>
                    <a:pt x="54" y="0"/>
                    <a:pt x="1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grpSp>
      <p:sp>
        <p:nvSpPr>
          <p:cNvPr id="51" name="Slide Number Placeholder 5"/>
          <p:cNvSpPr>
            <a:spLocks noGrp="1"/>
          </p:cNvSpPr>
          <p:nvPr userDrawn="1">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bg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75" name="TextBox 74"/>
          <p:cNvSpPr txBox="1"/>
          <p:nvPr userDrawn="1"/>
        </p:nvSpPr>
        <p:spPr>
          <a:xfrm>
            <a:off x="548783" y="6473952"/>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2019 Lenovo Internal. All rights reserved.</a:t>
            </a:r>
          </a:p>
        </p:txBody>
      </p:sp>
      <p:sp>
        <p:nvSpPr>
          <p:cNvPr id="11" name="Text Placeholder 2"/>
          <p:cNvSpPr>
            <a:spLocks noGrp="1"/>
          </p:cNvSpPr>
          <p:nvPr userDrawn="1">
            <p:ph type="body" idx="1" hasCustomPrompt="1"/>
          </p:nvPr>
        </p:nvSpPr>
        <p:spPr bwMode="white">
          <a:xfrm>
            <a:off x="548783" y="3999750"/>
            <a:ext cx="9960410" cy="462018"/>
          </a:xfrm>
          <a:prstGeom prst="rect">
            <a:avLst/>
          </a:prstGeom>
        </p:spPr>
        <p:txBody>
          <a:bodyPr lIns="0" tIns="0" rIns="0" bIns="0"/>
          <a:lstStyle>
            <a:lvl1pPr marL="0" indent="0">
              <a:lnSpc>
                <a:spcPts val="2397"/>
              </a:lnSpc>
              <a:spcBef>
                <a:spcPts val="0"/>
              </a:spcBef>
              <a:buNone/>
              <a:defRPr sz="2497" spc="0" baseline="0">
                <a:solidFill>
                  <a:schemeClr val="accent2"/>
                </a:solidFill>
              </a:defRPr>
            </a:lvl1pPr>
            <a:lvl2pPr marL="456789" indent="0">
              <a:buNone/>
              <a:defRPr sz="1997">
                <a:solidFill>
                  <a:schemeClr val="tx1">
                    <a:tint val="75000"/>
                  </a:schemeClr>
                </a:solidFill>
              </a:defRPr>
            </a:lvl2pPr>
            <a:lvl3pPr marL="913578" indent="0">
              <a:buNone/>
              <a:defRPr sz="1797">
                <a:solidFill>
                  <a:schemeClr val="tx1">
                    <a:tint val="75000"/>
                  </a:schemeClr>
                </a:solidFill>
              </a:defRPr>
            </a:lvl3pPr>
            <a:lvl4pPr marL="1370367" indent="0">
              <a:buNone/>
              <a:defRPr sz="1600">
                <a:solidFill>
                  <a:schemeClr val="tx1">
                    <a:tint val="75000"/>
                  </a:schemeClr>
                </a:solidFill>
              </a:defRPr>
            </a:lvl4pPr>
            <a:lvl5pPr marL="1827155" indent="0">
              <a:buNone/>
              <a:defRPr sz="1600">
                <a:solidFill>
                  <a:schemeClr val="tx1">
                    <a:tint val="75000"/>
                  </a:schemeClr>
                </a:solidFill>
              </a:defRPr>
            </a:lvl5pPr>
            <a:lvl6pPr marL="2283943" indent="0">
              <a:buNone/>
              <a:defRPr sz="1600">
                <a:solidFill>
                  <a:schemeClr val="tx1">
                    <a:tint val="75000"/>
                  </a:schemeClr>
                </a:solidFill>
              </a:defRPr>
            </a:lvl6pPr>
            <a:lvl7pPr marL="2740732" indent="0">
              <a:buNone/>
              <a:defRPr sz="1600">
                <a:solidFill>
                  <a:schemeClr val="tx1">
                    <a:tint val="75000"/>
                  </a:schemeClr>
                </a:solidFill>
              </a:defRPr>
            </a:lvl7pPr>
            <a:lvl8pPr marL="3197520" indent="0">
              <a:buNone/>
              <a:defRPr sz="1600">
                <a:solidFill>
                  <a:schemeClr val="tx1">
                    <a:tint val="75000"/>
                  </a:schemeClr>
                </a:solidFill>
              </a:defRPr>
            </a:lvl8pPr>
            <a:lvl9pPr marL="3654309" indent="0">
              <a:buNone/>
              <a:defRPr sz="1600">
                <a:solidFill>
                  <a:schemeClr val="tx1">
                    <a:tint val="75000"/>
                  </a:schemeClr>
                </a:solidFill>
              </a:defRPr>
            </a:lvl9pPr>
          </a:lstStyle>
          <a:p>
            <a:pPr lvl="0"/>
            <a:r>
              <a:rPr lang="en-US"/>
              <a:t>Subhead here</a:t>
            </a:r>
          </a:p>
        </p:txBody>
      </p:sp>
      <p:grpSp>
        <p:nvGrpSpPr>
          <p:cNvPr id="119" name="Group 118"/>
          <p:cNvGrpSpPr>
            <a:grpSpLocks noChangeAspect="1"/>
          </p:cNvGrpSpPr>
          <p:nvPr userDrawn="1"/>
        </p:nvGrpSpPr>
        <p:grpSpPr>
          <a:xfrm rot="16200000">
            <a:off x="10143517" y="2413288"/>
            <a:ext cx="3070226" cy="1026741"/>
            <a:chOff x="3900488" y="595313"/>
            <a:chExt cx="5830888" cy="1949450"/>
          </a:xfrm>
        </p:grpSpPr>
        <p:sp>
          <p:nvSpPr>
            <p:cNvPr id="120" name="Rectangle 50"/>
            <p:cNvSpPr>
              <a:spLocks noChangeArrowheads="1"/>
            </p:cNvSpPr>
            <p:nvPr userDrawn="1"/>
          </p:nvSpPr>
          <p:spPr bwMode="auto">
            <a:xfrm>
              <a:off x="3900488" y="595313"/>
              <a:ext cx="5830888" cy="1949450"/>
            </a:xfrm>
            <a:prstGeom prst="rect">
              <a:avLst/>
            </a:prstGeom>
            <a:solidFill>
              <a:srgbClr val="F36C2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1" name="Freeform 51"/>
            <p:cNvSpPr>
              <a:spLocks/>
            </p:cNvSpPr>
            <p:nvPr userDrawn="1"/>
          </p:nvSpPr>
          <p:spPr bwMode="auto">
            <a:xfrm>
              <a:off x="5991226" y="1252538"/>
              <a:ext cx="752475" cy="762000"/>
            </a:xfrm>
            <a:custGeom>
              <a:avLst/>
              <a:gdLst>
                <a:gd name="T0" fmla="*/ 493 w 826"/>
                <a:gd name="T1" fmla="*/ 0 h 834"/>
                <a:gd name="T2" fmla="*/ 225 w 826"/>
                <a:gd name="T3" fmla="*/ 131 h 834"/>
                <a:gd name="T4" fmla="*/ 225 w 826"/>
                <a:gd name="T5" fmla="*/ 131 h 834"/>
                <a:gd name="T6" fmla="*/ 225 w 826"/>
                <a:gd name="T7" fmla="*/ 131 h 834"/>
                <a:gd name="T8" fmla="*/ 225 w 826"/>
                <a:gd name="T9" fmla="*/ 13 h 834"/>
                <a:gd name="T10" fmla="*/ 0 w 826"/>
                <a:gd name="T11" fmla="*/ 13 h 834"/>
                <a:gd name="T12" fmla="*/ 0 w 826"/>
                <a:gd name="T13" fmla="*/ 834 h 834"/>
                <a:gd name="T14" fmla="*/ 225 w 826"/>
                <a:gd name="T15" fmla="*/ 834 h 834"/>
                <a:gd name="T16" fmla="*/ 225 w 826"/>
                <a:gd name="T17" fmla="*/ 367 h 834"/>
                <a:gd name="T18" fmla="*/ 411 w 826"/>
                <a:gd name="T19" fmla="*/ 194 h 834"/>
                <a:gd name="T20" fmla="*/ 601 w 826"/>
                <a:gd name="T21" fmla="*/ 367 h 834"/>
                <a:gd name="T22" fmla="*/ 601 w 826"/>
                <a:gd name="T23" fmla="*/ 834 h 834"/>
                <a:gd name="T24" fmla="*/ 826 w 826"/>
                <a:gd name="T25" fmla="*/ 834 h 834"/>
                <a:gd name="T26" fmla="*/ 826 w 826"/>
                <a:gd name="T27" fmla="*/ 325 h 834"/>
                <a:gd name="T28" fmla="*/ 493 w 826"/>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6" h="834">
                  <a:moveTo>
                    <a:pt x="493" y="0"/>
                  </a:moveTo>
                  <a:cubicBezTo>
                    <a:pt x="398" y="0"/>
                    <a:pt x="291" y="43"/>
                    <a:pt x="225" y="131"/>
                  </a:cubicBezTo>
                  <a:cubicBezTo>
                    <a:pt x="225" y="131"/>
                    <a:pt x="225" y="131"/>
                    <a:pt x="225" y="131"/>
                  </a:cubicBezTo>
                  <a:cubicBezTo>
                    <a:pt x="225" y="131"/>
                    <a:pt x="225" y="131"/>
                    <a:pt x="225" y="131"/>
                  </a:cubicBezTo>
                  <a:cubicBezTo>
                    <a:pt x="225" y="13"/>
                    <a:pt x="225" y="13"/>
                    <a:pt x="225" y="13"/>
                  </a:cubicBezTo>
                  <a:cubicBezTo>
                    <a:pt x="0" y="13"/>
                    <a:pt x="0" y="13"/>
                    <a:pt x="0" y="13"/>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1" y="259"/>
                    <a:pt x="601" y="367"/>
                  </a:cubicBezTo>
                  <a:cubicBezTo>
                    <a:pt x="601" y="834"/>
                    <a:pt x="601" y="834"/>
                    <a:pt x="601" y="834"/>
                  </a:cubicBezTo>
                  <a:cubicBezTo>
                    <a:pt x="826" y="834"/>
                    <a:pt x="826" y="834"/>
                    <a:pt x="826" y="834"/>
                  </a:cubicBezTo>
                  <a:cubicBezTo>
                    <a:pt x="826" y="325"/>
                    <a:pt x="826" y="325"/>
                    <a:pt x="826" y="325"/>
                  </a:cubicBezTo>
                  <a:cubicBezTo>
                    <a:pt x="826" y="137"/>
                    <a:pt x="691" y="0"/>
                    <a:pt x="493"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2" name="Freeform 52"/>
            <p:cNvSpPr>
              <a:spLocks/>
            </p:cNvSpPr>
            <p:nvPr userDrawn="1"/>
          </p:nvSpPr>
          <p:spPr bwMode="auto">
            <a:xfrm>
              <a:off x="7599363" y="1263651"/>
              <a:ext cx="839788" cy="750888"/>
            </a:xfrm>
            <a:custGeom>
              <a:avLst/>
              <a:gdLst>
                <a:gd name="T0" fmla="*/ 381 w 529"/>
                <a:gd name="T1" fmla="*/ 0 h 473"/>
                <a:gd name="T2" fmla="*/ 264 w 529"/>
                <a:gd name="T3" fmla="*/ 323 h 473"/>
                <a:gd name="T4" fmla="*/ 147 w 529"/>
                <a:gd name="T5" fmla="*/ 0 h 473"/>
                <a:gd name="T6" fmla="*/ 0 w 529"/>
                <a:gd name="T7" fmla="*/ 0 h 473"/>
                <a:gd name="T8" fmla="*/ 193 w 529"/>
                <a:gd name="T9" fmla="*/ 473 h 473"/>
                <a:gd name="T10" fmla="*/ 335 w 529"/>
                <a:gd name="T11" fmla="*/ 473 h 473"/>
                <a:gd name="T12" fmla="*/ 529 w 529"/>
                <a:gd name="T13" fmla="*/ 0 h 473"/>
                <a:gd name="T14" fmla="*/ 381 w 529"/>
                <a:gd name="T15" fmla="*/ 0 h 4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9" h="473">
                  <a:moveTo>
                    <a:pt x="381" y="0"/>
                  </a:moveTo>
                  <a:lnTo>
                    <a:pt x="264" y="323"/>
                  </a:lnTo>
                  <a:lnTo>
                    <a:pt x="147" y="0"/>
                  </a:lnTo>
                  <a:lnTo>
                    <a:pt x="0" y="0"/>
                  </a:lnTo>
                  <a:lnTo>
                    <a:pt x="193" y="473"/>
                  </a:lnTo>
                  <a:lnTo>
                    <a:pt x="335" y="473"/>
                  </a:lnTo>
                  <a:lnTo>
                    <a:pt x="529" y="0"/>
                  </a:lnTo>
                  <a:lnTo>
                    <a:pt x="38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3" name="Freeform 53"/>
            <p:cNvSpPr>
              <a:spLocks noEditPoints="1"/>
            </p:cNvSpPr>
            <p:nvPr userDrawn="1"/>
          </p:nvSpPr>
          <p:spPr bwMode="auto">
            <a:xfrm>
              <a:off x="5137151" y="1252538"/>
              <a:ext cx="781050" cy="774700"/>
            </a:xfrm>
            <a:custGeom>
              <a:avLst/>
              <a:gdLst>
                <a:gd name="T0" fmla="*/ 699 w 858"/>
                <a:gd name="T1" fmla="*/ 582 h 848"/>
                <a:gd name="T2" fmla="*/ 463 w 858"/>
                <a:gd name="T3" fmla="*/ 669 h 848"/>
                <a:gd name="T4" fmla="*/ 281 w 858"/>
                <a:gd name="T5" fmla="*/ 602 h 848"/>
                <a:gd name="T6" fmla="*/ 858 w 858"/>
                <a:gd name="T7" fmla="*/ 363 h 848"/>
                <a:gd name="T8" fmla="*/ 759 w 858"/>
                <a:gd name="T9" fmla="*/ 134 h 848"/>
                <a:gd name="T10" fmla="*/ 435 w 858"/>
                <a:gd name="T11" fmla="*/ 0 h 848"/>
                <a:gd name="T12" fmla="*/ 0 w 858"/>
                <a:gd name="T13" fmla="*/ 424 h 848"/>
                <a:gd name="T14" fmla="*/ 460 w 858"/>
                <a:gd name="T15" fmla="*/ 848 h 848"/>
                <a:gd name="T16" fmla="*/ 841 w 858"/>
                <a:gd name="T17" fmla="*/ 692 h 848"/>
                <a:gd name="T18" fmla="*/ 699 w 858"/>
                <a:gd name="T19" fmla="*/ 582 h 848"/>
                <a:gd name="T20" fmla="*/ 266 w 858"/>
                <a:gd name="T21" fmla="*/ 261 h 848"/>
                <a:gd name="T22" fmla="*/ 439 w 858"/>
                <a:gd name="T23" fmla="*/ 179 h 848"/>
                <a:gd name="T24" fmla="*/ 614 w 858"/>
                <a:gd name="T25" fmla="*/ 294 h 848"/>
                <a:gd name="T26" fmla="*/ 220 w 858"/>
                <a:gd name="T27" fmla="*/ 457 h 848"/>
                <a:gd name="T28" fmla="*/ 266 w 858"/>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8" h="848">
                  <a:moveTo>
                    <a:pt x="699" y="582"/>
                  </a:moveTo>
                  <a:cubicBezTo>
                    <a:pt x="604" y="652"/>
                    <a:pt x="550" y="669"/>
                    <a:pt x="463" y="669"/>
                  </a:cubicBezTo>
                  <a:cubicBezTo>
                    <a:pt x="385" y="669"/>
                    <a:pt x="324" y="645"/>
                    <a:pt x="281" y="602"/>
                  </a:cubicBezTo>
                  <a:cubicBezTo>
                    <a:pt x="858" y="363"/>
                    <a:pt x="858" y="363"/>
                    <a:pt x="858" y="363"/>
                  </a:cubicBezTo>
                  <a:cubicBezTo>
                    <a:pt x="845" y="274"/>
                    <a:pt x="811" y="195"/>
                    <a:pt x="759" y="134"/>
                  </a:cubicBezTo>
                  <a:cubicBezTo>
                    <a:pt x="683" y="46"/>
                    <a:pt x="571" y="0"/>
                    <a:pt x="435" y="0"/>
                  </a:cubicBezTo>
                  <a:cubicBezTo>
                    <a:pt x="187" y="0"/>
                    <a:pt x="0" y="182"/>
                    <a:pt x="0" y="424"/>
                  </a:cubicBezTo>
                  <a:cubicBezTo>
                    <a:pt x="0" y="672"/>
                    <a:pt x="187" y="848"/>
                    <a:pt x="460" y="848"/>
                  </a:cubicBezTo>
                  <a:cubicBezTo>
                    <a:pt x="612" y="848"/>
                    <a:pt x="768" y="776"/>
                    <a:pt x="841" y="692"/>
                  </a:cubicBezTo>
                  <a:lnTo>
                    <a:pt x="699" y="582"/>
                  </a:lnTo>
                  <a:close/>
                  <a:moveTo>
                    <a:pt x="266" y="261"/>
                  </a:moveTo>
                  <a:cubicBezTo>
                    <a:pt x="304" y="209"/>
                    <a:pt x="365" y="179"/>
                    <a:pt x="439" y="179"/>
                  </a:cubicBezTo>
                  <a:cubicBezTo>
                    <a:pt x="520" y="179"/>
                    <a:pt x="582" y="225"/>
                    <a:pt x="614" y="294"/>
                  </a:cubicBezTo>
                  <a:cubicBezTo>
                    <a:pt x="220" y="457"/>
                    <a:pt x="220" y="457"/>
                    <a:pt x="220" y="457"/>
                  </a:cubicBezTo>
                  <a:cubicBezTo>
                    <a:pt x="209" y="373"/>
                    <a:pt x="231" y="308"/>
                    <a:pt x="266"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4" name="Freeform 54"/>
            <p:cNvSpPr>
              <a:spLocks/>
            </p:cNvSpPr>
            <p:nvPr userDrawn="1"/>
          </p:nvSpPr>
          <p:spPr bwMode="auto">
            <a:xfrm>
              <a:off x="4441826" y="1039813"/>
              <a:ext cx="676275" cy="974725"/>
            </a:xfrm>
            <a:custGeom>
              <a:avLst/>
              <a:gdLst>
                <a:gd name="T0" fmla="*/ 426 w 426"/>
                <a:gd name="T1" fmla="*/ 495 h 614"/>
                <a:gd name="T2" fmla="*/ 131 w 426"/>
                <a:gd name="T3" fmla="*/ 495 h 614"/>
                <a:gd name="T4" fmla="*/ 131 w 426"/>
                <a:gd name="T5" fmla="*/ 0 h 614"/>
                <a:gd name="T6" fmla="*/ 0 w 426"/>
                <a:gd name="T7" fmla="*/ 0 h 614"/>
                <a:gd name="T8" fmla="*/ 0 w 426"/>
                <a:gd name="T9" fmla="*/ 614 h 614"/>
                <a:gd name="T10" fmla="*/ 426 w 426"/>
                <a:gd name="T11" fmla="*/ 614 h 614"/>
                <a:gd name="T12" fmla="*/ 426 w 426"/>
                <a:gd name="T13" fmla="*/ 495 h 614"/>
              </a:gdLst>
              <a:ahLst/>
              <a:cxnLst>
                <a:cxn ang="0">
                  <a:pos x="T0" y="T1"/>
                </a:cxn>
                <a:cxn ang="0">
                  <a:pos x="T2" y="T3"/>
                </a:cxn>
                <a:cxn ang="0">
                  <a:pos x="T4" y="T5"/>
                </a:cxn>
                <a:cxn ang="0">
                  <a:pos x="T6" y="T7"/>
                </a:cxn>
                <a:cxn ang="0">
                  <a:pos x="T8" y="T9"/>
                </a:cxn>
                <a:cxn ang="0">
                  <a:pos x="T10" y="T11"/>
                </a:cxn>
                <a:cxn ang="0">
                  <a:pos x="T12" y="T13"/>
                </a:cxn>
              </a:cxnLst>
              <a:rect l="0" t="0" r="r" b="b"/>
              <a:pathLst>
                <a:path w="426" h="614">
                  <a:moveTo>
                    <a:pt x="426" y="495"/>
                  </a:moveTo>
                  <a:lnTo>
                    <a:pt x="131" y="495"/>
                  </a:lnTo>
                  <a:lnTo>
                    <a:pt x="131" y="0"/>
                  </a:lnTo>
                  <a:lnTo>
                    <a:pt x="0" y="0"/>
                  </a:lnTo>
                  <a:lnTo>
                    <a:pt x="0" y="614"/>
                  </a:lnTo>
                  <a:lnTo>
                    <a:pt x="426" y="614"/>
                  </a:lnTo>
                  <a:lnTo>
                    <a:pt x="426" y="4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5" name="Freeform 55"/>
            <p:cNvSpPr>
              <a:spLocks noEditPoints="1"/>
            </p:cNvSpPr>
            <p:nvPr userDrawn="1"/>
          </p:nvSpPr>
          <p:spPr bwMode="auto">
            <a:xfrm>
              <a:off x="8407401" y="1252538"/>
              <a:ext cx="803275" cy="774700"/>
            </a:xfrm>
            <a:custGeom>
              <a:avLst/>
              <a:gdLst>
                <a:gd name="T0" fmla="*/ 440 w 883"/>
                <a:gd name="T1" fmla="*/ 848 h 848"/>
                <a:gd name="T2" fmla="*/ 0 w 883"/>
                <a:gd name="T3" fmla="*/ 424 h 848"/>
                <a:gd name="T4" fmla="*/ 443 w 883"/>
                <a:gd name="T5" fmla="*/ 0 h 848"/>
                <a:gd name="T6" fmla="*/ 883 w 883"/>
                <a:gd name="T7" fmla="*/ 424 h 848"/>
                <a:gd name="T8" fmla="*/ 440 w 883"/>
                <a:gd name="T9" fmla="*/ 848 h 848"/>
                <a:gd name="T10" fmla="*/ 440 w 883"/>
                <a:gd name="T11" fmla="*/ 193 h 848"/>
                <a:gd name="T12" fmla="*/ 223 w 883"/>
                <a:gd name="T13" fmla="*/ 424 h 848"/>
                <a:gd name="T14" fmla="*/ 443 w 883"/>
                <a:gd name="T15" fmla="*/ 655 h 848"/>
                <a:gd name="T16" fmla="*/ 660 w 883"/>
                <a:gd name="T17" fmla="*/ 424 h 848"/>
                <a:gd name="T18" fmla="*/ 440 w 883"/>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848">
                  <a:moveTo>
                    <a:pt x="440" y="848"/>
                  </a:moveTo>
                  <a:cubicBezTo>
                    <a:pt x="193" y="848"/>
                    <a:pt x="0" y="665"/>
                    <a:pt x="0" y="424"/>
                  </a:cubicBezTo>
                  <a:cubicBezTo>
                    <a:pt x="0" y="186"/>
                    <a:pt x="195" y="0"/>
                    <a:pt x="443" y="0"/>
                  </a:cubicBezTo>
                  <a:cubicBezTo>
                    <a:pt x="690" y="0"/>
                    <a:pt x="883" y="183"/>
                    <a:pt x="883" y="424"/>
                  </a:cubicBezTo>
                  <a:cubicBezTo>
                    <a:pt x="883" y="662"/>
                    <a:pt x="688" y="848"/>
                    <a:pt x="440" y="848"/>
                  </a:cubicBezTo>
                  <a:moveTo>
                    <a:pt x="440" y="193"/>
                  </a:moveTo>
                  <a:cubicBezTo>
                    <a:pt x="314" y="193"/>
                    <a:pt x="223" y="288"/>
                    <a:pt x="223" y="424"/>
                  </a:cubicBezTo>
                  <a:cubicBezTo>
                    <a:pt x="223" y="554"/>
                    <a:pt x="320" y="655"/>
                    <a:pt x="443" y="655"/>
                  </a:cubicBezTo>
                  <a:cubicBezTo>
                    <a:pt x="569" y="655"/>
                    <a:pt x="660" y="557"/>
                    <a:pt x="660" y="424"/>
                  </a:cubicBezTo>
                  <a:cubicBezTo>
                    <a:pt x="660" y="294"/>
                    <a:pt x="564" y="193"/>
                    <a:pt x="440"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sp>
          <p:nvSpPr>
            <p:cNvPr id="126" name="Freeform 56"/>
            <p:cNvSpPr>
              <a:spLocks noEditPoints="1"/>
            </p:cNvSpPr>
            <p:nvPr userDrawn="1"/>
          </p:nvSpPr>
          <p:spPr bwMode="auto">
            <a:xfrm>
              <a:off x="6824663" y="1252538"/>
              <a:ext cx="804863" cy="774700"/>
            </a:xfrm>
            <a:custGeom>
              <a:avLst/>
              <a:gdLst>
                <a:gd name="T0" fmla="*/ 440 w 883"/>
                <a:gd name="T1" fmla="*/ 848 h 848"/>
                <a:gd name="T2" fmla="*/ 0 w 883"/>
                <a:gd name="T3" fmla="*/ 424 h 848"/>
                <a:gd name="T4" fmla="*/ 443 w 883"/>
                <a:gd name="T5" fmla="*/ 0 h 848"/>
                <a:gd name="T6" fmla="*/ 883 w 883"/>
                <a:gd name="T7" fmla="*/ 424 h 848"/>
                <a:gd name="T8" fmla="*/ 440 w 883"/>
                <a:gd name="T9" fmla="*/ 848 h 848"/>
                <a:gd name="T10" fmla="*/ 440 w 883"/>
                <a:gd name="T11" fmla="*/ 193 h 848"/>
                <a:gd name="T12" fmla="*/ 223 w 883"/>
                <a:gd name="T13" fmla="*/ 424 h 848"/>
                <a:gd name="T14" fmla="*/ 443 w 883"/>
                <a:gd name="T15" fmla="*/ 655 h 848"/>
                <a:gd name="T16" fmla="*/ 661 w 883"/>
                <a:gd name="T17" fmla="*/ 424 h 848"/>
                <a:gd name="T18" fmla="*/ 440 w 883"/>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848">
                  <a:moveTo>
                    <a:pt x="440" y="848"/>
                  </a:moveTo>
                  <a:cubicBezTo>
                    <a:pt x="194" y="848"/>
                    <a:pt x="0" y="665"/>
                    <a:pt x="0" y="424"/>
                  </a:cubicBezTo>
                  <a:cubicBezTo>
                    <a:pt x="0" y="186"/>
                    <a:pt x="195" y="0"/>
                    <a:pt x="443" y="0"/>
                  </a:cubicBezTo>
                  <a:cubicBezTo>
                    <a:pt x="690" y="0"/>
                    <a:pt x="883" y="183"/>
                    <a:pt x="883" y="424"/>
                  </a:cubicBezTo>
                  <a:cubicBezTo>
                    <a:pt x="883" y="662"/>
                    <a:pt x="688" y="848"/>
                    <a:pt x="440" y="848"/>
                  </a:cubicBezTo>
                  <a:moveTo>
                    <a:pt x="440" y="193"/>
                  </a:moveTo>
                  <a:cubicBezTo>
                    <a:pt x="314" y="193"/>
                    <a:pt x="223" y="288"/>
                    <a:pt x="223" y="424"/>
                  </a:cubicBezTo>
                  <a:cubicBezTo>
                    <a:pt x="223" y="554"/>
                    <a:pt x="320" y="655"/>
                    <a:pt x="443" y="655"/>
                  </a:cubicBezTo>
                  <a:cubicBezTo>
                    <a:pt x="569" y="655"/>
                    <a:pt x="661" y="557"/>
                    <a:pt x="661" y="424"/>
                  </a:cubicBezTo>
                  <a:cubicBezTo>
                    <a:pt x="661" y="294"/>
                    <a:pt x="564" y="193"/>
                    <a:pt x="440"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7"/>
            </a:p>
          </p:txBody>
        </p:sp>
      </p:grpSp>
      <p:sp>
        <p:nvSpPr>
          <p:cNvPr id="24" name="Title 16">
            <a:extLst>
              <a:ext uri="{FF2B5EF4-FFF2-40B4-BE49-F238E27FC236}">
                <a16:creationId xmlns:a16="http://schemas.microsoft.com/office/drawing/2014/main" id="{542F2901-56C5-6245-B188-570498220D2B}"/>
              </a:ext>
            </a:extLst>
          </p:cNvPr>
          <p:cNvSpPr>
            <a:spLocks noGrp="1"/>
          </p:cNvSpPr>
          <p:nvPr>
            <p:ph type="title" hasCustomPrompt="1"/>
          </p:nvPr>
        </p:nvSpPr>
        <p:spPr bwMode="gray">
          <a:xfrm>
            <a:off x="548782" y="1391550"/>
            <a:ext cx="9960410" cy="2405203"/>
          </a:xfrm>
          <a:prstGeom prst="rect">
            <a:avLst/>
          </a:prstGeom>
        </p:spPr>
        <p:txBody>
          <a:bodyPr lIns="0" tIns="0" rIns="0" bIns="0" anchor="b" anchorCtr="0"/>
          <a:lstStyle>
            <a:lvl1pPr marL="0" algn="l" defTabSz="1217890" rtl="0" eaLnBrk="1" latinLnBrk="0" hangingPunct="1">
              <a:lnSpc>
                <a:spcPts val="4997"/>
              </a:lnSpc>
              <a:spcBef>
                <a:spcPct val="0"/>
              </a:spcBef>
              <a:buNone/>
              <a:defRPr lang="en-US" sz="5994" b="1" kern="1200" cap="none" spc="-150" baseline="0" dirty="0">
                <a:solidFill>
                  <a:schemeClr val="bg1"/>
                </a:solidFill>
                <a:latin typeface="Arial" pitchFamily="34" charset="0"/>
                <a:ea typeface="+mn-ea"/>
                <a:cs typeface="Arial" pitchFamily="34" charset="0"/>
              </a:defRPr>
            </a:lvl1pPr>
          </a:lstStyle>
          <a:p>
            <a:r>
              <a:rPr lang="en-US"/>
              <a:t>Section Header</a:t>
            </a:r>
          </a:p>
        </p:txBody>
      </p:sp>
    </p:spTree>
    <p:extLst>
      <p:ext uri="{BB962C8B-B14F-4D97-AF65-F5344CB8AC3E}">
        <p14:creationId xmlns:p14="http://schemas.microsoft.com/office/powerpoint/2010/main" val="3225533258"/>
      </p:ext>
    </p:extLst>
  </p:cSld>
  <p:clrMapOvr>
    <a:masterClrMapping/>
  </p:clrMapOvr>
  <p:transition spd="med"/>
</p:sldLayout>
</file>

<file path=ppt/slideLayouts/slideLayout305.xml><?xml version="1.0" encoding="utf-8"?>
<p:sldLayout xmlns:a="http://schemas.openxmlformats.org/drawingml/2006/main" xmlns:r="http://schemas.openxmlformats.org/officeDocument/2006/relationships" xmlns:p="http://schemas.openxmlformats.org/presentationml/2006/main" userDrawn="1">
  <p:cSld name="Title Slide_Photo">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77432" y="-266700"/>
            <a:ext cx="12669432" cy="7124700"/>
          </a:xfrm>
          <a:prstGeom prst="rect">
            <a:avLst/>
          </a:prstGeom>
        </p:spPr>
      </p:pic>
      <p:sp>
        <p:nvSpPr>
          <p:cNvPr id="7" name="矩形 6"/>
          <p:cNvSpPr/>
          <p:nvPr userDrawn="1"/>
        </p:nvSpPr>
        <p:spPr>
          <a:xfrm>
            <a:off x="-477432" y="-266700"/>
            <a:ext cx="12669432" cy="7124700"/>
          </a:xfrm>
          <a:prstGeom prst="rect">
            <a:avLst/>
          </a:prstGeom>
          <a:solidFill>
            <a:schemeClr val="bg2">
              <a:lumMod val="75000"/>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98"/>
          </a:p>
        </p:txBody>
      </p:sp>
      <p:sp>
        <p:nvSpPr>
          <p:cNvPr id="18" name="Title 16"/>
          <p:cNvSpPr>
            <a:spLocks noGrp="1"/>
          </p:cNvSpPr>
          <p:nvPr>
            <p:ph type="title" hasCustomPrompt="1"/>
          </p:nvPr>
        </p:nvSpPr>
        <p:spPr bwMode="gray">
          <a:xfrm>
            <a:off x="548783" y="1437136"/>
            <a:ext cx="9962830" cy="3026868"/>
          </a:xfrm>
          <a:prstGeom prst="rect">
            <a:avLst/>
          </a:prstGeom>
        </p:spPr>
        <p:txBody>
          <a:bodyPr lIns="0" tIns="60949" rIns="121899" bIns="60949" anchor="b" anchorCtr="0"/>
          <a:lstStyle>
            <a:lvl1pPr marL="0" algn="l" defTabSz="1217834" rtl="0" eaLnBrk="1" latinLnBrk="0" hangingPunct="1">
              <a:lnSpc>
                <a:spcPts val="7496"/>
              </a:lnSpc>
              <a:spcBef>
                <a:spcPct val="0"/>
              </a:spcBef>
              <a:buNone/>
              <a:defRPr lang="en-US" sz="7196" b="1" kern="1200" cap="none" spc="-150" baseline="0" dirty="0">
                <a:solidFill>
                  <a:schemeClr val="bg1"/>
                </a:solidFill>
                <a:latin typeface="微软雅黑" panose="020B0502040204020203" pitchFamily="34" charset="-122"/>
                <a:ea typeface="微软雅黑" panose="020B0502040204020203" pitchFamily="34" charset="-122"/>
                <a:cs typeface="Arial" panose="020B0604020202020204" pitchFamily="34" charset="0"/>
              </a:defRPr>
            </a:lvl1pPr>
          </a:lstStyle>
          <a:p>
            <a:r>
              <a:rPr lang="zh-CN" altLang="en-US"/>
              <a:t>图片版</a:t>
            </a:r>
            <a:br>
              <a:rPr lang="en-US" altLang="zh-CN"/>
            </a:br>
            <a:r>
              <a:rPr lang="zh-CN" altLang="en-US"/>
              <a:t>演示标题</a:t>
            </a:r>
            <a:br>
              <a:rPr lang="en-US" altLang="zh-CN"/>
            </a:br>
            <a:r>
              <a:rPr lang="zh-CN" altLang="en-US"/>
              <a:t>区域</a:t>
            </a:r>
            <a:endParaRPr lang="en-US"/>
          </a:p>
        </p:txBody>
      </p:sp>
      <p:sp>
        <p:nvSpPr>
          <p:cNvPr id="19" name="Subtitle 2"/>
          <p:cNvSpPr>
            <a:spLocks noGrp="1"/>
          </p:cNvSpPr>
          <p:nvPr>
            <p:ph type="subTitle" idx="1" hasCustomPrompt="1"/>
          </p:nvPr>
        </p:nvSpPr>
        <p:spPr bwMode="gray">
          <a:xfrm>
            <a:off x="548783" y="5205790"/>
            <a:ext cx="9952388" cy="457200"/>
          </a:xfrm>
          <a:prstGeom prst="rect">
            <a:avLst/>
          </a:prstGeom>
        </p:spPr>
        <p:txBody>
          <a:bodyPr lIns="0" tIns="0" rIns="0" bIns="0" anchor="b" anchorCtr="0"/>
          <a:lstStyle>
            <a:lvl1pPr marL="0" indent="0" algn="l" defTabSz="1217834" rtl="0" eaLnBrk="1" latinLnBrk="0" hangingPunct="1">
              <a:lnSpc>
                <a:spcPct val="90000"/>
              </a:lnSpc>
              <a:spcBef>
                <a:spcPct val="0"/>
              </a:spcBef>
              <a:buNone/>
              <a:defRPr lang="en-US" sz="2598" b="0" kern="1200" cap="none" spc="0" baseline="0" dirty="0">
                <a:solidFill>
                  <a:schemeClr val="bg1"/>
                </a:solidFill>
                <a:latin typeface="微软雅黑" panose="020B0502040204020203" pitchFamily="34" charset="-122"/>
                <a:ea typeface="微软雅黑" panose="020B0502040204020203" pitchFamily="34" charset="-122"/>
                <a:cs typeface="Arial" panose="020B0604020202020204" pitchFamily="34" charset="0"/>
              </a:defRPr>
            </a:lvl1pPr>
            <a:lvl2pPr marL="609234" indent="0" algn="ctr">
              <a:buNone/>
              <a:defRPr>
                <a:solidFill>
                  <a:schemeClr val="tx1">
                    <a:tint val="75000"/>
                  </a:schemeClr>
                </a:solidFill>
              </a:defRPr>
            </a:lvl2pPr>
            <a:lvl3pPr marL="1218468" indent="0" algn="ctr">
              <a:buNone/>
              <a:defRPr>
                <a:solidFill>
                  <a:schemeClr val="tx1">
                    <a:tint val="75000"/>
                  </a:schemeClr>
                </a:solidFill>
              </a:defRPr>
            </a:lvl3pPr>
            <a:lvl4pPr marL="1827069" indent="0" algn="ctr">
              <a:buNone/>
              <a:defRPr>
                <a:solidFill>
                  <a:schemeClr val="tx1">
                    <a:tint val="75000"/>
                  </a:schemeClr>
                </a:solidFill>
              </a:defRPr>
            </a:lvl4pPr>
            <a:lvl5pPr marL="2436303" indent="0" algn="ctr">
              <a:buNone/>
              <a:defRPr>
                <a:solidFill>
                  <a:schemeClr val="tx1">
                    <a:tint val="75000"/>
                  </a:schemeClr>
                </a:solidFill>
              </a:defRPr>
            </a:lvl5pPr>
            <a:lvl6pPr marL="3045537" indent="0" algn="ctr">
              <a:buNone/>
              <a:defRPr>
                <a:solidFill>
                  <a:schemeClr val="tx1">
                    <a:tint val="75000"/>
                  </a:schemeClr>
                </a:solidFill>
              </a:defRPr>
            </a:lvl6pPr>
            <a:lvl7pPr marL="3654771" indent="0" algn="ctr">
              <a:buNone/>
              <a:defRPr>
                <a:solidFill>
                  <a:schemeClr val="tx1">
                    <a:tint val="75000"/>
                  </a:schemeClr>
                </a:solidFill>
              </a:defRPr>
            </a:lvl7pPr>
            <a:lvl8pPr marL="4264005" indent="0" algn="ctr">
              <a:buNone/>
              <a:defRPr>
                <a:solidFill>
                  <a:schemeClr val="tx1">
                    <a:tint val="75000"/>
                  </a:schemeClr>
                </a:solidFill>
              </a:defRPr>
            </a:lvl8pPr>
            <a:lvl9pPr marL="4873240" indent="0" algn="ctr">
              <a:buNone/>
              <a:defRPr>
                <a:solidFill>
                  <a:schemeClr val="tx1">
                    <a:tint val="75000"/>
                  </a:schemeClr>
                </a:solidFill>
              </a:defRPr>
            </a:lvl9pPr>
          </a:lstStyle>
          <a:p>
            <a:r>
              <a:rPr lang="zh-CN" altLang="en-US"/>
              <a:t>副标题注解区域</a:t>
            </a:r>
            <a:endParaRPr lang="en-US"/>
          </a:p>
        </p:txBody>
      </p:sp>
      <p:sp>
        <p:nvSpPr>
          <p:cNvPr id="11" name="Footer Placeholder 1"/>
          <p:cNvSpPr txBox="1"/>
          <p:nvPr userDrawn="1"/>
        </p:nvSpPr>
        <p:spPr>
          <a:xfrm>
            <a:off x="484652" y="6291017"/>
            <a:ext cx="2317663" cy="227518"/>
          </a:xfrm>
          <a:prstGeom prst="rect">
            <a:avLst/>
          </a:prstGeom>
        </p:spPr>
        <p:txBody>
          <a:bodyPr/>
          <a:lstStyle>
            <a:defPPr>
              <a:defRPr lang="en-US"/>
            </a:defPPr>
            <a:lvl1pPr marL="0" algn="l" defTabSz="1218565" rtl="0" eaLnBrk="1" latinLnBrk="0" hangingPunct="1">
              <a:defRPr sz="900" kern="1200">
                <a:solidFill>
                  <a:schemeClr val="bg1"/>
                </a:solidFill>
                <a:latin typeface="+mn-lt"/>
                <a:ea typeface="+mn-ea"/>
                <a:cs typeface="+mn-cs"/>
              </a:defRPr>
            </a:lvl1pPr>
            <a:lvl2pPr marL="609600" algn="l" defTabSz="1218565" rtl="0" eaLnBrk="1" latinLnBrk="0" hangingPunct="1">
              <a:defRPr sz="2400" kern="1200">
                <a:solidFill>
                  <a:schemeClr val="tx1"/>
                </a:solidFill>
                <a:latin typeface="+mn-lt"/>
                <a:ea typeface="+mn-ea"/>
                <a:cs typeface="+mn-cs"/>
              </a:defRPr>
            </a:lvl2pPr>
            <a:lvl3pPr marL="1219200" algn="l" defTabSz="1218565" rtl="0" eaLnBrk="1" latinLnBrk="0" hangingPunct="1">
              <a:defRPr sz="2400" kern="1200">
                <a:solidFill>
                  <a:schemeClr val="tx1"/>
                </a:solidFill>
                <a:latin typeface="+mn-lt"/>
                <a:ea typeface="+mn-ea"/>
                <a:cs typeface="+mn-cs"/>
              </a:defRPr>
            </a:lvl3pPr>
            <a:lvl4pPr marL="1828165" algn="l" defTabSz="1218565" rtl="0" eaLnBrk="1" latinLnBrk="0" hangingPunct="1">
              <a:defRPr sz="2400" kern="1200">
                <a:solidFill>
                  <a:schemeClr val="tx1"/>
                </a:solidFill>
                <a:latin typeface="+mn-lt"/>
                <a:ea typeface="+mn-ea"/>
                <a:cs typeface="+mn-cs"/>
              </a:defRPr>
            </a:lvl4pPr>
            <a:lvl5pPr marL="2437765" algn="l" defTabSz="1218565" rtl="0" eaLnBrk="1" latinLnBrk="0" hangingPunct="1">
              <a:defRPr sz="2400" kern="1200">
                <a:solidFill>
                  <a:schemeClr val="tx1"/>
                </a:solidFill>
                <a:latin typeface="+mn-lt"/>
                <a:ea typeface="+mn-ea"/>
                <a:cs typeface="+mn-cs"/>
              </a:defRPr>
            </a:lvl5pPr>
            <a:lvl6pPr marL="3047365" algn="l" defTabSz="1218565" rtl="0" eaLnBrk="1" latinLnBrk="0" hangingPunct="1">
              <a:defRPr sz="2400" kern="1200">
                <a:solidFill>
                  <a:schemeClr val="tx1"/>
                </a:solidFill>
                <a:latin typeface="+mn-lt"/>
                <a:ea typeface="+mn-ea"/>
                <a:cs typeface="+mn-cs"/>
              </a:defRPr>
            </a:lvl6pPr>
            <a:lvl7pPr marL="3656965" algn="l" defTabSz="1218565" rtl="0" eaLnBrk="1" latinLnBrk="0" hangingPunct="1">
              <a:defRPr sz="2400" kern="1200">
                <a:solidFill>
                  <a:schemeClr val="tx1"/>
                </a:solidFill>
                <a:latin typeface="+mn-lt"/>
                <a:ea typeface="+mn-ea"/>
                <a:cs typeface="+mn-cs"/>
              </a:defRPr>
            </a:lvl7pPr>
            <a:lvl8pPr marL="4266565" algn="l" defTabSz="1218565" rtl="0" eaLnBrk="1" latinLnBrk="0" hangingPunct="1">
              <a:defRPr sz="2400" kern="1200">
                <a:solidFill>
                  <a:schemeClr val="tx1"/>
                </a:solidFill>
                <a:latin typeface="+mn-lt"/>
                <a:ea typeface="+mn-ea"/>
                <a:cs typeface="+mn-cs"/>
              </a:defRPr>
            </a:lvl8pPr>
            <a:lvl9pPr marL="4876165" algn="l" defTabSz="1218565" rtl="0" eaLnBrk="1" latinLnBrk="0" hangingPunct="1">
              <a:defRPr sz="2400" kern="1200">
                <a:solidFill>
                  <a:schemeClr val="tx1"/>
                </a:solidFill>
                <a:latin typeface="+mn-lt"/>
                <a:ea typeface="+mn-ea"/>
                <a:cs typeface="+mn-cs"/>
              </a:defRPr>
            </a:lvl9pPr>
          </a:lstStyle>
          <a:p>
            <a:r>
              <a:rPr lang="en-US" sz="900">
                <a:solidFill>
                  <a:schemeClr val="bg1"/>
                </a:solidFill>
              </a:rPr>
              <a:t>20</a:t>
            </a:r>
            <a:r>
              <a:rPr lang="en-US" altLang="zh-CN" sz="900">
                <a:solidFill>
                  <a:schemeClr val="bg1"/>
                </a:solidFill>
              </a:rPr>
              <a:t>22</a:t>
            </a:r>
            <a:r>
              <a:rPr lang="en-US" sz="900">
                <a:solidFill>
                  <a:schemeClr val="bg1"/>
                </a:solidFill>
              </a:rPr>
              <a:t> Lenovo Internal. All rights reserved.</a:t>
            </a:r>
          </a:p>
        </p:txBody>
      </p:sp>
      <p:pic>
        <p:nvPicPr>
          <p:cNvPr id="8" name="图片 7"/>
          <p:cNvPicPr>
            <a:picLocks noChangeAspect="1"/>
          </p:cNvPicPr>
          <p:nvPr userDrawn="1"/>
        </p:nvPicPr>
        <p:blipFill>
          <a:blip r:embed="rId3"/>
          <a:stretch>
            <a:fillRect/>
          </a:stretch>
        </p:blipFill>
        <p:spPr>
          <a:xfrm>
            <a:off x="9051312" y="5697501"/>
            <a:ext cx="2502310" cy="501203"/>
          </a:xfrm>
          <a:prstGeom prst="rect">
            <a:avLst/>
          </a:prstGeom>
        </p:spPr>
      </p:pic>
    </p:spTree>
    <p:extLst>
      <p:ext uri="{BB962C8B-B14F-4D97-AF65-F5344CB8AC3E}">
        <p14:creationId xmlns:p14="http://schemas.microsoft.com/office/powerpoint/2010/main" val="1714643795"/>
      </p:ext>
    </p:extLst>
  </p:cSld>
  <p:clrMapOvr>
    <a:masterClrMapping/>
  </p:clrMapOvr>
  <p:transition spd="med"/>
</p:sldLayout>
</file>

<file path=ppt/slideLayouts/slideLayout306.xml><?xml version="1.0" encoding="utf-8"?>
<p:sldLayout xmlns:a="http://schemas.openxmlformats.org/drawingml/2006/main" xmlns:r="http://schemas.openxmlformats.org/officeDocument/2006/relationships" xmlns:p="http://schemas.openxmlformats.org/presentationml/2006/main" userDrawn="1">
  <p:cSld name="5_Title Only">
    <p:spTree>
      <p:nvGrpSpPr>
        <p:cNvPr id="1" name=""/>
        <p:cNvGrpSpPr/>
        <p:nvPr/>
      </p:nvGrpSpPr>
      <p:grpSpPr>
        <a:xfrm>
          <a:off x="0" y="0"/>
          <a:ext cx="0" cy="0"/>
          <a:chOff x="0" y="0"/>
          <a:chExt cx="0" cy="0"/>
        </a:xfrm>
      </p:grpSpPr>
      <p:sp>
        <p:nvSpPr>
          <p:cNvPr id="6" name="Text Placeholder 2">
            <a:extLst>
              <a:ext uri="{FF2B5EF4-FFF2-40B4-BE49-F238E27FC236}">
                <a16:creationId xmlns:a16="http://schemas.microsoft.com/office/drawing/2014/main" id="{AF2A82E2-E356-4E65-B732-6515BA3FDA92}"/>
              </a:ext>
            </a:extLst>
          </p:cNvPr>
          <p:cNvSpPr>
            <a:spLocks noGrp="1"/>
          </p:cNvSpPr>
          <p:nvPr>
            <p:ph type="body" idx="11" hasCustomPrompt="1"/>
          </p:nvPr>
        </p:nvSpPr>
        <p:spPr bwMode="gray">
          <a:xfrm>
            <a:off x="557930" y="914400"/>
            <a:ext cx="11076268" cy="292608"/>
          </a:xfrm>
          <a:prstGeom prst="rect">
            <a:avLst/>
          </a:prstGeom>
        </p:spPr>
        <p:txBody>
          <a:bodyPr lIns="0" tIns="0" rIns="0" bIns="0" anchor="t" anchorCtr="0">
            <a:noAutofit/>
          </a:bodyPr>
          <a:lstStyle>
            <a:lvl1pPr marL="0" indent="0">
              <a:spcBef>
                <a:spcPts val="0"/>
              </a:spcBef>
              <a:buNone/>
              <a:defRPr sz="1796" b="0">
                <a:solidFill>
                  <a:schemeClr val="tx1"/>
                </a:solidFill>
                <a:latin typeface="+mn-lt"/>
                <a:cs typeface="Arial" pitchFamily="34" charset="0"/>
              </a:defRPr>
            </a:lvl1pPr>
            <a:lvl2pPr marL="608761" indent="0">
              <a:buNone/>
              <a:defRPr sz="2696" b="1"/>
            </a:lvl2pPr>
            <a:lvl3pPr marL="1217525" indent="0">
              <a:buNone/>
              <a:defRPr sz="2396" b="1"/>
            </a:lvl3pPr>
            <a:lvl4pPr marL="1826287" indent="0">
              <a:buNone/>
              <a:defRPr sz="2096" b="1"/>
            </a:lvl4pPr>
            <a:lvl5pPr marL="2435049" indent="0">
              <a:buNone/>
              <a:defRPr sz="2096" b="1"/>
            </a:lvl5pPr>
            <a:lvl6pPr marL="3043812" indent="0">
              <a:buNone/>
              <a:defRPr sz="2096" b="1"/>
            </a:lvl6pPr>
            <a:lvl7pPr marL="3652574" indent="0">
              <a:buNone/>
              <a:defRPr sz="2096" b="1"/>
            </a:lvl7pPr>
            <a:lvl8pPr marL="4261335" indent="0">
              <a:buNone/>
              <a:defRPr sz="2096" b="1"/>
            </a:lvl8pPr>
            <a:lvl9pPr marL="4870099" indent="0">
              <a:buNone/>
              <a:defRPr sz="2096" b="1"/>
            </a:lvl9pPr>
          </a:lstStyle>
          <a:p>
            <a:pPr lvl="0"/>
            <a:r>
              <a:rPr lang="en-US"/>
              <a:t> to edit Master text styles</a:t>
            </a:r>
          </a:p>
        </p:txBody>
      </p:sp>
      <p:graphicFrame>
        <p:nvGraphicFramePr>
          <p:cNvPr id="2" name="Object 1" hidden="1"/>
          <p:cNvGraphicFramePr>
            <a:graphicFrameLocks noChangeAspect="1"/>
          </p:cNvGraphicFramePr>
          <p:nvPr userDrawn="1">
            <p:custDataLst>
              <p:tags r:id="rId1"/>
            </p:custDataLst>
          </p:nvPr>
        </p:nvGraphicFramePr>
        <p:xfrm>
          <a:off x="1593" y="1597"/>
          <a:ext cx="1587" cy="1587"/>
        </p:xfrm>
        <a:graphic>
          <a:graphicData uri="http://schemas.openxmlformats.org/presentationml/2006/ole">
            <mc:AlternateContent xmlns:mc="http://schemas.openxmlformats.org/markup-compatibility/2006">
              <mc:Choice xmlns:v="urn:schemas-microsoft-com:vml" Requires="v">
                <p:oleObj name="think-cell Slide" r:id="rId4" imgW="508" imgH="508" progId="TCLayout.ActiveDocument.1">
                  <p:embed/>
                </p:oleObj>
              </mc:Choice>
              <mc:Fallback>
                <p:oleObj name="think-cell Slide" r:id="rId4" imgW="508" imgH="508" progId="TCLayout.ActiveDocument.1">
                  <p:embed/>
                  <p:pic>
                    <p:nvPicPr>
                      <p:cNvPr id="2" name="Object 1" hidden="1"/>
                      <p:cNvPicPr/>
                      <p:nvPr/>
                    </p:nvPicPr>
                    <p:blipFill>
                      <a:blip r:embed="rId5"/>
                      <a:stretch>
                        <a:fillRect/>
                      </a:stretch>
                    </p:blipFill>
                    <p:spPr>
                      <a:xfrm>
                        <a:off x="1593" y="1597"/>
                        <a:ext cx="1587" cy="1587"/>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6A04CCC1-2C90-44F6-9C76-69B95A27578A}"/>
              </a:ext>
            </a:extLst>
          </p:cNvPr>
          <p:cNvSpPr/>
          <p:nvPr userDrawn="1">
            <p:custDataLst>
              <p:tags r:id="rId2"/>
            </p:custDataLst>
          </p:nvPr>
        </p:nvSpPr>
        <p:spPr>
          <a:xfrm>
            <a:off x="4" y="0"/>
            <a:ext cx="158750" cy="1587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marL="0" lvl="0" indent="0" algn="ctr" eaLnBrk="1">
              <a:lnSpc>
                <a:spcPct val="100000"/>
              </a:lnSpc>
              <a:spcBef>
                <a:spcPct val="0"/>
              </a:spcBef>
              <a:spcAft>
                <a:spcPct val="0"/>
              </a:spcAft>
            </a:pPr>
            <a:endParaRPr lang="en-US" sz="2796" b="1" i="0" baseline="0">
              <a:latin typeface="Open Sans" panose="020B0606030504020204" pitchFamily="34" charset="0"/>
              <a:ea typeface="+mj-ea"/>
              <a:cs typeface="Arial" panose="020B0604020202020204" pitchFamily="34" charset="0"/>
              <a:sym typeface="Open Sans" panose="020B0606030504020204" pitchFamily="34" charset="0"/>
            </a:endParaRPr>
          </a:p>
        </p:txBody>
      </p:sp>
      <p:sp>
        <p:nvSpPr>
          <p:cNvPr id="3" name="Title 2">
            <a:extLst>
              <a:ext uri="{FF2B5EF4-FFF2-40B4-BE49-F238E27FC236}">
                <a16:creationId xmlns:a16="http://schemas.microsoft.com/office/drawing/2014/main" id="{6B86DA36-CF0D-4BD0-BC5C-53D6B40A47BE}"/>
              </a:ext>
            </a:extLst>
          </p:cNvPr>
          <p:cNvSpPr>
            <a:spLocks noGrp="1"/>
          </p:cNvSpPr>
          <p:nvPr>
            <p:ph type="title"/>
          </p:nvPr>
        </p:nvSpPr>
        <p:spPr/>
        <p:txBody>
          <a:bodyPr/>
          <a:lstStyle/>
          <a:p>
            <a:r>
              <a:rPr lang="en-US"/>
              <a:t>Click to edit Master title style</a:t>
            </a:r>
          </a:p>
        </p:txBody>
      </p:sp>
      <p:sp>
        <p:nvSpPr>
          <p:cNvPr id="4" name="Slide Number Placeholder 3">
            <a:extLst>
              <a:ext uri="{FF2B5EF4-FFF2-40B4-BE49-F238E27FC236}">
                <a16:creationId xmlns:a16="http://schemas.microsoft.com/office/drawing/2014/main" id="{47CB6638-1A88-497C-BAC0-E0CC6F961C3C}"/>
              </a:ext>
            </a:extLst>
          </p:cNvPr>
          <p:cNvSpPr>
            <a:spLocks noGrp="1"/>
          </p:cNvSpPr>
          <p:nvPr>
            <p:ph type="sldNum" sz="quarter" idx="10"/>
          </p:nvPr>
        </p:nvSpPr>
        <p:spPr/>
        <p:txBody>
          <a:bodyPr/>
          <a:lstStyle/>
          <a:p>
            <a:pPr algn="ctr"/>
            <a:fld id="{4CDEA398-9212-4567-91A3-BCE54ECD0B59}" type="slidenum">
              <a:rPr lang="en-US" smtClean="0"/>
              <a:pPr algn="ctr"/>
              <a:t>‹#›</a:t>
            </a:fld>
            <a:endParaRPr lang="en-US"/>
          </a:p>
        </p:txBody>
      </p:sp>
    </p:spTree>
    <p:extLst>
      <p:ext uri="{BB962C8B-B14F-4D97-AF65-F5344CB8AC3E}">
        <p14:creationId xmlns:p14="http://schemas.microsoft.com/office/powerpoint/2010/main" val="3734344723"/>
      </p:ext>
    </p:extLst>
  </p:cSld>
  <p:clrMapOvr>
    <a:masterClrMapping/>
  </p:clrMapOvr>
  <p:transition spd="med"/>
</p:sldLayout>
</file>

<file path=ppt/slideLayouts/slideLayout307.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7746323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2"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498" b="1" i="0" baseline="0">
              <a:solidFill>
                <a:schemeClr val="bg1"/>
              </a:solidFill>
              <a:latin typeface="Arial" panose="020B0604020202020204" pitchFamily="34" charset="0"/>
              <a:ea typeface="+mj-ea"/>
              <a:cs typeface="+mj-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7" y="919254"/>
            <a:ext cx="11082528" cy="66159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b="0" baseline="0" dirty="0"/>
            </a:lvl1pPr>
          </a:lstStyle>
          <a:p>
            <a:pPr lvl="0">
              <a:buNone/>
            </a:pPr>
            <a:r>
              <a:rPr lang="en-US"/>
              <a:t>Click to edit Master subtitle style</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4"/>
            </p:custDataLst>
          </p:nvPr>
        </p:nvSpPr>
        <p:spPr>
          <a:xfrm>
            <a:off x="554737" y="41601"/>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800" b="0" dirty="0">
                <a:cs typeface="+mn-cs"/>
              </a:defRPr>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5"/>
            </p:custDataLst>
          </p:nvPr>
        </p:nvSpPr>
        <p:spPr>
          <a:xfrm>
            <a:off x="554737" y="172212"/>
            <a:ext cx="11082528" cy="731520"/>
          </a:xfrm>
          <a:prstGeom prst="rect">
            <a:avLst/>
          </a:prstGeom>
        </p:spPr>
        <p:txBody>
          <a:bodyPr vert="horz" wrap="square" lIns="0" tIns="0" rIns="0" bIns="0" rtlCol="0" anchor="b" anchorCtr="0">
            <a:noAutofit/>
          </a:bodyPr>
          <a:lstStyle>
            <a:lvl1pPr>
              <a:defRPr lang="en-US" dirty="0"/>
            </a:lvl1pPr>
          </a:lstStyle>
          <a:p>
            <a:pPr lvl="0"/>
            <a:r>
              <a:rPr lang="en-US"/>
              <a:t>Click to edit Master title style</a:t>
            </a:r>
          </a:p>
        </p:txBody>
      </p:sp>
      <p:sp>
        <p:nvSpPr>
          <p:cNvPr id="12" name="Slide Number">
            <a:extLst>
              <a:ext uri="{FF2B5EF4-FFF2-40B4-BE49-F238E27FC236}">
                <a16:creationId xmlns:a16="http://schemas.microsoft.com/office/drawing/2014/main" id="{A7D78624-1011-4805-A38F-2790B0C90EC1}"/>
              </a:ext>
            </a:extLst>
          </p:cNvPr>
          <p:cNvSpPr>
            <a:spLocks noChangeArrowheads="1"/>
          </p:cNvSpPr>
          <p:nvPr userDrawn="1">
            <p:custDataLst>
              <p:tags r:id="rId6"/>
            </p:custDataLst>
          </p:nvPr>
        </p:nvSpPr>
        <p:spPr bwMode="black">
          <a:xfrm>
            <a:off x="11312527" y="6474741"/>
            <a:ext cx="325501" cy="138499"/>
          </a:xfrm>
          <a:prstGeom prst="rect">
            <a:avLst/>
          </a:prstGeom>
          <a:noFill/>
          <a:ln w="9525" algn="ctr">
            <a:noFill/>
            <a:miter lim="800000"/>
            <a:headEnd/>
            <a:tailEnd/>
          </a:ln>
          <a:effectLst/>
        </p:spPr>
        <p:txBody>
          <a:bodyPr wrap="square" lIns="0" tIns="0" rIns="0" bIns="0" anchor="b">
            <a:spAutoFit/>
          </a:bodyPr>
          <a:lstStyle/>
          <a:p>
            <a:pPr algn="r" defTabSz="610378" rtl="0" fontAlgn="auto">
              <a:spcBef>
                <a:spcPts val="0"/>
              </a:spcBef>
              <a:spcAft>
                <a:spcPts val="0"/>
              </a:spcAft>
              <a:defRPr/>
            </a:pPr>
            <a:fld id="{4ABDCABE-3F10-B64C-92F1-862014417034}" type="slidenum">
              <a:rPr lang="en-US" sz="900" b="0" smtClean="0">
                <a:solidFill>
                  <a:schemeClr val="tx1"/>
                </a:solidFill>
                <a:latin typeface="+mn-lt"/>
                <a:ea typeface="+mn-ea"/>
                <a:cs typeface="Arial" panose="020B0604020202020204" pitchFamily="34" charset="0"/>
              </a:rPr>
              <a:pPr algn="r" defTabSz="610378" rtl="0" fontAlgn="auto">
                <a:spcBef>
                  <a:spcPts val="0"/>
                </a:spcBef>
                <a:spcAft>
                  <a:spcPts val="0"/>
                </a:spcAft>
                <a:defRPr/>
              </a:pPr>
              <a:t>‹#›</a:t>
            </a:fld>
            <a:endParaRPr lang="en-US" sz="900" b="0">
              <a:solidFill>
                <a:schemeClr val="tx1"/>
              </a:solidFill>
              <a:latin typeface="+mn-lt"/>
              <a:ea typeface="+mn-ea"/>
              <a:cs typeface="Arial" panose="020B0604020202020204" pitchFamily="34" charset="0"/>
            </a:endParaRPr>
          </a:p>
        </p:txBody>
      </p:sp>
      <p:sp>
        <p:nvSpPr>
          <p:cNvPr id="13" name="5. Source" hidden="1">
            <a:extLst>
              <a:ext uri="{FF2B5EF4-FFF2-40B4-BE49-F238E27FC236}">
                <a16:creationId xmlns:a16="http://schemas.microsoft.com/office/drawing/2014/main" id="{F172C844-171A-4841-A93B-2ED21E411498}"/>
              </a:ext>
            </a:extLst>
          </p:cNvPr>
          <p:cNvSpPr txBox="1"/>
          <p:nvPr userDrawn="1">
            <p:custDataLst>
              <p:tags r:id="rId7"/>
            </p:custDataLst>
          </p:nvPr>
        </p:nvSpPr>
        <p:spPr>
          <a:xfrm>
            <a:off x="554737" y="6255866"/>
            <a:ext cx="7277861" cy="123111"/>
          </a:xfrm>
          <a:prstGeom prst="rect">
            <a:avLst/>
          </a:prstGeom>
        </p:spPr>
        <p:txBody>
          <a:bodyPr vert="horz" wrap="square" lIns="0" tIns="0" rIns="0" bIns="0" rtlCol="0" anchor="b">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Tree>
    <p:extLst>
      <p:ext uri="{BB962C8B-B14F-4D97-AF65-F5344CB8AC3E}">
        <p14:creationId xmlns:p14="http://schemas.microsoft.com/office/powerpoint/2010/main" val="3754580406"/>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cSld name="Title &amp; 1 column text">
    <p:spTree>
      <p:nvGrpSpPr>
        <p:cNvPr id="1" name=""/>
        <p:cNvGrpSpPr/>
        <p:nvPr/>
      </p:nvGrpSpPr>
      <p:grpSpPr>
        <a:xfrm>
          <a:off x="0" y="0"/>
          <a:ext cx="0" cy="0"/>
          <a:chOff x="0" y="0"/>
          <a:chExt cx="0" cy="0"/>
        </a:xfrm>
      </p:grpSpPr>
      <p:sp>
        <p:nvSpPr>
          <p:cNvPr id="14" name="文字"/>
          <p:cNvSpPr>
            <a:spLocks noGrp="1"/>
          </p:cNvSpPr>
          <p:nvPr>
            <p:ph idx="1"/>
          </p:nvPr>
        </p:nvSpPr>
        <p:spPr>
          <a:xfrm>
            <a:off x="501651" y="1665289"/>
            <a:ext cx="11165416" cy="4716463"/>
          </a:xfrm>
          <a:prstGeom prst="rect">
            <a:avLst/>
          </a:prstGeom>
        </p:spPr>
        <p:txBody>
          <a:bodyPr vert="horz" lIns="0" tIns="0" rIns="0" bIns="0" rtlCol="0">
            <a:normAutofit/>
          </a:bodyPr>
          <a:lstStyle>
            <a:lvl1pPr>
              <a:defRPr>
                <a:latin typeface="+mn-lt"/>
              </a:defRPr>
            </a:lvl1pPr>
            <a:lvl2pPr>
              <a:defRPr>
                <a:latin typeface="+mj-lt"/>
              </a:defRPr>
            </a:lvl2pPr>
            <a:lvl3pPr>
              <a:defRPr>
                <a:latin typeface="+mn-lt"/>
              </a:defRPr>
            </a:lvl3pPr>
            <a:lvl4pPr>
              <a:defRPr>
                <a:latin typeface="+mn-lt"/>
              </a:defRPr>
            </a:lvl4pPr>
            <a:lvl5pPr>
              <a:defRPr>
                <a:latin typeface="+mn-lt"/>
              </a:defRPr>
            </a:lvl5pPr>
          </a:lstStyle>
          <a:p>
            <a:pPr lvl="0"/>
            <a:r>
              <a:rPr lang="zh-CN" altLang="en-US"/>
              <a:t>按一下此處編輯母版文本樣式</a:t>
            </a:r>
          </a:p>
          <a:p>
            <a:pPr lvl="1"/>
            <a:r>
              <a:rPr lang="zh-CN" altLang="en-US"/>
              <a:t>二級</a:t>
            </a:r>
          </a:p>
          <a:p>
            <a:pPr lvl="2"/>
            <a:r>
              <a:rPr lang="zh-CN" altLang="en-US"/>
              <a:t>三級</a:t>
            </a:r>
          </a:p>
          <a:p>
            <a:pPr lvl="3"/>
            <a:r>
              <a:rPr lang="zh-CN" altLang="en-US"/>
              <a:t>四級</a:t>
            </a:r>
          </a:p>
          <a:p>
            <a:pPr lvl="4"/>
            <a:r>
              <a:rPr lang="zh-CN" altLang="en-US"/>
              <a:t>五級</a:t>
            </a:r>
            <a:endParaRPr lang="en-GB"/>
          </a:p>
        </p:txBody>
      </p:sp>
      <p:sp>
        <p:nvSpPr>
          <p:cNvPr id="2" name="標題"/>
          <p:cNvSpPr>
            <a:spLocks noGrp="1"/>
          </p:cNvSpPr>
          <p:nvPr>
            <p:ph type="title"/>
          </p:nvPr>
        </p:nvSpPr>
        <p:spPr>
          <a:xfrm>
            <a:off x="501651" y="317501"/>
            <a:ext cx="11188700" cy="698500"/>
          </a:xfrm>
        </p:spPr>
        <p:txBody>
          <a:bodyPr/>
          <a:lstStyle/>
          <a:p>
            <a:r>
              <a:rPr lang="zh-CN" altLang="en-US"/>
              <a:t>按一下此處編輯母版標題樣式</a:t>
            </a:r>
            <a:endParaRPr lang="en-US"/>
          </a:p>
        </p:txBody>
      </p:sp>
    </p:spTree>
    <p:extLst>
      <p:ext uri="{BB962C8B-B14F-4D97-AF65-F5344CB8AC3E}">
        <p14:creationId xmlns:p14="http://schemas.microsoft.com/office/powerpoint/2010/main" val="1913969904"/>
      </p:ext>
    </p:extLst>
  </p:cSld>
  <p:clrMapOvr>
    <a:masterClrMapping/>
  </p:clrMapOvr>
  <p:transition>
    <p:fade/>
  </p:transition>
  <p:hf hdr="0" dt="0"/>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Titre et contenu">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760610" y="442528"/>
            <a:ext cx="10673828" cy="418576"/>
          </a:xfrm>
          <a:prstGeom prst="rect">
            <a:avLst/>
          </a:prstGeom>
        </p:spPr>
        <p:txBody>
          <a:bodyPr wrap="square" lIns="0" tIns="0" rIns="0" bIns="0" anchor="t" anchorCtr="0">
            <a:noAutofit/>
          </a:bodyPr>
          <a:lstStyle>
            <a:lvl1pPr marL="0" algn="l" defTabSz="1216430" rtl="0" eaLnBrk="1" latinLnBrk="0" hangingPunct="1">
              <a:lnSpc>
                <a:spcPct val="85000"/>
              </a:lnSpc>
              <a:spcBef>
                <a:spcPct val="0"/>
              </a:spcBef>
              <a:buNone/>
              <a:tabLst>
                <a:tab pos="1216430" algn="l"/>
              </a:tabLst>
              <a:defRPr lang="en-US" sz="3193"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760611" y="1308880"/>
            <a:ext cx="10673828" cy="4787120"/>
          </a:xfrm>
          <a:prstGeom prst="rect">
            <a:avLst/>
          </a:prstGeom>
        </p:spPr>
        <p:txBody>
          <a:bodyPr lIns="0" tIns="0" rIns="0" bIns="0"/>
          <a:lstStyle>
            <a:lvl1pPr marL="171093" indent="-171093">
              <a:lnSpc>
                <a:spcPct val="90000"/>
              </a:lnSpc>
              <a:spcBef>
                <a:spcPts val="1000"/>
              </a:spcBef>
              <a:buClrTx/>
              <a:buFont typeface="Arial" panose="020B0604020202020204" pitchFamily="34" charset="0"/>
              <a:buChar char="•"/>
              <a:defRPr sz="1993">
                <a:solidFill>
                  <a:schemeClr val="tx1"/>
                </a:solidFill>
                <a:latin typeface="Arial" pitchFamily="34" charset="0"/>
                <a:cs typeface="Arial" pitchFamily="34" charset="0"/>
              </a:defRPr>
            </a:lvl1pPr>
            <a:lvl2pPr marL="608212" indent="-228080">
              <a:lnSpc>
                <a:spcPct val="90000"/>
              </a:lnSpc>
              <a:spcBef>
                <a:spcPts val="500"/>
              </a:spcBef>
              <a:buClrTx/>
              <a:buFont typeface="Arial" pitchFamily="34" charset="0"/>
              <a:buChar char="–"/>
              <a:defRPr sz="1793">
                <a:solidFill>
                  <a:schemeClr val="tx1"/>
                </a:solidFill>
                <a:latin typeface="Arial" pitchFamily="34" charset="0"/>
                <a:cs typeface="Arial" pitchFamily="34" charset="0"/>
              </a:defRPr>
            </a:lvl2pPr>
            <a:lvl3pPr marL="834184" indent="-149943">
              <a:lnSpc>
                <a:spcPct val="90000"/>
              </a:lnSpc>
              <a:spcBef>
                <a:spcPts val="500"/>
              </a:spcBef>
              <a:buClrTx/>
              <a:buFont typeface="Arial" panose="020B0604020202020204" pitchFamily="34" charset="0"/>
              <a:buChar char="-"/>
              <a:defRPr sz="1793">
                <a:solidFill>
                  <a:schemeClr val="tx1"/>
                </a:solidFill>
                <a:latin typeface="Arial" pitchFamily="34" charset="0"/>
                <a:cs typeface="Arial" pitchFamily="34" charset="0"/>
              </a:defRPr>
            </a:lvl3pPr>
            <a:lvl4pPr marL="1144626" indent="-156277">
              <a:lnSpc>
                <a:spcPct val="90000"/>
              </a:lnSpc>
              <a:spcBef>
                <a:spcPts val="500"/>
              </a:spcBef>
              <a:buClrTx/>
              <a:buFont typeface="Arial" panose="020B0604020202020204" pitchFamily="34" charset="0"/>
              <a:buChar char="-"/>
              <a:defRPr sz="1793">
                <a:solidFill>
                  <a:schemeClr val="tx1"/>
                </a:solidFill>
                <a:latin typeface="Arial" pitchFamily="34" charset="0"/>
                <a:cs typeface="Arial" pitchFamily="34" charset="0"/>
              </a:defRPr>
            </a:lvl4pPr>
            <a:lvl5pPr marL="1442399" indent="-149943">
              <a:lnSpc>
                <a:spcPct val="90000"/>
              </a:lnSpc>
              <a:spcBef>
                <a:spcPts val="500"/>
              </a:spcBef>
              <a:buClrTx/>
              <a:buFont typeface="Arial" panose="020B0604020202020204" pitchFamily="34" charset="0"/>
              <a:buChar char="-"/>
              <a:defRPr sz="1793">
                <a:solidFill>
                  <a:schemeClr val="tx1"/>
                </a:solidFill>
                <a:latin typeface="Arial" pitchFamily="34" charset="0"/>
                <a:cs typeface="Arial" pitchFamily="34" charset="0"/>
              </a:defRPr>
            </a:lvl5pPr>
            <a:lvl6pPr>
              <a:defRPr sz="2393"/>
            </a:lvl6pPr>
            <a:lvl7pPr>
              <a:defRPr sz="2393"/>
            </a:lvl7pPr>
            <a:lvl8pPr>
              <a:defRPr sz="2393"/>
            </a:lvl8pPr>
            <a:lvl9pPr>
              <a:defRPr sz="239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0BC5559F-D4D6-DA53-A720-07C2A2D68FA6}"/>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565935457"/>
      </p:ext>
    </p:extLst>
  </p:cSld>
  <p:clrMapOvr>
    <a:masterClrMapping/>
  </p:clrMapOvr>
  <p:transition spd="med"/>
</p:sldLayout>
</file>

<file path=ppt/slideLayouts/slideLayout310.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sp>
        <p:nvSpPr>
          <p:cNvPr id="5" name="Rectangle 1" hidden="1">
            <a:extLst>
              <a:ext uri="{FF2B5EF4-FFF2-40B4-BE49-F238E27FC236}">
                <a16:creationId xmlns:a16="http://schemas.microsoft.com/office/drawing/2014/main" id="{FCC3A0E6-E630-4C26-B008-93BA0B5B1109}"/>
              </a:ext>
            </a:extLst>
          </p:cNvPr>
          <p:cNvSpPr/>
          <p:nvPr userDrawn="1">
            <p:custDataLst>
              <p:tags r:id="rId1"/>
            </p:custDataLst>
          </p:nvPr>
        </p:nvSpPr>
        <p:spPr>
          <a:xfrm>
            <a:off x="2"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498" b="1" i="0" baseline="0">
              <a:solidFill>
                <a:schemeClr val="bg1"/>
              </a:solidFill>
              <a:latin typeface="Arial" panose="020B0604020202020204" pitchFamily="34" charset="0"/>
              <a:ea typeface="+mj-ea"/>
              <a:cs typeface="+mj-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2"/>
            </p:custDataLst>
          </p:nvPr>
        </p:nvSpPr>
        <p:spPr>
          <a:xfrm>
            <a:off x="554737" y="919254"/>
            <a:ext cx="11082528" cy="66159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b="0" baseline="0" dirty="0"/>
            </a:lvl1pPr>
          </a:lstStyle>
          <a:p>
            <a:pPr lvl="0">
              <a:buNone/>
            </a:pPr>
            <a:r>
              <a:rPr lang="en-US"/>
              <a:t>Click to edit Master subtitle style</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3"/>
            </p:custDataLst>
          </p:nvPr>
        </p:nvSpPr>
        <p:spPr>
          <a:xfrm>
            <a:off x="554737" y="41601"/>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800" b="0" dirty="0">
                <a:cs typeface="+mn-cs"/>
              </a:defRPr>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4"/>
            </p:custDataLst>
          </p:nvPr>
        </p:nvSpPr>
        <p:spPr>
          <a:xfrm>
            <a:off x="554737" y="172212"/>
            <a:ext cx="11082528" cy="731520"/>
          </a:xfrm>
          <a:prstGeom prst="rect">
            <a:avLst/>
          </a:prstGeom>
        </p:spPr>
        <p:txBody>
          <a:bodyPr vert="horz" wrap="square" lIns="0" tIns="0" rIns="0" bIns="0" rtlCol="0" anchor="b" anchorCtr="0">
            <a:noAutofit/>
          </a:bodyPr>
          <a:lstStyle>
            <a:lvl1pPr>
              <a:defRPr lang="en-US" dirty="0"/>
            </a:lvl1pPr>
          </a:lstStyle>
          <a:p>
            <a:pPr lvl="0"/>
            <a:r>
              <a:rPr lang="en-US"/>
              <a:t>Click to edit Master title style</a:t>
            </a:r>
          </a:p>
        </p:txBody>
      </p:sp>
      <p:sp>
        <p:nvSpPr>
          <p:cNvPr id="12" name="Slide Number">
            <a:extLst>
              <a:ext uri="{FF2B5EF4-FFF2-40B4-BE49-F238E27FC236}">
                <a16:creationId xmlns:a16="http://schemas.microsoft.com/office/drawing/2014/main" id="{A7D78624-1011-4805-A38F-2790B0C90EC1}"/>
              </a:ext>
            </a:extLst>
          </p:cNvPr>
          <p:cNvSpPr>
            <a:spLocks noChangeArrowheads="1"/>
          </p:cNvSpPr>
          <p:nvPr userDrawn="1">
            <p:custDataLst>
              <p:tags r:id="rId5"/>
            </p:custDataLst>
          </p:nvPr>
        </p:nvSpPr>
        <p:spPr bwMode="black">
          <a:xfrm>
            <a:off x="11312527" y="6474741"/>
            <a:ext cx="325501" cy="138499"/>
          </a:xfrm>
          <a:prstGeom prst="rect">
            <a:avLst/>
          </a:prstGeom>
          <a:noFill/>
          <a:ln w="9525" algn="ctr">
            <a:noFill/>
            <a:miter lim="800000"/>
            <a:headEnd/>
            <a:tailEnd/>
          </a:ln>
          <a:effectLst/>
        </p:spPr>
        <p:txBody>
          <a:bodyPr wrap="square" lIns="0" tIns="0" rIns="0" bIns="0" anchor="b">
            <a:spAutoFit/>
          </a:bodyPr>
          <a:lstStyle/>
          <a:p>
            <a:pPr algn="r" defTabSz="610378" rtl="0" fontAlgn="auto">
              <a:spcBef>
                <a:spcPts val="0"/>
              </a:spcBef>
              <a:spcAft>
                <a:spcPts val="0"/>
              </a:spcAft>
              <a:defRPr/>
            </a:pPr>
            <a:fld id="{4ABDCABE-3F10-B64C-92F1-862014417034}" type="slidenum">
              <a:rPr lang="en-US" sz="900" b="0" smtClean="0">
                <a:solidFill>
                  <a:schemeClr val="tx1"/>
                </a:solidFill>
                <a:latin typeface="+mn-lt"/>
                <a:ea typeface="+mn-ea"/>
                <a:cs typeface="Arial" panose="020B0604020202020204" pitchFamily="34" charset="0"/>
              </a:rPr>
              <a:pPr algn="r" defTabSz="610378" rtl="0" fontAlgn="auto">
                <a:spcBef>
                  <a:spcPts val="0"/>
                </a:spcBef>
                <a:spcAft>
                  <a:spcPts val="0"/>
                </a:spcAft>
                <a:defRPr/>
              </a:pPr>
              <a:t>‹#›</a:t>
            </a:fld>
            <a:endParaRPr lang="en-US" sz="900" b="0">
              <a:solidFill>
                <a:schemeClr val="tx1"/>
              </a:solidFill>
              <a:latin typeface="+mn-lt"/>
              <a:ea typeface="+mn-ea"/>
              <a:cs typeface="Arial" panose="020B0604020202020204" pitchFamily="34" charset="0"/>
            </a:endParaRPr>
          </a:p>
        </p:txBody>
      </p:sp>
      <p:sp>
        <p:nvSpPr>
          <p:cNvPr id="13" name="5. Source" hidden="1">
            <a:extLst>
              <a:ext uri="{FF2B5EF4-FFF2-40B4-BE49-F238E27FC236}">
                <a16:creationId xmlns:a16="http://schemas.microsoft.com/office/drawing/2014/main" id="{F172C844-171A-4841-A93B-2ED21E411498}"/>
              </a:ext>
            </a:extLst>
          </p:cNvPr>
          <p:cNvSpPr txBox="1"/>
          <p:nvPr userDrawn="1">
            <p:custDataLst>
              <p:tags r:id="rId6"/>
            </p:custDataLst>
          </p:nvPr>
        </p:nvSpPr>
        <p:spPr>
          <a:xfrm>
            <a:off x="554737" y="6255866"/>
            <a:ext cx="7277861" cy="123111"/>
          </a:xfrm>
          <a:prstGeom prst="rect">
            <a:avLst/>
          </a:prstGeom>
        </p:spPr>
        <p:txBody>
          <a:bodyPr vert="horz" wrap="square" lIns="0" tIns="0" rIns="0" bIns="0" rtlCol="0" anchor="b">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Tree>
    <p:extLst>
      <p:ext uri="{BB962C8B-B14F-4D97-AF65-F5344CB8AC3E}">
        <p14:creationId xmlns:p14="http://schemas.microsoft.com/office/powerpoint/2010/main" val="1122762135"/>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showMasterSp="0" userDrawn="1">
  <p:cSld name="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2"/>
            <a:ext cx="9914678" cy="3269709"/>
          </a:xfrm>
          <a:prstGeom prst="rect">
            <a:avLst/>
          </a:prstGeom>
        </p:spPr>
        <p:txBody>
          <a:bodyPr wrap="square" lIns="0" tIns="0" rIns="121899" bIns="0" anchor="b" anchorCtr="0"/>
          <a:lstStyle>
            <a:lvl1pPr marL="0" algn="l" defTabSz="1218621" rtl="0" eaLnBrk="1" latinLnBrk="0" hangingPunct="1">
              <a:lnSpc>
                <a:spcPct val="75000"/>
              </a:lnSpc>
              <a:spcBef>
                <a:spcPct val="0"/>
              </a:spcBef>
              <a:buNone/>
              <a:defRPr lang="en-US" sz="7998" b="1" kern="1200" cap="none" spc="-15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621" rtl="0" eaLnBrk="1" latinLnBrk="0" hangingPunct="1">
              <a:lnSpc>
                <a:spcPct val="90000"/>
              </a:lnSpc>
              <a:spcBef>
                <a:spcPct val="0"/>
              </a:spcBef>
              <a:buNone/>
              <a:defRPr lang="en-US" sz="2599" b="0" kern="1200" cap="none" spc="0" baseline="0" dirty="0">
                <a:solidFill>
                  <a:schemeClr val="tx1"/>
                </a:solidFill>
                <a:latin typeface="Arial" pitchFamily="34" charset="0"/>
                <a:ea typeface="+mn-ea"/>
                <a:cs typeface="Arial" pitchFamily="34" charset="0"/>
              </a:defRPr>
            </a:lvl1pPr>
            <a:lvl2pPr marL="609310" indent="0" algn="ctr">
              <a:buNone/>
              <a:defRPr>
                <a:solidFill>
                  <a:schemeClr val="tx1">
                    <a:tint val="75000"/>
                  </a:schemeClr>
                </a:solidFill>
              </a:defRPr>
            </a:lvl2pPr>
            <a:lvl3pPr marL="1218621" indent="0" algn="ctr">
              <a:buNone/>
              <a:defRPr>
                <a:solidFill>
                  <a:schemeClr val="tx1">
                    <a:tint val="75000"/>
                  </a:schemeClr>
                </a:solidFill>
              </a:defRPr>
            </a:lvl3pPr>
            <a:lvl4pPr marL="1827931" indent="0" algn="ctr">
              <a:buNone/>
              <a:defRPr>
                <a:solidFill>
                  <a:schemeClr val="tx1">
                    <a:tint val="75000"/>
                  </a:schemeClr>
                </a:solidFill>
              </a:defRPr>
            </a:lvl4pPr>
            <a:lvl5pPr marL="2437242" indent="0" algn="ctr">
              <a:buNone/>
              <a:defRPr>
                <a:solidFill>
                  <a:schemeClr val="tx1">
                    <a:tint val="75000"/>
                  </a:schemeClr>
                </a:solidFill>
              </a:defRPr>
            </a:lvl5pPr>
            <a:lvl6pPr marL="3046553" indent="0" algn="ctr">
              <a:buNone/>
              <a:defRPr>
                <a:solidFill>
                  <a:schemeClr val="tx1">
                    <a:tint val="75000"/>
                  </a:schemeClr>
                </a:solidFill>
              </a:defRPr>
            </a:lvl6pPr>
            <a:lvl7pPr marL="3655863" indent="0" algn="ctr">
              <a:buNone/>
              <a:defRPr>
                <a:solidFill>
                  <a:schemeClr val="tx1">
                    <a:tint val="75000"/>
                  </a:schemeClr>
                </a:solidFill>
              </a:defRPr>
            </a:lvl7pPr>
            <a:lvl8pPr marL="4265173" indent="0" algn="ctr">
              <a:buNone/>
              <a:defRPr>
                <a:solidFill>
                  <a:schemeClr val="tx1">
                    <a:tint val="75000"/>
                  </a:schemeClr>
                </a:solidFill>
              </a:defRPr>
            </a:lvl8pPr>
            <a:lvl9pPr marL="4874484"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2025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
        <p:nvSpPr>
          <p:cNvPr id="22" name="Freeform 5">
            <a:extLst>
              <a:ext uri="{FF2B5EF4-FFF2-40B4-BE49-F238E27FC236}">
                <a16:creationId xmlns:a16="http://schemas.microsoft.com/office/drawing/2014/main" id="{B3FDD5DD-E6F7-480C-BC0C-F6AC555BF174}"/>
              </a:ext>
            </a:extLst>
          </p:cNvPr>
          <p:cNvSpPr>
            <a:spLocks noChangeAspect="1" noEditPoints="1"/>
          </p:cNvSpPr>
          <p:nvPr userDrawn="1"/>
        </p:nvSpPr>
        <p:spPr bwMode="auto">
          <a:xfrm>
            <a:off x="750529" y="762000"/>
            <a:ext cx="3942091" cy="31247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en-US" sz="1799"/>
          </a:p>
        </p:txBody>
      </p:sp>
    </p:spTree>
    <p:extLst>
      <p:ext uri="{BB962C8B-B14F-4D97-AF65-F5344CB8AC3E}">
        <p14:creationId xmlns:p14="http://schemas.microsoft.com/office/powerpoint/2010/main" val="2096337550"/>
      </p:ext>
    </p:extLst>
  </p:cSld>
  <p:clrMapOvr>
    <a:masterClrMapping/>
  </p:clrMapOvr>
  <p:transition spd="med"/>
</p:sldLayout>
</file>

<file path=ppt/slideLayouts/slideLayout312.xml><?xml version="1.0" encoding="utf-8"?>
<p:sldLayout xmlns:a="http://schemas.openxmlformats.org/drawingml/2006/main" xmlns:r="http://schemas.openxmlformats.org/officeDocument/2006/relationships" xmlns:p="http://schemas.openxmlformats.org/presentationml/2006/main" showMasterSp="0" userDrawn="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548783" y="274320"/>
            <a:ext cx="11076268" cy="521208"/>
          </a:xfrm>
          <a:prstGeom prst="rect">
            <a:avLst/>
          </a:prstGeom>
        </p:spPr>
        <p:txBody>
          <a:bodyPr wrap="square" lIns="0" tIns="0" rIns="0" bIns="0" anchor="ctr" anchorCtr="0"/>
          <a:lstStyle>
            <a:lvl1pPr marL="0" algn="l" defTabSz="1214970" rtl="0" eaLnBrk="1" latinLnBrk="0" hangingPunct="1">
              <a:lnSpc>
                <a:spcPct val="100000"/>
              </a:lnSpc>
              <a:spcBef>
                <a:spcPct val="0"/>
              </a:spcBef>
              <a:buNone/>
              <a:tabLst>
                <a:tab pos="1214970" algn="l"/>
              </a:tabLst>
              <a:defRPr lang="en-US" sz="3589" kern="1200" cap="none" spc="0" baseline="0" dirty="0">
                <a:solidFill>
                  <a:schemeClr val="tx1"/>
                </a:solidFill>
                <a:latin typeface="Arial" pitchFamily="34" charset="0"/>
                <a:ea typeface="+mn-ea"/>
                <a:cs typeface="Arial" pitchFamily="34" charset="0"/>
              </a:defRPr>
            </a:lvl1pPr>
          </a:lstStyle>
          <a:p>
            <a:r>
              <a:rPr lang="en-US"/>
              <a:t>Click To Edit Master Title</a:t>
            </a:r>
          </a:p>
        </p:txBody>
      </p:sp>
      <p:sp>
        <p:nvSpPr>
          <p:cNvPr id="1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059063957"/>
      </p:ext>
    </p:extLst>
  </p:cSld>
  <p:clrMapOvr>
    <a:masterClrMapping/>
  </p:clrMapOvr>
  <p:transition spd="med"/>
</p:sldLayout>
</file>

<file path=ppt/slideLayouts/slideLayout313.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399DA9-89EB-C726-E797-C6EABD811C8C}"/>
              </a:ext>
            </a:extLst>
          </p:cNvPr>
          <p:cNvSpPr>
            <a:spLocks noGrp="1"/>
          </p:cNvSpPr>
          <p:nvPr>
            <p:ph type="title"/>
          </p:nvPr>
        </p:nvSpPr>
        <p:spPr>
          <a:xfrm>
            <a:off x="838419" y="365126"/>
            <a:ext cx="10515163" cy="1325563"/>
          </a:xfrm>
          <a:prstGeom prst="rect">
            <a:avLst/>
          </a:prstGeom>
        </p:spPr>
        <p:txBody>
          <a:bodyPr/>
          <a:lstStyle/>
          <a:p>
            <a:r>
              <a:rPr lang="en-US"/>
              <a:t>Click to edit Master title style</a:t>
            </a:r>
          </a:p>
        </p:txBody>
      </p:sp>
      <p:sp>
        <p:nvSpPr>
          <p:cNvPr id="3" name="Content Placeholder 2">
            <a:extLst>
              <a:ext uri="{FF2B5EF4-FFF2-40B4-BE49-F238E27FC236}">
                <a16:creationId xmlns:a16="http://schemas.microsoft.com/office/drawing/2014/main" id="{9A80C368-0D4E-7312-AB40-860B196768DE}"/>
              </a:ext>
            </a:extLst>
          </p:cNvPr>
          <p:cNvSpPr>
            <a:spLocks noGrp="1"/>
          </p:cNvSpPr>
          <p:nvPr>
            <p:ph idx="1"/>
          </p:nvPr>
        </p:nvSpPr>
        <p:spPr>
          <a:xfrm>
            <a:off x="838419" y="1825625"/>
            <a:ext cx="10515163"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FEE5E1FB-E7E6-8325-3986-2E2ACE9F7FB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382906162"/>
      </p:ext>
    </p:extLst>
  </p:cSld>
  <p:clrMapOvr>
    <a:masterClrMapping/>
  </p:clrMapOvr>
  <p:transition spd="med"/>
</p:sldLayout>
</file>

<file path=ppt/slideLayouts/slideLayout314.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10" name="Title 28"/>
          <p:cNvSpPr>
            <a:spLocks noGrp="1"/>
          </p:cNvSpPr>
          <p:nvPr>
            <p:ph type="title" hasCustomPrompt="1"/>
          </p:nvPr>
        </p:nvSpPr>
        <p:spPr bwMode="gray">
          <a:xfrm>
            <a:off x="548783" y="403624"/>
            <a:ext cx="11076268" cy="521208"/>
          </a:xfrm>
          <a:prstGeom prst="rect">
            <a:avLst/>
          </a:prstGeom>
        </p:spPr>
        <p:txBody>
          <a:bodyPr wrap="square" lIns="0" tIns="0" rIns="0" bIns="0" anchor="t" anchorCtr="0"/>
          <a:lstStyle>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2" name="Content Placeholder 2"/>
          <p:cNvSpPr>
            <a:spLocks noGrp="1"/>
          </p:cNvSpPr>
          <p:nvPr>
            <p:ph sz="half" idx="1"/>
          </p:nvPr>
        </p:nvSpPr>
        <p:spPr bwMode="gray">
          <a:xfrm>
            <a:off x="548783" y="1308880"/>
            <a:ext cx="11076268" cy="4906726"/>
          </a:xfrm>
          <a:prstGeom prst="rect">
            <a:avLst/>
          </a:prstGeom>
        </p:spPr>
        <p:txBody>
          <a:bodyPr lIns="0" tIns="0" rIns="0" bIns="0"/>
          <a:lstStyle>
            <a:lvl1pPr marL="171450" indent="-171450">
              <a:lnSpc>
                <a:spcPct val="90000"/>
              </a:lnSpc>
              <a:spcBef>
                <a:spcPts val="500"/>
              </a:spcBef>
              <a:buClrTx/>
              <a:buFont typeface="Arial" panose="020B0604020202020204" pitchFamily="34" charset="0"/>
              <a:buChar char="•"/>
              <a:defRPr sz="2000">
                <a:solidFill>
                  <a:schemeClr val="tx1"/>
                </a:solidFill>
                <a:latin typeface="Arial" pitchFamily="34" charset="0"/>
                <a:cs typeface="Arial" pitchFamily="34" charset="0"/>
              </a:defRPr>
            </a:lvl1pPr>
            <a:lvl2pPr marL="609493" indent="-228560">
              <a:lnSpc>
                <a:spcPct val="90000"/>
              </a:lnSpc>
              <a:spcBef>
                <a:spcPts val="500"/>
              </a:spcBef>
              <a:buClrTx/>
              <a:buFont typeface="Arial" pitchFamily="34" charset="0"/>
              <a:buChar char="–"/>
              <a:defRPr sz="1800">
                <a:solidFill>
                  <a:schemeClr val="tx1"/>
                </a:solidFill>
                <a:latin typeface="Arial" pitchFamily="34" charset="0"/>
                <a:cs typeface="Arial" pitchFamily="34" charset="0"/>
              </a:defRPr>
            </a:lvl2pPr>
            <a:lvl3pPr marL="835938"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3pPr>
            <a:lvl4pPr marL="1147033" indent="-156606">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4pPr>
            <a:lvl5pPr marL="1445431" indent="-150258">
              <a:lnSpc>
                <a:spcPct val="90000"/>
              </a:lnSpc>
              <a:spcBef>
                <a:spcPts val="500"/>
              </a:spcBef>
              <a:buClrTx/>
              <a:buFont typeface="Arial" panose="020B0604020202020204" pitchFamily="34" charset="0"/>
              <a:buChar char="-"/>
              <a:defRPr sz="1800">
                <a:solidFill>
                  <a:schemeClr val="tx1"/>
                </a:solidFill>
                <a:latin typeface="Arial" pitchFamily="34" charset="0"/>
                <a:cs typeface="Arial" pitchFamily="34" charset="0"/>
              </a:defRPr>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221389048"/>
      </p:ext>
    </p:extLst>
  </p:cSld>
  <p:clrMapOvr>
    <a:masterClrMapping/>
  </p:clrMapOvr>
  <p:transition spd="med"/>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preserve="1" userDrawn="1">
  <p:cSld name="Title Slide_White">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3" name="Freeform 5">
            <a:extLst>
              <a:ext uri="{FF2B5EF4-FFF2-40B4-BE49-F238E27FC236}">
                <a16:creationId xmlns:a16="http://schemas.microsoft.com/office/drawing/2014/main" id="{DEE4721E-C958-4154-B9A5-CEFE7618DF24}"/>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25" name="图像" descr="图像">
            <a:extLst>
              <a:ext uri="{FF2B5EF4-FFF2-40B4-BE49-F238E27FC236}">
                <a16:creationId xmlns:a16="http://schemas.microsoft.com/office/drawing/2014/main" id="{C98A5641-AFE6-437D-8FF0-164BB7C44A99}"/>
              </a:ext>
            </a:extLst>
          </p:cNvPr>
          <p:cNvPicPr>
            <a:picLocks noChangeAspect="1"/>
          </p:cNvPicPr>
          <p:nvPr userDrawn="1"/>
        </p:nvPicPr>
        <p:blipFill>
          <a:blip r:embed="rId2"/>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4002258274"/>
      </p:ext>
    </p:extLst>
  </p:cSld>
  <p:clrMapOvr>
    <a:masterClrMapping/>
  </p:clrMapOvr>
  <p:transition spd="med"/>
</p:sldLayout>
</file>

<file path=ppt/slideLayouts/slideLayout316.xml><?xml version="1.0" encoding="utf-8"?>
<p:sldLayout xmlns:a="http://schemas.openxmlformats.org/drawingml/2006/main" xmlns:r="http://schemas.openxmlformats.org/officeDocument/2006/relationships" xmlns:p="http://schemas.openxmlformats.org/presentationml/2006/main" showMasterSp="0" preserve="1">
  <p:cSld name="Title Slide_White_2">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F66F013C-4673-4598-B729-A71D9DC33DF1}"/>
              </a:ext>
            </a:extLst>
          </p:cNvPr>
          <p:cNvPicPr>
            <a:picLocks noChangeAspect="1"/>
          </p:cNvPicPr>
          <p:nvPr/>
        </p:nvPicPr>
        <p:blipFill>
          <a:blip r:embed="rId2"/>
          <a:stretch>
            <a:fillRect/>
          </a:stretch>
        </p:blipFill>
        <p:spPr>
          <a:xfrm>
            <a:off x="1" y="36"/>
            <a:ext cx="12192000" cy="6857965"/>
          </a:xfrm>
          <a:prstGeom prst="rect">
            <a:avLst/>
          </a:prstGeom>
        </p:spPr>
      </p:pic>
      <p:sp>
        <p:nvSpPr>
          <p:cNvPr id="56" name="Title 16"/>
          <p:cNvSpPr>
            <a:spLocks noGrp="1"/>
          </p:cNvSpPr>
          <p:nvPr>
            <p:ph type="title" hasCustomPrompt="1"/>
          </p:nvPr>
        </p:nvSpPr>
        <p:spPr bwMode="gray">
          <a:xfrm>
            <a:off x="750529" y="1527660"/>
            <a:ext cx="9914678" cy="3269709"/>
          </a:xfrm>
          <a:prstGeom prst="rect">
            <a:avLst/>
          </a:prstGeom>
        </p:spPr>
        <p:txBody>
          <a:bodyPr wrap="square"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accent3">
                    <a:lumMod val="25000"/>
                  </a:schemeClr>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accent3">
                    <a:lumMod val="25000"/>
                  </a:schemeClr>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4" name="Freeform 5">
            <a:extLst>
              <a:ext uri="{FF2B5EF4-FFF2-40B4-BE49-F238E27FC236}">
                <a16:creationId xmlns:a16="http://schemas.microsoft.com/office/drawing/2014/main" id="{737A9231-474C-4CA1-9B1B-7F40D5C83FD8}"/>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22" name="图像" descr="图像">
            <a:extLst>
              <a:ext uri="{FF2B5EF4-FFF2-40B4-BE49-F238E27FC236}">
                <a16:creationId xmlns:a16="http://schemas.microsoft.com/office/drawing/2014/main" id="{23598519-D295-45F4-B57D-05E3A7A180F8}"/>
              </a:ext>
            </a:extLst>
          </p:cNvPr>
          <p:cNvPicPr>
            <a:picLocks noChangeAspect="1"/>
          </p:cNvPicPr>
          <p:nvPr userDrawn="1"/>
        </p:nvPicPr>
        <p:blipFill>
          <a:blip r:embed="rId3"/>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745402332"/>
      </p:ext>
    </p:extLst>
  </p:cSld>
  <p:clrMapOvr>
    <a:masterClrMapping/>
  </p:clrMapOvr>
  <p:transition spd="med"/>
</p:sldLayout>
</file>

<file path=ppt/slideLayouts/slideLayout317.xml><?xml version="1.0" encoding="utf-8"?>
<p:sldLayout xmlns:a="http://schemas.openxmlformats.org/drawingml/2006/main" xmlns:r="http://schemas.openxmlformats.org/officeDocument/2006/relationships" xmlns:p="http://schemas.openxmlformats.org/presentationml/2006/main" showMasterSp="0" preserve="1">
  <p:cSld name="Title Slide_White_3">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0490B93F-C25A-476B-A1B0-5F566C0157D6}"/>
              </a:ext>
            </a:extLst>
          </p:cNvPr>
          <p:cNvPicPr>
            <a:picLocks noChangeAspect="1"/>
          </p:cNvPicPr>
          <p:nvPr/>
        </p:nvPicPr>
        <p:blipFill>
          <a:blip r:embed="rId2"/>
          <a:stretch>
            <a:fillRect/>
          </a:stretch>
        </p:blipFill>
        <p:spPr>
          <a:xfrm>
            <a:off x="1" y="36"/>
            <a:ext cx="12192000" cy="6857929"/>
          </a:xfrm>
          <a:prstGeom prst="rect">
            <a:avLst/>
          </a:prstGeom>
        </p:spPr>
      </p:pic>
      <p:sp>
        <p:nvSpPr>
          <p:cNvPr id="56" name="Title 16"/>
          <p:cNvSpPr>
            <a:spLocks noGrp="1"/>
          </p:cNvSpPr>
          <p:nvPr>
            <p:ph type="title" hasCustomPrompt="1"/>
          </p:nvPr>
        </p:nvSpPr>
        <p:spPr bwMode="gray">
          <a:xfrm>
            <a:off x="750529" y="1527660"/>
            <a:ext cx="9914678" cy="3269709"/>
          </a:xfrm>
          <a:prstGeom prst="rect">
            <a:avLst/>
          </a:prstGeom>
        </p:spPr>
        <p:txBody>
          <a:bodyPr wrap="square"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accent3">
                    <a:lumMod val="25000"/>
                  </a:schemeClr>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accent3">
                    <a:lumMod val="25000"/>
                  </a:schemeClr>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p:nvSpPr>
        <p:spPr>
          <a:xfrm>
            <a:off x="750529"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4" name="Freeform 5">
            <a:extLst>
              <a:ext uri="{FF2B5EF4-FFF2-40B4-BE49-F238E27FC236}">
                <a16:creationId xmlns:a16="http://schemas.microsoft.com/office/drawing/2014/main" id="{C5D7323F-B213-45BD-87E8-FA0F67A8959C}"/>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22" name="图像" descr="图像">
            <a:extLst>
              <a:ext uri="{FF2B5EF4-FFF2-40B4-BE49-F238E27FC236}">
                <a16:creationId xmlns:a16="http://schemas.microsoft.com/office/drawing/2014/main" id="{6C4382F8-208F-4848-AB6D-348BF1F84736}"/>
              </a:ext>
            </a:extLst>
          </p:cNvPr>
          <p:cNvPicPr>
            <a:picLocks noChangeAspect="1"/>
          </p:cNvPicPr>
          <p:nvPr userDrawn="1"/>
        </p:nvPicPr>
        <p:blipFill>
          <a:blip r:embed="rId3"/>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224423034"/>
      </p:ext>
    </p:extLst>
  </p:cSld>
  <p:clrMapOvr>
    <a:masterClrMapping/>
  </p:clrMapOvr>
  <p:transition spd="med"/>
</p:sldLayout>
</file>

<file path=ppt/slideLayouts/slideLayout318.xml><?xml version="1.0" encoding="utf-8"?>
<p:sldLayout xmlns:a="http://schemas.openxmlformats.org/drawingml/2006/main" xmlns:r="http://schemas.openxmlformats.org/officeDocument/2006/relationships" xmlns:p="http://schemas.openxmlformats.org/presentationml/2006/main" showMasterSp="0" preserve="1" userDrawn="1">
  <p:cSld name="Title Slide_Black">
    <p:bg>
      <p:bgPr>
        <a:solidFill>
          <a:srgbClr val="1E0113"/>
        </a:solidFill>
        <a:effectLst/>
      </p:bgPr>
    </p:bg>
    <p:spTree>
      <p:nvGrpSpPr>
        <p:cNvPr id="1" name=""/>
        <p:cNvGrpSpPr/>
        <p:nvPr/>
      </p:nvGrpSpPr>
      <p:grpSpPr>
        <a:xfrm>
          <a:off x="0" y="0"/>
          <a:ext cx="0" cy="0"/>
          <a:chOff x="0" y="0"/>
          <a:chExt cx="0" cy="0"/>
        </a:xfrm>
      </p:grpSpPr>
      <p:sp>
        <p:nvSpPr>
          <p:cNvPr id="56" name="Title 16"/>
          <p:cNvSpPr>
            <a:spLocks noGrp="1"/>
          </p:cNvSpPr>
          <p:nvPr userDrawn="1">
            <p:ph type="title" hasCustomPrompt="1"/>
          </p:nvPr>
        </p:nvSpPr>
        <p:spPr bwMode="gray">
          <a:xfrm>
            <a:off x="750529" y="1527660"/>
            <a:ext cx="9914678" cy="3269709"/>
          </a:xfrm>
          <a:prstGeom prst="rect">
            <a:avLst/>
          </a:prstGeom>
        </p:spPr>
        <p:txBody>
          <a:bodyPr wrap="square"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userDrawn="1">
            <p:ph type="subTitle" idx="1" hasCustomPrompt="1"/>
          </p:nvPr>
        </p:nvSpPr>
        <p:spPr bwMode="gray">
          <a:xfrm>
            <a:off x="760612" y="5046115"/>
            <a:ext cx="9914678" cy="356616"/>
          </a:xfrm>
          <a:prstGeom prst="rect">
            <a:avLst/>
          </a:prstGeom>
        </p:spPr>
        <p:txBody>
          <a:bodyPr lIns="0" tIns="0" rIns="0" bIns="0" anchor="t" anchorCtr="0">
            <a:noAutofit/>
          </a:bodyPr>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sp>
        <p:nvSpPr>
          <p:cNvPr id="49" name="TextBox 48"/>
          <p:cNvSpPr txBox="1"/>
          <p:nvPr userDrawn="1"/>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14" name="Group 13">
            <a:extLst>
              <a:ext uri="{FF2B5EF4-FFF2-40B4-BE49-F238E27FC236}">
                <a16:creationId xmlns:a16="http://schemas.microsoft.com/office/drawing/2014/main" id="{DB6BD304-FAC7-4023-9B54-8984F7387559}"/>
              </a:ext>
            </a:extLst>
          </p:cNvPr>
          <p:cNvGrpSpPr>
            <a:grpSpLocks noChangeAspect="1"/>
          </p:cNvGrpSpPr>
          <p:nvPr userDrawn="1"/>
        </p:nvGrpSpPr>
        <p:grpSpPr>
          <a:xfrm rot="16200000">
            <a:off x="10152631" y="2542790"/>
            <a:ext cx="3058160" cy="1020580"/>
            <a:chOff x="547688" y="952500"/>
            <a:chExt cx="12190413" cy="4067175"/>
          </a:xfrm>
        </p:grpSpPr>
        <p:sp>
          <p:nvSpPr>
            <p:cNvPr id="15" name="Rectangle 14">
              <a:extLst>
                <a:ext uri="{FF2B5EF4-FFF2-40B4-BE49-F238E27FC236}">
                  <a16:creationId xmlns:a16="http://schemas.microsoft.com/office/drawing/2014/main" id="{1FBBDE3D-E4E2-42E5-9F26-00C1500EFD63}"/>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7">
              <a:extLst>
                <a:ext uri="{FF2B5EF4-FFF2-40B4-BE49-F238E27FC236}">
                  <a16:creationId xmlns:a16="http://schemas.microsoft.com/office/drawing/2014/main" id="{27C222CE-31C9-4AE2-A9DE-A34ECC37F011}"/>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8">
              <a:extLst>
                <a:ext uri="{FF2B5EF4-FFF2-40B4-BE49-F238E27FC236}">
                  <a16:creationId xmlns:a16="http://schemas.microsoft.com/office/drawing/2014/main" id="{710DBB3B-7FB8-4ACB-8FA4-3F2A105B9B99}"/>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9">
              <a:extLst>
                <a:ext uri="{FF2B5EF4-FFF2-40B4-BE49-F238E27FC236}">
                  <a16:creationId xmlns:a16="http://schemas.microsoft.com/office/drawing/2014/main" id="{3E443DA7-CC51-4460-98C4-193A7375074F}"/>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10">
              <a:extLst>
                <a:ext uri="{FF2B5EF4-FFF2-40B4-BE49-F238E27FC236}">
                  <a16:creationId xmlns:a16="http://schemas.microsoft.com/office/drawing/2014/main" id="{E1BCDB13-2B5A-46EC-B1D6-C526DEAA84B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10">
              <a:extLst>
                <a:ext uri="{FF2B5EF4-FFF2-40B4-BE49-F238E27FC236}">
                  <a16:creationId xmlns:a16="http://schemas.microsoft.com/office/drawing/2014/main" id="{8EDDE8EA-BE8E-4066-AB4A-21CD2743549A}"/>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11">
              <a:extLst>
                <a:ext uri="{FF2B5EF4-FFF2-40B4-BE49-F238E27FC236}">
                  <a16:creationId xmlns:a16="http://schemas.microsoft.com/office/drawing/2014/main" id="{EF442D16-F34F-4D4E-A65A-8C3BC17F2FCE}"/>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3" name="Freeform 5">
            <a:extLst>
              <a:ext uri="{FF2B5EF4-FFF2-40B4-BE49-F238E27FC236}">
                <a16:creationId xmlns:a16="http://schemas.microsoft.com/office/drawing/2014/main" id="{2E739779-A844-40AD-AAF7-D9E51DC47EF0}"/>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24" name="图像" descr="图像">
            <a:extLst>
              <a:ext uri="{FF2B5EF4-FFF2-40B4-BE49-F238E27FC236}">
                <a16:creationId xmlns:a16="http://schemas.microsoft.com/office/drawing/2014/main" id="{EFECEFA5-369A-4F0D-91B6-4C8BE827C268}"/>
              </a:ext>
            </a:extLst>
          </p:cNvPr>
          <p:cNvPicPr>
            <a:picLocks noChangeAspect="1"/>
          </p:cNvPicPr>
          <p:nvPr userDrawn="1"/>
        </p:nvPicPr>
        <p:blipFill>
          <a:blip r:embed="rId2"/>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1095710985"/>
      </p:ext>
    </p:extLst>
  </p:cSld>
  <p:clrMapOvr>
    <a:overrideClrMapping bg1="dk1" tx1="lt1" bg2="dk2" tx2="lt2" accent1="accent1" accent2="accent2" accent3="accent3" accent4="accent4" accent5="accent5" accent6="accent6" hlink="hlink" folHlink="folHlink"/>
  </p:clrMapOvr>
  <p:transition spd="med"/>
</p:sldLayout>
</file>

<file path=ppt/slideLayouts/slideLayout319.xml><?xml version="1.0" encoding="utf-8"?>
<p:sldLayout xmlns:a="http://schemas.openxmlformats.org/drawingml/2006/main" xmlns:r="http://schemas.openxmlformats.org/officeDocument/2006/relationships" xmlns:p="http://schemas.openxmlformats.org/presentationml/2006/main" showMasterSp="0" preserve="1">
  <p:cSld name="Title Slide_Black_2">
    <p:bg>
      <p:bgRef idx="1001">
        <a:schemeClr val="bg1"/>
      </p:bgRef>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0A3FDCC7-BA62-4365-BA68-B2059C6747ED}"/>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sp>
        <p:nvSpPr>
          <p:cNvPr id="56" name="Title 16"/>
          <p:cNvSpPr>
            <a:spLocks noGrp="1"/>
          </p:cNvSpPr>
          <p:nvPr>
            <p:ph type="title" hasCustomPrompt="1"/>
          </p:nvPr>
        </p:nvSpPr>
        <p:spPr bwMode="gray">
          <a:xfrm>
            <a:off x="750529" y="1524000"/>
            <a:ext cx="9914678" cy="3273368"/>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p:ph type="subTitle" idx="1" hasCustomPrompt="1"/>
          </p:nvPr>
        </p:nvSpPr>
        <p:spPr bwMode="gray">
          <a:xfrm>
            <a:off x="760612" y="5046115"/>
            <a:ext cx="9914678" cy="356616"/>
          </a:xfrm>
          <a:prstGeom prst="rect">
            <a:avLst/>
          </a:prstGeom>
        </p:spPr>
        <p:txBody>
          <a:bodyPr lIns="0" tIns="0" rIns="0" bIns="0" anchor="t" anchorCtr="0"/>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grpSp>
        <p:nvGrpSpPr>
          <p:cNvPr id="68" name="Group 67">
            <a:extLst>
              <a:ext uri="{FF2B5EF4-FFF2-40B4-BE49-F238E27FC236}">
                <a16:creationId xmlns:a16="http://schemas.microsoft.com/office/drawing/2014/main" id="{C178D7C6-5801-6B30-A6A7-963788E95D85}"/>
              </a:ext>
            </a:extLst>
          </p:cNvPr>
          <p:cNvGrpSpPr>
            <a:grpSpLocks noChangeAspect="1"/>
          </p:cNvGrpSpPr>
          <p:nvPr/>
        </p:nvGrpSpPr>
        <p:grpSpPr>
          <a:xfrm rot="16200000">
            <a:off x="10152631" y="2542790"/>
            <a:ext cx="3058160" cy="1020580"/>
            <a:chOff x="547688" y="952500"/>
            <a:chExt cx="12190413" cy="4067175"/>
          </a:xfrm>
        </p:grpSpPr>
        <p:sp>
          <p:nvSpPr>
            <p:cNvPr id="69" name="Rectangle 68">
              <a:extLst>
                <a:ext uri="{FF2B5EF4-FFF2-40B4-BE49-F238E27FC236}">
                  <a16:creationId xmlns:a16="http://schemas.microsoft.com/office/drawing/2014/main" id="{69E9C34A-28EF-207E-149B-9EBED2862D65}"/>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7">
              <a:extLst>
                <a:ext uri="{FF2B5EF4-FFF2-40B4-BE49-F238E27FC236}">
                  <a16:creationId xmlns:a16="http://schemas.microsoft.com/office/drawing/2014/main" id="{158C3A6B-F5BB-E37E-DB3D-C1ABEA07F210}"/>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8">
              <a:extLst>
                <a:ext uri="{FF2B5EF4-FFF2-40B4-BE49-F238E27FC236}">
                  <a16:creationId xmlns:a16="http://schemas.microsoft.com/office/drawing/2014/main" id="{A56AE87F-217D-4207-F227-987A2E7FEBFA}"/>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2" name="Freeform 9">
              <a:extLst>
                <a:ext uri="{FF2B5EF4-FFF2-40B4-BE49-F238E27FC236}">
                  <a16:creationId xmlns:a16="http://schemas.microsoft.com/office/drawing/2014/main" id="{D65BCC2D-74A9-8E37-6BBC-33B74966DAC1}"/>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10">
              <a:extLst>
                <a:ext uri="{FF2B5EF4-FFF2-40B4-BE49-F238E27FC236}">
                  <a16:creationId xmlns:a16="http://schemas.microsoft.com/office/drawing/2014/main" id="{BA8558ED-E4BF-D888-EF3B-A311AFE8C47C}"/>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10">
              <a:extLst>
                <a:ext uri="{FF2B5EF4-FFF2-40B4-BE49-F238E27FC236}">
                  <a16:creationId xmlns:a16="http://schemas.microsoft.com/office/drawing/2014/main" id="{AFF1776F-9DBA-D51E-8F71-E1FB30D76794}"/>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11">
              <a:extLst>
                <a:ext uri="{FF2B5EF4-FFF2-40B4-BE49-F238E27FC236}">
                  <a16:creationId xmlns:a16="http://schemas.microsoft.com/office/drawing/2014/main" id="{820D6E3B-9704-EBDF-9D0D-A571A36CBC77}"/>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82" name="TextBox 81">
            <a:extLst>
              <a:ext uri="{FF2B5EF4-FFF2-40B4-BE49-F238E27FC236}">
                <a16:creationId xmlns:a16="http://schemas.microsoft.com/office/drawing/2014/main" id="{D0375F64-E651-1A0A-ABF1-9C38BA663F9F}"/>
              </a:ext>
            </a:extLst>
          </p:cNvPr>
          <p:cNvSpPr txBox="1"/>
          <p:nvPr/>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sp>
        <p:nvSpPr>
          <p:cNvPr id="16" name="Freeform 5">
            <a:extLst>
              <a:ext uri="{FF2B5EF4-FFF2-40B4-BE49-F238E27FC236}">
                <a16:creationId xmlns:a16="http://schemas.microsoft.com/office/drawing/2014/main" id="{CD4B932B-C485-48FF-86A6-1720353F11ED}"/>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1800"/>
          </a:p>
        </p:txBody>
      </p:sp>
      <p:pic>
        <p:nvPicPr>
          <p:cNvPr id="17" name="图像" descr="图像">
            <a:extLst>
              <a:ext uri="{FF2B5EF4-FFF2-40B4-BE49-F238E27FC236}">
                <a16:creationId xmlns:a16="http://schemas.microsoft.com/office/drawing/2014/main" id="{72A1AF4C-0E9C-46A4-B475-35B79476E2D7}"/>
              </a:ext>
            </a:extLst>
          </p:cNvPr>
          <p:cNvPicPr>
            <a:picLocks noChangeAspect="1"/>
          </p:cNvPicPr>
          <p:nvPr userDrawn="1"/>
        </p:nvPicPr>
        <p:blipFill>
          <a:blip r:embed="rId3"/>
          <a:stretch>
            <a:fillRect/>
          </a:stretch>
        </p:blipFill>
        <p:spPr>
          <a:xfrm>
            <a:off x="750530" y="556029"/>
            <a:ext cx="2378059" cy="713232"/>
          </a:xfrm>
          <a:prstGeom prst="rect">
            <a:avLst/>
          </a:prstGeom>
          <a:ln w="12700">
            <a:miter lim="400000"/>
          </a:ln>
        </p:spPr>
      </p:pic>
    </p:spTree>
    <p:extLst>
      <p:ext uri="{BB962C8B-B14F-4D97-AF65-F5344CB8AC3E}">
        <p14:creationId xmlns:p14="http://schemas.microsoft.com/office/powerpoint/2010/main" val="1774938014"/>
      </p:ext>
    </p:extLst>
  </p:cSld>
  <p:clrMapOvr>
    <a:overrideClrMapping bg1="dk1" tx1="lt1" bg2="dk2" tx2="lt2" accent1="accent1" accent2="accent2" accent3="accent3" accent4="accent4" accent5="accent5" accent6="accent6" hlink="hlink" folHlink="folHlink"/>
  </p:clrMapOvr>
  <p:transition spd="med"/>
</p:sldLayout>
</file>

<file path=ppt/slideLayouts/slideLayout320.xml><?xml version="1.0" encoding="utf-8"?>
<p:sldLayout xmlns:a="http://schemas.openxmlformats.org/drawingml/2006/main" xmlns:r="http://schemas.openxmlformats.org/officeDocument/2006/relationships" xmlns:p="http://schemas.openxmlformats.org/presentationml/2006/main" showMasterSp="0" preserve="1">
  <p:cSld name="Title Slide_Black_3">
    <p:bg>
      <p:bgRef idx="1001">
        <a:schemeClr val="bg1"/>
      </p:bgRef>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3A0DD018-EAF2-48F3-ABFD-828A5E37FEA0}"/>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sp>
        <p:nvSpPr>
          <p:cNvPr id="56" name="Title 16"/>
          <p:cNvSpPr>
            <a:spLocks noGrp="1"/>
          </p:cNvSpPr>
          <p:nvPr>
            <p:ph type="title" hasCustomPrompt="1"/>
          </p:nvPr>
        </p:nvSpPr>
        <p:spPr bwMode="gray">
          <a:xfrm>
            <a:off x="750529" y="1524000"/>
            <a:ext cx="9914678" cy="3273368"/>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8000" b="1" kern="1200" cap="none" spc="-320" baseline="0" dirty="0">
                <a:solidFill>
                  <a:schemeClr val="tx1"/>
                </a:solidFill>
                <a:latin typeface="Arial" pitchFamily="34" charset="0"/>
                <a:ea typeface="+mn-ea"/>
                <a:cs typeface="Arial" pitchFamily="34" charset="0"/>
              </a:defRPr>
            </a:lvl1pPr>
          </a:lstStyle>
          <a:p>
            <a:r>
              <a:rPr lang="en-US"/>
              <a:t>Presentation</a:t>
            </a:r>
            <a:br>
              <a:rPr lang="en-US"/>
            </a:br>
            <a:r>
              <a:rPr lang="en-US"/>
              <a:t>title here</a:t>
            </a:r>
          </a:p>
        </p:txBody>
      </p:sp>
      <p:sp>
        <p:nvSpPr>
          <p:cNvPr id="55" name="Subtitle 2"/>
          <p:cNvSpPr>
            <a:spLocks noGrp="1"/>
          </p:cNvSpPr>
          <p:nvPr>
            <p:ph type="subTitle" idx="1" hasCustomPrompt="1"/>
          </p:nvPr>
        </p:nvSpPr>
        <p:spPr bwMode="gray">
          <a:xfrm>
            <a:off x="760612" y="5046115"/>
            <a:ext cx="9914678" cy="356616"/>
          </a:xfrm>
          <a:prstGeom prst="rect">
            <a:avLst/>
          </a:prstGeom>
        </p:spPr>
        <p:txBody>
          <a:bodyPr lIns="0" tIns="0" rIns="0" bIns="0" anchor="t" anchorCtr="0"/>
          <a:lstStyle>
            <a:lvl1pPr marL="0" indent="0" algn="l" defTabSz="1218987" rtl="0" eaLnBrk="1" latinLnBrk="0" hangingPunct="1">
              <a:lnSpc>
                <a:spcPct val="90000"/>
              </a:lnSpc>
              <a:spcBef>
                <a:spcPct val="0"/>
              </a:spcBef>
              <a:buNone/>
              <a:defRPr lang="en-US" sz="2600" b="0" kern="1200" cap="none" spc="0" baseline="0" dirty="0">
                <a:solidFill>
                  <a:schemeClr val="tx1"/>
                </a:solidFill>
                <a:latin typeface="Arial" pitchFamily="34" charset="0"/>
                <a:ea typeface="+mn-ea"/>
                <a:cs typeface="Arial" pitchFamily="34" charset="0"/>
              </a:defRPr>
            </a:lvl1pPr>
            <a:lvl2pPr marL="609493" indent="0" algn="ctr">
              <a:buNone/>
              <a:defRPr>
                <a:solidFill>
                  <a:schemeClr val="tx1">
                    <a:tint val="75000"/>
                  </a:schemeClr>
                </a:solidFill>
              </a:defRPr>
            </a:lvl2pPr>
            <a:lvl3pPr marL="1218987" indent="0" algn="ctr">
              <a:buNone/>
              <a:defRPr>
                <a:solidFill>
                  <a:schemeClr val="tx1">
                    <a:tint val="75000"/>
                  </a:schemeClr>
                </a:solidFill>
              </a:defRPr>
            </a:lvl3pPr>
            <a:lvl4pPr marL="1828480" indent="0" algn="ctr">
              <a:buNone/>
              <a:defRPr>
                <a:solidFill>
                  <a:schemeClr val="tx1">
                    <a:tint val="75000"/>
                  </a:schemeClr>
                </a:solidFill>
              </a:defRPr>
            </a:lvl4pPr>
            <a:lvl5pPr marL="2437973" indent="0" algn="ctr">
              <a:buNone/>
              <a:defRPr>
                <a:solidFill>
                  <a:schemeClr val="tx1">
                    <a:tint val="75000"/>
                  </a:schemeClr>
                </a:solidFill>
              </a:defRPr>
            </a:lvl5pPr>
            <a:lvl6pPr marL="3047467" indent="0" algn="ctr">
              <a:buNone/>
              <a:defRPr>
                <a:solidFill>
                  <a:schemeClr val="tx1">
                    <a:tint val="75000"/>
                  </a:schemeClr>
                </a:solidFill>
              </a:defRPr>
            </a:lvl6pPr>
            <a:lvl7pPr marL="3656960" indent="0" algn="ctr">
              <a:buNone/>
              <a:defRPr>
                <a:solidFill>
                  <a:schemeClr val="tx1">
                    <a:tint val="75000"/>
                  </a:schemeClr>
                </a:solidFill>
              </a:defRPr>
            </a:lvl7pPr>
            <a:lvl8pPr marL="4266453" indent="0" algn="ctr">
              <a:buNone/>
              <a:defRPr>
                <a:solidFill>
                  <a:schemeClr val="tx1">
                    <a:tint val="75000"/>
                  </a:schemeClr>
                </a:solidFill>
              </a:defRPr>
            </a:lvl8pPr>
            <a:lvl9pPr marL="4875947" indent="0" algn="ctr">
              <a:buNone/>
              <a:defRPr>
                <a:solidFill>
                  <a:schemeClr val="tx1">
                    <a:tint val="75000"/>
                  </a:schemeClr>
                </a:solidFill>
              </a:defRPr>
            </a:lvl9pPr>
          </a:lstStyle>
          <a:p>
            <a:r>
              <a:rPr lang="en-US"/>
              <a:t>Speaker Name | Date</a:t>
            </a:r>
          </a:p>
        </p:txBody>
      </p:sp>
      <p:grpSp>
        <p:nvGrpSpPr>
          <p:cNvPr id="68" name="Group 67">
            <a:extLst>
              <a:ext uri="{FF2B5EF4-FFF2-40B4-BE49-F238E27FC236}">
                <a16:creationId xmlns:a16="http://schemas.microsoft.com/office/drawing/2014/main" id="{C178D7C6-5801-6B30-A6A7-963788E95D85}"/>
              </a:ext>
            </a:extLst>
          </p:cNvPr>
          <p:cNvGrpSpPr>
            <a:grpSpLocks noChangeAspect="1"/>
          </p:cNvGrpSpPr>
          <p:nvPr/>
        </p:nvGrpSpPr>
        <p:grpSpPr>
          <a:xfrm rot="16200000">
            <a:off x="10152631" y="2542790"/>
            <a:ext cx="3058160" cy="1020580"/>
            <a:chOff x="547688" y="952500"/>
            <a:chExt cx="12190413" cy="4067175"/>
          </a:xfrm>
        </p:grpSpPr>
        <p:sp>
          <p:nvSpPr>
            <p:cNvPr id="69" name="Rectangle 68">
              <a:extLst>
                <a:ext uri="{FF2B5EF4-FFF2-40B4-BE49-F238E27FC236}">
                  <a16:creationId xmlns:a16="http://schemas.microsoft.com/office/drawing/2014/main" id="{69E9C34A-28EF-207E-149B-9EBED2862D65}"/>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0" name="Freeform 7">
              <a:extLst>
                <a:ext uri="{FF2B5EF4-FFF2-40B4-BE49-F238E27FC236}">
                  <a16:creationId xmlns:a16="http://schemas.microsoft.com/office/drawing/2014/main" id="{158C3A6B-F5BB-E37E-DB3D-C1ABEA07F210}"/>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1" name="Freeform 8">
              <a:extLst>
                <a:ext uri="{FF2B5EF4-FFF2-40B4-BE49-F238E27FC236}">
                  <a16:creationId xmlns:a16="http://schemas.microsoft.com/office/drawing/2014/main" id="{A56AE87F-217D-4207-F227-987A2E7FEBFA}"/>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2" name="Freeform 9">
              <a:extLst>
                <a:ext uri="{FF2B5EF4-FFF2-40B4-BE49-F238E27FC236}">
                  <a16:creationId xmlns:a16="http://schemas.microsoft.com/office/drawing/2014/main" id="{D65BCC2D-74A9-8E37-6BBC-33B74966DAC1}"/>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3" name="Freeform 10">
              <a:extLst>
                <a:ext uri="{FF2B5EF4-FFF2-40B4-BE49-F238E27FC236}">
                  <a16:creationId xmlns:a16="http://schemas.microsoft.com/office/drawing/2014/main" id="{BA8558ED-E4BF-D888-EF3B-A311AFE8C47C}"/>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4" name="Freeform 10">
              <a:extLst>
                <a:ext uri="{FF2B5EF4-FFF2-40B4-BE49-F238E27FC236}">
                  <a16:creationId xmlns:a16="http://schemas.microsoft.com/office/drawing/2014/main" id="{AFF1776F-9DBA-D51E-8F71-E1FB30D76794}"/>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11">
              <a:extLst>
                <a:ext uri="{FF2B5EF4-FFF2-40B4-BE49-F238E27FC236}">
                  <a16:creationId xmlns:a16="http://schemas.microsoft.com/office/drawing/2014/main" id="{820D6E3B-9704-EBDF-9D0D-A571A36CBC77}"/>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82" name="TextBox 81">
            <a:extLst>
              <a:ext uri="{FF2B5EF4-FFF2-40B4-BE49-F238E27FC236}">
                <a16:creationId xmlns:a16="http://schemas.microsoft.com/office/drawing/2014/main" id="{D0375F64-E651-1A0A-ABF1-9C38BA663F9F}"/>
              </a:ext>
            </a:extLst>
          </p:cNvPr>
          <p:cNvSpPr txBox="1"/>
          <p:nvPr/>
        </p:nvSpPr>
        <p:spPr>
          <a:xfrm>
            <a:off x="750529"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pic>
        <p:nvPicPr>
          <p:cNvPr id="15" name="图像" descr="图像">
            <a:extLst>
              <a:ext uri="{FF2B5EF4-FFF2-40B4-BE49-F238E27FC236}">
                <a16:creationId xmlns:a16="http://schemas.microsoft.com/office/drawing/2014/main" id="{B39A4FC6-1474-4875-8834-4C2FEC2302F1}"/>
              </a:ext>
            </a:extLst>
          </p:cNvPr>
          <p:cNvPicPr>
            <a:picLocks noChangeAspect="1"/>
          </p:cNvPicPr>
          <p:nvPr userDrawn="1"/>
        </p:nvPicPr>
        <p:blipFill>
          <a:blip r:embed="rId3"/>
          <a:stretch>
            <a:fillRect/>
          </a:stretch>
        </p:blipFill>
        <p:spPr>
          <a:xfrm>
            <a:off x="750530" y="556029"/>
            <a:ext cx="2378059" cy="713232"/>
          </a:xfrm>
          <a:prstGeom prst="rect">
            <a:avLst/>
          </a:prstGeom>
          <a:ln w="12700">
            <a:miter lim="400000"/>
          </a:ln>
        </p:spPr>
      </p:pic>
      <p:sp>
        <p:nvSpPr>
          <p:cNvPr id="16" name="Freeform 5">
            <a:extLst>
              <a:ext uri="{FF2B5EF4-FFF2-40B4-BE49-F238E27FC236}">
                <a16:creationId xmlns:a16="http://schemas.microsoft.com/office/drawing/2014/main" id="{F1DF4F47-0EB8-4BD0-88CF-1CCF9B00DDD0}"/>
              </a:ext>
            </a:extLst>
          </p:cNvPr>
          <p:cNvSpPr>
            <a:spLocks noChangeAspect="1" noEditPoints="1"/>
          </p:cNvSpPr>
          <p:nvPr userDrawn="1"/>
        </p:nvSpPr>
        <p:spPr bwMode="auto">
          <a:xfrm>
            <a:off x="7450666" y="6423096"/>
            <a:ext cx="3224625" cy="255600"/>
          </a:xfrm>
          <a:custGeom>
            <a:avLst/>
            <a:gdLst>
              <a:gd name="T0" fmla="*/ 557 w 2065"/>
              <a:gd name="T1" fmla="*/ 102 h 161"/>
              <a:gd name="T2" fmla="*/ 510 w 2065"/>
              <a:gd name="T3" fmla="*/ 76 h 161"/>
              <a:gd name="T4" fmla="*/ 583 w 2065"/>
              <a:gd name="T5" fmla="*/ 36 h 161"/>
              <a:gd name="T6" fmla="*/ 641 w 2065"/>
              <a:gd name="T7" fmla="*/ 34 h 161"/>
              <a:gd name="T8" fmla="*/ 2038 w 2065"/>
              <a:gd name="T9" fmla="*/ 1 h 161"/>
              <a:gd name="T10" fmla="*/ 706 w 2065"/>
              <a:gd name="T11" fmla="*/ 59 h 161"/>
              <a:gd name="T12" fmla="*/ 733 w 2065"/>
              <a:gd name="T13" fmla="*/ 100 h 161"/>
              <a:gd name="T14" fmla="*/ 1999 w 2065"/>
              <a:gd name="T15" fmla="*/ 132 h 161"/>
              <a:gd name="T16" fmla="*/ 760 w 2065"/>
              <a:gd name="T17" fmla="*/ 84 h 161"/>
              <a:gd name="T18" fmla="*/ 787 w 2065"/>
              <a:gd name="T19" fmla="*/ 93 h 161"/>
              <a:gd name="T20" fmla="*/ 828 w 2065"/>
              <a:gd name="T21" fmla="*/ 76 h 161"/>
              <a:gd name="T22" fmla="*/ 133 w 2065"/>
              <a:gd name="T23" fmla="*/ 36 h 161"/>
              <a:gd name="T24" fmla="*/ 166 w 2065"/>
              <a:gd name="T25" fmla="*/ 78 h 161"/>
              <a:gd name="T26" fmla="*/ 225 w 2065"/>
              <a:gd name="T27" fmla="*/ 132 h 161"/>
              <a:gd name="T28" fmla="*/ 32 w 2065"/>
              <a:gd name="T29" fmla="*/ 40 h 161"/>
              <a:gd name="T30" fmla="*/ 5 w 2065"/>
              <a:gd name="T31" fmla="*/ 43 h 161"/>
              <a:gd name="T32" fmla="*/ 0 w 2065"/>
              <a:gd name="T33" fmla="*/ 114 h 161"/>
              <a:gd name="T34" fmla="*/ 266 w 2065"/>
              <a:gd name="T35" fmla="*/ 43 h 161"/>
              <a:gd name="T36" fmla="*/ 258 w 2065"/>
              <a:gd name="T37" fmla="*/ 104 h 161"/>
              <a:gd name="T38" fmla="*/ 347 w 2065"/>
              <a:gd name="T39" fmla="*/ 76 h 161"/>
              <a:gd name="T40" fmla="*/ 285 w 2065"/>
              <a:gd name="T41" fmla="*/ 103 h 161"/>
              <a:gd name="T42" fmla="*/ 429 w 2065"/>
              <a:gd name="T43" fmla="*/ 36 h 161"/>
              <a:gd name="T44" fmla="*/ 479 w 2065"/>
              <a:gd name="T45" fmla="*/ 128 h 161"/>
              <a:gd name="T46" fmla="*/ 479 w 2065"/>
              <a:gd name="T47" fmla="*/ 36 h 161"/>
              <a:gd name="T48" fmla="*/ 354 w 2065"/>
              <a:gd name="T49" fmla="*/ 132 h 161"/>
              <a:gd name="T50" fmla="*/ 382 w 2065"/>
              <a:gd name="T51" fmla="*/ 55 h 161"/>
              <a:gd name="T52" fmla="*/ 1387 w 2065"/>
              <a:gd name="T53" fmla="*/ 84 h 161"/>
              <a:gd name="T54" fmla="*/ 1335 w 2065"/>
              <a:gd name="T55" fmla="*/ 58 h 161"/>
              <a:gd name="T56" fmla="*/ 1834 w 2065"/>
              <a:gd name="T57" fmla="*/ 132 h 161"/>
              <a:gd name="T58" fmla="*/ 1748 w 2065"/>
              <a:gd name="T59" fmla="*/ 34 h 161"/>
              <a:gd name="T60" fmla="*/ 1748 w 2065"/>
              <a:gd name="T61" fmla="*/ 34 h 161"/>
              <a:gd name="T62" fmla="*/ 1773 w 2065"/>
              <a:gd name="T63" fmla="*/ 84 h 161"/>
              <a:gd name="T64" fmla="*/ 1465 w 2065"/>
              <a:gd name="T65" fmla="*/ 109 h 161"/>
              <a:gd name="T66" fmla="*/ 1480 w 2065"/>
              <a:gd name="T67" fmla="*/ 148 h 161"/>
              <a:gd name="T68" fmla="*/ 1442 w 2065"/>
              <a:gd name="T69" fmla="*/ 102 h 161"/>
              <a:gd name="T70" fmla="*/ 1675 w 2065"/>
              <a:gd name="T71" fmla="*/ 37 h 161"/>
              <a:gd name="T72" fmla="*/ 1655 w 2065"/>
              <a:gd name="T73" fmla="*/ 7 h 161"/>
              <a:gd name="T74" fmla="*/ 1648 w 2065"/>
              <a:gd name="T75" fmla="*/ 132 h 161"/>
              <a:gd name="T76" fmla="*/ 1526 w 2065"/>
              <a:gd name="T77" fmla="*/ 36 h 161"/>
              <a:gd name="T78" fmla="*/ 1528 w 2065"/>
              <a:gd name="T79" fmla="*/ 161 h 161"/>
              <a:gd name="T80" fmla="*/ 980 w 2065"/>
              <a:gd name="T81" fmla="*/ 49 h 161"/>
              <a:gd name="T82" fmla="*/ 997 w 2065"/>
              <a:gd name="T83" fmla="*/ 59 h 161"/>
              <a:gd name="T84" fmla="*/ 1250 w 2065"/>
              <a:gd name="T85" fmla="*/ 132 h 161"/>
              <a:gd name="T86" fmla="*/ 1075 w 2065"/>
              <a:gd name="T87" fmla="*/ 49 h 161"/>
              <a:gd name="T88" fmla="*/ 1092 w 2065"/>
              <a:gd name="T89" fmla="*/ 59 h 161"/>
              <a:gd name="T90" fmla="*/ 910 w 2065"/>
              <a:gd name="T91" fmla="*/ 111 h 161"/>
              <a:gd name="T92" fmla="*/ 909 w 2065"/>
              <a:gd name="T93" fmla="*/ 34 h 161"/>
              <a:gd name="T94" fmla="*/ 910 w 2065"/>
              <a:gd name="T95" fmla="*/ 111 h 161"/>
              <a:gd name="T96" fmla="*/ 1962 w 2065"/>
              <a:gd name="T97" fmla="*/ 77 h 161"/>
              <a:gd name="T98" fmla="*/ 1962 w 2065"/>
              <a:gd name="T99" fmla="*/ 132 h 161"/>
              <a:gd name="T100" fmla="*/ 1941 w 2065"/>
              <a:gd name="T101" fmla="*/ 115 h 161"/>
              <a:gd name="T102" fmla="*/ 1193 w 2065"/>
              <a:gd name="T103" fmla="*/ 34 h 161"/>
              <a:gd name="T104" fmla="*/ 1193 w 2065"/>
              <a:gd name="T105" fmla="*/ 34 h 161"/>
              <a:gd name="T106" fmla="*/ 1218 w 2065"/>
              <a:gd name="T107" fmla="*/ 8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5" h="161">
                <a:moveTo>
                  <a:pt x="530" y="34"/>
                </a:moveTo>
                <a:cubicBezTo>
                  <a:pt x="502" y="34"/>
                  <a:pt x="483" y="57"/>
                  <a:pt x="483" y="84"/>
                </a:cubicBezTo>
                <a:cubicBezTo>
                  <a:pt x="483" y="84"/>
                  <a:pt x="483" y="84"/>
                  <a:pt x="483" y="84"/>
                </a:cubicBezTo>
                <a:cubicBezTo>
                  <a:pt x="483" y="114"/>
                  <a:pt x="504" y="134"/>
                  <a:pt x="533" y="134"/>
                </a:cubicBezTo>
                <a:cubicBezTo>
                  <a:pt x="551" y="134"/>
                  <a:pt x="563" y="127"/>
                  <a:pt x="572" y="116"/>
                </a:cubicBezTo>
                <a:cubicBezTo>
                  <a:pt x="557" y="102"/>
                  <a:pt x="557" y="102"/>
                  <a:pt x="557" y="102"/>
                </a:cubicBezTo>
                <a:cubicBezTo>
                  <a:pt x="549" y="109"/>
                  <a:pt x="543" y="112"/>
                  <a:pt x="533" y="112"/>
                </a:cubicBezTo>
                <a:cubicBezTo>
                  <a:pt x="521" y="112"/>
                  <a:pt x="513" y="106"/>
                  <a:pt x="510" y="93"/>
                </a:cubicBezTo>
                <a:cubicBezTo>
                  <a:pt x="577" y="93"/>
                  <a:pt x="577" y="93"/>
                  <a:pt x="577" y="93"/>
                </a:cubicBezTo>
                <a:cubicBezTo>
                  <a:pt x="577" y="91"/>
                  <a:pt x="577" y="88"/>
                  <a:pt x="577" y="86"/>
                </a:cubicBezTo>
                <a:cubicBezTo>
                  <a:pt x="577" y="59"/>
                  <a:pt x="563" y="34"/>
                  <a:pt x="530" y="34"/>
                </a:cubicBezTo>
                <a:close/>
                <a:moveTo>
                  <a:pt x="510" y="76"/>
                </a:moveTo>
                <a:cubicBezTo>
                  <a:pt x="512" y="64"/>
                  <a:pt x="519" y="56"/>
                  <a:pt x="530" y="56"/>
                </a:cubicBezTo>
                <a:cubicBezTo>
                  <a:pt x="542" y="56"/>
                  <a:pt x="549" y="64"/>
                  <a:pt x="551" y="76"/>
                </a:cubicBezTo>
                <a:lnTo>
                  <a:pt x="510" y="76"/>
                </a:lnTo>
                <a:close/>
                <a:moveTo>
                  <a:pt x="610" y="55"/>
                </a:moveTo>
                <a:cubicBezTo>
                  <a:pt x="610" y="36"/>
                  <a:pt x="610" y="36"/>
                  <a:pt x="610" y="36"/>
                </a:cubicBezTo>
                <a:cubicBezTo>
                  <a:pt x="583" y="36"/>
                  <a:pt x="583" y="36"/>
                  <a:pt x="583" y="36"/>
                </a:cubicBezTo>
                <a:cubicBezTo>
                  <a:pt x="583" y="132"/>
                  <a:pt x="583" y="132"/>
                  <a:pt x="583" y="132"/>
                </a:cubicBezTo>
                <a:cubicBezTo>
                  <a:pt x="610" y="132"/>
                  <a:pt x="610" y="132"/>
                  <a:pt x="610" y="132"/>
                </a:cubicBezTo>
                <a:cubicBezTo>
                  <a:pt x="610" y="97"/>
                  <a:pt x="610" y="97"/>
                  <a:pt x="610" y="97"/>
                </a:cubicBezTo>
                <a:cubicBezTo>
                  <a:pt x="610" y="74"/>
                  <a:pt x="621" y="63"/>
                  <a:pt x="640" y="63"/>
                </a:cubicBezTo>
                <a:cubicBezTo>
                  <a:pt x="641" y="63"/>
                  <a:pt x="641" y="63"/>
                  <a:pt x="641" y="63"/>
                </a:cubicBezTo>
                <a:cubicBezTo>
                  <a:pt x="641" y="34"/>
                  <a:pt x="641" y="34"/>
                  <a:pt x="641" y="34"/>
                </a:cubicBezTo>
                <a:cubicBezTo>
                  <a:pt x="625" y="33"/>
                  <a:pt x="616" y="42"/>
                  <a:pt x="610" y="55"/>
                </a:cubicBezTo>
                <a:close/>
                <a:moveTo>
                  <a:pt x="2038" y="1"/>
                </a:moveTo>
                <a:cubicBezTo>
                  <a:pt x="2038" y="132"/>
                  <a:pt x="2038" y="132"/>
                  <a:pt x="2038" y="132"/>
                </a:cubicBezTo>
                <a:cubicBezTo>
                  <a:pt x="2065" y="132"/>
                  <a:pt x="2065" y="132"/>
                  <a:pt x="2065" y="132"/>
                </a:cubicBezTo>
                <a:cubicBezTo>
                  <a:pt x="2065" y="1"/>
                  <a:pt x="2065" y="1"/>
                  <a:pt x="2065" y="1"/>
                </a:cubicBezTo>
                <a:lnTo>
                  <a:pt x="2038" y="1"/>
                </a:lnTo>
                <a:close/>
                <a:moveTo>
                  <a:pt x="733" y="11"/>
                </a:moveTo>
                <a:cubicBezTo>
                  <a:pt x="706" y="11"/>
                  <a:pt x="706" y="11"/>
                  <a:pt x="706" y="11"/>
                </a:cubicBezTo>
                <a:cubicBezTo>
                  <a:pt x="706" y="36"/>
                  <a:pt x="706" y="36"/>
                  <a:pt x="706" y="36"/>
                </a:cubicBezTo>
                <a:cubicBezTo>
                  <a:pt x="694" y="36"/>
                  <a:pt x="694" y="36"/>
                  <a:pt x="694" y="36"/>
                </a:cubicBezTo>
                <a:cubicBezTo>
                  <a:pt x="694" y="59"/>
                  <a:pt x="694" y="59"/>
                  <a:pt x="694" y="59"/>
                </a:cubicBezTo>
                <a:cubicBezTo>
                  <a:pt x="706" y="59"/>
                  <a:pt x="706" y="59"/>
                  <a:pt x="706" y="59"/>
                </a:cubicBezTo>
                <a:cubicBezTo>
                  <a:pt x="706" y="105"/>
                  <a:pt x="706" y="105"/>
                  <a:pt x="706" y="105"/>
                </a:cubicBezTo>
                <a:cubicBezTo>
                  <a:pt x="706" y="127"/>
                  <a:pt x="717" y="134"/>
                  <a:pt x="734" y="134"/>
                </a:cubicBezTo>
                <a:cubicBezTo>
                  <a:pt x="743" y="134"/>
                  <a:pt x="750" y="132"/>
                  <a:pt x="755" y="128"/>
                </a:cubicBezTo>
                <a:cubicBezTo>
                  <a:pt x="755" y="106"/>
                  <a:pt x="755" y="106"/>
                  <a:pt x="755" y="106"/>
                </a:cubicBezTo>
                <a:cubicBezTo>
                  <a:pt x="752" y="108"/>
                  <a:pt x="747" y="110"/>
                  <a:pt x="742" y="110"/>
                </a:cubicBezTo>
                <a:cubicBezTo>
                  <a:pt x="736" y="110"/>
                  <a:pt x="733" y="107"/>
                  <a:pt x="733" y="100"/>
                </a:cubicBezTo>
                <a:cubicBezTo>
                  <a:pt x="733" y="59"/>
                  <a:pt x="733" y="59"/>
                  <a:pt x="733" y="59"/>
                </a:cubicBezTo>
                <a:cubicBezTo>
                  <a:pt x="756" y="59"/>
                  <a:pt x="756" y="59"/>
                  <a:pt x="756" y="59"/>
                </a:cubicBezTo>
                <a:cubicBezTo>
                  <a:pt x="756" y="36"/>
                  <a:pt x="756" y="36"/>
                  <a:pt x="756" y="36"/>
                </a:cubicBezTo>
                <a:cubicBezTo>
                  <a:pt x="733" y="36"/>
                  <a:pt x="733" y="36"/>
                  <a:pt x="733" y="36"/>
                </a:cubicBezTo>
                <a:lnTo>
                  <a:pt x="733" y="11"/>
                </a:lnTo>
                <a:close/>
                <a:moveTo>
                  <a:pt x="1999" y="132"/>
                </a:moveTo>
                <a:cubicBezTo>
                  <a:pt x="2027" y="132"/>
                  <a:pt x="2027" y="132"/>
                  <a:pt x="2027" y="132"/>
                </a:cubicBezTo>
                <a:cubicBezTo>
                  <a:pt x="2027" y="1"/>
                  <a:pt x="2027" y="1"/>
                  <a:pt x="2027" y="1"/>
                </a:cubicBezTo>
                <a:cubicBezTo>
                  <a:pt x="1999" y="1"/>
                  <a:pt x="1999" y="1"/>
                  <a:pt x="1999" y="1"/>
                </a:cubicBezTo>
                <a:lnTo>
                  <a:pt x="1999" y="132"/>
                </a:lnTo>
                <a:close/>
                <a:moveTo>
                  <a:pt x="807" y="34"/>
                </a:moveTo>
                <a:cubicBezTo>
                  <a:pt x="779" y="34"/>
                  <a:pt x="760" y="57"/>
                  <a:pt x="760" y="84"/>
                </a:cubicBezTo>
                <a:cubicBezTo>
                  <a:pt x="760" y="84"/>
                  <a:pt x="760" y="84"/>
                  <a:pt x="760" y="84"/>
                </a:cubicBezTo>
                <a:cubicBezTo>
                  <a:pt x="760" y="114"/>
                  <a:pt x="781" y="134"/>
                  <a:pt x="810" y="134"/>
                </a:cubicBezTo>
                <a:cubicBezTo>
                  <a:pt x="827" y="134"/>
                  <a:pt x="840" y="127"/>
                  <a:pt x="849" y="116"/>
                </a:cubicBezTo>
                <a:cubicBezTo>
                  <a:pt x="834" y="102"/>
                  <a:pt x="834" y="102"/>
                  <a:pt x="834" y="102"/>
                </a:cubicBezTo>
                <a:cubicBezTo>
                  <a:pt x="826" y="109"/>
                  <a:pt x="820" y="112"/>
                  <a:pt x="810" y="112"/>
                </a:cubicBezTo>
                <a:cubicBezTo>
                  <a:pt x="798" y="112"/>
                  <a:pt x="790" y="106"/>
                  <a:pt x="787" y="93"/>
                </a:cubicBezTo>
                <a:cubicBezTo>
                  <a:pt x="854" y="93"/>
                  <a:pt x="854" y="93"/>
                  <a:pt x="854" y="93"/>
                </a:cubicBezTo>
                <a:cubicBezTo>
                  <a:pt x="854" y="91"/>
                  <a:pt x="854" y="88"/>
                  <a:pt x="854" y="86"/>
                </a:cubicBezTo>
                <a:cubicBezTo>
                  <a:pt x="854" y="59"/>
                  <a:pt x="839" y="34"/>
                  <a:pt x="807" y="34"/>
                </a:cubicBezTo>
                <a:close/>
                <a:moveTo>
                  <a:pt x="787" y="76"/>
                </a:moveTo>
                <a:cubicBezTo>
                  <a:pt x="789" y="64"/>
                  <a:pt x="796" y="56"/>
                  <a:pt x="807" y="56"/>
                </a:cubicBezTo>
                <a:cubicBezTo>
                  <a:pt x="819" y="56"/>
                  <a:pt x="826" y="64"/>
                  <a:pt x="828" y="76"/>
                </a:cubicBezTo>
                <a:lnTo>
                  <a:pt x="787" y="76"/>
                </a:lnTo>
                <a:close/>
                <a:moveTo>
                  <a:pt x="220" y="34"/>
                </a:moveTo>
                <a:cubicBezTo>
                  <a:pt x="207" y="34"/>
                  <a:pt x="197" y="39"/>
                  <a:pt x="189" y="49"/>
                </a:cubicBezTo>
                <a:cubicBezTo>
                  <a:pt x="184" y="40"/>
                  <a:pt x="174" y="34"/>
                  <a:pt x="161" y="34"/>
                </a:cubicBezTo>
                <a:cubicBezTo>
                  <a:pt x="148" y="34"/>
                  <a:pt x="139" y="41"/>
                  <a:pt x="133" y="50"/>
                </a:cubicBezTo>
                <a:cubicBezTo>
                  <a:pt x="133" y="36"/>
                  <a:pt x="133" y="36"/>
                  <a:pt x="133" y="36"/>
                </a:cubicBezTo>
                <a:cubicBezTo>
                  <a:pt x="106" y="36"/>
                  <a:pt x="106" y="36"/>
                  <a:pt x="106" y="36"/>
                </a:cubicBezTo>
                <a:cubicBezTo>
                  <a:pt x="106" y="132"/>
                  <a:pt x="106" y="132"/>
                  <a:pt x="106" y="132"/>
                </a:cubicBezTo>
                <a:cubicBezTo>
                  <a:pt x="133" y="132"/>
                  <a:pt x="133" y="132"/>
                  <a:pt x="133" y="132"/>
                </a:cubicBezTo>
                <a:cubicBezTo>
                  <a:pt x="133" y="78"/>
                  <a:pt x="133" y="78"/>
                  <a:pt x="133" y="78"/>
                </a:cubicBezTo>
                <a:cubicBezTo>
                  <a:pt x="133" y="65"/>
                  <a:pt x="139" y="59"/>
                  <a:pt x="150" y="59"/>
                </a:cubicBezTo>
                <a:cubicBezTo>
                  <a:pt x="160" y="59"/>
                  <a:pt x="166" y="65"/>
                  <a:pt x="166" y="78"/>
                </a:cubicBezTo>
                <a:cubicBezTo>
                  <a:pt x="166" y="132"/>
                  <a:pt x="166" y="132"/>
                  <a:pt x="166" y="132"/>
                </a:cubicBezTo>
                <a:cubicBezTo>
                  <a:pt x="193" y="132"/>
                  <a:pt x="193" y="132"/>
                  <a:pt x="193" y="132"/>
                </a:cubicBezTo>
                <a:cubicBezTo>
                  <a:pt x="193" y="78"/>
                  <a:pt x="193" y="78"/>
                  <a:pt x="193" y="78"/>
                </a:cubicBezTo>
                <a:cubicBezTo>
                  <a:pt x="193" y="65"/>
                  <a:pt x="199" y="59"/>
                  <a:pt x="209" y="59"/>
                </a:cubicBezTo>
                <a:cubicBezTo>
                  <a:pt x="220" y="59"/>
                  <a:pt x="225" y="65"/>
                  <a:pt x="225" y="78"/>
                </a:cubicBezTo>
                <a:cubicBezTo>
                  <a:pt x="225" y="132"/>
                  <a:pt x="225" y="132"/>
                  <a:pt x="225" y="132"/>
                </a:cubicBezTo>
                <a:cubicBezTo>
                  <a:pt x="253" y="132"/>
                  <a:pt x="253" y="132"/>
                  <a:pt x="253" y="132"/>
                </a:cubicBezTo>
                <a:cubicBezTo>
                  <a:pt x="253" y="69"/>
                  <a:pt x="253" y="69"/>
                  <a:pt x="253" y="69"/>
                </a:cubicBezTo>
                <a:cubicBezTo>
                  <a:pt x="253" y="46"/>
                  <a:pt x="240" y="34"/>
                  <a:pt x="220" y="34"/>
                </a:cubicBezTo>
                <a:close/>
                <a:moveTo>
                  <a:pt x="59" y="57"/>
                </a:moveTo>
                <a:cubicBezTo>
                  <a:pt x="38" y="51"/>
                  <a:pt x="32" y="49"/>
                  <a:pt x="32" y="40"/>
                </a:cubicBezTo>
                <a:cubicBezTo>
                  <a:pt x="32" y="40"/>
                  <a:pt x="32" y="40"/>
                  <a:pt x="32" y="40"/>
                </a:cubicBezTo>
                <a:cubicBezTo>
                  <a:pt x="32" y="34"/>
                  <a:pt x="38" y="29"/>
                  <a:pt x="48" y="29"/>
                </a:cubicBezTo>
                <a:cubicBezTo>
                  <a:pt x="59" y="29"/>
                  <a:pt x="70" y="34"/>
                  <a:pt x="81" y="41"/>
                </a:cubicBezTo>
                <a:cubicBezTo>
                  <a:pt x="95" y="21"/>
                  <a:pt x="95" y="21"/>
                  <a:pt x="95" y="21"/>
                </a:cubicBezTo>
                <a:cubicBezTo>
                  <a:pt x="83" y="10"/>
                  <a:pt x="67" y="5"/>
                  <a:pt x="49" y="5"/>
                </a:cubicBezTo>
                <a:cubicBezTo>
                  <a:pt x="23" y="5"/>
                  <a:pt x="5" y="20"/>
                  <a:pt x="5" y="43"/>
                </a:cubicBezTo>
                <a:cubicBezTo>
                  <a:pt x="5" y="43"/>
                  <a:pt x="5" y="43"/>
                  <a:pt x="5" y="43"/>
                </a:cubicBezTo>
                <a:cubicBezTo>
                  <a:pt x="5" y="68"/>
                  <a:pt x="21" y="75"/>
                  <a:pt x="46" y="81"/>
                </a:cubicBezTo>
                <a:cubicBezTo>
                  <a:pt x="67" y="87"/>
                  <a:pt x="72" y="90"/>
                  <a:pt x="72" y="97"/>
                </a:cubicBezTo>
                <a:cubicBezTo>
                  <a:pt x="72" y="98"/>
                  <a:pt x="72" y="98"/>
                  <a:pt x="72" y="98"/>
                </a:cubicBezTo>
                <a:cubicBezTo>
                  <a:pt x="72" y="105"/>
                  <a:pt x="65" y="109"/>
                  <a:pt x="54" y="109"/>
                </a:cubicBezTo>
                <a:cubicBezTo>
                  <a:pt x="39" y="109"/>
                  <a:pt x="27" y="104"/>
                  <a:pt x="16" y="94"/>
                </a:cubicBezTo>
                <a:cubicBezTo>
                  <a:pt x="0" y="114"/>
                  <a:pt x="0" y="114"/>
                  <a:pt x="0" y="114"/>
                </a:cubicBezTo>
                <a:cubicBezTo>
                  <a:pt x="15" y="127"/>
                  <a:pt x="34" y="134"/>
                  <a:pt x="53" y="134"/>
                </a:cubicBezTo>
                <a:cubicBezTo>
                  <a:pt x="80" y="134"/>
                  <a:pt x="99" y="120"/>
                  <a:pt x="99" y="95"/>
                </a:cubicBezTo>
                <a:cubicBezTo>
                  <a:pt x="99" y="95"/>
                  <a:pt x="99" y="95"/>
                  <a:pt x="99" y="95"/>
                </a:cubicBezTo>
                <a:cubicBezTo>
                  <a:pt x="99" y="73"/>
                  <a:pt x="85" y="63"/>
                  <a:pt x="59" y="57"/>
                </a:cubicBezTo>
                <a:close/>
                <a:moveTo>
                  <a:pt x="304" y="35"/>
                </a:moveTo>
                <a:cubicBezTo>
                  <a:pt x="287" y="35"/>
                  <a:pt x="277" y="38"/>
                  <a:pt x="266" y="43"/>
                </a:cubicBezTo>
                <a:cubicBezTo>
                  <a:pt x="273" y="63"/>
                  <a:pt x="273" y="63"/>
                  <a:pt x="273" y="63"/>
                </a:cubicBezTo>
                <a:cubicBezTo>
                  <a:pt x="282" y="60"/>
                  <a:pt x="289" y="58"/>
                  <a:pt x="300" y="58"/>
                </a:cubicBezTo>
                <a:cubicBezTo>
                  <a:pt x="313" y="58"/>
                  <a:pt x="320" y="64"/>
                  <a:pt x="320" y="76"/>
                </a:cubicBezTo>
                <a:cubicBezTo>
                  <a:pt x="320" y="77"/>
                  <a:pt x="320" y="77"/>
                  <a:pt x="320" y="77"/>
                </a:cubicBezTo>
                <a:cubicBezTo>
                  <a:pt x="314" y="75"/>
                  <a:pt x="307" y="73"/>
                  <a:pt x="297" y="73"/>
                </a:cubicBezTo>
                <a:cubicBezTo>
                  <a:pt x="274" y="73"/>
                  <a:pt x="258" y="83"/>
                  <a:pt x="258" y="104"/>
                </a:cubicBezTo>
                <a:cubicBezTo>
                  <a:pt x="258" y="104"/>
                  <a:pt x="258" y="104"/>
                  <a:pt x="258" y="104"/>
                </a:cubicBezTo>
                <a:cubicBezTo>
                  <a:pt x="258" y="123"/>
                  <a:pt x="273" y="134"/>
                  <a:pt x="291" y="134"/>
                </a:cubicBezTo>
                <a:cubicBezTo>
                  <a:pt x="304" y="134"/>
                  <a:pt x="314" y="129"/>
                  <a:pt x="320" y="122"/>
                </a:cubicBezTo>
                <a:cubicBezTo>
                  <a:pt x="320" y="132"/>
                  <a:pt x="320" y="132"/>
                  <a:pt x="320" y="132"/>
                </a:cubicBezTo>
                <a:cubicBezTo>
                  <a:pt x="347" y="132"/>
                  <a:pt x="347" y="132"/>
                  <a:pt x="347" y="132"/>
                </a:cubicBezTo>
                <a:cubicBezTo>
                  <a:pt x="347" y="76"/>
                  <a:pt x="347" y="76"/>
                  <a:pt x="347" y="76"/>
                </a:cubicBezTo>
                <a:cubicBezTo>
                  <a:pt x="347" y="63"/>
                  <a:pt x="343" y="53"/>
                  <a:pt x="336" y="46"/>
                </a:cubicBezTo>
                <a:cubicBezTo>
                  <a:pt x="329" y="39"/>
                  <a:pt x="319" y="35"/>
                  <a:pt x="304" y="35"/>
                </a:cubicBezTo>
                <a:close/>
                <a:moveTo>
                  <a:pt x="321" y="98"/>
                </a:moveTo>
                <a:cubicBezTo>
                  <a:pt x="321" y="108"/>
                  <a:pt x="312" y="115"/>
                  <a:pt x="299" y="115"/>
                </a:cubicBezTo>
                <a:cubicBezTo>
                  <a:pt x="291" y="115"/>
                  <a:pt x="285" y="111"/>
                  <a:pt x="285" y="103"/>
                </a:cubicBezTo>
                <a:cubicBezTo>
                  <a:pt x="285" y="103"/>
                  <a:pt x="285" y="103"/>
                  <a:pt x="285" y="103"/>
                </a:cubicBezTo>
                <a:cubicBezTo>
                  <a:pt x="285" y="94"/>
                  <a:pt x="292" y="90"/>
                  <a:pt x="303" y="90"/>
                </a:cubicBezTo>
                <a:cubicBezTo>
                  <a:pt x="310" y="90"/>
                  <a:pt x="316" y="91"/>
                  <a:pt x="321" y="93"/>
                </a:cubicBezTo>
                <a:lnTo>
                  <a:pt x="321" y="98"/>
                </a:lnTo>
                <a:close/>
                <a:moveTo>
                  <a:pt x="457" y="11"/>
                </a:moveTo>
                <a:cubicBezTo>
                  <a:pt x="429" y="11"/>
                  <a:pt x="429" y="11"/>
                  <a:pt x="429" y="11"/>
                </a:cubicBezTo>
                <a:cubicBezTo>
                  <a:pt x="429" y="36"/>
                  <a:pt x="429" y="36"/>
                  <a:pt x="429" y="36"/>
                </a:cubicBezTo>
                <a:cubicBezTo>
                  <a:pt x="418" y="36"/>
                  <a:pt x="418" y="36"/>
                  <a:pt x="418" y="36"/>
                </a:cubicBezTo>
                <a:cubicBezTo>
                  <a:pt x="418" y="59"/>
                  <a:pt x="418" y="59"/>
                  <a:pt x="418" y="59"/>
                </a:cubicBezTo>
                <a:cubicBezTo>
                  <a:pt x="429" y="59"/>
                  <a:pt x="429" y="59"/>
                  <a:pt x="429" y="59"/>
                </a:cubicBezTo>
                <a:cubicBezTo>
                  <a:pt x="429" y="105"/>
                  <a:pt x="429" y="105"/>
                  <a:pt x="429" y="105"/>
                </a:cubicBezTo>
                <a:cubicBezTo>
                  <a:pt x="429" y="127"/>
                  <a:pt x="441" y="134"/>
                  <a:pt x="457" y="134"/>
                </a:cubicBezTo>
                <a:cubicBezTo>
                  <a:pt x="466" y="134"/>
                  <a:pt x="473" y="132"/>
                  <a:pt x="479" y="128"/>
                </a:cubicBezTo>
                <a:cubicBezTo>
                  <a:pt x="479" y="106"/>
                  <a:pt x="479" y="106"/>
                  <a:pt x="479" y="106"/>
                </a:cubicBezTo>
                <a:cubicBezTo>
                  <a:pt x="475" y="108"/>
                  <a:pt x="470" y="110"/>
                  <a:pt x="465" y="110"/>
                </a:cubicBezTo>
                <a:cubicBezTo>
                  <a:pt x="459" y="110"/>
                  <a:pt x="457" y="107"/>
                  <a:pt x="457" y="100"/>
                </a:cubicBezTo>
                <a:cubicBezTo>
                  <a:pt x="457" y="59"/>
                  <a:pt x="457" y="59"/>
                  <a:pt x="457" y="59"/>
                </a:cubicBezTo>
                <a:cubicBezTo>
                  <a:pt x="479" y="59"/>
                  <a:pt x="479" y="59"/>
                  <a:pt x="479" y="59"/>
                </a:cubicBezTo>
                <a:cubicBezTo>
                  <a:pt x="479" y="36"/>
                  <a:pt x="479" y="36"/>
                  <a:pt x="479" y="36"/>
                </a:cubicBezTo>
                <a:cubicBezTo>
                  <a:pt x="457" y="36"/>
                  <a:pt x="457" y="36"/>
                  <a:pt x="457" y="36"/>
                </a:cubicBezTo>
                <a:lnTo>
                  <a:pt x="457" y="11"/>
                </a:lnTo>
                <a:close/>
                <a:moveTo>
                  <a:pt x="382" y="55"/>
                </a:moveTo>
                <a:cubicBezTo>
                  <a:pt x="382" y="36"/>
                  <a:pt x="382" y="36"/>
                  <a:pt x="382" y="36"/>
                </a:cubicBezTo>
                <a:cubicBezTo>
                  <a:pt x="354" y="36"/>
                  <a:pt x="354" y="36"/>
                  <a:pt x="354" y="36"/>
                </a:cubicBezTo>
                <a:cubicBezTo>
                  <a:pt x="354" y="132"/>
                  <a:pt x="354" y="132"/>
                  <a:pt x="354" y="132"/>
                </a:cubicBezTo>
                <a:cubicBezTo>
                  <a:pt x="382" y="132"/>
                  <a:pt x="382" y="132"/>
                  <a:pt x="382" y="132"/>
                </a:cubicBezTo>
                <a:cubicBezTo>
                  <a:pt x="382" y="97"/>
                  <a:pt x="382" y="97"/>
                  <a:pt x="382" y="97"/>
                </a:cubicBezTo>
                <a:cubicBezTo>
                  <a:pt x="382" y="74"/>
                  <a:pt x="393" y="63"/>
                  <a:pt x="411" y="63"/>
                </a:cubicBezTo>
                <a:cubicBezTo>
                  <a:pt x="412" y="63"/>
                  <a:pt x="412" y="63"/>
                  <a:pt x="412" y="63"/>
                </a:cubicBezTo>
                <a:cubicBezTo>
                  <a:pt x="412" y="34"/>
                  <a:pt x="412" y="34"/>
                  <a:pt x="412" y="34"/>
                </a:cubicBezTo>
                <a:cubicBezTo>
                  <a:pt x="396" y="33"/>
                  <a:pt x="387" y="42"/>
                  <a:pt x="382" y="55"/>
                </a:cubicBezTo>
                <a:close/>
                <a:moveTo>
                  <a:pt x="1335" y="34"/>
                </a:moveTo>
                <a:cubicBezTo>
                  <a:pt x="1305" y="34"/>
                  <a:pt x="1283" y="56"/>
                  <a:pt x="1283" y="84"/>
                </a:cubicBezTo>
                <a:cubicBezTo>
                  <a:pt x="1283" y="84"/>
                  <a:pt x="1283" y="84"/>
                  <a:pt x="1283" y="84"/>
                </a:cubicBezTo>
                <a:cubicBezTo>
                  <a:pt x="1283" y="112"/>
                  <a:pt x="1305" y="134"/>
                  <a:pt x="1335" y="134"/>
                </a:cubicBezTo>
                <a:cubicBezTo>
                  <a:pt x="1365" y="134"/>
                  <a:pt x="1387" y="112"/>
                  <a:pt x="1387" y="84"/>
                </a:cubicBezTo>
                <a:cubicBezTo>
                  <a:pt x="1387" y="84"/>
                  <a:pt x="1387" y="84"/>
                  <a:pt x="1387" y="84"/>
                </a:cubicBezTo>
                <a:cubicBezTo>
                  <a:pt x="1387" y="56"/>
                  <a:pt x="1365" y="34"/>
                  <a:pt x="1335" y="34"/>
                </a:cubicBezTo>
                <a:close/>
                <a:moveTo>
                  <a:pt x="1360" y="84"/>
                </a:moveTo>
                <a:cubicBezTo>
                  <a:pt x="1360" y="99"/>
                  <a:pt x="1351" y="111"/>
                  <a:pt x="1335" y="111"/>
                </a:cubicBezTo>
                <a:cubicBezTo>
                  <a:pt x="1320" y="111"/>
                  <a:pt x="1310" y="98"/>
                  <a:pt x="1310" y="84"/>
                </a:cubicBezTo>
                <a:cubicBezTo>
                  <a:pt x="1310" y="84"/>
                  <a:pt x="1310" y="84"/>
                  <a:pt x="1310" y="84"/>
                </a:cubicBezTo>
                <a:cubicBezTo>
                  <a:pt x="1310" y="70"/>
                  <a:pt x="1319" y="58"/>
                  <a:pt x="1335" y="58"/>
                </a:cubicBezTo>
                <a:cubicBezTo>
                  <a:pt x="1350" y="58"/>
                  <a:pt x="1360" y="70"/>
                  <a:pt x="1360" y="84"/>
                </a:cubicBezTo>
                <a:close/>
                <a:moveTo>
                  <a:pt x="1834" y="55"/>
                </a:moveTo>
                <a:cubicBezTo>
                  <a:pt x="1834" y="36"/>
                  <a:pt x="1834" y="36"/>
                  <a:pt x="1834" y="36"/>
                </a:cubicBezTo>
                <a:cubicBezTo>
                  <a:pt x="1807" y="36"/>
                  <a:pt x="1807" y="36"/>
                  <a:pt x="1807" y="36"/>
                </a:cubicBezTo>
                <a:cubicBezTo>
                  <a:pt x="1807" y="132"/>
                  <a:pt x="1807" y="132"/>
                  <a:pt x="1807" y="132"/>
                </a:cubicBezTo>
                <a:cubicBezTo>
                  <a:pt x="1834" y="132"/>
                  <a:pt x="1834" y="132"/>
                  <a:pt x="1834" y="132"/>
                </a:cubicBezTo>
                <a:cubicBezTo>
                  <a:pt x="1834" y="97"/>
                  <a:pt x="1834" y="97"/>
                  <a:pt x="1834" y="97"/>
                </a:cubicBezTo>
                <a:cubicBezTo>
                  <a:pt x="1834" y="74"/>
                  <a:pt x="1845" y="63"/>
                  <a:pt x="1863" y="63"/>
                </a:cubicBezTo>
                <a:cubicBezTo>
                  <a:pt x="1865" y="63"/>
                  <a:pt x="1865" y="63"/>
                  <a:pt x="1865" y="63"/>
                </a:cubicBezTo>
                <a:cubicBezTo>
                  <a:pt x="1865" y="34"/>
                  <a:pt x="1865" y="34"/>
                  <a:pt x="1865" y="34"/>
                </a:cubicBezTo>
                <a:cubicBezTo>
                  <a:pt x="1848" y="33"/>
                  <a:pt x="1839" y="42"/>
                  <a:pt x="1834" y="55"/>
                </a:cubicBezTo>
                <a:close/>
                <a:moveTo>
                  <a:pt x="1748" y="34"/>
                </a:moveTo>
                <a:cubicBezTo>
                  <a:pt x="1718" y="34"/>
                  <a:pt x="1696" y="56"/>
                  <a:pt x="1696" y="84"/>
                </a:cubicBezTo>
                <a:cubicBezTo>
                  <a:pt x="1696" y="84"/>
                  <a:pt x="1696" y="84"/>
                  <a:pt x="1696" y="84"/>
                </a:cubicBezTo>
                <a:cubicBezTo>
                  <a:pt x="1696" y="112"/>
                  <a:pt x="1718" y="134"/>
                  <a:pt x="1748" y="134"/>
                </a:cubicBezTo>
                <a:cubicBezTo>
                  <a:pt x="1778" y="134"/>
                  <a:pt x="1800" y="112"/>
                  <a:pt x="1800" y="84"/>
                </a:cubicBezTo>
                <a:cubicBezTo>
                  <a:pt x="1800" y="84"/>
                  <a:pt x="1800" y="84"/>
                  <a:pt x="1800" y="84"/>
                </a:cubicBezTo>
                <a:cubicBezTo>
                  <a:pt x="1800" y="56"/>
                  <a:pt x="1778" y="34"/>
                  <a:pt x="1748" y="34"/>
                </a:cubicBezTo>
                <a:close/>
                <a:moveTo>
                  <a:pt x="1773" y="84"/>
                </a:moveTo>
                <a:cubicBezTo>
                  <a:pt x="1773" y="99"/>
                  <a:pt x="1764" y="111"/>
                  <a:pt x="1748" y="111"/>
                </a:cubicBezTo>
                <a:cubicBezTo>
                  <a:pt x="1733" y="111"/>
                  <a:pt x="1723" y="98"/>
                  <a:pt x="1723" y="84"/>
                </a:cubicBezTo>
                <a:cubicBezTo>
                  <a:pt x="1723" y="84"/>
                  <a:pt x="1723" y="84"/>
                  <a:pt x="1723" y="84"/>
                </a:cubicBezTo>
                <a:cubicBezTo>
                  <a:pt x="1723" y="70"/>
                  <a:pt x="1732" y="58"/>
                  <a:pt x="1748" y="58"/>
                </a:cubicBezTo>
                <a:cubicBezTo>
                  <a:pt x="1763" y="58"/>
                  <a:pt x="1773" y="70"/>
                  <a:pt x="1773" y="84"/>
                </a:cubicBezTo>
                <a:close/>
                <a:moveTo>
                  <a:pt x="1465" y="48"/>
                </a:moveTo>
                <a:cubicBezTo>
                  <a:pt x="1458" y="40"/>
                  <a:pt x="1449" y="34"/>
                  <a:pt x="1434" y="34"/>
                </a:cubicBezTo>
                <a:cubicBezTo>
                  <a:pt x="1412" y="34"/>
                  <a:pt x="1391" y="50"/>
                  <a:pt x="1391" y="79"/>
                </a:cubicBezTo>
                <a:cubicBezTo>
                  <a:pt x="1391" y="79"/>
                  <a:pt x="1391" y="79"/>
                  <a:pt x="1391" y="79"/>
                </a:cubicBezTo>
                <a:cubicBezTo>
                  <a:pt x="1391" y="108"/>
                  <a:pt x="1412" y="124"/>
                  <a:pt x="1434" y="124"/>
                </a:cubicBezTo>
                <a:cubicBezTo>
                  <a:pt x="1448" y="124"/>
                  <a:pt x="1457" y="118"/>
                  <a:pt x="1465" y="109"/>
                </a:cubicBezTo>
                <a:cubicBezTo>
                  <a:pt x="1465" y="113"/>
                  <a:pt x="1465" y="113"/>
                  <a:pt x="1465" y="113"/>
                </a:cubicBezTo>
                <a:cubicBezTo>
                  <a:pt x="1465" y="130"/>
                  <a:pt x="1457" y="139"/>
                  <a:pt x="1438" y="139"/>
                </a:cubicBezTo>
                <a:cubicBezTo>
                  <a:pt x="1425" y="139"/>
                  <a:pt x="1415" y="136"/>
                  <a:pt x="1405" y="131"/>
                </a:cubicBezTo>
                <a:cubicBezTo>
                  <a:pt x="1396" y="151"/>
                  <a:pt x="1396" y="151"/>
                  <a:pt x="1396" y="151"/>
                </a:cubicBezTo>
                <a:cubicBezTo>
                  <a:pt x="1408" y="158"/>
                  <a:pt x="1423" y="161"/>
                  <a:pt x="1439" y="161"/>
                </a:cubicBezTo>
                <a:cubicBezTo>
                  <a:pt x="1457" y="161"/>
                  <a:pt x="1471" y="157"/>
                  <a:pt x="1480" y="148"/>
                </a:cubicBezTo>
                <a:cubicBezTo>
                  <a:pt x="1488" y="140"/>
                  <a:pt x="1492" y="128"/>
                  <a:pt x="1492" y="110"/>
                </a:cubicBezTo>
                <a:cubicBezTo>
                  <a:pt x="1492" y="36"/>
                  <a:pt x="1492" y="36"/>
                  <a:pt x="1492" y="36"/>
                </a:cubicBezTo>
                <a:cubicBezTo>
                  <a:pt x="1465" y="36"/>
                  <a:pt x="1465" y="36"/>
                  <a:pt x="1465" y="36"/>
                </a:cubicBezTo>
                <a:lnTo>
                  <a:pt x="1465" y="48"/>
                </a:lnTo>
                <a:close/>
                <a:moveTo>
                  <a:pt x="1465" y="79"/>
                </a:moveTo>
                <a:cubicBezTo>
                  <a:pt x="1465" y="92"/>
                  <a:pt x="1455" y="102"/>
                  <a:pt x="1442" y="102"/>
                </a:cubicBezTo>
                <a:cubicBezTo>
                  <a:pt x="1429" y="102"/>
                  <a:pt x="1419" y="93"/>
                  <a:pt x="1419" y="79"/>
                </a:cubicBezTo>
                <a:cubicBezTo>
                  <a:pt x="1419" y="79"/>
                  <a:pt x="1419" y="79"/>
                  <a:pt x="1419" y="79"/>
                </a:cubicBezTo>
                <a:cubicBezTo>
                  <a:pt x="1419" y="66"/>
                  <a:pt x="1429" y="57"/>
                  <a:pt x="1442" y="57"/>
                </a:cubicBezTo>
                <a:cubicBezTo>
                  <a:pt x="1455" y="57"/>
                  <a:pt x="1465" y="66"/>
                  <a:pt x="1465" y="79"/>
                </a:cubicBezTo>
                <a:close/>
                <a:moveTo>
                  <a:pt x="1697" y="37"/>
                </a:moveTo>
                <a:cubicBezTo>
                  <a:pt x="1675" y="37"/>
                  <a:pt x="1675" y="37"/>
                  <a:pt x="1675" y="37"/>
                </a:cubicBezTo>
                <a:cubicBezTo>
                  <a:pt x="1675" y="33"/>
                  <a:pt x="1675" y="33"/>
                  <a:pt x="1675" y="33"/>
                </a:cubicBezTo>
                <a:cubicBezTo>
                  <a:pt x="1675" y="26"/>
                  <a:pt x="1678" y="23"/>
                  <a:pt x="1684" y="23"/>
                </a:cubicBezTo>
                <a:cubicBezTo>
                  <a:pt x="1689" y="23"/>
                  <a:pt x="1693" y="24"/>
                  <a:pt x="1697" y="25"/>
                </a:cubicBezTo>
                <a:cubicBezTo>
                  <a:pt x="1697" y="2"/>
                  <a:pt x="1697" y="2"/>
                  <a:pt x="1697" y="2"/>
                </a:cubicBezTo>
                <a:cubicBezTo>
                  <a:pt x="1692" y="1"/>
                  <a:pt x="1686" y="0"/>
                  <a:pt x="1677" y="0"/>
                </a:cubicBezTo>
                <a:cubicBezTo>
                  <a:pt x="1668" y="0"/>
                  <a:pt x="1660" y="2"/>
                  <a:pt x="1655" y="7"/>
                </a:cubicBezTo>
                <a:cubicBezTo>
                  <a:pt x="1650" y="12"/>
                  <a:pt x="1648" y="20"/>
                  <a:pt x="1648" y="31"/>
                </a:cubicBezTo>
                <a:cubicBezTo>
                  <a:pt x="1648" y="37"/>
                  <a:pt x="1648" y="37"/>
                  <a:pt x="1648" y="37"/>
                </a:cubicBezTo>
                <a:cubicBezTo>
                  <a:pt x="1636" y="37"/>
                  <a:pt x="1636" y="37"/>
                  <a:pt x="1636" y="37"/>
                </a:cubicBezTo>
                <a:cubicBezTo>
                  <a:pt x="1636" y="59"/>
                  <a:pt x="1636" y="59"/>
                  <a:pt x="1636" y="59"/>
                </a:cubicBezTo>
                <a:cubicBezTo>
                  <a:pt x="1648" y="59"/>
                  <a:pt x="1648" y="59"/>
                  <a:pt x="1648" y="59"/>
                </a:cubicBezTo>
                <a:cubicBezTo>
                  <a:pt x="1648" y="132"/>
                  <a:pt x="1648" y="132"/>
                  <a:pt x="1648" y="132"/>
                </a:cubicBezTo>
                <a:cubicBezTo>
                  <a:pt x="1675" y="132"/>
                  <a:pt x="1675" y="132"/>
                  <a:pt x="1675" y="132"/>
                </a:cubicBezTo>
                <a:cubicBezTo>
                  <a:pt x="1675" y="59"/>
                  <a:pt x="1675" y="59"/>
                  <a:pt x="1675" y="59"/>
                </a:cubicBezTo>
                <a:cubicBezTo>
                  <a:pt x="1697" y="59"/>
                  <a:pt x="1697" y="59"/>
                  <a:pt x="1697" y="59"/>
                </a:cubicBezTo>
                <a:lnTo>
                  <a:pt x="1697" y="37"/>
                </a:lnTo>
                <a:close/>
                <a:moveTo>
                  <a:pt x="1548" y="101"/>
                </a:moveTo>
                <a:cubicBezTo>
                  <a:pt x="1526" y="36"/>
                  <a:pt x="1526" y="36"/>
                  <a:pt x="1526" y="36"/>
                </a:cubicBezTo>
                <a:cubicBezTo>
                  <a:pt x="1497" y="36"/>
                  <a:pt x="1497" y="36"/>
                  <a:pt x="1497" y="36"/>
                </a:cubicBezTo>
                <a:cubicBezTo>
                  <a:pt x="1535" y="132"/>
                  <a:pt x="1535" y="132"/>
                  <a:pt x="1535" y="132"/>
                </a:cubicBezTo>
                <a:cubicBezTo>
                  <a:pt x="1532" y="137"/>
                  <a:pt x="1530" y="139"/>
                  <a:pt x="1525" y="139"/>
                </a:cubicBezTo>
                <a:cubicBezTo>
                  <a:pt x="1521" y="139"/>
                  <a:pt x="1517" y="137"/>
                  <a:pt x="1513" y="135"/>
                </a:cubicBezTo>
                <a:cubicBezTo>
                  <a:pt x="1504" y="155"/>
                  <a:pt x="1504" y="155"/>
                  <a:pt x="1504" y="155"/>
                </a:cubicBezTo>
                <a:cubicBezTo>
                  <a:pt x="1511" y="159"/>
                  <a:pt x="1519" y="161"/>
                  <a:pt x="1528" y="161"/>
                </a:cubicBezTo>
                <a:cubicBezTo>
                  <a:pt x="1545" y="161"/>
                  <a:pt x="1553" y="154"/>
                  <a:pt x="1560" y="134"/>
                </a:cubicBezTo>
                <a:cubicBezTo>
                  <a:pt x="1597" y="36"/>
                  <a:pt x="1597" y="36"/>
                  <a:pt x="1597" y="36"/>
                </a:cubicBezTo>
                <a:cubicBezTo>
                  <a:pt x="1569" y="36"/>
                  <a:pt x="1569" y="36"/>
                  <a:pt x="1569" y="36"/>
                </a:cubicBezTo>
                <a:lnTo>
                  <a:pt x="1548" y="101"/>
                </a:lnTo>
                <a:close/>
                <a:moveTo>
                  <a:pt x="1008" y="34"/>
                </a:moveTo>
                <a:cubicBezTo>
                  <a:pt x="994" y="34"/>
                  <a:pt x="986" y="41"/>
                  <a:pt x="980" y="49"/>
                </a:cubicBezTo>
                <a:cubicBezTo>
                  <a:pt x="980" y="1"/>
                  <a:pt x="980" y="1"/>
                  <a:pt x="980" y="1"/>
                </a:cubicBezTo>
                <a:cubicBezTo>
                  <a:pt x="952" y="1"/>
                  <a:pt x="952" y="1"/>
                  <a:pt x="952" y="1"/>
                </a:cubicBezTo>
                <a:cubicBezTo>
                  <a:pt x="952" y="132"/>
                  <a:pt x="952" y="132"/>
                  <a:pt x="952" y="132"/>
                </a:cubicBezTo>
                <a:cubicBezTo>
                  <a:pt x="980" y="132"/>
                  <a:pt x="980" y="132"/>
                  <a:pt x="980" y="132"/>
                </a:cubicBezTo>
                <a:cubicBezTo>
                  <a:pt x="980" y="78"/>
                  <a:pt x="980" y="78"/>
                  <a:pt x="980" y="78"/>
                </a:cubicBezTo>
                <a:cubicBezTo>
                  <a:pt x="980" y="65"/>
                  <a:pt x="986" y="59"/>
                  <a:pt x="997" y="59"/>
                </a:cubicBezTo>
                <a:cubicBezTo>
                  <a:pt x="1007" y="59"/>
                  <a:pt x="1013" y="65"/>
                  <a:pt x="1013" y="78"/>
                </a:cubicBezTo>
                <a:cubicBezTo>
                  <a:pt x="1013" y="132"/>
                  <a:pt x="1013" y="132"/>
                  <a:pt x="1013" y="132"/>
                </a:cubicBezTo>
                <a:cubicBezTo>
                  <a:pt x="1040" y="132"/>
                  <a:pt x="1040" y="132"/>
                  <a:pt x="1040" y="132"/>
                </a:cubicBezTo>
                <a:cubicBezTo>
                  <a:pt x="1040" y="70"/>
                  <a:pt x="1040" y="70"/>
                  <a:pt x="1040" y="70"/>
                </a:cubicBezTo>
                <a:cubicBezTo>
                  <a:pt x="1040" y="48"/>
                  <a:pt x="1028" y="34"/>
                  <a:pt x="1008" y="34"/>
                </a:cubicBezTo>
                <a:close/>
                <a:moveTo>
                  <a:pt x="1250" y="132"/>
                </a:moveTo>
                <a:cubicBezTo>
                  <a:pt x="1278" y="132"/>
                  <a:pt x="1278" y="132"/>
                  <a:pt x="1278" y="132"/>
                </a:cubicBezTo>
                <a:cubicBezTo>
                  <a:pt x="1278" y="1"/>
                  <a:pt x="1278" y="1"/>
                  <a:pt x="1278" y="1"/>
                </a:cubicBezTo>
                <a:cubicBezTo>
                  <a:pt x="1250" y="1"/>
                  <a:pt x="1250" y="1"/>
                  <a:pt x="1250" y="1"/>
                </a:cubicBezTo>
                <a:lnTo>
                  <a:pt x="1250" y="132"/>
                </a:lnTo>
                <a:close/>
                <a:moveTo>
                  <a:pt x="1103" y="34"/>
                </a:moveTo>
                <a:cubicBezTo>
                  <a:pt x="1089" y="34"/>
                  <a:pt x="1081" y="41"/>
                  <a:pt x="1075" y="49"/>
                </a:cubicBezTo>
                <a:cubicBezTo>
                  <a:pt x="1075" y="36"/>
                  <a:pt x="1075" y="36"/>
                  <a:pt x="1075" y="36"/>
                </a:cubicBezTo>
                <a:cubicBezTo>
                  <a:pt x="1047" y="36"/>
                  <a:pt x="1047" y="36"/>
                  <a:pt x="1047" y="36"/>
                </a:cubicBezTo>
                <a:cubicBezTo>
                  <a:pt x="1047" y="132"/>
                  <a:pt x="1047" y="132"/>
                  <a:pt x="1047" y="132"/>
                </a:cubicBezTo>
                <a:cubicBezTo>
                  <a:pt x="1075" y="132"/>
                  <a:pt x="1075" y="132"/>
                  <a:pt x="1075" y="132"/>
                </a:cubicBezTo>
                <a:cubicBezTo>
                  <a:pt x="1075" y="78"/>
                  <a:pt x="1075" y="78"/>
                  <a:pt x="1075" y="78"/>
                </a:cubicBezTo>
                <a:cubicBezTo>
                  <a:pt x="1075" y="65"/>
                  <a:pt x="1081" y="59"/>
                  <a:pt x="1092" y="59"/>
                </a:cubicBezTo>
                <a:cubicBezTo>
                  <a:pt x="1102" y="59"/>
                  <a:pt x="1108" y="65"/>
                  <a:pt x="1108" y="78"/>
                </a:cubicBezTo>
                <a:cubicBezTo>
                  <a:pt x="1108" y="132"/>
                  <a:pt x="1108" y="132"/>
                  <a:pt x="1108" y="132"/>
                </a:cubicBezTo>
                <a:cubicBezTo>
                  <a:pt x="1135" y="132"/>
                  <a:pt x="1135" y="132"/>
                  <a:pt x="1135" y="132"/>
                </a:cubicBezTo>
                <a:cubicBezTo>
                  <a:pt x="1135" y="70"/>
                  <a:pt x="1135" y="70"/>
                  <a:pt x="1135" y="70"/>
                </a:cubicBezTo>
                <a:cubicBezTo>
                  <a:pt x="1135" y="48"/>
                  <a:pt x="1123" y="34"/>
                  <a:pt x="1103" y="34"/>
                </a:cubicBezTo>
                <a:close/>
                <a:moveTo>
                  <a:pt x="910" y="111"/>
                </a:moveTo>
                <a:cubicBezTo>
                  <a:pt x="895" y="111"/>
                  <a:pt x="885" y="99"/>
                  <a:pt x="885" y="84"/>
                </a:cubicBezTo>
                <a:cubicBezTo>
                  <a:pt x="885" y="84"/>
                  <a:pt x="885" y="84"/>
                  <a:pt x="885" y="84"/>
                </a:cubicBezTo>
                <a:cubicBezTo>
                  <a:pt x="885" y="70"/>
                  <a:pt x="895" y="58"/>
                  <a:pt x="909" y="58"/>
                </a:cubicBezTo>
                <a:cubicBezTo>
                  <a:pt x="918" y="58"/>
                  <a:pt x="925" y="62"/>
                  <a:pt x="931" y="68"/>
                </a:cubicBezTo>
                <a:cubicBezTo>
                  <a:pt x="947" y="50"/>
                  <a:pt x="947" y="50"/>
                  <a:pt x="947" y="50"/>
                </a:cubicBezTo>
                <a:cubicBezTo>
                  <a:pt x="938" y="40"/>
                  <a:pt x="927" y="34"/>
                  <a:pt x="909" y="34"/>
                </a:cubicBezTo>
                <a:cubicBezTo>
                  <a:pt x="880" y="34"/>
                  <a:pt x="859" y="57"/>
                  <a:pt x="859" y="84"/>
                </a:cubicBezTo>
                <a:cubicBezTo>
                  <a:pt x="859" y="84"/>
                  <a:pt x="859" y="84"/>
                  <a:pt x="859" y="84"/>
                </a:cubicBezTo>
                <a:cubicBezTo>
                  <a:pt x="859" y="112"/>
                  <a:pt x="880" y="134"/>
                  <a:pt x="909" y="134"/>
                </a:cubicBezTo>
                <a:cubicBezTo>
                  <a:pt x="928" y="134"/>
                  <a:pt x="939" y="127"/>
                  <a:pt x="948" y="117"/>
                </a:cubicBezTo>
                <a:cubicBezTo>
                  <a:pt x="932" y="100"/>
                  <a:pt x="932" y="100"/>
                  <a:pt x="932" y="100"/>
                </a:cubicBezTo>
                <a:cubicBezTo>
                  <a:pt x="925" y="107"/>
                  <a:pt x="919" y="111"/>
                  <a:pt x="910" y="111"/>
                </a:cubicBezTo>
                <a:close/>
                <a:moveTo>
                  <a:pt x="1945" y="35"/>
                </a:moveTo>
                <a:cubicBezTo>
                  <a:pt x="1929" y="35"/>
                  <a:pt x="1918" y="38"/>
                  <a:pt x="1908" y="42"/>
                </a:cubicBezTo>
                <a:cubicBezTo>
                  <a:pt x="1915" y="63"/>
                  <a:pt x="1915" y="63"/>
                  <a:pt x="1915" y="63"/>
                </a:cubicBezTo>
                <a:cubicBezTo>
                  <a:pt x="1923" y="60"/>
                  <a:pt x="1931" y="58"/>
                  <a:pt x="1941" y="58"/>
                </a:cubicBezTo>
                <a:cubicBezTo>
                  <a:pt x="1955" y="58"/>
                  <a:pt x="1962" y="64"/>
                  <a:pt x="1962" y="76"/>
                </a:cubicBezTo>
                <a:cubicBezTo>
                  <a:pt x="1962" y="77"/>
                  <a:pt x="1962" y="77"/>
                  <a:pt x="1962" y="77"/>
                </a:cubicBezTo>
                <a:cubicBezTo>
                  <a:pt x="1955" y="75"/>
                  <a:pt x="1948" y="73"/>
                  <a:pt x="1938" y="73"/>
                </a:cubicBezTo>
                <a:cubicBezTo>
                  <a:pt x="1915" y="73"/>
                  <a:pt x="1899" y="83"/>
                  <a:pt x="1899" y="104"/>
                </a:cubicBezTo>
                <a:cubicBezTo>
                  <a:pt x="1899" y="104"/>
                  <a:pt x="1899" y="104"/>
                  <a:pt x="1899" y="104"/>
                </a:cubicBezTo>
                <a:cubicBezTo>
                  <a:pt x="1899" y="123"/>
                  <a:pt x="1914" y="134"/>
                  <a:pt x="1932" y="134"/>
                </a:cubicBezTo>
                <a:cubicBezTo>
                  <a:pt x="1946" y="134"/>
                  <a:pt x="1955" y="129"/>
                  <a:pt x="1962" y="122"/>
                </a:cubicBezTo>
                <a:cubicBezTo>
                  <a:pt x="1962" y="132"/>
                  <a:pt x="1962" y="132"/>
                  <a:pt x="1962" y="132"/>
                </a:cubicBezTo>
                <a:cubicBezTo>
                  <a:pt x="1988" y="132"/>
                  <a:pt x="1988" y="132"/>
                  <a:pt x="1988" y="132"/>
                </a:cubicBezTo>
                <a:cubicBezTo>
                  <a:pt x="1988" y="76"/>
                  <a:pt x="1988" y="76"/>
                  <a:pt x="1988" y="76"/>
                </a:cubicBezTo>
                <a:cubicBezTo>
                  <a:pt x="1988" y="63"/>
                  <a:pt x="1985" y="53"/>
                  <a:pt x="1978" y="46"/>
                </a:cubicBezTo>
                <a:cubicBezTo>
                  <a:pt x="1971" y="39"/>
                  <a:pt x="1960" y="35"/>
                  <a:pt x="1945" y="35"/>
                </a:cubicBezTo>
                <a:close/>
                <a:moveTo>
                  <a:pt x="1962" y="98"/>
                </a:moveTo>
                <a:cubicBezTo>
                  <a:pt x="1962" y="108"/>
                  <a:pt x="1953" y="115"/>
                  <a:pt x="1941" y="115"/>
                </a:cubicBezTo>
                <a:cubicBezTo>
                  <a:pt x="1932" y="115"/>
                  <a:pt x="1926" y="111"/>
                  <a:pt x="1926" y="103"/>
                </a:cubicBezTo>
                <a:cubicBezTo>
                  <a:pt x="1926" y="103"/>
                  <a:pt x="1926" y="103"/>
                  <a:pt x="1926" y="103"/>
                </a:cubicBezTo>
                <a:cubicBezTo>
                  <a:pt x="1926" y="94"/>
                  <a:pt x="1933" y="90"/>
                  <a:pt x="1945" y="90"/>
                </a:cubicBezTo>
                <a:cubicBezTo>
                  <a:pt x="1951" y="90"/>
                  <a:pt x="1957" y="91"/>
                  <a:pt x="1962" y="93"/>
                </a:cubicBezTo>
                <a:lnTo>
                  <a:pt x="1962" y="98"/>
                </a:lnTo>
                <a:close/>
                <a:moveTo>
                  <a:pt x="1193" y="34"/>
                </a:moveTo>
                <a:cubicBezTo>
                  <a:pt x="1163" y="34"/>
                  <a:pt x="1141" y="56"/>
                  <a:pt x="1141" y="84"/>
                </a:cubicBezTo>
                <a:cubicBezTo>
                  <a:pt x="1141" y="84"/>
                  <a:pt x="1141" y="84"/>
                  <a:pt x="1141" y="84"/>
                </a:cubicBezTo>
                <a:cubicBezTo>
                  <a:pt x="1141" y="112"/>
                  <a:pt x="1163" y="134"/>
                  <a:pt x="1193" y="134"/>
                </a:cubicBezTo>
                <a:cubicBezTo>
                  <a:pt x="1223" y="134"/>
                  <a:pt x="1245" y="112"/>
                  <a:pt x="1245" y="84"/>
                </a:cubicBezTo>
                <a:cubicBezTo>
                  <a:pt x="1245" y="84"/>
                  <a:pt x="1245" y="84"/>
                  <a:pt x="1245" y="84"/>
                </a:cubicBezTo>
                <a:cubicBezTo>
                  <a:pt x="1245" y="56"/>
                  <a:pt x="1223" y="34"/>
                  <a:pt x="1193" y="34"/>
                </a:cubicBezTo>
                <a:close/>
                <a:moveTo>
                  <a:pt x="1218" y="84"/>
                </a:moveTo>
                <a:cubicBezTo>
                  <a:pt x="1218" y="99"/>
                  <a:pt x="1209" y="111"/>
                  <a:pt x="1193" y="111"/>
                </a:cubicBezTo>
                <a:cubicBezTo>
                  <a:pt x="1178" y="111"/>
                  <a:pt x="1168" y="98"/>
                  <a:pt x="1168" y="84"/>
                </a:cubicBezTo>
                <a:cubicBezTo>
                  <a:pt x="1168" y="84"/>
                  <a:pt x="1168" y="84"/>
                  <a:pt x="1168" y="84"/>
                </a:cubicBezTo>
                <a:cubicBezTo>
                  <a:pt x="1168" y="70"/>
                  <a:pt x="1177" y="58"/>
                  <a:pt x="1193" y="58"/>
                </a:cubicBezTo>
                <a:cubicBezTo>
                  <a:pt x="1208" y="58"/>
                  <a:pt x="1218" y="70"/>
                  <a:pt x="1218" y="84"/>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1800"/>
          </a:p>
        </p:txBody>
      </p:sp>
    </p:spTree>
    <p:extLst>
      <p:ext uri="{BB962C8B-B14F-4D97-AF65-F5344CB8AC3E}">
        <p14:creationId xmlns:p14="http://schemas.microsoft.com/office/powerpoint/2010/main" val="1522457977"/>
      </p:ext>
    </p:extLst>
  </p:cSld>
  <p:clrMapOvr>
    <a:overrideClrMapping bg1="dk1" tx1="lt1" bg2="dk2" tx2="lt2" accent1="accent1" accent2="accent2" accent3="accent3" accent4="accent4" accent5="accent5" accent6="accent6" hlink="hlink" folHlink="folHlink"/>
  </p:clrMapOvr>
  <p:transition spd="med"/>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Section Header_White">
    <p:bg>
      <p:bgPr>
        <a:solidFill>
          <a:schemeClr val="bg1"/>
        </a:solidFill>
        <a:effectLst/>
      </p:bgPr>
    </p:bg>
    <p:spTree>
      <p:nvGrpSpPr>
        <p:cNvPr id="1" name=""/>
        <p:cNvGrpSpPr/>
        <p:nvPr/>
      </p:nvGrpSpPr>
      <p:grpSpPr>
        <a:xfrm>
          <a:off x="0" y="0"/>
          <a:ext cx="0" cy="0"/>
          <a:chOff x="0" y="0"/>
          <a:chExt cx="0" cy="0"/>
        </a:xfrm>
      </p:grpSpPr>
      <p:sp>
        <p:nvSpPr>
          <p:cNvPr id="46" name="Title 16"/>
          <p:cNvSpPr>
            <a:spLocks noGrp="1"/>
          </p:cNvSpPr>
          <p:nvPr>
            <p:ph type="title" hasCustomPrompt="1"/>
          </p:nvPr>
        </p:nvSpPr>
        <p:spPr bwMode="gray">
          <a:xfrm>
            <a:off x="750528" y="1549492"/>
            <a:ext cx="9914678"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9914678"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125361523"/>
      </p:ext>
    </p:extLst>
  </p:cSld>
  <p:clrMapOvr>
    <a:masterClrMapping/>
  </p:clrMapOvr>
  <p:transition spd="med"/>
</p:sldLayout>
</file>

<file path=ppt/slideLayouts/slideLayout322.xml><?xml version="1.0" encoding="utf-8"?>
<p:sldLayout xmlns:a="http://schemas.openxmlformats.org/drawingml/2006/main" xmlns:r="http://schemas.openxmlformats.org/officeDocument/2006/relationships" xmlns:p="http://schemas.openxmlformats.org/presentationml/2006/main" showMasterSp="0" preserve="1">
  <p:cSld name="Section Header_White_2">
    <p:bg>
      <p:bgPr>
        <a:solidFill>
          <a:schemeClr val="bg1"/>
        </a:solidFill>
        <a:effectLst/>
      </p:bgPr>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C08B439B-E84A-4380-B725-5C2E2A35786B}"/>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pic>
        <p:nvPicPr>
          <p:cNvPr id="3" name="Picture 2">
            <a:extLst>
              <a:ext uri="{FF2B5EF4-FFF2-40B4-BE49-F238E27FC236}">
                <a16:creationId xmlns:a16="http://schemas.microsoft.com/office/drawing/2014/main" id="{DD813522-5B75-F893-0706-7E3AB7106AE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b="-100"/>
          <a:stretch/>
        </p:blipFill>
        <p:spPr>
          <a:xfrm flipH="1">
            <a:off x="7618809" y="35"/>
            <a:ext cx="4573191" cy="6857965"/>
          </a:xfrm>
          <a:prstGeom prst="rect">
            <a:avLst/>
          </a:prstGeom>
        </p:spPr>
      </p:pic>
      <p:sp>
        <p:nvSpPr>
          <p:cNvPr id="16" name="TextBox 15">
            <a:extLst>
              <a:ext uri="{FF2B5EF4-FFF2-40B4-BE49-F238E27FC236}">
                <a16:creationId xmlns:a16="http://schemas.microsoft.com/office/drawing/2014/main" id="{89C3EB64-A851-71DD-8882-1FDB7C2E99CB}"/>
              </a:ext>
            </a:extLst>
          </p:cNvPr>
          <p:cNvSpPr txBox="1"/>
          <p:nvPr/>
        </p:nvSpPr>
        <p:spPr>
          <a:xfrm>
            <a:off x="1603772"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8" y="1549492"/>
            <a:ext cx="6265272"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accent3">
                    <a:lumMod val="25000"/>
                  </a:schemeClr>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6265272"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accent3">
                    <a:lumMod val="2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506754690"/>
      </p:ext>
    </p:extLst>
  </p:cSld>
  <p:clrMapOvr>
    <a:masterClrMapping/>
  </p:clrMapOvr>
  <p:transition spd="med"/>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preserve="1">
  <p:cSld name="Section Header_White_3">
    <p:bg>
      <p:bgPr>
        <a:solidFill>
          <a:schemeClr val="bg1"/>
        </a:solidFill>
        <a:effectLst/>
      </p:bgPr>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D5C4C27E-C20F-40CB-85CF-27223BC9C554}"/>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pic>
        <p:nvPicPr>
          <p:cNvPr id="4" name="Picture 3" descr="A person in a white dress&#10;&#10;Description automatically generated with low confidence">
            <a:extLst>
              <a:ext uri="{FF2B5EF4-FFF2-40B4-BE49-F238E27FC236}">
                <a16:creationId xmlns:a16="http://schemas.microsoft.com/office/drawing/2014/main" id="{1852C0BD-7572-C8B3-D29B-44B7409BB26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18809" y="0"/>
            <a:ext cx="4573191" cy="6858000"/>
          </a:xfrm>
          <a:prstGeom prst="rect">
            <a:avLst/>
          </a:prstGeom>
        </p:spPr>
      </p:pic>
      <p:sp>
        <p:nvSpPr>
          <p:cNvPr id="16" name="TextBox 15">
            <a:extLst>
              <a:ext uri="{FF2B5EF4-FFF2-40B4-BE49-F238E27FC236}">
                <a16:creationId xmlns:a16="http://schemas.microsoft.com/office/drawing/2014/main" id="{89C3EB64-A851-71DD-8882-1FDB7C2E99CB}"/>
              </a:ext>
            </a:extLst>
          </p:cNvPr>
          <p:cNvSpPr txBox="1"/>
          <p:nvPr/>
        </p:nvSpPr>
        <p:spPr>
          <a:xfrm>
            <a:off x="1603772"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8" y="1549492"/>
            <a:ext cx="6265272"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accent3">
                    <a:lumMod val="25000"/>
                  </a:schemeClr>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8" y="4328650"/>
            <a:ext cx="6265272"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accent3">
                    <a:lumMod val="2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905789684"/>
      </p:ext>
    </p:extLst>
  </p:cSld>
  <p:clrMapOvr>
    <a:masterClrMapping/>
  </p:clrMapOvr>
  <p:transition spd="med"/>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preserve="1" userDrawn="1">
  <p:cSld name="Section Header_Black">
    <p:bg>
      <p:bgPr>
        <a:solidFill>
          <a:srgbClr val="1E0113"/>
        </a:solidFill>
        <a:effectLst/>
      </p:bgPr>
    </p:bg>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89C3EB64-A851-71DD-8882-1FDB7C2E99CB}"/>
              </a:ext>
            </a:extLst>
          </p:cNvPr>
          <p:cNvSpPr txBox="1"/>
          <p:nvPr userDrawn="1"/>
        </p:nvSpPr>
        <p:spPr>
          <a:xfrm>
            <a:off x="1602806" y="6401580"/>
            <a:ext cx="4115872" cy="153888"/>
          </a:xfrm>
          <a:prstGeom prst="rect">
            <a:avLst/>
          </a:prstGeom>
          <a:noFill/>
        </p:spPr>
        <p:txBody>
          <a:bodyPr wrap="square" lIns="0" tIns="0" rIns="0" bIns="0" rtlCol="0">
            <a:spAutoFit/>
          </a:bodyPr>
          <a:lstStyle/>
          <a:p>
            <a:r>
              <a:rPr lang="en-US" sz="1000">
                <a:solidFill>
                  <a:schemeClr val="bg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76E4C2BE-620B-6B7D-1426-F9CB0B9DB688}"/>
              </a:ext>
            </a:extLst>
          </p:cNvPr>
          <p:cNvGrpSpPr>
            <a:grpSpLocks noChangeAspect="1"/>
          </p:cNvGrpSpPr>
          <p:nvPr userDrawn="1"/>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7C002FA1-87AB-10E7-DF14-BCD2904245D0}"/>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AFC16D85-BEED-1820-DFF9-5D8B0AACAC23}"/>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1F2566FE-64C0-16F6-945D-2961668799EB}"/>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D3B60C47-FE53-B519-B5B0-91907EAADB5E}"/>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51BD7309-4598-0B4D-F955-25A4778655B5}"/>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3AB317A1-606F-084E-CD32-A64A53D259C5}"/>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3ECEF077-D5E5-A906-C26A-748935BA5E8F}"/>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9923824" cy="2405203"/>
          </a:xfrm>
          <a:prstGeom prst="rect">
            <a:avLst/>
          </a:prstGeom>
        </p:spPr>
        <p:txBody>
          <a:bodyPr lIns="0" tIns="0" rIns="0" bIns="0" anchor="b" anchorCtr="0"/>
          <a:lstStyle>
            <a:lvl1pPr marL="0" algn="l" defTabSz="1218987" rtl="0" eaLnBrk="1" latinLnBrk="0" hangingPunct="1">
              <a:lnSpc>
                <a:spcPct val="75000"/>
              </a:lnSpc>
              <a:spcBef>
                <a:spcPct val="0"/>
              </a:spcBef>
              <a:buNone/>
              <a:defRPr lang="en-US" sz="6000" b="1" kern="1200" cap="none" spc="-150" baseline="0" dirty="0">
                <a:solidFill>
                  <a:schemeClr val="bg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9923824" cy="327013"/>
          </a:xfrm>
          <a:prstGeom prst="rect">
            <a:avLst/>
          </a:prstGeom>
        </p:spPr>
        <p:txBody>
          <a:bodyPr wrap="square" lIns="0" tIns="0" rIns="0" bIns="0" anchor="t" anchorCtr="0">
            <a:spAutoFit/>
          </a:bodyPr>
          <a:lstStyle>
            <a:lvl1pPr marL="0" indent="0">
              <a:lnSpc>
                <a:spcPct val="85000"/>
              </a:lnSpc>
              <a:spcBef>
                <a:spcPts val="0"/>
              </a:spcBef>
              <a:buNone/>
              <a:defRPr sz="2500" spc="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5" name="Slide Number Placeholder 4">
            <a:extLst>
              <a:ext uri="{FF2B5EF4-FFF2-40B4-BE49-F238E27FC236}">
                <a16:creationId xmlns:a16="http://schemas.microsoft.com/office/drawing/2014/main" id="{E7C22F89-ADF9-0A52-8877-914CA372E2DE}"/>
              </a:ext>
            </a:extLst>
          </p:cNvPr>
          <p:cNvSpPr>
            <a:spLocks noGrp="1"/>
          </p:cNvSpPr>
          <p:nvPr>
            <p:ph type="sldNum" sz="quarter" idx="10"/>
          </p:nvPr>
        </p:nvSpPr>
        <p:spPr/>
        <p:txBody>
          <a:bodyPr/>
          <a:lstStyle>
            <a:lvl1pPr>
              <a:defRPr>
                <a:solidFill>
                  <a:schemeClr val="bg1"/>
                </a:solidFill>
              </a:defRPr>
            </a:lvl1pPr>
          </a:lstStyle>
          <a:p>
            <a:fld id="{6D22F896-40B5-4ADD-8801-0D06FADFA095}" type="slidenum">
              <a:rPr lang="en-US" smtClean="0"/>
              <a:pPr/>
              <a:t>‹#›</a:t>
            </a:fld>
            <a:endParaRPr lang="en-US"/>
          </a:p>
        </p:txBody>
      </p:sp>
      <p:pic>
        <p:nvPicPr>
          <p:cNvPr id="14" name="图像" descr="图像">
            <a:extLst>
              <a:ext uri="{FF2B5EF4-FFF2-40B4-BE49-F238E27FC236}">
                <a16:creationId xmlns:a16="http://schemas.microsoft.com/office/drawing/2014/main" id="{6E74FFC8-838C-4A9E-AEC5-E95B94BA799E}"/>
              </a:ext>
            </a:extLst>
          </p:cNvPr>
          <p:cNvPicPr>
            <a:picLocks noChangeAspect="1"/>
          </p:cNvPicPr>
          <p:nvPr userDrawn="1"/>
        </p:nvPicPr>
        <p:blipFill>
          <a:blip r:embed="rId2"/>
          <a:stretch>
            <a:fillRect/>
          </a:stretch>
        </p:blipFill>
        <p:spPr>
          <a:xfrm>
            <a:off x="10353183" y="6358296"/>
            <a:ext cx="1284334" cy="385200"/>
          </a:xfrm>
          <a:prstGeom prst="rect">
            <a:avLst/>
          </a:prstGeom>
          <a:ln w="12700">
            <a:miter lim="400000"/>
          </a:ln>
        </p:spPr>
      </p:pic>
    </p:spTree>
    <p:extLst>
      <p:ext uri="{BB962C8B-B14F-4D97-AF65-F5344CB8AC3E}">
        <p14:creationId xmlns:p14="http://schemas.microsoft.com/office/powerpoint/2010/main" val="968128507"/>
      </p:ext>
    </p:extLst>
  </p:cSld>
  <p:clrMapOvr>
    <a:masterClrMapping/>
  </p:clrMapOvr>
  <p:transition spd="med"/>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preserve="1">
  <p:cSld name="Section Header_Black_2">
    <p:bg>
      <p:bgRef idx="1001">
        <a:schemeClr val="bg1"/>
      </p:bgRef>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BCB70D7F-DA6D-4CCD-81E9-90248EF641E0}"/>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72"/>
            <a:ext cx="12192000" cy="6857929"/>
          </a:xfrm>
          <a:prstGeom prst="rect">
            <a:avLst/>
          </a:prstGeom>
        </p:spPr>
      </p:pic>
      <p:pic>
        <p:nvPicPr>
          <p:cNvPr id="27" name="Picture 26">
            <a:extLst>
              <a:ext uri="{FF2B5EF4-FFF2-40B4-BE49-F238E27FC236}">
                <a16:creationId xmlns:a16="http://schemas.microsoft.com/office/drawing/2014/main" id="{4E412EDD-C562-F92D-41A2-18849B2F30C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7618809" y="36"/>
            <a:ext cx="4573191" cy="6857929"/>
          </a:xfrm>
          <a:prstGeom prst="rect">
            <a:avLst/>
          </a:prstGeom>
        </p:spPr>
      </p:pic>
      <p:sp>
        <p:nvSpPr>
          <p:cNvPr id="16" name="TextBox 15">
            <a:extLst>
              <a:ext uri="{FF2B5EF4-FFF2-40B4-BE49-F238E27FC236}">
                <a16:creationId xmlns:a16="http://schemas.microsoft.com/office/drawing/2014/main" id="{C50D814F-EE5B-C084-7424-D39C0DE54FF7}"/>
              </a:ext>
            </a:extLst>
          </p:cNvPr>
          <p:cNvSpPr txBox="1"/>
          <p:nvPr/>
        </p:nvSpPr>
        <p:spPr>
          <a:xfrm>
            <a:off x="1603772"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3C498D60-2F6C-6ADE-BB9A-D957660E0731}"/>
              </a:ext>
            </a:extLst>
          </p:cNvPr>
          <p:cNvGrpSpPr>
            <a:grpSpLocks noChangeAspect="1"/>
          </p:cNvGrpSpPr>
          <p:nvPr/>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C8414641-DA5A-BDF2-889C-1430A63E358C}"/>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6CAA72E6-FAE3-6740-34C0-7A08091254BD}"/>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0EE70422-5E10-8634-79CC-15428116CD0F}"/>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F9B9866C-878A-3BAE-D601-6317EEEB78A9}"/>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20DD7C9B-A88C-7ECB-27AE-CB4579CDB90D}"/>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084B2859-A58F-9171-5328-94CFD162F589}"/>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DC1829C2-6CD9-FE35-3F45-EEC10E2F169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6265272" cy="2405203"/>
          </a:xfrm>
          <a:prstGeom prst="rect">
            <a:avLst/>
          </a:prstGeom>
        </p:spPr>
        <p:txBody>
          <a:bodyPr lIns="0" tIns="0" rIns="0" bIns="0" anchor="b" anchorCtr="0"/>
          <a:lstStyle>
            <a:lvl1pPr marL="0" algn="l" defTabSz="1218987" rtl="0" eaLnBrk="1" latinLnBrk="0" hangingPunct="1">
              <a:lnSpc>
                <a:spcPct val="85000"/>
              </a:lnSpc>
              <a:spcBef>
                <a:spcPct val="0"/>
              </a:spcBef>
              <a:buNone/>
              <a:defRPr lang="en-US" sz="6000"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6265272" cy="327013"/>
          </a:xfrm>
          <a:prstGeom prst="rect">
            <a:avLst/>
          </a:prstGeom>
        </p:spPr>
        <p:txBody>
          <a:bodyPr lIns="0" tIns="0" rIns="0" bIns="0" anchor="t" anchorCtr="0">
            <a:spAutoFit/>
          </a:bodyPr>
          <a:lstStyle>
            <a:lvl1pPr marL="0" indent="0">
              <a:lnSpc>
                <a:spcPct val="85000"/>
              </a:lnSpc>
              <a:spcBef>
                <a:spcPts val="0"/>
              </a:spcBef>
              <a:buNone/>
              <a:defRPr sz="2500"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2" name="Slide Number Placeholder 1">
            <a:extLst>
              <a:ext uri="{FF2B5EF4-FFF2-40B4-BE49-F238E27FC236}">
                <a16:creationId xmlns:a16="http://schemas.microsoft.com/office/drawing/2014/main" id="{E01CC465-FDF1-C0A2-5A83-FB03B2F0F4B6}"/>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189375445"/>
      </p:ext>
    </p:extLst>
  </p:cSld>
  <p:clrMapOvr>
    <a:overrideClrMapping bg1="dk1" tx1="lt1" bg2="dk2" tx2="lt2" accent1="accent1" accent2="accent2" accent3="accent3" accent4="accent4" accent5="accent5" accent6="accent6" hlink="hlink" folHlink="folHlink"/>
  </p:clrMapOvr>
  <p:transition spd="med"/>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preserve="1">
  <p:cSld name="Section Header_Black_3">
    <p:bg>
      <p:bgRef idx="1001">
        <a:schemeClr val="bg1"/>
      </p:bgRef>
    </p:bg>
    <p:spTree>
      <p:nvGrpSpPr>
        <p:cNvPr id="1" name=""/>
        <p:cNvGrpSpPr/>
        <p:nvPr/>
      </p:nvGrpSpPr>
      <p:grpSpPr>
        <a:xfrm>
          <a:off x="0" y="0"/>
          <a:ext cx="0" cy="0"/>
          <a:chOff x="0" y="0"/>
          <a:chExt cx="0" cy="0"/>
        </a:xfrm>
      </p:grpSpPr>
      <p:pic>
        <p:nvPicPr>
          <p:cNvPr id="25" name="Picture 24" descr="Background pattern&#10;&#10;Description automatically generated">
            <a:extLst>
              <a:ext uri="{FF2B5EF4-FFF2-40B4-BE49-F238E27FC236}">
                <a16:creationId xmlns:a16="http://schemas.microsoft.com/office/drawing/2014/main" id="{D2ED0643-8C31-4A20-AE73-693EFF66546C}"/>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 y="36"/>
            <a:ext cx="12192000" cy="6857929"/>
          </a:xfrm>
          <a:prstGeom prst="rect">
            <a:avLst/>
          </a:prstGeom>
        </p:spPr>
      </p:pic>
      <p:pic>
        <p:nvPicPr>
          <p:cNvPr id="28" name="Picture 27" descr="A picture containing tree, plant&#10;&#10;Description automatically generated">
            <a:extLst>
              <a:ext uri="{FF2B5EF4-FFF2-40B4-BE49-F238E27FC236}">
                <a16:creationId xmlns:a16="http://schemas.microsoft.com/office/drawing/2014/main" id="{9C99B980-13C4-5E34-911C-94CDEEA6063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18809" y="0"/>
            <a:ext cx="4573191" cy="6858000"/>
          </a:xfrm>
          <a:prstGeom prst="rect">
            <a:avLst/>
          </a:prstGeom>
        </p:spPr>
      </p:pic>
      <p:sp>
        <p:nvSpPr>
          <p:cNvPr id="16" name="TextBox 15">
            <a:extLst>
              <a:ext uri="{FF2B5EF4-FFF2-40B4-BE49-F238E27FC236}">
                <a16:creationId xmlns:a16="http://schemas.microsoft.com/office/drawing/2014/main" id="{C50D814F-EE5B-C084-7424-D39C0DE54FF7}"/>
              </a:ext>
            </a:extLst>
          </p:cNvPr>
          <p:cNvSpPr txBox="1"/>
          <p:nvPr/>
        </p:nvSpPr>
        <p:spPr>
          <a:xfrm>
            <a:off x="1603772"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17" name="Group 16">
            <a:extLst>
              <a:ext uri="{FF2B5EF4-FFF2-40B4-BE49-F238E27FC236}">
                <a16:creationId xmlns:a16="http://schemas.microsoft.com/office/drawing/2014/main" id="{3C498D60-2F6C-6ADE-BB9A-D957660E0731}"/>
              </a:ext>
            </a:extLst>
          </p:cNvPr>
          <p:cNvGrpSpPr>
            <a:grpSpLocks noChangeAspect="1"/>
          </p:cNvGrpSpPr>
          <p:nvPr/>
        </p:nvGrpSpPr>
        <p:grpSpPr>
          <a:xfrm>
            <a:off x="760611" y="6348283"/>
            <a:ext cx="777442" cy="259316"/>
            <a:chOff x="547688" y="952500"/>
            <a:chExt cx="12190413" cy="4067175"/>
          </a:xfrm>
        </p:grpSpPr>
        <p:sp>
          <p:nvSpPr>
            <p:cNvPr id="18" name="Rectangle 17">
              <a:extLst>
                <a:ext uri="{FF2B5EF4-FFF2-40B4-BE49-F238E27FC236}">
                  <a16:creationId xmlns:a16="http://schemas.microsoft.com/office/drawing/2014/main" id="{C8414641-DA5A-BDF2-889C-1430A63E358C}"/>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7">
              <a:extLst>
                <a:ext uri="{FF2B5EF4-FFF2-40B4-BE49-F238E27FC236}">
                  <a16:creationId xmlns:a16="http://schemas.microsoft.com/office/drawing/2014/main" id="{6CAA72E6-FAE3-6740-34C0-7A08091254BD}"/>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8">
              <a:extLst>
                <a:ext uri="{FF2B5EF4-FFF2-40B4-BE49-F238E27FC236}">
                  <a16:creationId xmlns:a16="http://schemas.microsoft.com/office/drawing/2014/main" id="{0EE70422-5E10-8634-79CC-15428116CD0F}"/>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9">
              <a:extLst>
                <a:ext uri="{FF2B5EF4-FFF2-40B4-BE49-F238E27FC236}">
                  <a16:creationId xmlns:a16="http://schemas.microsoft.com/office/drawing/2014/main" id="{F9B9866C-878A-3BAE-D601-6317EEEB78A9}"/>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10">
              <a:extLst>
                <a:ext uri="{FF2B5EF4-FFF2-40B4-BE49-F238E27FC236}">
                  <a16:creationId xmlns:a16="http://schemas.microsoft.com/office/drawing/2014/main" id="{20DD7C9B-A88C-7ECB-27AE-CB4579CDB90D}"/>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10">
              <a:extLst>
                <a:ext uri="{FF2B5EF4-FFF2-40B4-BE49-F238E27FC236}">
                  <a16:creationId xmlns:a16="http://schemas.microsoft.com/office/drawing/2014/main" id="{084B2859-A58F-9171-5328-94CFD162F589}"/>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11">
              <a:extLst>
                <a:ext uri="{FF2B5EF4-FFF2-40B4-BE49-F238E27FC236}">
                  <a16:creationId xmlns:a16="http://schemas.microsoft.com/office/drawing/2014/main" id="{DC1829C2-6CD9-FE35-3F45-EEC10E2F169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6" name="Title 16"/>
          <p:cNvSpPr>
            <a:spLocks noGrp="1"/>
          </p:cNvSpPr>
          <p:nvPr>
            <p:ph type="title" hasCustomPrompt="1"/>
          </p:nvPr>
        </p:nvSpPr>
        <p:spPr bwMode="gray">
          <a:xfrm>
            <a:off x="750529" y="1549492"/>
            <a:ext cx="6265272" cy="2405203"/>
          </a:xfrm>
          <a:prstGeom prst="rect">
            <a:avLst/>
          </a:prstGeom>
        </p:spPr>
        <p:txBody>
          <a:bodyPr lIns="0" tIns="0" rIns="0" bIns="0" anchor="b" anchorCtr="0"/>
          <a:lstStyle>
            <a:lvl1pPr marL="0" algn="l" defTabSz="1218987" rtl="0" eaLnBrk="1" latinLnBrk="0" hangingPunct="1">
              <a:lnSpc>
                <a:spcPct val="85000"/>
              </a:lnSpc>
              <a:spcBef>
                <a:spcPct val="0"/>
              </a:spcBef>
              <a:buNone/>
              <a:defRPr lang="en-US" sz="6000" b="1" kern="1200" cap="none" spc="-150" baseline="0" dirty="0">
                <a:solidFill>
                  <a:schemeClr val="tx1"/>
                </a:solidFill>
                <a:latin typeface="Arial" pitchFamily="34" charset="0"/>
                <a:ea typeface="+mn-ea"/>
                <a:cs typeface="Arial" pitchFamily="34" charset="0"/>
              </a:defRPr>
            </a:lvl1pPr>
          </a:lstStyle>
          <a:p>
            <a:r>
              <a:rPr lang="en-US"/>
              <a:t>Section header</a:t>
            </a:r>
          </a:p>
        </p:txBody>
      </p:sp>
      <p:sp>
        <p:nvSpPr>
          <p:cNvPr id="11" name="Text Placeholder 2"/>
          <p:cNvSpPr>
            <a:spLocks noGrp="1"/>
          </p:cNvSpPr>
          <p:nvPr>
            <p:ph type="body" idx="1" hasCustomPrompt="1"/>
          </p:nvPr>
        </p:nvSpPr>
        <p:spPr bwMode="white">
          <a:xfrm>
            <a:off x="750529" y="4328650"/>
            <a:ext cx="6265272" cy="327013"/>
          </a:xfrm>
          <a:prstGeom prst="rect">
            <a:avLst/>
          </a:prstGeom>
        </p:spPr>
        <p:txBody>
          <a:bodyPr lIns="0" tIns="0" rIns="0" bIns="0" anchor="t" anchorCtr="0">
            <a:spAutoFit/>
          </a:bodyPr>
          <a:lstStyle>
            <a:lvl1pPr marL="0" indent="0">
              <a:lnSpc>
                <a:spcPct val="85000"/>
              </a:lnSpc>
              <a:spcBef>
                <a:spcPts val="0"/>
              </a:spcBef>
              <a:buNone/>
              <a:defRPr sz="2500"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Subhead here</a:t>
            </a:r>
          </a:p>
        </p:txBody>
      </p:sp>
      <p:sp>
        <p:nvSpPr>
          <p:cNvPr id="2" name="Slide Number Placeholder 1">
            <a:extLst>
              <a:ext uri="{FF2B5EF4-FFF2-40B4-BE49-F238E27FC236}">
                <a16:creationId xmlns:a16="http://schemas.microsoft.com/office/drawing/2014/main" id="{E01CC465-FDF1-C0A2-5A83-FB03B2F0F4B6}"/>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129240869"/>
      </p:ext>
    </p:extLst>
  </p:cSld>
  <p:clrMapOvr>
    <a:overrideClrMapping bg1="dk1" tx1="lt1" bg2="dk2" tx2="lt2" accent1="accent1" accent2="accent2" accent3="accent3" accent4="accent4" accent5="accent5" accent6="accent6" hlink="hlink" folHlink="folHlink"/>
  </p:clrMapOvr>
  <p:transition spd="med"/>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99A0C0A2-1C95-CF60-15E7-57B445A89924}"/>
              </a:ext>
            </a:extLst>
          </p:cNvPr>
          <p:cNvSpPr>
            <a:spLocks noGrp="1"/>
          </p:cNvSpPr>
          <p:nvPr>
            <p:ph type="sldNum" sz="quarter" idx="10"/>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4013587783"/>
      </p:ext>
    </p:extLst>
  </p:cSld>
  <p:clrMapOvr>
    <a:masterClrMapping/>
  </p:clrMapOvr>
  <p:transition spd="med"/>
</p:sldLayout>
</file>

<file path=ppt/slideLayouts/slideLayout328.xml><?xml version="1.0" encoding="utf-8"?>
<p:sldLayout xmlns:a="http://schemas.openxmlformats.org/drawingml/2006/main" xmlns:r="http://schemas.openxmlformats.org/officeDocument/2006/relationships" xmlns:p="http://schemas.openxmlformats.org/presentationml/2006/main" showMasterSp="0" preserve="1">
  <p:cSld name="Title Only_Black">
    <p:bg>
      <p:bgPr>
        <a:solidFill>
          <a:srgbClr val="1E0113"/>
        </a:solidFill>
        <a:effectLst/>
      </p:bgPr>
    </p:bg>
    <p:spTree>
      <p:nvGrpSpPr>
        <p:cNvPr id="1" name=""/>
        <p:cNvGrpSpPr/>
        <p:nvPr/>
      </p:nvGrpSpPr>
      <p:grpSpPr>
        <a:xfrm>
          <a:off x="0" y="0"/>
          <a:ext cx="0" cy="0"/>
          <a:chOff x="0" y="0"/>
          <a:chExt cx="0" cy="0"/>
        </a:xfrm>
      </p:grpSpPr>
      <p:sp>
        <p:nvSpPr>
          <p:cNvPr id="2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5" name="TextBox 24">
            <a:extLst>
              <a:ext uri="{FF2B5EF4-FFF2-40B4-BE49-F238E27FC236}">
                <a16:creationId xmlns:a16="http://schemas.microsoft.com/office/drawing/2014/main" id="{CBEE098D-3AB1-76DB-7D94-47416B95B315}"/>
              </a:ext>
            </a:extLst>
          </p:cNvPr>
          <p:cNvSpPr txBox="1"/>
          <p:nvPr/>
        </p:nvSpPr>
        <p:spPr>
          <a:xfrm>
            <a:off x="1602706" y="6401580"/>
            <a:ext cx="4115872" cy="153888"/>
          </a:xfrm>
          <a:prstGeom prst="rect">
            <a:avLst/>
          </a:prstGeom>
          <a:noFill/>
        </p:spPr>
        <p:txBody>
          <a:bodyPr wrap="square" lIns="0" tIns="0" rIns="0" bIns="0" rtlCol="0">
            <a:spAutoFit/>
          </a:bodyPr>
          <a:lstStyle/>
          <a:p>
            <a:r>
              <a:rPr lang="en-US" sz="1000">
                <a:solidFill>
                  <a:schemeClr val="tx1"/>
                </a:solidFill>
                <a:latin typeface="Arial" pitchFamily="34" charset="0"/>
                <a:cs typeface="Arial" pitchFamily="34" charset="0"/>
              </a:rPr>
              <a:t>2023 Lenovo Internal. All rights reserved.</a:t>
            </a:r>
          </a:p>
        </p:txBody>
      </p:sp>
      <p:grpSp>
        <p:nvGrpSpPr>
          <p:cNvPr id="26" name="Group 25">
            <a:extLst>
              <a:ext uri="{FF2B5EF4-FFF2-40B4-BE49-F238E27FC236}">
                <a16:creationId xmlns:a16="http://schemas.microsoft.com/office/drawing/2014/main" id="{7D3A8838-C4DB-A234-AE13-77FD359114A0}"/>
              </a:ext>
            </a:extLst>
          </p:cNvPr>
          <p:cNvGrpSpPr>
            <a:grpSpLocks noChangeAspect="1"/>
          </p:cNvGrpSpPr>
          <p:nvPr/>
        </p:nvGrpSpPr>
        <p:grpSpPr>
          <a:xfrm>
            <a:off x="760611" y="6348283"/>
            <a:ext cx="777442" cy="259316"/>
            <a:chOff x="547688" y="952500"/>
            <a:chExt cx="12190413" cy="4067175"/>
          </a:xfrm>
        </p:grpSpPr>
        <p:sp>
          <p:nvSpPr>
            <p:cNvPr id="27" name="Rectangle 26">
              <a:extLst>
                <a:ext uri="{FF2B5EF4-FFF2-40B4-BE49-F238E27FC236}">
                  <a16:creationId xmlns:a16="http://schemas.microsoft.com/office/drawing/2014/main" id="{27C46987-CA04-04BE-C5FA-56E293EEB905}"/>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8" name="Freeform 7">
              <a:extLst>
                <a:ext uri="{FF2B5EF4-FFF2-40B4-BE49-F238E27FC236}">
                  <a16:creationId xmlns:a16="http://schemas.microsoft.com/office/drawing/2014/main" id="{91EA1B80-EF2A-EAE6-2B00-FF82A1405645}"/>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9" name="Freeform 8">
              <a:extLst>
                <a:ext uri="{FF2B5EF4-FFF2-40B4-BE49-F238E27FC236}">
                  <a16:creationId xmlns:a16="http://schemas.microsoft.com/office/drawing/2014/main" id="{679F583A-C57A-3239-E8A4-1C575A0EA73C}"/>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0" name="Freeform 9">
              <a:extLst>
                <a:ext uri="{FF2B5EF4-FFF2-40B4-BE49-F238E27FC236}">
                  <a16:creationId xmlns:a16="http://schemas.microsoft.com/office/drawing/2014/main" id="{36324797-C488-8192-F77E-9F600E5490D0}"/>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1" name="Freeform 10">
              <a:extLst>
                <a:ext uri="{FF2B5EF4-FFF2-40B4-BE49-F238E27FC236}">
                  <a16:creationId xmlns:a16="http://schemas.microsoft.com/office/drawing/2014/main" id="{6A067FCF-35DE-4E09-CCD5-280D653D4A60}"/>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2" name="Freeform 10">
              <a:extLst>
                <a:ext uri="{FF2B5EF4-FFF2-40B4-BE49-F238E27FC236}">
                  <a16:creationId xmlns:a16="http://schemas.microsoft.com/office/drawing/2014/main" id="{65171654-F4B2-F1B9-6AF4-18F3A499E487}"/>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3" name="Freeform 11">
              <a:extLst>
                <a:ext uri="{FF2B5EF4-FFF2-40B4-BE49-F238E27FC236}">
                  <a16:creationId xmlns:a16="http://schemas.microsoft.com/office/drawing/2014/main" id="{7E3A5950-4507-5E83-F8E2-F78AD0930D0E}"/>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 name="Slide Number Placeholder 1">
            <a:extLst>
              <a:ext uri="{FF2B5EF4-FFF2-40B4-BE49-F238E27FC236}">
                <a16:creationId xmlns:a16="http://schemas.microsoft.com/office/drawing/2014/main" id="{A245D89D-54AB-A7D6-4141-95E6B3C3695D}"/>
              </a:ext>
            </a:extLst>
          </p:cNvPr>
          <p:cNvSpPr>
            <a:spLocks noGrp="1"/>
          </p:cNvSpPr>
          <p:nvPr>
            <p:ph type="sldNum" sz="quarter" idx="10"/>
          </p:nvPr>
        </p:nvSpPr>
        <p:spPr/>
        <p:txBody>
          <a:bodyPr/>
          <a:lstStyle>
            <a:lvl1pPr>
              <a:defRPr>
                <a:solidFill>
                  <a:schemeClr val="tx1"/>
                </a:solidFill>
              </a:defRPr>
            </a:lvl1pPr>
          </a:lstStyle>
          <a:p>
            <a:fld id="{6D22F896-40B5-4ADD-8801-0D06FADFA095}" type="slidenum">
              <a:rPr lang="en-US" smtClean="0"/>
              <a:pPr/>
              <a:t>‹#›</a:t>
            </a:fld>
            <a:endParaRPr lang="en-US"/>
          </a:p>
        </p:txBody>
      </p:sp>
      <p:pic>
        <p:nvPicPr>
          <p:cNvPr id="13" name="图像" descr="图像">
            <a:extLst>
              <a:ext uri="{FF2B5EF4-FFF2-40B4-BE49-F238E27FC236}">
                <a16:creationId xmlns:a16="http://schemas.microsoft.com/office/drawing/2014/main" id="{174B4021-3F45-4710-AF12-EFE89FDFFDE9}"/>
              </a:ext>
            </a:extLst>
          </p:cNvPr>
          <p:cNvPicPr>
            <a:picLocks noChangeAspect="1"/>
          </p:cNvPicPr>
          <p:nvPr userDrawn="1"/>
        </p:nvPicPr>
        <p:blipFill>
          <a:blip r:embed="rId2"/>
          <a:stretch>
            <a:fillRect/>
          </a:stretch>
        </p:blipFill>
        <p:spPr>
          <a:xfrm>
            <a:off x="10353183" y="6358296"/>
            <a:ext cx="1284334" cy="385200"/>
          </a:xfrm>
          <a:prstGeom prst="rect">
            <a:avLst/>
          </a:prstGeom>
          <a:ln w="12700">
            <a:miter lim="400000"/>
          </a:ln>
        </p:spPr>
      </p:pic>
    </p:spTree>
    <p:extLst>
      <p:ext uri="{BB962C8B-B14F-4D97-AF65-F5344CB8AC3E}">
        <p14:creationId xmlns:p14="http://schemas.microsoft.com/office/powerpoint/2010/main" val="2587416508"/>
      </p:ext>
    </p:extLst>
  </p:cSld>
  <p:clrMapOvr>
    <a:overrideClrMapping bg1="dk1" tx1="lt1" bg2="dk2" tx2="lt2" accent1="accent1" accent2="accent2" accent3="accent3" accent4="accent4" accent5="accent5" accent6="accent6" hlink="hlink" folHlink="folHlink"/>
  </p:clrMapOvr>
  <p:transition spd="med"/>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p:cSld name="Title with Subtitle Only">
    <p:bg>
      <p:bgPr>
        <a:solidFill>
          <a:schemeClr val="bg1"/>
        </a:solidFill>
        <a:effectLst/>
      </p:bgPr>
    </p:bg>
    <p:spTree>
      <p:nvGrpSpPr>
        <p:cNvPr id="1" name=""/>
        <p:cNvGrpSpPr/>
        <p:nvPr/>
      </p:nvGrpSpPr>
      <p:grpSpPr>
        <a:xfrm>
          <a:off x="0" y="0"/>
          <a:ext cx="0" cy="0"/>
          <a:chOff x="0" y="0"/>
          <a:chExt cx="0" cy="0"/>
        </a:xfrm>
      </p:grpSpPr>
      <p:sp>
        <p:nvSpPr>
          <p:cNvPr id="23" name="Text Placeholder 2"/>
          <p:cNvSpPr>
            <a:spLocks noGrp="1"/>
          </p:cNvSpPr>
          <p:nvPr>
            <p:ph type="body" idx="10" hasCustomPrompt="1"/>
          </p:nvPr>
        </p:nvSpPr>
        <p:spPr bwMode="gray">
          <a:xfrm>
            <a:off x="760610" y="931563"/>
            <a:ext cx="10673828" cy="261610"/>
          </a:xfrm>
          <a:prstGeom prst="rect">
            <a:avLst/>
          </a:prstGeom>
        </p:spPr>
        <p:txBody>
          <a:bodyPr lIns="0" tIns="0" rIns="0" bIns="0" anchor="t" anchorCtr="0">
            <a:noAutofit/>
          </a:bodyPr>
          <a:lstStyle>
            <a:lvl1pPr marL="0" indent="0">
              <a:lnSpc>
                <a:spcPct val="85000"/>
              </a:lnSpc>
              <a:spcBef>
                <a:spcPts val="0"/>
              </a:spcBef>
              <a:buNone/>
              <a:defRPr sz="2000" b="0">
                <a:solidFill>
                  <a:schemeClr val="tx1"/>
                </a:solidFill>
                <a:latin typeface="Arial" pitchFamily="34" charset="0"/>
                <a:cs typeface="Arial" pitchFamily="34" charset="0"/>
              </a:defRPr>
            </a:lvl1pPr>
            <a:lvl2pPr marL="609493" indent="0">
              <a:buNone/>
              <a:defRPr sz="2700" b="1"/>
            </a:lvl2pPr>
            <a:lvl3pPr marL="1218987" indent="0">
              <a:buNone/>
              <a:defRPr sz="2400" b="1"/>
            </a:lvl3pPr>
            <a:lvl4pPr marL="1828480" indent="0">
              <a:buNone/>
              <a:defRPr sz="2100" b="1"/>
            </a:lvl4pPr>
            <a:lvl5pPr marL="2437973" indent="0">
              <a:buNone/>
              <a:defRPr sz="2100" b="1"/>
            </a:lvl5pPr>
            <a:lvl6pPr marL="3047467" indent="0">
              <a:buNone/>
              <a:defRPr sz="2100" b="1"/>
            </a:lvl6pPr>
            <a:lvl7pPr marL="3656960" indent="0">
              <a:buNone/>
              <a:defRPr sz="2100" b="1"/>
            </a:lvl7pPr>
            <a:lvl8pPr marL="4266453" indent="0">
              <a:buNone/>
              <a:defRPr sz="2100" b="1"/>
            </a:lvl8pPr>
            <a:lvl9pPr marL="4875947" indent="0">
              <a:buNone/>
              <a:defRPr sz="2100" b="1"/>
            </a:lvl9pPr>
          </a:lstStyle>
          <a:p>
            <a:pPr lvl="0"/>
            <a:r>
              <a:rPr lang="en-US"/>
              <a:t>Click to edit master text styles</a:t>
            </a:r>
          </a:p>
        </p:txBody>
      </p:sp>
      <p:sp>
        <p:nvSpPr>
          <p:cNvPr id="11" name="Title 28"/>
          <p:cNvSpPr>
            <a:spLocks noGrp="1"/>
          </p:cNvSpPr>
          <p:nvPr>
            <p:ph type="title" hasCustomPrompt="1"/>
          </p:nvPr>
        </p:nvSpPr>
        <p:spPr bwMode="gray">
          <a:xfrm>
            <a:off x="760611" y="442528"/>
            <a:ext cx="10670780" cy="418576"/>
          </a:xfrm>
          <a:prstGeom prst="rect">
            <a:avLst/>
          </a:prstGeom>
        </p:spPr>
        <p:txBody>
          <a:bodyPr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r>
              <a:rPr lang="en-US"/>
              <a:t>Click to edit master title</a:t>
            </a:r>
          </a:p>
        </p:txBody>
      </p:sp>
      <p:sp>
        <p:nvSpPr>
          <p:cNvPr id="2" name="Slide Number Placeholder 1">
            <a:extLst>
              <a:ext uri="{FF2B5EF4-FFF2-40B4-BE49-F238E27FC236}">
                <a16:creationId xmlns:a16="http://schemas.microsoft.com/office/drawing/2014/main" id="{C55B6443-4299-282C-565B-68E5F9702780}"/>
              </a:ext>
            </a:extLst>
          </p:cNvPr>
          <p:cNvSpPr>
            <a:spLocks noGrp="1"/>
          </p:cNvSpPr>
          <p:nvPr>
            <p:ph type="sldNum" sz="quarter" idx="11"/>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894260274"/>
      </p:ext>
    </p:extLst>
  </p:cSld>
  <p:clrMapOvr>
    <a:masterClrMapping/>
  </p:clrMapOvr>
  <p:transition spd="med"/>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30.xml"/><Relationship Id="rId18" Type="http://schemas.openxmlformats.org/officeDocument/2006/relationships/slideLayout" Target="../slideLayouts/slideLayout35.xml"/><Relationship Id="rId26" Type="http://schemas.openxmlformats.org/officeDocument/2006/relationships/slideLayout" Target="../slideLayouts/slideLayout43.xml"/><Relationship Id="rId21" Type="http://schemas.openxmlformats.org/officeDocument/2006/relationships/slideLayout" Target="../slideLayouts/slideLayout38.xml"/><Relationship Id="rId34" Type="http://schemas.openxmlformats.org/officeDocument/2006/relationships/slideLayout" Target="../slideLayouts/slideLayout51.xml"/><Relationship Id="rId7" Type="http://schemas.openxmlformats.org/officeDocument/2006/relationships/slideLayout" Target="../slideLayouts/slideLayout24.xml"/><Relationship Id="rId12" Type="http://schemas.openxmlformats.org/officeDocument/2006/relationships/slideLayout" Target="../slideLayouts/slideLayout29.xml"/><Relationship Id="rId17" Type="http://schemas.openxmlformats.org/officeDocument/2006/relationships/slideLayout" Target="../slideLayouts/slideLayout34.xml"/><Relationship Id="rId25" Type="http://schemas.openxmlformats.org/officeDocument/2006/relationships/slideLayout" Target="../slideLayouts/slideLayout42.xml"/><Relationship Id="rId33" Type="http://schemas.openxmlformats.org/officeDocument/2006/relationships/slideLayout" Target="../slideLayouts/slideLayout50.xml"/><Relationship Id="rId38" Type="http://schemas.openxmlformats.org/officeDocument/2006/relationships/theme" Target="../theme/theme2.xml"/><Relationship Id="rId2" Type="http://schemas.openxmlformats.org/officeDocument/2006/relationships/slideLayout" Target="../slideLayouts/slideLayout19.xml"/><Relationship Id="rId16" Type="http://schemas.openxmlformats.org/officeDocument/2006/relationships/slideLayout" Target="../slideLayouts/slideLayout33.xml"/><Relationship Id="rId20" Type="http://schemas.openxmlformats.org/officeDocument/2006/relationships/slideLayout" Target="../slideLayouts/slideLayout37.xml"/><Relationship Id="rId29" Type="http://schemas.openxmlformats.org/officeDocument/2006/relationships/slideLayout" Target="../slideLayouts/slideLayout46.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24" Type="http://schemas.openxmlformats.org/officeDocument/2006/relationships/slideLayout" Target="../slideLayouts/slideLayout41.xml"/><Relationship Id="rId32" Type="http://schemas.openxmlformats.org/officeDocument/2006/relationships/slideLayout" Target="../slideLayouts/slideLayout49.xml"/><Relationship Id="rId37" Type="http://schemas.openxmlformats.org/officeDocument/2006/relationships/slideLayout" Target="../slideLayouts/slideLayout54.xml"/><Relationship Id="rId5" Type="http://schemas.openxmlformats.org/officeDocument/2006/relationships/slideLayout" Target="../slideLayouts/slideLayout22.xml"/><Relationship Id="rId15" Type="http://schemas.openxmlformats.org/officeDocument/2006/relationships/slideLayout" Target="../slideLayouts/slideLayout32.xml"/><Relationship Id="rId23" Type="http://schemas.openxmlformats.org/officeDocument/2006/relationships/slideLayout" Target="../slideLayouts/slideLayout40.xml"/><Relationship Id="rId28" Type="http://schemas.openxmlformats.org/officeDocument/2006/relationships/slideLayout" Target="../slideLayouts/slideLayout45.xml"/><Relationship Id="rId36" Type="http://schemas.openxmlformats.org/officeDocument/2006/relationships/slideLayout" Target="../slideLayouts/slideLayout53.xml"/><Relationship Id="rId10" Type="http://schemas.openxmlformats.org/officeDocument/2006/relationships/slideLayout" Target="../slideLayouts/slideLayout27.xml"/><Relationship Id="rId19" Type="http://schemas.openxmlformats.org/officeDocument/2006/relationships/slideLayout" Target="../slideLayouts/slideLayout36.xml"/><Relationship Id="rId31" Type="http://schemas.openxmlformats.org/officeDocument/2006/relationships/slideLayout" Target="../slideLayouts/slideLayout48.xml"/><Relationship Id="rId4" Type="http://schemas.openxmlformats.org/officeDocument/2006/relationships/slideLayout" Target="../slideLayouts/slideLayout21.xml"/><Relationship Id="rId9" Type="http://schemas.openxmlformats.org/officeDocument/2006/relationships/slideLayout" Target="../slideLayouts/slideLayout26.xml"/><Relationship Id="rId14" Type="http://schemas.openxmlformats.org/officeDocument/2006/relationships/slideLayout" Target="../slideLayouts/slideLayout31.xml"/><Relationship Id="rId22" Type="http://schemas.openxmlformats.org/officeDocument/2006/relationships/slideLayout" Target="../slideLayouts/slideLayout39.xml"/><Relationship Id="rId27" Type="http://schemas.openxmlformats.org/officeDocument/2006/relationships/slideLayout" Target="../slideLayouts/slideLayout44.xml"/><Relationship Id="rId30" Type="http://schemas.openxmlformats.org/officeDocument/2006/relationships/slideLayout" Target="../slideLayouts/slideLayout47.xml"/><Relationship Id="rId35" Type="http://schemas.openxmlformats.org/officeDocument/2006/relationships/slideLayout" Target="../slideLayouts/slideLayout52.xml"/><Relationship Id="rId8" Type="http://schemas.openxmlformats.org/officeDocument/2006/relationships/slideLayout" Target="../slideLayouts/slideLayout25.xml"/><Relationship Id="rId3"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26" Type="http://schemas.openxmlformats.org/officeDocument/2006/relationships/slideLayout" Target="../slideLayouts/slideLayout80.xml"/><Relationship Id="rId21" Type="http://schemas.openxmlformats.org/officeDocument/2006/relationships/slideLayout" Target="../slideLayouts/slideLayout75.xml"/><Relationship Id="rId42" Type="http://schemas.openxmlformats.org/officeDocument/2006/relationships/slideLayout" Target="../slideLayouts/slideLayout96.xml"/><Relationship Id="rId47" Type="http://schemas.openxmlformats.org/officeDocument/2006/relationships/slideLayout" Target="../slideLayouts/slideLayout101.xml"/><Relationship Id="rId63" Type="http://schemas.openxmlformats.org/officeDocument/2006/relationships/slideLayout" Target="../slideLayouts/slideLayout117.xml"/><Relationship Id="rId68" Type="http://schemas.openxmlformats.org/officeDocument/2006/relationships/slideLayout" Target="../slideLayouts/slideLayout122.xml"/><Relationship Id="rId2" Type="http://schemas.openxmlformats.org/officeDocument/2006/relationships/slideLayout" Target="../slideLayouts/slideLayout56.xml"/><Relationship Id="rId16" Type="http://schemas.openxmlformats.org/officeDocument/2006/relationships/slideLayout" Target="../slideLayouts/slideLayout70.xml"/><Relationship Id="rId29" Type="http://schemas.openxmlformats.org/officeDocument/2006/relationships/slideLayout" Target="../slideLayouts/slideLayout83.xml"/><Relationship Id="rId11" Type="http://schemas.openxmlformats.org/officeDocument/2006/relationships/slideLayout" Target="../slideLayouts/slideLayout65.xml"/><Relationship Id="rId24" Type="http://schemas.openxmlformats.org/officeDocument/2006/relationships/slideLayout" Target="../slideLayouts/slideLayout78.xml"/><Relationship Id="rId32" Type="http://schemas.openxmlformats.org/officeDocument/2006/relationships/slideLayout" Target="../slideLayouts/slideLayout86.xml"/><Relationship Id="rId37" Type="http://schemas.openxmlformats.org/officeDocument/2006/relationships/slideLayout" Target="../slideLayouts/slideLayout91.xml"/><Relationship Id="rId40" Type="http://schemas.openxmlformats.org/officeDocument/2006/relationships/slideLayout" Target="../slideLayouts/slideLayout94.xml"/><Relationship Id="rId45" Type="http://schemas.openxmlformats.org/officeDocument/2006/relationships/slideLayout" Target="../slideLayouts/slideLayout99.xml"/><Relationship Id="rId53" Type="http://schemas.openxmlformats.org/officeDocument/2006/relationships/slideLayout" Target="../slideLayouts/slideLayout107.xml"/><Relationship Id="rId58" Type="http://schemas.openxmlformats.org/officeDocument/2006/relationships/slideLayout" Target="../slideLayouts/slideLayout112.xml"/><Relationship Id="rId66" Type="http://schemas.openxmlformats.org/officeDocument/2006/relationships/slideLayout" Target="../slideLayouts/slideLayout120.xml"/><Relationship Id="rId74" Type="http://schemas.openxmlformats.org/officeDocument/2006/relationships/tags" Target="../tags/tag2.xml"/><Relationship Id="rId5" Type="http://schemas.openxmlformats.org/officeDocument/2006/relationships/slideLayout" Target="../slideLayouts/slideLayout59.xml"/><Relationship Id="rId61" Type="http://schemas.openxmlformats.org/officeDocument/2006/relationships/slideLayout" Target="../slideLayouts/slideLayout115.xml"/><Relationship Id="rId19" Type="http://schemas.openxmlformats.org/officeDocument/2006/relationships/slideLayout" Target="../slideLayouts/slideLayout73.xml"/><Relationship Id="rId14" Type="http://schemas.openxmlformats.org/officeDocument/2006/relationships/slideLayout" Target="../slideLayouts/slideLayout68.xml"/><Relationship Id="rId22" Type="http://schemas.openxmlformats.org/officeDocument/2006/relationships/slideLayout" Target="../slideLayouts/slideLayout76.xml"/><Relationship Id="rId27" Type="http://schemas.openxmlformats.org/officeDocument/2006/relationships/slideLayout" Target="../slideLayouts/slideLayout81.xml"/><Relationship Id="rId30" Type="http://schemas.openxmlformats.org/officeDocument/2006/relationships/slideLayout" Target="../slideLayouts/slideLayout84.xml"/><Relationship Id="rId35" Type="http://schemas.openxmlformats.org/officeDocument/2006/relationships/slideLayout" Target="../slideLayouts/slideLayout89.xml"/><Relationship Id="rId43" Type="http://schemas.openxmlformats.org/officeDocument/2006/relationships/slideLayout" Target="../slideLayouts/slideLayout97.xml"/><Relationship Id="rId48" Type="http://schemas.openxmlformats.org/officeDocument/2006/relationships/slideLayout" Target="../slideLayouts/slideLayout102.xml"/><Relationship Id="rId56" Type="http://schemas.openxmlformats.org/officeDocument/2006/relationships/slideLayout" Target="../slideLayouts/slideLayout110.xml"/><Relationship Id="rId64" Type="http://schemas.openxmlformats.org/officeDocument/2006/relationships/slideLayout" Target="../slideLayouts/slideLayout118.xml"/><Relationship Id="rId69" Type="http://schemas.openxmlformats.org/officeDocument/2006/relationships/slideLayout" Target="../slideLayouts/slideLayout123.xml"/><Relationship Id="rId8" Type="http://schemas.openxmlformats.org/officeDocument/2006/relationships/slideLayout" Target="../slideLayouts/slideLayout62.xml"/><Relationship Id="rId51" Type="http://schemas.openxmlformats.org/officeDocument/2006/relationships/slideLayout" Target="../slideLayouts/slideLayout105.xml"/><Relationship Id="rId72" Type="http://schemas.openxmlformats.org/officeDocument/2006/relationships/slideLayout" Target="../slideLayouts/slideLayout126.xml"/><Relationship Id="rId3" Type="http://schemas.openxmlformats.org/officeDocument/2006/relationships/slideLayout" Target="../slideLayouts/slideLayout57.xml"/><Relationship Id="rId12" Type="http://schemas.openxmlformats.org/officeDocument/2006/relationships/slideLayout" Target="../slideLayouts/slideLayout66.xml"/><Relationship Id="rId17" Type="http://schemas.openxmlformats.org/officeDocument/2006/relationships/slideLayout" Target="../slideLayouts/slideLayout71.xml"/><Relationship Id="rId25" Type="http://schemas.openxmlformats.org/officeDocument/2006/relationships/slideLayout" Target="../slideLayouts/slideLayout79.xml"/><Relationship Id="rId33" Type="http://schemas.openxmlformats.org/officeDocument/2006/relationships/slideLayout" Target="../slideLayouts/slideLayout87.xml"/><Relationship Id="rId38" Type="http://schemas.openxmlformats.org/officeDocument/2006/relationships/slideLayout" Target="../slideLayouts/slideLayout92.xml"/><Relationship Id="rId46" Type="http://schemas.openxmlformats.org/officeDocument/2006/relationships/slideLayout" Target="../slideLayouts/slideLayout100.xml"/><Relationship Id="rId59" Type="http://schemas.openxmlformats.org/officeDocument/2006/relationships/slideLayout" Target="../slideLayouts/slideLayout113.xml"/><Relationship Id="rId67" Type="http://schemas.openxmlformats.org/officeDocument/2006/relationships/slideLayout" Target="../slideLayouts/slideLayout121.xml"/><Relationship Id="rId20" Type="http://schemas.openxmlformats.org/officeDocument/2006/relationships/slideLayout" Target="../slideLayouts/slideLayout74.xml"/><Relationship Id="rId41" Type="http://schemas.openxmlformats.org/officeDocument/2006/relationships/slideLayout" Target="../slideLayouts/slideLayout95.xml"/><Relationship Id="rId54" Type="http://schemas.openxmlformats.org/officeDocument/2006/relationships/slideLayout" Target="../slideLayouts/slideLayout108.xml"/><Relationship Id="rId62" Type="http://schemas.openxmlformats.org/officeDocument/2006/relationships/slideLayout" Target="../slideLayouts/slideLayout116.xml"/><Relationship Id="rId70" Type="http://schemas.openxmlformats.org/officeDocument/2006/relationships/slideLayout" Target="../slideLayouts/slideLayout124.xml"/><Relationship Id="rId75" Type="http://schemas.openxmlformats.org/officeDocument/2006/relationships/oleObject" Target="../embeddings/oleObject1.bin"/><Relationship Id="rId1" Type="http://schemas.openxmlformats.org/officeDocument/2006/relationships/slideLayout" Target="../slideLayouts/slideLayout55.xml"/><Relationship Id="rId6" Type="http://schemas.openxmlformats.org/officeDocument/2006/relationships/slideLayout" Target="../slideLayouts/slideLayout60.xml"/><Relationship Id="rId15" Type="http://schemas.openxmlformats.org/officeDocument/2006/relationships/slideLayout" Target="../slideLayouts/slideLayout69.xml"/><Relationship Id="rId23" Type="http://schemas.openxmlformats.org/officeDocument/2006/relationships/slideLayout" Target="../slideLayouts/slideLayout77.xml"/><Relationship Id="rId28" Type="http://schemas.openxmlformats.org/officeDocument/2006/relationships/slideLayout" Target="../slideLayouts/slideLayout82.xml"/><Relationship Id="rId36" Type="http://schemas.openxmlformats.org/officeDocument/2006/relationships/slideLayout" Target="../slideLayouts/slideLayout90.xml"/><Relationship Id="rId49" Type="http://schemas.openxmlformats.org/officeDocument/2006/relationships/slideLayout" Target="../slideLayouts/slideLayout103.xml"/><Relationship Id="rId57" Type="http://schemas.openxmlformats.org/officeDocument/2006/relationships/slideLayout" Target="../slideLayouts/slideLayout111.xml"/><Relationship Id="rId10" Type="http://schemas.openxmlformats.org/officeDocument/2006/relationships/slideLayout" Target="../slideLayouts/slideLayout64.xml"/><Relationship Id="rId31" Type="http://schemas.openxmlformats.org/officeDocument/2006/relationships/slideLayout" Target="../slideLayouts/slideLayout85.xml"/><Relationship Id="rId44" Type="http://schemas.openxmlformats.org/officeDocument/2006/relationships/slideLayout" Target="../slideLayouts/slideLayout98.xml"/><Relationship Id="rId52" Type="http://schemas.openxmlformats.org/officeDocument/2006/relationships/slideLayout" Target="../slideLayouts/slideLayout106.xml"/><Relationship Id="rId60" Type="http://schemas.openxmlformats.org/officeDocument/2006/relationships/slideLayout" Target="../slideLayouts/slideLayout114.xml"/><Relationship Id="rId65" Type="http://schemas.openxmlformats.org/officeDocument/2006/relationships/slideLayout" Target="../slideLayouts/slideLayout119.xml"/><Relationship Id="rId73" Type="http://schemas.openxmlformats.org/officeDocument/2006/relationships/theme" Target="../theme/theme3.xml"/><Relationship Id="rId4" Type="http://schemas.openxmlformats.org/officeDocument/2006/relationships/slideLayout" Target="../slideLayouts/slideLayout58.xml"/><Relationship Id="rId9" Type="http://schemas.openxmlformats.org/officeDocument/2006/relationships/slideLayout" Target="../slideLayouts/slideLayout63.xml"/><Relationship Id="rId13" Type="http://schemas.openxmlformats.org/officeDocument/2006/relationships/slideLayout" Target="../slideLayouts/slideLayout67.xml"/><Relationship Id="rId18" Type="http://schemas.openxmlformats.org/officeDocument/2006/relationships/slideLayout" Target="../slideLayouts/slideLayout72.xml"/><Relationship Id="rId39" Type="http://schemas.openxmlformats.org/officeDocument/2006/relationships/slideLayout" Target="../slideLayouts/slideLayout93.xml"/><Relationship Id="rId34" Type="http://schemas.openxmlformats.org/officeDocument/2006/relationships/slideLayout" Target="../slideLayouts/slideLayout88.xml"/><Relationship Id="rId50" Type="http://schemas.openxmlformats.org/officeDocument/2006/relationships/slideLayout" Target="../slideLayouts/slideLayout104.xml"/><Relationship Id="rId55" Type="http://schemas.openxmlformats.org/officeDocument/2006/relationships/slideLayout" Target="../slideLayouts/slideLayout109.xml"/><Relationship Id="rId76" Type="http://schemas.openxmlformats.org/officeDocument/2006/relationships/image" Target="../media/image10.emf"/><Relationship Id="rId7" Type="http://schemas.openxmlformats.org/officeDocument/2006/relationships/slideLayout" Target="../slideLayouts/slideLayout61.xml"/><Relationship Id="rId71" Type="http://schemas.openxmlformats.org/officeDocument/2006/relationships/slideLayout" Target="../slideLayouts/slideLayout125.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39.xml"/><Relationship Id="rId18" Type="http://schemas.openxmlformats.org/officeDocument/2006/relationships/slideLayout" Target="../slideLayouts/slideLayout144.xml"/><Relationship Id="rId26" Type="http://schemas.openxmlformats.org/officeDocument/2006/relationships/slideLayout" Target="../slideLayouts/slideLayout152.xml"/><Relationship Id="rId39" Type="http://schemas.openxmlformats.org/officeDocument/2006/relationships/tags" Target="../tags/tag13.xml"/><Relationship Id="rId21" Type="http://schemas.openxmlformats.org/officeDocument/2006/relationships/slideLayout" Target="../slideLayouts/slideLayout147.xml"/><Relationship Id="rId34" Type="http://schemas.openxmlformats.org/officeDocument/2006/relationships/slideLayout" Target="../slideLayouts/slideLayout160.xml"/><Relationship Id="rId7" Type="http://schemas.openxmlformats.org/officeDocument/2006/relationships/slideLayout" Target="../slideLayouts/slideLayout133.xml"/><Relationship Id="rId2" Type="http://schemas.openxmlformats.org/officeDocument/2006/relationships/slideLayout" Target="../slideLayouts/slideLayout128.xml"/><Relationship Id="rId16" Type="http://schemas.openxmlformats.org/officeDocument/2006/relationships/slideLayout" Target="../slideLayouts/slideLayout142.xml"/><Relationship Id="rId20" Type="http://schemas.openxmlformats.org/officeDocument/2006/relationships/slideLayout" Target="../slideLayouts/slideLayout146.xml"/><Relationship Id="rId29" Type="http://schemas.openxmlformats.org/officeDocument/2006/relationships/slideLayout" Target="../slideLayouts/slideLayout155.xml"/><Relationship Id="rId41" Type="http://schemas.openxmlformats.org/officeDocument/2006/relationships/image" Target="../media/image21.emf"/><Relationship Id="rId1" Type="http://schemas.openxmlformats.org/officeDocument/2006/relationships/slideLayout" Target="../slideLayouts/slideLayout127.xml"/><Relationship Id="rId6" Type="http://schemas.openxmlformats.org/officeDocument/2006/relationships/slideLayout" Target="../slideLayouts/slideLayout132.xml"/><Relationship Id="rId11" Type="http://schemas.openxmlformats.org/officeDocument/2006/relationships/slideLayout" Target="../slideLayouts/slideLayout137.xml"/><Relationship Id="rId24" Type="http://schemas.openxmlformats.org/officeDocument/2006/relationships/slideLayout" Target="../slideLayouts/slideLayout150.xml"/><Relationship Id="rId32" Type="http://schemas.openxmlformats.org/officeDocument/2006/relationships/slideLayout" Target="../slideLayouts/slideLayout158.xml"/><Relationship Id="rId37" Type="http://schemas.openxmlformats.org/officeDocument/2006/relationships/slideLayout" Target="../slideLayouts/slideLayout163.xml"/><Relationship Id="rId40" Type="http://schemas.openxmlformats.org/officeDocument/2006/relationships/oleObject" Target="../embeddings/oleObject6.bin"/><Relationship Id="rId5" Type="http://schemas.openxmlformats.org/officeDocument/2006/relationships/slideLayout" Target="../slideLayouts/slideLayout131.xml"/><Relationship Id="rId15" Type="http://schemas.openxmlformats.org/officeDocument/2006/relationships/slideLayout" Target="../slideLayouts/slideLayout141.xml"/><Relationship Id="rId23" Type="http://schemas.openxmlformats.org/officeDocument/2006/relationships/slideLayout" Target="../slideLayouts/slideLayout149.xml"/><Relationship Id="rId28" Type="http://schemas.openxmlformats.org/officeDocument/2006/relationships/slideLayout" Target="../slideLayouts/slideLayout154.xml"/><Relationship Id="rId36" Type="http://schemas.openxmlformats.org/officeDocument/2006/relationships/slideLayout" Target="../slideLayouts/slideLayout162.xml"/><Relationship Id="rId10" Type="http://schemas.openxmlformats.org/officeDocument/2006/relationships/slideLayout" Target="../slideLayouts/slideLayout136.xml"/><Relationship Id="rId19" Type="http://schemas.openxmlformats.org/officeDocument/2006/relationships/slideLayout" Target="../slideLayouts/slideLayout145.xml"/><Relationship Id="rId31" Type="http://schemas.openxmlformats.org/officeDocument/2006/relationships/slideLayout" Target="../slideLayouts/slideLayout157.xml"/><Relationship Id="rId4" Type="http://schemas.openxmlformats.org/officeDocument/2006/relationships/slideLayout" Target="../slideLayouts/slideLayout130.xml"/><Relationship Id="rId9" Type="http://schemas.openxmlformats.org/officeDocument/2006/relationships/slideLayout" Target="../slideLayouts/slideLayout135.xml"/><Relationship Id="rId14" Type="http://schemas.openxmlformats.org/officeDocument/2006/relationships/slideLayout" Target="../slideLayouts/slideLayout140.xml"/><Relationship Id="rId22" Type="http://schemas.openxmlformats.org/officeDocument/2006/relationships/slideLayout" Target="../slideLayouts/slideLayout148.xml"/><Relationship Id="rId27" Type="http://schemas.openxmlformats.org/officeDocument/2006/relationships/slideLayout" Target="../slideLayouts/slideLayout153.xml"/><Relationship Id="rId30" Type="http://schemas.openxmlformats.org/officeDocument/2006/relationships/slideLayout" Target="../slideLayouts/slideLayout156.xml"/><Relationship Id="rId35" Type="http://schemas.openxmlformats.org/officeDocument/2006/relationships/slideLayout" Target="../slideLayouts/slideLayout161.xml"/><Relationship Id="rId8" Type="http://schemas.openxmlformats.org/officeDocument/2006/relationships/slideLayout" Target="../slideLayouts/slideLayout134.xml"/><Relationship Id="rId3" Type="http://schemas.openxmlformats.org/officeDocument/2006/relationships/slideLayout" Target="../slideLayouts/slideLayout129.xml"/><Relationship Id="rId12" Type="http://schemas.openxmlformats.org/officeDocument/2006/relationships/slideLayout" Target="../slideLayouts/slideLayout138.xml"/><Relationship Id="rId17" Type="http://schemas.openxmlformats.org/officeDocument/2006/relationships/slideLayout" Target="../slideLayouts/slideLayout143.xml"/><Relationship Id="rId25" Type="http://schemas.openxmlformats.org/officeDocument/2006/relationships/slideLayout" Target="../slideLayouts/slideLayout151.xml"/><Relationship Id="rId33" Type="http://schemas.openxmlformats.org/officeDocument/2006/relationships/slideLayout" Target="../slideLayouts/slideLayout159.xml"/><Relationship Id="rId38"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76.xml"/><Relationship Id="rId18" Type="http://schemas.openxmlformats.org/officeDocument/2006/relationships/slideLayout" Target="../slideLayouts/slideLayout181.xml"/><Relationship Id="rId26" Type="http://schemas.openxmlformats.org/officeDocument/2006/relationships/slideLayout" Target="../slideLayouts/slideLayout189.xml"/><Relationship Id="rId39" Type="http://schemas.openxmlformats.org/officeDocument/2006/relationships/slideLayout" Target="../slideLayouts/slideLayout202.xml"/><Relationship Id="rId21" Type="http://schemas.openxmlformats.org/officeDocument/2006/relationships/slideLayout" Target="../slideLayouts/slideLayout184.xml"/><Relationship Id="rId34" Type="http://schemas.openxmlformats.org/officeDocument/2006/relationships/slideLayout" Target="../slideLayouts/slideLayout197.xml"/><Relationship Id="rId42" Type="http://schemas.openxmlformats.org/officeDocument/2006/relationships/slideLayout" Target="../slideLayouts/slideLayout205.xml"/><Relationship Id="rId47" Type="http://schemas.openxmlformats.org/officeDocument/2006/relationships/tags" Target="../tags/tag23.xml"/><Relationship Id="rId7" Type="http://schemas.openxmlformats.org/officeDocument/2006/relationships/slideLayout" Target="../slideLayouts/slideLayout170.xml"/><Relationship Id="rId2" Type="http://schemas.openxmlformats.org/officeDocument/2006/relationships/slideLayout" Target="../slideLayouts/slideLayout165.xml"/><Relationship Id="rId16" Type="http://schemas.openxmlformats.org/officeDocument/2006/relationships/slideLayout" Target="../slideLayouts/slideLayout179.xml"/><Relationship Id="rId29" Type="http://schemas.openxmlformats.org/officeDocument/2006/relationships/slideLayout" Target="../slideLayouts/slideLayout192.xml"/><Relationship Id="rId11" Type="http://schemas.openxmlformats.org/officeDocument/2006/relationships/slideLayout" Target="../slideLayouts/slideLayout174.xml"/><Relationship Id="rId24" Type="http://schemas.openxmlformats.org/officeDocument/2006/relationships/slideLayout" Target="../slideLayouts/slideLayout187.xml"/><Relationship Id="rId32" Type="http://schemas.openxmlformats.org/officeDocument/2006/relationships/slideLayout" Target="../slideLayouts/slideLayout195.xml"/><Relationship Id="rId37" Type="http://schemas.openxmlformats.org/officeDocument/2006/relationships/slideLayout" Target="../slideLayouts/slideLayout200.xml"/><Relationship Id="rId40" Type="http://schemas.openxmlformats.org/officeDocument/2006/relationships/slideLayout" Target="../slideLayouts/slideLayout203.xml"/><Relationship Id="rId45" Type="http://schemas.openxmlformats.org/officeDocument/2006/relationships/slideLayout" Target="../slideLayouts/slideLayout208.xml"/><Relationship Id="rId5" Type="http://schemas.openxmlformats.org/officeDocument/2006/relationships/slideLayout" Target="../slideLayouts/slideLayout168.xml"/><Relationship Id="rId15" Type="http://schemas.openxmlformats.org/officeDocument/2006/relationships/slideLayout" Target="../slideLayouts/slideLayout178.xml"/><Relationship Id="rId23" Type="http://schemas.openxmlformats.org/officeDocument/2006/relationships/slideLayout" Target="../slideLayouts/slideLayout186.xml"/><Relationship Id="rId28" Type="http://schemas.openxmlformats.org/officeDocument/2006/relationships/slideLayout" Target="../slideLayouts/slideLayout191.xml"/><Relationship Id="rId36" Type="http://schemas.openxmlformats.org/officeDocument/2006/relationships/slideLayout" Target="../slideLayouts/slideLayout199.xml"/><Relationship Id="rId49" Type="http://schemas.openxmlformats.org/officeDocument/2006/relationships/image" Target="../media/image26.emf"/><Relationship Id="rId10" Type="http://schemas.openxmlformats.org/officeDocument/2006/relationships/slideLayout" Target="../slideLayouts/slideLayout173.xml"/><Relationship Id="rId19" Type="http://schemas.openxmlformats.org/officeDocument/2006/relationships/slideLayout" Target="../slideLayouts/slideLayout182.xml"/><Relationship Id="rId31" Type="http://schemas.openxmlformats.org/officeDocument/2006/relationships/slideLayout" Target="../slideLayouts/slideLayout194.xml"/><Relationship Id="rId44" Type="http://schemas.openxmlformats.org/officeDocument/2006/relationships/slideLayout" Target="../slideLayouts/slideLayout207.xml"/><Relationship Id="rId4" Type="http://schemas.openxmlformats.org/officeDocument/2006/relationships/slideLayout" Target="../slideLayouts/slideLayout167.xml"/><Relationship Id="rId9" Type="http://schemas.openxmlformats.org/officeDocument/2006/relationships/slideLayout" Target="../slideLayouts/slideLayout172.xml"/><Relationship Id="rId14" Type="http://schemas.openxmlformats.org/officeDocument/2006/relationships/slideLayout" Target="../slideLayouts/slideLayout177.xml"/><Relationship Id="rId22" Type="http://schemas.openxmlformats.org/officeDocument/2006/relationships/slideLayout" Target="../slideLayouts/slideLayout185.xml"/><Relationship Id="rId27" Type="http://schemas.openxmlformats.org/officeDocument/2006/relationships/slideLayout" Target="../slideLayouts/slideLayout190.xml"/><Relationship Id="rId30" Type="http://schemas.openxmlformats.org/officeDocument/2006/relationships/slideLayout" Target="../slideLayouts/slideLayout193.xml"/><Relationship Id="rId35" Type="http://schemas.openxmlformats.org/officeDocument/2006/relationships/slideLayout" Target="../slideLayouts/slideLayout198.xml"/><Relationship Id="rId43" Type="http://schemas.openxmlformats.org/officeDocument/2006/relationships/slideLayout" Target="../slideLayouts/slideLayout206.xml"/><Relationship Id="rId48" Type="http://schemas.openxmlformats.org/officeDocument/2006/relationships/oleObject" Target="../embeddings/oleObject9.bin"/><Relationship Id="rId8" Type="http://schemas.openxmlformats.org/officeDocument/2006/relationships/slideLayout" Target="../slideLayouts/slideLayout171.xml"/><Relationship Id="rId3" Type="http://schemas.openxmlformats.org/officeDocument/2006/relationships/slideLayout" Target="../slideLayouts/slideLayout166.xml"/><Relationship Id="rId12" Type="http://schemas.openxmlformats.org/officeDocument/2006/relationships/slideLayout" Target="../slideLayouts/slideLayout175.xml"/><Relationship Id="rId17" Type="http://schemas.openxmlformats.org/officeDocument/2006/relationships/slideLayout" Target="../slideLayouts/slideLayout180.xml"/><Relationship Id="rId25" Type="http://schemas.openxmlformats.org/officeDocument/2006/relationships/slideLayout" Target="../slideLayouts/slideLayout188.xml"/><Relationship Id="rId33" Type="http://schemas.openxmlformats.org/officeDocument/2006/relationships/slideLayout" Target="../slideLayouts/slideLayout196.xml"/><Relationship Id="rId38" Type="http://schemas.openxmlformats.org/officeDocument/2006/relationships/slideLayout" Target="../slideLayouts/slideLayout201.xml"/><Relationship Id="rId46" Type="http://schemas.openxmlformats.org/officeDocument/2006/relationships/theme" Target="../theme/theme5.xml"/><Relationship Id="rId20" Type="http://schemas.openxmlformats.org/officeDocument/2006/relationships/slideLayout" Target="../slideLayouts/slideLayout183.xml"/><Relationship Id="rId41" Type="http://schemas.openxmlformats.org/officeDocument/2006/relationships/slideLayout" Target="../slideLayouts/slideLayout204.xml"/><Relationship Id="rId1" Type="http://schemas.openxmlformats.org/officeDocument/2006/relationships/slideLayout" Target="../slideLayouts/slideLayout164.xml"/><Relationship Id="rId6" Type="http://schemas.openxmlformats.org/officeDocument/2006/relationships/slideLayout" Target="../slideLayouts/slideLayout169.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221.xml"/><Relationship Id="rId18" Type="http://schemas.openxmlformats.org/officeDocument/2006/relationships/slideLayout" Target="../slideLayouts/slideLayout226.xml"/><Relationship Id="rId26" Type="http://schemas.openxmlformats.org/officeDocument/2006/relationships/slideLayout" Target="../slideLayouts/slideLayout234.xml"/><Relationship Id="rId39" Type="http://schemas.openxmlformats.org/officeDocument/2006/relationships/image" Target="../media/image21.emf"/><Relationship Id="rId21" Type="http://schemas.openxmlformats.org/officeDocument/2006/relationships/slideLayout" Target="../slideLayouts/slideLayout229.xml"/><Relationship Id="rId34" Type="http://schemas.openxmlformats.org/officeDocument/2006/relationships/slideLayout" Target="../slideLayouts/slideLayout242.xml"/><Relationship Id="rId7" Type="http://schemas.openxmlformats.org/officeDocument/2006/relationships/slideLayout" Target="../slideLayouts/slideLayout215.xml"/><Relationship Id="rId12" Type="http://schemas.openxmlformats.org/officeDocument/2006/relationships/slideLayout" Target="../slideLayouts/slideLayout220.xml"/><Relationship Id="rId17" Type="http://schemas.openxmlformats.org/officeDocument/2006/relationships/slideLayout" Target="../slideLayouts/slideLayout225.xml"/><Relationship Id="rId25" Type="http://schemas.openxmlformats.org/officeDocument/2006/relationships/slideLayout" Target="../slideLayouts/slideLayout233.xml"/><Relationship Id="rId33" Type="http://schemas.openxmlformats.org/officeDocument/2006/relationships/slideLayout" Target="../slideLayouts/slideLayout241.xml"/><Relationship Id="rId38" Type="http://schemas.openxmlformats.org/officeDocument/2006/relationships/oleObject" Target="../embeddings/oleObject6.bin"/><Relationship Id="rId2" Type="http://schemas.openxmlformats.org/officeDocument/2006/relationships/slideLayout" Target="../slideLayouts/slideLayout210.xml"/><Relationship Id="rId16" Type="http://schemas.openxmlformats.org/officeDocument/2006/relationships/slideLayout" Target="../slideLayouts/slideLayout224.xml"/><Relationship Id="rId20" Type="http://schemas.openxmlformats.org/officeDocument/2006/relationships/slideLayout" Target="../slideLayouts/slideLayout228.xml"/><Relationship Id="rId29" Type="http://schemas.openxmlformats.org/officeDocument/2006/relationships/slideLayout" Target="../slideLayouts/slideLayout237.xml"/><Relationship Id="rId1" Type="http://schemas.openxmlformats.org/officeDocument/2006/relationships/slideLayout" Target="../slideLayouts/slideLayout209.xml"/><Relationship Id="rId6" Type="http://schemas.openxmlformats.org/officeDocument/2006/relationships/slideLayout" Target="../slideLayouts/slideLayout214.xml"/><Relationship Id="rId11" Type="http://schemas.openxmlformats.org/officeDocument/2006/relationships/slideLayout" Target="../slideLayouts/slideLayout219.xml"/><Relationship Id="rId24" Type="http://schemas.openxmlformats.org/officeDocument/2006/relationships/slideLayout" Target="../slideLayouts/slideLayout232.xml"/><Relationship Id="rId32" Type="http://schemas.openxmlformats.org/officeDocument/2006/relationships/slideLayout" Target="../slideLayouts/slideLayout240.xml"/><Relationship Id="rId37" Type="http://schemas.openxmlformats.org/officeDocument/2006/relationships/tags" Target="../tags/tag24.xml"/><Relationship Id="rId5" Type="http://schemas.openxmlformats.org/officeDocument/2006/relationships/slideLayout" Target="../slideLayouts/slideLayout213.xml"/><Relationship Id="rId15" Type="http://schemas.openxmlformats.org/officeDocument/2006/relationships/slideLayout" Target="../slideLayouts/slideLayout223.xml"/><Relationship Id="rId23" Type="http://schemas.openxmlformats.org/officeDocument/2006/relationships/slideLayout" Target="../slideLayouts/slideLayout231.xml"/><Relationship Id="rId28" Type="http://schemas.openxmlformats.org/officeDocument/2006/relationships/slideLayout" Target="../slideLayouts/slideLayout236.xml"/><Relationship Id="rId36" Type="http://schemas.openxmlformats.org/officeDocument/2006/relationships/theme" Target="../theme/theme6.xml"/><Relationship Id="rId10" Type="http://schemas.openxmlformats.org/officeDocument/2006/relationships/slideLayout" Target="../slideLayouts/slideLayout218.xml"/><Relationship Id="rId19" Type="http://schemas.openxmlformats.org/officeDocument/2006/relationships/slideLayout" Target="../slideLayouts/slideLayout227.xml"/><Relationship Id="rId31" Type="http://schemas.openxmlformats.org/officeDocument/2006/relationships/slideLayout" Target="../slideLayouts/slideLayout239.xml"/><Relationship Id="rId4" Type="http://schemas.openxmlformats.org/officeDocument/2006/relationships/slideLayout" Target="../slideLayouts/slideLayout212.xml"/><Relationship Id="rId9" Type="http://schemas.openxmlformats.org/officeDocument/2006/relationships/slideLayout" Target="../slideLayouts/slideLayout217.xml"/><Relationship Id="rId14" Type="http://schemas.openxmlformats.org/officeDocument/2006/relationships/slideLayout" Target="../slideLayouts/slideLayout222.xml"/><Relationship Id="rId22" Type="http://schemas.openxmlformats.org/officeDocument/2006/relationships/slideLayout" Target="../slideLayouts/slideLayout230.xml"/><Relationship Id="rId27" Type="http://schemas.openxmlformats.org/officeDocument/2006/relationships/slideLayout" Target="../slideLayouts/slideLayout235.xml"/><Relationship Id="rId30" Type="http://schemas.openxmlformats.org/officeDocument/2006/relationships/slideLayout" Target="../slideLayouts/slideLayout238.xml"/><Relationship Id="rId35" Type="http://schemas.openxmlformats.org/officeDocument/2006/relationships/slideLayout" Target="../slideLayouts/slideLayout243.xml"/><Relationship Id="rId8" Type="http://schemas.openxmlformats.org/officeDocument/2006/relationships/slideLayout" Target="../slideLayouts/slideLayout216.xml"/><Relationship Id="rId3" Type="http://schemas.openxmlformats.org/officeDocument/2006/relationships/slideLayout" Target="../slideLayouts/slideLayout211.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251.xml"/><Relationship Id="rId13" Type="http://schemas.openxmlformats.org/officeDocument/2006/relationships/slideLayout" Target="../slideLayouts/slideLayout256.xml"/><Relationship Id="rId18" Type="http://schemas.openxmlformats.org/officeDocument/2006/relationships/oleObject" Target="../embeddings/oleObject10.bin"/><Relationship Id="rId3" Type="http://schemas.openxmlformats.org/officeDocument/2006/relationships/slideLayout" Target="../slideLayouts/slideLayout246.xml"/><Relationship Id="rId7" Type="http://schemas.openxmlformats.org/officeDocument/2006/relationships/slideLayout" Target="../slideLayouts/slideLayout250.xml"/><Relationship Id="rId12" Type="http://schemas.openxmlformats.org/officeDocument/2006/relationships/slideLayout" Target="../slideLayouts/slideLayout255.xml"/><Relationship Id="rId17" Type="http://schemas.openxmlformats.org/officeDocument/2006/relationships/tags" Target="../tags/tag34.xml"/><Relationship Id="rId2" Type="http://schemas.openxmlformats.org/officeDocument/2006/relationships/slideLayout" Target="../slideLayouts/slideLayout245.xml"/><Relationship Id="rId16" Type="http://schemas.openxmlformats.org/officeDocument/2006/relationships/theme" Target="../theme/theme7.xml"/><Relationship Id="rId1" Type="http://schemas.openxmlformats.org/officeDocument/2006/relationships/slideLayout" Target="../slideLayouts/slideLayout244.xml"/><Relationship Id="rId6" Type="http://schemas.openxmlformats.org/officeDocument/2006/relationships/slideLayout" Target="../slideLayouts/slideLayout249.xml"/><Relationship Id="rId11" Type="http://schemas.openxmlformats.org/officeDocument/2006/relationships/slideLayout" Target="../slideLayouts/slideLayout254.xml"/><Relationship Id="rId5" Type="http://schemas.openxmlformats.org/officeDocument/2006/relationships/slideLayout" Target="../slideLayouts/slideLayout248.xml"/><Relationship Id="rId15" Type="http://schemas.openxmlformats.org/officeDocument/2006/relationships/slideLayout" Target="../slideLayouts/slideLayout258.xml"/><Relationship Id="rId10" Type="http://schemas.openxmlformats.org/officeDocument/2006/relationships/slideLayout" Target="../slideLayouts/slideLayout253.xml"/><Relationship Id="rId19" Type="http://schemas.openxmlformats.org/officeDocument/2006/relationships/image" Target="../media/image27.emf"/><Relationship Id="rId4" Type="http://schemas.openxmlformats.org/officeDocument/2006/relationships/slideLayout" Target="../slideLayouts/slideLayout247.xml"/><Relationship Id="rId9" Type="http://schemas.openxmlformats.org/officeDocument/2006/relationships/slideLayout" Target="../slideLayouts/slideLayout252.xml"/><Relationship Id="rId14" Type="http://schemas.openxmlformats.org/officeDocument/2006/relationships/slideLayout" Target="../slideLayouts/slideLayout25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266.xml"/><Relationship Id="rId13" Type="http://schemas.openxmlformats.org/officeDocument/2006/relationships/slideLayout" Target="../slideLayouts/slideLayout271.xml"/><Relationship Id="rId18" Type="http://schemas.openxmlformats.org/officeDocument/2006/relationships/oleObject" Target="../embeddings/oleObject11.bin"/><Relationship Id="rId3" Type="http://schemas.openxmlformats.org/officeDocument/2006/relationships/slideLayout" Target="../slideLayouts/slideLayout261.xml"/><Relationship Id="rId7" Type="http://schemas.openxmlformats.org/officeDocument/2006/relationships/slideLayout" Target="../slideLayouts/slideLayout265.xml"/><Relationship Id="rId12" Type="http://schemas.openxmlformats.org/officeDocument/2006/relationships/slideLayout" Target="../slideLayouts/slideLayout270.xml"/><Relationship Id="rId17" Type="http://schemas.openxmlformats.org/officeDocument/2006/relationships/tags" Target="../tags/tag35.xml"/><Relationship Id="rId2" Type="http://schemas.openxmlformats.org/officeDocument/2006/relationships/slideLayout" Target="../slideLayouts/slideLayout260.xml"/><Relationship Id="rId16" Type="http://schemas.openxmlformats.org/officeDocument/2006/relationships/theme" Target="../theme/theme8.xml"/><Relationship Id="rId20" Type="http://schemas.openxmlformats.org/officeDocument/2006/relationships/image" Target="../media/image29.png"/><Relationship Id="rId1" Type="http://schemas.openxmlformats.org/officeDocument/2006/relationships/slideLayout" Target="../slideLayouts/slideLayout259.xml"/><Relationship Id="rId6" Type="http://schemas.openxmlformats.org/officeDocument/2006/relationships/slideLayout" Target="../slideLayouts/slideLayout264.xml"/><Relationship Id="rId11" Type="http://schemas.openxmlformats.org/officeDocument/2006/relationships/slideLayout" Target="../slideLayouts/slideLayout269.xml"/><Relationship Id="rId5" Type="http://schemas.openxmlformats.org/officeDocument/2006/relationships/slideLayout" Target="../slideLayouts/slideLayout263.xml"/><Relationship Id="rId15" Type="http://schemas.openxmlformats.org/officeDocument/2006/relationships/slideLayout" Target="../slideLayouts/slideLayout273.xml"/><Relationship Id="rId10" Type="http://schemas.openxmlformats.org/officeDocument/2006/relationships/slideLayout" Target="../slideLayouts/slideLayout268.xml"/><Relationship Id="rId19" Type="http://schemas.openxmlformats.org/officeDocument/2006/relationships/image" Target="../media/image28.emf"/><Relationship Id="rId4" Type="http://schemas.openxmlformats.org/officeDocument/2006/relationships/slideLayout" Target="../slideLayouts/slideLayout262.xml"/><Relationship Id="rId9" Type="http://schemas.openxmlformats.org/officeDocument/2006/relationships/slideLayout" Target="../slideLayouts/slideLayout267.xml"/><Relationship Id="rId14" Type="http://schemas.openxmlformats.org/officeDocument/2006/relationships/slideLayout" Target="../slideLayouts/slideLayout272.xml"/></Relationships>
</file>

<file path=ppt/slideMasters/_rels/slideMaster9.xml.rels><?xml version="1.0" encoding="UTF-8" standalone="yes"?>
<Relationships xmlns="http://schemas.openxmlformats.org/package/2006/relationships"><Relationship Id="rId13" Type="http://schemas.openxmlformats.org/officeDocument/2006/relationships/slideLayout" Target="../slideLayouts/slideLayout286.xml"/><Relationship Id="rId18" Type="http://schemas.openxmlformats.org/officeDocument/2006/relationships/slideLayout" Target="../slideLayouts/slideLayout291.xml"/><Relationship Id="rId26" Type="http://schemas.openxmlformats.org/officeDocument/2006/relationships/slideLayout" Target="../slideLayouts/slideLayout299.xml"/><Relationship Id="rId39" Type="http://schemas.openxmlformats.org/officeDocument/2006/relationships/image" Target="../media/image21.emf"/><Relationship Id="rId21" Type="http://schemas.openxmlformats.org/officeDocument/2006/relationships/slideLayout" Target="../slideLayouts/slideLayout294.xml"/><Relationship Id="rId34" Type="http://schemas.openxmlformats.org/officeDocument/2006/relationships/slideLayout" Target="../slideLayouts/slideLayout307.xml"/><Relationship Id="rId7" Type="http://schemas.openxmlformats.org/officeDocument/2006/relationships/slideLayout" Target="../slideLayouts/slideLayout280.xml"/><Relationship Id="rId12" Type="http://schemas.openxmlformats.org/officeDocument/2006/relationships/slideLayout" Target="../slideLayouts/slideLayout285.xml"/><Relationship Id="rId17" Type="http://schemas.openxmlformats.org/officeDocument/2006/relationships/slideLayout" Target="../slideLayouts/slideLayout290.xml"/><Relationship Id="rId25" Type="http://schemas.openxmlformats.org/officeDocument/2006/relationships/slideLayout" Target="../slideLayouts/slideLayout298.xml"/><Relationship Id="rId33" Type="http://schemas.openxmlformats.org/officeDocument/2006/relationships/slideLayout" Target="../slideLayouts/slideLayout306.xml"/><Relationship Id="rId38" Type="http://schemas.openxmlformats.org/officeDocument/2006/relationships/oleObject" Target="../embeddings/oleObject6.bin"/><Relationship Id="rId2" Type="http://schemas.openxmlformats.org/officeDocument/2006/relationships/slideLayout" Target="../slideLayouts/slideLayout275.xml"/><Relationship Id="rId16" Type="http://schemas.openxmlformats.org/officeDocument/2006/relationships/slideLayout" Target="../slideLayouts/slideLayout289.xml"/><Relationship Id="rId20" Type="http://schemas.openxmlformats.org/officeDocument/2006/relationships/slideLayout" Target="../slideLayouts/slideLayout293.xml"/><Relationship Id="rId29" Type="http://schemas.openxmlformats.org/officeDocument/2006/relationships/slideLayout" Target="../slideLayouts/slideLayout302.xml"/><Relationship Id="rId1" Type="http://schemas.openxmlformats.org/officeDocument/2006/relationships/slideLayout" Target="../slideLayouts/slideLayout274.xml"/><Relationship Id="rId6" Type="http://schemas.openxmlformats.org/officeDocument/2006/relationships/slideLayout" Target="../slideLayouts/slideLayout279.xml"/><Relationship Id="rId11" Type="http://schemas.openxmlformats.org/officeDocument/2006/relationships/slideLayout" Target="../slideLayouts/slideLayout284.xml"/><Relationship Id="rId24" Type="http://schemas.openxmlformats.org/officeDocument/2006/relationships/slideLayout" Target="../slideLayouts/slideLayout297.xml"/><Relationship Id="rId32" Type="http://schemas.openxmlformats.org/officeDocument/2006/relationships/slideLayout" Target="../slideLayouts/slideLayout305.xml"/><Relationship Id="rId37" Type="http://schemas.openxmlformats.org/officeDocument/2006/relationships/tags" Target="../tags/tag36.xml"/><Relationship Id="rId5" Type="http://schemas.openxmlformats.org/officeDocument/2006/relationships/slideLayout" Target="../slideLayouts/slideLayout278.xml"/><Relationship Id="rId15" Type="http://schemas.openxmlformats.org/officeDocument/2006/relationships/slideLayout" Target="../slideLayouts/slideLayout288.xml"/><Relationship Id="rId23" Type="http://schemas.openxmlformats.org/officeDocument/2006/relationships/slideLayout" Target="../slideLayouts/slideLayout296.xml"/><Relationship Id="rId28" Type="http://schemas.openxmlformats.org/officeDocument/2006/relationships/slideLayout" Target="../slideLayouts/slideLayout301.xml"/><Relationship Id="rId36" Type="http://schemas.openxmlformats.org/officeDocument/2006/relationships/theme" Target="../theme/theme9.xml"/><Relationship Id="rId10" Type="http://schemas.openxmlformats.org/officeDocument/2006/relationships/slideLayout" Target="../slideLayouts/slideLayout283.xml"/><Relationship Id="rId19" Type="http://schemas.openxmlformats.org/officeDocument/2006/relationships/slideLayout" Target="../slideLayouts/slideLayout292.xml"/><Relationship Id="rId31" Type="http://schemas.openxmlformats.org/officeDocument/2006/relationships/slideLayout" Target="../slideLayouts/slideLayout304.xml"/><Relationship Id="rId4" Type="http://schemas.openxmlformats.org/officeDocument/2006/relationships/slideLayout" Target="../slideLayouts/slideLayout277.xml"/><Relationship Id="rId9" Type="http://schemas.openxmlformats.org/officeDocument/2006/relationships/slideLayout" Target="../slideLayouts/slideLayout282.xml"/><Relationship Id="rId14" Type="http://schemas.openxmlformats.org/officeDocument/2006/relationships/slideLayout" Target="../slideLayouts/slideLayout287.xml"/><Relationship Id="rId22" Type="http://schemas.openxmlformats.org/officeDocument/2006/relationships/slideLayout" Target="../slideLayouts/slideLayout295.xml"/><Relationship Id="rId27" Type="http://schemas.openxmlformats.org/officeDocument/2006/relationships/slideLayout" Target="../slideLayouts/slideLayout300.xml"/><Relationship Id="rId30" Type="http://schemas.openxmlformats.org/officeDocument/2006/relationships/slideLayout" Target="../slideLayouts/slideLayout303.xml"/><Relationship Id="rId35" Type="http://schemas.openxmlformats.org/officeDocument/2006/relationships/slideLayout" Target="../slideLayouts/slideLayout308.xml"/><Relationship Id="rId8" Type="http://schemas.openxmlformats.org/officeDocument/2006/relationships/slideLayout" Target="../slideLayouts/slideLayout281.xml"/><Relationship Id="rId3" Type="http://schemas.openxmlformats.org/officeDocument/2006/relationships/slideLayout" Target="../slideLayouts/slideLayout276.xml"/></Relationships>
</file>

<file path=ppt/slideMasters/_rels/slideMaster10.xml.rels><?xml version="1.0" encoding="UTF-8" standalone="yes"?>
<Relationships xmlns="http://schemas.openxmlformats.org/package/2006/relationships"><Relationship Id="rId8" Type="http://schemas.openxmlformats.org/officeDocument/2006/relationships/tags" Target="../tags/tag46.xml"/><Relationship Id="rId3" Type="http://schemas.openxmlformats.org/officeDocument/2006/relationships/slideLayout" Target="../slideLayouts/slideLayout311.xml"/><Relationship Id="rId7" Type="http://schemas.openxmlformats.org/officeDocument/2006/relationships/theme" Target="../theme/theme10.xml"/><Relationship Id="rId2" Type="http://schemas.openxmlformats.org/officeDocument/2006/relationships/slideLayout" Target="../slideLayouts/slideLayout310.xml"/><Relationship Id="rId1" Type="http://schemas.openxmlformats.org/officeDocument/2006/relationships/slideLayout" Target="../slideLayouts/slideLayout309.xml"/><Relationship Id="rId6" Type="http://schemas.openxmlformats.org/officeDocument/2006/relationships/slideLayout" Target="../slideLayouts/slideLayout314.xml"/><Relationship Id="rId5" Type="http://schemas.openxmlformats.org/officeDocument/2006/relationships/slideLayout" Target="../slideLayouts/slideLayout313.xml"/><Relationship Id="rId10" Type="http://schemas.openxmlformats.org/officeDocument/2006/relationships/image" Target="../media/image28.emf"/><Relationship Id="rId4" Type="http://schemas.openxmlformats.org/officeDocument/2006/relationships/slideLayout" Target="../slideLayouts/slideLayout312.xml"/><Relationship Id="rId9" Type="http://schemas.openxmlformats.org/officeDocument/2006/relationships/oleObject" Target="../embeddings/oleObject12.bin"/></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322.xml"/><Relationship Id="rId13" Type="http://schemas.openxmlformats.org/officeDocument/2006/relationships/slideLayout" Target="../slideLayouts/slideLayout327.xml"/><Relationship Id="rId18" Type="http://schemas.openxmlformats.org/officeDocument/2006/relationships/oleObject" Target="../embeddings/oleObject13.bin"/><Relationship Id="rId3" Type="http://schemas.openxmlformats.org/officeDocument/2006/relationships/slideLayout" Target="../slideLayouts/slideLayout317.xml"/><Relationship Id="rId7" Type="http://schemas.openxmlformats.org/officeDocument/2006/relationships/slideLayout" Target="../slideLayouts/slideLayout321.xml"/><Relationship Id="rId12" Type="http://schemas.openxmlformats.org/officeDocument/2006/relationships/slideLayout" Target="../slideLayouts/slideLayout326.xml"/><Relationship Id="rId17" Type="http://schemas.openxmlformats.org/officeDocument/2006/relationships/tags" Target="../tags/tag53.xml"/><Relationship Id="rId2" Type="http://schemas.openxmlformats.org/officeDocument/2006/relationships/slideLayout" Target="../slideLayouts/slideLayout316.xml"/><Relationship Id="rId16" Type="http://schemas.openxmlformats.org/officeDocument/2006/relationships/theme" Target="../theme/theme11.xml"/><Relationship Id="rId20" Type="http://schemas.openxmlformats.org/officeDocument/2006/relationships/image" Target="../media/image29.png"/><Relationship Id="rId1" Type="http://schemas.openxmlformats.org/officeDocument/2006/relationships/slideLayout" Target="../slideLayouts/slideLayout315.xml"/><Relationship Id="rId6" Type="http://schemas.openxmlformats.org/officeDocument/2006/relationships/slideLayout" Target="../slideLayouts/slideLayout320.xml"/><Relationship Id="rId11" Type="http://schemas.openxmlformats.org/officeDocument/2006/relationships/slideLayout" Target="../slideLayouts/slideLayout325.xml"/><Relationship Id="rId5" Type="http://schemas.openxmlformats.org/officeDocument/2006/relationships/slideLayout" Target="../slideLayouts/slideLayout319.xml"/><Relationship Id="rId15" Type="http://schemas.openxmlformats.org/officeDocument/2006/relationships/slideLayout" Target="../slideLayouts/slideLayout329.xml"/><Relationship Id="rId10" Type="http://schemas.openxmlformats.org/officeDocument/2006/relationships/slideLayout" Target="../slideLayouts/slideLayout324.xml"/><Relationship Id="rId19" Type="http://schemas.openxmlformats.org/officeDocument/2006/relationships/image" Target="../media/image28.emf"/><Relationship Id="rId4" Type="http://schemas.openxmlformats.org/officeDocument/2006/relationships/slideLayout" Target="../slideLayouts/slideLayout318.xml"/><Relationship Id="rId9" Type="http://schemas.openxmlformats.org/officeDocument/2006/relationships/slideLayout" Target="../slideLayouts/slideLayout323.xml"/><Relationship Id="rId14" Type="http://schemas.openxmlformats.org/officeDocument/2006/relationships/slideLayout" Target="../slideLayouts/slideLayout32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46CE7D5-CF57-46EF-B807-FDD0502418D4}" type="datetimeFigureOut">
              <a:rPr lang="en-US" smtClean="0"/>
              <a:t>9/20/2026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US" smtClean="0"/>
              <a:t>‹#›</a:t>
            </a:fld>
            <a:endParaRPr lang="en-US"/>
          </a:p>
        </p:txBody>
      </p:sp>
    </p:spTree>
    <p:extLst>
      <p:ext uri="{BB962C8B-B14F-4D97-AF65-F5344CB8AC3E}">
        <p14:creationId xmlns:p14="http://schemas.microsoft.com/office/powerpoint/2010/main" val="246095407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713" r:id="rId14"/>
    <p:sldLayoutId id="2147483722" r:id="rId15"/>
    <p:sldLayoutId id="2147483995" r:id="rId16"/>
    <p:sldLayoutId id="2147484189"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4" name="Slide Number Placeholder 5"/>
          <p:cNvSpPr>
            <a:spLocks noGrp="1"/>
          </p:cNvSpPr>
          <p:nvPr>
            <p:ph type="sldNum" sz="quarter" idx="4"/>
          </p:nvPr>
        </p:nvSpPr>
        <p:spPr>
          <a:xfrm>
            <a:off x="11672569" y="6400800"/>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4190904782"/>
      </p:ext>
    </p:extLst>
  </p:cSld>
  <p:clrMap bg1="lt1" tx1="dk1" bg2="lt2" tx2="dk2" accent1="accent1" accent2="accent2" accent3="accent3" accent4="accent4" accent5="accent5" accent6="accent6" hlink="hlink" folHlink="folHlink"/>
  <p:sldLayoutIdLst>
    <p:sldLayoutId id="2147483676" r:id="rId1"/>
    <p:sldLayoutId id="2147483677" r:id="rId2"/>
    <p:sldLayoutId id="2147483678" r:id="rId3"/>
    <p:sldLayoutId id="2147483679" r:id="rId4"/>
    <p:sldLayoutId id="2147483680" r:id="rId5"/>
    <p:sldLayoutId id="2147483681" r:id="rId6"/>
    <p:sldLayoutId id="2147483682" r:id="rId7"/>
    <p:sldLayoutId id="2147483683" r:id="rId8"/>
    <p:sldLayoutId id="2147483684" r:id="rId9"/>
    <p:sldLayoutId id="2147483685" r:id="rId10"/>
    <p:sldLayoutId id="2147483686" r:id="rId11"/>
    <p:sldLayoutId id="2147483687" r:id="rId12"/>
    <p:sldLayoutId id="2147483688" r:id="rId13"/>
    <p:sldLayoutId id="2147483689" r:id="rId14"/>
    <p:sldLayoutId id="2147483690" r:id="rId15"/>
    <p:sldLayoutId id="2147483691" r:id="rId16"/>
    <p:sldLayoutId id="2147483692" r:id="rId17"/>
    <p:sldLayoutId id="2147483693" r:id="rId18"/>
    <p:sldLayoutId id="2147483694" r:id="rId19"/>
    <p:sldLayoutId id="2147483695" r:id="rId20"/>
    <p:sldLayoutId id="2147483696" r:id="rId21"/>
    <p:sldLayoutId id="2147483697" r:id="rId22"/>
    <p:sldLayoutId id="2147483698" r:id="rId23"/>
    <p:sldLayoutId id="2147483699" r:id="rId24"/>
    <p:sldLayoutId id="2147483700" r:id="rId25"/>
    <p:sldLayoutId id="2147483701" r:id="rId26"/>
    <p:sldLayoutId id="2147483702" r:id="rId27"/>
    <p:sldLayoutId id="2147483703" r:id="rId28"/>
    <p:sldLayoutId id="2147483704" r:id="rId29"/>
    <p:sldLayoutId id="2147483705" r:id="rId30"/>
    <p:sldLayoutId id="2147483706" r:id="rId31"/>
    <p:sldLayoutId id="2147483707" r:id="rId32"/>
    <p:sldLayoutId id="2147483708" r:id="rId33"/>
    <p:sldLayoutId id="2147483709" r:id="rId34"/>
    <p:sldLayoutId id="2147483710" r:id="rId35"/>
    <p:sldLayoutId id="2147483711" r:id="rId36"/>
    <p:sldLayoutId id="2147483712" r:id="rId37"/>
  </p:sldLayoutIdLst>
  <p:transition spd="med"/>
  <p:hf hdr="0" ftr="0" dt="0"/>
  <p:txStyles>
    <p:titleStyle>
      <a:lvl1pPr algn="ctr" defTabSz="1218987" rtl="0" eaLnBrk="1" latinLnBrk="0" hangingPunct="1">
        <a:spcBef>
          <a:spcPct val="0"/>
        </a:spcBef>
        <a:buNone/>
        <a:defRPr sz="4300" kern="1200" cap="all" baseline="0">
          <a:solidFill>
            <a:schemeClr val="tx1"/>
          </a:solidFill>
          <a:latin typeface="Arial" pitchFamily="34" charset="0"/>
          <a:ea typeface="+mj-ea"/>
          <a:cs typeface="Arial" pitchFamily="34" charset="0"/>
        </a:defRPr>
      </a:lvl1pPr>
    </p:titleStyle>
    <p:bodyStyle>
      <a:lvl1pPr marL="457120" indent="-457120" algn="l" defTabSz="1218987" rtl="0" eaLnBrk="1" latinLnBrk="0" hangingPunct="1">
        <a:spcBef>
          <a:spcPct val="20000"/>
        </a:spcBef>
        <a:buClrTx/>
        <a:buFont typeface="Arial" panose="020B0604020202020204" pitchFamily="34" charset="0"/>
        <a:buChar char="•"/>
        <a:defRPr sz="4300" kern="1200">
          <a:solidFill>
            <a:schemeClr val="tx1"/>
          </a:solidFill>
          <a:latin typeface="Arial" pitchFamily="34" charset="0"/>
          <a:ea typeface="+mn-ea"/>
          <a:cs typeface="Arial" pitchFamily="34" charset="0"/>
        </a:defRPr>
      </a:lvl1pPr>
      <a:lvl2pPr marL="990427" indent="-380933" algn="l" defTabSz="1218987" rtl="0" eaLnBrk="1" latinLnBrk="0" hangingPunct="1">
        <a:spcBef>
          <a:spcPct val="20000"/>
        </a:spcBef>
        <a:buClrTx/>
        <a:buFont typeface="Arial" panose="020B0604020202020204" pitchFamily="34" charset="0"/>
        <a:buChar char="–"/>
        <a:defRPr sz="3700" kern="1200">
          <a:solidFill>
            <a:schemeClr val="tx1"/>
          </a:solidFill>
          <a:latin typeface="Arial" pitchFamily="34" charset="0"/>
          <a:ea typeface="+mn-ea"/>
          <a:cs typeface="Arial" pitchFamily="34" charset="0"/>
        </a:defRPr>
      </a:lvl2pPr>
      <a:lvl3pPr marL="1523733" indent="-304747" algn="l" defTabSz="1218987" rtl="0" eaLnBrk="1" latinLnBrk="0" hangingPunct="1">
        <a:spcBef>
          <a:spcPct val="20000"/>
        </a:spcBef>
        <a:buClrTx/>
        <a:buFont typeface="Arial" panose="020B0604020202020204" pitchFamily="34" charset="0"/>
        <a:buChar char="-"/>
        <a:defRPr sz="3200" kern="1200">
          <a:solidFill>
            <a:schemeClr val="tx1"/>
          </a:solidFill>
          <a:latin typeface="Arial" pitchFamily="34" charset="0"/>
          <a:ea typeface="+mn-ea"/>
          <a:cs typeface="Arial" pitchFamily="34" charset="0"/>
        </a:defRPr>
      </a:lvl3pPr>
      <a:lvl4pPr marL="2133227"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4pPr>
      <a:lvl5pPr marL="2742720"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0">
          <p15:clr>
            <a:srgbClr val="F26B43"/>
          </p15:clr>
        </p15:guide>
        <p15:guide id="2" pos="6719">
          <p15:clr>
            <a:srgbClr val="F26B43"/>
          </p15:clr>
        </p15:guide>
        <p15:guide id="3" orient="horz" pos="2880">
          <p15:clr>
            <a:srgbClr val="F26B43"/>
          </p15:clr>
        </p15:guide>
        <p15:guide id="4" pos="3839">
          <p15:clr>
            <a:srgbClr val="F26B43"/>
          </p15:clr>
        </p15:guide>
        <p15:guide id="5" pos="5279">
          <p15:clr>
            <a:srgbClr val="F26B43"/>
          </p15:clr>
        </p15:guide>
        <p15:guide id="6" pos="2399">
          <p15:clr>
            <a:srgbClr val="F26B43"/>
          </p15:clr>
        </p15:guide>
        <p15:guide id="7" pos="959">
          <p15:clr>
            <a:srgbClr val="F26B43"/>
          </p15:clr>
        </p15:guide>
        <p15:guide id="8" pos="7199">
          <p15:clr>
            <a:srgbClr val="FDE53C"/>
          </p15:clr>
        </p15:guide>
        <p15:guide id="9" pos="6239">
          <p15:clr>
            <a:srgbClr val="FDE53C"/>
          </p15:clr>
        </p15:guide>
        <p15:guide id="10" pos="5759">
          <p15:clr>
            <a:srgbClr val="FDE53C"/>
          </p15:clr>
        </p15:guide>
        <p15:guide id="11" pos="4319">
          <p15:clr>
            <a:srgbClr val="FDE53C"/>
          </p15:clr>
        </p15:guide>
        <p15:guide id="12" pos="4799">
          <p15:clr>
            <a:srgbClr val="FDE53C"/>
          </p15:clr>
        </p15:guide>
        <p15:guide id="13" pos="3335">
          <p15:clr>
            <a:srgbClr val="FDE53C"/>
          </p15:clr>
        </p15:guide>
        <p15:guide id="14" pos="2879">
          <p15:clr>
            <a:srgbClr val="FDE53C"/>
          </p15:clr>
        </p15:guide>
        <p15:guide id="15" pos="1919">
          <p15:clr>
            <a:srgbClr val="FDE53C"/>
          </p15:clr>
        </p15:guide>
        <p15:guide id="16" pos="1439">
          <p15:clr>
            <a:srgbClr val="FDE53C"/>
          </p15:clr>
        </p15:guide>
        <p15:guide id="17" pos="479">
          <p15:clr>
            <a:srgbClr val="FDE53C"/>
          </p15:clr>
        </p15:guide>
        <p15:guide id="18" orient="horz" pos="960">
          <p15:clr>
            <a:srgbClr val="FDE53C"/>
          </p15:clr>
        </p15:guide>
        <p15:guide id="19" orient="horz" pos="480">
          <p15:clr>
            <a:srgbClr val="FDE53C"/>
          </p15:clr>
        </p15:guide>
        <p15:guide id="20" orient="horz" pos="1920">
          <p15:clr>
            <a:srgbClr val="FDE53C"/>
          </p15:clr>
        </p15:guide>
        <p15:guide id="21" orient="horz" pos="2400">
          <p15:clr>
            <a:srgbClr val="FDE53C"/>
          </p15:clr>
        </p15:guide>
        <p15:guide id="22" orient="horz" pos="3360">
          <p15:clr>
            <a:srgbClr val="FDE53C"/>
          </p15:clr>
        </p15:guide>
        <p15:guide id="23" orient="horz" pos="3840">
          <p15:clr>
            <a:srgbClr val="FDE53C"/>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6F8AC7CE-2ADA-9092-726C-751326F19CA8}"/>
              </a:ext>
            </a:extLst>
          </p:cNvPr>
          <p:cNvGraphicFramePr>
            <a:graphicFrameLocks/>
          </p:cNvGraphicFramePr>
          <p:nvPr userDrawn="1">
            <p:custDataLst>
              <p:tags r:id="rId74"/>
            </p:custDataLst>
            <p:extLst>
              <p:ext uri="{D42A27DB-BD31-4B8C-83A1-F6EECF244321}">
                <p14:modId xmlns:p14="http://schemas.microsoft.com/office/powerpoint/2010/main" val="253872864"/>
              </p:ext>
            </p:extLst>
          </p:nvPr>
        </p:nvGraphicFramePr>
        <p:xfrm>
          <a:off x="1589" y="1588"/>
          <a:ext cx="1588" cy="1588"/>
        </p:xfrm>
        <a:graphic>
          <a:graphicData uri="http://schemas.openxmlformats.org/presentationml/2006/ole">
            <mc:AlternateContent xmlns:mc="http://schemas.openxmlformats.org/markup-compatibility/2006">
              <mc:Choice xmlns:v="urn:schemas-microsoft-com:vml" Requires="v">
                <p:oleObj name="think-cell Slide" r:id="rId75" imgW="404" imgH="405" progId="TCLayout.ActiveDocument.1">
                  <p:embed/>
                </p:oleObj>
              </mc:Choice>
              <mc:Fallback>
                <p:oleObj name="think-cell Slide" r:id="rId75" imgW="404" imgH="405" progId="TCLayout.ActiveDocument.1">
                  <p:embed/>
                  <p:pic>
                    <p:nvPicPr>
                      <p:cNvPr id="2" name="think-cell data - do not delete" hidden="1">
                        <a:extLst>
                          <a:ext uri="{FF2B5EF4-FFF2-40B4-BE49-F238E27FC236}">
                            <a16:creationId xmlns:a16="http://schemas.microsoft.com/office/drawing/2014/main" id="{6F8AC7CE-2ADA-9092-726C-751326F19CA8}"/>
                          </a:ext>
                        </a:extLst>
                      </p:cNvPr>
                      <p:cNvPicPr/>
                      <p:nvPr/>
                    </p:nvPicPr>
                    <p:blipFill>
                      <a:blip r:embed="rId76"/>
                      <a:stretch>
                        <a:fillRect/>
                      </a:stretch>
                    </p:blipFill>
                    <p:spPr>
                      <a:xfrm>
                        <a:off x="1589" y="1588"/>
                        <a:ext cx="1588" cy="1588"/>
                      </a:xfrm>
                      <a:prstGeom prst="rect">
                        <a:avLst/>
                      </a:prstGeom>
                    </p:spPr>
                  </p:pic>
                </p:oleObj>
              </mc:Fallback>
            </mc:AlternateContent>
          </a:graphicData>
        </a:graphic>
      </p:graphicFrame>
      <p:sp>
        <p:nvSpPr>
          <p:cNvPr id="4" name="Slide Number Placeholder 5"/>
          <p:cNvSpPr>
            <a:spLocks noGrp="1"/>
          </p:cNvSpPr>
          <p:nvPr>
            <p:ph type="sldNum" sz="quarter" idx="4"/>
          </p:nvPr>
        </p:nvSpPr>
        <p:spPr>
          <a:xfrm>
            <a:off x="11672569" y="6400800"/>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2729057613"/>
      </p:ext>
    </p:extLst>
  </p:cSld>
  <p:clrMap bg1="lt1" tx1="dk1" bg2="lt2" tx2="dk2" accent1="accent1" accent2="accent2" accent3="accent3" accent4="accent4" accent5="accent5" accent6="accent6" hlink="hlink" folHlink="folHlink"/>
  <p:sldLayoutIdLst>
    <p:sldLayoutId id="2147483724" r:id="rId1"/>
    <p:sldLayoutId id="2147483725" r:id="rId2"/>
    <p:sldLayoutId id="2147483726" r:id="rId3"/>
    <p:sldLayoutId id="2147483727" r:id="rId4"/>
    <p:sldLayoutId id="2147483728" r:id="rId5"/>
    <p:sldLayoutId id="2147483729" r:id="rId6"/>
    <p:sldLayoutId id="2147483730" r:id="rId7"/>
    <p:sldLayoutId id="2147483731" r:id="rId8"/>
    <p:sldLayoutId id="2147483732" r:id="rId9"/>
    <p:sldLayoutId id="2147483733" r:id="rId10"/>
    <p:sldLayoutId id="2147483734" r:id="rId11"/>
    <p:sldLayoutId id="2147483735" r:id="rId12"/>
    <p:sldLayoutId id="2147483736" r:id="rId13"/>
    <p:sldLayoutId id="2147483737" r:id="rId14"/>
    <p:sldLayoutId id="2147483738" r:id="rId15"/>
    <p:sldLayoutId id="2147483739" r:id="rId16"/>
    <p:sldLayoutId id="2147483740" r:id="rId17"/>
    <p:sldLayoutId id="2147483741" r:id="rId18"/>
    <p:sldLayoutId id="2147483742" r:id="rId19"/>
    <p:sldLayoutId id="2147483743" r:id="rId20"/>
    <p:sldLayoutId id="2147483744" r:id="rId21"/>
    <p:sldLayoutId id="2147483745" r:id="rId22"/>
    <p:sldLayoutId id="2147483746" r:id="rId23"/>
    <p:sldLayoutId id="2147483747" r:id="rId24"/>
    <p:sldLayoutId id="2147483748" r:id="rId25"/>
    <p:sldLayoutId id="2147483749" r:id="rId26"/>
    <p:sldLayoutId id="2147483750" r:id="rId27"/>
    <p:sldLayoutId id="2147483751" r:id="rId28"/>
    <p:sldLayoutId id="2147483752" r:id="rId29"/>
    <p:sldLayoutId id="2147483754" r:id="rId30"/>
    <p:sldLayoutId id="2147483755" r:id="rId31"/>
    <p:sldLayoutId id="2147483756" r:id="rId32"/>
    <p:sldLayoutId id="2147483757" r:id="rId33"/>
    <p:sldLayoutId id="2147483758" r:id="rId34"/>
    <p:sldLayoutId id="2147483759" r:id="rId35"/>
    <p:sldLayoutId id="2147483760" r:id="rId36"/>
    <p:sldLayoutId id="2147483761" r:id="rId37"/>
    <p:sldLayoutId id="2147483762" r:id="rId38"/>
    <p:sldLayoutId id="2147483763" r:id="rId39"/>
    <p:sldLayoutId id="2147483764" r:id="rId40"/>
    <p:sldLayoutId id="2147483765" r:id="rId41"/>
    <p:sldLayoutId id="2147483766" r:id="rId42"/>
    <p:sldLayoutId id="2147483767" r:id="rId43"/>
    <p:sldLayoutId id="2147483768" r:id="rId44"/>
    <p:sldLayoutId id="2147483769" r:id="rId45"/>
    <p:sldLayoutId id="2147483770" r:id="rId46"/>
    <p:sldLayoutId id="2147483771" r:id="rId47"/>
    <p:sldLayoutId id="2147483772" r:id="rId48"/>
    <p:sldLayoutId id="2147483773" r:id="rId49"/>
    <p:sldLayoutId id="2147483774" r:id="rId50"/>
    <p:sldLayoutId id="2147483775" r:id="rId51"/>
    <p:sldLayoutId id="2147483776" r:id="rId52"/>
    <p:sldLayoutId id="2147483777" r:id="rId53"/>
    <p:sldLayoutId id="2147483778" r:id="rId54"/>
    <p:sldLayoutId id="2147483779" r:id="rId55"/>
    <p:sldLayoutId id="2147483780" r:id="rId56"/>
    <p:sldLayoutId id="2147483781" r:id="rId57"/>
    <p:sldLayoutId id="2147483782" r:id="rId58"/>
    <p:sldLayoutId id="2147483783" r:id="rId59"/>
    <p:sldLayoutId id="2147483784" r:id="rId60"/>
    <p:sldLayoutId id="2147483785" r:id="rId61"/>
    <p:sldLayoutId id="2147483786" r:id="rId62"/>
    <p:sldLayoutId id="2147483787" r:id="rId63"/>
    <p:sldLayoutId id="2147483788" r:id="rId64"/>
    <p:sldLayoutId id="2147483789" r:id="rId65"/>
    <p:sldLayoutId id="2147483790" r:id="rId66"/>
    <p:sldLayoutId id="2147483791" r:id="rId67"/>
    <p:sldLayoutId id="2147483792" r:id="rId68"/>
    <p:sldLayoutId id="2147483793" r:id="rId69"/>
    <p:sldLayoutId id="2147483794" r:id="rId70"/>
    <p:sldLayoutId id="2147483795" r:id="rId71"/>
    <p:sldLayoutId id="2147483797" r:id="rId72"/>
  </p:sldLayoutIdLst>
  <p:transition spd="med"/>
  <p:hf hdr="0" ftr="0" dt="0"/>
  <p:txStyles>
    <p:titleStyle>
      <a:lvl1pPr algn="ctr" defTabSz="1218987" rtl="0" eaLnBrk="1" latinLnBrk="0" hangingPunct="1">
        <a:spcBef>
          <a:spcPct val="0"/>
        </a:spcBef>
        <a:buNone/>
        <a:defRPr sz="4300" kern="1200" cap="all" baseline="0">
          <a:solidFill>
            <a:schemeClr val="tx1"/>
          </a:solidFill>
          <a:latin typeface="Arial" pitchFamily="34" charset="0"/>
          <a:ea typeface="+mj-ea"/>
          <a:cs typeface="Arial" pitchFamily="34" charset="0"/>
        </a:defRPr>
      </a:lvl1pPr>
    </p:titleStyle>
    <p:bodyStyle>
      <a:lvl1pPr marL="457120" indent="-457120" algn="l" defTabSz="1218987" rtl="0" eaLnBrk="1" latinLnBrk="0" hangingPunct="1">
        <a:spcBef>
          <a:spcPct val="20000"/>
        </a:spcBef>
        <a:buClrTx/>
        <a:buFont typeface="Arial" panose="020B0604020202020204" pitchFamily="34" charset="0"/>
        <a:buChar char="•"/>
        <a:defRPr sz="4300" kern="1200">
          <a:solidFill>
            <a:schemeClr val="tx1"/>
          </a:solidFill>
          <a:latin typeface="Arial" pitchFamily="34" charset="0"/>
          <a:ea typeface="+mn-ea"/>
          <a:cs typeface="Arial" pitchFamily="34" charset="0"/>
        </a:defRPr>
      </a:lvl1pPr>
      <a:lvl2pPr marL="990427" indent="-380933" algn="l" defTabSz="1218987" rtl="0" eaLnBrk="1" latinLnBrk="0" hangingPunct="1">
        <a:spcBef>
          <a:spcPct val="20000"/>
        </a:spcBef>
        <a:buClrTx/>
        <a:buFont typeface="Arial" panose="020B0604020202020204" pitchFamily="34" charset="0"/>
        <a:buChar char="–"/>
        <a:defRPr sz="3700" kern="1200">
          <a:solidFill>
            <a:schemeClr val="tx1"/>
          </a:solidFill>
          <a:latin typeface="Arial" pitchFamily="34" charset="0"/>
          <a:ea typeface="+mn-ea"/>
          <a:cs typeface="Arial" pitchFamily="34" charset="0"/>
        </a:defRPr>
      </a:lvl2pPr>
      <a:lvl3pPr marL="1523733" indent="-304747" algn="l" defTabSz="1218987" rtl="0" eaLnBrk="1" latinLnBrk="0" hangingPunct="1">
        <a:spcBef>
          <a:spcPct val="20000"/>
        </a:spcBef>
        <a:buClrTx/>
        <a:buFont typeface="Arial" panose="020B0604020202020204" pitchFamily="34" charset="0"/>
        <a:buChar char="-"/>
        <a:defRPr sz="3200" kern="1200">
          <a:solidFill>
            <a:schemeClr val="tx1"/>
          </a:solidFill>
          <a:latin typeface="Arial" pitchFamily="34" charset="0"/>
          <a:ea typeface="+mn-ea"/>
          <a:cs typeface="Arial" pitchFamily="34" charset="0"/>
        </a:defRPr>
      </a:lvl3pPr>
      <a:lvl4pPr marL="2133227"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4pPr>
      <a:lvl5pPr marL="2742720"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0">
          <p15:clr>
            <a:srgbClr val="F26B43"/>
          </p15:clr>
        </p15:guide>
        <p15:guide id="2" pos="6719">
          <p15:clr>
            <a:srgbClr val="F26B43"/>
          </p15:clr>
        </p15:guide>
        <p15:guide id="3" orient="horz" pos="2880">
          <p15:clr>
            <a:srgbClr val="F26B43"/>
          </p15:clr>
        </p15:guide>
        <p15:guide id="4" pos="3839">
          <p15:clr>
            <a:srgbClr val="F26B43"/>
          </p15:clr>
        </p15:guide>
        <p15:guide id="5" pos="5279">
          <p15:clr>
            <a:srgbClr val="F26B43"/>
          </p15:clr>
        </p15:guide>
        <p15:guide id="6" pos="2399">
          <p15:clr>
            <a:srgbClr val="F26B43"/>
          </p15:clr>
        </p15:guide>
        <p15:guide id="7" pos="959">
          <p15:clr>
            <a:srgbClr val="F26B43"/>
          </p15:clr>
        </p15:guide>
        <p15:guide id="8" pos="7199">
          <p15:clr>
            <a:srgbClr val="FDE53C"/>
          </p15:clr>
        </p15:guide>
        <p15:guide id="9" pos="6239">
          <p15:clr>
            <a:srgbClr val="FDE53C"/>
          </p15:clr>
        </p15:guide>
        <p15:guide id="10" pos="5759">
          <p15:clr>
            <a:srgbClr val="FDE53C"/>
          </p15:clr>
        </p15:guide>
        <p15:guide id="11" pos="4319">
          <p15:clr>
            <a:srgbClr val="FDE53C"/>
          </p15:clr>
        </p15:guide>
        <p15:guide id="12" pos="4799">
          <p15:clr>
            <a:srgbClr val="FDE53C"/>
          </p15:clr>
        </p15:guide>
        <p15:guide id="13" pos="3335">
          <p15:clr>
            <a:srgbClr val="FDE53C"/>
          </p15:clr>
        </p15:guide>
        <p15:guide id="14" pos="2879">
          <p15:clr>
            <a:srgbClr val="FDE53C"/>
          </p15:clr>
        </p15:guide>
        <p15:guide id="15" pos="1919">
          <p15:clr>
            <a:srgbClr val="FDE53C"/>
          </p15:clr>
        </p15:guide>
        <p15:guide id="16" pos="1439">
          <p15:clr>
            <a:srgbClr val="FDE53C"/>
          </p15:clr>
        </p15:guide>
        <p15:guide id="17" pos="479">
          <p15:clr>
            <a:srgbClr val="FDE53C"/>
          </p15:clr>
        </p15:guide>
        <p15:guide id="18" orient="horz" pos="960">
          <p15:clr>
            <a:srgbClr val="FDE53C"/>
          </p15:clr>
        </p15:guide>
        <p15:guide id="19" orient="horz" pos="480">
          <p15:clr>
            <a:srgbClr val="FDE53C"/>
          </p15:clr>
        </p15:guide>
        <p15:guide id="20" orient="horz" pos="1920">
          <p15:clr>
            <a:srgbClr val="FDE53C"/>
          </p15:clr>
        </p15:guide>
        <p15:guide id="21" orient="horz" pos="2400">
          <p15:clr>
            <a:srgbClr val="FDE53C"/>
          </p15:clr>
        </p15:guide>
        <p15:guide id="22" orient="horz" pos="3360">
          <p15:clr>
            <a:srgbClr val="FDE53C"/>
          </p15:clr>
        </p15:guide>
        <p15:guide id="23" orient="horz" pos="3840">
          <p15:clr>
            <a:srgbClr val="FDE53C"/>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140FF8D5-8B75-FE20-A8FA-A6F511BB15D6}"/>
              </a:ext>
            </a:extLst>
          </p:cNvPr>
          <p:cNvGraphicFramePr>
            <a:graphicFrameLocks noChangeAspect="1"/>
          </p:cNvGraphicFramePr>
          <p:nvPr userDrawn="1">
            <p:custDataLst>
              <p:tags r:id="rId39"/>
            </p:custDataLst>
            <p:extLst>
              <p:ext uri="{D42A27DB-BD31-4B8C-83A1-F6EECF244321}">
                <p14:modId xmlns:p14="http://schemas.microsoft.com/office/powerpoint/2010/main" val="18991716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0" imgW="351" imgH="351" progId="TCLayout.ActiveDocument.1">
                  <p:embed/>
                </p:oleObj>
              </mc:Choice>
              <mc:Fallback>
                <p:oleObj name="think-cell Slide" r:id="rId40" imgW="351" imgH="351" progId="TCLayout.ActiveDocument.1">
                  <p:embed/>
                  <p:pic>
                    <p:nvPicPr>
                      <p:cNvPr id="3" name="think-cell data - do not delete" hidden="1">
                        <a:extLst>
                          <a:ext uri="{FF2B5EF4-FFF2-40B4-BE49-F238E27FC236}">
                            <a16:creationId xmlns:a16="http://schemas.microsoft.com/office/drawing/2014/main" id="{140FF8D5-8B75-FE20-A8FA-A6F511BB15D6}"/>
                          </a:ext>
                        </a:extLst>
                      </p:cNvPr>
                      <p:cNvPicPr/>
                      <p:nvPr/>
                    </p:nvPicPr>
                    <p:blipFill>
                      <a:blip r:embed="rId41"/>
                      <a:stretch>
                        <a:fillRect/>
                      </a:stretch>
                    </p:blipFill>
                    <p:spPr>
                      <a:xfrm>
                        <a:off x="1588" y="1588"/>
                        <a:ext cx="1588" cy="1588"/>
                      </a:xfrm>
                      <a:prstGeom prst="rect">
                        <a:avLst/>
                      </a:prstGeom>
                    </p:spPr>
                  </p:pic>
                </p:oleObj>
              </mc:Fallback>
            </mc:AlternateContent>
          </a:graphicData>
        </a:graphic>
      </p:graphicFrame>
      <p:sp>
        <p:nvSpPr>
          <p:cNvPr id="2" name="TextBox 1"/>
          <p:cNvSpPr txBox="1"/>
          <p:nvPr userDrawn="1"/>
        </p:nvSpPr>
        <p:spPr>
          <a:xfrm>
            <a:off x="1396578" y="6473952"/>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2020 Lenovo Internal. All rights reserved.</a:t>
            </a:r>
          </a:p>
        </p:txBody>
      </p:sp>
      <p:sp>
        <p:nvSpPr>
          <p:cNvPr id="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grpSp>
        <p:nvGrpSpPr>
          <p:cNvPr id="5" name="Group 4"/>
          <p:cNvGrpSpPr/>
          <p:nvPr userDrawn="1"/>
        </p:nvGrpSpPr>
        <p:grpSpPr>
          <a:xfrm>
            <a:off x="554484" y="6421482"/>
            <a:ext cx="734547" cy="245008"/>
            <a:chOff x="547688" y="952500"/>
            <a:chExt cx="12190413" cy="4067175"/>
          </a:xfrm>
        </p:grpSpPr>
        <p:sp>
          <p:nvSpPr>
            <p:cNvPr id="6" name="Rectangle 5"/>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8" name="Freeform 7"/>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9" name="Freeform 8"/>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0" name="Freeform 9"/>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1" name="Freeform 10"/>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2"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sp>
          <p:nvSpPr>
            <p:cNvPr id="13"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9"/>
            </a:p>
          </p:txBody>
        </p:sp>
      </p:grpSp>
    </p:spTree>
    <p:extLst>
      <p:ext uri="{BB962C8B-B14F-4D97-AF65-F5344CB8AC3E}">
        <p14:creationId xmlns:p14="http://schemas.microsoft.com/office/powerpoint/2010/main" val="3956864292"/>
      </p:ext>
    </p:extLst>
  </p:cSld>
  <p:clrMap bg1="lt1" tx1="dk1" bg2="lt2" tx2="dk2" accent1="accent1" accent2="accent2" accent3="accent3" accent4="accent4" accent5="accent5" accent6="accent6" hlink="hlink" folHlink="folHlink"/>
  <p:sldLayoutIdLst>
    <p:sldLayoutId id="2147483799" r:id="rId1"/>
    <p:sldLayoutId id="2147483800" r:id="rId2"/>
    <p:sldLayoutId id="2147483801" r:id="rId3"/>
    <p:sldLayoutId id="2147483802" r:id="rId4"/>
    <p:sldLayoutId id="2147483803" r:id="rId5"/>
    <p:sldLayoutId id="2147483804" r:id="rId6"/>
    <p:sldLayoutId id="2147483805" r:id="rId7"/>
    <p:sldLayoutId id="2147483806" r:id="rId8"/>
    <p:sldLayoutId id="2147483807" r:id="rId9"/>
    <p:sldLayoutId id="2147483808" r:id="rId10"/>
    <p:sldLayoutId id="2147483809" r:id="rId11"/>
    <p:sldLayoutId id="2147483810" r:id="rId12"/>
    <p:sldLayoutId id="2147483811" r:id="rId13"/>
    <p:sldLayoutId id="2147483812" r:id="rId14"/>
    <p:sldLayoutId id="2147483813" r:id="rId15"/>
    <p:sldLayoutId id="2147483814" r:id="rId16"/>
    <p:sldLayoutId id="2147483815" r:id="rId17"/>
    <p:sldLayoutId id="2147483816" r:id="rId18"/>
    <p:sldLayoutId id="2147483817" r:id="rId19"/>
    <p:sldLayoutId id="2147483818" r:id="rId20"/>
    <p:sldLayoutId id="2147483819" r:id="rId21"/>
    <p:sldLayoutId id="2147483820" r:id="rId22"/>
    <p:sldLayoutId id="2147483821" r:id="rId23"/>
    <p:sldLayoutId id="2147483822" r:id="rId24"/>
    <p:sldLayoutId id="2147483823" r:id="rId25"/>
    <p:sldLayoutId id="2147483824" r:id="rId26"/>
    <p:sldLayoutId id="2147483825" r:id="rId27"/>
    <p:sldLayoutId id="2147483826" r:id="rId28"/>
    <p:sldLayoutId id="2147483827" r:id="rId29"/>
    <p:sldLayoutId id="2147483828" r:id="rId30"/>
    <p:sldLayoutId id="2147483829" r:id="rId31"/>
    <p:sldLayoutId id="2147483830" r:id="rId32"/>
    <p:sldLayoutId id="2147483831" r:id="rId33"/>
    <p:sldLayoutId id="2147483832" r:id="rId34"/>
    <p:sldLayoutId id="2147483833" r:id="rId35"/>
    <p:sldLayoutId id="2147484187" r:id="rId36"/>
    <p:sldLayoutId id="2147484188" r:id="rId37"/>
  </p:sldLayoutIdLst>
  <p:transition spd="med"/>
  <p:hf hdr="0" dt="0"/>
  <p:txStyles>
    <p:titleStyle>
      <a:lvl1pPr algn="ctr" defTabSz="1218621" rtl="0" eaLnBrk="1" latinLnBrk="0" hangingPunct="1">
        <a:spcBef>
          <a:spcPct val="0"/>
        </a:spcBef>
        <a:buNone/>
        <a:defRPr sz="4299" kern="1200" cap="all" baseline="0">
          <a:solidFill>
            <a:schemeClr val="tx1"/>
          </a:solidFill>
          <a:latin typeface="Arial" pitchFamily="34" charset="0"/>
          <a:ea typeface="+mj-ea"/>
          <a:cs typeface="Arial" pitchFamily="34" charset="0"/>
        </a:defRPr>
      </a:lvl1pPr>
    </p:titleStyle>
    <p:bodyStyle>
      <a:lvl1pPr marL="456983" indent="-456983" algn="l" defTabSz="1218621" rtl="0" eaLnBrk="1" latinLnBrk="0" hangingPunct="1">
        <a:spcBef>
          <a:spcPct val="20000"/>
        </a:spcBef>
        <a:buClr>
          <a:schemeClr val="tx2"/>
        </a:buClr>
        <a:buFont typeface="Wingdings" pitchFamily="2" charset="2"/>
        <a:buChar char="§"/>
        <a:defRPr sz="4299" kern="1200">
          <a:solidFill>
            <a:schemeClr val="tx1"/>
          </a:solidFill>
          <a:latin typeface="Arial" pitchFamily="34" charset="0"/>
          <a:ea typeface="+mn-ea"/>
          <a:cs typeface="Arial" pitchFamily="34" charset="0"/>
        </a:defRPr>
      </a:lvl1pPr>
      <a:lvl2pPr marL="990130" indent="-380819" algn="l" defTabSz="1218621" rtl="0" eaLnBrk="1" latinLnBrk="0" hangingPunct="1">
        <a:spcBef>
          <a:spcPct val="20000"/>
        </a:spcBef>
        <a:buClr>
          <a:schemeClr val="tx2"/>
        </a:buClr>
        <a:buFont typeface="Wingdings" pitchFamily="2" charset="2"/>
        <a:buChar char="§"/>
        <a:defRPr sz="3699" kern="1200">
          <a:solidFill>
            <a:schemeClr val="tx1"/>
          </a:solidFill>
          <a:latin typeface="Arial" pitchFamily="34" charset="0"/>
          <a:ea typeface="+mn-ea"/>
          <a:cs typeface="Arial" pitchFamily="34" charset="0"/>
        </a:defRPr>
      </a:lvl2pPr>
      <a:lvl3pPr marL="1523276" indent="-304656" algn="l" defTabSz="1218621" rtl="0" eaLnBrk="1" latinLnBrk="0" hangingPunct="1">
        <a:spcBef>
          <a:spcPct val="20000"/>
        </a:spcBef>
        <a:buClr>
          <a:schemeClr val="tx2"/>
        </a:buClr>
        <a:buFont typeface="Wingdings" pitchFamily="2" charset="2"/>
        <a:buChar char="§"/>
        <a:defRPr sz="3199" kern="1200">
          <a:solidFill>
            <a:schemeClr val="tx1"/>
          </a:solidFill>
          <a:latin typeface="Arial" pitchFamily="34" charset="0"/>
          <a:ea typeface="+mn-ea"/>
          <a:cs typeface="Arial" pitchFamily="34" charset="0"/>
        </a:defRPr>
      </a:lvl3pPr>
      <a:lvl4pPr marL="2132587" indent="-304656" algn="l" defTabSz="1218621" rtl="0" eaLnBrk="1" latinLnBrk="0" hangingPunct="1">
        <a:spcBef>
          <a:spcPct val="20000"/>
        </a:spcBef>
        <a:buClr>
          <a:schemeClr val="tx2"/>
        </a:buClr>
        <a:buFont typeface="Wingdings" pitchFamily="2" charset="2"/>
        <a:buChar char="§"/>
        <a:defRPr sz="2699" kern="1200">
          <a:solidFill>
            <a:schemeClr val="tx1"/>
          </a:solidFill>
          <a:latin typeface="Arial" pitchFamily="34" charset="0"/>
          <a:ea typeface="+mn-ea"/>
          <a:cs typeface="Arial" pitchFamily="34" charset="0"/>
        </a:defRPr>
      </a:lvl4pPr>
      <a:lvl5pPr marL="2741897" indent="-304656" algn="l" defTabSz="1218621" rtl="0" eaLnBrk="1" latinLnBrk="0" hangingPunct="1">
        <a:spcBef>
          <a:spcPct val="20000"/>
        </a:spcBef>
        <a:buClr>
          <a:schemeClr val="tx2"/>
        </a:buClr>
        <a:buFont typeface="Wingdings" pitchFamily="2" charset="2"/>
        <a:buChar char="§"/>
        <a:defRPr sz="2699" kern="1200">
          <a:solidFill>
            <a:schemeClr val="tx1"/>
          </a:solidFill>
          <a:latin typeface="Arial" pitchFamily="34" charset="0"/>
          <a:ea typeface="+mn-ea"/>
          <a:cs typeface="Arial" pitchFamily="34" charset="0"/>
        </a:defRPr>
      </a:lvl5pPr>
      <a:lvl6pPr marL="3351207" indent="-304656" algn="l" defTabSz="1218621" rtl="0" eaLnBrk="1" latinLnBrk="0" hangingPunct="1">
        <a:spcBef>
          <a:spcPct val="20000"/>
        </a:spcBef>
        <a:buFont typeface="Arial" pitchFamily="34" charset="0"/>
        <a:buChar char="•"/>
        <a:defRPr sz="2699" kern="1200">
          <a:solidFill>
            <a:schemeClr val="tx1"/>
          </a:solidFill>
          <a:latin typeface="+mn-lt"/>
          <a:ea typeface="+mn-ea"/>
          <a:cs typeface="+mn-cs"/>
        </a:defRPr>
      </a:lvl6pPr>
      <a:lvl7pPr marL="3960518" indent="-304656" algn="l" defTabSz="1218621" rtl="0" eaLnBrk="1" latinLnBrk="0" hangingPunct="1">
        <a:spcBef>
          <a:spcPct val="20000"/>
        </a:spcBef>
        <a:buFont typeface="Arial" pitchFamily="34" charset="0"/>
        <a:buChar char="•"/>
        <a:defRPr sz="2699" kern="1200">
          <a:solidFill>
            <a:schemeClr val="tx1"/>
          </a:solidFill>
          <a:latin typeface="+mn-lt"/>
          <a:ea typeface="+mn-ea"/>
          <a:cs typeface="+mn-cs"/>
        </a:defRPr>
      </a:lvl7pPr>
      <a:lvl8pPr marL="4569829" indent="-304656" algn="l" defTabSz="1218621" rtl="0" eaLnBrk="1" latinLnBrk="0" hangingPunct="1">
        <a:spcBef>
          <a:spcPct val="20000"/>
        </a:spcBef>
        <a:buFont typeface="Arial" pitchFamily="34" charset="0"/>
        <a:buChar char="•"/>
        <a:defRPr sz="2699" kern="1200">
          <a:solidFill>
            <a:schemeClr val="tx1"/>
          </a:solidFill>
          <a:latin typeface="+mn-lt"/>
          <a:ea typeface="+mn-ea"/>
          <a:cs typeface="+mn-cs"/>
        </a:defRPr>
      </a:lvl8pPr>
      <a:lvl9pPr marL="5179139" indent="-304656" algn="l" defTabSz="1218621" rtl="0" eaLnBrk="1" latinLnBrk="0" hangingPunct="1">
        <a:spcBef>
          <a:spcPct val="20000"/>
        </a:spcBef>
        <a:buFont typeface="Arial" pitchFamily="34" charset="0"/>
        <a:buChar char="•"/>
        <a:defRPr sz="2699" kern="1200">
          <a:solidFill>
            <a:schemeClr val="tx1"/>
          </a:solidFill>
          <a:latin typeface="+mn-lt"/>
          <a:ea typeface="+mn-ea"/>
          <a:cs typeface="+mn-cs"/>
        </a:defRPr>
      </a:lvl9pPr>
    </p:bodyStyle>
    <p:otherStyle>
      <a:defPPr>
        <a:defRPr lang="en-US"/>
      </a:defPPr>
      <a:lvl1pPr marL="0" algn="l" defTabSz="1218621" rtl="0" eaLnBrk="1" latinLnBrk="0" hangingPunct="1">
        <a:defRPr sz="2399" kern="1200">
          <a:solidFill>
            <a:schemeClr val="tx1"/>
          </a:solidFill>
          <a:latin typeface="+mn-lt"/>
          <a:ea typeface="+mn-ea"/>
          <a:cs typeface="+mn-cs"/>
        </a:defRPr>
      </a:lvl1pPr>
      <a:lvl2pPr marL="609310" algn="l" defTabSz="1218621" rtl="0" eaLnBrk="1" latinLnBrk="0" hangingPunct="1">
        <a:defRPr sz="2399" kern="1200">
          <a:solidFill>
            <a:schemeClr val="tx1"/>
          </a:solidFill>
          <a:latin typeface="+mn-lt"/>
          <a:ea typeface="+mn-ea"/>
          <a:cs typeface="+mn-cs"/>
        </a:defRPr>
      </a:lvl2pPr>
      <a:lvl3pPr marL="1218621" algn="l" defTabSz="1218621" rtl="0" eaLnBrk="1" latinLnBrk="0" hangingPunct="1">
        <a:defRPr sz="2399" kern="1200">
          <a:solidFill>
            <a:schemeClr val="tx1"/>
          </a:solidFill>
          <a:latin typeface="+mn-lt"/>
          <a:ea typeface="+mn-ea"/>
          <a:cs typeface="+mn-cs"/>
        </a:defRPr>
      </a:lvl3pPr>
      <a:lvl4pPr marL="1827931" algn="l" defTabSz="1218621" rtl="0" eaLnBrk="1" latinLnBrk="0" hangingPunct="1">
        <a:defRPr sz="2399" kern="1200">
          <a:solidFill>
            <a:schemeClr val="tx1"/>
          </a:solidFill>
          <a:latin typeface="+mn-lt"/>
          <a:ea typeface="+mn-ea"/>
          <a:cs typeface="+mn-cs"/>
        </a:defRPr>
      </a:lvl4pPr>
      <a:lvl5pPr marL="2437242" algn="l" defTabSz="1218621" rtl="0" eaLnBrk="1" latinLnBrk="0" hangingPunct="1">
        <a:defRPr sz="2399" kern="1200">
          <a:solidFill>
            <a:schemeClr val="tx1"/>
          </a:solidFill>
          <a:latin typeface="+mn-lt"/>
          <a:ea typeface="+mn-ea"/>
          <a:cs typeface="+mn-cs"/>
        </a:defRPr>
      </a:lvl5pPr>
      <a:lvl6pPr marL="3046553" algn="l" defTabSz="1218621" rtl="0" eaLnBrk="1" latinLnBrk="0" hangingPunct="1">
        <a:defRPr sz="2399" kern="1200">
          <a:solidFill>
            <a:schemeClr val="tx1"/>
          </a:solidFill>
          <a:latin typeface="+mn-lt"/>
          <a:ea typeface="+mn-ea"/>
          <a:cs typeface="+mn-cs"/>
        </a:defRPr>
      </a:lvl6pPr>
      <a:lvl7pPr marL="3655863" algn="l" defTabSz="1218621" rtl="0" eaLnBrk="1" latinLnBrk="0" hangingPunct="1">
        <a:defRPr sz="2399" kern="1200">
          <a:solidFill>
            <a:schemeClr val="tx1"/>
          </a:solidFill>
          <a:latin typeface="+mn-lt"/>
          <a:ea typeface="+mn-ea"/>
          <a:cs typeface="+mn-cs"/>
        </a:defRPr>
      </a:lvl7pPr>
      <a:lvl8pPr marL="4265173" algn="l" defTabSz="1218621" rtl="0" eaLnBrk="1" latinLnBrk="0" hangingPunct="1">
        <a:defRPr sz="2399" kern="1200">
          <a:solidFill>
            <a:schemeClr val="tx1"/>
          </a:solidFill>
          <a:latin typeface="+mn-lt"/>
          <a:ea typeface="+mn-ea"/>
          <a:cs typeface="+mn-cs"/>
        </a:defRPr>
      </a:lvl8pPr>
      <a:lvl9pPr marL="4874484" algn="l" defTabSz="1218621" rtl="0" eaLnBrk="1" latinLnBrk="0" hangingPunct="1">
        <a:defRPr sz="2399"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38BBA276-0344-A6D8-6F66-8DF1B67C3409}"/>
              </a:ext>
            </a:extLst>
          </p:cNvPr>
          <p:cNvGraphicFramePr>
            <a:graphicFrameLocks noChangeAspect="1"/>
          </p:cNvGraphicFramePr>
          <p:nvPr userDrawn="1">
            <p:custDataLst>
              <p:tags r:id="rId47"/>
            </p:custDataLst>
            <p:extLst>
              <p:ext uri="{D42A27DB-BD31-4B8C-83A1-F6EECF244321}">
                <p14:modId xmlns:p14="http://schemas.microsoft.com/office/powerpoint/2010/main" val="4179947378"/>
              </p:ext>
            </p:extLst>
          </p:nvPr>
        </p:nvGraphicFramePr>
        <p:xfrm>
          <a:off x="1589" y="1588"/>
          <a:ext cx="1588" cy="1588"/>
        </p:xfrm>
        <a:graphic>
          <a:graphicData uri="http://schemas.openxmlformats.org/presentationml/2006/ole">
            <mc:AlternateContent xmlns:mc="http://schemas.openxmlformats.org/markup-compatibility/2006">
              <mc:Choice xmlns:v="urn:schemas-microsoft-com:vml" Requires="v">
                <p:oleObj name="think-cell Slide" r:id="rId48" imgW="454" imgH="456" progId="TCLayout.ActiveDocument.1">
                  <p:embed/>
                </p:oleObj>
              </mc:Choice>
              <mc:Fallback>
                <p:oleObj name="think-cell Slide" r:id="rId48" imgW="454" imgH="456" progId="TCLayout.ActiveDocument.1">
                  <p:embed/>
                  <p:pic>
                    <p:nvPicPr>
                      <p:cNvPr id="2" name="think-cell data - do not delete" hidden="1">
                        <a:extLst>
                          <a:ext uri="{FF2B5EF4-FFF2-40B4-BE49-F238E27FC236}">
                            <a16:creationId xmlns:a16="http://schemas.microsoft.com/office/drawing/2014/main" id="{38BBA276-0344-A6D8-6F66-8DF1B67C3409}"/>
                          </a:ext>
                        </a:extLst>
                      </p:cNvPr>
                      <p:cNvPicPr/>
                      <p:nvPr/>
                    </p:nvPicPr>
                    <p:blipFill>
                      <a:blip r:embed="rId49"/>
                      <a:stretch>
                        <a:fillRect/>
                      </a:stretch>
                    </p:blipFill>
                    <p:spPr>
                      <a:xfrm>
                        <a:off x="1589" y="1588"/>
                        <a:ext cx="1588" cy="1588"/>
                      </a:xfrm>
                      <a:prstGeom prst="rect">
                        <a:avLst/>
                      </a:prstGeom>
                    </p:spPr>
                  </p:pic>
                </p:oleObj>
              </mc:Fallback>
            </mc:AlternateContent>
          </a:graphicData>
        </a:graphic>
      </p:graphicFrame>
      <p:sp>
        <p:nvSpPr>
          <p:cNvPr id="4" name="Slide Number Placeholder 5"/>
          <p:cNvSpPr>
            <a:spLocks noGrp="1"/>
          </p:cNvSpPr>
          <p:nvPr>
            <p:ph type="sldNum" sz="quarter" idx="4"/>
          </p:nvPr>
        </p:nvSpPr>
        <p:spPr>
          <a:xfrm>
            <a:off x="11672569" y="6400800"/>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1475663961"/>
      </p:ext>
    </p:extLst>
  </p:cSld>
  <p:clrMap bg1="lt1" tx1="dk1" bg2="lt2" tx2="dk2" accent1="accent1" accent2="accent2" accent3="accent3" accent4="accent4" accent5="accent5" accent6="accent6" hlink="hlink" folHlink="folHlink"/>
  <p:sldLayoutIdLst>
    <p:sldLayoutId id="2147483835" r:id="rId1"/>
    <p:sldLayoutId id="2147483836" r:id="rId2"/>
    <p:sldLayoutId id="2147483837" r:id="rId3"/>
    <p:sldLayoutId id="2147483838" r:id="rId4"/>
    <p:sldLayoutId id="2147483839" r:id="rId5"/>
    <p:sldLayoutId id="2147483840" r:id="rId6"/>
    <p:sldLayoutId id="2147483841" r:id="rId7"/>
    <p:sldLayoutId id="2147483842" r:id="rId8"/>
    <p:sldLayoutId id="2147483843" r:id="rId9"/>
    <p:sldLayoutId id="2147483844" r:id="rId10"/>
    <p:sldLayoutId id="2147483845" r:id="rId11"/>
    <p:sldLayoutId id="2147483846" r:id="rId12"/>
    <p:sldLayoutId id="2147483847" r:id="rId13"/>
    <p:sldLayoutId id="2147483848" r:id="rId14"/>
    <p:sldLayoutId id="2147483849" r:id="rId15"/>
    <p:sldLayoutId id="2147483850" r:id="rId16"/>
    <p:sldLayoutId id="2147483851" r:id="rId17"/>
    <p:sldLayoutId id="2147483852" r:id="rId18"/>
    <p:sldLayoutId id="2147483853" r:id="rId19"/>
    <p:sldLayoutId id="2147483854" r:id="rId20"/>
    <p:sldLayoutId id="2147483855" r:id="rId21"/>
    <p:sldLayoutId id="2147483856" r:id="rId22"/>
    <p:sldLayoutId id="2147483857" r:id="rId23"/>
    <p:sldLayoutId id="2147483858" r:id="rId24"/>
    <p:sldLayoutId id="2147483859" r:id="rId25"/>
    <p:sldLayoutId id="2147483860" r:id="rId26"/>
    <p:sldLayoutId id="2147483861" r:id="rId27"/>
    <p:sldLayoutId id="2147483862" r:id="rId28"/>
    <p:sldLayoutId id="2147483863" r:id="rId29"/>
    <p:sldLayoutId id="2147483864" r:id="rId30"/>
    <p:sldLayoutId id="2147483865" r:id="rId31"/>
    <p:sldLayoutId id="2147483866" r:id="rId32"/>
    <p:sldLayoutId id="2147483867" r:id="rId33"/>
    <p:sldLayoutId id="2147483868" r:id="rId34"/>
    <p:sldLayoutId id="2147483869" r:id="rId35"/>
    <p:sldLayoutId id="2147483870" r:id="rId36"/>
    <p:sldLayoutId id="2147483871" r:id="rId37"/>
    <p:sldLayoutId id="2147483872" r:id="rId38"/>
    <p:sldLayoutId id="2147483873" r:id="rId39"/>
    <p:sldLayoutId id="2147483874" r:id="rId40"/>
    <p:sldLayoutId id="2147483875" r:id="rId41"/>
    <p:sldLayoutId id="2147483876" r:id="rId42"/>
    <p:sldLayoutId id="2147483877" r:id="rId43"/>
    <p:sldLayoutId id="2147483878" r:id="rId44"/>
    <p:sldLayoutId id="2147483879" r:id="rId45"/>
  </p:sldLayoutIdLst>
  <p:transition spd="med"/>
  <p:hf hdr="0" ftr="0" dt="0"/>
  <p:txStyles>
    <p:titleStyle>
      <a:lvl1pPr algn="ctr" defTabSz="1218987" rtl="0" eaLnBrk="1" latinLnBrk="0" hangingPunct="1">
        <a:spcBef>
          <a:spcPct val="0"/>
        </a:spcBef>
        <a:buNone/>
        <a:defRPr sz="4300" kern="1200" cap="all" baseline="0">
          <a:solidFill>
            <a:schemeClr val="tx1"/>
          </a:solidFill>
          <a:latin typeface="Arial" pitchFamily="34" charset="0"/>
          <a:ea typeface="+mj-ea"/>
          <a:cs typeface="Arial" pitchFamily="34" charset="0"/>
        </a:defRPr>
      </a:lvl1pPr>
    </p:titleStyle>
    <p:bodyStyle>
      <a:lvl1pPr marL="457120" indent="-457120" algn="l" defTabSz="1218987" rtl="0" eaLnBrk="1" latinLnBrk="0" hangingPunct="1">
        <a:spcBef>
          <a:spcPct val="20000"/>
        </a:spcBef>
        <a:buClrTx/>
        <a:buFont typeface="Arial" panose="020B0604020202020204" pitchFamily="34" charset="0"/>
        <a:buChar char="•"/>
        <a:defRPr sz="4300" kern="1200">
          <a:solidFill>
            <a:schemeClr val="tx1"/>
          </a:solidFill>
          <a:latin typeface="Arial" pitchFamily="34" charset="0"/>
          <a:ea typeface="+mn-ea"/>
          <a:cs typeface="Arial" pitchFamily="34" charset="0"/>
        </a:defRPr>
      </a:lvl1pPr>
      <a:lvl2pPr marL="990427" indent="-380933" algn="l" defTabSz="1218987" rtl="0" eaLnBrk="1" latinLnBrk="0" hangingPunct="1">
        <a:spcBef>
          <a:spcPct val="20000"/>
        </a:spcBef>
        <a:buClrTx/>
        <a:buFont typeface="Arial" panose="020B0604020202020204" pitchFamily="34" charset="0"/>
        <a:buChar char="–"/>
        <a:defRPr sz="3700" kern="1200">
          <a:solidFill>
            <a:schemeClr val="tx1"/>
          </a:solidFill>
          <a:latin typeface="Arial" pitchFamily="34" charset="0"/>
          <a:ea typeface="+mn-ea"/>
          <a:cs typeface="Arial" pitchFamily="34" charset="0"/>
        </a:defRPr>
      </a:lvl2pPr>
      <a:lvl3pPr marL="1523733" indent="-304747" algn="l" defTabSz="1218987" rtl="0" eaLnBrk="1" latinLnBrk="0" hangingPunct="1">
        <a:spcBef>
          <a:spcPct val="20000"/>
        </a:spcBef>
        <a:buClrTx/>
        <a:buFont typeface="Arial" panose="020B0604020202020204" pitchFamily="34" charset="0"/>
        <a:buChar char="-"/>
        <a:defRPr sz="3200" kern="1200">
          <a:solidFill>
            <a:schemeClr val="tx1"/>
          </a:solidFill>
          <a:latin typeface="Arial" pitchFamily="34" charset="0"/>
          <a:ea typeface="+mn-ea"/>
          <a:cs typeface="Arial" pitchFamily="34" charset="0"/>
        </a:defRPr>
      </a:lvl3pPr>
      <a:lvl4pPr marL="2133227"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4pPr>
      <a:lvl5pPr marL="2742720"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0">
          <p15:clr>
            <a:srgbClr val="F26B43"/>
          </p15:clr>
        </p15:guide>
        <p15:guide id="2" pos="6719">
          <p15:clr>
            <a:srgbClr val="F26B43"/>
          </p15:clr>
        </p15:guide>
        <p15:guide id="3" orient="horz" pos="2880">
          <p15:clr>
            <a:srgbClr val="F26B43"/>
          </p15:clr>
        </p15:guide>
        <p15:guide id="4" pos="3839">
          <p15:clr>
            <a:srgbClr val="F26B43"/>
          </p15:clr>
        </p15:guide>
        <p15:guide id="5" pos="5279">
          <p15:clr>
            <a:srgbClr val="F26B43"/>
          </p15:clr>
        </p15:guide>
        <p15:guide id="6" pos="2399">
          <p15:clr>
            <a:srgbClr val="F26B43"/>
          </p15:clr>
        </p15:guide>
        <p15:guide id="7" pos="959">
          <p15:clr>
            <a:srgbClr val="F26B43"/>
          </p15:clr>
        </p15:guide>
        <p15:guide id="8" pos="7199">
          <p15:clr>
            <a:srgbClr val="FDE53C"/>
          </p15:clr>
        </p15:guide>
        <p15:guide id="9" pos="6239">
          <p15:clr>
            <a:srgbClr val="FDE53C"/>
          </p15:clr>
        </p15:guide>
        <p15:guide id="10" pos="5759">
          <p15:clr>
            <a:srgbClr val="FDE53C"/>
          </p15:clr>
        </p15:guide>
        <p15:guide id="11" pos="4319">
          <p15:clr>
            <a:srgbClr val="FDE53C"/>
          </p15:clr>
        </p15:guide>
        <p15:guide id="12" pos="4799">
          <p15:clr>
            <a:srgbClr val="FDE53C"/>
          </p15:clr>
        </p15:guide>
        <p15:guide id="13" pos="3335">
          <p15:clr>
            <a:srgbClr val="FDE53C"/>
          </p15:clr>
        </p15:guide>
        <p15:guide id="14" pos="2879">
          <p15:clr>
            <a:srgbClr val="FDE53C"/>
          </p15:clr>
        </p15:guide>
        <p15:guide id="15" pos="1919">
          <p15:clr>
            <a:srgbClr val="FDE53C"/>
          </p15:clr>
        </p15:guide>
        <p15:guide id="16" pos="1439">
          <p15:clr>
            <a:srgbClr val="FDE53C"/>
          </p15:clr>
        </p15:guide>
        <p15:guide id="17" pos="479">
          <p15:clr>
            <a:srgbClr val="FDE53C"/>
          </p15:clr>
        </p15:guide>
        <p15:guide id="18" orient="horz" pos="960">
          <p15:clr>
            <a:srgbClr val="FDE53C"/>
          </p15:clr>
        </p15:guide>
        <p15:guide id="19" orient="horz" pos="480">
          <p15:clr>
            <a:srgbClr val="FDE53C"/>
          </p15:clr>
        </p15:guide>
        <p15:guide id="20" orient="horz" pos="1920">
          <p15:clr>
            <a:srgbClr val="FDE53C"/>
          </p15:clr>
        </p15:guide>
        <p15:guide id="21" orient="horz" pos="2400">
          <p15:clr>
            <a:srgbClr val="FDE53C"/>
          </p15:clr>
        </p15:guide>
        <p15:guide id="22" orient="horz" pos="3360">
          <p15:clr>
            <a:srgbClr val="FDE53C"/>
          </p15:clr>
        </p15:guide>
        <p15:guide id="23" orient="horz" pos="3840">
          <p15:clr>
            <a:srgbClr val="FDE53C"/>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140FF8D5-8B75-FE20-A8FA-A6F511BB15D6}"/>
              </a:ext>
            </a:extLst>
          </p:cNvPr>
          <p:cNvGraphicFramePr>
            <a:graphicFrameLocks/>
          </p:cNvGraphicFramePr>
          <p:nvPr userDrawn="1">
            <p:custDataLst>
              <p:tags r:id="rId37"/>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8" imgW="351" imgH="351" progId="TCLayout.ActiveDocument.1">
                  <p:embed/>
                </p:oleObj>
              </mc:Choice>
              <mc:Fallback>
                <p:oleObj name="think-cell Slide" r:id="rId38" imgW="351" imgH="351" progId="TCLayout.ActiveDocument.1">
                  <p:embed/>
                  <p:pic>
                    <p:nvPicPr>
                      <p:cNvPr id="3" name="think-cell data - do not delete" hidden="1">
                        <a:extLst>
                          <a:ext uri="{FF2B5EF4-FFF2-40B4-BE49-F238E27FC236}">
                            <a16:creationId xmlns:a16="http://schemas.microsoft.com/office/drawing/2014/main" id="{140FF8D5-8B75-FE20-A8FA-A6F511BB15D6}"/>
                          </a:ext>
                        </a:extLst>
                      </p:cNvPr>
                      <p:cNvPicPr/>
                      <p:nvPr/>
                    </p:nvPicPr>
                    <p:blipFill>
                      <a:blip r:embed="rId39"/>
                      <a:stretch>
                        <a:fillRect/>
                      </a:stretch>
                    </p:blipFill>
                    <p:spPr>
                      <a:xfrm>
                        <a:off x="1588" y="1588"/>
                        <a:ext cx="1588" cy="1588"/>
                      </a:xfrm>
                      <a:prstGeom prst="rect">
                        <a:avLst/>
                      </a:prstGeom>
                    </p:spPr>
                  </p:pic>
                </p:oleObj>
              </mc:Fallback>
            </mc:AlternateContent>
          </a:graphicData>
        </a:graphic>
      </p:graphicFrame>
      <p:sp>
        <p:nvSpPr>
          <p:cNvPr id="2" name="TextBox 1"/>
          <p:cNvSpPr txBox="1"/>
          <p:nvPr userDrawn="1"/>
        </p:nvSpPr>
        <p:spPr>
          <a:xfrm>
            <a:off x="1396578" y="6473952"/>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2025 Lenovo Internal. All rights reserved.</a:t>
            </a:r>
          </a:p>
        </p:txBody>
      </p:sp>
      <p:sp>
        <p:nvSpPr>
          <p:cNvPr id="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grpSp>
        <p:nvGrpSpPr>
          <p:cNvPr id="5" name="Group 4"/>
          <p:cNvGrpSpPr/>
          <p:nvPr userDrawn="1"/>
        </p:nvGrpSpPr>
        <p:grpSpPr>
          <a:xfrm>
            <a:off x="554485" y="6421482"/>
            <a:ext cx="734547" cy="245008"/>
            <a:chOff x="547688" y="952500"/>
            <a:chExt cx="12190413" cy="4067175"/>
          </a:xfrm>
        </p:grpSpPr>
        <p:sp>
          <p:nvSpPr>
            <p:cNvPr id="6" name="Rectangle 5"/>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8" name="Freeform 7"/>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 name="Freeform 8"/>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 name="Freeform 9"/>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 name="Freeform 10"/>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2"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3"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Tree>
    <p:extLst>
      <p:ext uri="{BB962C8B-B14F-4D97-AF65-F5344CB8AC3E}">
        <p14:creationId xmlns:p14="http://schemas.microsoft.com/office/powerpoint/2010/main" val="1572430352"/>
      </p:ext>
    </p:extLst>
  </p:cSld>
  <p:clrMap bg1="lt1" tx1="dk1" bg2="lt2" tx2="dk2" accent1="accent1" accent2="accent2" accent3="accent3" accent4="accent4" accent5="accent5" accent6="accent6" hlink="hlink" folHlink="folHlink"/>
  <p:sldLayoutIdLst>
    <p:sldLayoutId id="2147483881" r:id="rId1"/>
    <p:sldLayoutId id="2147483882" r:id="rId2"/>
    <p:sldLayoutId id="2147483883" r:id="rId3"/>
    <p:sldLayoutId id="2147483884" r:id="rId4"/>
    <p:sldLayoutId id="2147483885" r:id="rId5"/>
    <p:sldLayoutId id="2147483886" r:id="rId6"/>
    <p:sldLayoutId id="2147483887" r:id="rId7"/>
    <p:sldLayoutId id="2147483888" r:id="rId8"/>
    <p:sldLayoutId id="2147483889" r:id="rId9"/>
    <p:sldLayoutId id="2147483890" r:id="rId10"/>
    <p:sldLayoutId id="2147483891" r:id="rId11"/>
    <p:sldLayoutId id="2147483892" r:id="rId12"/>
    <p:sldLayoutId id="2147483893" r:id="rId13"/>
    <p:sldLayoutId id="2147483894" r:id="rId14"/>
    <p:sldLayoutId id="2147483895" r:id="rId15"/>
    <p:sldLayoutId id="2147483896" r:id="rId16"/>
    <p:sldLayoutId id="2147483897" r:id="rId17"/>
    <p:sldLayoutId id="2147483898" r:id="rId18"/>
    <p:sldLayoutId id="2147483899" r:id="rId19"/>
    <p:sldLayoutId id="2147483900" r:id="rId20"/>
    <p:sldLayoutId id="2147483901" r:id="rId21"/>
    <p:sldLayoutId id="2147483902" r:id="rId22"/>
    <p:sldLayoutId id="2147483903" r:id="rId23"/>
    <p:sldLayoutId id="2147483904" r:id="rId24"/>
    <p:sldLayoutId id="2147483905" r:id="rId25"/>
    <p:sldLayoutId id="2147483906" r:id="rId26"/>
    <p:sldLayoutId id="2147483907" r:id="rId27"/>
    <p:sldLayoutId id="2147483908" r:id="rId28"/>
    <p:sldLayoutId id="2147483909" r:id="rId29"/>
    <p:sldLayoutId id="2147483910" r:id="rId30"/>
    <p:sldLayoutId id="2147483911" r:id="rId31"/>
    <p:sldLayoutId id="2147483912" r:id="rId32"/>
    <p:sldLayoutId id="2147483913" r:id="rId33"/>
    <p:sldLayoutId id="2147483914" r:id="rId34"/>
    <p:sldLayoutId id="2147483915" r:id="rId35"/>
  </p:sldLayoutIdLst>
  <p:transition spd="med"/>
  <p:hf hdr="0" dt="0"/>
  <p:txStyles>
    <p:titleStyle>
      <a:lvl1pPr algn="ctr" defTabSz="1218255" rtl="0" eaLnBrk="1" latinLnBrk="0" hangingPunct="1">
        <a:spcBef>
          <a:spcPct val="0"/>
        </a:spcBef>
        <a:buNone/>
        <a:defRPr sz="4298" kern="1200" cap="all" baseline="0">
          <a:solidFill>
            <a:schemeClr val="tx1"/>
          </a:solidFill>
          <a:latin typeface="Arial" pitchFamily="34" charset="0"/>
          <a:ea typeface="+mj-ea"/>
          <a:cs typeface="Arial" pitchFamily="34" charset="0"/>
        </a:defRPr>
      </a:lvl1pPr>
    </p:titleStyle>
    <p:bodyStyle>
      <a:lvl1pPr marL="456846" indent="-456846" algn="l" defTabSz="1218255" rtl="0" eaLnBrk="1" latinLnBrk="0" hangingPunct="1">
        <a:spcBef>
          <a:spcPct val="20000"/>
        </a:spcBef>
        <a:buClr>
          <a:schemeClr val="tx2"/>
        </a:buClr>
        <a:buFont typeface="Wingdings" pitchFamily="2" charset="2"/>
        <a:buChar char="§"/>
        <a:defRPr sz="4298" kern="1200">
          <a:solidFill>
            <a:schemeClr val="tx1"/>
          </a:solidFill>
          <a:latin typeface="Arial" pitchFamily="34" charset="0"/>
          <a:ea typeface="+mn-ea"/>
          <a:cs typeface="Arial" pitchFamily="34" charset="0"/>
        </a:defRPr>
      </a:lvl1pPr>
      <a:lvl2pPr marL="989833" indent="-380705" algn="l" defTabSz="1218255" rtl="0" eaLnBrk="1" latinLnBrk="0" hangingPunct="1">
        <a:spcBef>
          <a:spcPct val="20000"/>
        </a:spcBef>
        <a:buClr>
          <a:schemeClr val="tx2"/>
        </a:buClr>
        <a:buFont typeface="Wingdings" pitchFamily="2" charset="2"/>
        <a:buChar char="§"/>
        <a:defRPr sz="3698" kern="1200">
          <a:solidFill>
            <a:schemeClr val="tx1"/>
          </a:solidFill>
          <a:latin typeface="Arial" pitchFamily="34" charset="0"/>
          <a:ea typeface="+mn-ea"/>
          <a:cs typeface="Arial" pitchFamily="34" charset="0"/>
        </a:defRPr>
      </a:lvl2pPr>
      <a:lvl3pPr marL="1522819" indent="-304565" algn="l" defTabSz="1218255" rtl="0" eaLnBrk="1" latinLnBrk="0" hangingPunct="1">
        <a:spcBef>
          <a:spcPct val="20000"/>
        </a:spcBef>
        <a:buClr>
          <a:schemeClr val="tx2"/>
        </a:buClr>
        <a:buFont typeface="Wingdings" pitchFamily="2" charset="2"/>
        <a:buChar char="§"/>
        <a:defRPr sz="3198" kern="1200">
          <a:solidFill>
            <a:schemeClr val="tx1"/>
          </a:solidFill>
          <a:latin typeface="Arial" pitchFamily="34" charset="0"/>
          <a:ea typeface="+mn-ea"/>
          <a:cs typeface="Arial" pitchFamily="34" charset="0"/>
        </a:defRPr>
      </a:lvl3pPr>
      <a:lvl4pPr marL="2131947" indent="-304565" algn="l" defTabSz="1218255" rtl="0" eaLnBrk="1" latinLnBrk="0" hangingPunct="1">
        <a:spcBef>
          <a:spcPct val="20000"/>
        </a:spcBef>
        <a:buClr>
          <a:schemeClr val="tx2"/>
        </a:buClr>
        <a:buFont typeface="Wingdings" pitchFamily="2" charset="2"/>
        <a:buChar char="§"/>
        <a:defRPr sz="2698" kern="1200">
          <a:solidFill>
            <a:schemeClr val="tx1"/>
          </a:solidFill>
          <a:latin typeface="Arial" pitchFamily="34" charset="0"/>
          <a:ea typeface="+mn-ea"/>
          <a:cs typeface="Arial" pitchFamily="34" charset="0"/>
        </a:defRPr>
      </a:lvl4pPr>
      <a:lvl5pPr marL="2741074" indent="-304565" algn="l" defTabSz="1218255" rtl="0" eaLnBrk="1" latinLnBrk="0" hangingPunct="1">
        <a:spcBef>
          <a:spcPct val="20000"/>
        </a:spcBef>
        <a:buClr>
          <a:schemeClr val="tx2"/>
        </a:buClr>
        <a:buFont typeface="Wingdings" pitchFamily="2" charset="2"/>
        <a:buChar char="§"/>
        <a:defRPr sz="2698" kern="1200">
          <a:solidFill>
            <a:schemeClr val="tx1"/>
          </a:solidFill>
          <a:latin typeface="Arial" pitchFamily="34" charset="0"/>
          <a:ea typeface="+mn-ea"/>
          <a:cs typeface="Arial" pitchFamily="34" charset="0"/>
        </a:defRPr>
      </a:lvl5pPr>
      <a:lvl6pPr marL="3350202" indent="-304565" algn="l" defTabSz="1218255" rtl="0" eaLnBrk="1" latinLnBrk="0" hangingPunct="1">
        <a:spcBef>
          <a:spcPct val="20000"/>
        </a:spcBef>
        <a:buFont typeface="Arial" pitchFamily="34" charset="0"/>
        <a:buChar char="•"/>
        <a:defRPr sz="2698" kern="1200">
          <a:solidFill>
            <a:schemeClr val="tx1"/>
          </a:solidFill>
          <a:latin typeface="+mn-lt"/>
          <a:ea typeface="+mn-ea"/>
          <a:cs typeface="+mn-cs"/>
        </a:defRPr>
      </a:lvl6pPr>
      <a:lvl7pPr marL="3959330" indent="-304565" algn="l" defTabSz="1218255" rtl="0" eaLnBrk="1" latinLnBrk="0" hangingPunct="1">
        <a:spcBef>
          <a:spcPct val="20000"/>
        </a:spcBef>
        <a:buFont typeface="Arial" pitchFamily="34" charset="0"/>
        <a:buChar char="•"/>
        <a:defRPr sz="2698" kern="1200">
          <a:solidFill>
            <a:schemeClr val="tx1"/>
          </a:solidFill>
          <a:latin typeface="+mn-lt"/>
          <a:ea typeface="+mn-ea"/>
          <a:cs typeface="+mn-cs"/>
        </a:defRPr>
      </a:lvl7pPr>
      <a:lvl8pPr marL="4568458" indent="-304565" algn="l" defTabSz="1218255" rtl="0" eaLnBrk="1" latinLnBrk="0" hangingPunct="1">
        <a:spcBef>
          <a:spcPct val="20000"/>
        </a:spcBef>
        <a:buFont typeface="Arial" pitchFamily="34" charset="0"/>
        <a:buChar char="•"/>
        <a:defRPr sz="2698" kern="1200">
          <a:solidFill>
            <a:schemeClr val="tx1"/>
          </a:solidFill>
          <a:latin typeface="+mn-lt"/>
          <a:ea typeface="+mn-ea"/>
          <a:cs typeface="+mn-cs"/>
        </a:defRPr>
      </a:lvl8pPr>
      <a:lvl9pPr marL="5177585" indent="-304565" algn="l" defTabSz="1218255" rtl="0" eaLnBrk="1" latinLnBrk="0" hangingPunct="1">
        <a:spcBef>
          <a:spcPct val="20000"/>
        </a:spcBef>
        <a:buFont typeface="Arial" pitchFamily="34" charset="0"/>
        <a:buChar char="•"/>
        <a:defRPr sz="2698" kern="1200">
          <a:solidFill>
            <a:schemeClr val="tx1"/>
          </a:solidFill>
          <a:latin typeface="+mn-lt"/>
          <a:ea typeface="+mn-ea"/>
          <a:cs typeface="+mn-cs"/>
        </a:defRPr>
      </a:lvl9pPr>
    </p:bodyStyle>
    <p:otherStyle>
      <a:defPPr>
        <a:defRPr lang="en-US"/>
      </a:defPPr>
      <a:lvl1pPr marL="0" algn="l" defTabSz="1218255" rtl="0" eaLnBrk="1" latinLnBrk="0" hangingPunct="1">
        <a:defRPr sz="2398" kern="1200">
          <a:solidFill>
            <a:schemeClr val="tx1"/>
          </a:solidFill>
          <a:latin typeface="+mn-lt"/>
          <a:ea typeface="+mn-ea"/>
          <a:cs typeface="+mn-cs"/>
        </a:defRPr>
      </a:lvl1pPr>
      <a:lvl2pPr marL="609127" algn="l" defTabSz="1218255" rtl="0" eaLnBrk="1" latinLnBrk="0" hangingPunct="1">
        <a:defRPr sz="2398" kern="1200">
          <a:solidFill>
            <a:schemeClr val="tx1"/>
          </a:solidFill>
          <a:latin typeface="+mn-lt"/>
          <a:ea typeface="+mn-ea"/>
          <a:cs typeface="+mn-cs"/>
        </a:defRPr>
      </a:lvl2pPr>
      <a:lvl3pPr marL="1218255" algn="l" defTabSz="1218255" rtl="0" eaLnBrk="1" latinLnBrk="0" hangingPunct="1">
        <a:defRPr sz="2398" kern="1200">
          <a:solidFill>
            <a:schemeClr val="tx1"/>
          </a:solidFill>
          <a:latin typeface="+mn-lt"/>
          <a:ea typeface="+mn-ea"/>
          <a:cs typeface="+mn-cs"/>
        </a:defRPr>
      </a:lvl3pPr>
      <a:lvl4pPr marL="1827383" algn="l" defTabSz="1218255" rtl="0" eaLnBrk="1" latinLnBrk="0" hangingPunct="1">
        <a:defRPr sz="2398" kern="1200">
          <a:solidFill>
            <a:schemeClr val="tx1"/>
          </a:solidFill>
          <a:latin typeface="+mn-lt"/>
          <a:ea typeface="+mn-ea"/>
          <a:cs typeface="+mn-cs"/>
        </a:defRPr>
      </a:lvl4pPr>
      <a:lvl5pPr marL="2436511" algn="l" defTabSz="1218255" rtl="0" eaLnBrk="1" latinLnBrk="0" hangingPunct="1">
        <a:defRPr sz="2398" kern="1200">
          <a:solidFill>
            <a:schemeClr val="tx1"/>
          </a:solidFill>
          <a:latin typeface="+mn-lt"/>
          <a:ea typeface="+mn-ea"/>
          <a:cs typeface="+mn-cs"/>
        </a:defRPr>
      </a:lvl5pPr>
      <a:lvl6pPr marL="3045639" algn="l" defTabSz="1218255" rtl="0" eaLnBrk="1" latinLnBrk="0" hangingPunct="1">
        <a:defRPr sz="2398" kern="1200">
          <a:solidFill>
            <a:schemeClr val="tx1"/>
          </a:solidFill>
          <a:latin typeface="+mn-lt"/>
          <a:ea typeface="+mn-ea"/>
          <a:cs typeface="+mn-cs"/>
        </a:defRPr>
      </a:lvl6pPr>
      <a:lvl7pPr marL="3654766" algn="l" defTabSz="1218255" rtl="0" eaLnBrk="1" latinLnBrk="0" hangingPunct="1">
        <a:defRPr sz="2398" kern="1200">
          <a:solidFill>
            <a:schemeClr val="tx1"/>
          </a:solidFill>
          <a:latin typeface="+mn-lt"/>
          <a:ea typeface="+mn-ea"/>
          <a:cs typeface="+mn-cs"/>
        </a:defRPr>
      </a:lvl7pPr>
      <a:lvl8pPr marL="4263893" algn="l" defTabSz="1218255" rtl="0" eaLnBrk="1" latinLnBrk="0" hangingPunct="1">
        <a:defRPr sz="2398" kern="1200">
          <a:solidFill>
            <a:schemeClr val="tx1"/>
          </a:solidFill>
          <a:latin typeface="+mn-lt"/>
          <a:ea typeface="+mn-ea"/>
          <a:cs typeface="+mn-cs"/>
        </a:defRPr>
      </a:lvl8pPr>
      <a:lvl9pPr marL="4873022" algn="l" defTabSz="1218255" rtl="0" eaLnBrk="1" latinLnBrk="0" hangingPunct="1">
        <a:defRPr sz="2398"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E20892EC-1CFF-6CDF-5671-94567BF989FF}"/>
              </a:ext>
            </a:extLst>
          </p:cNvPr>
          <p:cNvGraphicFramePr>
            <a:graphicFrameLocks/>
          </p:cNvGraphicFramePr>
          <p:nvPr userDrawn="1">
            <p:custDataLst>
              <p:tags r:id="rId17"/>
            </p:custDataLst>
            <p:extLst>
              <p:ext uri="{D42A27DB-BD31-4B8C-83A1-F6EECF244321}">
                <p14:modId xmlns:p14="http://schemas.microsoft.com/office/powerpoint/2010/main" val="3801653505"/>
              </p:ext>
            </p:extLst>
          </p:nvPr>
        </p:nvGraphicFramePr>
        <p:xfrm>
          <a:off x="1589" y="1588"/>
          <a:ext cx="1588" cy="1588"/>
        </p:xfrm>
        <a:graphic>
          <a:graphicData uri="http://schemas.openxmlformats.org/presentationml/2006/ole">
            <mc:AlternateContent xmlns:mc="http://schemas.openxmlformats.org/markup-compatibility/2006">
              <mc:Choice xmlns:v="urn:schemas-microsoft-com:vml" Requires="v">
                <p:oleObj name="think-cell Slide" r:id="rId18" imgW="426" imgH="428" progId="TCLayout.ActiveDocument.1">
                  <p:embed/>
                </p:oleObj>
              </mc:Choice>
              <mc:Fallback>
                <p:oleObj name="think-cell Slide" r:id="rId18" imgW="426" imgH="428" progId="TCLayout.ActiveDocument.1">
                  <p:embed/>
                  <p:pic>
                    <p:nvPicPr>
                      <p:cNvPr id="2" name="think-cell data - do not delete" hidden="1">
                        <a:extLst>
                          <a:ext uri="{FF2B5EF4-FFF2-40B4-BE49-F238E27FC236}">
                            <a16:creationId xmlns:a16="http://schemas.microsoft.com/office/drawing/2014/main" id="{E20892EC-1CFF-6CDF-5671-94567BF989FF}"/>
                          </a:ext>
                        </a:extLst>
                      </p:cNvPr>
                      <p:cNvPicPr/>
                      <p:nvPr/>
                    </p:nvPicPr>
                    <p:blipFill>
                      <a:blip r:embed="rId19"/>
                      <a:stretch>
                        <a:fillRect/>
                      </a:stretch>
                    </p:blipFill>
                    <p:spPr>
                      <a:xfrm>
                        <a:off x="1589" y="1588"/>
                        <a:ext cx="1588" cy="1588"/>
                      </a:xfrm>
                      <a:prstGeom prst="rect">
                        <a:avLst/>
                      </a:prstGeom>
                    </p:spPr>
                  </p:pic>
                </p:oleObj>
              </mc:Fallback>
            </mc:AlternateContent>
          </a:graphicData>
        </a:graphic>
      </p:graphicFrame>
      <p:sp>
        <p:nvSpPr>
          <p:cNvPr id="4" name="Slide Number Placeholder 5"/>
          <p:cNvSpPr>
            <a:spLocks noGrp="1"/>
          </p:cNvSpPr>
          <p:nvPr>
            <p:ph type="sldNum" sz="quarter" idx="4"/>
          </p:nvPr>
        </p:nvSpPr>
        <p:spPr>
          <a:xfrm>
            <a:off x="11672569" y="6400800"/>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sp>
        <p:nvSpPr>
          <p:cNvPr id="3" name="TextBox 4">
            <a:extLst>
              <a:ext uri="{FF2B5EF4-FFF2-40B4-BE49-F238E27FC236}">
                <a16:creationId xmlns:a16="http://schemas.microsoft.com/office/drawing/2014/main" id="{C3216572-D3AB-D178-E78D-E8DCBE3E3D0E}"/>
              </a:ext>
            </a:extLst>
          </p:cNvPr>
          <p:cNvSpPr txBox="1"/>
          <p:nvPr userDrawn="1">
            <p:extLst>
              <p:ext uri="{1162E1C5-73C7-4A58-AE30-91384D911F3F}">
                <p184:classification xmlns:p184="http://schemas.microsoft.com/office/powerpoint/2018/4/main" val="ftr"/>
              </p:ext>
            </p:extLst>
          </p:nvPr>
        </p:nvSpPr>
        <p:spPr>
          <a:xfrm>
            <a:off x="63520" y="6642100"/>
            <a:ext cx="1386249" cy="152400"/>
          </a:xfrm>
          <a:prstGeom prst="rect">
            <a:avLst/>
          </a:prstGeom>
        </p:spPr>
        <p:txBody>
          <a:bodyPr horzOverflow="overflow" lIns="0" tIns="0" rIns="0" bIns="0">
            <a:spAutoFit/>
          </a:bodyPr>
          <a:lstStyle/>
          <a:p>
            <a:pPr algn="l"/>
            <a:r>
              <a:rPr lang="en-US" sz="1000">
                <a:solidFill>
                  <a:srgbClr val="FF0000"/>
                </a:solidFill>
                <a:latin typeface="Calibri" panose="020F0502020204030204" pitchFamily="34" charset="0"/>
                <a:cs typeface="Calibri" panose="020F0502020204030204" pitchFamily="34" charset="0"/>
              </a:rPr>
              <a:t>Classification: Confidential</a:t>
            </a:r>
          </a:p>
        </p:txBody>
      </p:sp>
    </p:spTree>
    <p:extLst>
      <p:ext uri="{BB962C8B-B14F-4D97-AF65-F5344CB8AC3E}">
        <p14:creationId xmlns:p14="http://schemas.microsoft.com/office/powerpoint/2010/main" val="3330238491"/>
      </p:ext>
    </p:extLst>
  </p:cSld>
  <p:clrMap bg1="lt1" tx1="dk1" bg2="lt2" tx2="dk2" accent1="accent1" accent2="accent2" accent3="accent3" accent4="accent4" accent5="accent5" accent6="accent6" hlink="hlink" folHlink="folHlink"/>
  <p:sldLayoutIdLst>
    <p:sldLayoutId id="2147483917" r:id="rId1"/>
    <p:sldLayoutId id="2147483918" r:id="rId2"/>
    <p:sldLayoutId id="2147483919" r:id="rId3"/>
    <p:sldLayoutId id="2147483920" r:id="rId4"/>
    <p:sldLayoutId id="2147483921" r:id="rId5"/>
    <p:sldLayoutId id="2147483922" r:id="rId6"/>
    <p:sldLayoutId id="2147483923" r:id="rId7"/>
    <p:sldLayoutId id="2147483924" r:id="rId8"/>
    <p:sldLayoutId id="2147483925" r:id="rId9"/>
    <p:sldLayoutId id="2147483926" r:id="rId10"/>
    <p:sldLayoutId id="2147483927" r:id="rId11"/>
    <p:sldLayoutId id="2147483928" r:id="rId12"/>
    <p:sldLayoutId id="2147483929" r:id="rId13"/>
    <p:sldLayoutId id="2147483930" r:id="rId14"/>
    <p:sldLayoutId id="2147483931" r:id="rId15"/>
  </p:sldLayoutIdLst>
  <p:transition spd="med"/>
  <p:hf hdr="0" ftr="0" dt="0"/>
  <p:txStyles>
    <p:titleStyle>
      <a:lvl1pPr algn="ctr" defTabSz="1218621" rtl="0" eaLnBrk="1" latinLnBrk="0" hangingPunct="1">
        <a:spcBef>
          <a:spcPct val="0"/>
        </a:spcBef>
        <a:buNone/>
        <a:defRPr sz="4299" kern="1200" cap="all" baseline="0">
          <a:solidFill>
            <a:schemeClr val="tx1"/>
          </a:solidFill>
          <a:latin typeface="Arial" pitchFamily="34" charset="0"/>
          <a:ea typeface="+mj-ea"/>
          <a:cs typeface="Arial" pitchFamily="34" charset="0"/>
        </a:defRPr>
      </a:lvl1pPr>
    </p:titleStyle>
    <p:bodyStyle>
      <a:lvl1pPr marL="456983" indent="-456983" algn="l" defTabSz="1218621" rtl="0" eaLnBrk="1" latinLnBrk="0" hangingPunct="1">
        <a:spcBef>
          <a:spcPct val="20000"/>
        </a:spcBef>
        <a:buClrTx/>
        <a:buFont typeface="Arial" panose="020B0604020202020204" pitchFamily="34" charset="0"/>
        <a:buChar char="•"/>
        <a:defRPr sz="4299" kern="1200">
          <a:solidFill>
            <a:schemeClr val="tx1"/>
          </a:solidFill>
          <a:latin typeface="Arial" pitchFamily="34" charset="0"/>
          <a:ea typeface="+mn-ea"/>
          <a:cs typeface="Arial" pitchFamily="34" charset="0"/>
        </a:defRPr>
      </a:lvl1pPr>
      <a:lvl2pPr marL="990130" indent="-380819" algn="l" defTabSz="1218621" rtl="0" eaLnBrk="1" latinLnBrk="0" hangingPunct="1">
        <a:spcBef>
          <a:spcPct val="20000"/>
        </a:spcBef>
        <a:buClrTx/>
        <a:buFont typeface="Arial" panose="020B0604020202020204" pitchFamily="34" charset="0"/>
        <a:buChar char="–"/>
        <a:defRPr sz="3699" kern="1200">
          <a:solidFill>
            <a:schemeClr val="tx1"/>
          </a:solidFill>
          <a:latin typeface="Arial" pitchFamily="34" charset="0"/>
          <a:ea typeface="+mn-ea"/>
          <a:cs typeface="Arial" pitchFamily="34" charset="0"/>
        </a:defRPr>
      </a:lvl2pPr>
      <a:lvl3pPr marL="1523276" indent="-304656" algn="l" defTabSz="1218621" rtl="0" eaLnBrk="1" latinLnBrk="0" hangingPunct="1">
        <a:spcBef>
          <a:spcPct val="20000"/>
        </a:spcBef>
        <a:buClrTx/>
        <a:buFont typeface="Arial" panose="020B0604020202020204" pitchFamily="34" charset="0"/>
        <a:buChar char="-"/>
        <a:defRPr sz="3199" kern="1200">
          <a:solidFill>
            <a:schemeClr val="tx1"/>
          </a:solidFill>
          <a:latin typeface="Arial" pitchFamily="34" charset="0"/>
          <a:ea typeface="+mn-ea"/>
          <a:cs typeface="Arial" pitchFamily="34" charset="0"/>
        </a:defRPr>
      </a:lvl3pPr>
      <a:lvl4pPr marL="2132587" indent="-304656" algn="l" defTabSz="1218621" rtl="0" eaLnBrk="1" latinLnBrk="0" hangingPunct="1">
        <a:spcBef>
          <a:spcPct val="20000"/>
        </a:spcBef>
        <a:buClrTx/>
        <a:buFont typeface="Arial" panose="020B0604020202020204" pitchFamily="34" charset="0"/>
        <a:buChar char="-"/>
        <a:defRPr sz="2699" kern="1200">
          <a:solidFill>
            <a:schemeClr val="tx1"/>
          </a:solidFill>
          <a:latin typeface="Arial" pitchFamily="34" charset="0"/>
          <a:ea typeface="+mn-ea"/>
          <a:cs typeface="Arial" pitchFamily="34" charset="0"/>
        </a:defRPr>
      </a:lvl4pPr>
      <a:lvl5pPr marL="2741897" indent="-304656" algn="l" defTabSz="1218621" rtl="0" eaLnBrk="1" latinLnBrk="0" hangingPunct="1">
        <a:spcBef>
          <a:spcPct val="20000"/>
        </a:spcBef>
        <a:buClrTx/>
        <a:buFont typeface="Arial" panose="020B0604020202020204" pitchFamily="34" charset="0"/>
        <a:buChar char="-"/>
        <a:defRPr sz="2699" kern="1200">
          <a:solidFill>
            <a:schemeClr val="tx1"/>
          </a:solidFill>
          <a:latin typeface="Arial" pitchFamily="34" charset="0"/>
          <a:ea typeface="+mn-ea"/>
          <a:cs typeface="Arial" pitchFamily="34" charset="0"/>
        </a:defRPr>
      </a:lvl5pPr>
      <a:lvl6pPr marL="3351207" indent="-304656" algn="l" defTabSz="1218621" rtl="0" eaLnBrk="1" latinLnBrk="0" hangingPunct="1">
        <a:spcBef>
          <a:spcPct val="20000"/>
        </a:spcBef>
        <a:buFont typeface="Arial" pitchFamily="34" charset="0"/>
        <a:buChar char="•"/>
        <a:defRPr sz="2699" kern="1200">
          <a:solidFill>
            <a:schemeClr val="tx1"/>
          </a:solidFill>
          <a:latin typeface="+mn-lt"/>
          <a:ea typeface="+mn-ea"/>
          <a:cs typeface="+mn-cs"/>
        </a:defRPr>
      </a:lvl6pPr>
      <a:lvl7pPr marL="3960518" indent="-304656" algn="l" defTabSz="1218621" rtl="0" eaLnBrk="1" latinLnBrk="0" hangingPunct="1">
        <a:spcBef>
          <a:spcPct val="20000"/>
        </a:spcBef>
        <a:buFont typeface="Arial" pitchFamily="34" charset="0"/>
        <a:buChar char="•"/>
        <a:defRPr sz="2699" kern="1200">
          <a:solidFill>
            <a:schemeClr val="tx1"/>
          </a:solidFill>
          <a:latin typeface="+mn-lt"/>
          <a:ea typeface="+mn-ea"/>
          <a:cs typeface="+mn-cs"/>
        </a:defRPr>
      </a:lvl7pPr>
      <a:lvl8pPr marL="4569829" indent="-304656" algn="l" defTabSz="1218621" rtl="0" eaLnBrk="1" latinLnBrk="0" hangingPunct="1">
        <a:spcBef>
          <a:spcPct val="20000"/>
        </a:spcBef>
        <a:buFont typeface="Arial" pitchFamily="34" charset="0"/>
        <a:buChar char="•"/>
        <a:defRPr sz="2699" kern="1200">
          <a:solidFill>
            <a:schemeClr val="tx1"/>
          </a:solidFill>
          <a:latin typeface="+mn-lt"/>
          <a:ea typeface="+mn-ea"/>
          <a:cs typeface="+mn-cs"/>
        </a:defRPr>
      </a:lvl8pPr>
      <a:lvl9pPr marL="5179139" indent="-304656" algn="l" defTabSz="1218621" rtl="0" eaLnBrk="1" latinLnBrk="0" hangingPunct="1">
        <a:spcBef>
          <a:spcPct val="20000"/>
        </a:spcBef>
        <a:buFont typeface="Arial" pitchFamily="34" charset="0"/>
        <a:buChar char="•"/>
        <a:defRPr sz="2699" kern="1200">
          <a:solidFill>
            <a:schemeClr val="tx1"/>
          </a:solidFill>
          <a:latin typeface="+mn-lt"/>
          <a:ea typeface="+mn-ea"/>
          <a:cs typeface="+mn-cs"/>
        </a:defRPr>
      </a:lvl9pPr>
    </p:bodyStyle>
    <p:otherStyle>
      <a:defPPr>
        <a:defRPr lang="en-US"/>
      </a:defPPr>
      <a:lvl1pPr marL="0" algn="l" defTabSz="1218621" rtl="0" eaLnBrk="1" latinLnBrk="0" hangingPunct="1">
        <a:defRPr sz="2399" kern="1200">
          <a:solidFill>
            <a:schemeClr val="tx1"/>
          </a:solidFill>
          <a:latin typeface="+mn-lt"/>
          <a:ea typeface="+mn-ea"/>
          <a:cs typeface="+mn-cs"/>
        </a:defRPr>
      </a:lvl1pPr>
      <a:lvl2pPr marL="609310" algn="l" defTabSz="1218621" rtl="0" eaLnBrk="1" latinLnBrk="0" hangingPunct="1">
        <a:defRPr sz="2399" kern="1200">
          <a:solidFill>
            <a:schemeClr val="tx1"/>
          </a:solidFill>
          <a:latin typeface="+mn-lt"/>
          <a:ea typeface="+mn-ea"/>
          <a:cs typeface="+mn-cs"/>
        </a:defRPr>
      </a:lvl2pPr>
      <a:lvl3pPr marL="1218621" algn="l" defTabSz="1218621" rtl="0" eaLnBrk="1" latinLnBrk="0" hangingPunct="1">
        <a:defRPr sz="2399" kern="1200">
          <a:solidFill>
            <a:schemeClr val="tx1"/>
          </a:solidFill>
          <a:latin typeface="+mn-lt"/>
          <a:ea typeface="+mn-ea"/>
          <a:cs typeface="+mn-cs"/>
        </a:defRPr>
      </a:lvl3pPr>
      <a:lvl4pPr marL="1827931" algn="l" defTabSz="1218621" rtl="0" eaLnBrk="1" latinLnBrk="0" hangingPunct="1">
        <a:defRPr sz="2399" kern="1200">
          <a:solidFill>
            <a:schemeClr val="tx1"/>
          </a:solidFill>
          <a:latin typeface="+mn-lt"/>
          <a:ea typeface="+mn-ea"/>
          <a:cs typeface="+mn-cs"/>
        </a:defRPr>
      </a:lvl4pPr>
      <a:lvl5pPr marL="2437242" algn="l" defTabSz="1218621" rtl="0" eaLnBrk="1" latinLnBrk="0" hangingPunct="1">
        <a:defRPr sz="2399" kern="1200">
          <a:solidFill>
            <a:schemeClr val="tx1"/>
          </a:solidFill>
          <a:latin typeface="+mn-lt"/>
          <a:ea typeface="+mn-ea"/>
          <a:cs typeface="+mn-cs"/>
        </a:defRPr>
      </a:lvl5pPr>
      <a:lvl6pPr marL="3046553" algn="l" defTabSz="1218621" rtl="0" eaLnBrk="1" latinLnBrk="0" hangingPunct="1">
        <a:defRPr sz="2399" kern="1200">
          <a:solidFill>
            <a:schemeClr val="tx1"/>
          </a:solidFill>
          <a:latin typeface="+mn-lt"/>
          <a:ea typeface="+mn-ea"/>
          <a:cs typeface="+mn-cs"/>
        </a:defRPr>
      </a:lvl6pPr>
      <a:lvl7pPr marL="3655863" algn="l" defTabSz="1218621" rtl="0" eaLnBrk="1" latinLnBrk="0" hangingPunct="1">
        <a:defRPr sz="2399" kern="1200">
          <a:solidFill>
            <a:schemeClr val="tx1"/>
          </a:solidFill>
          <a:latin typeface="+mn-lt"/>
          <a:ea typeface="+mn-ea"/>
          <a:cs typeface="+mn-cs"/>
        </a:defRPr>
      </a:lvl7pPr>
      <a:lvl8pPr marL="4265173" algn="l" defTabSz="1218621" rtl="0" eaLnBrk="1" latinLnBrk="0" hangingPunct="1">
        <a:defRPr sz="2399" kern="1200">
          <a:solidFill>
            <a:schemeClr val="tx1"/>
          </a:solidFill>
          <a:latin typeface="+mn-lt"/>
          <a:ea typeface="+mn-ea"/>
          <a:cs typeface="+mn-cs"/>
        </a:defRPr>
      </a:lvl8pPr>
      <a:lvl9pPr marL="4874484" algn="l" defTabSz="1218621" rtl="0" eaLnBrk="1" latinLnBrk="0" hangingPunct="1">
        <a:defRPr sz="2399"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0">
          <p15:clr>
            <a:srgbClr val="F26B43"/>
          </p15:clr>
        </p15:guide>
        <p15:guide id="2" pos="6719">
          <p15:clr>
            <a:srgbClr val="F26B43"/>
          </p15:clr>
        </p15:guide>
        <p15:guide id="3" orient="horz" pos="2880">
          <p15:clr>
            <a:srgbClr val="F26B43"/>
          </p15:clr>
        </p15:guide>
        <p15:guide id="4" pos="3839">
          <p15:clr>
            <a:srgbClr val="F26B43"/>
          </p15:clr>
        </p15:guide>
        <p15:guide id="5" pos="5279">
          <p15:clr>
            <a:srgbClr val="F26B43"/>
          </p15:clr>
        </p15:guide>
        <p15:guide id="6" pos="2399">
          <p15:clr>
            <a:srgbClr val="F26B43"/>
          </p15:clr>
        </p15:guide>
        <p15:guide id="7" pos="959">
          <p15:clr>
            <a:srgbClr val="F26B43"/>
          </p15:clr>
        </p15:guide>
        <p15:guide id="8" pos="7199">
          <p15:clr>
            <a:srgbClr val="FDE53C"/>
          </p15:clr>
        </p15:guide>
        <p15:guide id="9" pos="6239">
          <p15:clr>
            <a:srgbClr val="FDE53C"/>
          </p15:clr>
        </p15:guide>
        <p15:guide id="10" pos="5759">
          <p15:clr>
            <a:srgbClr val="FDE53C"/>
          </p15:clr>
        </p15:guide>
        <p15:guide id="11" pos="4319">
          <p15:clr>
            <a:srgbClr val="FDE53C"/>
          </p15:clr>
        </p15:guide>
        <p15:guide id="12" pos="4799">
          <p15:clr>
            <a:srgbClr val="FDE53C"/>
          </p15:clr>
        </p15:guide>
        <p15:guide id="13" pos="3335">
          <p15:clr>
            <a:srgbClr val="FDE53C"/>
          </p15:clr>
        </p15:guide>
        <p15:guide id="14" pos="2879">
          <p15:clr>
            <a:srgbClr val="FDE53C"/>
          </p15:clr>
        </p15:guide>
        <p15:guide id="15" pos="1919">
          <p15:clr>
            <a:srgbClr val="FDE53C"/>
          </p15:clr>
        </p15:guide>
        <p15:guide id="16" pos="1439">
          <p15:clr>
            <a:srgbClr val="FDE53C"/>
          </p15:clr>
        </p15:guide>
        <p15:guide id="17" pos="479">
          <p15:clr>
            <a:srgbClr val="FDE53C"/>
          </p15:clr>
        </p15:guide>
        <p15:guide id="18" orient="horz" pos="960">
          <p15:clr>
            <a:srgbClr val="FDE53C"/>
          </p15:clr>
        </p15:guide>
        <p15:guide id="19" orient="horz" pos="480">
          <p15:clr>
            <a:srgbClr val="FDE53C"/>
          </p15:clr>
        </p15:guide>
        <p15:guide id="20" orient="horz" pos="1920">
          <p15:clr>
            <a:srgbClr val="FDE53C"/>
          </p15:clr>
        </p15:guide>
        <p15:guide id="21" orient="horz" pos="2400">
          <p15:clr>
            <a:srgbClr val="FDE53C"/>
          </p15:clr>
        </p15:guide>
        <p15:guide id="22" orient="horz" pos="3360">
          <p15:clr>
            <a:srgbClr val="FDE53C"/>
          </p15:clr>
        </p15:guide>
        <p15:guide id="23" orient="horz" pos="3840">
          <p15:clr>
            <a:srgbClr val="FDE53C"/>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2D0D5F45-8252-4C12-9F9E-C95D5FA3F79E}"/>
              </a:ext>
            </a:extLst>
          </p:cNvPr>
          <p:cNvGraphicFramePr>
            <a:graphicFrameLocks noChangeAspect="1"/>
          </p:cNvGraphicFramePr>
          <p:nvPr userDrawn="1">
            <p:custDataLst>
              <p:tags r:id="rId17"/>
            </p:custDataLst>
            <p:extLst>
              <p:ext uri="{D42A27DB-BD31-4B8C-83A1-F6EECF244321}">
                <p14:modId xmlns:p14="http://schemas.microsoft.com/office/powerpoint/2010/main" val="538672236"/>
              </p:ext>
            </p:extLst>
          </p:nvPr>
        </p:nvGraphicFramePr>
        <p:xfrm>
          <a:off x="1589" y="1588"/>
          <a:ext cx="1588" cy="1588"/>
        </p:xfrm>
        <a:graphic>
          <a:graphicData uri="http://schemas.openxmlformats.org/presentationml/2006/ole">
            <mc:AlternateContent xmlns:mc="http://schemas.openxmlformats.org/markup-compatibility/2006">
              <mc:Choice xmlns:v="urn:schemas-microsoft-com:vml" Requires="v">
                <p:oleObj name="think-cell 幻灯片" r:id="rId18" imgW="395" imgH="396" progId="TCLayout.ActiveDocument.1">
                  <p:embed/>
                </p:oleObj>
              </mc:Choice>
              <mc:Fallback>
                <p:oleObj name="think-cell 幻灯片" r:id="rId18" imgW="395" imgH="396" progId="TCLayout.ActiveDocument.1">
                  <p:embed/>
                  <p:pic>
                    <p:nvPicPr>
                      <p:cNvPr id="3" name="Object 2" hidden="1">
                        <a:extLst>
                          <a:ext uri="{FF2B5EF4-FFF2-40B4-BE49-F238E27FC236}">
                            <a16:creationId xmlns:a16="http://schemas.microsoft.com/office/drawing/2014/main" id="{2D0D5F45-8252-4C12-9F9E-C95D5FA3F79E}"/>
                          </a:ext>
                        </a:extLst>
                      </p:cNvPr>
                      <p:cNvPicPr/>
                      <p:nvPr/>
                    </p:nvPicPr>
                    <p:blipFill>
                      <a:blip r:embed="rId19"/>
                      <a:stretch>
                        <a:fillRect/>
                      </a:stretch>
                    </p:blipFill>
                    <p:spPr>
                      <a:xfrm>
                        <a:off x="1589" y="1588"/>
                        <a:ext cx="1588" cy="1588"/>
                      </a:xfrm>
                      <a:prstGeom prst="rect">
                        <a:avLst/>
                      </a:prstGeom>
                    </p:spPr>
                  </p:pic>
                </p:oleObj>
              </mc:Fallback>
            </mc:AlternateContent>
          </a:graphicData>
        </a:graphic>
      </p:graphicFrame>
      <p:sp>
        <p:nvSpPr>
          <p:cNvPr id="2" name="TextBox 1"/>
          <p:cNvSpPr txBox="1"/>
          <p:nvPr/>
        </p:nvSpPr>
        <p:spPr>
          <a:xfrm>
            <a:off x="1602706" y="6401580"/>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2025 Lenovo Internal. All rights reserved.</a:t>
            </a:r>
          </a:p>
        </p:txBody>
      </p:sp>
      <p:sp>
        <p:nvSpPr>
          <p:cNvPr id="4" name="Slide Number Placeholder 5"/>
          <p:cNvSpPr>
            <a:spLocks noGrp="1"/>
          </p:cNvSpPr>
          <p:nvPr>
            <p:ph type="sldNum" sz="quarter" idx="4"/>
          </p:nvPr>
        </p:nvSpPr>
        <p:spPr>
          <a:xfrm>
            <a:off x="11672569" y="6400800"/>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grpSp>
        <p:nvGrpSpPr>
          <p:cNvPr id="73" name="Group 72">
            <a:extLst>
              <a:ext uri="{FF2B5EF4-FFF2-40B4-BE49-F238E27FC236}">
                <a16:creationId xmlns:a16="http://schemas.microsoft.com/office/drawing/2014/main" id="{E8E58A1D-41DA-DC58-93FB-1ED0F2D56A4A}"/>
              </a:ext>
            </a:extLst>
          </p:cNvPr>
          <p:cNvGrpSpPr>
            <a:grpSpLocks noChangeAspect="1"/>
          </p:cNvGrpSpPr>
          <p:nvPr/>
        </p:nvGrpSpPr>
        <p:grpSpPr>
          <a:xfrm>
            <a:off x="760611" y="6348283"/>
            <a:ext cx="777442" cy="259316"/>
            <a:chOff x="547688" y="952500"/>
            <a:chExt cx="12190413" cy="4067175"/>
          </a:xfrm>
        </p:grpSpPr>
        <p:sp>
          <p:nvSpPr>
            <p:cNvPr id="74" name="Rectangle 73">
              <a:extLst>
                <a:ext uri="{FF2B5EF4-FFF2-40B4-BE49-F238E27FC236}">
                  <a16:creationId xmlns:a16="http://schemas.microsoft.com/office/drawing/2014/main" id="{3BC243CA-E9F6-42B7-4EBD-174C6A6167E4}"/>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7">
              <a:extLst>
                <a:ext uri="{FF2B5EF4-FFF2-40B4-BE49-F238E27FC236}">
                  <a16:creationId xmlns:a16="http://schemas.microsoft.com/office/drawing/2014/main" id="{AF0893DC-4B4F-34BC-2BE3-54AE043B958B}"/>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6" name="Freeform 8">
              <a:extLst>
                <a:ext uri="{FF2B5EF4-FFF2-40B4-BE49-F238E27FC236}">
                  <a16:creationId xmlns:a16="http://schemas.microsoft.com/office/drawing/2014/main" id="{2E9ED647-0AE4-33D4-5156-46F4EDDDEC5D}"/>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7" name="Freeform 9">
              <a:extLst>
                <a:ext uri="{FF2B5EF4-FFF2-40B4-BE49-F238E27FC236}">
                  <a16:creationId xmlns:a16="http://schemas.microsoft.com/office/drawing/2014/main" id="{05BD8F00-F164-080D-BE9D-F8D1C4DFAED9}"/>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8" name="Freeform 10">
              <a:extLst>
                <a:ext uri="{FF2B5EF4-FFF2-40B4-BE49-F238E27FC236}">
                  <a16:creationId xmlns:a16="http://schemas.microsoft.com/office/drawing/2014/main" id="{5270BA00-DD8B-D870-AA01-525F7B132534}"/>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9" name="Freeform 10">
              <a:extLst>
                <a:ext uri="{FF2B5EF4-FFF2-40B4-BE49-F238E27FC236}">
                  <a16:creationId xmlns:a16="http://schemas.microsoft.com/office/drawing/2014/main" id="{8214A0A3-3CC6-58A0-8F76-87CEE5EF1B57}"/>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0" name="Freeform 11">
              <a:extLst>
                <a:ext uri="{FF2B5EF4-FFF2-40B4-BE49-F238E27FC236}">
                  <a16:creationId xmlns:a16="http://schemas.microsoft.com/office/drawing/2014/main" id="{D4ACFFF1-B65B-C5F8-C71D-FED0359A3058}"/>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pic>
        <p:nvPicPr>
          <p:cNvPr id="12" name="图像" descr="图像">
            <a:extLst>
              <a:ext uri="{FF2B5EF4-FFF2-40B4-BE49-F238E27FC236}">
                <a16:creationId xmlns:a16="http://schemas.microsoft.com/office/drawing/2014/main" id="{1C995DC8-002F-450B-B0AA-64D6FE5C5E0C}"/>
              </a:ext>
            </a:extLst>
          </p:cNvPr>
          <p:cNvPicPr>
            <a:picLocks noChangeAspect="1"/>
          </p:cNvPicPr>
          <p:nvPr userDrawn="1"/>
        </p:nvPicPr>
        <p:blipFill>
          <a:blip r:embed="rId20"/>
          <a:stretch>
            <a:fillRect/>
          </a:stretch>
        </p:blipFill>
        <p:spPr>
          <a:xfrm>
            <a:off x="10353183" y="6358296"/>
            <a:ext cx="1284334" cy="385200"/>
          </a:xfrm>
          <a:prstGeom prst="rect">
            <a:avLst/>
          </a:prstGeom>
          <a:ln w="12700">
            <a:miter lim="400000"/>
          </a:ln>
        </p:spPr>
      </p:pic>
    </p:spTree>
    <p:extLst>
      <p:ext uri="{BB962C8B-B14F-4D97-AF65-F5344CB8AC3E}">
        <p14:creationId xmlns:p14="http://schemas.microsoft.com/office/powerpoint/2010/main" val="4107064282"/>
      </p:ext>
    </p:extLst>
  </p:cSld>
  <p:clrMap bg1="lt1" tx1="dk1" bg2="lt2" tx2="dk2" accent1="accent1" accent2="accent2" accent3="accent3" accent4="accent4" accent5="accent5" accent6="accent6" hlink="hlink" folHlink="folHlink"/>
  <p:sldLayoutIdLst>
    <p:sldLayoutId id="2147484000" r:id="rId1"/>
    <p:sldLayoutId id="2147484001" r:id="rId2"/>
    <p:sldLayoutId id="2147484002" r:id="rId3"/>
    <p:sldLayoutId id="2147484003" r:id="rId4"/>
    <p:sldLayoutId id="2147484004" r:id="rId5"/>
    <p:sldLayoutId id="2147484005" r:id="rId6"/>
    <p:sldLayoutId id="2147484006" r:id="rId7"/>
    <p:sldLayoutId id="2147484007" r:id="rId8"/>
    <p:sldLayoutId id="2147484008" r:id="rId9"/>
    <p:sldLayoutId id="2147484009" r:id="rId10"/>
    <p:sldLayoutId id="2147484010" r:id="rId11"/>
    <p:sldLayoutId id="2147484011" r:id="rId12"/>
    <p:sldLayoutId id="2147484012" r:id="rId13"/>
    <p:sldLayoutId id="2147484013" r:id="rId14"/>
    <p:sldLayoutId id="2147484014" r:id="rId15"/>
  </p:sldLayoutIdLst>
  <p:transition spd="med"/>
  <p:hf hdr="0" ftr="0" dt="0"/>
  <p:txStyles>
    <p:titleStyle>
      <a:lvl1pPr algn="ctr" defTabSz="1218987" rtl="0" eaLnBrk="1" latinLnBrk="0" hangingPunct="1">
        <a:spcBef>
          <a:spcPct val="0"/>
        </a:spcBef>
        <a:buNone/>
        <a:defRPr sz="4300" kern="1200" cap="all" baseline="0">
          <a:solidFill>
            <a:schemeClr val="tx1"/>
          </a:solidFill>
          <a:latin typeface="Arial" pitchFamily="34" charset="0"/>
          <a:ea typeface="+mj-ea"/>
          <a:cs typeface="Arial" pitchFamily="34" charset="0"/>
        </a:defRPr>
      </a:lvl1pPr>
    </p:titleStyle>
    <p:bodyStyle>
      <a:lvl1pPr marL="457120" indent="-457120" algn="l" defTabSz="1218987" rtl="0" eaLnBrk="1" latinLnBrk="0" hangingPunct="1">
        <a:spcBef>
          <a:spcPct val="20000"/>
        </a:spcBef>
        <a:buClrTx/>
        <a:buFont typeface="Arial" panose="020B0604020202020204" pitchFamily="34" charset="0"/>
        <a:buChar char="•"/>
        <a:defRPr sz="4300" kern="1200">
          <a:solidFill>
            <a:schemeClr val="tx1"/>
          </a:solidFill>
          <a:latin typeface="Arial" pitchFamily="34" charset="0"/>
          <a:ea typeface="+mn-ea"/>
          <a:cs typeface="Arial" pitchFamily="34" charset="0"/>
        </a:defRPr>
      </a:lvl1pPr>
      <a:lvl2pPr marL="990427" indent="-380933" algn="l" defTabSz="1218987" rtl="0" eaLnBrk="1" latinLnBrk="0" hangingPunct="1">
        <a:spcBef>
          <a:spcPct val="20000"/>
        </a:spcBef>
        <a:buClrTx/>
        <a:buFont typeface="Arial" panose="020B0604020202020204" pitchFamily="34" charset="0"/>
        <a:buChar char="–"/>
        <a:defRPr sz="3700" kern="1200">
          <a:solidFill>
            <a:schemeClr val="tx1"/>
          </a:solidFill>
          <a:latin typeface="Arial" pitchFamily="34" charset="0"/>
          <a:ea typeface="+mn-ea"/>
          <a:cs typeface="Arial" pitchFamily="34" charset="0"/>
        </a:defRPr>
      </a:lvl2pPr>
      <a:lvl3pPr marL="1523733" indent="-304747" algn="l" defTabSz="1218987" rtl="0" eaLnBrk="1" latinLnBrk="0" hangingPunct="1">
        <a:spcBef>
          <a:spcPct val="20000"/>
        </a:spcBef>
        <a:buClrTx/>
        <a:buFont typeface="Arial" panose="020B0604020202020204" pitchFamily="34" charset="0"/>
        <a:buChar char="-"/>
        <a:defRPr sz="3200" kern="1200">
          <a:solidFill>
            <a:schemeClr val="tx1"/>
          </a:solidFill>
          <a:latin typeface="Arial" pitchFamily="34" charset="0"/>
          <a:ea typeface="+mn-ea"/>
          <a:cs typeface="Arial" pitchFamily="34" charset="0"/>
        </a:defRPr>
      </a:lvl3pPr>
      <a:lvl4pPr marL="2133227"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4pPr>
      <a:lvl5pPr marL="2742720"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0">
          <p15:clr>
            <a:srgbClr val="F26B43"/>
          </p15:clr>
        </p15:guide>
        <p15:guide id="2" pos="6719">
          <p15:clr>
            <a:srgbClr val="F26B43"/>
          </p15:clr>
        </p15:guide>
        <p15:guide id="3" orient="horz" pos="2880">
          <p15:clr>
            <a:srgbClr val="F26B43"/>
          </p15:clr>
        </p15:guide>
        <p15:guide id="4" pos="3839">
          <p15:clr>
            <a:srgbClr val="F26B43"/>
          </p15:clr>
        </p15:guide>
        <p15:guide id="5" pos="5279">
          <p15:clr>
            <a:srgbClr val="F26B43"/>
          </p15:clr>
        </p15:guide>
        <p15:guide id="6" pos="2399">
          <p15:clr>
            <a:srgbClr val="F26B43"/>
          </p15:clr>
        </p15:guide>
        <p15:guide id="7" pos="959">
          <p15:clr>
            <a:srgbClr val="F26B43"/>
          </p15:clr>
        </p15:guide>
        <p15:guide id="8" pos="7199">
          <p15:clr>
            <a:srgbClr val="FDE53C"/>
          </p15:clr>
        </p15:guide>
        <p15:guide id="9" pos="6239">
          <p15:clr>
            <a:srgbClr val="FDE53C"/>
          </p15:clr>
        </p15:guide>
        <p15:guide id="10" pos="5759">
          <p15:clr>
            <a:srgbClr val="FDE53C"/>
          </p15:clr>
        </p15:guide>
        <p15:guide id="11" pos="4319">
          <p15:clr>
            <a:srgbClr val="FDE53C"/>
          </p15:clr>
        </p15:guide>
        <p15:guide id="12" pos="4799">
          <p15:clr>
            <a:srgbClr val="FDE53C"/>
          </p15:clr>
        </p15:guide>
        <p15:guide id="13" pos="3335">
          <p15:clr>
            <a:srgbClr val="FDE53C"/>
          </p15:clr>
        </p15:guide>
        <p15:guide id="14" pos="2879">
          <p15:clr>
            <a:srgbClr val="FDE53C"/>
          </p15:clr>
        </p15:guide>
        <p15:guide id="15" pos="1919">
          <p15:clr>
            <a:srgbClr val="FDE53C"/>
          </p15:clr>
        </p15:guide>
        <p15:guide id="16" pos="1439">
          <p15:clr>
            <a:srgbClr val="FDE53C"/>
          </p15:clr>
        </p15:guide>
        <p15:guide id="17" pos="479">
          <p15:clr>
            <a:srgbClr val="FDE53C"/>
          </p15:clr>
        </p15:guide>
        <p15:guide id="18" orient="horz" pos="960">
          <p15:clr>
            <a:srgbClr val="FDE53C"/>
          </p15:clr>
        </p15:guide>
        <p15:guide id="19" orient="horz" pos="480">
          <p15:clr>
            <a:srgbClr val="FDE53C"/>
          </p15:clr>
        </p15:guide>
        <p15:guide id="20" orient="horz" pos="1920">
          <p15:clr>
            <a:srgbClr val="FDE53C"/>
          </p15:clr>
        </p15:guide>
        <p15:guide id="21" orient="horz" pos="2400">
          <p15:clr>
            <a:srgbClr val="FDE53C"/>
          </p15:clr>
        </p15:guide>
        <p15:guide id="22" orient="horz" pos="3360">
          <p15:clr>
            <a:srgbClr val="FDE53C"/>
          </p15:clr>
        </p15:guide>
        <p15:guide id="23" orient="horz" pos="3840">
          <p15:clr>
            <a:srgbClr val="FDE53C"/>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140FF8D5-8B75-FE20-A8FA-A6F511BB15D6}"/>
              </a:ext>
            </a:extLst>
          </p:cNvPr>
          <p:cNvGraphicFramePr>
            <a:graphicFrameLocks noChangeAspect="1"/>
          </p:cNvGraphicFramePr>
          <p:nvPr userDrawn="1">
            <p:custDataLst>
              <p:tags r:id="rId37"/>
            </p:custDataLst>
            <p:extLst>
              <p:ext uri="{D42A27DB-BD31-4B8C-83A1-F6EECF244321}">
                <p14:modId xmlns:p14="http://schemas.microsoft.com/office/powerpoint/2010/main" val="18991716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8" imgW="351" imgH="351" progId="TCLayout.ActiveDocument.1">
                  <p:embed/>
                </p:oleObj>
              </mc:Choice>
              <mc:Fallback>
                <p:oleObj name="think-cell Slide" r:id="rId38" imgW="351" imgH="351" progId="TCLayout.ActiveDocument.1">
                  <p:embed/>
                  <p:pic>
                    <p:nvPicPr>
                      <p:cNvPr id="3" name="think-cell data - do not delete" hidden="1">
                        <a:extLst>
                          <a:ext uri="{FF2B5EF4-FFF2-40B4-BE49-F238E27FC236}">
                            <a16:creationId xmlns:a16="http://schemas.microsoft.com/office/drawing/2014/main" id="{140FF8D5-8B75-FE20-A8FA-A6F511BB15D6}"/>
                          </a:ext>
                        </a:extLst>
                      </p:cNvPr>
                      <p:cNvPicPr/>
                      <p:nvPr/>
                    </p:nvPicPr>
                    <p:blipFill>
                      <a:blip r:embed="rId39"/>
                      <a:stretch>
                        <a:fillRect/>
                      </a:stretch>
                    </p:blipFill>
                    <p:spPr>
                      <a:xfrm>
                        <a:off x="1588" y="1588"/>
                        <a:ext cx="1588" cy="1588"/>
                      </a:xfrm>
                      <a:prstGeom prst="rect">
                        <a:avLst/>
                      </a:prstGeom>
                    </p:spPr>
                  </p:pic>
                </p:oleObj>
              </mc:Fallback>
            </mc:AlternateContent>
          </a:graphicData>
        </a:graphic>
      </p:graphicFrame>
      <p:sp>
        <p:nvSpPr>
          <p:cNvPr id="2" name="TextBox 1"/>
          <p:cNvSpPr txBox="1"/>
          <p:nvPr userDrawn="1"/>
        </p:nvSpPr>
        <p:spPr>
          <a:xfrm>
            <a:off x="1396578" y="6473952"/>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2025 Lenovo Internal. All rights reserved.</a:t>
            </a:r>
          </a:p>
        </p:txBody>
      </p:sp>
      <p:sp>
        <p:nvSpPr>
          <p:cNvPr id="4" name="Slide Number Placeholder 5"/>
          <p:cNvSpPr>
            <a:spLocks noGrp="1"/>
          </p:cNvSpPr>
          <p:nvPr>
            <p:ph type="sldNum" sz="quarter" idx="4"/>
          </p:nvPr>
        </p:nvSpPr>
        <p:spPr>
          <a:xfrm>
            <a:off x="11752974" y="6473952"/>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grpSp>
        <p:nvGrpSpPr>
          <p:cNvPr id="5" name="Group 4"/>
          <p:cNvGrpSpPr/>
          <p:nvPr userDrawn="1"/>
        </p:nvGrpSpPr>
        <p:grpSpPr>
          <a:xfrm>
            <a:off x="554485" y="6421482"/>
            <a:ext cx="734547" cy="245008"/>
            <a:chOff x="547688" y="952500"/>
            <a:chExt cx="12190413" cy="4067175"/>
          </a:xfrm>
        </p:grpSpPr>
        <p:sp>
          <p:nvSpPr>
            <p:cNvPr id="6" name="Rectangle 5"/>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8" name="Freeform 7"/>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9" name="Freeform 8"/>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0" name="Freeform 9"/>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1" name="Freeform 10"/>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2" name="Freeform 10"/>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sp>
          <p:nvSpPr>
            <p:cNvPr id="13" name="Freeform 11"/>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8"/>
            </a:p>
          </p:txBody>
        </p:sp>
      </p:grpSp>
    </p:spTree>
    <p:extLst>
      <p:ext uri="{BB962C8B-B14F-4D97-AF65-F5344CB8AC3E}">
        <p14:creationId xmlns:p14="http://schemas.microsoft.com/office/powerpoint/2010/main" val="768876911"/>
      </p:ext>
    </p:extLst>
  </p:cSld>
  <p:clrMap bg1="lt1" tx1="dk1" bg2="lt2" tx2="dk2" accent1="accent1" accent2="accent2" accent3="accent3" accent4="accent4" accent5="accent5" accent6="accent6" hlink="hlink" folHlink="folHlink"/>
  <p:sldLayoutIdLst>
    <p:sldLayoutId id="2147484055" r:id="rId1"/>
    <p:sldLayoutId id="2147484056" r:id="rId2"/>
    <p:sldLayoutId id="2147484057" r:id="rId3"/>
    <p:sldLayoutId id="2147484058" r:id="rId4"/>
    <p:sldLayoutId id="2147484059" r:id="rId5"/>
    <p:sldLayoutId id="2147484060" r:id="rId6"/>
    <p:sldLayoutId id="2147484061" r:id="rId7"/>
    <p:sldLayoutId id="2147484062" r:id="rId8"/>
    <p:sldLayoutId id="2147484063" r:id="rId9"/>
    <p:sldLayoutId id="2147484064" r:id="rId10"/>
    <p:sldLayoutId id="2147484065" r:id="rId11"/>
    <p:sldLayoutId id="2147484066" r:id="rId12"/>
    <p:sldLayoutId id="2147484067" r:id="rId13"/>
    <p:sldLayoutId id="2147484068" r:id="rId14"/>
    <p:sldLayoutId id="2147484069" r:id="rId15"/>
    <p:sldLayoutId id="2147484070" r:id="rId16"/>
    <p:sldLayoutId id="2147484071" r:id="rId17"/>
    <p:sldLayoutId id="2147484072" r:id="rId18"/>
    <p:sldLayoutId id="2147484073" r:id="rId19"/>
    <p:sldLayoutId id="2147484074" r:id="rId20"/>
    <p:sldLayoutId id="2147484075" r:id="rId21"/>
    <p:sldLayoutId id="2147484076" r:id="rId22"/>
    <p:sldLayoutId id="2147484077" r:id="rId23"/>
    <p:sldLayoutId id="2147484078" r:id="rId24"/>
    <p:sldLayoutId id="2147484079" r:id="rId25"/>
    <p:sldLayoutId id="2147484080" r:id="rId26"/>
    <p:sldLayoutId id="2147484081" r:id="rId27"/>
    <p:sldLayoutId id="2147484082" r:id="rId28"/>
    <p:sldLayoutId id="2147484083" r:id="rId29"/>
    <p:sldLayoutId id="2147484084" r:id="rId30"/>
    <p:sldLayoutId id="2147484085" r:id="rId31"/>
    <p:sldLayoutId id="2147484086" r:id="rId32"/>
    <p:sldLayoutId id="2147484087" r:id="rId33"/>
    <p:sldLayoutId id="2147484089" r:id="rId34"/>
    <p:sldLayoutId id="2147484186" r:id="rId35"/>
  </p:sldLayoutIdLst>
  <p:transition spd="med"/>
  <p:hf hdr="0" dt="0"/>
  <p:txStyles>
    <p:titleStyle>
      <a:lvl1pPr algn="ctr" defTabSz="1218255" rtl="0" eaLnBrk="1" latinLnBrk="0" hangingPunct="1">
        <a:spcBef>
          <a:spcPct val="0"/>
        </a:spcBef>
        <a:buNone/>
        <a:defRPr sz="4298" kern="1200" cap="all" baseline="0">
          <a:solidFill>
            <a:schemeClr val="tx1"/>
          </a:solidFill>
          <a:latin typeface="Arial" pitchFamily="34" charset="0"/>
          <a:ea typeface="+mj-ea"/>
          <a:cs typeface="Arial" pitchFamily="34" charset="0"/>
        </a:defRPr>
      </a:lvl1pPr>
    </p:titleStyle>
    <p:bodyStyle>
      <a:lvl1pPr marL="456846" indent="-456846" algn="l" defTabSz="1218255" rtl="0" eaLnBrk="1" latinLnBrk="0" hangingPunct="1">
        <a:spcBef>
          <a:spcPct val="20000"/>
        </a:spcBef>
        <a:buClr>
          <a:schemeClr val="tx2"/>
        </a:buClr>
        <a:buFont typeface="Wingdings" pitchFamily="2" charset="2"/>
        <a:buChar char="§"/>
        <a:defRPr sz="4298" kern="1200">
          <a:solidFill>
            <a:schemeClr val="tx1"/>
          </a:solidFill>
          <a:latin typeface="Arial" pitchFamily="34" charset="0"/>
          <a:ea typeface="+mn-ea"/>
          <a:cs typeface="Arial" pitchFamily="34" charset="0"/>
        </a:defRPr>
      </a:lvl1pPr>
      <a:lvl2pPr marL="989833" indent="-380705" algn="l" defTabSz="1218255" rtl="0" eaLnBrk="1" latinLnBrk="0" hangingPunct="1">
        <a:spcBef>
          <a:spcPct val="20000"/>
        </a:spcBef>
        <a:buClr>
          <a:schemeClr val="tx2"/>
        </a:buClr>
        <a:buFont typeface="Wingdings" pitchFamily="2" charset="2"/>
        <a:buChar char="§"/>
        <a:defRPr sz="3698" kern="1200">
          <a:solidFill>
            <a:schemeClr val="tx1"/>
          </a:solidFill>
          <a:latin typeface="Arial" pitchFamily="34" charset="0"/>
          <a:ea typeface="+mn-ea"/>
          <a:cs typeface="Arial" pitchFamily="34" charset="0"/>
        </a:defRPr>
      </a:lvl2pPr>
      <a:lvl3pPr marL="1522819" indent="-304565" algn="l" defTabSz="1218255" rtl="0" eaLnBrk="1" latinLnBrk="0" hangingPunct="1">
        <a:spcBef>
          <a:spcPct val="20000"/>
        </a:spcBef>
        <a:buClr>
          <a:schemeClr val="tx2"/>
        </a:buClr>
        <a:buFont typeface="Wingdings" pitchFamily="2" charset="2"/>
        <a:buChar char="§"/>
        <a:defRPr sz="3198" kern="1200">
          <a:solidFill>
            <a:schemeClr val="tx1"/>
          </a:solidFill>
          <a:latin typeface="Arial" pitchFamily="34" charset="0"/>
          <a:ea typeface="+mn-ea"/>
          <a:cs typeface="Arial" pitchFamily="34" charset="0"/>
        </a:defRPr>
      </a:lvl3pPr>
      <a:lvl4pPr marL="2131947" indent="-304565" algn="l" defTabSz="1218255" rtl="0" eaLnBrk="1" latinLnBrk="0" hangingPunct="1">
        <a:spcBef>
          <a:spcPct val="20000"/>
        </a:spcBef>
        <a:buClr>
          <a:schemeClr val="tx2"/>
        </a:buClr>
        <a:buFont typeface="Wingdings" pitchFamily="2" charset="2"/>
        <a:buChar char="§"/>
        <a:defRPr sz="2698" kern="1200">
          <a:solidFill>
            <a:schemeClr val="tx1"/>
          </a:solidFill>
          <a:latin typeface="Arial" pitchFamily="34" charset="0"/>
          <a:ea typeface="+mn-ea"/>
          <a:cs typeface="Arial" pitchFamily="34" charset="0"/>
        </a:defRPr>
      </a:lvl4pPr>
      <a:lvl5pPr marL="2741074" indent="-304565" algn="l" defTabSz="1218255" rtl="0" eaLnBrk="1" latinLnBrk="0" hangingPunct="1">
        <a:spcBef>
          <a:spcPct val="20000"/>
        </a:spcBef>
        <a:buClr>
          <a:schemeClr val="tx2"/>
        </a:buClr>
        <a:buFont typeface="Wingdings" pitchFamily="2" charset="2"/>
        <a:buChar char="§"/>
        <a:defRPr sz="2698" kern="1200">
          <a:solidFill>
            <a:schemeClr val="tx1"/>
          </a:solidFill>
          <a:latin typeface="Arial" pitchFamily="34" charset="0"/>
          <a:ea typeface="+mn-ea"/>
          <a:cs typeface="Arial" pitchFamily="34" charset="0"/>
        </a:defRPr>
      </a:lvl5pPr>
      <a:lvl6pPr marL="3350202" indent="-304565" algn="l" defTabSz="1218255" rtl="0" eaLnBrk="1" latinLnBrk="0" hangingPunct="1">
        <a:spcBef>
          <a:spcPct val="20000"/>
        </a:spcBef>
        <a:buFont typeface="Arial" pitchFamily="34" charset="0"/>
        <a:buChar char="•"/>
        <a:defRPr sz="2698" kern="1200">
          <a:solidFill>
            <a:schemeClr val="tx1"/>
          </a:solidFill>
          <a:latin typeface="+mn-lt"/>
          <a:ea typeface="+mn-ea"/>
          <a:cs typeface="+mn-cs"/>
        </a:defRPr>
      </a:lvl6pPr>
      <a:lvl7pPr marL="3959330" indent="-304565" algn="l" defTabSz="1218255" rtl="0" eaLnBrk="1" latinLnBrk="0" hangingPunct="1">
        <a:spcBef>
          <a:spcPct val="20000"/>
        </a:spcBef>
        <a:buFont typeface="Arial" pitchFamily="34" charset="0"/>
        <a:buChar char="•"/>
        <a:defRPr sz="2698" kern="1200">
          <a:solidFill>
            <a:schemeClr val="tx1"/>
          </a:solidFill>
          <a:latin typeface="+mn-lt"/>
          <a:ea typeface="+mn-ea"/>
          <a:cs typeface="+mn-cs"/>
        </a:defRPr>
      </a:lvl7pPr>
      <a:lvl8pPr marL="4568458" indent="-304565" algn="l" defTabSz="1218255" rtl="0" eaLnBrk="1" latinLnBrk="0" hangingPunct="1">
        <a:spcBef>
          <a:spcPct val="20000"/>
        </a:spcBef>
        <a:buFont typeface="Arial" pitchFamily="34" charset="0"/>
        <a:buChar char="•"/>
        <a:defRPr sz="2698" kern="1200">
          <a:solidFill>
            <a:schemeClr val="tx1"/>
          </a:solidFill>
          <a:latin typeface="+mn-lt"/>
          <a:ea typeface="+mn-ea"/>
          <a:cs typeface="+mn-cs"/>
        </a:defRPr>
      </a:lvl8pPr>
      <a:lvl9pPr marL="5177585" indent="-304565" algn="l" defTabSz="1218255" rtl="0" eaLnBrk="1" latinLnBrk="0" hangingPunct="1">
        <a:spcBef>
          <a:spcPct val="20000"/>
        </a:spcBef>
        <a:buFont typeface="Arial" pitchFamily="34" charset="0"/>
        <a:buChar char="•"/>
        <a:defRPr sz="2698" kern="1200">
          <a:solidFill>
            <a:schemeClr val="tx1"/>
          </a:solidFill>
          <a:latin typeface="+mn-lt"/>
          <a:ea typeface="+mn-ea"/>
          <a:cs typeface="+mn-cs"/>
        </a:defRPr>
      </a:lvl9pPr>
    </p:bodyStyle>
    <p:otherStyle>
      <a:defPPr>
        <a:defRPr lang="en-US"/>
      </a:defPPr>
      <a:lvl1pPr marL="0" algn="l" defTabSz="1218255" rtl="0" eaLnBrk="1" latinLnBrk="0" hangingPunct="1">
        <a:defRPr sz="2398" kern="1200">
          <a:solidFill>
            <a:schemeClr val="tx1"/>
          </a:solidFill>
          <a:latin typeface="+mn-lt"/>
          <a:ea typeface="+mn-ea"/>
          <a:cs typeface="+mn-cs"/>
        </a:defRPr>
      </a:lvl1pPr>
      <a:lvl2pPr marL="609127" algn="l" defTabSz="1218255" rtl="0" eaLnBrk="1" latinLnBrk="0" hangingPunct="1">
        <a:defRPr sz="2398" kern="1200">
          <a:solidFill>
            <a:schemeClr val="tx1"/>
          </a:solidFill>
          <a:latin typeface="+mn-lt"/>
          <a:ea typeface="+mn-ea"/>
          <a:cs typeface="+mn-cs"/>
        </a:defRPr>
      </a:lvl2pPr>
      <a:lvl3pPr marL="1218255" algn="l" defTabSz="1218255" rtl="0" eaLnBrk="1" latinLnBrk="0" hangingPunct="1">
        <a:defRPr sz="2398" kern="1200">
          <a:solidFill>
            <a:schemeClr val="tx1"/>
          </a:solidFill>
          <a:latin typeface="+mn-lt"/>
          <a:ea typeface="+mn-ea"/>
          <a:cs typeface="+mn-cs"/>
        </a:defRPr>
      </a:lvl3pPr>
      <a:lvl4pPr marL="1827383" algn="l" defTabSz="1218255" rtl="0" eaLnBrk="1" latinLnBrk="0" hangingPunct="1">
        <a:defRPr sz="2398" kern="1200">
          <a:solidFill>
            <a:schemeClr val="tx1"/>
          </a:solidFill>
          <a:latin typeface="+mn-lt"/>
          <a:ea typeface="+mn-ea"/>
          <a:cs typeface="+mn-cs"/>
        </a:defRPr>
      </a:lvl4pPr>
      <a:lvl5pPr marL="2436511" algn="l" defTabSz="1218255" rtl="0" eaLnBrk="1" latinLnBrk="0" hangingPunct="1">
        <a:defRPr sz="2398" kern="1200">
          <a:solidFill>
            <a:schemeClr val="tx1"/>
          </a:solidFill>
          <a:latin typeface="+mn-lt"/>
          <a:ea typeface="+mn-ea"/>
          <a:cs typeface="+mn-cs"/>
        </a:defRPr>
      </a:lvl5pPr>
      <a:lvl6pPr marL="3045639" algn="l" defTabSz="1218255" rtl="0" eaLnBrk="1" latinLnBrk="0" hangingPunct="1">
        <a:defRPr sz="2398" kern="1200">
          <a:solidFill>
            <a:schemeClr val="tx1"/>
          </a:solidFill>
          <a:latin typeface="+mn-lt"/>
          <a:ea typeface="+mn-ea"/>
          <a:cs typeface="+mn-cs"/>
        </a:defRPr>
      </a:lvl6pPr>
      <a:lvl7pPr marL="3654766" algn="l" defTabSz="1218255" rtl="0" eaLnBrk="1" latinLnBrk="0" hangingPunct="1">
        <a:defRPr sz="2398" kern="1200">
          <a:solidFill>
            <a:schemeClr val="tx1"/>
          </a:solidFill>
          <a:latin typeface="+mn-lt"/>
          <a:ea typeface="+mn-ea"/>
          <a:cs typeface="+mn-cs"/>
        </a:defRPr>
      </a:lvl7pPr>
      <a:lvl8pPr marL="4263893" algn="l" defTabSz="1218255" rtl="0" eaLnBrk="1" latinLnBrk="0" hangingPunct="1">
        <a:defRPr sz="2398" kern="1200">
          <a:solidFill>
            <a:schemeClr val="tx1"/>
          </a:solidFill>
          <a:latin typeface="+mn-lt"/>
          <a:ea typeface="+mn-ea"/>
          <a:cs typeface="+mn-cs"/>
        </a:defRPr>
      </a:lvl8pPr>
      <a:lvl9pPr marL="4873022" algn="l" defTabSz="1218255" rtl="0" eaLnBrk="1" latinLnBrk="0" hangingPunct="1">
        <a:defRPr sz="2398"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8AACA9A3-9416-4133-BD1D-925F9AC31DBB}"/>
              </a:ext>
            </a:extLst>
          </p:cNvPr>
          <p:cNvGraphicFramePr>
            <a:graphicFrameLocks/>
          </p:cNvGraphicFramePr>
          <p:nvPr userDrawn="1">
            <p:custDataLst>
              <p:tags r:id="rId8"/>
            </p:custDataLst>
            <p:extLst>
              <p:ext uri="{D42A27DB-BD31-4B8C-83A1-F6EECF244321}">
                <p14:modId xmlns:p14="http://schemas.microsoft.com/office/powerpoint/2010/main" val="1724479337"/>
              </p:ext>
            </p:extLst>
          </p:nvPr>
        </p:nvGraphicFramePr>
        <p:xfrm>
          <a:off x="1589" y="1588"/>
          <a:ext cx="1588" cy="1588"/>
        </p:xfrm>
        <a:graphic>
          <a:graphicData uri="http://schemas.openxmlformats.org/presentationml/2006/ole">
            <mc:AlternateContent xmlns:mc="http://schemas.openxmlformats.org/markup-compatibility/2006">
              <mc:Choice xmlns:v="urn:schemas-microsoft-com:vml" Requires="v">
                <p:oleObj name="think-cell Slide" r:id="rId9" imgW="395" imgH="396" progId="TCLayout.ActiveDocument.1">
                  <p:embed/>
                </p:oleObj>
              </mc:Choice>
              <mc:Fallback>
                <p:oleObj name="think-cell Slide" r:id="rId9" imgW="395" imgH="396" progId="TCLayout.ActiveDocument.1">
                  <p:embed/>
                  <p:pic>
                    <p:nvPicPr>
                      <p:cNvPr id="3" name="Object 2" hidden="1">
                        <a:extLst>
                          <a:ext uri="{FF2B5EF4-FFF2-40B4-BE49-F238E27FC236}">
                            <a16:creationId xmlns:a16="http://schemas.microsoft.com/office/drawing/2014/main" id="{8AACA9A3-9416-4133-BD1D-925F9AC31DBB}"/>
                          </a:ext>
                        </a:extLst>
                      </p:cNvPr>
                      <p:cNvPicPr/>
                      <p:nvPr/>
                    </p:nvPicPr>
                    <p:blipFill>
                      <a:blip r:embed="rId10"/>
                      <a:stretch>
                        <a:fillRect/>
                      </a:stretch>
                    </p:blipFill>
                    <p:spPr>
                      <a:xfrm>
                        <a:off x="1589" y="1588"/>
                        <a:ext cx="1588" cy="1588"/>
                      </a:xfrm>
                      <a:prstGeom prst="rect">
                        <a:avLst/>
                      </a:prstGeom>
                    </p:spPr>
                  </p:pic>
                </p:oleObj>
              </mc:Fallback>
            </mc:AlternateContent>
          </a:graphicData>
        </a:graphic>
      </p:graphicFrame>
      <p:sp>
        <p:nvSpPr>
          <p:cNvPr id="2" name="TextBox 1"/>
          <p:cNvSpPr txBox="1"/>
          <p:nvPr userDrawn="1"/>
        </p:nvSpPr>
        <p:spPr>
          <a:xfrm>
            <a:off x="1602706" y="6401580"/>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2026 Lenovo Internal. All rights reserved.</a:t>
            </a:r>
          </a:p>
        </p:txBody>
      </p:sp>
      <p:sp>
        <p:nvSpPr>
          <p:cNvPr id="4" name="Slide Number Placeholder 5"/>
          <p:cNvSpPr>
            <a:spLocks noGrp="1"/>
          </p:cNvSpPr>
          <p:nvPr>
            <p:ph type="sldNum" sz="quarter" idx="4"/>
          </p:nvPr>
        </p:nvSpPr>
        <p:spPr>
          <a:xfrm>
            <a:off x="11672569" y="6400800"/>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grpSp>
        <p:nvGrpSpPr>
          <p:cNvPr id="73" name="Group 72">
            <a:extLst>
              <a:ext uri="{FF2B5EF4-FFF2-40B4-BE49-F238E27FC236}">
                <a16:creationId xmlns:a16="http://schemas.microsoft.com/office/drawing/2014/main" id="{E8E58A1D-41DA-DC58-93FB-1ED0F2D56A4A}"/>
              </a:ext>
            </a:extLst>
          </p:cNvPr>
          <p:cNvGrpSpPr>
            <a:grpSpLocks noChangeAspect="1"/>
          </p:cNvGrpSpPr>
          <p:nvPr userDrawn="1"/>
        </p:nvGrpSpPr>
        <p:grpSpPr>
          <a:xfrm>
            <a:off x="760611" y="6348283"/>
            <a:ext cx="777442" cy="259316"/>
            <a:chOff x="547688" y="952500"/>
            <a:chExt cx="12190413" cy="4067175"/>
          </a:xfrm>
        </p:grpSpPr>
        <p:sp>
          <p:nvSpPr>
            <p:cNvPr id="74" name="Rectangle 73">
              <a:extLst>
                <a:ext uri="{FF2B5EF4-FFF2-40B4-BE49-F238E27FC236}">
                  <a16:creationId xmlns:a16="http://schemas.microsoft.com/office/drawing/2014/main" id="{3BC243CA-E9F6-42B7-4EBD-174C6A6167E4}"/>
                </a:ext>
              </a:extLst>
            </p:cNvPr>
            <p:cNvSpPr>
              <a:spLocks noChangeArrowheads="1"/>
            </p:cNvSpPr>
            <p:nvPr userDrawn="1"/>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793"/>
            </a:p>
          </p:txBody>
        </p:sp>
        <p:sp>
          <p:nvSpPr>
            <p:cNvPr id="75" name="Freeform 7">
              <a:extLst>
                <a:ext uri="{FF2B5EF4-FFF2-40B4-BE49-F238E27FC236}">
                  <a16:creationId xmlns:a16="http://schemas.microsoft.com/office/drawing/2014/main" id="{AF0893DC-4B4F-34BC-2BE3-54AE043B958B}"/>
                </a:ext>
              </a:extLst>
            </p:cNvPr>
            <p:cNvSpPr>
              <a:spLocks/>
            </p:cNvSpPr>
            <p:nvPr userDrawn="1"/>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3"/>
            </a:p>
          </p:txBody>
        </p:sp>
        <p:sp>
          <p:nvSpPr>
            <p:cNvPr id="76" name="Freeform 8">
              <a:extLst>
                <a:ext uri="{FF2B5EF4-FFF2-40B4-BE49-F238E27FC236}">
                  <a16:creationId xmlns:a16="http://schemas.microsoft.com/office/drawing/2014/main" id="{2E9ED647-0AE4-33D4-5156-46F4EDDDEC5D}"/>
                </a:ext>
              </a:extLst>
            </p:cNvPr>
            <p:cNvSpPr>
              <a:spLocks/>
            </p:cNvSpPr>
            <p:nvPr userDrawn="1"/>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3"/>
            </a:p>
          </p:txBody>
        </p:sp>
        <p:sp>
          <p:nvSpPr>
            <p:cNvPr id="77" name="Freeform 9">
              <a:extLst>
                <a:ext uri="{FF2B5EF4-FFF2-40B4-BE49-F238E27FC236}">
                  <a16:creationId xmlns:a16="http://schemas.microsoft.com/office/drawing/2014/main" id="{05BD8F00-F164-080D-BE9D-F8D1C4DFAED9}"/>
                </a:ext>
              </a:extLst>
            </p:cNvPr>
            <p:cNvSpPr>
              <a:spLocks noEditPoints="1"/>
            </p:cNvSpPr>
            <p:nvPr userDrawn="1"/>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3"/>
            </a:p>
          </p:txBody>
        </p:sp>
        <p:sp>
          <p:nvSpPr>
            <p:cNvPr id="78" name="Freeform 10">
              <a:extLst>
                <a:ext uri="{FF2B5EF4-FFF2-40B4-BE49-F238E27FC236}">
                  <a16:creationId xmlns:a16="http://schemas.microsoft.com/office/drawing/2014/main" id="{5270BA00-DD8B-D870-AA01-525F7B132534}"/>
                </a:ext>
              </a:extLst>
            </p:cNvPr>
            <p:cNvSpPr>
              <a:spLocks/>
            </p:cNvSpPr>
            <p:nvPr userDrawn="1"/>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3"/>
            </a:p>
          </p:txBody>
        </p:sp>
        <p:sp>
          <p:nvSpPr>
            <p:cNvPr id="79" name="Freeform 10">
              <a:extLst>
                <a:ext uri="{FF2B5EF4-FFF2-40B4-BE49-F238E27FC236}">
                  <a16:creationId xmlns:a16="http://schemas.microsoft.com/office/drawing/2014/main" id="{8214A0A3-3CC6-58A0-8F76-87CEE5EF1B57}"/>
                </a:ext>
              </a:extLst>
            </p:cNvPr>
            <p:cNvSpPr>
              <a:spLocks noEditPoints="1"/>
            </p:cNvSpPr>
            <p:nvPr userDrawn="1"/>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3"/>
            </a:p>
          </p:txBody>
        </p:sp>
        <p:sp>
          <p:nvSpPr>
            <p:cNvPr id="80" name="Freeform 11">
              <a:extLst>
                <a:ext uri="{FF2B5EF4-FFF2-40B4-BE49-F238E27FC236}">
                  <a16:creationId xmlns:a16="http://schemas.microsoft.com/office/drawing/2014/main" id="{D4ACFFF1-B65B-C5F8-C71D-FED0359A3058}"/>
                </a:ext>
              </a:extLst>
            </p:cNvPr>
            <p:cNvSpPr>
              <a:spLocks noEditPoints="1"/>
            </p:cNvSpPr>
            <p:nvPr userDrawn="1"/>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793"/>
            </a:p>
          </p:txBody>
        </p:sp>
      </p:grpSp>
    </p:spTree>
    <p:extLst>
      <p:ext uri="{BB962C8B-B14F-4D97-AF65-F5344CB8AC3E}">
        <p14:creationId xmlns:p14="http://schemas.microsoft.com/office/powerpoint/2010/main" val="4239818828"/>
      </p:ext>
    </p:extLst>
  </p:cSld>
  <p:clrMap bg1="lt1" tx1="dk1" bg2="lt2" tx2="dk2" accent1="accent1" accent2="accent2" accent3="accent3" accent4="accent4" accent5="accent5" accent6="accent6" hlink="hlink" folHlink="folHlink"/>
  <p:sldLayoutIdLst>
    <p:sldLayoutId id="2147484091" r:id="rId1"/>
    <p:sldLayoutId id="2147484092" r:id="rId2"/>
    <p:sldLayoutId id="2147484093" r:id="rId3"/>
    <p:sldLayoutId id="2147484094" r:id="rId4"/>
    <p:sldLayoutId id="2147484095" r:id="rId5"/>
    <p:sldLayoutId id="2147484096" r:id="rId6"/>
  </p:sldLayoutIdLst>
  <p:transition spd="med"/>
  <p:hf hdr="0" dt="0"/>
  <p:txStyles>
    <p:titleStyle>
      <a:lvl1pPr algn="ctr" defTabSz="1216430" rtl="0" eaLnBrk="1" latinLnBrk="0" hangingPunct="1">
        <a:spcBef>
          <a:spcPct val="0"/>
        </a:spcBef>
        <a:buNone/>
        <a:defRPr sz="4293" kern="1200" cap="all" baseline="0">
          <a:solidFill>
            <a:schemeClr val="tx1"/>
          </a:solidFill>
          <a:latin typeface="Arial" pitchFamily="34" charset="0"/>
          <a:ea typeface="+mj-ea"/>
          <a:cs typeface="Arial" pitchFamily="34" charset="0"/>
        </a:defRPr>
      </a:lvl1pPr>
    </p:titleStyle>
    <p:bodyStyle>
      <a:lvl1pPr marL="456161" indent="-456161" algn="l" defTabSz="1216430" rtl="0" eaLnBrk="1" latinLnBrk="0" hangingPunct="1">
        <a:spcBef>
          <a:spcPct val="20000"/>
        </a:spcBef>
        <a:buClrTx/>
        <a:buFont typeface="Arial" panose="020B0604020202020204" pitchFamily="34" charset="0"/>
        <a:buChar char="•"/>
        <a:defRPr sz="4293" kern="1200">
          <a:solidFill>
            <a:schemeClr val="tx1"/>
          </a:solidFill>
          <a:latin typeface="Arial" pitchFamily="34" charset="0"/>
          <a:ea typeface="+mn-ea"/>
          <a:cs typeface="Arial" pitchFamily="34" charset="0"/>
        </a:defRPr>
      </a:lvl1pPr>
      <a:lvl2pPr marL="988348" indent="-380135" algn="l" defTabSz="1216430" rtl="0" eaLnBrk="1" latinLnBrk="0" hangingPunct="1">
        <a:spcBef>
          <a:spcPct val="20000"/>
        </a:spcBef>
        <a:buClrTx/>
        <a:buFont typeface="Arial" panose="020B0604020202020204" pitchFamily="34" charset="0"/>
        <a:buChar char="–"/>
        <a:defRPr sz="3693" kern="1200">
          <a:solidFill>
            <a:schemeClr val="tx1"/>
          </a:solidFill>
          <a:latin typeface="Arial" pitchFamily="34" charset="0"/>
          <a:ea typeface="+mn-ea"/>
          <a:cs typeface="Arial" pitchFamily="34" charset="0"/>
        </a:defRPr>
      </a:lvl2pPr>
      <a:lvl3pPr marL="1520536" indent="-304110" algn="l" defTabSz="1216430" rtl="0" eaLnBrk="1" latinLnBrk="0" hangingPunct="1">
        <a:spcBef>
          <a:spcPct val="20000"/>
        </a:spcBef>
        <a:buClrTx/>
        <a:buFont typeface="Arial" panose="020B0604020202020204" pitchFamily="34" charset="0"/>
        <a:buChar char="-"/>
        <a:defRPr sz="3193" kern="1200">
          <a:solidFill>
            <a:schemeClr val="tx1"/>
          </a:solidFill>
          <a:latin typeface="Arial" pitchFamily="34" charset="0"/>
          <a:ea typeface="+mn-ea"/>
          <a:cs typeface="Arial" pitchFamily="34" charset="0"/>
        </a:defRPr>
      </a:lvl3pPr>
      <a:lvl4pPr marL="2128751" indent="-304110" algn="l" defTabSz="1216430" rtl="0" eaLnBrk="1" latinLnBrk="0" hangingPunct="1">
        <a:spcBef>
          <a:spcPct val="20000"/>
        </a:spcBef>
        <a:buClrTx/>
        <a:buFont typeface="Arial" panose="020B0604020202020204" pitchFamily="34" charset="0"/>
        <a:buChar char="-"/>
        <a:defRPr sz="2693" kern="1200">
          <a:solidFill>
            <a:schemeClr val="tx1"/>
          </a:solidFill>
          <a:latin typeface="Arial" pitchFamily="34" charset="0"/>
          <a:ea typeface="+mn-ea"/>
          <a:cs typeface="Arial" pitchFamily="34" charset="0"/>
        </a:defRPr>
      </a:lvl4pPr>
      <a:lvl5pPr marL="2736965" indent="-304110" algn="l" defTabSz="1216430" rtl="0" eaLnBrk="1" latinLnBrk="0" hangingPunct="1">
        <a:spcBef>
          <a:spcPct val="20000"/>
        </a:spcBef>
        <a:buClrTx/>
        <a:buFont typeface="Arial" panose="020B0604020202020204" pitchFamily="34" charset="0"/>
        <a:buChar char="-"/>
        <a:defRPr sz="2693" kern="1200">
          <a:solidFill>
            <a:schemeClr val="tx1"/>
          </a:solidFill>
          <a:latin typeface="Arial" pitchFamily="34" charset="0"/>
          <a:ea typeface="+mn-ea"/>
          <a:cs typeface="Arial" pitchFamily="34" charset="0"/>
        </a:defRPr>
      </a:lvl5pPr>
      <a:lvl6pPr marL="3345180" indent="-304110" algn="l" defTabSz="1216430" rtl="0" eaLnBrk="1" latinLnBrk="0" hangingPunct="1">
        <a:spcBef>
          <a:spcPct val="20000"/>
        </a:spcBef>
        <a:buFont typeface="Arial" pitchFamily="34" charset="0"/>
        <a:buChar char="•"/>
        <a:defRPr sz="2693" kern="1200">
          <a:solidFill>
            <a:schemeClr val="tx1"/>
          </a:solidFill>
          <a:latin typeface="+mn-lt"/>
          <a:ea typeface="+mn-ea"/>
          <a:cs typeface="+mn-cs"/>
        </a:defRPr>
      </a:lvl6pPr>
      <a:lvl7pPr marL="3953395" indent="-304110" algn="l" defTabSz="1216430" rtl="0" eaLnBrk="1" latinLnBrk="0" hangingPunct="1">
        <a:spcBef>
          <a:spcPct val="20000"/>
        </a:spcBef>
        <a:buFont typeface="Arial" pitchFamily="34" charset="0"/>
        <a:buChar char="•"/>
        <a:defRPr sz="2693" kern="1200">
          <a:solidFill>
            <a:schemeClr val="tx1"/>
          </a:solidFill>
          <a:latin typeface="+mn-lt"/>
          <a:ea typeface="+mn-ea"/>
          <a:cs typeface="+mn-cs"/>
        </a:defRPr>
      </a:lvl7pPr>
      <a:lvl8pPr marL="4561609" indent="-304110" algn="l" defTabSz="1216430" rtl="0" eaLnBrk="1" latinLnBrk="0" hangingPunct="1">
        <a:spcBef>
          <a:spcPct val="20000"/>
        </a:spcBef>
        <a:buFont typeface="Arial" pitchFamily="34" charset="0"/>
        <a:buChar char="•"/>
        <a:defRPr sz="2693" kern="1200">
          <a:solidFill>
            <a:schemeClr val="tx1"/>
          </a:solidFill>
          <a:latin typeface="+mn-lt"/>
          <a:ea typeface="+mn-ea"/>
          <a:cs typeface="+mn-cs"/>
        </a:defRPr>
      </a:lvl8pPr>
      <a:lvl9pPr marL="5169824" indent="-304110" algn="l" defTabSz="1216430" rtl="0" eaLnBrk="1" latinLnBrk="0" hangingPunct="1">
        <a:spcBef>
          <a:spcPct val="20000"/>
        </a:spcBef>
        <a:buFont typeface="Arial" pitchFamily="34" charset="0"/>
        <a:buChar char="•"/>
        <a:defRPr sz="2693" kern="1200">
          <a:solidFill>
            <a:schemeClr val="tx1"/>
          </a:solidFill>
          <a:latin typeface="+mn-lt"/>
          <a:ea typeface="+mn-ea"/>
          <a:cs typeface="+mn-cs"/>
        </a:defRPr>
      </a:lvl9pPr>
    </p:bodyStyle>
    <p:otherStyle>
      <a:defPPr>
        <a:defRPr lang="en-US"/>
      </a:defPPr>
      <a:lvl1pPr marL="0" algn="l" defTabSz="1216430" rtl="0" eaLnBrk="1" latinLnBrk="0" hangingPunct="1">
        <a:defRPr sz="2393" kern="1200">
          <a:solidFill>
            <a:schemeClr val="tx1"/>
          </a:solidFill>
          <a:latin typeface="+mn-lt"/>
          <a:ea typeface="+mn-ea"/>
          <a:cs typeface="+mn-cs"/>
        </a:defRPr>
      </a:lvl1pPr>
      <a:lvl2pPr marL="608212" algn="l" defTabSz="1216430" rtl="0" eaLnBrk="1" latinLnBrk="0" hangingPunct="1">
        <a:defRPr sz="2393" kern="1200">
          <a:solidFill>
            <a:schemeClr val="tx1"/>
          </a:solidFill>
          <a:latin typeface="+mn-lt"/>
          <a:ea typeface="+mn-ea"/>
          <a:cs typeface="+mn-cs"/>
        </a:defRPr>
      </a:lvl2pPr>
      <a:lvl3pPr marL="1216430" algn="l" defTabSz="1216430" rtl="0" eaLnBrk="1" latinLnBrk="0" hangingPunct="1">
        <a:defRPr sz="2393" kern="1200">
          <a:solidFill>
            <a:schemeClr val="tx1"/>
          </a:solidFill>
          <a:latin typeface="+mn-lt"/>
          <a:ea typeface="+mn-ea"/>
          <a:cs typeface="+mn-cs"/>
        </a:defRPr>
      </a:lvl3pPr>
      <a:lvl4pPr marL="1824643" algn="l" defTabSz="1216430" rtl="0" eaLnBrk="1" latinLnBrk="0" hangingPunct="1">
        <a:defRPr sz="2393" kern="1200">
          <a:solidFill>
            <a:schemeClr val="tx1"/>
          </a:solidFill>
          <a:latin typeface="+mn-lt"/>
          <a:ea typeface="+mn-ea"/>
          <a:cs typeface="+mn-cs"/>
        </a:defRPr>
      </a:lvl4pPr>
      <a:lvl5pPr marL="2432858" algn="l" defTabSz="1216430" rtl="0" eaLnBrk="1" latinLnBrk="0" hangingPunct="1">
        <a:defRPr sz="2393" kern="1200">
          <a:solidFill>
            <a:schemeClr val="tx1"/>
          </a:solidFill>
          <a:latin typeface="+mn-lt"/>
          <a:ea typeface="+mn-ea"/>
          <a:cs typeface="+mn-cs"/>
        </a:defRPr>
      </a:lvl5pPr>
      <a:lvl6pPr marL="3041073" algn="l" defTabSz="1216430" rtl="0" eaLnBrk="1" latinLnBrk="0" hangingPunct="1">
        <a:defRPr sz="2393" kern="1200">
          <a:solidFill>
            <a:schemeClr val="tx1"/>
          </a:solidFill>
          <a:latin typeface="+mn-lt"/>
          <a:ea typeface="+mn-ea"/>
          <a:cs typeface="+mn-cs"/>
        </a:defRPr>
      </a:lvl6pPr>
      <a:lvl7pPr marL="3649288" algn="l" defTabSz="1216430" rtl="0" eaLnBrk="1" latinLnBrk="0" hangingPunct="1">
        <a:defRPr sz="2393" kern="1200">
          <a:solidFill>
            <a:schemeClr val="tx1"/>
          </a:solidFill>
          <a:latin typeface="+mn-lt"/>
          <a:ea typeface="+mn-ea"/>
          <a:cs typeface="+mn-cs"/>
        </a:defRPr>
      </a:lvl7pPr>
      <a:lvl8pPr marL="4257501" algn="l" defTabSz="1216430" rtl="0" eaLnBrk="1" latinLnBrk="0" hangingPunct="1">
        <a:defRPr sz="2393" kern="1200">
          <a:solidFill>
            <a:schemeClr val="tx1"/>
          </a:solidFill>
          <a:latin typeface="+mn-lt"/>
          <a:ea typeface="+mn-ea"/>
          <a:cs typeface="+mn-cs"/>
        </a:defRPr>
      </a:lvl8pPr>
      <a:lvl9pPr marL="4865717" algn="l" defTabSz="1216430" rtl="0" eaLnBrk="1" latinLnBrk="0" hangingPunct="1">
        <a:defRPr sz="2393"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0">
          <p15:clr>
            <a:srgbClr val="F26B43"/>
          </p15:clr>
        </p15:guide>
        <p15:guide id="2" pos="6719">
          <p15:clr>
            <a:srgbClr val="F26B43"/>
          </p15:clr>
        </p15:guide>
        <p15:guide id="3" orient="horz" pos="2880">
          <p15:clr>
            <a:srgbClr val="F26B43"/>
          </p15:clr>
        </p15:guide>
        <p15:guide id="4" pos="3839">
          <p15:clr>
            <a:srgbClr val="F26B43"/>
          </p15:clr>
        </p15:guide>
        <p15:guide id="5" pos="5279">
          <p15:clr>
            <a:srgbClr val="F26B43"/>
          </p15:clr>
        </p15:guide>
        <p15:guide id="6" pos="2399">
          <p15:clr>
            <a:srgbClr val="F26B43"/>
          </p15:clr>
        </p15:guide>
        <p15:guide id="7" pos="959">
          <p15:clr>
            <a:srgbClr val="F26B43"/>
          </p15:clr>
        </p15:guide>
        <p15:guide id="8" pos="7199">
          <p15:clr>
            <a:srgbClr val="FDE53C"/>
          </p15:clr>
        </p15:guide>
        <p15:guide id="9" pos="6239">
          <p15:clr>
            <a:srgbClr val="FDE53C"/>
          </p15:clr>
        </p15:guide>
        <p15:guide id="10" pos="5759">
          <p15:clr>
            <a:srgbClr val="FDE53C"/>
          </p15:clr>
        </p15:guide>
        <p15:guide id="11" pos="4319">
          <p15:clr>
            <a:srgbClr val="FDE53C"/>
          </p15:clr>
        </p15:guide>
        <p15:guide id="12" pos="4799">
          <p15:clr>
            <a:srgbClr val="FDE53C"/>
          </p15:clr>
        </p15:guide>
        <p15:guide id="13" pos="3335">
          <p15:clr>
            <a:srgbClr val="FDE53C"/>
          </p15:clr>
        </p15:guide>
        <p15:guide id="14" pos="2879">
          <p15:clr>
            <a:srgbClr val="FDE53C"/>
          </p15:clr>
        </p15:guide>
        <p15:guide id="15" pos="1919">
          <p15:clr>
            <a:srgbClr val="FDE53C"/>
          </p15:clr>
        </p15:guide>
        <p15:guide id="16" pos="1439">
          <p15:clr>
            <a:srgbClr val="FDE53C"/>
          </p15:clr>
        </p15:guide>
        <p15:guide id="17" pos="479">
          <p15:clr>
            <a:srgbClr val="FDE53C"/>
          </p15:clr>
        </p15:guide>
        <p15:guide id="18" orient="horz" pos="960">
          <p15:clr>
            <a:srgbClr val="FDE53C"/>
          </p15:clr>
        </p15:guide>
        <p15:guide id="19" orient="horz" pos="480">
          <p15:clr>
            <a:srgbClr val="FDE53C"/>
          </p15:clr>
        </p15:guide>
        <p15:guide id="20" orient="horz" pos="1920">
          <p15:clr>
            <a:srgbClr val="FDE53C"/>
          </p15:clr>
        </p15:guide>
        <p15:guide id="21" orient="horz" pos="2400">
          <p15:clr>
            <a:srgbClr val="FDE53C"/>
          </p15:clr>
        </p15:guide>
        <p15:guide id="22" orient="horz" pos="3360">
          <p15:clr>
            <a:srgbClr val="FDE53C"/>
          </p15:clr>
        </p15:guide>
        <p15:guide id="23" orient="horz" pos="3840">
          <p15:clr>
            <a:srgbClr val="FDE53C"/>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2D0D5F45-8252-4C12-9F9E-C95D5FA3F79E}"/>
              </a:ext>
            </a:extLst>
          </p:cNvPr>
          <p:cNvGraphicFramePr>
            <a:graphicFrameLocks noChangeAspect="1"/>
          </p:cNvGraphicFramePr>
          <p:nvPr userDrawn="1">
            <p:custDataLst>
              <p:tags r:id="rId17"/>
            </p:custDataLst>
            <p:extLst>
              <p:ext uri="{D42A27DB-BD31-4B8C-83A1-F6EECF244321}">
                <p14:modId xmlns:p14="http://schemas.microsoft.com/office/powerpoint/2010/main" val="538672236"/>
              </p:ext>
            </p:extLst>
          </p:nvPr>
        </p:nvGraphicFramePr>
        <p:xfrm>
          <a:off x="1589" y="1588"/>
          <a:ext cx="1588" cy="1588"/>
        </p:xfrm>
        <a:graphic>
          <a:graphicData uri="http://schemas.openxmlformats.org/presentationml/2006/ole">
            <mc:AlternateContent xmlns:mc="http://schemas.openxmlformats.org/markup-compatibility/2006">
              <mc:Choice xmlns:v="urn:schemas-microsoft-com:vml" Requires="v">
                <p:oleObj name="think-cell Slide" r:id="rId18" imgW="395" imgH="396" progId="TCLayout.ActiveDocument.1">
                  <p:embed/>
                </p:oleObj>
              </mc:Choice>
              <mc:Fallback>
                <p:oleObj name="think-cell Slide" r:id="rId18" imgW="395" imgH="396" progId="TCLayout.ActiveDocument.1">
                  <p:embed/>
                  <p:pic>
                    <p:nvPicPr>
                      <p:cNvPr id="3" name="Object 2" hidden="1">
                        <a:extLst>
                          <a:ext uri="{FF2B5EF4-FFF2-40B4-BE49-F238E27FC236}">
                            <a16:creationId xmlns:a16="http://schemas.microsoft.com/office/drawing/2014/main" id="{2D0D5F45-8252-4C12-9F9E-C95D5FA3F79E}"/>
                          </a:ext>
                        </a:extLst>
                      </p:cNvPr>
                      <p:cNvPicPr/>
                      <p:nvPr/>
                    </p:nvPicPr>
                    <p:blipFill>
                      <a:blip r:embed="rId19"/>
                      <a:stretch>
                        <a:fillRect/>
                      </a:stretch>
                    </p:blipFill>
                    <p:spPr>
                      <a:xfrm>
                        <a:off x="1589" y="1588"/>
                        <a:ext cx="1588" cy="1588"/>
                      </a:xfrm>
                      <a:prstGeom prst="rect">
                        <a:avLst/>
                      </a:prstGeom>
                    </p:spPr>
                  </p:pic>
                </p:oleObj>
              </mc:Fallback>
            </mc:AlternateContent>
          </a:graphicData>
        </a:graphic>
      </p:graphicFrame>
      <p:sp>
        <p:nvSpPr>
          <p:cNvPr id="2" name="TextBox 1"/>
          <p:cNvSpPr txBox="1"/>
          <p:nvPr/>
        </p:nvSpPr>
        <p:spPr>
          <a:xfrm>
            <a:off x="1602706" y="6401580"/>
            <a:ext cx="4115872" cy="153888"/>
          </a:xfrm>
          <a:prstGeom prst="rect">
            <a:avLst/>
          </a:prstGeom>
          <a:noFill/>
        </p:spPr>
        <p:txBody>
          <a:bodyPr wrap="square" lIns="0" tIns="0" rIns="0" bIns="0" rtlCol="0">
            <a:spAutoFit/>
          </a:bodyPr>
          <a:lstStyle/>
          <a:p>
            <a:r>
              <a:rPr lang="en-US" sz="1000">
                <a:latin typeface="Arial" pitchFamily="34" charset="0"/>
                <a:cs typeface="Arial" pitchFamily="34" charset="0"/>
              </a:rPr>
              <a:t>2023 Lenovo Internal. All rights reserved.</a:t>
            </a:r>
          </a:p>
        </p:txBody>
      </p:sp>
      <p:sp>
        <p:nvSpPr>
          <p:cNvPr id="4" name="Slide Number Placeholder 5"/>
          <p:cNvSpPr>
            <a:spLocks noGrp="1"/>
          </p:cNvSpPr>
          <p:nvPr>
            <p:ph type="sldNum" sz="quarter" idx="4"/>
          </p:nvPr>
        </p:nvSpPr>
        <p:spPr>
          <a:xfrm>
            <a:off x="11672569" y="6400800"/>
            <a:ext cx="439026" cy="155448"/>
          </a:xfrm>
          <a:prstGeom prst="rect">
            <a:avLst/>
          </a:prstGeom>
        </p:spPr>
        <p:txBody>
          <a:bodyPr vert="horz" lIns="0" tIns="0" rIns="0" bIns="0" rtlCol="0" anchor="ctr"/>
          <a:lstStyle>
            <a:lvl1pPr algn="ctr">
              <a:defRPr sz="1000">
                <a:solidFill>
                  <a:schemeClr val="tx1"/>
                </a:solidFill>
                <a:latin typeface="Arial" panose="020B0604020202020204" pitchFamily="34" charset="0"/>
                <a:cs typeface="Arial" panose="020B0604020202020204" pitchFamily="34" charset="0"/>
              </a:defRPr>
            </a:lvl1pPr>
          </a:lstStyle>
          <a:p>
            <a:fld id="{6D22F896-40B5-4ADD-8801-0D06FADFA095}" type="slidenum">
              <a:rPr lang="en-US" smtClean="0"/>
              <a:pPr/>
              <a:t>‹#›</a:t>
            </a:fld>
            <a:endParaRPr lang="en-US"/>
          </a:p>
        </p:txBody>
      </p:sp>
      <p:grpSp>
        <p:nvGrpSpPr>
          <p:cNvPr id="73" name="Group 72">
            <a:extLst>
              <a:ext uri="{FF2B5EF4-FFF2-40B4-BE49-F238E27FC236}">
                <a16:creationId xmlns:a16="http://schemas.microsoft.com/office/drawing/2014/main" id="{E8E58A1D-41DA-DC58-93FB-1ED0F2D56A4A}"/>
              </a:ext>
            </a:extLst>
          </p:cNvPr>
          <p:cNvGrpSpPr>
            <a:grpSpLocks noChangeAspect="1"/>
          </p:cNvGrpSpPr>
          <p:nvPr/>
        </p:nvGrpSpPr>
        <p:grpSpPr>
          <a:xfrm>
            <a:off x="760611" y="6348283"/>
            <a:ext cx="777442" cy="259316"/>
            <a:chOff x="547688" y="952500"/>
            <a:chExt cx="12190413" cy="4067175"/>
          </a:xfrm>
        </p:grpSpPr>
        <p:sp>
          <p:nvSpPr>
            <p:cNvPr id="74" name="Rectangle 73">
              <a:extLst>
                <a:ext uri="{FF2B5EF4-FFF2-40B4-BE49-F238E27FC236}">
                  <a16:creationId xmlns:a16="http://schemas.microsoft.com/office/drawing/2014/main" id="{3BC243CA-E9F6-42B7-4EBD-174C6A6167E4}"/>
                </a:ext>
              </a:extLst>
            </p:cNvPr>
            <p:cNvSpPr>
              <a:spLocks noChangeArrowheads="1"/>
            </p:cNvSpPr>
            <p:nvPr/>
          </p:nvSpPr>
          <p:spPr bwMode="auto">
            <a:xfrm>
              <a:off x="547688" y="952500"/>
              <a:ext cx="12190413" cy="40671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5" name="Freeform 7">
              <a:extLst>
                <a:ext uri="{FF2B5EF4-FFF2-40B4-BE49-F238E27FC236}">
                  <a16:creationId xmlns:a16="http://schemas.microsoft.com/office/drawing/2014/main" id="{AF0893DC-4B4F-34BC-2BE3-54AE043B958B}"/>
                </a:ext>
              </a:extLst>
            </p:cNvPr>
            <p:cNvSpPr>
              <a:spLocks/>
            </p:cNvSpPr>
            <p:nvPr/>
          </p:nvSpPr>
          <p:spPr bwMode="auto">
            <a:xfrm>
              <a:off x="4922838" y="2319338"/>
              <a:ext cx="1571625" cy="1590675"/>
            </a:xfrm>
            <a:custGeom>
              <a:avLst/>
              <a:gdLst>
                <a:gd name="T0" fmla="*/ 492 w 825"/>
                <a:gd name="T1" fmla="*/ 0 h 834"/>
                <a:gd name="T2" fmla="*/ 225 w 825"/>
                <a:gd name="T3" fmla="*/ 132 h 834"/>
                <a:gd name="T4" fmla="*/ 225 w 825"/>
                <a:gd name="T5" fmla="*/ 132 h 834"/>
                <a:gd name="T6" fmla="*/ 225 w 825"/>
                <a:gd name="T7" fmla="*/ 132 h 834"/>
                <a:gd name="T8" fmla="*/ 225 w 825"/>
                <a:gd name="T9" fmla="*/ 14 h 834"/>
                <a:gd name="T10" fmla="*/ 0 w 825"/>
                <a:gd name="T11" fmla="*/ 14 h 834"/>
                <a:gd name="T12" fmla="*/ 0 w 825"/>
                <a:gd name="T13" fmla="*/ 834 h 834"/>
                <a:gd name="T14" fmla="*/ 225 w 825"/>
                <a:gd name="T15" fmla="*/ 834 h 834"/>
                <a:gd name="T16" fmla="*/ 225 w 825"/>
                <a:gd name="T17" fmla="*/ 367 h 834"/>
                <a:gd name="T18" fmla="*/ 411 w 825"/>
                <a:gd name="T19" fmla="*/ 194 h 834"/>
                <a:gd name="T20" fmla="*/ 600 w 825"/>
                <a:gd name="T21" fmla="*/ 367 h 834"/>
                <a:gd name="T22" fmla="*/ 600 w 825"/>
                <a:gd name="T23" fmla="*/ 834 h 834"/>
                <a:gd name="T24" fmla="*/ 825 w 825"/>
                <a:gd name="T25" fmla="*/ 834 h 834"/>
                <a:gd name="T26" fmla="*/ 825 w 825"/>
                <a:gd name="T27" fmla="*/ 326 h 834"/>
                <a:gd name="T28" fmla="*/ 492 w 825"/>
                <a:gd name="T29"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5" h="834">
                  <a:moveTo>
                    <a:pt x="492" y="0"/>
                  </a:moveTo>
                  <a:cubicBezTo>
                    <a:pt x="398" y="0"/>
                    <a:pt x="291" y="44"/>
                    <a:pt x="225" y="132"/>
                  </a:cubicBezTo>
                  <a:cubicBezTo>
                    <a:pt x="225" y="132"/>
                    <a:pt x="225" y="132"/>
                    <a:pt x="225" y="132"/>
                  </a:cubicBezTo>
                  <a:cubicBezTo>
                    <a:pt x="225" y="132"/>
                    <a:pt x="225" y="132"/>
                    <a:pt x="225" y="132"/>
                  </a:cubicBezTo>
                  <a:cubicBezTo>
                    <a:pt x="225" y="14"/>
                    <a:pt x="225" y="14"/>
                    <a:pt x="225" y="14"/>
                  </a:cubicBezTo>
                  <a:cubicBezTo>
                    <a:pt x="0" y="14"/>
                    <a:pt x="0" y="14"/>
                    <a:pt x="0" y="14"/>
                  </a:cubicBezTo>
                  <a:cubicBezTo>
                    <a:pt x="0" y="834"/>
                    <a:pt x="0" y="834"/>
                    <a:pt x="0" y="834"/>
                  </a:cubicBezTo>
                  <a:cubicBezTo>
                    <a:pt x="225" y="834"/>
                    <a:pt x="225" y="834"/>
                    <a:pt x="225" y="834"/>
                  </a:cubicBezTo>
                  <a:cubicBezTo>
                    <a:pt x="225" y="367"/>
                    <a:pt x="225" y="367"/>
                    <a:pt x="225" y="367"/>
                  </a:cubicBezTo>
                  <a:cubicBezTo>
                    <a:pt x="225" y="283"/>
                    <a:pt x="290" y="194"/>
                    <a:pt x="411" y="194"/>
                  </a:cubicBezTo>
                  <a:cubicBezTo>
                    <a:pt x="504" y="194"/>
                    <a:pt x="600" y="259"/>
                    <a:pt x="600" y="367"/>
                  </a:cubicBezTo>
                  <a:cubicBezTo>
                    <a:pt x="600" y="834"/>
                    <a:pt x="600" y="834"/>
                    <a:pt x="600" y="834"/>
                  </a:cubicBezTo>
                  <a:cubicBezTo>
                    <a:pt x="825" y="834"/>
                    <a:pt x="825" y="834"/>
                    <a:pt x="825" y="834"/>
                  </a:cubicBezTo>
                  <a:cubicBezTo>
                    <a:pt x="825" y="326"/>
                    <a:pt x="825" y="326"/>
                    <a:pt x="825" y="326"/>
                  </a:cubicBezTo>
                  <a:cubicBezTo>
                    <a:pt x="825" y="137"/>
                    <a:pt x="690" y="0"/>
                    <a:pt x="49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6" name="Freeform 8">
              <a:extLst>
                <a:ext uri="{FF2B5EF4-FFF2-40B4-BE49-F238E27FC236}">
                  <a16:creationId xmlns:a16="http://schemas.microsoft.com/office/drawing/2014/main" id="{2E9ED647-0AE4-33D4-5156-46F4EDDDEC5D}"/>
                </a:ext>
              </a:extLst>
            </p:cNvPr>
            <p:cNvSpPr>
              <a:spLocks/>
            </p:cNvSpPr>
            <p:nvPr/>
          </p:nvSpPr>
          <p:spPr bwMode="auto">
            <a:xfrm>
              <a:off x="8277225" y="2346325"/>
              <a:ext cx="1755775" cy="1563688"/>
            </a:xfrm>
            <a:custGeom>
              <a:avLst/>
              <a:gdLst>
                <a:gd name="T0" fmla="*/ 797 w 1106"/>
                <a:gd name="T1" fmla="*/ 0 h 985"/>
                <a:gd name="T2" fmla="*/ 553 w 1106"/>
                <a:gd name="T3" fmla="*/ 671 h 985"/>
                <a:gd name="T4" fmla="*/ 308 w 1106"/>
                <a:gd name="T5" fmla="*/ 0 h 985"/>
                <a:gd name="T6" fmla="*/ 0 w 1106"/>
                <a:gd name="T7" fmla="*/ 0 h 985"/>
                <a:gd name="T8" fmla="*/ 405 w 1106"/>
                <a:gd name="T9" fmla="*/ 985 h 985"/>
                <a:gd name="T10" fmla="*/ 701 w 1106"/>
                <a:gd name="T11" fmla="*/ 985 h 985"/>
                <a:gd name="T12" fmla="*/ 1106 w 1106"/>
                <a:gd name="T13" fmla="*/ 0 h 985"/>
                <a:gd name="T14" fmla="*/ 797 w 1106"/>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985">
                  <a:moveTo>
                    <a:pt x="797" y="0"/>
                  </a:moveTo>
                  <a:lnTo>
                    <a:pt x="553" y="671"/>
                  </a:lnTo>
                  <a:lnTo>
                    <a:pt x="308" y="0"/>
                  </a:lnTo>
                  <a:lnTo>
                    <a:pt x="0" y="0"/>
                  </a:lnTo>
                  <a:lnTo>
                    <a:pt x="405" y="985"/>
                  </a:lnTo>
                  <a:lnTo>
                    <a:pt x="701" y="985"/>
                  </a:lnTo>
                  <a:lnTo>
                    <a:pt x="1106" y="0"/>
                  </a:lnTo>
                  <a:lnTo>
                    <a:pt x="7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7" name="Freeform 9">
              <a:extLst>
                <a:ext uri="{FF2B5EF4-FFF2-40B4-BE49-F238E27FC236}">
                  <a16:creationId xmlns:a16="http://schemas.microsoft.com/office/drawing/2014/main" id="{05BD8F00-F164-080D-BE9D-F8D1C4DFAED9}"/>
                </a:ext>
              </a:extLst>
            </p:cNvPr>
            <p:cNvSpPr>
              <a:spLocks noEditPoints="1"/>
            </p:cNvSpPr>
            <p:nvPr/>
          </p:nvSpPr>
          <p:spPr bwMode="auto">
            <a:xfrm>
              <a:off x="3138488" y="2319338"/>
              <a:ext cx="1630363" cy="1617663"/>
            </a:xfrm>
            <a:custGeom>
              <a:avLst/>
              <a:gdLst>
                <a:gd name="T0" fmla="*/ 697 w 856"/>
                <a:gd name="T1" fmla="*/ 582 h 848"/>
                <a:gd name="T2" fmla="*/ 462 w 856"/>
                <a:gd name="T3" fmla="*/ 669 h 848"/>
                <a:gd name="T4" fmla="*/ 280 w 856"/>
                <a:gd name="T5" fmla="*/ 602 h 848"/>
                <a:gd name="T6" fmla="*/ 856 w 856"/>
                <a:gd name="T7" fmla="*/ 363 h 848"/>
                <a:gd name="T8" fmla="*/ 758 w 856"/>
                <a:gd name="T9" fmla="*/ 135 h 848"/>
                <a:gd name="T10" fmla="*/ 434 w 856"/>
                <a:gd name="T11" fmla="*/ 0 h 848"/>
                <a:gd name="T12" fmla="*/ 0 w 856"/>
                <a:gd name="T13" fmla="*/ 424 h 848"/>
                <a:gd name="T14" fmla="*/ 459 w 856"/>
                <a:gd name="T15" fmla="*/ 848 h 848"/>
                <a:gd name="T16" fmla="*/ 840 w 856"/>
                <a:gd name="T17" fmla="*/ 691 h 848"/>
                <a:gd name="T18" fmla="*/ 697 w 856"/>
                <a:gd name="T19" fmla="*/ 582 h 848"/>
                <a:gd name="T20" fmla="*/ 265 w 856"/>
                <a:gd name="T21" fmla="*/ 261 h 848"/>
                <a:gd name="T22" fmla="*/ 438 w 856"/>
                <a:gd name="T23" fmla="*/ 179 h 848"/>
                <a:gd name="T24" fmla="*/ 612 w 856"/>
                <a:gd name="T25" fmla="*/ 294 h 848"/>
                <a:gd name="T26" fmla="*/ 219 w 856"/>
                <a:gd name="T27" fmla="*/ 457 h 848"/>
                <a:gd name="T28" fmla="*/ 265 w 856"/>
                <a:gd name="T29" fmla="*/ 261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6" h="848">
                  <a:moveTo>
                    <a:pt x="697" y="582"/>
                  </a:moveTo>
                  <a:cubicBezTo>
                    <a:pt x="602" y="652"/>
                    <a:pt x="548" y="669"/>
                    <a:pt x="462" y="669"/>
                  </a:cubicBezTo>
                  <a:cubicBezTo>
                    <a:pt x="384" y="669"/>
                    <a:pt x="323" y="645"/>
                    <a:pt x="280" y="602"/>
                  </a:cubicBezTo>
                  <a:cubicBezTo>
                    <a:pt x="856" y="363"/>
                    <a:pt x="856" y="363"/>
                    <a:pt x="856" y="363"/>
                  </a:cubicBezTo>
                  <a:cubicBezTo>
                    <a:pt x="843" y="275"/>
                    <a:pt x="810" y="195"/>
                    <a:pt x="758" y="135"/>
                  </a:cubicBezTo>
                  <a:cubicBezTo>
                    <a:pt x="682" y="47"/>
                    <a:pt x="570" y="0"/>
                    <a:pt x="434" y="0"/>
                  </a:cubicBezTo>
                  <a:cubicBezTo>
                    <a:pt x="186" y="0"/>
                    <a:pt x="0" y="183"/>
                    <a:pt x="0" y="424"/>
                  </a:cubicBezTo>
                  <a:cubicBezTo>
                    <a:pt x="0" y="672"/>
                    <a:pt x="187" y="848"/>
                    <a:pt x="459" y="848"/>
                  </a:cubicBezTo>
                  <a:cubicBezTo>
                    <a:pt x="611" y="848"/>
                    <a:pt x="767" y="776"/>
                    <a:pt x="840" y="691"/>
                  </a:cubicBezTo>
                  <a:lnTo>
                    <a:pt x="697" y="582"/>
                  </a:lnTo>
                  <a:close/>
                  <a:moveTo>
                    <a:pt x="265" y="261"/>
                  </a:moveTo>
                  <a:cubicBezTo>
                    <a:pt x="303" y="210"/>
                    <a:pt x="364" y="179"/>
                    <a:pt x="438" y="179"/>
                  </a:cubicBezTo>
                  <a:cubicBezTo>
                    <a:pt x="519" y="179"/>
                    <a:pt x="581" y="226"/>
                    <a:pt x="612" y="294"/>
                  </a:cubicBezTo>
                  <a:cubicBezTo>
                    <a:pt x="219" y="457"/>
                    <a:pt x="219" y="457"/>
                    <a:pt x="219" y="457"/>
                  </a:cubicBezTo>
                  <a:cubicBezTo>
                    <a:pt x="208" y="374"/>
                    <a:pt x="230" y="308"/>
                    <a:pt x="265" y="2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8" name="Freeform 10">
              <a:extLst>
                <a:ext uri="{FF2B5EF4-FFF2-40B4-BE49-F238E27FC236}">
                  <a16:creationId xmlns:a16="http://schemas.microsoft.com/office/drawing/2014/main" id="{5270BA00-DD8B-D870-AA01-525F7B132534}"/>
                </a:ext>
              </a:extLst>
            </p:cNvPr>
            <p:cNvSpPr>
              <a:spLocks/>
            </p:cNvSpPr>
            <p:nvPr/>
          </p:nvSpPr>
          <p:spPr bwMode="auto">
            <a:xfrm>
              <a:off x="1685925" y="1879600"/>
              <a:ext cx="1409700" cy="2030413"/>
            </a:xfrm>
            <a:custGeom>
              <a:avLst/>
              <a:gdLst>
                <a:gd name="T0" fmla="*/ 888 w 888"/>
                <a:gd name="T1" fmla="*/ 1030 h 1279"/>
                <a:gd name="T2" fmla="*/ 274 w 888"/>
                <a:gd name="T3" fmla="*/ 1030 h 1279"/>
                <a:gd name="T4" fmla="*/ 274 w 888"/>
                <a:gd name="T5" fmla="*/ 0 h 1279"/>
                <a:gd name="T6" fmla="*/ 0 w 888"/>
                <a:gd name="T7" fmla="*/ 0 h 1279"/>
                <a:gd name="T8" fmla="*/ 0 w 888"/>
                <a:gd name="T9" fmla="*/ 1279 h 1279"/>
                <a:gd name="T10" fmla="*/ 888 w 888"/>
                <a:gd name="T11" fmla="*/ 1279 h 1279"/>
                <a:gd name="T12" fmla="*/ 888 w 888"/>
                <a:gd name="T13" fmla="*/ 1030 h 1279"/>
              </a:gdLst>
              <a:ahLst/>
              <a:cxnLst>
                <a:cxn ang="0">
                  <a:pos x="T0" y="T1"/>
                </a:cxn>
                <a:cxn ang="0">
                  <a:pos x="T2" y="T3"/>
                </a:cxn>
                <a:cxn ang="0">
                  <a:pos x="T4" y="T5"/>
                </a:cxn>
                <a:cxn ang="0">
                  <a:pos x="T6" y="T7"/>
                </a:cxn>
                <a:cxn ang="0">
                  <a:pos x="T8" y="T9"/>
                </a:cxn>
                <a:cxn ang="0">
                  <a:pos x="T10" y="T11"/>
                </a:cxn>
                <a:cxn ang="0">
                  <a:pos x="T12" y="T13"/>
                </a:cxn>
              </a:cxnLst>
              <a:rect l="0" t="0" r="r" b="b"/>
              <a:pathLst>
                <a:path w="888" h="1279">
                  <a:moveTo>
                    <a:pt x="888" y="1030"/>
                  </a:moveTo>
                  <a:lnTo>
                    <a:pt x="274" y="1030"/>
                  </a:lnTo>
                  <a:lnTo>
                    <a:pt x="274" y="0"/>
                  </a:lnTo>
                  <a:lnTo>
                    <a:pt x="0" y="0"/>
                  </a:lnTo>
                  <a:lnTo>
                    <a:pt x="0" y="1279"/>
                  </a:lnTo>
                  <a:lnTo>
                    <a:pt x="888" y="1279"/>
                  </a:lnTo>
                  <a:lnTo>
                    <a:pt x="888" y="10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9" name="Freeform 10">
              <a:extLst>
                <a:ext uri="{FF2B5EF4-FFF2-40B4-BE49-F238E27FC236}">
                  <a16:creationId xmlns:a16="http://schemas.microsoft.com/office/drawing/2014/main" id="{8214A0A3-3CC6-58A0-8F76-87CEE5EF1B57}"/>
                </a:ext>
              </a:extLst>
            </p:cNvPr>
            <p:cNvSpPr>
              <a:spLocks noEditPoints="1"/>
            </p:cNvSpPr>
            <p:nvPr/>
          </p:nvSpPr>
          <p:spPr bwMode="auto">
            <a:xfrm>
              <a:off x="9966325" y="2319338"/>
              <a:ext cx="1677988" cy="1617663"/>
            </a:xfrm>
            <a:custGeom>
              <a:avLst/>
              <a:gdLst>
                <a:gd name="T0" fmla="*/ 439 w 881"/>
                <a:gd name="T1" fmla="*/ 848 h 848"/>
                <a:gd name="T2" fmla="*/ 0 w 881"/>
                <a:gd name="T3" fmla="*/ 424 h 848"/>
                <a:gd name="T4" fmla="*/ 442 w 881"/>
                <a:gd name="T5" fmla="*/ 0 h 848"/>
                <a:gd name="T6" fmla="*/ 881 w 881"/>
                <a:gd name="T7" fmla="*/ 424 h 848"/>
                <a:gd name="T8" fmla="*/ 439 w 881"/>
                <a:gd name="T9" fmla="*/ 848 h 848"/>
                <a:gd name="T10" fmla="*/ 439 w 881"/>
                <a:gd name="T11" fmla="*/ 193 h 848"/>
                <a:gd name="T12" fmla="*/ 222 w 881"/>
                <a:gd name="T13" fmla="*/ 424 h 848"/>
                <a:gd name="T14" fmla="*/ 442 w 881"/>
                <a:gd name="T15" fmla="*/ 655 h 848"/>
                <a:gd name="T16" fmla="*/ 659 w 881"/>
                <a:gd name="T17" fmla="*/ 424 h 848"/>
                <a:gd name="T18" fmla="*/ 439 w 881"/>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1" h="848">
                  <a:moveTo>
                    <a:pt x="439" y="848"/>
                  </a:moveTo>
                  <a:cubicBezTo>
                    <a:pt x="193" y="848"/>
                    <a:pt x="0" y="664"/>
                    <a:pt x="0" y="424"/>
                  </a:cubicBezTo>
                  <a:cubicBezTo>
                    <a:pt x="0" y="186"/>
                    <a:pt x="194" y="0"/>
                    <a:pt x="442" y="0"/>
                  </a:cubicBezTo>
                  <a:cubicBezTo>
                    <a:pt x="688" y="0"/>
                    <a:pt x="881" y="184"/>
                    <a:pt x="881" y="424"/>
                  </a:cubicBezTo>
                  <a:cubicBezTo>
                    <a:pt x="881" y="662"/>
                    <a:pt x="687" y="848"/>
                    <a:pt x="439" y="848"/>
                  </a:cubicBezTo>
                  <a:moveTo>
                    <a:pt x="439" y="193"/>
                  </a:moveTo>
                  <a:cubicBezTo>
                    <a:pt x="313" y="193"/>
                    <a:pt x="222" y="288"/>
                    <a:pt x="222" y="424"/>
                  </a:cubicBezTo>
                  <a:cubicBezTo>
                    <a:pt x="222" y="553"/>
                    <a:pt x="319" y="655"/>
                    <a:pt x="442" y="655"/>
                  </a:cubicBezTo>
                  <a:cubicBezTo>
                    <a:pt x="568" y="655"/>
                    <a:pt x="659" y="557"/>
                    <a:pt x="659" y="424"/>
                  </a:cubicBezTo>
                  <a:cubicBezTo>
                    <a:pt x="659" y="295"/>
                    <a:pt x="562"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0" name="Freeform 11">
              <a:extLst>
                <a:ext uri="{FF2B5EF4-FFF2-40B4-BE49-F238E27FC236}">
                  <a16:creationId xmlns:a16="http://schemas.microsoft.com/office/drawing/2014/main" id="{D4ACFFF1-B65B-C5F8-C71D-FED0359A3058}"/>
                </a:ext>
              </a:extLst>
            </p:cNvPr>
            <p:cNvSpPr>
              <a:spLocks noEditPoints="1"/>
            </p:cNvSpPr>
            <p:nvPr/>
          </p:nvSpPr>
          <p:spPr bwMode="auto">
            <a:xfrm>
              <a:off x="6664325" y="2319338"/>
              <a:ext cx="1679575" cy="1617663"/>
            </a:xfrm>
            <a:custGeom>
              <a:avLst/>
              <a:gdLst>
                <a:gd name="T0" fmla="*/ 439 w 882"/>
                <a:gd name="T1" fmla="*/ 848 h 848"/>
                <a:gd name="T2" fmla="*/ 0 w 882"/>
                <a:gd name="T3" fmla="*/ 424 h 848"/>
                <a:gd name="T4" fmla="*/ 442 w 882"/>
                <a:gd name="T5" fmla="*/ 0 h 848"/>
                <a:gd name="T6" fmla="*/ 882 w 882"/>
                <a:gd name="T7" fmla="*/ 424 h 848"/>
                <a:gd name="T8" fmla="*/ 439 w 882"/>
                <a:gd name="T9" fmla="*/ 848 h 848"/>
                <a:gd name="T10" fmla="*/ 439 w 882"/>
                <a:gd name="T11" fmla="*/ 193 h 848"/>
                <a:gd name="T12" fmla="*/ 222 w 882"/>
                <a:gd name="T13" fmla="*/ 424 h 848"/>
                <a:gd name="T14" fmla="*/ 442 w 882"/>
                <a:gd name="T15" fmla="*/ 655 h 848"/>
                <a:gd name="T16" fmla="*/ 660 w 882"/>
                <a:gd name="T17" fmla="*/ 424 h 848"/>
                <a:gd name="T18" fmla="*/ 439 w 882"/>
                <a:gd name="T19" fmla="*/ 193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2" h="848">
                  <a:moveTo>
                    <a:pt x="439" y="848"/>
                  </a:moveTo>
                  <a:cubicBezTo>
                    <a:pt x="193" y="848"/>
                    <a:pt x="0" y="664"/>
                    <a:pt x="0" y="424"/>
                  </a:cubicBezTo>
                  <a:cubicBezTo>
                    <a:pt x="0" y="186"/>
                    <a:pt x="195" y="0"/>
                    <a:pt x="442" y="0"/>
                  </a:cubicBezTo>
                  <a:cubicBezTo>
                    <a:pt x="689" y="0"/>
                    <a:pt x="882" y="184"/>
                    <a:pt x="882" y="424"/>
                  </a:cubicBezTo>
                  <a:cubicBezTo>
                    <a:pt x="882" y="662"/>
                    <a:pt x="687" y="848"/>
                    <a:pt x="439" y="848"/>
                  </a:cubicBezTo>
                  <a:moveTo>
                    <a:pt x="439" y="193"/>
                  </a:moveTo>
                  <a:cubicBezTo>
                    <a:pt x="314" y="193"/>
                    <a:pt x="222" y="288"/>
                    <a:pt x="222" y="424"/>
                  </a:cubicBezTo>
                  <a:cubicBezTo>
                    <a:pt x="222" y="553"/>
                    <a:pt x="319" y="655"/>
                    <a:pt x="442" y="655"/>
                  </a:cubicBezTo>
                  <a:cubicBezTo>
                    <a:pt x="568" y="655"/>
                    <a:pt x="660" y="557"/>
                    <a:pt x="660" y="424"/>
                  </a:cubicBezTo>
                  <a:cubicBezTo>
                    <a:pt x="660" y="295"/>
                    <a:pt x="563" y="193"/>
                    <a:pt x="439"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pic>
        <p:nvPicPr>
          <p:cNvPr id="12" name="图像" descr="图像">
            <a:extLst>
              <a:ext uri="{FF2B5EF4-FFF2-40B4-BE49-F238E27FC236}">
                <a16:creationId xmlns:a16="http://schemas.microsoft.com/office/drawing/2014/main" id="{1C995DC8-002F-450B-B0AA-64D6FE5C5E0C}"/>
              </a:ext>
            </a:extLst>
          </p:cNvPr>
          <p:cNvPicPr>
            <a:picLocks noChangeAspect="1"/>
          </p:cNvPicPr>
          <p:nvPr userDrawn="1"/>
        </p:nvPicPr>
        <p:blipFill>
          <a:blip r:embed="rId20"/>
          <a:stretch>
            <a:fillRect/>
          </a:stretch>
        </p:blipFill>
        <p:spPr>
          <a:xfrm>
            <a:off x="10353183" y="6358296"/>
            <a:ext cx="1284334" cy="385200"/>
          </a:xfrm>
          <a:prstGeom prst="rect">
            <a:avLst/>
          </a:prstGeom>
          <a:ln w="12700">
            <a:miter lim="400000"/>
          </a:ln>
        </p:spPr>
      </p:pic>
    </p:spTree>
    <p:extLst>
      <p:ext uri="{BB962C8B-B14F-4D97-AF65-F5344CB8AC3E}">
        <p14:creationId xmlns:p14="http://schemas.microsoft.com/office/powerpoint/2010/main" val="3360965450"/>
      </p:ext>
    </p:extLst>
  </p:cSld>
  <p:clrMap bg1="lt1" tx1="dk1" bg2="lt2" tx2="dk2" accent1="accent1" accent2="accent2" accent3="accent3" accent4="accent4" accent5="accent5" accent6="accent6" hlink="hlink" folHlink="folHlink"/>
  <p:sldLayoutIdLst>
    <p:sldLayoutId id="2147484098" r:id="rId1"/>
    <p:sldLayoutId id="2147484099" r:id="rId2"/>
    <p:sldLayoutId id="2147484100" r:id="rId3"/>
    <p:sldLayoutId id="2147484101" r:id="rId4"/>
    <p:sldLayoutId id="2147484102" r:id="rId5"/>
    <p:sldLayoutId id="2147484103" r:id="rId6"/>
    <p:sldLayoutId id="2147484104" r:id="rId7"/>
    <p:sldLayoutId id="2147484105" r:id="rId8"/>
    <p:sldLayoutId id="2147484106" r:id="rId9"/>
    <p:sldLayoutId id="2147484107" r:id="rId10"/>
    <p:sldLayoutId id="2147484108" r:id="rId11"/>
    <p:sldLayoutId id="2147484109" r:id="rId12"/>
    <p:sldLayoutId id="2147484110" r:id="rId13"/>
    <p:sldLayoutId id="2147484111" r:id="rId14"/>
    <p:sldLayoutId id="2147484112" r:id="rId15"/>
  </p:sldLayoutIdLst>
  <p:transition spd="med"/>
  <p:hf hdr="0" ftr="0" dt="0"/>
  <p:txStyles>
    <p:titleStyle>
      <a:lvl1pPr algn="ctr" defTabSz="1218987" rtl="0" eaLnBrk="1" latinLnBrk="0" hangingPunct="1">
        <a:spcBef>
          <a:spcPct val="0"/>
        </a:spcBef>
        <a:buNone/>
        <a:defRPr sz="4300" kern="1200" cap="all" baseline="0">
          <a:solidFill>
            <a:schemeClr val="tx1"/>
          </a:solidFill>
          <a:latin typeface="Arial" pitchFamily="34" charset="0"/>
          <a:ea typeface="+mj-ea"/>
          <a:cs typeface="Arial" pitchFamily="34" charset="0"/>
        </a:defRPr>
      </a:lvl1pPr>
    </p:titleStyle>
    <p:bodyStyle>
      <a:lvl1pPr marL="457120" indent="-457120" algn="l" defTabSz="1218987" rtl="0" eaLnBrk="1" latinLnBrk="0" hangingPunct="1">
        <a:spcBef>
          <a:spcPct val="20000"/>
        </a:spcBef>
        <a:buClrTx/>
        <a:buFont typeface="Arial" panose="020B0604020202020204" pitchFamily="34" charset="0"/>
        <a:buChar char="•"/>
        <a:defRPr sz="4300" kern="1200">
          <a:solidFill>
            <a:schemeClr val="tx1"/>
          </a:solidFill>
          <a:latin typeface="Arial" pitchFamily="34" charset="0"/>
          <a:ea typeface="+mn-ea"/>
          <a:cs typeface="Arial" pitchFamily="34" charset="0"/>
        </a:defRPr>
      </a:lvl1pPr>
      <a:lvl2pPr marL="990427" indent="-380933" algn="l" defTabSz="1218987" rtl="0" eaLnBrk="1" latinLnBrk="0" hangingPunct="1">
        <a:spcBef>
          <a:spcPct val="20000"/>
        </a:spcBef>
        <a:buClrTx/>
        <a:buFont typeface="Arial" panose="020B0604020202020204" pitchFamily="34" charset="0"/>
        <a:buChar char="–"/>
        <a:defRPr sz="3700" kern="1200">
          <a:solidFill>
            <a:schemeClr val="tx1"/>
          </a:solidFill>
          <a:latin typeface="Arial" pitchFamily="34" charset="0"/>
          <a:ea typeface="+mn-ea"/>
          <a:cs typeface="Arial" pitchFamily="34" charset="0"/>
        </a:defRPr>
      </a:lvl2pPr>
      <a:lvl3pPr marL="1523733" indent="-304747" algn="l" defTabSz="1218987" rtl="0" eaLnBrk="1" latinLnBrk="0" hangingPunct="1">
        <a:spcBef>
          <a:spcPct val="20000"/>
        </a:spcBef>
        <a:buClrTx/>
        <a:buFont typeface="Arial" panose="020B0604020202020204" pitchFamily="34" charset="0"/>
        <a:buChar char="-"/>
        <a:defRPr sz="3200" kern="1200">
          <a:solidFill>
            <a:schemeClr val="tx1"/>
          </a:solidFill>
          <a:latin typeface="Arial" pitchFamily="34" charset="0"/>
          <a:ea typeface="+mn-ea"/>
          <a:cs typeface="Arial" pitchFamily="34" charset="0"/>
        </a:defRPr>
      </a:lvl3pPr>
      <a:lvl4pPr marL="2133227"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4pPr>
      <a:lvl5pPr marL="2742720"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0">
          <p15:clr>
            <a:srgbClr val="F26B43"/>
          </p15:clr>
        </p15:guide>
        <p15:guide id="2" pos="6719">
          <p15:clr>
            <a:srgbClr val="F26B43"/>
          </p15:clr>
        </p15:guide>
        <p15:guide id="3" orient="horz" pos="2880">
          <p15:clr>
            <a:srgbClr val="F26B43"/>
          </p15:clr>
        </p15:guide>
        <p15:guide id="4" pos="3839">
          <p15:clr>
            <a:srgbClr val="F26B43"/>
          </p15:clr>
        </p15:guide>
        <p15:guide id="5" pos="5279">
          <p15:clr>
            <a:srgbClr val="F26B43"/>
          </p15:clr>
        </p15:guide>
        <p15:guide id="6" pos="2399">
          <p15:clr>
            <a:srgbClr val="F26B43"/>
          </p15:clr>
        </p15:guide>
        <p15:guide id="7" pos="959">
          <p15:clr>
            <a:srgbClr val="F26B43"/>
          </p15:clr>
        </p15:guide>
        <p15:guide id="8" pos="7199">
          <p15:clr>
            <a:srgbClr val="FDE53C"/>
          </p15:clr>
        </p15:guide>
        <p15:guide id="9" pos="6239">
          <p15:clr>
            <a:srgbClr val="FDE53C"/>
          </p15:clr>
        </p15:guide>
        <p15:guide id="10" pos="5759">
          <p15:clr>
            <a:srgbClr val="FDE53C"/>
          </p15:clr>
        </p15:guide>
        <p15:guide id="11" pos="4319">
          <p15:clr>
            <a:srgbClr val="FDE53C"/>
          </p15:clr>
        </p15:guide>
        <p15:guide id="12" pos="4799">
          <p15:clr>
            <a:srgbClr val="FDE53C"/>
          </p15:clr>
        </p15:guide>
        <p15:guide id="13" pos="3335">
          <p15:clr>
            <a:srgbClr val="FDE53C"/>
          </p15:clr>
        </p15:guide>
        <p15:guide id="14" pos="2879">
          <p15:clr>
            <a:srgbClr val="FDE53C"/>
          </p15:clr>
        </p15:guide>
        <p15:guide id="15" pos="1919">
          <p15:clr>
            <a:srgbClr val="FDE53C"/>
          </p15:clr>
        </p15:guide>
        <p15:guide id="16" pos="1439">
          <p15:clr>
            <a:srgbClr val="FDE53C"/>
          </p15:clr>
        </p15:guide>
        <p15:guide id="17" pos="479">
          <p15:clr>
            <a:srgbClr val="FDE53C"/>
          </p15:clr>
        </p15:guide>
        <p15:guide id="18" orient="horz" pos="960">
          <p15:clr>
            <a:srgbClr val="FDE53C"/>
          </p15:clr>
        </p15:guide>
        <p15:guide id="19" orient="horz" pos="480">
          <p15:clr>
            <a:srgbClr val="FDE53C"/>
          </p15:clr>
        </p15:guide>
        <p15:guide id="20" orient="horz" pos="1920">
          <p15:clr>
            <a:srgbClr val="FDE53C"/>
          </p15:clr>
        </p15:guide>
        <p15:guide id="21" orient="horz" pos="2400">
          <p15:clr>
            <a:srgbClr val="FDE53C"/>
          </p15:clr>
        </p15:guide>
        <p15:guide id="22" orient="horz" pos="3360">
          <p15:clr>
            <a:srgbClr val="FDE53C"/>
          </p15:clr>
        </p15:guide>
        <p15:guide id="23" orient="horz" pos="3840">
          <p15:clr>
            <a:srgbClr val="FDE53C"/>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slide" Target="slide99.xml"/><Relationship Id="rId2" Type="http://schemas.openxmlformats.org/officeDocument/2006/relationships/notesSlide" Target="../notesSlides/notesSlide1.xml"/><Relationship Id="rId1" Type="http://schemas.openxmlformats.org/officeDocument/2006/relationships/slideLayout" Target="../slideLayouts/slideLayout21.xml"/><Relationship Id="rId4" Type="http://schemas.openxmlformats.org/officeDocument/2006/relationships/image" Target="../media/image31.svg"/></Relationships>
</file>

<file path=ppt/slides/_rels/slide2.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Layout" Target="../slideLayouts/slideLayout63.xml"/><Relationship Id="rId1" Type="http://schemas.openxmlformats.org/officeDocument/2006/relationships/tags" Target="../tags/tag54.xml"/><Relationship Id="rId5" Type="http://schemas.openxmlformats.org/officeDocument/2006/relationships/image" Target="../media/image33.png"/><Relationship Id="rId4" Type="http://schemas.openxmlformats.org/officeDocument/2006/relationships/image" Target="../media/image32.emf"/></Relationships>
</file>

<file path=ppt/slides/_rels/slide3.xml.rels><?xml version="1.0" encoding="UTF-8" standalone="yes"?>
<Relationships xmlns="http://schemas.openxmlformats.org/package/2006/relationships"><Relationship Id="rId13" Type="http://schemas.openxmlformats.org/officeDocument/2006/relationships/tags" Target="../tags/tag67.xml"/><Relationship Id="rId18" Type="http://schemas.openxmlformats.org/officeDocument/2006/relationships/tags" Target="../tags/tag72.xml"/><Relationship Id="rId26" Type="http://schemas.openxmlformats.org/officeDocument/2006/relationships/tags" Target="../tags/tag80.xml"/><Relationship Id="rId39" Type="http://schemas.openxmlformats.org/officeDocument/2006/relationships/tags" Target="../tags/tag93.xml"/><Relationship Id="rId21" Type="http://schemas.openxmlformats.org/officeDocument/2006/relationships/tags" Target="../tags/tag75.xml"/><Relationship Id="rId34" Type="http://schemas.openxmlformats.org/officeDocument/2006/relationships/tags" Target="../tags/tag88.xml"/><Relationship Id="rId42" Type="http://schemas.openxmlformats.org/officeDocument/2006/relationships/notesSlide" Target="../notesSlides/notesSlide2.xml"/><Relationship Id="rId7" Type="http://schemas.openxmlformats.org/officeDocument/2006/relationships/tags" Target="../tags/tag61.xml"/><Relationship Id="rId2" Type="http://schemas.openxmlformats.org/officeDocument/2006/relationships/tags" Target="../tags/tag56.xml"/><Relationship Id="rId16" Type="http://schemas.openxmlformats.org/officeDocument/2006/relationships/tags" Target="../tags/tag70.xml"/><Relationship Id="rId20" Type="http://schemas.openxmlformats.org/officeDocument/2006/relationships/tags" Target="../tags/tag74.xml"/><Relationship Id="rId29" Type="http://schemas.openxmlformats.org/officeDocument/2006/relationships/tags" Target="../tags/tag83.xml"/><Relationship Id="rId41" Type="http://schemas.openxmlformats.org/officeDocument/2006/relationships/slideLayout" Target="../slideLayouts/slideLayout168.xml"/><Relationship Id="rId1" Type="http://schemas.openxmlformats.org/officeDocument/2006/relationships/tags" Target="../tags/tag55.xml"/><Relationship Id="rId6" Type="http://schemas.openxmlformats.org/officeDocument/2006/relationships/tags" Target="../tags/tag60.xml"/><Relationship Id="rId11" Type="http://schemas.openxmlformats.org/officeDocument/2006/relationships/tags" Target="../tags/tag65.xml"/><Relationship Id="rId24" Type="http://schemas.openxmlformats.org/officeDocument/2006/relationships/tags" Target="../tags/tag78.xml"/><Relationship Id="rId32" Type="http://schemas.openxmlformats.org/officeDocument/2006/relationships/tags" Target="../tags/tag86.xml"/><Relationship Id="rId37" Type="http://schemas.openxmlformats.org/officeDocument/2006/relationships/tags" Target="../tags/tag91.xml"/><Relationship Id="rId40" Type="http://schemas.openxmlformats.org/officeDocument/2006/relationships/tags" Target="../tags/tag94.xml"/><Relationship Id="rId5" Type="http://schemas.openxmlformats.org/officeDocument/2006/relationships/tags" Target="../tags/tag59.xml"/><Relationship Id="rId15" Type="http://schemas.openxmlformats.org/officeDocument/2006/relationships/tags" Target="../tags/tag69.xml"/><Relationship Id="rId23" Type="http://schemas.openxmlformats.org/officeDocument/2006/relationships/tags" Target="../tags/tag77.xml"/><Relationship Id="rId28" Type="http://schemas.openxmlformats.org/officeDocument/2006/relationships/tags" Target="../tags/tag82.xml"/><Relationship Id="rId36" Type="http://schemas.openxmlformats.org/officeDocument/2006/relationships/tags" Target="../tags/tag90.xml"/><Relationship Id="rId10" Type="http://schemas.openxmlformats.org/officeDocument/2006/relationships/tags" Target="../tags/tag64.xml"/><Relationship Id="rId19" Type="http://schemas.openxmlformats.org/officeDocument/2006/relationships/tags" Target="../tags/tag73.xml"/><Relationship Id="rId31" Type="http://schemas.openxmlformats.org/officeDocument/2006/relationships/tags" Target="../tags/tag85.xml"/><Relationship Id="rId44" Type="http://schemas.openxmlformats.org/officeDocument/2006/relationships/image" Target="../media/image34.emf"/><Relationship Id="rId4" Type="http://schemas.openxmlformats.org/officeDocument/2006/relationships/tags" Target="../tags/tag58.xml"/><Relationship Id="rId9" Type="http://schemas.openxmlformats.org/officeDocument/2006/relationships/tags" Target="../tags/tag63.xml"/><Relationship Id="rId14" Type="http://schemas.openxmlformats.org/officeDocument/2006/relationships/tags" Target="../tags/tag68.xml"/><Relationship Id="rId22" Type="http://schemas.openxmlformats.org/officeDocument/2006/relationships/tags" Target="../tags/tag76.xml"/><Relationship Id="rId27" Type="http://schemas.openxmlformats.org/officeDocument/2006/relationships/tags" Target="../tags/tag81.xml"/><Relationship Id="rId30" Type="http://schemas.openxmlformats.org/officeDocument/2006/relationships/tags" Target="../tags/tag84.xml"/><Relationship Id="rId35" Type="http://schemas.openxmlformats.org/officeDocument/2006/relationships/tags" Target="../tags/tag89.xml"/><Relationship Id="rId43" Type="http://schemas.openxmlformats.org/officeDocument/2006/relationships/oleObject" Target="../embeddings/oleObject15.bin"/><Relationship Id="rId8" Type="http://schemas.openxmlformats.org/officeDocument/2006/relationships/tags" Target="../tags/tag62.xml"/><Relationship Id="rId3" Type="http://schemas.openxmlformats.org/officeDocument/2006/relationships/tags" Target="../tags/tag57.xml"/><Relationship Id="rId12" Type="http://schemas.openxmlformats.org/officeDocument/2006/relationships/tags" Target="../tags/tag66.xml"/><Relationship Id="rId17" Type="http://schemas.openxmlformats.org/officeDocument/2006/relationships/tags" Target="../tags/tag71.xml"/><Relationship Id="rId25" Type="http://schemas.openxmlformats.org/officeDocument/2006/relationships/tags" Target="../tags/tag79.xml"/><Relationship Id="rId33" Type="http://schemas.openxmlformats.org/officeDocument/2006/relationships/tags" Target="../tags/tag87.xml"/><Relationship Id="rId38" Type="http://schemas.openxmlformats.org/officeDocument/2006/relationships/tags" Target="../tags/tag9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42.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48.xml"/><Relationship Id="rId1" Type="http://schemas.openxmlformats.org/officeDocument/2006/relationships/tags" Target="../tags/tag95.xml"/><Relationship Id="rId6" Type="http://schemas.openxmlformats.org/officeDocument/2006/relationships/image" Target="../media/image35.png"/><Relationship Id="rId5" Type="http://schemas.openxmlformats.org/officeDocument/2006/relationships/image" Target="../media/image34.emf"/><Relationship Id="rId4" Type="http://schemas.openxmlformats.org/officeDocument/2006/relationships/oleObject" Target="../embeddings/oleObject16.bin"/></Relationships>
</file>

<file path=ppt/slides/_rels/slide6.xml.rels><?xml version="1.0" encoding="UTF-8" standalone="yes"?>
<Relationships xmlns="http://schemas.openxmlformats.org/package/2006/relationships"><Relationship Id="rId3" Type="http://schemas.openxmlformats.org/officeDocument/2006/relationships/hyperlink" Target="https://lenovo.sharepoint.com/:p:/s/S4DiscoveryProject/IQB2dIOZxjJ2S5JHEiSVoGueAaVhfrq_-a2CJeTvI6Rphs0?e=cYXPkc" TargetMode="External"/><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hyperlink" Target="https://lenovo.sharepoint.com/:p:/s/S4DiscoveryProject/IQB2dIOZxjJ2S5JHEiSVoGueAaVhfrq_-a2CJeTvI6Rphs0?e=cYXPkc" TargetMode="External"/><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slide" Target="slide11.xml"/><Relationship Id="rId2" Type="http://schemas.openxmlformats.org/officeDocument/2006/relationships/notesSlide" Target="../notesSlides/notesSlide7.xml"/><Relationship Id="rId1" Type="http://schemas.openxmlformats.org/officeDocument/2006/relationships/slideLayout" Target="../slideLayouts/slideLayout1.xml"/><Relationship Id="rId5" Type="http://schemas.openxmlformats.org/officeDocument/2006/relationships/hyperlink" Target="https://lenovo.sharepoint.com/:p:/s/S4DiscoveryProject/IQB2dIOZxjJ2S5JHEiSVoGueAaVhfrq_-a2CJeTvI6Rphs0?e=cYXPkc" TargetMode="External"/><Relationship Id="rId4" Type="http://schemas.openxmlformats.org/officeDocument/2006/relationships/slide" Target="slide10.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1.xml"/><Relationship Id="rId4" Type="http://schemas.openxmlformats.org/officeDocument/2006/relationships/image" Target="../media/image38.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11.xml"/><Relationship Id="rId1" Type="http://schemas.openxmlformats.org/officeDocument/2006/relationships/slideLayout" Target="../slideLayouts/slideLayout1.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3" Type="http://schemas.openxmlformats.org/officeDocument/2006/relationships/slide" Target="slide99.xml"/><Relationship Id="rId2" Type="http://schemas.openxmlformats.org/officeDocument/2006/relationships/notesSlide" Target="../notesSlides/notesSlide13.xml"/><Relationship Id="rId1" Type="http://schemas.openxmlformats.org/officeDocument/2006/relationships/slideLayout" Target="../slideLayouts/slideLayout21.xml"/><Relationship Id="rId4" Type="http://schemas.openxmlformats.org/officeDocument/2006/relationships/image" Target="../media/image31.sv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8" Type="http://schemas.openxmlformats.org/officeDocument/2006/relationships/image" Target="../media/image50.svg"/><Relationship Id="rId3" Type="http://schemas.openxmlformats.org/officeDocument/2006/relationships/image" Target="../media/image45.svg"/><Relationship Id="rId7" Type="http://schemas.openxmlformats.org/officeDocument/2006/relationships/image" Target="../media/image49.svg"/><Relationship Id="rId2" Type="http://schemas.openxmlformats.org/officeDocument/2006/relationships/image" Target="../media/image44.svg"/><Relationship Id="rId1" Type="http://schemas.openxmlformats.org/officeDocument/2006/relationships/slideLayout" Target="../slideLayouts/slideLayout12.xml"/><Relationship Id="rId6" Type="http://schemas.openxmlformats.org/officeDocument/2006/relationships/image" Target="../media/image48.svg"/><Relationship Id="rId5" Type="http://schemas.openxmlformats.org/officeDocument/2006/relationships/image" Target="../media/image47.svg"/><Relationship Id="rId4" Type="http://schemas.openxmlformats.org/officeDocument/2006/relationships/image" Target="../media/image46.sv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microsoft.com/office/2018/10/relationships/comments" Target="../comments/modernComment_7FFFE739_60C200E2.xml"/><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6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2" Type="http://schemas.microsoft.com/office/2018/10/relationships/comments" Target="../comments/modernComment_7FFFE754_BF27EB03.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45.svg"/><Relationship Id="rId7" Type="http://schemas.openxmlformats.org/officeDocument/2006/relationships/image" Target="../media/image49.svg"/><Relationship Id="rId2" Type="http://schemas.openxmlformats.org/officeDocument/2006/relationships/image" Target="../media/image44.svg"/><Relationship Id="rId1" Type="http://schemas.openxmlformats.org/officeDocument/2006/relationships/slideLayout" Target="../slideLayouts/slideLayout12.xml"/><Relationship Id="rId6" Type="http://schemas.openxmlformats.org/officeDocument/2006/relationships/image" Target="../media/image48.svg"/><Relationship Id="rId5" Type="http://schemas.openxmlformats.org/officeDocument/2006/relationships/image" Target="../media/image47.svg"/><Relationship Id="rId4" Type="http://schemas.openxmlformats.org/officeDocument/2006/relationships/image" Target="../media/image46.svg"/></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35.xml"/></Relationships>
</file>

<file path=ppt/slides/_rels/slide99.xml.rels><?xml version="1.0" encoding="UTF-8" standalone="yes"?>
<Relationships xmlns="http://schemas.openxmlformats.org/package/2006/relationships"><Relationship Id="rId3" Type="http://schemas.openxmlformats.org/officeDocument/2006/relationships/slide" Target="slide15.xml"/><Relationship Id="rId2" Type="http://schemas.openxmlformats.org/officeDocument/2006/relationships/notesSlide" Target="../notesSlides/notesSlide81.xml"/><Relationship Id="rId1" Type="http://schemas.openxmlformats.org/officeDocument/2006/relationships/slideLayout" Target="../slideLayouts/slideLayout162.xml"/><Relationship Id="rId6" Type="http://schemas.openxmlformats.org/officeDocument/2006/relationships/hyperlink" Target="https://lenovo.sharepoint.com/:p:/s/S4DiscoveryProject/IQB7Vn229FdtQIm-iRD-Gui2AVGsZSl8XQbGQHtzD53mquU?e=SlUND3" TargetMode="External"/><Relationship Id="rId5" Type="http://schemas.openxmlformats.org/officeDocument/2006/relationships/hyperlink" Target="https://lenovo.sharepoint.com/:p:/r/sites/SSG/Shared%20Documents/General/EaaS%20Deliverables/EaaS%20Design%20(Internal)/NexBill%20-%20New%20Requirement%20Questionaire.pptx?d=wc7107ef8995a4704ac92ae25d46ec0d9&amp;csf=1&amp;web=1&amp;e=geqxKh" TargetMode="External"/><Relationship Id="rId4" Type="http://schemas.openxmlformats.org/officeDocument/2006/relationships/image" Target="../media/image31.sv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63.xml"/></Relationships>
</file>

<file path=ppt/slides/_rels/slide101.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135.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35.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35.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60.xml"/></Relationships>
</file>

<file path=ppt/slides/_rels/slide106.xml.rels><?xml version="1.0" encoding="UTF-8" standalone="yes"?>
<Relationships xmlns="http://schemas.openxmlformats.org/package/2006/relationships"><Relationship Id="rId2" Type="http://schemas.microsoft.com/office/2018/10/relationships/comments" Target="../comments/modernComment_13D_A3B2AEF9.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microsoft.com/office/2018/10/relationships/comments" Target="../comments/modernComment_122_50EFFA4.xml"/><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microsoft.com/office/2018/10/relationships/comments" Target="../comments/modernComment_152_47C1F9E9.xml"/><Relationship Id="rId2" Type="http://schemas.openxmlformats.org/officeDocument/2006/relationships/notesSlide" Target="../notesSlides/notesSlide87.xml"/><Relationship Id="rId1" Type="http://schemas.openxmlformats.org/officeDocument/2006/relationships/slideLayout" Target="../slideLayouts/slideLayout2.xml"/><Relationship Id="rId4" Type="http://schemas.openxmlformats.org/officeDocument/2006/relationships/image" Target="../media/image53.png"/></Relationships>
</file>

<file path=ppt/slides/_rels/slide109.xml.rels><?xml version="1.0" encoding="UTF-8" standalone="yes"?>
<Relationships xmlns="http://schemas.openxmlformats.org/package/2006/relationships"><Relationship Id="rId3" Type="http://schemas.microsoft.com/office/2018/10/relationships/comments" Target="../comments/modernComment_7FFFFFFC_3112F2B4.xml"/><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3" Type="http://schemas.microsoft.com/office/2018/10/relationships/comments" Target="../comments/modernComment_121_F2076C1A.xml"/><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microsoft.com/office/2018/10/relationships/comments" Target="../comments/modernComment_7FFFFFF8_3A74F313.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3" Type="http://schemas.openxmlformats.org/officeDocument/2006/relationships/hyperlink" Target="https://lenovo.sharepoint.com/:p:/r/sites/S4DiscoveryProject/_layouts/15/Doc.aspx?sourcedoc=%7B99837476-32C6-4B76-9247-122495A06B9E%7D&amp;file=NexBill%20E2E%20BSR.pptx&amp;action=edit&amp;mobileredirect=true" TargetMode="External"/><Relationship Id="rId2" Type="http://schemas.openxmlformats.org/officeDocument/2006/relationships/notesSlide" Target="../notesSlides/notesSlide91.xml"/><Relationship Id="rId1" Type="http://schemas.openxmlformats.org/officeDocument/2006/relationships/slideLayout" Target="../slideLayouts/slideLayout15.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5.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5.xml"/></Relationships>
</file>

<file path=ppt/slides/_rels/slide116.xml.rels><?xml version="1.0" encoding="UTF-8" standalone="yes"?>
<Relationships xmlns="http://schemas.openxmlformats.org/package/2006/relationships"><Relationship Id="rId3" Type="http://schemas.microsoft.com/office/2018/10/relationships/comments" Target="../comments/modernComment_12E_57758AF.xml"/><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hyperlink" Target="https://lenovo.sharepoint.com/:p:/r/sites/S4DiscoveryProject/_layouts/15/Doc.aspx?sourcedoc=%7B99837476-32C6-4B76-9247-122495A06B9E%7D&amp;file=NexBill%20E2E%20BSR.pptx&amp;action=edit&amp;mobileredirect=true" TargetMode="External"/><Relationship Id="rId2" Type="http://schemas.openxmlformats.org/officeDocument/2006/relationships/notesSlide" Target="../notesSlides/notesSlide95.xml"/><Relationship Id="rId1" Type="http://schemas.openxmlformats.org/officeDocument/2006/relationships/slideLayout" Target="../slideLayouts/slideLayout2.xml"/><Relationship Id="rId4" Type="http://schemas.openxmlformats.org/officeDocument/2006/relationships/image" Target="../media/image54.png"/></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5.xml"/></Relationships>
</file>

<file path=ppt/slides/_rels/slide119.xml.rels><?xml version="1.0" encoding="UTF-8" standalone="yes"?>
<Relationships xmlns="http://schemas.openxmlformats.org/package/2006/relationships"><Relationship Id="rId3" Type="http://schemas.microsoft.com/office/2018/10/relationships/comments" Target="../comments/modernComment_167_15452C78.xml"/><Relationship Id="rId2" Type="http://schemas.openxmlformats.org/officeDocument/2006/relationships/notesSlide" Target="../notesSlides/notesSlide97.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3" Type="http://schemas.openxmlformats.org/officeDocument/2006/relationships/hyperlink" Target="https://lenovo.sharepoint.com/:p:/s/SSG/IQB2fPsIybAFS40WdYenmRleAaiUfFRjyzZh5jrEpue3U94?e=ZAKHoC" TargetMode="External"/><Relationship Id="rId2" Type="http://schemas.openxmlformats.org/officeDocument/2006/relationships/notesSlide" Target="../notesSlides/notesSlide98.xml"/><Relationship Id="rId1" Type="http://schemas.openxmlformats.org/officeDocument/2006/relationships/slideLayout" Target="../slideLayouts/slideLayout1.xml"/><Relationship Id="rId5" Type="http://schemas.openxmlformats.org/officeDocument/2006/relationships/hyperlink" Target="https://lenovo.sharepoint.com/:p:/r/sites/S4DiscoveryProject/_layouts/15/Doc.aspx?sourcedoc=%7B99837476-32C6-4B76-9247-122495A06B9E%7D&amp;file=NexBill%20E2E%20BSR.pptx&amp;action=edit&amp;mobileredirect=true" TargetMode="External"/><Relationship Id="rId4" Type="http://schemas.openxmlformats.org/officeDocument/2006/relationships/image" Target="../media/image55.png"/></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5.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6.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2" Type="http://schemas.microsoft.com/office/2018/10/relationships/comments" Target="../comments/modernComment_15C_B436B5B1.xml"/><Relationship Id="rId1" Type="http://schemas.openxmlformats.org/officeDocument/2006/relationships/slideLayout" Target="../slideLayouts/slideLayout6.xml"/></Relationships>
</file>

<file path=ppt/slides/_rels/slide140.xml.rels><?xml version="1.0" encoding="UTF-8" standalone="yes"?>
<Relationships xmlns="http://schemas.openxmlformats.org/package/2006/relationships"><Relationship Id="rId3" Type="http://schemas.openxmlformats.org/officeDocument/2006/relationships/hyperlink" Target="https://lenovo.sharepoint.com/:p:/r/sites/S4DiscoveryProject/_layouts/15/Doc.aspx?sourcedoc=%7BADCEBEE9-C53E-471D-8F31-C7C5A8493281%7D&amp;file=EaaS%20Accounting%20%26%20Finance%20Extension%20with%20Option%20BSR_20250328%20for%20contractual.pptx&amp;action=edit&amp;mobileredirect=true" TargetMode="External"/><Relationship Id="rId2" Type="http://schemas.openxmlformats.org/officeDocument/2006/relationships/notesSlide" Target="../notesSlides/notesSlide108.xml"/><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6.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11.xml"/><Relationship Id="rId1" Type="http://schemas.openxmlformats.org/officeDocument/2006/relationships/slideLayout" Target="../slideLayouts/slideLayout15.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5.xml"/></Relationships>
</file>

<file path=ppt/slides/_rels/slide145.xml.rels><?xml version="1.0" encoding="UTF-8" standalone="yes"?>
<Relationships xmlns="http://schemas.openxmlformats.org/package/2006/relationships"><Relationship Id="rId3" Type="http://schemas.openxmlformats.org/officeDocument/2006/relationships/hyperlink" Target="https://lenovo.sharepoint.com/:p:/r/sites/S4DiscoveryProject/_layouts/15/Doc.aspx?sourcedoc=%7B99837476-32C6-4B76-9247-122495A06B9E%7D&amp;file=NexBill%20E2E%20BSR.pptx&amp;action=edit&amp;mobileredirect=true" TargetMode="External"/><Relationship Id="rId2" Type="http://schemas.openxmlformats.org/officeDocument/2006/relationships/notesSlide" Target="../notesSlides/notesSlide113.xml"/><Relationship Id="rId1" Type="http://schemas.openxmlformats.org/officeDocument/2006/relationships/slideLayout" Target="../slideLayouts/slideLayout160.xml"/></Relationships>
</file>

<file path=ppt/slides/_rels/slide14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114.xml"/><Relationship Id="rId1" Type="http://schemas.openxmlformats.org/officeDocument/2006/relationships/slideLayout" Target="../slideLayouts/slideLayout160.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60.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60.xml"/></Relationships>
</file>

<file path=ppt/slides/_rels/slide14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17.xml"/><Relationship Id="rId1" Type="http://schemas.openxmlformats.org/officeDocument/2006/relationships/slideLayout" Target="../slideLayouts/slideLayout160.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308.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60.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60.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160.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160.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60.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60.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60.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35.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35.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35.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35.xml"/></Relationships>
</file>

<file path=ppt/slides/_rels/slide162.xml.rels><?xml version="1.0" encoding="UTF-8" standalone="yes"?>
<Relationships xmlns="http://schemas.openxmlformats.org/package/2006/relationships"><Relationship Id="rId3" Type="http://schemas.microsoft.com/office/2018/10/relationships/comments" Target="../comments/modernComment_12A_8709227F.xml"/><Relationship Id="rId2" Type="http://schemas.openxmlformats.org/officeDocument/2006/relationships/notesSlide" Target="../notesSlides/notesSlide129.xml"/><Relationship Id="rId1" Type="http://schemas.openxmlformats.org/officeDocument/2006/relationships/slideLayout" Target="../slideLayouts/slideLayout135.xml"/></Relationships>
</file>

<file path=ppt/slides/_rels/slide163.xml.rels><?xml version="1.0" encoding="UTF-8" standalone="yes"?>
<Relationships xmlns="http://schemas.openxmlformats.org/package/2006/relationships"><Relationship Id="rId3" Type="http://schemas.microsoft.com/office/2018/10/relationships/comments" Target="../comments/modernComment_16D_98868F86.xml"/><Relationship Id="rId2" Type="http://schemas.openxmlformats.org/officeDocument/2006/relationships/notesSlide" Target="../notesSlides/notesSlide130.xml"/><Relationship Id="rId1" Type="http://schemas.openxmlformats.org/officeDocument/2006/relationships/slideLayout" Target="../slideLayouts/slideLayout135.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35.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35.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5.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35.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15.xml"/></Relationships>
</file>

<file path=ppt/slides/_rels/slide169.xml.rels><?xml version="1.0" encoding="UTF-8" standalone="yes"?>
<Relationships xmlns="http://schemas.openxmlformats.org/package/2006/relationships"><Relationship Id="rId3" Type="http://schemas.openxmlformats.org/officeDocument/2006/relationships/notesSlide" Target="../notesSlides/notesSlide135.xml"/><Relationship Id="rId2" Type="http://schemas.openxmlformats.org/officeDocument/2006/relationships/slideLayout" Target="../slideLayouts/slideLayout17.xml"/><Relationship Id="rId1" Type="http://schemas.openxmlformats.org/officeDocument/2006/relationships/tags" Target="../tags/tag96.xml"/><Relationship Id="rId5" Type="http://schemas.openxmlformats.org/officeDocument/2006/relationships/image" Target="../media/image28.emf"/><Relationship Id="rId4" Type="http://schemas.openxmlformats.org/officeDocument/2006/relationships/oleObject" Target="../embeddings/oleObject17.bin"/></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6.xml"/></Relationships>
</file>

<file path=ppt/slides/_rels/slide175.xml.rels><?xml version="1.0" encoding="UTF-8" standalone="yes"?>
<Relationships xmlns="http://schemas.openxmlformats.org/package/2006/relationships"><Relationship Id="rId3" Type="http://schemas.openxmlformats.org/officeDocument/2006/relationships/image" Target="../media/image59.emf"/><Relationship Id="rId2" Type="http://schemas.openxmlformats.org/officeDocument/2006/relationships/package" Target="../embeddings/Microsoft_Excel_Worksheet_16BC024E.xlsx"/><Relationship Id="rId1" Type="http://schemas.openxmlformats.org/officeDocument/2006/relationships/slideLayout" Target="../slideLayouts/slideLayout6.xml"/><Relationship Id="rId4" Type="http://schemas.openxmlformats.org/officeDocument/2006/relationships/image" Target="../media/image60.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3" Type="http://schemas.openxmlformats.org/officeDocument/2006/relationships/slide" Target="slide15.xml"/><Relationship Id="rId2" Type="http://schemas.openxmlformats.org/officeDocument/2006/relationships/notesSlide" Target="../notesSlides/notesSlide141.xml"/><Relationship Id="rId1" Type="http://schemas.openxmlformats.org/officeDocument/2006/relationships/slideLayout" Target="../slideLayouts/slideLayout14.xml"/><Relationship Id="rId4" Type="http://schemas.openxmlformats.org/officeDocument/2006/relationships/image" Target="../media/image31.svg"/></Relationships>
</file>

<file path=ppt/slides/_rels/slide178.xml.rels><?xml version="1.0" encoding="UTF-8" standalone="yes"?>
<Relationships xmlns="http://schemas.openxmlformats.org/package/2006/relationships"><Relationship Id="rId3" Type="http://schemas.openxmlformats.org/officeDocument/2006/relationships/slideLayout" Target="../slideLayouts/slideLayout313.xml"/><Relationship Id="rId2" Type="http://schemas.openxmlformats.org/officeDocument/2006/relationships/tags" Target="../tags/tag98.xml"/><Relationship Id="rId1" Type="http://schemas.openxmlformats.org/officeDocument/2006/relationships/tags" Target="../tags/tag97.xml"/><Relationship Id="rId5" Type="http://schemas.openxmlformats.org/officeDocument/2006/relationships/image" Target="../media/image61.emf"/><Relationship Id="rId4" Type="http://schemas.openxmlformats.org/officeDocument/2006/relationships/oleObject" Target="../embeddings/oleObject18.bin"/></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327.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314.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14.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14.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14.xml"/></Relationships>
</file>

<file path=ppt/slides/_rels/slide184.xml.rels><?xml version="1.0" encoding="UTF-8" standalone="yes"?>
<Relationships xmlns="http://schemas.openxmlformats.org/package/2006/relationships"><Relationship Id="rId3" Type="http://schemas.openxmlformats.org/officeDocument/2006/relationships/slideLayout" Target="../slideLayouts/slideLayout313.xml"/><Relationship Id="rId2" Type="http://schemas.openxmlformats.org/officeDocument/2006/relationships/tags" Target="../tags/tag100.xml"/><Relationship Id="rId1" Type="http://schemas.openxmlformats.org/officeDocument/2006/relationships/tags" Target="../tags/tag99.xml"/><Relationship Id="rId5" Type="http://schemas.openxmlformats.org/officeDocument/2006/relationships/image" Target="../media/image61.emf"/><Relationship Id="rId4" Type="http://schemas.openxmlformats.org/officeDocument/2006/relationships/oleObject" Target="../embeddings/oleObject18.bin"/></Relationships>
</file>

<file path=ppt/slides/_rels/slide185.xml.rels><?xml version="1.0" encoding="UTF-8" standalone="yes"?>
<Relationships xmlns="http://schemas.openxmlformats.org/package/2006/relationships"><Relationship Id="rId3" Type="http://schemas.openxmlformats.org/officeDocument/2006/relationships/slideLayout" Target="../slideLayouts/slideLayout313.xml"/><Relationship Id="rId2" Type="http://schemas.openxmlformats.org/officeDocument/2006/relationships/tags" Target="../tags/tag102.xml"/><Relationship Id="rId1" Type="http://schemas.openxmlformats.org/officeDocument/2006/relationships/tags" Target="../tags/tag101.xml"/><Relationship Id="rId5" Type="http://schemas.openxmlformats.org/officeDocument/2006/relationships/image" Target="../media/image61.emf"/><Relationship Id="rId4" Type="http://schemas.openxmlformats.org/officeDocument/2006/relationships/oleObject" Target="../embeddings/oleObject18.bin"/></Relationships>
</file>

<file path=ppt/slides/_rels/slide186.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Layout" Target="../slideLayouts/slideLayout82.xml"/><Relationship Id="rId1" Type="http://schemas.openxmlformats.org/officeDocument/2006/relationships/tags" Target="../tags/tag103.xml"/><Relationship Id="rId4" Type="http://schemas.openxmlformats.org/officeDocument/2006/relationships/image" Target="../media/image62.emf"/></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oleObject" Target="../embeddings/oleObject20.bin"/><Relationship Id="rId2" Type="http://schemas.openxmlformats.org/officeDocument/2006/relationships/slideLayout" Target="../slideLayouts/slideLayout57.xml"/><Relationship Id="rId1" Type="http://schemas.openxmlformats.org/officeDocument/2006/relationships/tags" Target="../tags/tag104.xml"/><Relationship Id="rId4" Type="http://schemas.openxmlformats.org/officeDocument/2006/relationships/image" Target="../media/image62.emf"/></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1.xml.rels><?xml version="1.0" encoding="UTF-8" standalone="yes"?>
<Relationships xmlns="http://schemas.openxmlformats.org/package/2006/relationships"><Relationship Id="rId3" Type="http://schemas.openxmlformats.org/officeDocument/2006/relationships/notesSlide" Target="../notesSlides/notesSlide148.xml"/><Relationship Id="rId2" Type="http://schemas.openxmlformats.org/officeDocument/2006/relationships/slideLayout" Target="../slideLayouts/slideLayout16.xml"/><Relationship Id="rId1" Type="http://schemas.openxmlformats.org/officeDocument/2006/relationships/tags" Target="../tags/tag105.xml"/></Relationships>
</file>

<file path=ppt/slides/_rels/slide19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16.xml"/></Relationships>
</file>

<file path=ppt/slides/_rels/slide19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16.xml"/></Relationships>
</file>

<file path=ppt/slides/_rels/slide19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16.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1.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F3D5DB-AB49-8590-9514-5C933ADF1900}"/>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AD219DAD-4FF9-F931-653F-B95BB70E9848}"/>
              </a:ext>
            </a:extLst>
          </p:cNvPr>
          <p:cNvSpPr>
            <a:spLocks noGrp="1"/>
          </p:cNvSpPr>
          <p:nvPr>
            <p:ph type="title"/>
          </p:nvPr>
        </p:nvSpPr>
        <p:spPr/>
        <p:txBody>
          <a:bodyPr/>
          <a:lstStyle/>
          <a:p>
            <a:r>
              <a:rPr lang="en-US" sz="5800">
                <a:solidFill>
                  <a:prstClr val="white"/>
                </a:solidFill>
              </a:rPr>
              <a:t>Nexbill F&amp;A BSR</a:t>
            </a:r>
            <a:endParaRPr lang="en-US"/>
          </a:p>
        </p:txBody>
      </p:sp>
      <p:pic>
        <p:nvPicPr>
          <p:cNvPr id="2" name="Graphic 1" descr="Airplane with solid fill">
            <a:hlinkClick r:id="rId3" action="ppaction://hlinksldjump"/>
            <a:extLst>
              <a:ext uri="{FF2B5EF4-FFF2-40B4-BE49-F238E27FC236}">
                <a16:creationId xmlns:a16="http://schemas.microsoft.com/office/drawing/2014/main" id="{2D3DF332-1677-F87D-1733-FA81831143E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1792035" y="-9529"/>
            <a:ext cx="457705" cy="457705"/>
          </a:xfrm>
          <a:prstGeom prst="rect">
            <a:avLst/>
          </a:prstGeom>
        </p:spPr>
      </p:pic>
    </p:spTree>
    <p:extLst>
      <p:ext uri="{BB962C8B-B14F-4D97-AF65-F5344CB8AC3E}">
        <p14:creationId xmlns:p14="http://schemas.microsoft.com/office/powerpoint/2010/main" val="2872198933"/>
      </p:ext>
    </p:extLst>
  </p:cSld>
  <p:clrMapOvr>
    <a:masterClrMapping/>
  </p:clrMapOvr>
  <p:transition spd="med"/>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1E139AB3-20B7-0A7C-8241-56B30F8D886C}"/>
              </a:ext>
            </a:extLst>
          </p:cNvPr>
          <p:cNvGraphicFramePr>
            <a:graphicFrameLocks noChangeAspect="1"/>
          </p:cNvGraphicFramePr>
          <p:nvPr>
            <p:custDataLst>
              <p:tags r:id="rId1"/>
            </p:custDataLst>
          </p:nvPr>
        </p:nvGraphicFramePr>
        <p:xfrm>
          <a:off x="4762" y="2480"/>
          <a:ext cx="1588" cy="1588"/>
        </p:xfrm>
        <a:graphic>
          <a:graphicData uri="http://schemas.openxmlformats.org/presentationml/2006/ole">
            <mc:AlternateContent xmlns:mc="http://schemas.openxmlformats.org/markup-compatibility/2006">
              <mc:Choice xmlns:v="urn:schemas-microsoft-com:vml" Requires="v">
                <p:oleObj name="think-cell Slide" r:id="rId3" imgW="456" imgH="456" progId="TCLayout.ActiveDocument.1">
                  <p:embed/>
                </p:oleObj>
              </mc:Choice>
              <mc:Fallback>
                <p:oleObj name="think-cell Slide" r:id="rId3" imgW="456" imgH="456" progId="TCLayout.ActiveDocument.1">
                  <p:embed/>
                  <p:pic>
                    <p:nvPicPr>
                      <p:cNvPr id="5" name="think-cell data - do not delete" hidden="1">
                        <a:extLst>
                          <a:ext uri="{FF2B5EF4-FFF2-40B4-BE49-F238E27FC236}">
                            <a16:creationId xmlns:a16="http://schemas.microsoft.com/office/drawing/2014/main" id="{1E139AB3-20B7-0A7C-8241-56B30F8D886C}"/>
                          </a:ext>
                        </a:extLst>
                      </p:cNvPr>
                      <p:cNvPicPr/>
                      <p:nvPr/>
                    </p:nvPicPr>
                    <p:blipFill>
                      <a:blip r:embed="rId4"/>
                      <a:stretch>
                        <a:fillRect/>
                      </a:stretch>
                    </p:blipFill>
                    <p:spPr>
                      <a:xfrm>
                        <a:off x="4762" y="2480"/>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CCFB7206-EE84-E04B-885D-25DE5E4CF02C}"/>
              </a:ext>
            </a:extLst>
          </p:cNvPr>
          <p:cNvSpPr>
            <a:spLocks noGrp="1"/>
          </p:cNvSpPr>
          <p:nvPr>
            <p:ph type="title"/>
          </p:nvPr>
        </p:nvSpPr>
        <p:spPr>
          <a:xfrm>
            <a:off x="320734" y="282276"/>
            <a:ext cx="10668269" cy="418467"/>
          </a:xfrm>
        </p:spPr>
        <p:txBody>
          <a:bodyPr vert="horz">
            <a:normAutofit/>
          </a:bodyPr>
          <a:lstStyle/>
          <a:p>
            <a:r>
              <a:rPr lang="en-US" altLang="zh-CN">
                <a:latin typeface="Arial"/>
                <a:ea typeface="黑体"/>
                <a:cs typeface="Arial"/>
              </a:rPr>
              <a:t>NexBill Project Wave I &amp; II Roadmap</a:t>
            </a:r>
            <a:endParaRPr lang="zh-CN" altLang="en-US">
              <a:latin typeface="Arial"/>
              <a:ea typeface="黑体"/>
              <a:cs typeface="Arial"/>
            </a:endParaRPr>
          </a:p>
        </p:txBody>
      </p:sp>
      <p:sp>
        <p:nvSpPr>
          <p:cNvPr id="4" name="Slide Number Placeholder 3">
            <a:extLst>
              <a:ext uri="{FF2B5EF4-FFF2-40B4-BE49-F238E27FC236}">
                <a16:creationId xmlns:a16="http://schemas.microsoft.com/office/drawing/2014/main" id="{015C1D05-976F-3C70-0A20-62E738477F29}"/>
              </a:ext>
            </a:extLst>
          </p:cNvPr>
          <p:cNvSpPr>
            <a:spLocks noGrp="1"/>
          </p:cNvSpPr>
          <p:nvPr>
            <p:ph type="sldNum" sz="quarter" idx="10"/>
          </p:nvPr>
        </p:nvSpPr>
        <p:spPr>
          <a:xfrm>
            <a:off x="11752176" y="6587238"/>
            <a:ext cx="438798" cy="155408"/>
          </a:xfrm>
        </p:spPr>
        <p:txBody>
          <a:bodyPr/>
          <a:lstStyle/>
          <a:p>
            <a:pPr defTabSz="1218621">
              <a:defRPr/>
            </a:pPr>
            <a:fld id="{6D22F896-40B5-4ADD-8801-0D06FADFA095}" type="slidenum">
              <a:rPr lang="en-US">
                <a:solidFill>
                  <a:srgbClr val="000000"/>
                </a:solidFill>
              </a:rPr>
              <a:pPr defTabSz="1218621">
                <a:defRPr/>
              </a:pPr>
              <a:t>2</a:t>
            </a:fld>
            <a:endParaRPr lang="en-US">
              <a:solidFill>
                <a:srgbClr val="000000"/>
              </a:solidFill>
            </a:endParaRPr>
          </a:p>
        </p:txBody>
      </p:sp>
      <p:grpSp>
        <p:nvGrpSpPr>
          <p:cNvPr id="21" name="Group 20">
            <a:extLst>
              <a:ext uri="{FF2B5EF4-FFF2-40B4-BE49-F238E27FC236}">
                <a16:creationId xmlns:a16="http://schemas.microsoft.com/office/drawing/2014/main" id="{C6B0040B-2F5A-E282-D135-67A3D75907E5}"/>
              </a:ext>
            </a:extLst>
          </p:cNvPr>
          <p:cNvGrpSpPr/>
          <p:nvPr/>
        </p:nvGrpSpPr>
        <p:grpSpPr>
          <a:xfrm>
            <a:off x="3667518" y="1608881"/>
            <a:ext cx="227715" cy="1930781"/>
            <a:chOff x="2825829" y="1734530"/>
            <a:chExt cx="227715" cy="2254149"/>
          </a:xfrm>
        </p:grpSpPr>
        <p:cxnSp>
          <p:nvCxnSpPr>
            <p:cNvPr id="18" name="Straight Connector 17">
              <a:extLst>
                <a:ext uri="{FF2B5EF4-FFF2-40B4-BE49-F238E27FC236}">
                  <a16:creationId xmlns:a16="http://schemas.microsoft.com/office/drawing/2014/main" id="{B9636DA3-6D25-4531-A076-0DCA79492583}"/>
                </a:ext>
              </a:extLst>
            </p:cNvPr>
            <p:cNvCxnSpPr>
              <a:cxnSpLocks/>
            </p:cNvCxnSpPr>
            <p:nvPr/>
          </p:nvCxnSpPr>
          <p:spPr>
            <a:xfrm>
              <a:off x="2939687" y="1866507"/>
              <a:ext cx="0" cy="2122172"/>
            </a:xfrm>
            <a:prstGeom prst="line">
              <a:avLst/>
            </a:prstGeom>
            <a:ln w="15875">
              <a:solidFill>
                <a:schemeClr val="tx1"/>
              </a:solidFill>
              <a:miter lim="800000"/>
            </a:ln>
          </p:spPr>
          <p:style>
            <a:lnRef idx="1">
              <a:schemeClr val="accent1"/>
            </a:lnRef>
            <a:fillRef idx="0">
              <a:schemeClr val="accent1"/>
            </a:fillRef>
            <a:effectRef idx="0">
              <a:schemeClr val="accent1"/>
            </a:effectRef>
            <a:fontRef idx="minor">
              <a:schemeClr val="tx1"/>
            </a:fontRef>
          </p:style>
        </p:cxnSp>
        <p:sp>
          <p:nvSpPr>
            <p:cNvPr id="20" name="Oval 19">
              <a:extLst>
                <a:ext uri="{FF2B5EF4-FFF2-40B4-BE49-F238E27FC236}">
                  <a16:creationId xmlns:a16="http://schemas.microsoft.com/office/drawing/2014/main" id="{C5332580-FDC9-5398-ECCE-1D9734C76756}"/>
                </a:ext>
              </a:extLst>
            </p:cNvPr>
            <p:cNvSpPr/>
            <p:nvPr/>
          </p:nvSpPr>
          <p:spPr>
            <a:xfrm>
              <a:off x="2825829" y="1734530"/>
              <a:ext cx="227715" cy="23567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defTabSz="1218621">
                <a:defRPr/>
              </a:pPr>
              <a:endParaRPr lang="en-US" sz="1600" err="1">
                <a:solidFill>
                  <a:prstClr val="white"/>
                </a:solidFill>
                <a:latin typeface="Arial"/>
              </a:endParaRPr>
            </a:p>
          </p:txBody>
        </p:sp>
      </p:grpSp>
      <p:sp>
        <p:nvSpPr>
          <p:cNvPr id="22" name="TextBox 21">
            <a:extLst>
              <a:ext uri="{FF2B5EF4-FFF2-40B4-BE49-F238E27FC236}">
                <a16:creationId xmlns:a16="http://schemas.microsoft.com/office/drawing/2014/main" id="{A8EC1364-D4EC-FEEC-D1E8-962A2C992DA4}"/>
              </a:ext>
            </a:extLst>
          </p:cNvPr>
          <p:cNvSpPr txBox="1"/>
          <p:nvPr/>
        </p:nvSpPr>
        <p:spPr>
          <a:xfrm>
            <a:off x="3050432" y="1257634"/>
            <a:ext cx="1232709" cy="338466"/>
          </a:xfrm>
          <a:prstGeom prst="rect">
            <a:avLst/>
          </a:prstGeom>
          <a:noFill/>
        </p:spPr>
        <p:txBody>
          <a:bodyPr wrap="square" rtlCol="0">
            <a:spAutoFit/>
          </a:bodyPr>
          <a:lstStyle/>
          <a:p>
            <a:pPr defTabSz="1218621">
              <a:defRPr/>
            </a:pPr>
            <a:r>
              <a:rPr lang="en-US" sz="1600" b="1">
                <a:solidFill>
                  <a:srgbClr val="000000"/>
                </a:solidFill>
                <a:latin typeface="Arial" pitchFamily="34" charset="0"/>
                <a:cs typeface="Arial" pitchFamily="34" charset="0"/>
              </a:rPr>
              <a:t>Q3 FY2627</a:t>
            </a:r>
          </a:p>
        </p:txBody>
      </p:sp>
      <p:grpSp>
        <p:nvGrpSpPr>
          <p:cNvPr id="23" name="Group 22">
            <a:extLst>
              <a:ext uri="{FF2B5EF4-FFF2-40B4-BE49-F238E27FC236}">
                <a16:creationId xmlns:a16="http://schemas.microsoft.com/office/drawing/2014/main" id="{7F778A0E-C6C4-DE62-BEB6-201A210F7593}"/>
              </a:ext>
            </a:extLst>
          </p:cNvPr>
          <p:cNvGrpSpPr/>
          <p:nvPr/>
        </p:nvGrpSpPr>
        <p:grpSpPr>
          <a:xfrm>
            <a:off x="204462" y="2218807"/>
            <a:ext cx="227715" cy="1930781"/>
            <a:chOff x="2825829" y="1734530"/>
            <a:chExt cx="227715" cy="2254149"/>
          </a:xfrm>
        </p:grpSpPr>
        <p:cxnSp>
          <p:nvCxnSpPr>
            <p:cNvPr id="24" name="Straight Connector 23">
              <a:extLst>
                <a:ext uri="{FF2B5EF4-FFF2-40B4-BE49-F238E27FC236}">
                  <a16:creationId xmlns:a16="http://schemas.microsoft.com/office/drawing/2014/main" id="{D9C918D3-6F33-199B-27FC-CBF17AA60C26}"/>
                </a:ext>
              </a:extLst>
            </p:cNvPr>
            <p:cNvCxnSpPr>
              <a:cxnSpLocks/>
            </p:cNvCxnSpPr>
            <p:nvPr/>
          </p:nvCxnSpPr>
          <p:spPr>
            <a:xfrm>
              <a:off x="2939687" y="1866507"/>
              <a:ext cx="0" cy="2122172"/>
            </a:xfrm>
            <a:prstGeom prst="line">
              <a:avLst/>
            </a:prstGeom>
            <a:ln w="15875">
              <a:solidFill>
                <a:schemeClr val="tx1"/>
              </a:solidFill>
              <a:miter lim="800000"/>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2CBDBCEE-B0F0-516D-E8A6-E6290B956C61}"/>
                </a:ext>
              </a:extLst>
            </p:cNvPr>
            <p:cNvSpPr/>
            <p:nvPr/>
          </p:nvSpPr>
          <p:spPr>
            <a:xfrm>
              <a:off x="2825829" y="1734530"/>
              <a:ext cx="227715" cy="23567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defTabSz="1218621">
                <a:defRPr/>
              </a:pPr>
              <a:endParaRPr lang="en-US" sz="1600" err="1">
                <a:solidFill>
                  <a:prstClr val="white"/>
                </a:solidFill>
                <a:latin typeface="Arial"/>
              </a:endParaRPr>
            </a:p>
          </p:txBody>
        </p:sp>
      </p:grpSp>
      <p:sp>
        <p:nvSpPr>
          <p:cNvPr id="26" name="TextBox 25">
            <a:extLst>
              <a:ext uri="{FF2B5EF4-FFF2-40B4-BE49-F238E27FC236}">
                <a16:creationId xmlns:a16="http://schemas.microsoft.com/office/drawing/2014/main" id="{79B873CE-E205-4010-95E1-0C3DB8B5F4CA}"/>
              </a:ext>
            </a:extLst>
          </p:cNvPr>
          <p:cNvSpPr txBox="1"/>
          <p:nvPr/>
        </p:nvSpPr>
        <p:spPr>
          <a:xfrm>
            <a:off x="0" y="1894346"/>
            <a:ext cx="900974" cy="338466"/>
          </a:xfrm>
          <a:prstGeom prst="rect">
            <a:avLst/>
          </a:prstGeom>
          <a:noFill/>
        </p:spPr>
        <p:txBody>
          <a:bodyPr wrap="square" rtlCol="0">
            <a:spAutoFit/>
          </a:bodyPr>
          <a:lstStyle/>
          <a:p>
            <a:pPr defTabSz="1218621">
              <a:defRPr/>
            </a:pPr>
            <a:r>
              <a:rPr lang="en-US" sz="1600" b="1">
                <a:solidFill>
                  <a:srgbClr val="000000"/>
                </a:solidFill>
                <a:latin typeface="Arial" pitchFamily="34" charset="0"/>
                <a:cs typeface="Arial" pitchFamily="34" charset="0"/>
              </a:rPr>
              <a:t>FY2526</a:t>
            </a:r>
          </a:p>
        </p:txBody>
      </p:sp>
      <p:sp>
        <p:nvSpPr>
          <p:cNvPr id="29" name="TextBox 28">
            <a:extLst>
              <a:ext uri="{FF2B5EF4-FFF2-40B4-BE49-F238E27FC236}">
                <a16:creationId xmlns:a16="http://schemas.microsoft.com/office/drawing/2014/main" id="{6E87B150-2084-783E-D15B-2F52104FFBA7}"/>
              </a:ext>
            </a:extLst>
          </p:cNvPr>
          <p:cNvSpPr txBox="1"/>
          <p:nvPr/>
        </p:nvSpPr>
        <p:spPr>
          <a:xfrm>
            <a:off x="4072314" y="2051276"/>
            <a:ext cx="2981867" cy="1323094"/>
          </a:xfrm>
          <a:prstGeom prst="rect">
            <a:avLst/>
          </a:prstGeom>
          <a:noFill/>
        </p:spPr>
        <p:txBody>
          <a:bodyPr wrap="square">
            <a:spAutoFit/>
          </a:bodyPr>
          <a:lstStyle/>
          <a:p>
            <a:pPr marL="171399" indent="-171399" defTabSz="1218255">
              <a:buFont typeface="Arial" panose="020B0604020202020204" pitchFamily="34" charset="0"/>
              <a:buChar char="•"/>
              <a:defRPr/>
            </a:pPr>
            <a:r>
              <a:rPr lang="en-US" sz="1000">
                <a:solidFill>
                  <a:srgbClr val="000000"/>
                </a:solidFill>
                <a:latin typeface="Arial"/>
              </a:rPr>
              <a:t>Implement a holistic invoicing solution encompassing 88 functionalities and migrate NA data from the BRIM system to NexBill to meet NA compliance requirements by Dec ’26, with ROW migration to follow.</a:t>
            </a:r>
          </a:p>
          <a:p>
            <a:pPr defTabSz="1218255">
              <a:defRPr/>
            </a:pPr>
            <a:endParaRPr lang="en-US" sz="1000">
              <a:solidFill>
                <a:srgbClr val="000000"/>
              </a:solidFill>
              <a:latin typeface="Arial"/>
            </a:endParaRPr>
          </a:p>
          <a:p>
            <a:pPr marL="171399" indent="-171399" defTabSz="1218255">
              <a:buFont typeface="Arial" panose="020B0604020202020204" pitchFamily="34" charset="0"/>
              <a:buChar char="•"/>
              <a:defRPr/>
            </a:pPr>
            <a:r>
              <a:rPr lang="en-US" sz="1000">
                <a:solidFill>
                  <a:srgbClr val="000000"/>
                </a:solidFill>
                <a:latin typeface="Arial"/>
              </a:rPr>
              <a:t>Cease the use of BRIM as an invoicing tool for NA</a:t>
            </a:r>
          </a:p>
        </p:txBody>
      </p:sp>
      <p:grpSp>
        <p:nvGrpSpPr>
          <p:cNvPr id="30" name="Group 29">
            <a:extLst>
              <a:ext uri="{FF2B5EF4-FFF2-40B4-BE49-F238E27FC236}">
                <a16:creationId xmlns:a16="http://schemas.microsoft.com/office/drawing/2014/main" id="{9C409B45-143E-05B3-907E-2260B4E06536}"/>
              </a:ext>
            </a:extLst>
          </p:cNvPr>
          <p:cNvGrpSpPr/>
          <p:nvPr/>
        </p:nvGrpSpPr>
        <p:grpSpPr>
          <a:xfrm>
            <a:off x="7134002" y="938563"/>
            <a:ext cx="227715" cy="1930781"/>
            <a:chOff x="2825829" y="1734530"/>
            <a:chExt cx="227715" cy="2254149"/>
          </a:xfrm>
        </p:grpSpPr>
        <p:cxnSp>
          <p:nvCxnSpPr>
            <p:cNvPr id="31" name="Straight Connector 30">
              <a:extLst>
                <a:ext uri="{FF2B5EF4-FFF2-40B4-BE49-F238E27FC236}">
                  <a16:creationId xmlns:a16="http://schemas.microsoft.com/office/drawing/2014/main" id="{35CF0139-E3EA-060D-946D-5252175CC215}"/>
                </a:ext>
              </a:extLst>
            </p:cNvPr>
            <p:cNvCxnSpPr>
              <a:cxnSpLocks/>
            </p:cNvCxnSpPr>
            <p:nvPr/>
          </p:nvCxnSpPr>
          <p:spPr>
            <a:xfrm>
              <a:off x="2939687" y="1866507"/>
              <a:ext cx="0" cy="2122172"/>
            </a:xfrm>
            <a:prstGeom prst="line">
              <a:avLst/>
            </a:prstGeom>
            <a:ln w="15875">
              <a:solidFill>
                <a:schemeClr val="tx1"/>
              </a:solidFill>
              <a:miter lim="800000"/>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450F1C72-0AA7-9119-8363-5CF04C3B9231}"/>
                </a:ext>
              </a:extLst>
            </p:cNvPr>
            <p:cNvSpPr/>
            <p:nvPr/>
          </p:nvSpPr>
          <p:spPr>
            <a:xfrm>
              <a:off x="2825829" y="1734530"/>
              <a:ext cx="227715" cy="23567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defTabSz="1218621">
                <a:defRPr/>
              </a:pPr>
              <a:endParaRPr lang="en-US" sz="1600" err="1">
                <a:solidFill>
                  <a:prstClr val="white"/>
                </a:solidFill>
                <a:latin typeface="Arial"/>
              </a:endParaRPr>
            </a:p>
          </p:txBody>
        </p:sp>
      </p:grpSp>
      <p:sp>
        <p:nvSpPr>
          <p:cNvPr id="33" name="TextBox 32">
            <a:extLst>
              <a:ext uri="{FF2B5EF4-FFF2-40B4-BE49-F238E27FC236}">
                <a16:creationId xmlns:a16="http://schemas.microsoft.com/office/drawing/2014/main" id="{B87AA2F5-C676-9837-9FD5-F2C5F39437AA}"/>
              </a:ext>
            </a:extLst>
          </p:cNvPr>
          <p:cNvSpPr txBox="1"/>
          <p:nvPr/>
        </p:nvSpPr>
        <p:spPr>
          <a:xfrm>
            <a:off x="6790714" y="560294"/>
            <a:ext cx="1232709" cy="338466"/>
          </a:xfrm>
          <a:prstGeom prst="rect">
            <a:avLst/>
          </a:prstGeom>
          <a:noFill/>
        </p:spPr>
        <p:txBody>
          <a:bodyPr wrap="square" rtlCol="0">
            <a:spAutoFit/>
          </a:bodyPr>
          <a:lstStyle/>
          <a:p>
            <a:pPr defTabSz="1218621">
              <a:defRPr/>
            </a:pPr>
            <a:r>
              <a:rPr lang="en-US" sz="1600" b="1">
                <a:solidFill>
                  <a:srgbClr val="000000"/>
                </a:solidFill>
                <a:latin typeface="Arial" pitchFamily="34" charset="0"/>
                <a:cs typeface="Arial" pitchFamily="34" charset="0"/>
              </a:rPr>
              <a:t>Q4 FY2627</a:t>
            </a:r>
          </a:p>
        </p:txBody>
      </p:sp>
      <p:sp>
        <p:nvSpPr>
          <p:cNvPr id="38" name="TextBox 37">
            <a:extLst>
              <a:ext uri="{FF2B5EF4-FFF2-40B4-BE49-F238E27FC236}">
                <a16:creationId xmlns:a16="http://schemas.microsoft.com/office/drawing/2014/main" id="{55AB1FAA-DE5D-72F9-1593-9E0C87D63A6A}"/>
              </a:ext>
            </a:extLst>
          </p:cNvPr>
          <p:cNvSpPr txBox="1"/>
          <p:nvPr/>
        </p:nvSpPr>
        <p:spPr>
          <a:xfrm>
            <a:off x="7531386" y="1153750"/>
            <a:ext cx="3174674" cy="1569251"/>
          </a:xfrm>
          <a:prstGeom prst="rect">
            <a:avLst/>
          </a:prstGeom>
          <a:noFill/>
        </p:spPr>
        <p:txBody>
          <a:bodyPr wrap="square" rtlCol="0">
            <a:spAutoFit/>
          </a:bodyPr>
          <a:lstStyle/>
          <a:p>
            <a:pPr marL="171399" indent="-171399" defTabSz="1218255">
              <a:buFont typeface="Arial" panose="020B0604020202020204" pitchFamily="34" charset="0"/>
              <a:buChar char="•"/>
              <a:defRPr/>
            </a:pPr>
            <a:r>
              <a:rPr lang="en-US" sz="1200">
                <a:solidFill>
                  <a:srgbClr val="000000"/>
                </a:solidFill>
                <a:latin typeface="Arial"/>
              </a:rPr>
              <a:t>Implement an enhanced invoicing solution encompassing 88 functionalities, migrate data from the BRIM system to NexBill, and establish readiness to meet future data compliance requirements for EMEA and AP by March ’27</a:t>
            </a:r>
          </a:p>
          <a:p>
            <a:pPr defTabSz="1218255">
              <a:defRPr/>
            </a:pPr>
            <a:endParaRPr lang="en-US" sz="1200">
              <a:solidFill>
                <a:srgbClr val="000000"/>
              </a:solidFill>
              <a:latin typeface="Arial"/>
            </a:endParaRPr>
          </a:p>
          <a:p>
            <a:pPr marL="171399" indent="-171399" defTabSz="1218255">
              <a:buFont typeface="Arial" panose="020B0604020202020204" pitchFamily="34" charset="0"/>
              <a:buChar char="•"/>
              <a:defRPr/>
            </a:pPr>
            <a:r>
              <a:rPr lang="en-US" sz="1200">
                <a:solidFill>
                  <a:srgbClr val="000000"/>
                </a:solidFill>
                <a:latin typeface="Arial"/>
              </a:rPr>
              <a:t>Decommission BRIM tool (April 27)</a:t>
            </a:r>
          </a:p>
        </p:txBody>
      </p:sp>
      <p:sp>
        <p:nvSpPr>
          <p:cNvPr id="45" name="TextBox 44">
            <a:extLst>
              <a:ext uri="{FF2B5EF4-FFF2-40B4-BE49-F238E27FC236}">
                <a16:creationId xmlns:a16="http://schemas.microsoft.com/office/drawing/2014/main" id="{F16EAE40-AEF9-528A-1CD8-F9AD4F584C87}"/>
              </a:ext>
            </a:extLst>
          </p:cNvPr>
          <p:cNvSpPr txBox="1"/>
          <p:nvPr/>
        </p:nvSpPr>
        <p:spPr>
          <a:xfrm>
            <a:off x="433192" y="2711743"/>
            <a:ext cx="2981867" cy="400006"/>
          </a:xfrm>
          <a:prstGeom prst="rect">
            <a:avLst/>
          </a:prstGeom>
          <a:noFill/>
        </p:spPr>
        <p:txBody>
          <a:bodyPr wrap="square">
            <a:spAutoFit/>
          </a:bodyPr>
          <a:lstStyle/>
          <a:p>
            <a:pPr marL="171399" indent="-171399" defTabSz="1218621">
              <a:buFont typeface="Arial" panose="020B0604020202020204" pitchFamily="34" charset="0"/>
              <a:buChar char="•"/>
              <a:defRPr/>
            </a:pPr>
            <a:r>
              <a:rPr lang="en-US" altLang="zh-CN" sz="1000">
                <a:solidFill>
                  <a:prstClr val="white">
                    <a:lumMod val="50000"/>
                  </a:prstClr>
                </a:solidFill>
                <a:latin typeface="Arial"/>
                <a:ea typeface="黑体" panose="02010609060101010101" pitchFamily="49" charset="-122"/>
              </a:rPr>
              <a:t>Program Scope Definition</a:t>
            </a:r>
          </a:p>
          <a:p>
            <a:pPr marL="171399" indent="-171399" defTabSz="1218621">
              <a:buFont typeface="Arial" panose="020B0604020202020204" pitchFamily="34" charset="0"/>
              <a:buChar char="•"/>
              <a:defRPr/>
            </a:pPr>
            <a:r>
              <a:rPr lang="en-US" sz="1000">
                <a:solidFill>
                  <a:prstClr val="white">
                    <a:lumMod val="50000"/>
                  </a:prstClr>
                </a:solidFill>
                <a:latin typeface="Arial"/>
              </a:rPr>
              <a:t>Biz Benefit Case Alignment</a:t>
            </a:r>
          </a:p>
        </p:txBody>
      </p:sp>
      <p:grpSp>
        <p:nvGrpSpPr>
          <p:cNvPr id="52" name="Group 51">
            <a:extLst>
              <a:ext uri="{FF2B5EF4-FFF2-40B4-BE49-F238E27FC236}">
                <a16:creationId xmlns:a16="http://schemas.microsoft.com/office/drawing/2014/main" id="{2CE12C8E-D572-DCEC-AE75-E5878416B844}"/>
              </a:ext>
            </a:extLst>
          </p:cNvPr>
          <p:cNvGrpSpPr/>
          <p:nvPr/>
        </p:nvGrpSpPr>
        <p:grpSpPr>
          <a:xfrm>
            <a:off x="303852" y="2876767"/>
            <a:ext cx="11244134" cy="2297642"/>
            <a:chOff x="593002" y="4010717"/>
            <a:chExt cx="10549478" cy="2298241"/>
          </a:xfrm>
        </p:grpSpPr>
        <p:grpSp>
          <p:nvGrpSpPr>
            <p:cNvPr id="43" name="Group 42">
              <a:extLst>
                <a:ext uri="{FF2B5EF4-FFF2-40B4-BE49-F238E27FC236}">
                  <a16:creationId xmlns:a16="http://schemas.microsoft.com/office/drawing/2014/main" id="{E1101F5E-5FC8-C3CE-19A7-989B578EDBFD}"/>
                </a:ext>
              </a:extLst>
            </p:cNvPr>
            <p:cNvGrpSpPr/>
            <p:nvPr/>
          </p:nvGrpSpPr>
          <p:grpSpPr>
            <a:xfrm>
              <a:off x="593002" y="4010717"/>
              <a:ext cx="10549478" cy="2298241"/>
              <a:chOff x="593003" y="4010717"/>
              <a:chExt cx="8591078" cy="2298241"/>
            </a:xfrm>
          </p:grpSpPr>
          <p:grpSp>
            <p:nvGrpSpPr>
              <p:cNvPr id="42" name="Group 41">
                <a:extLst>
                  <a:ext uri="{FF2B5EF4-FFF2-40B4-BE49-F238E27FC236}">
                    <a16:creationId xmlns:a16="http://schemas.microsoft.com/office/drawing/2014/main" id="{C52E06E0-0596-3024-B7CB-6644073D383B}"/>
                  </a:ext>
                </a:extLst>
              </p:cNvPr>
              <p:cNvGrpSpPr/>
              <p:nvPr/>
            </p:nvGrpSpPr>
            <p:grpSpPr>
              <a:xfrm>
                <a:off x="593003" y="4010717"/>
                <a:ext cx="8591078" cy="2298241"/>
                <a:chOff x="593003" y="4010717"/>
                <a:chExt cx="8591078" cy="2298241"/>
              </a:xfrm>
            </p:grpSpPr>
            <p:sp>
              <p:nvSpPr>
                <p:cNvPr id="6" name="Rectangle 5">
                  <a:extLst>
                    <a:ext uri="{FF2B5EF4-FFF2-40B4-BE49-F238E27FC236}">
                      <a16:creationId xmlns:a16="http://schemas.microsoft.com/office/drawing/2014/main" id="{8B694342-009F-397D-4F16-C05F1DABC336}"/>
                    </a:ext>
                  </a:extLst>
                </p:cNvPr>
                <p:cNvSpPr/>
                <p:nvPr/>
              </p:nvSpPr>
              <p:spPr>
                <a:xfrm>
                  <a:off x="593003" y="5268590"/>
                  <a:ext cx="3291840" cy="1040368"/>
                </a:xfrm>
                <a:prstGeom prst="rect">
                  <a:avLst/>
                </a:prstGeom>
                <a:solidFill>
                  <a:srgbClr val="75192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defTabSz="1218621">
                    <a:defRPr/>
                  </a:pPr>
                  <a:endParaRPr lang="en-US" sz="1600" err="1">
                    <a:solidFill>
                      <a:prstClr val="white"/>
                    </a:solidFill>
                    <a:latin typeface="Arial"/>
                  </a:endParaRPr>
                </a:p>
              </p:txBody>
            </p:sp>
            <p:sp>
              <p:nvSpPr>
                <p:cNvPr id="7" name="Rectangle 6">
                  <a:extLst>
                    <a:ext uri="{FF2B5EF4-FFF2-40B4-BE49-F238E27FC236}">
                      <a16:creationId xmlns:a16="http://schemas.microsoft.com/office/drawing/2014/main" id="{05ADE03F-8741-B203-6F75-FC422BE6534C}"/>
                    </a:ext>
                  </a:extLst>
                </p:cNvPr>
                <p:cNvSpPr/>
                <p:nvPr/>
              </p:nvSpPr>
              <p:spPr>
                <a:xfrm>
                  <a:off x="3244763" y="4665086"/>
                  <a:ext cx="3291840" cy="1040368"/>
                </a:xfrm>
                <a:prstGeom prst="rect">
                  <a:avLst/>
                </a:prstGeom>
                <a:solidFill>
                  <a:srgbClr val="4F111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defTabSz="1218621">
                    <a:defRPr/>
                  </a:pPr>
                  <a:endParaRPr lang="en-US" sz="1600" err="1">
                    <a:solidFill>
                      <a:prstClr val="white"/>
                    </a:solidFill>
                    <a:latin typeface="Arial"/>
                  </a:endParaRPr>
                </a:p>
              </p:txBody>
            </p:sp>
            <p:sp>
              <p:nvSpPr>
                <p:cNvPr id="9" name="Rectangle 8">
                  <a:extLst>
                    <a:ext uri="{FF2B5EF4-FFF2-40B4-BE49-F238E27FC236}">
                      <a16:creationId xmlns:a16="http://schemas.microsoft.com/office/drawing/2014/main" id="{44F5C2A2-2518-77F2-A8F9-3CF4EDD48A9E}"/>
                    </a:ext>
                  </a:extLst>
                </p:cNvPr>
                <p:cNvSpPr/>
                <p:nvPr/>
              </p:nvSpPr>
              <p:spPr>
                <a:xfrm>
                  <a:off x="5892241" y="4010717"/>
                  <a:ext cx="3291840" cy="1040368"/>
                </a:xfrm>
                <a:prstGeom prst="rect">
                  <a:avLst/>
                </a:prstGeom>
                <a:solidFill>
                  <a:srgbClr val="75192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defTabSz="1218621">
                    <a:defRPr/>
                  </a:pPr>
                  <a:endParaRPr lang="en-US" sz="1600" err="1">
                    <a:solidFill>
                      <a:prstClr val="white"/>
                    </a:solidFill>
                    <a:latin typeface="Arial"/>
                  </a:endParaRPr>
                </a:p>
              </p:txBody>
            </p:sp>
            <p:sp>
              <p:nvSpPr>
                <p:cNvPr id="11" name="Right Triangle 10">
                  <a:extLst>
                    <a:ext uri="{FF2B5EF4-FFF2-40B4-BE49-F238E27FC236}">
                      <a16:creationId xmlns:a16="http://schemas.microsoft.com/office/drawing/2014/main" id="{4350C0B5-1764-E8D3-3BB4-03E56AEB97EE}"/>
                    </a:ext>
                  </a:extLst>
                </p:cNvPr>
                <p:cNvSpPr/>
                <p:nvPr/>
              </p:nvSpPr>
              <p:spPr>
                <a:xfrm rot="10800000">
                  <a:off x="3244763" y="5705453"/>
                  <a:ext cx="640080" cy="241439"/>
                </a:xfrm>
                <a:prstGeom prst="rtTriangle">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defTabSz="1218621">
                    <a:defRPr/>
                  </a:pPr>
                  <a:endParaRPr lang="en-US" sz="1600" err="1">
                    <a:solidFill>
                      <a:prstClr val="white"/>
                    </a:solidFill>
                    <a:latin typeface="Arial"/>
                  </a:endParaRPr>
                </a:p>
              </p:txBody>
            </p:sp>
          </p:grpSp>
          <p:sp>
            <p:nvSpPr>
              <p:cNvPr id="12" name="Right Triangle 11">
                <a:extLst>
                  <a:ext uri="{FF2B5EF4-FFF2-40B4-BE49-F238E27FC236}">
                    <a16:creationId xmlns:a16="http://schemas.microsoft.com/office/drawing/2014/main" id="{157A7397-327A-35A7-9045-419AD1ABB804}"/>
                  </a:ext>
                </a:extLst>
              </p:cNvPr>
              <p:cNvSpPr/>
              <p:nvPr/>
            </p:nvSpPr>
            <p:spPr>
              <a:xfrm rot="10800000">
                <a:off x="5892241" y="5051085"/>
                <a:ext cx="640080" cy="241439"/>
              </a:xfrm>
              <a:prstGeom prst="rtTriangle">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defTabSz="1218621">
                  <a:defRPr/>
                </a:pPr>
                <a:endParaRPr lang="en-US" sz="1600" err="1">
                  <a:solidFill>
                    <a:prstClr val="white"/>
                  </a:solidFill>
                  <a:latin typeface="Arial"/>
                </a:endParaRPr>
              </a:p>
            </p:txBody>
          </p:sp>
        </p:grpSp>
        <p:sp>
          <p:nvSpPr>
            <p:cNvPr id="46" name="TextBox 45">
              <a:extLst>
                <a:ext uri="{FF2B5EF4-FFF2-40B4-BE49-F238E27FC236}">
                  <a16:creationId xmlns:a16="http://schemas.microsoft.com/office/drawing/2014/main" id="{02B5665F-5B50-3AB8-6504-CE877BB75AE5}"/>
                </a:ext>
              </a:extLst>
            </p:cNvPr>
            <p:cNvSpPr txBox="1"/>
            <p:nvPr/>
          </p:nvSpPr>
          <p:spPr>
            <a:xfrm>
              <a:off x="1486669" y="5496181"/>
              <a:ext cx="1518916" cy="584775"/>
            </a:xfrm>
            <a:prstGeom prst="rect">
              <a:avLst/>
            </a:prstGeom>
            <a:noFill/>
          </p:spPr>
          <p:txBody>
            <a:bodyPr wrap="none" rtlCol="0">
              <a:spAutoFit/>
            </a:bodyPr>
            <a:lstStyle/>
            <a:p>
              <a:pPr defTabSz="1218621">
                <a:defRPr/>
              </a:pPr>
              <a:r>
                <a:rPr lang="en-US" sz="3199" b="1">
                  <a:solidFill>
                    <a:prstClr val="white"/>
                  </a:solidFill>
                  <a:latin typeface="Arial" pitchFamily="34" charset="0"/>
                  <a:cs typeface="Arial" pitchFamily="34" charset="0"/>
                </a:rPr>
                <a:t>FY2526</a:t>
              </a:r>
            </a:p>
          </p:txBody>
        </p:sp>
        <p:sp>
          <p:nvSpPr>
            <p:cNvPr id="47" name="TextBox 46">
              <a:extLst>
                <a:ext uri="{FF2B5EF4-FFF2-40B4-BE49-F238E27FC236}">
                  <a16:creationId xmlns:a16="http://schemas.microsoft.com/office/drawing/2014/main" id="{03060947-B8AE-5B80-59DC-78AA2A9B77AF}"/>
                </a:ext>
              </a:extLst>
            </p:cNvPr>
            <p:cNvSpPr txBox="1"/>
            <p:nvPr/>
          </p:nvSpPr>
          <p:spPr>
            <a:xfrm>
              <a:off x="5109272" y="4835949"/>
              <a:ext cx="1518916" cy="584775"/>
            </a:xfrm>
            <a:prstGeom prst="rect">
              <a:avLst/>
            </a:prstGeom>
            <a:noFill/>
          </p:spPr>
          <p:txBody>
            <a:bodyPr wrap="none" rtlCol="0">
              <a:spAutoFit/>
            </a:bodyPr>
            <a:lstStyle/>
            <a:p>
              <a:pPr defTabSz="1218621">
                <a:defRPr/>
              </a:pPr>
              <a:r>
                <a:rPr lang="en-US" sz="3199" b="1">
                  <a:solidFill>
                    <a:prstClr val="white"/>
                  </a:solidFill>
                  <a:latin typeface="Arial" pitchFamily="34" charset="0"/>
                  <a:cs typeface="Arial" pitchFamily="34" charset="0"/>
                </a:rPr>
                <a:t>FY2627</a:t>
              </a:r>
            </a:p>
          </p:txBody>
        </p:sp>
        <p:sp>
          <p:nvSpPr>
            <p:cNvPr id="48" name="TextBox 47">
              <a:extLst>
                <a:ext uri="{FF2B5EF4-FFF2-40B4-BE49-F238E27FC236}">
                  <a16:creationId xmlns:a16="http://schemas.microsoft.com/office/drawing/2014/main" id="{D37E4CBE-C36E-C1C5-C3CF-3BF1C4F299B5}"/>
                </a:ext>
              </a:extLst>
            </p:cNvPr>
            <p:cNvSpPr txBox="1"/>
            <p:nvPr/>
          </p:nvSpPr>
          <p:spPr>
            <a:xfrm>
              <a:off x="8465214" y="4176187"/>
              <a:ext cx="1518916" cy="584775"/>
            </a:xfrm>
            <a:prstGeom prst="rect">
              <a:avLst/>
            </a:prstGeom>
            <a:noFill/>
          </p:spPr>
          <p:txBody>
            <a:bodyPr wrap="none" rtlCol="0">
              <a:spAutoFit/>
            </a:bodyPr>
            <a:lstStyle/>
            <a:p>
              <a:pPr defTabSz="1218621">
                <a:defRPr/>
              </a:pPr>
              <a:r>
                <a:rPr lang="en-US" sz="3199" b="1">
                  <a:solidFill>
                    <a:prstClr val="white"/>
                  </a:solidFill>
                  <a:latin typeface="Arial" pitchFamily="34" charset="0"/>
                  <a:cs typeface="Arial" pitchFamily="34" charset="0"/>
                </a:rPr>
                <a:t>FY2728</a:t>
              </a:r>
            </a:p>
          </p:txBody>
        </p:sp>
      </p:grpSp>
      <p:sp>
        <p:nvSpPr>
          <p:cNvPr id="50" name="TextBox 49">
            <a:extLst>
              <a:ext uri="{FF2B5EF4-FFF2-40B4-BE49-F238E27FC236}">
                <a16:creationId xmlns:a16="http://schemas.microsoft.com/office/drawing/2014/main" id="{DCE89635-F8A3-F45D-1C79-4F403E626E99}"/>
              </a:ext>
            </a:extLst>
          </p:cNvPr>
          <p:cNvSpPr txBox="1"/>
          <p:nvPr/>
        </p:nvSpPr>
        <p:spPr>
          <a:xfrm>
            <a:off x="4283142" y="1675629"/>
            <a:ext cx="3187031" cy="307697"/>
          </a:xfrm>
          <a:prstGeom prst="rect">
            <a:avLst/>
          </a:prstGeom>
          <a:noFill/>
        </p:spPr>
        <p:txBody>
          <a:bodyPr wrap="square">
            <a:spAutoFit/>
          </a:bodyPr>
          <a:lstStyle/>
          <a:p>
            <a:pPr defTabSz="1218621">
              <a:spcBef>
                <a:spcPct val="20000"/>
              </a:spcBef>
              <a:defRPr/>
            </a:pPr>
            <a:r>
              <a:rPr lang="en-US" sz="1400" b="1">
                <a:solidFill>
                  <a:srgbClr val="000000"/>
                </a:solidFill>
                <a:latin typeface="Arial"/>
                <a:cs typeface="Arial" pitchFamily="34" charset="0"/>
              </a:rPr>
              <a:t>Wave I (NA) </a:t>
            </a:r>
          </a:p>
        </p:txBody>
      </p:sp>
      <p:sp>
        <p:nvSpPr>
          <p:cNvPr id="51" name="Content Placeholder 4">
            <a:extLst>
              <a:ext uri="{FF2B5EF4-FFF2-40B4-BE49-F238E27FC236}">
                <a16:creationId xmlns:a16="http://schemas.microsoft.com/office/drawing/2014/main" id="{57322889-20B3-26E3-D72A-BDD930B6C033}"/>
              </a:ext>
            </a:extLst>
          </p:cNvPr>
          <p:cNvSpPr txBox="1">
            <a:spLocks/>
          </p:cNvSpPr>
          <p:nvPr/>
        </p:nvSpPr>
        <p:spPr>
          <a:xfrm>
            <a:off x="7638863" y="800674"/>
            <a:ext cx="4486612" cy="456961"/>
          </a:xfrm>
          <a:prstGeom prst="rect">
            <a:avLst/>
          </a:prstGeom>
        </p:spPr>
        <p:txBody>
          <a:bodyPr/>
          <a:lstStyle>
            <a:lvl1pPr marL="457120" indent="-457120" algn="l" defTabSz="1218987" rtl="0" eaLnBrk="1" latinLnBrk="0" hangingPunct="1">
              <a:spcBef>
                <a:spcPct val="20000"/>
              </a:spcBef>
              <a:buClrTx/>
              <a:buFont typeface="Arial" panose="020B0604020202020204" pitchFamily="34" charset="0"/>
              <a:buChar char="•"/>
              <a:defRPr sz="4300" kern="1200">
                <a:solidFill>
                  <a:schemeClr val="tx1"/>
                </a:solidFill>
                <a:latin typeface="Arial" pitchFamily="34" charset="0"/>
                <a:ea typeface="+mn-ea"/>
                <a:cs typeface="Arial" pitchFamily="34" charset="0"/>
              </a:defRPr>
            </a:lvl1pPr>
            <a:lvl2pPr marL="990427" indent="-380933" algn="l" defTabSz="1218987" rtl="0" eaLnBrk="1" latinLnBrk="0" hangingPunct="1">
              <a:spcBef>
                <a:spcPct val="20000"/>
              </a:spcBef>
              <a:buClrTx/>
              <a:buFont typeface="Arial" panose="020B0604020202020204" pitchFamily="34" charset="0"/>
              <a:buChar char="–"/>
              <a:defRPr sz="3700" kern="1200">
                <a:solidFill>
                  <a:schemeClr val="tx1"/>
                </a:solidFill>
                <a:latin typeface="Arial" pitchFamily="34" charset="0"/>
                <a:ea typeface="+mn-ea"/>
                <a:cs typeface="Arial" pitchFamily="34" charset="0"/>
              </a:defRPr>
            </a:lvl2pPr>
            <a:lvl3pPr marL="1523733" indent="-304747" algn="l" defTabSz="1218987" rtl="0" eaLnBrk="1" latinLnBrk="0" hangingPunct="1">
              <a:spcBef>
                <a:spcPct val="20000"/>
              </a:spcBef>
              <a:buClrTx/>
              <a:buFont typeface="Arial" panose="020B0604020202020204" pitchFamily="34" charset="0"/>
              <a:buChar char="-"/>
              <a:defRPr sz="3200" kern="1200">
                <a:solidFill>
                  <a:schemeClr val="tx1"/>
                </a:solidFill>
                <a:latin typeface="Arial" pitchFamily="34" charset="0"/>
                <a:ea typeface="+mn-ea"/>
                <a:cs typeface="Arial" pitchFamily="34" charset="0"/>
              </a:defRPr>
            </a:lvl3pPr>
            <a:lvl4pPr marL="2133227"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4pPr>
            <a:lvl5pPr marL="2742720" indent="-304747" algn="l" defTabSz="1218987" rtl="0" eaLnBrk="1" latinLnBrk="0" hangingPunct="1">
              <a:spcBef>
                <a:spcPct val="20000"/>
              </a:spcBef>
              <a:buClrTx/>
              <a:buFont typeface="Arial" panose="020B0604020202020204" pitchFamily="34" charset="0"/>
              <a:buChar char="-"/>
              <a:defRPr sz="2700" kern="1200">
                <a:solidFill>
                  <a:schemeClr val="tx1"/>
                </a:solidFill>
                <a:latin typeface="Arial" pitchFamily="34" charset="0"/>
                <a:ea typeface="+mn-ea"/>
                <a:cs typeface="Arial" pitchFamily="34" charset="0"/>
              </a:defRPr>
            </a:lvl5pPr>
            <a:lvl6pPr marL="335221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707"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200"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693" indent="-304747" algn="l" defTabSz="1218987" rtl="0" eaLnBrk="1" latinLnBrk="0" hangingPunct="1">
              <a:spcBef>
                <a:spcPct val="20000"/>
              </a:spcBef>
              <a:buFont typeface="Arial" pitchFamily="34" charset="0"/>
              <a:buChar char="•"/>
              <a:defRPr sz="2700" kern="1200">
                <a:solidFill>
                  <a:schemeClr val="tx1"/>
                </a:solidFill>
                <a:latin typeface="+mn-lt"/>
                <a:ea typeface="+mn-ea"/>
                <a:cs typeface="+mn-cs"/>
              </a:defRPr>
            </a:lvl9pPr>
          </a:lstStyle>
          <a:p>
            <a:pPr marL="0" indent="0">
              <a:buNone/>
              <a:defRPr/>
            </a:pPr>
            <a:r>
              <a:rPr lang="en-US" sz="1600" b="1">
                <a:solidFill>
                  <a:srgbClr val="000000"/>
                </a:solidFill>
                <a:latin typeface="Arial"/>
              </a:rPr>
              <a:t>      Wave II (AP &amp; EMEA)</a:t>
            </a:r>
          </a:p>
        </p:txBody>
      </p:sp>
      <p:pic>
        <p:nvPicPr>
          <p:cNvPr id="64" name="Picture 63">
            <a:extLst>
              <a:ext uri="{FF2B5EF4-FFF2-40B4-BE49-F238E27FC236}">
                <a16:creationId xmlns:a16="http://schemas.microsoft.com/office/drawing/2014/main" id="{702AE735-91C2-4D40-1F90-88369EAD06D1}"/>
              </a:ext>
            </a:extLst>
          </p:cNvPr>
          <p:cNvPicPr>
            <a:picLocks noChangeAspect="1"/>
          </p:cNvPicPr>
          <p:nvPr/>
        </p:nvPicPr>
        <p:blipFill>
          <a:blip r:embed="rId5"/>
          <a:stretch>
            <a:fillRect/>
          </a:stretch>
        </p:blipFill>
        <p:spPr>
          <a:xfrm>
            <a:off x="8588171" y="3973393"/>
            <a:ext cx="2590188" cy="2590188"/>
          </a:xfrm>
          <a:prstGeom prst="rect">
            <a:avLst/>
          </a:prstGeom>
        </p:spPr>
      </p:pic>
      <p:sp>
        <p:nvSpPr>
          <p:cNvPr id="3" name="TextBox 2">
            <a:extLst>
              <a:ext uri="{FF2B5EF4-FFF2-40B4-BE49-F238E27FC236}">
                <a16:creationId xmlns:a16="http://schemas.microsoft.com/office/drawing/2014/main" id="{DCF8866E-5C56-D96F-0094-EC93EEE273C2}"/>
              </a:ext>
            </a:extLst>
          </p:cNvPr>
          <p:cNvSpPr txBox="1"/>
          <p:nvPr/>
        </p:nvSpPr>
        <p:spPr>
          <a:xfrm>
            <a:off x="545215" y="2302669"/>
            <a:ext cx="3187031" cy="307697"/>
          </a:xfrm>
          <a:prstGeom prst="rect">
            <a:avLst/>
          </a:prstGeom>
          <a:noFill/>
        </p:spPr>
        <p:txBody>
          <a:bodyPr wrap="square">
            <a:spAutoFit/>
          </a:bodyPr>
          <a:lstStyle/>
          <a:p>
            <a:pPr defTabSz="1218621">
              <a:spcBef>
                <a:spcPct val="20000"/>
              </a:spcBef>
              <a:defRPr/>
            </a:pPr>
            <a:r>
              <a:rPr lang="en-US" sz="1400" b="1">
                <a:solidFill>
                  <a:srgbClr val="000000"/>
                </a:solidFill>
                <a:latin typeface="Arial"/>
                <a:cs typeface="Arial" pitchFamily="34" charset="0"/>
              </a:rPr>
              <a:t>NexBill Program Kick-Off</a:t>
            </a:r>
          </a:p>
        </p:txBody>
      </p:sp>
    </p:spTree>
    <p:extLst>
      <p:ext uri="{BB962C8B-B14F-4D97-AF65-F5344CB8AC3E}">
        <p14:creationId xmlns:p14="http://schemas.microsoft.com/office/powerpoint/2010/main" val="182576826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7FB208-5A88-09EF-CD08-75FF1B9D2195}"/>
            </a:ext>
          </a:extLst>
        </p:cNvPr>
        <p:cNvGrpSpPr/>
        <p:nvPr/>
      </p:nvGrpSpPr>
      <p:grpSpPr>
        <a:xfrm>
          <a:off x="0" y="0"/>
          <a:ext cx="0" cy="0"/>
          <a:chOff x="0" y="0"/>
          <a:chExt cx="0" cy="0"/>
        </a:xfrm>
      </p:grpSpPr>
      <p:graphicFrame>
        <p:nvGraphicFramePr>
          <p:cNvPr id="205" name="think-cell data - do not delete" hidden="1">
            <a:extLst>
              <a:ext uri="{FF2B5EF4-FFF2-40B4-BE49-F238E27FC236}">
                <a16:creationId xmlns:a16="http://schemas.microsoft.com/office/drawing/2014/main" id="{4EC5AD98-FACE-3504-8FC0-CFE78BFD881C}"/>
              </a:ext>
            </a:extLst>
          </p:cNvPr>
          <p:cNvGraphicFramePr>
            <a:graphicFrameLocks noChangeAspect="1"/>
          </p:cNvGraphicFramePr>
          <p:nvPr>
            <p:custDataLst>
              <p:tags r:id="rId1"/>
            </p:custDataLst>
          </p:nvPr>
        </p:nvGraphicFramePr>
        <p:xfrm>
          <a:off x="3176" y="1588"/>
          <a:ext cx="1588" cy="1588"/>
        </p:xfrm>
        <a:graphic>
          <a:graphicData uri="http://schemas.openxmlformats.org/presentationml/2006/ole">
            <mc:AlternateContent xmlns:mc="http://schemas.openxmlformats.org/markup-compatibility/2006">
              <mc:Choice xmlns:v="urn:schemas-microsoft-com:vml" Requires="v">
                <p:oleObj name="think-cell Slide" r:id="rId43" imgW="588" imgH="588" progId="TCLayout.ActiveDocument.1">
                  <p:embed/>
                </p:oleObj>
              </mc:Choice>
              <mc:Fallback>
                <p:oleObj name="think-cell Slide" r:id="rId43" imgW="588" imgH="588" progId="TCLayout.ActiveDocument.1">
                  <p:embed/>
                  <p:pic>
                    <p:nvPicPr>
                      <p:cNvPr id="205" name="think-cell data - do not delete" hidden="1">
                        <a:extLst>
                          <a:ext uri="{FF2B5EF4-FFF2-40B4-BE49-F238E27FC236}">
                            <a16:creationId xmlns:a16="http://schemas.microsoft.com/office/drawing/2014/main" id="{4EC5AD98-FACE-3504-8FC0-CFE78BFD881C}"/>
                          </a:ext>
                        </a:extLst>
                      </p:cNvPr>
                      <p:cNvPicPr/>
                      <p:nvPr/>
                    </p:nvPicPr>
                    <p:blipFill>
                      <a:blip r:embed="rId44"/>
                      <a:stretch>
                        <a:fillRect/>
                      </a:stretch>
                    </p:blipFill>
                    <p:spPr>
                      <a:xfrm>
                        <a:off x="3176" y="1588"/>
                        <a:ext cx="1588" cy="1588"/>
                      </a:xfrm>
                      <a:prstGeom prst="rect">
                        <a:avLst/>
                      </a:prstGeom>
                    </p:spPr>
                  </p:pic>
                </p:oleObj>
              </mc:Fallback>
            </mc:AlternateContent>
          </a:graphicData>
        </a:graphic>
      </p:graphicFrame>
      <p:grpSp>
        <p:nvGrpSpPr>
          <p:cNvPr id="216" name="Group 215">
            <a:extLst>
              <a:ext uri="{FF2B5EF4-FFF2-40B4-BE49-F238E27FC236}">
                <a16:creationId xmlns:a16="http://schemas.microsoft.com/office/drawing/2014/main" id="{3E0FC43A-DAD7-6D41-76FA-90AE10BFE604}"/>
              </a:ext>
            </a:extLst>
          </p:cNvPr>
          <p:cNvGrpSpPr/>
          <p:nvPr/>
        </p:nvGrpSpPr>
        <p:grpSpPr>
          <a:xfrm>
            <a:off x="1680947" y="1442444"/>
            <a:ext cx="9153688" cy="4908432"/>
            <a:chOff x="1679359" y="1442444"/>
            <a:chExt cx="9153688" cy="4801319"/>
          </a:xfrm>
        </p:grpSpPr>
        <p:cxnSp>
          <p:nvCxnSpPr>
            <p:cNvPr id="213" name="Straight Connector 212">
              <a:extLst>
                <a:ext uri="{FF2B5EF4-FFF2-40B4-BE49-F238E27FC236}">
                  <a16:creationId xmlns:a16="http://schemas.microsoft.com/office/drawing/2014/main" id="{5C7BD202-4D07-7A63-BAC2-C9D1B50AE831}"/>
                </a:ext>
              </a:extLst>
            </p:cNvPr>
            <p:cNvCxnSpPr>
              <a:cxnSpLocks/>
            </p:cNvCxnSpPr>
            <p:nvPr/>
          </p:nvCxnSpPr>
          <p:spPr>
            <a:xfrm>
              <a:off x="8804993" y="2295367"/>
              <a:ext cx="0" cy="3848241"/>
            </a:xfrm>
            <a:prstGeom prst="line">
              <a:avLst/>
            </a:prstGeom>
            <a:ln w="12700">
              <a:solidFill>
                <a:schemeClr val="tx1"/>
              </a:solidFill>
              <a:prstDash val="lg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B5414A1-327F-B46D-DD31-EE64D4C446BB}"/>
                </a:ext>
              </a:extLst>
            </p:cNvPr>
            <p:cNvCxnSpPr>
              <a:cxnSpLocks/>
            </p:cNvCxnSpPr>
            <p:nvPr/>
          </p:nvCxnSpPr>
          <p:spPr>
            <a:xfrm>
              <a:off x="2841991" y="2977050"/>
              <a:ext cx="0" cy="3166557"/>
            </a:xfrm>
            <a:prstGeom prst="line">
              <a:avLst/>
            </a:prstGeom>
            <a:ln w="6350">
              <a:solidFill>
                <a:schemeClr val="tx1"/>
              </a:solidFill>
              <a:prstDash val="lgDash"/>
            </a:ln>
          </p:spPr>
          <p:style>
            <a:lnRef idx="1">
              <a:schemeClr val="accent1"/>
            </a:lnRef>
            <a:fillRef idx="0">
              <a:schemeClr val="accent1"/>
            </a:fillRef>
            <a:effectRef idx="0">
              <a:schemeClr val="accent1"/>
            </a:effectRef>
            <a:fontRef idx="minor">
              <a:schemeClr val="tx1"/>
            </a:fontRef>
          </p:style>
        </p:cxnSp>
        <p:cxnSp>
          <p:nvCxnSpPr>
            <p:cNvPr id="2" name="Straight Connector 1">
              <a:extLst>
                <a:ext uri="{FF2B5EF4-FFF2-40B4-BE49-F238E27FC236}">
                  <a16:creationId xmlns:a16="http://schemas.microsoft.com/office/drawing/2014/main" id="{B46903F2-B150-A577-31EA-4F2AE1CF3EEA}"/>
                </a:ext>
              </a:extLst>
            </p:cNvPr>
            <p:cNvCxnSpPr>
              <a:cxnSpLocks/>
            </p:cNvCxnSpPr>
            <p:nvPr/>
          </p:nvCxnSpPr>
          <p:spPr>
            <a:xfrm flipH="1">
              <a:off x="7365943" y="1443063"/>
              <a:ext cx="10386" cy="4700545"/>
            </a:xfrm>
            <a:prstGeom prst="line">
              <a:avLst/>
            </a:prstGeom>
            <a:ln w="12700">
              <a:solidFill>
                <a:schemeClr val="tx1"/>
              </a:solidFill>
              <a:prstDash val="lg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9F580422-91CF-0F73-A167-4614CAC7F064}"/>
                </a:ext>
              </a:extLst>
            </p:cNvPr>
            <p:cNvCxnSpPr>
              <a:cxnSpLocks/>
            </p:cNvCxnSpPr>
            <p:nvPr/>
          </p:nvCxnSpPr>
          <p:spPr>
            <a:xfrm flipH="1">
              <a:off x="3948846" y="1443063"/>
              <a:ext cx="5184" cy="4700545"/>
            </a:xfrm>
            <a:prstGeom prst="line">
              <a:avLst/>
            </a:prstGeom>
            <a:ln w="12700">
              <a:solidFill>
                <a:schemeClr val="tx1"/>
              </a:solidFill>
              <a:prstDash val="lg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9690CB8-45B7-EA68-2DDC-E148648B1112}"/>
                </a:ext>
              </a:extLst>
            </p:cNvPr>
            <p:cNvCxnSpPr>
              <a:cxnSpLocks/>
            </p:cNvCxnSpPr>
            <p:nvPr/>
          </p:nvCxnSpPr>
          <p:spPr>
            <a:xfrm>
              <a:off x="1679359" y="1442444"/>
              <a:ext cx="0" cy="47011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887972BA-3F86-66CB-8550-2D6E929F1030}"/>
                </a:ext>
              </a:extLst>
            </p:cNvPr>
            <p:cNvCxnSpPr/>
            <p:nvPr/>
          </p:nvCxnSpPr>
          <p:spPr>
            <a:xfrm>
              <a:off x="10833047" y="1448722"/>
              <a:ext cx="0" cy="46382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C3095608-56A6-DD99-3724-548F585D1154}"/>
                </a:ext>
              </a:extLst>
            </p:cNvPr>
            <p:cNvCxnSpPr>
              <a:cxnSpLocks/>
            </p:cNvCxnSpPr>
            <p:nvPr/>
          </p:nvCxnSpPr>
          <p:spPr>
            <a:xfrm>
              <a:off x="5906708" y="2965704"/>
              <a:ext cx="0" cy="3177904"/>
            </a:xfrm>
            <a:prstGeom prst="line">
              <a:avLst/>
            </a:prstGeom>
            <a:ln w="6350">
              <a:solidFill>
                <a:schemeClr val="tx1"/>
              </a:solidFill>
              <a:prstDash val="lgDash"/>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D2153C82-D30F-2AAF-561D-1D2486639717}"/>
                </a:ext>
              </a:extLst>
            </p:cNvPr>
            <p:cNvCxnSpPr>
              <a:cxnSpLocks/>
            </p:cNvCxnSpPr>
            <p:nvPr/>
          </p:nvCxnSpPr>
          <p:spPr>
            <a:xfrm flipH="1">
              <a:off x="9643794" y="1448722"/>
              <a:ext cx="5184" cy="4700545"/>
            </a:xfrm>
            <a:prstGeom prst="line">
              <a:avLst/>
            </a:prstGeom>
            <a:ln w="12700">
              <a:solidFill>
                <a:schemeClr val="tx1"/>
              </a:solidFill>
              <a:prstDash val="lgDash"/>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20392925-027B-62B1-54D4-51481EBB1901}"/>
                </a:ext>
              </a:extLst>
            </p:cNvPr>
            <p:cNvCxnSpPr>
              <a:cxnSpLocks/>
            </p:cNvCxnSpPr>
            <p:nvPr/>
          </p:nvCxnSpPr>
          <p:spPr>
            <a:xfrm flipH="1">
              <a:off x="8511224" y="1543218"/>
              <a:ext cx="5184" cy="4700545"/>
            </a:xfrm>
            <a:prstGeom prst="line">
              <a:avLst/>
            </a:prstGeom>
            <a:ln w="12700">
              <a:solidFill>
                <a:schemeClr val="tx1"/>
              </a:solidFill>
              <a:prstDash val="lgDash"/>
            </a:ln>
          </p:spPr>
          <p:style>
            <a:lnRef idx="1">
              <a:schemeClr val="accent1"/>
            </a:lnRef>
            <a:fillRef idx="0">
              <a:schemeClr val="accent1"/>
            </a:fillRef>
            <a:effectRef idx="0">
              <a:schemeClr val="accent1"/>
            </a:effectRef>
            <a:fontRef idx="minor">
              <a:schemeClr val="tx1"/>
            </a:fontRef>
          </p:style>
        </p:cxnSp>
      </p:grpSp>
      <p:sp>
        <p:nvSpPr>
          <p:cNvPr id="3" name="Title 2">
            <a:extLst>
              <a:ext uri="{FF2B5EF4-FFF2-40B4-BE49-F238E27FC236}">
                <a16:creationId xmlns:a16="http://schemas.microsoft.com/office/drawing/2014/main" id="{631786A8-F768-AAA8-453F-66FC05916305}"/>
              </a:ext>
            </a:extLst>
          </p:cNvPr>
          <p:cNvSpPr>
            <a:spLocks noGrp="1"/>
          </p:cNvSpPr>
          <p:nvPr>
            <p:ph type="title"/>
          </p:nvPr>
        </p:nvSpPr>
        <p:spPr/>
        <p:txBody>
          <a:bodyPr vert="horz"/>
          <a:lstStyle/>
          <a:p>
            <a:r>
              <a:rPr lang="en-US">
                <a:latin typeface="Tenorite" panose="00000500000000000000" pitchFamily="2" charset="0"/>
              </a:rPr>
              <a:t>NexBill Project Plan – </a:t>
            </a:r>
            <a:r>
              <a:rPr lang="en-US" altLang="zh-CN">
                <a:latin typeface="Tenorite" panose="00000500000000000000" pitchFamily="2" charset="0"/>
              </a:rPr>
              <a:t>NA, EMEA, AP All </a:t>
            </a:r>
            <a:r>
              <a:rPr lang="en-US">
                <a:latin typeface="Tenorite" panose="00000500000000000000" pitchFamily="2" charset="0"/>
              </a:rPr>
              <a:t>Together </a:t>
            </a:r>
          </a:p>
        </p:txBody>
      </p:sp>
      <p:sp>
        <p:nvSpPr>
          <p:cNvPr id="9" name="Rectangle 8">
            <a:extLst>
              <a:ext uri="{FF2B5EF4-FFF2-40B4-BE49-F238E27FC236}">
                <a16:creationId xmlns:a16="http://schemas.microsoft.com/office/drawing/2014/main" id="{A701B432-C1A6-EFD2-D136-179ABEF1C5A2}"/>
              </a:ext>
            </a:extLst>
          </p:cNvPr>
          <p:cNvSpPr/>
          <p:nvPr>
            <p:custDataLst>
              <p:tags r:id="rId2"/>
            </p:custDataLst>
          </p:nvPr>
        </p:nvSpPr>
        <p:spPr bwMode="auto">
          <a:xfrm>
            <a:off x="2812963" y="1168743"/>
            <a:ext cx="1188720" cy="274320"/>
          </a:xfrm>
          <a:prstGeom prst="rect">
            <a:avLst/>
          </a:prstGeom>
          <a:solidFill>
            <a:srgbClr val="0070C0"/>
          </a:solidFill>
          <a:ln w="3175" cmpd="sng" algn="ctr">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14288" rIns="0" bIns="14288" rtlCol="0" anchor="ctr"/>
          <a:lstStyle/>
          <a:p>
            <a:pPr algn="ctr" defTabSz="1218987">
              <a:spcBef>
                <a:spcPct val="0"/>
              </a:spcBef>
              <a:spcAft>
                <a:spcPct val="0"/>
              </a:spcAft>
              <a:defRPr/>
            </a:pPr>
            <a:r>
              <a:rPr lang="en-US" altLang="en-US" sz="1200" b="1">
                <a:solidFill>
                  <a:prstClr val="white"/>
                </a:solidFill>
                <a:latin typeface="Tenorite" panose="00000500000000000000" pitchFamily="2" charset="0"/>
                <a:ea typeface="Calibri" panose="020F0502020204030204" pitchFamily="34" charset="0"/>
                <a:cs typeface="Calibri" panose="020F0502020204030204" pitchFamily="34" charset="0"/>
              </a:rPr>
              <a:t>FY2526 Q4</a:t>
            </a:r>
            <a:endParaRPr lang="en-US" sz="12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10" name="Rectangle 9">
            <a:extLst>
              <a:ext uri="{FF2B5EF4-FFF2-40B4-BE49-F238E27FC236}">
                <a16:creationId xmlns:a16="http://schemas.microsoft.com/office/drawing/2014/main" id="{E8153F6B-063D-F5DD-EF0C-8FF05B8389B6}"/>
              </a:ext>
            </a:extLst>
          </p:cNvPr>
          <p:cNvSpPr/>
          <p:nvPr>
            <p:custDataLst>
              <p:tags r:id="rId3"/>
            </p:custDataLst>
          </p:nvPr>
        </p:nvSpPr>
        <p:spPr bwMode="auto">
          <a:xfrm>
            <a:off x="3951605" y="1168743"/>
            <a:ext cx="1188720" cy="274320"/>
          </a:xfrm>
          <a:prstGeom prst="rect">
            <a:avLst/>
          </a:prstGeom>
          <a:solidFill>
            <a:srgbClr val="6F8DB9"/>
          </a:solidFill>
          <a:ln w="3175" cmpd="sng" algn="ctr">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14288" rIns="0" bIns="14288" rtlCol="0" anchor="ctr"/>
          <a:lstStyle/>
          <a:p>
            <a:pPr algn="ctr" defTabSz="1218987">
              <a:spcBef>
                <a:spcPct val="0"/>
              </a:spcBef>
              <a:spcAft>
                <a:spcPct val="0"/>
              </a:spcAft>
              <a:defRPr/>
            </a:pPr>
            <a:r>
              <a:rPr lang="en-US" altLang="en-US" sz="1200" b="1">
                <a:solidFill>
                  <a:prstClr val="white"/>
                </a:solidFill>
                <a:latin typeface="Tenorite" panose="00000500000000000000" pitchFamily="2" charset="0"/>
                <a:ea typeface="Calibri" panose="020F0502020204030204" pitchFamily="34" charset="0"/>
                <a:cs typeface="Calibri" panose="020F0502020204030204" pitchFamily="34" charset="0"/>
              </a:rPr>
              <a:t>FY2627Q1</a:t>
            </a:r>
            <a:endParaRPr lang="en-US" sz="12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13" name="Rectangle 12">
            <a:extLst>
              <a:ext uri="{FF2B5EF4-FFF2-40B4-BE49-F238E27FC236}">
                <a16:creationId xmlns:a16="http://schemas.microsoft.com/office/drawing/2014/main" id="{EC715558-0516-749A-FB76-C6228315CB6F}"/>
              </a:ext>
            </a:extLst>
          </p:cNvPr>
          <p:cNvSpPr/>
          <p:nvPr>
            <p:custDataLst>
              <p:tags r:id="rId4"/>
            </p:custDataLst>
          </p:nvPr>
        </p:nvSpPr>
        <p:spPr bwMode="auto">
          <a:xfrm>
            <a:off x="5090247" y="1168743"/>
            <a:ext cx="1188720" cy="274320"/>
          </a:xfrm>
          <a:prstGeom prst="rect">
            <a:avLst/>
          </a:prstGeom>
          <a:solidFill>
            <a:srgbClr val="6F8DB9"/>
          </a:solidFill>
          <a:ln w="3175" cmpd="sng" algn="ctr">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14288" rIns="0" bIns="14288" rtlCol="0" anchor="ctr"/>
          <a:lstStyle/>
          <a:p>
            <a:pPr algn="ctr" defTabSz="1218987">
              <a:spcBef>
                <a:spcPct val="0"/>
              </a:spcBef>
              <a:spcAft>
                <a:spcPct val="0"/>
              </a:spcAft>
              <a:defRPr/>
            </a:pPr>
            <a:r>
              <a:rPr lang="en-US" altLang="en-US" sz="1200" b="1">
                <a:solidFill>
                  <a:prstClr val="white"/>
                </a:solidFill>
                <a:latin typeface="Tenorite" panose="00000500000000000000" pitchFamily="2" charset="0"/>
                <a:ea typeface="Calibri" panose="020F0502020204030204" pitchFamily="34" charset="0"/>
                <a:cs typeface="Calibri" panose="020F0502020204030204" pitchFamily="34" charset="0"/>
              </a:rPr>
              <a:t>FY2627Q2</a:t>
            </a:r>
            <a:endParaRPr lang="en-US" sz="12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14" name="Rectangle 13">
            <a:extLst>
              <a:ext uri="{FF2B5EF4-FFF2-40B4-BE49-F238E27FC236}">
                <a16:creationId xmlns:a16="http://schemas.microsoft.com/office/drawing/2014/main" id="{F143AA79-AFB9-89D5-C3A7-DFFFDB4A04FE}"/>
              </a:ext>
            </a:extLst>
          </p:cNvPr>
          <p:cNvSpPr/>
          <p:nvPr>
            <p:custDataLst>
              <p:tags r:id="rId5"/>
            </p:custDataLst>
          </p:nvPr>
        </p:nvSpPr>
        <p:spPr bwMode="auto">
          <a:xfrm>
            <a:off x="6228889" y="1168743"/>
            <a:ext cx="1188720" cy="274320"/>
          </a:xfrm>
          <a:prstGeom prst="rect">
            <a:avLst/>
          </a:prstGeom>
          <a:solidFill>
            <a:srgbClr val="6F8DB9"/>
          </a:solidFill>
          <a:ln w="3175" cmpd="sng" algn="ctr">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14288" rIns="0" bIns="14288" rtlCol="0" anchor="ctr"/>
          <a:lstStyle/>
          <a:p>
            <a:pPr algn="ctr" defTabSz="1218987">
              <a:spcBef>
                <a:spcPct val="0"/>
              </a:spcBef>
              <a:spcAft>
                <a:spcPct val="0"/>
              </a:spcAft>
              <a:defRPr/>
            </a:pPr>
            <a:r>
              <a:rPr lang="en-US" altLang="en-US" sz="1200" b="1">
                <a:solidFill>
                  <a:prstClr val="white"/>
                </a:solidFill>
                <a:latin typeface="Tenorite" panose="00000500000000000000" pitchFamily="2" charset="0"/>
                <a:ea typeface="Calibri" panose="020F0502020204030204" pitchFamily="34" charset="0"/>
                <a:cs typeface="Calibri" panose="020F0502020204030204" pitchFamily="34" charset="0"/>
              </a:rPr>
              <a:t>FY2627 Q3</a:t>
            </a:r>
            <a:endParaRPr lang="en-US" sz="12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18" name="Rectangle 17">
            <a:extLst>
              <a:ext uri="{FF2B5EF4-FFF2-40B4-BE49-F238E27FC236}">
                <a16:creationId xmlns:a16="http://schemas.microsoft.com/office/drawing/2014/main" id="{57D2335A-219E-F010-ED57-8D327D322A72}"/>
              </a:ext>
            </a:extLst>
          </p:cNvPr>
          <p:cNvSpPr/>
          <p:nvPr>
            <p:custDataLst>
              <p:tags r:id="rId6"/>
            </p:custDataLst>
          </p:nvPr>
        </p:nvSpPr>
        <p:spPr bwMode="auto">
          <a:xfrm>
            <a:off x="7367531" y="1168743"/>
            <a:ext cx="1188720" cy="274320"/>
          </a:xfrm>
          <a:prstGeom prst="rect">
            <a:avLst/>
          </a:prstGeom>
          <a:solidFill>
            <a:srgbClr val="6F8DB9"/>
          </a:solidFill>
          <a:ln w="3175" cmpd="sng" algn="ctr">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14288" rIns="0" bIns="14288" rtlCol="0" anchor="ctr"/>
          <a:lstStyle/>
          <a:p>
            <a:pPr algn="ctr" defTabSz="1218987">
              <a:spcBef>
                <a:spcPct val="0"/>
              </a:spcBef>
              <a:spcAft>
                <a:spcPct val="0"/>
              </a:spcAft>
              <a:defRPr/>
            </a:pPr>
            <a:r>
              <a:rPr lang="en-US" sz="1200" b="1">
                <a:solidFill>
                  <a:prstClr val="white"/>
                </a:solidFill>
                <a:latin typeface="Tenorite" panose="00000500000000000000" pitchFamily="2" charset="0"/>
                <a:ea typeface="Calibri" panose="020F0502020204030204" pitchFamily="34" charset="0"/>
                <a:cs typeface="Calibri" panose="020F0502020204030204" pitchFamily="34" charset="0"/>
              </a:rPr>
              <a:t>FY2627 Q4</a:t>
            </a:r>
          </a:p>
        </p:txBody>
      </p:sp>
      <p:sp>
        <p:nvSpPr>
          <p:cNvPr id="20" name="Rectangle 19">
            <a:extLst>
              <a:ext uri="{FF2B5EF4-FFF2-40B4-BE49-F238E27FC236}">
                <a16:creationId xmlns:a16="http://schemas.microsoft.com/office/drawing/2014/main" id="{158E403F-3DA9-8040-9A9D-09F78F22AACD}"/>
              </a:ext>
            </a:extLst>
          </p:cNvPr>
          <p:cNvSpPr/>
          <p:nvPr>
            <p:custDataLst>
              <p:tags r:id="rId7"/>
            </p:custDataLst>
          </p:nvPr>
        </p:nvSpPr>
        <p:spPr bwMode="auto">
          <a:xfrm>
            <a:off x="8506173" y="1168743"/>
            <a:ext cx="1188720" cy="274320"/>
          </a:xfrm>
          <a:prstGeom prst="rect">
            <a:avLst/>
          </a:prstGeom>
          <a:solidFill>
            <a:schemeClr val="accent5">
              <a:lumMod val="50000"/>
            </a:schemeClr>
          </a:solidFill>
          <a:ln w="3175" cmpd="sng" algn="ctr">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14288" rIns="0" bIns="14288" rtlCol="0" anchor="ctr"/>
          <a:lstStyle/>
          <a:p>
            <a:pPr algn="ctr" defTabSz="1218987">
              <a:spcBef>
                <a:spcPct val="0"/>
              </a:spcBef>
              <a:spcAft>
                <a:spcPct val="0"/>
              </a:spcAft>
              <a:defRPr/>
            </a:pPr>
            <a:r>
              <a:rPr lang="en-US" altLang="en-US" sz="1200" b="1">
                <a:solidFill>
                  <a:prstClr val="white"/>
                </a:solidFill>
                <a:latin typeface="Tenorite" panose="00000500000000000000" pitchFamily="2" charset="0"/>
                <a:ea typeface="Calibri" panose="020F0502020204030204" pitchFamily="34" charset="0"/>
                <a:cs typeface="Calibri" panose="020F0502020204030204" pitchFamily="34" charset="0"/>
              </a:rPr>
              <a:t>FY2728 Q1</a:t>
            </a:r>
            <a:endParaRPr lang="en-US" sz="12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21" name="Rectangle 20">
            <a:extLst>
              <a:ext uri="{FF2B5EF4-FFF2-40B4-BE49-F238E27FC236}">
                <a16:creationId xmlns:a16="http://schemas.microsoft.com/office/drawing/2014/main" id="{16548A52-0DD3-864D-9671-3F1437E82C36}"/>
              </a:ext>
            </a:extLst>
          </p:cNvPr>
          <p:cNvSpPr/>
          <p:nvPr>
            <p:custDataLst>
              <p:tags r:id="rId8"/>
            </p:custDataLst>
          </p:nvPr>
        </p:nvSpPr>
        <p:spPr bwMode="auto">
          <a:xfrm>
            <a:off x="9644815" y="1168743"/>
            <a:ext cx="1188720" cy="274320"/>
          </a:xfrm>
          <a:prstGeom prst="rect">
            <a:avLst/>
          </a:prstGeom>
          <a:solidFill>
            <a:schemeClr val="accent5">
              <a:lumMod val="50000"/>
            </a:schemeClr>
          </a:solidFill>
          <a:ln w="3175" cmpd="sng" algn="ctr">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14288" rIns="0" bIns="14288" rtlCol="0" anchor="ctr"/>
          <a:lstStyle/>
          <a:p>
            <a:pPr algn="ctr" defTabSz="1218987">
              <a:spcBef>
                <a:spcPct val="0"/>
              </a:spcBef>
              <a:spcAft>
                <a:spcPct val="0"/>
              </a:spcAft>
              <a:defRPr/>
            </a:pPr>
            <a:r>
              <a:rPr lang="en-US" altLang="en-US" sz="1200" b="1">
                <a:solidFill>
                  <a:prstClr val="white"/>
                </a:solidFill>
                <a:latin typeface="Tenorite" panose="00000500000000000000" pitchFamily="2" charset="0"/>
                <a:ea typeface="Calibri" panose="020F0502020204030204" pitchFamily="34" charset="0"/>
                <a:cs typeface="Calibri" panose="020F0502020204030204" pitchFamily="34" charset="0"/>
              </a:rPr>
              <a:t>FY2728 Q2</a:t>
            </a:r>
            <a:endParaRPr lang="en-US" sz="12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24" name="Rectangle 23">
            <a:extLst>
              <a:ext uri="{FF2B5EF4-FFF2-40B4-BE49-F238E27FC236}">
                <a16:creationId xmlns:a16="http://schemas.microsoft.com/office/drawing/2014/main" id="{B8810E65-9F3A-6246-5DA8-16C3F5E17AEF}"/>
              </a:ext>
            </a:extLst>
          </p:cNvPr>
          <p:cNvSpPr/>
          <p:nvPr>
            <p:custDataLst>
              <p:tags r:id="rId9"/>
            </p:custDataLst>
          </p:nvPr>
        </p:nvSpPr>
        <p:spPr bwMode="auto">
          <a:xfrm>
            <a:off x="1674321" y="961236"/>
            <a:ext cx="806348" cy="218157"/>
          </a:xfrm>
          <a:prstGeom prst="rect">
            <a:avLst/>
          </a:prstGeom>
          <a:noFill/>
          <a:ln>
            <a:noFill/>
          </a:ln>
          <a:effectLst/>
          <a:extLst>
            <a:ext uri="{909E8E84-426E-40DD-AFC4-6F175D3DCCD1}">
              <a14:hiddenFill xmlns:a14="http://schemas.microsoft.com/office/drawing/2010/main">
                <a:solidFill>
                  <a:srgbClr val="B8252E"/>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rtlCol="0" anchor="ctr"/>
          <a:lstStyle/>
          <a:p>
            <a:pPr algn="ctr" defTabSz="1218987">
              <a:spcBef>
                <a:spcPct val="0"/>
              </a:spcBef>
              <a:spcAft>
                <a:spcPct val="0"/>
              </a:spcAft>
              <a:defRPr/>
            </a:pPr>
            <a:r>
              <a:rPr lang="en-US" altLang="en-US" sz="1050" b="1">
                <a:solidFill>
                  <a:srgbClr val="000000"/>
                </a:solidFill>
                <a:latin typeface="Tenorite" panose="00000500000000000000" pitchFamily="2" charset="0"/>
                <a:ea typeface="Calibri" panose="020F0502020204030204" pitchFamily="34" charset="0"/>
                <a:cs typeface="Calibri" panose="020F0502020204030204" pitchFamily="34" charset="0"/>
              </a:rPr>
              <a:t>Fiscal Year</a:t>
            </a:r>
            <a:endParaRPr lang="en-US" sz="1050" b="1">
              <a:solidFill>
                <a:srgbClr val="000000"/>
              </a:solidFill>
              <a:latin typeface="Tenorite" panose="00000500000000000000" pitchFamily="2" charset="0"/>
              <a:ea typeface="Calibri" panose="020F0502020204030204" pitchFamily="34" charset="0"/>
              <a:cs typeface="Calibri" panose="020F0502020204030204" pitchFamily="34" charset="0"/>
            </a:endParaRPr>
          </a:p>
        </p:txBody>
      </p:sp>
      <p:sp>
        <p:nvSpPr>
          <p:cNvPr id="25" name="Arrow: Pentagon 24">
            <a:extLst>
              <a:ext uri="{FF2B5EF4-FFF2-40B4-BE49-F238E27FC236}">
                <a16:creationId xmlns:a16="http://schemas.microsoft.com/office/drawing/2014/main" id="{B211630E-9B48-229A-5BF7-C7AAE465F81A}"/>
              </a:ext>
            </a:extLst>
          </p:cNvPr>
          <p:cNvSpPr/>
          <p:nvPr>
            <p:custDataLst>
              <p:tags r:id="rId10"/>
            </p:custDataLst>
          </p:nvPr>
        </p:nvSpPr>
        <p:spPr bwMode="auto">
          <a:xfrm>
            <a:off x="5908297" y="1847476"/>
            <a:ext cx="1097280" cy="365760"/>
          </a:xfrm>
          <a:prstGeom prst="homePlate">
            <a:avLst>
              <a:gd name="adj" fmla="val 28246"/>
            </a:avLst>
          </a:prstGeom>
          <a:solidFill>
            <a:srgbClr val="009CD8"/>
          </a:solidFill>
          <a:ln w="9525" cmpd="sng" algn="ctr">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0" anchor="ctr"/>
          <a:lstStyle/>
          <a:p>
            <a:pPr algn="ctr" defTabSz="1218987">
              <a:spcBef>
                <a:spcPct val="0"/>
              </a:spcBef>
              <a:spcAft>
                <a:spcPct val="0"/>
              </a:spcAft>
              <a:defRPr/>
            </a:pPr>
            <a:r>
              <a:rPr lang="en-US" altLang="en-US" sz="900" b="1">
                <a:solidFill>
                  <a:prstClr val="white"/>
                </a:solidFill>
                <a:latin typeface="Tenorite" panose="00000500000000000000" pitchFamily="2" charset="0"/>
                <a:ea typeface="Calibri" panose="020F0502020204030204" pitchFamily="34" charset="0"/>
                <a:cs typeface="Calibri" panose="020F0502020204030204" pitchFamily="34" charset="0"/>
              </a:rPr>
              <a:t>SIT ( 3Mon )</a:t>
            </a:r>
            <a:endParaRPr lang="en-US" sz="9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26" name="Arrow: Pentagon 25">
            <a:extLst>
              <a:ext uri="{FF2B5EF4-FFF2-40B4-BE49-F238E27FC236}">
                <a16:creationId xmlns:a16="http://schemas.microsoft.com/office/drawing/2014/main" id="{9A8B6355-DB84-D420-B252-81D2ADC74666}"/>
              </a:ext>
            </a:extLst>
          </p:cNvPr>
          <p:cNvSpPr/>
          <p:nvPr>
            <p:custDataLst>
              <p:tags r:id="rId11"/>
            </p:custDataLst>
          </p:nvPr>
        </p:nvSpPr>
        <p:spPr bwMode="auto">
          <a:xfrm>
            <a:off x="6998054" y="1847476"/>
            <a:ext cx="822960" cy="365760"/>
          </a:xfrm>
          <a:prstGeom prst="homePlate">
            <a:avLst>
              <a:gd name="adj" fmla="val 28246"/>
            </a:avLst>
          </a:prstGeom>
          <a:solidFill>
            <a:srgbClr val="009CD8"/>
          </a:solidFill>
          <a:ln w="9525" cmpd="sng" algn="ctr">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0" anchor="ctr"/>
          <a:lstStyle/>
          <a:p>
            <a:pPr algn="ctr" defTabSz="1218987">
              <a:spcBef>
                <a:spcPct val="0"/>
              </a:spcBef>
              <a:spcAft>
                <a:spcPct val="0"/>
              </a:spcAft>
              <a:defRPr/>
            </a:pPr>
            <a:r>
              <a:rPr lang="en-US" altLang="en-US" sz="900" b="1">
                <a:solidFill>
                  <a:prstClr val="white"/>
                </a:solidFill>
                <a:latin typeface="Tenorite" panose="00000500000000000000" pitchFamily="2" charset="0"/>
                <a:ea typeface="Calibri" panose="020F0502020204030204" pitchFamily="34" charset="0"/>
                <a:cs typeface="Calibri" panose="020F0502020204030204" pitchFamily="34" charset="0"/>
              </a:rPr>
              <a:t>Technical Data Migration (2Mon)</a:t>
            </a:r>
            <a:endParaRPr lang="en-US" sz="9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27" name="Arrow: Pentagon 26">
            <a:extLst>
              <a:ext uri="{FF2B5EF4-FFF2-40B4-BE49-F238E27FC236}">
                <a16:creationId xmlns:a16="http://schemas.microsoft.com/office/drawing/2014/main" id="{7E99D78C-CBC1-15CA-5EB3-7C3713B84C96}"/>
              </a:ext>
            </a:extLst>
          </p:cNvPr>
          <p:cNvSpPr/>
          <p:nvPr>
            <p:custDataLst>
              <p:tags r:id="rId12"/>
            </p:custDataLst>
          </p:nvPr>
        </p:nvSpPr>
        <p:spPr bwMode="auto">
          <a:xfrm>
            <a:off x="7848525" y="1847476"/>
            <a:ext cx="987354" cy="365760"/>
          </a:xfrm>
          <a:prstGeom prst="homePlate">
            <a:avLst>
              <a:gd name="adj" fmla="val 26509"/>
            </a:avLst>
          </a:prstGeom>
          <a:solidFill>
            <a:srgbClr val="009CD8"/>
          </a:solidFill>
          <a:ln w="9525" cmpd="sng" algn="ctr">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0" anchor="ctr"/>
          <a:lstStyle/>
          <a:p>
            <a:pPr algn="ctr" defTabSz="1218987">
              <a:spcBef>
                <a:spcPct val="0"/>
              </a:spcBef>
              <a:spcAft>
                <a:spcPct val="0"/>
              </a:spcAft>
              <a:defRPr/>
            </a:pPr>
            <a:r>
              <a:rPr lang="en-US" altLang="en-US" sz="900" b="1">
                <a:solidFill>
                  <a:prstClr val="white"/>
                </a:solidFill>
                <a:latin typeface="Tenorite" panose="00000500000000000000" pitchFamily="2" charset="0"/>
                <a:ea typeface="Calibri" panose="020F0502020204030204" pitchFamily="34" charset="0"/>
                <a:cs typeface="Calibri" panose="020F0502020204030204" pitchFamily="34" charset="0"/>
              </a:rPr>
              <a:t>Business validation (3Mon)</a:t>
            </a:r>
            <a:endParaRPr lang="en-US" sz="9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28" name="Rectangle 27">
            <a:extLst>
              <a:ext uri="{FF2B5EF4-FFF2-40B4-BE49-F238E27FC236}">
                <a16:creationId xmlns:a16="http://schemas.microsoft.com/office/drawing/2014/main" id="{54BC5523-B324-E0F5-BFAB-834FC2437E54}"/>
              </a:ext>
            </a:extLst>
          </p:cNvPr>
          <p:cNvSpPr/>
          <p:nvPr>
            <p:custDataLst>
              <p:tags r:id="rId13"/>
            </p:custDataLst>
          </p:nvPr>
        </p:nvSpPr>
        <p:spPr bwMode="auto">
          <a:xfrm>
            <a:off x="8465020" y="2852673"/>
            <a:ext cx="1325031" cy="27431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rtlCol="0" anchor="ctr"/>
          <a:lstStyle/>
          <a:p>
            <a:pPr algn="ctr" defTabSz="1218987">
              <a:spcBef>
                <a:spcPct val="0"/>
              </a:spcBef>
              <a:spcAft>
                <a:spcPct val="0"/>
              </a:spcAft>
              <a:defRPr/>
            </a:pPr>
            <a:r>
              <a:rPr lang="en-US" altLang="en-US" sz="900" b="1">
                <a:solidFill>
                  <a:srgbClr val="000000"/>
                </a:solidFill>
                <a:latin typeface="Tenorite" panose="00000500000000000000" pitchFamily="2" charset="0"/>
                <a:ea typeface="Calibri" panose="020F0502020204030204" pitchFamily="34" charset="0"/>
                <a:cs typeface="Calibri" panose="020F0502020204030204" pitchFamily="34" charset="0"/>
              </a:rPr>
              <a:t>4/30 AP/EMEA Go-live &amp; </a:t>
            </a:r>
          </a:p>
          <a:p>
            <a:pPr algn="ctr" defTabSz="1218987">
              <a:spcBef>
                <a:spcPct val="0"/>
              </a:spcBef>
              <a:spcAft>
                <a:spcPct val="0"/>
              </a:spcAft>
              <a:defRPr/>
            </a:pPr>
            <a:r>
              <a:rPr lang="en-US" altLang="en-US" sz="900" b="1">
                <a:solidFill>
                  <a:srgbClr val="000000"/>
                </a:solidFill>
                <a:latin typeface="Tenorite" panose="00000500000000000000" pitchFamily="2" charset="0"/>
                <a:ea typeface="Calibri" panose="020F0502020204030204" pitchFamily="34" charset="0"/>
                <a:cs typeface="Calibri" panose="020F0502020204030204" pitchFamily="34" charset="0"/>
              </a:rPr>
              <a:t>BRIM Decommissioning </a:t>
            </a:r>
            <a:endParaRPr lang="en-US" sz="900" b="1">
              <a:solidFill>
                <a:srgbClr val="000000"/>
              </a:solidFill>
              <a:latin typeface="Tenorite" panose="00000500000000000000" pitchFamily="2" charset="0"/>
              <a:ea typeface="Calibri" panose="020F0502020204030204" pitchFamily="34" charset="0"/>
              <a:cs typeface="Calibri" panose="020F0502020204030204" pitchFamily="34" charset="0"/>
            </a:endParaRPr>
          </a:p>
        </p:txBody>
      </p:sp>
      <p:sp>
        <p:nvSpPr>
          <p:cNvPr id="29" name="Arrow: Pentagon 28">
            <a:extLst>
              <a:ext uri="{FF2B5EF4-FFF2-40B4-BE49-F238E27FC236}">
                <a16:creationId xmlns:a16="http://schemas.microsoft.com/office/drawing/2014/main" id="{11876BF6-5A2C-ADBF-EF07-78D10BF418C9}"/>
              </a:ext>
            </a:extLst>
          </p:cNvPr>
          <p:cNvSpPr/>
          <p:nvPr>
            <p:custDataLst>
              <p:tags r:id="rId14"/>
            </p:custDataLst>
          </p:nvPr>
        </p:nvSpPr>
        <p:spPr bwMode="auto">
          <a:xfrm>
            <a:off x="8844843" y="1847476"/>
            <a:ext cx="805085" cy="365760"/>
          </a:xfrm>
          <a:prstGeom prst="homePlate">
            <a:avLst>
              <a:gd name="adj" fmla="val 24773"/>
            </a:avLst>
          </a:prstGeom>
          <a:solidFill>
            <a:srgbClr val="009CD8"/>
          </a:solidFill>
          <a:ln w="9525" cmpd="sng" algn="ctr">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0" anchor="ctr"/>
          <a:lstStyle/>
          <a:p>
            <a:pPr algn="ctr" defTabSz="1218987">
              <a:spcBef>
                <a:spcPct val="0"/>
              </a:spcBef>
              <a:spcAft>
                <a:spcPct val="0"/>
              </a:spcAft>
              <a:defRPr/>
            </a:pPr>
            <a:r>
              <a:rPr lang="en-US" altLang="en-US" sz="900" b="1">
                <a:solidFill>
                  <a:prstClr val="white"/>
                </a:solidFill>
                <a:latin typeface="Tenorite" panose="00000500000000000000" pitchFamily="2" charset="0"/>
                <a:ea typeface="Calibri" panose="020F0502020204030204" pitchFamily="34" charset="0"/>
                <a:cs typeface="Calibri" panose="020F0502020204030204" pitchFamily="34" charset="0"/>
              </a:rPr>
              <a:t>PPS ( 2Mon )</a:t>
            </a:r>
            <a:endParaRPr lang="en-US" sz="9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cxnSp>
        <p:nvCxnSpPr>
          <p:cNvPr id="30" name="Straight Connector 29">
            <a:extLst>
              <a:ext uri="{FF2B5EF4-FFF2-40B4-BE49-F238E27FC236}">
                <a16:creationId xmlns:a16="http://schemas.microsoft.com/office/drawing/2014/main" id="{F3222265-7143-AA9C-E5F6-C9F1BD3D9AA2}"/>
              </a:ext>
            </a:extLst>
          </p:cNvPr>
          <p:cNvCxnSpPr>
            <a:cxnSpLocks/>
          </p:cNvCxnSpPr>
          <p:nvPr/>
        </p:nvCxnSpPr>
        <p:spPr>
          <a:xfrm>
            <a:off x="1684610" y="6248487"/>
            <a:ext cx="9144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Isosceles Triangle 30">
            <a:extLst>
              <a:ext uri="{FF2B5EF4-FFF2-40B4-BE49-F238E27FC236}">
                <a16:creationId xmlns:a16="http://schemas.microsoft.com/office/drawing/2014/main" id="{F6987E55-2825-1734-3AE8-F545E5887978}"/>
              </a:ext>
            </a:extLst>
          </p:cNvPr>
          <p:cNvSpPr/>
          <p:nvPr>
            <p:custDataLst>
              <p:tags r:id="rId15"/>
            </p:custDataLst>
          </p:nvPr>
        </p:nvSpPr>
        <p:spPr bwMode="gray">
          <a:xfrm>
            <a:off x="6919157" y="2686289"/>
            <a:ext cx="101600" cy="101600"/>
          </a:xfrm>
          <a:prstGeom prst="triangle">
            <a:avLst/>
          </a:prstGeom>
          <a:solidFill>
            <a:schemeClr val="accent1"/>
          </a:solidFill>
          <a:ln w="9525" cmpd="sng" algn="ctr">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defTabSz="1218987">
              <a:defRPr/>
            </a:pPr>
            <a:endParaRPr lang="en-US" sz="1600" err="1">
              <a:solidFill>
                <a:prstClr val="white"/>
              </a:solidFill>
              <a:latin typeface="Tenorite" panose="00000500000000000000" pitchFamily="2" charset="0"/>
            </a:endParaRPr>
          </a:p>
        </p:txBody>
      </p:sp>
      <p:sp>
        <p:nvSpPr>
          <p:cNvPr id="32" name="Rectangle 31">
            <a:extLst>
              <a:ext uri="{FF2B5EF4-FFF2-40B4-BE49-F238E27FC236}">
                <a16:creationId xmlns:a16="http://schemas.microsoft.com/office/drawing/2014/main" id="{898D3DD3-AE0A-7C5E-1F7C-0C0B75509E6C}"/>
              </a:ext>
            </a:extLst>
          </p:cNvPr>
          <p:cNvSpPr/>
          <p:nvPr>
            <p:custDataLst>
              <p:tags r:id="rId16"/>
            </p:custDataLst>
          </p:nvPr>
        </p:nvSpPr>
        <p:spPr bwMode="auto">
          <a:xfrm>
            <a:off x="6419943" y="2852673"/>
            <a:ext cx="906435" cy="27431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rtlCol="0" anchor="ctr"/>
          <a:lstStyle/>
          <a:p>
            <a:pPr algn="ctr" defTabSz="1218987">
              <a:spcBef>
                <a:spcPct val="0"/>
              </a:spcBef>
              <a:spcAft>
                <a:spcPct val="0"/>
              </a:spcAft>
              <a:defRPr/>
            </a:pPr>
            <a:r>
              <a:rPr lang="en-US" altLang="en-US" sz="900" b="1">
                <a:solidFill>
                  <a:srgbClr val="000000"/>
                </a:solidFill>
                <a:latin typeface="Tenorite" panose="00000500000000000000" pitchFamily="2" charset="0"/>
                <a:ea typeface="Calibri" panose="020F0502020204030204" pitchFamily="34" charset="0"/>
                <a:cs typeface="Calibri" panose="020F0502020204030204" pitchFamily="34" charset="0"/>
              </a:rPr>
              <a:t>11/30 </a:t>
            </a:r>
            <a:r>
              <a:rPr lang="en-US" altLang="en-US" sz="900" b="1" err="1">
                <a:solidFill>
                  <a:srgbClr val="000000"/>
                </a:solidFill>
                <a:latin typeface="Tenorite" panose="00000500000000000000" pitchFamily="2" charset="0"/>
                <a:ea typeface="Calibri" panose="020F0502020204030204" pitchFamily="34" charset="0"/>
                <a:cs typeface="Calibri" panose="020F0502020204030204" pitchFamily="34" charset="0"/>
              </a:rPr>
              <a:t>NexBill</a:t>
            </a:r>
            <a:r>
              <a:rPr lang="en-US" altLang="en-US" sz="900" b="1">
                <a:solidFill>
                  <a:srgbClr val="000000"/>
                </a:solidFill>
                <a:latin typeface="Tenorite" panose="00000500000000000000" pitchFamily="2" charset="0"/>
                <a:ea typeface="Calibri" panose="020F0502020204030204" pitchFamily="34" charset="0"/>
                <a:cs typeface="Calibri" panose="020F0502020204030204" pitchFamily="34" charset="0"/>
              </a:rPr>
              <a:t> </a:t>
            </a:r>
          </a:p>
          <a:p>
            <a:pPr algn="ctr" defTabSz="1218987">
              <a:spcBef>
                <a:spcPct val="0"/>
              </a:spcBef>
              <a:spcAft>
                <a:spcPct val="0"/>
              </a:spcAft>
              <a:defRPr/>
            </a:pPr>
            <a:r>
              <a:rPr lang="en-US" altLang="en-US" sz="900" b="1">
                <a:solidFill>
                  <a:srgbClr val="000000"/>
                </a:solidFill>
                <a:latin typeface="Tenorite" panose="00000500000000000000" pitchFamily="2" charset="0"/>
                <a:ea typeface="Calibri" panose="020F0502020204030204" pitchFamily="34" charset="0"/>
                <a:cs typeface="Calibri" panose="020F0502020204030204" pitchFamily="34" charset="0"/>
              </a:rPr>
              <a:t>Ready to use</a:t>
            </a:r>
            <a:endParaRPr lang="en-US" sz="900" b="1">
              <a:solidFill>
                <a:srgbClr val="000000"/>
              </a:solidFill>
              <a:latin typeface="Tenorite" panose="00000500000000000000" pitchFamily="2" charset="0"/>
              <a:ea typeface="Calibri" panose="020F0502020204030204" pitchFamily="34" charset="0"/>
              <a:cs typeface="Calibri" panose="020F0502020204030204" pitchFamily="34" charset="0"/>
            </a:endParaRPr>
          </a:p>
        </p:txBody>
      </p:sp>
      <p:sp>
        <p:nvSpPr>
          <p:cNvPr id="33" name="Arrow: Pentagon 32">
            <a:extLst>
              <a:ext uri="{FF2B5EF4-FFF2-40B4-BE49-F238E27FC236}">
                <a16:creationId xmlns:a16="http://schemas.microsoft.com/office/drawing/2014/main" id="{FE936D9D-6F71-DD45-20A8-334BBF0240FF}"/>
              </a:ext>
            </a:extLst>
          </p:cNvPr>
          <p:cNvSpPr/>
          <p:nvPr>
            <p:custDataLst>
              <p:tags r:id="rId17"/>
            </p:custDataLst>
          </p:nvPr>
        </p:nvSpPr>
        <p:spPr bwMode="auto">
          <a:xfrm>
            <a:off x="2844455" y="1847476"/>
            <a:ext cx="822960" cy="365760"/>
          </a:xfrm>
          <a:prstGeom prst="homePlate">
            <a:avLst>
              <a:gd name="adj" fmla="val 28246"/>
            </a:avLst>
          </a:prstGeom>
          <a:solidFill>
            <a:srgbClr val="009CD8"/>
          </a:solidFill>
          <a:ln w="9525" cmpd="sng" algn="ctr">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0" anchor="ctr"/>
          <a:lstStyle/>
          <a:p>
            <a:pPr algn="ctr" defTabSz="1218987">
              <a:spcBef>
                <a:spcPct val="0"/>
              </a:spcBef>
              <a:spcAft>
                <a:spcPct val="0"/>
              </a:spcAft>
              <a:defRPr/>
            </a:pPr>
            <a:r>
              <a:rPr lang="en-US" altLang="en-US" sz="900" b="1">
                <a:solidFill>
                  <a:prstClr val="white"/>
                </a:solidFill>
                <a:latin typeface="Tenorite" panose="00000500000000000000" pitchFamily="2" charset="0"/>
                <a:ea typeface="Calibri" panose="020F0502020204030204" pitchFamily="34" charset="0"/>
                <a:cs typeface="Calibri" panose="020F0502020204030204" pitchFamily="34" charset="0"/>
              </a:rPr>
              <a:t>Design</a:t>
            </a:r>
          </a:p>
          <a:p>
            <a:pPr algn="ctr" defTabSz="1218987">
              <a:spcBef>
                <a:spcPct val="0"/>
              </a:spcBef>
              <a:spcAft>
                <a:spcPct val="0"/>
              </a:spcAft>
              <a:defRPr/>
            </a:pPr>
            <a:r>
              <a:rPr lang="en-US" altLang="en-US" sz="900" b="1">
                <a:solidFill>
                  <a:prstClr val="white"/>
                </a:solidFill>
                <a:latin typeface="Tenorite" panose="00000500000000000000" pitchFamily="2" charset="0"/>
                <a:ea typeface="Calibri" panose="020F0502020204030204" pitchFamily="34" charset="0"/>
                <a:cs typeface="Calibri" panose="020F0502020204030204" pitchFamily="34" charset="0"/>
              </a:rPr>
              <a:t> (2Mon)</a:t>
            </a:r>
            <a:endParaRPr lang="en-US" sz="9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43" name="Isosceles Triangle 42">
            <a:extLst>
              <a:ext uri="{FF2B5EF4-FFF2-40B4-BE49-F238E27FC236}">
                <a16:creationId xmlns:a16="http://schemas.microsoft.com/office/drawing/2014/main" id="{4A86DE7B-E621-1713-8E04-09CD4CCDE172}"/>
              </a:ext>
            </a:extLst>
          </p:cNvPr>
          <p:cNvSpPr/>
          <p:nvPr>
            <p:custDataLst>
              <p:tags r:id="rId18"/>
            </p:custDataLst>
          </p:nvPr>
        </p:nvSpPr>
        <p:spPr bwMode="gray">
          <a:xfrm>
            <a:off x="7324671" y="2686289"/>
            <a:ext cx="101600" cy="101600"/>
          </a:xfrm>
          <a:prstGeom prst="triangle">
            <a:avLst/>
          </a:prstGeom>
          <a:solidFill>
            <a:schemeClr val="accent1"/>
          </a:solidFill>
          <a:ln w="9525" cmpd="sng" algn="ctr">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defTabSz="1218987">
              <a:defRPr/>
            </a:pPr>
            <a:endParaRPr lang="en-US" sz="1600" err="1">
              <a:solidFill>
                <a:prstClr val="white"/>
              </a:solidFill>
              <a:latin typeface="Tenorite" panose="00000500000000000000" pitchFamily="2" charset="0"/>
            </a:endParaRPr>
          </a:p>
        </p:txBody>
      </p:sp>
      <p:sp>
        <p:nvSpPr>
          <p:cNvPr id="44" name="Rectangle 43">
            <a:extLst>
              <a:ext uri="{FF2B5EF4-FFF2-40B4-BE49-F238E27FC236}">
                <a16:creationId xmlns:a16="http://schemas.microsoft.com/office/drawing/2014/main" id="{6DCED56B-DC1B-2D93-968E-3C6087867D7F}"/>
              </a:ext>
            </a:extLst>
          </p:cNvPr>
          <p:cNvSpPr/>
          <p:nvPr>
            <p:custDataLst>
              <p:tags r:id="rId19"/>
            </p:custDataLst>
          </p:nvPr>
        </p:nvSpPr>
        <p:spPr bwMode="auto">
          <a:xfrm>
            <a:off x="7182411" y="2834686"/>
            <a:ext cx="906435" cy="27431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rtlCol="0" anchor="ctr"/>
          <a:lstStyle/>
          <a:p>
            <a:pPr algn="ctr" defTabSz="1218987">
              <a:spcBef>
                <a:spcPct val="0"/>
              </a:spcBef>
              <a:spcAft>
                <a:spcPct val="0"/>
              </a:spcAft>
              <a:defRPr/>
            </a:pPr>
            <a:r>
              <a:rPr lang="en-US" altLang="en-US" sz="900" b="1">
                <a:solidFill>
                  <a:srgbClr val="000000"/>
                </a:solidFill>
                <a:latin typeface="Tenorite" panose="00000500000000000000" pitchFamily="2" charset="0"/>
                <a:ea typeface="Calibri" panose="020F0502020204030204" pitchFamily="34" charset="0"/>
                <a:cs typeface="Calibri" panose="020F0502020204030204" pitchFamily="34" charset="0"/>
              </a:rPr>
              <a:t>1/1 NA</a:t>
            </a:r>
          </a:p>
          <a:p>
            <a:pPr algn="ctr" defTabSz="1218987">
              <a:spcBef>
                <a:spcPct val="0"/>
              </a:spcBef>
              <a:spcAft>
                <a:spcPct val="0"/>
              </a:spcAft>
              <a:defRPr/>
            </a:pPr>
            <a:r>
              <a:rPr lang="en-US" altLang="en-US" sz="900" b="1">
                <a:solidFill>
                  <a:srgbClr val="000000"/>
                </a:solidFill>
                <a:latin typeface="Tenorite" panose="00000500000000000000" pitchFamily="2" charset="0"/>
                <a:ea typeface="Calibri" panose="020F0502020204030204" pitchFamily="34" charset="0"/>
                <a:cs typeface="Calibri" panose="020F0502020204030204" pitchFamily="34" charset="0"/>
              </a:rPr>
              <a:t> go-live</a:t>
            </a:r>
          </a:p>
        </p:txBody>
      </p:sp>
      <p:sp>
        <p:nvSpPr>
          <p:cNvPr id="45" name="Rectangle 44">
            <a:extLst>
              <a:ext uri="{FF2B5EF4-FFF2-40B4-BE49-F238E27FC236}">
                <a16:creationId xmlns:a16="http://schemas.microsoft.com/office/drawing/2014/main" id="{E1A0E1F0-3787-C402-1D89-391A6536F798}"/>
              </a:ext>
            </a:extLst>
          </p:cNvPr>
          <p:cNvSpPr/>
          <p:nvPr>
            <p:custDataLst>
              <p:tags r:id="rId20"/>
            </p:custDataLst>
          </p:nvPr>
        </p:nvSpPr>
        <p:spPr bwMode="auto">
          <a:xfrm>
            <a:off x="1674321" y="1168743"/>
            <a:ext cx="1188720" cy="274320"/>
          </a:xfrm>
          <a:prstGeom prst="rect">
            <a:avLst/>
          </a:prstGeom>
          <a:solidFill>
            <a:srgbClr val="0070C0"/>
          </a:solidFill>
          <a:ln w="3175" cmpd="sng" algn="ctr">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14288" rIns="0" bIns="14288" rtlCol="0" anchor="ctr"/>
          <a:lstStyle/>
          <a:p>
            <a:pPr algn="ctr" defTabSz="1218987">
              <a:spcBef>
                <a:spcPct val="0"/>
              </a:spcBef>
              <a:spcAft>
                <a:spcPct val="0"/>
              </a:spcAft>
              <a:defRPr/>
            </a:pPr>
            <a:r>
              <a:rPr lang="en-US" altLang="en-US" sz="1200" b="1">
                <a:solidFill>
                  <a:prstClr val="white"/>
                </a:solidFill>
                <a:latin typeface="Tenorite" panose="00000500000000000000" pitchFamily="2" charset="0"/>
                <a:ea typeface="Calibri" panose="020F0502020204030204" pitchFamily="34" charset="0"/>
                <a:cs typeface="Calibri" panose="020F0502020204030204" pitchFamily="34" charset="0"/>
              </a:rPr>
              <a:t>FY2526 Q3</a:t>
            </a:r>
            <a:endParaRPr lang="en-US" sz="12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47" name="Arrow: Pentagon 46">
            <a:extLst>
              <a:ext uri="{FF2B5EF4-FFF2-40B4-BE49-F238E27FC236}">
                <a16:creationId xmlns:a16="http://schemas.microsoft.com/office/drawing/2014/main" id="{46D035C4-7FAB-459E-89D1-5432D9025817}"/>
              </a:ext>
            </a:extLst>
          </p:cNvPr>
          <p:cNvSpPr/>
          <p:nvPr>
            <p:custDataLst>
              <p:tags r:id="rId21"/>
            </p:custDataLst>
          </p:nvPr>
        </p:nvSpPr>
        <p:spPr bwMode="auto">
          <a:xfrm>
            <a:off x="3667112" y="1847476"/>
            <a:ext cx="2241185" cy="365760"/>
          </a:xfrm>
          <a:prstGeom prst="homePlate">
            <a:avLst>
              <a:gd name="adj" fmla="val 28246"/>
            </a:avLst>
          </a:prstGeom>
          <a:solidFill>
            <a:srgbClr val="009CD8"/>
          </a:solidFill>
          <a:ln w="9525" cmpd="sng" algn="ctr">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0" anchor="ctr"/>
          <a:lstStyle/>
          <a:p>
            <a:pPr algn="ctr" defTabSz="1218987">
              <a:spcBef>
                <a:spcPct val="0"/>
              </a:spcBef>
              <a:spcAft>
                <a:spcPct val="0"/>
              </a:spcAft>
              <a:defRPr/>
            </a:pPr>
            <a:r>
              <a:rPr lang="en-US" altLang="en-US" sz="900" b="1">
                <a:solidFill>
                  <a:prstClr val="white"/>
                </a:solidFill>
                <a:latin typeface="Tenorite" panose="00000500000000000000" pitchFamily="2" charset="0"/>
                <a:ea typeface="Calibri" panose="020F0502020204030204" pitchFamily="34" charset="0"/>
                <a:cs typeface="Calibri" panose="020F0502020204030204" pitchFamily="34" charset="0"/>
              </a:rPr>
              <a:t>Development ( 6Mon )</a:t>
            </a:r>
            <a:endParaRPr lang="en-US" sz="9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53" name="Isosceles Triangle 52">
            <a:extLst>
              <a:ext uri="{FF2B5EF4-FFF2-40B4-BE49-F238E27FC236}">
                <a16:creationId xmlns:a16="http://schemas.microsoft.com/office/drawing/2014/main" id="{38575E87-CAC6-9476-4C10-C72E4ABB83B8}"/>
              </a:ext>
            </a:extLst>
          </p:cNvPr>
          <p:cNvSpPr/>
          <p:nvPr>
            <p:custDataLst>
              <p:tags r:id="rId22"/>
            </p:custDataLst>
          </p:nvPr>
        </p:nvSpPr>
        <p:spPr bwMode="gray">
          <a:xfrm>
            <a:off x="8746631" y="2686289"/>
            <a:ext cx="101600" cy="101600"/>
          </a:xfrm>
          <a:prstGeom prst="triangle">
            <a:avLst/>
          </a:prstGeom>
          <a:solidFill>
            <a:schemeClr val="accent1"/>
          </a:solidFill>
          <a:ln w="9525" cmpd="sng" algn="ctr">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defTabSz="1218987">
              <a:defRPr/>
            </a:pPr>
            <a:endParaRPr lang="en-US" sz="1600" err="1">
              <a:solidFill>
                <a:prstClr val="white"/>
              </a:solidFill>
              <a:latin typeface="Tenorite" panose="00000500000000000000" pitchFamily="2" charset="0"/>
            </a:endParaRPr>
          </a:p>
        </p:txBody>
      </p:sp>
      <p:sp>
        <p:nvSpPr>
          <p:cNvPr id="56" name="Arrow: Pentagon 55">
            <a:extLst>
              <a:ext uri="{FF2B5EF4-FFF2-40B4-BE49-F238E27FC236}">
                <a16:creationId xmlns:a16="http://schemas.microsoft.com/office/drawing/2014/main" id="{01A990F6-1307-761D-1D43-9ED3D7B3353B}"/>
              </a:ext>
            </a:extLst>
          </p:cNvPr>
          <p:cNvSpPr/>
          <p:nvPr>
            <p:custDataLst>
              <p:tags r:id="rId23"/>
            </p:custDataLst>
          </p:nvPr>
        </p:nvSpPr>
        <p:spPr bwMode="auto">
          <a:xfrm>
            <a:off x="2022461" y="1847476"/>
            <a:ext cx="822960" cy="365760"/>
          </a:xfrm>
          <a:prstGeom prst="homePlate">
            <a:avLst>
              <a:gd name="adj" fmla="val 28246"/>
            </a:avLst>
          </a:prstGeom>
          <a:solidFill>
            <a:srgbClr val="009CD8"/>
          </a:solidFill>
          <a:ln w="9525" cmpd="sng" algn="ctr">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0" anchor="ctr"/>
          <a:lstStyle/>
          <a:p>
            <a:pPr algn="ctr" defTabSz="1218987">
              <a:spcBef>
                <a:spcPct val="0"/>
              </a:spcBef>
              <a:spcAft>
                <a:spcPct val="0"/>
              </a:spcAft>
              <a:defRPr/>
            </a:pPr>
            <a:r>
              <a:rPr lang="en-US" altLang="en-US" sz="900" b="1">
                <a:solidFill>
                  <a:prstClr val="white"/>
                </a:solidFill>
                <a:latin typeface="Tenorite" panose="00000500000000000000" pitchFamily="2" charset="0"/>
                <a:ea typeface="Calibri" panose="020F0502020204030204" pitchFamily="34" charset="0"/>
                <a:cs typeface="Calibri" panose="020F0502020204030204" pitchFamily="34" charset="0"/>
              </a:rPr>
              <a:t>Project Charter</a:t>
            </a:r>
          </a:p>
          <a:p>
            <a:pPr algn="ctr" defTabSz="1218987">
              <a:spcBef>
                <a:spcPct val="0"/>
              </a:spcBef>
              <a:spcAft>
                <a:spcPct val="0"/>
              </a:spcAft>
              <a:defRPr/>
            </a:pPr>
            <a:r>
              <a:rPr lang="en-US" sz="900" b="1">
                <a:solidFill>
                  <a:prstClr val="white"/>
                </a:solidFill>
                <a:latin typeface="Tenorite" panose="00000500000000000000" pitchFamily="2" charset="0"/>
                <a:ea typeface="Calibri" panose="020F0502020204030204" pitchFamily="34" charset="0"/>
                <a:cs typeface="Calibri" panose="020F0502020204030204" pitchFamily="34" charset="0"/>
              </a:rPr>
              <a:t>(2Mon)</a:t>
            </a:r>
          </a:p>
        </p:txBody>
      </p:sp>
      <p:sp>
        <p:nvSpPr>
          <p:cNvPr id="57" name="Isosceles Triangle 56">
            <a:extLst>
              <a:ext uri="{FF2B5EF4-FFF2-40B4-BE49-F238E27FC236}">
                <a16:creationId xmlns:a16="http://schemas.microsoft.com/office/drawing/2014/main" id="{0EF8B7D2-6779-D6C0-A864-230665B54901}"/>
              </a:ext>
            </a:extLst>
          </p:cNvPr>
          <p:cNvSpPr/>
          <p:nvPr>
            <p:custDataLst>
              <p:tags r:id="rId24"/>
            </p:custDataLst>
          </p:nvPr>
        </p:nvSpPr>
        <p:spPr bwMode="gray">
          <a:xfrm>
            <a:off x="1941437" y="2686289"/>
            <a:ext cx="101600" cy="101600"/>
          </a:xfrm>
          <a:prstGeom prst="triangle">
            <a:avLst/>
          </a:prstGeom>
          <a:solidFill>
            <a:schemeClr val="accent1"/>
          </a:solidFill>
          <a:ln w="9525" cmpd="sng" algn="ctr">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defTabSz="1218987">
              <a:defRPr/>
            </a:pPr>
            <a:endParaRPr lang="en-US" sz="1600" err="1">
              <a:solidFill>
                <a:prstClr val="white"/>
              </a:solidFill>
              <a:latin typeface="Tenorite" panose="00000500000000000000" pitchFamily="2" charset="0"/>
            </a:endParaRPr>
          </a:p>
        </p:txBody>
      </p:sp>
      <p:sp>
        <p:nvSpPr>
          <p:cNvPr id="58" name="Rectangle 57">
            <a:extLst>
              <a:ext uri="{FF2B5EF4-FFF2-40B4-BE49-F238E27FC236}">
                <a16:creationId xmlns:a16="http://schemas.microsoft.com/office/drawing/2014/main" id="{274FFAC3-2687-1D01-9EA3-805D40F527B4}"/>
              </a:ext>
            </a:extLst>
          </p:cNvPr>
          <p:cNvSpPr/>
          <p:nvPr>
            <p:custDataLst>
              <p:tags r:id="rId25"/>
            </p:custDataLst>
          </p:nvPr>
        </p:nvSpPr>
        <p:spPr bwMode="auto">
          <a:xfrm>
            <a:off x="1796843" y="2852673"/>
            <a:ext cx="606916" cy="27431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rtlCol="0" anchor="ctr"/>
          <a:lstStyle/>
          <a:p>
            <a:pPr algn="ctr" defTabSz="1218987">
              <a:spcBef>
                <a:spcPct val="0"/>
              </a:spcBef>
              <a:spcAft>
                <a:spcPct val="0"/>
              </a:spcAft>
              <a:defRPr/>
            </a:pP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Nov 1</a:t>
            </a:r>
            <a:r>
              <a:rPr lang="en-US" sz="900" b="1" baseline="30000">
                <a:solidFill>
                  <a:srgbClr val="000000"/>
                </a:solidFill>
                <a:latin typeface="Tenorite" panose="00000500000000000000" pitchFamily="2" charset="0"/>
                <a:ea typeface="Calibri" panose="020F0502020204030204" pitchFamily="34" charset="0"/>
                <a:cs typeface="Calibri" panose="020F0502020204030204" pitchFamily="34" charset="0"/>
              </a:rPr>
              <a:t>st</a:t>
            </a: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 , 2025</a:t>
            </a:r>
          </a:p>
        </p:txBody>
      </p:sp>
      <p:sp>
        <p:nvSpPr>
          <p:cNvPr id="59" name="Isosceles Triangle 58">
            <a:extLst>
              <a:ext uri="{FF2B5EF4-FFF2-40B4-BE49-F238E27FC236}">
                <a16:creationId xmlns:a16="http://schemas.microsoft.com/office/drawing/2014/main" id="{66BEA80E-938E-502C-DDF0-640660E32A82}"/>
              </a:ext>
            </a:extLst>
          </p:cNvPr>
          <p:cNvSpPr/>
          <p:nvPr>
            <p:custDataLst>
              <p:tags r:id="rId26"/>
            </p:custDataLst>
          </p:nvPr>
        </p:nvSpPr>
        <p:spPr bwMode="gray">
          <a:xfrm>
            <a:off x="2786229" y="2686289"/>
            <a:ext cx="101600" cy="101600"/>
          </a:xfrm>
          <a:prstGeom prst="triangle">
            <a:avLst/>
          </a:prstGeom>
          <a:solidFill>
            <a:schemeClr val="accent1"/>
          </a:solidFill>
          <a:ln w="9525" cmpd="sng" algn="ctr">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defTabSz="1218987">
              <a:defRPr/>
            </a:pPr>
            <a:endParaRPr lang="en-US" sz="1600" err="1">
              <a:solidFill>
                <a:prstClr val="white"/>
              </a:solidFill>
              <a:latin typeface="Tenorite" panose="00000500000000000000" pitchFamily="2" charset="0"/>
            </a:endParaRPr>
          </a:p>
        </p:txBody>
      </p:sp>
      <p:sp>
        <p:nvSpPr>
          <p:cNvPr id="60" name="Rectangle 59">
            <a:extLst>
              <a:ext uri="{FF2B5EF4-FFF2-40B4-BE49-F238E27FC236}">
                <a16:creationId xmlns:a16="http://schemas.microsoft.com/office/drawing/2014/main" id="{8E286182-5869-4943-64CC-BC84050ECCE3}"/>
              </a:ext>
            </a:extLst>
          </p:cNvPr>
          <p:cNvSpPr/>
          <p:nvPr>
            <p:custDataLst>
              <p:tags r:id="rId27"/>
            </p:custDataLst>
          </p:nvPr>
        </p:nvSpPr>
        <p:spPr bwMode="auto">
          <a:xfrm>
            <a:off x="2750801" y="2852673"/>
            <a:ext cx="606916" cy="27431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rtlCol="0" anchor="ctr"/>
          <a:lstStyle/>
          <a:p>
            <a:pPr algn="ctr" defTabSz="1218987">
              <a:spcBef>
                <a:spcPct val="0"/>
              </a:spcBef>
              <a:spcAft>
                <a:spcPct val="0"/>
              </a:spcAft>
              <a:defRPr/>
            </a:pP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Jan 13</a:t>
            </a:r>
            <a:r>
              <a:rPr lang="en-US" sz="900" b="1" baseline="30000">
                <a:solidFill>
                  <a:srgbClr val="000000"/>
                </a:solidFill>
                <a:latin typeface="Tenorite" panose="00000500000000000000" pitchFamily="2" charset="0"/>
                <a:ea typeface="Calibri" panose="020F0502020204030204" pitchFamily="34" charset="0"/>
                <a:cs typeface="Calibri" panose="020F0502020204030204" pitchFamily="34" charset="0"/>
              </a:rPr>
              <a:t>th</a:t>
            </a: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 , 2026</a:t>
            </a:r>
          </a:p>
          <a:p>
            <a:pPr algn="ctr" defTabSz="1218987">
              <a:spcBef>
                <a:spcPct val="0"/>
              </a:spcBef>
              <a:spcAft>
                <a:spcPct val="0"/>
              </a:spcAft>
              <a:defRPr/>
            </a:pP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Kick off</a:t>
            </a:r>
          </a:p>
        </p:txBody>
      </p:sp>
      <p:sp>
        <p:nvSpPr>
          <p:cNvPr id="61" name="Arrow: Pentagon 60">
            <a:extLst>
              <a:ext uri="{FF2B5EF4-FFF2-40B4-BE49-F238E27FC236}">
                <a16:creationId xmlns:a16="http://schemas.microsoft.com/office/drawing/2014/main" id="{BE0ED89E-6166-CF18-8D0A-4110E14D72FC}"/>
              </a:ext>
            </a:extLst>
          </p:cNvPr>
          <p:cNvSpPr/>
          <p:nvPr>
            <p:custDataLst>
              <p:tags r:id="rId28"/>
            </p:custDataLst>
          </p:nvPr>
        </p:nvSpPr>
        <p:spPr bwMode="auto">
          <a:xfrm>
            <a:off x="3685663" y="5214449"/>
            <a:ext cx="486374" cy="230832"/>
          </a:xfrm>
          <a:prstGeom prst="homePlate">
            <a:avLst>
              <a:gd name="adj" fmla="val 28246"/>
            </a:avLst>
          </a:prstGeom>
          <a:solidFill>
            <a:schemeClr val="accent6">
              <a:lumMod val="10000"/>
              <a:lumOff val="90000"/>
            </a:schemeClr>
          </a:solidFill>
          <a:effectLst>
            <a:outerShdw blurRad="50800" dist="38100" dir="2700000" algn="tl" rotWithShape="0">
              <a:prstClr val="black">
                <a:alpha val="40000"/>
              </a:prstClr>
            </a:outerShdw>
          </a:effectLst>
        </p:spPr>
        <p:txBody>
          <a:bodyPr wrap="square" lIns="0" tIns="0" rIns="0" bIns="0" rtlCol="0">
            <a:spAutoFit/>
          </a:bodyPr>
          <a:lstStyle/>
          <a:p>
            <a:pPr algn="ctr" defTabSz="1218987">
              <a:defRPr/>
            </a:pPr>
            <a:r>
              <a:rPr lang="en-US" altLang="en-US" sz="500" b="1">
                <a:solidFill>
                  <a:srgbClr val="000000"/>
                </a:solidFill>
                <a:latin typeface="Tenorite" panose="00000500000000000000" pitchFamily="2" charset="0"/>
                <a:cs typeface="Arial" pitchFamily="34" charset="0"/>
              </a:rPr>
              <a:t>Master Data &amp; Foundation </a:t>
            </a:r>
          </a:p>
          <a:p>
            <a:pPr algn="ctr" defTabSz="1218987">
              <a:defRPr/>
            </a:pPr>
            <a:r>
              <a:rPr lang="en-US" altLang="en-US" sz="500" b="1">
                <a:solidFill>
                  <a:srgbClr val="000000"/>
                </a:solidFill>
                <a:latin typeface="Tenorite" panose="00000500000000000000" pitchFamily="2" charset="0"/>
                <a:cs typeface="Arial" pitchFamily="34" charset="0"/>
              </a:rPr>
              <a:t>( 1.5M )</a:t>
            </a:r>
            <a:endParaRPr lang="en-US" sz="500" b="1">
              <a:solidFill>
                <a:srgbClr val="000000"/>
              </a:solidFill>
              <a:latin typeface="Tenorite" panose="00000500000000000000" pitchFamily="2" charset="0"/>
              <a:cs typeface="Arial" pitchFamily="34" charset="0"/>
            </a:endParaRPr>
          </a:p>
        </p:txBody>
      </p:sp>
      <p:sp>
        <p:nvSpPr>
          <p:cNvPr id="62" name="Arrow: Pentagon 61">
            <a:extLst>
              <a:ext uri="{FF2B5EF4-FFF2-40B4-BE49-F238E27FC236}">
                <a16:creationId xmlns:a16="http://schemas.microsoft.com/office/drawing/2014/main" id="{D79CCC00-9925-1364-309C-E66ADD1419E1}"/>
              </a:ext>
            </a:extLst>
          </p:cNvPr>
          <p:cNvSpPr/>
          <p:nvPr>
            <p:custDataLst>
              <p:tags r:id="rId29"/>
            </p:custDataLst>
          </p:nvPr>
        </p:nvSpPr>
        <p:spPr bwMode="auto">
          <a:xfrm>
            <a:off x="3678801" y="5475199"/>
            <a:ext cx="1469635" cy="215444"/>
          </a:xfrm>
          <a:prstGeom prst="homePlate">
            <a:avLst>
              <a:gd name="adj" fmla="val 28246"/>
            </a:avLst>
          </a:prstGeom>
          <a:solidFill>
            <a:schemeClr val="accent6">
              <a:lumMod val="10000"/>
              <a:lumOff val="90000"/>
            </a:schemeClr>
          </a:solidFill>
          <a:effectLst>
            <a:outerShdw blurRad="50800" dist="38100" dir="2700000" algn="tl" rotWithShape="0">
              <a:prstClr val="black">
                <a:alpha val="40000"/>
              </a:prstClr>
            </a:outerShdw>
          </a:effectLst>
        </p:spPr>
        <p:txBody>
          <a:bodyPr wrap="square" lIns="0" tIns="0" rIns="0" bIns="0" rtlCol="0">
            <a:spAutoFit/>
          </a:bodyPr>
          <a:lstStyle/>
          <a:p>
            <a:pPr algn="ctr" defTabSz="1218987">
              <a:defRPr/>
            </a:pPr>
            <a:r>
              <a:rPr lang="en-US" altLang="en-US" sz="700" b="1">
                <a:solidFill>
                  <a:srgbClr val="000000"/>
                </a:solidFill>
                <a:latin typeface="Tenorite" panose="00000500000000000000" pitchFamily="2" charset="0"/>
                <a:cs typeface="Arial" pitchFamily="34" charset="0"/>
              </a:rPr>
              <a:t>IaaS Metering, Usage Calculation </a:t>
            </a:r>
          </a:p>
          <a:p>
            <a:pPr algn="ctr" defTabSz="1218987">
              <a:defRPr/>
            </a:pPr>
            <a:r>
              <a:rPr lang="en-US" altLang="en-US" sz="700" b="1">
                <a:solidFill>
                  <a:srgbClr val="000000"/>
                </a:solidFill>
                <a:latin typeface="Tenorite" panose="00000500000000000000" pitchFamily="2" charset="0"/>
                <a:cs typeface="Arial" pitchFamily="34" charset="0"/>
              </a:rPr>
              <a:t>( 4M )</a:t>
            </a:r>
            <a:endParaRPr lang="en-US" sz="700" b="1">
              <a:solidFill>
                <a:srgbClr val="000000"/>
              </a:solidFill>
              <a:latin typeface="Tenorite" panose="00000500000000000000" pitchFamily="2" charset="0"/>
              <a:cs typeface="Arial" pitchFamily="34" charset="0"/>
            </a:endParaRPr>
          </a:p>
        </p:txBody>
      </p:sp>
      <p:sp>
        <p:nvSpPr>
          <p:cNvPr id="63" name="Arrow: Pentagon 62">
            <a:extLst>
              <a:ext uri="{FF2B5EF4-FFF2-40B4-BE49-F238E27FC236}">
                <a16:creationId xmlns:a16="http://schemas.microsoft.com/office/drawing/2014/main" id="{9CB7449E-85F3-CD75-8300-ABFDF65E5800}"/>
              </a:ext>
            </a:extLst>
          </p:cNvPr>
          <p:cNvSpPr/>
          <p:nvPr>
            <p:custDataLst>
              <p:tags r:id="rId30"/>
            </p:custDataLst>
          </p:nvPr>
        </p:nvSpPr>
        <p:spPr bwMode="auto">
          <a:xfrm>
            <a:off x="3958954" y="5729312"/>
            <a:ext cx="1920240" cy="123111"/>
          </a:xfrm>
          <a:prstGeom prst="homePlate">
            <a:avLst>
              <a:gd name="adj" fmla="val 28246"/>
            </a:avLst>
          </a:prstGeom>
          <a:solidFill>
            <a:schemeClr val="accent6">
              <a:lumMod val="10000"/>
              <a:lumOff val="90000"/>
            </a:schemeClr>
          </a:solidFill>
          <a:effectLst>
            <a:outerShdw blurRad="50800" dist="38100" dir="2700000" algn="tl" rotWithShape="0">
              <a:prstClr val="black">
                <a:alpha val="40000"/>
              </a:prstClr>
            </a:outerShdw>
          </a:effectLst>
        </p:spPr>
        <p:txBody>
          <a:bodyPr wrap="square" lIns="0" tIns="0" rIns="0" bIns="0" rtlCol="0">
            <a:spAutoFit/>
          </a:bodyPr>
          <a:lstStyle/>
          <a:p>
            <a:pPr algn="ctr" defTabSz="1218987">
              <a:defRPr/>
            </a:pPr>
            <a:r>
              <a:rPr lang="en-US" altLang="en-US" sz="800" b="1">
                <a:solidFill>
                  <a:srgbClr val="000000"/>
                </a:solidFill>
                <a:latin typeface="Tenorite" panose="00000500000000000000" pitchFamily="2" charset="0"/>
                <a:cs typeface="Arial" pitchFamily="34" charset="0"/>
              </a:rPr>
              <a:t>Billing, Tax, Accounting (5M)</a:t>
            </a:r>
            <a:endParaRPr lang="en-US" sz="800" b="1">
              <a:solidFill>
                <a:srgbClr val="000000"/>
              </a:solidFill>
              <a:latin typeface="Tenorite" panose="00000500000000000000" pitchFamily="2" charset="0"/>
              <a:cs typeface="Arial" pitchFamily="34" charset="0"/>
            </a:endParaRPr>
          </a:p>
        </p:txBody>
      </p:sp>
      <p:sp>
        <p:nvSpPr>
          <p:cNvPr id="192" name="Arrow: Pentagon 191">
            <a:extLst>
              <a:ext uri="{FF2B5EF4-FFF2-40B4-BE49-F238E27FC236}">
                <a16:creationId xmlns:a16="http://schemas.microsoft.com/office/drawing/2014/main" id="{08EE4C4F-D9D5-44AB-99AB-B9A72FB160D7}"/>
              </a:ext>
            </a:extLst>
          </p:cNvPr>
          <p:cNvSpPr/>
          <p:nvPr>
            <p:custDataLst>
              <p:tags r:id="rId31"/>
            </p:custDataLst>
          </p:nvPr>
        </p:nvSpPr>
        <p:spPr bwMode="auto">
          <a:xfrm>
            <a:off x="5086591" y="5883225"/>
            <a:ext cx="792244" cy="123111"/>
          </a:xfrm>
          <a:prstGeom prst="homePlate">
            <a:avLst>
              <a:gd name="adj" fmla="val 28246"/>
            </a:avLst>
          </a:prstGeom>
          <a:solidFill>
            <a:schemeClr val="accent6">
              <a:lumMod val="10000"/>
              <a:lumOff val="90000"/>
            </a:schemeClr>
          </a:solidFill>
          <a:effectLst>
            <a:outerShdw blurRad="50800" dist="38100" dir="2700000" algn="tl" rotWithShape="0">
              <a:prstClr val="black">
                <a:alpha val="40000"/>
              </a:prstClr>
            </a:outerShdw>
          </a:effectLst>
        </p:spPr>
        <p:txBody>
          <a:bodyPr wrap="square" lIns="0" tIns="0" rIns="0" bIns="0" rtlCol="0">
            <a:spAutoFit/>
          </a:bodyPr>
          <a:lstStyle/>
          <a:p>
            <a:pPr algn="ctr" defTabSz="1218987">
              <a:defRPr/>
            </a:pPr>
            <a:r>
              <a:rPr lang="en-US" altLang="en-US" sz="800" b="1">
                <a:solidFill>
                  <a:srgbClr val="000000"/>
                </a:solidFill>
                <a:latin typeface="Tenorite" panose="00000500000000000000" pitchFamily="2" charset="0"/>
                <a:cs typeface="Arial" pitchFamily="34" charset="0"/>
              </a:rPr>
              <a:t>Report (2M)</a:t>
            </a:r>
            <a:endParaRPr lang="en-US" sz="800" b="1">
              <a:solidFill>
                <a:srgbClr val="000000"/>
              </a:solidFill>
              <a:latin typeface="Tenorite" panose="00000500000000000000" pitchFamily="2" charset="0"/>
              <a:cs typeface="Arial" pitchFamily="34" charset="0"/>
            </a:endParaRPr>
          </a:p>
        </p:txBody>
      </p:sp>
      <p:sp>
        <p:nvSpPr>
          <p:cNvPr id="193" name="Arrow: Pentagon 192">
            <a:extLst>
              <a:ext uri="{FF2B5EF4-FFF2-40B4-BE49-F238E27FC236}">
                <a16:creationId xmlns:a16="http://schemas.microsoft.com/office/drawing/2014/main" id="{437B43C7-0541-32B8-49BA-3A587987C597}"/>
              </a:ext>
            </a:extLst>
          </p:cNvPr>
          <p:cNvSpPr/>
          <p:nvPr>
            <p:custDataLst>
              <p:tags r:id="rId32"/>
            </p:custDataLst>
          </p:nvPr>
        </p:nvSpPr>
        <p:spPr bwMode="auto">
          <a:xfrm>
            <a:off x="4737951" y="6036020"/>
            <a:ext cx="1152704" cy="123111"/>
          </a:xfrm>
          <a:prstGeom prst="homePlate">
            <a:avLst>
              <a:gd name="adj" fmla="val 28246"/>
            </a:avLst>
          </a:prstGeom>
          <a:solidFill>
            <a:schemeClr val="accent6">
              <a:lumMod val="10000"/>
              <a:lumOff val="90000"/>
            </a:schemeClr>
          </a:solidFill>
          <a:effectLst>
            <a:outerShdw blurRad="50800" dist="38100" dir="2700000" algn="tl" rotWithShape="0">
              <a:prstClr val="black">
                <a:alpha val="40000"/>
              </a:prstClr>
            </a:outerShdw>
          </a:effectLst>
        </p:spPr>
        <p:txBody>
          <a:bodyPr wrap="square" lIns="0" tIns="0" rIns="0" bIns="0" rtlCol="0">
            <a:spAutoFit/>
          </a:bodyPr>
          <a:lstStyle/>
          <a:p>
            <a:pPr algn="ctr" defTabSz="1218987">
              <a:defRPr/>
            </a:pPr>
            <a:r>
              <a:rPr lang="en-US" altLang="en-US" sz="800" b="1">
                <a:solidFill>
                  <a:srgbClr val="000000"/>
                </a:solidFill>
                <a:latin typeface="Tenorite" panose="00000500000000000000" pitchFamily="2" charset="0"/>
                <a:cs typeface="Arial" pitchFamily="34" charset="0"/>
              </a:rPr>
              <a:t>Change events (3M)</a:t>
            </a:r>
            <a:endParaRPr lang="en-US" sz="800" b="1">
              <a:solidFill>
                <a:srgbClr val="000000"/>
              </a:solidFill>
              <a:latin typeface="Tenorite" panose="00000500000000000000" pitchFamily="2" charset="0"/>
              <a:cs typeface="Arial" pitchFamily="34" charset="0"/>
            </a:endParaRPr>
          </a:p>
        </p:txBody>
      </p:sp>
      <p:sp>
        <p:nvSpPr>
          <p:cNvPr id="196" name="TextBox 195">
            <a:extLst>
              <a:ext uri="{FF2B5EF4-FFF2-40B4-BE49-F238E27FC236}">
                <a16:creationId xmlns:a16="http://schemas.microsoft.com/office/drawing/2014/main" id="{7E3392DE-9892-0D7B-BC2E-5EDDB99B6A3C}"/>
              </a:ext>
            </a:extLst>
          </p:cNvPr>
          <p:cNvSpPr txBox="1"/>
          <p:nvPr/>
        </p:nvSpPr>
        <p:spPr>
          <a:xfrm>
            <a:off x="2836862" y="5122517"/>
            <a:ext cx="548640" cy="123111"/>
          </a:xfrm>
          <a:prstGeom prst="homePlate">
            <a:avLst/>
          </a:prstGeom>
          <a:solidFill>
            <a:schemeClr val="accent6">
              <a:lumMod val="10000"/>
              <a:lumOff val="90000"/>
            </a:schemeClr>
          </a:solidFill>
          <a:effectLst>
            <a:outerShdw blurRad="50800" dist="38100" dir="2700000" algn="tl" rotWithShape="0">
              <a:prstClr val="black">
                <a:alpha val="40000"/>
              </a:prstClr>
            </a:outerShdw>
          </a:effectLst>
        </p:spPr>
        <p:txBody>
          <a:bodyPr wrap="square" lIns="0" tIns="0" rIns="0" bIns="0" rtlCol="0">
            <a:spAutoFit/>
          </a:bodyPr>
          <a:lstStyle/>
          <a:p>
            <a:pPr algn="ctr" defTabSz="1218987">
              <a:defRPr/>
            </a:pPr>
            <a:r>
              <a:rPr lang="en-US" sz="800" b="1">
                <a:solidFill>
                  <a:srgbClr val="000000"/>
                </a:solidFill>
                <a:latin typeface="Tenorite" panose="00000500000000000000" pitchFamily="2" charset="0"/>
                <a:cs typeface="Arial" pitchFamily="34" charset="0"/>
              </a:rPr>
              <a:t>PRD (6W)</a:t>
            </a:r>
          </a:p>
        </p:txBody>
      </p:sp>
      <p:sp>
        <p:nvSpPr>
          <p:cNvPr id="197" name="TextBox 196">
            <a:extLst>
              <a:ext uri="{FF2B5EF4-FFF2-40B4-BE49-F238E27FC236}">
                <a16:creationId xmlns:a16="http://schemas.microsoft.com/office/drawing/2014/main" id="{4CAABFA3-E13E-AA2A-6610-426209BB1A3E}"/>
              </a:ext>
            </a:extLst>
          </p:cNvPr>
          <p:cNvSpPr txBox="1"/>
          <p:nvPr/>
        </p:nvSpPr>
        <p:spPr>
          <a:xfrm>
            <a:off x="2941321" y="5537122"/>
            <a:ext cx="731520" cy="127111"/>
          </a:xfrm>
          <a:prstGeom prst="homePlate">
            <a:avLst/>
          </a:prstGeom>
          <a:solidFill>
            <a:schemeClr val="accent6">
              <a:lumMod val="10000"/>
              <a:lumOff val="90000"/>
            </a:schemeClr>
          </a:solidFill>
          <a:effectLst>
            <a:outerShdw blurRad="50800" dist="38100" dir="2700000" algn="tl" rotWithShape="0">
              <a:prstClr val="black">
                <a:alpha val="40000"/>
              </a:prstClr>
            </a:outerShdw>
          </a:effectLst>
        </p:spPr>
        <p:txBody>
          <a:bodyPr wrap="square" lIns="0" tIns="0" rIns="0" bIns="0" rtlCol="0">
            <a:spAutoFit/>
          </a:bodyPr>
          <a:lstStyle/>
          <a:p>
            <a:pPr algn="ctr" defTabSz="1218987">
              <a:defRPr/>
            </a:pPr>
            <a:r>
              <a:rPr lang="en-US" sz="800" b="1">
                <a:solidFill>
                  <a:srgbClr val="000000"/>
                </a:solidFill>
                <a:latin typeface="Tenorite" panose="00000500000000000000" pitchFamily="2" charset="0"/>
                <a:cs typeface="Arial" pitchFamily="34" charset="0"/>
              </a:rPr>
              <a:t>UI Design (6W)</a:t>
            </a:r>
          </a:p>
        </p:txBody>
      </p:sp>
      <p:sp>
        <p:nvSpPr>
          <p:cNvPr id="199" name="TextBox 198">
            <a:extLst>
              <a:ext uri="{FF2B5EF4-FFF2-40B4-BE49-F238E27FC236}">
                <a16:creationId xmlns:a16="http://schemas.microsoft.com/office/drawing/2014/main" id="{8C0BD7E8-FDE9-0DA0-DDFE-7E04A5F5E483}"/>
              </a:ext>
            </a:extLst>
          </p:cNvPr>
          <p:cNvSpPr txBox="1"/>
          <p:nvPr/>
        </p:nvSpPr>
        <p:spPr>
          <a:xfrm>
            <a:off x="2853383" y="3478263"/>
            <a:ext cx="799160" cy="182880"/>
          </a:xfrm>
          <a:prstGeom prst="homePlate">
            <a:avLst/>
          </a:prstGeom>
          <a:solidFill>
            <a:schemeClr val="accent6">
              <a:lumMod val="25000"/>
              <a:lumOff val="75000"/>
            </a:schemeClr>
          </a:solidFill>
          <a:effectLst>
            <a:outerShdw blurRad="50800" dist="38100" dir="2700000" algn="tl" rotWithShape="0">
              <a:prstClr val="black">
                <a:alpha val="40000"/>
              </a:prstClr>
            </a:outerShdw>
          </a:effectLst>
        </p:spPr>
        <p:txBody>
          <a:bodyPr wrap="square" lIns="0" tIns="0" rIns="0" bIns="0" rtlCol="0" anchor="ctr" anchorCtr="0">
            <a:noAutofit/>
          </a:bodyPr>
          <a:lstStyle/>
          <a:p>
            <a:pPr algn="ctr" defTabSz="1218987">
              <a:defRPr/>
            </a:pPr>
            <a:r>
              <a:rPr lang="en-US" altLang="zh-CN" sz="700" b="1">
                <a:solidFill>
                  <a:srgbClr val="000000"/>
                </a:solidFill>
                <a:latin typeface="Tenorite" panose="00000500000000000000" pitchFamily="2" charset="0"/>
                <a:ea typeface="黑体" panose="02010609060101010101" pitchFamily="49" charset="-122"/>
                <a:cs typeface="Arial" pitchFamily="34" charset="0"/>
              </a:rPr>
              <a:t>Dev Environment</a:t>
            </a:r>
            <a:endParaRPr lang="en-US" sz="700" b="1">
              <a:solidFill>
                <a:srgbClr val="000000"/>
              </a:solidFill>
              <a:latin typeface="Tenorite" panose="00000500000000000000" pitchFamily="2" charset="0"/>
              <a:cs typeface="Arial" pitchFamily="34" charset="0"/>
            </a:endParaRPr>
          </a:p>
        </p:txBody>
      </p:sp>
      <p:sp>
        <p:nvSpPr>
          <p:cNvPr id="200" name="TextBox 199">
            <a:extLst>
              <a:ext uri="{FF2B5EF4-FFF2-40B4-BE49-F238E27FC236}">
                <a16:creationId xmlns:a16="http://schemas.microsoft.com/office/drawing/2014/main" id="{ABD640D3-8E49-1B4C-C9BA-2FAA7E96E176}"/>
              </a:ext>
            </a:extLst>
          </p:cNvPr>
          <p:cNvSpPr txBox="1"/>
          <p:nvPr/>
        </p:nvSpPr>
        <p:spPr>
          <a:xfrm>
            <a:off x="3326799" y="5245627"/>
            <a:ext cx="337866" cy="184666"/>
          </a:xfrm>
          <a:prstGeom prst="homePlate">
            <a:avLst/>
          </a:prstGeom>
          <a:solidFill>
            <a:schemeClr val="accent6">
              <a:lumMod val="10000"/>
              <a:lumOff val="90000"/>
            </a:schemeClr>
          </a:solidFill>
          <a:effectLst>
            <a:outerShdw blurRad="50800" dist="38100" dir="2700000" algn="tl" rotWithShape="0">
              <a:prstClr val="black">
                <a:alpha val="40000"/>
              </a:prstClr>
            </a:outerShdw>
          </a:effectLst>
        </p:spPr>
        <p:txBody>
          <a:bodyPr wrap="square" lIns="0" tIns="0" rIns="0" bIns="0" rtlCol="0">
            <a:spAutoFit/>
          </a:bodyPr>
          <a:lstStyle/>
          <a:p>
            <a:pPr algn="ctr" defTabSz="1218987">
              <a:defRPr/>
            </a:pPr>
            <a:r>
              <a:rPr lang="en-US" sz="600" b="1">
                <a:solidFill>
                  <a:srgbClr val="000000"/>
                </a:solidFill>
                <a:latin typeface="Tenorite" panose="00000500000000000000" pitchFamily="2" charset="0"/>
                <a:cs typeface="Arial" pitchFamily="34" charset="0"/>
              </a:rPr>
              <a:t>Story (2W)</a:t>
            </a:r>
          </a:p>
        </p:txBody>
      </p:sp>
      <p:sp>
        <p:nvSpPr>
          <p:cNvPr id="201" name="TextBox 200">
            <a:extLst>
              <a:ext uri="{FF2B5EF4-FFF2-40B4-BE49-F238E27FC236}">
                <a16:creationId xmlns:a16="http://schemas.microsoft.com/office/drawing/2014/main" id="{6AB190A0-8F79-76A8-C910-973E6DE17608}"/>
              </a:ext>
            </a:extLst>
          </p:cNvPr>
          <p:cNvSpPr txBox="1"/>
          <p:nvPr/>
        </p:nvSpPr>
        <p:spPr>
          <a:xfrm>
            <a:off x="3694846" y="3478263"/>
            <a:ext cx="799160" cy="182880"/>
          </a:xfrm>
          <a:prstGeom prst="homePlate">
            <a:avLst/>
          </a:prstGeom>
          <a:solidFill>
            <a:schemeClr val="accent6">
              <a:lumMod val="25000"/>
              <a:lumOff val="75000"/>
            </a:schemeClr>
          </a:solidFill>
          <a:effectLst>
            <a:outerShdw blurRad="50800" dist="38100" dir="2700000" algn="tl" rotWithShape="0">
              <a:prstClr val="black">
                <a:alpha val="40000"/>
              </a:prstClr>
            </a:outerShdw>
          </a:effectLst>
        </p:spPr>
        <p:txBody>
          <a:bodyPr wrap="square" lIns="0" tIns="0" rIns="0" bIns="0" rtlCol="0" anchor="ctr" anchorCtr="0">
            <a:noAutofit/>
          </a:bodyPr>
          <a:lstStyle/>
          <a:p>
            <a:pPr algn="ctr" defTabSz="1218987">
              <a:defRPr/>
            </a:pPr>
            <a:r>
              <a:rPr lang="en-US" altLang="zh-CN" sz="700" b="1">
                <a:solidFill>
                  <a:srgbClr val="000000"/>
                </a:solidFill>
                <a:latin typeface="Tenorite" panose="00000500000000000000" pitchFamily="2" charset="0"/>
                <a:ea typeface="黑体" panose="02010609060101010101" pitchFamily="49" charset="-122"/>
                <a:cs typeface="Arial" pitchFamily="34" charset="0"/>
              </a:rPr>
              <a:t>SIT Environment</a:t>
            </a:r>
            <a:endParaRPr lang="en-US" sz="700" b="1">
              <a:solidFill>
                <a:srgbClr val="000000"/>
              </a:solidFill>
              <a:latin typeface="Tenorite" panose="00000500000000000000" pitchFamily="2" charset="0"/>
              <a:cs typeface="Arial" pitchFamily="34" charset="0"/>
            </a:endParaRPr>
          </a:p>
        </p:txBody>
      </p:sp>
      <p:sp>
        <p:nvSpPr>
          <p:cNvPr id="202" name="TextBox 201">
            <a:extLst>
              <a:ext uri="{FF2B5EF4-FFF2-40B4-BE49-F238E27FC236}">
                <a16:creationId xmlns:a16="http://schemas.microsoft.com/office/drawing/2014/main" id="{7E08E964-8E2F-B6DC-460E-BF1660740364}"/>
              </a:ext>
            </a:extLst>
          </p:cNvPr>
          <p:cNvSpPr txBox="1"/>
          <p:nvPr/>
        </p:nvSpPr>
        <p:spPr>
          <a:xfrm>
            <a:off x="5668907" y="3468616"/>
            <a:ext cx="799160" cy="182880"/>
          </a:xfrm>
          <a:prstGeom prst="homePlate">
            <a:avLst/>
          </a:prstGeom>
          <a:solidFill>
            <a:schemeClr val="accent6">
              <a:lumMod val="25000"/>
              <a:lumOff val="75000"/>
            </a:schemeClr>
          </a:solidFill>
          <a:effectLst>
            <a:outerShdw blurRad="50800" dist="38100" dir="2700000" algn="tl" rotWithShape="0">
              <a:prstClr val="black">
                <a:alpha val="40000"/>
              </a:prstClr>
            </a:outerShdw>
          </a:effectLst>
        </p:spPr>
        <p:txBody>
          <a:bodyPr wrap="square" lIns="0" tIns="0" rIns="0" bIns="0" rtlCol="0" anchor="ctr" anchorCtr="0">
            <a:noAutofit/>
          </a:bodyPr>
          <a:lstStyle/>
          <a:p>
            <a:pPr algn="ctr" defTabSz="1218987">
              <a:defRPr/>
            </a:pPr>
            <a:r>
              <a:rPr lang="en-US" altLang="zh-CN" sz="700" b="1">
                <a:solidFill>
                  <a:srgbClr val="000000"/>
                </a:solidFill>
                <a:latin typeface="Tenorite" panose="00000500000000000000" pitchFamily="2" charset="0"/>
                <a:ea typeface="黑体" panose="02010609060101010101" pitchFamily="49" charset="-122"/>
                <a:cs typeface="Arial" pitchFamily="34" charset="0"/>
              </a:rPr>
              <a:t>Production Environment</a:t>
            </a:r>
            <a:endParaRPr lang="en-US" sz="700" b="1">
              <a:solidFill>
                <a:srgbClr val="000000"/>
              </a:solidFill>
              <a:latin typeface="Tenorite" panose="00000500000000000000" pitchFamily="2" charset="0"/>
              <a:cs typeface="Arial" pitchFamily="34" charset="0"/>
            </a:endParaRPr>
          </a:p>
        </p:txBody>
      </p:sp>
      <p:sp>
        <p:nvSpPr>
          <p:cNvPr id="203" name="TextBox 202">
            <a:extLst>
              <a:ext uri="{FF2B5EF4-FFF2-40B4-BE49-F238E27FC236}">
                <a16:creationId xmlns:a16="http://schemas.microsoft.com/office/drawing/2014/main" id="{DC6B7474-DA05-6DC4-4F8B-7876B63A35AB}"/>
              </a:ext>
            </a:extLst>
          </p:cNvPr>
          <p:cNvSpPr txBox="1"/>
          <p:nvPr/>
        </p:nvSpPr>
        <p:spPr>
          <a:xfrm>
            <a:off x="4699798" y="3478263"/>
            <a:ext cx="799160" cy="182880"/>
          </a:xfrm>
          <a:prstGeom prst="homePlate">
            <a:avLst/>
          </a:prstGeom>
          <a:solidFill>
            <a:schemeClr val="accent6">
              <a:lumMod val="25000"/>
              <a:lumOff val="75000"/>
            </a:schemeClr>
          </a:solidFill>
          <a:effectLst>
            <a:outerShdw blurRad="50800" dist="38100" dir="2700000" algn="tl" rotWithShape="0">
              <a:prstClr val="black">
                <a:alpha val="40000"/>
              </a:prstClr>
            </a:outerShdw>
          </a:effectLst>
        </p:spPr>
        <p:txBody>
          <a:bodyPr wrap="square" lIns="0" tIns="0" rIns="0" bIns="0" rtlCol="0" anchor="ctr" anchorCtr="0">
            <a:noAutofit/>
          </a:bodyPr>
          <a:lstStyle/>
          <a:p>
            <a:pPr algn="ctr" defTabSz="1218987">
              <a:defRPr/>
            </a:pPr>
            <a:r>
              <a:rPr lang="en-US" altLang="zh-CN" sz="700" b="1">
                <a:solidFill>
                  <a:srgbClr val="000000"/>
                </a:solidFill>
                <a:latin typeface="Tenorite" panose="00000500000000000000" pitchFamily="2" charset="0"/>
                <a:ea typeface="黑体" panose="02010609060101010101" pitchFamily="49" charset="-122"/>
                <a:cs typeface="Arial" pitchFamily="34" charset="0"/>
              </a:rPr>
              <a:t>UAT Environment</a:t>
            </a:r>
            <a:endParaRPr lang="en-US" sz="700" b="1">
              <a:solidFill>
                <a:srgbClr val="000000"/>
              </a:solidFill>
              <a:latin typeface="Tenorite" panose="00000500000000000000" pitchFamily="2" charset="0"/>
              <a:cs typeface="Arial" pitchFamily="34" charset="0"/>
            </a:endParaRPr>
          </a:p>
        </p:txBody>
      </p:sp>
      <p:sp>
        <p:nvSpPr>
          <p:cNvPr id="4" name="Arrow: Pentagon 3">
            <a:extLst>
              <a:ext uri="{FF2B5EF4-FFF2-40B4-BE49-F238E27FC236}">
                <a16:creationId xmlns:a16="http://schemas.microsoft.com/office/drawing/2014/main" id="{E1D911C4-D6CB-C67F-FC43-E8951EA1BEC3}"/>
              </a:ext>
            </a:extLst>
          </p:cNvPr>
          <p:cNvSpPr/>
          <p:nvPr>
            <p:custDataLst>
              <p:tags r:id="rId33"/>
            </p:custDataLst>
          </p:nvPr>
        </p:nvSpPr>
        <p:spPr bwMode="auto">
          <a:xfrm>
            <a:off x="6990594" y="1545466"/>
            <a:ext cx="1781288" cy="230738"/>
          </a:xfrm>
          <a:prstGeom prst="homePlate">
            <a:avLst>
              <a:gd name="adj" fmla="val 28246"/>
            </a:avLst>
          </a:prstGeom>
          <a:solidFill>
            <a:srgbClr val="002060"/>
          </a:solidFill>
          <a:ln w="9525" cmpd="sng" algn="ctr">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0" anchor="ctr"/>
          <a:lstStyle/>
          <a:p>
            <a:pPr algn="ctr" defTabSz="1218987">
              <a:spcBef>
                <a:spcPct val="0"/>
              </a:spcBef>
              <a:spcAft>
                <a:spcPct val="0"/>
              </a:spcAft>
              <a:defRPr/>
            </a:pPr>
            <a:r>
              <a:rPr lang="en-US" altLang="zh-CN" sz="900" b="1">
                <a:solidFill>
                  <a:prstClr val="white"/>
                </a:solidFill>
                <a:latin typeface="Tenorite" panose="00000500000000000000" pitchFamily="2" charset="0"/>
                <a:ea typeface="Calibri" panose="020F0502020204030204" pitchFamily="34" charset="0"/>
                <a:cs typeface="Calibri" panose="020F0502020204030204" pitchFamily="34" charset="0"/>
              </a:rPr>
              <a:t>BRIM Parallel Run</a:t>
            </a:r>
            <a:endParaRPr lang="en-US" sz="9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EF6F59BC-E14C-8763-02F8-D1D22DB95626}"/>
              </a:ext>
            </a:extLst>
          </p:cNvPr>
          <p:cNvSpPr txBox="1"/>
          <p:nvPr/>
        </p:nvSpPr>
        <p:spPr>
          <a:xfrm>
            <a:off x="6508989" y="4120519"/>
            <a:ext cx="445891" cy="215444"/>
          </a:xfrm>
          <a:prstGeom prst="homePlate">
            <a:avLst/>
          </a:prstGeom>
          <a:solidFill>
            <a:schemeClr val="tx2">
              <a:lumMod val="40000"/>
              <a:lumOff val="60000"/>
            </a:schemeClr>
          </a:solidFill>
          <a:effectLst>
            <a:outerShdw blurRad="50800" dist="38100" dir="2700000" algn="tl" rotWithShape="0">
              <a:prstClr val="black">
                <a:alpha val="40000"/>
              </a:prstClr>
            </a:outerShdw>
          </a:effectLst>
        </p:spPr>
        <p:txBody>
          <a:bodyPr wrap="square" lIns="0" tIns="0" rIns="0" bIns="0" rtlCol="0" anchor="ctr">
            <a:spAutoFit/>
          </a:bodyPr>
          <a:lstStyle/>
          <a:p>
            <a:pPr algn="ctr" defTabSz="1218987">
              <a:defRPr/>
            </a:pPr>
            <a:r>
              <a:rPr lang="en-US" sz="700" b="1">
                <a:solidFill>
                  <a:srgbClr val="000000"/>
                </a:solidFill>
                <a:latin typeface="Tenorite" panose="00000500000000000000" pitchFamily="2" charset="0"/>
                <a:cs typeface="Arial" pitchFamily="34" charset="0"/>
              </a:rPr>
              <a:t>NA Data Migration</a:t>
            </a:r>
          </a:p>
        </p:txBody>
      </p:sp>
      <p:sp>
        <p:nvSpPr>
          <p:cNvPr id="7" name="TextBox 6">
            <a:extLst>
              <a:ext uri="{FF2B5EF4-FFF2-40B4-BE49-F238E27FC236}">
                <a16:creationId xmlns:a16="http://schemas.microsoft.com/office/drawing/2014/main" id="{8531E83F-6C8F-8054-E434-9A6435801DCE}"/>
              </a:ext>
            </a:extLst>
          </p:cNvPr>
          <p:cNvSpPr txBox="1"/>
          <p:nvPr/>
        </p:nvSpPr>
        <p:spPr>
          <a:xfrm>
            <a:off x="6936153" y="4119606"/>
            <a:ext cx="462803" cy="215444"/>
          </a:xfrm>
          <a:prstGeom prst="homePlate">
            <a:avLst/>
          </a:prstGeom>
          <a:solidFill>
            <a:schemeClr val="tx2">
              <a:lumMod val="40000"/>
              <a:lumOff val="60000"/>
            </a:schemeClr>
          </a:solidFill>
          <a:effectLst>
            <a:outerShdw blurRad="50800" dist="38100" dir="2700000" algn="tl" rotWithShape="0">
              <a:prstClr val="black">
                <a:alpha val="40000"/>
              </a:prstClr>
            </a:outerShdw>
          </a:effectLst>
        </p:spPr>
        <p:txBody>
          <a:bodyPr wrap="square" lIns="0" tIns="0" rIns="0" bIns="0" rtlCol="0" anchor="ctr">
            <a:spAutoFit/>
          </a:bodyPr>
          <a:lstStyle/>
          <a:p>
            <a:pPr algn="ctr" defTabSz="1218987">
              <a:defRPr/>
            </a:pPr>
            <a:r>
              <a:rPr lang="en-US" sz="700" b="1">
                <a:solidFill>
                  <a:srgbClr val="000000"/>
                </a:solidFill>
                <a:latin typeface="Tenorite" panose="00000500000000000000" pitchFamily="2" charset="0"/>
                <a:cs typeface="Arial" pitchFamily="34" charset="0"/>
              </a:rPr>
              <a:t>US Billing Validation</a:t>
            </a:r>
          </a:p>
        </p:txBody>
      </p:sp>
      <p:cxnSp>
        <p:nvCxnSpPr>
          <p:cNvPr id="8" name="Straight Connector 7">
            <a:extLst>
              <a:ext uri="{FF2B5EF4-FFF2-40B4-BE49-F238E27FC236}">
                <a16:creationId xmlns:a16="http://schemas.microsoft.com/office/drawing/2014/main" id="{1C2F14A0-AAF1-4EC0-BED9-973797EFEA10}"/>
              </a:ext>
            </a:extLst>
          </p:cNvPr>
          <p:cNvCxnSpPr>
            <a:cxnSpLocks/>
          </p:cNvCxnSpPr>
          <p:nvPr/>
        </p:nvCxnSpPr>
        <p:spPr>
          <a:xfrm>
            <a:off x="1689535" y="3372897"/>
            <a:ext cx="9144000" cy="0"/>
          </a:xfrm>
          <a:prstGeom prst="line">
            <a:avLst/>
          </a:prstGeom>
          <a:ln w="6350">
            <a:solidFill>
              <a:schemeClr val="tx1"/>
            </a:solidFill>
            <a:prstDash val="lg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B01EAD1F-61BE-5A4C-7325-BACE9AA219E3}"/>
              </a:ext>
            </a:extLst>
          </p:cNvPr>
          <p:cNvSpPr txBox="1"/>
          <p:nvPr/>
        </p:nvSpPr>
        <p:spPr>
          <a:xfrm>
            <a:off x="7207680" y="4358664"/>
            <a:ext cx="559853" cy="323165"/>
          </a:xfrm>
          <a:prstGeom prst="homePlate">
            <a:avLst/>
          </a:prstGeom>
          <a:solidFill>
            <a:schemeClr val="tx2">
              <a:lumMod val="40000"/>
              <a:lumOff val="60000"/>
            </a:schemeClr>
          </a:solidFill>
          <a:effectLst>
            <a:outerShdw blurRad="50800" dist="38100" dir="2700000" algn="tl" rotWithShape="0">
              <a:prstClr val="black">
                <a:alpha val="40000"/>
              </a:prstClr>
            </a:outerShdw>
          </a:effectLst>
        </p:spPr>
        <p:txBody>
          <a:bodyPr wrap="square" lIns="0" tIns="0" rIns="0" bIns="0" rtlCol="0" anchor="ctr">
            <a:spAutoFit/>
          </a:bodyPr>
          <a:lstStyle/>
          <a:p>
            <a:pPr algn="ctr" defTabSz="1218987">
              <a:defRPr/>
            </a:pPr>
            <a:r>
              <a:rPr lang="en-US" sz="700" b="1">
                <a:solidFill>
                  <a:srgbClr val="000000"/>
                </a:solidFill>
                <a:latin typeface="Tenorite" panose="00000500000000000000" pitchFamily="2" charset="0"/>
                <a:cs typeface="Arial" pitchFamily="34" charset="0"/>
              </a:rPr>
              <a:t>EMEA, AP Data Migration</a:t>
            </a:r>
          </a:p>
        </p:txBody>
      </p:sp>
      <p:sp>
        <p:nvSpPr>
          <p:cNvPr id="12" name="TextBox 11">
            <a:extLst>
              <a:ext uri="{FF2B5EF4-FFF2-40B4-BE49-F238E27FC236}">
                <a16:creationId xmlns:a16="http://schemas.microsoft.com/office/drawing/2014/main" id="{3E155004-737A-8889-DB0A-F45EC2037803}"/>
              </a:ext>
            </a:extLst>
          </p:cNvPr>
          <p:cNvSpPr txBox="1"/>
          <p:nvPr/>
        </p:nvSpPr>
        <p:spPr>
          <a:xfrm>
            <a:off x="7811543" y="4357354"/>
            <a:ext cx="995039" cy="296522"/>
          </a:xfrm>
          <a:prstGeom prst="homePlate">
            <a:avLst/>
          </a:prstGeom>
          <a:solidFill>
            <a:schemeClr val="tx2">
              <a:lumMod val="40000"/>
              <a:lumOff val="60000"/>
            </a:schemeClr>
          </a:solidFill>
          <a:effectLst>
            <a:outerShdw blurRad="50800" dist="38100" dir="2700000" algn="tl" rotWithShape="0">
              <a:prstClr val="black">
                <a:alpha val="40000"/>
              </a:prstClr>
            </a:outerShdw>
          </a:effectLst>
        </p:spPr>
        <p:txBody>
          <a:bodyPr wrap="none" lIns="0" tIns="0" rIns="0" bIns="0" rtlCol="0" anchor="ctr">
            <a:noAutofit/>
          </a:bodyPr>
          <a:lstStyle/>
          <a:p>
            <a:pPr algn="ctr" defTabSz="1218987">
              <a:defRPr/>
            </a:pPr>
            <a:r>
              <a:rPr lang="en-US" sz="700" b="1">
                <a:solidFill>
                  <a:srgbClr val="000000"/>
                </a:solidFill>
                <a:latin typeface="Tenorite" panose="00000500000000000000" pitchFamily="2" charset="0"/>
                <a:cs typeface="Arial" pitchFamily="34" charset="0"/>
              </a:rPr>
              <a:t>EMEA, AP </a:t>
            </a:r>
          </a:p>
          <a:p>
            <a:pPr algn="ctr" defTabSz="1218987">
              <a:defRPr/>
            </a:pPr>
            <a:r>
              <a:rPr lang="en-US" sz="700" b="1">
                <a:solidFill>
                  <a:srgbClr val="000000"/>
                </a:solidFill>
                <a:latin typeface="Tenorite" panose="00000500000000000000" pitchFamily="2" charset="0"/>
                <a:cs typeface="Arial" pitchFamily="34" charset="0"/>
              </a:rPr>
              <a:t>Bill Validation</a:t>
            </a:r>
          </a:p>
        </p:txBody>
      </p:sp>
      <p:sp>
        <p:nvSpPr>
          <p:cNvPr id="15" name="TextBox 14">
            <a:extLst>
              <a:ext uri="{FF2B5EF4-FFF2-40B4-BE49-F238E27FC236}">
                <a16:creationId xmlns:a16="http://schemas.microsoft.com/office/drawing/2014/main" id="{26294A6A-7C77-0494-1836-7FFF608177B5}"/>
              </a:ext>
            </a:extLst>
          </p:cNvPr>
          <p:cNvSpPr txBox="1"/>
          <p:nvPr/>
        </p:nvSpPr>
        <p:spPr>
          <a:xfrm>
            <a:off x="6842219" y="5164923"/>
            <a:ext cx="551734" cy="215444"/>
          </a:xfrm>
          <a:prstGeom prst="homePlate">
            <a:avLst/>
          </a:prstGeom>
          <a:solidFill>
            <a:schemeClr val="accent6">
              <a:lumMod val="10000"/>
              <a:lumOff val="90000"/>
            </a:schemeClr>
          </a:solidFill>
          <a:effectLst>
            <a:outerShdw blurRad="50800" dist="38100" dir="2700000" algn="tl" rotWithShape="0">
              <a:prstClr val="black">
                <a:alpha val="40000"/>
              </a:prstClr>
            </a:outerShdw>
          </a:effectLst>
        </p:spPr>
        <p:txBody>
          <a:bodyPr wrap="square" lIns="0" tIns="0" rIns="0" bIns="0" rtlCol="0" anchor="ctr">
            <a:spAutoFit/>
          </a:bodyPr>
          <a:lstStyle/>
          <a:p>
            <a:pPr algn="ctr" defTabSz="1218987">
              <a:defRPr/>
            </a:pPr>
            <a:r>
              <a:rPr lang="en-US" sz="700" b="1">
                <a:solidFill>
                  <a:srgbClr val="000000"/>
                </a:solidFill>
                <a:latin typeface="Tenorite" panose="00000500000000000000" pitchFamily="2" charset="0"/>
                <a:cs typeface="Arial" pitchFamily="34" charset="0"/>
              </a:rPr>
              <a:t>Performance Verification</a:t>
            </a:r>
          </a:p>
        </p:txBody>
      </p:sp>
      <p:cxnSp>
        <p:nvCxnSpPr>
          <p:cNvPr id="38" name="Straight Connector 37">
            <a:extLst>
              <a:ext uri="{FF2B5EF4-FFF2-40B4-BE49-F238E27FC236}">
                <a16:creationId xmlns:a16="http://schemas.microsoft.com/office/drawing/2014/main" id="{4B79556A-F12A-EF85-B9F9-945F9C461ADF}"/>
              </a:ext>
            </a:extLst>
          </p:cNvPr>
          <p:cNvCxnSpPr>
            <a:cxnSpLocks/>
          </p:cNvCxnSpPr>
          <p:nvPr/>
        </p:nvCxnSpPr>
        <p:spPr>
          <a:xfrm>
            <a:off x="1680947" y="5038663"/>
            <a:ext cx="9144000" cy="0"/>
          </a:xfrm>
          <a:prstGeom prst="line">
            <a:avLst/>
          </a:prstGeom>
          <a:ln w="6350">
            <a:solidFill>
              <a:schemeClr val="tx1"/>
            </a:solidFill>
            <a:prstDash val="lgDash"/>
          </a:ln>
        </p:spPr>
        <p:style>
          <a:lnRef idx="1">
            <a:schemeClr val="accent1"/>
          </a:lnRef>
          <a:fillRef idx="0">
            <a:schemeClr val="accent1"/>
          </a:fillRef>
          <a:effectRef idx="0">
            <a:schemeClr val="accent1"/>
          </a:effectRef>
          <a:fontRef idx="minor">
            <a:schemeClr val="tx1"/>
          </a:fontRef>
        </p:style>
      </p:cxnSp>
      <p:sp>
        <p:nvSpPr>
          <p:cNvPr id="206" name="Rectangle: Diagonal Corners Rounded 205">
            <a:extLst>
              <a:ext uri="{FF2B5EF4-FFF2-40B4-BE49-F238E27FC236}">
                <a16:creationId xmlns:a16="http://schemas.microsoft.com/office/drawing/2014/main" id="{2BAC861B-F1F9-4AE7-943D-B3946D572765}"/>
              </a:ext>
            </a:extLst>
          </p:cNvPr>
          <p:cNvSpPr/>
          <p:nvPr/>
        </p:nvSpPr>
        <p:spPr>
          <a:xfrm rot="10800000">
            <a:off x="999693" y="1442433"/>
            <a:ext cx="472532" cy="4806044"/>
          </a:xfrm>
          <a:prstGeom prst="round2DiagRect">
            <a:avLst/>
          </a:prstGeom>
          <a:solidFill>
            <a:srgbClr val="00B0F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vert="eaVert" lIns="182880" tIns="182880" rIns="182880" bIns="182880" rtlCol="0" anchor="ctr"/>
          <a:lstStyle/>
          <a:p>
            <a:pPr algn="ctr" defTabSz="1218987">
              <a:defRPr/>
            </a:pPr>
            <a:r>
              <a:rPr lang="en-US" sz="1050">
                <a:solidFill>
                  <a:prstClr val="white"/>
                </a:solidFill>
                <a:latin typeface="Arial"/>
              </a:rPr>
              <a:t>NexBill Timeline</a:t>
            </a:r>
          </a:p>
        </p:txBody>
      </p:sp>
      <p:sp>
        <p:nvSpPr>
          <p:cNvPr id="6" name="Isosceles Triangle 5">
            <a:extLst>
              <a:ext uri="{FF2B5EF4-FFF2-40B4-BE49-F238E27FC236}">
                <a16:creationId xmlns:a16="http://schemas.microsoft.com/office/drawing/2014/main" id="{86A7E0CF-B472-E116-3513-3CFAD9E84164}"/>
              </a:ext>
            </a:extLst>
          </p:cNvPr>
          <p:cNvSpPr/>
          <p:nvPr>
            <p:custDataLst>
              <p:tags r:id="rId34"/>
            </p:custDataLst>
          </p:nvPr>
        </p:nvSpPr>
        <p:spPr bwMode="gray">
          <a:xfrm>
            <a:off x="5830922" y="2686289"/>
            <a:ext cx="101600" cy="101600"/>
          </a:xfrm>
          <a:prstGeom prst="triangle">
            <a:avLst/>
          </a:prstGeom>
          <a:solidFill>
            <a:schemeClr val="accent1"/>
          </a:solidFill>
          <a:ln w="9525" cmpd="sng" algn="ctr">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defTabSz="1218987">
              <a:defRPr/>
            </a:pPr>
            <a:endParaRPr lang="en-US" sz="1600" err="1">
              <a:solidFill>
                <a:prstClr val="white"/>
              </a:solidFill>
              <a:latin typeface="Tenorite" panose="00000500000000000000" pitchFamily="2" charset="0"/>
            </a:endParaRPr>
          </a:p>
        </p:txBody>
      </p:sp>
      <p:sp>
        <p:nvSpPr>
          <p:cNvPr id="42" name="Rectangle 41">
            <a:extLst>
              <a:ext uri="{FF2B5EF4-FFF2-40B4-BE49-F238E27FC236}">
                <a16:creationId xmlns:a16="http://schemas.microsoft.com/office/drawing/2014/main" id="{05842D02-927C-1689-128E-DA6FAD0BE9F3}"/>
              </a:ext>
            </a:extLst>
          </p:cNvPr>
          <p:cNvSpPr/>
          <p:nvPr>
            <p:custDataLst>
              <p:tags r:id="rId35"/>
            </p:custDataLst>
          </p:nvPr>
        </p:nvSpPr>
        <p:spPr bwMode="auto">
          <a:xfrm>
            <a:off x="5466590" y="2852673"/>
            <a:ext cx="906435" cy="27431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rtlCol="0" anchor="ctr"/>
          <a:lstStyle/>
          <a:p>
            <a:pPr algn="ctr" defTabSz="1218987">
              <a:spcBef>
                <a:spcPct val="0"/>
              </a:spcBef>
              <a:spcAft>
                <a:spcPct val="0"/>
              </a:spcAft>
              <a:defRPr/>
            </a:pPr>
            <a:r>
              <a:rPr lang="en-US" altLang="en-US" sz="900" b="1">
                <a:solidFill>
                  <a:srgbClr val="000000"/>
                </a:solidFill>
                <a:latin typeface="Tenorite" panose="00000500000000000000" pitchFamily="2" charset="0"/>
                <a:ea typeface="Calibri" panose="020F0502020204030204" pitchFamily="34" charset="0"/>
                <a:cs typeface="Calibri" panose="020F0502020204030204" pitchFamily="34" charset="0"/>
              </a:rPr>
              <a:t>8/30 Build </a:t>
            </a:r>
          </a:p>
          <a:p>
            <a:pPr algn="ctr" defTabSz="1218987">
              <a:spcBef>
                <a:spcPct val="0"/>
              </a:spcBef>
              <a:spcAft>
                <a:spcPct val="0"/>
              </a:spcAft>
              <a:defRPr/>
            </a:pPr>
            <a:r>
              <a:rPr lang="en-US" altLang="en-US" sz="900" b="1">
                <a:solidFill>
                  <a:srgbClr val="000000"/>
                </a:solidFill>
                <a:latin typeface="Tenorite" panose="00000500000000000000" pitchFamily="2" charset="0"/>
                <a:ea typeface="Calibri" panose="020F0502020204030204" pitchFamily="34" charset="0"/>
                <a:cs typeface="Calibri" panose="020F0502020204030204" pitchFamily="34" charset="0"/>
              </a:rPr>
              <a:t>Foundation</a:t>
            </a:r>
            <a:endParaRPr lang="en-US" sz="900" b="1">
              <a:solidFill>
                <a:srgbClr val="000000"/>
              </a:solidFill>
              <a:latin typeface="Tenorite" panose="00000500000000000000" pitchFamily="2" charset="0"/>
              <a:ea typeface="Calibri" panose="020F0502020204030204" pitchFamily="34" charset="0"/>
              <a:cs typeface="Calibri" panose="020F0502020204030204" pitchFamily="34" charset="0"/>
            </a:endParaRPr>
          </a:p>
        </p:txBody>
      </p:sp>
      <p:sp>
        <p:nvSpPr>
          <p:cNvPr id="194" name="TextBox 193">
            <a:extLst>
              <a:ext uri="{FF2B5EF4-FFF2-40B4-BE49-F238E27FC236}">
                <a16:creationId xmlns:a16="http://schemas.microsoft.com/office/drawing/2014/main" id="{699C854C-47F3-E35B-5B0A-C929C30AA899}"/>
              </a:ext>
            </a:extLst>
          </p:cNvPr>
          <p:cNvSpPr txBox="1"/>
          <p:nvPr/>
        </p:nvSpPr>
        <p:spPr>
          <a:xfrm>
            <a:off x="2851807" y="3736500"/>
            <a:ext cx="378873" cy="215444"/>
          </a:xfrm>
          <a:prstGeom prst="homePlate">
            <a:avLst/>
          </a:prstGeom>
          <a:solidFill>
            <a:schemeClr val="accent6">
              <a:lumMod val="25000"/>
              <a:lumOff val="75000"/>
            </a:schemeClr>
          </a:solidFill>
          <a:effectLst>
            <a:outerShdw blurRad="50800" dist="38100" dir="2700000" algn="tl" rotWithShape="0">
              <a:prstClr val="black">
                <a:alpha val="40000"/>
              </a:prstClr>
            </a:outerShdw>
          </a:effectLst>
        </p:spPr>
        <p:txBody>
          <a:bodyPr wrap="square" lIns="0" tIns="0" rIns="0" bIns="0" rtlCol="0">
            <a:spAutoFit/>
          </a:bodyPr>
          <a:lstStyle/>
          <a:p>
            <a:pPr algn="ctr" defTabSz="1218987">
              <a:defRPr/>
            </a:pPr>
            <a:r>
              <a:rPr lang="en-US" sz="700" b="1">
                <a:solidFill>
                  <a:srgbClr val="000000"/>
                </a:solidFill>
                <a:latin typeface="Tenorite" panose="00000500000000000000" pitchFamily="2" charset="0"/>
                <a:cs typeface="Arial" pitchFamily="34" charset="0"/>
              </a:rPr>
              <a:t>Solution WS</a:t>
            </a:r>
          </a:p>
        </p:txBody>
      </p:sp>
      <p:sp>
        <p:nvSpPr>
          <p:cNvPr id="198" name="Isosceles Triangle 197">
            <a:extLst>
              <a:ext uri="{FF2B5EF4-FFF2-40B4-BE49-F238E27FC236}">
                <a16:creationId xmlns:a16="http://schemas.microsoft.com/office/drawing/2014/main" id="{F7CF14A2-D04F-F6D5-6DD0-4CFB2B4D08B8}"/>
              </a:ext>
            </a:extLst>
          </p:cNvPr>
          <p:cNvSpPr/>
          <p:nvPr>
            <p:custDataLst>
              <p:tags r:id="rId36"/>
            </p:custDataLst>
          </p:nvPr>
        </p:nvSpPr>
        <p:spPr bwMode="gray">
          <a:xfrm>
            <a:off x="3581643" y="2686289"/>
            <a:ext cx="101600" cy="101600"/>
          </a:xfrm>
          <a:prstGeom prst="triangle">
            <a:avLst/>
          </a:prstGeom>
          <a:solidFill>
            <a:schemeClr val="accent1"/>
          </a:solidFill>
          <a:ln w="9525" cmpd="sng" algn="ctr">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defTabSz="1218987">
              <a:defRPr/>
            </a:pPr>
            <a:endParaRPr lang="en-US" sz="1600" err="1">
              <a:solidFill>
                <a:prstClr val="white"/>
              </a:solidFill>
              <a:latin typeface="Tenorite" panose="00000500000000000000" pitchFamily="2" charset="0"/>
            </a:endParaRPr>
          </a:p>
        </p:txBody>
      </p:sp>
      <p:sp>
        <p:nvSpPr>
          <p:cNvPr id="204" name="Rectangle 203">
            <a:extLst>
              <a:ext uri="{FF2B5EF4-FFF2-40B4-BE49-F238E27FC236}">
                <a16:creationId xmlns:a16="http://schemas.microsoft.com/office/drawing/2014/main" id="{10B9F1EC-8F4F-8A4C-CA66-E5F7AFC40541}"/>
              </a:ext>
            </a:extLst>
          </p:cNvPr>
          <p:cNvSpPr/>
          <p:nvPr>
            <p:custDataLst>
              <p:tags r:id="rId37"/>
            </p:custDataLst>
          </p:nvPr>
        </p:nvSpPr>
        <p:spPr bwMode="auto">
          <a:xfrm>
            <a:off x="3502709" y="2852673"/>
            <a:ext cx="606916" cy="27431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rtlCol="0" anchor="ctr"/>
          <a:lstStyle/>
          <a:p>
            <a:pPr algn="ctr" defTabSz="1218987">
              <a:spcBef>
                <a:spcPct val="0"/>
              </a:spcBef>
              <a:spcAft>
                <a:spcPct val="0"/>
              </a:spcAft>
              <a:defRPr/>
            </a:pP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Mar 1</a:t>
            </a:r>
            <a:r>
              <a:rPr lang="en-US" sz="900" b="1" baseline="30000">
                <a:solidFill>
                  <a:srgbClr val="000000"/>
                </a:solidFill>
                <a:latin typeface="Tenorite" panose="00000500000000000000" pitchFamily="2" charset="0"/>
                <a:ea typeface="Calibri" panose="020F0502020204030204" pitchFamily="34" charset="0"/>
                <a:cs typeface="Calibri" panose="020F0502020204030204" pitchFamily="34" charset="0"/>
              </a:rPr>
              <a:t>st</a:t>
            </a: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 </a:t>
            </a:r>
            <a:r>
              <a:rPr lang="en-US" altLang="zh-CN" sz="900" b="1">
                <a:solidFill>
                  <a:srgbClr val="000000"/>
                </a:solidFill>
                <a:latin typeface="Tenorite" panose="00000500000000000000" pitchFamily="2" charset="0"/>
                <a:ea typeface="Calibri" panose="020F0502020204030204" pitchFamily="34" charset="0"/>
                <a:cs typeface="Calibri" panose="020F0502020204030204" pitchFamily="34" charset="0"/>
              </a:rPr>
              <a:t>Dev</a:t>
            </a:r>
            <a:endParaRPr lang="en-US" sz="900" b="1">
              <a:solidFill>
                <a:srgbClr val="000000"/>
              </a:solidFill>
              <a:latin typeface="Tenorite" panose="00000500000000000000" pitchFamily="2" charset="0"/>
              <a:ea typeface="Calibri" panose="020F0502020204030204" pitchFamily="34" charset="0"/>
              <a:cs typeface="Calibri" panose="020F0502020204030204" pitchFamily="34" charset="0"/>
            </a:endParaRPr>
          </a:p>
          <a:p>
            <a:pPr algn="ctr" defTabSz="1218987">
              <a:spcBef>
                <a:spcPct val="0"/>
              </a:spcBef>
              <a:spcAft>
                <a:spcPct val="0"/>
              </a:spcAft>
              <a:defRPr/>
            </a:pP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Kick off</a:t>
            </a:r>
          </a:p>
        </p:txBody>
      </p:sp>
      <p:sp>
        <p:nvSpPr>
          <p:cNvPr id="208" name="Arrow: Pentagon 207">
            <a:extLst>
              <a:ext uri="{FF2B5EF4-FFF2-40B4-BE49-F238E27FC236}">
                <a16:creationId xmlns:a16="http://schemas.microsoft.com/office/drawing/2014/main" id="{D510A15C-A447-FFF0-1B76-7905DCE619EC}"/>
              </a:ext>
            </a:extLst>
          </p:cNvPr>
          <p:cNvSpPr/>
          <p:nvPr>
            <p:custDataLst>
              <p:tags r:id="rId38"/>
            </p:custDataLst>
          </p:nvPr>
        </p:nvSpPr>
        <p:spPr bwMode="auto">
          <a:xfrm>
            <a:off x="6505134" y="2267001"/>
            <a:ext cx="1463996" cy="232619"/>
          </a:xfrm>
          <a:prstGeom prst="homePlate">
            <a:avLst>
              <a:gd name="adj" fmla="val 28246"/>
            </a:avLst>
          </a:prstGeom>
          <a:solidFill>
            <a:srgbClr val="009CD8"/>
          </a:solidFill>
          <a:ln w="9525" cmpd="sng" algn="ctr">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0" anchor="ctr"/>
          <a:lstStyle/>
          <a:p>
            <a:pPr algn="ctr" defTabSz="1218987">
              <a:spcBef>
                <a:spcPct val="0"/>
              </a:spcBef>
              <a:spcAft>
                <a:spcPct val="0"/>
              </a:spcAft>
              <a:defRPr/>
            </a:pPr>
            <a:r>
              <a:rPr lang="en-US" altLang="en-US" sz="900" b="1">
                <a:solidFill>
                  <a:prstClr val="white"/>
                </a:solidFill>
                <a:latin typeface="Tenorite" panose="00000500000000000000" pitchFamily="2" charset="0"/>
                <a:ea typeface="Calibri" panose="020F0502020204030204" pitchFamily="34" charset="0"/>
                <a:cs typeface="Calibri" panose="020F0502020204030204" pitchFamily="34" charset="0"/>
              </a:rPr>
              <a:t>UAT( 4-5 Mon )</a:t>
            </a:r>
            <a:endParaRPr lang="en-US" sz="900" b="1">
              <a:solidFill>
                <a:prstClr val="white"/>
              </a:solidFill>
              <a:latin typeface="Tenorite" panose="00000500000000000000" pitchFamily="2" charset="0"/>
              <a:ea typeface="Calibri" panose="020F0502020204030204" pitchFamily="34" charset="0"/>
              <a:cs typeface="Calibri" panose="020F0502020204030204" pitchFamily="34" charset="0"/>
            </a:endParaRPr>
          </a:p>
        </p:txBody>
      </p:sp>
      <p:sp>
        <p:nvSpPr>
          <p:cNvPr id="209" name="Isosceles Triangle 208">
            <a:extLst>
              <a:ext uri="{FF2B5EF4-FFF2-40B4-BE49-F238E27FC236}">
                <a16:creationId xmlns:a16="http://schemas.microsoft.com/office/drawing/2014/main" id="{0B4D4FFB-CB4A-83DB-975D-67093F3C7D0B}"/>
              </a:ext>
            </a:extLst>
          </p:cNvPr>
          <p:cNvSpPr/>
          <p:nvPr>
            <p:custDataLst>
              <p:tags r:id="rId39"/>
            </p:custDataLst>
          </p:nvPr>
        </p:nvSpPr>
        <p:spPr bwMode="gray">
          <a:xfrm>
            <a:off x="3201913" y="2686289"/>
            <a:ext cx="101600" cy="101600"/>
          </a:xfrm>
          <a:prstGeom prst="triangle">
            <a:avLst/>
          </a:prstGeom>
          <a:solidFill>
            <a:schemeClr val="accent1"/>
          </a:solidFill>
          <a:ln w="9525" cmpd="sng" algn="ctr">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defTabSz="1218987">
              <a:defRPr/>
            </a:pPr>
            <a:endParaRPr lang="en-US" sz="1600">
              <a:solidFill>
                <a:prstClr val="white"/>
              </a:solidFill>
              <a:latin typeface="Tenorite" panose="00000500000000000000" pitchFamily="2" charset="0"/>
            </a:endParaRPr>
          </a:p>
        </p:txBody>
      </p:sp>
      <p:sp>
        <p:nvSpPr>
          <p:cNvPr id="210" name="Rectangle 209">
            <a:extLst>
              <a:ext uri="{FF2B5EF4-FFF2-40B4-BE49-F238E27FC236}">
                <a16:creationId xmlns:a16="http://schemas.microsoft.com/office/drawing/2014/main" id="{49B311FE-6C60-8A48-7614-01B8D0F44594}"/>
              </a:ext>
            </a:extLst>
          </p:cNvPr>
          <p:cNvSpPr/>
          <p:nvPr>
            <p:custDataLst>
              <p:tags r:id="rId40"/>
            </p:custDataLst>
          </p:nvPr>
        </p:nvSpPr>
        <p:spPr bwMode="auto">
          <a:xfrm>
            <a:off x="3129936" y="2353107"/>
            <a:ext cx="328161" cy="27431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rtlCol="0" anchor="ctr"/>
          <a:lstStyle/>
          <a:p>
            <a:pPr algn="ctr" defTabSz="1218987">
              <a:spcBef>
                <a:spcPct val="0"/>
              </a:spcBef>
              <a:spcAft>
                <a:spcPct val="0"/>
              </a:spcAft>
              <a:defRPr/>
            </a:pP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F</a:t>
            </a:r>
            <a:r>
              <a:rPr lang="en-US" altLang="zh-CN" sz="900" b="1">
                <a:solidFill>
                  <a:srgbClr val="000000"/>
                </a:solidFill>
                <a:latin typeface="Tenorite" panose="00000500000000000000" pitchFamily="2" charset="0"/>
                <a:ea typeface="Calibri" panose="020F0502020204030204" pitchFamily="34" charset="0"/>
                <a:cs typeface="Calibri" panose="020F0502020204030204" pitchFamily="34" charset="0"/>
              </a:rPr>
              <a:t>eb 13, BSR</a:t>
            </a:r>
          </a:p>
          <a:p>
            <a:pPr algn="ctr" defTabSz="1218987">
              <a:spcBef>
                <a:spcPct val="0"/>
              </a:spcBef>
              <a:spcAft>
                <a:spcPct val="0"/>
              </a:spcAft>
              <a:defRPr/>
            </a:pPr>
            <a:r>
              <a:rPr lang="en-US" altLang="zh-CN" sz="900" b="1">
                <a:solidFill>
                  <a:srgbClr val="000000"/>
                </a:solidFill>
                <a:latin typeface="Tenorite" panose="00000500000000000000" pitchFamily="2" charset="0"/>
                <a:ea typeface="Calibri" panose="020F0502020204030204" pitchFamily="34" charset="0"/>
                <a:cs typeface="Calibri" panose="020F0502020204030204" pitchFamily="34" charset="0"/>
              </a:rPr>
              <a:t> Sign-</a:t>
            </a:r>
            <a:r>
              <a:rPr lang="en-US" sz="900" b="1">
                <a:solidFill>
                  <a:srgbClr val="000000"/>
                </a:solidFill>
                <a:latin typeface="Tenorite" panose="00000500000000000000" pitchFamily="2" charset="0"/>
                <a:ea typeface="Calibri" panose="020F0502020204030204" pitchFamily="34" charset="0"/>
                <a:cs typeface="Calibri" panose="020F0502020204030204" pitchFamily="34" charset="0"/>
              </a:rPr>
              <a:t>off</a:t>
            </a:r>
          </a:p>
        </p:txBody>
      </p:sp>
      <p:sp>
        <p:nvSpPr>
          <p:cNvPr id="211" name="TextBox 210">
            <a:extLst>
              <a:ext uri="{FF2B5EF4-FFF2-40B4-BE49-F238E27FC236}">
                <a16:creationId xmlns:a16="http://schemas.microsoft.com/office/drawing/2014/main" id="{3F272BF1-30EB-6346-EE32-B6C197BD8E6D}"/>
              </a:ext>
            </a:extLst>
          </p:cNvPr>
          <p:cNvSpPr txBox="1"/>
          <p:nvPr/>
        </p:nvSpPr>
        <p:spPr>
          <a:xfrm>
            <a:off x="6505134" y="3997205"/>
            <a:ext cx="462803" cy="107722"/>
          </a:xfrm>
          <a:prstGeom prst="homePlate">
            <a:avLst/>
          </a:prstGeom>
          <a:solidFill>
            <a:schemeClr val="accent4">
              <a:lumMod val="25000"/>
              <a:lumOff val="75000"/>
            </a:schemeClr>
          </a:solidFill>
          <a:effectLst>
            <a:outerShdw blurRad="50800" dist="38100" dir="2700000" algn="tl" rotWithShape="0">
              <a:prstClr val="black">
                <a:alpha val="40000"/>
              </a:prstClr>
            </a:outerShdw>
          </a:effectLst>
        </p:spPr>
        <p:txBody>
          <a:bodyPr wrap="square" lIns="0" tIns="0" rIns="0" bIns="0" rtlCol="0" anchor="ctr">
            <a:spAutoFit/>
          </a:bodyPr>
          <a:lstStyle/>
          <a:p>
            <a:pPr algn="ctr" defTabSz="1218987">
              <a:defRPr/>
            </a:pPr>
            <a:r>
              <a:rPr lang="en-US" sz="700" b="1">
                <a:solidFill>
                  <a:srgbClr val="000000"/>
                </a:solidFill>
                <a:latin typeface="Tenorite" panose="00000500000000000000" pitchFamily="2" charset="0"/>
                <a:cs typeface="Arial" pitchFamily="34" charset="0"/>
              </a:rPr>
              <a:t>NA UAT</a:t>
            </a:r>
          </a:p>
        </p:txBody>
      </p:sp>
      <p:sp>
        <p:nvSpPr>
          <p:cNvPr id="212" name="TextBox 211">
            <a:extLst>
              <a:ext uri="{FF2B5EF4-FFF2-40B4-BE49-F238E27FC236}">
                <a16:creationId xmlns:a16="http://schemas.microsoft.com/office/drawing/2014/main" id="{0961F5DA-8E86-3AA7-6205-E975AFD42A28}"/>
              </a:ext>
            </a:extLst>
          </p:cNvPr>
          <p:cNvSpPr txBox="1"/>
          <p:nvPr/>
        </p:nvSpPr>
        <p:spPr>
          <a:xfrm>
            <a:off x="7386505" y="3996528"/>
            <a:ext cx="582624" cy="111471"/>
          </a:xfrm>
          <a:prstGeom prst="homePlate">
            <a:avLst/>
          </a:prstGeom>
          <a:solidFill>
            <a:schemeClr val="accent4">
              <a:lumMod val="25000"/>
              <a:lumOff val="75000"/>
            </a:schemeClr>
          </a:solidFill>
          <a:effectLst>
            <a:outerShdw blurRad="50800" dist="38100" dir="2700000" algn="tl" rotWithShape="0">
              <a:prstClr val="black">
                <a:alpha val="40000"/>
              </a:prstClr>
            </a:outerShdw>
          </a:effectLst>
        </p:spPr>
        <p:txBody>
          <a:bodyPr wrap="square" lIns="0" tIns="0" rIns="0" bIns="0" rtlCol="0" anchor="ctr">
            <a:spAutoFit/>
          </a:bodyPr>
          <a:lstStyle/>
          <a:p>
            <a:pPr algn="ctr" defTabSz="1218987">
              <a:defRPr/>
            </a:pPr>
            <a:r>
              <a:rPr lang="en-US" sz="700" b="1">
                <a:solidFill>
                  <a:srgbClr val="000000"/>
                </a:solidFill>
                <a:latin typeface="Tenorite" panose="00000500000000000000" pitchFamily="2" charset="0"/>
                <a:cs typeface="Arial" pitchFamily="34" charset="0"/>
              </a:rPr>
              <a:t>NA UAT</a:t>
            </a:r>
          </a:p>
        </p:txBody>
      </p:sp>
    </p:spTree>
    <p:extLst>
      <p:ext uri="{BB962C8B-B14F-4D97-AF65-F5344CB8AC3E}">
        <p14:creationId xmlns:p14="http://schemas.microsoft.com/office/powerpoint/2010/main" val="1424241512"/>
      </p:ext>
    </p:extLst>
  </p:cSld>
  <p:clrMapOvr>
    <a:masterClrMapping/>
  </p:clrMapOvr>
  <p:transition spd="med"/>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2A72DC-CB6A-741A-79BF-EDF36CD38B95}"/>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8C29504E-A4C3-7FB5-2E6F-25D92B8E2D63}"/>
              </a:ext>
            </a:extLst>
          </p:cNvPr>
          <p:cNvSpPr txBox="1">
            <a:spLocks/>
          </p:cNvSpPr>
          <p:nvPr/>
        </p:nvSpPr>
        <p:spPr>
          <a:xfrm>
            <a:off x="372499" y="112196"/>
            <a:ext cx="9499366"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1999"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NexBill – Typical Business Process View</a:t>
            </a:r>
          </a:p>
        </p:txBody>
      </p:sp>
      <p:sp>
        <p:nvSpPr>
          <p:cNvPr id="3" name="Rectangle 2">
            <a:extLst>
              <a:ext uri="{FF2B5EF4-FFF2-40B4-BE49-F238E27FC236}">
                <a16:creationId xmlns:a16="http://schemas.microsoft.com/office/drawing/2014/main" id="{D9164156-7A0E-623A-5E92-F691992F0B06}"/>
              </a:ext>
            </a:extLst>
          </p:cNvPr>
          <p:cNvSpPr/>
          <p:nvPr/>
        </p:nvSpPr>
        <p:spPr>
          <a:xfrm>
            <a:off x="2072339" y="1149136"/>
            <a:ext cx="7605232" cy="4484833"/>
          </a:xfrm>
          <a:prstGeom prst="rect">
            <a:avLst/>
          </a:prstGeom>
          <a:solidFill>
            <a:schemeClr val="accent4">
              <a:lumMod val="40000"/>
              <a:lumOff val="60000"/>
            </a:schemeClr>
          </a:solidFill>
          <a:ln w="6350">
            <a:no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
        <p:nvSpPr>
          <p:cNvPr id="2" name="Rectangle 1">
            <a:extLst>
              <a:ext uri="{FF2B5EF4-FFF2-40B4-BE49-F238E27FC236}">
                <a16:creationId xmlns:a16="http://schemas.microsoft.com/office/drawing/2014/main" id="{199E9201-9E2F-5F53-B9AE-50BEFB54C8CE}"/>
              </a:ext>
            </a:extLst>
          </p:cNvPr>
          <p:cNvSpPr/>
          <p:nvPr/>
        </p:nvSpPr>
        <p:spPr>
          <a:xfrm>
            <a:off x="658803" y="1149136"/>
            <a:ext cx="1273257" cy="4484832"/>
          </a:xfrm>
          <a:prstGeom prst="rect">
            <a:avLst/>
          </a:prstGeom>
          <a:solidFill>
            <a:schemeClr val="bg1">
              <a:lumMod val="95000"/>
            </a:schemeClr>
          </a:solidFill>
          <a:ln w="6350">
            <a:no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
        <p:nvSpPr>
          <p:cNvPr id="5" name="Rectangle 4">
            <a:extLst>
              <a:ext uri="{FF2B5EF4-FFF2-40B4-BE49-F238E27FC236}">
                <a16:creationId xmlns:a16="http://schemas.microsoft.com/office/drawing/2014/main" id="{1CCE48F0-489A-AAF8-5ACD-EF6B248CC2C8}"/>
              </a:ext>
            </a:extLst>
          </p:cNvPr>
          <p:cNvSpPr/>
          <p:nvPr/>
        </p:nvSpPr>
        <p:spPr>
          <a:xfrm>
            <a:off x="9837709" y="1149136"/>
            <a:ext cx="1420876" cy="4484832"/>
          </a:xfrm>
          <a:prstGeom prst="rect">
            <a:avLst/>
          </a:prstGeom>
          <a:solidFill>
            <a:schemeClr val="bg1">
              <a:lumMod val="95000"/>
            </a:schemeClr>
          </a:solidFill>
          <a:ln w="6350">
            <a:no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
        <p:nvSpPr>
          <p:cNvPr id="6" name="TextBox 5">
            <a:extLst>
              <a:ext uri="{FF2B5EF4-FFF2-40B4-BE49-F238E27FC236}">
                <a16:creationId xmlns:a16="http://schemas.microsoft.com/office/drawing/2014/main" id="{184A7684-D302-7DEB-CD4F-EEFA7FF8D043}"/>
              </a:ext>
            </a:extLst>
          </p:cNvPr>
          <p:cNvSpPr txBox="1"/>
          <p:nvPr/>
        </p:nvSpPr>
        <p:spPr>
          <a:xfrm>
            <a:off x="887205" y="1149137"/>
            <a:ext cx="859307" cy="430775"/>
          </a:xfrm>
          <a:prstGeom prst="rect">
            <a:avLst/>
          </a:prstGeom>
          <a:noFill/>
        </p:spPr>
        <p:txBody>
          <a:bodyPr wrap="none" rtlCol="0">
            <a:spAutoFit/>
          </a:bodyPr>
          <a:lstStyle/>
          <a:p>
            <a:pPr algn="ctr" defTabSz="914126"/>
            <a:r>
              <a:rPr lang="en-US" altLang="zh-CN" sz="1100" b="1">
                <a:solidFill>
                  <a:srgbClr val="000000"/>
                </a:solidFill>
                <a:latin typeface="Tenorite" panose="00000500000000000000" pitchFamily="2" charset="0"/>
                <a:ea typeface="黑体" panose="02010609060101010101" pitchFamily="49" charset="-122"/>
                <a:cs typeface="Arial" pitchFamily="34" charset="0"/>
              </a:rPr>
              <a:t>Customer</a:t>
            </a:r>
          </a:p>
          <a:p>
            <a:pPr algn="ctr" defTabSz="914126"/>
            <a:r>
              <a:rPr lang="en-US" altLang="zh-CN" sz="1100" b="1">
                <a:solidFill>
                  <a:srgbClr val="000000"/>
                </a:solidFill>
                <a:latin typeface="Tenorite" panose="00000500000000000000" pitchFamily="2" charset="0"/>
                <a:ea typeface="黑体" panose="02010609060101010101" pitchFamily="49" charset="-122"/>
                <a:cs typeface="Arial" pitchFamily="34" charset="0"/>
              </a:rPr>
              <a:t>Interaction</a:t>
            </a:r>
            <a:endParaRPr lang="zh-CN" altLang="en-US" sz="1100" b="1">
              <a:solidFill>
                <a:srgbClr val="000000"/>
              </a:solidFill>
              <a:latin typeface="Tenorite" panose="00000500000000000000" pitchFamily="2" charset="0"/>
              <a:ea typeface="黑体" panose="02010609060101010101" pitchFamily="49" charset="-122"/>
              <a:cs typeface="Arial" pitchFamily="34" charset="0"/>
            </a:endParaRPr>
          </a:p>
        </p:txBody>
      </p:sp>
      <p:sp>
        <p:nvSpPr>
          <p:cNvPr id="7" name="TextBox 6">
            <a:extLst>
              <a:ext uri="{FF2B5EF4-FFF2-40B4-BE49-F238E27FC236}">
                <a16:creationId xmlns:a16="http://schemas.microsoft.com/office/drawing/2014/main" id="{FF069997-94F0-7410-B93E-AD93D181CC9F}"/>
              </a:ext>
            </a:extLst>
          </p:cNvPr>
          <p:cNvSpPr txBox="1"/>
          <p:nvPr/>
        </p:nvSpPr>
        <p:spPr>
          <a:xfrm>
            <a:off x="2253255" y="1197333"/>
            <a:ext cx="3273050" cy="261542"/>
          </a:xfrm>
          <a:prstGeom prst="rect">
            <a:avLst/>
          </a:prstGeom>
          <a:noFill/>
        </p:spPr>
        <p:txBody>
          <a:bodyPr wrap="square" rtlCol="0">
            <a:spAutoFit/>
          </a:bodyPr>
          <a:lstStyle/>
          <a:p>
            <a:pPr defTabSz="914126"/>
            <a:r>
              <a:rPr lang="en-US" altLang="zh-CN" sz="1100" b="1">
                <a:solidFill>
                  <a:srgbClr val="000000"/>
                </a:solidFill>
                <a:latin typeface="Tenorite" panose="00000500000000000000" pitchFamily="2" charset="0"/>
                <a:ea typeface="黑体" panose="02010609060101010101" pitchFamily="49" charset="-122"/>
                <a:cs typeface="Arial" pitchFamily="34" charset="0"/>
              </a:rPr>
              <a:t>Subscription &amp; Billing – NexBill  </a:t>
            </a:r>
            <a:endParaRPr lang="zh-CN" altLang="en-US" sz="1100" b="1">
              <a:solidFill>
                <a:srgbClr val="000000"/>
              </a:solidFill>
              <a:latin typeface="Tenorite" panose="00000500000000000000" pitchFamily="2" charset="0"/>
              <a:ea typeface="黑体" panose="02010609060101010101" pitchFamily="49" charset="-122"/>
              <a:cs typeface="Arial" pitchFamily="34" charset="0"/>
            </a:endParaRPr>
          </a:p>
        </p:txBody>
      </p:sp>
      <p:sp>
        <p:nvSpPr>
          <p:cNvPr id="8" name="Rectangle 7">
            <a:extLst>
              <a:ext uri="{FF2B5EF4-FFF2-40B4-BE49-F238E27FC236}">
                <a16:creationId xmlns:a16="http://schemas.microsoft.com/office/drawing/2014/main" id="{EFBBEA32-B80A-ED2D-9B0F-89DE524637F2}"/>
              </a:ext>
            </a:extLst>
          </p:cNvPr>
          <p:cNvSpPr/>
          <p:nvPr/>
        </p:nvSpPr>
        <p:spPr>
          <a:xfrm>
            <a:off x="843988" y="2275809"/>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SPS Sign Off / FGLA</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9" name="Rectangle 8">
            <a:extLst>
              <a:ext uri="{FF2B5EF4-FFF2-40B4-BE49-F238E27FC236}">
                <a16:creationId xmlns:a16="http://schemas.microsoft.com/office/drawing/2014/main" id="{2C185AE6-2048-7332-900D-E0B8AB07026F}"/>
              </a:ext>
            </a:extLst>
          </p:cNvPr>
          <p:cNvSpPr/>
          <p:nvPr/>
        </p:nvSpPr>
        <p:spPr>
          <a:xfrm>
            <a:off x="843988" y="1772488"/>
            <a:ext cx="902524" cy="213823"/>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0" name="Rectangle 9">
            <a:extLst>
              <a:ext uri="{FF2B5EF4-FFF2-40B4-BE49-F238E27FC236}">
                <a16:creationId xmlns:a16="http://schemas.microsoft.com/office/drawing/2014/main" id="{7CB9B665-3AA2-2284-A56F-AD7A9B3F9C74}"/>
              </a:ext>
            </a:extLst>
          </p:cNvPr>
          <p:cNvSpPr/>
          <p:nvPr/>
        </p:nvSpPr>
        <p:spPr>
          <a:xfrm>
            <a:off x="2413521" y="2275809"/>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Subscription </a:t>
            </a:r>
          </a:p>
          <a:p>
            <a:pPr algn="ctr" defTabSz="914126"/>
            <a:r>
              <a:rPr lang="en-US" altLang="zh-CN" sz="700" b="1">
                <a:solidFill>
                  <a:srgbClr val="000000"/>
                </a:solidFill>
                <a:latin typeface="Tenorite" panose="00000500000000000000" pitchFamily="2" charset="0"/>
                <a:ea typeface="黑体" panose="02010609060101010101" pitchFamily="49" charset="-122"/>
              </a:rPr>
              <a:t>Initiation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1" name="Rectangle 10">
            <a:extLst>
              <a:ext uri="{FF2B5EF4-FFF2-40B4-BE49-F238E27FC236}">
                <a16:creationId xmlns:a16="http://schemas.microsoft.com/office/drawing/2014/main" id="{017B0C26-B29C-9A45-412A-C58CA9646ACF}"/>
              </a:ext>
            </a:extLst>
          </p:cNvPr>
          <p:cNvSpPr/>
          <p:nvPr/>
        </p:nvSpPr>
        <p:spPr>
          <a:xfrm>
            <a:off x="3446302" y="2275809"/>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Billing Plan </a:t>
            </a:r>
          </a:p>
          <a:p>
            <a:pPr algn="ctr" defTabSz="914126"/>
            <a:r>
              <a:rPr lang="en-US" altLang="zh-CN" sz="700" b="1">
                <a:solidFill>
                  <a:srgbClr val="000000"/>
                </a:solidFill>
                <a:latin typeface="Tenorite" panose="00000500000000000000" pitchFamily="2" charset="0"/>
                <a:ea typeface="黑体" panose="02010609060101010101" pitchFamily="49" charset="-122"/>
              </a:rPr>
              <a:t>Generation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2" name="Rectangle 11">
            <a:extLst>
              <a:ext uri="{FF2B5EF4-FFF2-40B4-BE49-F238E27FC236}">
                <a16:creationId xmlns:a16="http://schemas.microsoft.com/office/drawing/2014/main" id="{681B2237-8014-8CCE-CB87-5779FBF92DE9}"/>
              </a:ext>
            </a:extLst>
          </p:cNvPr>
          <p:cNvSpPr/>
          <p:nvPr/>
        </p:nvSpPr>
        <p:spPr>
          <a:xfrm>
            <a:off x="2413520" y="4082972"/>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Metering Data Acquisition </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3" name="Rectangle 12">
            <a:extLst>
              <a:ext uri="{FF2B5EF4-FFF2-40B4-BE49-F238E27FC236}">
                <a16:creationId xmlns:a16="http://schemas.microsoft.com/office/drawing/2014/main" id="{2D45A54E-E0A6-9344-BE18-B2CDC10FF405}"/>
              </a:ext>
            </a:extLst>
          </p:cNvPr>
          <p:cNvSpPr/>
          <p:nvPr/>
        </p:nvSpPr>
        <p:spPr>
          <a:xfrm>
            <a:off x="3446302" y="4082972"/>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Data Processing</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4" name="Rectangle 13">
            <a:extLst>
              <a:ext uri="{FF2B5EF4-FFF2-40B4-BE49-F238E27FC236}">
                <a16:creationId xmlns:a16="http://schemas.microsoft.com/office/drawing/2014/main" id="{9409C56B-6FCA-45A5-C3E1-A2E4261C0719}"/>
              </a:ext>
            </a:extLst>
          </p:cNvPr>
          <p:cNvSpPr/>
          <p:nvPr/>
        </p:nvSpPr>
        <p:spPr>
          <a:xfrm>
            <a:off x="3446301" y="4789573"/>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On demand Billing</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5" name="Rectangle 14">
            <a:extLst>
              <a:ext uri="{FF2B5EF4-FFF2-40B4-BE49-F238E27FC236}">
                <a16:creationId xmlns:a16="http://schemas.microsoft.com/office/drawing/2014/main" id="{0CD1AD37-2498-799D-B415-1547C62AF275}"/>
              </a:ext>
            </a:extLst>
          </p:cNvPr>
          <p:cNvSpPr/>
          <p:nvPr/>
        </p:nvSpPr>
        <p:spPr>
          <a:xfrm>
            <a:off x="4705337" y="2275808"/>
            <a:ext cx="902524" cy="2851920"/>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Billing Convergence</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6" name="Rectangle 15">
            <a:extLst>
              <a:ext uri="{FF2B5EF4-FFF2-40B4-BE49-F238E27FC236}">
                <a16:creationId xmlns:a16="http://schemas.microsoft.com/office/drawing/2014/main" id="{34972099-6776-08DE-2932-DEE2CAA49CD0}"/>
              </a:ext>
            </a:extLst>
          </p:cNvPr>
          <p:cNvSpPr/>
          <p:nvPr/>
        </p:nvSpPr>
        <p:spPr>
          <a:xfrm>
            <a:off x="5912182" y="2275809"/>
            <a:ext cx="902524" cy="893391"/>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Invoice Preview &amp; Approval </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7" name="Rectangle 16">
            <a:extLst>
              <a:ext uri="{FF2B5EF4-FFF2-40B4-BE49-F238E27FC236}">
                <a16:creationId xmlns:a16="http://schemas.microsoft.com/office/drawing/2014/main" id="{E068D02E-4E60-9F35-204D-A7451084EB58}"/>
              </a:ext>
            </a:extLst>
          </p:cNvPr>
          <p:cNvSpPr/>
          <p:nvPr/>
        </p:nvSpPr>
        <p:spPr>
          <a:xfrm>
            <a:off x="5912182" y="3309625"/>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Invoice Adjustment</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8" name="Rectangle 17">
            <a:extLst>
              <a:ext uri="{FF2B5EF4-FFF2-40B4-BE49-F238E27FC236}">
                <a16:creationId xmlns:a16="http://schemas.microsoft.com/office/drawing/2014/main" id="{5857E039-0133-1C4D-855F-E6519AAAE752}"/>
              </a:ext>
            </a:extLst>
          </p:cNvPr>
          <p:cNvSpPr/>
          <p:nvPr/>
        </p:nvSpPr>
        <p:spPr>
          <a:xfrm>
            <a:off x="7132892" y="2275809"/>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Customer Invoice Generation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9" name="Rectangle 18">
            <a:extLst>
              <a:ext uri="{FF2B5EF4-FFF2-40B4-BE49-F238E27FC236}">
                <a16:creationId xmlns:a16="http://schemas.microsoft.com/office/drawing/2014/main" id="{7C7C57E1-F715-96BD-018B-FF431950F0E2}"/>
              </a:ext>
            </a:extLst>
          </p:cNvPr>
          <p:cNvSpPr/>
          <p:nvPr/>
        </p:nvSpPr>
        <p:spPr>
          <a:xfrm>
            <a:off x="7132892" y="3366371"/>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ICO Billing Generation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21" name="Rectangle 20">
            <a:extLst>
              <a:ext uri="{FF2B5EF4-FFF2-40B4-BE49-F238E27FC236}">
                <a16:creationId xmlns:a16="http://schemas.microsoft.com/office/drawing/2014/main" id="{9014C8E2-8A39-D934-0A17-A6C74F02AE27}"/>
              </a:ext>
            </a:extLst>
          </p:cNvPr>
          <p:cNvSpPr/>
          <p:nvPr/>
        </p:nvSpPr>
        <p:spPr>
          <a:xfrm>
            <a:off x="7132892" y="4009773"/>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Partner Settlement</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22" name="Rectangle 21">
            <a:extLst>
              <a:ext uri="{FF2B5EF4-FFF2-40B4-BE49-F238E27FC236}">
                <a16:creationId xmlns:a16="http://schemas.microsoft.com/office/drawing/2014/main" id="{1685CC1F-1026-BAF4-68C8-6B4128B42A97}"/>
              </a:ext>
            </a:extLst>
          </p:cNvPr>
          <p:cNvSpPr/>
          <p:nvPr/>
        </p:nvSpPr>
        <p:spPr>
          <a:xfrm>
            <a:off x="7132891" y="2851188"/>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Invoice delivery</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23" name="Rectangle 22">
            <a:extLst>
              <a:ext uri="{FF2B5EF4-FFF2-40B4-BE49-F238E27FC236}">
                <a16:creationId xmlns:a16="http://schemas.microsoft.com/office/drawing/2014/main" id="{7C0D1A90-9C0C-2248-1433-44571237D21B}"/>
              </a:ext>
            </a:extLst>
          </p:cNvPr>
          <p:cNvSpPr/>
          <p:nvPr/>
        </p:nvSpPr>
        <p:spPr>
          <a:xfrm>
            <a:off x="10165693" y="2275809"/>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AR Generation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24" name="Rectangle 23">
            <a:extLst>
              <a:ext uri="{FF2B5EF4-FFF2-40B4-BE49-F238E27FC236}">
                <a16:creationId xmlns:a16="http://schemas.microsoft.com/office/drawing/2014/main" id="{A1BB8828-A461-EDD0-8106-899759AAA1E2}"/>
              </a:ext>
            </a:extLst>
          </p:cNvPr>
          <p:cNvSpPr/>
          <p:nvPr/>
        </p:nvSpPr>
        <p:spPr>
          <a:xfrm>
            <a:off x="10165693" y="2712978"/>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Customer Collection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25" name="Rectangle 24">
            <a:extLst>
              <a:ext uri="{FF2B5EF4-FFF2-40B4-BE49-F238E27FC236}">
                <a16:creationId xmlns:a16="http://schemas.microsoft.com/office/drawing/2014/main" id="{D61FF1E1-DE5A-FCFE-7052-017545E99968}"/>
              </a:ext>
            </a:extLst>
          </p:cNvPr>
          <p:cNvSpPr/>
          <p:nvPr/>
        </p:nvSpPr>
        <p:spPr>
          <a:xfrm>
            <a:off x="10165693" y="4297045"/>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AP Generation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26" name="Rectangle 25">
            <a:extLst>
              <a:ext uri="{FF2B5EF4-FFF2-40B4-BE49-F238E27FC236}">
                <a16:creationId xmlns:a16="http://schemas.microsoft.com/office/drawing/2014/main" id="{86E9280A-1A44-5EF8-A43C-BAD2CBBE99F5}"/>
              </a:ext>
            </a:extLst>
          </p:cNvPr>
          <p:cNvSpPr/>
          <p:nvPr/>
        </p:nvSpPr>
        <p:spPr>
          <a:xfrm>
            <a:off x="10165693" y="4787911"/>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Payment</a:t>
            </a:r>
            <a:endParaRPr lang="zh-CN" altLang="en-US" sz="700" b="1">
              <a:solidFill>
                <a:srgbClr val="000000"/>
              </a:solidFill>
              <a:latin typeface="Tenorite" panose="00000500000000000000" pitchFamily="2" charset="0"/>
              <a:ea typeface="黑体" panose="02010609060101010101" pitchFamily="49" charset="-122"/>
            </a:endParaRPr>
          </a:p>
        </p:txBody>
      </p:sp>
      <p:cxnSp>
        <p:nvCxnSpPr>
          <p:cNvPr id="28" name="Straight Arrow Connector 27">
            <a:extLst>
              <a:ext uri="{FF2B5EF4-FFF2-40B4-BE49-F238E27FC236}">
                <a16:creationId xmlns:a16="http://schemas.microsoft.com/office/drawing/2014/main" id="{2AE30EF2-91C2-161E-7170-6168849BF899}"/>
              </a:ext>
            </a:extLst>
          </p:cNvPr>
          <p:cNvCxnSpPr>
            <a:cxnSpLocks/>
            <a:stCxn id="8" idx="3"/>
            <a:endCxn id="10" idx="1"/>
          </p:cNvCxnSpPr>
          <p:nvPr/>
        </p:nvCxnSpPr>
        <p:spPr>
          <a:xfrm>
            <a:off x="1746513" y="2445717"/>
            <a:ext cx="667009"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3A8FBEBE-BFAF-7E18-51CC-98F983E51E2D}"/>
              </a:ext>
            </a:extLst>
          </p:cNvPr>
          <p:cNvCxnSpPr>
            <a:stCxn id="10" idx="3"/>
            <a:endCxn id="11" idx="1"/>
          </p:cNvCxnSpPr>
          <p:nvPr/>
        </p:nvCxnSpPr>
        <p:spPr>
          <a:xfrm>
            <a:off x="3316046" y="2445717"/>
            <a:ext cx="130257"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E411C219-2DBC-51D6-7720-2173E6193EC7}"/>
              </a:ext>
            </a:extLst>
          </p:cNvPr>
          <p:cNvCxnSpPr>
            <a:cxnSpLocks/>
          </p:cNvCxnSpPr>
          <p:nvPr/>
        </p:nvCxnSpPr>
        <p:spPr>
          <a:xfrm>
            <a:off x="3316043" y="4252880"/>
            <a:ext cx="130258"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FF019026-E628-1787-DC03-5FE5B0460BC3}"/>
              </a:ext>
            </a:extLst>
          </p:cNvPr>
          <p:cNvCxnSpPr>
            <a:cxnSpLocks/>
            <a:stCxn id="11" idx="3"/>
          </p:cNvCxnSpPr>
          <p:nvPr/>
        </p:nvCxnSpPr>
        <p:spPr>
          <a:xfrm>
            <a:off x="4348826" y="2445717"/>
            <a:ext cx="356511"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39" name="Straight Arrow Connector 38">
            <a:extLst>
              <a:ext uri="{FF2B5EF4-FFF2-40B4-BE49-F238E27FC236}">
                <a16:creationId xmlns:a16="http://schemas.microsoft.com/office/drawing/2014/main" id="{B385BD54-9BF0-9B59-CAE6-858A9F60BC54}"/>
              </a:ext>
            </a:extLst>
          </p:cNvPr>
          <p:cNvCxnSpPr>
            <a:cxnSpLocks/>
          </p:cNvCxnSpPr>
          <p:nvPr/>
        </p:nvCxnSpPr>
        <p:spPr>
          <a:xfrm>
            <a:off x="4348826" y="4252880"/>
            <a:ext cx="356511"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2AE14CE9-7B16-6E8D-0B31-D35AB96242AD}"/>
              </a:ext>
            </a:extLst>
          </p:cNvPr>
          <p:cNvCxnSpPr>
            <a:cxnSpLocks/>
          </p:cNvCxnSpPr>
          <p:nvPr/>
        </p:nvCxnSpPr>
        <p:spPr>
          <a:xfrm>
            <a:off x="4348826" y="4950854"/>
            <a:ext cx="356511"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097015B9-58B9-08EA-9BEE-C301CEFB72BE}"/>
              </a:ext>
            </a:extLst>
          </p:cNvPr>
          <p:cNvCxnSpPr>
            <a:cxnSpLocks/>
            <a:endCxn id="16" idx="1"/>
          </p:cNvCxnSpPr>
          <p:nvPr/>
        </p:nvCxnSpPr>
        <p:spPr>
          <a:xfrm>
            <a:off x="5607861" y="2722503"/>
            <a:ext cx="304322"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44" name="Arrow: Left-Right 43">
            <a:extLst>
              <a:ext uri="{FF2B5EF4-FFF2-40B4-BE49-F238E27FC236}">
                <a16:creationId xmlns:a16="http://schemas.microsoft.com/office/drawing/2014/main" id="{D935834B-7638-858B-CECD-D298C9CAF74A}"/>
              </a:ext>
            </a:extLst>
          </p:cNvPr>
          <p:cNvSpPr/>
          <p:nvPr/>
        </p:nvSpPr>
        <p:spPr>
          <a:xfrm rot="5400000">
            <a:off x="6263217" y="3191833"/>
            <a:ext cx="245015" cy="126420"/>
          </a:xfrm>
          <a:prstGeom prst="leftRightArrow">
            <a:avLst/>
          </a:prstGeom>
          <a:solidFill>
            <a:schemeClr val="bg1"/>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cxnSp>
        <p:nvCxnSpPr>
          <p:cNvPr id="52" name="Connector: Elbow 51">
            <a:extLst>
              <a:ext uri="{FF2B5EF4-FFF2-40B4-BE49-F238E27FC236}">
                <a16:creationId xmlns:a16="http://schemas.microsoft.com/office/drawing/2014/main" id="{DE47E274-4EDB-B099-CE94-C3EAAAFA9EDE}"/>
              </a:ext>
            </a:extLst>
          </p:cNvPr>
          <p:cNvCxnSpPr>
            <a:stCxn id="16" idx="3"/>
            <a:endCxn id="18" idx="1"/>
          </p:cNvCxnSpPr>
          <p:nvPr/>
        </p:nvCxnSpPr>
        <p:spPr>
          <a:xfrm flipV="1">
            <a:off x="6814706" y="2445717"/>
            <a:ext cx="318186" cy="276786"/>
          </a:xfrm>
          <a:prstGeom prst="bentConnector3">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54" name="Connector: Elbow 53">
            <a:extLst>
              <a:ext uri="{FF2B5EF4-FFF2-40B4-BE49-F238E27FC236}">
                <a16:creationId xmlns:a16="http://schemas.microsoft.com/office/drawing/2014/main" id="{F8D7A072-3E6E-88CA-C12C-8E61257F7043}"/>
              </a:ext>
            </a:extLst>
          </p:cNvPr>
          <p:cNvCxnSpPr>
            <a:stCxn id="16" idx="3"/>
            <a:endCxn id="21" idx="1"/>
          </p:cNvCxnSpPr>
          <p:nvPr/>
        </p:nvCxnSpPr>
        <p:spPr>
          <a:xfrm>
            <a:off x="6814706" y="2722503"/>
            <a:ext cx="318186" cy="1457178"/>
          </a:xfrm>
          <a:prstGeom prst="bentConnector3">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56" name="Connector: Elbow 55">
            <a:extLst>
              <a:ext uri="{FF2B5EF4-FFF2-40B4-BE49-F238E27FC236}">
                <a16:creationId xmlns:a16="http://schemas.microsoft.com/office/drawing/2014/main" id="{3B6B65D9-3A26-E900-19C1-6B8677193F80}"/>
              </a:ext>
            </a:extLst>
          </p:cNvPr>
          <p:cNvCxnSpPr>
            <a:stCxn id="16" idx="3"/>
            <a:endCxn id="19" idx="1"/>
          </p:cNvCxnSpPr>
          <p:nvPr/>
        </p:nvCxnSpPr>
        <p:spPr>
          <a:xfrm>
            <a:off x="6814706" y="2722503"/>
            <a:ext cx="318186" cy="813776"/>
          </a:xfrm>
          <a:prstGeom prst="bentConnector3">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1" name="Connector: Elbow 60">
            <a:extLst>
              <a:ext uri="{FF2B5EF4-FFF2-40B4-BE49-F238E27FC236}">
                <a16:creationId xmlns:a16="http://schemas.microsoft.com/office/drawing/2014/main" id="{88F9E61E-734D-F909-7235-D7B1FA618114}"/>
              </a:ext>
            </a:extLst>
          </p:cNvPr>
          <p:cNvCxnSpPr>
            <a:cxnSpLocks/>
            <a:stCxn id="18" idx="2"/>
            <a:endCxn id="22" idx="0"/>
          </p:cNvCxnSpPr>
          <p:nvPr/>
        </p:nvCxnSpPr>
        <p:spPr>
          <a:xfrm rot="5400000">
            <a:off x="7466375" y="2733408"/>
            <a:ext cx="235560" cy="1"/>
          </a:xfrm>
          <a:prstGeom prst="bentConnector3">
            <a:avLst>
              <a:gd name="adj1" fmla="val 50000"/>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7E51A297-A691-F8B7-EFA4-97542E5948DC}"/>
              </a:ext>
            </a:extLst>
          </p:cNvPr>
          <p:cNvCxnSpPr>
            <a:cxnSpLocks/>
          </p:cNvCxnSpPr>
          <p:nvPr/>
        </p:nvCxnSpPr>
        <p:spPr>
          <a:xfrm>
            <a:off x="8035416" y="4179681"/>
            <a:ext cx="441024"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CBD1F7D2-2944-9B04-5EED-BF001715F9CE}"/>
              </a:ext>
            </a:extLst>
          </p:cNvPr>
          <p:cNvCxnSpPr>
            <a:cxnSpLocks/>
            <a:stCxn id="23" idx="2"/>
            <a:endCxn id="24" idx="0"/>
          </p:cNvCxnSpPr>
          <p:nvPr/>
        </p:nvCxnSpPr>
        <p:spPr>
          <a:xfrm>
            <a:off x="10616955" y="2615627"/>
            <a:ext cx="0" cy="9735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897FF8C1-92AC-EB91-914B-5C29389FC1C4}"/>
              </a:ext>
            </a:extLst>
          </p:cNvPr>
          <p:cNvSpPr/>
          <p:nvPr/>
        </p:nvSpPr>
        <p:spPr>
          <a:xfrm>
            <a:off x="8483888" y="2722503"/>
            <a:ext cx="902524" cy="1627086"/>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F&amp;A Posting</a:t>
            </a:r>
            <a:endParaRPr lang="zh-CN" altLang="en-US" sz="700" b="1">
              <a:solidFill>
                <a:srgbClr val="000000"/>
              </a:solidFill>
              <a:latin typeface="Tenorite" panose="00000500000000000000" pitchFamily="2" charset="0"/>
              <a:ea typeface="黑体" panose="02010609060101010101" pitchFamily="49" charset="-122"/>
            </a:endParaRPr>
          </a:p>
        </p:txBody>
      </p:sp>
      <p:cxnSp>
        <p:nvCxnSpPr>
          <p:cNvPr id="73" name="Connector: Elbow 72">
            <a:extLst>
              <a:ext uri="{FF2B5EF4-FFF2-40B4-BE49-F238E27FC236}">
                <a16:creationId xmlns:a16="http://schemas.microsoft.com/office/drawing/2014/main" id="{01D7DB12-D362-0135-6B8C-94B280C45C76}"/>
              </a:ext>
            </a:extLst>
          </p:cNvPr>
          <p:cNvCxnSpPr>
            <a:cxnSpLocks/>
          </p:cNvCxnSpPr>
          <p:nvPr/>
        </p:nvCxnSpPr>
        <p:spPr>
          <a:xfrm>
            <a:off x="8041864" y="2446296"/>
            <a:ext cx="434577" cy="744710"/>
          </a:xfrm>
          <a:prstGeom prst="bentConnector3">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91" name="Straight Arrow Connector 90">
            <a:extLst>
              <a:ext uri="{FF2B5EF4-FFF2-40B4-BE49-F238E27FC236}">
                <a16:creationId xmlns:a16="http://schemas.microsoft.com/office/drawing/2014/main" id="{F593795F-529D-EC47-EFA1-5988F955A0EE}"/>
              </a:ext>
            </a:extLst>
          </p:cNvPr>
          <p:cNvCxnSpPr>
            <a:cxnSpLocks/>
            <a:stCxn id="18" idx="3"/>
            <a:endCxn id="23" idx="1"/>
          </p:cNvCxnSpPr>
          <p:nvPr/>
        </p:nvCxnSpPr>
        <p:spPr>
          <a:xfrm>
            <a:off x="8035417" y="2445717"/>
            <a:ext cx="2130277"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97E84930-E49E-4FBA-DA89-A404778F4092}"/>
              </a:ext>
            </a:extLst>
          </p:cNvPr>
          <p:cNvCxnSpPr>
            <a:cxnSpLocks/>
            <a:stCxn id="19" idx="3"/>
            <a:endCxn id="71" idx="1"/>
          </p:cNvCxnSpPr>
          <p:nvPr/>
        </p:nvCxnSpPr>
        <p:spPr>
          <a:xfrm flipV="1">
            <a:off x="8035416" y="3536048"/>
            <a:ext cx="448472" cy="233"/>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28E0DA82-CACF-3205-453E-700E3BDA7947}"/>
              </a:ext>
            </a:extLst>
          </p:cNvPr>
          <p:cNvSpPr/>
          <p:nvPr/>
        </p:nvSpPr>
        <p:spPr>
          <a:xfrm>
            <a:off x="843988" y="2712978"/>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Flex Pause/Down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00" name="Rectangle 99">
            <a:extLst>
              <a:ext uri="{FF2B5EF4-FFF2-40B4-BE49-F238E27FC236}">
                <a16:creationId xmlns:a16="http://schemas.microsoft.com/office/drawing/2014/main" id="{188B4456-3749-9603-B45B-E8B4A7E86CB2}"/>
              </a:ext>
            </a:extLst>
          </p:cNvPr>
          <p:cNvSpPr/>
          <p:nvPr/>
        </p:nvSpPr>
        <p:spPr>
          <a:xfrm>
            <a:off x="843988" y="3150186"/>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Early Termination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01" name="Rectangle 100">
            <a:extLst>
              <a:ext uri="{FF2B5EF4-FFF2-40B4-BE49-F238E27FC236}">
                <a16:creationId xmlns:a16="http://schemas.microsoft.com/office/drawing/2014/main" id="{2702407E-0D14-4B1D-BA16-63D2EEA34B19}"/>
              </a:ext>
            </a:extLst>
          </p:cNvPr>
          <p:cNvSpPr/>
          <p:nvPr/>
        </p:nvSpPr>
        <p:spPr>
          <a:xfrm>
            <a:off x="843988" y="3574941"/>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Termination/ </a:t>
            </a:r>
          </a:p>
          <a:p>
            <a:pPr algn="ctr" defTabSz="914126"/>
            <a:r>
              <a:rPr lang="en-US" altLang="zh-CN" sz="700" b="1">
                <a:solidFill>
                  <a:srgbClr val="000000"/>
                </a:solidFill>
                <a:latin typeface="Tenorite" panose="00000500000000000000" pitchFamily="2" charset="0"/>
                <a:ea typeface="黑体" panose="02010609060101010101" pitchFamily="49" charset="-122"/>
              </a:rPr>
              <a:t>Extension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02" name="Rectangle 101">
            <a:extLst>
              <a:ext uri="{FF2B5EF4-FFF2-40B4-BE49-F238E27FC236}">
                <a16:creationId xmlns:a16="http://schemas.microsoft.com/office/drawing/2014/main" id="{5CED0B72-0F19-20EC-7196-866072C5D202}"/>
              </a:ext>
            </a:extLst>
          </p:cNvPr>
          <p:cNvSpPr/>
          <p:nvPr/>
        </p:nvSpPr>
        <p:spPr>
          <a:xfrm>
            <a:off x="843988" y="4787911"/>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On Demand Charge</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03" name="TextBox 102">
            <a:extLst>
              <a:ext uri="{FF2B5EF4-FFF2-40B4-BE49-F238E27FC236}">
                <a16:creationId xmlns:a16="http://schemas.microsoft.com/office/drawing/2014/main" id="{3CDB65D4-6742-AC27-F47E-F7AF52653FB8}"/>
              </a:ext>
            </a:extLst>
          </p:cNvPr>
          <p:cNvSpPr txBox="1"/>
          <p:nvPr/>
        </p:nvSpPr>
        <p:spPr>
          <a:xfrm>
            <a:off x="9837711" y="1149136"/>
            <a:ext cx="1243987" cy="261542"/>
          </a:xfrm>
          <a:prstGeom prst="rect">
            <a:avLst/>
          </a:prstGeom>
          <a:noFill/>
        </p:spPr>
        <p:txBody>
          <a:bodyPr wrap="square" rtlCol="0">
            <a:spAutoFit/>
          </a:bodyPr>
          <a:lstStyle/>
          <a:p>
            <a:pPr algn="ctr" defTabSz="914126"/>
            <a:r>
              <a:rPr lang="en-US" altLang="zh-CN" sz="1100" b="1">
                <a:solidFill>
                  <a:srgbClr val="000000"/>
                </a:solidFill>
                <a:latin typeface="Tenorite" panose="00000500000000000000" pitchFamily="2" charset="0"/>
                <a:ea typeface="黑体" panose="02010609060101010101" pitchFamily="49" charset="-122"/>
                <a:cs typeface="Arial" pitchFamily="34" charset="0"/>
              </a:rPr>
              <a:t>F&amp;A Handling</a:t>
            </a:r>
            <a:endParaRPr lang="zh-CN" altLang="en-US" sz="1100" b="1">
              <a:solidFill>
                <a:srgbClr val="000000"/>
              </a:solidFill>
              <a:latin typeface="Tenorite" panose="00000500000000000000" pitchFamily="2" charset="0"/>
              <a:ea typeface="黑体" panose="02010609060101010101" pitchFamily="49" charset="-122"/>
              <a:cs typeface="Arial" pitchFamily="34" charset="0"/>
            </a:endParaRPr>
          </a:p>
        </p:txBody>
      </p:sp>
      <p:sp>
        <p:nvSpPr>
          <p:cNvPr id="104" name="Flowchart: Punched Tape 103">
            <a:extLst>
              <a:ext uri="{FF2B5EF4-FFF2-40B4-BE49-F238E27FC236}">
                <a16:creationId xmlns:a16="http://schemas.microsoft.com/office/drawing/2014/main" id="{3F29A5CE-6897-7B6E-E2E6-D582C3AD8836}"/>
              </a:ext>
            </a:extLst>
          </p:cNvPr>
          <p:cNvSpPr/>
          <p:nvPr/>
        </p:nvSpPr>
        <p:spPr>
          <a:xfrm>
            <a:off x="7753020" y="2540726"/>
            <a:ext cx="359154" cy="260937"/>
          </a:xfrm>
          <a:prstGeom prst="flowChartPunchedTape">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Taxation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05" name="Flowchart: Punched Tape 104">
            <a:extLst>
              <a:ext uri="{FF2B5EF4-FFF2-40B4-BE49-F238E27FC236}">
                <a16:creationId xmlns:a16="http://schemas.microsoft.com/office/drawing/2014/main" id="{DA3613E8-D09A-9D6B-A78C-1CE15658F152}"/>
              </a:ext>
            </a:extLst>
          </p:cNvPr>
          <p:cNvSpPr/>
          <p:nvPr/>
        </p:nvSpPr>
        <p:spPr>
          <a:xfrm>
            <a:off x="7753020" y="3624866"/>
            <a:ext cx="359154" cy="260937"/>
          </a:xfrm>
          <a:prstGeom prst="flowChartPunchedTape">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Taxation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06" name="Flowchart: Punched Tape 105">
            <a:extLst>
              <a:ext uri="{FF2B5EF4-FFF2-40B4-BE49-F238E27FC236}">
                <a16:creationId xmlns:a16="http://schemas.microsoft.com/office/drawing/2014/main" id="{E7102493-E492-30FC-3238-A99B3AEF6AAC}"/>
              </a:ext>
            </a:extLst>
          </p:cNvPr>
          <p:cNvSpPr/>
          <p:nvPr/>
        </p:nvSpPr>
        <p:spPr>
          <a:xfrm>
            <a:off x="7753020" y="4258565"/>
            <a:ext cx="359154" cy="260937"/>
          </a:xfrm>
          <a:prstGeom prst="flowChartPunchedTape">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Taxation</a:t>
            </a:r>
            <a:endParaRPr lang="zh-CN" altLang="en-US" sz="700" b="1">
              <a:solidFill>
                <a:srgbClr val="000000"/>
              </a:solidFill>
              <a:latin typeface="Tenorite" panose="00000500000000000000" pitchFamily="2" charset="0"/>
              <a:ea typeface="黑体" panose="02010609060101010101" pitchFamily="49" charset="-122"/>
            </a:endParaRPr>
          </a:p>
        </p:txBody>
      </p:sp>
      <p:sp>
        <p:nvSpPr>
          <p:cNvPr id="108" name="Rectangle 107">
            <a:extLst>
              <a:ext uri="{FF2B5EF4-FFF2-40B4-BE49-F238E27FC236}">
                <a16:creationId xmlns:a16="http://schemas.microsoft.com/office/drawing/2014/main" id="{309D796B-1D44-6A81-3A1A-DCC8A9768906}"/>
              </a:ext>
            </a:extLst>
          </p:cNvPr>
          <p:cNvSpPr/>
          <p:nvPr/>
        </p:nvSpPr>
        <p:spPr>
          <a:xfrm>
            <a:off x="3446301" y="3150186"/>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Billing Plan </a:t>
            </a:r>
          </a:p>
          <a:p>
            <a:pPr algn="ctr" defTabSz="914126"/>
            <a:r>
              <a:rPr lang="en-US" altLang="zh-CN" sz="700" b="1">
                <a:solidFill>
                  <a:srgbClr val="000000"/>
                </a:solidFill>
                <a:latin typeface="Tenorite" panose="00000500000000000000" pitchFamily="2" charset="0"/>
                <a:ea typeface="黑体" panose="02010609060101010101" pitchFamily="49" charset="-122"/>
              </a:rPr>
              <a:t>Updating</a:t>
            </a:r>
            <a:endParaRPr lang="zh-CN" altLang="en-US" sz="700" b="1">
              <a:solidFill>
                <a:srgbClr val="000000"/>
              </a:solidFill>
              <a:latin typeface="Tenorite" panose="00000500000000000000" pitchFamily="2" charset="0"/>
              <a:ea typeface="黑体" panose="02010609060101010101" pitchFamily="49" charset="-122"/>
            </a:endParaRPr>
          </a:p>
        </p:txBody>
      </p:sp>
      <p:cxnSp>
        <p:nvCxnSpPr>
          <p:cNvPr id="110" name="Straight Arrow Connector 109">
            <a:extLst>
              <a:ext uri="{FF2B5EF4-FFF2-40B4-BE49-F238E27FC236}">
                <a16:creationId xmlns:a16="http://schemas.microsoft.com/office/drawing/2014/main" id="{09F31A6A-D5DE-3CA4-230C-187461E04068}"/>
              </a:ext>
            </a:extLst>
          </p:cNvPr>
          <p:cNvCxnSpPr>
            <a:cxnSpLocks/>
            <a:stCxn id="100" idx="3"/>
            <a:endCxn id="108" idx="1"/>
          </p:cNvCxnSpPr>
          <p:nvPr/>
        </p:nvCxnSpPr>
        <p:spPr>
          <a:xfrm>
            <a:off x="1746512" y="3320094"/>
            <a:ext cx="1699789"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12" name="Connector: Elbow 111">
            <a:extLst>
              <a:ext uri="{FF2B5EF4-FFF2-40B4-BE49-F238E27FC236}">
                <a16:creationId xmlns:a16="http://schemas.microsoft.com/office/drawing/2014/main" id="{8B33E3F3-FF20-C48A-0381-9EE041C30A0C}"/>
              </a:ext>
            </a:extLst>
          </p:cNvPr>
          <p:cNvCxnSpPr>
            <a:cxnSpLocks/>
            <a:stCxn id="99" idx="3"/>
            <a:endCxn id="108" idx="1"/>
          </p:cNvCxnSpPr>
          <p:nvPr/>
        </p:nvCxnSpPr>
        <p:spPr>
          <a:xfrm>
            <a:off x="1746512" y="2882886"/>
            <a:ext cx="1699789" cy="437208"/>
          </a:xfrm>
          <a:prstGeom prst="bentConnector3">
            <a:avLst>
              <a:gd name="adj1" fmla="val 50000"/>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13" name="Connector: Elbow 112">
            <a:extLst>
              <a:ext uri="{FF2B5EF4-FFF2-40B4-BE49-F238E27FC236}">
                <a16:creationId xmlns:a16="http://schemas.microsoft.com/office/drawing/2014/main" id="{AAA86CD7-920D-F2D0-9472-22091E25E50E}"/>
              </a:ext>
            </a:extLst>
          </p:cNvPr>
          <p:cNvCxnSpPr>
            <a:cxnSpLocks/>
            <a:stCxn id="101" idx="3"/>
            <a:endCxn id="108" idx="1"/>
          </p:cNvCxnSpPr>
          <p:nvPr/>
        </p:nvCxnSpPr>
        <p:spPr>
          <a:xfrm flipV="1">
            <a:off x="1746512" y="3320096"/>
            <a:ext cx="1699789" cy="424755"/>
          </a:xfrm>
          <a:prstGeom prst="bentConnector3">
            <a:avLst>
              <a:gd name="adj1" fmla="val 50000"/>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22" name="Straight Arrow Connector 121">
            <a:extLst>
              <a:ext uri="{FF2B5EF4-FFF2-40B4-BE49-F238E27FC236}">
                <a16:creationId xmlns:a16="http://schemas.microsoft.com/office/drawing/2014/main" id="{BC53184F-502E-8DEC-9FD1-40717C9705F9}"/>
              </a:ext>
            </a:extLst>
          </p:cNvPr>
          <p:cNvCxnSpPr>
            <a:cxnSpLocks/>
            <a:stCxn id="108" idx="3"/>
          </p:cNvCxnSpPr>
          <p:nvPr/>
        </p:nvCxnSpPr>
        <p:spPr>
          <a:xfrm flipV="1">
            <a:off x="4348825" y="3309649"/>
            <a:ext cx="356512" cy="10446"/>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25" name="Straight Arrow Connector 124">
            <a:extLst>
              <a:ext uri="{FF2B5EF4-FFF2-40B4-BE49-F238E27FC236}">
                <a16:creationId xmlns:a16="http://schemas.microsoft.com/office/drawing/2014/main" id="{5E99D47E-8E80-7AC7-DE64-33F334253ED1}"/>
              </a:ext>
            </a:extLst>
          </p:cNvPr>
          <p:cNvCxnSpPr>
            <a:cxnSpLocks/>
            <a:stCxn id="102" idx="3"/>
            <a:endCxn id="14" idx="1"/>
          </p:cNvCxnSpPr>
          <p:nvPr/>
        </p:nvCxnSpPr>
        <p:spPr>
          <a:xfrm>
            <a:off x="1746512" y="4957820"/>
            <a:ext cx="1699789" cy="1662"/>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142" name="Rectangle 141">
            <a:extLst>
              <a:ext uri="{FF2B5EF4-FFF2-40B4-BE49-F238E27FC236}">
                <a16:creationId xmlns:a16="http://schemas.microsoft.com/office/drawing/2014/main" id="{02F2EC4F-64D4-1E4B-A974-B7C56AD6509F}"/>
              </a:ext>
            </a:extLst>
          </p:cNvPr>
          <p:cNvSpPr/>
          <p:nvPr/>
        </p:nvSpPr>
        <p:spPr>
          <a:xfrm>
            <a:off x="843988" y="4082972"/>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Customer Usage</a:t>
            </a:r>
            <a:endParaRPr lang="zh-CN" altLang="en-US" sz="700" b="1">
              <a:solidFill>
                <a:srgbClr val="000000"/>
              </a:solidFill>
              <a:latin typeface="Tenorite" panose="00000500000000000000" pitchFamily="2" charset="0"/>
              <a:ea typeface="黑体" panose="02010609060101010101" pitchFamily="49" charset="-122"/>
            </a:endParaRPr>
          </a:p>
        </p:txBody>
      </p:sp>
      <p:cxnSp>
        <p:nvCxnSpPr>
          <p:cNvPr id="143" name="Straight Arrow Connector 142">
            <a:extLst>
              <a:ext uri="{FF2B5EF4-FFF2-40B4-BE49-F238E27FC236}">
                <a16:creationId xmlns:a16="http://schemas.microsoft.com/office/drawing/2014/main" id="{CCCB3287-A390-12FD-569A-DD391DBCEF68}"/>
              </a:ext>
            </a:extLst>
          </p:cNvPr>
          <p:cNvCxnSpPr>
            <a:cxnSpLocks/>
            <a:stCxn id="142" idx="3"/>
            <a:endCxn id="12" idx="1"/>
          </p:cNvCxnSpPr>
          <p:nvPr/>
        </p:nvCxnSpPr>
        <p:spPr>
          <a:xfrm>
            <a:off x="1746511" y="4252880"/>
            <a:ext cx="667008" cy="0"/>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60" name="Straight Arrow Connector 159">
            <a:extLst>
              <a:ext uri="{FF2B5EF4-FFF2-40B4-BE49-F238E27FC236}">
                <a16:creationId xmlns:a16="http://schemas.microsoft.com/office/drawing/2014/main" id="{970E1592-6796-C888-6000-B025BF08F3E8}"/>
              </a:ext>
            </a:extLst>
          </p:cNvPr>
          <p:cNvCxnSpPr>
            <a:cxnSpLocks/>
            <a:stCxn id="25" idx="2"/>
            <a:endCxn id="26" idx="0"/>
          </p:cNvCxnSpPr>
          <p:nvPr/>
        </p:nvCxnSpPr>
        <p:spPr>
          <a:xfrm>
            <a:off x="10616955" y="4636864"/>
            <a:ext cx="0" cy="151047"/>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65" name="Straight Arrow Connector 164">
            <a:extLst>
              <a:ext uri="{FF2B5EF4-FFF2-40B4-BE49-F238E27FC236}">
                <a16:creationId xmlns:a16="http://schemas.microsoft.com/office/drawing/2014/main" id="{C7F3213E-C39F-681C-8B7C-0CF071A44790}"/>
              </a:ext>
            </a:extLst>
          </p:cNvPr>
          <p:cNvCxnSpPr>
            <a:cxnSpLocks/>
            <a:stCxn id="9" idx="2"/>
            <a:endCxn id="8" idx="0"/>
          </p:cNvCxnSpPr>
          <p:nvPr/>
        </p:nvCxnSpPr>
        <p:spPr>
          <a:xfrm>
            <a:off x="1295250" y="1986310"/>
            <a:ext cx="0" cy="289498"/>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50F21641-516A-9F22-90B6-E751020902A5}"/>
              </a:ext>
            </a:extLst>
          </p:cNvPr>
          <p:cNvSpPr/>
          <p:nvPr/>
        </p:nvSpPr>
        <p:spPr>
          <a:xfrm>
            <a:off x="10164339" y="3369064"/>
            <a:ext cx="902524" cy="339819"/>
          </a:xfrm>
          <a:prstGeom prst="rect">
            <a:avLst/>
          </a:prstGeom>
          <a:solidFill>
            <a:schemeClr val="bg1">
              <a:lumMod val="9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700" b="1">
                <a:solidFill>
                  <a:srgbClr val="000000"/>
                </a:solidFill>
                <a:latin typeface="Tenorite" panose="00000500000000000000" pitchFamily="2" charset="0"/>
                <a:ea typeface="黑体" panose="02010609060101010101" pitchFamily="49" charset="-122"/>
              </a:rPr>
              <a:t>SAP GL Posting</a:t>
            </a:r>
            <a:endParaRPr lang="zh-CN" altLang="en-US" sz="700" b="1">
              <a:solidFill>
                <a:srgbClr val="000000"/>
              </a:solidFill>
              <a:latin typeface="Tenorite" panose="00000500000000000000" pitchFamily="2" charset="0"/>
              <a:ea typeface="黑体" panose="02010609060101010101" pitchFamily="49" charset="-122"/>
            </a:endParaRPr>
          </a:p>
        </p:txBody>
      </p:sp>
      <p:cxnSp>
        <p:nvCxnSpPr>
          <p:cNvPr id="29" name="Straight Arrow Connector 28">
            <a:extLst>
              <a:ext uri="{FF2B5EF4-FFF2-40B4-BE49-F238E27FC236}">
                <a16:creationId xmlns:a16="http://schemas.microsoft.com/office/drawing/2014/main" id="{F668ECEC-07C1-CFDD-47B3-3E866DF9B595}"/>
              </a:ext>
            </a:extLst>
          </p:cNvPr>
          <p:cNvCxnSpPr>
            <a:cxnSpLocks/>
            <a:stCxn id="71" idx="3"/>
            <a:endCxn id="20" idx="1"/>
          </p:cNvCxnSpPr>
          <p:nvPr/>
        </p:nvCxnSpPr>
        <p:spPr>
          <a:xfrm>
            <a:off x="9386413" y="3536047"/>
            <a:ext cx="777927" cy="2927"/>
          </a:xfrm>
          <a:prstGeom prst="straightConnector1">
            <a:avLst/>
          </a:prstGeom>
          <a:ln w="3175">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84778320"/>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7A1EBC18-F107-A6FD-C420-BB58B42A3620}"/>
              </a:ext>
            </a:extLst>
          </p:cNvPr>
          <p:cNvGraphicFramePr>
            <a:graphicFrameLocks noChangeAspect="1"/>
          </p:cNvGraphicFramePr>
          <p:nvPr>
            <p:custDataLst>
              <p:tags r:id="rId1"/>
            </p:custDataLst>
          </p:nvPr>
        </p:nvGraphicFramePr>
        <p:xfrm>
          <a:off x="3176" y="1588"/>
          <a:ext cx="1588" cy="1588"/>
        </p:xfrm>
        <a:graphic>
          <a:graphicData uri="http://schemas.openxmlformats.org/presentationml/2006/ole">
            <mc:AlternateContent xmlns:mc="http://schemas.openxmlformats.org/markup-compatibility/2006">
              <mc:Choice xmlns:v="urn:schemas-microsoft-com:vml" Requires="v">
                <p:oleObj name="think-cell Slide" r:id="rId4" imgW="588" imgH="588" progId="TCLayout.ActiveDocument.1">
                  <p:embed/>
                </p:oleObj>
              </mc:Choice>
              <mc:Fallback>
                <p:oleObj name="think-cell Slide" r:id="rId4" imgW="588" imgH="588" progId="TCLayout.ActiveDocument.1">
                  <p:embed/>
                  <p:pic>
                    <p:nvPicPr>
                      <p:cNvPr id="8" name="think-cell data - do not delete" hidden="1">
                        <a:extLst>
                          <a:ext uri="{FF2B5EF4-FFF2-40B4-BE49-F238E27FC236}">
                            <a16:creationId xmlns:a16="http://schemas.microsoft.com/office/drawing/2014/main" id="{7A1EBC18-F107-A6FD-C420-BB58B42A3620}"/>
                          </a:ext>
                        </a:extLst>
                      </p:cNvPr>
                      <p:cNvPicPr/>
                      <p:nvPr/>
                    </p:nvPicPr>
                    <p:blipFill>
                      <a:blip r:embed="rId5"/>
                      <a:stretch>
                        <a:fillRect/>
                      </a:stretch>
                    </p:blipFill>
                    <p:spPr>
                      <a:xfrm>
                        <a:off x="3176" y="1588"/>
                        <a:ext cx="1588" cy="1588"/>
                      </a:xfrm>
                      <a:prstGeom prst="rect">
                        <a:avLst/>
                      </a:prstGeom>
                    </p:spPr>
                  </p:pic>
                </p:oleObj>
              </mc:Fallback>
            </mc:AlternateContent>
          </a:graphicData>
        </a:graphic>
      </p:graphicFrame>
      <p:sp>
        <p:nvSpPr>
          <p:cNvPr id="65" name="标题 64">
            <a:extLst>
              <a:ext uri="{FF2B5EF4-FFF2-40B4-BE49-F238E27FC236}">
                <a16:creationId xmlns:a16="http://schemas.microsoft.com/office/drawing/2014/main" id="{A75E85C4-3006-3C23-67FC-2DF90B3D1781}"/>
              </a:ext>
            </a:extLst>
          </p:cNvPr>
          <p:cNvSpPr>
            <a:spLocks noGrp="1"/>
          </p:cNvSpPr>
          <p:nvPr>
            <p:ph type="title"/>
          </p:nvPr>
        </p:nvSpPr>
        <p:spPr>
          <a:xfrm>
            <a:off x="176791" y="149920"/>
            <a:ext cx="10668001" cy="418576"/>
          </a:xfrm>
        </p:spPr>
        <p:txBody>
          <a:bodyPr vert="horz"/>
          <a:lstStyle/>
          <a:p>
            <a:r>
              <a:rPr lang="en-US" altLang="zh-CN" sz="3200">
                <a:latin typeface="Arial" panose="020B0604020202020204" pitchFamily="34" charset="0"/>
                <a:sym typeface="Arial" panose="020B0604020202020204" pitchFamily="34" charset="0"/>
              </a:rPr>
              <a:t>NexBill </a:t>
            </a:r>
            <a:r>
              <a:rPr lang="en-GB" altLang="zh-CN" sz="3200">
                <a:latin typeface="Arial" panose="020B0604020202020204" pitchFamily="34" charset="0"/>
                <a:sym typeface="Arial" panose="020B0604020202020204" pitchFamily="34" charset="0"/>
              </a:rPr>
              <a:t>Application Architecture</a:t>
            </a:r>
            <a:endParaRPr lang="zh-CN" altLang="en-US">
              <a:latin typeface="Arial" panose="020B0604020202020204" pitchFamily="34" charset="0"/>
              <a:sym typeface="Arial" panose="020B0604020202020204" pitchFamily="34" charset="0"/>
            </a:endParaRPr>
          </a:p>
        </p:txBody>
      </p:sp>
      <p:sp>
        <p:nvSpPr>
          <p:cNvPr id="3" name="Slide Number Placeholder 3">
            <a:extLst>
              <a:ext uri="{FF2B5EF4-FFF2-40B4-BE49-F238E27FC236}">
                <a16:creationId xmlns:a16="http://schemas.microsoft.com/office/drawing/2014/main" id="{789BF909-F0BD-67E8-2C4B-A8BF939BB541}"/>
              </a:ext>
            </a:extLst>
          </p:cNvPr>
          <p:cNvSpPr>
            <a:spLocks noGrp="1"/>
          </p:cNvSpPr>
          <p:nvPr>
            <p:ph type="sldNum" sz="quarter" idx="10"/>
          </p:nvPr>
        </p:nvSpPr>
        <p:spPr/>
        <p:txBody>
          <a:bodyPr/>
          <a:lstStyle/>
          <a:p>
            <a:pPr defTabSz="1218987">
              <a:defRPr/>
            </a:pPr>
            <a:fld id="{6D22F896-40B5-4ADD-8801-0D06FADFA095}" type="slidenum">
              <a:rPr lang="en-US">
                <a:solidFill>
                  <a:srgbClr val="000000"/>
                </a:solidFill>
                <a:ea typeface="微软雅黑" panose="020B0503020204020204" pitchFamily="34" charset="-122"/>
                <a:sym typeface="Arial" panose="020B0604020202020204" pitchFamily="34" charset="0"/>
              </a:rPr>
              <a:pPr defTabSz="1218987">
                <a:defRPr/>
              </a:pPr>
              <a:t>5</a:t>
            </a:fld>
            <a:endParaRPr lang="en-US">
              <a:solidFill>
                <a:srgbClr val="000000"/>
              </a:solidFill>
              <a:ea typeface="微软雅黑" panose="020B0503020204020204" pitchFamily="34" charset="-122"/>
              <a:sym typeface="Arial" panose="020B0604020202020204" pitchFamily="34" charset="0"/>
            </a:endParaRPr>
          </a:p>
        </p:txBody>
      </p:sp>
      <p:sp>
        <p:nvSpPr>
          <p:cNvPr id="9" name="Rectangle 8">
            <a:extLst>
              <a:ext uri="{FF2B5EF4-FFF2-40B4-BE49-F238E27FC236}">
                <a16:creationId xmlns:a16="http://schemas.microsoft.com/office/drawing/2014/main" id="{AC60A1DC-1814-2CD2-FB87-4B5D611BB0BA}"/>
              </a:ext>
            </a:extLst>
          </p:cNvPr>
          <p:cNvSpPr/>
          <p:nvPr/>
        </p:nvSpPr>
        <p:spPr>
          <a:xfrm>
            <a:off x="596811" y="6167888"/>
            <a:ext cx="3743864" cy="5401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defTabSz="1218987"/>
            <a:endParaRPr lang="en-US" sz="1600" err="1">
              <a:solidFill>
                <a:prstClr val="white"/>
              </a:solidFill>
              <a:latin typeface="Arial"/>
            </a:endParaRPr>
          </a:p>
        </p:txBody>
      </p:sp>
      <p:pic>
        <p:nvPicPr>
          <p:cNvPr id="4" name="Picture 3">
            <a:extLst>
              <a:ext uri="{FF2B5EF4-FFF2-40B4-BE49-F238E27FC236}">
                <a16:creationId xmlns:a16="http://schemas.microsoft.com/office/drawing/2014/main" id="{21225706-BC14-7CFB-4357-26A0C71D1F80}"/>
              </a:ext>
            </a:extLst>
          </p:cNvPr>
          <p:cNvPicPr>
            <a:picLocks noChangeAspect="1"/>
          </p:cNvPicPr>
          <p:nvPr/>
        </p:nvPicPr>
        <p:blipFill>
          <a:blip r:embed="rId6"/>
          <a:stretch>
            <a:fillRect/>
          </a:stretch>
        </p:blipFill>
        <p:spPr>
          <a:xfrm>
            <a:off x="179582" y="6458"/>
            <a:ext cx="11832836" cy="6858000"/>
          </a:xfrm>
          <a:prstGeom prst="rect">
            <a:avLst/>
          </a:prstGeom>
        </p:spPr>
      </p:pic>
    </p:spTree>
    <p:extLst>
      <p:ext uri="{BB962C8B-B14F-4D97-AF65-F5344CB8AC3E}">
        <p14:creationId xmlns:p14="http://schemas.microsoft.com/office/powerpoint/2010/main" val="1358854547"/>
      </p:ext>
    </p:extLst>
  </p:cSld>
  <p:clrMapOvr>
    <a:masterClrMapping/>
  </p:clrMapOvr>
  <p:transition spd="med"/>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26DE57-9F5A-F2D5-4064-D0BA13C30604}"/>
            </a:ext>
          </a:extLst>
        </p:cNvPr>
        <p:cNvGrpSpPr/>
        <p:nvPr/>
      </p:nvGrpSpPr>
      <p:grpSpPr>
        <a:xfrm>
          <a:off x="0" y="0"/>
          <a:ext cx="0" cy="0"/>
          <a:chOff x="0" y="0"/>
          <a:chExt cx="0" cy="0"/>
        </a:xfrm>
      </p:grpSpPr>
      <p:sp>
        <p:nvSpPr>
          <p:cNvPr id="8" name="Title 1">
            <a:extLst>
              <a:ext uri="{FF2B5EF4-FFF2-40B4-BE49-F238E27FC236}">
                <a16:creationId xmlns:a16="http://schemas.microsoft.com/office/drawing/2014/main" id="{68E15E76-FAC8-1902-905F-AD7FBA0D00A4}"/>
              </a:ext>
            </a:extLst>
          </p:cNvPr>
          <p:cNvSpPr txBox="1">
            <a:spLocks/>
          </p:cNvSpPr>
          <p:nvPr/>
        </p:nvSpPr>
        <p:spPr>
          <a:xfrm>
            <a:off x="159793" y="69669"/>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r>
              <a:rPr lang="en-US" sz="2800" b="1"/>
              <a:t>Key Scope and Assumption in </a:t>
            </a:r>
            <a:r>
              <a:rPr lang="en-US" sz="2800" b="1" err="1"/>
              <a:t>Nextbill</a:t>
            </a:r>
            <a:r>
              <a:rPr lang="en-US" sz="2800" b="1"/>
              <a:t> as-is scenarios</a:t>
            </a:r>
            <a:endParaRPr lang="en-US" sz="3600" b="1"/>
          </a:p>
        </p:txBody>
      </p:sp>
      <p:graphicFrame>
        <p:nvGraphicFramePr>
          <p:cNvPr id="6" name="Table 5">
            <a:extLst>
              <a:ext uri="{FF2B5EF4-FFF2-40B4-BE49-F238E27FC236}">
                <a16:creationId xmlns:a16="http://schemas.microsoft.com/office/drawing/2014/main" id="{9C45E4B5-C7CB-4691-4BBB-9BA37EDAFB51}"/>
              </a:ext>
            </a:extLst>
          </p:cNvPr>
          <p:cNvGraphicFramePr>
            <a:graphicFrameLocks noGrp="1"/>
          </p:cNvGraphicFramePr>
          <p:nvPr>
            <p:extLst>
              <p:ext uri="{D42A27DB-BD31-4B8C-83A1-F6EECF244321}">
                <p14:modId xmlns:p14="http://schemas.microsoft.com/office/powerpoint/2010/main" val="3512781950"/>
              </p:ext>
            </p:extLst>
          </p:nvPr>
        </p:nvGraphicFramePr>
        <p:xfrm>
          <a:off x="258679" y="691728"/>
          <a:ext cx="11773528" cy="4704080"/>
        </p:xfrm>
        <a:graphic>
          <a:graphicData uri="http://schemas.openxmlformats.org/drawingml/2006/table">
            <a:tbl>
              <a:tblPr firstRow="1" bandRow="1">
                <a:tableStyleId>{5C22544A-7EE6-4342-B048-85BDC9FD1C3A}</a:tableStyleId>
              </a:tblPr>
              <a:tblGrid>
                <a:gridCol w="524381">
                  <a:extLst>
                    <a:ext uri="{9D8B030D-6E8A-4147-A177-3AD203B41FA5}">
                      <a16:colId xmlns:a16="http://schemas.microsoft.com/office/drawing/2014/main" val="590487580"/>
                    </a:ext>
                  </a:extLst>
                </a:gridCol>
                <a:gridCol w="1160040">
                  <a:extLst>
                    <a:ext uri="{9D8B030D-6E8A-4147-A177-3AD203B41FA5}">
                      <a16:colId xmlns:a16="http://schemas.microsoft.com/office/drawing/2014/main" val="3195040165"/>
                    </a:ext>
                  </a:extLst>
                </a:gridCol>
                <a:gridCol w="10089107">
                  <a:extLst>
                    <a:ext uri="{9D8B030D-6E8A-4147-A177-3AD203B41FA5}">
                      <a16:colId xmlns:a16="http://schemas.microsoft.com/office/drawing/2014/main" val="3020975192"/>
                    </a:ext>
                  </a:extLst>
                </a:gridCol>
              </a:tblGrid>
              <a:tr h="370840">
                <a:tc>
                  <a:txBody>
                    <a:bodyPr/>
                    <a:lstStyle/>
                    <a:p>
                      <a:pPr algn="ctr"/>
                      <a:r>
                        <a:rPr lang="en-US" sz="1400"/>
                        <a:t>No</a:t>
                      </a:r>
                    </a:p>
                  </a:txBody>
                  <a:tcPr anchor="ctr"/>
                </a:tc>
                <a:tc>
                  <a:txBody>
                    <a:bodyPr/>
                    <a:lstStyle/>
                    <a:p>
                      <a:r>
                        <a:rPr lang="en-US" sz="1400"/>
                        <a:t>C</a:t>
                      </a:r>
                      <a:r>
                        <a:rPr lang="en-US" altLang="zh-CN" sz="1400"/>
                        <a:t>ategory</a:t>
                      </a:r>
                      <a:endParaRPr lang="en-US" sz="1400"/>
                    </a:p>
                  </a:txBody>
                  <a:tcPr anchor="ctr"/>
                </a:tc>
                <a:tc>
                  <a:txBody>
                    <a:bodyPr/>
                    <a:lstStyle/>
                    <a:p>
                      <a:r>
                        <a:rPr lang="en-US" sz="1400"/>
                        <a:t>Description</a:t>
                      </a:r>
                    </a:p>
                  </a:txBody>
                  <a:tcPr anchor="ctr"/>
                </a:tc>
                <a:extLst>
                  <a:ext uri="{0D108BD9-81ED-4DB2-BD59-A6C34878D82A}">
                    <a16:rowId xmlns:a16="http://schemas.microsoft.com/office/drawing/2014/main" val="3093137312"/>
                  </a:ext>
                </a:extLst>
              </a:tr>
              <a:tr h="370840">
                <a:tc>
                  <a:txBody>
                    <a:bodyPr/>
                    <a:lstStyle/>
                    <a:p>
                      <a:pPr algn="ctr"/>
                      <a:r>
                        <a:rPr lang="en-US" sz="1400"/>
                        <a:t>1</a:t>
                      </a:r>
                    </a:p>
                  </a:txBody>
                  <a:tcPr anchor="ctr"/>
                </a:tc>
                <a:tc>
                  <a:txBody>
                    <a:bodyPr/>
                    <a:lstStyle/>
                    <a:p>
                      <a:r>
                        <a:rPr lang="en-US" sz="1400"/>
                        <a:t>Scope</a:t>
                      </a:r>
                    </a:p>
                  </a:txBody>
                  <a:tcPr anchor="ctr"/>
                </a:tc>
                <a:tc>
                  <a:txBody>
                    <a:bodyPr/>
                    <a:lstStyle/>
                    <a:p>
                      <a:pPr marL="171450" indent="-171450">
                        <a:buFont typeface="Arial" panose="020B0604020202020204" pitchFamily="34" charset="0"/>
                        <a:buChar char="•"/>
                      </a:pPr>
                      <a:r>
                        <a:rPr lang="en-US" sz="1400"/>
                        <a:t>Countries: as-is EAAS enabled AP/EMEA/NA countries, LA will be considered along with EAAS rollout</a:t>
                      </a:r>
                    </a:p>
                    <a:p>
                      <a:pPr marL="171450" indent="-171450">
                        <a:buFont typeface="Arial" panose="020B0604020202020204" pitchFamily="34" charset="0"/>
                        <a:buChar char="•"/>
                      </a:pPr>
                      <a:r>
                        <a:rPr lang="en-US" sz="1400"/>
                        <a:t>Model: S&amp;D/AFE/AFE Hub/Central Billing</a:t>
                      </a:r>
                    </a:p>
                    <a:p>
                      <a:pPr marL="171450" indent="-171450">
                        <a:buFont typeface="Arial" panose="020B0604020202020204" pitchFamily="34" charset="0"/>
                        <a:buChar char="•"/>
                      </a:pPr>
                      <a:r>
                        <a:rPr lang="en-US" sz="1400"/>
                        <a:t>Offering: DaaS/IaaS/ISGLEASE/Managed Capex</a:t>
                      </a:r>
                    </a:p>
                  </a:txBody>
                  <a:tcPr anchor="ctr"/>
                </a:tc>
                <a:extLst>
                  <a:ext uri="{0D108BD9-81ED-4DB2-BD59-A6C34878D82A}">
                    <a16:rowId xmlns:a16="http://schemas.microsoft.com/office/drawing/2014/main" val="4079242787"/>
                  </a:ext>
                </a:extLst>
              </a:tr>
              <a:tr h="370840">
                <a:tc>
                  <a:txBody>
                    <a:bodyPr/>
                    <a:lstStyle/>
                    <a:p>
                      <a:pPr algn="ctr"/>
                      <a:r>
                        <a:rPr lang="en-US" sz="1400"/>
                        <a:t>2</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Scope</a:t>
                      </a:r>
                    </a:p>
                  </a:txBody>
                  <a:tcPr anchor="ct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err="1">
                          <a:ln>
                            <a:noFill/>
                          </a:ln>
                          <a:solidFill>
                            <a:prstClr val="black"/>
                          </a:solidFill>
                          <a:effectLst/>
                          <a:uLnTx/>
                          <a:uFillTx/>
                          <a:latin typeface="+mn-lt"/>
                          <a:ea typeface="+mn-ea"/>
                          <a:cs typeface="+mn-cs"/>
                        </a:rPr>
                        <a:t>Nexbill</a:t>
                      </a:r>
                      <a:r>
                        <a:rPr kumimoji="0" lang="en-US" sz="1400" b="0" i="0" u="none" strike="noStrike" kern="1200" cap="none" spc="0" normalizeH="0" baseline="0" noProof="0">
                          <a:ln>
                            <a:noFill/>
                          </a:ln>
                          <a:solidFill>
                            <a:prstClr val="black"/>
                          </a:solidFill>
                          <a:effectLst/>
                          <a:uLnTx/>
                          <a:uFillTx/>
                          <a:latin typeface="+mn-lt"/>
                          <a:ea typeface="+mn-ea"/>
                          <a:cs typeface="+mn-cs"/>
                        </a:rPr>
                        <a:t> enable issuing customer </a:t>
                      </a:r>
                      <a:r>
                        <a:rPr kumimoji="0" lang="en-US" altLang="zh-CN" sz="1400" b="0" i="0" u="none" strike="noStrike" kern="1200" cap="none" spc="0" normalizeH="0" baseline="0" noProof="0">
                          <a:ln>
                            <a:noFill/>
                          </a:ln>
                          <a:solidFill>
                            <a:prstClr val="black"/>
                          </a:solidFill>
                          <a:effectLst/>
                          <a:uLnTx/>
                          <a:uFillTx/>
                          <a:latin typeface="+mn-lt"/>
                          <a:ea typeface="+mn-ea"/>
                          <a:cs typeface="+mn-cs"/>
                        </a:rPr>
                        <a:t>invoices, </a:t>
                      </a:r>
                      <a:r>
                        <a:rPr kumimoji="0" lang="en-US" altLang="zh-CN" sz="1400" b="1" i="0" u="none" strike="noStrike" kern="1200" cap="none" spc="0" normalizeH="0" baseline="0" noProof="0">
                          <a:ln>
                            <a:noFill/>
                          </a:ln>
                          <a:solidFill>
                            <a:prstClr val="black"/>
                          </a:solidFill>
                          <a:effectLst/>
                          <a:uLnTx/>
                          <a:uFillTx/>
                          <a:latin typeface="+mn-lt"/>
                          <a:ea typeface="+mn-ea"/>
                          <a:cs typeface="+mn-cs"/>
                        </a:rPr>
                        <a:t>some of them as-is</a:t>
                      </a:r>
                      <a:r>
                        <a:rPr kumimoji="0" lang="en-US" sz="1400" b="1" i="0" u="none" strike="noStrike" kern="1200" cap="none" spc="0" normalizeH="0" baseline="0" noProof="0">
                          <a:ln>
                            <a:noFill/>
                          </a:ln>
                          <a:solidFill>
                            <a:prstClr val="black"/>
                          </a:solidFill>
                          <a:effectLst/>
                          <a:uLnTx/>
                          <a:uFillTx/>
                          <a:latin typeface="+mn-lt"/>
                          <a:ea typeface="+mn-ea"/>
                          <a:cs typeface="+mn-cs"/>
                        </a:rPr>
                        <a:t> in S4/ECC</a:t>
                      </a:r>
                      <a:endParaRPr kumimoji="0" lang="en-US" sz="1400" b="1" i="0" u="none" strike="noStrike" kern="1200" cap="none" spc="0" normalizeH="0" baseline="0">
                        <a:ln>
                          <a:noFill/>
                        </a:ln>
                        <a:solidFill>
                          <a:prstClr val="black"/>
                        </a:solidFill>
                        <a:effectLst/>
                        <a:uLnTx/>
                        <a:uFillTx/>
                        <a:latin typeface="+mn-lt"/>
                        <a:ea typeface="+mn-ea"/>
                        <a:cs typeface="+mn-cs"/>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prstClr val="black"/>
                          </a:solidFill>
                          <a:effectLst/>
                          <a:uLnTx/>
                          <a:uFillTx/>
                          <a:latin typeface="+mn-lt"/>
                          <a:ea typeface="+mn-ea"/>
                          <a:cs typeface="+mn-cs"/>
                        </a:rPr>
                        <a:t>As-is in BRIM: </a:t>
                      </a:r>
                      <a:r>
                        <a:rPr kumimoji="0" lang="en-US" sz="1400" b="0" i="0" u="none" strike="noStrike" kern="1200" cap="none" spc="0" normalizeH="0" baseline="0">
                          <a:ln>
                            <a:noFill/>
                          </a:ln>
                          <a:solidFill>
                            <a:prstClr val="black"/>
                          </a:solidFill>
                          <a:effectLst/>
                          <a:uLnTx/>
                          <a:uFillTx/>
                          <a:latin typeface="+mn-lt"/>
                          <a:ea typeface="+mn-ea"/>
                          <a:cs typeface="+mn-cs"/>
                        </a:rPr>
                        <a:t>DaaS Recurring / IaaS Recurring / Early Termination / On-demand Service / EOT (Buyout) / Upfront Tax / Damage Fund/managed capex managed service portion</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prstClr val="black"/>
                          </a:solidFill>
                          <a:effectLst/>
                          <a:uLnTx/>
                          <a:uFillTx/>
                          <a:latin typeface="+mn-lt"/>
                          <a:ea typeface="+mn-ea"/>
                          <a:cs typeface="+mn-cs"/>
                        </a:rPr>
                        <a:t>As-is in ECC/S4: </a:t>
                      </a:r>
                      <a:r>
                        <a:rPr kumimoji="0" lang="en-US" sz="1400" b="0" i="0" u="none" strike="noStrike" kern="1200" cap="none" spc="0" normalizeH="0" baseline="0">
                          <a:ln>
                            <a:noFill/>
                          </a:ln>
                          <a:solidFill>
                            <a:prstClr val="black"/>
                          </a:solidFill>
                          <a:effectLst/>
                          <a:uLnTx/>
                          <a:uFillTx/>
                          <a:latin typeface="+mn-lt"/>
                          <a:ea typeface="+mn-ea"/>
                          <a:cs typeface="+mn-cs"/>
                        </a:rPr>
                        <a:t>Origination Fee / Penalty(Miss SLA CMR) / Syndication(Full sale/SOR) / Asset Remarking / Managed Capex HW portion / Damage Charge / Property Tax</a:t>
                      </a:r>
                      <a:endParaRPr kumimoji="0" lang="en-US" sz="1400" b="0" i="0" u="none" strike="noStrike" kern="1200" cap="none" spc="0" normalizeH="0" baseline="0" noProof="0">
                        <a:ln>
                          <a:noFill/>
                        </a:ln>
                        <a:solidFill>
                          <a:prstClr val="black"/>
                        </a:solidFill>
                        <a:effectLst/>
                        <a:uLnTx/>
                        <a:uFillTx/>
                        <a:latin typeface="+mn-lt"/>
                        <a:ea typeface="+mn-ea"/>
                        <a:cs typeface="+mn-cs"/>
                      </a:endParaRPr>
                    </a:p>
                  </a:txBody>
                  <a:tcPr anchor="ctr"/>
                </a:tc>
                <a:extLst>
                  <a:ext uri="{0D108BD9-81ED-4DB2-BD59-A6C34878D82A}">
                    <a16:rowId xmlns:a16="http://schemas.microsoft.com/office/drawing/2014/main" val="276218728"/>
                  </a:ext>
                </a:extLst>
              </a:tr>
              <a:tr h="370840">
                <a:tc>
                  <a:txBody>
                    <a:bodyPr/>
                    <a:lstStyle/>
                    <a:p>
                      <a:pPr algn="ctr"/>
                      <a:r>
                        <a:rPr lang="en-US" sz="1400"/>
                        <a:t>3</a:t>
                      </a:r>
                    </a:p>
                  </a:txBody>
                  <a:tcPr anchor="ctr"/>
                </a:tc>
                <a:tc>
                  <a:txBody>
                    <a:bodyPr/>
                    <a:lstStyle/>
                    <a:p>
                      <a:r>
                        <a:rPr lang="en-US" sz="1400"/>
                        <a:t>Scope</a:t>
                      </a:r>
                    </a:p>
                  </a:txBody>
                  <a:tcPr anchor="ctr"/>
                </a:tc>
                <a:tc>
                  <a:txBody>
                    <a:bodyPr/>
                    <a:lstStyle/>
                    <a:p>
                      <a:r>
                        <a:rPr lang="en-US" altLang="zh-CN" sz="1400"/>
                        <a:t>As-is EAAS Scenarios and functionality will be default covered in Nexbill MVP scope. New To-be scenario will separately demonstrate in F&amp;A BSR, go-live timeline will follow E2E schedule</a:t>
                      </a:r>
                      <a:endParaRPr lang="en-US" sz="1400"/>
                    </a:p>
                  </a:txBody>
                  <a:tcPr anchor="ctr"/>
                </a:tc>
                <a:extLst>
                  <a:ext uri="{0D108BD9-81ED-4DB2-BD59-A6C34878D82A}">
                    <a16:rowId xmlns:a16="http://schemas.microsoft.com/office/drawing/2014/main" val="2835529470"/>
                  </a:ext>
                </a:extLst>
              </a:tr>
              <a:tr h="370840">
                <a:tc>
                  <a:txBody>
                    <a:bodyPr/>
                    <a:lstStyle/>
                    <a:p>
                      <a:pPr algn="ctr"/>
                      <a:r>
                        <a:rPr lang="en-US" sz="1400"/>
                        <a:t>4</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Assumption</a:t>
                      </a:r>
                    </a:p>
                  </a:txBody>
                  <a:tcPr anchor="ctr"/>
                </a:tc>
                <a:tc>
                  <a:txBody>
                    <a:bodyPr/>
                    <a:lstStyle/>
                    <a:p>
                      <a:r>
                        <a:rPr lang="en-US" sz="1400"/>
                        <a:t>Nexbill will follow BRIM m</a:t>
                      </a:r>
                      <a:r>
                        <a:rPr lang="en-US" altLang="zh-CN" sz="1400"/>
                        <a:t>echanism generate accounting entry (Subledger) and post to ECC/S4 (General ledger), there is No Sales order in ECC/S4.</a:t>
                      </a:r>
                      <a:endParaRPr lang="en-US" sz="1400"/>
                    </a:p>
                  </a:txBody>
                  <a:tcPr anchor="ctr"/>
                </a:tc>
                <a:extLst>
                  <a:ext uri="{0D108BD9-81ED-4DB2-BD59-A6C34878D82A}">
                    <a16:rowId xmlns:a16="http://schemas.microsoft.com/office/drawing/2014/main" val="3200209679"/>
                  </a:ext>
                </a:extLst>
              </a:tr>
              <a:tr h="370840">
                <a:tc>
                  <a:txBody>
                    <a:bodyPr/>
                    <a:lstStyle/>
                    <a:p>
                      <a:pPr algn="ctr"/>
                      <a:r>
                        <a:rPr lang="en-US" sz="1400"/>
                        <a:t>5</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Assumption</a:t>
                      </a:r>
                    </a:p>
                  </a:txBody>
                  <a:tcPr anchor="ctr"/>
                </a:tc>
                <a:tc>
                  <a:txBody>
                    <a:bodyPr/>
                    <a:lstStyle/>
                    <a:p>
                      <a:r>
                        <a:rPr lang="en-US" sz="1400"/>
                        <a:t>The customer billing will firstly be generates, it will be the trigger to generate intercompany billings. (In Central billing model, local AFE will be the first billing)</a:t>
                      </a:r>
                    </a:p>
                  </a:txBody>
                  <a:tcPr anchor="ctr"/>
                </a:tc>
                <a:extLst>
                  <a:ext uri="{0D108BD9-81ED-4DB2-BD59-A6C34878D82A}">
                    <a16:rowId xmlns:a16="http://schemas.microsoft.com/office/drawing/2014/main" val="215016291"/>
                  </a:ext>
                </a:extLst>
              </a:tr>
              <a:tr h="370840">
                <a:tc>
                  <a:txBody>
                    <a:bodyPr/>
                    <a:lstStyle/>
                    <a:p>
                      <a:pPr algn="ctr"/>
                      <a:r>
                        <a:rPr lang="en-US" sz="1400"/>
                        <a:t>6</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The synchronization mechanism between </a:t>
                      </a:r>
                      <a:r>
                        <a:rPr lang="en-US" sz="1400" err="1"/>
                        <a:t>Nexbill</a:t>
                      </a:r>
                      <a:r>
                        <a:rPr lang="en-US" sz="1400"/>
                        <a:t> and Odessa and other systems will be built</a:t>
                      </a:r>
                    </a:p>
                  </a:txBody>
                  <a:tcPr anchor="ctr"/>
                </a:tc>
                <a:extLst>
                  <a:ext uri="{0D108BD9-81ED-4DB2-BD59-A6C34878D82A}">
                    <a16:rowId xmlns:a16="http://schemas.microsoft.com/office/drawing/2014/main" val="2796129695"/>
                  </a:ext>
                </a:extLst>
              </a:tr>
              <a:tr h="370840">
                <a:tc>
                  <a:txBody>
                    <a:bodyPr/>
                    <a:lstStyle/>
                    <a:p>
                      <a:pPr algn="ctr"/>
                      <a:r>
                        <a:rPr lang="en-US" sz="1400"/>
                        <a:t>7</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Asset management and lease management capability will not in scope, except certain new initiatives like mid term rewrite, structured payment. </a:t>
                      </a:r>
                    </a:p>
                  </a:txBody>
                  <a:tcPr anchor="ctr"/>
                </a:tc>
                <a:extLst>
                  <a:ext uri="{0D108BD9-81ED-4DB2-BD59-A6C34878D82A}">
                    <a16:rowId xmlns:a16="http://schemas.microsoft.com/office/drawing/2014/main" val="2375810649"/>
                  </a:ext>
                </a:extLst>
              </a:tr>
            </a:tbl>
          </a:graphicData>
        </a:graphic>
      </p:graphicFrame>
      <p:sp>
        <p:nvSpPr>
          <p:cNvPr id="4" name="Rectangle 1">
            <a:extLst>
              <a:ext uri="{FF2B5EF4-FFF2-40B4-BE49-F238E27FC236}">
                <a16:creationId xmlns:a16="http://schemas.microsoft.com/office/drawing/2014/main" id="{06E8748B-D439-3159-31B7-D977DA922306}"/>
              </a:ext>
            </a:extLst>
          </p:cNvPr>
          <p:cNvSpPr>
            <a:spLocks noChangeArrowheads="1"/>
          </p:cNvSpPr>
          <p:nvPr/>
        </p:nvSpPr>
        <p:spPr bwMode="auto">
          <a:xfrm>
            <a:off x="9730512" y="0"/>
            <a:ext cx="254181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chemeClr val="tx1"/>
                </a:solidFill>
                <a:effectLst/>
                <a:latin typeface="Arial" panose="020B0604020202020204" pitchFamily="34" charset="0"/>
                <a:hlinkClick r:id="rId3"/>
              </a:rPr>
              <a:t>NexBill E2E BSR.pptx</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29696262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56E12D-91CE-6EF4-528B-097D12560DEB}"/>
            </a:ext>
          </a:extLst>
        </p:cNvPr>
        <p:cNvGrpSpPr/>
        <p:nvPr/>
      </p:nvGrpSpPr>
      <p:grpSpPr>
        <a:xfrm>
          <a:off x="0" y="0"/>
          <a:ext cx="0" cy="0"/>
          <a:chOff x="0" y="0"/>
          <a:chExt cx="0" cy="0"/>
        </a:xfrm>
      </p:grpSpPr>
      <p:sp>
        <p:nvSpPr>
          <p:cNvPr id="8" name="Title 1">
            <a:extLst>
              <a:ext uri="{FF2B5EF4-FFF2-40B4-BE49-F238E27FC236}">
                <a16:creationId xmlns:a16="http://schemas.microsoft.com/office/drawing/2014/main" id="{86647A2F-5FF3-DF99-09BD-0816133AF02B}"/>
              </a:ext>
            </a:extLst>
          </p:cNvPr>
          <p:cNvSpPr txBox="1">
            <a:spLocks/>
          </p:cNvSpPr>
          <p:nvPr/>
        </p:nvSpPr>
        <p:spPr>
          <a:xfrm>
            <a:off x="159793" y="69669"/>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r>
              <a:rPr lang="en-US" sz="2800" b="1"/>
              <a:t>Key Requirement in </a:t>
            </a:r>
            <a:r>
              <a:rPr lang="en-US" sz="2800" b="1" err="1"/>
              <a:t>Nextbill</a:t>
            </a:r>
            <a:r>
              <a:rPr lang="en-US" sz="2800" b="1"/>
              <a:t> as-is scenarios - 1</a:t>
            </a:r>
            <a:endParaRPr lang="en-US" sz="3600" b="1"/>
          </a:p>
        </p:txBody>
      </p:sp>
      <p:graphicFrame>
        <p:nvGraphicFramePr>
          <p:cNvPr id="6" name="Table 5">
            <a:extLst>
              <a:ext uri="{FF2B5EF4-FFF2-40B4-BE49-F238E27FC236}">
                <a16:creationId xmlns:a16="http://schemas.microsoft.com/office/drawing/2014/main" id="{C05352F4-B28E-0F6B-77BD-D8C8DCA09242}"/>
              </a:ext>
            </a:extLst>
          </p:cNvPr>
          <p:cNvGraphicFramePr>
            <a:graphicFrameLocks noGrp="1"/>
          </p:cNvGraphicFramePr>
          <p:nvPr>
            <p:extLst>
              <p:ext uri="{D42A27DB-BD31-4B8C-83A1-F6EECF244321}">
                <p14:modId xmlns:p14="http://schemas.microsoft.com/office/powerpoint/2010/main" val="2216462310"/>
              </p:ext>
            </p:extLst>
          </p:nvPr>
        </p:nvGraphicFramePr>
        <p:xfrm>
          <a:off x="258679" y="682261"/>
          <a:ext cx="11773528" cy="5382360"/>
        </p:xfrm>
        <a:graphic>
          <a:graphicData uri="http://schemas.openxmlformats.org/drawingml/2006/table">
            <a:tbl>
              <a:tblPr firstRow="1" bandRow="1">
                <a:tableStyleId>{5C22544A-7EE6-4342-B048-85BDC9FD1C3A}</a:tableStyleId>
              </a:tblPr>
              <a:tblGrid>
                <a:gridCol w="496695">
                  <a:extLst>
                    <a:ext uri="{9D8B030D-6E8A-4147-A177-3AD203B41FA5}">
                      <a16:colId xmlns:a16="http://schemas.microsoft.com/office/drawing/2014/main" val="590487580"/>
                    </a:ext>
                  </a:extLst>
                </a:gridCol>
                <a:gridCol w="1550504">
                  <a:extLst>
                    <a:ext uri="{9D8B030D-6E8A-4147-A177-3AD203B41FA5}">
                      <a16:colId xmlns:a16="http://schemas.microsoft.com/office/drawing/2014/main" val="3195040165"/>
                    </a:ext>
                  </a:extLst>
                </a:gridCol>
                <a:gridCol w="9726329">
                  <a:extLst>
                    <a:ext uri="{9D8B030D-6E8A-4147-A177-3AD203B41FA5}">
                      <a16:colId xmlns:a16="http://schemas.microsoft.com/office/drawing/2014/main" val="3020975192"/>
                    </a:ext>
                  </a:extLst>
                </a:gridCol>
              </a:tblGrid>
              <a:tr h="344931">
                <a:tc>
                  <a:txBody>
                    <a:bodyPr/>
                    <a:lstStyle/>
                    <a:p>
                      <a:pPr algn="ctr"/>
                      <a:r>
                        <a:rPr lang="en-US" sz="1600"/>
                        <a:t>No</a:t>
                      </a:r>
                    </a:p>
                  </a:txBody>
                  <a:tcPr anchor="ctr">
                    <a:solidFill>
                      <a:srgbClr val="C00000"/>
                    </a:solidFill>
                  </a:tcPr>
                </a:tc>
                <a:tc>
                  <a:txBody>
                    <a:bodyPr/>
                    <a:lstStyle/>
                    <a:p>
                      <a:r>
                        <a:rPr lang="en-US" sz="1600"/>
                        <a:t>C</a:t>
                      </a:r>
                      <a:r>
                        <a:rPr lang="en-US" altLang="zh-CN" sz="1600"/>
                        <a:t>ategory</a:t>
                      </a:r>
                      <a:endParaRPr lang="en-US" sz="1600"/>
                    </a:p>
                  </a:txBody>
                  <a:tcPr anchor="ctr">
                    <a:solidFill>
                      <a:srgbClr val="C00000"/>
                    </a:solidFill>
                  </a:tcPr>
                </a:tc>
                <a:tc>
                  <a:txBody>
                    <a:bodyPr/>
                    <a:lstStyle/>
                    <a:p>
                      <a:r>
                        <a:rPr lang="en-US" sz="1600"/>
                        <a:t>Description</a:t>
                      </a:r>
                    </a:p>
                  </a:txBody>
                  <a:tcPr anchor="ctr">
                    <a:solidFill>
                      <a:srgbClr val="C00000"/>
                    </a:solidFill>
                  </a:tcPr>
                </a:tc>
                <a:extLst>
                  <a:ext uri="{0D108BD9-81ED-4DB2-BD59-A6C34878D82A}">
                    <a16:rowId xmlns:a16="http://schemas.microsoft.com/office/drawing/2014/main" val="3093137312"/>
                  </a:ext>
                </a:extLst>
              </a:tr>
              <a:tr h="344931">
                <a:tc>
                  <a:txBody>
                    <a:bodyPr/>
                    <a:lstStyle/>
                    <a:p>
                      <a:pPr algn="ctr"/>
                      <a:r>
                        <a:rPr lang="en-US" sz="1600"/>
                        <a:t>1</a:t>
                      </a:r>
                    </a:p>
                  </a:txBody>
                  <a:tcPr anchor="ctr"/>
                </a:tc>
                <a:tc>
                  <a:txBody>
                    <a:bodyPr/>
                    <a:lstStyle/>
                    <a:p>
                      <a:r>
                        <a:rPr lang="en-US" sz="1600"/>
                        <a:t>General</a:t>
                      </a:r>
                    </a:p>
                  </a:txBody>
                  <a:tcPr anchor="ctr"/>
                </a:tc>
                <a:tc>
                  <a:txBody>
                    <a:bodyPr/>
                    <a:lstStyle/>
                    <a:p>
                      <a:r>
                        <a:rPr lang="en-US" sz="1600"/>
                        <a:t>In overall, As-is Brim scenarios and capabilities will be replicate in Nexbill</a:t>
                      </a:r>
                    </a:p>
                  </a:txBody>
                  <a:tcPr anchor="ctr"/>
                </a:tc>
                <a:extLst>
                  <a:ext uri="{0D108BD9-81ED-4DB2-BD59-A6C34878D82A}">
                    <a16:rowId xmlns:a16="http://schemas.microsoft.com/office/drawing/2014/main" val="4079242787"/>
                  </a:ext>
                </a:extLst>
              </a:tr>
              <a:tr h="540621">
                <a:tc>
                  <a:txBody>
                    <a:bodyPr/>
                    <a:lstStyle/>
                    <a:p>
                      <a:pPr algn="ctr"/>
                      <a:r>
                        <a:rPr lang="en-US" sz="1600"/>
                        <a:t>2</a:t>
                      </a:r>
                    </a:p>
                  </a:txBody>
                  <a:tcPr anchor="ctr"/>
                </a:tc>
                <a:tc>
                  <a:txBody>
                    <a:bodyPr/>
                    <a:lstStyle/>
                    <a:p>
                      <a:r>
                        <a:rPr lang="en-US" sz="1600"/>
                        <a:t>General</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Nexbill will create necessary system </a:t>
                      </a:r>
                      <a:r>
                        <a:rPr lang="en-US" sz="1600" b="1"/>
                        <a:t>reconciliation/</a:t>
                      </a:r>
                      <a:r>
                        <a:rPr lang="en-US" altLang="zh-CN" sz="1600" b="1"/>
                        <a:t>monitor</a:t>
                      </a:r>
                      <a:r>
                        <a:rPr lang="en-US" sz="1600" b="1"/>
                        <a:t> </a:t>
                      </a:r>
                      <a:r>
                        <a:rPr lang="en-US" sz="1600"/>
                        <a:t>mechanism to prevent Biz/Finance data mismatch and posting fai</a:t>
                      </a:r>
                      <a:r>
                        <a:rPr lang="en-US" altLang="zh-CN" sz="1600"/>
                        <a:t>l</a:t>
                      </a:r>
                      <a:r>
                        <a:rPr lang="en-US" sz="1600"/>
                        <a:t>ure, especially Workflow for IT to inform accounting team for issues</a:t>
                      </a:r>
                    </a:p>
                  </a:txBody>
                  <a:tcPr anchor="ctr"/>
                </a:tc>
                <a:extLst>
                  <a:ext uri="{0D108BD9-81ED-4DB2-BD59-A6C34878D82A}">
                    <a16:rowId xmlns:a16="http://schemas.microsoft.com/office/drawing/2014/main" val="276218728"/>
                  </a:ext>
                </a:extLst>
              </a:tr>
              <a:tr h="344931">
                <a:tc>
                  <a:txBody>
                    <a:bodyPr/>
                    <a:lstStyle/>
                    <a:p>
                      <a:pPr algn="ctr"/>
                      <a:r>
                        <a:rPr lang="en-US" sz="1600"/>
                        <a:t>3</a:t>
                      </a:r>
                    </a:p>
                  </a:txBody>
                  <a:tcPr anchor="ctr"/>
                </a:tc>
                <a:tc>
                  <a:txBody>
                    <a:bodyPr/>
                    <a:lstStyle/>
                    <a:p>
                      <a:r>
                        <a:rPr lang="en-US" sz="1600"/>
                        <a:t>Accounting</a:t>
                      </a:r>
                    </a:p>
                  </a:txBody>
                  <a:tcPr anchor="ctr"/>
                </a:tc>
                <a:tc>
                  <a:txBody>
                    <a:bodyPr/>
                    <a:lstStyle/>
                    <a:p>
                      <a:r>
                        <a:rPr lang="en-US" sz="1600"/>
                        <a:t>Nextbill will post detailed accounting entry By HWService/By Item/By service PoB</a:t>
                      </a:r>
                    </a:p>
                  </a:txBody>
                  <a:tcPr anchor="ctr"/>
                </a:tc>
                <a:extLst>
                  <a:ext uri="{0D108BD9-81ED-4DB2-BD59-A6C34878D82A}">
                    <a16:rowId xmlns:a16="http://schemas.microsoft.com/office/drawing/2014/main" val="2835529470"/>
                  </a:ext>
                </a:extLst>
              </a:tr>
              <a:tr h="344931">
                <a:tc>
                  <a:txBody>
                    <a:bodyPr/>
                    <a:lstStyle/>
                    <a:p>
                      <a:pPr algn="ctr"/>
                      <a:r>
                        <a:rPr lang="en-US" sz="1600"/>
                        <a:t>4</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a:t>
                      </a:r>
                    </a:p>
                  </a:txBody>
                  <a:tcPr anchor="ctr"/>
                </a:tc>
                <a:tc>
                  <a:txBody>
                    <a:bodyPr/>
                    <a:lstStyle/>
                    <a:p>
                      <a:r>
                        <a:rPr lang="en-US" sz="1600"/>
                        <a:t>For intercompany transactions, interco AR/AP will generate simultaneously and offset in group level</a:t>
                      </a:r>
                    </a:p>
                  </a:txBody>
                  <a:tcPr anchor="ctr"/>
                </a:tc>
                <a:extLst>
                  <a:ext uri="{0D108BD9-81ED-4DB2-BD59-A6C34878D82A}">
                    <a16:rowId xmlns:a16="http://schemas.microsoft.com/office/drawing/2014/main" val="692173444"/>
                  </a:ext>
                </a:extLst>
              </a:tr>
              <a:tr h="344931">
                <a:tc>
                  <a:txBody>
                    <a:bodyPr/>
                    <a:lstStyle/>
                    <a:p>
                      <a:pPr algn="ctr"/>
                      <a:r>
                        <a:rPr lang="en-US" sz="1600"/>
                        <a:t>5</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 document has specific reference logic, refer to original billing</a:t>
                      </a:r>
                      <a:endParaRPr lang="en-US" sz="1600" u="sng"/>
                    </a:p>
                  </a:txBody>
                  <a:tcPr anchor="ctr"/>
                </a:tc>
                <a:extLst>
                  <a:ext uri="{0D108BD9-81ED-4DB2-BD59-A6C34878D82A}">
                    <a16:rowId xmlns:a16="http://schemas.microsoft.com/office/drawing/2014/main" val="1475253536"/>
                  </a:ext>
                </a:extLst>
              </a:tr>
              <a:tr h="344931">
                <a:tc>
                  <a:txBody>
                    <a:bodyPr/>
                    <a:lstStyle/>
                    <a:p>
                      <a:pPr algn="ctr"/>
                      <a:r>
                        <a:rPr lang="en-US" sz="1600"/>
                        <a:t>6</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u="none"/>
                        <a:t>Reconciliation report for ARS/Upfront Tax and other existing reporting in BRIM</a:t>
                      </a:r>
                    </a:p>
                  </a:txBody>
                  <a:tcPr anchor="ctr"/>
                </a:tc>
                <a:extLst>
                  <a:ext uri="{0D108BD9-81ED-4DB2-BD59-A6C34878D82A}">
                    <a16:rowId xmlns:a16="http://schemas.microsoft.com/office/drawing/2014/main" val="3200209679"/>
                  </a:ext>
                </a:extLst>
              </a:tr>
              <a:tr h="344931">
                <a:tc>
                  <a:txBody>
                    <a:bodyPr/>
                    <a:lstStyle/>
                    <a:p>
                      <a:pPr algn="ctr"/>
                      <a:r>
                        <a:rPr lang="en-US" sz="1600"/>
                        <a:t>7</a:t>
                      </a:r>
                    </a:p>
                  </a:txBody>
                  <a:tcPr anchor="ctr"/>
                </a:tc>
                <a:tc>
                  <a:txBody>
                    <a:bodyPr/>
                    <a:lstStyle/>
                    <a:p>
                      <a:r>
                        <a:rPr lang="en-US" sz="1600"/>
                        <a:t>Accounting</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Detailed accounting entry and customer billing would be in same month</a:t>
                      </a:r>
                    </a:p>
                  </a:txBody>
                  <a:tcPr anchor="ctr"/>
                </a:tc>
                <a:extLst>
                  <a:ext uri="{0D108BD9-81ED-4DB2-BD59-A6C34878D82A}">
                    <a16:rowId xmlns:a16="http://schemas.microsoft.com/office/drawing/2014/main" val="215016291"/>
                  </a:ext>
                </a:extLst>
              </a:tr>
              <a:tr h="344931">
                <a:tc>
                  <a:txBody>
                    <a:bodyPr/>
                    <a:lstStyle/>
                    <a:p>
                      <a:pPr algn="ctr"/>
                      <a:r>
                        <a:rPr lang="en-US" sz="1600"/>
                        <a:t>8</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a:t>
                      </a:r>
                    </a:p>
                  </a:txBody>
                  <a:tcPr anchor="ctr"/>
                </a:tc>
                <a:tc>
                  <a:txBody>
                    <a:bodyPr/>
                    <a:lstStyle/>
                    <a:p>
                      <a:r>
                        <a:rPr lang="en-US" sz="1600" b="1"/>
                        <a:t>A NEW R</a:t>
                      </a:r>
                      <a:r>
                        <a:rPr lang="en-US" altLang="zh-CN" sz="1600" b="1"/>
                        <a:t>eport to demonstrate future leasing billing in 1/2/3/4/5/after 5 years for group disclosure </a:t>
                      </a:r>
                      <a:endParaRPr lang="en-US" sz="1600" b="1"/>
                    </a:p>
                  </a:txBody>
                  <a:tcPr anchor="ctr"/>
                </a:tc>
                <a:extLst>
                  <a:ext uri="{0D108BD9-81ED-4DB2-BD59-A6C34878D82A}">
                    <a16:rowId xmlns:a16="http://schemas.microsoft.com/office/drawing/2014/main" val="2796129695"/>
                  </a:ext>
                </a:extLst>
              </a:tr>
              <a:tr h="344931">
                <a:tc>
                  <a:txBody>
                    <a:bodyPr/>
                    <a:lstStyle/>
                    <a:p>
                      <a:pPr algn="ctr"/>
                      <a:r>
                        <a:rPr lang="en-US" sz="1600"/>
                        <a:t>9</a:t>
                      </a:r>
                    </a:p>
                  </a:txBody>
                  <a:tcPr anchor="ctr"/>
                </a:tc>
                <a:tc>
                  <a:txBody>
                    <a:bodyPr/>
                    <a:lstStyle/>
                    <a:p>
                      <a:r>
                        <a:rPr lang="en-US" sz="1600"/>
                        <a:t>Accounting/AR</a:t>
                      </a:r>
                    </a:p>
                  </a:txBody>
                  <a:tcPr anchor="ctr"/>
                </a:tc>
                <a:tc>
                  <a:txBody>
                    <a:bodyPr/>
                    <a:lstStyle/>
                    <a:p>
                      <a:r>
                        <a:rPr lang="en-US" sz="1600"/>
                        <a:t>All debit memo will able to create corresponding credit memo automatically to generate credit accounting entries</a:t>
                      </a:r>
                    </a:p>
                  </a:txBody>
                  <a:tcPr anchor="ctr"/>
                </a:tc>
                <a:extLst>
                  <a:ext uri="{0D108BD9-81ED-4DB2-BD59-A6C34878D82A}">
                    <a16:rowId xmlns:a16="http://schemas.microsoft.com/office/drawing/2014/main" val="3080856870"/>
                  </a:ext>
                </a:extLst>
              </a:tr>
              <a:tr h="540621">
                <a:tc>
                  <a:txBody>
                    <a:bodyPr/>
                    <a:lstStyle/>
                    <a:p>
                      <a:pPr algn="ctr"/>
                      <a:r>
                        <a:rPr lang="en-US" sz="1600"/>
                        <a:t>10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Accounting/AR</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Following BRIM logic, Nexbill will active SAP AR module to create open items for AR management</a:t>
                      </a:r>
                    </a:p>
                  </a:txBody>
                  <a:tcPr anchor="ctr"/>
                </a:tc>
                <a:extLst>
                  <a:ext uri="{0D108BD9-81ED-4DB2-BD59-A6C34878D82A}">
                    <a16:rowId xmlns:a16="http://schemas.microsoft.com/office/drawing/2014/main" val="3469387801"/>
                  </a:ext>
                </a:extLst>
              </a:tr>
              <a:tr h="344931">
                <a:tc>
                  <a:txBody>
                    <a:bodyPr/>
                    <a:lstStyle/>
                    <a:p>
                      <a:pPr algn="ctr"/>
                      <a:r>
                        <a:rPr lang="en-US" sz="1600"/>
                        <a:t>11</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Accounting/AR</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Need a dedicated number range to identify nextbill customer billing, billing number will equals to accounting document number</a:t>
                      </a:r>
                    </a:p>
                  </a:txBody>
                  <a:tcPr anchor="ctr"/>
                </a:tc>
                <a:extLst>
                  <a:ext uri="{0D108BD9-81ED-4DB2-BD59-A6C34878D82A}">
                    <a16:rowId xmlns:a16="http://schemas.microsoft.com/office/drawing/2014/main" val="2375810649"/>
                  </a:ext>
                </a:extLst>
              </a:tr>
              <a:tr h="344931">
                <a:tc>
                  <a:txBody>
                    <a:bodyPr/>
                    <a:lstStyle/>
                    <a:p>
                      <a:pPr algn="ctr"/>
                      <a:r>
                        <a:rPr lang="en-US" sz="1600"/>
                        <a:t>12</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Accounting/AR</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u="none"/>
                        <a:t>AR will only have one line in nexbill posting, regardless the impact from WBS</a:t>
                      </a:r>
                    </a:p>
                  </a:txBody>
                  <a:tcPr anchor="ctr"/>
                </a:tc>
                <a:extLst>
                  <a:ext uri="{0D108BD9-81ED-4DB2-BD59-A6C34878D82A}">
                    <a16:rowId xmlns:a16="http://schemas.microsoft.com/office/drawing/2014/main" val="2272312999"/>
                  </a:ext>
                </a:extLst>
              </a:tr>
            </a:tbl>
          </a:graphicData>
        </a:graphic>
      </p:graphicFrame>
      <p:sp>
        <p:nvSpPr>
          <p:cNvPr id="3" name="Rectangle 1">
            <a:extLst>
              <a:ext uri="{FF2B5EF4-FFF2-40B4-BE49-F238E27FC236}">
                <a16:creationId xmlns:a16="http://schemas.microsoft.com/office/drawing/2014/main" id="{60027F40-F462-CFF6-DDFB-835A53B51741}"/>
              </a:ext>
            </a:extLst>
          </p:cNvPr>
          <p:cNvSpPr>
            <a:spLocks noChangeArrowheads="1"/>
          </p:cNvSpPr>
          <p:nvPr/>
        </p:nvSpPr>
        <p:spPr bwMode="auto">
          <a:xfrm>
            <a:off x="9730512" y="0"/>
            <a:ext cx="254181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chemeClr val="tx1"/>
                </a:solidFill>
                <a:effectLst/>
                <a:latin typeface="Arial" panose="020B0604020202020204" pitchFamily="34" charset="0"/>
                <a:hlinkClick r:id="rId3"/>
              </a:rPr>
              <a:t>NexBill E2E BSR.pptx</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32241203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063C4B-B674-50D0-A05D-F159D06C42CB}"/>
            </a:ext>
          </a:extLst>
        </p:cNvPr>
        <p:cNvGrpSpPr/>
        <p:nvPr/>
      </p:nvGrpSpPr>
      <p:grpSpPr>
        <a:xfrm>
          <a:off x="0" y="0"/>
          <a:ext cx="0" cy="0"/>
          <a:chOff x="0" y="0"/>
          <a:chExt cx="0" cy="0"/>
        </a:xfrm>
      </p:grpSpPr>
      <p:sp>
        <p:nvSpPr>
          <p:cNvPr id="8" name="Title 1">
            <a:extLst>
              <a:ext uri="{FF2B5EF4-FFF2-40B4-BE49-F238E27FC236}">
                <a16:creationId xmlns:a16="http://schemas.microsoft.com/office/drawing/2014/main" id="{C2C4FDC9-45C8-7887-C76A-180ED4E5C214}"/>
              </a:ext>
            </a:extLst>
          </p:cNvPr>
          <p:cNvSpPr txBox="1">
            <a:spLocks/>
          </p:cNvSpPr>
          <p:nvPr/>
        </p:nvSpPr>
        <p:spPr>
          <a:xfrm>
            <a:off x="159793" y="69669"/>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r>
              <a:rPr lang="en-US" sz="2800" b="1"/>
              <a:t>Key Requirement in </a:t>
            </a:r>
            <a:r>
              <a:rPr lang="en-US" sz="2800" b="1" err="1"/>
              <a:t>Nextbill</a:t>
            </a:r>
            <a:r>
              <a:rPr lang="en-US" sz="2800" b="1"/>
              <a:t> as-is scenarios - 2</a:t>
            </a:r>
            <a:endParaRPr lang="en-US" sz="3600" b="1"/>
          </a:p>
        </p:txBody>
      </p:sp>
      <p:graphicFrame>
        <p:nvGraphicFramePr>
          <p:cNvPr id="6" name="Table 5">
            <a:extLst>
              <a:ext uri="{FF2B5EF4-FFF2-40B4-BE49-F238E27FC236}">
                <a16:creationId xmlns:a16="http://schemas.microsoft.com/office/drawing/2014/main" id="{D59ACE84-A470-923B-FAFB-35FF51ECF09D}"/>
              </a:ext>
            </a:extLst>
          </p:cNvPr>
          <p:cNvGraphicFramePr>
            <a:graphicFrameLocks noGrp="1"/>
          </p:cNvGraphicFramePr>
          <p:nvPr>
            <p:extLst>
              <p:ext uri="{D42A27DB-BD31-4B8C-83A1-F6EECF244321}">
                <p14:modId xmlns:p14="http://schemas.microsoft.com/office/powerpoint/2010/main" val="3665181396"/>
              </p:ext>
            </p:extLst>
          </p:nvPr>
        </p:nvGraphicFramePr>
        <p:xfrm>
          <a:off x="258679" y="682261"/>
          <a:ext cx="11773528" cy="5866817"/>
        </p:xfrm>
        <a:graphic>
          <a:graphicData uri="http://schemas.openxmlformats.org/drawingml/2006/table">
            <a:tbl>
              <a:tblPr firstRow="1" bandRow="1">
                <a:tableStyleId>{5C22544A-7EE6-4342-B048-85BDC9FD1C3A}</a:tableStyleId>
              </a:tblPr>
              <a:tblGrid>
                <a:gridCol w="496695">
                  <a:extLst>
                    <a:ext uri="{9D8B030D-6E8A-4147-A177-3AD203B41FA5}">
                      <a16:colId xmlns:a16="http://schemas.microsoft.com/office/drawing/2014/main" val="590487580"/>
                    </a:ext>
                  </a:extLst>
                </a:gridCol>
                <a:gridCol w="1465312">
                  <a:extLst>
                    <a:ext uri="{9D8B030D-6E8A-4147-A177-3AD203B41FA5}">
                      <a16:colId xmlns:a16="http://schemas.microsoft.com/office/drawing/2014/main" val="3195040165"/>
                    </a:ext>
                  </a:extLst>
                </a:gridCol>
                <a:gridCol w="9811521">
                  <a:extLst>
                    <a:ext uri="{9D8B030D-6E8A-4147-A177-3AD203B41FA5}">
                      <a16:colId xmlns:a16="http://schemas.microsoft.com/office/drawing/2014/main" val="3020975192"/>
                    </a:ext>
                  </a:extLst>
                </a:gridCol>
              </a:tblGrid>
              <a:tr h="330600">
                <a:tc>
                  <a:txBody>
                    <a:bodyPr/>
                    <a:lstStyle/>
                    <a:p>
                      <a:pPr algn="ctr"/>
                      <a:r>
                        <a:rPr lang="en-US" sz="1600"/>
                        <a:t>No</a:t>
                      </a:r>
                    </a:p>
                  </a:txBody>
                  <a:tcPr anchor="ctr">
                    <a:solidFill>
                      <a:srgbClr val="C00000"/>
                    </a:solidFill>
                  </a:tcPr>
                </a:tc>
                <a:tc>
                  <a:txBody>
                    <a:bodyPr/>
                    <a:lstStyle/>
                    <a:p>
                      <a:r>
                        <a:rPr lang="en-US" sz="1600"/>
                        <a:t>C</a:t>
                      </a:r>
                      <a:r>
                        <a:rPr lang="en-US" altLang="zh-CN" sz="1600"/>
                        <a:t>ategory</a:t>
                      </a:r>
                      <a:endParaRPr lang="en-US" sz="1600"/>
                    </a:p>
                  </a:txBody>
                  <a:tcPr anchor="ctr">
                    <a:solidFill>
                      <a:srgbClr val="C00000"/>
                    </a:solidFill>
                  </a:tcPr>
                </a:tc>
                <a:tc>
                  <a:txBody>
                    <a:bodyPr/>
                    <a:lstStyle/>
                    <a:p>
                      <a:r>
                        <a:rPr lang="en-US" sz="1600"/>
                        <a:t>Description</a:t>
                      </a:r>
                    </a:p>
                  </a:txBody>
                  <a:tcPr anchor="ctr">
                    <a:solidFill>
                      <a:srgbClr val="C00000"/>
                    </a:solidFill>
                  </a:tcPr>
                </a:tc>
                <a:extLst>
                  <a:ext uri="{0D108BD9-81ED-4DB2-BD59-A6C34878D82A}">
                    <a16:rowId xmlns:a16="http://schemas.microsoft.com/office/drawing/2014/main" val="3093137312"/>
                  </a:ext>
                </a:extLst>
              </a:tr>
              <a:tr h="330600">
                <a:tc>
                  <a:txBody>
                    <a:bodyPr/>
                    <a:lstStyle/>
                    <a:p>
                      <a:pPr algn="ctr"/>
                      <a:r>
                        <a:rPr lang="en-US" sz="1600"/>
                        <a:t>13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Finance</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Need a dedicated accounting document type (Better still use EL/EA)</a:t>
                      </a:r>
                    </a:p>
                  </a:txBody>
                  <a:tcPr anchor="ctr"/>
                </a:tc>
                <a:extLst>
                  <a:ext uri="{0D108BD9-81ED-4DB2-BD59-A6C34878D82A}">
                    <a16:rowId xmlns:a16="http://schemas.microsoft.com/office/drawing/2014/main" val="4079242787"/>
                  </a:ext>
                </a:extLst>
              </a:tr>
              <a:tr h="330600">
                <a:tc>
                  <a:txBody>
                    <a:bodyPr/>
                    <a:lstStyle/>
                    <a:p>
                      <a:pPr algn="ctr"/>
                      <a:r>
                        <a:rPr lang="en-US" sz="1600"/>
                        <a:t>14</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Finance</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Need a new dedicated userID for nexbill GL posting </a:t>
                      </a:r>
                    </a:p>
                  </a:txBody>
                  <a:tcPr anchor="ctr"/>
                </a:tc>
                <a:extLst>
                  <a:ext uri="{0D108BD9-81ED-4DB2-BD59-A6C34878D82A}">
                    <a16:rowId xmlns:a16="http://schemas.microsoft.com/office/drawing/2014/main" val="2375810649"/>
                  </a:ext>
                </a:extLst>
              </a:tr>
              <a:tr h="330600">
                <a:tc>
                  <a:txBody>
                    <a:bodyPr/>
                    <a:lstStyle/>
                    <a:p>
                      <a:pPr algn="ctr"/>
                      <a:r>
                        <a:rPr lang="en-US" sz="1600"/>
                        <a:t>15</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Finance</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u="none"/>
                        <a:t>Revenue split for variable above minimum funded amount, and transfer revenue back to S&amp;D</a:t>
                      </a:r>
                    </a:p>
                  </a:txBody>
                  <a:tcPr anchor="ctr"/>
                </a:tc>
                <a:extLst>
                  <a:ext uri="{0D108BD9-81ED-4DB2-BD59-A6C34878D82A}">
                    <a16:rowId xmlns:a16="http://schemas.microsoft.com/office/drawing/2014/main" val="2272312999"/>
                  </a:ext>
                </a:extLst>
              </a:tr>
              <a:tr h="330600">
                <a:tc>
                  <a:txBody>
                    <a:bodyPr/>
                    <a:lstStyle/>
                    <a:p>
                      <a:pPr algn="ctr"/>
                      <a:r>
                        <a:rPr lang="en-US" sz="1600"/>
                        <a:t>16</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kern="1200">
                          <a:solidFill>
                            <a:schemeClr val="dk1"/>
                          </a:solidFill>
                          <a:latin typeface="+mn-lt"/>
                          <a:ea typeface="+mn-ea"/>
                          <a:cs typeface="+mn-cs"/>
                        </a:rPr>
                        <a:t>Finance</a:t>
                      </a:r>
                    </a:p>
                  </a:txBody>
                  <a:tcPr anchor="ctr"/>
                </a:tc>
                <a:tc>
                  <a:txBody>
                    <a:bodyPr/>
                    <a:lstStyle/>
                    <a:p>
                      <a:r>
                        <a:rPr lang="en-US" sz="1600" u="none" kern="1200">
                          <a:solidFill>
                            <a:schemeClr val="dk1"/>
                          </a:solidFill>
                          <a:latin typeface="+mn-lt"/>
                          <a:ea typeface="+mn-ea"/>
                          <a:cs typeface="+mn-cs"/>
                        </a:rPr>
                        <a:t>Nexbill will send tranche ID/DMU/Distribution channel etc,. Information to Kafka topic(Follow the BRIM same route)</a:t>
                      </a:r>
                    </a:p>
                  </a:txBody>
                  <a:tcPr anchor="ctr"/>
                </a:tc>
                <a:extLst>
                  <a:ext uri="{0D108BD9-81ED-4DB2-BD59-A6C34878D82A}">
                    <a16:rowId xmlns:a16="http://schemas.microsoft.com/office/drawing/2014/main" val="2769568778"/>
                  </a:ext>
                </a:extLst>
              </a:tr>
              <a:tr h="330600">
                <a:tc>
                  <a:txBody>
                    <a:bodyPr/>
                    <a:lstStyle/>
                    <a:p>
                      <a:pPr algn="ctr"/>
                      <a:r>
                        <a:rPr lang="en-US" sz="1600"/>
                        <a:t>17</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Finance</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 profit center determination has specific logic, detailed requirement refer to </a:t>
                      </a:r>
                      <a:r>
                        <a:rPr lang="en-US" sz="1600" u="sng">
                          <a:hlinkClick r:id="rId3" action="ppaction://hlinksldjump"/>
                        </a:rPr>
                        <a:t>Hyperlink</a:t>
                      </a:r>
                      <a:endParaRPr lang="en-US" sz="1600" u="sng"/>
                    </a:p>
                  </a:txBody>
                  <a:tcPr anchor="ctr"/>
                </a:tc>
                <a:extLst>
                  <a:ext uri="{0D108BD9-81ED-4DB2-BD59-A6C34878D82A}">
                    <a16:rowId xmlns:a16="http://schemas.microsoft.com/office/drawing/2014/main" val="1070117261"/>
                  </a:ext>
                </a:extLst>
              </a:tr>
              <a:tr h="380417">
                <a:tc>
                  <a:txBody>
                    <a:bodyPr/>
                    <a:lstStyle/>
                    <a:p>
                      <a:pPr algn="ctr"/>
                      <a:r>
                        <a:rPr lang="en-US" sz="1600"/>
                        <a:t>18</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Finance</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 posting fields has specific logic, detailed requirement refer to </a:t>
                      </a:r>
                      <a:r>
                        <a:rPr lang="en-US" sz="1600" u="sng">
                          <a:hlinkClick r:id="rId4" action="ppaction://hlinksldjump"/>
                        </a:rPr>
                        <a:t>Hyperlink</a:t>
                      </a:r>
                      <a:endParaRPr lang="en-US" sz="1600" u="sng"/>
                    </a:p>
                  </a:txBody>
                  <a:tcPr anchor="ctr"/>
                </a:tc>
                <a:extLst>
                  <a:ext uri="{0D108BD9-81ED-4DB2-BD59-A6C34878D82A}">
                    <a16:rowId xmlns:a16="http://schemas.microsoft.com/office/drawing/2014/main" val="727146940"/>
                  </a:ext>
                </a:extLst>
              </a:tr>
              <a:tr h="274320">
                <a:tc>
                  <a:txBody>
                    <a:bodyPr/>
                    <a:lstStyle/>
                    <a:p>
                      <a:pPr algn="ctr"/>
                      <a:r>
                        <a:rPr lang="en-US" sz="1600"/>
                        <a:t>19</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Finance</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Accounting posting need to follow PSD design to post WBS code, Profit center </a:t>
                      </a:r>
                      <a:r>
                        <a:rPr lang="en-US" sz="1600" b="1"/>
                        <a:t>NOT</a:t>
                      </a:r>
                      <a:r>
                        <a:rPr lang="en-US" sz="1600"/>
                        <a:t> be redetermined by WBS</a:t>
                      </a:r>
                      <a:endParaRPr lang="en-US" sz="1600" u="sng"/>
                    </a:p>
                  </a:txBody>
                  <a:tcPr anchor="ctr"/>
                </a:tc>
                <a:extLst>
                  <a:ext uri="{0D108BD9-81ED-4DB2-BD59-A6C34878D82A}">
                    <a16:rowId xmlns:a16="http://schemas.microsoft.com/office/drawing/2014/main" val="2813765855"/>
                  </a:ext>
                </a:extLst>
              </a:tr>
              <a:tr h="330600">
                <a:tc>
                  <a:txBody>
                    <a:bodyPr/>
                    <a:lstStyle/>
                    <a:p>
                      <a:pPr algn="ctr"/>
                      <a:r>
                        <a:rPr lang="en-US" sz="1600"/>
                        <a:t>20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LGFS</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u="none"/>
                        <a:t>New report need to be built in Nexbill to identify payment liability to external party for reconciliation when BP/Funder invoices been received</a:t>
                      </a:r>
                    </a:p>
                  </a:txBody>
                  <a:tcPr anchor="ctr"/>
                </a:tc>
                <a:extLst>
                  <a:ext uri="{0D108BD9-81ED-4DB2-BD59-A6C34878D82A}">
                    <a16:rowId xmlns:a16="http://schemas.microsoft.com/office/drawing/2014/main" val="11183145"/>
                  </a:ext>
                </a:extLst>
              </a:tr>
              <a:tr h="330600">
                <a:tc>
                  <a:txBody>
                    <a:bodyPr/>
                    <a:lstStyle/>
                    <a:p>
                      <a:pPr algn="ctr"/>
                      <a:r>
                        <a:rPr lang="en-US" sz="1600"/>
                        <a:t>21</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a:t>AR (TBD)</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u="none"/>
                        <a:t>AR Aging report for Nextbill EAAS related billing, including external customer billing and intercompany billing</a:t>
                      </a:r>
                    </a:p>
                  </a:txBody>
                  <a:tcPr anchor="ctr"/>
                </a:tc>
                <a:extLst>
                  <a:ext uri="{0D108BD9-81ED-4DB2-BD59-A6C34878D82A}">
                    <a16:rowId xmlns:a16="http://schemas.microsoft.com/office/drawing/2014/main" val="274143816"/>
                  </a:ext>
                </a:extLst>
              </a:tr>
              <a:tr h="330600">
                <a:tc>
                  <a:txBody>
                    <a:bodyPr/>
                    <a:lstStyle/>
                    <a:p>
                      <a:pPr algn="ctr"/>
                      <a:r>
                        <a:rPr lang="en-US" sz="1600"/>
                        <a:t>22</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kern="1200">
                          <a:solidFill>
                            <a:schemeClr val="dk1"/>
                          </a:solidFill>
                          <a:latin typeface="+mn-lt"/>
                          <a:ea typeface="+mn-ea"/>
                          <a:cs typeface="+mn-cs"/>
                        </a:rPr>
                        <a:t>LGFS/AR (TBD)</a:t>
                      </a:r>
                    </a:p>
                  </a:txBody>
                  <a:tcPr anchor="ctr"/>
                </a:tc>
                <a:tc>
                  <a:txBody>
                    <a:bodyPr/>
                    <a:lstStyle/>
                    <a:p>
                      <a:r>
                        <a:rPr lang="en-US" sz="1600" u="none"/>
                        <a:t>Have the ability to isolate out SSG receivables from rest of Lenovo.</a:t>
                      </a:r>
                    </a:p>
                    <a:p>
                      <a:r>
                        <a:rPr lang="en-US" sz="1600" u="none"/>
                        <a:t> =&gt; EAAS in scope, Lenovo sales to external funder(Normal SO) out of scope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u="none"/>
                        <a:t> =&gt; Standard aged debtor report(unpaid </a:t>
                      </a:r>
                      <a:r>
                        <a:rPr lang="en-US" sz="1600" u="none" kern="1200">
                          <a:solidFill>
                            <a:schemeClr val="dk1"/>
                          </a:solidFill>
                          <a:latin typeface="+mn-lt"/>
                          <a:ea typeface="+mn-ea"/>
                          <a:cs typeface="+mn-cs"/>
                        </a:rPr>
                        <a:t>customer bill)</a:t>
                      </a:r>
                    </a:p>
                  </a:txBody>
                  <a:tcPr anchor="ctr"/>
                </a:tc>
                <a:extLst>
                  <a:ext uri="{0D108BD9-81ED-4DB2-BD59-A6C34878D82A}">
                    <a16:rowId xmlns:a16="http://schemas.microsoft.com/office/drawing/2014/main" val="577154338"/>
                  </a:ext>
                </a:extLst>
              </a:tr>
              <a:tr h="330600">
                <a:tc>
                  <a:txBody>
                    <a:bodyPr/>
                    <a:lstStyle/>
                    <a:p>
                      <a:pPr algn="ctr"/>
                      <a:r>
                        <a:rPr lang="en-US" sz="1600"/>
                        <a:t>23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kern="1200">
                        <a:solidFill>
                          <a:schemeClr val="dk1"/>
                        </a:solidFill>
                        <a:latin typeface="+mn-lt"/>
                        <a:ea typeface="+mn-ea"/>
                        <a:cs typeface="+mn-cs"/>
                      </a:endParaRPr>
                    </a:p>
                  </a:txBody>
                  <a:tcPr anchor="ctr"/>
                </a:tc>
                <a:tc>
                  <a:txBody>
                    <a:bodyPr/>
                    <a:lstStyle/>
                    <a:p>
                      <a:endParaRPr lang="en-US" sz="1600" u="none" kern="1200">
                        <a:solidFill>
                          <a:schemeClr val="dk1"/>
                        </a:solidFill>
                        <a:latin typeface="+mn-lt"/>
                        <a:ea typeface="+mn-ea"/>
                        <a:cs typeface="+mn-cs"/>
                      </a:endParaRPr>
                    </a:p>
                  </a:txBody>
                  <a:tcPr anchor="ctr"/>
                </a:tc>
                <a:extLst>
                  <a:ext uri="{0D108BD9-81ED-4DB2-BD59-A6C34878D82A}">
                    <a16:rowId xmlns:a16="http://schemas.microsoft.com/office/drawing/2014/main" val="1505408719"/>
                  </a:ext>
                </a:extLst>
              </a:tr>
              <a:tr h="330600">
                <a:tc>
                  <a:txBody>
                    <a:bodyPr/>
                    <a:lstStyle/>
                    <a:p>
                      <a:pPr algn="ctr"/>
                      <a:r>
                        <a:rPr lang="en-US" sz="1600"/>
                        <a:t>24</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kern="1200">
                        <a:solidFill>
                          <a:schemeClr val="dk1"/>
                        </a:solidFill>
                        <a:latin typeface="+mn-lt"/>
                        <a:ea typeface="+mn-ea"/>
                        <a:cs typeface="+mn-cs"/>
                      </a:endParaRPr>
                    </a:p>
                  </a:txBody>
                  <a:tcPr anchor="ctr"/>
                </a:tc>
                <a:tc>
                  <a:txBody>
                    <a:bodyPr/>
                    <a:lstStyle/>
                    <a:p>
                      <a:endParaRPr lang="en-US" sz="1600" u="none" kern="1200">
                        <a:solidFill>
                          <a:schemeClr val="dk1"/>
                        </a:solidFill>
                        <a:latin typeface="+mn-lt"/>
                        <a:ea typeface="+mn-ea"/>
                        <a:cs typeface="+mn-cs"/>
                      </a:endParaRPr>
                    </a:p>
                  </a:txBody>
                  <a:tcPr anchor="ctr"/>
                </a:tc>
                <a:extLst>
                  <a:ext uri="{0D108BD9-81ED-4DB2-BD59-A6C34878D82A}">
                    <a16:rowId xmlns:a16="http://schemas.microsoft.com/office/drawing/2014/main" val="1857428480"/>
                  </a:ext>
                </a:extLst>
              </a:tr>
            </a:tbl>
          </a:graphicData>
        </a:graphic>
      </p:graphicFrame>
      <p:sp>
        <p:nvSpPr>
          <p:cNvPr id="3" name="Rectangle 1">
            <a:extLst>
              <a:ext uri="{FF2B5EF4-FFF2-40B4-BE49-F238E27FC236}">
                <a16:creationId xmlns:a16="http://schemas.microsoft.com/office/drawing/2014/main" id="{A3DE1A15-C9B4-E017-E455-FF825FDE15E3}"/>
              </a:ext>
            </a:extLst>
          </p:cNvPr>
          <p:cNvSpPr>
            <a:spLocks noChangeArrowheads="1"/>
          </p:cNvSpPr>
          <p:nvPr/>
        </p:nvSpPr>
        <p:spPr bwMode="auto">
          <a:xfrm>
            <a:off x="9730512" y="0"/>
            <a:ext cx="254181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chemeClr val="tx1"/>
                </a:solidFill>
                <a:effectLst/>
                <a:latin typeface="Arial" panose="020B0604020202020204" pitchFamily="34" charset="0"/>
                <a:hlinkClick r:id="rId5"/>
              </a:rPr>
              <a:t>NexBill E2E BSR.pptx</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34154481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FDE86C-32D3-325B-0A67-1E933094F717}"/>
            </a:ext>
          </a:extLst>
        </p:cNvPr>
        <p:cNvGrpSpPr/>
        <p:nvPr/>
      </p:nvGrpSpPr>
      <p:grpSpPr>
        <a:xfrm>
          <a:off x="0" y="0"/>
          <a:ext cx="0" cy="0"/>
          <a:chOff x="0" y="0"/>
          <a:chExt cx="0" cy="0"/>
        </a:xfrm>
      </p:grpSpPr>
      <p:sp>
        <p:nvSpPr>
          <p:cNvPr id="8" name="Title 1">
            <a:extLst>
              <a:ext uri="{FF2B5EF4-FFF2-40B4-BE49-F238E27FC236}">
                <a16:creationId xmlns:a16="http://schemas.microsoft.com/office/drawing/2014/main" id="{8CA7A05B-68BE-9217-658B-45887BD4C40A}"/>
              </a:ext>
            </a:extLst>
          </p:cNvPr>
          <p:cNvSpPr txBox="1">
            <a:spLocks/>
          </p:cNvSpPr>
          <p:nvPr/>
        </p:nvSpPr>
        <p:spPr>
          <a:xfrm>
            <a:off x="159793" y="69669"/>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Aptos Display" panose="020F0302020204030204"/>
                <a:ea typeface="+mj-ea"/>
                <a:cs typeface="+mj-cs"/>
              </a:rPr>
              <a:t>P</a:t>
            </a:r>
            <a:r>
              <a:rPr kumimoji="0" lang="en-US" altLang="zh-CN" sz="2800" b="1" i="0" u="none" strike="noStrike" kern="1200" cap="none" spc="0" normalizeH="0" baseline="0" noProof="0">
                <a:ln>
                  <a:noFill/>
                </a:ln>
                <a:solidFill>
                  <a:prstClr val="black"/>
                </a:solidFill>
                <a:effectLst/>
                <a:uLnTx/>
                <a:uFillTx/>
                <a:latin typeface="Aptos Display" panose="020F0302020204030204"/>
                <a:ea typeface="+mj-ea"/>
                <a:cs typeface="+mj-cs"/>
              </a:rPr>
              <a:t>osting or SO in each scenarios</a:t>
            </a:r>
            <a:endParaRPr kumimoji="0" lang="en-US" sz="3600" b="1" i="0" u="none" strike="noStrike" kern="1200" cap="none" spc="0" normalizeH="0" baseline="0" noProof="0">
              <a:ln>
                <a:noFill/>
              </a:ln>
              <a:solidFill>
                <a:prstClr val="black"/>
              </a:solidFill>
              <a:effectLst/>
              <a:uLnTx/>
              <a:uFillTx/>
              <a:latin typeface="Aptos Display" panose="020F0302020204030204"/>
              <a:ea typeface="+mj-ea"/>
              <a:cs typeface="+mj-cs"/>
            </a:endParaRPr>
          </a:p>
        </p:txBody>
      </p:sp>
      <p:sp>
        <p:nvSpPr>
          <p:cNvPr id="4" name="TextBox 3">
            <a:extLst>
              <a:ext uri="{FF2B5EF4-FFF2-40B4-BE49-F238E27FC236}">
                <a16:creationId xmlns:a16="http://schemas.microsoft.com/office/drawing/2014/main" id="{80901B1A-9DD1-A79E-B9F8-0667DA058C5E}"/>
              </a:ext>
            </a:extLst>
          </p:cNvPr>
          <p:cNvSpPr txBox="1"/>
          <p:nvPr/>
        </p:nvSpPr>
        <p:spPr>
          <a:xfrm>
            <a:off x="903513" y="1109480"/>
            <a:ext cx="8632371" cy="4524315"/>
          </a:xfrm>
          <a:prstGeom prst="rect">
            <a:avLst/>
          </a:prstGeom>
          <a:noFill/>
        </p:spPr>
        <p:txBody>
          <a:bodyPr wrap="square">
            <a:spAutoFit/>
          </a:bodyPr>
          <a:lstStyle/>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DaaS Recurring: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IaaS Recurring: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Early Termination: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On-demand Service: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EOT (Buyout) :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Upfront Tax: </a:t>
            </a:r>
            <a:r>
              <a:rPr kumimoji="0" lang="en-US" sz="1800" b="0" i="0" u="none" strike="noStrike" kern="1200" cap="none" spc="0" normalizeH="0" baseline="0" noProof="0">
                <a:ln>
                  <a:noFill/>
                </a:ln>
                <a:solidFill>
                  <a:srgbClr val="FF0000"/>
                </a:solidFill>
                <a:effectLst/>
                <a:uLnTx/>
                <a:uFillTx/>
                <a:latin typeface="Aptos" panose="020B0004020202020204"/>
                <a:ea typeface="+mn-ea"/>
                <a:cs typeface="+mn-cs"/>
              </a:rPr>
              <a:t>ESOT SO? </a:t>
            </a: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  Monthly deduct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Damage Fund monthly billing: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Damage funding ET/DC: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managed capex managed service portion: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Managed Capex HW portion: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Origination Fee: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Penalty(Miss SLA CMR) :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Syndication(Full sale/SOR):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Asset Remarking: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Damage Charge: Posting</a:t>
            </a:r>
          </a:p>
          <a:p>
            <a:pPr marL="285750" marR="0" lvl="0" indent="-285750" algn="l" defTabSz="914400" rtl="0" eaLnBrk="1" fontAlgn="base"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Property Tax: Posting</a:t>
            </a:r>
          </a:p>
        </p:txBody>
      </p:sp>
    </p:spTree>
    <p:extLst>
      <p:ext uri="{BB962C8B-B14F-4D97-AF65-F5344CB8AC3E}">
        <p14:creationId xmlns:p14="http://schemas.microsoft.com/office/powerpoint/2010/main" val="194719419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199448-E515-E3CA-0377-28E257E00B3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0DB36D5-FD56-CEE0-333A-1C115B9C5BF7}"/>
              </a:ext>
            </a:extLst>
          </p:cNvPr>
          <p:cNvSpPr>
            <a:spLocks noGrp="1"/>
          </p:cNvSpPr>
          <p:nvPr>
            <p:ph type="ctrTitle"/>
          </p:nvPr>
        </p:nvSpPr>
        <p:spPr>
          <a:xfrm>
            <a:off x="371164" y="129972"/>
            <a:ext cx="9570719" cy="681446"/>
          </a:xfrm>
        </p:spPr>
        <p:txBody>
          <a:bodyPr anchor="ctr">
            <a:normAutofit/>
          </a:bodyPr>
          <a:lstStyle/>
          <a:p>
            <a:pPr algn="l"/>
            <a:r>
              <a:rPr lang="en-US" sz="2800" b="1"/>
              <a:t>P</a:t>
            </a:r>
            <a:r>
              <a:rPr lang="en-US" altLang="zh-CN" sz="2800" b="1"/>
              <a:t>osting Dimension Requirement for monthly entry in BRIM</a:t>
            </a:r>
            <a:endParaRPr lang="en-US" sz="3600" b="1"/>
          </a:p>
        </p:txBody>
      </p:sp>
      <p:graphicFrame>
        <p:nvGraphicFramePr>
          <p:cNvPr id="5" name="表格 4">
            <a:extLst>
              <a:ext uri="{FF2B5EF4-FFF2-40B4-BE49-F238E27FC236}">
                <a16:creationId xmlns:a16="http://schemas.microsoft.com/office/drawing/2014/main" id="{F71D43C0-702F-9A2C-8114-22D780130BFB}"/>
              </a:ext>
            </a:extLst>
          </p:cNvPr>
          <p:cNvGraphicFramePr>
            <a:graphicFrameLocks noGrp="1"/>
          </p:cNvGraphicFramePr>
          <p:nvPr>
            <p:extLst>
              <p:ext uri="{D42A27DB-BD31-4B8C-83A1-F6EECF244321}">
                <p14:modId xmlns:p14="http://schemas.microsoft.com/office/powerpoint/2010/main" val="2717717656"/>
              </p:ext>
            </p:extLst>
          </p:nvPr>
        </p:nvGraphicFramePr>
        <p:xfrm>
          <a:off x="488007" y="811418"/>
          <a:ext cx="3618273" cy="1645920"/>
        </p:xfrm>
        <a:graphic>
          <a:graphicData uri="http://schemas.openxmlformats.org/drawingml/2006/table">
            <a:tbl>
              <a:tblPr firstRow="1" bandRow="1">
                <a:tableStyleId>{5C22544A-7EE6-4342-B048-85BDC9FD1C3A}</a:tableStyleId>
              </a:tblPr>
              <a:tblGrid>
                <a:gridCol w="1665611">
                  <a:extLst>
                    <a:ext uri="{9D8B030D-6E8A-4147-A177-3AD203B41FA5}">
                      <a16:colId xmlns:a16="http://schemas.microsoft.com/office/drawing/2014/main" val="2625641936"/>
                    </a:ext>
                  </a:extLst>
                </a:gridCol>
                <a:gridCol w="1952662">
                  <a:extLst>
                    <a:ext uri="{9D8B030D-6E8A-4147-A177-3AD203B41FA5}">
                      <a16:colId xmlns:a16="http://schemas.microsoft.com/office/drawing/2014/main" val="781163522"/>
                    </a:ext>
                  </a:extLst>
                </a:gridCol>
              </a:tblGrid>
              <a:tr h="202039">
                <a:tc>
                  <a:txBody>
                    <a:bodyPr/>
                    <a:lstStyle/>
                    <a:p>
                      <a:r>
                        <a:rPr lang="en-US" altLang="zh-CN" sz="1200"/>
                        <a:t>Header Field Name</a:t>
                      </a:r>
                      <a:endParaRPr lang="zh-CN" altLang="en-US" sz="1200"/>
                    </a:p>
                  </a:txBody>
                  <a:tcPr/>
                </a:tc>
                <a:tc>
                  <a:txBody>
                    <a:bodyPr/>
                    <a:lstStyle/>
                    <a:p>
                      <a:r>
                        <a:rPr lang="en-US" altLang="zh-CN" sz="1200"/>
                        <a:t>Content</a:t>
                      </a:r>
                      <a:endParaRPr lang="zh-CN" altLang="en-US" sz="1200"/>
                    </a:p>
                  </a:txBody>
                  <a:tcPr/>
                </a:tc>
                <a:extLst>
                  <a:ext uri="{0D108BD9-81ED-4DB2-BD59-A6C34878D82A}">
                    <a16:rowId xmlns:a16="http://schemas.microsoft.com/office/drawing/2014/main" val="643999478"/>
                  </a:ext>
                </a:extLst>
              </a:tr>
              <a:tr h="202039">
                <a:tc>
                  <a:txBody>
                    <a:bodyPr/>
                    <a:lstStyle/>
                    <a:p>
                      <a:r>
                        <a:rPr lang="en-US" altLang="zh-CN" sz="1200"/>
                        <a:t>Reference</a:t>
                      </a:r>
                      <a:endParaRPr lang="zh-CN" altLang="en-US" sz="1200"/>
                    </a:p>
                  </a:txBody>
                  <a:tcPr/>
                </a:tc>
                <a:tc>
                  <a:txBody>
                    <a:bodyPr/>
                    <a:lstStyle/>
                    <a:p>
                      <a:r>
                        <a:rPr lang="en-US" altLang="zh-CN" sz="1200"/>
                        <a:t>CI Invoice No. </a:t>
                      </a:r>
                      <a:endParaRPr lang="zh-CN" altLang="en-US" sz="1200"/>
                    </a:p>
                  </a:txBody>
                  <a:tcPr/>
                </a:tc>
                <a:extLst>
                  <a:ext uri="{0D108BD9-81ED-4DB2-BD59-A6C34878D82A}">
                    <a16:rowId xmlns:a16="http://schemas.microsoft.com/office/drawing/2014/main" val="1777165050"/>
                  </a:ext>
                </a:extLst>
              </a:tr>
              <a:tr h="202039">
                <a:tc>
                  <a:txBody>
                    <a:bodyPr/>
                    <a:lstStyle/>
                    <a:p>
                      <a:r>
                        <a:rPr lang="en-US" altLang="zh-CN" sz="1200"/>
                        <a:t>Reference Key</a:t>
                      </a:r>
                      <a:endParaRPr lang="zh-CN" altLang="en-US" sz="1200"/>
                    </a:p>
                  </a:txBody>
                  <a:tcPr/>
                </a:tc>
                <a:tc>
                  <a:txBody>
                    <a:bodyPr/>
                    <a:lstStyle/>
                    <a:p>
                      <a:r>
                        <a:rPr lang="en-US" altLang="zh-CN" sz="1200"/>
                        <a:t>CI Invoice No. (EMEA ODN)</a:t>
                      </a:r>
                      <a:endParaRPr lang="zh-CN" altLang="en-US" sz="1200"/>
                    </a:p>
                  </a:txBody>
                  <a:tcPr/>
                </a:tc>
                <a:extLst>
                  <a:ext uri="{0D108BD9-81ED-4DB2-BD59-A6C34878D82A}">
                    <a16:rowId xmlns:a16="http://schemas.microsoft.com/office/drawing/2014/main" val="657631775"/>
                  </a:ext>
                </a:extLst>
              </a:tr>
              <a:tr h="202039">
                <a:tc>
                  <a:txBody>
                    <a:bodyPr/>
                    <a:lstStyle/>
                    <a:p>
                      <a:r>
                        <a:rPr lang="en-US" altLang="zh-CN" sz="1200"/>
                        <a:t>Doc. Header Text</a:t>
                      </a:r>
                      <a:endParaRPr lang="zh-CN" altLang="en-US" sz="1200"/>
                    </a:p>
                  </a:txBody>
                  <a:tcPr/>
                </a:tc>
                <a:tc>
                  <a:txBody>
                    <a:bodyPr/>
                    <a:lstStyle/>
                    <a:p>
                      <a:r>
                        <a:rPr lang="en-US" altLang="zh-CN" sz="1200"/>
                        <a:t>DAAS/IAAS Flag</a:t>
                      </a:r>
                      <a:endParaRPr lang="zh-CN" altLang="en-US" sz="1200"/>
                    </a:p>
                  </a:txBody>
                  <a:tcPr/>
                </a:tc>
                <a:extLst>
                  <a:ext uri="{0D108BD9-81ED-4DB2-BD59-A6C34878D82A}">
                    <a16:rowId xmlns:a16="http://schemas.microsoft.com/office/drawing/2014/main" val="2156223899"/>
                  </a:ext>
                </a:extLst>
              </a:tr>
              <a:tr h="202039">
                <a:tc>
                  <a:txBody>
                    <a:bodyPr/>
                    <a:lstStyle/>
                    <a:p>
                      <a:r>
                        <a:rPr lang="en-US" altLang="zh-CN" sz="1200"/>
                        <a:t>Reference Key1 </a:t>
                      </a:r>
                      <a:endParaRPr lang="zh-CN" altLang="en-US" sz="1200"/>
                    </a:p>
                  </a:txBody>
                  <a:tcPr/>
                </a:tc>
                <a:tc>
                  <a:txBody>
                    <a:bodyPr/>
                    <a:lstStyle/>
                    <a:p>
                      <a:r>
                        <a:rPr lang="en-US" altLang="zh-CN" sz="1200"/>
                        <a:t>Equals to FICA doc No.</a:t>
                      </a:r>
                      <a:endParaRPr lang="zh-CN" altLang="en-US" sz="1200"/>
                    </a:p>
                  </a:txBody>
                  <a:tcPr/>
                </a:tc>
                <a:extLst>
                  <a:ext uri="{0D108BD9-81ED-4DB2-BD59-A6C34878D82A}">
                    <a16:rowId xmlns:a16="http://schemas.microsoft.com/office/drawing/2014/main" val="918312005"/>
                  </a:ext>
                </a:extLst>
              </a:tr>
              <a:tr h="202039">
                <a:tc>
                  <a:txBody>
                    <a:bodyPr/>
                    <a:lstStyle/>
                    <a:p>
                      <a:r>
                        <a:rPr lang="en-US" altLang="zh-CN" sz="1200"/>
                        <a:t>Reference Key 2</a:t>
                      </a:r>
                      <a:endParaRPr lang="zh-CN" altLang="en-US" sz="1200"/>
                    </a:p>
                  </a:txBody>
                  <a:tcPr/>
                </a:tc>
                <a:tc>
                  <a:txBody>
                    <a:bodyPr/>
                    <a:lstStyle/>
                    <a:p>
                      <a:r>
                        <a:rPr lang="en-US" altLang="zh-CN" sz="1200"/>
                        <a:t>DAAS/IAAS Flag</a:t>
                      </a:r>
                      <a:endParaRPr lang="zh-CN" altLang="en-US" sz="1200"/>
                    </a:p>
                  </a:txBody>
                  <a:tcPr/>
                </a:tc>
                <a:extLst>
                  <a:ext uri="{0D108BD9-81ED-4DB2-BD59-A6C34878D82A}">
                    <a16:rowId xmlns:a16="http://schemas.microsoft.com/office/drawing/2014/main" val="1143408090"/>
                  </a:ext>
                </a:extLst>
              </a:tr>
            </a:tbl>
          </a:graphicData>
        </a:graphic>
      </p:graphicFrame>
      <p:graphicFrame>
        <p:nvGraphicFramePr>
          <p:cNvPr id="12" name="表格 11">
            <a:extLst>
              <a:ext uri="{FF2B5EF4-FFF2-40B4-BE49-F238E27FC236}">
                <a16:creationId xmlns:a16="http://schemas.microsoft.com/office/drawing/2014/main" id="{54997E1C-7501-77F4-9DEC-426766444823}"/>
              </a:ext>
            </a:extLst>
          </p:cNvPr>
          <p:cNvGraphicFramePr>
            <a:graphicFrameLocks noGrp="1"/>
          </p:cNvGraphicFramePr>
          <p:nvPr>
            <p:extLst>
              <p:ext uri="{D42A27DB-BD31-4B8C-83A1-F6EECF244321}">
                <p14:modId xmlns:p14="http://schemas.microsoft.com/office/powerpoint/2010/main" val="1245087804"/>
              </p:ext>
            </p:extLst>
          </p:nvPr>
        </p:nvGraphicFramePr>
        <p:xfrm>
          <a:off x="4518740" y="835029"/>
          <a:ext cx="3471162" cy="2743200"/>
        </p:xfrm>
        <a:graphic>
          <a:graphicData uri="http://schemas.openxmlformats.org/drawingml/2006/table">
            <a:tbl>
              <a:tblPr firstRow="1" bandRow="1">
                <a:tableStyleId>{5C22544A-7EE6-4342-B048-85BDC9FD1C3A}</a:tableStyleId>
              </a:tblPr>
              <a:tblGrid>
                <a:gridCol w="1591677">
                  <a:extLst>
                    <a:ext uri="{9D8B030D-6E8A-4147-A177-3AD203B41FA5}">
                      <a16:colId xmlns:a16="http://schemas.microsoft.com/office/drawing/2014/main" val="2625641936"/>
                    </a:ext>
                  </a:extLst>
                </a:gridCol>
                <a:gridCol w="1879485">
                  <a:extLst>
                    <a:ext uri="{9D8B030D-6E8A-4147-A177-3AD203B41FA5}">
                      <a16:colId xmlns:a16="http://schemas.microsoft.com/office/drawing/2014/main" val="4025255206"/>
                    </a:ext>
                  </a:extLst>
                </a:gridCol>
              </a:tblGrid>
              <a:tr h="222822">
                <a:tc>
                  <a:txBody>
                    <a:bodyPr/>
                    <a:lstStyle/>
                    <a:p>
                      <a:r>
                        <a:rPr lang="en-US" altLang="zh-CN" sz="1200"/>
                        <a:t>Item Field Name</a:t>
                      </a:r>
                      <a:endParaRPr lang="zh-CN" altLang="en-US" sz="1200"/>
                    </a:p>
                  </a:txBody>
                  <a:tcPr/>
                </a:tc>
                <a:tc>
                  <a:txBody>
                    <a:bodyPr/>
                    <a:lstStyle/>
                    <a:p>
                      <a:r>
                        <a:rPr lang="en-US" altLang="zh-CN" sz="1200"/>
                        <a:t>Content</a:t>
                      </a:r>
                      <a:endParaRPr lang="zh-CN" altLang="en-US" sz="1200"/>
                    </a:p>
                  </a:txBody>
                  <a:tcPr/>
                </a:tc>
                <a:extLst>
                  <a:ext uri="{0D108BD9-81ED-4DB2-BD59-A6C34878D82A}">
                    <a16:rowId xmlns:a16="http://schemas.microsoft.com/office/drawing/2014/main" val="643999478"/>
                  </a:ext>
                </a:extLst>
              </a:tr>
              <a:tr h="222822">
                <a:tc>
                  <a:txBody>
                    <a:bodyPr/>
                    <a:lstStyle/>
                    <a:p>
                      <a:r>
                        <a:rPr lang="en-US" altLang="zh-CN" sz="1200"/>
                        <a:t>Product</a:t>
                      </a:r>
                      <a:endParaRPr lang="zh-CN" altLang="en-US" sz="1200"/>
                    </a:p>
                  </a:txBody>
                  <a:tcPr/>
                </a:tc>
                <a:tc>
                  <a:txBody>
                    <a:bodyPr/>
                    <a:lstStyle/>
                    <a:p>
                      <a:r>
                        <a:rPr lang="en-US" altLang="zh-CN" sz="1200"/>
                        <a:t>Material No</a:t>
                      </a:r>
                      <a:endParaRPr lang="zh-CN" altLang="en-US" sz="1200"/>
                    </a:p>
                  </a:txBody>
                  <a:tcPr/>
                </a:tc>
                <a:extLst>
                  <a:ext uri="{0D108BD9-81ED-4DB2-BD59-A6C34878D82A}">
                    <a16:rowId xmlns:a16="http://schemas.microsoft.com/office/drawing/2014/main" val="1777165050"/>
                  </a:ext>
                </a:extLst>
              </a:tr>
              <a:tr h="222822">
                <a:tc>
                  <a:txBody>
                    <a:bodyPr/>
                    <a:lstStyle/>
                    <a:p>
                      <a:r>
                        <a:rPr lang="en-US" altLang="zh-CN" sz="1200"/>
                        <a:t>Text</a:t>
                      </a:r>
                      <a:endParaRPr lang="zh-CN" altLang="en-US" sz="1200"/>
                    </a:p>
                  </a:txBody>
                  <a:tcPr/>
                </a:tc>
                <a:tc>
                  <a:txBody>
                    <a:bodyPr/>
                    <a:lstStyle/>
                    <a:p>
                      <a:r>
                        <a:rPr lang="en-US" altLang="zh-CN" sz="1200"/>
                        <a:t>Numeral Sequence; Tranche ID</a:t>
                      </a:r>
                      <a:endParaRPr lang="zh-CN" altLang="en-US" sz="1200"/>
                    </a:p>
                  </a:txBody>
                  <a:tcPr/>
                </a:tc>
                <a:extLst>
                  <a:ext uri="{0D108BD9-81ED-4DB2-BD59-A6C34878D82A}">
                    <a16:rowId xmlns:a16="http://schemas.microsoft.com/office/drawing/2014/main" val="657631775"/>
                  </a:ext>
                </a:extLst>
              </a:tr>
              <a:tr h="222822">
                <a:tc>
                  <a:txBody>
                    <a:bodyPr/>
                    <a:lstStyle/>
                    <a:p>
                      <a:r>
                        <a:rPr lang="en-US" altLang="zh-CN" sz="1200"/>
                        <a:t>Reference Key 1</a:t>
                      </a:r>
                      <a:endParaRPr lang="zh-CN" altLang="en-US" sz="1200"/>
                    </a:p>
                  </a:txBody>
                  <a:tcPr/>
                </a:tc>
                <a:tc>
                  <a:txBody>
                    <a:bodyPr/>
                    <a:lstStyle/>
                    <a:p>
                      <a:r>
                        <a:rPr lang="en-US" altLang="zh-CN" sz="1200"/>
                        <a:t>Contract number</a:t>
                      </a:r>
                      <a:endParaRPr lang="zh-CN" altLang="en-US" sz="1200"/>
                    </a:p>
                  </a:txBody>
                  <a:tcPr/>
                </a:tc>
                <a:extLst>
                  <a:ext uri="{0D108BD9-81ED-4DB2-BD59-A6C34878D82A}">
                    <a16:rowId xmlns:a16="http://schemas.microsoft.com/office/drawing/2014/main" val="2156223899"/>
                  </a:ext>
                </a:extLst>
              </a:tr>
              <a:tr h="222822">
                <a:tc>
                  <a:txBody>
                    <a:bodyPr/>
                    <a:lstStyle/>
                    <a:p>
                      <a:r>
                        <a:rPr lang="en-US" altLang="zh-CN" sz="1200"/>
                        <a:t>Reference Key 2</a:t>
                      </a:r>
                      <a:endParaRPr lang="zh-CN" altLang="en-US" sz="1200"/>
                    </a:p>
                  </a:txBody>
                  <a:tcPr/>
                </a:tc>
                <a:tc>
                  <a:txBody>
                    <a:bodyPr/>
                    <a:lstStyle/>
                    <a:p>
                      <a:r>
                        <a:rPr lang="en-US" altLang="zh-CN" sz="1200"/>
                        <a:t>Contract item No</a:t>
                      </a:r>
                      <a:endParaRPr lang="zh-CN" altLang="en-US" sz="1200"/>
                    </a:p>
                  </a:txBody>
                  <a:tcPr/>
                </a:tc>
                <a:extLst>
                  <a:ext uri="{0D108BD9-81ED-4DB2-BD59-A6C34878D82A}">
                    <a16:rowId xmlns:a16="http://schemas.microsoft.com/office/drawing/2014/main" val="4252731524"/>
                  </a:ext>
                </a:extLst>
              </a:tr>
              <a:tr h="222822">
                <a:tc>
                  <a:txBody>
                    <a:bodyPr/>
                    <a:lstStyle/>
                    <a:p>
                      <a:r>
                        <a:rPr lang="en-US" altLang="zh-CN" sz="1200"/>
                        <a:t>Reference Key 3</a:t>
                      </a:r>
                      <a:endParaRPr lang="zh-CN" altLang="en-US" sz="1200"/>
                    </a:p>
                  </a:txBody>
                  <a:tcPr/>
                </a:tc>
                <a:tc>
                  <a:txBody>
                    <a:bodyPr/>
                    <a:lstStyle/>
                    <a:p>
                      <a:r>
                        <a:rPr lang="en-US" altLang="zh-CN" sz="1200"/>
                        <a:t>Material (Sub);</a:t>
                      </a:r>
                    </a:p>
                    <a:p>
                      <a:r>
                        <a:rPr lang="en-US" altLang="zh-CN" sz="1200"/>
                        <a:t>Current Billing term: P01/P02</a:t>
                      </a:r>
                      <a:endParaRPr lang="zh-CN" altLang="en-US" sz="1200"/>
                    </a:p>
                  </a:txBody>
                  <a:tcPr/>
                </a:tc>
                <a:extLst>
                  <a:ext uri="{0D108BD9-81ED-4DB2-BD59-A6C34878D82A}">
                    <a16:rowId xmlns:a16="http://schemas.microsoft.com/office/drawing/2014/main" val="564990108"/>
                  </a:ext>
                </a:extLst>
              </a:tr>
              <a:tr h="222822">
                <a:tc>
                  <a:txBody>
                    <a:bodyPr/>
                    <a:lstStyle/>
                    <a:p>
                      <a:r>
                        <a:rPr lang="en-US" altLang="zh-CN" sz="1200"/>
                        <a:t>EaaS Type</a:t>
                      </a:r>
                      <a:endParaRPr lang="zh-CN" altLang="en-US" sz="120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HW/service</a:t>
                      </a:r>
                      <a:endParaRPr lang="zh-CN" altLang="en-US" sz="1200"/>
                    </a:p>
                  </a:txBody>
                  <a:tcPr/>
                </a:tc>
                <a:extLst>
                  <a:ext uri="{0D108BD9-81ED-4DB2-BD59-A6C34878D82A}">
                    <a16:rowId xmlns:a16="http://schemas.microsoft.com/office/drawing/2014/main" val="3265509875"/>
                  </a:ext>
                </a:extLst>
              </a:tr>
              <a:tr h="222822">
                <a:tc>
                  <a:txBody>
                    <a:bodyPr/>
                    <a:lstStyle/>
                    <a:p>
                      <a:r>
                        <a:rPr lang="en-US" altLang="zh-CN" sz="1200"/>
                        <a:t>WBS Number</a:t>
                      </a:r>
                      <a:endParaRPr lang="zh-CN" altLang="en-US" sz="120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1200"/>
                    </a:p>
                  </a:txBody>
                  <a:tcPr/>
                </a:tc>
                <a:extLst>
                  <a:ext uri="{0D108BD9-81ED-4DB2-BD59-A6C34878D82A}">
                    <a16:rowId xmlns:a16="http://schemas.microsoft.com/office/drawing/2014/main" val="3352832243"/>
                  </a:ext>
                </a:extLst>
              </a:tr>
            </a:tbl>
          </a:graphicData>
        </a:graphic>
      </p:graphicFrame>
      <p:graphicFrame>
        <p:nvGraphicFramePr>
          <p:cNvPr id="3" name="表格 2">
            <a:extLst>
              <a:ext uri="{FF2B5EF4-FFF2-40B4-BE49-F238E27FC236}">
                <a16:creationId xmlns:a16="http://schemas.microsoft.com/office/drawing/2014/main" id="{E49CB5C8-45A7-42AA-C93D-C83382A1C543}"/>
              </a:ext>
            </a:extLst>
          </p:cNvPr>
          <p:cNvGraphicFramePr>
            <a:graphicFrameLocks noGrp="1"/>
          </p:cNvGraphicFramePr>
          <p:nvPr>
            <p:extLst>
              <p:ext uri="{D42A27DB-BD31-4B8C-83A1-F6EECF244321}">
                <p14:modId xmlns:p14="http://schemas.microsoft.com/office/powerpoint/2010/main" val="1452411171"/>
              </p:ext>
            </p:extLst>
          </p:nvPr>
        </p:nvGraphicFramePr>
        <p:xfrm>
          <a:off x="8651381" y="835029"/>
          <a:ext cx="3294510" cy="1371600"/>
        </p:xfrm>
        <a:graphic>
          <a:graphicData uri="http://schemas.openxmlformats.org/drawingml/2006/table">
            <a:tbl>
              <a:tblPr firstRow="1" bandRow="1">
                <a:tableStyleId>{5C22544A-7EE6-4342-B048-85BDC9FD1C3A}</a:tableStyleId>
              </a:tblPr>
              <a:tblGrid>
                <a:gridCol w="1379834">
                  <a:extLst>
                    <a:ext uri="{9D8B030D-6E8A-4147-A177-3AD203B41FA5}">
                      <a16:colId xmlns:a16="http://schemas.microsoft.com/office/drawing/2014/main" val="2625641936"/>
                    </a:ext>
                  </a:extLst>
                </a:gridCol>
                <a:gridCol w="1914676">
                  <a:extLst>
                    <a:ext uri="{9D8B030D-6E8A-4147-A177-3AD203B41FA5}">
                      <a16:colId xmlns:a16="http://schemas.microsoft.com/office/drawing/2014/main" val="781163522"/>
                    </a:ext>
                  </a:extLst>
                </a:gridCol>
              </a:tblGrid>
              <a:tr h="139403">
                <a:tc>
                  <a:txBody>
                    <a:bodyPr/>
                    <a:lstStyle/>
                    <a:p>
                      <a:r>
                        <a:rPr lang="en-US" altLang="zh-CN" sz="1200"/>
                        <a:t>Document type</a:t>
                      </a:r>
                      <a:endParaRPr lang="zh-CN" altLang="en-US" sz="1200"/>
                    </a:p>
                  </a:txBody>
                  <a:tcPr/>
                </a:tc>
                <a:tc>
                  <a:txBody>
                    <a:bodyPr/>
                    <a:lstStyle/>
                    <a:p>
                      <a:r>
                        <a:rPr lang="en-US" altLang="zh-CN" sz="1200"/>
                        <a:t>Billing</a:t>
                      </a:r>
                      <a:endParaRPr lang="zh-CN" altLang="en-US" sz="1200"/>
                    </a:p>
                  </a:txBody>
                  <a:tcPr/>
                </a:tc>
                <a:extLst>
                  <a:ext uri="{0D108BD9-81ED-4DB2-BD59-A6C34878D82A}">
                    <a16:rowId xmlns:a16="http://schemas.microsoft.com/office/drawing/2014/main" val="643999478"/>
                  </a:ext>
                </a:extLst>
              </a:tr>
              <a:tr h="139403">
                <a:tc>
                  <a:txBody>
                    <a:bodyPr/>
                    <a:lstStyle/>
                    <a:p>
                      <a:r>
                        <a:rPr lang="en-US" altLang="zh-CN" sz="1200"/>
                        <a:t>EA</a:t>
                      </a:r>
                      <a:endParaRPr lang="zh-CN" altLang="en-US" sz="1200"/>
                    </a:p>
                  </a:txBody>
                  <a:tcPr/>
                </a:tc>
                <a:tc>
                  <a:txBody>
                    <a:bodyPr/>
                    <a:lstStyle/>
                    <a:p>
                      <a:r>
                        <a:rPr lang="en-US" altLang="zh-CN" sz="1200"/>
                        <a:t>Non-billing</a:t>
                      </a:r>
                    </a:p>
                  </a:txBody>
                  <a:tcPr/>
                </a:tc>
                <a:extLst>
                  <a:ext uri="{0D108BD9-81ED-4DB2-BD59-A6C34878D82A}">
                    <a16:rowId xmlns:a16="http://schemas.microsoft.com/office/drawing/2014/main" val="1777165050"/>
                  </a:ext>
                </a:extLst>
              </a:tr>
              <a:tr h="139403">
                <a:tc>
                  <a:txBody>
                    <a:bodyPr/>
                    <a:lstStyle/>
                    <a:p>
                      <a:r>
                        <a:rPr lang="en-US" altLang="zh-CN" sz="1200"/>
                        <a:t>EL</a:t>
                      </a:r>
                      <a:endParaRPr lang="zh-CN" altLang="en-US" sz="1200"/>
                    </a:p>
                  </a:txBody>
                  <a:tcPr/>
                </a:tc>
                <a:tc>
                  <a:txBody>
                    <a:bodyPr/>
                    <a:lstStyle/>
                    <a:p>
                      <a:r>
                        <a:rPr lang="en-US" altLang="zh-CN" sz="1200"/>
                        <a:t>Customer Billing</a:t>
                      </a:r>
                      <a:endParaRPr lang="zh-CN" altLang="en-US" sz="1200"/>
                    </a:p>
                  </a:txBody>
                  <a:tcPr/>
                </a:tc>
                <a:extLst>
                  <a:ext uri="{0D108BD9-81ED-4DB2-BD59-A6C34878D82A}">
                    <a16:rowId xmlns:a16="http://schemas.microsoft.com/office/drawing/2014/main" val="657631775"/>
                  </a:ext>
                </a:extLst>
              </a:tr>
              <a:tr h="139403">
                <a:tc>
                  <a:txBody>
                    <a:bodyPr/>
                    <a:lstStyle/>
                    <a:p>
                      <a:r>
                        <a:rPr lang="en-US" altLang="zh-CN" sz="1200"/>
                        <a:t>RV</a:t>
                      </a:r>
                      <a:endParaRPr lang="zh-CN" altLang="en-US" sz="1200"/>
                    </a:p>
                  </a:txBody>
                  <a:tcPr/>
                </a:tc>
                <a:tc>
                  <a:txBody>
                    <a:bodyPr/>
                    <a:lstStyle/>
                    <a:p>
                      <a:r>
                        <a:rPr lang="en-US" altLang="zh-CN" sz="1200"/>
                        <a:t>ICO AR</a:t>
                      </a:r>
                      <a:endParaRPr lang="zh-CN" altLang="en-US" sz="1200"/>
                    </a:p>
                  </a:txBody>
                  <a:tcPr/>
                </a:tc>
                <a:extLst>
                  <a:ext uri="{0D108BD9-81ED-4DB2-BD59-A6C34878D82A}">
                    <a16:rowId xmlns:a16="http://schemas.microsoft.com/office/drawing/2014/main" val="2156223899"/>
                  </a:ext>
                </a:extLst>
              </a:tr>
              <a:tr h="139403">
                <a:tc>
                  <a:txBody>
                    <a:bodyPr/>
                    <a:lstStyle/>
                    <a:p>
                      <a:r>
                        <a:rPr lang="en-US" altLang="zh-CN" sz="1200"/>
                        <a:t>KR</a:t>
                      </a:r>
                      <a:endParaRPr lang="zh-CN" altLang="en-US" sz="1200"/>
                    </a:p>
                  </a:txBody>
                  <a:tcPr/>
                </a:tc>
                <a:tc>
                  <a:txBody>
                    <a:bodyPr/>
                    <a:lstStyle/>
                    <a:p>
                      <a:r>
                        <a:rPr lang="en-US" altLang="zh-CN" sz="1200"/>
                        <a:t>ICO AP</a:t>
                      </a:r>
                      <a:endParaRPr lang="zh-CN" altLang="en-US" sz="1200"/>
                    </a:p>
                  </a:txBody>
                  <a:tcPr/>
                </a:tc>
                <a:extLst>
                  <a:ext uri="{0D108BD9-81ED-4DB2-BD59-A6C34878D82A}">
                    <a16:rowId xmlns:a16="http://schemas.microsoft.com/office/drawing/2014/main" val="4252731524"/>
                  </a:ext>
                </a:extLst>
              </a:tr>
            </a:tbl>
          </a:graphicData>
        </a:graphic>
      </p:graphicFrame>
      <p:pic>
        <p:nvPicPr>
          <p:cNvPr id="10" name="图片 9">
            <a:extLst>
              <a:ext uri="{FF2B5EF4-FFF2-40B4-BE49-F238E27FC236}">
                <a16:creationId xmlns:a16="http://schemas.microsoft.com/office/drawing/2014/main" id="{33DC7765-2AFD-8411-BDA0-CD7FFDEC4639}"/>
              </a:ext>
            </a:extLst>
          </p:cNvPr>
          <p:cNvPicPr>
            <a:picLocks noChangeAspect="1"/>
          </p:cNvPicPr>
          <p:nvPr/>
        </p:nvPicPr>
        <p:blipFill>
          <a:blip r:embed="rId2"/>
          <a:stretch>
            <a:fillRect/>
          </a:stretch>
        </p:blipFill>
        <p:spPr>
          <a:xfrm>
            <a:off x="273620" y="2697632"/>
            <a:ext cx="4047046" cy="3212547"/>
          </a:xfrm>
          <a:prstGeom prst="rect">
            <a:avLst/>
          </a:prstGeom>
        </p:spPr>
      </p:pic>
      <p:pic>
        <p:nvPicPr>
          <p:cNvPr id="14" name="图片 13">
            <a:extLst>
              <a:ext uri="{FF2B5EF4-FFF2-40B4-BE49-F238E27FC236}">
                <a16:creationId xmlns:a16="http://schemas.microsoft.com/office/drawing/2014/main" id="{7DB8DD1C-04A1-E100-86C9-C43F478728BF}"/>
              </a:ext>
            </a:extLst>
          </p:cNvPr>
          <p:cNvPicPr>
            <a:picLocks noChangeAspect="1"/>
          </p:cNvPicPr>
          <p:nvPr/>
        </p:nvPicPr>
        <p:blipFill>
          <a:blip r:embed="rId3"/>
          <a:stretch>
            <a:fillRect/>
          </a:stretch>
        </p:blipFill>
        <p:spPr>
          <a:xfrm>
            <a:off x="4387882" y="3877168"/>
            <a:ext cx="3732878" cy="1471315"/>
          </a:xfrm>
          <a:prstGeom prst="rect">
            <a:avLst/>
          </a:prstGeom>
        </p:spPr>
      </p:pic>
      <p:pic>
        <p:nvPicPr>
          <p:cNvPr id="16" name="图片 15">
            <a:extLst>
              <a:ext uri="{FF2B5EF4-FFF2-40B4-BE49-F238E27FC236}">
                <a16:creationId xmlns:a16="http://schemas.microsoft.com/office/drawing/2014/main" id="{FD3644D5-40A2-7B2A-BD77-B988EC7BD128}"/>
              </a:ext>
            </a:extLst>
          </p:cNvPr>
          <p:cNvPicPr>
            <a:picLocks noChangeAspect="1"/>
          </p:cNvPicPr>
          <p:nvPr/>
        </p:nvPicPr>
        <p:blipFill>
          <a:blip r:embed="rId4"/>
          <a:stretch>
            <a:fillRect/>
          </a:stretch>
        </p:blipFill>
        <p:spPr>
          <a:xfrm>
            <a:off x="8411127" y="2953753"/>
            <a:ext cx="3695845" cy="2351493"/>
          </a:xfrm>
          <a:prstGeom prst="rect">
            <a:avLst/>
          </a:prstGeom>
        </p:spPr>
      </p:pic>
    </p:spTree>
    <p:extLst>
      <p:ext uri="{BB962C8B-B14F-4D97-AF65-F5344CB8AC3E}">
        <p14:creationId xmlns:p14="http://schemas.microsoft.com/office/powerpoint/2010/main" val="38129696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E8E8CA-DEF7-302C-851D-C133DCF04C1F}"/>
            </a:ext>
          </a:extLst>
        </p:cNvPr>
        <p:cNvGrpSpPr/>
        <p:nvPr/>
      </p:nvGrpSpPr>
      <p:grpSpPr>
        <a:xfrm>
          <a:off x="0" y="0"/>
          <a:ext cx="0" cy="0"/>
          <a:chOff x="0" y="0"/>
          <a:chExt cx="0" cy="0"/>
        </a:xfrm>
      </p:grpSpPr>
      <p:sp>
        <p:nvSpPr>
          <p:cNvPr id="12" name="Rectangle 11">
            <a:extLst>
              <a:ext uri="{FF2B5EF4-FFF2-40B4-BE49-F238E27FC236}">
                <a16:creationId xmlns:a16="http://schemas.microsoft.com/office/drawing/2014/main" id="{F8E35543-1627-8537-8E44-2EA8FC292F1F}"/>
              </a:ext>
            </a:extLst>
          </p:cNvPr>
          <p:cNvSpPr/>
          <p:nvPr/>
        </p:nvSpPr>
        <p:spPr>
          <a:xfrm>
            <a:off x="0" y="717377"/>
            <a:ext cx="12192000" cy="265056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96000E47-D5BD-42EA-ACA1-60EA6A48699A}"/>
              </a:ext>
            </a:extLst>
          </p:cNvPr>
          <p:cNvSpPr>
            <a:spLocks noGrp="1"/>
          </p:cNvSpPr>
          <p:nvPr>
            <p:ph type="ctrTitle"/>
          </p:nvPr>
        </p:nvSpPr>
        <p:spPr>
          <a:xfrm>
            <a:off x="159793" y="69669"/>
            <a:ext cx="9570719" cy="681446"/>
          </a:xfrm>
        </p:spPr>
        <p:txBody>
          <a:bodyPr anchor="ctr">
            <a:normAutofit/>
          </a:bodyPr>
          <a:lstStyle/>
          <a:p>
            <a:pPr algn="l"/>
            <a:r>
              <a:rPr lang="en-US" sz="2800" b="1"/>
              <a:t>Profit Center requirement</a:t>
            </a:r>
            <a:endParaRPr lang="en-US" sz="3600" b="1"/>
          </a:p>
        </p:txBody>
      </p:sp>
      <p:sp>
        <p:nvSpPr>
          <p:cNvPr id="17" name="TextBox 16">
            <a:extLst>
              <a:ext uri="{FF2B5EF4-FFF2-40B4-BE49-F238E27FC236}">
                <a16:creationId xmlns:a16="http://schemas.microsoft.com/office/drawing/2014/main" id="{92A52AD8-5F76-AE6D-52B9-2C50DE7A5E9C}"/>
              </a:ext>
            </a:extLst>
          </p:cNvPr>
          <p:cNvSpPr txBox="1"/>
          <p:nvPr/>
        </p:nvSpPr>
        <p:spPr>
          <a:xfrm>
            <a:off x="4890" y="1619377"/>
            <a:ext cx="492443" cy="846566"/>
          </a:xfrm>
          <a:prstGeom prst="rect">
            <a:avLst/>
          </a:prstGeom>
          <a:noFill/>
        </p:spPr>
        <p:txBody>
          <a:bodyPr vert="vert270" wrap="square" rtlCol="0">
            <a:spAutoFit/>
          </a:bodyPr>
          <a:lstStyle/>
          <a:p>
            <a:pPr algn="ctr"/>
            <a:r>
              <a:rPr lang="en-US" sz="2000" b="1"/>
              <a:t>DAAS</a:t>
            </a:r>
          </a:p>
        </p:txBody>
      </p:sp>
      <p:graphicFrame>
        <p:nvGraphicFramePr>
          <p:cNvPr id="21" name="Table 20">
            <a:extLst>
              <a:ext uri="{FF2B5EF4-FFF2-40B4-BE49-F238E27FC236}">
                <a16:creationId xmlns:a16="http://schemas.microsoft.com/office/drawing/2014/main" id="{779B7CDB-13E5-0CDD-D431-6252CCD451E9}"/>
              </a:ext>
            </a:extLst>
          </p:cNvPr>
          <p:cNvGraphicFramePr>
            <a:graphicFrameLocks noGrp="1"/>
          </p:cNvGraphicFramePr>
          <p:nvPr>
            <p:extLst>
              <p:ext uri="{D42A27DB-BD31-4B8C-83A1-F6EECF244321}">
                <p14:modId xmlns:p14="http://schemas.microsoft.com/office/powerpoint/2010/main" val="979398599"/>
              </p:ext>
            </p:extLst>
          </p:nvPr>
        </p:nvGraphicFramePr>
        <p:xfrm>
          <a:off x="680279" y="917440"/>
          <a:ext cx="5090097" cy="2250440"/>
        </p:xfrm>
        <a:graphic>
          <a:graphicData uri="http://schemas.openxmlformats.org/drawingml/2006/table">
            <a:tbl>
              <a:tblPr firstRow="1" bandRow="1">
                <a:tableStyleId>{5C22544A-7EE6-4342-B048-85BDC9FD1C3A}</a:tableStyleId>
              </a:tblPr>
              <a:tblGrid>
                <a:gridCol w="1696699">
                  <a:extLst>
                    <a:ext uri="{9D8B030D-6E8A-4147-A177-3AD203B41FA5}">
                      <a16:colId xmlns:a16="http://schemas.microsoft.com/office/drawing/2014/main" val="1548153515"/>
                    </a:ext>
                  </a:extLst>
                </a:gridCol>
                <a:gridCol w="1696699">
                  <a:extLst>
                    <a:ext uri="{9D8B030D-6E8A-4147-A177-3AD203B41FA5}">
                      <a16:colId xmlns:a16="http://schemas.microsoft.com/office/drawing/2014/main" val="1573938510"/>
                    </a:ext>
                  </a:extLst>
                </a:gridCol>
                <a:gridCol w="1696699">
                  <a:extLst>
                    <a:ext uri="{9D8B030D-6E8A-4147-A177-3AD203B41FA5}">
                      <a16:colId xmlns:a16="http://schemas.microsoft.com/office/drawing/2014/main" val="3783348641"/>
                    </a:ext>
                  </a:extLst>
                </a:gridCol>
              </a:tblGrid>
              <a:tr h="370840">
                <a:tc>
                  <a:txBody>
                    <a:bodyPr/>
                    <a:lstStyle/>
                    <a:p>
                      <a:pPr algn="ctr"/>
                      <a:r>
                        <a:rPr lang="en-US" sz="1600"/>
                        <a:t>ECC</a:t>
                      </a:r>
                      <a:r>
                        <a:rPr lang="en-US" sz="1000"/>
                        <a:t> - Element</a:t>
                      </a:r>
                    </a:p>
                  </a:txBody>
                  <a:tcPr anchor="ctr"/>
                </a:tc>
                <a:tc>
                  <a:txBody>
                    <a:bodyPr/>
                    <a:lstStyle/>
                    <a:p>
                      <a:pPr algn="ctr"/>
                      <a:r>
                        <a:rPr lang="en-US" sz="1000"/>
                        <a:t>Profit Center – </a:t>
                      </a:r>
                    </a:p>
                    <a:p>
                      <a:pPr algn="ctr"/>
                      <a:r>
                        <a:rPr lang="en-US" sz="1000"/>
                        <a:t>Onshore Country</a:t>
                      </a:r>
                    </a:p>
                  </a:txBody>
                  <a:tcPr anchor="ctr"/>
                </a:tc>
                <a:tc>
                  <a:txBody>
                    <a:bodyPr/>
                    <a:lstStyle/>
                    <a:p>
                      <a:pPr algn="ctr"/>
                      <a:r>
                        <a:rPr lang="en-US" sz="1000"/>
                        <a:t>Profit Center – </a:t>
                      </a:r>
                    </a:p>
                    <a:p>
                      <a:pPr algn="ctr"/>
                      <a:r>
                        <a:rPr lang="en-US" sz="1000"/>
                        <a:t>Offshore Country</a:t>
                      </a:r>
                    </a:p>
                  </a:txBody>
                  <a:tcPr anchor="ctr"/>
                </a:tc>
                <a:extLst>
                  <a:ext uri="{0D108BD9-81ED-4DB2-BD59-A6C34878D82A}">
                    <a16:rowId xmlns:a16="http://schemas.microsoft.com/office/drawing/2014/main" val="3621070260"/>
                  </a:ext>
                </a:extLst>
              </a:tr>
              <a:tr h="370840">
                <a:tc>
                  <a:txBody>
                    <a:bodyPr/>
                    <a:lstStyle/>
                    <a:p>
                      <a:pPr algn="ctr"/>
                      <a:r>
                        <a:rPr lang="en-US" sz="1000"/>
                        <a:t>Lenovo HW</a:t>
                      </a:r>
                    </a:p>
                  </a:txBody>
                  <a:tcPr anchor="ctr"/>
                </a:tc>
                <a:tc>
                  <a:txBody>
                    <a:bodyPr/>
                    <a:lstStyle/>
                    <a:p>
                      <a:pPr algn="ctr"/>
                      <a:r>
                        <a:rPr lang="en-US" sz="1000"/>
                        <a:t>U4</a:t>
                      </a:r>
                    </a:p>
                  </a:txBody>
                  <a:tcPr anchor="ctr"/>
                </a:tc>
                <a:tc>
                  <a:txBody>
                    <a:bodyPr/>
                    <a:lstStyle/>
                    <a:p>
                      <a:pPr algn="ctr"/>
                      <a:r>
                        <a:rPr lang="en-US" sz="1000"/>
                        <a:t>20</a:t>
                      </a:r>
                    </a:p>
                  </a:txBody>
                  <a:tcPr anchor="ctr"/>
                </a:tc>
                <a:extLst>
                  <a:ext uri="{0D108BD9-81ED-4DB2-BD59-A6C34878D82A}">
                    <a16:rowId xmlns:a16="http://schemas.microsoft.com/office/drawing/2014/main" val="1678000222"/>
                  </a:ext>
                </a:extLst>
              </a:tr>
              <a:tr h="370840">
                <a:tc>
                  <a:txBody>
                    <a:bodyPr/>
                    <a:lstStyle/>
                    <a:p>
                      <a:pPr algn="ctr"/>
                      <a:r>
                        <a:rPr lang="en-US" sz="1000"/>
                        <a:t>SVC</a:t>
                      </a:r>
                    </a:p>
                  </a:txBody>
                  <a:tcPr anchor="ctr"/>
                </a:tc>
                <a:tc>
                  <a:txBody>
                    <a:bodyPr/>
                    <a:lstStyle/>
                    <a:p>
                      <a:pPr algn="ctr"/>
                      <a:r>
                        <a:rPr lang="en-US" sz="1000"/>
                        <a:t>PN Master data</a:t>
                      </a:r>
                    </a:p>
                  </a:txBody>
                  <a:tcPr anchor="ctr"/>
                </a:tc>
                <a:tc>
                  <a:txBody>
                    <a:bodyPr/>
                    <a:lstStyle/>
                    <a:p>
                      <a:pPr algn="ctr"/>
                      <a:r>
                        <a:rPr lang="en-US" sz="1000"/>
                        <a:t>PN Master data</a:t>
                      </a:r>
                    </a:p>
                  </a:txBody>
                  <a:tcPr anchor="ctr"/>
                </a:tc>
                <a:extLst>
                  <a:ext uri="{0D108BD9-81ED-4DB2-BD59-A6C34878D82A}">
                    <a16:rowId xmlns:a16="http://schemas.microsoft.com/office/drawing/2014/main" val="2433212261"/>
                  </a:ext>
                </a:extLst>
              </a:tr>
              <a:tr h="370840">
                <a:tc>
                  <a:txBody>
                    <a:bodyPr/>
                    <a:lstStyle/>
                    <a:p>
                      <a:pPr algn="ctr"/>
                      <a:r>
                        <a:rPr lang="en-US" sz="1000"/>
                        <a:t>3PO HW</a:t>
                      </a:r>
                    </a:p>
                  </a:txBody>
                  <a:tcPr anchor="ctr"/>
                </a:tc>
                <a:tc>
                  <a:txBody>
                    <a:bodyPr/>
                    <a:lstStyle/>
                    <a:p>
                      <a:pPr algn="ctr"/>
                      <a:r>
                        <a:rPr lang="en-US" sz="1000"/>
                        <a:t>30</a:t>
                      </a:r>
                    </a:p>
                  </a:txBody>
                  <a:tcPr anchor="ctr"/>
                </a:tc>
                <a:tc>
                  <a:txBody>
                    <a:bodyPr/>
                    <a:lstStyle/>
                    <a:p>
                      <a:pPr algn="ctr"/>
                      <a:r>
                        <a:rPr lang="en-US" sz="1000"/>
                        <a:t>30</a:t>
                      </a:r>
                    </a:p>
                  </a:txBody>
                  <a:tcPr anchor="ctr"/>
                </a:tc>
                <a:extLst>
                  <a:ext uri="{0D108BD9-81ED-4DB2-BD59-A6C34878D82A}">
                    <a16:rowId xmlns:a16="http://schemas.microsoft.com/office/drawing/2014/main" val="1979426266"/>
                  </a:ext>
                </a:extLst>
              </a:tr>
              <a:tr h="370840">
                <a:tc>
                  <a:txBody>
                    <a:bodyPr/>
                    <a:lstStyle/>
                    <a:p>
                      <a:pPr algn="ctr"/>
                      <a:r>
                        <a:rPr lang="en-US" sz="1000"/>
                        <a:t>Swap</a:t>
                      </a:r>
                    </a:p>
                  </a:txBody>
                  <a:tcPr anchor="ctr"/>
                </a:tc>
                <a:tc>
                  <a:txBody>
                    <a:bodyPr/>
                    <a:lstStyle/>
                    <a:p>
                      <a:pPr algn="ctr"/>
                      <a:r>
                        <a:rPr lang="en-US" sz="1000"/>
                        <a:t>PN Master data</a:t>
                      </a:r>
                    </a:p>
                  </a:txBody>
                  <a:tcPr anchor="ctr"/>
                </a:tc>
                <a:tc>
                  <a:txBody>
                    <a:bodyPr/>
                    <a:lstStyle/>
                    <a:p>
                      <a:pPr algn="ctr"/>
                      <a:r>
                        <a:rPr lang="en-US" sz="1000"/>
                        <a:t>PN Master data</a:t>
                      </a:r>
                    </a:p>
                  </a:txBody>
                  <a:tcPr anchor="ctr"/>
                </a:tc>
                <a:extLst>
                  <a:ext uri="{0D108BD9-81ED-4DB2-BD59-A6C34878D82A}">
                    <a16:rowId xmlns:a16="http://schemas.microsoft.com/office/drawing/2014/main" val="1884436601"/>
                  </a:ext>
                </a:extLst>
              </a:tr>
              <a:tr h="370840">
                <a:tc>
                  <a:txBody>
                    <a:bodyPr/>
                    <a:lstStyle/>
                    <a:p>
                      <a:pPr algn="ctr"/>
                      <a:r>
                        <a:rPr lang="en-US" sz="1000"/>
                        <a:t>Dmg Fund</a:t>
                      </a:r>
                    </a:p>
                  </a:txBody>
                  <a:tcPr anchor="ctr"/>
                </a:tc>
                <a:tc>
                  <a:txBody>
                    <a:bodyPr/>
                    <a:lstStyle/>
                    <a:p>
                      <a:pPr algn="ctr"/>
                      <a:r>
                        <a:rPr lang="en-US" sz="1000"/>
                        <a:t>PN Master data</a:t>
                      </a:r>
                    </a:p>
                  </a:txBody>
                  <a:tcPr anchor="ctr"/>
                </a:tc>
                <a:tc>
                  <a:txBody>
                    <a:bodyPr/>
                    <a:lstStyle/>
                    <a:p>
                      <a:pPr algn="ctr"/>
                      <a:r>
                        <a:rPr lang="en-US" sz="1000"/>
                        <a:t>PN Master data</a:t>
                      </a:r>
                    </a:p>
                  </a:txBody>
                  <a:tcPr anchor="ctr"/>
                </a:tc>
                <a:extLst>
                  <a:ext uri="{0D108BD9-81ED-4DB2-BD59-A6C34878D82A}">
                    <a16:rowId xmlns:a16="http://schemas.microsoft.com/office/drawing/2014/main" val="1101625677"/>
                  </a:ext>
                </a:extLst>
              </a:tr>
            </a:tbl>
          </a:graphicData>
        </a:graphic>
      </p:graphicFrame>
      <p:graphicFrame>
        <p:nvGraphicFramePr>
          <p:cNvPr id="22" name="Table 21">
            <a:extLst>
              <a:ext uri="{FF2B5EF4-FFF2-40B4-BE49-F238E27FC236}">
                <a16:creationId xmlns:a16="http://schemas.microsoft.com/office/drawing/2014/main" id="{01FE8F88-2919-1744-F606-A800480753BF}"/>
              </a:ext>
            </a:extLst>
          </p:cNvPr>
          <p:cNvGraphicFramePr>
            <a:graphicFrameLocks noGrp="1"/>
          </p:cNvGraphicFramePr>
          <p:nvPr>
            <p:extLst>
              <p:ext uri="{D42A27DB-BD31-4B8C-83A1-F6EECF244321}">
                <p14:modId xmlns:p14="http://schemas.microsoft.com/office/powerpoint/2010/main" val="933509637"/>
              </p:ext>
            </p:extLst>
          </p:nvPr>
        </p:nvGraphicFramePr>
        <p:xfrm>
          <a:off x="6616785" y="917440"/>
          <a:ext cx="5090097" cy="2250440"/>
        </p:xfrm>
        <a:graphic>
          <a:graphicData uri="http://schemas.openxmlformats.org/drawingml/2006/table">
            <a:tbl>
              <a:tblPr firstRow="1" bandRow="1">
                <a:tableStyleId>{5C22544A-7EE6-4342-B048-85BDC9FD1C3A}</a:tableStyleId>
              </a:tblPr>
              <a:tblGrid>
                <a:gridCol w="1696699">
                  <a:extLst>
                    <a:ext uri="{9D8B030D-6E8A-4147-A177-3AD203B41FA5}">
                      <a16:colId xmlns:a16="http://schemas.microsoft.com/office/drawing/2014/main" val="1548153515"/>
                    </a:ext>
                  </a:extLst>
                </a:gridCol>
                <a:gridCol w="1696699">
                  <a:extLst>
                    <a:ext uri="{9D8B030D-6E8A-4147-A177-3AD203B41FA5}">
                      <a16:colId xmlns:a16="http://schemas.microsoft.com/office/drawing/2014/main" val="1573938510"/>
                    </a:ext>
                  </a:extLst>
                </a:gridCol>
                <a:gridCol w="1696699">
                  <a:extLst>
                    <a:ext uri="{9D8B030D-6E8A-4147-A177-3AD203B41FA5}">
                      <a16:colId xmlns:a16="http://schemas.microsoft.com/office/drawing/2014/main" val="3783348641"/>
                    </a:ext>
                  </a:extLst>
                </a:gridCol>
              </a:tblGrid>
              <a:tr h="370840">
                <a:tc>
                  <a:txBody>
                    <a:bodyPr/>
                    <a:lstStyle/>
                    <a:p>
                      <a:pPr algn="ctr"/>
                      <a:r>
                        <a:rPr lang="en-US" sz="1600"/>
                        <a:t>S4</a:t>
                      </a:r>
                      <a:r>
                        <a:rPr lang="en-US" sz="1000"/>
                        <a:t> - Element</a:t>
                      </a:r>
                    </a:p>
                  </a:txBody>
                  <a:tcPr anchor="ctr"/>
                </a:tc>
                <a:tc>
                  <a:txBody>
                    <a:bodyPr/>
                    <a:lstStyle/>
                    <a:p>
                      <a:pPr algn="ctr"/>
                      <a:r>
                        <a:rPr lang="en-US" sz="1000"/>
                        <a:t>Profit Center – </a:t>
                      </a:r>
                    </a:p>
                    <a:p>
                      <a:pPr algn="ctr"/>
                      <a:r>
                        <a:rPr lang="en-US" sz="1000"/>
                        <a:t>Onshore Country</a:t>
                      </a:r>
                    </a:p>
                  </a:txBody>
                  <a:tcPr anchor="ctr"/>
                </a:tc>
                <a:tc>
                  <a:txBody>
                    <a:bodyPr/>
                    <a:lstStyle/>
                    <a:p>
                      <a:pPr algn="ctr"/>
                      <a:r>
                        <a:rPr lang="en-US" sz="1000"/>
                        <a:t>Profit Center – </a:t>
                      </a:r>
                    </a:p>
                    <a:p>
                      <a:pPr algn="ctr"/>
                      <a:r>
                        <a:rPr lang="en-US" sz="1000"/>
                        <a:t>Offshore Country</a:t>
                      </a:r>
                    </a:p>
                  </a:txBody>
                  <a:tcPr anchor="ctr"/>
                </a:tc>
                <a:extLst>
                  <a:ext uri="{0D108BD9-81ED-4DB2-BD59-A6C34878D82A}">
                    <a16:rowId xmlns:a16="http://schemas.microsoft.com/office/drawing/2014/main" val="3621070260"/>
                  </a:ext>
                </a:extLst>
              </a:tr>
              <a:tr h="370840">
                <a:tc>
                  <a:txBody>
                    <a:bodyPr/>
                    <a:lstStyle/>
                    <a:p>
                      <a:pPr algn="ctr"/>
                      <a:r>
                        <a:rPr lang="en-US" sz="1000"/>
                        <a:t>Lenovo HW</a:t>
                      </a:r>
                    </a:p>
                  </a:txBody>
                  <a:tcPr anchor="ctr"/>
                </a:tc>
                <a:tc>
                  <a:txBody>
                    <a:bodyPr/>
                    <a:lstStyle/>
                    <a:p>
                      <a:pPr algn="ctr"/>
                      <a:r>
                        <a:rPr lang="en-US" sz="1000"/>
                        <a:t>20</a:t>
                      </a:r>
                    </a:p>
                  </a:txBody>
                  <a:tcPr anchor="ctr"/>
                </a:tc>
                <a:tc>
                  <a:txBody>
                    <a:bodyPr/>
                    <a:lstStyle/>
                    <a:p>
                      <a:pPr algn="ctr"/>
                      <a:r>
                        <a:rPr lang="en-US" sz="1000"/>
                        <a:t>20</a:t>
                      </a:r>
                    </a:p>
                  </a:txBody>
                  <a:tcPr anchor="ctr"/>
                </a:tc>
                <a:extLst>
                  <a:ext uri="{0D108BD9-81ED-4DB2-BD59-A6C34878D82A}">
                    <a16:rowId xmlns:a16="http://schemas.microsoft.com/office/drawing/2014/main" val="1678000222"/>
                  </a:ext>
                </a:extLst>
              </a:tr>
              <a:tr h="370840">
                <a:tc>
                  <a:txBody>
                    <a:bodyPr/>
                    <a:lstStyle/>
                    <a:p>
                      <a:pPr algn="ctr"/>
                      <a:r>
                        <a:rPr lang="en-US" sz="1000"/>
                        <a:t>SVC</a:t>
                      </a:r>
                    </a:p>
                  </a:txBody>
                  <a:tcPr anchor="ctr"/>
                </a:tc>
                <a:tc>
                  <a:txBody>
                    <a:bodyPr/>
                    <a:lstStyle/>
                    <a:p>
                      <a:pPr algn="ctr"/>
                      <a:r>
                        <a:rPr lang="en-US" sz="1000"/>
                        <a:t>PN Master data</a:t>
                      </a:r>
                    </a:p>
                  </a:txBody>
                  <a:tcPr anchor="ctr"/>
                </a:tc>
                <a:tc>
                  <a:txBody>
                    <a:bodyPr/>
                    <a:lstStyle/>
                    <a:p>
                      <a:pPr algn="ctr"/>
                      <a:r>
                        <a:rPr lang="en-US" sz="1000"/>
                        <a:t>PN Master data</a:t>
                      </a:r>
                    </a:p>
                  </a:txBody>
                  <a:tcPr anchor="ctr"/>
                </a:tc>
                <a:extLst>
                  <a:ext uri="{0D108BD9-81ED-4DB2-BD59-A6C34878D82A}">
                    <a16:rowId xmlns:a16="http://schemas.microsoft.com/office/drawing/2014/main" val="2433212261"/>
                  </a:ext>
                </a:extLst>
              </a:tr>
              <a:tr h="370840">
                <a:tc>
                  <a:txBody>
                    <a:bodyPr/>
                    <a:lstStyle/>
                    <a:p>
                      <a:pPr algn="ctr"/>
                      <a:r>
                        <a:rPr lang="en-US" sz="1000"/>
                        <a:t>3PO HW</a:t>
                      </a:r>
                    </a:p>
                  </a:txBody>
                  <a:tcPr anchor="ctr"/>
                </a:tc>
                <a:tc>
                  <a:txBody>
                    <a:bodyPr/>
                    <a:lstStyle/>
                    <a:p>
                      <a:pPr algn="ctr"/>
                      <a:r>
                        <a:rPr lang="en-US" sz="1000"/>
                        <a:t>30</a:t>
                      </a:r>
                    </a:p>
                  </a:txBody>
                  <a:tcPr anchor="ctr"/>
                </a:tc>
                <a:tc>
                  <a:txBody>
                    <a:bodyPr/>
                    <a:lstStyle/>
                    <a:p>
                      <a:pPr algn="ctr"/>
                      <a:r>
                        <a:rPr lang="en-US" sz="1000"/>
                        <a:t>30</a:t>
                      </a:r>
                    </a:p>
                  </a:txBody>
                  <a:tcPr anchor="ctr"/>
                </a:tc>
                <a:extLst>
                  <a:ext uri="{0D108BD9-81ED-4DB2-BD59-A6C34878D82A}">
                    <a16:rowId xmlns:a16="http://schemas.microsoft.com/office/drawing/2014/main" val="1979426266"/>
                  </a:ext>
                </a:extLst>
              </a:tr>
              <a:tr h="370840">
                <a:tc>
                  <a:txBody>
                    <a:bodyPr/>
                    <a:lstStyle/>
                    <a:p>
                      <a:pPr algn="ctr"/>
                      <a:r>
                        <a:rPr lang="en-US" sz="1000"/>
                        <a:t>Swap</a:t>
                      </a:r>
                    </a:p>
                  </a:txBody>
                  <a:tcPr anchor="ctr"/>
                </a:tc>
                <a:tc>
                  <a:txBody>
                    <a:bodyPr/>
                    <a:lstStyle/>
                    <a:p>
                      <a:pPr algn="ctr"/>
                      <a:r>
                        <a:rPr lang="en-US" sz="1000"/>
                        <a:t>PN Master data</a:t>
                      </a:r>
                    </a:p>
                  </a:txBody>
                  <a:tcPr anchor="ctr"/>
                </a:tc>
                <a:tc>
                  <a:txBody>
                    <a:bodyPr/>
                    <a:lstStyle/>
                    <a:p>
                      <a:pPr algn="ctr"/>
                      <a:r>
                        <a:rPr lang="en-US" sz="1000"/>
                        <a:t>PN Master data</a:t>
                      </a:r>
                    </a:p>
                  </a:txBody>
                  <a:tcPr anchor="ctr"/>
                </a:tc>
                <a:extLst>
                  <a:ext uri="{0D108BD9-81ED-4DB2-BD59-A6C34878D82A}">
                    <a16:rowId xmlns:a16="http://schemas.microsoft.com/office/drawing/2014/main" val="1884436601"/>
                  </a:ext>
                </a:extLst>
              </a:tr>
              <a:tr h="370840">
                <a:tc>
                  <a:txBody>
                    <a:bodyPr/>
                    <a:lstStyle/>
                    <a:p>
                      <a:pPr algn="ctr"/>
                      <a:r>
                        <a:rPr lang="en-US" sz="1000"/>
                        <a:t>Dmg Fund</a:t>
                      </a:r>
                    </a:p>
                  </a:txBody>
                  <a:tcPr anchor="ctr"/>
                </a:tc>
                <a:tc>
                  <a:txBody>
                    <a:bodyPr/>
                    <a:lstStyle/>
                    <a:p>
                      <a:pPr algn="ctr"/>
                      <a:r>
                        <a:rPr lang="en-US" sz="1000"/>
                        <a:t>PN Master data</a:t>
                      </a:r>
                    </a:p>
                  </a:txBody>
                  <a:tcPr anchor="ctr"/>
                </a:tc>
                <a:tc>
                  <a:txBody>
                    <a:bodyPr/>
                    <a:lstStyle/>
                    <a:p>
                      <a:pPr algn="ctr"/>
                      <a:r>
                        <a:rPr lang="en-US" sz="1000"/>
                        <a:t>PN Master data</a:t>
                      </a:r>
                    </a:p>
                  </a:txBody>
                  <a:tcPr anchor="ctr"/>
                </a:tc>
                <a:extLst>
                  <a:ext uri="{0D108BD9-81ED-4DB2-BD59-A6C34878D82A}">
                    <a16:rowId xmlns:a16="http://schemas.microsoft.com/office/drawing/2014/main" val="1101625677"/>
                  </a:ext>
                </a:extLst>
              </a:tr>
            </a:tbl>
          </a:graphicData>
        </a:graphic>
      </p:graphicFrame>
      <p:sp>
        <p:nvSpPr>
          <p:cNvPr id="23" name="Rectangle 22">
            <a:extLst>
              <a:ext uri="{FF2B5EF4-FFF2-40B4-BE49-F238E27FC236}">
                <a16:creationId xmlns:a16="http://schemas.microsoft.com/office/drawing/2014/main" id="{F7622159-4514-1506-EB2E-37698B0BC8C7}"/>
              </a:ext>
            </a:extLst>
          </p:cNvPr>
          <p:cNvSpPr/>
          <p:nvPr/>
        </p:nvSpPr>
        <p:spPr>
          <a:xfrm>
            <a:off x="0" y="3367943"/>
            <a:ext cx="12192000" cy="1748566"/>
          </a:xfrm>
          <a:prstGeom prst="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E4D3F218-39D7-0C79-666C-712B72694DE6}"/>
              </a:ext>
            </a:extLst>
          </p:cNvPr>
          <p:cNvSpPr txBox="1"/>
          <p:nvPr/>
        </p:nvSpPr>
        <p:spPr>
          <a:xfrm>
            <a:off x="4898" y="3843087"/>
            <a:ext cx="492443" cy="846566"/>
          </a:xfrm>
          <a:prstGeom prst="rect">
            <a:avLst/>
          </a:prstGeom>
          <a:noFill/>
        </p:spPr>
        <p:txBody>
          <a:bodyPr vert="vert270" wrap="square" rtlCol="0">
            <a:spAutoFit/>
          </a:bodyPr>
          <a:lstStyle/>
          <a:p>
            <a:pPr algn="ctr"/>
            <a:r>
              <a:rPr lang="en-US" sz="2000" b="1"/>
              <a:t>IAAS</a:t>
            </a:r>
          </a:p>
        </p:txBody>
      </p:sp>
      <p:graphicFrame>
        <p:nvGraphicFramePr>
          <p:cNvPr id="25" name="Table 24">
            <a:extLst>
              <a:ext uri="{FF2B5EF4-FFF2-40B4-BE49-F238E27FC236}">
                <a16:creationId xmlns:a16="http://schemas.microsoft.com/office/drawing/2014/main" id="{273D5BC1-3275-14F7-64FA-2A2AFFB9D14C}"/>
              </a:ext>
            </a:extLst>
          </p:cNvPr>
          <p:cNvGraphicFramePr>
            <a:graphicFrameLocks noGrp="1"/>
          </p:cNvGraphicFramePr>
          <p:nvPr>
            <p:extLst>
              <p:ext uri="{D42A27DB-BD31-4B8C-83A1-F6EECF244321}">
                <p14:modId xmlns:p14="http://schemas.microsoft.com/office/powerpoint/2010/main" val="2344873254"/>
              </p:ext>
            </p:extLst>
          </p:nvPr>
        </p:nvGraphicFramePr>
        <p:xfrm>
          <a:off x="680279" y="3477910"/>
          <a:ext cx="5090097" cy="1534160"/>
        </p:xfrm>
        <a:graphic>
          <a:graphicData uri="http://schemas.openxmlformats.org/drawingml/2006/table">
            <a:tbl>
              <a:tblPr firstRow="1" bandRow="1">
                <a:tableStyleId>{5C22544A-7EE6-4342-B048-85BDC9FD1C3A}</a:tableStyleId>
              </a:tblPr>
              <a:tblGrid>
                <a:gridCol w="1696699">
                  <a:extLst>
                    <a:ext uri="{9D8B030D-6E8A-4147-A177-3AD203B41FA5}">
                      <a16:colId xmlns:a16="http://schemas.microsoft.com/office/drawing/2014/main" val="1548153515"/>
                    </a:ext>
                  </a:extLst>
                </a:gridCol>
                <a:gridCol w="1696699">
                  <a:extLst>
                    <a:ext uri="{9D8B030D-6E8A-4147-A177-3AD203B41FA5}">
                      <a16:colId xmlns:a16="http://schemas.microsoft.com/office/drawing/2014/main" val="1573938510"/>
                    </a:ext>
                  </a:extLst>
                </a:gridCol>
                <a:gridCol w="1696699">
                  <a:extLst>
                    <a:ext uri="{9D8B030D-6E8A-4147-A177-3AD203B41FA5}">
                      <a16:colId xmlns:a16="http://schemas.microsoft.com/office/drawing/2014/main" val="3783348641"/>
                    </a:ext>
                  </a:extLst>
                </a:gridCol>
              </a:tblGrid>
              <a:tr h="370840">
                <a:tc>
                  <a:txBody>
                    <a:bodyPr/>
                    <a:lstStyle/>
                    <a:p>
                      <a:pPr algn="ctr"/>
                      <a:r>
                        <a:rPr lang="en-US" sz="1600"/>
                        <a:t>ECC</a:t>
                      </a:r>
                      <a:r>
                        <a:rPr lang="en-US" sz="1000"/>
                        <a:t> - Element</a:t>
                      </a:r>
                    </a:p>
                  </a:txBody>
                  <a:tcPr anchor="ctr"/>
                </a:tc>
                <a:tc>
                  <a:txBody>
                    <a:bodyPr/>
                    <a:lstStyle/>
                    <a:p>
                      <a:pPr algn="ctr"/>
                      <a:r>
                        <a:rPr lang="en-US" sz="1000"/>
                        <a:t>Profit Center – </a:t>
                      </a:r>
                    </a:p>
                    <a:p>
                      <a:pPr algn="ctr"/>
                      <a:r>
                        <a:rPr lang="en-US" sz="1000"/>
                        <a:t>Onshore Country</a:t>
                      </a:r>
                    </a:p>
                  </a:txBody>
                  <a:tcPr anchor="ctr"/>
                </a:tc>
                <a:tc>
                  <a:txBody>
                    <a:bodyPr/>
                    <a:lstStyle/>
                    <a:p>
                      <a:pPr algn="ctr"/>
                      <a:r>
                        <a:rPr lang="en-US" sz="1000"/>
                        <a:t>Profit Center – </a:t>
                      </a:r>
                    </a:p>
                    <a:p>
                      <a:pPr algn="ctr"/>
                      <a:r>
                        <a:rPr lang="en-US" sz="1000"/>
                        <a:t>Offshore Country</a:t>
                      </a:r>
                    </a:p>
                  </a:txBody>
                  <a:tcPr anchor="ctr"/>
                </a:tc>
                <a:extLst>
                  <a:ext uri="{0D108BD9-81ED-4DB2-BD59-A6C34878D82A}">
                    <a16:rowId xmlns:a16="http://schemas.microsoft.com/office/drawing/2014/main" val="3621070260"/>
                  </a:ext>
                </a:extLst>
              </a:tr>
              <a:tr h="370840">
                <a:tc>
                  <a:txBody>
                    <a:bodyPr/>
                    <a:lstStyle/>
                    <a:p>
                      <a:pPr algn="ctr"/>
                      <a:r>
                        <a:rPr lang="en-US" sz="1000"/>
                        <a:t>Lenovo HW</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XG</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XG</a:t>
                      </a:r>
                    </a:p>
                  </a:txBody>
                  <a:tcPr anchor="ctr"/>
                </a:tc>
                <a:extLst>
                  <a:ext uri="{0D108BD9-81ED-4DB2-BD59-A6C34878D82A}">
                    <a16:rowId xmlns:a16="http://schemas.microsoft.com/office/drawing/2014/main" val="1678000222"/>
                  </a:ext>
                </a:extLst>
              </a:tr>
              <a:tr h="370840">
                <a:tc>
                  <a:txBody>
                    <a:bodyPr/>
                    <a:lstStyle/>
                    <a:p>
                      <a:pPr algn="ctr"/>
                      <a:r>
                        <a:rPr lang="en-US" sz="1000"/>
                        <a:t>SVC</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XG</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XG</a:t>
                      </a:r>
                    </a:p>
                  </a:txBody>
                  <a:tcPr anchor="ctr"/>
                </a:tc>
                <a:extLst>
                  <a:ext uri="{0D108BD9-81ED-4DB2-BD59-A6C34878D82A}">
                    <a16:rowId xmlns:a16="http://schemas.microsoft.com/office/drawing/2014/main" val="2433212261"/>
                  </a:ext>
                </a:extLst>
              </a:tr>
              <a:tr h="370840">
                <a:tc>
                  <a:txBody>
                    <a:bodyPr/>
                    <a:lstStyle/>
                    <a:p>
                      <a:pPr algn="ctr"/>
                      <a:r>
                        <a:rPr lang="en-US" sz="1000"/>
                        <a:t>3PO HW</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N/A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No 3PO Scenario</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mn-lt"/>
                          <a:ea typeface="+mn-ea"/>
                          <a:cs typeface="+mn-cs"/>
                        </a:rPr>
                        <a:t>N/A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mn-lt"/>
                          <a:ea typeface="+mn-ea"/>
                          <a:cs typeface="+mn-cs"/>
                        </a:rPr>
                        <a:t>No 3PO Scenario</a:t>
                      </a:r>
                    </a:p>
                  </a:txBody>
                  <a:tcPr anchor="ctr"/>
                </a:tc>
                <a:extLst>
                  <a:ext uri="{0D108BD9-81ED-4DB2-BD59-A6C34878D82A}">
                    <a16:rowId xmlns:a16="http://schemas.microsoft.com/office/drawing/2014/main" val="1979426266"/>
                  </a:ext>
                </a:extLst>
              </a:tr>
            </a:tbl>
          </a:graphicData>
        </a:graphic>
      </p:graphicFrame>
      <p:graphicFrame>
        <p:nvGraphicFramePr>
          <p:cNvPr id="26" name="Table 25">
            <a:extLst>
              <a:ext uri="{FF2B5EF4-FFF2-40B4-BE49-F238E27FC236}">
                <a16:creationId xmlns:a16="http://schemas.microsoft.com/office/drawing/2014/main" id="{CC54B647-C12A-9BF6-58F1-A3303791B264}"/>
              </a:ext>
            </a:extLst>
          </p:cNvPr>
          <p:cNvGraphicFramePr>
            <a:graphicFrameLocks noGrp="1"/>
          </p:cNvGraphicFramePr>
          <p:nvPr>
            <p:extLst>
              <p:ext uri="{D42A27DB-BD31-4B8C-83A1-F6EECF244321}">
                <p14:modId xmlns:p14="http://schemas.microsoft.com/office/powerpoint/2010/main" val="2645592489"/>
              </p:ext>
            </p:extLst>
          </p:nvPr>
        </p:nvGraphicFramePr>
        <p:xfrm>
          <a:off x="6616785" y="3477910"/>
          <a:ext cx="5077312" cy="1534160"/>
        </p:xfrm>
        <a:graphic>
          <a:graphicData uri="http://schemas.openxmlformats.org/drawingml/2006/table">
            <a:tbl>
              <a:tblPr firstRow="1" bandRow="1">
                <a:tableStyleId>{5C22544A-7EE6-4342-B048-85BDC9FD1C3A}</a:tableStyleId>
              </a:tblPr>
              <a:tblGrid>
                <a:gridCol w="1696699">
                  <a:extLst>
                    <a:ext uri="{9D8B030D-6E8A-4147-A177-3AD203B41FA5}">
                      <a16:colId xmlns:a16="http://schemas.microsoft.com/office/drawing/2014/main" val="1548153515"/>
                    </a:ext>
                  </a:extLst>
                </a:gridCol>
                <a:gridCol w="1696699">
                  <a:extLst>
                    <a:ext uri="{9D8B030D-6E8A-4147-A177-3AD203B41FA5}">
                      <a16:colId xmlns:a16="http://schemas.microsoft.com/office/drawing/2014/main" val="1573938510"/>
                    </a:ext>
                  </a:extLst>
                </a:gridCol>
                <a:gridCol w="1683914">
                  <a:extLst>
                    <a:ext uri="{9D8B030D-6E8A-4147-A177-3AD203B41FA5}">
                      <a16:colId xmlns:a16="http://schemas.microsoft.com/office/drawing/2014/main" val="3783348641"/>
                    </a:ext>
                  </a:extLst>
                </a:gridCol>
              </a:tblGrid>
              <a:tr h="370840">
                <a:tc>
                  <a:txBody>
                    <a:bodyPr/>
                    <a:lstStyle/>
                    <a:p>
                      <a:pPr algn="ctr"/>
                      <a:r>
                        <a:rPr lang="en-US" sz="1600"/>
                        <a:t>S4</a:t>
                      </a:r>
                      <a:r>
                        <a:rPr lang="en-US" sz="1000"/>
                        <a:t> - Element</a:t>
                      </a:r>
                    </a:p>
                  </a:txBody>
                  <a:tcPr anchor="ctr"/>
                </a:tc>
                <a:tc>
                  <a:txBody>
                    <a:bodyPr/>
                    <a:lstStyle/>
                    <a:p>
                      <a:pPr algn="ctr"/>
                      <a:r>
                        <a:rPr lang="en-US" sz="1000"/>
                        <a:t>Profit Center – </a:t>
                      </a:r>
                    </a:p>
                    <a:p>
                      <a:pPr algn="ctr"/>
                      <a:r>
                        <a:rPr lang="en-US" sz="1000"/>
                        <a:t>Onshore Country</a:t>
                      </a:r>
                    </a:p>
                  </a:txBody>
                  <a:tcPr anchor="ctr"/>
                </a:tc>
                <a:tc>
                  <a:txBody>
                    <a:bodyPr/>
                    <a:lstStyle/>
                    <a:p>
                      <a:pPr algn="ctr"/>
                      <a:r>
                        <a:rPr lang="en-US" sz="1000"/>
                        <a:t>Profit Center – </a:t>
                      </a:r>
                    </a:p>
                    <a:p>
                      <a:pPr algn="ctr"/>
                      <a:r>
                        <a:rPr lang="en-US" sz="1000"/>
                        <a:t>Offshore Country</a:t>
                      </a:r>
                    </a:p>
                  </a:txBody>
                  <a:tcPr anchor="ctr"/>
                </a:tc>
                <a:extLst>
                  <a:ext uri="{0D108BD9-81ED-4DB2-BD59-A6C34878D82A}">
                    <a16:rowId xmlns:a16="http://schemas.microsoft.com/office/drawing/2014/main" val="3621070260"/>
                  </a:ext>
                </a:extLst>
              </a:tr>
              <a:tr h="370840">
                <a:tc>
                  <a:txBody>
                    <a:bodyPr/>
                    <a:lstStyle/>
                    <a:p>
                      <a:pPr algn="ctr"/>
                      <a:r>
                        <a:rPr lang="en-US" sz="1000"/>
                        <a:t>Lenovo HW</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XG</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XG</a:t>
                      </a:r>
                    </a:p>
                  </a:txBody>
                  <a:tcPr anchor="ctr"/>
                </a:tc>
                <a:extLst>
                  <a:ext uri="{0D108BD9-81ED-4DB2-BD59-A6C34878D82A}">
                    <a16:rowId xmlns:a16="http://schemas.microsoft.com/office/drawing/2014/main" val="1678000222"/>
                  </a:ext>
                </a:extLst>
              </a:tr>
              <a:tr h="370840">
                <a:tc>
                  <a:txBody>
                    <a:bodyPr/>
                    <a:lstStyle/>
                    <a:p>
                      <a:pPr algn="ctr"/>
                      <a:r>
                        <a:rPr lang="en-US" sz="1000"/>
                        <a:t>SVC</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XG</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XG</a:t>
                      </a:r>
                    </a:p>
                  </a:txBody>
                  <a:tcPr anchor="ctr"/>
                </a:tc>
                <a:extLst>
                  <a:ext uri="{0D108BD9-81ED-4DB2-BD59-A6C34878D82A}">
                    <a16:rowId xmlns:a16="http://schemas.microsoft.com/office/drawing/2014/main" val="2433212261"/>
                  </a:ext>
                </a:extLst>
              </a:tr>
              <a:tr h="370840">
                <a:tc>
                  <a:txBody>
                    <a:bodyPr/>
                    <a:lstStyle/>
                    <a:p>
                      <a:pPr algn="ctr"/>
                      <a:r>
                        <a:rPr lang="en-US" sz="1000"/>
                        <a:t>3PO HW</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N/A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No 3PO Scenario</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N/A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No 3PO Scenario</a:t>
                      </a:r>
                    </a:p>
                  </a:txBody>
                  <a:tcPr anchor="ctr"/>
                </a:tc>
                <a:extLst>
                  <a:ext uri="{0D108BD9-81ED-4DB2-BD59-A6C34878D82A}">
                    <a16:rowId xmlns:a16="http://schemas.microsoft.com/office/drawing/2014/main" val="1979426266"/>
                  </a:ext>
                </a:extLst>
              </a:tr>
            </a:tbl>
          </a:graphicData>
        </a:graphic>
      </p:graphicFrame>
      <p:sp>
        <p:nvSpPr>
          <p:cNvPr id="27" name="Rectangle 26">
            <a:extLst>
              <a:ext uri="{FF2B5EF4-FFF2-40B4-BE49-F238E27FC236}">
                <a16:creationId xmlns:a16="http://schemas.microsoft.com/office/drawing/2014/main" id="{B16FAD00-4C31-6E47-CB14-EDECBE5C9465}"/>
              </a:ext>
            </a:extLst>
          </p:cNvPr>
          <p:cNvSpPr/>
          <p:nvPr/>
        </p:nvSpPr>
        <p:spPr>
          <a:xfrm>
            <a:off x="0" y="5109434"/>
            <a:ext cx="12192000" cy="1748566"/>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9ABAD754-0E8E-5FA2-0A24-6234139B6F17}"/>
              </a:ext>
            </a:extLst>
          </p:cNvPr>
          <p:cNvSpPr txBox="1"/>
          <p:nvPr/>
        </p:nvSpPr>
        <p:spPr>
          <a:xfrm>
            <a:off x="-91540" y="5560434"/>
            <a:ext cx="800219" cy="846566"/>
          </a:xfrm>
          <a:prstGeom prst="rect">
            <a:avLst/>
          </a:prstGeom>
          <a:noFill/>
        </p:spPr>
        <p:txBody>
          <a:bodyPr vert="vert270" wrap="square" rtlCol="0">
            <a:spAutoFit/>
          </a:bodyPr>
          <a:lstStyle/>
          <a:p>
            <a:pPr algn="ctr"/>
            <a:r>
              <a:rPr lang="en-US" sz="2000" b="1"/>
              <a:t>ISG Lease</a:t>
            </a:r>
          </a:p>
        </p:txBody>
      </p:sp>
      <p:graphicFrame>
        <p:nvGraphicFramePr>
          <p:cNvPr id="29" name="Table 28">
            <a:extLst>
              <a:ext uri="{FF2B5EF4-FFF2-40B4-BE49-F238E27FC236}">
                <a16:creationId xmlns:a16="http://schemas.microsoft.com/office/drawing/2014/main" id="{0289F312-6FA1-B247-50E5-CBD165F22F56}"/>
              </a:ext>
            </a:extLst>
          </p:cNvPr>
          <p:cNvGraphicFramePr>
            <a:graphicFrameLocks noGrp="1"/>
          </p:cNvGraphicFramePr>
          <p:nvPr>
            <p:extLst>
              <p:ext uri="{D42A27DB-BD31-4B8C-83A1-F6EECF244321}">
                <p14:modId xmlns:p14="http://schemas.microsoft.com/office/powerpoint/2010/main" val="1217207146"/>
              </p:ext>
            </p:extLst>
          </p:nvPr>
        </p:nvGraphicFramePr>
        <p:xfrm>
          <a:off x="680279" y="5253481"/>
          <a:ext cx="5090097" cy="1508760"/>
        </p:xfrm>
        <a:graphic>
          <a:graphicData uri="http://schemas.openxmlformats.org/drawingml/2006/table">
            <a:tbl>
              <a:tblPr firstRow="1" bandRow="1">
                <a:tableStyleId>{5C22544A-7EE6-4342-B048-85BDC9FD1C3A}</a:tableStyleId>
              </a:tblPr>
              <a:tblGrid>
                <a:gridCol w="1696699">
                  <a:extLst>
                    <a:ext uri="{9D8B030D-6E8A-4147-A177-3AD203B41FA5}">
                      <a16:colId xmlns:a16="http://schemas.microsoft.com/office/drawing/2014/main" val="1548153515"/>
                    </a:ext>
                  </a:extLst>
                </a:gridCol>
                <a:gridCol w="1696699">
                  <a:extLst>
                    <a:ext uri="{9D8B030D-6E8A-4147-A177-3AD203B41FA5}">
                      <a16:colId xmlns:a16="http://schemas.microsoft.com/office/drawing/2014/main" val="1573938510"/>
                    </a:ext>
                  </a:extLst>
                </a:gridCol>
                <a:gridCol w="1696699">
                  <a:extLst>
                    <a:ext uri="{9D8B030D-6E8A-4147-A177-3AD203B41FA5}">
                      <a16:colId xmlns:a16="http://schemas.microsoft.com/office/drawing/2014/main" val="3783348641"/>
                    </a:ext>
                  </a:extLst>
                </a:gridCol>
              </a:tblGrid>
              <a:tr h="370840">
                <a:tc>
                  <a:txBody>
                    <a:bodyPr/>
                    <a:lstStyle/>
                    <a:p>
                      <a:pPr algn="ctr"/>
                      <a:r>
                        <a:rPr lang="en-US" sz="1600"/>
                        <a:t>ECC</a:t>
                      </a:r>
                      <a:r>
                        <a:rPr lang="en-US" sz="1000"/>
                        <a:t> - Element</a:t>
                      </a:r>
                    </a:p>
                  </a:txBody>
                  <a:tcPr anchor="ctr"/>
                </a:tc>
                <a:tc>
                  <a:txBody>
                    <a:bodyPr/>
                    <a:lstStyle/>
                    <a:p>
                      <a:pPr algn="ctr"/>
                      <a:r>
                        <a:rPr lang="en-US" sz="1000"/>
                        <a:t>Profit Center – </a:t>
                      </a:r>
                    </a:p>
                    <a:p>
                      <a:pPr algn="ctr"/>
                      <a:r>
                        <a:rPr lang="en-US" sz="1000"/>
                        <a:t>Onshore Country</a:t>
                      </a:r>
                    </a:p>
                  </a:txBody>
                  <a:tcPr anchor="ctr"/>
                </a:tc>
                <a:tc>
                  <a:txBody>
                    <a:bodyPr/>
                    <a:lstStyle/>
                    <a:p>
                      <a:pPr algn="ctr"/>
                      <a:r>
                        <a:rPr lang="en-US" sz="1000"/>
                        <a:t>Profit Center – </a:t>
                      </a:r>
                    </a:p>
                    <a:p>
                      <a:pPr algn="ctr"/>
                      <a:r>
                        <a:rPr lang="en-US" sz="1000"/>
                        <a:t>Offshore Country</a:t>
                      </a:r>
                    </a:p>
                  </a:txBody>
                  <a:tcPr anchor="ctr"/>
                </a:tc>
                <a:extLst>
                  <a:ext uri="{0D108BD9-81ED-4DB2-BD59-A6C34878D82A}">
                    <a16:rowId xmlns:a16="http://schemas.microsoft.com/office/drawing/2014/main" val="3621070260"/>
                  </a:ext>
                </a:extLst>
              </a:tr>
              <a:tr h="370840">
                <a:tc>
                  <a:txBody>
                    <a:bodyPr/>
                    <a:lstStyle/>
                    <a:p>
                      <a:pPr algn="ctr"/>
                      <a:r>
                        <a:rPr lang="en-US" sz="1000"/>
                        <a:t>Lenovo HW</a:t>
                      </a:r>
                    </a:p>
                  </a:txBody>
                  <a:tcPr anchor="ctr"/>
                </a:tc>
                <a:tc>
                  <a:txBody>
                    <a:bodyPr/>
                    <a:lstStyle/>
                    <a:p>
                      <a:pPr algn="ctr"/>
                      <a:r>
                        <a:rPr lang="en-US" sz="1000"/>
                        <a:t>X1</a:t>
                      </a:r>
                    </a:p>
                  </a:txBody>
                  <a:tcPr anchor="ctr"/>
                </a:tc>
                <a:tc>
                  <a:txBody>
                    <a:bodyPr/>
                    <a:lstStyle/>
                    <a:p>
                      <a:pPr algn="ctr"/>
                      <a:r>
                        <a:rPr lang="en-US" sz="1000"/>
                        <a:t>X1</a:t>
                      </a:r>
                    </a:p>
                  </a:txBody>
                  <a:tcPr anchor="ctr"/>
                </a:tc>
                <a:extLst>
                  <a:ext uri="{0D108BD9-81ED-4DB2-BD59-A6C34878D82A}">
                    <a16:rowId xmlns:a16="http://schemas.microsoft.com/office/drawing/2014/main" val="1678000222"/>
                  </a:ext>
                </a:extLst>
              </a:tr>
              <a:tr h="370840">
                <a:tc>
                  <a:txBody>
                    <a:bodyPr/>
                    <a:lstStyle/>
                    <a:p>
                      <a:pPr algn="ctr"/>
                      <a:r>
                        <a:rPr lang="en-US" sz="1000"/>
                        <a:t>SVC</a:t>
                      </a:r>
                    </a:p>
                  </a:txBody>
                  <a:tcPr anchor="ctr"/>
                </a:tc>
                <a:tc>
                  <a:txBody>
                    <a:bodyPr/>
                    <a:lstStyle/>
                    <a:p>
                      <a:pPr algn="ctr"/>
                      <a:r>
                        <a:rPr lang="en-US" sz="1000"/>
                        <a:t>PN Master data</a:t>
                      </a:r>
                    </a:p>
                  </a:txBody>
                  <a:tcPr anchor="ctr"/>
                </a:tc>
                <a:tc>
                  <a:txBody>
                    <a:bodyPr/>
                    <a:lstStyle/>
                    <a:p>
                      <a:pPr algn="ctr"/>
                      <a:r>
                        <a:rPr lang="en-US" sz="1000"/>
                        <a:t>PN Master data</a:t>
                      </a:r>
                    </a:p>
                  </a:txBody>
                  <a:tcPr anchor="ctr"/>
                </a:tc>
                <a:extLst>
                  <a:ext uri="{0D108BD9-81ED-4DB2-BD59-A6C34878D82A}">
                    <a16:rowId xmlns:a16="http://schemas.microsoft.com/office/drawing/2014/main" val="2433212261"/>
                  </a:ext>
                </a:extLst>
              </a:tr>
              <a:tr h="370840">
                <a:tc>
                  <a:txBody>
                    <a:bodyPr/>
                    <a:lstStyle/>
                    <a:p>
                      <a:pPr algn="ctr"/>
                      <a:r>
                        <a:rPr lang="en-US" sz="1000"/>
                        <a:t>3PO HW</a:t>
                      </a:r>
                    </a:p>
                  </a:txBody>
                  <a:tcPr anchor="ctr"/>
                </a:tc>
                <a:tc>
                  <a:txBody>
                    <a:bodyPr/>
                    <a:lstStyle/>
                    <a:p>
                      <a:pPr algn="ctr"/>
                      <a:r>
                        <a:rPr lang="en-US" sz="1000"/>
                        <a:t>X1</a:t>
                      </a:r>
                    </a:p>
                  </a:txBody>
                  <a:tcPr anchor="ctr"/>
                </a:tc>
                <a:tc>
                  <a:txBody>
                    <a:bodyPr/>
                    <a:lstStyle/>
                    <a:p>
                      <a:pPr algn="ctr"/>
                      <a:r>
                        <a:rPr lang="en-US" sz="1000"/>
                        <a:t>X1</a:t>
                      </a:r>
                    </a:p>
                  </a:txBody>
                  <a:tcPr anchor="ctr"/>
                </a:tc>
                <a:extLst>
                  <a:ext uri="{0D108BD9-81ED-4DB2-BD59-A6C34878D82A}">
                    <a16:rowId xmlns:a16="http://schemas.microsoft.com/office/drawing/2014/main" val="1979426266"/>
                  </a:ext>
                </a:extLst>
              </a:tr>
            </a:tbl>
          </a:graphicData>
        </a:graphic>
      </p:graphicFrame>
      <p:graphicFrame>
        <p:nvGraphicFramePr>
          <p:cNvPr id="30" name="Table 29">
            <a:extLst>
              <a:ext uri="{FF2B5EF4-FFF2-40B4-BE49-F238E27FC236}">
                <a16:creationId xmlns:a16="http://schemas.microsoft.com/office/drawing/2014/main" id="{4A15D6D4-6689-ABBF-4D73-74B25DDD612A}"/>
              </a:ext>
            </a:extLst>
          </p:cNvPr>
          <p:cNvGraphicFramePr>
            <a:graphicFrameLocks noGrp="1"/>
          </p:cNvGraphicFramePr>
          <p:nvPr>
            <p:extLst>
              <p:ext uri="{D42A27DB-BD31-4B8C-83A1-F6EECF244321}">
                <p14:modId xmlns:p14="http://schemas.microsoft.com/office/powerpoint/2010/main" val="523092259"/>
              </p:ext>
            </p:extLst>
          </p:nvPr>
        </p:nvGraphicFramePr>
        <p:xfrm>
          <a:off x="6616785" y="5253481"/>
          <a:ext cx="5090097" cy="1508760"/>
        </p:xfrm>
        <a:graphic>
          <a:graphicData uri="http://schemas.openxmlformats.org/drawingml/2006/table">
            <a:tbl>
              <a:tblPr firstRow="1" bandRow="1">
                <a:tableStyleId>{5C22544A-7EE6-4342-B048-85BDC9FD1C3A}</a:tableStyleId>
              </a:tblPr>
              <a:tblGrid>
                <a:gridCol w="1696699">
                  <a:extLst>
                    <a:ext uri="{9D8B030D-6E8A-4147-A177-3AD203B41FA5}">
                      <a16:colId xmlns:a16="http://schemas.microsoft.com/office/drawing/2014/main" val="1548153515"/>
                    </a:ext>
                  </a:extLst>
                </a:gridCol>
                <a:gridCol w="1696699">
                  <a:extLst>
                    <a:ext uri="{9D8B030D-6E8A-4147-A177-3AD203B41FA5}">
                      <a16:colId xmlns:a16="http://schemas.microsoft.com/office/drawing/2014/main" val="1573938510"/>
                    </a:ext>
                  </a:extLst>
                </a:gridCol>
                <a:gridCol w="1696699">
                  <a:extLst>
                    <a:ext uri="{9D8B030D-6E8A-4147-A177-3AD203B41FA5}">
                      <a16:colId xmlns:a16="http://schemas.microsoft.com/office/drawing/2014/main" val="3783348641"/>
                    </a:ext>
                  </a:extLst>
                </a:gridCol>
              </a:tblGrid>
              <a:tr h="370840">
                <a:tc>
                  <a:txBody>
                    <a:bodyPr/>
                    <a:lstStyle/>
                    <a:p>
                      <a:pPr algn="ctr"/>
                      <a:r>
                        <a:rPr lang="en-US" sz="1600"/>
                        <a:t>S4</a:t>
                      </a:r>
                      <a:r>
                        <a:rPr lang="en-US" sz="1000"/>
                        <a:t> - Element</a:t>
                      </a:r>
                    </a:p>
                  </a:txBody>
                  <a:tcPr anchor="ctr"/>
                </a:tc>
                <a:tc>
                  <a:txBody>
                    <a:bodyPr/>
                    <a:lstStyle/>
                    <a:p>
                      <a:pPr algn="ctr"/>
                      <a:r>
                        <a:rPr lang="en-US" sz="1000"/>
                        <a:t>Profit Center – </a:t>
                      </a:r>
                    </a:p>
                    <a:p>
                      <a:pPr algn="ctr"/>
                      <a:r>
                        <a:rPr lang="en-US" sz="1000"/>
                        <a:t>Onshore Country</a:t>
                      </a:r>
                    </a:p>
                  </a:txBody>
                  <a:tcPr anchor="ctr"/>
                </a:tc>
                <a:tc>
                  <a:txBody>
                    <a:bodyPr/>
                    <a:lstStyle/>
                    <a:p>
                      <a:pPr algn="ctr"/>
                      <a:r>
                        <a:rPr lang="en-US" sz="1000"/>
                        <a:t>Profit Center – </a:t>
                      </a:r>
                    </a:p>
                    <a:p>
                      <a:pPr algn="ctr"/>
                      <a:r>
                        <a:rPr lang="en-US" sz="1000"/>
                        <a:t>Offshore Country</a:t>
                      </a:r>
                    </a:p>
                  </a:txBody>
                  <a:tcPr anchor="ctr"/>
                </a:tc>
                <a:extLst>
                  <a:ext uri="{0D108BD9-81ED-4DB2-BD59-A6C34878D82A}">
                    <a16:rowId xmlns:a16="http://schemas.microsoft.com/office/drawing/2014/main" val="3621070260"/>
                  </a:ext>
                </a:extLst>
              </a:tr>
              <a:tr h="370840">
                <a:tc>
                  <a:txBody>
                    <a:bodyPr/>
                    <a:lstStyle/>
                    <a:p>
                      <a:pPr algn="ctr"/>
                      <a:r>
                        <a:rPr lang="en-US" sz="1000"/>
                        <a:t>Lenovo HW</a:t>
                      </a:r>
                    </a:p>
                  </a:txBody>
                  <a:tcPr anchor="ctr"/>
                </a:tc>
                <a:tc>
                  <a:txBody>
                    <a:bodyPr/>
                    <a:lstStyle/>
                    <a:p>
                      <a:pPr algn="ctr"/>
                      <a:r>
                        <a:rPr lang="en-US" sz="1000"/>
                        <a:t>X1</a:t>
                      </a:r>
                    </a:p>
                  </a:txBody>
                  <a:tcPr anchor="ctr"/>
                </a:tc>
                <a:tc>
                  <a:txBody>
                    <a:bodyPr/>
                    <a:lstStyle/>
                    <a:p>
                      <a:pPr algn="ctr"/>
                      <a:r>
                        <a:rPr lang="en-US" sz="1000"/>
                        <a:t>X1</a:t>
                      </a:r>
                    </a:p>
                  </a:txBody>
                  <a:tcPr anchor="ctr"/>
                </a:tc>
                <a:extLst>
                  <a:ext uri="{0D108BD9-81ED-4DB2-BD59-A6C34878D82A}">
                    <a16:rowId xmlns:a16="http://schemas.microsoft.com/office/drawing/2014/main" val="1678000222"/>
                  </a:ext>
                </a:extLst>
              </a:tr>
              <a:tr h="370840">
                <a:tc>
                  <a:txBody>
                    <a:bodyPr/>
                    <a:lstStyle/>
                    <a:p>
                      <a:pPr algn="ctr"/>
                      <a:r>
                        <a:rPr lang="en-US" sz="1000"/>
                        <a:t>SVC</a:t>
                      </a:r>
                    </a:p>
                  </a:txBody>
                  <a:tcPr anchor="ctr"/>
                </a:tc>
                <a:tc>
                  <a:txBody>
                    <a:bodyPr/>
                    <a:lstStyle/>
                    <a:p>
                      <a:pPr algn="ctr"/>
                      <a:r>
                        <a:rPr lang="en-US" sz="1000"/>
                        <a:t>PN Master data</a:t>
                      </a:r>
                    </a:p>
                  </a:txBody>
                  <a:tcPr anchor="ctr"/>
                </a:tc>
                <a:tc>
                  <a:txBody>
                    <a:bodyPr/>
                    <a:lstStyle/>
                    <a:p>
                      <a:pPr algn="ctr"/>
                      <a:r>
                        <a:rPr lang="en-US" sz="1000"/>
                        <a:t>PN Master data</a:t>
                      </a:r>
                    </a:p>
                  </a:txBody>
                  <a:tcPr anchor="ctr"/>
                </a:tc>
                <a:extLst>
                  <a:ext uri="{0D108BD9-81ED-4DB2-BD59-A6C34878D82A}">
                    <a16:rowId xmlns:a16="http://schemas.microsoft.com/office/drawing/2014/main" val="2433212261"/>
                  </a:ext>
                </a:extLst>
              </a:tr>
              <a:tr h="370840">
                <a:tc>
                  <a:txBody>
                    <a:bodyPr/>
                    <a:lstStyle/>
                    <a:p>
                      <a:pPr algn="ctr"/>
                      <a:r>
                        <a:rPr lang="en-US" sz="1000"/>
                        <a:t>3PO HW</a:t>
                      </a:r>
                    </a:p>
                  </a:txBody>
                  <a:tcPr anchor="ctr"/>
                </a:tc>
                <a:tc>
                  <a:txBody>
                    <a:bodyPr/>
                    <a:lstStyle/>
                    <a:p>
                      <a:pPr algn="ctr"/>
                      <a:r>
                        <a:rPr lang="en-US" sz="1000"/>
                        <a:t>X1</a:t>
                      </a:r>
                    </a:p>
                  </a:txBody>
                  <a:tcPr anchor="ctr"/>
                </a:tc>
                <a:tc>
                  <a:txBody>
                    <a:bodyPr/>
                    <a:lstStyle/>
                    <a:p>
                      <a:pPr algn="ctr"/>
                      <a:r>
                        <a:rPr lang="en-US" sz="1000"/>
                        <a:t>X1</a:t>
                      </a:r>
                    </a:p>
                  </a:txBody>
                  <a:tcPr anchor="ctr"/>
                </a:tc>
                <a:extLst>
                  <a:ext uri="{0D108BD9-81ED-4DB2-BD59-A6C34878D82A}">
                    <a16:rowId xmlns:a16="http://schemas.microsoft.com/office/drawing/2014/main" val="1979426266"/>
                  </a:ext>
                </a:extLst>
              </a:tr>
            </a:tbl>
          </a:graphicData>
        </a:graphic>
      </p:graphicFrame>
      <p:cxnSp>
        <p:nvCxnSpPr>
          <p:cNvPr id="8" name="Straight Connector 7">
            <a:extLst>
              <a:ext uri="{FF2B5EF4-FFF2-40B4-BE49-F238E27FC236}">
                <a16:creationId xmlns:a16="http://schemas.microsoft.com/office/drawing/2014/main" id="{42B73E67-46ED-4495-78B8-8CF62EC7FBCF}"/>
              </a:ext>
            </a:extLst>
          </p:cNvPr>
          <p:cNvCxnSpPr>
            <a:cxnSpLocks/>
            <a:stCxn id="12" idx="0"/>
          </p:cNvCxnSpPr>
          <p:nvPr/>
        </p:nvCxnSpPr>
        <p:spPr>
          <a:xfrm>
            <a:off x="6096000" y="717377"/>
            <a:ext cx="35668" cy="6087699"/>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91607329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Title 46">
            <a:extLst>
              <a:ext uri="{FF2B5EF4-FFF2-40B4-BE49-F238E27FC236}">
                <a16:creationId xmlns:a16="http://schemas.microsoft.com/office/drawing/2014/main" id="{FBCC914F-FF86-4CAD-9D8F-99FAAA5FCD43}"/>
              </a:ext>
            </a:extLst>
          </p:cNvPr>
          <p:cNvSpPr>
            <a:spLocks noGrp="1"/>
          </p:cNvSpPr>
          <p:nvPr>
            <p:ph type="title"/>
          </p:nvPr>
        </p:nvSpPr>
        <p:spPr>
          <a:xfrm>
            <a:off x="272337" y="189677"/>
            <a:ext cx="11076268" cy="356789"/>
          </a:xfrm>
        </p:spPr>
        <p:txBody>
          <a:bodyPr>
            <a:normAutofit fontScale="90000"/>
          </a:bodyPr>
          <a:lstStyle/>
          <a:p>
            <a:r>
              <a:rPr lang="en-US"/>
              <a:t>Offering Characters From Accounting Perspective</a:t>
            </a:r>
          </a:p>
        </p:txBody>
      </p:sp>
      <p:graphicFrame>
        <p:nvGraphicFramePr>
          <p:cNvPr id="80" name="Table 4">
            <a:extLst>
              <a:ext uri="{FF2B5EF4-FFF2-40B4-BE49-F238E27FC236}">
                <a16:creationId xmlns:a16="http://schemas.microsoft.com/office/drawing/2014/main" id="{DBB60035-F82C-4B54-86BC-62EB3A7A200D}"/>
              </a:ext>
            </a:extLst>
          </p:cNvPr>
          <p:cNvGraphicFramePr>
            <a:graphicFrameLocks noGrp="1"/>
          </p:cNvGraphicFramePr>
          <p:nvPr>
            <p:extLst>
              <p:ext uri="{D42A27DB-BD31-4B8C-83A1-F6EECF244321}">
                <p14:modId xmlns:p14="http://schemas.microsoft.com/office/powerpoint/2010/main" val="519358798"/>
              </p:ext>
            </p:extLst>
          </p:nvPr>
        </p:nvGraphicFramePr>
        <p:xfrm>
          <a:off x="272337" y="645194"/>
          <a:ext cx="11076261" cy="2499360"/>
        </p:xfrm>
        <a:graphic>
          <a:graphicData uri="http://schemas.openxmlformats.org/drawingml/2006/table">
            <a:tbl>
              <a:tblPr firstRow="1" bandRow="1"/>
              <a:tblGrid>
                <a:gridCol w="2075447">
                  <a:extLst>
                    <a:ext uri="{9D8B030D-6E8A-4147-A177-3AD203B41FA5}">
                      <a16:colId xmlns:a16="http://schemas.microsoft.com/office/drawing/2014/main" val="3991101725"/>
                    </a:ext>
                  </a:extLst>
                </a:gridCol>
                <a:gridCol w="1383749">
                  <a:extLst>
                    <a:ext uri="{9D8B030D-6E8A-4147-A177-3AD203B41FA5}">
                      <a16:colId xmlns:a16="http://schemas.microsoft.com/office/drawing/2014/main" val="3423686242"/>
                    </a:ext>
                  </a:extLst>
                </a:gridCol>
                <a:gridCol w="2078933">
                  <a:extLst>
                    <a:ext uri="{9D8B030D-6E8A-4147-A177-3AD203B41FA5}">
                      <a16:colId xmlns:a16="http://schemas.microsoft.com/office/drawing/2014/main" val="136218779"/>
                    </a:ext>
                  </a:extLst>
                </a:gridCol>
                <a:gridCol w="1846043">
                  <a:extLst>
                    <a:ext uri="{9D8B030D-6E8A-4147-A177-3AD203B41FA5}">
                      <a16:colId xmlns:a16="http://schemas.microsoft.com/office/drawing/2014/main" val="3642850716"/>
                    </a:ext>
                  </a:extLst>
                </a:gridCol>
                <a:gridCol w="1956404">
                  <a:extLst>
                    <a:ext uri="{9D8B030D-6E8A-4147-A177-3AD203B41FA5}">
                      <a16:colId xmlns:a16="http://schemas.microsoft.com/office/drawing/2014/main" val="2312664496"/>
                    </a:ext>
                  </a:extLst>
                </a:gridCol>
                <a:gridCol w="1735685">
                  <a:extLst>
                    <a:ext uri="{9D8B030D-6E8A-4147-A177-3AD203B41FA5}">
                      <a16:colId xmlns:a16="http://schemas.microsoft.com/office/drawing/2014/main" val="1446862177"/>
                    </a:ext>
                  </a:extLst>
                </a:gridCol>
              </a:tblGrid>
              <a:tr h="131368">
                <a:tc>
                  <a:txBody>
                    <a:bodyPr/>
                    <a:lstStyle/>
                    <a:p>
                      <a:pPr algn="ctr"/>
                      <a:r>
                        <a:rPr lang="en-US" sz="1100" b="1">
                          <a:solidFill>
                            <a:schemeClr val="tx1"/>
                          </a:solidFill>
                        </a:rPr>
                        <a:t>Business</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solidFill>
                  </a:tcPr>
                </a:tc>
                <a:tc>
                  <a:txBody>
                    <a:bodyPr/>
                    <a:lstStyle>
                      <a:lvl1pPr marL="0" algn="l" defTabSz="1218987" rtl="0" eaLnBrk="1" latinLnBrk="0" hangingPunct="1">
                        <a:defRPr sz="2400" b="1" kern="1200">
                          <a:solidFill>
                            <a:schemeClr val="lt1"/>
                          </a:solidFill>
                          <a:latin typeface="Arial"/>
                        </a:defRPr>
                      </a:lvl1pPr>
                      <a:lvl2pPr marL="609493" algn="l" defTabSz="1218987" rtl="0" eaLnBrk="1" latinLnBrk="0" hangingPunct="1">
                        <a:defRPr sz="2400" b="1" kern="1200">
                          <a:solidFill>
                            <a:schemeClr val="lt1"/>
                          </a:solidFill>
                          <a:latin typeface="Arial"/>
                        </a:defRPr>
                      </a:lvl2pPr>
                      <a:lvl3pPr marL="1218987" algn="l" defTabSz="1218987" rtl="0" eaLnBrk="1" latinLnBrk="0" hangingPunct="1">
                        <a:defRPr sz="2400" b="1" kern="1200">
                          <a:solidFill>
                            <a:schemeClr val="lt1"/>
                          </a:solidFill>
                          <a:latin typeface="Arial"/>
                        </a:defRPr>
                      </a:lvl3pPr>
                      <a:lvl4pPr marL="1828480" algn="l" defTabSz="1218987" rtl="0" eaLnBrk="1" latinLnBrk="0" hangingPunct="1">
                        <a:defRPr sz="2400" b="1" kern="1200">
                          <a:solidFill>
                            <a:schemeClr val="lt1"/>
                          </a:solidFill>
                          <a:latin typeface="Arial"/>
                        </a:defRPr>
                      </a:lvl4pPr>
                      <a:lvl5pPr marL="2437973" algn="l" defTabSz="1218987" rtl="0" eaLnBrk="1" latinLnBrk="0" hangingPunct="1">
                        <a:defRPr sz="2400" b="1" kern="1200">
                          <a:solidFill>
                            <a:schemeClr val="lt1"/>
                          </a:solidFill>
                          <a:latin typeface="Arial"/>
                        </a:defRPr>
                      </a:lvl5pPr>
                      <a:lvl6pPr marL="3047467" algn="l" defTabSz="1218987" rtl="0" eaLnBrk="1" latinLnBrk="0" hangingPunct="1">
                        <a:defRPr sz="2400" b="1" kern="1200">
                          <a:solidFill>
                            <a:schemeClr val="lt1"/>
                          </a:solidFill>
                          <a:latin typeface="Arial"/>
                        </a:defRPr>
                      </a:lvl6pPr>
                      <a:lvl7pPr marL="3656960" algn="l" defTabSz="1218987" rtl="0" eaLnBrk="1" latinLnBrk="0" hangingPunct="1">
                        <a:defRPr sz="2400" b="1" kern="1200">
                          <a:solidFill>
                            <a:schemeClr val="lt1"/>
                          </a:solidFill>
                          <a:latin typeface="Arial"/>
                        </a:defRPr>
                      </a:lvl7pPr>
                      <a:lvl8pPr marL="4266453" algn="l" defTabSz="1218987" rtl="0" eaLnBrk="1" latinLnBrk="0" hangingPunct="1">
                        <a:defRPr sz="2400" b="1" kern="1200">
                          <a:solidFill>
                            <a:schemeClr val="lt1"/>
                          </a:solidFill>
                          <a:latin typeface="Arial"/>
                        </a:defRPr>
                      </a:lvl8pPr>
                      <a:lvl9pPr marL="4875947" algn="l" defTabSz="1218987" rtl="0" eaLnBrk="1" latinLnBrk="0" hangingPunct="1">
                        <a:defRPr sz="2400" b="1" kern="1200">
                          <a:solidFill>
                            <a:schemeClr val="lt1"/>
                          </a:solidFill>
                          <a:latin typeface="Arial"/>
                        </a:defRPr>
                      </a:lvl9pPr>
                    </a:lstStyle>
                    <a:p>
                      <a:pPr algn="ctr"/>
                      <a:r>
                        <a:rPr lang="en-US" sz="1100" b="1">
                          <a:solidFill>
                            <a:schemeClr val="tx1"/>
                          </a:solidFill>
                        </a:rPr>
                        <a:t>Offering</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solidFill>
                  </a:tcPr>
                </a:tc>
                <a:tc>
                  <a:txBody>
                    <a:bodyPr/>
                    <a:lstStyle>
                      <a:lvl1pPr marL="0" algn="l" defTabSz="1218987" rtl="0" eaLnBrk="1" latinLnBrk="0" hangingPunct="1">
                        <a:defRPr sz="2400" b="1" kern="1200">
                          <a:solidFill>
                            <a:schemeClr val="lt1"/>
                          </a:solidFill>
                          <a:latin typeface="Arial"/>
                        </a:defRPr>
                      </a:lvl1pPr>
                      <a:lvl2pPr marL="609493" algn="l" defTabSz="1218987" rtl="0" eaLnBrk="1" latinLnBrk="0" hangingPunct="1">
                        <a:defRPr sz="2400" b="1" kern="1200">
                          <a:solidFill>
                            <a:schemeClr val="lt1"/>
                          </a:solidFill>
                          <a:latin typeface="Arial"/>
                        </a:defRPr>
                      </a:lvl2pPr>
                      <a:lvl3pPr marL="1218987" algn="l" defTabSz="1218987" rtl="0" eaLnBrk="1" latinLnBrk="0" hangingPunct="1">
                        <a:defRPr sz="2400" b="1" kern="1200">
                          <a:solidFill>
                            <a:schemeClr val="lt1"/>
                          </a:solidFill>
                          <a:latin typeface="Arial"/>
                        </a:defRPr>
                      </a:lvl3pPr>
                      <a:lvl4pPr marL="1828480" algn="l" defTabSz="1218987" rtl="0" eaLnBrk="1" latinLnBrk="0" hangingPunct="1">
                        <a:defRPr sz="2400" b="1" kern="1200">
                          <a:solidFill>
                            <a:schemeClr val="lt1"/>
                          </a:solidFill>
                          <a:latin typeface="Arial"/>
                        </a:defRPr>
                      </a:lvl4pPr>
                      <a:lvl5pPr marL="2437973" algn="l" defTabSz="1218987" rtl="0" eaLnBrk="1" latinLnBrk="0" hangingPunct="1">
                        <a:defRPr sz="2400" b="1" kern="1200">
                          <a:solidFill>
                            <a:schemeClr val="lt1"/>
                          </a:solidFill>
                          <a:latin typeface="Arial"/>
                        </a:defRPr>
                      </a:lvl5pPr>
                      <a:lvl6pPr marL="3047467" algn="l" defTabSz="1218987" rtl="0" eaLnBrk="1" latinLnBrk="0" hangingPunct="1">
                        <a:defRPr sz="2400" b="1" kern="1200">
                          <a:solidFill>
                            <a:schemeClr val="lt1"/>
                          </a:solidFill>
                          <a:latin typeface="Arial"/>
                        </a:defRPr>
                      </a:lvl6pPr>
                      <a:lvl7pPr marL="3656960" algn="l" defTabSz="1218987" rtl="0" eaLnBrk="1" latinLnBrk="0" hangingPunct="1">
                        <a:defRPr sz="2400" b="1" kern="1200">
                          <a:solidFill>
                            <a:schemeClr val="lt1"/>
                          </a:solidFill>
                          <a:latin typeface="Arial"/>
                        </a:defRPr>
                      </a:lvl7pPr>
                      <a:lvl8pPr marL="4266453" algn="l" defTabSz="1218987" rtl="0" eaLnBrk="1" latinLnBrk="0" hangingPunct="1">
                        <a:defRPr sz="2400" b="1" kern="1200">
                          <a:solidFill>
                            <a:schemeClr val="lt1"/>
                          </a:solidFill>
                          <a:latin typeface="Arial"/>
                        </a:defRPr>
                      </a:lvl8pPr>
                      <a:lvl9pPr marL="4875947" algn="l" defTabSz="1218987" rtl="0" eaLnBrk="1" latinLnBrk="0" hangingPunct="1">
                        <a:defRPr sz="2400" b="1" kern="1200">
                          <a:solidFill>
                            <a:schemeClr val="lt1"/>
                          </a:solidFill>
                          <a:latin typeface="Arial"/>
                        </a:defRPr>
                      </a:lvl9pPr>
                    </a:lstStyle>
                    <a:p>
                      <a:pPr algn="ctr"/>
                      <a:r>
                        <a:rPr lang="en-US" sz="1100" b="1">
                          <a:solidFill>
                            <a:schemeClr val="tx1"/>
                          </a:solidFill>
                        </a:rPr>
                        <a:t>Fulfillment</a:t>
                      </a:r>
                    </a:p>
                  </a:txBody>
                  <a:tcPr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C9D0F0"/>
                    </a:solidFill>
                  </a:tcPr>
                </a:tc>
                <a:tc>
                  <a:txBody>
                    <a:bodyPr/>
                    <a:lstStyle>
                      <a:lvl1pPr marL="0" algn="l" defTabSz="1218987" rtl="0" eaLnBrk="1" latinLnBrk="0" hangingPunct="1">
                        <a:defRPr sz="2400" b="1" kern="1200">
                          <a:solidFill>
                            <a:schemeClr val="lt1"/>
                          </a:solidFill>
                          <a:latin typeface="Arial"/>
                        </a:defRPr>
                      </a:lvl1pPr>
                      <a:lvl2pPr marL="609493" algn="l" defTabSz="1218987" rtl="0" eaLnBrk="1" latinLnBrk="0" hangingPunct="1">
                        <a:defRPr sz="2400" b="1" kern="1200">
                          <a:solidFill>
                            <a:schemeClr val="lt1"/>
                          </a:solidFill>
                          <a:latin typeface="Arial"/>
                        </a:defRPr>
                      </a:lvl2pPr>
                      <a:lvl3pPr marL="1218987" algn="l" defTabSz="1218987" rtl="0" eaLnBrk="1" latinLnBrk="0" hangingPunct="1">
                        <a:defRPr sz="2400" b="1" kern="1200">
                          <a:solidFill>
                            <a:schemeClr val="lt1"/>
                          </a:solidFill>
                          <a:latin typeface="Arial"/>
                        </a:defRPr>
                      </a:lvl3pPr>
                      <a:lvl4pPr marL="1828480" algn="l" defTabSz="1218987" rtl="0" eaLnBrk="1" latinLnBrk="0" hangingPunct="1">
                        <a:defRPr sz="2400" b="1" kern="1200">
                          <a:solidFill>
                            <a:schemeClr val="lt1"/>
                          </a:solidFill>
                          <a:latin typeface="Arial"/>
                        </a:defRPr>
                      </a:lvl4pPr>
                      <a:lvl5pPr marL="2437973" algn="l" defTabSz="1218987" rtl="0" eaLnBrk="1" latinLnBrk="0" hangingPunct="1">
                        <a:defRPr sz="2400" b="1" kern="1200">
                          <a:solidFill>
                            <a:schemeClr val="lt1"/>
                          </a:solidFill>
                          <a:latin typeface="Arial"/>
                        </a:defRPr>
                      </a:lvl5pPr>
                      <a:lvl6pPr marL="3047467" algn="l" defTabSz="1218987" rtl="0" eaLnBrk="1" latinLnBrk="0" hangingPunct="1">
                        <a:defRPr sz="2400" b="1" kern="1200">
                          <a:solidFill>
                            <a:schemeClr val="lt1"/>
                          </a:solidFill>
                          <a:latin typeface="Arial"/>
                        </a:defRPr>
                      </a:lvl6pPr>
                      <a:lvl7pPr marL="3656960" algn="l" defTabSz="1218987" rtl="0" eaLnBrk="1" latinLnBrk="0" hangingPunct="1">
                        <a:defRPr sz="2400" b="1" kern="1200">
                          <a:solidFill>
                            <a:schemeClr val="lt1"/>
                          </a:solidFill>
                          <a:latin typeface="Arial"/>
                        </a:defRPr>
                      </a:lvl7pPr>
                      <a:lvl8pPr marL="4266453" algn="l" defTabSz="1218987" rtl="0" eaLnBrk="1" latinLnBrk="0" hangingPunct="1">
                        <a:defRPr sz="2400" b="1" kern="1200">
                          <a:solidFill>
                            <a:schemeClr val="lt1"/>
                          </a:solidFill>
                          <a:latin typeface="Arial"/>
                        </a:defRPr>
                      </a:lvl8pPr>
                      <a:lvl9pPr marL="4875947" algn="l" defTabSz="1218987" rtl="0" eaLnBrk="1" latinLnBrk="0" hangingPunct="1">
                        <a:defRPr sz="2400" b="1" kern="1200">
                          <a:solidFill>
                            <a:schemeClr val="lt1"/>
                          </a:solidFill>
                          <a:latin typeface="Arial"/>
                        </a:defRPr>
                      </a:lvl9pPr>
                    </a:lstStyle>
                    <a:p>
                      <a:pPr algn="ctr"/>
                      <a:r>
                        <a:rPr lang="en-US" sz="1100" b="1">
                          <a:solidFill>
                            <a:schemeClr val="tx1"/>
                          </a:solidFill>
                        </a:rPr>
                        <a:t>Fund Type</a:t>
                      </a:r>
                    </a:p>
                  </a:txBody>
                  <a:tcPr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C9D0F0"/>
                    </a:solidFill>
                  </a:tcPr>
                </a:tc>
                <a:tc>
                  <a:txBody>
                    <a:bodyPr/>
                    <a:lstStyle>
                      <a:lvl1pPr marL="0" algn="l" defTabSz="1218987" rtl="0" eaLnBrk="1" latinLnBrk="0" hangingPunct="1">
                        <a:defRPr sz="2400" b="1" kern="1200">
                          <a:solidFill>
                            <a:schemeClr val="lt1"/>
                          </a:solidFill>
                          <a:latin typeface="Arial"/>
                        </a:defRPr>
                      </a:lvl1pPr>
                      <a:lvl2pPr marL="609493" algn="l" defTabSz="1218987" rtl="0" eaLnBrk="1" latinLnBrk="0" hangingPunct="1">
                        <a:defRPr sz="2400" b="1" kern="1200">
                          <a:solidFill>
                            <a:schemeClr val="lt1"/>
                          </a:solidFill>
                          <a:latin typeface="Arial"/>
                        </a:defRPr>
                      </a:lvl2pPr>
                      <a:lvl3pPr marL="1218987" algn="l" defTabSz="1218987" rtl="0" eaLnBrk="1" latinLnBrk="0" hangingPunct="1">
                        <a:defRPr sz="2400" b="1" kern="1200">
                          <a:solidFill>
                            <a:schemeClr val="lt1"/>
                          </a:solidFill>
                          <a:latin typeface="Arial"/>
                        </a:defRPr>
                      </a:lvl3pPr>
                      <a:lvl4pPr marL="1828480" algn="l" defTabSz="1218987" rtl="0" eaLnBrk="1" latinLnBrk="0" hangingPunct="1">
                        <a:defRPr sz="2400" b="1" kern="1200">
                          <a:solidFill>
                            <a:schemeClr val="lt1"/>
                          </a:solidFill>
                          <a:latin typeface="Arial"/>
                        </a:defRPr>
                      </a:lvl4pPr>
                      <a:lvl5pPr marL="2437973" algn="l" defTabSz="1218987" rtl="0" eaLnBrk="1" latinLnBrk="0" hangingPunct="1">
                        <a:defRPr sz="2400" b="1" kern="1200">
                          <a:solidFill>
                            <a:schemeClr val="lt1"/>
                          </a:solidFill>
                          <a:latin typeface="Arial"/>
                        </a:defRPr>
                      </a:lvl5pPr>
                      <a:lvl6pPr marL="3047467" algn="l" defTabSz="1218987" rtl="0" eaLnBrk="1" latinLnBrk="0" hangingPunct="1">
                        <a:defRPr sz="2400" b="1" kern="1200">
                          <a:solidFill>
                            <a:schemeClr val="lt1"/>
                          </a:solidFill>
                          <a:latin typeface="Arial"/>
                        </a:defRPr>
                      </a:lvl6pPr>
                      <a:lvl7pPr marL="3656960" algn="l" defTabSz="1218987" rtl="0" eaLnBrk="1" latinLnBrk="0" hangingPunct="1">
                        <a:defRPr sz="2400" b="1" kern="1200">
                          <a:solidFill>
                            <a:schemeClr val="lt1"/>
                          </a:solidFill>
                          <a:latin typeface="Arial"/>
                        </a:defRPr>
                      </a:lvl7pPr>
                      <a:lvl8pPr marL="4266453" algn="l" defTabSz="1218987" rtl="0" eaLnBrk="1" latinLnBrk="0" hangingPunct="1">
                        <a:defRPr sz="2400" b="1" kern="1200">
                          <a:solidFill>
                            <a:schemeClr val="lt1"/>
                          </a:solidFill>
                          <a:latin typeface="Arial"/>
                        </a:defRPr>
                      </a:lvl8pPr>
                      <a:lvl9pPr marL="4875947" algn="l" defTabSz="1218987" rtl="0" eaLnBrk="1" latinLnBrk="0" hangingPunct="1">
                        <a:defRPr sz="2400" b="1" kern="1200">
                          <a:solidFill>
                            <a:schemeClr val="lt1"/>
                          </a:solidFill>
                          <a:latin typeface="Arial"/>
                        </a:defRPr>
                      </a:lvl9pPr>
                    </a:lstStyle>
                    <a:p>
                      <a:r>
                        <a:rPr lang="en-US" sz="1100" b="1">
                          <a:solidFill>
                            <a:schemeClr val="tx1"/>
                          </a:solidFill>
                        </a:rPr>
                        <a:t>Capitalization</a:t>
                      </a:r>
                    </a:p>
                    <a:p>
                      <a:r>
                        <a:rPr lang="en-US" sz="1100" b="1">
                          <a:solidFill>
                            <a:schemeClr val="tx1"/>
                          </a:solidFill>
                        </a:rPr>
                        <a:t>(OL)</a:t>
                      </a:r>
                    </a:p>
                  </a:txBody>
                  <a:tcPr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C9D0F0"/>
                    </a:solidFill>
                  </a:tcPr>
                </a:tc>
                <a:tc>
                  <a:txBody>
                    <a:bodyPr/>
                    <a:lstStyle>
                      <a:lvl1pPr marL="0" algn="l" defTabSz="1218987" rtl="0" eaLnBrk="1" latinLnBrk="0" hangingPunct="1">
                        <a:defRPr sz="2400" b="1" kern="1200">
                          <a:solidFill>
                            <a:schemeClr val="lt1"/>
                          </a:solidFill>
                          <a:latin typeface="Arial"/>
                        </a:defRPr>
                      </a:lvl1pPr>
                      <a:lvl2pPr marL="609493" algn="l" defTabSz="1218987" rtl="0" eaLnBrk="1" latinLnBrk="0" hangingPunct="1">
                        <a:defRPr sz="2400" b="1" kern="1200">
                          <a:solidFill>
                            <a:schemeClr val="lt1"/>
                          </a:solidFill>
                          <a:latin typeface="Arial"/>
                        </a:defRPr>
                      </a:lvl2pPr>
                      <a:lvl3pPr marL="1218987" algn="l" defTabSz="1218987" rtl="0" eaLnBrk="1" latinLnBrk="0" hangingPunct="1">
                        <a:defRPr sz="2400" b="1" kern="1200">
                          <a:solidFill>
                            <a:schemeClr val="lt1"/>
                          </a:solidFill>
                          <a:latin typeface="Arial"/>
                        </a:defRPr>
                      </a:lvl3pPr>
                      <a:lvl4pPr marL="1828480" algn="l" defTabSz="1218987" rtl="0" eaLnBrk="1" latinLnBrk="0" hangingPunct="1">
                        <a:defRPr sz="2400" b="1" kern="1200">
                          <a:solidFill>
                            <a:schemeClr val="lt1"/>
                          </a:solidFill>
                          <a:latin typeface="Arial"/>
                        </a:defRPr>
                      </a:lvl4pPr>
                      <a:lvl5pPr marL="2437973" algn="l" defTabSz="1218987" rtl="0" eaLnBrk="1" latinLnBrk="0" hangingPunct="1">
                        <a:defRPr sz="2400" b="1" kern="1200">
                          <a:solidFill>
                            <a:schemeClr val="lt1"/>
                          </a:solidFill>
                          <a:latin typeface="Arial"/>
                        </a:defRPr>
                      </a:lvl5pPr>
                      <a:lvl6pPr marL="3047467" algn="l" defTabSz="1218987" rtl="0" eaLnBrk="1" latinLnBrk="0" hangingPunct="1">
                        <a:defRPr sz="2400" b="1" kern="1200">
                          <a:solidFill>
                            <a:schemeClr val="lt1"/>
                          </a:solidFill>
                          <a:latin typeface="Arial"/>
                        </a:defRPr>
                      </a:lvl6pPr>
                      <a:lvl7pPr marL="3656960" algn="l" defTabSz="1218987" rtl="0" eaLnBrk="1" latinLnBrk="0" hangingPunct="1">
                        <a:defRPr sz="2400" b="1" kern="1200">
                          <a:solidFill>
                            <a:schemeClr val="lt1"/>
                          </a:solidFill>
                          <a:latin typeface="Arial"/>
                        </a:defRPr>
                      </a:lvl7pPr>
                      <a:lvl8pPr marL="4266453" algn="l" defTabSz="1218987" rtl="0" eaLnBrk="1" latinLnBrk="0" hangingPunct="1">
                        <a:defRPr sz="2400" b="1" kern="1200">
                          <a:solidFill>
                            <a:schemeClr val="lt1"/>
                          </a:solidFill>
                          <a:latin typeface="Arial"/>
                        </a:defRPr>
                      </a:lvl8pPr>
                      <a:lvl9pPr marL="4875947" algn="l" defTabSz="1218987" rtl="0" eaLnBrk="1" latinLnBrk="0" hangingPunct="1">
                        <a:defRPr sz="2400" b="1" kern="1200">
                          <a:solidFill>
                            <a:schemeClr val="lt1"/>
                          </a:solidFill>
                          <a:latin typeface="Arial"/>
                        </a:defRPr>
                      </a:lvl9pPr>
                    </a:lstStyle>
                    <a:p>
                      <a:r>
                        <a:rPr lang="en-US" sz="1100" b="1">
                          <a:solidFill>
                            <a:schemeClr val="tx1"/>
                          </a:solidFill>
                        </a:rPr>
                        <a:t>Customer</a:t>
                      </a:r>
                    </a:p>
                    <a:p>
                      <a:r>
                        <a:rPr lang="en-US" sz="1100" b="1">
                          <a:solidFill>
                            <a:schemeClr val="tx1"/>
                          </a:solidFill>
                        </a:rPr>
                        <a:t>Payment</a:t>
                      </a:r>
                    </a:p>
                  </a:txBody>
                  <a:tcPr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C9D0F0"/>
                    </a:solidFill>
                  </a:tcPr>
                </a:tc>
                <a:extLst>
                  <a:ext uri="{0D108BD9-81ED-4DB2-BD59-A6C34878D82A}">
                    <a16:rowId xmlns:a16="http://schemas.microsoft.com/office/drawing/2014/main" val="1481521383"/>
                  </a:ext>
                </a:extLst>
              </a:tr>
              <a:tr h="0">
                <a:tc rowSpan="8">
                  <a:txBody>
                    <a:bodyPr/>
                    <a:lstStyle/>
                    <a:p>
                      <a:pPr algn="ctr"/>
                      <a:r>
                        <a:rPr lang="en-US" sz="1100"/>
                        <a:t>DaaS</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381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rowSpan="7">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ctr"/>
                      <a:r>
                        <a:rPr lang="en-US" sz="1100"/>
                        <a:t>Service</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Upfront in Plant</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Funded</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Yes</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Monthly</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3998799641"/>
                  </a:ext>
                </a:extLst>
              </a:tr>
              <a:tr h="0">
                <a:tc vMerge="1">
                  <a:txBody>
                    <a:bodyPr/>
                    <a:lstStyle/>
                    <a:p>
                      <a:endParaRPr lang="en-US"/>
                    </a:p>
                  </a:txBody>
                  <a:tcPr/>
                </a:tc>
                <a:tc vMerge="1">
                  <a:txBody>
                    <a:bodyPr/>
                    <a:lstStyle/>
                    <a:p>
                      <a:pPr algn="ctr"/>
                      <a:endParaRPr lang="en-US"/>
                    </a:p>
                  </a:txBody>
                  <a:tcPr anchor="ct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Upfront after Plant</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Funded</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No</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Monthly</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3040260327"/>
                  </a:ext>
                </a:extLst>
              </a:tr>
              <a:tr h="0">
                <a:tc vMerge="1">
                  <a:txBody>
                    <a:bodyPr/>
                    <a:lstStyle/>
                    <a:p>
                      <a:endParaRPr lang="en-US"/>
                    </a:p>
                  </a:txBody>
                  <a:tcPr/>
                </a:tc>
                <a:tc vMerge="1">
                  <a:txBody>
                    <a:bodyPr/>
                    <a:lstStyle/>
                    <a:p>
                      <a:endParaRPr lang="en-US"/>
                    </a:p>
                  </a:txBody>
                  <a:tcP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solidFill>
                            <a:schemeClr val="tx1"/>
                          </a:solidFill>
                        </a:rPr>
                        <a:t>On-going</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solidFill>
                            <a:schemeClr val="tx1"/>
                          </a:solidFill>
                        </a:rPr>
                        <a:t>Funded*</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40000"/>
                      </a:srgbClr>
                    </a:solidFill>
                  </a:tcP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No</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40000"/>
                      </a:srgbClr>
                    </a:solidFill>
                  </a:tcP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Monthly</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52118078"/>
                  </a:ext>
                </a:extLst>
              </a:tr>
              <a:tr h="0">
                <a:tc vMerge="1">
                  <a:txBody>
                    <a:bodyPr/>
                    <a:lstStyle/>
                    <a:p>
                      <a:endParaRPr lang="en-US"/>
                    </a:p>
                  </a:txBody>
                  <a:tcPr/>
                </a:tc>
                <a:tc vMerge="1">
                  <a:txBody>
                    <a:bodyPr/>
                    <a:lstStyle/>
                    <a:p>
                      <a:endParaRPr lang="en-US"/>
                    </a:p>
                  </a:txBody>
                  <a:tcPr anchor="ctr"/>
                </a:tc>
                <a:tc vMerge="1">
                  <a:txBody>
                    <a:bodyPr/>
                    <a:lstStyle/>
                    <a:p>
                      <a:endParaRPr lang="en-US"/>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Non-Funded</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40000"/>
                      </a:srgbClr>
                    </a:solidFill>
                  </a:tcPr>
                </a:tc>
                <a:tc vMerge="1">
                  <a:txBody>
                    <a:bodyPr/>
                    <a:lstStyle/>
                    <a:p>
                      <a:endParaRPr lang="en-US"/>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vMerge="1">
                  <a:txBody>
                    <a:bodyPr/>
                    <a:lstStyle/>
                    <a:p>
                      <a:endParaRPr lang="en-US"/>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3219277235"/>
                  </a:ext>
                </a:extLst>
              </a:tr>
              <a:tr h="0">
                <a:tc vMerge="1">
                  <a:txBody>
                    <a:bodyPr/>
                    <a:lstStyle/>
                    <a:p>
                      <a:endParaRPr lang="en-US"/>
                    </a:p>
                  </a:txBody>
                  <a:tcPr/>
                </a:tc>
                <a:tc vMerge="1">
                  <a:txBody>
                    <a:bodyPr/>
                    <a:lstStyle/>
                    <a:p>
                      <a:endParaRPr lang="en-US"/>
                    </a:p>
                  </a:txBody>
                  <a:tcPr/>
                </a:tc>
                <a:tc>
                  <a:txBody>
                    <a:bodyPr/>
                    <a:lstStyle/>
                    <a:p>
                      <a:pPr algn="l"/>
                      <a:r>
                        <a:rPr lang="en-US" sz="1100"/>
                        <a:t>End of Lease</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Non-funded</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No</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Monthly</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3676542006"/>
                  </a:ext>
                </a:extLst>
              </a:tr>
              <a:tr h="0">
                <a:tc vMerge="1">
                  <a:txBody>
                    <a:bodyPr/>
                    <a:lstStyle/>
                    <a:p>
                      <a:endParaRPr lang="en-US"/>
                    </a:p>
                  </a:txBody>
                  <a:tcPr/>
                </a:tc>
                <a:tc vMerge="1">
                  <a:txBody>
                    <a:bodyPr/>
                    <a:lstStyle/>
                    <a:p>
                      <a:endParaRPr lang="en-US"/>
                    </a:p>
                  </a:txBody>
                  <a:tcPr/>
                </a:tc>
                <a:tc>
                  <a:txBody>
                    <a:bodyPr/>
                    <a:lstStyle/>
                    <a:p>
                      <a:pPr algn="l"/>
                      <a:r>
                        <a:rPr lang="en-US" sz="1100"/>
                        <a:t>Swap Stock (New)</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Non-funded</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No</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Monthly</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1838016985"/>
                  </a:ext>
                </a:extLst>
              </a:tr>
              <a:tr h="0">
                <a:tc vMerge="1">
                  <a:txBody>
                    <a:bodyPr/>
                    <a:lstStyle/>
                    <a:p>
                      <a:endParaRPr lang="en-US"/>
                    </a:p>
                  </a:txBody>
                  <a:tcPr/>
                </a:tc>
                <a:tc vMerge="1">
                  <a:txBody>
                    <a:bodyPr/>
                    <a:lstStyle/>
                    <a:p>
                      <a:endParaRPr lang="en-US"/>
                    </a:p>
                  </a:txBody>
                  <a:tcPr anchor="ct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Damage Fund (New)</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Non-funded</a:t>
                      </a:r>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No</a:t>
                      </a:r>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Monthly</a:t>
                      </a:r>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3345317155"/>
                  </a:ext>
                </a:extLst>
              </a:tr>
              <a:tr h="0">
                <a:tc vMerge="1">
                  <a:txBody>
                    <a:bodyPr/>
                    <a:lstStyle/>
                    <a:p>
                      <a:pPr algn="ctr"/>
                      <a:endParaRPr lang="en-US" sz="1800"/>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grid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ctr"/>
                      <a:r>
                        <a:rPr lang="en-US" sz="1100"/>
                        <a:t>HW</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hMerge="1">
                  <a:txBody>
                    <a:bodyPr/>
                    <a:lstStyle/>
                    <a:p>
                      <a:endParaRPr lang="en-US"/>
                    </a:p>
                  </a:txBody>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Funded</a:t>
                      </a:r>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Yes</a:t>
                      </a:r>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Monthly</a:t>
                      </a:r>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1364640999"/>
                  </a:ext>
                </a:extLst>
              </a:tr>
            </a:tbl>
          </a:graphicData>
        </a:graphic>
      </p:graphicFrame>
      <p:graphicFrame>
        <p:nvGraphicFramePr>
          <p:cNvPr id="5" name="Table 4">
            <a:extLst>
              <a:ext uri="{FF2B5EF4-FFF2-40B4-BE49-F238E27FC236}">
                <a16:creationId xmlns:a16="http://schemas.microsoft.com/office/drawing/2014/main" id="{A8A87D9E-A013-43AC-8A3A-9CCF86BF42D3}"/>
              </a:ext>
            </a:extLst>
          </p:cNvPr>
          <p:cNvGraphicFramePr>
            <a:graphicFrameLocks noGrp="1"/>
          </p:cNvGraphicFramePr>
          <p:nvPr>
            <p:extLst>
              <p:ext uri="{D42A27DB-BD31-4B8C-83A1-F6EECF244321}">
                <p14:modId xmlns:p14="http://schemas.microsoft.com/office/powerpoint/2010/main" val="929806088"/>
              </p:ext>
            </p:extLst>
          </p:nvPr>
        </p:nvGraphicFramePr>
        <p:xfrm>
          <a:off x="272337" y="3144554"/>
          <a:ext cx="11076262" cy="1813560"/>
        </p:xfrm>
        <a:graphic>
          <a:graphicData uri="http://schemas.openxmlformats.org/drawingml/2006/table">
            <a:tbl>
              <a:tblPr firstRow="1" bandRow="1"/>
              <a:tblGrid>
                <a:gridCol w="2085473">
                  <a:extLst>
                    <a:ext uri="{9D8B030D-6E8A-4147-A177-3AD203B41FA5}">
                      <a16:colId xmlns:a16="http://schemas.microsoft.com/office/drawing/2014/main" val="312864182"/>
                    </a:ext>
                  </a:extLst>
                </a:gridCol>
                <a:gridCol w="1401858">
                  <a:extLst>
                    <a:ext uri="{9D8B030D-6E8A-4147-A177-3AD203B41FA5}">
                      <a16:colId xmlns:a16="http://schemas.microsoft.com/office/drawing/2014/main" val="4078935164"/>
                    </a:ext>
                  </a:extLst>
                </a:gridCol>
                <a:gridCol w="2050799">
                  <a:extLst>
                    <a:ext uri="{9D8B030D-6E8A-4147-A177-3AD203B41FA5}">
                      <a16:colId xmlns:a16="http://schemas.microsoft.com/office/drawing/2014/main" val="2213778295"/>
                    </a:ext>
                  </a:extLst>
                </a:gridCol>
                <a:gridCol w="1846043">
                  <a:extLst>
                    <a:ext uri="{9D8B030D-6E8A-4147-A177-3AD203B41FA5}">
                      <a16:colId xmlns:a16="http://schemas.microsoft.com/office/drawing/2014/main" val="2464811790"/>
                    </a:ext>
                  </a:extLst>
                </a:gridCol>
                <a:gridCol w="1956404">
                  <a:extLst>
                    <a:ext uri="{9D8B030D-6E8A-4147-A177-3AD203B41FA5}">
                      <a16:colId xmlns:a16="http://schemas.microsoft.com/office/drawing/2014/main" val="2896016212"/>
                    </a:ext>
                  </a:extLst>
                </a:gridCol>
                <a:gridCol w="1735685">
                  <a:extLst>
                    <a:ext uri="{9D8B030D-6E8A-4147-A177-3AD203B41FA5}">
                      <a16:colId xmlns:a16="http://schemas.microsoft.com/office/drawing/2014/main" val="1191872768"/>
                    </a:ext>
                  </a:extLst>
                </a:gridCol>
              </a:tblGrid>
              <a:tr h="183693">
                <a:tc rowSpan="7">
                  <a:txBody>
                    <a:bodyPr/>
                    <a:lstStyle/>
                    <a:p>
                      <a:pPr lvl="0" algn="ctr">
                        <a:buNone/>
                      </a:pPr>
                      <a:r>
                        <a:rPr lang="en-US" altLang="zh-CN" sz="1100"/>
                        <a:t>IAAS</a:t>
                      </a:r>
                      <a:endParaRPr lang="en-US" sz="1100"/>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rowSpan="6">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ctr"/>
                      <a:r>
                        <a:rPr lang="en-US" sz="1100"/>
                        <a:t>Service</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Upfront in Plant</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Funded</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Yes</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Monthly</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3197837518"/>
                  </a:ext>
                </a:extLst>
              </a:tr>
              <a:tr h="183693">
                <a:tc vMerge="1">
                  <a:txBody>
                    <a:bodyPr/>
                    <a:lstStyle/>
                    <a:p>
                      <a:endParaRPr lang="en-US"/>
                    </a:p>
                  </a:txBody>
                  <a:tcPr/>
                </a:tc>
                <a:tc vMerge="1">
                  <a:txBody>
                    <a:bodyPr/>
                    <a:lstStyle/>
                    <a:p>
                      <a:pPr algn="ctr"/>
                      <a:endParaRPr lang="en-US"/>
                    </a:p>
                  </a:txBody>
                  <a:tcPr anchor="ct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solidFill>
                            <a:schemeClr val="tx1"/>
                          </a:solidFill>
                        </a:rPr>
                        <a:t>Upfront after Plant</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solidFill>
                            <a:schemeClr val="tx1"/>
                          </a:solidFill>
                        </a:rPr>
                        <a:t>Funded</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No</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Monthly</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2843549607"/>
                  </a:ext>
                </a:extLst>
              </a:tr>
              <a:tr h="183693">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Non-Funded</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No</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Upfront</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2632294032"/>
                  </a:ext>
                </a:extLst>
              </a:tr>
              <a:tr h="183693">
                <a:tc vMerge="1">
                  <a:txBody>
                    <a:bodyPr/>
                    <a:lstStyle/>
                    <a:p>
                      <a:endParaRPr lang="en-US"/>
                    </a:p>
                  </a:txBody>
                  <a:tcPr/>
                </a:tc>
                <a:tc vMerge="1">
                  <a:txBody>
                    <a:bodyPr/>
                    <a:lstStyle/>
                    <a:p>
                      <a:endParaRPr lang="en-US"/>
                    </a:p>
                  </a:txBody>
                  <a:tcPr anchor="ct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solidFill>
                            <a:schemeClr val="tx1"/>
                          </a:solidFill>
                        </a:rPr>
                        <a:t>On-going</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solidFill>
                            <a:schemeClr val="tx1"/>
                          </a:solidFill>
                        </a:rPr>
                        <a:t>Funded</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40000"/>
                      </a:srgbClr>
                    </a:solidFill>
                  </a:tcP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solidFill>
                            <a:schemeClr val="tx1"/>
                          </a:solidFill>
                        </a:rPr>
                        <a:t>No</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Monthly</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1431238766"/>
                  </a:ext>
                </a:extLst>
              </a:tr>
              <a:tr h="183693">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Non-Funded</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3335251032"/>
                  </a:ext>
                </a:extLst>
              </a:tr>
              <a:tr h="183693">
                <a:tc vMerge="1">
                  <a:txBody>
                    <a:bodyPr/>
                    <a:lstStyle/>
                    <a:p>
                      <a:endParaRPr lang="en-US"/>
                    </a:p>
                  </a:txBody>
                  <a:tcPr/>
                </a:tc>
                <a:tc vMerge="1">
                  <a:txBody>
                    <a:bodyPr/>
                    <a:lstStyle/>
                    <a:p>
                      <a:endParaRPr lang="en-US"/>
                    </a:p>
                  </a:txBody>
                  <a:tcPr anchor="ct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End of Lease</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N/A</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N/A</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N/A</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2626412701"/>
                  </a:ext>
                </a:extLst>
              </a:tr>
              <a:tr h="0">
                <a:tc vMerge="1">
                  <a:txBody>
                    <a:bodyPr/>
                    <a:lstStyle/>
                    <a:p>
                      <a:pPr algn="ctr"/>
                      <a:endParaRPr lang="en-US" sz="1800"/>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grid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ctr"/>
                      <a:r>
                        <a:rPr lang="en-US" sz="1100"/>
                        <a:t>HW</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hMerge="1">
                  <a:txBody>
                    <a:bodyPr/>
                    <a:lstStyle/>
                    <a:p>
                      <a:endParaRPr lang="en-US"/>
                    </a:p>
                  </a:txBody>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Funded</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Yes</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Monthly</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1188369122"/>
                  </a:ext>
                </a:extLst>
              </a:tr>
            </a:tbl>
          </a:graphicData>
        </a:graphic>
      </p:graphicFrame>
      <p:graphicFrame>
        <p:nvGraphicFramePr>
          <p:cNvPr id="3" name="Table 2">
            <a:extLst>
              <a:ext uri="{FF2B5EF4-FFF2-40B4-BE49-F238E27FC236}">
                <a16:creationId xmlns:a16="http://schemas.microsoft.com/office/drawing/2014/main" id="{C00636E4-41E3-A4D7-5988-498183D76DDE}"/>
              </a:ext>
            </a:extLst>
          </p:cNvPr>
          <p:cNvGraphicFramePr>
            <a:graphicFrameLocks noGrp="1"/>
          </p:cNvGraphicFramePr>
          <p:nvPr>
            <p:extLst>
              <p:ext uri="{D42A27DB-BD31-4B8C-83A1-F6EECF244321}">
                <p14:modId xmlns:p14="http://schemas.microsoft.com/office/powerpoint/2010/main" val="3596107406"/>
              </p:ext>
            </p:extLst>
          </p:nvPr>
        </p:nvGraphicFramePr>
        <p:xfrm>
          <a:off x="272337" y="4958114"/>
          <a:ext cx="11076262" cy="1813560"/>
        </p:xfrm>
        <a:graphic>
          <a:graphicData uri="http://schemas.openxmlformats.org/drawingml/2006/table">
            <a:tbl>
              <a:tblPr firstRow="1" bandRow="1"/>
              <a:tblGrid>
                <a:gridCol w="2085473">
                  <a:extLst>
                    <a:ext uri="{9D8B030D-6E8A-4147-A177-3AD203B41FA5}">
                      <a16:colId xmlns:a16="http://schemas.microsoft.com/office/drawing/2014/main" val="312864182"/>
                    </a:ext>
                  </a:extLst>
                </a:gridCol>
                <a:gridCol w="1401858">
                  <a:extLst>
                    <a:ext uri="{9D8B030D-6E8A-4147-A177-3AD203B41FA5}">
                      <a16:colId xmlns:a16="http://schemas.microsoft.com/office/drawing/2014/main" val="4078935164"/>
                    </a:ext>
                  </a:extLst>
                </a:gridCol>
                <a:gridCol w="2050799">
                  <a:extLst>
                    <a:ext uri="{9D8B030D-6E8A-4147-A177-3AD203B41FA5}">
                      <a16:colId xmlns:a16="http://schemas.microsoft.com/office/drawing/2014/main" val="2213778295"/>
                    </a:ext>
                  </a:extLst>
                </a:gridCol>
                <a:gridCol w="1846043">
                  <a:extLst>
                    <a:ext uri="{9D8B030D-6E8A-4147-A177-3AD203B41FA5}">
                      <a16:colId xmlns:a16="http://schemas.microsoft.com/office/drawing/2014/main" val="2464811790"/>
                    </a:ext>
                  </a:extLst>
                </a:gridCol>
                <a:gridCol w="1956404">
                  <a:extLst>
                    <a:ext uri="{9D8B030D-6E8A-4147-A177-3AD203B41FA5}">
                      <a16:colId xmlns:a16="http://schemas.microsoft.com/office/drawing/2014/main" val="2896016212"/>
                    </a:ext>
                  </a:extLst>
                </a:gridCol>
                <a:gridCol w="1735685">
                  <a:extLst>
                    <a:ext uri="{9D8B030D-6E8A-4147-A177-3AD203B41FA5}">
                      <a16:colId xmlns:a16="http://schemas.microsoft.com/office/drawing/2014/main" val="1191872768"/>
                    </a:ext>
                  </a:extLst>
                </a:gridCol>
              </a:tblGrid>
              <a:tr h="183693">
                <a:tc rowSpan="7">
                  <a:txBody>
                    <a:bodyPr/>
                    <a:lstStyle/>
                    <a:p>
                      <a:pPr lvl="0" algn="ctr">
                        <a:buNone/>
                      </a:pPr>
                      <a:r>
                        <a:rPr lang="en-US" altLang="zh-CN" sz="1100"/>
                        <a:t>ISGLEASE</a:t>
                      </a:r>
                      <a:endParaRPr lang="en-US" sz="1100"/>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rowSpan="6">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ctr"/>
                      <a:r>
                        <a:rPr lang="en-US" sz="1100"/>
                        <a:t>Service</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Upfront in Plant</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Funded</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Yes</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Monthly</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3197837518"/>
                  </a:ext>
                </a:extLst>
              </a:tr>
              <a:tr h="183693">
                <a:tc vMerge="1">
                  <a:txBody>
                    <a:bodyPr/>
                    <a:lstStyle/>
                    <a:p>
                      <a:endParaRPr lang="en-US"/>
                    </a:p>
                  </a:txBody>
                  <a:tcPr/>
                </a:tc>
                <a:tc vMerge="1">
                  <a:txBody>
                    <a:bodyPr/>
                    <a:lstStyle/>
                    <a:p>
                      <a:pPr algn="ctr"/>
                      <a:endParaRPr lang="en-US"/>
                    </a:p>
                  </a:txBody>
                  <a:tcPr anchor="ct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solidFill>
                            <a:schemeClr val="tx1"/>
                          </a:solidFill>
                        </a:rPr>
                        <a:t>Upfront after Plant</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solidFill>
                            <a:schemeClr val="tx1"/>
                          </a:solidFill>
                        </a:rPr>
                        <a:t>Funded</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No</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Monthly</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2843549607"/>
                  </a:ext>
                </a:extLst>
              </a:tr>
              <a:tr h="183693">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Non-Funded</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No</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Upfront</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2632294032"/>
                  </a:ext>
                </a:extLst>
              </a:tr>
              <a:tr h="183693">
                <a:tc vMerge="1">
                  <a:txBody>
                    <a:bodyPr/>
                    <a:lstStyle/>
                    <a:p>
                      <a:endParaRPr lang="en-US"/>
                    </a:p>
                  </a:txBody>
                  <a:tcPr/>
                </a:tc>
                <a:tc vMerge="1">
                  <a:txBody>
                    <a:bodyPr/>
                    <a:lstStyle/>
                    <a:p>
                      <a:endParaRPr lang="en-US"/>
                    </a:p>
                  </a:txBody>
                  <a:tcPr anchor="ct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solidFill>
                            <a:schemeClr val="tx1"/>
                          </a:solidFill>
                        </a:rPr>
                        <a:t>On-going</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solidFill>
                            <a:schemeClr val="tx1"/>
                          </a:solidFill>
                        </a:rPr>
                        <a:t>Funded</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0F0">
                        <a:tint val="40000"/>
                      </a:srgbClr>
                    </a:solidFill>
                  </a:tcP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solidFill>
                            <a:schemeClr val="tx1"/>
                          </a:solidFill>
                        </a:rPr>
                        <a:t>No</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row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Monthly</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1431238766"/>
                  </a:ext>
                </a:extLst>
              </a:tr>
              <a:tr h="183693">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solidFill>
                            <a:schemeClr val="tx1"/>
                          </a:solidFill>
                        </a:rPr>
                        <a:t>Non-Funded</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3335251032"/>
                  </a:ext>
                </a:extLst>
              </a:tr>
              <a:tr h="183693">
                <a:tc vMerge="1">
                  <a:txBody>
                    <a:bodyPr/>
                    <a:lstStyle/>
                    <a:p>
                      <a:endParaRPr lang="en-US"/>
                    </a:p>
                  </a:txBody>
                  <a:tcPr/>
                </a:tc>
                <a:tc vMerge="1">
                  <a:txBody>
                    <a:bodyPr/>
                    <a:lstStyle/>
                    <a:p>
                      <a:endParaRPr lang="en-US"/>
                    </a:p>
                  </a:txBody>
                  <a:tcPr anchor="ct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End of Lease</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N/A</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N/A</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sz="1100"/>
                        <a:t>N/A</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20000"/>
                      </a:srgbClr>
                    </a:solidFill>
                  </a:tcPr>
                </a:tc>
                <a:extLst>
                  <a:ext uri="{0D108BD9-81ED-4DB2-BD59-A6C34878D82A}">
                    <a16:rowId xmlns:a16="http://schemas.microsoft.com/office/drawing/2014/main" val="2626412701"/>
                  </a:ext>
                </a:extLst>
              </a:tr>
              <a:tr h="0">
                <a:tc vMerge="1">
                  <a:txBody>
                    <a:bodyPr/>
                    <a:lstStyle/>
                    <a:p>
                      <a:pPr algn="ctr"/>
                      <a:endParaRPr lang="en-US" sz="1800"/>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gridSpan="2">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ctr"/>
                      <a:r>
                        <a:rPr lang="en-US" sz="1100"/>
                        <a:t>HW</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hMerge="1">
                  <a:txBody>
                    <a:bodyPr/>
                    <a:lstStyle/>
                    <a:p>
                      <a:endParaRPr lang="en-US"/>
                    </a:p>
                  </a:txBody>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Funded</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r>
                        <a:rPr lang="en-US" sz="1100"/>
                        <a:t>Yes</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tc>
                  <a:txBody>
                    <a:bodyPr/>
                    <a:lstStyle>
                      <a:lvl1pPr marL="0" algn="l" defTabSz="1218987" rtl="0" eaLnBrk="1" latinLnBrk="0" hangingPunct="1">
                        <a:defRPr sz="2400" kern="1200">
                          <a:solidFill>
                            <a:schemeClr val="dk1"/>
                          </a:solidFill>
                          <a:latin typeface="Arial"/>
                        </a:defRPr>
                      </a:lvl1pPr>
                      <a:lvl2pPr marL="609493" algn="l" defTabSz="1218987" rtl="0" eaLnBrk="1" latinLnBrk="0" hangingPunct="1">
                        <a:defRPr sz="2400" kern="1200">
                          <a:solidFill>
                            <a:schemeClr val="dk1"/>
                          </a:solidFill>
                          <a:latin typeface="Arial"/>
                        </a:defRPr>
                      </a:lvl2pPr>
                      <a:lvl3pPr marL="1218987" algn="l" defTabSz="1218987" rtl="0" eaLnBrk="1" latinLnBrk="0" hangingPunct="1">
                        <a:defRPr sz="2400" kern="1200">
                          <a:solidFill>
                            <a:schemeClr val="dk1"/>
                          </a:solidFill>
                          <a:latin typeface="Arial"/>
                        </a:defRPr>
                      </a:lvl3pPr>
                      <a:lvl4pPr marL="1828480" algn="l" defTabSz="1218987" rtl="0" eaLnBrk="1" latinLnBrk="0" hangingPunct="1">
                        <a:defRPr sz="2400" kern="1200">
                          <a:solidFill>
                            <a:schemeClr val="dk1"/>
                          </a:solidFill>
                          <a:latin typeface="Arial"/>
                        </a:defRPr>
                      </a:lvl4pPr>
                      <a:lvl5pPr marL="2437973" algn="l" defTabSz="1218987" rtl="0" eaLnBrk="1" latinLnBrk="0" hangingPunct="1">
                        <a:defRPr sz="2400" kern="1200">
                          <a:solidFill>
                            <a:schemeClr val="dk1"/>
                          </a:solidFill>
                          <a:latin typeface="Arial"/>
                        </a:defRPr>
                      </a:lvl5pPr>
                      <a:lvl6pPr marL="3047467" algn="l" defTabSz="1218987" rtl="0" eaLnBrk="1" latinLnBrk="0" hangingPunct="1">
                        <a:defRPr sz="2400" kern="1200">
                          <a:solidFill>
                            <a:schemeClr val="dk1"/>
                          </a:solidFill>
                          <a:latin typeface="Arial"/>
                        </a:defRPr>
                      </a:lvl6pPr>
                      <a:lvl7pPr marL="3656960" algn="l" defTabSz="1218987" rtl="0" eaLnBrk="1" latinLnBrk="0" hangingPunct="1">
                        <a:defRPr sz="2400" kern="1200">
                          <a:solidFill>
                            <a:schemeClr val="dk1"/>
                          </a:solidFill>
                          <a:latin typeface="Arial"/>
                        </a:defRPr>
                      </a:lvl7pPr>
                      <a:lvl8pPr marL="4266453" algn="l" defTabSz="1218987" rtl="0" eaLnBrk="1" latinLnBrk="0" hangingPunct="1">
                        <a:defRPr sz="2400" kern="1200">
                          <a:solidFill>
                            <a:schemeClr val="dk1"/>
                          </a:solidFill>
                          <a:latin typeface="Arial"/>
                        </a:defRPr>
                      </a:lvl8pPr>
                      <a:lvl9pPr marL="4875947" algn="l" defTabSz="1218987" rtl="0" eaLnBrk="1" latinLnBrk="0" hangingPunct="1">
                        <a:defRPr sz="2400" kern="1200">
                          <a:solidFill>
                            <a:schemeClr val="dk1"/>
                          </a:solidFill>
                          <a:latin typeface="Arial"/>
                        </a:defRPr>
                      </a:lvl9pPr>
                    </a:lstStyle>
                    <a:p>
                      <a:pPr algn="l"/>
                      <a:r>
                        <a:rPr lang="en-US" sz="1100"/>
                        <a:t>Monthly</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0F0">
                        <a:tint val="40000"/>
                      </a:srgbClr>
                    </a:solidFill>
                  </a:tcPr>
                </a:tc>
                <a:extLst>
                  <a:ext uri="{0D108BD9-81ED-4DB2-BD59-A6C34878D82A}">
                    <a16:rowId xmlns:a16="http://schemas.microsoft.com/office/drawing/2014/main" val="1188369122"/>
                  </a:ext>
                </a:extLst>
              </a:tr>
            </a:tbl>
          </a:graphicData>
        </a:graphic>
      </p:graphicFrame>
    </p:spTree>
    <p:extLst>
      <p:ext uri="{BB962C8B-B14F-4D97-AF65-F5344CB8AC3E}">
        <p14:creationId xmlns:p14="http://schemas.microsoft.com/office/powerpoint/2010/main" val="1231440088"/>
      </p:ext>
    </p:extLst>
  </p:cSld>
  <p:clrMapOvr>
    <a:masterClrMapping/>
  </p:clrMapOvr>
  <p:transition spd="med"/>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BA385605-A242-E14F-4C38-47948D23E848}"/>
              </a:ext>
            </a:extLst>
          </p:cNvPr>
          <p:cNvSpPr txBox="1">
            <a:spLocks/>
          </p:cNvSpPr>
          <p:nvPr/>
        </p:nvSpPr>
        <p:spPr>
          <a:xfrm>
            <a:off x="159793" y="69669"/>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r>
              <a:rPr lang="en-US" sz="2800" b="1"/>
              <a:t>As-is scenarios M</a:t>
            </a:r>
            <a:r>
              <a:rPr lang="en-US" altLang="zh-CN" sz="2800" b="1"/>
              <a:t>atrix</a:t>
            </a:r>
            <a:endParaRPr lang="en-US" sz="3600" b="1"/>
          </a:p>
        </p:txBody>
      </p:sp>
      <p:pic>
        <p:nvPicPr>
          <p:cNvPr id="14" name="Picture 13">
            <a:extLst>
              <a:ext uri="{FF2B5EF4-FFF2-40B4-BE49-F238E27FC236}">
                <a16:creationId xmlns:a16="http://schemas.microsoft.com/office/drawing/2014/main" id="{CE011051-6BB0-FFE8-1240-02AD771D5082}"/>
              </a:ext>
            </a:extLst>
          </p:cNvPr>
          <p:cNvPicPr>
            <a:picLocks noChangeAspect="1"/>
          </p:cNvPicPr>
          <p:nvPr/>
        </p:nvPicPr>
        <p:blipFill>
          <a:blip r:embed="rId3"/>
          <a:stretch>
            <a:fillRect/>
          </a:stretch>
        </p:blipFill>
        <p:spPr>
          <a:xfrm>
            <a:off x="3515799" y="863631"/>
            <a:ext cx="3403892" cy="1875344"/>
          </a:xfrm>
          <a:prstGeom prst="rect">
            <a:avLst/>
          </a:prstGeom>
        </p:spPr>
      </p:pic>
      <p:pic>
        <p:nvPicPr>
          <p:cNvPr id="16" name="Picture 15">
            <a:extLst>
              <a:ext uri="{FF2B5EF4-FFF2-40B4-BE49-F238E27FC236}">
                <a16:creationId xmlns:a16="http://schemas.microsoft.com/office/drawing/2014/main" id="{8D92788F-4644-0217-27ED-4570F5A81559}"/>
              </a:ext>
            </a:extLst>
          </p:cNvPr>
          <p:cNvPicPr>
            <a:picLocks noChangeAspect="1"/>
          </p:cNvPicPr>
          <p:nvPr/>
        </p:nvPicPr>
        <p:blipFill>
          <a:blip r:embed="rId4"/>
          <a:stretch>
            <a:fillRect/>
          </a:stretch>
        </p:blipFill>
        <p:spPr>
          <a:xfrm>
            <a:off x="111294" y="2851587"/>
            <a:ext cx="3344720" cy="1809492"/>
          </a:xfrm>
          <a:prstGeom prst="rect">
            <a:avLst/>
          </a:prstGeom>
        </p:spPr>
      </p:pic>
      <p:pic>
        <p:nvPicPr>
          <p:cNvPr id="20" name="Picture 19">
            <a:extLst>
              <a:ext uri="{FF2B5EF4-FFF2-40B4-BE49-F238E27FC236}">
                <a16:creationId xmlns:a16="http://schemas.microsoft.com/office/drawing/2014/main" id="{98329E1C-2154-5C40-72B7-53F19972D6B4}"/>
              </a:ext>
            </a:extLst>
          </p:cNvPr>
          <p:cNvPicPr>
            <a:picLocks noChangeAspect="1"/>
          </p:cNvPicPr>
          <p:nvPr/>
        </p:nvPicPr>
        <p:blipFill>
          <a:blip r:embed="rId5"/>
          <a:stretch>
            <a:fillRect/>
          </a:stretch>
        </p:blipFill>
        <p:spPr>
          <a:xfrm>
            <a:off x="139493" y="4735390"/>
            <a:ext cx="3344722" cy="1244430"/>
          </a:xfrm>
          <a:prstGeom prst="rect">
            <a:avLst/>
          </a:prstGeom>
        </p:spPr>
      </p:pic>
      <p:grpSp>
        <p:nvGrpSpPr>
          <p:cNvPr id="88" name="Group 87">
            <a:extLst>
              <a:ext uri="{FF2B5EF4-FFF2-40B4-BE49-F238E27FC236}">
                <a16:creationId xmlns:a16="http://schemas.microsoft.com/office/drawing/2014/main" id="{A7F82800-D28E-3E2C-B6FD-B2C39F33ED71}"/>
              </a:ext>
            </a:extLst>
          </p:cNvPr>
          <p:cNvGrpSpPr/>
          <p:nvPr/>
        </p:nvGrpSpPr>
        <p:grpSpPr>
          <a:xfrm>
            <a:off x="7051626" y="751115"/>
            <a:ext cx="4980581" cy="5738555"/>
            <a:chOff x="6435363" y="786107"/>
            <a:chExt cx="5533064" cy="5776007"/>
          </a:xfrm>
        </p:grpSpPr>
        <p:sp>
          <p:nvSpPr>
            <p:cNvPr id="24" name="iconfont-10517-5127486">
              <a:extLst>
                <a:ext uri="{FF2B5EF4-FFF2-40B4-BE49-F238E27FC236}">
                  <a16:creationId xmlns:a16="http://schemas.microsoft.com/office/drawing/2014/main" id="{CEE96EE4-20D2-D89E-5EE0-736410F678E8}"/>
                </a:ext>
              </a:extLst>
            </p:cNvPr>
            <p:cNvSpPr/>
            <p:nvPr/>
          </p:nvSpPr>
          <p:spPr>
            <a:xfrm>
              <a:off x="8114650" y="4241713"/>
              <a:ext cx="382116" cy="364738"/>
            </a:xfrm>
            <a:custGeom>
              <a:avLst/>
              <a:gdLst>
                <a:gd name="connsiteX0" fmla="*/ 304813 w 457214"/>
                <a:gd name="connsiteY0" fmla="*/ 279418 h 457214"/>
                <a:gd name="connsiteX1" fmla="*/ 355633 w 457214"/>
                <a:gd name="connsiteY1" fmla="*/ 279418 h 457214"/>
                <a:gd name="connsiteX2" fmla="*/ 355633 w 457214"/>
                <a:gd name="connsiteY2" fmla="*/ 355633 h 457214"/>
                <a:gd name="connsiteX3" fmla="*/ 304813 w 457214"/>
                <a:gd name="connsiteY3" fmla="*/ 355633 h 457214"/>
                <a:gd name="connsiteX4" fmla="*/ 203221 w 457214"/>
                <a:gd name="connsiteY4" fmla="*/ 228593 h 457214"/>
                <a:gd name="connsiteX5" fmla="*/ 253993 w 457214"/>
                <a:gd name="connsiteY5" fmla="*/ 228593 h 457214"/>
                <a:gd name="connsiteX6" fmla="*/ 253993 w 457214"/>
                <a:gd name="connsiteY6" fmla="*/ 355633 h 457214"/>
                <a:gd name="connsiteX7" fmla="*/ 203221 w 457214"/>
                <a:gd name="connsiteY7" fmla="*/ 355633 h 457214"/>
                <a:gd name="connsiteX8" fmla="*/ 101581 w 457214"/>
                <a:gd name="connsiteY8" fmla="*/ 177767 h 457214"/>
                <a:gd name="connsiteX9" fmla="*/ 152401 w 457214"/>
                <a:gd name="connsiteY9" fmla="*/ 177767 h 457214"/>
                <a:gd name="connsiteX10" fmla="*/ 152401 w 457214"/>
                <a:gd name="connsiteY10" fmla="*/ 355633 h 457214"/>
                <a:gd name="connsiteX11" fmla="*/ 101581 w 457214"/>
                <a:gd name="connsiteY11" fmla="*/ 355633 h 457214"/>
                <a:gd name="connsiteX12" fmla="*/ 304809 w 457214"/>
                <a:gd name="connsiteY12" fmla="*/ 79679 h 457214"/>
                <a:gd name="connsiteX13" fmla="*/ 304809 w 457214"/>
                <a:gd name="connsiteY13" fmla="*/ 127020 h 457214"/>
                <a:gd name="connsiteX14" fmla="*/ 361628 w 457214"/>
                <a:gd name="connsiteY14" fmla="*/ 127020 h 457214"/>
                <a:gd name="connsiteX15" fmla="*/ 50817 w 457214"/>
                <a:gd name="connsiteY15" fmla="*/ 50817 h 457214"/>
                <a:gd name="connsiteX16" fmla="*/ 50817 w 457214"/>
                <a:gd name="connsiteY16" fmla="*/ 406397 h 457214"/>
                <a:gd name="connsiteX17" fmla="*/ 406397 w 457214"/>
                <a:gd name="connsiteY17" fmla="*/ 406397 h 457214"/>
                <a:gd name="connsiteX18" fmla="*/ 406397 w 457214"/>
                <a:gd name="connsiteY18" fmla="*/ 177790 h 457214"/>
                <a:gd name="connsiteX19" fmla="*/ 279424 w 457214"/>
                <a:gd name="connsiteY19" fmla="*/ 177790 h 457214"/>
                <a:gd name="connsiteX20" fmla="*/ 253992 w 457214"/>
                <a:gd name="connsiteY20" fmla="*/ 152405 h 457214"/>
                <a:gd name="connsiteX21" fmla="*/ 253992 w 457214"/>
                <a:gd name="connsiteY21" fmla="*/ 50817 h 457214"/>
                <a:gd name="connsiteX22" fmla="*/ 25385 w 457214"/>
                <a:gd name="connsiteY22" fmla="*/ 0 h 457214"/>
                <a:gd name="connsiteX23" fmla="*/ 279424 w 457214"/>
                <a:gd name="connsiteY23" fmla="*/ 0 h 457214"/>
                <a:gd name="connsiteX24" fmla="*/ 280710 w 457214"/>
                <a:gd name="connsiteY24" fmla="*/ 238 h 457214"/>
                <a:gd name="connsiteX25" fmla="*/ 286283 w 457214"/>
                <a:gd name="connsiteY25" fmla="*/ 1191 h 457214"/>
                <a:gd name="connsiteX26" fmla="*/ 288664 w 457214"/>
                <a:gd name="connsiteY26" fmla="*/ 1857 h 457214"/>
                <a:gd name="connsiteX27" fmla="*/ 295713 w 457214"/>
                <a:gd name="connsiteY27" fmla="*/ 5858 h 457214"/>
                <a:gd name="connsiteX28" fmla="*/ 448117 w 457214"/>
                <a:gd name="connsiteY28" fmla="*/ 132878 h 457214"/>
                <a:gd name="connsiteX29" fmla="*/ 454118 w 457214"/>
                <a:gd name="connsiteY29" fmla="*/ 140736 h 457214"/>
                <a:gd name="connsiteX30" fmla="*/ 455118 w 457214"/>
                <a:gd name="connsiteY30" fmla="*/ 143022 h 457214"/>
                <a:gd name="connsiteX31" fmla="*/ 456976 w 457214"/>
                <a:gd name="connsiteY31" fmla="*/ 151309 h 457214"/>
                <a:gd name="connsiteX32" fmla="*/ 457214 w 457214"/>
                <a:gd name="connsiteY32" fmla="*/ 152405 h 457214"/>
                <a:gd name="connsiteX33" fmla="*/ 457214 w 457214"/>
                <a:gd name="connsiteY33" fmla="*/ 431829 h 457214"/>
                <a:gd name="connsiteX34" fmla="*/ 431829 w 457214"/>
                <a:gd name="connsiteY34" fmla="*/ 457214 h 457214"/>
                <a:gd name="connsiteX35" fmla="*/ 25385 w 457214"/>
                <a:gd name="connsiteY35" fmla="*/ 457214 h 457214"/>
                <a:gd name="connsiteX36" fmla="*/ 0 w 457214"/>
                <a:gd name="connsiteY36" fmla="*/ 431829 h 457214"/>
                <a:gd name="connsiteX37" fmla="*/ 0 w 457214"/>
                <a:gd name="connsiteY37" fmla="*/ 25385 h 457214"/>
                <a:gd name="connsiteX38" fmla="*/ 25385 w 457214"/>
                <a:gd name="connsiteY38" fmla="*/ 0 h 45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7214" h="457214">
                  <a:moveTo>
                    <a:pt x="304813" y="279418"/>
                  </a:moveTo>
                  <a:lnTo>
                    <a:pt x="355633" y="279418"/>
                  </a:lnTo>
                  <a:lnTo>
                    <a:pt x="355633" y="355633"/>
                  </a:lnTo>
                  <a:lnTo>
                    <a:pt x="304813" y="355633"/>
                  </a:lnTo>
                  <a:close/>
                  <a:moveTo>
                    <a:pt x="203221" y="228593"/>
                  </a:moveTo>
                  <a:lnTo>
                    <a:pt x="253993" y="228593"/>
                  </a:lnTo>
                  <a:lnTo>
                    <a:pt x="253993" y="355633"/>
                  </a:lnTo>
                  <a:lnTo>
                    <a:pt x="203221" y="355633"/>
                  </a:lnTo>
                  <a:close/>
                  <a:moveTo>
                    <a:pt x="101581" y="177767"/>
                  </a:moveTo>
                  <a:lnTo>
                    <a:pt x="152401" y="177767"/>
                  </a:lnTo>
                  <a:lnTo>
                    <a:pt x="152401" y="355633"/>
                  </a:lnTo>
                  <a:lnTo>
                    <a:pt x="101581" y="355633"/>
                  </a:lnTo>
                  <a:close/>
                  <a:moveTo>
                    <a:pt x="304809" y="79679"/>
                  </a:moveTo>
                  <a:lnTo>
                    <a:pt x="304809" y="127020"/>
                  </a:lnTo>
                  <a:lnTo>
                    <a:pt x="361628" y="127020"/>
                  </a:lnTo>
                  <a:close/>
                  <a:moveTo>
                    <a:pt x="50817" y="50817"/>
                  </a:moveTo>
                  <a:lnTo>
                    <a:pt x="50817" y="406397"/>
                  </a:lnTo>
                  <a:lnTo>
                    <a:pt x="406397" y="406397"/>
                  </a:lnTo>
                  <a:lnTo>
                    <a:pt x="406397" y="177790"/>
                  </a:lnTo>
                  <a:lnTo>
                    <a:pt x="279424" y="177790"/>
                  </a:lnTo>
                  <a:cubicBezTo>
                    <a:pt x="265375" y="177790"/>
                    <a:pt x="253992" y="166454"/>
                    <a:pt x="253992" y="152405"/>
                  </a:cubicBezTo>
                  <a:lnTo>
                    <a:pt x="253992" y="50817"/>
                  </a:lnTo>
                  <a:close/>
                  <a:moveTo>
                    <a:pt x="25385" y="0"/>
                  </a:moveTo>
                  <a:lnTo>
                    <a:pt x="279424" y="0"/>
                  </a:lnTo>
                  <a:cubicBezTo>
                    <a:pt x="279853" y="0"/>
                    <a:pt x="280282" y="191"/>
                    <a:pt x="280710" y="238"/>
                  </a:cubicBezTo>
                  <a:cubicBezTo>
                    <a:pt x="282615" y="333"/>
                    <a:pt x="284473" y="667"/>
                    <a:pt x="286283" y="1191"/>
                  </a:cubicBezTo>
                  <a:cubicBezTo>
                    <a:pt x="287092" y="1429"/>
                    <a:pt x="287902" y="1572"/>
                    <a:pt x="288664" y="1857"/>
                  </a:cubicBezTo>
                  <a:cubicBezTo>
                    <a:pt x="291236" y="2810"/>
                    <a:pt x="293569" y="4144"/>
                    <a:pt x="295713" y="5858"/>
                  </a:cubicBezTo>
                  <a:lnTo>
                    <a:pt x="448117" y="132878"/>
                  </a:lnTo>
                  <a:cubicBezTo>
                    <a:pt x="450594" y="135069"/>
                    <a:pt x="452642" y="137736"/>
                    <a:pt x="454118" y="140736"/>
                  </a:cubicBezTo>
                  <a:cubicBezTo>
                    <a:pt x="454499" y="141451"/>
                    <a:pt x="454785" y="142213"/>
                    <a:pt x="455118" y="143022"/>
                  </a:cubicBezTo>
                  <a:cubicBezTo>
                    <a:pt x="456214" y="145642"/>
                    <a:pt x="456833" y="148452"/>
                    <a:pt x="456976" y="151309"/>
                  </a:cubicBezTo>
                  <a:cubicBezTo>
                    <a:pt x="456976" y="151690"/>
                    <a:pt x="457214" y="151976"/>
                    <a:pt x="457214" y="152405"/>
                  </a:cubicBezTo>
                  <a:lnTo>
                    <a:pt x="457214" y="431829"/>
                  </a:lnTo>
                  <a:cubicBezTo>
                    <a:pt x="457214" y="445831"/>
                    <a:pt x="445831" y="457214"/>
                    <a:pt x="431829" y="457214"/>
                  </a:cubicBezTo>
                  <a:lnTo>
                    <a:pt x="25385" y="457214"/>
                  </a:lnTo>
                  <a:cubicBezTo>
                    <a:pt x="11383" y="457214"/>
                    <a:pt x="0" y="445831"/>
                    <a:pt x="0" y="431829"/>
                  </a:cubicBezTo>
                  <a:lnTo>
                    <a:pt x="0" y="25385"/>
                  </a:lnTo>
                  <a:cubicBezTo>
                    <a:pt x="0" y="11383"/>
                    <a:pt x="11383" y="0"/>
                    <a:pt x="25385"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a:ea typeface="+mn-ea"/>
                <a:cs typeface="+mn-cs"/>
              </a:endParaRPr>
            </a:p>
          </p:txBody>
        </p:sp>
        <p:grpSp>
          <p:nvGrpSpPr>
            <p:cNvPr id="25" name="Group 24">
              <a:extLst>
                <a:ext uri="{FF2B5EF4-FFF2-40B4-BE49-F238E27FC236}">
                  <a16:creationId xmlns:a16="http://schemas.microsoft.com/office/drawing/2014/main" id="{4C91539E-3E53-9DF8-9891-6366AD753F79}"/>
                </a:ext>
              </a:extLst>
            </p:cNvPr>
            <p:cNvGrpSpPr/>
            <p:nvPr/>
          </p:nvGrpSpPr>
          <p:grpSpPr>
            <a:xfrm>
              <a:off x="6435366" y="1361963"/>
              <a:ext cx="5520758" cy="439068"/>
              <a:chOff x="6425753" y="1836906"/>
              <a:chExt cx="5641751" cy="554617"/>
            </a:xfrm>
          </p:grpSpPr>
          <p:sp>
            <p:nvSpPr>
              <p:cNvPr id="26" name="Rectangle 25">
                <a:extLst>
                  <a:ext uri="{FF2B5EF4-FFF2-40B4-BE49-F238E27FC236}">
                    <a16:creationId xmlns:a16="http://schemas.microsoft.com/office/drawing/2014/main" id="{4F24E73E-462D-59BA-A1B1-133C1D7D0C15}"/>
                  </a:ext>
                </a:extLst>
              </p:cNvPr>
              <p:cNvSpPr/>
              <p:nvPr/>
            </p:nvSpPr>
            <p:spPr>
              <a:xfrm>
                <a:off x="6425753" y="1836906"/>
                <a:ext cx="5641751" cy="55461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err="1">
                  <a:ln>
                    <a:noFill/>
                  </a:ln>
                  <a:solidFill>
                    <a:prstClr val="white"/>
                  </a:solidFill>
                  <a:effectLst/>
                  <a:uLnTx/>
                  <a:uFillTx/>
                  <a:latin typeface="Arial"/>
                  <a:ea typeface="+mn-ea"/>
                  <a:cs typeface="+mn-cs"/>
                </a:endParaRPr>
              </a:p>
            </p:txBody>
          </p:sp>
          <p:sp>
            <p:nvSpPr>
              <p:cNvPr id="27" name="TextBox 26">
                <a:extLst>
                  <a:ext uri="{FF2B5EF4-FFF2-40B4-BE49-F238E27FC236}">
                    <a16:creationId xmlns:a16="http://schemas.microsoft.com/office/drawing/2014/main" id="{121B259A-A0E3-94E6-B282-434BD4EEBC68}"/>
                  </a:ext>
                </a:extLst>
              </p:cNvPr>
              <p:cNvSpPr txBox="1"/>
              <p:nvPr/>
            </p:nvSpPr>
            <p:spPr>
              <a:xfrm>
                <a:off x="6438329" y="1916670"/>
                <a:ext cx="1076797" cy="33045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Offering</a:t>
                </a:r>
              </a:p>
            </p:txBody>
          </p:sp>
        </p:grpSp>
        <p:sp>
          <p:nvSpPr>
            <p:cNvPr id="28" name="Rectangle: Rounded Corners 27">
              <a:extLst>
                <a:ext uri="{FF2B5EF4-FFF2-40B4-BE49-F238E27FC236}">
                  <a16:creationId xmlns:a16="http://schemas.microsoft.com/office/drawing/2014/main" id="{51432779-CA96-2596-EDD8-8C3BFD7C5896}"/>
                </a:ext>
              </a:extLst>
            </p:cNvPr>
            <p:cNvSpPr/>
            <p:nvPr/>
          </p:nvSpPr>
          <p:spPr>
            <a:xfrm>
              <a:off x="7513682" y="1389140"/>
              <a:ext cx="1354491"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DAAS</a:t>
              </a:r>
            </a:p>
          </p:txBody>
        </p:sp>
        <p:sp>
          <p:nvSpPr>
            <p:cNvPr id="29" name="Rectangle: Rounded Corners 28">
              <a:extLst>
                <a:ext uri="{FF2B5EF4-FFF2-40B4-BE49-F238E27FC236}">
                  <a16:creationId xmlns:a16="http://schemas.microsoft.com/office/drawing/2014/main" id="{52A87269-0919-B064-2F70-2C2348CE1045}"/>
                </a:ext>
              </a:extLst>
            </p:cNvPr>
            <p:cNvSpPr/>
            <p:nvPr/>
          </p:nvSpPr>
          <p:spPr>
            <a:xfrm>
              <a:off x="10509213" y="1389140"/>
              <a:ext cx="1354491"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Services</a:t>
              </a:r>
            </a:p>
          </p:txBody>
        </p:sp>
        <p:sp>
          <p:nvSpPr>
            <p:cNvPr id="30" name="Rectangle: Rounded Corners 29">
              <a:extLst>
                <a:ext uri="{FF2B5EF4-FFF2-40B4-BE49-F238E27FC236}">
                  <a16:creationId xmlns:a16="http://schemas.microsoft.com/office/drawing/2014/main" id="{98EBED92-A420-FD9C-6AF7-327734E19079}"/>
                </a:ext>
              </a:extLst>
            </p:cNvPr>
            <p:cNvSpPr/>
            <p:nvPr/>
          </p:nvSpPr>
          <p:spPr>
            <a:xfrm>
              <a:off x="9011447" y="1389140"/>
              <a:ext cx="1354491"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IAAS/</a:t>
              </a:r>
              <a:endParaRPr lang="zh-CN" altLang="en-US" sz="1600">
                <a:solidFill>
                  <a:prstClr val="white"/>
                </a:solidFill>
                <a:ea typeface="黑体"/>
                <a:cs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ISGLEASE</a:t>
              </a:r>
            </a:p>
          </p:txBody>
        </p:sp>
        <p:grpSp>
          <p:nvGrpSpPr>
            <p:cNvPr id="31" name="Group 30">
              <a:extLst>
                <a:ext uri="{FF2B5EF4-FFF2-40B4-BE49-F238E27FC236}">
                  <a16:creationId xmlns:a16="http://schemas.microsoft.com/office/drawing/2014/main" id="{48D405C6-5475-960A-7751-987ED4351D5F}"/>
                </a:ext>
              </a:extLst>
            </p:cNvPr>
            <p:cNvGrpSpPr/>
            <p:nvPr/>
          </p:nvGrpSpPr>
          <p:grpSpPr>
            <a:xfrm>
              <a:off x="6435365" y="1828903"/>
              <a:ext cx="5520758" cy="439068"/>
              <a:chOff x="6425753" y="1836906"/>
              <a:chExt cx="5641751" cy="554617"/>
            </a:xfrm>
          </p:grpSpPr>
          <p:sp>
            <p:nvSpPr>
              <p:cNvPr id="32" name="Rectangle 31">
                <a:extLst>
                  <a:ext uri="{FF2B5EF4-FFF2-40B4-BE49-F238E27FC236}">
                    <a16:creationId xmlns:a16="http://schemas.microsoft.com/office/drawing/2014/main" id="{EF23EED1-991D-9240-813A-6765BCC38696}"/>
                  </a:ext>
                </a:extLst>
              </p:cNvPr>
              <p:cNvSpPr/>
              <p:nvPr/>
            </p:nvSpPr>
            <p:spPr>
              <a:xfrm>
                <a:off x="6425753" y="1836906"/>
                <a:ext cx="5641751" cy="55461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err="1">
                  <a:ln>
                    <a:noFill/>
                  </a:ln>
                  <a:solidFill>
                    <a:prstClr val="white"/>
                  </a:solidFill>
                  <a:effectLst/>
                  <a:uLnTx/>
                  <a:uFillTx/>
                  <a:latin typeface="Arial"/>
                  <a:ea typeface="+mn-ea"/>
                  <a:cs typeface="+mn-cs"/>
                </a:endParaRPr>
              </a:p>
            </p:txBody>
          </p:sp>
          <p:sp>
            <p:nvSpPr>
              <p:cNvPr id="33" name="TextBox 32">
                <a:extLst>
                  <a:ext uri="{FF2B5EF4-FFF2-40B4-BE49-F238E27FC236}">
                    <a16:creationId xmlns:a16="http://schemas.microsoft.com/office/drawing/2014/main" id="{9235743D-EE11-DA0E-A7C2-BCEE155831E2}"/>
                  </a:ext>
                </a:extLst>
              </p:cNvPr>
              <p:cNvSpPr txBox="1"/>
              <p:nvPr/>
            </p:nvSpPr>
            <p:spPr>
              <a:xfrm>
                <a:off x="6438329" y="1916670"/>
                <a:ext cx="1076797" cy="33045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Models</a:t>
                </a:r>
              </a:p>
            </p:txBody>
          </p:sp>
        </p:grpSp>
        <p:grpSp>
          <p:nvGrpSpPr>
            <p:cNvPr id="34" name="Group 33">
              <a:extLst>
                <a:ext uri="{FF2B5EF4-FFF2-40B4-BE49-F238E27FC236}">
                  <a16:creationId xmlns:a16="http://schemas.microsoft.com/office/drawing/2014/main" id="{862A747A-7B41-DAEE-D9A8-C04BA9B1CC36}"/>
                </a:ext>
              </a:extLst>
            </p:cNvPr>
            <p:cNvGrpSpPr/>
            <p:nvPr/>
          </p:nvGrpSpPr>
          <p:grpSpPr>
            <a:xfrm>
              <a:off x="6435364" y="2280667"/>
              <a:ext cx="5520758" cy="451006"/>
              <a:chOff x="6425753" y="1821827"/>
              <a:chExt cx="5641751" cy="569696"/>
            </a:xfrm>
          </p:grpSpPr>
          <p:sp>
            <p:nvSpPr>
              <p:cNvPr id="35" name="Rectangle 34">
                <a:extLst>
                  <a:ext uri="{FF2B5EF4-FFF2-40B4-BE49-F238E27FC236}">
                    <a16:creationId xmlns:a16="http://schemas.microsoft.com/office/drawing/2014/main" id="{FF6D3C61-E064-EE02-AA79-5E9E695CB1D6}"/>
                  </a:ext>
                </a:extLst>
              </p:cNvPr>
              <p:cNvSpPr/>
              <p:nvPr/>
            </p:nvSpPr>
            <p:spPr>
              <a:xfrm>
                <a:off x="6425753" y="1836906"/>
                <a:ext cx="5641751" cy="55461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err="1">
                  <a:ln>
                    <a:noFill/>
                  </a:ln>
                  <a:solidFill>
                    <a:prstClr val="white"/>
                  </a:solidFill>
                  <a:effectLst/>
                  <a:uLnTx/>
                  <a:uFillTx/>
                  <a:latin typeface="Arial"/>
                  <a:ea typeface="+mn-ea"/>
                  <a:cs typeface="+mn-cs"/>
                </a:endParaRPr>
              </a:p>
            </p:txBody>
          </p:sp>
          <p:sp>
            <p:nvSpPr>
              <p:cNvPr id="36" name="TextBox 35">
                <a:extLst>
                  <a:ext uri="{FF2B5EF4-FFF2-40B4-BE49-F238E27FC236}">
                    <a16:creationId xmlns:a16="http://schemas.microsoft.com/office/drawing/2014/main" id="{58B01F9D-C9B6-17B8-BAF8-E06479E42B56}"/>
                  </a:ext>
                </a:extLst>
              </p:cNvPr>
              <p:cNvSpPr txBox="1"/>
              <p:nvPr/>
            </p:nvSpPr>
            <p:spPr>
              <a:xfrm>
                <a:off x="6450904" y="1821827"/>
                <a:ext cx="1076797" cy="5442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Contract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Type</a:t>
                </a:r>
              </a:p>
            </p:txBody>
          </p:sp>
        </p:grpSp>
        <p:grpSp>
          <p:nvGrpSpPr>
            <p:cNvPr id="37" name="Group 36">
              <a:extLst>
                <a:ext uri="{FF2B5EF4-FFF2-40B4-BE49-F238E27FC236}">
                  <a16:creationId xmlns:a16="http://schemas.microsoft.com/office/drawing/2014/main" id="{2F6D02EF-1963-CDD6-B22F-90AAE7FC16C1}"/>
                </a:ext>
              </a:extLst>
            </p:cNvPr>
            <p:cNvGrpSpPr/>
            <p:nvPr/>
          </p:nvGrpSpPr>
          <p:grpSpPr>
            <a:xfrm>
              <a:off x="6435363" y="2750344"/>
              <a:ext cx="5520758" cy="452839"/>
              <a:chOff x="6425753" y="1819510"/>
              <a:chExt cx="5641751" cy="572013"/>
            </a:xfrm>
          </p:grpSpPr>
          <p:sp>
            <p:nvSpPr>
              <p:cNvPr id="38" name="Rectangle 37">
                <a:extLst>
                  <a:ext uri="{FF2B5EF4-FFF2-40B4-BE49-F238E27FC236}">
                    <a16:creationId xmlns:a16="http://schemas.microsoft.com/office/drawing/2014/main" id="{03B3C28A-1F53-810C-BB3B-5B26972A5820}"/>
                  </a:ext>
                </a:extLst>
              </p:cNvPr>
              <p:cNvSpPr/>
              <p:nvPr/>
            </p:nvSpPr>
            <p:spPr>
              <a:xfrm>
                <a:off x="6425753" y="1836906"/>
                <a:ext cx="5641751" cy="55461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err="1">
                  <a:ln>
                    <a:noFill/>
                  </a:ln>
                  <a:solidFill>
                    <a:prstClr val="white"/>
                  </a:solidFill>
                  <a:effectLst/>
                  <a:uLnTx/>
                  <a:uFillTx/>
                  <a:latin typeface="Arial"/>
                  <a:ea typeface="+mn-ea"/>
                  <a:cs typeface="+mn-cs"/>
                </a:endParaRPr>
              </a:p>
            </p:txBody>
          </p:sp>
          <p:sp>
            <p:nvSpPr>
              <p:cNvPr id="39" name="TextBox 38">
                <a:extLst>
                  <a:ext uri="{FF2B5EF4-FFF2-40B4-BE49-F238E27FC236}">
                    <a16:creationId xmlns:a16="http://schemas.microsoft.com/office/drawing/2014/main" id="{6DD34A40-4895-2A1C-BE8D-E82DF6ED4300}"/>
                  </a:ext>
                </a:extLst>
              </p:cNvPr>
              <p:cNvSpPr txBox="1"/>
              <p:nvPr/>
            </p:nvSpPr>
            <p:spPr>
              <a:xfrm>
                <a:off x="6450905" y="1819510"/>
                <a:ext cx="1076797" cy="54428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Charge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M</a:t>
                </a:r>
                <a:r>
                  <a:rPr kumimoji="0" lang="en-US" altLang="zh-CN" sz="1100" b="1"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odel</a:t>
                </a:r>
                <a:endPar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grpSp>
        <p:grpSp>
          <p:nvGrpSpPr>
            <p:cNvPr id="40" name="Group 39">
              <a:extLst>
                <a:ext uri="{FF2B5EF4-FFF2-40B4-BE49-F238E27FC236}">
                  <a16:creationId xmlns:a16="http://schemas.microsoft.com/office/drawing/2014/main" id="{8516F638-E5F8-C280-09A5-FA7941DECE74}"/>
                </a:ext>
              </a:extLst>
            </p:cNvPr>
            <p:cNvGrpSpPr/>
            <p:nvPr/>
          </p:nvGrpSpPr>
          <p:grpSpPr>
            <a:xfrm>
              <a:off x="6447669" y="3216958"/>
              <a:ext cx="5520758" cy="457742"/>
              <a:chOff x="6425753" y="1813318"/>
              <a:chExt cx="5641751" cy="578205"/>
            </a:xfrm>
          </p:grpSpPr>
          <p:sp>
            <p:nvSpPr>
              <p:cNvPr id="41" name="Rectangle 40">
                <a:extLst>
                  <a:ext uri="{FF2B5EF4-FFF2-40B4-BE49-F238E27FC236}">
                    <a16:creationId xmlns:a16="http://schemas.microsoft.com/office/drawing/2014/main" id="{B25A0C44-0FAC-79AF-DF8E-642AD7654594}"/>
                  </a:ext>
                </a:extLst>
              </p:cNvPr>
              <p:cNvSpPr/>
              <p:nvPr/>
            </p:nvSpPr>
            <p:spPr>
              <a:xfrm>
                <a:off x="6425753" y="1836906"/>
                <a:ext cx="5641751" cy="55461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err="1">
                  <a:ln>
                    <a:noFill/>
                  </a:ln>
                  <a:solidFill>
                    <a:prstClr val="white"/>
                  </a:solidFill>
                  <a:effectLst/>
                  <a:uLnTx/>
                  <a:uFillTx/>
                  <a:latin typeface="Arial"/>
                  <a:ea typeface="+mn-ea"/>
                  <a:cs typeface="+mn-cs"/>
                </a:endParaRPr>
              </a:p>
            </p:txBody>
          </p:sp>
          <p:sp>
            <p:nvSpPr>
              <p:cNvPr id="42" name="TextBox 41">
                <a:extLst>
                  <a:ext uri="{FF2B5EF4-FFF2-40B4-BE49-F238E27FC236}">
                    <a16:creationId xmlns:a16="http://schemas.microsoft.com/office/drawing/2014/main" id="{1BBF964D-7C50-AA58-10B2-151085CD5B22}"/>
                  </a:ext>
                </a:extLst>
              </p:cNvPr>
              <p:cNvSpPr txBox="1"/>
              <p:nvPr/>
            </p:nvSpPr>
            <p:spPr>
              <a:xfrm>
                <a:off x="6463481" y="1813318"/>
                <a:ext cx="1076797" cy="54428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Product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err="1">
                    <a:ln>
                      <a:noFill/>
                    </a:ln>
                    <a:solidFill>
                      <a:srgbClr val="000000"/>
                    </a:solidFill>
                    <a:effectLst/>
                    <a:uLnTx/>
                    <a:uFillTx/>
                    <a:latin typeface="Arial" pitchFamily="34" charset="0"/>
                    <a:ea typeface="+mn-ea"/>
                    <a:cs typeface="Arial" pitchFamily="34" charset="0"/>
                  </a:rPr>
                  <a:t>Ctgry</a:t>
                </a:r>
                <a:endPar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grpSp>
        <p:sp>
          <p:nvSpPr>
            <p:cNvPr id="43" name="Rectangle: Rounded Corners 42">
              <a:extLst>
                <a:ext uri="{FF2B5EF4-FFF2-40B4-BE49-F238E27FC236}">
                  <a16:creationId xmlns:a16="http://schemas.microsoft.com/office/drawing/2014/main" id="{2DFB3DDD-67B7-13C7-333B-C6C699946A4C}"/>
                </a:ext>
              </a:extLst>
            </p:cNvPr>
            <p:cNvSpPr/>
            <p:nvPr/>
          </p:nvSpPr>
          <p:spPr>
            <a:xfrm>
              <a:off x="7490872" y="2321573"/>
              <a:ext cx="21528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MSA</a:t>
              </a:r>
              <a:endParaRPr lang="zh-CN" altLang="en-US" sz="1600">
                <a:solidFill>
                  <a:prstClr val="white"/>
                </a:solidFill>
              </a:endParaRPr>
            </a:p>
          </p:txBody>
        </p:sp>
        <p:sp>
          <p:nvSpPr>
            <p:cNvPr id="44" name="Rectangle: Rounded Corners 43">
              <a:extLst>
                <a:ext uri="{FF2B5EF4-FFF2-40B4-BE49-F238E27FC236}">
                  <a16:creationId xmlns:a16="http://schemas.microsoft.com/office/drawing/2014/main" id="{925FCB7A-5D23-7F99-C351-5F0C568589CF}"/>
                </a:ext>
              </a:extLst>
            </p:cNvPr>
            <p:cNvSpPr/>
            <p:nvPr/>
          </p:nvSpPr>
          <p:spPr>
            <a:xfrm>
              <a:off x="9715244" y="2318495"/>
              <a:ext cx="21528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MLA</a:t>
              </a:r>
            </a:p>
          </p:txBody>
        </p:sp>
        <p:sp>
          <p:nvSpPr>
            <p:cNvPr id="45" name="Rectangle: Rounded Corners 44">
              <a:extLst>
                <a:ext uri="{FF2B5EF4-FFF2-40B4-BE49-F238E27FC236}">
                  <a16:creationId xmlns:a16="http://schemas.microsoft.com/office/drawing/2014/main" id="{BF35662B-C00B-9B1C-7E0D-CB41387F7EC6}"/>
                </a:ext>
              </a:extLst>
            </p:cNvPr>
            <p:cNvSpPr/>
            <p:nvPr/>
          </p:nvSpPr>
          <p:spPr>
            <a:xfrm>
              <a:off x="7513682" y="2787907"/>
              <a:ext cx="21528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Fixed</a:t>
              </a:r>
              <a:endParaRPr lang="zh-CN" altLang="en-US" sz="1600">
                <a:solidFill>
                  <a:prstClr val="white"/>
                </a:solidFill>
              </a:endParaRPr>
            </a:p>
          </p:txBody>
        </p:sp>
        <p:sp>
          <p:nvSpPr>
            <p:cNvPr id="46" name="Rectangle: Rounded Corners 45">
              <a:extLst>
                <a:ext uri="{FF2B5EF4-FFF2-40B4-BE49-F238E27FC236}">
                  <a16:creationId xmlns:a16="http://schemas.microsoft.com/office/drawing/2014/main" id="{C75DD986-C635-F461-8984-699DD7792FD0}"/>
                </a:ext>
              </a:extLst>
            </p:cNvPr>
            <p:cNvSpPr/>
            <p:nvPr/>
          </p:nvSpPr>
          <p:spPr>
            <a:xfrm>
              <a:off x="9738054" y="2789928"/>
              <a:ext cx="21528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Consumption</a:t>
              </a:r>
              <a:endParaRPr lang="zh-CN" altLang="en-US" sz="1600">
                <a:solidFill>
                  <a:prstClr val="white"/>
                </a:solidFill>
              </a:endParaRPr>
            </a:p>
          </p:txBody>
        </p:sp>
        <p:sp>
          <p:nvSpPr>
            <p:cNvPr id="47" name="Rectangle: Rounded Corners 46">
              <a:extLst>
                <a:ext uri="{FF2B5EF4-FFF2-40B4-BE49-F238E27FC236}">
                  <a16:creationId xmlns:a16="http://schemas.microsoft.com/office/drawing/2014/main" id="{4241ACFC-E2F9-7D74-94B9-549CE4F29422}"/>
                </a:ext>
              </a:extLst>
            </p:cNvPr>
            <p:cNvSpPr/>
            <p:nvPr/>
          </p:nvSpPr>
          <p:spPr>
            <a:xfrm>
              <a:off x="7538884" y="3258440"/>
              <a:ext cx="1354491"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Lenovo HW</a:t>
              </a:r>
              <a:endParaRPr lang="zh-CN" altLang="en-US" sz="1600">
                <a:solidFill>
                  <a:prstClr val="white"/>
                </a:solidFill>
              </a:endParaRPr>
            </a:p>
          </p:txBody>
        </p:sp>
        <p:sp>
          <p:nvSpPr>
            <p:cNvPr id="48" name="Rectangle: Rounded Corners 47">
              <a:extLst>
                <a:ext uri="{FF2B5EF4-FFF2-40B4-BE49-F238E27FC236}">
                  <a16:creationId xmlns:a16="http://schemas.microsoft.com/office/drawing/2014/main" id="{E39A896F-2704-DCEA-B8D3-420D73DA7106}"/>
                </a:ext>
              </a:extLst>
            </p:cNvPr>
            <p:cNvSpPr/>
            <p:nvPr/>
          </p:nvSpPr>
          <p:spPr>
            <a:xfrm>
              <a:off x="10534415" y="3258440"/>
              <a:ext cx="1354491"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3</a:t>
              </a:r>
              <a:r>
                <a:rPr kumimoji="0" lang="en-US" sz="1100" b="0" i="0" u="none" strike="noStrike" kern="1200" cap="none" spc="0" normalizeH="0" baseline="30000" noProof="0">
                  <a:ln>
                    <a:noFill/>
                  </a:ln>
                  <a:solidFill>
                    <a:prstClr val="white"/>
                  </a:solidFill>
                  <a:effectLst/>
                  <a:uLnTx/>
                  <a:uFillTx/>
                  <a:latin typeface="Arial"/>
                  <a:ea typeface="+mn-ea"/>
                  <a:cs typeface="+mn-cs"/>
                </a:rPr>
                <a:t>rd</a:t>
              </a:r>
              <a:r>
                <a:rPr kumimoji="0" lang="en-US" sz="1100" b="0" i="0" u="none" strike="noStrike" kern="1200" cap="none" spc="0" normalizeH="0" baseline="0" noProof="0">
                  <a:ln>
                    <a:noFill/>
                  </a:ln>
                  <a:solidFill>
                    <a:prstClr val="white"/>
                  </a:solidFill>
                  <a:effectLst/>
                  <a:uLnTx/>
                  <a:uFillTx/>
                  <a:latin typeface="Arial"/>
                  <a:ea typeface="+mn-ea"/>
                  <a:cs typeface="+mn-cs"/>
                </a:rPr>
                <a:t> Party HW</a:t>
              </a:r>
            </a:p>
          </p:txBody>
        </p:sp>
        <p:sp>
          <p:nvSpPr>
            <p:cNvPr id="49" name="Rectangle: Rounded Corners 48">
              <a:extLst>
                <a:ext uri="{FF2B5EF4-FFF2-40B4-BE49-F238E27FC236}">
                  <a16:creationId xmlns:a16="http://schemas.microsoft.com/office/drawing/2014/main" id="{7ABC4954-D0A5-2D9B-21D7-0EBBC69F84CC}"/>
                </a:ext>
              </a:extLst>
            </p:cNvPr>
            <p:cNvSpPr/>
            <p:nvPr/>
          </p:nvSpPr>
          <p:spPr>
            <a:xfrm>
              <a:off x="9036649" y="3258440"/>
              <a:ext cx="1354491"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white"/>
                  </a:solidFill>
                  <a:effectLst/>
                  <a:uLnTx/>
                  <a:uFillTx/>
                  <a:latin typeface="Arial"/>
                  <a:ea typeface="+mn-ea"/>
                  <a:cs typeface="+mn-cs"/>
                </a:rPr>
                <a:t>Lenovo HW Buyback</a:t>
              </a:r>
            </a:p>
          </p:txBody>
        </p:sp>
        <p:grpSp>
          <p:nvGrpSpPr>
            <p:cNvPr id="50" name="Group 49">
              <a:extLst>
                <a:ext uri="{FF2B5EF4-FFF2-40B4-BE49-F238E27FC236}">
                  <a16:creationId xmlns:a16="http://schemas.microsoft.com/office/drawing/2014/main" id="{BCCA9581-DE06-6606-AE16-F0FA89A7120D}"/>
                </a:ext>
              </a:extLst>
            </p:cNvPr>
            <p:cNvGrpSpPr/>
            <p:nvPr/>
          </p:nvGrpSpPr>
          <p:grpSpPr>
            <a:xfrm>
              <a:off x="6435363" y="3703327"/>
              <a:ext cx="5520758" cy="457741"/>
              <a:chOff x="6425753" y="1813318"/>
              <a:chExt cx="5641751" cy="578205"/>
            </a:xfrm>
          </p:grpSpPr>
          <p:sp>
            <p:nvSpPr>
              <p:cNvPr id="51" name="Rectangle 50">
                <a:extLst>
                  <a:ext uri="{FF2B5EF4-FFF2-40B4-BE49-F238E27FC236}">
                    <a16:creationId xmlns:a16="http://schemas.microsoft.com/office/drawing/2014/main" id="{15D400C7-47C7-2169-8D63-5CDA6925D963}"/>
                  </a:ext>
                </a:extLst>
              </p:cNvPr>
              <p:cNvSpPr/>
              <p:nvPr/>
            </p:nvSpPr>
            <p:spPr>
              <a:xfrm>
                <a:off x="6425753" y="1836906"/>
                <a:ext cx="5641751" cy="55461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err="1">
                  <a:ln>
                    <a:noFill/>
                  </a:ln>
                  <a:solidFill>
                    <a:prstClr val="white"/>
                  </a:solidFill>
                  <a:effectLst/>
                  <a:uLnTx/>
                  <a:uFillTx/>
                  <a:latin typeface="Arial"/>
                  <a:ea typeface="+mn-ea"/>
                  <a:cs typeface="+mn-cs"/>
                </a:endParaRPr>
              </a:p>
            </p:txBody>
          </p:sp>
          <p:sp>
            <p:nvSpPr>
              <p:cNvPr id="52" name="TextBox 51">
                <a:extLst>
                  <a:ext uri="{FF2B5EF4-FFF2-40B4-BE49-F238E27FC236}">
                    <a16:creationId xmlns:a16="http://schemas.microsoft.com/office/drawing/2014/main" id="{897EC90F-AD7E-CEBB-2AE8-1150B97100B9}"/>
                  </a:ext>
                </a:extLst>
              </p:cNvPr>
              <p:cNvSpPr txBox="1"/>
              <p:nvPr/>
            </p:nvSpPr>
            <p:spPr>
              <a:xfrm>
                <a:off x="6463481" y="1813318"/>
                <a:ext cx="1076797" cy="54428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Lease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Type</a:t>
                </a:r>
              </a:p>
            </p:txBody>
          </p:sp>
        </p:grpSp>
        <p:sp>
          <p:nvSpPr>
            <p:cNvPr id="53" name="Rectangle: Rounded Corners 52">
              <a:extLst>
                <a:ext uri="{FF2B5EF4-FFF2-40B4-BE49-F238E27FC236}">
                  <a16:creationId xmlns:a16="http://schemas.microsoft.com/office/drawing/2014/main" id="{6A09EF02-13FE-76A4-42CF-D4BCA5F9E41E}"/>
                </a:ext>
              </a:extLst>
            </p:cNvPr>
            <p:cNvSpPr/>
            <p:nvPr/>
          </p:nvSpPr>
          <p:spPr>
            <a:xfrm>
              <a:off x="7526578" y="3744810"/>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prstClr val="white"/>
                  </a:solidFill>
                  <a:effectLst/>
                  <a:uLnTx/>
                  <a:uFillTx/>
                  <a:latin typeface="Arial"/>
                  <a:ea typeface="+mn-ea"/>
                  <a:cs typeface="+mn-cs"/>
                </a:rPr>
                <a:t>Operating Lease</a:t>
              </a:r>
            </a:p>
          </p:txBody>
        </p:sp>
        <p:sp>
          <p:nvSpPr>
            <p:cNvPr id="54" name="Rectangle: Rounded Corners 53">
              <a:extLst>
                <a:ext uri="{FF2B5EF4-FFF2-40B4-BE49-F238E27FC236}">
                  <a16:creationId xmlns:a16="http://schemas.microsoft.com/office/drawing/2014/main" id="{C7FB2A5E-3FE6-8822-648E-3E14D57B63C8}"/>
                </a:ext>
              </a:extLst>
            </p:cNvPr>
            <p:cNvSpPr/>
            <p:nvPr/>
          </p:nvSpPr>
          <p:spPr>
            <a:xfrm>
              <a:off x="9743400" y="3743561"/>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prstClr val="white"/>
                  </a:solidFill>
                  <a:effectLst/>
                  <a:uLnTx/>
                  <a:uFillTx/>
                  <a:latin typeface="Arial"/>
                  <a:ea typeface="+mn-ea"/>
                  <a:cs typeface="+mn-cs"/>
                </a:rPr>
                <a:t>OL with Flex</a:t>
              </a:r>
            </a:p>
          </p:txBody>
        </p:sp>
        <p:sp>
          <p:nvSpPr>
            <p:cNvPr id="55" name="Rectangle: Rounded Corners 54">
              <a:extLst>
                <a:ext uri="{FF2B5EF4-FFF2-40B4-BE49-F238E27FC236}">
                  <a16:creationId xmlns:a16="http://schemas.microsoft.com/office/drawing/2014/main" id="{0D40039F-0E9C-52ED-4806-46B0FFFB5466}"/>
                </a:ext>
              </a:extLst>
            </p:cNvPr>
            <p:cNvSpPr/>
            <p:nvPr/>
          </p:nvSpPr>
          <p:spPr>
            <a:xfrm>
              <a:off x="8634989" y="3744810"/>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prstClr val="white"/>
                  </a:solidFill>
                  <a:effectLst/>
                  <a:uLnTx/>
                  <a:uFillTx/>
                  <a:latin typeface="Arial"/>
                  <a:ea typeface="+mn-ea"/>
                  <a:cs typeface="+mn-cs"/>
                </a:rPr>
                <a:t>Finance Lease</a:t>
              </a:r>
            </a:p>
          </p:txBody>
        </p:sp>
        <p:sp>
          <p:nvSpPr>
            <p:cNvPr id="56" name="Rectangle: Rounded Corners 55">
              <a:extLst>
                <a:ext uri="{FF2B5EF4-FFF2-40B4-BE49-F238E27FC236}">
                  <a16:creationId xmlns:a16="http://schemas.microsoft.com/office/drawing/2014/main" id="{C30F9C7C-D6CA-E3EF-0167-81B710BE4D61}"/>
                </a:ext>
              </a:extLst>
            </p:cNvPr>
            <p:cNvSpPr/>
            <p:nvPr/>
          </p:nvSpPr>
          <p:spPr>
            <a:xfrm>
              <a:off x="10833471" y="3725380"/>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prstClr val="white"/>
                  </a:solidFill>
                  <a:effectLst/>
                  <a:uLnTx/>
                  <a:uFillTx/>
                  <a:latin typeface="Arial"/>
                  <a:ea typeface="+mn-ea"/>
                  <a:cs typeface="+mn-cs"/>
                </a:rPr>
                <a:t>FL With Flex</a:t>
              </a:r>
            </a:p>
          </p:txBody>
        </p:sp>
        <p:grpSp>
          <p:nvGrpSpPr>
            <p:cNvPr id="57" name="Group 56">
              <a:extLst>
                <a:ext uri="{FF2B5EF4-FFF2-40B4-BE49-F238E27FC236}">
                  <a16:creationId xmlns:a16="http://schemas.microsoft.com/office/drawing/2014/main" id="{658EF588-32EE-5AEF-EC1D-688186B1F321}"/>
                </a:ext>
              </a:extLst>
            </p:cNvPr>
            <p:cNvGrpSpPr/>
            <p:nvPr/>
          </p:nvGrpSpPr>
          <p:grpSpPr>
            <a:xfrm>
              <a:off x="6435363" y="4194447"/>
              <a:ext cx="5520758" cy="963422"/>
              <a:chOff x="6425753" y="1836906"/>
              <a:chExt cx="5641751" cy="554617"/>
            </a:xfrm>
          </p:grpSpPr>
          <p:sp>
            <p:nvSpPr>
              <p:cNvPr id="58" name="Rectangle 57">
                <a:extLst>
                  <a:ext uri="{FF2B5EF4-FFF2-40B4-BE49-F238E27FC236}">
                    <a16:creationId xmlns:a16="http://schemas.microsoft.com/office/drawing/2014/main" id="{87AB3050-6B47-27C2-18FD-D4EEB4C28C56}"/>
                  </a:ext>
                </a:extLst>
              </p:cNvPr>
              <p:cNvSpPr/>
              <p:nvPr/>
            </p:nvSpPr>
            <p:spPr>
              <a:xfrm>
                <a:off x="6425753" y="1836906"/>
                <a:ext cx="5641751" cy="55461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err="1">
                  <a:ln>
                    <a:noFill/>
                  </a:ln>
                  <a:solidFill>
                    <a:prstClr val="white"/>
                  </a:solidFill>
                  <a:effectLst/>
                  <a:uLnTx/>
                  <a:uFillTx/>
                  <a:latin typeface="Arial"/>
                  <a:ea typeface="+mn-ea"/>
                  <a:cs typeface="+mn-cs"/>
                </a:endParaRPr>
              </a:p>
            </p:txBody>
          </p:sp>
          <p:sp>
            <p:nvSpPr>
              <p:cNvPr id="59" name="TextBox 58">
                <a:extLst>
                  <a:ext uri="{FF2B5EF4-FFF2-40B4-BE49-F238E27FC236}">
                    <a16:creationId xmlns:a16="http://schemas.microsoft.com/office/drawing/2014/main" id="{0EB01BA6-9BF6-FD21-A6B7-13F4AAC12EB0}"/>
                  </a:ext>
                </a:extLst>
              </p:cNvPr>
              <p:cNvSpPr txBox="1"/>
              <p:nvPr/>
            </p:nvSpPr>
            <p:spPr>
              <a:xfrm>
                <a:off x="6464086" y="1938172"/>
                <a:ext cx="1076797" cy="24805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Funding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rial" pitchFamily="34" charset="0"/>
                    <a:ea typeface="+mn-ea"/>
                    <a:cs typeface="Arial" pitchFamily="34" charset="0"/>
                  </a:rPr>
                  <a:t>Model</a:t>
                </a:r>
              </a:p>
            </p:txBody>
          </p:sp>
        </p:grpSp>
        <p:sp>
          <p:nvSpPr>
            <p:cNvPr id="60" name="Rectangle: Rounded Corners 59">
              <a:extLst>
                <a:ext uri="{FF2B5EF4-FFF2-40B4-BE49-F238E27FC236}">
                  <a16:creationId xmlns:a16="http://schemas.microsoft.com/office/drawing/2014/main" id="{5241BB10-AC62-81E3-84E0-43869E43432A}"/>
                </a:ext>
              </a:extLst>
            </p:cNvPr>
            <p:cNvSpPr/>
            <p:nvPr/>
          </p:nvSpPr>
          <p:spPr>
            <a:xfrm>
              <a:off x="7526578" y="4237474"/>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Internal Funding OL/FL</a:t>
              </a:r>
            </a:p>
          </p:txBody>
        </p:sp>
        <p:sp>
          <p:nvSpPr>
            <p:cNvPr id="61" name="Rectangle: Rounded Corners 60">
              <a:extLst>
                <a:ext uri="{FF2B5EF4-FFF2-40B4-BE49-F238E27FC236}">
                  <a16:creationId xmlns:a16="http://schemas.microsoft.com/office/drawing/2014/main" id="{3683A0B9-53FB-12C9-67AA-F2438AF7BDBA}"/>
                </a:ext>
              </a:extLst>
            </p:cNvPr>
            <p:cNvSpPr/>
            <p:nvPr/>
          </p:nvSpPr>
          <p:spPr>
            <a:xfrm>
              <a:off x="9743400" y="4236224"/>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Ext. Funding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SOR OL</a:t>
              </a:r>
            </a:p>
          </p:txBody>
        </p:sp>
        <p:sp>
          <p:nvSpPr>
            <p:cNvPr id="62" name="Rectangle: Rounded Corners 61">
              <a:extLst>
                <a:ext uri="{FF2B5EF4-FFF2-40B4-BE49-F238E27FC236}">
                  <a16:creationId xmlns:a16="http://schemas.microsoft.com/office/drawing/2014/main" id="{9DB694F5-7AE8-5F63-6AAB-C64684A5E526}"/>
                </a:ext>
              </a:extLst>
            </p:cNvPr>
            <p:cNvSpPr/>
            <p:nvPr/>
          </p:nvSpPr>
          <p:spPr>
            <a:xfrm>
              <a:off x="8634989" y="4237474"/>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External Funding Full-sale FL</a:t>
              </a:r>
            </a:p>
          </p:txBody>
        </p:sp>
        <p:sp>
          <p:nvSpPr>
            <p:cNvPr id="63" name="Rectangle: Rounded Corners 62">
              <a:extLst>
                <a:ext uri="{FF2B5EF4-FFF2-40B4-BE49-F238E27FC236}">
                  <a16:creationId xmlns:a16="http://schemas.microsoft.com/office/drawing/2014/main" id="{B2E85494-0169-F3AD-3EB5-DB7330FF4AF6}"/>
                </a:ext>
              </a:extLst>
            </p:cNvPr>
            <p:cNvSpPr/>
            <p:nvPr/>
          </p:nvSpPr>
          <p:spPr>
            <a:xfrm>
              <a:off x="10833471" y="4218043"/>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Ext. Funding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SOR FL</a:t>
              </a:r>
            </a:p>
          </p:txBody>
        </p:sp>
        <p:grpSp>
          <p:nvGrpSpPr>
            <p:cNvPr id="64" name="Group 63">
              <a:extLst>
                <a:ext uri="{FF2B5EF4-FFF2-40B4-BE49-F238E27FC236}">
                  <a16:creationId xmlns:a16="http://schemas.microsoft.com/office/drawing/2014/main" id="{D0CBB13D-2CE6-A7AD-1AEF-5F67057B47D3}"/>
                </a:ext>
              </a:extLst>
            </p:cNvPr>
            <p:cNvGrpSpPr/>
            <p:nvPr/>
          </p:nvGrpSpPr>
          <p:grpSpPr>
            <a:xfrm>
              <a:off x="6447669" y="5196109"/>
              <a:ext cx="5520758" cy="1366005"/>
              <a:chOff x="6425753" y="1836906"/>
              <a:chExt cx="5641751" cy="554617"/>
            </a:xfrm>
          </p:grpSpPr>
          <p:sp>
            <p:nvSpPr>
              <p:cNvPr id="65" name="Rectangle 64">
                <a:extLst>
                  <a:ext uri="{FF2B5EF4-FFF2-40B4-BE49-F238E27FC236}">
                    <a16:creationId xmlns:a16="http://schemas.microsoft.com/office/drawing/2014/main" id="{BAB0D460-7ABE-88B7-9701-902E866A55F2}"/>
                  </a:ext>
                </a:extLst>
              </p:cNvPr>
              <p:cNvSpPr/>
              <p:nvPr/>
            </p:nvSpPr>
            <p:spPr>
              <a:xfrm>
                <a:off x="6425753" y="1836906"/>
                <a:ext cx="5641751" cy="55461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err="1">
                  <a:ln>
                    <a:noFill/>
                  </a:ln>
                  <a:solidFill>
                    <a:prstClr val="white"/>
                  </a:solidFill>
                  <a:effectLst/>
                  <a:uLnTx/>
                  <a:uFillTx/>
                  <a:latin typeface="Arial"/>
                  <a:ea typeface="+mn-ea"/>
                  <a:cs typeface="+mn-cs"/>
                </a:endParaRPr>
              </a:p>
            </p:txBody>
          </p:sp>
          <p:sp>
            <p:nvSpPr>
              <p:cNvPr id="66" name="TextBox 65">
                <a:extLst>
                  <a:ext uri="{FF2B5EF4-FFF2-40B4-BE49-F238E27FC236}">
                    <a16:creationId xmlns:a16="http://schemas.microsoft.com/office/drawing/2014/main" id="{B9F19739-C49F-D978-61BC-6378CDF8A2B7}"/>
                  </a:ext>
                </a:extLst>
              </p:cNvPr>
              <p:cNvSpPr txBox="1"/>
              <p:nvPr/>
            </p:nvSpPr>
            <p:spPr>
              <a:xfrm>
                <a:off x="6463481" y="1984998"/>
                <a:ext cx="1076797" cy="1946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rial" pitchFamily="34" charset="0"/>
                    <a:ea typeface="+mn-ea"/>
                    <a:cs typeface="Arial" pitchFamily="34" charset="0"/>
                  </a:rPr>
                  <a:t>Change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rial" pitchFamily="34" charset="0"/>
                    <a:ea typeface="+mn-ea"/>
                    <a:cs typeface="Arial" pitchFamily="34" charset="0"/>
                  </a:rPr>
                  <a:t>Events</a:t>
                </a:r>
              </a:p>
            </p:txBody>
          </p:sp>
        </p:grpSp>
        <p:sp>
          <p:nvSpPr>
            <p:cNvPr id="67" name="Rectangle: Rounded Corners 66">
              <a:extLst>
                <a:ext uri="{FF2B5EF4-FFF2-40B4-BE49-F238E27FC236}">
                  <a16:creationId xmlns:a16="http://schemas.microsoft.com/office/drawing/2014/main" id="{BEA86619-68F3-AC90-9D80-260BB0354CB9}"/>
                </a:ext>
              </a:extLst>
            </p:cNvPr>
            <p:cNvSpPr/>
            <p:nvPr/>
          </p:nvSpPr>
          <p:spPr>
            <a:xfrm>
              <a:off x="7536037" y="5235129"/>
              <a:ext cx="1354491" cy="38248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Early Termination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Device Return</a:t>
              </a:r>
            </a:p>
          </p:txBody>
        </p:sp>
        <p:sp>
          <p:nvSpPr>
            <p:cNvPr id="68" name="Rectangle: Rounded Corners 67">
              <a:extLst>
                <a:ext uri="{FF2B5EF4-FFF2-40B4-BE49-F238E27FC236}">
                  <a16:creationId xmlns:a16="http://schemas.microsoft.com/office/drawing/2014/main" id="{AFDAF928-C6B7-8DA1-9DD1-E8937FD6F271}"/>
                </a:ext>
              </a:extLst>
            </p:cNvPr>
            <p:cNvSpPr/>
            <p:nvPr/>
          </p:nvSpPr>
          <p:spPr>
            <a:xfrm>
              <a:off x="10531568" y="5235129"/>
              <a:ext cx="1354491" cy="38248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End of Lease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Device Return</a:t>
              </a:r>
            </a:p>
          </p:txBody>
        </p:sp>
        <p:sp>
          <p:nvSpPr>
            <p:cNvPr id="69" name="Rectangle: Rounded Corners 68">
              <a:extLst>
                <a:ext uri="{FF2B5EF4-FFF2-40B4-BE49-F238E27FC236}">
                  <a16:creationId xmlns:a16="http://schemas.microsoft.com/office/drawing/2014/main" id="{291EFA68-6680-7FD1-5D59-5093E4095C4F}"/>
                </a:ext>
              </a:extLst>
            </p:cNvPr>
            <p:cNvSpPr/>
            <p:nvPr/>
          </p:nvSpPr>
          <p:spPr>
            <a:xfrm>
              <a:off x="9033802" y="5235129"/>
              <a:ext cx="1354491" cy="38248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Early Termination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Device Stolen</a:t>
              </a:r>
            </a:p>
          </p:txBody>
        </p:sp>
        <p:sp>
          <p:nvSpPr>
            <p:cNvPr id="70" name="Rectangle: Rounded Corners 69">
              <a:extLst>
                <a:ext uri="{FF2B5EF4-FFF2-40B4-BE49-F238E27FC236}">
                  <a16:creationId xmlns:a16="http://schemas.microsoft.com/office/drawing/2014/main" id="{190F359A-7F69-B8AB-4C3C-D3A7CDBC336F}"/>
                </a:ext>
              </a:extLst>
            </p:cNvPr>
            <p:cNvSpPr/>
            <p:nvPr/>
          </p:nvSpPr>
          <p:spPr>
            <a:xfrm>
              <a:off x="7545725" y="5672405"/>
              <a:ext cx="1354491" cy="38248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End of Lease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Device Buyout</a:t>
              </a:r>
            </a:p>
          </p:txBody>
        </p:sp>
        <p:sp>
          <p:nvSpPr>
            <p:cNvPr id="71" name="Rectangle: Rounded Corners 70">
              <a:extLst>
                <a:ext uri="{FF2B5EF4-FFF2-40B4-BE49-F238E27FC236}">
                  <a16:creationId xmlns:a16="http://schemas.microsoft.com/office/drawing/2014/main" id="{45E50B9C-20B1-3D7E-CEDC-402AD51E9AB7}"/>
                </a:ext>
              </a:extLst>
            </p:cNvPr>
            <p:cNvSpPr/>
            <p:nvPr/>
          </p:nvSpPr>
          <p:spPr>
            <a:xfrm>
              <a:off x="10541256" y="5672405"/>
              <a:ext cx="1354491" cy="38248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Lease Extension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Auto Extension</a:t>
              </a:r>
            </a:p>
          </p:txBody>
        </p:sp>
        <p:sp>
          <p:nvSpPr>
            <p:cNvPr id="72" name="Rectangle: Rounded Corners 71">
              <a:extLst>
                <a:ext uri="{FF2B5EF4-FFF2-40B4-BE49-F238E27FC236}">
                  <a16:creationId xmlns:a16="http://schemas.microsoft.com/office/drawing/2014/main" id="{2947197E-D123-0319-EE5B-F0911DE65B92}"/>
                </a:ext>
              </a:extLst>
            </p:cNvPr>
            <p:cNvSpPr/>
            <p:nvPr/>
          </p:nvSpPr>
          <p:spPr>
            <a:xfrm>
              <a:off x="9043490" y="5672405"/>
              <a:ext cx="1354491" cy="38248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Lease Extension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Auto Extension</a:t>
              </a:r>
            </a:p>
          </p:txBody>
        </p:sp>
        <p:sp>
          <p:nvSpPr>
            <p:cNvPr id="73" name="Rectangle: Rounded Corners 72">
              <a:extLst>
                <a:ext uri="{FF2B5EF4-FFF2-40B4-BE49-F238E27FC236}">
                  <a16:creationId xmlns:a16="http://schemas.microsoft.com/office/drawing/2014/main" id="{C10121AB-A16C-7F19-B2B4-C2C84D56D568}"/>
                </a:ext>
              </a:extLst>
            </p:cNvPr>
            <p:cNvSpPr/>
            <p:nvPr/>
          </p:nvSpPr>
          <p:spPr>
            <a:xfrm>
              <a:off x="7536037" y="6109682"/>
              <a:ext cx="1354491" cy="38248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Asset Remarketing</a:t>
              </a:r>
            </a:p>
          </p:txBody>
        </p:sp>
        <p:sp>
          <p:nvSpPr>
            <p:cNvPr id="74" name="Rectangle: Rounded Corners 73">
              <a:extLst>
                <a:ext uri="{FF2B5EF4-FFF2-40B4-BE49-F238E27FC236}">
                  <a16:creationId xmlns:a16="http://schemas.microsoft.com/office/drawing/2014/main" id="{D9FC8782-9E37-863D-A904-34F82C61A7F1}"/>
                </a:ext>
              </a:extLst>
            </p:cNvPr>
            <p:cNvSpPr/>
            <p:nvPr/>
          </p:nvSpPr>
          <p:spPr>
            <a:xfrm>
              <a:off x="10531568" y="6109682"/>
              <a:ext cx="1354491" cy="38248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Damage Fund</a:t>
              </a:r>
            </a:p>
          </p:txBody>
        </p:sp>
        <p:sp>
          <p:nvSpPr>
            <p:cNvPr id="75" name="Rectangle: Rounded Corners 74">
              <a:extLst>
                <a:ext uri="{FF2B5EF4-FFF2-40B4-BE49-F238E27FC236}">
                  <a16:creationId xmlns:a16="http://schemas.microsoft.com/office/drawing/2014/main" id="{6018C8CB-F572-DE44-7F1D-5A23EE28789A}"/>
                </a:ext>
              </a:extLst>
            </p:cNvPr>
            <p:cNvSpPr/>
            <p:nvPr/>
          </p:nvSpPr>
          <p:spPr>
            <a:xfrm>
              <a:off x="9033802" y="6109682"/>
              <a:ext cx="1354491" cy="38248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Swap Stock</a:t>
              </a:r>
            </a:p>
          </p:txBody>
        </p:sp>
        <p:sp>
          <p:nvSpPr>
            <p:cNvPr id="76" name="TextBox 75">
              <a:extLst>
                <a:ext uri="{FF2B5EF4-FFF2-40B4-BE49-F238E27FC236}">
                  <a16:creationId xmlns:a16="http://schemas.microsoft.com/office/drawing/2014/main" id="{3C0E56E2-6F8F-CEE8-5151-DB0DE6309210}"/>
                </a:ext>
              </a:extLst>
            </p:cNvPr>
            <p:cNvSpPr txBox="1"/>
            <p:nvPr/>
          </p:nvSpPr>
          <p:spPr>
            <a:xfrm>
              <a:off x="6439202" y="786107"/>
              <a:ext cx="5508452" cy="523220"/>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solidFill>
                  <a:effectLst/>
                  <a:uLnTx/>
                  <a:uFillTx/>
                  <a:latin typeface="Arial" pitchFamily="34" charset="0"/>
                  <a:ea typeface="+mn-ea"/>
                  <a:cs typeface="Arial" pitchFamily="34" charset="0"/>
                </a:rPr>
                <a:t>Multiple building-blocks will impact accounting</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srgbClr val="FF0000"/>
                  </a:solidFill>
                  <a:effectLst/>
                  <a:uLnTx/>
                  <a:uFillTx/>
                  <a:latin typeface="Arial" pitchFamily="34" charset="0"/>
                  <a:ea typeface="+mn-ea"/>
                  <a:cs typeface="Arial" pitchFamily="34" charset="0"/>
                </a:rPr>
                <a:t>Over 1 thousand </a:t>
              </a:r>
              <a:r>
                <a:rPr kumimoji="0" lang="en-US" sz="1400" b="0" i="0" u="none" strike="noStrike" kern="1200" cap="none" spc="0" normalizeH="0" baseline="0" noProof="0">
                  <a:ln>
                    <a:noFill/>
                  </a:ln>
                  <a:solidFill>
                    <a:srgbClr val="000000"/>
                  </a:solidFill>
                  <a:effectLst/>
                  <a:uLnTx/>
                  <a:uFillTx/>
                  <a:latin typeface="Arial" pitchFamily="34" charset="0"/>
                  <a:ea typeface="+mn-ea"/>
                  <a:cs typeface="Arial" pitchFamily="34" charset="0"/>
                </a:rPr>
                <a:t>scenarios need to be considered</a:t>
              </a:r>
            </a:p>
          </p:txBody>
        </p:sp>
        <p:sp>
          <p:nvSpPr>
            <p:cNvPr id="77" name="Rectangle: Rounded Corners 76">
              <a:extLst>
                <a:ext uri="{FF2B5EF4-FFF2-40B4-BE49-F238E27FC236}">
                  <a16:creationId xmlns:a16="http://schemas.microsoft.com/office/drawing/2014/main" id="{2762BC42-7351-3AE1-7559-8B07567CCDD9}"/>
                </a:ext>
              </a:extLst>
            </p:cNvPr>
            <p:cNvSpPr/>
            <p:nvPr/>
          </p:nvSpPr>
          <p:spPr>
            <a:xfrm>
              <a:off x="7536037" y="4727877"/>
              <a:ext cx="1354491"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white"/>
                  </a:solidFill>
                  <a:effectLst/>
                  <a:uLnTx/>
                  <a:uFillTx/>
                  <a:latin typeface="Arial"/>
                  <a:ea typeface="+mn-ea"/>
                  <a:cs typeface="+mn-cs"/>
                </a:rPr>
                <a:t>SOR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white"/>
                  </a:solidFill>
                  <a:effectLst/>
                  <a:uLnTx/>
                  <a:uFillTx/>
                  <a:latin typeface="Arial"/>
                  <a:ea typeface="+mn-ea"/>
                  <a:cs typeface="+mn-cs"/>
                </a:rPr>
                <a:t>Recourse</a:t>
              </a:r>
            </a:p>
          </p:txBody>
        </p:sp>
        <p:sp>
          <p:nvSpPr>
            <p:cNvPr id="78" name="Rectangle: Rounded Corners 77">
              <a:extLst>
                <a:ext uri="{FF2B5EF4-FFF2-40B4-BE49-F238E27FC236}">
                  <a16:creationId xmlns:a16="http://schemas.microsoft.com/office/drawing/2014/main" id="{D63309FA-6CC1-3701-21D1-23C58BDFF1D0}"/>
                </a:ext>
              </a:extLst>
            </p:cNvPr>
            <p:cNvSpPr/>
            <p:nvPr/>
          </p:nvSpPr>
          <p:spPr>
            <a:xfrm>
              <a:off x="10531568" y="4727877"/>
              <a:ext cx="1354491"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SOR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Limited-Recourse</a:t>
              </a:r>
            </a:p>
          </p:txBody>
        </p:sp>
        <p:sp>
          <p:nvSpPr>
            <p:cNvPr id="79" name="Rectangle: Rounded Corners 78">
              <a:extLst>
                <a:ext uri="{FF2B5EF4-FFF2-40B4-BE49-F238E27FC236}">
                  <a16:creationId xmlns:a16="http://schemas.microsoft.com/office/drawing/2014/main" id="{7ED6DA6B-2335-1008-BAA3-9671D90E7FCC}"/>
                </a:ext>
              </a:extLst>
            </p:cNvPr>
            <p:cNvSpPr/>
            <p:nvPr/>
          </p:nvSpPr>
          <p:spPr>
            <a:xfrm>
              <a:off x="9033802" y="4727877"/>
              <a:ext cx="1354491"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white"/>
                  </a:solidFill>
                  <a:effectLst/>
                  <a:uLnTx/>
                  <a:uFillTx/>
                  <a:latin typeface="Arial"/>
                  <a:ea typeface="+mn-ea"/>
                  <a:cs typeface="+mn-cs"/>
                </a:rPr>
                <a:t>SOR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white"/>
                  </a:solidFill>
                  <a:effectLst/>
                  <a:uLnTx/>
                  <a:uFillTx/>
                  <a:latin typeface="Arial"/>
                  <a:ea typeface="+mn-ea"/>
                  <a:cs typeface="+mn-cs"/>
                </a:rPr>
                <a:t>Non-Recourse</a:t>
              </a:r>
            </a:p>
          </p:txBody>
        </p:sp>
        <p:cxnSp>
          <p:nvCxnSpPr>
            <p:cNvPr id="80" name="Straight Arrow Connector 79">
              <a:extLst>
                <a:ext uri="{FF2B5EF4-FFF2-40B4-BE49-F238E27FC236}">
                  <a16:creationId xmlns:a16="http://schemas.microsoft.com/office/drawing/2014/main" id="{F3120551-489B-B807-933B-79BDD3B3645D}"/>
                </a:ext>
              </a:extLst>
            </p:cNvPr>
            <p:cNvCxnSpPr>
              <a:stCxn id="63" idx="2"/>
              <a:endCxn id="77" idx="0"/>
            </p:cNvCxnSpPr>
            <p:nvPr/>
          </p:nvCxnSpPr>
          <p:spPr>
            <a:xfrm flipH="1">
              <a:off x="8213283" y="4600523"/>
              <a:ext cx="3147040" cy="127354"/>
            </a:xfrm>
            <a:prstGeom prst="straightConnector1">
              <a:avLst/>
            </a:prstGeom>
            <a:ln w="1905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81" name="Straight Arrow Connector 80">
              <a:extLst>
                <a:ext uri="{FF2B5EF4-FFF2-40B4-BE49-F238E27FC236}">
                  <a16:creationId xmlns:a16="http://schemas.microsoft.com/office/drawing/2014/main" id="{1715CEB9-8DDB-1A33-0545-E4965D587F6C}"/>
                </a:ext>
              </a:extLst>
            </p:cNvPr>
            <p:cNvCxnSpPr>
              <a:cxnSpLocks/>
              <a:stCxn id="63" idx="2"/>
              <a:endCxn id="79" idx="0"/>
            </p:cNvCxnSpPr>
            <p:nvPr/>
          </p:nvCxnSpPr>
          <p:spPr>
            <a:xfrm flipH="1">
              <a:off x="9711048" y="4600523"/>
              <a:ext cx="1649275" cy="127354"/>
            </a:xfrm>
            <a:prstGeom prst="straightConnector1">
              <a:avLst/>
            </a:prstGeom>
            <a:ln w="1905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82" name="Straight Arrow Connector 81">
              <a:extLst>
                <a:ext uri="{FF2B5EF4-FFF2-40B4-BE49-F238E27FC236}">
                  <a16:creationId xmlns:a16="http://schemas.microsoft.com/office/drawing/2014/main" id="{21777FE1-A6CD-F858-E15C-D697283CC304}"/>
                </a:ext>
              </a:extLst>
            </p:cNvPr>
            <p:cNvCxnSpPr>
              <a:cxnSpLocks/>
              <a:stCxn id="63" idx="2"/>
              <a:endCxn id="78" idx="0"/>
            </p:cNvCxnSpPr>
            <p:nvPr/>
          </p:nvCxnSpPr>
          <p:spPr>
            <a:xfrm flipH="1">
              <a:off x="11208814" y="4600523"/>
              <a:ext cx="151509" cy="127354"/>
            </a:xfrm>
            <a:prstGeom prst="straightConnector1">
              <a:avLst/>
            </a:prstGeom>
            <a:ln w="1905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83" name="Rectangle: Rounded Corners 82">
              <a:extLst>
                <a:ext uri="{FF2B5EF4-FFF2-40B4-BE49-F238E27FC236}">
                  <a16:creationId xmlns:a16="http://schemas.microsoft.com/office/drawing/2014/main" id="{BC98603F-5021-0E46-B847-0EBE42F3BD33}"/>
                </a:ext>
              </a:extLst>
            </p:cNvPr>
            <p:cNvSpPr/>
            <p:nvPr/>
          </p:nvSpPr>
          <p:spPr>
            <a:xfrm>
              <a:off x="7519075" y="1863135"/>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S&amp;D</a:t>
              </a:r>
              <a:endParaRPr lang="zh-CN" altLang="en-US" sz="1600">
                <a:solidFill>
                  <a:prstClr val="white"/>
                </a:solidFill>
              </a:endParaRPr>
            </a:p>
          </p:txBody>
        </p:sp>
        <p:sp>
          <p:nvSpPr>
            <p:cNvPr id="84" name="Rectangle: Rounded Corners 83">
              <a:extLst>
                <a:ext uri="{FF2B5EF4-FFF2-40B4-BE49-F238E27FC236}">
                  <a16:creationId xmlns:a16="http://schemas.microsoft.com/office/drawing/2014/main" id="{8A914A44-62C0-CDB9-8032-11F94C70299B}"/>
                </a:ext>
              </a:extLst>
            </p:cNvPr>
            <p:cNvSpPr/>
            <p:nvPr/>
          </p:nvSpPr>
          <p:spPr>
            <a:xfrm>
              <a:off x="9735897" y="1861886"/>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AFE Hub</a:t>
              </a:r>
              <a:endParaRPr lang="zh-CN" altLang="en-US" sz="1600">
                <a:solidFill>
                  <a:prstClr val="white"/>
                </a:solidFill>
              </a:endParaRPr>
            </a:p>
          </p:txBody>
        </p:sp>
        <p:sp>
          <p:nvSpPr>
            <p:cNvPr id="85" name="Rectangle: Rounded Corners 84">
              <a:extLst>
                <a:ext uri="{FF2B5EF4-FFF2-40B4-BE49-F238E27FC236}">
                  <a16:creationId xmlns:a16="http://schemas.microsoft.com/office/drawing/2014/main" id="{7DC07A66-080E-A69C-279B-AE568D35422F}"/>
                </a:ext>
              </a:extLst>
            </p:cNvPr>
            <p:cNvSpPr/>
            <p:nvPr/>
          </p:nvSpPr>
          <p:spPr>
            <a:xfrm>
              <a:off x="8627486" y="1863135"/>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AFE</a:t>
              </a:r>
              <a:endParaRPr lang="zh-CN" altLang="en-US" sz="1600">
                <a:solidFill>
                  <a:prstClr val="white"/>
                </a:solidFill>
              </a:endParaRPr>
            </a:p>
          </p:txBody>
        </p:sp>
        <p:sp>
          <p:nvSpPr>
            <p:cNvPr id="86" name="Rectangle: Rounded Corners 85">
              <a:extLst>
                <a:ext uri="{FF2B5EF4-FFF2-40B4-BE49-F238E27FC236}">
                  <a16:creationId xmlns:a16="http://schemas.microsoft.com/office/drawing/2014/main" id="{557A8637-A5B3-4280-E66F-F46D508E6F0F}"/>
                </a:ext>
              </a:extLst>
            </p:cNvPr>
            <p:cNvSpPr/>
            <p:nvPr/>
          </p:nvSpPr>
          <p:spPr>
            <a:xfrm>
              <a:off x="10825968" y="1843705"/>
              <a:ext cx="1053704" cy="382480"/>
            </a:xfrm>
            <a:prstGeom prst="roundRect">
              <a:avLst/>
            </a:prstGeom>
            <a:solidFill>
              <a:srgbClr val="871C2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Central Billing</a:t>
              </a:r>
            </a:p>
          </p:txBody>
        </p:sp>
      </p:grpSp>
      <p:pic>
        <p:nvPicPr>
          <p:cNvPr id="87" name="Picture 86">
            <a:extLst>
              <a:ext uri="{FF2B5EF4-FFF2-40B4-BE49-F238E27FC236}">
                <a16:creationId xmlns:a16="http://schemas.microsoft.com/office/drawing/2014/main" id="{A350748A-0051-7C95-A76F-E76085749AD8}"/>
              </a:ext>
            </a:extLst>
          </p:cNvPr>
          <p:cNvPicPr>
            <a:picLocks noChangeAspect="1"/>
          </p:cNvPicPr>
          <p:nvPr/>
        </p:nvPicPr>
        <p:blipFill>
          <a:blip r:embed="rId6"/>
          <a:stretch>
            <a:fillRect/>
          </a:stretch>
        </p:blipFill>
        <p:spPr>
          <a:xfrm>
            <a:off x="3523662" y="2878747"/>
            <a:ext cx="3347116" cy="2009412"/>
          </a:xfrm>
          <a:prstGeom prst="rect">
            <a:avLst/>
          </a:prstGeom>
        </p:spPr>
      </p:pic>
      <p:pic>
        <p:nvPicPr>
          <p:cNvPr id="22" name="Picture 21">
            <a:extLst>
              <a:ext uri="{FF2B5EF4-FFF2-40B4-BE49-F238E27FC236}">
                <a16:creationId xmlns:a16="http://schemas.microsoft.com/office/drawing/2014/main" id="{2F76012B-65A7-6A62-5502-BB55C9024271}"/>
              </a:ext>
            </a:extLst>
          </p:cNvPr>
          <p:cNvPicPr>
            <a:picLocks noChangeAspect="1"/>
          </p:cNvPicPr>
          <p:nvPr/>
        </p:nvPicPr>
        <p:blipFill>
          <a:blip r:embed="rId7"/>
          <a:stretch>
            <a:fillRect/>
          </a:stretch>
        </p:blipFill>
        <p:spPr>
          <a:xfrm>
            <a:off x="111295" y="918997"/>
            <a:ext cx="3250414" cy="1757014"/>
          </a:xfrm>
          <a:prstGeom prst="rect">
            <a:avLst/>
          </a:prstGeom>
        </p:spPr>
      </p:pic>
    </p:spTree>
    <p:extLst>
      <p:ext uri="{BB962C8B-B14F-4D97-AF65-F5344CB8AC3E}">
        <p14:creationId xmlns:p14="http://schemas.microsoft.com/office/powerpoint/2010/main" val="77909924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2173F2-BFAC-E511-3C22-73857293C705}"/>
            </a:ext>
          </a:extLst>
        </p:cNvPr>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2512C904-83B9-E89C-3DB9-8BF343EEA1FF}"/>
              </a:ext>
            </a:extLst>
          </p:cNvPr>
          <p:cNvGraphicFramePr>
            <a:graphicFrameLocks noGrp="1"/>
          </p:cNvGraphicFramePr>
          <p:nvPr>
            <p:extLst>
              <p:ext uri="{D42A27DB-BD31-4B8C-83A1-F6EECF244321}">
                <p14:modId xmlns:p14="http://schemas.microsoft.com/office/powerpoint/2010/main" val="3985692233"/>
              </p:ext>
            </p:extLst>
          </p:nvPr>
        </p:nvGraphicFramePr>
        <p:xfrm>
          <a:off x="195320" y="596611"/>
          <a:ext cx="11886796" cy="5782417"/>
        </p:xfrm>
        <a:graphic>
          <a:graphicData uri="http://schemas.openxmlformats.org/drawingml/2006/table">
            <a:tbl>
              <a:tblPr>
                <a:tableStyleId>{5C22544A-7EE6-4342-B048-85BDC9FD1C3A}</a:tableStyleId>
              </a:tblPr>
              <a:tblGrid>
                <a:gridCol w="1114832">
                  <a:extLst>
                    <a:ext uri="{9D8B030D-6E8A-4147-A177-3AD203B41FA5}">
                      <a16:colId xmlns:a16="http://schemas.microsoft.com/office/drawing/2014/main" val="4000147225"/>
                    </a:ext>
                  </a:extLst>
                </a:gridCol>
                <a:gridCol w="849391">
                  <a:extLst>
                    <a:ext uri="{9D8B030D-6E8A-4147-A177-3AD203B41FA5}">
                      <a16:colId xmlns:a16="http://schemas.microsoft.com/office/drawing/2014/main" val="3461385236"/>
                    </a:ext>
                  </a:extLst>
                </a:gridCol>
                <a:gridCol w="641684">
                  <a:extLst>
                    <a:ext uri="{9D8B030D-6E8A-4147-A177-3AD203B41FA5}">
                      <a16:colId xmlns:a16="http://schemas.microsoft.com/office/drawing/2014/main" val="483276459"/>
                    </a:ext>
                  </a:extLst>
                </a:gridCol>
                <a:gridCol w="770342">
                  <a:extLst>
                    <a:ext uri="{9D8B030D-6E8A-4147-A177-3AD203B41FA5}">
                      <a16:colId xmlns:a16="http://schemas.microsoft.com/office/drawing/2014/main" val="3787700465"/>
                    </a:ext>
                  </a:extLst>
                </a:gridCol>
                <a:gridCol w="673188">
                  <a:extLst>
                    <a:ext uri="{9D8B030D-6E8A-4147-A177-3AD203B41FA5}">
                      <a16:colId xmlns:a16="http://schemas.microsoft.com/office/drawing/2014/main" val="2232385994"/>
                    </a:ext>
                  </a:extLst>
                </a:gridCol>
                <a:gridCol w="562724">
                  <a:extLst>
                    <a:ext uri="{9D8B030D-6E8A-4147-A177-3AD203B41FA5}">
                      <a16:colId xmlns:a16="http://schemas.microsoft.com/office/drawing/2014/main" val="2624620257"/>
                    </a:ext>
                  </a:extLst>
                </a:gridCol>
                <a:gridCol w="839483">
                  <a:extLst>
                    <a:ext uri="{9D8B030D-6E8A-4147-A177-3AD203B41FA5}">
                      <a16:colId xmlns:a16="http://schemas.microsoft.com/office/drawing/2014/main" val="109940872"/>
                    </a:ext>
                  </a:extLst>
                </a:gridCol>
                <a:gridCol w="870628">
                  <a:extLst>
                    <a:ext uri="{9D8B030D-6E8A-4147-A177-3AD203B41FA5}">
                      <a16:colId xmlns:a16="http://schemas.microsoft.com/office/drawing/2014/main" val="2389772416"/>
                    </a:ext>
                  </a:extLst>
                </a:gridCol>
                <a:gridCol w="983856">
                  <a:extLst>
                    <a:ext uri="{9D8B030D-6E8A-4147-A177-3AD203B41FA5}">
                      <a16:colId xmlns:a16="http://schemas.microsoft.com/office/drawing/2014/main" val="874425061"/>
                    </a:ext>
                  </a:extLst>
                </a:gridCol>
                <a:gridCol w="897509">
                  <a:extLst>
                    <a:ext uri="{9D8B030D-6E8A-4147-A177-3AD203B41FA5}">
                      <a16:colId xmlns:a16="http://schemas.microsoft.com/office/drawing/2014/main" val="1465838711"/>
                    </a:ext>
                  </a:extLst>
                </a:gridCol>
                <a:gridCol w="1891672">
                  <a:extLst>
                    <a:ext uri="{9D8B030D-6E8A-4147-A177-3AD203B41FA5}">
                      <a16:colId xmlns:a16="http://schemas.microsoft.com/office/drawing/2014/main" val="2517919499"/>
                    </a:ext>
                  </a:extLst>
                </a:gridCol>
                <a:gridCol w="1791487">
                  <a:extLst>
                    <a:ext uri="{9D8B030D-6E8A-4147-A177-3AD203B41FA5}">
                      <a16:colId xmlns:a16="http://schemas.microsoft.com/office/drawing/2014/main" val="2358262028"/>
                    </a:ext>
                  </a:extLst>
                </a:gridCol>
              </a:tblGrid>
              <a:tr h="371762">
                <a:tc>
                  <a:txBody>
                    <a:bodyPr/>
                    <a:lstStyle/>
                    <a:p>
                      <a:pPr algn="l" fontAlgn="b"/>
                      <a:r>
                        <a:rPr lang="en-US" sz="1000" b="1" u="none" strike="noStrike">
                          <a:effectLst/>
                        </a:rPr>
                        <a:t>1.Offering</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2. Business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3.Contract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4.Charge 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5. RTM</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6. Lease </a:t>
                      </a:r>
                    </a:p>
                    <a:p>
                      <a:pPr algn="l" fontAlgn="b"/>
                      <a:r>
                        <a:rPr lang="en-US" sz="1000" b="1" u="none" strike="noStrike">
                          <a:effectLst/>
                        </a:rPr>
                        <a:t>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7. Billing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8. Funding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9. Product </a:t>
                      </a:r>
                      <a:r>
                        <a:rPr lang="en-US" sz="1000" b="1" u="none" strike="noStrike" err="1">
                          <a:effectLst/>
                        </a:rPr>
                        <a:t>Ctgry</a:t>
                      </a:r>
                      <a:endParaRPr lang="en-US" sz="1000" b="1" i="0" u="none" strike="noStrike" err="1">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i="0" u="none" strike="noStrike">
                          <a:solidFill>
                            <a:srgbClr val="000000"/>
                          </a:solidFill>
                          <a:effectLst/>
                          <a:latin typeface="等线"/>
                          <a:ea typeface="等线"/>
                        </a:rPr>
                        <a:t>10. Fulfillment Method</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11. Events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12. Offering Elements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1316032673"/>
                  </a:ext>
                </a:extLst>
              </a:tr>
              <a:tr h="188115">
                <a:tc>
                  <a:txBody>
                    <a:bodyPr/>
                    <a:lstStyle/>
                    <a:p>
                      <a:pPr lvl="0" algn="l">
                        <a:buNone/>
                      </a:pPr>
                      <a:r>
                        <a:rPr lang="en-US" sz="1000" u="none" strike="noStrike">
                          <a:effectLst/>
                        </a:rPr>
                        <a:t>1.1DaaS</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r>
                        <a:rPr lang="en-US" sz="1000" u="none" strike="noStrike">
                          <a:effectLst/>
                        </a:rPr>
                        <a:t>2.1 AFE</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r>
                        <a:rPr lang="en-US" sz="1000" u="none" strike="noStrike">
                          <a:effectLst/>
                        </a:rPr>
                        <a:t>3.1 MSA</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4.1 Fixed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5.1 Direct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6.1 OL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7.1 Monthly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8.1 Internal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9.1 Lenovo</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a:ea typeface="等线"/>
                        </a:rPr>
                        <a:t>Lenovo</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 Normal Pass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12.1 HW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5508739"/>
                  </a:ext>
                </a:extLst>
              </a:tr>
              <a:tr h="371762">
                <a:tc>
                  <a:txBody>
                    <a:bodyPr/>
                    <a:lstStyle/>
                    <a:p>
                      <a:pPr lvl="0" algn="l">
                        <a:buNone/>
                      </a:pPr>
                      <a:r>
                        <a:rPr lang="en-US" sz="1000" u="none" strike="noStrike">
                          <a:effectLst/>
                        </a:rPr>
                        <a:t>1.2 ISG Lease</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r>
                        <a:rPr lang="en-US" sz="1000" u="none" strike="noStrike">
                          <a:effectLst/>
                        </a:rPr>
                        <a:t>2.2 S&amp;D</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r>
                        <a:rPr lang="en-US" sz="1000" u="none" strike="noStrike">
                          <a:effectLst/>
                        </a:rPr>
                        <a:t>3.2 MLA</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4.2 Consumption</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5.2 Indirect</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6.2 FL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7.2 Quarterly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8.2 External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9.2 3rd party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a:ea typeface="等线"/>
                        </a:rPr>
                        <a:t>Non-Lenovo</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11.2 EOT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12.2 SW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4318484"/>
                  </a:ext>
                </a:extLst>
              </a:tr>
              <a:tr h="371762">
                <a:tc>
                  <a:txBody>
                    <a:bodyPr/>
                    <a:lstStyle/>
                    <a:p>
                      <a:pPr lvl="0" algn="l">
                        <a:buNone/>
                      </a:pPr>
                      <a:r>
                        <a:rPr lang="en-US" sz="1000" u="none" strike="noStrike">
                          <a:effectLst/>
                        </a:rPr>
                        <a:t>1.3 IaaS</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r>
                        <a:rPr lang="en-US" sz="1000" u="none" strike="noStrike">
                          <a:effectLst/>
                        </a:rPr>
                        <a:t>2.3 AFE Hub</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endParaRPr lang="zh-Hans" alt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11.3 Early termination-</a:t>
                      </a:r>
                    </a:p>
                    <a:p>
                      <a:pPr algn="l" fontAlgn="b"/>
                      <a:r>
                        <a:rPr lang="en-US" sz="1000" u="none" strike="noStrike">
                          <a:effectLst/>
                        </a:rPr>
                        <a:t>Device Return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12.3 SVC - upfront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6459778"/>
                  </a:ext>
                </a:extLst>
              </a:tr>
              <a:tr h="371762">
                <a:tc>
                  <a:txBody>
                    <a:bodyPr/>
                    <a:lstStyle/>
                    <a:p>
                      <a:pPr lvl="0" algn="l">
                        <a:buNone/>
                      </a:pPr>
                      <a:r>
                        <a:rPr lang="en-US" sz="1000" u="none" strike="noStrike">
                          <a:effectLst/>
                        </a:rPr>
                        <a:t>1.4 Managed Capex (MSAAS)</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r>
                        <a:rPr lang="en-US" sz="1000" u="none" strike="noStrike">
                          <a:effectLst/>
                        </a:rPr>
                        <a:t>2.4 Central </a:t>
                      </a:r>
                      <a:endParaRPr lang="en-US"/>
                    </a:p>
                    <a:p>
                      <a:pPr lvl="0" algn="l">
                        <a:buNone/>
                      </a:pPr>
                      <a:r>
                        <a:rPr lang="en-US" sz="1000" u="none" strike="noStrike">
                          <a:effectLst/>
                        </a:rPr>
                        <a:t>Billing</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endParaRPr lang="zh-Hans" alt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11.4 Early termination-</a:t>
                      </a:r>
                    </a:p>
                    <a:p>
                      <a:pPr algn="l" fontAlgn="b"/>
                      <a:r>
                        <a:rPr lang="en-US" sz="1000" u="none" strike="noStrike">
                          <a:effectLst/>
                        </a:rPr>
                        <a:t>Device Lost/Stolen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12.4 SVC - upfront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766259"/>
                  </a:ext>
                </a:extLst>
              </a:tr>
              <a:tr h="739056">
                <a:tc>
                  <a:txBody>
                    <a:bodyPr/>
                    <a:lstStyle/>
                    <a:p>
                      <a:pPr lvl="0" algn="l">
                        <a:buNone/>
                      </a:pPr>
                      <a:r>
                        <a:rPr lang="en-US" sz="1000" u="none" strike="noStrike">
                          <a:effectLst/>
                        </a:rPr>
                        <a:t>1.5 On-demand Service /</a:t>
                      </a:r>
                      <a:endParaRPr lang="en-US"/>
                    </a:p>
                    <a:p>
                      <a:pPr lvl="0" algn="l">
                        <a:buNone/>
                      </a:pPr>
                      <a:r>
                        <a:rPr lang="en-US" sz="1000" u="none" strike="noStrike">
                          <a:effectLst/>
                        </a:rPr>
                        <a:t> onetime charge (ODS)</a:t>
                      </a:r>
                      <a:endParaRPr 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endParaRPr lang="zh-Hans" alt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vl="0" algn="l">
                        <a:buNone/>
                      </a:pPr>
                      <a:endParaRPr lang="zh-Hans" altLang="en-US" sz="1000" b="0" i="0" u="none" strike="noStrike">
                        <a:solidFill>
                          <a:srgbClr val="000000"/>
                        </a:solidFill>
                        <a:effectLst/>
                        <a:latin typeface="等线"/>
                        <a:ea typeface="等线"/>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11.5 Extension auto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12.5 SVC - on-going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7547337"/>
                  </a:ext>
                </a:extLst>
              </a:tr>
              <a:tr h="371762">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11.6 Extension with (fix/open)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12.6 SVC - on-going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9636292"/>
                  </a:ext>
                </a:extLst>
              </a:tr>
              <a:tr h="371762">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11.7 Flex pause/un-pause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12.7 SVC - end of term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6895235"/>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11.8 Flex down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5010452"/>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11.9 Swap stock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86706412"/>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11.10 Damage fund/charge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2673700"/>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11.11 SOR with Recourse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139168"/>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11.12 SOR with non-Recourse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21501152"/>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11.13 Syndication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6222521"/>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11.14 Asset Remarketing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1825426"/>
                  </a:ext>
                </a:extLst>
              </a:tr>
              <a:tr h="555409">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11.15 Manual adjustment – </a:t>
                      </a:r>
                    </a:p>
                    <a:p>
                      <a:pPr algn="l" fontAlgn="b"/>
                      <a:r>
                        <a:rPr lang="en-US" sz="1000" u="none" strike="noStrike">
                          <a:effectLst/>
                        </a:rPr>
                        <a:t>Credit /Debit Memo,Cancellation</a:t>
                      </a:r>
                    </a:p>
                    <a:p>
                      <a:pPr algn="l" fontAlgn="b"/>
                      <a:r>
                        <a:rPr lang="en-US" sz="1000" u="none" strike="noStrike">
                          <a:effectLst/>
                        </a:rPr>
                        <a:t>/Reverse</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348367"/>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11.16 A</a:t>
                      </a:r>
                      <a:r>
                        <a:rPr lang="en-US" altLang="zh-CN" sz="1000" b="0" i="0" u="none" strike="noStrike">
                          <a:solidFill>
                            <a:srgbClr val="000000"/>
                          </a:solidFill>
                          <a:effectLst/>
                          <a:latin typeface="等线" panose="02010600030101010101" pitchFamily="2" charset="-122"/>
                          <a:ea typeface="等线" panose="02010600030101010101" pitchFamily="2" charset="-122"/>
                        </a:rPr>
                        <a:t>dvanced billing (New)</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7808565"/>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11.17 Interim charge</a:t>
                      </a:r>
                      <a:r>
                        <a:rPr lang="en-US" altLang="zh-CN" sz="1000" b="0" i="0" u="none" strike="noStrike">
                          <a:solidFill>
                            <a:srgbClr val="000000"/>
                          </a:solidFill>
                          <a:effectLst/>
                          <a:latin typeface="等线" panose="02010600030101010101" pitchFamily="2" charset="-122"/>
                          <a:ea typeface="等线" panose="02010600030101010101" pitchFamily="2" charset="-122"/>
                        </a:rPr>
                        <a:t>(New)</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320056"/>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11.18 structured payment</a:t>
                      </a:r>
                      <a:r>
                        <a:rPr lang="en-US" altLang="zh-CN" sz="1000" b="0" i="0" u="none" strike="noStrike">
                          <a:solidFill>
                            <a:srgbClr val="000000"/>
                          </a:solidFill>
                          <a:effectLst/>
                          <a:latin typeface="等线" panose="02010600030101010101" pitchFamily="2" charset="-122"/>
                          <a:ea typeface="等线" panose="02010600030101010101" pitchFamily="2" charset="-122"/>
                        </a:rPr>
                        <a:t>(New)</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9889571"/>
                  </a:ext>
                </a:extLst>
              </a:tr>
              <a:tr h="188115">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11.19 mid term rewrite</a:t>
                      </a:r>
                      <a:r>
                        <a:rPr lang="en-US" altLang="zh-CN" sz="1000" b="0" i="0" u="none" strike="noStrike">
                          <a:solidFill>
                            <a:srgbClr val="000000"/>
                          </a:solidFill>
                          <a:effectLst/>
                          <a:latin typeface="等线" panose="02010600030101010101" pitchFamily="2" charset="-122"/>
                          <a:ea typeface="等线" panose="02010600030101010101" pitchFamily="2" charset="-122"/>
                        </a:rPr>
                        <a:t>(New)</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7077590"/>
                  </a:ext>
                </a:extLst>
              </a:tr>
            </a:tbl>
          </a:graphicData>
        </a:graphic>
      </p:graphicFrame>
      <p:sp>
        <p:nvSpPr>
          <p:cNvPr id="3" name="文本框 16">
            <a:extLst>
              <a:ext uri="{FF2B5EF4-FFF2-40B4-BE49-F238E27FC236}">
                <a16:creationId xmlns:a16="http://schemas.microsoft.com/office/drawing/2014/main" id="{C5F04A09-8BE6-B4FF-2B50-C4C0DB9E7F0C}"/>
              </a:ext>
            </a:extLst>
          </p:cNvPr>
          <p:cNvSpPr txBox="1"/>
          <p:nvPr/>
        </p:nvSpPr>
        <p:spPr>
          <a:xfrm>
            <a:off x="195320" y="131113"/>
            <a:ext cx="4470947" cy="400110"/>
          </a:xfrm>
          <a:prstGeom prst="rect">
            <a:avLst/>
          </a:prstGeom>
          <a:noFill/>
        </p:spPr>
        <p:txBody>
          <a:bodyPr wrap="square" rtlCol="0">
            <a:spAutoFit/>
          </a:bodyPr>
          <a:lstStyle/>
          <a:p>
            <a:r>
              <a:rPr lang="nl-NL" altLang="zh-CN" sz="2000" b="1"/>
              <a:t>Scenario Mapping Table</a:t>
            </a:r>
            <a:endParaRPr lang="zh-CN" altLang="en-US" sz="2000" b="1"/>
          </a:p>
        </p:txBody>
      </p:sp>
    </p:spTree>
    <p:extLst>
      <p:ext uri="{BB962C8B-B14F-4D97-AF65-F5344CB8AC3E}">
        <p14:creationId xmlns:p14="http://schemas.microsoft.com/office/powerpoint/2010/main" val="1656745858"/>
      </p:ext>
    </p:extLst>
  </p:cSld>
  <p:clrMapOvr>
    <a:masterClrMapping/>
  </p:clrMapOvr>
  <p:transition spd="med"/>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A6EFA2-24CD-10F0-DD1B-8FDC129AC52B}"/>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EEF0F81E-5AB2-79C1-7E3A-81B58A1C6E8B}"/>
              </a:ext>
            </a:extLst>
          </p:cNvPr>
          <p:cNvSpPr>
            <a:spLocks noGrp="1"/>
          </p:cNvSpPr>
          <p:nvPr>
            <p:ph type="title"/>
          </p:nvPr>
        </p:nvSpPr>
        <p:spPr/>
        <p:txBody>
          <a:bodyPr/>
          <a:lstStyle/>
          <a:p>
            <a:r>
              <a:rPr lang="en-US" sz="5800">
                <a:solidFill>
                  <a:prstClr val="white"/>
                </a:solidFill>
              </a:rPr>
              <a:t>Existing EaaS Scenarios</a:t>
            </a:r>
            <a:endParaRPr lang="en-US"/>
          </a:p>
        </p:txBody>
      </p:sp>
      <p:pic>
        <p:nvPicPr>
          <p:cNvPr id="2" name="Graphic 1" descr="Airplane with solid fill">
            <a:hlinkClick r:id="rId3" action="ppaction://hlinksldjump"/>
            <a:extLst>
              <a:ext uri="{FF2B5EF4-FFF2-40B4-BE49-F238E27FC236}">
                <a16:creationId xmlns:a16="http://schemas.microsoft.com/office/drawing/2014/main" id="{95758D7F-0DDE-90CF-1C8F-7C4D1E504E7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1792035" y="-9529"/>
            <a:ext cx="457705" cy="457705"/>
          </a:xfrm>
          <a:prstGeom prst="rect">
            <a:avLst/>
          </a:prstGeom>
        </p:spPr>
      </p:pic>
    </p:spTree>
    <p:extLst>
      <p:ext uri="{BB962C8B-B14F-4D97-AF65-F5344CB8AC3E}">
        <p14:creationId xmlns:p14="http://schemas.microsoft.com/office/powerpoint/2010/main" val="1669149668"/>
      </p:ext>
    </p:extLst>
  </p:cSld>
  <p:clrMapOvr>
    <a:masterClrMapping/>
  </p:clrMapOvr>
  <p:transition spd="med"/>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5720BA72-E2BD-CC0E-92B4-CEEE1707CFEA}"/>
              </a:ext>
            </a:extLst>
          </p:cNvPr>
          <p:cNvGraphicFramePr>
            <a:graphicFrameLocks noGrp="1"/>
          </p:cNvGraphicFramePr>
          <p:nvPr>
            <p:extLst>
              <p:ext uri="{D42A27DB-BD31-4B8C-83A1-F6EECF244321}">
                <p14:modId xmlns:p14="http://schemas.microsoft.com/office/powerpoint/2010/main" val="1055426416"/>
              </p:ext>
            </p:extLst>
          </p:nvPr>
        </p:nvGraphicFramePr>
        <p:xfrm>
          <a:off x="48616" y="744279"/>
          <a:ext cx="11766465" cy="5863124"/>
        </p:xfrm>
        <a:graphic>
          <a:graphicData uri="http://schemas.openxmlformats.org/drawingml/2006/table">
            <a:tbl>
              <a:tblPr>
                <a:tableStyleId>{5C22544A-7EE6-4342-B048-85BDC9FD1C3A}</a:tableStyleId>
              </a:tblPr>
              <a:tblGrid>
                <a:gridCol w="616824">
                  <a:extLst>
                    <a:ext uri="{9D8B030D-6E8A-4147-A177-3AD203B41FA5}">
                      <a16:colId xmlns:a16="http://schemas.microsoft.com/office/drawing/2014/main" val="4000147225"/>
                    </a:ext>
                  </a:extLst>
                </a:gridCol>
                <a:gridCol w="721662">
                  <a:extLst>
                    <a:ext uri="{9D8B030D-6E8A-4147-A177-3AD203B41FA5}">
                      <a16:colId xmlns:a16="http://schemas.microsoft.com/office/drawing/2014/main" val="3461385236"/>
                    </a:ext>
                  </a:extLst>
                </a:gridCol>
                <a:gridCol w="1041667">
                  <a:extLst>
                    <a:ext uri="{9D8B030D-6E8A-4147-A177-3AD203B41FA5}">
                      <a16:colId xmlns:a16="http://schemas.microsoft.com/office/drawing/2014/main" val="483276459"/>
                    </a:ext>
                  </a:extLst>
                </a:gridCol>
                <a:gridCol w="892542">
                  <a:extLst>
                    <a:ext uri="{9D8B030D-6E8A-4147-A177-3AD203B41FA5}">
                      <a16:colId xmlns:a16="http://schemas.microsoft.com/office/drawing/2014/main" val="3787700465"/>
                    </a:ext>
                  </a:extLst>
                </a:gridCol>
                <a:gridCol w="735753">
                  <a:extLst>
                    <a:ext uri="{9D8B030D-6E8A-4147-A177-3AD203B41FA5}">
                      <a16:colId xmlns:a16="http://schemas.microsoft.com/office/drawing/2014/main" val="2232385994"/>
                    </a:ext>
                  </a:extLst>
                </a:gridCol>
                <a:gridCol w="540277">
                  <a:extLst>
                    <a:ext uri="{9D8B030D-6E8A-4147-A177-3AD203B41FA5}">
                      <a16:colId xmlns:a16="http://schemas.microsoft.com/office/drawing/2014/main" val="2624620257"/>
                    </a:ext>
                  </a:extLst>
                </a:gridCol>
                <a:gridCol w="847734">
                  <a:extLst>
                    <a:ext uri="{9D8B030D-6E8A-4147-A177-3AD203B41FA5}">
                      <a16:colId xmlns:a16="http://schemas.microsoft.com/office/drawing/2014/main" val="109940872"/>
                    </a:ext>
                  </a:extLst>
                </a:gridCol>
                <a:gridCol w="721662">
                  <a:extLst>
                    <a:ext uri="{9D8B030D-6E8A-4147-A177-3AD203B41FA5}">
                      <a16:colId xmlns:a16="http://schemas.microsoft.com/office/drawing/2014/main" val="2389772416"/>
                    </a:ext>
                  </a:extLst>
                </a:gridCol>
                <a:gridCol w="688734">
                  <a:extLst>
                    <a:ext uri="{9D8B030D-6E8A-4147-A177-3AD203B41FA5}">
                      <a16:colId xmlns:a16="http://schemas.microsoft.com/office/drawing/2014/main" val="874425061"/>
                    </a:ext>
                  </a:extLst>
                </a:gridCol>
                <a:gridCol w="898155">
                  <a:extLst>
                    <a:ext uri="{9D8B030D-6E8A-4147-A177-3AD203B41FA5}">
                      <a16:colId xmlns:a16="http://schemas.microsoft.com/office/drawing/2014/main" val="1465838711"/>
                    </a:ext>
                  </a:extLst>
                </a:gridCol>
                <a:gridCol w="2192703">
                  <a:extLst>
                    <a:ext uri="{9D8B030D-6E8A-4147-A177-3AD203B41FA5}">
                      <a16:colId xmlns:a16="http://schemas.microsoft.com/office/drawing/2014/main" val="2517919499"/>
                    </a:ext>
                  </a:extLst>
                </a:gridCol>
                <a:gridCol w="1868752">
                  <a:extLst>
                    <a:ext uri="{9D8B030D-6E8A-4147-A177-3AD203B41FA5}">
                      <a16:colId xmlns:a16="http://schemas.microsoft.com/office/drawing/2014/main" val="2358262028"/>
                    </a:ext>
                  </a:extLst>
                </a:gridCol>
              </a:tblGrid>
              <a:tr h="601273">
                <a:tc>
                  <a:txBody>
                    <a:bodyPr/>
                    <a:lstStyle/>
                    <a:p>
                      <a:pPr algn="l" fontAlgn="b"/>
                      <a:r>
                        <a:rPr lang="en-US" sz="1000" b="1" u="none" strike="noStrike">
                          <a:effectLst/>
                        </a:rPr>
                        <a:t>1.Offering</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2. Business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3.Contract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4.Charge 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5. RTM</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6. Lease </a:t>
                      </a:r>
                    </a:p>
                    <a:p>
                      <a:pPr algn="l" fontAlgn="b"/>
                      <a:r>
                        <a:rPr lang="en-US" sz="1000" b="1" u="none" strike="noStrike">
                          <a:effectLst/>
                        </a:rPr>
                        <a:t>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7. Billing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8. Funding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9. Product Ctgry</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i="0" u="none" strike="noStrike">
                          <a:solidFill>
                            <a:srgbClr val="000000"/>
                          </a:solidFill>
                          <a:effectLst/>
                          <a:latin typeface="等线" panose="02010600030101010101" pitchFamily="2" charset="-122"/>
                          <a:ea typeface="等线" panose="02010600030101010101" pitchFamily="2" charset="-122"/>
                        </a:rPr>
                        <a:t>10. Fulfillment Method</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11. Events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12. Offering Elements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1316032673"/>
                  </a:ext>
                </a:extLst>
              </a:tr>
              <a:tr h="312929">
                <a:tc>
                  <a:txBody>
                    <a:bodyPr/>
                    <a:lstStyle/>
                    <a:p>
                      <a:pPr algn="l" fontAlgn="b"/>
                      <a:r>
                        <a:rPr lang="en-US" sz="1000" u="none" strike="noStrike">
                          <a:effectLst/>
                        </a:rPr>
                        <a:t>1.1DaaS</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3.1 MSA</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4.1 Fixed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5.1 Direct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6.1 OL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7.1 Monthly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8.1 Internal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9.1 Lenovo</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Lenovo</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 Normal Pass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12.1 HW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5508739"/>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2.2 S&amp;D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3.2 MLA</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6.2 FL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8.2 External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9.2 3rd party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Non-Lenovo</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11.2 EOT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12.2 SW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4318484"/>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11.3 Early termination-</a:t>
                      </a:r>
                    </a:p>
                    <a:p>
                      <a:pPr algn="l" fontAlgn="b"/>
                      <a:r>
                        <a:rPr lang="en-US" sz="1000" u="none" strike="noStrike">
                          <a:effectLst/>
                        </a:rPr>
                        <a:t>Device Return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12.3 SVC - upfront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6459778"/>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11.4 Early termination-</a:t>
                      </a:r>
                    </a:p>
                    <a:p>
                      <a:pPr algn="l" fontAlgn="b"/>
                      <a:r>
                        <a:rPr lang="en-US" sz="1000" u="none" strike="noStrike">
                          <a:effectLst/>
                        </a:rPr>
                        <a:t>Device Lost/Stolen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12.4 SVC - upfront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766259"/>
                  </a:ext>
                </a:extLst>
              </a:tr>
              <a:tr h="625860">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11.5 Extension auto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Hans" sz="1000" u="none" strike="noStrike">
                          <a:effectLst/>
                        </a:rPr>
                        <a:t>12.5 SVC - upfront - not funded (one</a:t>
                      </a:r>
                      <a:r>
                        <a:rPr lang="zh-CN" altLang="en-US" sz="1000" u="none" strike="noStrike">
                          <a:effectLst/>
                        </a:rPr>
                        <a:t> </a:t>
                      </a:r>
                      <a:r>
                        <a:rPr lang="en-US" altLang="zh-Hans" sz="1000" u="none" strike="noStrike">
                          <a:effectLst/>
                        </a:rPr>
                        <a:t>time)</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7547337"/>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11.6 Extension with (fix/open)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12.6 SVC - on-going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963629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11.7 Flex pause/un-pause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12.7 SVC - on-going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6895235"/>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11.8 Flex down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12.8 SVC - end of term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50104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11.9 Swap stock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8670641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11.10 Damage fund/charge </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2673700"/>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11.11 SOR with Recourse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139168"/>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11.12 SOR with non-Recourse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215011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11.13 Syndication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6222521"/>
                  </a:ext>
                </a:extLst>
              </a:tr>
              <a:tr h="312929">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sngStrike">
                          <a:solidFill>
                            <a:srgbClr val="000000"/>
                          </a:solidFill>
                          <a:effectLst/>
                          <a:latin typeface="等线" panose="02010600030101010101" pitchFamily="2" charset="-122"/>
                          <a:ea typeface="等线" panose="02010600030101010101" pitchFamily="2" charset="-122"/>
                        </a:rPr>
                        <a:t>11.14 Asset Remarketing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1825426"/>
                  </a:ext>
                </a:extLst>
              </a:tr>
              <a:tr h="567914">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11.15 Manual adjustment – </a:t>
                      </a:r>
                    </a:p>
                    <a:p>
                      <a:pPr algn="l" fontAlgn="b"/>
                      <a:r>
                        <a:rPr lang="en-US" sz="1000" u="none" strike="noStrike">
                          <a:effectLst/>
                        </a:rPr>
                        <a:t>Credit /Debit </a:t>
                      </a:r>
                      <a:r>
                        <a:rPr lang="en-US" sz="1000" u="none" strike="noStrike" err="1">
                          <a:effectLst/>
                        </a:rPr>
                        <a:t>Memo,Cancellation</a:t>
                      </a:r>
                      <a:endParaRPr lang="en-US" sz="1000" u="none" strike="noStrike">
                        <a:effectLst/>
                      </a:endParaRPr>
                    </a:p>
                    <a:p>
                      <a:pPr algn="l" fontAlgn="b"/>
                      <a:r>
                        <a:rPr lang="en-US" sz="1000" u="none" strike="noStrike">
                          <a:effectLst/>
                        </a:rPr>
                        <a:t>/Reverse</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348367"/>
                  </a:ext>
                </a:extLst>
              </a:tr>
            </a:tbl>
          </a:graphicData>
        </a:graphic>
      </p:graphicFrame>
      <p:sp>
        <p:nvSpPr>
          <p:cNvPr id="3" name="文本框 16">
            <a:extLst>
              <a:ext uri="{FF2B5EF4-FFF2-40B4-BE49-F238E27FC236}">
                <a16:creationId xmlns:a16="http://schemas.microsoft.com/office/drawing/2014/main" id="{2A545A0B-F758-FFB0-24FD-1CE6E4C7FF7C}"/>
              </a:ext>
            </a:extLst>
          </p:cNvPr>
          <p:cNvSpPr txBox="1"/>
          <p:nvPr/>
        </p:nvSpPr>
        <p:spPr>
          <a:xfrm>
            <a:off x="195320" y="131113"/>
            <a:ext cx="4470947" cy="400110"/>
          </a:xfrm>
          <a:prstGeom prst="rect">
            <a:avLst/>
          </a:prstGeom>
          <a:noFill/>
        </p:spPr>
        <p:txBody>
          <a:bodyPr wrap="square" rtlCol="0">
            <a:spAutoFit/>
          </a:bodyPr>
          <a:lstStyle/>
          <a:p>
            <a:r>
              <a:rPr lang="nl-NL" altLang="zh-CN" sz="2000" b="1"/>
              <a:t>DaaS_S&amp;D_MSA&amp;MLA</a:t>
            </a:r>
            <a:endParaRPr lang="zh-CN" altLang="en-US" sz="2000" b="1"/>
          </a:p>
        </p:txBody>
      </p:sp>
    </p:spTree>
    <p:extLst>
      <p:ext uri="{BB962C8B-B14F-4D97-AF65-F5344CB8AC3E}">
        <p14:creationId xmlns:p14="http://schemas.microsoft.com/office/powerpoint/2010/main" val="2416553244"/>
      </p:ext>
    </p:extLst>
  </p:cSld>
  <p:clrMapOvr>
    <a:masterClrMapping/>
  </p:clrMapOvr>
  <p:transition spd="med"/>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18" name="组合 117">
            <a:extLst>
              <a:ext uri="{FF2B5EF4-FFF2-40B4-BE49-F238E27FC236}">
                <a16:creationId xmlns:a16="http://schemas.microsoft.com/office/drawing/2014/main" id="{A6E4CDC8-27D1-7283-CE7E-859B72BC43C0}"/>
              </a:ext>
            </a:extLst>
          </p:cNvPr>
          <p:cNvGrpSpPr/>
          <p:nvPr/>
        </p:nvGrpSpPr>
        <p:grpSpPr>
          <a:xfrm>
            <a:off x="297816" y="805518"/>
            <a:ext cx="11255055" cy="3623731"/>
            <a:chOff x="511301" y="67179"/>
            <a:chExt cx="11255055" cy="3623731"/>
          </a:xfrm>
        </p:grpSpPr>
        <p:grpSp>
          <p:nvGrpSpPr>
            <p:cNvPr id="45" name="组合 44">
              <a:extLst>
                <a:ext uri="{FF2B5EF4-FFF2-40B4-BE49-F238E27FC236}">
                  <a16:creationId xmlns:a16="http://schemas.microsoft.com/office/drawing/2014/main" id="{5FC35456-4F44-64AA-AE80-4DF4320E7C92}"/>
                </a:ext>
              </a:extLst>
            </p:cNvPr>
            <p:cNvGrpSpPr/>
            <p:nvPr/>
          </p:nvGrpSpPr>
          <p:grpSpPr>
            <a:xfrm>
              <a:off x="511301" y="855328"/>
              <a:ext cx="7200628" cy="1665237"/>
              <a:chOff x="530727" y="2355276"/>
              <a:chExt cx="10811873" cy="2026817"/>
            </a:xfrm>
          </p:grpSpPr>
          <p:pic>
            <p:nvPicPr>
              <p:cNvPr id="4" name="Graphic 20" descr="Badge 4 with solid fill">
                <a:extLst>
                  <a:ext uri="{FF2B5EF4-FFF2-40B4-BE49-F238E27FC236}">
                    <a16:creationId xmlns:a16="http://schemas.microsoft.com/office/drawing/2014/main" id="{EBD8FC60-E3F4-F149-4F52-ACAA6887CF9D}"/>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7295560" y="2430803"/>
                <a:ext cx="368399" cy="345594"/>
              </a:xfrm>
              <a:prstGeom prst="rect">
                <a:avLst/>
              </a:prstGeom>
            </p:spPr>
          </p:pic>
          <p:pic>
            <p:nvPicPr>
              <p:cNvPr id="5" name="Graphic 24" descr="Badge with solid fill">
                <a:extLst>
                  <a:ext uri="{FF2B5EF4-FFF2-40B4-BE49-F238E27FC236}">
                    <a16:creationId xmlns:a16="http://schemas.microsoft.com/office/drawing/2014/main" id="{8D09DF90-DDB7-8979-06F2-DFB61C1D221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125094" y="2355276"/>
                <a:ext cx="368399" cy="345594"/>
              </a:xfrm>
              <a:prstGeom prst="rect">
                <a:avLst/>
              </a:prstGeom>
            </p:spPr>
          </p:pic>
          <p:pic>
            <p:nvPicPr>
              <p:cNvPr id="6" name="Graphic 26" descr="Badge 3 with solid fill">
                <a:extLst>
                  <a:ext uri="{FF2B5EF4-FFF2-40B4-BE49-F238E27FC236}">
                    <a16:creationId xmlns:a16="http://schemas.microsoft.com/office/drawing/2014/main" id="{1289365C-F74A-7598-B883-5E8F665B826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763970" y="2472468"/>
                <a:ext cx="368399" cy="345594"/>
              </a:xfrm>
              <a:prstGeom prst="rect">
                <a:avLst/>
              </a:prstGeom>
            </p:spPr>
          </p:pic>
          <p:pic>
            <p:nvPicPr>
              <p:cNvPr id="7" name="Graphic 28" descr="Badge 5 with solid fill">
                <a:extLst>
                  <a:ext uri="{FF2B5EF4-FFF2-40B4-BE49-F238E27FC236}">
                    <a16:creationId xmlns:a16="http://schemas.microsoft.com/office/drawing/2014/main" id="{EA82A7FF-835C-CB9D-16BE-9C90E971C49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4878" y="2421909"/>
                <a:ext cx="368399" cy="345594"/>
              </a:xfrm>
              <a:prstGeom prst="rect">
                <a:avLst/>
              </a:prstGeom>
            </p:spPr>
          </p:pic>
          <p:pic>
            <p:nvPicPr>
              <p:cNvPr id="8" name="Graphic 30" descr="Badge 1 with solid fill">
                <a:extLst>
                  <a:ext uri="{FF2B5EF4-FFF2-40B4-BE49-F238E27FC236}">
                    <a16:creationId xmlns:a16="http://schemas.microsoft.com/office/drawing/2014/main" id="{7E82A34F-26A2-2539-0061-14E00743FE2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530727" y="2359275"/>
                <a:ext cx="368399" cy="345594"/>
              </a:xfrm>
              <a:prstGeom prst="rect">
                <a:avLst/>
              </a:prstGeom>
            </p:spPr>
          </p:pic>
          <p:sp>
            <p:nvSpPr>
              <p:cNvPr id="9" name="TextBox 88">
                <a:extLst>
                  <a:ext uri="{FF2B5EF4-FFF2-40B4-BE49-F238E27FC236}">
                    <a16:creationId xmlns:a16="http://schemas.microsoft.com/office/drawing/2014/main" id="{0A2B4E9E-99DB-A572-EB8D-B909C9CABDEB}"/>
                  </a:ext>
                </a:extLst>
              </p:cNvPr>
              <p:cNvSpPr txBox="1"/>
              <p:nvPr/>
            </p:nvSpPr>
            <p:spPr>
              <a:xfrm>
                <a:off x="3359572" y="4191671"/>
                <a:ext cx="1446769"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SPS Cut-off date</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10" name="TextBox 89">
                <a:extLst>
                  <a:ext uri="{FF2B5EF4-FFF2-40B4-BE49-F238E27FC236}">
                    <a16:creationId xmlns:a16="http://schemas.microsoft.com/office/drawing/2014/main" id="{9CCD0F86-1169-1BF9-4B86-F4239FDAEC3E}"/>
                  </a:ext>
                </a:extLst>
              </p:cNvPr>
              <p:cNvSpPr txBox="1"/>
              <p:nvPr/>
            </p:nvSpPr>
            <p:spPr>
              <a:xfrm>
                <a:off x="6071988" y="4056824"/>
                <a:ext cx="1257756"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Lease commence</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cxnSp>
            <p:nvCxnSpPr>
              <p:cNvPr id="11" name="Straight Arrow Connector 90">
                <a:extLst>
                  <a:ext uri="{FF2B5EF4-FFF2-40B4-BE49-F238E27FC236}">
                    <a16:creationId xmlns:a16="http://schemas.microsoft.com/office/drawing/2014/main" id="{313907D7-C7D7-6B77-A5D0-A523A332E2BD}"/>
                  </a:ext>
                </a:extLst>
              </p:cNvPr>
              <p:cNvCxnSpPr>
                <a:cxnSpLocks/>
              </p:cNvCxnSpPr>
              <p:nvPr/>
            </p:nvCxnSpPr>
            <p:spPr>
              <a:xfrm flipV="1">
                <a:off x="1102536" y="3483852"/>
                <a:ext cx="10240064" cy="8070"/>
              </a:xfrm>
              <a:prstGeom prst="straightConnector1">
                <a:avLst/>
              </a:prstGeom>
              <a:noFill/>
              <a:ln>
                <a:headEnd type="oval"/>
                <a:tailEnd type="triangle"/>
              </a:ln>
            </p:spPr>
            <p:style>
              <a:lnRef idx="1">
                <a:schemeClr val="dk1"/>
              </a:lnRef>
              <a:fillRef idx="0">
                <a:schemeClr val="dk1"/>
              </a:fillRef>
              <a:effectRef idx="0">
                <a:schemeClr val="dk1"/>
              </a:effectRef>
              <a:fontRef idx="minor">
                <a:schemeClr val="tx1"/>
              </a:fontRef>
            </p:style>
          </p:cxnSp>
          <p:cxnSp>
            <p:nvCxnSpPr>
              <p:cNvPr id="12" name="Straight Connector 91">
                <a:extLst>
                  <a:ext uri="{FF2B5EF4-FFF2-40B4-BE49-F238E27FC236}">
                    <a16:creationId xmlns:a16="http://schemas.microsoft.com/office/drawing/2014/main" id="{5F6EBA08-DC53-EA7F-E407-7CE2924C6C48}"/>
                  </a:ext>
                </a:extLst>
              </p:cNvPr>
              <p:cNvCxnSpPr>
                <a:cxnSpLocks/>
              </p:cNvCxnSpPr>
              <p:nvPr/>
            </p:nvCxnSpPr>
            <p:spPr>
              <a:xfrm>
                <a:off x="1519341" y="3313430"/>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cxnSp>
            <p:nvCxnSpPr>
              <p:cNvPr id="13" name="Straight Connector 92">
                <a:extLst>
                  <a:ext uri="{FF2B5EF4-FFF2-40B4-BE49-F238E27FC236}">
                    <a16:creationId xmlns:a16="http://schemas.microsoft.com/office/drawing/2014/main" id="{86549F82-3B34-103B-F677-97A1584D45D2}"/>
                  </a:ext>
                </a:extLst>
              </p:cNvPr>
              <p:cNvCxnSpPr>
                <a:cxnSpLocks/>
              </p:cNvCxnSpPr>
              <p:nvPr/>
            </p:nvCxnSpPr>
            <p:spPr>
              <a:xfrm>
                <a:off x="4159066" y="3313430"/>
                <a:ext cx="0" cy="322640"/>
              </a:xfrm>
              <a:prstGeom prst="line">
                <a:avLst/>
              </a:prstGeom>
              <a:noFill/>
              <a:ln>
                <a:prstDash val="dash"/>
                <a:tailEnd type="none"/>
              </a:ln>
            </p:spPr>
            <p:style>
              <a:lnRef idx="1">
                <a:schemeClr val="dk1"/>
              </a:lnRef>
              <a:fillRef idx="0">
                <a:schemeClr val="dk1"/>
              </a:fillRef>
              <a:effectRef idx="0">
                <a:schemeClr val="dk1"/>
              </a:effectRef>
              <a:fontRef idx="minor">
                <a:schemeClr val="tx1"/>
              </a:fontRef>
            </p:style>
          </p:cxnSp>
          <p:sp>
            <p:nvSpPr>
              <p:cNvPr id="14" name="Right Brace 93">
                <a:extLst>
                  <a:ext uri="{FF2B5EF4-FFF2-40B4-BE49-F238E27FC236}">
                    <a16:creationId xmlns:a16="http://schemas.microsoft.com/office/drawing/2014/main" id="{FF54E926-0742-2822-8199-E42D7A975E67}"/>
                  </a:ext>
                </a:extLst>
              </p:cNvPr>
              <p:cNvSpPr/>
              <p:nvPr/>
            </p:nvSpPr>
            <p:spPr>
              <a:xfrm rot="16200000">
                <a:off x="2701284" y="1851657"/>
                <a:ext cx="275836" cy="2639721"/>
              </a:xfrm>
              <a:prstGeom prst="rightBrace">
                <a:avLst>
                  <a:gd name="adj1" fmla="val 91317"/>
                  <a:gd name="adj2" fmla="val 50574"/>
                </a:avLst>
              </a:prstGeom>
              <a:noFill/>
              <a:ln>
                <a:tailEnd type="none"/>
              </a:ln>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1218565"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mn-ea"/>
                  <a:cs typeface="+mn-cs"/>
                </a:endParaRPr>
              </a:p>
            </p:txBody>
          </p:sp>
          <p:sp>
            <p:nvSpPr>
              <p:cNvPr id="15" name="TextBox 94">
                <a:extLst>
                  <a:ext uri="{FF2B5EF4-FFF2-40B4-BE49-F238E27FC236}">
                    <a16:creationId xmlns:a16="http://schemas.microsoft.com/office/drawing/2014/main" id="{D4FB787B-E6E8-18BA-2902-DB07B48457D2}"/>
                  </a:ext>
                </a:extLst>
              </p:cNvPr>
              <p:cNvSpPr txBox="1"/>
              <p:nvPr/>
            </p:nvSpPr>
            <p:spPr>
              <a:xfrm>
                <a:off x="1194480" y="3601269"/>
                <a:ext cx="1030894"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Feb 18</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16" name="TextBox 95">
                <a:extLst>
                  <a:ext uri="{FF2B5EF4-FFF2-40B4-BE49-F238E27FC236}">
                    <a16:creationId xmlns:a16="http://schemas.microsoft.com/office/drawing/2014/main" id="{3C5931D2-10D6-9CCC-B502-95D1C9F99261}"/>
                  </a:ext>
                </a:extLst>
              </p:cNvPr>
              <p:cNvSpPr txBox="1"/>
              <p:nvPr/>
            </p:nvSpPr>
            <p:spPr>
              <a:xfrm>
                <a:off x="3798502" y="3585076"/>
                <a:ext cx="904147"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Mar 18</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17" name="Straight Connector 96">
                <a:extLst>
                  <a:ext uri="{FF2B5EF4-FFF2-40B4-BE49-F238E27FC236}">
                    <a16:creationId xmlns:a16="http://schemas.microsoft.com/office/drawing/2014/main" id="{E3AE64A4-757F-DAAC-8DCB-CEA4CF44FD4F}"/>
                  </a:ext>
                </a:extLst>
              </p:cNvPr>
              <p:cNvCxnSpPr>
                <a:cxnSpLocks/>
              </p:cNvCxnSpPr>
              <p:nvPr/>
            </p:nvCxnSpPr>
            <p:spPr>
              <a:xfrm>
                <a:off x="5689313" y="3330448"/>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18" name="TextBox 97">
                <a:extLst>
                  <a:ext uri="{FF2B5EF4-FFF2-40B4-BE49-F238E27FC236}">
                    <a16:creationId xmlns:a16="http://schemas.microsoft.com/office/drawing/2014/main" id="{DB2AE262-229E-86EA-277F-8E7E96CDE347}"/>
                  </a:ext>
                </a:extLst>
              </p:cNvPr>
              <p:cNvSpPr txBox="1"/>
              <p:nvPr/>
            </p:nvSpPr>
            <p:spPr>
              <a:xfrm>
                <a:off x="5346959" y="3589293"/>
                <a:ext cx="952888"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Mar 25</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19" name="Straight Connector 98">
                <a:extLst>
                  <a:ext uri="{FF2B5EF4-FFF2-40B4-BE49-F238E27FC236}">
                    <a16:creationId xmlns:a16="http://schemas.microsoft.com/office/drawing/2014/main" id="{451EC747-058B-B838-D92D-443E2AEFA35E}"/>
                  </a:ext>
                </a:extLst>
              </p:cNvPr>
              <p:cNvCxnSpPr>
                <a:cxnSpLocks/>
              </p:cNvCxnSpPr>
              <p:nvPr/>
            </p:nvCxnSpPr>
            <p:spPr>
              <a:xfrm>
                <a:off x="6694266" y="3330448"/>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20" name="TextBox 99">
                <a:extLst>
                  <a:ext uri="{FF2B5EF4-FFF2-40B4-BE49-F238E27FC236}">
                    <a16:creationId xmlns:a16="http://schemas.microsoft.com/office/drawing/2014/main" id="{9E58BBE8-F582-9B38-929C-4E6CF6C32D85}"/>
                  </a:ext>
                </a:extLst>
              </p:cNvPr>
              <p:cNvSpPr txBox="1"/>
              <p:nvPr/>
            </p:nvSpPr>
            <p:spPr>
              <a:xfrm>
                <a:off x="6377648" y="3588874"/>
                <a:ext cx="881453"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1</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st</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21" name="TextBox 100">
                <a:extLst>
                  <a:ext uri="{FF2B5EF4-FFF2-40B4-BE49-F238E27FC236}">
                    <a16:creationId xmlns:a16="http://schemas.microsoft.com/office/drawing/2014/main" id="{3DA683C8-446E-04B3-A509-BFF59CFDA4DB}"/>
                  </a:ext>
                </a:extLst>
              </p:cNvPr>
              <p:cNvSpPr txBox="1"/>
              <p:nvPr/>
            </p:nvSpPr>
            <p:spPr>
              <a:xfrm>
                <a:off x="5131617" y="4056823"/>
                <a:ext cx="1085945"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SPS Sign-off</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22" name="TextBox 101">
                <a:extLst>
                  <a:ext uri="{FF2B5EF4-FFF2-40B4-BE49-F238E27FC236}">
                    <a16:creationId xmlns:a16="http://schemas.microsoft.com/office/drawing/2014/main" id="{787CE957-BD37-B492-3240-10F5E9C65F40}"/>
                  </a:ext>
                </a:extLst>
              </p:cNvPr>
              <p:cNvSpPr txBox="1"/>
              <p:nvPr/>
            </p:nvSpPr>
            <p:spPr>
              <a:xfrm>
                <a:off x="2355918" y="3588874"/>
                <a:ext cx="1109355"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18</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 17</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23" name="Straight Connector 102">
                <a:extLst>
                  <a:ext uri="{FF2B5EF4-FFF2-40B4-BE49-F238E27FC236}">
                    <a16:creationId xmlns:a16="http://schemas.microsoft.com/office/drawing/2014/main" id="{371D5E65-3E18-566B-132A-60C4AFF23E21}"/>
                  </a:ext>
                </a:extLst>
              </p:cNvPr>
              <p:cNvCxnSpPr>
                <a:cxnSpLocks/>
              </p:cNvCxnSpPr>
              <p:nvPr/>
            </p:nvCxnSpPr>
            <p:spPr>
              <a:xfrm>
                <a:off x="7840922" y="3320811"/>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24" name="TextBox 108">
                <a:extLst>
                  <a:ext uri="{FF2B5EF4-FFF2-40B4-BE49-F238E27FC236}">
                    <a16:creationId xmlns:a16="http://schemas.microsoft.com/office/drawing/2014/main" id="{ED421EC9-434F-21C2-2A0E-CEFDF7F321AB}"/>
                  </a:ext>
                </a:extLst>
              </p:cNvPr>
              <p:cNvSpPr txBox="1"/>
              <p:nvPr/>
            </p:nvSpPr>
            <p:spPr>
              <a:xfrm>
                <a:off x="1975897" y="3899330"/>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Customer Acceptance</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25" name="TextBox 109">
                <a:extLst>
                  <a:ext uri="{FF2B5EF4-FFF2-40B4-BE49-F238E27FC236}">
                    <a16:creationId xmlns:a16="http://schemas.microsoft.com/office/drawing/2014/main" id="{2A150FE2-5461-4394-7E17-5853311634A8}"/>
                  </a:ext>
                </a:extLst>
              </p:cNvPr>
              <p:cNvSpPr txBox="1"/>
              <p:nvPr/>
            </p:nvSpPr>
            <p:spPr>
              <a:xfrm>
                <a:off x="5934339" y="2472384"/>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Finance lease M0 recognition</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26" name="Arrow: Right 110">
                <a:extLst>
                  <a:ext uri="{FF2B5EF4-FFF2-40B4-BE49-F238E27FC236}">
                    <a16:creationId xmlns:a16="http://schemas.microsoft.com/office/drawing/2014/main" id="{8DD408D4-DE99-5794-1C44-D5C8764A4380}"/>
                  </a:ext>
                </a:extLst>
              </p:cNvPr>
              <p:cNvSpPr/>
              <p:nvPr/>
            </p:nvSpPr>
            <p:spPr>
              <a:xfrm rot="16200000">
                <a:off x="6608513" y="3030129"/>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Arial"/>
                  <a:ea typeface="+mn-ea"/>
                  <a:cs typeface="+mn-cs"/>
                </a:endParaRPr>
              </a:p>
            </p:txBody>
          </p:sp>
          <p:sp>
            <p:nvSpPr>
              <p:cNvPr id="27" name="TextBox 113">
                <a:extLst>
                  <a:ext uri="{FF2B5EF4-FFF2-40B4-BE49-F238E27FC236}">
                    <a16:creationId xmlns:a16="http://schemas.microsoft.com/office/drawing/2014/main" id="{620369FA-DA99-55EE-9620-A258835BDB13}"/>
                  </a:ext>
                </a:extLst>
              </p:cNvPr>
              <p:cNvSpPr txBox="1"/>
              <p:nvPr/>
            </p:nvSpPr>
            <p:spPr>
              <a:xfrm>
                <a:off x="7056878" y="2690808"/>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AR Entry</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28" name="Arrow: Right 114">
                <a:extLst>
                  <a:ext uri="{FF2B5EF4-FFF2-40B4-BE49-F238E27FC236}">
                    <a16:creationId xmlns:a16="http://schemas.microsoft.com/office/drawing/2014/main" id="{0176B9E9-E98A-804B-29CD-23E830AFC49B}"/>
                  </a:ext>
                </a:extLst>
              </p:cNvPr>
              <p:cNvSpPr/>
              <p:nvPr/>
            </p:nvSpPr>
            <p:spPr>
              <a:xfrm rot="16200000">
                <a:off x="7758172" y="3030129"/>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Arial"/>
                  <a:ea typeface="+mn-ea"/>
                  <a:cs typeface="+mn-cs"/>
                </a:endParaRPr>
              </a:p>
            </p:txBody>
          </p:sp>
          <p:sp>
            <p:nvSpPr>
              <p:cNvPr id="29" name="TextBox 115">
                <a:extLst>
                  <a:ext uri="{FF2B5EF4-FFF2-40B4-BE49-F238E27FC236}">
                    <a16:creationId xmlns:a16="http://schemas.microsoft.com/office/drawing/2014/main" id="{615FE62B-E8E3-50E2-A946-856F6DB2FE89}"/>
                  </a:ext>
                </a:extLst>
              </p:cNvPr>
              <p:cNvSpPr txBox="1"/>
              <p:nvPr/>
            </p:nvSpPr>
            <p:spPr>
              <a:xfrm>
                <a:off x="748412" y="2420405"/>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Free of Charge order</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30" name="Arrow: Right 116">
                <a:extLst>
                  <a:ext uri="{FF2B5EF4-FFF2-40B4-BE49-F238E27FC236}">
                    <a16:creationId xmlns:a16="http://schemas.microsoft.com/office/drawing/2014/main" id="{68587201-CD00-9CF9-858B-6268A32D0FE1}"/>
                  </a:ext>
                </a:extLst>
              </p:cNvPr>
              <p:cNvSpPr/>
              <p:nvPr/>
            </p:nvSpPr>
            <p:spPr>
              <a:xfrm rot="16200000">
                <a:off x="1426797" y="2897467"/>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Arial"/>
                  <a:ea typeface="+mn-ea"/>
                  <a:cs typeface="+mn-cs"/>
                </a:endParaRPr>
              </a:p>
            </p:txBody>
          </p:sp>
          <p:sp>
            <p:nvSpPr>
              <p:cNvPr id="31" name="Arrow: Right 117">
                <a:extLst>
                  <a:ext uri="{FF2B5EF4-FFF2-40B4-BE49-F238E27FC236}">
                    <a16:creationId xmlns:a16="http://schemas.microsoft.com/office/drawing/2014/main" id="{CE62FE57-2311-51F9-D66B-FC12085AA420}"/>
                  </a:ext>
                </a:extLst>
              </p:cNvPr>
              <p:cNvSpPr/>
              <p:nvPr/>
            </p:nvSpPr>
            <p:spPr>
              <a:xfrm rot="16200000">
                <a:off x="2765090" y="2788924"/>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Arial"/>
                  <a:ea typeface="+mn-ea"/>
                  <a:cs typeface="+mn-cs"/>
                </a:endParaRPr>
              </a:p>
            </p:txBody>
          </p:sp>
          <p:sp>
            <p:nvSpPr>
              <p:cNvPr id="32" name="TextBox 125">
                <a:extLst>
                  <a:ext uri="{FF2B5EF4-FFF2-40B4-BE49-F238E27FC236}">
                    <a16:creationId xmlns:a16="http://schemas.microsoft.com/office/drawing/2014/main" id="{EF17EC87-A1D3-D119-C1EE-77E0342D4417}"/>
                  </a:ext>
                </a:extLst>
              </p:cNvPr>
              <p:cNvSpPr txBox="1"/>
              <p:nvPr/>
            </p:nvSpPr>
            <p:spPr>
              <a:xfrm>
                <a:off x="7350227" y="4056826"/>
                <a:ext cx="1038574"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Billing Issue</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33" name="TextBox 126">
                <a:extLst>
                  <a:ext uri="{FF2B5EF4-FFF2-40B4-BE49-F238E27FC236}">
                    <a16:creationId xmlns:a16="http://schemas.microsoft.com/office/drawing/2014/main" id="{E33C475E-9BDA-78D8-4D56-F45E082947FE}"/>
                  </a:ext>
                </a:extLst>
              </p:cNvPr>
              <p:cNvSpPr txBox="1"/>
              <p:nvPr/>
            </p:nvSpPr>
            <p:spPr>
              <a:xfrm>
                <a:off x="7513671" y="3563600"/>
                <a:ext cx="1222656"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1</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st</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–5</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sp>
            <p:nvSpPr>
              <p:cNvPr id="34" name="TextBox 127">
                <a:extLst>
                  <a:ext uri="{FF2B5EF4-FFF2-40B4-BE49-F238E27FC236}">
                    <a16:creationId xmlns:a16="http://schemas.microsoft.com/office/drawing/2014/main" id="{926BEA91-2C3C-FD1B-202C-CF053B78414D}"/>
                  </a:ext>
                </a:extLst>
              </p:cNvPr>
              <p:cNvSpPr txBox="1"/>
              <p:nvPr/>
            </p:nvSpPr>
            <p:spPr>
              <a:xfrm>
                <a:off x="728503" y="4016738"/>
                <a:ext cx="1568086"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HW Shipment</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35" name="TextBox 128">
                <a:extLst>
                  <a:ext uri="{FF2B5EF4-FFF2-40B4-BE49-F238E27FC236}">
                    <a16:creationId xmlns:a16="http://schemas.microsoft.com/office/drawing/2014/main" id="{206D352F-717B-30A8-0BBE-5D2323467380}"/>
                  </a:ext>
                </a:extLst>
              </p:cNvPr>
              <p:cNvSpPr txBox="1"/>
              <p:nvPr/>
            </p:nvSpPr>
            <p:spPr>
              <a:xfrm>
                <a:off x="2066796" y="2469455"/>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M0 Order</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36" name="Straight Connector 129">
                <a:extLst>
                  <a:ext uri="{FF2B5EF4-FFF2-40B4-BE49-F238E27FC236}">
                    <a16:creationId xmlns:a16="http://schemas.microsoft.com/office/drawing/2014/main" id="{2CE99F11-74AA-B2FB-91DB-86D80F17738A}"/>
                  </a:ext>
                </a:extLst>
              </p:cNvPr>
              <p:cNvCxnSpPr>
                <a:cxnSpLocks/>
              </p:cNvCxnSpPr>
              <p:nvPr/>
            </p:nvCxnSpPr>
            <p:spPr>
              <a:xfrm>
                <a:off x="8817362" y="3317231"/>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37" name="Arrow: Right 130">
                <a:extLst>
                  <a:ext uri="{FF2B5EF4-FFF2-40B4-BE49-F238E27FC236}">
                    <a16:creationId xmlns:a16="http://schemas.microsoft.com/office/drawing/2014/main" id="{AC60EA6A-F069-2AE3-DBDE-E3D42CC3110C}"/>
                  </a:ext>
                </a:extLst>
              </p:cNvPr>
              <p:cNvSpPr/>
              <p:nvPr/>
            </p:nvSpPr>
            <p:spPr>
              <a:xfrm rot="16200000">
                <a:off x="8734612" y="3026549"/>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Arial"/>
                  <a:ea typeface="+mn-ea"/>
                  <a:cs typeface="+mn-cs"/>
                </a:endParaRPr>
              </a:p>
            </p:txBody>
          </p:sp>
          <p:sp>
            <p:nvSpPr>
              <p:cNvPr id="38" name="TextBox 131">
                <a:extLst>
                  <a:ext uri="{FF2B5EF4-FFF2-40B4-BE49-F238E27FC236}">
                    <a16:creationId xmlns:a16="http://schemas.microsoft.com/office/drawing/2014/main" id="{5777F256-439D-EA42-35A8-D4F211895ECF}"/>
                  </a:ext>
                </a:extLst>
              </p:cNvPr>
              <p:cNvSpPr txBox="1"/>
              <p:nvPr/>
            </p:nvSpPr>
            <p:spPr>
              <a:xfrm>
                <a:off x="8326668" y="4053241"/>
                <a:ext cx="1038574"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Period End</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39" name="TextBox 132">
                <a:extLst>
                  <a:ext uri="{FF2B5EF4-FFF2-40B4-BE49-F238E27FC236}">
                    <a16:creationId xmlns:a16="http://schemas.microsoft.com/office/drawing/2014/main" id="{92200B61-ED9F-8022-EC9E-0D908712A890}"/>
                  </a:ext>
                </a:extLst>
              </p:cNvPr>
              <p:cNvSpPr txBox="1"/>
              <p:nvPr/>
            </p:nvSpPr>
            <p:spPr>
              <a:xfrm>
                <a:off x="8490112" y="3560020"/>
                <a:ext cx="1222656"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30</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p>
            </p:txBody>
          </p:sp>
          <p:sp>
            <p:nvSpPr>
              <p:cNvPr id="40" name="TextBox 133">
                <a:extLst>
                  <a:ext uri="{FF2B5EF4-FFF2-40B4-BE49-F238E27FC236}">
                    <a16:creationId xmlns:a16="http://schemas.microsoft.com/office/drawing/2014/main" id="{760F5B91-1FB1-0012-5C22-661530A90DEC}"/>
                  </a:ext>
                </a:extLst>
              </p:cNvPr>
              <p:cNvSpPr txBox="1"/>
              <p:nvPr/>
            </p:nvSpPr>
            <p:spPr>
              <a:xfrm>
                <a:off x="8212479" y="2680663"/>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Interest Income</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41" name="Straight Connector 140">
                <a:extLst>
                  <a:ext uri="{FF2B5EF4-FFF2-40B4-BE49-F238E27FC236}">
                    <a16:creationId xmlns:a16="http://schemas.microsoft.com/office/drawing/2014/main" id="{98592617-2CE2-6690-FF85-3DFD6CA6BF8C}"/>
                  </a:ext>
                </a:extLst>
              </p:cNvPr>
              <p:cNvCxnSpPr>
                <a:cxnSpLocks/>
              </p:cNvCxnSpPr>
              <p:nvPr/>
            </p:nvCxnSpPr>
            <p:spPr>
              <a:xfrm>
                <a:off x="9870824" y="3342874"/>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42" name="TextBox 142">
                <a:extLst>
                  <a:ext uri="{FF2B5EF4-FFF2-40B4-BE49-F238E27FC236}">
                    <a16:creationId xmlns:a16="http://schemas.microsoft.com/office/drawing/2014/main" id="{E15672FA-1B39-699F-302C-0A30964751EF}"/>
                  </a:ext>
                </a:extLst>
              </p:cNvPr>
              <p:cNvSpPr txBox="1"/>
              <p:nvPr/>
            </p:nvSpPr>
            <p:spPr>
              <a:xfrm>
                <a:off x="9428943" y="3584104"/>
                <a:ext cx="899140"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2</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nd</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cxnSp>
            <p:nvCxnSpPr>
              <p:cNvPr id="43" name="Straight Connector 21">
                <a:extLst>
                  <a:ext uri="{FF2B5EF4-FFF2-40B4-BE49-F238E27FC236}">
                    <a16:creationId xmlns:a16="http://schemas.microsoft.com/office/drawing/2014/main" id="{7B5567AA-AF34-E865-7B6E-EBD3F37AC0F6}"/>
                  </a:ext>
                </a:extLst>
              </p:cNvPr>
              <p:cNvCxnSpPr>
                <a:cxnSpLocks/>
              </p:cNvCxnSpPr>
              <p:nvPr/>
            </p:nvCxnSpPr>
            <p:spPr>
              <a:xfrm>
                <a:off x="10555869" y="3347876"/>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44" name="TextBox 22">
                <a:extLst>
                  <a:ext uri="{FF2B5EF4-FFF2-40B4-BE49-F238E27FC236}">
                    <a16:creationId xmlns:a16="http://schemas.microsoft.com/office/drawing/2014/main" id="{E89916A8-46DE-AE27-F2D7-565C8E35AEBA}"/>
                  </a:ext>
                </a:extLst>
              </p:cNvPr>
              <p:cNvSpPr txBox="1"/>
              <p:nvPr/>
            </p:nvSpPr>
            <p:spPr>
              <a:xfrm>
                <a:off x="10155934" y="3591785"/>
                <a:ext cx="1169073"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48</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grpSp>
        <p:sp>
          <p:nvSpPr>
            <p:cNvPr id="2" name="Rectangle 1">
              <a:extLst>
                <a:ext uri="{FF2B5EF4-FFF2-40B4-BE49-F238E27FC236}">
                  <a16:creationId xmlns:a16="http://schemas.microsoft.com/office/drawing/2014/main" id="{CB2176C1-AAC5-F028-3638-CB94FFD3A247}"/>
                </a:ext>
              </a:extLst>
            </p:cNvPr>
            <p:cNvSpPr/>
            <p:nvPr/>
          </p:nvSpPr>
          <p:spPr>
            <a:xfrm>
              <a:off x="5047454" y="873329"/>
              <a:ext cx="2930108" cy="1703084"/>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a:p>
          </p:txBody>
        </p:sp>
        <p:grpSp>
          <p:nvGrpSpPr>
            <p:cNvPr id="47" name="组合 46">
              <a:extLst>
                <a:ext uri="{FF2B5EF4-FFF2-40B4-BE49-F238E27FC236}">
                  <a16:creationId xmlns:a16="http://schemas.microsoft.com/office/drawing/2014/main" id="{27B0F9B5-2953-29B2-7DA5-5644034CAB31}"/>
                </a:ext>
              </a:extLst>
            </p:cNvPr>
            <p:cNvGrpSpPr/>
            <p:nvPr/>
          </p:nvGrpSpPr>
          <p:grpSpPr>
            <a:xfrm>
              <a:off x="4794421" y="443264"/>
              <a:ext cx="6971935" cy="2737263"/>
              <a:chOff x="7056878" y="2421909"/>
              <a:chExt cx="5120756" cy="2168168"/>
            </a:xfrm>
          </p:grpSpPr>
          <p:pic>
            <p:nvPicPr>
              <p:cNvPr id="48" name="Graphic 20" descr="Badge 4 with solid fill">
                <a:extLst>
                  <a:ext uri="{FF2B5EF4-FFF2-40B4-BE49-F238E27FC236}">
                    <a16:creationId xmlns:a16="http://schemas.microsoft.com/office/drawing/2014/main" id="{873EDFEB-72B0-DED0-9B36-1EEF3A1A677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7295560" y="2430803"/>
                <a:ext cx="368399" cy="345594"/>
              </a:xfrm>
              <a:prstGeom prst="rect">
                <a:avLst/>
              </a:prstGeom>
            </p:spPr>
          </p:pic>
          <p:pic>
            <p:nvPicPr>
              <p:cNvPr id="51" name="Graphic 28" descr="Badge 5 with solid fill">
                <a:extLst>
                  <a:ext uri="{FF2B5EF4-FFF2-40B4-BE49-F238E27FC236}">
                    <a16:creationId xmlns:a16="http://schemas.microsoft.com/office/drawing/2014/main" id="{2E7C8E08-EA7E-62C4-E101-8AB68B02E921}"/>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4878" y="2421909"/>
                <a:ext cx="368399" cy="345594"/>
              </a:xfrm>
              <a:prstGeom prst="rect">
                <a:avLst/>
              </a:prstGeom>
            </p:spPr>
          </p:pic>
          <p:cxnSp>
            <p:nvCxnSpPr>
              <p:cNvPr id="55" name="Straight Arrow Connector 90">
                <a:extLst>
                  <a:ext uri="{FF2B5EF4-FFF2-40B4-BE49-F238E27FC236}">
                    <a16:creationId xmlns:a16="http://schemas.microsoft.com/office/drawing/2014/main" id="{B824D345-3D81-BF9C-2D05-E99578A3D9B5}"/>
                  </a:ext>
                </a:extLst>
              </p:cNvPr>
              <p:cNvCxnSpPr>
                <a:cxnSpLocks/>
              </p:cNvCxnSpPr>
              <p:nvPr/>
            </p:nvCxnSpPr>
            <p:spPr>
              <a:xfrm>
                <a:off x="7239931" y="3478551"/>
                <a:ext cx="4102669" cy="5301"/>
              </a:xfrm>
              <a:prstGeom prst="straightConnector1">
                <a:avLst/>
              </a:prstGeom>
              <a:noFill/>
              <a:ln>
                <a:headEnd type="none" w="med" len="med"/>
                <a:tailEnd type="triangle" w="med" len="med"/>
              </a:ln>
            </p:spPr>
            <p:style>
              <a:lnRef idx="1">
                <a:schemeClr val="dk1"/>
              </a:lnRef>
              <a:fillRef idx="0">
                <a:schemeClr val="dk1"/>
              </a:fillRef>
              <a:effectRef idx="0">
                <a:schemeClr val="dk1"/>
              </a:effectRef>
              <a:fontRef idx="minor">
                <a:schemeClr val="tx1"/>
              </a:fontRef>
            </p:style>
          </p:cxnSp>
          <p:cxnSp>
            <p:nvCxnSpPr>
              <p:cNvPr id="67" name="Straight Connector 102">
                <a:extLst>
                  <a:ext uri="{FF2B5EF4-FFF2-40B4-BE49-F238E27FC236}">
                    <a16:creationId xmlns:a16="http://schemas.microsoft.com/office/drawing/2014/main" id="{20EB1DD0-BC53-CDAE-93B5-57A04BB8EE1E}"/>
                  </a:ext>
                </a:extLst>
              </p:cNvPr>
              <p:cNvCxnSpPr>
                <a:cxnSpLocks/>
              </p:cNvCxnSpPr>
              <p:nvPr/>
            </p:nvCxnSpPr>
            <p:spPr>
              <a:xfrm>
                <a:off x="7840922" y="3320811"/>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71" name="TextBox 113">
                <a:extLst>
                  <a:ext uri="{FF2B5EF4-FFF2-40B4-BE49-F238E27FC236}">
                    <a16:creationId xmlns:a16="http://schemas.microsoft.com/office/drawing/2014/main" id="{20DFC516-CA84-1C68-414E-F0527512DAB8}"/>
                  </a:ext>
                </a:extLst>
              </p:cNvPr>
              <p:cNvSpPr txBox="1"/>
              <p:nvPr/>
            </p:nvSpPr>
            <p:spPr>
              <a:xfrm>
                <a:off x="7056878" y="2690808"/>
                <a:ext cx="1568086" cy="487065"/>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AR Entry</a:t>
                </a:r>
                <a:endPar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72" name="Arrow: Right 114">
                <a:extLst>
                  <a:ext uri="{FF2B5EF4-FFF2-40B4-BE49-F238E27FC236}">
                    <a16:creationId xmlns:a16="http://schemas.microsoft.com/office/drawing/2014/main" id="{5DFEF300-1180-DBDB-6919-8717DDEB4E60}"/>
                  </a:ext>
                </a:extLst>
              </p:cNvPr>
              <p:cNvSpPr/>
              <p:nvPr/>
            </p:nvSpPr>
            <p:spPr>
              <a:xfrm rot="16200000">
                <a:off x="7758172" y="3030129"/>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Arial"/>
                  <a:ea typeface="+mn-ea"/>
                  <a:cs typeface="+mn-cs"/>
                </a:endParaRPr>
              </a:p>
            </p:txBody>
          </p:sp>
          <p:sp>
            <p:nvSpPr>
              <p:cNvPr id="76" name="TextBox 125">
                <a:extLst>
                  <a:ext uri="{FF2B5EF4-FFF2-40B4-BE49-F238E27FC236}">
                    <a16:creationId xmlns:a16="http://schemas.microsoft.com/office/drawing/2014/main" id="{FAACD822-90FB-9340-9629-5E221518DB6C}"/>
                  </a:ext>
                </a:extLst>
              </p:cNvPr>
              <p:cNvSpPr txBox="1"/>
              <p:nvPr/>
            </p:nvSpPr>
            <p:spPr>
              <a:xfrm>
                <a:off x="7350227" y="3920441"/>
                <a:ext cx="1038574" cy="463196"/>
              </a:xfrm>
              <a:prstGeom prst="rect">
                <a:avLst/>
              </a:prstGeom>
              <a:noFill/>
            </p:spPr>
            <p:txBody>
              <a:bodyPr wrap="square" rtlCol="0" anchor="ctr">
                <a:spAutoFit/>
              </a:bodyPr>
              <a:lstStyle/>
              <a:p>
                <a:pPr lvl="0" algn="ctr" defTabSz="1218565">
                  <a:defRPr/>
                </a:pPr>
                <a:r>
                  <a:rPr lang="en-US" altLang="zh-CN" sz="1600">
                    <a:solidFill>
                      <a:srgbClr val="00B050"/>
                    </a:solidFill>
                  </a:rPr>
                  <a:t>Convergent billing</a:t>
                </a:r>
                <a:endParaRPr kumimoji="0" lang="en-US" sz="16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77" name="TextBox 126">
                <a:extLst>
                  <a:ext uri="{FF2B5EF4-FFF2-40B4-BE49-F238E27FC236}">
                    <a16:creationId xmlns:a16="http://schemas.microsoft.com/office/drawing/2014/main" id="{E15AB22D-6AD7-F9C5-60E5-64EAD2637C84}"/>
                  </a:ext>
                </a:extLst>
              </p:cNvPr>
              <p:cNvSpPr txBox="1"/>
              <p:nvPr/>
            </p:nvSpPr>
            <p:spPr>
              <a:xfrm>
                <a:off x="7513671" y="3563600"/>
                <a:ext cx="1222656" cy="487065"/>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1</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st</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–5</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cxnSp>
            <p:nvCxnSpPr>
              <p:cNvPr id="80" name="Straight Connector 129">
                <a:extLst>
                  <a:ext uri="{FF2B5EF4-FFF2-40B4-BE49-F238E27FC236}">
                    <a16:creationId xmlns:a16="http://schemas.microsoft.com/office/drawing/2014/main" id="{22430BF2-586A-B1F3-41B3-2B394AD70EB4}"/>
                  </a:ext>
                </a:extLst>
              </p:cNvPr>
              <p:cNvCxnSpPr>
                <a:cxnSpLocks/>
              </p:cNvCxnSpPr>
              <p:nvPr/>
            </p:nvCxnSpPr>
            <p:spPr>
              <a:xfrm>
                <a:off x="9905041" y="3315520"/>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81" name="Arrow: Right 130">
                <a:extLst>
                  <a:ext uri="{FF2B5EF4-FFF2-40B4-BE49-F238E27FC236}">
                    <a16:creationId xmlns:a16="http://schemas.microsoft.com/office/drawing/2014/main" id="{1F6A1170-4462-289F-ED8C-55EE892034E8}"/>
                  </a:ext>
                </a:extLst>
              </p:cNvPr>
              <p:cNvSpPr/>
              <p:nvPr/>
            </p:nvSpPr>
            <p:spPr>
              <a:xfrm rot="16200000">
                <a:off x="9830451" y="3026996"/>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err="1">
                  <a:ln>
                    <a:noFill/>
                  </a:ln>
                  <a:solidFill>
                    <a:prstClr val="white"/>
                  </a:solidFill>
                  <a:effectLst/>
                  <a:uLnTx/>
                  <a:uFillTx/>
                  <a:latin typeface="Arial"/>
                  <a:ea typeface="+mn-ea"/>
                  <a:cs typeface="+mn-cs"/>
                </a:endParaRPr>
              </a:p>
            </p:txBody>
          </p:sp>
          <p:sp>
            <p:nvSpPr>
              <p:cNvPr id="82" name="TextBox 131">
                <a:extLst>
                  <a:ext uri="{FF2B5EF4-FFF2-40B4-BE49-F238E27FC236}">
                    <a16:creationId xmlns:a16="http://schemas.microsoft.com/office/drawing/2014/main" id="{176F9554-3C75-6585-223D-A6BF038F2DA4}"/>
                  </a:ext>
                </a:extLst>
              </p:cNvPr>
              <p:cNvSpPr txBox="1"/>
              <p:nvPr/>
            </p:nvSpPr>
            <p:spPr>
              <a:xfrm>
                <a:off x="9385754" y="3748783"/>
                <a:ext cx="1038574" cy="841294"/>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Period End</a:t>
                </a:r>
                <a:endParaRPr kumimoji="0" lang="en-US" sz="16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83" name="TextBox 132">
                <a:extLst>
                  <a:ext uri="{FF2B5EF4-FFF2-40B4-BE49-F238E27FC236}">
                    <a16:creationId xmlns:a16="http://schemas.microsoft.com/office/drawing/2014/main" id="{2AB5918E-E64F-8A38-A7D7-92078BD16859}"/>
                  </a:ext>
                </a:extLst>
              </p:cNvPr>
              <p:cNvSpPr txBox="1"/>
              <p:nvPr/>
            </p:nvSpPr>
            <p:spPr>
              <a:xfrm>
                <a:off x="9627095" y="3560778"/>
                <a:ext cx="1222656" cy="487065"/>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30</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p>
            </p:txBody>
          </p:sp>
          <p:cxnSp>
            <p:nvCxnSpPr>
              <p:cNvPr id="85" name="Straight Connector 140">
                <a:extLst>
                  <a:ext uri="{FF2B5EF4-FFF2-40B4-BE49-F238E27FC236}">
                    <a16:creationId xmlns:a16="http://schemas.microsoft.com/office/drawing/2014/main" id="{5E6829CA-1C31-9129-0545-724DA09E23E6}"/>
                  </a:ext>
                </a:extLst>
              </p:cNvPr>
              <p:cNvCxnSpPr>
                <a:cxnSpLocks/>
              </p:cNvCxnSpPr>
              <p:nvPr/>
            </p:nvCxnSpPr>
            <p:spPr>
              <a:xfrm>
                <a:off x="10583137" y="3355448"/>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86" name="TextBox 142">
                <a:extLst>
                  <a:ext uri="{FF2B5EF4-FFF2-40B4-BE49-F238E27FC236}">
                    <a16:creationId xmlns:a16="http://schemas.microsoft.com/office/drawing/2014/main" id="{B9A00A6E-D27A-37C5-8F95-0633668F57B0}"/>
                  </a:ext>
                </a:extLst>
              </p:cNvPr>
              <p:cNvSpPr txBox="1"/>
              <p:nvPr/>
            </p:nvSpPr>
            <p:spPr>
              <a:xfrm>
                <a:off x="10228096" y="3567180"/>
                <a:ext cx="899140" cy="841294"/>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2</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nd</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cxnSp>
            <p:nvCxnSpPr>
              <p:cNvPr id="87" name="Straight Connector 21">
                <a:extLst>
                  <a:ext uri="{FF2B5EF4-FFF2-40B4-BE49-F238E27FC236}">
                    <a16:creationId xmlns:a16="http://schemas.microsoft.com/office/drawing/2014/main" id="{CC43EE03-6B76-C512-F93A-6A5DB422A449}"/>
                  </a:ext>
                </a:extLst>
              </p:cNvPr>
              <p:cNvCxnSpPr>
                <a:cxnSpLocks/>
              </p:cNvCxnSpPr>
              <p:nvPr/>
            </p:nvCxnSpPr>
            <p:spPr>
              <a:xfrm>
                <a:off x="11220695" y="3347904"/>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88" name="TextBox 22">
                <a:extLst>
                  <a:ext uri="{FF2B5EF4-FFF2-40B4-BE49-F238E27FC236}">
                    <a16:creationId xmlns:a16="http://schemas.microsoft.com/office/drawing/2014/main" id="{804A27E3-AFB8-9DD3-A1BA-88C5CA8364A8}"/>
                  </a:ext>
                </a:extLst>
              </p:cNvPr>
              <p:cNvSpPr txBox="1"/>
              <p:nvPr/>
            </p:nvSpPr>
            <p:spPr>
              <a:xfrm>
                <a:off x="11008561" y="3571580"/>
                <a:ext cx="1169073" cy="487065"/>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48</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grpSp>
        <p:sp>
          <p:nvSpPr>
            <p:cNvPr id="91" name="TextBox 125">
              <a:extLst>
                <a:ext uri="{FF2B5EF4-FFF2-40B4-BE49-F238E27FC236}">
                  <a16:creationId xmlns:a16="http://schemas.microsoft.com/office/drawing/2014/main" id="{D85CF142-1FAD-495C-F8D9-D03ECD7FBD1E}"/>
                </a:ext>
              </a:extLst>
            </p:cNvPr>
            <p:cNvSpPr txBox="1"/>
            <p:nvPr/>
          </p:nvSpPr>
          <p:spPr>
            <a:xfrm>
              <a:off x="6619323" y="2335133"/>
              <a:ext cx="1414023" cy="584775"/>
            </a:xfrm>
            <a:prstGeom prst="rect">
              <a:avLst/>
            </a:prstGeom>
            <a:noFill/>
          </p:spPr>
          <p:txBody>
            <a:bodyPr wrap="square" rtlCol="0" anchor="ctr">
              <a:spAutoFit/>
            </a:bodyPr>
            <a:lstStyle/>
            <a:p>
              <a:pPr lvl="0" algn="ctr" defTabSz="1218565">
                <a:defRPr/>
              </a:pPr>
              <a:r>
                <a:rPr lang="en-US" altLang="zh-CN" sz="1600">
                  <a:solidFill>
                    <a:srgbClr val="00B050"/>
                  </a:solidFill>
                </a:rPr>
                <a:t>Detailed billing</a:t>
              </a:r>
              <a:endParaRPr kumimoji="0" lang="en-US" sz="16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92" name="TextBox 126">
              <a:extLst>
                <a:ext uri="{FF2B5EF4-FFF2-40B4-BE49-F238E27FC236}">
                  <a16:creationId xmlns:a16="http://schemas.microsoft.com/office/drawing/2014/main" id="{455569F0-2F48-62BA-8EFF-9D35A007CEF5}"/>
                </a:ext>
              </a:extLst>
            </p:cNvPr>
            <p:cNvSpPr txBox="1"/>
            <p:nvPr/>
          </p:nvSpPr>
          <p:spPr>
            <a:xfrm>
              <a:off x="6662641" y="1865043"/>
              <a:ext cx="1664651" cy="338554"/>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6</a:t>
              </a:r>
              <a:r>
                <a:rPr lang="en-US" altLang="zh-CN" sz="1600" baseline="30000" err="1">
                  <a:solidFill>
                    <a:srgbClr val="000000"/>
                  </a:solidFill>
                  <a:latin typeface="Tenorite" panose="00000500000000000000" pitchFamily="2" charset="0"/>
                  <a:ea typeface="黑体" panose="02010609060101010101" pitchFamily="49" charset="-122"/>
                  <a:cs typeface="Arial" panose="020B0604020202020204" pitchFamily="34" charset="0"/>
                </a:rPr>
                <a:t>th</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–15</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cxnSp>
          <p:nvCxnSpPr>
            <p:cNvPr id="93" name="Straight Connector 102">
              <a:extLst>
                <a:ext uri="{FF2B5EF4-FFF2-40B4-BE49-F238E27FC236}">
                  <a16:creationId xmlns:a16="http://schemas.microsoft.com/office/drawing/2014/main" id="{6633FE68-D07D-78DC-70A0-E3E30ED67D22}"/>
                </a:ext>
              </a:extLst>
            </p:cNvPr>
            <p:cNvCxnSpPr>
              <a:cxnSpLocks/>
            </p:cNvCxnSpPr>
            <p:nvPr/>
          </p:nvCxnSpPr>
          <p:spPr>
            <a:xfrm>
              <a:off x="7326334" y="1578113"/>
              <a:ext cx="0" cy="407326"/>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95" name="Arrow: Right 130">
              <a:extLst>
                <a:ext uri="{FF2B5EF4-FFF2-40B4-BE49-F238E27FC236}">
                  <a16:creationId xmlns:a16="http://schemas.microsoft.com/office/drawing/2014/main" id="{481DE6A6-4D6B-CCC9-C41E-965D2FD64013}"/>
                </a:ext>
              </a:extLst>
            </p:cNvPr>
            <p:cNvSpPr/>
            <p:nvPr/>
          </p:nvSpPr>
          <p:spPr>
            <a:xfrm rot="16200000">
              <a:off x="7222554" y="1194887"/>
              <a:ext cx="216513" cy="384998"/>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err="1">
                <a:ln>
                  <a:noFill/>
                </a:ln>
                <a:solidFill>
                  <a:prstClr val="white"/>
                </a:solidFill>
                <a:effectLst/>
                <a:uLnTx/>
                <a:uFillTx/>
                <a:latin typeface="Arial"/>
                <a:ea typeface="+mn-ea"/>
                <a:cs typeface="+mn-cs"/>
              </a:endParaRPr>
            </a:p>
          </p:txBody>
        </p:sp>
        <p:sp>
          <p:nvSpPr>
            <p:cNvPr id="96" name="TextBox 113">
              <a:extLst>
                <a:ext uri="{FF2B5EF4-FFF2-40B4-BE49-F238E27FC236}">
                  <a16:creationId xmlns:a16="http://schemas.microsoft.com/office/drawing/2014/main" id="{10083BB3-59BB-C9CB-3CA4-5877AF1001A5}"/>
                </a:ext>
              </a:extLst>
            </p:cNvPr>
            <p:cNvSpPr txBox="1"/>
            <p:nvPr/>
          </p:nvSpPr>
          <p:spPr>
            <a:xfrm>
              <a:off x="6246242" y="804181"/>
              <a:ext cx="2134956" cy="614909"/>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AR Entry</a:t>
              </a:r>
              <a:endPar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115" name="Rectangle 1">
              <a:extLst>
                <a:ext uri="{FF2B5EF4-FFF2-40B4-BE49-F238E27FC236}">
                  <a16:creationId xmlns:a16="http://schemas.microsoft.com/office/drawing/2014/main" id="{9B1578FB-79CA-8821-2D42-1309BEDFD01F}"/>
                </a:ext>
              </a:extLst>
            </p:cNvPr>
            <p:cNvSpPr/>
            <p:nvPr/>
          </p:nvSpPr>
          <p:spPr>
            <a:xfrm>
              <a:off x="8123103" y="1169851"/>
              <a:ext cx="3452795" cy="1703084"/>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a:p>
          </p:txBody>
        </p:sp>
        <p:grpSp>
          <p:nvGrpSpPr>
            <p:cNvPr id="97" name="组合 96">
              <a:extLst>
                <a:ext uri="{FF2B5EF4-FFF2-40B4-BE49-F238E27FC236}">
                  <a16:creationId xmlns:a16="http://schemas.microsoft.com/office/drawing/2014/main" id="{507D6037-E978-B07A-CD3D-70BFDD391639}"/>
                </a:ext>
              </a:extLst>
            </p:cNvPr>
            <p:cNvGrpSpPr/>
            <p:nvPr/>
          </p:nvGrpSpPr>
          <p:grpSpPr>
            <a:xfrm>
              <a:off x="8106062" y="1089278"/>
              <a:ext cx="2453262" cy="1371646"/>
              <a:chOff x="9041871" y="2702999"/>
              <a:chExt cx="3478673" cy="1560618"/>
            </a:xfrm>
          </p:grpSpPr>
          <p:cxnSp>
            <p:nvCxnSpPr>
              <p:cNvPr id="100" name="Straight Arrow Connector 90">
                <a:extLst>
                  <a:ext uri="{FF2B5EF4-FFF2-40B4-BE49-F238E27FC236}">
                    <a16:creationId xmlns:a16="http://schemas.microsoft.com/office/drawing/2014/main" id="{7CDD9608-1DCC-F744-1EC0-149612063F23}"/>
                  </a:ext>
                </a:extLst>
              </p:cNvPr>
              <p:cNvCxnSpPr>
                <a:cxnSpLocks/>
              </p:cNvCxnSpPr>
              <p:nvPr/>
            </p:nvCxnSpPr>
            <p:spPr>
              <a:xfrm flipV="1">
                <a:off x="9066031" y="3484372"/>
                <a:ext cx="2302515" cy="13073"/>
              </a:xfrm>
              <a:prstGeom prst="straightConnector1">
                <a:avLst/>
              </a:prstGeom>
              <a:noFill/>
              <a:ln>
                <a:headEnd type="none" w="med" len="med"/>
                <a:tailEnd type="triangle" w="med" len="med"/>
              </a:ln>
            </p:spPr>
            <p:style>
              <a:lnRef idx="1">
                <a:schemeClr val="dk1"/>
              </a:lnRef>
              <a:fillRef idx="0">
                <a:schemeClr val="dk1"/>
              </a:fillRef>
              <a:effectRef idx="0">
                <a:schemeClr val="dk1"/>
              </a:effectRef>
              <a:fontRef idx="minor">
                <a:schemeClr val="tx1"/>
              </a:fontRef>
            </p:style>
          </p:cxnSp>
          <p:cxnSp>
            <p:nvCxnSpPr>
              <p:cNvPr id="106" name="Straight Connector 129">
                <a:extLst>
                  <a:ext uri="{FF2B5EF4-FFF2-40B4-BE49-F238E27FC236}">
                    <a16:creationId xmlns:a16="http://schemas.microsoft.com/office/drawing/2014/main" id="{302DD113-8EC5-434A-B301-C6FA03E96717}"/>
                  </a:ext>
                </a:extLst>
              </p:cNvPr>
              <p:cNvCxnSpPr>
                <a:cxnSpLocks/>
              </p:cNvCxnSpPr>
              <p:nvPr/>
            </p:nvCxnSpPr>
            <p:spPr>
              <a:xfrm>
                <a:off x="9806281" y="3308207"/>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107" name="Arrow: Right 130">
                <a:extLst>
                  <a:ext uri="{FF2B5EF4-FFF2-40B4-BE49-F238E27FC236}">
                    <a16:creationId xmlns:a16="http://schemas.microsoft.com/office/drawing/2014/main" id="{79776C93-3A70-6C34-CBA0-5D7D4E126C41}"/>
                  </a:ext>
                </a:extLst>
              </p:cNvPr>
              <p:cNvSpPr/>
              <p:nvPr/>
            </p:nvSpPr>
            <p:spPr>
              <a:xfrm rot="16200000">
                <a:off x="9830451" y="3026996"/>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err="1">
                  <a:ln>
                    <a:noFill/>
                  </a:ln>
                  <a:solidFill>
                    <a:prstClr val="white"/>
                  </a:solidFill>
                  <a:effectLst/>
                  <a:uLnTx/>
                  <a:uFillTx/>
                  <a:latin typeface="Arial"/>
                  <a:ea typeface="+mn-ea"/>
                  <a:cs typeface="+mn-cs"/>
                </a:endParaRPr>
              </a:p>
            </p:txBody>
          </p:sp>
          <p:sp>
            <p:nvSpPr>
              <p:cNvPr id="108" name="TextBox 131">
                <a:extLst>
                  <a:ext uri="{FF2B5EF4-FFF2-40B4-BE49-F238E27FC236}">
                    <a16:creationId xmlns:a16="http://schemas.microsoft.com/office/drawing/2014/main" id="{3B211465-7540-7B43-21CC-54C438A80A80}"/>
                  </a:ext>
                </a:extLst>
              </p:cNvPr>
              <p:cNvSpPr txBox="1"/>
              <p:nvPr/>
            </p:nvSpPr>
            <p:spPr>
              <a:xfrm>
                <a:off x="9157695" y="4056398"/>
                <a:ext cx="1038574" cy="207219"/>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Period End</a:t>
                </a:r>
                <a:endParaRPr kumimoji="0" lang="en-US" sz="105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109" name="TextBox 132">
                <a:extLst>
                  <a:ext uri="{FF2B5EF4-FFF2-40B4-BE49-F238E27FC236}">
                    <a16:creationId xmlns:a16="http://schemas.microsoft.com/office/drawing/2014/main" id="{7AD3A13F-B9D6-C250-923E-3826692C7EA6}"/>
                  </a:ext>
                </a:extLst>
              </p:cNvPr>
              <p:cNvSpPr txBox="1"/>
              <p:nvPr/>
            </p:nvSpPr>
            <p:spPr>
              <a:xfrm>
                <a:off x="9385754" y="3529263"/>
                <a:ext cx="1222656" cy="207219"/>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30</a:t>
                </a:r>
                <a:r>
                  <a:rPr kumimoji="0" lang="en-US" altLang="zh-CN" sz="105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p>
            </p:txBody>
          </p:sp>
          <p:sp>
            <p:nvSpPr>
              <p:cNvPr id="110" name="TextBox 133">
                <a:extLst>
                  <a:ext uri="{FF2B5EF4-FFF2-40B4-BE49-F238E27FC236}">
                    <a16:creationId xmlns:a16="http://schemas.microsoft.com/office/drawing/2014/main" id="{CBCAD9DF-A8CB-A985-A233-2C8F05330490}"/>
                  </a:ext>
                </a:extLst>
              </p:cNvPr>
              <p:cNvSpPr txBox="1"/>
              <p:nvPr/>
            </p:nvSpPr>
            <p:spPr>
              <a:xfrm>
                <a:off x="9041871" y="2702999"/>
                <a:ext cx="1568086" cy="207219"/>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Interest Income</a:t>
                </a:r>
                <a:endParaRPr kumimoji="0" lang="en-US" sz="105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111" name="Straight Connector 140">
                <a:extLst>
                  <a:ext uri="{FF2B5EF4-FFF2-40B4-BE49-F238E27FC236}">
                    <a16:creationId xmlns:a16="http://schemas.microsoft.com/office/drawing/2014/main" id="{36A7DB7F-3AAA-DDB3-35EC-F69356AE730F}"/>
                  </a:ext>
                </a:extLst>
              </p:cNvPr>
              <p:cNvCxnSpPr>
                <a:cxnSpLocks/>
              </p:cNvCxnSpPr>
              <p:nvPr/>
            </p:nvCxnSpPr>
            <p:spPr>
              <a:xfrm>
                <a:off x="10281603" y="3327447"/>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112" name="TextBox 142">
                <a:extLst>
                  <a:ext uri="{FF2B5EF4-FFF2-40B4-BE49-F238E27FC236}">
                    <a16:creationId xmlns:a16="http://schemas.microsoft.com/office/drawing/2014/main" id="{1466666A-6869-EEF3-EEF6-0BD9C0A6CE18}"/>
                  </a:ext>
                </a:extLst>
              </p:cNvPr>
              <p:cNvSpPr txBox="1"/>
              <p:nvPr/>
            </p:nvSpPr>
            <p:spPr>
              <a:xfrm>
                <a:off x="10122279" y="3636172"/>
                <a:ext cx="899140" cy="207219"/>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2</a:t>
                </a:r>
                <a:r>
                  <a:rPr kumimoji="0" lang="en-US" altLang="zh-CN" sz="105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nd</a:t>
                </a:r>
                <a:r>
                  <a:rPr kumimoji="0" lang="en-US" altLang="zh-CN" sz="105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105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cxnSp>
            <p:nvCxnSpPr>
              <p:cNvPr id="113" name="Straight Connector 21">
                <a:extLst>
                  <a:ext uri="{FF2B5EF4-FFF2-40B4-BE49-F238E27FC236}">
                    <a16:creationId xmlns:a16="http://schemas.microsoft.com/office/drawing/2014/main" id="{79FDA251-BA42-E84B-B7A9-C22B290C71A4}"/>
                  </a:ext>
                </a:extLst>
              </p:cNvPr>
              <p:cNvCxnSpPr>
                <a:cxnSpLocks/>
              </p:cNvCxnSpPr>
              <p:nvPr/>
            </p:nvCxnSpPr>
            <p:spPr>
              <a:xfrm>
                <a:off x="11045428" y="3347682"/>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114" name="TextBox 22">
                <a:extLst>
                  <a:ext uri="{FF2B5EF4-FFF2-40B4-BE49-F238E27FC236}">
                    <a16:creationId xmlns:a16="http://schemas.microsoft.com/office/drawing/2014/main" id="{A3557095-7532-872B-E294-2E0C680EEA53}"/>
                  </a:ext>
                </a:extLst>
              </p:cNvPr>
              <p:cNvSpPr txBox="1"/>
              <p:nvPr/>
            </p:nvSpPr>
            <p:spPr>
              <a:xfrm>
                <a:off x="10915007" y="3569833"/>
                <a:ext cx="1605537" cy="385197"/>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48</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grpSp>
        <p:sp>
          <p:nvSpPr>
            <p:cNvPr id="117" name="Rectangle 1">
              <a:extLst>
                <a:ext uri="{FF2B5EF4-FFF2-40B4-BE49-F238E27FC236}">
                  <a16:creationId xmlns:a16="http://schemas.microsoft.com/office/drawing/2014/main" id="{348EC937-6D68-BFCC-7058-17121B5ACF2A}"/>
                </a:ext>
              </a:extLst>
            </p:cNvPr>
            <p:cNvSpPr/>
            <p:nvPr/>
          </p:nvSpPr>
          <p:spPr>
            <a:xfrm>
              <a:off x="5048573" y="67179"/>
              <a:ext cx="2988914" cy="3623731"/>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a:p>
          </p:txBody>
        </p:sp>
      </p:grpSp>
      <p:sp>
        <p:nvSpPr>
          <p:cNvPr id="3" name="文本框 2">
            <a:extLst>
              <a:ext uri="{FF2B5EF4-FFF2-40B4-BE49-F238E27FC236}">
                <a16:creationId xmlns:a16="http://schemas.microsoft.com/office/drawing/2014/main" id="{825EA8C8-D4BB-DB46-9AAD-CA56DA379222}"/>
              </a:ext>
            </a:extLst>
          </p:cNvPr>
          <p:cNvSpPr txBox="1"/>
          <p:nvPr/>
        </p:nvSpPr>
        <p:spPr>
          <a:xfrm>
            <a:off x="431077" y="4703545"/>
            <a:ext cx="11703907" cy="1169551"/>
          </a:xfrm>
          <a:prstGeom prst="rect">
            <a:avLst/>
          </a:prstGeom>
          <a:noFill/>
        </p:spPr>
        <p:txBody>
          <a:bodyPr wrap="square">
            <a:spAutoFit/>
          </a:bodyPr>
          <a:lstStyle/>
          <a:p>
            <a:r>
              <a:rPr lang="en-US" altLang="zh-CN" sz="1400" b="1">
                <a:latin typeface="Arial" pitchFamily="34" charset="0"/>
                <a:cs typeface="Arial" pitchFamily="34" charset="0"/>
              </a:rPr>
              <a:t>4. After lease commencement, BRIM will automatically generate the customer billing based on subscription billing schedule.</a:t>
            </a:r>
          </a:p>
          <a:p>
            <a:endParaRPr lang="en-US" altLang="zh-CN" sz="1400" b="1">
              <a:latin typeface="Arial" pitchFamily="34" charset="0"/>
              <a:cs typeface="Arial" pitchFamily="34" charset="0"/>
            </a:endParaRPr>
          </a:p>
          <a:p>
            <a:r>
              <a:rPr lang="en-US" altLang="zh-CN" sz="1400" b="1">
                <a:latin typeface="Arial" pitchFamily="34" charset="0"/>
                <a:cs typeface="Arial" pitchFamily="34" charset="0"/>
              </a:rPr>
              <a:t>5. BRIM will automatically generate detailed billing equals to convergent billing in the same month. </a:t>
            </a:r>
          </a:p>
          <a:p>
            <a:endParaRPr lang="en-US" altLang="zh-CN" sz="1400" b="1">
              <a:latin typeface="Arial" pitchFamily="34" charset="0"/>
              <a:cs typeface="Arial" pitchFamily="34" charset="0"/>
            </a:endParaRPr>
          </a:p>
          <a:p>
            <a:r>
              <a:rPr lang="en-US" altLang="zh-CN" sz="1400" b="1">
                <a:latin typeface="Arial" pitchFamily="34" charset="0"/>
                <a:cs typeface="Arial" pitchFamily="34" charset="0"/>
              </a:rPr>
              <a:t>7. At the lease end month, BRIM will automatically generate entry to recognize ARS revenue from defer.</a:t>
            </a:r>
            <a:endParaRPr lang="zh-CN" altLang="en-US" sz="1400"/>
          </a:p>
        </p:txBody>
      </p:sp>
      <p:sp>
        <p:nvSpPr>
          <p:cNvPr id="46" name="文本框 16">
            <a:extLst>
              <a:ext uri="{FF2B5EF4-FFF2-40B4-BE49-F238E27FC236}">
                <a16:creationId xmlns:a16="http://schemas.microsoft.com/office/drawing/2014/main" id="{80532228-4D45-1556-A88A-C9F988D8EECA}"/>
              </a:ext>
            </a:extLst>
          </p:cNvPr>
          <p:cNvSpPr txBox="1"/>
          <p:nvPr/>
        </p:nvSpPr>
        <p:spPr>
          <a:xfrm>
            <a:off x="259116" y="141745"/>
            <a:ext cx="4470947" cy="523220"/>
          </a:xfrm>
          <a:prstGeom prst="rect">
            <a:avLst/>
          </a:prstGeom>
          <a:noFill/>
        </p:spPr>
        <p:txBody>
          <a:bodyPr wrap="square" rtlCol="0">
            <a:spAutoFit/>
          </a:bodyPr>
          <a:lstStyle/>
          <a:p>
            <a:r>
              <a:rPr lang="en-US" altLang="zh-CN" sz="2800" b="1" err="1"/>
              <a:t>PoB</a:t>
            </a:r>
            <a:r>
              <a:rPr lang="en-US" altLang="zh-CN" sz="2800" b="1"/>
              <a:t> Step</a:t>
            </a:r>
            <a:endParaRPr lang="zh-CN" altLang="en-US" sz="2800" b="1"/>
          </a:p>
        </p:txBody>
      </p:sp>
      <p:sp>
        <p:nvSpPr>
          <p:cNvPr id="49" name="TextBox 113">
            <a:extLst>
              <a:ext uri="{FF2B5EF4-FFF2-40B4-BE49-F238E27FC236}">
                <a16:creationId xmlns:a16="http://schemas.microsoft.com/office/drawing/2014/main" id="{D6CDB771-1B5E-B829-F917-0DE1C45AF64D}"/>
              </a:ext>
            </a:extLst>
          </p:cNvPr>
          <p:cNvSpPr txBox="1"/>
          <p:nvPr/>
        </p:nvSpPr>
        <p:spPr>
          <a:xfrm>
            <a:off x="8353874" y="1532978"/>
            <a:ext cx="2134956" cy="338554"/>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Lease End</a:t>
            </a:r>
            <a:endPar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pic>
        <p:nvPicPr>
          <p:cNvPr id="52" name="图形 51" descr="徽章 6 纯色填充">
            <a:extLst>
              <a:ext uri="{FF2B5EF4-FFF2-40B4-BE49-F238E27FC236}">
                <a16:creationId xmlns:a16="http://schemas.microsoft.com/office/drawing/2014/main" id="{B68F4428-332D-5492-0B56-64B478EFA5A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819861" y="1611668"/>
            <a:ext cx="297152" cy="297152"/>
          </a:xfrm>
          <a:prstGeom prst="rect">
            <a:avLst/>
          </a:prstGeom>
        </p:spPr>
      </p:pic>
      <p:pic>
        <p:nvPicPr>
          <p:cNvPr id="54" name="图形 53" descr="徽章 7 纯色填充">
            <a:extLst>
              <a:ext uri="{FF2B5EF4-FFF2-40B4-BE49-F238E27FC236}">
                <a16:creationId xmlns:a16="http://schemas.microsoft.com/office/drawing/2014/main" id="{0E813DC6-AF23-C3FB-7DC5-4470325D4673}"/>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8689364" y="1210005"/>
            <a:ext cx="406750" cy="406750"/>
          </a:xfrm>
          <a:prstGeom prst="rect">
            <a:avLst/>
          </a:prstGeom>
        </p:spPr>
      </p:pic>
      <p:sp>
        <p:nvSpPr>
          <p:cNvPr id="56" name="Arrow: Right 114">
            <a:extLst>
              <a:ext uri="{FF2B5EF4-FFF2-40B4-BE49-F238E27FC236}">
                <a16:creationId xmlns:a16="http://schemas.microsoft.com/office/drawing/2014/main" id="{C87A4F36-77F4-FBD0-0FE6-89CEE8F59A61}"/>
              </a:ext>
            </a:extLst>
          </p:cNvPr>
          <p:cNvSpPr/>
          <p:nvPr/>
        </p:nvSpPr>
        <p:spPr>
          <a:xfrm rot="16200000">
            <a:off x="9180357" y="1834296"/>
            <a:ext cx="216513" cy="384998"/>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Arial"/>
              <a:ea typeface="+mn-ea"/>
              <a:cs typeface="+mn-cs"/>
            </a:endParaRPr>
          </a:p>
        </p:txBody>
      </p:sp>
      <p:sp>
        <p:nvSpPr>
          <p:cNvPr id="58" name="Rectangle 1">
            <a:extLst>
              <a:ext uri="{FF2B5EF4-FFF2-40B4-BE49-F238E27FC236}">
                <a16:creationId xmlns:a16="http://schemas.microsoft.com/office/drawing/2014/main" id="{49ECBFD1-E160-7B23-DAC6-7ED20D46E816}"/>
              </a:ext>
            </a:extLst>
          </p:cNvPr>
          <p:cNvSpPr/>
          <p:nvPr/>
        </p:nvSpPr>
        <p:spPr>
          <a:xfrm>
            <a:off x="8773082" y="805518"/>
            <a:ext cx="1484369" cy="3623731"/>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a:p>
        </p:txBody>
      </p:sp>
    </p:spTree>
    <p:extLst>
      <p:ext uri="{BB962C8B-B14F-4D97-AF65-F5344CB8AC3E}">
        <p14:creationId xmlns:p14="http://schemas.microsoft.com/office/powerpoint/2010/main" val="935535136"/>
      </p:ext>
    </p:extLst>
  </p:cSld>
  <p:clrMapOvr>
    <a:masterClrMapping/>
  </p:clrMapOvr>
  <p:transition spd="med"/>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123F37-2380-CD6E-23D8-13CD8AB0E793}"/>
            </a:ext>
          </a:extLst>
        </p:cNvPr>
        <p:cNvGrpSpPr/>
        <p:nvPr/>
      </p:nvGrpSpPr>
      <p:grpSpPr>
        <a:xfrm>
          <a:off x="0" y="0"/>
          <a:ext cx="0" cy="0"/>
          <a:chOff x="0" y="0"/>
          <a:chExt cx="0" cy="0"/>
        </a:xfrm>
      </p:grpSpPr>
      <p:sp>
        <p:nvSpPr>
          <p:cNvPr id="28" name="文本框 27">
            <a:extLst>
              <a:ext uri="{FF2B5EF4-FFF2-40B4-BE49-F238E27FC236}">
                <a16:creationId xmlns:a16="http://schemas.microsoft.com/office/drawing/2014/main" id="{29F18E0B-FF37-D78C-CAEF-3D261B6D8D67}"/>
              </a:ext>
            </a:extLst>
          </p:cNvPr>
          <p:cNvSpPr txBox="1"/>
          <p:nvPr/>
        </p:nvSpPr>
        <p:spPr>
          <a:xfrm>
            <a:off x="40260" y="-30679"/>
            <a:ext cx="4470947" cy="400110"/>
          </a:xfrm>
          <a:prstGeom prst="rect">
            <a:avLst/>
          </a:prstGeom>
          <a:noFill/>
        </p:spPr>
        <p:txBody>
          <a:bodyPr wrap="square" rtlCol="0">
            <a:spAutoFit/>
          </a:bodyPr>
          <a:lstStyle/>
          <a:p>
            <a:r>
              <a:rPr lang="nl-NL" altLang="zh-CN" sz="2000" b="1"/>
              <a:t>DaaS_S&amp;D_MSA&amp;MLA</a:t>
            </a:r>
            <a:endParaRPr lang="zh-CN" altLang="en-US" sz="2000" b="1"/>
          </a:p>
        </p:txBody>
      </p:sp>
      <p:graphicFrame>
        <p:nvGraphicFramePr>
          <p:cNvPr id="2" name="表格 1">
            <a:extLst>
              <a:ext uri="{FF2B5EF4-FFF2-40B4-BE49-F238E27FC236}">
                <a16:creationId xmlns:a16="http://schemas.microsoft.com/office/drawing/2014/main" id="{69DDF0AB-5F77-11AD-BF9B-F36524C06821}"/>
              </a:ext>
            </a:extLst>
          </p:cNvPr>
          <p:cNvGraphicFramePr>
            <a:graphicFrameLocks noGrp="1"/>
          </p:cNvGraphicFramePr>
          <p:nvPr>
            <p:extLst>
              <p:ext uri="{D42A27DB-BD31-4B8C-83A1-F6EECF244321}">
                <p14:modId xmlns:p14="http://schemas.microsoft.com/office/powerpoint/2010/main" val="1599356534"/>
              </p:ext>
            </p:extLst>
          </p:nvPr>
        </p:nvGraphicFramePr>
        <p:xfrm>
          <a:off x="61720" y="342547"/>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2" name="表格 11">
            <a:extLst>
              <a:ext uri="{FF2B5EF4-FFF2-40B4-BE49-F238E27FC236}">
                <a16:creationId xmlns:a16="http://schemas.microsoft.com/office/drawing/2014/main" id="{5F8ED775-4CAE-63C9-4A76-427760DD036C}"/>
              </a:ext>
            </a:extLst>
          </p:cNvPr>
          <p:cNvGraphicFramePr>
            <a:graphicFrameLocks noGrp="1"/>
          </p:cNvGraphicFramePr>
          <p:nvPr>
            <p:extLst>
              <p:ext uri="{D42A27DB-BD31-4B8C-83A1-F6EECF244321}">
                <p14:modId xmlns:p14="http://schemas.microsoft.com/office/powerpoint/2010/main" val="2096165148"/>
              </p:ext>
            </p:extLst>
          </p:nvPr>
        </p:nvGraphicFramePr>
        <p:xfrm>
          <a:off x="6203698" y="33558"/>
          <a:ext cx="5937311" cy="1143000"/>
        </p:xfrm>
        <a:graphic>
          <a:graphicData uri="http://schemas.openxmlformats.org/drawingml/2006/table">
            <a:tbl>
              <a:tblPr firstRow="1" bandRow="1">
                <a:tableStyleId>{3C2FFA5D-87B4-456A-9821-1D502468CF0F}</a:tableStyleId>
              </a:tblPr>
              <a:tblGrid>
                <a:gridCol w="674556">
                  <a:extLst>
                    <a:ext uri="{9D8B030D-6E8A-4147-A177-3AD203B41FA5}">
                      <a16:colId xmlns:a16="http://schemas.microsoft.com/office/drawing/2014/main" val="869603910"/>
                    </a:ext>
                  </a:extLst>
                </a:gridCol>
                <a:gridCol w="721347">
                  <a:extLst>
                    <a:ext uri="{9D8B030D-6E8A-4147-A177-3AD203B41FA5}">
                      <a16:colId xmlns:a16="http://schemas.microsoft.com/office/drawing/2014/main" val="238663902"/>
                    </a:ext>
                  </a:extLst>
                </a:gridCol>
                <a:gridCol w="678032">
                  <a:extLst>
                    <a:ext uri="{9D8B030D-6E8A-4147-A177-3AD203B41FA5}">
                      <a16:colId xmlns:a16="http://schemas.microsoft.com/office/drawing/2014/main" val="4114365151"/>
                    </a:ext>
                  </a:extLst>
                </a:gridCol>
                <a:gridCol w="665820">
                  <a:extLst>
                    <a:ext uri="{9D8B030D-6E8A-4147-A177-3AD203B41FA5}">
                      <a16:colId xmlns:a16="http://schemas.microsoft.com/office/drawing/2014/main" val="4075178046"/>
                    </a:ext>
                  </a:extLst>
                </a:gridCol>
                <a:gridCol w="771548">
                  <a:extLst>
                    <a:ext uri="{9D8B030D-6E8A-4147-A177-3AD203B41FA5}">
                      <a16:colId xmlns:a16="http://schemas.microsoft.com/office/drawing/2014/main" val="973533418"/>
                    </a:ext>
                  </a:extLst>
                </a:gridCol>
                <a:gridCol w="712449">
                  <a:extLst>
                    <a:ext uri="{9D8B030D-6E8A-4147-A177-3AD203B41FA5}">
                      <a16:colId xmlns:a16="http://schemas.microsoft.com/office/drawing/2014/main" val="2377711782"/>
                    </a:ext>
                  </a:extLst>
                </a:gridCol>
                <a:gridCol w="712449">
                  <a:extLst>
                    <a:ext uri="{9D8B030D-6E8A-4147-A177-3AD203B41FA5}">
                      <a16:colId xmlns:a16="http://schemas.microsoft.com/office/drawing/2014/main" val="3530919532"/>
                    </a:ext>
                  </a:extLst>
                </a:gridCol>
                <a:gridCol w="1001110">
                  <a:extLst>
                    <a:ext uri="{9D8B030D-6E8A-4147-A177-3AD203B41FA5}">
                      <a16:colId xmlns:a16="http://schemas.microsoft.com/office/drawing/2014/main" val="221569069"/>
                    </a:ext>
                  </a:extLst>
                </a:gridCol>
              </a:tblGrid>
              <a:tr h="32667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199636">
                <a:tc>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3" name="直接连接符 2">
            <a:extLst>
              <a:ext uri="{FF2B5EF4-FFF2-40B4-BE49-F238E27FC236}">
                <a16:creationId xmlns:a16="http://schemas.microsoft.com/office/drawing/2014/main" id="{F781806D-1942-3E44-711B-DD887A23B51E}"/>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5" name="表格 4">
            <a:extLst>
              <a:ext uri="{FF2B5EF4-FFF2-40B4-BE49-F238E27FC236}">
                <a16:creationId xmlns:a16="http://schemas.microsoft.com/office/drawing/2014/main" id="{B524CB9F-A274-0033-13F6-3BC86BF7AE3F}"/>
              </a:ext>
            </a:extLst>
          </p:cNvPr>
          <p:cNvGraphicFramePr>
            <a:graphicFrameLocks noGrp="1"/>
          </p:cNvGraphicFramePr>
          <p:nvPr>
            <p:extLst>
              <p:ext uri="{D42A27DB-BD31-4B8C-83A1-F6EECF244321}">
                <p14:modId xmlns:p14="http://schemas.microsoft.com/office/powerpoint/2010/main" val="4260609871"/>
              </p:ext>
            </p:extLst>
          </p:nvPr>
        </p:nvGraphicFramePr>
        <p:xfrm>
          <a:off x="6203699" y="1204072"/>
          <a:ext cx="5937310"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3353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73562">
                  <a:extLst>
                    <a:ext uri="{9D8B030D-6E8A-4147-A177-3AD203B41FA5}">
                      <a16:colId xmlns:a16="http://schemas.microsoft.com/office/drawing/2014/main" val="3603859997"/>
                    </a:ext>
                  </a:extLst>
                </a:gridCol>
                <a:gridCol w="343843">
                  <a:extLst>
                    <a:ext uri="{9D8B030D-6E8A-4147-A177-3AD203B41FA5}">
                      <a16:colId xmlns:a16="http://schemas.microsoft.com/office/drawing/2014/main" val="4076488391"/>
                    </a:ext>
                  </a:extLst>
                </a:gridCol>
                <a:gridCol w="343843">
                  <a:extLst>
                    <a:ext uri="{9D8B030D-6E8A-4147-A177-3AD203B41FA5}">
                      <a16:colId xmlns:a16="http://schemas.microsoft.com/office/drawing/2014/main" val="3254101706"/>
                    </a:ext>
                  </a:extLst>
                </a:gridCol>
                <a:gridCol w="268668">
                  <a:extLst>
                    <a:ext uri="{9D8B030D-6E8A-4147-A177-3AD203B41FA5}">
                      <a16:colId xmlns:a16="http://schemas.microsoft.com/office/drawing/2014/main" val="3712391277"/>
                    </a:ext>
                  </a:extLst>
                </a:gridCol>
                <a:gridCol w="580908">
                  <a:extLst>
                    <a:ext uri="{9D8B030D-6E8A-4147-A177-3AD203B41FA5}">
                      <a16:colId xmlns:a16="http://schemas.microsoft.com/office/drawing/2014/main" val="1872140390"/>
                    </a:ext>
                  </a:extLst>
                </a:gridCol>
                <a:gridCol w="257419">
                  <a:extLst>
                    <a:ext uri="{9D8B030D-6E8A-4147-A177-3AD203B41FA5}">
                      <a16:colId xmlns:a16="http://schemas.microsoft.com/office/drawing/2014/main" val="2527660299"/>
                    </a:ext>
                  </a:extLst>
                </a:gridCol>
                <a:gridCol w="387513">
                  <a:extLst>
                    <a:ext uri="{9D8B030D-6E8A-4147-A177-3AD203B41FA5}">
                      <a16:colId xmlns:a16="http://schemas.microsoft.com/office/drawing/2014/main" val="3641075278"/>
                    </a:ext>
                  </a:extLst>
                </a:gridCol>
                <a:gridCol w="538482">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1479446"/>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0187103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7" name="表格 6">
            <a:extLst>
              <a:ext uri="{FF2B5EF4-FFF2-40B4-BE49-F238E27FC236}">
                <a16:creationId xmlns:a16="http://schemas.microsoft.com/office/drawing/2014/main" id="{89989DD2-F1F9-B48C-ECF1-4AFC88F83954}"/>
              </a:ext>
            </a:extLst>
          </p:cNvPr>
          <p:cNvGraphicFramePr>
            <a:graphicFrameLocks noGrp="1"/>
          </p:cNvGraphicFramePr>
          <p:nvPr>
            <p:extLst>
              <p:ext uri="{D42A27DB-BD31-4B8C-83A1-F6EECF244321}">
                <p14:modId xmlns:p14="http://schemas.microsoft.com/office/powerpoint/2010/main" val="2274355374"/>
              </p:ext>
            </p:extLst>
          </p:nvPr>
        </p:nvGraphicFramePr>
        <p:xfrm>
          <a:off x="46883" y="1500360"/>
          <a:ext cx="6006444" cy="2201599"/>
        </p:xfrm>
        <a:graphic>
          <a:graphicData uri="http://schemas.openxmlformats.org/drawingml/2006/table">
            <a:tbl>
              <a:tblPr/>
              <a:tblGrid>
                <a:gridCol w="431468">
                  <a:extLst>
                    <a:ext uri="{9D8B030D-6E8A-4147-A177-3AD203B41FA5}">
                      <a16:colId xmlns:a16="http://schemas.microsoft.com/office/drawing/2014/main" val="495084399"/>
                    </a:ext>
                  </a:extLst>
                </a:gridCol>
                <a:gridCol w="237242">
                  <a:extLst>
                    <a:ext uri="{9D8B030D-6E8A-4147-A177-3AD203B41FA5}">
                      <a16:colId xmlns:a16="http://schemas.microsoft.com/office/drawing/2014/main" val="3614210242"/>
                    </a:ext>
                  </a:extLst>
                </a:gridCol>
                <a:gridCol w="564606">
                  <a:extLst>
                    <a:ext uri="{9D8B030D-6E8A-4147-A177-3AD203B41FA5}">
                      <a16:colId xmlns:a16="http://schemas.microsoft.com/office/drawing/2014/main" val="1442124609"/>
                    </a:ext>
                  </a:extLst>
                </a:gridCol>
                <a:gridCol w="2052260">
                  <a:extLst>
                    <a:ext uri="{9D8B030D-6E8A-4147-A177-3AD203B41FA5}">
                      <a16:colId xmlns:a16="http://schemas.microsoft.com/office/drawing/2014/main" val="3603859997"/>
                    </a:ext>
                  </a:extLst>
                </a:gridCol>
                <a:gridCol w="342048">
                  <a:extLst>
                    <a:ext uri="{9D8B030D-6E8A-4147-A177-3AD203B41FA5}">
                      <a16:colId xmlns:a16="http://schemas.microsoft.com/office/drawing/2014/main" val="4076488391"/>
                    </a:ext>
                  </a:extLst>
                </a:gridCol>
                <a:gridCol w="342048">
                  <a:extLst>
                    <a:ext uri="{9D8B030D-6E8A-4147-A177-3AD203B41FA5}">
                      <a16:colId xmlns:a16="http://schemas.microsoft.com/office/drawing/2014/main" val="3254101706"/>
                    </a:ext>
                  </a:extLst>
                </a:gridCol>
                <a:gridCol w="259930">
                  <a:extLst>
                    <a:ext uri="{9D8B030D-6E8A-4147-A177-3AD203B41FA5}">
                      <a16:colId xmlns:a16="http://schemas.microsoft.com/office/drawing/2014/main" val="3712391277"/>
                    </a:ext>
                  </a:extLst>
                </a:gridCol>
                <a:gridCol w="583402">
                  <a:extLst>
                    <a:ext uri="{9D8B030D-6E8A-4147-A177-3AD203B41FA5}">
                      <a16:colId xmlns:a16="http://schemas.microsoft.com/office/drawing/2014/main" val="134131131"/>
                    </a:ext>
                  </a:extLst>
                </a:gridCol>
                <a:gridCol w="333057">
                  <a:extLst>
                    <a:ext uri="{9D8B030D-6E8A-4147-A177-3AD203B41FA5}">
                      <a16:colId xmlns:a16="http://schemas.microsoft.com/office/drawing/2014/main" val="2527660299"/>
                    </a:ext>
                  </a:extLst>
                </a:gridCol>
                <a:gridCol w="366950">
                  <a:extLst>
                    <a:ext uri="{9D8B030D-6E8A-4147-A177-3AD203B41FA5}">
                      <a16:colId xmlns:a16="http://schemas.microsoft.com/office/drawing/2014/main" val="3641075278"/>
                    </a:ext>
                  </a:extLst>
                </a:gridCol>
                <a:gridCol w="493433">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6" name="表格 5">
            <a:extLst>
              <a:ext uri="{FF2B5EF4-FFF2-40B4-BE49-F238E27FC236}">
                <a16:creationId xmlns:a16="http://schemas.microsoft.com/office/drawing/2014/main" id="{A640054F-4751-3F24-B901-E9E692A056A9}"/>
              </a:ext>
            </a:extLst>
          </p:cNvPr>
          <p:cNvGraphicFramePr>
            <a:graphicFrameLocks noGrp="1"/>
          </p:cNvGraphicFramePr>
          <p:nvPr>
            <p:extLst>
              <p:ext uri="{D42A27DB-BD31-4B8C-83A1-F6EECF244321}">
                <p14:modId xmlns:p14="http://schemas.microsoft.com/office/powerpoint/2010/main" val="1929727333"/>
              </p:ext>
            </p:extLst>
          </p:nvPr>
        </p:nvGraphicFramePr>
        <p:xfrm>
          <a:off x="53364" y="3716772"/>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Swap Stock</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2048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a:txBody>
                    <a:bodyPr/>
                    <a:lstStyle/>
                    <a:p>
                      <a:r>
                        <a:rPr lang="en-US" altLang="zh-CN" sz="1050">
                          <a:solidFill>
                            <a:sysClr val="windowText" lastClr="000000"/>
                          </a:solidFill>
                        </a:rPr>
                        <a:t>Damage Fund</a:t>
                      </a:r>
                      <a:endParaRPr lang="zh-CN" altLang="en-US" sz="105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8" name="表格 7">
            <a:extLst>
              <a:ext uri="{FF2B5EF4-FFF2-40B4-BE49-F238E27FC236}">
                <a16:creationId xmlns:a16="http://schemas.microsoft.com/office/drawing/2014/main" id="{E33FBF58-7C6F-824E-8FA9-F9A9311749A8}"/>
              </a:ext>
            </a:extLst>
          </p:cNvPr>
          <p:cNvGraphicFramePr>
            <a:graphicFrameLocks noGrp="1"/>
          </p:cNvGraphicFramePr>
          <p:nvPr>
            <p:extLst>
              <p:ext uri="{D42A27DB-BD31-4B8C-83A1-F6EECF244321}">
                <p14:modId xmlns:p14="http://schemas.microsoft.com/office/powerpoint/2010/main" val="4006578699"/>
              </p:ext>
            </p:extLst>
          </p:nvPr>
        </p:nvGraphicFramePr>
        <p:xfrm>
          <a:off x="6214430" y="3428035"/>
          <a:ext cx="5937310" cy="1143000"/>
        </p:xfrm>
        <a:graphic>
          <a:graphicData uri="http://schemas.openxmlformats.org/drawingml/2006/table">
            <a:tbl>
              <a:tblPr firstRow="1" bandRow="1">
                <a:tableStyleId>{3C2FFA5D-87B4-456A-9821-1D502468CF0F}</a:tableStyleId>
              </a:tblPr>
              <a:tblGrid>
                <a:gridCol w="665281">
                  <a:extLst>
                    <a:ext uri="{9D8B030D-6E8A-4147-A177-3AD203B41FA5}">
                      <a16:colId xmlns:a16="http://schemas.microsoft.com/office/drawing/2014/main" val="869603910"/>
                    </a:ext>
                  </a:extLst>
                </a:gridCol>
                <a:gridCol w="730622">
                  <a:extLst>
                    <a:ext uri="{9D8B030D-6E8A-4147-A177-3AD203B41FA5}">
                      <a16:colId xmlns:a16="http://schemas.microsoft.com/office/drawing/2014/main" val="238663902"/>
                    </a:ext>
                  </a:extLst>
                </a:gridCol>
                <a:gridCol w="678032">
                  <a:extLst>
                    <a:ext uri="{9D8B030D-6E8A-4147-A177-3AD203B41FA5}">
                      <a16:colId xmlns:a16="http://schemas.microsoft.com/office/drawing/2014/main" val="4114365151"/>
                    </a:ext>
                  </a:extLst>
                </a:gridCol>
                <a:gridCol w="665820">
                  <a:extLst>
                    <a:ext uri="{9D8B030D-6E8A-4147-A177-3AD203B41FA5}">
                      <a16:colId xmlns:a16="http://schemas.microsoft.com/office/drawing/2014/main" val="4075178046"/>
                    </a:ext>
                  </a:extLst>
                </a:gridCol>
                <a:gridCol w="771548">
                  <a:extLst>
                    <a:ext uri="{9D8B030D-6E8A-4147-A177-3AD203B41FA5}">
                      <a16:colId xmlns:a16="http://schemas.microsoft.com/office/drawing/2014/main" val="973533418"/>
                    </a:ext>
                  </a:extLst>
                </a:gridCol>
                <a:gridCol w="712449">
                  <a:extLst>
                    <a:ext uri="{9D8B030D-6E8A-4147-A177-3AD203B41FA5}">
                      <a16:colId xmlns:a16="http://schemas.microsoft.com/office/drawing/2014/main" val="2377711782"/>
                    </a:ext>
                  </a:extLst>
                </a:gridCol>
                <a:gridCol w="712449">
                  <a:extLst>
                    <a:ext uri="{9D8B030D-6E8A-4147-A177-3AD203B41FA5}">
                      <a16:colId xmlns:a16="http://schemas.microsoft.com/office/drawing/2014/main" val="3530919532"/>
                    </a:ext>
                  </a:extLst>
                </a:gridCol>
                <a:gridCol w="1001109">
                  <a:extLst>
                    <a:ext uri="{9D8B030D-6E8A-4147-A177-3AD203B41FA5}">
                      <a16:colId xmlns:a16="http://schemas.microsoft.com/office/drawing/2014/main" val="221569069"/>
                    </a:ext>
                  </a:extLst>
                </a:gridCol>
              </a:tblGrid>
              <a:tr h="32667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199636">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Swap Stock</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199636">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Damage Fund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9" name="表格 8">
            <a:extLst>
              <a:ext uri="{FF2B5EF4-FFF2-40B4-BE49-F238E27FC236}">
                <a16:creationId xmlns:a16="http://schemas.microsoft.com/office/drawing/2014/main" id="{5FDC6D11-8073-1ED2-DB74-094BD41695CB}"/>
              </a:ext>
            </a:extLst>
          </p:cNvPr>
          <p:cNvGraphicFramePr>
            <a:graphicFrameLocks noGrp="1"/>
          </p:cNvGraphicFramePr>
          <p:nvPr>
            <p:extLst>
              <p:ext uri="{D42A27DB-BD31-4B8C-83A1-F6EECF244321}">
                <p14:modId xmlns:p14="http://schemas.microsoft.com/office/powerpoint/2010/main" val="226966293"/>
              </p:ext>
            </p:extLst>
          </p:nvPr>
        </p:nvGraphicFramePr>
        <p:xfrm>
          <a:off x="6214430" y="4593399"/>
          <a:ext cx="5937310" cy="2542263"/>
        </p:xfrm>
        <a:graphic>
          <a:graphicData uri="http://schemas.openxmlformats.org/drawingml/2006/table">
            <a:tbl>
              <a:tblPr/>
              <a:tblGrid>
                <a:gridCol w="437298">
                  <a:extLst>
                    <a:ext uri="{9D8B030D-6E8A-4147-A177-3AD203B41FA5}">
                      <a16:colId xmlns:a16="http://schemas.microsoft.com/office/drawing/2014/main" val="495084399"/>
                    </a:ext>
                  </a:extLst>
                </a:gridCol>
                <a:gridCol w="23353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73562">
                  <a:extLst>
                    <a:ext uri="{9D8B030D-6E8A-4147-A177-3AD203B41FA5}">
                      <a16:colId xmlns:a16="http://schemas.microsoft.com/office/drawing/2014/main" val="3603859997"/>
                    </a:ext>
                  </a:extLst>
                </a:gridCol>
                <a:gridCol w="343843">
                  <a:extLst>
                    <a:ext uri="{9D8B030D-6E8A-4147-A177-3AD203B41FA5}">
                      <a16:colId xmlns:a16="http://schemas.microsoft.com/office/drawing/2014/main" val="4076488391"/>
                    </a:ext>
                  </a:extLst>
                </a:gridCol>
                <a:gridCol w="343843">
                  <a:extLst>
                    <a:ext uri="{9D8B030D-6E8A-4147-A177-3AD203B41FA5}">
                      <a16:colId xmlns:a16="http://schemas.microsoft.com/office/drawing/2014/main" val="3254101706"/>
                    </a:ext>
                  </a:extLst>
                </a:gridCol>
                <a:gridCol w="268668">
                  <a:extLst>
                    <a:ext uri="{9D8B030D-6E8A-4147-A177-3AD203B41FA5}">
                      <a16:colId xmlns:a16="http://schemas.microsoft.com/office/drawing/2014/main" val="3712391277"/>
                    </a:ext>
                  </a:extLst>
                </a:gridCol>
                <a:gridCol w="580908">
                  <a:extLst>
                    <a:ext uri="{9D8B030D-6E8A-4147-A177-3AD203B41FA5}">
                      <a16:colId xmlns:a16="http://schemas.microsoft.com/office/drawing/2014/main" val="1872140390"/>
                    </a:ext>
                  </a:extLst>
                </a:gridCol>
                <a:gridCol w="257419">
                  <a:extLst>
                    <a:ext uri="{9D8B030D-6E8A-4147-A177-3AD203B41FA5}">
                      <a16:colId xmlns:a16="http://schemas.microsoft.com/office/drawing/2014/main" val="2527660299"/>
                    </a:ext>
                  </a:extLst>
                </a:gridCol>
                <a:gridCol w="387513">
                  <a:extLst>
                    <a:ext uri="{9D8B030D-6E8A-4147-A177-3AD203B41FA5}">
                      <a16:colId xmlns:a16="http://schemas.microsoft.com/office/drawing/2014/main" val="3641075278"/>
                    </a:ext>
                  </a:extLst>
                </a:gridCol>
                <a:gridCol w="538482">
                  <a:extLst>
                    <a:ext uri="{9D8B030D-6E8A-4147-A177-3AD203B41FA5}">
                      <a16:colId xmlns:a16="http://schemas.microsoft.com/office/drawing/2014/main" val="3618613915"/>
                    </a:ext>
                  </a:extLst>
                </a:gridCol>
              </a:tblGrid>
              <a:tr h="127981">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0187103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Service Revenue -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61585199"/>
                  </a:ext>
                </a:extLst>
              </a:tr>
              <a:tr h="91440">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17176656"/>
                  </a:ext>
                </a:extLst>
              </a:tr>
            </a:tbl>
          </a:graphicData>
        </a:graphic>
      </p:graphicFrame>
      <p:graphicFrame>
        <p:nvGraphicFramePr>
          <p:cNvPr id="10" name="表格 9">
            <a:extLst>
              <a:ext uri="{FF2B5EF4-FFF2-40B4-BE49-F238E27FC236}">
                <a16:creationId xmlns:a16="http://schemas.microsoft.com/office/drawing/2014/main" id="{D98CBE00-2BD8-61AA-A2A4-B4150D3E9F21}"/>
              </a:ext>
            </a:extLst>
          </p:cNvPr>
          <p:cNvGraphicFramePr>
            <a:graphicFrameLocks noGrp="1"/>
          </p:cNvGraphicFramePr>
          <p:nvPr>
            <p:extLst>
              <p:ext uri="{D42A27DB-BD31-4B8C-83A1-F6EECF244321}">
                <p14:modId xmlns:p14="http://schemas.microsoft.com/office/powerpoint/2010/main" val="4097344514"/>
              </p:ext>
            </p:extLst>
          </p:nvPr>
        </p:nvGraphicFramePr>
        <p:xfrm>
          <a:off x="29528" y="4874585"/>
          <a:ext cx="6006441" cy="2542263"/>
        </p:xfrm>
        <a:graphic>
          <a:graphicData uri="http://schemas.openxmlformats.org/drawingml/2006/table">
            <a:tbl>
              <a:tblPr/>
              <a:tblGrid>
                <a:gridCol w="431467">
                  <a:extLst>
                    <a:ext uri="{9D8B030D-6E8A-4147-A177-3AD203B41FA5}">
                      <a16:colId xmlns:a16="http://schemas.microsoft.com/office/drawing/2014/main" val="495084399"/>
                    </a:ext>
                  </a:extLst>
                </a:gridCol>
                <a:gridCol w="237242">
                  <a:extLst>
                    <a:ext uri="{9D8B030D-6E8A-4147-A177-3AD203B41FA5}">
                      <a16:colId xmlns:a16="http://schemas.microsoft.com/office/drawing/2014/main" val="3614210242"/>
                    </a:ext>
                  </a:extLst>
                </a:gridCol>
                <a:gridCol w="564606">
                  <a:extLst>
                    <a:ext uri="{9D8B030D-6E8A-4147-A177-3AD203B41FA5}">
                      <a16:colId xmlns:a16="http://schemas.microsoft.com/office/drawing/2014/main" val="1442124609"/>
                    </a:ext>
                  </a:extLst>
                </a:gridCol>
                <a:gridCol w="2052260">
                  <a:extLst>
                    <a:ext uri="{9D8B030D-6E8A-4147-A177-3AD203B41FA5}">
                      <a16:colId xmlns:a16="http://schemas.microsoft.com/office/drawing/2014/main" val="3603859997"/>
                    </a:ext>
                  </a:extLst>
                </a:gridCol>
                <a:gridCol w="342048">
                  <a:extLst>
                    <a:ext uri="{9D8B030D-6E8A-4147-A177-3AD203B41FA5}">
                      <a16:colId xmlns:a16="http://schemas.microsoft.com/office/drawing/2014/main" val="4076488391"/>
                    </a:ext>
                  </a:extLst>
                </a:gridCol>
                <a:gridCol w="342048">
                  <a:extLst>
                    <a:ext uri="{9D8B030D-6E8A-4147-A177-3AD203B41FA5}">
                      <a16:colId xmlns:a16="http://schemas.microsoft.com/office/drawing/2014/main" val="3254101706"/>
                    </a:ext>
                  </a:extLst>
                </a:gridCol>
                <a:gridCol w="259930">
                  <a:extLst>
                    <a:ext uri="{9D8B030D-6E8A-4147-A177-3AD203B41FA5}">
                      <a16:colId xmlns:a16="http://schemas.microsoft.com/office/drawing/2014/main" val="3712391277"/>
                    </a:ext>
                  </a:extLst>
                </a:gridCol>
                <a:gridCol w="583402">
                  <a:extLst>
                    <a:ext uri="{9D8B030D-6E8A-4147-A177-3AD203B41FA5}">
                      <a16:colId xmlns:a16="http://schemas.microsoft.com/office/drawing/2014/main" val="134131131"/>
                    </a:ext>
                  </a:extLst>
                </a:gridCol>
                <a:gridCol w="333056">
                  <a:extLst>
                    <a:ext uri="{9D8B030D-6E8A-4147-A177-3AD203B41FA5}">
                      <a16:colId xmlns:a16="http://schemas.microsoft.com/office/drawing/2014/main" val="2527660299"/>
                    </a:ext>
                  </a:extLst>
                </a:gridCol>
                <a:gridCol w="366949">
                  <a:extLst>
                    <a:ext uri="{9D8B030D-6E8A-4147-A177-3AD203B41FA5}">
                      <a16:colId xmlns:a16="http://schemas.microsoft.com/office/drawing/2014/main" val="3641075278"/>
                    </a:ext>
                  </a:extLst>
                </a:gridCol>
                <a:gridCol w="493433">
                  <a:extLst>
                    <a:ext uri="{9D8B030D-6E8A-4147-A177-3AD203B41FA5}">
                      <a16:colId xmlns:a16="http://schemas.microsoft.com/office/drawing/2014/main" val="3618613915"/>
                    </a:ext>
                  </a:extLst>
                </a:gridCol>
              </a:tblGrid>
              <a:tr h="127981">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Service Revenue -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sp>
        <p:nvSpPr>
          <p:cNvPr id="11" name="对话气泡: 矩形 10">
            <a:extLst>
              <a:ext uri="{FF2B5EF4-FFF2-40B4-BE49-F238E27FC236}">
                <a16:creationId xmlns:a16="http://schemas.microsoft.com/office/drawing/2014/main" id="{74E89C3C-78A6-E0D8-48ED-01AD1F585F6B}"/>
              </a:ext>
            </a:extLst>
          </p:cNvPr>
          <p:cNvSpPr/>
          <p:nvPr/>
        </p:nvSpPr>
        <p:spPr>
          <a:xfrm>
            <a:off x="-1662224" y="5466805"/>
            <a:ext cx="1643269" cy="1910671"/>
          </a:xfrm>
          <a:prstGeom prst="wedgeRectCallout">
            <a:avLst>
              <a:gd name="adj1" fmla="val 360011"/>
              <a:gd name="adj2" fmla="val -9260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28600" indent="-228600">
              <a:buAutoNum type="arabicPeriod"/>
            </a:pPr>
            <a:r>
              <a:rPr lang="en-US" altLang="zh-CN" sz="1200">
                <a:solidFill>
                  <a:schemeClr val="tx1"/>
                </a:solidFill>
              </a:rPr>
              <a:t>Swap and Damage fund only applicable for Hitachi project scope</a:t>
            </a:r>
          </a:p>
          <a:p>
            <a:pPr marL="228600" indent="-228600">
              <a:buAutoNum type="arabicPeriod"/>
            </a:pPr>
            <a:r>
              <a:rPr lang="en-US" altLang="zh-CN" sz="1200">
                <a:solidFill>
                  <a:schemeClr val="tx1"/>
                </a:solidFill>
              </a:rPr>
              <a:t>Swap stock and Damage Fund is applicable for JP&amp;IN(S&amp;D Model)</a:t>
            </a:r>
            <a:endParaRPr lang="zh-CN" altLang="en-US" sz="1200">
              <a:solidFill>
                <a:schemeClr val="tx1"/>
              </a:solidFill>
            </a:endParaRPr>
          </a:p>
          <a:p>
            <a:pPr algn="ctr"/>
            <a:endParaRPr lang="zh-CN" altLang="en-US" sz="1200">
              <a:solidFill>
                <a:schemeClr val="tx1"/>
              </a:solidFill>
            </a:endParaRPr>
          </a:p>
        </p:txBody>
      </p:sp>
    </p:spTree>
    <p:extLst>
      <p:ext uri="{BB962C8B-B14F-4D97-AF65-F5344CB8AC3E}">
        <p14:creationId xmlns:p14="http://schemas.microsoft.com/office/powerpoint/2010/main" val="271492214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8E73D2-7C0C-B826-091D-7376C634E6D6}"/>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7A970BE7-D87B-0DE6-D117-2272D8A272D5}"/>
              </a:ext>
            </a:extLst>
          </p:cNvPr>
          <p:cNvSpPr txBox="1"/>
          <p:nvPr/>
        </p:nvSpPr>
        <p:spPr>
          <a:xfrm>
            <a:off x="69107" y="0"/>
            <a:ext cx="4470947" cy="400110"/>
          </a:xfrm>
          <a:prstGeom prst="rect">
            <a:avLst/>
          </a:prstGeom>
          <a:noFill/>
        </p:spPr>
        <p:txBody>
          <a:bodyPr wrap="square" rtlCol="0">
            <a:spAutoFit/>
          </a:bodyPr>
          <a:lstStyle/>
          <a:p>
            <a:r>
              <a:rPr lang="nl-NL" altLang="zh-CN" sz="2000" b="1"/>
              <a:t>DaaS_S&amp;D_MSA&amp;MLA</a:t>
            </a:r>
            <a:endParaRPr lang="zh-CN" altLang="en-US" sz="2000" b="1"/>
          </a:p>
        </p:txBody>
      </p:sp>
      <p:graphicFrame>
        <p:nvGraphicFramePr>
          <p:cNvPr id="116" name="表格 115">
            <a:extLst>
              <a:ext uri="{FF2B5EF4-FFF2-40B4-BE49-F238E27FC236}">
                <a16:creationId xmlns:a16="http://schemas.microsoft.com/office/drawing/2014/main" id="{B7ED51E7-5BDF-A551-8088-CE3A053F3014}"/>
              </a:ext>
            </a:extLst>
          </p:cNvPr>
          <p:cNvGraphicFramePr>
            <a:graphicFrameLocks noGrp="1"/>
          </p:cNvGraphicFramePr>
          <p:nvPr>
            <p:extLst>
              <p:ext uri="{D42A27DB-BD31-4B8C-83A1-F6EECF244321}">
                <p14:modId xmlns:p14="http://schemas.microsoft.com/office/powerpoint/2010/main" val="2849581315"/>
              </p:ext>
            </p:extLst>
          </p:nvPr>
        </p:nvGraphicFramePr>
        <p:xfrm>
          <a:off x="152787" y="1447691"/>
          <a:ext cx="5885190" cy="1632426"/>
        </p:xfrm>
        <a:graphic>
          <a:graphicData uri="http://schemas.openxmlformats.org/drawingml/2006/table">
            <a:tbl>
              <a:tblPr/>
              <a:tblGrid>
                <a:gridCol w="437298">
                  <a:extLst>
                    <a:ext uri="{9D8B030D-6E8A-4147-A177-3AD203B41FA5}">
                      <a16:colId xmlns:a16="http://schemas.microsoft.com/office/drawing/2014/main" val="495084399"/>
                    </a:ext>
                  </a:extLst>
                </a:gridCol>
                <a:gridCol w="275083">
                  <a:extLst>
                    <a:ext uri="{9D8B030D-6E8A-4147-A177-3AD203B41FA5}">
                      <a16:colId xmlns:a16="http://schemas.microsoft.com/office/drawing/2014/main" val="3614210242"/>
                    </a:ext>
                  </a:extLst>
                </a:gridCol>
                <a:gridCol w="654663">
                  <a:extLst>
                    <a:ext uri="{9D8B030D-6E8A-4147-A177-3AD203B41FA5}">
                      <a16:colId xmlns:a16="http://schemas.microsoft.com/office/drawing/2014/main" val="1442124609"/>
                    </a:ext>
                  </a:extLst>
                </a:gridCol>
                <a:gridCol w="1835150">
                  <a:extLst>
                    <a:ext uri="{9D8B030D-6E8A-4147-A177-3AD203B41FA5}">
                      <a16:colId xmlns:a16="http://schemas.microsoft.com/office/drawing/2014/main" val="3603859997"/>
                    </a:ext>
                  </a:extLst>
                </a:gridCol>
                <a:gridCol w="398582">
                  <a:extLst>
                    <a:ext uri="{9D8B030D-6E8A-4147-A177-3AD203B41FA5}">
                      <a16:colId xmlns:a16="http://schemas.microsoft.com/office/drawing/2014/main" val="4076488391"/>
                    </a:ext>
                  </a:extLst>
                </a:gridCol>
                <a:gridCol w="398582">
                  <a:extLst>
                    <a:ext uri="{9D8B030D-6E8A-4147-A177-3AD203B41FA5}">
                      <a16:colId xmlns:a16="http://schemas.microsoft.com/office/drawing/2014/main" val="3254101706"/>
                    </a:ext>
                  </a:extLst>
                </a:gridCol>
                <a:gridCol w="319646">
                  <a:extLst>
                    <a:ext uri="{9D8B030D-6E8A-4147-A177-3AD203B41FA5}">
                      <a16:colId xmlns:a16="http://schemas.microsoft.com/office/drawing/2014/main" val="3712391277"/>
                    </a:ext>
                  </a:extLst>
                </a:gridCol>
                <a:gridCol w="313223">
                  <a:extLst>
                    <a:ext uri="{9D8B030D-6E8A-4147-A177-3AD203B41FA5}">
                      <a16:colId xmlns:a16="http://schemas.microsoft.com/office/drawing/2014/main" val="2728947310"/>
                    </a:ext>
                  </a:extLst>
                </a:gridCol>
                <a:gridCol w="313223">
                  <a:extLst>
                    <a:ext uri="{9D8B030D-6E8A-4147-A177-3AD203B41FA5}">
                      <a16:colId xmlns:a16="http://schemas.microsoft.com/office/drawing/2014/main" val="2527660299"/>
                    </a:ext>
                  </a:extLst>
                </a:gridCol>
                <a:gridCol w="451252">
                  <a:extLst>
                    <a:ext uri="{9D8B030D-6E8A-4147-A177-3AD203B41FA5}">
                      <a16:colId xmlns:a16="http://schemas.microsoft.com/office/drawing/2014/main" val="3641075278"/>
                    </a:ext>
                  </a:extLst>
                </a:gridCol>
                <a:gridCol w="488488">
                  <a:extLst>
                    <a:ext uri="{9D8B030D-6E8A-4147-A177-3AD203B41FA5}">
                      <a16:colId xmlns:a16="http://schemas.microsoft.com/office/drawing/2014/main" val="3618613915"/>
                    </a:ext>
                  </a:extLst>
                </a:gridCol>
              </a:tblGrid>
              <a:tr h="182275">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Recognition of End of Lease Services Revenue</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End of Lease</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3455902"/>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51075742"/>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25" name="表格 24">
            <a:extLst>
              <a:ext uri="{FF2B5EF4-FFF2-40B4-BE49-F238E27FC236}">
                <a16:creationId xmlns:a16="http://schemas.microsoft.com/office/drawing/2014/main" id="{CC0E4634-5A4C-F4EF-CE40-14DD0711A6FB}"/>
              </a:ext>
            </a:extLst>
          </p:cNvPr>
          <p:cNvGraphicFramePr>
            <a:graphicFrameLocks noGrp="1"/>
          </p:cNvGraphicFramePr>
          <p:nvPr>
            <p:extLst>
              <p:ext uri="{D42A27DB-BD31-4B8C-83A1-F6EECF244321}">
                <p14:modId xmlns:p14="http://schemas.microsoft.com/office/powerpoint/2010/main" val="62085390"/>
              </p:ext>
            </p:extLst>
          </p:nvPr>
        </p:nvGraphicFramePr>
        <p:xfrm>
          <a:off x="6182242" y="1235271"/>
          <a:ext cx="5885423" cy="1107879"/>
        </p:xfrm>
        <a:graphic>
          <a:graphicData uri="http://schemas.openxmlformats.org/drawingml/2006/table">
            <a:tbl>
              <a:tblPr/>
              <a:tblGrid>
                <a:gridCol w="431851">
                  <a:extLst>
                    <a:ext uri="{9D8B030D-6E8A-4147-A177-3AD203B41FA5}">
                      <a16:colId xmlns:a16="http://schemas.microsoft.com/office/drawing/2014/main" val="495084399"/>
                    </a:ext>
                  </a:extLst>
                </a:gridCol>
                <a:gridCol w="226062">
                  <a:extLst>
                    <a:ext uri="{9D8B030D-6E8A-4147-A177-3AD203B41FA5}">
                      <a16:colId xmlns:a16="http://schemas.microsoft.com/office/drawing/2014/main" val="3614210242"/>
                    </a:ext>
                  </a:extLst>
                </a:gridCol>
                <a:gridCol w="572405">
                  <a:extLst>
                    <a:ext uri="{9D8B030D-6E8A-4147-A177-3AD203B41FA5}">
                      <a16:colId xmlns:a16="http://schemas.microsoft.com/office/drawing/2014/main" val="1442124609"/>
                    </a:ext>
                  </a:extLst>
                </a:gridCol>
                <a:gridCol w="1463549">
                  <a:extLst>
                    <a:ext uri="{9D8B030D-6E8A-4147-A177-3AD203B41FA5}">
                      <a16:colId xmlns:a16="http://schemas.microsoft.com/office/drawing/2014/main" val="3603859997"/>
                    </a:ext>
                  </a:extLst>
                </a:gridCol>
                <a:gridCol w="546334">
                  <a:extLst>
                    <a:ext uri="{9D8B030D-6E8A-4147-A177-3AD203B41FA5}">
                      <a16:colId xmlns:a16="http://schemas.microsoft.com/office/drawing/2014/main" val="4076488391"/>
                    </a:ext>
                  </a:extLst>
                </a:gridCol>
                <a:gridCol w="272278">
                  <a:extLst>
                    <a:ext uri="{9D8B030D-6E8A-4147-A177-3AD203B41FA5}">
                      <a16:colId xmlns:a16="http://schemas.microsoft.com/office/drawing/2014/main" val="3254101706"/>
                    </a:ext>
                  </a:extLst>
                </a:gridCol>
                <a:gridCol w="349076">
                  <a:extLst>
                    <a:ext uri="{9D8B030D-6E8A-4147-A177-3AD203B41FA5}">
                      <a16:colId xmlns:a16="http://schemas.microsoft.com/office/drawing/2014/main" val="3712391277"/>
                    </a:ext>
                  </a:extLst>
                </a:gridCol>
                <a:gridCol w="591460">
                  <a:extLst>
                    <a:ext uri="{9D8B030D-6E8A-4147-A177-3AD203B41FA5}">
                      <a16:colId xmlns:a16="http://schemas.microsoft.com/office/drawing/2014/main" val="277609593"/>
                    </a:ext>
                  </a:extLst>
                </a:gridCol>
                <a:gridCol w="245626">
                  <a:extLst>
                    <a:ext uri="{9D8B030D-6E8A-4147-A177-3AD203B41FA5}">
                      <a16:colId xmlns:a16="http://schemas.microsoft.com/office/drawing/2014/main" val="2527660299"/>
                    </a:ext>
                  </a:extLst>
                </a:gridCol>
                <a:gridCol w="370837">
                  <a:extLst>
                    <a:ext uri="{9D8B030D-6E8A-4147-A177-3AD203B41FA5}">
                      <a16:colId xmlns:a16="http://schemas.microsoft.com/office/drawing/2014/main" val="3641075278"/>
                    </a:ext>
                  </a:extLst>
                </a:gridCol>
                <a:gridCol w="815945">
                  <a:extLst>
                    <a:ext uri="{9D8B030D-6E8A-4147-A177-3AD203B41FA5}">
                      <a16:colId xmlns:a16="http://schemas.microsoft.com/office/drawing/2014/main" val="3618613915"/>
                    </a:ext>
                  </a:extLst>
                </a:gridCol>
              </a:tblGrid>
              <a:tr h="17882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Damage charge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Damage charge Invoice </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5MS1R87545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33855811"/>
                  </a:ext>
                </a:extLst>
              </a:tr>
            </a:tbl>
          </a:graphicData>
        </a:graphic>
      </p:graphicFrame>
      <p:graphicFrame>
        <p:nvGraphicFramePr>
          <p:cNvPr id="26" name="表格 25">
            <a:extLst>
              <a:ext uri="{FF2B5EF4-FFF2-40B4-BE49-F238E27FC236}">
                <a16:creationId xmlns:a16="http://schemas.microsoft.com/office/drawing/2014/main" id="{6450F96B-FEEE-7B23-55BC-7719FBC68430}"/>
              </a:ext>
            </a:extLst>
          </p:cNvPr>
          <p:cNvGraphicFramePr>
            <a:graphicFrameLocks noGrp="1"/>
          </p:cNvGraphicFramePr>
          <p:nvPr>
            <p:extLst>
              <p:ext uri="{D42A27DB-BD31-4B8C-83A1-F6EECF244321}">
                <p14:modId xmlns:p14="http://schemas.microsoft.com/office/powerpoint/2010/main" val="2432660597"/>
              </p:ext>
            </p:extLst>
          </p:nvPr>
        </p:nvGraphicFramePr>
        <p:xfrm>
          <a:off x="6182241" y="2358830"/>
          <a:ext cx="5885423" cy="939712"/>
        </p:xfrm>
        <a:graphic>
          <a:graphicData uri="http://schemas.openxmlformats.org/drawingml/2006/table">
            <a:tbl>
              <a:tblPr/>
              <a:tblGrid>
                <a:gridCol w="434551">
                  <a:extLst>
                    <a:ext uri="{9D8B030D-6E8A-4147-A177-3AD203B41FA5}">
                      <a16:colId xmlns:a16="http://schemas.microsoft.com/office/drawing/2014/main" val="495084399"/>
                    </a:ext>
                  </a:extLst>
                </a:gridCol>
                <a:gridCol w="230210">
                  <a:extLst>
                    <a:ext uri="{9D8B030D-6E8A-4147-A177-3AD203B41FA5}">
                      <a16:colId xmlns:a16="http://schemas.microsoft.com/office/drawing/2014/main" val="3614210242"/>
                    </a:ext>
                  </a:extLst>
                </a:gridCol>
                <a:gridCol w="547871">
                  <a:extLst>
                    <a:ext uri="{9D8B030D-6E8A-4147-A177-3AD203B41FA5}">
                      <a16:colId xmlns:a16="http://schemas.microsoft.com/office/drawing/2014/main" val="1442124609"/>
                    </a:ext>
                  </a:extLst>
                </a:gridCol>
                <a:gridCol w="1586780">
                  <a:extLst>
                    <a:ext uri="{9D8B030D-6E8A-4147-A177-3AD203B41FA5}">
                      <a16:colId xmlns:a16="http://schemas.microsoft.com/office/drawing/2014/main" val="3603859997"/>
                    </a:ext>
                  </a:extLst>
                </a:gridCol>
                <a:gridCol w="333564">
                  <a:extLst>
                    <a:ext uri="{9D8B030D-6E8A-4147-A177-3AD203B41FA5}">
                      <a16:colId xmlns:a16="http://schemas.microsoft.com/office/drawing/2014/main" val="4076488391"/>
                    </a:ext>
                  </a:extLst>
                </a:gridCol>
                <a:gridCol w="333564">
                  <a:extLst>
                    <a:ext uri="{9D8B030D-6E8A-4147-A177-3AD203B41FA5}">
                      <a16:colId xmlns:a16="http://schemas.microsoft.com/office/drawing/2014/main" val="3254101706"/>
                    </a:ext>
                  </a:extLst>
                </a:gridCol>
                <a:gridCol w="267503">
                  <a:extLst>
                    <a:ext uri="{9D8B030D-6E8A-4147-A177-3AD203B41FA5}">
                      <a16:colId xmlns:a16="http://schemas.microsoft.com/office/drawing/2014/main" val="3712391277"/>
                    </a:ext>
                  </a:extLst>
                </a:gridCol>
                <a:gridCol w="317814">
                  <a:extLst>
                    <a:ext uri="{9D8B030D-6E8A-4147-A177-3AD203B41FA5}">
                      <a16:colId xmlns:a16="http://schemas.microsoft.com/office/drawing/2014/main" val="1059470529"/>
                    </a:ext>
                  </a:extLst>
                </a:gridCol>
                <a:gridCol w="262128">
                  <a:extLst>
                    <a:ext uri="{9D8B030D-6E8A-4147-A177-3AD203B41FA5}">
                      <a16:colId xmlns:a16="http://schemas.microsoft.com/office/drawing/2014/main" val="2527660299"/>
                    </a:ext>
                  </a:extLst>
                </a:gridCol>
                <a:gridCol w="377641">
                  <a:extLst>
                    <a:ext uri="{9D8B030D-6E8A-4147-A177-3AD203B41FA5}">
                      <a16:colId xmlns:a16="http://schemas.microsoft.com/office/drawing/2014/main" val="3641075278"/>
                    </a:ext>
                  </a:extLst>
                </a:gridCol>
                <a:gridCol w="1193797">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800" b="1" u="none" strike="noStrike" kern="1200">
                          <a:solidFill>
                            <a:schemeClr val="lt1"/>
                          </a:solidFill>
                          <a:effectLst/>
                          <a:latin typeface="+mn-lt"/>
                          <a:ea typeface="+mn-ea"/>
                          <a:cs typeface="+mn-cs"/>
                        </a:rPr>
                        <a:t>Customer Request DF to deduct DC Charge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credit note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DF</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5MS1R87545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22" name="表格 21">
            <a:extLst>
              <a:ext uri="{FF2B5EF4-FFF2-40B4-BE49-F238E27FC236}">
                <a16:creationId xmlns:a16="http://schemas.microsoft.com/office/drawing/2014/main" id="{0F94B666-4CDC-2333-5520-F84B341135E0}"/>
              </a:ext>
            </a:extLst>
          </p:cNvPr>
          <p:cNvGraphicFramePr>
            <a:graphicFrameLocks noGrp="1"/>
          </p:cNvGraphicFramePr>
          <p:nvPr>
            <p:extLst>
              <p:ext uri="{D42A27DB-BD31-4B8C-83A1-F6EECF244321}">
                <p14:modId xmlns:p14="http://schemas.microsoft.com/office/powerpoint/2010/main" val="1908719329"/>
              </p:ext>
            </p:extLst>
          </p:nvPr>
        </p:nvGraphicFramePr>
        <p:xfrm>
          <a:off x="162461" y="4176323"/>
          <a:ext cx="5847298" cy="2318390"/>
        </p:xfrm>
        <a:graphic>
          <a:graphicData uri="http://schemas.openxmlformats.org/drawingml/2006/table">
            <a:tbl>
              <a:tblPr/>
              <a:tblGrid>
                <a:gridCol w="439985">
                  <a:extLst>
                    <a:ext uri="{9D8B030D-6E8A-4147-A177-3AD203B41FA5}">
                      <a16:colId xmlns:a16="http://schemas.microsoft.com/office/drawing/2014/main" val="495084399"/>
                    </a:ext>
                  </a:extLst>
                </a:gridCol>
                <a:gridCol w="227579">
                  <a:extLst>
                    <a:ext uri="{9D8B030D-6E8A-4147-A177-3AD203B41FA5}">
                      <a16:colId xmlns:a16="http://schemas.microsoft.com/office/drawing/2014/main" val="3614210242"/>
                    </a:ext>
                  </a:extLst>
                </a:gridCol>
                <a:gridCol w="575752">
                  <a:extLst>
                    <a:ext uri="{9D8B030D-6E8A-4147-A177-3AD203B41FA5}">
                      <a16:colId xmlns:a16="http://schemas.microsoft.com/office/drawing/2014/main" val="1442124609"/>
                    </a:ext>
                  </a:extLst>
                </a:gridCol>
                <a:gridCol w="1708425">
                  <a:extLst>
                    <a:ext uri="{9D8B030D-6E8A-4147-A177-3AD203B41FA5}">
                      <a16:colId xmlns:a16="http://schemas.microsoft.com/office/drawing/2014/main" val="3603859997"/>
                    </a:ext>
                  </a:extLst>
                </a:gridCol>
                <a:gridCol w="471104">
                  <a:extLst>
                    <a:ext uri="{9D8B030D-6E8A-4147-A177-3AD203B41FA5}">
                      <a16:colId xmlns:a16="http://schemas.microsoft.com/office/drawing/2014/main" val="4076488391"/>
                    </a:ext>
                  </a:extLst>
                </a:gridCol>
                <a:gridCol w="365512">
                  <a:extLst>
                    <a:ext uri="{9D8B030D-6E8A-4147-A177-3AD203B41FA5}">
                      <a16:colId xmlns:a16="http://schemas.microsoft.com/office/drawing/2014/main" val="3254101706"/>
                    </a:ext>
                  </a:extLst>
                </a:gridCol>
                <a:gridCol w="572310">
                  <a:extLst>
                    <a:ext uri="{9D8B030D-6E8A-4147-A177-3AD203B41FA5}">
                      <a16:colId xmlns:a16="http://schemas.microsoft.com/office/drawing/2014/main" val="3712391277"/>
                    </a:ext>
                  </a:extLst>
                </a:gridCol>
                <a:gridCol w="572310">
                  <a:extLst>
                    <a:ext uri="{9D8B030D-6E8A-4147-A177-3AD203B41FA5}">
                      <a16:colId xmlns:a16="http://schemas.microsoft.com/office/drawing/2014/main" val="4051557831"/>
                    </a:ext>
                  </a:extLst>
                </a:gridCol>
                <a:gridCol w="243675">
                  <a:extLst>
                    <a:ext uri="{9D8B030D-6E8A-4147-A177-3AD203B41FA5}">
                      <a16:colId xmlns:a16="http://schemas.microsoft.com/office/drawing/2014/main" val="2527660299"/>
                    </a:ext>
                  </a:extLst>
                </a:gridCol>
                <a:gridCol w="396860">
                  <a:extLst>
                    <a:ext uri="{9D8B030D-6E8A-4147-A177-3AD203B41FA5}">
                      <a16:colId xmlns:a16="http://schemas.microsoft.com/office/drawing/2014/main" val="3641075278"/>
                    </a:ext>
                  </a:extLst>
                </a:gridCol>
                <a:gridCol w="273786">
                  <a:extLst>
                    <a:ext uri="{9D8B030D-6E8A-4147-A177-3AD203B41FA5}">
                      <a16:colId xmlns:a16="http://schemas.microsoft.com/office/drawing/2014/main" val="3618613915"/>
                    </a:ext>
                  </a:extLst>
                </a:gridCol>
              </a:tblGrid>
              <a:tr h="127981">
                <a:tc rowSpan="11">
                  <a:txBody>
                    <a:bodyPr/>
                    <a:lstStyle/>
                    <a:p>
                      <a:pPr algn="ctr" fontAlgn="base">
                        <a:lnSpc>
                          <a:spcPts val="1425"/>
                        </a:lnSpc>
                        <a:buNone/>
                      </a:pPr>
                      <a:r>
                        <a:rPr lang="en-US" sz="900" b="1" i="0" u="none" strike="noStrike">
                          <a:solidFill>
                            <a:srgbClr val="FFFFFF"/>
                          </a:solidFill>
                          <a:effectLst/>
                          <a:latin typeface="Arial"/>
                        </a:rPr>
                        <a:t>S&amp;D</a:t>
                      </a:r>
                      <a:r>
                        <a:rPr lang="en-US" sz="900" b="1" i="0">
                          <a:solidFill>
                            <a:srgbClr val="FFFFFF"/>
                          </a:solidFill>
                          <a:effectLst/>
                          <a:latin typeface="Arial"/>
                        </a:rPr>
                        <a:t>​</a:t>
                      </a:r>
                      <a:br>
                        <a:rPr lang="en-US" sz="900" b="1" i="0">
                          <a:solidFill>
                            <a:srgbClr val="FFFFFF"/>
                          </a:solidFill>
                          <a:effectLst/>
                          <a:latin typeface="Arial"/>
                        </a:rPr>
                      </a:br>
                      <a:r>
                        <a:rPr lang="en-US" sz="900" b="1" i="0" u="none" strike="noStrike">
                          <a:solidFill>
                            <a:srgbClr val="FFFFFF"/>
                          </a:solidFill>
                          <a:effectLst/>
                          <a:latin typeface="Arial"/>
                        </a:rPr>
                        <a:t>Entity</a:t>
                      </a:r>
                      <a:r>
                        <a:rPr lang="en-US" sz="900" b="1" i="0">
                          <a:solidFill>
                            <a:srgbClr val="FFFFFF"/>
                          </a:solidFill>
                          <a:effectLst/>
                          <a:latin typeface="Arial"/>
                        </a:rPr>
                        <a:t>​</a:t>
                      </a:r>
                      <a:endParaRPr lang="en-US" sz="1100" b="1" i="0">
                        <a:solidFill>
                          <a:srgbClr val="FFFFFF"/>
                        </a:solidFill>
                        <a:effectLst/>
                        <a:latin typeface="Arial"/>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1200" b="0" i="0">
                          <a:solidFill>
                            <a:srgbClr val="000000"/>
                          </a:solidFill>
                          <a:effectLst/>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Lease Revenue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 Upfront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en-US"/>
                    </a:p>
                  </a:txBody>
                  <a:tcPr/>
                </a:tc>
                <a:tc>
                  <a:txBody>
                    <a:bodyPr/>
                    <a:lstStyle/>
                    <a:p>
                      <a:pPr marL="0" lvl="0" indent="0" algn="ctr" defTabSz="914400">
                        <a:lnSpc>
                          <a:spcPts val="1200"/>
                        </a:lnSpc>
                        <a:spcBef>
                          <a:spcPts val="0"/>
                        </a:spcBef>
                        <a:spcAft>
                          <a:spcPts val="0"/>
                        </a:spcAft>
                        <a:buNone/>
                        <a:tabLst/>
                        <a:defRPr/>
                      </a:pPr>
                      <a:r>
                        <a:rPr lang="en-US" sz="900" b="0" i="0" u="none" strike="sngStrike" kern="1200" noProof="0">
                          <a:solidFill>
                            <a:srgbClr val="000000"/>
                          </a:solidFill>
                          <a:effectLst/>
                          <a:latin typeface="Arial"/>
                          <a:ea typeface="+mn-ea"/>
                          <a:cs typeface="+mn-cs"/>
                        </a:rPr>
                        <a:t>Dr</a:t>
                      </a:r>
                    </a:p>
                  </a:txBody>
                  <a:tcPr marL="6350" marR="6350" marT="6350"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ctr" defTabSz="914400">
                        <a:lnSpc>
                          <a:spcPts val="1200"/>
                        </a:lnSpc>
                        <a:spcBef>
                          <a:spcPts val="0"/>
                        </a:spcBef>
                        <a:spcAft>
                          <a:spcPts val="0"/>
                        </a:spcAft>
                        <a:buNone/>
                        <a:tabLst/>
                        <a:defRPr/>
                      </a:pPr>
                      <a:r>
                        <a:rPr lang="en-US" sz="900" b="0" i="0" u="none" strike="sngStrike" kern="1200" noProof="0">
                          <a:solidFill>
                            <a:srgbClr val="000000"/>
                          </a:solidFill>
                          <a:effectLst/>
                          <a:latin typeface="Arial"/>
                          <a:ea typeface="+mn-ea"/>
                          <a:cs typeface="+mn-cs"/>
                        </a:rPr>
                        <a:t>2070000</a:t>
                      </a:r>
                    </a:p>
                  </a:txBody>
                  <a:tcPr marL="6350" marR="6350" marT="6350"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l">
                        <a:lnSpc>
                          <a:spcPts val="1200"/>
                        </a:lnSpc>
                        <a:spcBef>
                          <a:spcPts val="0"/>
                        </a:spcBef>
                        <a:spcAft>
                          <a:spcPts val="0"/>
                        </a:spcAft>
                        <a:buNone/>
                      </a:pPr>
                      <a:r>
                        <a:rPr lang="en-US" sz="900" b="0" i="0" u="none" strike="sngStrike" kern="1200">
                          <a:solidFill>
                            <a:srgbClr val="000000"/>
                          </a:solidFill>
                          <a:effectLst/>
                          <a:latin typeface="Arial"/>
                          <a:ea typeface="+mn-ea"/>
                          <a:cs typeface="+mn-cs"/>
                        </a:rPr>
                        <a:t>Defer Rev - premier funded</a:t>
                      </a:r>
                    </a:p>
                  </a:txBody>
                  <a:tcPr marL="9524" marR="9524" marT="9524"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algn="ctr" defTabSz="914400">
                        <a:lnSpc>
                          <a:spcPts val="1200"/>
                        </a:lnSpc>
                        <a:buNone/>
                      </a:pPr>
                      <a:r>
                        <a:rPr lang="en-US" altLang="zh-CN" sz="900" b="0" i="0" u="none" strike="sngStrike" kern="1200">
                          <a:solidFill>
                            <a:srgbClr val="000000"/>
                          </a:solidFill>
                          <a:effectLst/>
                          <a:latin typeface="Arial"/>
                          <a:ea typeface="+mn-ea"/>
                          <a:cs typeface="+mn-cs"/>
                        </a:rPr>
                        <a:t>3.3</a:t>
                      </a:r>
                    </a:p>
                  </a:txBody>
                  <a:tcPr marL="9524" marR="9524" marT="9524"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algn="ctr" defTabSz="914400">
                        <a:lnSpc>
                          <a:spcPts val="1200"/>
                        </a:lnSpc>
                        <a:buNone/>
                      </a:pPr>
                      <a:r>
                        <a:rPr lang="en-US" altLang="zh-CN" sz="900" b="0" i="0" u="none" strike="sngStrike" kern="1200">
                          <a:solidFill>
                            <a:srgbClr val="000000"/>
                          </a:solidFill>
                          <a:effectLst/>
                          <a:latin typeface="Arial"/>
                          <a:ea typeface="+mn-ea"/>
                          <a:cs typeface="+mn-cs"/>
                        </a:rPr>
                        <a:t>3.3</a:t>
                      </a:r>
                    </a:p>
                  </a:txBody>
                  <a:tcPr marL="9524" marR="9524" marT="9524"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algn="ctr" defTabSz="914400">
                        <a:lnSpc>
                          <a:spcPts val="1200"/>
                        </a:lnSpc>
                        <a:buNone/>
                      </a:pPr>
                      <a:r>
                        <a:rPr lang="en-US" altLang="zh-CN" sz="900" b="0" i="0" u="none" strike="sngStrike" kern="1200">
                          <a:solidFill>
                            <a:srgbClr val="000000"/>
                          </a:solidFill>
                          <a:effectLst/>
                          <a:latin typeface="Arial"/>
                          <a:ea typeface="+mn-ea"/>
                          <a:cs typeface="+mn-cs"/>
                        </a:rPr>
                        <a:t>SVC</a:t>
                      </a:r>
                    </a:p>
                  </a:txBody>
                  <a:tcPr marL="6350" marR="6350" marT="6350"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algn="ctr" defTabSz="914400">
                        <a:lnSpc>
                          <a:spcPts val="1200"/>
                        </a:lnSpc>
                        <a:buNone/>
                      </a:pPr>
                      <a:r>
                        <a:rPr lang="en-US" altLang="zh-CN" sz="900" b="0" i="0" u="none" strike="sngStrike" kern="1200">
                          <a:solidFill>
                            <a:srgbClr val="000000"/>
                          </a:solidFill>
                          <a:effectLst/>
                          <a:latin typeface="Arial"/>
                          <a:ea typeface="+mn-ea"/>
                          <a:cs typeface="+mn-cs"/>
                        </a:rPr>
                        <a:t>J*</a:t>
                      </a:r>
                    </a:p>
                  </a:txBody>
                  <a:tcPr marL="6350" marR="6350" marT="6350"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ctr" defTabSz="914400">
                        <a:lnSpc>
                          <a:spcPts val="1200"/>
                        </a:lnSpc>
                        <a:spcBef>
                          <a:spcPts val="0"/>
                        </a:spcBef>
                        <a:spcAft>
                          <a:spcPts val="0"/>
                        </a:spcAft>
                        <a:buNone/>
                        <a:tabLst/>
                        <a:defRPr/>
                      </a:pPr>
                      <a:r>
                        <a:rPr lang="en-US" altLang="zh-CN" sz="900" b="0" i="0" u="none" strike="sngStrike" kern="1200" cap="none" spc="0" normalizeH="0" baseline="0" noProof="0">
                          <a:ln>
                            <a:noFill/>
                          </a:ln>
                          <a:solidFill>
                            <a:srgbClr val="000000"/>
                          </a:solidFill>
                          <a:effectLst/>
                          <a:uLnTx/>
                          <a:uFillTx/>
                          <a:latin typeface="Arial"/>
                          <a:ea typeface="宋体"/>
                          <a:cs typeface="+mn-cs"/>
                        </a:rPr>
                        <a:t>N</a:t>
                      </a:r>
                      <a:endParaRPr kumimoji="0" lang="en-US" altLang="zh-CN" sz="900" b="0" i="0" u="none" strike="sngStrike" kern="1200" cap="none" spc="0" normalizeH="0" baseline="0" noProof="0">
                        <a:ln>
                          <a:noFill/>
                        </a:ln>
                        <a:solidFill>
                          <a:srgbClr val="000000"/>
                        </a:solidFill>
                        <a:effectLst/>
                        <a:uLnTx/>
                        <a:uFillTx/>
                        <a:latin typeface="Arial"/>
                        <a:ea typeface="宋体"/>
                        <a:cs typeface="+mn-cs"/>
                      </a:endParaRPr>
                    </a:p>
                  </a:txBody>
                  <a:tcPr marL="47992" marR="47992" marT="23996" marB="23996"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ctr" defTabSz="914400">
                        <a:lnSpc>
                          <a:spcPts val="1200"/>
                        </a:lnSpc>
                        <a:spcBef>
                          <a:spcPts val="0"/>
                        </a:spcBef>
                        <a:spcAft>
                          <a:spcPts val="0"/>
                        </a:spcAft>
                        <a:buNone/>
                        <a:tabLst/>
                        <a:defRPr/>
                      </a:pPr>
                      <a:r>
                        <a:rPr lang="en-US" altLang="zh-CN" sz="900" b="0" i="0" u="none" strike="sngStrike" kern="1200">
                          <a:solidFill>
                            <a:srgbClr val="000000"/>
                          </a:solidFill>
                          <a:effectLst/>
                          <a:latin typeface="Arial"/>
                          <a:ea typeface="+mn-ea"/>
                          <a:cs typeface="+mn-cs"/>
                        </a:rPr>
                        <a:t>Y</a:t>
                      </a:r>
                    </a:p>
                  </a:txBody>
                  <a:tcPr marL="47992" marR="47992" marT="23996" marB="23996"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ctr" defTabSz="914400">
                        <a:lnSpc>
                          <a:spcPts val="1200"/>
                        </a:lnSpc>
                        <a:spcBef>
                          <a:spcPts val="0"/>
                        </a:spcBef>
                        <a:spcAft>
                          <a:spcPts val="0"/>
                        </a:spcAft>
                        <a:buNone/>
                        <a:tabLst/>
                        <a:defRPr/>
                      </a:pPr>
                      <a:r>
                        <a:rPr lang="en-US" altLang="zh-CN" sz="900" b="0" i="0" u="none" strike="sngStrike" kern="1200" noProof="0">
                          <a:solidFill>
                            <a:srgbClr val="000000"/>
                          </a:solidFill>
                          <a:effectLst/>
                          <a:latin typeface="Arial"/>
                          <a:ea typeface="+mn-ea"/>
                          <a:cs typeface="+mn-cs"/>
                        </a:rPr>
                        <a:t>Y</a:t>
                      </a:r>
                    </a:p>
                  </a:txBody>
                  <a:tcPr marL="47992" marR="47992" marT="23996" marB="23996"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extLst>
                  <a:ext uri="{0D108BD9-81ED-4DB2-BD59-A6C34878D82A}">
                    <a16:rowId xmlns:a16="http://schemas.microsoft.com/office/drawing/2014/main" val="177582251"/>
                  </a:ext>
                </a:extLst>
              </a:tr>
              <a:tr h="91440">
                <a:tc vMerge="1">
                  <a:txBody>
                    <a:bodyPr/>
                    <a:lstStyle/>
                    <a:p>
                      <a:endParaRPr lang="en-US"/>
                    </a:p>
                  </a:txBody>
                  <a:tcPr/>
                </a:tc>
                <a:tc>
                  <a:txBody>
                    <a:bodyPr/>
                    <a:lstStyle/>
                    <a:p>
                      <a:pPr marL="0" lvl="0" indent="0" algn="ctr" defTabSz="914400">
                        <a:lnSpc>
                          <a:spcPts val="1200"/>
                        </a:lnSpc>
                        <a:spcBef>
                          <a:spcPts val="0"/>
                        </a:spcBef>
                        <a:spcAft>
                          <a:spcPts val="0"/>
                        </a:spcAft>
                        <a:buNone/>
                        <a:tabLst/>
                        <a:defRPr/>
                      </a:pPr>
                      <a:r>
                        <a:rPr lang="en-US" sz="900" b="0" i="0" u="none" strike="sngStrike" kern="1200" noProof="0">
                          <a:solidFill>
                            <a:srgbClr val="000000"/>
                          </a:solidFill>
                          <a:effectLst/>
                          <a:latin typeface="Arial"/>
                          <a:ea typeface="+mn-ea"/>
                          <a:cs typeface="+mn-cs"/>
                        </a:rPr>
                        <a:t>Cr</a:t>
                      </a:r>
                    </a:p>
                  </a:txBody>
                  <a:tcPr marL="6350" marR="6350" marT="6350"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ctr" defTabSz="914400">
                        <a:lnSpc>
                          <a:spcPts val="1200"/>
                        </a:lnSpc>
                        <a:spcBef>
                          <a:spcPts val="0"/>
                        </a:spcBef>
                        <a:spcAft>
                          <a:spcPts val="0"/>
                        </a:spcAft>
                        <a:buNone/>
                        <a:tabLst/>
                        <a:defRPr/>
                      </a:pPr>
                      <a:r>
                        <a:rPr lang="en-US" sz="900" b="0" i="0" u="none" strike="sngStrike" kern="1200" noProof="0">
                          <a:solidFill>
                            <a:srgbClr val="000000"/>
                          </a:solidFill>
                          <a:effectLst/>
                          <a:latin typeface="Arial"/>
                          <a:ea typeface="+mn-ea"/>
                          <a:cs typeface="+mn-cs"/>
                        </a:rPr>
                        <a:t>2280503</a:t>
                      </a:r>
                    </a:p>
                  </a:txBody>
                  <a:tcPr marL="6350" marR="6350" marT="6350"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l">
                        <a:lnSpc>
                          <a:spcPts val="1200"/>
                        </a:lnSpc>
                        <a:spcBef>
                          <a:spcPts val="0"/>
                        </a:spcBef>
                        <a:spcAft>
                          <a:spcPts val="0"/>
                        </a:spcAft>
                        <a:buNone/>
                      </a:pPr>
                      <a:r>
                        <a:rPr lang="en-US" sz="900" b="0" i="0" u="none" strike="sngStrike" kern="1200">
                          <a:solidFill>
                            <a:srgbClr val="000000"/>
                          </a:solidFill>
                          <a:effectLst/>
                          <a:latin typeface="Arial"/>
                          <a:ea typeface="+mn-ea"/>
                          <a:cs typeface="+mn-cs"/>
                        </a:rPr>
                        <a:t>Other Payable – premier funded</a:t>
                      </a:r>
                    </a:p>
                  </a:txBody>
                  <a:tcPr marL="9524" marR="9524" marT="9524"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algn="ctr" defTabSz="914400">
                        <a:lnSpc>
                          <a:spcPts val="1200"/>
                        </a:lnSpc>
                        <a:buNone/>
                      </a:pPr>
                      <a:r>
                        <a:rPr lang="en-US" altLang="zh-CN" sz="900" b="0" i="0" u="none" strike="sngStrike" kern="1200">
                          <a:solidFill>
                            <a:srgbClr val="000000"/>
                          </a:solidFill>
                          <a:effectLst/>
                          <a:latin typeface="Arial"/>
                          <a:ea typeface="+mn-ea"/>
                          <a:cs typeface="+mn-cs"/>
                        </a:rPr>
                        <a:t>3.3</a:t>
                      </a:r>
                    </a:p>
                  </a:txBody>
                  <a:tcPr marL="9524" marR="9524" marT="9524"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algn="ctr" defTabSz="914400">
                        <a:lnSpc>
                          <a:spcPts val="1200"/>
                        </a:lnSpc>
                        <a:buNone/>
                      </a:pPr>
                      <a:r>
                        <a:rPr lang="en-US" altLang="zh-CN" sz="900" b="0" i="0" u="none" strike="sngStrike" kern="1200">
                          <a:solidFill>
                            <a:srgbClr val="000000"/>
                          </a:solidFill>
                          <a:effectLst/>
                          <a:latin typeface="Arial"/>
                          <a:ea typeface="+mn-ea"/>
                          <a:cs typeface="+mn-cs"/>
                        </a:rPr>
                        <a:t>3.3</a:t>
                      </a:r>
                    </a:p>
                  </a:txBody>
                  <a:tcPr marL="9524" marR="9524" marT="9524"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algn="ctr" defTabSz="914400">
                        <a:lnSpc>
                          <a:spcPts val="1200"/>
                        </a:lnSpc>
                        <a:buNone/>
                      </a:pPr>
                      <a:r>
                        <a:rPr lang="en-US" altLang="zh-CN" sz="900" b="0" i="0" u="none" strike="sngStrike" kern="1200">
                          <a:solidFill>
                            <a:srgbClr val="000000"/>
                          </a:solidFill>
                          <a:effectLst/>
                          <a:latin typeface="Arial"/>
                          <a:ea typeface="+mn-ea"/>
                          <a:cs typeface="+mn-cs"/>
                        </a:rPr>
                        <a:t>SVC</a:t>
                      </a:r>
                    </a:p>
                  </a:txBody>
                  <a:tcPr marL="6350" marR="6350" marT="6350"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algn="ctr" defTabSz="914400">
                        <a:lnSpc>
                          <a:spcPts val="1200"/>
                        </a:lnSpc>
                        <a:buNone/>
                      </a:pPr>
                      <a:r>
                        <a:rPr lang="en-US" altLang="zh-CN" sz="900" b="0" i="0" u="none" strike="sngStrike" kern="1200">
                          <a:solidFill>
                            <a:srgbClr val="000000"/>
                          </a:solidFill>
                          <a:effectLst/>
                          <a:latin typeface="Arial"/>
                          <a:ea typeface="+mn-ea"/>
                          <a:cs typeface="+mn-cs"/>
                        </a:rPr>
                        <a:t>J*</a:t>
                      </a:r>
                    </a:p>
                  </a:txBody>
                  <a:tcPr marL="6350" marR="6350" marT="6350" marB="0"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ctr" defTabSz="914400">
                        <a:lnSpc>
                          <a:spcPts val="1200"/>
                        </a:lnSpc>
                        <a:spcBef>
                          <a:spcPts val="0"/>
                        </a:spcBef>
                        <a:spcAft>
                          <a:spcPts val="0"/>
                        </a:spcAft>
                        <a:buNone/>
                        <a:tabLst/>
                        <a:defRPr/>
                      </a:pPr>
                      <a:r>
                        <a:rPr lang="en-US" altLang="zh-CN" sz="900" b="0" i="0" u="none" strike="sngStrike" kern="1200" cap="none" spc="0" normalizeH="0" baseline="0" noProof="0">
                          <a:ln>
                            <a:noFill/>
                          </a:ln>
                          <a:solidFill>
                            <a:srgbClr val="000000"/>
                          </a:solidFill>
                          <a:effectLst/>
                          <a:uLnTx/>
                          <a:uFillTx/>
                          <a:latin typeface="Arial"/>
                          <a:ea typeface="宋体"/>
                          <a:cs typeface="+mn-cs"/>
                        </a:rPr>
                        <a:t>N</a:t>
                      </a:r>
                      <a:endParaRPr kumimoji="0" lang="en-US" altLang="zh-CN" sz="900" b="0" i="0" u="none" strike="sngStrike" kern="1200" cap="none" spc="0" normalizeH="0" baseline="0" noProof="0">
                        <a:ln>
                          <a:noFill/>
                        </a:ln>
                        <a:solidFill>
                          <a:srgbClr val="000000"/>
                        </a:solidFill>
                        <a:effectLst/>
                        <a:uLnTx/>
                        <a:uFillTx/>
                        <a:latin typeface="Arial"/>
                        <a:ea typeface="宋体"/>
                        <a:cs typeface="+mn-cs"/>
                      </a:endParaRPr>
                    </a:p>
                  </a:txBody>
                  <a:tcPr marL="47992" marR="47992" marT="23996" marB="23996"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ctr" defTabSz="914400">
                        <a:lnSpc>
                          <a:spcPts val="1200"/>
                        </a:lnSpc>
                        <a:spcBef>
                          <a:spcPts val="0"/>
                        </a:spcBef>
                        <a:spcAft>
                          <a:spcPts val="0"/>
                        </a:spcAft>
                        <a:buNone/>
                        <a:tabLst/>
                        <a:defRPr/>
                      </a:pPr>
                      <a:r>
                        <a:rPr lang="en-US" altLang="zh-CN" sz="900" b="0" i="0" u="none" strike="sngStrike" kern="1200">
                          <a:solidFill>
                            <a:srgbClr val="000000"/>
                          </a:solidFill>
                          <a:effectLst/>
                          <a:latin typeface="Arial"/>
                          <a:ea typeface="+mn-ea"/>
                          <a:cs typeface="+mn-cs"/>
                        </a:rPr>
                        <a:t>Y</a:t>
                      </a:r>
                    </a:p>
                  </a:txBody>
                  <a:tcPr marL="47992" marR="47992" marT="23996" marB="23996"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tc>
                  <a:txBody>
                    <a:bodyPr/>
                    <a:lstStyle/>
                    <a:p>
                      <a:pPr marL="0" lvl="0" indent="0" algn="ctr" defTabSz="914400">
                        <a:lnSpc>
                          <a:spcPts val="1200"/>
                        </a:lnSpc>
                        <a:spcBef>
                          <a:spcPts val="0"/>
                        </a:spcBef>
                        <a:spcAft>
                          <a:spcPts val="0"/>
                        </a:spcAft>
                        <a:buNone/>
                        <a:tabLst/>
                        <a:defRPr/>
                      </a:pPr>
                      <a:r>
                        <a:rPr lang="en-US" altLang="zh-CN" sz="900" b="0" i="0" u="none" strike="sngStrike" kern="1200" noProof="0">
                          <a:solidFill>
                            <a:srgbClr val="000000"/>
                          </a:solidFill>
                          <a:effectLst/>
                          <a:latin typeface="Arial"/>
                          <a:ea typeface="+mn-ea"/>
                          <a:cs typeface="+mn-cs"/>
                        </a:rPr>
                        <a:t>Y</a:t>
                      </a:r>
                    </a:p>
                  </a:txBody>
                  <a:tcPr marL="47992" marR="47992" marT="23996" marB="23996" anchor="ctr">
                    <a:lnL w="6350">
                      <a:solidFill>
                        <a:srgbClr val="D9D9D9"/>
                      </a:solidFill>
                    </a:lnL>
                    <a:lnR w="6350">
                      <a:solidFill>
                        <a:srgbClr val="D9D9D9"/>
                      </a:solidFill>
                    </a:lnR>
                    <a:lnT w="6350">
                      <a:solidFill>
                        <a:srgbClr val="D9D9D9"/>
                      </a:solidFill>
                    </a:lnT>
                    <a:lnB w="6350">
                      <a:solidFill>
                        <a:srgbClr val="D9D9D9"/>
                      </a:solidFill>
                    </a:lnB>
                    <a:solidFill>
                      <a:schemeClr val="accent2">
                        <a:lumMod val="20000"/>
                        <a:lumOff val="80000"/>
                      </a:schemeClr>
                    </a:solidFill>
                  </a:tcPr>
                </a:tc>
                <a:extLst>
                  <a:ext uri="{0D108BD9-81ED-4DB2-BD59-A6C34878D82A}">
                    <a16:rowId xmlns:a16="http://schemas.microsoft.com/office/drawing/2014/main" val="1068346950"/>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23" name="表格 22">
            <a:extLst>
              <a:ext uri="{FF2B5EF4-FFF2-40B4-BE49-F238E27FC236}">
                <a16:creationId xmlns:a16="http://schemas.microsoft.com/office/drawing/2014/main" id="{6FB32F2F-6A82-D301-CFA1-F336F1B4CA18}"/>
              </a:ext>
            </a:extLst>
          </p:cNvPr>
          <p:cNvGraphicFramePr>
            <a:graphicFrameLocks noGrp="1"/>
          </p:cNvGraphicFramePr>
          <p:nvPr>
            <p:extLst>
              <p:ext uri="{D42A27DB-BD31-4B8C-83A1-F6EECF244321}">
                <p14:modId xmlns:p14="http://schemas.microsoft.com/office/powerpoint/2010/main" val="2476260864"/>
              </p:ext>
            </p:extLst>
          </p:nvPr>
        </p:nvGraphicFramePr>
        <p:xfrm>
          <a:off x="171897" y="6521872"/>
          <a:ext cx="5847297" cy="1159935"/>
        </p:xfrm>
        <a:graphic>
          <a:graphicData uri="http://schemas.openxmlformats.org/drawingml/2006/table">
            <a:tbl>
              <a:tblPr/>
              <a:tblGrid>
                <a:gridCol w="447209">
                  <a:extLst>
                    <a:ext uri="{9D8B030D-6E8A-4147-A177-3AD203B41FA5}">
                      <a16:colId xmlns:a16="http://schemas.microsoft.com/office/drawing/2014/main" val="495084399"/>
                    </a:ext>
                  </a:extLst>
                </a:gridCol>
                <a:gridCol w="257964">
                  <a:extLst>
                    <a:ext uri="{9D8B030D-6E8A-4147-A177-3AD203B41FA5}">
                      <a16:colId xmlns:a16="http://schemas.microsoft.com/office/drawing/2014/main" val="3614210242"/>
                    </a:ext>
                  </a:extLst>
                </a:gridCol>
                <a:gridCol w="604987">
                  <a:extLst>
                    <a:ext uri="{9D8B030D-6E8A-4147-A177-3AD203B41FA5}">
                      <a16:colId xmlns:a16="http://schemas.microsoft.com/office/drawing/2014/main" val="1442124609"/>
                    </a:ext>
                  </a:extLst>
                </a:gridCol>
                <a:gridCol w="1945739">
                  <a:extLst>
                    <a:ext uri="{9D8B030D-6E8A-4147-A177-3AD203B41FA5}">
                      <a16:colId xmlns:a16="http://schemas.microsoft.com/office/drawing/2014/main" val="3603859997"/>
                    </a:ext>
                  </a:extLst>
                </a:gridCol>
                <a:gridCol w="497177">
                  <a:extLst>
                    <a:ext uri="{9D8B030D-6E8A-4147-A177-3AD203B41FA5}">
                      <a16:colId xmlns:a16="http://schemas.microsoft.com/office/drawing/2014/main" val="4076488391"/>
                    </a:ext>
                  </a:extLst>
                </a:gridCol>
                <a:gridCol w="432729">
                  <a:extLst>
                    <a:ext uri="{9D8B030D-6E8A-4147-A177-3AD203B41FA5}">
                      <a16:colId xmlns:a16="http://schemas.microsoft.com/office/drawing/2014/main" val="3254101706"/>
                    </a:ext>
                  </a:extLst>
                </a:gridCol>
                <a:gridCol w="657931">
                  <a:extLst>
                    <a:ext uri="{9D8B030D-6E8A-4147-A177-3AD203B41FA5}">
                      <a16:colId xmlns:a16="http://schemas.microsoft.com/office/drawing/2014/main" val="3712391277"/>
                    </a:ext>
                  </a:extLst>
                </a:gridCol>
                <a:gridCol w="276209">
                  <a:extLst>
                    <a:ext uri="{9D8B030D-6E8A-4147-A177-3AD203B41FA5}">
                      <a16:colId xmlns:a16="http://schemas.microsoft.com/office/drawing/2014/main" val="2527660299"/>
                    </a:ext>
                  </a:extLst>
                </a:gridCol>
                <a:gridCol w="417011">
                  <a:extLst>
                    <a:ext uri="{9D8B030D-6E8A-4147-A177-3AD203B41FA5}">
                      <a16:colId xmlns:a16="http://schemas.microsoft.com/office/drawing/2014/main" val="3641075278"/>
                    </a:ext>
                  </a:extLst>
                </a:gridCol>
                <a:gridCol w="310341">
                  <a:extLst>
                    <a:ext uri="{9D8B030D-6E8A-4147-A177-3AD203B41FA5}">
                      <a16:colId xmlns:a16="http://schemas.microsoft.com/office/drawing/2014/main" val="3618613915"/>
                    </a:ext>
                  </a:extLst>
                </a:gridCol>
              </a:tblGrid>
              <a:tr h="183914">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28</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HW+SVC​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upfront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1200" b="0" i="0">
                          <a:solidFill>
                            <a:srgbClr val="000000"/>
                          </a:solidFill>
                          <a:effectLst/>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27501742"/>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24" name="表格 23">
            <a:extLst>
              <a:ext uri="{FF2B5EF4-FFF2-40B4-BE49-F238E27FC236}">
                <a16:creationId xmlns:a16="http://schemas.microsoft.com/office/drawing/2014/main" id="{CB8EB977-7189-8FF0-A084-ED6426C28FEC}"/>
              </a:ext>
            </a:extLst>
          </p:cNvPr>
          <p:cNvGraphicFramePr>
            <a:graphicFrameLocks noGrp="1"/>
          </p:cNvGraphicFramePr>
          <p:nvPr>
            <p:extLst>
              <p:ext uri="{D42A27DB-BD31-4B8C-83A1-F6EECF244321}">
                <p14:modId xmlns:p14="http://schemas.microsoft.com/office/powerpoint/2010/main" val="1443485648"/>
              </p:ext>
            </p:extLst>
          </p:nvPr>
        </p:nvGraphicFramePr>
        <p:xfrm>
          <a:off x="183003" y="3073085"/>
          <a:ext cx="5848022" cy="1143000"/>
        </p:xfrm>
        <a:graphic>
          <a:graphicData uri="http://schemas.openxmlformats.org/drawingml/2006/table">
            <a:tbl>
              <a:tblPr firstRow="1" bandRow="1">
                <a:tableStyleId>{3C2FFA5D-87B4-456A-9821-1D502468CF0F}</a:tableStyleId>
              </a:tblPr>
              <a:tblGrid>
                <a:gridCol w="648969">
                  <a:extLst>
                    <a:ext uri="{9D8B030D-6E8A-4147-A177-3AD203B41FA5}">
                      <a16:colId xmlns:a16="http://schemas.microsoft.com/office/drawing/2014/main" val="869603910"/>
                    </a:ext>
                  </a:extLst>
                </a:gridCol>
                <a:gridCol w="701514">
                  <a:extLst>
                    <a:ext uri="{9D8B030D-6E8A-4147-A177-3AD203B41FA5}">
                      <a16:colId xmlns:a16="http://schemas.microsoft.com/office/drawing/2014/main" val="238663902"/>
                    </a:ext>
                  </a:extLst>
                </a:gridCol>
                <a:gridCol w="646301">
                  <a:extLst>
                    <a:ext uri="{9D8B030D-6E8A-4147-A177-3AD203B41FA5}">
                      <a16:colId xmlns:a16="http://schemas.microsoft.com/office/drawing/2014/main" val="4114365151"/>
                    </a:ext>
                  </a:extLst>
                </a:gridCol>
                <a:gridCol w="727456">
                  <a:extLst>
                    <a:ext uri="{9D8B030D-6E8A-4147-A177-3AD203B41FA5}">
                      <a16:colId xmlns:a16="http://schemas.microsoft.com/office/drawing/2014/main" val="4075178046"/>
                    </a:ext>
                  </a:extLst>
                </a:gridCol>
                <a:gridCol w="694040">
                  <a:extLst>
                    <a:ext uri="{9D8B030D-6E8A-4147-A177-3AD203B41FA5}">
                      <a16:colId xmlns:a16="http://schemas.microsoft.com/office/drawing/2014/main" val="973533418"/>
                    </a:ext>
                  </a:extLst>
                </a:gridCol>
                <a:gridCol w="738153">
                  <a:extLst>
                    <a:ext uri="{9D8B030D-6E8A-4147-A177-3AD203B41FA5}">
                      <a16:colId xmlns:a16="http://schemas.microsoft.com/office/drawing/2014/main" val="2377711782"/>
                    </a:ext>
                  </a:extLst>
                </a:gridCol>
                <a:gridCol w="813040">
                  <a:extLst>
                    <a:ext uri="{9D8B030D-6E8A-4147-A177-3AD203B41FA5}">
                      <a16:colId xmlns:a16="http://schemas.microsoft.com/office/drawing/2014/main" val="1022211988"/>
                    </a:ext>
                  </a:extLst>
                </a:gridCol>
                <a:gridCol w="878549">
                  <a:extLst>
                    <a:ext uri="{9D8B030D-6E8A-4147-A177-3AD203B41FA5}">
                      <a16:colId xmlns:a16="http://schemas.microsoft.com/office/drawing/2014/main" val="221569069"/>
                    </a:ext>
                  </a:extLst>
                </a:gridCol>
              </a:tblGrid>
              <a:tr h="52503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5037">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Syndication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4" name="表格 3">
            <a:extLst>
              <a:ext uri="{FF2B5EF4-FFF2-40B4-BE49-F238E27FC236}">
                <a16:creationId xmlns:a16="http://schemas.microsoft.com/office/drawing/2014/main" id="{E950C57D-015C-26FB-0700-19048C07F17F}"/>
              </a:ext>
            </a:extLst>
          </p:cNvPr>
          <p:cNvGraphicFramePr>
            <a:graphicFrameLocks noGrp="1"/>
          </p:cNvGraphicFramePr>
          <p:nvPr>
            <p:extLst>
              <p:ext uri="{D42A27DB-BD31-4B8C-83A1-F6EECF244321}">
                <p14:modId xmlns:p14="http://schemas.microsoft.com/office/powerpoint/2010/main" val="88645559"/>
              </p:ext>
            </p:extLst>
          </p:nvPr>
        </p:nvGraphicFramePr>
        <p:xfrm>
          <a:off x="163185" y="331770"/>
          <a:ext cx="5885425" cy="1143000"/>
        </p:xfrm>
        <a:graphic>
          <a:graphicData uri="http://schemas.openxmlformats.org/drawingml/2006/table">
            <a:tbl>
              <a:tblPr firstRow="1" bandRow="1">
                <a:tableStyleId>{3C2FFA5D-87B4-456A-9821-1D502468CF0F}</a:tableStyleId>
              </a:tblPr>
              <a:tblGrid>
                <a:gridCol w="645006">
                  <a:extLst>
                    <a:ext uri="{9D8B030D-6E8A-4147-A177-3AD203B41FA5}">
                      <a16:colId xmlns:a16="http://schemas.microsoft.com/office/drawing/2014/main" val="869603910"/>
                    </a:ext>
                  </a:extLst>
                </a:gridCol>
                <a:gridCol w="697230">
                  <a:extLst>
                    <a:ext uri="{9D8B030D-6E8A-4147-A177-3AD203B41FA5}">
                      <a16:colId xmlns:a16="http://schemas.microsoft.com/office/drawing/2014/main" val="238663902"/>
                    </a:ext>
                  </a:extLst>
                </a:gridCol>
                <a:gridCol w="727940">
                  <a:extLst>
                    <a:ext uri="{9D8B030D-6E8A-4147-A177-3AD203B41FA5}">
                      <a16:colId xmlns:a16="http://schemas.microsoft.com/office/drawing/2014/main" val="4114365151"/>
                    </a:ext>
                  </a:extLst>
                </a:gridCol>
                <a:gridCol w="662652">
                  <a:extLst>
                    <a:ext uri="{9D8B030D-6E8A-4147-A177-3AD203B41FA5}">
                      <a16:colId xmlns:a16="http://schemas.microsoft.com/office/drawing/2014/main" val="4075178046"/>
                    </a:ext>
                  </a:extLst>
                </a:gridCol>
                <a:gridCol w="664579">
                  <a:extLst>
                    <a:ext uri="{9D8B030D-6E8A-4147-A177-3AD203B41FA5}">
                      <a16:colId xmlns:a16="http://schemas.microsoft.com/office/drawing/2014/main" val="973533418"/>
                    </a:ext>
                  </a:extLst>
                </a:gridCol>
                <a:gridCol w="733646">
                  <a:extLst>
                    <a:ext uri="{9D8B030D-6E8A-4147-A177-3AD203B41FA5}">
                      <a16:colId xmlns:a16="http://schemas.microsoft.com/office/drawing/2014/main" val="2377711782"/>
                    </a:ext>
                  </a:extLst>
                </a:gridCol>
                <a:gridCol w="808075">
                  <a:extLst>
                    <a:ext uri="{9D8B030D-6E8A-4147-A177-3AD203B41FA5}">
                      <a16:colId xmlns:a16="http://schemas.microsoft.com/office/drawing/2014/main" val="1022211988"/>
                    </a:ext>
                  </a:extLst>
                </a:gridCol>
                <a:gridCol w="946297">
                  <a:extLst>
                    <a:ext uri="{9D8B030D-6E8A-4147-A177-3AD203B41FA5}">
                      <a16:colId xmlns:a16="http://schemas.microsoft.com/office/drawing/2014/main" val="221569069"/>
                    </a:ext>
                  </a:extLst>
                </a:gridCol>
              </a:tblGrid>
              <a:tr h="15659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327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6" name="表格 5">
            <a:extLst>
              <a:ext uri="{FF2B5EF4-FFF2-40B4-BE49-F238E27FC236}">
                <a16:creationId xmlns:a16="http://schemas.microsoft.com/office/drawing/2014/main" id="{5703CFC5-7BD3-6E10-C4EA-14D3F9DB4166}"/>
              </a:ext>
            </a:extLst>
          </p:cNvPr>
          <p:cNvGraphicFramePr>
            <a:graphicFrameLocks noGrp="1"/>
          </p:cNvGraphicFramePr>
          <p:nvPr>
            <p:extLst>
              <p:ext uri="{D42A27DB-BD31-4B8C-83A1-F6EECF244321}">
                <p14:modId xmlns:p14="http://schemas.microsoft.com/office/powerpoint/2010/main" val="4119892235"/>
              </p:ext>
            </p:extLst>
          </p:nvPr>
        </p:nvGraphicFramePr>
        <p:xfrm>
          <a:off x="6182242" y="76591"/>
          <a:ext cx="5885425" cy="1143000"/>
        </p:xfrm>
        <a:graphic>
          <a:graphicData uri="http://schemas.openxmlformats.org/drawingml/2006/table">
            <a:tbl>
              <a:tblPr firstRow="1" bandRow="1">
                <a:tableStyleId>{3C2FFA5D-87B4-456A-9821-1D502468CF0F}</a:tableStyleId>
              </a:tblPr>
              <a:tblGrid>
                <a:gridCol w="645006">
                  <a:extLst>
                    <a:ext uri="{9D8B030D-6E8A-4147-A177-3AD203B41FA5}">
                      <a16:colId xmlns:a16="http://schemas.microsoft.com/office/drawing/2014/main" val="869603910"/>
                    </a:ext>
                  </a:extLst>
                </a:gridCol>
                <a:gridCol w="697230">
                  <a:extLst>
                    <a:ext uri="{9D8B030D-6E8A-4147-A177-3AD203B41FA5}">
                      <a16:colId xmlns:a16="http://schemas.microsoft.com/office/drawing/2014/main" val="238663902"/>
                    </a:ext>
                  </a:extLst>
                </a:gridCol>
                <a:gridCol w="727940">
                  <a:extLst>
                    <a:ext uri="{9D8B030D-6E8A-4147-A177-3AD203B41FA5}">
                      <a16:colId xmlns:a16="http://schemas.microsoft.com/office/drawing/2014/main" val="4114365151"/>
                    </a:ext>
                  </a:extLst>
                </a:gridCol>
                <a:gridCol w="662652">
                  <a:extLst>
                    <a:ext uri="{9D8B030D-6E8A-4147-A177-3AD203B41FA5}">
                      <a16:colId xmlns:a16="http://schemas.microsoft.com/office/drawing/2014/main" val="4075178046"/>
                    </a:ext>
                  </a:extLst>
                </a:gridCol>
                <a:gridCol w="696763">
                  <a:extLst>
                    <a:ext uri="{9D8B030D-6E8A-4147-A177-3AD203B41FA5}">
                      <a16:colId xmlns:a16="http://schemas.microsoft.com/office/drawing/2014/main" val="973533418"/>
                    </a:ext>
                  </a:extLst>
                </a:gridCol>
                <a:gridCol w="701462">
                  <a:extLst>
                    <a:ext uri="{9D8B030D-6E8A-4147-A177-3AD203B41FA5}">
                      <a16:colId xmlns:a16="http://schemas.microsoft.com/office/drawing/2014/main" val="2377711782"/>
                    </a:ext>
                  </a:extLst>
                </a:gridCol>
                <a:gridCol w="808075">
                  <a:extLst>
                    <a:ext uri="{9D8B030D-6E8A-4147-A177-3AD203B41FA5}">
                      <a16:colId xmlns:a16="http://schemas.microsoft.com/office/drawing/2014/main" val="1022211988"/>
                    </a:ext>
                  </a:extLst>
                </a:gridCol>
                <a:gridCol w="946297">
                  <a:extLst>
                    <a:ext uri="{9D8B030D-6E8A-4147-A177-3AD203B41FA5}">
                      <a16:colId xmlns:a16="http://schemas.microsoft.com/office/drawing/2014/main" val="221569069"/>
                    </a:ext>
                  </a:extLst>
                </a:gridCol>
              </a:tblGrid>
              <a:tr h="15659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327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Damage Charge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3" name="矩形 2">
            <a:extLst>
              <a:ext uri="{FF2B5EF4-FFF2-40B4-BE49-F238E27FC236}">
                <a16:creationId xmlns:a16="http://schemas.microsoft.com/office/drawing/2014/main" id="{F33A67E0-7CB4-7949-0A72-535A36C9AB6B}"/>
              </a:ext>
            </a:extLst>
          </p:cNvPr>
          <p:cNvSpPr/>
          <p:nvPr/>
        </p:nvSpPr>
        <p:spPr>
          <a:xfrm>
            <a:off x="171897" y="6523208"/>
            <a:ext cx="5847297" cy="1159935"/>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5" name="对话气泡: 矩形 11">
            <a:extLst>
              <a:ext uri="{FF2B5EF4-FFF2-40B4-BE49-F238E27FC236}">
                <a16:creationId xmlns:a16="http://schemas.microsoft.com/office/drawing/2014/main" id="{CC40C51E-0F3F-2F28-B82C-C7E702E2FFAC}"/>
              </a:ext>
            </a:extLst>
          </p:cNvPr>
          <p:cNvSpPr/>
          <p:nvPr/>
        </p:nvSpPr>
        <p:spPr>
          <a:xfrm>
            <a:off x="-1307455" y="5782412"/>
            <a:ext cx="1307455" cy="1941861"/>
          </a:xfrm>
          <a:prstGeom prst="wedgeRectCallout">
            <a:avLst>
              <a:gd name="adj1" fmla="val 95822"/>
              <a:gd name="adj2" fmla="val -5991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spTree>
    <p:extLst>
      <p:ext uri="{BB962C8B-B14F-4D97-AF65-F5344CB8AC3E}">
        <p14:creationId xmlns:p14="http://schemas.microsoft.com/office/powerpoint/2010/main" val="257054789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78FC5F-ECA3-E519-B6C5-882189F6660F}"/>
            </a:ext>
          </a:extLst>
        </p:cNvPr>
        <p:cNvGrpSpPr/>
        <p:nvPr/>
      </p:nvGrpSpPr>
      <p:grpSpPr>
        <a:xfrm>
          <a:off x="0" y="0"/>
          <a:ext cx="0" cy="0"/>
          <a:chOff x="0" y="0"/>
          <a:chExt cx="0" cy="0"/>
        </a:xfrm>
      </p:grpSpPr>
      <p:graphicFrame>
        <p:nvGraphicFramePr>
          <p:cNvPr id="6" name="表格 5">
            <a:extLst>
              <a:ext uri="{FF2B5EF4-FFF2-40B4-BE49-F238E27FC236}">
                <a16:creationId xmlns:a16="http://schemas.microsoft.com/office/drawing/2014/main" id="{416410C2-423C-50C5-50DD-B8C0AF6575FC}"/>
              </a:ext>
            </a:extLst>
          </p:cNvPr>
          <p:cNvGraphicFramePr>
            <a:graphicFrameLocks noGrp="1"/>
          </p:cNvGraphicFramePr>
          <p:nvPr>
            <p:extLst>
              <p:ext uri="{D42A27DB-BD31-4B8C-83A1-F6EECF244321}">
                <p14:modId xmlns:p14="http://schemas.microsoft.com/office/powerpoint/2010/main" val="3087340954"/>
              </p:ext>
            </p:extLst>
          </p:nvPr>
        </p:nvGraphicFramePr>
        <p:xfrm>
          <a:off x="6184088" y="2147758"/>
          <a:ext cx="5981955" cy="2882927"/>
        </p:xfrm>
        <a:graphic>
          <a:graphicData uri="http://schemas.openxmlformats.org/drawingml/2006/table">
            <a:tbl>
              <a:tblPr/>
              <a:tblGrid>
                <a:gridCol w="418502">
                  <a:extLst>
                    <a:ext uri="{9D8B030D-6E8A-4147-A177-3AD203B41FA5}">
                      <a16:colId xmlns:a16="http://schemas.microsoft.com/office/drawing/2014/main" val="495084399"/>
                    </a:ext>
                  </a:extLst>
                </a:gridCol>
                <a:gridCol w="237710">
                  <a:extLst>
                    <a:ext uri="{9D8B030D-6E8A-4147-A177-3AD203B41FA5}">
                      <a16:colId xmlns:a16="http://schemas.microsoft.com/office/drawing/2014/main" val="3614210242"/>
                    </a:ext>
                  </a:extLst>
                </a:gridCol>
                <a:gridCol w="547640">
                  <a:extLst>
                    <a:ext uri="{9D8B030D-6E8A-4147-A177-3AD203B41FA5}">
                      <a16:colId xmlns:a16="http://schemas.microsoft.com/office/drawing/2014/main" val="1442124609"/>
                    </a:ext>
                  </a:extLst>
                </a:gridCol>
                <a:gridCol w="2008821">
                  <a:extLst>
                    <a:ext uri="{9D8B030D-6E8A-4147-A177-3AD203B41FA5}">
                      <a16:colId xmlns:a16="http://schemas.microsoft.com/office/drawing/2014/main" val="3603859997"/>
                    </a:ext>
                  </a:extLst>
                </a:gridCol>
                <a:gridCol w="349986">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273468">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872140390"/>
                    </a:ext>
                  </a:extLst>
                </a:gridCol>
                <a:gridCol w="262018">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548102">
                  <a:extLst>
                    <a:ext uri="{9D8B030D-6E8A-4147-A177-3AD203B41FA5}">
                      <a16:colId xmlns:a16="http://schemas.microsoft.com/office/drawing/2014/main" val="3618613915"/>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Extension Invoice issued to customer </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Extension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938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1479446"/>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Service Revenue-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61585199"/>
                  </a:ext>
                </a:extLst>
              </a:tr>
              <a:tr h="91440">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17176656"/>
                  </a:ext>
                </a:extLst>
              </a:tr>
            </a:tbl>
          </a:graphicData>
        </a:graphic>
      </p:graphicFrame>
      <p:sp>
        <p:nvSpPr>
          <p:cNvPr id="28" name="文本框 27">
            <a:extLst>
              <a:ext uri="{FF2B5EF4-FFF2-40B4-BE49-F238E27FC236}">
                <a16:creationId xmlns:a16="http://schemas.microsoft.com/office/drawing/2014/main" id="{DC9C07A7-1573-061F-E178-77DE2C4D2749}"/>
              </a:ext>
            </a:extLst>
          </p:cNvPr>
          <p:cNvSpPr txBox="1"/>
          <p:nvPr/>
        </p:nvSpPr>
        <p:spPr>
          <a:xfrm>
            <a:off x="0" y="64204"/>
            <a:ext cx="4470947" cy="400110"/>
          </a:xfrm>
          <a:prstGeom prst="rect">
            <a:avLst/>
          </a:prstGeom>
          <a:noFill/>
        </p:spPr>
        <p:txBody>
          <a:bodyPr wrap="square" rtlCol="0">
            <a:spAutoFit/>
          </a:bodyPr>
          <a:lstStyle/>
          <a:p>
            <a:r>
              <a:rPr lang="nl-NL" altLang="zh-CN" sz="2000" b="1"/>
              <a:t>DaaS_S&amp;D_MSA&amp;MLA</a:t>
            </a:r>
            <a:endParaRPr lang="zh-CN" altLang="en-US" sz="2000" b="1"/>
          </a:p>
        </p:txBody>
      </p:sp>
      <p:graphicFrame>
        <p:nvGraphicFramePr>
          <p:cNvPr id="2" name="表格 1">
            <a:extLst>
              <a:ext uri="{FF2B5EF4-FFF2-40B4-BE49-F238E27FC236}">
                <a16:creationId xmlns:a16="http://schemas.microsoft.com/office/drawing/2014/main" id="{B24C5B5B-1AC4-E408-3AB5-DE110141A4ED}"/>
              </a:ext>
            </a:extLst>
          </p:cNvPr>
          <p:cNvGraphicFramePr>
            <a:graphicFrameLocks noGrp="1"/>
          </p:cNvGraphicFramePr>
          <p:nvPr>
            <p:extLst>
              <p:ext uri="{D42A27DB-BD31-4B8C-83A1-F6EECF244321}">
                <p14:modId xmlns:p14="http://schemas.microsoft.com/office/powerpoint/2010/main" val="3471535722"/>
              </p:ext>
            </p:extLst>
          </p:nvPr>
        </p:nvGraphicFramePr>
        <p:xfrm>
          <a:off x="74427" y="530094"/>
          <a:ext cx="5890437" cy="155448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cxnSp>
        <p:nvCxnSpPr>
          <p:cNvPr id="3" name="直接连接符 2">
            <a:extLst>
              <a:ext uri="{FF2B5EF4-FFF2-40B4-BE49-F238E27FC236}">
                <a16:creationId xmlns:a16="http://schemas.microsoft.com/office/drawing/2014/main" id="{65784449-380E-9E7F-6D2C-1C4D9EC740A8}"/>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7" name="表格 6">
            <a:extLst>
              <a:ext uri="{FF2B5EF4-FFF2-40B4-BE49-F238E27FC236}">
                <a16:creationId xmlns:a16="http://schemas.microsoft.com/office/drawing/2014/main" id="{6F1F8B1A-3D00-B664-01E3-E625BE4BF65C}"/>
              </a:ext>
            </a:extLst>
          </p:cNvPr>
          <p:cNvGraphicFramePr>
            <a:graphicFrameLocks noGrp="1"/>
          </p:cNvGraphicFramePr>
          <p:nvPr>
            <p:extLst>
              <p:ext uri="{D42A27DB-BD31-4B8C-83A1-F6EECF244321}">
                <p14:modId xmlns:p14="http://schemas.microsoft.com/office/powerpoint/2010/main" val="3547260580"/>
              </p:ext>
            </p:extLst>
          </p:nvPr>
        </p:nvGraphicFramePr>
        <p:xfrm>
          <a:off x="6201493" y="530094"/>
          <a:ext cx="5947143" cy="1554480"/>
        </p:xfrm>
        <a:graphic>
          <a:graphicData uri="http://schemas.openxmlformats.org/drawingml/2006/table">
            <a:tbl>
              <a:tblPr firstRow="1" bandRow="1">
                <a:tableStyleId>{3C2FFA5D-87B4-456A-9821-1D502468CF0F}</a:tableStyleId>
              </a:tblPr>
              <a:tblGrid>
                <a:gridCol w="690135">
                  <a:extLst>
                    <a:ext uri="{9D8B030D-6E8A-4147-A177-3AD203B41FA5}">
                      <a16:colId xmlns:a16="http://schemas.microsoft.com/office/drawing/2014/main" val="869603910"/>
                    </a:ext>
                  </a:extLst>
                </a:gridCol>
                <a:gridCol w="696158">
                  <a:extLst>
                    <a:ext uri="{9D8B030D-6E8A-4147-A177-3AD203B41FA5}">
                      <a16:colId xmlns:a16="http://schemas.microsoft.com/office/drawing/2014/main" val="238663902"/>
                    </a:ext>
                  </a:extLst>
                </a:gridCol>
                <a:gridCol w="648586">
                  <a:extLst>
                    <a:ext uri="{9D8B030D-6E8A-4147-A177-3AD203B41FA5}">
                      <a16:colId xmlns:a16="http://schemas.microsoft.com/office/drawing/2014/main" val="4114365151"/>
                    </a:ext>
                  </a:extLst>
                </a:gridCol>
                <a:gridCol w="662761">
                  <a:extLst>
                    <a:ext uri="{9D8B030D-6E8A-4147-A177-3AD203B41FA5}">
                      <a16:colId xmlns:a16="http://schemas.microsoft.com/office/drawing/2014/main" val="4075178046"/>
                    </a:ext>
                  </a:extLst>
                </a:gridCol>
                <a:gridCol w="808074">
                  <a:extLst>
                    <a:ext uri="{9D8B030D-6E8A-4147-A177-3AD203B41FA5}">
                      <a16:colId xmlns:a16="http://schemas.microsoft.com/office/drawing/2014/main" val="973533418"/>
                    </a:ext>
                  </a:extLst>
                </a:gridCol>
                <a:gridCol w="733647">
                  <a:extLst>
                    <a:ext uri="{9D8B030D-6E8A-4147-A177-3AD203B41FA5}">
                      <a16:colId xmlns:a16="http://schemas.microsoft.com/office/drawing/2014/main" val="2377711782"/>
                    </a:ext>
                  </a:extLst>
                </a:gridCol>
                <a:gridCol w="818707">
                  <a:extLst>
                    <a:ext uri="{9D8B030D-6E8A-4147-A177-3AD203B41FA5}">
                      <a16:colId xmlns:a16="http://schemas.microsoft.com/office/drawing/2014/main" val="3946881186"/>
                    </a:ext>
                  </a:extLst>
                </a:gridCol>
                <a:gridCol w="889075">
                  <a:extLst>
                    <a:ext uri="{9D8B030D-6E8A-4147-A177-3AD203B41FA5}">
                      <a16:colId xmlns:a16="http://schemas.microsoft.com/office/drawing/2014/main" val="221569069"/>
                    </a:ext>
                  </a:extLst>
                </a:gridCol>
              </a:tblGrid>
              <a:tr h="53266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81650">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411006">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 </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4" name="表格 3">
            <a:extLst>
              <a:ext uri="{FF2B5EF4-FFF2-40B4-BE49-F238E27FC236}">
                <a16:creationId xmlns:a16="http://schemas.microsoft.com/office/drawing/2014/main" id="{06826696-8597-8991-2E18-70605F7881B4}"/>
              </a:ext>
            </a:extLst>
          </p:cNvPr>
          <p:cNvGraphicFramePr>
            <a:graphicFrameLocks noGrp="1"/>
          </p:cNvGraphicFramePr>
          <p:nvPr>
            <p:extLst>
              <p:ext uri="{D42A27DB-BD31-4B8C-83A1-F6EECF244321}">
                <p14:modId xmlns:p14="http://schemas.microsoft.com/office/powerpoint/2010/main" val="658860315"/>
              </p:ext>
            </p:extLst>
          </p:nvPr>
        </p:nvGraphicFramePr>
        <p:xfrm>
          <a:off x="25957" y="2147758"/>
          <a:ext cx="5981956" cy="2882927"/>
        </p:xfrm>
        <a:graphic>
          <a:graphicData uri="http://schemas.openxmlformats.org/drawingml/2006/table">
            <a:tbl>
              <a:tblPr/>
              <a:tblGrid>
                <a:gridCol w="441684">
                  <a:extLst>
                    <a:ext uri="{9D8B030D-6E8A-4147-A177-3AD203B41FA5}">
                      <a16:colId xmlns:a16="http://schemas.microsoft.com/office/drawing/2014/main" val="495084399"/>
                    </a:ext>
                  </a:extLst>
                </a:gridCol>
                <a:gridCol w="251562">
                  <a:extLst>
                    <a:ext uri="{9D8B030D-6E8A-4147-A177-3AD203B41FA5}">
                      <a16:colId xmlns:a16="http://schemas.microsoft.com/office/drawing/2014/main" val="3614210242"/>
                    </a:ext>
                  </a:extLst>
                </a:gridCol>
                <a:gridCol w="598687">
                  <a:extLst>
                    <a:ext uri="{9D8B030D-6E8A-4147-A177-3AD203B41FA5}">
                      <a16:colId xmlns:a16="http://schemas.microsoft.com/office/drawing/2014/main" val="1442124609"/>
                    </a:ext>
                  </a:extLst>
                </a:gridCol>
                <a:gridCol w="1928378">
                  <a:extLst>
                    <a:ext uri="{9D8B030D-6E8A-4147-A177-3AD203B41FA5}">
                      <a16:colId xmlns:a16="http://schemas.microsoft.com/office/drawing/2014/main" val="3603859997"/>
                    </a:ext>
                  </a:extLst>
                </a:gridCol>
                <a:gridCol w="338351">
                  <a:extLst>
                    <a:ext uri="{9D8B030D-6E8A-4147-A177-3AD203B41FA5}">
                      <a16:colId xmlns:a16="http://schemas.microsoft.com/office/drawing/2014/main" val="4076488391"/>
                    </a:ext>
                  </a:extLst>
                </a:gridCol>
                <a:gridCol w="338351">
                  <a:extLst>
                    <a:ext uri="{9D8B030D-6E8A-4147-A177-3AD203B41FA5}">
                      <a16:colId xmlns:a16="http://schemas.microsoft.com/office/drawing/2014/main" val="3254101706"/>
                    </a:ext>
                  </a:extLst>
                </a:gridCol>
                <a:gridCol w="275620">
                  <a:extLst>
                    <a:ext uri="{9D8B030D-6E8A-4147-A177-3AD203B41FA5}">
                      <a16:colId xmlns:a16="http://schemas.microsoft.com/office/drawing/2014/main" val="3712391277"/>
                    </a:ext>
                  </a:extLst>
                </a:gridCol>
                <a:gridCol w="584895">
                  <a:extLst>
                    <a:ext uri="{9D8B030D-6E8A-4147-A177-3AD203B41FA5}">
                      <a16:colId xmlns:a16="http://schemas.microsoft.com/office/drawing/2014/main" val="134131131"/>
                    </a:ext>
                  </a:extLst>
                </a:gridCol>
                <a:gridCol w="270827">
                  <a:extLst>
                    <a:ext uri="{9D8B030D-6E8A-4147-A177-3AD203B41FA5}">
                      <a16:colId xmlns:a16="http://schemas.microsoft.com/office/drawing/2014/main" val="2527660299"/>
                    </a:ext>
                  </a:extLst>
                </a:gridCol>
                <a:gridCol w="378635">
                  <a:extLst>
                    <a:ext uri="{9D8B030D-6E8A-4147-A177-3AD203B41FA5}">
                      <a16:colId xmlns:a16="http://schemas.microsoft.com/office/drawing/2014/main" val="3641075278"/>
                    </a:ext>
                  </a:extLst>
                </a:gridCol>
                <a:gridCol w="574966">
                  <a:extLst>
                    <a:ext uri="{9D8B030D-6E8A-4147-A177-3AD203B41FA5}">
                      <a16:colId xmlns:a16="http://schemas.microsoft.com/office/drawing/2014/main" val="3618613915"/>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Extension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Interest</a:t>
                      </a:r>
                      <a:r>
                        <a:rPr 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Income</a:t>
                      </a:r>
                      <a:r>
                        <a:rPr lang="en-US" sz="900" b="0" i="0" u="none" strike="noStrike" kern="1200">
                          <a:solidFill>
                            <a:srgbClr val="000000"/>
                          </a:solidFill>
                          <a:effectLst/>
                          <a:latin typeface="Arial" panose="020B0604020202020204" pitchFamily="34" charset="0"/>
                          <a:ea typeface="+mn-ea"/>
                          <a:cs typeface="+mn-cs"/>
                        </a:rPr>
                        <a:t>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Service Revenue -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0608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782403016"/>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5" name="对话气泡: 矩形 4">
            <a:extLst>
              <a:ext uri="{FF2B5EF4-FFF2-40B4-BE49-F238E27FC236}">
                <a16:creationId xmlns:a16="http://schemas.microsoft.com/office/drawing/2014/main" id="{0CFCC90E-4BA6-CF4B-A465-093DE0E3EBCD}"/>
              </a:ext>
            </a:extLst>
          </p:cNvPr>
          <p:cNvSpPr/>
          <p:nvPr/>
        </p:nvSpPr>
        <p:spPr>
          <a:xfrm>
            <a:off x="-2562447" y="3103936"/>
            <a:ext cx="2402958" cy="1159935"/>
          </a:xfrm>
          <a:prstGeom prst="wedgeRectCallout">
            <a:avLst>
              <a:gd name="adj1" fmla="val 77851"/>
              <a:gd name="adj2" fmla="val 282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a:solidFill>
                  <a:schemeClr val="tx1"/>
                </a:solidFill>
                <a:latin typeface="Arial" pitchFamily="34" charset="0"/>
                <a:cs typeface="Arial" pitchFamily="34" charset="0"/>
              </a:rPr>
              <a:t>Upfront service previous service which account should booked-stone/Eidson</a:t>
            </a:r>
          </a:p>
          <a:p>
            <a:pPr algn="ctr"/>
            <a:r>
              <a:rPr lang="en-US" altLang="zh-CN" sz="1200">
                <a:solidFill>
                  <a:srgbClr val="00B050"/>
                </a:solidFill>
                <a:latin typeface="Arial" pitchFamily="34" charset="0"/>
                <a:cs typeface="Arial" pitchFamily="34" charset="0"/>
              </a:rPr>
              <a:t>-should be interest income, should be no ship to home service rev</a:t>
            </a:r>
          </a:p>
        </p:txBody>
      </p:sp>
    </p:spTree>
    <p:extLst>
      <p:ext uri="{BB962C8B-B14F-4D97-AF65-F5344CB8AC3E}">
        <p14:creationId xmlns:p14="http://schemas.microsoft.com/office/powerpoint/2010/main" val="68536118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A317EF-5399-E5F5-9805-057A03B7D620}"/>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A3940064-2AEE-424B-85C7-98CAE08B54F4}"/>
              </a:ext>
            </a:extLst>
          </p:cNvPr>
          <p:cNvGraphicFramePr>
            <a:graphicFrameLocks noGrp="1"/>
          </p:cNvGraphicFramePr>
          <p:nvPr>
            <p:extLst>
              <p:ext uri="{D42A27DB-BD31-4B8C-83A1-F6EECF244321}">
                <p14:modId xmlns:p14="http://schemas.microsoft.com/office/powerpoint/2010/main" val="3450816455"/>
              </p:ext>
            </p:extLst>
          </p:nvPr>
        </p:nvGraphicFramePr>
        <p:xfrm>
          <a:off x="74427" y="2131617"/>
          <a:ext cx="6018177"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197100">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36187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extension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835800440"/>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28" name="文本框 27">
            <a:extLst>
              <a:ext uri="{FF2B5EF4-FFF2-40B4-BE49-F238E27FC236}">
                <a16:creationId xmlns:a16="http://schemas.microsoft.com/office/drawing/2014/main" id="{26C37A5A-2EAE-3037-995E-E9C11C14AB6A}"/>
              </a:ext>
            </a:extLst>
          </p:cNvPr>
          <p:cNvSpPr txBox="1"/>
          <p:nvPr/>
        </p:nvSpPr>
        <p:spPr>
          <a:xfrm>
            <a:off x="0" y="64204"/>
            <a:ext cx="4470947" cy="400110"/>
          </a:xfrm>
          <a:prstGeom prst="rect">
            <a:avLst/>
          </a:prstGeom>
          <a:noFill/>
        </p:spPr>
        <p:txBody>
          <a:bodyPr wrap="square" rtlCol="0">
            <a:spAutoFit/>
          </a:bodyPr>
          <a:lstStyle/>
          <a:p>
            <a:r>
              <a:rPr lang="nl-NL" altLang="zh-CN" sz="2000" b="1"/>
              <a:t>DaaS_S&amp;D_MSA&amp;MLA</a:t>
            </a:r>
            <a:endParaRPr lang="zh-CN" altLang="en-US" sz="2000" b="1"/>
          </a:p>
        </p:txBody>
      </p:sp>
      <p:graphicFrame>
        <p:nvGraphicFramePr>
          <p:cNvPr id="2" name="表格 1">
            <a:extLst>
              <a:ext uri="{FF2B5EF4-FFF2-40B4-BE49-F238E27FC236}">
                <a16:creationId xmlns:a16="http://schemas.microsoft.com/office/drawing/2014/main" id="{AA9D5A27-C730-3D74-50D0-00491B16EEDA}"/>
              </a:ext>
            </a:extLst>
          </p:cNvPr>
          <p:cNvGraphicFramePr>
            <a:graphicFrameLocks noGrp="1"/>
          </p:cNvGraphicFramePr>
          <p:nvPr>
            <p:extLst>
              <p:ext uri="{D42A27DB-BD31-4B8C-83A1-F6EECF244321}">
                <p14:modId xmlns:p14="http://schemas.microsoft.com/office/powerpoint/2010/main" val="3417710220"/>
              </p:ext>
            </p:extLst>
          </p:nvPr>
        </p:nvGraphicFramePr>
        <p:xfrm>
          <a:off x="74427" y="530094"/>
          <a:ext cx="6007396" cy="155448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986409">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9" name="表格 8">
            <a:extLst>
              <a:ext uri="{FF2B5EF4-FFF2-40B4-BE49-F238E27FC236}">
                <a16:creationId xmlns:a16="http://schemas.microsoft.com/office/drawing/2014/main" id="{7A54CB9C-0806-8BD7-321C-28E129E90B8A}"/>
              </a:ext>
            </a:extLst>
          </p:cNvPr>
          <p:cNvGraphicFramePr>
            <a:graphicFrameLocks noGrp="1"/>
          </p:cNvGraphicFramePr>
          <p:nvPr>
            <p:extLst>
              <p:ext uri="{D42A27DB-BD31-4B8C-83A1-F6EECF244321}">
                <p14:modId xmlns:p14="http://schemas.microsoft.com/office/powerpoint/2010/main" val="765106450"/>
              </p:ext>
            </p:extLst>
          </p:nvPr>
        </p:nvGraphicFramePr>
        <p:xfrm>
          <a:off x="74426" y="4586118"/>
          <a:ext cx="6007397" cy="1632426"/>
        </p:xfrm>
        <a:graphic>
          <a:graphicData uri="http://schemas.openxmlformats.org/drawingml/2006/table">
            <a:tbl>
              <a:tblPr/>
              <a:tblGrid>
                <a:gridCol w="486147">
                  <a:extLst>
                    <a:ext uri="{9D8B030D-6E8A-4147-A177-3AD203B41FA5}">
                      <a16:colId xmlns:a16="http://schemas.microsoft.com/office/drawing/2014/main" val="495084399"/>
                    </a:ext>
                  </a:extLst>
                </a:gridCol>
                <a:gridCol w="280425">
                  <a:extLst>
                    <a:ext uri="{9D8B030D-6E8A-4147-A177-3AD203B41FA5}">
                      <a16:colId xmlns:a16="http://schemas.microsoft.com/office/drawing/2014/main" val="3614210242"/>
                    </a:ext>
                  </a:extLst>
                </a:gridCol>
                <a:gridCol w="657660">
                  <a:extLst>
                    <a:ext uri="{9D8B030D-6E8A-4147-A177-3AD203B41FA5}">
                      <a16:colId xmlns:a16="http://schemas.microsoft.com/office/drawing/2014/main" val="1442124609"/>
                    </a:ext>
                  </a:extLst>
                </a:gridCol>
                <a:gridCol w="2167161">
                  <a:extLst>
                    <a:ext uri="{9D8B030D-6E8A-4147-A177-3AD203B41FA5}">
                      <a16:colId xmlns:a16="http://schemas.microsoft.com/office/drawing/2014/main" val="3603859997"/>
                    </a:ext>
                  </a:extLst>
                </a:gridCol>
                <a:gridCol w="329539">
                  <a:extLst>
                    <a:ext uri="{9D8B030D-6E8A-4147-A177-3AD203B41FA5}">
                      <a16:colId xmlns:a16="http://schemas.microsoft.com/office/drawing/2014/main" val="4076488391"/>
                    </a:ext>
                  </a:extLst>
                </a:gridCol>
                <a:gridCol w="280308">
                  <a:extLst>
                    <a:ext uri="{9D8B030D-6E8A-4147-A177-3AD203B41FA5}">
                      <a16:colId xmlns:a16="http://schemas.microsoft.com/office/drawing/2014/main" val="3254101706"/>
                    </a:ext>
                  </a:extLst>
                </a:gridCol>
                <a:gridCol w="715216">
                  <a:extLst>
                    <a:ext uri="{9D8B030D-6E8A-4147-A177-3AD203B41FA5}">
                      <a16:colId xmlns:a16="http://schemas.microsoft.com/office/drawing/2014/main" val="3712391277"/>
                    </a:ext>
                  </a:extLst>
                </a:gridCol>
                <a:gridCol w="300259">
                  <a:extLst>
                    <a:ext uri="{9D8B030D-6E8A-4147-A177-3AD203B41FA5}">
                      <a16:colId xmlns:a16="http://schemas.microsoft.com/office/drawing/2014/main" val="2527660299"/>
                    </a:ext>
                  </a:extLst>
                </a:gridCol>
                <a:gridCol w="453320">
                  <a:extLst>
                    <a:ext uri="{9D8B030D-6E8A-4147-A177-3AD203B41FA5}">
                      <a16:colId xmlns:a16="http://schemas.microsoft.com/office/drawing/2014/main" val="3641075278"/>
                    </a:ext>
                  </a:extLst>
                </a:gridCol>
                <a:gridCol w="337362">
                  <a:extLst>
                    <a:ext uri="{9D8B030D-6E8A-4147-A177-3AD203B41FA5}">
                      <a16:colId xmlns:a16="http://schemas.microsoft.com/office/drawing/2014/main" val="3618613915"/>
                    </a:ext>
                  </a:extLst>
                </a:gridCol>
              </a:tblGrid>
              <a:tr h="183914">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HW Portion to paid to funder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HW portion</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28</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t>
                      </a:r>
                      <a:r>
                        <a:rPr kumimoji="0" lang="en-US"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a:t>
                      </a: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85521">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HW portion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28</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t>
                      </a: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00407878"/>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Service Revenue - Upfront Service(new)</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88235816"/>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30</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30</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sp>
        <p:nvSpPr>
          <p:cNvPr id="12" name="对话气泡: 矩形 11">
            <a:extLst>
              <a:ext uri="{FF2B5EF4-FFF2-40B4-BE49-F238E27FC236}">
                <a16:creationId xmlns:a16="http://schemas.microsoft.com/office/drawing/2014/main" id="{43D9E72C-4E42-3A64-8774-A9E59CF47BA8}"/>
              </a:ext>
            </a:extLst>
          </p:cNvPr>
          <p:cNvSpPr/>
          <p:nvPr/>
        </p:nvSpPr>
        <p:spPr>
          <a:xfrm>
            <a:off x="6322830" y="3619455"/>
            <a:ext cx="5571460" cy="698263"/>
          </a:xfrm>
          <a:prstGeom prst="wedgeRectCallout">
            <a:avLst>
              <a:gd name="adj1" fmla="val -53173"/>
              <a:gd name="adj2" fmla="val -3132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strike="sngStrike">
                <a:solidFill>
                  <a:schemeClr val="tx1"/>
                </a:solidFill>
              </a:rPr>
              <a:t>If upfront service is new service, recognize it as service revenue</a:t>
            </a:r>
            <a:r>
              <a:rPr lang="zh-CN" altLang="en-US" sz="1200" strike="sngStrike">
                <a:solidFill>
                  <a:schemeClr val="tx1"/>
                </a:solidFill>
              </a:rPr>
              <a:t>，</a:t>
            </a:r>
            <a:r>
              <a:rPr lang="en-US" altLang="zh-CN" sz="1200" strike="sngStrike">
                <a:solidFill>
                  <a:schemeClr val="tx1"/>
                </a:solidFill>
              </a:rPr>
              <a:t>pass to founder </a:t>
            </a:r>
          </a:p>
          <a:p>
            <a:r>
              <a:rPr lang="en-US" altLang="zh-CN" sz="1200">
                <a:solidFill>
                  <a:schemeClr val="tx1"/>
                </a:solidFill>
              </a:rPr>
              <a:t>If upfront service is previous one, then keep it as interest income in S&amp;D</a:t>
            </a:r>
            <a:endParaRPr lang="zh-CN" altLang="en-US" sz="1200">
              <a:solidFill>
                <a:schemeClr val="tx1"/>
              </a:solidFill>
            </a:endParaRPr>
          </a:p>
        </p:txBody>
      </p:sp>
      <p:sp>
        <p:nvSpPr>
          <p:cNvPr id="3" name="矩形 2">
            <a:extLst>
              <a:ext uri="{FF2B5EF4-FFF2-40B4-BE49-F238E27FC236}">
                <a16:creationId xmlns:a16="http://schemas.microsoft.com/office/drawing/2014/main" id="{B50BCF04-6CAD-7AA7-9BE6-7E95F2BCCCDE}"/>
              </a:ext>
            </a:extLst>
          </p:cNvPr>
          <p:cNvSpPr/>
          <p:nvPr/>
        </p:nvSpPr>
        <p:spPr>
          <a:xfrm>
            <a:off x="531435" y="3621616"/>
            <a:ext cx="5568973" cy="196515"/>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矩形 3">
            <a:extLst>
              <a:ext uri="{FF2B5EF4-FFF2-40B4-BE49-F238E27FC236}">
                <a16:creationId xmlns:a16="http://schemas.microsoft.com/office/drawing/2014/main" id="{F87DFD46-FC29-A5D6-E822-6883572D000E}"/>
              </a:ext>
            </a:extLst>
          </p:cNvPr>
          <p:cNvSpPr/>
          <p:nvPr/>
        </p:nvSpPr>
        <p:spPr>
          <a:xfrm>
            <a:off x="74426" y="4586118"/>
            <a:ext cx="6007396" cy="1632426"/>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5" name="对话气泡: 矩形 11">
            <a:extLst>
              <a:ext uri="{FF2B5EF4-FFF2-40B4-BE49-F238E27FC236}">
                <a16:creationId xmlns:a16="http://schemas.microsoft.com/office/drawing/2014/main" id="{A9A9ED64-708A-5AF0-D016-14197FE5C1A5}"/>
              </a:ext>
            </a:extLst>
          </p:cNvPr>
          <p:cNvSpPr/>
          <p:nvPr/>
        </p:nvSpPr>
        <p:spPr>
          <a:xfrm>
            <a:off x="-1667544" y="3615187"/>
            <a:ext cx="1307455" cy="1941861"/>
          </a:xfrm>
          <a:prstGeom prst="wedgeRectCallout">
            <a:avLst>
              <a:gd name="adj1" fmla="val 114154"/>
              <a:gd name="adj2" fmla="val -6724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spTree>
    <p:extLst>
      <p:ext uri="{BB962C8B-B14F-4D97-AF65-F5344CB8AC3E}">
        <p14:creationId xmlns:p14="http://schemas.microsoft.com/office/powerpoint/2010/main" val="229487099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9C0A1B95-27AB-29E0-D40C-1AFF201DF131}"/>
              </a:ext>
            </a:extLst>
          </p:cNvPr>
          <p:cNvSpPr txBox="1"/>
          <p:nvPr/>
        </p:nvSpPr>
        <p:spPr>
          <a:xfrm>
            <a:off x="72217" y="-27969"/>
            <a:ext cx="4470947" cy="400110"/>
          </a:xfrm>
          <a:prstGeom prst="rect">
            <a:avLst/>
          </a:prstGeom>
          <a:noFill/>
        </p:spPr>
        <p:txBody>
          <a:bodyPr wrap="square" rtlCol="0">
            <a:spAutoFit/>
          </a:bodyPr>
          <a:lstStyle/>
          <a:p>
            <a:r>
              <a:rPr lang="nl-NL" altLang="zh-CN" sz="2000" b="1"/>
              <a:t>DaaS_S&amp;D_MSA&amp;MLA</a:t>
            </a:r>
            <a:endParaRPr lang="zh-CN" altLang="en-US" sz="2000" b="1"/>
          </a:p>
        </p:txBody>
      </p:sp>
      <p:cxnSp>
        <p:nvCxnSpPr>
          <p:cNvPr id="3" name="直接连接符 2">
            <a:extLst>
              <a:ext uri="{FF2B5EF4-FFF2-40B4-BE49-F238E27FC236}">
                <a16:creationId xmlns:a16="http://schemas.microsoft.com/office/drawing/2014/main" id="{CCA08C57-3440-F358-D9AF-AEA626A32BFE}"/>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35" name="表格 34">
            <a:extLst>
              <a:ext uri="{FF2B5EF4-FFF2-40B4-BE49-F238E27FC236}">
                <a16:creationId xmlns:a16="http://schemas.microsoft.com/office/drawing/2014/main" id="{86F3F1A5-B499-46DB-BD96-DEF7CB6D0AFB}"/>
              </a:ext>
            </a:extLst>
          </p:cNvPr>
          <p:cNvGraphicFramePr>
            <a:graphicFrameLocks noGrp="1"/>
          </p:cNvGraphicFramePr>
          <p:nvPr>
            <p:extLst>
              <p:ext uri="{D42A27DB-BD31-4B8C-83A1-F6EECF244321}">
                <p14:modId xmlns:p14="http://schemas.microsoft.com/office/powerpoint/2010/main" val="1520052955"/>
              </p:ext>
            </p:extLst>
          </p:nvPr>
        </p:nvGraphicFramePr>
        <p:xfrm>
          <a:off x="84936" y="4814922"/>
          <a:ext cx="5942348" cy="2267349"/>
        </p:xfrm>
        <a:graphic>
          <a:graphicData uri="http://schemas.openxmlformats.org/drawingml/2006/table">
            <a:tbl>
              <a:tblPr/>
              <a:tblGrid>
                <a:gridCol w="437298">
                  <a:extLst>
                    <a:ext uri="{9D8B030D-6E8A-4147-A177-3AD203B41FA5}">
                      <a16:colId xmlns:a16="http://schemas.microsoft.com/office/drawing/2014/main" val="495084399"/>
                    </a:ext>
                  </a:extLst>
                </a:gridCol>
                <a:gridCol w="236799">
                  <a:extLst>
                    <a:ext uri="{9D8B030D-6E8A-4147-A177-3AD203B41FA5}">
                      <a16:colId xmlns:a16="http://schemas.microsoft.com/office/drawing/2014/main" val="3614210242"/>
                    </a:ext>
                  </a:extLst>
                </a:gridCol>
                <a:gridCol w="554439">
                  <a:extLst>
                    <a:ext uri="{9D8B030D-6E8A-4147-A177-3AD203B41FA5}">
                      <a16:colId xmlns:a16="http://schemas.microsoft.com/office/drawing/2014/main" val="1442124609"/>
                    </a:ext>
                  </a:extLst>
                </a:gridCol>
                <a:gridCol w="2157501">
                  <a:extLst>
                    <a:ext uri="{9D8B030D-6E8A-4147-A177-3AD203B41FA5}">
                      <a16:colId xmlns:a16="http://schemas.microsoft.com/office/drawing/2014/main" val="3603859997"/>
                    </a:ext>
                  </a:extLst>
                </a:gridCol>
                <a:gridCol w="344674">
                  <a:extLst>
                    <a:ext uri="{9D8B030D-6E8A-4147-A177-3AD203B41FA5}">
                      <a16:colId xmlns:a16="http://schemas.microsoft.com/office/drawing/2014/main" val="4076488391"/>
                    </a:ext>
                  </a:extLst>
                </a:gridCol>
                <a:gridCol w="344674">
                  <a:extLst>
                    <a:ext uri="{9D8B030D-6E8A-4147-A177-3AD203B41FA5}">
                      <a16:colId xmlns:a16="http://schemas.microsoft.com/office/drawing/2014/main" val="3254101706"/>
                    </a:ext>
                  </a:extLst>
                </a:gridCol>
                <a:gridCol w="342158">
                  <a:extLst>
                    <a:ext uri="{9D8B030D-6E8A-4147-A177-3AD203B41FA5}">
                      <a16:colId xmlns:a16="http://schemas.microsoft.com/office/drawing/2014/main" val="3712391277"/>
                    </a:ext>
                  </a:extLst>
                </a:gridCol>
                <a:gridCol w="582312">
                  <a:extLst>
                    <a:ext uri="{9D8B030D-6E8A-4147-A177-3AD203B41FA5}">
                      <a16:colId xmlns:a16="http://schemas.microsoft.com/office/drawing/2014/main" val="3891331119"/>
                    </a:ext>
                  </a:extLst>
                </a:gridCol>
                <a:gridCol w="269631">
                  <a:extLst>
                    <a:ext uri="{9D8B030D-6E8A-4147-A177-3AD203B41FA5}">
                      <a16:colId xmlns:a16="http://schemas.microsoft.com/office/drawing/2014/main" val="2527660299"/>
                    </a:ext>
                  </a:extLst>
                </a:gridCol>
                <a:gridCol w="388450">
                  <a:extLst>
                    <a:ext uri="{9D8B030D-6E8A-4147-A177-3AD203B41FA5}">
                      <a16:colId xmlns:a16="http://schemas.microsoft.com/office/drawing/2014/main" val="3641075278"/>
                    </a:ext>
                  </a:extLst>
                </a:gridCol>
                <a:gridCol w="284412">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38878">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1200" b="0" i="0">
                          <a:solidFill>
                            <a:srgbClr val="000000"/>
                          </a:solidFill>
                          <a:effectLst/>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5336896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2280503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Other Payable-3rd Party-Factoring-</a:t>
                      </a:r>
                      <a:r>
                        <a:rPr lang="en-US" altLang="zh-CN" sz="900" b="0" i="0" u="none" strike="noStrike" kern="1200">
                          <a:solidFill>
                            <a:srgbClr val="000000"/>
                          </a:solidFill>
                          <a:effectLst/>
                          <a:latin typeface="Arial" panose="020B0604020202020204" pitchFamily="34" charset="0"/>
                          <a:ea typeface="+mn-ea"/>
                          <a:cs typeface="+mn-cs"/>
                        </a:rPr>
                        <a:t>upfront</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4" name="表格 3">
            <a:extLst>
              <a:ext uri="{FF2B5EF4-FFF2-40B4-BE49-F238E27FC236}">
                <a16:creationId xmlns:a16="http://schemas.microsoft.com/office/drawing/2014/main" id="{4867E83D-B9A0-8120-9A1B-E48B3637B3A5}"/>
              </a:ext>
            </a:extLst>
          </p:cNvPr>
          <p:cNvGraphicFramePr>
            <a:graphicFrameLocks noGrp="1"/>
          </p:cNvGraphicFramePr>
          <p:nvPr>
            <p:extLst>
              <p:ext uri="{D42A27DB-BD31-4B8C-83A1-F6EECF244321}">
                <p14:modId xmlns:p14="http://schemas.microsoft.com/office/powerpoint/2010/main" val="3909088702"/>
              </p:ext>
            </p:extLst>
          </p:nvPr>
        </p:nvGraphicFramePr>
        <p:xfrm>
          <a:off x="114405" y="3671922"/>
          <a:ext cx="5885425" cy="1143000"/>
        </p:xfrm>
        <a:graphic>
          <a:graphicData uri="http://schemas.openxmlformats.org/drawingml/2006/table">
            <a:tbl>
              <a:tblPr firstRow="1" bandRow="1">
                <a:tableStyleId>{3C2FFA5D-87B4-456A-9821-1D502468CF0F}</a:tableStyleId>
              </a:tblPr>
              <a:tblGrid>
                <a:gridCol w="645006">
                  <a:extLst>
                    <a:ext uri="{9D8B030D-6E8A-4147-A177-3AD203B41FA5}">
                      <a16:colId xmlns:a16="http://schemas.microsoft.com/office/drawing/2014/main" val="869603910"/>
                    </a:ext>
                  </a:extLst>
                </a:gridCol>
                <a:gridCol w="697230">
                  <a:extLst>
                    <a:ext uri="{9D8B030D-6E8A-4147-A177-3AD203B41FA5}">
                      <a16:colId xmlns:a16="http://schemas.microsoft.com/office/drawing/2014/main" val="238663902"/>
                    </a:ext>
                  </a:extLst>
                </a:gridCol>
                <a:gridCol w="669871">
                  <a:extLst>
                    <a:ext uri="{9D8B030D-6E8A-4147-A177-3AD203B41FA5}">
                      <a16:colId xmlns:a16="http://schemas.microsoft.com/office/drawing/2014/main" val="4114365151"/>
                    </a:ext>
                  </a:extLst>
                </a:gridCol>
                <a:gridCol w="683551">
                  <a:extLst>
                    <a:ext uri="{9D8B030D-6E8A-4147-A177-3AD203B41FA5}">
                      <a16:colId xmlns:a16="http://schemas.microsoft.com/office/drawing/2014/main" val="4075178046"/>
                    </a:ext>
                  </a:extLst>
                </a:gridCol>
                <a:gridCol w="701749">
                  <a:extLst>
                    <a:ext uri="{9D8B030D-6E8A-4147-A177-3AD203B41FA5}">
                      <a16:colId xmlns:a16="http://schemas.microsoft.com/office/drawing/2014/main" val="973533418"/>
                    </a:ext>
                  </a:extLst>
                </a:gridCol>
                <a:gridCol w="733646">
                  <a:extLst>
                    <a:ext uri="{9D8B030D-6E8A-4147-A177-3AD203B41FA5}">
                      <a16:colId xmlns:a16="http://schemas.microsoft.com/office/drawing/2014/main" val="2377711782"/>
                    </a:ext>
                  </a:extLst>
                </a:gridCol>
                <a:gridCol w="808075">
                  <a:extLst>
                    <a:ext uri="{9D8B030D-6E8A-4147-A177-3AD203B41FA5}">
                      <a16:colId xmlns:a16="http://schemas.microsoft.com/office/drawing/2014/main" val="1022211988"/>
                    </a:ext>
                  </a:extLst>
                </a:gridCol>
                <a:gridCol w="946297">
                  <a:extLst>
                    <a:ext uri="{9D8B030D-6E8A-4147-A177-3AD203B41FA5}">
                      <a16:colId xmlns:a16="http://schemas.microsoft.com/office/drawing/2014/main" val="221569069"/>
                    </a:ext>
                  </a:extLst>
                </a:gridCol>
              </a:tblGrid>
              <a:tr h="15659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327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SOR- without recourse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0" name="表格 9">
            <a:extLst>
              <a:ext uri="{FF2B5EF4-FFF2-40B4-BE49-F238E27FC236}">
                <a16:creationId xmlns:a16="http://schemas.microsoft.com/office/drawing/2014/main" id="{D02AEA4B-3194-050B-2DD1-51DF22A9E35F}"/>
              </a:ext>
            </a:extLst>
          </p:cNvPr>
          <p:cNvGraphicFramePr>
            <a:graphicFrameLocks noGrp="1"/>
          </p:cNvGraphicFramePr>
          <p:nvPr>
            <p:extLst>
              <p:ext uri="{D42A27DB-BD31-4B8C-83A1-F6EECF244321}">
                <p14:modId xmlns:p14="http://schemas.microsoft.com/office/powerpoint/2010/main" val="3135361237"/>
              </p:ext>
            </p:extLst>
          </p:nvPr>
        </p:nvGraphicFramePr>
        <p:xfrm>
          <a:off x="6219622" y="3388063"/>
          <a:ext cx="5885425" cy="1143000"/>
        </p:xfrm>
        <a:graphic>
          <a:graphicData uri="http://schemas.openxmlformats.org/drawingml/2006/table">
            <a:tbl>
              <a:tblPr firstRow="1" bandRow="1">
                <a:tableStyleId>{3C2FFA5D-87B4-456A-9821-1D502468CF0F}</a:tableStyleId>
              </a:tblPr>
              <a:tblGrid>
                <a:gridCol w="645006">
                  <a:extLst>
                    <a:ext uri="{9D8B030D-6E8A-4147-A177-3AD203B41FA5}">
                      <a16:colId xmlns:a16="http://schemas.microsoft.com/office/drawing/2014/main" val="869603910"/>
                    </a:ext>
                  </a:extLst>
                </a:gridCol>
                <a:gridCol w="697230">
                  <a:extLst>
                    <a:ext uri="{9D8B030D-6E8A-4147-A177-3AD203B41FA5}">
                      <a16:colId xmlns:a16="http://schemas.microsoft.com/office/drawing/2014/main" val="238663902"/>
                    </a:ext>
                  </a:extLst>
                </a:gridCol>
                <a:gridCol w="727940">
                  <a:extLst>
                    <a:ext uri="{9D8B030D-6E8A-4147-A177-3AD203B41FA5}">
                      <a16:colId xmlns:a16="http://schemas.microsoft.com/office/drawing/2014/main" val="4114365151"/>
                    </a:ext>
                  </a:extLst>
                </a:gridCol>
                <a:gridCol w="703329">
                  <a:extLst>
                    <a:ext uri="{9D8B030D-6E8A-4147-A177-3AD203B41FA5}">
                      <a16:colId xmlns:a16="http://schemas.microsoft.com/office/drawing/2014/main" val="4075178046"/>
                    </a:ext>
                  </a:extLst>
                </a:gridCol>
                <a:gridCol w="723014">
                  <a:extLst>
                    <a:ext uri="{9D8B030D-6E8A-4147-A177-3AD203B41FA5}">
                      <a16:colId xmlns:a16="http://schemas.microsoft.com/office/drawing/2014/main" val="973533418"/>
                    </a:ext>
                  </a:extLst>
                </a:gridCol>
                <a:gridCol w="691116">
                  <a:extLst>
                    <a:ext uri="{9D8B030D-6E8A-4147-A177-3AD203B41FA5}">
                      <a16:colId xmlns:a16="http://schemas.microsoft.com/office/drawing/2014/main" val="2377711782"/>
                    </a:ext>
                  </a:extLst>
                </a:gridCol>
                <a:gridCol w="882503">
                  <a:extLst>
                    <a:ext uri="{9D8B030D-6E8A-4147-A177-3AD203B41FA5}">
                      <a16:colId xmlns:a16="http://schemas.microsoft.com/office/drawing/2014/main" val="1022211988"/>
                    </a:ext>
                  </a:extLst>
                </a:gridCol>
                <a:gridCol w="815287">
                  <a:extLst>
                    <a:ext uri="{9D8B030D-6E8A-4147-A177-3AD203B41FA5}">
                      <a16:colId xmlns:a16="http://schemas.microsoft.com/office/drawing/2014/main" val="221569069"/>
                    </a:ext>
                  </a:extLst>
                </a:gridCol>
              </a:tblGrid>
              <a:tr h="15659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327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SOR- without recourse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1" name="表格 10">
            <a:extLst>
              <a:ext uri="{FF2B5EF4-FFF2-40B4-BE49-F238E27FC236}">
                <a16:creationId xmlns:a16="http://schemas.microsoft.com/office/drawing/2014/main" id="{20A8C491-4AF4-B0B4-26D2-F5ACB33343EC}"/>
              </a:ext>
            </a:extLst>
          </p:cNvPr>
          <p:cNvGraphicFramePr>
            <a:graphicFrameLocks noGrp="1"/>
          </p:cNvGraphicFramePr>
          <p:nvPr>
            <p:extLst>
              <p:ext uri="{D42A27DB-BD31-4B8C-83A1-F6EECF244321}">
                <p14:modId xmlns:p14="http://schemas.microsoft.com/office/powerpoint/2010/main" val="2028412616"/>
              </p:ext>
            </p:extLst>
          </p:nvPr>
        </p:nvGraphicFramePr>
        <p:xfrm>
          <a:off x="6234358" y="330346"/>
          <a:ext cx="5885425" cy="1143000"/>
        </p:xfrm>
        <a:graphic>
          <a:graphicData uri="http://schemas.openxmlformats.org/drawingml/2006/table">
            <a:tbl>
              <a:tblPr firstRow="1" bandRow="1">
                <a:tableStyleId>{3C2FFA5D-87B4-456A-9821-1D502468CF0F}</a:tableStyleId>
              </a:tblPr>
              <a:tblGrid>
                <a:gridCol w="645006">
                  <a:extLst>
                    <a:ext uri="{9D8B030D-6E8A-4147-A177-3AD203B41FA5}">
                      <a16:colId xmlns:a16="http://schemas.microsoft.com/office/drawing/2014/main" val="869603910"/>
                    </a:ext>
                  </a:extLst>
                </a:gridCol>
                <a:gridCol w="697230">
                  <a:extLst>
                    <a:ext uri="{9D8B030D-6E8A-4147-A177-3AD203B41FA5}">
                      <a16:colId xmlns:a16="http://schemas.microsoft.com/office/drawing/2014/main" val="238663902"/>
                    </a:ext>
                  </a:extLst>
                </a:gridCol>
                <a:gridCol w="727940">
                  <a:extLst>
                    <a:ext uri="{9D8B030D-6E8A-4147-A177-3AD203B41FA5}">
                      <a16:colId xmlns:a16="http://schemas.microsoft.com/office/drawing/2014/main" val="4114365151"/>
                    </a:ext>
                  </a:extLst>
                </a:gridCol>
                <a:gridCol w="668016">
                  <a:extLst>
                    <a:ext uri="{9D8B030D-6E8A-4147-A177-3AD203B41FA5}">
                      <a16:colId xmlns:a16="http://schemas.microsoft.com/office/drawing/2014/main" val="4075178046"/>
                    </a:ext>
                  </a:extLst>
                </a:gridCol>
                <a:gridCol w="685800">
                  <a:extLst>
                    <a:ext uri="{9D8B030D-6E8A-4147-A177-3AD203B41FA5}">
                      <a16:colId xmlns:a16="http://schemas.microsoft.com/office/drawing/2014/main" val="973533418"/>
                    </a:ext>
                  </a:extLst>
                </a:gridCol>
                <a:gridCol w="707061">
                  <a:extLst>
                    <a:ext uri="{9D8B030D-6E8A-4147-A177-3AD203B41FA5}">
                      <a16:colId xmlns:a16="http://schemas.microsoft.com/office/drawing/2014/main" val="2377711782"/>
                    </a:ext>
                  </a:extLst>
                </a:gridCol>
                <a:gridCol w="855039">
                  <a:extLst>
                    <a:ext uri="{9D8B030D-6E8A-4147-A177-3AD203B41FA5}">
                      <a16:colId xmlns:a16="http://schemas.microsoft.com/office/drawing/2014/main" val="1022211988"/>
                    </a:ext>
                  </a:extLst>
                </a:gridCol>
                <a:gridCol w="899333">
                  <a:extLst>
                    <a:ext uri="{9D8B030D-6E8A-4147-A177-3AD203B41FA5}">
                      <a16:colId xmlns:a16="http://schemas.microsoft.com/office/drawing/2014/main" val="221569069"/>
                    </a:ext>
                  </a:extLst>
                </a:gridCol>
              </a:tblGrid>
              <a:tr h="15659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327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SOR-with recourse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3" name="表格 12">
            <a:extLst>
              <a:ext uri="{FF2B5EF4-FFF2-40B4-BE49-F238E27FC236}">
                <a16:creationId xmlns:a16="http://schemas.microsoft.com/office/drawing/2014/main" id="{6E634771-FAD7-1A93-4FC9-483D543FD19F}"/>
              </a:ext>
            </a:extLst>
          </p:cNvPr>
          <p:cNvGraphicFramePr>
            <a:graphicFrameLocks noGrp="1"/>
          </p:cNvGraphicFramePr>
          <p:nvPr>
            <p:extLst>
              <p:ext uri="{D42A27DB-BD31-4B8C-83A1-F6EECF244321}">
                <p14:modId xmlns:p14="http://schemas.microsoft.com/office/powerpoint/2010/main" val="819976882"/>
              </p:ext>
            </p:extLst>
          </p:nvPr>
        </p:nvGraphicFramePr>
        <p:xfrm>
          <a:off x="114406" y="314042"/>
          <a:ext cx="5885425" cy="1143000"/>
        </p:xfrm>
        <a:graphic>
          <a:graphicData uri="http://schemas.openxmlformats.org/drawingml/2006/table">
            <a:tbl>
              <a:tblPr firstRow="1" bandRow="1">
                <a:tableStyleId>{3C2FFA5D-87B4-456A-9821-1D502468CF0F}</a:tableStyleId>
              </a:tblPr>
              <a:tblGrid>
                <a:gridCol w="645006">
                  <a:extLst>
                    <a:ext uri="{9D8B030D-6E8A-4147-A177-3AD203B41FA5}">
                      <a16:colId xmlns:a16="http://schemas.microsoft.com/office/drawing/2014/main" val="869603910"/>
                    </a:ext>
                  </a:extLst>
                </a:gridCol>
                <a:gridCol w="697230">
                  <a:extLst>
                    <a:ext uri="{9D8B030D-6E8A-4147-A177-3AD203B41FA5}">
                      <a16:colId xmlns:a16="http://schemas.microsoft.com/office/drawing/2014/main" val="238663902"/>
                    </a:ext>
                  </a:extLst>
                </a:gridCol>
                <a:gridCol w="727940">
                  <a:extLst>
                    <a:ext uri="{9D8B030D-6E8A-4147-A177-3AD203B41FA5}">
                      <a16:colId xmlns:a16="http://schemas.microsoft.com/office/drawing/2014/main" val="4114365151"/>
                    </a:ext>
                  </a:extLst>
                </a:gridCol>
                <a:gridCol w="692736">
                  <a:extLst>
                    <a:ext uri="{9D8B030D-6E8A-4147-A177-3AD203B41FA5}">
                      <a16:colId xmlns:a16="http://schemas.microsoft.com/office/drawing/2014/main" val="4075178046"/>
                    </a:ext>
                  </a:extLst>
                </a:gridCol>
                <a:gridCol w="760829">
                  <a:extLst>
                    <a:ext uri="{9D8B030D-6E8A-4147-A177-3AD203B41FA5}">
                      <a16:colId xmlns:a16="http://schemas.microsoft.com/office/drawing/2014/main" val="973533418"/>
                    </a:ext>
                  </a:extLst>
                </a:gridCol>
                <a:gridCol w="701749">
                  <a:extLst>
                    <a:ext uri="{9D8B030D-6E8A-4147-A177-3AD203B41FA5}">
                      <a16:colId xmlns:a16="http://schemas.microsoft.com/office/drawing/2014/main" val="2377711782"/>
                    </a:ext>
                  </a:extLst>
                </a:gridCol>
                <a:gridCol w="855319">
                  <a:extLst>
                    <a:ext uri="{9D8B030D-6E8A-4147-A177-3AD203B41FA5}">
                      <a16:colId xmlns:a16="http://schemas.microsoft.com/office/drawing/2014/main" val="1022211988"/>
                    </a:ext>
                  </a:extLst>
                </a:gridCol>
                <a:gridCol w="804616">
                  <a:extLst>
                    <a:ext uri="{9D8B030D-6E8A-4147-A177-3AD203B41FA5}">
                      <a16:colId xmlns:a16="http://schemas.microsoft.com/office/drawing/2014/main" val="221569069"/>
                    </a:ext>
                  </a:extLst>
                </a:gridCol>
              </a:tblGrid>
              <a:tr h="571500">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7150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SOR- with recourse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5" name="表格 14">
            <a:extLst>
              <a:ext uri="{FF2B5EF4-FFF2-40B4-BE49-F238E27FC236}">
                <a16:creationId xmlns:a16="http://schemas.microsoft.com/office/drawing/2014/main" id="{3423A21F-8311-E4E4-FB6B-6DBFAB53C157}"/>
              </a:ext>
            </a:extLst>
          </p:cNvPr>
          <p:cNvGraphicFramePr>
            <a:graphicFrameLocks noGrp="1"/>
          </p:cNvGraphicFramePr>
          <p:nvPr>
            <p:extLst>
              <p:ext uri="{D42A27DB-BD31-4B8C-83A1-F6EECF244321}">
                <p14:modId xmlns:p14="http://schemas.microsoft.com/office/powerpoint/2010/main" val="3064972220"/>
              </p:ext>
            </p:extLst>
          </p:nvPr>
        </p:nvGraphicFramePr>
        <p:xfrm>
          <a:off x="84936" y="1454013"/>
          <a:ext cx="5914896" cy="2201599"/>
        </p:xfrm>
        <a:graphic>
          <a:graphicData uri="http://schemas.openxmlformats.org/drawingml/2006/table">
            <a:tbl>
              <a:tblPr/>
              <a:tblGrid>
                <a:gridCol w="433759">
                  <a:extLst>
                    <a:ext uri="{9D8B030D-6E8A-4147-A177-3AD203B41FA5}">
                      <a16:colId xmlns:a16="http://schemas.microsoft.com/office/drawing/2014/main" val="495084399"/>
                    </a:ext>
                  </a:extLst>
                </a:gridCol>
                <a:gridCol w="246563">
                  <a:extLst>
                    <a:ext uri="{9D8B030D-6E8A-4147-A177-3AD203B41FA5}">
                      <a16:colId xmlns:a16="http://schemas.microsoft.com/office/drawing/2014/main" val="3614210242"/>
                    </a:ext>
                  </a:extLst>
                </a:gridCol>
                <a:gridCol w="586792">
                  <a:extLst>
                    <a:ext uri="{9D8B030D-6E8A-4147-A177-3AD203B41FA5}">
                      <a16:colId xmlns:a16="http://schemas.microsoft.com/office/drawing/2014/main" val="1442124609"/>
                    </a:ext>
                  </a:extLst>
                </a:gridCol>
                <a:gridCol w="2016037">
                  <a:extLst>
                    <a:ext uri="{9D8B030D-6E8A-4147-A177-3AD203B41FA5}">
                      <a16:colId xmlns:a16="http://schemas.microsoft.com/office/drawing/2014/main" val="3603859997"/>
                    </a:ext>
                  </a:extLst>
                </a:gridCol>
                <a:gridCol w="365512">
                  <a:extLst>
                    <a:ext uri="{9D8B030D-6E8A-4147-A177-3AD203B41FA5}">
                      <a16:colId xmlns:a16="http://schemas.microsoft.com/office/drawing/2014/main" val="4076488391"/>
                    </a:ext>
                  </a:extLst>
                </a:gridCol>
                <a:gridCol w="365512">
                  <a:extLst>
                    <a:ext uri="{9D8B030D-6E8A-4147-A177-3AD203B41FA5}">
                      <a16:colId xmlns:a16="http://schemas.microsoft.com/office/drawing/2014/main" val="3254101706"/>
                    </a:ext>
                  </a:extLst>
                </a:gridCol>
                <a:gridCol w="291795">
                  <a:extLst>
                    <a:ext uri="{9D8B030D-6E8A-4147-A177-3AD203B41FA5}">
                      <a16:colId xmlns:a16="http://schemas.microsoft.com/office/drawing/2014/main" val="3712391277"/>
                    </a:ext>
                  </a:extLst>
                </a:gridCol>
                <a:gridCol w="617517">
                  <a:extLst>
                    <a:ext uri="{9D8B030D-6E8A-4147-A177-3AD203B41FA5}">
                      <a16:colId xmlns:a16="http://schemas.microsoft.com/office/drawing/2014/main" val="1082186278"/>
                    </a:ext>
                  </a:extLst>
                </a:gridCol>
                <a:gridCol w="285932">
                  <a:extLst>
                    <a:ext uri="{9D8B030D-6E8A-4147-A177-3AD203B41FA5}">
                      <a16:colId xmlns:a16="http://schemas.microsoft.com/office/drawing/2014/main" val="2527660299"/>
                    </a:ext>
                  </a:extLst>
                </a:gridCol>
                <a:gridCol w="404469">
                  <a:extLst>
                    <a:ext uri="{9D8B030D-6E8A-4147-A177-3AD203B41FA5}">
                      <a16:colId xmlns:a16="http://schemas.microsoft.com/office/drawing/2014/main" val="3641075278"/>
                    </a:ext>
                  </a:extLst>
                </a:gridCol>
                <a:gridCol w="30100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38878">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4593100"/>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LTAR - 3rd Party - </a:t>
                      </a:r>
                      <a:r>
                        <a:rPr lang="en-US" altLang="zh-CN" sz="900" b="0" i="0" u="none" strike="noStrike" kern="1200">
                          <a:solidFill>
                            <a:srgbClr val="000000"/>
                          </a:solidFill>
                          <a:effectLst/>
                          <a:latin typeface="Arial" panose="020B0604020202020204" pitchFamily="34" charset="0"/>
                          <a:ea typeface="+mn-ea"/>
                          <a:cs typeface="+mn-cs"/>
                        </a:rPr>
                        <a:t>upfront</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6" name="表格 15">
            <a:extLst>
              <a:ext uri="{FF2B5EF4-FFF2-40B4-BE49-F238E27FC236}">
                <a16:creationId xmlns:a16="http://schemas.microsoft.com/office/drawing/2014/main" id="{4DCC55DD-87B5-7D1C-E37E-6694C587496C}"/>
              </a:ext>
            </a:extLst>
          </p:cNvPr>
          <p:cNvGraphicFramePr>
            <a:graphicFrameLocks noGrp="1"/>
          </p:cNvGraphicFramePr>
          <p:nvPr>
            <p:extLst>
              <p:ext uri="{D42A27DB-BD31-4B8C-83A1-F6EECF244321}">
                <p14:modId xmlns:p14="http://schemas.microsoft.com/office/powerpoint/2010/main" val="3252382330"/>
              </p:ext>
            </p:extLst>
          </p:nvPr>
        </p:nvGraphicFramePr>
        <p:xfrm>
          <a:off x="6204887" y="1482305"/>
          <a:ext cx="5914896" cy="1896799"/>
        </p:xfrm>
        <a:graphic>
          <a:graphicData uri="http://schemas.openxmlformats.org/drawingml/2006/table">
            <a:tbl>
              <a:tblPr/>
              <a:tblGrid>
                <a:gridCol w="433759">
                  <a:extLst>
                    <a:ext uri="{9D8B030D-6E8A-4147-A177-3AD203B41FA5}">
                      <a16:colId xmlns:a16="http://schemas.microsoft.com/office/drawing/2014/main" val="495084399"/>
                    </a:ext>
                  </a:extLst>
                </a:gridCol>
                <a:gridCol w="246563">
                  <a:extLst>
                    <a:ext uri="{9D8B030D-6E8A-4147-A177-3AD203B41FA5}">
                      <a16:colId xmlns:a16="http://schemas.microsoft.com/office/drawing/2014/main" val="3614210242"/>
                    </a:ext>
                  </a:extLst>
                </a:gridCol>
                <a:gridCol w="586792">
                  <a:extLst>
                    <a:ext uri="{9D8B030D-6E8A-4147-A177-3AD203B41FA5}">
                      <a16:colId xmlns:a16="http://schemas.microsoft.com/office/drawing/2014/main" val="1442124609"/>
                    </a:ext>
                  </a:extLst>
                </a:gridCol>
                <a:gridCol w="2016037">
                  <a:extLst>
                    <a:ext uri="{9D8B030D-6E8A-4147-A177-3AD203B41FA5}">
                      <a16:colId xmlns:a16="http://schemas.microsoft.com/office/drawing/2014/main" val="3603859997"/>
                    </a:ext>
                  </a:extLst>
                </a:gridCol>
                <a:gridCol w="365512">
                  <a:extLst>
                    <a:ext uri="{9D8B030D-6E8A-4147-A177-3AD203B41FA5}">
                      <a16:colId xmlns:a16="http://schemas.microsoft.com/office/drawing/2014/main" val="4076488391"/>
                    </a:ext>
                  </a:extLst>
                </a:gridCol>
                <a:gridCol w="365512">
                  <a:extLst>
                    <a:ext uri="{9D8B030D-6E8A-4147-A177-3AD203B41FA5}">
                      <a16:colId xmlns:a16="http://schemas.microsoft.com/office/drawing/2014/main" val="3254101706"/>
                    </a:ext>
                  </a:extLst>
                </a:gridCol>
                <a:gridCol w="291795">
                  <a:extLst>
                    <a:ext uri="{9D8B030D-6E8A-4147-A177-3AD203B41FA5}">
                      <a16:colId xmlns:a16="http://schemas.microsoft.com/office/drawing/2014/main" val="3712391277"/>
                    </a:ext>
                  </a:extLst>
                </a:gridCol>
                <a:gridCol w="617517">
                  <a:extLst>
                    <a:ext uri="{9D8B030D-6E8A-4147-A177-3AD203B41FA5}">
                      <a16:colId xmlns:a16="http://schemas.microsoft.com/office/drawing/2014/main" val="1082186278"/>
                    </a:ext>
                  </a:extLst>
                </a:gridCol>
                <a:gridCol w="285932">
                  <a:extLst>
                    <a:ext uri="{9D8B030D-6E8A-4147-A177-3AD203B41FA5}">
                      <a16:colId xmlns:a16="http://schemas.microsoft.com/office/drawing/2014/main" val="2527660299"/>
                    </a:ext>
                  </a:extLst>
                </a:gridCol>
                <a:gridCol w="404469">
                  <a:extLst>
                    <a:ext uri="{9D8B030D-6E8A-4147-A177-3AD203B41FA5}">
                      <a16:colId xmlns:a16="http://schemas.microsoft.com/office/drawing/2014/main" val="3641075278"/>
                    </a:ext>
                  </a:extLst>
                </a:gridCol>
                <a:gridCol w="30100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38878">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1400301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LTAR - 3rd Party - Leasing Rental adj</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1400301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LTAR - 3rd Party - Leasing Rental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4593100"/>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LTAR - 3rd Party - </a:t>
                      </a:r>
                      <a:r>
                        <a:rPr lang="en-US" altLang="zh-CN" sz="900" b="0" i="0" u="none" strike="noStrike" kern="1200">
                          <a:solidFill>
                            <a:srgbClr val="000000"/>
                          </a:solidFill>
                          <a:effectLst/>
                          <a:latin typeface="Arial" panose="020B0604020202020204" pitchFamily="34" charset="0"/>
                          <a:ea typeface="+mn-ea"/>
                          <a:cs typeface="+mn-cs"/>
                        </a:rPr>
                        <a:t>upfront</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7" name="表格 16">
            <a:extLst>
              <a:ext uri="{FF2B5EF4-FFF2-40B4-BE49-F238E27FC236}">
                <a16:creationId xmlns:a16="http://schemas.microsoft.com/office/drawing/2014/main" id="{D2A8EDA3-B126-3B84-3E11-3386C0B88170}"/>
              </a:ext>
            </a:extLst>
          </p:cNvPr>
          <p:cNvGraphicFramePr>
            <a:graphicFrameLocks noGrp="1"/>
          </p:cNvGraphicFramePr>
          <p:nvPr>
            <p:extLst>
              <p:ext uri="{D42A27DB-BD31-4B8C-83A1-F6EECF244321}">
                <p14:modId xmlns:p14="http://schemas.microsoft.com/office/powerpoint/2010/main" val="613850087"/>
              </p:ext>
            </p:extLst>
          </p:nvPr>
        </p:nvGraphicFramePr>
        <p:xfrm>
          <a:off x="6198383" y="4540022"/>
          <a:ext cx="5927902" cy="1896799"/>
        </p:xfrm>
        <a:graphic>
          <a:graphicData uri="http://schemas.openxmlformats.org/drawingml/2006/table">
            <a:tbl>
              <a:tblPr/>
              <a:tblGrid>
                <a:gridCol w="433759">
                  <a:extLst>
                    <a:ext uri="{9D8B030D-6E8A-4147-A177-3AD203B41FA5}">
                      <a16:colId xmlns:a16="http://schemas.microsoft.com/office/drawing/2014/main" val="495084399"/>
                    </a:ext>
                  </a:extLst>
                </a:gridCol>
                <a:gridCol w="246563">
                  <a:extLst>
                    <a:ext uri="{9D8B030D-6E8A-4147-A177-3AD203B41FA5}">
                      <a16:colId xmlns:a16="http://schemas.microsoft.com/office/drawing/2014/main" val="3614210242"/>
                    </a:ext>
                  </a:extLst>
                </a:gridCol>
                <a:gridCol w="586792">
                  <a:extLst>
                    <a:ext uri="{9D8B030D-6E8A-4147-A177-3AD203B41FA5}">
                      <a16:colId xmlns:a16="http://schemas.microsoft.com/office/drawing/2014/main" val="1442124609"/>
                    </a:ext>
                  </a:extLst>
                </a:gridCol>
                <a:gridCol w="2120900">
                  <a:extLst>
                    <a:ext uri="{9D8B030D-6E8A-4147-A177-3AD203B41FA5}">
                      <a16:colId xmlns:a16="http://schemas.microsoft.com/office/drawing/2014/main" val="3603859997"/>
                    </a:ext>
                  </a:extLst>
                </a:gridCol>
                <a:gridCol w="349986">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279400">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082186278"/>
                    </a:ext>
                  </a:extLst>
                </a:gridCol>
                <a:gridCol w="273786">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30100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38878">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Other Payable-Third Party-Factoring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Other Payable-Third Party-Factoring3PO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4593100"/>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Other Payable-Third Party- upfront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2" name="对话气泡: 矩形 1">
            <a:extLst>
              <a:ext uri="{FF2B5EF4-FFF2-40B4-BE49-F238E27FC236}">
                <a16:creationId xmlns:a16="http://schemas.microsoft.com/office/drawing/2014/main" id="{F4BA24CC-D246-B97A-AAF7-C0603B2B3B21}"/>
              </a:ext>
            </a:extLst>
          </p:cNvPr>
          <p:cNvSpPr/>
          <p:nvPr/>
        </p:nvSpPr>
        <p:spPr>
          <a:xfrm>
            <a:off x="-2106582" y="3683904"/>
            <a:ext cx="1470835" cy="1143000"/>
          </a:xfrm>
          <a:prstGeom prst="wedgeRectCallout">
            <a:avLst>
              <a:gd name="adj1" fmla="val 131165"/>
              <a:gd name="adj2" fmla="val -7202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Funded going service recorded to service revenue, no more interest income</a:t>
            </a:r>
            <a:endParaRPr lang="zh-CN" altLang="en-US" sz="1200">
              <a:solidFill>
                <a:schemeClr val="tx1"/>
              </a:solidFill>
            </a:endParaRPr>
          </a:p>
        </p:txBody>
      </p:sp>
      <p:sp>
        <p:nvSpPr>
          <p:cNvPr id="7" name="文本框 6">
            <a:extLst>
              <a:ext uri="{FF2B5EF4-FFF2-40B4-BE49-F238E27FC236}">
                <a16:creationId xmlns:a16="http://schemas.microsoft.com/office/drawing/2014/main" id="{6EF598AC-6919-3D67-09D2-66710413B010}"/>
              </a:ext>
            </a:extLst>
          </p:cNvPr>
          <p:cNvSpPr txBox="1"/>
          <p:nvPr/>
        </p:nvSpPr>
        <p:spPr>
          <a:xfrm>
            <a:off x="-1371165" y="-646331"/>
            <a:ext cx="7155710" cy="369332"/>
          </a:xfrm>
          <a:prstGeom prst="rect">
            <a:avLst/>
          </a:prstGeom>
          <a:noFill/>
        </p:spPr>
        <p:txBody>
          <a:bodyPr wrap="square">
            <a:spAutoFit/>
          </a:bodyPr>
          <a:lstStyle/>
          <a:p>
            <a:endParaRPr lang="zh-CN" altLang="en-US"/>
          </a:p>
        </p:txBody>
      </p:sp>
    </p:spTree>
    <p:extLst>
      <p:ext uri="{BB962C8B-B14F-4D97-AF65-F5344CB8AC3E}">
        <p14:creationId xmlns:p14="http://schemas.microsoft.com/office/powerpoint/2010/main" val="20119791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B91BCD-0F74-A17C-BE21-64000C3A571E}"/>
            </a:ext>
          </a:extLst>
        </p:cNvPr>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D121B6A5-F1DC-0F6D-CEFA-57AF126452FC}"/>
              </a:ext>
            </a:extLst>
          </p:cNvPr>
          <p:cNvGraphicFramePr>
            <a:graphicFrameLocks noGrp="1"/>
          </p:cNvGraphicFramePr>
          <p:nvPr>
            <p:extLst>
              <p:ext uri="{D42A27DB-BD31-4B8C-83A1-F6EECF244321}">
                <p14:modId xmlns:p14="http://schemas.microsoft.com/office/powerpoint/2010/main" val="2178513074"/>
              </p:ext>
            </p:extLst>
          </p:nvPr>
        </p:nvGraphicFramePr>
        <p:xfrm>
          <a:off x="56667" y="2083525"/>
          <a:ext cx="6069513" cy="2578127"/>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16150">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05548">
                  <a:extLst>
                    <a:ext uri="{9D8B030D-6E8A-4147-A177-3AD203B41FA5}">
                      <a16:colId xmlns:a16="http://schemas.microsoft.com/office/drawing/2014/main" val="3254101706"/>
                    </a:ext>
                  </a:extLst>
                </a:gridCol>
                <a:gridCol w="279400">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729481084"/>
                    </a:ext>
                  </a:extLst>
                </a:gridCol>
                <a:gridCol w="273786">
                  <a:extLst>
                    <a:ext uri="{9D8B030D-6E8A-4147-A177-3AD203B41FA5}">
                      <a16:colId xmlns:a16="http://schemas.microsoft.com/office/drawing/2014/main" val="2527660299"/>
                    </a:ext>
                  </a:extLst>
                </a:gridCol>
                <a:gridCol w="371409">
                  <a:extLst>
                    <a:ext uri="{9D8B030D-6E8A-4147-A177-3AD203B41FA5}">
                      <a16:colId xmlns:a16="http://schemas.microsoft.com/office/drawing/2014/main" val="3641075278"/>
                    </a:ext>
                  </a:extLst>
                </a:gridCol>
                <a:gridCol w="276404">
                  <a:extLst>
                    <a:ext uri="{9D8B030D-6E8A-4147-A177-3AD203B41FA5}">
                      <a16:colId xmlns:a16="http://schemas.microsoft.com/office/drawing/2014/main" val="3618613915"/>
                    </a:ext>
                  </a:extLst>
                </a:gridCol>
              </a:tblGrid>
              <a:tr h="178829">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8182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0372722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20/30/U4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986718768"/>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Account Receivable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28" name="表格 27">
            <a:extLst>
              <a:ext uri="{FF2B5EF4-FFF2-40B4-BE49-F238E27FC236}">
                <a16:creationId xmlns:a16="http://schemas.microsoft.com/office/drawing/2014/main" id="{BEC3ECE7-097A-BFAD-7477-7223C010AC00}"/>
              </a:ext>
            </a:extLst>
          </p:cNvPr>
          <p:cNvGraphicFramePr>
            <a:graphicFrameLocks noGrp="1"/>
          </p:cNvGraphicFramePr>
          <p:nvPr>
            <p:extLst>
              <p:ext uri="{D42A27DB-BD31-4B8C-83A1-F6EECF244321}">
                <p14:modId xmlns:p14="http://schemas.microsoft.com/office/powerpoint/2010/main" val="2428619125"/>
              </p:ext>
            </p:extLst>
          </p:nvPr>
        </p:nvGraphicFramePr>
        <p:xfrm>
          <a:off x="6156360" y="2127783"/>
          <a:ext cx="6026342" cy="2198996"/>
        </p:xfrm>
        <a:graphic>
          <a:graphicData uri="http://schemas.openxmlformats.org/drawingml/2006/table">
            <a:tbl>
              <a:tblPr/>
              <a:tblGrid>
                <a:gridCol w="462050">
                  <a:extLst>
                    <a:ext uri="{9D8B030D-6E8A-4147-A177-3AD203B41FA5}">
                      <a16:colId xmlns:a16="http://schemas.microsoft.com/office/drawing/2014/main" val="495084399"/>
                    </a:ext>
                  </a:extLst>
                </a:gridCol>
                <a:gridCol w="242760">
                  <a:extLst>
                    <a:ext uri="{9D8B030D-6E8A-4147-A177-3AD203B41FA5}">
                      <a16:colId xmlns:a16="http://schemas.microsoft.com/office/drawing/2014/main" val="3614210242"/>
                    </a:ext>
                  </a:extLst>
                </a:gridCol>
                <a:gridCol w="604625">
                  <a:extLst>
                    <a:ext uri="{9D8B030D-6E8A-4147-A177-3AD203B41FA5}">
                      <a16:colId xmlns:a16="http://schemas.microsoft.com/office/drawing/2014/main" val="1442124609"/>
                    </a:ext>
                  </a:extLst>
                </a:gridCol>
                <a:gridCol w="2032724">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66664">
                  <a:extLst>
                    <a:ext uri="{9D8B030D-6E8A-4147-A177-3AD203B41FA5}">
                      <a16:colId xmlns:a16="http://schemas.microsoft.com/office/drawing/2014/main" val="3254101706"/>
                    </a:ext>
                  </a:extLst>
                </a:gridCol>
                <a:gridCol w="516216">
                  <a:extLst>
                    <a:ext uri="{9D8B030D-6E8A-4147-A177-3AD203B41FA5}">
                      <a16:colId xmlns:a16="http://schemas.microsoft.com/office/drawing/2014/main" val="3712391277"/>
                    </a:ext>
                  </a:extLst>
                </a:gridCol>
                <a:gridCol w="351346">
                  <a:extLst>
                    <a:ext uri="{9D8B030D-6E8A-4147-A177-3AD203B41FA5}">
                      <a16:colId xmlns:a16="http://schemas.microsoft.com/office/drawing/2014/main" val="3310851188"/>
                    </a:ext>
                  </a:extLst>
                </a:gridCol>
                <a:gridCol w="259929">
                  <a:extLst>
                    <a:ext uri="{9D8B030D-6E8A-4147-A177-3AD203B41FA5}">
                      <a16:colId xmlns:a16="http://schemas.microsoft.com/office/drawing/2014/main" val="2527660299"/>
                    </a:ext>
                  </a:extLst>
                </a:gridCol>
                <a:gridCol w="392431">
                  <a:extLst>
                    <a:ext uri="{9D8B030D-6E8A-4147-A177-3AD203B41FA5}">
                      <a16:colId xmlns:a16="http://schemas.microsoft.com/office/drawing/2014/main" val="3641075278"/>
                    </a:ext>
                  </a:extLst>
                </a:gridCol>
                <a:gridCol w="292049">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LTAR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20/30/U4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13590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986718768"/>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Account Receivable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0" name="表格 29">
            <a:extLst>
              <a:ext uri="{FF2B5EF4-FFF2-40B4-BE49-F238E27FC236}">
                <a16:creationId xmlns:a16="http://schemas.microsoft.com/office/drawing/2014/main" id="{C9E18B9A-E026-D97C-014F-8795A54BA4F7}"/>
              </a:ext>
            </a:extLst>
          </p:cNvPr>
          <p:cNvGraphicFramePr>
            <a:graphicFrameLocks noGrp="1"/>
          </p:cNvGraphicFramePr>
          <p:nvPr>
            <p:extLst>
              <p:ext uri="{D42A27DB-BD31-4B8C-83A1-F6EECF244321}">
                <p14:modId xmlns:p14="http://schemas.microsoft.com/office/powerpoint/2010/main" val="2500731389"/>
              </p:ext>
            </p:extLst>
          </p:nvPr>
        </p:nvGraphicFramePr>
        <p:xfrm>
          <a:off x="117673" y="477610"/>
          <a:ext cx="5802601" cy="1575670"/>
        </p:xfrm>
        <a:graphic>
          <a:graphicData uri="http://schemas.openxmlformats.org/drawingml/2006/table">
            <a:tbl>
              <a:tblPr firstRow="1" bandRow="1">
                <a:tableStyleId>{3C2FFA5D-87B4-456A-9821-1D502468CF0F}</a:tableStyleId>
              </a:tblPr>
              <a:tblGrid>
                <a:gridCol w="632072">
                  <a:extLst>
                    <a:ext uri="{9D8B030D-6E8A-4147-A177-3AD203B41FA5}">
                      <a16:colId xmlns:a16="http://schemas.microsoft.com/office/drawing/2014/main" val="869603910"/>
                    </a:ext>
                  </a:extLst>
                </a:gridCol>
                <a:gridCol w="747395">
                  <a:extLst>
                    <a:ext uri="{9D8B030D-6E8A-4147-A177-3AD203B41FA5}">
                      <a16:colId xmlns:a16="http://schemas.microsoft.com/office/drawing/2014/main" val="238663902"/>
                    </a:ext>
                  </a:extLst>
                </a:gridCol>
                <a:gridCol w="549393">
                  <a:extLst>
                    <a:ext uri="{9D8B030D-6E8A-4147-A177-3AD203B41FA5}">
                      <a16:colId xmlns:a16="http://schemas.microsoft.com/office/drawing/2014/main" val="4114365151"/>
                    </a:ext>
                  </a:extLst>
                </a:gridCol>
                <a:gridCol w="661324">
                  <a:extLst>
                    <a:ext uri="{9D8B030D-6E8A-4147-A177-3AD203B41FA5}">
                      <a16:colId xmlns:a16="http://schemas.microsoft.com/office/drawing/2014/main" val="4075178046"/>
                    </a:ext>
                  </a:extLst>
                </a:gridCol>
                <a:gridCol w="797817">
                  <a:extLst>
                    <a:ext uri="{9D8B030D-6E8A-4147-A177-3AD203B41FA5}">
                      <a16:colId xmlns:a16="http://schemas.microsoft.com/office/drawing/2014/main" val="973533418"/>
                    </a:ext>
                  </a:extLst>
                </a:gridCol>
                <a:gridCol w="711307">
                  <a:extLst>
                    <a:ext uri="{9D8B030D-6E8A-4147-A177-3AD203B41FA5}">
                      <a16:colId xmlns:a16="http://schemas.microsoft.com/office/drawing/2014/main" val="2377711782"/>
                    </a:ext>
                  </a:extLst>
                </a:gridCol>
                <a:gridCol w="711307">
                  <a:extLst>
                    <a:ext uri="{9D8B030D-6E8A-4147-A177-3AD203B41FA5}">
                      <a16:colId xmlns:a16="http://schemas.microsoft.com/office/drawing/2014/main" val="1705285035"/>
                    </a:ext>
                  </a:extLst>
                </a:gridCol>
                <a:gridCol w="991986">
                  <a:extLst>
                    <a:ext uri="{9D8B030D-6E8A-4147-A177-3AD203B41FA5}">
                      <a16:colId xmlns:a16="http://schemas.microsoft.com/office/drawing/2014/main" val="221569069"/>
                    </a:ext>
                  </a:extLst>
                </a:gridCol>
              </a:tblGrid>
              <a:tr h="55381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32670">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432670">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a:t>
                      </a:r>
                    </a:p>
                    <a:p>
                      <a:r>
                        <a:rPr lang="en-US" altLang="zh-CN" sz="1050">
                          <a:solidFill>
                            <a:sysClr val="windowText" lastClr="000000"/>
                          </a:solidFill>
                        </a:rPr>
                        <a:t>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3" name="文本框 32">
            <a:extLst>
              <a:ext uri="{FF2B5EF4-FFF2-40B4-BE49-F238E27FC236}">
                <a16:creationId xmlns:a16="http://schemas.microsoft.com/office/drawing/2014/main" id="{1A1B4F04-4491-7B3A-6CE8-5A8AC081CE18}"/>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DaaS_S&amp;D_MSA&amp;MLA</a:t>
            </a:r>
            <a:endParaRPr lang="zh-CN" altLang="en-US" sz="2000" b="1"/>
          </a:p>
        </p:txBody>
      </p:sp>
      <p:cxnSp>
        <p:nvCxnSpPr>
          <p:cNvPr id="4" name="直接连接符 3">
            <a:extLst>
              <a:ext uri="{FF2B5EF4-FFF2-40B4-BE49-F238E27FC236}">
                <a16:creationId xmlns:a16="http://schemas.microsoft.com/office/drawing/2014/main" id="{B87AD0EB-EC93-DB55-49DE-B14883F55E98}"/>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0" name="表格 9">
            <a:extLst>
              <a:ext uri="{FF2B5EF4-FFF2-40B4-BE49-F238E27FC236}">
                <a16:creationId xmlns:a16="http://schemas.microsoft.com/office/drawing/2014/main" id="{EBD0C57F-10F0-8EA1-993E-11DEF272251B}"/>
              </a:ext>
            </a:extLst>
          </p:cNvPr>
          <p:cNvGraphicFramePr>
            <a:graphicFrameLocks noGrp="1"/>
          </p:cNvGraphicFramePr>
          <p:nvPr>
            <p:extLst>
              <p:ext uri="{D42A27DB-BD31-4B8C-83A1-F6EECF244321}">
                <p14:modId xmlns:p14="http://schemas.microsoft.com/office/powerpoint/2010/main" val="3621189880"/>
              </p:ext>
            </p:extLst>
          </p:nvPr>
        </p:nvGraphicFramePr>
        <p:xfrm>
          <a:off x="6184642" y="477610"/>
          <a:ext cx="5968372" cy="1554480"/>
        </p:xfrm>
        <a:graphic>
          <a:graphicData uri="http://schemas.openxmlformats.org/drawingml/2006/table">
            <a:tbl>
              <a:tblPr firstRow="1" bandRow="1">
                <a:tableStyleId>{3C2FFA5D-87B4-456A-9821-1D502468CF0F}</a:tableStyleId>
              </a:tblPr>
              <a:tblGrid>
                <a:gridCol w="650213">
                  <a:extLst>
                    <a:ext uri="{9D8B030D-6E8A-4147-A177-3AD203B41FA5}">
                      <a16:colId xmlns:a16="http://schemas.microsoft.com/office/drawing/2014/main" val="869603910"/>
                    </a:ext>
                  </a:extLst>
                </a:gridCol>
                <a:gridCol w="724894">
                  <a:extLst>
                    <a:ext uri="{9D8B030D-6E8A-4147-A177-3AD203B41FA5}">
                      <a16:colId xmlns:a16="http://schemas.microsoft.com/office/drawing/2014/main" val="238663902"/>
                    </a:ext>
                  </a:extLst>
                </a:gridCol>
                <a:gridCol w="609114">
                  <a:extLst>
                    <a:ext uri="{9D8B030D-6E8A-4147-A177-3AD203B41FA5}">
                      <a16:colId xmlns:a16="http://schemas.microsoft.com/office/drawing/2014/main" val="4114365151"/>
                    </a:ext>
                  </a:extLst>
                </a:gridCol>
                <a:gridCol w="680305">
                  <a:extLst>
                    <a:ext uri="{9D8B030D-6E8A-4147-A177-3AD203B41FA5}">
                      <a16:colId xmlns:a16="http://schemas.microsoft.com/office/drawing/2014/main" val="4075178046"/>
                    </a:ext>
                  </a:extLst>
                </a:gridCol>
                <a:gridCol w="820716">
                  <a:extLst>
                    <a:ext uri="{9D8B030D-6E8A-4147-A177-3AD203B41FA5}">
                      <a16:colId xmlns:a16="http://schemas.microsoft.com/office/drawing/2014/main" val="973533418"/>
                    </a:ext>
                  </a:extLst>
                </a:gridCol>
                <a:gridCol w="731723">
                  <a:extLst>
                    <a:ext uri="{9D8B030D-6E8A-4147-A177-3AD203B41FA5}">
                      <a16:colId xmlns:a16="http://schemas.microsoft.com/office/drawing/2014/main" val="2377711782"/>
                    </a:ext>
                  </a:extLst>
                </a:gridCol>
                <a:gridCol w="731723">
                  <a:extLst>
                    <a:ext uri="{9D8B030D-6E8A-4147-A177-3AD203B41FA5}">
                      <a16:colId xmlns:a16="http://schemas.microsoft.com/office/drawing/2014/main" val="1705285035"/>
                    </a:ext>
                  </a:extLst>
                </a:gridCol>
                <a:gridCol w="1019684">
                  <a:extLst>
                    <a:ext uri="{9D8B030D-6E8A-4147-A177-3AD203B41FA5}">
                      <a16:colId xmlns:a16="http://schemas.microsoft.com/office/drawing/2014/main" val="221569069"/>
                    </a:ext>
                  </a:extLst>
                </a:gridCol>
              </a:tblGrid>
              <a:tr h="40822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939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9392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a:t>
                      </a:r>
                    </a:p>
                    <a:p>
                      <a:r>
                        <a:rPr lang="en-US" altLang="zh-CN" sz="1050">
                          <a:solidFill>
                            <a:sysClr val="windowText" lastClr="000000"/>
                          </a:solidFill>
                        </a:rPr>
                        <a:t>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13" name="矩形 12">
            <a:extLst>
              <a:ext uri="{FF2B5EF4-FFF2-40B4-BE49-F238E27FC236}">
                <a16:creationId xmlns:a16="http://schemas.microsoft.com/office/drawing/2014/main" id="{AAC923C5-879E-FF6A-C302-13C081054ED3}"/>
              </a:ext>
            </a:extLst>
          </p:cNvPr>
          <p:cNvSpPr/>
          <p:nvPr/>
        </p:nvSpPr>
        <p:spPr>
          <a:xfrm>
            <a:off x="461574" y="4326779"/>
            <a:ext cx="5566342" cy="364738"/>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对话气泡: 矩形 2">
            <a:extLst>
              <a:ext uri="{FF2B5EF4-FFF2-40B4-BE49-F238E27FC236}">
                <a16:creationId xmlns:a16="http://schemas.microsoft.com/office/drawing/2014/main" id="{A182B228-5205-8F5A-37A1-6DEFB425A268}"/>
              </a:ext>
            </a:extLst>
          </p:cNvPr>
          <p:cNvSpPr/>
          <p:nvPr/>
        </p:nvSpPr>
        <p:spPr>
          <a:xfrm>
            <a:off x="-2463469" y="3211427"/>
            <a:ext cx="1931841" cy="1243979"/>
          </a:xfrm>
          <a:prstGeom prst="wedgeRectCallout">
            <a:avLst>
              <a:gd name="adj1" fmla="val 103406"/>
              <a:gd name="adj2" fmla="val -1137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If Device was lost or stolen, then S&amp;D will recognize broker sales on ET request</a:t>
            </a:r>
            <a:endParaRPr lang="zh-CN" altLang="en-US" sz="1200">
              <a:solidFill>
                <a:schemeClr val="tx1"/>
              </a:solidFill>
            </a:endParaRPr>
          </a:p>
        </p:txBody>
      </p:sp>
      <p:sp>
        <p:nvSpPr>
          <p:cNvPr id="5" name="矩形 4">
            <a:extLst>
              <a:ext uri="{FF2B5EF4-FFF2-40B4-BE49-F238E27FC236}">
                <a16:creationId xmlns:a16="http://schemas.microsoft.com/office/drawing/2014/main" id="{4763BA33-7FC0-8187-4420-A437CBC5572A}"/>
              </a:ext>
            </a:extLst>
          </p:cNvPr>
          <p:cNvSpPr/>
          <p:nvPr/>
        </p:nvSpPr>
        <p:spPr>
          <a:xfrm>
            <a:off x="6654757" y="3971413"/>
            <a:ext cx="5498257" cy="364738"/>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对话气泡: 矩形 5">
            <a:extLst>
              <a:ext uri="{FF2B5EF4-FFF2-40B4-BE49-F238E27FC236}">
                <a16:creationId xmlns:a16="http://schemas.microsoft.com/office/drawing/2014/main" id="{062661D6-6413-161D-50A6-34DAC2D0268E}"/>
              </a:ext>
            </a:extLst>
          </p:cNvPr>
          <p:cNvSpPr/>
          <p:nvPr/>
        </p:nvSpPr>
        <p:spPr>
          <a:xfrm>
            <a:off x="347094" y="4928893"/>
            <a:ext cx="5378015" cy="373390"/>
          </a:xfrm>
          <a:prstGeom prst="wedgeRectCallout">
            <a:avLst>
              <a:gd name="adj1" fmla="val 505"/>
              <a:gd name="adj2" fmla="val -10395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ongoing service </a:t>
            </a:r>
            <a:r>
              <a:rPr lang="en-US" altLang="zh-CN" sz="1200" err="1">
                <a:solidFill>
                  <a:schemeClr val="tx1"/>
                </a:solidFill>
              </a:rPr>
              <a:t>PoB</a:t>
            </a:r>
            <a:r>
              <a:rPr lang="en-US" altLang="zh-CN" sz="1200">
                <a:solidFill>
                  <a:schemeClr val="tx1"/>
                </a:solidFill>
              </a:rPr>
              <a:t> have not met upon ET, so extra payment need to be recognized under service revenue​</a:t>
            </a:r>
            <a:endParaRPr lang="zh-CN" altLang="en-US" sz="1000">
              <a:solidFill>
                <a:schemeClr val="tx1"/>
              </a:solidFill>
            </a:endParaRPr>
          </a:p>
        </p:txBody>
      </p:sp>
      <p:sp>
        <p:nvSpPr>
          <p:cNvPr id="7" name="对话气泡: 矩形 11">
            <a:extLst>
              <a:ext uri="{FF2B5EF4-FFF2-40B4-BE49-F238E27FC236}">
                <a16:creationId xmlns:a16="http://schemas.microsoft.com/office/drawing/2014/main" id="{F6C8A2D0-EE55-C740-DA0D-22A2831016C2}"/>
              </a:ext>
            </a:extLst>
          </p:cNvPr>
          <p:cNvSpPr/>
          <p:nvPr/>
        </p:nvSpPr>
        <p:spPr>
          <a:xfrm>
            <a:off x="-1278925" y="5032521"/>
            <a:ext cx="1307455" cy="1941861"/>
          </a:xfrm>
          <a:prstGeom prst="wedgeRectCallout">
            <a:avLst>
              <a:gd name="adj1" fmla="val 83005"/>
              <a:gd name="adj2" fmla="val -8950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Interco billing, ARS was recognized as service since one-off billing(which was different from BRIM,)</a:t>
            </a:r>
          </a:p>
        </p:txBody>
      </p:sp>
    </p:spTree>
    <p:extLst>
      <p:ext uri="{BB962C8B-B14F-4D97-AF65-F5344CB8AC3E}">
        <p14:creationId xmlns:p14="http://schemas.microsoft.com/office/powerpoint/2010/main" val="137934583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16064F0-8916-654E-B006-318993F2A1B0}"/>
            </a:ext>
          </a:extLst>
        </p:cNvPr>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19C5531C-6E4A-0AFE-026E-8FEFAE25CA93}"/>
              </a:ext>
            </a:extLst>
          </p:cNvPr>
          <p:cNvGraphicFramePr>
            <a:graphicFrameLocks noGrp="1"/>
          </p:cNvGraphicFramePr>
          <p:nvPr/>
        </p:nvGraphicFramePr>
        <p:xfrm>
          <a:off x="64846" y="2113390"/>
          <a:ext cx="5942513" cy="2578127"/>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16150">
                  <a:extLst>
                    <a:ext uri="{9D8B030D-6E8A-4147-A177-3AD203B41FA5}">
                      <a16:colId xmlns:a16="http://schemas.microsoft.com/office/drawing/2014/main" val="3603859997"/>
                    </a:ext>
                  </a:extLst>
                </a:gridCol>
                <a:gridCol w="342048">
                  <a:extLst>
                    <a:ext uri="{9D8B030D-6E8A-4147-A177-3AD203B41FA5}">
                      <a16:colId xmlns:a16="http://schemas.microsoft.com/office/drawing/2014/main" val="4076488391"/>
                    </a:ext>
                  </a:extLst>
                </a:gridCol>
                <a:gridCol w="342048">
                  <a:extLst>
                    <a:ext uri="{9D8B030D-6E8A-4147-A177-3AD203B41FA5}">
                      <a16:colId xmlns:a16="http://schemas.microsoft.com/office/drawing/2014/main" val="3254101706"/>
                    </a:ext>
                  </a:extLst>
                </a:gridCol>
                <a:gridCol w="279400">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729481084"/>
                    </a:ext>
                  </a:extLst>
                </a:gridCol>
                <a:gridCol w="273786">
                  <a:extLst>
                    <a:ext uri="{9D8B030D-6E8A-4147-A177-3AD203B41FA5}">
                      <a16:colId xmlns:a16="http://schemas.microsoft.com/office/drawing/2014/main" val="2527660299"/>
                    </a:ext>
                  </a:extLst>
                </a:gridCol>
                <a:gridCol w="371409">
                  <a:extLst>
                    <a:ext uri="{9D8B030D-6E8A-4147-A177-3AD203B41FA5}">
                      <a16:colId xmlns:a16="http://schemas.microsoft.com/office/drawing/2014/main" val="3641075278"/>
                    </a:ext>
                  </a:extLst>
                </a:gridCol>
                <a:gridCol w="276404">
                  <a:extLst>
                    <a:ext uri="{9D8B030D-6E8A-4147-A177-3AD203B41FA5}">
                      <a16:colId xmlns:a16="http://schemas.microsoft.com/office/drawing/2014/main" val="3618613915"/>
                    </a:ext>
                  </a:extLst>
                </a:gridCol>
              </a:tblGrid>
              <a:tr h="178829">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8182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0372722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20/30/U4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Account Receivable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28" name="表格 27">
            <a:extLst>
              <a:ext uri="{FF2B5EF4-FFF2-40B4-BE49-F238E27FC236}">
                <a16:creationId xmlns:a16="http://schemas.microsoft.com/office/drawing/2014/main" id="{DA5BDEB0-E640-92B2-790A-7119DA295152}"/>
              </a:ext>
            </a:extLst>
          </p:cNvPr>
          <p:cNvGraphicFramePr>
            <a:graphicFrameLocks noGrp="1"/>
          </p:cNvGraphicFramePr>
          <p:nvPr/>
        </p:nvGraphicFramePr>
        <p:xfrm>
          <a:off x="6184641" y="2127783"/>
          <a:ext cx="5968374" cy="2198996"/>
        </p:xfrm>
        <a:graphic>
          <a:graphicData uri="http://schemas.openxmlformats.org/drawingml/2006/table">
            <a:tbl>
              <a:tblPr/>
              <a:tblGrid>
                <a:gridCol w="462050">
                  <a:extLst>
                    <a:ext uri="{9D8B030D-6E8A-4147-A177-3AD203B41FA5}">
                      <a16:colId xmlns:a16="http://schemas.microsoft.com/office/drawing/2014/main" val="495084399"/>
                    </a:ext>
                  </a:extLst>
                </a:gridCol>
                <a:gridCol w="242760">
                  <a:extLst>
                    <a:ext uri="{9D8B030D-6E8A-4147-A177-3AD203B41FA5}">
                      <a16:colId xmlns:a16="http://schemas.microsoft.com/office/drawing/2014/main" val="3614210242"/>
                    </a:ext>
                  </a:extLst>
                </a:gridCol>
                <a:gridCol w="604625">
                  <a:extLst>
                    <a:ext uri="{9D8B030D-6E8A-4147-A177-3AD203B41FA5}">
                      <a16:colId xmlns:a16="http://schemas.microsoft.com/office/drawing/2014/main" val="1442124609"/>
                    </a:ext>
                  </a:extLst>
                </a:gridCol>
                <a:gridCol w="2032724">
                  <a:extLst>
                    <a:ext uri="{9D8B030D-6E8A-4147-A177-3AD203B41FA5}">
                      <a16:colId xmlns:a16="http://schemas.microsoft.com/office/drawing/2014/main" val="3603859997"/>
                    </a:ext>
                  </a:extLst>
                </a:gridCol>
                <a:gridCol w="347580">
                  <a:extLst>
                    <a:ext uri="{9D8B030D-6E8A-4147-A177-3AD203B41FA5}">
                      <a16:colId xmlns:a16="http://schemas.microsoft.com/office/drawing/2014/main" val="4076488391"/>
                    </a:ext>
                  </a:extLst>
                </a:gridCol>
                <a:gridCol w="466664">
                  <a:extLst>
                    <a:ext uri="{9D8B030D-6E8A-4147-A177-3AD203B41FA5}">
                      <a16:colId xmlns:a16="http://schemas.microsoft.com/office/drawing/2014/main" val="3254101706"/>
                    </a:ext>
                  </a:extLst>
                </a:gridCol>
                <a:gridCol w="516216">
                  <a:extLst>
                    <a:ext uri="{9D8B030D-6E8A-4147-A177-3AD203B41FA5}">
                      <a16:colId xmlns:a16="http://schemas.microsoft.com/office/drawing/2014/main" val="3712391277"/>
                    </a:ext>
                  </a:extLst>
                </a:gridCol>
                <a:gridCol w="351346">
                  <a:extLst>
                    <a:ext uri="{9D8B030D-6E8A-4147-A177-3AD203B41FA5}">
                      <a16:colId xmlns:a16="http://schemas.microsoft.com/office/drawing/2014/main" val="3310851188"/>
                    </a:ext>
                  </a:extLst>
                </a:gridCol>
                <a:gridCol w="259929">
                  <a:extLst>
                    <a:ext uri="{9D8B030D-6E8A-4147-A177-3AD203B41FA5}">
                      <a16:colId xmlns:a16="http://schemas.microsoft.com/office/drawing/2014/main" val="2527660299"/>
                    </a:ext>
                  </a:extLst>
                </a:gridCol>
                <a:gridCol w="392431">
                  <a:extLst>
                    <a:ext uri="{9D8B030D-6E8A-4147-A177-3AD203B41FA5}">
                      <a16:colId xmlns:a16="http://schemas.microsoft.com/office/drawing/2014/main" val="3641075278"/>
                    </a:ext>
                  </a:extLst>
                </a:gridCol>
                <a:gridCol w="292049">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LTAR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20/30/U4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13590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Account Receivable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0" name="表格 29">
            <a:extLst>
              <a:ext uri="{FF2B5EF4-FFF2-40B4-BE49-F238E27FC236}">
                <a16:creationId xmlns:a16="http://schemas.microsoft.com/office/drawing/2014/main" id="{A6F6AB00-DF11-493C-3BA3-C5E33986F79A}"/>
              </a:ext>
            </a:extLst>
          </p:cNvPr>
          <p:cNvGraphicFramePr>
            <a:graphicFrameLocks noGrp="1"/>
          </p:cNvGraphicFramePr>
          <p:nvPr/>
        </p:nvGraphicFramePr>
        <p:xfrm>
          <a:off x="117673" y="477610"/>
          <a:ext cx="5802601" cy="1575670"/>
        </p:xfrm>
        <a:graphic>
          <a:graphicData uri="http://schemas.openxmlformats.org/drawingml/2006/table">
            <a:tbl>
              <a:tblPr firstRow="1" bandRow="1">
                <a:tableStyleId>{3C2FFA5D-87B4-456A-9821-1D502468CF0F}</a:tableStyleId>
              </a:tblPr>
              <a:tblGrid>
                <a:gridCol w="632072">
                  <a:extLst>
                    <a:ext uri="{9D8B030D-6E8A-4147-A177-3AD203B41FA5}">
                      <a16:colId xmlns:a16="http://schemas.microsoft.com/office/drawing/2014/main" val="869603910"/>
                    </a:ext>
                  </a:extLst>
                </a:gridCol>
                <a:gridCol w="747395">
                  <a:extLst>
                    <a:ext uri="{9D8B030D-6E8A-4147-A177-3AD203B41FA5}">
                      <a16:colId xmlns:a16="http://schemas.microsoft.com/office/drawing/2014/main" val="238663902"/>
                    </a:ext>
                  </a:extLst>
                </a:gridCol>
                <a:gridCol w="549393">
                  <a:extLst>
                    <a:ext uri="{9D8B030D-6E8A-4147-A177-3AD203B41FA5}">
                      <a16:colId xmlns:a16="http://schemas.microsoft.com/office/drawing/2014/main" val="4114365151"/>
                    </a:ext>
                  </a:extLst>
                </a:gridCol>
                <a:gridCol w="661324">
                  <a:extLst>
                    <a:ext uri="{9D8B030D-6E8A-4147-A177-3AD203B41FA5}">
                      <a16:colId xmlns:a16="http://schemas.microsoft.com/office/drawing/2014/main" val="4075178046"/>
                    </a:ext>
                  </a:extLst>
                </a:gridCol>
                <a:gridCol w="797817">
                  <a:extLst>
                    <a:ext uri="{9D8B030D-6E8A-4147-A177-3AD203B41FA5}">
                      <a16:colId xmlns:a16="http://schemas.microsoft.com/office/drawing/2014/main" val="973533418"/>
                    </a:ext>
                  </a:extLst>
                </a:gridCol>
                <a:gridCol w="711307">
                  <a:extLst>
                    <a:ext uri="{9D8B030D-6E8A-4147-A177-3AD203B41FA5}">
                      <a16:colId xmlns:a16="http://schemas.microsoft.com/office/drawing/2014/main" val="2377711782"/>
                    </a:ext>
                  </a:extLst>
                </a:gridCol>
                <a:gridCol w="711307">
                  <a:extLst>
                    <a:ext uri="{9D8B030D-6E8A-4147-A177-3AD203B41FA5}">
                      <a16:colId xmlns:a16="http://schemas.microsoft.com/office/drawing/2014/main" val="1705285035"/>
                    </a:ext>
                  </a:extLst>
                </a:gridCol>
                <a:gridCol w="991986">
                  <a:extLst>
                    <a:ext uri="{9D8B030D-6E8A-4147-A177-3AD203B41FA5}">
                      <a16:colId xmlns:a16="http://schemas.microsoft.com/office/drawing/2014/main" val="221569069"/>
                    </a:ext>
                  </a:extLst>
                </a:gridCol>
              </a:tblGrid>
              <a:tr h="55381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32670">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432670">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a:t>
                      </a:r>
                    </a:p>
                    <a:p>
                      <a:r>
                        <a:rPr lang="en-US" altLang="zh-CN" sz="1050">
                          <a:solidFill>
                            <a:sysClr val="windowText" lastClr="000000"/>
                          </a:solidFill>
                        </a:rPr>
                        <a:t>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3" name="文本框 32">
            <a:extLst>
              <a:ext uri="{FF2B5EF4-FFF2-40B4-BE49-F238E27FC236}">
                <a16:creationId xmlns:a16="http://schemas.microsoft.com/office/drawing/2014/main" id="{DD1414E3-49D5-9854-7F18-8A335464C064}"/>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DaaS_S&amp;D_MSA&amp;MLA</a:t>
            </a:r>
            <a:endParaRPr lang="zh-CN" altLang="en-US" sz="2000" b="1"/>
          </a:p>
        </p:txBody>
      </p:sp>
      <p:cxnSp>
        <p:nvCxnSpPr>
          <p:cNvPr id="4" name="直接连接符 3">
            <a:extLst>
              <a:ext uri="{FF2B5EF4-FFF2-40B4-BE49-F238E27FC236}">
                <a16:creationId xmlns:a16="http://schemas.microsoft.com/office/drawing/2014/main" id="{5EAC3BD3-D921-6EFB-81E5-578075B95830}"/>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0" name="表格 9">
            <a:extLst>
              <a:ext uri="{FF2B5EF4-FFF2-40B4-BE49-F238E27FC236}">
                <a16:creationId xmlns:a16="http://schemas.microsoft.com/office/drawing/2014/main" id="{FA48E7CE-EB22-DBC8-4310-970043FC363C}"/>
              </a:ext>
            </a:extLst>
          </p:cNvPr>
          <p:cNvGraphicFramePr>
            <a:graphicFrameLocks noGrp="1"/>
          </p:cNvGraphicFramePr>
          <p:nvPr/>
        </p:nvGraphicFramePr>
        <p:xfrm>
          <a:off x="6184642" y="477610"/>
          <a:ext cx="5968372" cy="1554480"/>
        </p:xfrm>
        <a:graphic>
          <a:graphicData uri="http://schemas.openxmlformats.org/drawingml/2006/table">
            <a:tbl>
              <a:tblPr firstRow="1" bandRow="1">
                <a:tableStyleId>{3C2FFA5D-87B4-456A-9821-1D502468CF0F}</a:tableStyleId>
              </a:tblPr>
              <a:tblGrid>
                <a:gridCol w="650213">
                  <a:extLst>
                    <a:ext uri="{9D8B030D-6E8A-4147-A177-3AD203B41FA5}">
                      <a16:colId xmlns:a16="http://schemas.microsoft.com/office/drawing/2014/main" val="869603910"/>
                    </a:ext>
                  </a:extLst>
                </a:gridCol>
                <a:gridCol w="724894">
                  <a:extLst>
                    <a:ext uri="{9D8B030D-6E8A-4147-A177-3AD203B41FA5}">
                      <a16:colId xmlns:a16="http://schemas.microsoft.com/office/drawing/2014/main" val="238663902"/>
                    </a:ext>
                  </a:extLst>
                </a:gridCol>
                <a:gridCol w="609114">
                  <a:extLst>
                    <a:ext uri="{9D8B030D-6E8A-4147-A177-3AD203B41FA5}">
                      <a16:colId xmlns:a16="http://schemas.microsoft.com/office/drawing/2014/main" val="4114365151"/>
                    </a:ext>
                  </a:extLst>
                </a:gridCol>
                <a:gridCol w="680305">
                  <a:extLst>
                    <a:ext uri="{9D8B030D-6E8A-4147-A177-3AD203B41FA5}">
                      <a16:colId xmlns:a16="http://schemas.microsoft.com/office/drawing/2014/main" val="4075178046"/>
                    </a:ext>
                  </a:extLst>
                </a:gridCol>
                <a:gridCol w="820716">
                  <a:extLst>
                    <a:ext uri="{9D8B030D-6E8A-4147-A177-3AD203B41FA5}">
                      <a16:colId xmlns:a16="http://schemas.microsoft.com/office/drawing/2014/main" val="973533418"/>
                    </a:ext>
                  </a:extLst>
                </a:gridCol>
                <a:gridCol w="731723">
                  <a:extLst>
                    <a:ext uri="{9D8B030D-6E8A-4147-A177-3AD203B41FA5}">
                      <a16:colId xmlns:a16="http://schemas.microsoft.com/office/drawing/2014/main" val="2377711782"/>
                    </a:ext>
                  </a:extLst>
                </a:gridCol>
                <a:gridCol w="731723">
                  <a:extLst>
                    <a:ext uri="{9D8B030D-6E8A-4147-A177-3AD203B41FA5}">
                      <a16:colId xmlns:a16="http://schemas.microsoft.com/office/drawing/2014/main" val="1705285035"/>
                    </a:ext>
                  </a:extLst>
                </a:gridCol>
                <a:gridCol w="1019684">
                  <a:extLst>
                    <a:ext uri="{9D8B030D-6E8A-4147-A177-3AD203B41FA5}">
                      <a16:colId xmlns:a16="http://schemas.microsoft.com/office/drawing/2014/main" val="221569069"/>
                    </a:ext>
                  </a:extLst>
                </a:gridCol>
              </a:tblGrid>
              <a:tr h="40822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939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9392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a:t>
                      </a:r>
                    </a:p>
                    <a:p>
                      <a:r>
                        <a:rPr lang="en-US" altLang="zh-CN" sz="1050">
                          <a:solidFill>
                            <a:sysClr val="windowText" lastClr="000000"/>
                          </a:solidFill>
                        </a:rPr>
                        <a:t>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13" name="矩形 12">
            <a:extLst>
              <a:ext uri="{FF2B5EF4-FFF2-40B4-BE49-F238E27FC236}">
                <a16:creationId xmlns:a16="http://schemas.microsoft.com/office/drawing/2014/main" id="{31E9224A-5323-A47B-3E28-E133B4199A93}"/>
              </a:ext>
            </a:extLst>
          </p:cNvPr>
          <p:cNvSpPr/>
          <p:nvPr/>
        </p:nvSpPr>
        <p:spPr>
          <a:xfrm>
            <a:off x="461574" y="4326779"/>
            <a:ext cx="5566342" cy="364738"/>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16" name="表格 15">
            <a:extLst>
              <a:ext uri="{FF2B5EF4-FFF2-40B4-BE49-F238E27FC236}">
                <a16:creationId xmlns:a16="http://schemas.microsoft.com/office/drawing/2014/main" id="{29219FD9-96F0-1612-055B-14B03276308B}"/>
              </a:ext>
            </a:extLst>
          </p:cNvPr>
          <p:cNvGraphicFramePr>
            <a:graphicFrameLocks noGrp="1"/>
          </p:cNvGraphicFramePr>
          <p:nvPr/>
        </p:nvGraphicFramePr>
        <p:xfrm>
          <a:off x="94256" y="5402377"/>
          <a:ext cx="5883692" cy="946970"/>
        </p:xfrm>
        <a:graphic>
          <a:graphicData uri="http://schemas.openxmlformats.org/drawingml/2006/table">
            <a:tbl>
              <a:tblPr/>
              <a:tblGrid>
                <a:gridCol w="441324">
                  <a:extLst>
                    <a:ext uri="{9D8B030D-6E8A-4147-A177-3AD203B41FA5}">
                      <a16:colId xmlns:a16="http://schemas.microsoft.com/office/drawing/2014/main" val="495084399"/>
                    </a:ext>
                  </a:extLst>
                </a:gridCol>
                <a:gridCol w="277615">
                  <a:extLst>
                    <a:ext uri="{9D8B030D-6E8A-4147-A177-3AD203B41FA5}">
                      <a16:colId xmlns:a16="http://schemas.microsoft.com/office/drawing/2014/main" val="3614210242"/>
                    </a:ext>
                  </a:extLst>
                </a:gridCol>
                <a:gridCol w="660690">
                  <a:extLst>
                    <a:ext uri="{9D8B030D-6E8A-4147-A177-3AD203B41FA5}">
                      <a16:colId xmlns:a16="http://schemas.microsoft.com/office/drawing/2014/main" val="1442124609"/>
                    </a:ext>
                  </a:extLst>
                </a:gridCol>
                <a:gridCol w="1950438">
                  <a:extLst>
                    <a:ext uri="{9D8B030D-6E8A-4147-A177-3AD203B41FA5}">
                      <a16:colId xmlns:a16="http://schemas.microsoft.com/office/drawing/2014/main" val="3603859997"/>
                    </a:ext>
                  </a:extLst>
                </a:gridCol>
                <a:gridCol w="402251">
                  <a:extLst>
                    <a:ext uri="{9D8B030D-6E8A-4147-A177-3AD203B41FA5}">
                      <a16:colId xmlns:a16="http://schemas.microsoft.com/office/drawing/2014/main" val="4076488391"/>
                    </a:ext>
                  </a:extLst>
                </a:gridCol>
                <a:gridCol w="402251">
                  <a:extLst>
                    <a:ext uri="{9D8B030D-6E8A-4147-A177-3AD203B41FA5}">
                      <a16:colId xmlns:a16="http://schemas.microsoft.com/office/drawing/2014/main" val="3254101706"/>
                    </a:ext>
                  </a:extLst>
                </a:gridCol>
                <a:gridCol w="322589">
                  <a:extLst>
                    <a:ext uri="{9D8B030D-6E8A-4147-A177-3AD203B41FA5}">
                      <a16:colId xmlns:a16="http://schemas.microsoft.com/office/drawing/2014/main" val="3712391277"/>
                    </a:ext>
                  </a:extLst>
                </a:gridCol>
                <a:gridCol w="316106">
                  <a:extLst>
                    <a:ext uri="{9D8B030D-6E8A-4147-A177-3AD203B41FA5}">
                      <a16:colId xmlns:a16="http://schemas.microsoft.com/office/drawing/2014/main" val="2728947310"/>
                    </a:ext>
                  </a:extLst>
                </a:gridCol>
                <a:gridCol w="316106">
                  <a:extLst>
                    <a:ext uri="{9D8B030D-6E8A-4147-A177-3AD203B41FA5}">
                      <a16:colId xmlns:a16="http://schemas.microsoft.com/office/drawing/2014/main" val="2527660299"/>
                    </a:ext>
                  </a:extLst>
                </a:gridCol>
                <a:gridCol w="455406">
                  <a:extLst>
                    <a:ext uri="{9D8B030D-6E8A-4147-A177-3AD203B41FA5}">
                      <a16:colId xmlns:a16="http://schemas.microsoft.com/office/drawing/2014/main" val="3641075278"/>
                    </a:ext>
                  </a:extLst>
                </a:gridCol>
                <a:gridCol w="338916">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102870" indent="0" algn="l" defTabSz="1218987" rtl="0" eaLnBrk="1" fontAlgn="b" latinLnBrk="0" hangingPunct="1">
                        <a:buFont typeface="Arial" panose="020B0604020202020204" pitchFamily="34" charset="0"/>
                        <a:buNone/>
                      </a:pPr>
                      <a:r>
                        <a:rPr lang="en-US" altLang="zh-CN" sz="900" b="1" u="none" strike="noStrike" kern="1200" baseline="0">
                          <a:solidFill>
                            <a:schemeClr val="lt1"/>
                          </a:solidFill>
                          <a:effectLst/>
                          <a:latin typeface="+mn-lt"/>
                          <a:ea typeface="+mn-ea"/>
                          <a:cs typeface="+mn-cs"/>
                        </a:rPr>
                        <a:t>Recognition of Revenue &amp; Cost of EL Performed Service now paid by Customer</a:t>
                      </a:r>
                      <a:endParaRPr lang="en-US" altLang="zh-CN" sz="900" b="1" u="none" strike="noStrike" kern="1200">
                        <a:solidFill>
                          <a:schemeClr val="lt1"/>
                        </a:solidFill>
                        <a:effectLst/>
                        <a:latin typeface="+mn-lt"/>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sp>
        <p:nvSpPr>
          <p:cNvPr id="17" name="对话气泡: 矩形 16">
            <a:extLst>
              <a:ext uri="{FF2B5EF4-FFF2-40B4-BE49-F238E27FC236}">
                <a16:creationId xmlns:a16="http://schemas.microsoft.com/office/drawing/2014/main" id="{0FBA94F4-B5B1-9527-01EE-4D64A28E34C0}"/>
              </a:ext>
            </a:extLst>
          </p:cNvPr>
          <p:cNvSpPr/>
          <p:nvPr/>
        </p:nvSpPr>
        <p:spPr>
          <a:xfrm>
            <a:off x="159229" y="6549537"/>
            <a:ext cx="5378015" cy="308463"/>
          </a:xfrm>
          <a:prstGeom prst="wedgeRectCallout">
            <a:avLst>
              <a:gd name="adj1" fmla="val 328"/>
              <a:gd name="adj2" fmla="val -12690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Defer ARS should be recognized to revenue when ET invoice issued to customer, </a:t>
            </a:r>
            <a:endParaRPr lang="zh-CN" altLang="en-US" sz="1200">
              <a:solidFill>
                <a:schemeClr val="tx1"/>
              </a:solidFill>
            </a:endParaRPr>
          </a:p>
        </p:txBody>
      </p:sp>
      <p:graphicFrame>
        <p:nvGraphicFramePr>
          <p:cNvPr id="2" name="表格 1">
            <a:extLst>
              <a:ext uri="{FF2B5EF4-FFF2-40B4-BE49-F238E27FC236}">
                <a16:creationId xmlns:a16="http://schemas.microsoft.com/office/drawing/2014/main" id="{42D5CAE5-55C6-26E0-D4B4-4D181AB18500}"/>
              </a:ext>
            </a:extLst>
          </p:cNvPr>
          <p:cNvGraphicFramePr>
            <a:graphicFrameLocks noGrp="1"/>
          </p:cNvGraphicFramePr>
          <p:nvPr/>
        </p:nvGraphicFramePr>
        <p:xfrm>
          <a:off x="6183084" y="4455407"/>
          <a:ext cx="5914655" cy="946970"/>
        </p:xfrm>
        <a:graphic>
          <a:graphicData uri="http://schemas.openxmlformats.org/drawingml/2006/table">
            <a:tbl>
              <a:tblPr/>
              <a:tblGrid>
                <a:gridCol w="443646">
                  <a:extLst>
                    <a:ext uri="{9D8B030D-6E8A-4147-A177-3AD203B41FA5}">
                      <a16:colId xmlns:a16="http://schemas.microsoft.com/office/drawing/2014/main" val="495084399"/>
                    </a:ext>
                  </a:extLst>
                </a:gridCol>
                <a:gridCol w="279076">
                  <a:extLst>
                    <a:ext uri="{9D8B030D-6E8A-4147-A177-3AD203B41FA5}">
                      <a16:colId xmlns:a16="http://schemas.microsoft.com/office/drawing/2014/main" val="3614210242"/>
                    </a:ext>
                  </a:extLst>
                </a:gridCol>
                <a:gridCol w="664166">
                  <a:extLst>
                    <a:ext uri="{9D8B030D-6E8A-4147-A177-3AD203B41FA5}">
                      <a16:colId xmlns:a16="http://schemas.microsoft.com/office/drawing/2014/main" val="1442124609"/>
                    </a:ext>
                  </a:extLst>
                </a:gridCol>
                <a:gridCol w="1960702">
                  <a:extLst>
                    <a:ext uri="{9D8B030D-6E8A-4147-A177-3AD203B41FA5}">
                      <a16:colId xmlns:a16="http://schemas.microsoft.com/office/drawing/2014/main" val="3603859997"/>
                    </a:ext>
                  </a:extLst>
                </a:gridCol>
                <a:gridCol w="404368">
                  <a:extLst>
                    <a:ext uri="{9D8B030D-6E8A-4147-A177-3AD203B41FA5}">
                      <a16:colId xmlns:a16="http://schemas.microsoft.com/office/drawing/2014/main" val="4076488391"/>
                    </a:ext>
                  </a:extLst>
                </a:gridCol>
                <a:gridCol w="404368">
                  <a:extLst>
                    <a:ext uri="{9D8B030D-6E8A-4147-A177-3AD203B41FA5}">
                      <a16:colId xmlns:a16="http://schemas.microsoft.com/office/drawing/2014/main" val="3254101706"/>
                    </a:ext>
                  </a:extLst>
                </a:gridCol>
                <a:gridCol w="324286">
                  <a:extLst>
                    <a:ext uri="{9D8B030D-6E8A-4147-A177-3AD203B41FA5}">
                      <a16:colId xmlns:a16="http://schemas.microsoft.com/office/drawing/2014/main" val="3712391277"/>
                    </a:ext>
                  </a:extLst>
                </a:gridCol>
                <a:gridCol w="317770">
                  <a:extLst>
                    <a:ext uri="{9D8B030D-6E8A-4147-A177-3AD203B41FA5}">
                      <a16:colId xmlns:a16="http://schemas.microsoft.com/office/drawing/2014/main" val="2728947310"/>
                    </a:ext>
                  </a:extLst>
                </a:gridCol>
                <a:gridCol w="317770">
                  <a:extLst>
                    <a:ext uri="{9D8B030D-6E8A-4147-A177-3AD203B41FA5}">
                      <a16:colId xmlns:a16="http://schemas.microsoft.com/office/drawing/2014/main" val="2527660299"/>
                    </a:ext>
                  </a:extLst>
                </a:gridCol>
                <a:gridCol w="457803">
                  <a:extLst>
                    <a:ext uri="{9D8B030D-6E8A-4147-A177-3AD203B41FA5}">
                      <a16:colId xmlns:a16="http://schemas.microsoft.com/office/drawing/2014/main" val="3641075278"/>
                    </a:ext>
                  </a:extLst>
                </a:gridCol>
                <a:gridCol w="340700">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102870" indent="0" algn="l" defTabSz="1218987" rtl="0" eaLnBrk="1" fontAlgn="b" latinLnBrk="0" hangingPunct="1">
                        <a:buFont typeface="Arial" panose="020B0604020202020204" pitchFamily="34" charset="0"/>
                        <a:buNone/>
                      </a:pPr>
                      <a:r>
                        <a:rPr lang="en-US" altLang="zh-CN" sz="900" b="1" u="none" strike="noStrike" kern="1200" baseline="0">
                          <a:solidFill>
                            <a:schemeClr val="lt1"/>
                          </a:solidFill>
                          <a:effectLst/>
                          <a:latin typeface="+mn-lt"/>
                          <a:ea typeface="+mn-ea"/>
                          <a:cs typeface="+mn-cs"/>
                        </a:rPr>
                        <a:t>Recognition of Revenue &amp; Cost of EL Performed Service now paid by Customer</a:t>
                      </a:r>
                      <a:endParaRPr lang="en-US" altLang="zh-CN" sz="900" b="1" u="none" strike="noStrike" kern="1200">
                        <a:solidFill>
                          <a:schemeClr val="lt1"/>
                        </a:solidFill>
                        <a:effectLst/>
                        <a:latin typeface="+mn-lt"/>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sp>
        <p:nvSpPr>
          <p:cNvPr id="3" name="对话气泡: 矩形 2">
            <a:extLst>
              <a:ext uri="{FF2B5EF4-FFF2-40B4-BE49-F238E27FC236}">
                <a16:creationId xmlns:a16="http://schemas.microsoft.com/office/drawing/2014/main" id="{39C55F6D-D6D7-66C6-5B50-C6B95149BC49}"/>
              </a:ext>
            </a:extLst>
          </p:cNvPr>
          <p:cNvSpPr/>
          <p:nvPr/>
        </p:nvSpPr>
        <p:spPr>
          <a:xfrm>
            <a:off x="-2463469" y="3211427"/>
            <a:ext cx="1931841" cy="1243979"/>
          </a:xfrm>
          <a:prstGeom prst="wedgeRectCallout">
            <a:avLst>
              <a:gd name="adj1" fmla="val 103406"/>
              <a:gd name="adj2" fmla="val -1137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If Device was lost or stolen, then S&amp;D will recognize broker sales on ET request</a:t>
            </a:r>
            <a:endParaRPr lang="zh-CN" altLang="en-US" sz="1200">
              <a:solidFill>
                <a:schemeClr val="tx1"/>
              </a:solidFill>
            </a:endParaRPr>
          </a:p>
        </p:txBody>
      </p:sp>
      <p:sp>
        <p:nvSpPr>
          <p:cNvPr id="5" name="矩形 4">
            <a:extLst>
              <a:ext uri="{FF2B5EF4-FFF2-40B4-BE49-F238E27FC236}">
                <a16:creationId xmlns:a16="http://schemas.microsoft.com/office/drawing/2014/main" id="{BEF7FFB4-16DF-53B0-5EDA-38EDE8AC4AEA}"/>
              </a:ext>
            </a:extLst>
          </p:cNvPr>
          <p:cNvSpPr/>
          <p:nvPr/>
        </p:nvSpPr>
        <p:spPr>
          <a:xfrm>
            <a:off x="6654757" y="3971413"/>
            <a:ext cx="5498257" cy="364738"/>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对话气泡: 矩形 5">
            <a:extLst>
              <a:ext uri="{FF2B5EF4-FFF2-40B4-BE49-F238E27FC236}">
                <a16:creationId xmlns:a16="http://schemas.microsoft.com/office/drawing/2014/main" id="{806D7B88-4A43-4C68-CDC9-1F684E014C02}"/>
              </a:ext>
            </a:extLst>
          </p:cNvPr>
          <p:cNvSpPr/>
          <p:nvPr/>
        </p:nvSpPr>
        <p:spPr>
          <a:xfrm>
            <a:off x="347094" y="4928893"/>
            <a:ext cx="5378015" cy="373390"/>
          </a:xfrm>
          <a:prstGeom prst="wedgeRectCallout">
            <a:avLst>
              <a:gd name="adj1" fmla="val 505"/>
              <a:gd name="adj2" fmla="val -10395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ongoing service </a:t>
            </a:r>
            <a:r>
              <a:rPr lang="en-US" altLang="zh-CN" sz="1200" err="1">
                <a:solidFill>
                  <a:schemeClr val="tx1"/>
                </a:solidFill>
              </a:rPr>
              <a:t>PoB</a:t>
            </a:r>
            <a:r>
              <a:rPr lang="en-US" altLang="zh-CN" sz="1200">
                <a:solidFill>
                  <a:schemeClr val="tx1"/>
                </a:solidFill>
              </a:rPr>
              <a:t> have not met upon ET, so extra payment need to be recognized under service revenue​</a:t>
            </a:r>
            <a:endParaRPr lang="zh-CN" altLang="en-US" sz="1000">
              <a:solidFill>
                <a:schemeClr val="tx1"/>
              </a:solidFill>
            </a:endParaRPr>
          </a:p>
        </p:txBody>
      </p:sp>
    </p:spTree>
    <p:extLst>
      <p:ext uri="{BB962C8B-B14F-4D97-AF65-F5344CB8AC3E}">
        <p14:creationId xmlns:p14="http://schemas.microsoft.com/office/powerpoint/2010/main" val="113285949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150CB4-4AFC-24A9-4AC5-80C3DEFA12E5}"/>
            </a:ext>
          </a:extLst>
        </p:cNvPr>
        <p:cNvGrpSpPr/>
        <p:nvPr/>
      </p:nvGrpSpPr>
      <p:grpSpPr>
        <a:xfrm>
          <a:off x="0" y="0"/>
          <a:ext cx="0" cy="0"/>
          <a:chOff x="0" y="0"/>
          <a:chExt cx="0" cy="0"/>
        </a:xfrm>
      </p:grpSpPr>
      <p:sp>
        <p:nvSpPr>
          <p:cNvPr id="33" name="文本框 32">
            <a:extLst>
              <a:ext uri="{FF2B5EF4-FFF2-40B4-BE49-F238E27FC236}">
                <a16:creationId xmlns:a16="http://schemas.microsoft.com/office/drawing/2014/main" id="{A603038E-F7C3-FD90-B914-F26E594C7826}"/>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DaaS_S&amp;D_MSA&amp;MLA</a:t>
            </a:r>
            <a:endParaRPr lang="zh-CN" altLang="en-US" sz="2000" b="1"/>
          </a:p>
        </p:txBody>
      </p:sp>
      <p:graphicFrame>
        <p:nvGraphicFramePr>
          <p:cNvPr id="8" name="表格 7">
            <a:extLst>
              <a:ext uri="{FF2B5EF4-FFF2-40B4-BE49-F238E27FC236}">
                <a16:creationId xmlns:a16="http://schemas.microsoft.com/office/drawing/2014/main" id="{EEE59634-8528-3874-F5B2-CD5ADC16EFE4}"/>
              </a:ext>
            </a:extLst>
          </p:cNvPr>
          <p:cNvGraphicFramePr>
            <a:graphicFrameLocks noGrp="1"/>
          </p:cNvGraphicFramePr>
          <p:nvPr>
            <p:extLst>
              <p:ext uri="{D42A27DB-BD31-4B8C-83A1-F6EECF244321}">
                <p14:modId xmlns:p14="http://schemas.microsoft.com/office/powerpoint/2010/main" val="2336592714"/>
              </p:ext>
            </p:extLst>
          </p:nvPr>
        </p:nvGraphicFramePr>
        <p:xfrm>
          <a:off x="210574" y="382253"/>
          <a:ext cx="5885425" cy="1303020"/>
        </p:xfrm>
        <a:graphic>
          <a:graphicData uri="http://schemas.openxmlformats.org/drawingml/2006/table">
            <a:tbl>
              <a:tblPr firstRow="1" bandRow="1">
                <a:tableStyleId>{3C2FFA5D-87B4-456A-9821-1D502468CF0F}</a:tableStyleId>
              </a:tblPr>
              <a:tblGrid>
                <a:gridCol w="632942">
                  <a:extLst>
                    <a:ext uri="{9D8B030D-6E8A-4147-A177-3AD203B41FA5}">
                      <a16:colId xmlns:a16="http://schemas.microsoft.com/office/drawing/2014/main" val="869603910"/>
                    </a:ext>
                  </a:extLst>
                </a:gridCol>
                <a:gridCol w="723014">
                  <a:extLst>
                    <a:ext uri="{9D8B030D-6E8A-4147-A177-3AD203B41FA5}">
                      <a16:colId xmlns:a16="http://schemas.microsoft.com/office/drawing/2014/main" val="238663902"/>
                    </a:ext>
                  </a:extLst>
                </a:gridCol>
                <a:gridCol w="563525">
                  <a:extLst>
                    <a:ext uri="{9D8B030D-6E8A-4147-A177-3AD203B41FA5}">
                      <a16:colId xmlns:a16="http://schemas.microsoft.com/office/drawing/2014/main" val="4114365151"/>
                    </a:ext>
                  </a:extLst>
                </a:gridCol>
                <a:gridCol w="723014">
                  <a:extLst>
                    <a:ext uri="{9D8B030D-6E8A-4147-A177-3AD203B41FA5}">
                      <a16:colId xmlns:a16="http://schemas.microsoft.com/office/drawing/2014/main" val="4075178046"/>
                    </a:ext>
                  </a:extLst>
                </a:gridCol>
                <a:gridCol w="808075">
                  <a:extLst>
                    <a:ext uri="{9D8B030D-6E8A-4147-A177-3AD203B41FA5}">
                      <a16:colId xmlns:a16="http://schemas.microsoft.com/office/drawing/2014/main" val="973533418"/>
                    </a:ext>
                  </a:extLst>
                </a:gridCol>
                <a:gridCol w="691116">
                  <a:extLst>
                    <a:ext uri="{9D8B030D-6E8A-4147-A177-3AD203B41FA5}">
                      <a16:colId xmlns:a16="http://schemas.microsoft.com/office/drawing/2014/main" val="2377711782"/>
                    </a:ext>
                  </a:extLst>
                </a:gridCol>
                <a:gridCol w="850605">
                  <a:extLst>
                    <a:ext uri="{9D8B030D-6E8A-4147-A177-3AD203B41FA5}">
                      <a16:colId xmlns:a16="http://schemas.microsoft.com/office/drawing/2014/main" val="2044147452"/>
                    </a:ext>
                  </a:extLst>
                </a:gridCol>
                <a:gridCol w="893134">
                  <a:extLst>
                    <a:ext uri="{9D8B030D-6E8A-4147-A177-3AD203B41FA5}">
                      <a16:colId xmlns:a16="http://schemas.microsoft.com/office/drawing/2014/main" val="221569069"/>
                    </a:ext>
                  </a:extLst>
                </a:gridCol>
              </a:tblGrid>
              <a:tr h="39482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5720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Early Termination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9" name="表格 8">
            <a:extLst>
              <a:ext uri="{FF2B5EF4-FFF2-40B4-BE49-F238E27FC236}">
                <a16:creationId xmlns:a16="http://schemas.microsoft.com/office/drawing/2014/main" id="{54E266DA-8FE9-1CF8-662A-242840CD1479}"/>
              </a:ext>
            </a:extLst>
          </p:cNvPr>
          <p:cNvGraphicFramePr>
            <a:graphicFrameLocks noGrp="1"/>
          </p:cNvGraphicFramePr>
          <p:nvPr>
            <p:extLst>
              <p:ext uri="{D42A27DB-BD31-4B8C-83A1-F6EECF244321}">
                <p14:modId xmlns:p14="http://schemas.microsoft.com/office/powerpoint/2010/main" val="2356944895"/>
              </p:ext>
            </p:extLst>
          </p:nvPr>
        </p:nvGraphicFramePr>
        <p:xfrm>
          <a:off x="210573" y="1723265"/>
          <a:ext cx="5885425" cy="2201599"/>
        </p:xfrm>
        <a:graphic>
          <a:graphicData uri="http://schemas.openxmlformats.org/drawingml/2006/table">
            <a:tbl>
              <a:tblPr/>
              <a:tblGrid>
                <a:gridCol w="437639">
                  <a:extLst>
                    <a:ext uri="{9D8B030D-6E8A-4147-A177-3AD203B41FA5}">
                      <a16:colId xmlns:a16="http://schemas.microsoft.com/office/drawing/2014/main" val="495084399"/>
                    </a:ext>
                  </a:extLst>
                </a:gridCol>
                <a:gridCol w="244178">
                  <a:extLst>
                    <a:ext uri="{9D8B030D-6E8A-4147-A177-3AD203B41FA5}">
                      <a16:colId xmlns:a16="http://schemas.microsoft.com/office/drawing/2014/main" val="3614210242"/>
                    </a:ext>
                  </a:extLst>
                </a:gridCol>
                <a:gridCol w="616012">
                  <a:extLst>
                    <a:ext uri="{9D8B030D-6E8A-4147-A177-3AD203B41FA5}">
                      <a16:colId xmlns:a16="http://schemas.microsoft.com/office/drawing/2014/main" val="1442124609"/>
                    </a:ext>
                  </a:extLst>
                </a:gridCol>
                <a:gridCol w="2023795">
                  <a:extLst>
                    <a:ext uri="{9D8B030D-6E8A-4147-A177-3AD203B41FA5}">
                      <a16:colId xmlns:a16="http://schemas.microsoft.com/office/drawing/2014/main" val="3603859997"/>
                    </a:ext>
                  </a:extLst>
                </a:gridCol>
                <a:gridCol w="337503">
                  <a:extLst>
                    <a:ext uri="{9D8B030D-6E8A-4147-A177-3AD203B41FA5}">
                      <a16:colId xmlns:a16="http://schemas.microsoft.com/office/drawing/2014/main" val="4076488391"/>
                    </a:ext>
                  </a:extLst>
                </a:gridCol>
                <a:gridCol w="392171">
                  <a:extLst>
                    <a:ext uri="{9D8B030D-6E8A-4147-A177-3AD203B41FA5}">
                      <a16:colId xmlns:a16="http://schemas.microsoft.com/office/drawing/2014/main" val="3254101706"/>
                    </a:ext>
                  </a:extLst>
                </a:gridCol>
                <a:gridCol w="300773">
                  <a:extLst>
                    <a:ext uri="{9D8B030D-6E8A-4147-A177-3AD203B41FA5}">
                      <a16:colId xmlns:a16="http://schemas.microsoft.com/office/drawing/2014/main" val="3712391277"/>
                    </a:ext>
                  </a:extLst>
                </a:gridCol>
                <a:gridCol w="583429">
                  <a:extLst>
                    <a:ext uri="{9D8B030D-6E8A-4147-A177-3AD203B41FA5}">
                      <a16:colId xmlns:a16="http://schemas.microsoft.com/office/drawing/2014/main" val="2739868900"/>
                    </a:ext>
                  </a:extLst>
                </a:gridCol>
                <a:gridCol w="261447">
                  <a:extLst>
                    <a:ext uri="{9D8B030D-6E8A-4147-A177-3AD203B41FA5}">
                      <a16:colId xmlns:a16="http://schemas.microsoft.com/office/drawing/2014/main" val="2527660299"/>
                    </a:ext>
                  </a:extLst>
                </a:gridCol>
                <a:gridCol w="394723">
                  <a:extLst>
                    <a:ext uri="{9D8B030D-6E8A-4147-A177-3AD203B41FA5}">
                      <a16:colId xmlns:a16="http://schemas.microsoft.com/office/drawing/2014/main" val="3641075278"/>
                    </a:ext>
                  </a:extLst>
                </a:gridCol>
                <a:gridCol w="293755">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146</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146</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5539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15539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221355810"/>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RV</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20/30/U4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14317741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5010452</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Broker Sales ( if applicable)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20/30/U4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14597936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8181373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 Premier 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bl>
          </a:graphicData>
        </a:graphic>
      </p:graphicFrame>
      <p:graphicFrame>
        <p:nvGraphicFramePr>
          <p:cNvPr id="15" name="表格 14">
            <a:extLst>
              <a:ext uri="{FF2B5EF4-FFF2-40B4-BE49-F238E27FC236}">
                <a16:creationId xmlns:a16="http://schemas.microsoft.com/office/drawing/2014/main" id="{14195767-BEB7-90DE-F672-3BB3C654D360}"/>
              </a:ext>
            </a:extLst>
          </p:cNvPr>
          <p:cNvGraphicFramePr>
            <a:graphicFrameLocks noGrp="1"/>
          </p:cNvGraphicFramePr>
          <p:nvPr>
            <p:extLst>
              <p:ext uri="{D42A27DB-BD31-4B8C-83A1-F6EECF244321}">
                <p14:modId xmlns:p14="http://schemas.microsoft.com/office/powerpoint/2010/main" val="1259694978"/>
              </p:ext>
            </p:extLst>
          </p:nvPr>
        </p:nvGraphicFramePr>
        <p:xfrm>
          <a:off x="210574" y="4256556"/>
          <a:ext cx="5885425" cy="1336388"/>
        </p:xfrm>
        <a:graphic>
          <a:graphicData uri="http://schemas.openxmlformats.org/drawingml/2006/table">
            <a:tbl>
              <a:tblPr/>
              <a:tblGrid>
                <a:gridCol w="433173">
                  <a:extLst>
                    <a:ext uri="{9D8B030D-6E8A-4147-A177-3AD203B41FA5}">
                      <a16:colId xmlns:a16="http://schemas.microsoft.com/office/drawing/2014/main" val="495084399"/>
                    </a:ext>
                  </a:extLst>
                </a:gridCol>
                <a:gridCol w="228284">
                  <a:extLst>
                    <a:ext uri="{9D8B030D-6E8A-4147-A177-3AD203B41FA5}">
                      <a16:colId xmlns:a16="http://schemas.microsoft.com/office/drawing/2014/main" val="3614210242"/>
                    </a:ext>
                  </a:extLst>
                </a:gridCol>
                <a:gridCol w="535380">
                  <a:extLst>
                    <a:ext uri="{9D8B030D-6E8A-4147-A177-3AD203B41FA5}">
                      <a16:colId xmlns:a16="http://schemas.microsoft.com/office/drawing/2014/main" val="1442124609"/>
                    </a:ext>
                  </a:extLst>
                </a:gridCol>
                <a:gridCol w="1853530">
                  <a:extLst>
                    <a:ext uri="{9D8B030D-6E8A-4147-A177-3AD203B41FA5}">
                      <a16:colId xmlns:a16="http://schemas.microsoft.com/office/drawing/2014/main" val="3603859997"/>
                    </a:ext>
                  </a:extLst>
                </a:gridCol>
                <a:gridCol w="265752">
                  <a:extLst>
                    <a:ext uri="{9D8B030D-6E8A-4147-A177-3AD203B41FA5}">
                      <a16:colId xmlns:a16="http://schemas.microsoft.com/office/drawing/2014/main" val="4076488391"/>
                    </a:ext>
                  </a:extLst>
                </a:gridCol>
                <a:gridCol w="382942">
                  <a:extLst>
                    <a:ext uri="{9D8B030D-6E8A-4147-A177-3AD203B41FA5}">
                      <a16:colId xmlns:a16="http://schemas.microsoft.com/office/drawing/2014/main" val="3254101706"/>
                    </a:ext>
                  </a:extLst>
                </a:gridCol>
                <a:gridCol w="359932">
                  <a:extLst>
                    <a:ext uri="{9D8B030D-6E8A-4147-A177-3AD203B41FA5}">
                      <a16:colId xmlns:a16="http://schemas.microsoft.com/office/drawing/2014/main" val="3712391277"/>
                    </a:ext>
                  </a:extLst>
                </a:gridCol>
                <a:gridCol w="585709">
                  <a:extLst>
                    <a:ext uri="{9D8B030D-6E8A-4147-A177-3AD203B41FA5}">
                      <a16:colId xmlns:a16="http://schemas.microsoft.com/office/drawing/2014/main" val="616408821"/>
                    </a:ext>
                  </a:extLst>
                </a:gridCol>
                <a:gridCol w="271204">
                  <a:extLst>
                    <a:ext uri="{9D8B030D-6E8A-4147-A177-3AD203B41FA5}">
                      <a16:colId xmlns:a16="http://schemas.microsoft.com/office/drawing/2014/main" val="2527660299"/>
                    </a:ext>
                  </a:extLst>
                </a:gridCol>
                <a:gridCol w="369033">
                  <a:extLst>
                    <a:ext uri="{9D8B030D-6E8A-4147-A177-3AD203B41FA5}">
                      <a16:colId xmlns:a16="http://schemas.microsoft.com/office/drawing/2014/main" val="3641075278"/>
                    </a:ext>
                  </a:extLst>
                </a:gridCol>
                <a:gridCol w="600486">
                  <a:extLst>
                    <a:ext uri="{9D8B030D-6E8A-4147-A177-3AD203B41FA5}">
                      <a16:colId xmlns:a16="http://schemas.microsoft.com/office/drawing/2014/main" val="3618613915"/>
                    </a:ext>
                  </a:extLst>
                </a:gridCol>
              </a:tblGrid>
              <a:tr h="183914">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28</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20/30/U4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RV</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20/30/U4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12050794"/>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27501742"/>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2" name="表格 1">
            <a:extLst>
              <a:ext uri="{FF2B5EF4-FFF2-40B4-BE49-F238E27FC236}">
                <a16:creationId xmlns:a16="http://schemas.microsoft.com/office/drawing/2014/main" id="{CA2C96EA-4A5A-AED3-0B83-4BD81679BFFB}"/>
              </a:ext>
            </a:extLst>
          </p:cNvPr>
          <p:cNvGraphicFramePr>
            <a:graphicFrameLocks noGrp="1"/>
          </p:cNvGraphicFramePr>
          <p:nvPr>
            <p:extLst>
              <p:ext uri="{D42A27DB-BD31-4B8C-83A1-F6EECF244321}">
                <p14:modId xmlns:p14="http://schemas.microsoft.com/office/powerpoint/2010/main" val="750801219"/>
              </p:ext>
            </p:extLst>
          </p:nvPr>
        </p:nvGraphicFramePr>
        <p:xfrm>
          <a:off x="210574" y="5736372"/>
          <a:ext cx="5885427" cy="946970"/>
        </p:xfrm>
        <a:graphic>
          <a:graphicData uri="http://schemas.openxmlformats.org/drawingml/2006/table">
            <a:tbl>
              <a:tblPr/>
              <a:tblGrid>
                <a:gridCol w="441454">
                  <a:extLst>
                    <a:ext uri="{9D8B030D-6E8A-4147-A177-3AD203B41FA5}">
                      <a16:colId xmlns:a16="http://schemas.microsoft.com/office/drawing/2014/main" val="495084399"/>
                    </a:ext>
                  </a:extLst>
                </a:gridCol>
                <a:gridCol w="277697">
                  <a:extLst>
                    <a:ext uri="{9D8B030D-6E8A-4147-A177-3AD203B41FA5}">
                      <a16:colId xmlns:a16="http://schemas.microsoft.com/office/drawing/2014/main" val="3614210242"/>
                    </a:ext>
                  </a:extLst>
                </a:gridCol>
                <a:gridCol w="660884">
                  <a:extLst>
                    <a:ext uri="{9D8B030D-6E8A-4147-A177-3AD203B41FA5}">
                      <a16:colId xmlns:a16="http://schemas.microsoft.com/office/drawing/2014/main" val="1442124609"/>
                    </a:ext>
                  </a:extLst>
                </a:gridCol>
                <a:gridCol w="1951012">
                  <a:extLst>
                    <a:ext uri="{9D8B030D-6E8A-4147-A177-3AD203B41FA5}">
                      <a16:colId xmlns:a16="http://schemas.microsoft.com/office/drawing/2014/main" val="3603859997"/>
                    </a:ext>
                  </a:extLst>
                </a:gridCol>
                <a:gridCol w="402370">
                  <a:extLst>
                    <a:ext uri="{9D8B030D-6E8A-4147-A177-3AD203B41FA5}">
                      <a16:colId xmlns:a16="http://schemas.microsoft.com/office/drawing/2014/main" val="4076488391"/>
                    </a:ext>
                  </a:extLst>
                </a:gridCol>
                <a:gridCol w="402370">
                  <a:extLst>
                    <a:ext uri="{9D8B030D-6E8A-4147-A177-3AD203B41FA5}">
                      <a16:colId xmlns:a16="http://schemas.microsoft.com/office/drawing/2014/main" val="3254101706"/>
                    </a:ext>
                  </a:extLst>
                </a:gridCol>
                <a:gridCol w="322683">
                  <a:extLst>
                    <a:ext uri="{9D8B030D-6E8A-4147-A177-3AD203B41FA5}">
                      <a16:colId xmlns:a16="http://schemas.microsoft.com/office/drawing/2014/main" val="3712391277"/>
                    </a:ext>
                  </a:extLst>
                </a:gridCol>
                <a:gridCol w="316200">
                  <a:extLst>
                    <a:ext uri="{9D8B030D-6E8A-4147-A177-3AD203B41FA5}">
                      <a16:colId xmlns:a16="http://schemas.microsoft.com/office/drawing/2014/main" val="2728947310"/>
                    </a:ext>
                  </a:extLst>
                </a:gridCol>
                <a:gridCol w="316200">
                  <a:extLst>
                    <a:ext uri="{9D8B030D-6E8A-4147-A177-3AD203B41FA5}">
                      <a16:colId xmlns:a16="http://schemas.microsoft.com/office/drawing/2014/main" val="2527660299"/>
                    </a:ext>
                  </a:extLst>
                </a:gridCol>
                <a:gridCol w="455541">
                  <a:extLst>
                    <a:ext uri="{9D8B030D-6E8A-4147-A177-3AD203B41FA5}">
                      <a16:colId xmlns:a16="http://schemas.microsoft.com/office/drawing/2014/main" val="3641075278"/>
                    </a:ext>
                  </a:extLst>
                </a:gridCol>
                <a:gridCol w="339016">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102870" indent="0" algn="l" defTabSz="1218987" rtl="0" eaLnBrk="1" fontAlgn="b" latinLnBrk="0" hangingPunct="1">
                        <a:buFont typeface="Arial" panose="020B0604020202020204" pitchFamily="34" charset="0"/>
                        <a:buNone/>
                      </a:pPr>
                      <a:r>
                        <a:rPr lang="en-US" altLang="zh-CN" sz="900" b="1" u="none" strike="noStrike" kern="1200" baseline="0">
                          <a:solidFill>
                            <a:schemeClr val="lt1"/>
                          </a:solidFill>
                          <a:effectLst/>
                          <a:latin typeface="+mn-lt"/>
                          <a:ea typeface="+mn-ea"/>
                          <a:cs typeface="+mn-cs"/>
                        </a:rPr>
                        <a:t>Recognition of Revenue &amp; Cost of EL Performed Service now paid by Customer</a:t>
                      </a:r>
                      <a:endParaRPr lang="en-US" altLang="zh-CN" sz="900" b="1" u="none" strike="noStrike" kern="1200">
                        <a:solidFill>
                          <a:schemeClr val="lt1"/>
                        </a:solidFill>
                        <a:effectLst/>
                        <a:latin typeface="+mn-lt"/>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sp>
        <p:nvSpPr>
          <p:cNvPr id="3" name="矩形 2">
            <a:extLst>
              <a:ext uri="{FF2B5EF4-FFF2-40B4-BE49-F238E27FC236}">
                <a16:creationId xmlns:a16="http://schemas.microsoft.com/office/drawing/2014/main" id="{39333DB9-8524-E1B8-0C96-7583F916CB8B}"/>
              </a:ext>
            </a:extLst>
          </p:cNvPr>
          <p:cNvSpPr/>
          <p:nvPr/>
        </p:nvSpPr>
        <p:spPr>
          <a:xfrm>
            <a:off x="210573" y="4256556"/>
            <a:ext cx="5885425" cy="1336388"/>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4" name="对话气泡: 矩形 11">
            <a:extLst>
              <a:ext uri="{FF2B5EF4-FFF2-40B4-BE49-F238E27FC236}">
                <a16:creationId xmlns:a16="http://schemas.microsoft.com/office/drawing/2014/main" id="{E2A7D9A0-E9D4-4241-64E9-1A63C74EAD28}"/>
              </a:ext>
            </a:extLst>
          </p:cNvPr>
          <p:cNvSpPr/>
          <p:nvPr/>
        </p:nvSpPr>
        <p:spPr>
          <a:xfrm>
            <a:off x="-1667544" y="3615187"/>
            <a:ext cx="1307455" cy="1941861"/>
          </a:xfrm>
          <a:prstGeom prst="wedgeRectCallout">
            <a:avLst>
              <a:gd name="adj1" fmla="val 134485"/>
              <a:gd name="adj2" fmla="val -8750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sp>
        <p:nvSpPr>
          <p:cNvPr id="5" name="对话气泡: 矩形 11">
            <a:extLst>
              <a:ext uri="{FF2B5EF4-FFF2-40B4-BE49-F238E27FC236}">
                <a16:creationId xmlns:a16="http://schemas.microsoft.com/office/drawing/2014/main" id="{BE65A1E8-E518-B95C-1E47-5AA6C7CB0DED}"/>
              </a:ext>
            </a:extLst>
          </p:cNvPr>
          <p:cNvSpPr/>
          <p:nvPr/>
        </p:nvSpPr>
        <p:spPr>
          <a:xfrm>
            <a:off x="7198325" y="4365771"/>
            <a:ext cx="1307455" cy="1941861"/>
          </a:xfrm>
          <a:prstGeom prst="wedgeRectCallout">
            <a:avLst>
              <a:gd name="adj1" fmla="val -386158"/>
              <a:gd name="adj2" fmla="val -8753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Interco billing, ARS was recognized as service since one-off billing(which was different from BRIM,)</a:t>
            </a:r>
          </a:p>
        </p:txBody>
      </p:sp>
    </p:spTree>
    <p:extLst>
      <p:ext uri="{BB962C8B-B14F-4D97-AF65-F5344CB8AC3E}">
        <p14:creationId xmlns:p14="http://schemas.microsoft.com/office/powerpoint/2010/main" val="327069678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91F6C137-FF0A-A446-2EF0-20A1214679DF}"/>
              </a:ext>
            </a:extLst>
          </p:cNvPr>
          <p:cNvGraphicFramePr>
            <a:graphicFrameLocks noGrp="1"/>
          </p:cNvGraphicFramePr>
          <p:nvPr>
            <p:extLst>
              <p:ext uri="{D42A27DB-BD31-4B8C-83A1-F6EECF244321}">
                <p14:modId xmlns:p14="http://schemas.microsoft.com/office/powerpoint/2010/main" val="1451577022"/>
              </p:ext>
            </p:extLst>
          </p:nvPr>
        </p:nvGraphicFramePr>
        <p:xfrm>
          <a:off x="92538" y="447365"/>
          <a:ext cx="6003462" cy="1407314"/>
        </p:xfrm>
        <a:graphic>
          <a:graphicData uri="http://schemas.openxmlformats.org/drawingml/2006/table">
            <a:tbl>
              <a:tblPr firstRow="1" bandRow="1">
                <a:tableStyleId>{3C2FFA5D-87B4-456A-9821-1D502468CF0F}</a:tableStyleId>
              </a:tblPr>
              <a:tblGrid>
                <a:gridCol w="716332">
                  <a:extLst>
                    <a:ext uri="{9D8B030D-6E8A-4147-A177-3AD203B41FA5}">
                      <a16:colId xmlns:a16="http://schemas.microsoft.com/office/drawing/2014/main" val="869603910"/>
                    </a:ext>
                  </a:extLst>
                </a:gridCol>
                <a:gridCol w="541366">
                  <a:extLst>
                    <a:ext uri="{9D8B030D-6E8A-4147-A177-3AD203B41FA5}">
                      <a16:colId xmlns:a16="http://schemas.microsoft.com/office/drawing/2014/main" val="238663902"/>
                    </a:ext>
                  </a:extLst>
                </a:gridCol>
                <a:gridCol w="744859">
                  <a:extLst>
                    <a:ext uri="{9D8B030D-6E8A-4147-A177-3AD203B41FA5}">
                      <a16:colId xmlns:a16="http://schemas.microsoft.com/office/drawing/2014/main" val="4114365151"/>
                    </a:ext>
                  </a:extLst>
                </a:gridCol>
                <a:gridCol w="694344">
                  <a:extLst>
                    <a:ext uri="{9D8B030D-6E8A-4147-A177-3AD203B41FA5}">
                      <a16:colId xmlns:a16="http://schemas.microsoft.com/office/drawing/2014/main" val="4075178046"/>
                    </a:ext>
                  </a:extLst>
                </a:gridCol>
                <a:gridCol w="759480">
                  <a:extLst>
                    <a:ext uri="{9D8B030D-6E8A-4147-A177-3AD203B41FA5}">
                      <a16:colId xmlns:a16="http://schemas.microsoft.com/office/drawing/2014/main" val="973533418"/>
                    </a:ext>
                  </a:extLst>
                </a:gridCol>
                <a:gridCol w="736081">
                  <a:extLst>
                    <a:ext uri="{9D8B030D-6E8A-4147-A177-3AD203B41FA5}">
                      <a16:colId xmlns:a16="http://schemas.microsoft.com/office/drawing/2014/main" val="2377711782"/>
                    </a:ext>
                  </a:extLst>
                </a:gridCol>
                <a:gridCol w="666529">
                  <a:extLst>
                    <a:ext uri="{9D8B030D-6E8A-4147-A177-3AD203B41FA5}">
                      <a16:colId xmlns:a16="http://schemas.microsoft.com/office/drawing/2014/main" val="3637466090"/>
                    </a:ext>
                  </a:extLst>
                </a:gridCol>
                <a:gridCol w="1144471">
                  <a:extLst>
                    <a:ext uri="{9D8B030D-6E8A-4147-A177-3AD203B41FA5}">
                      <a16:colId xmlns:a16="http://schemas.microsoft.com/office/drawing/2014/main" val="221569069"/>
                    </a:ext>
                  </a:extLst>
                </a:gridCol>
              </a:tblGrid>
              <a:tr h="52920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9209">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Flex pause/</a:t>
                      </a:r>
                      <a:r>
                        <a:rPr lang="en-US" altLang="zh-CN" sz="1050" err="1">
                          <a:solidFill>
                            <a:sysClr val="windowText" lastClr="000000"/>
                          </a:solidFill>
                        </a:rPr>
                        <a:t>unpause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06605">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Flex Down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39" name="表格 38">
            <a:extLst>
              <a:ext uri="{FF2B5EF4-FFF2-40B4-BE49-F238E27FC236}">
                <a16:creationId xmlns:a16="http://schemas.microsoft.com/office/drawing/2014/main" id="{AA03351A-A185-2543-664E-0388598CC0B3}"/>
              </a:ext>
            </a:extLst>
          </p:cNvPr>
          <p:cNvGraphicFramePr>
            <a:graphicFrameLocks noGrp="1"/>
          </p:cNvGraphicFramePr>
          <p:nvPr>
            <p:extLst>
              <p:ext uri="{D42A27DB-BD31-4B8C-83A1-F6EECF244321}">
                <p14:modId xmlns:p14="http://schemas.microsoft.com/office/powerpoint/2010/main" val="622447909"/>
              </p:ext>
            </p:extLst>
          </p:nvPr>
        </p:nvGraphicFramePr>
        <p:xfrm>
          <a:off x="57691" y="1943201"/>
          <a:ext cx="6086803" cy="1973090"/>
        </p:xfrm>
        <a:graphic>
          <a:graphicData uri="http://schemas.openxmlformats.org/drawingml/2006/table">
            <a:tbl>
              <a:tblPr/>
              <a:tblGrid>
                <a:gridCol w="443523">
                  <a:extLst>
                    <a:ext uri="{9D8B030D-6E8A-4147-A177-3AD203B41FA5}">
                      <a16:colId xmlns:a16="http://schemas.microsoft.com/office/drawing/2014/main" val="495084399"/>
                    </a:ext>
                  </a:extLst>
                </a:gridCol>
                <a:gridCol w="243871">
                  <a:extLst>
                    <a:ext uri="{9D8B030D-6E8A-4147-A177-3AD203B41FA5}">
                      <a16:colId xmlns:a16="http://schemas.microsoft.com/office/drawing/2014/main" val="3614210242"/>
                    </a:ext>
                  </a:extLst>
                </a:gridCol>
                <a:gridCol w="580382">
                  <a:extLst>
                    <a:ext uri="{9D8B030D-6E8A-4147-A177-3AD203B41FA5}">
                      <a16:colId xmlns:a16="http://schemas.microsoft.com/office/drawing/2014/main" val="1442124609"/>
                    </a:ext>
                  </a:extLst>
                </a:gridCol>
                <a:gridCol w="2141395">
                  <a:extLst>
                    <a:ext uri="{9D8B030D-6E8A-4147-A177-3AD203B41FA5}">
                      <a16:colId xmlns:a16="http://schemas.microsoft.com/office/drawing/2014/main" val="3603859997"/>
                    </a:ext>
                  </a:extLst>
                </a:gridCol>
                <a:gridCol w="449963">
                  <a:extLst>
                    <a:ext uri="{9D8B030D-6E8A-4147-A177-3AD203B41FA5}">
                      <a16:colId xmlns:a16="http://schemas.microsoft.com/office/drawing/2014/main" val="4076488391"/>
                    </a:ext>
                  </a:extLst>
                </a:gridCol>
                <a:gridCol w="449963">
                  <a:extLst>
                    <a:ext uri="{9D8B030D-6E8A-4147-A177-3AD203B41FA5}">
                      <a16:colId xmlns:a16="http://schemas.microsoft.com/office/drawing/2014/main" val="3254101706"/>
                    </a:ext>
                  </a:extLst>
                </a:gridCol>
                <a:gridCol w="283377">
                  <a:extLst>
                    <a:ext uri="{9D8B030D-6E8A-4147-A177-3AD203B41FA5}">
                      <a16:colId xmlns:a16="http://schemas.microsoft.com/office/drawing/2014/main" val="3712391277"/>
                    </a:ext>
                  </a:extLst>
                </a:gridCol>
                <a:gridCol w="599703">
                  <a:extLst>
                    <a:ext uri="{9D8B030D-6E8A-4147-A177-3AD203B41FA5}">
                      <a16:colId xmlns:a16="http://schemas.microsoft.com/office/drawing/2014/main" val="956071091"/>
                    </a:ext>
                  </a:extLst>
                </a:gridCol>
                <a:gridCol w="246929">
                  <a:extLst>
                    <a:ext uri="{9D8B030D-6E8A-4147-A177-3AD203B41FA5}">
                      <a16:colId xmlns:a16="http://schemas.microsoft.com/office/drawing/2014/main" val="2527660299"/>
                    </a:ext>
                  </a:extLst>
                </a:gridCol>
                <a:gridCol w="382951">
                  <a:extLst>
                    <a:ext uri="{9D8B030D-6E8A-4147-A177-3AD203B41FA5}">
                      <a16:colId xmlns:a16="http://schemas.microsoft.com/office/drawing/2014/main" val="3641075278"/>
                    </a:ext>
                  </a:extLst>
                </a:gridCol>
                <a:gridCol w="264746">
                  <a:extLst>
                    <a:ext uri="{9D8B030D-6E8A-4147-A177-3AD203B41FA5}">
                      <a16:colId xmlns:a16="http://schemas.microsoft.com/office/drawing/2014/main" val="3618613915"/>
                    </a:ext>
                  </a:extLst>
                </a:gridCol>
              </a:tblGrid>
              <a:tr h="182275">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551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Operating Lease(applicable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33.3-3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33.3-3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r>
                        <a:rPr lang="en-US" altLang="zh-CN" sz="900" b="0" i="0" u="none" strike="noStrike" kern="1200">
                          <a:solidFill>
                            <a:srgbClr val="000000"/>
                          </a:solidFill>
                          <a:effectLst/>
                          <a:latin typeface="Arial" panose="020B0604020202020204" pitchFamily="34" charset="0"/>
                          <a:ea typeface="+mn-ea"/>
                          <a:cs typeface="+mn-cs"/>
                        </a:rPr>
                        <a:t>(applicable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r>
                        <a:rPr lang="en-US" altLang="zh-CN" sz="900" b="0" i="0" u="none" strike="noStrike" kern="1200">
                          <a:solidFill>
                            <a:srgbClr val="000000"/>
                          </a:solidFill>
                          <a:effectLst/>
                          <a:latin typeface="Arial" panose="020B0604020202020204" pitchFamily="34" charset="0"/>
                          <a:ea typeface="+mn-ea"/>
                          <a:cs typeface="+mn-cs"/>
                        </a:rPr>
                        <a:t>(applicable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96251356"/>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69760308"/>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183490397"/>
                  </a:ext>
                </a:extLst>
              </a:tr>
            </a:tbl>
          </a:graphicData>
        </a:graphic>
      </p:graphicFrame>
      <p:graphicFrame>
        <p:nvGraphicFramePr>
          <p:cNvPr id="40" name="表格 39">
            <a:extLst>
              <a:ext uri="{FF2B5EF4-FFF2-40B4-BE49-F238E27FC236}">
                <a16:creationId xmlns:a16="http://schemas.microsoft.com/office/drawing/2014/main" id="{E8A051C6-D191-CC3C-1A5E-11016F5DA327}"/>
              </a:ext>
            </a:extLst>
          </p:cNvPr>
          <p:cNvGraphicFramePr>
            <a:graphicFrameLocks noGrp="1"/>
          </p:cNvGraphicFramePr>
          <p:nvPr>
            <p:extLst>
              <p:ext uri="{D42A27DB-BD31-4B8C-83A1-F6EECF244321}">
                <p14:modId xmlns:p14="http://schemas.microsoft.com/office/powerpoint/2010/main" val="1281033697"/>
              </p:ext>
            </p:extLst>
          </p:nvPr>
        </p:nvGraphicFramePr>
        <p:xfrm>
          <a:off x="6424174" y="447365"/>
          <a:ext cx="5710136" cy="1407314"/>
        </p:xfrm>
        <a:graphic>
          <a:graphicData uri="http://schemas.openxmlformats.org/drawingml/2006/table">
            <a:tbl>
              <a:tblPr firstRow="1" bandRow="1">
                <a:tableStyleId>{3C2FFA5D-87B4-456A-9821-1D502468CF0F}</a:tableStyleId>
              </a:tblPr>
              <a:tblGrid>
                <a:gridCol w="795303">
                  <a:extLst>
                    <a:ext uri="{9D8B030D-6E8A-4147-A177-3AD203B41FA5}">
                      <a16:colId xmlns:a16="http://schemas.microsoft.com/office/drawing/2014/main" val="869603910"/>
                    </a:ext>
                  </a:extLst>
                </a:gridCol>
                <a:gridCol w="601050">
                  <a:extLst>
                    <a:ext uri="{9D8B030D-6E8A-4147-A177-3AD203B41FA5}">
                      <a16:colId xmlns:a16="http://schemas.microsoft.com/office/drawing/2014/main" val="238663902"/>
                    </a:ext>
                  </a:extLst>
                </a:gridCol>
                <a:gridCol w="826975">
                  <a:extLst>
                    <a:ext uri="{9D8B030D-6E8A-4147-A177-3AD203B41FA5}">
                      <a16:colId xmlns:a16="http://schemas.microsoft.com/office/drawing/2014/main" val="4114365151"/>
                    </a:ext>
                  </a:extLst>
                </a:gridCol>
                <a:gridCol w="770890">
                  <a:extLst>
                    <a:ext uri="{9D8B030D-6E8A-4147-A177-3AD203B41FA5}">
                      <a16:colId xmlns:a16="http://schemas.microsoft.com/office/drawing/2014/main" val="4075178046"/>
                    </a:ext>
                  </a:extLst>
                </a:gridCol>
                <a:gridCol w="843208">
                  <a:extLst>
                    <a:ext uri="{9D8B030D-6E8A-4147-A177-3AD203B41FA5}">
                      <a16:colId xmlns:a16="http://schemas.microsoft.com/office/drawing/2014/main" val="973533418"/>
                    </a:ext>
                  </a:extLst>
                </a:gridCol>
                <a:gridCol w="778620">
                  <a:extLst>
                    <a:ext uri="{9D8B030D-6E8A-4147-A177-3AD203B41FA5}">
                      <a16:colId xmlns:a16="http://schemas.microsoft.com/office/drawing/2014/main" val="2377711782"/>
                    </a:ext>
                  </a:extLst>
                </a:gridCol>
                <a:gridCol w="1094090">
                  <a:extLst>
                    <a:ext uri="{9D8B030D-6E8A-4147-A177-3AD203B41FA5}">
                      <a16:colId xmlns:a16="http://schemas.microsoft.com/office/drawing/2014/main" val="221569069"/>
                    </a:ext>
                  </a:extLst>
                </a:gridCol>
              </a:tblGrid>
              <a:tr h="52920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9209">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Flex pause/</a:t>
                      </a:r>
                      <a:r>
                        <a:rPr lang="en-US" altLang="zh-CN" sz="1050" err="1">
                          <a:solidFill>
                            <a:sysClr val="windowText" lastClr="000000"/>
                          </a:solidFill>
                        </a:rPr>
                        <a:t>unpause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06605">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Flex Down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41" name="表格 40">
            <a:extLst>
              <a:ext uri="{FF2B5EF4-FFF2-40B4-BE49-F238E27FC236}">
                <a16:creationId xmlns:a16="http://schemas.microsoft.com/office/drawing/2014/main" id="{249A8DA1-CE59-99AF-7C16-3C4D1F06CB93}"/>
              </a:ext>
            </a:extLst>
          </p:cNvPr>
          <p:cNvGraphicFramePr>
            <a:graphicFrameLocks noGrp="1"/>
          </p:cNvGraphicFramePr>
          <p:nvPr>
            <p:extLst>
              <p:ext uri="{D42A27DB-BD31-4B8C-83A1-F6EECF244321}">
                <p14:modId xmlns:p14="http://schemas.microsoft.com/office/powerpoint/2010/main" val="364708467"/>
              </p:ext>
            </p:extLst>
          </p:nvPr>
        </p:nvGraphicFramePr>
        <p:xfrm>
          <a:off x="6424173" y="1943201"/>
          <a:ext cx="5710136" cy="1480026"/>
        </p:xfrm>
        <a:graphic>
          <a:graphicData uri="http://schemas.openxmlformats.org/drawingml/2006/table">
            <a:tbl>
              <a:tblPr/>
              <a:tblGrid>
                <a:gridCol w="441154">
                  <a:extLst>
                    <a:ext uri="{9D8B030D-6E8A-4147-A177-3AD203B41FA5}">
                      <a16:colId xmlns:a16="http://schemas.microsoft.com/office/drawing/2014/main" val="495084399"/>
                    </a:ext>
                  </a:extLst>
                </a:gridCol>
                <a:gridCol w="228737">
                  <a:extLst>
                    <a:ext uri="{9D8B030D-6E8A-4147-A177-3AD203B41FA5}">
                      <a16:colId xmlns:a16="http://schemas.microsoft.com/office/drawing/2014/main" val="3614210242"/>
                    </a:ext>
                  </a:extLst>
                </a:gridCol>
                <a:gridCol w="602357">
                  <a:extLst>
                    <a:ext uri="{9D8B030D-6E8A-4147-A177-3AD203B41FA5}">
                      <a16:colId xmlns:a16="http://schemas.microsoft.com/office/drawing/2014/main" val="1442124609"/>
                    </a:ext>
                  </a:extLst>
                </a:gridCol>
                <a:gridCol w="1985042">
                  <a:extLst>
                    <a:ext uri="{9D8B030D-6E8A-4147-A177-3AD203B41FA5}">
                      <a16:colId xmlns:a16="http://schemas.microsoft.com/office/drawing/2014/main" val="3603859997"/>
                    </a:ext>
                  </a:extLst>
                </a:gridCol>
                <a:gridCol w="449050">
                  <a:extLst>
                    <a:ext uri="{9D8B030D-6E8A-4147-A177-3AD203B41FA5}">
                      <a16:colId xmlns:a16="http://schemas.microsoft.com/office/drawing/2014/main" val="4076488391"/>
                    </a:ext>
                  </a:extLst>
                </a:gridCol>
                <a:gridCol w="449050">
                  <a:extLst>
                    <a:ext uri="{9D8B030D-6E8A-4147-A177-3AD203B41FA5}">
                      <a16:colId xmlns:a16="http://schemas.microsoft.com/office/drawing/2014/main" val="3254101706"/>
                    </a:ext>
                  </a:extLst>
                </a:gridCol>
                <a:gridCol w="293210">
                  <a:extLst>
                    <a:ext uri="{9D8B030D-6E8A-4147-A177-3AD203B41FA5}">
                      <a16:colId xmlns:a16="http://schemas.microsoft.com/office/drawing/2014/main" val="3712391277"/>
                    </a:ext>
                  </a:extLst>
                </a:gridCol>
                <a:gridCol w="289974">
                  <a:extLst>
                    <a:ext uri="{9D8B030D-6E8A-4147-A177-3AD203B41FA5}">
                      <a16:colId xmlns:a16="http://schemas.microsoft.com/office/drawing/2014/main" val="1576646545"/>
                    </a:ext>
                  </a:extLst>
                </a:gridCol>
                <a:gridCol w="277120">
                  <a:extLst>
                    <a:ext uri="{9D8B030D-6E8A-4147-A177-3AD203B41FA5}">
                      <a16:colId xmlns:a16="http://schemas.microsoft.com/office/drawing/2014/main" val="2527660299"/>
                    </a:ext>
                  </a:extLst>
                </a:gridCol>
                <a:gridCol w="415198">
                  <a:extLst>
                    <a:ext uri="{9D8B030D-6E8A-4147-A177-3AD203B41FA5}">
                      <a16:colId xmlns:a16="http://schemas.microsoft.com/office/drawing/2014/main" val="3641075278"/>
                    </a:ext>
                  </a:extLst>
                </a:gridCol>
                <a:gridCol w="279244">
                  <a:extLst>
                    <a:ext uri="{9D8B030D-6E8A-4147-A177-3AD203B41FA5}">
                      <a16:colId xmlns:a16="http://schemas.microsoft.com/office/drawing/2014/main" val="3618613915"/>
                    </a:ext>
                  </a:extLst>
                </a:gridCol>
              </a:tblGrid>
              <a:tr h="182275">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Devices Flex Down</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551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Finance Lease(applicable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33.3-3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33.3-3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8551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LTAR</a:t>
                      </a:r>
                      <a:r>
                        <a:rPr lang="en-US" altLang="zh-CN" sz="900" b="0" i="0" u="none" strike="noStrike" kern="1200">
                          <a:solidFill>
                            <a:srgbClr val="000000"/>
                          </a:solidFill>
                          <a:effectLst/>
                          <a:latin typeface="Arial" panose="020B0604020202020204" pitchFamily="34" charset="0"/>
                          <a:ea typeface="+mn-ea"/>
                          <a:cs typeface="+mn-cs"/>
                        </a:rPr>
                        <a:t>(applicable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58651833"/>
                  </a:ext>
                </a:extLst>
              </a:tr>
              <a:tr h="18551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10022049"/>
                  </a:ext>
                </a:extLst>
              </a:tr>
              <a:tr h="18551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55997855"/>
                  </a:ext>
                </a:extLst>
              </a:tr>
            </a:tbl>
          </a:graphicData>
        </a:graphic>
      </p:graphicFrame>
      <p:cxnSp>
        <p:nvCxnSpPr>
          <p:cNvPr id="4" name="直接连接符 3">
            <a:extLst>
              <a:ext uri="{FF2B5EF4-FFF2-40B4-BE49-F238E27FC236}">
                <a16:creationId xmlns:a16="http://schemas.microsoft.com/office/drawing/2014/main" id="{3448F1FB-B633-4B5C-4599-F7211755F511}"/>
              </a:ext>
            </a:extLst>
          </p:cNvPr>
          <p:cNvCxnSpPr>
            <a:cxnSpLocks/>
          </p:cNvCxnSpPr>
          <p:nvPr/>
        </p:nvCxnSpPr>
        <p:spPr>
          <a:xfrm>
            <a:off x="6247923"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7" name="文本框 6">
            <a:extLst>
              <a:ext uri="{FF2B5EF4-FFF2-40B4-BE49-F238E27FC236}">
                <a16:creationId xmlns:a16="http://schemas.microsoft.com/office/drawing/2014/main" id="{8B914A88-B0BB-B50E-E9CB-46B63657505B}"/>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DaaS_S&amp;D_MSA</a:t>
            </a:r>
            <a:endParaRPr lang="zh-CN" altLang="en-US" sz="2000" b="1"/>
          </a:p>
        </p:txBody>
      </p:sp>
      <p:sp>
        <p:nvSpPr>
          <p:cNvPr id="12" name="对话气泡: 矩形 11">
            <a:extLst>
              <a:ext uri="{FF2B5EF4-FFF2-40B4-BE49-F238E27FC236}">
                <a16:creationId xmlns:a16="http://schemas.microsoft.com/office/drawing/2014/main" id="{C2B57DD3-A8A6-9A73-8827-F264FA564EF3}"/>
              </a:ext>
            </a:extLst>
          </p:cNvPr>
          <p:cNvSpPr/>
          <p:nvPr/>
        </p:nvSpPr>
        <p:spPr>
          <a:xfrm>
            <a:off x="-2383994" y="2662468"/>
            <a:ext cx="2065018" cy="4291225"/>
          </a:xfrm>
          <a:prstGeom prst="wedgeRectCallout">
            <a:avLst>
              <a:gd name="adj1" fmla="val 67562"/>
              <a:gd name="adj2" fmla="val -9272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Wingdings" panose="05000000000000000000" pitchFamily="2" charset="2"/>
              <a:buChar char="Ø"/>
            </a:pPr>
            <a:r>
              <a:rPr lang="en-US" altLang="zh-CN" sz="1200">
                <a:solidFill>
                  <a:srgbClr val="FF0000"/>
                </a:solidFill>
              </a:rPr>
              <a:t>Flex will only be applicable for MSA</a:t>
            </a:r>
          </a:p>
          <a:p>
            <a:pPr marL="285750" indent="-285750">
              <a:buFont typeface="Wingdings" panose="05000000000000000000" pitchFamily="2" charset="2"/>
              <a:buChar char="Ø"/>
            </a:pPr>
            <a:r>
              <a:rPr lang="en-US" altLang="zh-CN" sz="1200">
                <a:solidFill>
                  <a:schemeClr val="tx2">
                    <a:lumMod val="75000"/>
                    <a:lumOff val="25000"/>
                  </a:schemeClr>
                </a:solidFill>
              </a:rPr>
              <a:t>Flex Down need to</a:t>
            </a:r>
            <a:r>
              <a:rPr lang="zh-CN" altLang="en-US" sz="1200">
                <a:solidFill>
                  <a:schemeClr val="tx2">
                    <a:lumMod val="75000"/>
                    <a:lumOff val="25000"/>
                  </a:schemeClr>
                </a:solidFill>
              </a:rPr>
              <a:t> </a:t>
            </a:r>
            <a:r>
              <a:rPr lang="en-US" altLang="zh-CN" sz="1200">
                <a:solidFill>
                  <a:schemeClr val="tx2">
                    <a:lumMod val="75000"/>
                    <a:lumOff val="25000"/>
                  </a:schemeClr>
                </a:solidFill>
              </a:rPr>
              <a:t>realize ARS from defer immediately</a:t>
            </a:r>
          </a:p>
          <a:p>
            <a:pPr marL="285750" indent="-285750">
              <a:buFont typeface="Wingdings" panose="05000000000000000000" pitchFamily="2" charset="2"/>
              <a:buChar char="Ø"/>
            </a:pPr>
            <a:r>
              <a:rPr lang="en-US" altLang="zh-CN" sz="1200">
                <a:solidFill>
                  <a:schemeClr val="tx2">
                    <a:lumMod val="75000"/>
                    <a:lumOff val="25000"/>
                  </a:schemeClr>
                </a:solidFill>
              </a:rPr>
              <a:t>Flex pause=Brim will stop billing customer and no accounting entry</a:t>
            </a:r>
          </a:p>
          <a:p>
            <a:pPr marL="285750" indent="-285750">
              <a:buFont typeface="Wingdings" panose="05000000000000000000" pitchFamily="2" charset="2"/>
              <a:buChar char="Ø"/>
            </a:pPr>
            <a:r>
              <a:rPr lang="en-US" altLang="zh-CN" sz="1200">
                <a:solidFill>
                  <a:schemeClr val="tx2">
                    <a:lumMod val="75000"/>
                    <a:lumOff val="25000"/>
                  </a:schemeClr>
                </a:solidFill>
              </a:rPr>
              <a:t>Flex un-pause=Brim will continue to bill customer, entry will be the same to normal pass scenario</a:t>
            </a:r>
          </a:p>
          <a:p>
            <a:pPr marL="285750" indent="-285750">
              <a:buFont typeface="Wingdings" panose="05000000000000000000" pitchFamily="2" charset="2"/>
              <a:buChar char="Ø"/>
            </a:pPr>
            <a:r>
              <a:rPr lang="en-US" altLang="zh-CN" sz="1200">
                <a:solidFill>
                  <a:schemeClr val="tx2">
                    <a:lumMod val="75000"/>
                    <a:lumOff val="25000"/>
                  </a:schemeClr>
                </a:solidFill>
              </a:rPr>
              <a:t>Before Cut Off Date(25</a:t>
            </a:r>
            <a:r>
              <a:rPr lang="en-US" altLang="zh-CN" sz="1200" baseline="30000">
                <a:solidFill>
                  <a:schemeClr val="tx2">
                    <a:lumMod val="75000"/>
                    <a:lumOff val="25000"/>
                  </a:schemeClr>
                </a:solidFill>
              </a:rPr>
              <a:t>th</a:t>
            </a:r>
            <a:r>
              <a:rPr lang="en-US" altLang="zh-CN" sz="1200">
                <a:solidFill>
                  <a:schemeClr val="tx2">
                    <a:lumMod val="75000"/>
                    <a:lumOff val="25000"/>
                  </a:schemeClr>
                </a:solidFill>
              </a:rPr>
              <a:t>) (based on return or lock status),-stop billing customer from next</a:t>
            </a:r>
          </a:p>
          <a:p>
            <a:pPr marL="285750" indent="-285750">
              <a:buFont typeface="Wingdings" panose="05000000000000000000" pitchFamily="2" charset="2"/>
              <a:buChar char="Ø"/>
            </a:pPr>
            <a:r>
              <a:rPr lang="en-US" altLang="zh-CN" sz="1200">
                <a:solidFill>
                  <a:schemeClr val="tx2">
                    <a:lumMod val="75000"/>
                    <a:lumOff val="25000"/>
                  </a:schemeClr>
                </a:solidFill>
              </a:rPr>
              <a:t>After Cut Off Date(25</a:t>
            </a:r>
            <a:r>
              <a:rPr lang="en-US" altLang="zh-CN" sz="1200" baseline="30000">
                <a:solidFill>
                  <a:schemeClr val="tx2">
                    <a:lumMod val="75000"/>
                    <a:lumOff val="25000"/>
                  </a:schemeClr>
                </a:solidFill>
              </a:rPr>
              <a:t>th</a:t>
            </a:r>
            <a:r>
              <a:rPr lang="en-US" altLang="zh-CN" sz="1200">
                <a:solidFill>
                  <a:schemeClr val="tx2">
                    <a:lumMod val="75000"/>
                    <a:lumOff val="25000"/>
                  </a:schemeClr>
                </a:solidFill>
              </a:rPr>
              <a:t>) (based on return or lock status),-stop billing customer from the month after next</a:t>
            </a:r>
          </a:p>
        </p:txBody>
      </p:sp>
      <p:graphicFrame>
        <p:nvGraphicFramePr>
          <p:cNvPr id="5" name="表格 4">
            <a:extLst>
              <a:ext uri="{FF2B5EF4-FFF2-40B4-BE49-F238E27FC236}">
                <a16:creationId xmlns:a16="http://schemas.microsoft.com/office/drawing/2014/main" id="{DAEC9257-8D7B-E447-1702-FB3E85643CAB}"/>
              </a:ext>
            </a:extLst>
          </p:cNvPr>
          <p:cNvGraphicFramePr>
            <a:graphicFrameLocks noGrp="1"/>
          </p:cNvGraphicFramePr>
          <p:nvPr>
            <p:extLst>
              <p:ext uri="{D42A27DB-BD31-4B8C-83A1-F6EECF244321}">
                <p14:modId xmlns:p14="http://schemas.microsoft.com/office/powerpoint/2010/main" val="2035472391"/>
              </p:ext>
            </p:extLst>
          </p:nvPr>
        </p:nvGraphicFramePr>
        <p:xfrm>
          <a:off x="57690" y="4027621"/>
          <a:ext cx="6086803" cy="951098"/>
        </p:xfrm>
        <a:graphic>
          <a:graphicData uri="http://schemas.openxmlformats.org/drawingml/2006/table">
            <a:tbl>
              <a:tblPr/>
              <a:tblGrid>
                <a:gridCol w="443523">
                  <a:extLst>
                    <a:ext uri="{9D8B030D-6E8A-4147-A177-3AD203B41FA5}">
                      <a16:colId xmlns:a16="http://schemas.microsoft.com/office/drawing/2014/main" val="495084399"/>
                    </a:ext>
                  </a:extLst>
                </a:gridCol>
                <a:gridCol w="243871">
                  <a:extLst>
                    <a:ext uri="{9D8B030D-6E8A-4147-A177-3AD203B41FA5}">
                      <a16:colId xmlns:a16="http://schemas.microsoft.com/office/drawing/2014/main" val="3614210242"/>
                    </a:ext>
                  </a:extLst>
                </a:gridCol>
                <a:gridCol w="580382">
                  <a:extLst>
                    <a:ext uri="{9D8B030D-6E8A-4147-A177-3AD203B41FA5}">
                      <a16:colId xmlns:a16="http://schemas.microsoft.com/office/drawing/2014/main" val="1442124609"/>
                    </a:ext>
                  </a:extLst>
                </a:gridCol>
                <a:gridCol w="2141395">
                  <a:extLst>
                    <a:ext uri="{9D8B030D-6E8A-4147-A177-3AD203B41FA5}">
                      <a16:colId xmlns:a16="http://schemas.microsoft.com/office/drawing/2014/main" val="3603859997"/>
                    </a:ext>
                  </a:extLst>
                </a:gridCol>
                <a:gridCol w="449963">
                  <a:extLst>
                    <a:ext uri="{9D8B030D-6E8A-4147-A177-3AD203B41FA5}">
                      <a16:colId xmlns:a16="http://schemas.microsoft.com/office/drawing/2014/main" val="4076488391"/>
                    </a:ext>
                  </a:extLst>
                </a:gridCol>
                <a:gridCol w="449963">
                  <a:extLst>
                    <a:ext uri="{9D8B030D-6E8A-4147-A177-3AD203B41FA5}">
                      <a16:colId xmlns:a16="http://schemas.microsoft.com/office/drawing/2014/main" val="3254101706"/>
                    </a:ext>
                  </a:extLst>
                </a:gridCol>
                <a:gridCol w="283377">
                  <a:extLst>
                    <a:ext uri="{9D8B030D-6E8A-4147-A177-3AD203B41FA5}">
                      <a16:colId xmlns:a16="http://schemas.microsoft.com/office/drawing/2014/main" val="3712391277"/>
                    </a:ext>
                  </a:extLst>
                </a:gridCol>
                <a:gridCol w="599703">
                  <a:extLst>
                    <a:ext uri="{9D8B030D-6E8A-4147-A177-3AD203B41FA5}">
                      <a16:colId xmlns:a16="http://schemas.microsoft.com/office/drawing/2014/main" val="956071091"/>
                    </a:ext>
                  </a:extLst>
                </a:gridCol>
                <a:gridCol w="246929">
                  <a:extLst>
                    <a:ext uri="{9D8B030D-6E8A-4147-A177-3AD203B41FA5}">
                      <a16:colId xmlns:a16="http://schemas.microsoft.com/office/drawing/2014/main" val="2527660299"/>
                    </a:ext>
                  </a:extLst>
                </a:gridCol>
                <a:gridCol w="382951">
                  <a:extLst>
                    <a:ext uri="{9D8B030D-6E8A-4147-A177-3AD203B41FA5}">
                      <a16:colId xmlns:a16="http://schemas.microsoft.com/office/drawing/2014/main" val="3641075278"/>
                    </a:ext>
                  </a:extLst>
                </a:gridCol>
                <a:gridCol w="264746">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6" name="表格 5">
            <a:extLst>
              <a:ext uri="{FF2B5EF4-FFF2-40B4-BE49-F238E27FC236}">
                <a16:creationId xmlns:a16="http://schemas.microsoft.com/office/drawing/2014/main" id="{85ECC04E-8D2F-E50B-FF8A-22B5C7590B75}"/>
              </a:ext>
            </a:extLst>
          </p:cNvPr>
          <p:cNvGraphicFramePr>
            <a:graphicFrameLocks noGrp="1"/>
          </p:cNvGraphicFramePr>
          <p:nvPr>
            <p:extLst>
              <p:ext uri="{D42A27DB-BD31-4B8C-83A1-F6EECF244321}">
                <p14:modId xmlns:p14="http://schemas.microsoft.com/office/powerpoint/2010/main" val="2075982784"/>
              </p:ext>
            </p:extLst>
          </p:nvPr>
        </p:nvGraphicFramePr>
        <p:xfrm>
          <a:off x="6424180" y="3511749"/>
          <a:ext cx="5710129" cy="951098"/>
        </p:xfrm>
        <a:graphic>
          <a:graphicData uri="http://schemas.openxmlformats.org/drawingml/2006/table">
            <a:tbl>
              <a:tblPr/>
              <a:tblGrid>
                <a:gridCol w="480910">
                  <a:extLst>
                    <a:ext uri="{9D8B030D-6E8A-4147-A177-3AD203B41FA5}">
                      <a16:colId xmlns:a16="http://schemas.microsoft.com/office/drawing/2014/main" val="495084399"/>
                    </a:ext>
                  </a:extLst>
                </a:gridCol>
                <a:gridCol w="264428">
                  <a:extLst>
                    <a:ext uri="{9D8B030D-6E8A-4147-A177-3AD203B41FA5}">
                      <a16:colId xmlns:a16="http://schemas.microsoft.com/office/drawing/2014/main" val="3614210242"/>
                    </a:ext>
                  </a:extLst>
                </a:gridCol>
                <a:gridCol w="629306">
                  <a:extLst>
                    <a:ext uri="{9D8B030D-6E8A-4147-A177-3AD203B41FA5}">
                      <a16:colId xmlns:a16="http://schemas.microsoft.com/office/drawing/2014/main" val="1442124609"/>
                    </a:ext>
                  </a:extLst>
                </a:gridCol>
                <a:gridCol w="1432139">
                  <a:extLst>
                    <a:ext uri="{9D8B030D-6E8A-4147-A177-3AD203B41FA5}">
                      <a16:colId xmlns:a16="http://schemas.microsoft.com/office/drawing/2014/main" val="3603859997"/>
                    </a:ext>
                  </a:extLst>
                </a:gridCol>
                <a:gridCol w="487893">
                  <a:extLst>
                    <a:ext uri="{9D8B030D-6E8A-4147-A177-3AD203B41FA5}">
                      <a16:colId xmlns:a16="http://schemas.microsoft.com/office/drawing/2014/main" val="4076488391"/>
                    </a:ext>
                  </a:extLst>
                </a:gridCol>
                <a:gridCol w="487893">
                  <a:extLst>
                    <a:ext uri="{9D8B030D-6E8A-4147-A177-3AD203B41FA5}">
                      <a16:colId xmlns:a16="http://schemas.microsoft.com/office/drawing/2014/main" val="3254101706"/>
                    </a:ext>
                  </a:extLst>
                </a:gridCol>
                <a:gridCol w="307265">
                  <a:extLst>
                    <a:ext uri="{9D8B030D-6E8A-4147-A177-3AD203B41FA5}">
                      <a16:colId xmlns:a16="http://schemas.microsoft.com/office/drawing/2014/main" val="3712391277"/>
                    </a:ext>
                  </a:extLst>
                </a:gridCol>
                <a:gridCol w="650256">
                  <a:extLst>
                    <a:ext uri="{9D8B030D-6E8A-4147-A177-3AD203B41FA5}">
                      <a16:colId xmlns:a16="http://schemas.microsoft.com/office/drawing/2014/main" val="956071091"/>
                    </a:ext>
                  </a:extLst>
                </a:gridCol>
                <a:gridCol w="267744">
                  <a:extLst>
                    <a:ext uri="{9D8B030D-6E8A-4147-A177-3AD203B41FA5}">
                      <a16:colId xmlns:a16="http://schemas.microsoft.com/office/drawing/2014/main" val="2527660299"/>
                    </a:ext>
                  </a:extLst>
                </a:gridCol>
                <a:gridCol w="415232">
                  <a:extLst>
                    <a:ext uri="{9D8B030D-6E8A-4147-A177-3AD203B41FA5}">
                      <a16:colId xmlns:a16="http://schemas.microsoft.com/office/drawing/2014/main" val="3641075278"/>
                    </a:ext>
                  </a:extLst>
                </a:gridCol>
                <a:gridCol w="287063">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sp>
        <p:nvSpPr>
          <p:cNvPr id="8" name="对话气泡: 矩形 7">
            <a:extLst>
              <a:ext uri="{FF2B5EF4-FFF2-40B4-BE49-F238E27FC236}">
                <a16:creationId xmlns:a16="http://schemas.microsoft.com/office/drawing/2014/main" id="{F771C467-E11F-4022-ACCC-FC5FC6DC2735}"/>
              </a:ext>
            </a:extLst>
          </p:cNvPr>
          <p:cNvSpPr/>
          <p:nvPr/>
        </p:nvSpPr>
        <p:spPr>
          <a:xfrm>
            <a:off x="552827" y="5433490"/>
            <a:ext cx="4676397" cy="424386"/>
          </a:xfrm>
          <a:prstGeom prst="wedgeRectCallout">
            <a:avLst>
              <a:gd name="adj1" fmla="val -51116"/>
              <a:gd name="adj2" fmla="val -15797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Based on flex Down request, Brim will also recognize ARS as revenue</a:t>
            </a:r>
            <a:endParaRPr lang="zh-CN" altLang="en-US" sz="1200">
              <a:solidFill>
                <a:schemeClr val="tx1"/>
              </a:solidFill>
            </a:endParaRPr>
          </a:p>
        </p:txBody>
      </p:sp>
      <p:sp>
        <p:nvSpPr>
          <p:cNvPr id="9" name="对话气泡: 矩形 8">
            <a:extLst>
              <a:ext uri="{FF2B5EF4-FFF2-40B4-BE49-F238E27FC236}">
                <a16:creationId xmlns:a16="http://schemas.microsoft.com/office/drawing/2014/main" id="{C3BA7F04-FF0C-9F8A-1142-8FE290925F62}"/>
              </a:ext>
            </a:extLst>
          </p:cNvPr>
          <p:cNvSpPr/>
          <p:nvPr/>
        </p:nvSpPr>
        <p:spPr>
          <a:xfrm>
            <a:off x="7014951" y="4978719"/>
            <a:ext cx="4676397" cy="424386"/>
          </a:xfrm>
          <a:prstGeom prst="wedgeRectCallout">
            <a:avLst>
              <a:gd name="adj1" fmla="val -51116"/>
              <a:gd name="adj2" fmla="val -15797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Based on flex Down request, Brim will also recognize ARS as revenue</a:t>
            </a:r>
            <a:endParaRPr lang="zh-CN" altLang="en-US" sz="1200">
              <a:solidFill>
                <a:schemeClr val="tx1"/>
              </a:solidFill>
            </a:endParaRPr>
          </a:p>
        </p:txBody>
      </p:sp>
    </p:spTree>
    <p:extLst>
      <p:ext uri="{BB962C8B-B14F-4D97-AF65-F5344CB8AC3E}">
        <p14:creationId xmlns:p14="http://schemas.microsoft.com/office/powerpoint/2010/main" val="407080115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84C9E0-5859-0770-CE1C-25D9895F8BF6}"/>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7972C85A-9323-7FB3-9BC6-3CAC75F28241}"/>
              </a:ext>
            </a:extLst>
          </p:cNvPr>
          <p:cNvGraphicFramePr>
            <a:graphicFrameLocks noGrp="1"/>
          </p:cNvGraphicFramePr>
          <p:nvPr>
            <p:extLst>
              <p:ext uri="{D42A27DB-BD31-4B8C-83A1-F6EECF244321}">
                <p14:modId xmlns:p14="http://schemas.microsoft.com/office/powerpoint/2010/main" val="1373259209"/>
              </p:ext>
            </p:extLst>
          </p:nvPr>
        </p:nvGraphicFramePr>
        <p:xfrm>
          <a:off x="201959" y="349346"/>
          <a:ext cx="5872548" cy="1303020"/>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596359">
                  <a:extLst>
                    <a:ext uri="{9D8B030D-6E8A-4147-A177-3AD203B41FA5}">
                      <a16:colId xmlns:a16="http://schemas.microsoft.com/office/drawing/2014/main" val="4114365151"/>
                    </a:ext>
                  </a:extLst>
                </a:gridCol>
                <a:gridCol w="737141">
                  <a:extLst>
                    <a:ext uri="{9D8B030D-6E8A-4147-A177-3AD203B41FA5}">
                      <a16:colId xmlns:a16="http://schemas.microsoft.com/office/drawing/2014/main" val="4075178046"/>
                    </a:ext>
                  </a:extLst>
                </a:gridCol>
                <a:gridCol w="688388">
                  <a:extLst>
                    <a:ext uri="{9D8B030D-6E8A-4147-A177-3AD203B41FA5}">
                      <a16:colId xmlns:a16="http://schemas.microsoft.com/office/drawing/2014/main" val="973533418"/>
                    </a:ext>
                  </a:extLst>
                </a:gridCol>
                <a:gridCol w="715116">
                  <a:extLst>
                    <a:ext uri="{9D8B030D-6E8A-4147-A177-3AD203B41FA5}">
                      <a16:colId xmlns:a16="http://schemas.microsoft.com/office/drawing/2014/main" val="2377711782"/>
                    </a:ext>
                  </a:extLst>
                </a:gridCol>
                <a:gridCol w="6601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32935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37137">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highlight>
                            <a:srgbClr val="FFFF00"/>
                          </a:highlight>
                        </a:rPr>
                        <a:t>Quarterly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4" name="直接连接符 3">
            <a:extLst>
              <a:ext uri="{FF2B5EF4-FFF2-40B4-BE49-F238E27FC236}">
                <a16:creationId xmlns:a16="http://schemas.microsoft.com/office/drawing/2014/main" id="{2347BB21-256A-5A46-B6EB-050E4A9CF0CD}"/>
              </a:ext>
            </a:extLst>
          </p:cNvPr>
          <p:cNvCxnSpPr>
            <a:cxnSpLocks/>
          </p:cNvCxnSpPr>
          <p:nvPr/>
        </p:nvCxnSpPr>
        <p:spPr>
          <a:xfrm>
            <a:off x="6247923"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7" name="文本框 6">
            <a:extLst>
              <a:ext uri="{FF2B5EF4-FFF2-40B4-BE49-F238E27FC236}">
                <a16:creationId xmlns:a16="http://schemas.microsoft.com/office/drawing/2014/main" id="{4D6FE822-69DD-DA1B-D663-C80CABE2D183}"/>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DaaS_S&amp;D_MSA/MLA</a:t>
            </a:r>
            <a:endParaRPr lang="zh-CN" altLang="en-US" sz="2000" b="1"/>
          </a:p>
        </p:txBody>
      </p:sp>
      <p:graphicFrame>
        <p:nvGraphicFramePr>
          <p:cNvPr id="2" name="表格 1">
            <a:extLst>
              <a:ext uri="{FF2B5EF4-FFF2-40B4-BE49-F238E27FC236}">
                <a16:creationId xmlns:a16="http://schemas.microsoft.com/office/drawing/2014/main" id="{7C5F076C-B37C-2656-2F61-39FEA5D19BE6}"/>
              </a:ext>
            </a:extLst>
          </p:cNvPr>
          <p:cNvGraphicFramePr>
            <a:graphicFrameLocks noGrp="1"/>
          </p:cNvGraphicFramePr>
          <p:nvPr>
            <p:extLst>
              <p:ext uri="{D42A27DB-BD31-4B8C-83A1-F6EECF244321}">
                <p14:modId xmlns:p14="http://schemas.microsoft.com/office/powerpoint/2010/main" val="2412317635"/>
              </p:ext>
            </p:extLst>
          </p:nvPr>
        </p:nvGraphicFramePr>
        <p:xfrm>
          <a:off x="6281482" y="349346"/>
          <a:ext cx="5872548" cy="1303020"/>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647222">
                  <a:extLst>
                    <a:ext uri="{9D8B030D-6E8A-4147-A177-3AD203B41FA5}">
                      <a16:colId xmlns:a16="http://schemas.microsoft.com/office/drawing/2014/main" val="4114365151"/>
                    </a:ext>
                  </a:extLst>
                </a:gridCol>
                <a:gridCol w="752475">
                  <a:extLst>
                    <a:ext uri="{9D8B030D-6E8A-4147-A177-3AD203B41FA5}">
                      <a16:colId xmlns:a16="http://schemas.microsoft.com/office/drawing/2014/main" val="4075178046"/>
                    </a:ext>
                  </a:extLst>
                </a:gridCol>
                <a:gridCol w="666750">
                  <a:extLst>
                    <a:ext uri="{9D8B030D-6E8A-4147-A177-3AD203B41FA5}">
                      <a16:colId xmlns:a16="http://schemas.microsoft.com/office/drawing/2014/main" val="973533418"/>
                    </a:ext>
                  </a:extLst>
                </a:gridCol>
                <a:gridCol w="672857">
                  <a:extLst>
                    <a:ext uri="{9D8B030D-6E8A-4147-A177-3AD203B41FA5}">
                      <a16:colId xmlns:a16="http://schemas.microsoft.com/office/drawing/2014/main" val="2377711782"/>
                    </a:ext>
                  </a:extLst>
                </a:gridCol>
                <a:gridCol w="6578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49034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90345">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Quarterly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7">
            <a:extLst>
              <a:ext uri="{FF2B5EF4-FFF2-40B4-BE49-F238E27FC236}">
                <a16:creationId xmlns:a16="http://schemas.microsoft.com/office/drawing/2014/main" id="{5212A132-A6D5-52DC-7275-DE1D973BD4DC}"/>
              </a:ext>
            </a:extLst>
          </p:cNvPr>
          <p:cNvGraphicFramePr>
            <a:graphicFrameLocks noGrp="1"/>
          </p:cNvGraphicFramePr>
          <p:nvPr>
            <p:extLst>
              <p:ext uri="{D42A27DB-BD31-4B8C-83A1-F6EECF244321}">
                <p14:modId xmlns:p14="http://schemas.microsoft.com/office/powerpoint/2010/main" val="2789351970"/>
              </p:ext>
            </p:extLst>
          </p:nvPr>
        </p:nvGraphicFramePr>
        <p:xfrm>
          <a:off x="6281482" y="1647515"/>
          <a:ext cx="5852734" cy="2237463"/>
        </p:xfrm>
        <a:graphic>
          <a:graphicData uri="http://schemas.openxmlformats.org/drawingml/2006/table">
            <a:tbl>
              <a:tblPr/>
              <a:tblGrid>
                <a:gridCol w="418502">
                  <a:extLst>
                    <a:ext uri="{9D8B030D-6E8A-4147-A177-3AD203B41FA5}">
                      <a16:colId xmlns:a16="http://schemas.microsoft.com/office/drawing/2014/main" val="495084399"/>
                    </a:ext>
                  </a:extLst>
                </a:gridCol>
                <a:gridCol w="237710">
                  <a:extLst>
                    <a:ext uri="{9D8B030D-6E8A-4147-A177-3AD203B41FA5}">
                      <a16:colId xmlns:a16="http://schemas.microsoft.com/office/drawing/2014/main" val="3614210242"/>
                    </a:ext>
                  </a:extLst>
                </a:gridCol>
                <a:gridCol w="547640">
                  <a:extLst>
                    <a:ext uri="{9D8B030D-6E8A-4147-A177-3AD203B41FA5}">
                      <a16:colId xmlns:a16="http://schemas.microsoft.com/office/drawing/2014/main" val="1442124609"/>
                    </a:ext>
                  </a:extLst>
                </a:gridCol>
                <a:gridCol w="1879600">
                  <a:extLst>
                    <a:ext uri="{9D8B030D-6E8A-4147-A177-3AD203B41FA5}">
                      <a16:colId xmlns:a16="http://schemas.microsoft.com/office/drawing/2014/main" val="3603859997"/>
                    </a:ext>
                  </a:extLst>
                </a:gridCol>
                <a:gridCol w="349986">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273468">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872140390"/>
                    </a:ext>
                  </a:extLst>
                </a:gridCol>
                <a:gridCol w="262018">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548102">
                  <a:extLst>
                    <a:ext uri="{9D8B030D-6E8A-4147-A177-3AD203B41FA5}">
                      <a16:colId xmlns:a16="http://schemas.microsoft.com/office/drawing/2014/main" val="3618613915"/>
                    </a:ext>
                  </a:extLst>
                </a:gridCol>
              </a:tblGrid>
              <a:tr h="127981">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At the beginning of the quarter</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61.9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sng"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Lease Receivable </a:t>
                      </a:r>
                      <a:r>
                        <a:rPr lang="en-US" altLang="zh-CN" sz="900" b="0" i="0" u="sng" strike="noStrike" kern="1200">
                          <a:solidFill>
                            <a:srgbClr val="000000"/>
                          </a:solidFill>
                          <a:effectLst/>
                          <a:latin typeface="Arial" panose="020B0604020202020204" pitchFamily="34" charset="0"/>
                          <a:ea typeface="+mn-ea"/>
                          <a:cs typeface="+mn-cs"/>
                        </a:rPr>
                        <a:t>(3PO)</a:t>
                      </a:r>
                      <a:endParaRPr lang="en-US" sz="900" b="0" i="0" u="sng"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sng"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1479446"/>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17176656"/>
                  </a:ext>
                </a:extLst>
              </a:tr>
            </a:tbl>
          </a:graphicData>
        </a:graphic>
      </p:graphicFrame>
      <p:graphicFrame>
        <p:nvGraphicFramePr>
          <p:cNvPr id="10" name="表格 9">
            <a:extLst>
              <a:ext uri="{FF2B5EF4-FFF2-40B4-BE49-F238E27FC236}">
                <a16:creationId xmlns:a16="http://schemas.microsoft.com/office/drawing/2014/main" id="{AC9A9A8A-7E65-6FC0-6C88-0356D0344789}"/>
              </a:ext>
            </a:extLst>
          </p:cNvPr>
          <p:cNvGraphicFramePr>
            <a:graphicFrameLocks noGrp="1"/>
          </p:cNvGraphicFramePr>
          <p:nvPr>
            <p:extLst>
              <p:ext uri="{D42A27DB-BD31-4B8C-83A1-F6EECF244321}">
                <p14:modId xmlns:p14="http://schemas.microsoft.com/office/powerpoint/2010/main" val="928689497"/>
              </p:ext>
            </p:extLst>
          </p:nvPr>
        </p:nvGraphicFramePr>
        <p:xfrm>
          <a:off x="118587" y="1647515"/>
          <a:ext cx="6039293" cy="2542263"/>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11">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At the beginning of the quarter</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graphicFrame>
        <p:nvGraphicFramePr>
          <p:cNvPr id="9" name="表格 8">
            <a:extLst>
              <a:ext uri="{FF2B5EF4-FFF2-40B4-BE49-F238E27FC236}">
                <a16:creationId xmlns:a16="http://schemas.microsoft.com/office/drawing/2014/main" id="{20800464-3798-1DE0-F5A1-1960797F1CF0}"/>
              </a:ext>
            </a:extLst>
          </p:cNvPr>
          <p:cNvGraphicFramePr>
            <a:graphicFrameLocks noGrp="1"/>
          </p:cNvGraphicFramePr>
          <p:nvPr>
            <p:extLst>
              <p:ext uri="{D42A27DB-BD31-4B8C-83A1-F6EECF244321}">
                <p14:modId xmlns:p14="http://schemas.microsoft.com/office/powerpoint/2010/main" val="2165589943"/>
              </p:ext>
            </p:extLst>
          </p:nvPr>
        </p:nvGraphicFramePr>
        <p:xfrm>
          <a:off x="143235" y="4225642"/>
          <a:ext cx="6039293" cy="2690282"/>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577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1" name="表格 10">
            <a:extLst>
              <a:ext uri="{FF2B5EF4-FFF2-40B4-BE49-F238E27FC236}">
                <a16:creationId xmlns:a16="http://schemas.microsoft.com/office/drawing/2014/main" id="{27CDC7BE-E234-1A5F-C03D-C619FD198611}"/>
              </a:ext>
            </a:extLst>
          </p:cNvPr>
          <p:cNvGraphicFramePr>
            <a:graphicFrameLocks noGrp="1"/>
          </p:cNvGraphicFramePr>
          <p:nvPr>
            <p:extLst>
              <p:ext uri="{D42A27DB-BD31-4B8C-83A1-F6EECF244321}">
                <p14:modId xmlns:p14="http://schemas.microsoft.com/office/powerpoint/2010/main" val="375105302"/>
              </p:ext>
            </p:extLst>
          </p:nvPr>
        </p:nvGraphicFramePr>
        <p:xfrm>
          <a:off x="6283380" y="4078520"/>
          <a:ext cx="5870650"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11350">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81641756"/>
                  </a:ext>
                </a:extLst>
              </a:tr>
            </a:tbl>
          </a:graphicData>
        </a:graphic>
      </p:graphicFrame>
      <p:sp>
        <p:nvSpPr>
          <p:cNvPr id="3" name="对话气泡: 矩形 2">
            <a:extLst>
              <a:ext uri="{FF2B5EF4-FFF2-40B4-BE49-F238E27FC236}">
                <a16:creationId xmlns:a16="http://schemas.microsoft.com/office/drawing/2014/main" id="{E244E335-2ED8-58B7-B924-4944327F9115}"/>
              </a:ext>
            </a:extLst>
          </p:cNvPr>
          <p:cNvSpPr/>
          <p:nvPr/>
        </p:nvSpPr>
        <p:spPr>
          <a:xfrm>
            <a:off x="-1913860" y="4912665"/>
            <a:ext cx="1837190" cy="1479268"/>
          </a:xfrm>
          <a:prstGeom prst="wedgeRectCallout">
            <a:avLst>
              <a:gd name="adj1" fmla="val 61150"/>
              <a:gd name="adj2" fmla="val -3541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a:p>
            <a:pPr algn="ctr"/>
            <a:endParaRPr lang="zh-CN" altLang="en-US" sz="1200">
              <a:solidFill>
                <a:schemeClr val="tx1"/>
              </a:solidFill>
            </a:endParaRPr>
          </a:p>
        </p:txBody>
      </p:sp>
      <p:sp>
        <p:nvSpPr>
          <p:cNvPr id="5" name="对话气泡: 矩形 4">
            <a:extLst>
              <a:ext uri="{FF2B5EF4-FFF2-40B4-BE49-F238E27FC236}">
                <a16:creationId xmlns:a16="http://schemas.microsoft.com/office/drawing/2014/main" id="{94CA94D2-FF76-5B8B-E18A-F5742EAEDA14}"/>
              </a:ext>
            </a:extLst>
          </p:cNvPr>
          <p:cNvSpPr/>
          <p:nvPr/>
        </p:nvSpPr>
        <p:spPr>
          <a:xfrm>
            <a:off x="12333170" y="5327807"/>
            <a:ext cx="1350932" cy="1636519"/>
          </a:xfrm>
          <a:prstGeom prst="wedgeRectCallout">
            <a:avLst>
              <a:gd name="adj1" fmla="val -58605"/>
              <a:gd name="adj2" fmla="val -1601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p:txBody>
      </p:sp>
    </p:spTree>
    <p:extLst>
      <p:ext uri="{BB962C8B-B14F-4D97-AF65-F5344CB8AC3E}">
        <p14:creationId xmlns:p14="http://schemas.microsoft.com/office/powerpoint/2010/main" val="13863178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4A25CE-D766-26B9-758D-21F56EAEC4F4}"/>
            </a:ext>
          </a:extLst>
        </p:cNvPr>
        <p:cNvGrpSpPr/>
        <p:nvPr/>
      </p:nvGrpSpPr>
      <p:grpSpPr>
        <a:xfrm>
          <a:off x="0" y="0"/>
          <a:ext cx="0" cy="0"/>
          <a:chOff x="0" y="0"/>
          <a:chExt cx="0" cy="0"/>
        </a:xfrm>
      </p:grpSpPr>
      <p:sp>
        <p:nvSpPr>
          <p:cNvPr id="7" name="文本框 6">
            <a:extLst>
              <a:ext uri="{FF2B5EF4-FFF2-40B4-BE49-F238E27FC236}">
                <a16:creationId xmlns:a16="http://schemas.microsoft.com/office/drawing/2014/main" id="{AAA7B865-9069-DFD9-6CB7-30020E1CF268}"/>
              </a:ext>
            </a:extLst>
          </p:cNvPr>
          <p:cNvSpPr txBox="1"/>
          <p:nvPr/>
        </p:nvSpPr>
        <p:spPr>
          <a:xfrm>
            <a:off x="64655" y="202364"/>
            <a:ext cx="4470947" cy="400110"/>
          </a:xfrm>
          <a:prstGeom prst="rect">
            <a:avLst/>
          </a:prstGeom>
          <a:noFill/>
        </p:spPr>
        <p:txBody>
          <a:bodyPr wrap="square" rtlCol="0">
            <a:spAutoFit/>
          </a:bodyPr>
          <a:lstStyle/>
          <a:p>
            <a:r>
              <a:rPr lang="nl-NL" altLang="zh-CN" sz="2000" b="1"/>
              <a:t>S&amp;D_COI/POI</a:t>
            </a:r>
            <a:endParaRPr lang="zh-CN" altLang="en-US" sz="2000" b="1"/>
          </a:p>
        </p:txBody>
      </p:sp>
      <p:graphicFrame>
        <p:nvGraphicFramePr>
          <p:cNvPr id="9" name="表格 8">
            <a:extLst>
              <a:ext uri="{FF2B5EF4-FFF2-40B4-BE49-F238E27FC236}">
                <a16:creationId xmlns:a16="http://schemas.microsoft.com/office/drawing/2014/main" id="{2DD99B89-99FE-5A6B-F050-B5119595A3DC}"/>
              </a:ext>
            </a:extLst>
          </p:cNvPr>
          <p:cNvGraphicFramePr>
            <a:graphicFrameLocks noGrp="1"/>
          </p:cNvGraphicFramePr>
          <p:nvPr>
            <p:extLst>
              <p:ext uri="{D42A27DB-BD31-4B8C-83A1-F6EECF244321}">
                <p14:modId xmlns:p14="http://schemas.microsoft.com/office/powerpoint/2010/main" val="1775232652"/>
              </p:ext>
            </p:extLst>
          </p:nvPr>
        </p:nvGraphicFramePr>
        <p:xfrm>
          <a:off x="64655" y="957438"/>
          <a:ext cx="6179127" cy="951605"/>
        </p:xfrm>
        <a:graphic>
          <a:graphicData uri="http://schemas.openxmlformats.org/drawingml/2006/table">
            <a:tbl>
              <a:tblPr/>
              <a:tblGrid>
                <a:gridCol w="435641">
                  <a:extLst>
                    <a:ext uri="{9D8B030D-6E8A-4147-A177-3AD203B41FA5}">
                      <a16:colId xmlns:a16="http://schemas.microsoft.com/office/drawing/2014/main" val="495084399"/>
                    </a:ext>
                  </a:extLst>
                </a:gridCol>
                <a:gridCol w="249002">
                  <a:extLst>
                    <a:ext uri="{9D8B030D-6E8A-4147-A177-3AD203B41FA5}">
                      <a16:colId xmlns:a16="http://schemas.microsoft.com/office/drawing/2014/main" val="3614210242"/>
                    </a:ext>
                  </a:extLst>
                </a:gridCol>
                <a:gridCol w="573654">
                  <a:extLst>
                    <a:ext uri="{9D8B030D-6E8A-4147-A177-3AD203B41FA5}">
                      <a16:colId xmlns:a16="http://schemas.microsoft.com/office/drawing/2014/main" val="1442124609"/>
                    </a:ext>
                  </a:extLst>
                </a:gridCol>
                <a:gridCol w="2178050">
                  <a:extLst>
                    <a:ext uri="{9D8B030D-6E8A-4147-A177-3AD203B41FA5}">
                      <a16:colId xmlns:a16="http://schemas.microsoft.com/office/drawing/2014/main" val="3603859997"/>
                    </a:ext>
                  </a:extLst>
                </a:gridCol>
                <a:gridCol w="374112">
                  <a:extLst>
                    <a:ext uri="{9D8B030D-6E8A-4147-A177-3AD203B41FA5}">
                      <a16:colId xmlns:a16="http://schemas.microsoft.com/office/drawing/2014/main" val="4076488391"/>
                    </a:ext>
                  </a:extLst>
                </a:gridCol>
                <a:gridCol w="374112">
                  <a:extLst>
                    <a:ext uri="{9D8B030D-6E8A-4147-A177-3AD203B41FA5}">
                      <a16:colId xmlns:a16="http://schemas.microsoft.com/office/drawing/2014/main" val="3254101706"/>
                    </a:ext>
                  </a:extLst>
                </a:gridCol>
                <a:gridCol w="363584">
                  <a:extLst>
                    <a:ext uri="{9D8B030D-6E8A-4147-A177-3AD203B41FA5}">
                      <a16:colId xmlns:a16="http://schemas.microsoft.com/office/drawing/2014/main" val="3712391277"/>
                    </a:ext>
                  </a:extLst>
                </a:gridCol>
                <a:gridCol w="593065">
                  <a:extLst>
                    <a:ext uri="{9D8B030D-6E8A-4147-A177-3AD203B41FA5}">
                      <a16:colId xmlns:a16="http://schemas.microsoft.com/office/drawing/2014/main" val="967768249"/>
                    </a:ext>
                  </a:extLst>
                </a:gridCol>
                <a:gridCol w="274465">
                  <a:extLst>
                    <a:ext uri="{9D8B030D-6E8A-4147-A177-3AD203B41FA5}">
                      <a16:colId xmlns:a16="http://schemas.microsoft.com/office/drawing/2014/main" val="2527660299"/>
                    </a:ext>
                  </a:extLst>
                </a:gridCol>
                <a:gridCol w="404306">
                  <a:extLst>
                    <a:ext uri="{9D8B030D-6E8A-4147-A177-3AD203B41FA5}">
                      <a16:colId xmlns:a16="http://schemas.microsoft.com/office/drawing/2014/main" val="3641075278"/>
                    </a:ext>
                  </a:extLst>
                </a:gridCol>
                <a:gridCol w="359136">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Upfront service revenue recognition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Customer acceptance</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36</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Service Revenue – Upfront svc(unfunded)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bl>
          </a:graphicData>
        </a:graphic>
      </p:graphicFrame>
      <p:graphicFrame>
        <p:nvGraphicFramePr>
          <p:cNvPr id="6" name="表格 5">
            <a:extLst>
              <a:ext uri="{FF2B5EF4-FFF2-40B4-BE49-F238E27FC236}">
                <a16:creationId xmlns:a16="http://schemas.microsoft.com/office/drawing/2014/main" id="{5ED97618-CE4B-75F8-E78B-B223C2EE78D4}"/>
              </a:ext>
            </a:extLst>
          </p:cNvPr>
          <p:cNvGraphicFramePr>
            <a:graphicFrameLocks noGrp="1"/>
          </p:cNvGraphicFramePr>
          <p:nvPr>
            <p:extLst>
              <p:ext uri="{D42A27DB-BD31-4B8C-83A1-F6EECF244321}">
                <p14:modId xmlns:p14="http://schemas.microsoft.com/office/powerpoint/2010/main" val="2980927179"/>
              </p:ext>
            </p:extLst>
          </p:nvPr>
        </p:nvGraphicFramePr>
        <p:xfrm>
          <a:off x="64656" y="2359588"/>
          <a:ext cx="6179780" cy="955479"/>
        </p:xfrm>
        <a:graphic>
          <a:graphicData uri="http://schemas.openxmlformats.org/drawingml/2006/table">
            <a:tbl>
              <a:tblPr/>
              <a:tblGrid>
                <a:gridCol w="429875">
                  <a:extLst>
                    <a:ext uri="{9D8B030D-6E8A-4147-A177-3AD203B41FA5}">
                      <a16:colId xmlns:a16="http://schemas.microsoft.com/office/drawing/2014/main" val="495084399"/>
                    </a:ext>
                  </a:extLst>
                </a:gridCol>
                <a:gridCol w="245706">
                  <a:extLst>
                    <a:ext uri="{9D8B030D-6E8A-4147-A177-3AD203B41FA5}">
                      <a16:colId xmlns:a16="http://schemas.microsoft.com/office/drawing/2014/main" val="3614210242"/>
                    </a:ext>
                  </a:extLst>
                </a:gridCol>
                <a:gridCol w="566061">
                  <a:extLst>
                    <a:ext uri="{9D8B030D-6E8A-4147-A177-3AD203B41FA5}">
                      <a16:colId xmlns:a16="http://schemas.microsoft.com/office/drawing/2014/main" val="1442124609"/>
                    </a:ext>
                  </a:extLst>
                </a:gridCol>
                <a:gridCol w="2305050">
                  <a:extLst>
                    <a:ext uri="{9D8B030D-6E8A-4147-A177-3AD203B41FA5}">
                      <a16:colId xmlns:a16="http://schemas.microsoft.com/office/drawing/2014/main" val="3603859997"/>
                    </a:ext>
                  </a:extLst>
                </a:gridCol>
                <a:gridCol w="369160">
                  <a:extLst>
                    <a:ext uri="{9D8B030D-6E8A-4147-A177-3AD203B41FA5}">
                      <a16:colId xmlns:a16="http://schemas.microsoft.com/office/drawing/2014/main" val="4076488391"/>
                    </a:ext>
                  </a:extLst>
                </a:gridCol>
                <a:gridCol w="369160">
                  <a:extLst>
                    <a:ext uri="{9D8B030D-6E8A-4147-A177-3AD203B41FA5}">
                      <a16:colId xmlns:a16="http://schemas.microsoft.com/office/drawing/2014/main" val="3254101706"/>
                    </a:ext>
                  </a:extLst>
                </a:gridCol>
                <a:gridCol w="358772">
                  <a:extLst>
                    <a:ext uri="{9D8B030D-6E8A-4147-A177-3AD203B41FA5}">
                      <a16:colId xmlns:a16="http://schemas.microsoft.com/office/drawing/2014/main" val="3712391277"/>
                    </a:ext>
                  </a:extLst>
                </a:gridCol>
                <a:gridCol w="585216">
                  <a:extLst>
                    <a:ext uri="{9D8B030D-6E8A-4147-A177-3AD203B41FA5}">
                      <a16:colId xmlns:a16="http://schemas.microsoft.com/office/drawing/2014/main" val="967768249"/>
                    </a:ext>
                  </a:extLst>
                </a:gridCol>
                <a:gridCol w="270832">
                  <a:extLst>
                    <a:ext uri="{9D8B030D-6E8A-4147-A177-3AD203B41FA5}">
                      <a16:colId xmlns:a16="http://schemas.microsoft.com/office/drawing/2014/main" val="2527660299"/>
                    </a:ext>
                  </a:extLst>
                </a:gridCol>
                <a:gridCol w="390179">
                  <a:extLst>
                    <a:ext uri="{9D8B030D-6E8A-4147-A177-3AD203B41FA5}">
                      <a16:colId xmlns:a16="http://schemas.microsoft.com/office/drawing/2014/main" val="3641075278"/>
                    </a:ext>
                  </a:extLst>
                </a:gridCol>
                <a:gridCol w="289769">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Customer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Account Receivable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–Upfront Service (unfunded)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bl>
          </a:graphicData>
        </a:graphic>
      </p:graphicFrame>
    </p:spTree>
    <p:extLst>
      <p:ext uri="{BB962C8B-B14F-4D97-AF65-F5344CB8AC3E}">
        <p14:creationId xmlns:p14="http://schemas.microsoft.com/office/powerpoint/2010/main" val="421237729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C822C7-3AF2-8073-E8FC-7344BBA70E5A}"/>
            </a:ext>
          </a:extLst>
        </p:cNvPr>
        <p:cNvGrpSpPr/>
        <p:nvPr/>
      </p:nvGrpSpPr>
      <p:grpSpPr>
        <a:xfrm>
          <a:off x="0" y="0"/>
          <a:ext cx="0" cy="0"/>
          <a:chOff x="0" y="0"/>
          <a:chExt cx="0" cy="0"/>
        </a:xfrm>
      </p:grpSpPr>
      <p:sp>
        <p:nvSpPr>
          <p:cNvPr id="3" name="文本框 16">
            <a:extLst>
              <a:ext uri="{FF2B5EF4-FFF2-40B4-BE49-F238E27FC236}">
                <a16:creationId xmlns:a16="http://schemas.microsoft.com/office/drawing/2014/main" id="{099BBA14-6316-FD9A-28C2-749001A18ACA}"/>
              </a:ext>
            </a:extLst>
          </p:cNvPr>
          <p:cNvSpPr txBox="1"/>
          <p:nvPr/>
        </p:nvSpPr>
        <p:spPr>
          <a:xfrm>
            <a:off x="195320" y="131113"/>
            <a:ext cx="4470947" cy="400110"/>
          </a:xfrm>
          <a:prstGeom prst="rect">
            <a:avLst/>
          </a:prstGeom>
          <a:noFill/>
        </p:spPr>
        <p:txBody>
          <a:bodyPr wrap="square" rtlCol="0">
            <a:spAutoFit/>
          </a:bodyPr>
          <a:lstStyle/>
          <a:p>
            <a:r>
              <a:rPr lang="nl-NL" altLang="zh-CN" sz="2000" b="1"/>
              <a:t>DaaS_AFE_MSA&amp;MLA</a:t>
            </a:r>
            <a:endParaRPr lang="zh-CN" altLang="en-US" sz="2000" b="1"/>
          </a:p>
        </p:txBody>
      </p:sp>
      <p:graphicFrame>
        <p:nvGraphicFramePr>
          <p:cNvPr id="5" name="表格 4">
            <a:extLst>
              <a:ext uri="{FF2B5EF4-FFF2-40B4-BE49-F238E27FC236}">
                <a16:creationId xmlns:a16="http://schemas.microsoft.com/office/drawing/2014/main" id="{B316EB29-3CD3-6A3D-4FF2-F4ACA212F98B}"/>
              </a:ext>
            </a:extLst>
          </p:cNvPr>
          <p:cNvGraphicFramePr>
            <a:graphicFrameLocks noGrp="1"/>
          </p:cNvGraphicFramePr>
          <p:nvPr>
            <p:extLst>
              <p:ext uri="{D42A27DB-BD31-4B8C-83A1-F6EECF244321}">
                <p14:modId xmlns:p14="http://schemas.microsoft.com/office/powerpoint/2010/main" val="1540457099"/>
              </p:ext>
            </p:extLst>
          </p:nvPr>
        </p:nvGraphicFramePr>
        <p:xfrm>
          <a:off x="48616" y="744279"/>
          <a:ext cx="11225024" cy="5550195"/>
        </p:xfrm>
        <a:graphic>
          <a:graphicData uri="http://schemas.openxmlformats.org/drawingml/2006/table">
            <a:tbl>
              <a:tblPr>
                <a:tableStyleId>{5C22544A-7EE6-4342-B048-85BDC9FD1C3A}</a:tableStyleId>
              </a:tblPr>
              <a:tblGrid>
                <a:gridCol w="588441">
                  <a:extLst>
                    <a:ext uri="{9D8B030D-6E8A-4147-A177-3AD203B41FA5}">
                      <a16:colId xmlns:a16="http://schemas.microsoft.com/office/drawing/2014/main" val="4000147225"/>
                    </a:ext>
                  </a:extLst>
                </a:gridCol>
                <a:gridCol w="688454">
                  <a:extLst>
                    <a:ext uri="{9D8B030D-6E8A-4147-A177-3AD203B41FA5}">
                      <a16:colId xmlns:a16="http://schemas.microsoft.com/office/drawing/2014/main" val="3461385236"/>
                    </a:ext>
                  </a:extLst>
                </a:gridCol>
                <a:gridCol w="993734">
                  <a:extLst>
                    <a:ext uri="{9D8B030D-6E8A-4147-A177-3AD203B41FA5}">
                      <a16:colId xmlns:a16="http://schemas.microsoft.com/office/drawing/2014/main" val="483276459"/>
                    </a:ext>
                  </a:extLst>
                </a:gridCol>
                <a:gridCol w="851471">
                  <a:extLst>
                    <a:ext uri="{9D8B030D-6E8A-4147-A177-3AD203B41FA5}">
                      <a16:colId xmlns:a16="http://schemas.microsoft.com/office/drawing/2014/main" val="3787700465"/>
                    </a:ext>
                  </a:extLst>
                </a:gridCol>
                <a:gridCol w="701897">
                  <a:extLst>
                    <a:ext uri="{9D8B030D-6E8A-4147-A177-3AD203B41FA5}">
                      <a16:colId xmlns:a16="http://schemas.microsoft.com/office/drawing/2014/main" val="2232385994"/>
                    </a:ext>
                  </a:extLst>
                </a:gridCol>
                <a:gridCol w="515416">
                  <a:extLst>
                    <a:ext uri="{9D8B030D-6E8A-4147-A177-3AD203B41FA5}">
                      <a16:colId xmlns:a16="http://schemas.microsoft.com/office/drawing/2014/main" val="2624620257"/>
                    </a:ext>
                  </a:extLst>
                </a:gridCol>
                <a:gridCol w="808725">
                  <a:extLst>
                    <a:ext uri="{9D8B030D-6E8A-4147-A177-3AD203B41FA5}">
                      <a16:colId xmlns:a16="http://schemas.microsoft.com/office/drawing/2014/main" val="109940872"/>
                    </a:ext>
                  </a:extLst>
                </a:gridCol>
                <a:gridCol w="688454">
                  <a:extLst>
                    <a:ext uri="{9D8B030D-6E8A-4147-A177-3AD203B41FA5}">
                      <a16:colId xmlns:a16="http://schemas.microsoft.com/office/drawing/2014/main" val="2389772416"/>
                    </a:ext>
                  </a:extLst>
                </a:gridCol>
                <a:gridCol w="657042">
                  <a:extLst>
                    <a:ext uri="{9D8B030D-6E8A-4147-A177-3AD203B41FA5}">
                      <a16:colId xmlns:a16="http://schemas.microsoft.com/office/drawing/2014/main" val="874425061"/>
                    </a:ext>
                  </a:extLst>
                </a:gridCol>
                <a:gridCol w="856826">
                  <a:extLst>
                    <a:ext uri="{9D8B030D-6E8A-4147-A177-3AD203B41FA5}">
                      <a16:colId xmlns:a16="http://schemas.microsoft.com/office/drawing/2014/main" val="1465838711"/>
                    </a:ext>
                  </a:extLst>
                </a:gridCol>
                <a:gridCol w="2091804">
                  <a:extLst>
                    <a:ext uri="{9D8B030D-6E8A-4147-A177-3AD203B41FA5}">
                      <a16:colId xmlns:a16="http://schemas.microsoft.com/office/drawing/2014/main" val="2517919499"/>
                    </a:ext>
                  </a:extLst>
                </a:gridCol>
                <a:gridCol w="1782760">
                  <a:extLst>
                    <a:ext uri="{9D8B030D-6E8A-4147-A177-3AD203B41FA5}">
                      <a16:colId xmlns:a16="http://schemas.microsoft.com/office/drawing/2014/main" val="2358262028"/>
                    </a:ext>
                  </a:extLst>
                </a:gridCol>
              </a:tblGrid>
              <a:tr h="601273">
                <a:tc>
                  <a:txBody>
                    <a:bodyPr/>
                    <a:lstStyle/>
                    <a:p>
                      <a:pPr algn="l" fontAlgn="b"/>
                      <a:r>
                        <a:rPr lang="en-US" sz="1000" u="none" strike="noStrike">
                          <a:effectLst/>
                        </a:rPr>
                        <a:t>1.Offering</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2. Business </a:t>
                      </a:r>
                    </a:p>
                    <a:p>
                      <a:pPr algn="l" fontAlgn="b"/>
                      <a:r>
                        <a:rPr lang="en-US" sz="1000"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3.Contract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4.Charge 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5. RTM</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6. Lease </a:t>
                      </a:r>
                    </a:p>
                    <a:p>
                      <a:pPr algn="l" fontAlgn="b"/>
                      <a:r>
                        <a:rPr lang="en-US" sz="1000" u="none" strike="noStrike">
                          <a:effectLst/>
                        </a:rPr>
                        <a:t>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7. Billing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8. Funding </a:t>
                      </a:r>
                    </a:p>
                    <a:p>
                      <a:pPr algn="l" fontAlgn="b"/>
                      <a:r>
                        <a:rPr lang="en-US" sz="1000"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9. Product </a:t>
                      </a:r>
                      <a:r>
                        <a:rPr lang="en-US" sz="1000" u="none" strike="noStrike" err="1">
                          <a:effectLst/>
                        </a:rPr>
                        <a:t>Ctgry</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10. Fulfillment Method</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11. Events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u="none" strike="noStrike">
                          <a:effectLst/>
                        </a:rPr>
                        <a:t>12. Offering Elements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1316032673"/>
                  </a:ext>
                </a:extLst>
              </a:tr>
              <a:tr h="312929">
                <a:tc>
                  <a:txBody>
                    <a:bodyPr/>
                    <a:lstStyle/>
                    <a:p>
                      <a:pPr algn="l" fontAlgn="b"/>
                      <a:r>
                        <a:rPr lang="en-US" sz="1000" u="none" strike="noStrike">
                          <a:effectLst/>
                        </a:rPr>
                        <a:t>1.1DaaS</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2.1 AFE</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3.1 MSA</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4.1 Fixed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5.1 Direct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6.1 OL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7.1 Monthly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8.1 Internal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9.1 Lenovo</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Lenovo</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 Normal Pass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12.1 HW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5508739"/>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3.2 MLA</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5.2 Indirect</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6.2 FL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7.2 Quarterly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8.2 External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9.2 3rd party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Non-Lenovo</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11.2 EOT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12.2 SW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4318484"/>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11.3 Early termination-</a:t>
                      </a:r>
                    </a:p>
                    <a:p>
                      <a:pPr algn="l" fontAlgn="b"/>
                      <a:r>
                        <a:rPr lang="en-US" sz="1000" u="none" strike="noStrike">
                          <a:effectLst/>
                        </a:rPr>
                        <a:t>Device Return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12.3 SVC - upfront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6459778"/>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11.4 Early termination-</a:t>
                      </a:r>
                    </a:p>
                    <a:p>
                      <a:pPr algn="l" fontAlgn="b"/>
                      <a:r>
                        <a:rPr lang="en-US" sz="1000" u="none" strike="noStrike">
                          <a:effectLst/>
                        </a:rPr>
                        <a:t>Device Lost/Stolen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12.4 SVC - upfront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766259"/>
                  </a:ext>
                </a:extLst>
              </a:tr>
              <a:tr h="625860">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11.5 Extension auto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12.5 SVC - on-going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7547337"/>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11.6 Extension with (fix/open)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12.6 SVC - on-going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963629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11.7 Flex pause/un-pause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12.7 SVC - end of term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6895235"/>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11.8 Flex down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50104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11.9 Swap stock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8670641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11.10 Damage fund/charge </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2673700"/>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11.11 SOR with Recourse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139168"/>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11.12 SOR with non-Recourse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215011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11.13 Syndication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6222521"/>
                  </a:ext>
                </a:extLst>
              </a:tr>
              <a:tr h="567914">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11.14 Manual adjustment – </a:t>
                      </a:r>
                    </a:p>
                    <a:p>
                      <a:pPr algn="l" fontAlgn="b"/>
                      <a:r>
                        <a:rPr lang="en-US" sz="1000" u="none" strike="noStrike">
                          <a:effectLst/>
                        </a:rPr>
                        <a:t>Credit /Debit </a:t>
                      </a:r>
                      <a:r>
                        <a:rPr lang="en-US" sz="1000" u="none" strike="noStrike" err="1">
                          <a:effectLst/>
                        </a:rPr>
                        <a:t>Memo,Cancellation</a:t>
                      </a:r>
                      <a:endParaRPr lang="en-US" sz="1000" u="none" strike="noStrike">
                        <a:effectLst/>
                      </a:endParaRPr>
                    </a:p>
                    <a:p>
                      <a:pPr algn="l" fontAlgn="b"/>
                      <a:r>
                        <a:rPr lang="en-US" sz="1000" u="none" strike="noStrike">
                          <a:effectLst/>
                        </a:rPr>
                        <a:t>/Reverse</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348367"/>
                  </a:ext>
                </a:extLst>
              </a:tr>
            </a:tbl>
          </a:graphicData>
        </a:graphic>
      </p:graphicFrame>
    </p:spTree>
    <p:extLst>
      <p:ext uri="{BB962C8B-B14F-4D97-AF65-F5344CB8AC3E}">
        <p14:creationId xmlns:p14="http://schemas.microsoft.com/office/powerpoint/2010/main" val="285695085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B63F51-5579-CD80-DEAB-4CAAFAC436C8}"/>
            </a:ext>
          </a:extLst>
        </p:cNvPr>
        <p:cNvGrpSpPr/>
        <p:nvPr/>
      </p:nvGrpSpPr>
      <p:grpSpPr>
        <a:xfrm>
          <a:off x="0" y="0"/>
          <a:ext cx="0" cy="0"/>
          <a:chOff x="0" y="0"/>
          <a:chExt cx="0" cy="0"/>
        </a:xfrm>
      </p:grpSpPr>
      <p:graphicFrame>
        <p:nvGraphicFramePr>
          <p:cNvPr id="6" name="表格 5">
            <a:extLst>
              <a:ext uri="{FF2B5EF4-FFF2-40B4-BE49-F238E27FC236}">
                <a16:creationId xmlns:a16="http://schemas.microsoft.com/office/drawing/2014/main" id="{B0E6BB2D-8A70-7093-0C57-7288CD144A48}"/>
              </a:ext>
            </a:extLst>
          </p:cNvPr>
          <p:cNvGraphicFramePr>
            <a:graphicFrameLocks noGrp="1"/>
          </p:cNvGraphicFramePr>
          <p:nvPr>
            <p:extLst>
              <p:ext uri="{D42A27DB-BD31-4B8C-83A1-F6EECF244321}">
                <p14:modId xmlns:p14="http://schemas.microsoft.com/office/powerpoint/2010/main" val="3795595606"/>
              </p:ext>
            </p:extLst>
          </p:nvPr>
        </p:nvGraphicFramePr>
        <p:xfrm>
          <a:off x="6139968" y="1751047"/>
          <a:ext cx="5915320" cy="1708535"/>
        </p:xfrm>
        <a:graphic>
          <a:graphicData uri="http://schemas.openxmlformats.org/drawingml/2006/table">
            <a:tbl>
              <a:tblPr/>
              <a:tblGrid>
                <a:gridCol w="437298">
                  <a:extLst>
                    <a:ext uri="{9D8B030D-6E8A-4147-A177-3AD203B41FA5}">
                      <a16:colId xmlns:a16="http://schemas.microsoft.com/office/drawing/2014/main" val="495084399"/>
                    </a:ext>
                  </a:extLst>
                </a:gridCol>
                <a:gridCol w="229847">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42375">
                  <a:extLst>
                    <a:ext uri="{9D8B030D-6E8A-4147-A177-3AD203B41FA5}">
                      <a16:colId xmlns:a16="http://schemas.microsoft.com/office/drawing/2014/main" val="3603859997"/>
                    </a:ext>
                  </a:extLst>
                </a:gridCol>
                <a:gridCol w="349986">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264423">
                  <a:extLst>
                    <a:ext uri="{9D8B030D-6E8A-4147-A177-3AD203B41FA5}">
                      <a16:colId xmlns:a16="http://schemas.microsoft.com/office/drawing/2014/main" val="3712391277"/>
                    </a:ext>
                  </a:extLst>
                </a:gridCol>
                <a:gridCol w="286486">
                  <a:extLst>
                    <a:ext uri="{9D8B030D-6E8A-4147-A177-3AD203B41FA5}">
                      <a16:colId xmlns:a16="http://schemas.microsoft.com/office/drawing/2014/main" val="4221779915"/>
                    </a:ext>
                  </a:extLst>
                </a:gridCol>
                <a:gridCol w="253351">
                  <a:extLst>
                    <a:ext uri="{9D8B030D-6E8A-4147-A177-3AD203B41FA5}">
                      <a16:colId xmlns:a16="http://schemas.microsoft.com/office/drawing/2014/main" val="2527660299"/>
                    </a:ext>
                  </a:extLst>
                </a:gridCol>
                <a:gridCol w="364996">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0" name="表格 9">
            <a:extLst>
              <a:ext uri="{FF2B5EF4-FFF2-40B4-BE49-F238E27FC236}">
                <a16:creationId xmlns:a16="http://schemas.microsoft.com/office/drawing/2014/main" id="{2FC6A63A-565B-1A7A-C30F-C6B63CA1A813}"/>
              </a:ext>
            </a:extLst>
          </p:cNvPr>
          <p:cNvGraphicFramePr>
            <a:graphicFrameLocks noGrp="1"/>
          </p:cNvGraphicFramePr>
          <p:nvPr>
            <p:extLst>
              <p:ext uri="{D42A27DB-BD31-4B8C-83A1-F6EECF244321}">
                <p14:modId xmlns:p14="http://schemas.microsoft.com/office/powerpoint/2010/main" val="650675311"/>
              </p:ext>
            </p:extLst>
          </p:nvPr>
        </p:nvGraphicFramePr>
        <p:xfrm>
          <a:off x="32110" y="1722814"/>
          <a:ext cx="5988347" cy="2201599"/>
        </p:xfrm>
        <a:graphic>
          <a:graphicData uri="http://schemas.openxmlformats.org/drawingml/2006/table">
            <a:tbl>
              <a:tblPr/>
              <a:tblGrid>
                <a:gridCol w="420472">
                  <a:extLst>
                    <a:ext uri="{9D8B030D-6E8A-4147-A177-3AD203B41FA5}">
                      <a16:colId xmlns:a16="http://schemas.microsoft.com/office/drawing/2014/main" val="495084399"/>
                    </a:ext>
                  </a:extLst>
                </a:gridCol>
                <a:gridCol w="277952">
                  <a:extLst>
                    <a:ext uri="{9D8B030D-6E8A-4147-A177-3AD203B41FA5}">
                      <a16:colId xmlns:a16="http://schemas.microsoft.com/office/drawing/2014/main" val="3614210242"/>
                    </a:ext>
                  </a:extLst>
                </a:gridCol>
                <a:gridCol w="571276">
                  <a:extLst>
                    <a:ext uri="{9D8B030D-6E8A-4147-A177-3AD203B41FA5}">
                      <a16:colId xmlns:a16="http://schemas.microsoft.com/office/drawing/2014/main" val="1442124609"/>
                    </a:ext>
                  </a:extLst>
                </a:gridCol>
                <a:gridCol w="1832072">
                  <a:extLst>
                    <a:ext uri="{9D8B030D-6E8A-4147-A177-3AD203B41FA5}">
                      <a16:colId xmlns:a16="http://schemas.microsoft.com/office/drawing/2014/main" val="3603859997"/>
                    </a:ext>
                  </a:extLst>
                </a:gridCol>
                <a:gridCol w="341474">
                  <a:extLst>
                    <a:ext uri="{9D8B030D-6E8A-4147-A177-3AD203B41FA5}">
                      <a16:colId xmlns:a16="http://schemas.microsoft.com/office/drawing/2014/main" val="4076488391"/>
                    </a:ext>
                  </a:extLst>
                </a:gridCol>
                <a:gridCol w="341474">
                  <a:extLst>
                    <a:ext uri="{9D8B030D-6E8A-4147-A177-3AD203B41FA5}">
                      <a16:colId xmlns:a16="http://schemas.microsoft.com/office/drawing/2014/main" val="3254101706"/>
                    </a:ext>
                  </a:extLst>
                </a:gridCol>
                <a:gridCol w="276142">
                  <a:extLst>
                    <a:ext uri="{9D8B030D-6E8A-4147-A177-3AD203B41FA5}">
                      <a16:colId xmlns:a16="http://schemas.microsoft.com/office/drawing/2014/main" val="3712391277"/>
                    </a:ext>
                  </a:extLst>
                </a:gridCol>
                <a:gridCol w="619789">
                  <a:extLst>
                    <a:ext uri="{9D8B030D-6E8A-4147-A177-3AD203B41FA5}">
                      <a16:colId xmlns:a16="http://schemas.microsoft.com/office/drawing/2014/main" val="1982795072"/>
                    </a:ext>
                  </a:extLst>
                </a:gridCol>
                <a:gridCol w="286984">
                  <a:extLst>
                    <a:ext uri="{9D8B030D-6E8A-4147-A177-3AD203B41FA5}">
                      <a16:colId xmlns:a16="http://schemas.microsoft.com/office/drawing/2014/main" val="2527660299"/>
                    </a:ext>
                  </a:extLst>
                </a:gridCol>
                <a:gridCol w="393774">
                  <a:extLst>
                    <a:ext uri="{9D8B030D-6E8A-4147-A177-3AD203B41FA5}">
                      <a16:colId xmlns:a16="http://schemas.microsoft.com/office/drawing/2014/main" val="3641075278"/>
                    </a:ext>
                  </a:extLst>
                </a:gridCol>
                <a:gridCol w="626938">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658033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28" name="文本框 27">
            <a:extLst>
              <a:ext uri="{FF2B5EF4-FFF2-40B4-BE49-F238E27FC236}">
                <a16:creationId xmlns:a16="http://schemas.microsoft.com/office/drawing/2014/main" id="{AE8012DC-AD53-F549-1146-6A0EB806B9D0}"/>
              </a:ext>
            </a:extLst>
          </p:cNvPr>
          <p:cNvSpPr txBox="1"/>
          <p:nvPr/>
        </p:nvSpPr>
        <p:spPr>
          <a:xfrm>
            <a:off x="-40473" y="34649"/>
            <a:ext cx="4470947" cy="400110"/>
          </a:xfrm>
          <a:prstGeom prst="rect">
            <a:avLst/>
          </a:prstGeom>
          <a:noFill/>
        </p:spPr>
        <p:txBody>
          <a:bodyPr wrap="square" rtlCol="0">
            <a:spAutoFit/>
          </a:bodyPr>
          <a:lstStyle/>
          <a:p>
            <a:r>
              <a:rPr lang="nl-NL" altLang="zh-CN" sz="2000" b="1"/>
              <a:t>DaaS_AFE_MSA&amp;MLA</a:t>
            </a:r>
            <a:endParaRPr lang="zh-CN" altLang="en-US" sz="2000" b="1"/>
          </a:p>
        </p:txBody>
      </p:sp>
      <p:cxnSp>
        <p:nvCxnSpPr>
          <p:cNvPr id="3" name="直接连接符 2">
            <a:extLst>
              <a:ext uri="{FF2B5EF4-FFF2-40B4-BE49-F238E27FC236}">
                <a16:creationId xmlns:a16="http://schemas.microsoft.com/office/drawing/2014/main" id="{ADE6F547-BFE5-C874-45E3-82E6D615365C}"/>
              </a:ext>
            </a:extLst>
          </p:cNvPr>
          <p:cNvCxnSpPr>
            <a:cxnSpLocks/>
          </p:cNvCxnSpPr>
          <p:nvPr/>
        </p:nvCxnSpPr>
        <p:spPr>
          <a:xfrm flipH="1">
            <a:off x="6074950" y="243919"/>
            <a:ext cx="21050" cy="668295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4" name="表格 3">
            <a:extLst>
              <a:ext uri="{FF2B5EF4-FFF2-40B4-BE49-F238E27FC236}">
                <a16:creationId xmlns:a16="http://schemas.microsoft.com/office/drawing/2014/main" id="{EC374E0D-FA80-F7E2-DFDE-8B9FE8E167E5}"/>
              </a:ext>
            </a:extLst>
          </p:cNvPr>
          <p:cNvGraphicFramePr>
            <a:graphicFrameLocks noGrp="1"/>
          </p:cNvGraphicFramePr>
          <p:nvPr>
            <p:extLst>
              <p:ext uri="{D42A27DB-BD31-4B8C-83A1-F6EECF244321}">
                <p14:modId xmlns:p14="http://schemas.microsoft.com/office/powerpoint/2010/main" val="3817231211"/>
              </p:ext>
            </p:extLst>
          </p:nvPr>
        </p:nvGraphicFramePr>
        <p:xfrm>
          <a:off x="32110" y="3964020"/>
          <a:ext cx="5978247" cy="1143743"/>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364010">
                  <a:extLst>
                    <a:ext uri="{9D8B030D-6E8A-4147-A177-3AD203B41FA5}">
                      <a16:colId xmlns:a16="http://schemas.microsoft.com/office/drawing/2014/main" val="4076488391"/>
                    </a:ext>
                  </a:extLst>
                </a:gridCol>
                <a:gridCol w="281898">
                  <a:extLst>
                    <a:ext uri="{9D8B030D-6E8A-4147-A177-3AD203B41FA5}">
                      <a16:colId xmlns:a16="http://schemas.microsoft.com/office/drawing/2014/main" val="3254101706"/>
                    </a:ext>
                  </a:extLst>
                </a:gridCol>
                <a:gridCol w="356877">
                  <a:extLst>
                    <a:ext uri="{9D8B030D-6E8A-4147-A177-3AD203B41FA5}">
                      <a16:colId xmlns:a16="http://schemas.microsoft.com/office/drawing/2014/main" val="3712391277"/>
                    </a:ext>
                  </a:extLst>
                </a:gridCol>
                <a:gridCol w="269401">
                  <a:extLst>
                    <a:ext uri="{9D8B030D-6E8A-4147-A177-3AD203B41FA5}">
                      <a16:colId xmlns:a16="http://schemas.microsoft.com/office/drawing/2014/main" val="1461470061"/>
                    </a:ext>
                  </a:extLst>
                </a:gridCol>
                <a:gridCol w="269401">
                  <a:extLst>
                    <a:ext uri="{9D8B030D-6E8A-4147-A177-3AD203B41FA5}">
                      <a16:colId xmlns:a16="http://schemas.microsoft.com/office/drawing/2014/main" val="2527660299"/>
                    </a:ext>
                  </a:extLst>
                </a:gridCol>
                <a:gridCol w="388119">
                  <a:extLst>
                    <a:ext uri="{9D8B030D-6E8A-4147-A177-3AD203B41FA5}">
                      <a16:colId xmlns:a16="http://schemas.microsoft.com/office/drawing/2014/main" val="3641075278"/>
                    </a:ext>
                  </a:extLst>
                </a:gridCol>
                <a:gridCol w="850494">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EB3DB092-B4F9-E8D6-6F51-780D087FE8ED}"/>
              </a:ext>
            </a:extLst>
          </p:cNvPr>
          <p:cNvGraphicFramePr>
            <a:graphicFrameLocks noGrp="1"/>
          </p:cNvGraphicFramePr>
          <p:nvPr>
            <p:extLst>
              <p:ext uri="{D42A27DB-BD31-4B8C-83A1-F6EECF244321}">
                <p14:modId xmlns:p14="http://schemas.microsoft.com/office/powerpoint/2010/main" val="1107153983"/>
              </p:ext>
            </p:extLst>
          </p:nvPr>
        </p:nvGraphicFramePr>
        <p:xfrm>
          <a:off x="32110" y="5160435"/>
          <a:ext cx="5970258" cy="1143743"/>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364979">
                  <a:extLst>
                    <a:ext uri="{9D8B030D-6E8A-4147-A177-3AD203B41FA5}">
                      <a16:colId xmlns:a16="http://schemas.microsoft.com/office/drawing/2014/main" val="4076488391"/>
                    </a:ext>
                  </a:extLst>
                </a:gridCol>
                <a:gridCol w="364979">
                  <a:extLst>
                    <a:ext uri="{9D8B030D-6E8A-4147-A177-3AD203B41FA5}">
                      <a16:colId xmlns:a16="http://schemas.microsoft.com/office/drawing/2014/main" val="3254101706"/>
                    </a:ext>
                  </a:extLst>
                </a:gridCol>
                <a:gridCol w="354708">
                  <a:extLst>
                    <a:ext uri="{9D8B030D-6E8A-4147-A177-3AD203B41FA5}">
                      <a16:colId xmlns:a16="http://schemas.microsoft.com/office/drawing/2014/main" val="3712391277"/>
                    </a:ext>
                  </a:extLst>
                </a:gridCol>
                <a:gridCol w="267764">
                  <a:extLst>
                    <a:ext uri="{9D8B030D-6E8A-4147-A177-3AD203B41FA5}">
                      <a16:colId xmlns:a16="http://schemas.microsoft.com/office/drawing/2014/main" val="967768249"/>
                    </a:ext>
                  </a:extLst>
                </a:gridCol>
                <a:gridCol w="267764">
                  <a:extLst>
                    <a:ext uri="{9D8B030D-6E8A-4147-A177-3AD203B41FA5}">
                      <a16:colId xmlns:a16="http://schemas.microsoft.com/office/drawing/2014/main" val="2527660299"/>
                    </a:ext>
                  </a:extLst>
                </a:gridCol>
                <a:gridCol w="385759">
                  <a:extLst>
                    <a:ext uri="{9D8B030D-6E8A-4147-A177-3AD203B41FA5}">
                      <a16:colId xmlns:a16="http://schemas.microsoft.com/office/drawing/2014/main" val="3641075278"/>
                    </a:ext>
                  </a:extLst>
                </a:gridCol>
                <a:gridCol w="845324">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9" name="表格 8">
            <a:extLst>
              <a:ext uri="{FF2B5EF4-FFF2-40B4-BE49-F238E27FC236}">
                <a16:creationId xmlns:a16="http://schemas.microsoft.com/office/drawing/2014/main" id="{408C0349-83EE-96DC-49CF-CEB4CEC021D9}"/>
              </a:ext>
            </a:extLst>
          </p:cNvPr>
          <p:cNvGraphicFramePr>
            <a:graphicFrameLocks noGrp="1"/>
          </p:cNvGraphicFramePr>
          <p:nvPr>
            <p:extLst>
              <p:ext uri="{D42A27DB-BD31-4B8C-83A1-F6EECF244321}">
                <p14:modId xmlns:p14="http://schemas.microsoft.com/office/powerpoint/2010/main" val="1225177473"/>
              </p:ext>
            </p:extLst>
          </p:nvPr>
        </p:nvGraphicFramePr>
        <p:xfrm>
          <a:off x="6139968" y="3549873"/>
          <a:ext cx="5915317" cy="1143743"/>
        </p:xfrm>
        <a:graphic>
          <a:graphicData uri="http://schemas.openxmlformats.org/drawingml/2006/table">
            <a:tbl>
              <a:tblPr/>
              <a:tblGrid>
                <a:gridCol w="421943">
                  <a:extLst>
                    <a:ext uri="{9D8B030D-6E8A-4147-A177-3AD203B41FA5}">
                      <a16:colId xmlns:a16="http://schemas.microsoft.com/office/drawing/2014/main" val="495084399"/>
                    </a:ext>
                  </a:extLst>
                </a:gridCol>
                <a:gridCol w="241835">
                  <a:extLst>
                    <a:ext uri="{9D8B030D-6E8A-4147-A177-3AD203B41FA5}">
                      <a16:colId xmlns:a16="http://schemas.microsoft.com/office/drawing/2014/main" val="3614210242"/>
                    </a:ext>
                  </a:extLst>
                </a:gridCol>
                <a:gridCol w="602569">
                  <a:extLst>
                    <a:ext uri="{9D8B030D-6E8A-4147-A177-3AD203B41FA5}">
                      <a16:colId xmlns:a16="http://schemas.microsoft.com/office/drawing/2014/main" val="1442124609"/>
                    </a:ext>
                  </a:extLst>
                </a:gridCol>
                <a:gridCol w="1898038">
                  <a:extLst>
                    <a:ext uri="{9D8B030D-6E8A-4147-A177-3AD203B41FA5}">
                      <a16:colId xmlns:a16="http://schemas.microsoft.com/office/drawing/2014/main" val="3603859997"/>
                    </a:ext>
                  </a:extLst>
                </a:gridCol>
                <a:gridCol w="360178">
                  <a:extLst>
                    <a:ext uri="{9D8B030D-6E8A-4147-A177-3AD203B41FA5}">
                      <a16:colId xmlns:a16="http://schemas.microsoft.com/office/drawing/2014/main" val="4076488391"/>
                    </a:ext>
                  </a:extLst>
                </a:gridCol>
                <a:gridCol w="278930">
                  <a:extLst>
                    <a:ext uri="{9D8B030D-6E8A-4147-A177-3AD203B41FA5}">
                      <a16:colId xmlns:a16="http://schemas.microsoft.com/office/drawing/2014/main" val="3254101706"/>
                    </a:ext>
                  </a:extLst>
                </a:gridCol>
                <a:gridCol w="353120">
                  <a:extLst>
                    <a:ext uri="{9D8B030D-6E8A-4147-A177-3AD203B41FA5}">
                      <a16:colId xmlns:a16="http://schemas.microsoft.com/office/drawing/2014/main" val="3712391277"/>
                    </a:ext>
                  </a:extLst>
                </a:gridCol>
                <a:gridCol w="266565">
                  <a:extLst>
                    <a:ext uri="{9D8B030D-6E8A-4147-A177-3AD203B41FA5}">
                      <a16:colId xmlns:a16="http://schemas.microsoft.com/office/drawing/2014/main" val="3811358726"/>
                    </a:ext>
                  </a:extLst>
                </a:gridCol>
                <a:gridCol w="266565">
                  <a:extLst>
                    <a:ext uri="{9D8B030D-6E8A-4147-A177-3AD203B41FA5}">
                      <a16:colId xmlns:a16="http://schemas.microsoft.com/office/drawing/2014/main" val="2527660299"/>
                    </a:ext>
                  </a:extLst>
                </a:gridCol>
                <a:gridCol w="384033">
                  <a:extLst>
                    <a:ext uri="{9D8B030D-6E8A-4147-A177-3AD203B41FA5}">
                      <a16:colId xmlns:a16="http://schemas.microsoft.com/office/drawing/2014/main" val="3641075278"/>
                    </a:ext>
                  </a:extLst>
                </a:gridCol>
                <a:gridCol w="841541">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1" name="表格 10">
            <a:extLst>
              <a:ext uri="{FF2B5EF4-FFF2-40B4-BE49-F238E27FC236}">
                <a16:creationId xmlns:a16="http://schemas.microsoft.com/office/drawing/2014/main" id="{9A9606B8-2838-D815-2DC0-9C0B83D4A9FB}"/>
              </a:ext>
            </a:extLst>
          </p:cNvPr>
          <p:cNvGraphicFramePr>
            <a:graphicFrameLocks noGrp="1"/>
          </p:cNvGraphicFramePr>
          <p:nvPr>
            <p:extLst>
              <p:ext uri="{D42A27DB-BD31-4B8C-83A1-F6EECF244321}">
                <p14:modId xmlns:p14="http://schemas.microsoft.com/office/powerpoint/2010/main" val="2112588974"/>
              </p:ext>
            </p:extLst>
          </p:nvPr>
        </p:nvGraphicFramePr>
        <p:xfrm>
          <a:off x="6139968" y="4783907"/>
          <a:ext cx="5901002" cy="1143743"/>
        </p:xfrm>
        <a:graphic>
          <a:graphicData uri="http://schemas.openxmlformats.org/drawingml/2006/table">
            <a:tbl>
              <a:tblPr/>
              <a:tblGrid>
                <a:gridCol w="417685">
                  <a:extLst>
                    <a:ext uri="{9D8B030D-6E8A-4147-A177-3AD203B41FA5}">
                      <a16:colId xmlns:a16="http://schemas.microsoft.com/office/drawing/2014/main" val="495084399"/>
                    </a:ext>
                  </a:extLst>
                </a:gridCol>
                <a:gridCol w="238739">
                  <a:extLst>
                    <a:ext uri="{9D8B030D-6E8A-4147-A177-3AD203B41FA5}">
                      <a16:colId xmlns:a16="http://schemas.microsoft.com/office/drawing/2014/main" val="3614210242"/>
                    </a:ext>
                  </a:extLst>
                </a:gridCol>
                <a:gridCol w="550010">
                  <a:extLst>
                    <a:ext uri="{9D8B030D-6E8A-4147-A177-3AD203B41FA5}">
                      <a16:colId xmlns:a16="http://schemas.microsoft.com/office/drawing/2014/main" val="1442124609"/>
                    </a:ext>
                  </a:extLst>
                </a:gridCol>
                <a:gridCol w="1858828">
                  <a:extLst>
                    <a:ext uri="{9D8B030D-6E8A-4147-A177-3AD203B41FA5}">
                      <a16:colId xmlns:a16="http://schemas.microsoft.com/office/drawing/2014/main" val="3603859997"/>
                    </a:ext>
                  </a:extLst>
                </a:gridCol>
                <a:gridCol w="358693">
                  <a:extLst>
                    <a:ext uri="{9D8B030D-6E8A-4147-A177-3AD203B41FA5}">
                      <a16:colId xmlns:a16="http://schemas.microsoft.com/office/drawing/2014/main" val="4076488391"/>
                    </a:ext>
                  </a:extLst>
                </a:gridCol>
                <a:gridCol w="358693">
                  <a:extLst>
                    <a:ext uri="{9D8B030D-6E8A-4147-A177-3AD203B41FA5}">
                      <a16:colId xmlns:a16="http://schemas.microsoft.com/office/drawing/2014/main" val="3254101706"/>
                    </a:ext>
                  </a:extLst>
                </a:gridCol>
                <a:gridCol w="348599">
                  <a:extLst>
                    <a:ext uri="{9D8B030D-6E8A-4147-A177-3AD203B41FA5}">
                      <a16:colId xmlns:a16="http://schemas.microsoft.com/office/drawing/2014/main" val="3712391277"/>
                    </a:ext>
                  </a:extLst>
                </a:gridCol>
                <a:gridCol w="263152">
                  <a:extLst>
                    <a:ext uri="{9D8B030D-6E8A-4147-A177-3AD203B41FA5}">
                      <a16:colId xmlns:a16="http://schemas.microsoft.com/office/drawing/2014/main" val="4118002695"/>
                    </a:ext>
                  </a:extLst>
                </a:gridCol>
                <a:gridCol w="263152">
                  <a:extLst>
                    <a:ext uri="{9D8B030D-6E8A-4147-A177-3AD203B41FA5}">
                      <a16:colId xmlns:a16="http://schemas.microsoft.com/office/drawing/2014/main" val="2527660299"/>
                    </a:ext>
                  </a:extLst>
                </a:gridCol>
                <a:gridCol w="379115">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12" name="表格 11">
            <a:extLst>
              <a:ext uri="{FF2B5EF4-FFF2-40B4-BE49-F238E27FC236}">
                <a16:creationId xmlns:a16="http://schemas.microsoft.com/office/drawing/2014/main" id="{8FE73935-B0BD-5BF4-C3DC-66EC625D9CEB}"/>
              </a:ext>
            </a:extLst>
          </p:cNvPr>
          <p:cNvGraphicFramePr>
            <a:graphicFrameLocks noGrp="1"/>
          </p:cNvGraphicFramePr>
          <p:nvPr>
            <p:extLst>
              <p:ext uri="{D42A27DB-BD31-4B8C-83A1-F6EECF244321}">
                <p14:modId xmlns:p14="http://schemas.microsoft.com/office/powerpoint/2010/main" val="963926208"/>
              </p:ext>
            </p:extLst>
          </p:nvPr>
        </p:nvGraphicFramePr>
        <p:xfrm>
          <a:off x="37853" y="426316"/>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3" name="表格 12">
            <a:extLst>
              <a:ext uri="{FF2B5EF4-FFF2-40B4-BE49-F238E27FC236}">
                <a16:creationId xmlns:a16="http://schemas.microsoft.com/office/drawing/2014/main" id="{CCD5A070-16ED-652F-88C0-EA817A90769A}"/>
              </a:ext>
            </a:extLst>
          </p:cNvPr>
          <p:cNvGraphicFramePr>
            <a:graphicFrameLocks noGrp="1"/>
          </p:cNvGraphicFramePr>
          <p:nvPr>
            <p:extLst>
              <p:ext uri="{D42A27DB-BD31-4B8C-83A1-F6EECF244321}">
                <p14:modId xmlns:p14="http://schemas.microsoft.com/office/powerpoint/2010/main" val="1319131534"/>
              </p:ext>
            </p:extLst>
          </p:nvPr>
        </p:nvGraphicFramePr>
        <p:xfrm>
          <a:off x="6168582" y="426316"/>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Tree>
    <p:extLst>
      <p:ext uri="{BB962C8B-B14F-4D97-AF65-F5344CB8AC3E}">
        <p14:creationId xmlns:p14="http://schemas.microsoft.com/office/powerpoint/2010/main" val="54539421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02CDEA-3D8F-E852-ECE5-257534C877C6}"/>
            </a:ext>
          </a:extLst>
        </p:cNvPr>
        <p:cNvGrpSpPr/>
        <p:nvPr/>
      </p:nvGrpSpPr>
      <p:grpSpPr>
        <a:xfrm>
          <a:off x="0" y="0"/>
          <a:ext cx="0" cy="0"/>
          <a:chOff x="0" y="0"/>
          <a:chExt cx="0" cy="0"/>
        </a:xfrm>
      </p:grpSpPr>
      <p:graphicFrame>
        <p:nvGraphicFramePr>
          <p:cNvPr id="6" name="表格 5">
            <a:extLst>
              <a:ext uri="{FF2B5EF4-FFF2-40B4-BE49-F238E27FC236}">
                <a16:creationId xmlns:a16="http://schemas.microsoft.com/office/drawing/2014/main" id="{D1F45A93-F573-BC14-3E92-F28ADEAA5DBF}"/>
              </a:ext>
            </a:extLst>
          </p:cNvPr>
          <p:cNvGraphicFramePr>
            <a:graphicFrameLocks noGrp="1"/>
          </p:cNvGraphicFramePr>
          <p:nvPr>
            <p:extLst>
              <p:ext uri="{D42A27DB-BD31-4B8C-83A1-F6EECF244321}">
                <p14:modId xmlns:p14="http://schemas.microsoft.com/office/powerpoint/2010/main" val="1390199458"/>
              </p:ext>
            </p:extLst>
          </p:nvPr>
        </p:nvGraphicFramePr>
        <p:xfrm>
          <a:off x="6139968" y="1751047"/>
          <a:ext cx="5915320" cy="1708535"/>
        </p:xfrm>
        <a:graphic>
          <a:graphicData uri="http://schemas.openxmlformats.org/drawingml/2006/table">
            <a:tbl>
              <a:tblPr/>
              <a:tblGrid>
                <a:gridCol w="437298">
                  <a:extLst>
                    <a:ext uri="{9D8B030D-6E8A-4147-A177-3AD203B41FA5}">
                      <a16:colId xmlns:a16="http://schemas.microsoft.com/office/drawing/2014/main" val="495084399"/>
                    </a:ext>
                  </a:extLst>
                </a:gridCol>
                <a:gridCol w="229847">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42375">
                  <a:extLst>
                    <a:ext uri="{9D8B030D-6E8A-4147-A177-3AD203B41FA5}">
                      <a16:colId xmlns:a16="http://schemas.microsoft.com/office/drawing/2014/main" val="3603859997"/>
                    </a:ext>
                  </a:extLst>
                </a:gridCol>
                <a:gridCol w="349986">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264423">
                  <a:extLst>
                    <a:ext uri="{9D8B030D-6E8A-4147-A177-3AD203B41FA5}">
                      <a16:colId xmlns:a16="http://schemas.microsoft.com/office/drawing/2014/main" val="3712391277"/>
                    </a:ext>
                  </a:extLst>
                </a:gridCol>
                <a:gridCol w="286486">
                  <a:extLst>
                    <a:ext uri="{9D8B030D-6E8A-4147-A177-3AD203B41FA5}">
                      <a16:colId xmlns:a16="http://schemas.microsoft.com/office/drawing/2014/main" val="4221779915"/>
                    </a:ext>
                  </a:extLst>
                </a:gridCol>
                <a:gridCol w="253351">
                  <a:extLst>
                    <a:ext uri="{9D8B030D-6E8A-4147-A177-3AD203B41FA5}">
                      <a16:colId xmlns:a16="http://schemas.microsoft.com/office/drawing/2014/main" val="2527660299"/>
                    </a:ext>
                  </a:extLst>
                </a:gridCol>
                <a:gridCol w="364996">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0" name="表格 9">
            <a:extLst>
              <a:ext uri="{FF2B5EF4-FFF2-40B4-BE49-F238E27FC236}">
                <a16:creationId xmlns:a16="http://schemas.microsoft.com/office/drawing/2014/main" id="{A91105ED-FD8A-9B54-7A0D-13F0D5237F06}"/>
              </a:ext>
            </a:extLst>
          </p:cNvPr>
          <p:cNvGraphicFramePr>
            <a:graphicFrameLocks noGrp="1"/>
          </p:cNvGraphicFramePr>
          <p:nvPr>
            <p:extLst>
              <p:ext uri="{D42A27DB-BD31-4B8C-83A1-F6EECF244321}">
                <p14:modId xmlns:p14="http://schemas.microsoft.com/office/powerpoint/2010/main" val="2790594600"/>
              </p:ext>
            </p:extLst>
          </p:nvPr>
        </p:nvGraphicFramePr>
        <p:xfrm>
          <a:off x="32110" y="1722814"/>
          <a:ext cx="5988347" cy="2201599"/>
        </p:xfrm>
        <a:graphic>
          <a:graphicData uri="http://schemas.openxmlformats.org/drawingml/2006/table">
            <a:tbl>
              <a:tblPr/>
              <a:tblGrid>
                <a:gridCol w="458379">
                  <a:extLst>
                    <a:ext uri="{9D8B030D-6E8A-4147-A177-3AD203B41FA5}">
                      <a16:colId xmlns:a16="http://schemas.microsoft.com/office/drawing/2014/main" val="495084399"/>
                    </a:ext>
                  </a:extLst>
                </a:gridCol>
                <a:gridCol w="240045">
                  <a:extLst>
                    <a:ext uri="{9D8B030D-6E8A-4147-A177-3AD203B41FA5}">
                      <a16:colId xmlns:a16="http://schemas.microsoft.com/office/drawing/2014/main" val="3614210242"/>
                    </a:ext>
                  </a:extLst>
                </a:gridCol>
                <a:gridCol w="571276">
                  <a:extLst>
                    <a:ext uri="{9D8B030D-6E8A-4147-A177-3AD203B41FA5}">
                      <a16:colId xmlns:a16="http://schemas.microsoft.com/office/drawing/2014/main" val="1442124609"/>
                    </a:ext>
                  </a:extLst>
                </a:gridCol>
                <a:gridCol w="1832072">
                  <a:extLst>
                    <a:ext uri="{9D8B030D-6E8A-4147-A177-3AD203B41FA5}">
                      <a16:colId xmlns:a16="http://schemas.microsoft.com/office/drawing/2014/main" val="3603859997"/>
                    </a:ext>
                  </a:extLst>
                </a:gridCol>
                <a:gridCol w="341474">
                  <a:extLst>
                    <a:ext uri="{9D8B030D-6E8A-4147-A177-3AD203B41FA5}">
                      <a16:colId xmlns:a16="http://schemas.microsoft.com/office/drawing/2014/main" val="4076488391"/>
                    </a:ext>
                  </a:extLst>
                </a:gridCol>
                <a:gridCol w="341474">
                  <a:extLst>
                    <a:ext uri="{9D8B030D-6E8A-4147-A177-3AD203B41FA5}">
                      <a16:colId xmlns:a16="http://schemas.microsoft.com/office/drawing/2014/main" val="3254101706"/>
                    </a:ext>
                  </a:extLst>
                </a:gridCol>
                <a:gridCol w="276142">
                  <a:extLst>
                    <a:ext uri="{9D8B030D-6E8A-4147-A177-3AD203B41FA5}">
                      <a16:colId xmlns:a16="http://schemas.microsoft.com/office/drawing/2014/main" val="3712391277"/>
                    </a:ext>
                  </a:extLst>
                </a:gridCol>
                <a:gridCol w="619789">
                  <a:extLst>
                    <a:ext uri="{9D8B030D-6E8A-4147-A177-3AD203B41FA5}">
                      <a16:colId xmlns:a16="http://schemas.microsoft.com/office/drawing/2014/main" val="1982795072"/>
                    </a:ext>
                  </a:extLst>
                </a:gridCol>
                <a:gridCol w="286984">
                  <a:extLst>
                    <a:ext uri="{9D8B030D-6E8A-4147-A177-3AD203B41FA5}">
                      <a16:colId xmlns:a16="http://schemas.microsoft.com/office/drawing/2014/main" val="2527660299"/>
                    </a:ext>
                  </a:extLst>
                </a:gridCol>
                <a:gridCol w="393774">
                  <a:extLst>
                    <a:ext uri="{9D8B030D-6E8A-4147-A177-3AD203B41FA5}">
                      <a16:colId xmlns:a16="http://schemas.microsoft.com/office/drawing/2014/main" val="3641075278"/>
                    </a:ext>
                  </a:extLst>
                </a:gridCol>
                <a:gridCol w="626938">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658033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28" name="文本框 27">
            <a:extLst>
              <a:ext uri="{FF2B5EF4-FFF2-40B4-BE49-F238E27FC236}">
                <a16:creationId xmlns:a16="http://schemas.microsoft.com/office/drawing/2014/main" id="{86627C90-4F09-6811-B245-13E889AD5E7A}"/>
              </a:ext>
            </a:extLst>
          </p:cNvPr>
          <p:cNvSpPr txBox="1"/>
          <p:nvPr/>
        </p:nvSpPr>
        <p:spPr>
          <a:xfrm>
            <a:off x="-40473" y="34649"/>
            <a:ext cx="4470947" cy="400110"/>
          </a:xfrm>
          <a:prstGeom prst="rect">
            <a:avLst/>
          </a:prstGeom>
          <a:noFill/>
        </p:spPr>
        <p:txBody>
          <a:bodyPr wrap="square" rtlCol="0">
            <a:spAutoFit/>
          </a:bodyPr>
          <a:lstStyle/>
          <a:p>
            <a:r>
              <a:rPr lang="nl-NL" altLang="zh-CN" sz="2000" b="1"/>
              <a:t>DaaS_AFE_MSA&amp;MLA</a:t>
            </a:r>
            <a:endParaRPr lang="zh-CN" altLang="en-US" sz="2000" b="1"/>
          </a:p>
        </p:txBody>
      </p:sp>
      <p:cxnSp>
        <p:nvCxnSpPr>
          <p:cNvPr id="3" name="直接连接符 2">
            <a:extLst>
              <a:ext uri="{FF2B5EF4-FFF2-40B4-BE49-F238E27FC236}">
                <a16:creationId xmlns:a16="http://schemas.microsoft.com/office/drawing/2014/main" id="{EA968841-6518-2B62-B1B3-168115AFDDCF}"/>
              </a:ext>
            </a:extLst>
          </p:cNvPr>
          <p:cNvCxnSpPr>
            <a:cxnSpLocks/>
          </p:cNvCxnSpPr>
          <p:nvPr/>
        </p:nvCxnSpPr>
        <p:spPr>
          <a:xfrm flipH="1">
            <a:off x="6074950" y="243919"/>
            <a:ext cx="21050" cy="668295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4" name="表格 3">
            <a:extLst>
              <a:ext uri="{FF2B5EF4-FFF2-40B4-BE49-F238E27FC236}">
                <a16:creationId xmlns:a16="http://schemas.microsoft.com/office/drawing/2014/main" id="{F0AFD680-E243-7D96-A238-1922E439C10B}"/>
              </a:ext>
            </a:extLst>
          </p:cNvPr>
          <p:cNvGraphicFramePr>
            <a:graphicFrameLocks noGrp="1"/>
          </p:cNvGraphicFramePr>
          <p:nvPr>
            <p:extLst>
              <p:ext uri="{D42A27DB-BD31-4B8C-83A1-F6EECF244321}">
                <p14:modId xmlns:p14="http://schemas.microsoft.com/office/powerpoint/2010/main" val="3246112917"/>
              </p:ext>
            </p:extLst>
          </p:nvPr>
        </p:nvGraphicFramePr>
        <p:xfrm>
          <a:off x="32110" y="3964020"/>
          <a:ext cx="5978247" cy="1143743"/>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364010">
                  <a:extLst>
                    <a:ext uri="{9D8B030D-6E8A-4147-A177-3AD203B41FA5}">
                      <a16:colId xmlns:a16="http://schemas.microsoft.com/office/drawing/2014/main" val="4076488391"/>
                    </a:ext>
                  </a:extLst>
                </a:gridCol>
                <a:gridCol w="281898">
                  <a:extLst>
                    <a:ext uri="{9D8B030D-6E8A-4147-A177-3AD203B41FA5}">
                      <a16:colId xmlns:a16="http://schemas.microsoft.com/office/drawing/2014/main" val="3254101706"/>
                    </a:ext>
                  </a:extLst>
                </a:gridCol>
                <a:gridCol w="356877">
                  <a:extLst>
                    <a:ext uri="{9D8B030D-6E8A-4147-A177-3AD203B41FA5}">
                      <a16:colId xmlns:a16="http://schemas.microsoft.com/office/drawing/2014/main" val="3712391277"/>
                    </a:ext>
                  </a:extLst>
                </a:gridCol>
                <a:gridCol w="269401">
                  <a:extLst>
                    <a:ext uri="{9D8B030D-6E8A-4147-A177-3AD203B41FA5}">
                      <a16:colId xmlns:a16="http://schemas.microsoft.com/office/drawing/2014/main" val="1461470061"/>
                    </a:ext>
                  </a:extLst>
                </a:gridCol>
                <a:gridCol w="269401">
                  <a:extLst>
                    <a:ext uri="{9D8B030D-6E8A-4147-A177-3AD203B41FA5}">
                      <a16:colId xmlns:a16="http://schemas.microsoft.com/office/drawing/2014/main" val="2527660299"/>
                    </a:ext>
                  </a:extLst>
                </a:gridCol>
                <a:gridCol w="388119">
                  <a:extLst>
                    <a:ext uri="{9D8B030D-6E8A-4147-A177-3AD203B41FA5}">
                      <a16:colId xmlns:a16="http://schemas.microsoft.com/office/drawing/2014/main" val="3641075278"/>
                    </a:ext>
                  </a:extLst>
                </a:gridCol>
                <a:gridCol w="850494">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96D2E7C3-627B-1254-9825-1A04B63A1EAD}"/>
              </a:ext>
            </a:extLst>
          </p:cNvPr>
          <p:cNvGraphicFramePr>
            <a:graphicFrameLocks noGrp="1"/>
          </p:cNvGraphicFramePr>
          <p:nvPr>
            <p:extLst>
              <p:ext uri="{D42A27DB-BD31-4B8C-83A1-F6EECF244321}">
                <p14:modId xmlns:p14="http://schemas.microsoft.com/office/powerpoint/2010/main" val="3486263219"/>
              </p:ext>
            </p:extLst>
          </p:nvPr>
        </p:nvGraphicFramePr>
        <p:xfrm>
          <a:off x="50199" y="5145459"/>
          <a:ext cx="5970258" cy="1143743"/>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364979">
                  <a:extLst>
                    <a:ext uri="{9D8B030D-6E8A-4147-A177-3AD203B41FA5}">
                      <a16:colId xmlns:a16="http://schemas.microsoft.com/office/drawing/2014/main" val="4076488391"/>
                    </a:ext>
                  </a:extLst>
                </a:gridCol>
                <a:gridCol w="364979">
                  <a:extLst>
                    <a:ext uri="{9D8B030D-6E8A-4147-A177-3AD203B41FA5}">
                      <a16:colId xmlns:a16="http://schemas.microsoft.com/office/drawing/2014/main" val="3254101706"/>
                    </a:ext>
                  </a:extLst>
                </a:gridCol>
                <a:gridCol w="354708">
                  <a:extLst>
                    <a:ext uri="{9D8B030D-6E8A-4147-A177-3AD203B41FA5}">
                      <a16:colId xmlns:a16="http://schemas.microsoft.com/office/drawing/2014/main" val="3712391277"/>
                    </a:ext>
                  </a:extLst>
                </a:gridCol>
                <a:gridCol w="267764">
                  <a:extLst>
                    <a:ext uri="{9D8B030D-6E8A-4147-A177-3AD203B41FA5}">
                      <a16:colId xmlns:a16="http://schemas.microsoft.com/office/drawing/2014/main" val="967768249"/>
                    </a:ext>
                  </a:extLst>
                </a:gridCol>
                <a:gridCol w="267764">
                  <a:extLst>
                    <a:ext uri="{9D8B030D-6E8A-4147-A177-3AD203B41FA5}">
                      <a16:colId xmlns:a16="http://schemas.microsoft.com/office/drawing/2014/main" val="2527660299"/>
                    </a:ext>
                  </a:extLst>
                </a:gridCol>
                <a:gridCol w="385759">
                  <a:extLst>
                    <a:ext uri="{9D8B030D-6E8A-4147-A177-3AD203B41FA5}">
                      <a16:colId xmlns:a16="http://schemas.microsoft.com/office/drawing/2014/main" val="3641075278"/>
                    </a:ext>
                  </a:extLst>
                </a:gridCol>
                <a:gridCol w="845324">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9" name="表格 8">
            <a:extLst>
              <a:ext uri="{FF2B5EF4-FFF2-40B4-BE49-F238E27FC236}">
                <a16:creationId xmlns:a16="http://schemas.microsoft.com/office/drawing/2014/main" id="{5C6391FB-2490-CC23-CF86-84350EA59FE2}"/>
              </a:ext>
            </a:extLst>
          </p:cNvPr>
          <p:cNvGraphicFramePr>
            <a:graphicFrameLocks noGrp="1"/>
          </p:cNvGraphicFramePr>
          <p:nvPr>
            <p:extLst>
              <p:ext uri="{D42A27DB-BD31-4B8C-83A1-F6EECF244321}">
                <p14:modId xmlns:p14="http://schemas.microsoft.com/office/powerpoint/2010/main" val="1097003628"/>
              </p:ext>
            </p:extLst>
          </p:nvPr>
        </p:nvGraphicFramePr>
        <p:xfrm>
          <a:off x="6139968" y="3549873"/>
          <a:ext cx="5915317" cy="1143743"/>
        </p:xfrm>
        <a:graphic>
          <a:graphicData uri="http://schemas.openxmlformats.org/drawingml/2006/table">
            <a:tbl>
              <a:tblPr/>
              <a:tblGrid>
                <a:gridCol w="421943">
                  <a:extLst>
                    <a:ext uri="{9D8B030D-6E8A-4147-A177-3AD203B41FA5}">
                      <a16:colId xmlns:a16="http://schemas.microsoft.com/office/drawing/2014/main" val="495084399"/>
                    </a:ext>
                  </a:extLst>
                </a:gridCol>
                <a:gridCol w="241835">
                  <a:extLst>
                    <a:ext uri="{9D8B030D-6E8A-4147-A177-3AD203B41FA5}">
                      <a16:colId xmlns:a16="http://schemas.microsoft.com/office/drawing/2014/main" val="3614210242"/>
                    </a:ext>
                  </a:extLst>
                </a:gridCol>
                <a:gridCol w="602569">
                  <a:extLst>
                    <a:ext uri="{9D8B030D-6E8A-4147-A177-3AD203B41FA5}">
                      <a16:colId xmlns:a16="http://schemas.microsoft.com/office/drawing/2014/main" val="1442124609"/>
                    </a:ext>
                  </a:extLst>
                </a:gridCol>
                <a:gridCol w="1898038">
                  <a:extLst>
                    <a:ext uri="{9D8B030D-6E8A-4147-A177-3AD203B41FA5}">
                      <a16:colId xmlns:a16="http://schemas.microsoft.com/office/drawing/2014/main" val="3603859997"/>
                    </a:ext>
                  </a:extLst>
                </a:gridCol>
                <a:gridCol w="360178">
                  <a:extLst>
                    <a:ext uri="{9D8B030D-6E8A-4147-A177-3AD203B41FA5}">
                      <a16:colId xmlns:a16="http://schemas.microsoft.com/office/drawing/2014/main" val="4076488391"/>
                    </a:ext>
                  </a:extLst>
                </a:gridCol>
                <a:gridCol w="278930">
                  <a:extLst>
                    <a:ext uri="{9D8B030D-6E8A-4147-A177-3AD203B41FA5}">
                      <a16:colId xmlns:a16="http://schemas.microsoft.com/office/drawing/2014/main" val="3254101706"/>
                    </a:ext>
                  </a:extLst>
                </a:gridCol>
                <a:gridCol w="353120">
                  <a:extLst>
                    <a:ext uri="{9D8B030D-6E8A-4147-A177-3AD203B41FA5}">
                      <a16:colId xmlns:a16="http://schemas.microsoft.com/office/drawing/2014/main" val="3712391277"/>
                    </a:ext>
                  </a:extLst>
                </a:gridCol>
                <a:gridCol w="266565">
                  <a:extLst>
                    <a:ext uri="{9D8B030D-6E8A-4147-A177-3AD203B41FA5}">
                      <a16:colId xmlns:a16="http://schemas.microsoft.com/office/drawing/2014/main" val="3811358726"/>
                    </a:ext>
                  </a:extLst>
                </a:gridCol>
                <a:gridCol w="266565">
                  <a:extLst>
                    <a:ext uri="{9D8B030D-6E8A-4147-A177-3AD203B41FA5}">
                      <a16:colId xmlns:a16="http://schemas.microsoft.com/office/drawing/2014/main" val="2527660299"/>
                    </a:ext>
                  </a:extLst>
                </a:gridCol>
                <a:gridCol w="384033">
                  <a:extLst>
                    <a:ext uri="{9D8B030D-6E8A-4147-A177-3AD203B41FA5}">
                      <a16:colId xmlns:a16="http://schemas.microsoft.com/office/drawing/2014/main" val="3641075278"/>
                    </a:ext>
                  </a:extLst>
                </a:gridCol>
                <a:gridCol w="841541">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1" name="表格 10">
            <a:extLst>
              <a:ext uri="{FF2B5EF4-FFF2-40B4-BE49-F238E27FC236}">
                <a16:creationId xmlns:a16="http://schemas.microsoft.com/office/drawing/2014/main" id="{1BDBFC6F-2F3E-0A92-8DCB-09C4D2DD97BA}"/>
              </a:ext>
            </a:extLst>
          </p:cNvPr>
          <p:cNvGraphicFramePr>
            <a:graphicFrameLocks noGrp="1"/>
          </p:cNvGraphicFramePr>
          <p:nvPr>
            <p:extLst>
              <p:ext uri="{D42A27DB-BD31-4B8C-83A1-F6EECF244321}">
                <p14:modId xmlns:p14="http://schemas.microsoft.com/office/powerpoint/2010/main" val="451809187"/>
              </p:ext>
            </p:extLst>
          </p:nvPr>
        </p:nvGraphicFramePr>
        <p:xfrm>
          <a:off x="6150493" y="4763762"/>
          <a:ext cx="5901002" cy="1143743"/>
        </p:xfrm>
        <a:graphic>
          <a:graphicData uri="http://schemas.openxmlformats.org/drawingml/2006/table">
            <a:tbl>
              <a:tblPr/>
              <a:tblGrid>
                <a:gridCol w="417685">
                  <a:extLst>
                    <a:ext uri="{9D8B030D-6E8A-4147-A177-3AD203B41FA5}">
                      <a16:colId xmlns:a16="http://schemas.microsoft.com/office/drawing/2014/main" val="495084399"/>
                    </a:ext>
                  </a:extLst>
                </a:gridCol>
                <a:gridCol w="238739">
                  <a:extLst>
                    <a:ext uri="{9D8B030D-6E8A-4147-A177-3AD203B41FA5}">
                      <a16:colId xmlns:a16="http://schemas.microsoft.com/office/drawing/2014/main" val="3614210242"/>
                    </a:ext>
                  </a:extLst>
                </a:gridCol>
                <a:gridCol w="550010">
                  <a:extLst>
                    <a:ext uri="{9D8B030D-6E8A-4147-A177-3AD203B41FA5}">
                      <a16:colId xmlns:a16="http://schemas.microsoft.com/office/drawing/2014/main" val="1442124609"/>
                    </a:ext>
                  </a:extLst>
                </a:gridCol>
                <a:gridCol w="1858828">
                  <a:extLst>
                    <a:ext uri="{9D8B030D-6E8A-4147-A177-3AD203B41FA5}">
                      <a16:colId xmlns:a16="http://schemas.microsoft.com/office/drawing/2014/main" val="3603859997"/>
                    </a:ext>
                  </a:extLst>
                </a:gridCol>
                <a:gridCol w="358693">
                  <a:extLst>
                    <a:ext uri="{9D8B030D-6E8A-4147-A177-3AD203B41FA5}">
                      <a16:colId xmlns:a16="http://schemas.microsoft.com/office/drawing/2014/main" val="4076488391"/>
                    </a:ext>
                  </a:extLst>
                </a:gridCol>
                <a:gridCol w="358693">
                  <a:extLst>
                    <a:ext uri="{9D8B030D-6E8A-4147-A177-3AD203B41FA5}">
                      <a16:colId xmlns:a16="http://schemas.microsoft.com/office/drawing/2014/main" val="3254101706"/>
                    </a:ext>
                  </a:extLst>
                </a:gridCol>
                <a:gridCol w="348599">
                  <a:extLst>
                    <a:ext uri="{9D8B030D-6E8A-4147-A177-3AD203B41FA5}">
                      <a16:colId xmlns:a16="http://schemas.microsoft.com/office/drawing/2014/main" val="3712391277"/>
                    </a:ext>
                  </a:extLst>
                </a:gridCol>
                <a:gridCol w="263152">
                  <a:extLst>
                    <a:ext uri="{9D8B030D-6E8A-4147-A177-3AD203B41FA5}">
                      <a16:colId xmlns:a16="http://schemas.microsoft.com/office/drawing/2014/main" val="4118002695"/>
                    </a:ext>
                  </a:extLst>
                </a:gridCol>
                <a:gridCol w="263152">
                  <a:extLst>
                    <a:ext uri="{9D8B030D-6E8A-4147-A177-3AD203B41FA5}">
                      <a16:colId xmlns:a16="http://schemas.microsoft.com/office/drawing/2014/main" val="2527660299"/>
                    </a:ext>
                  </a:extLst>
                </a:gridCol>
                <a:gridCol w="379115">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13" name="表格 12">
            <a:extLst>
              <a:ext uri="{FF2B5EF4-FFF2-40B4-BE49-F238E27FC236}">
                <a16:creationId xmlns:a16="http://schemas.microsoft.com/office/drawing/2014/main" id="{44ABA013-8675-E5B6-14BD-3E6F40B29F18}"/>
              </a:ext>
            </a:extLst>
          </p:cNvPr>
          <p:cNvGraphicFramePr>
            <a:graphicFrameLocks noGrp="1"/>
          </p:cNvGraphicFramePr>
          <p:nvPr>
            <p:extLst>
              <p:ext uri="{D42A27DB-BD31-4B8C-83A1-F6EECF244321}">
                <p14:modId xmlns:p14="http://schemas.microsoft.com/office/powerpoint/2010/main" val="3953929651"/>
              </p:ext>
            </p:extLst>
          </p:nvPr>
        </p:nvGraphicFramePr>
        <p:xfrm>
          <a:off x="6168582" y="426316"/>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SOR with recourse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2" name="表格 1">
            <a:extLst>
              <a:ext uri="{FF2B5EF4-FFF2-40B4-BE49-F238E27FC236}">
                <a16:creationId xmlns:a16="http://schemas.microsoft.com/office/drawing/2014/main" id="{F39C5639-7777-B373-9C3B-D2ABEA39C24C}"/>
              </a:ext>
            </a:extLst>
          </p:cNvPr>
          <p:cNvGraphicFramePr>
            <a:graphicFrameLocks noGrp="1"/>
          </p:cNvGraphicFramePr>
          <p:nvPr>
            <p:extLst>
              <p:ext uri="{D42A27DB-BD31-4B8C-83A1-F6EECF244321}">
                <p14:modId xmlns:p14="http://schemas.microsoft.com/office/powerpoint/2010/main" val="2217622802"/>
              </p:ext>
            </p:extLst>
          </p:nvPr>
        </p:nvGraphicFramePr>
        <p:xfrm>
          <a:off x="32110" y="418973"/>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SOR with recourse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Tree>
    <p:extLst>
      <p:ext uri="{BB962C8B-B14F-4D97-AF65-F5344CB8AC3E}">
        <p14:creationId xmlns:p14="http://schemas.microsoft.com/office/powerpoint/2010/main" val="229932226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D9B0BC-97F2-544B-F169-F275AD9C2C01}"/>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F5BB7E9D-9427-ED45-299B-62B51D4FB7B1}"/>
              </a:ext>
            </a:extLst>
          </p:cNvPr>
          <p:cNvSpPr txBox="1"/>
          <p:nvPr/>
        </p:nvSpPr>
        <p:spPr>
          <a:xfrm>
            <a:off x="0" y="0"/>
            <a:ext cx="4470947" cy="400110"/>
          </a:xfrm>
          <a:prstGeom prst="rect">
            <a:avLst/>
          </a:prstGeom>
          <a:noFill/>
        </p:spPr>
        <p:txBody>
          <a:bodyPr wrap="square" rtlCol="0">
            <a:spAutoFit/>
          </a:bodyPr>
          <a:lstStyle/>
          <a:p>
            <a:r>
              <a:rPr lang="nl-NL" altLang="zh-CN" sz="2000" b="1"/>
              <a:t>DaaS_AFE_MSA&amp;MLA</a:t>
            </a:r>
            <a:endParaRPr lang="zh-CN" altLang="en-US" sz="2000" b="1"/>
          </a:p>
        </p:txBody>
      </p:sp>
      <p:graphicFrame>
        <p:nvGraphicFramePr>
          <p:cNvPr id="18" name="表格 17">
            <a:extLst>
              <a:ext uri="{FF2B5EF4-FFF2-40B4-BE49-F238E27FC236}">
                <a16:creationId xmlns:a16="http://schemas.microsoft.com/office/drawing/2014/main" id="{64F96C07-388D-90D0-08CA-B00374CFC60F}"/>
              </a:ext>
            </a:extLst>
          </p:cNvPr>
          <p:cNvGraphicFramePr>
            <a:graphicFrameLocks noGrp="1"/>
          </p:cNvGraphicFramePr>
          <p:nvPr>
            <p:extLst>
              <p:ext uri="{D42A27DB-BD31-4B8C-83A1-F6EECF244321}">
                <p14:modId xmlns:p14="http://schemas.microsoft.com/office/powerpoint/2010/main" val="2239344292"/>
              </p:ext>
            </p:extLst>
          </p:nvPr>
        </p:nvGraphicFramePr>
        <p:xfrm>
          <a:off x="117061" y="326143"/>
          <a:ext cx="5910248" cy="1143000"/>
        </p:xfrm>
        <a:graphic>
          <a:graphicData uri="http://schemas.openxmlformats.org/drawingml/2006/table">
            <a:tbl>
              <a:tblPr firstRow="1" bandRow="1">
                <a:tableStyleId>{3C2FFA5D-87B4-456A-9821-1D502468CF0F}</a:tableStyleId>
              </a:tblPr>
              <a:tblGrid>
                <a:gridCol w="680381">
                  <a:extLst>
                    <a:ext uri="{9D8B030D-6E8A-4147-A177-3AD203B41FA5}">
                      <a16:colId xmlns:a16="http://schemas.microsoft.com/office/drawing/2014/main" val="869603910"/>
                    </a:ext>
                  </a:extLst>
                </a:gridCol>
                <a:gridCol w="691116">
                  <a:extLst>
                    <a:ext uri="{9D8B030D-6E8A-4147-A177-3AD203B41FA5}">
                      <a16:colId xmlns:a16="http://schemas.microsoft.com/office/drawing/2014/main" val="238663902"/>
                    </a:ext>
                  </a:extLst>
                </a:gridCol>
                <a:gridCol w="568135">
                  <a:extLst>
                    <a:ext uri="{9D8B030D-6E8A-4147-A177-3AD203B41FA5}">
                      <a16:colId xmlns:a16="http://schemas.microsoft.com/office/drawing/2014/main" val="4114365151"/>
                    </a:ext>
                  </a:extLst>
                </a:gridCol>
                <a:gridCol w="679060">
                  <a:extLst>
                    <a:ext uri="{9D8B030D-6E8A-4147-A177-3AD203B41FA5}">
                      <a16:colId xmlns:a16="http://schemas.microsoft.com/office/drawing/2014/main" val="4075178046"/>
                    </a:ext>
                  </a:extLst>
                </a:gridCol>
                <a:gridCol w="763942">
                  <a:extLst>
                    <a:ext uri="{9D8B030D-6E8A-4147-A177-3AD203B41FA5}">
                      <a16:colId xmlns:a16="http://schemas.microsoft.com/office/drawing/2014/main" val="973533418"/>
                    </a:ext>
                  </a:extLst>
                </a:gridCol>
                <a:gridCol w="774593">
                  <a:extLst>
                    <a:ext uri="{9D8B030D-6E8A-4147-A177-3AD203B41FA5}">
                      <a16:colId xmlns:a16="http://schemas.microsoft.com/office/drawing/2014/main" val="2377711782"/>
                    </a:ext>
                  </a:extLst>
                </a:gridCol>
                <a:gridCol w="882503">
                  <a:extLst>
                    <a:ext uri="{9D8B030D-6E8A-4147-A177-3AD203B41FA5}">
                      <a16:colId xmlns:a16="http://schemas.microsoft.com/office/drawing/2014/main" val="2828193987"/>
                    </a:ext>
                  </a:extLst>
                </a:gridCol>
                <a:gridCol w="870518">
                  <a:extLst>
                    <a:ext uri="{9D8B030D-6E8A-4147-A177-3AD203B41FA5}">
                      <a16:colId xmlns:a16="http://schemas.microsoft.com/office/drawing/2014/main" val="221569069"/>
                    </a:ext>
                  </a:extLst>
                </a:gridCol>
              </a:tblGrid>
              <a:tr h="315513">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15513">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SOR- without recourse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7" name="表格 6">
            <a:extLst>
              <a:ext uri="{FF2B5EF4-FFF2-40B4-BE49-F238E27FC236}">
                <a16:creationId xmlns:a16="http://schemas.microsoft.com/office/drawing/2014/main" id="{0C5B605E-BFF7-F217-F191-EAC854FDC150}"/>
              </a:ext>
            </a:extLst>
          </p:cNvPr>
          <p:cNvGraphicFramePr>
            <a:graphicFrameLocks noGrp="1"/>
          </p:cNvGraphicFramePr>
          <p:nvPr>
            <p:extLst>
              <p:ext uri="{D42A27DB-BD31-4B8C-83A1-F6EECF244321}">
                <p14:modId xmlns:p14="http://schemas.microsoft.com/office/powerpoint/2010/main" val="204751773"/>
              </p:ext>
            </p:extLst>
          </p:nvPr>
        </p:nvGraphicFramePr>
        <p:xfrm>
          <a:off x="117061" y="1524637"/>
          <a:ext cx="5893213" cy="2245047"/>
        </p:xfrm>
        <a:graphic>
          <a:graphicData uri="http://schemas.openxmlformats.org/drawingml/2006/table">
            <a:tbl>
              <a:tblPr/>
              <a:tblGrid>
                <a:gridCol w="433613">
                  <a:extLst>
                    <a:ext uri="{9D8B030D-6E8A-4147-A177-3AD203B41FA5}">
                      <a16:colId xmlns:a16="http://schemas.microsoft.com/office/drawing/2014/main" val="495084399"/>
                    </a:ext>
                  </a:extLst>
                </a:gridCol>
                <a:gridCol w="224804">
                  <a:extLst>
                    <a:ext uri="{9D8B030D-6E8A-4147-A177-3AD203B41FA5}">
                      <a16:colId xmlns:a16="http://schemas.microsoft.com/office/drawing/2014/main" val="3614210242"/>
                    </a:ext>
                  </a:extLst>
                </a:gridCol>
                <a:gridCol w="567413">
                  <a:extLst>
                    <a:ext uri="{9D8B030D-6E8A-4147-A177-3AD203B41FA5}">
                      <a16:colId xmlns:a16="http://schemas.microsoft.com/office/drawing/2014/main" val="1442124609"/>
                    </a:ext>
                  </a:extLst>
                </a:gridCol>
                <a:gridCol w="2033764">
                  <a:extLst>
                    <a:ext uri="{9D8B030D-6E8A-4147-A177-3AD203B41FA5}">
                      <a16:colId xmlns:a16="http://schemas.microsoft.com/office/drawing/2014/main" val="3603859997"/>
                    </a:ext>
                  </a:extLst>
                </a:gridCol>
                <a:gridCol w="339165">
                  <a:extLst>
                    <a:ext uri="{9D8B030D-6E8A-4147-A177-3AD203B41FA5}">
                      <a16:colId xmlns:a16="http://schemas.microsoft.com/office/drawing/2014/main" val="4076488391"/>
                    </a:ext>
                  </a:extLst>
                </a:gridCol>
                <a:gridCol w="339165">
                  <a:extLst>
                    <a:ext uri="{9D8B030D-6E8A-4147-A177-3AD203B41FA5}">
                      <a16:colId xmlns:a16="http://schemas.microsoft.com/office/drawing/2014/main" val="3254101706"/>
                    </a:ext>
                  </a:extLst>
                </a:gridCol>
                <a:gridCol w="261222">
                  <a:extLst>
                    <a:ext uri="{9D8B030D-6E8A-4147-A177-3AD203B41FA5}">
                      <a16:colId xmlns:a16="http://schemas.microsoft.com/office/drawing/2014/main" val="3712391277"/>
                    </a:ext>
                  </a:extLst>
                </a:gridCol>
                <a:gridCol w="586303">
                  <a:extLst>
                    <a:ext uri="{9D8B030D-6E8A-4147-A177-3AD203B41FA5}">
                      <a16:colId xmlns:a16="http://schemas.microsoft.com/office/drawing/2014/main" val="1875429674"/>
                    </a:ext>
                  </a:extLst>
                </a:gridCol>
                <a:gridCol w="271479">
                  <a:extLst>
                    <a:ext uri="{9D8B030D-6E8A-4147-A177-3AD203B41FA5}">
                      <a16:colId xmlns:a16="http://schemas.microsoft.com/office/drawing/2014/main" val="2527660299"/>
                    </a:ext>
                  </a:extLst>
                </a:gridCol>
                <a:gridCol w="391112">
                  <a:extLst>
                    <a:ext uri="{9D8B030D-6E8A-4147-A177-3AD203B41FA5}">
                      <a16:colId xmlns:a16="http://schemas.microsoft.com/office/drawing/2014/main" val="3641075278"/>
                    </a:ext>
                  </a:extLst>
                </a:gridCol>
                <a:gridCol w="445173">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72837465"/>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Payable-Third Party-Factoring​</a:t>
                      </a:r>
                    </a:p>
                  </a:txBody>
                  <a:tcPr marL="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3​</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3​</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 – Premier 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8" name="表格 7">
            <a:extLst>
              <a:ext uri="{FF2B5EF4-FFF2-40B4-BE49-F238E27FC236}">
                <a16:creationId xmlns:a16="http://schemas.microsoft.com/office/drawing/2014/main" id="{7E9DEB81-1150-3FC0-0A2B-705F74D925BD}"/>
              </a:ext>
            </a:extLst>
          </p:cNvPr>
          <p:cNvGraphicFramePr>
            <a:graphicFrameLocks noGrp="1"/>
          </p:cNvGraphicFramePr>
          <p:nvPr>
            <p:extLst>
              <p:ext uri="{D42A27DB-BD31-4B8C-83A1-F6EECF244321}">
                <p14:modId xmlns:p14="http://schemas.microsoft.com/office/powerpoint/2010/main" val="3492874047"/>
              </p:ext>
            </p:extLst>
          </p:nvPr>
        </p:nvGraphicFramePr>
        <p:xfrm>
          <a:off x="109059" y="3817973"/>
          <a:ext cx="5909216" cy="1143743"/>
        </p:xfrm>
        <a:graphic>
          <a:graphicData uri="http://schemas.openxmlformats.org/drawingml/2006/table">
            <a:tbl>
              <a:tblPr/>
              <a:tblGrid>
                <a:gridCol w="457025">
                  <a:extLst>
                    <a:ext uri="{9D8B030D-6E8A-4147-A177-3AD203B41FA5}">
                      <a16:colId xmlns:a16="http://schemas.microsoft.com/office/drawing/2014/main" val="495084399"/>
                    </a:ext>
                  </a:extLst>
                </a:gridCol>
                <a:gridCol w="240022">
                  <a:extLst>
                    <a:ext uri="{9D8B030D-6E8A-4147-A177-3AD203B41FA5}">
                      <a16:colId xmlns:a16="http://schemas.microsoft.com/office/drawing/2014/main" val="3614210242"/>
                    </a:ext>
                  </a:extLst>
                </a:gridCol>
                <a:gridCol w="598051">
                  <a:extLst>
                    <a:ext uri="{9D8B030D-6E8A-4147-A177-3AD203B41FA5}">
                      <a16:colId xmlns:a16="http://schemas.microsoft.com/office/drawing/2014/main" val="1442124609"/>
                    </a:ext>
                  </a:extLst>
                </a:gridCol>
                <a:gridCol w="1883807">
                  <a:extLst>
                    <a:ext uri="{9D8B030D-6E8A-4147-A177-3AD203B41FA5}">
                      <a16:colId xmlns:a16="http://schemas.microsoft.com/office/drawing/2014/main" val="3603859997"/>
                    </a:ext>
                  </a:extLst>
                </a:gridCol>
                <a:gridCol w="357478">
                  <a:extLst>
                    <a:ext uri="{9D8B030D-6E8A-4147-A177-3AD203B41FA5}">
                      <a16:colId xmlns:a16="http://schemas.microsoft.com/office/drawing/2014/main" val="4076488391"/>
                    </a:ext>
                  </a:extLst>
                </a:gridCol>
                <a:gridCol w="276839">
                  <a:extLst>
                    <a:ext uri="{9D8B030D-6E8A-4147-A177-3AD203B41FA5}">
                      <a16:colId xmlns:a16="http://schemas.microsoft.com/office/drawing/2014/main" val="3254101706"/>
                    </a:ext>
                  </a:extLst>
                </a:gridCol>
                <a:gridCol w="350474">
                  <a:extLst>
                    <a:ext uri="{9D8B030D-6E8A-4147-A177-3AD203B41FA5}">
                      <a16:colId xmlns:a16="http://schemas.microsoft.com/office/drawing/2014/main" val="3712391277"/>
                    </a:ext>
                  </a:extLst>
                </a:gridCol>
                <a:gridCol w="264567">
                  <a:extLst>
                    <a:ext uri="{9D8B030D-6E8A-4147-A177-3AD203B41FA5}">
                      <a16:colId xmlns:a16="http://schemas.microsoft.com/office/drawing/2014/main" val="1590728244"/>
                    </a:ext>
                  </a:extLst>
                </a:gridCol>
                <a:gridCol w="264567">
                  <a:extLst>
                    <a:ext uri="{9D8B030D-6E8A-4147-A177-3AD203B41FA5}">
                      <a16:colId xmlns:a16="http://schemas.microsoft.com/office/drawing/2014/main" val="2527660299"/>
                    </a:ext>
                  </a:extLst>
                </a:gridCol>
                <a:gridCol w="381154">
                  <a:extLst>
                    <a:ext uri="{9D8B030D-6E8A-4147-A177-3AD203B41FA5}">
                      <a16:colId xmlns:a16="http://schemas.microsoft.com/office/drawing/2014/main" val="3641075278"/>
                    </a:ext>
                  </a:extLst>
                </a:gridCol>
                <a:gridCol w="835232">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9" name="表格 8">
            <a:extLst>
              <a:ext uri="{FF2B5EF4-FFF2-40B4-BE49-F238E27FC236}">
                <a16:creationId xmlns:a16="http://schemas.microsoft.com/office/drawing/2014/main" id="{60A6E7CE-FBD5-8C95-CF21-0F7116F89227}"/>
              </a:ext>
            </a:extLst>
          </p:cNvPr>
          <p:cNvGraphicFramePr>
            <a:graphicFrameLocks noGrp="1"/>
          </p:cNvGraphicFramePr>
          <p:nvPr>
            <p:extLst>
              <p:ext uri="{D42A27DB-BD31-4B8C-83A1-F6EECF244321}">
                <p14:modId xmlns:p14="http://schemas.microsoft.com/office/powerpoint/2010/main" val="3660533464"/>
              </p:ext>
            </p:extLst>
          </p:nvPr>
        </p:nvGraphicFramePr>
        <p:xfrm>
          <a:off x="100027" y="5010005"/>
          <a:ext cx="5910246" cy="1143743"/>
        </p:xfrm>
        <a:graphic>
          <a:graphicData uri="http://schemas.openxmlformats.org/drawingml/2006/table">
            <a:tbl>
              <a:tblPr/>
              <a:tblGrid>
                <a:gridCol w="458728">
                  <a:extLst>
                    <a:ext uri="{9D8B030D-6E8A-4147-A177-3AD203B41FA5}">
                      <a16:colId xmlns:a16="http://schemas.microsoft.com/office/drawing/2014/main" val="495084399"/>
                    </a:ext>
                  </a:extLst>
                </a:gridCol>
                <a:gridCol w="238816">
                  <a:extLst>
                    <a:ext uri="{9D8B030D-6E8A-4147-A177-3AD203B41FA5}">
                      <a16:colId xmlns:a16="http://schemas.microsoft.com/office/drawing/2014/main" val="3614210242"/>
                    </a:ext>
                  </a:extLst>
                </a:gridCol>
                <a:gridCol w="550189">
                  <a:extLst>
                    <a:ext uri="{9D8B030D-6E8A-4147-A177-3AD203B41FA5}">
                      <a16:colId xmlns:a16="http://schemas.microsoft.com/office/drawing/2014/main" val="1442124609"/>
                    </a:ext>
                  </a:extLst>
                </a:gridCol>
                <a:gridCol w="1859432">
                  <a:extLst>
                    <a:ext uri="{9D8B030D-6E8A-4147-A177-3AD203B41FA5}">
                      <a16:colId xmlns:a16="http://schemas.microsoft.com/office/drawing/2014/main" val="3603859997"/>
                    </a:ext>
                  </a:extLst>
                </a:gridCol>
                <a:gridCol w="358810">
                  <a:extLst>
                    <a:ext uri="{9D8B030D-6E8A-4147-A177-3AD203B41FA5}">
                      <a16:colId xmlns:a16="http://schemas.microsoft.com/office/drawing/2014/main" val="4076488391"/>
                    </a:ext>
                  </a:extLst>
                </a:gridCol>
                <a:gridCol w="358810">
                  <a:extLst>
                    <a:ext uri="{9D8B030D-6E8A-4147-A177-3AD203B41FA5}">
                      <a16:colId xmlns:a16="http://schemas.microsoft.com/office/drawing/2014/main" val="3254101706"/>
                    </a:ext>
                  </a:extLst>
                </a:gridCol>
                <a:gridCol w="348713">
                  <a:extLst>
                    <a:ext uri="{9D8B030D-6E8A-4147-A177-3AD203B41FA5}">
                      <a16:colId xmlns:a16="http://schemas.microsoft.com/office/drawing/2014/main" val="3712391277"/>
                    </a:ext>
                  </a:extLst>
                </a:gridCol>
                <a:gridCol w="263237">
                  <a:extLst>
                    <a:ext uri="{9D8B030D-6E8A-4147-A177-3AD203B41FA5}">
                      <a16:colId xmlns:a16="http://schemas.microsoft.com/office/drawing/2014/main" val="3331976834"/>
                    </a:ext>
                  </a:extLst>
                </a:gridCol>
                <a:gridCol w="263237">
                  <a:extLst>
                    <a:ext uri="{9D8B030D-6E8A-4147-A177-3AD203B41FA5}">
                      <a16:colId xmlns:a16="http://schemas.microsoft.com/office/drawing/2014/main" val="2527660299"/>
                    </a:ext>
                  </a:extLst>
                </a:gridCol>
                <a:gridCol w="379239">
                  <a:extLst>
                    <a:ext uri="{9D8B030D-6E8A-4147-A177-3AD203B41FA5}">
                      <a16:colId xmlns:a16="http://schemas.microsoft.com/office/drawing/2014/main" val="3641075278"/>
                    </a:ext>
                  </a:extLst>
                </a:gridCol>
                <a:gridCol w="831035">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cxnSp>
        <p:nvCxnSpPr>
          <p:cNvPr id="10" name="直接连接符 9">
            <a:extLst>
              <a:ext uri="{FF2B5EF4-FFF2-40B4-BE49-F238E27FC236}">
                <a16:creationId xmlns:a16="http://schemas.microsoft.com/office/drawing/2014/main" id="{22C74F12-E938-BC0F-B9DB-B48FF99CD293}"/>
              </a:ext>
            </a:extLst>
          </p:cNvPr>
          <p:cNvCxnSpPr>
            <a:cxnSpLocks/>
          </p:cNvCxnSpPr>
          <p:nvPr/>
        </p:nvCxnSpPr>
        <p:spPr>
          <a:xfrm>
            <a:off x="6181725"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1" name="表格 10">
            <a:extLst>
              <a:ext uri="{FF2B5EF4-FFF2-40B4-BE49-F238E27FC236}">
                <a16:creationId xmlns:a16="http://schemas.microsoft.com/office/drawing/2014/main" id="{0869E6F2-701E-FC19-39F8-22811C6ABE52}"/>
              </a:ext>
            </a:extLst>
          </p:cNvPr>
          <p:cNvGraphicFramePr>
            <a:graphicFrameLocks noGrp="1"/>
          </p:cNvGraphicFramePr>
          <p:nvPr>
            <p:extLst>
              <p:ext uri="{D42A27DB-BD31-4B8C-83A1-F6EECF244321}">
                <p14:modId xmlns:p14="http://schemas.microsoft.com/office/powerpoint/2010/main" val="3096614643"/>
              </p:ext>
            </p:extLst>
          </p:nvPr>
        </p:nvGraphicFramePr>
        <p:xfrm>
          <a:off x="6283945" y="368434"/>
          <a:ext cx="5908055" cy="1100709"/>
        </p:xfrm>
        <a:graphic>
          <a:graphicData uri="http://schemas.openxmlformats.org/drawingml/2006/table">
            <a:tbl>
              <a:tblPr firstRow="1" bandRow="1">
                <a:tableStyleId>{3C2FFA5D-87B4-456A-9821-1D502468CF0F}</a:tableStyleId>
              </a:tblPr>
              <a:tblGrid>
                <a:gridCol w="829933">
                  <a:extLst>
                    <a:ext uri="{9D8B030D-6E8A-4147-A177-3AD203B41FA5}">
                      <a16:colId xmlns:a16="http://schemas.microsoft.com/office/drawing/2014/main" val="869603910"/>
                    </a:ext>
                  </a:extLst>
                </a:gridCol>
                <a:gridCol w="627221">
                  <a:extLst>
                    <a:ext uri="{9D8B030D-6E8A-4147-A177-3AD203B41FA5}">
                      <a16:colId xmlns:a16="http://schemas.microsoft.com/office/drawing/2014/main" val="238663902"/>
                    </a:ext>
                  </a:extLst>
                </a:gridCol>
                <a:gridCol w="862984">
                  <a:extLst>
                    <a:ext uri="{9D8B030D-6E8A-4147-A177-3AD203B41FA5}">
                      <a16:colId xmlns:a16="http://schemas.microsoft.com/office/drawing/2014/main" val="4114365151"/>
                    </a:ext>
                  </a:extLst>
                </a:gridCol>
                <a:gridCol w="804457">
                  <a:extLst>
                    <a:ext uri="{9D8B030D-6E8A-4147-A177-3AD203B41FA5}">
                      <a16:colId xmlns:a16="http://schemas.microsoft.com/office/drawing/2014/main" val="4075178046"/>
                    </a:ext>
                  </a:extLst>
                </a:gridCol>
                <a:gridCol w="879924">
                  <a:extLst>
                    <a:ext uri="{9D8B030D-6E8A-4147-A177-3AD203B41FA5}">
                      <a16:colId xmlns:a16="http://schemas.microsoft.com/office/drawing/2014/main" val="973533418"/>
                    </a:ext>
                  </a:extLst>
                </a:gridCol>
                <a:gridCol w="861545">
                  <a:extLst>
                    <a:ext uri="{9D8B030D-6E8A-4147-A177-3AD203B41FA5}">
                      <a16:colId xmlns:a16="http://schemas.microsoft.com/office/drawing/2014/main" val="2377711782"/>
                    </a:ext>
                  </a:extLst>
                </a:gridCol>
                <a:gridCol w="1041991">
                  <a:extLst>
                    <a:ext uri="{9D8B030D-6E8A-4147-A177-3AD203B41FA5}">
                      <a16:colId xmlns:a16="http://schemas.microsoft.com/office/drawing/2014/main" val="221569069"/>
                    </a:ext>
                  </a:extLst>
                </a:gridCol>
              </a:tblGrid>
              <a:tr h="52920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9209">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SOR- without recourse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2" name="表格 11">
            <a:extLst>
              <a:ext uri="{FF2B5EF4-FFF2-40B4-BE49-F238E27FC236}">
                <a16:creationId xmlns:a16="http://schemas.microsoft.com/office/drawing/2014/main" id="{860AA05B-4A62-718F-D6EB-491DE85923F0}"/>
              </a:ext>
            </a:extLst>
          </p:cNvPr>
          <p:cNvGraphicFramePr>
            <a:graphicFrameLocks noGrp="1"/>
          </p:cNvGraphicFramePr>
          <p:nvPr>
            <p:extLst>
              <p:ext uri="{D42A27DB-BD31-4B8C-83A1-F6EECF244321}">
                <p14:modId xmlns:p14="http://schemas.microsoft.com/office/powerpoint/2010/main" val="1913079103"/>
              </p:ext>
            </p:extLst>
          </p:nvPr>
        </p:nvGraphicFramePr>
        <p:xfrm>
          <a:off x="6283945" y="1532749"/>
          <a:ext cx="5860157" cy="1795431"/>
        </p:xfrm>
        <a:graphic>
          <a:graphicData uri="http://schemas.openxmlformats.org/drawingml/2006/table">
            <a:tbl>
              <a:tblPr/>
              <a:tblGrid>
                <a:gridCol w="430852">
                  <a:extLst>
                    <a:ext uri="{9D8B030D-6E8A-4147-A177-3AD203B41FA5}">
                      <a16:colId xmlns:a16="http://schemas.microsoft.com/office/drawing/2014/main" val="495084399"/>
                    </a:ext>
                  </a:extLst>
                </a:gridCol>
                <a:gridCol w="244724">
                  <a:extLst>
                    <a:ext uri="{9D8B030D-6E8A-4147-A177-3AD203B41FA5}">
                      <a16:colId xmlns:a16="http://schemas.microsoft.com/office/drawing/2014/main" val="3614210242"/>
                    </a:ext>
                  </a:extLst>
                </a:gridCol>
                <a:gridCol w="609057">
                  <a:extLst>
                    <a:ext uri="{9D8B030D-6E8A-4147-A177-3AD203B41FA5}">
                      <a16:colId xmlns:a16="http://schemas.microsoft.com/office/drawing/2014/main" val="1442124609"/>
                    </a:ext>
                  </a:extLst>
                </a:gridCol>
                <a:gridCol w="2312528">
                  <a:extLst>
                    <a:ext uri="{9D8B030D-6E8A-4147-A177-3AD203B41FA5}">
                      <a16:colId xmlns:a16="http://schemas.microsoft.com/office/drawing/2014/main" val="3603859997"/>
                    </a:ext>
                  </a:extLst>
                </a:gridCol>
                <a:gridCol w="356623">
                  <a:extLst>
                    <a:ext uri="{9D8B030D-6E8A-4147-A177-3AD203B41FA5}">
                      <a16:colId xmlns:a16="http://schemas.microsoft.com/office/drawing/2014/main" val="4076488391"/>
                    </a:ext>
                  </a:extLst>
                </a:gridCol>
                <a:gridCol w="356623">
                  <a:extLst>
                    <a:ext uri="{9D8B030D-6E8A-4147-A177-3AD203B41FA5}">
                      <a16:colId xmlns:a16="http://schemas.microsoft.com/office/drawing/2014/main" val="3254101706"/>
                    </a:ext>
                  </a:extLst>
                </a:gridCol>
                <a:gridCol w="281539">
                  <a:extLst>
                    <a:ext uri="{9D8B030D-6E8A-4147-A177-3AD203B41FA5}">
                      <a16:colId xmlns:a16="http://schemas.microsoft.com/office/drawing/2014/main" val="3712391277"/>
                    </a:ext>
                  </a:extLst>
                </a:gridCol>
                <a:gridCol w="304920">
                  <a:extLst>
                    <a:ext uri="{9D8B030D-6E8A-4147-A177-3AD203B41FA5}">
                      <a16:colId xmlns:a16="http://schemas.microsoft.com/office/drawing/2014/main" val="1670849124"/>
                    </a:ext>
                  </a:extLst>
                </a:gridCol>
                <a:gridCol w="269750">
                  <a:extLst>
                    <a:ext uri="{9D8B030D-6E8A-4147-A177-3AD203B41FA5}">
                      <a16:colId xmlns:a16="http://schemas.microsoft.com/office/drawing/2014/main" val="2527660299"/>
                    </a:ext>
                  </a:extLst>
                </a:gridCol>
                <a:gridCol w="388621">
                  <a:extLst>
                    <a:ext uri="{9D8B030D-6E8A-4147-A177-3AD203B41FA5}">
                      <a16:colId xmlns:a16="http://schemas.microsoft.com/office/drawing/2014/main" val="3641075278"/>
                    </a:ext>
                  </a:extLst>
                </a:gridCol>
                <a:gridCol w="304920">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38.3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 Third Party-Factoring​(3PO)</a:t>
                      </a:r>
                    </a:p>
                  </a:txBody>
                  <a:tcPr marL="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 Third Party-Factoring​</a:t>
                      </a:r>
                    </a:p>
                  </a:txBody>
                  <a:tcPr marL="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 – Premier 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4" name="表格 13">
            <a:extLst>
              <a:ext uri="{FF2B5EF4-FFF2-40B4-BE49-F238E27FC236}">
                <a16:creationId xmlns:a16="http://schemas.microsoft.com/office/drawing/2014/main" id="{3AB53276-C111-D024-13B0-887FB7F5C3E4}"/>
              </a:ext>
            </a:extLst>
          </p:cNvPr>
          <p:cNvGraphicFramePr>
            <a:graphicFrameLocks noGrp="1"/>
          </p:cNvGraphicFramePr>
          <p:nvPr>
            <p:extLst>
              <p:ext uri="{D42A27DB-BD31-4B8C-83A1-F6EECF244321}">
                <p14:modId xmlns:p14="http://schemas.microsoft.com/office/powerpoint/2010/main" val="474752791"/>
              </p:ext>
            </p:extLst>
          </p:nvPr>
        </p:nvGraphicFramePr>
        <p:xfrm>
          <a:off x="6283945" y="3391786"/>
          <a:ext cx="5894269" cy="1143743"/>
        </p:xfrm>
        <a:graphic>
          <a:graphicData uri="http://schemas.openxmlformats.org/drawingml/2006/table">
            <a:tbl>
              <a:tblPr/>
              <a:tblGrid>
                <a:gridCol w="420440">
                  <a:extLst>
                    <a:ext uri="{9D8B030D-6E8A-4147-A177-3AD203B41FA5}">
                      <a16:colId xmlns:a16="http://schemas.microsoft.com/office/drawing/2014/main" val="495084399"/>
                    </a:ext>
                  </a:extLst>
                </a:gridCol>
                <a:gridCol w="240975">
                  <a:extLst>
                    <a:ext uri="{9D8B030D-6E8A-4147-A177-3AD203B41FA5}">
                      <a16:colId xmlns:a16="http://schemas.microsoft.com/office/drawing/2014/main" val="3614210242"/>
                    </a:ext>
                  </a:extLst>
                </a:gridCol>
                <a:gridCol w="600424">
                  <a:extLst>
                    <a:ext uri="{9D8B030D-6E8A-4147-A177-3AD203B41FA5}">
                      <a16:colId xmlns:a16="http://schemas.microsoft.com/office/drawing/2014/main" val="1442124609"/>
                    </a:ext>
                  </a:extLst>
                </a:gridCol>
                <a:gridCol w="1891283">
                  <a:extLst>
                    <a:ext uri="{9D8B030D-6E8A-4147-A177-3AD203B41FA5}">
                      <a16:colId xmlns:a16="http://schemas.microsoft.com/office/drawing/2014/main" val="3603859997"/>
                    </a:ext>
                  </a:extLst>
                </a:gridCol>
                <a:gridCol w="358897">
                  <a:extLst>
                    <a:ext uri="{9D8B030D-6E8A-4147-A177-3AD203B41FA5}">
                      <a16:colId xmlns:a16="http://schemas.microsoft.com/office/drawing/2014/main" val="4076488391"/>
                    </a:ext>
                  </a:extLst>
                </a:gridCol>
                <a:gridCol w="277938">
                  <a:extLst>
                    <a:ext uri="{9D8B030D-6E8A-4147-A177-3AD203B41FA5}">
                      <a16:colId xmlns:a16="http://schemas.microsoft.com/office/drawing/2014/main" val="3254101706"/>
                    </a:ext>
                  </a:extLst>
                </a:gridCol>
                <a:gridCol w="351864">
                  <a:extLst>
                    <a:ext uri="{9D8B030D-6E8A-4147-A177-3AD203B41FA5}">
                      <a16:colId xmlns:a16="http://schemas.microsoft.com/office/drawing/2014/main" val="3712391277"/>
                    </a:ext>
                  </a:extLst>
                </a:gridCol>
                <a:gridCol w="265617">
                  <a:extLst>
                    <a:ext uri="{9D8B030D-6E8A-4147-A177-3AD203B41FA5}">
                      <a16:colId xmlns:a16="http://schemas.microsoft.com/office/drawing/2014/main" val="1999703751"/>
                    </a:ext>
                  </a:extLst>
                </a:gridCol>
                <a:gridCol w="265617">
                  <a:extLst>
                    <a:ext uri="{9D8B030D-6E8A-4147-A177-3AD203B41FA5}">
                      <a16:colId xmlns:a16="http://schemas.microsoft.com/office/drawing/2014/main" val="2527660299"/>
                    </a:ext>
                  </a:extLst>
                </a:gridCol>
                <a:gridCol w="382667">
                  <a:extLst>
                    <a:ext uri="{9D8B030D-6E8A-4147-A177-3AD203B41FA5}">
                      <a16:colId xmlns:a16="http://schemas.microsoft.com/office/drawing/2014/main" val="3641075278"/>
                    </a:ext>
                  </a:extLst>
                </a:gridCol>
                <a:gridCol w="838547">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5" name="表格 14">
            <a:extLst>
              <a:ext uri="{FF2B5EF4-FFF2-40B4-BE49-F238E27FC236}">
                <a16:creationId xmlns:a16="http://schemas.microsoft.com/office/drawing/2014/main" id="{7808AC92-07C8-406B-B10B-CB4F4A57562C}"/>
              </a:ext>
            </a:extLst>
          </p:cNvPr>
          <p:cNvGraphicFramePr>
            <a:graphicFrameLocks noGrp="1"/>
          </p:cNvGraphicFramePr>
          <p:nvPr>
            <p:extLst>
              <p:ext uri="{D42A27DB-BD31-4B8C-83A1-F6EECF244321}">
                <p14:modId xmlns:p14="http://schemas.microsoft.com/office/powerpoint/2010/main" val="2512429778"/>
              </p:ext>
            </p:extLst>
          </p:nvPr>
        </p:nvGraphicFramePr>
        <p:xfrm>
          <a:off x="6283945" y="4591968"/>
          <a:ext cx="5908057" cy="1143743"/>
        </p:xfrm>
        <a:graphic>
          <a:graphicData uri="http://schemas.openxmlformats.org/drawingml/2006/table">
            <a:tbl>
              <a:tblPr/>
              <a:tblGrid>
                <a:gridCol w="420578">
                  <a:extLst>
                    <a:ext uri="{9D8B030D-6E8A-4147-A177-3AD203B41FA5}">
                      <a16:colId xmlns:a16="http://schemas.microsoft.com/office/drawing/2014/main" val="495084399"/>
                    </a:ext>
                  </a:extLst>
                </a:gridCol>
                <a:gridCol w="240392">
                  <a:extLst>
                    <a:ext uri="{9D8B030D-6E8A-4147-A177-3AD203B41FA5}">
                      <a16:colId xmlns:a16="http://schemas.microsoft.com/office/drawing/2014/main" val="3614210242"/>
                    </a:ext>
                  </a:extLst>
                </a:gridCol>
                <a:gridCol w="553818">
                  <a:extLst>
                    <a:ext uri="{9D8B030D-6E8A-4147-A177-3AD203B41FA5}">
                      <a16:colId xmlns:a16="http://schemas.microsoft.com/office/drawing/2014/main" val="1442124609"/>
                    </a:ext>
                  </a:extLst>
                </a:gridCol>
                <a:gridCol w="1871697">
                  <a:extLst>
                    <a:ext uri="{9D8B030D-6E8A-4147-A177-3AD203B41FA5}">
                      <a16:colId xmlns:a16="http://schemas.microsoft.com/office/drawing/2014/main" val="3603859997"/>
                    </a:ext>
                  </a:extLst>
                </a:gridCol>
                <a:gridCol w="361177">
                  <a:extLst>
                    <a:ext uri="{9D8B030D-6E8A-4147-A177-3AD203B41FA5}">
                      <a16:colId xmlns:a16="http://schemas.microsoft.com/office/drawing/2014/main" val="4076488391"/>
                    </a:ext>
                  </a:extLst>
                </a:gridCol>
                <a:gridCol w="361177">
                  <a:extLst>
                    <a:ext uri="{9D8B030D-6E8A-4147-A177-3AD203B41FA5}">
                      <a16:colId xmlns:a16="http://schemas.microsoft.com/office/drawing/2014/main" val="3254101706"/>
                    </a:ext>
                  </a:extLst>
                </a:gridCol>
                <a:gridCol w="351013">
                  <a:extLst>
                    <a:ext uri="{9D8B030D-6E8A-4147-A177-3AD203B41FA5}">
                      <a16:colId xmlns:a16="http://schemas.microsoft.com/office/drawing/2014/main" val="3712391277"/>
                    </a:ext>
                  </a:extLst>
                </a:gridCol>
                <a:gridCol w="264974">
                  <a:extLst>
                    <a:ext uri="{9D8B030D-6E8A-4147-A177-3AD203B41FA5}">
                      <a16:colId xmlns:a16="http://schemas.microsoft.com/office/drawing/2014/main" val="1188430218"/>
                    </a:ext>
                  </a:extLst>
                </a:gridCol>
                <a:gridCol w="264974">
                  <a:extLst>
                    <a:ext uri="{9D8B030D-6E8A-4147-A177-3AD203B41FA5}">
                      <a16:colId xmlns:a16="http://schemas.microsoft.com/office/drawing/2014/main" val="2527660299"/>
                    </a:ext>
                  </a:extLst>
                </a:gridCol>
                <a:gridCol w="381740">
                  <a:extLst>
                    <a:ext uri="{9D8B030D-6E8A-4147-A177-3AD203B41FA5}">
                      <a16:colId xmlns:a16="http://schemas.microsoft.com/office/drawing/2014/main" val="3641075278"/>
                    </a:ext>
                  </a:extLst>
                </a:gridCol>
                <a:gridCol w="836517">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
        <p:nvSpPr>
          <p:cNvPr id="2" name="矩形 1">
            <a:extLst>
              <a:ext uri="{FF2B5EF4-FFF2-40B4-BE49-F238E27FC236}">
                <a16:creationId xmlns:a16="http://schemas.microsoft.com/office/drawing/2014/main" id="{274640BD-C4B5-260C-880E-C09AA36573C2}"/>
              </a:ext>
            </a:extLst>
          </p:cNvPr>
          <p:cNvSpPr/>
          <p:nvPr/>
        </p:nvSpPr>
        <p:spPr>
          <a:xfrm>
            <a:off x="552892" y="2955850"/>
            <a:ext cx="5457381" cy="266545"/>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a:extLst>
              <a:ext uri="{FF2B5EF4-FFF2-40B4-BE49-F238E27FC236}">
                <a16:creationId xmlns:a16="http://schemas.microsoft.com/office/drawing/2014/main" id="{FC6060BD-64CC-7AAE-1496-17A6112066AE}"/>
              </a:ext>
            </a:extLst>
          </p:cNvPr>
          <p:cNvSpPr/>
          <p:nvPr/>
        </p:nvSpPr>
        <p:spPr>
          <a:xfrm>
            <a:off x="6719777" y="2298966"/>
            <a:ext cx="5424325" cy="656883"/>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对话气泡: 矩形 3">
            <a:extLst>
              <a:ext uri="{FF2B5EF4-FFF2-40B4-BE49-F238E27FC236}">
                <a16:creationId xmlns:a16="http://schemas.microsoft.com/office/drawing/2014/main" id="{CF0BC633-948E-0CE1-A2CE-B987CCFB4E7F}"/>
              </a:ext>
            </a:extLst>
          </p:cNvPr>
          <p:cNvSpPr/>
          <p:nvPr/>
        </p:nvSpPr>
        <p:spPr>
          <a:xfrm>
            <a:off x="-2463469" y="3211427"/>
            <a:ext cx="1931841" cy="1243979"/>
          </a:xfrm>
          <a:prstGeom prst="wedgeRectCallout">
            <a:avLst>
              <a:gd name="adj1" fmla="val 105057"/>
              <a:gd name="adj2" fmla="val -5667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rPr>
              <a:t>Upfront service need to be posted under other payable since1400308 has been cleared when external funding, ​</a:t>
            </a:r>
            <a:endParaRPr lang="zh-CN" altLang="en-US" sz="900">
              <a:solidFill>
                <a:schemeClr val="tx1"/>
              </a:solidFill>
            </a:endParaRPr>
          </a:p>
        </p:txBody>
      </p:sp>
      <p:sp>
        <p:nvSpPr>
          <p:cNvPr id="5" name="矩形 4">
            <a:extLst>
              <a:ext uri="{FF2B5EF4-FFF2-40B4-BE49-F238E27FC236}">
                <a16:creationId xmlns:a16="http://schemas.microsoft.com/office/drawing/2014/main" id="{EE971EA0-98A1-05AD-371A-17704FC48C4D}"/>
              </a:ext>
            </a:extLst>
          </p:cNvPr>
          <p:cNvSpPr/>
          <p:nvPr/>
        </p:nvSpPr>
        <p:spPr>
          <a:xfrm>
            <a:off x="552891" y="3362767"/>
            <a:ext cx="5457381" cy="266545"/>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420284673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DE0384-90A5-F6FE-6728-7B56C09C669B}"/>
            </a:ext>
          </a:extLst>
        </p:cNvPr>
        <p:cNvGrpSpPr/>
        <p:nvPr/>
      </p:nvGrpSpPr>
      <p:grpSpPr>
        <a:xfrm>
          <a:off x="0" y="0"/>
          <a:ext cx="0" cy="0"/>
          <a:chOff x="0" y="0"/>
          <a:chExt cx="0" cy="0"/>
        </a:xfrm>
      </p:grpSpPr>
      <p:graphicFrame>
        <p:nvGraphicFramePr>
          <p:cNvPr id="6" name="表格 5">
            <a:extLst>
              <a:ext uri="{FF2B5EF4-FFF2-40B4-BE49-F238E27FC236}">
                <a16:creationId xmlns:a16="http://schemas.microsoft.com/office/drawing/2014/main" id="{39611D19-C7C9-F56B-D49D-35EA4D1C732D}"/>
              </a:ext>
            </a:extLst>
          </p:cNvPr>
          <p:cNvGraphicFramePr>
            <a:graphicFrameLocks noGrp="1"/>
          </p:cNvGraphicFramePr>
          <p:nvPr>
            <p:extLst>
              <p:ext uri="{D42A27DB-BD31-4B8C-83A1-F6EECF244321}">
                <p14:modId xmlns:p14="http://schemas.microsoft.com/office/powerpoint/2010/main" val="27062738"/>
              </p:ext>
            </p:extLst>
          </p:nvPr>
        </p:nvGraphicFramePr>
        <p:xfrm>
          <a:off x="6144091" y="1631252"/>
          <a:ext cx="5915320" cy="2085063"/>
        </p:xfrm>
        <a:graphic>
          <a:graphicData uri="http://schemas.openxmlformats.org/drawingml/2006/table">
            <a:tbl>
              <a:tblPr/>
              <a:tblGrid>
                <a:gridCol w="437298">
                  <a:extLst>
                    <a:ext uri="{9D8B030D-6E8A-4147-A177-3AD203B41FA5}">
                      <a16:colId xmlns:a16="http://schemas.microsoft.com/office/drawing/2014/main" val="495084399"/>
                    </a:ext>
                  </a:extLst>
                </a:gridCol>
                <a:gridCol w="229847">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42375">
                  <a:extLst>
                    <a:ext uri="{9D8B030D-6E8A-4147-A177-3AD203B41FA5}">
                      <a16:colId xmlns:a16="http://schemas.microsoft.com/office/drawing/2014/main" val="3603859997"/>
                    </a:ext>
                  </a:extLst>
                </a:gridCol>
                <a:gridCol w="349986">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264423">
                  <a:extLst>
                    <a:ext uri="{9D8B030D-6E8A-4147-A177-3AD203B41FA5}">
                      <a16:colId xmlns:a16="http://schemas.microsoft.com/office/drawing/2014/main" val="3712391277"/>
                    </a:ext>
                  </a:extLst>
                </a:gridCol>
                <a:gridCol w="286486">
                  <a:extLst>
                    <a:ext uri="{9D8B030D-6E8A-4147-A177-3AD203B41FA5}">
                      <a16:colId xmlns:a16="http://schemas.microsoft.com/office/drawing/2014/main" val="4221779915"/>
                    </a:ext>
                  </a:extLst>
                </a:gridCol>
                <a:gridCol w="253351">
                  <a:extLst>
                    <a:ext uri="{9D8B030D-6E8A-4147-A177-3AD203B41FA5}">
                      <a16:colId xmlns:a16="http://schemas.microsoft.com/office/drawing/2014/main" val="2527660299"/>
                    </a:ext>
                  </a:extLst>
                </a:gridCol>
                <a:gridCol w="364996">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Service Revenue-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61585199"/>
                  </a:ext>
                </a:extLst>
              </a:tr>
              <a:tr h="91440">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17176656"/>
                  </a:ext>
                </a:extLst>
              </a:tr>
            </a:tbl>
          </a:graphicData>
        </a:graphic>
      </p:graphicFrame>
      <p:graphicFrame>
        <p:nvGraphicFramePr>
          <p:cNvPr id="10" name="表格 9">
            <a:extLst>
              <a:ext uri="{FF2B5EF4-FFF2-40B4-BE49-F238E27FC236}">
                <a16:creationId xmlns:a16="http://schemas.microsoft.com/office/drawing/2014/main" id="{2F38C081-D712-6FF1-D084-CB73BF76AFD5}"/>
              </a:ext>
            </a:extLst>
          </p:cNvPr>
          <p:cNvGraphicFramePr>
            <a:graphicFrameLocks noGrp="1"/>
          </p:cNvGraphicFramePr>
          <p:nvPr>
            <p:extLst>
              <p:ext uri="{D42A27DB-BD31-4B8C-83A1-F6EECF244321}">
                <p14:modId xmlns:p14="http://schemas.microsoft.com/office/powerpoint/2010/main" val="2265619933"/>
              </p:ext>
            </p:extLst>
          </p:nvPr>
        </p:nvGraphicFramePr>
        <p:xfrm>
          <a:off x="46425" y="1602914"/>
          <a:ext cx="5988347" cy="2542263"/>
        </p:xfrm>
        <a:graphic>
          <a:graphicData uri="http://schemas.openxmlformats.org/drawingml/2006/table">
            <a:tbl>
              <a:tblPr/>
              <a:tblGrid>
                <a:gridCol w="458379">
                  <a:extLst>
                    <a:ext uri="{9D8B030D-6E8A-4147-A177-3AD203B41FA5}">
                      <a16:colId xmlns:a16="http://schemas.microsoft.com/office/drawing/2014/main" val="495084399"/>
                    </a:ext>
                  </a:extLst>
                </a:gridCol>
                <a:gridCol w="240045">
                  <a:extLst>
                    <a:ext uri="{9D8B030D-6E8A-4147-A177-3AD203B41FA5}">
                      <a16:colId xmlns:a16="http://schemas.microsoft.com/office/drawing/2014/main" val="3614210242"/>
                    </a:ext>
                  </a:extLst>
                </a:gridCol>
                <a:gridCol w="571276">
                  <a:extLst>
                    <a:ext uri="{9D8B030D-6E8A-4147-A177-3AD203B41FA5}">
                      <a16:colId xmlns:a16="http://schemas.microsoft.com/office/drawing/2014/main" val="1442124609"/>
                    </a:ext>
                  </a:extLst>
                </a:gridCol>
                <a:gridCol w="1832072">
                  <a:extLst>
                    <a:ext uri="{9D8B030D-6E8A-4147-A177-3AD203B41FA5}">
                      <a16:colId xmlns:a16="http://schemas.microsoft.com/office/drawing/2014/main" val="3603859997"/>
                    </a:ext>
                  </a:extLst>
                </a:gridCol>
                <a:gridCol w="341474">
                  <a:extLst>
                    <a:ext uri="{9D8B030D-6E8A-4147-A177-3AD203B41FA5}">
                      <a16:colId xmlns:a16="http://schemas.microsoft.com/office/drawing/2014/main" val="4076488391"/>
                    </a:ext>
                  </a:extLst>
                </a:gridCol>
                <a:gridCol w="341474">
                  <a:extLst>
                    <a:ext uri="{9D8B030D-6E8A-4147-A177-3AD203B41FA5}">
                      <a16:colId xmlns:a16="http://schemas.microsoft.com/office/drawing/2014/main" val="3254101706"/>
                    </a:ext>
                  </a:extLst>
                </a:gridCol>
                <a:gridCol w="276142">
                  <a:extLst>
                    <a:ext uri="{9D8B030D-6E8A-4147-A177-3AD203B41FA5}">
                      <a16:colId xmlns:a16="http://schemas.microsoft.com/office/drawing/2014/main" val="3712391277"/>
                    </a:ext>
                  </a:extLst>
                </a:gridCol>
                <a:gridCol w="619789">
                  <a:extLst>
                    <a:ext uri="{9D8B030D-6E8A-4147-A177-3AD203B41FA5}">
                      <a16:colId xmlns:a16="http://schemas.microsoft.com/office/drawing/2014/main" val="1982795072"/>
                    </a:ext>
                  </a:extLst>
                </a:gridCol>
                <a:gridCol w="286984">
                  <a:extLst>
                    <a:ext uri="{9D8B030D-6E8A-4147-A177-3AD203B41FA5}">
                      <a16:colId xmlns:a16="http://schemas.microsoft.com/office/drawing/2014/main" val="2527660299"/>
                    </a:ext>
                  </a:extLst>
                </a:gridCol>
                <a:gridCol w="393774">
                  <a:extLst>
                    <a:ext uri="{9D8B030D-6E8A-4147-A177-3AD203B41FA5}">
                      <a16:colId xmlns:a16="http://schemas.microsoft.com/office/drawing/2014/main" val="3641075278"/>
                    </a:ext>
                  </a:extLst>
                </a:gridCol>
                <a:gridCol w="626938">
                  <a:extLst>
                    <a:ext uri="{9D8B030D-6E8A-4147-A177-3AD203B41FA5}">
                      <a16:colId xmlns:a16="http://schemas.microsoft.com/office/drawing/2014/main" val="3618613915"/>
                    </a:ext>
                  </a:extLst>
                </a:gridCol>
              </a:tblGrid>
              <a:tr h="0">
                <a:tc rowSpan="11">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1487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Service</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a:t>
                      </a:r>
                      <a:r>
                        <a:rPr lang="en-US" sz="900" b="0" i="0" u="none" strike="noStrike" kern="1200">
                          <a:solidFill>
                            <a:srgbClr val="000000"/>
                          </a:solidFill>
                          <a:effectLst/>
                          <a:latin typeface="Arial" panose="020B0604020202020204" pitchFamily="34" charset="0"/>
                          <a:ea typeface="+mn-ea"/>
                          <a:cs typeface="+mn-cs"/>
                        </a:rPr>
                        <a:t>-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sp>
        <p:nvSpPr>
          <p:cNvPr id="28" name="文本框 27">
            <a:extLst>
              <a:ext uri="{FF2B5EF4-FFF2-40B4-BE49-F238E27FC236}">
                <a16:creationId xmlns:a16="http://schemas.microsoft.com/office/drawing/2014/main" id="{93CFDE07-BFC7-DA67-CA16-22B813327BD6}"/>
              </a:ext>
            </a:extLst>
          </p:cNvPr>
          <p:cNvSpPr txBox="1"/>
          <p:nvPr/>
        </p:nvSpPr>
        <p:spPr>
          <a:xfrm>
            <a:off x="0" y="36462"/>
            <a:ext cx="4470947" cy="400110"/>
          </a:xfrm>
          <a:prstGeom prst="rect">
            <a:avLst/>
          </a:prstGeom>
          <a:noFill/>
        </p:spPr>
        <p:txBody>
          <a:bodyPr wrap="square" rtlCol="0">
            <a:spAutoFit/>
          </a:bodyPr>
          <a:lstStyle/>
          <a:p>
            <a:r>
              <a:rPr lang="nl-NL" altLang="zh-CN" sz="2000" b="1"/>
              <a:t>DaaS_AFE_MSA&amp;MLA</a:t>
            </a:r>
            <a:endParaRPr lang="zh-CN" altLang="en-US" sz="2000" b="1"/>
          </a:p>
        </p:txBody>
      </p:sp>
      <p:cxnSp>
        <p:nvCxnSpPr>
          <p:cNvPr id="3" name="直接连接符 2">
            <a:extLst>
              <a:ext uri="{FF2B5EF4-FFF2-40B4-BE49-F238E27FC236}">
                <a16:creationId xmlns:a16="http://schemas.microsoft.com/office/drawing/2014/main" id="{F2ECB3D0-8F06-B1F4-520B-3D58A22B85AA}"/>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4" name="表格 3">
            <a:extLst>
              <a:ext uri="{FF2B5EF4-FFF2-40B4-BE49-F238E27FC236}">
                <a16:creationId xmlns:a16="http://schemas.microsoft.com/office/drawing/2014/main" id="{221BBECA-B0BC-4533-A194-03AFC69430F0}"/>
              </a:ext>
            </a:extLst>
          </p:cNvPr>
          <p:cNvGraphicFramePr>
            <a:graphicFrameLocks noGrp="1"/>
          </p:cNvGraphicFramePr>
          <p:nvPr>
            <p:extLst>
              <p:ext uri="{D42A27DB-BD31-4B8C-83A1-F6EECF244321}">
                <p14:modId xmlns:p14="http://schemas.microsoft.com/office/powerpoint/2010/main" val="1980648320"/>
              </p:ext>
            </p:extLst>
          </p:nvPr>
        </p:nvGraphicFramePr>
        <p:xfrm>
          <a:off x="56525" y="4145177"/>
          <a:ext cx="5978247" cy="1332007"/>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364010">
                  <a:extLst>
                    <a:ext uri="{9D8B030D-6E8A-4147-A177-3AD203B41FA5}">
                      <a16:colId xmlns:a16="http://schemas.microsoft.com/office/drawing/2014/main" val="4076488391"/>
                    </a:ext>
                  </a:extLst>
                </a:gridCol>
                <a:gridCol w="281898">
                  <a:extLst>
                    <a:ext uri="{9D8B030D-6E8A-4147-A177-3AD203B41FA5}">
                      <a16:colId xmlns:a16="http://schemas.microsoft.com/office/drawing/2014/main" val="3254101706"/>
                    </a:ext>
                  </a:extLst>
                </a:gridCol>
                <a:gridCol w="356877">
                  <a:extLst>
                    <a:ext uri="{9D8B030D-6E8A-4147-A177-3AD203B41FA5}">
                      <a16:colId xmlns:a16="http://schemas.microsoft.com/office/drawing/2014/main" val="3712391277"/>
                    </a:ext>
                  </a:extLst>
                </a:gridCol>
                <a:gridCol w="269401">
                  <a:extLst>
                    <a:ext uri="{9D8B030D-6E8A-4147-A177-3AD203B41FA5}">
                      <a16:colId xmlns:a16="http://schemas.microsoft.com/office/drawing/2014/main" val="1461470061"/>
                    </a:ext>
                  </a:extLst>
                </a:gridCol>
                <a:gridCol w="269401">
                  <a:extLst>
                    <a:ext uri="{9D8B030D-6E8A-4147-A177-3AD203B41FA5}">
                      <a16:colId xmlns:a16="http://schemas.microsoft.com/office/drawing/2014/main" val="2527660299"/>
                    </a:ext>
                  </a:extLst>
                </a:gridCol>
                <a:gridCol w="388119">
                  <a:extLst>
                    <a:ext uri="{9D8B030D-6E8A-4147-A177-3AD203B41FA5}">
                      <a16:colId xmlns:a16="http://schemas.microsoft.com/office/drawing/2014/main" val="3641075278"/>
                    </a:ext>
                  </a:extLst>
                </a:gridCol>
                <a:gridCol w="850494">
                  <a:extLst>
                    <a:ext uri="{9D8B030D-6E8A-4147-A177-3AD203B41FA5}">
                      <a16:colId xmlns:a16="http://schemas.microsoft.com/office/drawing/2014/main" val="3618613915"/>
                    </a:ext>
                  </a:extLst>
                </a:gridCol>
              </a:tblGrid>
              <a:tr h="16173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Damage Fund</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DB0CC6BE-1C27-4DB8-BB6E-EC9CB4614C3A}"/>
              </a:ext>
            </a:extLst>
          </p:cNvPr>
          <p:cNvGraphicFramePr>
            <a:graphicFrameLocks noGrp="1"/>
          </p:cNvGraphicFramePr>
          <p:nvPr>
            <p:extLst>
              <p:ext uri="{D42A27DB-BD31-4B8C-83A1-F6EECF244321}">
                <p14:modId xmlns:p14="http://schemas.microsoft.com/office/powerpoint/2010/main" val="3866326555"/>
              </p:ext>
            </p:extLst>
          </p:nvPr>
        </p:nvGraphicFramePr>
        <p:xfrm>
          <a:off x="56525" y="5489531"/>
          <a:ext cx="5978246" cy="1332007"/>
        </p:xfrm>
        <a:graphic>
          <a:graphicData uri="http://schemas.openxmlformats.org/drawingml/2006/table">
            <a:tbl>
              <a:tblPr/>
              <a:tblGrid>
                <a:gridCol w="425574">
                  <a:extLst>
                    <a:ext uri="{9D8B030D-6E8A-4147-A177-3AD203B41FA5}">
                      <a16:colId xmlns:a16="http://schemas.microsoft.com/office/drawing/2014/main" val="495084399"/>
                    </a:ext>
                  </a:extLst>
                </a:gridCol>
                <a:gridCol w="243248">
                  <a:extLst>
                    <a:ext uri="{9D8B030D-6E8A-4147-A177-3AD203B41FA5}">
                      <a16:colId xmlns:a16="http://schemas.microsoft.com/office/drawing/2014/main" val="3614210242"/>
                    </a:ext>
                  </a:extLst>
                </a:gridCol>
                <a:gridCol w="560398">
                  <a:extLst>
                    <a:ext uri="{9D8B030D-6E8A-4147-A177-3AD203B41FA5}">
                      <a16:colId xmlns:a16="http://schemas.microsoft.com/office/drawing/2014/main" val="1442124609"/>
                    </a:ext>
                  </a:extLst>
                </a:gridCol>
                <a:gridCol w="1893935">
                  <a:extLst>
                    <a:ext uri="{9D8B030D-6E8A-4147-A177-3AD203B41FA5}">
                      <a16:colId xmlns:a16="http://schemas.microsoft.com/office/drawing/2014/main" val="3603859997"/>
                    </a:ext>
                  </a:extLst>
                </a:gridCol>
                <a:gridCol w="365467">
                  <a:extLst>
                    <a:ext uri="{9D8B030D-6E8A-4147-A177-3AD203B41FA5}">
                      <a16:colId xmlns:a16="http://schemas.microsoft.com/office/drawing/2014/main" val="4076488391"/>
                    </a:ext>
                  </a:extLst>
                </a:gridCol>
                <a:gridCol w="365467">
                  <a:extLst>
                    <a:ext uri="{9D8B030D-6E8A-4147-A177-3AD203B41FA5}">
                      <a16:colId xmlns:a16="http://schemas.microsoft.com/office/drawing/2014/main" val="3254101706"/>
                    </a:ext>
                  </a:extLst>
                </a:gridCol>
                <a:gridCol w="355183">
                  <a:extLst>
                    <a:ext uri="{9D8B030D-6E8A-4147-A177-3AD203B41FA5}">
                      <a16:colId xmlns:a16="http://schemas.microsoft.com/office/drawing/2014/main" val="3712391277"/>
                    </a:ext>
                  </a:extLst>
                </a:gridCol>
                <a:gridCol w="268122">
                  <a:extLst>
                    <a:ext uri="{9D8B030D-6E8A-4147-A177-3AD203B41FA5}">
                      <a16:colId xmlns:a16="http://schemas.microsoft.com/office/drawing/2014/main" val="967768249"/>
                    </a:ext>
                  </a:extLst>
                </a:gridCol>
                <a:gridCol w="268122">
                  <a:extLst>
                    <a:ext uri="{9D8B030D-6E8A-4147-A177-3AD203B41FA5}">
                      <a16:colId xmlns:a16="http://schemas.microsoft.com/office/drawing/2014/main" val="2527660299"/>
                    </a:ext>
                  </a:extLst>
                </a:gridCol>
                <a:gridCol w="386275">
                  <a:extLst>
                    <a:ext uri="{9D8B030D-6E8A-4147-A177-3AD203B41FA5}">
                      <a16:colId xmlns:a16="http://schemas.microsoft.com/office/drawing/2014/main" val="3641075278"/>
                    </a:ext>
                  </a:extLst>
                </a:gridCol>
                <a:gridCol w="846455">
                  <a:extLst>
                    <a:ext uri="{9D8B030D-6E8A-4147-A177-3AD203B41FA5}">
                      <a16:colId xmlns:a16="http://schemas.microsoft.com/office/drawing/2014/main" val="3618613915"/>
                    </a:ext>
                  </a:extLst>
                </a:gridCol>
              </a:tblGrid>
              <a:tr h="16800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Damage Fund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17810592"/>
                  </a:ext>
                </a:extLst>
              </a:tr>
              <a:tr h="167107">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9" name="表格 8">
            <a:extLst>
              <a:ext uri="{FF2B5EF4-FFF2-40B4-BE49-F238E27FC236}">
                <a16:creationId xmlns:a16="http://schemas.microsoft.com/office/drawing/2014/main" id="{4A7ECBA8-F201-71F2-CB31-49B91871BFB4}"/>
              </a:ext>
            </a:extLst>
          </p:cNvPr>
          <p:cNvGraphicFramePr>
            <a:graphicFrameLocks noGrp="1"/>
          </p:cNvGraphicFramePr>
          <p:nvPr>
            <p:extLst>
              <p:ext uri="{D42A27DB-BD31-4B8C-83A1-F6EECF244321}">
                <p14:modId xmlns:p14="http://schemas.microsoft.com/office/powerpoint/2010/main" val="1597573218"/>
              </p:ext>
            </p:extLst>
          </p:nvPr>
        </p:nvGraphicFramePr>
        <p:xfrm>
          <a:off x="6157229" y="3805528"/>
          <a:ext cx="5915317" cy="1332007"/>
        </p:xfrm>
        <a:graphic>
          <a:graphicData uri="http://schemas.openxmlformats.org/drawingml/2006/table">
            <a:tbl>
              <a:tblPr/>
              <a:tblGrid>
                <a:gridCol w="421943">
                  <a:extLst>
                    <a:ext uri="{9D8B030D-6E8A-4147-A177-3AD203B41FA5}">
                      <a16:colId xmlns:a16="http://schemas.microsoft.com/office/drawing/2014/main" val="495084399"/>
                    </a:ext>
                  </a:extLst>
                </a:gridCol>
                <a:gridCol w="241835">
                  <a:extLst>
                    <a:ext uri="{9D8B030D-6E8A-4147-A177-3AD203B41FA5}">
                      <a16:colId xmlns:a16="http://schemas.microsoft.com/office/drawing/2014/main" val="3614210242"/>
                    </a:ext>
                  </a:extLst>
                </a:gridCol>
                <a:gridCol w="602569">
                  <a:extLst>
                    <a:ext uri="{9D8B030D-6E8A-4147-A177-3AD203B41FA5}">
                      <a16:colId xmlns:a16="http://schemas.microsoft.com/office/drawing/2014/main" val="1442124609"/>
                    </a:ext>
                  </a:extLst>
                </a:gridCol>
                <a:gridCol w="1898038">
                  <a:extLst>
                    <a:ext uri="{9D8B030D-6E8A-4147-A177-3AD203B41FA5}">
                      <a16:colId xmlns:a16="http://schemas.microsoft.com/office/drawing/2014/main" val="3603859997"/>
                    </a:ext>
                  </a:extLst>
                </a:gridCol>
                <a:gridCol w="360178">
                  <a:extLst>
                    <a:ext uri="{9D8B030D-6E8A-4147-A177-3AD203B41FA5}">
                      <a16:colId xmlns:a16="http://schemas.microsoft.com/office/drawing/2014/main" val="4076488391"/>
                    </a:ext>
                  </a:extLst>
                </a:gridCol>
                <a:gridCol w="278930">
                  <a:extLst>
                    <a:ext uri="{9D8B030D-6E8A-4147-A177-3AD203B41FA5}">
                      <a16:colId xmlns:a16="http://schemas.microsoft.com/office/drawing/2014/main" val="3254101706"/>
                    </a:ext>
                  </a:extLst>
                </a:gridCol>
                <a:gridCol w="353120">
                  <a:extLst>
                    <a:ext uri="{9D8B030D-6E8A-4147-A177-3AD203B41FA5}">
                      <a16:colId xmlns:a16="http://schemas.microsoft.com/office/drawing/2014/main" val="3712391277"/>
                    </a:ext>
                  </a:extLst>
                </a:gridCol>
                <a:gridCol w="266565">
                  <a:extLst>
                    <a:ext uri="{9D8B030D-6E8A-4147-A177-3AD203B41FA5}">
                      <a16:colId xmlns:a16="http://schemas.microsoft.com/office/drawing/2014/main" val="3811358726"/>
                    </a:ext>
                  </a:extLst>
                </a:gridCol>
                <a:gridCol w="266565">
                  <a:extLst>
                    <a:ext uri="{9D8B030D-6E8A-4147-A177-3AD203B41FA5}">
                      <a16:colId xmlns:a16="http://schemas.microsoft.com/office/drawing/2014/main" val="2527660299"/>
                    </a:ext>
                  </a:extLst>
                </a:gridCol>
                <a:gridCol w="384033">
                  <a:extLst>
                    <a:ext uri="{9D8B030D-6E8A-4147-A177-3AD203B41FA5}">
                      <a16:colId xmlns:a16="http://schemas.microsoft.com/office/drawing/2014/main" val="3641075278"/>
                    </a:ext>
                  </a:extLst>
                </a:gridCol>
                <a:gridCol w="84154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91899">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Service Revenue- Damage Fund</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1" name="表格 10">
            <a:extLst>
              <a:ext uri="{FF2B5EF4-FFF2-40B4-BE49-F238E27FC236}">
                <a16:creationId xmlns:a16="http://schemas.microsoft.com/office/drawing/2014/main" id="{9F3AA2E4-0ED5-F7BD-A318-397239C9B5A6}"/>
              </a:ext>
            </a:extLst>
          </p:cNvPr>
          <p:cNvGraphicFramePr>
            <a:graphicFrameLocks noGrp="1"/>
          </p:cNvGraphicFramePr>
          <p:nvPr>
            <p:extLst>
              <p:ext uri="{D42A27DB-BD31-4B8C-83A1-F6EECF244321}">
                <p14:modId xmlns:p14="http://schemas.microsoft.com/office/powerpoint/2010/main" val="3863633228"/>
              </p:ext>
            </p:extLst>
          </p:nvPr>
        </p:nvGraphicFramePr>
        <p:xfrm>
          <a:off x="6171544" y="5226748"/>
          <a:ext cx="5901002" cy="1332007"/>
        </p:xfrm>
        <a:graphic>
          <a:graphicData uri="http://schemas.openxmlformats.org/drawingml/2006/table">
            <a:tbl>
              <a:tblPr/>
              <a:tblGrid>
                <a:gridCol w="417685">
                  <a:extLst>
                    <a:ext uri="{9D8B030D-6E8A-4147-A177-3AD203B41FA5}">
                      <a16:colId xmlns:a16="http://schemas.microsoft.com/office/drawing/2014/main" val="495084399"/>
                    </a:ext>
                  </a:extLst>
                </a:gridCol>
                <a:gridCol w="238739">
                  <a:extLst>
                    <a:ext uri="{9D8B030D-6E8A-4147-A177-3AD203B41FA5}">
                      <a16:colId xmlns:a16="http://schemas.microsoft.com/office/drawing/2014/main" val="3614210242"/>
                    </a:ext>
                  </a:extLst>
                </a:gridCol>
                <a:gridCol w="550010">
                  <a:extLst>
                    <a:ext uri="{9D8B030D-6E8A-4147-A177-3AD203B41FA5}">
                      <a16:colId xmlns:a16="http://schemas.microsoft.com/office/drawing/2014/main" val="1442124609"/>
                    </a:ext>
                  </a:extLst>
                </a:gridCol>
                <a:gridCol w="1858828">
                  <a:extLst>
                    <a:ext uri="{9D8B030D-6E8A-4147-A177-3AD203B41FA5}">
                      <a16:colId xmlns:a16="http://schemas.microsoft.com/office/drawing/2014/main" val="3603859997"/>
                    </a:ext>
                  </a:extLst>
                </a:gridCol>
                <a:gridCol w="358693">
                  <a:extLst>
                    <a:ext uri="{9D8B030D-6E8A-4147-A177-3AD203B41FA5}">
                      <a16:colId xmlns:a16="http://schemas.microsoft.com/office/drawing/2014/main" val="4076488391"/>
                    </a:ext>
                  </a:extLst>
                </a:gridCol>
                <a:gridCol w="358693">
                  <a:extLst>
                    <a:ext uri="{9D8B030D-6E8A-4147-A177-3AD203B41FA5}">
                      <a16:colId xmlns:a16="http://schemas.microsoft.com/office/drawing/2014/main" val="3254101706"/>
                    </a:ext>
                  </a:extLst>
                </a:gridCol>
                <a:gridCol w="348599">
                  <a:extLst>
                    <a:ext uri="{9D8B030D-6E8A-4147-A177-3AD203B41FA5}">
                      <a16:colId xmlns:a16="http://schemas.microsoft.com/office/drawing/2014/main" val="3712391277"/>
                    </a:ext>
                  </a:extLst>
                </a:gridCol>
                <a:gridCol w="263152">
                  <a:extLst>
                    <a:ext uri="{9D8B030D-6E8A-4147-A177-3AD203B41FA5}">
                      <a16:colId xmlns:a16="http://schemas.microsoft.com/office/drawing/2014/main" val="4118002695"/>
                    </a:ext>
                  </a:extLst>
                </a:gridCol>
                <a:gridCol w="263152">
                  <a:extLst>
                    <a:ext uri="{9D8B030D-6E8A-4147-A177-3AD203B41FA5}">
                      <a16:colId xmlns:a16="http://schemas.microsoft.com/office/drawing/2014/main" val="2527660299"/>
                    </a:ext>
                  </a:extLst>
                </a:gridCol>
                <a:gridCol w="379115">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Damage Fund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17810592"/>
                  </a:ext>
                </a:extLst>
              </a:tr>
              <a:tr h="91899">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7" name="表格 6">
            <a:extLst>
              <a:ext uri="{FF2B5EF4-FFF2-40B4-BE49-F238E27FC236}">
                <a16:creationId xmlns:a16="http://schemas.microsoft.com/office/drawing/2014/main" id="{F2B303AA-B7D8-411B-3A7C-9F67388E3EBB}"/>
              </a:ext>
            </a:extLst>
          </p:cNvPr>
          <p:cNvGraphicFramePr>
            <a:graphicFrameLocks noGrp="1"/>
          </p:cNvGraphicFramePr>
          <p:nvPr>
            <p:extLst>
              <p:ext uri="{D42A27DB-BD31-4B8C-83A1-F6EECF244321}">
                <p14:modId xmlns:p14="http://schemas.microsoft.com/office/powerpoint/2010/main" val="3696454857"/>
              </p:ext>
            </p:extLst>
          </p:nvPr>
        </p:nvGraphicFramePr>
        <p:xfrm>
          <a:off x="89139" y="399039"/>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Swap Stock</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2048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a:txBody>
                    <a:bodyPr/>
                    <a:lstStyle/>
                    <a:p>
                      <a:r>
                        <a:rPr lang="en-US" altLang="zh-CN" sz="1050">
                          <a:solidFill>
                            <a:sysClr val="windowText" lastClr="000000"/>
                          </a:solidFill>
                        </a:rPr>
                        <a:t>Damage Fund</a:t>
                      </a:r>
                      <a:endParaRPr lang="zh-CN" altLang="en-US" sz="105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8" name="表格 7">
            <a:extLst>
              <a:ext uri="{FF2B5EF4-FFF2-40B4-BE49-F238E27FC236}">
                <a16:creationId xmlns:a16="http://schemas.microsoft.com/office/drawing/2014/main" id="{44672FDA-8E91-282E-FBDE-07C2BFA0BF67}"/>
              </a:ext>
            </a:extLst>
          </p:cNvPr>
          <p:cNvGraphicFramePr>
            <a:graphicFrameLocks noGrp="1"/>
          </p:cNvGraphicFramePr>
          <p:nvPr>
            <p:extLst>
              <p:ext uri="{D42A27DB-BD31-4B8C-83A1-F6EECF244321}">
                <p14:modId xmlns:p14="http://schemas.microsoft.com/office/powerpoint/2010/main" val="4004392662"/>
              </p:ext>
            </p:extLst>
          </p:nvPr>
        </p:nvGraphicFramePr>
        <p:xfrm>
          <a:off x="6157229" y="399039"/>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Swap Stock</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2048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a:txBody>
                    <a:bodyPr/>
                    <a:lstStyle/>
                    <a:p>
                      <a:r>
                        <a:rPr lang="en-US" altLang="zh-CN" sz="1050">
                          <a:solidFill>
                            <a:sysClr val="windowText" lastClr="000000"/>
                          </a:solidFill>
                        </a:rPr>
                        <a:t>Damage Fund</a:t>
                      </a:r>
                      <a:endParaRPr lang="zh-CN" altLang="en-US" sz="105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sp>
        <p:nvSpPr>
          <p:cNvPr id="12" name="流程图: 资料带 11">
            <a:extLst>
              <a:ext uri="{FF2B5EF4-FFF2-40B4-BE49-F238E27FC236}">
                <a16:creationId xmlns:a16="http://schemas.microsoft.com/office/drawing/2014/main" id="{91F7A635-C9E5-1EA4-38CF-1E823B62DD44}"/>
              </a:ext>
            </a:extLst>
          </p:cNvPr>
          <p:cNvSpPr/>
          <p:nvPr/>
        </p:nvSpPr>
        <p:spPr>
          <a:xfrm>
            <a:off x="2382643" y="-633974"/>
            <a:ext cx="3318300" cy="1604513"/>
          </a:xfrm>
          <a:prstGeom prst="flowChartPunchedTape">
            <a:avLst/>
          </a:prstGeom>
          <a:solidFill>
            <a:srgbClr val="FF00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altLang="zh-CN" kern="0">
                <a:solidFill>
                  <a:schemeClr val="bg1"/>
                </a:solidFill>
                <a:latin typeface="Calibri"/>
              </a:rPr>
              <a:t>Swap stock/DF as-is not applicable under AFE, while should be in scope in future business</a:t>
            </a:r>
            <a:endParaRPr lang="zh-CN" altLang="en-US" kern="0">
              <a:solidFill>
                <a:schemeClr val="bg1"/>
              </a:solidFill>
              <a:latin typeface="Calibri"/>
            </a:endParaRPr>
          </a:p>
        </p:txBody>
      </p:sp>
    </p:spTree>
    <p:extLst>
      <p:ext uri="{BB962C8B-B14F-4D97-AF65-F5344CB8AC3E}">
        <p14:creationId xmlns:p14="http://schemas.microsoft.com/office/powerpoint/2010/main" val="179584763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1A5E09-7967-6203-4EF6-C8ACB1D0B905}"/>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EC2D32F6-824C-EBD4-3413-4C609E852F74}"/>
              </a:ext>
            </a:extLst>
          </p:cNvPr>
          <p:cNvSpPr txBox="1"/>
          <p:nvPr/>
        </p:nvSpPr>
        <p:spPr>
          <a:xfrm>
            <a:off x="195322" y="22705"/>
            <a:ext cx="4470947" cy="400110"/>
          </a:xfrm>
          <a:prstGeom prst="rect">
            <a:avLst/>
          </a:prstGeom>
          <a:noFill/>
        </p:spPr>
        <p:txBody>
          <a:bodyPr wrap="square" rtlCol="0">
            <a:spAutoFit/>
          </a:bodyPr>
          <a:lstStyle/>
          <a:p>
            <a:r>
              <a:rPr lang="nl-NL" altLang="zh-CN" sz="2000" b="1"/>
              <a:t>DaaS_AFE_MSA&amp;MLA</a:t>
            </a:r>
            <a:endParaRPr lang="zh-CN" altLang="en-US" sz="2000" b="1"/>
          </a:p>
        </p:txBody>
      </p:sp>
      <p:graphicFrame>
        <p:nvGraphicFramePr>
          <p:cNvPr id="21" name="表格 20">
            <a:extLst>
              <a:ext uri="{FF2B5EF4-FFF2-40B4-BE49-F238E27FC236}">
                <a16:creationId xmlns:a16="http://schemas.microsoft.com/office/drawing/2014/main" id="{1E7CC20B-6942-E960-899F-0F157A2614EE}"/>
              </a:ext>
            </a:extLst>
          </p:cNvPr>
          <p:cNvGraphicFramePr>
            <a:graphicFrameLocks noGrp="1"/>
          </p:cNvGraphicFramePr>
          <p:nvPr>
            <p:extLst>
              <p:ext uri="{D42A27DB-BD31-4B8C-83A1-F6EECF244321}">
                <p14:modId xmlns:p14="http://schemas.microsoft.com/office/powerpoint/2010/main" val="1895281774"/>
              </p:ext>
            </p:extLst>
          </p:nvPr>
        </p:nvGraphicFramePr>
        <p:xfrm>
          <a:off x="192168" y="365922"/>
          <a:ext cx="5684757" cy="1303020"/>
        </p:xfrm>
        <a:graphic>
          <a:graphicData uri="http://schemas.openxmlformats.org/drawingml/2006/table">
            <a:tbl>
              <a:tblPr firstRow="1" bandRow="1">
                <a:tableStyleId>{3C2FFA5D-87B4-456A-9821-1D502468CF0F}</a:tableStyleId>
              </a:tblPr>
              <a:tblGrid>
                <a:gridCol w="717082">
                  <a:extLst>
                    <a:ext uri="{9D8B030D-6E8A-4147-A177-3AD203B41FA5}">
                      <a16:colId xmlns:a16="http://schemas.microsoft.com/office/drawing/2014/main" val="869603910"/>
                    </a:ext>
                  </a:extLst>
                </a:gridCol>
                <a:gridCol w="541934">
                  <a:extLst>
                    <a:ext uri="{9D8B030D-6E8A-4147-A177-3AD203B41FA5}">
                      <a16:colId xmlns:a16="http://schemas.microsoft.com/office/drawing/2014/main" val="238663902"/>
                    </a:ext>
                  </a:extLst>
                </a:gridCol>
                <a:gridCol w="745640">
                  <a:extLst>
                    <a:ext uri="{9D8B030D-6E8A-4147-A177-3AD203B41FA5}">
                      <a16:colId xmlns:a16="http://schemas.microsoft.com/office/drawing/2014/main" val="4114365151"/>
                    </a:ext>
                  </a:extLst>
                </a:gridCol>
                <a:gridCol w="695070">
                  <a:extLst>
                    <a:ext uri="{9D8B030D-6E8A-4147-A177-3AD203B41FA5}">
                      <a16:colId xmlns:a16="http://schemas.microsoft.com/office/drawing/2014/main" val="4075178046"/>
                    </a:ext>
                  </a:extLst>
                </a:gridCol>
                <a:gridCol w="760277">
                  <a:extLst>
                    <a:ext uri="{9D8B030D-6E8A-4147-A177-3AD203B41FA5}">
                      <a16:colId xmlns:a16="http://schemas.microsoft.com/office/drawing/2014/main" val="973533418"/>
                    </a:ext>
                  </a:extLst>
                </a:gridCol>
                <a:gridCol w="702040">
                  <a:extLst>
                    <a:ext uri="{9D8B030D-6E8A-4147-A177-3AD203B41FA5}">
                      <a16:colId xmlns:a16="http://schemas.microsoft.com/office/drawing/2014/main" val="2377711782"/>
                    </a:ext>
                  </a:extLst>
                </a:gridCol>
                <a:gridCol w="702040">
                  <a:extLst>
                    <a:ext uri="{9D8B030D-6E8A-4147-A177-3AD203B41FA5}">
                      <a16:colId xmlns:a16="http://schemas.microsoft.com/office/drawing/2014/main" val="833595551"/>
                    </a:ext>
                  </a:extLst>
                </a:gridCol>
                <a:gridCol w="820674">
                  <a:extLst>
                    <a:ext uri="{9D8B030D-6E8A-4147-A177-3AD203B41FA5}">
                      <a16:colId xmlns:a16="http://schemas.microsoft.com/office/drawing/2014/main" val="221569069"/>
                    </a:ext>
                  </a:extLst>
                </a:gridCol>
              </a:tblGrid>
              <a:tr h="52920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9209">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16" name="表格 115">
            <a:extLst>
              <a:ext uri="{FF2B5EF4-FFF2-40B4-BE49-F238E27FC236}">
                <a16:creationId xmlns:a16="http://schemas.microsoft.com/office/drawing/2014/main" id="{78129980-8A69-BE81-EC0F-09CAF58E49FC}"/>
              </a:ext>
            </a:extLst>
          </p:cNvPr>
          <p:cNvGraphicFramePr>
            <a:graphicFrameLocks noGrp="1"/>
          </p:cNvGraphicFramePr>
          <p:nvPr>
            <p:extLst>
              <p:ext uri="{D42A27DB-BD31-4B8C-83A1-F6EECF244321}">
                <p14:modId xmlns:p14="http://schemas.microsoft.com/office/powerpoint/2010/main" val="1651171616"/>
              </p:ext>
            </p:extLst>
          </p:nvPr>
        </p:nvGraphicFramePr>
        <p:xfrm>
          <a:off x="172167" y="1691969"/>
          <a:ext cx="5724757" cy="1327626"/>
        </p:xfrm>
        <a:graphic>
          <a:graphicData uri="http://schemas.openxmlformats.org/drawingml/2006/table">
            <a:tbl>
              <a:tblPr/>
              <a:tblGrid>
                <a:gridCol w="425895">
                  <a:extLst>
                    <a:ext uri="{9D8B030D-6E8A-4147-A177-3AD203B41FA5}">
                      <a16:colId xmlns:a16="http://schemas.microsoft.com/office/drawing/2014/main" val="495084399"/>
                    </a:ext>
                  </a:extLst>
                </a:gridCol>
                <a:gridCol w="239552">
                  <a:extLst>
                    <a:ext uri="{9D8B030D-6E8A-4147-A177-3AD203B41FA5}">
                      <a16:colId xmlns:a16="http://schemas.microsoft.com/office/drawing/2014/main" val="3614210242"/>
                    </a:ext>
                  </a:extLst>
                </a:gridCol>
                <a:gridCol w="570103">
                  <a:extLst>
                    <a:ext uri="{9D8B030D-6E8A-4147-A177-3AD203B41FA5}">
                      <a16:colId xmlns:a16="http://schemas.microsoft.com/office/drawing/2014/main" val="1442124609"/>
                    </a:ext>
                  </a:extLst>
                </a:gridCol>
                <a:gridCol w="1838965">
                  <a:extLst>
                    <a:ext uri="{9D8B030D-6E8A-4147-A177-3AD203B41FA5}">
                      <a16:colId xmlns:a16="http://schemas.microsoft.com/office/drawing/2014/main" val="3603859997"/>
                    </a:ext>
                  </a:extLst>
                </a:gridCol>
                <a:gridCol w="266401">
                  <a:extLst>
                    <a:ext uri="{9D8B030D-6E8A-4147-A177-3AD203B41FA5}">
                      <a16:colId xmlns:a16="http://schemas.microsoft.com/office/drawing/2014/main" val="4076488391"/>
                    </a:ext>
                  </a:extLst>
                </a:gridCol>
                <a:gridCol w="347100">
                  <a:extLst>
                    <a:ext uri="{9D8B030D-6E8A-4147-A177-3AD203B41FA5}">
                      <a16:colId xmlns:a16="http://schemas.microsoft.com/office/drawing/2014/main" val="3254101706"/>
                    </a:ext>
                  </a:extLst>
                </a:gridCol>
                <a:gridCol w="278359">
                  <a:extLst>
                    <a:ext uri="{9D8B030D-6E8A-4147-A177-3AD203B41FA5}">
                      <a16:colId xmlns:a16="http://schemas.microsoft.com/office/drawing/2014/main" val="3712391277"/>
                    </a:ext>
                  </a:extLst>
                </a:gridCol>
                <a:gridCol w="272765">
                  <a:extLst>
                    <a:ext uri="{9D8B030D-6E8A-4147-A177-3AD203B41FA5}">
                      <a16:colId xmlns:a16="http://schemas.microsoft.com/office/drawing/2014/main" val="363493977"/>
                    </a:ext>
                  </a:extLst>
                </a:gridCol>
                <a:gridCol w="272765">
                  <a:extLst>
                    <a:ext uri="{9D8B030D-6E8A-4147-A177-3AD203B41FA5}">
                      <a16:colId xmlns:a16="http://schemas.microsoft.com/office/drawing/2014/main" val="2527660299"/>
                    </a:ext>
                  </a:extLst>
                </a:gridCol>
                <a:gridCol w="392966">
                  <a:extLst>
                    <a:ext uri="{9D8B030D-6E8A-4147-A177-3AD203B41FA5}">
                      <a16:colId xmlns:a16="http://schemas.microsoft.com/office/drawing/2014/main" val="3641075278"/>
                    </a:ext>
                  </a:extLst>
                </a:gridCol>
                <a:gridCol w="819886">
                  <a:extLst>
                    <a:ext uri="{9D8B030D-6E8A-4147-A177-3AD203B41FA5}">
                      <a16:colId xmlns:a16="http://schemas.microsoft.com/office/drawing/2014/main" val="3618613915"/>
                    </a:ext>
                  </a:extLst>
                </a:gridCol>
              </a:tblGrid>
              <a:tr h="182275">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Recognition of End of Lease Services Revenue</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End of Lease</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 (EOT)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Revenue-ARS (EOT)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1418110"/>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38798572"/>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cxnSp>
        <p:nvCxnSpPr>
          <p:cNvPr id="2" name="直接连接符 1">
            <a:extLst>
              <a:ext uri="{FF2B5EF4-FFF2-40B4-BE49-F238E27FC236}">
                <a16:creationId xmlns:a16="http://schemas.microsoft.com/office/drawing/2014/main" id="{8CAECD33-94E2-0D4E-972E-D027EA564CBA}"/>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0" name="表格 9">
            <a:extLst>
              <a:ext uri="{FF2B5EF4-FFF2-40B4-BE49-F238E27FC236}">
                <a16:creationId xmlns:a16="http://schemas.microsoft.com/office/drawing/2014/main" id="{07B22AC1-5015-3419-8AF3-27A4A9CCB6C1}"/>
              </a:ext>
            </a:extLst>
          </p:cNvPr>
          <p:cNvGraphicFramePr>
            <a:graphicFrameLocks noGrp="1"/>
          </p:cNvGraphicFramePr>
          <p:nvPr>
            <p:extLst>
              <p:ext uri="{D42A27DB-BD31-4B8C-83A1-F6EECF244321}">
                <p14:modId xmlns:p14="http://schemas.microsoft.com/office/powerpoint/2010/main" val="1112453030"/>
              </p:ext>
            </p:extLst>
          </p:nvPr>
        </p:nvGraphicFramePr>
        <p:xfrm>
          <a:off x="6198532" y="1523995"/>
          <a:ext cx="5831012" cy="1933226"/>
        </p:xfrm>
        <a:graphic>
          <a:graphicData uri="http://schemas.openxmlformats.org/drawingml/2006/table">
            <a:tbl>
              <a:tblPr/>
              <a:tblGrid>
                <a:gridCol w="429251">
                  <a:extLst>
                    <a:ext uri="{9D8B030D-6E8A-4147-A177-3AD203B41FA5}">
                      <a16:colId xmlns:a16="http://schemas.microsoft.com/office/drawing/2014/main" val="495084399"/>
                    </a:ext>
                  </a:extLst>
                </a:gridCol>
                <a:gridCol w="222027">
                  <a:extLst>
                    <a:ext uri="{9D8B030D-6E8A-4147-A177-3AD203B41FA5}">
                      <a16:colId xmlns:a16="http://schemas.microsoft.com/office/drawing/2014/main" val="3614210242"/>
                    </a:ext>
                  </a:extLst>
                </a:gridCol>
                <a:gridCol w="561706">
                  <a:extLst>
                    <a:ext uri="{9D8B030D-6E8A-4147-A177-3AD203B41FA5}">
                      <a16:colId xmlns:a16="http://schemas.microsoft.com/office/drawing/2014/main" val="1442124609"/>
                    </a:ext>
                  </a:extLst>
                </a:gridCol>
                <a:gridCol w="1879753">
                  <a:extLst>
                    <a:ext uri="{9D8B030D-6E8A-4147-A177-3AD203B41FA5}">
                      <a16:colId xmlns:a16="http://schemas.microsoft.com/office/drawing/2014/main" val="3603859997"/>
                    </a:ext>
                  </a:extLst>
                </a:gridCol>
                <a:gridCol w="340456">
                  <a:extLst>
                    <a:ext uri="{9D8B030D-6E8A-4147-A177-3AD203B41FA5}">
                      <a16:colId xmlns:a16="http://schemas.microsoft.com/office/drawing/2014/main" val="4076488391"/>
                    </a:ext>
                  </a:extLst>
                </a:gridCol>
                <a:gridCol w="356595">
                  <a:extLst>
                    <a:ext uri="{9D8B030D-6E8A-4147-A177-3AD203B41FA5}">
                      <a16:colId xmlns:a16="http://schemas.microsoft.com/office/drawing/2014/main" val="3254101706"/>
                    </a:ext>
                  </a:extLst>
                </a:gridCol>
                <a:gridCol w="558348">
                  <a:extLst>
                    <a:ext uri="{9D8B030D-6E8A-4147-A177-3AD203B41FA5}">
                      <a16:colId xmlns:a16="http://schemas.microsoft.com/office/drawing/2014/main" val="3712391277"/>
                    </a:ext>
                  </a:extLst>
                </a:gridCol>
                <a:gridCol w="558348">
                  <a:extLst>
                    <a:ext uri="{9D8B030D-6E8A-4147-A177-3AD203B41FA5}">
                      <a16:colId xmlns:a16="http://schemas.microsoft.com/office/drawing/2014/main" val="4051557831"/>
                    </a:ext>
                  </a:extLst>
                </a:gridCol>
                <a:gridCol w="270243">
                  <a:extLst>
                    <a:ext uri="{9D8B030D-6E8A-4147-A177-3AD203B41FA5}">
                      <a16:colId xmlns:a16="http://schemas.microsoft.com/office/drawing/2014/main" val="2527660299"/>
                    </a:ext>
                  </a:extLst>
                </a:gridCol>
                <a:gridCol w="387178">
                  <a:extLst>
                    <a:ext uri="{9D8B030D-6E8A-4147-A177-3AD203B41FA5}">
                      <a16:colId xmlns:a16="http://schemas.microsoft.com/office/drawing/2014/main" val="3641075278"/>
                    </a:ext>
                  </a:extLst>
                </a:gridCol>
                <a:gridCol w="267107">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p>
                    <a:p>
                      <a:pPr algn="ctr" fontAlgn="base">
                        <a:lnSpc>
                          <a:spcPts val="1425"/>
                        </a:lnSpc>
                        <a:buNone/>
                      </a:pP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998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rtl="0" eaLnBrk="1" fontAlgn="base" latinLnBrk="0" hangingPunct="1">
                        <a:lnSpc>
                          <a:spcPts val="1200"/>
                        </a:lnSpc>
                        <a:spcBef>
                          <a:spcPts val="0"/>
                        </a:spcBef>
                        <a:spcAft>
                          <a:spcPts val="0"/>
                        </a:spcAft>
                        <a:buClrTx/>
                        <a:buSzTx/>
                        <a:buFontTx/>
                        <a:buNone/>
                      </a:pPr>
                      <a:r>
                        <a:rPr lang="en-US" sz="900" b="0" i="0" u="none" strike="noStrike" kern="1200">
                          <a:solidFill>
                            <a:srgbClr val="000000"/>
                          </a:solidFill>
                          <a:effectLst/>
                          <a:latin typeface="Arial"/>
                          <a:ea typeface="+mn-ea"/>
                          <a:cs typeface="+mn-cs"/>
                        </a:rPr>
                        <a:t>Other Payable(3PO) </a:t>
                      </a:r>
                      <a:r>
                        <a:rPr lang="en-US" sz="900" b="0" i="0" u="none" strike="noStrike" kern="1200" err="1">
                          <a:solidFill>
                            <a:srgbClr val="000000"/>
                          </a:solidFill>
                          <a:effectLst/>
                          <a:latin typeface="Arial"/>
                          <a:ea typeface="+mn-ea"/>
                          <a:cs typeface="+mn-cs"/>
                        </a:rPr>
                        <a:t>HW+funded</a:t>
                      </a:r>
                      <a:r>
                        <a:rPr lang="en-US" sz="900" b="0" i="0" u="none" strike="noStrike" kern="1200">
                          <a:solidFill>
                            <a:srgbClr val="000000"/>
                          </a:solidFill>
                          <a:effectLst/>
                          <a:latin typeface="Arial"/>
                          <a:ea typeface="+mn-ea"/>
                          <a:cs typeface="+mn-cs"/>
                        </a:rPr>
                        <a:t> svc</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noProof="0">
                          <a:solidFill>
                            <a:srgbClr val="000000"/>
                          </a:solidFill>
                          <a:effectLst/>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noProof="0">
                          <a:solidFill>
                            <a:srgbClr val="000000"/>
                          </a:solidFill>
                          <a:effectLst/>
                          <a:latin typeface="Arial"/>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sngStrike" kern="1200">
                          <a:solidFill>
                            <a:srgbClr val="000000"/>
                          </a:solidFill>
                          <a:effectLst/>
                          <a:latin typeface="Arial"/>
                          <a:ea typeface="+mn-ea"/>
                          <a:cs typeface="+mn-cs"/>
                        </a:rPr>
                        <a:t>Other Payable – Premier 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sngStrike" kern="1200">
                          <a:solidFill>
                            <a:srgbClr val="000000"/>
                          </a:solidFill>
                          <a:effectLst/>
                          <a:latin typeface="Arial"/>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sngStrike" kern="1200">
                          <a:solidFill>
                            <a:srgbClr val="000000"/>
                          </a:solidFill>
                          <a:effectLst/>
                          <a:latin typeface="Arial"/>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sngStrike" kern="1200">
                          <a:solidFill>
                            <a:srgbClr val="000000"/>
                          </a:solidFill>
                          <a:effectLst/>
                          <a:latin typeface="Arial"/>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sngStrike" kern="1200">
                          <a:solidFill>
                            <a:srgbClr val="000000"/>
                          </a:solidFill>
                          <a:effectLst/>
                          <a:latin typeface="Arial"/>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a:ea typeface="宋体"/>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a:solidFill>
                            <a:srgbClr val="000000"/>
                          </a:solidFill>
                          <a:effectLst/>
                          <a:latin typeface="Arial"/>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noProof="0">
                          <a:solidFill>
                            <a:srgbClr val="000000"/>
                          </a:solidFill>
                          <a:effectLst/>
                          <a:latin typeface="Arial"/>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11" name="表格 10">
            <a:extLst>
              <a:ext uri="{FF2B5EF4-FFF2-40B4-BE49-F238E27FC236}">
                <a16:creationId xmlns:a16="http://schemas.microsoft.com/office/drawing/2014/main" id="{3DA42E6B-E718-91C5-5D16-8FB2974A03FA}"/>
              </a:ext>
            </a:extLst>
          </p:cNvPr>
          <p:cNvGraphicFramePr>
            <a:graphicFrameLocks noGrp="1"/>
          </p:cNvGraphicFramePr>
          <p:nvPr>
            <p:extLst>
              <p:ext uri="{D42A27DB-BD31-4B8C-83A1-F6EECF244321}">
                <p14:modId xmlns:p14="http://schemas.microsoft.com/office/powerpoint/2010/main" val="2536880751"/>
              </p:ext>
            </p:extLst>
          </p:nvPr>
        </p:nvGraphicFramePr>
        <p:xfrm>
          <a:off x="6208247" y="3470861"/>
          <a:ext cx="5811585" cy="1360878"/>
        </p:xfrm>
        <a:graphic>
          <a:graphicData uri="http://schemas.openxmlformats.org/drawingml/2006/table">
            <a:tbl>
              <a:tblPr/>
              <a:tblGrid>
                <a:gridCol w="433954">
                  <a:extLst>
                    <a:ext uri="{9D8B030D-6E8A-4147-A177-3AD203B41FA5}">
                      <a16:colId xmlns:a16="http://schemas.microsoft.com/office/drawing/2014/main" val="495084399"/>
                    </a:ext>
                  </a:extLst>
                </a:gridCol>
                <a:gridCol w="250319">
                  <a:extLst>
                    <a:ext uri="{9D8B030D-6E8A-4147-A177-3AD203B41FA5}">
                      <a16:colId xmlns:a16="http://schemas.microsoft.com/office/drawing/2014/main" val="3614210242"/>
                    </a:ext>
                  </a:extLst>
                </a:gridCol>
                <a:gridCol w="587056">
                  <a:extLst>
                    <a:ext uri="{9D8B030D-6E8A-4147-A177-3AD203B41FA5}">
                      <a16:colId xmlns:a16="http://schemas.microsoft.com/office/drawing/2014/main" val="1442124609"/>
                    </a:ext>
                  </a:extLst>
                </a:gridCol>
                <a:gridCol w="1506263">
                  <a:extLst>
                    <a:ext uri="{9D8B030D-6E8A-4147-A177-3AD203B41FA5}">
                      <a16:colId xmlns:a16="http://schemas.microsoft.com/office/drawing/2014/main" val="3603859997"/>
                    </a:ext>
                  </a:extLst>
                </a:gridCol>
                <a:gridCol w="482442">
                  <a:extLst>
                    <a:ext uri="{9D8B030D-6E8A-4147-A177-3AD203B41FA5}">
                      <a16:colId xmlns:a16="http://schemas.microsoft.com/office/drawing/2014/main" val="4076488391"/>
                    </a:ext>
                  </a:extLst>
                </a:gridCol>
                <a:gridCol w="419903">
                  <a:extLst>
                    <a:ext uri="{9D8B030D-6E8A-4147-A177-3AD203B41FA5}">
                      <a16:colId xmlns:a16="http://schemas.microsoft.com/office/drawing/2014/main" val="3254101706"/>
                    </a:ext>
                  </a:extLst>
                </a:gridCol>
                <a:gridCol w="638431">
                  <a:extLst>
                    <a:ext uri="{9D8B030D-6E8A-4147-A177-3AD203B41FA5}">
                      <a16:colId xmlns:a16="http://schemas.microsoft.com/office/drawing/2014/main" val="3712391277"/>
                    </a:ext>
                  </a:extLst>
                </a:gridCol>
                <a:gridCol w="519401">
                  <a:extLst>
                    <a:ext uri="{9D8B030D-6E8A-4147-A177-3AD203B41FA5}">
                      <a16:colId xmlns:a16="http://schemas.microsoft.com/office/drawing/2014/main" val="2678102022"/>
                    </a:ext>
                  </a:extLst>
                </a:gridCol>
                <a:gridCol w="268022">
                  <a:extLst>
                    <a:ext uri="{9D8B030D-6E8A-4147-A177-3AD203B41FA5}">
                      <a16:colId xmlns:a16="http://schemas.microsoft.com/office/drawing/2014/main" val="2527660299"/>
                    </a:ext>
                  </a:extLst>
                </a:gridCol>
                <a:gridCol w="404651">
                  <a:extLst>
                    <a:ext uri="{9D8B030D-6E8A-4147-A177-3AD203B41FA5}">
                      <a16:colId xmlns:a16="http://schemas.microsoft.com/office/drawing/2014/main" val="3641075278"/>
                    </a:ext>
                  </a:extLst>
                </a:gridCol>
                <a:gridCol w="301143">
                  <a:extLst>
                    <a:ext uri="{9D8B030D-6E8A-4147-A177-3AD203B41FA5}">
                      <a16:colId xmlns:a16="http://schemas.microsoft.com/office/drawing/2014/main" val="3618613915"/>
                    </a:ext>
                  </a:extLst>
                </a:gridCol>
              </a:tblGrid>
              <a:tr h="183914">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HW</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7491623"/>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HW(3PO)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0723294"/>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12" name="表格 11">
            <a:extLst>
              <a:ext uri="{FF2B5EF4-FFF2-40B4-BE49-F238E27FC236}">
                <a16:creationId xmlns:a16="http://schemas.microsoft.com/office/drawing/2014/main" id="{9343696C-902E-F704-11B7-CD33CC5B88CF}"/>
              </a:ext>
            </a:extLst>
          </p:cNvPr>
          <p:cNvGraphicFramePr>
            <a:graphicFrameLocks noGrp="1"/>
          </p:cNvGraphicFramePr>
          <p:nvPr>
            <p:extLst>
              <p:ext uri="{D42A27DB-BD31-4B8C-83A1-F6EECF244321}">
                <p14:modId xmlns:p14="http://schemas.microsoft.com/office/powerpoint/2010/main" val="3007399294"/>
              </p:ext>
            </p:extLst>
          </p:nvPr>
        </p:nvGraphicFramePr>
        <p:xfrm>
          <a:off x="6227675" y="380995"/>
          <a:ext cx="5811584" cy="1143000"/>
        </p:xfrm>
        <a:graphic>
          <a:graphicData uri="http://schemas.openxmlformats.org/drawingml/2006/table">
            <a:tbl>
              <a:tblPr firstRow="1" bandRow="1">
                <a:tableStyleId>{3C2FFA5D-87B4-456A-9821-1D502468CF0F}</a:tableStyleId>
              </a:tblPr>
              <a:tblGrid>
                <a:gridCol w="639850">
                  <a:extLst>
                    <a:ext uri="{9D8B030D-6E8A-4147-A177-3AD203B41FA5}">
                      <a16:colId xmlns:a16="http://schemas.microsoft.com/office/drawing/2014/main" val="869603910"/>
                    </a:ext>
                  </a:extLst>
                </a:gridCol>
                <a:gridCol w="685800">
                  <a:extLst>
                    <a:ext uri="{9D8B030D-6E8A-4147-A177-3AD203B41FA5}">
                      <a16:colId xmlns:a16="http://schemas.microsoft.com/office/drawing/2014/main" val="238663902"/>
                    </a:ext>
                  </a:extLst>
                </a:gridCol>
                <a:gridCol w="576441">
                  <a:extLst>
                    <a:ext uri="{9D8B030D-6E8A-4147-A177-3AD203B41FA5}">
                      <a16:colId xmlns:a16="http://schemas.microsoft.com/office/drawing/2014/main" val="4114365151"/>
                    </a:ext>
                  </a:extLst>
                </a:gridCol>
                <a:gridCol w="692958">
                  <a:extLst>
                    <a:ext uri="{9D8B030D-6E8A-4147-A177-3AD203B41FA5}">
                      <a16:colId xmlns:a16="http://schemas.microsoft.com/office/drawing/2014/main" val="4075178046"/>
                    </a:ext>
                  </a:extLst>
                </a:gridCol>
                <a:gridCol w="661127">
                  <a:extLst>
                    <a:ext uri="{9D8B030D-6E8A-4147-A177-3AD203B41FA5}">
                      <a16:colId xmlns:a16="http://schemas.microsoft.com/office/drawing/2014/main" val="973533418"/>
                    </a:ext>
                  </a:extLst>
                </a:gridCol>
                <a:gridCol w="703148">
                  <a:extLst>
                    <a:ext uri="{9D8B030D-6E8A-4147-A177-3AD203B41FA5}">
                      <a16:colId xmlns:a16="http://schemas.microsoft.com/office/drawing/2014/main" val="2377711782"/>
                    </a:ext>
                  </a:extLst>
                </a:gridCol>
                <a:gridCol w="875147">
                  <a:extLst>
                    <a:ext uri="{9D8B030D-6E8A-4147-A177-3AD203B41FA5}">
                      <a16:colId xmlns:a16="http://schemas.microsoft.com/office/drawing/2014/main" val="1022211988"/>
                    </a:ext>
                  </a:extLst>
                </a:gridCol>
                <a:gridCol w="977113">
                  <a:extLst>
                    <a:ext uri="{9D8B030D-6E8A-4147-A177-3AD203B41FA5}">
                      <a16:colId xmlns:a16="http://schemas.microsoft.com/office/drawing/2014/main" val="221569069"/>
                    </a:ext>
                  </a:extLst>
                </a:gridCol>
              </a:tblGrid>
              <a:tr h="15659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87811">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Syndication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4" name="表格 13">
            <a:extLst>
              <a:ext uri="{FF2B5EF4-FFF2-40B4-BE49-F238E27FC236}">
                <a16:creationId xmlns:a16="http://schemas.microsoft.com/office/drawing/2014/main" id="{B74F11BF-116C-E9A9-6F7F-8C89729EB35E}"/>
              </a:ext>
            </a:extLst>
          </p:cNvPr>
          <p:cNvGraphicFramePr>
            <a:graphicFrameLocks noGrp="1"/>
          </p:cNvGraphicFramePr>
          <p:nvPr>
            <p:extLst>
              <p:ext uri="{D42A27DB-BD31-4B8C-83A1-F6EECF244321}">
                <p14:modId xmlns:p14="http://schemas.microsoft.com/office/powerpoint/2010/main" val="2231139977"/>
              </p:ext>
            </p:extLst>
          </p:nvPr>
        </p:nvGraphicFramePr>
        <p:xfrm>
          <a:off x="6234562" y="5985247"/>
          <a:ext cx="5797810" cy="1143743"/>
        </p:xfrm>
        <a:graphic>
          <a:graphicData uri="http://schemas.openxmlformats.org/drawingml/2006/table">
            <a:tbl>
              <a:tblPr/>
              <a:tblGrid>
                <a:gridCol w="437298">
                  <a:extLst>
                    <a:ext uri="{9D8B030D-6E8A-4147-A177-3AD203B41FA5}">
                      <a16:colId xmlns:a16="http://schemas.microsoft.com/office/drawing/2014/main" val="495084399"/>
                    </a:ext>
                  </a:extLst>
                </a:gridCol>
                <a:gridCol w="234829">
                  <a:extLst>
                    <a:ext uri="{9D8B030D-6E8A-4147-A177-3AD203B41FA5}">
                      <a16:colId xmlns:a16="http://schemas.microsoft.com/office/drawing/2014/main" val="3614210242"/>
                    </a:ext>
                  </a:extLst>
                </a:gridCol>
                <a:gridCol w="541004">
                  <a:extLst>
                    <a:ext uri="{9D8B030D-6E8A-4147-A177-3AD203B41FA5}">
                      <a16:colId xmlns:a16="http://schemas.microsoft.com/office/drawing/2014/main" val="1442124609"/>
                    </a:ext>
                  </a:extLst>
                </a:gridCol>
                <a:gridCol w="1828391">
                  <a:extLst>
                    <a:ext uri="{9D8B030D-6E8A-4147-A177-3AD203B41FA5}">
                      <a16:colId xmlns:a16="http://schemas.microsoft.com/office/drawing/2014/main" val="3603859997"/>
                    </a:ext>
                  </a:extLst>
                </a:gridCol>
                <a:gridCol w="352820">
                  <a:extLst>
                    <a:ext uri="{9D8B030D-6E8A-4147-A177-3AD203B41FA5}">
                      <a16:colId xmlns:a16="http://schemas.microsoft.com/office/drawing/2014/main" val="4076488391"/>
                    </a:ext>
                  </a:extLst>
                </a:gridCol>
                <a:gridCol w="562846">
                  <a:extLst>
                    <a:ext uri="{9D8B030D-6E8A-4147-A177-3AD203B41FA5}">
                      <a16:colId xmlns:a16="http://schemas.microsoft.com/office/drawing/2014/main" val="3254101706"/>
                    </a:ext>
                  </a:extLst>
                </a:gridCol>
                <a:gridCol w="361950">
                  <a:extLst>
                    <a:ext uri="{9D8B030D-6E8A-4147-A177-3AD203B41FA5}">
                      <a16:colId xmlns:a16="http://schemas.microsoft.com/office/drawing/2014/main" val="3712391277"/>
                    </a:ext>
                  </a:extLst>
                </a:gridCol>
                <a:gridCol w="285750">
                  <a:extLst>
                    <a:ext uri="{9D8B030D-6E8A-4147-A177-3AD203B41FA5}">
                      <a16:colId xmlns:a16="http://schemas.microsoft.com/office/drawing/2014/main" val="3027392951"/>
                    </a:ext>
                  </a:extLst>
                </a:gridCol>
                <a:gridCol w="371475">
                  <a:extLst>
                    <a:ext uri="{9D8B030D-6E8A-4147-A177-3AD203B41FA5}">
                      <a16:colId xmlns:a16="http://schemas.microsoft.com/office/drawing/2014/main" val="2527660299"/>
                    </a:ext>
                  </a:extLst>
                </a:gridCol>
                <a:gridCol w="466725">
                  <a:extLst>
                    <a:ext uri="{9D8B030D-6E8A-4147-A177-3AD203B41FA5}">
                      <a16:colId xmlns:a16="http://schemas.microsoft.com/office/drawing/2014/main" val="3641075278"/>
                    </a:ext>
                  </a:extLst>
                </a:gridCol>
                <a:gridCol w="354722">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6" name="表格 5">
            <a:extLst>
              <a:ext uri="{FF2B5EF4-FFF2-40B4-BE49-F238E27FC236}">
                <a16:creationId xmlns:a16="http://schemas.microsoft.com/office/drawing/2014/main" id="{0995E3C0-D72F-0B0E-6696-21D717D9F80B}"/>
              </a:ext>
            </a:extLst>
          </p:cNvPr>
          <p:cNvGraphicFramePr>
            <a:graphicFrameLocks noGrp="1"/>
          </p:cNvGraphicFramePr>
          <p:nvPr>
            <p:extLst>
              <p:ext uri="{D42A27DB-BD31-4B8C-83A1-F6EECF244321}">
                <p14:modId xmlns:p14="http://schemas.microsoft.com/office/powerpoint/2010/main" val="1442551217"/>
              </p:ext>
            </p:extLst>
          </p:nvPr>
        </p:nvGraphicFramePr>
        <p:xfrm>
          <a:off x="6227675" y="4840749"/>
          <a:ext cx="5811585" cy="1135488"/>
        </p:xfrm>
        <a:graphic>
          <a:graphicData uri="http://schemas.openxmlformats.org/drawingml/2006/table">
            <a:tbl>
              <a:tblPr/>
              <a:tblGrid>
                <a:gridCol w="433954">
                  <a:extLst>
                    <a:ext uri="{9D8B030D-6E8A-4147-A177-3AD203B41FA5}">
                      <a16:colId xmlns:a16="http://schemas.microsoft.com/office/drawing/2014/main" val="495084399"/>
                    </a:ext>
                  </a:extLst>
                </a:gridCol>
                <a:gridCol w="250319">
                  <a:extLst>
                    <a:ext uri="{9D8B030D-6E8A-4147-A177-3AD203B41FA5}">
                      <a16:colId xmlns:a16="http://schemas.microsoft.com/office/drawing/2014/main" val="3614210242"/>
                    </a:ext>
                  </a:extLst>
                </a:gridCol>
                <a:gridCol w="587056">
                  <a:extLst>
                    <a:ext uri="{9D8B030D-6E8A-4147-A177-3AD203B41FA5}">
                      <a16:colId xmlns:a16="http://schemas.microsoft.com/office/drawing/2014/main" val="1442124609"/>
                    </a:ext>
                  </a:extLst>
                </a:gridCol>
                <a:gridCol w="1768821">
                  <a:extLst>
                    <a:ext uri="{9D8B030D-6E8A-4147-A177-3AD203B41FA5}">
                      <a16:colId xmlns:a16="http://schemas.microsoft.com/office/drawing/2014/main" val="3603859997"/>
                    </a:ext>
                  </a:extLst>
                </a:gridCol>
                <a:gridCol w="371475">
                  <a:extLst>
                    <a:ext uri="{9D8B030D-6E8A-4147-A177-3AD203B41FA5}">
                      <a16:colId xmlns:a16="http://schemas.microsoft.com/office/drawing/2014/main" val="4076488391"/>
                    </a:ext>
                  </a:extLst>
                </a:gridCol>
                <a:gridCol w="428625">
                  <a:extLst>
                    <a:ext uri="{9D8B030D-6E8A-4147-A177-3AD203B41FA5}">
                      <a16:colId xmlns:a16="http://schemas.microsoft.com/office/drawing/2014/main" val="3254101706"/>
                    </a:ext>
                  </a:extLst>
                </a:gridCol>
                <a:gridCol w="478118">
                  <a:extLst>
                    <a:ext uri="{9D8B030D-6E8A-4147-A177-3AD203B41FA5}">
                      <a16:colId xmlns:a16="http://schemas.microsoft.com/office/drawing/2014/main" val="3712391277"/>
                    </a:ext>
                  </a:extLst>
                </a:gridCol>
                <a:gridCol w="519401">
                  <a:extLst>
                    <a:ext uri="{9D8B030D-6E8A-4147-A177-3AD203B41FA5}">
                      <a16:colId xmlns:a16="http://schemas.microsoft.com/office/drawing/2014/main" val="2678102022"/>
                    </a:ext>
                  </a:extLst>
                </a:gridCol>
                <a:gridCol w="268022">
                  <a:extLst>
                    <a:ext uri="{9D8B030D-6E8A-4147-A177-3AD203B41FA5}">
                      <a16:colId xmlns:a16="http://schemas.microsoft.com/office/drawing/2014/main" val="2527660299"/>
                    </a:ext>
                  </a:extLst>
                </a:gridCol>
                <a:gridCol w="404651">
                  <a:extLst>
                    <a:ext uri="{9D8B030D-6E8A-4147-A177-3AD203B41FA5}">
                      <a16:colId xmlns:a16="http://schemas.microsoft.com/office/drawing/2014/main" val="3641075278"/>
                    </a:ext>
                  </a:extLst>
                </a:gridCol>
                <a:gridCol w="301143">
                  <a:extLst>
                    <a:ext uri="{9D8B030D-6E8A-4147-A177-3AD203B41FA5}">
                      <a16:colId xmlns:a16="http://schemas.microsoft.com/office/drawing/2014/main" val="3618613915"/>
                    </a:ext>
                  </a:extLst>
                </a:gridCol>
              </a:tblGrid>
              <a:tr h="183914">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kern="1200">
                          <a:solidFill>
                            <a:srgbClr val="FFFFFF"/>
                          </a:solidFill>
                          <a:effectLst/>
                          <a:latin typeface="Arial" panose="020B0604020202020204" pitchFamily="34" charset="0"/>
                          <a:ea typeface="+mn-ea"/>
                          <a:cs typeface="+mn-cs"/>
                        </a:rPr>
                        <a:t>Monthly service transfer to 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6925547"/>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749162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A/P –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sp>
        <p:nvSpPr>
          <p:cNvPr id="8" name="矩形 7">
            <a:extLst>
              <a:ext uri="{FF2B5EF4-FFF2-40B4-BE49-F238E27FC236}">
                <a16:creationId xmlns:a16="http://schemas.microsoft.com/office/drawing/2014/main" id="{EAFD4C99-9ACA-A86E-3324-356D201DC7E8}"/>
              </a:ext>
            </a:extLst>
          </p:cNvPr>
          <p:cNvSpPr/>
          <p:nvPr/>
        </p:nvSpPr>
        <p:spPr>
          <a:xfrm>
            <a:off x="6198532" y="3457221"/>
            <a:ext cx="5811585" cy="1342858"/>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9" name="对话气泡: 矩形 11">
            <a:extLst>
              <a:ext uri="{FF2B5EF4-FFF2-40B4-BE49-F238E27FC236}">
                <a16:creationId xmlns:a16="http://schemas.microsoft.com/office/drawing/2014/main" id="{A9FA4EE9-107F-072E-9A79-EDC07C406F28}"/>
              </a:ext>
            </a:extLst>
          </p:cNvPr>
          <p:cNvSpPr/>
          <p:nvPr/>
        </p:nvSpPr>
        <p:spPr>
          <a:xfrm>
            <a:off x="3693671" y="3180369"/>
            <a:ext cx="1307455" cy="1941861"/>
          </a:xfrm>
          <a:prstGeom prst="wedgeRectCallout">
            <a:avLst>
              <a:gd name="adj1" fmla="val 186852"/>
              <a:gd name="adj2" fmla="val -6476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sp>
        <p:nvSpPr>
          <p:cNvPr id="3" name="矩形 2">
            <a:extLst>
              <a:ext uri="{FF2B5EF4-FFF2-40B4-BE49-F238E27FC236}">
                <a16:creationId xmlns:a16="http://schemas.microsoft.com/office/drawing/2014/main" id="{8524B8B2-70D3-ED42-9A1B-1D45F09EE0FE}"/>
              </a:ext>
            </a:extLst>
          </p:cNvPr>
          <p:cNvSpPr/>
          <p:nvPr/>
        </p:nvSpPr>
        <p:spPr>
          <a:xfrm>
            <a:off x="6613451" y="2573078"/>
            <a:ext cx="5416093" cy="313179"/>
          </a:xfrm>
          <a:prstGeom prst="rect">
            <a:avLst/>
          </a:prstGeom>
          <a:noFill/>
          <a:ln w="12700"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Tree>
    <p:extLst>
      <p:ext uri="{BB962C8B-B14F-4D97-AF65-F5344CB8AC3E}">
        <p14:creationId xmlns:p14="http://schemas.microsoft.com/office/powerpoint/2010/main" val="357908905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1DC631-6F1B-56B7-444B-C195D748496B}"/>
            </a:ext>
          </a:extLst>
        </p:cNvPr>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F1AEA12A-F66F-141C-C1F8-1814C94BE1EB}"/>
              </a:ext>
            </a:extLst>
          </p:cNvPr>
          <p:cNvGraphicFramePr>
            <a:graphicFrameLocks noGrp="1"/>
          </p:cNvGraphicFramePr>
          <p:nvPr>
            <p:extLst>
              <p:ext uri="{D42A27DB-BD31-4B8C-83A1-F6EECF244321}">
                <p14:modId xmlns:p14="http://schemas.microsoft.com/office/powerpoint/2010/main" val="2142905381"/>
              </p:ext>
            </p:extLst>
          </p:nvPr>
        </p:nvGraphicFramePr>
        <p:xfrm>
          <a:off x="30578" y="1857265"/>
          <a:ext cx="5948378" cy="2503796"/>
        </p:xfrm>
        <a:graphic>
          <a:graphicData uri="http://schemas.openxmlformats.org/drawingml/2006/table">
            <a:tbl>
              <a:tblPr/>
              <a:tblGrid>
                <a:gridCol w="448093">
                  <a:extLst>
                    <a:ext uri="{9D8B030D-6E8A-4147-A177-3AD203B41FA5}">
                      <a16:colId xmlns:a16="http://schemas.microsoft.com/office/drawing/2014/main" val="495084399"/>
                    </a:ext>
                  </a:extLst>
                </a:gridCol>
                <a:gridCol w="239058">
                  <a:extLst>
                    <a:ext uri="{9D8B030D-6E8A-4147-A177-3AD203B41FA5}">
                      <a16:colId xmlns:a16="http://schemas.microsoft.com/office/drawing/2014/main" val="3614210242"/>
                    </a:ext>
                  </a:extLst>
                </a:gridCol>
                <a:gridCol w="560647">
                  <a:extLst>
                    <a:ext uri="{9D8B030D-6E8A-4147-A177-3AD203B41FA5}">
                      <a16:colId xmlns:a16="http://schemas.microsoft.com/office/drawing/2014/main" val="1442124609"/>
                    </a:ext>
                  </a:extLst>
                </a:gridCol>
                <a:gridCol w="1983024">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05548">
                  <a:extLst>
                    <a:ext uri="{9D8B030D-6E8A-4147-A177-3AD203B41FA5}">
                      <a16:colId xmlns:a16="http://schemas.microsoft.com/office/drawing/2014/main" val="3254101706"/>
                    </a:ext>
                  </a:extLst>
                </a:gridCol>
                <a:gridCol w="345989">
                  <a:extLst>
                    <a:ext uri="{9D8B030D-6E8A-4147-A177-3AD203B41FA5}">
                      <a16:colId xmlns:a16="http://schemas.microsoft.com/office/drawing/2014/main" val="3712391277"/>
                    </a:ext>
                  </a:extLst>
                </a:gridCol>
                <a:gridCol w="605883">
                  <a:extLst>
                    <a:ext uri="{9D8B030D-6E8A-4147-A177-3AD203B41FA5}">
                      <a16:colId xmlns:a16="http://schemas.microsoft.com/office/drawing/2014/main" val="1011381538"/>
                    </a:ext>
                  </a:extLst>
                </a:gridCol>
                <a:gridCol w="280545">
                  <a:extLst>
                    <a:ext uri="{9D8B030D-6E8A-4147-A177-3AD203B41FA5}">
                      <a16:colId xmlns:a16="http://schemas.microsoft.com/office/drawing/2014/main" val="2527660299"/>
                    </a:ext>
                  </a:extLst>
                </a:gridCol>
                <a:gridCol w="386447">
                  <a:extLst>
                    <a:ext uri="{9D8B030D-6E8A-4147-A177-3AD203B41FA5}">
                      <a16:colId xmlns:a16="http://schemas.microsoft.com/office/drawing/2014/main" val="3641075278"/>
                    </a:ext>
                  </a:extLst>
                </a:gridCol>
                <a:gridCol w="287596">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1598279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08720529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Broker Sales (applicable for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20/30/U4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a:t>
                      </a:r>
                      <a:r>
                        <a:rPr lang="en-US" sz="900" b="0" i="0" u="none" strike="noStrike" kern="1200">
                          <a:solidFill>
                            <a:srgbClr val="000000"/>
                          </a:solidFill>
                          <a:effectLst/>
                          <a:latin typeface="Arial" panose="020B0604020202020204" pitchFamily="34" charset="0"/>
                          <a:ea typeface="+mn-ea"/>
                          <a:cs typeface="+mn-cs"/>
                        </a:rPr>
                        <a:t>-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0" name="表格 29">
            <a:extLst>
              <a:ext uri="{FF2B5EF4-FFF2-40B4-BE49-F238E27FC236}">
                <a16:creationId xmlns:a16="http://schemas.microsoft.com/office/drawing/2014/main" id="{9FFBA933-0792-3915-F07F-900F030567D1}"/>
              </a:ext>
            </a:extLst>
          </p:cNvPr>
          <p:cNvGraphicFramePr>
            <a:graphicFrameLocks noGrp="1"/>
          </p:cNvGraphicFramePr>
          <p:nvPr>
            <p:extLst>
              <p:ext uri="{D42A27DB-BD31-4B8C-83A1-F6EECF244321}">
                <p14:modId xmlns:p14="http://schemas.microsoft.com/office/powerpoint/2010/main" val="3840161852"/>
              </p:ext>
            </p:extLst>
          </p:nvPr>
        </p:nvGraphicFramePr>
        <p:xfrm>
          <a:off x="68678" y="431020"/>
          <a:ext cx="5838269" cy="1394460"/>
        </p:xfrm>
        <a:graphic>
          <a:graphicData uri="http://schemas.openxmlformats.org/drawingml/2006/table">
            <a:tbl>
              <a:tblPr firstRow="1" bandRow="1">
                <a:tableStyleId>{3C2FFA5D-87B4-456A-9821-1D502468CF0F}</a:tableStyleId>
              </a:tblPr>
              <a:tblGrid>
                <a:gridCol w="676206">
                  <a:extLst>
                    <a:ext uri="{9D8B030D-6E8A-4147-A177-3AD203B41FA5}">
                      <a16:colId xmlns:a16="http://schemas.microsoft.com/office/drawing/2014/main" val="869603910"/>
                    </a:ext>
                  </a:extLst>
                </a:gridCol>
                <a:gridCol w="600695">
                  <a:extLst>
                    <a:ext uri="{9D8B030D-6E8A-4147-A177-3AD203B41FA5}">
                      <a16:colId xmlns:a16="http://schemas.microsoft.com/office/drawing/2014/main" val="238663902"/>
                    </a:ext>
                  </a:extLst>
                </a:gridCol>
                <a:gridCol w="616475">
                  <a:extLst>
                    <a:ext uri="{9D8B030D-6E8A-4147-A177-3AD203B41FA5}">
                      <a16:colId xmlns:a16="http://schemas.microsoft.com/office/drawing/2014/main" val="4114365151"/>
                    </a:ext>
                  </a:extLst>
                </a:gridCol>
                <a:gridCol w="649158">
                  <a:extLst>
                    <a:ext uri="{9D8B030D-6E8A-4147-A177-3AD203B41FA5}">
                      <a16:colId xmlns:a16="http://schemas.microsoft.com/office/drawing/2014/main" val="4075178046"/>
                    </a:ext>
                  </a:extLst>
                </a:gridCol>
                <a:gridCol w="78314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One-off</a:t>
                      </a: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3" name="文本框 32">
            <a:extLst>
              <a:ext uri="{FF2B5EF4-FFF2-40B4-BE49-F238E27FC236}">
                <a16:creationId xmlns:a16="http://schemas.microsoft.com/office/drawing/2014/main" id="{48D4DA47-731E-B59C-09C8-EACD1B3B8158}"/>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DaaS_AFE_MSA&amp;MLA</a:t>
            </a:r>
            <a:endParaRPr lang="zh-CN" altLang="en-US" sz="2000" b="1"/>
          </a:p>
        </p:txBody>
      </p:sp>
      <p:cxnSp>
        <p:nvCxnSpPr>
          <p:cNvPr id="4" name="直接连接符 3">
            <a:extLst>
              <a:ext uri="{FF2B5EF4-FFF2-40B4-BE49-F238E27FC236}">
                <a16:creationId xmlns:a16="http://schemas.microsoft.com/office/drawing/2014/main" id="{A9D4A181-5604-6F27-6D81-2B43F21DDD32}"/>
              </a:ext>
            </a:extLst>
          </p:cNvPr>
          <p:cNvCxnSpPr>
            <a:cxnSpLocks/>
          </p:cNvCxnSpPr>
          <p:nvPr/>
        </p:nvCxnSpPr>
        <p:spPr>
          <a:xfrm>
            <a:off x="6173972"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2" name="表格 1">
            <a:extLst>
              <a:ext uri="{FF2B5EF4-FFF2-40B4-BE49-F238E27FC236}">
                <a16:creationId xmlns:a16="http://schemas.microsoft.com/office/drawing/2014/main" id="{AD49BBEB-767A-2A1B-C7D5-A36CBFA089D6}"/>
              </a:ext>
            </a:extLst>
          </p:cNvPr>
          <p:cNvGraphicFramePr>
            <a:graphicFrameLocks noGrp="1"/>
          </p:cNvGraphicFramePr>
          <p:nvPr>
            <p:extLst>
              <p:ext uri="{D42A27DB-BD31-4B8C-83A1-F6EECF244321}">
                <p14:modId xmlns:p14="http://schemas.microsoft.com/office/powerpoint/2010/main" val="644687823"/>
              </p:ext>
            </p:extLst>
          </p:nvPr>
        </p:nvGraphicFramePr>
        <p:xfrm>
          <a:off x="68678" y="4392846"/>
          <a:ext cx="5838266" cy="1143743"/>
        </p:xfrm>
        <a:graphic>
          <a:graphicData uri="http://schemas.openxmlformats.org/drawingml/2006/table">
            <a:tbl>
              <a:tblPr/>
              <a:tblGrid>
                <a:gridCol w="440063">
                  <a:extLst>
                    <a:ext uri="{9D8B030D-6E8A-4147-A177-3AD203B41FA5}">
                      <a16:colId xmlns:a16="http://schemas.microsoft.com/office/drawing/2014/main" val="495084399"/>
                    </a:ext>
                  </a:extLst>
                </a:gridCol>
                <a:gridCol w="270923">
                  <a:extLst>
                    <a:ext uri="{9D8B030D-6E8A-4147-A177-3AD203B41FA5}">
                      <a16:colId xmlns:a16="http://schemas.microsoft.com/office/drawing/2014/main" val="3614210242"/>
                    </a:ext>
                  </a:extLst>
                </a:gridCol>
                <a:gridCol w="624470">
                  <a:extLst>
                    <a:ext uri="{9D8B030D-6E8A-4147-A177-3AD203B41FA5}">
                      <a16:colId xmlns:a16="http://schemas.microsoft.com/office/drawing/2014/main" val="1442124609"/>
                    </a:ext>
                  </a:extLst>
                </a:gridCol>
                <a:gridCol w="1960102">
                  <a:extLst>
                    <a:ext uri="{9D8B030D-6E8A-4147-A177-3AD203B41FA5}">
                      <a16:colId xmlns:a16="http://schemas.microsoft.com/office/drawing/2014/main" val="3603859997"/>
                    </a:ext>
                  </a:extLst>
                </a:gridCol>
                <a:gridCol w="312479">
                  <a:extLst>
                    <a:ext uri="{9D8B030D-6E8A-4147-A177-3AD203B41FA5}">
                      <a16:colId xmlns:a16="http://schemas.microsoft.com/office/drawing/2014/main" val="4076488391"/>
                    </a:ext>
                  </a:extLst>
                </a:gridCol>
                <a:gridCol w="441761">
                  <a:extLst>
                    <a:ext uri="{9D8B030D-6E8A-4147-A177-3AD203B41FA5}">
                      <a16:colId xmlns:a16="http://schemas.microsoft.com/office/drawing/2014/main" val="3254101706"/>
                    </a:ext>
                  </a:extLst>
                </a:gridCol>
                <a:gridCol w="408630">
                  <a:extLst>
                    <a:ext uri="{9D8B030D-6E8A-4147-A177-3AD203B41FA5}">
                      <a16:colId xmlns:a16="http://schemas.microsoft.com/office/drawing/2014/main" val="3712391277"/>
                    </a:ext>
                  </a:extLst>
                </a:gridCol>
                <a:gridCol w="298189">
                  <a:extLst>
                    <a:ext uri="{9D8B030D-6E8A-4147-A177-3AD203B41FA5}">
                      <a16:colId xmlns:a16="http://schemas.microsoft.com/office/drawing/2014/main" val="1008187684"/>
                    </a:ext>
                  </a:extLst>
                </a:gridCol>
                <a:gridCol w="298189">
                  <a:extLst>
                    <a:ext uri="{9D8B030D-6E8A-4147-A177-3AD203B41FA5}">
                      <a16:colId xmlns:a16="http://schemas.microsoft.com/office/drawing/2014/main" val="2527660299"/>
                    </a:ext>
                  </a:extLst>
                </a:gridCol>
                <a:gridCol w="430224">
                  <a:extLst>
                    <a:ext uri="{9D8B030D-6E8A-4147-A177-3AD203B41FA5}">
                      <a16:colId xmlns:a16="http://schemas.microsoft.com/office/drawing/2014/main" val="3641075278"/>
                    </a:ext>
                  </a:extLst>
                </a:gridCol>
                <a:gridCol w="353236">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3" name="表格 2">
            <a:extLst>
              <a:ext uri="{FF2B5EF4-FFF2-40B4-BE49-F238E27FC236}">
                <a16:creationId xmlns:a16="http://schemas.microsoft.com/office/drawing/2014/main" id="{D3B035B0-0F09-1030-1354-BDAFE33EAA85}"/>
              </a:ext>
            </a:extLst>
          </p:cNvPr>
          <p:cNvGraphicFramePr>
            <a:graphicFrameLocks noGrp="1"/>
          </p:cNvGraphicFramePr>
          <p:nvPr>
            <p:extLst>
              <p:ext uri="{D42A27DB-BD31-4B8C-83A1-F6EECF244321}">
                <p14:modId xmlns:p14="http://schemas.microsoft.com/office/powerpoint/2010/main" val="4181585431"/>
              </p:ext>
            </p:extLst>
          </p:nvPr>
        </p:nvGraphicFramePr>
        <p:xfrm>
          <a:off x="84071" y="5572705"/>
          <a:ext cx="5838261" cy="1143743"/>
        </p:xfrm>
        <a:graphic>
          <a:graphicData uri="http://schemas.openxmlformats.org/drawingml/2006/table">
            <a:tbl>
              <a:tblPr/>
              <a:tblGrid>
                <a:gridCol w="456019">
                  <a:extLst>
                    <a:ext uri="{9D8B030D-6E8A-4147-A177-3AD203B41FA5}">
                      <a16:colId xmlns:a16="http://schemas.microsoft.com/office/drawing/2014/main" val="495084399"/>
                    </a:ext>
                  </a:extLst>
                </a:gridCol>
                <a:gridCol w="242295">
                  <a:extLst>
                    <a:ext uri="{9D8B030D-6E8A-4147-A177-3AD203B41FA5}">
                      <a16:colId xmlns:a16="http://schemas.microsoft.com/office/drawing/2014/main" val="3614210242"/>
                    </a:ext>
                  </a:extLst>
                </a:gridCol>
                <a:gridCol w="596734">
                  <a:extLst>
                    <a:ext uri="{9D8B030D-6E8A-4147-A177-3AD203B41FA5}">
                      <a16:colId xmlns:a16="http://schemas.microsoft.com/office/drawing/2014/main" val="1442124609"/>
                    </a:ext>
                  </a:extLst>
                </a:gridCol>
                <a:gridCol w="1983627">
                  <a:extLst>
                    <a:ext uri="{9D8B030D-6E8A-4147-A177-3AD203B41FA5}">
                      <a16:colId xmlns:a16="http://schemas.microsoft.com/office/drawing/2014/main" val="3603859997"/>
                    </a:ext>
                  </a:extLst>
                </a:gridCol>
                <a:gridCol w="475988">
                  <a:extLst>
                    <a:ext uri="{9D8B030D-6E8A-4147-A177-3AD203B41FA5}">
                      <a16:colId xmlns:a16="http://schemas.microsoft.com/office/drawing/2014/main" val="4076488391"/>
                    </a:ext>
                  </a:extLst>
                </a:gridCol>
                <a:gridCol w="433677">
                  <a:extLst>
                    <a:ext uri="{9D8B030D-6E8A-4147-A177-3AD203B41FA5}">
                      <a16:colId xmlns:a16="http://schemas.microsoft.com/office/drawing/2014/main" val="3254101706"/>
                    </a:ext>
                  </a:extLst>
                </a:gridCol>
                <a:gridCol w="370212">
                  <a:extLst>
                    <a:ext uri="{9D8B030D-6E8A-4147-A177-3AD203B41FA5}">
                      <a16:colId xmlns:a16="http://schemas.microsoft.com/office/drawing/2014/main" val="3712391277"/>
                    </a:ext>
                  </a:extLst>
                </a:gridCol>
                <a:gridCol w="275014">
                  <a:extLst>
                    <a:ext uri="{9D8B030D-6E8A-4147-A177-3AD203B41FA5}">
                      <a16:colId xmlns:a16="http://schemas.microsoft.com/office/drawing/2014/main" val="3643425350"/>
                    </a:ext>
                  </a:extLst>
                </a:gridCol>
                <a:gridCol w="275014">
                  <a:extLst>
                    <a:ext uri="{9D8B030D-6E8A-4147-A177-3AD203B41FA5}">
                      <a16:colId xmlns:a16="http://schemas.microsoft.com/office/drawing/2014/main" val="2527660299"/>
                    </a:ext>
                  </a:extLst>
                </a:gridCol>
                <a:gridCol w="412522">
                  <a:extLst>
                    <a:ext uri="{9D8B030D-6E8A-4147-A177-3AD203B41FA5}">
                      <a16:colId xmlns:a16="http://schemas.microsoft.com/office/drawing/2014/main" val="3641075278"/>
                    </a:ext>
                  </a:extLst>
                </a:gridCol>
                <a:gridCol w="317159">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76113988"/>
                  </a:ext>
                </a:extLst>
              </a:tr>
            </a:tbl>
          </a:graphicData>
        </a:graphic>
      </p:graphicFrame>
      <p:graphicFrame>
        <p:nvGraphicFramePr>
          <p:cNvPr id="5" name="表格 4">
            <a:extLst>
              <a:ext uri="{FF2B5EF4-FFF2-40B4-BE49-F238E27FC236}">
                <a16:creationId xmlns:a16="http://schemas.microsoft.com/office/drawing/2014/main" id="{8A3EF074-9782-695D-C2F4-61C5DBB38FC7}"/>
              </a:ext>
            </a:extLst>
          </p:cNvPr>
          <p:cNvGraphicFramePr>
            <a:graphicFrameLocks noGrp="1"/>
          </p:cNvGraphicFramePr>
          <p:nvPr>
            <p:extLst>
              <p:ext uri="{D42A27DB-BD31-4B8C-83A1-F6EECF244321}">
                <p14:modId xmlns:p14="http://schemas.microsoft.com/office/powerpoint/2010/main" val="2867779553"/>
              </p:ext>
            </p:extLst>
          </p:nvPr>
        </p:nvGraphicFramePr>
        <p:xfrm>
          <a:off x="6208854" y="1884391"/>
          <a:ext cx="5960393" cy="2389863"/>
        </p:xfrm>
        <a:graphic>
          <a:graphicData uri="http://schemas.openxmlformats.org/drawingml/2006/table">
            <a:tbl>
              <a:tblPr/>
              <a:tblGrid>
                <a:gridCol w="440413">
                  <a:extLst>
                    <a:ext uri="{9D8B030D-6E8A-4147-A177-3AD203B41FA5}">
                      <a16:colId xmlns:a16="http://schemas.microsoft.com/office/drawing/2014/main" val="495084399"/>
                    </a:ext>
                  </a:extLst>
                </a:gridCol>
                <a:gridCol w="234961">
                  <a:extLst>
                    <a:ext uri="{9D8B030D-6E8A-4147-A177-3AD203B41FA5}">
                      <a16:colId xmlns:a16="http://schemas.microsoft.com/office/drawing/2014/main" val="3614210242"/>
                    </a:ext>
                  </a:extLst>
                </a:gridCol>
                <a:gridCol w="551037">
                  <a:extLst>
                    <a:ext uri="{9D8B030D-6E8A-4147-A177-3AD203B41FA5}">
                      <a16:colId xmlns:a16="http://schemas.microsoft.com/office/drawing/2014/main" val="1442124609"/>
                    </a:ext>
                  </a:extLst>
                </a:gridCol>
                <a:gridCol w="2049105">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05548">
                  <a:extLst>
                    <a:ext uri="{9D8B030D-6E8A-4147-A177-3AD203B41FA5}">
                      <a16:colId xmlns:a16="http://schemas.microsoft.com/office/drawing/2014/main" val="3254101706"/>
                    </a:ext>
                  </a:extLst>
                </a:gridCol>
                <a:gridCol w="340059">
                  <a:extLst>
                    <a:ext uri="{9D8B030D-6E8A-4147-A177-3AD203B41FA5}">
                      <a16:colId xmlns:a16="http://schemas.microsoft.com/office/drawing/2014/main" val="3712391277"/>
                    </a:ext>
                  </a:extLst>
                </a:gridCol>
                <a:gridCol w="595497">
                  <a:extLst>
                    <a:ext uri="{9D8B030D-6E8A-4147-A177-3AD203B41FA5}">
                      <a16:colId xmlns:a16="http://schemas.microsoft.com/office/drawing/2014/main" val="3103572076"/>
                    </a:ext>
                  </a:extLst>
                </a:gridCol>
                <a:gridCol w="275736">
                  <a:extLst>
                    <a:ext uri="{9D8B030D-6E8A-4147-A177-3AD203B41FA5}">
                      <a16:colId xmlns:a16="http://schemas.microsoft.com/office/drawing/2014/main" val="2527660299"/>
                    </a:ext>
                  </a:extLst>
                </a:gridCol>
                <a:gridCol w="379823">
                  <a:extLst>
                    <a:ext uri="{9D8B030D-6E8A-4147-A177-3AD203B41FA5}">
                      <a16:colId xmlns:a16="http://schemas.microsoft.com/office/drawing/2014/main" val="3641075278"/>
                    </a:ext>
                  </a:extLst>
                </a:gridCol>
                <a:gridCol w="282666">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Finance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6226163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for No Device return)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4312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6" name="表格 5">
            <a:extLst>
              <a:ext uri="{FF2B5EF4-FFF2-40B4-BE49-F238E27FC236}">
                <a16:creationId xmlns:a16="http://schemas.microsoft.com/office/drawing/2014/main" id="{0275A42A-3B0F-11E7-8212-61BDD7E58ED2}"/>
              </a:ext>
            </a:extLst>
          </p:cNvPr>
          <p:cNvGraphicFramePr>
            <a:graphicFrameLocks noGrp="1"/>
          </p:cNvGraphicFramePr>
          <p:nvPr>
            <p:extLst>
              <p:ext uri="{D42A27DB-BD31-4B8C-83A1-F6EECF244321}">
                <p14:modId xmlns:p14="http://schemas.microsoft.com/office/powerpoint/2010/main" val="1322128809"/>
              </p:ext>
            </p:extLst>
          </p:nvPr>
        </p:nvGraphicFramePr>
        <p:xfrm>
          <a:off x="6285054" y="4287248"/>
          <a:ext cx="5838266" cy="1143743"/>
        </p:xfrm>
        <a:graphic>
          <a:graphicData uri="http://schemas.openxmlformats.org/drawingml/2006/table">
            <a:tbl>
              <a:tblPr/>
              <a:tblGrid>
                <a:gridCol w="444902">
                  <a:extLst>
                    <a:ext uri="{9D8B030D-6E8A-4147-A177-3AD203B41FA5}">
                      <a16:colId xmlns:a16="http://schemas.microsoft.com/office/drawing/2014/main" val="495084399"/>
                    </a:ext>
                  </a:extLst>
                </a:gridCol>
                <a:gridCol w="323783">
                  <a:extLst>
                    <a:ext uri="{9D8B030D-6E8A-4147-A177-3AD203B41FA5}">
                      <a16:colId xmlns:a16="http://schemas.microsoft.com/office/drawing/2014/main" val="3614210242"/>
                    </a:ext>
                  </a:extLst>
                </a:gridCol>
                <a:gridCol w="579317">
                  <a:extLst>
                    <a:ext uri="{9D8B030D-6E8A-4147-A177-3AD203B41FA5}">
                      <a16:colId xmlns:a16="http://schemas.microsoft.com/office/drawing/2014/main" val="1442124609"/>
                    </a:ext>
                  </a:extLst>
                </a:gridCol>
                <a:gridCol w="1851874">
                  <a:extLst>
                    <a:ext uri="{9D8B030D-6E8A-4147-A177-3AD203B41FA5}">
                      <a16:colId xmlns:a16="http://schemas.microsoft.com/office/drawing/2014/main" val="3603859997"/>
                    </a:ext>
                  </a:extLst>
                </a:gridCol>
                <a:gridCol w="461047">
                  <a:extLst>
                    <a:ext uri="{9D8B030D-6E8A-4147-A177-3AD203B41FA5}">
                      <a16:colId xmlns:a16="http://schemas.microsoft.com/office/drawing/2014/main" val="4076488391"/>
                    </a:ext>
                  </a:extLst>
                </a:gridCol>
                <a:gridCol w="409819">
                  <a:extLst>
                    <a:ext uri="{9D8B030D-6E8A-4147-A177-3AD203B41FA5}">
                      <a16:colId xmlns:a16="http://schemas.microsoft.com/office/drawing/2014/main" val="3254101706"/>
                    </a:ext>
                  </a:extLst>
                </a:gridCol>
                <a:gridCol w="379082">
                  <a:extLst>
                    <a:ext uri="{9D8B030D-6E8A-4147-A177-3AD203B41FA5}">
                      <a16:colId xmlns:a16="http://schemas.microsoft.com/office/drawing/2014/main" val="3712391277"/>
                    </a:ext>
                  </a:extLst>
                </a:gridCol>
                <a:gridCol w="379082">
                  <a:extLst>
                    <a:ext uri="{9D8B030D-6E8A-4147-A177-3AD203B41FA5}">
                      <a16:colId xmlns:a16="http://schemas.microsoft.com/office/drawing/2014/main" val="682419283"/>
                    </a:ext>
                  </a:extLst>
                </a:gridCol>
                <a:gridCol w="276627">
                  <a:extLst>
                    <a:ext uri="{9D8B030D-6E8A-4147-A177-3AD203B41FA5}">
                      <a16:colId xmlns:a16="http://schemas.microsoft.com/office/drawing/2014/main" val="2527660299"/>
                    </a:ext>
                  </a:extLst>
                </a:gridCol>
                <a:gridCol w="405038">
                  <a:extLst>
                    <a:ext uri="{9D8B030D-6E8A-4147-A177-3AD203B41FA5}">
                      <a16:colId xmlns:a16="http://schemas.microsoft.com/office/drawing/2014/main" val="3641075278"/>
                    </a:ext>
                  </a:extLst>
                </a:gridCol>
                <a:gridCol w="327695">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7" name="表格 6">
            <a:extLst>
              <a:ext uri="{FF2B5EF4-FFF2-40B4-BE49-F238E27FC236}">
                <a16:creationId xmlns:a16="http://schemas.microsoft.com/office/drawing/2014/main" id="{8C9C71E2-C61C-57BF-91D8-83881D2E1A23}"/>
              </a:ext>
            </a:extLst>
          </p:cNvPr>
          <p:cNvGraphicFramePr>
            <a:graphicFrameLocks noGrp="1"/>
          </p:cNvGraphicFramePr>
          <p:nvPr>
            <p:extLst>
              <p:ext uri="{D42A27DB-BD31-4B8C-83A1-F6EECF244321}">
                <p14:modId xmlns:p14="http://schemas.microsoft.com/office/powerpoint/2010/main" val="1287248622"/>
              </p:ext>
            </p:extLst>
          </p:nvPr>
        </p:nvGraphicFramePr>
        <p:xfrm>
          <a:off x="6285054" y="5478572"/>
          <a:ext cx="5822875" cy="1143743"/>
        </p:xfrm>
        <a:graphic>
          <a:graphicData uri="http://schemas.openxmlformats.org/drawingml/2006/table">
            <a:tbl>
              <a:tblPr/>
              <a:tblGrid>
                <a:gridCol w="459067">
                  <a:extLst>
                    <a:ext uri="{9D8B030D-6E8A-4147-A177-3AD203B41FA5}">
                      <a16:colId xmlns:a16="http://schemas.microsoft.com/office/drawing/2014/main" val="495084399"/>
                    </a:ext>
                  </a:extLst>
                </a:gridCol>
                <a:gridCol w="254421">
                  <a:extLst>
                    <a:ext uri="{9D8B030D-6E8A-4147-A177-3AD203B41FA5}">
                      <a16:colId xmlns:a16="http://schemas.microsoft.com/office/drawing/2014/main" val="3614210242"/>
                    </a:ext>
                  </a:extLst>
                </a:gridCol>
                <a:gridCol w="626599">
                  <a:extLst>
                    <a:ext uri="{9D8B030D-6E8A-4147-A177-3AD203B41FA5}">
                      <a16:colId xmlns:a16="http://schemas.microsoft.com/office/drawing/2014/main" val="1442124609"/>
                    </a:ext>
                  </a:extLst>
                </a:gridCol>
                <a:gridCol w="1992512">
                  <a:extLst>
                    <a:ext uri="{9D8B030D-6E8A-4147-A177-3AD203B41FA5}">
                      <a16:colId xmlns:a16="http://schemas.microsoft.com/office/drawing/2014/main" val="3603859997"/>
                    </a:ext>
                  </a:extLst>
                </a:gridCol>
                <a:gridCol w="374543">
                  <a:extLst>
                    <a:ext uri="{9D8B030D-6E8A-4147-A177-3AD203B41FA5}">
                      <a16:colId xmlns:a16="http://schemas.microsoft.com/office/drawing/2014/main" val="4076488391"/>
                    </a:ext>
                  </a:extLst>
                </a:gridCol>
                <a:gridCol w="383235">
                  <a:extLst>
                    <a:ext uri="{9D8B030D-6E8A-4147-A177-3AD203B41FA5}">
                      <a16:colId xmlns:a16="http://schemas.microsoft.com/office/drawing/2014/main" val="3254101706"/>
                    </a:ext>
                  </a:extLst>
                </a:gridCol>
                <a:gridCol w="388741">
                  <a:extLst>
                    <a:ext uri="{9D8B030D-6E8A-4147-A177-3AD203B41FA5}">
                      <a16:colId xmlns:a16="http://schemas.microsoft.com/office/drawing/2014/main" val="3712391277"/>
                    </a:ext>
                  </a:extLst>
                </a:gridCol>
                <a:gridCol w="288778">
                  <a:extLst>
                    <a:ext uri="{9D8B030D-6E8A-4147-A177-3AD203B41FA5}">
                      <a16:colId xmlns:a16="http://schemas.microsoft.com/office/drawing/2014/main" val="1686727992"/>
                    </a:ext>
                  </a:extLst>
                </a:gridCol>
                <a:gridCol w="288778">
                  <a:extLst>
                    <a:ext uri="{9D8B030D-6E8A-4147-A177-3AD203B41FA5}">
                      <a16:colId xmlns:a16="http://schemas.microsoft.com/office/drawing/2014/main" val="2527660299"/>
                    </a:ext>
                  </a:extLst>
                </a:gridCol>
                <a:gridCol w="433168">
                  <a:extLst>
                    <a:ext uri="{9D8B030D-6E8A-4147-A177-3AD203B41FA5}">
                      <a16:colId xmlns:a16="http://schemas.microsoft.com/office/drawing/2014/main" val="3641075278"/>
                    </a:ext>
                  </a:extLst>
                </a:gridCol>
                <a:gridCol w="333033">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76113988"/>
                  </a:ext>
                </a:extLst>
              </a:tr>
            </a:tbl>
          </a:graphicData>
        </a:graphic>
      </p:graphicFrame>
      <p:graphicFrame>
        <p:nvGraphicFramePr>
          <p:cNvPr id="8" name="表格 7">
            <a:extLst>
              <a:ext uri="{FF2B5EF4-FFF2-40B4-BE49-F238E27FC236}">
                <a16:creationId xmlns:a16="http://schemas.microsoft.com/office/drawing/2014/main" id="{80AF6036-D2B9-0844-D193-BD7D13A3970F}"/>
              </a:ext>
            </a:extLst>
          </p:cNvPr>
          <p:cNvGraphicFramePr>
            <a:graphicFrameLocks noGrp="1"/>
          </p:cNvGraphicFramePr>
          <p:nvPr>
            <p:extLst>
              <p:ext uri="{D42A27DB-BD31-4B8C-83A1-F6EECF244321}">
                <p14:modId xmlns:p14="http://schemas.microsoft.com/office/powerpoint/2010/main" val="367233944"/>
              </p:ext>
            </p:extLst>
          </p:nvPr>
        </p:nvGraphicFramePr>
        <p:xfrm>
          <a:off x="6285055" y="447365"/>
          <a:ext cx="5838269" cy="1394460"/>
        </p:xfrm>
        <a:graphic>
          <a:graphicData uri="http://schemas.openxmlformats.org/drawingml/2006/table">
            <a:tbl>
              <a:tblPr firstRow="1" bandRow="1">
                <a:tableStyleId>{3C2FFA5D-87B4-456A-9821-1D502468CF0F}</a:tableStyleId>
              </a:tblPr>
              <a:tblGrid>
                <a:gridCol w="636740">
                  <a:extLst>
                    <a:ext uri="{9D8B030D-6E8A-4147-A177-3AD203B41FA5}">
                      <a16:colId xmlns:a16="http://schemas.microsoft.com/office/drawing/2014/main" val="869603910"/>
                    </a:ext>
                  </a:extLst>
                </a:gridCol>
                <a:gridCol w="691117">
                  <a:extLst>
                    <a:ext uri="{9D8B030D-6E8A-4147-A177-3AD203B41FA5}">
                      <a16:colId xmlns:a16="http://schemas.microsoft.com/office/drawing/2014/main" val="238663902"/>
                    </a:ext>
                  </a:extLst>
                </a:gridCol>
                <a:gridCol w="659218">
                  <a:extLst>
                    <a:ext uri="{9D8B030D-6E8A-4147-A177-3AD203B41FA5}">
                      <a16:colId xmlns:a16="http://schemas.microsoft.com/office/drawing/2014/main" val="4114365151"/>
                    </a:ext>
                  </a:extLst>
                </a:gridCol>
                <a:gridCol w="659219">
                  <a:extLst>
                    <a:ext uri="{9D8B030D-6E8A-4147-A177-3AD203B41FA5}">
                      <a16:colId xmlns:a16="http://schemas.microsoft.com/office/drawing/2014/main" val="4075178046"/>
                    </a:ext>
                  </a:extLst>
                </a:gridCol>
                <a:gridCol w="67938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400573">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88413">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One-off</a:t>
                      </a: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88413">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9" name="对话气泡: 矩形 11">
            <a:extLst>
              <a:ext uri="{FF2B5EF4-FFF2-40B4-BE49-F238E27FC236}">
                <a16:creationId xmlns:a16="http://schemas.microsoft.com/office/drawing/2014/main" id="{24143A9A-8650-B968-5ED0-88D4B9D5F0D1}"/>
              </a:ext>
            </a:extLst>
          </p:cNvPr>
          <p:cNvSpPr/>
          <p:nvPr/>
        </p:nvSpPr>
        <p:spPr>
          <a:xfrm>
            <a:off x="-1278925" y="5032521"/>
            <a:ext cx="1307455" cy="1941861"/>
          </a:xfrm>
          <a:prstGeom prst="wedgeRectCallout">
            <a:avLst>
              <a:gd name="adj1" fmla="val 93602"/>
              <a:gd name="adj2" fmla="val 3226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Interco billing, ARS was recognized as service since one-off billing(which was different from BRIM)</a:t>
            </a:r>
          </a:p>
        </p:txBody>
      </p:sp>
    </p:spTree>
    <p:extLst>
      <p:ext uri="{BB962C8B-B14F-4D97-AF65-F5344CB8AC3E}">
        <p14:creationId xmlns:p14="http://schemas.microsoft.com/office/powerpoint/2010/main" val="364866798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2FFBA08-FA6E-A4F1-87B4-A5E8F1A1CAAE}"/>
            </a:ext>
          </a:extLst>
        </p:cNvPr>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FE0AF3D2-21EC-AD0C-343A-CA9B8F17543E}"/>
              </a:ext>
            </a:extLst>
          </p:cNvPr>
          <p:cNvGraphicFramePr>
            <a:graphicFrameLocks noGrp="1"/>
          </p:cNvGraphicFramePr>
          <p:nvPr/>
        </p:nvGraphicFramePr>
        <p:xfrm>
          <a:off x="68678" y="1857265"/>
          <a:ext cx="5838266" cy="2503796"/>
        </p:xfrm>
        <a:graphic>
          <a:graphicData uri="http://schemas.openxmlformats.org/drawingml/2006/table">
            <a:tbl>
              <a:tblPr/>
              <a:tblGrid>
                <a:gridCol w="448093">
                  <a:extLst>
                    <a:ext uri="{9D8B030D-6E8A-4147-A177-3AD203B41FA5}">
                      <a16:colId xmlns:a16="http://schemas.microsoft.com/office/drawing/2014/main" val="495084399"/>
                    </a:ext>
                  </a:extLst>
                </a:gridCol>
                <a:gridCol w="239058">
                  <a:extLst>
                    <a:ext uri="{9D8B030D-6E8A-4147-A177-3AD203B41FA5}">
                      <a16:colId xmlns:a16="http://schemas.microsoft.com/office/drawing/2014/main" val="3614210242"/>
                    </a:ext>
                  </a:extLst>
                </a:gridCol>
                <a:gridCol w="560647">
                  <a:extLst>
                    <a:ext uri="{9D8B030D-6E8A-4147-A177-3AD203B41FA5}">
                      <a16:colId xmlns:a16="http://schemas.microsoft.com/office/drawing/2014/main" val="1442124609"/>
                    </a:ext>
                  </a:extLst>
                </a:gridCol>
                <a:gridCol w="1983024">
                  <a:extLst>
                    <a:ext uri="{9D8B030D-6E8A-4147-A177-3AD203B41FA5}">
                      <a16:colId xmlns:a16="http://schemas.microsoft.com/office/drawing/2014/main" val="3603859997"/>
                    </a:ext>
                  </a:extLst>
                </a:gridCol>
                <a:gridCol w="350492">
                  <a:extLst>
                    <a:ext uri="{9D8B030D-6E8A-4147-A177-3AD203B41FA5}">
                      <a16:colId xmlns:a16="http://schemas.microsoft.com/office/drawing/2014/main" val="4076488391"/>
                    </a:ext>
                  </a:extLst>
                </a:gridCol>
                <a:gridCol w="350492">
                  <a:extLst>
                    <a:ext uri="{9D8B030D-6E8A-4147-A177-3AD203B41FA5}">
                      <a16:colId xmlns:a16="http://schemas.microsoft.com/office/drawing/2014/main" val="3254101706"/>
                    </a:ext>
                  </a:extLst>
                </a:gridCol>
                <a:gridCol w="345989">
                  <a:extLst>
                    <a:ext uri="{9D8B030D-6E8A-4147-A177-3AD203B41FA5}">
                      <a16:colId xmlns:a16="http://schemas.microsoft.com/office/drawing/2014/main" val="3712391277"/>
                    </a:ext>
                  </a:extLst>
                </a:gridCol>
                <a:gridCol w="605883">
                  <a:extLst>
                    <a:ext uri="{9D8B030D-6E8A-4147-A177-3AD203B41FA5}">
                      <a16:colId xmlns:a16="http://schemas.microsoft.com/office/drawing/2014/main" val="1011381538"/>
                    </a:ext>
                  </a:extLst>
                </a:gridCol>
                <a:gridCol w="280545">
                  <a:extLst>
                    <a:ext uri="{9D8B030D-6E8A-4147-A177-3AD203B41FA5}">
                      <a16:colId xmlns:a16="http://schemas.microsoft.com/office/drawing/2014/main" val="2527660299"/>
                    </a:ext>
                  </a:extLst>
                </a:gridCol>
                <a:gridCol w="386447">
                  <a:extLst>
                    <a:ext uri="{9D8B030D-6E8A-4147-A177-3AD203B41FA5}">
                      <a16:colId xmlns:a16="http://schemas.microsoft.com/office/drawing/2014/main" val="3641075278"/>
                    </a:ext>
                  </a:extLst>
                </a:gridCol>
                <a:gridCol w="287596">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1598279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08720529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Broker Sales (applicable for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20/30/U4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a:t>
                      </a:r>
                      <a:r>
                        <a:rPr lang="en-US" sz="900" b="0" i="0" u="none" strike="noStrike" kern="1200">
                          <a:solidFill>
                            <a:srgbClr val="000000"/>
                          </a:solidFill>
                          <a:effectLst/>
                          <a:latin typeface="Arial" panose="020B0604020202020204" pitchFamily="34" charset="0"/>
                          <a:ea typeface="+mn-ea"/>
                          <a:cs typeface="+mn-cs"/>
                        </a:rPr>
                        <a:t>-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0" name="表格 29">
            <a:extLst>
              <a:ext uri="{FF2B5EF4-FFF2-40B4-BE49-F238E27FC236}">
                <a16:creationId xmlns:a16="http://schemas.microsoft.com/office/drawing/2014/main" id="{14C0E745-0CA6-D76A-FCFA-F354DB61D968}"/>
              </a:ext>
            </a:extLst>
          </p:cNvPr>
          <p:cNvGraphicFramePr>
            <a:graphicFrameLocks noGrp="1"/>
          </p:cNvGraphicFramePr>
          <p:nvPr/>
        </p:nvGraphicFramePr>
        <p:xfrm>
          <a:off x="68678" y="431020"/>
          <a:ext cx="5838269" cy="1394460"/>
        </p:xfrm>
        <a:graphic>
          <a:graphicData uri="http://schemas.openxmlformats.org/drawingml/2006/table">
            <a:tbl>
              <a:tblPr firstRow="1" bandRow="1">
                <a:tableStyleId>{3C2FFA5D-87B4-456A-9821-1D502468CF0F}</a:tableStyleId>
              </a:tblPr>
              <a:tblGrid>
                <a:gridCol w="676206">
                  <a:extLst>
                    <a:ext uri="{9D8B030D-6E8A-4147-A177-3AD203B41FA5}">
                      <a16:colId xmlns:a16="http://schemas.microsoft.com/office/drawing/2014/main" val="869603910"/>
                    </a:ext>
                  </a:extLst>
                </a:gridCol>
                <a:gridCol w="600695">
                  <a:extLst>
                    <a:ext uri="{9D8B030D-6E8A-4147-A177-3AD203B41FA5}">
                      <a16:colId xmlns:a16="http://schemas.microsoft.com/office/drawing/2014/main" val="238663902"/>
                    </a:ext>
                  </a:extLst>
                </a:gridCol>
                <a:gridCol w="616475">
                  <a:extLst>
                    <a:ext uri="{9D8B030D-6E8A-4147-A177-3AD203B41FA5}">
                      <a16:colId xmlns:a16="http://schemas.microsoft.com/office/drawing/2014/main" val="4114365151"/>
                    </a:ext>
                  </a:extLst>
                </a:gridCol>
                <a:gridCol w="649158">
                  <a:extLst>
                    <a:ext uri="{9D8B030D-6E8A-4147-A177-3AD203B41FA5}">
                      <a16:colId xmlns:a16="http://schemas.microsoft.com/office/drawing/2014/main" val="4075178046"/>
                    </a:ext>
                  </a:extLst>
                </a:gridCol>
                <a:gridCol w="78314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One-off</a:t>
                      </a: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3" name="文本框 32">
            <a:extLst>
              <a:ext uri="{FF2B5EF4-FFF2-40B4-BE49-F238E27FC236}">
                <a16:creationId xmlns:a16="http://schemas.microsoft.com/office/drawing/2014/main" id="{FB95E99F-8F5E-D8AA-5ED3-602E66EBBEB0}"/>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DaaS_AFE_MSA&amp;MLA</a:t>
            </a:r>
            <a:endParaRPr lang="zh-CN" altLang="en-US" sz="2000" b="1"/>
          </a:p>
        </p:txBody>
      </p:sp>
      <p:cxnSp>
        <p:nvCxnSpPr>
          <p:cNvPr id="4" name="直接连接符 3">
            <a:extLst>
              <a:ext uri="{FF2B5EF4-FFF2-40B4-BE49-F238E27FC236}">
                <a16:creationId xmlns:a16="http://schemas.microsoft.com/office/drawing/2014/main" id="{30B19C6D-D7BB-76DC-2A4E-3BF84D72AD60}"/>
              </a:ext>
            </a:extLst>
          </p:cNvPr>
          <p:cNvCxnSpPr>
            <a:cxnSpLocks/>
          </p:cNvCxnSpPr>
          <p:nvPr/>
        </p:nvCxnSpPr>
        <p:spPr>
          <a:xfrm>
            <a:off x="6173972"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2" name="表格 1">
            <a:extLst>
              <a:ext uri="{FF2B5EF4-FFF2-40B4-BE49-F238E27FC236}">
                <a16:creationId xmlns:a16="http://schemas.microsoft.com/office/drawing/2014/main" id="{68E9074A-2757-F7E2-0655-32C33BBD6F49}"/>
              </a:ext>
            </a:extLst>
          </p:cNvPr>
          <p:cNvGraphicFramePr>
            <a:graphicFrameLocks noGrp="1"/>
          </p:cNvGraphicFramePr>
          <p:nvPr/>
        </p:nvGraphicFramePr>
        <p:xfrm>
          <a:off x="68678" y="4392846"/>
          <a:ext cx="5838266" cy="1143743"/>
        </p:xfrm>
        <a:graphic>
          <a:graphicData uri="http://schemas.openxmlformats.org/drawingml/2006/table">
            <a:tbl>
              <a:tblPr/>
              <a:tblGrid>
                <a:gridCol w="440063">
                  <a:extLst>
                    <a:ext uri="{9D8B030D-6E8A-4147-A177-3AD203B41FA5}">
                      <a16:colId xmlns:a16="http://schemas.microsoft.com/office/drawing/2014/main" val="495084399"/>
                    </a:ext>
                  </a:extLst>
                </a:gridCol>
                <a:gridCol w="270923">
                  <a:extLst>
                    <a:ext uri="{9D8B030D-6E8A-4147-A177-3AD203B41FA5}">
                      <a16:colId xmlns:a16="http://schemas.microsoft.com/office/drawing/2014/main" val="3614210242"/>
                    </a:ext>
                  </a:extLst>
                </a:gridCol>
                <a:gridCol w="624470">
                  <a:extLst>
                    <a:ext uri="{9D8B030D-6E8A-4147-A177-3AD203B41FA5}">
                      <a16:colId xmlns:a16="http://schemas.microsoft.com/office/drawing/2014/main" val="1442124609"/>
                    </a:ext>
                  </a:extLst>
                </a:gridCol>
                <a:gridCol w="1960102">
                  <a:extLst>
                    <a:ext uri="{9D8B030D-6E8A-4147-A177-3AD203B41FA5}">
                      <a16:colId xmlns:a16="http://schemas.microsoft.com/office/drawing/2014/main" val="3603859997"/>
                    </a:ext>
                  </a:extLst>
                </a:gridCol>
                <a:gridCol w="312479">
                  <a:extLst>
                    <a:ext uri="{9D8B030D-6E8A-4147-A177-3AD203B41FA5}">
                      <a16:colId xmlns:a16="http://schemas.microsoft.com/office/drawing/2014/main" val="4076488391"/>
                    </a:ext>
                  </a:extLst>
                </a:gridCol>
                <a:gridCol w="441761">
                  <a:extLst>
                    <a:ext uri="{9D8B030D-6E8A-4147-A177-3AD203B41FA5}">
                      <a16:colId xmlns:a16="http://schemas.microsoft.com/office/drawing/2014/main" val="3254101706"/>
                    </a:ext>
                  </a:extLst>
                </a:gridCol>
                <a:gridCol w="408630">
                  <a:extLst>
                    <a:ext uri="{9D8B030D-6E8A-4147-A177-3AD203B41FA5}">
                      <a16:colId xmlns:a16="http://schemas.microsoft.com/office/drawing/2014/main" val="3712391277"/>
                    </a:ext>
                  </a:extLst>
                </a:gridCol>
                <a:gridCol w="298189">
                  <a:extLst>
                    <a:ext uri="{9D8B030D-6E8A-4147-A177-3AD203B41FA5}">
                      <a16:colId xmlns:a16="http://schemas.microsoft.com/office/drawing/2014/main" val="1008187684"/>
                    </a:ext>
                  </a:extLst>
                </a:gridCol>
                <a:gridCol w="298189">
                  <a:extLst>
                    <a:ext uri="{9D8B030D-6E8A-4147-A177-3AD203B41FA5}">
                      <a16:colId xmlns:a16="http://schemas.microsoft.com/office/drawing/2014/main" val="2527660299"/>
                    </a:ext>
                  </a:extLst>
                </a:gridCol>
                <a:gridCol w="430224">
                  <a:extLst>
                    <a:ext uri="{9D8B030D-6E8A-4147-A177-3AD203B41FA5}">
                      <a16:colId xmlns:a16="http://schemas.microsoft.com/office/drawing/2014/main" val="3641075278"/>
                    </a:ext>
                  </a:extLst>
                </a:gridCol>
                <a:gridCol w="353236">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3" name="表格 2">
            <a:extLst>
              <a:ext uri="{FF2B5EF4-FFF2-40B4-BE49-F238E27FC236}">
                <a16:creationId xmlns:a16="http://schemas.microsoft.com/office/drawing/2014/main" id="{7A6E324C-CAFE-177D-016F-0680147FBC81}"/>
              </a:ext>
            </a:extLst>
          </p:cNvPr>
          <p:cNvGraphicFramePr>
            <a:graphicFrameLocks noGrp="1"/>
          </p:cNvGraphicFramePr>
          <p:nvPr/>
        </p:nvGraphicFramePr>
        <p:xfrm>
          <a:off x="84071" y="5572705"/>
          <a:ext cx="5838261" cy="1143743"/>
        </p:xfrm>
        <a:graphic>
          <a:graphicData uri="http://schemas.openxmlformats.org/drawingml/2006/table">
            <a:tbl>
              <a:tblPr/>
              <a:tblGrid>
                <a:gridCol w="456019">
                  <a:extLst>
                    <a:ext uri="{9D8B030D-6E8A-4147-A177-3AD203B41FA5}">
                      <a16:colId xmlns:a16="http://schemas.microsoft.com/office/drawing/2014/main" val="495084399"/>
                    </a:ext>
                  </a:extLst>
                </a:gridCol>
                <a:gridCol w="242295">
                  <a:extLst>
                    <a:ext uri="{9D8B030D-6E8A-4147-A177-3AD203B41FA5}">
                      <a16:colId xmlns:a16="http://schemas.microsoft.com/office/drawing/2014/main" val="3614210242"/>
                    </a:ext>
                  </a:extLst>
                </a:gridCol>
                <a:gridCol w="596734">
                  <a:extLst>
                    <a:ext uri="{9D8B030D-6E8A-4147-A177-3AD203B41FA5}">
                      <a16:colId xmlns:a16="http://schemas.microsoft.com/office/drawing/2014/main" val="1442124609"/>
                    </a:ext>
                  </a:extLst>
                </a:gridCol>
                <a:gridCol w="1983627">
                  <a:extLst>
                    <a:ext uri="{9D8B030D-6E8A-4147-A177-3AD203B41FA5}">
                      <a16:colId xmlns:a16="http://schemas.microsoft.com/office/drawing/2014/main" val="3603859997"/>
                    </a:ext>
                  </a:extLst>
                </a:gridCol>
                <a:gridCol w="475988">
                  <a:extLst>
                    <a:ext uri="{9D8B030D-6E8A-4147-A177-3AD203B41FA5}">
                      <a16:colId xmlns:a16="http://schemas.microsoft.com/office/drawing/2014/main" val="4076488391"/>
                    </a:ext>
                  </a:extLst>
                </a:gridCol>
                <a:gridCol w="433677">
                  <a:extLst>
                    <a:ext uri="{9D8B030D-6E8A-4147-A177-3AD203B41FA5}">
                      <a16:colId xmlns:a16="http://schemas.microsoft.com/office/drawing/2014/main" val="3254101706"/>
                    </a:ext>
                  </a:extLst>
                </a:gridCol>
                <a:gridCol w="370212">
                  <a:extLst>
                    <a:ext uri="{9D8B030D-6E8A-4147-A177-3AD203B41FA5}">
                      <a16:colId xmlns:a16="http://schemas.microsoft.com/office/drawing/2014/main" val="3712391277"/>
                    </a:ext>
                  </a:extLst>
                </a:gridCol>
                <a:gridCol w="275014">
                  <a:extLst>
                    <a:ext uri="{9D8B030D-6E8A-4147-A177-3AD203B41FA5}">
                      <a16:colId xmlns:a16="http://schemas.microsoft.com/office/drawing/2014/main" val="3643425350"/>
                    </a:ext>
                  </a:extLst>
                </a:gridCol>
                <a:gridCol w="275014">
                  <a:extLst>
                    <a:ext uri="{9D8B030D-6E8A-4147-A177-3AD203B41FA5}">
                      <a16:colId xmlns:a16="http://schemas.microsoft.com/office/drawing/2014/main" val="2527660299"/>
                    </a:ext>
                  </a:extLst>
                </a:gridCol>
                <a:gridCol w="412522">
                  <a:extLst>
                    <a:ext uri="{9D8B030D-6E8A-4147-A177-3AD203B41FA5}">
                      <a16:colId xmlns:a16="http://schemas.microsoft.com/office/drawing/2014/main" val="3641075278"/>
                    </a:ext>
                  </a:extLst>
                </a:gridCol>
                <a:gridCol w="317159">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5" name="表格 4">
            <a:extLst>
              <a:ext uri="{FF2B5EF4-FFF2-40B4-BE49-F238E27FC236}">
                <a16:creationId xmlns:a16="http://schemas.microsoft.com/office/drawing/2014/main" id="{CF7ECC43-F738-D03D-AE8D-A5C51DE15585}"/>
              </a:ext>
            </a:extLst>
          </p:cNvPr>
          <p:cNvGraphicFramePr>
            <a:graphicFrameLocks noGrp="1"/>
          </p:cNvGraphicFramePr>
          <p:nvPr/>
        </p:nvGraphicFramePr>
        <p:xfrm>
          <a:off x="6285054" y="1884391"/>
          <a:ext cx="5838265" cy="2389863"/>
        </p:xfrm>
        <a:graphic>
          <a:graphicData uri="http://schemas.openxmlformats.org/drawingml/2006/table">
            <a:tbl>
              <a:tblPr/>
              <a:tblGrid>
                <a:gridCol w="440413">
                  <a:extLst>
                    <a:ext uri="{9D8B030D-6E8A-4147-A177-3AD203B41FA5}">
                      <a16:colId xmlns:a16="http://schemas.microsoft.com/office/drawing/2014/main" val="495084399"/>
                    </a:ext>
                  </a:extLst>
                </a:gridCol>
                <a:gridCol w="234961">
                  <a:extLst>
                    <a:ext uri="{9D8B030D-6E8A-4147-A177-3AD203B41FA5}">
                      <a16:colId xmlns:a16="http://schemas.microsoft.com/office/drawing/2014/main" val="3614210242"/>
                    </a:ext>
                  </a:extLst>
                </a:gridCol>
                <a:gridCol w="551037">
                  <a:extLst>
                    <a:ext uri="{9D8B030D-6E8A-4147-A177-3AD203B41FA5}">
                      <a16:colId xmlns:a16="http://schemas.microsoft.com/office/drawing/2014/main" val="1442124609"/>
                    </a:ext>
                  </a:extLst>
                </a:gridCol>
                <a:gridCol w="2049105">
                  <a:extLst>
                    <a:ext uri="{9D8B030D-6E8A-4147-A177-3AD203B41FA5}">
                      <a16:colId xmlns:a16="http://schemas.microsoft.com/office/drawing/2014/main" val="3603859997"/>
                    </a:ext>
                  </a:extLst>
                </a:gridCol>
                <a:gridCol w="344484">
                  <a:extLst>
                    <a:ext uri="{9D8B030D-6E8A-4147-A177-3AD203B41FA5}">
                      <a16:colId xmlns:a16="http://schemas.microsoft.com/office/drawing/2014/main" val="4076488391"/>
                    </a:ext>
                  </a:extLst>
                </a:gridCol>
                <a:gridCol w="344484">
                  <a:extLst>
                    <a:ext uri="{9D8B030D-6E8A-4147-A177-3AD203B41FA5}">
                      <a16:colId xmlns:a16="http://schemas.microsoft.com/office/drawing/2014/main" val="3254101706"/>
                    </a:ext>
                  </a:extLst>
                </a:gridCol>
                <a:gridCol w="340059">
                  <a:extLst>
                    <a:ext uri="{9D8B030D-6E8A-4147-A177-3AD203B41FA5}">
                      <a16:colId xmlns:a16="http://schemas.microsoft.com/office/drawing/2014/main" val="3712391277"/>
                    </a:ext>
                  </a:extLst>
                </a:gridCol>
                <a:gridCol w="595497">
                  <a:extLst>
                    <a:ext uri="{9D8B030D-6E8A-4147-A177-3AD203B41FA5}">
                      <a16:colId xmlns:a16="http://schemas.microsoft.com/office/drawing/2014/main" val="3103572076"/>
                    </a:ext>
                  </a:extLst>
                </a:gridCol>
                <a:gridCol w="275736">
                  <a:extLst>
                    <a:ext uri="{9D8B030D-6E8A-4147-A177-3AD203B41FA5}">
                      <a16:colId xmlns:a16="http://schemas.microsoft.com/office/drawing/2014/main" val="2527660299"/>
                    </a:ext>
                  </a:extLst>
                </a:gridCol>
                <a:gridCol w="379823">
                  <a:extLst>
                    <a:ext uri="{9D8B030D-6E8A-4147-A177-3AD203B41FA5}">
                      <a16:colId xmlns:a16="http://schemas.microsoft.com/office/drawing/2014/main" val="3641075278"/>
                    </a:ext>
                  </a:extLst>
                </a:gridCol>
                <a:gridCol w="282666">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Finance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6226163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for No Device return)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4312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6" name="表格 5">
            <a:extLst>
              <a:ext uri="{FF2B5EF4-FFF2-40B4-BE49-F238E27FC236}">
                <a16:creationId xmlns:a16="http://schemas.microsoft.com/office/drawing/2014/main" id="{F10F7E5A-134C-219F-18B5-D28F303FE0D9}"/>
              </a:ext>
            </a:extLst>
          </p:cNvPr>
          <p:cNvGraphicFramePr>
            <a:graphicFrameLocks noGrp="1"/>
          </p:cNvGraphicFramePr>
          <p:nvPr/>
        </p:nvGraphicFramePr>
        <p:xfrm>
          <a:off x="6285054" y="4287248"/>
          <a:ext cx="5838266" cy="1143743"/>
        </p:xfrm>
        <a:graphic>
          <a:graphicData uri="http://schemas.openxmlformats.org/drawingml/2006/table">
            <a:tbl>
              <a:tblPr/>
              <a:tblGrid>
                <a:gridCol w="444902">
                  <a:extLst>
                    <a:ext uri="{9D8B030D-6E8A-4147-A177-3AD203B41FA5}">
                      <a16:colId xmlns:a16="http://schemas.microsoft.com/office/drawing/2014/main" val="495084399"/>
                    </a:ext>
                  </a:extLst>
                </a:gridCol>
                <a:gridCol w="323783">
                  <a:extLst>
                    <a:ext uri="{9D8B030D-6E8A-4147-A177-3AD203B41FA5}">
                      <a16:colId xmlns:a16="http://schemas.microsoft.com/office/drawing/2014/main" val="3614210242"/>
                    </a:ext>
                  </a:extLst>
                </a:gridCol>
                <a:gridCol w="579317">
                  <a:extLst>
                    <a:ext uri="{9D8B030D-6E8A-4147-A177-3AD203B41FA5}">
                      <a16:colId xmlns:a16="http://schemas.microsoft.com/office/drawing/2014/main" val="1442124609"/>
                    </a:ext>
                  </a:extLst>
                </a:gridCol>
                <a:gridCol w="1851874">
                  <a:extLst>
                    <a:ext uri="{9D8B030D-6E8A-4147-A177-3AD203B41FA5}">
                      <a16:colId xmlns:a16="http://schemas.microsoft.com/office/drawing/2014/main" val="3603859997"/>
                    </a:ext>
                  </a:extLst>
                </a:gridCol>
                <a:gridCol w="461047">
                  <a:extLst>
                    <a:ext uri="{9D8B030D-6E8A-4147-A177-3AD203B41FA5}">
                      <a16:colId xmlns:a16="http://schemas.microsoft.com/office/drawing/2014/main" val="4076488391"/>
                    </a:ext>
                  </a:extLst>
                </a:gridCol>
                <a:gridCol w="409819">
                  <a:extLst>
                    <a:ext uri="{9D8B030D-6E8A-4147-A177-3AD203B41FA5}">
                      <a16:colId xmlns:a16="http://schemas.microsoft.com/office/drawing/2014/main" val="3254101706"/>
                    </a:ext>
                  </a:extLst>
                </a:gridCol>
                <a:gridCol w="379082">
                  <a:extLst>
                    <a:ext uri="{9D8B030D-6E8A-4147-A177-3AD203B41FA5}">
                      <a16:colId xmlns:a16="http://schemas.microsoft.com/office/drawing/2014/main" val="3712391277"/>
                    </a:ext>
                  </a:extLst>
                </a:gridCol>
                <a:gridCol w="379082">
                  <a:extLst>
                    <a:ext uri="{9D8B030D-6E8A-4147-A177-3AD203B41FA5}">
                      <a16:colId xmlns:a16="http://schemas.microsoft.com/office/drawing/2014/main" val="682419283"/>
                    </a:ext>
                  </a:extLst>
                </a:gridCol>
                <a:gridCol w="276627">
                  <a:extLst>
                    <a:ext uri="{9D8B030D-6E8A-4147-A177-3AD203B41FA5}">
                      <a16:colId xmlns:a16="http://schemas.microsoft.com/office/drawing/2014/main" val="2527660299"/>
                    </a:ext>
                  </a:extLst>
                </a:gridCol>
                <a:gridCol w="405038">
                  <a:extLst>
                    <a:ext uri="{9D8B030D-6E8A-4147-A177-3AD203B41FA5}">
                      <a16:colId xmlns:a16="http://schemas.microsoft.com/office/drawing/2014/main" val="3641075278"/>
                    </a:ext>
                  </a:extLst>
                </a:gridCol>
                <a:gridCol w="327695">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7" name="表格 6">
            <a:extLst>
              <a:ext uri="{FF2B5EF4-FFF2-40B4-BE49-F238E27FC236}">
                <a16:creationId xmlns:a16="http://schemas.microsoft.com/office/drawing/2014/main" id="{74C37F74-71F8-7276-67CB-3B000159F352}"/>
              </a:ext>
            </a:extLst>
          </p:cNvPr>
          <p:cNvGraphicFramePr>
            <a:graphicFrameLocks noGrp="1"/>
          </p:cNvGraphicFramePr>
          <p:nvPr/>
        </p:nvGraphicFramePr>
        <p:xfrm>
          <a:off x="6285054" y="5478572"/>
          <a:ext cx="5822875" cy="1143743"/>
        </p:xfrm>
        <a:graphic>
          <a:graphicData uri="http://schemas.openxmlformats.org/drawingml/2006/table">
            <a:tbl>
              <a:tblPr/>
              <a:tblGrid>
                <a:gridCol w="459067">
                  <a:extLst>
                    <a:ext uri="{9D8B030D-6E8A-4147-A177-3AD203B41FA5}">
                      <a16:colId xmlns:a16="http://schemas.microsoft.com/office/drawing/2014/main" val="495084399"/>
                    </a:ext>
                  </a:extLst>
                </a:gridCol>
                <a:gridCol w="254421">
                  <a:extLst>
                    <a:ext uri="{9D8B030D-6E8A-4147-A177-3AD203B41FA5}">
                      <a16:colId xmlns:a16="http://schemas.microsoft.com/office/drawing/2014/main" val="3614210242"/>
                    </a:ext>
                  </a:extLst>
                </a:gridCol>
                <a:gridCol w="626599">
                  <a:extLst>
                    <a:ext uri="{9D8B030D-6E8A-4147-A177-3AD203B41FA5}">
                      <a16:colId xmlns:a16="http://schemas.microsoft.com/office/drawing/2014/main" val="1442124609"/>
                    </a:ext>
                  </a:extLst>
                </a:gridCol>
                <a:gridCol w="1992512">
                  <a:extLst>
                    <a:ext uri="{9D8B030D-6E8A-4147-A177-3AD203B41FA5}">
                      <a16:colId xmlns:a16="http://schemas.microsoft.com/office/drawing/2014/main" val="3603859997"/>
                    </a:ext>
                  </a:extLst>
                </a:gridCol>
                <a:gridCol w="374543">
                  <a:extLst>
                    <a:ext uri="{9D8B030D-6E8A-4147-A177-3AD203B41FA5}">
                      <a16:colId xmlns:a16="http://schemas.microsoft.com/office/drawing/2014/main" val="4076488391"/>
                    </a:ext>
                  </a:extLst>
                </a:gridCol>
                <a:gridCol w="383235">
                  <a:extLst>
                    <a:ext uri="{9D8B030D-6E8A-4147-A177-3AD203B41FA5}">
                      <a16:colId xmlns:a16="http://schemas.microsoft.com/office/drawing/2014/main" val="3254101706"/>
                    </a:ext>
                  </a:extLst>
                </a:gridCol>
                <a:gridCol w="388741">
                  <a:extLst>
                    <a:ext uri="{9D8B030D-6E8A-4147-A177-3AD203B41FA5}">
                      <a16:colId xmlns:a16="http://schemas.microsoft.com/office/drawing/2014/main" val="3712391277"/>
                    </a:ext>
                  </a:extLst>
                </a:gridCol>
                <a:gridCol w="288778">
                  <a:extLst>
                    <a:ext uri="{9D8B030D-6E8A-4147-A177-3AD203B41FA5}">
                      <a16:colId xmlns:a16="http://schemas.microsoft.com/office/drawing/2014/main" val="1686727992"/>
                    </a:ext>
                  </a:extLst>
                </a:gridCol>
                <a:gridCol w="288778">
                  <a:extLst>
                    <a:ext uri="{9D8B030D-6E8A-4147-A177-3AD203B41FA5}">
                      <a16:colId xmlns:a16="http://schemas.microsoft.com/office/drawing/2014/main" val="2527660299"/>
                    </a:ext>
                  </a:extLst>
                </a:gridCol>
                <a:gridCol w="433168">
                  <a:extLst>
                    <a:ext uri="{9D8B030D-6E8A-4147-A177-3AD203B41FA5}">
                      <a16:colId xmlns:a16="http://schemas.microsoft.com/office/drawing/2014/main" val="3641075278"/>
                    </a:ext>
                  </a:extLst>
                </a:gridCol>
                <a:gridCol w="333033">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8" name="表格 7">
            <a:extLst>
              <a:ext uri="{FF2B5EF4-FFF2-40B4-BE49-F238E27FC236}">
                <a16:creationId xmlns:a16="http://schemas.microsoft.com/office/drawing/2014/main" id="{33311C98-EFFF-41D7-3115-B2CC17282F72}"/>
              </a:ext>
            </a:extLst>
          </p:cNvPr>
          <p:cNvGraphicFramePr>
            <a:graphicFrameLocks noGrp="1"/>
          </p:cNvGraphicFramePr>
          <p:nvPr/>
        </p:nvGraphicFramePr>
        <p:xfrm>
          <a:off x="6285055" y="447365"/>
          <a:ext cx="5838269" cy="1394460"/>
        </p:xfrm>
        <a:graphic>
          <a:graphicData uri="http://schemas.openxmlformats.org/drawingml/2006/table">
            <a:tbl>
              <a:tblPr firstRow="1" bandRow="1">
                <a:tableStyleId>{3C2FFA5D-87B4-456A-9821-1D502468CF0F}</a:tableStyleId>
              </a:tblPr>
              <a:tblGrid>
                <a:gridCol w="636740">
                  <a:extLst>
                    <a:ext uri="{9D8B030D-6E8A-4147-A177-3AD203B41FA5}">
                      <a16:colId xmlns:a16="http://schemas.microsoft.com/office/drawing/2014/main" val="869603910"/>
                    </a:ext>
                  </a:extLst>
                </a:gridCol>
                <a:gridCol w="691117">
                  <a:extLst>
                    <a:ext uri="{9D8B030D-6E8A-4147-A177-3AD203B41FA5}">
                      <a16:colId xmlns:a16="http://schemas.microsoft.com/office/drawing/2014/main" val="238663902"/>
                    </a:ext>
                  </a:extLst>
                </a:gridCol>
                <a:gridCol w="659218">
                  <a:extLst>
                    <a:ext uri="{9D8B030D-6E8A-4147-A177-3AD203B41FA5}">
                      <a16:colId xmlns:a16="http://schemas.microsoft.com/office/drawing/2014/main" val="4114365151"/>
                    </a:ext>
                  </a:extLst>
                </a:gridCol>
                <a:gridCol w="659219">
                  <a:extLst>
                    <a:ext uri="{9D8B030D-6E8A-4147-A177-3AD203B41FA5}">
                      <a16:colId xmlns:a16="http://schemas.microsoft.com/office/drawing/2014/main" val="4075178046"/>
                    </a:ext>
                  </a:extLst>
                </a:gridCol>
                <a:gridCol w="67938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400573">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88413">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One-off</a:t>
                      </a: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88413">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Tree>
    <p:extLst>
      <p:ext uri="{BB962C8B-B14F-4D97-AF65-F5344CB8AC3E}">
        <p14:creationId xmlns:p14="http://schemas.microsoft.com/office/powerpoint/2010/main" val="334213048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A9EBF0-D61E-8968-F8DD-2625A69966EC}"/>
            </a:ext>
          </a:extLst>
        </p:cNvPr>
        <p:cNvGrpSpPr/>
        <p:nvPr/>
      </p:nvGrpSpPr>
      <p:grpSpPr>
        <a:xfrm>
          <a:off x="0" y="0"/>
          <a:ext cx="0" cy="0"/>
          <a:chOff x="0" y="0"/>
          <a:chExt cx="0" cy="0"/>
        </a:xfrm>
      </p:grpSpPr>
      <p:sp>
        <p:nvSpPr>
          <p:cNvPr id="33" name="文本框 32">
            <a:extLst>
              <a:ext uri="{FF2B5EF4-FFF2-40B4-BE49-F238E27FC236}">
                <a16:creationId xmlns:a16="http://schemas.microsoft.com/office/drawing/2014/main" id="{F07232E4-144E-561E-ED63-9FA6449BEED5}"/>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DaaS_AFE_MSA&amp;MLA</a:t>
            </a:r>
            <a:endParaRPr lang="zh-CN" altLang="en-US" sz="2000" b="1"/>
          </a:p>
        </p:txBody>
      </p:sp>
      <p:graphicFrame>
        <p:nvGraphicFramePr>
          <p:cNvPr id="5" name="表格 4">
            <a:extLst>
              <a:ext uri="{FF2B5EF4-FFF2-40B4-BE49-F238E27FC236}">
                <a16:creationId xmlns:a16="http://schemas.microsoft.com/office/drawing/2014/main" id="{CEF3056D-6536-F3AC-B462-B4B0F872B82E}"/>
              </a:ext>
            </a:extLst>
          </p:cNvPr>
          <p:cNvGraphicFramePr>
            <a:graphicFrameLocks noGrp="1"/>
          </p:cNvGraphicFramePr>
          <p:nvPr>
            <p:extLst>
              <p:ext uri="{D42A27DB-BD31-4B8C-83A1-F6EECF244321}">
                <p14:modId xmlns:p14="http://schemas.microsoft.com/office/powerpoint/2010/main" val="3494300833"/>
              </p:ext>
            </p:extLst>
          </p:nvPr>
        </p:nvGraphicFramePr>
        <p:xfrm>
          <a:off x="6210625" y="436369"/>
          <a:ext cx="7416488" cy="2739289"/>
        </p:xfrm>
        <a:graphic>
          <a:graphicData uri="http://schemas.openxmlformats.org/drawingml/2006/table">
            <a:tbl>
              <a:tblPr/>
              <a:tblGrid>
                <a:gridCol w="440413">
                  <a:extLst>
                    <a:ext uri="{9D8B030D-6E8A-4147-A177-3AD203B41FA5}">
                      <a16:colId xmlns:a16="http://schemas.microsoft.com/office/drawing/2014/main" val="495084399"/>
                    </a:ext>
                  </a:extLst>
                </a:gridCol>
                <a:gridCol w="234961">
                  <a:extLst>
                    <a:ext uri="{9D8B030D-6E8A-4147-A177-3AD203B41FA5}">
                      <a16:colId xmlns:a16="http://schemas.microsoft.com/office/drawing/2014/main" val="3614210242"/>
                    </a:ext>
                  </a:extLst>
                </a:gridCol>
                <a:gridCol w="551037">
                  <a:extLst>
                    <a:ext uri="{9D8B030D-6E8A-4147-A177-3AD203B41FA5}">
                      <a16:colId xmlns:a16="http://schemas.microsoft.com/office/drawing/2014/main" val="1442124609"/>
                    </a:ext>
                  </a:extLst>
                </a:gridCol>
                <a:gridCol w="3505200">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05548">
                  <a:extLst>
                    <a:ext uri="{9D8B030D-6E8A-4147-A177-3AD203B41FA5}">
                      <a16:colId xmlns:a16="http://schemas.microsoft.com/office/drawing/2014/main" val="3254101706"/>
                    </a:ext>
                  </a:extLst>
                </a:gridCol>
                <a:gridCol w="340059">
                  <a:extLst>
                    <a:ext uri="{9D8B030D-6E8A-4147-A177-3AD203B41FA5}">
                      <a16:colId xmlns:a16="http://schemas.microsoft.com/office/drawing/2014/main" val="3712391277"/>
                    </a:ext>
                  </a:extLst>
                </a:gridCol>
                <a:gridCol w="595497">
                  <a:extLst>
                    <a:ext uri="{9D8B030D-6E8A-4147-A177-3AD203B41FA5}">
                      <a16:colId xmlns:a16="http://schemas.microsoft.com/office/drawing/2014/main" val="3103572076"/>
                    </a:ext>
                  </a:extLst>
                </a:gridCol>
                <a:gridCol w="275736">
                  <a:extLst>
                    <a:ext uri="{9D8B030D-6E8A-4147-A177-3AD203B41FA5}">
                      <a16:colId xmlns:a16="http://schemas.microsoft.com/office/drawing/2014/main" val="2527660299"/>
                    </a:ext>
                  </a:extLst>
                </a:gridCol>
                <a:gridCol w="379823">
                  <a:extLst>
                    <a:ext uri="{9D8B030D-6E8A-4147-A177-3AD203B41FA5}">
                      <a16:colId xmlns:a16="http://schemas.microsoft.com/office/drawing/2014/main" val="3641075278"/>
                    </a:ext>
                  </a:extLst>
                </a:gridCol>
                <a:gridCol w="282666">
                  <a:extLst>
                    <a:ext uri="{9D8B030D-6E8A-4147-A177-3AD203B41FA5}">
                      <a16:colId xmlns:a16="http://schemas.microsoft.com/office/drawing/2014/main" val="3618613915"/>
                    </a:ext>
                  </a:extLst>
                </a:gridCol>
              </a:tblGrid>
              <a:tr h="178829">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ET Invoice issued to customer </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139.3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139.3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 Outstanding PMT(ET device return)(full</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syndication)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 – RV(ET lost) (full</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syndication)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76226163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return)(SOR)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for No Device return) (SOR)3PO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4312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3370528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Premier(Funded)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8156063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 – Premier 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bl>
          </a:graphicData>
        </a:graphic>
      </p:graphicFrame>
      <p:graphicFrame>
        <p:nvGraphicFramePr>
          <p:cNvPr id="6" name="表格 5">
            <a:extLst>
              <a:ext uri="{FF2B5EF4-FFF2-40B4-BE49-F238E27FC236}">
                <a16:creationId xmlns:a16="http://schemas.microsoft.com/office/drawing/2014/main" id="{776E828F-D1FC-AF87-4982-8618837B4A9D}"/>
              </a:ext>
            </a:extLst>
          </p:cNvPr>
          <p:cNvGraphicFramePr>
            <a:graphicFrameLocks noGrp="1"/>
          </p:cNvGraphicFramePr>
          <p:nvPr>
            <p:extLst>
              <p:ext uri="{D42A27DB-BD31-4B8C-83A1-F6EECF244321}">
                <p14:modId xmlns:p14="http://schemas.microsoft.com/office/powerpoint/2010/main" val="1585157524"/>
              </p:ext>
            </p:extLst>
          </p:nvPr>
        </p:nvGraphicFramePr>
        <p:xfrm>
          <a:off x="6210625" y="4914153"/>
          <a:ext cx="5838266" cy="1143743"/>
        </p:xfrm>
        <a:graphic>
          <a:graphicData uri="http://schemas.openxmlformats.org/drawingml/2006/table">
            <a:tbl>
              <a:tblPr/>
              <a:tblGrid>
                <a:gridCol w="444902">
                  <a:extLst>
                    <a:ext uri="{9D8B030D-6E8A-4147-A177-3AD203B41FA5}">
                      <a16:colId xmlns:a16="http://schemas.microsoft.com/office/drawing/2014/main" val="495084399"/>
                    </a:ext>
                  </a:extLst>
                </a:gridCol>
                <a:gridCol w="323783">
                  <a:extLst>
                    <a:ext uri="{9D8B030D-6E8A-4147-A177-3AD203B41FA5}">
                      <a16:colId xmlns:a16="http://schemas.microsoft.com/office/drawing/2014/main" val="3614210242"/>
                    </a:ext>
                  </a:extLst>
                </a:gridCol>
                <a:gridCol w="579317">
                  <a:extLst>
                    <a:ext uri="{9D8B030D-6E8A-4147-A177-3AD203B41FA5}">
                      <a16:colId xmlns:a16="http://schemas.microsoft.com/office/drawing/2014/main" val="1442124609"/>
                    </a:ext>
                  </a:extLst>
                </a:gridCol>
                <a:gridCol w="1851874">
                  <a:extLst>
                    <a:ext uri="{9D8B030D-6E8A-4147-A177-3AD203B41FA5}">
                      <a16:colId xmlns:a16="http://schemas.microsoft.com/office/drawing/2014/main" val="3603859997"/>
                    </a:ext>
                  </a:extLst>
                </a:gridCol>
                <a:gridCol w="461047">
                  <a:extLst>
                    <a:ext uri="{9D8B030D-6E8A-4147-A177-3AD203B41FA5}">
                      <a16:colId xmlns:a16="http://schemas.microsoft.com/office/drawing/2014/main" val="4076488391"/>
                    </a:ext>
                  </a:extLst>
                </a:gridCol>
                <a:gridCol w="409819">
                  <a:extLst>
                    <a:ext uri="{9D8B030D-6E8A-4147-A177-3AD203B41FA5}">
                      <a16:colId xmlns:a16="http://schemas.microsoft.com/office/drawing/2014/main" val="3254101706"/>
                    </a:ext>
                  </a:extLst>
                </a:gridCol>
                <a:gridCol w="379082">
                  <a:extLst>
                    <a:ext uri="{9D8B030D-6E8A-4147-A177-3AD203B41FA5}">
                      <a16:colId xmlns:a16="http://schemas.microsoft.com/office/drawing/2014/main" val="3712391277"/>
                    </a:ext>
                  </a:extLst>
                </a:gridCol>
                <a:gridCol w="379082">
                  <a:extLst>
                    <a:ext uri="{9D8B030D-6E8A-4147-A177-3AD203B41FA5}">
                      <a16:colId xmlns:a16="http://schemas.microsoft.com/office/drawing/2014/main" val="682419283"/>
                    </a:ext>
                  </a:extLst>
                </a:gridCol>
                <a:gridCol w="276627">
                  <a:extLst>
                    <a:ext uri="{9D8B030D-6E8A-4147-A177-3AD203B41FA5}">
                      <a16:colId xmlns:a16="http://schemas.microsoft.com/office/drawing/2014/main" val="2527660299"/>
                    </a:ext>
                  </a:extLst>
                </a:gridCol>
                <a:gridCol w="405038">
                  <a:extLst>
                    <a:ext uri="{9D8B030D-6E8A-4147-A177-3AD203B41FA5}">
                      <a16:colId xmlns:a16="http://schemas.microsoft.com/office/drawing/2014/main" val="3641075278"/>
                    </a:ext>
                  </a:extLst>
                </a:gridCol>
                <a:gridCol w="327695">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7" name="表格 6">
            <a:extLst>
              <a:ext uri="{FF2B5EF4-FFF2-40B4-BE49-F238E27FC236}">
                <a16:creationId xmlns:a16="http://schemas.microsoft.com/office/drawing/2014/main" id="{4FF8A0A1-EA9F-4056-AED5-4A867B5AB292}"/>
              </a:ext>
            </a:extLst>
          </p:cNvPr>
          <p:cNvGraphicFramePr>
            <a:graphicFrameLocks noGrp="1"/>
          </p:cNvGraphicFramePr>
          <p:nvPr>
            <p:extLst>
              <p:ext uri="{D42A27DB-BD31-4B8C-83A1-F6EECF244321}">
                <p14:modId xmlns:p14="http://schemas.microsoft.com/office/powerpoint/2010/main" val="1510530784"/>
              </p:ext>
            </p:extLst>
          </p:nvPr>
        </p:nvGraphicFramePr>
        <p:xfrm>
          <a:off x="257731" y="1971083"/>
          <a:ext cx="5838269" cy="1143743"/>
        </p:xfrm>
        <a:graphic>
          <a:graphicData uri="http://schemas.openxmlformats.org/drawingml/2006/table">
            <a:tbl>
              <a:tblPr/>
              <a:tblGrid>
                <a:gridCol w="460281">
                  <a:extLst>
                    <a:ext uri="{9D8B030D-6E8A-4147-A177-3AD203B41FA5}">
                      <a16:colId xmlns:a16="http://schemas.microsoft.com/office/drawing/2014/main" val="495084399"/>
                    </a:ext>
                  </a:extLst>
                </a:gridCol>
                <a:gridCol w="255094">
                  <a:extLst>
                    <a:ext uri="{9D8B030D-6E8A-4147-A177-3AD203B41FA5}">
                      <a16:colId xmlns:a16="http://schemas.microsoft.com/office/drawing/2014/main" val="3614210242"/>
                    </a:ext>
                  </a:extLst>
                </a:gridCol>
                <a:gridCol w="628256">
                  <a:extLst>
                    <a:ext uri="{9D8B030D-6E8A-4147-A177-3AD203B41FA5}">
                      <a16:colId xmlns:a16="http://schemas.microsoft.com/office/drawing/2014/main" val="1442124609"/>
                    </a:ext>
                  </a:extLst>
                </a:gridCol>
                <a:gridCol w="1997780">
                  <a:extLst>
                    <a:ext uri="{9D8B030D-6E8A-4147-A177-3AD203B41FA5}">
                      <a16:colId xmlns:a16="http://schemas.microsoft.com/office/drawing/2014/main" val="3603859997"/>
                    </a:ext>
                  </a:extLst>
                </a:gridCol>
                <a:gridCol w="375533">
                  <a:extLst>
                    <a:ext uri="{9D8B030D-6E8A-4147-A177-3AD203B41FA5}">
                      <a16:colId xmlns:a16="http://schemas.microsoft.com/office/drawing/2014/main" val="4076488391"/>
                    </a:ext>
                  </a:extLst>
                </a:gridCol>
                <a:gridCol w="384248">
                  <a:extLst>
                    <a:ext uri="{9D8B030D-6E8A-4147-A177-3AD203B41FA5}">
                      <a16:colId xmlns:a16="http://schemas.microsoft.com/office/drawing/2014/main" val="3254101706"/>
                    </a:ext>
                  </a:extLst>
                </a:gridCol>
                <a:gridCol w="389769">
                  <a:extLst>
                    <a:ext uri="{9D8B030D-6E8A-4147-A177-3AD203B41FA5}">
                      <a16:colId xmlns:a16="http://schemas.microsoft.com/office/drawing/2014/main" val="3712391277"/>
                    </a:ext>
                  </a:extLst>
                </a:gridCol>
                <a:gridCol w="289541">
                  <a:extLst>
                    <a:ext uri="{9D8B030D-6E8A-4147-A177-3AD203B41FA5}">
                      <a16:colId xmlns:a16="http://schemas.microsoft.com/office/drawing/2014/main" val="1686727992"/>
                    </a:ext>
                  </a:extLst>
                </a:gridCol>
                <a:gridCol w="289541">
                  <a:extLst>
                    <a:ext uri="{9D8B030D-6E8A-4147-A177-3AD203B41FA5}">
                      <a16:colId xmlns:a16="http://schemas.microsoft.com/office/drawing/2014/main" val="2527660299"/>
                    </a:ext>
                  </a:extLst>
                </a:gridCol>
                <a:gridCol w="434313">
                  <a:extLst>
                    <a:ext uri="{9D8B030D-6E8A-4147-A177-3AD203B41FA5}">
                      <a16:colId xmlns:a16="http://schemas.microsoft.com/office/drawing/2014/main" val="3641075278"/>
                    </a:ext>
                  </a:extLst>
                </a:gridCol>
                <a:gridCol w="333913">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76113988"/>
                  </a:ext>
                </a:extLst>
              </a:tr>
            </a:tbl>
          </a:graphicData>
        </a:graphic>
      </p:graphicFrame>
      <p:graphicFrame>
        <p:nvGraphicFramePr>
          <p:cNvPr id="8" name="表格 7">
            <a:extLst>
              <a:ext uri="{FF2B5EF4-FFF2-40B4-BE49-F238E27FC236}">
                <a16:creationId xmlns:a16="http://schemas.microsoft.com/office/drawing/2014/main" id="{D40C9E58-F052-5273-6A86-D973E641614B}"/>
              </a:ext>
            </a:extLst>
          </p:cNvPr>
          <p:cNvGraphicFramePr>
            <a:graphicFrameLocks noGrp="1"/>
          </p:cNvGraphicFramePr>
          <p:nvPr>
            <p:extLst>
              <p:ext uri="{D42A27DB-BD31-4B8C-83A1-F6EECF244321}">
                <p14:modId xmlns:p14="http://schemas.microsoft.com/office/powerpoint/2010/main" val="1605156566"/>
              </p:ext>
            </p:extLst>
          </p:nvPr>
        </p:nvGraphicFramePr>
        <p:xfrm>
          <a:off x="257731" y="511994"/>
          <a:ext cx="5838269" cy="1394460"/>
        </p:xfrm>
        <a:graphic>
          <a:graphicData uri="http://schemas.openxmlformats.org/drawingml/2006/table">
            <a:tbl>
              <a:tblPr firstRow="1" bandRow="1">
                <a:tableStyleId>{3C2FFA5D-87B4-456A-9821-1D502468CF0F}</a:tableStyleId>
              </a:tblPr>
              <a:tblGrid>
                <a:gridCol w="636740">
                  <a:extLst>
                    <a:ext uri="{9D8B030D-6E8A-4147-A177-3AD203B41FA5}">
                      <a16:colId xmlns:a16="http://schemas.microsoft.com/office/drawing/2014/main" val="869603910"/>
                    </a:ext>
                  </a:extLst>
                </a:gridCol>
                <a:gridCol w="691117">
                  <a:extLst>
                    <a:ext uri="{9D8B030D-6E8A-4147-A177-3AD203B41FA5}">
                      <a16:colId xmlns:a16="http://schemas.microsoft.com/office/drawing/2014/main" val="238663902"/>
                    </a:ext>
                  </a:extLst>
                </a:gridCol>
                <a:gridCol w="659218">
                  <a:extLst>
                    <a:ext uri="{9D8B030D-6E8A-4147-A177-3AD203B41FA5}">
                      <a16:colId xmlns:a16="http://schemas.microsoft.com/office/drawing/2014/main" val="4114365151"/>
                    </a:ext>
                  </a:extLst>
                </a:gridCol>
                <a:gridCol w="659219">
                  <a:extLst>
                    <a:ext uri="{9D8B030D-6E8A-4147-A177-3AD203B41FA5}">
                      <a16:colId xmlns:a16="http://schemas.microsoft.com/office/drawing/2014/main" val="4075178046"/>
                    </a:ext>
                  </a:extLst>
                </a:gridCol>
                <a:gridCol w="67938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400573">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88413">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88413">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9" name="表格 8">
            <a:extLst>
              <a:ext uri="{FF2B5EF4-FFF2-40B4-BE49-F238E27FC236}">
                <a16:creationId xmlns:a16="http://schemas.microsoft.com/office/drawing/2014/main" id="{D10AE233-9B76-32F6-7D93-04C42BE86A92}"/>
              </a:ext>
            </a:extLst>
          </p:cNvPr>
          <p:cNvGraphicFramePr>
            <a:graphicFrameLocks noGrp="1"/>
          </p:cNvGraphicFramePr>
          <p:nvPr>
            <p:extLst>
              <p:ext uri="{D42A27DB-BD31-4B8C-83A1-F6EECF244321}">
                <p14:modId xmlns:p14="http://schemas.microsoft.com/office/powerpoint/2010/main" val="2979119840"/>
              </p:ext>
            </p:extLst>
          </p:nvPr>
        </p:nvGraphicFramePr>
        <p:xfrm>
          <a:off x="6210625" y="3201530"/>
          <a:ext cx="5838266" cy="1696178"/>
        </p:xfrm>
        <a:graphic>
          <a:graphicData uri="http://schemas.openxmlformats.org/drawingml/2006/table">
            <a:tbl>
              <a:tblPr/>
              <a:tblGrid>
                <a:gridCol w="428849">
                  <a:extLst>
                    <a:ext uri="{9D8B030D-6E8A-4147-A177-3AD203B41FA5}">
                      <a16:colId xmlns:a16="http://schemas.microsoft.com/office/drawing/2014/main" val="495084399"/>
                    </a:ext>
                  </a:extLst>
                </a:gridCol>
                <a:gridCol w="160697">
                  <a:extLst>
                    <a:ext uri="{9D8B030D-6E8A-4147-A177-3AD203B41FA5}">
                      <a16:colId xmlns:a16="http://schemas.microsoft.com/office/drawing/2014/main" val="3614210242"/>
                    </a:ext>
                  </a:extLst>
                </a:gridCol>
                <a:gridCol w="497727">
                  <a:extLst>
                    <a:ext uri="{9D8B030D-6E8A-4147-A177-3AD203B41FA5}">
                      <a16:colId xmlns:a16="http://schemas.microsoft.com/office/drawing/2014/main" val="1442124609"/>
                    </a:ext>
                  </a:extLst>
                </a:gridCol>
                <a:gridCol w="1763698">
                  <a:extLst>
                    <a:ext uri="{9D8B030D-6E8A-4147-A177-3AD203B41FA5}">
                      <a16:colId xmlns:a16="http://schemas.microsoft.com/office/drawing/2014/main" val="3603859997"/>
                    </a:ext>
                  </a:extLst>
                </a:gridCol>
                <a:gridCol w="562650">
                  <a:extLst>
                    <a:ext uri="{9D8B030D-6E8A-4147-A177-3AD203B41FA5}">
                      <a16:colId xmlns:a16="http://schemas.microsoft.com/office/drawing/2014/main" val="4076488391"/>
                    </a:ext>
                  </a:extLst>
                </a:gridCol>
                <a:gridCol w="390668">
                  <a:extLst>
                    <a:ext uri="{9D8B030D-6E8A-4147-A177-3AD203B41FA5}">
                      <a16:colId xmlns:a16="http://schemas.microsoft.com/office/drawing/2014/main" val="3254101706"/>
                    </a:ext>
                  </a:extLst>
                </a:gridCol>
                <a:gridCol w="369197">
                  <a:extLst>
                    <a:ext uri="{9D8B030D-6E8A-4147-A177-3AD203B41FA5}">
                      <a16:colId xmlns:a16="http://schemas.microsoft.com/office/drawing/2014/main" val="3712391277"/>
                    </a:ext>
                  </a:extLst>
                </a:gridCol>
                <a:gridCol w="601900">
                  <a:extLst>
                    <a:ext uri="{9D8B030D-6E8A-4147-A177-3AD203B41FA5}">
                      <a16:colId xmlns:a16="http://schemas.microsoft.com/office/drawing/2014/main" val="3068934244"/>
                    </a:ext>
                  </a:extLst>
                </a:gridCol>
                <a:gridCol w="278702">
                  <a:extLst>
                    <a:ext uri="{9D8B030D-6E8A-4147-A177-3AD203B41FA5}">
                      <a16:colId xmlns:a16="http://schemas.microsoft.com/office/drawing/2014/main" val="2527660299"/>
                    </a:ext>
                  </a:extLst>
                </a:gridCol>
                <a:gridCol w="432548">
                  <a:extLst>
                    <a:ext uri="{9D8B030D-6E8A-4147-A177-3AD203B41FA5}">
                      <a16:colId xmlns:a16="http://schemas.microsoft.com/office/drawing/2014/main" val="3641075278"/>
                    </a:ext>
                  </a:extLst>
                </a:gridCol>
                <a:gridCol w="351630">
                  <a:extLst>
                    <a:ext uri="{9D8B030D-6E8A-4147-A177-3AD203B41FA5}">
                      <a16:colId xmlns:a16="http://schemas.microsoft.com/office/drawing/2014/main" val="3618613915"/>
                    </a:ext>
                  </a:extLst>
                </a:gridCol>
              </a:tblGrid>
              <a:tr h="183914">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p>
                    <a:p>
                      <a:pPr algn="ctr" fontAlgn="base">
                        <a:lnSpc>
                          <a:spcPts val="1425"/>
                        </a:lnSpc>
                        <a:buNone/>
                      </a:pP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928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HW portion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RV</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89059500"/>
                  </a:ext>
                </a:extLst>
              </a:tr>
              <a:tr h="22537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3.3</a:t>
                      </a:r>
                      <a:endParaRPr lang="en-US" sz="1200" b="0" i="0" strike="noStrike">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00407878"/>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53+3.3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53+3.3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10" name="表格 9">
            <a:extLst>
              <a:ext uri="{FF2B5EF4-FFF2-40B4-BE49-F238E27FC236}">
                <a16:creationId xmlns:a16="http://schemas.microsoft.com/office/drawing/2014/main" id="{73307BCD-66FC-F9A9-9E3C-88A94CD8FF3C}"/>
              </a:ext>
            </a:extLst>
          </p:cNvPr>
          <p:cNvGraphicFramePr>
            <a:graphicFrameLocks noGrp="1"/>
          </p:cNvGraphicFramePr>
          <p:nvPr>
            <p:extLst>
              <p:ext uri="{D42A27DB-BD31-4B8C-83A1-F6EECF244321}">
                <p14:modId xmlns:p14="http://schemas.microsoft.com/office/powerpoint/2010/main" val="2484291392"/>
              </p:ext>
            </p:extLst>
          </p:nvPr>
        </p:nvGraphicFramePr>
        <p:xfrm>
          <a:off x="257731" y="3429000"/>
          <a:ext cx="5838267" cy="946970"/>
        </p:xfrm>
        <a:graphic>
          <a:graphicData uri="http://schemas.openxmlformats.org/drawingml/2006/table">
            <a:tbl>
              <a:tblPr/>
              <a:tblGrid>
                <a:gridCol w="437916">
                  <a:extLst>
                    <a:ext uri="{9D8B030D-6E8A-4147-A177-3AD203B41FA5}">
                      <a16:colId xmlns:a16="http://schemas.microsoft.com/office/drawing/2014/main" val="495084399"/>
                    </a:ext>
                  </a:extLst>
                </a:gridCol>
                <a:gridCol w="275472">
                  <a:extLst>
                    <a:ext uri="{9D8B030D-6E8A-4147-A177-3AD203B41FA5}">
                      <a16:colId xmlns:a16="http://schemas.microsoft.com/office/drawing/2014/main" val="3614210242"/>
                    </a:ext>
                  </a:extLst>
                </a:gridCol>
                <a:gridCol w="655588">
                  <a:extLst>
                    <a:ext uri="{9D8B030D-6E8A-4147-A177-3AD203B41FA5}">
                      <a16:colId xmlns:a16="http://schemas.microsoft.com/office/drawing/2014/main" val="1442124609"/>
                    </a:ext>
                  </a:extLst>
                </a:gridCol>
                <a:gridCol w="1935379">
                  <a:extLst>
                    <a:ext uri="{9D8B030D-6E8A-4147-A177-3AD203B41FA5}">
                      <a16:colId xmlns:a16="http://schemas.microsoft.com/office/drawing/2014/main" val="3603859997"/>
                    </a:ext>
                  </a:extLst>
                </a:gridCol>
                <a:gridCol w="399146">
                  <a:extLst>
                    <a:ext uri="{9D8B030D-6E8A-4147-A177-3AD203B41FA5}">
                      <a16:colId xmlns:a16="http://schemas.microsoft.com/office/drawing/2014/main" val="4076488391"/>
                    </a:ext>
                  </a:extLst>
                </a:gridCol>
                <a:gridCol w="399146">
                  <a:extLst>
                    <a:ext uri="{9D8B030D-6E8A-4147-A177-3AD203B41FA5}">
                      <a16:colId xmlns:a16="http://schemas.microsoft.com/office/drawing/2014/main" val="3254101706"/>
                    </a:ext>
                  </a:extLst>
                </a:gridCol>
                <a:gridCol w="320098">
                  <a:extLst>
                    <a:ext uri="{9D8B030D-6E8A-4147-A177-3AD203B41FA5}">
                      <a16:colId xmlns:a16="http://schemas.microsoft.com/office/drawing/2014/main" val="3712391277"/>
                    </a:ext>
                  </a:extLst>
                </a:gridCol>
                <a:gridCol w="313666">
                  <a:extLst>
                    <a:ext uri="{9D8B030D-6E8A-4147-A177-3AD203B41FA5}">
                      <a16:colId xmlns:a16="http://schemas.microsoft.com/office/drawing/2014/main" val="2728947310"/>
                    </a:ext>
                  </a:extLst>
                </a:gridCol>
                <a:gridCol w="313666">
                  <a:extLst>
                    <a:ext uri="{9D8B030D-6E8A-4147-A177-3AD203B41FA5}">
                      <a16:colId xmlns:a16="http://schemas.microsoft.com/office/drawing/2014/main" val="2527660299"/>
                    </a:ext>
                  </a:extLst>
                </a:gridCol>
                <a:gridCol w="451890">
                  <a:extLst>
                    <a:ext uri="{9D8B030D-6E8A-4147-A177-3AD203B41FA5}">
                      <a16:colId xmlns:a16="http://schemas.microsoft.com/office/drawing/2014/main" val="3641075278"/>
                    </a:ext>
                  </a:extLst>
                </a:gridCol>
                <a:gridCol w="336300">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102870" indent="0" algn="l" defTabSz="1218987" rtl="0" eaLnBrk="1" fontAlgn="b" latinLnBrk="0" hangingPunct="1">
                        <a:buFont typeface="Arial" panose="020B0604020202020204" pitchFamily="34" charset="0"/>
                        <a:buNone/>
                      </a:pPr>
                      <a:r>
                        <a:rPr lang="en-US" altLang="zh-CN" sz="900" b="1" u="none" strike="noStrike" kern="1200" baseline="0">
                          <a:solidFill>
                            <a:schemeClr val="lt1"/>
                          </a:solidFill>
                          <a:effectLst/>
                          <a:latin typeface="+mn-lt"/>
                          <a:ea typeface="+mn-ea"/>
                          <a:cs typeface="+mn-cs"/>
                        </a:rPr>
                        <a:t>Recognition of Revenue &amp; Cost of EL Performed Service now paid by Customer</a:t>
                      </a:r>
                      <a:endParaRPr lang="en-US" altLang="zh-CN" sz="900" b="1" u="none" strike="noStrike" kern="1200">
                        <a:solidFill>
                          <a:schemeClr val="lt1"/>
                        </a:solidFill>
                        <a:effectLst/>
                        <a:latin typeface="+mn-lt"/>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sp>
        <p:nvSpPr>
          <p:cNvPr id="2" name="矩形 1">
            <a:extLst>
              <a:ext uri="{FF2B5EF4-FFF2-40B4-BE49-F238E27FC236}">
                <a16:creationId xmlns:a16="http://schemas.microsoft.com/office/drawing/2014/main" id="{78C324C3-1A93-8D0C-E837-BD5D6BC3C2DA}"/>
              </a:ext>
            </a:extLst>
          </p:cNvPr>
          <p:cNvSpPr/>
          <p:nvPr/>
        </p:nvSpPr>
        <p:spPr>
          <a:xfrm>
            <a:off x="6655979" y="2969443"/>
            <a:ext cx="6971134" cy="206215"/>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Speech Bubble: Rectangle with Corners Rounded 7">
            <a:extLst>
              <a:ext uri="{FF2B5EF4-FFF2-40B4-BE49-F238E27FC236}">
                <a16:creationId xmlns:a16="http://schemas.microsoft.com/office/drawing/2014/main" id="{8D9C5993-BE5D-1BCA-826A-1AE6888E2BB2}"/>
              </a:ext>
            </a:extLst>
          </p:cNvPr>
          <p:cNvSpPr/>
          <p:nvPr/>
        </p:nvSpPr>
        <p:spPr>
          <a:xfrm>
            <a:off x="12458236" y="3662923"/>
            <a:ext cx="1748630" cy="2502459"/>
          </a:xfrm>
          <a:prstGeom prst="wedgeRoundRectCallout">
            <a:avLst>
              <a:gd name="adj1" fmla="val -63602"/>
              <a:gd name="adj2" fmla="val -65418"/>
              <a:gd name="adj3" fmla="val 16667"/>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kumimoji="0" lang="en-US" sz="1050" b="0" i="0" u="none" strike="noStrike" kern="1200" cap="none" spc="0" normalizeH="0" baseline="0" noProof="0">
                <a:ln>
                  <a:noFill/>
                </a:ln>
                <a:solidFill>
                  <a:sysClr val="windowText" lastClr="000000"/>
                </a:solidFill>
                <a:effectLst/>
                <a:uLnTx/>
                <a:uFillTx/>
                <a:latin typeface="Arial"/>
                <a:ea typeface="+mn-ea"/>
                <a:cs typeface="+mn-cs"/>
              </a:rPr>
              <a:t>Confirmed with AIM, ongoing service </a:t>
            </a:r>
            <a:r>
              <a:rPr kumimoji="0" lang="en-US" sz="1050" b="0" i="0" u="none" strike="noStrike" kern="1200" cap="none" spc="0" normalizeH="0" baseline="0" noProof="0" err="1">
                <a:ln>
                  <a:noFill/>
                </a:ln>
                <a:solidFill>
                  <a:sysClr val="windowText" lastClr="000000"/>
                </a:solidFill>
                <a:effectLst/>
                <a:uLnTx/>
                <a:uFillTx/>
                <a:latin typeface="Arial"/>
                <a:ea typeface="+mn-ea"/>
                <a:cs typeface="+mn-cs"/>
              </a:rPr>
              <a:t>PoB</a:t>
            </a:r>
            <a:r>
              <a:rPr kumimoji="0" lang="en-US" sz="1050" b="0" i="0" u="none" strike="noStrike" kern="1200" cap="none" spc="0" normalizeH="0" baseline="0" noProof="0">
                <a:ln>
                  <a:noFill/>
                </a:ln>
                <a:solidFill>
                  <a:sysClr val="windowText" lastClr="000000"/>
                </a:solidFill>
                <a:effectLst/>
                <a:uLnTx/>
                <a:uFillTx/>
                <a:latin typeface="Arial"/>
                <a:ea typeface="+mn-ea"/>
                <a:cs typeface="+mn-cs"/>
              </a:rPr>
              <a:t> have not met upon ET, so extra payment need to be recognized under interest income account other than service revenue</a:t>
            </a: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kumimoji="0" lang="en-US" sz="1050" b="0" i="0" u="none" strike="noStrike" kern="1200" cap="none" spc="0" normalizeH="0" baseline="0" noProof="0">
                <a:ln>
                  <a:noFill/>
                </a:ln>
                <a:solidFill>
                  <a:sysClr val="windowText" lastClr="000000"/>
                </a:solidFill>
                <a:effectLst/>
                <a:highlight>
                  <a:srgbClr val="FFFF00"/>
                </a:highlight>
                <a:uLnTx/>
                <a:uFillTx/>
                <a:latin typeface="Arial"/>
                <a:ea typeface="+mn-ea"/>
                <a:cs typeface="+mn-cs"/>
              </a:rPr>
              <a:t>Keep in </a:t>
            </a:r>
            <a:r>
              <a:rPr lang="en-US" sz="1050">
                <a:solidFill>
                  <a:sysClr val="windowText" lastClr="000000"/>
                </a:solidFill>
                <a:highlight>
                  <a:srgbClr val="FFFF00"/>
                </a:highlight>
                <a:latin typeface="Arial"/>
              </a:rPr>
              <a:t>AFE</a:t>
            </a:r>
            <a:endParaRPr kumimoji="0" lang="en-US" sz="1050" b="0" i="0" u="none" strike="noStrike" kern="1200" cap="none" spc="0" normalizeH="0" baseline="0" noProof="0">
              <a:ln>
                <a:noFill/>
              </a:ln>
              <a:solidFill>
                <a:sysClr val="windowText" lastClr="000000"/>
              </a:solidFill>
              <a:effectLst/>
              <a:uLnTx/>
              <a:uFillTx/>
              <a:latin typeface="Arial"/>
              <a:ea typeface="+mn-ea"/>
              <a:cs typeface="+mn-cs"/>
            </a:endParaRPr>
          </a:p>
        </p:txBody>
      </p:sp>
      <p:sp>
        <p:nvSpPr>
          <p:cNvPr id="4" name="对话气泡: 矩形 11">
            <a:extLst>
              <a:ext uri="{FF2B5EF4-FFF2-40B4-BE49-F238E27FC236}">
                <a16:creationId xmlns:a16="http://schemas.microsoft.com/office/drawing/2014/main" id="{62EA4BAE-2F53-F64C-D92B-0AE1A774537C}"/>
              </a:ext>
            </a:extLst>
          </p:cNvPr>
          <p:cNvSpPr/>
          <p:nvPr/>
        </p:nvSpPr>
        <p:spPr>
          <a:xfrm>
            <a:off x="3281917" y="4822292"/>
            <a:ext cx="1865660" cy="1941861"/>
          </a:xfrm>
          <a:prstGeom prst="wedgeRectCallout">
            <a:avLst>
              <a:gd name="adj1" fmla="val 167827"/>
              <a:gd name="adj2" fmla="val -21836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sp>
        <p:nvSpPr>
          <p:cNvPr id="11" name="矩形 10">
            <a:extLst>
              <a:ext uri="{FF2B5EF4-FFF2-40B4-BE49-F238E27FC236}">
                <a16:creationId xmlns:a16="http://schemas.microsoft.com/office/drawing/2014/main" id="{7E396967-21BB-0801-5B80-A6480224B5A1}"/>
              </a:ext>
            </a:extLst>
          </p:cNvPr>
          <p:cNvSpPr/>
          <p:nvPr/>
        </p:nvSpPr>
        <p:spPr>
          <a:xfrm>
            <a:off x="6223965" y="3209753"/>
            <a:ext cx="5811585" cy="1696178"/>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12" name="矩形 11">
            <a:extLst>
              <a:ext uri="{FF2B5EF4-FFF2-40B4-BE49-F238E27FC236}">
                <a16:creationId xmlns:a16="http://schemas.microsoft.com/office/drawing/2014/main" id="{B1D357FA-3DE4-3350-0333-25DB38102F5A}"/>
              </a:ext>
            </a:extLst>
          </p:cNvPr>
          <p:cNvSpPr/>
          <p:nvPr/>
        </p:nvSpPr>
        <p:spPr>
          <a:xfrm>
            <a:off x="269782" y="3429000"/>
            <a:ext cx="5811585" cy="946970"/>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Tree>
    <p:extLst>
      <p:ext uri="{BB962C8B-B14F-4D97-AF65-F5344CB8AC3E}">
        <p14:creationId xmlns:p14="http://schemas.microsoft.com/office/powerpoint/2010/main" val="53373925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BD6638-E8DD-165E-074D-74E7999BE9A6}"/>
            </a:ext>
          </a:extLst>
        </p:cNvPr>
        <p:cNvGrpSpPr/>
        <p:nvPr/>
      </p:nvGrpSpPr>
      <p:grpSpPr>
        <a:xfrm>
          <a:off x="0" y="0"/>
          <a:ext cx="0" cy="0"/>
          <a:chOff x="0" y="0"/>
          <a:chExt cx="0" cy="0"/>
        </a:xfrm>
      </p:grpSpPr>
      <p:sp>
        <p:nvSpPr>
          <p:cNvPr id="33" name="文本框 32">
            <a:extLst>
              <a:ext uri="{FF2B5EF4-FFF2-40B4-BE49-F238E27FC236}">
                <a16:creationId xmlns:a16="http://schemas.microsoft.com/office/drawing/2014/main" id="{85934FA2-FB71-341C-0313-5FCB75275533}"/>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DaaS_AFE_MSA</a:t>
            </a:r>
            <a:endParaRPr lang="zh-CN" altLang="en-US" sz="2000" b="1"/>
          </a:p>
        </p:txBody>
      </p:sp>
      <p:graphicFrame>
        <p:nvGraphicFramePr>
          <p:cNvPr id="39" name="表格 38">
            <a:extLst>
              <a:ext uri="{FF2B5EF4-FFF2-40B4-BE49-F238E27FC236}">
                <a16:creationId xmlns:a16="http://schemas.microsoft.com/office/drawing/2014/main" id="{CDB3E7B8-4F51-F978-6F6B-37270004525C}"/>
              </a:ext>
            </a:extLst>
          </p:cNvPr>
          <p:cNvGraphicFramePr>
            <a:graphicFrameLocks noGrp="1"/>
          </p:cNvGraphicFramePr>
          <p:nvPr>
            <p:extLst>
              <p:ext uri="{D42A27DB-BD31-4B8C-83A1-F6EECF244321}">
                <p14:modId xmlns:p14="http://schemas.microsoft.com/office/powerpoint/2010/main" val="4292174638"/>
              </p:ext>
            </p:extLst>
          </p:nvPr>
        </p:nvGraphicFramePr>
        <p:xfrm>
          <a:off x="180249" y="1664360"/>
          <a:ext cx="5848244" cy="2577484"/>
        </p:xfrm>
        <a:graphic>
          <a:graphicData uri="http://schemas.openxmlformats.org/drawingml/2006/table">
            <a:tbl>
              <a:tblPr/>
              <a:tblGrid>
                <a:gridCol w="437298">
                  <a:extLst>
                    <a:ext uri="{9D8B030D-6E8A-4147-A177-3AD203B41FA5}">
                      <a16:colId xmlns:a16="http://schemas.microsoft.com/office/drawing/2014/main" val="495084399"/>
                    </a:ext>
                  </a:extLst>
                </a:gridCol>
                <a:gridCol w="240450">
                  <a:extLst>
                    <a:ext uri="{9D8B030D-6E8A-4147-A177-3AD203B41FA5}">
                      <a16:colId xmlns:a16="http://schemas.microsoft.com/office/drawing/2014/main" val="3614210242"/>
                    </a:ext>
                  </a:extLst>
                </a:gridCol>
                <a:gridCol w="547941">
                  <a:extLst>
                    <a:ext uri="{9D8B030D-6E8A-4147-A177-3AD203B41FA5}">
                      <a16:colId xmlns:a16="http://schemas.microsoft.com/office/drawing/2014/main" val="1442124609"/>
                    </a:ext>
                  </a:extLst>
                </a:gridCol>
                <a:gridCol w="2187524">
                  <a:extLst>
                    <a:ext uri="{9D8B030D-6E8A-4147-A177-3AD203B41FA5}">
                      <a16:colId xmlns:a16="http://schemas.microsoft.com/office/drawing/2014/main" val="3603859997"/>
                    </a:ext>
                  </a:extLst>
                </a:gridCol>
                <a:gridCol w="348400">
                  <a:extLst>
                    <a:ext uri="{9D8B030D-6E8A-4147-A177-3AD203B41FA5}">
                      <a16:colId xmlns:a16="http://schemas.microsoft.com/office/drawing/2014/main" val="4076488391"/>
                    </a:ext>
                  </a:extLst>
                </a:gridCol>
                <a:gridCol w="333608">
                  <a:extLst>
                    <a:ext uri="{9D8B030D-6E8A-4147-A177-3AD203B41FA5}">
                      <a16:colId xmlns:a16="http://schemas.microsoft.com/office/drawing/2014/main" val="3254101706"/>
                    </a:ext>
                  </a:extLst>
                </a:gridCol>
                <a:gridCol w="279399">
                  <a:extLst>
                    <a:ext uri="{9D8B030D-6E8A-4147-A177-3AD203B41FA5}">
                      <a16:colId xmlns:a16="http://schemas.microsoft.com/office/drawing/2014/main" val="3712391277"/>
                    </a:ext>
                  </a:extLst>
                </a:gridCol>
                <a:gridCol w="591287">
                  <a:extLst>
                    <a:ext uri="{9D8B030D-6E8A-4147-A177-3AD203B41FA5}">
                      <a16:colId xmlns:a16="http://schemas.microsoft.com/office/drawing/2014/main" val="1875139096"/>
                    </a:ext>
                  </a:extLst>
                </a:gridCol>
                <a:gridCol w="243538">
                  <a:extLst>
                    <a:ext uri="{9D8B030D-6E8A-4147-A177-3AD203B41FA5}">
                      <a16:colId xmlns:a16="http://schemas.microsoft.com/office/drawing/2014/main" val="2527660299"/>
                    </a:ext>
                  </a:extLst>
                </a:gridCol>
                <a:gridCol w="377689">
                  <a:extLst>
                    <a:ext uri="{9D8B030D-6E8A-4147-A177-3AD203B41FA5}">
                      <a16:colId xmlns:a16="http://schemas.microsoft.com/office/drawing/2014/main" val="3641075278"/>
                    </a:ext>
                  </a:extLst>
                </a:gridCol>
                <a:gridCol w="261110">
                  <a:extLst>
                    <a:ext uri="{9D8B030D-6E8A-4147-A177-3AD203B41FA5}">
                      <a16:colId xmlns:a16="http://schemas.microsoft.com/office/drawing/2014/main" val="3618613915"/>
                    </a:ext>
                  </a:extLst>
                </a:gridCol>
              </a:tblGrid>
              <a:tr h="182275">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551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Operating Lease(applicable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9124900"/>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r>
                        <a:rPr lang="en-US" altLang="zh-CN" sz="900" b="0" i="0" u="none" strike="noStrike" kern="1200">
                          <a:solidFill>
                            <a:srgbClr val="000000"/>
                          </a:solidFill>
                          <a:effectLst/>
                          <a:latin typeface="Arial" panose="020B0604020202020204" pitchFamily="34" charset="0"/>
                          <a:ea typeface="+mn-ea"/>
                          <a:cs typeface="+mn-cs"/>
                        </a:rPr>
                        <a:t>(applicable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12643452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265705757"/>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premier(applicable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cxnSp>
        <p:nvCxnSpPr>
          <p:cNvPr id="4" name="直接连接符 3">
            <a:extLst>
              <a:ext uri="{FF2B5EF4-FFF2-40B4-BE49-F238E27FC236}">
                <a16:creationId xmlns:a16="http://schemas.microsoft.com/office/drawing/2014/main" id="{C0D7A4B2-7A9C-ED79-0DDD-8E868A976753}"/>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2" name="表格 1">
            <a:extLst>
              <a:ext uri="{FF2B5EF4-FFF2-40B4-BE49-F238E27FC236}">
                <a16:creationId xmlns:a16="http://schemas.microsoft.com/office/drawing/2014/main" id="{7F3DBFA7-E614-F5F2-205A-3D0CE52415B0}"/>
              </a:ext>
            </a:extLst>
          </p:cNvPr>
          <p:cNvGraphicFramePr>
            <a:graphicFrameLocks noGrp="1"/>
          </p:cNvGraphicFramePr>
          <p:nvPr>
            <p:extLst>
              <p:ext uri="{D42A27DB-BD31-4B8C-83A1-F6EECF244321}">
                <p14:modId xmlns:p14="http://schemas.microsoft.com/office/powerpoint/2010/main" val="3219660011"/>
              </p:ext>
            </p:extLst>
          </p:nvPr>
        </p:nvGraphicFramePr>
        <p:xfrm>
          <a:off x="185237" y="443011"/>
          <a:ext cx="5838269" cy="1240612"/>
        </p:xfrm>
        <a:graphic>
          <a:graphicData uri="http://schemas.openxmlformats.org/drawingml/2006/table">
            <a:tbl>
              <a:tblPr firstRow="1" bandRow="1">
                <a:tableStyleId>{3C2FFA5D-87B4-456A-9821-1D502468CF0F}</a:tableStyleId>
              </a:tblPr>
              <a:tblGrid>
                <a:gridCol w="676206">
                  <a:extLst>
                    <a:ext uri="{9D8B030D-6E8A-4147-A177-3AD203B41FA5}">
                      <a16:colId xmlns:a16="http://schemas.microsoft.com/office/drawing/2014/main" val="869603910"/>
                    </a:ext>
                  </a:extLst>
                </a:gridCol>
                <a:gridCol w="600695">
                  <a:extLst>
                    <a:ext uri="{9D8B030D-6E8A-4147-A177-3AD203B41FA5}">
                      <a16:colId xmlns:a16="http://schemas.microsoft.com/office/drawing/2014/main" val="238663902"/>
                    </a:ext>
                  </a:extLst>
                </a:gridCol>
                <a:gridCol w="616475">
                  <a:extLst>
                    <a:ext uri="{9D8B030D-6E8A-4147-A177-3AD203B41FA5}">
                      <a16:colId xmlns:a16="http://schemas.microsoft.com/office/drawing/2014/main" val="4114365151"/>
                    </a:ext>
                  </a:extLst>
                </a:gridCol>
                <a:gridCol w="649158">
                  <a:extLst>
                    <a:ext uri="{9D8B030D-6E8A-4147-A177-3AD203B41FA5}">
                      <a16:colId xmlns:a16="http://schemas.microsoft.com/office/drawing/2014/main" val="4075178046"/>
                    </a:ext>
                  </a:extLst>
                </a:gridCol>
                <a:gridCol w="78314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Flex pause/</a:t>
                      </a:r>
                      <a:r>
                        <a:rPr lang="en-US" altLang="zh-CN" sz="1050" err="1">
                          <a:solidFill>
                            <a:sysClr val="windowText" lastClr="000000"/>
                          </a:solidFill>
                        </a:rPr>
                        <a:t>unpause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Flex Down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3" name="表格 2">
            <a:extLst>
              <a:ext uri="{FF2B5EF4-FFF2-40B4-BE49-F238E27FC236}">
                <a16:creationId xmlns:a16="http://schemas.microsoft.com/office/drawing/2014/main" id="{BACA3C18-7FD0-E0E5-14B3-ED64FDD8ABCB}"/>
              </a:ext>
            </a:extLst>
          </p:cNvPr>
          <p:cNvGraphicFramePr>
            <a:graphicFrameLocks noGrp="1"/>
          </p:cNvGraphicFramePr>
          <p:nvPr>
            <p:extLst>
              <p:ext uri="{D42A27DB-BD31-4B8C-83A1-F6EECF244321}">
                <p14:modId xmlns:p14="http://schemas.microsoft.com/office/powerpoint/2010/main" val="3390955357"/>
              </p:ext>
            </p:extLst>
          </p:nvPr>
        </p:nvGraphicFramePr>
        <p:xfrm>
          <a:off x="6210496" y="47255"/>
          <a:ext cx="5838269" cy="1240612"/>
        </p:xfrm>
        <a:graphic>
          <a:graphicData uri="http://schemas.openxmlformats.org/drawingml/2006/table">
            <a:tbl>
              <a:tblPr firstRow="1" bandRow="1">
                <a:tableStyleId>{3C2FFA5D-87B4-456A-9821-1D502468CF0F}</a:tableStyleId>
              </a:tblPr>
              <a:tblGrid>
                <a:gridCol w="636740">
                  <a:extLst>
                    <a:ext uri="{9D8B030D-6E8A-4147-A177-3AD203B41FA5}">
                      <a16:colId xmlns:a16="http://schemas.microsoft.com/office/drawing/2014/main" val="869603910"/>
                    </a:ext>
                  </a:extLst>
                </a:gridCol>
                <a:gridCol w="691117">
                  <a:extLst>
                    <a:ext uri="{9D8B030D-6E8A-4147-A177-3AD203B41FA5}">
                      <a16:colId xmlns:a16="http://schemas.microsoft.com/office/drawing/2014/main" val="238663902"/>
                    </a:ext>
                  </a:extLst>
                </a:gridCol>
                <a:gridCol w="627321">
                  <a:extLst>
                    <a:ext uri="{9D8B030D-6E8A-4147-A177-3AD203B41FA5}">
                      <a16:colId xmlns:a16="http://schemas.microsoft.com/office/drawing/2014/main" val="4114365151"/>
                    </a:ext>
                  </a:extLst>
                </a:gridCol>
                <a:gridCol w="648586">
                  <a:extLst>
                    <a:ext uri="{9D8B030D-6E8A-4147-A177-3AD203B41FA5}">
                      <a16:colId xmlns:a16="http://schemas.microsoft.com/office/drawing/2014/main" val="4075178046"/>
                    </a:ext>
                  </a:extLst>
                </a:gridCol>
                <a:gridCol w="72191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Flex pause/</a:t>
                      </a:r>
                      <a:r>
                        <a:rPr lang="en-US" altLang="zh-CN" sz="1050" err="1">
                          <a:solidFill>
                            <a:sysClr val="windowText" lastClr="000000"/>
                          </a:solidFill>
                        </a:rPr>
                        <a:t>unpause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Flex Down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5" name="表格 4">
            <a:extLst>
              <a:ext uri="{FF2B5EF4-FFF2-40B4-BE49-F238E27FC236}">
                <a16:creationId xmlns:a16="http://schemas.microsoft.com/office/drawing/2014/main" id="{0CE1DBB3-99CF-3122-7A1C-B1FE3CC7962C}"/>
              </a:ext>
            </a:extLst>
          </p:cNvPr>
          <p:cNvGraphicFramePr>
            <a:graphicFrameLocks noGrp="1"/>
          </p:cNvGraphicFramePr>
          <p:nvPr>
            <p:extLst>
              <p:ext uri="{D42A27DB-BD31-4B8C-83A1-F6EECF244321}">
                <p14:modId xmlns:p14="http://schemas.microsoft.com/office/powerpoint/2010/main" val="4028255676"/>
              </p:ext>
            </p:extLst>
          </p:nvPr>
        </p:nvGraphicFramePr>
        <p:xfrm>
          <a:off x="176236" y="4294041"/>
          <a:ext cx="5856270" cy="1143743"/>
        </p:xfrm>
        <a:graphic>
          <a:graphicData uri="http://schemas.openxmlformats.org/drawingml/2006/table">
            <a:tbl>
              <a:tblPr/>
              <a:tblGrid>
                <a:gridCol w="431214">
                  <a:extLst>
                    <a:ext uri="{9D8B030D-6E8A-4147-A177-3AD203B41FA5}">
                      <a16:colId xmlns:a16="http://schemas.microsoft.com/office/drawing/2014/main" val="495084399"/>
                    </a:ext>
                  </a:extLst>
                </a:gridCol>
                <a:gridCol w="244930">
                  <a:extLst>
                    <a:ext uri="{9D8B030D-6E8A-4147-A177-3AD203B41FA5}">
                      <a16:colId xmlns:a16="http://schemas.microsoft.com/office/drawing/2014/main" val="3614210242"/>
                    </a:ext>
                  </a:extLst>
                </a:gridCol>
                <a:gridCol w="564557">
                  <a:extLst>
                    <a:ext uri="{9D8B030D-6E8A-4147-A177-3AD203B41FA5}">
                      <a16:colId xmlns:a16="http://schemas.microsoft.com/office/drawing/2014/main" val="1442124609"/>
                    </a:ext>
                  </a:extLst>
                </a:gridCol>
                <a:gridCol w="2316811">
                  <a:extLst>
                    <a:ext uri="{9D8B030D-6E8A-4147-A177-3AD203B41FA5}">
                      <a16:colId xmlns:a16="http://schemas.microsoft.com/office/drawing/2014/main" val="3603859997"/>
                    </a:ext>
                  </a:extLst>
                </a:gridCol>
                <a:gridCol w="282500">
                  <a:extLst>
                    <a:ext uri="{9D8B030D-6E8A-4147-A177-3AD203B41FA5}">
                      <a16:colId xmlns:a16="http://schemas.microsoft.com/office/drawing/2014/main" val="4076488391"/>
                    </a:ext>
                  </a:extLst>
                </a:gridCol>
                <a:gridCol w="399378">
                  <a:extLst>
                    <a:ext uri="{9D8B030D-6E8A-4147-A177-3AD203B41FA5}">
                      <a16:colId xmlns:a16="http://schemas.microsoft.com/office/drawing/2014/main" val="3254101706"/>
                    </a:ext>
                  </a:extLst>
                </a:gridCol>
                <a:gridCol w="369426">
                  <a:extLst>
                    <a:ext uri="{9D8B030D-6E8A-4147-A177-3AD203B41FA5}">
                      <a16:colId xmlns:a16="http://schemas.microsoft.com/office/drawing/2014/main" val="3712391277"/>
                    </a:ext>
                  </a:extLst>
                </a:gridCol>
                <a:gridCol w="269580">
                  <a:extLst>
                    <a:ext uri="{9D8B030D-6E8A-4147-A177-3AD203B41FA5}">
                      <a16:colId xmlns:a16="http://schemas.microsoft.com/office/drawing/2014/main" val="1008187684"/>
                    </a:ext>
                  </a:extLst>
                </a:gridCol>
                <a:gridCol w="269580">
                  <a:extLst>
                    <a:ext uri="{9D8B030D-6E8A-4147-A177-3AD203B41FA5}">
                      <a16:colId xmlns:a16="http://schemas.microsoft.com/office/drawing/2014/main" val="2527660299"/>
                    </a:ext>
                  </a:extLst>
                </a:gridCol>
                <a:gridCol w="388948">
                  <a:extLst>
                    <a:ext uri="{9D8B030D-6E8A-4147-A177-3AD203B41FA5}">
                      <a16:colId xmlns:a16="http://schemas.microsoft.com/office/drawing/2014/main" val="3641075278"/>
                    </a:ext>
                  </a:extLst>
                </a:gridCol>
                <a:gridCol w="319346">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6" name="表格 5">
            <a:extLst>
              <a:ext uri="{FF2B5EF4-FFF2-40B4-BE49-F238E27FC236}">
                <a16:creationId xmlns:a16="http://schemas.microsoft.com/office/drawing/2014/main" id="{29FEF4A4-32D0-AAD1-2019-3853FF35C091}"/>
              </a:ext>
            </a:extLst>
          </p:cNvPr>
          <p:cNvGraphicFramePr>
            <a:graphicFrameLocks noGrp="1"/>
          </p:cNvGraphicFramePr>
          <p:nvPr>
            <p:extLst>
              <p:ext uri="{D42A27DB-BD31-4B8C-83A1-F6EECF244321}">
                <p14:modId xmlns:p14="http://schemas.microsoft.com/office/powerpoint/2010/main" val="1258884132"/>
              </p:ext>
            </p:extLst>
          </p:nvPr>
        </p:nvGraphicFramePr>
        <p:xfrm>
          <a:off x="172576" y="5437784"/>
          <a:ext cx="5923424" cy="1143743"/>
        </p:xfrm>
        <a:graphic>
          <a:graphicData uri="http://schemas.openxmlformats.org/drawingml/2006/table">
            <a:tbl>
              <a:tblPr/>
              <a:tblGrid>
                <a:gridCol w="419239">
                  <a:extLst>
                    <a:ext uri="{9D8B030D-6E8A-4147-A177-3AD203B41FA5}">
                      <a16:colId xmlns:a16="http://schemas.microsoft.com/office/drawing/2014/main" val="495084399"/>
                    </a:ext>
                  </a:extLst>
                </a:gridCol>
                <a:gridCol w="2323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45093">
                  <a:extLst>
                    <a:ext uri="{9D8B030D-6E8A-4147-A177-3AD203B41FA5}">
                      <a16:colId xmlns:a16="http://schemas.microsoft.com/office/drawing/2014/main" val="3603859997"/>
                    </a:ext>
                  </a:extLst>
                </a:gridCol>
                <a:gridCol w="456447">
                  <a:extLst>
                    <a:ext uri="{9D8B030D-6E8A-4147-A177-3AD203B41FA5}">
                      <a16:colId xmlns:a16="http://schemas.microsoft.com/office/drawing/2014/main" val="4076488391"/>
                    </a:ext>
                  </a:extLst>
                </a:gridCol>
                <a:gridCol w="415873">
                  <a:extLst>
                    <a:ext uri="{9D8B030D-6E8A-4147-A177-3AD203B41FA5}">
                      <a16:colId xmlns:a16="http://schemas.microsoft.com/office/drawing/2014/main" val="3254101706"/>
                    </a:ext>
                  </a:extLst>
                </a:gridCol>
                <a:gridCol w="355014">
                  <a:extLst>
                    <a:ext uri="{9D8B030D-6E8A-4147-A177-3AD203B41FA5}">
                      <a16:colId xmlns:a16="http://schemas.microsoft.com/office/drawing/2014/main" val="3712391277"/>
                    </a:ext>
                  </a:extLst>
                </a:gridCol>
                <a:gridCol w="263724">
                  <a:extLst>
                    <a:ext uri="{9D8B030D-6E8A-4147-A177-3AD203B41FA5}">
                      <a16:colId xmlns:a16="http://schemas.microsoft.com/office/drawing/2014/main" val="3643425350"/>
                    </a:ext>
                  </a:extLst>
                </a:gridCol>
                <a:gridCol w="263724">
                  <a:extLst>
                    <a:ext uri="{9D8B030D-6E8A-4147-A177-3AD203B41FA5}">
                      <a16:colId xmlns:a16="http://schemas.microsoft.com/office/drawing/2014/main" val="2527660299"/>
                    </a:ext>
                  </a:extLst>
                </a:gridCol>
                <a:gridCol w="395587">
                  <a:extLst>
                    <a:ext uri="{9D8B030D-6E8A-4147-A177-3AD203B41FA5}">
                      <a16:colId xmlns:a16="http://schemas.microsoft.com/office/drawing/2014/main" val="3641075278"/>
                    </a:ext>
                  </a:extLst>
                </a:gridCol>
                <a:gridCol w="304139">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
        <p:nvSpPr>
          <p:cNvPr id="7" name="对话气泡: 矩形 6">
            <a:extLst>
              <a:ext uri="{FF2B5EF4-FFF2-40B4-BE49-F238E27FC236}">
                <a16:creationId xmlns:a16="http://schemas.microsoft.com/office/drawing/2014/main" id="{E13C0849-C5D4-6970-18A5-7CE5438929D6}"/>
              </a:ext>
            </a:extLst>
          </p:cNvPr>
          <p:cNvSpPr/>
          <p:nvPr/>
        </p:nvSpPr>
        <p:spPr>
          <a:xfrm>
            <a:off x="-2229294" y="2970084"/>
            <a:ext cx="2229294" cy="4440809"/>
          </a:xfrm>
          <a:prstGeom prst="wedgeRectCallout">
            <a:avLst>
              <a:gd name="adj1" fmla="val 58998"/>
              <a:gd name="adj2" fmla="val -7152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Wingdings" panose="05000000000000000000" pitchFamily="2" charset="2"/>
              <a:buChar char="Ø"/>
            </a:pPr>
            <a:r>
              <a:rPr lang="en-US" altLang="zh-CN" sz="1200">
                <a:solidFill>
                  <a:srgbClr val="FF0000"/>
                </a:solidFill>
              </a:rPr>
              <a:t>Flex will only be applicable for MSA</a:t>
            </a:r>
          </a:p>
          <a:p>
            <a:pPr marL="285750" indent="-285750">
              <a:buFont typeface="Wingdings" panose="05000000000000000000" pitchFamily="2" charset="2"/>
              <a:buChar char="Ø"/>
            </a:pPr>
            <a:r>
              <a:rPr lang="en-US" altLang="zh-CN" sz="1200">
                <a:solidFill>
                  <a:schemeClr val="tx2">
                    <a:lumMod val="75000"/>
                    <a:lumOff val="25000"/>
                  </a:schemeClr>
                </a:solidFill>
              </a:rPr>
              <a:t>Flex Down need to</a:t>
            </a:r>
            <a:r>
              <a:rPr lang="zh-CN" altLang="en-US" sz="1200">
                <a:solidFill>
                  <a:schemeClr val="tx2">
                    <a:lumMod val="75000"/>
                    <a:lumOff val="25000"/>
                  </a:schemeClr>
                </a:solidFill>
              </a:rPr>
              <a:t> </a:t>
            </a:r>
            <a:r>
              <a:rPr lang="en-US" altLang="zh-CN" sz="1200">
                <a:solidFill>
                  <a:schemeClr val="tx2">
                    <a:lumMod val="75000"/>
                    <a:lumOff val="25000"/>
                  </a:schemeClr>
                </a:solidFill>
              </a:rPr>
              <a:t>realize ARS from defer immediately</a:t>
            </a:r>
          </a:p>
          <a:p>
            <a:pPr marL="285750" indent="-285750">
              <a:buFont typeface="Wingdings" panose="05000000000000000000" pitchFamily="2" charset="2"/>
              <a:buChar char="Ø"/>
            </a:pPr>
            <a:r>
              <a:rPr lang="en-US" altLang="zh-CN" sz="1200">
                <a:solidFill>
                  <a:schemeClr val="tx2">
                    <a:lumMod val="75000"/>
                    <a:lumOff val="25000"/>
                  </a:schemeClr>
                </a:solidFill>
              </a:rPr>
              <a:t>Flex pause=Brim will stop billing customer and no accounting entry</a:t>
            </a:r>
          </a:p>
          <a:p>
            <a:pPr marL="285750" indent="-285750">
              <a:buFont typeface="Wingdings" panose="05000000000000000000" pitchFamily="2" charset="2"/>
              <a:buChar char="Ø"/>
            </a:pPr>
            <a:r>
              <a:rPr lang="en-US" altLang="zh-CN" sz="1200">
                <a:solidFill>
                  <a:schemeClr val="tx2">
                    <a:lumMod val="75000"/>
                    <a:lumOff val="25000"/>
                  </a:schemeClr>
                </a:solidFill>
              </a:rPr>
              <a:t>Flex un-pause=Brim will continue to bill customer, entry will be the same to normal pass scenario</a:t>
            </a:r>
          </a:p>
          <a:p>
            <a:pPr marL="285750" indent="-285750">
              <a:buFont typeface="Wingdings" panose="05000000000000000000" pitchFamily="2" charset="2"/>
              <a:buChar char="Ø"/>
            </a:pPr>
            <a:r>
              <a:rPr lang="en-US" altLang="zh-CN" sz="1200">
                <a:solidFill>
                  <a:schemeClr val="tx2">
                    <a:lumMod val="75000"/>
                    <a:lumOff val="25000"/>
                  </a:schemeClr>
                </a:solidFill>
              </a:rPr>
              <a:t>Before Cut Off Date(25</a:t>
            </a:r>
            <a:r>
              <a:rPr lang="en-US" altLang="zh-CN" sz="1200" baseline="30000">
                <a:solidFill>
                  <a:schemeClr val="tx2">
                    <a:lumMod val="75000"/>
                    <a:lumOff val="25000"/>
                  </a:schemeClr>
                </a:solidFill>
              </a:rPr>
              <a:t>th</a:t>
            </a:r>
            <a:r>
              <a:rPr lang="en-US" altLang="zh-CN" sz="1200">
                <a:solidFill>
                  <a:schemeClr val="tx2">
                    <a:lumMod val="75000"/>
                    <a:lumOff val="25000"/>
                  </a:schemeClr>
                </a:solidFill>
              </a:rPr>
              <a:t>) (based on return or lock status),-stop billing customer from next</a:t>
            </a:r>
          </a:p>
          <a:p>
            <a:pPr marL="285750" indent="-285750">
              <a:buFont typeface="Wingdings" panose="05000000000000000000" pitchFamily="2" charset="2"/>
              <a:buChar char="Ø"/>
            </a:pPr>
            <a:r>
              <a:rPr lang="en-US" altLang="zh-CN" sz="1200">
                <a:solidFill>
                  <a:schemeClr val="tx2">
                    <a:lumMod val="75000"/>
                    <a:lumOff val="25000"/>
                  </a:schemeClr>
                </a:solidFill>
              </a:rPr>
              <a:t>After Cut Off Date(25</a:t>
            </a:r>
            <a:r>
              <a:rPr lang="en-US" altLang="zh-CN" sz="1200" baseline="30000">
                <a:solidFill>
                  <a:schemeClr val="tx2">
                    <a:lumMod val="75000"/>
                    <a:lumOff val="25000"/>
                  </a:schemeClr>
                </a:solidFill>
              </a:rPr>
              <a:t>th</a:t>
            </a:r>
            <a:r>
              <a:rPr lang="en-US" altLang="zh-CN" sz="1200">
                <a:solidFill>
                  <a:schemeClr val="tx2">
                    <a:lumMod val="75000"/>
                    <a:lumOff val="25000"/>
                  </a:schemeClr>
                </a:solidFill>
              </a:rPr>
              <a:t>) (based on return or lock status),-stop billing customer from the month after next</a:t>
            </a:r>
          </a:p>
        </p:txBody>
      </p:sp>
      <p:graphicFrame>
        <p:nvGraphicFramePr>
          <p:cNvPr id="8" name="表格 7">
            <a:extLst>
              <a:ext uri="{FF2B5EF4-FFF2-40B4-BE49-F238E27FC236}">
                <a16:creationId xmlns:a16="http://schemas.microsoft.com/office/drawing/2014/main" id="{4E68DED0-FD5E-C9CA-3A46-D672565FCE53}"/>
              </a:ext>
            </a:extLst>
          </p:cNvPr>
          <p:cNvGraphicFramePr>
            <a:graphicFrameLocks noGrp="1"/>
          </p:cNvGraphicFramePr>
          <p:nvPr>
            <p:extLst>
              <p:ext uri="{D42A27DB-BD31-4B8C-83A1-F6EECF244321}">
                <p14:modId xmlns:p14="http://schemas.microsoft.com/office/powerpoint/2010/main" val="2627832686"/>
              </p:ext>
            </p:extLst>
          </p:nvPr>
        </p:nvGraphicFramePr>
        <p:xfrm>
          <a:off x="6198407" y="1324311"/>
          <a:ext cx="5848244" cy="2084420"/>
        </p:xfrm>
        <a:graphic>
          <a:graphicData uri="http://schemas.openxmlformats.org/drawingml/2006/table">
            <a:tbl>
              <a:tblPr/>
              <a:tblGrid>
                <a:gridCol w="437298">
                  <a:extLst>
                    <a:ext uri="{9D8B030D-6E8A-4147-A177-3AD203B41FA5}">
                      <a16:colId xmlns:a16="http://schemas.microsoft.com/office/drawing/2014/main" val="495084399"/>
                    </a:ext>
                  </a:extLst>
                </a:gridCol>
                <a:gridCol w="240450">
                  <a:extLst>
                    <a:ext uri="{9D8B030D-6E8A-4147-A177-3AD203B41FA5}">
                      <a16:colId xmlns:a16="http://schemas.microsoft.com/office/drawing/2014/main" val="3614210242"/>
                    </a:ext>
                  </a:extLst>
                </a:gridCol>
                <a:gridCol w="547941">
                  <a:extLst>
                    <a:ext uri="{9D8B030D-6E8A-4147-A177-3AD203B41FA5}">
                      <a16:colId xmlns:a16="http://schemas.microsoft.com/office/drawing/2014/main" val="1442124609"/>
                    </a:ext>
                  </a:extLst>
                </a:gridCol>
                <a:gridCol w="2187524">
                  <a:extLst>
                    <a:ext uri="{9D8B030D-6E8A-4147-A177-3AD203B41FA5}">
                      <a16:colId xmlns:a16="http://schemas.microsoft.com/office/drawing/2014/main" val="3603859997"/>
                    </a:ext>
                  </a:extLst>
                </a:gridCol>
                <a:gridCol w="348400">
                  <a:extLst>
                    <a:ext uri="{9D8B030D-6E8A-4147-A177-3AD203B41FA5}">
                      <a16:colId xmlns:a16="http://schemas.microsoft.com/office/drawing/2014/main" val="4076488391"/>
                    </a:ext>
                  </a:extLst>
                </a:gridCol>
                <a:gridCol w="333608">
                  <a:extLst>
                    <a:ext uri="{9D8B030D-6E8A-4147-A177-3AD203B41FA5}">
                      <a16:colId xmlns:a16="http://schemas.microsoft.com/office/drawing/2014/main" val="3254101706"/>
                    </a:ext>
                  </a:extLst>
                </a:gridCol>
                <a:gridCol w="279399">
                  <a:extLst>
                    <a:ext uri="{9D8B030D-6E8A-4147-A177-3AD203B41FA5}">
                      <a16:colId xmlns:a16="http://schemas.microsoft.com/office/drawing/2014/main" val="3712391277"/>
                    </a:ext>
                  </a:extLst>
                </a:gridCol>
                <a:gridCol w="591287">
                  <a:extLst>
                    <a:ext uri="{9D8B030D-6E8A-4147-A177-3AD203B41FA5}">
                      <a16:colId xmlns:a16="http://schemas.microsoft.com/office/drawing/2014/main" val="1875139096"/>
                    </a:ext>
                  </a:extLst>
                </a:gridCol>
                <a:gridCol w="243538">
                  <a:extLst>
                    <a:ext uri="{9D8B030D-6E8A-4147-A177-3AD203B41FA5}">
                      <a16:colId xmlns:a16="http://schemas.microsoft.com/office/drawing/2014/main" val="2527660299"/>
                    </a:ext>
                  </a:extLst>
                </a:gridCol>
                <a:gridCol w="377689">
                  <a:extLst>
                    <a:ext uri="{9D8B030D-6E8A-4147-A177-3AD203B41FA5}">
                      <a16:colId xmlns:a16="http://schemas.microsoft.com/office/drawing/2014/main" val="3641075278"/>
                    </a:ext>
                  </a:extLst>
                </a:gridCol>
                <a:gridCol w="261110">
                  <a:extLst>
                    <a:ext uri="{9D8B030D-6E8A-4147-A177-3AD203B41FA5}">
                      <a16:colId xmlns:a16="http://schemas.microsoft.com/office/drawing/2014/main" val="3618613915"/>
                    </a:ext>
                  </a:extLst>
                </a:gridCol>
              </a:tblGrid>
              <a:tr h="182275">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Devices Flex Down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Flex Down Request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551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Finance Lease(applicable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9124900"/>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LTAR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N</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265705757"/>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premier(applicable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9" name="表格 8">
            <a:extLst>
              <a:ext uri="{FF2B5EF4-FFF2-40B4-BE49-F238E27FC236}">
                <a16:creationId xmlns:a16="http://schemas.microsoft.com/office/drawing/2014/main" id="{4C78DF7B-AC08-A164-6F95-2BF09A929B81}"/>
              </a:ext>
            </a:extLst>
          </p:cNvPr>
          <p:cNvGraphicFramePr>
            <a:graphicFrameLocks noGrp="1"/>
          </p:cNvGraphicFramePr>
          <p:nvPr>
            <p:extLst>
              <p:ext uri="{D42A27DB-BD31-4B8C-83A1-F6EECF244321}">
                <p14:modId xmlns:p14="http://schemas.microsoft.com/office/powerpoint/2010/main" val="3788991818"/>
              </p:ext>
            </p:extLst>
          </p:nvPr>
        </p:nvGraphicFramePr>
        <p:xfrm>
          <a:off x="6198409" y="3445175"/>
          <a:ext cx="5848242" cy="1143743"/>
        </p:xfrm>
        <a:graphic>
          <a:graphicData uri="http://schemas.openxmlformats.org/drawingml/2006/table">
            <a:tbl>
              <a:tblPr/>
              <a:tblGrid>
                <a:gridCol w="430623">
                  <a:extLst>
                    <a:ext uri="{9D8B030D-6E8A-4147-A177-3AD203B41FA5}">
                      <a16:colId xmlns:a16="http://schemas.microsoft.com/office/drawing/2014/main" val="495084399"/>
                    </a:ext>
                  </a:extLst>
                </a:gridCol>
                <a:gridCol w="244594">
                  <a:extLst>
                    <a:ext uri="{9D8B030D-6E8A-4147-A177-3AD203B41FA5}">
                      <a16:colId xmlns:a16="http://schemas.microsoft.com/office/drawing/2014/main" val="3614210242"/>
                    </a:ext>
                  </a:extLst>
                </a:gridCol>
                <a:gridCol w="563783">
                  <a:extLst>
                    <a:ext uri="{9D8B030D-6E8A-4147-A177-3AD203B41FA5}">
                      <a16:colId xmlns:a16="http://schemas.microsoft.com/office/drawing/2014/main" val="1442124609"/>
                    </a:ext>
                  </a:extLst>
                </a:gridCol>
                <a:gridCol w="2313635">
                  <a:extLst>
                    <a:ext uri="{9D8B030D-6E8A-4147-A177-3AD203B41FA5}">
                      <a16:colId xmlns:a16="http://schemas.microsoft.com/office/drawing/2014/main" val="3603859997"/>
                    </a:ext>
                  </a:extLst>
                </a:gridCol>
                <a:gridCol w="282113">
                  <a:extLst>
                    <a:ext uri="{9D8B030D-6E8A-4147-A177-3AD203B41FA5}">
                      <a16:colId xmlns:a16="http://schemas.microsoft.com/office/drawing/2014/main" val="4076488391"/>
                    </a:ext>
                  </a:extLst>
                </a:gridCol>
                <a:gridCol w="398830">
                  <a:extLst>
                    <a:ext uri="{9D8B030D-6E8A-4147-A177-3AD203B41FA5}">
                      <a16:colId xmlns:a16="http://schemas.microsoft.com/office/drawing/2014/main" val="3254101706"/>
                    </a:ext>
                  </a:extLst>
                </a:gridCol>
                <a:gridCol w="368919">
                  <a:extLst>
                    <a:ext uri="{9D8B030D-6E8A-4147-A177-3AD203B41FA5}">
                      <a16:colId xmlns:a16="http://schemas.microsoft.com/office/drawing/2014/main" val="3712391277"/>
                    </a:ext>
                  </a:extLst>
                </a:gridCol>
                <a:gridCol w="269211">
                  <a:extLst>
                    <a:ext uri="{9D8B030D-6E8A-4147-A177-3AD203B41FA5}">
                      <a16:colId xmlns:a16="http://schemas.microsoft.com/office/drawing/2014/main" val="1008187684"/>
                    </a:ext>
                  </a:extLst>
                </a:gridCol>
                <a:gridCol w="269211">
                  <a:extLst>
                    <a:ext uri="{9D8B030D-6E8A-4147-A177-3AD203B41FA5}">
                      <a16:colId xmlns:a16="http://schemas.microsoft.com/office/drawing/2014/main" val="2527660299"/>
                    </a:ext>
                  </a:extLst>
                </a:gridCol>
                <a:gridCol w="388415">
                  <a:extLst>
                    <a:ext uri="{9D8B030D-6E8A-4147-A177-3AD203B41FA5}">
                      <a16:colId xmlns:a16="http://schemas.microsoft.com/office/drawing/2014/main" val="3641075278"/>
                    </a:ext>
                  </a:extLst>
                </a:gridCol>
                <a:gridCol w="318908">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0" name="表格 9">
            <a:extLst>
              <a:ext uri="{FF2B5EF4-FFF2-40B4-BE49-F238E27FC236}">
                <a16:creationId xmlns:a16="http://schemas.microsoft.com/office/drawing/2014/main" id="{D9765A33-A5CE-F83E-DA3D-341651AD6251}"/>
              </a:ext>
            </a:extLst>
          </p:cNvPr>
          <p:cNvGraphicFramePr>
            <a:graphicFrameLocks noGrp="1"/>
          </p:cNvGraphicFramePr>
          <p:nvPr>
            <p:extLst>
              <p:ext uri="{D42A27DB-BD31-4B8C-83A1-F6EECF244321}">
                <p14:modId xmlns:p14="http://schemas.microsoft.com/office/powerpoint/2010/main" val="1862533878"/>
              </p:ext>
            </p:extLst>
          </p:nvPr>
        </p:nvGraphicFramePr>
        <p:xfrm>
          <a:off x="6208742" y="4633248"/>
          <a:ext cx="5848243" cy="1143743"/>
        </p:xfrm>
        <a:graphic>
          <a:graphicData uri="http://schemas.openxmlformats.org/drawingml/2006/table">
            <a:tbl>
              <a:tblPr/>
              <a:tblGrid>
                <a:gridCol w="413918">
                  <a:extLst>
                    <a:ext uri="{9D8B030D-6E8A-4147-A177-3AD203B41FA5}">
                      <a16:colId xmlns:a16="http://schemas.microsoft.com/office/drawing/2014/main" val="495084399"/>
                    </a:ext>
                  </a:extLst>
                </a:gridCol>
                <a:gridCol w="229399">
                  <a:extLst>
                    <a:ext uri="{9D8B030D-6E8A-4147-A177-3AD203B41FA5}">
                      <a16:colId xmlns:a16="http://schemas.microsoft.com/office/drawing/2014/main" val="3614210242"/>
                    </a:ext>
                  </a:extLst>
                </a:gridCol>
                <a:gridCol w="564973">
                  <a:extLst>
                    <a:ext uri="{9D8B030D-6E8A-4147-A177-3AD203B41FA5}">
                      <a16:colId xmlns:a16="http://schemas.microsoft.com/office/drawing/2014/main" val="1442124609"/>
                    </a:ext>
                  </a:extLst>
                </a:gridCol>
                <a:gridCol w="2216597">
                  <a:extLst>
                    <a:ext uri="{9D8B030D-6E8A-4147-A177-3AD203B41FA5}">
                      <a16:colId xmlns:a16="http://schemas.microsoft.com/office/drawing/2014/main" val="3603859997"/>
                    </a:ext>
                  </a:extLst>
                </a:gridCol>
                <a:gridCol w="450654">
                  <a:extLst>
                    <a:ext uri="{9D8B030D-6E8A-4147-A177-3AD203B41FA5}">
                      <a16:colId xmlns:a16="http://schemas.microsoft.com/office/drawing/2014/main" val="4076488391"/>
                    </a:ext>
                  </a:extLst>
                </a:gridCol>
                <a:gridCol w="410595">
                  <a:extLst>
                    <a:ext uri="{9D8B030D-6E8A-4147-A177-3AD203B41FA5}">
                      <a16:colId xmlns:a16="http://schemas.microsoft.com/office/drawing/2014/main" val="3254101706"/>
                    </a:ext>
                  </a:extLst>
                </a:gridCol>
                <a:gridCol w="350508">
                  <a:extLst>
                    <a:ext uri="{9D8B030D-6E8A-4147-A177-3AD203B41FA5}">
                      <a16:colId xmlns:a16="http://schemas.microsoft.com/office/drawing/2014/main" val="3712391277"/>
                    </a:ext>
                  </a:extLst>
                </a:gridCol>
                <a:gridCol w="260377">
                  <a:extLst>
                    <a:ext uri="{9D8B030D-6E8A-4147-A177-3AD203B41FA5}">
                      <a16:colId xmlns:a16="http://schemas.microsoft.com/office/drawing/2014/main" val="3643425350"/>
                    </a:ext>
                  </a:extLst>
                </a:gridCol>
                <a:gridCol w="260377">
                  <a:extLst>
                    <a:ext uri="{9D8B030D-6E8A-4147-A177-3AD203B41FA5}">
                      <a16:colId xmlns:a16="http://schemas.microsoft.com/office/drawing/2014/main" val="2527660299"/>
                    </a:ext>
                  </a:extLst>
                </a:gridCol>
                <a:gridCol w="390566">
                  <a:extLst>
                    <a:ext uri="{9D8B030D-6E8A-4147-A177-3AD203B41FA5}">
                      <a16:colId xmlns:a16="http://schemas.microsoft.com/office/drawing/2014/main" val="3641075278"/>
                    </a:ext>
                  </a:extLst>
                </a:gridCol>
                <a:gridCol w="300279">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11" name="表格 10">
            <a:extLst>
              <a:ext uri="{FF2B5EF4-FFF2-40B4-BE49-F238E27FC236}">
                <a16:creationId xmlns:a16="http://schemas.microsoft.com/office/drawing/2014/main" id="{825F2E51-FA4C-E874-094F-9354342BBA5F}"/>
              </a:ext>
            </a:extLst>
          </p:cNvPr>
          <p:cNvGraphicFramePr>
            <a:graphicFrameLocks noGrp="1"/>
          </p:cNvGraphicFramePr>
          <p:nvPr>
            <p:extLst>
              <p:ext uri="{D42A27DB-BD31-4B8C-83A1-F6EECF244321}">
                <p14:modId xmlns:p14="http://schemas.microsoft.com/office/powerpoint/2010/main" val="3024576019"/>
              </p:ext>
            </p:extLst>
          </p:nvPr>
        </p:nvGraphicFramePr>
        <p:xfrm>
          <a:off x="180249" y="6633724"/>
          <a:ext cx="5936900" cy="1178964"/>
        </p:xfrm>
        <a:graphic>
          <a:graphicData uri="http://schemas.openxmlformats.org/drawingml/2006/table">
            <a:tbl>
              <a:tblPr/>
              <a:tblGrid>
                <a:gridCol w="430191">
                  <a:extLst>
                    <a:ext uri="{9D8B030D-6E8A-4147-A177-3AD203B41FA5}">
                      <a16:colId xmlns:a16="http://schemas.microsoft.com/office/drawing/2014/main" val="495084399"/>
                    </a:ext>
                  </a:extLst>
                </a:gridCol>
                <a:gridCol w="236540">
                  <a:extLst>
                    <a:ext uri="{9D8B030D-6E8A-4147-A177-3AD203B41FA5}">
                      <a16:colId xmlns:a16="http://schemas.microsoft.com/office/drawing/2014/main" val="3614210242"/>
                    </a:ext>
                  </a:extLst>
                </a:gridCol>
                <a:gridCol w="562935">
                  <a:extLst>
                    <a:ext uri="{9D8B030D-6E8A-4147-A177-3AD203B41FA5}">
                      <a16:colId xmlns:a16="http://schemas.microsoft.com/office/drawing/2014/main" val="1442124609"/>
                    </a:ext>
                  </a:extLst>
                </a:gridCol>
                <a:gridCol w="2204316">
                  <a:extLst>
                    <a:ext uri="{9D8B030D-6E8A-4147-A177-3AD203B41FA5}">
                      <a16:colId xmlns:a16="http://schemas.microsoft.com/office/drawing/2014/main" val="3603859997"/>
                    </a:ext>
                  </a:extLst>
                </a:gridCol>
                <a:gridCol w="610523">
                  <a:extLst>
                    <a:ext uri="{9D8B030D-6E8A-4147-A177-3AD203B41FA5}">
                      <a16:colId xmlns:a16="http://schemas.microsoft.com/office/drawing/2014/main" val="4076488391"/>
                    </a:ext>
                  </a:extLst>
                </a:gridCol>
                <a:gridCol w="342735">
                  <a:extLst>
                    <a:ext uri="{9D8B030D-6E8A-4147-A177-3AD203B41FA5}">
                      <a16:colId xmlns:a16="http://schemas.microsoft.com/office/drawing/2014/main" val="3254101706"/>
                    </a:ext>
                  </a:extLst>
                </a:gridCol>
                <a:gridCol w="274858">
                  <a:extLst>
                    <a:ext uri="{9D8B030D-6E8A-4147-A177-3AD203B41FA5}">
                      <a16:colId xmlns:a16="http://schemas.microsoft.com/office/drawing/2014/main" val="3712391277"/>
                    </a:ext>
                  </a:extLst>
                </a:gridCol>
                <a:gridCol w="294243">
                  <a:extLst>
                    <a:ext uri="{9D8B030D-6E8A-4147-A177-3AD203B41FA5}">
                      <a16:colId xmlns:a16="http://schemas.microsoft.com/office/drawing/2014/main" val="956071091"/>
                    </a:ext>
                  </a:extLst>
                </a:gridCol>
                <a:gridCol w="281200">
                  <a:extLst>
                    <a:ext uri="{9D8B030D-6E8A-4147-A177-3AD203B41FA5}">
                      <a16:colId xmlns:a16="http://schemas.microsoft.com/office/drawing/2014/main" val="2527660299"/>
                    </a:ext>
                  </a:extLst>
                </a:gridCol>
                <a:gridCol w="405116">
                  <a:extLst>
                    <a:ext uri="{9D8B030D-6E8A-4147-A177-3AD203B41FA5}">
                      <a16:colId xmlns:a16="http://schemas.microsoft.com/office/drawing/2014/main" val="3641075278"/>
                    </a:ext>
                  </a:extLst>
                </a:gridCol>
                <a:gridCol w="294243">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12" name="表格 11">
            <a:extLst>
              <a:ext uri="{FF2B5EF4-FFF2-40B4-BE49-F238E27FC236}">
                <a16:creationId xmlns:a16="http://schemas.microsoft.com/office/drawing/2014/main" id="{6268DAE5-54E5-D01B-534A-7B8A75228258}"/>
              </a:ext>
            </a:extLst>
          </p:cNvPr>
          <p:cNvGraphicFramePr>
            <a:graphicFrameLocks noGrp="1"/>
          </p:cNvGraphicFramePr>
          <p:nvPr>
            <p:extLst>
              <p:ext uri="{D42A27DB-BD31-4B8C-83A1-F6EECF244321}">
                <p14:modId xmlns:p14="http://schemas.microsoft.com/office/powerpoint/2010/main" val="1357673371"/>
              </p:ext>
            </p:extLst>
          </p:nvPr>
        </p:nvGraphicFramePr>
        <p:xfrm>
          <a:off x="6208743" y="5776991"/>
          <a:ext cx="5848242" cy="1178964"/>
        </p:xfrm>
        <a:graphic>
          <a:graphicData uri="http://schemas.openxmlformats.org/drawingml/2006/table">
            <a:tbl>
              <a:tblPr/>
              <a:tblGrid>
                <a:gridCol w="423766">
                  <a:extLst>
                    <a:ext uri="{9D8B030D-6E8A-4147-A177-3AD203B41FA5}">
                      <a16:colId xmlns:a16="http://schemas.microsoft.com/office/drawing/2014/main" val="495084399"/>
                    </a:ext>
                  </a:extLst>
                </a:gridCol>
                <a:gridCol w="233008">
                  <a:extLst>
                    <a:ext uri="{9D8B030D-6E8A-4147-A177-3AD203B41FA5}">
                      <a16:colId xmlns:a16="http://schemas.microsoft.com/office/drawing/2014/main" val="3614210242"/>
                    </a:ext>
                  </a:extLst>
                </a:gridCol>
                <a:gridCol w="554528">
                  <a:extLst>
                    <a:ext uri="{9D8B030D-6E8A-4147-A177-3AD203B41FA5}">
                      <a16:colId xmlns:a16="http://schemas.microsoft.com/office/drawing/2014/main" val="1442124609"/>
                    </a:ext>
                  </a:extLst>
                </a:gridCol>
                <a:gridCol w="2171399">
                  <a:extLst>
                    <a:ext uri="{9D8B030D-6E8A-4147-A177-3AD203B41FA5}">
                      <a16:colId xmlns:a16="http://schemas.microsoft.com/office/drawing/2014/main" val="3603859997"/>
                    </a:ext>
                  </a:extLst>
                </a:gridCol>
                <a:gridCol w="601406">
                  <a:extLst>
                    <a:ext uri="{9D8B030D-6E8A-4147-A177-3AD203B41FA5}">
                      <a16:colId xmlns:a16="http://schemas.microsoft.com/office/drawing/2014/main" val="4076488391"/>
                    </a:ext>
                  </a:extLst>
                </a:gridCol>
                <a:gridCol w="337617">
                  <a:extLst>
                    <a:ext uri="{9D8B030D-6E8A-4147-A177-3AD203B41FA5}">
                      <a16:colId xmlns:a16="http://schemas.microsoft.com/office/drawing/2014/main" val="3254101706"/>
                    </a:ext>
                  </a:extLst>
                </a:gridCol>
                <a:gridCol w="270753">
                  <a:extLst>
                    <a:ext uri="{9D8B030D-6E8A-4147-A177-3AD203B41FA5}">
                      <a16:colId xmlns:a16="http://schemas.microsoft.com/office/drawing/2014/main" val="3712391277"/>
                    </a:ext>
                  </a:extLst>
                </a:gridCol>
                <a:gridCol w="289849">
                  <a:extLst>
                    <a:ext uri="{9D8B030D-6E8A-4147-A177-3AD203B41FA5}">
                      <a16:colId xmlns:a16="http://schemas.microsoft.com/office/drawing/2014/main" val="956071091"/>
                    </a:ext>
                  </a:extLst>
                </a:gridCol>
                <a:gridCol w="277000">
                  <a:extLst>
                    <a:ext uri="{9D8B030D-6E8A-4147-A177-3AD203B41FA5}">
                      <a16:colId xmlns:a16="http://schemas.microsoft.com/office/drawing/2014/main" val="2527660299"/>
                    </a:ext>
                  </a:extLst>
                </a:gridCol>
                <a:gridCol w="399067">
                  <a:extLst>
                    <a:ext uri="{9D8B030D-6E8A-4147-A177-3AD203B41FA5}">
                      <a16:colId xmlns:a16="http://schemas.microsoft.com/office/drawing/2014/main" val="3641075278"/>
                    </a:ext>
                  </a:extLst>
                </a:gridCol>
                <a:gridCol w="289849">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spTree>
    <p:extLst>
      <p:ext uri="{BB962C8B-B14F-4D97-AF65-F5344CB8AC3E}">
        <p14:creationId xmlns:p14="http://schemas.microsoft.com/office/powerpoint/2010/main" val="2760113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632B20-3BD5-5F7D-6CE0-AD6CB8A3A2A1}"/>
            </a:ext>
          </a:extLst>
        </p:cNvPr>
        <p:cNvGrpSpPr/>
        <p:nvPr/>
      </p:nvGrpSpPr>
      <p:grpSpPr>
        <a:xfrm>
          <a:off x="0" y="0"/>
          <a:ext cx="0" cy="0"/>
          <a:chOff x="0" y="0"/>
          <a:chExt cx="0" cy="0"/>
        </a:xfrm>
      </p:grpSpPr>
      <p:sp>
        <p:nvSpPr>
          <p:cNvPr id="5" name="文本框 4">
            <a:extLst>
              <a:ext uri="{FF2B5EF4-FFF2-40B4-BE49-F238E27FC236}">
                <a16:creationId xmlns:a16="http://schemas.microsoft.com/office/drawing/2014/main" id="{F7ADFE28-518F-46B5-750C-C687CADC9A8F}"/>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DaaS_AFE_MSA&amp;MLA</a:t>
            </a:r>
            <a:endParaRPr lang="zh-CN" altLang="en-US" sz="2000" b="1"/>
          </a:p>
        </p:txBody>
      </p:sp>
      <p:cxnSp>
        <p:nvCxnSpPr>
          <p:cNvPr id="3" name="直接连接符 2">
            <a:extLst>
              <a:ext uri="{FF2B5EF4-FFF2-40B4-BE49-F238E27FC236}">
                <a16:creationId xmlns:a16="http://schemas.microsoft.com/office/drawing/2014/main" id="{D022D6C5-C47D-F7D7-3FA4-02A2929EC695}"/>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2" name="表格 1">
            <a:extLst>
              <a:ext uri="{FF2B5EF4-FFF2-40B4-BE49-F238E27FC236}">
                <a16:creationId xmlns:a16="http://schemas.microsoft.com/office/drawing/2014/main" id="{E6F3BF53-3EA5-4665-A613-676F5707E8B6}"/>
              </a:ext>
            </a:extLst>
          </p:cNvPr>
          <p:cNvGraphicFramePr>
            <a:graphicFrameLocks noGrp="1"/>
          </p:cNvGraphicFramePr>
          <p:nvPr>
            <p:extLst>
              <p:ext uri="{D42A27DB-BD31-4B8C-83A1-F6EECF244321}">
                <p14:modId xmlns:p14="http://schemas.microsoft.com/office/powerpoint/2010/main" val="3782175320"/>
              </p:ext>
            </p:extLst>
          </p:nvPr>
        </p:nvGraphicFramePr>
        <p:xfrm>
          <a:off x="6184086" y="2001845"/>
          <a:ext cx="5981955" cy="2201599"/>
        </p:xfrm>
        <a:graphic>
          <a:graphicData uri="http://schemas.openxmlformats.org/drawingml/2006/table">
            <a:tbl>
              <a:tblPr/>
              <a:tblGrid>
                <a:gridCol w="418502">
                  <a:extLst>
                    <a:ext uri="{9D8B030D-6E8A-4147-A177-3AD203B41FA5}">
                      <a16:colId xmlns:a16="http://schemas.microsoft.com/office/drawing/2014/main" val="495084399"/>
                    </a:ext>
                  </a:extLst>
                </a:gridCol>
                <a:gridCol w="237710">
                  <a:extLst>
                    <a:ext uri="{9D8B030D-6E8A-4147-A177-3AD203B41FA5}">
                      <a16:colId xmlns:a16="http://schemas.microsoft.com/office/drawing/2014/main" val="3614210242"/>
                    </a:ext>
                  </a:extLst>
                </a:gridCol>
                <a:gridCol w="547640">
                  <a:extLst>
                    <a:ext uri="{9D8B030D-6E8A-4147-A177-3AD203B41FA5}">
                      <a16:colId xmlns:a16="http://schemas.microsoft.com/office/drawing/2014/main" val="1442124609"/>
                    </a:ext>
                  </a:extLst>
                </a:gridCol>
                <a:gridCol w="2008821">
                  <a:extLst>
                    <a:ext uri="{9D8B030D-6E8A-4147-A177-3AD203B41FA5}">
                      <a16:colId xmlns:a16="http://schemas.microsoft.com/office/drawing/2014/main" val="3603859997"/>
                    </a:ext>
                  </a:extLst>
                </a:gridCol>
                <a:gridCol w="349986">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273468">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872140390"/>
                    </a:ext>
                  </a:extLst>
                </a:gridCol>
                <a:gridCol w="262018">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548102">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Extension Invoice issued to customer </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1479446"/>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6" name="表格 5">
            <a:extLst>
              <a:ext uri="{FF2B5EF4-FFF2-40B4-BE49-F238E27FC236}">
                <a16:creationId xmlns:a16="http://schemas.microsoft.com/office/drawing/2014/main" id="{CE3207B4-FCF9-1FD9-254A-8DA27C206FF3}"/>
              </a:ext>
            </a:extLst>
          </p:cNvPr>
          <p:cNvGraphicFramePr>
            <a:graphicFrameLocks noGrp="1"/>
          </p:cNvGraphicFramePr>
          <p:nvPr>
            <p:extLst>
              <p:ext uri="{D42A27DB-BD31-4B8C-83A1-F6EECF244321}">
                <p14:modId xmlns:p14="http://schemas.microsoft.com/office/powerpoint/2010/main" val="188704332"/>
              </p:ext>
            </p:extLst>
          </p:nvPr>
        </p:nvGraphicFramePr>
        <p:xfrm>
          <a:off x="100071" y="447365"/>
          <a:ext cx="5890437" cy="155448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cxnSp>
        <p:nvCxnSpPr>
          <p:cNvPr id="7" name="直接连接符 6">
            <a:extLst>
              <a:ext uri="{FF2B5EF4-FFF2-40B4-BE49-F238E27FC236}">
                <a16:creationId xmlns:a16="http://schemas.microsoft.com/office/drawing/2014/main" id="{4B617E5E-85BE-36C3-57E9-1A50BF4FFBD9}"/>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0" name="表格 9">
            <a:extLst>
              <a:ext uri="{FF2B5EF4-FFF2-40B4-BE49-F238E27FC236}">
                <a16:creationId xmlns:a16="http://schemas.microsoft.com/office/drawing/2014/main" id="{96AFE434-7890-F5DA-2F19-2C44FFE3FE02}"/>
              </a:ext>
            </a:extLst>
          </p:cNvPr>
          <p:cNvGraphicFramePr>
            <a:graphicFrameLocks noGrp="1"/>
          </p:cNvGraphicFramePr>
          <p:nvPr>
            <p:extLst>
              <p:ext uri="{D42A27DB-BD31-4B8C-83A1-F6EECF244321}">
                <p14:modId xmlns:p14="http://schemas.microsoft.com/office/powerpoint/2010/main" val="4293963109"/>
              </p:ext>
            </p:extLst>
          </p:nvPr>
        </p:nvGraphicFramePr>
        <p:xfrm>
          <a:off x="6201493" y="447365"/>
          <a:ext cx="5947143" cy="1554480"/>
        </p:xfrm>
        <a:graphic>
          <a:graphicData uri="http://schemas.openxmlformats.org/drawingml/2006/table">
            <a:tbl>
              <a:tblPr firstRow="1" bandRow="1">
                <a:tableStyleId>{3C2FFA5D-87B4-456A-9821-1D502468CF0F}</a:tableStyleId>
              </a:tblPr>
              <a:tblGrid>
                <a:gridCol w="690135">
                  <a:extLst>
                    <a:ext uri="{9D8B030D-6E8A-4147-A177-3AD203B41FA5}">
                      <a16:colId xmlns:a16="http://schemas.microsoft.com/office/drawing/2014/main" val="869603910"/>
                    </a:ext>
                  </a:extLst>
                </a:gridCol>
                <a:gridCol w="696158">
                  <a:extLst>
                    <a:ext uri="{9D8B030D-6E8A-4147-A177-3AD203B41FA5}">
                      <a16:colId xmlns:a16="http://schemas.microsoft.com/office/drawing/2014/main" val="238663902"/>
                    </a:ext>
                  </a:extLst>
                </a:gridCol>
                <a:gridCol w="648586">
                  <a:extLst>
                    <a:ext uri="{9D8B030D-6E8A-4147-A177-3AD203B41FA5}">
                      <a16:colId xmlns:a16="http://schemas.microsoft.com/office/drawing/2014/main" val="4114365151"/>
                    </a:ext>
                  </a:extLst>
                </a:gridCol>
                <a:gridCol w="662761">
                  <a:extLst>
                    <a:ext uri="{9D8B030D-6E8A-4147-A177-3AD203B41FA5}">
                      <a16:colId xmlns:a16="http://schemas.microsoft.com/office/drawing/2014/main" val="4075178046"/>
                    </a:ext>
                  </a:extLst>
                </a:gridCol>
                <a:gridCol w="808074">
                  <a:extLst>
                    <a:ext uri="{9D8B030D-6E8A-4147-A177-3AD203B41FA5}">
                      <a16:colId xmlns:a16="http://schemas.microsoft.com/office/drawing/2014/main" val="973533418"/>
                    </a:ext>
                  </a:extLst>
                </a:gridCol>
                <a:gridCol w="733647">
                  <a:extLst>
                    <a:ext uri="{9D8B030D-6E8A-4147-A177-3AD203B41FA5}">
                      <a16:colId xmlns:a16="http://schemas.microsoft.com/office/drawing/2014/main" val="2377711782"/>
                    </a:ext>
                  </a:extLst>
                </a:gridCol>
                <a:gridCol w="818707">
                  <a:extLst>
                    <a:ext uri="{9D8B030D-6E8A-4147-A177-3AD203B41FA5}">
                      <a16:colId xmlns:a16="http://schemas.microsoft.com/office/drawing/2014/main" val="3946881186"/>
                    </a:ext>
                  </a:extLst>
                </a:gridCol>
                <a:gridCol w="889075">
                  <a:extLst>
                    <a:ext uri="{9D8B030D-6E8A-4147-A177-3AD203B41FA5}">
                      <a16:colId xmlns:a16="http://schemas.microsoft.com/office/drawing/2014/main" val="221569069"/>
                    </a:ext>
                  </a:extLst>
                </a:gridCol>
              </a:tblGrid>
              <a:tr h="53266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81650">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411006">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 </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11" name="表格 10">
            <a:extLst>
              <a:ext uri="{FF2B5EF4-FFF2-40B4-BE49-F238E27FC236}">
                <a16:creationId xmlns:a16="http://schemas.microsoft.com/office/drawing/2014/main" id="{13450B35-1CC7-7B80-8A13-8A7A8973BDDD}"/>
              </a:ext>
            </a:extLst>
          </p:cNvPr>
          <p:cNvGraphicFramePr>
            <a:graphicFrameLocks noGrp="1"/>
          </p:cNvGraphicFramePr>
          <p:nvPr>
            <p:extLst>
              <p:ext uri="{D42A27DB-BD31-4B8C-83A1-F6EECF244321}">
                <p14:modId xmlns:p14="http://schemas.microsoft.com/office/powerpoint/2010/main" val="1445790636"/>
              </p:ext>
            </p:extLst>
          </p:nvPr>
        </p:nvGraphicFramePr>
        <p:xfrm>
          <a:off x="89438" y="2001845"/>
          <a:ext cx="5901070"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36187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2" name="表格 11">
            <a:extLst>
              <a:ext uri="{FF2B5EF4-FFF2-40B4-BE49-F238E27FC236}">
                <a16:creationId xmlns:a16="http://schemas.microsoft.com/office/drawing/2014/main" id="{66FB9AEC-599E-A574-A455-AE1232B32D4B}"/>
              </a:ext>
            </a:extLst>
          </p:cNvPr>
          <p:cNvGraphicFramePr>
            <a:graphicFrameLocks noGrp="1"/>
          </p:cNvGraphicFramePr>
          <p:nvPr>
            <p:extLst>
              <p:ext uri="{D42A27DB-BD31-4B8C-83A1-F6EECF244321}">
                <p14:modId xmlns:p14="http://schemas.microsoft.com/office/powerpoint/2010/main" val="634598169"/>
              </p:ext>
            </p:extLst>
          </p:nvPr>
        </p:nvGraphicFramePr>
        <p:xfrm>
          <a:off x="89438" y="4251840"/>
          <a:ext cx="5983350"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92836">
                  <a:extLst>
                    <a:ext uri="{9D8B030D-6E8A-4147-A177-3AD203B41FA5}">
                      <a16:colId xmlns:a16="http://schemas.microsoft.com/office/drawing/2014/main" val="3614210242"/>
                    </a:ext>
                  </a:extLst>
                </a:gridCol>
                <a:gridCol w="572523">
                  <a:extLst>
                    <a:ext uri="{9D8B030D-6E8A-4147-A177-3AD203B41FA5}">
                      <a16:colId xmlns:a16="http://schemas.microsoft.com/office/drawing/2014/main" val="1442124609"/>
                    </a:ext>
                  </a:extLst>
                </a:gridCol>
                <a:gridCol w="2349500">
                  <a:extLst>
                    <a:ext uri="{9D8B030D-6E8A-4147-A177-3AD203B41FA5}">
                      <a16:colId xmlns:a16="http://schemas.microsoft.com/office/drawing/2014/main" val="3603859997"/>
                    </a:ext>
                  </a:extLst>
                </a:gridCol>
                <a:gridCol w="286486">
                  <a:extLst>
                    <a:ext uri="{9D8B030D-6E8A-4147-A177-3AD203B41FA5}">
                      <a16:colId xmlns:a16="http://schemas.microsoft.com/office/drawing/2014/main" val="4076488391"/>
                    </a:ext>
                  </a:extLst>
                </a:gridCol>
                <a:gridCol w="405013">
                  <a:extLst>
                    <a:ext uri="{9D8B030D-6E8A-4147-A177-3AD203B41FA5}">
                      <a16:colId xmlns:a16="http://schemas.microsoft.com/office/drawing/2014/main" val="3254101706"/>
                    </a:ext>
                  </a:extLst>
                </a:gridCol>
                <a:gridCol w="374638">
                  <a:extLst>
                    <a:ext uri="{9D8B030D-6E8A-4147-A177-3AD203B41FA5}">
                      <a16:colId xmlns:a16="http://schemas.microsoft.com/office/drawing/2014/main" val="3712391277"/>
                    </a:ext>
                  </a:extLst>
                </a:gridCol>
                <a:gridCol w="273384">
                  <a:extLst>
                    <a:ext uri="{9D8B030D-6E8A-4147-A177-3AD203B41FA5}">
                      <a16:colId xmlns:a16="http://schemas.microsoft.com/office/drawing/2014/main" val="1008187684"/>
                    </a:ext>
                  </a:extLst>
                </a:gridCol>
                <a:gridCol w="273384">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323852">
                  <a:extLst>
                    <a:ext uri="{9D8B030D-6E8A-4147-A177-3AD203B41FA5}">
                      <a16:colId xmlns:a16="http://schemas.microsoft.com/office/drawing/2014/main" val="3618613915"/>
                    </a:ext>
                  </a:extLst>
                </a:gridCol>
              </a:tblGrid>
              <a:tr h="16173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85450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3" name="表格 12">
            <a:extLst>
              <a:ext uri="{FF2B5EF4-FFF2-40B4-BE49-F238E27FC236}">
                <a16:creationId xmlns:a16="http://schemas.microsoft.com/office/drawing/2014/main" id="{2CEB0CD2-821E-9759-AEF9-8DC2073E7DF4}"/>
              </a:ext>
            </a:extLst>
          </p:cNvPr>
          <p:cNvGraphicFramePr>
            <a:graphicFrameLocks noGrp="1"/>
          </p:cNvGraphicFramePr>
          <p:nvPr>
            <p:extLst>
              <p:ext uri="{D42A27DB-BD31-4B8C-83A1-F6EECF244321}">
                <p14:modId xmlns:p14="http://schemas.microsoft.com/office/powerpoint/2010/main" val="639787492"/>
              </p:ext>
            </p:extLst>
          </p:nvPr>
        </p:nvGraphicFramePr>
        <p:xfrm>
          <a:off x="75885" y="5632243"/>
          <a:ext cx="5923424" cy="1332007"/>
        </p:xfrm>
        <a:graphic>
          <a:graphicData uri="http://schemas.openxmlformats.org/drawingml/2006/table">
            <a:tbl>
              <a:tblPr/>
              <a:tblGrid>
                <a:gridCol w="419239">
                  <a:extLst>
                    <a:ext uri="{9D8B030D-6E8A-4147-A177-3AD203B41FA5}">
                      <a16:colId xmlns:a16="http://schemas.microsoft.com/office/drawing/2014/main" val="495084399"/>
                    </a:ext>
                  </a:extLst>
                </a:gridCol>
                <a:gridCol w="2323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45093">
                  <a:extLst>
                    <a:ext uri="{9D8B030D-6E8A-4147-A177-3AD203B41FA5}">
                      <a16:colId xmlns:a16="http://schemas.microsoft.com/office/drawing/2014/main" val="3603859997"/>
                    </a:ext>
                  </a:extLst>
                </a:gridCol>
                <a:gridCol w="456447">
                  <a:extLst>
                    <a:ext uri="{9D8B030D-6E8A-4147-A177-3AD203B41FA5}">
                      <a16:colId xmlns:a16="http://schemas.microsoft.com/office/drawing/2014/main" val="4076488391"/>
                    </a:ext>
                  </a:extLst>
                </a:gridCol>
                <a:gridCol w="415873">
                  <a:extLst>
                    <a:ext uri="{9D8B030D-6E8A-4147-A177-3AD203B41FA5}">
                      <a16:colId xmlns:a16="http://schemas.microsoft.com/office/drawing/2014/main" val="3254101706"/>
                    </a:ext>
                  </a:extLst>
                </a:gridCol>
                <a:gridCol w="355014">
                  <a:extLst>
                    <a:ext uri="{9D8B030D-6E8A-4147-A177-3AD203B41FA5}">
                      <a16:colId xmlns:a16="http://schemas.microsoft.com/office/drawing/2014/main" val="3712391277"/>
                    </a:ext>
                  </a:extLst>
                </a:gridCol>
                <a:gridCol w="263724">
                  <a:extLst>
                    <a:ext uri="{9D8B030D-6E8A-4147-A177-3AD203B41FA5}">
                      <a16:colId xmlns:a16="http://schemas.microsoft.com/office/drawing/2014/main" val="3643425350"/>
                    </a:ext>
                  </a:extLst>
                </a:gridCol>
                <a:gridCol w="263724">
                  <a:extLst>
                    <a:ext uri="{9D8B030D-6E8A-4147-A177-3AD203B41FA5}">
                      <a16:colId xmlns:a16="http://schemas.microsoft.com/office/drawing/2014/main" val="2527660299"/>
                    </a:ext>
                  </a:extLst>
                </a:gridCol>
                <a:gridCol w="395587">
                  <a:extLst>
                    <a:ext uri="{9D8B030D-6E8A-4147-A177-3AD203B41FA5}">
                      <a16:colId xmlns:a16="http://schemas.microsoft.com/office/drawing/2014/main" val="3641075278"/>
                    </a:ext>
                  </a:extLst>
                </a:gridCol>
                <a:gridCol w="304139">
                  <a:extLst>
                    <a:ext uri="{9D8B030D-6E8A-4147-A177-3AD203B41FA5}">
                      <a16:colId xmlns:a16="http://schemas.microsoft.com/office/drawing/2014/main" val="3618613915"/>
                    </a:ext>
                  </a:extLst>
                </a:gridCol>
              </a:tblGrid>
              <a:tr h="16800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47211052"/>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
        <p:nvSpPr>
          <p:cNvPr id="4" name="对话气泡: 矩形 11">
            <a:extLst>
              <a:ext uri="{FF2B5EF4-FFF2-40B4-BE49-F238E27FC236}">
                <a16:creationId xmlns:a16="http://schemas.microsoft.com/office/drawing/2014/main" id="{05003937-9733-04CA-A561-AAC490F5DD13}"/>
              </a:ext>
            </a:extLst>
          </p:cNvPr>
          <p:cNvSpPr/>
          <p:nvPr/>
        </p:nvSpPr>
        <p:spPr>
          <a:xfrm>
            <a:off x="-2327207" y="4328047"/>
            <a:ext cx="1912537" cy="2351147"/>
          </a:xfrm>
          <a:prstGeom prst="wedgeRectCallout">
            <a:avLst>
              <a:gd name="adj1" fmla="val 99585"/>
              <a:gd name="adj2" fmla="val -8286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Confirmed with Accounting:</a:t>
            </a:r>
          </a:p>
          <a:p>
            <a:r>
              <a:rPr lang="en-US" altLang="zh-CN" sz="1200">
                <a:solidFill>
                  <a:schemeClr val="tx1"/>
                </a:solidFill>
              </a:rPr>
              <a:t>Upfront service has been cleared under LT-AR during normal lease term</a:t>
            </a:r>
          </a:p>
          <a:p>
            <a:r>
              <a:rPr lang="en-US" altLang="zh-CN" sz="1200">
                <a:solidFill>
                  <a:schemeClr val="tx1"/>
                </a:solidFill>
              </a:rPr>
              <a:t>During extension, no actual upfront service for customer, will recognize as interest income</a:t>
            </a:r>
          </a:p>
        </p:txBody>
      </p:sp>
      <p:graphicFrame>
        <p:nvGraphicFramePr>
          <p:cNvPr id="8" name="表格 7">
            <a:extLst>
              <a:ext uri="{FF2B5EF4-FFF2-40B4-BE49-F238E27FC236}">
                <a16:creationId xmlns:a16="http://schemas.microsoft.com/office/drawing/2014/main" id="{2ADD24FA-9B0D-AB4D-A8C7-90522A588BC1}"/>
              </a:ext>
            </a:extLst>
          </p:cNvPr>
          <p:cNvGraphicFramePr>
            <a:graphicFrameLocks noGrp="1"/>
          </p:cNvGraphicFramePr>
          <p:nvPr>
            <p:extLst>
              <p:ext uri="{D42A27DB-BD31-4B8C-83A1-F6EECF244321}">
                <p14:modId xmlns:p14="http://schemas.microsoft.com/office/powerpoint/2010/main" val="3817651409"/>
              </p:ext>
            </p:extLst>
          </p:nvPr>
        </p:nvGraphicFramePr>
        <p:xfrm>
          <a:off x="6192692" y="4203444"/>
          <a:ext cx="5983350"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92836">
                  <a:extLst>
                    <a:ext uri="{9D8B030D-6E8A-4147-A177-3AD203B41FA5}">
                      <a16:colId xmlns:a16="http://schemas.microsoft.com/office/drawing/2014/main" val="3614210242"/>
                    </a:ext>
                  </a:extLst>
                </a:gridCol>
                <a:gridCol w="572523">
                  <a:extLst>
                    <a:ext uri="{9D8B030D-6E8A-4147-A177-3AD203B41FA5}">
                      <a16:colId xmlns:a16="http://schemas.microsoft.com/office/drawing/2014/main" val="1442124609"/>
                    </a:ext>
                  </a:extLst>
                </a:gridCol>
                <a:gridCol w="2349500">
                  <a:extLst>
                    <a:ext uri="{9D8B030D-6E8A-4147-A177-3AD203B41FA5}">
                      <a16:colId xmlns:a16="http://schemas.microsoft.com/office/drawing/2014/main" val="3603859997"/>
                    </a:ext>
                  </a:extLst>
                </a:gridCol>
                <a:gridCol w="286486">
                  <a:extLst>
                    <a:ext uri="{9D8B030D-6E8A-4147-A177-3AD203B41FA5}">
                      <a16:colId xmlns:a16="http://schemas.microsoft.com/office/drawing/2014/main" val="4076488391"/>
                    </a:ext>
                  </a:extLst>
                </a:gridCol>
                <a:gridCol w="405013">
                  <a:extLst>
                    <a:ext uri="{9D8B030D-6E8A-4147-A177-3AD203B41FA5}">
                      <a16:colId xmlns:a16="http://schemas.microsoft.com/office/drawing/2014/main" val="3254101706"/>
                    </a:ext>
                  </a:extLst>
                </a:gridCol>
                <a:gridCol w="374638">
                  <a:extLst>
                    <a:ext uri="{9D8B030D-6E8A-4147-A177-3AD203B41FA5}">
                      <a16:colId xmlns:a16="http://schemas.microsoft.com/office/drawing/2014/main" val="3712391277"/>
                    </a:ext>
                  </a:extLst>
                </a:gridCol>
                <a:gridCol w="273384">
                  <a:extLst>
                    <a:ext uri="{9D8B030D-6E8A-4147-A177-3AD203B41FA5}">
                      <a16:colId xmlns:a16="http://schemas.microsoft.com/office/drawing/2014/main" val="1008187684"/>
                    </a:ext>
                  </a:extLst>
                </a:gridCol>
                <a:gridCol w="273384">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323852">
                  <a:extLst>
                    <a:ext uri="{9D8B030D-6E8A-4147-A177-3AD203B41FA5}">
                      <a16:colId xmlns:a16="http://schemas.microsoft.com/office/drawing/2014/main" val="3618613915"/>
                    </a:ext>
                  </a:extLst>
                </a:gridCol>
              </a:tblGrid>
              <a:tr h="16173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85450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9" name="表格 8">
            <a:extLst>
              <a:ext uri="{FF2B5EF4-FFF2-40B4-BE49-F238E27FC236}">
                <a16:creationId xmlns:a16="http://schemas.microsoft.com/office/drawing/2014/main" id="{DEF0157F-A36A-A054-FFD3-B6FD2015D832}"/>
              </a:ext>
            </a:extLst>
          </p:cNvPr>
          <p:cNvGraphicFramePr>
            <a:graphicFrameLocks noGrp="1"/>
          </p:cNvGraphicFramePr>
          <p:nvPr>
            <p:extLst>
              <p:ext uri="{D42A27DB-BD31-4B8C-83A1-F6EECF244321}">
                <p14:modId xmlns:p14="http://schemas.microsoft.com/office/powerpoint/2010/main" val="2193811876"/>
              </p:ext>
            </p:extLst>
          </p:nvPr>
        </p:nvGraphicFramePr>
        <p:xfrm>
          <a:off x="6179139" y="5583847"/>
          <a:ext cx="5923424" cy="1332007"/>
        </p:xfrm>
        <a:graphic>
          <a:graphicData uri="http://schemas.openxmlformats.org/drawingml/2006/table">
            <a:tbl>
              <a:tblPr/>
              <a:tblGrid>
                <a:gridCol w="419239">
                  <a:extLst>
                    <a:ext uri="{9D8B030D-6E8A-4147-A177-3AD203B41FA5}">
                      <a16:colId xmlns:a16="http://schemas.microsoft.com/office/drawing/2014/main" val="495084399"/>
                    </a:ext>
                  </a:extLst>
                </a:gridCol>
                <a:gridCol w="2323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45093">
                  <a:extLst>
                    <a:ext uri="{9D8B030D-6E8A-4147-A177-3AD203B41FA5}">
                      <a16:colId xmlns:a16="http://schemas.microsoft.com/office/drawing/2014/main" val="3603859997"/>
                    </a:ext>
                  </a:extLst>
                </a:gridCol>
                <a:gridCol w="456447">
                  <a:extLst>
                    <a:ext uri="{9D8B030D-6E8A-4147-A177-3AD203B41FA5}">
                      <a16:colId xmlns:a16="http://schemas.microsoft.com/office/drawing/2014/main" val="4076488391"/>
                    </a:ext>
                  </a:extLst>
                </a:gridCol>
                <a:gridCol w="415873">
                  <a:extLst>
                    <a:ext uri="{9D8B030D-6E8A-4147-A177-3AD203B41FA5}">
                      <a16:colId xmlns:a16="http://schemas.microsoft.com/office/drawing/2014/main" val="3254101706"/>
                    </a:ext>
                  </a:extLst>
                </a:gridCol>
                <a:gridCol w="355014">
                  <a:extLst>
                    <a:ext uri="{9D8B030D-6E8A-4147-A177-3AD203B41FA5}">
                      <a16:colId xmlns:a16="http://schemas.microsoft.com/office/drawing/2014/main" val="3712391277"/>
                    </a:ext>
                  </a:extLst>
                </a:gridCol>
                <a:gridCol w="263724">
                  <a:extLst>
                    <a:ext uri="{9D8B030D-6E8A-4147-A177-3AD203B41FA5}">
                      <a16:colId xmlns:a16="http://schemas.microsoft.com/office/drawing/2014/main" val="3643425350"/>
                    </a:ext>
                  </a:extLst>
                </a:gridCol>
                <a:gridCol w="263724">
                  <a:extLst>
                    <a:ext uri="{9D8B030D-6E8A-4147-A177-3AD203B41FA5}">
                      <a16:colId xmlns:a16="http://schemas.microsoft.com/office/drawing/2014/main" val="2527660299"/>
                    </a:ext>
                  </a:extLst>
                </a:gridCol>
                <a:gridCol w="395587">
                  <a:extLst>
                    <a:ext uri="{9D8B030D-6E8A-4147-A177-3AD203B41FA5}">
                      <a16:colId xmlns:a16="http://schemas.microsoft.com/office/drawing/2014/main" val="3641075278"/>
                    </a:ext>
                  </a:extLst>
                </a:gridCol>
                <a:gridCol w="304139">
                  <a:extLst>
                    <a:ext uri="{9D8B030D-6E8A-4147-A177-3AD203B41FA5}">
                      <a16:colId xmlns:a16="http://schemas.microsoft.com/office/drawing/2014/main" val="3618613915"/>
                    </a:ext>
                  </a:extLst>
                </a:gridCol>
              </a:tblGrid>
              <a:tr h="16800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47211052"/>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Tree>
    <p:extLst>
      <p:ext uri="{BB962C8B-B14F-4D97-AF65-F5344CB8AC3E}">
        <p14:creationId xmlns:p14="http://schemas.microsoft.com/office/powerpoint/2010/main" val="1623326946"/>
      </p:ext>
    </p:extLst>
  </p:cSld>
  <p:clrMapOvr>
    <a:masterClrMapping/>
  </p:clrMapOvr>
  <p:extLst>
    <p:ext uri="{6950BFC3-D8DA-4A85-94F7-54DA5524770B}">
      <p188:commentRel xmlns:p188="http://schemas.microsoft.com/office/powerpoint/2018/8/main" r:id="rId3"/>
    </p:ext>
  </p:extLs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3FD22-2820-2F51-71FB-179CA5FC38A0}"/>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AA275E85-B5AC-47F6-9834-E8FF176D8797}"/>
              </a:ext>
            </a:extLst>
          </p:cNvPr>
          <p:cNvGraphicFramePr>
            <a:graphicFrameLocks noGrp="1"/>
          </p:cNvGraphicFramePr>
          <p:nvPr>
            <p:extLst>
              <p:ext uri="{D42A27DB-BD31-4B8C-83A1-F6EECF244321}">
                <p14:modId xmlns:p14="http://schemas.microsoft.com/office/powerpoint/2010/main" val="2784931239"/>
              </p:ext>
            </p:extLst>
          </p:nvPr>
        </p:nvGraphicFramePr>
        <p:xfrm>
          <a:off x="6096000" y="447190"/>
          <a:ext cx="6056277"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35200">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36187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extension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Interest Income- </a:t>
                      </a:r>
                      <a:r>
                        <a:rPr lang="en-US" sz="900" b="0" i="0" u="none" strike="noStrike" kern="1200">
                          <a:solidFill>
                            <a:srgbClr val="000000"/>
                          </a:solidFill>
                          <a:effectLst/>
                          <a:latin typeface="Arial" panose="020B0604020202020204" pitchFamily="34" charset="0"/>
                          <a:ea typeface="+mn-ea"/>
                          <a:cs typeface="+mn-cs"/>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 Premier (funded)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28" name="文本框 27">
            <a:extLst>
              <a:ext uri="{FF2B5EF4-FFF2-40B4-BE49-F238E27FC236}">
                <a16:creationId xmlns:a16="http://schemas.microsoft.com/office/drawing/2014/main" id="{9E23A3F0-D63C-4020-E3E2-129E50FE0C1A}"/>
              </a:ext>
            </a:extLst>
          </p:cNvPr>
          <p:cNvSpPr txBox="1"/>
          <p:nvPr/>
        </p:nvSpPr>
        <p:spPr>
          <a:xfrm>
            <a:off x="0" y="64204"/>
            <a:ext cx="4470947" cy="400110"/>
          </a:xfrm>
          <a:prstGeom prst="rect">
            <a:avLst/>
          </a:prstGeom>
          <a:noFill/>
        </p:spPr>
        <p:txBody>
          <a:bodyPr wrap="square" rtlCol="0">
            <a:spAutoFit/>
          </a:bodyPr>
          <a:lstStyle/>
          <a:p>
            <a:r>
              <a:rPr lang="nl-NL" altLang="zh-CN" sz="2000" b="1"/>
              <a:t>DaaS_AFE_MSA&amp;MLA</a:t>
            </a:r>
            <a:endParaRPr lang="zh-CN" altLang="en-US" sz="2000" b="1"/>
          </a:p>
        </p:txBody>
      </p:sp>
      <p:graphicFrame>
        <p:nvGraphicFramePr>
          <p:cNvPr id="2" name="表格 1">
            <a:extLst>
              <a:ext uri="{FF2B5EF4-FFF2-40B4-BE49-F238E27FC236}">
                <a16:creationId xmlns:a16="http://schemas.microsoft.com/office/drawing/2014/main" id="{CFACE1C6-7E9B-AC01-EFE7-91E19450DBE1}"/>
              </a:ext>
            </a:extLst>
          </p:cNvPr>
          <p:cNvGraphicFramePr>
            <a:graphicFrameLocks noGrp="1"/>
          </p:cNvGraphicFramePr>
          <p:nvPr/>
        </p:nvGraphicFramePr>
        <p:xfrm>
          <a:off x="74427" y="530094"/>
          <a:ext cx="5890437" cy="155448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9" name="表格 8">
            <a:extLst>
              <a:ext uri="{FF2B5EF4-FFF2-40B4-BE49-F238E27FC236}">
                <a16:creationId xmlns:a16="http://schemas.microsoft.com/office/drawing/2014/main" id="{441BDBB2-6C88-A247-4ED8-CDF9E95B4499}"/>
              </a:ext>
            </a:extLst>
          </p:cNvPr>
          <p:cNvGraphicFramePr>
            <a:graphicFrameLocks noGrp="1"/>
          </p:cNvGraphicFramePr>
          <p:nvPr>
            <p:extLst>
              <p:ext uri="{D42A27DB-BD31-4B8C-83A1-F6EECF244321}">
                <p14:modId xmlns:p14="http://schemas.microsoft.com/office/powerpoint/2010/main" val="3035347959"/>
              </p:ext>
            </p:extLst>
          </p:nvPr>
        </p:nvGraphicFramePr>
        <p:xfrm>
          <a:off x="6070277" y="4020947"/>
          <a:ext cx="6102121" cy="2036842"/>
        </p:xfrm>
        <a:graphic>
          <a:graphicData uri="http://schemas.openxmlformats.org/drawingml/2006/table">
            <a:tbl>
              <a:tblPr/>
              <a:tblGrid>
                <a:gridCol w="451726">
                  <a:extLst>
                    <a:ext uri="{9D8B030D-6E8A-4147-A177-3AD203B41FA5}">
                      <a16:colId xmlns:a16="http://schemas.microsoft.com/office/drawing/2014/main" val="495084399"/>
                    </a:ext>
                  </a:extLst>
                </a:gridCol>
                <a:gridCol w="162798">
                  <a:extLst>
                    <a:ext uri="{9D8B030D-6E8A-4147-A177-3AD203B41FA5}">
                      <a16:colId xmlns:a16="http://schemas.microsoft.com/office/drawing/2014/main" val="3614210242"/>
                    </a:ext>
                  </a:extLst>
                </a:gridCol>
                <a:gridCol w="488950">
                  <a:extLst>
                    <a:ext uri="{9D8B030D-6E8A-4147-A177-3AD203B41FA5}">
                      <a16:colId xmlns:a16="http://schemas.microsoft.com/office/drawing/2014/main" val="1442124609"/>
                    </a:ext>
                  </a:extLst>
                </a:gridCol>
                <a:gridCol w="1982740">
                  <a:extLst>
                    <a:ext uri="{9D8B030D-6E8A-4147-A177-3AD203B41FA5}">
                      <a16:colId xmlns:a16="http://schemas.microsoft.com/office/drawing/2014/main" val="3603859997"/>
                    </a:ext>
                  </a:extLst>
                </a:gridCol>
                <a:gridCol w="656496">
                  <a:extLst>
                    <a:ext uri="{9D8B030D-6E8A-4147-A177-3AD203B41FA5}">
                      <a16:colId xmlns:a16="http://schemas.microsoft.com/office/drawing/2014/main" val="4076488391"/>
                    </a:ext>
                  </a:extLst>
                </a:gridCol>
                <a:gridCol w="505637">
                  <a:extLst>
                    <a:ext uri="{9D8B030D-6E8A-4147-A177-3AD203B41FA5}">
                      <a16:colId xmlns:a16="http://schemas.microsoft.com/office/drawing/2014/main" val="3254101706"/>
                    </a:ext>
                  </a:extLst>
                </a:gridCol>
                <a:gridCol w="324858">
                  <a:extLst>
                    <a:ext uri="{9D8B030D-6E8A-4147-A177-3AD203B41FA5}">
                      <a16:colId xmlns:a16="http://schemas.microsoft.com/office/drawing/2014/main" val="3712391277"/>
                    </a:ext>
                  </a:extLst>
                </a:gridCol>
                <a:gridCol w="552779">
                  <a:extLst>
                    <a:ext uri="{9D8B030D-6E8A-4147-A177-3AD203B41FA5}">
                      <a16:colId xmlns:a16="http://schemas.microsoft.com/office/drawing/2014/main" val="3068934244"/>
                    </a:ext>
                  </a:extLst>
                </a:gridCol>
                <a:gridCol w="255956">
                  <a:extLst>
                    <a:ext uri="{9D8B030D-6E8A-4147-A177-3AD203B41FA5}">
                      <a16:colId xmlns:a16="http://schemas.microsoft.com/office/drawing/2014/main" val="2527660299"/>
                    </a:ext>
                  </a:extLst>
                </a:gridCol>
                <a:gridCol w="397247">
                  <a:extLst>
                    <a:ext uri="{9D8B030D-6E8A-4147-A177-3AD203B41FA5}">
                      <a16:colId xmlns:a16="http://schemas.microsoft.com/office/drawing/2014/main" val="3641075278"/>
                    </a:ext>
                  </a:extLst>
                </a:gridCol>
                <a:gridCol w="322934">
                  <a:extLst>
                    <a:ext uri="{9D8B030D-6E8A-4147-A177-3AD203B41FA5}">
                      <a16:colId xmlns:a16="http://schemas.microsoft.com/office/drawing/2014/main" val="3618613915"/>
                    </a:ext>
                  </a:extLst>
                </a:gridCol>
              </a:tblGrid>
              <a:tr h="183914">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p>
                    <a:p>
                      <a:pPr algn="ctr" fontAlgn="base">
                        <a:lnSpc>
                          <a:spcPts val="1425"/>
                        </a:lnSpc>
                        <a:buNone/>
                      </a:pP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928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HW portion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HW portion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89059500"/>
                  </a:ext>
                </a:extLst>
              </a:tr>
              <a:tr h="22537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Upfront Service(new)</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00407878"/>
                  </a:ext>
                </a:extLst>
              </a:tr>
              <a:tr h="22537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215529"/>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28+2+3.3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28+2+3.3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3" name="表格 2">
            <a:extLst>
              <a:ext uri="{FF2B5EF4-FFF2-40B4-BE49-F238E27FC236}">
                <a16:creationId xmlns:a16="http://schemas.microsoft.com/office/drawing/2014/main" id="{A598BAF0-4A6F-B079-6C92-D6478D5D9CA9}"/>
              </a:ext>
            </a:extLst>
          </p:cNvPr>
          <p:cNvGraphicFramePr>
            <a:graphicFrameLocks noGrp="1"/>
          </p:cNvGraphicFramePr>
          <p:nvPr>
            <p:extLst>
              <p:ext uri="{D42A27DB-BD31-4B8C-83A1-F6EECF244321}">
                <p14:modId xmlns:p14="http://schemas.microsoft.com/office/powerpoint/2010/main" val="1309780618"/>
              </p:ext>
            </p:extLst>
          </p:nvPr>
        </p:nvGraphicFramePr>
        <p:xfrm>
          <a:off x="6082000" y="2877204"/>
          <a:ext cx="6070277" cy="1143743"/>
        </p:xfrm>
        <a:graphic>
          <a:graphicData uri="http://schemas.openxmlformats.org/drawingml/2006/table">
            <a:tbl>
              <a:tblPr/>
              <a:tblGrid>
                <a:gridCol w="459141">
                  <a:extLst>
                    <a:ext uri="{9D8B030D-6E8A-4147-A177-3AD203B41FA5}">
                      <a16:colId xmlns:a16="http://schemas.microsoft.com/office/drawing/2014/main" val="495084399"/>
                    </a:ext>
                  </a:extLst>
                </a:gridCol>
                <a:gridCol w="351561">
                  <a:extLst>
                    <a:ext uri="{9D8B030D-6E8A-4147-A177-3AD203B41FA5}">
                      <a16:colId xmlns:a16="http://schemas.microsoft.com/office/drawing/2014/main" val="3614210242"/>
                    </a:ext>
                  </a:extLst>
                </a:gridCol>
                <a:gridCol w="573456">
                  <a:extLst>
                    <a:ext uri="{9D8B030D-6E8A-4147-A177-3AD203B41FA5}">
                      <a16:colId xmlns:a16="http://schemas.microsoft.com/office/drawing/2014/main" val="1442124609"/>
                    </a:ext>
                  </a:extLst>
                </a:gridCol>
                <a:gridCol w="1913218">
                  <a:extLst>
                    <a:ext uri="{9D8B030D-6E8A-4147-A177-3AD203B41FA5}">
                      <a16:colId xmlns:a16="http://schemas.microsoft.com/office/drawing/2014/main" val="3603859997"/>
                    </a:ext>
                  </a:extLst>
                </a:gridCol>
                <a:gridCol w="508347">
                  <a:extLst>
                    <a:ext uri="{9D8B030D-6E8A-4147-A177-3AD203B41FA5}">
                      <a16:colId xmlns:a16="http://schemas.microsoft.com/office/drawing/2014/main" val="4076488391"/>
                    </a:ext>
                  </a:extLst>
                </a:gridCol>
                <a:gridCol w="444805">
                  <a:extLst>
                    <a:ext uri="{9D8B030D-6E8A-4147-A177-3AD203B41FA5}">
                      <a16:colId xmlns:a16="http://schemas.microsoft.com/office/drawing/2014/main" val="3254101706"/>
                    </a:ext>
                  </a:extLst>
                </a:gridCol>
                <a:gridCol w="554833">
                  <a:extLst>
                    <a:ext uri="{9D8B030D-6E8A-4147-A177-3AD203B41FA5}">
                      <a16:colId xmlns:a16="http://schemas.microsoft.com/office/drawing/2014/main" val="3712391277"/>
                    </a:ext>
                  </a:extLst>
                </a:gridCol>
                <a:gridCol w="273829">
                  <a:extLst>
                    <a:ext uri="{9D8B030D-6E8A-4147-A177-3AD203B41FA5}">
                      <a16:colId xmlns:a16="http://schemas.microsoft.com/office/drawing/2014/main" val="1008187684"/>
                    </a:ext>
                  </a:extLst>
                </a:gridCol>
                <a:gridCol w="273829">
                  <a:extLst>
                    <a:ext uri="{9D8B030D-6E8A-4147-A177-3AD203B41FA5}">
                      <a16:colId xmlns:a16="http://schemas.microsoft.com/office/drawing/2014/main" val="2527660299"/>
                    </a:ext>
                  </a:extLst>
                </a:gridCol>
                <a:gridCol w="392878">
                  <a:extLst>
                    <a:ext uri="{9D8B030D-6E8A-4147-A177-3AD203B41FA5}">
                      <a16:colId xmlns:a16="http://schemas.microsoft.com/office/drawing/2014/main" val="3641075278"/>
                    </a:ext>
                  </a:extLst>
                </a:gridCol>
                <a:gridCol w="324380">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436655708"/>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4" name="表格 3">
            <a:extLst>
              <a:ext uri="{FF2B5EF4-FFF2-40B4-BE49-F238E27FC236}">
                <a16:creationId xmlns:a16="http://schemas.microsoft.com/office/drawing/2014/main" id="{C5E6132B-BA27-45BD-4474-18AB5AF4331E}"/>
              </a:ext>
            </a:extLst>
          </p:cNvPr>
          <p:cNvGraphicFramePr>
            <a:graphicFrameLocks noGrp="1"/>
          </p:cNvGraphicFramePr>
          <p:nvPr>
            <p:extLst>
              <p:ext uri="{D42A27DB-BD31-4B8C-83A1-F6EECF244321}">
                <p14:modId xmlns:p14="http://schemas.microsoft.com/office/powerpoint/2010/main" val="3421672752"/>
              </p:ext>
            </p:extLst>
          </p:nvPr>
        </p:nvGraphicFramePr>
        <p:xfrm>
          <a:off x="74427" y="2117069"/>
          <a:ext cx="5923424" cy="1143743"/>
        </p:xfrm>
        <a:graphic>
          <a:graphicData uri="http://schemas.openxmlformats.org/drawingml/2006/table">
            <a:tbl>
              <a:tblPr/>
              <a:tblGrid>
                <a:gridCol w="419239">
                  <a:extLst>
                    <a:ext uri="{9D8B030D-6E8A-4147-A177-3AD203B41FA5}">
                      <a16:colId xmlns:a16="http://schemas.microsoft.com/office/drawing/2014/main" val="495084399"/>
                    </a:ext>
                  </a:extLst>
                </a:gridCol>
                <a:gridCol w="2323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45093">
                  <a:extLst>
                    <a:ext uri="{9D8B030D-6E8A-4147-A177-3AD203B41FA5}">
                      <a16:colId xmlns:a16="http://schemas.microsoft.com/office/drawing/2014/main" val="3603859997"/>
                    </a:ext>
                  </a:extLst>
                </a:gridCol>
                <a:gridCol w="456447">
                  <a:extLst>
                    <a:ext uri="{9D8B030D-6E8A-4147-A177-3AD203B41FA5}">
                      <a16:colId xmlns:a16="http://schemas.microsoft.com/office/drawing/2014/main" val="4076488391"/>
                    </a:ext>
                  </a:extLst>
                </a:gridCol>
                <a:gridCol w="415873">
                  <a:extLst>
                    <a:ext uri="{9D8B030D-6E8A-4147-A177-3AD203B41FA5}">
                      <a16:colId xmlns:a16="http://schemas.microsoft.com/office/drawing/2014/main" val="3254101706"/>
                    </a:ext>
                  </a:extLst>
                </a:gridCol>
                <a:gridCol w="355014">
                  <a:extLst>
                    <a:ext uri="{9D8B030D-6E8A-4147-A177-3AD203B41FA5}">
                      <a16:colId xmlns:a16="http://schemas.microsoft.com/office/drawing/2014/main" val="3712391277"/>
                    </a:ext>
                  </a:extLst>
                </a:gridCol>
                <a:gridCol w="263724">
                  <a:extLst>
                    <a:ext uri="{9D8B030D-6E8A-4147-A177-3AD203B41FA5}">
                      <a16:colId xmlns:a16="http://schemas.microsoft.com/office/drawing/2014/main" val="3643425350"/>
                    </a:ext>
                  </a:extLst>
                </a:gridCol>
                <a:gridCol w="263724">
                  <a:extLst>
                    <a:ext uri="{9D8B030D-6E8A-4147-A177-3AD203B41FA5}">
                      <a16:colId xmlns:a16="http://schemas.microsoft.com/office/drawing/2014/main" val="2527660299"/>
                    </a:ext>
                  </a:extLst>
                </a:gridCol>
                <a:gridCol w="395587">
                  <a:extLst>
                    <a:ext uri="{9D8B030D-6E8A-4147-A177-3AD203B41FA5}">
                      <a16:colId xmlns:a16="http://schemas.microsoft.com/office/drawing/2014/main" val="3641075278"/>
                    </a:ext>
                  </a:extLst>
                </a:gridCol>
                <a:gridCol w="304139">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605409329"/>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
        <p:nvSpPr>
          <p:cNvPr id="5" name="矩形 4">
            <a:extLst>
              <a:ext uri="{FF2B5EF4-FFF2-40B4-BE49-F238E27FC236}">
                <a16:creationId xmlns:a16="http://schemas.microsoft.com/office/drawing/2014/main" id="{8B062EE7-940B-EFDA-8680-77919AD6E193}"/>
              </a:ext>
            </a:extLst>
          </p:cNvPr>
          <p:cNvSpPr/>
          <p:nvPr/>
        </p:nvSpPr>
        <p:spPr>
          <a:xfrm>
            <a:off x="6070276" y="4020947"/>
            <a:ext cx="6102121" cy="2036842"/>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7" name="对话气泡: 矩形 11">
            <a:extLst>
              <a:ext uri="{FF2B5EF4-FFF2-40B4-BE49-F238E27FC236}">
                <a16:creationId xmlns:a16="http://schemas.microsoft.com/office/drawing/2014/main" id="{C2242340-F74F-AE38-0985-D7F3399B37C8}"/>
              </a:ext>
            </a:extLst>
          </p:cNvPr>
          <p:cNvSpPr/>
          <p:nvPr/>
        </p:nvSpPr>
        <p:spPr>
          <a:xfrm>
            <a:off x="12430090" y="3050016"/>
            <a:ext cx="1307455" cy="1941861"/>
          </a:xfrm>
          <a:prstGeom prst="wedgeRectCallout">
            <a:avLst>
              <a:gd name="adj1" fmla="val -77446"/>
              <a:gd name="adj2" fmla="val -123903"/>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spTree>
    <p:extLst>
      <p:ext uri="{BB962C8B-B14F-4D97-AF65-F5344CB8AC3E}">
        <p14:creationId xmlns:p14="http://schemas.microsoft.com/office/powerpoint/2010/main" val="86356991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E0199A-8AA2-A835-0F29-685BDD51AEE2}"/>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111965D8-8DAF-284F-ED21-05871E618D2B}"/>
              </a:ext>
            </a:extLst>
          </p:cNvPr>
          <p:cNvGraphicFramePr>
            <a:graphicFrameLocks noGrp="1"/>
          </p:cNvGraphicFramePr>
          <p:nvPr/>
        </p:nvGraphicFramePr>
        <p:xfrm>
          <a:off x="99627" y="447365"/>
          <a:ext cx="5872548" cy="1303020"/>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596359">
                  <a:extLst>
                    <a:ext uri="{9D8B030D-6E8A-4147-A177-3AD203B41FA5}">
                      <a16:colId xmlns:a16="http://schemas.microsoft.com/office/drawing/2014/main" val="4114365151"/>
                    </a:ext>
                  </a:extLst>
                </a:gridCol>
                <a:gridCol w="737141">
                  <a:extLst>
                    <a:ext uri="{9D8B030D-6E8A-4147-A177-3AD203B41FA5}">
                      <a16:colId xmlns:a16="http://schemas.microsoft.com/office/drawing/2014/main" val="4075178046"/>
                    </a:ext>
                  </a:extLst>
                </a:gridCol>
                <a:gridCol w="688388">
                  <a:extLst>
                    <a:ext uri="{9D8B030D-6E8A-4147-A177-3AD203B41FA5}">
                      <a16:colId xmlns:a16="http://schemas.microsoft.com/office/drawing/2014/main" val="973533418"/>
                    </a:ext>
                  </a:extLst>
                </a:gridCol>
                <a:gridCol w="687656">
                  <a:extLst>
                    <a:ext uri="{9D8B030D-6E8A-4147-A177-3AD203B41FA5}">
                      <a16:colId xmlns:a16="http://schemas.microsoft.com/office/drawing/2014/main" val="2377711782"/>
                    </a:ext>
                  </a:extLst>
                </a:gridCol>
                <a:gridCol w="68765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32935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37137">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highlight>
                            <a:srgbClr val="FFFF00"/>
                          </a:highlight>
                        </a:rPr>
                        <a:t>Quarterly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7" name="文本框 6">
            <a:extLst>
              <a:ext uri="{FF2B5EF4-FFF2-40B4-BE49-F238E27FC236}">
                <a16:creationId xmlns:a16="http://schemas.microsoft.com/office/drawing/2014/main" id="{357B1198-E4B2-624A-C1B0-9E4E502CC7C5}"/>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DaaS_AFE_MSA/MLA</a:t>
            </a:r>
            <a:endParaRPr lang="zh-CN" altLang="en-US" sz="2000" b="1"/>
          </a:p>
        </p:txBody>
      </p:sp>
      <p:graphicFrame>
        <p:nvGraphicFramePr>
          <p:cNvPr id="10" name="表格 9">
            <a:extLst>
              <a:ext uri="{FF2B5EF4-FFF2-40B4-BE49-F238E27FC236}">
                <a16:creationId xmlns:a16="http://schemas.microsoft.com/office/drawing/2014/main" id="{8178007B-38FD-7B5F-5130-7A729C2B5E69}"/>
              </a:ext>
            </a:extLst>
          </p:cNvPr>
          <p:cNvGraphicFramePr>
            <a:graphicFrameLocks noGrp="1"/>
          </p:cNvGraphicFramePr>
          <p:nvPr>
            <p:extLst>
              <p:ext uri="{D42A27DB-BD31-4B8C-83A1-F6EECF244321}">
                <p14:modId xmlns:p14="http://schemas.microsoft.com/office/powerpoint/2010/main" val="884697064"/>
              </p:ext>
            </p:extLst>
          </p:nvPr>
        </p:nvGraphicFramePr>
        <p:xfrm>
          <a:off x="6096000" y="47255"/>
          <a:ext cx="6205365"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05548">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At the beginning of the quarter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129.9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129.9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cc Receivable</a:t>
                      </a:r>
                      <a:r>
                        <a:rPr lang="en-US" sz="900" b="0" i="0" u="none" strike="noStrike" kern="1200">
                          <a:solidFill>
                            <a:srgbClr val="000000"/>
                          </a:solidFill>
                          <a:effectLst/>
                          <a:latin typeface="Arial" panose="020B0604020202020204" pitchFamily="34" charset="0"/>
                          <a:ea typeface="+mn-ea"/>
                          <a:cs typeface="+mn-cs"/>
                        </a:rPr>
                        <a:t>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60FCBD22-B49B-79D0-16CD-844068938A9D}"/>
              </a:ext>
            </a:extLst>
          </p:cNvPr>
          <p:cNvGraphicFramePr>
            <a:graphicFrameLocks noGrp="1"/>
          </p:cNvGraphicFramePr>
          <p:nvPr>
            <p:extLst>
              <p:ext uri="{D42A27DB-BD31-4B8C-83A1-F6EECF244321}">
                <p14:modId xmlns:p14="http://schemas.microsoft.com/office/powerpoint/2010/main" val="2473285313"/>
              </p:ext>
            </p:extLst>
          </p:nvPr>
        </p:nvGraphicFramePr>
        <p:xfrm>
          <a:off x="6095999" y="2930182"/>
          <a:ext cx="6039293"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Quarterly payment to S&amp;D</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Quarterly Billing</a:t>
                      </a:r>
                      <a:r>
                        <a:rPr lang="en-US" altLang="zh-CN" sz="900" b="0" i="0">
                          <a:solidFill>
                            <a:srgbClr val="000000"/>
                          </a:solidFill>
                          <a:effectLst/>
                          <a:latin typeface="Arial" panose="020B0604020202020204" pitchFamily="34" charset="0"/>
                        </a:rPr>
                        <a: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 name="表格 2">
            <a:extLst>
              <a:ext uri="{FF2B5EF4-FFF2-40B4-BE49-F238E27FC236}">
                <a16:creationId xmlns:a16="http://schemas.microsoft.com/office/drawing/2014/main" id="{1271FBA6-5E12-3EAA-4929-BED35202F294}"/>
              </a:ext>
            </a:extLst>
          </p:cNvPr>
          <p:cNvGraphicFramePr>
            <a:graphicFrameLocks noGrp="1"/>
          </p:cNvGraphicFramePr>
          <p:nvPr>
            <p:extLst>
              <p:ext uri="{D42A27DB-BD31-4B8C-83A1-F6EECF244321}">
                <p14:modId xmlns:p14="http://schemas.microsoft.com/office/powerpoint/2010/main" val="1496593548"/>
              </p:ext>
            </p:extLst>
          </p:nvPr>
        </p:nvGraphicFramePr>
        <p:xfrm>
          <a:off x="56708" y="1861260"/>
          <a:ext cx="5915467" cy="13276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2203991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5" name="表格 4">
            <a:extLst>
              <a:ext uri="{FF2B5EF4-FFF2-40B4-BE49-F238E27FC236}">
                <a16:creationId xmlns:a16="http://schemas.microsoft.com/office/drawing/2014/main" id="{19ED7CE3-7DA7-C213-89BA-F7D820C3F8D6}"/>
              </a:ext>
            </a:extLst>
          </p:cNvPr>
          <p:cNvGraphicFramePr>
            <a:graphicFrameLocks noGrp="1"/>
          </p:cNvGraphicFramePr>
          <p:nvPr>
            <p:extLst>
              <p:ext uri="{D42A27DB-BD31-4B8C-83A1-F6EECF244321}">
                <p14:modId xmlns:p14="http://schemas.microsoft.com/office/powerpoint/2010/main" val="2836608239"/>
              </p:ext>
            </p:extLst>
          </p:nvPr>
        </p:nvGraphicFramePr>
        <p:xfrm>
          <a:off x="56708" y="3854810"/>
          <a:ext cx="5915467" cy="13276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6" name="表格 5">
            <a:extLst>
              <a:ext uri="{FF2B5EF4-FFF2-40B4-BE49-F238E27FC236}">
                <a16:creationId xmlns:a16="http://schemas.microsoft.com/office/drawing/2014/main" id="{898DFEA8-38EC-27FF-282F-C4684CD0DF86}"/>
              </a:ext>
            </a:extLst>
          </p:cNvPr>
          <p:cNvGraphicFramePr>
            <a:graphicFrameLocks noGrp="1"/>
          </p:cNvGraphicFramePr>
          <p:nvPr>
            <p:extLst>
              <p:ext uri="{D42A27DB-BD31-4B8C-83A1-F6EECF244321}">
                <p14:modId xmlns:p14="http://schemas.microsoft.com/office/powerpoint/2010/main" val="170252550"/>
              </p:ext>
            </p:extLst>
          </p:nvPr>
        </p:nvGraphicFramePr>
        <p:xfrm>
          <a:off x="6095998" y="4518623"/>
          <a:ext cx="6039293" cy="19372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1</a:t>
                      </a:r>
                      <a:r>
                        <a:rPr lang="en-US" altLang="zh-CN" sz="800" b="1" i="0" u="none" strike="noStrike" baseline="30000">
                          <a:solidFill>
                            <a:srgbClr val="FFFFFF"/>
                          </a:solidFill>
                          <a:effectLst/>
                          <a:latin typeface="Arial" panose="020B0604020202020204" pitchFamily="34" charset="0"/>
                        </a:rPr>
                        <a:t>st</a:t>
                      </a:r>
                      <a:r>
                        <a:rPr lang="en-US" altLang="zh-CN" sz="800" b="1" i="0" u="none" strike="noStrike">
                          <a:solidFill>
                            <a:srgbClr val="FFFFFF"/>
                          </a:solidFill>
                          <a:effectLst/>
                          <a:latin typeface="Arial" panose="020B0604020202020204" pitchFamily="34" charset="0"/>
                        </a:rPr>
                        <a:t> Month end adjustment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a:solidFill>
                            <a:srgbClr val="000000"/>
                          </a:solidFill>
                          <a:effectLst/>
                          <a:latin typeface="Arial" panose="020B0604020202020204" pitchFamily="34" charset="0"/>
                        </a:rPr>
                        <a:t>At the end of 1</a:t>
                      </a:r>
                      <a:r>
                        <a:rPr lang="en-US" altLang="zh-CN" sz="900" b="1" i="0" baseline="30000">
                          <a:solidFill>
                            <a:srgbClr val="000000"/>
                          </a:solidFill>
                          <a:effectLst/>
                          <a:latin typeface="Arial" panose="020B0604020202020204" pitchFamily="34" charset="0"/>
                        </a:rPr>
                        <a:t>st</a:t>
                      </a:r>
                      <a:r>
                        <a:rPr lang="en-US" altLang="zh-CN" sz="900" b="1" i="0">
                          <a:solidFill>
                            <a:srgbClr val="000000"/>
                          </a:solidFill>
                          <a:effectLst/>
                          <a:latin typeface="Arial" panose="020B0604020202020204" pitchFamily="34" charset="0"/>
                        </a:rPr>
                        <a:t> month of the quarter​</a:t>
                      </a:r>
                      <a:endParaRPr lang="en-US" altLang="zh-CN"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169747502"/>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a:ea typeface="+mn-ea"/>
                          <a:cs typeface="+mn-cs"/>
                        </a:rPr>
                        <a:t>5010450</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93882986"/>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a:ea typeface="+mn-ea"/>
                          <a:cs typeface="+mn-cs"/>
                        </a:rPr>
                        <a:t>5010450</a:t>
                      </a:r>
                      <a:endParaRPr lang="en-US"/>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sp>
        <p:nvSpPr>
          <p:cNvPr id="12" name="对话气泡: 矩形 11">
            <a:extLst>
              <a:ext uri="{FF2B5EF4-FFF2-40B4-BE49-F238E27FC236}">
                <a16:creationId xmlns:a16="http://schemas.microsoft.com/office/drawing/2014/main" id="{1B28D352-4F0D-BDF8-3A2E-08207FDFAB86}"/>
              </a:ext>
            </a:extLst>
          </p:cNvPr>
          <p:cNvSpPr/>
          <p:nvPr/>
        </p:nvSpPr>
        <p:spPr>
          <a:xfrm>
            <a:off x="12259114" y="5172496"/>
            <a:ext cx="2388340" cy="1479268"/>
          </a:xfrm>
          <a:prstGeom prst="wedgeRectCallout">
            <a:avLst>
              <a:gd name="adj1" fmla="val -58605"/>
              <a:gd name="adj2" fmla="val 17773"/>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AFE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a:p>
            <a:pPr algn="ctr"/>
            <a:endParaRPr lang="zh-CN" altLang="en-US" sz="1200">
              <a:solidFill>
                <a:schemeClr val="tx1"/>
              </a:solidFill>
            </a:endParaRPr>
          </a:p>
        </p:txBody>
      </p:sp>
      <p:sp>
        <p:nvSpPr>
          <p:cNvPr id="13" name="对话气泡: 矩形 12">
            <a:extLst>
              <a:ext uri="{FF2B5EF4-FFF2-40B4-BE49-F238E27FC236}">
                <a16:creationId xmlns:a16="http://schemas.microsoft.com/office/drawing/2014/main" id="{8F80CCDB-56D0-206A-3D8E-A351D4C1FC88}"/>
              </a:ext>
            </a:extLst>
          </p:cNvPr>
          <p:cNvSpPr/>
          <p:nvPr/>
        </p:nvSpPr>
        <p:spPr>
          <a:xfrm>
            <a:off x="-2403556" y="5378732"/>
            <a:ext cx="2388340" cy="1479268"/>
          </a:xfrm>
          <a:prstGeom prst="wedgeRectCallout">
            <a:avLst>
              <a:gd name="adj1" fmla="val 61150"/>
              <a:gd name="adj2" fmla="val -3541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a:p>
            <a:pPr algn="ctr"/>
            <a:endParaRPr lang="zh-CN" altLang="en-US" sz="1200">
              <a:solidFill>
                <a:schemeClr val="tx1"/>
              </a:solidFill>
            </a:endParaRPr>
          </a:p>
        </p:txBody>
      </p:sp>
    </p:spTree>
    <p:extLst>
      <p:ext uri="{BB962C8B-B14F-4D97-AF65-F5344CB8AC3E}">
        <p14:creationId xmlns:p14="http://schemas.microsoft.com/office/powerpoint/2010/main" val="57615611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2FE8E3-9495-5660-7338-29CAE2E2BC7B}"/>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93B33C84-10AB-4EE7-DB6F-41E4B0433F7A}"/>
              </a:ext>
            </a:extLst>
          </p:cNvPr>
          <p:cNvGraphicFramePr>
            <a:graphicFrameLocks noGrp="1"/>
          </p:cNvGraphicFramePr>
          <p:nvPr>
            <p:extLst>
              <p:ext uri="{D42A27DB-BD31-4B8C-83A1-F6EECF244321}">
                <p14:modId xmlns:p14="http://schemas.microsoft.com/office/powerpoint/2010/main" val="1399504022"/>
              </p:ext>
            </p:extLst>
          </p:nvPr>
        </p:nvGraphicFramePr>
        <p:xfrm>
          <a:off x="99627" y="447365"/>
          <a:ext cx="5872548" cy="1303020"/>
        </p:xfrm>
        <a:graphic>
          <a:graphicData uri="http://schemas.openxmlformats.org/drawingml/2006/table">
            <a:tbl>
              <a:tblPr firstRow="1" bandRow="1">
                <a:tableStyleId>{3C2FFA5D-87B4-456A-9821-1D502468CF0F}</a:tableStyleId>
              </a:tblPr>
              <a:tblGrid>
                <a:gridCol w="623387">
                  <a:extLst>
                    <a:ext uri="{9D8B030D-6E8A-4147-A177-3AD203B41FA5}">
                      <a16:colId xmlns:a16="http://schemas.microsoft.com/office/drawing/2014/main" val="869603910"/>
                    </a:ext>
                  </a:extLst>
                </a:gridCol>
                <a:gridCol w="691116">
                  <a:extLst>
                    <a:ext uri="{9D8B030D-6E8A-4147-A177-3AD203B41FA5}">
                      <a16:colId xmlns:a16="http://schemas.microsoft.com/office/drawing/2014/main" val="238663902"/>
                    </a:ext>
                  </a:extLst>
                </a:gridCol>
                <a:gridCol w="659219">
                  <a:extLst>
                    <a:ext uri="{9D8B030D-6E8A-4147-A177-3AD203B41FA5}">
                      <a16:colId xmlns:a16="http://schemas.microsoft.com/office/drawing/2014/main" val="4114365151"/>
                    </a:ext>
                  </a:extLst>
                </a:gridCol>
                <a:gridCol w="727001">
                  <a:extLst>
                    <a:ext uri="{9D8B030D-6E8A-4147-A177-3AD203B41FA5}">
                      <a16:colId xmlns:a16="http://schemas.microsoft.com/office/drawing/2014/main" val="4075178046"/>
                    </a:ext>
                  </a:extLst>
                </a:gridCol>
                <a:gridCol w="688388">
                  <a:extLst>
                    <a:ext uri="{9D8B030D-6E8A-4147-A177-3AD203B41FA5}">
                      <a16:colId xmlns:a16="http://schemas.microsoft.com/office/drawing/2014/main" val="973533418"/>
                    </a:ext>
                  </a:extLst>
                </a:gridCol>
                <a:gridCol w="711122">
                  <a:extLst>
                    <a:ext uri="{9D8B030D-6E8A-4147-A177-3AD203B41FA5}">
                      <a16:colId xmlns:a16="http://schemas.microsoft.com/office/drawing/2014/main" val="2377711782"/>
                    </a:ext>
                  </a:extLst>
                </a:gridCol>
                <a:gridCol w="664190">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32935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37137">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highlight>
                            <a:srgbClr val="FFFF00"/>
                          </a:highlight>
                        </a:rPr>
                        <a:t>Quarterly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7" name="文本框 6">
            <a:extLst>
              <a:ext uri="{FF2B5EF4-FFF2-40B4-BE49-F238E27FC236}">
                <a16:creationId xmlns:a16="http://schemas.microsoft.com/office/drawing/2014/main" id="{063813A5-61E4-D083-1A1D-4335AF35BFFE}"/>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DaaS_AFE_MSA/MLA</a:t>
            </a:r>
            <a:endParaRPr lang="zh-CN" altLang="en-US" sz="2000" b="1"/>
          </a:p>
        </p:txBody>
      </p:sp>
      <p:graphicFrame>
        <p:nvGraphicFramePr>
          <p:cNvPr id="10" name="表格 9">
            <a:extLst>
              <a:ext uri="{FF2B5EF4-FFF2-40B4-BE49-F238E27FC236}">
                <a16:creationId xmlns:a16="http://schemas.microsoft.com/office/drawing/2014/main" id="{326ADB98-6A8A-78C8-38E1-93B3B1DA04E5}"/>
              </a:ext>
            </a:extLst>
          </p:cNvPr>
          <p:cNvGraphicFramePr>
            <a:graphicFrameLocks noGrp="1"/>
          </p:cNvGraphicFramePr>
          <p:nvPr>
            <p:extLst>
              <p:ext uri="{D42A27DB-BD31-4B8C-83A1-F6EECF244321}">
                <p14:modId xmlns:p14="http://schemas.microsoft.com/office/powerpoint/2010/main" val="751429343"/>
              </p:ext>
            </p:extLst>
          </p:nvPr>
        </p:nvGraphicFramePr>
        <p:xfrm>
          <a:off x="6087017" y="47255"/>
          <a:ext cx="6037122"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42048">
                  <a:extLst>
                    <a:ext uri="{9D8B030D-6E8A-4147-A177-3AD203B41FA5}">
                      <a16:colId xmlns:a16="http://schemas.microsoft.com/office/drawing/2014/main" val="4076488391"/>
                    </a:ext>
                  </a:extLst>
                </a:gridCol>
                <a:gridCol w="342048">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273786">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a:solidFill>
                            <a:srgbClr val="000000"/>
                          </a:solidFill>
                          <a:effectLst/>
                          <a:latin typeface="Arial" panose="020B0604020202020204" pitchFamily="34" charset="0"/>
                        </a:rPr>
                        <a:t>At the beginning of the quarter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7D1D9103-AEEA-97BA-D285-C346450BAB9F}"/>
              </a:ext>
            </a:extLst>
          </p:cNvPr>
          <p:cNvGraphicFramePr>
            <a:graphicFrameLocks noGrp="1"/>
          </p:cNvGraphicFramePr>
          <p:nvPr>
            <p:extLst>
              <p:ext uri="{D42A27DB-BD31-4B8C-83A1-F6EECF244321}">
                <p14:modId xmlns:p14="http://schemas.microsoft.com/office/powerpoint/2010/main" val="1981012751"/>
              </p:ext>
            </p:extLst>
          </p:nvPr>
        </p:nvGraphicFramePr>
        <p:xfrm>
          <a:off x="16254" y="1750385"/>
          <a:ext cx="6039293"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2203991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3" name="表格 2">
            <a:extLst>
              <a:ext uri="{FF2B5EF4-FFF2-40B4-BE49-F238E27FC236}">
                <a16:creationId xmlns:a16="http://schemas.microsoft.com/office/drawing/2014/main" id="{ADB07DAC-9439-0F19-7591-1A23DD558915}"/>
              </a:ext>
            </a:extLst>
          </p:cNvPr>
          <p:cNvGraphicFramePr>
            <a:graphicFrameLocks noGrp="1"/>
          </p:cNvGraphicFramePr>
          <p:nvPr>
            <p:extLst>
              <p:ext uri="{D42A27DB-BD31-4B8C-83A1-F6EECF244321}">
                <p14:modId xmlns:p14="http://schemas.microsoft.com/office/powerpoint/2010/main" val="1564495249"/>
              </p:ext>
            </p:extLst>
          </p:nvPr>
        </p:nvGraphicFramePr>
        <p:xfrm>
          <a:off x="6087017" y="3015243"/>
          <a:ext cx="6088729" cy="1332007"/>
        </p:xfrm>
        <a:graphic>
          <a:graphicData uri="http://schemas.openxmlformats.org/drawingml/2006/table">
            <a:tbl>
              <a:tblPr/>
              <a:tblGrid>
                <a:gridCol w="433762">
                  <a:extLst>
                    <a:ext uri="{9D8B030D-6E8A-4147-A177-3AD203B41FA5}">
                      <a16:colId xmlns:a16="http://schemas.microsoft.com/office/drawing/2014/main" val="495084399"/>
                    </a:ext>
                  </a:extLst>
                </a:gridCol>
                <a:gridCol w="238503">
                  <a:extLst>
                    <a:ext uri="{9D8B030D-6E8A-4147-A177-3AD203B41FA5}">
                      <a16:colId xmlns:a16="http://schemas.microsoft.com/office/drawing/2014/main" val="3614210242"/>
                    </a:ext>
                  </a:extLst>
                </a:gridCol>
                <a:gridCol w="567608">
                  <a:extLst>
                    <a:ext uri="{9D8B030D-6E8A-4147-A177-3AD203B41FA5}">
                      <a16:colId xmlns:a16="http://schemas.microsoft.com/office/drawing/2014/main" val="1442124609"/>
                    </a:ext>
                  </a:extLst>
                </a:gridCol>
                <a:gridCol w="2063172">
                  <a:extLst>
                    <a:ext uri="{9D8B030D-6E8A-4147-A177-3AD203B41FA5}">
                      <a16:colId xmlns:a16="http://schemas.microsoft.com/office/drawing/2014/main" val="3603859997"/>
                    </a:ext>
                  </a:extLst>
                </a:gridCol>
                <a:gridCol w="398802">
                  <a:extLst>
                    <a:ext uri="{9D8B030D-6E8A-4147-A177-3AD203B41FA5}">
                      <a16:colId xmlns:a16="http://schemas.microsoft.com/office/drawing/2014/main" val="4076488391"/>
                    </a:ext>
                  </a:extLst>
                </a:gridCol>
                <a:gridCol w="339282">
                  <a:extLst>
                    <a:ext uri="{9D8B030D-6E8A-4147-A177-3AD203B41FA5}">
                      <a16:colId xmlns:a16="http://schemas.microsoft.com/office/drawing/2014/main" val="3254101706"/>
                    </a:ext>
                  </a:extLst>
                </a:gridCol>
                <a:gridCol w="261312">
                  <a:extLst>
                    <a:ext uri="{9D8B030D-6E8A-4147-A177-3AD203B41FA5}">
                      <a16:colId xmlns:a16="http://schemas.microsoft.com/office/drawing/2014/main" val="3712391277"/>
                    </a:ext>
                  </a:extLst>
                </a:gridCol>
                <a:gridCol w="586504">
                  <a:extLst>
                    <a:ext uri="{9D8B030D-6E8A-4147-A177-3AD203B41FA5}">
                      <a16:colId xmlns:a16="http://schemas.microsoft.com/office/drawing/2014/main" val="134131131"/>
                    </a:ext>
                  </a:extLst>
                </a:gridCol>
                <a:gridCol w="334827">
                  <a:extLst>
                    <a:ext uri="{9D8B030D-6E8A-4147-A177-3AD203B41FA5}">
                      <a16:colId xmlns:a16="http://schemas.microsoft.com/office/drawing/2014/main" val="2527660299"/>
                    </a:ext>
                  </a:extLst>
                </a:gridCol>
                <a:gridCol w="368900">
                  <a:extLst>
                    <a:ext uri="{9D8B030D-6E8A-4147-A177-3AD203B41FA5}">
                      <a16:colId xmlns:a16="http://schemas.microsoft.com/office/drawing/2014/main" val="3641075278"/>
                    </a:ext>
                  </a:extLst>
                </a:gridCol>
                <a:gridCol w="49605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payment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Quarterly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5" name="表格 4">
            <a:extLst>
              <a:ext uri="{FF2B5EF4-FFF2-40B4-BE49-F238E27FC236}">
                <a16:creationId xmlns:a16="http://schemas.microsoft.com/office/drawing/2014/main" id="{6FFDC200-A663-5B1E-12E7-2624DD1749A0}"/>
              </a:ext>
            </a:extLst>
          </p:cNvPr>
          <p:cNvGraphicFramePr>
            <a:graphicFrameLocks noGrp="1"/>
          </p:cNvGraphicFramePr>
          <p:nvPr>
            <p:extLst>
              <p:ext uri="{D42A27DB-BD31-4B8C-83A1-F6EECF244321}">
                <p14:modId xmlns:p14="http://schemas.microsoft.com/office/powerpoint/2010/main" val="1357005526"/>
              </p:ext>
            </p:extLst>
          </p:nvPr>
        </p:nvGraphicFramePr>
        <p:xfrm>
          <a:off x="16254" y="3743935"/>
          <a:ext cx="6039293"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sp>
        <p:nvSpPr>
          <p:cNvPr id="6" name="对话气泡: 矩形 5">
            <a:extLst>
              <a:ext uri="{FF2B5EF4-FFF2-40B4-BE49-F238E27FC236}">
                <a16:creationId xmlns:a16="http://schemas.microsoft.com/office/drawing/2014/main" id="{F682BD18-15C7-452D-6B21-0ADCCE9AB380}"/>
              </a:ext>
            </a:extLst>
          </p:cNvPr>
          <p:cNvSpPr/>
          <p:nvPr/>
        </p:nvSpPr>
        <p:spPr>
          <a:xfrm>
            <a:off x="-2403556" y="5378732"/>
            <a:ext cx="2388340" cy="1479268"/>
          </a:xfrm>
          <a:prstGeom prst="wedgeRectCallout">
            <a:avLst>
              <a:gd name="adj1" fmla="val 61150"/>
              <a:gd name="adj2" fmla="val -3541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a:p>
            <a:pPr algn="ctr"/>
            <a:endParaRPr lang="zh-CN" altLang="en-US" sz="1200">
              <a:solidFill>
                <a:schemeClr val="tx1"/>
              </a:solidFill>
            </a:endParaRPr>
          </a:p>
        </p:txBody>
      </p:sp>
    </p:spTree>
    <p:extLst>
      <p:ext uri="{BB962C8B-B14F-4D97-AF65-F5344CB8AC3E}">
        <p14:creationId xmlns:p14="http://schemas.microsoft.com/office/powerpoint/2010/main" val="136902927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83708D-3C47-0613-AC6F-D8906505D4D2}"/>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B2F7F05D-7B22-6453-8DDC-A4A69AE684B4}"/>
              </a:ext>
            </a:extLst>
          </p:cNvPr>
          <p:cNvGraphicFramePr>
            <a:graphicFrameLocks noGrp="1"/>
          </p:cNvGraphicFramePr>
          <p:nvPr>
            <p:extLst>
              <p:ext uri="{D42A27DB-BD31-4B8C-83A1-F6EECF244321}">
                <p14:modId xmlns:p14="http://schemas.microsoft.com/office/powerpoint/2010/main" val="3348966609"/>
              </p:ext>
            </p:extLst>
          </p:nvPr>
        </p:nvGraphicFramePr>
        <p:xfrm>
          <a:off x="331267" y="2263129"/>
          <a:ext cx="5932790" cy="1051188"/>
        </p:xfrm>
        <a:graphic>
          <a:graphicData uri="http://schemas.openxmlformats.org/drawingml/2006/table">
            <a:tbl>
              <a:tblPr/>
              <a:tblGrid>
                <a:gridCol w="425729">
                  <a:extLst>
                    <a:ext uri="{9D8B030D-6E8A-4147-A177-3AD203B41FA5}">
                      <a16:colId xmlns:a16="http://schemas.microsoft.com/office/drawing/2014/main" val="495084399"/>
                    </a:ext>
                  </a:extLst>
                </a:gridCol>
                <a:gridCol w="281427">
                  <a:extLst>
                    <a:ext uri="{9D8B030D-6E8A-4147-A177-3AD203B41FA5}">
                      <a16:colId xmlns:a16="http://schemas.microsoft.com/office/drawing/2014/main" val="3614210242"/>
                    </a:ext>
                  </a:extLst>
                </a:gridCol>
                <a:gridCol w="578418">
                  <a:extLst>
                    <a:ext uri="{9D8B030D-6E8A-4147-A177-3AD203B41FA5}">
                      <a16:colId xmlns:a16="http://schemas.microsoft.com/office/drawing/2014/main" val="1442124609"/>
                    </a:ext>
                  </a:extLst>
                </a:gridCol>
                <a:gridCol w="1932431">
                  <a:extLst>
                    <a:ext uri="{9D8B030D-6E8A-4147-A177-3AD203B41FA5}">
                      <a16:colId xmlns:a16="http://schemas.microsoft.com/office/drawing/2014/main" val="3603859997"/>
                    </a:ext>
                  </a:extLst>
                </a:gridCol>
                <a:gridCol w="449647">
                  <a:extLst>
                    <a:ext uri="{9D8B030D-6E8A-4147-A177-3AD203B41FA5}">
                      <a16:colId xmlns:a16="http://schemas.microsoft.com/office/drawing/2014/main" val="4076488391"/>
                    </a:ext>
                  </a:extLst>
                </a:gridCol>
                <a:gridCol w="402808">
                  <a:extLst>
                    <a:ext uri="{9D8B030D-6E8A-4147-A177-3AD203B41FA5}">
                      <a16:colId xmlns:a16="http://schemas.microsoft.com/office/drawing/2014/main" val="3254101706"/>
                    </a:ext>
                  </a:extLst>
                </a:gridCol>
                <a:gridCol w="299765">
                  <a:extLst>
                    <a:ext uri="{9D8B030D-6E8A-4147-A177-3AD203B41FA5}">
                      <a16:colId xmlns:a16="http://schemas.microsoft.com/office/drawing/2014/main" val="3712391277"/>
                    </a:ext>
                  </a:extLst>
                </a:gridCol>
                <a:gridCol w="586810">
                  <a:extLst>
                    <a:ext uri="{9D8B030D-6E8A-4147-A177-3AD203B41FA5}">
                      <a16:colId xmlns:a16="http://schemas.microsoft.com/office/drawing/2014/main" val="1982795072"/>
                    </a:ext>
                  </a:extLst>
                </a:gridCol>
                <a:gridCol w="290572">
                  <a:extLst>
                    <a:ext uri="{9D8B030D-6E8A-4147-A177-3AD203B41FA5}">
                      <a16:colId xmlns:a16="http://schemas.microsoft.com/office/drawing/2014/main" val="2527660299"/>
                    </a:ext>
                  </a:extLst>
                </a:gridCol>
                <a:gridCol w="398697">
                  <a:extLst>
                    <a:ext uri="{9D8B030D-6E8A-4147-A177-3AD203B41FA5}">
                      <a16:colId xmlns:a16="http://schemas.microsoft.com/office/drawing/2014/main" val="3641075278"/>
                    </a:ext>
                  </a:extLst>
                </a:gridCol>
                <a:gridCol w="286486">
                  <a:extLst>
                    <a:ext uri="{9D8B030D-6E8A-4147-A177-3AD203B41FA5}">
                      <a16:colId xmlns:a16="http://schemas.microsoft.com/office/drawing/2014/main" val="3618613915"/>
                    </a:ext>
                  </a:extLst>
                </a:gridCol>
              </a:tblGrid>
              <a:tr h="0">
                <a:tc rowSpan="5">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88998">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 Revenue </a:t>
                      </a:r>
                      <a:r>
                        <a:rPr lang="en-US" sz="900" b="0" i="0" u="none" strike="noStrike" kern="1200">
                          <a:solidFill>
                            <a:srgbClr val="000000"/>
                          </a:solidFill>
                          <a:effectLst/>
                          <a:latin typeface="Arial" panose="020B0604020202020204" pitchFamily="34" charset="0"/>
                          <a:ea typeface="+mn-ea"/>
                          <a:cs typeface="+mn-cs"/>
                        </a:rPr>
                        <a:t>- Upfront Service(</a:t>
                      </a:r>
                      <a:r>
                        <a:rPr lang="en-US" altLang="zh-CN" sz="900" b="0" i="0" u="none" strike="noStrike" kern="1200">
                          <a:solidFill>
                            <a:srgbClr val="000000"/>
                          </a:solidFill>
                          <a:effectLst/>
                          <a:latin typeface="Arial" panose="020B0604020202020204" pitchFamily="34" charset="0"/>
                          <a:ea typeface="+mn-ea"/>
                          <a:cs typeface="+mn-cs"/>
                        </a:rPr>
                        <a:t>unfunded</a:t>
                      </a:r>
                      <a:r>
                        <a:rPr lang="zh-CN" altLang="en-US" sz="900" b="0" i="0" u="none" strike="noStrike" kern="1200">
                          <a:solidFill>
                            <a:srgbClr val="000000"/>
                          </a:solidFill>
                          <a:effectLst/>
                          <a:latin typeface="Arial" panose="020B0604020202020204" pitchFamily="34" charset="0"/>
                          <a:ea typeface="+mn-ea"/>
                          <a:cs typeface="+mn-cs"/>
                        </a:rPr>
                        <a:t>）</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bl>
          </a:graphicData>
        </a:graphic>
      </p:graphicFrame>
      <p:sp>
        <p:nvSpPr>
          <p:cNvPr id="28" name="文本框 27">
            <a:extLst>
              <a:ext uri="{FF2B5EF4-FFF2-40B4-BE49-F238E27FC236}">
                <a16:creationId xmlns:a16="http://schemas.microsoft.com/office/drawing/2014/main" id="{2E84E682-1998-3E05-5FB7-86D48F2D7F88}"/>
              </a:ext>
            </a:extLst>
          </p:cNvPr>
          <p:cNvSpPr txBox="1"/>
          <p:nvPr/>
        </p:nvSpPr>
        <p:spPr>
          <a:xfrm>
            <a:off x="296805" y="285492"/>
            <a:ext cx="4470947" cy="400110"/>
          </a:xfrm>
          <a:prstGeom prst="rect">
            <a:avLst/>
          </a:prstGeom>
          <a:noFill/>
        </p:spPr>
        <p:txBody>
          <a:bodyPr wrap="square" rtlCol="0">
            <a:spAutoFit/>
          </a:bodyPr>
          <a:lstStyle/>
          <a:p>
            <a:r>
              <a:rPr lang="nl-NL" altLang="zh-CN" sz="2000" b="1"/>
              <a:t>AFE_COI/POI</a:t>
            </a:r>
            <a:endParaRPr lang="zh-CN" altLang="en-US" sz="2000" b="1"/>
          </a:p>
        </p:txBody>
      </p:sp>
      <p:graphicFrame>
        <p:nvGraphicFramePr>
          <p:cNvPr id="4" name="表格 3">
            <a:extLst>
              <a:ext uri="{FF2B5EF4-FFF2-40B4-BE49-F238E27FC236}">
                <a16:creationId xmlns:a16="http://schemas.microsoft.com/office/drawing/2014/main" id="{31424D34-43C9-4C70-B808-FA191D381967}"/>
              </a:ext>
            </a:extLst>
          </p:cNvPr>
          <p:cNvGraphicFramePr>
            <a:graphicFrameLocks noGrp="1"/>
          </p:cNvGraphicFramePr>
          <p:nvPr>
            <p:extLst>
              <p:ext uri="{D42A27DB-BD31-4B8C-83A1-F6EECF244321}">
                <p14:modId xmlns:p14="http://schemas.microsoft.com/office/powerpoint/2010/main" val="2410746389"/>
              </p:ext>
            </p:extLst>
          </p:nvPr>
        </p:nvGraphicFramePr>
        <p:xfrm>
          <a:off x="331266" y="3467815"/>
          <a:ext cx="5953029" cy="1043822"/>
        </p:xfrm>
        <a:graphic>
          <a:graphicData uri="http://schemas.openxmlformats.org/drawingml/2006/table">
            <a:tbl>
              <a:tblPr/>
              <a:tblGrid>
                <a:gridCol w="443538">
                  <a:extLst>
                    <a:ext uri="{9D8B030D-6E8A-4147-A177-3AD203B41FA5}">
                      <a16:colId xmlns:a16="http://schemas.microsoft.com/office/drawing/2014/main" val="495084399"/>
                    </a:ext>
                  </a:extLst>
                </a:gridCol>
                <a:gridCol w="254213">
                  <a:extLst>
                    <a:ext uri="{9D8B030D-6E8A-4147-A177-3AD203B41FA5}">
                      <a16:colId xmlns:a16="http://schemas.microsoft.com/office/drawing/2014/main" val="3614210242"/>
                    </a:ext>
                  </a:extLst>
                </a:gridCol>
                <a:gridCol w="633409">
                  <a:extLst>
                    <a:ext uri="{9D8B030D-6E8A-4147-A177-3AD203B41FA5}">
                      <a16:colId xmlns:a16="http://schemas.microsoft.com/office/drawing/2014/main" val="1442124609"/>
                    </a:ext>
                  </a:extLst>
                </a:gridCol>
                <a:gridCol w="1995181">
                  <a:extLst>
                    <a:ext uri="{9D8B030D-6E8A-4147-A177-3AD203B41FA5}">
                      <a16:colId xmlns:a16="http://schemas.microsoft.com/office/drawing/2014/main" val="3603859997"/>
                    </a:ext>
                  </a:extLst>
                </a:gridCol>
                <a:gridCol w="378613">
                  <a:extLst>
                    <a:ext uri="{9D8B030D-6E8A-4147-A177-3AD203B41FA5}">
                      <a16:colId xmlns:a16="http://schemas.microsoft.com/office/drawing/2014/main" val="4076488391"/>
                    </a:ext>
                  </a:extLst>
                </a:gridCol>
                <a:gridCol w="293207">
                  <a:extLst>
                    <a:ext uri="{9D8B030D-6E8A-4147-A177-3AD203B41FA5}">
                      <a16:colId xmlns:a16="http://schemas.microsoft.com/office/drawing/2014/main" val="3254101706"/>
                    </a:ext>
                  </a:extLst>
                </a:gridCol>
                <a:gridCol w="371194">
                  <a:extLst>
                    <a:ext uri="{9D8B030D-6E8A-4147-A177-3AD203B41FA5}">
                      <a16:colId xmlns:a16="http://schemas.microsoft.com/office/drawing/2014/main" val="3712391277"/>
                    </a:ext>
                  </a:extLst>
                </a:gridCol>
                <a:gridCol w="601797">
                  <a:extLst>
                    <a:ext uri="{9D8B030D-6E8A-4147-A177-3AD203B41FA5}">
                      <a16:colId xmlns:a16="http://schemas.microsoft.com/office/drawing/2014/main" val="1461470061"/>
                    </a:ext>
                  </a:extLst>
                </a:gridCol>
                <a:gridCol w="280209">
                  <a:extLst>
                    <a:ext uri="{9D8B030D-6E8A-4147-A177-3AD203B41FA5}">
                      <a16:colId xmlns:a16="http://schemas.microsoft.com/office/drawing/2014/main" val="2527660299"/>
                    </a:ext>
                  </a:extLst>
                </a:gridCol>
                <a:gridCol w="403689">
                  <a:extLst>
                    <a:ext uri="{9D8B030D-6E8A-4147-A177-3AD203B41FA5}">
                      <a16:colId xmlns:a16="http://schemas.microsoft.com/office/drawing/2014/main" val="3641075278"/>
                    </a:ext>
                  </a:extLst>
                </a:gridCol>
                <a:gridCol w="297979">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Upfront Service(unfunded）</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5683D7D8-86CD-B414-8765-E2965EC07B85}"/>
              </a:ext>
            </a:extLst>
          </p:cNvPr>
          <p:cNvGraphicFramePr>
            <a:graphicFrameLocks noGrp="1"/>
          </p:cNvGraphicFramePr>
          <p:nvPr>
            <p:extLst>
              <p:ext uri="{D42A27DB-BD31-4B8C-83A1-F6EECF244321}">
                <p14:modId xmlns:p14="http://schemas.microsoft.com/office/powerpoint/2010/main" val="752311306"/>
              </p:ext>
            </p:extLst>
          </p:nvPr>
        </p:nvGraphicFramePr>
        <p:xfrm>
          <a:off x="325522" y="4559775"/>
          <a:ext cx="5958770" cy="1052395"/>
        </p:xfrm>
        <a:graphic>
          <a:graphicData uri="http://schemas.openxmlformats.org/drawingml/2006/table">
            <a:tbl>
              <a:tblPr/>
              <a:tblGrid>
                <a:gridCol w="442573">
                  <a:extLst>
                    <a:ext uri="{9D8B030D-6E8A-4147-A177-3AD203B41FA5}">
                      <a16:colId xmlns:a16="http://schemas.microsoft.com/office/drawing/2014/main" val="495084399"/>
                    </a:ext>
                  </a:extLst>
                </a:gridCol>
                <a:gridCol w="252964">
                  <a:extLst>
                    <a:ext uri="{9D8B030D-6E8A-4147-A177-3AD203B41FA5}">
                      <a16:colId xmlns:a16="http://schemas.microsoft.com/office/drawing/2014/main" val="3614210242"/>
                    </a:ext>
                  </a:extLst>
                </a:gridCol>
                <a:gridCol w="582782">
                  <a:extLst>
                    <a:ext uri="{9D8B030D-6E8A-4147-A177-3AD203B41FA5}">
                      <a16:colId xmlns:a16="http://schemas.microsoft.com/office/drawing/2014/main" val="1442124609"/>
                    </a:ext>
                  </a:extLst>
                </a:gridCol>
                <a:gridCol w="1969585">
                  <a:extLst>
                    <a:ext uri="{9D8B030D-6E8A-4147-A177-3AD203B41FA5}">
                      <a16:colId xmlns:a16="http://schemas.microsoft.com/office/drawing/2014/main" val="3603859997"/>
                    </a:ext>
                  </a:extLst>
                </a:gridCol>
                <a:gridCol w="380065">
                  <a:extLst>
                    <a:ext uri="{9D8B030D-6E8A-4147-A177-3AD203B41FA5}">
                      <a16:colId xmlns:a16="http://schemas.microsoft.com/office/drawing/2014/main" val="4076488391"/>
                    </a:ext>
                  </a:extLst>
                </a:gridCol>
                <a:gridCol w="380065">
                  <a:extLst>
                    <a:ext uri="{9D8B030D-6E8A-4147-A177-3AD203B41FA5}">
                      <a16:colId xmlns:a16="http://schemas.microsoft.com/office/drawing/2014/main" val="3254101706"/>
                    </a:ext>
                  </a:extLst>
                </a:gridCol>
                <a:gridCol w="369370">
                  <a:extLst>
                    <a:ext uri="{9D8B030D-6E8A-4147-A177-3AD203B41FA5}">
                      <a16:colId xmlns:a16="http://schemas.microsoft.com/office/drawing/2014/main" val="3712391277"/>
                    </a:ext>
                  </a:extLst>
                </a:gridCol>
                <a:gridCol w="602502">
                  <a:extLst>
                    <a:ext uri="{9D8B030D-6E8A-4147-A177-3AD203B41FA5}">
                      <a16:colId xmlns:a16="http://schemas.microsoft.com/office/drawing/2014/main" val="967768249"/>
                    </a:ext>
                  </a:extLst>
                </a:gridCol>
                <a:gridCol w="278832">
                  <a:extLst>
                    <a:ext uri="{9D8B030D-6E8A-4147-A177-3AD203B41FA5}">
                      <a16:colId xmlns:a16="http://schemas.microsoft.com/office/drawing/2014/main" val="2527660299"/>
                    </a:ext>
                  </a:extLst>
                </a:gridCol>
                <a:gridCol w="401704">
                  <a:extLst>
                    <a:ext uri="{9D8B030D-6E8A-4147-A177-3AD203B41FA5}">
                      <a16:colId xmlns:a16="http://schemas.microsoft.com/office/drawing/2014/main" val="3641075278"/>
                    </a:ext>
                  </a:extLst>
                </a:gridCol>
                <a:gridCol w="298328">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–Upfront Service (unfunded)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bl>
          </a:graphicData>
        </a:graphic>
      </p:graphicFrame>
      <p:graphicFrame>
        <p:nvGraphicFramePr>
          <p:cNvPr id="3" name="表格 2">
            <a:extLst>
              <a:ext uri="{FF2B5EF4-FFF2-40B4-BE49-F238E27FC236}">
                <a16:creationId xmlns:a16="http://schemas.microsoft.com/office/drawing/2014/main" id="{BAD221B1-DC4C-8272-A3CA-88929F27DF4C}"/>
              </a:ext>
            </a:extLst>
          </p:cNvPr>
          <p:cNvGraphicFramePr>
            <a:graphicFrameLocks noGrp="1"/>
          </p:cNvGraphicFramePr>
          <p:nvPr>
            <p:extLst>
              <p:ext uri="{D42A27DB-BD31-4B8C-83A1-F6EECF244321}">
                <p14:modId xmlns:p14="http://schemas.microsoft.com/office/powerpoint/2010/main" val="3619019147"/>
              </p:ext>
            </p:extLst>
          </p:nvPr>
        </p:nvGraphicFramePr>
        <p:xfrm>
          <a:off x="314036" y="1005126"/>
          <a:ext cx="5958772" cy="1034043"/>
        </p:xfrm>
        <a:graphic>
          <a:graphicData uri="http://schemas.openxmlformats.org/drawingml/2006/table">
            <a:tbl>
              <a:tblPr/>
              <a:tblGrid>
                <a:gridCol w="441903">
                  <a:extLst>
                    <a:ext uri="{9D8B030D-6E8A-4147-A177-3AD203B41FA5}">
                      <a16:colId xmlns:a16="http://schemas.microsoft.com/office/drawing/2014/main" val="495084399"/>
                    </a:ext>
                  </a:extLst>
                </a:gridCol>
                <a:gridCol w="252581">
                  <a:extLst>
                    <a:ext uri="{9D8B030D-6E8A-4147-A177-3AD203B41FA5}">
                      <a16:colId xmlns:a16="http://schemas.microsoft.com/office/drawing/2014/main" val="3614210242"/>
                    </a:ext>
                  </a:extLst>
                </a:gridCol>
                <a:gridCol w="581900">
                  <a:extLst>
                    <a:ext uri="{9D8B030D-6E8A-4147-A177-3AD203B41FA5}">
                      <a16:colId xmlns:a16="http://schemas.microsoft.com/office/drawing/2014/main" val="1442124609"/>
                    </a:ext>
                  </a:extLst>
                </a:gridCol>
                <a:gridCol w="1966603">
                  <a:extLst>
                    <a:ext uri="{9D8B030D-6E8A-4147-A177-3AD203B41FA5}">
                      <a16:colId xmlns:a16="http://schemas.microsoft.com/office/drawing/2014/main" val="3603859997"/>
                    </a:ext>
                  </a:extLst>
                </a:gridCol>
                <a:gridCol w="379490">
                  <a:extLst>
                    <a:ext uri="{9D8B030D-6E8A-4147-A177-3AD203B41FA5}">
                      <a16:colId xmlns:a16="http://schemas.microsoft.com/office/drawing/2014/main" val="4076488391"/>
                    </a:ext>
                  </a:extLst>
                </a:gridCol>
                <a:gridCol w="379490">
                  <a:extLst>
                    <a:ext uri="{9D8B030D-6E8A-4147-A177-3AD203B41FA5}">
                      <a16:colId xmlns:a16="http://schemas.microsoft.com/office/drawing/2014/main" val="3254101706"/>
                    </a:ext>
                  </a:extLst>
                </a:gridCol>
                <a:gridCol w="368811">
                  <a:extLst>
                    <a:ext uri="{9D8B030D-6E8A-4147-A177-3AD203B41FA5}">
                      <a16:colId xmlns:a16="http://schemas.microsoft.com/office/drawing/2014/main" val="3712391277"/>
                    </a:ext>
                  </a:extLst>
                </a:gridCol>
                <a:gridCol w="601590">
                  <a:extLst>
                    <a:ext uri="{9D8B030D-6E8A-4147-A177-3AD203B41FA5}">
                      <a16:colId xmlns:a16="http://schemas.microsoft.com/office/drawing/2014/main" val="967768249"/>
                    </a:ext>
                  </a:extLst>
                </a:gridCol>
                <a:gridCol w="278410">
                  <a:extLst>
                    <a:ext uri="{9D8B030D-6E8A-4147-A177-3AD203B41FA5}">
                      <a16:colId xmlns:a16="http://schemas.microsoft.com/office/drawing/2014/main" val="2527660299"/>
                    </a:ext>
                  </a:extLst>
                </a:gridCol>
                <a:gridCol w="410118">
                  <a:extLst>
                    <a:ext uri="{9D8B030D-6E8A-4147-A177-3AD203B41FA5}">
                      <a16:colId xmlns:a16="http://schemas.microsoft.com/office/drawing/2014/main" val="3641075278"/>
                    </a:ext>
                  </a:extLst>
                </a:gridCol>
                <a:gridCol w="297876">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Upfront service revenue recognition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Customer Acceptance​</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36</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900" b="0" i="0" u="none" strike="noStrike" kern="1200">
                          <a:solidFill>
                            <a:srgbClr val="000000"/>
                          </a:solidFill>
                          <a:effectLst/>
                          <a:latin typeface="Arial" panose="020B0604020202020204" pitchFamily="34" charset="0"/>
                          <a:ea typeface="+mn-ea"/>
                          <a:cs typeface="+mn-cs"/>
                        </a:rPr>
                        <a:t>Service Revenue – Upfront svc(unfunded)</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bl>
          </a:graphicData>
        </a:graphic>
      </p:graphicFrame>
    </p:spTree>
    <p:extLst>
      <p:ext uri="{BB962C8B-B14F-4D97-AF65-F5344CB8AC3E}">
        <p14:creationId xmlns:p14="http://schemas.microsoft.com/office/powerpoint/2010/main" val="360400176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D4B346-B5A0-BFAE-6529-5D0357DF6493}"/>
            </a:ext>
          </a:extLst>
        </p:cNvPr>
        <p:cNvGrpSpPr/>
        <p:nvPr/>
      </p:nvGrpSpPr>
      <p:grpSpPr>
        <a:xfrm>
          <a:off x="0" y="0"/>
          <a:ext cx="0" cy="0"/>
          <a:chOff x="0" y="0"/>
          <a:chExt cx="0" cy="0"/>
        </a:xfrm>
      </p:grpSpPr>
      <p:graphicFrame>
        <p:nvGraphicFramePr>
          <p:cNvPr id="4" name="表格 3">
            <a:extLst>
              <a:ext uri="{FF2B5EF4-FFF2-40B4-BE49-F238E27FC236}">
                <a16:creationId xmlns:a16="http://schemas.microsoft.com/office/drawing/2014/main" id="{B10C8B5C-9D23-87DF-551C-E9FB3C05E2A1}"/>
              </a:ext>
            </a:extLst>
          </p:cNvPr>
          <p:cNvGraphicFramePr>
            <a:graphicFrameLocks noGrp="1"/>
          </p:cNvGraphicFramePr>
          <p:nvPr>
            <p:extLst>
              <p:ext uri="{D42A27DB-BD31-4B8C-83A1-F6EECF244321}">
                <p14:modId xmlns:p14="http://schemas.microsoft.com/office/powerpoint/2010/main" val="3029687867"/>
              </p:ext>
            </p:extLst>
          </p:nvPr>
        </p:nvGraphicFramePr>
        <p:xfrm>
          <a:off x="24308" y="744279"/>
          <a:ext cx="12143384" cy="5863124"/>
        </p:xfrm>
        <a:graphic>
          <a:graphicData uri="http://schemas.openxmlformats.org/drawingml/2006/table">
            <a:tbl>
              <a:tblPr>
                <a:tableStyleId>{5C22544A-7EE6-4342-B048-85BDC9FD1C3A}</a:tableStyleId>
              </a:tblPr>
              <a:tblGrid>
                <a:gridCol w="1788591">
                  <a:extLst>
                    <a:ext uri="{9D8B030D-6E8A-4147-A177-3AD203B41FA5}">
                      <a16:colId xmlns:a16="http://schemas.microsoft.com/office/drawing/2014/main" val="4000147225"/>
                    </a:ext>
                  </a:extLst>
                </a:gridCol>
                <a:gridCol w="710679">
                  <a:extLst>
                    <a:ext uri="{9D8B030D-6E8A-4147-A177-3AD203B41FA5}">
                      <a16:colId xmlns:a16="http://schemas.microsoft.com/office/drawing/2014/main" val="3461385236"/>
                    </a:ext>
                  </a:extLst>
                </a:gridCol>
                <a:gridCol w="915466">
                  <a:extLst>
                    <a:ext uri="{9D8B030D-6E8A-4147-A177-3AD203B41FA5}">
                      <a16:colId xmlns:a16="http://schemas.microsoft.com/office/drawing/2014/main" val="483276459"/>
                    </a:ext>
                  </a:extLst>
                </a:gridCol>
                <a:gridCol w="991666">
                  <a:extLst>
                    <a:ext uri="{9D8B030D-6E8A-4147-A177-3AD203B41FA5}">
                      <a16:colId xmlns:a16="http://schemas.microsoft.com/office/drawing/2014/main" val="3787700465"/>
                    </a:ext>
                  </a:extLst>
                </a:gridCol>
                <a:gridCol w="663054">
                  <a:extLst>
                    <a:ext uri="{9D8B030D-6E8A-4147-A177-3AD203B41FA5}">
                      <a16:colId xmlns:a16="http://schemas.microsoft.com/office/drawing/2014/main" val="2232385994"/>
                    </a:ext>
                  </a:extLst>
                </a:gridCol>
                <a:gridCol w="620572">
                  <a:extLst>
                    <a:ext uri="{9D8B030D-6E8A-4147-A177-3AD203B41FA5}">
                      <a16:colId xmlns:a16="http://schemas.microsoft.com/office/drawing/2014/main" val="2624620257"/>
                    </a:ext>
                  </a:extLst>
                </a:gridCol>
                <a:gridCol w="941882">
                  <a:extLst>
                    <a:ext uri="{9D8B030D-6E8A-4147-A177-3AD203B41FA5}">
                      <a16:colId xmlns:a16="http://schemas.microsoft.com/office/drawing/2014/main" val="109940872"/>
                    </a:ext>
                  </a:extLst>
                </a:gridCol>
                <a:gridCol w="821042">
                  <a:extLst>
                    <a:ext uri="{9D8B030D-6E8A-4147-A177-3AD203B41FA5}">
                      <a16:colId xmlns:a16="http://schemas.microsoft.com/office/drawing/2014/main" val="2389772416"/>
                    </a:ext>
                  </a:extLst>
                </a:gridCol>
                <a:gridCol w="765224">
                  <a:extLst>
                    <a:ext uri="{9D8B030D-6E8A-4147-A177-3AD203B41FA5}">
                      <a16:colId xmlns:a16="http://schemas.microsoft.com/office/drawing/2014/main" val="874425061"/>
                    </a:ext>
                  </a:extLst>
                </a:gridCol>
                <a:gridCol w="1848916">
                  <a:extLst>
                    <a:ext uri="{9D8B030D-6E8A-4147-A177-3AD203B41FA5}">
                      <a16:colId xmlns:a16="http://schemas.microsoft.com/office/drawing/2014/main" val="2517919499"/>
                    </a:ext>
                  </a:extLst>
                </a:gridCol>
                <a:gridCol w="2076292">
                  <a:extLst>
                    <a:ext uri="{9D8B030D-6E8A-4147-A177-3AD203B41FA5}">
                      <a16:colId xmlns:a16="http://schemas.microsoft.com/office/drawing/2014/main" val="2358262028"/>
                    </a:ext>
                  </a:extLst>
                </a:gridCol>
              </a:tblGrid>
              <a:tr h="601273">
                <a:tc>
                  <a:txBody>
                    <a:bodyPr/>
                    <a:lstStyle/>
                    <a:p>
                      <a:pPr algn="l" fontAlgn="b"/>
                      <a:r>
                        <a:rPr lang="en-US" sz="1000" b="1" u="none" strike="noStrike">
                          <a:effectLst/>
                        </a:rPr>
                        <a:t>1.Offering</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2. Business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3.Contract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4.Charge 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5. RTM</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6. Lease </a:t>
                      </a:r>
                    </a:p>
                    <a:p>
                      <a:pPr algn="l" fontAlgn="b"/>
                      <a:r>
                        <a:rPr lang="en-US" sz="1000" b="1" u="none" strike="noStrike">
                          <a:effectLst/>
                        </a:rPr>
                        <a:t>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7. Billing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8. Funding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9. Product Ctgry</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10. Events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11. Offering Elements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1316032673"/>
                  </a:ext>
                </a:extLst>
              </a:tr>
              <a:tr h="312929">
                <a:tc>
                  <a:txBody>
                    <a:bodyPr/>
                    <a:lstStyle/>
                    <a:p>
                      <a:pPr algn="l" fontAlgn="b"/>
                      <a:r>
                        <a:rPr lang="en-US" sz="1000" u="none" strike="noStrike">
                          <a:effectLst/>
                        </a:rPr>
                        <a:t>1.1DaaS</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3.1 MSA</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4.1 Fixed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5.1 Direct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6.1 OL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7.1 Monthly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8.1 Internal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9.1 Lenovo</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10.1 Normal Pass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 HW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5508739"/>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3.2 MLA</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5.2 Indirect</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6.2 FL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7.2 Quarterly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8.2 External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9.2 3rd party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10.2 EOT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11.2 SW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4318484"/>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highlight>
                            <a:srgbClr val="FFFF00"/>
                          </a:highlight>
                        </a:rPr>
                        <a:t>2.3 AFE Hub</a:t>
                      </a:r>
                      <a:endParaRPr lang="en-US" sz="1000" b="0" i="0" u="none" strike="noStrike">
                        <a:solidFill>
                          <a:srgbClr val="000000"/>
                        </a:solidFill>
                        <a:effectLst/>
                        <a:highlight>
                          <a:srgbClr val="FFFF00"/>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10.3 Early termination-</a:t>
                      </a:r>
                    </a:p>
                    <a:p>
                      <a:pPr algn="l" fontAlgn="b"/>
                      <a:r>
                        <a:rPr lang="en-US" sz="1000" u="none" strike="noStrike">
                          <a:effectLst/>
                        </a:rPr>
                        <a:t>Device Return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11.3 SVC - upfront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6459778"/>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10.4 Early termination-</a:t>
                      </a:r>
                    </a:p>
                    <a:p>
                      <a:pPr algn="l" fontAlgn="b"/>
                      <a:r>
                        <a:rPr lang="en-US" sz="1000" u="none" strike="noStrike">
                          <a:effectLst/>
                        </a:rPr>
                        <a:t>Device Lost/Stolen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11.4 SVC - upfront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766259"/>
                  </a:ext>
                </a:extLst>
              </a:tr>
              <a:tr h="625860">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10.5 Extension auto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11.5 SVC - on-going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7547337"/>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10.6 Extension with (fix/open)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11.6 SVC - on-going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963629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10.7 Flex pause/un-pause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11.7 SVC - end of term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6895235"/>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10.8 Flex down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50104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10.9 Swap stock </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8670641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10.10 Damage fund/charge </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2673700"/>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10.11 SOR with Recourse </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139168"/>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10.12 SOR with non-Recourse </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215011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highlight>
                            <a:srgbClr val="FFFF00"/>
                          </a:highlight>
                        </a:rPr>
                        <a:t>10.13 Syndication </a:t>
                      </a:r>
                      <a:endParaRPr lang="en-US" sz="1000" b="0" i="0" u="none" strike="noStrike">
                        <a:solidFill>
                          <a:srgbClr val="000000"/>
                        </a:solidFill>
                        <a:effectLst/>
                        <a:highlight>
                          <a:srgbClr val="FFFF00"/>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6222521"/>
                  </a:ext>
                </a:extLst>
              </a:tr>
              <a:tr h="312929">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10.14 Asset Remarketing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60106"/>
                  </a:ext>
                </a:extLst>
              </a:tr>
              <a:tr h="567914">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10.15 Manual adjustment – </a:t>
                      </a:r>
                    </a:p>
                    <a:p>
                      <a:pPr algn="l" fontAlgn="b"/>
                      <a:r>
                        <a:rPr lang="en-US" sz="1000" u="none" strike="noStrike">
                          <a:effectLst/>
                        </a:rPr>
                        <a:t>Credit /Debit </a:t>
                      </a:r>
                      <a:r>
                        <a:rPr lang="en-US" sz="1000" u="none" strike="noStrike" err="1">
                          <a:effectLst/>
                        </a:rPr>
                        <a:t>Memo,Cancellation</a:t>
                      </a:r>
                      <a:endParaRPr lang="en-US" sz="1000" u="none" strike="noStrike">
                        <a:effectLst/>
                      </a:endParaRPr>
                    </a:p>
                    <a:p>
                      <a:pPr algn="l" fontAlgn="b"/>
                      <a:r>
                        <a:rPr lang="en-US" sz="1000" u="none" strike="noStrike">
                          <a:effectLst/>
                        </a:rPr>
                        <a:t>/Reverse</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348367"/>
                  </a:ext>
                </a:extLst>
              </a:tr>
            </a:tbl>
          </a:graphicData>
        </a:graphic>
      </p:graphicFrame>
      <p:sp>
        <p:nvSpPr>
          <p:cNvPr id="5" name="文本框 16">
            <a:extLst>
              <a:ext uri="{FF2B5EF4-FFF2-40B4-BE49-F238E27FC236}">
                <a16:creationId xmlns:a16="http://schemas.microsoft.com/office/drawing/2014/main" id="{3406BCA7-B58F-7D81-A792-4E41DE855BF2}"/>
              </a:ext>
            </a:extLst>
          </p:cNvPr>
          <p:cNvSpPr txBox="1"/>
          <p:nvPr/>
        </p:nvSpPr>
        <p:spPr>
          <a:xfrm>
            <a:off x="195320" y="131113"/>
            <a:ext cx="4470947" cy="400110"/>
          </a:xfrm>
          <a:prstGeom prst="rect">
            <a:avLst/>
          </a:prstGeom>
          <a:noFill/>
        </p:spPr>
        <p:txBody>
          <a:bodyPr wrap="square" rtlCol="0">
            <a:spAutoFit/>
          </a:bodyPr>
          <a:lstStyle/>
          <a:p>
            <a:r>
              <a:rPr lang="nl-NL" altLang="zh-CN" sz="2000" b="1"/>
              <a:t>DaaS_AFE HUB_MSA&amp;MLA</a:t>
            </a:r>
            <a:endParaRPr lang="zh-CN" altLang="en-US" sz="2000" b="1"/>
          </a:p>
        </p:txBody>
      </p:sp>
    </p:spTree>
    <p:extLst>
      <p:ext uri="{BB962C8B-B14F-4D97-AF65-F5344CB8AC3E}">
        <p14:creationId xmlns:p14="http://schemas.microsoft.com/office/powerpoint/2010/main" val="271535766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B9CD4C-DE5F-9285-FC54-A2AA25E61CC4}"/>
            </a:ext>
          </a:extLst>
        </p:cNvPr>
        <p:cNvGrpSpPr/>
        <p:nvPr/>
      </p:nvGrpSpPr>
      <p:grpSpPr>
        <a:xfrm>
          <a:off x="0" y="0"/>
          <a:ext cx="0" cy="0"/>
          <a:chOff x="0" y="0"/>
          <a:chExt cx="0" cy="0"/>
        </a:xfrm>
      </p:grpSpPr>
      <p:graphicFrame>
        <p:nvGraphicFramePr>
          <p:cNvPr id="6" name="表格 5">
            <a:extLst>
              <a:ext uri="{FF2B5EF4-FFF2-40B4-BE49-F238E27FC236}">
                <a16:creationId xmlns:a16="http://schemas.microsoft.com/office/drawing/2014/main" id="{DBAAE10A-74F7-EE84-FF3B-15FE31EDCC5B}"/>
              </a:ext>
            </a:extLst>
          </p:cNvPr>
          <p:cNvGraphicFramePr>
            <a:graphicFrameLocks noGrp="1"/>
          </p:cNvGraphicFramePr>
          <p:nvPr>
            <p:extLst>
              <p:ext uri="{D42A27DB-BD31-4B8C-83A1-F6EECF244321}">
                <p14:modId xmlns:p14="http://schemas.microsoft.com/office/powerpoint/2010/main" val="2086645124"/>
              </p:ext>
            </p:extLst>
          </p:nvPr>
        </p:nvGraphicFramePr>
        <p:xfrm>
          <a:off x="6164424" y="1813539"/>
          <a:ext cx="5915320" cy="1708535"/>
        </p:xfrm>
        <a:graphic>
          <a:graphicData uri="http://schemas.openxmlformats.org/drawingml/2006/table">
            <a:tbl>
              <a:tblPr/>
              <a:tblGrid>
                <a:gridCol w="437298">
                  <a:extLst>
                    <a:ext uri="{9D8B030D-6E8A-4147-A177-3AD203B41FA5}">
                      <a16:colId xmlns:a16="http://schemas.microsoft.com/office/drawing/2014/main" val="495084399"/>
                    </a:ext>
                  </a:extLst>
                </a:gridCol>
                <a:gridCol w="229847">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42375">
                  <a:extLst>
                    <a:ext uri="{9D8B030D-6E8A-4147-A177-3AD203B41FA5}">
                      <a16:colId xmlns:a16="http://schemas.microsoft.com/office/drawing/2014/main" val="3603859997"/>
                    </a:ext>
                  </a:extLst>
                </a:gridCol>
                <a:gridCol w="349986">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264423">
                  <a:extLst>
                    <a:ext uri="{9D8B030D-6E8A-4147-A177-3AD203B41FA5}">
                      <a16:colId xmlns:a16="http://schemas.microsoft.com/office/drawing/2014/main" val="3712391277"/>
                    </a:ext>
                  </a:extLst>
                </a:gridCol>
                <a:gridCol w="286486">
                  <a:extLst>
                    <a:ext uri="{9D8B030D-6E8A-4147-A177-3AD203B41FA5}">
                      <a16:colId xmlns:a16="http://schemas.microsoft.com/office/drawing/2014/main" val="4221779915"/>
                    </a:ext>
                  </a:extLst>
                </a:gridCol>
                <a:gridCol w="253351">
                  <a:extLst>
                    <a:ext uri="{9D8B030D-6E8A-4147-A177-3AD203B41FA5}">
                      <a16:colId xmlns:a16="http://schemas.microsoft.com/office/drawing/2014/main" val="2527660299"/>
                    </a:ext>
                  </a:extLst>
                </a:gridCol>
                <a:gridCol w="364996">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0" name="表格 9">
            <a:extLst>
              <a:ext uri="{FF2B5EF4-FFF2-40B4-BE49-F238E27FC236}">
                <a16:creationId xmlns:a16="http://schemas.microsoft.com/office/drawing/2014/main" id="{3D3DBB9A-C868-03C8-4D33-F7B30902B3C9}"/>
              </a:ext>
            </a:extLst>
          </p:cNvPr>
          <p:cNvGraphicFramePr>
            <a:graphicFrameLocks noGrp="1"/>
          </p:cNvGraphicFramePr>
          <p:nvPr>
            <p:extLst>
              <p:ext uri="{D42A27DB-BD31-4B8C-83A1-F6EECF244321}">
                <p14:modId xmlns:p14="http://schemas.microsoft.com/office/powerpoint/2010/main" val="3051275011"/>
              </p:ext>
            </p:extLst>
          </p:nvPr>
        </p:nvGraphicFramePr>
        <p:xfrm>
          <a:off x="49330" y="1649206"/>
          <a:ext cx="5988347" cy="2201599"/>
        </p:xfrm>
        <a:graphic>
          <a:graphicData uri="http://schemas.openxmlformats.org/drawingml/2006/table">
            <a:tbl>
              <a:tblPr/>
              <a:tblGrid>
                <a:gridCol w="458379">
                  <a:extLst>
                    <a:ext uri="{9D8B030D-6E8A-4147-A177-3AD203B41FA5}">
                      <a16:colId xmlns:a16="http://schemas.microsoft.com/office/drawing/2014/main" val="495084399"/>
                    </a:ext>
                  </a:extLst>
                </a:gridCol>
                <a:gridCol w="240045">
                  <a:extLst>
                    <a:ext uri="{9D8B030D-6E8A-4147-A177-3AD203B41FA5}">
                      <a16:colId xmlns:a16="http://schemas.microsoft.com/office/drawing/2014/main" val="3614210242"/>
                    </a:ext>
                  </a:extLst>
                </a:gridCol>
                <a:gridCol w="571276">
                  <a:extLst>
                    <a:ext uri="{9D8B030D-6E8A-4147-A177-3AD203B41FA5}">
                      <a16:colId xmlns:a16="http://schemas.microsoft.com/office/drawing/2014/main" val="1442124609"/>
                    </a:ext>
                  </a:extLst>
                </a:gridCol>
                <a:gridCol w="1832072">
                  <a:extLst>
                    <a:ext uri="{9D8B030D-6E8A-4147-A177-3AD203B41FA5}">
                      <a16:colId xmlns:a16="http://schemas.microsoft.com/office/drawing/2014/main" val="3603859997"/>
                    </a:ext>
                  </a:extLst>
                </a:gridCol>
                <a:gridCol w="341474">
                  <a:extLst>
                    <a:ext uri="{9D8B030D-6E8A-4147-A177-3AD203B41FA5}">
                      <a16:colId xmlns:a16="http://schemas.microsoft.com/office/drawing/2014/main" val="4076488391"/>
                    </a:ext>
                  </a:extLst>
                </a:gridCol>
                <a:gridCol w="341474">
                  <a:extLst>
                    <a:ext uri="{9D8B030D-6E8A-4147-A177-3AD203B41FA5}">
                      <a16:colId xmlns:a16="http://schemas.microsoft.com/office/drawing/2014/main" val="3254101706"/>
                    </a:ext>
                  </a:extLst>
                </a:gridCol>
                <a:gridCol w="276142">
                  <a:extLst>
                    <a:ext uri="{9D8B030D-6E8A-4147-A177-3AD203B41FA5}">
                      <a16:colId xmlns:a16="http://schemas.microsoft.com/office/drawing/2014/main" val="3712391277"/>
                    </a:ext>
                  </a:extLst>
                </a:gridCol>
                <a:gridCol w="619789">
                  <a:extLst>
                    <a:ext uri="{9D8B030D-6E8A-4147-A177-3AD203B41FA5}">
                      <a16:colId xmlns:a16="http://schemas.microsoft.com/office/drawing/2014/main" val="1982795072"/>
                    </a:ext>
                  </a:extLst>
                </a:gridCol>
                <a:gridCol w="286984">
                  <a:extLst>
                    <a:ext uri="{9D8B030D-6E8A-4147-A177-3AD203B41FA5}">
                      <a16:colId xmlns:a16="http://schemas.microsoft.com/office/drawing/2014/main" val="2527660299"/>
                    </a:ext>
                  </a:extLst>
                </a:gridCol>
                <a:gridCol w="393774">
                  <a:extLst>
                    <a:ext uri="{9D8B030D-6E8A-4147-A177-3AD203B41FA5}">
                      <a16:colId xmlns:a16="http://schemas.microsoft.com/office/drawing/2014/main" val="3641075278"/>
                    </a:ext>
                  </a:extLst>
                </a:gridCol>
                <a:gridCol w="626938">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658033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28" name="文本框 27">
            <a:extLst>
              <a:ext uri="{FF2B5EF4-FFF2-40B4-BE49-F238E27FC236}">
                <a16:creationId xmlns:a16="http://schemas.microsoft.com/office/drawing/2014/main" id="{7759B76D-DD73-1A5B-EB5F-F2775319CDB1}"/>
              </a:ext>
            </a:extLst>
          </p:cNvPr>
          <p:cNvSpPr txBox="1"/>
          <p:nvPr/>
        </p:nvSpPr>
        <p:spPr>
          <a:xfrm>
            <a:off x="0" y="73549"/>
            <a:ext cx="4470947" cy="400110"/>
          </a:xfrm>
          <a:prstGeom prst="rect">
            <a:avLst/>
          </a:prstGeom>
          <a:noFill/>
        </p:spPr>
        <p:txBody>
          <a:bodyPr wrap="square" rtlCol="0">
            <a:spAutoFit/>
          </a:bodyPr>
          <a:lstStyle/>
          <a:p>
            <a:r>
              <a:rPr lang="nl-NL" altLang="zh-CN" sz="2000" b="1"/>
              <a:t>DaaS_AFE HUB_MSA&amp;MLA</a:t>
            </a:r>
            <a:endParaRPr lang="zh-CN" altLang="en-US" sz="2000" b="1"/>
          </a:p>
        </p:txBody>
      </p:sp>
      <p:graphicFrame>
        <p:nvGraphicFramePr>
          <p:cNvPr id="2" name="表格 1">
            <a:extLst>
              <a:ext uri="{FF2B5EF4-FFF2-40B4-BE49-F238E27FC236}">
                <a16:creationId xmlns:a16="http://schemas.microsoft.com/office/drawing/2014/main" id="{204128B5-7C80-A9E6-36E1-CD0CFE7598E5}"/>
              </a:ext>
            </a:extLst>
          </p:cNvPr>
          <p:cNvGraphicFramePr>
            <a:graphicFrameLocks noGrp="1"/>
          </p:cNvGraphicFramePr>
          <p:nvPr>
            <p:extLst>
              <p:ext uri="{D42A27DB-BD31-4B8C-83A1-F6EECF244321}">
                <p14:modId xmlns:p14="http://schemas.microsoft.com/office/powerpoint/2010/main" val="2543464464"/>
              </p:ext>
            </p:extLst>
          </p:nvPr>
        </p:nvGraphicFramePr>
        <p:xfrm>
          <a:off x="59392" y="559444"/>
          <a:ext cx="5978285" cy="982980"/>
        </p:xfrm>
        <a:graphic>
          <a:graphicData uri="http://schemas.openxmlformats.org/drawingml/2006/table">
            <a:tbl>
              <a:tblPr firstRow="1" bandRow="1">
                <a:tableStyleId>{3C2FFA5D-87B4-456A-9821-1D502468CF0F}</a:tableStyleId>
              </a:tblPr>
              <a:tblGrid>
                <a:gridCol w="830560">
                  <a:extLst>
                    <a:ext uri="{9D8B030D-6E8A-4147-A177-3AD203B41FA5}">
                      <a16:colId xmlns:a16="http://schemas.microsoft.com/office/drawing/2014/main" val="869603910"/>
                    </a:ext>
                  </a:extLst>
                </a:gridCol>
                <a:gridCol w="618289">
                  <a:extLst>
                    <a:ext uri="{9D8B030D-6E8A-4147-A177-3AD203B41FA5}">
                      <a16:colId xmlns:a16="http://schemas.microsoft.com/office/drawing/2014/main" val="238663902"/>
                    </a:ext>
                  </a:extLst>
                </a:gridCol>
                <a:gridCol w="821178">
                  <a:extLst>
                    <a:ext uri="{9D8B030D-6E8A-4147-A177-3AD203B41FA5}">
                      <a16:colId xmlns:a16="http://schemas.microsoft.com/office/drawing/2014/main" val="4114365151"/>
                    </a:ext>
                  </a:extLst>
                </a:gridCol>
                <a:gridCol w="849700">
                  <a:extLst>
                    <a:ext uri="{9D8B030D-6E8A-4147-A177-3AD203B41FA5}">
                      <a16:colId xmlns:a16="http://schemas.microsoft.com/office/drawing/2014/main" val="4075178046"/>
                    </a:ext>
                  </a:extLst>
                </a:gridCol>
                <a:gridCol w="878553">
                  <a:extLst>
                    <a:ext uri="{9D8B030D-6E8A-4147-A177-3AD203B41FA5}">
                      <a16:colId xmlns:a16="http://schemas.microsoft.com/office/drawing/2014/main" val="973533418"/>
                    </a:ext>
                  </a:extLst>
                </a:gridCol>
                <a:gridCol w="811258">
                  <a:extLst>
                    <a:ext uri="{9D8B030D-6E8A-4147-A177-3AD203B41FA5}">
                      <a16:colId xmlns:a16="http://schemas.microsoft.com/office/drawing/2014/main" val="2377711782"/>
                    </a:ext>
                  </a:extLst>
                </a:gridCol>
                <a:gridCol w="1168747">
                  <a:extLst>
                    <a:ext uri="{9D8B030D-6E8A-4147-A177-3AD203B41FA5}">
                      <a16:colId xmlns:a16="http://schemas.microsoft.com/office/drawing/2014/main" val="221569069"/>
                    </a:ext>
                  </a:extLst>
                </a:gridCol>
              </a:tblGrid>
              <a:tr h="0">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175917">
                <a:tc>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3" name="直接连接符 2">
            <a:extLst>
              <a:ext uri="{FF2B5EF4-FFF2-40B4-BE49-F238E27FC236}">
                <a16:creationId xmlns:a16="http://schemas.microsoft.com/office/drawing/2014/main" id="{00C42FF1-8C03-BEE4-1FCD-EA35BD0CA8CF}"/>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4" name="表格 3">
            <a:extLst>
              <a:ext uri="{FF2B5EF4-FFF2-40B4-BE49-F238E27FC236}">
                <a16:creationId xmlns:a16="http://schemas.microsoft.com/office/drawing/2014/main" id="{409B56EB-E1B7-989F-D7FB-4036D33D93CC}"/>
              </a:ext>
            </a:extLst>
          </p:cNvPr>
          <p:cNvGraphicFramePr>
            <a:graphicFrameLocks noGrp="1"/>
          </p:cNvGraphicFramePr>
          <p:nvPr>
            <p:extLst>
              <p:ext uri="{D42A27DB-BD31-4B8C-83A1-F6EECF244321}">
                <p14:modId xmlns:p14="http://schemas.microsoft.com/office/powerpoint/2010/main" val="654605042"/>
              </p:ext>
            </p:extLst>
          </p:nvPr>
        </p:nvGraphicFramePr>
        <p:xfrm>
          <a:off x="49330" y="3957587"/>
          <a:ext cx="5978247" cy="1143743"/>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364010">
                  <a:extLst>
                    <a:ext uri="{9D8B030D-6E8A-4147-A177-3AD203B41FA5}">
                      <a16:colId xmlns:a16="http://schemas.microsoft.com/office/drawing/2014/main" val="4076488391"/>
                    </a:ext>
                  </a:extLst>
                </a:gridCol>
                <a:gridCol w="281898">
                  <a:extLst>
                    <a:ext uri="{9D8B030D-6E8A-4147-A177-3AD203B41FA5}">
                      <a16:colId xmlns:a16="http://schemas.microsoft.com/office/drawing/2014/main" val="3254101706"/>
                    </a:ext>
                  </a:extLst>
                </a:gridCol>
                <a:gridCol w="356877">
                  <a:extLst>
                    <a:ext uri="{9D8B030D-6E8A-4147-A177-3AD203B41FA5}">
                      <a16:colId xmlns:a16="http://schemas.microsoft.com/office/drawing/2014/main" val="3712391277"/>
                    </a:ext>
                  </a:extLst>
                </a:gridCol>
                <a:gridCol w="269401">
                  <a:extLst>
                    <a:ext uri="{9D8B030D-6E8A-4147-A177-3AD203B41FA5}">
                      <a16:colId xmlns:a16="http://schemas.microsoft.com/office/drawing/2014/main" val="1461470061"/>
                    </a:ext>
                  </a:extLst>
                </a:gridCol>
                <a:gridCol w="269401">
                  <a:extLst>
                    <a:ext uri="{9D8B030D-6E8A-4147-A177-3AD203B41FA5}">
                      <a16:colId xmlns:a16="http://schemas.microsoft.com/office/drawing/2014/main" val="2527660299"/>
                    </a:ext>
                  </a:extLst>
                </a:gridCol>
                <a:gridCol w="388119">
                  <a:extLst>
                    <a:ext uri="{9D8B030D-6E8A-4147-A177-3AD203B41FA5}">
                      <a16:colId xmlns:a16="http://schemas.microsoft.com/office/drawing/2014/main" val="3641075278"/>
                    </a:ext>
                  </a:extLst>
                </a:gridCol>
                <a:gridCol w="850494">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8997E472-F2A0-205B-F825-415FB0565ECF}"/>
              </a:ext>
            </a:extLst>
          </p:cNvPr>
          <p:cNvGraphicFramePr>
            <a:graphicFrameLocks noGrp="1"/>
          </p:cNvGraphicFramePr>
          <p:nvPr>
            <p:extLst>
              <p:ext uri="{D42A27DB-BD31-4B8C-83A1-F6EECF244321}">
                <p14:modId xmlns:p14="http://schemas.microsoft.com/office/powerpoint/2010/main" val="3618982216"/>
              </p:ext>
            </p:extLst>
          </p:nvPr>
        </p:nvGraphicFramePr>
        <p:xfrm>
          <a:off x="57319" y="5375379"/>
          <a:ext cx="5970258" cy="1143743"/>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364979">
                  <a:extLst>
                    <a:ext uri="{9D8B030D-6E8A-4147-A177-3AD203B41FA5}">
                      <a16:colId xmlns:a16="http://schemas.microsoft.com/office/drawing/2014/main" val="4076488391"/>
                    </a:ext>
                  </a:extLst>
                </a:gridCol>
                <a:gridCol w="364979">
                  <a:extLst>
                    <a:ext uri="{9D8B030D-6E8A-4147-A177-3AD203B41FA5}">
                      <a16:colId xmlns:a16="http://schemas.microsoft.com/office/drawing/2014/main" val="3254101706"/>
                    </a:ext>
                  </a:extLst>
                </a:gridCol>
                <a:gridCol w="354708">
                  <a:extLst>
                    <a:ext uri="{9D8B030D-6E8A-4147-A177-3AD203B41FA5}">
                      <a16:colId xmlns:a16="http://schemas.microsoft.com/office/drawing/2014/main" val="3712391277"/>
                    </a:ext>
                  </a:extLst>
                </a:gridCol>
                <a:gridCol w="267764">
                  <a:extLst>
                    <a:ext uri="{9D8B030D-6E8A-4147-A177-3AD203B41FA5}">
                      <a16:colId xmlns:a16="http://schemas.microsoft.com/office/drawing/2014/main" val="967768249"/>
                    </a:ext>
                  </a:extLst>
                </a:gridCol>
                <a:gridCol w="267764">
                  <a:extLst>
                    <a:ext uri="{9D8B030D-6E8A-4147-A177-3AD203B41FA5}">
                      <a16:colId xmlns:a16="http://schemas.microsoft.com/office/drawing/2014/main" val="2527660299"/>
                    </a:ext>
                  </a:extLst>
                </a:gridCol>
                <a:gridCol w="385759">
                  <a:extLst>
                    <a:ext uri="{9D8B030D-6E8A-4147-A177-3AD203B41FA5}">
                      <a16:colId xmlns:a16="http://schemas.microsoft.com/office/drawing/2014/main" val="3641075278"/>
                    </a:ext>
                  </a:extLst>
                </a:gridCol>
                <a:gridCol w="845324">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9" name="表格 8">
            <a:extLst>
              <a:ext uri="{FF2B5EF4-FFF2-40B4-BE49-F238E27FC236}">
                <a16:creationId xmlns:a16="http://schemas.microsoft.com/office/drawing/2014/main" id="{242A8BE4-7B11-8241-51F0-7B33F9C82F5A}"/>
              </a:ext>
            </a:extLst>
          </p:cNvPr>
          <p:cNvGraphicFramePr>
            <a:graphicFrameLocks noGrp="1"/>
          </p:cNvGraphicFramePr>
          <p:nvPr>
            <p:extLst>
              <p:ext uri="{D42A27DB-BD31-4B8C-83A1-F6EECF244321}">
                <p14:modId xmlns:p14="http://schemas.microsoft.com/office/powerpoint/2010/main" val="1112763990"/>
              </p:ext>
            </p:extLst>
          </p:nvPr>
        </p:nvGraphicFramePr>
        <p:xfrm>
          <a:off x="6174525" y="3633169"/>
          <a:ext cx="5915317" cy="1143743"/>
        </p:xfrm>
        <a:graphic>
          <a:graphicData uri="http://schemas.openxmlformats.org/drawingml/2006/table">
            <a:tbl>
              <a:tblPr/>
              <a:tblGrid>
                <a:gridCol w="421943">
                  <a:extLst>
                    <a:ext uri="{9D8B030D-6E8A-4147-A177-3AD203B41FA5}">
                      <a16:colId xmlns:a16="http://schemas.microsoft.com/office/drawing/2014/main" val="495084399"/>
                    </a:ext>
                  </a:extLst>
                </a:gridCol>
                <a:gridCol w="241835">
                  <a:extLst>
                    <a:ext uri="{9D8B030D-6E8A-4147-A177-3AD203B41FA5}">
                      <a16:colId xmlns:a16="http://schemas.microsoft.com/office/drawing/2014/main" val="3614210242"/>
                    </a:ext>
                  </a:extLst>
                </a:gridCol>
                <a:gridCol w="602569">
                  <a:extLst>
                    <a:ext uri="{9D8B030D-6E8A-4147-A177-3AD203B41FA5}">
                      <a16:colId xmlns:a16="http://schemas.microsoft.com/office/drawing/2014/main" val="1442124609"/>
                    </a:ext>
                  </a:extLst>
                </a:gridCol>
                <a:gridCol w="1898038">
                  <a:extLst>
                    <a:ext uri="{9D8B030D-6E8A-4147-A177-3AD203B41FA5}">
                      <a16:colId xmlns:a16="http://schemas.microsoft.com/office/drawing/2014/main" val="3603859997"/>
                    </a:ext>
                  </a:extLst>
                </a:gridCol>
                <a:gridCol w="360178">
                  <a:extLst>
                    <a:ext uri="{9D8B030D-6E8A-4147-A177-3AD203B41FA5}">
                      <a16:colId xmlns:a16="http://schemas.microsoft.com/office/drawing/2014/main" val="4076488391"/>
                    </a:ext>
                  </a:extLst>
                </a:gridCol>
                <a:gridCol w="278930">
                  <a:extLst>
                    <a:ext uri="{9D8B030D-6E8A-4147-A177-3AD203B41FA5}">
                      <a16:colId xmlns:a16="http://schemas.microsoft.com/office/drawing/2014/main" val="3254101706"/>
                    </a:ext>
                  </a:extLst>
                </a:gridCol>
                <a:gridCol w="353120">
                  <a:extLst>
                    <a:ext uri="{9D8B030D-6E8A-4147-A177-3AD203B41FA5}">
                      <a16:colId xmlns:a16="http://schemas.microsoft.com/office/drawing/2014/main" val="3712391277"/>
                    </a:ext>
                  </a:extLst>
                </a:gridCol>
                <a:gridCol w="266565">
                  <a:extLst>
                    <a:ext uri="{9D8B030D-6E8A-4147-A177-3AD203B41FA5}">
                      <a16:colId xmlns:a16="http://schemas.microsoft.com/office/drawing/2014/main" val="3811358726"/>
                    </a:ext>
                  </a:extLst>
                </a:gridCol>
                <a:gridCol w="266565">
                  <a:extLst>
                    <a:ext uri="{9D8B030D-6E8A-4147-A177-3AD203B41FA5}">
                      <a16:colId xmlns:a16="http://schemas.microsoft.com/office/drawing/2014/main" val="2527660299"/>
                    </a:ext>
                  </a:extLst>
                </a:gridCol>
                <a:gridCol w="384033">
                  <a:extLst>
                    <a:ext uri="{9D8B030D-6E8A-4147-A177-3AD203B41FA5}">
                      <a16:colId xmlns:a16="http://schemas.microsoft.com/office/drawing/2014/main" val="3641075278"/>
                    </a:ext>
                  </a:extLst>
                </a:gridCol>
                <a:gridCol w="841541">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1" name="表格 10">
            <a:extLst>
              <a:ext uri="{FF2B5EF4-FFF2-40B4-BE49-F238E27FC236}">
                <a16:creationId xmlns:a16="http://schemas.microsoft.com/office/drawing/2014/main" id="{29617C79-A231-1AA7-0375-83BEC5824A43}"/>
              </a:ext>
            </a:extLst>
          </p:cNvPr>
          <p:cNvGraphicFramePr>
            <a:graphicFrameLocks noGrp="1"/>
          </p:cNvGraphicFramePr>
          <p:nvPr>
            <p:extLst>
              <p:ext uri="{D42A27DB-BD31-4B8C-83A1-F6EECF244321}">
                <p14:modId xmlns:p14="http://schemas.microsoft.com/office/powerpoint/2010/main" val="3110070642"/>
              </p:ext>
            </p:extLst>
          </p:nvPr>
        </p:nvGraphicFramePr>
        <p:xfrm>
          <a:off x="6172742" y="4949504"/>
          <a:ext cx="5915317" cy="1143743"/>
        </p:xfrm>
        <a:graphic>
          <a:graphicData uri="http://schemas.openxmlformats.org/drawingml/2006/table">
            <a:tbl>
              <a:tblPr/>
              <a:tblGrid>
                <a:gridCol w="410174">
                  <a:extLst>
                    <a:ext uri="{9D8B030D-6E8A-4147-A177-3AD203B41FA5}">
                      <a16:colId xmlns:a16="http://schemas.microsoft.com/office/drawing/2014/main" val="495084399"/>
                    </a:ext>
                  </a:extLst>
                </a:gridCol>
                <a:gridCol w="221921">
                  <a:extLst>
                    <a:ext uri="{9D8B030D-6E8A-4147-A177-3AD203B41FA5}">
                      <a16:colId xmlns:a16="http://schemas.microsoft.com/office/drawing/2014/main" val="3614210242"/>
                    </a:ext>
                  </a:extLst>
                </a:gridCol>
                <a:gridCol w="817943">
                  <a:extLst>
                    <a:ext uri="{9D8B030D-6E8A-4147-A177-3AD203B41FA5}">
                      <a16:colId xmlns:a16="http://schemas.microsoft.com/office/drawing/2014/main" val="1442124609"/>
                    </a:ext>
                  </a:extLst>
                </a:gridCol>
                <a:gridCol w="1768040">
                  <a:extLst>
                    <a:ext uri="{9D8B030D-6E8A-4147-A177-3AD203B41FA5}">
                      <a16:colId xmlns:a16="http://schemas.microsoft.com/office/drawing/2014/main" val="3603859997"/>
                    </a:ext>
                  </a:extLst>
                </a:gridCol>
                <a:gridCol w="341174">
                  <a:extLst>
                    <a:ext uri="{9D8B030D-6E8A-4147-A177-3AD203B41FA5}">
                      <a16:colId xmlns:a16="http://schemas.microsoft.com/office/drawing/2014/main" val="4076488391"/>
                    </a:ext>
                  </a:extLst>
                </a:gridCol>
                <a:gridCol w="341174">
                  <a:extLst>
                    <a:ext uri="{9D8B030D-6E8A-4147-A177-3AD203B41FA5}">
                      <a16:colId xmlns:a16="http://schemas.microsoft.com/office/drawing/2014/main" val="3254101706"/>
                    </a:ext>
                  </a:extLst>
                </a:gridCol>
                <a:gridCol w="331573">
                  <a:extLst>
                    <a:ext uri="{9D8B030D-6E8A-4147-A177-3AD203B41FA5}">
                      <a16:colId xmlns:a16="http://schemas.microsoft.com/office/drawing/2014/main" val="3712391277"/>
                    </a:ext>
                  </a:extLst>
                </a:gridCol>
                <a:gridCol w="456677">
                  <a:extLst>
                    <a:ext uri="{9D8B030D-6E8A-4147-A177-3AD203B41FA5}">
                      <a16:colId xmlns:a16="http://schemas.microsoft.com/office/drawing/2014/main" val="4118002695"/>
                    </a:ext>
                  </a:extLst>
                </a:gridCol>
                <a:gridCol w="274285">
                  <a:extLst>
                    <a:ext uri="{9D8B030D-6E8A-4147-A177-3AD203B41FA5}">
                      <a16:colId xmlns:a16="http://schemas.microsoft.com/office/drawing/2014/main" val="2527660299"/>
                    </a:ext>
                  </a:extLst>
                </a:gridCol>
                <a:gridCol w="432525">
                  <a:extLst>
                    <a:ext uri="{9D8B030D-6E8A-4147-A177-3AD203B41FA5}">
                      <a16:colId xmlns:a16="http://schemas.microsoft.com/office/drawing/2014/main" val="3641075278"/>
                    </a:ext>
                  </a:extLst>
                </a:gridCol>
                <a:gridCol w="519831">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14" name="表格 13">
            <a:extLst>
              <a:ext uri="{FF2B5EF4-FFF2-40B4-BE49-F238E27FC236}">
                <a16:creationId xmlns:a16="http://schemas.microsoft.com/office/drawing/2014/main" id="{85976430-8DE2-8125-2719-4B48B6E7C857}"/>
              </a:ext>
            </a:extLst>
          </p:cNvPr>
          <p:cNvGraphicFramePr>
            <a:graphicFrameLocks noGrp="1"/>
          </p:cNvGraphicFramePr>
          <p:nvPr>
            <p:extLst>
              <p:ext uri="{D42A27DB-BD31-4B8C-83A1-F6EECF244321}">
                <p14:modId xmlns:p14="http://schemas.microsoft.com/office/powerpoint/2010/main" val="2200842761"/>
              </p:ext>
            </p:extLst>
          </p:nvPr>
        </p:nvGraphicFramePr>
        <p:xfrm>
          <a:off x="6172741" y="559444"/>
          <a:ext cx="5842050" cy="1143000"/>
        </p:xfrm>
        <a:graphic>
          <a:graphicData uri="http://schemas.openxmlformats.org/drawingml/2006/table">
            <a:tbl>
              <a:tblPr firstRow="1" bandRow="1">
                <a:tableStyleId>{3C2FFA5D-87B4-456A-9821-1D502468CF0F}</a:tableStyleId>
              </a:tblPr>
              <a:tblGrid>
                <a:gridCol w="816995">
                  <a:extLst>
                    <a:ext uri="{9D8B030D-6E8A-4147-A177-3AD203B41FA5}">
                      <a16:colId xmlns:a16="http://schemas.microsoft.com/office/drawing/2014/main" val="869603910"/>
                    </a:ext>
                  </a:extLst>
                </a:gridCol>
                <a:gridCol w="697230">
                  <a:extLst>
                    <a:ext uri="{9D8B030D-6E8A-4147-A177-3AD203B41FA5}">
                      <a16:colId xmlns:a16="http://schemas.microsoft.com/office/drawing/2014/main" val="238663902"/>
                    </a:ext>
                  </a:extLst>
                </a:gridCol>
                <a:gridCol w="724681">
                  <a:extLst>
                    <a:ext uri="{9D8B030D-6E8A-4147-A177-3AD203B41FA5}">
                      <a16:colId xmlns:a16="http://schemas.microsoft.com/office/drawing/2014/main" val="4114365151"/>
                    </a:ext>
                  </a:extLst>
                </a:gridCol>
                <a:gridCol w="916766">
                  <a:extLst>
                    <a:ext uri="{9D8B030D-6E8A-4147-A177-3AD203B41FA5}">
                      <a16:colId xmlns:a16="http://schemas.microsoft.com/office/drawing/2014/main" val="4075178046"/>
                    </a:ext>
                  </a:extLst>
                </a:gridCol>
                <a:gridCol w="866206">
                  <a:extLst>
                    <a:ext uri="{9D8B030D-6E8A-4147-A177-3AD203B41FA5}">
                      <a16:colId xmlns:a16="http://schemas.microsoft.com/office/drawing/2014/main" val="973533418"/>
                    </a:ext>
                  </a:extLst>
                </a:gridCol>
                <a:gridCol w="799857">
                  <a:extLst>
                    <a:ext uri="{9D8B030D-6E8A-4147-A177-3AD203B41FA5}">
                      <a16:colId xmlns:a16="http://schemas.microsoft.com/office/drawing/2014/main" val="2377711782"/>
                    </a:ext>
                  </a:extLst>
                </a:gridCol>
                <a:gridCol w="1020315">
                  <a:extLst>
                    <a:ext uri="{9D8B030D-6E8A-4147-A177-3AD203B41FA5}">
                      <a16:colId xmlns:a16="http://schemas.microsoft.com/office/drawing/2014/main" val="221569069"/>
                    </a:ext>
                  </a:extLst>
                </a:gridCol>
              </a:tblGrid>
              <a:tr h="363994">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0">
                <a:tc>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Tree>
    <p:extLst>
      <p:ext uri="{BB962C8B-B14F-4D97-AF65-F5344CB8AC3E}">
        <p14:creationId xmlns:p14="http://schemas.microsoft.com/office/powerpoint/2010/main" val="61152995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8332C9-3A26-55FB-4E9F-0CE2C027F57E}"/>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1B547D6E-1382-E102-7E9B-92EC5EF8FEAE}"/>
              </a:ext>
            </a:extLst>
          </p:cNvPr>
          <p:cNvSpPr txBox="1"/>
          <p:nvPr/>
        </p:nvSpPr>
        <p:spPr>
          <a:xfrm>
            <a:off x="195322" y="22705"/>
            <a:ext cx="4470947" cy="400110"/>
          </a:xfrm>
          <a:prstGeom prst="rect">
            <a:avLst/>
          </a:prstGeom>
          <a:noFill/>
        </p:spPr>
        <p:txBody>
          <a:bodyPr wrap="square" rtlCol="0">
            <a:spAutoFit/>
          </a:bodyPr>
          <a:lstStyle/>
          <a:p>
            <a:r>
              <a:rPr lang="nl-NL" altLang="zh-CN" sz="2000" b="1"/>
              <a:t>DaaS_AFE HUB_MSA&amp;MLA</a:t>
            </a:r>
            <a:endParaRPr lang="zh-CN" altLang="en-US" sz="2000" b="1"/>
          </a:p>
        </p:txBody>
      </p:sp>
      <p:graphicFrame>
        <p:nvGraphicFramePr>
          <p:cNvPr id="21" name="表格 20">
            <a:extLst>
              <a:ext uri="{FF2B5EF4-FFF2-40B4-BE49-F238E27FC236}">
                <a16:creationId xmlns:a16="http://schemas.microsoft.com/office/drawing/2014/main" id="{D3A6F7DB-7BDB-D400-61B5-980867619894}"/>
              </a:ext>
            </a:extLst>
          </p:cNvPr>
          <p:cNvGraphicFramePr>
            <a:graphicFrameLocks noGrp="1"/>
          </p:cNvGraphicFramePr>
          <p:nvPr/>
        </p:nvGraphicFramePr>
        <p:xfrm>
          <a:off x="192168" y="365922"/>
          <a:ext cx="5684757" cy="1303020"/>
        </p:xfrm>
        <a:graphic>
          <a:graphicData uri="http://schemas.openxmlformats.org/drawingml/2006/table">
            <a:tbl>
              <a:tblPr firstRow="1" bandRow="1">
                <a:tableStyleId>{3C2FFA5D-87B4-456A-9821-1D502468CF0F}</a:tableStyleId>
              </a:tblPr>
              <a:tblGrid>
                <a:gridCol w="717082">
                  <a:extLst>
                    <a:ext uri="{9D8B030D-6E8A-4147-A177-3AD203B41FA5}">
                      <a16:colId xmlns:a16="http://schemas.microsoft.com/office/drawing/2014/main" val="869603910"/>
                    </a:ext>
                  </a:extLst>
                </a:gridCol>
                <a:gridCol w="541934">
                  <a:extLst>
                    <a:ext uri="{9D8B030D-6E8A-4147-A177-3AD203B41FA5}">
                      <a16:colId xmlns:a16="http://schemas.microsoft.com/office/drawing/2014/main" val="238663902"/>
                    </a:ext>
                  </a:extLst>
                </a:gridCol>
                <a:gridCol w="745640">
                  <a:extLst>
                    <a:ext uri="{9D8B030D-6E8A-4147-A177-3AD203B41FA5}">
                      <a16:colId xmlns:a16="http://schemas.microsoft.com/office/drawing/2014/main" val="4114365151"/>
                    </a:ext>
                  </a:extLst>
                </a:gridCol>
                <a:gridCol w="695070">
                  <a:extLst>
                    <a:ext uri="{9D8B030D-6E8A-4147-A177-3AD203B41FA5}">
                      <a16:colId xmlns:a16="http://schemas.microsoft.com/office/drawing/2014/main" val="4075178046"/>
                    </a:ext>
                  </a:extLst>
                </a:gridCol>
                <a:gridCol w="760277">
                  <a:extLst>
                    <a:ext uri="{9D8B030D-6E8A-4147-A177-3AD203B41FA5}">
                      <a16:colId xmlns:a16="http://schemas.microsoft.com/office/drawing/2014/main" val="973533418"/>
                    </a:ext>
                  </a:extLst>
                </a:gridCol>
                <a:gridCol w="702040">
                  <a:extLst>
                    <a:ext uri="{9D8B030D-6E8A-4147-A177-3AD203B41FA5}">
                      <a16:colId xmlns:a16="http://schemas.microsoft.com/office/drawing/2014/main" val="2377711782"/>
                    </a:ext>
                  </a:extLst>
                </a:gridCol>
                <a:gridCol w="702040">
                  <a:extLst>
                    <a:ext uri="{9D8B030D-6E8A-4147-A177-3AD203B41FA5}">
                      <a16:colId xmlns:a16="http://schemas.microsoft.com/office/drawing/2014/main" val="833595551"/>
                    </a:ext>
                  </a:extLst>
                </a:gridCol>
                <a:gridCol w="820674">
                  <a:extLst>
                    <a:ext uri="{9D8B030D-6E8A-4147-A177-3AD203B41FA5}">
                      <a16:colId xmlns:a16="http://schemas.microsoft.com/office/drawing/2014/main" val="221569069"/>
                    </a:ext>
                  </a:extLst>
                </a:gridCol>
              </a:tblGrid>
              <a:tr h="52920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9209">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16" name="表格 115">
            <a:extLst>
              <a:ext uri="{FF2B5EF4-FFF2-40B4-BE49-F238E27FC236}">
                <a16:creationId xmlns:a16="http://schemas.microsoft.com/office/drawing/2014/main" id="{1F179097-7FDE-88C1-345F-F79A41D1FDF4}"/>
              </a:ext>
            </a:extLst>
          </p:cNvPr>
          <p:cNvGraphicFramePr>
            <a:graphicFrameLocks noGrp="1"/>
          </p:cNvGraphicFramePr>
          <p:nvPr>
            <p:extLst>
              <p:ext uri="{D42A27DB-BD31-4B8C-83A1-F6EECF244321}">
                <p14:modId xmlns:p14="http://schemas.microsoft.com/office/powerpoint/2010/main" val="2205413692"/>
              </p:ext>
            </p:extLst>
          </p:nvPr>
        </p:nvGraphicFramePr>
        <p:xfrm>
          <a:off x="172167" y="1691969"/>
          <a:ext cx="5724757" cy="951098"/>
        </p:xfrm>
        <a:graphic>
          <a:graphicData uri="http://schemas.openxmlformats.org/drawingml/2006/table">
            <a:tbl>
              <a:tblPr/>
              <a:tblGrid>
                <a:gridCol w="425895">
                  <a:extLst>
                    <a:ext uri="{9D8B030D-6E8A-4147-A177-3AD203B41FA5}">
                      <a16:colId xmlns:a16="http://schemas.microsoft.com/office/drawing/2014/main" val="495084399"/>
                    </a:ext>
                  </a:extLst>
                </a:gridCol>
                <a:gridCol w="239552">
                  <a:extLst>
                    <a:ext uri="{9D8B030D-6E8A-4147-A177-3AD203B41FA5}">
                      <a16:colId xmlns:a16="http://schemas.microsoft.com/office/drawing/2014/main" val="3614210242"/>
                    </a:ext>
                  </a:extLst>
                </a:gridCol>
                <a:gridCol w="570103">
                  <a:extLst>
                    <a:ext uri="{9D8B030D-6E8A-4147-A177-3AD203B41FA5}">
                      <a16:colId xmlns:a16="http://schemas.microsoft.com/office/drawing/2014/main" val="1442124609"/>
                    </a:ext>
                  </a:extLst>
                </a:gridCol>
                <a:gridCol w="1838965">
                  <a:extLst>
                    <a:ext uri="{9D8B030D-6E8A-4147-A177-3AD203B41FA5}">
                      <a16:colId xmlns:a16="http://schemas.microsoft.com/office/drawing/2014/main" val="3603859997"/>
                    </a:ext>
                  </a:extLst>
                </a:gridCol>
                <a:gridCol w="266401">
                  <a:extLst>
                    <a:ext uri="{9D8B030D-6E8A-4147-A177-3AD203B41FA5}">
                      <a16:colId xmlns:a16="http://schemas.microsoft.com/office/drawing/2014/main" val="4076488391"/>
                    </a:ext>
                  </a:extLst>
                </a:gridCol>
                <a:gridCol w="347100">
                  <a:extLst>
                    <a:ext uri="{9D8B030D-6E8A-4147-A177-3AD203B41FA5}">
                      <a16:colId xmlns:a16="http://schemas.microsoft.com/office/drawing/2014/main" val="3254101706"/>
                    </a:ext>
                  </a:extLst>
                </a:gridCol>
                <a:gridCol w="278359">
                  <a:extLst>
                    <a:ext uri="{9D8B030D-6E8A-4147-A177-3AD203B41FA5}">
                      <a16:colId xmlns:a16="http://schemas.microsoft.com/office/drawing/2014/main" val="3712391277"/>
                    </a:ext>
                  </a:extLst>
                </a:gridCol>
                <a:gridCol w="272765">
                  <a:extLst>
                    <a:ext uri="{9D8B030D-6E8A-4147-A177-3AD203B41FA5}">
                      <a16:colId xmlns:a16="http://schemas.microsoft.com/office/drawing/2014/main" val="363493977"/>
                    </a:ext>
                  </a:extLst>
                </a:gridCol>
                <a:gridCol w="272765">
                  <a:extLst>
                    <a:ext uri="{9D8B030D-6E8A-4147-A177-3AD203B41FA5}">
                      <a16:colId xmlns:a16="http://schemas.microsoft.com/office/drawing/2014/main" val="2527660299"/>
                    </a:ext>
                  </a:extLst>
                </a:gridCol>
                <a:gridCol w="392966">
                  <a:extLst>
                    <a:ext uri="{9D8B030D-6E8A-4147-A177-3AD203B41FA5}">
                      <a16:colId xmlns:a16="http://schemas.microsoft.com/office/drawing/2014/main" val="3641075278"/>
                    </a:ext>
                  </a:extLst>
                </a:gridCol>
                <a:gridCol w="819886">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Recognition of End of Lease Services Revenue</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End of Lease</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 (EOT)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Revenue-ARS (EOT)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1418110"/>
                  </a:ext>
                </a:extLst>
              </a:tr>
            </a:tbl>
          </a:graphicData>
        </a:graphic>
      </p:graphicFrame>
      <p:cxnSp>
        <p:nvCxnSpPr>
          <p:cNvPr id="2" name="直接连接符 1">
            <a:extLst>
              <a:ext uri="{FF2B5EF4-FFF2-40B4-BE49-F238E27FC236}">
                <a16:creationId xmlns:a16="http://schemas.microsoft.com/office/drawing/2014/main" id="{3CF01A12-5FF4-6720-61E5-EB8493DF1538}"/>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0" name="表格 9">
            <a:extLst>
              <a:ext uri="{FF2B5EF4-FFF2-40B4-BE49-F238E27FC236}">
                <a16:creationId xmlns:a16="http://schemas.microsoft.com/office/drawing/2014/main" id="{0F0B48A2-57AC-209B-2CC3-91D20079A311}"/>
              </a:ext>
            </a:extLst>
          </p:cNvPr>
          <p:cNvGraphicFramePr>
            <a:graphicFrameLocks noGrp="1"/>
          </p:cNvGraphicFramePr>
          <p:nvPr>
            <p:extLst>
              <p:ext uri="{D42A27DB-BD31-4B8C-83A1-F6EECF244321}">
                <p14:modId xmlns:p14="http://schemas.microsoft.com/office/powerpoint/2010/main" val="2538818343"/>
              </p:ext>
            </p:extLst>
          </p:nvPr>
        </p:nvGraphicFramePr>
        <p:xfrm>
          <a:off x="6227665" y="1167780"/>
          <a:ext cx="5848783" cy="1941862"/>
        </p:xfrm>
        <a:graphic>
          <a:graphicData uri="http://schemas.openxmlformats.org/drawingml/2006/table">
            <a:tbl>
              <a:tblPr/>
              <a:tblGrid>
                <a:gridCol w="437298">
                  <a:extLst>
                    <a:ext uri="{9D8B030D-6E8A-4147-A177-3AD203B41FA5}">
                      <a16:colId xmlns:a16="http://schemas.microsoft.com/office/drawing/2014/main" val="495084399"/>
                    </a:ext>
                  </a:extLst>
                </a:gridCol>
                <a:gridCol w="226189">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861365">
                  <a:extLst>
                    <a:ext uri="{9D8B030D-6E8A-4147-A177-3AD203B41FA5}">
                      <a16:colId xmlns:a16="http://schemas.microsoft.com/office/drawing/2014/main" val="3603859997"/>
                    </a:ext>
                  </a:extLst>
                </a:gridCol>
                <a:gridCol w="342048">
                  <a:extLst>
                    <a:ext uri="{9D8B030D-6E8A-4147-A177-3AD203B41FA5}">
                      <a16:colId xmlns:a16="http://schemas.microsoft.com/office/drawing/2014/main" val="4076488391"/>
                    </a:ext>
                  </a:extLst>
                </a:gridCol>
                <a:gridCol w="363280">
                  <a:extLst>
                    <a:ext uri="{9D8B030D-6E8A-4147-A177-3AD203B41FA5}">
                      <a16:colId xmlns:a16="http://schemas.microsoft.com/office/drawing/2014/main" val="3254101706"/>
                    </a:ext>
                  </a:extLst>
                </a:gridCol>
                <a:gridCol w="568815">
                  <a:extLst>
                    <a:ext uri="{9D8B030D-6E8A-4147-A177-3AD203B41FA5}">
                      <a16:colId xmlns:a16="http://schemas.microsoft.com/office/drawing/2014/main" val="3712391277"/>
                    </a:ext>
                  </a:extLst>
                </a:gridCol>
                <a:gridCol w="568815">
                  <a:extLst>
                    <a:ext uri="{9D8B030D-6E8A-4147-A177-3AD203B41FA5}">
                      <a16:colId xmlns:a16="http://schemas.microsoft.com/office/drawing/2014/main" val="4051557831"/>
                    </a:ext>
                  </a:extLst>
                </a:gridCol>
                <a:gridCol w="242187">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272114">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1200" b="0" i="0">
                          <a:solidFill>
                            <a:srgbClr val="000000"/>
                          </a:solidFill>
                          <a:effectLst/>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35.3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 – Premier (funded)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11" name="表格 10">
            <a:extLst>
              <a:ext uri="{FF2B5EF4-FFF2-40B4-BE49-F238E27FC236}">
                <a16:creationId xmlns:a16="http://schemas.microsoft.com/office/drawing/2014/main" id="{7CF9AF4D-646F-1A33-DECA-DDDACEB20EC7}"/>
              </a:ext>
            </a:extLst>
          </p:cNvPr>
          <p:cNvGraphicFramePr>
            <a:graphicFrameLocks noGrp="1"/>
          </p:cNvGraphicFramePr>
          <p:nvPr>
            <p:extLst>
              <p:ext uri="{D42A27DB-BD31-4B8C-83A1-F6EECF244321}">
                <p14:modId xmlns:p14="http://schemas.microsoft.com/office/powerpoint/2010/main" val="1943360030"/>
              </p:ext>
            </p:extLst>
          </p:nvPr>
        </p:nvGraphicFramePr>
        <p:xfrm>
          <a:off x="6227663" y="4592174"/>
          <a:ext cx="5811585" cy="1139362"/>
        </p:xfrm>
        <a:graphic>
          <a:graphicData uri="http://schemas.openxmlformats.org/drawingml/2006/table">
            <a:tbl>
              <a:tblPr/>
              <a:tblGrid>
                <a:gridCol w="433954">
                  <a:extLst>
                    <a:ext uri="{9D8B030D-6E8A-4147-A177-3AD203B41FA5}">
                      <a16:colId xmlns:a16="http://schemas.microsoft.com/office/drawing/2014/main" val="495084399"/>
                    </a:ext>
                  </a:extLst>
                </a:gridCol>
                <a:gridCol w="250319">
                  <a:extLst>
                    <a:ext uri="{9D8B030D-6E8A-4147-A177-3AD203B41FA5}">
                      <a16:colId xmlns:a16="http://schemas.microsoft.com/office/drawing/2014/main" val="3614210242"/>
                    </a:ext>
                  </a:extLst>
                </a:gridCol>
                <a:gridCol w="587056">
                  <a:extLst>
                    <a:ext uri="{9D8B030D-6E8A-4147-A177-3AD203B41FA5}">
                      <a16:colId xmlns:a16="http://schemas.microsoft.com/office/drawing/2014/main" val="1442124609"/>
                    </a:ext>
                  </a:extLst>
                </a:gridCol>
                <a:gridCol w="1506263">
                  <a:extLst>
                    <a:ext uri="{9D8B030D-6E8A-4147-A177-3AD203B41FA5}">
                      <a16:colId xmlns:a16="http://schemas.microsoft.com/office/drawing/2014/main" val="3603859997"/>
                    </a:ext>
                  </a:extLst>
                </a:gridCol>
                <a:gridCol w="482442">
                  <a:extLst>
                    <a:ext uri="{9D8B030D-6E8A-4147-A177-3AD203B41FA5}">
                      <a16:colId xmlns:a16="http://schemas.microsoft.com/office/drawing/2014/main" val="4076488391"/>
                    </a:ext>
                  </a:extLst>
                </a:gridCol>
                <a:gridCol w="419903">
                  <a:extLst>
                    <a:ext uri="{9D8B030D-6E8A-4147-A177-3AD203B41FA5}">
                      <a16:colId xmlns:a16="http://schemas.microsoft.com/office/drawing/2014/main" val="3254101706"/>
                    </a:ext>
                  </a:extLst>
                </a:gridCol>
                <a:gridCol w="638431">
                  <a:extLst>
                    <a:ext uri="{9D8B030D-6E8A-4147-A177-3AD203B41FA5}">
                      <a16:colId xmlns:a16="http://schemas.microsoft.com/office/drawing/2014/main" val="3712391277"/>
                    </a:ext>
                  </a:extLst>
                </a:gridCol>
                <a:gridCol w="519401">
                  <a:extLst>
                    <a:ext uri="{9D8B030D-6E8A-4147-A177-3AD203B41FA5}">
                      <a16:colId xmlns:a16="http://schemas.microsoft.com/office/drawing/2014/main" val="2678102022"/>
                    </a:ext>
                  </a:extLst>
                </a:gridCol>
                <a:gridCol w="268022">
                  <a:extLst>
                    <a:ext uri="{9D8B030D-6E8A-4147-A177-3AD203B41FA5}">
                      <a16:colId xmlns:a16="http://schemas.microsoft.com/office/drawing/2014/main" val="2527660299"/>
                    </a:ext>
                  </a:extLst>
                </a:gridCol>
                <a:gridCol w="404651">
                  <a:extLst>
                    <a:ext uri="{9D8B030D-6E8A-4147-A177-3AD203B41FA5}">
                      <a16:colId xmlns:a16="http://schemas.microsoft.com/office/drawing/2014/main" val="3641075278"/>
                    </a:ext>
                  </a:extLst>
                </a:gridCol>
                <a:gridCol w="301143">
                  <a:extLst>
                    <a:ext uri="{9D8B030D-6E8A-4147-A177-3AD203B41FA5}">
                      <a16:colId xmlns:a16="http://schemas.microsoft.com/office/drawing/2014/main" val="3618613915"/>
                    </a:ext>
                  </a:extLst>
                </a:gridCol>
              </a:tblGrid>
              <a:tr h="183914">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6925547"/>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749162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A/P –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12" name="表格 11">
            <a:extLst>
              <a:ext uri="{FF2B5EF4-FFF2-40B4-BE49-F238E27FC236}">
                <a16:creationId xmlns:a16="http://schemas.microsoft.com/office/drawing/2014/main" id="{9302441B-E734-A12E-3B78-AF4C155656E3}"/>
              </a:ext>
            </a:extLst>
          </p:cNvPr>
          <p:cNvGraphicFramePr>
            <a:graphicFrameLocks noGrp="1"/>
          </p:cNvGraphicFramePr>
          <p:nvPr>
            <p:extLst>
              <p:ext uri="{D42A27DB-BD31-4B8C-83A1-F6EECF244321}">
                <p14:modId xmlns:p14="http://schemas.microsoft.com/office/powerpoint/2010/main" val="1121457835"/>
              </p:ext>
            </p:extLst>
          </p:nvPr>
        </p:nvGraphicFramePr>
        <p:xfrm>
          <a:off x="6227670" y="27120"/>
          <a:ext cx="5811584" cy="1143000"/>
        </p:xfrm>
        <a:graphic>
          <a:graphicData uri="http://schemas.openxmlformats.org/drawingml/2006/table">
            <a:tbl>
              <a:tblPr firstRow="1" bandRow="1">
                <a:tableStyleId>{3C2FFA5D-87B4-456A-9821-1D502468CF0F}</a:tableStyleId>
              </a:tblPr>
              <a:tblGrid>
                <a:gridCol w="639850">
                  <a:extLst>
                    <a:ext uri="{9D8B030D-6E8A-4147-A177-3AD203B41FA5}">
                      <a16:colId xmlns:a16="http://schemas.microsoft.com/office/drawing/2014/main" val="869603910"/>
                    </a:ext>
                  </a:extLst>
                </a:gridCol>
                <a:gridCol w="685800">
                  <a:extLst>
                    <a:ext uri="{9D8B030D-6E8A-4147-A177-3AD203B41FA5}">
                      <a16:colId xmlns:a16="http://schemas.microsoft.com/office/drawing/2014/main" val="238663902"/>
                    </a:ext>
                  </a:extLst>
                </a:gridCol>
                <a:gridCol w="576441">
                  <a:extLst>
                    <a:ext uri="{9D8B030D-6E8A-4147-A177-3AD203B41FA5}">
                      <a16:colId xmlns:a16="http://schemas.microsoft.com/office/drawing/2014/main" val="4114365151"/>
                    </a:ext>
                  </a:extLst>
                </a:gridCol>
                <a:gridCol w="692958">
                  <a:extLst>
                    <a:ext uri="{9D8B030D-6E8A-4147-A177-3AD203B41FA5}">
                      <a16:colId xmlns:a16="http://schemas.microsoft.com/office/drawing/2014/main" val="4075178046"/>
                    </a:ext>
                  </a:extLst>
                </a:gridCol>
                <a:gridCol w="661127">
                  <a:extLst>
                    <a:ext uri="{9D8B030D-6E8A-4147-A177-3AD203B41FA5}">
                      <a16:colId xmlns:a16="http://schemas.microsoft.com/office/drawing/2014/main" val="973533418"/>
                    </a:ext>
                  </a:extLst>
                </a:gridCol>
                <a:gridCol w="703148">
                  <a:extLst>
                    <a:ext uri="{9D8B030D-6E8A-4147-A177-3AD203B41FA5}">
                      <a16:colId xmlns:a16="http://schemas.microsoft.com/office/drawing/2014/main" val="2377711782"/>
                    </a:ext>
                  </a:extLst>
                </a:gridCol>
                <a:gridCol w="875147">
                  <a:extLst>
                    <a:ext uri="{9D8B030D-6E8A-4147-A177-3AD203B41FA5}">
                      <a16:colId xmlns:a16="http://schemas.microsoft.com/office/drawing/2014/main" val="1022211988"/>
                    </a:ext>
                  </a:extLst>
                </a:gridCol>
                <a:gridCol w="977113">
                  <a:extLst>
                    <a:ext uri="{9D8B030D-6E8A-4147-A177-3AD203B41FA5}">
                      <a16:colId xmlns:a16="http://schemas.microsoft.com/office/drawing/2014/main" val="221569069"/>
                    </a:ext>
                  </a:extLst>
                </a:gridCol>
              </a:tblGrid>
              <a:tr h="15659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87811">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Syndication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4" name="表格 13">
            <a:extLst>
              <a:ext uri="{FF2B5EF4-FFF2-40B4-BE49-F238E27FC236}">
                <a16:creationId xmlns:a16="http://schemas.microsoft.com/office/drawing/2014/main" id="{BEC743B3-FFA2-A140-6C3B-4CDC2B82162C}"/>
              </a:ext>
            </a:extLst>
          </p:cNvPr>
          <p:cNvGraphicFramePr>
            <a:graphicFrameLocks noGrp="1"/>
          </p:cNvGraphicFramePr>
          <p:nvPr>
            <p:extLst>
              <p:ext uri="{D42A27DB-BD31-4B8C-83A1-F6EECF244321}">
                <p14:modId xmlns:p14="http://schemas.microsoft.com/office/powerpoint/2010/main" val="315279752"/>
              </p:ext>
            </p:extLst>
          </p:nvPr>
        </p:nvGraphicFramePr>
        <p:xfrm>
          <a:off x="6227666" y="5731536"/>
          <a:ext cx="5811582" cy="1143743"/>
        </p:xfrm>
        <a:graphic>
          <a:graphicData uri="http://schemas.openxmlformats.org/drawingml/2006/table">
            <a:tbl>
              <a:tblPr/>
              <a:tblGrid>
                <a:gridCol w="451070">
                  <a:extLst>
                    <a:ext uri="{9D8B030D-6E8A-4147-A177-3AD203B41FA5}">
                      <a16:colId xmlns:a16="http://schemas.microsoft.com/office/drawing/2014/main" val="495084399"/>
                    </a:ext>
                  </a:extLst>
                </a:gridCol>
                <a:gridCol w="234829">
                  <a:extLst>
                    <a:ext uri="{9D8B030D-6E8A-4147-A177-3AD203B41FA5}">
                      <a16:colId xmlns:a16="http://schemas.microsoft.com/office/drawing/2014/main" val="3614210242"/>
                    </a:ext>
                  </a:extLst>
                </a:gridCol>
                <a:gridCol w="541004">
                  <a:extLst>
                    <a:ext uri="{9D8B030D-6E8A-4147-A177-3AD203B41FA5}">
                      <a16:colId xmlns:a16="http://schemas.microsoft.com/office/drawing/2014/main" val="1442124609"/>
                    </a:ext>
                  </a:extLst>
                </a:gridCol>
                <a:gridCol w="1828391">
                  <a:extLst>
                    <a:ext uri="{9D8B030D-6E8A-4147-A177-3AD203B41FA5}">
                      <a16:colId xmlns:a16="http://schemas.microsoft.com/office/drawing/2014/main" val="3603859997"/>
                    </a:ext>
                  </a:extLst>
                </a:gridCol>
                <a:gridCol w="352820">
                  <a:extLst>
                    <a:ext uri="{9D8B030D-6E8A-4147-A177-3AD203B41FA5}">
                      <a16:colId xmlns:a16="http://schemas.microsoft.com/office/drawing/2014/main" val="4076488391"/>
                    </a:ext>
                  </a:extLst>
                </a:gridCol>
                <a:gridCol w="352820">
                  <a:extLst>
                    <a:ext uri="{9D8B030D-6E8A-4147-A177-3AD203B41FA5}">
                      <a16:colId xmlns:a16="http://schemas.microsoft.com/office/drawing/2014/main" val="3254101706"/>
                    </a:ext>
                  </a:extLst>
                </a:gridCol>
                <a:gridCol w="342892">
                  <a:extLst>
                    <a:ext uri="{9D8B030D-6E8A-4147-A177-3AD203B41FA5}">
                      <a16:colId xmlns:a16="http://schemas.microsoft.com/office/drawing/2014/main" val="3712391277"/>
                    </a:ext>
                  </a:extLst>
                </a:gridCol>
                <a:gridCol w="258843">
                  <a:extLst>
                    <a:ext uri="{9D8B030D-6E8A-4147-A177-3AD203B41FA5}">
                      <a16:colId xmlns:a16="http://schemas.microsoft.com/office/drawing/2014/main" val="3027392951"/>
                    </a:ext>
                  </a:extLst>
                </a:gridCol>
                <a:gridCol w="258843">
                  <a:extLst>
                    <a:ext uri="{9D8B030D-6E8A-4147-A177-3AD203B41FA5}">
                      <a16:colId xmlns:a16="http://schemas.microsoft.com/office/drawing/2014/main" val="2527660299"/>
                    </a:ext>
                  </a:extLst>
                </a:gridCol>
                <a:gridCol w="372908">
                  <a:extLst>
                    <a:ext uri="{9D8B030D-6E8A-4147-A177-3AD203B41FA5}">
                      <a16:colId xmlns:a16="http://schemas.microsoft.com/office/drawing/2014/main" val="3641075278"/>
                    </a:ext>
                  </a:extLst>
                </a:gridCol>
                <a:gridCol w="817162">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3" name="表格 2">
            <a:extLst>
              <a:ext uri="{FF2B5EF4-FFF2-40B4-BE49-F238E27FC236}">
                <a16:creationId xmlns:a16="http://schemas.microsoft.com/office/drawing/2014/main" id="{D51C46B5-CD7A-911D-168F-888E95E4E7C6}"/>
              </a:ext>
            </a:extLst>
          </p:cNvPr>
          <p:cNvGraphicFramePr>
            <a:graphicFrameLocks noGrp="1"/>
          </p:cNvGraphicFramePr>
          <p:nvPr>
            <p:extLst>
              <p:ext uri="{D42A27DB-BD31-4B8C-83A1-F6EECF244321}">
                <p14:modId xmlns:p14="http://schemas.microsoft.com/office/powerpoint/2010/main" val="1022088266"/>
              </p:ext>
            </p:extLst>
          </p:nvPr>
        </p:nvGraphicFramePr>
        <p:xfrm>
          <a:off x="6227663" y="3170469"/>
          <a:ext cx="5811585" cy="1360878"/>
        </p:xfrm>
        <a:graphic>
          <a:graphicData uri="http://schemas.openxmlformats.org/drawingml/2006/table">
            <a:tbl>
              <a:tblPr/>
              <a:tblGrid>
                <a:gridCol w="433954">
                  <a:extLst>
                    <a:ext uri="{9D8B030D-6E8A-4147-A177-3AD203B41FA5}">
                      <a16:colId xmlns:a16="http://schemas.microsoft.com/office/drawing/2014/main" val="495084399"/>
                    </a:ext>
                  </a:extLst>
                </a:gridCol>
                <a:gridCol w="250319">
                  <a:extLst>
                    <a:ext uri="{9D8B030D-6E8A-4147-A177-3AD203B41FA5}">
                      <a16:colId xmlns:a16="http://schemas.microsoft.com/office/drawing/2014/main" val="3614210242"/>
                    </a:ext>
                  </a:extLst>
                </a:gridCol>
                <a:gridCol w="587056">
                  <a:extLst>
                    <a:ext uri="{9D8B030D-6E8A-4147-A177-3AD203B41FA5}">
                      <a16:colId xmlns:a16="http://schemas.microsoft.com/office/drawing/2014/main" val="1442124609"/>
                    </a:ext>
                  </a:extLst>
                </a:gridCol>
                <a:gridCol w="1506263">
                  <a:extLst>
                    <a:ext uri="{9D8B030D-6E8A-4147-A177-3AD203B41FA5}">
                      <a16:colId xmlns:a16="http://schemas.microsoft.com/office/drawing/2014/main" val="3603859997"/>
                    </a:ext>
                  </a:extLst>
                </a:gridCol>
                <a:gridCol w="482442">
                  <a:extLst>
                    <a:ext uri="{9D8B030D-6E8A-4147-A177-3AD203B41FA5}">
                      <a16:colId xmlns:a16="http://schemas.microsoft.com/office/drawing/2014/main" val="4076488391"/>
                    </a:ext>
                  </a:extLst>
                </a:gridCol>
                <a:gridCol w="419903">
                  <a:extLst>
                    <a:ext uri="{9D8B030D-6E8A-4147-A177-3AD203B41FA5}">
                      <a16:colId xmlns:a16="http://schemas.microsoft.com/office/drawing/2014/main" val="3254101706"/>
                    </a:ext>
                  </a:extLst>
                </a:gridCol>
                <a:gridCol w="638431">
                  <a:extLst>
                    <a:ext uri="{9D8B030D-6E8A-4147-A177-3AD203B41FA5}">
                      <a16:colId xmlns:a16="http://schemas.microsoft.com/office/drawing/2014/main" val="3712391277"/>
                    </a:ext>
                  </a:extLst>
                </a:gridCol>
                <a:gridCol w="519401">
                  <a:extLst>
                    <a:ext uri="{9D8B030D-6E8A-4147-A177-3AD203B41FA5}">
                      <a16:colId xmlns:a16="http://schemas.microsoft.com/office/drawing/2014/main" val="2678102022"/>
                    </a:ext>
                  </a:extLst>
                </a:gridCol>
                <a:gridCol w="268022">
                  <a:extLst>
                    <a:ext uri="{9D8B030D-6E8A-4147-A177-3AD203B41FA5}">
                      <a16:colId xmlns:a16="http://schemas.microsoft.com/office/drawing/2014/main" val="2527660299"/>
                    </a:ext>
                  </a:extLst>
                </a:gridCol>
                <a:gridCol w="404651">
                  <a:extLst>
                    <a:ext uri="{9D8B030D-6E8A-4147-A177-3AD203B41FA5}">
                      <a16:colId xmlns:a16="http://schemas.microsoft.com/office/drawing/2014/main" val="3641075278"/>
                    </a:ext>
                  </a:extLst>
                </a:gridCol>
                <a:gridCol w="301143">
                  <a:extLst>
                    <a:ext uri="{9D8B030D-6E8A-4147-A177-3AD203B41FA5}">
                      <a16:colId xmlns:a16="http://schemas.microsoft.com/office/drawing/2014/main" val="3618613915"/>
                    </a:ext>
                  </a:extLst>
                </a:gridCol>
              </a:tblGrid>
              <a:tr h="183914">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HW</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7491623"/>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HW</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0723294"/>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sp>
        <p:nvSpPr>
          <p:cNvPr id="4" name="矩形 3">
            <a:extLst>
              <a:ext uri="{FF2B5EF4-FFF2-40B4-BE49-F238E27FC236}">
                <a16:creationId xmlns:a16="http://schemas.microsoft.com/office/drawing/2014/main" id="{9D3F60EF-8761-0C3C-1A29-EB942113D385}"/>
              </a:ext>
            </a:extLst>
          </p:cNvPr>
          <p:cNvSpPr/>
          <p:nvPr/>
        </p:nvSpPr>
        <p:spPr>
          <a:xfrm>
            <a:off x="6227663" y="3170469"/>
            <a:ext cx="5811585" cy="1342858"/>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5" name="对话气泡: 矩形 11">
            <a:extLst>
              <a:ext uri="{FF2B5EF4-FFF2-40B4-BE49-F238E27FC236}">
                <a16:creationId xmlns:a16="http://schemas.microsoft.com/office/drawing/2014/main" id="{1719BFAB-F47E-8F61-CFA3-F80807EF623F}"/>
              </a:ext>
            </a:extLst>
          </p:cNvPr>
          <p:cNvSpPr/>
          <p:nvPr/>
        </p:nvSpPr>
        <p:spPr>
          <a:xfrm>
            <a:off x="3785820" y="2870967"/>
            <a:ext cx="1307455" cy="1941861"/>
          </a:xfrm>
          <a:prstGeom prst="wedgeRectCallout">
            <a:avLst>
              <a:gd name="adj1" fmla="val 177093"/>
              <a:gd name="adj2" fmla="val -8228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spTree>
    <p:extLst>
      <p:ext uri="{BB962C8B-B14F-4D97-AF65-F5344CB8AC3E}">
        <p14:creationId xmlns:p14="http://schemas.microsoft.com/office/powerpoint/2010/main" val="391272532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3FB687-B979-6B47-FDBC-5BC5C54A49FA}"/>
            </a:ext>
          </a:extLst>
        </p:cNvPr>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B8456876-6DD2-6735-E181-C6A08FF5A2E5}"/>
              </a:ext>
            </a:extLst>
          </p:cNvPr>
          <p:cNvGraphicFramePr>
            <a:graphicFrameLocks noGrp="1"/>
          </p:cNvGraphicFramePr>
          <p:nvPr>
            <p:extLst>
              <p:ext uri="{D42A27DB-BD31-4B8C-83A1-F6EECF244321}">
                <p14:modId xmlns:p14="http://schemas.microsoft.com/office/powerpoint/2010/main" val="1584129362"/>
              </p:ext>
            </p:extLst>
          </p:nvPr>
        </p:nvGraphicFramePr>
        <p:xfrm>
          <a:off x="68678" y="1857265"/>
          <a:ext cx="5948378" cy="2542263"/>
        </p:xfrm>
        <a:graphic>
          <a:graphicData uri="http://schemas.openxmlformats.org/drawingml/2006/table">
            <a:tbl>
              <a:tblPr/>
              <a:tblGrid>
                <a:gridCol w="448093">
                  <a:extLst>
                    <a:ext uri="{9D8B030D-6E8A-4147-A177-3AD203B41FA5}">
                      <a16:colId xmlns:a16="http://schemas.microsoft.com/office/drawing/2014/main" val="495084399"/>
                    </a:ext>
                  </a:extLst>
                </a:gridCol>
                <a:gridCol w="239058">
                  <a:extLst>
                    <a:ext uri="{9D8B030D-6E8A-4147-A177-3AD203B41FA5}">
                      <a16:colId xmlns:a16="http://schemas.microsoft.com/office/drawing/2014/main" val="3614210242"/>
                    </a:ext>
                  </a:extLst>
                </a:gridCol>
                <a:gridCol w="560647">
                  <a:extLst>
                    <a:ext uri="{9D8B030D-6E8A-4147-A177-3AD203B41FA5}">
                      <a16:colId xmlns:a16="http://schemas.microsoft.com/office/drawing/2014/main" val="1442124609"/>
                    </a:ext>
                  </a:extLst>
                </a:gridCol>
                <a:gridCol w="1983024">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05548">
                  <a:extLst>
                    <a:ext uri="{9D8B030D-6E8A-4147-A177-3AD203B41FA5}">
                      <a16:colId xmlns:a16="http://schemas.microsoft.com/office/drawing/2014/main" val="3254101706"/>
                    </a:ext>
                  </a:extLst>
                </a:gridCol>
                <a:gridCol w="345989">
                  <a:extLst>
                    <a:ext uri="{9D8B030D-6E8A-4147-A177-3AD203B41FA5}">
                      <a16:colId xmlns:a16="http://schemas.microsoft.com/office/drawing/2014/main" val="3712391277"/>
                    </a:ext>
                  </a:extLst>
                </a:gridCol>
                <a:gridCol w="605883">
                  <a:extLst>
                    <a:ext uri="{9D8B030D-6E8A-4147-A177-3AD203B41FA5}">
                      <a16:colId xmlns:a16="http://schemas.microsoft.com/office/drawing/2014/main" val="1011381538"/>
                    </a:ext>
                  </a:extLst>
                </a:gridCol>
                <a:gridCol w="280545">
                  <a:extLst>
                    <a:ext uri="{9D8B030D-6E8A-4147-A177-3AD203B41FA5}">
                      <a16:colId xmlns:a16="http://schemas.microsoft.com/office/drawing/2014/main" val="2527660299"/>
                    </a:ext>
                  </a:extLst>
                </a:gridCol>
                <a:gridCol w="386447">
                  <a:extLst>
                    <a:ext uri="{9D8B030D-6E8A-4147-A177-3AD203B41FA5}">
                      <a16:colId xmlns:a16="http://schemas.microsoft.com/office/drawing/2014/main" val="3641075278"/>
                    </a:ext>
                  </a:extLst>
                </a:gridCol>
                <a:gridCol w="287596">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1598279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08720529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Broker Sales (applicable for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a:t>
                      </a:r>
                      <a:r>
                        <a:rPr lang="en-US" sz="900" b="0" i="0" u="none" strike="noStrike" kern="1200">
                          <a:solidFill>
                            <a:srgbClr val="000000"/>
                          </a:solidFill>
                          <a:effectLst/>
                          <a:latin typeface="Arial" panose="020B0604020202020204" pitchFamily="34" charset="0"/>
                          <a:ea typeface="+mn-ea"/>
                          <a:cs typeface="+mn-cs"/>
                        </a:rPr>
                        <a:t>-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0" name="表格 29">
            <a:extLst>
              <a:ext uri="{FF2B5EF4-FFF2-40B4-BE49-F238E27FC236}">
                <a16:creationId xmlns:a16="http://schemas.microsoft.com/office/drawing/2014/main" id="{93E89D80-B2B8-3DF0-615F-1DF519503FB4}"/>
              </a:ext>
            </a:extLst>
          </p:cNvPr>
          <p:cNvGraphicFramePr>
            <a:graphicFrameLocks noGrp="1"/>
          </p:cNvGraphicFramePr>
          <p:nvPr>
            <p:extLst>
              <p:ext uri="{D42A27DB-BD31-4B8C-83A1-F6EECF244321}">
                <p14:modId xmlns:p14="http://schemas.microsoft.com/office/powerpoint/2010/main" val="3794834476"/>
              </p:ext>
            </p:extLst>
          </p:nvPr>
        </p:nvGraphicFramePr>
        <p:xfrm>
          <a:off x="68678" y="431020"/>
          <a:ext cx="5838269" cy="1394460"/>
        </p:xfrm>
        <a:graphic>
          <a:graphicData uri="http://schemas.openxmlformats.org/drawingml/2006/table">
            <a:tbl>
              <a:tblPr firstRow="1" bandRow="1">
                <a:tableStyleId>{3C2FFA5D-87B4-456A-9821-1D502468CF0F}</a:tableStyleId>
              </a:tblPr>
              <a:tblGrid>
                <a:gridCol w="664969">
                  <a:extLst>
                    <a:ext uri="{9D8B030D-6E8A-4147-A177-3AD203B41FA5}">
                      <a16:colId xmlns:a16="http://schemas.microsoft.com/office/drawing/2014/main" val="869603910"/>
                    </a:ext>
                  </a:extLst>
                </a:gridCol>
                <a:gridCol w="701748">
                  <a:extLst>
                    <a:ext uri="{9D8B030D-6E8A-4147-A177-3AD203B41FA5}">
                      <a16:colId xmlns:a16="http://schemas.microsoft.com/office/drawing/2014/main" val="238663902"/>
                    </a:ext>
                  </a:extLst>
                </a:gridCol>
                <a:gridCol w="563526">
                  <a:extLst>
                    <a:ext uri="{9D8B030D-6E8A-4147-A177-3AD203B41FA5}">
                      <a16:colId xmlns:a16="http://schemas.microsoft.com/office/drawing/2014/main" val="4114365151"/>
                    </a:ext>
                  </a:extLst>
                </a:gridCol>
                <a:gridCol w="669851">
                  <a:extLst>
                    <a:ext uri="{9D8B030D-6E8A-4147-A177-3AD203B41FA5}">
                      <a16:colId xmlns:a16="http://schemas.microsoft.com/office/drawing/2014/main" val="4075178046"/>
                    </a:ext>
                  </a:extLst>
                </a:gridCol>
                <a:gridCol w="701749">
                  <a:extLst>
                    <a:ext uri="{9D8B030D-6E8A-4147-A177-3AD203B41FA5}">
                      <a16:colId xmlns:a16="http://schemas.microsoft.com/office/drawing/2014/main" val="973533418"/>
                    </a:ext>
                  </a:extLst>
                </a:gridCol>
                <a:gridCol w="722053">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3" name="文本框 32">
            <a:extLst>
              <a:ext uri="{FF2B5EF4-FFF2-40B4-BE49-F238E27FC236}">
                <a16:creationId xmlns:a16="http://schemas.microsoft.com/office/drawing/2014/main" id="{AA2A9627-1D26-1113-FC66-5DE55E7CCC63}"/>
              </a:ext>
            </a:extLst>
          </p:cNvPr>
          <p:cNvSpPr txBox="1"/>
          <p:nvPr/>
        </p:nvSpPr>
        <p:spPr>
          <a:xfrm>
            <a:off x="143235" y="47255"/>
            <a:ext cx="4470947" cy="400110"/>
          </a:xfrm>
          <a:prstGeom prst="rect">
            <a:avLst/>
          </a:prstGeom>
          <a:noFill/>
        </p:spPr>
        <p:txBody>
          <a:bodyPr wrap="square" rtlCol="0">
            <a:spAutoFit/>
          </a:bodyPr>
          <a:lstStyle/>
          <a:p>
            <a:r>
              <a:rPr lang="nl-NL" altLang="zh-CN" sz="2000" b="1"/>
              <a:t>DaaS_AFE HUB_MSA&amp;MLA</a:t>
            </a:r>
            <a:endParaRPr lang="zh-CN" altLang="en-US" sz="2000" b="1"/>
          </a:p>
        </p:txBody>
      </p:sp>
      <p:cxnSp>
        <p:nvCxnSpPr>
          <p:cNvPr id="4" name="直接连接符 3">
            <a:extLst>
              <a:ext uri="{FF2B5EF4-FFF2-40B4-BE49-F238E27FC236}">
                <a16:creationId xmlns:a16="http://schemas.microsoft.com/office/drawing/2014/main" id="{CD869435-2C43-38D3-5914-2CBF8E6CB7BD}"/>
              </a:ext>
            </a:extLst>
          </p:cNvPr>
          <p:cNvCxnSpPr>
            <a:cxnSpLocks/>
          </p:cNvCxnSpPr>
          <p:nvPr/>
        </p:nvCxnSpPr>
        <p:spPr>
          <a:xfrm>
            <a:off x="6173972"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2" name="表格 1">
            <a:extLst>
              <a:ext uri="{FF2B5EF4-FFF2-40B4-BE49-F238E27FC236}">
                <a16:creationId xmlns:a16="http://schemas.microsoft.com/office/drawing/2014/main" id="{54086759-26BD-A029-A24B-1CC4695C1EB6}"/>
              </a:ext>
            </a:extLst>
          </p:cNvPr>
          <p:cNvGraphicFramePr>
            <a:graphicFrameLocks noGrp="1"/>
          </p:cNvGraphicFramePr>
          <p:nvPr>
            <p:extLst>
              <p:ext uri="{D42A27DB-BD31-4B8C-83A1-F6EECF244321}">
                <p14:modId xmlns:p14="http://schemas.microsoft.com/office/powerpoint/2010/main" val="2236364954"/>
              </p:ext>
            </p:extLst>
          </p:nvPr>
        </p:nvGraphicFramePr>
        <p:xfrm>
          <a:off x="68678" y="4428962"/>
          <a:ext cx="5882397" cy="1143743"/>
        </p:xfrm>
        <a:graphic>
          <a:graphicData uri="http://schemas.openxmlformats.org/drawingml/2006/table">
            <a:tbl>
              <a:tblPr/>
              <a:tblGrid>
                <a:gridCol w="435202">
                  <a:extLst>
                    <a:ext uri="{9D8B030D-6E8A-4147-A177-3AD203B41FA5}">
                      <a16:colId xmlns:a16="http://schemas.microsoft.com/office/drawing/2014/main" val="495084399"/>
                    </a:ext>
                  </a:extLst>
                </a:gridCol>
                <a:gridCol w="319915">
                  <a:extLst>
                    <a:ext uri="{9D8B030D-6E8A-4147-A177-3AD203B41FA5}">
                      <a16:colId xmlns:a16="http://schemas.microsoft.com/office/drawing/2014/main" val="3614210242"/>
                    </a:ext>
                  </a:extLst>
                </a:gridCol>
                <a:gridCol w="624470">
                  <a:extLst>
                    <a:ext uri="{9D8B030D-6E8A-4147-A177-3AD203B41FA5}">
                      <a16:colId xmlns:a16="http://schemas.microsoft.com/office/drawing/2014/main" val="1442124609"/>
                    </a:ext>
                  </a:extLst>
                </a:gridCol>
                <a:gridCol w="1960102">
                  <a:extLst>
                    <a:ext uri="{9D8B030D-6E8A-4147-A177-3AD203B41FA5}">
                      <a16:colId xmlns:a16="http://schemas.microsoft.com/office/drawing/2014/main" val="3603859997"/>
                    </a:ext>
                  </a:extLst>
                </a:gridCol>
                <a:gridCol w="312479">
                  <a:extLst>
                    <a:ext uri="{9D8B030D-6E8A-4147-A177-3AD203B41FA5}">
                      <a16:colId xmlns:a16="http://schemas.microsoft.com/office/drawing/2014/main" val="4076488391"/>
                    </a:ext>
                  </a:extLst>
                </a:gridCol>
                <a:gridCol w="441761">
                  <a:extLst>
                    <a:ext uri="{9D8B030D-6E8A-4147-A177-3AD203B41FA5}">
                      <a16:colId xmlns:a16="http://schemas.microsoft.com/office/drawing/2014/main" val="3254101706"/>
                    </a:ext>
                  </a:extLst>
                </a:gridCol>
                <a:gridCol w="408630">
                  <a:extLst>
                    <a:ext uri="{9D8B030D-6E8A-4147-A177-3AD203B41FA5}">
                      <a16:colId xmlns:a16="http://schemas.microsoft.com/office/drawing/2014/main" val="3712391277"/>
                    </a:ext>
                  </a:extLst>
                </a:gridCol>
                <a:gridCol w="298189">
                  <a:extLst>
                    <a:ext uri="{9D8B030D-6E8A-4147-A177-3AD203B41FA5}">
                      <a16:colId xmlns:a16="http://schemas.microsoft.com/office/drawing/2014/main" val="1008187684"/>
                    </a:ext>
                  </a:extLst>
                </a:gridCol>
                <a:gridCol w="298189">
                  <a:extLst>
                    <a:ext uri="{9D8B030D-6E8A-4147-A177-3AD203B41FA5}">
                      <a16:colId xmlns:a16="http://schemas.microsoft.com/office/drawing/2014/main" val="2527660299"/>
                    </a:ext>
                  </a:extLst>
                </a:gridCol>
                <a:gridCol w="430224">
                  <a:extLst>
                    <a:ext uri="{9D8B030D-6E8A-4147-A177-3AD203B41FA5}">
                      <a16:colId xmlns:a16="http://schemas.microsoft.com/office/drawing/2014/main" val="3641075278"/>
                    </a:ext>
                  </a:extLst>
                </a:gridCol>
                <a:gridCol w="353236">
                  <a:extLst>
                    <a:ext uri="{9D8B030D-6E8A-4147-A177-3AD203B41FA5}">
                      <a16:colId xmlns:a16="http://schemas.microsoft.com/office/drawing/2014/main" val="3618613915"/>
                    </a:ext>
                  </a:extLst>
                </a:gridCol>
              </a:tblGrid>
              <a:tr h="161739">
                <a:tc rowSpan="6">
                  <a:txBody>
                    <a:bodyPr/>
                    <a:lstStyle/>
                    <a:p>
                      <a:pPr marL="0" algn="ctr" defTabSz="914400" rtl="0" eaLnBrk="1" fontAlgn="base" latinLnBrk="0" hangingPunct="1">
                        <a:lnSpc>
                          <a:spcPts val="1425"/>
                        </a:lnSpc>
                        <a:buNone/>
                      </a:pPr>
                      <a:r>
                        <a:rPr lang="en-US" sz="900" b="1" i="0" u="none" strike="noStrike" kern="1200">
                          <a:solidFill>
                            <a:srgbClr val="FFFFFF"/>
                          </a:solidFill>
                          <a:effectLst/>
                          <a:latin typeface="Arial" panose="020B0604020202020204" pitchFamily="34" charset="0"/>
                          <a:ea typeface="+mn-ea"/>
                          <a:cs typeface="+mn-cs"/>
                        </a:rPr>
                        <a:t>NL11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3" name="表格 2">
            <a:extLst>
              <a:ext uri="{FF2B5EF4-FFF2-40B4-BE49-F238E27FC236}">
                <a16:creationId xmlns:a16="http://schemas.microsoft.com/office/drawing/2014/main" id="{4B6EA763-D4B2-8D49-9BE5-E4854E8F93B5}"/>
              </a:ext>
            </a:extLst>
          </p:cNvPr>
          <p:cNvGraphicFramePr>
            <a:graphicFrameLocks noGrp="1"/>
          </p:cNvGraphicFramePr>
          <p:nvPr>
            <p:extLst>
              <p:ext uri="{D42A27DB-BD31-4B8C-83A1-F6EECF244321}">
                <p14:modId xmlns:p14="http://schemas.microsoft.com/office/powerpoint/2010/main" val="723333757"/>
              </p:ext>
            </p:extLst>
          </p:nvPr>
        </p:nvGraphicFramePr>
        <p:xfrm>
          <a:off x="90745" y="5602139"/>
          <a:ext cx="5838261" cy="1143743"/>
        </p:xfrm>
        <a:graphic>
          <a:graphicData uri="http://schemas.openxmlformats.org/drawingml/2006/table">
            <a:tbl>
              <a:tblPr/>
              <a:tblGrid>
                <a:gridCol w="456019">
                  <a:extLst>
                    <a:ext uri="{9D8B030D-6E8A-4147-A177-3AD203B41FA5}">
                      <a16:colId xmlns:a16="http://schemas.microsoft.com/office/drawing/2014/main" val="495084399"/>
                    </a:ext>
                  </a:extLst>
                </a:gridCol>
                <a:gridCol w="242295">
                  <a:extLst>
                    <a:ext uri="{9D8B030D-6E8A-4147-A177-3AD203B41FA5}">
                      <a16:colId xmlns:a16="http://schemas.microsoft.com/office/drawing/2014/main" val="3614210242"/>
                    </a:ext>
                  </a:extLst>
                </a:gridCol>
                <a:gridCol w="596734">
                  <a:extLst>
                    <a:ext uri="{9D8B030D-6E8A-4147-A177-3AD203B41FA5}">
                      <a16:colId xmlns:a16="http://schemas.microsoft.com/office/drawing/2014/main" val="1442124609"/>
                    </a:ext>
                  </a:extLst>
                </a:gridCol>
                <a:gridCol w="1983627">
                  <a:extLst>
                    <a:ext uri="{9D8B030D-6E8A-4147-A177-3AD203B41FA5}">
                      <a16:colId xmlns:a16="http://schemas.microsoft.com/office/drawing/2014/main" val="3603859997"/>
                    </a:ext>
                  </a:extLst>
                </a:gridCol>
                <a:gridCol w="475988">
                  <a:extLst>
                    <a:ext uri="{9D8B030D-6E8A-4147-A177-3AD203B41FA5}">
                      <a16:colId xmlns:a16="http://schemas.microsoft.com/office/drawing/2014/main" val="4076488391"/>
                    </a:ext>
                  </a:extLst>
                </a:gridCol>
                <a:gridCol w="433677">
                  <a:extLst>
                    <a:ext uri="{9D8B030D-6E8A-4147-A177-3AD203B41FA5}">
                      <a16:colId xmlns:a16="http://schemas.microsoft.com/office/drawing/2014/main" val="3254101706"/>
                    </a:ext>
                  </a:extLst>
                </a:gridCol>
                <a:gridCol w="370212">
                  <a:extLst>
                    <a:ext uri="{9D8B030D-6E8A-4147-A177-3AD203B41FA5}">
                      <a16:colId xmlns:a16="http://schemas.microsoft.com/office/drawing/2014/main" val="3712391277"/>
                    </a:ext>
                  </a:extLst>
                </a:gridCol>
                <a:gridCol w="275014">
                  <a:extLst>
                    <a:ext uri="{9D8B030D-6E8A-4147-A177-3AD203B41FA5}">
                      <a16:colId xmlns:a16="http://schemas.microsoft.com/office/drawing/2014/main" val="3643425350"/>
                    </a:ext>
                  </a:extLst>
                </a:gridCol>
                <a:gridCol w="275014">
                  <a:extLst>
                    <a:ext uri="{9D8B030D-6E8A-4147-A177-3AD203B41FA5}">
                      <a16:colId xmlns:a16="http://schemas.microsoft.com/office/drawing/2014/main" val="2527660299"/>
                    </a:ext>
                  </a:extLst>
                </a:gridCol>
                <a:gridCol w="412522">
                  <a:extLst>
                    <a:ext uri="{9D8B030D-6E8A-4147-A177-3AD203B41FA5}">
                      <a16:colId xmlns:a16="http://schemas.microsoft.com/office/drawing/2014/main" val="3641075278"/>
                    </a:ext>
                  </a:extLst>
                </a:gridCol>
                <a:gridCol w="317159">
                  <a:extLst>
                    <a:ext uri="{9D8B030D-6E8A-4147-A177-3AD203B41FA5}">
                      <a16:colId xmlns:a16="http://schemas.microsoft.com/office/drawing/2014/main" val="3618613915"/>
                    </a:ext>
                  </a:extLst>
                </a:gridCol>
              </a:tblGrid>
              <a:tr h="168009">
                <a:tc rowSpan="6">
                  <a:txBody>
                    <a:bodyPr/>
                    <a:lstStyle/>
                    <a:p>
                      <a:pPr marL="0" algn="ctr" defTabSz="914400" rtl="0" eaLnBrk="1" fontAlgn="base" latinLnBrk="0" hangingPunct="1">
                        <a:lnSpc>
                          <a:spcPts val="1425"/>
                        </a:lnSpc>
                        <a:buNone/>
                      </a:pPr>
                      <a:r>
                        <a:rPr lang="en-US" sz="900" b="1" i="0" u="none" strike="noStrike" kern="1200">
                          <a:solidFill>
                            <a:srgbClr val="FFFFFF"/>
                          </a:solidFill>
                          <a:effectLst/>
                          <a:latin typeface="Arial" panose="020B0604020202020204" pitchFamily="34" charset="0"/>
                          <a:ea typeface="+mn-ea"/>
                          <a:cs typeface="+mn-cs"/>
                        </a:rPr>
                        <a:t>HK08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76113988"/>
                  </a:ext>
                </a:extLst>
              </a:tr>
            </a:tbl>
          </a:graphicData>
        </a:graphic>
      </p:graphicFrame>
      <p:graphicFrame>
        <p:nvGraphicFramePr>
          <p:cNvPr id="5" name="表格 4">
            <a:extLst>
              <a:ext uri="{FF2B5EF4-FFF2-40B4-BE49-F238E27FC236}">
                <a16:creationId xmlns:a16="http://schemas.microsoft.com/office/drawing/2014/main" id="{D3575F2D-B046-0A08-CEE8-56F445B8D5E4}"/>
              </a:ext>
            </a:extLst>
          </p:cNvPr>
          <p:cNvGraphicFramePr>
            <a:graphicFrameLocks noGrp="1"/>
          </p:cNvGraphicFramePr>
          <p:nvPr>
            <p:extLst>
              <p:ext uri="{D42A27DB-BD31-4B8C-83A1-F6EECF244321}">
                <p14:modId xmlns:p14="http://schemas.microsoft.com/office/powerpoint/2010/main" val="4077849443"/>
              </p:ext>
            </p:extLst>
          </p:nvPr>
        </p:nvGraphicFramePr>
        <p:xfrm>
          <a:off x="6208854" y="1884391"/>
          <a:ext cx="5960393" cy="2389863"/>
        </p:xfrm>
        <a:graphic>
          <a:graphicData uri="http://schemas.openxmlformats.org/drawingml/2006/table">
            <a:tbl>
              <a:tblPr/>
              <a:tblGrid>
                <a:gridCol w="440413">
                  <a:extLst>
                    <a:ext uri="{9D8B030D-6E8A-4147-A177-3AD203B41FA5}">
                      <a16:colId xmlns:a16="http://schemas.microsoft.com/office/drawing/2014/main" val="495084399"/>
                    </a:ext>
                  </a:extLst>
                </a:gridCol>
                <a:gridCol w="234961">
                  <a:extLst>
                    <a:ext uri="{9D8B030D-6E8A-4147-A177-3AD203B41FA5}">
                      <a16:colId xmlns:a16="http://schemas.microsoft.com/office/drawing/2014/main" val="3614210242"/>
                    </a:ext>
                  </a:extLst>
                </a:gridCol>
                <a:gridCol w="551037">
                  <a:extLst>
                    <a:ext uri="{9D8B030D-6E8A-4147-A177-3AD203B41FA5}">
                      <a16:colId xmlns:a16="http://schemas.microsoft.com/office/drawing/2014/main" val="1442124609"/>
                    </a:ext>
                  </a:extLst>
                </a:gridCol>
                <a:gridCol w="2049105">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05548">
                  <a:extLst>
                    <a:ext uri="{9D8B030D-6E8A-4147-A177-3AD203B41FA5}">
                      <a16:colId xmlns:a16="http://schemas.microsoft.com/office/drawing/2014/main" val="3254101706"/>
                    </a:ext>
                  </a:extLst>
                </a:gridCol>
                <a:gridCol w="340059">
                  <a:extLst>
                    <a:ext uri="{9D8B030D-6E8A-4147-A177-3AD203B41FA5}">
                      <a16:colId xmlns:a16="http://schemas.microsoft.com/office/drawing/2014/main" val="3712391277"/>
                    </a:ext>
                  </a:extLst>
                </a:gridCol>
                <a:gridCol w="595497">
                  <a:extLst>
                    <a:ext uri="{9D8B030D-6E8A-4147-A177-3AD203B41FA5}">
                      <a16:colId xmlns:a16="http://schemas.microsoft.com/office/drawing/2014/main" val="3103572076"/>
                    </a:ext>
                  </a:extLst>
                </a:gridCol>
                <a:gridCol w="275736">
                  <a:extLst>
                    <a:ext uri="{9D8B030D-6E8A-4147-A177-3AD203B41FA5}">
                      <a16:colId xmlns:a16="http://schemas.microsoft.com/office/drawing/2014/main" val="2527660299"/>
                    </a:ext>
                  </a:extLst>
                </a:gridCol>
                <a:gridCol w="379823">
                  <a:extLst>
                    <a:ext uri="{9D8B030D-6E8A-4147-A177-3AD203B41FA5}">
                      <a16:colId xmlns:a16="http://schemas.microsoft.com/office/drawing/2014/main" val="3641075278"/>
                    </a:ext>
                  </a:extLst>
                </a:gridCol>
                <a:gridCol w="282666">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Finance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6226163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for No Device return)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4312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6" name="表格 5">
            <a:extLst>
              <a:ext uri="{FF2B5EF4-FFF2-40B4-BE49-F238E27FC236}">
                <a16:creationId xmlns:a16="http://schemas.microsoft.com/office/drawing/2014/main" id="{966F4216-1DC3-4BA0-9999-1A857DABBEA2}"/>
              </a:ext>
            </a:extLst>
          </p:cNvPr>
          <p:cNvGraphicFramePr>
            <a:graphicFrameLocks noGrp="1"/>
          </p:cNvGraphicFramePr>
          <p:nvPr>
            <p:extLst>
              <p:ext uri="{D42A27DB-BD31-4B8C-83A1-F6EECF244321}">
                <p14:modId xmlns:p14="http://schemas.microsoft.com/office/powerpoint/2010/main" val="198273974"/>
              </p:ext>
            </p:extLst>
          </p:nvPr>
        </p:nvGraphicFramePr>
        <p:xfrm>
          <a:off x="6285054" y="4287248"/>
          <a:ext cx="5838266" cy="1143743"/>
        </p:xfrm>
        <a:graphic>
          <a:graphicData uri="http://schemas.openxmlformats.org/drawingml/2006/table">
            <a:tbl>
              <a:tblPr/>
              <a:tblGrid>
                <a:gridCol w="444902">
                  <a:extLst>
                    <a:ext uri="{9D8B030D-6E8A-4147-A177-3AD203B41FA5}">
                      <a16:colId xmlns:a16="http://schemas.microsoft.com/office/drawing/2014/main" val="495084399"/>
                    </a:ext>
                  </a:extLst>
                </a:gridCol>
                <a:gridCol w="323783">
                  <a:extLst>
                    <a:ext uri="{9D8B030D-6E8A-4147-A177-3AD203B41FA5}">
                      <a16:colId xmlns:a16="http://schemas.microsoft.com/office/drawing/2014/main" val="3614210242"/>
                    </a:ext>
                  </a:extLst>
                </a:gridCol>
                <a:gridCol w="579317">
                  <a:extLst>
                    <a:ext uri="{9D8B030D-6E8A-4147-A177-3AD203B41FA5}">
                      <a16:colId xmlns:a16="http://schemas.microsoft.com/office/drawing/2014/main" val="1442124609"/>
                    </a:ext>
                  </a:extLst>
                </a:gridCol>
                <a:gridCol w="1851874">
                  <a:extLst>
                    <a:ext uri="{9D8B030D-6E8A-4147-A177-3AD203B41FA5}">
                      <a16:colId xmlns:a16="http://schemas.microsoft.com/office/drawing/2014/main" val="3603859997"/>
                    </a:ext>
                  </a:extLst>
                </a:gridCol>
                <a:gridCol w="461047">
                  <a:extLst>
                    <a:ext uri="{9D8B030D-6E8A-4147-A177-3AD203B41FA5}">
                      <a16:colId xmlns:a16="http://schemas.microsoft.com/office/drawing/2014/main" val="4076488391"/>
                    </a:ext>
                  </a:extLst>
                </a:gridCol>
                <a:gridCol w="409819">
                  <a:extLst>
                    <a:ext uri="{9D8B030D-6E8A-4147-A177-3AD203B41FA5}">
                      <a16:colId xmlns:a16="http://schemas.microsoft.com/office/drawing/2014/main" val="3254101706"/>
                    </a:ext>
                  </a:extLst>
                </a:gridCol>
                <a:gridCol w="379082">
                  <a:extLst>
                    <a:ext uri="{9D8B030D-6E8A-4147-A177-3AD203B41FA5}">
                      <a16:colId xmlns:a16="http://schemas.microsoft.com/office/drawing/2014/main" val="3712391277"/>
                    </a:ext>
                  </a:extLst>
                </a:gridCol>
                <a:gridCol w="379082">
                  <a:extLst>
                    <a:ext uri="{9D8B030D-6E8A-4147-A177-3AD203B41FA5}">
                      <a16:colId xmlns:a16="http://schemas.microsoft.com/office/drawing/2014/main" val="682419283"/>
                    </a:ext>
                  </a:extLst>
                </a:gridCol>
                <a:gridCol w="276627">
                  <a:extLst>
                    <a:ext uri="{9D8B030D-6E8A-4147-A177-3AD203B41FA5}">
                      <a16:colId xmlns:a16="http://schemas.microsoft.com/office/drawing/2014/main" val="2527660299"/>
                    </a:ext>
                  </a:extLst>
                </a:gridCol>
                <a:gridCol w="405038">
                  <a:extLst>
                    <a:ext uri="{9D8B030D-6E8A-4147-A177-3AD203B41FA5}">
                      <a16:colId xmlns:a16="http://schemas.microsoft.com/office/drawing/2014/main" val="3641075278"/>
                    </a:ext>
                  </a:extLst>
                </a:gridCol>
                <a:gridCol w="327695">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br>
                        <a:rPr lang="en-US" sz="900" b="1" i="0">
                          <a:solidFill>
                            <a:srgbClr val="FFFFFF"/>
                          </a:solidFill>
                          <a:effectLst/>
                          <a:latin typeface="Arial" panose="020B0604020202020204" pitchFamily="34" charset="0"/>
                        </a:rPr>
                      </a:b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7" name="表格 6">
            <a:extLst>
              <a:ext uri="{FF2B5EF4-FFF2-40B4-BE49-F238E27FC236}">
                <a16:creationId xmlns:a16="http://schemas.microsoft.com/office/drawing/2014/main" id="{6456CE02-DD35-56F7-F75A-CA66651123F2}"/>
              </a:ext>
            </a:extLst>
          </p:cNvPr>
          <p:cNvGraphicFramePr>
            <a:graphicFrameLocks noGrp="1"/>
          </p:cNvGraphicFramePr>
          <p:nvPr>
            <p:extLst>
              <p:ext uri="{D42A27DB-BD31-4B8C-83A1-F6EECF244321}">
                <p14:modId xmlns:p14="http://schemas.microsoft.com/office/powerpoint/2010/main" val="351965815"/>
              </p:ext>
            </p:extLst>
          </p:nvPr>
        </p:nvGraphicFramePr>
        <p:xfrm>
          <a:off x="6285054" y="5537125"/>
          <a:ext cx="5822875" cy="1143743"/>
        </p:xfrm>
        <a:graphic>
          <a:graphicData uri="http://schemas.openxmlformats.org/drawingml/2006/table">
            <a:tbl>
              <a:tblPr/>
              <a:tblGrid>
                <a:gridCol w="459067">
                  <a:extLst>
                    <a:ext uri="{9D8B030D-6E8A-4147-A177-3AD203B41FA5}">
                      <a16:colId xmlns:a16="http://schemas.microsoft.com/office/drawing/2014/main" val="495084399"/>
                    </a:ext>
                  </a:extLst>
                </a:gridCol>
                <a:gridCol w="254421">
                  <a:extLst>
                    <a:ext uri="{9D8B030D-6E8A-4147-A177-3AD203B41FA5}">
                      <a16:colId xmlns:a16="http://schemas.microsoft.com/office/drawing/2014/main" val="3614210242"/>
                    </a:ext>
                  </a:extLst>
                </a:gridCol>
                <a:gridCol w="626599">
                  <a:extLst>
                    <a:ext uri="{9D8B030D-6E8A-4147-A177-3AD203B41FA5}">
                      <a16:colId xmlns:a16="http://schemas.microsoft.com/office/drawing/2014/main" val="1442124609"/>
                    </a:ext>
                  </a:extLst>
                </a:gridCol>
                <a:gridCol w="1992512">
                  <a:extLst>
                    <a:ext uri="{9D8B030D-6E8A-4147-A177-3AD203B41FA5}">
                      <a16:colId xmlns:a16="http://schemas.microsoft.com/office/drawing/2014/main" val="3603859997"/>
                    </a:ext>
                  </a:extLst>
                </a:gridCol>
                <a:gridCol w="374543">
                  <a:extLst>
                    <a:ext uri="{9D8B030D-6E8A-4147-A177-3AD203B41FA5}">
                      <a16:colId xmlns:a16="http://schemas.microsoft.com/office/drawing/2014/main" val="4076488391"/>
                    </a:ext>
                  </a:extLst>
                </a:gridCol>
                <a:gridCol w="383235">
                  <a:extLst>
                    <a:ext uri="{9D8B030D-6E8A-4147-A177-3AD203B41FA5}">
                      <a16:colId xmlns:a16="http://schemas.microsoft.com/office/drawing/2014/main" val="3254101706"/>
                    </a:ext>
                  </a:extLst>
                </a:gridCol>
                <a:gridCol w="388741">
                  <a:extLst>
                    <a:ext uri="{9D8B030D-6E8A-4147-A177-3AD203B41FA5}">
                      <a16:colId xmlns:a16="http://schemas.microsoft.com/office/drawing/2014/main" val="3712391277"/>
                    </a:ext>
                  </a:extLst>
                </a:gridCol>
                <a:gridCol w="288778">
                  <a:extLst>
                    <a:ext uri="{9D8B030D-6E8A-4147-A177-3AD203B41FA5}">
                      <a16:colId xmlns:a16="http://schemas.microsoft.com/office/drawing/2014/main" val="1686727992"/>
                    </a:ext>
                  </a:extLst>
                </a:gridCol>
                <a:gridCol w="288778">
                  <a:extLst>
                    <a:ext uri="{9D8B030D-6E8A-4147-A177-3AD203B41FA5}">
                      <a16:colId xmlns:a16="http://schemas.microsoft.com/office/drawing/2014/main" val="2527660299"/>
                    </a:ext>
                  </a:extLst>
                </a:gridCol>
                <a:gridCol w="433168">
                  <a:extLst>
                    <a:ext uri="{9D8B030D-6E8A-4147-A177-3AD203B41FA5}">
                      <a16:colId xmlns:a16="http://schemas.microsoft.com/office/drawing/2014/main" val="3641075278"/>
                    </a:ext>
                  </a:extLst>
                </a:gridCol>
                <a:gridCol w="333033">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76113988"/>
                  </a:ext>
                </a:extLst>
              </a:tr>
            </a:tbl>
          </a:graphicData>
        </a:graphic>
      </p:graphicFrame>
      <p:graphicFrame>
        <p:nvGraphicFramePr>
          <p:cNvPr id="8" name="表格 7">
            <a:extLst>
              <a:ext uri="{FF2B5EF4-FFF2-40B4-BE49-F238E27FC236}">
                <a16:creationId xmlns:a16="http://schemas.microsoft.com/office/drawing/2014/main" id="{A7DB4078-08A4-EDB1-31FA-7C3896D6C67C}"/>
              </a:ext>
            </a:extLst>
          </p:cNvPr>
          <p:cNvGraphicFramePr>
            <a:graphicFrameLocks noGrp="1"/>
          </p:cNvGraphicFramePr>
          <p:nvPr>
            <p:extLst>
              <p:ext uri="{D42A27DB-BD31-4B8C-83A1-F6EECF244321}">
                <p14:modId xmlns:p14="http://schemas.microsoft.com/office/powerpoint/2010/main" val="575065124"/>
              </p:ext>
            </p:extLst>
          </p:nvPr>
        </p:nvGraphicFramePr>
        <p:xfrm>
          <a:off x="6285055" y="447365"/>
          <a:ext cx="5838269" cy="1394460"/>
        </p:xfrm>
        <a:graphic>
          <a:graphicData uri="http://schemas.openxmlformats.org/drawingml/2006/table">
            <a:tbl>
              <a:tblPr firstRow="1" bandRow="1">
                <a:tableStyleId>{3C2FFA5D-87B4-456A-9821-1D502468CF0F}</a:tableStyleId>
              </a:tblPr>
              <a:tblGrid>
                <a:gridCol w="636740">
                  <a:extLst>
                    <a:ext uri="{9D8B030D-6E8A-4147-A177-3AD203B41FA5}">
                      <a16:colId xmlns:a16="http://schemas.microsoft.com/office/drawing/2014/main" val="869603910"/>
                    </a:ext>
                  </a:extLst>
                </a:gridCol>
                <a:gridCol w="691117">
                  <a:extLst>
                    <a:ext uri="{9D8B030D-6E8A-4147-A177-3AD203B41FA5}">
                      <a16:colId xmlns:a16="http://schemas.microsoft.com/office/drawing/2014/main" val="238663902"/>
                    </a:ext>
                  </a:extLst>
                </a:gridCol>
                <a:gridCol w="659218">
                  <a:extLst>
                    <a:ext uri="{9D8B030D-6E8A-4147-A177-3AD203B41FA5}">
                      <a16:colId xmlns:a16="http://schemas.microsoft.com/office/drawing/2014/main" val="4114365151"/>
                    </a:ext>
                  </a:extLst>
                </a:gridCol>
                <a:gridCol w="659219">
                  <a:extLst>
                    <a:ext uri="{9D8B030D-6E8A-4147-A177-3AD203B41FA5}">
                      <a16:colId xmlns:a16="http://schemas.microsoft.com/office/drawing/2014/main" val="4075178046"/>
                    </a:ext>
                  </a:extLst>
                </a:gridCol>
                <a:gridCol w="67938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400573">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88413">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88413">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10" name="对话气泡: 矩形 11">
            <a:extLst>
              <a:ext uri="{FF2B5EF4-FFF2-40B4-BE49-F238E27FC236}">
                <a16:creationId xmlns:a16="http://schemas.microsoft.com/office/drawing/2014/main" id="{C0B7B236-4F11-7EA0-4FB3-8849D210F4FA}"/>
              </a:ext>
            </a:extLst>
          </p:cNvPr>
          <p:cNvSpPr/>
          <p:nvPr/>
        </p:nvSpPr>
        <p:spPr>
          <a:xfrm>
            <a:off x="-1505810" y="4748369"/>
            <a:ext cx="1307455" cy="1941861"/>
          </a:xfrm>
          <a:prstGeom prst="wedgeRectCallout">
            <a:avLst>
              <a:gd name="adj1" fmla="val 106318"/>
              <a:gd name="adj2" fmla="val 4735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Interco billing, ARS was recognized as service since one-off billing(which was different from BRIM,)</a:t>
            </a:r>
          </a:p>
        </p:txBody>
      </p:sp>
    </p:spTree>
    <p:extLst>
      <p:ext uri="{BB962C8B-B14F-4D97-AF65-F5344CB8AC3E}">
        <p14:creationId xmlns:p14="http://schemas.microsoft.com/office/powerpoint/2010/main" val="112882060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3CDF85-31E8-1694-6C50-2D94CB9E6221}"/>
            </a:ext>
          </a:extLst>
        </p:cNvPr>
        <p:cNvGrpSpPr/>
        <p:nvPr/>
      </p:nvGrpSpPr>
      <p:grpSpPr>
        <a:xfrm>
          <a:off x="0" y="0"/>
          <a:ext cx="0" cy="0"/>
          <a:chOff x="0" y="0"/>
          <a:chExt cx="0" cy="0"/>
        </a:xfrm>
      </p:grpSpPr>
      <p:sp>
        <p:nvSpPr>
          <p:cNvPr id="33" name="文本框 32">
            <a:extLst>
              <a:ext uri="{FF2B5EF4-FFF2-40B4-BE49-F238E27FC236}">
                <a16:creationId xmlns:a16="http://schemas.microsoft.com/office/drawing/2014/main" id="{6C3AF2FB-4E95-9623-5BEE-4ED4C0BF4AC4}"/>
              </a:ext>
            </a:extLst>
          </p:cNvPr>
          <p:cNvSpPr txBox="1"/>
          <p:nvPr/>
        </p:nvSpPr>
        <p:spPr>
          <a:xfrm>
            <a:off x="143235" y="47255"/>
            <a:ext cx="4470947" cy="400110"/>
          </a:xfrm>
          <a:prstGeom prst="rect">
            <a:avLst/>
          </a:prstGeom>
          <a:noFill/>
        </p:spPr>
        <p:txBody>
          <a:bodyPr wrap="square" rtlCol="0">
            <a:spAutoFit/>
          </a:bodyPr>
          <a:lstStyle/>
          <a:p>
            <a:r>
              <a:rPr lang="nl-NL" altLang="zh-CN" sz="2000" b="1"/>
              <a:t>DaaS_AFE HUB_MSA&amp;MLA</a:t>
            </a:r>
            <a:endParaRPr lang="zh-CN" altLang="en-US" sz="2000" b="1"/>
          </a:p>
        </p:txBody>
      </p:sp>
      <p:graphicFrame>
        <p:nvGraphicFramePr>
          <p:cNvPr id="6" name="表格 5">
            <a:extLst>
              <a:ext uri="{FF2B5EF4-FFF2-40B4-BE49-F238E27FC236}">
                <a16:creationId xmlns:a16="http://schemas.microsoft.com/office/drawing/2014/main" id="{74667792-85BD-4EAF-61C5-61F61C0529B9}"/>
              </a:ext>
            </a:extLst>
          </p:cNvPr>
          <p:cNvGraphicFramePr>
            <a:graphicFrameLocks noGrp="1"/>
          </p:cNvGraphicFramePr>
          <p:nvPr>
            <p:extLst>
              <p:ext uri="{D42A27DB-BD31-4B8C-83A1-F6EECF244321}">
                <p14:modId xmlns:p14="http://schemas.microsoft.com/office/powerpoint/2010/main" val="744848534"/>
              </p:ext>
            </p:extLst>
          </p:nvPr>
        </p:nvGraphicFramePr>
        <p:xfrm>
          <a:off x="6210625" y="3040554"/>
          <a:ext cx="5838266" cy="1143743"/>
        </p:xfrm>
        <a:graphic>
          <a:graphicData uri="http://schemas.openxmlformats.org/drawingml/2006/table">
            <a:tbl>
              <a:tblPr/>
              <a:tblGrid>
                <a:gridCol w="444902">
                  <a:extLst>
                    <a:ext uri="{9D8B030D-6E8A-4147-A177-3AD203B41FA5}">
                      <a16:colId xmlns:a16="http://schemas.microsoft.com/office/drawing/2014/main" val="495084399"/>
                    </a:ext>
                  </a:extLst>
                </a:gridCol>
                <a:gridCol w="323783">
                  <a:extLst>
                    <a:ext uri="{9D8B030D-6E8A-4147-A177-3AD203B41FA5}">
                      <a16:colId xmlns:a16="http://schemas.microsoft.com/office/drawing/2014/main" val="3614210242"/>
                    </a:ext>
                  </a:extLst>
                </a:gridCol>
                <a:gridCol w="579317">
                  <a:extLst>
                    <a:ext uri="{9D8B030D-6E8A-4147-A177-3AD203B41FA5}">
                      <a16:colId xmlns:a16="http://schemas.microsoft.com/office/drawing/2014/main" val="1442124609"/>
                    </a:ext>
                  </a:extLst>
                </a:gridCol>
                <a:gridCol w="1851874">
                  <a:extLst>
                    <a:ext uri="{9D8B030D-6E8A-4147-A177-3AD203B41FA5}">
                      <a16:colId xmlns:a16="http://schemas.microsoft.com/office/drawing/2014/main" val="3603859997"/>
                    </a:ext>
                  </a:extLst>
                </a:gridCol>
                <a:gridCol w="461047">
                  <a:extLst>
                    <a:ext uri="{9D8B030D-6E8A-4147-A177-3AD203B41FA5}">
                      <a16:colId xmlns:a16="http://schemas.microsoft.com/office/drawing/2014/main" val="4076488391"/>
                    </a:ext>
                  </a:extLst>
                </a:gridCol>
                <a:gridCol w="409819">
                  <a:extLst>
                    <a:ext uri="{9D8B030D-6E8A-4147-A177-3AD203B41FA5}">
                      <a16:colId xmlns:a16="http://schemas.microsoft.com/office/drawing/2014/main" val="3254101706"/>
                    </a:ext>
                  </a:extLst>
                </a:gridCol>
                <a:gridCol w="379082">
                  <a:extLst>
                    <a:ext uri="{9D8B030D-6E8A-4147-A177-3AD203B41FA5}">
                      <a16:colId xmlns:a16="http://schemas.microsoft.com/office/drawing/2014/main" val="3712391277"/>
                    </a:ext>
                  </a:extLst>
                </a:gridCol>
                <a:gridCol w="379082">
                  <a:extLst>
                    <a:ext uri="{9D8B030D-6E8A-4147-A177-3AD203B41FA5}">
                      <a16:colId xmlns:a16="http://schemas.microsoft.com/office/drawing/2014/main" val="682419283"/>
                    </a:ext>
                  </a:extLst>
                </a:gridCol>
                <a:gridCol w="276627">
                  <a:extLst>
                    <a:ext uri="{9D8B030D-6E8A-4147-A177-3AD203B41FA5}">
                      <a16:colId xmlns:a16="http://schemas.microsoft.com/office/drawing/2014/main" val="2527660299"/>
                    </a:ext>
                  </a:extLst>
                </a:gridCol>
                <a:gridCol w="405038">
                  <a:extLst>
                    <a:ext uri="{9D8B030D-6E8A-4147-A177-3AD203B41FA5}">
                      <a16:colId xmlns:a16="http://schemas.microsoft.com/office/drawing/2014/main" val="3641075278"/>
                    </a:ext>
                  </a:extLst>
                </a:gridCol>
                <a:gridCol w="327695">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7" name="表格 6">
            <a:extLst>
              <a:ext uri="{FF2B5EF4-FFF2-40B4-BE49-F238E27FC236}">
                <a16:creationId xmlns:a16="http://schemas.microsoft.com/office/drawing/2014/main" id="{2348AC76-3CCC-6B1B-095C-EAA4C80F5528}"/>
              </a:ext>
            </a:extLst>
          </p:cNvPr>
          <p:cNvGraphicFramePr>
            <a:graphicFrameLocks noGrp="1"/>
          </p:cNvGraphicFramePr>
          <p:nvPr>
            <p:extLst>
              <p:ext uri="{D42A27DB-BD31-4B8C-83A1-F6EECF244321}">
                <p14:modId xmlns:p14="http://schemas.microsoft.com/office/powerpoint/2010/main" val="2205181311"/>
              </p:ext>
            </p:extLst>
          </p:nvPr>
        </p:nvGraphicFramePr>
        <p:xfrm>
          <a:off x="257731" y="1971083"/>
          <a:ext cx="5838269" cy="1143743"/>
        </p:xfrm>
        <a:graphic>
          <a:graphicData uri="http://schemas.openxmlformats.org/drawingml/2006/table">
            <a:tbl>
              <a:tblPr/>
              <a:tblGrid>
                <a:gridCol w="460281">
                  <a:extLst>
                    <a:ext uri="{9D8B030D-6E8A-4147-A177-3AD203B41FA5}">
                      <a16:colId xmlns:a16="http://schemas.microsoft.com/office/drawing/2014/main" val="495084399"/>
                    </a:ext>
                  </a:extLst>
                </a:gridCol>
                <a:gridCol w="255094">
                  <a:extLst>
                    <a:ext uri="{9D8B030D-6E8A-4147-A177-3AD203B41FA5}">
                      <a16:colId xmlns:a16="http://schemas.microsoft.com/office/drawing/2014/main" val="3614210242"/>
                    </a:ext>
                  </a:extLst>
                </a:gridCol>
                <a:gridCol w="628256">
                  <a:extLst>
                    <a:ext uri="{9D8B030D-6E8A-4147-A177-3AD203B41FA5}">
                      <a16:colId xmlns:a16="http://schemas.microsoft.com/office/drawing/2014/main" val="1442124609"/>
                    </a:ext>
                  </a:extLst>
                </a:gridCol>
                <a:gridCol w="1997780">
                  <a:extLst>
                    <a:ext uri="{9D8B030D-6E8A-4147-A177-3AD203B41FA5}">
                      <a16:colId xmlns:a16="http://schemas.microsoft.com/office/drawing/2014/main" val="3603859997"/>
                    </a:ext>
                  </a:extLst>
                </a:gridCol>
                <a:gridCol w="375533">
                  <a:extLst>
                    <a:ext uri="{9D8B030D-6E8A-4147-A177-3AD203B41FA5}">
                      <a16:colId xmlns:a16="http://schemas.microsoft.com/office/drawing/2014/main" val="4076488391"/>
                    </a:ext>
                  </a:extLst>
                </a:gridCol>
                <a:gridCol w="384248">
                  <a:extLst>
                    <a:ext uri="{9D8B030D-6E8A-4147-A177-3AD203B41FA5}">
                      <a16:colId xmlns:a16="http://schemas.microsoft.com/office/drawing/2014/main" val="3254101706"/>
                    </a:ext>
                  </a:extLst>
                </a:gridCol>
                <a:gridCol w="389769">
                  <a:extLst>
                    <a:ext uri="{9D8B030D-6E8A-4147-A177-3AD203B41FA5}">
                      <a16:colId xmlns:a16="http://schemas.microsoft.com/office/drawing/2014/main" val="3712391277"/>
                    </a:ext>
                  </a:extLst>
                </a:gridCol>
                <a:gridCol w="289541">
                  <a:extLst>
                    <a:ext uri="{9D8B030D-6E8A-4147-A177-3AD203B41FA5}">
                      <a16:colId xmlns:a16="http://schemas.microsoft.com/office/drawing/2014/main" val="1686727992"/>
                    </a:ext>
                  </a:extLst>
                </a:gridCol>
                <a:gridCol w="289541">
                  <a:extLst>
                    <a:ext uri="{9D8B030D-6E8A-4147-A177-3AD203B41FA5}">
                      <a16:colId xmlns:a16="http://schemas.microsoft.com/office/drawing/2014/main" val="2527660299"/>
                    </a:ext>
                  </a:extLst>
                </a:gridCol>
                <a:gridCol w="434313">
                  <a:extLst>
                    <a:ext uri="{9D8B030D-6E8A-4147-A177-3AD203B41FA5}">
                      <a16:colId xmlns:a16="http://schemas.microsoft.com/office/drawing/2014/main" val="3641075278"/>
                    </a:ext>
                  </a:extLst>
                </a:gridCol>
                <a:gridCol w="333913">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76113988"/>
                  </a:ext>
                </a:extLst>
              </a:tr>
            </a:tbl>
          </a:graphicData>
        </a:graphic>
      </p:graphicFrame>
      <p:graphicFrame>
        <p:nvGraphicFramePr>
          <p:cNvPr id="8" name="表格 7">
            <a:extLst>
              <a:ext uri="{FF2B5EF4-FFF2-40B4-BE49-F238E27FC236}">
                <a16:creationId xmlns:a16="http://schemas.microsoft.com/office/drawing/2014/main" id="{4E553AB7-FE6F-7CEC-8DB9-CB3037F2FD72}"/>
              </a:ext>
            </a:extLst>
          </p:cNvPr>
          <p:cNvGraphicFramePr>
            <a:graphicFrameLocks noGrp="1"/>
          </p:cNvGraphicFramePr>
          <p:nvPr>
            <p:extLst>
              <p:ext uri="{D42A27DB-BD31-4B8C-83A1-F6EECF244321}">
                <p14:modId xmlns:p14="http://schemas.microsoft.com/office/powerpoint/2010/main" val="1925861497"/>
              </p:ext>
            </p:extLst>
          </p:nvPr>
        </p:nvGraphicFramePr>
        <p:xfrm>
          <a:off x="257731" y="511994"/>
          <a:ext cx="5838269" cy="1394460"/>
        </p:xfrm>
        <a:graphic>
          <a:graphicData uri="http://schemas.openxmlformats.org/drawingml/2006/table">
            <a:tbl>
              <a:tblPr firstRow="1" bandRow="1">
                <a:tableStyleId>{3C2FFA5D-87B4-456A-9821-1D502468CF0F}</a:tableStyleId>
              </a:tblPr>
              <a:tblGrid>
                <a:gridCol w="636740">
                  <a:extLst>
                    <a:ext uri="{9D8B030D-6E8A-4147-A177-3AD203B41FA5}">
                      <a16:colId xmlns:a16="http://schemas.microsoft.com/office/drawing/2014/main" val="869603910"/>
                    </a:ext>
                  </a:extLst>
                </a:gridCol>
                <a:gridCol w="691117">
                  <a:extLst>
                    <a:ext uri="{9D8B030D-6E8A-4147-A177-3AD203B41FA5}">
                      <a16:colId xmlns:a16="http://schemas.microsoft.com/office/drawing/2014/main" val="238663902"/>
                    </a:ext>
                  </a:extLst>
                </a:gridCol>
                <a:gridCol w="659218">
                  <a:extLst>
                    <a:ext uri="{9D8B030D-6E8A-4147-A177-3AD203B41FA5}">
                      <a16:colId xmlns:a16="http://schemas.microsoft.com/office/drawing/2014/main" val="4114365151"/>
                    </a:ext>
                  </a:extLst>
                </a:gridCol>
                <a:gridCol w="659219">
                  <a:extLst>
                    <a:ext uri="{9D8B030D-6E8A-4147-A177-3AD203B41FA5}">
                      <a16:colId xmlns:a16="http://schemas.microsoft.com/office/drawing/2014/main" val="4075178046"/>
                    </a:ext>
                  </a:extLst>
                </a:gridCol>
                <a:gridCol w="67938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400573">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88413">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88413">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9" name="表格 8">
            <a:extLst>
              <a:ext uri="{FF2B5EF4-FFF2-40B4-BE49-F238E27FC236}">
                <a16:creationId xmlns:a16="http://schemas.microsoft.com/office/drawing/2014/main" id="{AE86FBAA-49EB-E9BD-BC86-485E0EC8F062}"/>
              </a:ext>
            </a:extLst>
          </p:cNvPr>
          <p:cNvGraphicFramePr>
            <a:graphicFrameLocks noGrp="1"/>
          </p:cNvGraphicFramePr>
          <p:nvPr>
            <p:extLst>
              <p:ext uri="{D42A27DB-BD31-4B8C-83A1-F6EECF244321}">
                <p14:modId xmlns:p14="http://schemas.microsoft.com/office/powerpoint/2010/main" val="4267695087"/>
              </p:ext>
            </p:extLst>
          </p:nvPr>
        </p:nvGraphicFramePr>
        <p:xfrm>
          <a:off x="6210626" y="4511258"/>
          <a:ext cx="5838264" cy="1696178"/>
        </p:xfrm>
        <a:graphic>
          <a:graphicData uri="http://schemas.openxmlformats.org/drawingml/2006/table">
            <a:tbl>
              <a:tblPr/>
              <a:tblGrid>
                <a:gridCol w="432583">
                  <a:extLst>
                    <a:ext uri="{9D8B030D-6E8A-4147-A177-3AD203B41FA5}">
                      <a16:colId xmlns:a16="http://schemas.microsoft.com/office/drawing/2014/main" val="495084399"/>
                    </a:ext>
                  </a:extLst>
                </a:gridCol>
                <a:gridCol w="162096">
                  <a:extLst>
                    <a:ext uri="{9D8B030D-6E8A-4147-A177-3AD203B41FA5}">
                      <a16:colId xmlns:a16="http://schemas.microsoft.com/office/drawing/2014/main" val="3614210242"/>
                    </a:ext>
                  </a:extLst>
                </a:gridCol>
                <a:gridCol w="502061">
                  <a:extLst>
                    <a:ext uri="{9D8B030D-6E8A-4147-A177-3AD203B41FA5}">
                      <a16:colId xmlns:a16="http://schemas.microsoft.com/office/drawing/2014/main" val="1442124609"/>
                    </a:ext>
                  </a:extLst>
                </a:gridCol>
                <a:gridCol w="1952534">
                  <a:extLst>
                    <a:ext uri="{9D8B030D-6E8A-4147-A177-3AD203B41FA5}">
                      <a16:colId xmlns:a16="http://schemas.microsoft.com/office/drawing/2014/main" val="3603859997"/>
                    </a:ext>
                  </a:extLst>
                </a:gridCol>
                <a:gridCol w="394069">
                  <a:extLst>
                    <a:ext uri="{9D8B030D-6E8A-4147-A177-3AD203B41FA5}">
                      <a16:colId xmlns:a16="http://schemas.microsoft.com/office/drawing/2014/main" val="4076488391"/>
                    </a:ext>
                  </a:extLst>
                </a:gridCol>
                <a:gridCol w="394069">
                  <a:extLst>
                    <a:ext uri="{9D8B030D-6E8A-4147-A177-3AD203B41FA5}">
                      <a16:colId xmlns:a16="http://schemas.microsoft.com/office/drawing/2014/main" val="3254101706"/>
                    </a:ext>
                  </a:extLst>
                </a:gridCol>
                <a:gridCol w="372411">
                  <a:extLst>
                    <a:ext uri="{9D8B030D-6E8A-4147-A177-3AD203B41FA5}">
                      <a16:colId xmlns:a16="http://schemas.microsoft.com/office/drawing/2014/main" val="3712391277"/>
                    </a:ext>
                  </a:extLst>
                </a:gridCol>
                <a:gridCol w="607141">
                  <a:extLst>
                    <a:ext uri="{9D8B030D-6E8A-4147-A177-3AD203B41FA5}">
                      <a16:colId xmlns:a16="http://schemas.microsoft.com/office/drawing/2014/main" val="3068934244"/>
                    </a:ext>
                  </a:extLst>
                </a:gridCol>
                <a:gridCol w="281128">
                  <a:extLst>
                    <a:ext uri="{9D8B030D-6E8A-4147-A177-3AD203B41FA5}">
                      <a16:colId xmlns:a16="http://schemas.microsoft.com/office/drawing/2014/main" val="2527660299"/>
                    </a:ext>
                  </a:extLst>
                </a:gridCol>
                <a:gridCol w="385480">
                  <a:extLst>
                    <a:ext uri="{9D8B030D-6E8A-4147-A177-3AD203B41FA5}">
                      <a16:colId xmlns:a16="http://schemas.microsoft.com/office/drawing/2014/main" val="3641075278"/>
                    </a:ext>
                  </a:extLst>
                </a:gridCol>
                <a:gridCol w="354692">
                  <a:extLst>
                    <a:ext uri="{9D8B030D-6E8A-4147-A177-3AD203B41FA5}">
                      <a16:colId xmlns:a16="http://schemas.microsoft.com/office/drawing/2014/main" val="3618613915"/>
                    </a:ext>
                  </a:extLst>
                </a:gridCol>
              </a:tblGrid>
              <a:tr h="183914">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928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HW portion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HW portion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89059500"/>
                  </a:ext>
                </a:extLst>
              </a:tr>
              <a:tr h="22537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00407878"/>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10" name="表格 9">
            <a:extLst>
              <a:ext uri="{FF2B5EF4-FFF2-40B4-BE49-F238E27FC236}">
                <a16:creationId xmlns:a16="http://schemas.microsoft.com/office/drawing/2014/main" id="{B0BCCCAB-E0C1-A4AD-F313-772DA64268A6}"/>
              </a:ext>
            </a:extLst>
          </p:cNvPr>
          <p:cNvGraphicFramePr>
            <a:graphicFrameLocks noGrp="1"/>
          </p:cNvGraphicFramePr>
          <p:nvPr>
            <p:extLst>
              <p:ext uri="{D42A27DB-BD31-4B8C-83A1-F6EECF244321}">
                <p14:modId xmlns:p14="http://schemas.microsoft.com/office/powerpoint/2010/main" val="1389252183"/>
              </p:ext>
            </p:extLst>
          </p:nvPr>
        </p:nvGraphicFramePr>
        <p:xfrm>
          <a:off x="257731" y="3429000"/>
          <a:ext cx="5838267" cy="946970"/>
        </p:xfrm>
        <a:graphic>
          <a:graphicData uri="http://schemas.openxmlformats.org/drawingml/2006/table">
            <a:tbl>
              <a:tblPr/>
              <a:tblGrid>
                <a:gridCol w="437916">
                  <a:extLst>
                    <a:ext uri="{9D8B030D-6E8A-4147-A177-3AD203B41FA5}">
                      <a16:colId xmlns:a16="http://schemas.microsoft.com/office/drawing/2014/main" val="495084399"/>
                    </a:ext>
                  </a:extLst>
                </a:gridCol>
                <a:gridCol w="275472">
                  <a:extLst>
                    <a:ext uri="{9D8B030D-6E8A-4147-A177-3AD203B41FA5}">
                      <a16:colId xmlns:a16="http://schemas.microsoft.com/office/drawing/2014/main" val="3614210242"/>
                    </a:ext>
                  </a:extLst>
                </a:gridCol>
                <a:gridCol w="655588">
                  <a:extLst>
                    <a:ext uri="{9D8B030D-6E8A-4147-A177-3AD203B41FA5}">
                      <a16:colId xmlns:a16="http://schemas.microsoft.com/office/drawing/2014/main" val="1442124609"/>
                    </a:ext>
                  </a:extLst>
                </a:gridCol>
                <a:gridCol w="1935379">
                  <a:extLst>
                    <a:ext uri="{9D8B030D-6E8A-4147-A177-3AD203B41FA5}">
                      <a16:colId xmlns:a16="http://schemas.microsoft.com/office/drawing/2014/main" val="3603859997"/>
                    </a:ext>
                  </a:extLst>
                </a:gridCol>
                <a:gridCol w="399146">
                  <a:extLst>
                    <a:ext uri="{9D8B030D-6E8A-4147-A177-3AD203B41FA5}">
                      <a16:colId xmlns:a16="http://schemas.microsoft.com/office/drawing/2014/main" val="4076488391"/>
                    </a:ext>
                  </a:extLst>
                </a:gridCol>
                <a:gridCol w="399146">
                  <a:extLst>
                    <a:ext uri="{9D8B030D-6E8A-4147-A177-3AD203B41FA5}">
                      <a16:colId xmlns:a16="http://schemas.microsoft.com/office/drawing/2014/main" val="3254101706"/>
                    </a:ext>
                  </a:extLst>
                </a:gridCol>
                <a:gridCol w="320098">
                  <a:extLst>
                    <a:ext uri="{9D8B030D-6E8A-4147-A177-3AD203B41FA5}">
                      <a16:colId xmlns:a16="http://schemas.microsoft.com/office/drawing/2014/main" val="3712391277"/>
                    </a:ext>
                  </a:extLst>
                </a:gridCol>
                <a:gridCol w="313666">
                  <a:extLst>
                    <a:ext uri="{9D8B030D-6E8A-4147-A177-3AD203B41FA5}">
                      <a16:colId xmlns:a16="http://schemas.microsoft.com/office/drawing/2014/main" val="2728947310"/>
                    </a:ext>
                  </a:extLst>
                </a:gridCol>
                <a:gridCol w="313666">
                  <a:extLst>
                    <a:ext uri="{9D8B030D-6E8A-4147-A177-3AD203B41FA5}">
                      <a16:colId xmlns:a16="http://schemas.microsoft.com/office/drawing/2014/main" val="2527660299"/>
                    </a:ext>
                  </a:extLst>
                </a:gridCol>
                <a:gridCol w="451890">
                  <a:extLst>
                    <a:ext uri="{9D8B030D-6E8A-4147-A177-3AD203B41FA5}">
                      <a16:colId xmlns:a16="http://schemas.microsoft.com/office/drawing/2014/main" val="3641075278"/>
                    </a:ext>
                  </a:extLst>
                </a:gridCol>
                <a:gridCol w="336300">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102870" indent="0" algn="l" defTabSz="1218987" rtl="0" eaLnBrk="1" fontAlgn="b" latinLnBrk="0" hangingPunct="1">
                        <a:buFont typeface="Arial" panose="020B0604020202020204" pitchFamily="34" charset="0"/>
                        <a:buNone/>
                      </a:pPr>
                      <a:r>
                        <a:rPr lang="en-US" altLang="zh-CN" sz="900" b="1" u="none" strike="noStrike" kern="1200" baseline="0">
                          <a:solidFill>
                            <a:schemeClr val="lt1"/>
                          </a:solidFill>
                          <a:effectLst/>
                          <a:latin typeface="+mn-lt"/>
                          <a:ea typeface="+mn-ea"/>
                          <a:cs typeface="+mn-cs"/>
                        </a:rPr>
                        <a:t>Recognition of Revenue &amp; Cost of EL Performed Service now paid by Customer</a:t>
                      </a:r>
                      <a:endParaRPr lang="en-US" altLang="zh-CN" sz="900" b="1" u="none" strike="noStrike" kern="1200">
                        <a:solidFill>
                          <a:schemeClr val="lt1"/>
                        </a:solidFill>
                        <a:effectLst/>
                        <a:latin typeface="+mn-lt"/>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2" name="表格 1">
            <a:extLst>
              <a:ext uri="{FF2B5EF4-FFF2-40B4-BE49-F238E27FC236}">
                <a16:creationId xmlns:a16="http://schemas.microsoft.com/office/drawing/2014/main" id="{3710C6D4-688D-D7BD-11A0-1E05FA77EED1}"/>
              </a:ext>
            </a:extLst>
          </p:cNvPr>
          <p:cNvGraphicFramePr>
            <a:graphicFrameLocks noGrp="1"/>
          </p:cNvGraphicFramePr>
          <p:nvPr>
            <p:extLst>
              <p:ext uri="{D42A27DB-BD31-4B8C-83A1-F6EECF244321}">
                <p14:modId xmlns:p14="http://schemas.microsoft.com/office/powerpoint/2010/main" val="433312329"/>
              </p:ext>
            </p:extLst>
          </p:nvPr>
        </p:nvGraphicFramePr>
        <p:xfrm>
          <a:off x="6201100" y="290184"/>
          <a:ext cx="5960393" cy="2586889"/>
        </p:xfrm>
        <a:graphic>
          <a:graphicData uri="http://schemas.openxmlformats.org/drawingml/2006/table">
            <a:tbl>
              <a:tblPr/>
              <a:tblGrid>
                <a:gridCol w="440413">
                  <a:extLst>
                    <a:ext uri="{9D8B030D-6E8A-4147-A177-3AD203B41FA5}">
                      <a16:colId xmlns:a16="http://schemas.microsoft.com/office/drawing/2014/main" val="495084399"/>
                    </a:ext>
                  </a:extLst>
                </a:gridCol>
                <a:gridCol w="234961">
                  <a:extLst>
                    <a:ext uri="{9D8B030D-6E8A-4147-A177-3AD203B41FA5}">
                      <a16:colId xmlns:a16="http://schemas.microsoft.com/office/drawing/2014/main" val="3614210242"/>
                    </a:ext>
                  </a:extLst>
                </a:gridCol>
                <a:gridCol w="551037">
                  <a:extLst>
                    <a:ext uri="{9D8B030D-6E8A-4147-A177-3AD203B41FA5}">
                      <a16:colId xmlns:a16="http://schemas.microsoft.com/office/drawing/2014/main" val="1442124609"/>
                    </a:ext>
                  </a:extLst>
                </a:gridCol>
                <a:gridCol w="2049105">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05548">
                  <a:extLst>
                    <a:ext uri="{9D8B030D-6E8A-4147-A177-3AD203B41FA5}">
                      <a16:colId xmlns:a16="http://schemas.microsoft.com/office/drawing/2014/main" val="3254101706"/>
                    </a:ext>
                  </a:extLst>
                </a:gridCol>
                <a:gridCol w="340059">
                  <a:extLst>
                    <a:ext uri="{9D8B030D-6E8A-4147-A177-3AD203B41FA5}">
                      <a16:colId xmlns:a16="http://schemas.microsoft.com/office/drawing/2014/main" val="3712391277"/>
                    </a:ext>
                  </a:extLst>
                </a:gridCol>
                <a:gridCol w="595497">
                  <a:extLst>
                    <a:ext uri="{9D8B030D-6E8A-4147-A177-3AD203B41FA5}">
                      <a16:colId xmlns:a16="http://schemas.microsoft.com/office/drawing/2014/main" val="3103572076"/>
                    </a:ext>
                  </a:extLst>
                </a:gridCol>
                <a:gridCol w="275736">
                  <a:extLst>
                    <a:ext uri="{9D8B030D-6E8A-4147-A177-3AD203B41FA5}">
                      <a16:colId xmlns:a16="http://schemas.microsoft.com/office/drawing/2014/main" val="2527660299"/>
                    </a:ext>
                  </a:extLst>
                </a:gridCol>
                <a:gridCol w="379823">
                  <a:extLst>
                    <a:ext uri="{9D8B030D-6E8A-4147-A177-3AD203B41FA5}">
                      <a16:colId xmlns:a16="http://schemas.microsoft.com/office/drawing/2014/main" val="3641075278"/>
                    </a:ext>
                  </a:extLst>
                </a:gridCol>
                <a:gridCol w="282666">
                  <a:extLst>
                    <a:ext uri="{9D8B030D-6E8A-4147-A177-3AD203B41FA5}">
                      <a16:colId xmlns:a16="http://schemas.microsoft.com/office/drawing/2014/main" val="3618613915"/>
                    </a:ext>
                  </a:extLst>
                </a:gridCol>
              </a:tblGrid>
              <a:tr h="178829">
                <a:tc rowSpan="12">
                  <a:txBody>
                    <a:bodyPr/>
                    <a:lstStyle/>
                    <a:p>
                      <a:pPr algn="ctr" fontAlgn="base">
                        <a:lnSpc>
                          <a:spcPts val="1425"/>
                        </a:lnSpc>
                        <a:buNone/>
                      </a:pPr>
                      <a:r>
                        <a:rPr lang="en-US" sz="1100" b="1" i="0">
                          <a:solidFill>
                            <a:srgbClr val="FFFFFF"/>
                          </a:solidFill>
                          <a:effectLst/>
                        </a:rPr>
                        <a:t>NL11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ET Invoice issued to customer </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139.3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139.3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 Outstanding PMT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 - RV</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76226163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for No Device return)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4312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3370528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Premier(Funded)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8156063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 – Premier 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bl>
          </a:graphicData>
        </a:graphic>
      </p:graphicFrame>
      <p:sp>
        <p:nvSpPr>
          <p:cNvPr id="3" name="对话气泡: 矩形 11">
            <a:extLst>
              <a:ext uri="{FF2B5EF4-FFF2-40B4-BE49-F238E27FC236}">
                <a16:creationId xmlns:a16="http://schemas.microsoft.com/office/drawing/2014/main" id="{F8A70788-9D12-18F8-9434-357A981B8BB3}"/>
              </a:ext>
            </a:extLst>
          </p:cNvPr>
          <p:cNvSpPr/>
          <p:nvPr/>
        </p:nvSpPr>
        <p:spPr>
          <a:xfrm>
            <a:off x="12337878" y="2291249"/>
            <a:ext cx="1307455" cy="1941861"/>
          </a:xfrm>
          <a:prstGeom prst="wedgeRectCallout">
            <a:avLst>
              <a:gd name="adj1" fmla="val -90458"/>
              <a:gd name="adj2" fmla="val -103643"/>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sp>
        <p:nvSpPr>
          <p:cNvPr id="4" name="矩形 3">
            <a:extLst>
              <a:ext uri="{FF2B5EF4-FFF2-40B4-BE49-F238E27FC236}">
                <a16:creationId xmlns:a16="http://schemas.microsoft.com/office/drawing/2014/main" id="{C17DE39C-4CEF-90E8-2C5B-AB4E84EC116A}"/>
              </a:ext>
            </a:extLst>
          </p:cNvPr>
          <p:cNvSpPr/>
          <p:nvPr/>
        </p:nvSpPr>
        <p:spPr>
          <a:xfrm>
            <a:off x="6210625" y="4511258"/>
            <a:ext cx="5811585" cy="1696178"/>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5" name="对话气泡: 矩形 11">
            <a:extLst>
              <a:ext uri="{FF2B5EF4-FFF2-40B4-BE49-F238E27FC236}">
                <a16:creationId xmlns:a16="http://schemas.microsoft.com/office/drawing/2014/main" id="{8A09919C-FF65-E67E-66B6-59F0C0E43D8A}"/>
              </a:ext>
            </a:extLst>
          </p:cNvPr>
          <p:cNvSpPr/>
          <p:nvPr/>
        </p:nvSpPr>
        <p:spPr>
          <a:xfrm>
            <a:off x="-1505810" y="4748369"/>
            <a:ext cx="1307455" cy="1941861"/>
          </a:xfrm>
          <a:prstGeom prst="wedgeRectCallout">
            <a:avLst>
              <a:gd name="adj1" fmla="val 109232"/>
              <a:gd name="adj2" fmla="val -13855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Interco billing, ARS was recognized as service since one-off billing(which was different from BRIM,)</a:t>
            </a:r>
          </a:p>
        </p:txBody>
      </p:sp>
      <p:sp>
        <p:nvSpPr>
          <p:cNvPr id="11" name="矩形 10">
            <a:extLst>
              <a:ext uri="{FF2B5EF4-FFF2-40B4-BE49-F238E27FC236}">
                <a16:creationId xmlns:a16="http://schemas.microsoft.com/office/drawing/2014/main" id="{8ED9BE68-00E7-36C9-E840-184592D64CF9}"/>
              </a:ext>
            </a:extLst>
          </p:cNvPr>
          <p:cNvSpPr/>
          <p:nvPr/>
        </p:nvSpPr>
        <p:spPr>
          <a:xfrm>
            <a:off x="271071" y="3429000"/>
            <a:ext cx="5811585" cy="946970"/>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Tree>
    <p:extLst>
      <p:ext uri="{BB962C8B-B14F-4D97-AF65-F5344CB8AC3E}">
        <p14:creationId xmlns:p14="http://schemas.microsoft.com/office/powerpoint/2010/main" val="10069857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70BFE7-94D4-7F28-B5B3-E578E1A3C7E3}"/>
            </a:ext>
          </a:extLst>
        </p:cNvPr>
        <p:cNvGrpSpPr/>
        <p:nvPr/>
      </p:nvGrpSpPr>
      <p:grpSpPr>
        <a:xfrm>
          <a:off x="0" y="0"/>
          <a:ext cx="0" cy="0"/>
          <a:chOff x="0" y="0"/>
          <a:chExt cx="0" cy="0"/>
        </a:xfrm>
      </p:grpSpPr>
      <p:sp>
        <p:nvSpPr>
          <p:cNvPr id="33" name="文本框 32">
            <a:extLst>
              <a:ext uri="{FF2B5EF4-FFF2-40B4-BE49-F238E27FC236}">
                <a16:creationId xmlns:a16="http://schemas.microsoft.com/office/drawing/2014/main" id="{AC3F56D0-03CD-A0A6-AD76-F045CC3AC51A}"/>
              </a:ext>
            </a:extLst>
          </p:cNvPr>
          <p:cNvSpPr txBox="1"/>
          <p:nvPr/>
        </p:nvSpPr>
        <p:spPr>
          <a:xfrm>
            <a:off x="143235" y="47255"/>
            <a:ext cx="4470947" cy="400110"/>
          </a:xfrm>
          <a:prstGeom prst="rect">
            <a:avLst/>
          </a:prstGeom>
          <a:noFill/>
        </p:spPr>
        <p:txBody>
          <a:bodyPr wrap="square" rtlCol="0">
            <a:spAutoFit/>
          </a:bodyPr>
          <a:lstStyle/>
          <a:p>
            <a:r>
              <a:rPr lang="nl-NL" altLang="zh-CN" sz="2000" b="1"/>
              <a:t>DaaS_AFE HUB_MSA</a:t>
            </a:r>
            <a:endParaRPr lang="zh-CN" altLang="en-US" sz="2000" b="1"/>
          </a:p>
        </p:txBody>
      </p:sp>
      <p:graphicFrame>
        <p:nvGraphicFramePr>
          <p:cNvPr id="39" name="表格 38">
            <a:extLst>
              <a:ext uri="{FF2B5EF4-FFF2-40B4-BE49-F238E27FC236}">
                <a16:creationId xmlns:a16="http://schemas.microsoft.com/office/drawing/2014/main" id="{3A20AE21-BF02-434D-9B4E-98EA9D688536}"/>
              </a:ext>
            </a:extLst>
          </p:cNvPr>
          <p:cNvGraphicFramePr>
            <a:graphicFrameLocks noGrp="1"/>
          </p:cNvGraphicFramePr>
          <p:nvPr>
            <p:extLst>
              <p:ext uri="{D42A27DB-BD31-4B8C-83A1-F6EECF244321}">
                <p14:modId xmlns:p14="http://schemas.microsoft.com/office/powerpoint/2010/main" val="560345146"/>
              </p:ext>
            </p:extLst>
          </p:nvPr>
        </p:nvGraphicFramePr>
        <p:xfrm>
          <a:off x="180249" y="1664360"/>
          <a:ext cx="5848244" cy="2577484"/>
        </p:xfrm>
        <a:graphic>
          <a:graphicData uri="http://schemas.openxmlformats.org/drawingml/2006/table">
            <a:tbl>
              <a:tblPr/>
              <a:tblGrid>
                <a:gridCol w="437298">
                  <a:extLst>
                    <a:ext uri="{9D8B030D-6E8A-4147-A177-3AD203B41FA5}">
                      <a16:colId xmlns:a16="http://schemas.microsoft.com/office/drawing/2014/main" val="495084399"/>
                    </a:ext>
                  </a:extLst>
                </a:gridCol>
                <a:gridCol w="240450">
                  <a:extLst>
                    <a:ext uri="{9D8B030D-6E8A-4147-A177-3AD203B41FA5}">
                      <a16:colId xmlns:a16="http://schemas.microsoft.com/office/drawing/2014/main" val="3614210242"/>
                    </a:ext>
                  </a:extLst>
                </a:gridCol>
                <a:gridCol w="547941">
                  <a:extLst>
                    <a:ext uri="{9D8B030D-6E8A-4147-A177-3AD203B41FA5}">
                      <a16:colId xmlns:a16="http://schemas.microsoft.com/office/drawing/2014/main" val="1442124609"/>
                    </a:ext>
                  </a:extLst>
                </a:gridCol>
                <a:gridCol w="2187524">
                  <a:extLst>
                    <a:ext uri="{9D8B030D-6E8A-4147-A177-3AD203B41FA5}">
                      <a16:colId xmlns:a16="http://schemas.microsoft.com/office/drawing/2014/main" val="3603859997"/>
                    </a:ext>
                  </a:extLst>
                </a:gridCol>
                <a:gridCol w="348400">
                  <a:extLst>
                    <a:ext uri="{9D8B030D-6E8A-4147-A177-3AD203B41FA5}">
                      <a16:colId xmlns:a16="http://schemas.microsoft.com/office/drawing/2014/main" val="4076488391"/>
                    </a:ext>
                  </a:extLst>
                </a:gridCol>
                <a:gridCol w="333608">
                  <a:extLst>
                    <a:ext uri="{9D8B030D-6E8A-4147-A177-3AD203B41FA5}">
                      <a16:colId xmlns:a16="http://schemas.microsoft.com/office/drawing/2014/main" val="3254101706"/>
                    </a:ext>
                  </a:extLst>
                </a:gridCol>
                <a:gridCol w="279399">
                  <a:extLst>
                    <a:ext uri="{9D8B030D-6E8A-4147-A177-3AD203B41FA5}">
                      <a16:colId xmlns:a16="http://schemas.microsoft.com/office/drawing/2014/main" val="3712391277"/>
                    </a:ext>
                  </a:extLst>
                </a:gridCol>
                <a:gridCol w="591287">
                  <a:extLst>
                    <a:ext uri="{9D8B030D-6E8A-4147-A177-3AD203B41FA5}">
                      <a16:colId xmlns:a16="http://schemas.microsoft.com/office/drawing/2014/main" val="1875139096"/>
                    </a:ext>
                  </a:extLst>
                </a:gridCol>
                <a:gridCol w="243538">
                  <a:extLst>
                    <a:ext uri="{9D8B030D-6E8A-4147-A177-3AD203B41FA5}">
                      <a16:colId xmlns:a16="http://schemas.microsoft.com/office/drawing/2014/main" val="2527660299"/>
                    </a:ext>
                  </a:extLst>
                </a:gridCol>
                <a:gridCol w="377689">
                  <a:extLst>
                    <a:ext uri="{9D8B030D-6E8A-4147-A177-3AD203B41FA5}">
                      <a16:colId xmlns:a16="http://schemas.microsoft.com/office/drawing/2014/main" val="3641075278"/>
                    </a:ext>
                  </a:extLst>
                </a:gridCol>
                <a:gridCol w="261110">
                  <a:extLst>
                    <a:ext uri="{9D8B030D-6E8A-4147-A177-3AD203B41FA5}">
                      <a16:colId xmlns:a16="http://schemas.microsoft.com/office/drawing/2014/main" val="3618613915"/>
                    </a:ext>
                  </a:extLst>
                </a:gridCol>
              </a:tblGrid>
              <a:tr h="182275">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551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Operating Lease(applicable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9124900"/>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r>
                        <a:rPr lang="en-US" altLang="zh-CN" sz="900" b="0" i="0" u="none" strike="noStrike" kern="1200">
                          <a:solidFill>
                            <a:srgbClr val="000000"/>
                          </a:solidFill>
                          <a:effectLst/>
                          <a:latin typeface="Arial" panose="020B0604020202020204" pitchFamily="34" charset="0"/>
                          <a:ea typeface="+mn-ea"/>
                          <a:cs typeface="+mn-cs"/>
                        </a:rPr>
                        <a:t>(applicable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12643452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265705757"/>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premier(applicable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cxnSp>
        <p:nvCxnSpPr>
          <p:cNvPr id="4" name="直接连接符 3">
            <a:extLst>
              <a:ext uri="{FF2B5EF4-FFF2-40B4-BE49-F238E27FC236}">
                <a16:creationId xmlns:a16="http://schemas.microsoft.com/office/drawing/2014/main" id="{564657A9-23DA-B6C5-6992-2FC64B945B1F}"/>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2" name="表格 1">
            <a:extLst>
              <a:ext uri="{FF2B5EF4-FFF2-40B4-BE49-F238E27FC236}">
                <a16:creationId xmlns:a16="http://schemas.microsoft.com/office/drawing/2014/main" id="{D56678B4-B477-2B93-C9C3-91E382C853F3}"/>
              </a:ext>
            </a:extLst>
          </p:cNvPr>
          <p:cNvGraphicFramePr>
            <a:graphicFrameLocks noGrp="1"/>
          </p:cNvGraphicFramePr>
          <p:nvPr/>
        </p:nvGraphicFramePr>
        <p:xfrm>
          <a:off x="185237" y="443011"/>
          <a:ext cx="5838269" cy="1240612"/>
        </p:xfrm>
        <a:graphic>
          <a:graphicData uri="http://schemas.openxmlformats.org/drawingml/2006/table">
            <a:tbl>
              <a:tblPr firstRow="1" bandRow="1">
                <a:tableStyleId>{3C2FFA5D-87B4-456A-9821-1D502468CF0F}</a:tableStyleId>
              </a:tblPr>
              <a:tblGrid>
                <a:gridCol w="676206">
                  <a:extLst>
                    <a:ext uri="{9D8B030D-6E8A-4147-A177-3AD203B41FA5}">
                      <a16:colId xmlns:a16="http://schemas.microsoft.com/office/drawing/2014/main" val="869603910"/>
                    </a:ext>
                  </a:extLst>
                </a:gridCol>
                <a:gridCol w="600695">
                  <a:extLst>
                    <a:ext uri="{9D8B030D-6E8A-4147-A177-3AD203B41FA5}">
                      <a16:colId xmlns:a16="http://schemas.microsoft.com/office/drawing/2014/main" val="238663902"/>
                    </a:ext>
                  </a:extLst>
                </a:gridCol>
                <a:gridCol w="616475">
                  <a:extLst>
                    <a:ext uri="{9D8B030D-6E8A-4147-A177-3AD203B41FA5}">
                      <a16:colId xmlns:a16="http://schemas.microsoft.com/office/drawing/2014/main" val="4114365151"/>
                    </a:ext>
                  </a:extLst>
                </a:gridCol>
                <a:gridCol w="649158">
                  <a:extLst>
                    <a:ext uri="{9D8B030D-6E8A-4147-A177-3AD203B41FA5}">
                      <a16:colId xmlns:a16="http://schemas.microsoft.com/office/drawing/2014/main" val="4075178046"/>
                    </a:ext>
                  </a:extLst>
                </a:gridCol>
                <a:gridCol w="78314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Flex pause/</a:t>
                      </a:r>
                      <a:r>
                        <a:rPr lang="en-US" altLang="zh-CN" sz="1050" err="1">
                          <a:solidFill>
                            <a:sysClr val="windowText" lastClr="000000"/>
                          </a:solidFill>
                        </a:rPr>
                        <a:t>unpause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Flex Down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3" name="表格 2">
            <a:extLst>
              <a:ext uri="{FF2B5EF4-FFF2-40B4-BE49-F238E27FC236}">
                <a16:creationId xmlns:a16="http://schemas.microsoft.com/office/drawing/2014/main" id="{DF17FFF1-5DD0-74AB-7D7A-609CD6C0F472}"/>
              </a:ext>
            </a:extLst>
          </p:cNvPr>
          <p:cNvGraphicFramePr>
            <a:graphicFrameLocks noGrp="1"/>
          </p:cNvGraphicFramePr>
          <p:nvPr/>
        </p:nvGraphicFramePr>
        <p:xfrm>
          <a:off x="6198407" y="569804"/>
          <a:ext cx="5838269" cy="1240612"/>
        </p:xfrm>
        <a:graphic>
          <a:graphicData uri="http://schemas.openxmlformats.org/drawingml/2006/table">
            <a:tbl>
              <a:tblPr firstRow="1" bandRow="1">
                <a:tableStyleId>{3C2FFA5D-87B4-456A-9821-1D502468CF0F}</a:tableStyleId>
              </a:tblPr>
              <a:tblGrid>
                <a:gridCol w="636740">
                  <a:extLst>
                    <a:ext uri="{9D8B030D-6E8A-4147-A177-3AD203B41FA5}">
                      <a16:colId xmlns:a16="http://schemas.microsoft.com/office/drawing/2014/main" val="869603910"/>
                    </a:ext>
                  </a:extLst>
                </a:gridCol>
                <a:gridCol w="691117">
                  <a:extLst>
                    <a:ext uri="{9D8B030D-6E8A-4147-A177-3AD203B41FA5}">
                      <a16:colId xmlns:a16="http://schemas.microsoft.com/office/drawing/2014/main" val="238663902"/>
                    </a:ext>
                  </a:extLst>
                </a:gridCol>
                <a:gridCol w="627321">
                  <a:extLst>
                    <a:ext uri="{9D8B030D-6E8A-4147-A177-3AD203B41FA5}">
                      <a16:colId xmlns:a16="http://schemas.microsoft.com/office/drawing/2014/main" val="4114365151"/>
                    </a:ext>
                  </a:extLst>
                </a:gridCol>
                <a:gridCol w="648586">
                  <a:extLst>
                    <a:ext uri="{9D8B030D-6E8A-4147-A177-3AD203B41FA5}">
                      <a16:colId xmlns:a16="http://schemas.microsoft.com/office/drawing/2014/main" val="4075178046"/>
                    </a:ext>
                  </a:extLst>
                </a:gridCol>
                <a:gridCol w="72191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Flex pause/</a:t>
                      </a:r>
                      <a:r>
                        <a:rPr lang="en-US" altLang="zh-CN" sz="1050" err="1">
                          <a:solidFill>
                            <a:sysClr val="windowText" lastClr="000000"/>
                          </a:solidFill>
                        </a:rPr>
                        <a:t>unpause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Flex Down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5" name="表格 4">
            <a:extLst>
              <a:ext uri="{FF2B5EF4-FFF2-40B4-BE49-F238E27FC236}">
                <a16:creationId xmlns:a16="http://schemas.microsoft.com/office/drawing/2014/main" id="{6B0F5088-EC73-094A-E3F3-C78118AE1FDB}"/>
              </a:ext>
            </a:extLst>
          </p:cNvPr>
          <p:cNvGraphicFramePr>
            <a:graphicFrameLocks noGrp="1"/>
          </p:cNvGraphicFramePr>
          <p:nvPr>
            <p:extLst>
              <p:ext uri="{D42A27DB-BD31-4B8C-83A1-F6EECF244321}">
                <p14:modId xmlns:p14="http://schemas.microsoft.com/office/powerpoint/2010/main" val="1345883515"/>
              </p:ext>
            </p:extLst>
          </p:nvPr>
        </p:nvGraphicFramePr>
        <p:xfrm>
          <a:off x="167234" y="4241844"/>
          <a:ext cx="5898850" cy="1291762"/>
        </p:xfrm>
        <a:graphic>
          <a:graphicData uri="http://schemas.openxmlformats.org/drawingml/2006/table">
            <a:tbl>
              <a:tblPr/>
              <a:tblGrid>
                <a:gridCol w="437298">
                  <a:extLst>
                    <a:ext uri="{9D8B030D-6E8A-4147-A177-3AD203B41FA5}">
                      <a16:colId xmlns:a16="http://schemas.microsoft.com/office/drawing/2014/main" val="495084399"/>
                    </a:ext>
                  </a:extLst>
                </a:gridCol>
                <a:gridCol w="248386">
                  <a:extLst>
                    <a:ext uri="{9D8B030D-6E8A-4147-A177-3AD203B41FA5}">
                      <a16:colId xmlns:a16="http://schemas.microsoft.com/office/drawing/2014/main" val="3614210242"/>
                    </a:ext>
                  </a:extLst>
                </a:gridCol>
                <a:gridCol w="572523">
                  <a:extLst>
                    <a:ext uri="{9D8B030D-6E8A-4147-A177-3AD203B41FA5}">
                      <a16:colId xmlns:a16="http://schemas.microsoft.com/office/drawing/2014/main" val="1442124609"/>
                    </a:ext>
                  </a:extLst>
                </a:gridCol>
                <a:gridCol w="2349500">
                  <a:extLst>
                    <a:ext uri="{9D8B030D-6E8A-4147-A177-3AD203B41FA5}">
                      <a16:colId xmlns:a16="http://schemas.microsoft.com/office/drawing/2014/main" val="3603859997"/>
                    </a:ext>
                  </a:extLst>
                </a:gridCol>
                <a:gridCol w="286486">
                  <a:extLst>
                    <a:ext uri="{9D8B030D-6E8A-4147-A177-3AD203B41FA5}">
                      <a16:colId xmlns:a16="http://schemas.microsoft.com/office/drawing/2014/main" val="4076488391"/>
                    </a:ext>
                  </a:extLst>
                </a:gridCol>
                <a:gridCol w="405013">
                  <a:extLst>
                    <a:ext uri="{9D8B030D-6E8A-4147-A177-3AD203B41FA5}">
                      <a16:colId xmlns:a16="http://schemas.microsoft.com/office/drawing/2014/main" val="3254101706"/>
                    </a:ext>
                  </a:extLst>
                </a:gridCol>
                <a:gridCol w="374638">
                  <a:extLst>
                    <a:ext uri="{9D8B030D-6E8A-4147-A177-3AD203B41FA5}">
                      <a16:colId xmlns:a16="http://schemas.microsoft.com/office/drawing/2014/main" val="3712391277"/>
                    </a:ext>
                  </a:extLst>
                </a:gridCol>
                <a:gridCol w="273384">
                  <a:extLst>
                    <a:ext uri="{9D8B030D-6E8A-4147-A177-3AD203B41FA5}">
                      <a16:colId xmlns:a16="http://schemas.microsoft.com/office/drawing/2014/main" val="1008187684"/>
                    </a:ext>
                  </a:extLst>
                </a:gridCol>
                <a:gridCol w="273384">
                  <a:extLst>
                    <a:ext uri="{9D8B030D-6E8A-4147-A177-3AD203B41FA5}">
                      <a16:colId xmlns:a16="http://schemas.microsoft.com/office/drawing/2014/main" val="2527660299"/>
                    </a:ext>
                  </a:extLst>
                </a:gridCol>
                <a:gridCol w="354386">
                  <a:extLst>
                    <a:ext uri="{9D8B030D-6E8A-4147-A177-3AD203B41FA5}">
                      <a16:colId xmlns:a16="http://schemas.microsoft.com/office/drawing/2014/main" val="3641075278"/>
                    </a:ext>
                  </a:extLst>
                </a:gridCol>
                <a:gridCol w="323852">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6" name="表格 5">
            <a:extLst>
              <a:ext uri="{FF2B5EF4-FFF2-40B4-BE49-F238E27FC236}">
                <a16:creationId xmlns:a16="http://schemas.microsoft.com/office/drawing/2014/main" id="{9C8E0C3E-66CE-649C-0AC1-F7C642615AAA}"/>
              </a:ext>
            </a:extLst>
          </p:cNvPr>
          <p:cNvGraphicFramePr>
            <a:graphicFrameLocks noGrp="1"/>
          </p:cNvGraphicFramePr>
          <p:nvPr>
            <p:extLst>
              <p:ext uri="{D42A27DB-BD31-4B8C-83A1-F6EECF244321}">
                <p14:modId xmlns:p14="http://schemas.microsoft.com/office/powerpoint/2010/main" val="2618884307"/>
              </p:ext>
            </p:extLst>
          </p:nvPr>
        </p:nvGraphicFramePr>
        <p:xfrm>
          <a:off x="159097" y="5533606"/>
          <a:ext cx="5923424" cy="1143743"/>
        </p:xfrm>
        <a:graphic>
          <a:graphicData uri="http://schemas.openxmlformats.org/drawingml/2006/table">
            <a:tbl>
              <a:tblPr/>
              <a:tblGrid>
                <a:gridCol w="419239">
                  <a:extLst>
                    <a:ext uri="{9D8B030D-6E8A-4147-A177-3AD203B41FA5}">
                      <a16:colId xmlns:a16="http://schemas.microsoft.com/office/drawing/2014/main" val="495084399"/>
                    </a:ext>
                  </a:extLst>
                </a:gridCol>
                <a:gridCol w="2323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45093">
                  <a:extLst>
                    <a:ext uri="{9D8B030D-6E8A-4147-A177-3AD203B41FA5}">
                      <a16:colId xmlns:a16="http://schemas.microsoft.com/office/drawing/2014/main" val="3603859997"/>
                    </a:ext>
                  </a:extLst>
                </a:gridCol>
                <a:gridCol w="456447">
                  <a:extLst>
                    <a:ext uri="{9D8B030D-6E8A-4147-A177-3AD203B41FA5}">
                      <a16:colId xmlns:a16="http://schemas.microsoft.com/office/drawing/2014/main" val="4076488391"/>
                    </a:ext>
                  </a:extLst>
                </a:gridCol>
                <a:gridCol w="415873">
                  <a:extLst>
                    <a:ext uri="{9D8B030D-6E8A-4147-A177-3AD203B41FA5}">
                      <a16:colId xmlns:a16="http://schemas.microsoft.com/office/drawing/2014/main" val="3254101706"/>
                    </a:ext>
                  </a:extLst>
                </a:gridCol>
                <a:gridCol w="355014">
                  <a:extLst>
                    <a:ext uri="{9D8B030D-6E8A-4147-A177-3AD203B41FA5}">
                      <a16:colId xmlns:a16="http://schemas.microsoft.com/office/drawing/2014/main" val="3712391277"/>
                    </a:ext>
                  </a:extLst>
                </a:gridCol>
                <a:gridCol w="263724">
                  <a:extLst>
                    <a:ext uri="{9D8B030D-6E8A-4147-A177-3AD203B41FA5}">
                      <a16:colId xmlns:a16="http://schemas.microsoft.com/office/drawing/2014/main" val="3643425350"/>
                    </a:ext>
                  </a:extLst>
                </a:gridCol>
                <a:gridCol w="263724">
                  <a:extLst>
                    <a:ext uri="{9D8B030D-6E8A-4147-A177-3AD203B41FA5}">
                      <a16:colId xmlns:a16="http://schemas.microsoft.com/office/drawing/2014/main" val="2527660299"/>
                    </a:ext>
                  </a:extLst>
                </a:gridCol>
                <a:gridCol w="395587">
                  <a:extLst>
                    <a:ext uri="{9D8B030D-6E8A-4147-A177-3AD203B41FA5}">
                      <a16:colId xmlns:a16="http://schemas.microsoft.com/office/drawing/2014/main" val="3641075278"/>
                    </a:ext>
                  </a:extLst>
                </a:gridCol>
                <a:gridCol w="304139">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
        <p:nvSpPr>
          <p:cNvPr id="7" name="对话气泡: 矩形 6">
            <a:extLst>
              <a:ext uri="{FF2B5EF4-FFF2-40B4-BE49-F238E27FC236}">
                <a16:creationId xmlns:a16="http://schemas.microsoft.com/office/drawing/2014/main" id="{7921E105-6741-EF6D-F0C4-6D11472D6946}"/>
              </a:ext>
            </a:extLst>
          </p:cNvPr>
          <p:cNvSpPr/>
          <p:nvPr/>
        </p:nvSpPr>
        <p:spPr>
          <a:xfrm>
            <a:off x="-2229294" y="2970084"/>
            <a:ext cx="2229294" cy="4440809"/>
          </a:xfrm>
          <a:prstGeom prst="wedgeRectCallout">
            <a:avLst>
              <a:gd name="adj1" fmla="val 58998"/>
              <a:gd name="adj2" fmla="val -7152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Wingdings" panose="05000000000000000000" pitchFamily="2" charset="2"/>
              <a:buChar char="Ø"/>
            </a:pPr>
            <a:r>
              <a:rPr lang="en-US" altLang="zh-CN" sz="1200">
                <a:solidFill>
                  <a:srgbClr val="FF0000"/>
                </a:solidFill>
              </a:rPr>
              <a:t>Flex will only be applicable for MSA</a:t>
            </a:r>
          </a:p>
          <a:p>
            <a:pPr marL="285750" indent="-285750">
              <a:buFont typeface="Wingdings" panose="05000000000000000000" pitchFamily="2" charset="2"/>
              <a:buChar char="Ø"/>
            </a:pPr>
            <a:r>
              <a:rPr lang="en-US" altLang="zh-CN" sz="1200">
                <a:solidFill>
                  <a:schemeClr val="tx2">
                    <a:lumMod val="75000"/>
                    <a:lumOff val="25000"/>
                  </a:schemeClr>
                </a:solidFill>
              </a:rPr>
              <a:t>Flex Down need to</a:t>
            </a:r>
            <a:r>
              <a:rPr lang="zh-CN" altLang="en-US" sz="1200">
                <a:solidFill>
                  <a:schemeClr val="tx2">
                    <a:lumMod val="75000"/>
                    <a:lumOff val="25000"/>
                  </a:schemeClr>
                </a:solidFill>
              </a:rPr>
              <a:t> </a:t>
            </a:r>
            <a:r>
              <a:rPr lang="en-US" altLang="zh-CN" sz="1200">
                <a:solidFill>
                  <a:schemeClr val="tx2">
                    <a:lumMod val="75000"/>
                    <a:lumOff val="25000"/>
                  </a:schemeClr>
                </a:solidFill>
              </a:rPr>
              <a:t>realize ARS from defer immediately</a:t>
            </a:r>
          </a:p>
          <a:p>
            <a:pPr marL="285750" indent="-285750">
              <a:buFont typeface="Wingdings" panose="05000000000000000000" pitchFamily="2" charset="2"/>
              <a:buChar char="Ø"/>
            </a:pPr>
            <a:r>
              <a:rPr lang="en-US" altLang="zh-CN" sz="1200">
                <a:solidFill>
                  <a:schemeClr val="tx2">
                    <a:lumMod val="75000"/>
                    <a:lumOff val="25000"/>
                  </a:schemeClr>
                </a:solidFill>
              </a:rPr>
              <a:t>Flex pause=Brim will stop billing customer and no accounting entry</a:t>
            </a:r>
          </a:p>
          <a:p>
            <a:pPr marL="285750" indent="-285750">
              <a:buFont typeface="Wingdings" panose="05000000000000000000" pitchFamily="2" charset="2"/>
              <a:buChar char="Ø"/>
            </a:pPr>
            <a:r>
              <a:rPr lang="en-US" altLang="zh-CN" sz="1200">
                <a:solidFill>
                  <a:schemeClr val="tx2">
                    <a:lumMod val="75000"/>
                    <a:lumOff val="25000"/>
                  </a:schemeClr>
                </a:solidFill>
              </a:rPr>
              <a:t>Flex un-pause=Brim will continue to bill customer, entry will be the same to normal pass scenario</a:t>
            </a:r>
          </a:p>
          <a:p>
            <a:pPr marL="285750" indent="-285750">
              <a:buFont typeface="Wingdings" panose="05000000000000000000" pitchFamily="2" charset="2"/>
              <a:buChar char="Ø"/>
            </a:pPr>
            <a:r>
              <a:rPr lang="en-US" altLang="zh-CN" sz="1200">
                <a:solidFill>
                  <a:schemeClr val="tx2">
                    <a:lumMod val="75000"/>
                    <a:lumOff val="25000"/>
                  </a:schemeClr>
                </a:solidFill>
              </a:rPr>
              <a:t>Before Cut Off Date(25</a:t>
            </a:r>
            <a:r>
              <a:rPr lang="en-US" altLang="zh-CN" sz="1200" baseline="30000">
                <a:solidFill>
                  <a:schemeClr val="tx2">
                    <a:lumMod val="75000"/>
                    <a:lumOff val="25000"/>
                  </a:schemeClr>
                </a:solidFill>
              </a:rPr>
              <a:t>th</a:t>
            </a:r>
            <a:r>
              <a:rPr lang="en-US" altLang="zh-CN" sz="1200">
                <a:solidFill>
                  <a:schemeClr val="tx2">
                    <a:lumMod val="75000"/>
                    <a:lumOff val="25000"/>
                  </a:schemeClr>
                </a:solidFill>
              </a:rPr>
              <a:t>) (based on return or lock status),-stop billing customer from next</a:t>
            </a:r>
          </a:p>
          <a:p>
            <a:pPr marL="285750" indent="-285750">
              <a:buFont typeface="Wingdings" panose="05000000000000000000" pitchFamily="2" charset="2"/>
              <a:buChar char="Ø"/>
            </a:pPr>
            <a:r>
              <a:rPr lang="en-US" altLang="zh-CN" sz="1200">
                <a:solidFill>
                  <a:schemeClr val="tx2">
                    <a:lumMod val="75000"/>
                    <a:lumOff val="25000"/>
                  </a:schemeClr>
                </a:solidFill>
              </a:rPr>
              <a:t>After Cut Off Date(25</a:t>
            </a:r>
            <a:r>
              <a:rPr lang="en-US" altLang="zh-CN" sz="1200" baseline="30000">
                <a:solidFill>
                  <a:schemeClr val="tx2">
                    <a:lumMod val="75000"/>
                    <a:lumOff val="25000"/>
                  </a:schemeClr>
                </a:solidFill>
              </a:rPr>
              <a:t>th</a:t>
            </a:r>
            <a:r>
              <a:rPr lang="en-US" altLang="zh-CN" sz="1200">
                <a:solidFill>
                  <a:schemeClr val="tx2">
                    <a:lumMod val="75000"/>
                    <a:lumOff val="25000"/>
                  </a:schemeClr>
                </a:solidFill>
              </a:rPr>
              <a:t>) (based on return or lock status),-stop billing customer from the month after next</a:t>
            </a:r>
          </a:p>
        </p:txBody>
      </p:sp>
      <p:graphicFrame>
        <p:nvGraphicFramePr>
          <p:cNvPr id="8" name="表格 7">
            <a:extLst>
              <a:ext uri="{FF2B5EF4-FFF2-40B4-BE49-F238E27FC236}">
                <a16:creationId xmlns:a16="http://schemas.microsoft.com/office/drawing/2014/main" id="{B10FF5AC-D3CE-E49F-AEA1-D671735283CA}"/>
              </a:ext>
            </a:extLst>
          </p:cNvPr>
          <p:cNvGraphicFramePr>
            <a:graphicFrameLocks noGrp="1"/>
          </p:cNvGraphicFramePr>
          <p:nvPr>
            <p:extLst>
              <p:ext uri="{D42A27DB-BD31-4B8C-83A1-F6EECF244321}">
                <p14:modId xmlns:p14="http://schemas.microsoft.com/office/powerpoint/2010/main" val="3171439185"/>
              </p:ext>
            </p:extLst>
          </p:nvPr>
        </p:nvGraphicFramePr>
        <p:xfrm>
          <a:off x="6188432" y="1809537"/>
          <a:ext cx="5848244" cy="2084420"/>
        </p:xfrm>
        <a:graphic>
          <a:graphicData uri="http://schemas.openxmlformats.org/drawingml/2006/table">
            <a:tbl>
              <a:tblPr/>
              <a:tblGrid>
                <a:gridCol w="437298">
                  <a:extLst>
                    <a:ext uri="{9D8B030D-6E8A-4147-A177-3AD203B41FA5}">
                      <a16:colId xmlns:a16="http://schemas.microsoft.com/office/drawing/2014/main" val="495084399"/>
                    </a:ext>
                  </a:extLst>
                </a:gridCol>
                <a:gridCol w="240450">
                  <a:extLst>
                    <a:ext uri="{9D8B030D-6E8A-4147-A177-3AD203B41FA5}">
                      <a16:colId xmlns:a16="http://schemas.microsoft.com/office/drawing/2014/main" val="3614210242"/>
                    </a:ext>
                  </a:extLst>
                </a:gridCol>
                <a:gridCol w="547941">
                  <a:extLst>
                    <a:ext uri="{9D8B030D-6E8A-4147-A177-3AD203B41FA5}">
                      <a16:colId xmlns:a16="http://schemas.microsoft.com/office/drawing/2014/main" val="1442124609"/>
                    </a:ext>
                  </a:extLst>
                </a:gridCol>
                <a:gridCol w="2187524">
                  <a:extLst>
                    <a:ext uri="{9D8B030D-6E8A-4147-A177-3AD203B41FA5}">
                      <a16:colId xmlns:a16="http://schemas.microsoft.com/office/drawing/2014/main" val="3603859997"/>
                    </a:ext>
                  </a:extLst>
                </a:gridCol>
                <a:gridCol w="348400">
                  <a:extLst>
                    <a:ext uri="{9D8B030D-6E8A-4147-A177-3AD203B41FA5}">
                      <a16:colId xmlns:a16="http://schemas.microsoft.com/office/drawing/2014/main" val="4076488391"/>
                    </a:ext>
                  </a:extLst>
                </a:gridCol>
                <a:gridCol w="333608">
                  <a:extLst>
                    <a:ext uri="{9D8B030D-6E8A-4147-A177-3AD203B41FA5}">
                      <a16:colId xmlns:a16="http://schemas.microsoft.com/office/drawing/2014/main" val="3254101706"/>
                    </a:ext>
                  </a:extLst>
                </a:gridCol>
                <a:gridCol w="279399">
                  <a:extLst>
                    <a:ext uri="{9D8B030D-6E8A-4147-A177-3AD203B41FA5}">
                      <a16:colId xmlns:a16="http://schemas.microsoft.com/office/drawing/2014/main" val="3712391277"/>
                    </a:ext>
                  </a:extLst>
                </a:gridCol>
                <a:gridCol w="591287">
                  <a:extLst>
                    <a:ext uri="{9D8B030D-6E8A-4147-A177-3AD203B41FA5}">
                      <a16:colId xmlns:a16="http://schemas.microsoft.com/office/drawing/2014/main" val="1875139096"/>
                    </a:ext>
                  </a:extLst>
                </a:gridCol>
                <a:gridCol w="243538">
                  <a:extLst>
                    <a:ext uri="{9D8B030D-6E8A-4147-A177-3AD203B41FA5}">
                      <a16:colId xmlns:a16="http://schemas.microsoft.com/office/drawing/2014/main" val="2527660299"/>
                    </a:ext>
                  </a:extLst>
                </a:gridCol>
                <a:gridCol w="377689">
                  <a:extLst>
                    <a:ext uri="{9D8B030D-6E8A-4147-A177-3AD203B41FA5}">
                      <a16:colId xmlns:a16="http://schemas.microsoft.com/office/drawing/2014/main" val="3641075278"/>
                    </a:ext>
                  </a:extLst>
                </a:gridCol>
                <a:gridCol w="261110">
                  <a:extLst>
                    <a:ext uri="{9D8B030D-6E8A-4147-A177-3AD203B41FA5}">
                      <a16:colId xmlns:a16="http://schemas.microsoft.com/office/drawing/2014/main" val="3618613915"/>
                    </a:ext>
                  </a:extLst>
                </a:gridCol>
              </a:tblGrid>
              <a:tr h="182275">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Devices Flex Down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Flex Down Request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551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Finance Lease(applicable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9124900"/>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LTAR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265705757"/>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premier(applicable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9" name="表格 8">
            <a:extLst>
              <a:ext uri="{FF2B5EF4-FFF2-40B4-BE49-F238E27FC236}">
                <a16:creationId xmlns:a16="http://schemas.microsoft.com/office/drawing/2014/main" id="{28C39F63-B3B9-F5B5-0637-9AC7D2C63080}"/>
              </a:ext>
            </a:extLst>
          </p:cNvPr>
          <p:cNvGraphicFramePr>
            <a:graphicFrameLocks noGrp="1"/>
          </p:cNvGraphicFramePr>
          <p:nvPr>
            <p:extLst>
              <p:ext uri="{D42A27DB-BD31-4B8C-83A1-F6EECF244321}">
                <p14:modId xmlns:p14="http://schemas.microsoft.com/office/powerpoint/2010/main" val="597590462"/>
              </p:ext>
            </p:extLst>
          </p:nvPr>
        </p:nvGraphicFramePr>
        <p:xfrm>
          <a:off x="6188432" y="3893957"/>
          <a:ext cx="5898850" cy="1291762"/>
        </p:xfrm>
        <a:graphic>
          <a:graphicData uri="http://schemas.openxmlformats.org/drawingml/2006/table">
            <a:tbl>
              <a:tblPr/>
              <a:tblGrid>
                <a:gridCol w="437298">
                  <a:extLst>
                    <a:ext uri="{9D8B030D-6E8A-4147-A177-3AD203B41FA5}">
                      <a16:colId xmlns:a16="http://schemas.microsoft.com/office/drawing/2014/main" val="495084399"/>
                    </a:ext>
                  </a:extLst>
                </a:gridCol>
                <a:gridCol w="248386">
                  <a:extLst>
                    <a:ext uri="{9D8B030D-6E8A-4147-A177-3AD203B41FA5}">
                      <a16:colId xmlns:a16="http://schemas.microsoft.com/office/drawing/2014/main" val="3614210242"/>
                    </a:ext>
                  </a:extLst>
                </a:gridCol>
                <a:gridCol w="572523">
                  <a:extLst>
                    <a:ext uri="{9D8B030D-6E8A-4147-A177-3AD203B41FA5}">
                      <a16:colId xmlns:a16="http://schemas.microsoft.com/office/drawing/2014/main" val="1442124609"/>
                    </a:ext>
                  </a:extLst>
                </a:gridCol>
                <a:gridCol w="2349500">
                  <a:extLst>
                    <a:ext uri="{9D8B030D-6E8A-4147-A177-3AD203B41FA5}">
                      <a16:colId xmlns:a16="http://schemas.microsoft.com/office/drawing/2014/main" val="3603859997"/>
                    </a:ext>
                  </a:extLst>
                </a:gridCol>
                <a:gridCol w="286486">
                  <a:extLst>
                    <a:ext uri="{9D8B030D-6E8A-4147-A177-3AD203B41FA5}">
                      <a16:colId xmlns:a16="http://schemas.microsoft.com/office/drawing/2014/main" val="4076488391"/>
                    </a:ext>
                  </a:extLst>
                </a:gridCol>
                <a:gridCol w="405013">
                  <a:extLst>
                    <a:ext uri="{9D8B030D-6E8A-4147-A177-3AD203B41FA5}">
                      <a16:colId xmlns:a16="http://schemas.microsoft.com/office/drawing/2014/main" val="3254101706"/>
                    </a:ext>
                  </a:extLst>
                </a:gridCol>
                <a:gridCol w="374638">
                  <a:extLst>
                    <a:ext uri="{9D8B030D-6E8A-4147-A177-3AD203B41FA5}">
                      <a16:colId xmlns:a16="http://schemas.microsoft.com/office/drawing/2014/main" val="3712391277"/>
                    </a:ext>
                  </a:extLst>
                </a:gridCol>
                <a:gridCol w="273384">
                  <a:extLst>
                    <a:ext uri="{9D8B030D-6E8A-4147-A177-3AD203B41FA5}">
                      <a16:colId xmlns:a16="http://schemas.microsoft.com/office/drawing/2014/main" val="1008187684"/>
                    </a:ext>
                  </a:extLst>
                </a:gridCol>
                <a:gridCol w="273384">
                  <a:extLst>
                    <a:ext uri="{9D8B030D-6E8A-4147-A177-3AD203B41FA5}">
                      <a16:colId xmlns:a16="http://schemas.microsoft.com/office/drawing/2014/main" val="2527660299"/>
                    </a:ext>
                  </a:extLst>
                </a:gridCol>
                <a:gridCol w="354386">
                  <a:extLst>
                    <a:ext uri="{9D8B030D-6E8A-4147-A177-3AD203B41FA5}">
                      <a16:colId xmlns:a16="http://schemas.microsoft.com/office/drawing/2014/main" val="3641075278"/>
                    </a:ext>
                  </a:extLst>
                </a:gridCol>
                <a:gridCol w="323852">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0" name="表格 9">
            <a:extLst>
              <a:ext uri="{FF2B5EF4-FFF2-40B4-BE49-F238E27FC236}">
                <a16:creationId xmlns:a16="http://schemas.microsoft.com/office/drawing/2014/main" id="{AC3BE32D-4E12-7DEF-316E-F9950D7DCE0F}"/>
              </a:ext>
            </a:extLst>
          </p:cNvPr>
          <p:cNvGraphicFramePr>
            <a:graphicFrameLocks noGrp="1"/>
          </p:cNvGraphicFramePr>
          <p:nvPr>
            <p:extLst>
              <p:ext uri="{D42A27DB-BD31-4B8C-83A1-F6EECF244321}">
                <p14:modId xmlns:p14="http://schemas.microsoft.com/office/powerpoint/2010/main" val="661119853"/>
              </p:ext>
            </p:extLst>
          </p:nvPr>
        </p:nvGraphicFramePr>
        <p:xfrm>
          <a:off x="6198407" y="5185719"/>
          <a:ext cx="5923424" cy="1143743"/>
        </p:xfrm>
        <a:graphic>
          <a:graphicData uri="http://schemas.openxmlformats.org/drawingml/2006/table">
            <a:tbl>
              <a:tblPr/>
              <a:tblGrid>
                <a:gridCol w="419239">
                  <a:extLst>
                    <a:ext uri="{9D8B030D-6E8A-4147-A177-3AD203B41FA5}">
                      <a16:colId xmlns:a16="http://schemas.microsoft.com/office/drawing/2014/main" val="495084399"/>
                    </a:ext>
                  </a:extLst>
                </a:gridCol>
                <a:gridCol w="2323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45093">
                  <a:extLst>
                    <a:ext uri="{9D8B030D-6E8A-4147-A177-3AD203B41FA5}">
                      <a16:colId xmlns:a16="http://schemas.microsoft.com/office/drawing/2014/main" val="3603859997"/>
                    </a:ext>
                  </a:extLst>
                </a:gridCol>
                <a:gridCol w="456447">
                  <a:extLst>
                    <a:ext uri="{9D8B030D-6E8A-4147-A177-3AD203B41FA5}">
                      <a16:colId xmlns:a16="http://schemas.microsoft.com/office/drawing/2014/main" val="4076488391"/>
                    </a:ext>
                  </a:extLst>
                </a:gridCol>
                <a:gridCol w="415873">
                  <a:extLst>
                    <a:ext uri="{9D8B030D-6E8A-4147-A177-3AD203B41FA5}">
                      <a16:colId xmlns:a16="http://schemas.microsoft.com/office/drawing/2014/main" val="3254101706"/>
                    </a:ext>
                  </a:extLst>
                </a:gridCol>
                <a:gridCol w="355014">
                  <a:extLst>
                    <a:ext uri="{9D8B030D-6E8A-4147-A177-3AD203B41FA5}">
                      <a16:colId xmlns:a16="http://schemas.microsoft.com/office/drawing/2014/main" val="3712391277"/>
                    </a:ext>
                  </a:extLst>
                </a:gridCol>
                <a:gridCol w="263724">
                  <a:extLst>
                    <a:ext uri="{9D8B030D-6E8A-4147-A177-3AD203B41FA5}">
                      <a16:colId xmlns:a16="http://schemas.microsoft.com/office/drawing/2014/main" val="3643425350"/>
                    </a:ext>
                  </a:extLst>
                </a:gridCol>
                <a:gridCol w="263724">
                  <a:extLst>
                    <a:ext uri="{9D8B030D-6E8A-4147-A177-3AD203B41FA5}">
                      <a16:colId xmlns:a16="http://schemas.microsoft.com/office/drawing/2014/main" val="2527660299"/>
                    </a:ext>
                  </a:extLst>
                </a:gridCol>
                <a:gridCol w="395587">
                  <a:extLst>
                    <a:ext uri="{9D8B030D-6E8A-4147-A177-3AD203B41FA5}">
                      <a16:colId xmlns:a16="http://schemas.microsoft.com/office/drawing/2014/main" val="3641075278"/>
                    </a:ext>
                  </a:extLst>
                </a:gridCol>
                <a:gridCol w="304139">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11" name="表格 10">
            <a:extLst>
              <a:ext uri="{FF2B5EF4-FFF2-40B4-BE49-F238E27FC236}">
                <a16:creationId xmlns:a16="http://schemas.microsoft.com/office/drawing/2014/main" id="{46243872-C53C-401B-A786-5AA42505774A}"/>
              </a:ext>
            </a:extLst>
          </p:cNvPr>
          <p:cNvGraphicFramePr>
            <a:graphicFrameLocks noGrp="1"/>
          </p:cNvGraphicFramePr>
          <p:nvPr>
            <p:extLst>
              <p:ext uri="{D42A27DB-BD31-4B8C-83A1-F6EECF244321}">
                <p14:modId xmlns:p14="http://schemas.microsoft.com/office/powerpoint/2010/main" val="2997924481"/>
              </p:ext>
            </p:extLst>
          </p:nvPr>
        </p:nvGraphicFramePr>
        <p:xfrm>
          <a:off x="159097" y="6699899"/>
          <a:ext cx="5936900" cy="1178964"/>
        </p:xfrm>
        <a:graphic>
          <a:graphicData uri="http://schemas.openxmlformats.org/drawingml/2006/table">
            <a:tbl>
              <a:tblPr/>
              <a:tblGrid>
                <a:gridCol w="430191">
                  <a:extLst>
                    <a:ext uri="{9D8B030D-6E8A-4147-A177-3AD203B41FA5}">
                      <a16:colId xmlns:a16="http://schemas.microsoft.com/office/drawing/2014/main" val="495084399"/>
                    </a:ext>
                  </a:extLst>
                </a:gridCol>
                <a:gridCol w="236540">
                  <a:extLst>
                    <a:ext uri="{9D8B030D-6E8A-4147-A177-3AD203B41FA5}">
                      <a16:colId xmlns:a16="http://schemas.microsoft.com/office/drawing/2014/main" val="3614210242"/>
                    </a:ext>
                  </a:extLst>
                </a:gridCol>
                <a:gridCol w="562935">
                  <a:extLst>
                    <a:ext uri="{9D8B030D-6E8A-4147-A177-3AD203B41FA5}">
                      <a16:colId xmlns:a16="http://schemas.microsoft.com/office/drawing/2014/main" val="1442124609"/>
                    </a:ext>
                  </a:extLst>
                </a:gridCol>
                <a:gridCol w="2204316">
                  <a:extLst>
                    <a:ext uri="{9D8B030D-6E8A-4147-A177-3AD203B41FA5}">
                      <a16:colId xmlns:a16="http://schemas.microsoft.com/office/drawing/2014/main" val="3603859997"/>
                    </a:ext>
                  </a:extLst>
                </a:gridCol>
                <a:gridCol w="610523">
                  <a:extLst>
                    <a:ext uri="{9D8B030D-6E8A-4147-A177-3AD203B41FA5}">
                      <a16:colId xmlns:a16="http://schemas.microsoft.com/office/drawing/2014/main" val="4076488391"/>
                    </a:ext>
                  </a:extLst>
                </a:gridCol>
                <a:gridCol w="342735">
                  <a:extLst>
                    <a:ext uri="{9D8B030D-6E8A-4147-A177-3AD203B41FA5}">
                      <a16:colId xmlns:a16="http://schemas.microsoft.com/office/drawing/2014/main" val="3254101706"/>
                    </a:ext>
                  </a:extLst>
                </a:gridCol>
                <a:gridCol w="274858">
                  <a:extLst>
                    <a:ext uri="{9D8B030D-6E8A-4147-A177-3AD203B41FA5}">
                      <a16:colId xmlns:a16="http://schemas.microsoft.com/office/drawing/2014/main" val="3712391277"/>
                    </a:ext>
                  </a:extLst>
                </a:gridCol>
                <a:gridCol w="294243">
                  <a:extLst>
                    <a:ext uri="{9D8B030D-6E8A-4147-A177-3AD203B41FA5}">
                      <a16:colId xmlns:a16="http://schemas.microsoft.com/office/drawing/2014/main" val="956071091"/>
                    </a:ext>
                  </a:extLst>
                </a:gridCol>
                <a:gridCol w="281200">
                  <a:extLst>
                    <a:ext uri="{9D8B030D-6E8A-4147-A177-3AD203B41FA5}">
                      <a16:colId xmlns:a16="http://schemas.microsoft.com/office/drawing/2014/main" val="2527660299"/>
                    </a:ext>
                  </a:extLst>
                </a:gridCol>
                <a:gridCol w="405116">
                  <a:extLst>
                    <a:ext uri="{9D8B030D-6E8A-4147-A177-3AD203B41FA5}">
                      <a16:colId xmlns:a16="http://schemas.microsoft.com/office/drawing/2014/main" val="3641075278"/>
                    </a:ext>
                  </a:extLst>
                </a:gridCol>
                <a:gridCol w="294243">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12" name="表格 11">
            <a:extLst>
              <a:ext uri="{FF2B5EF4-FFF2-40B4-BE49-F238E27FC236}">
                <a16:creationId xmlns:a16="http://schemas.microsoft.com/office/drawing/2014/main" id="{2EBA781D-C484-941C-50F6-56676C1541B3}"/>
              </a:ext>
            </a:extLst>
          </p:cNvPr>
          <p:cNvGraphicFramePr>
            <a:graphicFrameLocks noGrp="1"/>
          </p:cNvGraphicFramePr>
          <p:nvPr>
            <p:extLst>
              <p:ext uri="{D42A27DB-BD31-4B8C-83A1-F6EECF244321}">
                <p14:modId xmlns:p14="http://schemas.microsoft.com/office/powerpoint/2010/main" val="2068131827"/>
              </p:ext>
            </p:extLst>
          </p:nvPr>
        </p:nvGraphicFramePr>
        <p:xfrm>
          <a:off x="6198407" y="6329462"/>
          <a:ext cx="5923423" cy="1178964"/>
        </p:xfrm>
        <a:graphic>
          <a:graphicData uri="http://schemas.openxmlformats.org/drawingml/2006/table">
            <a:tbl>
              <a:tblPr/>
              <a:tblGrid>
                <a:gridCol w="429214">
                  <a:extLst>
                    <a:ext uri="{9D8B030D-6E8A-4147-A177-3AD203B41FA5}">
                      <a16:colId xmlns:a16="http://schemas.microsoft.com/office/drawing/2014/main" val="495084399"/>
                    </a:ext>
                  </a:extLst>
                </a:gridCol>
                <a:gridCol w="236003">
                  <a:extLst>
                    <a:ext uri="{9D8B030D-6E8A-4147-A177-3AD203B41FA5}">
                      <a16:colId xmlns:a16="http://schemas.microsoft.com/office/drawing/2014/main" val="3614210242"/>
                    </a:ext>
                  </a:extLst>
                </a:gridCol>
                <a:gridCol w="561657">
                  <a:extLst>
                    <a:ext uri="{9D8B030D-6E8A-4147-A177-3AD203B41FA5}">
                      <a16:colId xmlns:a16="http://schemas.microsoft.com/office/drawing/2014/main" val="1442124609"/>
                    </a:ext>
                  </a:extLst>
                </a:gridCol>
                <a:gridCol w="2199313">
                  <a:extLst>
                    <a:ext uri="{9D8B030D-6E8A-4147-A177-3AD203B41FA5}">
                      <a16:colId xmlns:a16="http://schemas.microsoft.com/office/drawing/2014/main" val="3603859997"/>
                    </a:ext>
                  </a:extLst>
                </a:gridCol>
                <a:gridCol w="609137">
                  <a:extLst>
                    <a:ext uri="{9D8B030D-6E8A-4147-A177-3AD203B41FA5}">
                      <a16:colId xmlns:a16="http://schemas.microsoft.com/office/drawing/2014/main" val="4076488391"/>
                    </a:ext>
                  </a:extLst>
                </a:gridCol>
                <a:gridCol w="341957">
                  <a:extLst>
                    <a:ext uri="{9D8B030D-6E8A-4147-A177-3AD203B41FA5}">
                      <a16:colId xmlns:a16="http://schemas.microsoft.com/office/drawing/2014/main" val="3254101706"/>
                    </a:ext>
                  </a:extLst>
                </a:gridCol>
                <a:gridCol w="274234">
                  <a:extLst>
                    <a:ext uri="{9D8B030D-6E8A-4147-A177-3AD203B41FA5}">
                      <a16:colId xmlns:a16="http://schemas.microsoft.com/office/drawing/2014/main" val="3712391277"/>
                    </a:ext>
                  </a:extLst>
                </a:gridCol>
                <a:gridCol w="293575">
                  <a:extLst>
                    <a:ext uri="{9D8B030D-6E8A-4147-A177-3AD203B41FA5}">
                      <a16:colId xmlns:a16="http://schemas.microsoft.com/office/drawing/2014/main" val="956071091"/>
                    </a:ext>
                  </a:extLst>
                </a:gridCol>
                <a:gridCol w="280561">
                  <a:extLst>
                    <a:ext uri="{9D8B030D-6E8A-4147-A177-3AD203B41FA5}">
                      <a16:colId xmlns:a16="http://schemas.microsoft.com/office/drawing/2014/main" val="2527660299"/>
                    </a:ext>
                  </a:extLst>
                </a:gridCol>
                <a:gridCol w="404197">
                  <a:extLst>
                    <a:ext uri="{9D8B030D-6E8A-4147-A177-3AD203B41FA5}">
                      <a16:colId xmlns:a16="http://schemas.microsoft.com/office/drawing/2014/main" val="3641075278"/>
                    </a:ext>
                  </a:extLst>
                </a:gridCol>
                <a:gridCol w="293575">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spTree>
    <p:extLst>
      <p:ext uri="{BB962C8B-B14F-4D97-AF65-F5344CB8AC3E}">
        <p14:creationId xmlns:p14="http://schemas.microsoft.com/office/powerpoint/2010/main" val="173495180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23EDBF-B766-A422-D3FD-C6928039FE74}"/>
            </a:ext>
          </a:extLst>
        </p:cNvPr>
        <p:cNvGrpSpPr/>
        <p:nvPr/>
      </p:nvGrpSpPr>
      <p:grpSpPr>
        <a:xfrm>
          <a:off x="0" y="0"/>
          <a:ext cx="0" cy="0"/>
          <a:chOff x="0" y="0"/>
          <a:chExt cx="0" cy="0"/>
        </a:xfrm>
      </p:grpSpPr>
      <p:sp>
        <p:nvSpPr>
          <p:cNvPr id="5" name="文本框 4">
            <a:extLst>
              <a:ext uri="{FF2B5EF4-FFF2-40B4-BE49-F238E27FC236}">
                <a16:creationId xmlns:a16="http://schemas.microsoft.com/office/drawing/2014/main" id="{019AEEC5-D74B-3AEE-7512-0775F8F66C3F}"/>
              </a:ext>
            </a:extLst>
          </p:cNvPr>
          <p:cNvSpPr txBox="1"/>
          <p:nvPr/>
        </p:nvSpPr>
        <p:spPr>
          <a:xfrm>
            <a:off x="143235" y="47255"/>
            <a:ext cx="4470947" cy="400110"/>
          </a:xfrm>
          <a:prstGeom prst="rect">
            <a:avLst/>
          </a:prstGeom>
          <a:noFill/>
        </p:spPr>
        <p:txBody>
          <a:bodyPr wrap="square" rtlCol="0">
            <a:spAutoFit/>
          </a:bodyPr>
          <a:lstStyle/>
          <a:p>
            <a:r>
              <a:rPr lang="nl-NL" altLang="zh-CN" sz="2000" b="1"/>
              <a:t>DaaS_AFE HUB_MSA&amp;MLA</a:t>
            </a:r>
            <a:endParaRPr lang="zh-CN" altLang="en-US" sz="2000" b="1"/>
          </a:p>
        </p:txBody>
      </p:sp>
      <p:cxnSp>
        <p:nvCxnSpPr>
          <p:cNvPr id="3" name="直接连接符 2">
            <a:extLst>
              <a:ext uri="{FF2B5EF4-FFF2-40B4-BE49-F238E27FC236}">
                <a16:creationId xmlns:a16="http://schemas.microsoft.com/office/drawing/2014/main" id="{0F2DAA04-167B-0B49-A831-607DB0050157}"/>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2" name="表格 1">
            <a:extLst>
              <a:ext uri="{FF2B5EF4-FFF2-40B4-BE49-F238E27FC236}">
                <a16:creationId xmlns:a16="http://schemas.microsoft.com/office/drawing/2014/main" id="{BFF42173-EF93-5D29-294B-17137E20B99F}"/>
              </a:ext>
            </a:extLst>
          </p:cNvPr>
          <p:cNvGraphicFramePr>
            <a:graphicFrameLocks noGrp="1"/>
          </p:cNvGraphicFramePr>
          <p:nvPr>
            <p:extLst>
              <p:ext uri="{D42A27DB-BD31-4B8C-83A1-F6EECF244321}">
                <p14:modId xmlns:p14="http://schemas.microsoft.com/office/powerpoint/2010/main" val="2228625110"/>
              </p:ext>
            </p:extLst>
          </p:nvPr>
        </p:nvGraphicFramePr>
        <p:xfrm>
          <a:off x="6184086" y="2001845"/>
          <a:ext cx="5981955" cy="2201599"/>
        </p:xfrm>
        <a:graphic>
          <a:graphicData uri="http://schemas.openxmlformats.org/drawingml/2006/table">
            <a:tbl>
              <a:tblPr/>
              <a:tblGrid>
                <a:gridCol w="418502">
                  <a:extLst>
                    <a:ext uri="{9D8B030D-6E8A-4147-A177-3AD203B41FA5}">
                      <a16:colId xmlns:a16="http://schemas.microsoft.com/office/drawing/2014/main" val="495084399"/>
                    </a:ext>
                  </a:extLst>
                </a:gridCol>
                <a:gridCol w="237710">
                  <a:extLst>
                    <a:ext uri="{9D8B030D-6E8A-4147-A177-3AD203B41FA5}">
                      <a16:colId xmlns:a16="http://schemas.microsoft.com/office/drawing/2014/main" val="3614210242"/>
                    </a:ext>
                  </a:extLst>
                </a:gridCol>
                <a:gridCol w="547640">
                  <a:extLst>
                    <a:ext uri="{9D8B030D-6E8A-4147-A177-3AD203B41FA5}">
                      <a16:colId xmlns:a16="http://schemas.microsoft.com/office/drawing/2014/main" val="1442124609"/>
                    </a:ext>
                  </a:extLst>
                </a:gridCol>
                <a:gridCol w="2008821">
                  <a:extLst>
                    <a:ext uri="{9D8B030D-6E8A-4147-A177-3AD203B41FA5}">
                      <a16:colId xmlns:a16="http://schemas.microsoft.com/office/drawing/2014/main" val="3603859997"/>
                    </a:ext>
                  </a:extLst>
                </a:gridCol>
                <a:gridCol w="349986">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273468">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872140390"/>
                    </a:ext>
                  </a:extLst>
                </a:gridCol>
                <a:gridCol w="262018">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548102">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Extension Invoice issued to customer </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1479446"/>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6" name="表格 5">
            <a:extLst>
              <a:ext uri="{FF2B5EF4-FFF2-40B4-BE49-F238E27FC236}">
                <a16:creationId xmlns:a16="http://schemas.microsoft.com/office/drawing/2014/main" id="{E144BE77-3817-E3A6-1784-DBF334AC4005}"/>
              </a:ext>
            </a:extLst>
          </p:cNvPr>
          <p:cNvGraphicFramePr>
            <a:graphicFrameLocks noGrp="1"/>
          </p:cNvGraphicFramePr>
          <p:nvPr/>
        </p:nvGraphicFramePr>
        <p:xfrm>
          <a:off x="100071" y="447365"/>
          <a:ext cx="5890437" cy="155448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cxnSp>
        <p:nvCxnSpPr>
          <p:cNvPr id="7" name="直接连接符 6">
            <a:extLst>
              <a:ext uri="{FF2B5EF4-FFF2-40B4-BE49-F238E27FC236}">
                <a16:creationId xmlns:a16="http://schemas.microsoft.com/office/drawing/2014/main" id="{77805408-A2D9-6E89-0B1B-3309C3450450}"/>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0" name="表格 9">
            <a:extLst>
              <a:ext uri="{FF2B5EF4-FFF2-40B4-BE49-F238E27FC236}">
                <a16:creationId xmlns:a16="http://schemas.microsoft.com/office/drawing/2014/main" id="{7242E205-B039-A61D-D81B-204E2EC05B7C}"/>
              </a:ext>
            </a:extLst>
          </p:cNvPr>
          <p:cNvGraphicFramePr>
            <a:graphicFrameLocks noGrp="1"/>
          </p:cNvGraphicFramePr>
          <p:nvPr/>
        </p:nvGraphicFramePr>
        <p:xfrm>
          <a:off x="6201493" y="447365"/>
          <a:ext cx="5947143" cy="1554480"/>
        </p:xfrm>
        <a:graphic>
          <a:graphicData uri="http://schemas.openxmlformats.org/drawingml/2006/table">
            <a:tbl>
              <a:tblPr firstRow="1" bandRow="1">
                <a:tableStyleId>{3C2FFA5D-87B4-456A-9821-1D502468CF0F}</a:tableStyleId>
              </a:tblPr>
              <a:tblGrid>
                <a:gridCol w="690135">
                  <a:extLst>
                    <a:ext uri="{9D8B030D-6E8A-4147-A177-3AD203B41FA5}">
                      <a16:colId xmlns:a16="http://schemas.microsoft.com/office/drawing/2014/main" val="869603910"/>
                    </a:ext>
                  </a:extLst>
                </a:gridCol>
                <a:gridCol w="696158">
                  <a:extLst>
                    <a:ext uri="{9D8B030D-6E8A-4147-A177-3AD203B41FA5}">
                      <a16:colId xmlns:a16="http://schemas.microsoft.com/office/drawing/2014/main" val="238663902"/>
                    </a:ext>
                  </a:extLst>
                </a:gridCol>
                <a:gridCol w="648586">
                  <a:extLst>
                    <a:ext uri="{9D8B030D-6E8A-4147-A177-3AD203B41FA5}">
                      <a16:colId xmlns:a16="http://schemas.microsoft.com/office/drawing/2014/main" val="4114365151"/>
                    </a:ext>
                  </a:extLst>
                </a:gridCol>
                <a:gridCol w="662761">
                  <a:extLst>
                    <a:ext uri="{9D8B030D-6E8A-4147-A177-3AD203B41FA5}">
                      <a16:colId xmlns:a16="http://schemas.microsoft.com/office/drawing/2014/main" val="4075178046"/>
                    </a:ext>
                  </a:extLst>
                </a:gridCol>
                <a:gridCol w="808074">
                  <a:extLst>
                    <a:ext uri="{9D8B030D-6E8A-4147-A177-3AD203B41FA5}">
                      <a16:colId xmlns:a16="http://schemas.microsoft.com/office/drawing/2014/main" val="973533418"/>
                    </a:ext>
                  </a:extLst>
                </a:gridCol>
                <a:gridCol w="733647">
                  <a:extLst>
                    <a:ext uri="{9D8B030D-6E8A-4147-A177-3AD203B41FA5}">
                      <a16:colId xmlns:a16="http://schemas.microsoft.com/office/drawing/2014/main" val="2377711782"/>
                    </a:ext>
                  </a:extLst>
                </a:gridCol>
                <a:gridCol w="818707">
                  <a:extLst>
                    <a:ext uri="{9D8B030D-6E8A-4147-A177-3AD203B41FA5}">
                      <a16:colId xmlns:a16="http://schemas.microsoft.com/office/drawing/2014/main" val="3946881186"/>
                    </a:ext>
                  </a:extLst>
                </a:gridCol>
                <a:gridCol w="889075">
                  <a:extLst>
                    <a:ext uri="{9D8B030D-6E8A-4147-A177-3AD203B41FA5}">
                      <a16:colId xmlns:a16="http://schemas.microsoft.com/office/drawing/2014/main" val="221569069"/>
                    </a:ext>
                  </a:extLst>
                </a:gridCol>
              </a:tblGrid>
              <a:tr h="53266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81650">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411006">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 </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11" name="表格 10">
            <a:extLst>
              <a:ext uri="{FF2B5EF4-FFF2-40B4-BE49-F238E27FC236}">
                <a16:creationId xmlns:a16="http://schemas.microsoft.com/office/drawing/2014/main" id="{007107CF-011D-1C63-12E2-BF98572E327A}"/>
              </a:ext>
            </a:extLst>
          </p:cNvPr>
          <p:cNvGraphicFramePr>
            <a:graphicFrameLocks noGrp="1"/>
          </p:cNvGraphicFramePr>
          <p:nvPr>
            <p:extLst>
              <p:ext uri="{D42A27DB-BD31-4B8C-83A1-F6EECF244321}">
                <p14:modId xmlns:p14="http://schemas.microsoft.com/office/powerpoint/2010/main" val="2231251320"/>
              </p:ext>
            </p:extLst>
          </p:nvPr>
        </p:nvGraphicFramePr>
        <p:xfrm>
          <a:off x="89438" y="2001845"/>
          <a:ext cx="5901070"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36187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4" name="对话气泡: 矩形 11">
            <a:extLst>
              <a:ext uri="{FF2B5EF4-FFF2-40B4-BE49-F238E27FC236}">
                <a16:creationId xmlns:a16="http://schemas.microsoft.com/office/drawing/2014/main" id="{CC2E0305-DD60-4F75-10F0-E61ACE14F183}"/>
              </a:ext>
            </a:extLst>
          </p:cNvPr>
          <p:cNvSpPr/>
          <p:nvPr/>
        </p:nvSpPr>
        <p:spPr>
          <a:xfrm>
            <a:off x="-2327207" y="4328047"/>
            <a:ext cx="1912537" cy="2351147"/>
          </a:xfrm>
          <a:prstGeom prst="wedgeRectCallout">
            <a:avLst>
              <a:gd name="adj1" fmla="val 99585"/>
              <a:gd name="adj2" fmla="val -8286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Confirmed with Accounting:</a:t>
            </a:r>
          </a:p>
          <a:p>
            <a:r>
              <a:rPr lang="en-US" altLang="zh-CN" sz="1200">
                <a:solidFill>
                  <a:schemeClr val="tx1"/>
                </a:solidFill>
              </a:rPr>
              <a:t>Upfront service has been cleared under LT-AR during normal lease term</a:t>
            </a:r>
          </a:p>
          <a:p>
            <a:r>
              <a:rPr lang="en-US" altLang="zh-CN" sz="1200">
                <a:solidFill>
                  <a:schemeClr val="tx1"/>
                </a:solidFill>
              </a:rPr>
              <a:t>During extension, no actual upfront service for customer, will recognize as interest income</a:t>
            </a:r>
          </a:p>
        </p:txBody>
      </p:sp>
      <p:graphicFrame>
        <p:nvGraphicFramePr>
          <p:cNvPr id="8" name="表格 7">
            <a:extLst>
              <a:ext uri="{FF2B5EF4-FFF2-40B4-BE49-F238E27FC236}">
                <a16:creationId xmlns:a16="http://schemas.microsoft.com/office/drawing/2014/main" id="{B654DC98-3A06-716B-4B45-47D4AB39A92A}"/>
              </a:ext>
            </a:extLst>
          </p:cNvPr>
          <p:cNvGraphicFramePr>
            <a:graphicFrameLocks noGrp="1"/>
          </p:cNvGraphicFramePr>
          <p:nvPr>
            <p:extLst>
              <p:ext uri="{D42A27DB-BD31-4B8C-83A1-F6EECF244321}">
                <p14:modId xmlns:p14="http://schemas.microsoft.com/office/powerpoint/2010/main" val="1265564725"/>
              </p:ext>
            </p:extLst>
          </p:nvPr>
        </p:nvGraphicFramePr>
        <p:xfrm>
          <a:off x="89438" y="4251840"/>
          <a:ext cx="5983350"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92836">
                  <a:extLst>
                    <a:ext uri="{9D8B030D-6E8A-4147-A177-3AD203B41FA5}">
                      <a16:colId xmlns:a16="http://schemas.microsoft.com/office/drawing/2014/main" val="3614210242"/>
                    </a:ext>
                  </a:extLst>
                </a:gridCol>
                <a:gridCol w="572523">
                  <a:extLst>
                    <a:ext uri="{9D8B030D-6E8A-4147-A177-3AD203B41FA5}">
                      <a16:colId xmlns:a16="http://schemas.microsoft.com/office/drawing/2014/main" val="1442124609"/>
                    </a:ext>
                  </a:extLst>
                </a:gridCol>
                <a:gridCol w="2349500">
                  <a:extLst>
                    <a:ext uri="{9D8B030D-6E8A-4147-A177-3AD203B41FA5}">
                      <a16:colId xmlns:a16="http://schemas.microsoft.com/office/drawing/2014/main" val="3603859997"/>
                    </a:ext>
                  </a:extLst>
                </a:gridCol>
                <a:gridCol w="286486">
                  <a:extLst>
                    <a:ext uri="{9D8B030D-6E8A-4147-A177-3AD203B41FA5}">
                      <a16:colId xmlns:a16="http://schemas.microsoft.com/office/drawing/2014/main" val="4076488391"/>
                    </a:ext>
                  </a:extLst>
                </a:gridCol>
                <a:gridCol w="405013">
                  <a:extLst>
                    <a:ext uri="{9D8B030D-6E8A-4147-A177-3AD203B41FA5}">
                      <a16:colId xmlns:a16="http://schemas.microsoft.com/office/drawing/2014/main" val="3254101706"/>
                    </a:ext>
                  </a:extLst>
                </a:gridCol>
                <a:gridCol w="374638">
                  <a:extLst>
                    <a:ext uri="{9D8B030D-6E8A-4147-A177-3AD203B41FA5}">
                      <a16:colId xmlns:a16="http://schemas.microsoft.com/office/drawing/2014/main" val="3712391277"/>
                    </a:ext>
                  </a:extLst>
                </a:gridCol>
                <a:gridCol w="273384">
                  <a:extLst>
                    <a:ext uri="{9D8B030D-6E8A-4147-A177-3AD203B41FA5}">
                      <a16:colId xmlns:a16="http://schemas.microsoft.com/office/drawing/2014/main" val="1008187684"/>
                    </a:ext>
                  </a:extLst>
                </a:gridCol>
                <a:gridCol w="273384">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323852">
                  <a:extLst>
                    <a:ext uri="{9D8B030D-6E8A-4147-A177-3AD203B41FA5}">
                      <a16:colId xmlns:a16="http://schemas.microsoft.com/office/drawing/2014/main" val="3618613915"/>
                    </a:ext>
                  </a:extLst>
                </a:gridCol>
              </a:tblGrid>
              <a:tr h="16173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85450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9" name="表格 8">
            <a:extLst>
              <a:ext uri="{FF2B5EF4-FFF2-40B4-BE49-F238E27FC236}">
                <a16:creationId xmlns:a16="http://schemas.microsoft.com/office/drawing/2014/main" id="{DE278BC6-AA1E-4850-75C5-B9D29FD031F4}"/>
              </a:ext>
            </a:extLst>
          </p:cNvPr>
          <p:cNvGraphicFramePr>
            <a:graphicFrameLocks noGrp="1"/>
          </p:cNvGraphicFramePr>
          <p:nvPr>
            <p:extLst>
              <p:ext uri="{D42A27DB-BD31-4B8C-83A1-F6EECF244321}">
                <p14:modId xmlns:p14="http://schemas.microsoft.com/office/powerpoint/2010/main" val="276430769"/>
              </p:ext>
            </p:extLst>
          </p:nvPr>
        </p:nvGraphicFramePr>
        <p:xfrm>
          <a:off x="75885" y="5632243"/>
          <a:ext cx="5923424" cy="1332007"/>
        </p:xfrm>
        <a:graphic>
          <a:graphicData uri="http://schemas.openxmlformats.org/drawingml/2006/table">
            <a:tbl>
              <a:tblPr/>
              <a:tblGrid>
                <a:gridCol w="419239">
                  <a:extLst>
                    <a:ext uri="{9D8B030D-6E8A-4147-A177-3AD203B41FA5}">
                      <a16:colId xmlns:a16="http://schemas.microsoft.com/office/drawing/2014/main" val="495084399"/>
                    </a:ext>
                  </a:extLst>
                </a:gridCol>
                <a:gridCol w="2323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45093">
                  <a:extLst>
                    <a:ext uri="{9D8B030D-6E8A-4147-A177-3AD203B41FA5}">
                      <a16:colId xmlns:a16="http://schemas.microsoft.com/office/drawing/2014/main" val="3603859997"/>
                    </a:ext>
                  </a:extLst>
                </a:gridCol>
                <a:gridCol w="456447">
                  <a:extLst>
                    <a:ext uri="{9D8B030D-6E8A-4147-A177-3AD203B41FA5}">
                      <a16:colId xmlns:a16="http://schemas.microsoft.com/office/drawing/2014/main" val="4076488391"/>
                    </a:ext>
                  </a:extLst>
                </a:gridCol>
                <a:gridCol w="415873">
                  <a:extLst>
                    <a:ext uri="{9D8B030D-6E8A-4147-A177-3AD203B41FA5}">
                      <a16:colId xmlns:a16="http://schemas.microsoft.com/office/drawing/2014/main" val="3254101706"/>
                    </a:ext>
                  </a:extLst>
                </a:gridCol>
                <a:gridCol w="355014">
                  <a:extLst>
                    <a:ext uri="{9D8B030D-6E8A-4147-A177-3AD203B41FA5}">
                      <a16:colId xmlns:a16="http://schemas.microsoft.com/office/drawing/2014/main" val="3712391277"/>
                    </a:ext>
                  </a:extLst>
                </a:gridCol>
                <a:gridCol w="263724">
                  <a:extLst>
                    <a:ext uri="{9D8B030D-6E8A-4147-A177-3AD203B41FA5}">
                      <a16:colId xmlns:a16="http://schemas.microsoft.com/office/drawing/2014/main" val="3643425350"/>
                    </a:ext>
                  </a:extLst>
                </a:gridCol>
                <a:gridCol w="263724">
                  <a:extLst>
                    <a:ext uri="{9D8B030D-6E8A-4147-A177-3AD203B41FA5}">
                      <a16:colId xmlns:a16="http://schemas.microsoft.com/office/drawing/2014/main" val="2527660299"/>
                    </a:ext>
                  </a:extLst>
                </a:gridCol>
                <a:gridCol w="395587">
                  <a:extLst>
                    <a:ext uri="{9D8B030D-6E8A-4147-A177-3AD203B41FA5}">
                      <a16:colId xmlns:a16="http://schemas.microsoft.com/office/drawing/2014/main" val="3641075278"/>
                    </a:ext>
                  </a:extLst>
                </a:gridCol>
                <a:gridCol w="304139">
                  <a:extLst>
                    <a:ext uri="{9D8B030D-6E8A-4147-A177-3AD203B41FA5}">
                      <a16:colId xmlns:a16="http://schemas.microsoft.com/office/drawing/2014/main" val="3618613915"/>
                    </a:ext>
                  </a:extLst>
                </a:gridCol>
              </a:tblGrid>
              <a:tr h="16800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47211052"/>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16" name="表格 15">
            <a:extLst>
              <a:ext uri="{FF2B5EF4-FFF2-40B4-BE49-F238E27FC236}">
                <a16:creationId xmlns:a16="http://schemas.microsoft.com/office/drawing/2014/main" id="{D23B3125-632C-7335-0CE6-627384546E6D}"/>
              </a:ext>
            </a:extLst>
          </p:cNvPr>
          <p:cNvGraphicFramePr>
            <a:graphicFrameLocks noGrp="1"/>
          </p:cNvGraphicFramePr>
          <p:nvPr>
            <p:extLst>
              <p:ext uri="{D42A27DB-BD31-4B8C-83A1-F6EECF244321}">
                <p14:modId xmlns:p14="http://schemas.microsoft.com/office/powerpoint/2010/main" val="92737650"/>
              </p:ext>
            </p:extLst>
          </p:nvPr>
        </p:nvGraphicFramePr>
        <p:xfrm>
          <a:off x="6192692" y="4251840"/>
          <a:ext cx="5983350"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92836">
                  <a:extLst>
                    <a:ext uri="{9D8B030D-6E8A-4147-A177-3AD203B41FA5}">
                      <a16:colId xmlns:a16="http://schemas.microsoft.com/office/drawing/2014/main" val="3614210242"/>
                    </a:ext>
                  </a:extLst>
                </a:gridCol>
                <a:gridCol w="572523">
                  <a:extLst>
                    <a:ext uri="{9D8B030D-6E8A-4147-A177-3AD203B41FA5}">
                      <a16:colId xmlns:a16="http://schemas.microsoft.com/office/drawing/2014/main" val="1442124609"/>
                    </a:ext>
                  </a:extLst>
                </a:gridCol>
                <a:gridCol w="2349500">
                  <a:extLst>
                    <a:ext uri="{9D8B030D-6E8A-4147-A177-3AD203B41FA5}">
                      <a16:colId xmlns:a16="http://schemas.microsoft.com/office/drawing/2014/main" val="3603859997"/>
                    </a:ext>
                  </a:extLst>
                </a:gridCol>
                <a:gridCol w="286486">
                  <a:extLst>
                    <a:ext uri="{9D8B030D-6E8A-4147-A177-3AD203B41FA5}">
                      <a16:colId xmlns:a16="http://schemas.microsoft.com/office/drawing/2014/main" val="4076488391"/>
                    </a:ext>
                  </a:extLst>
                </a:gridCol>
                <a:gridCol w="405013">
                  <a:extLst>
                    <a:ext uri="{9D8B030D-6E8A-4147-A177-3AD203B41FA5}">
                      <a16:colId xmlns:a16="http://schemas.microsoft.com/office/drawing/2014/main" val="3254101706"/>
                    </a:ext>
                  </a:extLst>
                </a:gridCol>
                <a:gridCol w="374638">
                  <a:extLst>
                    <a:ext uri="{9D8B030D-6E8A-4147-A177-3AD203B41FA5}">
                      <a16:colId xmlns:a16="http://schemas.microsoft.com/office/drawing/2014/main" val="3712391277"/>
                    </a:ext>
                  </a:extLst>
                </a:gridCol>
                <a:gridCol w="273384">
                  <a:extLst>
                    <a:ext uri="{9D8B030D-6E8A-4147-A177-3AD203B41FA5}">
                      <a16:colId xmlns:a16="http://schemas.microsoft.com/office/drawing/2014/main" val="1008187684"/>
                    </a:ext>
                  </a:extLst>
                </a:gridCol>
                <a:gridCol w="273384">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323852">
                  <a:extLst>
                    <a:ext uri="{9D8B030D-6E8A-4147-A177-3AD203B41FA5}">
                      <a16:colId xmlns:a16="http://schemas.microsoft.com/office/drawing/2014/main" val="3618613915"/>
                    </a:ext>
                  </a:extLst>
                </a:gridCol>
              </a:tblGrid>
              <a:tr h="16173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85450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7" name="表格 16">
            <a:extLst>
              <a:ext uri="{FF2B5EF4-FFF2-40B4-BE49-F238E27FC236}">
                <a16:creationId xmlns:a16="http://schemas.microsoft.com/office/drawing/2014/main" id="{AAC9F91F-60C9-47D6-8CBB-7B52DBDE4A2A}"/>
              </a:ext>
            </a:extLst>
          </p:cNvPr>
          <p:cNvGraphicFramePr>
            <a:graphicFrameLocks noGrp="1"/>
          </p:cNvGraphicFramePr>
          <p:nvPr>
            <p:extLst>
              <p:ext uri="{D42A27DB-BD31-4B8C-83A1-F6EECF244321}">
                <p14:modId xmlns:p14="http://schemas.microsoft.com/office/powerpoint/2010/main" val="2450805904"/>
              </p:ext>
            </p:extLst>
          </p:nvPr>
        </p:nvGraphicFramePr>
        <p:xfrm>
          <a:off x="6179139" y="5632243"/>
          <a:ext cx="5923424" cy="1332007"/>
        </p:xfrm>
        <a:graphic>
          <a:graphicData uri="http://schemas.openxmlformats.org/drawingml/2006/table">
            <a:tbl>
              <a:tblPr/>
              <a:tblGrid>
                <a:gridCol w="419239">
                  <a:extLst>
                    <a:ext uri="{9D8B030D-6E8A-4147-A177-3AD203B41FA5}">
                      <a16:colId xmlns:a16="http://schemas.microsoft.com/office/drawing/2014/main" val="495084399"/>
                    </a:ext>
                  </a:extLst>
                </a:gridCol>
                <a:gridCol w="2323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45093">
                  <a:extLst>
                    <a:ext uri="{9D8B030D-6E8A-4147-A177-3AD203B41FA5}">
                      <a16:colId xmlns:a16="http://schemas.microsoft.com/office/drawing/2014/main" val="3603859997"/>
                    </a:ext>
                  </a:extLst>
                </a:gridCol>
                <a:gridCol w="456447">
                  <a:extLst>
                    <a:ext uri="{9D8B030D-6E8A-4147-A177-3AD203B41FA5}">
                      <a16:colId xmlns:a16="http://schemas.microsoft.com/office/drawing/2014/main" val="4076488391"/>
                    </a:ext>
                  </a:extLst>
                </a:gridCol>
                <a:gridCol w="415873">
                  <a:extLst>
                    <a:ext uri="{9D8B030D-6E8A-4147-A177-3AD203B41FA5}">
                      <a16:colId xmlns:a16="http://schemas.microsoft.com/office/drawing/2014/main" val="3254101706"/>
                    </a:ext>
                  </a:extLst>
                </a:gridCol>
                <a:gridCol w="355014">
                  <a:extLst>
                    <a:ext uri="{9D8B030D-6E8A-4147-A177-3AD203B41FA5}">
                      <a16:colId xmlns:a16="http://schemas.microsoft.com/office/drawing/2014/main" val="3712391277"/>
                    </a:ext>
                  </a:extLst>
                </a:gridCol>
                <a:gridCol w="263724">
                  <a:extLst>
                    <a:ext uri="{9D8B030D-6E8A-4147-A177-3AD203B41FA5}">
                      <a16:colId xmlns:a16="http://schemas.microsoft.com/office/drawing/2014/main" val="3643425350"/>
                    </a:ext>
                  </a:extLst>
                </a:gridCol>
                <a:gridCol w="263724">
                  <a:extLst>
                    <a:ext uri="{9D8B030D-6E8A-4147-A177-3AD203B41FA5}">
                      <a16:colId xmlns:a16="http://schemas.microsoft.com/office/drawing/2014/main" val="2527660299"/>
                    </a:ext>
                  </a:extLst>
                </a:gridCol>
                <a:gridCol w="395587">
                  <a:extLst>
                    <a:ext uri="{9D8B030D-6E8A-4147-A177-3AD203B41FA5}">
                      <a16:colId xmlns:a16="http://schemas.microsoft.com/office/drawing/2014/main" val="3641075278"/>
                    </a:ext>
                  </a:extLst>
                </a:gridCol>
                <a:gridCol w="304139">
                  <a:extLst>
                    <a:ext uri="{9D8B030D-6E8A-4147-A177-3AD203B41FA5}">
                      <a16:colId xmlns:a16="http://schemas.microsoft.com/office/drawing/2014/main" val="3618613915"/>
                    </a:ext>
                  </a:extLst>
                </a:gridCol>
              </a:tblGrid>
              <a:tr h="16800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r>
                        <a:rPr lang="zh-CN" altLang="en-US" sz="900" b="0" i="0" u="none" strike="noStrike" kern="1200">
                          <a:solidFill>
                            <a:srgbClr val="000000"/>
                          </a:solidFill>
                          <a:effectLst/>
                          <a:latin typeface="Arial" panose="020B0604020202020204" pitchFamily="34" charset="0"/>
                          <a:ea typeface="+mn-ea"/>
                          <a:cs typeface="+mn-cs"/>
                        </a:rPr>
                        <a:t>）</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47211052"/>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Tree>
    <p:extLst>
      <p:ext uri="{BB962C8B-B14F-4D97-AF65-F5344CB8AC3E}">
        <p14:creationId xmlns:p14="http://schemas.microsoft.com/office/powerpoint/2010/main" val="3207064323"/>
      </p:ext>
    </p:extLst>
  </p:cSld>
  <p:clrMapOvr>
    <a:masterClrMapping/>
  </p:clrMapOvr>
  <p:extLst>
    <p:ext uri="{6950BFC3-D8DA-4A85-94F7-54DA5524770B}">
      <p188:commentRel xmlns:p188="http://schemas.microsoft.com/office/powerpoint/2018/8/main" r:id="rId2"/>
    </p:ext>
  </p:extLs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DDA5EC-64D4-2DF5-0635-5B59CC56AA43}"/>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123CC2D5-DF29-97AD-B586-46DCDD9A409F}"/>
              </a:ext>
            </a:extLst>
          </p:cNvPr>
          <p:cNvGraphicFramePr>
            <a:graphicFrameLocks noGrp="1"/>
          </p:cNvGraphicFramePr>
          <p:nvPr>
            <p:extLst>
              <p:ext uri="{D42A27DB-BD31-4B8C-83A1-F6EECF244321}">
                <p14:modId xmlns:p14="http://schemas.microsoft.com/office/powerpoint/2010/main" val="1836453005"/>
              </p:ext>
            </p:extLst>
          </p:nvPr>
        </p:nvGraphicFramePr>
        <p:xfrm>
          <a:off x="6109998" y="485189"/>
          <a:ext cx="6056277"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35200">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36187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extension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40.3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40.3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2280503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Other Payable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2280503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Other Payable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Interest Income - </a:t>
                      </a:r>
                      <a:r>
                        <a:rPr lang="en-US" sz="900" b="0" i="0" u="none" strike="noStrike" kern="1200">
                          <a:solidFill>
                            <a:srgbClr val="000000"/>
                          </a:solidFill>
                          <a:effectLst/>
                          <a:latin typeface="Arial" panose="020B0604020202020204" pitchFamily="34" charset="0"/>
                          <a:ea typeface="+mn-ea"/>
                          <a:cs typeface="+mn-cs"/>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2280503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Other Payable – Premier (funded)</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28" name="文本框 27">
            <a:extLst>
              <a:ext uri="{FF2B5EF4-FFF2-40B4-BE49-F238E27FC236}">
                <a16:creationId xmlns:a16="http://schemas.microsoft.com/office/drawing/2014/main" id="{67CAD571-1C65-FEAA-2E65-6DA2E9A97928}"/>
              </a:ext>
            </a:extLst>
          </p:cNvPr>
          <p:cNvSpPr txBox="1"/>
          <p:nvPr/>
        </p:nvSpPr>
        <p:spPr>
          <a:xfrm>
            <a:off x="0" y="64204"/>
            <a:ext cx="4470947" cy="400110"/>
          </a:xfrm>
          <a:prstGeom prst="rect">
            <a:avLst/>
          </a:prstGeom>
          <a:noFill/>
        </p:spPr>
        <p:txBody>
          <a:bodyPr wrap="square" rtlCol="0">
            <a:spAutoFit/>
          </a:bodyPr>
          <a:lstStyle/>
          <a:p>
            <a:r>
              <a:rPr lang="nl-NL" altLang="zh-CN" sz="2000" b="1"/>
              <a:t>DaaS_AFE HUB_MSA&amp;MLA</a:t>
            </a:r>
            <a:endParaRPr lang="zh-CN" altLang="en-US" sz="2000" b="1"/>
          </a:p>
        </p:txBody>
      </p:sp>
      <p:graphicFrame>
        <p:nvGraphicFramePr>
          <p:cNvPr id="2" name="表格 1">
            <a:extLst>
              <a:ext uri="{FF2B5EF4-FFF2-40B4-BE49-F238E27FC236}">
                <a16:creationId xmlns:a16="http://schemas.microsoft.com/office/drawing/2014/main" id="{19CA5DA1-C51C-AF35-46AA-75CE2EA9D136}"/>
              </a:ext>
            </a:extLst>
          </p:cNvPr>
          <p:cNvGraphicFramePr>
            <a:graphicFrameLocks noGrp="1"/>
          </p:cNvGraphicFramePr>
          <p:nvPr/>
        </p:nvGraphicFramePr>
        <p:xfrm>
          <a:off x="74427" y="530094"/>
          <a:ext cx="5890437" cy="155448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9" name="表格 8">
            <a:extLst>
              <a:ext uri="{FF2B5EF4-FFF2-40B4-BE49-F238E27FC236}">
                <a16:creationId xmlns:a16="http://schemas.microsoft.com/office/drawing/2014/main" id="{2F39BF90-8F6F-86C8-C592-2B6C9C2B8786}"/>
              </a:ext>
            </a:extLst>
          </p:cNvPr>
          <p:cNvGraphicFramePr>
            <a:graphicFrameLocks noGrp="1"/>
          </p:cNvGraphicFramePr>
          <p:nvPr>
            <p:extLst>
              <p:ext uri="{D42A27DB-BD31-4B8C-83A1-F6EECF244321}">
                <p14:modId xmlns:p14="http://schemas.microsoft.com/office/powerpoint/2010/main" val="898738615"/>
              </p:ext>
            </p:extLst>
          </p:nvPr>
        </p:nvGraphicFramePr>
        <p:xfrm>
          <a:off x="6109999" y="4178537"/>
          <a:ext cx="6082001" cy="2150775"/>
        </p:xfrm>
        <a:graphic>
          <a:graphicData uri="http://schemas.openxmlformats.org/drawingml/2006/table">
            <a:tbl>
              <a:tblPr/>
              <a:tblGrid>
                <a:gridCol w="405334">
                  <a:extLst>
                    <a:ext uri="{9D8B030D-6E8A-4147-A177-3AD203B41FA5}">
                      <a16:colId xmlns:a16="http://schemas.microsoft.com/office/drawing/2014/main" val="495084399"/>
                    </a:ext>
                  </a:extLst>
                </a:gridCol>
                <a:gridCol w="151885">
                  <a:extLst>
                    <a:ext uri="{9D8B030D-6E8A-4147-A177-3AD203B41FA5}">
                      <a16:colId xmlns:a16="http://schemas.microsoft.com/office/drawing/2014/main" val="3614210242"/>
                    </a:ext>
                  </a:extLst>
                </a:gridCol>
                <a:gridCol w="470437">
                  <a:extLst>
                    <a:ext uri="{9D8B030D-6E8A-4147-A177-3AD203B41FA5}">
                      <a16:colId xmlns:a16="http://schemas.microsoft.com/office/drawing/2014/main" val="1442124609"/>
                    </a:ext>
                  </a:extLst>
                </a:gridCol>
                <a:gridCol w="1903510">
                  <a:extLst>
                    <a:ext uri="{9D8B030D-6E8A-4147-A177-3AD203B41FA5}">
                      <a16:colId xmlns:a16="http://schemas.microsoft.com/office/drawing/2014/main" val="3603859997"/>
                    </a:ext>
                  </a:extLst>
                </a:gridCol>
                <a:gridCol w="750454">
                  <a:extLst>
                    <a:ext uri="{9D8B030D-6E8A-4147-A177-3AD203B41FA5}">
                      <a16:colId xmlns:a16="http://schemas.microsoft.com/office/drawing/2014/main" val="4076488391"/>
                    </a:ext>
                  </a:extLst>
                </a:gridCol>
                <a:gridCol w="477929">
                  <a:extLst>
                    <a:ext uri="{9D8B030D-6E8A-4147-A177-3AD203B41FA5}">
                      <a16:colId xmlns:a16="http://schemas.microsoft.com/office/drawing/2014/main" val="3254101706"/>
                    </a:ext>
                  </a:extLst>
                </a:gridCol>
                <a:gridCol w="348955">
                  <a:extLst>
                    <a:ext uri="{9D8B030D-6E8A-4147-A177-3AD203B41FA5}">
                      <a16:colId xmlns:a16="http://schemas.microsoft.com/office/drawing/2014/main" val="3712391277"/>
                    </a:ext>
                  </a:extLst>
                </a:gridCol>
                <a:gridCol w="568896">
                  <a:extLst>
                    <a:ext uri="{9D8B030D-6E8A-4147-A177-3AD203B41FA5}">
                      <a16:colId xmlns:a16="http://schemas.microsoft.com/office/drawing/2014/main" val="3068934244"/>
                    </a:ext>
                  </a:extLst>
                </a:gridCol>
                <a:gridCol w="263419">
                  <a:extLst>
                    <a:ext uri="{9D8B030D-6E8A-4147-A177-3AD203B41FA5}">
                      <a16:colId xmlns:a16="http://schemas.microsoft.com/office/drawing/2014/main" val="2527660299"/>
                    </a:ext>
                  </a:extLst>
                </a:gridCol>
                <a:gridCol w="408832">
                  <a:extLst>
                    <a:ext uri="{9D8B030D-6E8A-4147-A177-3AD203B41FA5}">
                      <a16:colId xmlns:a16="http://schemas.microsoft.com/office/drawing/2014/main" val="3641075278"/>
                    </a:ext>
                  </a:extLst>
                </a:gridCol>
                <a:gridCol w="332350">
                  <a:extLst>
                    <a:ext uri="{9D8B030D-6E8A-4147-A177-3AD203B41FA5}">
                      <a16:colId xmlns:a16="http://schemas.microsoft.com/office/drawing/2014/main" val="3618613915"/>
                    </a:ext>
                  </a:extLst>
                </a:gridCol>
              </a:tblGrid>
              <a:tr h="183914">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928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HW portion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HW portion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89059500"/>
                  </a:ext>
                </a:extLst>
              </a:tr>
              <a:tr h="22537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64900425"/>
                  </a:ext>
                </a:extLst>
              </a:tr>
              <a:tr h="22537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Upfront Service(new)</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00407878"/>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28+2+3.3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28+2+3.3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3" name="表格 2">
            <a:extLst>
              <a:ext uri="{FF2B5EF4-FFF2-40B4-BE49-F238E27FC236}">
                <a16:creationId xmlns:a16="http://schemas.microsoft.com/office/drawing/2014/main" id="{C8677288-175B-60F4-970D-80059FB995B9}"/>
              </a:ext>
            </a:extLst>
          </p:cNvPr>
          <p:cNvGraphicFramePr>
            <a:graphicFrameLocks noGrp="1"/>
          </p:cNvGraphicFramePr>
          <p:nvPr>
            <p:extLst>
              <p:ext uri="{D42A27DB-BD31-4B8C-83A1-F6EECF244321}">
                <p14:modId xmlns:p14="http://schemas.microsoft.com/office/powerpoint/2010/main" val="832736361"/>
              </p:ext>
            </p:extLst>
          </p:nvPr>
        </p:nvGraphicFramePr>
        <p:xfrm>
          <a:off x="6109999" y="2954923"/>
          <a:ext cx="6056277" cy="1143743"/>
        </p:xfrm>
        <a:graphic>
          <a:graphicData uri="http://schemas.openxmlformats.org/drawingml/2006/table">
            <a:tbl>
              <a:tblPr/>
              <a:tblGrid>
                <a:gridCol w="448968">
                  <a:extLst>
                    <a:ext uri="{9D8B030D-6E8A-4147-A177-3AD203B41FA5}">
                      <a16:colId xmlns:a16="http://schemas.microsoft.com/office/drawing/2014/main" val="495084399"/>
                    </a:ext>
                  </a:extLst>
                </a:gridCol>
                <a:gridCol w="255015">
                  <a:extLst>
                    <a:ext uri="{9D8B030D-6E8A-4147-A177-3AD203B41FA5}">
                      <a16:colId xmlns:a16="http://schemas.microsoft.com/office/drawing/2014/main" val="3614210242"/>
                    </a:ext>
                  </a:extLst>
                </a:gridCol>
                <a:gridCol w="587803">
                  <a:extLst>
                    <a:ext uri="{9D8B030D-6E8A-4147-A177-3AD203B41FA5}">
                      <a16:colId xmlns:a16="http://schemas.microsoft.com/office/drawing/2014/main" val="1442124609"/>
                    </a:ext>
                  </a:extLst>
                </a:gridCol>
                <a:gridCol w="2412203">
                  <a:extLst>
                    <a:ext uri="{9D8B030D-6E8A-4147-A177-3AD203B41FA5}">
                      <a16:colId xmlns:a16="http://schemas.microsoft.com/office/drawing/2014/main" val="3603859997"/>
                    </a:ext>
                  </a:extLst>
                </a:gridCol>
                <a:gridCol w="294132">
                  <a:extLst>
                    <a:ext uri="{9D8B030D-6E8A-4147-A177-3AD203B41FA5}">
                      <a16:colId xmlns:a16="http://schemas.microsoft.com/office/drawing/2014/main" val="4076488391"/>
                    </a:ext>
                  </a:extLst>
                </a:gridCol>
                <a:gridCol w="415822">
                  <a:extLst>
                    <a:ext uri="{9D8B030D-6E8A-4147-A177-3AD203B41FA5}">
                      <a16:colId xmlns:a16="http://schemas.microsoft.com/office/drawing/2014/main" val="3254101706"/>
                    </a:ext>
                  </a:extLst>
                </a:gridCol>
                <a:gridCol w="384636">
                  <a:extLst>
                    <a:ext uri="{9D8B030D-6E8A-4147-A177-3AD203B41FA5}">
                      <a16:colId xmlns:a16="http://schemas.microsoft.com/office/drawing/2014/main" val="3712391277"/>
                    </a:ext>
                  </a:extLst>
                </a:gridCol>
                <a:gridCol w="280680">
                  <a:extLst>
                    <a:ext uri="{9D8B030D-6E8A-4147-A177-3AD203B41FA5}">
                      <a16:colId xmlns:a16="http://schemas.microsoft.com/office/drawing/2014/main" val="1008187684"/>
                    </a:ext>
                  </a:extLst>
                </a:gridCol>
                <a:gridCol w="280680">
                  <a:extLst>
                    <a:ext uri="{9D8B030D-6E8A-4147-A177-3AD203B41FA5}">
                      <a16:colId xmlns:a16="http://schemas.microsoft.com/office/drawing/2014/main" val="2527660299"/>
                    </a:ext>
                  </a:extLst>
                </a:gridCol>
                <a:gridCol w="363843">
                  <a:extLst>
                    <a:ext uri="{9D8B030D-6E8A-4147-A177-3AD203B41FA5}">
                      <a16:colId xmlns:a16="http://schemas.microsoft.com/office/drawing/2014/main" val="3641075278"/>
                    </a:ext>
                  </a:extLst>
                </a:gridCol>
                <a:gridCol w="332495">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436655708"/>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4" name="表格 3">
            <a:extLst>
              <a:ext uri="{FF2B5EF4-FFF2-40B4-BE49-F238E27FC236}">
                <a16:creationId xmlns:a16="http://schemas.microsoft.com/office/drawing/2014/main" id="{9484DD08-3615-31B9-07A4-1EC075649FCA}"/>
              </a:ext>
            </a:extLst>
          </p:cNvPr>
          <p:cNvGraphicFramePr>
            <a:graphicFrameLocks noGrp="1"/>
          </p:cNvGraphicFramePr>
          <p:nvPr>
            <p:extLst>
              <p:ext uri="{D42A27DB-BD31-4B8C-83A1-F6EECF244321}">
                <p14:modId xmlns:p14="http://schemas.microsoft.com/office/powerpoint/2010/main" val="2594498941"/>
              </p:ext>
            </p:extLst>
          </p:nvPr>
        </p:nvGraphicFramePr>
        <p:xfrm>
          <a:off x="74427" y="2117069"/>
          <a:ext cx="5923424" cy="1143743"/>
        </p:xfrm>
        <a:graphic>
          <a:graphicData uri="http://schemas.openxmlformats.org/drawingml/2006/table">
            <a:tbl>
              <a:tblPr/>
              <a:tblGrid>
                <a:gridCol w="419239">
                  <a:extLst>
                    <a:ext uri="{9D8B030D-6E8A-4147-A177-3AD203B41FA5}">
                      <a16:colId xmlns:a16="http://schemas.microsoft.com/office/drawing/2014/main" val="495084399"/>
                    </a:ext>
                  </a:extLst>
                </a:gridCol>
                <a:gridCol w="2323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245093">
                  <a:extLst>
                    <a:ext uri="{9D8B030D-6E8A-4147-A177-3AD203B41FA5}">
                      <a16:colId xmlns:a16="http://schemas.microsoft.com/office/drawing/2014/main" val="3603859997"/>
                    </a:ext>
                  </a:extLst>
                </a:gridCol>
                <a:gridCol w="456447">
                  <a:extLst>
                    <a:ext uri="{9D8B030D-6E8A-4147-A177-3AD203B41FA5}">
                      <a16:colId xmlns:a16="http://schemas.microsoft.com/office/drawing/2014/main" val="4076488391"/>
                    </a:ext>
                  </a:extLst>
                </a:gridCol>
                <a:gridCol w="415873">
                  <a:extLst>
                    <a:ext uri="{9D8B030D-6E8A-4147-A177-3AD203B41FA5}">
                      <a16:colId xmlns:a16="http://schemas.microsoft.com/office/drawing/2014/main" val="3254101706"/>
                    </a:ext>
                  </a:extLst>
                </a:gridCol>
                <a:gridCol w="355014">
                  <a:extLst>
                    <a:ext uri="{9D8B030D-6E8A-4147-A177-3AD203B41FA5}">
                      <a16:colId xmlns:a16="http://schemas.microsoft.com/office/drawing/2014/main" val="3712391277"/>
                    </a:ext>
                  </a:extLst>
                </a:gridCol>
                <a:gridCol w="263724">
                  <a:extLst>
                    <a:ext uri="{9D8B030D-6E8A-4147-A177-3AD203B41FA5}">
                      <a16:colId xmlns:a16="http://schemas.microsoft.com/office/drawing/2014/main" val="3643425350"/>
                    </a:ext>
                  </a:extLst>
                </a:gridCol>
                <a:gridCol w="263724">
                  <a:extLst>
                    <a:ext uri="{9D8B030D-6E8A-4147-A177-3AD203B41FA5}">
                      <a16:colId xmlns:a16="http://schemas.microsoft.com/office/drawing/2014/main" val="2527660299"/>
                    </a:ext>
                  </a:extLst>
                </a:gridCol>
                <a:gridCol w="395587">
                  <a:extLst>
                    <a:ext uri="{9D8B030D-6E8A-4147-A177-3AD203B41FA5}">
                      <a16:colId xmlns:a16="http://schemas.microsoft.com/office/drawing/2014/main" val="3641075278"/>
                    </a:ext>
                  </a:extLst>
                </a:gridCol>
                <a:gridCol w="304139">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605409329"/>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
        <p:nvSpPr>
          <p:cNvPr id="5" name="矩形 4">
            <a:extLst>
              <a:ext uri="{FF2B5EF4-FFF2-40B4-BE49-F238E27FC236}">
                <a16:creationId xmlns:a16="http://schemas.microsoft.com/office/drawing/2014/main" id="{D6EE24DF-DF56-EE03-8A50-CBB08003E1C3}"/>
              </a:ext>
            </a:extLst>
          </p:cNvPr>
          <p:cNvSpPr/>
          <p:nvPr/>
        </p:nvSpPr>
        <p:spPr>
          <a:xfrm>
            <a:off x="6109998" y="4178537"/>
            <a:ext cx="6082002" cy="2150774"/>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7" name="对话气泡: 矩形 11">
            <a:extLst>
              <a:ext uri="{FF2B5EF4-FFF2-40B4-BE49-F238E27FC236}">
                <a16:creationId xmlns:a16="http://schemas.microsoft.com/office/drawing/2014/main" id="{50B9E6BF-2F27-34BF-D501-AC5573F9E1AE}"/>
              </a:ext>
            </a:extLst>
          </p:cNvPr>
          <p:cNvSpPr/>
          <p:nvPr/>
        </p:nvSpPr>
        <p:spPr>
          <a:xfrm>
            <a:off x="12304148" y="3127735"/>
            <a:ext cx="1307455" cy="1941861"/>
          </a:xfrm>
          <a:prstGeom prst="wedgeRectCallout">
            <a:avLst>
              <a:gd name="adj1" fmla="val -67688"/>
              <a:gd name="adj2" fmla="val -123903"/>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spTree>
    <p:extLst>
      <p:ext uri="{BB962C8B-B14F-4D97-AF65-F5344CB8AC3E}">
        <p14:creationId xmlns:p14="http://schemas.microsoft.com/office/powerpoint/2010/main" val="306374321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B61C94-E11C-75B3-2A4E-A00BB169591E}"/>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A3F219DC-0D15-B138-56E7-D00302E38324}"/>
              </a:ext>
            </a:extLst>
          </p:cNvPr>
          <p:cNvGraphicFramePr>
            <a:graphicFrameLocks noGrp="1"/>
          </p:cNvGraphicFramePr>
          <p:nvPr>
            <p:extLst>
              <p:ext uri="{D42A27DB-BD31-4B8C-83A1-F6EECF244321}">
                <p14:modId xmlns:p14="http://schemas.microsoft.com/office/powerpoint/2010/main" val="3409349841"/>
              </p:ext>
            </p:extLst>
          </p:nvPr>
        </p:nvGraphicFramePr>
        <p:xfrm>
          <a:off x="99627" y="447365"/>
          <a:ext cx="5872548" cy="1303020"/>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596359">
                  <a:extLst>
                    <a:ext uri="{9D8B030D-6E8A-4147-A177-3AD203B41FA5}">
                      <a16:colId xmlns:a16="http://schemas.microsoft.com/office/drawing/2014/main" val="4114365151"/>
                    </a:ext>
                  </a:extLst>
                </a:gridCol>
                <a:gridCol w="737141">
                  <a:extLst>
                    <a:ext uri="{9D8B030D-6E8A-4147-A177-3AD203B41FA5}">
                      <a16:colId xmlns:a16="http://schemas.microsoft.com/office/drawing/2014/main" val="4075178046"/>
                    </a:ext>
                  </a:extLst>
                </a:gridCol>
                <a:gridCol w="688388">
                  <a:extLst>
                    <a:ext uri="{9D8B030D-6E8A-4147-A177-3AD203B41FA5}">
                      <a16:colId xmlns:a16="http://schemas.microsoft.com/office/drawing/2014/main" val="973533418"/>
                    </a:ext>
                  </a:extLst>
                </a:gridCol>
                <a:gridCol w="687656">
                  <a:extLst>
                    <a:ext uri="{9D8B030D-6E8A-4147-A177-3AD203B41FA5}">
                      <a16:colId xmlns:a16="http://schemas.microsoft.com/office/drawing/2014/main" val="2377711782"/>
                    </a:ext>
                  </a:extLst>
                </a:gridCol>
                <a:gridCol w="68765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32935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37137">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Quarterly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7" name="文本框 6">
            <a:extLst>
              <a:ext uri="{FF2B5EF4-FFF2-40B4-BE49-F238E27FC236}">
                <a16:creationId xmlns:a16="http://schemas.microsoft.com/office/drawing/2014/main" id="{0FD100D0-44AF-C006-2550-3F5612772850}"/>
              </a:ext>
            </a:extLst>
          </p:cNvPr>
          <p:cNvSpPr txBox="1"/>
          <p:nvPr/>
        </p:nvSpPr>
        <p:spPr>
          <a:xfrm>
            <a:off x="143235" y="47255"/>
            <a:ext cx="4470947" cy="400110"/>
          </a:xfrm>
          <a:prstGeom prst="rect">
            <a:avLst/>
          </a:prstGeom>
          <a:noFill/>
        </p:spPr>
        <p:txBody>
          <a:bodyPr wrap="square" rtlCol="0">
            <a:spAutoFit/>
          </a:bodyPr>
          <a:lstStyle/>
          <a:p>
            <a:r>
              <a:rPr lang="nl-NL" altLang="zh-CN" sz="2000" b="1"/>
              <a:t>DaaS_AFE HUB_MSA/MLA</a:t>
            </a:r>
            <a:endParaRPr lang="zh-CN" altLang="en-US" sz="2000" b="1"/>
          </a:p>
        </p:txBody>
      </p:sp>
      <p:graphicFrame>
        <p:nvGraphicFramePr>
          <p:cNvPr id="10" name="表格 9">
            <a:extLst>
              <a:ext uri="{FF2B5EF4-FFF2-40B4-BE49-F238E27FC236}">
                <a16:creationId xmlns:a16="http://schemas.microsoft.com/office/drawing/2014/main" id="{50B07D63-BFE6-B98E-DB7B-6920D468D3F4}"/>
              </a:ext>
            </a:extLst>
          </p:cNvPr>
          <p:cNvGraphicFramePr>
            <a:graphicFrameLocks noGrp="1"/>
          </p:cNvGraphicFramePr>
          <p:nvPr>
            <p:extLst>
              <p:ext uri="{D42A27DB-BD31-4B8C-83A1-F6EECF244321}">
                <p14:modId xmlns:p14="http://schemas.microsoft.com/office/powerpoint/2010/main" val="1030430184"/>
              </p:ext>
            </p:extLst>
          </p:nvPr>
        </p:nvGraphicFramePr>
        <p:xfrm>
          <a:off x="6096000" y="47255"/>
          <a:ext cx="6039293"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At the beginning of the quarter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B087C131-511E-6A3D-A17E-345433466397}"/>
              </a:ext>
            </a:extLst>
          </p:cNvPr>
          <p:cNvGraphicFramePr>
            <a:graphicFrameLocks noGrp="1"/>
          </p:cNvGraphicFramePr>
          <p:nvPr>
            <p:extLst>
              <p:ext uri="{D42A27DB-BD31-4B8C-83A1-F6EECF244321}">
                <p14:modId xmlns:p14="http://schemas.microsoft.com/office/powerpoint/2010/main" val="3129992537"/>
              </p:ext>
            </p:extLst>
          </p:nvPr>
        </p:nvGraphicFramePr>
        <p:xfrm>
          <a:off x="6095998" y="2422332"/>
          <a:ext cx="6039293"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Quarterly payment to S&amp;D</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Quarterly Billing</a:t>
                      </a:r>
                      <a:r>
                        <a:rPr lang="en-US" altLang="zh-CN" sz="900" b="0" i="0">
                          <a:solidFill>
                            <a:srgbClr val="000000"/>
                          </a:solidFill>
                          <a:effectLst/>
                          <a:latin typeface="Arial" panose="020B0604020202020204" pitchFamily="34" charset="0"/>
                        </a:rPr>
                        <a: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 name="表格 2">
            <a:extLst>
              <a:ext uri="{FF2B5EF4-FFF2-40B4-BE49-F238E27FC236}">
                <a16:creationId xmlns:a16="http://schemas.microsoft.com/office/drawing/2014/main" id="{DA0E904D-DF7B-FC32-0ABE-19B6FA120828}"/>
              </a:ext>
            </a:extLst>
          </p:cNvPr>
          <p:cNvGraphicFramePr>
            <a:graphicFrameLocks noGrp="1"/>
          </p:cNvGraphicFramePr>
          <p:nvPr>
            <p:extLst>
              <p:ext uri="{D42A27DB-BD31-4B8C-83A1-F6EECF244321}">
                <p14:modId xmlns:p14="http://schemas.microsoft.com/office/powerpoint/2010/main" val="657953702"/>
              </p:ext>
            </p:extLst>
          </p:nvPr>
        </p:nvGraphicFramePr>
        <p:xfrm>
          <a:off x="56708" y="1861260"/>
          <a:ext cx="5915467" cy="13276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2203991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5" name="表格 4">
            <a:extLst>
              <a:ext uri="{FF2B5EF4-FFF2-40B4-BE49-F238E27FC236}">
                <a16:creationId xmlns:a16="http://schemas.microsoft.com/office/drawing/2014/main" id="{56684A09-105E-9709-803C-E77840E6D8CF}"/>
              </a:ext>
            </a:extLst>
          </p:cNvPr>
          <p:cNvGraphicFramePr>
            <a:graphicFrameLocks noGrp="1"/>
          </p:cNvGraphicFramePr>
          <p:nvPr>
            <p:extLst>
              <p:ext uri="{D42A27DB-BD31-4B8C-83A1-F6EECF244321}">
                <p14:modId xmlns:p14="http://schemas.microsoft.com/office/powerpoint/2010/main" val="1623964676"/>
              </p:ext>
            </p:extLst>
          </p:nvPr>
        </p:nvGraphicFramePr>
        <p:xfrm>
          <a:off x="56708" y="3299761"/>
          <a:ext cx="5915467" cy="13276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6" name="表格 5">
            <a:extLst>
              <a:ext uri="{FF2B5EF4-FFF2-40B4-BE49-F238E27FC236}">
                <a16:creationId xmlns:a16="http://schemas.microsoft.com/office/drawing/2014/main" id="{ECE7F5B0-E147-CEBE-F213-A13A70EDDF81}"/>
              </a:ext>
            </a:extLst>
          </p:cNvPr>
          <p:cNvGraphicFramePr>
            <a:graphicFrameLocks noGrp="1"/>
          </p:cNvGraphicFramePr>
          <p:nvPr>
            <p:extLst>
              <p:ext uri="{D42A27DB-BD31-4B8C-83A1-F6EECF244321}">
                <p14:modId xmlns:p14="http://schemas.microsoft.com/office/powerpoint/2010/main" val="2174845403"/>
              </p:ext>
            </p:extLst>
          </p:nvPr>
        </p:nvGraphicFramePr>
        <p:xfrm>
          <a:off x="6095997" y="3870214"/>
          <a:ext cx="6039293" cy="19372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1</a:t>
                      </a:r>
                      <a:r>
                        <a:rPr lang="en-US" altLang="zh-CN" sz="800" b="1" i="0" u="none" strike="noStrike" baseline="30000">
                          <a:solidFill>
                            <a:srgbClr val="FFFFFF"/>
                          </a:solidFill>
                          <a:effectLst/>
                          <a:latin typeface="Arial" panose="020B0604020202020204" pitchFamily="34" charset="0"/>
                        </a:rPr>
                        <a:t>st</a:t>
                      </a:r>
                      <a:r>
                        <a:rPr lang="en-US" altLang="zh-CN" sz="800" b="1" i="0" u="none" strike="noStrike">
                          <a:solidFill>
                            <a:srgbClr val="FFFFFF"/>
                          </a:solidFill>
                          <a:effectLst/>
                          <a:latin typeface="Arial" panose="020B0604020202020204" pitchFamily="34" charset="0"/>
                        </a:rPr>
                        <a:t> Month end adjustment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a:solidFill>
                            <a:srgbClr val="000000"/>
                          </a:solidFill>
                          <a:effectLst/>
                          <a:latin typeface="Arial" panose="020B0604020202020204" pitchFamily="34" charset="0"/>
                        </a:rPr>
                        <a:t>At the end of 1</a:t>
                      </a:r>
                      <a:r>
                        <a:rPr lang="en-US" altLang="zh-CN" sz="900" b="1" i="0" baseline="30000">
                          <a:solidFill>
                            <a:srgbClr val="000000"/>
                          </a:solidFill>
                          <a:effectLst/>
                          <a:latin typeface="Arial" panose="020B0604020202020204" pitchFamily="34" charset="0"/>
                        </a:rPr>
                        <a:t>st</a:t>
                      </a:r>
                      <a:r>
                        <a:rPr lang="en-US" altLang="zh-CN" sz="900" b="1" i="0">
                          <a:solidFill>
                            <a:srgbClr val="000000"/>
                          </a:solidFill>
                          <a:effectLst/>
                          <a:latin typeface="Arial" panose="020B0604020202020204" pitchFamily="34" charset="0"/>
                        </a:rPr>
                        <a:t> month of the quarter​</a:t>
                      </a:r>
                      <a:endParaRPr lang="en-US" altLang="zh-CN"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169747502"/>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93882986"/>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sp>
        <p:nvSpPr>
          <p:cNvPr id="12" name="对话气泡: 矩形 11">
            <a:extLst>
              <a:ext uri="{FF2B5EF4-FFF2-40B4-BE49-F238E27FC236}">
                <a16:creationId xmlns:a16="http://schemas.microsoft.com/office/drawing/2014/main" id="{AED0E0B3-D636-0E1F-53BA-3263F998241C}"/>
              </a:ext>
            </a:extLst>
          </p:cNvPr>
          <p:cNvSpPr/>
          <p:nvPr/>
        </p:nvSpPr>
        <p:spPr>
          <a:xfrm>
            <a:off x="12259114" y="5172496"/>
            <a:ext cx="2388340" cy="1479268"/>
          </a:xfrm>
          <a:prstGeom prst="wedgeRectCallout">
            <a:avLst>
              <a:gd name="adj1" fmla="val -58605"/>
              <a:gd name="adj2" fmla="val 17773"/>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AFE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a:p>
            <a:pPr algn="ctr"/>
            <a:endParaRPr lang="zh-CN" altLang="en-US" sz="1200">
              <a:solidFill>
                <a:schemeClr val="tx1"/>
              </a:solidFill>
            </a:endParaRPr>
          </a:p>
        </p:txBody>
      </p:sp>
      <p:sp>
        <p:nvSpPr>
          <p:cNvPr id="13" name="对话气泡: 矩形 12">
            <a:extLst>
              <a:ext uri="{FF2B5EF4-FFF2-40B4-BE49-F238E27FC236}">
                <a16:creationId xmlns:a16="http://schemas.microsoft.com/office/drawing/2014/main" id="{78631FBE-8B2D-41AA-DDB1-C24F3D08683A}"/>
              </a:ext>
            </a:extLst>
          </p:cNvPr>
          <p:cNvSpPr/>
          <p:nvPr/>
        </p:nvSpPr>
        <p:spPr>
          <a:xfrm>
            <a:off x="-2403556" y="5378732"/>
            <a:ext cx="2388340" cy="1479268"/>
          </a:xfrm>
          <a:prstGeom prst="wedgeRectCallout">
            <a:avLst>
              <a:gd name="adj1" fmla="val 61150"/>
              <a:gd name="adj2" fmla="val -3541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a:p>
            <a:pPr algn="ctr"/>
            <a:endParaRPr lang="zh-CN" altLang="en-US" sz="1200">
              <a:solidFill>
                <a:schemeClr val="tx1"/>
              </a:solidFill>
            </a:endParaRPr>
          </a:p>
        </p:txBody>
      </p:sp>
    </p:spTree>
    <p:extLst>
      <p:ext uri="{BB962C8B-B14F-4D97-AF65-F5344CB8AC3E}">
        <p14:creationId xmlns:p14="http://schemas.microsoft.com/office/powerpoint/2010/main" val="174913044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B81DA7-2C63-8204-6976-4711C9E415F6}"/>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4B8BFB5C-CE30-3283-A7FB-9E9DCCC79735}"/>
              </a:ext>
            </a:extLst>
          </p:cNvPr>
          <p:cNvGraphicFramePr>
            <a:graphicFrameLocks noGrp="1"/>
          </p:cNvGraphicFramePr>
          <p:nvPr>
            <p:extLst>
              <p:ext uri="{D42A27DB-BD31-4B8C-83A1-F6EECF244321}">
                <p14:modId xmlns:p14="http://schemas.microsoft.com/office/powerpoint/2010/main" val="2835354955"/>
              </p:ext>
            </p:extLst>
          </p:nvPr>
        </p:nvGraphicFramePr>
        <p:xfrm>
          <a:off x="99627" y="447365"/>
          <a:ext cx="5872548" cy="1303020"/>
        </p:xfrm>
        <a:graphic>
          <a:graphicData uri="http://schemas.openxmlformats.org/drawingml/2006/table">
            <a:tbl>
              <a:tblPr firstRow="1" bandRow="1">
                <a:tableStyleId>{3C2FFA5D-87B4-456A-9821-1D502468CF0F}</a:tableStyleId>
              </a:tblPr>
              <a:tblGrid>
                <a:gridCol w="623387">
                  <a:extLst>
                    <a:ext uri="{9D8B030D-6E8A-4147-A177-3AD203B41FA5}">
                      <a16:colId xmlns:a16="http://schemas.microsoft.com/office/drawing/2014/main" val="869603910"/>
                    </a:ext>
                  </a:extLst>
                </a:gridCol>
                <a:gridCol w="691116">
                  <a:extLst>
                    <a:ext uri="{9D8B030D-6E8A-4147-A177-3AD203B41FA5}">
                      <a16:colId xmlns:a16="http://schemas.microsoft.com/office/drawing/2014/main" val="238663902"/>
                    </a:ext>
                  </a:extLst>
                </a:gridCol>
                <a:gridCol w="659219">
                  <a:extLst>
                    <a:ext uri="{9D8B030D-6E8A-4147-A177-3AD203B41FA5}">
                      <a16:colId xmlns:a16="http://schemas.microsoft.com/office/drawing/2014/main" val="4114365151"/>
                    </a:ext>
                  </a:extLst>
                </a:gridCol>
                <a:gridCol w="727001">
                  <a:extLst>
                    <a:ext uri="{9D8B030D-6E8A-4147-A177-3AD203B41FA5}">
                      <a16:colId xmlns:a16="http://schemas.microsoft.com/office/drawing/2014/main" val="4075178046"/>
                    </a:ext>
                  </a:extLst>
                </a:gridCol>
                <a:gridCol w="688388">
                  <a:extLst>
                    <a:ext uri="{9D8B030D-6E8A-4147-A177-3AD203B41FA5}">
                      <a16:colId xmlns:a16="http://schemas.microsoft.com/office/drawing/2014/main" val="973533418"/>
                    </a:ext>
                  </a:extLst>
                </a:gridCol>
                <a:gridCol w="711122">
                  <a:extLst>
                    <a:ext uri="{9D8B030D-6E8A-4147-A177-3AD203B41FA5}">
                      <a16:colId xmlns:a16="http://schemas.microsoft.com/office/drawing/2014/main" val="2377711782"/>
                    </a:ext>
                  </a:extLst>
                </a:gridCol>
                <a:gridCol w="664190">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32935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37137">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Quarterly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7" name="文本框 6">
            <a:extLst>
              <a:ext uri="{FF2B5EF4-FFF2-40B4-BE49-F238E27FC236}">
                <a16:creationId xmlns:a16="http://schemas.microsoft.com/office/drawing/2014/main" id="{FABAA164-56A2-AD4D-A1DF-C93D0596281A}"/>
              </a:ext>
            </a:extLst>
          </p:cNvPr>
          <p:cNvSpPr txBox="1"/>
          <p:nvPr/>
        </p:nvSpPr>
        <p:spPr>
          <a:xfrm>
            <a:off x="143235" y="47255"/>
            <a:ext cx="4470947" cy="400110"/>
          </a:xfrm>
          <a:prstGeom prst="rect">
            <a:avLst/>
          </a:prstGeom>
          <a:noFill/>
        </p:spPr>
        <p:txBody>
          <a:bodyPr wrap="square" rtlCol="0">
            <a:spAutoFit/>
          </a:bodyPr>
          <a:lstStyle/>
          <a:p>
            <a:r>
              <a:rPr lang="nl-NL" altLang="zh-CN" sz="2000" b="1"/>
              <a:t>DaaS_AFE HUB_MSA/MLA</a:t>
            </a:r>
            <a:endParaRPr lang="zh-CN" altLang="en-US" sz="2000" b="1"/>
          </a:p>
        </p:txBody>
      </p:sp>
      <p:graphicFrame>
        <p:nvGraphicFramePr>
          <p:cNvPr id="10" name="表格 9">
            <a:extLst>
              <a:ext uri="{FF2B5EF4-FFF2-40B4-BE49-F238E27FC236}">
                <a16:creationId xmlns:a16="http://schemas.microsoft.com/office/drawing/2014/main" id="{39B934ED-2F77-FCC1-256B-F5C4E570077A}"/>
              </a:ext>
            </a:extLst>
          </p:cNvPr>
          <p:cNvGraphicFramePr>
            <a:graphicFrameLocks noGrp="1"/>
          </p:cNvGraphicFramePr>
          <p:nvPr>
            <p:extLst>
              <p:ext uri="{D42A27DB-BD31-4B8C-83A1-F6EECF244321}">
                <p14:modId xmlns:p14="http://schemas.microsoft.com/office/powerpoint/2010/main" val="3993367076"/>
              </p:ext>
            </p:extLst>
          </p:nvPr>
        </p:nvGraphicFramePr>
        <p:xfrm>
          <a:off x="6087017" y="47255"/>
          <a:ext cx="6037122"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42048">
                  <a:extLst>
                    <a:ext uri="{9D8B030D-6E8A-4147-A177-3AD203B41FA5}">
                      <a16:colId xmlns:a16="http://schemas.microsoft.com/office/drawing/2014/main" val="4076488391"/>
                    </a:ext>
                  </a:extLst>
                </a:gridCol>
                <a:gridCol w="342048">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273786">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a:solidFill>
                            <a:srgbClr val="000000"/>
                          </a:solidFill>
                          <a:effectLst/>
                          <a:latin typeface="Arial" panose="020B0604020202020204" pitchFamily="34" charset="0"/>
                        </a:rPr>
                        <a:t>At the beginning of the quarter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BAC983AA-6A0E-6256-B282-EF6B1C4A42B8}"/>
              </a:ext>
            </a:extLst>
          </p:cNvPr>
          <p:cNvGraphicFramePr>
            <a:graphicFrameLocks noGrp="1"/>
          </p:cNvGraphicFramePr>
          <p:nvPr>
            <p:extLst>
              <p:ext uri="{D42A27DB-BD31-4B8C-83A1-F6EECF244321}">
                <p14:modId xmlns:p14="http://schemas.microsoft.com/office/powerpoint/2010/main" val="443960981"/>
              </p:ext>
            </p:extLst>
          </p:nvPr>
        </p:nvGraphicFramePr>
        <p:xfrm>
          <a:off x="16254" y="1838244"/>
          <a:ext cx="6039293"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2203991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3" name="表格 2">
            <a:extLst>
              <a:ext uri="{FF2B5EF4-FFF2-40B4-BE49-F238E27FC236}">
                <a16:creationId xmlns:a16="http://schemas.microsoft.com/office/drawing/2014/main" id="{C574E66C-101F-310F-6E02-EBA532E9B69D}"/>
              </a:ext>
            </a:extLst>
          </p:cNvPr>
          <p:cNvGraphicFramePr>
            <a:graphicFrameLocks noGrp="1"/>
          </p:cNvGraphicFramePr>
          <p:nvPr>
            <p:extLst>
              <p:ext uri="{D42A27DB-BD31-4B8C-83A1-F6EECF244321}">
                <p14:modId xmlns:p14="http://schemas.microsoft.com/office/powerpoint/2010/main" val="452950158"/>
              </p:ext>
            </p:extLst>
          </p:nvPr>
        </p:nvGraphicFramePr>
        <p:xfrm>
          <a:off x="6087017" y="3015243"/>
          <a:ext cx="6088729" cy="1332007"/>
        </p:xfrm>
        <a:graphic>
          <a:graphicData uri="http://schemas.openxmlformats.org/drawingml/2006/table">
            <a:tbl>
              <a:tblPr/>
              <a:tblGrid>
                <a:gridCol w="433762">
                  <a:extLst>
                    <a:ext uri="{9D8B030D-6E8A-4147-A177-3AD203B41FA5}">
                      <a16:colId xmlns:a16="http://schemas.microsoft.com/office/drawing/2014/main" val="495084399"/>
                    </a:ext>
                  </a:extLst>
                </a:gridCol>
                <a:gridCol w="238503">
                  <a:extLst>
                    <a:ext uri="{9D8B030D-6E8A-4147-A177-3AD203B41FA5}">
                      <a16:colId xmlns:a16="http://schemas.microsoft.com/office/drawing/2014/main" val="3614210242"/>
                    </a:ext>
                  </a:extLst>
                </a:gridCol>
                <a:gridCol w="567608">
                  <a:extLst>
                    <a:ext uri="{9D8B030D-6E8A-4147-A177-3AD203B41FA5}">
                      <a16:colId xmlns:a16="http://schemas.microsoft.com/office/drawing/2014/main" val="1442124609"/>
                    </a:ext>
                  </a:extLst>
                </a:gridCol>
                <a:gridCol w="2063172">
                  <a:extLst>
                    <a:ext uri="{9D8B030D-6E8A-4147-A177-3AD203B41FA5}">
                      <a16:colId xmlns:a16="http://schemas.microsoft.com/office/drawing/2014/main" val="3603859997"/>
                    </a:ext>
                  </a:extLst>
                </a:gridCol>
                <a:gridCol w="398802">
                  <a:extLst>
                    <a:ext uri="{9D8B030D-6E8A-4147-A177-3AD203B41FA5}">
                      <a16:colId xmlns:a16="http://schemas.microsoft.com/office/drawing/2014/main" val="4076488391"/>
                    </a:ext>
                  </a:extLst>
                </a:gridCol>
                <a:gridCol w="339282">
                  <a:extLst>
                    <a:ext uri="{9D8B030D-6E8A-4147-A177-3AD203B41FA5}">
                      <a16:colId xmlns:a16="http://schemas.microsoft.com/office/drawing/2014/main" val="3254101706"/>
                    </a:ext>
                  </a:extLst>
                </a:gridCol>
                <a:gridCol w="261312">
                  <a:extLst>
                    <a:ext uri="{9D8B030D-6E8A-4147-A177-3AD203B41FA5}">
                      <a16:colId xmlns:a16="http://schemas.microsoft.com/office/drawing/2014/main" val="3712391277"/>
                    </a:ext>
                  </a:extLst>
                </a:gridCol>
                <a:gridCol w="586504">
                  <a:extLst>
                    <a:ext uri="{9D8B030D-6E8A-4147-A177-3AD203B41FA5}">
                      <a16:colId xmlns:a16="http://schemas.microsoft.com/office/drawing/2014/main" val="134131131"/>
                    </a:ext>
                  </a:extLst>
                </a:gridCol>
                <a:gridCol w="334827">
                  <a:extLst>
                    <a:ext uri="{9D8B030D-6E8A-4147-A177-3AD203B41FA5}">
                      <a16:colId xmlns:a16="http://schemas.microsoft.com/office/drawing/2014/main" val="2527660299"/>
                    </a:ext>
                  </a:extLst>
                </a:gridCol>
                <a:gridCol w="368900">
                  <a:extLst>
                    <a:ext uri="{9D8B030D-6E8A-4147-A177-3AD203B41FA5}">
                      <a16:colId xmlns:a16="http://schemas.microsoft.com/office/drawing/2014/main" val="3641075278"/>
                    </a:ext>
                  </a:extLst>
                </a:gridCol>
                <a:gridCol w="49605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payment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Quarterly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5" name="表格 4">
            <a:extLst>
              <a:ext uri="{FF2B5EF4-FFF2-40B4-BE49-F238E27FC236}">
                <a16:creationId xmlns:a16="http://schemas.microsoft.com/office/drawing/2014/main" id="{B233EE73-B5FA-432C-37E5-A4FFD239D855}"/>
              </a:ext>
            </a:extLst>
          </p:cNvPr>
          <p:cNvGraphicFramePr>
            <a:graphicFrameLocks noGrp="1"/>
          </p:cNvGraphicFramePr>
          <p:nvPr>
            <p:extLst>
              <p:ext uri="{D42A27DB-BD31-4B8C-83A1-F6EECF244321}">
                <p14:modId xmlns:p14="http://schemas.microsoft.com/office/powerpoint/2010/main" val="2682858146"/>
              </p:ext>
            </p:extLst>
          </p:nvPr>
        </p:nvGraphicFramePr>
        <p:xfrm>
          <a:off x="0" y="3277210"/>
          <a:ext cx="6039293"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HK08</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sp>
        <p:nvSpPr>
          <p:cNvPr id="6" name="对话气泡: 矩形 5">
            <a:extLst>
              <a:ext uri="{FF2B5EF4-FFF2-40B4-BE49-F238E27FC236}">
                <a16:creationId xmlns:a16="http://schemas.microsoft.com/office/drawing/2014/main" id="{166F326F-478E-59E8-3FD7-D55B2FC27159}"/>
              </a:ext>
            </a:extLst>
          </p:cNvPr>
          <p:cNvSpPr/>
          <p:nvPr/>
        </p:nvSpPr>
        <p:spPr>
          <a:xfrm>
            <a:off x="-2565481" y="4083332"/>
            <a:ext cx="2388340" cy="1479268"/>
          </a:xfrm>
          <a:prstGeom prst="wedgeRectCallout">
            <a:avLst>
              <a:gd name="adj1" fmla="val 61150"/>
              <a:gd name="adj2" fmla="val -3541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a:p>
            <a:pPr algn="ctr"/>
            <a:endParaRPr lang="zh-CN" altLang="en-US" sz="1200">
              <a:solidFill>
                <a:schemeClr val="tx1"/>
              </a:solidFill>
            </a:endParaRPr>
          </a:p>
        </p:txBody>
      </p:sp>
    </p:spTree>
    <p:extLst>
      <p:ext uri="{BB962C8B-B14F-4D97-AF65-F5344CB8AC3E}">
        <p14:creationId xmlns:p14="http://schemas.microsoft.com/office/powerpoint/2010/main" val="238381129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819323-B3A9-BBA1-4B49-B019168D0906}"/>
            </a:ext>
          </a:extLst>
        </p:cNvPr>
        <p:cNvGrpSpPr/>
        <p:nvPr/>
      </p:nvGrpSpPr>
      <p:grpSpPr>
        <a:xfrm>
          <a:off x="0" y="0"/>
          <a:ext cx="0" cy="0"/>
          <a:chOff x="0" y="0"/>
          <a:chExt cx="0" cy="0"/>
        </a:xfrm>
      </p:grpSpPr>
      <p:graphicFrame>
        <p:nvGraphicFramePr>
          <p:cNvPr id="3" name="表格 2">
            <a:extLst>
              <a:ext uri="{FF2B5EF4-FFF2-40B4-BE49-F238E27FC236}">
                <a16:creationId xmlns:a16="http://schemas.microsoft.com/office/drawing/2014/main" id="{1325CBBE-5F93-5E43-01AC-BDF837C7F89D}"/>
              </a:ext>
            </a:extLst>
          </p:cNvPr>
          <p:cNvGraphicFramePr>
            <a:graphicFrameLocks noGrp="1"/>
          </p:cNvGraphicFramePr>
          <p:nvPr>
            <p:extLst>
              <p:ext uri="{D42A27DB-BD31-4B8C-83A1-F6EECF244321}">
                <p14:modId xmlns:p14="http://schemas.microsoft.com/office/powerpoint/2010/main" val="1334941204"/>
              </p:ext>
            </p:extLst>
          </p:nvPr>
        </p:nvGraphicFramePr>
        <p:xfrm>
          <a:off x="0" y="715595"/>
          <a:ext cx="12143384" cy="5908518"/>
        </p:xfrm>
        <a:graphic>
          <a:graphicData uri="http://schemas.openxmlformats.org/drawingml/2006/table">
            <a:tbl>
              <a:tblPr>
                <a:tableStyleId>{5C22544A-7EE6-4342-B048-85BDC9FD1C3A}</a:tableStyleId>
              </a:tblPr>
              <a:tblGrid>
                <a:gridCol w="1788591">
                  <a:extLst>
                    <a:ext uri="{9D8B030D-6E8A-4147-A177-3AD203B41FA5}">
                      <a16:colId xmlns:a16="http://schemas.microsoft.com/office/drawing/2014/main" val="4000147225"/>
                    </a:ext>
                  </a:extLst>
                </a:gridCol>
                <a:gridCol w="710679">
                  <a:extLst>
                    <a:ext uri="{9D8B030D-6E8A-4147-A177-3AD203B41FA5}">
                      <a16:colId xmlns:a16="http://schemas.microsoft.com/office/drawing/2014/main" val="3461385236"/>
                    </a:ext>
                  </a:extLst>
                </a:gridCol>
                <a:gridCol w="915466">
                  <a:extLst>
                    <a:ext uri="{9D8B030D-6E8A-4147-A177-3AD203B41FA5}">
                      <a16:colId xmlns:a16="http://schemas.microsoft.com/office/drawing/2014/main" val="483276459"/>
                    </a:ext>
                  </a:extLst>
                </a:gridCol>
                <a:gridCol w="991666">
                  <a:extLst>
                    <a:ext uri="{9D8B030D-6E8A-4147-A177-3AD203B41FA5}">
                      <a16:colId xmlns:a16="http://schemas.microsoft.com/office/drawing/2014/main" val="3787700465"/>
                    </a:ext>
                  </a:extLst>
                </a:gridCol>
                <a:gridCol w="663054">
                  <a:extLst>
                    <a:ext uri="{9D8B030D-6E8A-4147-A177-3AD203B41FA5}">
                      <a16:colId xmlns:a16="http://schemas.microsoft.com/office/drawing/2014/main" val="2232385994"/>
                    </a:ext>
                  </a:extLst>
                </a:gridCol>
                <a:gridCol w="620572">
                  <a:extLst>
                    <a:ext uri="{9D8B030D-6E8A-4147-A177-3AD203B41FA5}">
                      <a16:colId xmlns:a16="http://schemas.microsoft.com/office/drawing/2014/main" val="2624620257"/>
                    </a:ext>
                  </a:extLst>
                </a:gridCol>
                <a:gridCol w="941882">
                  <a:extLst>
                    <a:ext uri="{9D8B030D-6E8A-4147-A177-3AD203B41FA5}">
                      <a16:colId xmlns:a16="http://schemas.microsoft.com/office/drawing/2014/main" val="109940872"/>
                    </a:ext>
                  </a:extLst>
                </a:gridCol>
                <a:gridCol w="821042">
                  <a:extLst>
                    <a:ext uri="{9D8B030D-6E8A-4147-A177-3AD203B41FA5}">
                      <a16:colId xmlns:a16="http://schemas.microsoft.com/office/drawing/2014/main" val="2389772416"/>
                    </a:ext>
                  </a:extLst>
                </a:gridCol>
                <a:gridCol w="765224">
                  <a:extLst>
                    <a:ext uri="{9D8B030D-6E8A-4147-A177-3AD203B41FA5}">
                      <a16:colId xmlns:a16="http://schemas.microsoft.com/office/drawing/2014/main" val="874425061"/>
                    </a:ext>
                  </a:extLst>
                </a:gridCol>
                <a:gridCol w="1794651">
                  <a:extLst>
                    <a:ext uri="{9D8B030D-6E8A-4147-A177-3AD203B41FA5}">
                      <a16:colId xmlns:a16="http://schemas.microsoft.com/office/drawing/2014/main" val="2517919499"/>
                    </a:ext>
                  </a:extLst>
                </a:gridCol>
                <a:gridCol w="2130557">
                  <a:extLst>
                    <a:ext uri="{9D8B030D-6E8A-4147-A177-3AD203B41FA5}">
                      <a16:colId xmlns:a16="http://schemas.microsoft.com/office/drawing/2014/main" val="2358262028"/>
                    </a:ext>
                  </a:extLst>
                </a:gridCol>
              </a:tblGrid>
              <a:tr h="601273">
                <a:tc>
                  <a:txBody>
                    <a:bodyPr/>
                    <a:lstStyle/>
                    <a:p>
                      <a:pPr algn="l" fontAlgn="b"/>
                      <a:r>
                        <a:rPr lang="en-US" sz="1000" b="1" u="none" strike="noStrike">
                          <a:effectLst/>
                        </a:rPr>
                        <a:t>1.Offering</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2. Business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3.Contract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4.Charge 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5. RTM</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6. Lease </a:t>
                      </a:r>
                    </a:p>
                    <a:p>
                      <a:pPr algn="l" fontAlgn="b"/>
                      <a:r>
                        <a:rPr lang="en-US" sz="1000" b="1" u="none" strike="noStrike">
                          <a:effectLst/>
                        </a:rPr>
                        <a:t>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7. Billing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8. Funding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9. Product Ctgry</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10. Events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11. Offering Elements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1316032673"/>
                  </a:ext>
                </a:extLst>
              </a:tr>
              <a:tr h="312929">
                <a:tc>
                  <a:txBody>
                    <a:bodyPr/>
                    <a:lstStyle/>
                    <a:p>
                      <a:pPr algn="l" fontAlgn="b"/>
                      <a:r>
                        <a:rPr lang="en-US" sz="1000" u="none" strike="noStrike">
                          <a:effectLst/>
                        </a:rPr>
                        <a:t>1.1DaaS</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3.1 MSA</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4.1 Fixed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5.1 Direct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6.1 OL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7.1 Monthly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8.1 Internal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9.1 Lenovo</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10.1 Normal Pass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 HW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5508739"/>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3.2 MLA</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5.2 Indirect</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6.2 FL</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7.2 Quarterly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9.2 3rd party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10.2 EOT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11.2 SW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4318484"/>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10.3 Early termination-</a:t>
                      </a:r>
                    </a:p>
                    <a:p>
                      <a:pPr algn="l" fontAlgn="b"/>
                      <a:r>
                        <a:rPr lang="en-US" sz="1000" u="none" strike="noStrike">
                          <a:effectLst/>
                        </a:rPr>
                        <a:t>Device Return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11.3 SVC - upfront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6459778"/>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2.4 Central </a:t>
                      </a:r>
                    </a:p>
                    <a:p>
                      <a:pPr algn="l" fontAlgn="b"/>
                      <a:r>
                        <a:rPr lang="en-US" sz="1000" u="none" strike="noStrike">
                          <a:effectLst/>
                        </a:rPr>
                        <a:t>Billing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10.4 Early termination-</a:t>
                      </a:r>
                    </a:p>
                    <a:p>
                      <a:pPr algn="l" fontAlgn="b"/>
                      <a:r>
                        <a:rPr lang="en-US" sz="1000" u="none" strike="noStrike">
                          <a:effectLst/>
                        </a:rPr>
                        <a:t>Device Lost/Stolen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11.4 SVC - upfront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766259"/>
                  </a:ext>
                </a:extLst>
              </a:tr>
              <a:tr h="625860">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10.5 Extension auto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11.5 SVC - on-going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7547337"/>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10.6 Extension with (fix/open)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11.6 SVC - on-going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963629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10.7 Flex pause/un-pause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11.7 SVC - end of term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6895235"/>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10.8 Flex down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50104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10.9 Swap stock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8670641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10.10 Damage </a:t>
                      </a:r>
                      <a:r>
                        <a:rPr lang="en-US" sz="1000" b="0" i="0" u="none" strike="noStrike" kern="1200">
                          <a:solidFill>
                            <a:srgbClr val="000000"/>
                          </a:solidFill>
                          <a:effectLst/>
                          <a:latin typeface="等线" panose="02010600030101010101" pitchFamily="2" charset="-122"/>
                          <a:ea typeface="等线" panose="02010600030101010101" pitchFamily="2" charset="-122"/>
                          <a:cs typeface="+mn-cs"/>
                        </a:rPr>
                        <a:t>fund</a:t>
                      </a:r>
                      <a:r>
                        <a:rPr lang="en-US" sz="1000" u="none" strike="noStrike">
                          <a:effectLst/>
                        </a:rPr>
                        <a:t>/charge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2673700"/>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10.11 SOR with Recourse </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139168"/>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10.12 SOR with non-Recourse </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215011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rPr>
                        <a:t>10.13 Syndication </a:t>
                      </a:r>
                      <a:endParaRPr lang="en-US" sz="1000" b="0" i="0" u="none" strike="sng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6222521"/>
                  </a:ext>
                </a:extLst>
              </a:tr>
              <a:tr h="312929">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noStrike">
                          <a:solidFill>
                            <a:srgbClr val="000000"/>
                          </a:solidFill>
                          <a:effectLst/>
                          <a:latin typeface="等线" panose="02010600030101010101" pitchFamily="2" charset="-122"/>
                          <a:ea typeface="等线" panose="02010600030101010101" pitchFamily="2" charset="-122"/>
                        </a:rPr>
                        <a:t>10.14 Asset Remarketing</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1053233"/>
                  </a:ext>
                </a:extLst>
              </a:tr>
              <a:tr h="567914">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b="0" i="0" u="none" strike="noStrike" kern="1200">
                          <a:solidFill>
                            <a:srgbClr val="000000"/>
                          </a:solidFill>
                          <a:effectLst/>
                          <a:latin typeface="等线" panose="02010600030101010101" pitchFamily="2" charset="-122"/>
                          <a:ea typeface="等线" panose="02010600030101010101" pitchFamily="2" charset="-122"/>
                          <a:cs typeface="+mn-cs"/>
                        </a:rPr>
                        <a:t>10.15 Manual adjustment – </a:t>
                      </a:r>
                    </a:p>
                    <a:p>
                      <a:pPr marL="0" algn="l" defTabSz="914400" rtl="0" eaLnBrk="1" fontAlgn="b" latinLnBrk="0" hangingPunct="1"/>
                      <a:r>
                        <a:rPr lang="en-US" sz="1000" b="0" i="0" u="none" strike="noStrike" kern="1200">
                          <a:solidFill>
                            <a:srgbClr val="000000"/>
                          </a:solidFill>
                          <a:effectLst/>
                          <a:latin typeface="等线" panose="02010600030101010101" pitchFamily="2" charset="-122"/>
                          <a:ea typeface="等线" panose="02010600030101010101" pitchFamily="2" charset="-122"/>
                          <a:cs typeface="+mn-cs"/>
                        </a:rPr>
                        <a:t>Credit /Debit </a:t>
                      </a:r>
                      <a:r>
                        <a:rPr lang="en-US" sz="1000" b="0" i="0" u="none" strike="noStrike" kern="1200" err="1">
                          <a:solidFill>
                            <a:srgbClr val="000000"/>
                          </a:solidFill>
                          <a:effectLst/>
                          <a:latin typeface="等线" panose="02010600030101010101" pitchFamily="2" charset="-122"/>
                          <a:ea typeface="等线" panose="02010600030101010101" pitchFamily="2" charset="-122"/>
                          <a:cs typeface="+mn-cs"/>
                        </a:rPr>
                        <a:t>Memo,Cancellation</a:t>
                      </a:r>
                      <a:endParaRPr lang="en-US" sz="1000" b="0" i="0" u="none" strike="noStrike" kern="1200">
                        <a:solidFill>
                          <a:srgbClr val="000000"/>
                        </a:solidFill>
                        <a:effectLst/>
                        <a:latin typeface="等线" panose="02010600030101010101" pitchFamily="2" charset="-122"/>
                        <a:ea typeface="等线" panose="02010600030101010101" pitchFamily="2" charset="-122"/>
                        <a:cs typeface="+mn-cs"/>
                      </a:endParaRPr>
                    </a:p>
                    <a:p>
                      <a:pPr marL="0" algn="l" defTabSz="914400" rtl="0" eaLnBrk="1" fontAlgn="b" latinLnBrk="0" hangingPunct="1"/>
                      <a:r>
                        <a:rPr lang="en-US" sz="1000" b="0" i="0" u="none" strike="noStrike" kern="1200">
                          <a:solidFill>
                            <a:srgbClr val="000000"/>
                          </a:solidFill>
                          <a:effectLst/>
                          <a:latin typeface="等线" panose="02010600030101010101" pitchFamily="2" charset="-122"/>
                          <a:ea typeface="等线" panose="02010600030101010101" pitchFamily="2" charset="-122"/>
                          <a:cs typeface="+mn-cs"/>
                        </a:rPr>
                        <a:t>/Reverse</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348367"/>
                  </a:ext>
                </a:extLst>
              </a:tr>
            </a:tbl>
          </a:graphicData>
        </a:graphic>
      </p:graphicFrame>
      <p:sp>
        <p:nvSpPr>
          <p:cNvPr id="5" name="文本框 4">
            <a:extLst>
              <a:ext uri="{FF2B5EF4-FFF2-40B4-BE49-F238E27FC236}">
                <a16:creationId xmlns:a16="http://schemas.microsoft.com/office/drawing/2014/main" id="{29D84190-CC06-9F5A-1EB5-3365AF41102E}"/>
              </a:ext>
            </a:extLst>
          </p:cNvPr>
          <p:cNvSpPr txBox="1"/>
          <p:nvPr/>
        </p:nvSpPr>
        <p:spPr>
          <a:xfrm>
            <a:off x="24308" y="233887"/>
            <a:ext cx="4470947" cy="400110"/>
          </a:xfrm>
          <a:prstGeom prst="rect">
            <a:avLst/>
          </a:prstGeom>
          <a:noFill/>
        </p:spPr>
        <p:txBody>
          <a:bodyPr wrap="square" rtlCol="0">
            <a:spAutoFit/>
          </a:bodyPr>
          <a:lstStyle/>
          <a:p>
            <a:r>
              <a:rPr lang="nl-NL" altLang="zh-CN" sz="2000" b="1"/>
              <a:t>DaaS_AFE_Central_MSA&amp;MLA</a:t>
            </a:r>
            <a:endParaRPr lang="zh-CN" altLang="en-US" sz="2000" b="1"/>
          </a:p>
        </p:txBody>
      </p:sp>
    </p:spTree>
    <p:extLst>
      <p:ext uri="{BB962C8B-B14F-4D97-AF65-F5344CB8AC3E}">
        <p14:creationId xmlns:p14="http://schemas.microsoft.com/office/powerpoint/2010/main" val="205350808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a:extLst>
              <a:ext uri="{FF2B5EF4-FFF2-40B4-BE49-F238E27FC236}">
                <a16:creationId xmlns:a16="http://schemas.microsoft.com/office/drawing/2014/main" id="{9536FD29-FF6F-E547-C76D-195ECAB6C8DD}"/>
              </a:ext>
            </a:extLst>
          </p:cNvPr>
          <p:cNvGraphicFramePr>
            <a:graphicFrameLocks noGrp="1"/>
          </p:cNvGraphicFramePr>
          <p:nvPr>
            <p:extLst>
              <p:ext uri="{D42A27DB-BD31-4B8C-83A1-F6EECF244321}">
                <p14:modId xmlns:p14="http://schemas.microsoft.com/office/powerpoint/2010/main" val="3975653625"/>
              </p:ext>
            </p:extLst>
          </p:nvPr>
        </p:nvGraphicFramePr>
        <p:xfrm>
          <a:off x="6191084" y="276033"/>
          <a:ext cx="5980225" cy="2542263"/>
        </p:xfrm>
        <a:graphic>
          <a:graphicData uri="http://schemas.openxmlformats.org/drawingml/2006/table">
            <a:tbl>
              <a:tblPr/>
              <a:tblGrid>
                <a:gridCol w="428125">
                  <a:extLst>
                    <a:ext uri="{9D8B030D-6E8A-4147-A177-3AD203B41FA5}">
                      <a16:colId xmlns:a16="http://schemas.microsoft.com/office/drawing/2014/main" val="495084399"/>
                    </a:ext>
                  </a:extLst>
                </a:gridCol>
                <a:gridCol w="221959">
                  <a:extLst>
                    <a:ext uri="{9D8B030D-6E8A-4147-A177-3AD203B41FA5}">
                      <a16:colId xmlns:a16="http://schemas.microsoft.com/office/drawing/2014/main" val="3614210242"/>
                    </a:ext>
                  </a:extLst>
                </a:gridCol>
                <a:gridCol w="560233">
                  <a:extLst>
                    <a:ext uri="{9D8B030D-6E8A-4147-A177-3AD203B41FA5}">
                      <a16:colId xmlns:a16="http://schemas.microsoft.com/office/drawing/2014/main" val="1442124609"/>
                    </a:ext>
                  </a:extLst>
                </a:gridCol>
                <a:gridCol w="2008028">
                  <a:extLst>
                    <a:ext uri="{9D8B030D-6E8A-4147-A177-3AD203B41FA5}">
                      <a16:colId xmlns:a16="http://schemas.microsoft.com/office/drawing/2014/main" val="3603859997"/>
                    </a:ext>
                  </a:extLst>
                </a:gridCol>
                <a:gridCol w="342048">
                  <a:extLst>
                    <a:ext uri="{9D8B030D-6E8A-4147-A177-3AD203B41FA5}">
                      <a16:colId xmlns:a16="http://schemas.microsoft.com/office/drawing/2014/main" val="4076488391"/>
                    </a:ext>
                  </a:extLst>
                </a:gridCol>
                <a:gridCol w="342048">
                  <a:extLst>
                    <a:ext uri="{9D8B030D-6E8A-4147-A177-3AD203B41FA5}">
                      <a16:colId xmlns:a16="http://schemas.microsoft.com/office/drawing/2014/main" val="3254101706"/>
                    </a:ext>
                  </a:extLst>
                </a:gridCol>
                <a:gridCol w="257916">
                  <a:extLst>
                    <a:ext uri="{9D8B030D-6E8A-4147-A177-3AD203B41FA5}">
                      <a16:colId xmlns:a16="http://schemas.microsoft.com/office/drawing/2014/main" val="3712391277"/>
                    </a:ext>
                  </a:extLst>
                </a:gridCol>
                <a:gridCol w="578883">
                  <a:extLst>
                    <a:ext uri="{9D8B030D-6E8A-4147-A177-3AD203B41FA5}">
                      <a16:colId xmlns:a16="http://schemas.microsoft.com/office/drawing/2014/main" val="1982795072"/>
                    </a:ext>
                  </a:extLst>
                </a:gridCol>
                <a:gridCol w="392379">
                  <a:extLst>
                    <a:ext uri="{9D8B030D-6E8A-4147-A177-3AD203B41FA5}">
                      <a16:colId xmlns:a16="http://schemas.microsoft.com/office/drawing/2014/main" val="2527660299"/>
                    </a:ext>
                  </a:extLst>
                </a:gridCol>
                <a:gridCol w="364107">
                  <a:extLst>
                    <a:ext uri="{9D8B030D-6E8A-4147-A177-3AD203B41FA5}">
                      <a16:colId xmlns:a16="http://schemas.microsoft.com/office/drawing/2014/main" val="3641075278"/>
                    </a:ext>
                  </a:extLst>
                </a:gridCol>
                <a:gridCol w="484499">
                  <a:extLst>
                    <a:ext uri="{9D8B030D-6E8A-4147-A177-3AD203B41FA5}">
                      <a16:colId xmlns:a16="http://schemas.microsoft.com/office/drawing/2014/main" val="3618613915"/>
                    </a:ext>
                  </a:extLst>
                </a:gridCol>
              </a:tblGrid>
              <a:tr h="0">
                <a:tc rowSpan="11">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Interco</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NL11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highlight>
                            <a:srgbClr val="FFFF00"/>
                          </a:highligh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highlight>
                            <a:srgbClr val="FFFF00"/>
                          </a:highligh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noStrike" kern="1200">
                          <a:solidFill>
                            <a:srgbClr val="000000"/>
                          </a:solidFill>
                          <a:effectLst/>
                          <a:highlight>
                            <a:srgbClr val="FFFF00"/>
                          </a:highlight>
                          <a:latin typeface="Arial" panose="020B0604020202020204" pitchFamily="34" charset="0"/>
                          <a:ea typeface="+mn-ea"/>
                          <a:cs typeface="+mn-cs"/>
                        </a:rPr>
                        <a:t>Service</a:t>
                      </a:r>
                      <a:r>
                        <a:rPr lang="zh-CN" altLang="en-US" sz="900" b="0" i="0" u="none" strike="noStrike" kern="1200">
                          <a:solidFill>
                            <a:srgbClr val="000000"/>
                          </a:solidFill>
                          <a:effectLst/>
                          <a:highlight>
                            <a:srgbClr val="FFFF00"/>
                          </a:highlight>
                          <a:latin typeface="Arial" panose="020B0604020202020204" pitchFamily="34" charset="0"/>
                          <a:ea typeface="+mn-ea"/>
                          <a:cs typeface="+mn-cs"/>
                        </a:rPr>
                        <a:t> </a:t>
                      </a:r>
                      <a:r>
                        <a:rPr lang="en-US" altLang="zh-CN" sz="900" b="0" i="0" u="none" strike="noStrike" kern="1200">
                          <a:solidFill>
                            <a:srgbClr val="000000"/>
                          </a:solidFill>
                          <a:effectLst/>
                          <a:highlight>
                            <a:srgbClr val="FFFF00"/>
                          </a:highlight>
                          <a:latin typeface="Arial" panose="020B0604020202020204" pitchFamily="34" charset="0"/>
                          <a:ea typeface="+mn-ea"/>
                          <a:cs typeface="+mn-cs"/>
                        </a:rPr>
                        <a:t>Revenue </a:t>
                      </a:r>
                      <a:r>
                        <a:rPr lang="en-US" sz="900" b="0" i="0" u="none" strike="noStrike" kern="1200">
                          <a:solidFill>
                            <a:srgbClr val="000000"/>
                          </a:solidFill>
                          <a:effectLst/>
                          <a:highlight>
                            <a:srgbClr val="FFFF00"/>
                          </a:highligh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highlight>
                            <a:srgbClr val="FFFF00"/>
                          </a:highligh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highlight>
                            <a:srgbClr val="FFFF00"/>
                          </a:highligh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highlight>
                            <a:srgbClr val="FFFF00"/>
                          </a:highligh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highlight>
                            <a:srgbClr val="FFFF00"/>
                          </a:highligh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highlight>
                            <a:srgbClr val="FFFF00"/>
                          </a:highligh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highlight>
                            <a:srgbClr val="FFFF00"/>
                          </a:highligh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highlight>
                            <a:srgbClr val="FFFF00"/>
                          </a:highligh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graphicFrame>
        <p:nvGraphicFramePr>
          <p:cNvPr id="6" name="表格 5">
            <a:extLst>
              <a:ext uri="{FF2B5EF4-FFF2-40B4-BE49-F238E27FC236}">
                <a16:creationId xmlns:a16="http://schemas.microsoft.com/office/drawing/2014/main" id="{45C59716-AA36-FB60-E91C-5096F8F5AF82}"/>
              </a:ext>
            </a:extLst>
          </p:cNvPr>
          <p:cNvGraphicFramePr>
            <a:graphicFrameLocks noGrp="1"/>
          </p:cNvGraphicFramePr>
          <p:nvPr>
            <p:extLst>
              <p:ext uri="{D42A27DB-BD31-4B8C-83A1-F6EECF244321}">
                <p14:modId xmlns:p14="http://schemas.microsoft.com/office/powerpoint/2010/main" val="2021954774"/>
              </p:ext>
            </p:extLst>
          </p:nvPr>
        </p:nvGraphicFramePr>
        <p:xfrm>
          <a:off x="73292" y="517326"/>
          <a:ext cx="5894270" cy="1325880"/>
        </p:xfrm>
        <a:graphic>
          <a:graphicData uri="http://schemas.openxmlformats.org/drawingml/2006/table">
            <a:tbl>
              <a:tblPr firstRow="1" bandRow="1">
                <a:tableStyleId>{3C2FFA5D-87B4-456A-9821-1D502468CF0F}</a:tableStyleId>
              </a:tblPr>
              <a:tblGrid>
                <a:gridCol w="816995">
                  <a:extLst>
                    <a:ext uri="{9D8B030D-6E8A-4147-A177-3AD203B41FA5}">
                      <a16:colId xmlns:a16="http://schemas.microsoft.com/office/drawing/2014/main" val="869603910"/>
                    </a:ext>
                  </a:extLst>
                </a:gridCol>
                <a:gridCol w="617443">
                  <a:extLst>
                    <a:ext uri="{9D8B030D-6E8A-4147-A177-3AD203B41FA5}">
                      <a16:colId xmlns:a16="http://schemas.microsoft.com/office/drawing/2014/main" val="238663902"/>
                    </a:ext>
                  </a:extLst>
                </a:gridCol>
                <a:gridCol w="803688">
                  <a:extLst>
                    <a:ext uri="{9D8B030D-6E8A-4147-A177-3AD203B41FA5}">
                      <a16:colId xmlns:a16="http://schemas.microsoft.com/office/drawing/2014/main" val="4114365151"/>
                    </a:ext>
                  </a:extLst>
                </a:gridCol>
                <a:gridCol w="837759">
                  <a:extLst>
                    <a:ext uri="{9D8B030D-6E8A-4147-A177-3AD203B41FA5}">
                      <a16:colId xmlns:a16="http://schemas.microsoft.com/office/drawing/2014/main" val="4075178046"/>
                    </a:ext>
                  </a:extLst>
                </a:gridCol>
                <a:gridCol w="866206">
                  <a:extLst>
                    <a:ext uri="{9D8B030D-6E8A-4147-A177-3AD203B41FA5}">
                      <a16:colId xmlns:a16="http://schemas.microsoft.com/office/drawing/2014/main" val="973533418"/>
                    </a:ext>
                  </a:extLst>
                </a:gridCol>
                <a:gridCol w="799857">
                  <a:extLst>
                    <a:ext uri="{9D8B030D-6E8A-4147-A177-3AD203B41FA5}">
                      <a16:colId xmlns:a16="http://schemas.microsoft.com/office/drawing/2014/main" val="2377711782"/>
                    </a:ext>
                  </a:extLst>
                </a:gridCol>
                <a:gridCol w="1152322">
                  <a:extLst>
                    <a:ext uri="{9D8B030D-6E8A-4147-A177-3AD203B41FA5}">
                      <a16:colId xmlns:a16="http://schemas.microsoft.com/office/drawing/2014/main" val="221569069"/>
                    </a:ext>
                  </a:extLst>
                </a:gridCol>
              </a:tblGrid>
              <a:tr h="461884">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03229">
                <a:tc rowSpan="3">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03229">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Swap Stock</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r h="203229">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Damage Fund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11415915"/>
                  </a:ext>
                </a:extLst>
              </a:tr>
            </a:tbl>
          </a:graphicData>
        </a:graphic>
      </p:graphicFrame>
      <p:graphicFrame>
        <p:nvGraphicFramePr>
          <p:cNvPr id="8" name="表格 7">
            <a:extLst>
              <a:ext uri="{FF2B5EF4-FFF2-40B4-BE49-F238E27FC236}">
                <a16:creationId xmlns:a16="http://schemas.microsoft.com/office/drawing/2014/main" id="{782185B1-A940-9ECE-C796-2CC8675951FA}"/>
              </a:ext>
            </a:extLst>
          </p:cNvPr>
          <p:cNvGraphicFramePr>
            <a:graphicFrameLocks noGrp="1"/>
          </p:cNvGraphicFramePr>
          <p:nvPr>
            <p:extLst>
              <p:ext uri="{D42A27DB-BD31-4B8C-83A1-F6EECF244321}">
                <p14:modId xmlns:p14="http://schemas.microsoft.com/office/powerpoint/2010/main" val="3071689051"/>
              </p:ext>
            </p:extLst>
          </p:nvPr>
        </p:nvGraphicFramePr>
        <p:xfrm>
          <a:off x="6191083" y="3592141"/>
          <a:ext cx="5951586" cy="1522300"/>
        </p:xfrm>
        <a:graphic>
          <a:graphicData uri="http://schemas.openxmlformats.org/drawingml/2006/table">
            <a:tbl>
              <a:tblPr/>
              <a:tblGrid>
                <a:gridCol w="417793">
                  <a:extLst>
                    <a:ext uri="{9D8B030D-6E8A-4147-A177-3AD203B41FA5}">
                      <a16:colId xmlns:a16="http://schemas.microsoft.com/office/drawing/2014/main" val="495084399"/>
                    </a:ext>
                  </a:extLst>
                </a:gridCol>
                <a:gridCol w="239457">
                  <a:extLst>
                    <a:ext uri="{9D8B030D-6E8A-4147-A177-3AD203B41FA5}">
                      <a16:colId xmlns:a16="http://schemas.microsoft.com/office/drawing/2014/main" val="3614210242"/>
                    </a:ext>
                  </a:extLst>
                </a:gridCol>
                <a:gridCol w="596644">
                  <a:extLst>
                    <a:ext uri="{9D8B030D-6E8A-4147-A177-3AD203B41FA5}">
                      <a16:colId xmlns:a16="http://schemas.microsoft.com/office/drawing/2014/main" val="1442124609"/>
                    </a:ext>
                  </a:extLst>
                </a:gridCol>
                <a:gridCol w="1879375">
                  <a:extLst>
                    <a:ext uri="{9D8B030D-6E8A-4147-A177-3AD203B41FA5}">
                      <a16:colId xmlns:a16="http://schemas.microsoft.com/office/drawing/2014/main" val="3603859997"/>
                    </a:ext>
                  </a:extLst>
                </a:gridCol>
                <a:gridCol w="356637">
                  <a:extLst>
                    <a:ext uri="{9D8B030D-6E8A-4147-A177-3AD203B41FA5}">
                      <a16:colId xmlns:a16="http://schemas.microsoft.com/office/drawing/2014/main" val="4076488391"/>
                    </a:ext>
                  </a:extLst>
                </a:gridCol>
                <a:gridCol w="276188">
                  <a:extLst>
                    <a:ext uri="{9D8B030D-6E8A-4147-A177-3AD203B41FA5}">
                      <a16:colId xmlns:a16="http://schemas.microsoft.com/office/drawing/2014/main" val="3254101706"/>
                    </a:ext>
                  </a:extLst>
                </a:gridCol>
                <a:gridCol w="349648">
                  <a:extLst>
                    <a:ext uri="{9D8B030D-6E8A-4147-A177-3AD203B41FA5}">
                      <a16:colId xmlns:a16="http://schemas.microsoft.com/office/drawing/2014/main" val="3712391277"/>
                    </a:ext>
                  </a:extLst>
                </a:gridCol>
                <a:gridCol w="556598">
                  <a:extLst>
                    <a:ext uri="{9D8B030D-6E8A-4147-A177-3AD203B41FA5}">
                      <a16:colId xmlns:a16="http://schemas.microsoft.com/office/drawing/2014/main" val="1461470061"/>
                    </a:ext>
                  </a:extLst>
                </a:gridCol>
                <a:gridCol w="346704">
                  <a:extLst>
                    <a:ext uri="{9D8B030D-6E8A-4147-A177-3AD203B41FA5}">
                      <a16:colId xmlns:a16="http://schemas.microsoft.com/office/drawing/2014/main" val="2527660299"/>
                    </a:ext>
                  </a:extLst>
                </a:gridCol>
                <a:gridCol w="399234">
                  <a:extLst>
                    <a:ext uri="{9D8B030D-6E8A-4147-A177-3AD203B41FA5}">
                      <a16:colId xmlns:a16="http://schemas.microsoft.com/office/drawing/2014/main" val="3641075278"/>
                    </a:ext>
                  </a:extLst>
                </a:gridCol>
                <a:gridCol w="533308">
                  <a:extLst>
                    <a:ext uri="{9D8B030D-6E8A-4147-A177-3AD203B41FA5}">
                      <a16:colId xmlns:a16="http://schemas.microsoft.com/office/drawing/2014/main" val="3618613915"/>
                    </a:ext>
                  </a:extLst>
                </a:gridCol>
              </a:tblGrid>
              <a:tr h="16173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30538">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Damage Fund</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0" name="表格 9">
            <a:extLst>
              <a:ext uri="{FF2B5EF4-FFF2-40B4-BE49-F238E27FC236}">
                <a16:creationId xmlns:a16="http://schemas.microsoft.com/office/drawing/2014/main" id="{AB3874A7-A5A0-D553-6D8A-8811C7D1D16E}"/>
              </a:ext>
            </a:extLst>
          </p:cNvPr>
          <p:cNvGraphicFramePr>
            <a:graphicFrameLocks noGrp="1"/>
          </p:cNvGraphicFramePr>
          <p:nvPr>
            <p:extLst>
              <p:ext uri="{D42A27DB-BD31-4B8C-83A1-F6EECF244321}">
                <p14:modId xmlns:p14="http://schemas.microsoft.com/office/powerpoint/2010/main" val="4153636769"/>
              </p:ext>
            </p:extLst>
          </p:nvPr>
        </p:nvGraphicFramePr>
        <p:xfrm>
          <a:off x="49331" y="2054723"/>
          <a:ext cx="5951437"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36338">
                  <a:extLst>
                    <a:ext uri="{9D8B030D-6E8A-4147-A177-3AD203B41FA5}">
                      <a16:colId xmlns:a16="http://schemas.microsoft.com/office/drawing/2014/main" val="3614210242"/>
                    </a:ext>
                  </a:extLst>
                </a:gridCol>
                <a:gridCol w="544479">
                  <a:extLst>
                    <a:ext uri="{9D8B030D-6E8A-4147-A177-3AD203B41FA5}">
                      <a16:colId xmlns:a16="http://schemas.microsoft.com/office/drawing/2014/main" val="1442124609"/>
                    </a:ext>
                  </a:extLst>
                </a:gridCol>
                <a:gridCol w="1840136">
                  <a:extLst>
                    <a:ext uri="{9D8B030D-6E8A-4147-A177-3AD203B41FA5}">
                      <a16:colId xmlns:a16="http://schemas.microsoft.com/office/drawing/2014/main" val="3603859997"/>
                    </a:ext>
                  </a:extLst>
                </a:gridCol>
                <a:gridCol w="355086">
                  <a:extLst>
                    <a:ext uri="{9D8B030D-6E8A-4147-A177-3AD203B41FA5}">
                      <a16:colId xmlns:a16="http://schemas.microsoft.com/office/drawing/2014/main" val="4076488391"/>
                    </a:ext>
                  </a:extLst>
                </a:gridCol>
                <a:gridCol w="355086">
                  <a:extLst>
                    <a:ext uri="{9D8B030D-6E8A-4147-A177-3AD203B41FA5}">
                      <a16:colId xmlns:a16="http://schemas.microsoft.com/office/drawing/2014/main" val="3254101706"/>
                    </a:ext>
                  </a:extLst>
                </a:gridCol>
                <a:gridCol w="345094">
                  <a:extLst>
                    <a:ext uri="{9D8B030D-6E8A-4147-A177-3AD203B41FA5}">
                      <a16:colId xmlns:a16="http://schemas.microsoft.com/office/drawing/2014/main" val="3712391277"/>
                    </a:ext>
                  </a:extLst>
                </a:gridCol>
                <a:gridCol w="260506">
                  <a:extLst>
                    <a:ext uri="{9D8B030D-6E8A-4147-A177-3AD203B41FA5}">
                      <a16:colId xmlns:a16="http://schemas.microsoft.com/office/drawing/2014/main" val="4118002695"/>
                    </a:ext>
                  </a:extLst>
                </a:gridCol>
                <a:gridCol w="346467">
                  <a:extLst>
                    <a:ext uri="{9D8B030D-6E8A-4147-A177-3AD203B41FA5}">
                      <a16:colId xmlns:a16="http://schemas.microsoft.com/office/drawing/2014/main" val="2527660299"/>
                    </a:ext>
                  </a:extLst>
                </a:gridCol>
                <a:gridCol w="375303">
                  <a:extLst>
                    <a:ext uri="{9D8B030D-6E8A-4147-A177-3AD203B41FA5}">
                      <a16:colId xmlns:a16="http://schemas.microsoft.com/office/drawing/2014/main" val="3641075278"/>
                    </a:ext>
                  </a:extLst>
                </a:gridCol>
                <a:gridCol w="855644">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6</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Damage Fund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17810592"/>
                  </a:ext>
                </a:extLst>
              </a:tr>
              <a:tr h="91899">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12" name="表格 11">
            <a:extLst>
              <a:ext uri="{FF2B5EF4-FFF2-40B4-BE49-F238E27FC236}">
                <a16:creationId xmlns:a16="http://schemas.microsoft.com/office/drawing/2014/main" id="{A4A142CC-07F1-DB62-BF62-6C527145CF4A}"/>
              </a:ext>
            </a:extLst>
          </p:cNvPr>
          <p:cNvGraphicFramePr>
            <a:graphicFrameLocks noGrp="1"/>
          </p:cNvGraphicFramePr>
          <p:nvPr>
            <p:extLst>
              <p:ext uri="{D42A27DB-BD31-4B8C-83A1-F6EECF244321}">
                <p14:modId xmlns:p14="http://schemas.microsoft.com/office/powerpoint/2010/main" val="1822140055"/>
              </p:ext>
            </p:extLst>
          </p:nvPr>
        </p:nvGraphicFramePr>
        <p:xfrm>
          <a:off x="49330" y="3780406"/>
          <a:ext cx="5901003" cy="1484407"/>
        </p:xfrm>
        <a:graphic>
          <a:graphicData uri="http://schemas.openxmlformats.org/drawingml/2006/table">
            <a:tbl>
              <a:tblPr/>
              <a:tblGrid>
                <a:gridCol w="415975">
                  <a:extLst>
                    <a:ext uri="{9D8B030D-6E8A-4147-A177-3AD203B41FA5}">
                      <a16:colId xmlns:a16="http://schemas.microsoft.com/office/drawing/2014/main" val="495084399"/>
                    </a:ext>
                  </a:extLst>
                </a:gridCol>
                <a:gridCol w="238415">
                  <a:extLst>
                    <a:ext uri="{9D8B030D-6E8A-4147-A177-3AD203B41FA5}">
                      <a16:colId xmlns:a16="http://schemas.microsoft.com/office/drawing/2014/main" val="3614210242"/>
                    </a:ext>
                  </a:extLst>
                </a:gridCol>
                <a:gridCol w="594047">
                  <a:extLst>
                    <a:ext uri="{9D8B030D-6E8A-4147-A177-3AD203B41FA5}">
                      <a16:colId xmlns:a16="http://schemas.microsoft.com/office/drawing/2014/main" val="1442124609"/>
                    </a:ext>
                  </a:extLst>
                </a:gridCol>
                <a:gridCol w="1871198">
                  <a:extLst>
                    <a:ext uri="{9D8B030D-6E8A-4147-A177-3AD203B41FA5}">
                      <a16:colId xmlns:a16="http://schemas.microsoft.com/office/drawing/2014/main" val="3603859997"/>
                    </a:ext>
                  </a:extLst>
                </a:gridCol>
                <a:gridCol w="355085">
                  <a:extLst>
                    <a:ext uri="{9D8B030D-6E8A-4147-A177-3AD203B41FA5}">
                      <a16:colId xmlns:a16="http://schemas.microsoft.com/office/drawing/2014/main" val="4076488391"/>
                    </a:ext>
                  </a:extLst>
                </a:gridCol>
                <a:gridCol w="344321">
                  <a:extLst>
                    <a:ext uri="{9D8B030D-6E8A-4147-A177-3AD203B41FA5}">
                      <a16:colId xmlns:a16="http://schemas.microsoft.com/office/drawing/2014/main" val="3254101706"/>
                    </a:ext>
                  </a:extLst>
                </a:gridCol>
                <a:gridCol w="348127">
                  <a:extLst>
                    <a:ext uri="{9D8B030D-6E8A-4147-A177-3AD203B41FA5}">
                      <a16:colId xmlns:a16="http://schemas.microsoft.com/office/drawing/2014/main" val="3712391277"/>
                    </a:ext>
                  </a:extLst>
                </a:gridCol>
                <a:gridCol w="262796">
                  <a:extLst>
                    <a:ext uri="{9D8B030D-6E8A-4147-A177-3AD203B41FA5}">
                      <a16:colId xmlns:a16="http://schemas.microsoft.com/office/drawing/2014/main" val="1461470061"/>
                    </a:ext>
                  </a:extLst>
                </a:gridCol>
                <a:gridCol w="262796">
                  <a:extLst>
                    <a:ext uri="{9D8B030D-6E8A-4147-A177-3AD203B41FA5}">
                      <a16:colId xmlns:a16="http://schemas.microsoft.com/office/drawing/2014/main" val="2527660299"/>
                    </a:ext>
                  </a:extLst>
                </a:gridCol>
                <a:gridCol w="378602">
                  <a:extLst>
                    <a:ext uri="{9D8B030D-6E8A-4147-A177-3AD203B41FA5}">
                      <a16:colId xmlns:a16="http://schemas.microsoft.com/office/drawing/2014/main" val="3641075278"/>
                    </a:ext>
                  </a:extLst>
                </a:gridCol>
                <a:gridCol w="829641">
                  <a:extLst>
                    <a:ext uri="{9D8B030D-6E8A-4147-A177-3AD203B41FA5}">
                      <a16:colId xmlns:a16="http://schemas.microsoft.com/office/drawing/2014/main" val="3618613915"/>
                    </a:ext>
                  </a:extLst>
                </a:gridCol>
              </a:tblGrid>
              <a:tr h="16173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customer transaction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49.3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49.3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Rental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39.3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39.3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228977">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Rental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7915670"/>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Admin charge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graphicFrame>
        <p:nvGraphicFramePr>
          <p:cNvPr id="13" name="表格 12">
            <a:extLst>
              <a:ext uri="{FF2B5EF4-FFF2-40B4-BE49-F238E27FC236}">
                <a16:creationId xmlns:a16="http://schemas.microsoft.com/office/drawing/2014/main" id="{549CDA66-61C7-1983-5E9A-F8470183A5FD}"/>
              </a:ext>
            </a:extLst>
          </p:cNvPr>
          <p:cNvGraphicFramePr>
            <a:graphicFrameLocks noGrp="1"/>
          </p:cNvGraphicFramePr>
          <p:nvPr>
            <p:extLst>
              <p:ext uri="{D42A27DB-BD31-4B8C-83A1-F6EECF244321}">
                <p14:modId xmlns:p14="http://schemas.microsoft.com/office/powerpoint/2010/main" val="3716159650"/>
              </p:ext>
            </p:extLst>
          </p:nvPr>
        </p:nvGraphicFramePr>
        <p:xfrm>
          <a:off x="56064" y="5381886"/>
          <a:ext cx="5894269" cy="1291762"/>
        </p:xfrm>
        <a:graphic>
          <a:graphicData uri="http://schemas.openxmlformats.org/drawingml/2006/table">
            <a:tbl>
              <a:tblPr/>
              <a:tblGrid>
                <a:gridCol w="446718">
                  <a:extLst>
                    <a:ext uri="{9D8B030D-6E8A-4147-A177-3AD203B41FA5}">
                      <a16:colId xmlns:a16="http://schemas.microsoft.com/office/drawing/2014/main" val="495084399"/>
                    </a:ext>
                  </a:extLst>
                </a:gridCol>
                <a:gridCol w="256036">
                  <a:extLst>
                    <a:ext uri="{9D8B030D-6E8A-4147-A177-3AD203B41FA5}">
                      <a16:colId xmlns:a16="http://schemas.microsoft.com/office/drawing/2014/main" val="3614210242"/>
                    </a:ext>
                  </a:extLst>
                </a:gridCol>
                <a:gridCol w="637950">
                  <a:extLst>
                    <a:ext uri="{9D8B030D-6E8A-4147-A177-3AD203B41FA5}">
                      <a16:colId xmlns:a16="http://schemas.microsoft.com/office/drawing/2014/main" val="1442124609"/>
                    </a:ext>
                  </a:extLst>
                </a:gridCol>
                <a:gridCol w="1683241">
                  <a:extLst>
                    <a:ext uri="{9D8B030D-6E8A-4147-A177-3AD203B41FA5}">
                      <a16:colId xmlns:a16="http://schemas.microsoft.com/office/drawing/2014/main" val="3603859997"/>
                    </a:ext>
                  </a:extLst>
                </a:gridCol>
                <a:gridCol w="343991">
                  <a:extLst>
                    <a:ext uri="{9D8B030D-6E8A-4147-A177-3AD203B41FA5}">
                      <a16:colId xmlns:a16="http://schemas.microsoft.com/office/drawing/2014/main" val="4076488391"/>
                    </a:ext>
                  </a:extLst>
                </a:gridCol>
                <a:gridCol w="418017">
                  <a:extLst>
                    <a:ext uri="{9D8B030D-6E8A-4147-A177-3AD203B41FA5}">
                      <a16:colId xmlns:a16="http://schemas.microsoft.com/office/drawing/2014/main" val="3254101706"/>
                    </a:ext>
                  </a:extLst>
                </a:gridCol>
                <a:gridCol w="356474">
                  <a:extLst>
                    <a:ext uri="{9D8B030D-6E8A-4147-A177-3AD203B41FA5}">
                      <a16:colId xmlns:a16="http://schemas.microsoft.com/office/drawing/2014/main" val="3712391277"/>
                    </a:ext>
                  </a:extLst>
                </a:gridCol>
                <a:gridCol w="323963">
                  <a:extLst>
                    <a:ext uri="{9D8B030D-6E8A-4147-A177-3AD203B41FA5}">
                      <a16:colId xmlns:a16="http://schemas.microsoft.com/office/drawing/2014/main" val="1461470061"/>
                    </a:ext>
                  </a:extLst>
                </a:gridCol>
                <a:gridCol w="407568">
                  <a:extLst>
                    <a:ext uri="{9D8B030D-6E8A-4147-A177-3AD203B41FA5}">
                      <a16:colId xmlns:a16="http://schemas.microsoft.com/office/drawing/2014/main" val="2527660299"/>
                    </a:ext>
                  </a:extLst>
                </a:gridCol>
                <a:gridCol w="376216">
                  <a:extLst>
                    <a:ext uri="{9D8B030D-6E8A-4147-A177-3AD203B41FA5}">
                      <a16:colId xmlns:a16="http://schemas.microsoft.com/office/drawing/2014/main" val="3641075278"/>
                    </a:ext>
                  </a:extLst>
                </a:gridCol>
                <a:gridCol w="644095">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Intercompany transaction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Dr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Rental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39.3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39.3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a:t>
                      </a:r>
                      <a:r>
                        <a:rPr lang="en-US" altLang="zh-CN" sz="900" b="0" i="0" u="none" strike="noStrike" kern="1200">
                          <a:solidFill>
                            <a:srgbClr val="000000"/>
                          </a:solidFill>
                          <a:effectLst/>
                          <a:latin typeface="Arial" panose="020B0604020202020204" pitchFamily="34" charset="0"/>
                          <a:ea typeface="+mn-ea"/>
                          <a:cs typeface="+mn-cs"/>
                        </a:rPr>
                        <a:t>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Rental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15490073"/>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sp>
        <p:nvSpPr>
          <p:cNvPr id="17" name="对话气泡: 矩形 16">
            <a:extLst>
              <a:ext uri="{FF2B5EF4-FFF2-40B4-BE49-F238E27FC236}">
                <a16:creationId xmlns:a16="http://schemas.microsoft.com/office/drawing/2014/main" id="{BB75ABF5-4612-F9BA-257D-0B64B67D076B}"/>
              </a:ext>
            </a:extLst>
          </p:cNvPr>
          <p:cNvSpPr/>
          <p:nvPr/>
        </p:nvSpPr>
        <p:spPr>
          <a:xfrm>
            <a:off x="6241667" y="5857435"/>
            <a:ext cx="4017273" cy="754637"/>
          </a:xfrm>
          <a:prstGeom prst="wedgeRectCallout">
            <a:avLst>
              <a:gd name="adj1" fmla="val -47300"/>
              <a:gd name="adj2" fmla="val -11237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Tenorite" panose="00000500000000000000" pitchFamily="2" charset="0"/>
              </a:rPr>
              <a:t>Local S&amp;D bill to Local AFE in local currency or USD; </a:t>
            </a:r>
          </a:p>
          <a:p>
            <a:r>
              <a:rPr lang="en-US" altLang="zh-CN" sz="1200">
                <a:solidFill>
                  <a:srgbClr val="000000"/>
                </a:solidFill>
                <a:latin typeface="Tenorite" panose="00000500000000000000" pitchFamily="2" charset="0"/>
              </a:rPr>
              <a:t>Local AFE bill to NL AFE + NL AFE bill to customer in USD</a:t>
            </a:r>
          </a:p>
          <a:p>
            <a:r>
              <a:rPr lang="en-US" altLang="zh-CN" sz="1200">
                <a:solidFill>
                  <a:srgbClr val="000000"/>
                </a:solidFill>
                <a:highlight>
                  <a:srgbClr val="FFFF00"/>
                </a:highlight>
                <a:latin typeface="Tenorite" panose="00000500000000000000" pitchFamily="2" charset="0"/>
              </a:rPr>
              <a:t>swap stock should keep as revenue in local AFE</a:t>
            </a:r>
            <a:endParaRPr lang="zh-CN" altLang="en-US" sz="1200">
              <a:highlight>
                <a:srgbClr val="FFFF00"/>
              </a:highlight>
            </a:endParaRPr>
          </a:p>
          <a:p>
            <a:pPr algn="ctr"/>
            <a:endParaRPr lang="zh-CN" altLang="en-US" sz="1200">
              <a:solidFill>
                <a:schemeClr val="tx1"/>
              </a:solidFill>
            </a:endParaRPr>
          </a:p>
        </p:txBody>
      </p:sp>
      <p:sp>
        <p:nvSpPr>
          <p:cNvPr id="24" name="文本框 23">
            <a:extLst>
              <a:ext uri="{FF2B5EF4-FFF2-40B4-BE49-F238E27FC236}">
                <a16:creationId xmlns:a16="http://schemas.microsoft.com/office/drawing/2014/main" id="{97F4817F-20C4-98DB-57EF-BB08452ADD17}"/>
              </a:ext>
            </a:extLst>
          </p:cNvPr>
          <p:cNvSpPr txBox="1"/>
          <p:nvPr/>
        </p:nvSpPr>
        <p:spPr>
          <a:xfrm>
            <a:off x="0" y="64204"/>
            <a:ext cx="4470947" cy="400110"/>
          </a:xfrm>
          <a:prstGeom prst="rect">
            <a:avLst/>
          </a:prstGeom>
          <a:noFill/>
        </p:spPr>
        <p:txBody>
          <a:bodyPr wrap="square" rtlCol="0">
            <a:spAutoFit/>
          </a:bodyPr>
          <a:lstStyle/>
          <a:p>
            <a:r>
              <a:rPr lang="nl-NL" altLang="zh-CN" sz="2000" b="1"/>
              <a:t>DaaS_Central_MSA&amp;MLA</a:t>
            </a:r>
            <a:endParaRPr lang="zh-CN" altLang="en-US" sz="2000" b="1"/>
          </a:p>
        </p:txBody>
      </p:sp>
      <p:sp>
        <p:nvSpPr>
          <p:cNvPr id="2" name="对话气泡: 矩形 1">
            <a:extLst>
              <a:ext uri="{FF2B5EF4-FFF2-40B4-BE49-F238E27FC236}">
                <a16:creationId xmlns:a16="http://schemas.microsoft.com/office/drawing/2014/main" id="{076126A1-A7B5-859A-AB25-F12247EA5906}"/>
              </a:ext>
            </a:extLst>
          </p:cNvPr>
          <p:cNvSpPr/>
          <p:nvPr/>
        </p:nvSpPr>
        <p:spPr>
          <a:xfrm>
            <a:off x="-2044348" y="2451075"/>
            <a:ext cx="1725426" cy="3486153"/>
          </a:xfrm>
          <a:prstGeom prst="wedgeRectCallout">
            <a:avLst>
              <a:gd name="adj1" fmla="val 56759"/>
              <a:gd name="adj2" fmla="val -7450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highlight>
                  <a:srgbClr val="FFFF00"/>
                </a:highlight>
                <a:latin typeface="Tenorite" panose="00000500000000000000" pitchFamily="2" charset="0"/>
              </a:rPr>
              <a:t>Central billing only applicable for Hitachi</a:t>
            </a:r>
          </a:p>
          <a:p>
            <a:r>
              <a:rPr lang="en-US" altLang="zh-CN" sz="1200">
                <a:solidFill>
                  <a:srgbClr val="000000"/>
                </a:solidFill>
                <a:highlight>
                  <a:srgbClr val="FFFF00"/>
                </a:highlight>
                <a:latin typeface="Tenorite" panose="00000500000000000000" pitchFamily="2" charset="0"/>
              </a:rPr>
              <a:t>GB11</a:t>
            </a:r>
          </a:p>
          <a:p>
            <a:r>
              <a:rPr lang="en-US" altLang="zh-CN" sz="1200">
                <a:solidFill>
                  <a:srgbClr val="000000"/>
                </a:solidFill>
                <a:highlight>
                  <a:srgbClr val="FFFF00"/>
                </a:highlight>
                <a:latin typeface="Tenorite" panose="00000500000000000000" pitchFamily="2" charset="0"/>
              </a:rPr>
              <a:t>KR11</a:t>
            </a:r>
          </a:p>
          <a:p>
            <a:r>
              <a:rPr lang="en-US" altLang="zh-CN" sz="1200">
                <a:solidFill>
                  <a:srgbClr val="000000"/>
                </a:solidFill>
                <a:highlight>
                  <a:srgbClr val="FFFF00"/>
                </a:highlight>
                <a:latin typeface="Tenorite" panose="00000500000000000000" pitchFamily="2" charset="0"/>
              </a:rPr>
              <a:t>MY11</a:t>
            </a:r>
          </a:p>
          <a:p>
            <a:r>
              <a:rPr lang="en-US" altLang="zh-CN" sz="1200">
                <a:solidFill>
                  <a:srgbClr val="000000"/>
                </a:solidFill>
                <a:highlight>
                  <a:srgbClr val="FFFF00"/>
                </a:highlight>
                <a:latin typeface="Tenorite" panose="00000500000000000000" pitchFamily="2" charset="0"/>
              </a:rPr>
              <a:t>ES11</a:t>
            </a:r>
          </a:p>
          <a:p>
            <a:r>
              <a:rPr lang="en-US" altLang="zh-CN" sz="1200">
                <a:solidFill>
                  <a:srgbClr val="000000"/>
                </a:solidFill>
                <a:highlight>
                  <a:srgbClr val="FFFF00"/>
                </a:highlight>
                <a:latin typeface="Tenorite" panose="00000500000000000000" pitchFamily="2" charset="0"/>
              </a:rPr>
              <a:t>DE11</a:t>
            </a:r>
          </a:p>
          <a:p>
            <a:r>
              <a:rPr lang="en-US" altLang="zh-CN" sz="1200">
                <a:solidFill>
                  <a:srgbClr val="000000"/>
                </a:solidFill>
                <a:highlight>
                  <a:srgbClr val="FFFF00"/>
                </a:highlight>
                <a:latin typeface="Tenorite" panose="00000500000000000000" pitchFamily="2" charset="0"/>
              </a:rPr>
              <a:t>IT11</a:t>
            </a:r>
          </a:p>
          <a:p>
            <a:r>
              <a:rPr lang="en-US" altLang="zh-CN" sz="1200">
                <a:solidFill>
                  <a:srgbClr val="000000"/>
                </a:solidFill>
                <a:highlight>
                  <a:srgbClr val="FFFF00"/>
                </a:highlight>
                <a:latin typeface="Tenorite" panose="00000500000000000000" pitchFamily="2" charset="0"/>
              </a:rPr>
              <a:t>CA11</a:t>
            </a:r>
          </a:p>
          <a:p>
            <a:r>
              <a:rPr lang="en-US" altLang="zh-CN" sz="1200">
                <a:solidFill>
                  <a:srgbClr val="000000"/>
                </a:solidFill>
                <a:highlight>
                  <a:srgbClr val="FFFF00"/>
                </a:highlight>
                <a:latin typeface="Tenorite" panose="00000500000000000000" pitchFamily="2" charset="0"/>
              </a:rPr>
              <a:t>PH11</a:t>
            </a:r>
          </a:p>
          <a:p>
            <a:r>
              <a:rPr lang="en-US" altLang="zh-CN" sz="1200">
                <a:solidFill>
                  <a:srgbClr val="000000"/>
                </a:solidFill>
                <a:highlight>
                  <a:srgbClr val="FFFF00"/>
                </a:highlight>
                <a:latin typeface="Tenorite" panose="00000500000000000000" pitchFamily="2" charset="0"/>
              </a:rPr>
              <a:t>TH11</a:t>
            </a:r>
          </a:p>
          <a:p>
            <a:r>
              <a:rPr lang="en-US" altLang="zh-CN" sz="1200">
                <a:solidFill>
                  <a:srgbClr val="000000"/>
                </a:solidFill>
                <a:highlight>
                  <a:srgbClr val="FFFF00"/>
                </a:highlight>
                <a:latin typeface="Tenorite" panose="00000500000000000000" pitchFamily="2" charset="0"/>
              </a:rPr>
              <a:t>TW11</a:t>
            </a:r>
          </a:p>
          <a:p>
            <a:r>
              <a:rPr lang="en-US" altLang="zh-CN" sz="1200">
                <a:solidFill>
                  <a:srgbClr val="000000"/>
                </a:solidFill>
                <a:highlight>
                  <a:srgbClr val="FFFF00"/>
                </a:highlight>
                <a:latin typeface="Tenorite" panose="00000500000000000000" pitchFamily="2" charset="0"/>
              </a:rPr>
              <a:t>HK52</a:t>
            </a:r>
          </a:p>
          <a:p>
            <a:r>
              <a:rPr lang="en-US" altLang="zh-CN" sz="1200">
                <a:solidFill>
                  <a:srgbClr val="000000"/>
                </a:solidFill>
                <a:highlight>
                  <a:srgbClr val="FFFF00"/>
                </a:highlight>
                <a:latin typeface="Tenorite" panose="00000500000000000000" pitchFamily="2" charset="0"/>
              </a:rPr>
              <a:t>AU04</a:t>
            </a:r>
          </a:p>
          <a:p>
            <a:r>
              <a:rPr lang="en-US" altLang="zh-CN" sz="1200">
                <a:solidFill>
                  <a:srgbClr val="000000"/>
                </a:solidFill>
                <a:highlight>
                  <a:srgbClr val="FFFF00"/>
                </a:highlight>
                <a:latin typeface="Tenorite" panose="00000500000000000000" pitchFamily="2" charset="0"/>
              </a:rPr>
              <a:t>US22</a:t>
            </a:r>
          </a:p>
          <a:p>
            <a:r>
              <a:rPr lang="en-US" altLang="zh-CN" sz="1200">
                <a:solidFill>
                  <a:srgbClr val="000000"/>
                </a:solidFill>
                <a:highlight>
                  <a:srgbClr val="FFFF00"/>
                </a:highlight>
                <a:latin typeface="Tenorite" panose="00000500000000000000" pitchFamily="2" charset="0"/>
              </a:rPr>
              <a:t>SG11</a:t>
            </a:r>
          </a:p>
        </p:txBody>
      </p:sp>
      <p:sp>
        <p:nvSpPr>
          <p:cNvPr id="7" name="对话气泡: 矩形 6">
            <a:extLst>
              <a:ext uri="{FF2B5EF4-FFF2-40B4-BE49-F238E27FC236}">
                <a16:creationId xmlns:a16="http://schemas.microsoft.com/office/drawing/2014/main" id="{628064E0-A3BD-C55B-2505-3F396A3D87DD}"/>
              </a:ext>
            </a:extLst>
          </p:cNvPr>
          <p:cNvSpPr/>
          <p:nvPr/>
        </p:nvSpPr>
        <p:spPr>
          <a:xfrm>
            <a:off x="-2136610" y="276033"/>
            <a:ext cx="1817688" cy="574572"/>
          </a:xfrm>
          <a:prstGeom prst="wedgeRectCallout">
            <a:avLst>
              <a:gd name="adj1" fmla="val 158492"/>
              <a:gd name="adj2" fmla="val 11274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Tenorite" panose="00000500000000000000" pitchFamily="2" charset="0"/>
              </a:rPr>
              <a:t>Hitachi only have Operating Lease</a:t>
            </a:r>
          </a:p>
          <a:p>
            <a:pPr algn="ctr"/>
            <a:endParaRPr lang="zh-CN" altLang="en-US" sz="1200">
              <a:solidFill>
                <a:schemeClr val="tx1"/>
              </a:solidFill>
            </a:endParaRPr>
          </a:p>
        </p:txBody>
      </p:sp>
    </p:spTree>
    <p:extLst>
      <p:ext uri="{BB962C8B-B14F-4D97-AF65-F5344CB8AC3E}">
        <p14:creationId xmlns:p14="http://schemas.microsoft.com/office/powerpoint/2010/main" val="376631408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10F0F6-0D58-C85F-DE55-2DE7E30F4BD7}"/>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38067FEC-5728-FFDC-A6B3-E77E1C75EE3C}"/>
              </a:ext>
            </a:extLst>
          </p:cNvPr>
          <p:cNvSpPr txBox="1"/>
          <p:nvPr/>
        </p:nvSpPr>
        <p:spPr>
          <a:xfrm>
            <a:off x="99629" y="104615"/>
            <a:ext cx="4470947" cy="400110"/>
          </a:xfrm>
          <a:prstGeom prst="rect">
            <a:avLst/>
          </a:prstGeom>
          <a:noFill/>
        </p:spPr>
        <p:txBody>
          <a:bodyPr wrap="square" rtlCol="0">
            <a:spAutoFit/>
          </a:bodyPr>
          <a:lstStyle/>
          <a:p>
            <a:r>
              <a:rPr lang="nl-NL" altLang="zh-CN" sz="2000" b="1"/>
              <a:t>DaaS_Central_MSA&amp;MLA</a:t>
            </a:r>
            <a:endParaRPr lang="zh-CN" altLang="en-US" sz="2000" b="1"/>
          </a:p>
        </p:txBody>
      </p:sp>
      <p:graphicFrame>
        <p:nvGraphicFramePr>
          <p:cNvPr id="21" name="表格 20">
            <a:extLst>
              <a:ext uri="{FF2B5EF4-FFF2-40B4-BE49-F238E27FC236}">
                <a16:creationId xmlns:a16="http://schemas.microsoft.com/office/drawing/2014/main" id="{0D688A3B-D423-55D1-F888-C8AFD938A550}"/>
              </a:ext>
            </a:extLst>
          </p:cNvPr>
          <p:cNvGraphicFramePr>
            <a:graphicFrameLocks noGrp="1"/>
          </p:cNvGraphicFramePr>
          <p:nvPr>
            <p:extLst>
              <p:ext uri="{D42A27DB-BD31-4B8C-83A1-F6EECF244321}">
                <p14:modId xmlns:p14="http://schemas.microsoft.com/office/powerpoint/2010/main" val="2821639300"/>
              </p:ext>
            </p:extLst>
          </p:nvPr>
        </p:nvGraphicFramePr>
        <p:xfrm>
          <a:off x="192166" y="586635"/>
          <a:ext cx="5684757" cy="1303020"/>
        </p:xfrm>
        <a:graphic>
          <a:graphicData uri="http://schemas.openxmlformats.org/drawingml/2006/table">
            <a:tbl>
              <a:tblPr firstRow="1" bandRow="1">
                <a:tableStyleId>{3C2FFA5D-87B4-456A-9821-1D502468CF0F}</a:tableStyleId>
              </a:tblPr>
              <a:tblGrid>
                <a:gridCol w="717082">
                  <a:extLst>
                    <a:ext uri="{9D8B030D-6E8A-4147-A177-3AD203B41FA5}">
                      <a16:colId xmlns:a16="http://schemas.microsoft.com/office/drawing/2014/main" val="869603910"/>
                    </a:ext>
                  </a:extLst>
                </a:gridCol>
                <a:gridCol w="541934">
                  <a:extLst>
                    <a:ext uri="{9D8B030D-6E8A-4147-A177-3AD203B41FA5}">
                      <a16:colId xmlns:a16="http://schemas.microsoft.com/office/drawing/2014/main" val="238663902"/>
                    </a:ext>
                  </a:extLst>
                </a:gridCol>
                <a:gridCol w="771021">
                  <a:extLst>
                    <a:ext uri="{9D8B030D-6E8A-4147-A177-3AD203B41FA5}">
                      <a16:colId xmlns:a16="http://schemas.microsoft.com/office/drawing/2014/main" val="4114365151"/>
                    </a:ext>
                  </a:extLst>
                </a:gridCol>
                <a:gridCol w="669689">
                  <a:extLst>
                    <a:ext uri="{9D8B030D-6E8A-4147-A177-3AD203B41FA5}">
                      <a16:colId xmlns:a16="http://schemas.microsoft.com/office/drawing/2014/main" val="4075178046"/>
                    </a:ext>
                  </a:extLst>
                </a:gridCol>
                <a:gridCol w="760277">
                  <a:extLst>
                    <a:ext uri="{9D8B030D-6E8A-4147-A177-3AD203B41FA5}">
                      <a16:colId xmlns:a16="http://schemas.microsoft.com/office/drawing/2014/main" val="973533418"/>
                    </a:ext>
                  </a:extLst>
                </a:gridCol>
                <a:gridCol w="702040">
                  <a:extLst>
                    <a:ext uri="{9D8B030D-6E8A-4147-A177-3AD203B41FA5}">
                      <a16:colId xmlns:a16="http://schemas.microsoft.com/office/drawing/2014/main" val="2377711782"/>
                    </a:ext>
                  </a:extLst>
                </a:gridCol>
                <a:gridCol w="702040">
                  <a:extLst>
                    <a:ext uri="{9D8B030D-6E8A-4147-A177-3AD203B41FA5}">
                      <a16:colId xmlns:a16="http://schemas.microsoft.com/office/drawing/2014/main" val="833595551"/>
                    </a:ext>
                  </a:extLst>
                </a:gridCol>
                <a:gridCol w="820674">
                  <a:extLst>
                    <a:ext uri="{9D8B030D-6E8A-4147-A177-3AD203B41FA5}">
                      <a16:colId xmlns:a16="http://schemas.microsoft.com/office/drawing/2014/main" val="221569069"/>
                    </a:ext>
                  </a:extLst>
                </a:gridCol>
              </a:tblGrid>
              <a:tr h="52920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9209">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Operating Lease</a:t>
                      </a: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16" name="表格 115">
            <a:extLst>
              <a:ext uri="{FF2B5EF4-FFF2-40B4-BE49-F238E27FC236}">
                <a16:creationId xmlns:a16="http://schemas.microsoft.com/office/drawing/2014/main" id="{F10DC2B4-6866-A8B0-8F41-1F01DB7E5A34}"/>
              </a:ext>
            </a:extLst>
          </p:cNvPr>
          <p:cNvGraphicFramePr>
            <a:graphicFrameLocks noGrp="1"/>
          </p:cNvGraphicFramePr>
          <p:nvPr>
            <p:extLst>
              <p:ext uri="{D42A27DB-BD31-4B8C-83A1-F6EECF244321}">
                <p14:modId xmlns:p14="http://schemas.microsoft.com/office/powerpoint/2010/main" val="3336494534"/>
              </p:ext>
            </p:extLst>
          </p:nvPr>
        </p:nvGraphicFramePr>
        <p:xfrm>
          <a:off x="182167" y="2053476"/>
          <a:ext cx="5704757" cy="951098"/>
        </p:xfrm>
        <a:graphic>
          <a:graphicData uri="http://schemas.openxmlformats.org/drawingml/2006/table">
            <a:tbl>
              <a:tblPr/>
              <a:tblGrid>
                <a:gridCol w="424407">
                  <a:extLst>
                    <a:ext uri="{9D8B030D-6E8A-4147-A177-3AD203B41FA5}">
                      <a16:colId xmlns:a16="http://schemas.microsoft.com/office/drawing/2014/main" val="495084399"/>
                    </a:ext>
                  </a:extLst>
                </a:gridCol>
                <a:gridCol w="238715">
                  <a:extLst>
                    <a:ext uri="{9D8B030D-6E8A-4147-A177-3AD203B41FA5}">
                      <a16:colId xmlns:a16="http://schemas.microsoft.com/office/drawing/2014/main" val="3614210242"/>
                    </a:ext>
                  </a:extLst>
                </a:gridCol>
                <a:gridCol w="568111">
                  <a:extLst>
                    <a:ext uri="{9D8B030D-6E8A-4147-A177-3AD203B41FA5}">
                      <a16:colId xmlns:a16="http://schemas.microsoft.com/office/drawing/2014/main" val="1442124609"/>
                    </a:ext>
                  </a:extLst>
                </a:gridCol>
                <a:gridCol w="1832541">
                  <a:extLst>
                    <a:ext uri="{9D8B030D-6E8A-4147-A177-3AD203B41FA5}">
                      <a16:colId xmlns:a16="http://schemas.microsoft.com/office/drawing/2014/main" val="3603859997"/>
                    </a:ext>
                  </a:extLst>
                </a:gridCol>
                <a:gridCol w="265470">
                  <a:extLst>
                    <a:ext uri="{9D8B030D-6E8A-4147-A177-3AD203B41FA5}">
                      <a16:colId xmlns:a16="http://schemas.microsoft.com/office/drawing/2014/main" val="4076488391"/>
                    </a:ext>
                  </a:extLst>
                </a:gridCol>
                <a:gridCol w="345887">
                  <a:extLst>
                    <a:ext uri="{9D8B030D-6E8A-4147-A177-3AD203B41FA5}">
                      <a16:colId xmlns:a16="http://schemas.microsoft.com/office/drawing/2014/main" val="3254101706"/>
                    </a:ext>
                  </a:extLst>
                </a:gridCol>
                <a:gridCol w="277387">
                  <a:extLst>
                    <a:ext uri="{9D8B030D-6E8A-4147-A177-3AD203B41FA5}">
                      <a16:colId xmlns:a16="http://schemas.microsoft.com/office/drawing/2014/main" val="3712391277"/>
                    </a:ext>
                  </a:extLst>
                </a:gridCol>
                <a:gridCol w="271812">
                  <a:extLst>
                    <a:ext uri="{9D8B030D-6E8A-4147-A177-3AD203B41FA5}">
                      <a16:colId xmlns:a16="http://schemas.microsoft.com/office/drawing/2014/main" val="363493977"/>
                    </a:ext>
                  </a:extLst>
                </a:gridCol>
                <a:gridCol w="271812">
                  <a:extLst>
                    <a:ext uri="{9D8B030D-6E8A-4147-A177-3AD203B41FA5}">
                      <a16:colId xmlns:a16="http://schemas.microsoft.com/office/drawing/2014/main" val="2527660299"/>
                    </a:ext>
                  </a:extLst>
                </a:gridCol>
                <a:gridCol w="391593">
                  <a:extLst>
                    <a:ext uri="{9D8B030D-6E8A-4147-A177-3AD203B41FA5}">
                      <a16:colId xmlns:a16="http://schemas.microsoft.com/office/drawing/2014/main" val="3641075278"/>
                    </a:ext>
                  </a:extLst>
                </a:gridCol>
                <a:gridCol w="817022">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Recognition of End of Lease Services Revenue</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End of Lease</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 (EOT)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 (EOT)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1418110"/>
                  </a:ext>
                </a:extLst>
              </a:tr>
            </a:tbl>
          </a:graphicData>
        </a:graphic>
      </p:graphicFrame>
      <p:graphicFrame>
        <p:nvGraphicFramePr>
          <p:cNvPr id="15" name="表格 14">
            <a:extLst>
              <a:ext uri="{FF2B5EF4-FFF2-40B4-BE49-F238E27FC236}">
                <a16:creationId xmlns:a16="http://schemas.microsoft.com/office/drawing/2014/main" id="{87F6CF86-2BE3-064E-449B-F93E27D45199}"/>
              </a:ext>
            </a:extLst>
          </p:cNvPr>
          <p:cNvGraphicFramePr>
            <a:graphicFrameLocks noGrp="1"/>
          </p:cNvGraphicFramePr>
          <p:nvPr>
            <p:extLst>
              <p:ext uri="{D42A27DB-BD31-4B8C-83A1-F6EECF244321}">
                <p14:modId xmlns:p14="http://schemas.microsoft.com/office/powerpoint/2010/main" val="839217666"/>
              </p:ext>
            </p:extLst>
          </p:nvPr>
        </p:nvGraphicFramePr>
        <p:xfrm>
          <a:off x="6124408" y="586635"/>
          <a:ext cx="5885425" cy="1143000"/>
        </p:xfrm>
        <a:graphic>
          <a:graphicData uri="http://schemas.openxmlformats.org/drawingml/2006/table">
            <a:tbl>
              <a:tblPr firstRow="1" bandRow="1">
                <a:tableStyleId>{3C2FFA5D-87B4-456A-9821-1D502468CF0F}</a:tableStyleId>
              </a:tblPr>
              <a:tblGrid>
                <a:gridCol w="645006">
                  <a:extLst>
                    <a:ext uri="{9D8B030D-6E8A-4147-A177-3AD203B41FA5}">
                      <a16:colId xmlns:a16="http://schemas.microsoft.com/office/drawing/2014/main" val="869603910"/>
                    </a:ext>
                  </a:extLst>
                </a:gridCol>
                <a:gridCol w="697230">
                  <a:extLst>
                    <a:ext uri="{9D8B030D-6E8A-4147-A177-3AD203B41FA5}">
                      <a16:colId xmlns:a16="http://schemas.microsoft.com/office/drawing/2014/main" val="238663902"/>
                    </a:ext>
                  </a:extLst>
                </a:gridCol>
                <a:gridCol w="727940">
                  <a:extLst>
                    <a:ext uri="{9D8B030D-6E8A-4147-A177-3AD203B41FA5}">
                      <a16:colId xmlns:a16="http://schemas.microsoft.com/office/drawing/2014/main" val="4114365151"/>
                    </a:ext>
                  </a:extLst>
                </a:gridCol>
                <a:gridCol w="662652">
                  <a:extLst>
                    <a:ext uri="{9D8B030D-6E8A-4147-A177-3AD203B41FA5}">
                      <a16:colId xmlns:a16="http://schemas.microsoft.com/office/drawing/2014/main" val="4075178046"/>
                    </a:ext>
                  </a:extLst>
                </a:gridCol>
                <a:gridCol w="664579">
                  <a:extLst>
                    <a:ext uri="{9D8B030D-6E8A-4147-A177-3AD203B41FA5}">
                      <a16:colId xmlns:a16="http://schemas.microsoft.com/office/drawing/2014/main" val="973533418"/>
                    </a:ext>
                  </a:extLst>
                </a:gridCol>
                <a:gridCol w="733646">
                  <a:extLst>
                    <a:ext uri="{9D8B030D-6E8A-4147-A177-3AD203B41FA5}">
                      <a16:colId xmlns:a16="http://schemas.microsoft.com/office/drawing/2014/main" val="2377711782"/>
                    </a:ext>
                  </a:extLst>
                </a:gridCol>
                <a:gridCol w="808075">
                  <a:extLst>
                    <a:ext uri="{9D8B030D-6E8A-4147-A177-3AD203B41FA5}">
                      <a16:colId xmlns:a16="http://schemas.microsoft.com/office/drawing/2014/main" val="1022211988"/>
                    </a:ext>
                  </a:extLst>
                </a:gridCol>
                <a:gridCol w="946297">
                  <a:extLst>
                    <a:ext uri="{9D8B030D-6E8A-4147-A177-3AD203B41FA5}">
                      <a16:colId xmlns:a16="http://schemas.microsoft.com/office/drawing/2014/main" val="221569069"/>
                    </a:ext>
                  </a:extLst>
                </a:gridCol>
              </a:tblGrid>
              <a:tr h="15659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327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Asset Remarketing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6" name="表格 15">
            <a:extLst>
              <a:ext uri="{FF2B5EF4-FFF2-40B4-BE49-F238E27FC236}">
                <a16:creationId xmlns:a16="http://schemas.microsoft.com/office/drawing/2014/main" id="{1B514FE6-9DFC-69EA-9B87-694F3B4DEBDD}"/>
              </a:ext>
            </a:extLst>
          </p:cNvPr>
          <p:cNvGraphicFramePr>
            <a:graphicFrameLocks noGrp="1"/>
          </p:cNvGraphicFramePr>
          <p:nvPr>
            <p:extLst>
              <p:ext uri="{D42A27DB-BD31-4B8C-83A1-F6EECF244321}">
                <p14:modId xmlns:p14="http://schemas.microsoft.com/office/powerpoint/2010/main" val="1517190097"/>
              </p:ext>
            </p:extLst>
          </p:nvPr>
        </p:nvGraphicFramePr>
        <p:xfrm>
          <a:off x="6124405" y="1899682"/>
          <a:ext cx="5885424" cy="1104005"/>
        </p:xfrm>
        <a:graphic>
          <a:graphicData uri="http://schemas.openxmlformats.org/drawingml/2006/table">
            <a:tbl>
              <a:tblPr/>
              <a:tblGrid>
                <a:gridCol w="470504">
                  <a:extLst>
                    <a:ext uri="{9D8B030D-6E8A-4147-A177-3AD203B41FA5}">
                      <a16:colId xmlns:a16="http://schemas.microsoft.com/office/drawing/2014/main" val="495084399"/>
                    </a:ext>
                  </a:extLst>
                </a:gridCol>
                <a:gridCol w="246296">
                  <a:extLst>
                    <a:ext uri="{9D8B030D-6E8A-4147-A177-3AD203B41FA5}">
                      <a16:colId xmlns:a16="http://schemas.microsoft.com/office/drawing/2014/main" val="3614210242"/>
                    </a:ext>
                  </a:extLst>
                </a:gridCol>
                <a:gridCol w="623638">
                  <a:extLst>
                    <a:ext uri="{9D8B030D-6E8A-4147-A177-3AD203B41FA5}">
                      <a16:colId xmlns:a16="http://schemas.microsoft.com/office/drawing/2014/main" val="1442124609"/>
                    </a:ext>
                  </a:extLst>
                </a:gridCol>
                <a:gridCol w="1594545">
                  <a:extLst>
                    <a:ext uri="{9D8B030D-6E8A-4147-A177-3AD203B41FA5}">
                      <a16:colId xmlns:a16="http://schemas.microsoft.com/office/drawing/2014/main" val="3603859997"/>
                    </a:ext>
                  </a:extLst>
                </a:gridCol>
                <a:gridCol w="595234">
                  <a:extLst>
                    <a:ext uri="{9D8B030D-6E8A-4147-A177-3AD203B41FA5}">
                      <a16:colId xmlns:a16="http://schemas.microsoft.com/office/drawing/2014/main" val="4076488391"/>
                    </a:ext>
                  </a:extLst>
                </a:gridCol>
                <a:gridCol w="346720">
                  <a:extLst>
                    <a:ext uri="{9D8B030D-6E8A-4147-A177-3AD203B41FA5}">
                      <a16:colId xmlns:a16="http://schemas.microsoft.com/office/drawing/2014/main" val="3254101706"/>
                    </a:ext>
                  </a:extLst>
                </a:gridCol>
                <a:gridCol w="380320">
                  <a:extLst>
                    <a:ext uri="{9D8B030D-6E8A-4147-A177-3AD203B41FA5}">
                      <a16:colId xmlns:a16="http://schemas.microsoft.com/office/drawing/2014/main" val="3712391277"/>
                    </a:ext>
                  </a:extLst>
                </a:gridCol>
                <a:gridCol w="644399">
                  <a:extLst>
                    <a:ext uri="{9D8B030D-6E8A-4147-A177-3AD203B41FA5}">
                      <a16:colId xmlns:a16="http://schemas.microsoft.com/office/drawing/2014/main" val="277609593"/>
                    </a:ext>
                  </a:extLst>
                </a:gridCol>
                <a:gridCol w="267611">
                  <a:extLst>
                    <a:ext uri="{9D8B030D-6E8A-4147-A177-3AD203B41FA5}">
                      <a16:colId xmlns:a16="http://schemas.microsoft.com/office/drawing/2014/main" val="2527660299"/>
                    </a:ext>
                  </a:extLst>
                </a:gridCol>
                <a:gridCol w="404029">
                  <a:extLst>
                    <a:ext uri="{9D8B030D-6E8A-4147-A177-3AD203B41FA5}">
                      <a16:colId xmlns:a16="http://schemas.microsoft.com/office/drawing/2014/main" val="3641075278"/>
                    </a:ext>
                  </a:extLst>
                </a:gridCol>
                <a:gridCol w="312128">
                  <a:extLst>
                    <a:ext uri="{9D8B030D-6E8A-4147-A177-3AD203B41FA5}">
                      <a16:colId xmlns:a16="http://schemas.microsoft.com/office/drawing/2014/main" val="3618613915"/>
                    </a:ext>
                  </a:extLst>
                </a:gridCol>
              </a:tblGrid>
              <a:tr h="17882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kern="1200">
                          <a:solidFill>
                            <a:srgbClr val="FFFFFF"/>
                          </a:solidFill>
                          <a:effectLst/>
                          <a:latin typeface="Arial" panose="020B0604020202020204" pitchFamily="34" charset="0"/>
                          <a:ea typeface="+mn-ea"/>
                          <a:cs typeface="+mn-cs"/>
                        </a:rPr>
                        <a:t>Recognition of Revenue on Sale of device to 2nd Hand Broker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Invoice to 2nd Broker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 HW</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33855811"/>
                  </a:ext>
                </a:extLst>
              </a:tr>
            </a:tbl>
          </a:graphicData>
        </a:graphic>
      </p:graphicFrame>
      <p:graphicFrame>
        <p:nvGraphicFramePr>
          <p:cNvPr id="18" name="表格 17">
            <a:extLst>
              <a:ext uri="{FF2B5EF4-FFF2-40B4-BE49-F238E27FC236}">
                <a16:creationId xmlns:a16="http://schemas.microsoft.com/office/drawing/2014/main" id="{06610425-02B4-52E2-FE87-8D9D69DD19FD}"/>
              </a:ext>
            </a:extLst>
          </p:cNvPr>
          <p:cNvGraphicFramePr>
            <a:graphicFrameLocks noGrp="1"/>
          </p:cNvGraphicFramePr>
          <p:nvPr>
            <p:extLst>
              <p:ext uri="{D42A27DB-BD31-4B8C-83A1-F6EECF244321}">
                <p14:modId xmlns:p14="http://schemas.microsoft.com/office/powerpoint/2010/main" val="362255827"/>
              </p:ext>
            </p:extLst>
          </p:nvPr>
        </p:nvGraphicFramePr>
        <p:xfrm>
          <a:off x="6124408" y="3514398"/>
          <a:ext cx="5885421" cy="1103498"/>
        </p:xfrm>
        <a:graphic>
          <a:graphicData uri="http://schemas.openxmlformats.org/drawingml/2006/table">
            <a:tbl>
              <a:tblPr/>
              <a:tblGrid>
                <a:gridCol w="472474">
                  <a:extLst>
                    <a:ext uri="{9D8B030D-6E8A-4147-A177-3AD203B41FA5}">
                      <a16:colId xmlns:a16="http://schemas.microsoft.com/office/drawing/2014/main" val="495084399"/>
                    </a:ext>
                  </a:extLst>
                </a:gridCol>
                <a:gridCol w="247328">
                  <a:extLst>
                    <a:ext uri="{9D8B030D-6E8A-4147-A177-3AD203B41FA5}">
                      <a16:colId xmlns:a16="http://schemas.microsoft.com/office/drawing/2014/main" val="3614210242"/>
                    </a:ext>
                  </a:extLst>
                </a:gridCol>
                <a:gridCol w="626251">
                  <a:extLst>
                    <a:ext uri="{9D8B030D-6E8A-4147-A177-3AD203B41FA5}">
                      <a16:colId xmlns:a16="http://schemas.microsoft.com/office/drawing/2014/main" val="1442124609"/>
                    </a:ext>
                  </a:extLst>
                </a:gridCol>
                <a:gridCol w="1601223">
                  <a:extLst>
                    <a:ext uri="{9D8B030D-6E8A-4147-A177-3AD203B41FA5}">
                      <a16:colId xmlns:a16="http://schemas.microsoft.com/office/drawing/2014/main" val="3603859997"/>
                    </a:ext>
                  </a:extLst>
                </a:gridCol>
                <a:gridCol w="597727">
                  <a:extLst>
                    <a:ext uri="{9D8B030D-6E8A-4147-A177-3AD203B41FA5}">
                      <a16:colId xmlns:a16="http://schemas.microsoft.com/office/drawing/2014/main" val="4076488391"/>
                    </a:ext>
                  </a:extLst>
                </a:gridCol>
                <a:gridCol w="297891">
                  <a:extLst>
                    <a:ext uri="{9D8B030D-6E8A-4147-A177-3AD203B41FA5}">
                      <a16:colId xmlns:a16="http://schemas.microsoft.com/office/drawing/2014/main" val="3254101706"/>
                    </a:ext>
                  </a:extLst>
                </a:gridCol>
                <a:gridCol w="381914">
                  <a:extLst>
                    <a:ext uri="{9D8B030D-6E8A-4147-A177-3AD203B41FA5}">
                      <a16:colId xmlns:a16="http://schemas.microsoft.com/office/drawing/2014/main" val="3712391277"/>
                    </a:ext>
                  </a:extLst>
                </a:gridCol>
                <a:gridCol w="646907">
                  <a:extLst>
                    <a:ext uri="{9D8B030D-6E8A-4147-A177-3AD203B41FA5}">
                      <a16:colId xmlns:a16="http://schemas.microsoft.com/office/drawing/2014/main" val="277609593"/>
                    </a:ext>
                  </a:extLst>
                </a:gridCol>
                <a:gridCol w="268731">
                  <a:extLst>
                    <a:ext uri="{9D8B030D-6E8A-4147-A177-3AD203B41FA5}">
                      <a16:colId xmlns:a16="http://schemas.microsoft.com/office/drawing/2014/main" val="2527660299"/>
                    </a:ext>
                  </a:extLst>
                </a:gridCol>
                <a:gridCol w="431540">
                  <a:extLst>
                    <a:ext uri="{9D8B030D-6E8A-4147-A177-3AD203B41FA5}">
                      <a16:colId xmlns:a16="http://schemas.microsoft.com/office/drawing/2014/main" val="3641075278"/>
                    </a:ext>
                  </a:extLst>
                </a:gridCol>
                <a:gridCol w="313435">
                  <a:extLst>
                    <a:ext uri="{9D8B030D-6E8A-4147-A177-3AD203B41FA5}">
                      <a16:colId xmlns:a16="http://schemas.microsoft.com/office/drawing/2014/main" val="3618613915"/>
                    </a:ext>
                  </a:extLst>
                </a:gridCol>
              </a:tblGrid>
              <a:tr h="17882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Recognition of Cost on Sale of device to 2nd Hand Broker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Device Delivery to 2nd Broker​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5020452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Cost - HW</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1349903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GIT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bl>
          </a:graphicData>
        </a:graphic>
      </p:graphicFrame>
    </p:spTree>
    <p:extLst>
      <p:ext uri="{BB962C8B-B14F-4D97-AF65-F5344CB8AC3E}">
        <p14:creationId xmlns:p14="http://schemas.microsoft.com/office/powerpoint/2010/main" val="257244672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9F48AF-E68D-691E-B4AF-6A7A53880484}"/>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46DF0955-07CB-7426-2A39-EB872965A61E}"/>
              </a:ext>
            </a:extLst>
          </p:cNvPr>
          <p:cNvSpPr txBox="1"/>
          <p:nvPr/>
        </p:nvSpPr>
        <p:spPr>
          <a:xfrm>
            <a:off x="81124" y="83532"/>
            <a:ext cx="4470947" cy="400110"/>
          </a:xfrm>
          <a:prstGeom prst="rect">
            <a:avLst/>
          </a:prstGeom>
          <a:noFill/>
        </p:spPr>
        <p:txBody>
          <a:bodyPr wrap="square" rtlCol="0">
            <a:spAutoFit/>
          </a:bodyPr>
          <a:lstStyle/>
          <a:p>
            <a:r>
              <a:rPr lang="nl-NL" altLang="zh-CN" sz="2000" b="1"/>
              <a:t>DaaS_Central_MSA&amp;MLA</a:t>
            </a:r>
            <a:endParaRPr lang="zh-CN" altLang="en-US" sz="2000" b="1"/>
          </a:p>
        </p:txBody>
      </p:sp>
      <p:cxnSp>
        <p:nvCxnSpPr>
          <p:cNvPr id="2" name="直接连接符 1">
            <a:extLst>
              <a:ext uri="{FF2B5EF4-FFF2-40B4-BE49-F238E27FC236}">
                <a16:creationId xmlns:a16="http://schemas.microsoft.com/office/drawing/2014/main" id="{C9F26AB0-8128-FC40-709C-BF3979EE8238}"/>
              </a:ext>
            </a:extLst>
          </p:cNvPr>
          <p:cNvCxnSpPr>
            <a:cxnSpLocks/>
          </p:cNvCxnSpPr>
          <p:nvPr/>
        </p:nvCxnSpPr>
        <p:spPr>
          <a:xfrm>
            <a:off x="6096000" y="599262"/>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3" name="表格 12">
            <a:extLst>
              <a:ext uri="{FF2B5EF4-FFF2-40B4-BE49-F238E27FC236}">
                <a16:creationId xmlns:a16="http://schemas.microsoft.com/office/drawing/2014/main" id="{EDA905B5-39E7-E5D6-8484-1D32B90E745A}"/>
              </a:ext>
            </a:extLst>
          </p:cNvPr>
          <p:cNvGraphicFramePr>
            <a:graphicFrameLocks noGrp="1"/>
          </p:cNvGraphicFramePr>
          <p:nvPr>
            <p:extLst>
              <p:ext uri="{D42A27DB-BD31-4B8C-83A1-F6EECF244321}">
                <p14:modId xmlns:p14="http://schemas.microsoft.com/office/powerpoint/2010/main" val="973201043"/>
              </p:ext>
            </p:extLst>
          </p:nvPr>
        </p:nvGraphicFramePr>
        <p:xfrm>
          <a:off x="117014" y="1903483"/>
          <a:ext cx="5747467" cy="1267722"/>
        </p:xfrm>
        <a:graphic>
          <a:graphicData uri="http://schemas.openxmlformats.org/drawingml/2006/table">
            <a:tbl>
              <a:tblPr/>
              <a:tblGrid>
                <a:gridCol w="407521">
                  <a:extLst>
                    <a:ext uri="{9D8B030D-6E8A-4147-A177-3AD203B41FA5}">
                      <a16:colId xmlns:a16="http://schemas.microsoft.com/office/drawing/2014/main" val="495084399"/>
                    </a:ext>
                  </a:extLst>
                </a:gridCol>
                <a:gridCol w="244828">
                  <a:extLst>
                    <a:ext uri="{9D8B030D-6E8A-4147-A177-3AD203B41FA5}">
                      <a16:colId xmlns:a16="http://schemas.microsoft.com/office/drawing/2014/main" val="3614210242"/>
                    </a:ext>
                  </a:extLst>
                </a:gridCol>
                <a:gridCol w="707277">
                  <a:extLst>
                    <a:ext uri="{9D8B030D-6E8A-4147-A177-3AD203B41FA5}">
                      <a16:colId xmlns:a16="http://schemas.microsoft.com/office/drawing/2014/main" val="1442124609"/>
                    </a:ext>
                  </a:extLst>
                </a:gridCol>
                <a:gridCol w="1125803">
                  <a:extLst>
                    <a:ext uri="{9D8B030D-6E8A-4147-A177-3AD203B41FA5}">
                      <a16:colId xmlns:a16="http://schemas.microsoft.com/office/drawing/2014/main" val="3603859997"/>
                    </a:ext>
                  </a:extLst>
                </a:gridCol>
                <a:gridCol w="584446">
                  <a:extLst>
                    <a:ext uri="{9D8B030D-6E8A-4147-A177-3AD203B41FA5}">
                      <a16:colId xmlns:a16="http://schemas.microsoft.com/office/drawing/2014/main" val="4076488391"/>
                    </a:ext>
                  </a:extLst>
                </a:gridCol>
                <a:gridCol w="308486">
                  <a:extLst>
                    <a:ext uri="{9D8B030D-6E8A-4147-A177-3AD203B41FA5}">
                      <a16:colId xmlns:a16="http://schemas.microsoft.com/office/drawing/2014/main" val="3254101706"/>
                    </a:ext>
                  </a:extLst>
                </a:gridCol>
                <a:gridCol w="260285">
                  <a:extLst>
                    <a:ext uri="{9D8B030D-6E8A-4147-A177-3AD203B41FA5}">
                      <a16:colId xmlns:a16="http://schemas.microsoft.com/office/drawing/2014/main" val="3712391277"/>
                    </a:ext>
                  </a:extLst>
                </a:gridCol>
                <a:gridCol w="526680">
                  <a:extLst>
                    <a:ext uri="{9D8B030D-6E8A-4147-A177-3AD203B41FA5}">
                      <a16:colId xmlns:a16="http://schemas.microsoft.com/office/drawing/2014/main" val="2739219730"/>
                    </a:ext>
                  </a:extLst>
                </a:gridCol>
                <a:gridCol w="397847">
                  <a:extLst>
                    <a:ext uri="{9D8B030D-6E8A-4147-A177-3AD203B41FA5}">
                      <a16:colId xmlns:a16="http://schemas.microsoft.com/office/drawing/2014/main" val="2527660299"/>
                    </a:ext>
                  </a:extLst>
                </a:gridCol>
                <a:gridCol w="370469">
                  <a:extLst>
                    <a:ext uri="{9D8B030D-6E8A-4147-A177-3AD203B41FA5}">
                      <a16:colId xmlns:a16="http://schemas.microsoft.com/office/drawing/2014/main" val="3641075278"/>
                    </a:ext>
                  </a:extLst>
                </a:gridCol>
                <a:gridCol w="813825">
                  <a:extLst>
                    <a:ext uri="{9D8B030D-6E8A-4147-A177-3AD203B41FA5}">
                      <a16:colId xmlns:a16="http://schemas.microsoft.com/office/drawing/2014/main" val="3618613915"/>
                    </a:ext>
                  </a:extLst>
                </a:gridCol>
              </a:tblGrid>
              <a:tr h="15736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Local AFE</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Intercompany transaction for DC</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0163">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DC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8322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163">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NL11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40992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5010542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Broker Sale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5MS1R87545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bl>
          </a:graphicData>
        </a:graphic>
      </p:graphicFrame>
      <p:graphicFrame>
        <p:nvGraphicFramePr>
          <p:cNvPr id="4" name="表格 3">
            <a:extLst>
              <a:ext uri="{FF2B5EF4-FFF2-40B4-BE49-F238E27FC236}">
                <a16:creationId xmlns:a16="http://schemas.microsoft.com/office/drawing/2014/main" id="{09D04465-59D6-51FF-4156-6776DB480A91}"/>
              </a:ext>
            </a:extLst>
          </p:cNvPr>
          <p:cNvGraphicFramePr>
            <a:graphicFrameLocks noGrp="1"/>
          </p:cNvGraphicFramePr>
          <p:nvPr>
            <p:extLst>
              <p:ext uri="{D42A27DB-BD31-4B8C-83A1-F6EECF244321}">
                <p14:modId xmlns:p14="http://schemas.microsoft.com/office/powerpoint/2010/main" val="1262710790"/>
              </p:ext>
            </p:extLst>
          </p:nvPr>
        </p:nvGraphicFramePr>
        <p:xfrm>
          <a:off x="172167" y="563836"/>
          <a:ext cx="5692313" cy="1303020"/>
        </p:xfrm>
        <a:graphic>
          <a:graphicData uri="http://schemas.openxmlformats.org/drawingml/2006/table">
            <a:tbl>
              <a:tblPr firstRow="1" bandRow="1">
                <a:tableStyleId>{3C2FFA5D-87B4-456A-9821-1D502468CF0F}</a:tableStyleId>
              </a:tblPr>
              <a:tblGrid>
                <a:gridCol w="646540">
                  <a:extLst>
                    <a:ext uri="{9D8B030D-6E8A-4147-A177-3AD203B41FA5}">
                      <a16:colId xmlns:a16="http://schemas.microsoft.com/office/drawing/2014/main" val="869603910"/>
                    </a:ext>
                  </a:extLst>
                </a:gridCol>
                <a:gridCol w="680484">
                  <a:extLst>
                    <a:ext uri="{9D8B030D-6E8A-4147-A177-3AD203B41FA5}">
                      <a16:colId xmlns:a16="http://schemas.microsoft.com/office/drawing/2014/main" val="238663902"/>
                    </a:ext>
                  </a:extLst>
                </a:gridCol>
                <a:gridCol w="754911">
                  <a:extLst>
                    <a:ext uri="{9D8B030D-6E8A-4147-A177-3AD203B41FA5}">
                      <a16:colId xmlns:a16="http://schemas.microsoft.com/office/drawing/2014/main" val="4114365151"/>
                    </a:ext>
                  </a:extLst>
                </a:gridCol>
                <a:gridCol w="669851">
                  <a:extLst>
                    <a:ext uri="{9D8B030D-6E8A-4147-A177-3AD203B41FA5}">
                      <a16:colId xmlns:a16="http://schemas.microsoft.com/office/drawing/2014/main" val="4075178046"/>
                    </a:ext>
                  </a:extLst>
                </a:gridCol>
                <a:gridCol w="691117">
                  <a:extLst>
                    <a:ext uri="{9D8B030D-6E8A-4147-A177-3AD203B41FA5}">
                      <a16:colId xmlns:a16="http://schemas.microsoft.com/office/drawing/2014/main" val="973533418"/>
                    </a:ext>
                  </a:extLst>
                </a:gridCol>
                <a:gridCol w="733646">
                  <a:extLst>
                    <a:ext uri="{9D8B030D-6E8A-4147-A177-3AD203B41FA5}">
                      <a16:colId xmlns:a16="http://schemas.microsoft.com/office/drawing/2014/main" val="2377711782"/>
                    </a:ext>
                  </a:extLst>
                </a:gridCol>
                <a:gridCol w="715664">
                  <a:extLst>
                    <a:ext uri="{9D8B030D-6E8A-4147-A177-3AD203B41FA5}">
                      <a16:colId xmlns:a16="http://schemas.microsoft.com/office/drawing/2014/main" val="833595551"/>
                    </a:ext>
                  </a:extLst>
                </a:gridCol>
                <a:gridCol w="800100">
                  <a:extLst>
                    <a:ext uri="{9D8B030D-6E8A-4147-A177-3AD203B41FA5}">
                      <a16:colId xmlns:a16="http://schemas.microsoft.com/office/drawing/2014/main" val="221569069"/>
                    </a:ext>
                  </a:extLst>
                </a:gridCol>
              </a:tblGrid>
              <a:tr h="52920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 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9209">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Damage Charge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5" name="表格 4">
            <a:extLst>
              <a:ext uri="{FF2B5EF4-FFF2-40B4-BE49-F238E27FC236}">
                <a16:creationId xmlns:a16="http://schemas.microsoft.com/office/drawing/2014/main" id="{181311D6-EA39-6815-D07D-1C015DAC4D88}"/>
              </a:ext>
            </a:extLst>
          </p:cNvPr>
          <p:cNvGraphicFramePr>
            <a:graphicFrameLocks noGrp="1"/>
          </p:cNvGraphicFramePr>
          <p:nvPr>
            <p:extLst>
              <p:ext uri="{D42A27DB-BD31-4B8C-83A1-F6EECF244321}">
                <p14:modId xmlns:p14="http://schemas.microsoft.com/office/powerpoint/2010/main" val="672970320"/>
              </p:ext>
            </p:extLst>
          </p:nvPr>
        </p:nvGraphicFramePr>
        <p:xfrm>
          <a:off x="6327517" y="5310514"/>
          <a:ext cx="5802783" cy="1099624"/>
        </p:xfrm>
        <a:graphic>
          <a:graphicData uri="http://schemas.openxmlformats.org/drawingml/2006/table">
            <a:tbl>
              <a:tblPr/>
              <a:tblGrid>
                <a:gridCol w="419422">
                  <a:extLst>
                    <a:ext uri="{9D8B030D-6E8A-4147-A177-3AD203B41FA5}">
                      <a16:colId xmlns:a16="http://schemas.microsoft.com/office/drawing/2014/main" val="495084399"/>
                    </a:ext>
                  </a:extLst>
                </a:gridCol>
                <a:gridCol w="233983">
                  <a:extLst>
                    <a:ext uri="{9D8B030D-6E8A-4147-A177-3AD203B41FA5}">
                      <a16:colId xmlns:a16="http://schemas.microsoft.com/office/drawing/2014/main" val="3614210242"/>
                    </a:ext>
                  </a:extLst>
                </a:gridCol>
                <a:gridCol w="556851">
                  <a:extLst>
                    <a:ext uri="{9D8B030D-6E8A-4147-A177-3AD203B41FA5}">
                      <a16:colId xmlns:a16="http://schemas.microsoft.com/office/drawing/2014/main" val="1442124609"/>
                    </a:ext>
                  </a:extLst>
                </a:gridCol>
                <a:gridCol w="1590552">
                  <a:extLst>
                    <a:ext uri="{9D8B030D-6E8A-4147-A177-3AD203B41FA5}">
                      <a16:colId xmlns:a16="http://schemas.microsoft.com/office/drawing/2014/main" val="3603859997"/>
                    </a:ext>
                  </a:extLst>
                </a:gridCol>
                <a:gridCol w="278271">
                  <a:extLst>
                    <a:ext uri="{9D8B030D-6E8A-4147-A177-3AD203B41FA5}">
                      <a16:colId xmlns:a16="http://schemas.microsoft.com/office/drawing/2014/main" val="4076488391"/>
                    </a:ext>
                  </a:extLst>
                </a:gridCol>
                <a:gridCol w="319495">
                  <a:extLst>
                    <a:ext uri="{9D8B030D-6E8A-4147-A177-3AD203B41FA5}">
                      <a16:colId xmlns:a16="http://schemas.microsoft.com/office/drawing/2014/main" val="3254101706"/>
                    </a:ext>
                  </a:extLst>
                </a:gridCol>
                <a:gridCol w="340110">
                  <a:extLst>
                    <a:ext uri="{9D8B030D-6E8A-4147-A177-3AD203B41FA5}">
                      <a16:colId xmlns:a16="http://schemas.microsoft.com/office/drawing/2014/main" val="3712391277"/>
                    </a:ext>
                  </a:extLst>
                </a:gridCol>
                <a:gridCol w="569233">
                  <a:extLst>
                    <a:ext uri="{9D8B030D-6E8A-4147-A177-3AD203B41FA5}">
                      <a16:colId xmlns:a16="http://schemas.microsoft.com/office/drawing/2014/main" val="2401821603"/>
                    </a:ext>
                  </a:extLst>
                </a:gridCol>
                <a:gridCol w="320071">
                  <a:extLst>
                    <a:ext uri="{9D8B030D-6E8A-4147-A177-3AD203B41FA5}">
                      <a16:colId xmlns:a16="http://schemas.microsoft.com/office/drawing/2014/main" val="2527660299"/>
                    </a:ext>
                  </a:extLst>
                </a:gridCol>
                <a:gridCol w="382334">
                  <a:extLst>
                    <a:ext uri="{9D8B030D-6E8A-4147-A177-3AD203B41FA5}">
                      <a16:colId xmlns:a16="http://schemas.microsoft.com/office/drawing/2014/main" val="3641075278"/>
                    </a:ext>
                  </a:extLst>
                </a:gridCol>
                <a:gridCol w="792461">
                  <a:extLst>
                    <a:ext uri="{9D8B030D-6E8A-4147-A177-3AD203B41FA5}">
                      <a16:colId xmlns:a16="http://schemas.microsoft.com/office/drawing/2014/main" val="3618613915"/>
                    </a:ext>
                  </a:extLst>
                </a:gridCol>
              </a:tblGrid>
              <a:tr h="178829">
                <a:tc rowSpan="5">
                  <a:txBody>
                    <a:bodyPr/>
                    <a:lstStyle/>
                    <a:p>
                      <a:pPr algn="ctr" fontAlgn="base">
                        <a:lnSpc>
                          <a:spcPts val="1425"/>
                        </a:lnSpc>
                        <a:buNone/>
                      </a:pPr>
                      <a:r>
                        <a:rPr lang="en-US" sz="900" b="1" i="0">
                          <a:solidFill>
                            <a:srgbClr val="FFFFFF"/>
                          </a:solidFill>
                          <a:effectLst/>
                          <a:latin typeface="Arial" panose="020B0604020202020204" pitchFamily="34" charset="0"/>
                        </a:rPr>
                        <a:t>Local</a:t>
                      </a:r>
                    </a:p>
                    <a:p>
                      <a:pPr algn="ctr" fontAlgn="base">
                        <a:lnSpc>
                          <a:spcPts val="1425"/>
                        </a:lnSpc>
                        <a:buNone/>
                      </a:pPr>
                      <a:r>
                        <a:rPr lang="en-US" sz="900" b="1" i="0">
                          <a:solidFill>
                            <a:srgbClr val="FFFFFF"/>
                          </a:solidFill>
                          <a:effectLst/>
                          <a:latin typeface="Arial" panose="020B0604020202020204" pitchFamily="34" charset="0"/>
                        </a:rPr>
                        <a:t>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kern="1200">
                          <a:solidFill>
                            <a:srgbClr val="FFFFFF"/>
                          </a:solidFill>
                          <a:effectLst/>
                          <a:latin typeface="Arial" panose="020B0604020202020204" pitchFamily="34" charset="0"/>
                          <a:ea typeface="+mn-ea"/>
                          <a:cs typeface="+mn-cs"/>
                        </a:rPr>
                        <a:t>Reclass defer revenue into P/L Account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Lease termination</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chemeClr val="tx1"/>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chemeClr val="tx1"/>
                          </a:solidFill>
                          <a:effectLst/>
                          <a:latin typeface="Arial" panose="020B0604020202020204" pitchFamily="34" charset="0"/>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chemeClr val="tx1"/>
                          </a:solidFill>
                          <a:effectLst/>
                          <a:latin typeface="Arial" panose="020B0604020202020204" pitchFamily="34" charset="0"/>
                          <a:ea typeface="+mn-ea"/>
                          <a:cs typeface="+mn-cs"/>
                        </a:rPr>
                        <a:t>A/R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chemeClr val="tx1"/>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chemeClr val="tx1"/>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bl>
          </a:graphicData>
        </a:graphic>
      </p:graphicFrame>
      <p:graphicFrame>
        <p:nvGraphicFramePr>
          <p:cNvPr id="25" name="表格 24">
            <a:extLst>
              <a:ext uri="{FF2B5EF4-FFF2-40B4-BE49-F238E27FC236}">
                <a16:creationId xmlns:a16="http://schemas.microsoft.com/office/drawing/2014/main" id="{52FB391A-965C-FC06-DE1B-E07234517627}"/>
              </a:ext>
            </a:extLst>
          </p:cNvPr>
          <p:cNvGraphicFramePr>
            <a:graphicFrameLocks noGrp="1"/>
          </p:cNvGraphicFramePr>
          <p:nvPr>
            <p:extLst>
              <p:ext uri="{D42A27DB-BD31-4B8C-83A1-F6EECF244321}">
                <p14:modId xmlns:p14="http://schemas.microsoft.com/office/powerpoint/2010/main" val="2220435347"/>
              </p:ext>
            </p:extLst>
          </p:nvPr>
        </p:nvGraphicFramePr>
        <p:xfrm>
          <a:off x="6327518" y="3393838"/>
          <a:ext cx="5828636" cy="1692963"/>
        </p:xfrm>
        <a:graphic>
          <a:graphicData uri="http://schemas.openxmlformats.org/drawingml/2006/table">
            <a:tbl>
              <a:tblPr/>
              <a:tblGrid>
                <a:gridCol w="417403">
                  <a:extLst>
                    <a:ext uri="{9D8B030D-6E8A-4147-A177-3AD203B41FA5}">
                      <a16:colId xmlns:a16="http://schemas.microsoft.com/office/drawing/2014/main" val="495084399"/>
                    </a:ext>
                  </a:extLst>
                </a:gridCol>
                <a:gridCol w="248131">
                  <a:extLst>
                    <a:ext uri="{9D8B030D-6E8A-4147-A177-3AD203B41FA5}">
                      <a16:colId xmlns:a16="http://schemas.microsoft.com/office/drawing/2014/main" val="3614210242"/>
                    </a:ext>
                  </a:extLst>
                </a:gridCol>
                <a:gridCol w="563124">
                  <a:extLst>
                    <a:ext uri="{9D8B030D-6E8A-4147-A177-3AD203B41FA5}">
                      <a16:colId xmlns:a16="http://schemas.microsoft.com/office/drawing/2014/main" val="1442124609"/>
                    </a:ext>
                  </a:extLst>
                </a:gridCol>
                <a:gridCol w="1528944">
                  <a:extLst>
                    <a:ext uri="{9D8B030D-6E8A-4147-A177-3AD203B41FA5}">
                      <a16:colId xmlns:a16="http://schemas.microsoft.com/office/drawing/2014/main" val="3603859997"/>
                    </a:ext>
                  </a:extLst>
                </a:gridCol>
                <a:gridCol w="347188">
                  <a:extLst>
                    <a:ext uri="{9D8B030D-6E8A-4147-A177-3AD203B41FA5}">
                      <a16:colId xmlns:a16="http://schemas.microsoft.com/office/drawing/2014/main" val="4076488391"/>
                    </a:ext>
                  </a:extLst>
                </a:gridCol>
                <a:gridCol w="286787">
                  <a:extLst>
                    <a:ext uri="{9D8B030D-6E8A-4147-A177-3AD203B41FA5}">
                      <a16:colId xmlns:a16="http://schemas.microsoft.com/office/drawing/2014/main" val="3254101706"/>
                    </a:ext>
                  </a:extLst>
                </a:gridCol>
                <a:gridCol w="296088">
                  <a:extLst>
                    <a:ext uri="{9D8B030D-6E8A-4147-A177-3AD203B41FA5}">
                      <a16:colId xmlns:a16="http://schemas.microsoft.com/office/drawing/2014/main" val="3712391277"/>
                    </a:ext>
                  </a:extLst>
                </a:gridCol>
                <a:gridCol w="554374">
                  <a:extLst>
                    <a:ext uri="{9D8B030D-6E8A-4147-A177-3AD203B41FA5}">
                      <a16:colId xmlns:a16="http://schemas.microsoft.com/office/drawing/2014/main" val="2401821603"/>
                    </a:ext>
                  </a:extLst>
                </a:gridCol>
                <a:gridCol w="394404">
                  <a:extLst>
                    <a:ext uri="{9D8B030D-6E8A-4147-A177-3AD203B41FA5}">
                      <a16:colId xmlns:a16="http://schemas.microsoft.com/office/drawing/2014/main" val="2527660299"/>
                    </a:ext>
                  </a:extLst>
                </a:gridCol>
                <a:gridCol w="365957">
                  <a:extLst>
                    <a:ext uri="{9D8B030D-6E8A-4147-A177-3AD203B41FA5}">
                      <a16:colId xmlns:a16="http://schemas.microsoft.com/office/drawing/2014/main" val="3641075278"/>
                    </a:ext>
                  </a:extLst>
                </a:gridCol>
                <a:gridCol w="826236">
                  <a:extLst>
                    <a:ext uri="{9D8B030D-6E8A-4147-A177-3AD203B41FA5}">
                      <a16:colId xmlns:a16="http://schemas.microsoft.com/office/drawing/2014/main" val="3618613915"/>
                    </a:ext>
                  </a:extLst>
                </a:gridCol>
              </a:tblGrid>
              <a:tr h="135805">
                <a:tc rowSpan="7">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Interco transaction for damage charge</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38219">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38219">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3821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Payable –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3507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 Revenue</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5MS1R87545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6124902"/>
                  </a:ext>
                </a:extLst>
              </a:tr>
              <a:tr h="13507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 Revenue</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5MS1R87545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87608051"/>
                  </a:ext>
                </a:extLst>
              </a:tr>
              <a:tr h="24442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NL11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bl>
          </a:graphicData>
        </a:graphic>
      </p:graphicFrame>
      <p:graphicFrame>
        <p:nvGraphicFramePr>
          <p:cNvPr id="6" name="表格 5">
            <a:extLst>
              <a:ext uri="{FF2B5EF4-FFF2-40B4-BE49-F238E27FC236}">
                <a16:creationId xmlns:a16="http://schemas.microsoft.com/office/drawing/2014/main" id="{CDCFF5EA-95A5-4D22-4C70-60A54B824BFC}"/>
              </a:ext>
            </a:extLst>
          </p:cNvPr>
          <p:cNvGraphicFramePr>
            <a:graphicFrameLocks noGrp="1"/>
          </p:cNvGraphicFramePr>
          <p:nvPr>
            <p:extLst>
              <p:ext uri="{D42A27DB-BD31-4B8C-83A1-F6EECF244321}">
                <p14:modId xmlns:p14="http://schemas.microsoft.com/office/powerpoint/2010/main" val="4081459778"/>
              </p:ext>
            </p:extLst>
          </p:nvPr>
        </p:nvGraphicFramePr>
        <p:xfrm>
          <a:off x="117011" y="3850405"/>
          <a:ext cx="5747466" cy="1107879"/>
        </p:xfrm>
        <a:graphic>
          <a:graphicData uri="http://schemas.openxmlformats.org/drawingml/2006/table">
            <a:tbl>
              <a:tblPr/>
              <a:tblGrid>
                <a:gridCol w="378179">
                  <a:extLst>
                    <a:ext uri="{9D8B030D-6E8A-4147-A177-3AD203B41FA5}">
                      <a16:colId xmlns:a16="http://schemas.microsoft.com/office/drawing/2014/main" val="495084399"/>
                    </a:ext>
                  </a:extLst>
                </a:gridCol>
                <a:gridCol w="236745">
                  <a:extLst>
                    <a:ext uri="{9D8B030D-6E8A-4147-A177-3AD203B41FA5}">
                      <a16:colId xmlns:a16="http://schemas.microsoft.com/office/drawing/2014/main" val="3614210242"/>
                    </a:ext>
                  </a:extLst>
                </a:gridCol>
                <a:gridCol w="545417">
                  <a:extLst>
                    <a:ext uri="{9D8B030D-6E8A-4147-A177-3AD203B41FA5}">
                      <a16:colId xmlns:a16="http://schemas.microsoft.com/office/drawing/2014/main" val="1442124609"/>
                    </a:ext>
                  </a:extLst>
                </a:gridCol>
                <a:gridCol w="1625429">
                  <a:extLst>
                    <a:ext uri="{9D8B030D-6E8A-4147-A177-3AD203B41FA5}">
                      <a16:colId xmlns:a16="http://schemas.microsoft.com/office/drawing/2014/main" val="3603859997"/>
                    </a:ext>
                  </a:extLst>
                </a:gridCol>
                <a:gridCol w="382277">
                  <a:extLst>
                    <a:ext uri="{9D8B030D-6E8A-4147-A177-3AD203B41FA5}">
                      <a16:colId xmlns:a16="http://schemas.microsoft.com/office/drawing/2014/main" val="4076488391"/>
                    </a:ext>
                  </a:extLst>
                </a:gridCol>
                <a:gridCol w="292067">
                  <a:extLst>
                    <a:ext uri="{9D8B030D-6E8A-4147-A177-3AD203B41FA5}">
                      <a16:colId xmlns:a16="http://schemas.microsoft.com/office/drawing/2014/main" val="3254101706"/>
                    </a:ext>
                  </a:extLst>
                </a:gridCol>
                <a:gridCol w="303321">
                  <a:extLst>
                    <a:ext uri="{9D8B030D-6E8A-4147-A177-3AD203B41FA5}">
                      <a16:colId xmlns:a16="http://schemas.microsoft.com/office/drawing/2014/main" val="3712391277"/>
                    </a:ext>
                  </a:extLst>
                </a:gridCol>
                <a:gridCol w="563575">
                  <a:extLst>
                    <a:ext uri="{9D8B030D-6E8A-4147-A177-3AD203B41FA5}">
                      <a16:colId xmlns:a16="http://schemas.microsoft.com/office/drawing/2014/main" val="1461470061"/>
                    </a:ext>
                  </a:extLst>
                </a:gridCol>
                <a:gridCol w="260955">
                  <a:extLst>
                    <a:ext uri="{9D8B030D-6E8A-4147-A177-3AD203B41FA5}">
                      <a16:colId xmlns:a16="http://schemas.microsoft.com/office/drawing/2014/main" val="2527660299"/>
                    </a:ext>
                  </a:extLst>
                </a:gridCol>
                <a:gridCol w="375950">
                  <a:extLst>
                    <a:ext uri="{9D8B030D-6E8A-4147-A177-3AD203B41FA5}">
                      <a16:colId xmlns:a16="http://schemas.microsoft.com/office/drawing/2014/main" val="3641075278"/>
                    </a:ext>
                  </a:extLst>
                </a:gridCol>
                <a:gridCol w="783551">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Customer Billing for DC</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DC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-OL</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5MS1R87545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graphicFrame>
        <p:nvGraphicFramePr>
          <p:cNvPr id="7" name="表格 6">
            <a:extLst>
              <a:ext uri="{FF2B5EF4-FFF2-40B4-BE49-F238E27FC236}">
                <a16:creationId xmlns:a16="http://schemas.microsoft.com/office/drawing/2014/main" id="{CDE2009B-4B24-30C9-B307-4F989FEF1A25}"/>
              </a:ext>
            </a:extLst>
          </p:cNvPr>
          <p:cNvGraphicFramePr>
            <a:graphicFrameLocks noGrp="1"/>
          </p:cNvGraphicFramePr>
          <p:nvPr>
            <p:extLst>
              <p:ext uri="{D42A27DB-BD31-4B8C-83A1-F6EECF244321}">
                <p14:modId xmlns:p14="http://schemas.microsoft.com/office/powerpoint/2010/main" val="2817674040"/>
              </p:ext>
            </p:extLst>
          </p:nvPr>
        </p:nvGraphicFramePr>
        <p:xfrm>
          <a:off x="117013" y="5072747"/>
          <a:ext cx="5747467" cy="1103498"/>
        </p:xfrm>
        <a:graphic>
          <a:graphicData uri="http://schemas.openxmlformats.org/drawingml/2006/table">
            <a:tbl>
              <a:tblPr/>
              <a:tblGrid>
                <a:gridCol w="379130">
                  <a:extLst>
                    <a:ext uri="{9D8B030D-6E8A-4147-A177-3AD203B41FA5}">
                      <a16:colId xmlns:a16="http://schemas.microsoft.com/office/drawing/2014/main" val="495084399"/>
                    </a:ext>
                  </a:extLst>
                </a:gridCol>
                <a:gridCol w="217298">
                  <a:extLst>
                    <a:ext uri="{9D8B030D-6E8A-4147-A177-3AD203B41FA5}">
                      <a16:colId xmlns:a16="http://schemas.microsoft.com/office/drawing/2014/main" val="3614210242"/>
                    </a:ext>
                  </a:extLst>
                </a:gridCol>
                <a:gridCol w="541427">
                  <a:extLst>
                    <a:ext uri="{9D8B030D-6E8A-4147-A177-3AD203B41FA5}">
                      <a16:colId xmlns:a16="http://schemas.microsoft.com/office/drawing/2014/main" val="1442124609"/>
                    </a:ext>
                  </a:extLst>
                </a:gridCol>
                <a:gridCol w="1543678">
                  <a:extLst>
                    <a:ext uri="{9D8B030D-6E8A-4147-A177-3AD203B41FA5}">
                      <a16:colId xmlns:a16="http://schemas.microsoft.com/office/drawing/2014/main" val="3603859997"/>
                    </a:ext>
                  </a:extLst>
                </a:gridCol>
                <a:gridCol w="336317">
                  <a:extLst>
                    <a:ext uri="{9D8B030D-6E8A-4147-A177-3AD203B41FA5}">
                      <a16:colId xmlns:a16="http://schemas.microsoft.com/office/drawing/2014/main" val="4076488391"/>
                    </a:ext>
                  </a:extLst>
                </a:gridCol>
                <a:gridCol w="295550">
                  <a:extLst>
                    <a:ext uri="{9D8B030D-6E8A-4147-A177-3AD203B41FA5}">
                      <a16:colId xmlns:a16="http://schemas.microsoft.com/office/drawing/2014/main" val="3254101706"/>
                    </a:ext>
                  </a:extLst>
                </a:gridCol>
                <a:gridCol w="336316">
                  <a:extLst>
                    <a:ext uri="{9D8B030D-6E8A-4147-A177-3AD203B41FA5}">
                      <a16:colId xmlns:a16="http://schemas.microsoft.com/office/drawing/2014/main" val="3712391277"/>
                    </a:ext>
                  </a:extLst>
                </a:gridCol>
                <a:gridCol w="575286">
                  <a:extLst>
                    <a:ext uri="{9D8B030D-6E8A-4147-A177-3AD203B41FA5}">
                      <a16:colId xmlns:a16="http://schemas.microsoft.com/office/drawing/2014/main" val="1461470061"/>
                    </a:ext>
                  </a:extLst>
                </a:gridCol>
                <a:gridCol w="340516">
                  <a:extLst>
                    <a:ext uri="{9D8B030D-6E8A-4147-A177-3AD203B41FA5}">
                      <a16:colId xmlns:a16="http://schemas.microsoft.com/office/drawing/2014/main" val="2527660299"/>
                    </a:ext>
                  </a:extLst>
                </a:gridCol>
                <a:gridCol w="378070">
                  <a:extLst>
                    <a:ext uri="{9D8B030D-6E8A-4147-A177-3AD203B41FA5}">
                      <a16:colId xmlns:a16="http://schemas.microsoft.com/office/drawing/2014/main" val="3641075278"/>
                    </a:ext>
                  </a:extLst>
                </a:gridCol>
                <a:gridCol w="803879">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Customer Billing for DC</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DC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Dr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5MS1R87545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graphicFrame>
        <p:nvGraphicFramePr>
          <p:cNvPr id="8" name="表格 7">
            <a:extLst>
              <a:ext uri="{FF2B5EF4-FFF2-40B4-BE49-F238E27FC236}">
                <a16:creationId xmlns:a16="http://schemas.microsoft.com/office/drawing/2014/main" id="{1397B5E5-EC51-8C2C-8AC6-A12EA05C7E02}"/>
              </a:ext>
            </a:extLst>
          </p:cNvPr>
          <p:cNvGraphicFramePr>
            <a:graphicFrameLocks noGrp="1"/>
          </p:cNvGraphicFramePr>
          <p:nvPr>
            <p:extLst>
              <p:ext uri="{D42A27DB-BD31-4B8C-83A1-F6EECF244321}">
                <p14:modId xmlns:p14="http://schemas.microsoft.com/office/powerpoint/2010/main" val="1842042205"/>
              </p:ext>
            </p:extLst>
          </p:nvPr>
        </p:nvGraphicFramePr>
        <p:xfrm>
          <a:off x="6327517" y="572548"/>
          <a:ext cx="5724758" cy="1255898"/>
        </p:xfrm>
        <a:graphic>
          <a:graphicData uri="http://schemas.openxmlformats.org/drawingml/2006/table">
            <a:tbl>
              <a:tblPr/>
              <a:tblGrid>
                <a:gridCol w="395589">
                  <a:extLst>
                    <a:ext uri="{9D8B030D-6E8A-4147-A177-3AD203B41FA5}">
                      <a16:colId xmlns:a16="http://schemas.microsoft.com/office/drawing/2014/main" val="495084399"/>
                    </a:ext>
                  </a:extLst>
                </a:gridCol>
                <a:gridCol w="246141">
                  <a:extLst>
                    <a:ext uri="{9D8B030D-6E8A-4147-A177-3AD203B41FA5}">
                      <a16:colId xmlns:a16="http://schemas.microsoft.com/office/drawing/2014/main" val="3614210242"/>
                    </a:ext>
                  </a:extLst>
                </a:gridCol>
                <a:gridCol w="588677">
                  <a:extLst>
                    <a:ext uri="{9D8B030D-6E8A-4147-A177-3AD203B41FA5}">
                      <a16:colId xmlns:a16="http://schemas.microsoft.com/office/drawing/2014/main" val="1442124609"/>
                    </a:ext>
                  </a:extLst>
                </a:gridCol>
                <a:gridCol w="1743050">
                  <a:extLst>
                    <a:ext uri="{9D8B030D-6E8A-4147-A177-3AD203B41FA5}">
                      <a16:colId xmlns:a16="http://schemas.microsoft.com/office/drawing/2014/main" val="3603859997"/>
                    </a:ext>
                  </a:extLst>
                </a:gridCol>
                <a:gridCol w="315359">
                  <a:extLst>
                    <a:ext uri="{9D8B030D-6E8A-4147-A177-3AD203B41FA5}">
                      <a16:colId xmlns:a16="http://schemas.microsoft.com/office/drawing/2014/main" val="4076488391"/>
                    </a:ext>
                  </a:extLst>
                </a:gridCol>
                <a:gridCol w="315359">
                  <a:extLst>
                    <a:ext uri="{9D8B030D-6E8A-4147-A177-3AD203B41FA5}">
                      <a16:colId xmlns:a16="http://schemas.microsoft.com/office/drawing/2014/main" val="3254101706"/>
                    </a:ext>
                  </a:extLst>
                </a:gridCol>
                <a:gridCol w="359408">
                  <a:extLst>
                    <a:ext uri="{9D8B030D-6E8A-4147-A177-3AD203B41FA5}">
                      <a16:colId xmlns:a16="http://schemas.microsoft.com/office/drawing/2014/main" val="3712391277"/>
                    </a:ext>
                  </a:extLst>
                </a:gridCol>
                <a:gridCol w="592192">
                  <a:extLst>
                    <a:ext uri="{9D8B030D-6E8A-4147-A177-3AD203B41FA5}">
                      <a16:colId xmlns:a16="http://schemas.microsoft.com/office/drawing/2014/main" val="1461470061"/>
                    </a:ext>
                  </a:extLst>
                </a:gridCol>
                <a:gridCol w="271311">
                  <a:extLst>
                    <a:ext uri="{9D8B030D-6E8A-4147-A177-3AD203B41FA5}">
                      <a16:colId xmlns:a16="http://schemas.microsoft.com/office/drawing/2014/main" val="2527660299"/>
                    </a:ext>
                  </a:extLst>
                </a:gridCol>
                <a:gridCol w="390870">
                  <a:extLst>
                    <a:ext uri="{9D8B030D-6E8A-4147-A177-3AD203B41FA5}">
                      <a16:colId xmlns:a16="http://schemas.microsoft.com/office/drawing/2014/main" val="3641075278"/>
                    </a:ext>
                  </a:extLst>
                </a:gridCol>
                <a:gridCol w="506802">
                  <a:extLst>
                    <a:ext uri="{9D8B030D-6E8A-4147-A177-3AD203B41FA5}">
                      <a16:colId xmlns:a16="http://schemas.microsoft.com/office/drawing/2014/main" val="3618613915"/>
                    </a:ext>
                  </a:extLst>
                </a:gridCol>
              </a:tblGrid>
              <a:tr h="144756">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LOT issue CMR against original DC DMR</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CMR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Dr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5MS1R87545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Leasing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graphicFrame>
        <p:nvGraphicFramePr>
          <p:cNvPr id="9" name="表格 8">
            <a:extLst>
              <a:ext uri="{FF2B5EF4-FFF2-40B4-BE49-F238E27FC236}">
                <a16:creationId xmlns:a16="http://schemas.microsoft.com/office/drawing/2014/main" id="{96CAFD49-B481-7682-2A90-A6A3D9B2A5EE}"/>
              </a:ext>
            </a:extLst>
          </p:cNvPr>
          <p:cNvGraphicFramePr>
            <a:graphicFrameLocks noGrp="1"/>
          </p:cNvGraphicFramePr>
          <p:nvPr>
            <p:extLst>
              <p:ext uri="{D42A27DB-BD31-4B8C-83A1-F6EECF244321}">
                <p14:modId xmlns:p14="http://schemas.microsoft.com/office/powerpoint/2010/main" val="2952623094"/>
              </p:ext>
            </p:extLst>
          </p:nvPr>
        </p:nvGraphicFramePr>
        <p:xfrm>
          <a:off x="6327517" y="2004828"/>
          <a:ext cx="5786538" cy="1217431"/>
        </p:xfrm>
        <a:graphic>
          <a:graphicData uri="http://schemas.openxmlformats.org/drawingml/2006/table">
            <a:tbl>
              <a:tblPr/>
              <a:tblGrid>
                <a:gridCol w="378759">
                  <a:extLst>
                    <a:ext uri="{9D8B030D-6E8A-4147-A177-3AD203B41FA5}">
                      <a16:colId xmlns:a16="http://schemas.microsoft.com/office/drawing/2014/main" val="495084399"/>
                    </a:ext>
                  </a:extLst>
                </a:gridCol>
                <a:gridCol w="235669">
                  <a:extLst>
                    <a:ext uri="{9D8B030D-6E8A-4147-A177-3AD203B41FA5}">
                      <a16:colId xmlns:a16="http://schemas.microsoft.com/office/drawing/2014/main" val="3614210242"/>
                    </a:ext>
                  </a:extLst>
                </a:gridCol>
                <a:gridCol w="563633">
                  <a:extLst>
                    <a:ext uri="{9D8B030D-6E8A-4147-A177-3AD203B41FA5}">
                      <a16:colId xmlns:a16="http://schemas.microsoft.com/office/drawing/2014/main" val="1442124609"/>
                    </a:ext>
                  </a:extLst>
                </a:gridCol>
                <a:gridCol w="1668896">
                  <a:extLst>
                    <a:ext uri="{9D8B030D-6E8A-4147-A177-3AD203B41FA5}">
                      <a16:colId xmlns:a16="http://schemas.microsoft.com/office/drawing/2014/main" val="3603859997"/>
                    </a:ext>
                  </a:extLst>
                </a:gridCol>
                <a:gridCol w="301944">
                  <a:extLst>
                    <a:ext uri="{9D8B030D-6E8A-4147-A177-3AD203B41FA5}">
                      <a16:colId xmlns:a16="http://schemas.microsoft.com/office/drawing/2014/main" val="4076488391"/>
                    </a:ext>
                  </a:extLst>
                </a:gridCol>
                <a:gridCol w="301944">
                  <a:extLst>
                    <a:ext uri="{9D8B030D-6E8A-4147-A177-3AD203B41FA5}">
                      <a16:colId xmlns:a16="http://schemas.microsoft.com/office/drawing/2014/main" val="3254101706"/>
                    </a:ext>
                  </a:extLst>
                </a:gridCol>
                <a:gridCol w="344118">
                  <a:extLst>
                    <a:ext uri="{9D8B030D-6E8A-4147-A177-3AD203B41FA5}">
                      <a16:colId xmlns:a16="http://schemas.microsoft.com/office/drawing/2014/main" val="3712391277"/>
                    </a:ext>
                  </a:extLst>
                </a:gridCol>
                <a:gridCol w="455588">
                  <a:extLst>
                    <a:ext uri="{9D8B030D-6E8A-4147-A177-3AD203B41FA5}">
                      <a16:colId xmlns:a16="http://schemas.microsoft.com/office/drawing/2014/main" val="1461470061"/>
                    </a:ext>
                  </a:extLst>
                </a:gridCol>
                <a:gridCol w="335509">
                  <a:extLst>
                    <a:ext uri="{9D8B030D-6E8A-4147-A177-3AD203B41FA5}">
                      <a16:colId xmlns:a16="http://schemas.microsoft.com/office/drawing/2014/main" val="2527660299"/>
                    </a:ext>
                  </a:extLst>
                </a:gridCol>
                <a:gridCol w="374242">
                  <a:extLst>
                    <a:ext uri="{9D8B030D-6E8A-4147-A177-3AD203B41FA5}">
                      <a16:colId xmlns:a16="http://schemas.microsoft.com/office/drawing/2014/main" val="3641075278"/>
                    </a:ext>
                  </a:extLst>
                </a:gridCol>
                <a:gridCol w="826236">
                  <a:extLst>
                    <a:ext uri="{9D8B030D-6E8A-4147-A177-3AD203B41FA5}">
                      <a16:colId xmlns:a16="http://schemas.microsoft.com/office/drawing/2014/main" val="3618613915"/>
                    </a:ext>
                  </a:extLst>
                </a:gridCol>
              </a:tblGrid>
              <a:tr h="144756">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Customer Billing for DC</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DC Usage</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Dr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Accounting Payable (Interco) to Local AFE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5MS1R87545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spTree>
    <p:extLst>
      <p:ext uri="{BB962C8B-B14F-4D97-AF65-F5344CB8AC3E}">
        <p14:creationId xmlns:p14="http://schemas.microsoft.com/office/powerpoint/2010/main" val="159065659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F0C7AD-704B-9A2A-6573-44AECB9FC3DE}"/>
            </a:ext>
          </a:extLst>
        </p:cNvPr>
        <p:cNvGrpSpPr/>
        <p:nvPr/>
      </p:nvGrpSpPr>
      <p:grpSpPr>
        <a:xfrm>
          <a:off x="0" y="0"/>
          <a:ext cx="0" cy="0"/>
          <a:chOff x="0" y="0"/>
          <a:chExt cx="0" cy="0"/>
        </a:xfrm>
      </p:grpSpPr>
      <p:sp>
        <p:nvSpPr>
          <p:cNvPr id="33" name="文本框 32">
            <a:extLst>
              <a:ext uri="{FF2B5EF4-FFF2-40B4-BE49-F238E27FC236}">
                <a16:creationId xmlns:a16="http://schemas.microsoft.com/office/drawing/2014/main" id="{3E56D838-D271-F5F3-FAD7-1795FE9CB252}"/>
              </a:ext>
            </a:extLst>
          </p:cNvPr>
          <p:cNvSpPr txBox="1"/>
          <p:nvPr/>
        </p:nvSpPr>
        <p:spPr>
          <a:xfrm>
            <a:off x="143235" y="47255"/>
            <a:ext cx="4470947" cy="400110"/>
          </a:xfrm>
          <a:prstGeom prst="rect">
            <a:avLst/>
          </a:prstGeom>
          <a:noFill/>
        </p:spPr>
        <p:txBody>
          <a:bodyPr wrap="square" rtlCol="0">
            <a:spAutoFit/>
          </a:bodyPr>
          <a:lstStyle/>
          <a:p>
            <a:r>
              <a:rPr lang="nl-NL" altLang="zh-CN" sz="2000" b="1"/>
              <a:t>DaaS_Central_MSA</a:t>
            </a:r>
            <a:endParaRPr lang="zh-CN" altLang="en-US" sz="2000" b="1"/>
          </a:p>
        </p:txBody>
      </p:sp>
      <p:graphicFrame>
        <p:nvGraphicFramePr>
          <p:cNvPr id="39" name="表格 38">
            <a:extLst>
              <a:ext uri="{FF2B5EF4-FFF2-40B4-BE49-F238E27FC236}">
                <a16:creationId xmlns:a16="http://schemas.microsoft.com/office/drawing/2014/main" id="{168C5E7D-A5D6-2330-5D90-21A43BFBEEAB}"/>
              </a:ext>
            </a:extLst>
          </p:cNvPr>
          <p:cNvGraphicFramePr>
            <a:graphicFrameLocks noGrp="1"/>
          </p:cNvGraphicFramePr>
          <p:nvPr>
            <p:extLst>
              <p:ext uri="{D42A27DB-BD31-4B8C-83A1-F6EECF244321}">
                <p14:modId xmlns:p14="http://schemas.microsoft.com/office/powerpoint/2010/main" val="782264930"/>
              </p:ext>
            </p:extLst>
          </p:nvPr>
        </p:nvGraphicFramePr>
        <p:xfrm>
          <a:off x="6203695" y="500377"/>
          <a:ext cx="5944907" cy="2088801"/>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148679">
                  <a:extLst>
                    <a:ext uri="{9D8B030D-6E8A-4147-A177-3AD203B41FA5}">
                      <a16:colId xmlns:a16="http://schemas.microsoft.com/office/drawing/2014/main" val="3603859997"/>
                    </a:ext>
                  </a:extLst>
                </a:gridCol>
                <a:gridCol w="342213">
                  <a:extLst>
                    <a:ext uri="{9D8B030D-6E8A-4147-A177-3AD203B41FA5}">
                      <a16:colId xmlns:a16="http://schemas.microsoft.com/office/drawing/2014/main" val="4076488391"/>
                    </a:ext>
                  </a:extLst>
                </a:gridCol>
                <a:gridCol w="327684">
                  <a:extLst>
                    <a:ext uri="{9D8B030D-6E8A-4147-A177-3AD203B41FA5}">
                      <a16:colId xmlns:a16="http://schemas.microsoft.com/office/drawing/2014/main" val="3254101706"/>
                    </a:ext>
                  </a:extLst>
                </a:gridCol>
                <a:gridCol w="274438">
                  <a:extLst>
                    <a:ext uri="{9D8B030D-6E8A-4147-A177-3AD203B41FA5}">
                      <a16:colId xmlns:a16="http://schemas.microsoft.com/office/drawing/2014/main" val="3712391277"/>
                    </a:ext>
                  </a:extLst>
                </a:gridCol>
                <a:gridCol w="580787">
                  <a:extLst>
                    <a:ext uri="{9D8B030D-6E8A-4147-A177-3AD203B41FA5}">
                      <a16:colId xmlns:a16="http://schemas.microsoft.com/office/drawing/2014/main" val="1875139096"/>
                    </a:ext>
                  </a:extLst>
                </a:gridCol>
                <a:gridCol w="393669">
                  <a:extLst>
                    <a:ext uri="{9D8B030D-6E8A-4147-A177-3AD203B41FA5}">
                      <a16:colId xmlns:a16="http://schemas.microsoft.com/office/drawing/2014/main" val="2527660299"/>
                    </a:ext>
                  </a:extLst>
                </a:gridCol>
                <a:gridCol w="370982">
                  <a:extLst>
                    <a:ext uri="{9D8B030D-6E8A-4147-A177-3AD203B41FA5}">
                      <a16:colId xmlns:a16="http://schemas.microsoft.com/office/drawing/2014/main" val="3641075278"/>
                    </a:ext>
                  </a:extLst>
                </a:gridCol>
                <a:gridCol w="256473">
                  <a:extLst>
                    <a:ext uri="{9D8B030D-6E8A-4147-A177-3AD203B41FA5}">
                      <a16:colId xmlns:a16="http://schemas.microsoft.com/office/drawing/2014/main" val="3618613915"/>
                    </a:ext>
                  </a:extLst>
                </a:gridCol>
              </a:tblGrid>
              <a:tr h="182275">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551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38-3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NL11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9124900"/>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r>
                        <a:rPr lang="en-US" altLang="zh-CN" sz="900" b="0" i="0" u="none" strike="noStrike" kern="1200">
                          <a:solidFill>
                            <a:srgbClr val="000000"/>
                          </a:solidFill>
                          <a:effectLst/>
                          <a:latin typeface="Arial" panose="020B0604020202020204" pitchFamily="34" charset="0"/>
                          <a:ea typeface="+mn-ea"/>
                          <a:cs typeface="+mn-cs"/>
                        </a:rPr>
                        <a:t>(applicable flex down) </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28-3</a:t>
                      </a:r>
                      <a:endParaRPr lang="en-US" altLang="zh-CN" sz="1200" b="0" i="0">
                        <a:solidFill>
                          <a:srgbClr val="000000"/>
                        </a:solidFill>
                        <a:effectLs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265705757"/>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premier(applicable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5" name="表格 4">
            <a:extLst>
              <a:ext uri="{FF2B5EF4-FFF2-40B4-BE49-F238E27FC236}">
                <a16:creationId xmlns:a16="http://schemas.microsoft.com/office/drawing/2014/main" id="{BA6F6779-D61B-38E7-F657-EA84B539B354}"/>
              </a:ext>
            </a:extLst>
          </p:cNvPr>
          <p:cNvGraphicFramePr>
            <a:graphicFrameLocks noGrp="1"/>
          </p:cNvGraphicFramePr>
          <p:nvPr>
            <p:extLst>
              <p:ext uri="{D42A27DB-BD31-4B8C-83A1-F6EECF244321}">
                <p14:modId xmlns:p14="http://schemas.microsoft.com/office/powerpoint/2010/main" val="1774588116"/>
              </p:ext>
            </p:extLst>
          </p:nvPr>
        </p:nvGraphicFramePr>
        <p:xfrm>
          <a:off x="6203695" y="3076275"/>
          <a:ext cx="5944907" cy="1332007"/>
        </p:xfrm>
        <a:graphic>
          <a:graphicData uri="http://schemas.openxmlformats.org/drawingml/2006/table">
            <a:tbl>
              <a:tblPr/>
              <a:tblGrid>
                <a:gridCol w="431051">
                  <a:extLst>
                    <a:ext uri="{9D8B030D-6E8A-4147-A177-3AD203B41FA5}">
                      <a16:colId xmlns:a16="http://schemas.microsoft.com/office/drawing/2014/main" val="495084399"/>
                    </a:ext>
                  </a:extLst>
                </a:gridCol>
                <a:gridCol w="244837">
                  <a:extLst>
                    <a:ext uri="{9D8B030D-6E8A-4147-A177-3AD203B41FA5}">
                      <a16:colId xmlns:a16="http://schemas.microsoft.com/office/drawing/2014/main" val="3614210242"/>
                    </a:ext>
                  </a:extLst>
                </a:gridCol>
                <a:gridCol w="564343">
                  <a:extLst>
                    <a:ext uri="{9D8B030D-6E8A-4147-A177-3AD203B41FA5}">
                      <a16:colId xmlns:a16="http://schemas.microsoft.com/office/drawing/2014/main" val="1442124609"/>
                    </a:ext>
                  </a:extLst>
                </a:gridCol>
                <a:gridCol w="2315933">
                  <a:extLst>
                    <a:ext uri="{9D8B030D-6E8A-4147-A177-3AD203B41FA5}">
                      <a16:colId xmlns:a16="http://schemas.microsoft.com/office/drawing/2014/main" val="3603859997"/>
                    </a:ext>
                  </a:extLst>
                </a:gridCol>
                <a:gridCol w="282393">
                  <a:extLst>
                    <a:ext uri="{9D8B030D-6E8A-4147-A177-3AD203B41FA5}">
                      <a16:colId xmlns:a16="http://schemas.microsoft.com/office/drawing/2014/main" val="4076488391"/>
                    </a:ext>
                  </a:extLst>
                </a:gridCol>
                <a:gridCol w="399227">
                  <a:extLst>
                    <a:ext uri="{9D8B030D-6E8A-4147-A177-3AD203B41FA5}">
                      <a16:colId xmlns:a16="http://schemas.microsoft.com/office/drawing/2014/main" val="3254101706"/>
                    </a:ext>
                  </a:extLst>
                </a:gridCol>
                <a:gridCol w="369285">
                  <a:extLst>
                    <a:ext uri="{9D8B030D-6E8A-4147-A177-3AD203B41FA5}">
                      <a16:colId xmlns:a16="http://schemas.microsoft.com/office/drawing/2014/main" val="3712391277"/>
                    </a:ext>
                  </a:extLst>
                </a:gridCol>
                <a:gridCol w="269479">
                  <a:extLst>
                    <a:ext uri="{9D8B030D-6E8A-4147-A177-3AD203B41FA5}">
                      <a16:colId xmlns:a16="http://schemas.microsoft.com/office/drawing/2014/main" val="1008187684"/>
                    </a:ext>
                  </a:extLst>
                </a:gridCol>
                <a:gridCol w="357505">
                  <a:extLst>
                    <a:ext uri="{9D8B030D-6E8A-4147-A177-3AD203B41FA5}">
                      <a16:colId xmlns:a16="http://schemas.microsoft.com/office/drawing/2014/main" val="2527660299"/>
                    </a:ext>
                  </a:extLst>
                </a:gridCol>
                <a:gridCol w="391629">
                  <a:extLst>
                    <a:ext uri="{9D8B030D-6E8A-4147-A177-3AD203B41FA5}">
                      <a16:colId xmlns:a16="http://schemas.microsoft.com/office/drawing/2014/main" val="3641075278"/>
                    </a:ext>
                  </a:extLst>
                </a:gridCol>
                <a:gridCol w="319225">
                  <a:extLst>
                    <a:ext uri="{9D8B030D-6E8A-4147-A177-3AD203B41FA5}">
                      <a16:colId xmlns:a16="http://schemas.microsoft.com/office/drawing/2014/main" val="3618613915"/>
                    </a:ext>
                  </a:extLst>
                </a:gridCol>
              </a:tblGrid>
              <a:tr h="16173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Dr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6" name="表格 5">
            <a:extLst>
              <a:ext uri="{FF2B5EF4-FFF2-40B4-BE49-F238E27FC236}">
                <a16:creationId xmlns:a16="http://schemas.microsoft.com/office/drawing/2014/main" id="{675B6E64-8601-166B-36FD-8E41CAED4A2B}"/>
              </a:ext>
            </a:extLst>
          </p:cNvPr>
          <p:cNvGraphicFramePr>
            <a:graphicFrameLocks noGrp="1"/>
          </p:cNvGraphicFramePr>
          <p:nvPr>
            <p:extLst>
              <p:ext uri="{D42A27DB-BD31-4B8C-83A1-F6EECF244321}">
                <p14:modId xmlns:p14="http://schemas.microsoft.com/office/powerpoint/2010/main" val="1018852884"/>
              </p:ext>
            </p:extLst>
          </p:nvPr>
        </p:nvGraphicFramePr>
        <p:xfrm>
          <a:off x="173511" y="1855235"/>
          <a:ext cx="5856676" cy="1332007"/>
        </p:xfrm>
        <a:graphic>
          <a:graphicData uri="http://schemas.openxmlformats.org/drawingml/2006/table">
            <a:tbl>
              <a:tblPr/>
              <a:tblGrid>
                <a:gridCol w="441744">
                  <a:extLst>
                    <a:ext uri="{9D8B030D-6E8A-4147-A177-3AD203B41FA5}">
                      <a16:colId xmlns:a16="http://schemas.microsoft.com/office/drawing/2014/main" val="495084399"/>
                    </a:ext>
                  </a:extLst>
                </a:gridCol>
                <a:gridCol w="249770">
                  <a:extLst>
                    <a:ext uri="{9D8B030D-6E8A-4147-A177-3AD203B41FA5}">
                      <a16:colId xmlns:a16="http://schemas.microsoft.com/office/drawing/2014/main" val="3614210242"/>
                    </a:ext>
                  </a:extLst>
                </a:gridCol>
                <a:gridCol w="615143">
                  <a:extLst>
                    <a:ext uri="{9D8B030D-6E8A-4147-A177-3AD203B41FA5}">
                      <a16:colId xmlns:a16="http://schemas.microsoft.com/office/drawing/2014/main" val="1442124609"/>
                    </a:ext>
                  </a:extLst>
                </a:gridCol>
                <a:gridCol w="2099639">
                  <a:extLst>
                    <a:ext uri="{9D8B030D-6E8A-4147-A177-3AD203B41FA5}">
                      <a16:colId xmlns:a16="http://schemas.microsoft.com/office/drawing/2014/main" val="3603859997"/>
                    </a:ext>
                  </a:extLst>
                </a:gridCol>
                <a:gridCol w="352086">
                  <a:extLst>
                    <a:ext uri="{9D8B030D-6E8A-4147-A177-3AD203B41FA5}">
                      <a16:colId xmlns:a16="http://schemas.microsoft.com/office/drawing/2014/main" val="4076488391"/>
                    </a:ext>
                  </a:extLst>
                </a:gridCol>
                <a:gridCol w="300452">
                  <a:extLst>
                    <a:ext uri="{9D8B030D-6E8A-4147-A177-3AD203B41FA5}">
                      <a16:colId xmlns:a16="http://schemas.microsoft.com/office/drawing/2014/main" val="3254101706"/>
                    </a:ext>
                  </a:extLst>
                </a:gridCol>
                <a:gridCol w="381633">
                  <a:extLst>
                    <a:ext uri="{9D8B030D-6E8A-4147-A177-3AD203B41FA5}">
                      <a16:colId xmlns:a16="http://schemas.microsoft.com/office/drawing/2014/main" val="3712391277"/>
                    </a:ext>
                  </a:extLst>
                </a:gridCol>
                <a:gridCol w="283499">
                  <a:extLst>
                    <a:ext uri="{9D8B030D-6E8A-4147-A177-3AD203B41FA5}">
                      <a16:colId xmlns:a16="http://schemas.microsoft.com/office/drawing/2014/main" val="3643425350"/>
                    </a:ext>
                  </a:extLst>
                </a:gridCol>
                <a:gridCol w="380517">
                  <a:extLst>
                    <a:ext uri="{9D8B030D-6E8A-4147-A177-3AD203B41FA5}">
                      <a16:colId xmlns:a16="http://schemas.microsoft.com/office/drawing/2014/main" val="2527660299"/>
                    </a:ext>
                  </a:extLst>
                </a:gridCol>
                <a:gridCol w="425249">
                  <a:extLst>
                    <a:ext uri="{9D8B030D-6E8A-4147-A177-3AD203B41FA5}">
                      <a16:colId xmlns:a16="http://schemas.microsoft.com/office/drawing/2014/main" val="3641075278"/>
                    </a:ext>
                  </a:extLst>
                </a:gridCol>
                <a:gridCol w="326944">
                  <a:extLst>
                    <a:ext uri="{9D8B030D-6E8A-4147-A177-3AD203B41FA5}">
                      <a16:colId xmlns:a16="http://schemas.microsoft.com/office/drawing/2014/main" val="3618613915"/>
                    </a:ext>
                  </a:extLst>
                </a:gridCol>
              </a:tblGrid>
              <a:tr h="16800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Premier (funded)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
        <p:nvSpPr>
          <p:cNvPr id="7" name="对话气泡: 矩形 6">
            <a:extLst>
              <a:ext uri="{FF2B5EF4-FFF2-40B4-BE49-F238E27FC236}">
                <a16:creationId xmlns:a16="http://schemas.microsoft.com/office/drawing/2014/main" id="{164039A7-F8BA-B02E-7228-C9A94E702655}"/>
              </a:ext>
            </a:extLst>
          </p:cNvPr>
          <p:cNvSpPr/>
          <p:nvPr/>
        </p:nvSpPr>
        <p:spPr>
          <a:xfrm>
            <a:off x="-2229294" y="2970084"/>
            <a:ext cx="2229294" cy="4440809"/>
          </a:xfrm>
          <a:prstGeom prst="wedgeRectCallout">
            <a:avLst>
              <a:gd name="adj1" fmla="val 58998"/>
              <a:gd name="adj2" fmla="val -7152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Wingdings" panose="05000000000000000000" pitchFamily="2" charset="2"/>
              <a:buChar char="Ø"/>
            </a:pPr>
            <a:r>
              <a:rPr lang="en-US" altLang="zh-CN" sz="1200">
                <a:solidFill>
                  <a:srgbClr val="FF0000"/>
                </a:solidFill>
              </a:rPr>
              <a:t>Flex will only be applicable for MSA</a:t>
            </a:r>
          </a:p>
          <a:p>
            <a:pPr marL="285750" indent="-285750">
              <a:buFont typeface="Wingdings" panose="05000000000000000000" pitchFamily="2" charset="2"/>
              <a:buChar char="Ø"/>
            </a:pPr>
            <a:r>
              <a:rPr lang="en-US" altLang="zh-CN" sz="1200">
                <a:solidFill>
                  <a:schemeClr val="tx2">
                    <a:lumMod val="75000"/>
                    <a:lumOff val="25000"/>
                  </a:schemeClr>
                </a:solidFill>
              </a:rPr>
              <a:t>Flex Down need to</a:t>
            </a:r>
            <a:r>
              <a:rPr lang="zh-CN" altLang="en-US" sz="1200">
                <a:solidFill>
                  <a:schemeClr val="tx2">
                    <a:lumMod val="75000"/>
                    <a:lumOff val="25000"/>
                  </a:schemeClr>
                </a:solidFill>
              </a:rPr>
              <a:t> </a:t>
            </a:r>
            <a:r>
              <a:rPr lang="en-US" altLang="zh-CN" sz="1200">
                <a:solidFill>
                  <a:schemeClr val="tx2">
                    <a:lumMod val="75000"/>
                    <a:lumOff val="25000"/>
                  </a:schemeClr>
                </a:solidFill>
              </a:rPr>
              <a:t>realize ARS from defer immediately</a:t>
            </a:r>
          </a:p>
          <a:p>
            <a:pPr marL="285750" indent="-285750">
              <a:buFont typeface="Wingdings" panose="05000000000000000000" pitchFamily="2" charset="2"/>
              <a:buChar char="Ø"/>
            </a:pPr>
            <a:r>
              <a:rPr lang="en-US" altLang="zh-CN" sz="1200">
                <a:solidFill>
                  <a:schemeClr val="tx2">
                    <a:lumMod val="75000"/>
                    <a:lumOff val="25000"/>
                  </a:schemeClr>
                </a:solidFill>
              </a:rPr>
              <a:t>Flex pause=Brim will stop billing customer and no accounting entry</a:t>
            </a:r>
          </a:p>
          <a:p>
            <a:pPr marL="285750" indent="-285750">
              <a:buFont typeface="Wingdings" panose="05000000000000000000" pitchFamily="2" charset="2"/>
              <a:buChar char="Ø"/>
            </a:pPr>
            <a:r>
              <a:rPr lang="en-US" altLang="zh-CN" sz="1200">
                <a:solidFill>
                  <a:schemeClr val="tx2">
                    <a:lumMod val="75000"/>
                    <a:lumOff val="25000"/>
                  </a:schemeClr>
                </a:solidFill>
              </a:rPr>
              <a:t>Flex un-pause=Brim will continue to bill customer, entry will be the same to normal pass scenario</a:t>
            </a:r>
          </a:p>
          <a:p>
            <a:pPr marL="285750" indent="-285750">
              <a:buFont typeface="Wingdings" panose="05000000000000000000" pitchFamily="2" charset="2"/>
              <a:buChar char="Ø"/>
            </a:pPr>
            <a:r>
              <a:rPr lang="en-US" altLang="zh-CN" sz="1200">
                <a:solidFill>
                  <a:schemeClr val="tx2">
                    <a:lumMod val="75000"/>
                    <a:lumOff val="25000"/>
                  </a:schemeClr>
                </a:solidFill>
              </a:rPr>
              <a:t>Before Cut Off Date(25</a:t>
            </a:r>
            <a:r>
              <a:rPr lang="en-US" altLang="zh-CN" sz="1200" baseline="30000">
                <a:solidFill>
                  <a:schemeClr val="tx2">
                    <a:lumMod val="75000"/>
                    <a:lumOff val="25000"/>
                  </a:schemeClr>
                </a:solidFill>
              </a:rPr>
              <a:t>th</a:t>
            </a:r>
            <a:r>
              <a:rPr lang="en-US" altLang="zh-CN" sz="1200">
                <a:solidFill>
                  <a:schemeClr val="tx2">
                    <a:lumMod val="75000"/>
                    <a:lumOff val="25000"/>
                  </a:schemeClr>
                </a:solidFill>
              </a:rPr>
              <a:t>) (based on return or lock status),-stop billing customer from next</a:t>
            </a:r>
          </a:p>
          <a:p>
            <a:pPr marL="285750" indent="-285750">
              <a:buFont typeface="Wingdings" panose="05000000000000000000" pitchFamily="2" charset="2"/>
              <a:buChar char="Ø"/>
            </a:pPr>
            <a:r>
              <a:rPr lang="en-US" altLang="zh-CN" sz="1200">
                <a:solidFill>
                  <a:schemeClr val="tx2">
                    <a:lumMod val="75000"/>
                    <a:lumOff val="25000"/>
                  </a:schemeClr>
                </a:solidFill>
              </a:rPr>
              <a:t>After Cut Off Date(25</a:t>
            </a:r>
            <a:r>
              <a:rPr lang="en-US" altLang="zh-CN" sz="1200" baseline="30000">
                <a:solidFill>
                  <a:schemeClr val="tx2">
                    <a:lumMod val="75000"/>
                    <a:lumOff val="25000"/>
                  </a:schemeClr>
                </a:solidFill>
              </a:rPr>
              <a:t>th</a:t>
            </a:r>
            <a:r>
              <a:rPr lang="en-US" altLang="zh-CN" sz="1200">
                <a:solidFill>
                  <a:schemeClr val="tx2">
                    <a:lumMod val="75000"/>
                    <a:lumOff val="25000"/>
                  </a:schemeClr>
                </a:solidFill>
              </a:rPr>
              <a:t>) (based on return or lock status),-stop billing customer from the month after next</a:t>
            </a:r>
          </a:p>
        </p:txBody>
      </p:sp>
      <p:graphicFrame>
        <p:nvGraphicFramePr>
          <p:cNvPr id="11" name="表格 10">
            <a:extLst>
              <a:ext uri="{FF2B5EF4-FFF2-40B4-BE49-F238E27FC236}">
                <a16:creationId xmlns:a16="http://schemas.microsoft.com/office/drawing/2014/main" id="{A93C6348-2278-430E-2D1E-EFA2B6A92A10}"/>
              </a:ext>
            </a:extLst>
          </p:cNvPr>
          <p:cNvGraphicFramePr>
            <a:graphicFrameLocks noGrp="1"/>
          </p:cNvGraphicFramePr>
          <p:nvPr>
            <p:extLst>
              <p:ext uri="{D42A27DB-BD31-4B8C-83A1-F6EECF244321}">
                <p14:modId xmlns:p14="http://schemas.microsoft.com/office/powerpoint/2010/main" val="2304846989"/>
              </p:ext>
            </p:extLst>
          </p:nvPr>
        </p:nvGraphicFramePr>
        <p:xfrm>
          <a:off x="173511" y="3283773"/>
          <a:ext cx="5838268" cy="1065031"/>
        </p:xfrm>
        <a:graphic>
          <a:graphicData uri="http://schemas.openxmlformats.org/drawingml/2006/table">
            <a:tbl>
              <a:tblPr/>
              <a:tblGrid>
                <a:gridCol w="413684">
                  <a:extLst>
                    <a:ext uri="{9D8B030D-6E8A-4147-A177-3AD203B41FA5}">
                      <a16:colId xmlns:a16="http://schemas.microsoft.com/office/drawing/2014/main" val="495084399"/>
                    </a:ext>
                  </a:extLst>
                </a:gridCol>
                <a:gridCol w="227464">
                  <a:extLst>
                    <a:ext uri="{9D8B030D-6E8A-4147-A177-3AD203B41FA5}">
                      <a16:colId xmlns:a16="http://schemas.microsoft.com/office/drawing/2014/main" val="3614210242"/>
                    </a:ext>
                  </a:extLst>
                </a:gridCol>
                <a:gridCol w="541335">
                  <a:extLst>
                    <a:ext uri="{9D8B030D-6E8A-4147-A177-3AD203B41FA5}">
                      <a16:colId xmlns:a16="http://schemas.microsoft.com/office/drawing/2014/main" val="1442124609"/>
                    </a:ext>
                  </a:extLst>
                </a:gridCol>
                <a:gridCol w="2550276">
                  <a:extLst>
                    <a:ext uri="{9D8B030D-6E8A-4147-A177-3AD203B41FA5}">
                      <a16:colId xmlns:a16="http://schemas.microsoft.com/office/drawing/2014/main" val="3603859997"/>
                    </a:ext>
                  </a:extLst>
                </a:gridCol>
                <a:gridCol w="285725">
                  <a:extLst>
                    <a:ext uri="{9D8B030D-6E8A-4147-A177-3AD203B41FA5}">
                      <a16:colId xmlns:a16="http://schemas.microsoft.com/office/drawing/2014/main" val="4076488391"/>
                    </a:ext>
                  </a:extLst>
                </a:gridCol>
                <a:gridCol w="329584">
                  <a:extLst>
                    <a:ext uri="{9D8B030D-6E8A-4147-A177-3AD203B41FA5}">
                      <a16:colId xmlns:a16="http://schemas.microsoft.com/office/drawing/2014/main" val="3254101706"/>
                    </a:ext>
                  </a:extLst>
                </a:gridCol>
                <a:gridCol w="264312">
                  <a:extLst>
                    <a:ext uri="{9D8B030D-6E8A-4147-A177-3AD203B41FA5}">
                      <a16:colId xmlns:a16="http://schemas.microsoft.com/office/drawing/2014/main" val="3712391277"/>
                    </a:ext>
                  </a:extLst>
                </a:gridCol>
                <a:gridCol w="282953">
                  <a:extLst>
                    <a:ext uri="{9D8B030D-6E8A-4147-A177-3AD203B41FA5}">
                      <a16:colId xmlns:a16="http://schemas.microsoft.com/office/drawing/2014/main" val="956071091"/>
                    </a:ext>
                  </a:extLst>
                </a:gridCol>
                <a:gridCol w="270410">
                  <a:extLst>
                    <a:ext uri="{9D8B030D-6E8A-4147-A177-3AD203B41FA5}">
                      <a16:colId xmlns:a16="http://schemas.microsoft.com/office/drawing/2014/main" val="2527660299"/>
                    </a:ext>
                  </a:extLst>
                </a:gridCol>
                <a:gridCol w="389572">
                  <a:extLst>
                    <a:ext uri="{9D8B030D-6E8A-4147-A177-3AD203B41FA5}">
                      <a16:colId xmlns:a16="http://schemas.microsoft.com/office/drawing/2014/main" val="3641075278"/>
                    </a:ext>
                  </a:extLst>
                </a:gridCol>
                <a:gridCol w="282953">
                  <a:extLst>
                    <a:ext uri="{9D8B030D-6E8A-4147-A177-3AD203B41FA5}">
                      <a16:colId xmlns:a16="http://schemas.microsoft.com/office/drawing/2014/main" val="3618613915"/>
                    </a:ext>
                  </a:extLst>
                </a:gridCol>
              </a:tblGrid>
              <a:tr h="182275">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Devices Flex Down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Flex down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ARS(applicable for flex down)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Revenue-ARS(applicable for flex down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14" name="表格 13">
            <a:extLst>
              <a:ext uri="{FF2B5EF4-FFF2-40B4-BE49-F238E27FC236}">
                <a16:creationId xmlns:a16="http://schemas.microsoft.com/office/drawing/2014/main" id="{1E7895B9-9E51-733B-9839-54E58613EF70}"/>
              </a:ext>
            </a:extLst>
          </p:cNvPr>
          <p:cNvGraphicFramePr>
            <a:graphicFrameLocks noGrp="1"/>
          </p:cNvGraphicFramePr>
          <p:nvPr>
            <p:extLst>
              <p:ext uri="{D42A27DB-BD31-4B8C-83A1-F6EECF244321}">
                <p14:modId xmlns:p14="http://schemas.microsoft.com/office/powerpoint/2010/main" val="1658007956"/>
              </p:ext>
            </p:extLst>
          </p:nvPr>
        </p:nvGraphicFramePr>
        <p:xfrm>
          <a:off x="173508" y="4471131"/>
          <a:ext cx="5838269" cy="1143743"/>
        </p:xfrm>
        <a:graphic>
          <a:graphicData uri="http://schemas.openxmlformats.org/drawingml/2006/table">
            <a:tbl>
              <a:tblPr/>
              <a:tblGrid>
                <a:gridCol w="394261">
                  <a:extLst>
                    <a:ext uri="{9D8B030D-6E8A-4147-A177-3AD203B41FA5}">
                      <a16:colId xmlns:a16="http://schemas.microsoft.com/office/drawing/2014/main" val="495084399"/>
                    </a:ext>
                  </a:extLst>
                </a:gridCol>
                <a:gridCol w="225970">
                  <a:extLst>
                    <a:ext uri="{9D8B030D-6E8A-4147-A177-3AD203B41FA5}">
                      <a16:colId xmlns:a16="http://schemas.microsoft.com/office/drawing/2014/main" val="3614210242"/>
                    </a:ext>
                  </a:extLst>
                </a:gridCol>
                <a:gridCol w="563037">
                  <a:extLst>
                    <a:ext uri="{9D8B030D-6E8A-4147-A177-3AD203B41FA5}">
                      <a16:colId xmlns:a16="http://schemas.microsoft.com/office/drawing/2014/main" val="1442124609"/>
                    </a:ext>
                  </a:extLst>
                </a:gridCol>
                <a:gridCol w="2118950">
                  <a:extLst>
                    <a:ext uri="{9D8B030D-6E8A-4147-A177-3AD203B41FA5}">
                      <a16:colId xmlns:a16="http://schemas.microsoft.com/office/drawing/2014/main" val="3603859997"/>
                    </a:ext>
                  </a:extLst>
                </a:gridCol>
                <a:gridCol w="463567">
                  <a:extLst>
                    <a:ext uri="{9D8B030D-6E8A-4147-A177-3AD203B41FA5}">
                      <a16:colId xmlns:a16="http://schemas.microsoft.com/office/drawing/2014/main" val="4076488391"/>
                    </a:ext>
                  </a:extLst>
                </a:gridCol>
                <a:gridCol w="364819">
                  <a:extLst>
                    <a:ext uri="{9D8B030D-6E8A-4147-A177-3AD203B41FA5}">
                      <a16:colId xmlns:a16="http://schemas.microsoft.com/office/drawing/2014/main" val="3254101706"/>
                    </a:ext>
                  </a:extLst>
                </a:gridCol>
                <a:gridCol w="332558">
                  <a:extLst>
                    <a:ext uri="{9D8B030D-6E8A-4147-A177-3AD203B41FA5}">
                      <a16:colId xmlns:a16="http://schemas.microsoft.com/office/drawing/2014/main" val="3712391277"/>
                    </a:ext>
                  </a:extLst>
                </a:gridCol>
                <a:gridCol w="284446">
                  <a:extLst>
                    <a:ext uri="{9D8B030D-6E8A-4147-A177-3AD203B41FA5}">
                      <a16:colId xmlns:a16="http://schemas.microsoft.com/office/drawing/2014/main" val="1461470061"/>
                    </a:ext>
                  </a:extLst>
                </a:gridCol>
                <a:gridCol w="322481">
                  <a:extLst>
                    <a:ext uri="{9D8B030D-6E8A-4147-A177-3AD203B41FA5}">
                      <a16:colId xmlns:a16="http://schemas.microsoft.com/office/drawing/2014/main" val="2527660299"/>
                    </a:ext>
                  </a:extLst>
                </a:gridCol>
                <a:gridCol w="373846">
                  <a:extLst>
                    <a:ext uri="{9D8B030D-6E8A-4147-A177-3AD203B41FA5}">
                      <a16:colId xmlns:a16="http://schemas.microsoft.com/office/drawing/2014/main" val="3641075278"/>
                    </a:ext>
                  </a:extLst>
                </a:gridCol>
                <a:gridCol w="394334">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customer transaction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35+5</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35+5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Admin charge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graphicFrame>
        <p:nvGraphicFramePr>
          <p:cNvPr id="15" name="表格 14">
            <a:extLst>
              <a:ext uri="{FF2B5EF4-FFF2-40B4-BE49-F238E27FC236}">
                <a16:creationId xmlns:a16="http://schemas.microsoft.com/office/drawing/2014/main" id="{09AA89D5-AEAC-39A2-035D-F22DB330EA9E}"/>
              </a:ext>
            </a:extLst>
          </p:cNvPr>
          <p:cNvGraphicFramePr>
            <a:graphicFrameLocks noGrp="1"/>
          </p:cNvGraphicFramePr>
          <p:nvPr>
            <p:extLst>
              <p:ext uri="{D42A27DB-BD31-4B8C-83A1-F6EECF244321}">
                <p14:modId xmlns:p14="http://schemas.microsoft.com/office/powerpoint/2010/main" val="4058871038"/>
              </p:ext>
            </p:extLst>
          </p:nvPr>
        </p:nvGraphicFramePr>
        <p:xfrm>
          <a:off x="160547" y="5737201"/>
          <a:ext cx="5860438" cy="951098"/>
        </p:xfrm>
        <a:graphic>
          <a:graphicData uri="http://schemas.openxmlformats.org/drawingml/2006/table">
            <a:tbl>
              <a:tblPr/>
              <a:tblGrid>
                <a:gridCol w="399198">
                  <a:extLst>
                    <a:ext uri="{9D8B030D-6E8A-4147-A177-3AD203B41FA5}">
                      <a16:colId xmlns:a16="http://schemas.microsoft.com/office/drawing/2014/main" val="495084399"/>
                    </a:ext>
                  </a:extLst>
                </a:gridCol>
                <a:gridCol w="291996">
                  <a:extLst>
                    <a:ext uri="{9D8B030D-6E8A-4147-A177-3AD203B41FA5}">
                      <a16:colId xmlns:a16="http://schemas.microsoft.com/office/drawing/2014/main" val="3614210242"/>
                    </a:ext>
                  </a:extLst>
                </a:gridCol>
                <a:gridCol w="727549">
                  <a:extLst>
                    <a:ext uri="{9D8B030D-6E8A-4147-A177-3AD203B41FA5}">
                      <a16:colId xmlns:a16="http://schemas.microsoft.com/office/drawing/2014/main" val="1442124609"/>
                    </a:ext>
                  </a:extLst>
                </a:gridCol>
                <a:gridCol w="1925518">
                  <a:extLst>
                    <a:ext uri="{9D8B030D-6E8A-4147-A177-3AD203B41FA5}">
                      <a16:colId xmlns:a16="http://schemas.microsoft.com/office/drawing/2014/main" val="3603859997"/>
                    </a:ext>
                  </a:extLst>
                </a:gridCol>
                <a:gridCol w="350874">
                  <a:extLst>
                    <a:ext uri="{9D8B030D-6E8A-4147-A177-3AD203B41FA5}">
                      <a16:colId xmlns:a16="http://schemas.microsoft.com/office/drawing/2014/main" val="4076488391"/>
                    </a:ext>
                  </a:extLst>
                </a:gridCol>
                <a:gridCol w="297712">
                  <a:extLst>
                    <a:ext uri="{9D8B030D-6E8A-4147-A177-3AD203B41FA5}">
                      <a16:colId xmlns:a16="http://schemas.microsoft.com/office/drawing/2014/main" val="3254101706"/>
                    </a:ext>
                  </a:extLst>
                </a:gridCol>
                <a:gridCol w="425302">
                  <a:extLst>
                    <a:ext uri="{9D8B030D-6E8A-4147-A177-3AD203B41FA5}">
                      <a16:colId xmlns:a16="http://schemas.microsoft.com/office/drawing/2014/main" val="3712391277"/>
                    </a:ext>
                  </a:extLst>
                </a:gridCol>
                <a:gridCol w="286486">
                  <a:extLst>
                    <a:ext uri="{9D8B030D-6E8A-4147-A177-3AD203B41FA5}">
                      <a16:colId xmlns:a16="http://schemas.microsoft.com/office/drawing/2014/main" val="1461470061"/>
                    </a:ext>
                  </a:extLst>
                </a:gridCol>
                <a:gridCol w="321855">
                  <a:extLst>
                    <a:ext uri="{9D8B030D-6E8A-4147-A177-3AD203B41FA5}">
                      <a16:colId xmlns:a16="http://schemas.microsoft.com/office/drawing/2014/main" val="2527660299"/>
                    </a:ext>
                  </a:extLst>
                </a:gridCol>
                <a:gridCol w="483079">
                  <a:extLst>
                    <a:ext uri="{9D8B030D-6E8A-4147-A177-3AD203B41FA5}">
                      <a16:colId xmlns:a16="http://schemas.microsoft.com/office/drawing/2014/main" val="3641075278"/>
                    </a:ext>
                  </a:extLst>
                </a:gridCol>
                <a:gridCol w="350869">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Intercompany transaction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Dr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Rental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graphicFrame>
        <p:nvGraphicFramePr>
          <p:cNvPr id="16" name="表格 15">
            <a:extLst>
              <a:ext uri="{FF2B5EF4-FFF2-40B4-BE49-F238E27FC236}">
                <a16:creationId xmlns:a16="http://schemas.microsoft.com/office/drawing/2014/main" id="{A7539FE8-6FFB-DF36-30EB-1208252737B6}"/>
              </a:ext>
            </a:extLst>
          </p:cNvPr>
          <p:cNvGraphicFramePr>
            <a:graphicFrameLocks noGrp="1"/>
          </p:cNvGraphicFramePr>
          <p:nvPr>
            <p:extLst>
              <p:ext uri="{D42A27DB-BD31-4B8C-83A1-F6EECF244321}">
                <p14:modId xmlns:p14="http://schemas.microsoft.com/office/powerpoint/2010/main" val="3163756810"/>
              </p:ext>
            </p:extLst>
          </p:nvPr>
        </p:nvGraphicFramePr>
        <p:xfrm>
          <a:off x="191917" y="500377"/>
          <a:ext cx="5838269" cy="1240612"/>
        </p:xfrm>
        <a:graphic>
          <a:graphicData uri="http://schemas.openxmlformats.org/drawingml/2006/table">
            <a:tbl>
              <a:tblPr firstRow="1" bandRow="1">
                <a:tableStyleId>{3C2FFA5D-87B4-456A-9821-1D502468CF0F}</a:tableStyleId>
              </a:tblPr>
              <a:tblGrid>
                <a:gridCol w="633470">
                  <a:extLst>
                    <a:ext uri="{9D8B030D-6E8A-4147-A177-3AD203B41FA5}">
                      <a16:colId xmlns:a16="http://schemas.microsoft.com/office/drawing/2014/main" val="869603910"/>
                    </a:ext>
                  </a:extLst>
                </a:gridCol>
                <a:gridCol w="695069">
                  <a:extLst>
                    <a:ext uri="{9D8B030D-6E8A-4147-A177-3AD203B41FA5}">
                      <a16:colId xmlns:a16="http://schemas.microsoft.com/office/drawing/2014/main" val="238663902"/>
                    </a:ext>
                  </a:extLst>
                </a:gridCol>
                <a:gridCol w="564837">
                  <a:extLst>
                    <a:ext uri="{9D8B030D-6E8A-4147-A177-3AD203B41FA5}">
                      <a16:colId xmlns:a16="http://schemas.microsoft.com/office/drawing/2014/main" val="4114365151"/>
                    </a:ext>
                  </a:extLst>
                </a:gridCol>
                <a:gridCol w="649158">
                  <a:extLst>
                    <a:ext uri="{9D8B030D-6E8A-4147-A177-3AD203B41FA5}">
                      <a16:colId xmlns:a16="http://schemas.microsoft.com/office/drawing/2014/main" val="4075178046"/>
                    </a:ext>
                  </a:extLst>
                </a:gridCol>
                <a:gridCol w="78314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Flex pause/</a:t>
                      </a:r>
                      <a:r>
                        <a:rPr lang="en-US" altLang="zh-CN" sz="1050" err="1">
                          <a:solidFill>
                            <a:sysClr val="windowText" lastClr="000000"/>
                          </a:solidFill>
                        </a:rPr>
                        <a:t>unpause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Flex Down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Tree>
    <p:extLst>
      <p:ext uri="{BB962C8B-B14F-4D97-AF65-F5344CB8AC3E}">
        <p14:creationId xmlns:p14="http://schemas.microsoft.com/office/powerpoint/2010/main" val="144715006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626C87-4B92-DCAC-6319-2EAA04DC5A69}"/>
            </a:ext>
          </a:extLst>
        </p:cNvPr>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5FFAE839-774A-E9CE-018C-8CB7ED4E43AD}"/>
              </a:ext>
            </a:extLst>
          </p:cNvPr>
          <p:cNvGraphicFramePr>
            <a:graphicFrameLocks noGrp="1"/>
          </p:cNvGraphicFramePr>
          <p:nvPr>
            <p:extLst>
              <p:ext uri="{D42A27DB-BD31-4B8C-83A1-F6EECF244321}">
                <p14:modId xmlns:p14="http://schemas.microsoft.com/office/powerpoint/2010/main" val="1961408933"/>
              </p:ext>
            </p:extLst>
          </p:nvPr>
        </p:nvGraphicFramePr>
        <p:xfrm>
          <a:off x="6096000" y="431020"/>
          <a:ext cx="6068619" cy="2201599"/>
        </p:xfrm>
        <a:graphic>
          <a:graphicData uri="http://schemas.openxmlformats.org/drawingml/2006/table">
            <a:tbl>
              <a:tblPr/>
              <a:tblGrid>
                <a:gridCol w="448093">
                  <a:extLst>
                    <a:ext uri="{9D8B030D-6E8A-4147-A177-3AD203B41FA5}">
                      <a16:colId xmlns:a16="http://schemas.microsoft.com/office/drawing/2014/main" val="495084399"/>
                    </a:ext>
                  </a:extLst>
                </a:gridCol>
                <a:gridCol w="239058">
                  <a:extLst>
                    <a:ext uri="{9D8B030D-6E8A-4147-A177-3AD203B41FA5}">
                      <a16:colId xmlns:a16="http://schemas.microsoft.com/office/drawing/2014/main" val="3614210242"/>
                    </a:ext>
                  </a:extLst>
                </a:gridCol>
                <a:gridCol w="560647">
                  <a:extLst>
                    <a:ext uri="{9D8B030D-6E8A-4147-A177-3AD203B41FA5}">
                      <a16:colId xmlns:a16="http://schemas.microsoft.com/office/drawing/2014/main" val="1442124609"/>
                    </a:ext>
                  </a:extLst>
                </a:gridCol>
                <a:gridCol w="1983024">
                  <a:extLst>
                    <a:ext uri="{9D8B030D-6E8A-4147-A177-3AD203B41FA5}">
                      <a16:colId xmlns:a16="http://schemas.microsoft.com/office/drawing/2014/main" val="3603859997"/>
                    </a:ext>
                  </a:extLst>
                </a:gridCol>
                <a:gridCol w="405548">
                  <a:extLst>
                    <a:ext uri="{9D8B030D-6E8A-4147-A177-3AD203B41FA5}">
                      <a16:colId xmlns:a16="http://schemas.microsoft.com/office/drawing/2014/main" val="4076488391"/>
                    </a:ext>
                  </a:extLst>
                </a:gridCol>
                <a:gridCol w="405548">
                  <a:extLst>
                    <a:ext uri="{9D8B030D-6E8A-4147-A177-3AD203B41FA5}">
                      <a16:colId xmlns:a16="http://schemas.microsoft.com/office/drawing/2014/main" val="3254101706"/>
                    </a:ext>
                  </a:extLst>
                </a:gridCol>
                <a:gridCol w="345989">
                  <a:extLst>
                    <a:ext uri="{9D8B030D-6E8A-4147-A177-3AD203B41FA5}">
                      <a16:colId xmlns:a16="http://schemas.microsoft.com/office/drawing/2014/main" val="3712391277"/>
                    </a:ext>
                  </a:extLst>
                </a:gridCol>
                <a:gridCol w="605883">
                  <a:extLst>
                    <a:ext uri="{9D8B030D-6E8A-4147-A177-3AD203B41FA5}">
                      <a16:colId xmlns:a16="http://schemas.microsoft.com/office/drawing/2014/main" val="1011381538"/>
                    </a:ext>
                  </a:extLst>
                </a:gridCol>
                <a:gridCol w="400786">
                  <a:extLst>
                    <a:ext uri="{9D8B030D-6E8A-4147-A177-3AD203B41FA5}">
                      <a16:colId xmlns:a16="http://schemas.microsoft.com/office/drawing/2014/main" val="2527660299"/>
                    </a:ext>
                  </a:extLst>
                </a:gridCol>
                <a:gridCol w="386447">
                  <a:extLst>
                    <a:ext uri="{9D8B030D-6E8A-4147-A177-3AD203B41FA5}">
                      <a16:colId xmlns:a16="http://schemas.microsoft.com/office/drawing/2014/main" val="3641075278"/>
                    </a:ext>
                  </a:extLst>
                </a:gridCol>
                <a:gridCol w="287596">
                  <a:extLst>
                    <a:ext uri="{9D8B030D-6E8A-4147-A177-3AD203B41FA5}">
                      <a16:colId xmlns:a16="http://schemas.microsoft.com/office/drawing/2014/main" val="3618613915"/>
                    </a:ext>
                  </a:extLst>
                </a:gridCol>
              </a:tblGrid>
              <a:tr h="178829">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NL11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1598279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Broker Sales (applicable for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a:t>
                      </a:r>
                      <a:r>
                        <a:rPr lang="en-US" sz="900" b="0" i="0" u="none" strike="noStrike" kern="1200">
                          <a:solidFill>
                            <a:srgbClr val="000000"/>
                          </a:solidFill>
                          <a:effectLst/>
                          <a:latin typeface="Arial" panose="020B0604020202020204" pitchFamily="34" charset="0"/>
                          <a:ea typeface="+mn-ea"/>
                          <a:cs typeface="+mn-cs"/>
                        </a:rPr>
                        <a:t>-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0" name="表格 29">
            <a:extLst>
              <a:ext uri="{FF2B5EF4-FFF2-40B4-BE49-F238E27FC236}">
                <a16:creationId xmlns:a16="http://schemas.microsoft.com/office/drawing/2014/main" id="{367F6832-6184-F752-E8DE-4D826FAB9A61}"/>
              </a:ext>
            </a:extLst>
          </p:cNvPr>
          <p:cNvGraphicFramePr>
            <a:graphicFrameLocks noGrp="1"/>
          </p:cNvGraphicFramePr>
          <p:nvPr>
            <p:extLst>
              <p:ext uri="{D42A27DB-BD31-4B8C-83A1-F6EECF244321}">
                <p14:modId xmlns:p14="http://schemas.microsoft.com/office/powerpoint/2010/main" val="3823494222"/>
              </p:ext>
            </p:extLst>
          </p:nvPr>
        </p:nvGraphicFramePr>
        <p:xfrm>
          <a:off x="68678" y="431020"/>
          <a:ext cx="5838269" cy="1554480"/>
        </p:xfrm>
        <a:graphic>
          <a:graphicData uri="http://schemas.openxmlformats.org/drawingml/2006/table">
            <a:tbl>
              <a:tblPr firstRow="1" bandRow="1">
                <a:tableStyleId>{3C2FFA5D-87B4-456A-9821-1D502468CF0F}</a:tableStyleId>
              </a:tblPr>
              <a:tblGrid>
                <a:gridCol w="676206">
                  <a:extLst>
                    <a:ext uri="{9D8B030D-6E8A-4147-A177-3AD203B41FA5}">
                      <a16:colId xmlns:a16="http://schemas.microsoft.com/office/drawing/2014/main" val="869603910"/>
                    </a:ext>
                  </a:extLst>
                </a:gridCol>
                <a:gridCol w="733042">
                  <a:extLst>
                    <a:ext uri="{9D8B030D-6E8A-4147-A177-3AD203B41FA5}">
                      <a16:colId xmlns:a16="http://schemas.microsoft.com/office/drawing/2014/main" val="238663902"/>
                    </a:ext>
                  </a:extLst>
                </a:gridCol>
                <a:gridCol w="520995">
                  <a:extLst>
                    <a:ext uri="{9D8B030D-6E8A-4147-A177-3AD203B41FA5}">
                      <a16:colId xmlns:a16="http://schemas.microsoft.com/office/drawing/2014/main" val="4114365151"/>
                    </a:ext>
                  </a:extLst>
                </a:gridCol>
                <a:gridCol w="648586">
                  <a:extLst>
                    <a:ext uri="{9D8B030D-6E8A-4147-A177-3AD203B41FA5}">
                      <a16:colId xmlns:a16="http://schemas.microsoft.com/office/drawing/2014/main" val="4075178046"/>
                    </a:ext>
                  </a:extLst>
                </a:gridCol>
                <a:gridCol w="746845">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One-off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3" name="文本框 32">
            <a:extLst>
              <a:ext uri="{FF2B5EF4-FFF2-40B4-BE49-F238E27FC236}">
                <a16:creationId xmlns:a16="http://schemas.microsoft.com/office/drawing/2014/main" id="{958039BE-FEB2-98C5-9AA2-D8863C27FECE}"/>
              </a:ext>
            </a:extLst>
          </p:cNvPr>
          <p:cNvSpPr txBox="1"/>
          <p:nvPr/>
        </p:nvSpPr>
        <p:spPr>
          <a:xfrm>
            <a:off x="143235" y="47255"/>
            <a:ext cx="4470947" cy="400110"/>
          </a:xfrm>
          <a:prstGeom prst="rect">
            <a:avLst/>
          </a:prstGeom>
          <a:noFill/>
        </p:spPr>
        <p:txBody>
          <a:bodyPr wrap="square" rtlCol="0">
            <a:spAutoFit/>
          </a:bodyPr>
          <a:lstStyle/>
          <a:p>
            <a:r>
              <a:rPr lang="nl-NL" altLang="zh-CN" sz="2000" b="1"/>
              <a:t>DaaS_Central_MSA&amp;MLA</a:t>
            </a:r>
            <a:endParaRPr lang="zh-CN" altLang="en-US" sz="2000" b="1"/>
          </a:p>
        </p:txBody>
      </p:sp>
      <p:graphicFrame>
        <p:nvGraphicFramePr>
          <p:cNvPr id="2" name="表格 1">
            <a:extLst>
              <a:ext uri="{FF2B5EF4-FFF2-40B4-BE49-F238E27FC236}">
                <a16:creationId xmlns:a16="http://schemas.microsoft.com/office/drawing/2014/main" id="{509D44BB-AB5E-80E0-DF13-C06FCB153ADE}"/>
              </a:ext>
            </a:extLst>
          </p:cNvPr>
          <p:cNvGraphicFramePr>
            <a:graphicFrameLocks noGrp="1"/>
          </p:cNvGraphicFramePr>
          <p:nvPr>
            <p:extLst>
              <p:ext uri="{D42A27DB-BD31-4B8C-83A1-F6EECF244321}">
                <p14:modId xmlns:p14="http://schemas.microsoft.com/office/powerpoint/2010/main" val="1198073182"/>
              </p:ext>
            </p:extLst>
          </p:nvPr>
        </p:nvGraphicFramePr>
        <p:xfrm>
          <a:off x="6096000" y="3126389"/>
          <a:ext cx="5952764" cy="1143743"/>
        </p:xfrm>
        <a:graphic>
          <a:graphicData uri="http://schemas.openxmlformats.org/drawingml/2006/table">
            <a:tbl>
              <a:tblPr/>
              <a:tblGrid>
                <a:gridCol w="443791">
                  <a:extLst>
                    <a:ext uri="{9D8B030D-6E8A-4147-A177-3AD203B41FA5}">
                      <a16:colId xmlns:a16="http://schemas.microsoft.com/office/drawing/2014/main" val="495084399"/>
                    </a:ext>
                  </a:extLst>
                </a:gridCol>
                <a:gridCol w="273218">
                  <a:extLst>
                    <a:ext uri="{9D8B030D-6E8A-4147-A177-3AD203B41FA5}">
                      <a16:colId xmlns:a16="http://schemas.microsoft.com/office/drawing/2014/main" val="3614210242"/>
                    </a:ext>
                  </a:extLst>
                </a:gridCol>
                <a:gridCol w="629760">
                  <a:extLst>
                    <a:ext uri="{9D8B030D-6E8A-4147-A177-3AD203B41FA5}">
                      <a16:colId xmlns:a16="http://schemas.microsoft.com/office/drawing/2014/main" val="1442124609"/>
                    </a:ext>
                  </a:extLst>
                </a:gridCol>
                <a:gridCol w="1976706">
                  <a:extLst>
                    <a:ext uri="{9D8B030D-6E8A-4147-A177-3AD203B41FA5}">
                      <a16:colId xmlns:a16="http://schemas.microsoft.com/office/drawing/2014/main" val="3603859997"/>
                    </a:ext>
                  </a:extLst>
                </a:gridCol>
                <a:gridCol w="315126">
                  <a:extLst>
                    <a:ext uri="{9D8B030D-6E8A-4147-A177-3AD203B41FA5}">
                      <a16:colId xmlns:a16="http://schemas.microsoft.com/office/drawing/2014/main" val="4076488391"/>
                    </a:ext>
                  </a:extLst>
                </a:gridCol>
                <a:gridCol w="445503">
                  <a:extLst>
                    <a:ext uri="{9D8B030D-6E8A-4147-A177-3AD203B41FA5}">
                      <a16:colId xmlns:a16="http://schemas.microsoft.com/office/drawing/2014/main" val="3254101706"/>
                    </a:ext>
                  </a:extLst>
                </a:gridCol>
                <a:gridCol w="412091">
                  <a:extLst>
                    <a:ext uri="{9D8B030D-6E8A-4147-A177-3AD203B41FA5}">
                      <a16:colId xmlns:a16="http://schemas.microsoft.com/office/drawing/2014/main" val="3712391277"/>
                    </a:ext>
                  </a:extLst>
                </a:gridCol>
                <a:gridCol w="300715">
                  <a:extLst>
                    <a:ext uri="{9D8B030D-6E8A-4147-A177-3AD203B41FA5}">
                      <a16:colId xmlns:a16="http://schemas.microsoft.com/office/drawing/2014/main" val="1008187684"/>
                    </a:ext>
                  </a:extLst>
                </a:gridCol>
                <a:gridCol w="365758">
                  <a:extLst>
                    <a:ext uri="{9D8B030D-6E8A-4147-A177-3AD203B41FA5}">
                      <a16:colId xmlns:a16="http://schemas.microsoft.com/office/drawing/2014/main" val="2527660299"/>
                    </a:ext>
                  </a:extLst>
                </a:gridCol>
                <a:gridCol w="433868">
                  <a:extLst>
                    <a:ext uri="{9D8B030D-6E8A-4147-A177-3AD203B41FA5}">
                      <a16:colId xmlns:a16="http://schemas.microsoft.com/office/drawing/2014/main" val="3641075278"/>
                    </a:ext>
                  </a:extLst>
                </a:gridCol>
                <a:gridCol w="356228">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3" name="表格 2">
            <a:extLst>
              <a:ext uri="{FF2B5EF4-FFF2-40B4-BE49-F238E27FC236}">
                <a16:creationId xmlns:a16="http://schemas.microsoft.com/office/drawing/2014/main" id="{C01B031B-725E-7326-48D7-E83C59160EB0}"/>
              </a:ext>
            </a:extLst>
          </p:cNvPr>
          <p:cNvGraphicFramePr>
            <a:graphicFrameLocks noGrp="1"/>
          </p:cNvGraphicFramePr>
          <p:nvPr>
            <p:extLst>
              <p:ext uri="{D42A27DB-BD31-4B8C-83A1-F6EECF244321}">
                <p14:modId xmlns:p14="http://schemas.microsoft.com/office/powerpoint/2010/main" val="2605715739"/>
              </p:ext>
            </p:extLst>
          </p:nvPr>
        </p:nvGraphicFramePr>
        <p:xfrm>
          <a:off x="68686" y="2167728"/>
          <a:ext cx="5838261" cy="1143743"/>
        </p:xfrm>
        <a:graphic>
          <a:graphicData uri="http://schemas.openxmlformats.org/drawingml/2006/table">
            <a:tbl>
              <a:tblPr/>
              <a:tblGrid>
                <a:gridCol w="450237">
                  <a:extLst>
                    <a:ext uri="{9D8B030D-6E8A-4147-A177-3AD203B41FA5}">
                      <a16:colId xmlns:a16="http://schemas.microsoft.com/office/drawing/2014/main" val="495084399"/>
                    </a:ext>
                  </a:extLst>
                </a:gridCol>
                <a:gridCol w="239223">
                  <a:extLst>
                    <a:ext uri="{9D8B030D-6E8A-4147-A177-3AD203B41FA5}">
                      <a16:colId xmlns:a16="http://schemas.microsoft.com/office/drawing/2014/main" val="3614210242"/>
                    </a:ext>
                  </a:extLst>
                </a:gridCol>
                <a:gridCol w="589168">
                  <a:extLst>
                    <a:ext uri="{9D8B030D-6E8A-4147-A177-3AD203B41FA5}">
                      <a16:colId xmlns:a16="http://schemas.microsoft.com/office/drawing/2014/main" val="1442124609"/>
                    </a:ext>
                  </a:extLst>
                </a:gridCol>
                <a:gridCol w="1958477">
                  <a:extLst>
                    <a:ext uri="{9D8B030D-6E8A-4147-A177-3AD203B41FA5}">
                      <a16:colId xmlns:a16="http://schemas.microsoft.com/office/drawing/2014/main" val="3603859997"/>
                    </a:ext>
                  </a:extLst>
                </a:gridCol>
                <a:gridCol w="469953">
                  <a:extLst>
                    <a:ext uri="{9D8B030D-6E8A-4147-A177-3AD203B41FA5}">
                      <a16:colId xmlns:a16="http://schemas.microsoft.com/office/drawing/2014/main" val="4076488391"/>
                    </a:ext>
                  </a:extLst>
                </a:gridCol>
                <a:gridCol w="428179">
                  <a:extLst>
                    <a:ext uri="{9D8B030D-6E8A-4147-A177-3AD203B41FA5}">
                      <a16:colId xmlns:a16="http://schemas.microsoft.com/office/drawing/2014/main" val="3254101706"/>
                    </a:ext>
                  </a:extLst>
                </a:gridCol>
                <a:gridCol w="365518">
                  <a:extLst>
                    <a:ext uri="{9D8B030D-6E8A-4147-A177-3AD203B41FA5}">
                      <a16:colId xmlns:a16="http://schemas.microsoft.com/office/drawing/2014/main" val="3712391277"/>
                    </a:ext>
                  </a:extLst>
                </a:gridCol>
                <a:gridCol w="271527">
                  <a:extLst>
                    <a:ext uri="{9D8B030D-6E8A-4147-A177-3AD203B41FA5}">
                      <a16:colId xmlns:a16="http://schemas.microsoft.com/office/drawing/2014/main" val="3643425350"/>
                    </a:ext>
                  </a:extLst>
                </a:gridCol>
                <a:gridCol w="345549">
                  <a:extLst>
                    <a:ext uri="{9D8B030D-6E8A-4147-A177-3AD203B41FA5}">
                      <a16:colId xmlns:a16="http://schemas.microsoft.com/office/drawing/2014/main" val="2527660299"/>
                    </a:ext>
                  </a:extLst>
                </a:gridCol>
                <a:gridCol w="407292">
                  <a:extLst>
                    <a:ext uri="{9D8B030D-6E8A-4147-A177-3AD203B41FA5}">
                      <a16:colId xmlns:a16="http://schemas.microsoft.com/office/drawing/2014/main" val="3641075278"/>
                    </a:ext>
                  </a:extLst>
                </a:gridCol>
                <a:gridCol w="313138">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76113988"/>
                  </a:ext>
                </a:extLst>
              </a:tr>
            </a:tbl>
          </a:graphicData>
        </a:graphic>
      </p:graphicFrame>
      <p:graphicFrame>
        <p:nvGraphicFramePr>
          <p:cNvPr id="9" name="表格 8">
            <a:extLst>
              <a:ext uri="{FF2B5EF4-FFF2-40B4-BE49-F238E27FC236}">
                <a16:creationId xmlns:a16="http://schemas.microsoft.com/office/drawing/2014/main" id="{B8EC9924-06FE-F277-D9FE-077C95D7A325}"/>
              </a:ext>
            </a:extLst>
          </p:cNvPr>
          <p:cNvGraphicFramePr>
            <a:graphicFrameLocks noGrp="1"/>
          </p:cNvGraphicFramePr>
          <p:nvPr>
            <p:extLst>
              <p:ext uri="{D42A27DB-BD31-4B8C-83A1-F6EECF244321}">
                <p14:modId xmlns:p14="http://schemas.microsoft.com/office/powerpoint/2010/main" val="3117490422"/>
              </p:ext>
            </p:extLst>
          </p:nvPr>
        </p:nvGraphicFramePr>
        <p:xfrm>
          <a:off x="89041" y="4117016"/>
          <a:ext cx="5817904" cy="1143743"/>
        </p:xfrm>
        <a:graphic>
          <a:graphicData uri="http://schemas.openxmlformats.org/drawingml/2006/table">
            <a:tbl>
              <a:tblPr/>
              <a:tblGrid>
                <a:gridCol w="417864">
                  <a:extLst>
                    <a:ext uri="{9D8B030D-6E8A-4147-A177-3AD203B41FA5}">
                      <a16:colId xmlns:a16="http://schemas.microsoft.com/office/drawing/2014/main" val="495084399"/>
                    </a:ext>
                  </a:extLst>
                </a:gridCol>
                <a:gridCol w="239498">
                  <a:extLst>
                    <a:ext uri="{9D8B030D-6E8A-4147-A177-3AD203B41FA5}">
                      <a16:colId xmlns:a16="http://schemas.microsoft.com/office/drawing/2014/main" val="3614210242"/>
                    </a:ext>
                  </a:extLst>
                </a:gridCol>
                <a:gridCol w="596746">
                  <a:extLst>
                    <a:ext uri="{9D8B030D-6E8A-4147-A177-3AD203B41FA5}">
                      <a16:colId xmlns:a16="http://schemas.microsoft.com/office/drawing/2014/main" val="1442124609"/>
                    </a:ext>
                  </a:extLst>
                </a:gridCol>
                <a:gridCol w="1879697">
                  <a:extLst>
                    <a:ext uri="{9D8B030D-6E8A-4147-A177-3AD203B41FA5}">
                      <a16:colId xmlns:a16="http://schemas.microsoft.com/office/drawing/2014/main" val="3603859997"/>
                    </a:ext>
                  </a:extLst>
                </a:gridCol>
                <a:gridCol w="356698">
                  <a:extLst>
                    <a:ext uri="{9D8B030D-6E8A-4147-A177-3AD203B41FA5}">
                      <a16:colId xmlns:a16="http://schemas.microsoft.com/office/drawing/2014/main" val="4076488391"/>
                    </a:ext>
                  </a:extLst>
                </a:gridCol>
                <a:gridCol w="552506">
                  <a:extLst>
                    <a:ext uri="{9D8B030D-6E8A-4147-A177-3AD203B41FA5}">
                      <a16:colId xmlns:a16="http://schemas.microsoft.com/office/drawing/2014/main" val="3254101706"/>
                    </a:ext>
                  </a:extLst>
                </a:gridCol>
                <a:gridCol w="373830">
                  <a:extLst>
                    <a:ext uri="{9D8B030D-6E8A-4147-A177-3AD203B41FA5}">
                      <a16:colId xmlns:a16="http://schemas.microsoft.com/office/drawing/2014/main" val="3712391277"/>
                    </a:ext>
                  </a:extLst>
                </a:gridCol>
                <a:gridCol w="309745">
                  <a:extLst>
                    <a:ext uri="{9D8B030D-6E8A-4147-A177-3AD203B41FA5}">
                      <a16:colId xmlns:a16="http://schemas.microsoft.com/office/drawing/2014/main" val="1461470061"/>
                    </a:ext>
                  </a:extLst>
                </a:gridCol>
                <a:gridCol w="384510">
                  <a:extLst>
                    <a:ext uri="{9D8B030D-6E8A-4147-A177-3AD203B41FA5}">
                      <a16:colId xmlns:a16="http://schemas.microsoft.com/office/drawing/2014/main" val="2527660299"/>
                    </a:ext>
                  </a:extLst>
                </a:gridCol>
                <a:gridCol w="405578">
                  <a:extLst>
                    <a:ext uri="{9D8B030D-6E8A-4147-A177-3AD203B41FA5}">
                      <a16:colId xmlns:a16="http://schemas.microsoft.com/office/drawing/2014/main" val="3641075278"/>
                    </a:ext>
                  </a:extLst>
                </a:gridCol>
                <a:gridCol w="301232">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customer transaction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70.3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Rental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Admin charge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graphicFrame>
        <p:nvGraphicFramePr>
          <p:cNvPr id="10" name="表格 9">
            <a:extLst>
              <a:ext uri="{FF2B5EF4-FFF2-40B4-BE49-F238E27FC236}">
                <a16:creationId xmlns:a16="http://schemas.microsoft.com/office/drawing/2014/main" id="{4FDE6CC6-1A67-6BFC-D2C4-78ED2C5E86E0}"/>
              </a:ext>
            </a:extLst>
          </p:cNvPr>
          <p:cNvGraphicFramePr>
            <a:graphicFrameLocks noGrp="1"/>
          </p:cNvGraphicFramePr>
          <p:nvPr>
            <p:extLst>
              <p:ext uri="{D42A27DB-BD31-4B8C-83A1-F6EECF244321}">
                <p14:modId xmlns:p14="http://schemas.microsoft.com/office/powerpoint/2010/main" val="2902496419"/>
              </p:ext>
            </p:extLst>
          </p:nvPr>
        </p:nvGraphicFramePr>
        <p:xfrm>
          <a:off x="92407" y="5402491"/>
          <a:ext cx="5814537" cy="951098"/>
        </p:xfrm>
        <a:graphic>
          <a:graphicData uri="http://schemas.openxmlformats.org/drawingml/2006/table">
            <a:tbl>
              <a:tblPr/>
              <a:tblGrid>
                <a:gridCol w="405522">
                  <a:extLst>
                    <a:ext uri="{9D8B030D-6E8A-4147-A177-3AD203B41FA5}">
                      <a16:colId xmlns:a16="http://schemas.microsoft.com/office/drawing/2014/main" val="495084399"/>
                    </a:ext>
                  </a:extLst>
                </a:gridCol>
                <a:gridCol w="255624">
                  <a:extLst>
                    <a:ext uri="{9D8B030D-6E8A-4147-A177-3AD203B41FA5}">
                      <a16:colId xmlns:a16="http://schemas.microsoft.com/office/drawing/2014/main" val="3614210242"/>
                    </a:ext>
                  </a:extLst>
                </a:gridCol>
                <a:gridCol w="636922">
                  <a:extLst>
                    <a:ext uri="{9D8B030D-6E8A-4147-A177-3AD203B41FA5}">
                      <a16:colId xmlns:a16="http://schemas.microsoft.com/office/drawing/2014/main" val="1442124609"/>
                    </a:ext>
                  </a:extLst>
                </a:gridCol>
                <a:gridCol w="2006251">
                  <a:extLst>
                    <a:ext uri="{9D8B030D-6E8A-4147-A177-3AD203B41FA5}">
                      <a16:colId xmlns:a16="http://schemas.microsoft.com/office/drawing/2014/main" val="3603859997"/>
                    </a:ext>
                  </a:extLst>
                </a:gridCol>
                <a:gridCol w="380714">
                  <a:extLst>
                    <a:ext uri="{9D8B030D-6E8A-4147-A177-3AD203B41FA5}">
                      <a16:colId xmlns:a16="http://schemas.microsoft.com/office/drawing/2014/main" val="4076488391"/>
                    </a:ext>
                  </a:extLst>
                </a:gridCol>
                <a:gridCol w="369173">
                  <a:extLst>
                    <a:ext uri="{9D8B030D-6E8A-4147-A177-3AD203B41FA5}">
                      <a16:colId xmlns:a16="http://schemas.microsoft.com/office/drawing/2014/main" val="3254101706"/>
                    </a:ext>
                  </a:extLst>
                </a:gridCol>
                <a:gridCol w="373253">
                  <a:extLst>
                    <a:ext uri="{9D8B030D-6E8A-4147-A177-3AD203B41FA5}">
                      <a16:colId xmlns:a16="http://schemas.microsoft.com/office/drawing/2014/main" val="3712391277"/>
                    </a:ext>
                  </a:extLst>
                </a:gridCol>
                <a:gridCol w="281764">
                  <a:extLst>
                    <a:ext uri="{9D8B030D-6E8A-4147-A177-3AD203B41FA5}">
                      <a16:colId xmlns:a16="http://schemas.microsoft.com/office/drawing/2014/main" val="1461470061"/>
                    </a:ext>
                  </a:extLst>
                </a:gridCol>
                <a:gridCol w="375246">
                  <a:extLst>
                    <a:ext uri="{9D8B030D-6E8A-4147-A177-3AD203B41FA5}">
                      <a16:colId xmlns:a16="http://schemas.microsoft.com/office/drawing/2014/main" val="2527660299"/>
                    </a:ext>
                  </a:extLst>
                </a:gridCol>
                <a:gridCol w="422905">
                  <a:extLst>
                    <a:ext uri="{9D8B030D-6E8A-4147-A177-3AD203B41FA5}">
                      <a16:colId xmlns:a16="http://schemas.microsoft.com/office/drawing/2014/main" val="3641075278"/>
                    </a:ext>
                  </a:extLst>
                </a:gridCol>
                <a:gridCol w="307163">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Intercompany transaction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Dr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Rental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65.3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65.3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65.3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65.3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sp>
        <p:nvSpPr>
          <p:cNvPr id="4" name="对话气泡: 矩形 11">
            <a:extLst>
              <a:ext uri="{FF2B5EF4-FFF2-40B4-BE49-F238E27FC236}">
                <a16:creationId xmlns:a16="http://schemas.microsoft.com/office/drawing/2014/main" id="{B1CFFE25-6398-6B68-B6CA-19AE90937935}"/>
              </a:ext>
            </a:extLst>
          </p:cNvPr>
          <p:cNvSpPr/>
          <p:nvPr/>
        </p:nvSpPr>
        <p:spPr>
          <a:xfrm>
            <a:off x="-1515335" y="2843369"/>
            <a:ext cx="1307455" cy="1941861"/>
          </a:xfrm>
          <a:prstGeom prst="wedgeRectCallout">
            <a:avLst>
              <a:gd name="adj1" fmla="val 108503"/>
              <a:gd name="adj2" fmla="val -3211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Interco billing, ARS was recognized as service since one-off billing(which was different from BRIM,)</a:t>
            </a:r>
          </a:p>
        </p:txBody>
      </p:sp>
    </p:spTree>
    <p:extLst>
      <p:ext uri="{BB962C8B-B14F-4D97-AF65-F5344CB8AC3E}">
        <p14:creationId xmlns:p14="http://schemas.microsoft.com/office/powerpoint/2010/main" val="254894304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4EB1E3-47EA-3746-C58B-80E2AEE7DA2D}"/>
            </a:ext>
          </a:extLst>
        </p:cNvPr>
        <p:cNvGrpSpPr/>
        <p:nvPr/>
      </p:nvGrpSpPr>
      <p:grpSpPr>
        <a:xfrm>
          <a:off x="0" y="0"/>
          <a:ext cx="0" cy="0"/>
          <a:chOff x="0" y="0"/>
          <a:chExt cx="0" cy="0"/>
        </a:xfrm>
      </p:grpSpPr>
      <p:sp>
        <p:nvSpPr>
          <p:cNvPr id="5" name="文本框 4">
            <a:extLst>
              <a:ext uri="{FF2B5EF4-FFF2-40B4-BE49-F238E27FC236}">
                <a16:creationId xmlns:a16="http://schemas.microsoft.com/office/drawing/2014/main" id="{0C211B32-423B-C3D5-32F3-2A883F545BCC}"/>
              </a:ext>
            </a:extLst>
          </p:cNvPr>
          <p:cNvSpPr txBox="1"/>
          <p:nvPr/>
        </p:nvSpPr>
        <p:spPr>
          <a:xfrm>
            <a:off x="143235" y="47255"/>
            <a:ext cx="4470947" cy="400110"/>
          </a:xfrm>
          <a:prstGeom prst="rect">
            <a:avLst/>
          </a:prstGeom>
          <a:noFill/>
        </p:spPr>
        <p:txBody>
          <a:bodyPr wrap="square" rtlCol="0">
            <a:spAutoFit/>
          </a:bodyPr>
          <a:lstStyle/>
          <a:p>
            <a:r>
              <a:rPr lang="nl-NL" altLang="zh-CN" sz="2000" b="1"/>
              <a:t>DaaS_Central_MSA&amp;MLA</a:t>
            </a:r>
            <a:endParaRPr lang="zh-CN" altLang="en-US" sz="2000" b="1"/>
          </a:p>
        </p:txBody>
      </p:sp>
      <p:graphicFrame>
        <p:nvGraphicFramePr>
          <p:cNvPr id="6" name="表格 5">
            <a:extLst>
              <a:ext uri="{FF2B5EF4-FFF2-40B4-BE49-F238E27FC236}">
                <a16:creationId xmlns:a16="http://schemas.microsoft.com/office/drawing/2014/main" id="{8CB9DC50-026D-13C4-A7A0-402D4000CF25}"/>
              </a:ext>
            </a:extLst>
          </p:cNvPr>
          <p:cNvGraphicFramePr>
            <a:graphicFrameLocks noGrp="1"/>
          </p:cNvGraphicFramePr>
          <p:nvPr>
            <p:extLst>
              <p:ext uri="{D42A27DB-BD31-4B8C-83A1-F6EECF244321}">
                <p14:modId xmlns:p14="http://schemas.microsoft.com/office/powerpoint/2010/main" val="3896630399"/>
              </p:ext>
            </p:extLst>
          </p:nvPr>
        </p:nvGraphicFramePr>
        <p:xfrm>
          <a:off x="100071" y="447365"/>
          <a:ext cx="5890437" cy="155448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11" name="表格 10">
            <a:extLst>
              <a:ext uri="{FF2B5EF4-FFF2-40B4-BE49-F238E27FC236}">
                <a16:creationId xmlns:a16="http://schemas.microsoft.com/office/drawing/2014/main" id="{A635ED39-417E-B6EC-B7DA-EFAC94BA36B9}"/>
              </a:ext>
            </a:extLst>
          </p:cNvPr>
          <p:cNvGraphicFramePr>
            <a:graphicFrameLocks noGrp="1"/>
          </p:cNvGraphicFramePr>
          <p:nvPr>
            <p:extLst>
              <p:ext uri="{D42A27DB-BD31-4B8C-83A1-F6EECF244321}">
                <p14:modId xmlns:p14="http://schemas.microsoft.com/office/powerpoint/2010/main" val="760391724"/>
              </p:ext>
            </p:extLst>
          </p:nvPr>
        </p:nvGraphicFramePr>
        <p:xfrm>
          <a:off x="6133830" y="447365"/>
          <a:ext cx="5964299" cy="1860935"/>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400786">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361878">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NL11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2" name="表格 11">
            <a:extLst>
              <a:ext uri="{FF2B5EF4-FFF2-40B4-BE49-F238E27FC236}">
                <a16:creationId xmlns:a16="http://schemas.microsoft.com/office/drawing/2014/main" id="{3B467680-2B1F-3326-178D-6C5F06353282}"/>
              </a:ext>
            </a:extLst>
          </p:cNvPr>
          <p:cNvGraphicFramePr>
            <a:graphicFrameLocks noGrp="1"/>
          </p:cNvGraphicFramePr>
          <p:nvPr>
            <p:extLst>
              <p:ext uri="{D42A27DB-BD31-4B8C-83A1-F6EECF244321}">
                <p14:modId xmlns:p14="http://schemas.microsoft.com/office/powerpoint/2010/main" val="3236251997"/>
              </p:ext>
            </p:extLst>
          </p:nvPr>
        </p:nvGraphicFramePr>
        <p:xfrm>
          <a:off x="6133831" y="2762996"/>
          <a:ext cx="6036033" cy="1143743"/>
        </p:xfrm>
        <a:graphic>
          <a:graphicData uri="http://schemas.openxmlformats.org/drawingml/2006/table">
            <a:tbl>
              <a:tblPr/>
              <a:tblGrid>
                <a:gridCol w="433153">
                  <a:extLst>
                    <a:ext uri="{9D8B030D-6E8A-4147-A177-3AD203B41FA5}">
                      <a16:colId xmlns:a16="http://schemas.microsoft.com/office/drawing/2014/main" val="495084399"/>
                    </a:ext>
                  </a:extLst>
                </a:gridCol>
                <a:gridCol w="246032">
                  <a:extLst>
                    <a:ext uri="{9D8B030D-6E8A-4147-A177-3AD203B41FA5}">
                      <a16:colId xmlns:a16="http://schemas.microsoft.com/office/drawing/2014/main" val="3614210242"/>
                    </a:ext>
                  </a:extLst>
                </a:gridCol>
                <a:gridCol w="567096">
                  <a:extLst>
                    <a:ext uri="{9D8B030D-6E8A-4147-A177-3AD203B41FA5}">
                      <a16:colId xmlns:a16="http://schemas.microsoft.com/office/drawing/2014/main" val="1442124609"/>
                    </a:ext>
                  </a:extLst>
                </a:gridCol>
                <a:gridCol w="2104130">
                  <a:extLst>
                    <a:ext uri="{9D8B030D-6E8A-4147-A177-3AD203B41FA5}">
                      <a16:colId xmlns:a16="http://schemas.microsoft.com/office/drawing/2014/main" val="3603859997"/>
                    </a:ext>
                  </a:extLst>
                </a:gridCol>
                <a:gridCol w="340242">
                  <a:extLst>
                    <a:ext uri="{9D8B030D-6E8A-4147-A177-3AD203B41FA5}">
                      <a16:colId xmlns:a16="http://schemas.microsoft.com/office/drawing/2014/main" val="4076488391"/>
                    </a:ext>
                  </a:extLst>
                </a:gridCol>
                <a:gridCol w="308344">
                  <a:extLst>
                    <a:ext uri="{9D8B030D-6E8A-4147-A177-3AD203B41FA5}">
                      <a16:colId xmlns:a16="http://schemas.microsoft.com/office/drawing/2014/main" val="3254101706"/>
                    </a:ext>
                  </a:extLst>
                </a:gridCol>
                <a:gridCol w="362686">
                  <a:extLst>
                    <a:ext uri="{9D8B030D-6E8A-4147-A177-3AD203B41FA5}">
                      <a16:colId xmlns:a16="http://schemas.microsoft.com/office/drawing/2014/main" val="3712391277"/>
                    </a:ext>
                  </a:extLst>
                </a:gridCol>
                <a:gridCol w="424123">
                  <a:extLst>
                    <a:ext uri="{9D8B030D-6E8A-4147-A177-3AD203B41FA5}">
                      <a16:colId xmlns:a16="http://schemas.microsoft.com/office/drawing/2014/main" val="1008187684"/>
                    </a:ext>
                  </a:extLst>
                </a:gridCol>
                <a:gridCol w="538748">
                  <a:extLst>
                    <a:ext uri="{9D8B030D-6E8A-4147-A177-3AD203B41FA5}">
                      <a16:colId xmlns:a16="http://schemas.microsoft.com/office/drawing/2014/main" val="2527660299"/>
                    </a:ext>
                  </a:extLst>
                </a:gridCol>
                <a:gridCol w="390697">
                  <a:extLst>
                    <a:ext uri="{9D8B030D-6E8A-4147-A177-3AD203B41FA5}">
                      <a16:colId xmlns:a16="http://schemas.microsoft.com/office/drawing/2014/main" val="3641075278"/>
                    </a:ext>
                  </a:extLst>
                </a:gridCol>
                <a:gridCol w="320782">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2269762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3" name="表格 12">
            <a:extLst>
              <a:ext uri="{FF2B5EF4-FFF2-40B4-BE49-F238E27FC236}">
                <a16:creationId xmlns:a16="http://schemas.microsoft.com/office/drawing/2014/main" id="{AE9EF82A-62AA-2C69-338A-12CE0A8CBF06}"/>
              </a:ext>
            </a:extLst>
          </p:cNvPr>
          <p:cNvGraphicFramePr>
            <a:graphicFrameLocks noGrp="1"/>
          </p:cNvGraphicFramePr>
          <p:nvPr>
            <p:extLst>
              <p:ext uri="{D42A27DB-BD31-4B8C-83A1-F6EECF244321}">
                <p14:modId xmlns:p14="http://schemas.microsoft.com/office/powerpoint/2010/main" val="3304563367"/>
              </p:ext>
            </p:extLst>
          </p:nvPr>
        </p:nvGraphicFramePr>
        <p:xfrm>
          <a:off x="100071" y="2124172"/>
          <a:ext cx="5916945" cy="1143743"/>
        </p:xfrm>
        <a:graphic>
          <a:graphicData uri="http://schemas.openxmlformats.org/drawingml/2006/table">
            <a:tbl>
              <a:tblPr/>
              <a:tblGrid>
                <a:gridCol w="437298">
                  <a:extLst>
                    <a:ext uri="{9D8B030D-6E8A-4147-A177-3AD203B41FA5}">
                      <a16:colId xmlns:a16="http://schemas.microsoft.com/office/drawing/2014/main" val="495084399"/>
                    </a:ext>
                  </a:extLst>
                </a:gridCol>
                <a:gridCol w="227663">
                  <a:extLst>
                    <a:ext uri="{9D8B030D-6E8A-4147-A177-3AD203B41FA5}">
                      <a16:colId xmlns:a16="http://schemas.microsoft.com/office/drawing/2014/main" val="3614210242"/>
                    </a:ext>
                  </a:extLst>
                </a:gridCol>
                <a:gridCol w="560698">
                  <a:extLst>
                    <a:ext uri="{9D8B030D-6E8A-4147-A177-3AD203B41FA5}">
                      <a16:colId xmlns:a16="http://schemas.microsoft.com/office/drawing/2014/main" val="1442124609"/>
                    </a:ext>
                  </a:extLst>
                </a:gridCol>
                <a:gridCol w="2473798">
                  <a:extLst>
                    <a:ext uri="{9D8B030D-6E8A-4147-A177-3AD203B41FA5}">
                      <a16:colId xmlns:a16="http://schemas.microsoft.com/office/drawing/2014/main" val="3603859997"/>
                    </a:ext>
                  </a:extLst>
                </a:gridCol>
                <a:gridCol w="314296">
                  <a:extLst>
                    <a:ext uri="{9D8B030D-6E8A-4147-A177-3AD203B41FA5}">
                      <a16:colId xmlns:a16="http://schemas.microsoft.com/office/drawing/2014/main" val="4076488391"/>
                    </a:ext>
                  </a:extLst>
                </a:gridCol>
                <a:gridCol w="266463">
                  <a:extLst>
                    <a:ext uri="{9D8B030D-6E8A-4147-A177-3AD203B41FA5}">
                      <a16:colId xmlns:a16="http://schemas.microsoft.com/office/drawing/2014/main" val="3254101706"/>
                    </a:ext>
                  </a:extLst>
                </a:gridCol>
                <a:gridCol w="347856">
                  <a:extLst>
                    <a:ext uri="{9D8B030D-6E8A-4147-A177-3AD203B41FA5}">
                      <a16:colId xmlns:a16="http://schemas.microsoft.com/office/drawing/2014/main" val="3712391277"/>
                    </a:ext>
                  </a:extLst>
                </a:gridCol>
                <a:gridCol w="258406">
                  <a:extLst>
                    <a:ext uri="{9D8B030D-6E8A-4147-A177-3AD203B41FA5}">
                      <a16:colId xmlns:a16="http://schemas.microsoft.com/office/drawing/2014/main" val="3643425350"/>
                    </a:ext>
                  </a:extLst>
                </a:gridCol>
                <a:gridCol w="344850">
                  <a:extLst>
                    <a:ext uri="{9D8B030D-6E8A-4147-A177-3AD203B41FA5}">
                      <a16:colId xmlns:a16="http://schemas.microsoft.com/office/drawing/2014/main" val="2527660299"/>
                    </a:ext>
                  </a:extLst>
                </a:gridCol>
                <a:gridCol w="387611">
                  <a:extLst>
                    <a:ext uri="{9D8B030D-6E8A-4147-A177-3AD203B41FA5}">
                      <a16:colId xmlns:a16="http://schemas.microsoft.com/office/drawing/2014/main" val="3641075278"/>
                    </a:ext>
                  </a:extLst>
                </a:gridCol>
                <a:gridCol w="298006">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9" name="表格 8">
            <a:extLst>
              <a:ext uri="{FF2B5EF4-FFF2-40B4-BE49-F238E27FC236}">
                <a16:creationId xmlns:a16="http://schemas.microsoft.com/office/drawing/2014/main" id="{EDEC4AD9-F1CD-749A-8606-30FE2E5EDC82}"/>
              </a:ext>
            </a:extLst>
          </p:cNvPr>
          <p:cNvGraphicFramePr>
            <a:graphicFrameLocks noGrp="1"/>
          </p:cNvGraphicFramePr>
          <p:nvPr>
            <p:extLst>
              <p:ext uri="{D42A27DB-BD31-4B8C-83A1-F6EECF244321}">
                <p14:modId xmlns:p14="http://schemas.microsoft.com/office/powerpoint/2010/main" val="3633815220"/>
              </p:ext>
            </p:extLst>
          </p:nvPr>
        </p:nvGraphicFramePr>
        <p:xfrm>
          <a:off x="80335" y="4284284"/>
          <a:ext cx="5929907" cy="1143743"/>
        </p:xfrm>
        <a:graphic>
          <a:graphicData uri="http://schemas.openxmlformats.org/drawingml/2006/table">
            <a:tbl>
              <a:tblPr/>
              <a:tblGrid>
                <a:gridCol w="400450">
                  <a:extLst>
                    <a:ext uri="{9D8B030D-6E8A-4147-A177-3AD203B41FA5}">
                      <a16:colId xmlns:a16="http://schemas.microsoft.com/office/drawing/2014/main" val="495084399"/>
                    </a:ext>
                  </a:extLst>
                </a:gridCol>
                <a:gridCol w="229517">
                  <a:extLst>
                    <a:ext uri="{9D8B030D-6E8A-4147-A177-3AD203B41FA5}">
                      <a16:colId xmlns:a16="http://schemas.microsoft.com/office/drawing/2014/main" val="3614210242"/>
                    </a:ext>
                  </a:extLst>
                </a:gridCol>
                <a:gridCol w="571875">
                  <a:extLst>
                    <a:ext uri="{9D8B030D-6E8A-4147-A177-3AD203B41FA5}">
                      <a16:colId xmlns:a16="http://schemas.microsoft.com/office/drawing/2014/main" val="1442124609"/>
                    </a:ext>
                  </a:extLst>
                </a:gridCol>
                <a:gridCol w="2152209">
                  <a:extLst>
                    <a:ext uri="{9D8B030D-6E8A-4147-A177-3AD203B41FA5}">
                      <a16:colId xmlns:a16="http://schemas.microsoft.com/office/drawing/2014/main" val="3603859997"/>
                    </a:ext>
                  </a:extLst>
                </a:gridCol>
                <a:gridCol w="470843">
                  <a:extLst>
                    <a:ext uri="{9D8B030D-6E8A-4147-A177-3AD203B41FA5}">
                      <a16:colId xmlns:a16="http://schemas.microsoft.com/office/drawing/2014/main" val="4076488391"/>
                    </a:ext>
                  </a:extLst>
                </a:gridCol>
                <a:gridCol w="370546">
                  <a:extLst>
                    <a:ext uri="{9D8B030D-6E8A-4147-A177-3AD203B41FA5}">
                      <a16:colId xmlns:a16="http://schemas.microsoft.com/office/drawing/2014/main" val="3254101706"/>
                    </a:ext>
                  </a:extLst>
                </a:gridCol>
                <a:gridCol w="337777">
                  <a:extLst>
                    <a:ext uri="{9D8B030D-6E8A-4147-A177-3AD203B41FA5}">
                      <a16:colId xmlns:a16="http://schemas.microsoft.com/office/drawing/2014/main" val="3712391277"/>
                    </a:ext>
                  </a:extLst>
                </a:gridCol>
                <a:gridCol w="288911">
                  <a:extLst>
                    <a:ext uri="{9D8B030D-6E8A-4147-A177-3AD203B41FA5}">
                      <a16:colId xmlns:a16="http://schemas.microsoft.com/office/drawing/2014/main" val="1461470061"/>
                    </a:ext>
                  </a:extLst>
                </a:gridCol>
                <a:gridCol w="327542">
                  <a:extLst>
                    <a:ext uri="{9D8B030D-6E8A-4147-A177-3AD203B41FA5}">
                      <a16:colId xmlns:a16="http://schemas.microsoft.com/office/drawing/2014/main" val="2527660299"/>
                    </a:ext>
                  </a:extLst>
                </a:gridCol>
                <a:gridCol w="379714">
                  <a:extLst>
                    <a:ext uri="{9D8B030D-6E8A-4147-A177-3AD203B41FA5}">
                      <a16:colId xmlns:a16="http://schemas.microsoft.com/office/drawing/2014/main" val="3641075278"/>
                    </a:ext>
                  </a:extLst>
                </a:gridCol>
                <a:gridCol w="400523">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customer transaction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42.3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Admin charge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graphicFrame>
        <p:nvGraphicFramePr>
          <p:cNvPr id="16" name="表格 15">
            <a:extLst>
              <a:ext uri="{FF2B5EF4-FFF2-40B4-BE49-F238E27FC236}">
                <a16:creationId xmlns:a16="http://schemas.microsoft.com/office/drawing/2014/main" id="{447E0974-6CFD-8AE1-8691-984C4E361CEB}"/>
              </a:ext>
            </a:extLst>
          </p:cNvPr>
          <p:cNvGraphicFramePr>
            <a:graphicFrameLocks noGrp="1"/>
          </p:cNvGraphicFramePr>
          <p:nvPr>
            <p:extLst>
              <p:ext uri="{D42A27DB-BD31-4B8C-83A1-F6EECF244321}">
                <p14:modId xmlns:p14="http://schemas.microsoft.com/office/powerpoint/2010/main" val="4191090791"/>
              </p:ext>
            </p:extLst>
          </p:nvPr>
        </p:nvGraphicFramePr>
        <p:xfrm>
          <a:off x="80335" y="5498428"/>
          <a:ext cx="5912712" cy="951098"/>
        </p:xfrm>
        <a:graphic>
          <a:graphicData uri="http://schemas.openxmlformats.org/drawingml/2006/table">
            <a:tbl>
              <a:tblPr/>
              <a:tblGrid>
                <a:gridCol w="399198">
                  <a:extLst>
                    <a:ext uri="{9D8B030D-6E8A-4147-A177-3AD203B41FA5}">
                      <a16:colId xmlns:a16="http://schemas.microsoft.com/office/drawing/2014/main" val="495084399"/>
                    </a:ext>
                  </a:extLst>
                </a:gridCol>
                <a:gridCol w="291996">
                  <a:extLst>
                    <a:ext uri="{9D8B030D-6E8A-4147-A177-3AD203B41FA5}">
                      <a16:colId xmlns:a16="http://schemas.microsoft.com/office/drawing/2014/main" val="3614210242"/>
                    </a:ext>
                  </a:extLst>
                </a:gridCol>
                <a:gridCol w="727549">
                  <a:extLst>
                    <a:ext uri="{9D8B030D-6E8A-4147-A177-3AD203B41FA5}">
                      <a16:colId xmlns:a16="http://schemas.microsoft.com/office/drawing/2014/main" val="1442124609"/>
                    </a:ext>
                  </a:extLst>
                </a:gridCol>
                <a:gridCol w="1925518">
                  <a:extLst>
                    <a:ext uri="{9D8B030D-6E8A-4147-A177-3AD203B41FA5}">
                      <a16:colId xmlns:a16="http://schemas.microsoft.com/office/drawing/2014/main" val="3603859997"/>
                    </a:ext>
                  </a:extLst>
                </a:gridCol>
                <a:gridCol w="350874">
                  <a:extLst>
                    <a:ext uri="{9D8B030D-6E8A-4147-A177-3AD203B41FA5}">
                      <a16:colId xmlns:a16="http://schemas.microsoft.com/office/drawing/2014/main" val="4076488391"/>
                    </a:ext>
                  </a:extLst>
                </a:gridCol>
                <a:gridCol w="349986">
                  <a:extLst>
                    <a:ext uri="{9D8B030D-6E8A-4147-A177-3AD203B41FA5}">
                      <a16:colId xmlns:a16="http://schemas.microsoft.com/office/drawing/2014/main" val="3254101706"/>
                    </a:ext>
                  </a:extLst>
                </a:gridCol>
                <a:gridCol w="425302">
                  <a:extLst>
                    <a:ext uri="{9D8B030D-6E8A-4147-A177-3AD203B41FA5}">
                      <a16:colId xmlns:a16="http://schemas.microsoft.com/office/drawing/2014/main" val="3712391277"/>
                    </a:ext>
                  </a:extLst>
                </a:gridCol>
                <a:gridCol w="286486">
                  <a:extLst>
                    <a:ext uri="{9D8B030D-6E8A-4147-A177-3AD203B41FA5}">
                      <a16:colId xmlns:a16="http://schemas.microsoft.com/office/drawing/2014/main" val="1461470061"/>
                    </a:ext>
                  </a:extLst>
                </a:gridCol>
                <a:gridCol w="321855">
                  <a:extLst>
                    <a:ext uri="{9D8B030D-6E8A-4147-A177-3AD203B41FA5}">
                      <a16:colId xmlns:a16="http://schemas.microsoft.com/office/drawing/2014/main" val="2527660299"/>
                    </a:ext>
                  </a:extLst>
                </a:gridCol>
                <a:gridCol w="483079">
                  <a:extLst>
                    <a:ext uri="{9D8B030D-6E8A-4147-A177-3AD203B41FA5}">
                      <a16:colId xmlns:a16="http://schemas.microsoft.com/office/drawing/2014/main" val="3641075278"/>
                    </a:ext>
                  </a:extLst>
                </a:gridCol>
                <a:gridCol w="350869">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Intercompany transaction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Dr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Rental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37.3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AFE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sp>
        <p:nvSpPr>
          <p:cNvPr id="2" name="对话气泡: 矩形 11">
            <a:extLst>
              <a:ext uri="{FF2B5EF4-FFF2-40B4-BE49-F238E27FC236}">
                <a16:creationId xmlns:a16="http://schemas.microsoft.com/office/drawing/2014/main" id="{FB545D16-F1B5-D591-B841-447E7C972141}"/>
              </a:ext>
            </a:extLst>
          </p:cNvPr>
          <p:cNvSpPr/>
          <p:nvPr/>
        </p:nvSpPr>
        <p:spPr>
          <a:xfrm>
            <a:off x="12388253" y="2895139"/>
            <a:ext cx="1912537" cy="2351147"/>
          </a:xfrm>
          <a:prstGeom prst="wedgeRectCallout">
            <a:avLst>
              <a:gd name="adj1" fmla="val -66641"/>
              <a:gd name="adj2" fmla="val -100502"/>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Confirmed with Accounting:</a:t>
            </a:r>
          </a:p>
          <a:p>
            <a:r>
              <a:rPr lang="en-US" altLang="zh-CN" sz="1200">
                <a:solidFill>
                  <a:schemeClr val="tx1"/>
                </a:solidFill>
              </a:rPr>
              <a:t>Upfront service has been cleared under LT-AR during normal lease term</a:t>
            </a:r>
          </a:p>
          <a:p>
            <a:r>
              <a:rPr lang="en-US" altLang="zh-CN" sz="1200">
                <a:solidFill>
                  <a:schemeClr val="tx1"/>
                </a:solidFill>
              </a:rPr>
              <a:t>During extension, no actual upfront service for customer, will recognize as interest income</a:t>
            </a:r>
          </a:p>
        </p:txBody>
      </p:sp>
    </p:spTree>
    <p:extLst>
      <p:ext uri="{BB962C8B-B14F-4D97-AF65-F5344CB8AC3E}">
        <p14:creationId xmlns:p14="http://schemas.microsoft.com/office/powerpoint/2010/main" val="302873001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8BAC15-C2F5-7006-8191-20AF0F332864}"/>
            </a:ext>
          </a:extLst>
        </p:cNvPr>
        <p:cNvGrpSpPr/>
        <p:nvPr/>
      </p:nvGrpSpPr>
      <p:grpSpPr>
        <a:xfrm>
          <a:off x="0" y="0"/>
          <a:ext cx="0" cy="0"/>
          <a:chOff x="0" y="0"/>
          <a:chExt cx="0" cy="0"/>
        </a:xfrm>
      </p:grpSpPr>
      <p:sp>
        <p:nvSpPr>
          <p:cNvPr id="4" name="文本框 3">
            <a:extLst>
              <a:ext uri="{FF2B5EF4-FFF2-40B4-BE49-F238E27FC236}">
                <a16:creationId xmlns:a16="http://schemas.microsoft.com/office/drawing/2014/main" id="{86D55962-4878-3397-F6E2-68FC0E8957CA}"/>
              </a:ext>
            </a:extLst>
          </p:cNvPr>
          <p:cNvSpPr txBox="1"/>
          <p:nvPr/>
        </p:nvSpPr>
        <p:spPr>
          <a:xfrm>
            <a:off x="247650" y="202684"/>
            <a:ext cx="6096000" cy="369332"/>
          </a:xfrm>
          <a:prstGeom prst="rect">
            <a:avLst/>
          </a:prstGeom>
          <a:noFill/>
        </p:spPr>
        <p:txBody>
          <a:bodyPr wrap="square">
            <a:spAutoFit/>
          </a:bodyPr>
          <a:lstStyle/>
          <a:p>
            <a:r>
              <a:rPr lang="zh-CN" altLang="en-US" b="1"/>
              <a:t>DaaS_S&amp;D_Managed Capex</a:t>
            </a:r>
          </a:p>
        </p:txBody>
      </p:sp>
      <p:graphicFrame>
        <p:nvGraphicFramePr>
          <p:cNvPr id="5" name="表格 4">
            <a:extLst>
              <a:ext uri="{FF2B5EF4-FFF2-40B4-BE49-F238E27FC236}">
                <a16:creationId xmlns:a16="http://schemas.microsoft.com/office/drawing/2014/main" id="{9A8FC4C0-1AC1-8008-054F-72D3EADC80B5}"/>
              </a:ext>
            </a:extLst>
          </p:cNvPr>
          <p:cNvGraphicFramePr>
            <a:graphicFrameLocks noGrp="1"/>
          </p:cNvGraphicFramePr>
          <p:nvPr>
            <p:extLst>
              <p:ext uri="{D42A27DB-BD31-4B8C-83A1-F6EECF244321}">
                <p14:modId xmlns:p14="http://schemas.microsoft.com/office/powerpoint/2010/main" val="3263630854"/>
              </p:ext>
            </p:extLst>
          </p:nvPr>
        </p:nvGraphicFramePr>
        <p:xfrm>
          <a:off x="342994" y="667617"/>
          <a:ext cx="6832508" cy="1143000"/>
        </p:xfrm>
        <a:graphic>
          <a:graphicData uri="http://schemas.openxmlformats.org/drawingml/2006/table">
            <a:tbl>
              <a:tblPr firstRow="1" bandRow="1">
                <a:tableStyleId>{3C2FFA5D-87B4-456A-9821-1D502468CF0F}</a:tableStyleId>
              </a:tblPr>
              <a:tblGrid>
                <a:gridCol w="751585">
                  <a:extLst>
                    <a:ext uri="{9D8B030D-6E8A-4147-A177-3AD203B41FA5}">
                      <a16:colId xmlns:a16="http://schemas.microsoft.com/office/drawing/2014/main" val="70466515"/>
                    </a:ext>
                  </a:extLst>
                </a:gridCol>
                <a:gridCol w="658637">
                  <a:extLst>
                    <a:ext uri="{9D8B030D-6E8A-4147-A177-3AD203B41FA5}">
                      <a16:colId xmlns:a16="http://schemas.microsoft.com/office/drawing/2014/main" val="869603910"/>
                    </a:ext>
                  </a:extLst>
                </a:gridCol>
                <a:gridCol w="702905">
                  <a:extLst>
                    <a:ext uri="{9D8B030D-6E8A-4147-A177-3AD203B41FA5}">
                      <a16:colId xmlns:a16="http://schemas.microsoft.com/office/drawing/2014/main" val="238663902"/>
                    </a:ext>
                  </a:extLst>
                </a:gridCol>
                <a:gridCol w="861237">
                  <a:extLst>
                    <a:ext uri="{9D8B030D-6E8A-4147-A177-3AD203B41FA5}">
                      <a16:colId xmlns:a16="http://schemas.microsoft.com/office/drawing/2014/main" val="4114365151"/>
                    </a:ext>
                  </a:extLst>
                </a:gridCol>
                <a:gridCol w="880154">
                  <a:extLst>
                    <a:ext uri="{9D8B030D-6E8A-4147-A177-3AD203B41FA5}">
                      <a16:colId xmlns:a16="http://schemas.microsoft.com/office/drawing/2014/main" val="4075178046"/>
                    </a:ext>
                  </a:extLst>
                </a:gridCol>
                <a:gridCol w="735995">
                  <a:extLst>
                    <a:ext uri="{9D8B030D-6E8A-4147-A177-3AD203B41FA5}">
                      <a16:colId xmlns:a16="http://schemas.microsoft.com/office/drawing/2014/main" val="973533418"/>
                    </a:ext>
                  </a:extLst>
                </a:gridCol>
                <a:gridCol w="712381">
                  <a:extLst>
                    <a:ext uri="{9D8B030D-6E8A-4147-A177-3AD203B41FA5}">
                      <a16:colId xmlns:a16="http://schemas.microsoft.com/office/drawing/2014/main" val="2377711782"/>
                    </a:ext>
                  </a:extLst>
                </a:gridCol>
                <a:gridCol w="656403">
                  <a:extLst>
                    <a:ext uri="{9D8B030D-6E8A-4147-A177-3AD203B41FA5}">
                      <a16:colId xmlns:a16="http://schemas.microsoft.com/office/drawing/2014/main" val="419016437"/>
                    </a:ext>
                  </a:extLst>
                </a:gridCol>
                <a:gridCol w="873211">
                  <a:extLst>
                    <a:ext uri="{9D8B030D-6E8A-4147-A177-3AD203B41FA5}">
                      <a16:colId xmlns:a16="http://schemas.microsoft.com/office/drawing/2014/main" val="221569069"/>
                    </a:ext>
                  </a:extLst>
                </a:gridCol>
              </a:tblGrid>
              <a:tr h="0">
                <a:tc>
                  <a:txBody>
                    <a:bodyPr/>
                    <a:lstStyle/>
                    <a:p>
                      <a:r>
                        <a:rPr lang="en-US" altLang="zh-CN" sz="1050">
                          <a:solidFill>
                            <a:sysClr val="windowText" lastClr="000000"/>
                          </a:solidFill>
                        </a:rPr>
                        <a:t>1. Offering</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9209">
                <a:tc>
                  <a:txBody>
                    <a:bodyPr/>
                    <a:lstStyle/>
                    <a:p>
                      <a:r>
                        <a:rPr lang="en-US" altLang="zh-CN" sz="1050">
                          <a:solidFill>
                            <a:sysClr val="windowText" lastClr="000000"/>
                          </a:solidFill>
                        </a:rPr>
                        <a:t>MSAAS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Lease/Finance Lease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7" name="表格 6">
            <a:extLst>
              <a:ext uri="{FF2B5EF4-FFF2-40B4-BE49-F238E27FC236}">
                <a16:creationId xmlns:a16="http://schemas.microsoft.com/office/drawing/2014/main" id="{615BD5AC-D745-2EFD-A894-DC17DD16C081}"/>
              </a:ext>
            </a:extLst>
          </p:cNvPr>
          <p:cNvGraphicFramePr>
            <a:graphicFrameLocks noGrp="1"/>
          </p:cNvGraphicFramePr>
          <p:nvPr>
            <p:extLst>
              <p:ext uri="{D42A27DB-BD31-4B8C-83A1-F6EECF244321}">
                <p14:modId xmlns:p14="http://schemas.microsoft.com/office/powerpoint/2010/main" val="1166543657"/>
              </p:ext>
            </p:extLst>
          </p:nvPr>
        </p:nvGraphicFramePr>
        <p:xfrm>
          <a:off x="6223867" y="2153705"/>
          <a:ext cx="5332397" cy="95547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42048">
                  <a:extLst>
                    <a:ext uri="{9D8B030D-6E8A-4147-A177-3AD203B41FA5}">
                      <a16:colId xmlns:a16="http://schemas.microsoft.com/office/drawing/2014/main" val="4076488391"/>
                    </a:ext>
                  </a:extLst>
                </a:gridCol>
                <a:gridCol w="342048">
                  <a:extLst>
                    <a:ext uri="{9D8B030D-6E8A-4147-A177-3AD203B41FA5}">
                      <a16:colId xmlns:a16="http://schemas.microsoft.com/office/drawing/2014/main" val="3254101706"/>
                    </a:ext>
                  </a:extLst>
                </a:gridCol>
                <a:gridCol w="279400">
                  <a:extLst>
                    <a:ext uri="{9D8B030D-6E8A-4147-A177-3AD203B41FA5}">
                      <a16:colId xmlns:a16="http://schemas.microsoft.com/office/drawing/2014/main" val="3712391277"/>
                    </a:ext>
                  </a:extLst>
                </a:gridCol>
                <a:gridCol w="358004">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286486">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highlight>
                            <a:srgbClr val="FFFF00"/>
                          </a:highligh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8" name="表格 7">
            <a:extLst>
              <a:ext uri="{FF2B5EF4-FFF2-40B4-BE49-F238E27FC236}">
                <a16:creationId xmlns:a16="http://schemas.microsoft.com/office/drawing/2014/main" id="{A48430CE-478B-9DB7-4468-7D54C6FC059A}"/>
              </a:ext>
            </a:extLst>
          </p:cNvPr>
          <p:cNvGraphicFramePr>
            <a:graphicFrameLocks noGrp="1"/>
          </p:cNvGraphicFramePr>
          <p:nvPr>
            <p:extLst>
              <p:ext uri="{D42A27DB-BD31-4B8C-83A1-F6EECF244321}">
                <p14:modId xmlns:p14="http://schemas.microsoft.com/office/powerpoint/2010/main" val="404777340"/>
              </p:ext>
            </p:extLst>
          </p:nvPr>
        </p:nvGraphicFramePr>
        <p:xfrm>
          <a:off x="6223867" y="3271077"/>
          <a:ext cx="5332396" cy="955479"/>
        </p:xfrm>
        <a:graphic>
          <a:graphicData uri="http://schemas.openxmlformats.org/drawingml/2006/table">
            <a:tbl>
              <a:tblPr/>
              <a:tblGrid>
                <a:gridCol w="430573">
                  <a:extLst>
                    <a:ext uri="{9D8B030D-6E8A-4147-A177-3AD203B41FA5}">
                      <a16:colId xmlns:a16="http://schemas.microsoft.com/office/drawing/2014/main" val="495084399"/>
                    </a:ext>
                  </a:extLst>
                </a:gridCol>
                <a:gridCol w="236750">
                  <a:extLst>
                    <a:ext uri="{9D8B030D-6E8A-4147-A177-3AD203B41FA5}">
                      <a16:colId xmlns:a16="http://schemas.microsoft.com/office/drawing/2014/main" val="3614210242"/>
                    </a:ext>
                  </a:extLst>
                </a:gridCol>
                <a:gridCol w="563436">
                  <a:extLst>
                    <a:ext uri="{9D8B030D-6E8A-4147-A177-3AD203B41FA5}">
                      <a16:colId xmlns:a16="http://schemas.microsoft.com/office/drawing/2014/main" val="1442124609"/>
                    </a:ext>
                  </a:extLst>
                </a:gridCol>
                <a:gridCol w="2048005">
                  <a:extLst>
                    <a:ext uri="{9D8B030D-6E8A-4147-A177-3AD203B41FA5}">
                      <a16:colId xmlns:a16="http://schemas.microsoft.com/office/drawing/2014/main" val="3603859997"/>
                    </a:ext>
                  </a:extLst>
                </a:gridCol>
                <a:gridCol w="336788">
                  <a:extLst>
                    <a:ext uri="{9D8B030D-6E8A-4147-A177-3AD203B41FA5}">
                      <a16:colId xmlns:a16="http://schemas.microsoft.com/office/drawing/2014/main" val="4076488391"/>
                    </a:ext>
                  </a:extLst>
                </a:gridCol>
                <a:gridCol w="336788">
                  <a:extLst>
                    <a:ext uri="{9D8B030D-6E8A-4147-A177-3AD203B41FA5}">
                      <a16:colId xmlns:a16="http://schemas.microsoft.com/office/drawing/2014/main" val="3254101706"/>
                    </a:ext>
                  </a:extLst>
                </a:gridCol>
                <a:gridCol w="357108">
                  <a:extLst>
                    <a:ext uri="{9D8B030D-6E8A-4147-A177-3AD203B41FA5}">
                      <a16:colId xmlns:a16="http://schemas.microsoft.com/office/drawing/2014/main" val="3712391277"/>
                    </a:ext>
                  </a:extLst>
                </a:gridCol>
                <a:gridCol w="352498">
                  <a:extLst>
                    <a:ext uri="{9D8B030D-6E8A-4147-A177-3AD203B41FA5}">
                      <a16:colId xmlns:a16="http://schemas.microsoft.com/office/drawing/2014/main" val="2527660299"/>
                    </a:ext>
                  </a:extLst>
                </a:gridCol>
                <a:gridCol w="388370">
                  <a:extLst>
                    <a:ext uri="{9D8B030D-6E8A-4147-A177-3AD203B41FA5}">
                      <a16:colId xmlns:a16="http://schemas.microsoft.com/office/drawing/2014/main" val="3641075278"/>
                    </a:ext>
                  </a:extLst>
                </a:gridCol>
                <a:gridCol w="282080">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Interco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9" name="表格 8">
            <a:extLst>
              <a:ext uri="{FF2B5EF4-FFF2-40B4-BE49-F238E27FC236}">
                <a16:creationId xmlns:a16="http://schemas.microsoft.com/office/drawing/2014/main" id="{7BE86618-269F-CC7B-FF31-86E2B382152D}"/>
              </a:ext>
            </a:extLst>
          </p:cNvPr>
          <p:cNvGraphicFramePr>
            <a:graphicFrameLocks noGrp="1"/>
          </p:cNvGraphicFramePr>
          <p:nvPr>
            <p:extLst>
              <p:ext uri="{D42A27DB-BD31-4B8C-83A1-F6EECF244321}">
                <p14:modId xmlns:p14="http://schemas.microsoft.com/office/powerpoint/2010/main" val="4151596867"/>
              </p:ext>
            </p:extLst>
          </p:nvPr>
        </p:nvGraphicFramePr>
        <p:xfrm>
          <a:off x="342994" y="2153706"/>
          <a:ext cx="5415683" cy="95547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42048">
                  <a:extLst>
                    <a:ext uri="{9D8B030D-6E8A-4147-A177-3AD203B41FA5}">
                      <a16:colId xmlns:a16="http://schemas.microsoft.com/office/drawing/2014/main" val="4076488391"/>
                    </a:ext>
                  </a:extLst>
                </a:gridCol>
                <a:gridCol w="342048">
                  <a:extLst>
                    <a:ext uri="{9D8B030D-6E8A-4147-A177-3AD203B41FA5}">
                      <a16:colId xmlns:a16="http://schemas.microsoft.com/office/drawing/2014/main" val="3254101706"/>
                    </a:ext>
                  </a:extLst>
                </a:gridCol>
                <a:gridCol w="362686">
                  <a:extLst>
                    <a:ext uri="{9D8B030D-6E8A-4147-A177-3AD203B41FA5}">
                      <a16:colId xmlns:a16="http://schemas.microsoft.com/office/drawing/2014/main" val="3712391277"/>
                    </a:ext>
                  </a:extLst>
                </a:gridCol>
                <a:gridCol w="358004">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286486">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Interco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2" name="对话气泡: 矩形 1">
            <a:extLst>
              <a:ext uri="{FF2B5EF4-FFF2-40B4-BE49-F238E27FC236}">
                <a16:creationId xmlns:a16="http://schemas.microsoft.com/office/drawing/2014/main" id="{C8526880-6BB8-9EF4-0FEE-7F1B99C98826}"/>
              </a:ext>
            </a:extLst>
          </p:cNvPr>
          <p:cNvSpPr/>
          <p:nvPr/>
        </p:nvSpPr>
        <p:spPr>
          <a:xfrm>
            <a:off x="3397646" y="3600220"/>
            <a:ext cx="2078121" cy="626336"/>
          </a:xfrm>
          <a:prstGeom prst="wedgeRectCallout">
            <a:avLst>
              <a:gd name="adj1" fmla="val 115343"/>
              <a:gd name="adj2" fmla="val -16603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a:solidFill>
                  <a:schemeClr val="tx1"/>
                </a:solidFill>
              </a:rPr>
              <a:t>Non leasing using 1130100</a:t>
            </a:r>
            <a:endParaRPr lang="zh-CN" altLang="en-US" sz="1200">
              <a:solidFill>
                <a:schemeClr val="tx1"/>
              </a:solidFill>
            </a:endParaRPr>
          </a:p>
        </p:txBody>
      </p:sp>
    </p:spTree>
    <p:extLst>
      <p:ext uri="{BB962C8B-B14F-4D97-AF65-F5344CB8AC3E}">
        <p14:creationId xmlns:p14="http://schemas.microsoft.com/office/powerpoint/2010/main" val="106702426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20A1DD-3154-2FD6-0F35-A61FAAA6410A}"/>
            </a:ext>
          </a:extLst>
        </p:cNvPr>
        <p:cNvGrpSpPr/>
        <p:nvPr/>
      </p:nvGrpSpPr>
      <p:grpSpPr>
        <a:xfrm>
          <a:off x="0" y="0"/>
          <a:ext cx="0" cy="0"/>
          <a:chOff x="0" y="0"/>
          <a:chExt cx="0" cy="0"/>
        </a:xfrm>
      </p:grpSpPr>
      <p:sp>
        <p:nvSpPr>
          <p:cNvPr id="6" name="文本框 5">
            <a:extLst>
              <a:ext uri="{FF2B5EF4-FFF2-40B4-BE49-F238E27FC236}">
                <a16:creationId xmlns:a16="http://schemas.microsoft.com/office/drawing/2014/main" id="{242CDFD5-CAB2-5400-1D51-D8ACF3AE509B}"/>
              </a:ext>
            </a:extLst>
          </p:cNvPr>
          <p:cNvSpPr txBox="1"/>
          <p:nvPr/>
        </p:nvSpPr>
        <p:spPr>
          <a:xfrm>
            <a:off x="247650" y="202684"/>
            <a:ext cx="6096000" cy="369332"/>
          </a:xfrm>
          <a:prstGeom prst="rect">
            <a:avLst/>
          </a:prstGeom>
          <a:noFill/>
        </p:spPr>
        <p:txBody>
          <a:bodyPr wrap="square">
            <a:spAutoFit/>
          </a:bodyPr>
          <a:lstStyle/>
          <a:p>
            <a:r>
              <a:rPr lang="zh-CN" altLang="en-US" b="1"/>
              <a:t>DaaS_S&amp;D_Managed Capex</a:t>
            </a:r>
          </a:p>
        </p:txBody>
      </p:sp>
      <p:graphicFrame>
        <p:nvGraphicFramePr>
          <p:cNvPr id="7" name="表格 6">
            <a:extLst>
              <a:ext uri="{FF2B5EF4-FFF2-40B4-BE49-F238E27FC236}">
                <a16:creationId xmlns:a16="http://schemas.microsoft.com/office/drawing/2014/main" id="{D063FA1B-7D71-8EB1-FCB2-9E4F42572961}"/>
              </a:ext>
            </a:extLst>
          </p:cNvPr>
          <p:cNvGraphicFramePr>
            <a:graphicFrameLocks noGrp="1"/>
          </p:cNvGraphicFramePr>
          <p:nvPr>
            <p:extLst>
              <p:ext uri="{D42A27DB-BD31-4B8C-83A1-F6EECF244321}">
                <p14:modId xmlns:p14="http://schemas.microsoft.com/office/powerpoint/2010/main" val="2007206875"/>
              </p:ext>
            </p:extLst>
          </p:nvPr>
        </p:nvGraphicFramePr>
        <p:xfrm>
          <a:off x="380369" y="2115914"/>
          <a:ext cx="5963281" cy="955479"/>
        </p:xfrm>
        <a:graphic>
          <a:graphicData uri="http://schemas.openxmlformats.org/drawingml/2006/table">
            <a:tbl>
              <a:tblPr/>
              <a:tblGrid>
                <a:gridCol w="417558">
                  <a:extLst>
                    <a:ext uri="{9D8B030D-6E8A-4147-A177-3AD203B41FA5}">
                      <a16:colId xmlns:a16="http://schemas.microsoft.com/office/drawing/2014/main" val="495084399"/>
                    </a:ext>
                  </a:extLst>
                </a:gridCol>
                <a:gridCol w="229594">
                  <a:extLst>
                    <a:ext uri="{9D8B030D-6E8A-4147-A177-3AD203B41FA5}">
                      <a16:colId xmlns:a16="http://schemas.microsoft.com/office/drawing/2014/main" val="3614210242"/>
                    </a:ext>
                  </a:extLst>
                </a:gridCol>
                <a:gridCol w="546405">
                  <a:extLst>
                    <a:ext uri="{9D8B030D-6E8A-4147-A177-3AD203B41FA5}">
                      <a16:colId xmlns:a16="http://schemas.microsoft.com/office/drawing/2014/main" val="1442124609"/>
                    </a:ext>
                  </a:extLst>
                </a:gridCol>
                <a:gridCol w="1986102">
                  <a:extLst>
                    <a:ext uri="{9D8B030D-6E8A-4147-A177-3AD203B41FA5}">
                      <a16:colId xmlns:a16="http://schemas.microsoft.com/office/drawing/2014/main" val="3603859997"/>
                    </a:ext>
                  </a:extLst>
                </a:gridCol>
                <a:gridCol w="326608">
                  <a:extLst>
                    <a:ext uri="{9D8B030D-6E8A-4147-A177-3AD203B41FA5}">
                      <a16:colId xmlns:a16="http://schemas.microsoft.com/office/drawing/2014/main" val="4076488391"/>
                    </a:ext>
                  </a:extLst>
                </a:gridCol>
                <a:gridCol w="326608">
                  <a:extLst>
                    <a:ext uri="{9D8B030D-6E8A-4147-A177-3AD203B41FA5}">
                      <a16:colId xmlns:a16="http://schemas.microsoft.com/office/drawing/2014/main" val="3254101706"/>
                    </a:ext>
                  </a:extLst>
                </a:gridCol>
                <a:gridCol w="266788">
                  <a:extLst>
                    <a:ext uri="{9D8B030D-6E8A-4147-A177-3AD203B41FA5}">
                      <a16:colId xmlns:a16="http://schemas.microsoft.com/office/drawing/2014/main" val="3712391277"/>
                    </a:ext>
                  </a:extLst>
                </a:gridCol>
                <a:gridCol w="319823">
                  <a:extLst>
                    <a:ext uri="{9D8B030D-6E8A-4147-A177-3AD203B41FA5}">
                      <a16:colId xmlns:a16="http://schemas.microsoft.com/office/drawing/2014/main" val="1056677705"/>
                    </a:ext>
                  </a:extLst>
                </a:gridCol>
                <a:gridCol w="341844">
                  <a:extLst>
                    <a:ext uri="{9D8B030D-6E8A-4147-A177-3AD203B41FA5}">
                      <a16:colId xmlns:a16="http://schemas.microsoft.com/office/drawing/2014/main" val="2527660299"/>
                    </a:ext>
                  </a:extLst>
                </a:gridCol>
                <a:gridCol w="376631">
                  <a:extLst>
                    <a:ext uri="{9D8B030D-6E8A-4147-A177-3AD203B41FA5}">
                      <a16:colId xmlns:a16="http://schemas.microsoft.com/office/drawing/2014/main" val="3641075278"/>
                    </a:ext>
                  </a:extLst>
                </a:gridCol>
                <a:gridCol w="825320">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highlight>
                            <a:srgbClr val="FFFF00"/>
                          </a:highlight>
                          <a:latin typeface="Arial" panose="020B0604020202020204" pitchFamily="34" charset="0"/>
                          <a:ea typeface="+mn-ea"/>
                          <a:cs typeface="+mn-cs"/>
                        </a:rPr>
                        <a:t>1130100</a:t>
                      </a: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1" name="表格 10">
            <a:extLst>
              <a:ext uri="{FF2B5EF4-FFF2-40B4-BE49-F238E27FC236}">
                <a16:creationId xmlns:a16="http://schemas.microsoft.com/office/drawing/2014/main" id="{041EC11C-C85E-0C5E-EFA1-710406ACFA9E}"/>
              </a:ext>
            </a:extLst>
          </p:cNvPr>
          <p:cNvGraphicFramePr>
            <a:graphicFrameLocks noGrp="1"/>
          </p:cNvGraphicFramePr>
          <p:nvPr>
            <p:extLst>
              <p:ext uri="{D42A27DB-BD31-4B8C-83A1-F6EECF244321}">
                <p14:modId xmlns:p14="http://schemas.microsoft.com/office/powerpoint/2010/main" val="648123380"/>
              </p:ext>
            </p:extLst>
          </p:nvPr>
        </p:nvGraphicFramePr>
        <p:xfrm>
          <a:off x="349344" y="772465"/>
          <a:ext cx="6636247" cy="1143000"/>
        </p:xfrm>
        <a:graphic>
          <a:graphicData uri="http://schemas.openxmlformats.org/drawingml/2006/table">
            <a:tbl>
              <a:tblPr firstRow="1" bandRow="1">
                <a:tableStyleId>{3C2FFA5D-87B4-456A-9821-1D502468CF0F}</a:tableStyleId>
              </a:tblPr>
              <a:tblGrid>
                <a:gridCol w="692647">
                  <a:extLst>
                    <a:ext uri="{9D8B030D-6E8A-4147-A177-3AD203B41FA5}">
                      <a16:colId xmlns:a16="http://schemas.microsoft.com/office/drawing/2014/main" val="70466515"/>
                    </a:ext>
                  </a:extLst>
                </a:gridCol>
                <a:gridCol w="680483">
                  <a:extLst>
                    <a:ext uri="{9D8B030D-6E8A-4147-A177-3AD203B41FA5}">
                      <a16:colId xmlns:a16="http://schemas.microsoft.com/office/drawing/2014/main" val="869603910"/>
                    </a:ext>
                  </a:extLst>
                </a:gridCol>
                <a:gridCol w="777907">
                  <a:extLst>
                    <a:ext uri="{9D8B030D-6E8A-4147-A177-3AD203B41FA5}">
                      <a16:colId xmlns:a16="http://schemas.microsoft.com/office/drawing/2014/main" val="238663902"/>
                    </a:ext>
                  </a:extLst>
                </a:gridCol>
                <a:gridCol w="876688">
                  <a:extLst>
                    <a:ext uri="{9D8B030D-6E8A-4147-A177-3AD203B41FA5}">
                      <a16:colId xmlns:a16="http://schemas.microsoft.com/office/drawing/2014/main" val="4114365151"/>
                    </a:ext>
                  </a:extLst>
                </a:gridCol>
                <a:gridCol w="664582">
                  <a:extLst>
                    <a:ext uri="{9D8B030D-6E8A-4147-A177-3AD203B41FA5}">
                      <a16:colId xmlns:a16="http://schemas.microsoft.com/office/drawing/2014/main" val="4075178046"/>
                    </a:ext>
                  </a:extLst>
                </a:gridCol>
                <a:gridCol w="692691">
                  <a:extLst>
                    <a:ext uri="{9D8B030D-6E8A-4147-A177-3AD203B41FA5}">
                      <a16:colId xmlns:a16="http://schemas.microsoft.com/office/drawing/2014/main" val="973533418"/>
                    </a:ext>
                  </a:extLst>
                </a:gridCol>
                <a:gridCol w="725162">
                  <a:extLst>
                    <a:ext uri="{9D8B030D-6E8A-4147-A177-3AD203B41FA5}">
                      <a16:colId xmlns:a16="http://schemas.microsoft.com/office/drawing/2014/main" val="2377711782"/>
                    </a:ext>
                  </a:extLst>
                </a:gridCol>
                <a:gridCol w="768454">
                  <a:extLst>
                    <a:ext uri="{9D8B030D-6E8A-4147-A177-3AD203B41FA5}">
                      <a16:colId xmlns:a16="http://schemas.microsoft.com/office/drawing/2014/main" val="419016437"/>
                    </a:ext>
                  </a:extLst>
                </a:gridCol>
                <a:gridCol w="757633">
                  <a:extLst>
                    <a:ext uri="{9D8B030D-6E8A-4147-A177-3AD203B41FA5}">
                      <a16:colId xmlns:a16="http://schemas.microsoft.com/office/drawing/2014/main" val="221569069"/>
                    </a:ext>
                  </a:extLst>
                </a:gridCol>
              </a:tblGrid>
              <a:tr h="0">
                <a:tc>
                  <a:txBody>
                    <a:bodyPr/>
                    <a:lstStyle/>
                    <a:p>
                      <a:r>
                        <a:rPr lang="en-US" altLang="zh-CN" sz="1050">
                          <a:solidFill>
                            <a:sysClr val="windowText" lastClr="000000"/>
                          </a:solidFill>
                        </a:rPr>
                        <a:t>1. Offering</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9209">
                <a:tc>
                  <a:txBody>
                    <a:bodyPr/>
                    <a:lstStyle/>
                    <a:p>
                      <a:r>
                        <a:rPr lang="en-US" altLang="zh-CN" sz="1050">
                          <a:solidFill>
                            <a:sysClr val="windowText" lastClr="000000"/>
                          </a:solidFill>
                        </a:rPr>
                        <a:t>MSAAS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Lease/Finance Lease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2" name="对话气泡: 矩形 1">
            <a:extLst>
              <a:ext uri="{FF2B5EF4-FFF2-40B4-BE49-F238E27FC236}">
                <a16:creationId xmlns:a16="http://schemas.microsoft.com/office/drawing/2014/main" id="{72615250-8036-D362-3311-2D6646A7EA99}"/>
              </a:ext>
            </a:extLst>
          </p:cNvPr>
          <p:cNvSpPr/>
          <p:nvPr/>
        </p:nvSpPr>
        <p:spPr>
          <a:xfrm>
            <a:off x="165348" y="3578955"/>
            <a:ext cx="2078121" cy="626336"/>
          </a:xfrm>
          <a:prstGeom prst="wedgeRectCallout">
            <a:avLst>
              <a:gd name="adj1" fmla="val -7963"/>
              <a:gd name="adj2" fmla="val -15754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a:solidFill>
                  <a:schemeClr val="tx1"/>
                </a:solidFill>
              </a:rPr>
              <a:t>Non leasing using 1130100</a:t>
            </a:r>
            <a:endParaRPr lang="zh-CN" altLang="en-US" sz="1200">
              <a:solidFill>
                <a:schemeClr val="tx1"/>
              </a:solidFill>
            </a:endParaRPr>
          </a:p>
        </p:txBody>
      </p:sp>
    </p:spTree>
    <p:extLst>
      <p:ext uri="{BB962C8B-B14F-4D97-AF65-F5344CB8AC3E}">
        <p14:creationId xmlns:p14="http://schemas.microsoft.com/office/powerpoint/2010/main" val="172765997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15C10A-E5F1-91A2-1C6F-1C0C9075F3C5}"/>
            </a:ext>
          </a:extLst>
        </p:cNvPr>
        <p:cNvGrpSpPr/>
        <p:nvPr/>
      </p:nvGrpSpPr>
      <p:grpSpPr>
        <a:xfrm>
          <a:off x="0" y="0"/>
          <a:ext cx="0" cy="0"/>
          <a:chOff x="0" y="0"/>
          <a:chExt cx="0" cy="0"/>
        </a:xfrm>
      </p:grpSpPr>
      <p:graphicFrame>
        <p:nvGraphicFramePr>
          <p:cNvPr id="4" name="表格 17">
            <a:extLst>
              <a:ext uri="{FF2B5EF4-FFF2-40B4-BE49-F238E27FC236}">
                <a16:creationId xmlns:a16="http://schemas.microsoft.com/office/drawing/2014/main" id="{55D8DC23-E7AA-8EC7-751C-91C61A5367A7}"/>
              </a:ext>
            </a:extLst>
          </p:cNvPr>
          <p:cNvGraphicFramePr>
            <a:graphicFrameLocks noGrp="1"/>
          </p:cNvGraphicFramePr>
          <p:nvPr>
            <p:extLst>
              <p:ext uri="{D42A27DB-BD31-4B8C-83A1-F6EECF244321}">
                <p14:modId xmlns:p14="http://schemas.microsoft.com/office/powerpoint/2010/main" val="1665385024"/>
              </p:ext>
            </p:extLst>
          </p:nvPr>
        </p:nvGraphicFramePr>
        <p:xfrm>
          <a:off x="239688" y="744279"/>
          <a:ext cx="11225024" cy="5611985"/>
        </p:xfrm>
        <a:graphic>
          <a:graphicData uri="http://schemas.openxmlformats.org/drawingml/2006/table">
            <a:tbl>
              <a:tblPr>
                <a:tableStyleId>{5C22544A-7EE6-4342-B048-85BDC9FD1C3A}</a:tableStyleId>
              </a:tblPr>
              <a:tblGrid>
                <a:gridCol w="588441">
                  <a:extLst>
                    <a:ext uri="{9D8B030D-6E8A-4147-A177-3AD203B41FA5}">
                      <a16:colId xmlns:a16="http://schemas.microsoft.com/office/drawing/2014/main" val="4000147225"/>
                    </a:ext>
                  </a:extLst>
                </a:gridCol>
                <a:gridCol w="688454">
                  <a:extLst>
                    <a:ext uri="{9D8B030D-6E8A-4147-A177-3AD203B41FA5}">
                      <a16:colId xmlns:a16="http://schemas.microsoft.com/office/drawing/2014/main" val="3461385236"/>
                    </a:ext>
                  </a:extLst>
                </a:gridCol>
                <a:gridCol w="993734">
                  <a:extLst>
                    <a:ext uri="{9D8B030D-6E8A-4147-A177-3AD203B41FA5}">
                      <a16:colId xmlns:a16="http://schemas.microsoft.com/office/drawing/2014/main" val="483276459"/>
                    </a:ext>
                  </a:extLst>
                </a:gridCol>
                <a:gridCol w="851471">
                  <a:extLst>
                    <a:ext uri="{9D8B030D-6E8A-4147-A177-3AD203B41FA5}">
                      <a16:colId xmlns:a16="http://schemas.microsoft.com/office/drawing/2014/main" val="3787700465"/>
                    </a:ext>
                  </a:extLst>
                </a:gridCol>
                <a:gridCol w="701897">
                  <a:extLst>
                    <a:ext uri="{9D8B030D-6E8A-4147-A177-3AD203B41FA5}">
                      <a16:colId xmlns:a16="http://schemas.microsoft.com/office/drawing/2014/main" val="2232385994"/>
                    </a:ext>
                  </a:extLst>
                </a:gridCol>
                <a:gridCol w="515416">
                  <a:extLst>
                    <a:ext uri="{9D8B030D-6E8A-4147-A177-3AD203B41FA5}">
                      <a16:colId xmlns:a16="http://schemas.microsoft.com/office/drawing/2014/main" val="2624620257"/>
                    </a:ext>
                  </a:extLst>
                </a:gridCol>
                <a:gridCol w="808725">
                  <a:extLst>
                    <a:ext uri="{9D8B030D-6E8A-4147-A177-3AD203B41FA5}">
                      <a16:colId xmlns:a16="http://schemas.microsoft.com/office/drawing/2014/main" val="109940872"/>
                    </a:ext>
                  </a:extLst>
                </a:gridCol>
                <a:gridCol w="688454">
                  <a:extLst>
                    <a:ext uri="{9D8B030D-6E8A-4147-A177-3AD203B41FA5}">
                      <a16:colId xmlns:a16="http://schemas.microsoft.com/office/drawing/2014/main" val="2389772416"/>
                    </a:ext>
                  </a:extLst>
                </a:gridCol>
                <a:gridCol w="754424">
                  <a:extLst>
                    <a:ext uri="{9D8B030D-6E8A-4147-A177-3AD203B41FA5}">
                      <a16:colId xmlns:a16="http://schemas.microsoft.com/office/drawing/2014/main" val="874425061"/>
                    </a:ext>
                  </a:extLst>
                </a:gridCol>
                <a:gridCol w="759444">
                  <a:extLst>
                    <a:ext uri="{9D8B030D-6E8A-4147-A177-3AD203B41FA5}">
                      <a16:colId xmlns:a16="http://schemas.microsoft.com/office/drawing/2014/main" val="1465838711"/>
                    </a:ext>
                  </a:extLst>
                </a:gridCol>
                <a:gridCol w="2091804">
                  <a:extLst>
                    <a:ext uri="{9D8B030D-6E8A-4147-A177-3AD203B41FA5}">
                      <a16:colId xmlns:a16="http://schemas.microsoft.com/office/drawing/2014/main" val="2517919499"/>
                    </a:ext>
                  </a:extLst>
                </a:gridCol>
                <a:gridCol w="1782760">
                  <a:extLst>
                    <a:ext uri="{9D8B030D-6E8A-4147-A177-3AD203B41FA5}">
                      <a16:colId xmlns:a16="http://schemas.microsoft.com/office/drawing/2014/main" val="2358262028"/>
                    </a:ext>
                  </a:extLst>
                </a:gridCol>
              </a:tblGrid>
              <a:tr h="601273">
                <a:tc>
                  <a:txBody>
                    <a:bodyPr/>
                    <a:lstStyle/>
                    <a:p>
                      <a:pPr algn="l" fontAlgn="b"/>
                      <a:r>
                        <a:rPr lang="en-US" sz="1000" b="1" u="none" strike="noStrike">
                          <a:effectLst/>
                        </a:rPr>
                        <a:t>1.Offering</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2. Business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3.Contract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4.Charge 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5. RTM</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6. Lease </a:t>
                      </a:r>
                    </a:p>
                    <a:p>
                      <a:pPr algn="l" fontAlgn="b"/>
                      <a:r>
                        <a:rPr lang="en-US" sz="1000" b="1" u="none" strike="noStrike">
                          <a:effectLst/>
                        </a:rPr>
                        <a:t>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7. Billing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8. Funding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9. Product Ctgry</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i="0" u="none" strike="noStrike">
                          <a:solidFill>
                            <a:srgbClr val="000000"/>
                          </a:solidFill>
                          <a:effectLst/>
                          <a:latin typeface="等线" panose="02010600030101010101" pitchFamily="2" charset="-122"/>
                          <a:ea typeface="等线" panose="02010600030101010101" pitchFamily="2" charset="-122"/>
                        </a:rPr>
                        <a:t>10. Fulfillment Method</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11. Events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12. Offering Elements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1316032673"/>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kern="1200">
                          <a:solidFill>
                            <a:schemeClr val="dk1"/>
                          </a:solidFill>
                          <a:effectLst/>
                          <a:latin typeface="+mn-lt"/>
                          <a:ea typeface="+mn-ea"/>
                          <a:cs typeface="+mn-cs"/>
                        </a:rPr>
                        <a:t>2.1 AFE</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4.1 Fixed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5.1 Direct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6.1 OL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7.1 Monthly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8.1 Internal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9.1 Lenovo</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kern="1200">
                          <a:solidFill>
                            <a:schemeClr val="tx1"/>
                          </a:solidFill>
                          <a:effectLst/>
                          <a:latin typeface="+mn-lt"/>
                          <a:ea typeface="+mn-ea"/>
                          <a:cs typeface="+mn-cs"/>
                        </a:rPr>
                        <a:t>Lenovo</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 Normal Pass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12.1 HW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5508739"/>
                  </a:ext>
                </a:extLst>
              </a:tr>
              <a:tr h="312929">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US" sz="1000" u="none" strike="noStrike" kern="1200">
                          <a:solidFill>
                            <a:schemeClr val="dk1"/>
                          </a:solidFill>
                          <a:effectLst/>
                          <a:latin typeface="+mn-lt"/>
                          <a:ea typeface="+mn-ea"/>
                          <a:cs typeface="+mn-cs"/>
                        </a:rPr>
                        <a:t>1.2</a:t>
                      </a:r>
                    </a:p>
                    <a:p>
                      <a:pPr marL="0" algn="l" defTabSz="914400" rtl="0" eaLnBrk="1" fontAlgn="b" latinLnBrk="0" hangingPunct="1"/>
                      <a:r>
                        <a:rPr lang="en-US" sz="1000" u="none" strike="noStrike" kern="1200">
                          <a:solidFill>
                            <a:schemeClr val="dk1"/>
                          </a:solidFill>
                          <a:effectLst/>
                          <a:latin typeface="+mn-lt"/>
                          <a:ea typeface="+mn-ea"/>
                          <a:cs typeface="+mn-cs"/>
                        </a:rPr>
                        <a:t>ISGLEASE</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noStrike" kern="1200">
                          <a:solidFill>
                            <a:schemeClr val="dk1"/>
                          </a:solidFill>
                          <a:effectLst/>
                          <a:latin typeface="+mn-lt"/>
                          <a:ea typeface="+mn-ea"/>
                          <a:cs typeface="+mn-cs"/>
                        </a:rPr>
                        <a:t>2.2 S&amp;D</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noStrike" kern="1200">
                          <a:solidFill>
                            <a:schemeClr val="dk1"/>
                          </a:solidFill>
                          <a:effectLst/>
                          <a:latin typeface="+mn-lt"/>
                          <a:ea typeface="+mn-ea"/>
                          <a:cs typeface="+mn-cs"/>
                        </a:rPr>
                        <a:t>3.2 MLA</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endParaRPr lang="en-US" sz="1000" u="none" strike="noStrike" kern="1200">
                        <a:solidFill>
                          <a:schemeClr val="dk1"/>
                        </a:solidFill>
                        <a:effectLst/>
                        <a:latin typeface="+mn-lt"/>
                        <a:ea typeface="+mn-ea"/>
                        <a:cs typeface="+mn-cs"/>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noStrike" kern="1200">
                          <a:solidFill>
                            <a:schemeClr val="dk1"/>
                          </a:solidFill>
                          <a:effectLst/>
                          <a:latin typeface="+mn-lt"/>
                          <a:ea typeface="+mn-ea"/>
                          <a:cs typeface="+mn-cs"/>
                        </a:rPr>
                        <a:t>5.2 indirect</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6.2 FL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noStrike" kern="1200">
                          <a:solidFill>
                            <a:schemeClr val="dk1"/>
                          </a:solidFill>
                          <a:effectLst/>
                          <a:latin typeface="+mn-lt"/>
                          <a:ea typeface="+mn-ea"/>
                          <a:cs typeface="+mn-cs"/>
                        </a:rPr>
                        <a:t>7.2 Quarterly</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noStrike" kern="1200">
                          <a:solidFill>
                            <a:schemeClr val="tx1"/>
                          </a:solidFill>
                          <a:effectLst/>
                          <a:latin typeface="+mn-lt"/>
                          <a:ea typeface="+mn-ea"/>
                          <a:cs typeface="+mn-cs"/>
                        </a:rPr>
                        <a:t>8.2 External</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US" altLang="zh-CN" sz="1000" u="none" strike="noStrike">
                          <a:solidFill>
                            <a:schemeClr val="tx1"/>
                          </a:solidFill>
                          <a:effectLst/>
                        </a:rPr>
                        <a:t>9.2 3PO</a:t>
                      </a:r>
                      <a:endParaRPr lang="en-US" altLang="zh-CN" sz="1000" b="0" i="0" u="none" strike="noStrike">
                        <a:solidFill>
                          <a:schemeClr val="tx1"/>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noStrike" kern="1200">
                          <a:solidFill>
                            <a:schemeClr val="tx1"/>
                          </a:solidFill>
                          <a:effectLst/>
                          <a:latin typeface="+mn-lt"/>
                          <a:ea typeface="+mn-ea"/>
                          <a:cs typeface="+mn-cs"/>
                        </a:rPr>
                        <a:t>Non-Lenovo</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11.2 EOT -termination</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12.2 SW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4318484"/>
                  </a:ext>
                </a:extLst>
              </a:tr>
              <a:tr h="312929">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endParaRPr lang="en-US" sz="1000" u="none" strike="noStrike" kern="1200">
                        <a:solidFill>
                          <a:schemeClr val="dk1"/>
                        </a:solidFill>
                        <a:effectLst/>
                        <a:latin typeface="+mn-lt"/>
                        <a:ea typeface="+mn-ea"/>
                        <a:cs typeface="+mn-cs"/>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noStrike" kern="1200">
                          <a:solidFill>
                            <a:schemeClr val="dk1"/>
                          </a:solidFill>
                          <a:effectLst/>
                          <a:latin typeface="+mn-lt"/>
                          <a:ea typeface="+mn-ea"/>
                          <a:cs typeface="+mn-cs"/>
                        </a:rPr>
                        <a:t>2.3 AFE HUB(M1a)</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kern="1200">
                          <a:solidFill>
                            <a:schemeClr val="dk1"/>
                          </a:solidFill>
                          <a:effectLst/>
                          <a:latin typeface="+mn-lt"/>
                          <a:ea typeface="+mn-ea"/>
                          <a:cs typeface="+mn-cs"/>
                        </a:rPr>
                        <a:t>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solidFill>
                            <a:schemeClr val="tx1"/>
                          </a:solidFill>
                          <a:effectLst/>
                        </a:rPr>
                        <a:t> </a:t>
                      </a:r>
                      <a:endParaRPr lang="zh-Hans" altLang="en-US" sz="1000" b="0" i="0" u="none" strike="noStrike">
                        <a:solidFill>
                          <a:schemeClr val="tx1"/>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solidFill>
                            <a:schemeClr val="tx1"/>
                          </a:solidFill>
                          <a:effectLst/>
                        </a:rPr>
                        <a:t> </a:t>
                      </a:r>
                      <a:endParaRPr lang="zh-Hans" altLang="en-US" sz="1000" b="0" i="0" u="none" strike="noStrike">
                        <a:solidFill>
                          <a:schemeClr val="tx1"/>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chemeClr val="tx1"/>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11.3 Early termination-</a:t>
                      </a:r>
                    </a:p>
                    <a:p>
                      <a:pPr algn="l" fontAlgn="b"/>
                      <a:r>
                        <a:rPr lang="en-US" sz="1000" u="none" strike="noStrike">
                          <a:effectLst/>
                        </a:rPr>
                        <a:t>Device Return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12.3 SVC - upfront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6459778"/>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11.4 Early termination-</a:t>
                      </a:r>
                    </a:p>
                    <a:p>
                      <a:pPr algn="l" fontAlgn="b"/>
                      <a:r>
                        <a:rPr lang="en-US" sz="1000" u="none" strike="noStrike">
                          <a:effectLst/>
                        </a:rPr>
                        <a:t>Device Lost/Stolen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12.4 SVC - upfront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766259"/>
                  </a:ext>
                </a:extLst>
              </a:tr>
              <a:tr h="343825">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11.5 Extension auto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Hans" sz="1000" u="none" strike="noStrike">
                          <a:effectLst/>
                        </a:rPr>
                        <a:t>12.5 SVC - upfront - not funded (one</a:t>
                      </a:r>
                      <a:r>
                        <a:rPr lang="zh-CN" altLang="en-US" sz="1000" u="none" strike="noStrike">
                          <a:effectLst/>
                        </a:rPr>
                        <a:t> </a:t>
                      </a:r>
                      <a:r>
                        <a:rPr lang="en-US" altLang="zh-Hans" sz="1000" u="none" strike="noStrike">
                          <a:effectLst/>
                        </a:rPr>
                        <a:t>time)</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7547337"/>
                  </a:ext>
                </a:extLst>
              </a:tr>
              <a:tr h="343825">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11.6 Extension with (fix/open)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12.6 SVC - on-going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7243363"/>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chemeClr val="tx1"/>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11.7 Flex pause/un-pause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12.7 SVC - on-going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963629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11.8 Flex down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endParaRPr lang="en-US" sz="1000" u="none" strike="sngStrike" kern="1200">
                        <a:solidFill>
                          <a:schemeClr val="dk1"/>
                        </a:solidFill>
                        <a:effectLst/>
                        <a:highlight>
                          <a:srgbClr val="D1D1D1"/>
                        </a:highlight>
                        <a:latin typeface="+mn-lt"/>
                        <a:ea typeface="+mn-ea"/>
                        <a:cs typeface="+mn-cs"/>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6895235"/>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11.9 Swap stock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50104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11.10 Damage fund/charge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8670641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11.11 SOR with Recourse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2673700"/>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11.12 SOR with non-Recourse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zh-Hans" altLang="en-US" sz="1000" u="none" strike="noStrike">
                          <a:effectLst/>
                        </a:rPr>
                        <a:t> </a:t>
                      </a:r>
                      <a:endParaRPr lang="en-US" altLang="zh-CN"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139168"/>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11.13 Syndication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215011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rPr>
                        <a:t>11.14 Asset Remarketing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6222521"/>
                  </a:ext>
                </a:extLst>
              </a:tr>
              <a:tr h="567914">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11.15 Manual adjustment – </a:t>
                      </a:r>
                    </a:p>
                    <a:p>
                      <a:pPr algn="l" fontAlgn="b"/>
                      <a:r>
                        <a:rPr lang="en-US" sz="1000" u="none" strike="noStrike">
                          <a:effectLst/>
                        </a:rPr>
                        <a:t>Credit /Debit Memo,Cancellation</a:t>
                      </a:r>
                    </a:p>
                    <a:p>
                      <a:pPr algn="l" fontAlgn="b"/>
                      <a:r>
                        <a:rPr lang="en-US" sz="1000" u="none" strike="noStrike">
                          <a:effectLst/>
                        </a:rPr>
                        <a:t>/Reverse</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348367"/>
                  </a:ext>
                </a:extLst>
              </a:tr>
            </a:tbl>
          </a:graphicData>
        </a:graphic>
      </p:graphicFrame>
      <p:sp>
        <p:nvSpPr>
          <p:cNvPr id="5" name="文本框 16">
            <a:extLst>
              <a:ext uri="{FF2B5EF4-FFF2-40B4-BE49-F238E27FC236}">
                <a16:creationId xmlns:a16="http://schemas.microsoft.com/office/drawing/2014/main" id="{06F860A1-4252-AB51-58AB-598356CFEBAF}"/>
              </a:ext>
            </a:extLst>
          </p:cNvPr>
          <p:cNvSpPr txBox="1"/>
          <p:nvPr/>
        </p:nvSpPr>
        <p:spPr>
          <a:xfrm>
            <a:off x="195320" y="131113"/>
            <a:ext cx="4470947" cy="400110"/>
          </a:xfrm>
          <a:prstGeom prst="rect">
            <a:avLst/>
          </a:prstGeom>
          <a:noFill/>
        </p:spPr>
        <p:txBody>
          <a:bodyPr wrap="square" rtlCol="0">
            <a:spAutoFit/>
          </a:bodyPr>
          <a:lstStyle/>
          <a:p>
            <a:r>
              <a:rPr lang="nl-NL" altLang="zh-CN" sz="2000" b="1"/>
              <a:t>ISGLEASE_S&amp;D_MLA</a:t>
            </a:r>
            <a:endParaRPr lang="zh-CN" altLang="en-US" sz="2000" b="1"/>
          </a:p>
        </p:txBody>
      </p:sp>
    </p:spTree>
    <p:extLst>
      <p:ext uri="{BB962C8B-B14F-4D97-AF65-F5344CB8AC3E}">
        <p14:creationId xmlns:p14="http://schemas.microsoft.com/office/powerpoint/2010/main" val="221220047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556153-3B73-E20A-1ABA-C14836EEAE46}"/>
            </a:ext>
          </a:extLst>
        </p:cNvPr>
        <p:cNvGrpSpPr/>
        <p:nvPr/>
      </p:nvGrpSpPr>
      <p:grpSpPr>
        <a:xfrm>
          <a:off x="0" y="0"/>
          <a:ext cx="0" cy="0"/>
          <a:chOff x="0" y="0"/>
          <a:chExt cx="0" cy="0"/>
        </a:xfrm>
      </p:grpSpPr>
      <p:sp>
        <p:nvSpPr>
          <p:cNvPr id="28" name="文本框 27">
            <a:extLst>
              <a:ext uri="{FF2B5EF4-FFF2-40B4-BE49-F238E27FC236}">
                <a16:creationId xmlns:a16="http://schemas.microsoft.com/office/drawing/2014/main" id="{EB3D00FE-F7AD-3054-5676-E6EB10F71962}"/>
              </a:ext>
            </a:extLst>
          </p:cNvPr>
          <p:cNvSpPr txBox="1"/>
          <p:nvPr/>
        </p:nvSpPr>
        <p:spPr>
          <a:xfrm>
            <a:off x="40260" y="-30679"/>
            <a:ext cx="4470947" cy="400110"/>
          </a:xfrm>
          <a:prstGeom prst="rect">
            <a:avLst/>
          </a:prstGeom>
          <a:noFill/>
        </p:spPr>
        <p:txBody>
          <a:bodyPr wrap="square" rtlCol="0">
            <a:spAutoFit/>
          </a:bodyPr>
          <a:lstStyle/>
          <a:p>
            <a:r>
              <a:rPr lang="nl-NL" altLang="zh-CN" sz="2000" b="1"/>
              <a:t>ISGLEASE_S&amp;D_MLA</a:t>
            </a:r>
            <a:endParaRPr lang="zh-CN" altLang="en-US" sz="2000" b="1"/>
          </a:p>
        </p:txBody>
      </p:sp>
      <p:graphicFrame>
        <p:nvGraphicFramePr>
          <p:cNvPr id="2" name="表格 1">
            <a:extLst>
              <a:ext uri="{FF2B5EF4-FFF2-40B4-BE49-F238E27FC236}">
                <a16:creationId xmlns:a16="http://schemas.microsoft.com/office/drawing/2014/main" id="{1970BB3F-95FC-6858-8B03-C9DC5BA8C10D}"/>
              </a:ext>
            </a:extLst>
          </p:cNvPr>
          <p:cNvGraphicFramePr>
            <a:graphicFrameLocks noGrp="1"/>
          </p:cNvGraphicFramePr>
          <p:nvPr>
            <p:extLst>
              <p:ext uri="{D42A27DB-BD31-4B8C-83A1-F6EECF244321}">
                <p14:modId xmlns:p14="http://schemas.microsoft.com/office/powerpoint/2010/main" val="984037176"/>
              </p:ext>
            </p:extLst>
          </p:nvPr>
        </p:nvGraphicFramePr>
        <p:xfrm>
          <a:off x="61720" y="342547"/>
          <a:ext cx="5958771" cy="130302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rgbClr val="C00000"/>
                          </a:solidFill>
                        </a:rPr>
                        <a:t>Lenovo HW/</a:t>
                      </a:r>
                      <a:r>
                        <a:rPr lang="en-US" altLang="zh-CN" sz="1050" u="none" strike="noStrike">
                          <a:solidFill>
                            <a:srgbClr val="C00000"/>
                          </a:solidFill>
                          <a:effectLst/>
                        </a:rPr>
                        <a:t>3PO</a:t>
                      </a:r>
                      <a:endParaRPr lang="en-US" altLang="zh-CN"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p>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2" name="表格 11">
            <a:extLst>
              <a:ext uri="{FF2B5EF4-FFF2-40B4-BE49-F238E27FC236}">
                <a16:creationId xmlns:a16="http://schemas.microsoft.com/office/drawing/2014/main" id="{1D51FF5E-23CD-05EF-993F-2BFF1C6193D7}"/>
              </a:ext>
            </a:extLst>
          </p:cNvPr>
          <p:cNvGraphicFramePr>
            <a:graphicFrameLocks noGrp="1"/>
          </p:cNvGraphicFramePr>
          <p:nvPr>
            <p:extLst>
              <p:ext uri="{D42A27DB-BD31-4B8C-83A1-F6EECF244321}">
                <p14:modId xmlns:p14="http://schemas.microsoft.com/office/powerpoint/2010/main" val="1551395033"/>
              </p:ext>
            </p:extLst>
          </p:nvPr>
        </p:nvGraphicFramePr>
        <p:xfrm>
          <a:off x="6203698" y="361104"/>
          <a:ext cx="5937311" cy="1143000"/>
        </p:xfrm>
        <a:graphic>
          <a:graphicData uri="http://schemas.openxmlformats.org/drawingml/2006/table">
            <a:tbl>
              <a:tblPr firstRow="1" bandRow="1">
                <a:tableStyleId>{3C2FFA5D-87B4-456A-9821-1D502468CF0F}</a:tableStyleId>
              </a:tblPr>
              <a:tblGrid>
                <a:gridCol w="674556">
                  <a:extLst>
                    <a:ext uri="{9D8B030D-6E8A-4147-A177-3AD203B41FA5}">
                      <a16:colId xmlns:a16="http://schemas.microsoft.com/office/drawing/2014/main" val="869603910"/>
                    </a:ext>
                  </a:extLst>
                </a:gridCol>
                <a:gridCol w="721347">
                  <a:extLst>
                    <a:ext uri="{9D8B030D-6E8A-4147-A177-3AD203B41FA5}">
                      <a16:colId xmlns:a16="http://schemas.microsoft.com/office/drawing/2014/main" val="238663902"/>
                    </a:ext>
                  </a:extLst>
                </a:gridCol>
                <a:gridCol w="678032">
                  <a:extLst>
                    <a:ext uri="{9D8B030D-6E8A-4147-A177-3AD203B41FA5}">
                      <a16:colId xmlns:a16="http://schemas.microsoft.com/office/drawing/2014/main" val="4114365151"/>
                    </a:ext>
                  </a:extLst>
                </a:gridCol>
                <a:gridCol w="665820">
                  <a:extLst>
                    <a:ext uri="{9D8B030D-6E8A-4147-A177-3AD203B41FA5}">
                      <a16:colId xmlns:a16="http://schemas.microsoft.com/office/drawing/2014/main" val="4075178046"/>
                    </a:ext>
                  </a:extLst>
                </a:gridCol>
                <a:gridCol w="771548">
                  <a:extLst>
                    <a:ext uri="{9D8B030D-6E8A-4147-A177-3AD203B41FA5}">
                      <a16:colId xmlns:a16="http://schemas.microsoft.com/office/drawing/2014/main" val="973533418"/>
                    </a:ext>
                  </a:extLst>
                </a:gridCol>
                <a:gridCol w="712449">
                  <a:extLst>
                    <a:ext uri="{9D8B030D-6E8A-4147-A177-3AD203B41FA5}">
                      <a16:colId xmlns:a16="http://schemas.microsoft.com/office/drawing/2014/main" val="2377711782"/>
                    </a:ext>
                  </a:extLst>
                </a:gridCol>
                <a:gridCol w="712449">
                  <a:extLst>
                    <a:ext uri="{9D8B030D-6E8A-4147-A177-3AD203B41FA5}">
                      <a16:colId xmlns:a16="http://schemas.microsoft.com/office/drawing/2014/main" val="3530919532"/>
                    </a:ext>
                  </a:extLst>
                </a:gridCol>
                <a:gridCol w="1001110">
                  <a:extLst>
                    <a:ext uri="{9D8B030D-6E8A-4147-A177-3AD203B41FA5}">
                      <a16:colId xmlns:a16="http://schemas.microsoft.com/office/drawing/2014/main" val="221569069"/>
                    </a:ext>
                  </a:extLst>
                </a:gridCol>
              </a:tblGrid>
              <a:tr h="32667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199636">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rgbClr val="C00000"/>
                          </a:solidFill>
                        </a:rPr>
                        <a:t>Lenovo HW/</a:t>
                      </a:r>
                      <a:r>
                        <a:rPr lang="en-US" altLang="zh-CN" sz="1050" u="none" strike="noStrike">
                          <a:solidFill>
                            <a:srgbClr val="C00000"/>
                          </a:solidFill>
                          <a:effectLst/>
                        </a:rPr>
                        <a:t>3PO</a:t>
                      </a:r>
                      <a:endParaRPr lang="en-US" altLang="zh-CN"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3" name="直接连接符 2">
            <a:extLst>
              <a:ext uri="{FF2B5EF4-FFF2-40B4-BE49-F238E27FC236}">
                <a16:creationId xmlns:a16="http://schemas.microsoft.com/office/drawing/2014/main" id="{988B1984-F002-08DA-4406-8BDCA667B3B8}"/>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5" name="表格 4">
            <a:extLst>
              <a:ext uri="{FF2B5EF4-FFF2-40B4-BE49-F238E27FC236}">
                <a16:creationId xmlns:a16="http://schemas.microsoft.com/office/drawing/2014/main" id="{768F343F-87C8-2576-F7FC-FDF482FB2A44}"/>
              </a:ext>
            </a:extLst>
          </p:cNvPr>
          <p:cNvGraphicFramePr>
            <a:graphicFrameLocks noGrp="1"/>
          </p:cNvGraphicFramePr>
          <p:nvPr>
            <p:extLst>
              <p:ext uri="{D42A27DB-BD31-4B8C-83A1-F6EECF244321}">
                <p14:modId xmlns:p14="http://schemas.microsoft.com/office/powerpoint/2010/main" val="4040978241"/>
              </p:ext>
            </p:extLst>
          </p:nvPr>
        </p:nvGraphicFramePr>
        <p:xfrm>
          <a:off x="6254698" y="1878948"/>
          <a:ext cx="5937302" cy="1830215"/>
        </p:xfrm>
        <a:graphic>
          <a:graphicData uri="http://schemas.openxmlformats.org/drawingml/2006/table">
            <a:tbl>
              <a:tblPr/>
              <a:tblGrid>
                <a:gridCol w="457352">
                  <a:extLst>
                    <a:ext uri="{9D8B030D-6E8A-4147-A177-3AD203B41FA5}">
                      <a16:colId xmlns:a16="http://schemas.microsoft.com/office/drawing/2014/main" val="495084399"/>
                    </a:ext>
                  </a:extLst>
                </a:gridCol>
                <a:gridCol w="244248">
                  <a:extLst>
                    <a:ext uri="{9D8B030D-6E8A-4147-A177-3AD203B41FA5}">
                      <a16:colId xmlns:a16="http://schemas.microsoft.com/office/drawing/2014/main" val="3614210242"/>
                    </a:ext>
                  </a:extLst>
                </a:gridCol>
                <a:gridCol w="598479">
                  <a:extLst>
                    <a:ext uri="{9D8B030D-6E8A-4147-A177-3AD203B41FA5}">
                      <a16:colId xmlns:a16="http://schemas.microsoft.com/office/drawing/2014/main" val="1442124609"/>
                    </a:ext>
                  </a:extLst>
                </a:gridCol>
                <a:gridCol w="2064069">
                  <a:extLst>
                    <a:ext uri="{9D8B030D-6E8A-4147-A177-3AD203B41FA5}">
                      <a16:colId xmlns:a16="http://schemas.microsoft.com/office/drawing/2014/main" val="3603859997"/>
                    </a:ext>
                  </a:extLst>
                </a:gridCol>
                <a:gridCol w="428859">
                  <a:extLst>
                    <a:ext uri="{9D8B030D-6E8A-4147-A177-3AD203B41FA5}">
                      <a16:colId xmlns:a16="http://schemas.microsoft.com/office/drawing/2014/main" val="4076488391"/>
                    </a:ext>
                  </a:extLst>
                </a:gridCol>
                <a:gridCol w="428859">
                  <a:extLst>
                    <a:ext uri="{9D8B030D-6E8A-4147-A177-3AD203B41FA5}">
                      <a16:colId xmlns:a16="http://schemas.microsoft.com/office/drawing/2014/main" val="3254101706"/>
                    </a:ext>
                  </a:extLst>
                </a:gridCol>
                <a:gridCol w="428859">
                  <a:extLst>
                    <a:ext uri="{9D8B030D-6E8A-4147-A177-3AD203B41FA5}">
                      <a16:colId xmlns:a16="http://schemas.microsoft.com/office/drawing/2014/main" val="1872140390"/>
                    </a:ext>
                  </a:extLst>
                </a:gridCol>
                <a:gridCol w="428859">
                  <a:extLst>
                    <a:ext uri="{9D8B030D-6E8A-4147-A177-3AD203B41FA5}">
                      <a16:colId xmlns:a16="http://schemas.microsoft.com/office/drawing/2014/main" val="2527660299"/>
                    </a:ext>
                  </a:extLst>
                </a:gridCol>
                <a:gridCol w="428859">
                  <a:extLst>
                    <a:ext uri="{9D8B030D-6E8A-4147-A177-3AD203B41FA5}">
                      <a16:colId xmlns:a16="http://schemas.microsoft.com/office/drawing/2014/main" val="3641075278"/>
                    </a:ext>
                  </a:extLst>
                </a:gridCol>
                <a:gridCol w="428859">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no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mpd="sng">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Acc Receivable Leasing</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1015.3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1015.3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endParaRPr lang="zh-CN" altLang="en-US"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ysClr val="windowText" lastClr="000000"/>
                          </a:solidFill>
                          <a:effectLst/>
                          <a:uLnTx/>
                          <a:uFillTx/>
                          <a:latin typeface="+mn-lt"/>
                          <a:ea typeface="+mn-ea"/>
                          <a:cs typeface="+mn-cs"/>
                        </a:rPr>
                        <a:t>5010401</a:t>
                      </a:r>
                      <a:endParaRPr kumimoji="0" lang="en-US" altLang="zh-CN" sz="1000" b="0" i="0" u="none" strike="noStrike" kern="1200" cap="none" spc="0" normalizeH="0" baseline="0" noProof="0">
                        <a:ln>
                          <a:noFill/>
                        </a:ln>
                        <a:solidFill>
                          <a:sysClr val="windowText" lastClr="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Premier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a:t>
                      </a:r>
                      <a:endParaRPr lang="zh-CN" altLang="en-US"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1479446"/>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Acc Receivable </a:t>
                      </a:r>
                      <a:r>
                        <a:rPr lang="en-US" sz="1000" b="0" i="0" u="none" strike="noStrike" baseline="0">
                          <a:solidFill>
                            <a:srgbClr val="000000"/>
                          </a:solidFill>
                          <a:effectLst/>
                          <a:latin typeface="+mn-lt"/>
                        </a:rPr>
                        <a:t>– Funded Upfront Service</a:t>
                      </a:r>
                      <a:endParaRPr lang="en-US" sz="1000" b="0" i="0" u="none" strike="noStrike">
                        <a:solidFill>
                          <a:srgbClr val="000000"/>
                        </a:solidFill>
                        <a:effectLst/>
                        <a:latin typeface="+mn-l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ysClr val="windowText" lastClr="000000"/>
                          </a:solidFill>
                          <a:effectLst/>
                          <a:latin typeface="+mn-lt"/>
                          <a:ea typeface="等线"/>
                          <a:cs typeface="+mn-cs"/>
                        </a:rPr>
                        <a:t>15.3</a:t>
                      </a:r>
                      <a:endParaRPr lang="zh-CN" altLang="en-US" sz="1000" b="0" i="0" u="none" strike="noStrike" kern="1200">
                        <a:solidFill>
                          <a:sysClr val="windowText" lastClr="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ysClr val="windowText" lastClr="000000"/>
                          </a:solidFill>
                          <a:effectLst/>
                          <a:uLnTx/>
                          <a:uFillTx/>
                          <a:latin typeface="Arial"/>
                          <a:ea typeface="等线"/>
                          <a:cs typeface="+mn-cs"/>
                        </a:rPr>
                        <a:t>15.3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
                      <a:r>
                        <a:rPr kumimoji="0" lang="en-US" sz="1000" b="0" i="0" u="none" strike="noStrike" kern="1200" cap="none" spc="0" normalizeH="0" baseline="0">
                          <a:ln>
                            <a:noFill/>
                          </a:ln>
                          <a:solidFill>
                            <a:srgbClr val="000000"/>
                          </a:solidFill>
                          <a:effectLst/>
                          <a:uLnTx/>
                          <a:uFillTx/>
                          <a:latin typeface="+mn-lt"/>
                          <a:ea typeface="+mn-ea"/>
                          <a:cs typeface="+mn-cs"/>
                        </a:rPr>
                        <a:t>Cr</a:t>
                      </a:r>
                    </a:p>
                  </a:txBody>
                  <a:tcPr marL="0" marR="0" marT="0" marB="0" anchor="b">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840</a:t>
                      </a: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01871034"/>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algn="ctr" fontAlgn="b"/>
                      <a:r>
                        <a:rPr kumimoji="0" lang="en-US" sz="1000" b="0" i="0" u="none" strike="noStrike" kern="1200" cap="none" spc="0" normalizeH="0" baseline="0">
                          <a:ln>
                            <a:noFill/>
                          </a:ln>
                          <a:solidFill>
                            <a:srgbClr val="000000"/>
                          </a:solidFill>
                          <a:effectLst/>
                          <a:uLnTx/>
                          <a:uFillTx/>
                          <a:latin typeface="+mn-lt"/>
                          <a:ea typeface="+mn-ea"/>
                          <a:cs typeface="+mn-cs"/>
                        </a:rPr>
                        <a:t>Cr</a:t>
                      </a:r>
                    </a:p>
                  </a:txBody>
                  <a:tcPr marL="0" marR="0" marT="0" marB="0" anchor="b">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 (3PO)</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665616832"/>
                  </a:ext>
                </a:extLst>
              </a:tr>
            </a:tbl>
          </a:graphicData>
        </a:graphic>
      </p:graphicFrame>
      <p:graphicFrame>
        <p:nvGraphicFramePr>
          <p:cNvPr id="14" name="Table 13">
            <a:extLst>
              <a:ext uri="{FF2B5EF4-FFF2-40B4-BE49-F238E27FC236}">
                <a16:creationId xmlns:a16="http://schemas.microsoft.com/office/drawing/2014/main" id="{118F6476-B49F-FD53-B5DC-D7AAB56F6E7B}"/>
              </a:ext>
            </a:extLst>
          </p:cNvPr>
          <p:cNvGraphicFramePr>
            <a:graphicFrameLocks noGrp="1"/>
          </p:cNvGraphicFramePr>
          <p:nvPr>
            <p:extLst>
              <p:ext uri="{D42A27DB-BD31-4B8C-83A1-F6EECF244321}">
                <p14:modId xmlns:p14="http://schemas.microsoft.com/office/powerpoint/2010/main" val="2186249176"/>
              </p:ext>
            </p:extLst>
          </p:nvPr>
        </p:nvGraphicFramePr>
        <p:xfrm>
          <a:off x="112719" y="1878948"/>
          <a:ext cx="5875587" cy="1830215"/>
        </p:xfrm>
        <a:graphic>
          <a:graphicData uri="http://schemas.openxmlformats.org/drawingml/2006/table">
            <a:tbl>
              <a:tblPr/>
              <a:tblGrid>
                <a:gridCol w="440098">
                  <a:extLst>
                    <a:ext uri="{9D8B030D-6E8A-4147-A177-3AD203B41FA5}">
                      <a16:colId xmlns:a16="http://schemas.microsoft.com/office/drawing/2014/main" val="2405149806"/>
                    </a:ext>
                  </a:extLst>
                </a:gridCol>
                <a:gridCol w="235033">
                  <a:extLst>
                    <a:ext uri="{9D8B030D-6E8A-4147-A177-3AD203B41FA5}">
                      <a16:colId xmlns:a16="http://schemas.microsoft.com/office/drawing/2014/main" val="3773246756"/>
                    </a:ext>
                  </a:extLst>
                </a:gridCol>
                <a:gridCol w="575899">
                  <a:extLst>
                    <a:ext uri="{9D8B030D-6E8A-4147-A177-3AD203B41FA5}">
                      <a16:colId xmlns:a16="http://schemas.microsoft.com/office/drawing/2014/main" val="2093791787"/>
                    </a:ext>
                  </a:extLst>
                </a:gridCol>
                <a:gridCol w="1986195">
                  <a:extLst>
                    <a:ext uri="{9D8B030D-6E8A-4147-A177-3AD203B41FA5}">
                      <a16:colId xmlns:a16="http://schemas.microsoft.com/office/drawing/2014/main" val="2315190367"/>
                    </a:ext>
                  </a:extLst>
                </a:gridCol>
                <a:gridCol w="439727">
                  <a:extLst>
                    <a:ext uri="{9D8B030D-6E8A-4147-A177-3AD203B41FA5}">
                      <a16:colId xmlns:a16="http://schemas.microsoft.com/office/drawing/2014/main" val="3469496231"/>
                    </a:ext>
                  </a:extLst>
                </a:gridCol>
                <a:gridCol w="439727">
                  <a:extLst>
                    <a:ext uri="{9D8B030D-6E8A-4147-A177-3AD203B41FA5}">
                      <a16:colId xmlns:a16="http://schemas.microsoft.com/office/drawing/2014/main" val="618512481"/>
                    </a:ext>
                  </a:extLst>
                </a:gridCol>
                <a:gridCol w="439727">
                  <a:extLst>
                    <a:ext uri="{9D8B030D-6E8A-4147-A177-3AD203B41FA5}">
                      <a16:colId xmlns:a16="http://schemas.microsoft.com/office/drawing/2014/main" val="3032326775"/>
                    </a:ext>
                  </a:extLst>
                </a:gridCol>
                <a:gridCol w="439727">
                  <a:extLst>
                    <a:ext uri="{9D8B030D-6E8A-4147-A177-3AD203B41FA5}">
                      <a16:colId xmlns:a16="http://schemas.microsoft.com/office/drawing/2014/main" val="1101408634"/>
                    </a:ext>
                  </a:extLst>
                </a:gridCol>
                <a:gridCol w="439727">
                  <a:extLst>
                    <a:ext uri="{9D8B030D-6E8A-4147-A177-3AD203B41FA5}">
                      <a16:colId xmlns:a16="http://schemas.microsoft.com/office/drawing/2014/main" val="519409402"/>
                    </a:ext>
                  </a:extLst>
                </a:gridCol>
                <a:gridCol w="439727">
                  <a:extLst>
                    <a:ext uri="{9D8B030D-6E8A-4147-A177-3AD203B41FA5}">
                      <a16:colId xmlns:a16="http://schemas.microsoft.com/office/drawing/2014/main" val="3555629991"/>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no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Acc Receivable Leasing</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1015.3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1015.3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endParaRPr lang="zh-CN" altLang="en-US"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3565308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ysClr val="windowText" lastClr="000000"/>
                          </a:solidFill>
                          <a:effectLst/>
                          <a:uLnTx/>
                          <a:uFillTx/>
                          <a:latin typeface="+mn-lt"/>
                          <a:ea typeface="+mn-ea"/>
                          <a:cs typeface="+mn-cs"/>
                        </a:rPr>
                        <a:t>5010401</a:t>
                      </a:r>
                      <a:endParaRPr kumimoji="0" lang="en-US" altLang="zh-CN" sz="1000" b="0" i="0" u="none" strike="noStrike" kern="1200" cap="none" spc="0" normalizeH="0" baseline="0" noProof="0">
                        <a:ln>
                          <a:noFill/>
                        </a:ln>
                        <a:solidFill>
                          <a:sysClr val="windowText" lastClr="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Premier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a:t>
                      </a:r>
                      <a:endParaRPr lang="zh-CN" altLang="en-US"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68765296"/>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Acc Receivable </a:t>
                      </a:r>
                      <a:r>
                        <a:rPr lang="en-US" sz="1000" b="0" i="0" u="none" strike="noStrike" baseline="0">
                          <a:solidFill>
                            <a:srgbClr val="000000"/>
                          </a:solidFill>
                          <a:effectLst/>
                          <a:latin typeface="+mn-lt"/>
                        </a:rPr>
                        <a:t>– Funded Upfront Service</a:t>
                      </a:r>
                      <a:endParaRPr lang="en-US" sz="1000" b="0" i="0" u="none" strike="noStrike">
                        <a:solidFill>
                          <a:srgbClr val="000000"/>
                        </a:solidFill>
                        <a:effectLst/>
                        <a:latin typeface="+mn-l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ysClr val="windowText" lastClr="000000"/>
                          </a:solidFill>
                          <a:effectLst/>
                          <a:latin typeface="+mn-lt"/>
                          <a:ea typeface="等线"/>
                          <a:cs typeface="+mn-cs"/>
                        </a:rPr>
                        <a:t>15.3</a:t>
                      </a:r>
                      <a:endParaRPr lang="zh-CN" altLang="en-US" sz="1000" b="0" i="0" u="none" strike="noStrike" kern="1200">
                        <a:solidFill>
                          <a:sysClr val="windowText" lastClr="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ysClr val="windowText" lastClr="000000"/>
                          </a:solidFill>
                          <a:effectLst/>
                          <a:uLnTx/>
                          <a:uFillTx/>
                          <a:latin typeface="Arial"/>
                          <a:ea typeface="等线"/>
                          <a:cs typeface="+mn-cs"/>
                        </a:rPr>
                        <a:t>15.3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7062129"/>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a:cs typeface="+mn-cs"/>
                        </a:rPr>
                        <a:t>840</a:t>
                      </a:r>
                      <a:endParaRPr lang="zh-CN" altLang="en-US" sz="1000" b="0" i="0" u="none" strike="noStrike" kern="1200">
                        <a:solidFill>
                          <a:schemeClr val="tx1"/>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Arial"/>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19020777"/>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Revenue(3PO)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zh-CN" altLang="en-US" sz="1000" b="0" i="0" u="none" strike="noStrike" kern="1200">
                        <a:solidFill>
                          <a:schemeClr val="tx1"/>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chemeClr val="tx1"/>
                        </a:solidFill>
                        <a:effectLst/>
                        <a:uLnTx/>
                        <a:uFillTx/>
                        <a:latin typeface="Arial"/>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15641930"/>
                  </a:ext>
                </a:extLst>
              </a:tr>
            </a:tbl>
          </a:graphicData>
        </a:graphic>
      </p:graphicFrame>
    </p:spTree>
    <p:extLst>
      <p:ext uri="{BB962C8B-B14F-4D97-AF65-F5344CB8AC3E}">
        <p14:creationId xmlns:p14="http://schemas.microsoft.com/office/powerpoint/2010/main" val="64253649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1FB112-680A-41FC-25EB-F74632331A9F}"/>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5722E293-4EA6-F10C-4E67-B190C31AD4E4}"/>
              </a:ext>
            </a:extLst>
          </p:cNvPr>
          <p:cNvGraphicFramePr>
            <a:graphicFrameLocks noGrp="1"/>
          </p:cNvGraphicFramePr>
          <p:nvPr/>
        </p:nvGraphicFramePr>
        <p:xfrm>
          <a:off x="201959" y="349346"/>
          <a:ext cx="5872548" cy="1227066"/>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596359">
                  <a:extLst>
                    <a:ext uri="{9D8B030D-6E8A-4147-A177-3AD203B41FA5}">
                      <a16:colId xmlns:a16="http://schemas.microsoft.com/office/drawing/2014/main" val="4114365151"/>
                    </a:ext>
                  </a:extLst>
                </a:gridCol>
                <a:gridCol w="737141">
                  <a:extLst>
                    <a:ext uri="{9D8B030D-6E8A-4147-A177-3AD203B41FA5}">
                      <a16:colId xmlns:a16="http://schemas.microsoft.com/office/drawing/2014/main" val="4075178046"/>
                    </a:ext>
                  </a:extLst>
                </a:gridCol>
                <a:gridCol w="688388">
                  <a:extLst>
                    <a:ext uri="{9D8B030D-6E8A-4147-A177-3AD203B41FA5}">
                      <a16:colId xmlns:a16="http://schemas.microsoft.com/office/drawing/2014/main" val="973533418"/>
                    </a:ext>
                  </a:extLst>
                </a:gridCol>
                <a:gridCol w="715116">
                  <a:extLst>
                    <a:ext uri="{9D8B030D-6E8A-4147-A177-3AD203B41FA5}">
                      <a16:colId xmlns:a16="http://schemas.microsoft.com/office/drawing/2014/main" val="2377711782"/>
                    </a:ext>
                  </a:extLst>
                </a:gridCol>
                <a:gridCol w="6601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51216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65556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Quarterly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4" name="直接连接符 3">
            <a:extLst>
              <a:ext uri="{FF2B5EF4-FFF2-40B4-BE49-F238E27FC236}">
                <a16:creationId xmlns:a16="http://schemas.microsoft.com/office/drawing/2014/main" id="{0DBB4F08-84E8-EA49-867C-2B912DF8F39E}"/>
              </a:ext>
            </a:extLst>
          </p:cNvPr>
          <p:cNvCxnSpPr>
            <a:cxnSpLocks/>
          </p:cNvCxnSpPr>
          <p:nvPr/>
        </p:nvCxnSpPr>
        <p:spPr>
          <a:xfrm>
            <a:off x="6247923"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7" name="文本框 6">
            <a:extLst>
              <a:ext uri="{FF2B5EF4-FFF2-40B4-BE49-F238E27FC236}">
                <a16:creationId xmlns:a16="http://schemas.microsoft.com/office/drawing/2014/main" id="{68127471-E1AA-FF28-CD66-00690EE57D8C}"/>
              </a:ext>
            </a:extLst>
          </p:cNvPr>
          <p:cNvSpPr txBox="1"/>
          <p:nvPr/>
        </p:nvSpPr>
        <p:spPr>
          <a:xfrm>
            <a:off x="143235" y="47255"/>
            <a:ext cx="4470947" cy="400110"/>
          </a:xfrm>
          <a:prstGeom prst="rect">
            <a:avLst/>
          </a:prstGeom>
          <a:noFill/>
        </p:spPr>
        <p:txBody>
          <a:bodyPr wrap="square" rtlCol="0">
            <a:spAutoFit/>
          </a:bodyPr>
          <a:lstStyle/>
          <a:p>
            <a:r>
              <a:rPr lang="nl-NL" altLang="zh-CN" sz="2000" b="1"/>
              <a:t>ISGLEASE_S&amp;D_MLA</a:t>
            </a:r>
            <a:endParaRPr lang="zh-CN" altLang="en-US" sz="2000" b="1"/>
          </a:p>
        </p:txBody>
      </p:sp>
      <p:graphicFrame>
        <p:nvGraphicFramePr>
          <p:cNvPr id="2" name="表格 1">
            <a:extLst>
              <a:ext uri="{FF2B5EF4-FFF2-40B4-BE49-F238E27FC236}">
                <a16:creationId xmlns:a16="http://schemas.microsoft.com/office/drawing/2014/main" id="{6BC7C438-145C-1BD8-4F7F-0C23950736EC}"/>
              </a:ext>
            </a:extLst>
          </p:cNvPr>
          <p:cNvGraphicFramePr>
            <a:graphicFrameLocks noGrp="1"/>
          </p:cNvGraphicFramePr>
          <p:nvPr/>
        </p:nvGraphicFramePr>
        <p:xfrm>
          <a:off x="6281482" y="349346"/>
          <a:ext cx="5872548" cy="1303020"/>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647222">
                  <a:extLst>
                    <a:ext uri="{9D8B030D-6E8A-4147-A177-3AD203B41FA5}">
                      <a16:colId xmlns:a16="http://schemas.microsoft.com/office/drawing/2014/main" val="4114365151"/>
                    </a:ext>
                  </a:extLst>
                </a:gridCol>
                <a:gridCol w="752475">
                  <a:extLst>
                    <a:ext uri="{9D8B030D-6E8A-4147-A177-3AD203B41FA5}">
                      <a16:colId xmlns:a16="http://schemas.microsoft.com/office/drawing/2014/main" val="4075178046"/>
                    </a:ext>
                  </a:extLst>
                </a:gridCol>
                <a:gridCol w="666750">
                  <a:extLst>
                    <a:ext uri="{9D8B030D-6E8A-4147-A177-3AD203B41FA5}">
                      <a16:colId xmlns:a16="http://schemas.microsoft.com/office/drawing/2014/main" val="973533418"/>
                    </a:ext>
                  </a:extLst>
                </a:gridCol>
                <a:gridCol w="672857">
                  <a:extLst>
                    <a:ext uri="{9D8B030D-6E8A-4147-A177-3AD203B41FA5}">
                      <a16:colId xmlns:a16="http://schemas.microsoft.com/office/drawing/2014/main" val="2377711782"/>
                    </a:ext>
                  </a:extLst>
                </a:gridCol>
                <a:gridCol w="6578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49034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90345">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Quarterly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7">
            <a:extLst>
              <a:ext uri="{FF2B5EF4-FFF2-40B4-BE49-F238E27FC236}">
                <a16:creationId xmlns:a16="http://schemas.microsoft.com/office/drawing/2014/main" id="{B68B5871-091A-745A-9011-AD4AC800CF8D}"/>
              </a:ext>
            </a:extLst>
          </p:cNvPr>
          <p:cNvGraphicFramePr>
            <a:graphicFrameLocks noGrp="1"/>
          </p:cNvGraphicFramePr>
          <p:nvPr>
            <p:extLst>
              <p:ext uri="{D42A27DB-BD31-4B8C-83A1-F6EECF244321}">
                <p14:modId xmlns:p14="http://schemas.microsoft.com/office/powerpoint/2010/main" val="4140445281"/>
              </p:ext>
            </p:extLst>
          </p:nvPr>
        </p:nvGraphicFramePr>
        <p:xfrm>
          <a:off x="6281482" y="1647515"/>
          <a:ext cx="5579266" cy="1332007"/>
        </p:xfrm>
        <a:graphic>
          <a:graphicData uri="http://schemas.openxmlformats.org/drawingml/2006/table">
            <a:tbl>
              <a:tblPr/>
              <a:tblGrid>
                <a:gridCol w="418502">
                  <a:extLst>
                    <a:ext uri="{9D8B030D-6E8A-4147-A177-3AD203B41FA5}">
                      <a16:colId xmlns:a16="http://schemas.microsoft.com/office/drawing/2014/main" val="495084399"/>
                    </a:ext>
                  </a:extLst>
                </a:gridCol>
                <a:gridCol w="237710">
                  <a:extLst>
                    <a:ext uri="{9D8B030D-6E8A-4147-A177-3AD203B41FA5}">
                      <a16:colId xmlns:a16="http://schemas.microsoft.com/office/drawing/2014/main" val="3614210242"/>
                    </a:ext>
                  </a:extLst>
                </a:gridCol>
                <a:gridCol w="547640">
                  <a:extLst>
                    <a:ext uri="{9D8B030D-6E8A-4147-A177-3AD203B41FA5}">
                      <a16:colId xmlns:a16="http://schemas.microsoft.com/office/drawing/2014/main" val="1442124609"/>
                    </a:ext>
                  </a:extLst>
                </a:gridCol>
                <a:gridCol w="2081230">
                  <a:extLst>
                    <a:ext uri="{9D8B030D-6E8A-4147-A177-3AD203B41FA5}">
                      <a16:colId xmlns:a16="http://schemas.microsoft.com/office/drawing/2014/main" val="3603859997"/>
                    </a:ext>
                  </a:extLst>
                </a:gridCol>
                <a:gridCol w="382364">
                  <a:extLst>
                    <a:ext uri="{9D8B030D-6E8A-4147-A177-3AD203B41FA5}">
                      <a16:colId xmlns:a16="http://schemas.microsoft.com/office/drawing/2014/main" val="4076488391"/>
                    </a:ext>
                  </a:extLst>
                </a:gridCol>
                <a:gridCol w="382364">
                  <a:extLst>
                    <a:ext uri="{9D8B030D-6E8A-4147-A177-3AD203B41FA5}">
                      <a16:colId xmlns:a16="http://schemas.microsoft.com/office/drawing/2014/main" val="3254101706"/>
                    </a:ext>
                  </a:extLst>
                </a:gridCol>
                <a:gridCol w="382364">
                  <a:extLst>
                    <a:ext uri="{9D8B030D-6E8A-4147-A177-3AD203B41FA5}">
                      <a16:colId xmlns:a16="http://schemas.microsoft.com/office/drawing/2014/main" val="1872140390"/>
                    </a:ext>
                  </a:extLst>
                </a:gridCol>
                <a:gridCol w="382364">
                  <a:extLst>
                    <a:ext uri="{9D8B030D-6E8A-4147-A177-3AD203B41FA5}">
                      <a16:colId xmlns:a16="http://schemas.microsoft.com/office/drawing/2014/main" val="2527660299"/>
                    </a:ext>
                  </a:extLst>
                </a:gridCol>
                <a:gridCol w="382364">
                  <a:extLst>
                    <a:ext uri="{9D8B030D-6E8A-4147-A177-3AD203B41FA5}">
                      <a16:colId xmlns:a16="http://schemas.microsoft.com/office/drawing/2014/main" val="3641075278"/>
                    </a:ext>
                  </a:extLst>
                </a:gridCol>
                <a:gridCol w="382364">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At the beginning of the quarter</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99.9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99.9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a:solidFill>
                            <a:srgbClr val="000000"/>
                          </a:solidFill>
                          <a:effectLst/>
                          <a:latin typeface="Arial" panose="020B0604020202020204" pitchFamily="34" charset="0"/>
                          <a:cs typeface="Arial" panose="020B0604020202020204" pitchFamily="34" charset="0"/>
                        </a:rPr>
                        <a:t>Long term receivable</a:t>
                      </a:r>
                      <a:r>
                        <a:rPr lang="en-US" sz="900" b="0" i="0" u="none" strike="noStrike" kern="1200">
                          <a:solidFill>
                            <a:srgbClr val="000000"/>
                          </a:solidFill>
                          <a:effectLst/>
                          <a:latin typeface="Arial" panose="020B0604020202020204" pitchFamily="34" charset="0"/>
                          <a:ea typeface="+mn-ea"/>
                          <a:cs typeface="+mn-cs"/>
                        </a:rPr>
                        <a:t>-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bl>
          </a:graphicData>
        </a:graphic>
      </p:graphicFrame>
      <p:graphicFrame>
        <p:nvGraphicFramePr>
          <p:cNvPr id="10" name="表格 9">
            <a:extLst>
              <a:ext uri="{FF2B5EF4-FFF2-40B4-BE49-F238E27FC236}">
                <a16:creationId xmlns:a16="http://schemas.microsoft.com/office/drawing/2014/main" id="{6D2670A3-F9FE-5E97-9CEC-1306229E0A3B}"/>
              </a:ext>
            </a:extLst>
          </p:cNvPr>
          <p:cNvGraphicFramePr>
            <a:graphicFrameLocks noGrp="1"/>
          </p:cNvGraphicFramePr>
          <p:nvPr>
            <p:extLst>
              <p:ext uri="{D42A27DB-BD31-4B8C-83A1-F6EECF244321}">
                <p14:modId xmlns:p14="http://schemas.microsoft.com/office/powerpoint/2010/main" val="1292888551"/>
              </p:ext>
            </p:extLst>
          </p:nvPr>
        </p:nvGraphicFramePr>
        <p:xfrm>
          <a:off x="118587" y="1647515"/>
          <a:ext cx="5775851"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407646">
                  <a:extLst>
                    <a:ext uri="{9D8B030D-6E8A-4147-A177-3AD203B41FA5}">
                      <a16:colId xmlns:a16="http://schemas.microsoft.com/office/drawing/2014/main" val="4076488391"/>
                    </a:ext>
                  </a:extLst>
                </a:gridCol>
                <a:gridCol w="407646">
                  <a:extLst>
                    <a:ext uri="{9D8B030D-6E8A-4147-A177-3AD203B41FA5}">
                      <a16:colId xmlns:a16="http://schemas.microsoft.com/office/drawing/2014/main" val="3254101706"/>
                    </a:ext>
                  </a:extLst>
                </a:gridCol>
                <a:gridCol w="407646">
                  <a:extLst>
                    <a:ext uri="{9D8B030D-6E8A-4147-A177-3AD203B41FA5}">
                      <a16:colId xmlns:a16="http://schemas.microsoft.com/office/drawing/2014/main" val="134131131"/>
                    </a:ext>
                  </a:extLst>
                </a:gridCol>
                <a:gridCol w="407646">
                  <a:extLst>
                    <a:ext uri="{9D8B030D-6E8A-4147-A177-3AD203B41FA5}">
                      <a16:colId xmlns:a16="http://schemas.microsoft.com/office/drawing/2014/main" val="2527660299"/>
                    </a:ext>
                  </a:extLst>
                </a:gridCol>
                <a:gridCol w="407646">
                  <a:extLst>
                    <a:ext uri="{9D8B030D-6E8A-4147-A177-3AD203B41FA5}">
                      <a16:colId xmlns:a16="http://schemas.microsoft.com/office/drawing/2014/main" val="3641075278"/>
                    </a:ext>
                  </a:extLst>
                </a:gridCol>
                <a:gridCol w="407646">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At the beginning of the quarter</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99.9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99.9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Arial" panose="020B0604020202020204" pitchFamily="34" charset="0"/>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a:solidFill>
                            <a:srgbClr val="000000"/>
                          </a:solidFill>
                          <a:effectLst/>
                          <a:latin typeface="Arial" panose="020B0604020202020204" pitchFamily="34" charset="0"/>
                          <a:cs typeface="Arial" panose="020B0604020202020204" pitchFamily="34" charset="0"/>
                        </a:rPr>
                        <a:t>Long term receivable</a:t>
                      </a:r>
                      <a:r>
                        <a:rPr lang="en-US" sz="900" b="0" i="0" u="none" strike="noStrike" kern="1200">
                          <a:solidFill>
                            <a:srgbClr val="000000"/>
                          </a:solidFill>
                          <a:effectLst/>
                          <a:latin typeface="Arial" panose="020B0604020202020204" pitchFamily="34" charset="0"/>
                          <a:ea typeface="+mn-ea"/>
                          <a:cs typeface="Arial" panose="020B0604020202020204" pitchFamily="34" charset="0"/>
                        </a:rPr>
                        <a:t>-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9" name="表格 8">
            <a:extLst>
              <a:ext uri="{FF2B5EF4-FFF2-40B4-BE49-F238E27FC236}">
                <a16:creationId xmlns:a16="http://schemas.microsoft.com/office/drawing/2014/main" id="{13E6CFD9-7394-F015-8E53-C483E3B9126F}"/>
              </a:ext>
            </a:extLst>
          </p:cNvPr>
          <p:cNvGraphicFramePr>
            <a:graphicFrameLocks noGrp="1"/>
          </p:cNvGraphicFramePr>
          <p:nvPr>
            <p:extLst>
              <p:ext uri="{D42A27DB-BD31-4B8C-83A1-F6EECF244321}">
                <p14:modId xmlns:p14="http://schemas.microsoft.com/office/powerpoint/2010/main" val="1451923918"/>
              </p:ext>
            </p:extLst>
          </p:nvPr>
        </p:nvGraphicFramePr>
        <p:xfrm>
          <a:off x="143235" y="3865344"/>
          <a:ext cx="5775851"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407646">
                  <a:extLst>
                    <a:ext uri="{9D8B030D-6E8A-4147-A177-3AD203B41FA5}">
                      <a16:colId xmlns:a16="http://schemas.microsoft.com/office/drawing/2014/main" val="4076488391"/>
                    </a:ext>
                  </a:extLst>
                </a:gridCol>
                <a:gridCol w="407646">
                  <a:extLst>
                    <a:ext uri="{9D8B030D-6E8A-4147-A177-3AD203B41FA5}">
                      <a16:colId xmlns:a16="http://schemas.microsoft.com/office/drawing/2014/main" val="3254101706"/>
                    </a:ext>
                  </a:extLst>
                </a:gridCol>
                <a:gridCol w="407646">
                  <a:extLst>
                    <a:ext uri="{9D8B030D-6E8A-4147-A177-3AD203B41FA5}">
                      <a16:colId xmlns:a16="http://schemas.microsoft.com/office/drawing/2014/main" val="134131131"/>
                    </a:ext>
                  </a:extLst>
                </a:gridCol>
                <a:gridCol w="407646">
                  <a:extLst>
                    <a:ext uri="{9D8B030D-6E8A-4147-A177-3AD203B41FA5}">
                      <a16:colId xmlns:a16="http://schemas.microsoft.com/office/drawing/2014/main" val="2527660299"/>
                    </a:ext>
                  </a:extLst>
                </a:gridCol>
                <a:gridCol w="407646">
                  <a:extLst>
                    <a:ext uri="{9D8B030D-6E8A-4147-A177-3AD203B41FA5}">
                      <a16:colId xmlns:a16="http://schemas.microsoft.com/office/drawing/2014/main" val="3641075278"/>
                    </a:ext>
                  </a:extLst>
                </a:gridCol>
                <a:gridCol w="407646">
                  <a:extLst>
                    <a:ext uri="{9D8B030D-6E8A-4147-A177-3AD203B41FA5}">
                      <a16:colId xmlns:a16="http://schemas.microsoft.com/office/drawing/2014/main" val="3618613915"/>
                    </a:ext>
                  </a:extLst>
                </a:gridCol>
              </a:tblGrid>
              <a:tr h="15772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1" name="表格 10">
            <a:extLst>
              <a:ext uri="{FF2B5EF4-FFF2-40B4-BE49-F238E27FC236}">
                <a16:creationId xmlns:a16="http://schemas.microsoft.com/office/drawing/2014/main" id="{154FE99E-7A1A-EF52-F0E8-6D5952E50F41}"/>
              </a:ext>
            </a:extLst>
          </p:cNvPr>
          <p:cNvGraphicFramePr>
            <a:graphicFrameLocks noGrp="1"/>
          </p:cNvGraphicFramePr>
          <p:nvPr>
            <p:extLst>
              <p:ext uri="{D42A27DB-BD31-4B8C-83A1-F6EECF244321}">
                <p14:modId xmlns:p14="http://schemas.microsoft.com/office/powerpoint/2010/main" val="3400864119"/>
              </p:ext>
            </p:extLst>
          </p:nvPr>
        </p:nvGraphicFramePr>
        <p:xfrm>
          <a:off x="6281482" y="3875180"/>
          <a:ext cx="5607208" cy="951098"/>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11350">
                  <a:extLst>
                    <a:ext uri="{9D8B030D-6E8A-4147-A177-3AD203B41FA5}">
                      <a16:colId xmlns:a16="http://schemas.microsoft.com/office/drawing/2014/main" val="3603859997"/>
                    </a:ext>
                  </a:extLst>
                </a:gridCol>
                <a:gridCol w="407646">
                  <a:extLst>
                    <a:ext uri="{9D8B030D-6E8A-4147-A177-3AD203B41FA5}">
                      <a16:colId xmlns:a16="http://schemas.microsoft.com/office/drawing/2014/main" val="4076488391"/>
                    </a:ext>
                  </a:extLst>
                </a:gridCol>
                <a:gridCol w="407646">
                  <a:extLst>
                    <a:ext uri="{9D8B030D-6E8A-4147-A177-3AD203B41FA5}">
                      <a16:colId xmlns:a16="http://schemas.microsoft.com/office/drawing/2014/main" val="3254101706"/>
                    </a:ext>
                  </a:extLst>
                </a:gridCol>
                <a:gridCol w="407646">
                  <a:extLst>
                    <a:ext uri="{9D8B030D-6E8A-4147-A177-3AD203B41FA5}">
                      <a16:colId xmlns:a16="http://schemas.microsoft.com/office/drawing/2014/main" val="134131131"/>
                    </a:ext>
                  </a:extLst>
                </a:gridCol>
                <a:gridCol w="407646">
                  <a:extLst>
                    <a:ext uri="{9D8B030D-6E8A-4147-A177-3AD203B41FA5}">
                      <a16:colId xmlns:a16="http://schemas.microsoft.com/office/drawing/2014/main" val="2527660299"/>
                    </a:ext>
                  </a:extLst>
                </a:gridCol>
                <a:gridCol w="407646">
                  <a:extLst>
                    <a:ext uri="{9D8B030D-6E8A-4147-A177-3AD203B41FA5}">
                      <a16:colId xmlns:a16="http://schemas.microsoft.com/office/drawing/2014/main" val="3641075278"/>
                    </a:ext>
                  </a:extLst>
                </a:gridCol>
                <a:gridCol w="407646">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81641756"/>
                  </a:ext>
                </a:extLst>
              </a:tr>
            </a:tbl>
          </a:graphicData>
        </a:graphic>
      </p:graphicFrame>
      <p:sp>
        <p:nvSpPr>
          <p:cNvPr id="3" name="对话气泡: 矩形 2">
            <a:extLst>
              <a:ext uri="{FF2B5EF4-FFF2-40B4-BE49-F238E27FC236}">
                <a16:creationId xmlns:a16="http://schemas.microsoft.com/office/drawing/2014/main" id="{8F33D3B3-7EE0-8413-55F3-D51FE748F0A5}"/>
              </a:ext>
            </a:extLst>
          </p:cNvPr>
          <p:cNvSpPr/>
          <p:nvPr/>
        </p:nvSpPr>
        <p:spPr>
          <a:xfrm>
            <a:off x="632518" y="5700377"/>
            <a:ext cx="5130690" cy="493077"/>
          </a:xfrm>
          <a:prstGeom prst="wedgeRectCallout">
            <a:avLst>
              <a:gd name="adj1" fmla="val -37749"/>
              <a:gd name="adj2" fmla="val -8880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p:txBody>
      </p:sp>
      <p:sp>
        <p:nvSpPr>
          <p:cNvPr id="5" name="对话气泡: 矩形 4">
            <a:extLst>
              <a:ext uri="{FF2B5EF4-FFF2-40B4-BE49-F238E27FC236}">
                <a16:creationId xmlns:a16="http://schemas.microsoft.com/office/drawing/2014/main" id="{65F4B9FA-8C22-91AD-E459-EF9A59A373B5}"/>
              </a:ext>
            </a:extLst>
          </p:cNvPr>
          <p:cNvSpPr/>
          <p:nvPr/>
        </p:nvSpPr>
        <p:spPr>
          <a:xfrm>
            <a:off x="6999624" y="5133868"/>
            <a:ext cx="4000804" cy="566509"/>
          </a:xfrm>
          <a:prstGeom prst="wedgeRectCallout">
            <a:avLst>
              <a:gd name="adj1" fmla="val -48417"/>
              <a:gd name="adj2" fmla="val -8980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p:txBody>
      </p:sp>
    </p:spTree>
    <p:extLst>
      <p:ext uri="{BB962C8B-B14F-4D97-AF65-F5344CB8AC3E}">
        <p14:creationId xmlns:p14="http://schemas.microsoft.com/office/powerpoint/2010/main" val="197064226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029FAB-06BA-33B1-DE74-0906B33A2FA9}"/>
            </a:ext>
          </a:extLst>
        </p:cNvPr>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49E09259-C417-B753-FD9C-C3A200679480}"/>
              </a:ext>
            </a:extLst>
          </p:cNvPr>
          <p:cNvGraphicFramePr>
            <a:graphicFrameLocks noGrp="1"/>
          </p:cNvGraphicFramePr>
          <p:nvPr>
            <p:extLst>
              <p:ext uri="{D42A27DB-BD31-4B8C-83A1-F6EECF244321}">
                <p14:modId xmlns:p14="http://schemas.microsoft.com/office/powerpoint/2010/main" val="214907898"/>
              </p:ext>
            </p:extLst>
          </p:nvPr>
        </p:nvGraphicFramePr>
        <p:xfrm>
          <a:off x="68678" y="1857265"/>
          <a:ext cx="5838268" cy="2206743"/>
        </p:xfrm>
        <a:graphic>
          <a:graphicData uri="http://schemas.openxmlformats.org/drawingml/2006/table">
            <a:tbl>
              <a:tblPr/>
              <a:tblGrid>
                <a:gridCol w="499980">
                  <a:extLst>
                    <a:ext uri="{9D8B030D-6E8A-4147-A177-3AD203B41FA5}">
                      <a16:colId xmlns:a16="http://schemas.microsoft.com/office/drawing/2014/main" val="495084399"/>
                    </a:ext>
                  </a:extLst>
                </a:gridCol>
                <a:gridCol w="266740">
                  <a:extLst>
                    <a:ext uri="{9D8B030D-6E8A-4147-A177-3AD203B41FA5}">
                      <a16:colId xmlns:a16="http://schemas.microsoft.com/office/drawing/2014/main" val="3614210242"/>
                    </a:ext>
                  </a:extLst>
                </a:gridCol>
                <a:gridCol w="625567">
                  <a:extLst>
                    <a:ext uri="{9D8B030D-6E8A-4147-A177-3AD203B41FA5}">
                      <a16:colId xmlns:a16="http://schemas.microsoft.com/office/drawing/2014/main" val="1442124609"/>
                    </a:ext>
                  </a:extLst>
                </a:gridCol>
                <a:gridCol w="2212649">
                  <a:extLst>
                    <a:ext uri="{9D8B030D-6E8A-4147-A177-3AD203B41FA5}">
                      <a16:colId xmlns:a16="http://schemas.microsoft.com/office/drawing/2014/main" val="3603859997"/>
                    </a:ext>
                  </a:extLst>
                </a:gridCol>
                <a:gridCol w="372222">
                  <a:extLst>
                    <a:ext uri="{9D8B030D-6E8A-4147-A177-3AD203B41FA5}">
                      <a16:colId xmlns:a16="http://schemas.microsoft.com/office/drawing/2014/main" val="4076488391"/>
                    </a:ext>
                  </a:extLst>
                </a:gridCol>
                <a:gridCol w="372222">
                  <a:extLst>
                    <a:ext uri="{9D8B030D-6E8A-4147-A177-3AD203B41FA5}">
                      <a16:colId xmlns:a16="http://schemas.microsoft.com/office/drawing/2014/main" val="3254101706"/>
                    </a:ext>
                  </a:extLst>
                </a:gridCol>
                <a:gridCol w="372222">
                  <a:extLst>
                    <a:ext uri="{9D8B030D-6E8A-4147-A177-3AD203B41FA5}">
                      <a16:colId xmlns:a16="http://schemas.microsoft.com/office/drawing/2014/main" val="3712391277"/>
                    </a:ext>
                  </a:extLst>
                </a:gridCol>
                <a:gridCol w="372222">
                  <a:extLst>
                    <a:ext uri="{9D8B030D-6E8A-4147-A177-3AD203B41FA5}">
                      <a16:colId xmlns:a16="http://schemas.microsoft.com/office/drawing/2014/main" val="2527660299"/>
                    </a:ext>
                  </a:extLst>
                </a:gridCol>
                <a:gridCol w="372222">
                  <a:extLst>
                    <a:ext uri="{9D8B030D-6E8A-4147-A177-3AD203B41FA5}">
                      <a16:colId xmlns:a16="http://schemas.microsoft.com/office/drawing/2014/main" val="3641075278"/>
                    </a:ext>
                  </a:extLst>
                </a:gridCol>
                <a:gridCol w="372222">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a:solidFill>
                            <a:schemeClr val="bg1"/>
                          </a:solidFill>
                          <a:latin typeface="+mn-lt"/>
                          <a:cs typeface="Arial" pitchFamily="34" charset="0"/>
                        </a:rPr>
                        <a:t>Invoice to customer for early termination</a:t>
                      </a:r>
                      <a:r>
                        <a:rPr lang="en-US" sz="800" b="1" i="0">
                          <a:solidFill>
                            <a:schemeClr val="bg1"/>
                          </a:solidFill>
                          <a:effectLst/>
                          <a:latin typeface="Arial" panose="020B0604020202020204" pitchFamily="34" charset="0"/>
                        </a:rPr>
                        <a:t>​</a:t>
                      </a:r>
                      <a:endParaRPr lang="en-US" sz="1100" b="1" i="0">
                        <a:solidFill>
                          <a:schemeClr val="bg1"/>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13000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13000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1598279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Revenue(3PO)</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02700914"/>
                  </a:ext>
                </a:extLst>
              </a:tr>
              <a:tr h="9144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Broker Sales</a:t>
                      </a:r>
                      <a:r>
                        <a:rPr lang="en-US" altLang="zh-CN" sz="1000" b="0" i="0" u="none" strike="noStrike" kern="1200">
                          <a:solidFill>
                            <a:srgbClr val="000000"/>
                          </a:solidFill>
                          <a:effectLst/>
                          <a:latin typeface="Arial" panose="020B0604020202020204" pitchFamily="34" charset="0"/>
                          <a:ea typeface="+mn-ea"/>
                          <a:cs typeface="+mn-cs"/>
                        </a:rPr>
                        <a:t>(applicable for No Device return)</a:t>
                      </a:r>
                      <a:endParaRPr lang="en-US" sz="1000" b="0" i="0" u="none" strike="noStrike">
                        <a:solidFill>
                          <a:srgbClr val="000000"/>
                        </a:solidFill>
                        <a:effectLst/>
                        <a:latin typeface="+mn-l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43698393"/>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Svc</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720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720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altLang="zh-CN" sz="1000" b="0" i="0" u="none" strike="noStrike">
                          <a:solidFill>
                            <a:srgbClr val="000000"/>
                          </a:solidFill>
                          <a:effectLst/>
                          <a:latin typeface="+mn-lt"/>
                        </a:rPr>
                        <a:t>Service Revenue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087205294"/>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AR- Upfront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30" name="表格 29">
            <a:extLst>
              <a:ext uri="{FF2B5EF4-FFF2-40B4-BE49-F238E27FC236}">
                <a16:creationId xmlns:a16="http://schemas.microsoft.com/office/drawing/2014/main" id="{3315AB3D-024D-3CD7-F874-BE225DC8DBC2}"/>
              </a:ext>
            </a:extLst>
          </p:cNvPr>
          <p:cNvGraphicFramePr>
            <a:graphicFrameLocks noGrp="1"/>
          </p:cNvGraphicFramePr>
          <p:nvPr>
            <p:extLst>
              <p:ext uri="{D42A27DB-BD31-4B8C-83A1-F6EECF244321}">
                <p14:modId xmlns:p14="http://schemas.microsoft.com/office/powerpoint/2010/main" val="1060538418"/>
              </p:ext>
            </p:extLst>
          </p:nvPr>
        </p:nvGraphicFramePr>
        <p:xfrm>
          <a:off x="68678" y="431020"/>
          <a:ext cx="5838269" cy="1394460"/>
        </p:xfrm>
        <a:graphic>
          <a:graphicData uri="http://schemas.openxmlformats.org/drawingml/2006/table">
            <a:tbl>
              <a:tblPr firstRow="1" bandRow="1">
                <a:tableStyleId>{3C2FFA5D-87B4-456A-9821-1D502468CF0F}</a:tableStyleId>
              </a:tblPr>
              <a:tblGrid>
                <a:gridCol w="676206">
                  <a:extLst>
                    <a:ext uri="{9D8B030D-6E8A-4147-A177-3AD203B41FA5}">
                      <a16:colId xmlns:a16="http://schemas.microsoft.com/office/drawing/2014/main" val="869603910"/>
                    </a:ext>
                  </a:extLst>
                </a:gridCol>
                <a:gridCol w="600695">
                  <a:extLst>
                    <a:ext uri="{9D8B030D-6E8A-4147-A177-3AD203B41FA5}">
                      <a16:colId xmlns:a16="http://schemas.microsoft.com/office/drawing/2014/main" val="238663902"/>
                    </a:ext>
                  </a:extLst>
                </a:gridCol>
                <a:gridCol w="616475">
                  <a:extLst>
                    <a:ext uri="{9D8B030D-6E8A-4147-A177-3AD203B41FA5}">
                      <a16:colId xmlns:a16="http://schemas.microsoft.com/office/drawing/2014/main" val="4114365151"/>
                    </a:ext>
                  </a:extLst>
                </a:gridCol>
                <a:gridCol w="649158">
                  <a:extLst>
                    <a:ext uri="{9D8B030D-6E8A-4147-A177-3AD203B41FA5}">
                      <a16:colId xmlns:a16="http://schemas.microsoft.com/office/drawing/2014/main" val="4075178046"/>
                    </a:ext>
                  </a:extLst>
                </a:gridCol>
                <a:gridCol w="78314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chemeClr val="tx1"/>
                          </a:solidFill>
                        </a:rPr>
                        <a:t>Fixed</a:t>
                      </a:r>
                      <a:endParaRPr lang="zh-CN" altLang="en-US" sz="105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3PO</a:t>
                      </a:r>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kern="1200">
                          <a:solidFill>
                            <a:sysClr val="windowText" lastClr="000000"/>
                          </a:solidFill>
                          <a:latin typeface="+mn-lt"/>
                          <a:ea typeface="+mn-ea"/>
                          <a:cs typeface="+mn-cs"/>
                        </a:rPr>
                        <a:t>ET Device Lost/Stolen</a:t>
                      </a:r>
                      <a:endParaRPr lang="zh-CN" altLang="en-US" sz="1050" kern="1200">
                        <a:solidFill>
                          <a:sysClr val="windowText" lastClr="000000"/>
                        </a:solidFill>
                        <a:latin typeface="+mn-lt"/>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3" name="文本框 32">
            <a:extLst>
              <a:ext uri="{FF2B5EF4-FFF2-40B4-BE49-F238E27FC236}">
                <a16:creationId xmlns:a16="http://schemas.microsoft.com/office/drawing/2014/main" id="{70AFB7FD-5D2D-AEB3-5798-277ED9C5F703}"/>
              </a:ext>
            </a:extLst>
          </p:cNvPr>
          <p:cNvSpPr txBox="1"/>
          <p:nvPr/>
        </p:nvSpPr>
        <p:spPr>
          <a:xfrm>
            <a:off x="143235" y="47255"/>
            <a:ext cx="4470947" cy="400110"/>
          </a:xfrm>
          <a:prstGeom prst="rect">
            <a:avLst/>
          </a:prstGeom>
          <a:noFill/>
        </p:spPr>
        <p:txBody>
          <a:bodyPr wrap="square" rtlCol="0">
            <a:spAutoFit/>
          </a:bodyPr>
          <a:lstStyle/>
          <a:p>
            <a:r>
              <a:rPr lang="nl-NL" altLang="zh-CN" sz="2000" b="1"/>
              <a:t>ISGLEASE_ S&amp;D_MSA</a:t>
            </a:r>
            <a:endParaRPr lang="zh-CN" altLang="en-US" sz="2000" b="1"/>
          </a:p>
        </p:txBody>
      </p:sp>
      <p:cxnSp>
        <p:nvCxnSpPr>
          <p:cNvPr id="4" name="直接连接符 3">
            <a:extLst>
              <a:ext uri="{FF2B5EF4-FFF2-40B4-BE49-F238E27FC236}">
                <a16:creationId xmlns:a16="http://schemas.microsoft.com/office/drawing/2014/main" id="{3FACCA8D-EDE2-275E-8662-6013911F2831}"/>
              </a:ext>
            </a:extLst>
          </p:cNvPr>
          <p:cNvCxnSpPr>
            <a:cxnSpLocks/>
          </p:cNvCxnSpPr>
          <p:nvPr/>
        </p:nvCxnSpPr>
        <p:spPr>
          <a:xfrm>
            <a:off x="6173972"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8" name="表格 7">
            <a:extLst>
              <a:ext uri="{FF2B5EF4-FFF2-40B4-BE49-F238E27FC236}">
                <a16:creationId xmlns:a16="http://schemas.microsoft.com/office/drawing/2014/main" id="{DBD4473C-975D-F10A-0AEA-F221251148FD}"/>
              </a:ext>
            </a:extLst>
          </p:cNvPr>
          <p:cNvGraphicFramePr>
            <a:graphicFrameLocks noGrp="1"/>
          </p:cNvGraphicFramePr>
          <p:nvPr>
            <p:extLst>
              <p:ext uri="{D42A27DB-BD31-4B8C-83A1-F6EECF244321}">
                <p14:modId xmlns:p14="http://schemas.microsoft.com/office/powerpoint/2010/main" val="2374511296"/>
              </p:ext>
            </p:extLst>
          </p:nvPr>
        </p:nvGraphicFramePr>
        <p:xfrm>
          <a:off x="6285055" y="447365"/>
          <a:ext cx="5838269" cy="1394460"/>
        </p:xfrm>
        <a:graphic>
          <a:graphicData uri="http://schemas.openxmlformats.org/drawingml/2006/table">
            <a:tbl>
              <a:tblPr firstRow="1" bandRow="1">
                <a:tableStyleId>{3C2FFA5D-87B4-456A-9821-1D502468CF0F}</a:tableStyleId>
              </a:tblPr>
              <a:tblGrid>
                <a:gridCol w="636740">
                  <a:extLst>
                    <a:ext uri="{9D8B030D-6E8A-4147-A177-3AD203B41FA5}">
                      <a16:colId xmlns:a16="http://schemas.microsoft.com/office/drawing/2014/main" val="869603910"/>
                    </a:ext>
                  </a:extLst>
                </a:gridCol>
                <a:gridCol w="691117">
                  <a:extLst>
                    <a:ext uri="{9D8B030D-6E8A-4147-A177-3AD203B41FA5}">
                      <a16:colId xmlns:a16="http://schemas.microsoft.com/office/drawing/2014/main" val="238663902"/>
                    </a:ext>
                  </a:extLst>
                </a:gridCol>
                <a:gridCol w="659218">
                  <a:extLst>
                    <a:ext uri="{9D8B030D-6E8A-4147-A177-3AD203B41FA5}">
                      <a16:colId xmlns:a16="http://schemas.microsoft.com/office/drawing/2014/main" val="4114365151"/>
                    </a:ext>
                  </a:extLst>
                </a:gridCol>
                <a:gridCol w="659219">
                  <a:extLst>
                    <a:ext uri="{9D8B030D-6E8A-4147-A177-3AD203B41FA5}">
                      <a16:colId xmlns:a16="http://schemas.microsoft.com/office/drawing/2014/main" val="4075178046"/>
                    </a:ext>
                  </a:extLst>
                </a:gridCol>
                <a:gridCol w="67938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400573">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88413">
                <a:tc rowSpan="2">
                  <a:txBody>
                    <a:bodyPr/>
                    <a:lstStyle/>
                    <a:p>
                      <a:r>
                        <a:rPr lang="en-US" altLang="zh-CN" sz="1050">
                          <a:solidFill>
                            <a:schemeClr val="tx1"/>
                          </a:solidFill>
                        </a:rPr>
                        <a:t>Fixed</a:t>
                      </a:r>
                      <a:endParaRPr lang="zh-CN" altLang="en-US" sz="105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3PO</a:t>
                      </a:r>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88413">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kern="1200">
                          <a:solidFill>
                            <a:sysClr val="windowText" lastClr="000000"/>
                          </a:solidFill>
                          <a:latin typeface="+mn-lt"/>
                          <a:ea typeface="+mn-ea"/>
                          <a:cs typeface="+mn-cs"/>
                        </a:rPr>
                        <a:t>ET Device Lost/Stolen</a:t>
                      </a:r>
                      <a:endParaRPr lang="zh-CN" altLang="en-US" sz="1050" kern="1200">
                        <a:solidFill>
                          <a:sysClr val="windowText" lastClr="000000"/>
                        </a:solidFill>
                        <a:latin typeface="+mn-lt"/>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6" name="表格 17">
            <a:extLst>
              <a:ext uri="{FF2B5EF4-FFF2-40B4-BE49-F238E27FC236}">
                <a16:creationId xmlns:a16="http://schemas.microsoft.com/office/drawing/2014/main" id="{E2BE5391-BA6A-7AAC-21FB-8038A4A37148}"/>
              </a:ext>
            </a:extLst>
          </p:cNvPr>
          <p:cNvGraphicFramePr>
            <a:graphicFrameLocks noGrp="1"/>
          </p:cNvGraphicFramePr>
          <p:nvPr>
            <p:extLst>
              <p:ext uri="{D42A27DB-BD31-4B8C-83A1-F6EECF244321}">
                <p14:modId xmlns:p14="http://schemas.microsoft.com/office/powerpoint/2010/main" val="400883503"/>
              </p:ext>
            </p:extLst>
          </p:nvPr>
        </p:nvGraphicFramePr>
        <p:xfrm>
          <a:off x="6292748" y="1905674"/>
          <a:ext cx="5830570" cy="2206743"/>
        </p:xfrm>
        <a:graphic>
          <a:graphicData uri="http://schemas.openxmlformats.org/drawingml/2006/table">
            <a:tbl>
              <a:tblPr/>
              <a:tblGrid>
                <a:gridCol w="499321">
                  <a:extLst>
                    <a:ext uri="{9D8B030D-6E8A-4147-A177-3AD203B41FA5}">
                      <a16:colId xmlns:a16="http://schemas.microsoft.com/office/drawing/2014/main" val="495084399"/>
                    </a:ext>
                  </a:extLst>
                </a:gridCol>
                <a:gridCol w="266388">
                  <a:extLst>
                    <a:ext uri="{9D8B030D-6E8A-4147-A177-3AD203B41FA5}">
                      <a16:colId xmlns:a16="http://schemas.microsoft.com/office/drawing/2014/main" val="3614210242"/>
                    </a:ext>
                  </a:extLst>
                </a:gridCol>
                <a:gridCol w="624743">
                  <a:extLst>
                    <a:ext uri="{9D8B030D-6E8A-4147-A177-3AD203B41FA5}">
                      <a16:colId xmlns:a16="http://schemas.microsoft.com/office/drawing/2014/main" val="1442124609"/>
                    </a:ext>
                  </a:extLst>
                </a:gridCol>
                <a:gridCol w="2209732">
                  <a:extLst>
                    <a:ext uri="{9D8B030D-6E8A-4147-A177-3AD203B41FA5}">
                      <a16:colId xmlns:a16="http://schemas.microsoft.com/office/drawing/2014/main" val="3603859997"/>
                    </a:ext>
                  </a:extLst>
                </a:gridCol>
                <a:gridCol w="371731">
                  <a:extLst>
                    <a:ext uri="{9D8B030D-6E8A-4147-A177-3AD203B41FA5}">
                      <a16:colId xmlns:a16="http://schemas.microsoft.com/office/drawing/2014/main" val="4076488391"/>
                    </a:ext>
                  </a:extLst>
                </a:gridCol>
                <a:gridCol w="371731">
                  <a:extLst>
                    <a:ext uri="{9D8B030D-6E8A-4147-A177-3AD203B41FA5}">
                      <a16:colId xmlns:a16="http://schemas.microsoft.com/office/drawing/2014/main" val="3254101706"/>
                    </a:ext>
                  </a:extLst>
                </a:gridCol>
                <a:gridCol w="371731">
                  <a:extLst>
                    <a:ext uri="{9D8B030D-6E8A-4147-A177-3AD203B41FA5}">
                      <a16:colId xmlns:a16="http://schemas.microsoft.com/office/drawing/2014/main" val="3712391277"/>
                    </a:ext>
                  </a:extLst>
                </a:gridCol>
                <a:gridCol w="371731">
                  <a:extLst>
                    <a:ext uri="{9D8B030D-6E8A-4147-A177-3AD203B41FA5}">
                      <a16:colId xmlns:a16="http://schemas.microsoft.com/office/drawing/2014/main" val="2527660299"/>
                    </a:ext>
                  </a:extLst>
                </a:gridCol>
                <a:gridCol w="371731">
                  <a:extLst>
                    <a:ext uri="{9D8B030D-6E8A-4147-A177-3AD203B41FA5}">
                      <a16:colId xmlns:a16="http://schemas.microsoft.com/office/drawing/2014/main" val="3641075278"/>
                    </a:ext>
                  </a:extLst>
                </a:gridCol>
                <a:gridCol w="371731">
                  <a:extLst>
                    <a:ext uri="{9D8B030D-6E8A-4147-A177-3AD203B41FA5}">
                      <a16:colId xmlns:a16="http://schemas.microsoft.com/office/drawing/2014/main" val="3618613915"/>
                    </a:ext>
                  </a:extLst>
                </a:gridCol>
              </a:tblGrid>
              <a:tr h="1788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a:solidFill>
                            <a:schemeClr val="bg1"/>
                          </a:solidFill>
                          <a:latin typeface="+mn-lt"/>
                          <a:cs typeface="Arial" pitchFamily="34" charset="0"/>
                        </a:rPr>
                        <a:t>Invoice to customer for early termination</a:t>
                      </a:r>
                      <a:r>
                        <a:rPr lang="en-US" sz="800" b="1" i="0">
                          <a:solidFill>
                            <a:schemeClr val="bg1"/>
                          </a:solidFill>
                          <a:effectLst/>
                          <a:latin typeface="Arial" panose="020B0604020202020204" pitchFamily="34" charset="0"/>
                        </a:rPr>
                        <a:t>​</a:t>
                      </a:r>
                      <a:endParaRPr lang="en-US" sz="1100" b="1" i="0">
                        <a:solidFill>
                          <a:schemeClr val="bg1"/>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Finance Lease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13000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13000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1598279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20490056"/>
                  </a:ext>
                </a:extLst>
              </a:tr>
              <a:tr h="9144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Broker Sales</a:t>
                      </a:r>
                      <a:r>
                        <a:rPr lang="en-US" altLang="zh-CN" sz="1000" b="0" i="0" u="none" strike="noStrike" kern="1200">
                          <a:solidFill>
                            <a:srgbClr val="000000"/>
                          </a:solidFill>
                          <a:effectLst/>
                          <a:latin typeface="Arial" panose="020B0604020202020204" pitchFamily="34" charset="0"/>
                          <a:ea typeface="+mn-ea"/>
                          <a:cs typeface="+mn-cs"/>
                        </a:rPr>
                        <a:t>(applicable for No Device return)</a:t>
                      </a:r>
                      <a:endParaRPr lang="en-US" sz="1000" b="0" i="0" u="none" strike="noStrike">
                        <a:solidFill>
                          <a:srgbClr val="000000"/>
                        </a:solidFill>
                        <a:effectLst/>
                        <a:latin typeface="+mn-l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48802026"/>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Svc</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720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720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altLang="zh-CN" sz="1000" b="0" i="0" u="none" strike="noStrike">
                          <a:solidFill>
                            <a:srgbClr val="000000"/>
                          </a:solidFill>
                          <a:effectLst/>
                          <a:latin typeface="+mn-lt"/>
                        </a:rPr>
                        <a:t>Service Revenue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087205294"/>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tx1"/>
                          </a:solidFill>
                          <a:effectLst/>
                          <a:uLnTx/>
                          <a:uFillTx/>
                          <a:latin typeface="+mn-lt"/>
                          <a:ea typeface="+mn-ea"/>
                          <a:cs typeface="+mn-cs"/>
                        </a:rPr>
                        <a:t>AR- Upfront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chemeClr val="tx1"/>
                          </a:solidFill>
                          <a:effectLst/>
                          <a:uLnTx/>
                          <a:uFillTx/>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chemeClr val="tx1"/>
                          </a:solidFill>
                          <a:effectLst/>
                          <a:uLnTx/>
                          <a:uFillTx/>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14" name="Speech Bubble: Rectangle with Corners Rounded 7">
            <a:extLst>
              <a:ext uri="{FF2B5EF4-FFF2-40B4-BE49-F238E27FC236}">
                <a16:creationId xmlns:a16="http://schemas.microsoft.com/office/drawing/2014/main" id="{212AFD53-FF9E-561F-299F-6284C8CBD4E8}"/>
              </a:ext>
            </a:extLst>
          </p:cNvPr>
          <p:cNvSpPr/>
          <p:nvPr/>
        </p:nvSpPr>
        <p:spPr>
          <a:xfrm>
            <a:off x="465565" y="4296771"/>
            <a:ext cx="5034088" cy="553526"/>
          </a:xfrm>
          <a:prstGeom prst="wedgeRoundRectCallout">
            <a:avLst>
              <a:gd name="adj1" fmla="val -32179"/>
              <a:gd name="adj2" fmla="val -167842"/>
              <a:gd name="adj3" fmla="val 1666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 EMEA SD Model rollout extra recorded in interest income</a:t>
            </a:r>
            <a:r>
              <a:rPr lang="zh-CN" altLang="en-US" sz="1200">
                <a:solidFill>
                  <a:schemeClr val="tx1"/>
                </a:solidFill>
              </a:rPr>
              <a:t> </a:t>
            </a:r>
            <a:r>
              <a:rPr lang="en-US" altLang="zh-CN" sz="1200">
                <a:solidFill>
                  <a:schemeClr val="tx1"/>
                </a:solidFill>
              </a:rPr>
              <a:t>(ongoing service </a:t>
            </a:r>
            <a:r>
              <a:rPr lang="en-US" altLang="zh-CN" sz="1200" err="1">
                <a:solidFill>
                  <a:schemeClr val="tx1"/>
                </a:solidFill>
              </a:rPr>
              <a:t>PoB</a:t>
            </a:r>
            <a:r>
              <a:rPr lang="en-US" altLang="zh-CN" sz="1200">
                <a:solidFill>
                  <a:schemeClr val="tx1"/>
                </a:solidFill>
              </a:rPr>
              <a:t> have not met upon ET )</a:t>
            </a:r>
          </a:p>
          <a:p>
            <a:r>
              <a:rPr lang="en-US" sz="1200">
                <a:solidFill>
                  <a:schemeClr val="tx1"/>
                </a:solidFill>
              </a:rPr>
              <a:t>Now confirmed with Accounting that change to service revenue</a:t>
            </a:r>
          </a:p>
        </p:txBody>
      </p:sp>
      <p:sp>
        <p:nvSpPr>
          <p:cNvPr id="2" name="Rectangle 1">
            <a:extLst>
              <a:ext uri="{FF2B5EF4-FFF2-40B4-BE49-F238E27FC236}">
                <a16:creationId xmlns:a16="http://schemas.microsoft.com/office/drawing/2014/main" id="{918B8C8F-5C2B-1116-9A69-EAC0BEB9976B}"/>
              </a:ext>
            </a:extLst>
          </p:cNvPr>
          <p:cNvSpPr/>
          <p:nvPr/>
        </p:nvSpPr>
        <p:spPr>
          <a:xfrm>
            <a:off x="559794" y="3457043"/>
            <a:ext cx="5347152" cy="22686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3" name="Rectangle 2">
            <a:extLst>
              <a:ext uri="{FF2B5EF4-FFF2-40B4-BE49-F238E27FC236}">
                <a16:creationId xmlns:a16="http://schemas.microsoft.com/office/drawing/2014/main" id="{CCF561C0-A51A-00AE-BCE8-F83DB7D8E366}"/>
              </a:ext>
            </a:extLst>
          </p:cNvPr>
          <p:cNvSpPr/>
          <p:nvPr/>
        </p:nvSpPr>
        <p:spPr>
          <a:xfrm>
            <a:off x="6767978" y="3522349"/>
            <a:ext cx="5347152" cy="22686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Tree>
    <p:extLst>
      <p:ext uri="{BB962C8B-B14F-4D97-AF65-F5344CB8AC3E}">
        <p14:creationId xmlns:p14="http://schemas.microsoft.com/office/powerpoint/2010/main" val="153637150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57CA3E-B07F-273D-E0C2-A9B6A564979E}"/>
            </a:ext>
          </a:extLst>
        </p:cNvPr>
        <p:cNvGrpSpPr/>
        <p:nvPr/>
      </p:nvGrpSpPr>
      <p:grpSpPr>
        <a:xfrm>
          <a:off x="0" y="0"/>
          <a:ext cx="0" cy="0"/>
          <a:chOff x="0" y="0"/>
          <a:chExt cx="0" cy="0"/>
        </a:xfrm>
      </p:grpSpPr>
      <p:sp>
        <p:nvSpPr>
          <p:cNvPr id="5" name="文本框 4">
            <a:extLst>
              <a:ext uri="{FF2B5EF4-FFF2-40B4-BE49-F238E27FC236}">
                <a16:creationId xmlns:a16="http://schemas.microsoft.com/office/drawing/2014/main" id="{D0218257-51B7-82EB-AAC8-F376AC4BC00A}"/>
              </a:ext>
            </a:extLst>
          </p:cNvPr>
          <p:cNvSpPr txBox="1"/>
          <p:nvPr/>
        </p:nvSpPr>
        <p:spPr>
          <a:xfrm>
            <a:off x="143235" y="47255"/>
            <a:ext cx="4470947" cy="400110"/>
          </a:xfrm>
          <a:prstGeom prst="rect">
            <a:avLst/>
          </a:prstGeom>
          <a:noFill/>
        </p:spPr>
        <p:txBody>
          <a:bodyPr wrap="square" rtlCol="0">
            <a:spAutoFit/>
          </a:bodyPr>
          <a:lstStyle/>
          <a:p>
            <a:r>
              <a:rPr lang="nl-NL" altLang="zh-CN" sz="2000" b="1"/>
              <a:t>ISGLEASE _S&amp;D_MSA</a:t>
            </a:r>
            <a:endParaRPr lang="zh-CN" altLang="en-US" sz="2000" b="1"/>
          </a:p>
        </p:txBody>
      </p:sp>
      <p:graphicFrame>
        <p:nvGraphicFramePr>
          <p:cNvPr id="6" name="表格 5">
            <a:extLst>
              <a:ext uri="{FF2B5EF4-FFF2-40B4-BE49-F238E27FC236}">
                <a16:creationId xmlns:a16="http://schemas.microsoft.com/office/drawing/2014/main" id="{DBFB074F-350D-7E8C-6C04-95E6A7F1B0C1}"/>
              </a:ext>
            </a:extLst>
          </p:cNvPr>
          <p:cNvGraphicFramePr>
            <a:graphicFrameLocks noGrp="1"/>
          </p:cNvGraphicFramePr>
          <p:nvPr>
            <p:extLst>
              <p:ext uri="{D42A27DB-BD31-4B8C-83A1-F6EECF244321}">
                <p14:modId xmlns:p14="http://schemas.microsoft.com/office/powerpoint/2010/main" val="288008989"/>
              </p:ext>
            </p:extLst>
          </p:nvPr>
        </p:nvGraphicFramePr>
        <p:xfrm>
          <a:off x="100071" y="447365"/>
          <a:ext cx="5890437" cy="155448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3PO</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85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11" name="表格 10">
            <a:extLst>
              <a:ext uri="{FF2B5EF4-FFF2-40B4-BE49-F238E27FC236}">
                <a16:creationId xmlns:a16="http://schemas.microsoft.com/office/drawing/2014/main" id="{D8448688-A2B3-735A-595E-B360C11D8A8C}"/>
              </a:ext>
            </a:extLst>
          </p:cNvPr>
          <p:cNvGraphicFramePr>
            <a:graphicFrameLocks noGrp="1"/>
          </p:cNvGraphicFramePr>
          <p:nvPr>
            <p:extLst>
              <p:ext uri="{D42A27DB-BD31-4B8C-83A1-F6EECF244321}">
                <p14:modId xmlns:p14="http://schemas.microsoft.com/office/powerpoint/2010/main" val="3171389244"/>
              </p:ext>
            </p:extLst>
          </p:nvPr>
        </p:nvGraphicFramePr>
        <p:xfrm>
          <a:off x="100071" y="2274599"/>
          <a:ext cx="5901072" cy="1892418"/>
        </p:xfrm>
        <a:graphic>
          <a:graphicData uri="http://schemas.openxmlformats.org/drawingml/2006/table">
            <a:tbl>
              <a:tblPr/>
              <a:tblGrid>
                <a:gridCol w="485995">
                  <a:extLst>
                    <a:ext uri="{9D8B030D-6E8A-4147-A177-3AD203B41FA5}">
                      <a16:colId xmlns:a16="http://schemas.microsoft.com/office/drawing/2014/main" val="495084399"/>
                    </a:ext>
                  </a:extLst>
                </a:gridCol>
                <a:gridCol w="267224">
                  <a:extLst>
                    <a:ext uri="{9D8B030D-6E8A-4147-A177-3AD203B41FA5}">
                      <a16:colId xmlns:a16="http://schemas.microsoft.com/office/drawing/2014/main" val="3614210242"/>
                    </a:ext>
                  </a:extLst>
                </a:gridCol>
                <a:gridCol w="635959">
                  <a:extLst>
                    <a:ext uri="{9D8B030D-6E8A-4147-A177-3AD203B41FA5}">
                      <a16:colId xmlns:a16="http://schemas.microsoft.com/office/drawing/2014/main" val="1442124609"/>
                    </a:ext>
                  </a:extLst>
                </a:gridCol>
                <a:gridCol w="2311616">
                  <a:extLst>
                    <a:ext uri="{9D8B030D-6E8A-4147-A177-3AD203B41FA5}">
                      <a16:colId xmlns:a16="http://schemas.microsoft.com/office/drawing/2014/main" val="3603859997"/>
                    </a:ext>
                  </a:extLst>
                </a:gridCol>
                <a:gridCol w="366713">
                  <a:extLst>
                    <a:ext uri="{9D8B030D-6E8A-4147-A177-3AD203B41FA5}">
                      <a16:colId xmlns:a16="http://schemas.microsoft.com/office/drawing/2014/main" val="4076488391"/>
                    </a:ext>
                  </a:extLst>
                </a:gridCol>
                <a:gridCol w="366713">
                  <a:extLst>
                    <a:ext uri="{9D8B030D-6E8A-4147-A177-3AD203B41FA5}">
                      <a16:colId xmlns:a16="http://schemas.microsoft.com/office/drawing/2014/main" val="3254101706"/>
                    </a:ext>
                  </a:extLst>
                </a:gridCol>
                <a:gridCol w="366713">
                  <a:extLst>
                    <a:ext uri="{9D8B030D-6E8A-4147-A177-3AD203B41FA5}">
                      <a16:colId xmlns:a16="http://schemas.microsoft.com/office/drawing/2014/main" val="3712391277"/>
                    </a:ext>
                  </a:extLst>
                </a:gridCol>
                <a:gridCol w="366713">
                  <a:extLst>
                    <a:ext uri="{9D8B030D-6E8A-4147-A177-3AD203B41FA5}">
                      <a16:colId xmlns:a16="http://schemas.microsoft.com/office/drawing/2014/main" val="2527660299"/>
                    </a:ext>
                  </a:extLst>
                </a:gridCol>
                <a:gridCol w="366713">
                  <a:extLst>
                    <a:ext uri="{9D8B030D-6E8A-4147-A177-3AD203B41FA5}">
                      <a16:colId xmlns:a16="http://schemas.microsoft.com/office/drawing/2014/main" val="3641075278"/>
                    </a:ext>
                  </a:extLst>
                </a:gridCol>
                <a:gridCol w="366713">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Revenue(3PO)</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92049999"/>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Svc</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5010440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rgbClr val="000000"/>
                          </a:solidFill>
                          <a:effectLst/>
                          <a:latin typeface="+mn-lt"/>
                          <a:ea typeface="+mn-ea"/>
                          <a:cs typeface="+mn-cs"/>
                        </a:rPr>
                        <a:t>Interest income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509671263"/>
                  </a:ext>
                </a:extLst>
              </a:tr>
            </a:tbl>
          </a:graphicData>
        </a:graphic>
      </p:graphicFrame>
      <p:sp>
        <p:nvSpPr>
          <p:cNvPr id="2" name="对话气泡: 矩形 11">
            <a:extLst>
              <a:ext uri="{FF2B5EF4-FFF2-40B4-BE49-F238E27FC236}">
                <a16:creationId xmlns:a16="http://schemas.microsoft.com/office/drawing/2014/main" id="{A6BBF42A-59BC-3FA4-1C48-B42007EE4918}"/>
              </a:ext>
            </a:extLst>
          </p:cNvPr>
          <p:cNvSpPr/>
          <p:nvPr/>
        </p:nvSpPr>
        <p:spPr>
          <a:xfrm>
            <a:off x="399549" y="4774615"/>
            <a:ext cx="5571460" cy="741701"/>
          </a:xfrm>
          <a:prstGeom prst="wedgeRectCallout">
            <a:avLst>
              <a:gd name="adj1" fmla="val -35749"/>
              <a:gd name="adj2" fmla="val -13478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Confirmed with Accounting:</a:t>
            </a:r>
          </a:p>
          <a:p>
            <a:r>
              <a:rPr lang="en-US" altLang="zh-CN" sz="1200">
                <a:solidFill>
                  <a:schemeClr val="tx1"/>
                </a:solidFill>
              </a:rPr>
              <a:t>Upfront service has been cleared under LT-AR during normal lease term</a:t>
            </a:r>
          </a:p>
          <a:p>
            <a:r>
              <a:rPr lang="en-US" altLang="zh-CN" sz="1200">
                <a:solidFill>
                  <a:schemeClr val="tx1"/>
                </a:solidFill>
              </a:rPr>
              <a:t>During extension, no actual upfront service for customer, will recognize as interest income</a:t>
            </a:r>
          </a:p>
        </p:txBody>
      </p:sp>
      <p:graphicFrame>
        <p:nvGraphicFramePr>
          <p:cNvPr id="3" name="表格 5">
            <a:extLst>
              <a:ext uri="{FF2B5EF4-FFF2-40B4-BE49-F238E27FC236}">
                <a16:creationId xmlns:a16="http://schemas.microsoft.com/office/drawing/2014/main" id="{F3DDD670-5EEA-1BB3-A483-AFC5B7F65EBE}"/>
              </a:ext>
            </a:extLst>
          </p:cNvPr>
          <p:cNvGraphicFramePr>
            <a:graphicFrameLocks noGrp="1"/>
          </p:cNvGraphicFramePr>
          <p:nvPr>
            <p:extLst>
              <p:ext uri="{D42A27DB-BD31-4B8C-83A1-F6EECF244321}">
                <p14:modId xmlns:p14="http://schemas.microsoft.com/office/powerpoint/2010/main" val="2216362075"/>
              </p:ext>
            </p:extLst>
          </p:nvPr>
        </p:nvGraphicFramePr>
        <p:xfrm>
          <a:off x="6196075" y="447365"/>
          <a:ext cx="5890437" cy="155448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3PO</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4" name="表格 10">
            <a:extLst>
              <a:ext uri="{FF2B5EF4-FFF2-40B4-BE49-F238E27FC236}">
                <a16:creationId xmlns:a16="http://schemas.microsoft.com/office/drawing/2014/main" id="{AD9E5CCA-EB94-144C-A796-20DFDE8FBC3A}"/>
              </a:ext>
            </a:extLst>
          </p:cNvPr>
          <p:cNvGraphicFramePr>
            <a:graphicFrameLocks noGrp="1"/>
          </p:cNvGraphicFramePr>
          <p:nvPr>
            <p:extLst>
              <p:ext uri="{D42A27DB-BD31-4B8C-83A1-F6EECF244321}">
                <p14:modId xmlns:p14="http://schemas.microsoft.com/office/powerpoint/2010/main" val="163032287"/>
              </p:ext>
            </p:extLst>
          </p:nvPr>
        </p:nvGraphicFramePr>
        <p:xfrm>
          <a:off x="6185442" y="2265455"/>
          <a:ext cx="5901072" cy="1892418"/>
        </p:xfrm>
        <a:graphic>
          <a:graphicData uri="http://schemas.openxmlformats.org/drawingml/2006/table">
            <a:tbl>
              <a:tblPr/>
              <a:tblGrid>
                <a:gridCol w="485995">
                  <a:extLst>
                    <a:ext uri="{9D8B030D-6E8A-4147-A177-3AD203B41FA5}">
                      <a16:colId xmlns:a16="http://schemas.microsoft.com/office/drawing/2014/main" val="495084399"/>
                    </a:ext>
                  </a:extLst>
                </a:gridCol>
                <a:gridCol w="267224">
                  <a:extLst>
                    <a:ext uri="{9D8B030D-6E8A-4147-A177-3AD203B41FA5}">
                      <a16:colId xmlns:a16="http://schemas.microsoft.com/office/drawing/2014/main" val="3614210242"/>
                    </a:ext>
                  </a:extLst>
                </a:gridCol>
                <a:gridCol w="635959">
                  <a:extLst>
                    <a:ext uri="{9D8B030D-6E8A-4147-A177-3AD203B41FA5}">
                      <a16:colId xmlns:a16="http://schemas.microsoft.com/office/drawing/2014/main" val="1442124609"/>
                    </a:ext>
                  </a:extLst>
                </a:gridCol>
                <a:gridCol w="2311616">
                  <a:extLst>
                    <a:ext uri="{9D8B030D-6E8A-4147-A177-3AD203B41FA5}">
                      <a16:colId xmlns:a16="http://schemas.microsoft.com/office/drawing/2014/main" val="3603859997"/>
                    </a:ext>
                  </a:extLst>
                </a:gridCol>
                <a:gridCol w="366713">
                  <a:extLst>
                    <a:ext uri="{9D8B030D-6E8A-4147-A177-3AD203B41FA5}">
                      <a16:colId xmlns:a16="http://schemas.microsoft.com/office/drawing/2014/main" val="4076488391"/>
                    </a:ext>
                  </a:extLst>
                </a:gridCol>
                <a:gridCol w="366713">
                  <a:extLst>
                    <a:ext uri="{9D8B030D-6E8A-4147-A177-3AD203B41FA5}">
                      <a16:colId xmlns:a16="http://schemas.microsoft.com/office/drawing/2014/main" val="3254101706"/>
                    </a:ext>
                  </a:extLst>
                </a:gridCol>
                <a:gridCol w="366713">
                  <a:extLst>
                    <a:ext uri="{9D8B030D-6E8A-4147-A177-3AD203B41FA5}">
                      <a16:colId xmlns:a16="http://schemas.microsoft.com/office/drawing/2014/main" val="3712391277"/>
                    </a:ext>
                  </a:extLst>
                </a:gridCol>
                <a:gridCol w="366713">
                  <a:extLst>
                    <a:ext uri="{9D8B030D-6E8A-4147-A177-3AD203B41FA5}">
                      <a16:colId xmlns:a16="http://schemas.microsoft.com/office/drawing/2014/main" val="2527660299"/>
                    </a:ext>
                  </a:extLst>
                </a:gridCol>
                <a:gridCol w="366713">
                  <a:extLst>
                    <a:ext uri="{9D8B030D-6E8A-4147-A177-3AD203B41FA5}">
                      <a16:colId xmlns:a16="http://schemas.microsoft.com/office/drawing/2014/main" val="3641075278"/>
                    </a:ext>
                  </a:extLst>
                </a:gridCol>
                <a:gridCol w="366713">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57144530"/>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 (3PO)</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68457873"/>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Svc</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5010440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rgbClr val="000000"/>
                          </a:solidFill>
                          <a:effectLst/>
                          <a:latin typeface="+mn-lt"/>
                          <a:ea typeface="+mn-ea"/>
                          <a:cs typeface="+mn-cs"/>
                        </a:rPr>
                        <a:t>Interest income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509671263"/>
                  </a:ext>
                </a:extLst>
              </a:tr>
            </a:tbl>
          </a:graphicData>
        </a:graphic>
      </p:graphicFrame>
      <p:cxnSp>
        <p:nvCxnSpPr>
          <p:cNvPr id="9" name="直接连接符 3">
            <a:extLst>
              <a:ext uri="{FF2B5EF4-FFF2-40B4-BE49-F238E27FC236}">
                <a16:creationId xmlns:a16="http://schemas.microsoft.com/office/drawing/2014/main" id="{4AC79DE2-4E73-DF55-8F01-4FD74CEDE400}"/>
              </a:ext>
            </a:extLst>
          </p:cNvPr>
          <p:cNvCxnSpPr>
            <a:cxnSpLocks/>
          </p:cNvCxnSpPr>
          <p:nvPr/>
        </p:nvCxnSpPr>
        <p:spPr>
          <a:xfrm>
            <a:off x="6096284"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13" name="Rectangle 1">
            <a:extLst>
              <a:ext uri="{FF2B5EF4-FFF2-40B4-BE49-F238E27FC236}">
                <a16:creationId xmlns:a16="http://schemas.microsoft.com/office/drawing/2014/main" id="{1D04DC84-700E-4749-5E7F-19DB5AC75B20}"/>
              </a:ext>
            </a:extLst>
          </p:cNvPr>
          <p:cNvSpPr/>
          <p:nvPr/>
        </p:nvSpPr>
        <p:spPr>
          <a:xfrm>
            <a:off x="590966" y="3950316"/>
            <a:ext cx="5347152" cy="22686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5" name="Rectangle 1">
            <a:extLst>
              <a:ext uri="{FF2B5EF4-FFF2-40B4-BE49-F238E27FC236}">
                <a16:creationId xmlns:a16="http://schemas.microsoft.com/office/drawing/2014/main" id="{EB5C53A1-9FC7-9563-2677-4421C36A4EC0}"/>
              </a:ext>
            </a:extLst>
          </p:cNvPr>
          <p:cNvSpPr/>
          <p:nvPr/>
        </p:nvSpPr>
        <p:spPr>
          <a:xfrm>
            <a:off x="6686716" y="3947501"/>
            <a:ext cx="5347152" cy="210372"/>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Tree>
    <p:extLst>
      <p:ext uri="{BB962C8B-B14F-4D97-AF65-F5344CB8AC3E}">
        <p14:creationId xmlns:p14="http://schemas.microsoft.com/office/powerpoint/2010/main" val="407112312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8198CB-7A7E-EB86-2B93-6D21DF25ED7D}"/>
            </a:ext>
          </a:extLst>
        </p:cNvPr>
        <p:cNvGrpSpPr/>
        <p:nvPr/>
      </p:nvGrpSpPr>
      <p:grpSpPr>
        <a:xfrm>
          <a:off x="0" y="0"/>
          <a:ext cx="0" cy="0"/>
          <a:chOff x="0" y="0"/>
          <a:chExt cx="0" cy="0"/>
        </a:xfrm>
      </p:grpSpPr>
      <p:sp>
        <p:nvSpPr>
          <p:cNvPr id="28" name="文本框 27">
            <a:extLst>
              <a:ext uri="{FF2B5EF4-FFF2-40B4-BE49-F238E27FC236}">
                <a16:creationId xmlns:a16="http://schemas.microsoft.com/office/drawing/2014/main" id="{4DD4EAC1-5A2A-69CD-CD77-B42A7127831F}"/>
              </a:ext>
            </a:extLst>
          </p:cNvPr>
          <p:cNvSpPr txBox="1"/>
          <p:nvPr/>
        </p:nvSpPr>
        <p:spPr>
          <a:xfrm>
            <a:off x="40260" y="-30679"/>
            <a:ext cx="4470947" cy="400110"/>
          </a:xfrm>
          <a:prstGeom prst="rect">
            <a:avLst/>
          </a:prstGeom>
          <a:noFill/>
        </p:spPr>
        <p:txBody>
          <a:bodyPr wrap="square" rtlCol="0">
            <a:spAutoFit/>
          </a:bodyPr>
          <a:lstStyle/>
          <a:p>
            <a:r>
              <a:rPr lang="nl-NL" altLang="zh-CN" sz="2000" b="1"/>
              <a:t>ISGLEASE_S&amp;D_MLA</a:t>
            </a:r>
            <a:endParaRPr lang="zh-CN" altLang="en-US" sz="2000" b="1"/>
          </a:p>
        </p:txBody>
      </p:sp>
      <p:graphicFrame>
        <p:nvGraphicFramePr>
          <p:cNvPr id="14" name="Table 13">
            <a:extLst>
              <a:ext uri="{FF2B5EF4-FFF2-40B4-BE49-F238E27FC236}">
                <a16:creationId xmlns:a16="http://schemas.microsoft.com/office/drawing/2014/main" id="{3554202A-39A1-611A-0C5B-438803DE578B}"/>
              </a:ext>
            </a:extLst>
          </p:cNvPr>
          <p:cNvGraphicFramePr>
            <a:graphicFrameLocks noGrp="1"/>
          </p:cNvGraphicFramePr>
          <p:nvPr>
            <p:extLst>
              <p:ext uri="{D42A27DB-BD31-4B8C-83A1-F6EECF244321}">
                <p14:modId xmlns:p14="http://schemas.microsoft.com/office/powerpoint/2010/main" val="2277324660"/>
              </p:ext>
            </p:extLst>
          </p:nvPr>
        </p:nvGraphicFramePr>
        <p:xfrm>
          <a:off x="230425" y="2047292"/>
          <a:ext cx="5607720" cy="1515890"/>
        </p:xfrm>
        <a:graphic>
          <a:graphicData uri="http://schemas.openxmlformats.org/drawingml/2006/table">
            <a:tbl>
              <a:tblPr/>
              <a:tblGrid>
                <a:gridCol w="431964">
                  <a:extLst>
                    <a:ext uri="{9D8B030D-6E8A-4147-A177-3AD203B41FA5}">
                      <a16:colId xmlns:a16="http://schemas.microsoft.com/office/drawing/2014/main" val="2405149806"/>
                    </a:ext>
                  </a:extLst>
                </a:gridCol>
                <a:gridCol w="230690">
                  <a:extLst>
                    <a:ext uri="{9D8B030D-6E8A-4147-A177-3AD203B41FA5}">
                      <a16:colId xmlns:a16="http://schemas.microsoft.com/office/drawing/2014/main" val="3773246756"/>
                    </a:ext>
                  </a:extLst>
                </a:gridCol>
                <a:gridCol w="565256">
                  <a:extLst>
                    <a:ext uri="{9D8B030D-6E8A-4147-A177-3AD203B41FA5}">
                      <a16:colId xmlns:a16="http://schemas.microsoft.com/office/drawing/2014/main" val="2093791787"/>
                    </a:ext>
                  </a:extLst>
                </a:gridCol>
                <a:gridCol w="1949492">
                  <a:extLst>
                    <a:ext uri="{9D8B030D-6E8A-4147-A177-3AD203B41FA5}">
                      <a16:colId xmlns:a16="http://schemas.microsoft.com/office/drawing/2014/main" val="2315190367"/>
                    </a:ext>
                  </a:extLst>
                </a:gridCol>
                <a:gridCol w="405053">
                  <a:extLst>
                    <a:ext uri="{9D8B030D-6E8A-4147-A177-3AD203B41FA5}">
                      <a16:colId xmlns:a16="http://schemas.microsoft.com/office/drawing/2014/main" val="3469496231"/>
                    </a:ext>
                  </a:extLst>
                </a:gridCol>
                <a:gridCol w="405053">
                  <a:extLst>
                    <a:ext uri="{9D8B030D-6E8A-4147-A177-3AD203B41FA5}">
                      <a16:colId xmlns:a16="http://schemas.microsoft.com/office/drawing/2014/main" val="618512481"/>
                    </a:ext>
                  </a:extLst>
                </a:gridCol>
                <a:gridCol w="405053">
                  <a:extLst>
                    <a:ext uri="{9D8B030D-6E8A-4147-A177-3AD203B41FA5}">
                      <a16:colId xmlns:a16="http://schemas.microsoft.com/office/drawing/2014/main" val="3907089414"/>
                    </a:ext>
                  </a:extLst>
                </a:gridCol>
                <a:gridCol w="405053">
                  <a:extLst>
                    <a:ext uri="{9D8B030D-6E8A-4147-A177-3AD203B41FA5}">
                      <a16:colId xmlns:a16="http://schemas.microsoft.com/office/drawing/2014/main" val="1101408634"/>
                    </a:ext>
                  </a:extLst>
                </a:gridCol>
                <a:gridCol w="405053">
                  <a:extLst>
                    <a:ext uri="{9D8B030D-6E8A-4147-A177-3AD203B41FA5}">
                      <a16:colId xmlns:a16="http://schemas.microsoft.com/office/drawing/2014/main" val="519409402"/>
                    </a:ext>
                  </a:extLst>
                </a:gridCol>
                <a:gridCol w="405053">
                  <a:extLst>
                    <a:ext uri="{9D8B030D-6E8A-4147-A177-3AD203B41FA5}">
                      <a16:colId xmlns:a16="http://schemas.microsoft.com/office/drawing/2014/main" val="3555629991"/>
                    </a:ext>
                  </a:extLst>
                </a:gridCol>
              </a:tblGrid>
              <a:tr h="127981">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no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mpd="sng">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lvl="0" algn="l">
                        <a:buNone/>
                      </a:pPr>
                      <a:r>
                        <a:rPr lang="en-US" sz="1000" b="0" i="0" u="none" strike="noStrike" kern="1200" cap="none" spc="0" normalizeH="0" baseline="0" noProof="0">
                          <a:ln>
                            <a:noFill/>
                          </a:ln>
                          <a:solidFill>
                            <a:srgbClr val="000000"/>
                          </a:solidFill>
                          <a:effectLst/>
                          <a:uLnTx/>
                          <a:uFillTx/>
                          <a:latin typeface="Arial"/>
                        </a:rPr>
                        <a:t>Account Receivable- leasing</a:t>
                      </a:r>
                      <a:endParaRPr kumimoji="0" lang="en-US" sz="1000" b="0" i="0" u="none" strike="noStrike" kern="1200" cap="none" spc="0" normalizeH="0" baseline="0">
                        <a:ln>
                          <a:noFill/>
                        </a:ln>
                        <a:solidFill>
                          <a:srgbClr val="000000"/>
                        </a:solidFill>
                        <a:effectLst/>
                        <a:uLnTx/>
                        <a:uFillTx/>
                        <a:latin typeface="+mn-lt"/>
                        <a:ea typeface="+mn-ea"/>
                        <a:cs typeface="+mn-cs"/>
                      </a:endParaRP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35653082"/>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altLang="zh-CN"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20965389"/>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黑体"/>
                          <a:cs typeface="+mn-cs"/>
                        </a:rPr>
                        <a:t>C</a:t>
                      </a:r>
                      <a:r>
                        <a:rPr kumimoji="0" lang="en-US" altLang="zh-CN" sz="1000" b="0" i="0" u="none" strike="noStrike" kern="1200" cap="none" spc="0" normalizeH="0" baseline="0" noProof="0">
                          <a:ln>
                            <a:noFill/>
                          </a:ln>
                          <a:solidFill>
                            <a:srgbClr val="000000"/>
                          </a:solidFill>
                          <a:effectLst/>
                          <a:uLnTx/>
                          <a:uFillTx/>
                          <a:latin typeface="+mn-lt"/>
                          <a:ea typeface="黑体"/>
                          <a:cs typeface="+mn-cs"/>
                        </a:rPr>
                        <a:t>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 - upfront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5981496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ysClr val="windowText" lastClr="000000"/>
                          </a:solidFill>
                          <a:effectLst/>
                          <a:latin typeface="+mn-lt"/>
                          <a:ea typeface="等线"/>
                          <a:cs typeface="+mn-cs"/>
                        </a:rPr>
                        <a:t>2</a:t>
                      </a:r>
                      <a:endParaRPr lang="zh-CN" altLang="en-US" sz="1000" b="0" i="0" u="none" strike="noStrike" kern="1200">
                        <a:solidFill>
                          <a:sysClr val="windowText" lastClr="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ysClr val="windowText" lastClr="000000"/>
                          </a:solidFill>
                          <a:effectLst/>
                          <a:uLnTx/>
                          <a:uFillTx/>
                          <a:latin typeface="Arial"/>
                          <a:ea typeface="等线"/>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7062129"/>
                  </a:ext>
                </a:extLst>
              </a:tr>
            </a:tbl>
          </a:graphicData>
        </a:graphic>
      </p:graphicFrame>
      <p:graphicFrame>
        <p:nvGraphicFramePr>
          <p:cNvPr id="17" name="Table 16">
            <a:extLst>
              <a:ext uri="{FF2B5EF4-FFF2-40B4-BE49-F238E27FC236}">
                <a16:creationId xmlns:a16="http://schemas.microsoft.com/office/drawing/2014/main" id="{07D0DAA7-C92A-8FCB-899C-02AF5AED9703}"/>
              </a:ext>
            </a:extLst>
          </p:cNvPr>
          <p:cNvGraphicFramePr>
            <a:graphicFrameLocks noGrp="1"/>
          </p:cNvGraphicFramePr>
          <p:nvPr>
            <p:extLst>
              <p:ext uri="{D42A27DB-BD31-4B8C-83A1-F6EECF244321}">
                <p14:modId xmlns:p14="http://schemas.microsoft.com/office/powerpoint/2010/main" val="1571266082"/>
              </p:ext>
            </p:extLst>
          </p:nvPr>
        </p:nvGraphicFramePr>
        <p:xfrm>
          <a:off x="115566" y="388618"/>
          <a:ext cx="5864610" cy="1143000"/>
        </p:xfrm>
        <a:graphic>
          <a:graphicData uri="http://schemas.openxmlformats.org/drawingml/2006/table">
            <a:tbl>
              <a:tblPr firstRow="1" bandRow="1">
                <a:tableStyleId>{3C2FFA5D-87B4-456A-9821-1D502468CF0F}</a:tableStyleId>
              </a:tblPr>
              <a:tblGrid>
                <a:gridCol w="657136">
                  <a:extLst>
                    <a:ext uri="{9D8B030D-6E8A-4147-A177-3AD203B41FA5}">
                      <a16:colId xmlns:a16="http://schemas.microsoft.com/office/drawing/2014/main" val="2064219146"/>
                    </a:ext>
                  </a:extLst>
                </a:gridCol>
                <a:gridCol w="721675">
                  <a:extLst>
                    <a:ext uri="{9D8B030D-6E8A-4147-A177-3AD203B41FA5}">
                      <a16:colId xmlns:a16="http://schemas.microsoft.com/office/drawing/2014/main" val="3895510340"/>
                    </a:ext>
                  </a:extLst>
                </a:gridCol>
                <a:gridCol w="669729">
                  <a:extLst>
                    <a:ext uri="{9D8B030D-6E8A-4147-A177-3AD203B41FA5}">
                      <a16:colId xmlns:a16="http://schemas.microsoft.com/office/drawing/2014/main" val="3087544952"/>
                    </a:ext>
                  </a:extLst>
                </a:gridCol>
                <a:gridCol w="657668">
                  <a:extLst>
                    <a:ext uri="{9D8B030D-6E8A-4147-A177-3AD203B41FA5}">
                      <a16:colId xmlns:a16="http://schemas.microsoft.com/office/drawing/2014/main" val="945078147"/>
                    </a:ext>
                  </a:extLst>
                </a:gridCol>
                <a:gridCol w="762101">
                  <a:extLst>
                    <a:ext uri="{9D8B030D-6E8A-4147-A177-3AD203B41FA5}">
                      <a16:colId xmlns:a16="http://schemas.microsoft.com/office/drawing/2014/main" val="4154115517"/>
                    </a:ext>
                  </a:extLst>
                </a:gridCol>
                <a:gridCol w="703725">
                  <a:extLst>
                    <a:ext uri="{9D8B030D-6E8A-4147-A177-3AD203B41FA5}">
                      <a16:colId xmlns:a16="http://schemas.microsoft.com/office/drawing/2014/main" val="2701224813"/>
                    </a:ext>
                  </a:extLst>
                </a:gridCol>
                <a:gridCol w="703725">
                  <a:extLst>
                    <a:ext uri="{9D8B030D-6E8A-4147-A177-3AD203B41FA5}">
                      <a16:colId xmlns:a16="http://schemas.microsoft.com/office/drawing/2014/main" val="358865375"/>
                    </a:ext>
                  </a:extLst>
                </a:gridCol>
                <a:gridCol w="988851">
                  <a:extLst>
                    <a:ext uri="{9D8B030D-6E8A-4147-A177-3AD203B41FA5}">
                      <a16:colId xmlns:a16="http://schemas.microsoft.com/office/drawing/2014/main" val="3428143323"/>
                    </a:ext>
                  </a:extLst>
                </a:gridCol>
              </a:tblGrid>
              <a:tr h="32667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48838217"/>
                  </a:ext>
                </a:extLst>
              </a:tr>
              <a:tr h="399272">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rgbClr val="C00000"/>
                          </a:solidFill>
                        </a:rPr>
                        <a:t>External Funding</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3PO</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01355220"/>
                  </a:ext>
                </a:extLst>
              </a:tr>
            </a:tbl>
          </a:graphicData>
        </a:graphic>
      </p:graphicFrame>
      <p:graphicFrame>
        <p:nvGraphicFramePr>
          <p:cNvPr id="8" name="表格 7">
            <a:extLst>
              <a:ext uri="{FF2B5EF4-FFF2-40B4-BE49-F238E27FC236}">
                <a16:creationId xmlns:a16="http://schemas.microsoft.com/office/drawing/2014/main" id="{557272DB-124B-747A-574A-61856E096256}"/>
              </a:ext>
            </a:extLst>
          </p:cNvPr>
          <p:cNvGraphicFramePr>
            <a:graphicFrameLocks noGrp="1"/>
          </p:cNvGraphicFramePr>
          <p:nvPr>
            <p:extLst>
              <p:ext uri="{D42A27DB-BD31-4B8C-83A1-F6EECF244321}">
                <p14:modId xmlns:p14="http://schemas.microsoft.com/office/powerpoint/2010/main" val="2179112018"/>
              </p:ext>
            </p:extLst>
          </p:nvPr>
        </p:nvGraphicFramePr>
        <p:xfrm>
          <a:off x="6210851" y="369431"/>
          <a:ext cx="6007396" cy="1554480"/>
        </p:xfrm>
        <a:graphic>
          <a:graphicData uri="http://schemas.openxmlformats.org/drawingml/2006/table">
            <a:tbl>
              <a:tblPr firstRow="1" bandRow="1">
                <a:tableStyleId>{3C2FFA5D-87B4-456A-9821-1D502468CF0F}</a:tableStyleId>
              </a:tblPr>
              <a:tblGrid>
                <a:gridCol w="628861">
                  <a:extLst>
                    <a:ext uri="{9D8B030D-6E8A-4147-A177-3AD203B41FA5}">
                      <a16:colId xmlns:a16="http://schemas.microsoft.com/office/drawing/2014/main" val="869603910"/>
                    </a:ext>
                  </a:extLst>
                </a:gridCol>
                <a:gridCol w="786384">
                  <a:extLst>
                    <a:ext uri="{9D8B030D-6E8A-4147-A177-3AD203B41FA5}">
                      <a16:colId xmlns:a16="http://schemas.microsoft.com/office/drawing/2014/main" val="238663902"/>
                    </a:ext>
                  </a:extLst>
                </a:gridCol>
                <a:gridCol w="654077">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986409">
                  <a:extLst>
                    <a:ext uri="{9D8B030D-6E8A-4147-A177-3AD203B41FA5}">
                      <a16:colId xmlns:a16="http://schemas.microsoft.com/office/drawing/2014/main" val="221569069"/>
                    </a:ext>
                  </a:extLst>
                </a:gridCol>
              </a:tblGrid>
              <a:tr h="418883">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18883">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External</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Lease Extension</a:t>
                      </a:r>
                    </a:p>
                    <a:p>
                      <a:r>
                        <a:rPr lang="en-US" altLang="zh-CN" sz="1050">
                          <a:solidFill>
                            <a:sysClr val="windowText" lastClr="000000"/>
                          </a:solidFill>
                        </a:rPr>
                        <a:t>Fix/Open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01596">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auto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2" name="表格 1">
            <a:extLst>
              <a:ext uri="{FF2B5EF4-FFF2-40B4-BE49-F238E27FC236}">
                <a16:creationId xmlns:a16="http://schemas.microsoft.com/office/drawing/2014/main" id="{3FC530C3-B131-B743-BED8-C10102798484}"/>
              </a:ext>
            </a:extLst>
          </p:cNvPr>
          <p:cNvGraphicFramePr>
            <a:graphicFrameLocks noGrp="1"/>
          </p:cNvGraphicFramePr>
          <p:nvPr>
            <p:extLst>
              <p:ext uri="{D42A27DB-BD31-4B8C-83A1-F6EECF244321}">
                <p14:modId xmlns:p14="http://schemas.microsoft.com/office/powerpoint/2010/main" val="3747964871"/>
              </p:ext>
            </p:extLst>
          </p:nvPr>
        </p:nvGraphicFramePr>
        <p:xfrm>
          <a:off x="191722" y="3764116"/>
          <a:ext cx="5646423" cy="1159935"/>
        </p:xfrm>
        <a:graphic>
          <a:graphicData uri="http://schemas.openxmlformats.org/drawingml/2006/table">
            <a:tbl>
              <a:tblPr/>
              <a:tblGrid>
                <a:gridCol w="431846">
                  <a:extLst>
                    <a:ext uri="{9D8B030D-6E8A-4147-A177-3AD203B41FA5}">
                      <a16:colId xmlns:a16="http://schemas.microsoft.com/office/drawing/2014/main" val="495084399"/>
                    </a:ext>
                  </a:extLst>
                </a:gridCol>
                <a:gridCol w="249102">
                  <a:extLst>
                    <a:ext uri="{9D8B030D-6E8A-4147-A177-3AD203B41FA5}">
                      <a16:colId xmlns:a16="http://schemas.microsoft.com/office/drawing/2014/main" val="3614210242"/>
                    </a:ext>
                  </a:extLst>
                </a:gridCol>
                <a:gridCol w="584204">
                  <a:extLst>
                    <a:ext uri="{9D8B030D-6E8A-4147-A177-3AD203B41FA5}">
                      <a16:colId xmlns:a16="http://schemas.microsoft.com/office/drawing/2014/main" val="1442124609"/>
                    </a:ext>
                  </a:extLst>
                </a:gridCol>
                <a:gridCol w="1878897">
                  <a:extLst>
                    <a:ext uri="{9D8B030D-6E8A-4147-A177-3AD203B41FA5}">
                      <a16:colId xmlns:a16="http://schemas.microsoft.com/office/drawing/2014/main" val="3603859997"/>
                    </a:ext>
                  </a:extLst>
                </a:gridCol>
                <a:gridCol w="480097">
                  <a:extLst>
                    <a:ext uri="{9D8B030D-6E8A-4147-A177-3AD203B41FA5}">
                      <a16:colId xmlns:a16="http://schemas.microsoft.com/office/drawing/2014/main" val="4076488391"/>
                    </a:ext>
                  </a:extLst>
                </a:gridCol>
                <a:gridCol w="417863">
                  <a:extLst>
                    <a:ext uri="{9D8B030D-6E8A-4147-A177-3AD203B41FA5}">
                      <a16:colId xmlns:a16="http://schemas.microsoft.com/office/drawing/2014/main" val="3254101706"/>
                    </a:ext>
                  </a:extLst>
                </a:gridCol>
                <a:gridCol w="635329">
                  <a:extLst>
                    <a:ext uri="{9D8B030D-6E8A-4147-A177-3AD203B41FA5}">
                      <a16:colId xmlns:a16="http://schemas.microsoft.com/office/drawing/2014/main" val="3712391277"/>
                    </a:ext>
                  </a:extLst>
                </a:gridCol>
                <a:gridCol w="266720">
                  <a:extLst>
                    <a:ext uri="{9D8B030D-6E8A-4147-A177-3AD203B41FA5}">
                      <a16:colId xmlns:a16="http://schemas.microsoft.com/office/drawing/2014/main" val="2527660299"/>
                    </a:ext>
                  </a:extLst>
                </a:gridCol>
                <a:gridCol w="402685">
                  <a:extLst>
                    <a:ext uri="{9D8B030D-6E8A-4147-A177-3AD203B41FA5}">
                      <a16:colId xmlns:a16="http://schemas.microsoft.com/office/drawing/2014/main" val="3641075278"/>
                    </a:ext>
                  </a:extLst>
                </a:gridCol>
                <a:gridCol w="299680">
                  <a:extLst>
                    <a:ext uri="{9D8B030D-6E8A-4147-A177-3AD203B41FA5}">
                      <a16:colId xmlns:a16="http://schemas.microsoft.com/office/drawing/2014/main" val="3618613915"/>
                    </a:ext>
                  </a:extLst>
                </a:gridCol>
              </a:tblGrid>
              <a:tr h="183914">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-HW</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1010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X1/30​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38309671"/>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upfront</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1200" b="0" i="0">
                          <a:solidFill>
                            <a:srgbClr val="000000"/>
                          </a:solidFill>
                          <a:effectLst/>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927501742"/>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bl>
          </a:graphicData>
        </a:graphic>
      </p:graphicFrame>
      <p:sp>
        <p:nvSpPr>
          <p:cNvPr id="3" name="矩形 2">
            <a:extLst>
              <a:ext uri="{FF2B5EF4-FFF2-40B4-BE49-F238E27FC236}">
                <a16:creationId xmlns:a16="http://schemas.microsoft.com/office/drawing/2014/main" id="{AC2E53BA-3AC9-A940-6B36-D072EC251638}"/>
              </a:ext>
            </a:extLst>
          </p:cNvPr>
          <p:cNvSpPr/>
          <p:nvPr/>
        </p:nvSpPr>
        <p:spPr>
          <a:xfrm>
            <a:off x="191721" y="3764116"/>
            <a:ext cx="5630205" cy="1159935"/>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4" name="对话气泡: 矩形 11">
            <a:extLst>
              <a:ext uri="{FF2B5EF4-FFF2-40B4-BE49-F238E27FC236}">
                <a16:creationId xmlns:a16="http://schemas.microsoft.com/office/drawing/2014/main" id="{BB498C3F-3B37-06F5-F9A9-015062B0DA00}"/>
              </a:ext>
            </a:extLst>
          </p:cNvPr>
          <p:cNvSpPr/>
          <p:nvPr/>
        </p:nvSpPr>
        <p:spPr>
          <a:xfrm>
            <a:off x="886448" y="4992365"/>
            <a:ext cx="4629932" cy="643937"/>
          </a:xfrm>
          <a:prstGeom prst="wedgeRectCallout">
            <a:avLst>
              <a:gd name="adj1" fmla="val -45127"/>
              <a:gd name="adj2" fmla="val -32057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graphicFrame>
        <p:nvGraphicFramePr>
          <p:cNvPr id="5" name="Table 13">
            <a:extLst>
              <a:ext uri="{FF2B5EF4-FFF2-40B4-BE49-F238E27FC236}">
                <a16:creationId xmlns:a16="http://schemas.microsoft.com/office/drawing/2014/main" id="{648EE9A4-45E2-935B-24B0-5A2BF8BCA7AB}"/>
              </a:ext>
            </a:extLst>
          </p:cNvPr>
          <p:cNvGraphicFramePr>
            <a:graphicFrameLocks noGrp="1"/>
          </p:cNvGraphicFramePr>
          <p:nvPr>
            <p:extLst>
              <p:ext uri="{D42A27DB-BD31-4B8C-83A1-F6EECF244321}">
                <p14:modId xmlns:p14="http://schemas.microsoft.com/office/powerpoint/2010/main" val="786444487"/>
              </p:ext>
            </p:extLst>
          </p:nvPr>
        </p:nvGraphicFramePr>
        <p:xfrm>
          <a:off x="6233336" y="2115607"/>
          <a:ext cx="5607720" cy="1629823"/>
        </p:xfrm>
        <a:graphic>
          <a:graphicData uri="http://schemas.openxmlformats.org/drawingml/2006/table">
            <a:tbl>
              <a:tblPr/>
              <a:tblGrid>
                <a:gridCol w="431964">
                  <a:extLst>
                    <a:ext uri="{9D8B030D-6E8A-4147-A177-3AD203B41FA5}">
                      <a16:colId xmlns:a16="http://schemas.microsoft.com/office/drawing/2014/main" val="2405149806"/>
                    </a:ext>
                  </a:extLst>
                </a:gridCol>
                <a:gridCol w="230690">
                  <a:extLst>
                    <a:ext uri="{9D8B030D-6E8A-4147-A177-3AD203B41FA5}">
                      <a16:colId xmlns:a16="http://schemas.microsoft.com/office/drawing/2014/main" val="3773246756"/>
                    </a:ext>
                  </a:extLst>
                </a:gridCol>
                <a:gridCol w="565256">
                  <a:extLst>
                    <a:ext uri="{9D8B030D-6E8A-4147-A177-3AD203B41FA5}">
                      <a16:colId xmlns:a16="http://schemas.microsoft.com/office/drawing/2014/main" val="2093791787"/>
                    </a:ext>
                  </a:extLst>
                </a:gridCol>
                <a:gridCol w="1949492">
                  <a:extLst>
                    <a:ext uri="{9D8B030D-6E8A-4147-A177-3AD203B41FA5}">
                      <a16:colId xmlns:a16="http://schemas.microsoft.com/office/drawing/2014/main" val="2315190367"/>
                    </a:ext>
                  </a:extLst>
                </a:gridCol>
                <a:gridCol w="405053">
                  <a:extLst>
                    <a:ext uri="{9D8B030D-6E8A-4147-A177-3AD203B41FA5}">
                      <a16:colId xmlns:a16="http://schemas.microsoft.com/office/drawing/2014/main" val="3469496231"/>
                    </a:ext>
                  </a:extLst>
                </a:gridCol>
                <a:gridCol w="405053">
                  <a:extLst>
                    <a:ext uri="{9D8B030D-6E8A-4147-A177-3AD203B41FA5}">
                      <a16:colId xmlns:a16="http://schemas.microsoft.com/office/drawing/2014/main" val="618512481"/>
                    </a:ext>
                  </a:extLst>
                </a:gridCol>
                <a:gridCol w="405053">
                  <a:extLst>
                    <a:ext uri="{9D8B030D-6E8A-4147-A177-3AD203B41FA5}">
                      <a16:colId xmlns:a16="http://schemas.microsoft.com/office/drawing/2014/main" val="3907089414"/>
                    </a:ext>
                  </a:extLst>
                </a:gridCol>
                <a:gridCol w="405053">
                  <a:extLst>
                    <a:ext uri="{9D8B030D-6E8A-4147-A177-3AD203B41FA5}">
                      <a16:colId xmlns:a16="http://schemas.microsoft.com/office/drawing/2014/main" val="1101408634"/>
                    </a:ext>
                  </a:extLst>
                </a:gridCol>
                <a:gridCol w="405053">
                  <a:extLst>
                    <a:ext uri="{9D8B030D-6E8A-4147-A177-3AD203B41FA5}">
                      <a16:colId xmlns:a16="http://schemas.microsoft.com/office/drawing/2014/main" val="519409402"/>
                    </a:ext>
                  </a:extLst>
                </a:gridCol>
                <a:gridCol w="405053">
                  <a:extLst>
                    <a:ext uri="{9D8B030D-6E8A-4147-A177-3AD203B41FA5}">
                      <a16:colId xmlns:a16="http://schemas.microsoft.com/office/drawing/2014/main" val="3555629991"/>
                    </a:ext>
                  </a:extLst>
                </a:gridCol>
              </a:tblGrid>
              <a:tr h="127981">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no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mpd="sng">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lvl="0" algn="l">
                        <a:buNone/>
                      </a:pPr>
                      <a:r>
                        <a:rPr lang="en-US" sz="1000" b="0" i="0" u="none" strike="noStrike" kern="1200" cap="none" spc="0" normalizeH="0" baseline="0" noProof="0">
                          <a:ln>
                            <a:noFill/>
                          </a:ln>
                          <a:solidFill>
                            <a:srgbClr val="000000"/>
                          </a:solidFill>
                          <a:effectLst/>
                          <a:uLnTx/>
                          <a:uFillTx/>
                          <a:latin typeface="Arial"/>
                        </a:rPr>
                        <a:t>Account Receivable- leasing</a:t>
                      </a:r>
                      <a:endParaRPr kumimoji="0" lang="en-US" sz="1000" b="0" i="0" u="none" strike="noStrike" kern="1200" cap="none" spc="0" normalizeH="0" baseline="0">
                        <a:ln>
                          <a:noFill/>
                        </a:ln>
                        <a:solidFill>
                          <a:srgbClr val="000000"/>
                        </a:solidFill>
                        <a:effectLst/>
                        <a:uLnTx/>
                        <a:uFillTx/>
                        <a:latin typeface="+mn-lt"/>
                        <a:ea typeface="+mn-ea"/>
                        <a:cs typeface="+mn-cs"/>
                      </a:endParaRP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35653082"/>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altLang="zh-CN"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20965389"/>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黑体"/>
                          <a:cs typeface="+mn-cs"/>
                        </a:rPr>
                        <a:t>C</a:t>
                      </a:r>
                      <a:r>
                        <a:rPr kumimoji="0" lang="en-US" altLang="zh-CN" sz="1000" b="0" i="0" u="none" strike="noStrike" kern="1200" cap="none" spc="0" normalizeH="0" baseline="0" noProof="0">
                          <a:ln>
                            <a:noFill/>
                          </a:ln>
                          <a:solidFill>
                            <a:srgbClr val="000000"/>
                          </a:solidFill>
                          <a:effectLst/>
                          <a:uLnTx/>
                          <a:uFillTx/>
                          <a:latin typeface="+mn-lt"/>
                          <a:ea typeface="黑体"/>
                          <a:cs typeface="+mn-cs"/>
                        </a:rPr>
                        <a:t>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Interest Income - Upfront Service(previous)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5981496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ysClr val="windowText" lastClr="000000"/>
                          </a:solidFill>
                          <a:effectLst/>
                          <a:latin typeface="+mn-lt"/>
                          <a:ea typeface="等线"/>
                          <a:cs typeface="+mn-cs"/>
                        </a:rPr>
                        <a:t>2</a:t>
                      </a:r>
                      <a:endParaRPr lang="zh-CN" altLang="en-US" sz="1000" b="0" i="0" u="none" strike="noStrike" kern="1200">
                        <a:solidFill>
                          <a:sysClr val="windowText" lastClr="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ysClr val="windowText" lastClr="000000"/>
                          </a:solidFill>
                          <a:effectLst/>
                          <a:uLnTx/>
                          <a:uFillTx/>
                          <a:latin typeface="Arial"/>
                          <a:ea typeface="等线"/>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7062129"/>
                  </a:ext>
                </a:extLst>
              </a:tr>
            </a:tbl>
          </a:graphicData>
        </a:graphic>
      </p:graphicFrame>
      <p:graphicFrame>
        <p:nvGraphicFramePr>
          <p:cNvPr id="6" name="表格 5">
            <a:extLst>
              <a:ext uri="{FF2B5EF4-FFF2-40B4-BE49-F238E27FC236}">
                <a16:creationId xmlns:a16="http://schemas.microsoft.com/office/drawing/2014/main" id="{C83D42E6-FE3C-BB57-66B9-3D554D5A5E36}"/>
              </a:ext>
            </a:extLst>
          </p:cNvPr>
          <p:cNvGraphicFramePr>
            <a:graphicFrameLocks noGrp="1"/>
          </p:cNvGraphicFramePr>
          <p:nvPr>
            <p:extLst>
              <p:ext uri="{D42A27DB-BD31-4B8C-83A1-F6EECF244321}">
                <p14:modId xmlns:p14="http://schemas.microsoft.com/office/powerpoint/2010/main" val="214471752"/>
              </p:ext>
            </p:extLst>
          </p:nvPr>
        </p:nvGraphicFramePr>
        <p:xfrm>
          <a:off x="6233336" y="3832431"/>
          <a:ext cx="5607721" cy="955479"/>
        </p:xfrm>
        <a:graphic>
          <a:graphicData uri="http://schemas.openxmlformats.org/drawingml/2006/table">
            <a:tbl>
              <a:tblPr/>
              <a:tblGrid>
                <a:gridCol w="428886">
                  <a:extLst>
                    <a:ext uri="{9D8B030D-6E8A-4147-A177-3AD203B41FA5}">
                      <a16:colId xmlns:a16="http://schemas.microsoft.com/office/drawing/2014/main" val="495084399"/>
                    </a:ext>
                  </a:extLst>
                </a:gridCol>
                <a:gridCol w="247395">
                  <a:extLst>
                    <a:ext uri="{9D8B030D-6E8A-4147-A177-3AD203B41FA5}">
                      <a16:colId xmlns:a16="http://schemas.microsoft.com/office/drawing/2014/main" val="3614210242"/>
                    </a:ext>
                  </a:extLst>
                </a:gridCol>
                <a:gridCol w="580200">
                  <a:extLst>
                    <a:ext uri="{9D8B030D-6E8A-4147-A177-3AD203B41FA5}">
                      <a16:colId xmlns:a16="http://schemas.microsoft.com/office/drawing/2014/main" val="1442124609"/>
                    </a:ext>
                  </a:extLst>
                </a:gridCol>
                <a:gridCol w="1866018">
                  <a:extLst>
                    <a:ext uri="{9D8B030D-6E8A-4147-A177-3AD203B41FA5}">
                      <a16:colId xmlns:a16="http://schemas.microsoft.com/office/drawing/2014/main" val="3603859997"/>
                    </a:ext>
                  </a:extLst>
                </a:gridCol>
                <a:gridCol w="476806">
                  <a:extLst>
                    <a:ext uri="{9D8B030D-6E8A-4147-A177-3AD203B41FA5}">
                      <a16:colId xmlns:a16="http://schemas.microsoft.com/office/drawing/2014/main" val="4076488391"/>
                    </a:ext>
                  </a:extLst>
                </a:gridCol>
                <a:gridCol w="414999">
                  <a:extLst>
                    <a:ext uri="{9D8B030D-6E8A-4147-A177-3AD203B41FA5}">
                      <a16:colId xmlns:a16="http://schemas.microsoft.com/office/drawing/2014/main" val="3254101706"/>
                    </a:ext>
                  </a:extLst>
                </a:gridCol>
                <a:gridCol w="630974">
                  <a:extLst>
                    <a:ext uri="{9D8B030D-6E8A-4147-A177-3AD203B41FA5}">
                      <a16:colId xmlns:a16="http://schemas.microsoft.com/office/drawing/2014/main" val="3712391277"/>
                    </a:ext>
                  </a:extLst>
                </a:gridCol>
                <a:gridCol w="264892">
                  <a:extLst>
                    <a:ext uri="{9D8B030D-6E8A-4147-A177-3AD203B41FA5}">
                      <a16:colId xmlns:a16="http://schemas.microsoft.com/office/drawing/2014/main" val="2527660299"/>
                    </a:ext>
                  </a:extLst>
                </a:gridCol>
                <a:gridCol w="399925">
                  <a:extLst>
                    <a:ext uri="{9D8B030D-6E8A-4147-A177-3AD203B41FA5}">
                      <a16:colId xmlns:a16="http://schemas.microsoft.com/office/drawing/2014/main" val="3641075278"/>
                    </a:ext>
                  </a:extLst>
                </a:gridCol>
                <a:gridCol w="297626">
                  <a:extLst>
                    <a:ext uri="{9D8B030D-6E8A-4147-A177-3AD203B41FA5}">
                      <a16:colId xmlns:a16="http://schemas.microsoft.com/office/drawing/2014/main" val="3618613915"/>
                    </a:ext>
                  </a:extLst>
                </a:gridCol>
              </a:tblGrid>
              <a:tr h="183914">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-HW</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1010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X1/30​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3830967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bl>
          </a:graphicData>
        </a:graphic>
      </p:graphicFrame>
      <p:sp>
        <p:nvSpPr>
          <p:cNvPr id="7" name="矩形 6">
            <a:extLst>
              <a:ext uri="{FF2B5EF4-FFF2-40B4-BE49-F238E27FC236}">
                <a16:creationId xmlns:a16="http://schemas.microsoft.com/office/drawing/2014/main" id="{5BF5190E-678B-77F7-DE84-1795E60A45FA}"/>
              </a:ext>
            </a:extLst>
          </p:cNvPr>
          <p:cNvSpPr/>
          <p:nvPr/>
        </p:nvSpPr>
        <p:spPr>
          <a:xfrm>
            <a:off x="6233336" y="3832431"/>
            <a:ext cx="5607720" cy="955480"/>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13" name="对话气泡: 矩形 12">
            <a:extLst>
              <a:ext uri="{FF2B5EF4-FFF2-40B4-BE49-F238E27FC236}">
                <a16:creationId xmlns:a16="http://schemas.microsoft.com/office/drawing/2014/main" id="{FFA800CB-40FA-D516-9BA2-25D9F5973DD1}"/>
              </a:ext>
            </a:extLst>
          </p:cNvPr>
          <p:cNvSpPr/>
          <p:nvPr/>
        </p:nvSpPr>
        <p:spPr>
          <a:xfrm>
            <a:off x="6501971" y="5144833"/>
            <a:ext cx="5571460" cy="706055"/>
          </a:xfrm>
          <a:prstGeom prst="wedgeRectCallout">
            <a:avLst>
              <a:gd name="adj1" fmla="val -35492"/>
              <a:gd name="adj2" fmla="val -28295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Upfront service has paid off to funder in normal lease term, so no need to transfer upfront service to funder in extension. </a:t>
            </a:r>
          </a:p>
          <a:p>
            <a:r>
              <a:rPr lang="en-US" altLang="zh-CN" sz="1200">
                <a:solidFill>
                  <a:schemeClr val="tx1"/>
                </a:solidFill>
              </a:rPr>
              <a:t>HW belongs to funder, receivables of HW still need to transfer to funder.</a:t>
            </a:r>
          </a:p>
        </p:txBody>
      </p:sp>
      <p:sp>
        <p:nvSpPr>
          <p:cNvPr id="15" name="Rectangle 1">
            <a:extLst>
              <a:ext uri="{FF2B5EF4-FFF2-40B4-BE49-F238E27FC236}">
                <a16:creationId xmlns:a16="http://schemas.microsoft.com/office/drawing/2014/main" id="{22139EE4-7913-47FC-AE3F-497111F08FC0}"/>
              </a:ext>
            </a:extLst>
          </p:cNvPr>
          <p:cNvSpPr/>
          <p:nvPr/>
        </p:nvSpPr>
        <p:spPr>
          <a:xfrm>
            <a:off x="6658313" y="3265136"/>
            <a:ext cx="5182743" cy="298045"/>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cxnSp>
        <p:nvCxnSpPr>
          <p:cNvPr id="16" name="直接连接符 3">
            <a:extLst>
              <a:ext uri="{FF2B5EF4-FFF2-40B4-BE49-F238E27FC236}">
                <a16:creationId xmlns:a16="http://schemas.microsoft.com/office/drawing/2014/main" id="{0E8E0829-A11A-3719-6591-A041A9192636}"/>
              </a:ext>
            </a:extLst>
          </p:cNvPr>
          <p:cNvCxnSpPr>
            <a:cxnSpLocks/>
          </p:cNvCxnSpPr>
          <p:nvPr/>
        </p:nvCxnSpPr>
        <p:spPr>
          <a:xfrm>
            <a:off x="6096000" y="354917"/>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66720749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7FC672-C3AA-9B7B-4D17-DF80B2753884}"/>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74B2B08A-A6FF-55CA-FF63-E580F9B317AA}"/>
              </a:ext>
            </a:extLst>
          </p:cNvPr>
          <p:cNvGraphicFramePr>
            <a:graphicFrameLocks noGrp="1"/>
          </p:cNvGraphicFramePr>
          <p:nvPr>
            <p:extLst>
              <p:ext uri="{D42A27DB-BD31-4B8C-83A1-F6EECF244321}">
                <p14:modId xmlns:p14="http://schemas.microsoft.com/office/powerpoint/2010/main" val="869857798"/>
              </p:ext>
            </p:extLst>
          </p:nvPr>
        </p:nvGraphicFramePr>
        <p:xfrm>
          <a:off x="32110" y="1722814"/>
          <a:ext cx="5715531" cy="1730440"/>
        </p:xfrm>
        <a:graphic>
          <a:graphicData uri="http://schemas.openxmlformats.org/drawingml/2006/table">
            <a:tbl>
              <a:tblPr/>
              <a:tblGrid>
                <a:gridCol w="488004">
                  <a:extLst>
                    <a:ext uri="{9D8B030D-6E8A-4147-A177-3AD203B41FA5}">
                      <a16:colId xmlns:a16="http://schemas.microsoft.com/office/drawing/2014/main" val="495084399"/>
                    </a:ext>
                  </a:extLst>
                </a:gridCol>
                <a:gridCol w="255559">
                  <a:extLst>
                    <a:ext uri="{9D8B030D-6E8A-4147-A177-3AD203B41FA5}">
                      <a16:colId xmlns:a16="http://schemas.microsoft.com/office/drawing/2014/main" val="3614210242"/>
                    </a:ext>
                  </a:extLst>
                </a:gridCol>
                <a:gridCol w="608198">
                  <a:extLst>
                    <a:ext uri="{9D8B030D-6E8A-4147-A177-3AD203B41FA5}">
                      <a16:colId xmlns:a16="http://schemas.microsoft.com/office/drawing/2014/main" val="1442124609"/>
                    </a:ext>
                  </a:extLst>
                </a:gridCol>
                <a:gridCol w="1950480">
                  <a:extLst>
                    <a:ext uri="{9D8B030D-6E8A-4147-A177-3AD203B41FA5}">
                      <a16:colId xmlns:a16="http://schemas.microsoft.com/office/drawing/2014/main" val="3603859997"/>
                    </a:ext>
                  </a:extLst>
                </a:gridCol>
                <a:gridCol w="402215">
                  <a:extLst>
                    <a:ext uri="{9D8B030D-6E8A-4147-A177-3AD203B41FA5}">
                      <a16:colId xmlns:a16="http://schemas.microsoft.com/office/drawing/2014/main" val="4076488391"/>
                    </a:ext>
                  </a:extLst>
                </a:gridCol>
                <a:gridCol w="402215">
                  <a:extLst>
                    <a:ext uri="{9D8B030D-6E8A-4147-A177-3AD203B41FA5}">
                      <a16:colId xmlns:a16="http://schemas.microsoft.com/office/drawing/2014/main" val="3254101706"/>
                    </a:ext>
                  </a:extLst>
                </a:gridCol>
                <a:gridCol w="402215">
                  <a:extLst>
                    <a:ext uri="{9D8B030D-6E8A-4147-A177-3AD203B41FA5}">
                      <a16:colId xmlns:a16="http://schemas.microsoft.com/office/drawing/2014/main" val="3712391277"/>
                    </a:ext>
                  </a:extLst>
                </a:gridCol>
                <a:gridCol w="402215">
                  <a:extLst>
                    <a:ext uri="{9D8B030D-6E8A-4147-A177-3AD203B41FA5}">
                      <a16:colId xmlns:a16="http://schemas.microsoft.com/office/drawing/2014/main" val="2527660299"/>
                    </a:ext>
                  </a:extLst>
                </a:gridCol>
                <a:gridCol w="402215">
                  <a:extLst>
                    <a:ext uri="{9D8B030D-6E8A-4147-A177-3AD203B41FA5}">
                      <a16:colId xmlns:a16="http://schemas.microsoft.com/office/drawing/2014/main" val="3641075278"/>
                    </a:ext>
                  </a:extLst>
                </a:gridCol>
                <a:gridCol w="402215">
                  <a:extLst>
                    <a:ext uri="{9D8B030D-6E8A-4147-A177-3AD203B41FA5}">
                      <a16:colId xmlns:a16="http://schemas.microsoft.com/office/drawing/2014/main" val="3618613915"/>
                    </a:ext>
                  </a:extLst>
                </a:gridCol>
              </a:tblGrid>
              <a:tr h="0">
                <a:tc rowSpan="9">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64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 (3PO)</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91228963"/>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723639438"/>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97566895"/>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cxnSp>
        <p:nvCxnSpPr>
          <p:cNvPr id="3" name="直接连接符 2">
            <a:extLst>
              <a:ext uri="{FF2B5EF4-FFF2-40B4-BE49-F238E27FC236}">
                <a16:creationId xmlns:a16="http://schemas.microsoft.com/office/drawing/2014/main" id="{10B24A7B-02B0-0196-0331-F6BC1B70179A}"/>
              </a:ext>
            </a:extLst>
          </p:cNvPr>
          <p:cNvCxnSpPr>
            <a:cxnSpLocks/>
          </p:cNvCxnSpPr>
          <p:nvPr/>
        </p:nvCxnSpPr>
        <p:spPr>
          <a:xfrm flipH="1">
            <a:off x="6074950" y="243919"/>
            <a:ext cx="21050" cy="668295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4" name="表格 3">
            <a:extLst>
              <a:ext uri="{FF2B5EF4-FFF2-40B4-BE49-F238E27FC236}">
                <a16:creationId xmlns:a16="http://schemas.microsoft.com/office/drawing/2014/main" id="{3132E4CE-98B4-E56E-C70C-319EE5731955}"/>
              </a:ext>
            </a:extLst>
          </p:cNvPr>
          <p:cNvGraphicFramePr>
            <a:graphicFrameLocks noGrp="1"/>
          </p:cNvGraphicFramePr>
          <p:nvPr>
            <p:extLst>
              <p:ext uri="{D42A27DB-BD31-4B8C-83A1-F6EECF244321}">
                <p14:modId xmlns:p14="http://schemas.microsoft.com/office/powerpoint/2010/main" val="3235981201"/>
              </p:ext>
            </p:extLst>
          </p:nvPr>
        </p:nvGraphicFramePr>
        <p:xfrm>
          <a:off x="41972" y="3601947"/>
          <a:ext cx="5708849" cy="951098"/>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418467">
                  <a:extLst>
                    <a:ext uri="{9D8B030D-6E8A-4147-A177-3AD203B41FA5}">
                      <a16:colId xmlns:a16="http://schemas.microsoft.com/office/drawing/2014/main" val="4076488391"/>
                    </a:ext>
                  </a:extLst>
                </a:gridCol>
                <a:gridCol w="418467">
                  <a:extLst>
                    <a:ext uri="{9D8B030D-6E8A-4147-A177-3AD203B41FA5}">
                      <a16:colId xmlns:a16="http://schemas.microsoft.com/office/drawing/2014/main" val="3254101706"/>
                    </a:ext>
                  </a:extLst>
                </a:gridCol>
                <a:gridCol w="418467">
                  <a:extLst>
                    <a:ext uri="{9D8B030D-6E8A-4147-A177-3AD203B41FA5}">
                      <a16:colId xmlns:a16="http://schemas.microsoft.com/office/drawing/2014/main" val="3712391277"/>
                    </a:ext>
                  </a:extLst>
                </a:gridCol>
                <a:gridCol w="418467">
                  <a:extLst>
                    <a:ext uri="{9D8B030D-6E8A-4147-A177-3AD203B41FA5}">
                      <a16:colId xmlns:a16="http://schemas.microsoft.com/office/drawing/2014/main" val="2527660299"/>
                    </a:ext>
                  </a:extLst>
                </a:gridCol>
                <a:gridCol w="418467">
                  <a:extLst>
                    <a:ext uri="{9D8B030D-6E8A-4147-A177-3AD203B41FA5}">
                      <a16:colId xmlns:a16="http://schemas.microsoft.com/office/drawing/2014/main" val="3641075278"/>
                    </a:ext>
                  </a:extLst>
                </a:gridCol>
                <a:gridCol w="418467">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D6036B72-870B-AF2F-4D3A-E8190EA425E7}"/>
              </a:ext>
            </a:extLst>
          </p:cNvPr>
          <p:cNvGraphicFramePr>
            <a:graphicFrameLocks noGrp="1"/>
          </p:cNvGraphicFramePr>
          <p:nvPr>
            <p:extLst>
              <p:ext uri="{D42A27DB-BD31-4B8C-83A1-F6EECF244321}">
                <p14:modId xmlns:p14="http://schemas.microsoft.com/office/powerpoint/2010/main" val="99489238"/>
              </p:ext>
            </p:extLst>
          </p:nvPr>
        </p:nvGraphicFramePr>
        <p:xfrm>
          <a:off x="41972" y="4891508"/>
          <a:ext cx="5702497" cy="1077159"/>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430586">
                  <a:extLst>
                    <a:ext uri="{9D8B030D-6E8A-4147-A177-3AD203B41FA5}">
                      <a16:colId xmlns:a16="http://schemas.microsoft.com/office/drawing/2014/main" val="4076488391"/>
                    </a:ext>
                  </a:extLst>
                </a:gridCol>
                <a:gridCol w="430586">
                  <a:extLst>
                    <a:ext uri="{9D8B030D-6E8A-4147-A177-3AD203B41FA5}">
                      <a16:colId xmlns:a16="http://schemas.microsoft.com/office/drawing/2014/main" val="3254101706"/>
                    </a:ext>
                  </a:extLst>
                </a:gridCol>
                <a:gridCol w="430586">
                  <a:extLst>
                    <a:ext uri="{9D8B030D-6E8A-4147-A177-3AD203B41FA5}">
                      <a16:colId xmlns:a16="http://schemas.microsoft.com/office/drawing/2014/main" val="3712391277"/>
                    </a:ext>
                  </a:extLst>
                </a:gridCol>
                <a:gridCol w="430586">
                  <a:extLst>
                    <a:ext uri="{9D8B030D-6E8A-4147-A177-3AD203B41FA5}">
                      <a16:colId xmlns:a16="http://schemas.microsoft.com/office/drawing/2014/main" val="2527660299"/>
                    </a:ext>
                  </a:extLst>
                </a:gridCol>
                <a:gridCol w="430586">
                  <a:extLst>
                    <a:ext uri="{9D8B030D-6E8A-4147-A177-3AD203B41FA5}">
                      <a16:colId xmlns:a16="http://schemas.microsoft.com/office/drawing/2014/main" val="3641075278"/>
                    </a:ext>
                  </a:extLst>
                </a:gridCol>
                <a:gridCol w="430586">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bl>
          </a:graphicData>
        </a:graphic>
      </p:graphicFrame>
      <p:graphicFrame>
        <p:nvGraphicFramePr>
          <p:cNvPr id="12" name="表格 11">
            <a:extLst>
              <a:ext uri="{FF2B5EF4-FFF2-40B4-BE49-F238E27FC236}">
                <a16:creationId xmlns:a16="http://schemas.microsoft.com/office/drawing/2014/main" id="{430A7E0D-D7AD-C1AB-C64F-6B982D62D8B4}"/>
              </a:ext>
            </a:extLst>
          </p:cNvPr>
          <p:cNvGraphicFramePr>
            <a:graphicFrameLocks noGrp="1"/>
          </p:cNvGraphicFramePr>
          <p:nvPr>
            <p:extLst>
              <p:ext uri="{D42A27DB-BD31-4B8C-83A1-F6EECF244321}">
                <p14:modId xmlns:p14="http://schemas.microsoft.com/office/powerpoint/2010/main" val="548971257"/>
              </p:ext>
            </p:extLst>
          </p:nvPr>
        </p:nvGraphicFramePr>
        <p:xfrm>
          <a:off x="37853" y="426316"/>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476164">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3rd party</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2" name="表格 11">
            <a:extLst>
              <a:ext uri="{FF2B5EF4-FFF2-40B4-BE49-F238E27FC236}">
                <a16:creationId xmlns:a16="http://schemas.microsoft.com/office/drawing/2014/main" id="{9F0C1E05-62A6-A7BD-B868-7288C77F6260}"/>
              </a:ext>
            </a:extLst>
          </p:cNvPr>
          <p:cNvGraphicFramePr>
            <a:graphicFrameLocks noGrp="1"/>
          </p:cNvGraphicFramePr>
          <p:nvPr>
            <p:extLst>
              <p:ext uri="{D42A27DB-BD31-4B8C-83A1-F6EECF244321}">
                <p14:modId xmlns:p14="http://schemas.microsoft.com/office/powerpoint/2010/main" val="2068118318"/>
              </p:ext>
            </p:extLst>
          </p:nvPr>
        </p:nvGraphicFramePr>
        <p:xfrm>
          <a:off x="6195376" y="434759"/>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3rd party</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3">
            <a:extLst>
              <a:ext uri="{FF2B5EF4-FFF2-40B4-BE49-F238E27FC236}">
                <a16:creationId xmlns:a16="http://schemas.microsoft.com/office/drawing/2014/main" id="{62DC8A0C-D3F4-D10F-CB0C-565D58FDB9E5}"/>
              </a:ext>
            </a:extLst>
          </p:cNvPr>
          <p:cNvGraphicFramePr>
            <a:graphicFrameLocks noGrp="1"/>
          </p:cNvGraphicFramePr>
          <p:nvPr>
            <p:extLst>
              <p:ext uri="{D42A27DB-BD31-4B8C-83A1-F6EECF244321}">
                <p14:modId xmlns:p14="http://schemas.microsoft.com/office/powerpoint/2010/main" val="3814400493"/>
              </p:ext>
            </p:extLst>
          </p:nvPr>
        </p:nvGraphicFramePr>
        <p:xfrm>
          <a:off x="6195376" y="3601947"/>
          <a:ext cx="5715527" cy="951098"/>
        </p:xfrm>
        <a:graphic>
          <a:graphicData uri="http://schemas.openxmlformats.org/drawingml/2006/table">
            <a:tbl>
              <a:tblPr/>
              <a:tblGrid>
                <a:gridCol w="426930">
                  <a:extLst>
                    <a:ext uri="{9D8B030D-6E8A-4147-A177-3AD203B41FA5}">
                      <a16:colId xmlns:a16="http://schemas.microsoft.com/office/drawing/2014/main" val="495084399"/>
                    </a:ext>
                  </a:extLst>
                </a:gridCol>
                <a:gridCol w="244694">
                  <a:extLst>
                    <a:ext uri="{9D8B030D-6E8A-4147-A177-3AD203B41FA5}">
                      <a16:colId xmlns:a16="http://schemas.microsoft.com/office/drawing/2014/main" val="3614210242"/>
                    </a:ext>
                  </a:extLst>
                </a:gridCol>
                <a:gridCol w="609692">
                  <a:extLst>
                    <a:ext uri="{9D8B030D-6E8A-4147-A177-3AD203B41FA5}">
                      <a16:colId xmlns:a16="http://schemas.microsoft.com/office/drawing/2014/main" val="1442124609"/>
                    </a:ext>
                  </a:extLst>
                </a:gridCol>
                <a:gridCol w="1920475">
                  <a:extLst>
                    <a:ext uri="{9D8B030D-6E8A-4147-A177-3AD203B41FA5}">
                      <a16:colId xmlns:a16="http://schemas.microsoft.com/office/drawing/2014/main" val="3603859997"/>
                    </a:ext>
                  </a:extLst>
                </a:gridCol>
                <a:gridCol w="418956">
                  <a:extLst>
                    <a:ext uri="{9D8B030D-6E8A-4147-A177-3AD203B41FA5}">
                      <a16:colId xmlns:a16="http://schemas.microsoft.com/office/drawing/2014/main" val="4076488391"/>
                    </a:ext>
                  </a:extLst>
                </a:gridCol>
                <a:gridCol w="418956">
                  <a:extLst>
                    <a:ext uri="{9D8B030D-6E8A-4147-A177-3AD203B41FA5}">
                      <a16:colId xmlns:a16="http://schemas.microsoft.com/office/drawing/2014/main" val="3254101706"/>
                    </a:ext>
                  </a:extLst>
                </a:gridCol>
                <a:gridCol w="418956">
                  <a:extLst>
                    <a:ext uri="{9D8B030D-6E8A-4147-A177-3AD203B41FA5}">
                      <a16:colId xmlns:a16="http://schemas.microsoft.com/office/drawing/2014/main" val="3712391277"/>
                    </a:ext>
                  </a:extLst>
                </a:gridCol>
                <a:gridCol w="418956">
                  <a:extLst>
                    <a:ext uri="{9D8B030D-6E8A-4147-A177-3AD203B41FA5}">
                      <a16:colId xmlns:a16="http://schemas.microsoft.com/office/drawing/2014/main" val="2527660299"/>
                    </a:ext>
                  </a:extLst>
                </a:gridCol>
                <a:gridCol w="418956">
                  <a:extLst>
                    <a:ext uri="{9D8B030D-6E8A-4147-A177-3AD203B41FA5}">
                      <a16:colId xmlns:a16="http://schemas.microsoft.com/office/drawing/2014/main" val="3641075278"/>
                    </a:ext>
                  </a:extLst>
                </a:gridCol>
                <a:gridCol w="418956">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4" name="表格 4">
            <a:extLst>
              <a:ext uri="{FF2B5EF4-FFF2-40B4-BE49-F238E27FC236}">
                <a16:creationId xmlns:a16="http://schemas.microsoft.com/office/drawing/2014/main" id="{FA33A305-800C-76ED-FB6C-34A1CB955529}"/>
              </a:ext>
            </a:extLst>
          </p:cNvPr>
          <p:cNvGraphicFramePr>
            <a:graphicFrameLocks noGrp="1"/>
          </p:cNvGraphicFramePr>
          <p:nvPr>
            <p:extLst>
              <p:ext uri="{D42A27DB-BD31-4B8C-83A1-F6EECF244321}">
                <p14:modId xmlns:p14="http://schemas.microsoft.com/office/powerpoint/2010/main" val="2823324923"/>
              </p:ext>
            </p:extLst>
          </p:nvPr>
        </p:nvGraphicFramePr>
        <p:xfrm>
          <a:off x="6177201" y="4891508"/>
          <a:ext cx="5733704" cy="1077159"/>
        </p:xfrm>
        <a:graphic>
          <a:graphicData uri="http://schemas.openxmlformats.org/drawingml/2006/table">
            <a:tbl>
              <a:tblPr/>
              <a:tblGrid>
                <a:gridCol w="427331">
                  <a:extLst>
                    <a:ext uri="{9D8B030D-6E8A-4147-A177-3AD203B41FA5}">
                      <a16:colId xmlns:a16="http://schemas.microsoft.com/office/drawing/2014/main" val="495084399"/>
                    </a:ext>
                  </a:extLst>
                </a:gridCol>
                <a:gridCol w="244253">
                  <a:extLst>
                    <a:ext uri="{9D8B030D-6E8A-4147-A177-3AD203B41FA5}">
                      <a16:colId xmlns:a16="http://schemas.microsoft.com/office/drawing/2014/main" val="3614210242"/>
                    </a:ext>
                  </a:extLst>
                </a:gridCol>
                <a:gridCol w="562712">
                  <a:extLst>
                    <a:ext uri="{9D8B030D-6E8A-4147-A177-3AD203B41FA5}">
                      <a16:colId xmlns:a16="http://schemas.microsoft.com/office/drawing/2014/main" val="1442124609"/>
                    </a:ext>
                  </a:extLst>
                </a:gridCol>
                <a:gridCol w="1901756">
                  <a:extLst>
                    <a:ext uri="{9D8B030D-6E8A-4147-A177-3AD203B41FA5}">
                      <a16:colId xmlns:a16="http://schemas.microsoft.com/office/drawing/2014/main" val="3603859997"/>
                    </a:ext>
                  </a:extLst>
                </a:gridCol>
                <a:gridCol w="432942">
                  <a:extLst>
                    <a:ext uri="{9D8B030D-6E8A-4147-A177-3AD203B41FA5}">
                      <a16:colId xmlns:a16="http://schemas.microsoft.com/office/drawing/2014/main" val="4076488391"/>
                    </a:ext>
                  </a:extLst>
                </a:gridCol>
                <a:gridCol w="432942">
                  <a:extLst>
                    <a:ext uri="{9D8B030D-6E8A-4147-A177-3AD203B41FA5}">
                      <a16:colId xmlns:a16="http://schemas.microsoft.com/office/drawing/2014/main" val="3254101706"/>
                    </a:ext>
                  </a:extLst>
                </a:gridCol>
                <a:gridCol w="432942">
                  <a:extLst>
                    <a:ext uri="{9D8B030D-6E8A-4147-A177-3AD203B41FA5}">
                      <a16:colId xmlns:a16="http://schemas.microsoft.com/office/drawing/2014/main" val="3712391277"/>
                    </a:ext>
                  </a:extLst>
                </a:gridCol>
                <a:gridCol w="432942">
                  <a:extLst>
                    <a:ext uri="{9D8B030D-6E8A-4147-A177-3AD203B41FA5}">
                      <a16:colId xmlns:a16="http://schemas.microsoft.com/office/drawing/2014/main" val="2527660299"/>
                    </a:ext>
                  </a:extLst>
                </a:gridCol>
                <a:gridCol w="432942">
                  <a:extLst>
                    <a:ext uri="{9D8B030D-6E8A-4147-A177-3AD203B41FA5}">
                      <a16:colId xmlns:a16="http://schemas.microsoft.com/office/drawing/2014/main" val="3641075278"/>
                    </a:ext>
                  </a:extLst>
                </a:gridCol>
                <a:gridCol w="432942">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bl>
          </a:graphicData>
        </a:graphic>
      </p:graphicFrame>
      <p:graphicFrame>
        <p:nvGraphicFramePr>
          <p:cNvPr id="9" name="表格 9">
            <a:extLst>
              <a:ext uri="{FF2B5EF4-FFF2-40B4-BE49-F238E27FC236}">
                <a16:creationId xmlns:a16="http://schemas.microsoft.com/office/drawing/2014/main" id="{22E7A200-307D-E71B-5C70-5B73E2782E32}"/>
              </a:ext>
            </a:extLst>
          </p:cNvPr>
          <p:cNvGraphicFramePr>
            <a:graphicFrameLocks noGrp="1"/>
          </p:cNvGraphicFramePr>
          <p:nvPr>
            <p:extLst>
              <p:ext uri="{D42A27DB-BD31-4B8C-83A1-F6EECF244321}">
                <p14:modId xmlns:p14="http://schemas.microsoft.com/office/powerpoint/2010/main" val="4066936730"/>
              </p:ext>
            </p:extLst>
          </p:nvPr>
        </p:nvGraphicFramePr>
        <p:xfrm>
          <a:off x="6195376" y="1732968"/>
          <a:ext cx="5715531" cy="1730440"/>
        </p:xfrm>
        <a:graphic>
          <a:graphicData uri="http://schemas.openxmlformats.org/drawingml/2006/table">
            <a:tbl>
              <a:tblPr/>
              <a:tblGrid>
                <a:gridCol w="488004">
                  <a:extLst>
                    <a:ext uri="{9D8B030D-6E8A-4147-A177-3AD203B41FA5}">
                      <a16:colId xmlns:a16="http://schemas.microsoft.com/office/drawing/2014/main" val="495084399"/>
                    </a:ext>
                  </a:extLst>
                </a:gridCol>
                <a:gridCol w="255559">
                  <a:extLst>
                    <a:ext uri="{9D8B030D-6E8A-4147-A177-3AD203B41FA5}">
                      <a16:colId xmlns:a16="http://schemas.microsoft.com/office/drawing/2014/main" val="3614210242"/>
                    </a:ext>
                  </a:extLst>
                </a:gridCol>
                <a:gridCol w="608198">
                  <a:extLst>
                    <a:ext uri="{9D8B030D-6E8A-4147-A177-3AD203B41FA5}">
                      <a16:colId xmlns:a16="http://schemas.microsoft.com/office/drawing/2014/main" val="1442124609"/>
                    </a:ext>
                  </a:extLst>
                </a:gridCol>
                <a:gridCol w="1950480">
                  <a:extLst>
                    <a:ext uri="{9D8B030D-6E8A-4147-A177-3AD203B41FA5}">
                      <a16:colId xmlns:a16="http://schemas.microsoft.com/office/drawing/2014/main" val="3603859997"/>
                    </a:ext>
                  </a:extLst>
                </a:gridCol>
                <a:gridCol w="402215">
                  <a:extLst>
                    <a:ext uri="{9D8B030D-6E8A-4147-A177-3AD203B41FA5}">
                      <a16:colId xmlns:a16="http://schemas.microsoft.com/office/drawing/2014/main" val="4076488391"/>
                    </a:ext>
                  </a:extLst>
                </a:gridCol>
                <a:gridCol w="402215">
                  <a:extLst>
                    <a:ext uri="{9D8B030D-6E8A-4147-A177-3AD203B41FA5}">
                      <a16:colId xmlns:a16="http://schemas.microsoft.com/office/drawing/2014/main" val="3254101706"/>
                    </a:ext>
                  </a:extLst>
                </a:gridCol>
                <a:gridCol w="402215">
                  <a:extLst>
                    <a:ext uri="{9D8B030D-6E8A-4147-A177-3AD203B41FA5}">
                      <a16:colId xmlns:a16="http://schemas.microsoft.com/office/drawing/2014/main" val="3712391277"/>
                    </a:ext>
                  </a:extLst>
                </a:gridCol>
                <a:gridCol w="402215">
                  <a:extLst>
                    <a:ext uri="{9D8B030D-6E8A-4147-A177-3AD203B41FA5}">
                      <a16:colId xmlns:a16="http://schemas.microsoft.com/office/drawing/2014/main" val="2527660299"/>
                    </a:ext>
                  </a:extLst>
                </a:gridCol>
                <a:gridCol w="402215">
                  <a:extLst>
                    <a:ext uri="{9D8B030D-6E8A-4147-A177-3AD203B41FA5}">
                      <a16:colId xmlns:a16="http://schemas.microsoft.com/office/drawing/2014/main" val="3641075278"/>
                    </a:ext>
                  </a:extLst>
                </a:gridCol>
                <a:gridCol w="402215">
                  <a:extLst>
                    <a:ext uri="{9D8B030D-6E8A-4147-A177-3AD203B41FA5}">
                      <a16:colId xmlns:a16="http://schemas.microsoft.com/office/drawing/2014/main" val="3618613915"/>
                    </a:ext>
                  </a:extLst>
                </a:gridCol>
              </a:tblGrid>
              <a:tr h="0">
                <a:tc rowSpan="9">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64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 (3PO)</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45299611"/>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723639438"/>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97566895"/>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25989593"/>
                  </a:ext>
                </a:extLst>
              </a:tr>
            </a:tbl>
          </a:graphicData>
        </a:graphic>
      </p:graphicFrame>
      <p:sp>
        <p:nvSpPr>
          <p:cNvPr id="6" name="文本框 27">
            <a:extLst>
              <a:ext uri="{FF2B5EF4-FFF2-40B4-BE49-F238E27FC236}">
                <a16:creationId xmlns:a16="http://schemas.microsoft.com/office/drawing/2014/main" id="{40406277-65E7-C855-D1E8-A8E634F296E2}"/>
              </a:ext>
            </a:extLst>
          </p:cNvPr>
          <p:cNvSpPr txBox="1"/>
          <p:nvPr/>
        </p:nvSpPr>
        <p:spPr>
          <a:xfrm>
            <a:off x="40260" y="-30679"/>
            <a:ext cx="4470947" cy="400110"/>
          </a:xfrm>
          <a:prstGeom prst="rect">
            <a:avLst/>
          </a:prstGeom>
          <a:noFill/>
        </p:spPr>
        <p:txBody>
          <a:bodyPr wrap="square" rtlCol="0">
            <a:spAutoFit/>
          </a:bodyPr>
          <a:lstStyle/>
          <a:p>
            <a:r>
              <a:rPr lang="nl-NL" altLang="zh-CN" sz="2000" b="1"/>
              <a:t>ISGLEASE_AFE_MLA</a:t>
            </a:r>
            <a:endParaRPr lang="zh-CN" altLang="en-US" sz="2000" b="1"/>
          </a:p>
        </p:txBody>
      </p:sp>
    </p:spTree>
    <p:extLst>
      <p:ext uri="{BB962C8B-B14F-4D97-AF65-F5344CB8AC3E}">
        <p14:creationId xmlns:p14="http://schemas.microsoft.com/office/powerpoint/2010/main" val="259579642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1B39B5-C512-7590-B663-CBF58328BEEE}"/>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2E847625-498E-EA18-7694-F33F49A5725C}"/>
              </a:ext>
            </a:extLst>
          </p:cNvPr>
          <p:cNvGraphicFramePr>
            <a:graphicFrameLocks noGrp="1"/>
          </p:cNvGraphicFramePr>
          <p:nvPr>
            <p:extLst>
              <p:ext uri="{D42A27DB-BD31-4B8C-83A1-F6EECF244321}">
                <p14:modId xmlns:p14="http://schemas.microsoft.com/office/powerpoint/2010/main" val="558385598"/>
              </p:ext>
            </p:extLst>
          </p:nvPr>
        </p:nvGraphicFramePr>
        <p:xfrm>
          <a:off x="99626" y="447365"/>
          <a:ext cx="5996375" cy="1303020"/>
        </p:xfrm>
        <a:graphic>
          <a:graphicData uri="http://schemas.openxmlformats.org/drawingml/2006/table">
            <a:tbl>
              <a:tblPr firstRow="1" bandRow="1">
                <a:tableStyleId>{3C2FFA5D-87B4-456A-9821-1D502468CF0F}</a:tableStyleId>
              </a:tblPr>
              <a:tblGrid>
                <a:gridCol w="686066">
                  <a:extLst>
                    <a:ext uri="{9D8B030D-6E8A-4147-A177-3AD203B41FA5}">
                      <a16:colId xmlns:a16="http://schemas.microsoft.com/office/drawing/2014/main" val="869603910"/>
                    </a:ext>
                  </a:extLst>
                </a:gridCol>
                <a:gridCol w="709986">
                  <a:extLst>
                    <a:ext uri="{9D8B030D-6E8A-4147-A177-3AD203B41FA5}">
                      <a16:colId xmlns:a16="http://schemas.microsoft.com/office/drawing/2014/main" val="238663902"/>
                    </a:ext>
                  </a:extLst>
                </a:gridCol>
                <a:gridCol w="608934">
                  <a:extLst>
                    <a:ext uri="{9D8B030D-6E8A-4147-A177-3AD203B41FA5}">
                      <a16:colId xmlns:a16="http://schemas.microsoft.com/office/drawing/2014/main" val="4114365151"/>
                    </a:ext>
                  </a:extLst>
                </a:gridCol>
                <a:gridCol w="752684">
                  <a:extLst>
                    <a:ext uri="{9D8B030D-6E8A-4147-A177-3AD203B41FA5}">
                      <a16:colId xmlns:a16="http://schemas.microsoft.com/office/drawing/2014/main" val="4075178046"/>
                    </a:ext>
                  </a:extLst>
                </a:gridCol>
                <a:gridCol w="702903">
                  <a:extLst>
                    <a:ext uri="{9D8B030D-6E8A-4147-A177-3AD203B41FA5}">
                      <a16:colId xmlns:a16="http://schemas.microsoft.com/office/drawing/2014/main" val="973533418"/>
                    </a:ext>
                  </a:extLst>
                </a:gridCol>
                <a:gridCol w="702156">
                  <a:extLst>
                    <a:ext uri="{9D8B030D-6E8A-4147-A177-3AD203B41FA5}">
                      <a16:colId xmlns:a16="http://schemas.microsoft.com/office/drawing/2014/main" val="2377711782"/>
                    </a:ext>
                  </a:extLst>
                </a:gridCol>
                <a:gridCol w="702156">
                  <a:extLst>
                    <a:ext uri="{9D8B030D-6E8A-4147-A177-3AD203B41FA5}">
                      <a16:colId xmlns:a16="http://schemas.microsoft.com/office/drawing/2014/main" val="3637466090"/>
                    </a:ext>
                  </a:extLst>
                </a:gridCol>
                <a:gridCol w="1131490">
                  <a:extLst>
                    <a:ext uri="{9D8B030D-6E8A-4147-A177-3AD203B41FA5}">
                      <a16:colId xmlns:a16="http://schemas.microsoft.com/office/drawing/2014/main" val="221569069"/>
                    </a:ext>
                  </a:extLst>
                </a:gridCol>
              </a:tblGrid>
              <a:tr h="49006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37137">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Quarterly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7" name="文本框 6">
            <a:extLst>
              <a:ext uri="{FF2B5EF4-FFF2-40B4-BE49-F238E27FC236}">
                <a16:creationId xmlns:a16="http://schemas.microsoft.com/office/drawing/2014/main" id="{712E2020-3BE5-8E47-8D43-89E19D23E69E}"/>
              </a:ext>
            </a:extLst>
          </p:cNvPr>
          <p:cNvSpPr txBox="1"/>
          <p:nvPr/>
        </p:nvSpPr>
        <p:spPr>
          <a:xfrm>
            <a:off x="143235" y="47255"/>
            <a:ext cx="4470947" cy="400110"/>
          </a:xfrm>
          <a:prstGeom prst="rect">
            <a:avLst/>
          </a:prstGeom>
          <a:noFill/>
        </p:spPr>
        <p:txBody>
          <a:bodyPr wrap="square" rtlCol="0">
            <a:spAutoFit/>
          </a:bodyPr>
          <a:lstStyle/>
          <a:p>
            <a:r>
              <a:rPr lang="nl-NL" altLang="zh-CN" sz="2000" b="1"/>
              <a:t>ISGLEASE_AFE_MLA</a:t>
            </a:r>
            <a:endParaRPr lang="zh-CN" altLang="en-US" sz="2000" b="1"/>
          </a:p>
        </p:txBody>
      </p:sp>
      <p:graphicFrame>
        <p:nvGraphicFramePr>
          <p:cNvPr id="10" name="表格 9">
            <a:extLst>
              <a:ext uri="{FF2B5EF4-FFF2-40B4-BE49-F238E27FC236}">
                <a16:creationId xmlns:a16="http://schemas.microsoft.com/office/drawing/2014/main" id="{DB9A1B35-1F07-B918-AC97-0C01EBC39F2A}"/>
              </a:ext>
            </a:extLst>
          </p:cNvPr>
          <p:cNvGraphicFramePr>
            <a:graphicFrameLocks noGrp="1"/>
          </p:cNvGraphicFramePr>
          <p:nvPr>
            <p:extLst>
              <p:ext uri="{D42A27DB-BD31-4B8C-83A1-F6EECF244321}">
                <p14:modId xmlns:p14="http://schemas.microsoft.com/office/powerpoint/2010/main" val="1682089729"/>
              </p:ext>
            </p:extLst>
          </p:nvPr>
        </p:nvGraphicFramePr>
        <p:xfrm>
          <a:off x="6096000" y="1051536"/>
          <a:ext cx="5775851" cy="1708535"/>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At the beginning of the quarter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40.3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40.3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cc Receivable</a:t>
                      </a:r>
                      <a:r>
                        <a:rPr lang="en-US" sz="900" b="0" i="0" u="none" strike="noStrike" kern="1200">
                          <a:solidFill>
                            <a:srgbClr val="000000"/>
                          </a:solidFill>
                          <a:effectLst/>
                          <a:latin typeface="Arial" panose="020B0604020202020204" pitchFamily="34" charset="0"/>
                          <a:ea typeface="+mn-ea"/>
                          <a:cs typeface="+mn-cs"/>
                        </a:rPr>
                        <a:t>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9" name="表格 8">
            <a:extLst>
              <a:ext uri="{FF2B5EF4-FFF2-40B4-BE49-F238E27FC236}">
                <a16:creationId xmlns:a16="http://schemas.microsoft.com/office/drawing/2014/main" id="{2143B3C9-C2BB-7336-1FB2-704FC136C2E6}"/>
              </a:ext>
            </a:extLst>
          </p:cNvPr>
          <p:cNvGraphicFramePr>
            <a:graphicFrameLocks noGrp="1"/>
          </p:cNvGraphicFramePr>
          <p:nvPr>
            <p:extLst>
              <p:ext uri="{D42A27DB-BD31-4B8C-83A1-F6EECF244321}">
                <p14:modId xmlns:p14="http://schemas.microsoft.com/office/powerpoint/2010/main" val="3290982759"/>
              </p:ext>
            </p:extLst>
          </p:nvPr>
        </p:nvGraphicFramePr>
        <p:xfrm>
          <a:off x="6096000" y="2912742"/>
          <a:ext cx="5775850" cy="1296143"/>
        </p:xfrm>
        <a:graphic>
          <a:graphicData uri="http://schemas.openxmlformats.org/drawingml/2006/table">
            <a:tbl>
              <a:tblPr/>
              <a:tblGrid>
                <a:gridCol w="418222">
                  <a:extLst>
                    <a:ext uri="{9D8B030D-6E8A-4147-A177-3AD203B41FA5}">
                      <a16:colId xmlns:a16="http://schemas.microsoft.com/office/drawing/2014/main" val="495084399"/>
                    </a:ext>
                  </a:extLst>
                </a:gridCol>
                <a:gridCol w="229959">
                  <a:extLst>
                    <a:ext uri="{9D8B030D-6E8A-4147-A177-3AD203B41FA5}">
                      <a16:colId xmlns:a16="http://schemas.microsoft.com/office/drawing/2014/main" val="3614210242"/>
                    </a:ext>
                  </a:extLst>
                </a:gridCol>
                <a:gridCol w="547274">
                  <a:extLst>
                    <a:ext uri="{9D8B030D-6E8A-4147-A177-3AD203B41FA5}">
                      <a16:colId xmlns:a16="http://schemas.microsoft.com/office/drawing/2014/main" val="1442124609"/>
                    </a:ext>
                  </a:extLst>
                </a:gridCol>
                <a:gridCol w="1989261">
                  <a:extLst>
                    <a:ext uri="{9D8B030D-6E8A-4147-A177-3AD203B41FA5}">
                      <a16:colId xmlns:a16="http://schemas.microsoft.com/office/drawing/2014/main" val="3603859997"/>
                    </a:ext>
                  </a:extLst>
                </a:gridCol>
                <a:gridCol w="308444">
                  <a:extLst>
                    <a:ext uri="{9D8B030D-6E8A-4147-A177-3AD203B41FA5}">
                      <a16:colId xmlns:a16="http://schemas.microsoft.com/office/drawing/2014/main" val="4076488391"/>
                    </a:ext>
                  </a:extLst>
                </a:gridCol>
                <a:gridCol w="308444">
                  <a:extLst>
                    <a:ext uri="{9D8B030D-6E8A-4147-A177-3AD203B41FA5}">
                      <a16:colId xmlns:a16="http://schemas.microsoft.com/office/drawing/2014/main" val="3254101706"/>
                    </a:ext>
                  </a:extLst>
                </a:gridCol>
                <a:gridCol w="251950">
                  <a:extLst>
                    <a:ext uri="{9D8B030D-6E8A-4147-A177-3AD203B41FA5}">
                      <a16:colId xmlns:a16="http://schemas.microsoft.com/office/drawing/2014/main" val="3712391277"/>
                    </a:ext>
                  </a:extLst>
                </a:gridCol>
                <a:gridCol w="565493">
                  <a:extLst>
                    <a:ext uri="{9D8B030D-6E8A-4147-A177-3AD203B41FA5}">
                      <a16:colId xmlns:a16="http://schemas.microsoft.com/office/drawing/2014/main" val="134131131"/>
                    </a:ext>
                  </a:extLst>
                </a:gridCol>
                <a:gridCol w="322832">
                  <a:extLst>
                    <a:ext uri="{9D8B030D-6E8A-4147-A177-3AD203B41FA5}">
                      <a16:colId xmlns:a16="http://schemas.microsoft.com/office/drawing/2014/main" val="2527660299"/>
                    </a:ext>
                  </a:extLst>
                </a:gridCol>
                <a:gridCol w="355685">
                  <a:extLst>
                    <a:ext uri="{9D8B030D-6E8A-4147-A177-3AD203B41FA5}">
                      <a16:colId xmlns:a16="http://schemas.microsoft.com/office/drawing/2014/main" val="3641075278"/>
                    </a:ext>
                  </a:extLst>
                </a:gridCol>
                <a:gridCol w="478286">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Quarterly payment to S&amp;D</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Quarterly Billing</a:t>
                      </a:r>
                      <a:r>
                        <a:rPr lang="en-US" altLang="zh-CN" sz="900" b="0" i="0">
                          <a:solidFill>
                            <a:srgbClr val="000000"/>
                          </a:solidFill>
                          <a:effectLst/>
                          <a:latin typeface="Arial" panose="020B0604020202020204" pitchFamily="34" charset="0"/>
                        </a:rPr>
                        <a: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 name="表格 2">
            <a:extLst>
              <a:ext uri="{FF2B5EF4-FFF2-40B4-BE49-F238E27FC236}">
                <a16:creationId xmlns:a16="http://schemas.microsoft.com/office/drawing/2014/main" id="{767755B7-DB6A-DEF0-1CE0-A35F12C0C44B}"/>
              </a:ext>
            </a:extLst>
          </p:cNvPr>
          <p:cNvGraphicFramePr>
            <a:graphicFrameLocks noGrp="1"/>
          </p:cNvGraphicFramePr>
          <p:nvPr>
            <p:extLst>
              <p:ext uri="{D42A27DB-BD31-4B8C-83A1-F6EECF244321}">
                <p14:modId xmlns:p14="http://schemas.microsoft.com/office/powerpoint/2010/main" val="2742137767"/>
              </p:ext>
            </p:extLst>
          </p:nvPr>
        </p:nvGraphicFramePr>
        <p:xfrm>
          <a:off x="143235" y="2917123"/>
          <a:ext cx="5657426" cy="1139362"/>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22039914"/>
                  </a:ext>
                </a:extLst>
              </a:tr>
            </a:tbl>
          </a:graphicData>
        </a:graphic>
      </p:graphicFrame>
      <p:graphicFrame>
        <p:nvGraphicFramePr>
          <p:cNvPr id="5" name="表格 4">
            <a:extLst>
              <a:ext uri="{FF2B5EF4-FFF2-40B4-BE49-F238E27FC236}">
                <a16:creationId xmlns:a16="http://schemas.microsoft.com/office/drawing/2014/main" id="{8F25B9F8-6D75-A921-DC01-737E9E74A22F}"/>
              </a:ext>
            </a:extLst>
          </p:cNvPr>
          <p:cNvGraphicFramePr>
            <a:graphicFrameLocks noGrp="1"/>
          </p:cNvGraphicFramePr>
          <p:nvPr>
            <p:extLst>
              <p:ext uri="{D42A27DB-BD31-4B8C-83A1-F6EECF244321}">
                <p14:modId xmlns:p14="http://schemas.microsoft.com/office/powerpoint/2010/main" val="2265298024"/>
              </p:ext>
            </p:extLst>
          </p:nvPr>
        </p:nvGraphicFramePr>
        <p:xfrm>
          <a:off x="143235" y="4361826"/>
          <a:ext cx="5657426" cy="1420032"/>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mn-lt"/>
                          <a:ea typeface="+mn-ea"/>
                          <a:cs typeface="+mn-cs"/>
                        </a:rPr>
                        <a:t>5010440</a:t>
                      </a:r>
                    </a:p>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6" name="表格 5">
            <a:extLst>
              <a:ext uri="{FF2B5EF4-FFF2-40B4-BE49-F238E27FC236}">
                <a16:creationId xmlns:a16="http://schemas.microsoft.com/office/drawing/2014/main" id="{F474E132-4A16-4450-1CC7-E3E587261BD9}"/>
              </a:ext>
            </a:extLst>
          </p:cNvPr>
          <p:cNvGraphicFramePr>
            <a:graphicFrameLocks noGrp="1"/>
          </p:cNvGraphicFramePr>
          <p:nvPr>
            <p:extLst>
              <p:ext uri="{D42A27DB-BD31-4B8C-83A1-F6EECF244321}">
                <p14:modId xmlns:p14="http://schemas.microsoft.com/office/powerpoint/2010/main" val="1797037329"/>
              </p:ext>
            </p:extLst>
          </p:nvPr>
        </p:nvGraphicFramePr>
        <p:xfrm>
          <a:off x="6096000" y="4361826"/>
          <a:ext cx="5775851"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1</a:t>
                      </a:r>
                      <a:r>
                        <a:rPr lang="en-US" altLang="zh-CN" sz="800" b="1" i="0" u="none" strike="noStrike" baseline="30000">
                          <a:solidFill>
                            <a:srgbClr val="FFFFFF"/>
                          </a:solidFill>
                          <a:effectLst/>
                          <a:latin typeface="Arial" panose="020B0604020202020204" pitchFamily="34" charset="0"/>
                        </a:rPr>
                        <a:t>st</a:t>
                      </a:r>
                      <a:r>
                        <a:rPr lang="en-US" altLang="zh-CN" sz="800" b="1" i="0" u="none" strike="noStrike">
                          <a:solidFill>
                            <a:srgbClr val="FFFFFF"/>
                          </a:solidFill>
                          <a:effectLst/>
                          <a:latin typeface="Arial" panose="020B0604020202020204" pitchFamily="34" charset="0"/>
                        </a:rPr>
                        <a:t> Month end adjustment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altLang="zh-CN" sz="900" b="1" i="0">
                          <a:solidFill>
                            <a:srgbClr val="000000"/>
                          </a:solidFill>
                          <a:effectLst/>
                          <a:latin typeface="Arial" panose="020B0604020202020204" pitchFamily="34" charset="0"/>
                        </a:rPr>
                        <a:t>At the end of 1</a:t>
                      </a:r>
                      <a:r>
                        <a:rPr lang="en-US" altLang="zh-CN" sz="900" b="1" i="0" baseline="30000">
                          <a:solidFill>
                            <a:srgbClr val="000000"/>
                          </a:solidFill>
                          <a:effectLst/>
                          <a:latin typeface="Arial" panose="020B0604020202020204" pitchFamily="34" charset="0"/>
                        </a:rPr>
                        <a:t>st</a:t>
                      </a:r>
                      <a:r>
                        <a:rPr lang="en-US" altLang="zh-CN" sz="900" b="1" i="0">
                          <a:solidFill>
                            <a:srgbClr val="000000"/>
                          </a:solidFill>
                          <a:effectLst/>
                          <a:latin typeface="Arial" panose="020B0604020202020204" pitchFamily="34" charset="0"/>
                        </a:rPr>
                        <a:t> month of the quarter​</a:t>
                      </a:r>
                      <a:endParaRPr lang="en-US" altLang="zh-CN"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169747502"/>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a:ea typeface="+mn-ea"/>
                          <a:cs typeface="+mn-cs"/>
                        </a:rPr>
                        <a:t>5010450</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93882986"/>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a:ea typeface="+mn-ea"/>
                          <a:cs typeface="+mn-cs"/>
                        </a:rPr>
                        <a:t>5010450</a:t>
                      </a:r>
                      <a:endParaRPr lang="en-US"/>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sp>
        <p:nvSpPr>
          <p:cNvPr id="2" name="对话气泡: 矩形 1">
            <a:extLst>
              <a:ext uri="{FF2B5EF4-FFF2-40B4-BE49-F238E27FC236}">
                <a16:creationId xmlns:a16="http://schemas.microsoft.com/office/drawing/2014/main" id="{82B4E4BB-2248-D6F6-9988-18F9FAC5F6D3}"/>
              </a:ext>
            </a:extLst>
          </p:cNvPr>
          <p:cNvSpPr/>
          <p:nvPr/>
        </p:nvSpPr>
        <p:spPr>
          <a:xfrm>
            <a:off x="1166250" y="6087199"/>
            <a:ext cx="8352654" cy="446981"/>
          </a:xfrm>
          <a:prstGeom prst="wedgeRectCallout">
            <a:avLst>
              <a:gd name="adj1" fmla="val 7019"/>
              <a:gd name="adj2" fmla="val -14185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S&amp;D/AFE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p:txBody>
      </p:sp>
      <p:sp>
        <p:nvSpPr>
          <p:cNvPr id="8" name="Rectangle 1">
            <a:extLst>
              <a:ext uri="{FF2B5EF4-FFF2-40B4-BE49-F238E27FC236}">
                <a16:creationId xmlns:a16="http://schemas.microsoft.com/office/drawing/2014/main" id="{B2D24877-CACD-F94A-11CD-5FF20DA213F5}"/>
              </a:ext>
            </a:extLst>
          </p:cNvPr>
          <p:cNvSpPr/>
          <p:nvPr/>
        </p:nvSpPr>
        <p:spPr>
          <a:xfrm>
            <a:off x="168978" y="4361826"/>
            <a:ext cx="11702872" cy="1420032"/>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Tree>
    <p:extLst>
      <p:ext uri="{BB962C8B-B14F-4D97-AF65-F5344CB8AC3E}">
        <p14:creationId xmlns:p14="http://schemas.microsoft.com/office/powerpoint/2010/main" val="283726696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25C65C-038D-B7D3-F10D-F38B0B872BF9}"/>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E388A080-0D28-D052-D85E-90BF64295DD6}"/>
              </a:ext>
            </a:extLst>
          </p:cNvPr>
          <p:cNvGraphicFramePr>
            <a:graphicFrameLocks noGrp="1"/>
          </p:cNvGraphicFramePr>
          <p:nvPr>
            <p:extLst>
              <p:ext uri="{D42A27DB-BD31-4B8C-83A1-F6EECF244321}">
                <p14:modId xmlns:p14="http://schemas.microsoft.com/office/powerpoint/2010/main" val="741625814"/>
              </p:ext>
            </p:extLst>
          </p:nvPr>
        </p:nvGraphicFramePr>
        <p:xfrm>
          <a:off x="32110" y="1722814"/>
          <a:ext cx="5715531" cy="2044765"/>
        </p:xfrm>
        <a:graphic>
          <a:graphicData uri="http://schemas.openxmlformats.org/drawingml/2006/table">
            <a:tbl>
              <a:tblPr/>
              <a:tblGrid>
                <a:gridCol w="488004">
                  <a:extLst>
                    <a:ext uri="{9D8B030D-6E8A-4147-A177-3AD203B41FA5}">
                      <a16:colId xmlns:a16="http://schemas.microsoft.com/office/drawing/2014/main" val="495084399"/>
                    </a:ext>
                  </a:extLst>
                </a:gridCol>
                <a:gridCol w="255559">
                  <a:extLst>
                    <a:ext uri="{9D8B030D-6E8A-4147-A177-3AD203B41FA5}">
                      <a16:colId xmlns:a16="http://schemas.microsoft.com/office/drawing/2014/main" val="3614210242"/>
                    </a:ext>
                  </a:extLst>
                </a:gridCol>
                <a:gridCol w="608198">
                  <a:extLst>
                    <a:ext uri="{9D8B030D-6E8A-4147-A177-3AD203B41FA5}">
                      <a16:colId xmlns:a16="http://schemas.microsoft.com/office/drawing/2014/main" val="1442124609"/>
                    </a:ext>
                  </a:extLst>
                </a:gridCol>
                <a:gridCol w="1950480">
                  <a:extLst>
                    <a:ext uri="{9D8B030D-6E8A-4147-A177-3AD203B41FA5}">
                      <a16:colId xmlns:a16="http://schemas.microsoft.com/office/drawing/2014/main" val="3603859997"/>
                    </a:ext>
                  </a:extLst>
                </a:gridCol>
                <a:gridCol w="402215">
                  <a:extLst>
                    <a:ext uri="{9D8B030D-6E8A-4147-A177-3AD203B41FA5}">
                      <a16:colId xmlns:a16="http://schemas.microsoft.com/office/drawing/2014/main" val="4076488391"/>
                    </a:ext>
                  </a:extLst>
                </a:gridCol>
                <a:gridCol w="402215">
                  <a:extLst>
                    <a:ext uri="{9D8B030D-6E8A-4147-A177-3AD203B41FA5}">
                      <a16:colId xmlns:a16="http://schemas.microsoft.com/office/drawing/2014/main" val="3254101706"/>
                    </a:ext>
                  </a:extLst>
                </a:gridCol>
                <a:gridCol w="402215">
                  <a:extLst>
                    <a:ext uri="{9D8B030D-6E8A-4147-A177-3AD203B41FA5}">
                      <a16:colId xmlns:a16="http://schemas.microsoft.com/office/drawing/2014/main" val="3712391277"/>
                    </a:ext>
                  </a:extLst>
                </a:gridCol>
                <a:gridCol w="402215">
                  <a:extLst>
                    <a:ext uri="{9D8B030D-6E8A-4147-A177-3AD203B41FA5}">
                      <a16:colId xmlns:a16="http://schemas.microsoft.com/office/drawing/2014/main" val="2527660299"/>
                    </a:ext>
                  </a:extLst>
                </a:gridCol>
                <a:gridCol w="402215">
                  <a:extLst>
                    <a:ext uri="{9D8B030D-6E8A-4147-A177-3AD203B41FA5}">
                      <a16:colId xmlns:a16="http://schemas.microsoft.com/office/drawing/2014/main" val="3641075278"/>
                    </a:ext>
                  </a:extLst>
                </a:gridCol>
                <a:gridCol w="402215">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a:solidFill>
                            <a:schemeClr val="bg1"/>
                          </a:solidFill>
                          <a:latin typeface="+mn-lt"/>
                          <a:cs typeface="Arial" pitchFamily="34" charset="0"/>
                        </a:rPr>
                        <a:t>Invoice to customer for early termination</a:t>
                      </a:r>
                      <a:r>
                        <a:rPr lang="en-US" altLang="zh-CN" sz="800" b="1" i="0">
                          <a:solidFill>
                            <a:schemeClr val="bg1"/>
                          </a:solidFill>
                          <a:effectLst/>
                          <a:latin typeface="Arial" panose="020B0604020202020204" pitchFamily="34" charset="0"/>
                        </a:rPr>
                        <a:t>​</a:t>
                      </a:r>
                      <a:endParaRPr lang="en-US" altLang="zh-CN" sz="1100" b="1" i="0">
                        <a:solidFill>
                          <a:schemeClr val="bg1"/>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64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 (3PO)</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91228963"/>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Broker </a:t>
                      </a:r>
                      <a:r>
                        <a:rPr lang="en-US" sz="1000" b="0" i="0" u="none" strike="noStrike" kern="1200">
                          <a:solidFill>
                            <a:srgbClr val="000000"/>
                          </a:solidFill>
                          <a:effectLst/>
                          <a:latin typeface="+mj-lt"/>
                          <a:ea typeface="+mn-ea"/>
                          <a:cs typeface="+mn-cs"/>
                        </a:rPr>
                        <a:t>Sales</a:t>
                      </a:r>
                      <a:r>
                        <a:rPr lang="en-US" altLang="zh-CN" sz="1000" b="0" i="0" u="none" strike="noStrike" kern="1200">
                          <a:solidFill>
                            <a:srgbClr val="000000"/>
                          </a:solidFill>
                          <a:effectLst/>
                          <a:latin typeface="+mj-lt"/>
                          <a:ea typeface="+mn-ea"/>
                          <a:cs typeface="+mn-cs"/>
                        </a:rPr>
                        <a:t>(applicable for No Device return)</a:t>
                      </a:r>
                      <a:endParaRPr lang="en-US" sz="1000" b="0" i="0" u="none" strike="noStrike" kern="1200">
                        <a:solidFill>
                          <a:srgbClr val="000000"/>
                        </a:solidFill>
                        <a:effectLst/>
                        <a:latin typeface="+mj-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653344697"/>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723639438"/>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97566895"/>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cxnSp>
        <p:nvCxnSpPr>
          <p:cNvPr id="3" name="直接连接符 2">
            <a:extLst>
              <a:ext uri="{FF2B5EF4-FFF2-40B4-BE49-F238E27FC236}">
                <a16:creationId xmlns:a16="http://schemas.microsoft.com/office/drawing/2014/main" id="{960DDABC-04E9-7E58-023B-DFD62CF7CC0E}"/>
              </a:ext>
            </a:extLst>
          </p:cNvPr>
          <p:cNvCxnSpPr>
            <a:cxnSpLocks/>
          </p:cNvCxnSpPr>
          <p:nvPr/>
        </p:nvCxnSpPr>
        <p:spPr>
          <a:xfrm flipH="1">
            <a:off x="6074950" y="243919"/>
            <a:ext cx="21050" cy="668295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4" name="表格 3">
            <a:extLst>
              <a:ext uri="{FF2B5EF4-FFF2-40B4-BE49-F238E27FC236}">
                <a16:creationId xmlns:a16="http://schemas.microsoft.com/office/drawing/2014/main" id="{770E37C6-6232-E3D9-97BB-86D07619EB35}"/>
              </a:ext>
            </a:extLst>
          </p:cNvPr>
          <p:cNvGraphicFramePr>
            <a:graphicFrameLocks noGrp="1"/>
          </p:cNvGraphicFramePr>
          <p:nvPr>
            <p:extLst>
              <p:ext uri="{D42A27DB-BD31-4B8C-83A1-F6EECF244321}">
                <p14:modId xmlns:p14="http://schemas.microsoft.com/office/powerpoint/2010/main" val="450872993"/>
              </p:ext>
            </p:extLst>
          </p:nvPr>
        </p:nvGraphicFramePr>
        <p:xfrm>
          <a:off x="66733" y="3844342"/>
          <a:ext cx="5708849" cy="954463"/>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418467">
                  <a:extLst>
                    <a:ext uri="{9D8B030D-6E8A-4147-A177-3AD203B41FA5}">
                      <a16:colId xmlns:a16="http://schemas.microsoft.com/office/drawing/2014/main" val="4076488391"/>
                    </a:ext>
                  </a:extLst>
                </a:gridCol>
                <a:gridCol w="418467">
                  <a:extLst>
                    <a:ext uri="{9D8B030D-6E8A-4147-A177-3AD203B41FA5}">
                      <a16:colId xmlns:a16="http://schemas.microsoft.com/office/drawing/2014/main" val="3254101706"/>
                    </a:ext>
                  </a:extLst>
                </a:gridCol>
                <a:gridCol w="418467">
                  <a:extLst>
                    <a:ext uri="{9D8B030D-6E8A-4147-A177-3AD203B41FA5}">
                      <a16:colId xmlns:a16="http://schemas.microsoft.com/office/drawing/2014/main" val="3712391277"/>
                    </a:ext>
                  </a:extLst>
                </a:gridCol>
                <a:gridCol w="418467">
                  <a:extLst>
                    <a:ext uri="{9D8B030D-6E8A-4147-A177-3AD203B41FA5}">
                      <a16:colId xmlns:a16="http://schemas.microsoft.com/office/drawing/2014/main" val="2527660299"/>
                    </a:ext>
                  </a:extLst>
                </a:gridCol>
                <a:gridCol w="418467">
                  <a:extLst>
                    <a:ext uri="{9D8B030D-6E8A-4147-A177-3AD203B41FA5}">
                      <a16:colId xmlns:a16="http://schemas.microsoft.com/office/drawing/2014/main" val="3641075278"/>
                    </a:ext>
                  </a:extLst>
                </a:gridCol>
                <a:gridCol w="418467">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900" b="1" i="0" u="none" strike="noStrike">
                          <a:solidFill>
                            <a:srgbClr val="FFFFFF"/>
                          </a:solidFill>
                          <a:effectLst/>
                          <a:latin typeface="Arial" panose="020B0604020202020204" pitchFamily="34" charset="0"/>
                        </a:rPr>
                        <a:t>ET service transfer to S&amp;D</a:t>
                      </a:r>
                      <a:endParaRPr lang="en-US" sz="12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307354F5-1B83-B421-3B02-FD685FC46420}"/>
              </a:ext>
            </a:extLst>
          </p:cNvPr>
          <p:cNvGraphicFramePr>
            <a:graphicFrameLocks noGrp="1"/>
          </p:cNvGraphicFramePr>
          <p:nvPr>
            <p:extLst>
              <p:ext uri="{D42A27DB-BD31-4B8C-83A1-F6EECF244321}">
                <p14:modId xmlns:p14="http://schemas.microsoft.com/office/powerpoint/2010/main" val="1234183994"/>
              </p:ext>
            </p:extLst>
          </p:nvPr>
        </p:nvGraphicFramePr>
        <p:xfrm>
          <a:off x="66733" y="5133903"/>
          <a:ext cx="5702497" cy="1077159"/>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430586">
                  <a:extLst>
                    <a:ext uri="{9D8B030D-6E8A-4147-A177-3AD203B41FA5}">
                      <a16:colId xmlns:a16="http://schemas.microsoft.com/office/drawing/2014/main" val="4076488391"/>
                    </a:ext>
                  </a:extLst>
                </a:gridCol>
                <a:gridCol w="430586">
                  <a:extLst>
                    <a:ext uri="{9D8B030D-6E8A-4147-A177-3AD203B41FA5}">
                      <a16:colId xmlns:a16="http://schemas.microsoft.com/office/drawing/2014/main" val="3254101706"/>
                    </a:ext>
                  </a:extLst>
                </a:gridCol>
                <a:gridCol w="430586">
                  <a:extLst>
                    <a:ext uri="{9D8B030D-6E8A-4147-A177-3AD203B41FA5}">
                      <a16:colId xmlns:a16="http://schemas.microsoft.com/office/drawing/2014/main" val="3712391277"/>
                    </a:ext>
                  </a:extLst>
                </a:gridCol>
                <a:gridCol w="430586">
                  <a:extLst>
                    <a:ext uri="{9D8B030D-6E8A-4147-A177-3AD203B41FA5}">
                      <a16:colId xmlns:a16="http://schemas.microsoft.com/office/drawing/2014/main" val="2527660299"/>
                    </a:ext>
                  </a:extLst>
                </a:gridCol>
                <a:gridCol w="430586">
                  <a:extLst>
                    <a:ext uri="{9D8B030D-6E8A-4147-A177-3AD203B41FA5}">
                      <a16:colId xmlns:a16="http://schemas.microsoft.com/office/drawing/2014/main" val="3641075278"/>
                    </a:ext>
                  </a:extLst>
                </a:gridCol>
                <a:gridCol w="430586">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ET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bl>
          </a:graphicData>
        </a:graphic>
      </p:graphicFrame>
      <p:graphicFrame>
        <p:nvGraphicFramePr>
          <p:cNvPr id="12" name="表格 11">
            <a:extLst>
              <a:ext uri="{FF2B5EF4-FFF2-40B4-BE49-F238E27FC236}">
                <a16:creationId xmlns:a16="http://schemas.microsoft.com/office/drawing/2014/main" id="{30C5530B-CE62-C87C-99E5-CEF5B1ADFD13}"/>
              </a:ext>
            </a:extLst>
          </p:cNvPr>
          <p:cNvGraphicFramePr>
            <a:graphicFrameLocks noGrp="1"/>
          </p:cNvGraphicFramePr>
          <p:nvPr>
            <p:extLst>
              <p:ext uri="{D42A27DB-BD31-4B8C-83A1-F6EECF244321}">
                <p14:modId xmlns:p14="http://schemas.microsoft.com/office/powerpoint/2010/main" val="4285173587"/>
              </p:ext>
            </p:extLst>
          </p:nvPr>
        </p:nvGraphicFramePr>
        <p:xfrm>
          <a:off x="37853" y="426316"/>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476164">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3rd party</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rgbClr val="FF0000"/>
                          </a:solidFill>
                        </a:rPr>
                        <a:t>ET Device Return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kern="1200">
                          <a:solidFill>
                            <a:srgbClr val="FF0000"/>
                          </a:solidFill>
                          <a:latin typeface="+mn-lt"/>
                          <a:ea typeface="+mn-ea"/>
                          <a:cs typeface="+mn-cs"/>
                        </a:rPr>
                        <a:t>Lost/Stolen</a:t>
                      </a:r>
                      <a:endParaRPr lang="zh-CN" altLang="en-US" sz="1050" kern="1200">
                        <a:solidFill>
                          <a:srgbClr val="FF0000"/>
                        </a:solidFill>
                        <a:latin typeface="+mn-lt"/>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2" name="表格 11">
            <a:extLst>
              <a:ext uri="{FF2B5EF4-FFF2-40B4-BE49-F238E27FC236}">
                <a16:creationId xmlns:a16="http://schemas.microsoft.com/office/drawing/2014/main" id="{E4654CA6-FAE8-30F4-F8E0-F4B9355DB28A}"/>
              </a:ext>
            </a:extLst>
          </p:cNvPr>
          <p:cNvGraphicFramePr>
            <a:graphicFrameLocks noGrp="1"/>
          </p:cNvGraphicFramePr>
          <p:nvPr>
            <p:extLst>
              <p:ext uri="{D42A27DB-BD31-4B8C-83A1-F6EECF244321}">
                <p14:modId xmlns:p14="http://schemas.microsoft.com/office/powerpoint/2010/main" val="17134985"/>
              </p:ext>
            </p:extLst>
          </p:nvPr>
        </p:nvGraphicFramePr>
        <p:xfrm>
          <a:off x="6195376" y="434759"/>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3rd party</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rgbClr val="FF0000"/>
                          </a:solidFill>
                        </a:rPr>
                        <a:t>ET Device Return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kern="1200">
                          <a:solidFill>
                            <a:srgbClr val="FF0000"/>
                          </a:solidFill>
                          <a:latin typeface="+mn-lt"/>
                          <a:ea typeface="+mn-ea"/>
                          <a:cs typeface="+mn-cs"/>
                        </a:rPr>
                        <a:t>Lost/Stolen</a:t>
                      </a:r>
                      <a:endParaRPr lang="zh-CN" altLang="en-US" sz="1050" kern="1200">
                        <a:solidFill>
                          <a:srgbClr val="FF0000"/>
                        </a:solidFill>
                        <a:latin typeface="+mn-lt"/>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3">
            <a:extLst>
              <a:ext uri="{FF2B5EF4-FFF2-40B4-BE49-F238E27FC236}">
                <a16:creationId xmlns:a16="http://schemas.microsoft.com/office/drawing/2014/main" id="{AB73D363-6DF2-48D5-3606-02BB738B4CE6}"/>
              </a:ext>
            </a:extLst>
          </p:cNvPr>
          <p:cNvGraphicFramePr>
            <a:graphicFrameLocks noGrp="1"/>
          </p:cNvGraphicFramePr>
          <p:nvPr>
            <p:extLst>
              <p:ext uri="{D42A27DB-BD31-4B8C-83A1-F6EECF244321}">
                <p14:modId xmlns:p14="http://schemas.microsoft.com/office/powerpoint/2010/main" val="1229509435"/>
              </p:ext>
            </p:extLst>
          </p:nvPr>
        </p:nvGraphicFramePr>
        <p:xfrm>
          <a:off x="6213551" y="3844342"/>
          <a:ext cx="5715527" cy="951098"/>
        </p:xfrm>
        <a:graphic>
          <a:graphicData uri="http://schemas.openxmlformats.org/drawingml/2006/table">
            <a:tbl>
              <a:tblPr/>
              <a:tblGrid>
                <a:gridCol w="426930">
                  <a:extLst>
                    <a:ext uri="{9D8B030D-6E8A-4147-A177-3AD203B41FA5}">
                      <a16:colId xmlns:a16="http://schemas.microsoft.com/office/drawing/2014/main" val="495084399"/>
                    </a:ext>
                  </a:extLst>
                </a:gridCol>
                <a:gridCol w="244694">
                  <a:extLst>
                    <a:ext uri="{9D8B030D-6E8A-4147-A177-3AD203B41FA5}">
                      <a16:colId xmlns:a16="http://schemas.microsoft.com/office/drawing/2014/main" val="3614210242"/>
                    </a:ext>
                  </a:extLst>
                </a:gridCol>
                <a:gridCol w="609692">
                  <a:extLst>
                    <a:ext uri="{9D8B030D-6E8A-4147-A177-3AD203B41FA5}">
                      <a16:colId xmlns:a16="http://schemas.microsoft.com/office/drawing/2014/main" val="1442124609"/>
                    </a:ext>
                  </a:extLst>
                </a:gridCol>
                <a:gridCol w="1920475">
                  <a:extLst>
                    <a:ext uri="{9D8B030D-6E8A-4147-A177-3AD203B41FA5}">
                      <a16:colId xmlns:a16="http://schemas.microsoft.com/office/drawing/2014/main" val="3603859997"/>
                    </a:ext>
                  </a:extLst>
                </a:gridCol>
                <a:gridCol w="418956">
                  <a:extLst>
                    <a:ext uri="{9D8B030D-6E8A-4147-A177-3AD203B41FA5}">
                      <a16:colId xmlns:a16="http://schemas.microsoft.com/office/drawing/2014/main" val="4076488391"/>
                    </a:ext>
                  </a:extLst>
                </a:gridCol>
                <a:gridCol w="418956">
                  <a:extLst>
                    <a:ext uri="{9D8B030D-6E8A-4147-A177-3AD203B41FA5}">
                      <a16:colId xmlns:a16="http://schemas.microsoft.com/office/drawing/2014/main" val="3254101706"/>
                    </a:ext>
                  </a:extLst>
                </a:gridCol>
                <a:gridCol w="418956">
                  <a:extLst>
                    <a:ext uri="{9D8B030D-6E8A-4147-A177-3AD203B41FA5}">
                      <a16:colId xmlns:a16="http://schemas.microsoft.com/office/drawing/2014/main" val="3712391277"/>
                    </a:ext>
                  </a:extLst>
                </a:gridCol>
                <a:gridCol w="418956">
                  <a:extLst>
                    <a:ext uri="{9D8B030D-6E8A-4147-A177-3AD203B41FA5}">
                      <a16:colId xmlns:a16="http://schemas.microsoft.com/office/drawing/2014/main" val="2527660299"/>
                    </a:ext>
                  </a:extLst>
                </a:gridCol>
                <a:gridCol w="418956">
                  <a:extLst>
                    <a:ext uri="{9D8B030D-6E8A-4147-A177-3AD203B41FA5}">
                      <a16:colId xmlns:a16="http://schemas.microsoft.com/office/drawing/2014/main" val="3641075278"/>
                    </a:ext>
                  </a:extLst>
                </a:gridCol>
                <a:gridCol w="418956">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4" name="表格 4">
            <a:extLst>
              <a:ext uri="{FF2B5EF4-FFF2-40B4-BE49-F238E27FC236}">
                <a16:creationId xmlns:a16="http://schemas.microsoft.com/office/drawing/2014/main" id="{36E8E51F-294E-F319-BD87-F6F435D66F37}"/>
              </a:ext>
            </a:extLst>
          </p:cNvPr>
          <p:cNvGraphicFramePr>
            <a:graphicFrameLocks noGrp="1"/>
          </p:cNvGraphicFramePr>
          <p:nvPr>
            <p:extLst>
              <p:ext uri="{D42A27DB-BD31-4B8C-83A1-F6EECF244321}">
                <p14:modId xmlns:p14="http://schemas.microsoft.com/office/powerpoint/2010/main" val="246446024"/>
              </p:ext>
            </p:extLst>
          </p:nvPr>
        </p:nvGraphicFramePr>
        <p:xfrm>
          <a:off x="6195376" y="5133903"/>
          <a:ext cx="5733704" cy="1077159"/>
        </p:xfrm>
        <a:graphic>
          <a:graphicData uri="http://schemas.openxmlformats.org/drawingml/2006/table">
            <a:tbl>
              <a:tblPr/>
              <a:tblGrid>
                <a:gridCol w="427331">
                  <a:extLst>
                    <a:ext uri="{9D8B030D-6E8A-4147-A177-3AD203B41FA5}">
                      <a16:colId xmlns:a16="http://schemas.microsoft.com/office/drawing/2014/main" val="495084399"/>
                    </a:ext>
                  </a:extLst>
                </a:gridCol>
                <a:gridCol w="244253">
                  <a:extLst>
                    <a:ext uri="{9D8B030D-6E8A-4147-A177-3AD203B41FA5}">
                      <a16:colId xmlns:a16="http://schemas.microsoft.com/office/drawing/2014/main" val="3614210242"/>
                    </a:ext>
                  </a:extLst>
                </a:gridCol>
                <a:gridCol w="562712">
                  <a:extLst>
                    <a:ext uri="{9D8B030D-6E8A-4147-A177-3AD203B41FA5}">
                      <a16:colId xmlns:a16="http://schemas.microsoft.com/office/drawing/2014/main" val="1442124609"/>
                    </a:ext>
                  </a:extLst>
                </a:gridCol>
                <a:gridCol w="1901756">
                  <a:extLst>
                    <a:ext uri="{9D8B030D-6E8A-4147-A177-3AD203B41FA5}">
                      <a16:colId xmlns:a16="http://schemas.microsoft.com/office/drawing/2014/main" val="3603859997"/>
                    </a:ext>
                  </a:extLst>
                </a:gridCol>
                <a:gridCol w="432942">
                  <a:extLst>
                    <a:ext uri="{9D8B030D-6E8A-4147-A177-3AD203B41FA5}">
                      <a16:colId xmlns:a16="http://schemas.microsoft.com/office/drawing/2014/main" val="4076488391"/>
                    </a:ext>
                  </a:extLst>
                </a:gridCol>
                <a:gridCol w="432942">
                  <a:extLst>
                    <a:ext uri="{9D8B030D-6E8A-4147-A177-3AD203B41FA5}">
                      <a16:colId xmlns:a16="http://schemas.microsoft.com/office/drawing/2014/main" val="3254101706"/>
                    </a:ext>
                  </a:extLst>
                </a:gridCol>
                <a:gridCol w="432942">
                  <a:extLst>
                    <a:ext uri="{9D8B030D-6E8A-4147-A177-3AD203B41FA5}">
                      <a16:colId xmlns:a16="http://schemas.microsoft.com/office/drawing/2014/main" val="3712391277"/>
                    </a:ext>
                  </a:extLst>
                </a:gridCol>
                <a:gridCol w="432942">
                  <a:extLst>
                    <a:ext uri="{9D8B030D-6E8A-4147-A177-3AD203B41FA5}">
                      <a16:colId xmlns:a16="http://schemas.microsoft.com/office/drawing/2014/main" val="2527660299"/>
                    </a:ext>
                  </a:extLst>
                </a:gridCol>
                <a:gridCol w="432942">
                  <a:extLst>
                    <a:ext uri="{9D8B030D-6E8A-4147-A177-3AD203B41FA5}">
                      <a16:colId xmlns:a16="http://schemas.microsoft.com/office/drawing/2014/main" val="3641075278"/>
                    </a:ext>
                  </a:extLst>
                </a:gridCol>
                <a:gridCol w="432942">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ET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bl>
          </a:graphicData>
        </a:graphic>
      </p:graphicFrame>
      <p:graphicFrame>
        <p:nvGraphicFramePr>
          <p:cNvPr id="9" name="表格 9">
            <a:extLst>
              <a:ext uri="{FF2B5EF4-FFF2-40B4-BE49-F238E27FC236}">
                <a16:creationId xmlns:a16="http://schemas.microsoft.com/office/drawing/2014/main" id="{D43453CD-7A1B-1C4C-E2F7-9C17F1921CB9}"/>
              </a:ext>
            </a:extLst>
          </p:cNvPr>
          <p:cNvGraphicFramePr>
            <a:graphicFrameLocks noGrp="1"/>
          </p:cNvGraphicFramePr>
          <p:nvPr>
            <p:extLst>
              <p:ext uri="{D42A27DB-BD31-4B8C-83A1-F6EECF244321}">
                <p14:modId xmlns:p14="http://schemas.microsoft.com/office/powerpoint/2010/main" val="3369616646"/>
              </p:ext>
            </p:extLst>
          </p:nvPr>
        </p:nvGraphicFramePr>
        <p:xfrm>
          <a:off x="6195376" y="1732968"/>
          <a:ext cx="5715531" cy="2040891"/>
        </p:xfrm>
        <a:graphic>
          <a:graphicData uri="http://schemas.openxmlformats.org/drawingml/2006/table">
            <a:tbl>
              <a:tblPr/>
              <a:tblGrid>
                <a:gridCol w="488004">
                  <a:extLst>
                    <a:ext uri="{9D8B030D-6E8A-4147-A177-3AD203B41FA5}">
                      <a16:colId xmlns:a16="http://schemas.microsoft.com/office/drawing/2014/main" val="495084399"/>
                    </a:ext>
                  </a:extLst>
                </a:gridCol>
                <a:gridCol w="255559">
                  <a:extLst>
                    <a:ext uri="{9D8B030D-6E8A-4147-A177-3AD203B41FA5}">
                      <a16:colId xmlns:a16="http://schemas.microsoft.com/office/drawing/2014/main" val="3614210242"/>
                    </a:ext>
                  </a:extLst>
                </a:gridCol>
                <a:gridCol w="608198">
                  <a:extLst>
                    <a:ext uri="{9D8B030D-6E8A-4147-A177-3AD203B41FA5}">
                      <a16:colId xmlns:a16="http://schemas.microsoft.com/office/drawing/2014/main" val="1442124609"/>
                    </a:ext>
                  </a:extLst>
                </a:gridCol>
                <a:gridCol w="1950480">
                  <a:extLst>
                    <a:ext uri="{9D8B030D-6E8A-4147-A177-3AD203B41FA5}">
                      <a16:colId xmlns:a16="http://schemas.microsoft.com/office/drawing/2014/main" val="3603859997"/>
                    </a:ext>
                  </a:extLst>
                </a:gridCol>
                <a:gridCol w="402215">
                  <a:extLst>
                    <a:ext uri="{9D8B030D-6E8A-4147-A177-3AD203B41FA5}">
                      <a16:colId xmlns:a16="http://schemas.microsoft.com/office/drawing/2014/main" val="4076488391"/>
                    </a:ext>
                  </a:extLst>
                </a:gridCol>
                <a:gridCol w="402215">
                  <a:extLst>
                    <a:ext uri="{9D8B030D-6E8A-4147-A177-3AD203B41FA5}">
                      <a16:colId xmlns:a16="http://schemas.microsoft.com/office/drawing/2014/main" val="3254101706"/>
                    </a:ext>
                  </a:extLst>
                </a:gridCol>
                <a:gridCol w="402215">
                  <a:extLst>
                    <a:ext uri="{9D8B030D-6E8A-4147-A177-3AD203B41FA5}">
                      <a16:colId xmlns:a16="http://schemas.microsoft.com/office/drawing/2014/main" val="3712391277"/>
                    </a:ext>
                  </a:extLst>
                </a:gridCol>
                <a:gridCol w="402215">
                  <a:extLst>
                    <a:ext uri="{9D8B030D-6E8A-4147-A177-3AD203B41FA5}">
                      <a16:colId xmlns:a16="http://schemas.microsoft.com/office/drawing/2014/main" val="2527660299"/>
                    </a:ext>
                  </a:extLst>
                </a:gridCol>
                <a:gridCol w="402215">
                  <a:extLst>
                    <a:ext uri="{9D8B030D-6E8A-4147-A177-3AD203B41FA5}">
                      <a16:colId xmlns:a16="http://schemas.microsoft.com/office/drawing/2014/main" val="3641075278"/>
                    </a:ext>
                  </a:extLst>
                </a:gridCol>
                <a:gridCol w="402215">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Invoice to customer for early termination​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64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 (3PO)</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45299611"/>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a:t>
                      </a:r>
                      <a:r>
                        <a:rPr kumimoji="0" lang="en-US" altLang="zh-CN" sz="1000" b="0" i="0" u="none" strike="noStrike" kern="1200" cap="none" spc="0" normalizeH="0" baseline="0" noProof="0">
                          <a:ln>
                            <a:noFill/>
                          </a:ln>
                          <a:solidFill>
                            <a:srgbClr val="000000"/>
                          </a:solidFill>
                          <a:effectLst/>
                          <a:uLnTx/>
                          <a:uFillTx/>
                          <a:latin typeface="+mn-lt"/>
                          <a:ea typeface="+mn-ea"/>
                          <a:cs typeface="+mn-cs"/>
                        </a:rPr>
                        <a:t>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Broker Sales</a:t>
                      </a:r>
                      <a:r>
                        <a:rPr lang="en-US" altLang="zh-CN" sz="1000" b="0" i="0" u="none" strike="noStrike" kern="1200">
                          <a:solidFill>
                            <a:srgbClr val="000000"/>
                          </a:solidFill>
                          <a:effectLst/>
                          <a:latin typeface="Arial" panose="020B0604020202020204" pitchFamily="34" charset="0"/>
                          <a:ea typeface="+mn-ea"/>
                          <a:cs typeface="+mn-cs"/>
                        </a:rPr>
                        <a:t>(</a:t>
                      </a:r>
                      <a:r>
                        <a:rPr lang="en-US" altLang="zh-CN" sz="1000" b="0" i="0" u="none" strike="noStrike" kern="1200">
                          <a:solidFill>
                            <a:srgbClr val="000000"/>
                          </a:solidFill>
                          <a:effectLst/>
                          <a:latin typeface="+mj-lt"/>
                          <a:ea typeface="+mn-ea"/>
                          <a:cs typeface="+mn-cs"/>
                        </a:rPr>
                        <a:t>applicable for No Device return)</a:t>
                      </a:r>
                      <a:endParaRPr lang="en-US" sz="1000" b="0" i="0" u="none" strike="noStrike" kern="1200">
                        <a:solidFill>
                          <a:srgbClr val="000000"/>
                        </a:solidFill>
                        <a:effectLst/>
                        <a:latin typeface="+mj-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22527593"/>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723639438"/>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97566895"/>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25989593"/>
                  </a:ext>
                </a:extLst>
              </a:tr>
            </a:tbl>
          </a:graphicData>
        </a:graphic>
      </p:graphicFrame>
      <p:sp>
        <p:nvSpPr>
          <p:cNvPr id="6" name="文本框 27">
            <a:extLst>
              <a:ext uri="{FF2B5EF4-FFF2-40B4-BE49-F238E27FC236}">
                <a16:creationId xmlns:a16="http://schemas.microsoft.com/office/drawing/2014/main" id="{22EE49CB-BA0F-D79B-F7A1-24B3F1DB03ED}"/>
              </a:ext>
            </a:extLst>
          </p:cNvPr>
          <p:cNvSpPr txBox="1"/>
          <p:nvPr/>
        </p:nvSpPr>
        <p:spPr>
          <a:xfrm>
            <a:off x="40260" y="-30679"/>
            <a:ext cx="4470947" cy="400110"/>
          </a:xfrm>
          <a:prstGeom prst="rect">
            <a:avLst/>
          </a:prstGeom>
          <a:noFill/>
        </p:spPr>
        <p:txBody>
          <a:bodyPr wrap="square" rtlCol="0">
            <a:spAutoFit/>
          </a:bodyPr>
          <a:lstStyle/>
          <a:p>
            <a:r>
              <a:rPr lang="nl-NL" altLang="zh-CN" sz="2000" b="1"/>
              <a:t>ISGLEASE_AFE_MLA</a:t>
            </a:r>
            <a:endParaRPr lang="zh-CN" altLang="en-US" sz="2000" b="1"/>
          </a:p>
        </p:txBody>
      </p:sp>
    </p:spTree>
    <p:extLst>
      <p:ext uri="{BB962C8B-B14F-4D97-AF65-F5344CB8AC3E}">
        <p14:creationId xmlns:p14="http://schemas.microsoft.com/office/powerpoint/2010/main" val="235953538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4198C3-366F-D454-5123-EDF54128DB41}"/>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06E37B8C-A841-B2EA-FD6F-A23B4CC70639}"/>
              </a:ext>
            </a:extLst>
          </p:cNvPr>
          <p:cNvGraphicFramePr>
            <a:graphicFrameLocks noGrp="1"/>
          </p:cNvGraphicFramePr>
          <p:nvPr>
            <p:extLst>
              <p:ext uri="{D42A27DB-BD31-4B8C-83A1-F6EECF244321}">
                <p14:modId xmlns:p14="http://schemas.microsoft.com/office/powerpoint/2010/main" val="2533894437"/>
              </p:ext>
            </p:extLst>
          </p:nvPr>
        </p:nvGraphicFramePr>
        <p:xfrm>
          <a:off x="37853" y="2086078"/>
          <a:ext cx="5715531" cy="2044765"/>
        </p:xfrm>
        <a:graphic>
          <a:graphicData uri="http://schemas.openxmlformats.org/drawingml/2006/table">
            <a:tbl>
              <a:tblPr/>
              <a:tblGrid>
                <a:gridCol w="488004">
                  <a:extLst>
                    <a:ext uri="{9D8B030D-6E8A-4147-A177-3AD203B41FA5}">
                      <a16:colId xmlns:a16="http://schemas.microsoft.com/office/drawing/2014/main" val="495084399"/>
                    </a:ext>
                  </a:extLst>
                </a:gridCol>
                <a:gridCol w="255559">
                  <a:extLst>
                    <a:ext uri="{9D8B030D-6E8A-4147-A177-3AD203B41FA5}">
                      <a16:colId xmlns:a16="http://schemas.microsoft.com/office/drawing/2014/main" val="3614210242"/>
                    </a:ext>
                  </a:extLst>
                </a:gridCol>
                <a:gridCol w="608198">
                  <a:extLst>
                    <a:ext uri="{9D8B030D-6E8A-4147-A177-3AD203B41FA5}">
                      <a16:colId xmlns:a16="http://schemas.microsoft.com/office/drawing/2014/main" val="1442124609"/>
                    </a:ext>
                  </a:extLst>
                </a:gridCol>
                <a:gridCol w="1950480">
                  <a:extLst>
                    <a:ext uri="{9D8B030D-6E8A-4147-A177-3AD203B41FA5}">
                      <a16:colId xmlns:a16="http://schemas.microsoft.com/office/drawing/2014/main" val="3603859997"/>
                    </a:ext>
                  </a:extLst>
                </a:gridCol>
                <a:gridCol w="402215">
                  <a:extLst>
                    <a:ext uri="{9D8B030D-6E8A-4147-A177-3AD203B41FA5}">
                      <a16:colId xmlns:a16="http://schemas.microsoft.com/office/drawing/2014/main" val="4076488391"/>
                    </a:ext>
                  </a:extLst>
                </a:gridCol>
                <a:gridCol w="402215">
                  <a:extLst>
                    <a:ext uri="{9D8B030D-6E8A-4147-A177-3AD203B41FA5}">
                      <a16:colId xmlns:a16="http://schemas.microsoft.com/office/drawing/2014/main" val="3254101706"/>
                    </a:ext>
                  </a:extLst>
                </a:gridCol>
                <a:gridCol w="402215">
                  <a:extLst>
                    <a:ext uri="{9D8B030D-6E8A-4147-A177-3AD203B41FA5}">
                      <a16:colId xmlns:a16="http://schemas.microsoft.com/office/drawing/2014/main" val="3712391277"/>
                    </a:ext>
                  </a:extLst>
                </a:gridCol>
                <a:gridCol w="402215">
                  <a:extLst>
                    <a:ext uri="{9D8B030D-6E8A-4147-A177-3AD203B41FA5}">
                      <a16:colId xmlns:a16="http://schemas.microsoft.com/office/drawing/2014/main" val="2527660299"/>
                    </a:ext>
                  </a:extLst>
                </a:gridCol>
                <a:gridCol w="402215">
                  <a:extLst>
                    <a:ext uri="{9D8B030D-6E8A-4147-A177-3AD203B41FA5}">
                      <a16:colId xmlns:a16="http://schemas.microsoft.com/office/drawing/2014/main" val="3641075278"/>
                    </a:ext>
                  </a:extLst>
                </a:gridCol>
                <a:gridCol w="402215">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Monthly Invoice issued to customer </a:t>
                      </a:r>
                      <a:r>
                        <a:rPr lang="en-US" altLang="zh-CN" sz="800" b="1" i="0">
                          <a:solidFill>
                            <a:srgbClr val="FFFFFF"/>
                          </a:solidFill>
                          <a:effectLst/>
                          <a:latin typeface="Arial" panose="020B0604020202020204" pitchFamily="34" charset="0"/>
                        </a:rPr>
                        <a:t>​</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64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 (3PO)</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91228963"/>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Broker </a:t>
                      </a:r>
                      <a:r>
                        <a:rPr lang="en-US" sz="1000" b="0" i="0" u="none" strike="noStrike" kern="1200">
                          <a:solidFill>
                            <a:srgbClr val="000000"/>
                          </a:solidFill>
                          <a:effectLst/>
                          <a:latin typeface="+mj-lt"/>
                          <a:ea typeface="+mn-ea"/>
                          <a:cs typeface="+mn-cs"/>
                        </a:rPr>
                        <a:t>Sales</a:t>
                      </a:r>
                      <a:r>
                        <a:rPr lang="en-US" altLang="zh-CN" sz="1000" b="0" i="0" u="none" strike="noStrike" kern="1200">
                          <a:solidFill>
                            <a:srgbClr val="000000"/>
                          </a:solidFill>
                          <a:effectLst/>
                          <a:latin typeface="+mj-lt"/>
                          <a:ea typeface="+mn-ea"/>
                          <a:cs typeface="+mn-cs"/>
                        </a:rPr>
                        <a:t>(applicable for No Device return)</a:t>
                      </a:r>
                      <a:endParaRPr lang="en-US" sz="1000" b="0" i="0" u="none" strike="noStrike" kern="1200">
                        <a:solidFill>
                          <a:srgbClr val="000000"/>
                        </a:solidFill>
                        <a:effectLst/>
                        <a:latin typeface="+mj-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653344697"/>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723639438"/>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rgbClr val="000000"/>
                          </a:solidFill>
                          <a:effectLst/>
                          <a:latin typeface="+mn-lt"/>
                          <a:ea typeface="+mn-ea"/>
                          <a:cs typeface="+mn-cs"/>
                        </a:rPr>
                        <a:t>Interest income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97566895"/>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cxnSp>
        <p:nvCxnSpPr>
          <p:cNvPr id="3" name="直接连接符 2">
            <a:extLst>
              <a:ext uri="{FF2B5EF4-FFF2-40B4-BE49-F238E27FC236}">
                <a16:creationId xmlns:a16="http://schemas.microsoft.com/office/drawing/2014/main" id="{7B90C8E2-1298-081C-4610-1D3DE2ED71A4}"/>
              </a:ext>
            </a:extLst>
          </p:cNvPr>
          <p:cNvCxnSpPr>
            <a:cxnSpLocks/>
          </p:cNvCxnSpPr>
          <p:nvPr/>
        </p:nvCxnSpPr>
        <p:spPr>
          <a:xfrm flipH="1">
            <a:off x="6074950" y="243919"/>
            <a:ext cx="21050" cy="668295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4" name="表格 3">
            <a:extLst>
              <a:ext uri="{FF2B5EF4-FFF2-40B4-BE49-F238E27FC236}">
                <a16:creationId xmlns:a16="http://schemas.microsoft.com/office/drawing/2014/main" id="{36ADBE50-6602-0D99-EC2A-30FBE261F23B}"/>
              </a:ext>
            </a:extLst>
          </p:cNvPr>
          <p:cNvGraphicFramePr>
            <a:graphicFrameLocks noGrp="1"/>
          </p:cNvGraphicFramePr>
          <p:nvPr>
            <p:extLst>
              <p:ext uri="{D42A27DB-BD31-4B8C-83A1-F6EECF244321}">
                <p14:modId xmlns:p14="http://schemas.microsoft.com/office/powerpoint/2010/main" val="1941599123"/>
              </p:ext>
            </p:extLst>
          </p:nvPr>
        </p:nvGraphicFramePr>
        <p:xfrm>
          <a:off x="72476" y="4207606"/>
          <a:ext cx="5708849" cy="1142727"/>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418467">
                  <a:extLst>
                    <a:ext uri="{9D8B030D-6E8A-4147-A177-3AD203B41FA5}">
                      <a16:colId xmlns:a16="http://schemas.microsoft.com/office/drawing/2014/main" val="4076488391"/>
                    </a:ext>
                  </a:extLst>
                </a:gridCol>
                <a:gridCol w="418467">
                  <a:extLst>
                    <a:ext uri="{9D8B030D-6E8A-4147-A177-3AD203B41FA5}">
                      <a16:colId xmlns:a16="http://schemas.microsoft.com/office/drawing/2014/main" val="3254101706"/>
                    </a:ext>
                  </a:extLst>
                </a:gridCol>
                <a:gridCol w="418467">
                  <a:extLst>
                    <a:ext uri="{9D8B030D-6E8A-4147-A177-3AD203B41FA5}">
                      <a16:colId xmlns:a16="http://schemas.microsoft.com/office/drawing/2014/main" val="3712391277"/>
                    </a:ext>
                  </a:extLst>
                </a:gridCol>
                <a:gridCol w="418467">
                  <a:extLst>
                    <a:ext uri="{9D8B030D-6E8A-4147-A177-3AD203B41FA5}">
                      <a16:colId xmlns:a16="http://schemas.microsoft.com/office/drawing/2014/main" val="2527660299"/>
                    </a:ext>
                  </a:extLst>
                </a:gridCol>
                <a:gridCol w="418467">
                  <a:extLst>
                    <a:ext uri="{9D8B030D-6E8A-4147-A177-3AD203B41FA5}">
                      <a16:colId xmlns:a16="http://schemas.microsoft.com/office/drawing/2014/main" val="3641075278"/>
                    </a:ext>
                  </a:extLst>
                </a:gridCol>
                <a:gridCol w="418467">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900" b="1" i="0" u="none" strike="noStrike">
                          <a:solidFill>
                            <a:srgbClr val="FFFFFF"/>
                          </a:solidFill>
                          <a:effectLst/>
                          <a:latin typeface="Arial" panose="020B0604020202020204" pitchFamily="34" charset="0"/>
                        </a:rPr>
                        <a:t>ET service transfer to S&amp;D</a:t>
                      </a:r>
                      <a:endParaRPr lang="en-US" sz="12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943778"/>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07912FA8-E76C-61DA-60C4-6998633007E0}"/>
              </a:ext>
            </a:extLst>
          </p:cNvPr>
          <p:cNvGraphicFramePr>
            <a:graphicFrameLocks noGrp="1"/>
          </p:cNvGraphicFramePr>
          <p:nvPr>
            <p:extLst>
              <p:ext uri="{D42A27DB-BD31-4B8C-83A1-F6EECF244321}">
                <p14:modId xmlns:p14="http://schemas.microsoft.com/office/powerpoint/2010/main" val="2627635113"/>
              </p:ext>
            </p:extLst>
          </p:nvPr>
        </p:nvGraphicFramePr>
        <p:xfrm>
          <a:off x="72476" y="5346090"/>
          <a:ext cx="5702497" cy="1391484"/>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430586">
                  <a:extLst>
                    <a:ext uri="{9D8B030D-6E8A-4147-A177-3AD203B41FA5}">
                      <a16:colId xmlns:a16="http://schemas.microsoft.com/office/drawing/2014/main" val="4076488391"/>
                    </a:ext>
                  </a:extLst>
                </a:gridCol>
                <a:gridCol w="430586">
                  <a:extLst>
                    <a:ext uri="{9D8B030D-6E8A-4147-A177-3AD203B41FA5}">
                      <a16:colId xmlns:a16="http://schemas.microsoft.com/office/drawing/2014/main" val="3254101706"/>
                    </a:ext>
                  </a:extLst>
                </a:gridCol>
                <a:gridCol w="430586">
                  <a:extLst>
                    <a:ext uri="{9D8B030D-6E8A-4147-A177-3AD203B41FA5}">
                      <a16:colId xmlns:a16="http://schemas.microsoft.com/office/drawing/2014/main" val="3712391277"/>
                    </a:ext>
                  </a:extLst>
                </a:gridCol>
                <a:gridCol w="430586">
                  <a:extLst>
                    <a:ext uri="{9D8B030D-6E8A-4147-A177-3AD203B41FA5}">
                      <a16:colId xmlns:a16="http://schemas.microsoft.com/office/drawing/2014/main" val="2527660299"/>
                    </a:ext>
                  </a:extLst>
                </a:gridCol>
                <a:gridCol w="430586">
                  <a:extLst>
                    <a:ext uri="{9D8B030D-6E8A-4147-A177-3AD203B41FA5}">
                      <a16:colId xmlns:a16="http://schemas.microsoft.com/office/drawing/2014/main" val="3641075278"/>
                    </a:ext>
                  </a:extLst>
                </a:gridCol>
                <a:gridCol w="430586">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ET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sngStrike" kern="1200" cap="none" spc="0" normalizeH="0" baseline="0" noProof="0">
                          <a:ln>
                            <a:noFill/>
                          </a:ln>
                          <a:solidFill>
                            <a:srgbClr val="000000"/>
                          </a:solidFill>
                          <a:effectLst/>
                          <a:uLnTx/>
                          <a:uFillTx/>
                          <a:latin typeface="+mn-lt"/>
                          <a:ea typeface="+mn-ea"/>
                          <a:cs typeface="+mn-cs"/>
                        </a:rPr>
                        <a:t>5010440</a:t>
                      </a:r>
                    </a:p>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669625"/>
                  </a:ext>
                </a:extLst>
              </a:tr>
            </a:tbl>
          </a:graphicData>
        </a:graphic>
      </p:graphicFrame>
      <p:graphicFrame>
        <p:nvGraphicFramePr>
          <p:cNvPr id="12" name="表格 11">
            <a:extLst>
              <a:ext uri="{FF2B5EF4-FFF2-40B4-BE49-F238E27FC236}">
                <a16:creationId xmlns:a16="http://schemas.microsoft.com/office/drawing/2014/main" id="{999C42B1-56E4-F210-532D-4B1AEF98D658}"/>
              </a:ext>
            </a:extLst>
          </p:cNvPr>
          <p:cNvGraphicFramePr>
            <a:graphicFrameLocks noGrp="1"/>
          </p:cNvGraphicFramePr>
          <p:nvPr>
            <p:extLst>
              <p:ext uri="{D42A27DB-BD31-4B8C-83A1-F6EECF244321}">
                <p14:modId xmlns:p14="http://schemas.microsoft.com/office/powerpoint/2010/main" val="1242520430"/>
              </p:ext>
            </p:extLst>
          </p:nvPr>
        </p:nvGraphicFramePr>
        <p:xfrm>
          <a:off x="37853" y="426316"/>
          <a:ext cx="5958771" cy="1583974"/>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476164">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rowSpan="2">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3rd party</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Lease Extension</a:t>
                      </a:r>
                    </a:p>
                    <a:p>
                      <a:r>
                        <a:rPr lang="en-US" altLang="zh-CN" sz="1050">
                          <a:solidFill>
                            <a:srgbClr val="C00000"/>
                          </a:solidFill>
                        </a:rPr>
                        <a:t>Fix/Open</a:t>
                      </a:r>
                      <a:endParaRPr lang="zh-CN" altLang="en-US" sz="1050">
                        <a:solidFill>
                          <a:srgbClr val="C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440974">
                <a:tc vMerge="1">
                  <a:txBody>
                    <a:bodyPr/>
                    <a:lstStyle/>
                    <a:p>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en-US" altLang="zh-CN"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solidFill>
                            <a:srgbClr val="C00000"/>
                          </a:solidFill>
                          <a:effectLst/>
                        </a:rPr>
                        <a:t>Extension auto</a:t>
                      </a:r>
                      <a:endParaRPr lang="zh-CN" altLang="en-US" sz="1050">
                        <a:solidFill>
                          <a:srgbClr val="C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9967408"/>
                  </a:ext>
                </a:extLst>
              </a:tr>
            </a:tbl>
          </a:graphicData>
        </a:graphic>
      </p:graphicFrame>
      <p:graphicFrame>
        <p:nvGraphicFramePr>
          <p:cNvPr id="9" name="表格 9">
            <a:extLst>
              <a:ext uri="{FF2B5EF4-FFF2-40B4-BE49-F238E27FC236}">
                <a16:creationId xmlns:a16="http://schemas.microsoft.com/office/drawing/2014/main" id="{F6691BC2-DD33-BF7A-2ED1-3B311BE4629C}"/>
              </a:ext>
            </a:extLst>
          </p:cNvPr>
          <p:cNvGraphicFramePr>
            <a:graphicFrameLocks noGrp="1"/>
          </p:cNvGraphicFramePr>
          <p:nvPr>
            <p:extLst>
              <p:ext uri="{D42A27DB-BD31-4B8C-83A1-F6EECF244321}">
                <p14:modId xmlns:p14="http://schemas.microsoft.com/office/powerpoint/2010/main" val="802841006"/>
              </p:ext>
            </p:extLst>
          </p:nvPr>
        </p:nvGraphicFramePr>
        <p:xfrm>
          <a:off x="6201119" y="2135987"/>
          <a:ext cx="5715531" cy="2044765"/>
        </p:xfrm>
        <a:graphic>
          <a:graphicData uri="http://schemas.openxmlformats.org/drawingml/2006/table">
            <a:tbl>
              <a:tblPr/>
              <a:tblGrid>
                <a:gridCol w="488004">
                  <a:extLst>
                    <a:ext uri="{9D8B030D-6E8A-4147-A177-3AD203B41FA5}">
                      <a16:colId xmlns:a16="http://schemas.microsoft.com/office/drawing/2014/main" val="495084399"/>
                    </a:ext>
                  </a:extLst>
                </a:gridCol>
                <a:gridCol w="255559">
                  <a:extLst>
                    <a:ext uri="{9D8B030D-6E8A-4147-A177-3AD203B41FA5}">
                      <a16:colId xmlns:a16="http://schemas.microsoft.com/office/drawing/2014/main" val="3614210242"/>
                    </a:ext>
                  </a:extLst>
                </a:gridCol>
                <a:gridCol w="608198">
                  <a:extLst>
                    <a:ext uri="{9D8B030D-6E8A-4147-A177-3AD203B41FA5}">
                      <a16:colId xmlns:a16="http://schemas.microsoft.com/office/drawing/2014/main" val="1442124609"/>
                    </a:ext>
                  </a:extLst>
                </a:gridCol>
                <a:gridCol w="1950480">
                  <a:extLst>
                    <a:ext uri="{9D8B030D-6E8A-4147-A177-3AD203B41FA5}">
                      <a16:colId xmlns:a16="http://schemas.microsoft.com/office/drawing/2014/main" val="3603859997"/>
                    </a:ext>
                  </a:extLst>
                </a:gridCol>
                <a:gridCol w="402215">
                  <a:extLst>
                    <a:ext uri="{9D8B030D-6E8A-4147-A177-3AD203B41FA5}">
                      <a16:colId xmlns:a16="http://schemas.microsoft.com/office/drawing/2014/main" val="4076488391"/>
                    </a:ext>
                  </a:extLst>
                </a:gridCol>
                <a:gridCol w="402215">
                  <a:extLst>
                    <a:ext uri="{9D8B030D-6E8A-4147-A177-3AD203B41FA5}">
                      <a16:colId xmlns:a16="http://schemas.microsoft.com/office/drawing/2014/main" val="3254101706"/>
                    </a:ext>
                  </a:extLst>
                </a:gridCol>
                <a:gridCol w="402215">
                  <a:extLst>
                    <a:ext uri="{9D8B030D-6E8A-4147-A177-3AD203B41FA5}">
                      <a16:colId xmlns:a16="http://schemas.microsoft.com/office/drawing/2014/main" val="3712391277"/>
                    </a:ext>
                  </a:extLst>
                </a:gridCol>
                <a:gridCol w="402215">
                  <a:extLst>
                    <a:ext uri="{9D8B030D-6E8A-4147-A177-3AD203B41FA5}">
                      <a16:colId xmlns:a16="http://schemas.microsoft.com/office/drawing/2014/main" val="2527660299"/>
                    </a:ext>
                  </a:extLst>
                </a:gridCol>
                <a:gridCol w="402215">
                  <a:extLst>
                    <a:ext uri="{9D8B030D-6E8A-4147-A177-3AD203B41FA5}">
                      <a16:colId xmlns:a16="http://schemas.microsoft.com/office/drawing/2014/main" val="3641075278"/>
                    </a:ext>
                  </a:extLst>
                </a:gridCol>
                <a:gridCol w="402215">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Monthly Invoice issued to customer </a:t>
                      </a:r>
                      <a:r>
                        <a:rPr lang="en-US" altLang="zh-CN" sz="800" b="1" i="0">
                          <a:solidFill>
                            <a:srgbClr val="FFFFFF"/>
                          </a:solidFill>
                          <a:effectLst/>
                          <a:latin typeface="Arial" panose="020B0604020202020204" pitchFamily="34" charset="0"/>
                        </a:rPr>
                        <a:t>​</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64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 (3PO)</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45299611"/>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a:t>
                      </a:r>
                      <a:r>
                        <a:rPr kumimoji="0" lang="en-US" altLang="zh-CN" sz="1000" b="0" i="0" u="none" strike="noStrike" kern="1200" cap="none" spc="0" normalizeH="0" baseline="0" noProof="0">
                          <a:ln>
                            <a:noFill/>
                          </a:ln>
                          <a:solidFill>
                            <a:srgbClr val="000000"/>
                          </a:solidFill>
                          <a:effectLst/>
                          <a:uLnTx/>
                          <a:uFillTx/>
                          <a:latin typeface="+mn-lt"/>
                          <a:ea typeface="+mn-ea"/>
                          <a:cs typeface="+mn-cs"/>
                        </a:rPr>
                        <a:t>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Broker Sales</a:t>
                      </a:r>
                      <a:r>
                        <a:rPr lang="en-US" altLang="zh-CN" sz="1000" b="0" i="0" u="none" strike="noStrike" kern="1200">
                          <a:solidFill>
                            <a:srgbClr val="000000"/>
                          </a:solidFill>
                          <a:effectLst/>
                          <a:latin typeface="Arial" panose="020B0604020202020204" pitchFamily="34" charset="0"/>
                          <a:ea typeface="+mn-ea"/>
                          <a:cs typeface="+mn-cs"/>
                        </a:rPr>
                        <a:t>(</a:t>
                      </a:r>
                      <a:r>
                        <a:rPr lang="en-US" altLang="zh-CN" sz="1000" b="0" i="0" u="none" strike="noStrike" kern="1200">
                          <a:solidFill>
                            <a:srgbClr val="000000"/>
                          </a:solidFill>
                          <a:effectLst/>
                          <a:latin typeface="+mj-lt"/>
                          <a:ea typeface="+mn-ea"/>
                          <a:cs typeface="+mn-cs"/>
                        </a:rPr>
                        <a:t>applicable for No Device return)</a:t>
                      </a:r>
                      <a:endParaRPr lang="en-US" sz="1000" b="0" i="0" u="none" strike="noStrike" kern="1200">
                        <a:solidFill>
                          <a:srgbClr val="000000"/>
                        </a:solidFill>
                        <a:effectLst/>
                        <a:latin typeface="+mj-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22527593"/>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723639438"/>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rgbClr val="000000"/>
                          </a:solidFill>
                          <a:effectLst/>
                          <a:latin typeface="+mn-lt"/>
                          <a:ea typeface="+mn-ea"/>
                          <a:cs typeface="+mn-cs"/>
                        </a:rPr>
                        <a:t>Interest income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97566895"/>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25989593"/>
                  </a:ext>
                </a:extLst>
              </a:tr>
            </a:tbl>
          </a:graphicData>
        </a:graphic>
      </p:graphicFrame>
      <p:sp>
        <p:nvSpPr>
          <p:cNvPr id="6" name="文本框 27">
            <a:extLst>
              <a:ext uri="{FF2B5EF4-FFF2-40B4-BE49-F238E27FC236}">
                <a16:creationId xmlns:a16="http://schemas.microsoft.com/office/drawing/2014/main" id="{B294B695-A9E0-E966-F448-EF0DEDD47EB6}"/>
              </a:ext>
            </a:extLst>
          </p:cNvPr>
          <p:cNvSpPr txBox="1"/>
          <p:nvPr/>
        </p:nvSpPr>
        <p:spPr>
          <a:xfrm>
            <a:off x="40260" y="-30679"/>
            <a:ext cx="4470947" cy="400110"/>
          </a:xfrm>
          <a:prstGeom prst="rect">
            <a:avLst/>
          </a:prstGeom>
          <a:noFill/>
        </p:spPr>
        <p:txBody>
          <a:bodyPr wrap="square" rtlCol="0">
            <a:spAutoFit/>
          </a:bodyPr>
          <a:lstStyle/>
          <a:p>
            <a:r>
              <a:rPr lang="nl-NL" altLang="zh-CN" sz="2000" b="1"/>
              <a:t>ISGLEASE_AFE_MLA</a:t>
            </a:r>
            <a:endParaRPr lang="zh-CN" altLang="en-US" sz="2000" b="1"/>
          </a:p>
        </p:txBody>
      </p:sp>
      <p:graphicFrame>
        <p:nvGraphicFramePr>
          <p:cNvPr id="7" name="表格 6">
            <a:extLst>
              <a:ext uri="{FF2B5EF4-FFF2-40B4-BE49-F238E27FC236}">
                <a16:creationId xmlns:a16="http://schemas.microsoft.com/office/drawing/2014/main" id="{BC809F82-52D9-1769-C00B-F8225D47AF80}"/>
              </a:ext>
            </a:extLst>
          </p:cNvPr>
          <p:cNvGraphicFramePr>
            <a:graphicFrameLocks noGrp="1"/>
          </p:cNvGraphicFramePr>
          <p:nvPr>
            <p:extLst>
              <p:ext uri="{D42A27DB-BD31-4B8C-83A1-F6EECF244321}">
                <p14:modId xmlns:p14="http://schemas.microsoft.com/office/powerpoint/2010/main" val="4253999316"/>
              </p:ext>
            </p:extLst>
          </p:nvPr>
        </p:nvGraphicFramePr>
        <p:xfrm>
          <a:off x="6207801" y="4207606"/>
          <a:ext cx="5708849" cy="1142727"/>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418467">
                  <a:extLst>
                    <a:ext uri="{9D8B030D-6E8A-4147-A177-3AD203B41FA5}">
                      <a16:colId xmlns:a16="http://schemas.microsoft.com/office/drawing/2014/main" val="4076488391"/>
                    </a:ext>
                  </a:extLst>
                </a:gridCol>
                <a:gridCol w="418467">
                  <a:extLst>
                    <a:ext uri="{9D8B030D-6E8A-4147-A177-3AD203B41FA5}">
                      <a16:colId xmlns:a16="http://schemas.microsoft.com/office/drawing/2014/main" val="3254101706"/>
                    </a:ext>
                  </a:extLst>
                </a:gridCol>
                <a:gridCol w="418467">
                  <a:extLst>
                    <a:ext uri="{9D8B030D-6E8A-4147-A177-3AD203B41FA5}">
                      <a16:colId xmlns:a16="http://schemas.microsoft.com/office/drawing/2014/main" val="3712391277"/>
                    </a:ext>
                  </a:extLst>
                </a:gridCol>
                <a:gridCol w="418467">
                  <a:extLst>
                    <a:ext uri="{9D8B030D-6E8A-4147-A177-3AD203B41FA5}">
                      <a16:colId xmlns:a16="http://schemas.microsoft.com/office/drawing/2014/main" val="2527660299"/>
                    </a:ext>
                  </a:extLst>
                </a:gridCol>
                <a:gridCol w="418467">
                  <a:extLst>
                    <a:ext uri="{9D8B030D-6E8A-4147-A177-3AD203B41FA5}">
                      <a16:colId xmlns:a16="http://schemas.microsoft.com/office/drawing/2014/main" val="3641075278"/>
                    </a:ext>
                  </a:extLst>
                </a:gridCol>
                <a:gridCol w="418467">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900" b="1" i="0" u="none" strike="noStrike">
                          <a:solidFill>
                            <a:srgbClr val="FFFFFF"/>
                          </a:solidFill>
                          <a:effectLst/>
                          <a:latin typeface="Arial" panose="020B0604020202020204" pitchFamily="34" charset="0"/>
                        </a:rPr>
                        <a:t>ET service transfer to S&amp;D</a:t>
                      </a:r>
                      <a:endParaRPr lang="en-US" sz="12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943778"/>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1" name="表格 10">
            <a:extLst>
              <a:ext uri="{FF2B5EF4-FFF2-40B4-BE49-F238E27FC236}">
                <a16:creationId xmlns:a16="http://schemas.microsoft.com/office/drawing/2014/main" id="{769724D0-1DD7-ABDF-283A-85D4D6C36AD7}"/>
              </a:ext>
            </a:extLst>
          </p:cNvPr>
          <p:cNvGraphicFramePr>
            <a:graphicFrameLocks noGrp="1"/>
          </p:cNvGraphicFramePr>
          <p:nvPr>
            <p:extLst>
              <p:ext uri="{D42A27DB-BD31-4B8C-83A1-F6EECF244321}">
                <p14:modId xmlns:p14="http://schemas.microsoft.com/office/powerpoint/2010/main" val="2497292033"/>
              </p:ext>
            </p:extLst>
          </p:nvPr>
        </p:nvGraphicFramePr>
        <p:xfrm>
          <a:off x="6207801" y="5346090"/>
          <a:ext cx="5702497" cy="1391484"/>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430586">
                  <a:extLst>
                    <a:ext uri="{9D8B030D-6E8A-4147-A177-3AD203B41FA5}">
                      <a16:colId xmlns:a16="http://schemas.microsoft.com/office/drawing/2014/main" val="4076488391"/>
                    </a:ext>
                  </a:extLst>
                </a:gridCol>
                <a:gridCol w="430586">
                  <a:extLst>
                    <a:ext uri="{9D8B030D-6E8A-4147-A177-3AD203B41FA5}">
                      <a16:colId xmlns:a16="http://schemas.microsoft.com/office/drawing/2014/main" val="3254101706"/>
                    </a:ext>
                  </a:extLst>
                </a:gridCol>
                <a:gridCol w="430586">
                  <a:extLst>
                    <a:ext uri="{9D8B030D-6E8A-4147-A177-3AD203B41FA5}">
                      <a16:colId xmlns:a16="http://schemas.microsoft.com/office/drawing/2014/main" val="3712391277"/>
                    </a:ext>
                  </a:extLst>
                </a:gridCol>
                <a:gridCol w="430586">
                  <a:extLst>
                    <a:ext uri="{9D8B030D-6E8A-4147-A177-3AD203B41FA5}">
                      <a16:colId xmlns:a16="http://schemas.microsoft.com/office/drawing/2014/main" val="2527660299"/>
                    </a:ext>
                  </a:extLst>
                </a:gridCol>
                <a:gridCol w="430586">
                  <a:extLst>
                    <a:ext uri="{9D8B030D-6E8A-4147-A177-3AD203B41FA5}">
                      <a16:colId xmlns:a16="http://schemas.microsoft.com/office/drawing/2014/main" val="3641075278"/>
                    </a:ext>
                  </a:extLst>
                </a:gridCol>
                <a:gridCol w="430586">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ET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sngStrike" kern="1200" cap="none" spc="0" normalizeH="0" baseline="0" noProof="0">
                          <a:ln>
                            <a:noFill/>
                          </a:ln>
                          <a:solidFill>
                            <a:srgbClr val="000000"/>
                          </a:solidFill>
                          <a:effectLst/>
                          <a:uLnTx/>
                          <a:uFillTx/>
                          <a:latin typeface="+mn-lt"/>
                          <a:ea typeface="+mn-ea"/>
                          <a:cs typeface="+mn-cs"/>
                        </a:rPr>
                        <a:t>5010440</a:t>
                      </a:r>
                    </a:p>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669625"/>
                  </a:ext>
                </a:extLst>
              </a:tr>
            </a:tbl>
          </a:graphicData>
        </a:graphic>
      </p:graphicFrame>
      <p:graphicFrame>
        <p:nvGraphicFramePr>
          <p:cNvPr id="13" name="表格 12">
            <a:extLst>
              <a:ext uri="{FF2B5EF4-FFF2-40B4-BE49-F238E27FC236}">
                <a16:creationId xmlns:a16="http://schemas.microsoft.com/office/drawing/2014/main" id="{D82620CF-2472-D12E-2826-32DF82CE7CD4}"/>
              </a:ext>
            </a:extLst>
          </p:cNvPr>
          <p:cNvGraphicFramePr>
            <a:graphicFrameLocks noGrp="1"/>
          </p:cNvGraphicFramePr>
          <p:nvPr>
            <p:extLst>
              <p:ext uri="{D42A27DB-BD31-4B8C-83A1-F6EECF244321}">
                <p14:modId xmlns:p14="http://schemas.microsoft.com/office/powerpoint/2010/main" val="1853361550"/>
              </p:ext>
            </p:extLst>
          </p:nvPr>
        </p:nvGraphicFramePr>
        <p:xfrm>
          <a:off x="6195376" y="426316"/>
          <a:ext cx="5958771" cy="1583974"/>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476164">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rowSpan="2">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3rd party</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Lease Extension</a:t>
                      </a:r>
                    </a:p>
                    <a:p>
                      <a:r>
                        <a:rPr lang="en-US" altLang="zh-CN" sz="1050">
                          <a:solidFill>
                            <a:srgbClr val="C00000"/>
                          </a:solidFill>
                        </a:rPr>
                        <a:t>Fix/Open</a:t>
                      </a:r>
                      <a:endParaRPr lang="zh-CN" altLang="en-US" sz="1050">
                        <a:solidFill>
                          <a:srgbClr val="C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440974">
                <a:tc vMerge="1">
                  <a:txBody>
                    <a:bodyPr/>
                    <a:lstStyle/>
                    <a:p>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en-US" altLang="zh-CN"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solidFill>
                            <a:srgbClr val="C00000"/>
                          </a:solidFill>
                          <a:effectLst/>
                        </a:rPr>
                        <a:t>Extension auto</a:t>
                      </a:r>
                      <a:endParaRPr lang="zh-CN" altLang="en-US" sz="1050">
                        <a:solidFill>
                          <a:srgbClr val="C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9967408"/>
                  </a:ext>
                </a:extLst>
              </a:tr>
            </a:tbl>
          </a:graphicData>
        </a:graphic>
      </p:graphicFrame>
    </p:spTree>
    <p:extLst>
      <p:ext uri="{BB962C8B-B14F-4D97-AF65-F5344CB8AC3E}">
        <p14:creationId xmlns:p14="http://schemas.microsoft.com/office/powerpoint/2010/main" val="86512469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19FC1E-8794-2354-C686-9B91045EBA90}"/>
            </a:ext>
          </a:extLst>
        </p:cNvPr>
        <p:cNvGrpSpPr/>
        <p:nvPr/>
      </p:nvGrpSpPr>
      <p:grpSpPr>
        <a:xfrm>
          <a:off x="0" y="0"/>
          <a:ext cx="0" cy="0"/>
          <a:chOff x="0" y="0"/>
          <a:chExt cx="0" cy="0"/>
        </a:xfrm>
      </p:grpSpPr>
      <p:graphicFrame>
        <p:nvGraphicFramePr>
          <p:cNvPr id="2" name="表格 11">
            <a:extLst>
              <a:ext uri="{FF2B5EF4-FFF2-40B4-BE49-F238E27FC236}">
                <a16:creationId xmlns:a16="http://schemas.microsoft.com/office/drawing/2014/main" id="{95DE42EC-DCFD-5604-A41B-18517AFA2077}"/>
              </a:ext>
            </a:extLst>
          </p:cNvPr>
          <p:cNvGraphicFramePr>
            <a:graphicFrameLocks noGrp="1"/>
          </p:cNvGraphicFramePr>
          <p:nvPr>
            <p:extLst>
              <p:ext uri="{D42A27DB-BD31-4B8C-83A1-F6EECF244321}">
                <p14:modId xmlns:p14="http://schemas.microsoft.com/office/powerpoint/2010/main" val="3683422874"/>
              </p:ext>
            </p:extLst>
          </p:nvPr>
        </p:nvGraphicFramePr>
        <p:xfrm>
          <a:off x="137229" y="429870"/>
          <a:ext cx="10065951" cy="852454"/>
        </p:xfrm>
        <a:graphic>
          <a:graphicData uri="http://schemas.openxmlformats.org/drawingml/2006/table">
            <a:tbl>
              <a:tblPr firstRow="1" bandRow="1">
                <a:tableStyleId>{3C2FFA5D-87B4-456A-9821-1D502468CF0F}</a:tableStyleId>
              </a:tblPr>
              <a:tblGrid>
                <a:gridCol w="1233747">
                  <a:extLst>
                    <a:ext uri="{9D8B030D-6E8A-4147-A177-3AD203B41FA5}">
                      <a16:colId xmlns:a16="http://schemas.microsoft.com/office/drawing/2014/main" val="869603910"/>
                    </a:ext>
                  </a:extLst>
                </a:gridCol>
                <a:gridCol w="1173057">
                  <a:extLst>
                    <a:ext uri="{9D8B030D-6E8A-4147-A177-3AD203B41FA5}">
                      <a16:colId xmlns:a16="http://schemas.microsoft.com/office/drawing/2014/main" val="238663902"/>
                    </a:ext>
                  </a:extLst>
                </a:gridCol>
                <a:gridCol w="1131557">
                  <a:extLst>
                    <a:ext uri="{9D8B030D-6E8A-4147-A177-3AD203B41FA5}">
                      <a16:colId xmlns:a16="http://schemas.microsoft.com/office/drawing/2014/main" val="4114365151"/>
                    </a:ext>
                  </a:extLst>
                </a:gridCol>
                <a:gridCol w="1106544">
                  <a:extLst>
                    <a:ext uri="{9D8B030D-6E8A-4147-A177-3AD203B41FA5}">
                      <a16:colId xmlns:a16="http://schemas.microsoft.com/office/drawing/2014/main" val="4075178046"/>
                    </a:ext>
                  </a:extLst>
                </a:gridCol>
                <a:gridCol w="1308061">
                  <a:extLst>
                    <a:ext uri="{9D8B030D-6E8A-4147-A177-3AD203B41FA5}">
                      <a16:colId xmlns:a16="http://schemas.microsoft.com/office/drawing/2014/main" val="973533418"/>
                    </a:ext>
                  </a:extLst>
                </a:gridCol>
                <a:gridCol w="1207866">
                  <a:extLst>
                    <a:ext uri="{9D8B030D-6E8A-4147-A177-3AD203B41FA5}">
                      <a16:colId xmlns:a16="http://schemas.microsoft.com/office/drawing/2014/main" val="2377711782"/>
                    </a:ext>
                  </a:extLst>
                </a:gridCol>
                <a:gridCol w="1207866">
                  <a:extLst>
                    <a:ext uri="{9D8B030D-6E8A-4147-A177-3AD203B41FA5}">
                      <a16:colId xmlns:a16="http://schemas.microsoft.com/office/drawing/2014/main" val="3946881186"/>
                    </a:ext>
                  </a:extLst>
                </a:gridCol>
                <a:gridCol w="1697253">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rgbClr val="C00000"/>
                          </a:solidFill>
                        </a:rPr>
                        <a:t>External Funding</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3rd party</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Normal Pass/Lease extension</a:t>
                      </a:r>
                      <a:endParaRPr lang="zh-CN" altLang="en-US" sz="1050">
                        <a:solidFill>
                          <a:srgbClr val="C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3">
            <a:extLst>
              <a:ext uri="{FF2B5EF4-FFF2-40B4-BE49-F238E27FC236}">
                <a16:creationId xmlns:a16="http://schemas.microsoft.com/office/drawing/2014/main" id="{C0833C3F-8330-9962-9A8C-8570FD0B29CF}"/>
              </a:ext>
            </a:extLst>
          </p:cNvPr>
          <p:cNvGraphicFramePr>
            <a:graphicFrameLocks noGrp="1"/>
          </p:cNvGraphicFramePr>
          <p:nvPr>
            <p:extLst>
              <p:ext uri="{D42A27DB-BD31-4B8C-83A1-F6EECF244321}">
                <p14:modId xmlns:p14="http://schemas.microsoft.com/office/powerpoint/2010/main" val="3229342453"/>
              </p:ext>
            </p:extLst>
          </p:nvPr>
        </p:nvGraphicFramePr>
        <p:xfrm>
          <a:off x="310290" y="5352675"/>
          <a:ext cx="5646423" cy="951098"/>
        </p:xfrm>
        <a:graphic>
          <a:graphicData uri="http://schemas.openxmlformats.org/drawingml/2006/table">
            <a:tbl>
              <a:tblPr/>
              <a:tblGrid>
                <a:gridCol w="421768">
                  <a:extLst>
                    <a:ext uri="{9D8B030D-6E8A-4147-A177-3AD203B41FA5}">
                      <a16:colId xmlns:a16="http://schemas.microsoft.com/office/drawing/2014/main" val="495084399"/>
                    </a:ext>
                  </a:extLst>
                </a:gridCol>
                <a:gridCol w="241735">
                  <a:extLst>
                    <a:ext uri="{9D8B030D-6E8A-4147-A177-3AD203B41FA5}">
                      <a16:colId xmlns:a16="http://schemas.microsoft.com/office/drawing/2014/main" val="3614210242"/>
                    </a:ext>
                  </a:extLst>
                </a:gridCol>
                <a:gridCol w="602320">
                  <a:extLst>
                    <a:ext uri="{9D8B030D-6E8A-4147-A177-3AD203B41FA5}">
                      <a16:colId xmlns:a16="http://schemas.microsoft.com/office/drawing/2014/main" val="1442124609"/>
                    </a:ext>
                  </a:extLst>
                </a:gridCol>
                <a:gridCol w="1897254">
                  <a:extLst>
                    <a:ext uri="{9D8B030D-6E8A-4147-A177-3AD203B41FA5}">
                      <a16:colId xmlns:a16="http://schemas.microsoft.com/office/drawing/2014/main" val="3603859997"/>
                    </a:ext>
                  </a:extLst>
                </a:gridCol>
                <a:gridCol w="413891">
                  <a:extLst>
                    <a:ext uri="{9D8B030D-6E8A-4147-A177-3AD203B41FA5}">
                      <a16:colId xmlns:a16="http://schemas.microsoft.com/office/drawing/2014/main" val="4076488391"/>
                    </a:ext>
                  </a:extLst>
                </a:gridCol>
                <a:gridCol w="413891">
                  <a:extLst>
                    <a:ext uri="{9D8B030D-6E8A-4147-A177-3AD203B41FA5}">
                      <a16:colId xmlns:a16="http://schemas.microsoft.com/office/drawing/2014/main" val="3254101706"/>
                    </a:ext>
                  </a:extLst>
                </a:gridCol>
                <a:gridCol w="413891">
                  <a:extLst>
                    <a:ext uri="{9D8B030D-6E8A-4147-A177-3AD203B41FA5}">
                      <a16:colId xmlns:a16="http://schemas.microsoft.com/office/drawing/2014/main" val="3712391277"/>
                    </a:ext>
                  </a:extLst>
                </a:gridCol>
                <a:gridCol w="413891">
                  <a:extLst>
                    <a:ext uri="{9D8B030D-6E8A-4147-A177-3AD203B41FA5}">
                      <a16:colId xmlns:a16="http://schemas.microsoft.com/office/drawing/2014/main" val="2527660299"/>
                    </a:ext>
                  </a:extLst>
                </a:gridCol>
                <a:gridCol w="413891">
                  <a:extLst>
                    <a:ext uri="{9D8B030D-6E8A-4147-A177-3AD203B41FA5}">
                      <a16:colId xmlns:a16="http://schemas.microsoft.com/office/drawing/2014/main" val="3641075278"/>
                    </a:ext>
                  </a:extLst>
                </a:gridCol>
                <a:gridCol w="413891">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4" name="表格 4">
            <a:extLst>
              <a:ext uri="{FF2B5EF4-FFF2-40B4-BE49-F238E27FC236}">
                <a16:creationId xmlns:a16="http://schemas.microsoft.com/office/drawing/2014/main" id="{1B8D7E34-6F61-AF41-EA1A-38BA7C2B7966}"/>
              </a:ext>
            </a:extLst>
          </p:cNvPr>
          <p:cNvGraphicFramePr>
            <a:graphicFrameLocks noGrp="1"/>
          </p:cNvGraphicFramePr>
          <p:nvPr>
            <p:extLst>
              <p:ext uri="{D42A27DB-BD31-4B8C-83A1-F6EECF244321}">
                <p14:modId xmlns:p14="http://schemas.microsoft.com/office/powerpoint/2010/main" val="1750815781"/>
              </p:ext>
            </p:extLst>
          </p:nvPr>
        </p:nvGraphicFramePr>
        <p:xfrm>
          <a:off x="6535363" y="5298775"/>
          <a:ext cx="5424262" cy="1077159"/>
        </p:xfrm>
        <a:graphic>
          <a:graphicData uri="http://schemas.openxmlformats.org/drawingml/2006/table">
            <a:tbl>
              <a:tblPr/>
              <a:tblGrid>
                <a:gridCol w="404268">
                  <a:extLst>
                    <a:ext uri="{9D8B030D-6E8A-4147-A177-3AD203B41FA5}">
                      <a16:colId xmlns:a16="http://schemas.microsoft.com/office/drawing/2014/main" val="495084399"/>
                    </a:ext>
                  </a:extLst>
                </a:gridCol>
                <a:gridCol w="231070">
                  <a:extLst>
                    <a:ext uri="{9D8B030D-6E8A-4147-A177-3AD203B41FA5}">
                      <a16:colId xmlns:a16="http://schemas.microsoft.com/office/drawing/2014/main" val="3614210242"/>
                    </a:ext>
                  </a:extLst>
                </a:gridCol>
                <a:gridCol w="532343">
                  <a:extLst>
                    <a:ext uri="{9D8B030D-6E8A-4147-A177-3AD203B41FA5}">
                      <a16:colId xmlns:a16="http://schemas.microsoft.com/office/drawing/2014/main" val="1442124609"/>
                    </a:ext>
                  </a:extLst>
                </a:gridCol>
                <a:gridCol w="1799119">
                  <a:extLst>
                    <a:ext uri="{9D8B030D-6E8A-4147-A177-3AD203B41FA5}">
                      <a16:colId xmlns:a16="http://schemas.microsoft.com/office/drawing/2014/main" val="3603859997"/>
                    </a:ext>
                  </a:extLst>
                </a:gridCol>
                <a:gridCol w="409577">
                  <a:extLst>
                    <a:ext uri="{9D8B030D-6E8A-4147-A177-3AD203B41FA5}">
                      <a16:colId xmlns:a16="http://schemas.microsoft.com/office/drawing/2014/main" val="4076488391"/>
                    </a:ext>
                  </a:extLst>
                </a:gridCol>
                <a:gridCol w="409577">
                  <a:extLst>
                    <a:ext uri="{9D8B030D-6E8A-4147-A177-3AD203B41FA5}">
                      <a16:colId xmlns:a16="http://schemas.microsoft.com/office/drawing/2014/main" val="3254101706"/>
                    </a:ext>
                  </a:extLst>
                </a:gridCol>
                <a:gridCol w="409577">
                  <a:extLst>
                    <a:ext uri="{9D8B030D-6E8A-4147-A177-3AD203B41FA5}">
                      <a16:colId xmlns:a16="http://schemas.microsoft.com/office/drawing/2014/main" val="3712391277"/>
                    </a:ext>
                  </a:extLst>
                </a:gridCol>
                <a:gridCol w="409577">
                  <a:extLst>
                    <a:ext uri="{9D8B030D-6E8A-4147-A177-3AD203B41FA5}">
                      <a16:colId xmlns:a16="http://schemas.microsoft.com/office/drawing/2014/main" val="2527660299"/>
                    </a:ext>
                  </a:extLst>
                </a:gridCol>
                <a:gridCol w="409577">
                  <a:extLst>
                    <a:ext uri="{9D8B030D-6E8A-4147-A177-3AD203B41FA5}">
                      <a16:colId xmlns:a16="http://schemas.microsoft.com/office/drawing/2014/main" val="3641075278"/>
                    </a:ext>
                  </a:extLst>
                </a:gridCol>
                <a:gridCol w="409577">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A/R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bl>
          </a:graphicData>
        </a:graphic>
      </p:graphicFrame>
      <p:sp>
        <p:nvSpPr>
          <p:cNvPr id="6" name="文本框 27">
            <a:extLst>
              <a:ext uri="{FF2B5EF4-FFF2-40B4-BE49-F238E27FC236}">
                <a16:creationId xmlns:a16="http://schemas.microsoft.com/office/drawing/2014/main" id="{6EC13E28-BA5D-D7F0-4176-48A5A5CBF769}"/>
              </a:ext>
            </a:extLst>
          </p:cNvPr>
          <p:cNvSpPr txBox="1"/>
          <p:nvPr/>
        </p:nvSpPr>
        <p:spPr>
          <a:xfrm>
            <a:off x="40260" y="-30679"/>
            <a:ext cx="4470947" cy="400110"/>
          </a:xfrm>
          <a:prstGeom prst="rect">
            <a:avLst/>
          </a:prstGeom>
          <a:noFill/>
        </p:spPr>
        <p:txBody>
          <a:bodyPr wrap="square" rtlCol="0">
            <a:spAutoFit/>
          </a:bodyPr>
          <a:lstStyle/>
          <a:p>
            <a:r>
              <a:rPr lang="nl-NL" altLang="zh-CN" sz="2000" b="1"/>
              <a:t>ISGLEASE_AFE_MLA</a:t>
            </a:r>
            <a:endParaRPr lang="zh-CN" altLang="en-US" sz="2000" b="1"/>
          </a:p>
        </p:txBody>
      </p:sp>
      <p:graphicFrame>
        <p:nvGraphicFramePr>
          <p:cNvPr id="3" name="Table 13">
            <a:extLst>
              <a:ext uri="{FF2B5EF4-FFF2-40B4-BE49-F238E27FC236}">
                <a16:creationId xmlns:a16="http://schemas.microsoft.com/office/drawing/2014/main" id="{7010D519-C5C8-0DF5-97F1-DB75B0AAF399}"/>
              </a:ext>
            </a:extLst>
          </p:cNvPr>
          <p:cNvGraphicFramePr>
            <a:graphicFrameLocks noGrp="1"/>
          </p:cNvGraphicFramePr>
          <p:nvPr>
            <p:extLst>
              <p:ext uri="{D42A27DB-BD31-4B8C-83A1-F6EECF244321}">
                <p14:modId xmlns:p14="http://schemas.microsoft.com/office/powerpoint/2010/main" val="3594618478"/>
              </p:ext>
            </p:extLst>
          </p:nvPr>
        </p:nvGraphicFramePr>
        <p:xfrm>
          <a:off x="348994" y="1542543"/>
          <a:ext cx="5607720" cy="1523637"/>
        </p:xfrm>
        <a:graphic>
          <a:graphicData uri="http://schemas.openxmlformats.org/drawingml/2006/table">
            <a:tbl>
              <a:tblPr/>
              <a:tblGrid>
                <a:gridCol w="431964">
                  <a:extLst>
                    <a:ext uri="{9D8B030D-6E8A-4147-A177-3AD203B41FA5}">
                      <a16:colId xmlns:a16="http://schemas.microsoft.com/office/drawing/2014/main" val="2405149806"/>
                    </a:ext>
                  </a:extLst>
                </a:gridCol>
                <a:gridCol w="230690">
                  <a:extLst>
                    <a:ext uri="{9D8B030D-6E8A-4147-A177-3AD203B41FA5}">
                      <a16:colId xmlns:a16="http://schemas.microsoft.com/office/drawing/2014/main" val="3773246756"/>
                    </a:ext>
                  </a:extLst>
                </a:gridCol>
                <a:gridCol w="565256">
                  <a:extLst>
                    <a:ext uri="{9D8B030D-6E8A-4147-A177-3AD203B41FA5}">
                      <a16:colId xmlns:a16="http://schemas.microsoft.com/office/drawing/2014/main" val="2093791787"/>
                    </a:ext>
                  </a:extLst>
                </a:gridCol>
                <a:gridCol w="1949492">
                  <a:extLst>
                    <a:ext uri="{9D8B030D-6E8A-4147-A177-3AD203B41FA5}">
                      <a16:colId xmlns:a16="http://schemas.microsoft.com/office/drawing/2014/main" val="2315190367"/>
                    </a:ext>
                  </a:extLst>
                </a:gridCol>
                <a:gridCol w="405053">
                  <a:extLst>
                    <a:ext uri="{9D8B030D-6E8A-4147-A177-3AD203B41FA5}">
                      <a16:colId xmlns:a16="http://schemas.microsoft.com/office/drawing/2014/main" val="3469496231"/>
                    </a:ext>
                  </a:extLst>
                </a:gridCol>
                <a:gridCol w="405053">
                  <a:extLst>
                    <a:ext uri="{9D8B030D-6E8A-4147-A177-3AD203B41FA5}">
                      <a16:colId xmlns:a16="http://schemas.microsoft.com/office/drawing/2014/main" val="618512481"/>
                    </a:ext>
                  </a:extLst>
                </a:gridCol>
                <a:gridCol w="405053">
                  <a:extLst>
                    <a:ext uri="{9D8B030D-6E8A-4147-A177-3AD203B41FA5}">
                      <a16:colId xmlns:a16="http://schemas.microsoft.com/office/drawing/2014/main" val="3907089414"/>
                    </a:ext>
                  </a:extLst>
                </a:gridCol>
                <a:gridCol w="405053">
                  <a:extLst>
                    <a:ext uri="{9D8B030D-6E8A-4147-A177-3AD203B41FA5}">
                      <a16:colId xmlns:a16="http://schemas.microsoft.com/office/drawing/2014/main" val="1101408634"/>
                    </a:ext>
                  </a:extLst>
                </a:gridCol>
                <a:gridCol w="405053">
                  <a:extLst>
                    <a:ext uri="{9D8B030D-6E8A-4147-A177-3AD203B41FA5}">
                      <a16:colId xmlns:a16="http://schemas.microsoft.com/office/drawing/2014/main" val="519409402"/>
                    </a:ext>
                  </a:extLst>
                </a:gridCol>
                <a:gridCol w="405053">
                  <a:extLst>
                    <a:ext uri="{9D8B030D-6E8A-4147-A177-3AD203B41FA5}">
                      <a16:colId xmlns:a16="http://schemas.microsoft.com/office/drawing/2014/main" val="3555629991"/>
                    </a:ext>
                  </a:extLst>
                </a:gridCol>
              </a:tblGrid>
              <a:tr h="127981">
                <a:tc rowSpan="8">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 - </a:t>
                      </a:r>
                      <a:r>
                        <a:rPr lang="en-US" altLang="zh-CN" sz="1100" b="0" i="0">
                          <a:solidFill>
                            <a:srgbClr val="FF0000"/>
                          </a:solidFill>
                          <a:effectLst/>
                          <a:latin typeface="Arial" panose="020B0604020202020204" pitchFamily="34" charset="0"/>
                        </a:rPr>
                        <a:t>Normal Pass</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no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mpd="sng">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lvl="0" algn="l">
                        <a:buNone/>
                      </a:pPr>
                      <a:r>
                        <a:rPr lang="en-US" sz="1000" b="0" i="0" u="none" strike="noStrike" kern="1200" cap="none" spc="0" normalizeH="0" baseline="0" noProof="0">
                          <a:ln>
                            <a:noFill/>
                          </a:ln>
                          <a:solidFill>
                            <a:srgbClr val="000000"/>
                          </a:solidFill>
                          <a:effectLst/>
                          <a:uLnTx/>
                          <a:uFillTx/>
                          <a:latin typeface="Arial"/>
                        </a:rPr>
                        <a:t>Account Receivable- leasing</a:t>
                      </a:r>
                      <a:endParaRPr kumimoji="0" lang="en-US" sz="1000" b="0" i="0" u="none" strike="noStrike" kern="1200" cap="none" spc="0" normalizeH="0" baseline="0">
                        <a:ln>
                          <a:noFill/>
                        </a:ln>
                        <a:solidFill>
                          <a:srgbClr val="000000"/>
                        </a:solidFill>
                        <a:effectLst/>
                        <a:uLnTx/>
                        <a:uFillTx/>
                        <a:latin typeface="+mn-lt"/>
                        <a:ea typeface="+mn-ea"/>
                        <a:cs typeface="+mn-cs"/>
                      </a:endParaRP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35653082"/>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altLang="zh-CN"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20965389"/>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黑体"/>
                          <a:cs typeface="+mn-cs"/>
                        </a:rPr>
                        <a:t>C</a:t>
                      </a:r>
                      <a:r>
                        <a:rPr kumimoji="0" lang="en-US" altLang="zh-CN" sz="1000" b="0" i="0" u="none" strike="noStrike" kern="1200" cap="none" spc="0" normalizeH="0" baseline="0" noProof="0">
                          <a:ln>
                            <a:noFill/>
                          </a:ln>
                          <a:solidFill>
                            <a:srgbClr val="000000"/>
                          </a:solidFill>
                          <a:effectLst/>
                          <a:uLnTx/>
                          <a:uFillTx/>
                          <a:latin typeface="+mn-lt"/>
                          <a:ea typeface="黑体"/>
                          <a:cs typeface="+mn-cs"/>
                        </a:rPr>
                        <a:t>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 - upfront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5981496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ysClr val="windowText" lastClr="000000"/>
                          </a:solidFill>
                          <a:effectLst/>
                          <a:latin typeface="+mn-lt"/>
                          <a:ea typeface="等线"/>
                          <a:cs typeface="+mn-cs"/>
                        </a:rPr>
                        <a:t>2</a:t>
                      </a:r>
                      <a:endParaRPr lang="zh-CN" altLang="en-US" sz="1000" b="0" i="0" u="none" strike="noStrike" kern="1200">
                        <a:solidFill>
                          <a:sysClr val="windowText" lastClr="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ysClr val="windowText" lastClr="000000"/>
                          </a:solidFill>
                          <a:effectLst/>
                          <a:uLnTx/>
                          <a:uFillTx/>
                          <a:latin typeface="Arial"/>
                          <a:ea typeface="等线"/>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7062129"/>
                  </a:ext>
                </a:extLst>
              </a:tr>
            </a:tbl>
          </a:graphicData>
        </a:graphic>
      </p:graphicFrame>
      <p:graphicFrame>
        <p:nvGraphicFramePr>
          <p:cNvPr id="4" name="表格 3">
            <a:extLst>
              <a:ext uri="{FF2B5EF4-FFF2-40B4-BE49-F238E27FC236}">
                <a16:creationId xmlns:a16="http://schemas.microsoft.com/office/drawing/2014/main" id="{BB65DBC3-4A9D-887C-843B-06D3FAF4568F}"/>
              </a:ext>
            </a:extLst>
          </p:cNvPr>
          <p:cNvGraphicFramePr>
            <a:graphicFrameLocks noGrp="1"/>
          </p:cNvGraphicFramePr>
          <p:nvPr>
            <p:extLst>
              <p:ext uri="{D42A27DB-BD31-4B8C-83A1-F6EECF244321}">
                <p14:modId xmlns:p14="http://schemas.microsoft.com/office/powerpoint/2010/main" val="3653545174"/>
              </p:ext>
            </p:extLst>
          </p:nvPr>
        </p:nvGraphicFramePr>
        <p:xfrm>
          <a:off x="310291" y="3259367"/>
          <a:ext cx="5646423" cy="1159935"/>
        </p:xfrm>
        <a:graphic>
          <a:graphicData uri="http://schemas.openxmlformats.org/drawingml/2006/table">
            <a:tbl>
              <a:tblPr/>
              <a:tblGrid>
                <a:gridCol w="431846">
                  <a:extLst>
                    <a:ext uri="{9D8B030D-6E8A-4147-A177-3AD203B41FA5}">
                      <a16:colId xmlns:a16="http://schemas.microsoft.com/office/drawing/2014/main" val="495084399"/>
                    </a:ext>
                  </a:extLst>
                </a:gridCol>
                <a:gridCol w="249102">
                  <a:extLst>
                    <a:ext uri="{9D8B030D-6E8A-4147-A177-3AD203B41FA5}">
                      <a16:colId xmlns:a16="http://schemas.microsoft.com/office/drawing/2014/main" val="3614210242"/>
                    </a:ext>
                  </a:extLst>
                </a:gridCol>
                <a:gridCol w="584204">
                  <a:extLst>
                    <a:ext uri="{9D8B030D-6E8A-4147-A177-3AD203B41FA5}">
                      <a16:colId xmlns:a16="http://schemas.microsoft.com/office/drawing/2014/main" val="1442124609"/>
                    </a:ext>
                  </a:extLst>
                </a:gridCol>
                <a:gridCol w="1878897">
                  <a:extLst>
                    <a:ext uri="{9D8B030D-6E8A-4147-A177-3AD203B41FA5}">
                      <a16:colId xmlns:a16="http://schemas.microsoft.com/office/drawing/2014/main" val="3603859997"/>
                    </a:ext>
                  </a:extLst>
                </a:gridCol>
                <a:gridCol w="480097">
                  <a:extLst>
                    <a:ext uri="{9D8B030D-6E8A-4147-A177-3AD203B41FA5}">
                      <a16:colId xmlns:a16="http://schemas.microsoft.com/office/drawing/2014/main" val="4076488391"/>
                    </a:ext>
                  </a:extLst>
                </a:gridCol>
                <a:gridCol w="417863">
                  <a:extLst>
                    <a:ext uri="{9D8B030D-6E8A-4147-A177-3AD203B41FA5}">
                      <a16:colId xmlns:a16="http://schemas.microsoft.com/office/drawing/2014/main" val="3254101706"/>
                    </a:ext>
                  </a:extLst>
                </a:gridCol>
                <a:gridCol w="635329">
                  <a:extLst>
                    <a:ext uri="{9D8B030D-6E8A-4147-A177-3AD203B41FA5}">
                      <a16:colId xmlns:a16="http://schemas.microsoft.com/office/drawing/2014/main" val="3712391277"/>
                    </a:ext>
                  </a:extLst>
                </a:gridCol>
                <a:gridCol w="266720">
                  <a:extLst>
                    <a:ext uri="{9D8B030D-6E8A-4147-A177-3AD203B41FA5}">
                      <a16:colId xmlns:a16="http://schemas.microsoft.com/office/drawing/2014/main" val="2527660299"/>
                    </a:ext>
                  </a:extLst>
                </a:gridCol>
                <a:gridCol w="402685">
                  <a:extLst>
                    <a:ext uri="{9D8B030D-6E8A-4147-A177-3AD203B41FA5}">
                      <a16:colId xmlns:a16="http://schemas.microsoft.com/office/drawing/2014/main" val="3641075278"/>
                    </a:ext>
                  </a:extLst>
                </a:gridCol>
                <a:gridCol w="299680">
                  <a:extLst>
                    <a:ext uri="{9D8B030D-6E8A-4147-A177-3AD203B41FA5}">
                      <a16:colId xmlns:a16="http://schemas.microsoft.com/office/drawing/2014/main" val="3618613915"/>
                    </a:ext>
                  </a:extLst>
                </a:gridCol>
              </a:tblGrid>
              <a:tr h="183914">
                <a:tc rowSpan="6">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-HW</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1010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X1/30​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38309671"/>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upfront</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1200" b="0" i="0">
                          <a:solidFill>
                            <a:srgbClr val="000000"/>
                          </a:solidFill>
                          <a:effectLst/>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927501742"/>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bl>
          </a:graphicData>
        </a:graphic>
      </p:graphicFrame>
      <p:sp>
        <p:nvSpPr>
          <p:cNvPr id="5" name="矩形 4">
            <a:extLst>
              <a:ext uri="{FF2B5EF4-FFF2-40B4-BE49-F238E27FC236}">
                <a16:creationId xmlns:a16="http://schemas.microsoft.com/office/drawing/2014/main" id="{46602293-9508-EE60-BD26-A601DD4F2FEE}"/>
              </a:ext>
            </a:extLst>
          </p:cNvPr>
          <p:cNvSpPr/>
          <p:nvPr/>
        </p:nvSpPr>
        <p:spPr>
          <a:xfrm>
            <a:off x="318398" y="3241113"/>
            <a:ext cx="5630205" cy="1159935"/>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7" name="对话气泡: 矩形 11">
            <a:extLst>
              <a:ext uri="{FF2B5EF4-FFF2-40B4-BE49-F238E27FC236}">
                <a16:creationId xmlns:a16="http://schemas.microsoft.com/office/drawing/2014/main" id="{10FC63CE-B138-B0BB-06EB-3BAAA85028E7}"/>
              </a:ext>
            </a:extLst>
          </p:cNvPr>
          <p:cNvSpPr/>
          <p:nvPr/>
        </p:nvSpPr>
        <p:spPr>
          <a:xfrm>
            <a:off x="1005017" y="4487616"/>
            <a:ext cx="4629932" cy="643937"/>
          </a:xfrm>
          <a:prstGeom prst="wedgeRectCallout">
            <a:avLst>
              <a:gd name="adj1" fmla="val -45127"/>
              <a:gd name="adj2" fmla="val -32057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Consolidate two accounting documents into one</a:t>
            </a:r>
          </a:p>
          <a:p>
            <a:r>
              <a:rPr lang="en-US" sz="1200">
                <a:solidFill>
                  <a:schemeClr val="tx1"/>
                </a:solidFill>
              </a:rPr>
              <a:t>Funded items won’t transferred through agent revenue by item level</a:t>
            </a:r>
          </a:p>
        </p:txBody>
      </p:sp>
      <p:graphicFrame>
        <p:nvGraphicFramePr>
          <p:cNvPr id="15" name="Table 13">
            <a:extLst>
              <a:ext uri="{FF2B5EF4-FFF2-40B4-BE49-F238E27FC236}">
                <a16:creationId xmlns:a16="http://schemas.microsoft.com/office/drawing/2014/main" id="{D7D72D4E-14FF-375E-9CA6-D351E416F4AC}"/>
              </a:ext>
            </a:extLst>
          </p:cNvPr>
          <p:cNvGraphicFramePr>
            <a:graphicFrameLocks noGrp="1"/>
          </p:cNvGraphicFramePr>
          <p:nvPr>
            <p:extLst>
              <p:ext uri="{D42A27DB-BD31-4B8C-83A1-F6EECF244321}">
                <p14:modId xmlns:p14="http://schemas.microsoft.com/office/powerpoint/2010/main" val="3949049170"/>
              </p:ext>
            </p:extLst>
          </p:nvPr>
        </p:nvGraphicFramePr>
        <p:xfrm>
          <a:off x="6351905" y="1542543"/>
          <a:ext cx="5607720" cy="1637570"/>
        </p:xfrm>
        <a:graphic>
          <a:graphicData uri="http://schemas.openxmlformats.org/drawingml/2006/table">
            <a:tbl>
              <a:tblPr/>
              <a:tblGrid>
                <a:gridCol w="431964">
                  <a:extLst>
                    <a:ext uri="{9D8B030D-6E8A-4147-A177-3AD203B41FA5}">
                      <a16:colId xmlns:a16="http://schemas.microsoft.com/office/drawing/2014/main" val="2405149806"/>
                    </a:ext>
                  </a:extLst>
                </a:gridCol>
                <a:gridCol w="230690">
                  <a:extLst>
                    <a:ext uri="{9D8B030D-6E8A-4147-A177-3AD203B41FA5}">
                      <a16:colId xmlns:a16="http://schemas.microsoft.com/office/drawing/2014/main" val="3773246756"/>
                    </a:ext>
                  </a:extLst>
                </a:gridCol>
                <a:gridCol w="565256">
                  <a:extLst>
                    <a:ext uri="{9D8B030D-6E8A-4147-A177-3AD203B41FA5}">
                      <a16:colId xmlns:a16="http://schemas.microsoft.com/office/drawing/2014/main" val="2093791787"/>
                    </a:ext>
                  </a:extLst>
                </a:gridCol>
                <a:gridCol w="1949492">
                  <a:extLst>
                    <a:ext uri="{9D8B030D-6E8A-4147-A177-3AD203B41FA5}">
                      <a16:colId xmlns:a16="http://schemas.microsoft.com/office/drawing/2014/main" val="2315190367"/>
                    </a:ext>
                  </a:extLst>
                </a:gridCol>
                <a:gridCol w="405053">
                  <a:extLst>
                    <a:ext uri="{9D8B030D-6E8A-4147-A177-3AD203B41FA5}">
                      <a16:colId xmlns:a16="http://schemas.microsoft.com/office/drawing/2014/main" val="3469496231"/>
                    </a:ext>
                  </a:extLst>
                </a:gridCol>
                <a:gridCol w="405053">
                  <a:extLst>
                    <a:ext uri="{9D8B030D-6E8A-4147-A177-3AD203B41FA5}">
                      <a16:colId xmlns:a16="http://schemas.microsoft.com/office/drawing/2014/main" val="618512481"/>
                    </a:ext>
                  </a:extLst>
                </a:gridCol>
                <a:gridCol w="405053">
                  <a:extLst>
                    <a:ext uri="{9D8B030D-6E8A-4147-A177-3AD203B41FA5}">
                      <a16:colId xmlns:a16="http://schemas.microsoft.com/office/drawing/2014/main" val="3907089414"/>
                    </a:ext>
                  </a:extLst>
                </a:gridCol>
                <a:gridCol w="405053">
                  <a:extLst>
                    <a:ext uri="{9D8B030D-6E8A-4147-A177-3AD203B41FA5}">
                      <a16:colId xmlns:a16="http://schemas.microsoft.com/office/drawing/2014/main" val="1101408634"/>
                    </a:ext>
                  </a:extLst>
                </a:gridCol>
                <a:gridCol w="405053">
                  <a:extLst>
                    <a:ext uri="{9D8B030D-6E8A-4147-A177-3AD203B41FA5}">
                      <a16:colId xmlns:a16="http://schemas.microsoft.com/office/drawing/2014/main" val="519409402"/>
                    </a:ext>
                  </a:extLst>
                </a:gridCol>
                <a:gridCol w="405053">
                  <a:extLst>
                    <a:ext uri="{9D8B030D-6E8A-4147-A177-3AD203B41FA5}">
                      <a16:colId xmlns:a16="http://schemas.microsoft.com/office/drawing/2014/main" val="3555629991"/>
                    </a:ext>
                  </a:extLst>
                </a:gridCol>
              </a:tblGrid>
              <a:tr h="127981">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 - </a:t>
                      </a:r>
                      <a:r>
                        <a:rPr lang="en-US" sz="1100" b="0" i="0">
                          <a:solidFill>
                            <a:srgbClr val="FF0000"/>
                          </a:solidFill>
                          <a:effectLst/>
                          <a:latin typeface="Arial" panose="020B0604020202020204" pitchFamily="34" charset="0"/>
                        </a:rPr>
                        <a:t>Lease extension</a:t>
                      </a:r>
                      <a:endParaRPr lang="en-US" sz="11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no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mpd="sng">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lvl="0" algn="l">
                        <a:buNone/>
                      </a:pPr>
                      <a:r>
                        <a:rPr lang="en-US" sz="1000" b="0" i="0" u="none" strike="noStrike" kern="1200" cap="none" spc="0" normalizeH="0" baseline="0" noProof="0">
                          <a:ln>
                            <a:noFill/>
                          </a:ln>
                          <a:solidFill>
                            <a:srgbClr val="000000"/>
                          </a:solidFill>
                          <a:effectLst/>
                          <a:uLnTx/>
                          <a:uFillTx/>
                          <a:latin typeface="Arial"/>
                        </a:rPr>
                        <a:t>Account Receivable- leasing</a:t>
                      </a:r>
                      <a:endParaRPr kumimoji="0" lang="en-US" sz="1000" b="0" i="0" u="none" strike="noStrike" kern="1200" cap="none" spc="0" normalizeH="0" baseline="0">
                        <a:ln>
                          <a:noFill/>
                        </a:ln>
                        <a:solidFill>
                          <a:srgbClr val="000000"/>
                        </a:solidFill>
                        <a:effectLst/>
                        <a:uLnTx/>
                        <a:uFillTx/>
                        <a:latin typeface="+mn-lt"/>
                        <a:ea typeface="+mn-ea"/>
                        <a:cs typeface="+mn-cs"/>
                      </a:endParaRP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35653082"/>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altLang="zh-CN"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Other Payable (3PO)</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20965389"/>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黑体"/>
                          <a:cs typeface="+mn-cs"/>
                        </a:rPr>
                        <a:t>C</a:t>
                      </a:r>
                      <a:r>
                        <a:rPr kumimoji="0" lang="en-US" altLang="zh-CN" sz="1000" b="0" i="0" u="none" strike="noStrike" kern="1200" cap="none" spc="0" normalizeH="0" baseline="0" noProof="0">
                          <a:ln>
                            <a:noFill/>
                          </a:ln>
                          <a:solidFill>
                            <a:srgbClr val="000000"/>
                          </a:solidFill>
                          <a:effectLst/>
                          <a:uLnTx/>
                          <a:uFillTx/>
                          <a:latin typeface="+mn-lt"/>
                          <a:ea typeface="黑体"/>
                          <a:cs typeface="+mn-cs"/>
                        </a:rPr>
                        <a:t>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Interest Income - Upfront Service(previous)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5981496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Cr</a:t>
                      </a:r>
                      <a:endParaRPr kumimoji="0" lang="en-US" sz="1000" b="0" i="0" u="none" strike="noStrike" kern="1200" cap="none" spc="0" normalizeH="0" baseline="0" noProof="0">
                        <a:ln>
                          <a:noFill/>
                        </a:ln>
                        <a:solidFill>
                          <a:srgbClr val="000000"/>
                        </a:solidFill>
                        <a:effectLst/>
                        <a:uLnTx/>
                        <a:uFillTx/>
                        <a:latin typeface="+mn-lt"/>
                        <a:ea typeface="黑体"/>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ysClr val="windowText" lastClr="000000"/>
                          </a:solidFill>
                          <a:effectLst/>
                          <a:latin typeface="+mn-lt"/>
                          <a:ea typeface="等线"/>
                          <a:cs typeface="+mn-cs"/>
                        </a:rPr>
                        <a:t>2</a:t>
                      </a:r>
                      <a:endParaRPr lang="zh-CN" altLang="en-US" sz="1000" b="0" i="0" u="none" strike="noStrike" kern="1200">
                        <a:solidFill>
                          <a:sysClr val="windowText" lastClr="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ysClr val="windowText" lastClr="000000"/>
                          </a:solidFill>
                          <a:effectLst/>
                          <a:uLnTx/>
                          <a:uFillTx/>
                          <a:latin typeface="Arial"/>
                          <a:ea typeface="等线"/>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7062129"/>
                  </a:ext>
                </a:extLst>
              </a:tr>
            </a:tbl>
          </a:graphicData>
        </a:graphic>
      </p:graphicFrame>
      <p:graphicFrame>
        <p:nvGraphicFramePr>
          <p:cNvPr id="16" name="表格 15">
            <a:extLst>
              <a:ext uri="{FF2B5EF4-FFF2-40B4-BE49-F238E27FC236}">
                <a16:creationId xmlns:a16="http://schemas.microsoft.com/office/drawing/2014/main" id="{3D002EE4-5FFF-C79A-E61F-E9F7DF96725D}"/>
              </a:ext>
            </a:extLst>
          </p:cNvPr>
          <p:cNvGraphicFramePr>
            <a:graphicFrameLocks noGrp="1"/>
          </p:cNvGraphicFramePr>
          <p:nvPr>
            <p:extLst>
              <p:ext uri="{D42A27DB-BD31-4B8C-83A1-F6EECF244321}">
                <p14:modId xmlns:p14="http://schemas.microsoft.com/office/powerpoint/2010/main" val="805712392"/>
              </p:ext>
            </p:extLst>
          </p:nvPr>
        </p:nvGraphicFramePr>
        <p:xfrm>
          <a:off x="6351905" y="3259367"/>
          <a:ext cx="5607721" cy="955479"/>
        </p:xfrm>
        <a:graphic>
          <a:graphicData uri="http://schemas.openxmlformats.org/drawingml/2006/table">
            <a:tbl>
              <a:tblPr/>
              <a:tblGrid>
                <a:gridCol w="428886">
                  <a:extLst>
                    <a:ext uri="{9D8B030D-6E8A-4147-A177-3AD203B41FA5}">
                      <a16:colId xmlns:a16="http://schemas.microsoft.com/office/drawing/2014/main" val="495084399"/>
                    </a:ext>
                  </a:extLst>
                </a:gridCol>
                <a:gridCol w="247395">
                  <a:extLst>
                    <a:ext uri="{9D8B030D-6E8A-4147-A177-3AD203B41FA5}">
                      <a16:colId xmlns:a16="http://schemas.microsoft.com/office/drawing/2014/main" val="3614210242"/>
                    </a:ext>
                  </a:extLst>
                </a:gridCol>
                <a:gridCol w="580200">
                  <a:extLst>
                    <a:ext uri="{9D8B030D-6E8A-4147-A177-3AD203B41FA5}">
                      <a16:colId xmlns:a16="http://schemas.microsoft.com/office/drawing/2014/main" val="1442124609"/>
                    </a:ext>
                  </a:extLst>
                </a:gridCol>
                <a:gridCol w="1866018">
                  <a:extLst>
                    <a:ext uri="{9D8B030D-6E8A-4147-A177-3AD203B41FA5}">
                      <a16:colId xmlns:a16="http://schemas.microsoft.com/office/drawing/2014/main" val="3603859997"/>
                    </a:ext>
                  </a:extLst>
                </a:gridCol>
                <a:gridCol w="476806">
                  <a:extLst>
                    <a:ext uri="{9D8B030D-6E8A-4147-A177-3AD203B41FA5}">
                      <a16:colId xmlns:a16="http://schemas.microsoft.com/office/drawing/2014/main" val="4076488391"/>
                    </a:ext>
                  </a:extLst>
                </a:gridCol>
                <a:gridCol w="414999">
                  <a:extLst>
                    <a:ext uri="{9D8B030D-6E8A-4147-A177-3AD203B41FA5}">
                      <a16:colId xmlns:a16="http://schemas.microsoft.com/office/drawing/2014/main" val="3254101706"/>
                    </a:ext>
                  </a:extLst>
                </a:gridCol>
                <a:gridCol w="630974">
                  <a:extLst>
                    <a:ext uri="{9D8B030D-6E8A-4147-A177-3AD203B41FA5}">
                      <a16:colId xmlns:a16="http://schemas.microsoft.com/office/drawing/2014/main" val="3712391277"/>
                    </a:ext>
                  </a:extLst>
                </a:gridCol>
                <a:gridCol w="264892">
                  <a:extLst>
                    <a:ext uri="{9D8B030D-6E8A-4147-A177-3AD203B41FA5}">
                      <a16:colId xmlns:a16="http://schemas.microsoft.com/office/drawing/2014/main" val="2527660299"/>
                    </a:ext>
                  </a:extLst>
                </a:gridCol>
                <a:gridCol w="399925">
                  <a:extLst>
                    <a:ext uri="{9D8B030D-6E8A-4147-A177-3AD203B41FA5}">
                      <a16:colId xmlns:a16="http://schemas.microsoft.com/office/drawing/2014/main" val="3641075278"/>
                    </a:ext>
                  </a:extLst>
                </a:gridCol>
                <a:gridCol w="297626">
                  <a:extLst>
                    <a:ext uri="{9D8B030D-6E8A-4147-A177-3AD203B41FA5}">
                      <a16:colId xmlns:a16="http://schemas.microsoft.com/office/drawing/2014/main" val="3618613915"/>
                    </a:ext>
                  </a:extLst>
                </a:gridCol>
              </a:tblGrid>
              <a:tr h="183914">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Accrual entry for Payable Funder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-HW</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1010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X1/30​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3830967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2280503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bl>
          </a:graphicData>
        </a:graphic>
      </p:graphicFrame>
      <p:sp>
        <p:nvSpPr>
          <p:cNvPr id="17" name="矩形 16">
            <a:extLst>
              <a:ext uri="{FF2B5EF4-FFF2-40B4-BE49-F238E27FC236}">
                <a16:creationId xmlns:a16="http://schemas.microsoft.com/office/drawing/2014/main" id="{7C6D5589-DA5B-F68A-5473-756F8226951D}"/>
              </a:ext>
            </a:extLst>
          </p:cNvPr>
          <p:cNvSpPr/>
          <p:nvPr/>
        </p:nvSpPr>
        <p:spPr>
          <a:xfrm>
            <a:off x="6351905" y="3259367"/>
            <a:ext cx="5607720" cy="955480"/>
          </a:xfrm>
          <a:prstGeom prst="rect">
            <a:avLst/>
          </a:prstGeom>
          <a:solidFill>
            <a:schemeClr val="accent2">
              <a:lumMod val="20000"/>
              <a:lumOff val="80000"/>
              <a:alpha val="69804"/>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18" name="对话气泡: 矩形 17">
            <a:extLst>
              <a:ext uri="{FF2B5EF4-FFF2-40B4-BE49-F238E27FC236}">
                <a16:creationId xmlns:a16="http://schemas.microsoft.com/office/drawing/2014/main" id="{F1B1F3BE-02D2-346A-5C09-5527D96E13E3}"/>
              </a:ext>
            </a:extLst>
          </p:cNvPr>
          <p:cNvSpPr/>
          <p:nvPr/>
        </p:nvSpPr>
        <p:spPr>
          <a:xfrm>
            <a:off x="6557053" y="4419302"/>
            <a:ext cx="5571460" cy="706055"/>
          </a:xfrm>
          <a:prstGeom prst="wedgeRectCallout">
            <a:avLst>
              <a:gd name="adj1" fmla="val -35623"/>
              <a:gd name="adj2" fmla="val -26223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Upfront service has paid off to funder in normal lease term, so no need to transfer upfront service to funder in extension. </a:t>
            </a:r>
          </a:p>
          <a:p>
            <a:r>
              <a:rPr lang="en-US" altLang="zh-CN" sz="1200">
                <a:solidFill>
                  <a:schemeClr val="tx1"/>
                </a:solidFill>
              </a:rPr>
              <a:t>HW belongs to funder, receivables of HW still need to transfer to funder.</a:t>
            </a:r>
          </a:p>
        </p:txBody>
      </p:sp>
      <p:sp>
        <p:nvSpPr>
          <p:cNvPr id="19" name="Rectangle 1">
            <a:extLst>
              <a:ext uri="{FF2B5EF4-FFF2-40B4-BE49-F238E27FC236}">
                <a16:creationId xmlns:a16="http://schemas.microsoft.com/office/drawing/2014/main" id="{D8E373E3-25F8-D704-8129-01D72ECEA97E}"/>
              </a:ext>
            </a:extLst>
          </p:cNvPr>
          <p:cNvSpPr/>
          <p:nvPr/>
        </p:nvSpPr>
        <p:spPr>
          <a:xfrm>
            <a:off x="6776882" y="2692072"/>
            <a:ext cx="5182743" cy="298045"/>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cxnSp>
        <p:nvCxnSpPr>
          <p:cNvPr id="20" name="直接连接符 3">
            <a:extLst>
              <a:ext uri="{FF2B5EF4-FFF2-40B4-BE49-F238E27FC236}">
                <a16:creationId xmlns:a16="http://schemas.microsoft.com/office/drawing/2014/main" id="{6AE9CBDE-B5B0-1CAA-C540-318554C1B6FF}"/>
              </a:ext>
            </a:extLst>
          </p:cNvPr>
          <p:cNvCxnSpPr>
            <a:cxnSpLocks/>
          </p:cNvCxnSpPr>
          <p:nvPr/>
        </p:nvCxnSpPr>
        <p:spPr>
          <a:xfrm>
            <a:off x="6176467" y="1542543"/>
            <a:ext cx="0" cy="3600000"/>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06369185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99B0D7-C161-599B-443A-15C253AF01E8}"/>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D359B8AC-525E-CA44-20C6-5C58A6397F59}"/>
              </a:ext>
            </a:extLst>
          </p:cNvPr>
          <p:cNvGraphicFramePr>
            <a:graphicFrameLocks noGrp="1"/>
          </p:cNvGraphicFramePr>
          <p:nvPr>
            <p:extLst>
              <p:ext uri="{D42A27DB-BD31-4B8C-83A1-F6EECF244321}">
                <p14:modId xmlns:p14="http://schemas.microsoft.com/office/powerpoint/2010/main" val="3541973336"/>
              </p:ext>
            </p:extLst>
          </p:nvPr>
        </p:nvGraphicFramePr>
        <p:xfrm>
          <a:off x="32110" y="1722814"/>
          <a:ext cx="5715531" cy="1730440"/>
        </p:xfrm>
        <a:graphic>
          <a:graphicData uri="http://schemas.openxmlformats.org/drawingml/2006/table">
            <a:tbl>
              <a:tblPr/>
              <a:tblGrid>
                <a:gridCol w="488004">
                  <a:extLst>
                    <a:ext uri="{9D8B030D-6E8A-4147-A177-3AD203B41FA5}">
                      <a16:colId xmlns:a16="http://schemas.microsoft.com/office/drawing/2014/main" val="495084399"/>
                    </a:ext>
                  </a:extLst>
                </a:gridCol>
                <a:gridCol w="255559">
                  <a:extLst>
                    <a:ext uri="{9D8B030D-6E8A-4147-A177-3AD203B41FA5}">
                      <a16:colId xmlns:a16="http://schemas.microsoft.com/office/drawing/2014/main" val="3614210242"/>
                    </a:ext>
                  </a:extLst>
                </a:gridCol>
                <a:gridCol w="608198">
                  <a:extLst>
                    <a:ext uri="{9D8B030D-6E8A-4147-A177-3AD203B41FA5}">
                      <a16:colId xmlns:a16="http://schemas.microsoft.com/office/drawing/2014/main" val="1442124609"/>
                    </a:ext>
                  </a:extLst>
                </a:gridCol>
                <a:gridCol w="1950480">
                  <a:extLst>
                    <a:ext uri="{9D8B030D-6E8A-4147-A177-3AD203B41FA5}">
                      <a16:colId xmlns:a16="http://schemas.microsoft.com/office/drawing/2014/main" val="3603859997"/>
                    </a:ext>
                  </a:extLst>
                </a:gridCol>
                <a:gridCol w="402215">
                  <a:extLst>
                    <a:ext uri="{9D8B030D-6E8A-4147-A177-3AD203B41FA5}">
                      <a16:colId xmlns:a16="http://schemas.microsoft.com/office/drawing/2014/main" val="4076488391"/>
                    </a:ext>
                  </a:extLst>
                </a:gridCol>
                <a:gridCol w="402215">
                  <a:extLst>
                    <a:ext uri="{9D8B030D-6E8A-4147-A177-3AD203B41FA5}">
                      <a16:colId xmlns:a16="http://schemas.microsoft.com/office/drawing/2014/main" val="3254101706"/>
                    </a:ext>
                  </a:extLst>
                </a:gridCol>
                <a:gridCol w="402215">
                  <a:extLst>
                    <a:ext uri="{9D8B030D-6E8A-4147-A177-3AD203B41FA5}">
                      <a16:colId xmlns:a16="http://schemas.microsoft.com/office/drawing/2014/main" val="3712391277"/>
                    </a:ext>
                  </a:extLst>
                </a:gridCol>
                <a:gridCol w="402215">
                  <a:extLst>
                    <a:ext uri="{9D8B030D-6E8A-4147-A177-3AD203B41FA5}">
                      <a16:colId xmlns:a16="http://schemas.microsoft.com/office/drawing/2014/main" val="2527660299"/>
                    </a:ext>
                  </a:extLst>
                </a:gridCol>
                <a:gridCol w="402215">
                  <a:extLst>
                    <a:ext uri="{9D8B030D-6E8A-4147-A177-3AD203B41FA5}">
                      <a16:colId xmlns:a16="http://schemas.microsoft.com/office/drawing/2014/main" val="3641075278"/>
                    </a:ext>
                  </a:extLst>
                </a:gridCol>
                <a:gridCol w="402215">
                  <a:extLst>
                    <a:ext uri="{9D8B030D-6E8A-4147-A177-3AD203B41FA5}">
                      <a16:colId xmlns:a16="http://schemas.microsoft.com/office/drawing/2014/main" val="3618613915"/>
                    </a:ext>
                  </a:extLst>
                </a:gridCol>
              </a:tblGrid>
              <a:tr h="0">
                <a:tc rowSpan="9">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64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j-lt"/>
                        </a:rPr>
                        <a:t>Operating Lease Revenue (3PO)</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91228963"/>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723639438"/>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97566895"/>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cxnSp>
        <p:nvCxnSpPr>
          <p:cNvPr id="3" name="直接连接符 2">
            <a:extLst>
              <a:ext uri="{FF2B5EF4-FFF2-40B4-BE49-F238E27FC236}">
                <a16:creationId xmlns:a16="http://schemas.microsoft.com/office/drawing/2014/main" id="{EDCF6208-9AD7-38C3-9DD2-F7617A3796ED}"/>
              </a:ext>
            </a:extLst>
          </p:cNvPr>
          <p:cNvCxnSpPr>
            <a:cxnSpLocks/>
          </p:cNvCxnSpPr>
          <p:nvPr/>
        </p:nvCxnSpPr>
        <p:spPr>
          <a:xfrm>
            <a:off x="6096000" y="243919"/>
            <a:ext cx="0" cy="5724748"/>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4" name="表格 3">
            <a:extLst>
              <a:ext uri="{FF2B5EF4-FFF2-40B4-BE49-F238E27FC236}">
                <a16:creationId xmlns:a16="http://schemas.microsoft.com/office/drawing/2014/main" id="{1B9A58C0-F9FE-C686-2E02-3039EEF958C6}"/>
              </a:ext>
            </a:extLst>
          </p:cNvPr>
          <p:cNvGraphicFramePr>
            <a:graphicFrameLocks noGrp="1"/>
          </p:cNvGraphicFramePr>
          <p:nvPr>
            <p:extLst>
              <p:ext uri="{D42A27DB-BD31-4B8C-83A1-F6EECF244321}">
                <p14:modId xmlns:p14="http://schemas.microsoft.com/office/powerpoint/2010/main" val="970306655"/>
              </p:ext>
            </p:extLst>
          </p:nvPr>
        </p:nvGraphicFramePr>
        <p:xfrm>
          <a:off x="41972" y="3601947"/>
          <a:ext cx="5708849" cy="951098"/>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418467">
                  <a:extLst>
                    <a:ext uri="{9D8B030D-6E8A-4147-A177-3AD203B41FA5}">
                      <a16:colId xmlns:a16="http://schemas.microsoft.com/office/drawing/2014/main" val="4076488391"/>
                    </a:ext>
                  </a:extLst>
                </a:gridCol>
                <a:gridCol w="418467">
                  <a:extLst>
                    <a:ext uri="{9D8B030D-6E8A-4147-A177-3AD203B41FA5}">
                      <a16:colId xmlns:a16="http://schemas.microsoft.com/office/drawing/2014/main" val="3254101706"/>
                    </a:ext>
                  </a:extLst>
                </a:gridCol>
                <a:gridCol w="418467">
                  <a:extLst>
                    <a:ext uri="{9D8B030D-6E8A-4147-A177-3AD203B41FA5}">
                      <a16:colId xmlns:a16="http://schemas.microsoft.com/office/drawing/2014/main" val="3712391277"/>
                    </a:ext>
                  </a:extLst>
                </a:gridCol>
                <a:gridCol w="418467">
                  <a:extLst>
                    <a:ext uri="{9D8B030D-6E8A-4147-A177-3AD203B41FA5}">
                      <a16:colId xmlns:a16="http://schemas.microsoft.com/office/drawing/2014/main" val="2527660299"/>
                    </a:ext>
                  </a:extLst>
                </a:gridCol>
                <a:gridCol w="418467">
                  <a:extLst>
                    <a:ext uri="{9D8B030D-6E8A-4147-A177-3AD203B41FA5}">
                      <a16:colId xmlns:a16="http://schemas.microsoft.com/office/drawing/2014/main" val="3641075278"/>
                    </a:ext>
                  </a:extLst>
                </a:gridCol>
                <a:gridCol w="418467">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DD2E5C1C-C8B2-C780-F6A4-4792C9B44E0B}"/>
              </a:ext>
            </a:extLst>
          </p:cNvPr>
          <p:cNvGraphicFramePr>
            <a:graphicFrameLocks noGrp="1"/>
          </p:cNvGraphicFramePr>
          <p:nvPr>
            <p:extLst>
              <p:ext uri="{D42A27DB-BD31-4B8C-83A1-F6EECF244321}">
                <p14:modId xmlns:p14="http://schemas.microsoft.com/office/powerpoint/2010/main" val="689554448"/>
              </p:ext>
            </p:extLst>
          </p:nvPr>
        </p:nvGraphicFramePr>
        <p:xfrm>
          <a:off x="41972" y="4891508"/>
          <a:ext cx="5702497" cy="1077159"/>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430586">
                  <a:extLst>
                    <a:ext uri="{9D8B030D-6E8A-4147-A177-3AD203B41FA5}">
                      <a16:colId xmlns:a16="http://schemas.microsoft.com/office/drawing/2014/main" val="4076488391"/>
                    </a:ext>
                  </a:extLst>
                </a:gridCol>
                <a:gridCol w="430586">
                  <a:extLst>
                    <a:ext uri="{9D8B030D-6E8A-4147-A177-3AD203B41FA5}">
                      <a16:colId xmlns:a16="http://schemas.microsoft.com/office/drawing/2014/main" val="3254101706"/>
                    </a:ext>
                  </a:extLst>
                </a:gridCol>
                <a:gridCol w="430586">
                  <a:extLst>
                    <a:ext uri="{9D8B030D-6E8A-4147-A177-3AD203B41FA5}">
                      <a16:colId xmlns:a16="http://schemas.microsoft.com/office/drawing/2014/main" val="3712391277"/>
                    </a:ext>
                  </a:extLst>
                </a:gridCol>
                <a:gridCol w="430586">
                  <a:extLst>
                    <a:ext uri="{9D8B030D-6E8A-4147-A177-3AD203B41FA5}">
                      <a16:colId xmlns:a16="http://schemas.microsoft.com/office/drawing/2014/main" val="2527660299"/>
                    </a:ext>
                  </a:extLst>
                </a:gridCol>
                <a:gridCol w="430586">
                  <a:extLst>
                    <a:ext uri="{9D8B030D-6E8A-4147-A177-3AD203B41FA5}">
                      <a16:colId xmlns:a16="http://schemas.microsoft.com/office/drawing/2014/main" val="3641075278"/>
                    </a:ext>
                  </a:extLst>
                </a:gridCol>
                <a:gridCol w="430586">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HK24</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bl>
          </a:graphicData>
        </a:graphic>
      </p:graphicFrame>
      <p:graphicFrame>
        <p:nvGraphicFramePr>
          <p:cNvPr id="12" name="表格 11">
            <a:extLst>
              <a:ext uri="{FF2B5EF4-FFF2-40B4-BE49-F238E27FC236}">
                <a16:creationId xmlns:a16="http://schemas.microsoft.com/office/drawing/2014/main" id="{4BE4CA3F-A212-6B28-0E66-99866ECDE1AD}"/>
              </a:ext>
            </a:extLst>
          </p:cNvPr>
          <p:cNvGraphicFramePr>
            <a:graphicFrameLocks noGrp="1"/>
          </p:cNvGraphicFramePr>
          <p:nvPr>
            <p:extLst>
              <p:ext uri="{D42A27DB-BD31-4B8C-83A1-F6EECF244321}">
                <p14:modId xmlns:p14="http://schemas.microsoft.com/office/powerpoint/2010/main" val="1131776354"/>
              </p:ext>
            </p:extLst>
          </p:nvPr>
        </p:nvGraphicFramePr>
        <p:xfrm>
          <a:off x="37853" y="426316"/>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3rd party</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2" name="表格 11">
            <a:extLst>
              <a:ext uri="{FF2B5EF4-FFF2-40B4-BE49-F238E27FC236}">
                <a16:creationId xmlns:a16="http://schemas.microsoft.com/office/drawing/2014/main" id="{00F15D47-A469-2517-009B-FB137B219729}"/>
              </a:ext>
            </a:extLst>
          </p:cNvPr>
          <p:cNvGraphicFramePr>
            <a:graphicFrameLocks noGrp="1"/>
          </p:cNvGraphicFramePr>
          <p:nvPr>
            <p:extLst>
              <p:ext uri="{D42A27DB-BD31-4B8C-83A1-F6EECF244321}">
                <p14:modId xmlns:p14="http://schemas.microsoft.com/office/powerpoint/2010/main" val="3308252765"/>
              </p:ext>
            </p:extLst>
          </p:nvPr>
        </p:nvGraphicFramePr>
        <p:xfrm>
          <a:off x="6195376" y="434759"/>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chemeClr val="tx1"/>
                          </a:solidFill>
                        </a:rPr>
                        <a:t>Fixed</a:t>
                      </a:r>
                      <a:endParaRPr lang="zh-CN" altLang="en-US" sz="105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r>
                        <a:rPr lang="en-US" altLang="zh-CN" sz="1050" u="none" strike="noStrike">
                          <a:effectLst/>
                        </a:rPr>
                        <a:t>3rd party</a:t>
                      </a:r>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3">
            <a:extLst>
              <a:ext uri="{FF2B5EF4-FFF2-40B4-BE49-F238E27FC236}">
                <a16:creationId xmlns:a16="http://schemas.microsoft.com/office/drawing/2014/main" id="{6D2099DF-194E-60C3-A0C9-2DE1354396A4}"/>
              </a:ext>
            </a:extLst>
          </p:cNvPr>
          <p:cNvGraphicFramePr>
            <a:graphicFrameLocks noGrp="1"/>
          </p:cNvGraphicFramePr>
          <p:nvPr>
            <p:extLst>
              <p:ext uri="{D42A27DB-BD31-4B8C-83A1-F6EECF244321}">
                <p14:modId xmlns:p14="http://schemas.microsoft.com/office/powerpoint/2010/main" val="2894632676"/>
              </p:ext>
            </p:extLst>
          </p:nvPr>
        </p:nvGraphicFramePr>
        <p:xfrm>
          <a:off x="6195376" y="3601947"/>
          <a:ext cx="5715527" cy="951098"/>
        </p:xfrm>
        <a:graphic>
          <a:graphicData uri="http://schemas.openxmlformats.org/drawingml/2006/table">
            <a:tbl>
              <a:tblPr/>
              <a:tblGrid>
                <a:gridCol w="426930">
                  <a:extLst>
                    <a:ext uri="{9D8B030D-6E8A-4147-A177-3AD203B41FA5}">
                      <a16:colId xmlns:a16="http://schemas.microsoft.com/office/drawing/2014/main" val="495084399"/>
                    </a:ext>
                  </a:extLst>
                </a:gridCol>
                <a:gridCol w="244694">
                  <a:extLst>
                    <a:ext uri="{9D8B030D-6E8A-4147-A177-3AD203B41FA5}">
                      <a16:colId xmlns:a16="http://schemas.microsoft.com/office/drawing/2014/main" val="3614210242"/>
                    </a:ext>
                  </a:extLst>
                </a:gridCol>
                <a:gridCol w="609692">
                  <a:extLst>
                    <a:ext uri="{9D8B030D-6E8A-4147-A177-3AD203B41FA5}">
                      <a16:colId xmlns:a16="http://schemas.microsoft.com/office/drawing/2014/main" val="1442124609"/>
                    </a:ext>
                  </a:extLst>
                </a:gridCol>
                <a:gridCol w="1920475">
                  <a:extLst>
                    <a:ext uri="{9D8B030D-6E8A-4147-A177-3AD203B41FA5}">
                      <a16:colId xmlns:a16="http://schemas.microsoft.com/office/drawing/2014/main" val="3603859997"/>
                    </a:ext>
                  </a:extLst>
                </a:gridCol>
                <a:gridCol w="418956">
                  <a:extLst>
                    <a:ext uri="{9D8B030D-6E8A-4147-A177-3AD203B41FA5}">
                      <a16:colId xmlns:a16="http://schemas.microsoft.com/office/drawing/2014/main" val="4076488391"/>
                    </a:ext>
                  </a:extLst>
                </a:gridCol>
                <a:gridCol w="418956">
                  <a:extLst>
                    <a:ext uri="{9D8B030D-6E8A-4147-A177-3AD203B41FA5}">
                      <a16:colId xmlns:a16="http://schemas.microsoft.com/office/drawing/2014/main" val="3254101706"/>
                    </a:ext>
                  </a:extLst>
                </a:gridCol>
                <a:gridCol w="418956">
                  <a:extLst>
                    <a:ext uri="{9D8B030D-6E8A-4147-A177-3AD203B41FA5}">
                      <a16:colId xmlns:a16="http://schemas.microsoft.com/office/drawing/2014/main" val="3712391277"/>
                    </a:ext>
                  </a:extLst>
                </a:gridCol>
                <a:gridCol w="418956">
                  <a:extLst>
                    <a:ext uri="{9D8B030D-6E8A-4147-A177-3AD203B41FA5}">
                      <a16:colId xmlns:a16="http://schemas.microsoft.com/office/drawing/2014/main" val="2527660299"/>
                    </a:ext>
                  </a:extLst>
                </a:gridCol>
                <a:gridCol w="418956">
                  <a:extLst>
                    <a:ext uri="{9D8B030D-6E8A-4147-A177-3AD203B41FA5}">
                      <a16:colId xmlns:a16="http://schemas.microsoft.com/office/drawing/2014/main" val="3641075278"/>
                    </a:ext>
                  </a:extLst>
                </a:gridCol>
                <a:gridCol w="418956">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4" name="表格 4">
            <a:extLst>
              <a:ext uri="{FF2B5EF4-FFF2-40B4-BE49-F238E27FC236}">
                <a16:creationId xmlns:a16="http://schemas.microsoft.com/office/drawing/2014/main" id="{6819AA80-A79D-A680-0EA1-36ADDA5C8223}"/>
              </a:ext>
            </a:extLst>
          </p:cNvPr>
          <p:cNvGraphicFramePr>
            <a:graphicFrameLocks noGrp="1"/>
          </p:cNvGraphicFramePr>
          <p:nvPr>
            <p:extLst>
              <p:ext uri="{D42A27DB-BD31-4B8C-83A1-F6EECF244321}">
                <p14:modId xmlns:p14="http://schemas.microsoft.com/office/powerpoint/2010/main" val="2766134357"/>
              </p:ext>
            </p:extLst>
          </p:nvPr>
        </p:nvGraphicFramePr>
        <p:xfrm>
          <a:off x="6177201" y="4891508"/>
          <a:ext cx="5733704" cy="1077159"/>
        </p:xfrm>
        <a:graphic>
          <a:graphicData uri="http://schemas.openxmlformats.org/drawingml/2006/table">
            <a:tbl>
              <a:tblPr/>
              <a:tblGrid>
                <a:gridCol w="427331">
                  <a:extLst>
                    <a:ext uri="{9D8B030D-6E8A-4147-A177-3AD203B41FA5}">
                      <a16:colId xmlns:a16="http://schemas.microsoft.com/office/drawing/2014/main" val="495084399"/>
                    </a:ext>
                  </a:extLst>
                </a:gridCol>
                <a:gridCol w="244253">
                  <a:extLst>
                    <a:ext uri="{9D8B030D-6E8A-4147-A177-3AD203B41FA5}">
                      <a16:colId xmlns:a16="http://schemas.microsoft.com/office/drawing/2014/main" val="3614210242"/>
                    </a:ext>
                  </a:extLst>
                </a:gridCol>
                <a:gridCol w="562712">
                  <a:extLst>
                    <a:ext uri="{9D8B030D-6E8A-4147-A177-3AD203B41FA5}">
                      <a16:colId xmlns:a16="http://schemas.microsoft.com/office/drawing/2014/main" val="1442124609"/>
                    </a:ext>
                  </a:extLst>
                </a:gridCol>
                <a:gridCol w="1901756">
                  <a:extLst>
                    <a:ext uri="{9D8B030D-6E8A-4147-A177-3AD203B41FA5}">
                      <a16:colId xmlns:a16="http://schemas.microsoft.com/office/drawing/2014/main" val="3603859997"/>
                    </a:ext>
                  </a:extLst>
                </a:gridCol>
                <a:gridCol w="432942">
                  <a:extLst>
                    <a:ext uri="{9D8B030D-6E8A-4147-A177-3AD203B41FA5}">
                      <a16:colId xmlns:a16="http://schemas.microsoft.com/office/drawing/2014/main" val="4076488391"/>
                    </a:ext>
                  </a:extLst>
                </a:gridCol>
                <a:gridCol w="432942">
                  <a:extLst>
                    <a:ext uri="{9D8B030D-6E8A-4147-A177-3AD203B41FA5}">
                      <a16:colId xmlns:a16="http://schemas.microsoft.com/office/drawing/2014/main" val="3254101706"/>
                    </a:ext>
                  </a:extLst>
                </a:gridCol>
                <a:gridCol w="432942">
                  <a:extLst>
                    <a:ext uri="{9D8B030D-6E8A-4147-A177-3AD203B41FA5}">
                      <a16:colId xmlns:a16="http://schemas.microsoft.com/office/drawing/2014/main" val="3712391277"/>
                    </a:ext>
                  </a:extLst>
                </a:gridCol>
                <a:gridCol w="432942">
                  <a:extLst>
                    <a:ext uri="{9D8B030D-6E8A-4147-A177-3AD203B41FA5}">
                      <a16:colId xmlns:a16="http://schemas.microsoft.com/office/drawing/2014/main" val="2527660299"/>
                    </a:ext>
                  </a:extLst>
                </a:gridCol>
                <a:gridCol w="432942">
                  <a:extLst>
                    <a:ext uri="{9D8B030D-6E8A-4147-A177-3AD203B41FA5}">
                      <a16:colId xmlns:a16="http://schemas.microsoft.com/office/drawing/2014/main" val="3641075278"/>
                    </a:ext>
                  </a:extLst>
                </a:gridCol>
                <a:gridCol w="432942">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HK24</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bl>
          </a:graphicData>
        </a:graphic>
      </p:graphicFrame>
      <p:graphicFrame>
        <p:nvGraphicFramePr>
          <p:cNvPr id="9" name="表格 9">
            <a:extLst>
              <a:ext uri="{FF2B5EF4-FFF2-40B4-BE49-F238E27FC236}">
                <a16:creationId xmlns:a16="http://schemas.microsoft.com/office/drawing/2014/main" id="{1BFD2E48-3614-FC5C-F460-FCFE5E21F97C}"/>
              </a:ext>
            </a:extLst>
          </p:cNvPr>
          <p:cNvGraphicFramePr>
            <a:graphicFrameLocks noGrp="1"/>
          </p:cNvGraphicFramePr>
          <p:nvPr>
            <p:extLst>
              <p:ext uri="{D42A27DB-BD31-4B8C-83A1-F6EECF244321}">
                <p14:modId xmlns:p14="http://schemas.microsoft.com/office/powerpoint/2010/main" val="1644306385"/>
              </p:ext>
            </p:extLst>
          </p:nvPr>
        </p:nvGraphicFramePr>
        <p:xfrm>
          <a:off x="6195376" y="1732968"/>
          <a:ext cx="5715531" cy="1730440"/>
        </p:xfrm>
        <a:graphic>
          <a:graphicData uri="http://schemas.openxmlformats.org/drawingml/2006/table">
            <a:tbl>
              <a:tblPr/>
              <a:tblGrid>
                <a:gridCol w="488004">
                  <a:extLst>
                    <a:ext uri="{9D8B030D-6E8A-4147-A177-3AD203B41FA5}">
                      <a16:colId xmlns:a16="http://schemas.microsoft.com/office/drawing/2014/main" val="495084399"/>
                    </a:ext>
                  </a:extLst>
                </a:gridCol>
                <a:gridCol w="255559">
                  <a:extLst>
                    <a:ext uri="{9D8B030D-6E8A-4147-A177-3AD203B41FA5}">
                      <a16:colId xmlns:a16="http://schemas.microsoft.com/office/drawing/2014/main" val="3614210242"/>
                    </a:ext>
                  </a:extLst>
                </a:gridCol>
                <a:gridCol w="608198">
                  <a:extLst>
                    <a:ext uri="{9D8B030D-6E8A-4147-A177-3AD203B41FA5}">
                      <a16:colId xmlns:a16="http://schemas.microsoft.com/office/drawing/2014/main" val="1442124609"/>
                    </a:ext>
                  </a:extLst>
                </a:gridCol>
                <a:gridCol w="1950480">
                  <a:extLst>
                    <a:ext uri="{9D8B030D-6E8A-4147-A177-3AD203B41FA5}">
                      <a16:colId xmlns:a16="http://schemas.microsoft.com/office/drawing/2014/main" val="3603859997"/>
                    </a:ext>
                  </a:extLst>
                </a:gridCol>
                <a:gridCol w="402215">
                  <a:extLst>
                    <a:ext uri="{9D8B030D-6E8A-4147-A177-3AD203B41FA5}">
                      <a16:colId xmlns:a16="http://schemas.microsoft.com/office/drawing/2014/main" val="4076488391"/>
                    </a:ext>
                  </a:extLst>
                </a:gridCol>
                <a:gridCol w="402215">
                  <a:extLst>
                    <a:ext uri="{9D8B030D-6E8A-4147-A177-3AD203B41FA5}">
                      <a16:colId xmlns:a16="http://schemas.microsoft.com/office/drawing/2014/main" val="3254101706"/>
                    </a:ext>
                  </a:extLst>
                </a:gridCol>
                <a:gridCol w="402215">
                  <a:extLst>
                    <a:ext uri="{9D8B030D-6E8A-4147-A177-3AD203B41FA5}">
                      <a16:colId xmlns:a16="http://schemas.microsoft.com/office/drawing/2014/main" val="3712391277"/>
                    </a:ext>
                  </a:extLst>
                </a:gridCol>
                <a:gridCol w="402215">
                  <a:extLst>
                    <a:ext uri="{9D8B030D-6E8A-4147-A177-3AD203B41FA5}">
                      <a16:colId xmlns:a16="http://schemas.microsoft.com/office/drawing/2014/main" val="2527660299"/>
                    </a:ext>
                  </a:extLst>
                </a:gridCol>
                <a:gridCol w="402215">
                  <a:extLst>
                    <a:ext uri="{9D8B030D-6E8A-4147-A177-3AD203B41FA5}">
                      <a16:colId xmlns:a16="http://schemas.microsoft.com/office/drawing/2014/main" val="3641075278"/>
                    </a:ext>
                  </a:extLst>
                </a:gridCol>
                <a:gridCol w="402215">
                  <a:extLst>
                    <a:ext uri="{9D8B030D-6E8A-4147-A177-3AD203B41FA5}">
                      <a16:colId xmlns:a16="http://schemas.microsoft.com/office/drawing/2014/main" val="3618613915"/>
                    </a:ext>
                  </a:extLst>
                </a:gridCol>
              </a:tblGrid>
              <a:tr h="0">
                <a:tc rowSpan="9">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64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9264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9264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chemeClr val="tx1"/>
                          </a:solidFill>
                          <a:effectLst/>
                          <a:latin typeface="+mn-lt"/>
                        </a:rPr>
                        <a:t>Lease Receivable (3PO)</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45299611"/>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723639438"/>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97566895"/>
                  </a:ext>
                </a:extLst>
              </a:tr>
              <a:tr h="19264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25989593"/>
                  </a:ext>
                </a:extLst>
              </a:tr>
            </a:tbl>
          </a:graphicData>
        </a:graphic>
      </p:graphicFrame>
      <p:sp>
        <p:nvSpPr>
          <p:cNvPr id="6" name="文本框 27">
            <a:extLst>
              <a:ext uri="{FF2B5EF4-FFF2-40B4-BE49-F238E27FC236}">
                <a16:creationId xmlns:a16="http://schemas.microsoft.com/office/drawing/2014/main" id="{A169F829-E313-3149-8E04-BA20652141C2}"/>
              </a:ext>
            </a:extLst>
          </p:cNvPr>
          <p:cNvSpPr txBox="1"/>
          <p:nvPr/>
        </p:nvSpPr>
        <p:spPr>
          <a:xfrm>
            <a:off x="40260" y="-30679"/>
            <a:ext cx="4470947" cy="400110"/>
          </a:xfrm>
          <a:prstGeom prst="rect">
            <a:avLst/>
          </a:prstGeom>
          <a:noFill/>
        </p:spPr>
        <p:txBody>
          <a:bodyPr wrap="square" rtlCol="0">
            <a:spAutoFit/>
          </a:bodyPr>
          <a:lstStyle/>
          <a:p>
            <a:r>
              <a:rPr lang="nl-NL" altLang="zh-CN" sz="2000" b="1"/>
              <a:t>ISGLEASE_AFE HUB_MLA</a:t>
            </a:r>
            <a:endParaRPr lang="zh-CN" altLang="en-US" sz="2000" b="1"/>
          </a:p>
        </p:txBody>
      </p:sp>
      <p:sp>
        <p:nvSpPr>
          <p:cNvPr id="11" name="矩形 10">
            <a:extLst>
              <a:ext uri="{FF2B5EF4-FFF2-40B4-BE49-F238E27FC236}">
                <a16:creationId xmlns:a16="http://schemas.microsoft.com/office/drawing/2014/main" id="{E03B5ABE-3C7C-2283-531E-6604F7A85AAD}"/>
              </a:ext>
            </a:extLst>
          </p:cNvPr>
          <p:cNvSpPr/>
          <p:nvPr/>
        </p:nvSpPr>
        <p:spPr>
          <a:xfrm>
            <a:off x="344278" y="6134427"/>
            <a:ext cx="5091193" cy="345405"/>
          </a:xfrm>
          <a:prstGeom prst="rect">
            <a:avLst/>
          </a:prstGeom>
          <a:no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altLang="zh-CN" sz="1200"/>
              <a:t>* For accounting treatments in other scenarios, please refer to the AFE model.</a:t>
            </a:r>
            <a:endParaRPr lang="zh-CN" altLang="en-US" sz="1200" kern="0">
              <a:solidFill>
                <a:sysClr val="windowText" lastClr="000000"/>
              </a:solidFill>
              <a:latin typeface="+mj-lt"/>
            </a:endParaRPr>
          </a:p>
        </p:txBody>
      </p:sp>
    </p:spTree>
    <p:extLst>
      <p:ext uri="{BB962C8B-B14F-4D97-AF65-F5344CB8AC3E}">
        <p14:creationId xmlns:p14="http://schemas.microsoft.com/office/powerpoint/2010/main" val="405213519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180891-16AA-3532-EEC8-AE964937FFD7}"/>
            </a:ext>
          </a:extLst>
        </p:cNvPr>
        <p:cNvGrpSpPr/>
        <p:nvPr/>
      </p:nvGrpSpPr>
      <p:grpSpPr>
        <a:xfrm>
          <a:off x="0" y="0"/>
          <a:ext cx="0" cy="0"/>
          <a:chOff x="0" y="0"/>
          <a:chExt cx="0" cy="0"/>
        </a:xfrm>
      </p:grpSpPr>
      <p:graphicFrame>
        <p:nvGraphicFramePr>
          <p:cNvPr id="4" name="表格 17">
            <a:extLst>
              <a:ext uri="{FF2B5EF4-FFF2-40B4-BE49-F238E27FC236}">
                <a16:creationId xmlns:a16="http://schemas.microsoft.com/office/drawing/2014/main" id="{2F756298-91FA-4DE5-F9BF-7FF960297366}"/>
              </a:ext>
            </a:extLst>
          </p:cNvPr>
          <p:cNvGraphicFramePr>
            <a:graphicFrameLocks noGrp="1"/>
          </p:cNvGraphicFramePr>
          <p:nvPr>
            <p:extLst>
              <p:ext uri="{D42A27DB-BD31-4B8C-83A1-F6EECF244321}">
                <p14:modId xmlns:p14="http://schemas.microsoft.com/office/powerpoint/2010/main" val="3662517010"/>
              </p:ext>
            </p:extLst>
          </p:nvPr>
        </p:nvGraphicFramePr>
        <p:xfrm>
          <a:off x="239688" y="744279"/>
          <a:ext cx="11225024" cy="5611985"/>
        </p:xfrm>
        <a:graphic>
          <a:graphicData uri="http://schemas.openxmlformats.org/drawingml/2006/table">
            <a:tbl>
              <a:tblPr>
                <a:tableStyleId>{5C22544A-7EE6-4342-B048-85BDC9FD1C3A}</a:tableStyleId>
              </a:tblPr>
              <a:tblGrid>
                <a:gridCol w="588441">
                  <a:extLst>
                    <a:ext uri="{9D8B030D-6E8A-4147-A177-3AD203B41FA5}">
                      <a16:colId xmlns:a16="http://schemas.microsoft.com/office/drawing/2014/main" val="4000147225"/>
                    </a:ext>
                  </a:extLst>
                </a:gridCol>
                <a:gridCol w="688454">
                  <a:extLst>
                    <a:ext uri="{9D8B030D-6E8A-4147-A177-3AD203B41FA5}">
                      <a16:colId xmlns:a16="http://schemas.microsoft.com/office/drawing/2014/main" val="3461385236"/>
                    </a:ext>
                  </a:extLst>
                </a:gridCol>
                <a:gridCol w="993734">
                  <a:extLst>
                    <a:ext uri="{9D8B030D-6E8A-4147-A177-3AD203B41FA5}">
                      <a16:colId xmlns:a16="http://schemas.microsoft.com/office/drawing/2014/main" val="483276459"/>
                    </a:ext>
                  </a:extLst>
                </a:gridCol>
                <a:gridCol w="851471">
                  <a:extLst>
                    <a:ext uri="{9D8B030D-6E8A-4147-A177-3AD203B41FA5}">
                      <a16:colId xmlns:a16="http://schemas.microsoft.com/office/drawing/2014/main" val="3787700465"/>
                    </a:ext>
                  </a:extLst>
                </a:gridCol>
                <a:gridCol w="701897">
                  <a:extLst>
                    <a:ext uri="{9D8B030D-6E8A-4147-A177-3AD203B41FA5}">
                      <a16:colId xmlns:a16="http://schemas.microsoft.com/office/drawing/2014/main" val="2232385994"/>
                    </a:ext>
                  </a:extLst>
                </a:gridCol>
                <a:gridCol w="515416">
                  <a:extLst>
                    <a:ext uri="{9D8B030D-6E8A-4147-A177-3AD203B41FA5}">
                      <a16:colId xmlns:a16="http://schemas.microsoft.com/office/drawing/2014/main" val="2624620257"/>
                    </a:ext>
                  </a:extLst>
                </a:gridCol>
                <a:gridCol w="808725">
                  <a:extLst>
                    <a:ext uri="{9D8B030D-6E8A-4147-A177-3AD203B41FA5}">
                      <a16:colId xmlns:a16="http://schemas.microsoft.com/office/drawing/2014/main" val="109940872"/>
                    </a:ext>
                  </a:extLst>
                </a:gridCol>
                <a:gridCol w="688454">
                  <a:extLst>
                    <a:ext uri="{9D8B030D-6E8A-4147-A177-3AD203B41FA5}">
                      <a16:colId xmlns:a16="http://schemas.microsoft.com/office/drawing/2014/main" val="2389772416"/>
                    </a:ext>
                  </a:extLst>
                </a:gridCol>
                <a:gridCol w="657042">
                  <a:extLst>
                    <a:ext uri="{9D8B030D-6E8A-4147-A177-3AD203B41FA5}">
                      <a16:colId xmlns:a16="http://schemas.microsoft.com/office/drawing/2014/main" val="874425061"/>
                    </a:ext>
                  </a:extLst>
                </a:gridCol>
                <a:gridCol w="856826">
                  <a:extLst>
                    <a:ext uri="{9D8B030D-6E8A-4147-A177-3AD203B41FA5}">
                      <a16:colId xmlns:a16="http://schemas.microsoft.com/office/drawing/2014/main" val="1465838711"/>
                    </a:ext>
                  </a:extLst>
                </a:gridCol>
                <a:gridCol w="2091804">
                  <a:extLst>
                    <a:ext uri="{9D8B030D-6E8A-4147-A177-3AD203B41FA5}">
                      <a16:colId xmlns:a16="http://schemas.microsoft.com/office/drawing/2014/main" val="2517919499"/>
                    </a:ext>
                  </a:extLst>
                </a:gridCol>
                <a:gridCol w="1782760">
                  <a:extLst>
                    <a:ext uri="{9D8B030D-6E8A-4147-A177-3AD203B41FA5}">
                      <a16:colId xmlns:a16="http://schemas.microsoft.com/office/drawing/2014/main" val="2358262028"/>
                    </a:ext>
                  </a:extLst>
                </a:gridCol>
              </a:tblGrid>
              <a:tr h="601273">
                <a:tc>
                  <a:txBody>
                    <a:bodyPr/>
                    <a:lstStyle/>
                    <a:p>
                      <a:pPr algn="l" fontAlgn="b"/>
                      <a:r>
                        <a:rPr lang="en-US" sz="1000" b="1" u="none" strike="noStrike">
                          <a:effectLst/>
                        </a:rPr>
                        <a:t>1.Offering</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2. Business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3.Contract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4.Charge 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5. RTM</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6. Lease </a:t>
                      </a:r>
                    </a:p>
                    <a:p>
                      <a:pPr algn="l" fontAlgn="b"/>
                      <a:r>
                        <a:rPr lang="en-US" sz="1000" b="1" u="none" strike="noStrike">
                          <a:effectLst/>
                        </a:rPr>
                        <a:t>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7. Billing Type</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8. Funding </a:t>
                      </a:r>
                    </a:p>
                    <a:p>
                      <a:pPr algn="l" fontAlgn="b"/>
                      <a:r>
                        <a:rPr lang="en-US" sz="1000" b="1" u="none" strike="noStrike">
                          <a:effectLst/>
                        </a:rPr>
                        <a:t>Model</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9. Product Ctgry</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i="0" u="none" strike="noStrike">
                          <a:solidFill>
                            <a:srgbClr val="000000"/>
                          </a:solidFill>
                          <a:effectLst/>
                          <a:latin typeface="等线" panose="02010600030101010101" pitchFamily="2" charset="-122"/>
                          <a:ea typeface="等线" panose="02010600030101010101" pitchFamily="2" charset="-122"/>
                        </a:rPr>
                        <a:t>10. Fulfillment Method</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11. Events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tc>
                  <a:txBody>
                    <a:bodyPr/>
                    <a:lstStyle/>
                    <a:p>
                      <a:pPr algn="l" fontAlgn="b"/>
                      <a:r>
                        <a:rPr lang="en-US" sz="1000" b="1" u="none" strike="noStrike">
                          <a:effectLst/>
                        </a:rPr>
                        <a:t>12. Offering Elements</a:t>
                      </a:r>
                      <a:endParaRPr lang="en-US" sz="1000" b="1"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1316032673"/>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kern="1200">
                          <a:solidFill>
                            <a:schemeClr val="dk1"/>
                          </a:solidFill>
                          <a:effectLst/>
                          <a:latin typeface="+mn-lt"/>
                          <a:ea typeface="+mn-ea"/>
                          <a:cs typeface="+mn-cs"/>
                        </a:rPr>
                        <a:t>2.1 AFE</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3.1 MSA</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4.1 Fixed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5.1 Direct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6.1 OL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7.1 Monthly</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8.1 Internal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9.1 Lenovo</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kern="1200">
                          <a:solidFill>
                            <a:schemeClr val="dk1"/>
                          </a:solidFill>
                          <a:effectLst/>
                          <a:latin typeface="+mn-lt"/>
                          <a:ea typeface="+mn-ea"/>
                          <a:cs typeface="+mn-cs"/>
                        </a:rPr>
                        <a:t>Lenovo</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 Normal Pass </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12.2 SW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5508739"/>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2.2 S&amp;D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kern="1200">
                          <a:solidFill>
                            <a:schemeClr val="dk1"/>
                          </a:solidFill>
                          <a:effectLst/>
                          <a:latin typeface="+mn-lt"/>
                          <a:ea typeface="+mn-ea"/>
                          <a:cs typeface="+mn-cs"/>
                        </a:rPr>
                        <a:t>4.2 Consumption</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u="none" strike="noStrike" kern="1200">
                        <a:solidFill>
                          <a:schemeClr val="dk1"/>
                        </a:solidFill>
                        <a:effectLst/>
                        <a:latin typeface="+mn-lt"/>
                        <a:ea typeface="+mn-ea"/>
                        <a:cs typeface="+mn-cs"/>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6.2 FL</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noStrike" kern="1200">
                          <a:solidFill>
                            <a:schemeClr val="dk1"/>
                          </a:solidFill>
                          <a:effectLst/>
                          <a:latin typeface="+mn-lt"/>
                          <a:ea typeface="+mn-ea"/>
                          <a:cs typeface="+mn-cs"/>
                        </a:rPr>
                        <a:t>7.2 Quarterly</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u="none" strike="dblStrike" kern="1200" baseline="0">
                        <a:solidFill>
                          <a:srgbClr val="FF0000"/>
                        </a:solidFill>
                        <a:effectLst/>
                        <a:highlight>
                          <a:srgbClr val="FFFF00"/>
                        </a:highlight>
                        <a:latin typeface="+mn-lt"/>
                        <a:ea typeface="+mn-ea"/>
                        <a:cs typeface="+mn-cs"/>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11.2 EOT -termination</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12.3 SVC - upfront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4318484"/>
                  </a:ext>
                </a:extLst>
              </a:tr>
              <a:tr h="312929">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US" sz="1000" u="none" strike="noStrike">
                          <a:effectLst/>
                        </a:rPr>
                        <a:t>1.3IaaS</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US" altLang="zh-CN" sz="1000" u="none" strike="noStrike" kern="1200">
                          <a:solidFill>
                            <a:schemeClr val="dk1"/>
                          </a:solidFill>
                          <a:effectLst/>
                          <a:latin typeface="+mn-lt"/>
                          <a:ea typeface="+mn-ea"/>
                          <a:cs typeface="+mn-cs"/>
                        </a:rPr>
                        <a:t>2.3 AFE HUB(M1a)</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kern="1200">
                          <a:solidFill>
                            <a:schemeClr val="dk1"/>
                          </a:solidFill>
                          <a:effectLst/>
                          <a:latin typeface="+mn-lt"/>
                          <a:ea typeface="+mn-ea"/>
                          <a:cs typeface="+mn-cs"/>
                        </a:rPr>
                        <a:t>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kern="1200">
                          <a:solidFill>
                            <a:schemeClr val="dk1"/>
                          </a:solidFill>
                          <a:effectLst/>
                          <a:latin typeface="+mn-lt"/>
                          <a:ea typeface="+mn-ea"/>
                          <a:cs typeface="+mn-cs"/>
                        </a:rPr>
                        <a:t>11.3 Early termination-</a:t>
                      </a:r>
                    </a:p>
                    <a:p>
                      <a:pPr algn="l" fontAlgn="b"/>
                      <a:r>
                        <a:rPr lang="en-US" sz="1000" u="none" strike="noStrike" kern="1200">
                          <a:solidFill>
                            <a:schemeClr val="dk1"/>
                          </a:solidFill>
                          <a:effectLst/>
                          <a:latin typeface="+mn-lt"/>
                          <a:ea typeface="+mn-ea"/>
                          <a:cs typeface="+mn-cs"/>
                        </a:rPr>
                        <a:t>Device Return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12.4 SVC - upfront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6459778"/>
                  </a:ext>
                </a:extLst>
              </a:tr>
              <a:tr h="312929">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kern="1200">
                          <a:solidFill>
                            <a:schemeClr val="dk1"/>
                          </a:solidFill>
                          <a:effectLst/>
                          <a:latin typeface="+mn-lt"/>
                          <a:ea typeface="+mn-ea"/>
                          <a:cs typeface="+mn-cs"/>
                        </a:rPr>
                        <a:t>11.4 Early termination-</a:t>
                      </a:r>
                    </a:p>
                    <a:p>
                      <a:pPr algn="l" fontAlgn="b"/>
                      <a:r>
                        <a:rPr lang="en-US" sz="1000" u="none" strike="noStrike" kern="1200">
                          <a:solidFill>
                            <a:schemeClr val="dk1"/>
                          </a:solidFill>
                          <a:effectLst/>
                          <a:latin typeface="+mn-lt"/>
                          <a:ea typeface="+mn-ea"/>
                          <a:cs typeface="+mn-cs"/>
                        </a:rPr>
                        <a:t>Device Lost/Stolen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altLang="zh-Hans" sz="1000" u="none" strike="noStrike">
                          <a:effectLst/>
                        </a:rPr>
                        <a:t>12.5 SVC - upfront - not funded (one</a:t>
                      </a:r>
                      <a:r>
                        <a:rPr lang="zh-CN" altLang="en-US" sz="1000" u="none" strike="noStrike">
                          <a:effectLst/>
                        </a:rPr>
                        <a:t> </a:t>
                      </a:r>
                      <a:r>
                        <a:rPr lang="en-US" altLang="zh-Hans" sz="1000" u="none" strike="noStrike">
                          <a:effectLst/>
                        </a:rPr>
                        <a:t>time)</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766259"/>
                  </a:ext>
                </a:extLst>
              </a:tr>
              <a:tr h="343825">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sngStrike" kern="1200">
                          <a:solidFill>
                            <a:schemeClr val="dk1"/>
                          </a:solidFill>
                          <a:effectLst/>
                          <a:highlight>
                            <a:srgbClr val="D1D1D1"/>
                          </a:highlight>
                          <a:latin typeface="+mn-lt"/>
                          <a:ea typeface="+mn-ea"/>
                          <a:cs typeface="+mn-cs"/>
                        </a:rPr>
                        <a:t>11.5 Extension auto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12.6 SVC - on-going – funded</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7547337"/>
                  </a:ext>
                </a:extLst>
              </a:tr>
              <a:tr h="343825">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sngStrike" kern="1200">
                          <a:solidFill>
                            <a:schemeClr val="dk1"/>
                          </a:solidFill>
                          <a:effectLst/>
                          <a:highlight>
                            <a:srgbClr val="D1D1D1"/>
                          </a:highlight>
                          <a:latin typeface="+mn-lt"/>
                          <a:ea typeface="+mn-ea"/>
                          <a:cs typeface="+mn-cs"/>
                        </a:rPr>
                        <a:t>11.6 Extension with (fix/open)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12.7 SVC - on-going - not funded (recurring)</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8007518"/>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11.7 Flex pause/un-pause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endParaRPr lang="en-US" sz="1000" u="none" strike="sngStrike" kern="1200">
                        <a:solidFill>
                          <a:schemeClr val="dk1"/>
                        </a:solidFill>
                        <a:effectLst/>
                        <a:highlight>
                          <a:srgbClr val="D1D1D1"/>
                        </a:highlight>
                        <a:latin typeface="+mn-lt"/>
                        <a:ea typeface="+mn-ea"/>
                        <a:cs typeface="+mn-cs"/>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963629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11.8 Flex down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6895235"/>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11.9 Swap stock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highlight>
                          <a:srgbClr val="00FFFF"/>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50104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11.10 Damage fund/charge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8670641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11.11 SOR with Recourse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2673700"/>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sngStrike">
                          <a:effectLst/>
                          <a:highlight>
                            <a:srgbClr val="D1D1D1"/>
                          </a:highlight>
                        </a:rPr>
                        <a:t>11.12 SOR with non-Recourse </a:t>
                      </a:r>
                      <a:endPar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139168"/>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l" defTabSz="914400" rtl="0" eaLnBrk="1" fontAlgn="b" latinLnBrk="0" hangingPunct="1"/>
                      <a:r>
                        <a:rPr lang="en-US" sz="1000" u="none" strike="sngStrike" kern="1200">
                          <a:solidFill>
                            <a:schemeClr val="dk1"/>
                          </a:solidFill>
                          <a:effectLst/>
                          <a:highlight>
                            <a:srgbClr val="D1D1D1"/>
                          </a:highlight>
                          <a:latin typeface="+mn-lt"/>
                          <a:ea typeface="+mn-ea"/>
                          <a:cs typeface="+mn-cs"/>
                        </a:rPr>
                        <a:t>11.13 Syndication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21501152"/>
                  </a:ext>
                </a:extLst>
              </a:tr>
              <a:tr h="312929">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b="0" i="0" u="none" strike="sngStrike">
                          <a:solidFill>
                            <a:srgbClr val="000000"/>
                          </a:solidFill>
                          <a:effectLst/>
                          <a:highlight>
                            <a:srgbClr val="D1D1D1"/>
                          </a:highlight>
                          <a:latin typeface="等线" panose="02010600030101010101" pitchFamily="2" charset="-122"/>
                          <a:ea typeface="等线" panose="02010600030101010101" pitchFamily="2" charset="-122"/>
                        </a:rPr>
                        <a:t>11.14 Asset Remarketing </a:t>
                      </a: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6222521"/>
                  </a:ext>
                </a:extLst>
              </a:tr>
              <a:tr h="567914">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000" u="none" strike="noStrike">
                          <a:effectLst/>
                        </a:rPr>
                        <a:t>11.15 Manual adjustment – </a:t>
                      </a:r>
                    </a:p>
                    <a:p>
                      <a:pPr algn="l" fontAlgn="b"/>
                      <a:r>
                        <a:rPr lang="en-US" sz="1000" u="none" strike="noStrike">
                          <a:effectLst/>
                        </a:rPr>
                        <a:t>Credit /Debit Memo,Cancellation</a:t>
                      </a:r>
                    </a:p>
                    <a:p>
                      <a:pPr algn="l" fontAlgn="b"/>
                      <a:r>
                        <a:rPr lang="en-US" sz="1000" u="none" strike="noStrike">
                          <a:effectLst/>
                        </a:rPr>
                        <a:t>/Reverse</a:t>
                      </a:r>
                      <a:endParaRPr 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zh-Hans" altLang="en-US" sz="1000" u="none" strike="noStrike">
                          <a:effectLst/>
                        </a:rPr>
                        <a:t> </a:t>
                      </a:r>
                      <a:endParaRPr lang="zh-Hans" altLang="en-US" sz="1000" b="0" i="0" u="none" strike="noStrike">
                        <a:solidFill>
                          <a:srgbClr val="000000"/>
                        </a:solidFill>
                        <a:effectLst/>
                        <a:latin typeface="等线" panose="02010600030101010101" pitchFamily="2" charset="-122"/>
                        <a:ea typeface="等线" panose="02010600030101010101" pitchFamily="2" charset="-122"/>
                      </a:endParaRPr>
                    </a:p>
                  </a:txBody>
                  <a:tcPr marL="3708" marR="3708" marT="370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348367"/>
                  </a:ext>
                </a:extLst>
              </a:tr>
            </a:tbl>
          </a:graphicData>
        </a:graphic>
      </p:graphicFrame>
      <p:sp>
        <p:nvSpPr>
          <p:cNvPr id="5" name="文本框 16">
            <a:extLst>
              <a:ext uri="{FF2B5EF4-FFF2-40B4-BE49-F238E27FC236}">
                <a16:creationId xmlns:a16="http://schemas.microsoft.com/office/drawing/2014/main" id="{E97239E7-D985-7FE1-39C7-39E2FD1BC8F2}"/>
              </a:ext>
            </a:extLst>
          </p:cNvPr>
          <p:cNvSpPr txBox="1"/>
          <p:nvPr/>
        </p:nvSpPr>
        <p:spPr>
          <a:xfrm>
            <a:off x="195320" y="131113"/>
            <a:ext cx="4470947" cy="400110"/>
          </a:xfrm>
          <a:prstGeom prst="rect">
            <a:avLst/>
          </a:prstGeom>
          <a:noFill/>
        </p:spPr>
        <p:txBody>
          <a:bodyPr wrap="square" rtlCol="0">
            <a:spAutoFit/>
          </a:bodyPr>
          <a:lstStyle/>
          <a:p>
            <a:r>
              <a:rPr lang="nl-NL" altLang="zh-CN" sz="2000" b="1"/>
              <a:t>IaaS_S&amp;D_MSA</a:t>
            </a:r>
            <a:endParaRPr lang="zh-CN" altLang="en-US" sz="2000" b="1"/>
          </a:p>
        </p:txBody>
      </p:sp>
    </p:spTree>
    <p:extLst>
      <p:ext uri="{BB962C8B-B14F-4D97-AF65-F5344CB8AC3E}">
        <p14:creationId xmlns:p14="http://schemas.microsoft.com/office/powerpoint/2010/main" val="210157951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528DE8C-4F1C-EF3B-97FA-B8F8D4B62E76}"/>
            </a:ext>
          </a:extLst>
        </p:cNvPr>
        <p:cNvGrpSpPr/>
        <p:nvPr/>
      </p:nvGrpSpPr>
      <p:grpSpPr>
        <a:xfrm>
          <a:off x="0" y="0"/>
          <a:ext cx="0" cy="0"/>
          <a:chOff x="0" y="0"/>
          <a:chExt cx="0" cy="0"/>
        </a:xfrm>
      </p:grpSpPr>
      <p:grpSp>
        <p:nvGrpSpPr>
          <p:cNvPr id="118" name="组合 117">
            <a:extLst>
              <a:ext uri="{FF2B5EF4-FFF2-40B4-BE49-F238E27FC236}">
                <a16:creationId xmlns:a16="http://schemas.microsoft.com/office/drawing/2014/main" id="{B80EB183-27C0-6F4A-E565-F04319B364FE}"/>
              </a:ext>
            </a:extLst>
          </p:cNvPr>
          <p:cNvGrpSpPr/>
          <p:nvPr/>
        </p:nvGrpSpPr>
        <p:grpSpPr>
          <a:xfrm>
            <a:off x="297816" y="805518"/>
            <a:ext cx="11255055" cy="3623731"/>
            <a:chOff x="511301" y="67179"/>
            <a:chExt cx="11255055" cy="3623731"/>
          </a:xfrm>
        </p:grpSpPr>
        <p:grpSp>
          <p:nvGrpSpPr>
            <p:cNvPr id="45" name="组合 44">
              <a:extLst>
                <a:ext uri="{FF2B5EF4-FFF2-40B4-BE49-F238E27FC236}">
                  <a16:creationId xmlns:a16="http://schemas.microsoft.com/office/drawing/2014/main" id="{86BE242D-A050-B0B4-F73C-CB294E482F52}"/>
                </a:ext>
              </a:extLst>
            </p:cNvPr>
            <p:cNvGrpSpPr/>
            <p:nvPr/>
          </p:nvGrpSpPr>
          <p:grpSpPr>
            <a:xfrm>
              <a:off x="511301" y="855329"/>
              <a:ext cx="7200628" cy="1914930"/>
              <a:chOff x="530727" y="2355276"/>
              <a:chExt cx="10811873" cy="2330726"/>
            </a:xfrm>
          </p:grpSpPr>
          <p:pic>
            <p:nvPicPr>
              <p:cNvPr id="4" name="Graphic 20" descr="Badge 4 with solid fill">
                <a:extLst>
                  <a:ext uri="{FF2B5EF4-FFF2-40B4-BE49-F238E27FC236}">
                    <a16:creationId xmlns:a16="http://schemas.microsoft.com/office/drawing/2014/main" id="{0026C11E-AF8D-82FF-F699-AEFAD7C03F8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7295560" y="2430803"/>
                <a:ext cx="368399" cy="345594"/>
              </a:xfrm>
              <a:prstGeom prst="rect">
                <a:avLst/>
              </a:prstGeom>
            </p:spPr>
          </p:pic>
          <p:pic>
            <p:nvPicPr>
              <p:cNvPr id="5" name="Graphic 24" descr="Badge with solid fill">
                <a:extLst>
                  <a:ext uri="{FF2B5EF4-FFF2-40B4-BE49-F238E27FC236}">
                    <a16:creationId xmlns:a16="http://schemas.microsoft.com/office/drawing/2014/main" id="{258AC0E0-96F1-2083-3E79-547E97385E3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125094" y="2355276"/>
                <a:ext cx="368399" cy="345594"/>
              </a:xfrm>
              <a:prstGeom prst="rect">
                <a:avLst/>
              </a:prstGeom>
            </p:spPr>
          </p:pic>
          <p:pic>
            <p:nvPicPr>
              <p:cNvPr id="6" name="Graphic 26" descr="Badge 3 with solid fill">
                <a:extLst>
                  <a:ext uri="{FF2B5EF4-FFF2-40B4-BE49-F238E27FC236}">
                    <a16:creationId xmlns:a16="http://schemas.microsoft.com/office/drawing/2014/main" id="{B0FBAB6B-94A6-BBA3-7F90-C6AB1727FE3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229675" y="2385123"/>
                <a:ext cx="368399" cy="345594"/>
              </a:xfrm>
              <a:prstGeom prst="rect">
                <a:avLst/>
              </a:prstGeom>
            </p:spPr>
          </p:pic>
          <p:pic>
            <p:nvPicPr>
              <p:cNvPr id="7" name="Graphic 28" descr="Badge 5 with solid fill">
                <a:extLst>
                  <a:ext uri="{FF2B5EF4-FFF2-40B4-BE49-F238E27FC236}">
                    <a16:creationId xmlns:a16="http://schemas.microsoft.com/office/drawing/2014/main" id="{3B46A536-7675-20A5-1967-2F72C04C4613}"/>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4878" y="2421909"/>
                <a:ext cx="368399" cy="345594"/>
              </a:xfrm>
              <a:prstGeom prst="rect">
                <a:avLst/>
              </a:prstGeom>
            </p:spPr>
          </p:pic>
          <p:pic>
            <p:nvPicPr>
              <p:cNvPr id="8" name="Graphic 30" descr="Badge 1 with solid fill">
                <a:extLst>
                  <a:ext uri="{FF2B5EF4-FFF2-40B4-BE49-F238E27FC236}">
                    <a16:creationId xmlns:a16="http://schemas.microsoft.com/office/drawing/2014/main" id="{CAA9021D-F55D-2B08-0CB2-7487AD8937F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530727" y="2359275"/>
                <a:ext cx="368399" cy="345594"/>
              </a:xfrm>
              <a:prstGeom prst="rect">
                <a:avLst/>
              </a:prstGeom>
            </p:spPr>
          </p:pic>
          <p:sp>
            <p:nvSpPr>
              <p:cNvPr id="9" name="TextBox 88">
                <a:extLst>
                  <a:ext uri="{FF2B5EF4-FFF2-40B4-BE49-F238E27FC236}">
                    <a16:creationId xmlns:a16="http://schemas.microsoft.com/office/drawing/2014/main" id="{8DFA208F-2D9C-E4B3-A9F8-7284034D78D8}"/>
                  </a:ext>
                </a:extLst>
              </p:cNvPr>
              <p:cNvSpPr txBox="1"/>
              <p:nvPr/>
            </p:nvSpPr>
            <p:spPr>
              <a:xfrm>
                <a:off x="3359572" y="4191671"/>
                <a:ext cx="1446769"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SPS Cut-off date</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cxnSp>
            <p:nvCxnSpPr>
              <p:cNvPr id="11" name="Straight Arrow Connector 90">
                <a:extLst>
                  <a:ext uri="{FF2B5EF4-FFF2-40B4-BE49-F238E27FC236}">
                    <a16:creationId xmlns:a16="http://schemas.microsoft.com/office/drawing/2014/main" id="{B7900310-2E65-8A0F-81F2-F272CFA0D4C6}"/>
                  </a:ext>
                </a:extLst>
              </p:cNvPr>
              <p:cNvCxnSpPr>
                <a:cxnSpLocks/>
              </p:cNvCxnSpPr>
              <p:nvPr/>
            </p:nvCxnSpPr>
            <p:spPr>
              <a:xfrm flipV="1">
                <a:off x="1102536" y="3483852"/>
                <a:ext cx="10240064" cy="8070"/>
              </a:xfrm>
              <a:prstGeom prst="straightConnector1">
                <a:avLst/>
              </a:prstGeom>
              <a:noFill/>
              <a:ln>
                <a:headEnd type="oval"/>
                <a:tailEnd type="triangle"/>
              </a:ln>
            </p:spPr>
            <p:style>
              <a:lnRef idx="1">
                <a:schemeClr val="dk1"/>
              </a:lnRef>
              <a:fillRef idx="0">
                <a:schemeClr val="dk1"/>
              </a:fillRef>
              <a:effectRef idx="0">
                <a:schemeClr val="dk1"/>
              </a:effectRef>
              <a:fontRef idx="minor">
                <a:schemeClr val="tx1"/>
              </a:fontRef>
            </p:style>
          </p:cxnSp>
          <p:cxnSp>
            <p:nvCxnSpPr>
              <p:cNvPr id="12" name="Straight Connector 91">
                <a:extLst>
                  <a:ext uri="{FF2B5EF4-FFF2-40B4-BE49-F238E27FC236}">
                    <a16:creationId xmlns:a16="http://schemas.microsoft.com/office/drawing/2014/main" id="{54A99749-9028-0B89-FC19-F95A5A81AB16}"/>
                  </a:ext>
                </a:extLst>
              </p:cNvPr>
              <p:cNvCxnSpPr>
                <a:cxnSpLocks/>
              </p:cNvCxnSpPr>
              <p:nvPr/>
            </p:nvCxnSpPr>
            <p:spPr>
              <a:xfrm>
                <a:off x="1519341" y="3313430"/>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cxnSp>
            <p:nvCxnSpPr>
              <p:cNvPr id="13" name="Straight Connector 92">
                <a:extLst>
                  <a:ext uri="{FF2B5EF4-FFF2-40B4-BE49-F238E27FC236}">
                    <a16:creationId xmlns:a16="http://schemas.microsoft.com/office/drawing/2014/main" id="{1784C6BE-A98C-2278-55DD-AD46F05DAD36}"/>
                  </a:ext>
                </a:extLst>
              </p:cNvPr>
              <p:cNvCxnSpPr>
                <a:cxnSpLocks/>
              </p:cNvCxnSpPr>
              <p:nvPr/>
            </p:nvCxnSpPr>
            <p:spPr>
              <a:xfrm>
                <a:off x="4159066" y="3313430"/>
                <a:ext cx="0" cy="322640"/>
              </a:xfrm>
              <a:prstGeom prst="line">
                <a:avLst/>
              </a:prstGeom>
              <a:noFill/>
              <a:ln>
                <a:prstDash val="dash"/>
                <a:tailEnd type="none"/>
              </a:ln>
            </p:spPr>
            <p:style>
              <a:lnRef idx="1">
                <a:schemeClr val="dk1"/>
              </a:lnRef>
              <a:fillRef idx="0">
                <a:schemeClr val="dk1"/>
              </a:fillRef>
              <a:effectRef idx="0">
                <a:schemeClr val="dk1"/>
              </a:effectRef>
              <a:fontRef idx="minor">
                <a:schemeClr val="tx1"/>
              </a:fontRef>
            </p:style>
          </p:cxnSp>
          <p:sp>
            <p:nvSpPr>
              <p:cNvPr id="14" name="Right Brace 93">
                <a:extLst>
                  <a:ext uri="{FF2B5EF4-FFF2-40B4-BE49-F238E27FC236}">
                    <a16:creationId xmlns:a16="http://schemas.microsoft.com/office/drawing/2014/main" id="{0BDF1FB8-4571-251B-5C2D-46AAEAB38E79}"/>
                  </a:ext>
                </a:extLst>
              </p:cNvPr>
              <p:cNvSpPr/>
              <p:nvPr/>
            </p:nvSpPr>
            <p:spPr>
              <a:xfrm rot="16200000">
                <a:off x="2701284" y="1851657"/>
                <a:ext cx="275836" cy="2639721"/>
              </a:xfrm>
              <a:prstGeom prst="rightBrace">
                <a:avLst>
                  <a:gd name="adj1" fmla="val 91317"/>
                  <a:gd name="adj2" fmla="val 50574"/>
                </a:avLst>
              </a:prstGeom>
              <a:noFill/>
              <a:ln>
                <a:tailEnd type="none"/>
              </a:ln>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1218565"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mn-ea"/>
                  <a:cs typeface="+mn-cs"/>
                </a:endParaRPr>
              </a:p>
            </p:txBody>
          </p:sp>
          <p:sp>
            <p:nvSpPr>
              <p:cNvPr id="15" name="TextBox 94">
                <a:extLst>
                  <a:ext uri="{FF2B5EF4-FFF2-40B4-BE49-F238E27FC236}">
                    <a16:creationId xmlns:a16="http://schemas.microsoft.com/office/drawing/2014/main" id="{0484EFB0-B6B5-5B31-3003-DA5212F86666}"/>
                  </a:ext>
                </a:extLst>
              </p:cNvPr>
              <p:cNvSpPr txBox="1"/>
              <p:nvPr/>
            </p:nvSpPr>
            <p:spPr>
              <a:xfrm>
                <a:off x="1194480" y="3601269"/>
                <a:ext cx="1030894"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Feb 18</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16" name="TextBox 95">
                <a:extLst>
                  <a:ext uri="{FF2B5EF4-FFF2-40B4-BE49-F238E27FC236}">
                    <a16:creationId xmlns:a16="http://schemas.microsoft.com/office/drawing/2014/main" id="{0857F518-C483-571A-4D24-74DF9FEA57E7}"/>
                  </a:ext>
                </a:extLst>
              </p:cNvPr>
              <p:cNvSpPr txBox="1"/>
              <p:nvPr/>
            </p:nvSpPr>
            <p:spPr>
              <a:xfrm>
                <a:off x="3798502" y="3585076"/>
                <a:ext cx="904147"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Mar 18</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17" name="Straight Connector 96">
                <a:extLst>
                  <a:ext uri="{FF2B5EF4-FFF2-40B4-BE49-F238E27FC236}">
                    <a16:creationId xmlns:a16="http://schemas.microsoft.com/office/drawing/2014/main" id="{315A0BAD-5BCE-E698-ED0D-B18D67B1C73E}"/>
                  </a:ext>
                </a:extLst>
              </p:cNvPr>
              <p:cNvCxnSpPr>
                <a:cxnSpLocks/>
              </p:cNvCxnSpPr>
              <p:nvPr/>
            </p:nvCxnSpPr>
            <p:spPr>
              <a:xfrm>
                <a:off x="5381925" y="3330448"/>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18" name="TextBox 97">
                <a:extLst>
                  <a:ext uri="{FF2B5EF4-FFF2-40B4-BE49-F238E27FC236}">
                    <a16:creationId xmlns:a16="http://schemas.microsoft.com/office/drawing/2014/main" id="{8A321BDF-F762-D133-97B4-9B65860142AA}"/>
                  </a:ext>
                </a:extLst>
              </p:cNvPr>
              <p:cNvSpPr txBox="1"/>
              <p:nvPr/>
            </p:nvSpPr>
            <p:spPr>
              <a:xfrm>
                <a:off x="5039571" y="3589293"/>
                <a:ext cx="952887"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Mar 25</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21" name="TextBox 100">
                <a:extLst>
                  <a:ext uri="{FF2B5EF4-FFF2-40B4-BE49-F238E27FC236}">
                    <a16:creationId xmlns:a16="http://schemas.microsoft.com/office/drawing/2014/main" id="{30E4C2F0-A833-AA3F-7FF3-78A182D6C61B}"/>
                  </a:ext>
                </a:extLst>
              </p:cNvPr>
              <p:cNvSpPr txBox="1"/>
              <p:nvPr/>
            </p:nvSpPr>
            <p:spPr>
              <a:xfrm>
                <a:off x="4824229" y="4056823"/>
                <a:ext cx="1085944"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SPS Sign-off</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22" name="TextBox 101">
                <a:extLst>
                  <a:ext uri="{FF2B5EF4-FFF2-40B4-BE49-F238E27FC236}">
                    <a16:creationId xmlns:a16="http://schemas.microsoft.com/office/drawing/2014/main" id="{B051C48D-E128-6207-7B14-54CE47AB98D6}"/>
                  </a:ext>
                </a:extLst>
              </p:cNvPr>
              <p:cNvSpPr txBox="1"/>
              <p:nvPr/>
            </p:nvSpPr>
            <p:spPr>
              <a:xfrm>
                <a:off x="2355918" y="3588874"/>
                <a:ext cx="1109355"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18</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 17</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23" name="Straight Connector 102">
                <a:extLst>
                  <a:ext uri="{FF2B5EF4-FFF2-40B4-BE49-F238E27FC236}">
                    <a16:creationId xmlns:a16="http://schemas.microsoft.com/office/drawing/2014/main" id="{069AB16F-4FF2-1549-5448-9F5FA1CB30B9}"/>
                  </a:ext>
                </a:extLst>
              </p:cNvPr>
              <p:cNvCxnSpPr>
                <a:cxnSpLocks/>
              </p:cNvCxnSpPr>
              <p:nvPr/>
            </p:nvCxnSpPr>
            <p:spPr>
              <a:xfrm>
                <a:off x="7840922" y="3320811"/>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24" name="TextBox 108">
                <a:extLst>
                  <a:ext uri="{FF2B5EF4-FFF2-40B4-BE49-F238E27FC236}">
                    <a16:creationId xmlns:a16="http://schemas.microsoft.com/office/drawing/2014/main" id="{ED9D1CE9-909D-89B5-2CC0-CF1DD9828612}"/>
                  </a:ext>
                </a:extLst>
              </p:cNvPr>
              <p:cNvSpPr txBox="1"/>
              <p:nvPr/>
            </p:nvSpPr>
            <p:spPr>
              <a:xfrm>
                <a:off x="1975898" y="3899330"/>
                <a:ext cx="1568086" cy="78667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Customer Acceptance</a:t>
                </a:r>
              </a:p>
              <a:p>
                <a:pPr algn="ctr" defTabSz="1218565">
                  <a:defRPr/>
                </a:pPr>
                <a:r>
                  <a:rPr lang="en-US" altLang="zh-CN" sz="900">
                    <a:solidFill>
                      <a:srgbClr val="000000"/>
                    </a:solidFill>
                    <a:latin typeface="Tenorite" panose="00000500000000000000" pitchFamily="2" charset="0"/>
                    <a:ea typeface="黑体" panose="02010609060101010101" pitchFamily="49" charset="-122"/>
                    <a:cs typeface="Arial" panose="020B0604020202020204" pitchFamily="34" charset="0"/>
                  </a:rPr>
                  <a:t>Billing Period – Start date</a:t>
                </a:r>
                <a:endParaRPr lang="en-US" sz="900">
                  <a:solidFill>
                    <a:srgbClr val="000000"/>
                  </a:solidFill>
                  <a:latin typeface="Tenorite" panose="00000500000000000000" pitchFamily="2" charset="0"/>
                  <a:cs typeface="Arial" panose="020B0604020202020204" pitchFamily="34" charset="0"/>
                </a:endParaRPr>
              </a:p>
            </p:txBody>
          </p:sp>
          <p:sp>
            <p:nvSpPr>
              <p:cNvPr id="27" name="TextBox 113">
                <a:extLst>
                  <a:ext uri="{FF2B5EF4-FFF2-40B4-BE49-F238E27FC236}">
                    <a16:creationId xmlns:a16="http://schemas.microsoft.com/office/drawing/2014/main" id="{7930C9E5-85B7-F0E5-3E5E-BCD3D820EA8C}"/>
                  </a:ext>
                </a:extLst>
              </p:cNvPr>
              <p:cNvSpPr txBox="1"/>
              <p:nvPr/>
            </p:nvSpPr>
            <p:spPr>
              <a:xfrm>
                <a:off x="7056878" y="2690808"/>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AR Entry</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28" name="Arrow: Right 114">
                <a:extLst>
                  <a:ext uri="{FF2B5EF4-FFF2-40B4-BE49-F238E27FC236}">
                    <a16:creationId xmlns:a16="http://schemas.microsoft.com/office/drawing/2014/main" id="{333E57E0-C0F2-EE14-2E5F-AA38EA541036}"/>
                  </a:ext>
                </a:extLst>
              </p:cNvPr>
              <p:cNvSpPr/>
              <p:nvPr/>
            </p:nvSpPr>
            <p:spPr>
              <a:xfrm rot="16200000">
                <a:off x="7758172" y="3030129"/>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Arial"/>
                  <a:ea typeface="+mn-ea"/>
                  <a:cs typeface="+mn-cs"/>
                </a:endParaRPr>
              </a:p>
            </p:txBody>
          </p:sp>
          <p:sp>
            <p:nvSpPr>
              <p:cNvPr id="29" name="TextBox 115">
                <a:extLst>
                  <a:ext uri="{FF2B5EF4-FFF2-40B4-BE49-F238E27FC236}">
                    <a16:creationId xmlns:a16="http://schemas.microsoft.com/office/drawing/2014/main" id="{2A1016BD-082D-52D1-8E20-3E23F9E6ED4C}"/>
                  </a:ext>
                </a:extLst>
              </p:cNvPr>
              <p:cNvSpPr txBox="1"/>
              <p:nvPr/>
            </p:nvSpPr>
            <p:spPr>
              <a:xfrm>
                <a:off x="748412" y="2420405"/>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Free of Charge order</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30" name="Arrow: Right 116">
                <a:extLst>
                  <a:ext uri="{FF2B5EF4-FFF2-40B4-BE49-F238E27FC236}">
                    <a16:creationId xmlns:a16="http://schemas.microsoft.com/office/drawing/2014/main" id="{36920F3D-1B3E-53C9-7AC6-B8E8337701AB}"/>
                  </a:ext>
                </a:extLst>
              </p:cNvPr>
              <p:cNvSpPr/>
              <p:nvPr/>
            </p:nvSpPr>
            <p:spPr>
              <a:xfrm rot="16200000">
                <a:off x="1426797" y="2897467"/>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Arial"/>
                  <a:ea typeface="+mn-ea"/>
                  <a:cs typeface="+mn-cs"/>
                </a:endParaRPr>
              </a:p>
            </p:txBody>
          </p:sp>
          <p:sp>
            <p:nvSpPr>
              <p:cNvPr id="31" name="Arrow: Right 117">
                <a:extLst>
                  <a:ext uri="{FF2B5EF4-FFF2-40B4-BE49-F238E27FC236}">
                    <a16:creationId xmlns:a16="http://schemas.microsoft.com/office/drawing/2014/main" id="{769D5917-7218-1F8F-EE7E-5AFD4826770A}"/>
                  </a:ext>
                </a:extLst>
              </p:cNvPr>
              <p:cNvSpPr/>
              <p:nvPr/>
            </p:nvSpPr>
            <p:spPr>
              <a:xfrm rot="16200000">
                <a:off x="2765090" y="2788924"/>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Arial"/>
                  <a:ea typeface="+mn-ea"/>
                  <a:cs typeface="+mn-cs"/>
                </a:endParaRPr>
              </a:p>
            </p:txBody>
          </p:sp>
          <p:sp>
            <p:nvSpPr>
              <p:cNvPr id="32" name="TextBox 125">
                <a:extLst>
                  <a:ext uri="{FF2B5EF4-FFF2-40B4-BE49-F238E27FC236}">
                    <a16:creationId xmlns:a16="http://schemas.microsoft.com/office/drawing/2014/main" id="{89AB880D-ED16-DB9D-56A9-6E45A535E90B}"/>
                  </a:ext>
                </a:extLst>
              </p:cNvPr>
              <p:cNvSpPr txBox="1"/>
              <p:nvPr/>
            </p:nvSpPr>
            <p:spPr>
              <a:xfrm>
                <a:off x="7350227" y="4056826"/>
                <a:ext cx="1038574"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Billing Issue</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33" name="TextBox 126">
                <a:extLst>
                  <a:ext uri="{FF2B5EF4-FFF2-40B4-BE49-F238E27FC236}">
                    <a16:creationId xmlns:a16="http://schemas.microsoft.com/office/drawing/2014/main" id="{2E9D72BE-35AD-2426-BA89-BC103F43EB0D}"/>
                  </a:ext>
                </a:extLst>
              </p:cNvPr>
              <p:cNvSpPr txBox="1"/>
              <p:nvPr/>
            </p:nvSpPr>
            <p:spPr>
              <a:xfrm>
                <a:off x="7513671" y="3563600"/>
                <a:ext cx="1222656"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1</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st</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–5</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sp>
            <p:nvSpPr>
              <p:cNvPr id="34" name="TextBox 127">
                <a:extLst>
                  <a:ext uri="{FF2B5EF4-FFF2-40B4-BE49-F238E27FC236}">
                    <a16:creationId xmlns:a16="http://schemas.microsoft.com/office/drawing/2014/main" id="{52856D2C-9DBF-F818-A178-6E31236B6F99}"/>
                  </a:ext>
                </a:extLst>
              </p:cNvPr>
              <p:cNvSpPr txBox="1"/>
              <p:nvPr/>
            </p:nvSpPr>
            <p:spPr>
              <a:xfrm>
                <a:off x="728503" y="4016738"/>
                <a:ext cx="1568086"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HW Shipment</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35" name="TextBox 128">
                <a:extLst>
                  <a:ext uri="{FF2B5EF4-FFF2-40B4-BE49-F238E27FC236}">
                    <a16:creationId xmlns:a16="http://schemas.microsoft.com/office/drawing/2014/main" id="{0231F106-7189-6DC3-2A59-1C1BE5629554}"/>
                  </a:ext>
                </a:extLst>
              </p:cNvPr>
              <p:cNvSpPr txBox="1"/>
              <p:nvPr/>
            </p:nvSpPr>
            <p:spPr>
              <a:xfrm>
                <a:off x="2066796" y="2469455"/>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M0 Order</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36" name="Straight Connector 129">
                <a:extLst>
                  <a:ext uri="{FF2B5EF4-FFF2-40B4-BE49-F238E27FC236}">
                    <a16:creationId xmlns:a16="http://schemas.microsoft.com/office/drawing/2014/main" id="{DA2C3398-3B63-B153-5EAD-C656D70EE5ED}"/>
                  </a:ext>
                </a:extLst>
              </p:cNvPr>
              <p:cNvCxnSpPr>
                <a:cxnSpLocks/>
              </p:cNvCxnSpPr>
              <p:nvPr/>
            </p:nvCxnSpPr>
            <p:spPr>
              <a:xfrm>
                <a:off x="8817362" y="3317231"/>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37" name="Arrow: Right 130">
                <a:extLst>
                  <a:ext uri="{FF2B5EF4-FFF2-40B4-BE49-F238E27FC236}">
                    <a16:creationId xmlns:a16="http://schemas.microsoft.com/office/drawing/2014/main" id="{15EF5C43-290B-73ED-2821-69FAF07D140A}"/>
                  </a:ext>
                </a:extLst>
              </p:cNvPr>
              <p:cNvSpPr/>
              <p:nvPr/>
            </p:nvSpPr>
            <p:spPr>
              <a:xfrm rot="16200000">
                <a:off x="8734612" y="3026549"/>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prstClr val="white"/>
                  </a:solidFill>
                  <a:effectLst/>
                  <a:uLnTx/>
                  <a:uFillTx/>
                  <a:latin typeface="Arial"/>
                  <a:ea typeface="+mn-ea"/>
                  <a:cs typeface="+mn-cs"/>
                </a:endParaRPr>
              </a:p>
            </p:txBody>
          </p:sp>
          <p:sp>
            <p:nvSpPr>
              <p:cNvPr id="38" name="TextBox 131">
                <a:extLst>
                  <a:ext uri="{FF2B5EF4-FFF2-40B4-BE49-F238E27FC236}">
                    <a16:creationId xmlns:a16="http://schemas.microsoft.com/office/drawing/2014/main" id="{C6DBF588-D075-C324-2BC4-01D233BC6FC3}"/>
                  </a:ext>
                </a:extLst>
              </p:cNvPr>
              <p:cNvSpPr txBox="1"/>
              <p:nvPr/>
            </p:nvSpPr>
            <p:spPr>
              <a:xfrm>
                <a:off x="8326668" y="4053241"/>
                <a:ext cx="1038574" cy="190422"/>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Period End</a:t>
                </a:r>
                <a:endParaRPr kumimoji="0" lang="en-US" sz="9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39" name="TextBox 132">
                <a:extLst>
                  <a:ext uri="{FF2B5EF4-FFF2-40B4-BE49-F238E27FC236}">
                    <a16:creationId xmlns:a16="http://schemas.microsoft.com/office/drawing/2014/main" id="{5DE00BD6-7973-1424-A0C2-327A2AE5F857}"/>
                  </a:ext>
                </a:extLst>
              </p:cNvPr>
              <p:cNvSpPr txBox="1"/>
              <p:nvPr/>
            </p:nvSpPr>
            <p:spPr>
              <a:xfrm>
                <a:off x="8490112" y="3560020"/>
                <a:ext cx="1222656"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30</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p>
            </p:txBody>
          </p:sp>
          <p:sp>
            <p:nvSpPr>
              <p:cNvPr id="40" name="TextBox 133">
                <a:extLst>
                  <a:ext uri="{FF2B5EF4-FFF2-40B4-BE49-F238E27FC236}">
                    <a16:creationId xmlns:a16="http://schemas.microsoft.com/office/drawing/2014/main" id="{6A4D3CA6-1CF8-A77E-72F2-F6359A370012}"/>
                  </a:ext>
                </a:extLst>
              </p:cNvPr>
              <p:cNvSpPr txBox="1"/>
              <p:nvPr/>
            </p:nvSpPr>
            <p:spPr>
              <a:xfrm>
                <a:off x="8212479" y="2680663"/>
                <a:ext cx="1568086" cy="190422"/>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Interest Income</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cxnSp>
            <p:nvCxnSpPr>
              <p:cNvPr id="41" name="Straight Connector 140">
                <a:extLst>
                  <a:ext uri="{FF2B5EF4-FFF2-40B4-BE49-F238E27FC236}">
                    <a16:creationId xmlns:a16="http://schemas.microsoft.com/office/drawing/2014/main" id="{77822EFC-DE9D-2B55-633D-C7F1ABA3889C}"/>
                  </a:ext>
                </a:extLst>
              </p:cNvPr>
              <p:cNvCxnSpPr>
                <a:cxnSpLocks/>
              </p:cNvCxnSpPr>
              <p:nvPr/>
            </p:nvCxnSpPr>
            <p:spPr>
              <a:xfrm>
                <a:off x="9870824" y="3342874"/>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42" name="TextBox 142">
                <a:extLst>
                  <a:ext uri="{FF2B5EF4-FFF2-40B4-BE49-F238E27FC236}">
                    <a16:creationId xmlns:a16="http://schemas.microsoft.com/office/drawing/2014/main" id="{A301EF75-0A74-EAFC-C42A-8087F83A8E67}"/>
                  </a:ext>
                </a:extLst>
              </p:cNvPr>
              <p:cNvSpPr txBox="1"/>
              <p:nvPr/>
            </p:nvSpPr>
            <p:spPr>
              <a:xfrm>
                <a:off x="9428943" y="3584104"/>
                <a:ext cx="899140"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2</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nd</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cxnSp>
            <p:nvCxnSpPr>
              <p:cNvPr id="43" name="Straight Connector 21">
                <a:extLst>
                  <a:ext uri="{FF2B5EF4-FFF2-40B4-BE49-F238E27FC236}">
                    <a16:creationId xmlns:a16="http://schemas.microsoft.com/office/drawing/2014/main" id="{08033920-B505-B32F-AA6B-E31BDD9423B6}"/>
                  </a:ext>
                </a:extLst>
              </p:cNvPr>
              <p:cNvCxnSpPr>
                <a:cxnSpLocks/>
              </p:cNvCxnSpPr>
              <p:nvPr/>
            </p:nvCxnSpPr>
            <p:spPr>
              <a:xfrm>
                <a:off x="10555869" y="3347876"/>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44" name="TextBox 22">
                <a:extLst>
                  <a:ext uri="{FF2B5EF4-FFF2-40B4-BE49-F238E27FC236}">
                    <a16:creationId xmlns:a16="http://schemas.microsoft.com/office/drawing/2014/main" id="{6BEE642C-F12D-03DB-2E6B-BBC2CAA085A8}"/>
                  </a:ext>
                </a:extLst>
              </p:cNvPr>
              <p:cNvSpPr txBox="1"/>
              <p:nvPr/>
            </p:nvSpPr>
            <p:spPr>
              <a:xfrm>
                <a:off x="10155934" y="3591785"/>
                <a:ext cx="1169073" cy="190422"/>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48</a:t>
                </a:r>
                <a:r>
                  <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grpSp>
        <p:sp>
          <p:nvSpPr>
            <p:cNvPr id="2" name="Rectangle 1">
              <a:extLst>
                <a:ext uri="{FF2B5EF4-FFF2-40B4-BE49-F238E27FC236}">
                  <a16:creationId xmlns:a16="http://schemas.microsoft.com/office/drawing/2014/main" id="{13113E7C-1C3E-A483-E487-899D11231B13}"/>
                </a:ext>
              </a:extLst>
            </p:cNvPr>
            <p:cNvSpPr/>
            <p:nvPr/>
          </p:nvSpPr>
          <p:spPr>
            <a:xfrm>
              <a:off x="5047454" y="873329"/>
              <a:ext cx="2930108" cy="1703084"/>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a:p>
          </p:txBody>
        </p:sp>
        <p:grpSp>
          <p:nvGrpSpPr>
            <p:cNvPr id="47" name="组合 46">
              <a:extLst>
                <a:ext uri="{FF2B5EF4-FFF2-40B4-BE49-F238E27FC236}">
                  <a16:creationId xmlns:a16="http://schemas.microsoft.com/office/drawing/2014/main" id="{C7D7AFD0-1562-80BF-AB2D-5D76D47A7417}"/>
                </a:ext>
              </a:extLst>
            </p:cNvPr>
            <p:cNvGrpSpPr/>
            <p:nvPr/>
          </p:nvGrpSpPr>
          <p:grpSpPr>
            <a:xfrm>
              <a:off x="4794421" y="443264"/>
              <a:ext cx="6971935" cy="2737263"/>
              <a:chOff x="7056878" y="2421909"/>
              <a:chExt cx="5120756" cy="2168168"/>
            </a:xfrm>
          </p:grpSpPr>
          <p:pic>
            <p:nvPicPr>
              <p:cNvPr id="48" name="Graphic 20" descr="Badge 4 with solid fill">
                <a:extLst>
                  <a:ext uri="{FF2B5EF4-FFF2-40B4-BE49-F238E27FC236}">
                    <a16:creationId xmlns:a16="http://schemas.microsoft.com/office/drawing/2014/main" id="{C2A2CE2D-1A82-BB1D-30A3-5584321F4543}"/>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7295560" y="2430803"/>
                <a:ext cx="368399" cy="345594"/>
              </a:xfrm>
              <a:prstGeom prst="rect">
                <a:avLst/>
              </a:prstGeom>
            </p:spPr>
          </p:pic>
          <p:pic>
            <p:nvPicPr>
              <p:cNvPr id="51" name="Graphic 28" descr="Badge 5 with solid fill">
                <a:extLst>
                  <a:ext uri="{FF2B5EF4-FFF2-40B4-BE49-F238E27FC236}">
                    <a16:creationId xmlns:a16="http://schemas.microsoft.com/office/drawing/2014/main" id="{84249630-8F99-E8AB-8868-3BBCE16C3FD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234878" y="2421909"/>
                <a:ext cx="368399" cy="345594"/>
              </a:xfrm>
              <a:prstGeom prst="rect">
                <a:avLst/>
              </a:prstGeom>
            </p:spPr>
          </p:pic>
          <p:cxnSp>
            <p:nvCxnSpPr>
              <p:cNvPr id="55" name="Straight Arrow Connector 90">
                <a:extLst>
                  <a:ext uri="{FF2B5EF4-FFF2-40B4-BE49-F238E27FC236}">
                    <a16:creationId xmlns:a16="http://schemas.microsoft.com/office/drawing/2014/main" id="{D0C1D962-D2D8-ED70-F1CC-D82ED4EC2318}"/>
                  </a:ext>
                </a:extLst>
              </p:cNvPr>
              <p:cNvCxnSpPr>
                <a:cxnSpLocks/>
              </p:cNvCxnSpPr>
              <p:nvPr/>
            </p:nvCxnSpPr>
            <p:spPr>
              <a:xfrm>
                <a:off x="7239931" y="3478551"/>
                <a:ext cx="4102669" cy="5301"/>
              </a:xfrm>
              <a:prstGeom prst="straightConnector1">
                <a:avLst/>
              </a:prstGeom>
              <a:noFill/>
              <a:ln>
                <a:headEnd type="none" w="med" len="med"/>
                <a:tailEnd type="triangle" w="med" len="med"/>
              </a:ln>
            </p:spPr>
            <p:style>
              <a:lnRef idx="1">
                <a:schemeClr val="dk1"/>
              </a:lnRef>
              <a:fillRef idx="0">
                <a:schemeClr val="dk1"/>
              </a:fillRef>
              <a:effectRef idx="0">
                <a:schemeClr val="dk1"/>
              </a:effectRef>
              <a:fontRef idx="minor">
                <a:schemeClr val="tx1"/>
              </a:fontRef>
            </p:style>
          </p:cxnSp>
          <p:cxnSp>
            <p:nvCxnSpPr>
              <p:cNvPr id="67" name="Straight Connector 102">
                <a:extLst>
                  <a:ext uri="{FF2B5EF4-FFF2-40B4-BE49-F238E27FC236}">
                    <a16:creationId xmlns:a16="http://schemas.microsoft.com/office/drawing/2014/main" id="{C919EDC1-1546-26E1-DF60-B286FB575951}"/>
                  </a:ext>
                </a:extLst>
              </p:cNvPr>
              <p:cNvCxnSpPr>
                <a:cxnSpLocks/>
              </p:cNvCxnSpPr>
              <p:nvPr/>
            </p:nvCxnSpPr>
            <p:spPr>
              <a:xfrm>
                <a:off x="7840922" y="3320811"/>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71" name="TextBox 113">
                <a:extLst>
                  <a:ext uri="{FF2B5EF4-FFF2-40B4-BE49-F238E27FC236}">
                    <a16:creationId xmlns:a16="http://schemas.microsoft.com/office/drawing/2014/main" id="{85271DD3-E91A-6BF4-C748-BA0E0053907C}"/>
                  </a:ext>
                </a:extLst>
              </p:cNvPr>
              <p:cNvSpPr txBox="1"/>
              <p:nvPr/>
            </p:nvSpPr>
            <p:spPr>
              <a:xfrm>
                <a:off x="7056878" y="2690808"/>
                <a:ext cx="1568086" cy="487065"/>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AR Entry</a:t>
                </a:r>
                <a:endPar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72" name="Arrow: Right 114">
                <a:extLst>
                  <a:ext uri="{FF2B5EF4-FFF2-40B4-BE49-F238E27FC236}">
                    <a16:creationId xmlns:a16="http://schemas.microsoft.com/office/drawing/2014/main" id="{E8C59233-8EBC-04B2-457B-6CCC884F9CB4}"/>
                  </a:ext>
                </a:extLst>
              </p:cNvPr>
              <p:cNvSpPr/>
              <p:nvPr/>
            </p:nvSpPr>
            <p:spPr>
              <a:xfrm rot="16200000">
                <a:off x="7758172" y="3030129"/>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Arial"/>
                  <a:ea typeface="+mn-ea"/>
                  <a:cs typeface="+mn-cs"/>
                </a:endParaRPr>
              </a:p>
            </p:txBody>
          </p:sp>
          <p:sp>
            <p:nvSpPr>
              <p:cNvPr id="76" name="TextBox 125">
                <a:extLst>
                  <a:ext uri="{FF2B5EF4-FFF2-40B4-BE49-F238E27FC236}">
                    <a16:creationId xmlns:a16="http://schemas.microsoft.com/office/drawing/2014/main" id="{B1C30E99-1C80-8CD4-4C55-EE72F8AA5BE9}"/>
                  </a:ext>
                </a:extLst>
              </p:cNvPr>
              <p:cNvSpPr txBox="1"/>
              <p:nvPr/>
            </p:nvSpPr>
            <p:spPr>
              <a:xfrm>
                <a:off x="7350227" y="3920441"/>
                <a:ext cx="1038574" cy="463196"/>
              </a:xfrm>
              <a:prstGeom prst="rect">
                <a:avLst/>
              </a:prstGeom>
              <a:noFill/>
            </p:spPr>
            <p:txBody>
              <a:bodyPr wrap="square" rtlCol="0" anchor="ctr">
                <a:spAutoFit/>
              </a:bodyPr>
              <a:lstStyle/>
              <a:p>
                <a:pPr lvl="0" algn="ctr" defTabSz="1218565">
                  <a:defRPr/>
                </a:pPr>
                <a:r>
                  <a:rPr lang="en-US" altLang="zh-CN" sz="1600">
                    <a:solidFill>
                      <a:srgbClr val="00B050"/>
                    </a:solidFill>
                  </a:rPr>
                  <a:t>Convergent billing</a:t>
                </a:r>
                <a:endParaRPr kumimoji="0" lang="en-US" sz="16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77" name="TextBox 126">
                <a:extLst>
                  <a:ext uri="{FF2B5EF4-FFF2-40B4-BE49-F238E27FC236}">
                    <a16:creationId xmlns:a16="http://schemas.microsoft.com/office/drawing/2014/main" id="{A2DB103B-16DD-4594-1BBA-1E97BD611C9B}"/>
                  </a:ext>
                </a:extLst>
              </p:cNvPr>
              <p:cNvSpPr txBox="1"/>
              <p:nvPr/>
            </p:nvSpPr>
            <p:spPr>
              <a:xfrm>
                <a:off x="7513671" y="3563600"/>
                <a:ext cx="1222656" cy="268166"/>
              </a:xfrm>
              <a:prstGeom prst="rect">
                <a:avLst/>
              </a:prstGeom>
              <a:noFill/>
            </p:spPr>
            <p:txBody>
              <a:bodyPr wrap="square" rtlCol="0">
                <a:spAutoFit/>
              </a:bodyPr>
              <a:lstStyle/>
              <a:p>
                <a:pPr lvl="0" defTabSz="1218565">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22</a:t>
                </a:r>
                <a:r>
                  <a:rPr lang="en-US" altLang="zh-CN" sz="1600" baseline="30000" err="1">
                    <a:solidFill>
                      <a:srgbClr val="000000"/>
                    </a:solidFill>
                    <a:latin typeface="Tenorite" panose="00000500000000000000" pitchFamily="2" charset="0"/>
                    <a:ea typeface="黑体" panose="02010609060101010101" pitchFamily="49" charset="-122"/>
                    <a:cs typeface="Arial" panose="020B0604020202020204" pitchFamily="34" charset="0"/>
                  </a:rPr>
                  <a:t>nd</a:t>
                </a:r>
                <a:endPar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cxnSp>
            <p:nvCxnSpPr>
              <p:cNvPr id="80" name="Straight Connector 129">
                <a:extLst>
                  <a:ext uri="{FF2B5EF4-FFF2-40B4-BE49-F238E27FC236}">
                    <a16:creationId xmlns:a16="http://schemas.microsoft.com/office/drawing/2014/main" id="{5CA099F4-2553-98AA-930B-767586AB592D}"/>
                  </a:ext>
                </a:extLst>
              </p:cNvPr>
              <p:cNvCxnSpPr>
                <a:cxnSpLocks/>
              </p:cNvCxnSpPr>
              <p:nvPr/>
            </p:nvCxnSpPr>
            <p:spPr>
              <a:xfrm>
                <a:off x="9905041" y="3315520"/>
                <a:ext cx="0" cy="322640"/>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81" name="Arrow: Right 130">
                <a:extLst>
                  <a:ext uri="{FF2B5EF4-FFF2-40B4-BE49-F238E27FC236}">
                    <a16:creationId xmlns:a16="http://schemas.microsoft.com/office/drawing/2014/main" id="{8625D313-1765-04E3-8BBE-E6554A594AFF}"/>
                  </a:ext>
                </a:extLst>
              </p:cNvPr>
              <p:cNvSpPr/>
              <p:nvPr/>
            </p:nvSpPr>
            <p:spPr>
              <a:xfrm rot="16200000">
                <a:off x="9830451" y="3026996"/>
                <a:ext cx="171498" cy="282774"/>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err="1">
                  <a:ln>
                    <a:noFill/>
                  </a:ln>
                  <a:solidFill>
                    <a:prstClr val="white"/>
                  </a:solidFill>
                  <a:effectLst/>
                  <a:uLnTx/>
                  <a:uFillTx/>
                  <a:latin typeface="Arial"/>
                  <a:ea typeface="+mn-ea"/>
                  <a:cs typeface="+mn-cs"/>
                </a:endParaRPr>
              </a:p>
            </p:txBody>
          </p:sp>
          <p:sp>
            <p:nvSpPr>
              <p:cNvPr id="82" name="TextBox 131">
                <a:extLst>
                  <a:ext uri="{FF2B5EF4-FFF2-40B4-BE49-F238E27FC236}">
                    <a16:creationId xmlns:a16="http://schemas.microsoft.com/office/drawing/2014/main" id="{E09AFB9D-A541-F6CB-9C2F-2FFDAD697480}"/>
                  </a:ext>
                </a:extLst>
              </p:cNvPr>
              <p:cNvSpPr txBox="1"/>
              <p:nvPr/>
            </p:nvSpPr>
            <p:spPr>
              <a:xfrm>
                <a:off x="9385754" y="3748783"/>
                <a:ext cx="1038574" cy="841294"/>
              </a:xfrm>
              <a:prstGeom prst="rect">
                <a:avLst/>
              </a:prstGeom>
              <a:noFill/>
            </p:spPr>
            <p:txBody>
              <a:bodyPr wrap="square" rtlCol="0" anchor="ctr">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B050"/>
                    </a:solidFill>
                    <a:effectLst/>
                    <a:uLnTx/>
                    <a:uFillTx/>
                    <a:latin typeface="Tenorite" panose="00000500000000000000" pitchFamily="2" charset="0"/>
                    <a:ea typeface="黑体" panose="02010609060101010101" pitchFamily="49" charset="-122"/>
                    <a:cs typeface="Arial" panose="020B0604020202020204" pitchFamily="34" charset="0"/>
                  </a:rPr>
                  <a:t>Period End</a:t>
                </a:r>
                <a:endParaRPr kumimoji="0" lang="en-US" sz="16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83" name="TextBox 132">
                <a:extLst>
                  <a:ext uri="{FF2B5EF4-FFF2-40B4-BE49-F238E27FC236}">
                    <a16:creationId xmlns:a16="http://schemas.microsoft.com/office/drawing/2014/main" id="{0CAAF9A7-0E1C-EE5F-2C5D-87C06397DA7E}"/>
                  </a:ext>
                </a:extLst>
              </p:cNvPr>
              <p:cNvSpPr txBox="1"/>
              <p:nvPr/>
            </p:nvSpPr>
            <p:spPr>
              <a:xfrm>
                <a:off x="9627095" y="3560778"/>
                <a:ext cx="1222656" cy="487065"/>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30</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p>
            </p:txBody>
          </p:sp>
          <p:cxnSp>
            <p:nvCxnSpPr>
              <p:cNvPr id="85" name="Straight Connector 140">
                <a:extLst>
                  <a:ext uri="{FF2B5EF4-FFF2-40B4-BE49-F238E27FC236}">
                    <a16:creationId xmlns:a16="http://schemas.microsoft.com/office/drawing/2014/main" id="{3672FAB9-8520-23E8-695F-3BF62AB95967}"/>
                  </a:ext>
                </a:extLst>
              </p:cNvPr>
              <p:cNvCxnSpPr>
                <a:cxnSpLocks/>
              </p:cNvCxnSpPr>
              <p:nvPr/>
            </p:nvCxnSpPr>
            <p:spPr>
              <a:xfrm>
                <a:off x="10583137" y="3355448"/>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86" name="TextBox 142">
                <a:extLst>
                  <a:ext uri="{FF2B5EF4-FFF2-40B4-BE49-F238E27FC236}">
                    <a16:creationId xmlns:a16="http://schemas.microsoft.com/office/drawing/2014/main" id="{9559AEAD-885C-DAA4-5985-DD7DCD279828}"/>
                  </a:ext>
                </a:extLst>
              </p:cNvPr>
              <p:cNvSpPr txBox="1"/>
              <p:nvPr/>
            </p:nvSpPr>
            <p:spPr>
              <a:xfrm>
                <a:off x="10228096" y="3567180"/>
                <a:ext cx="899140" cy="841294"/>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2</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nd</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cxnSp>
            <p:nvCxnSpPr>
              <p:cNvPr id="87" name="Straight Connector 21">
                <a:extLst>
                  <a:ext uri="{FF2B5EF4-FFF2-40B4-BE49-F238E27FC236}">
                    <a16:creationId xmlns:a16="http://schemas.microsoft.com/office/drawing/2014/main" id="{6701BFD0-3F93-796C-4367-521FCA918F51}"/>
                  </a:ext>
                </a:extLst>
              </p:cNvPr>
              <p:cNvCxnSpPr>
                <a:cxnSpLocks/>
              </p:cNvCxnSpPr>
              <p:nvPr/>
            </p:nvCxnSpPr>
            <p:spPr>
              <a:xfrm>
                <a:off x="11220695" y="3347904"/>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88" name="TextBox 22">
                <a:extLst>
                  <a:ext uri="{FF2B5EF4-FFF2-40B4-BE49-F238E27FC236}">
                    <a16:creationId xmlns:a16="http://schemas.microsoft.com/office/drawing/2014/main" id="{7E0AD5AE-EAD4-50C9-6EFE-E3D46C9DF4CC}"/>
                  </a:ext>
                </a:extLst>
              </p:cNvPr>
              <p:cNvSpPr txBox="1"/>
              <p:nvPr/>
            </p:nvSpPr>
            <p:spPr>
              <a:xfrm>
                <a:off x="11008561" y="3571580"/>
                <a:ext cx="1169073" cy="487065"/>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48</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grpSp>
        <p:sp>
          <p:nvSpPr>
            <p:cNvPr id="91" name="TextBox 125">
              <a:extLst>
                <a:ext uri="{FF2B5EF4-FFF2-40B4-BE49-F238E27FC236}">
                  <a16:creationId xmlns:a16="http://schemas.microsoft.com/office/drawing/2014/main" id="{FE32CDAA-26ED-9493-6849-F18AB5FF1BC3}"/>
                </a:ext>
              </a:extLst>
            </p:cNvPr>
            <p:cNvSpPr txBox="1"/>
            <p:nvPr/>
          </p:nvSpPr>
          <p:spPr>
            <a:xfrm>
              <a:off x="6619323" y="2335133"/>
              <a:ext cx="1414023" cy="584775"/>
            </a:xfrm>
            <a:prstGeom prst="rect">
              <a:avLst/>
            </a:prstGeom>
            <a:noFill/>
          </p:spPr>
          <p:txBody>
            <a:bodyPr wrap="square" rtlCol="0" anchor="ctr">
              <a:spAutoFit/>
            </a:bodyPr>
            <a:lstStyle/>
            <a:p>
              <a:pPr lvl="0" algn="ctr" defTabSz="1218565">
                <a:defRPr/>
              </a:pPr>
              <a:r>
                <a:rPr lang="en-US" altLang="zh-CN" sz="1600">
                  <a:solidFill>
                    <a:srgbClr val="00B050"/>
                  </a:solidFill>
                </a:rPr>
                <a:t>Detailed billing</a:t>
              </a:r>
              <a:endParaRPr kumimoji="0" lang="en-US" sz="1600" b="0" i="0" u="none" strike="noStrike" kern="1200" cap="none" spc="0" normalizeH="0" baseline="0" noProof="0">
                <a:ln>
                  <a:noFill/>
                </a:ln>
                <a:solidFill>
                  <a:srgbClr val="00B050"/>
                </a:solidFill>
                <a:effectLst/>
                <a:uLnTx/>
                <a:uFillTx/>
                <a:latin typeface="Tenorite" panose="00000500000000000000" pitchFamily="2" charset="0"/>
                <a:ea typeface="+mn-ea"/>
                <a:cs typeface="Arial" panose="020B0604020202020204" pitchFamily="34" charset="0"/>
              </a:endParaRPr>
            </a:p>
          </p:txBody>
        </p:sp>
        <p:sp>
          <p:nvSpPr>
            <p:cNvPr id="92" name="TextBox 126">
              <a:extLst>
                <a:ext uri="{FF2B5EF4-FFF2-40B4-BE49-F238E27FC236}">
                  <a16:creationId xmlns:a16="http://schemas.microsoft.com/office/drawing/2014/main" id="{50EDEF6C-8A37-C665-88AB-1CF5ABC9A99D}"/>
                </a:ext>
              </a:extLst>
            </p:cNvPr>
            <p:cNvSpPr txBox="1"/>
            <p:nvPr/>
          </p:nvSpPr>
          <p:spPr>
            <a:xfrm>
              <a:off x="6662641" y="1865043"/>
              <a:ext cx="1664651" cy="338554"/>
            </a:xfrm>
            <a:prstGeom prst="rect">
              <a:avLst/>
            </a:prstGeom>
            <a:noFill/>
          </p:spPr>
          <p:txBody>
            <a:bodyPr wrap="square" rtlCol="0">
              <a:spAutoFit/>
            </a:bodyPr>
            <a:lstStyle/>
            <a:p>
              <a:pPr lvl="0" defTabSz="1218565">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22</a:t>
              </a:r>
              <a:r>
                <a:rPr lang="en-US" altLang="zh-CN" sz="1600" baseline="30000" err="1">
                  <a:solidFill>
                    <a:srgbClr val="000000"/>
                  </a:solidFill>
                  <a:latin typeface="Tenorite" panose="00000500000000000000" pitchFamily="2" charset="0"/>
                  <a:ea typeface="黑体" panose="02010609060101010101" pitchFamily="49" charset="-122"/>
                  <a:cs typeface="Arial" panose="020B0604020202020204" pitchFamily="34" charset="0"/>
                </a:rPr>
                <a:t>nd</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–30</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cxnSp>
          <p:nvCxnSpPr>
            <p:cNvPr id="93" name="Straight Connector 102">
              <a:extLst>
                <a:ext uri="{FF2B5EF4-FFF2-40B4-BE49-F238E27FC236}">
                  <a16:creationId xmlns:a16="http://schemas.microsoft.com/office/drawing/2014/main" id="{E4DBD3FB-E023-2484-8379-8BCC101B2B9A}"/>
                </a:ext>
              </a:extLst>
            </p:cNvPr>
            <p:cNvCxnSpPr>
              <a:cxnSpLocks/>
            </p:cNvCxnSpPr>
            <p:nvPr/>
          </p:nvCxnSpPr>
          <p:spPr>
            <a:xfrm>
              <a:off x="7326334" y="1578113"/>
              <a:ext cx="0" cy="407326"/>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95" name="Arrow: Right 130">
              <a:extLst>
                <a:ext uri="{FF2B5EF4-FFF2-40B4-BE49-F238E27FC236}">
                  <a16:creationId xmlns:a16="http://schemas.microsoft.com/office/drawing/2014/main" id="{E453B454-0524-0846-491D-86929D1811EB}"/>
                </a:ext>
              </a:extLst>
            </p:cNvPr>
            <p:cNvSpPr/>
            <p:nvPr/>
          </p:nvSpPr>
          <p:spPr>
            <a:xfrm rot="16200000">
              <a:off x="7222554" y="1194887"/>
              <a:ext cx="216513" cy="384998"/>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err="1">
                <a:ln>
                  <a:noFill/>
                </a:ln>
                <a:solidFill>
                  <a:prstClr val="white"/>
                </a:solidFill>
                <a:effectLst/>
                <a:uLnTx/>
                <a:uFillTx/>
                <a:latin typeface="Arial"/>
                <a:ea typeface="+mn-ea"/>
                <a:cs typeface="+mn-cs"/>
              </a:endParaRPr>
            </a:p>
          </p:txBody>
        </p:sp>
        <p:sp>
          <p:nvSpPr>
            <p:cNvPr id="96" name="TextBox 113">
              <a:extLst>
                <a:ext uri="{FF2B5EF4-FFF2-40B4-BE49-F238E27FC236}">
                  <a16:creationId xmlns:a16="http://schemas.microsoft.com/office/drawing/2014/main" id="{2B367D97-3B09-BBEA-1E46-40C24D5FA1EC}"/>
                </a:ext>
              </a:extLst>
            </p:cNvPr>
            <p:cNvSpPr txBox="1"/>
            <p:nvPr/>
          </p:nvSpPr>
          <p:spPr>
            <a:xfrm>
              <a:off x="6246242" y="804181"/>
              <a:ext cx="2134956" cy="614909"/>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AR Entry</a:t>
              </a:r>
              <a:endPar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115" name="Rectangle 1">
              <a:extLst>
                <a:ext uri="{FF2B5EF4-FFF2-40B4-BE49-F238E27FC236}">
                  <a16:creationId xmlns:a16="http://schemas.microsoft.com/office/drawing/2014/main" id="{D6FC3E33-9BB0-35EC-A1C7-DD90465CA465}"/>
                </a:ext>
              </a:extLst>
            </p:cNvPr>
            <p:cNvSpPr/>
            <p:nvPr/>
          </p:nvSpPr>
          <p:spPr>
            <a:xfrm>
              <a:off x="8123103" y="1169851"/>
              <a:ext cx="3452795" cy="1703084"/>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a:p>
          </p:txBody>
        </p:sp>
        <p:grpSp>
          <p:nvGrpSpPr>
            <p:cNvPr id="97" name="组合 96">
              <a:extLst>
                <a:ext uri="{FF2B5EF4-FFF2-40B4-BE49-F238E27FC236}">
                  <a16:creationId xmlns:a16="http://schemas.microsoft.com/office/drawing/2014/main" id="{5B30E130-7B4C-3142-3D93-354A32F1CD05}"/>
                </a:ext>
              </a:extLst>
            </p:cNvPr>
            <p:cNvGrpSpPr/>
            <p:nvPr/>
          </p:nvGrpSpPr>
          <p:grpSpPr>
            <a:xfrm>
              <a:off x="8123098" y="1638119"/>
              <a:ext cx="2074777" cy="628370"/>
              <a:chOff x="9066031" y="3327447"/>
              <a:chExt cx="2941990" cy="714940"/>
            </a:xfrm>
          </p:grpSpPr>
          <p:cxnSp>
            <p:nvCxnSpPr>
              <p:cNvPr id="100" name="Straight Arrow Connector 90">
                <a:extLst>
                  <a:ext uri="{FF2B5EF4-FFF2-40B4-BE49-F238E27FC236}">
                    <a16:creationId xmlns:a16="http://schemas.microsoft.com/office/drawing/2014/main" id="{77C556DF-7FD3-96E3-DDC9-561256CE65B3}"/>
                  </a:ext>
                </a:extLst>
              </p:cNvPr>
              <p:cNvCxnSpPr>
                <a:cxnSpLocks/>
              </p:cNvCxnSpPr>
              <p:nvPr/>
            </p:nvCxnSpPr>
            <p:spPr>
              <a:xfrm flipV="1">
                <a:off x="9066031" y="3484372"/>
                <a:ext cx="2302515" cy="13073"/>
              </a:xfrm>
              <a:prstGeom prst="straightConnector1">
                <a:avLst/>
              </a:prstGeom>
              <a:noFill/>
              <a:ln>
                <a:headEnd type="none" w="med" len="med"/>
                <a:tailEnd type="triangle" w="med" len="med"/>
              </a:ln>
            </p:spPr>
            <p:style>
              <a:lnRef idx="1">
                <a:schemeClr val="dk1"/>
              </a:lnRef>
              <a:fillRef idx="0">
                <a:schemeClr val="dk1"/>
              </a:fillRef>
              <a:effectRef idx="0">
                <a:schemeClr val="dk1"/>
              </a:effectRef>
              <a:fontRef idx="minor">
                <a:schemeClr val="tx1"/>
              </a:fontRef>
            </p:style>
          </p:cxnSp>
          <p:cxnSp>
            <p:nvCxnSpPr>
              <p:cNvPr id="111" name="Straight Connector 140">
                <a:extLst>
                  <a:ext uri="{FF2B5EF4-FFF2-40B4-BE49-F238E27FC236}">
                    <a16:creationId xmlns:a16="http://schemas.microsoft.com/office/drawing/2014/main" id="{5CF9245E-C8C7-2A5A-517C-F4BEA10D43DA}"/>
                  </a:ext>
                </a:extLst>
              </p:cNvPr>
              <p:cNvCxnSpPr>
                <a:cxnSpLocks/>
              </p:cNvCxnSpPr>
              <p:nvPr/>
            </p:nvCxnSpPr>
            <p:spPr>
              <a:xfrm>
                <a:off x="10281603" y="3327447"/>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cxnSp>
            <p:nvCxnSpPr>
              <p:cNvPr id="113" name="Straight Connector 21">
                <a:extLst>
                  <a:ext uri="{FF2B5EF4-FFF2-40B4-BE49-F238E27FC236}">
                    <a16:creationId xmlns:a16="http://schemas.microsoft.com/office/drawing/2014/main" id="{48EBEE52-4F92-EFF6-0404-35B936911D3A}"/>
                  </a:ext>
                </a:extLst>
              </p:cNvPr>
              <p:cNvCxnSpPr>
                <a:cxnSpLocks/>
              </p:cNvCxnSpPr>
              <p:nvPr/>
            </p:nvCxnSpPr>
            <p:spPr>
              <a:xfrm>
                <a:off x="11045428" y="3347682"/>
                <a:ext cx="0" cy="265691"/>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114" name="TextBox 22">
                <a:extLst>
                  <a:ext uri="{FF2B5EF4-FFF2-40B4-BE49-F238E27FC236}">
                    <a16:creationId xmlns:a16="http://schemas.microsoft.com/office/drawing/2014/main" id="{E4123253-E319-DB81-DB5A-4264A97EE0A4}"/>
                  </a:ext>
                </a:extLst>
              </p:cNvPr>
              <p:cNvSpPr txBox="1"/>
              <p:nvPr/>
            </p:nvSpPr>
            <p:spPr>
              <a:xfrm>
                <a:off x="10402484" y="3657190"/>
                <a:ext cx="1605537" cy="385197"/>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48</a:t>
                </a:r>
                <a:r>
                  <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Month</a:t>
                </a:r>
                <a:endParaRPr kumimoji="0" lang="en-US" altLang="zh-CN" sz="16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grpSp>
        <p:sp>
          <p:nvSpPr>
            <p:cNvPr id="117" name="Rectangle 1">
              <a:extLst>
                <a:ext uri="{FF2B5EF4-FFF2-40B4-BE49-F238E27FC236}">
                  <a16:creationId xmlns:a16="http://schemas.microsoft.com/office/drawing/2014/main" id="{470B9F0D-292F-4535-FD60-24A96AFD1109}"/>
                </a:ext>
              </a:extLst>
            </p:cNvPr>
            <p:cNvSpPr/>
            <p:nvPr/>
          </p:nvSpPr>
          <p:spPr>
            <a:xfrm>
              <a:off x="5161887" y="67179"/>
              <a:ext cx="2875599" cy="3623731"/>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a:p>
          </p:txBody>
        </p:sp>
      </p:grpSp>
      <p:sp>
        <p:nvSpPr>
          <p:cNvPr id="3" name="文本框 2">
            <a:extLst>
              <a:ext uri="{FF2B5EF4-FFF2-40B4-BE49-F238E27FC236}">
                <a16:creationId xmlns:a16="http://schemas.microsoft.com/office/drawing/2014/main" id="{75D5187A-F721-1BBF-0D2C-E6AA3893A3F7}"/>
              </a:ext>
            </a:extLst>
          </p:cNvPr>
          <p:cNvSpPr txBox="1"/>
          <p:nvPr/>
        </p:nvSpPr>
        <p:spPr>
          <a:xfrm>
            <a:off x="420491" y="4896221"/>
            <a:ext cx="11703907" cy="738664"/>
          </a:xfrm>
          <a:prstGeom prst="rect">
            <a:avLst/>
          </a:prstGeom>
          <a:noFill/>
        </p:spPr>
        <p:txBody>
          <a:bodyPr wrap="square">
            <a:spAutoFit/>
          </a:bodyPr>
          <a:lstStyle/>
          <a:p>
            <a:r>
              <a:rPr lang="en-US" altLang="zh-CN" sz="1400" b="1">
                <a:latin typeface="Arial" pitchFamily="34" charset="0"/>
                <a:cs typeface="Arial" pitchFamily="34" charset="0"/>
              </a:rPr>
              <a:t>4. After lease commencement, BRIM will automatically generate the customer billing based on subscription billing schedule.</a:t>
            </a:r>
          </a:p>
          <a:p>
            <a:endParaRPr lang="en-US" altLang="zh-CN" sz="1400" b="1">
              <a:latin typeface="Arial" pitchFamily="34" charset="0"/>
              <a:cs typeface="Arial" pitchFamily="34" charset="0"/>
            </a:endParaRPr>
          </a:p>
          <a:p>
            <a:r>
              <a:rPr lang="en-US" altLang="zh-CN" sz="1400" b="1">
                <a:latin typeface="Arial" pitchFamily="34" charset="0"/>
                <a:cs typeface="Arial" pitchFamily="34" charset="0"/>
              </a:rPr>
              <a:t>5. BRIM will automatically generate detailed billing equals to convergent billing in the same month. </a:t>
            </a:r>
          </a:p>
        </p:txBody>
      </p:sp>
      <p:sp>
        <p:nvSpPr>
          <p:cNvPr id="46" name="文本框 16">
            <a:extLst>
              <a:ext uri="{FF2B5EF4-FFF2-40B4-BE49-F238E27FC236}">
                <a16:creationId xmlns:a16="http://schemas.microsoft.com/office/drawing/2014/main" id="{DD8B62D9-C28B-1E88-8AB8-C4E6FF8AEF28}"/>
              </a:ext>
            </a:extLst>
          </p:cNvPr>
          <p:cNvSpPr txBox="1"/>
          <p:nvPr/>
        </p:nvSpPr>
        <p:spPr>
          <a:xfrm>
            <a:off x="259116" y="141745"/>
            <a:ext cx="4470947" cy="523220"/>
          </a:xfrm>
          <a:prstGeom prst="rect">
            <a:avLst/>
          </a:prstGeom>
          <a:noFill/>
        </p:spPr>
        <p:txBody>
          <a:bodyPr wrap="square" rtlCol="0">
            <a:spAutoFit/>
          </a:bodyPr>
          <a:lstStyle/>
          <a:p>
            <a:r>
              <a:rPr lang="en-US" altLang="zh-CN" sz="2800" b="1" err="1"/>
              <a:t>PoB</a:t>
            </a:r>
            <a:r>
              <a:rPr lang="en-US" altLang="zh-CN" sz="2800" b="1"/>
              <a:t> Step</a:t>
            </a:r>
            <a:endParaRPr lang="zh-CN" altLang="en-US" sz="2800" b="1"/>
          </a:p>
        </p:txBody>
      </p:sp>
      <p:sp>
        <p:nvSpPr>
          <p:cNvPr id="49" name="TextBox 113">
            <a:extLst>
              <a:ext uri="{FF2B5EF4-FFF2-40B4-BE49-F238E27FC236}">
                <a16:creationId xmlns:a16="http://schemas.microsoft.com/office/drawing/2014/main" id="{F9596F75-758B-E132-2C1C-2230CEFE8AA1}"/>
              </a:ext>
            </a:extLst>
          </p:cNvPr>
          <p:cNvSpPr txBox="1"/>
          <p:nvPr/>
        </p:nvSpPr>
        <p:spPr>
          <a:xfrm>
            <a:off x="8353874" y="1532978"/>
            <a:ext cx="2134956" cy="338554"/>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Lease End</a:t>
            </a:r>
            <a:endParaRPr kumimoji="0" lang="en-US" sz="16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sp>
        <p:nvSpPr>
          <p:cNvPr id="56" name="Arrow: Right 114">
            <a:extLst>
              <a:ext uri="{FF2B5EF4-FFF2-40B4-BE49-F238E27FC236}">
                <a16:creationId xmlns:a16="http://schemas.microsoft.com/office/drawing/2014/main" id="{E893F598-DC4B-9201-D112-C2823F2A1D68}"/>
              </a:ext>
            </a:extLst>
          </p:cNvPr>
          <p:cNvSpPr/>
          <p:nvPr/>
        </p:nvSpPr>
        <p:spPr>
          <a:xfrm rot="16200000">
            <a:off x="9180357" y="1834296"/>
            <a:ext cx="216513" cy="384998"/>
          </a:xfrm>
          <a:prstGeom prst="rightArrow">
            <a:avLst/>
          </a:prstGeom>
          <a:solidFill>
            <a:srgbClr val="6F717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1218987"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Arial"/>
              <a:ea typeface="+mn-ea"/>
              <a:cs typeface="+mn-cs"/>
            </a:endParaRPr>
          </a:p>
        </p:txBody>
      </p:sp>
      <p:sp>
        <p:nvSpPr>
          <p:cNvPr id="58" name="Rectangle 1">
            <a:extLst>
              <a:ext uri="{FF2B5EF4-FFF2-40B4-BE49-F238E27FC236}">
                <a16:creationId xmlns:a16="http://schemas.microsoft.com/office/drawing/2014/main" id="{71A9B94E-3328-8F67-E879-6BA4C5F8FFDC}"/>
              </a:ext>
            </a:extLst>
          </p:cNvPr>
          <p:cNvSpPr/>
          <p:nvPr/>
        </p:nvSpPr>
        <p:spPr>
          <a:xfrm>
            <a:off x="8773082" y="805518"/>
            <a:ext cx="1484369" cy="3623731"/>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a:p>
        </p:txBody>
      </p:sp>
      <p:sp>
        <p:nvSpPr>
          <p:cNvPr id="57" name="TextBox 125">
            <a:extLst>
              <a:ext uri="{FF2B5EF4-FFF2-40B4-BE49-F238E27FC236}">
                <a16:creationId xmlns:a16="http://schemas.microsoft.com/office/drawing/2014/main" id="{DAE4926C-E3A6-667E-7700-500CA5C107DA}"/>
              </a:ext>
            </a:extLst>
          </p:cNvPr>
          <p:cNvSpPr txBox="1"/>
          <p:nvPr/>
        </p:nvSpPr>
        <p:spPr>
          <a:xfrm>
            <a:off x="3854948" y="2877642"/>
            <a:ext cx="1414024" cy="369332"/>
          </a:xfrm>
          <a:prstGeom prst="rect">
            <a:avLst/>
          </a:prstGeom>
          <a:noFill/>
        </p:spPr>
        <p:txBody>
          <a:bodyPr wrap="square" rtlCol="0" anchor="ctr">
            <a:spAutoFit/>
          </a:bodyPr>
          <a:lstStyle/>
          <a:p>
            <a:pPr algn="ctr" defTabSz="1218565">
              <a:defRPr/>
            </a:pPr>
            <a:r>
              <a:rPr lang="en-US" altLang="zh-CN" sz="900">
                <a:solidFill>
                  <a:srgbClr val="000000"/>
                </a:solidFill>
                <a:latin typeface="Tenorite" panose="00000500000000000000" pitchFamily="2" charset="0"/>
                <a:ea typeface="黑体" panose="02010609060101010101" pitchFamily="49" charset="-122"/>
                <a:cs typeface="Arial" panose="020B0604020202020204" pitchFamily="34" charset="0"/>
              </a:rPr>
              <a:t>Billing Period – </a:t>
            </a:r>
          </a:p>
          <a:p>
            <a:pPr algn="ctr" defTabSz="1218565">
              <a:defRPr/>
            </a:pPr>
            <a:r>
              <a:rPr lang="en-US" altLang="zh-CN" sz="900">
                <a:solidFill>
                  <a:srgbClr val="000000"/>
                </a:solidFill>
                <a:latin typeface="Tenorite" panose="00000500000000000000" pitchFamily="2" charset="0"/>
                <a:ea typeface="黑体" panose="02010609060101010101" pitchFamily="49" charset="-122"/>
                <a:cs typeface="Arial" panose="020B0604020202020204" pitchFamily="34" charset="0"/>
              </a:rPr>
              <a:t>end date</a:t>
            </a:r>
            <a:endParaRPr lang="en-US" sz="900">
              <a:solidFill>
                <a:srgbClr val="000000"/>
              </a:solidFill>
              <a:latin typeface="Tenorite" panose="00000500000000000000" pitchFamily="2" charset="0"/>
              <a:cs typeface="Arial" panose="020B0604020202020204" pitchFamily="34" charset="0"/>
            </a:endParaRPr>
          </a:p>
        </p:txBody>
      </p:sp>
      <p:sp>
        <p:nvSpPr>
          <p:cNvPr id="59" name="TextBox 126">
            <a:extLst>
              <a:ext uri="{FF2B5EF4-FFF2-40B4-BE49-F238E27FC236}">
                <a16:creationId xmlns:a16="http://schemas.microsoft.com/office/drawing/2014/main" id="{07129D7E-0A38-A6F2-E6E1-300A28047746}"/>
              </a:ext>
            </a:extLst>
          </p:cNvPr>
          <p:cNvSpPr txBox="1"/>
          <p:nvPr/>
        </p:nvSpPr>
        <p:spPr>
          <a:xfrm>
            <a:off x="4232023" y="2615718"/>
            <a:ext cx="601945" cy="230832"/>
          </a:xfrm>
          <a:prstGeom prst="rect">
            <a:avLst/>
          </a:prstGeom>
          <a:noFill/>
        </p:spPr>
        <p:txBody>
          <a:bodyPr wrap="square" rtlCol="0">
            <a:spAutoFit/>
          </a:bodyPr>
          <a:lstStyle/>
          <a:p>
            <a:pPr lvl="0" defTabSz="1218565">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20</a:t>
            </a:r>
            <a:r>
              <a:rPr lang="en-US" altLang="zh-CN" sz="900" baseline="30000" err="1">
                <a:solidFill>
                  <a:srgbClr val="000000"/>
                </a:solidFill>
                <a:latin typeface="Tenorite" panose="00000500000000000000" pitchFamily="2" charset="0"/>
                <a:ea typeface="黑体" panose="02010609060101010101" pitchFamily="49" charset="-122"/>
                <a:cs typeface="Arial" panose="020B0604020202020204" pitchFamily="34" charset="0"/>
              </a:rPr>
              <a:t>th</a:t>
            </a:r>
            <a:endParaRPr kumimoji="0" lang="en-US" altLang="zh-CN" sz="9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endParaRPr>
          </a:p>
        </p:txBody>
      </p:sp>
      <p:cxnSp>
        <p:nvCxnSpPr>
          <p:cNvPr id="60" name="Straight Connector 96">
            <a:extLst>
              <a:ext uri="{FF2B5EF4-FFF2-40B4-BE49-F238E27FC236}">
                <a16:creationId xmlns:a16="http://schemas.microsoft.com/office/drawing/2014/main" id="{2EBA6031-DC25-4661-7E45-1857D26E4298}"/>
              </a:ext>
            </a:extLst>
          </p:cNvPr>
          <p:cNvCxnSpPr>
            <a:cxnSpLocks/>
          </p:cNvCxnSpPr>
          <p:nvPr/>
        </p:nvCxnSpPr>
        <p:spPr>
          <a:xfrm>
            <a:off x="4559084" y="2387574"/>
            <a:ext cx="0" cy="265082"/>
          </a:xfrm>
          <a:prstGeom prst="line">
            <a:avLst/>
          </a:prstGeom>
          <a:noFill/>
          <a:ln>
            <a:tailEnd type="none"/>
          </a:ln>
        </p:spPr>
        <p:style>
          <a:lnRef idx="1">
            <a:schemeClr val="dk1"/>
          </a:lnRef>
          <a:fillRef idx="0">
            <a:schemeClr val="dk1"/>
          </a:fillRef>
          <a:effectRef idx="0">
            <a:schemeClr val="dk1"/>
          </a:effectRef>
          <a:fontRef idx="minor">
            <a:schemeClr val="tx1"/>
          </a:fontRef>
        </p:style>
      </p:cxnSp>
      <p:sp>
        <p:nvSpPr>
          <p:cNvPr id="63" name="TextBox 62">
            <a:extLst>
              <a:ext uri="{FF2B5EF4-FFF2-40B4-BE49-F238E27FC236}">
                <a16:creationId xmlns:a16="http://schemas.microsoft.com/office/drawing/2014/main" id="{3E342CDD-72C4-FC3E-CCA9-B4697712F38E}"/>
              </a:ext>
            </a:extLst>
          </p:cNvPr>
          <p:cNvSpPr txBox="1"/>
          <p:nvPr/>
        </p:nvSpPr>
        <p:spPr>
          <a:xfrm>
            <a:off x="5121135" y="3693854"/>
            <a:ext cx="1551080" cy="646331"/>
          </a:xfrm>
          <a:prstGeom prst="rect">
            <a:avLst/>
          </a:prstGeom>
          <a:noFill/>
        </p:spPr>
        <p:txBody>
          <a:bodyPr wrap="square">
            <a:spAutoFit/>
          </a:bodyPr>
          <a:lstStyle/>
          <a:p>
            <a:pPr marL="0" marR="0" lvl="0" indent="0"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Invoice issue day</a:t>
            </a:r>
          </a:p>
          <a:p>
            <a:pPr marL="0" marR="0" lvl="0" indent="0" defTabSz="1218565"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Service Ops confirms invoices after customer review within 5-6 BDs</a:t>
            </a:r>
            <a:endParaRPr kumimoji="0" lang="en-US" sz="900" b="0" i="0" u="none" strike="noStrike" kern="1200" cap="none" spc="0" normalizeH="0" baseline="0" noProof="0">
              <a:ln>
                <a:noFill/>
              </a:ln>
              <a:solidFill>
                <a:srgbClr val="000000"/>
              </a:solidFill>
              <a:effectLst/>
              <a:uLnTx/>
              <a:uFillTx/>
              <a:latin typeface="Tenorite" panose="00000500000000000000" pitchFamily="2" charset="0"/>
              <a:ea typeface="+mn-ea"/>
              <a:cs typeface="Arial" panose="020B0604020202020204" pitchFamily="34" charset="0"/>
            </a:endParaRPr>
          </a:p>
        </p:txBody>
      </p:sp>
      <p:pic>
        <p:nvPicPr>
          <p:cNvPr id="64" name="图形 51" descr="徽章 6 纯色填充">
            <a:extLst>
              <a:ext uri="{FF2B5EF4-FFF2-40B4-BE49-F238E27FC236}">
                <a16:creationId xmlns:a16="http://schemas.microsoft.com/office/drawing/2014/main" id="{2AA781E0-10FC-A3A5-D74F-410AA2E53718}"/>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140037" y="1216434"/>
            <a:ext cx="297152" cy="297152"/>
          </a:xfrm>
          <a:prstGeom prst="rect">
            <a:avLst/>
          </a:prstGeom>
        </p:spPr>
      </p:pic>
    </p:spTree>
    <p:extLst>
      <p:ext uri="{BB962C8B-B14F-4D97-AF65-F5344CB8AC3E}">
        <p14:creationId xmlns:p14="http://schemas.microsoft.com/office/powerpoint/2010/main" val="1333073083"/>
      </p:ext>
    </p:extLst>
  </p:cSld>
  <p:clrMapOvr>
    <a:masterClrMapping/>
  </p:clrMapOvr>
  <p:transition spd="med"/>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131BAE-01C4-1354-7415-4C9819454545}"/>
            </a:ext>
          </a:extLst>
        </p:cNvPr>
        <p:cNvGrpSpPr/>
        <p:nvPr/>
      </p:nvGrpSpPr>
      <p:grpSpPr>
        <a:xfrm>
          <a:off x="0" y="0"/>
          <a:ext cx="0" cy="0"/>
          <a:chOff x="0" y="0"/>
          <a:chExt cx="0" cy="0"/>
        </a:xfrm>
      </p:grpSpPr>
      <p:sp>
        <p:nvSpPr>
          <p:cNvPr id="28" name="文本框 27">
            <a:extLst>
              <a:ext uri="{FF2B5EF4-FFF2-40B4-BE49-F238E27FC236}">
                <a16:creationId xmlns:a16="http://schemas.microsoft.com/office/drawing/2014/main" id="{292157D7-3D45-B54B-9F98-5A74E838FEB3}"/>
              </a:ext>
            </a:extLst>
          </p:cNvPr>
          <p:cNvSpPr txBox="1"/>
          <p:nvPr/>
        </p:nvSpPr>
        <p:spPr>
          <a:xfrm>
            <a:off x="40260" y="-30679"/>
            <a:ext cx="4470947" cy="400110"/>
          </a:xfrm>
          <a:prstGeom prst="rect">
            <a:avLst/>
          </a:prstGeom>
          <a:noFill/>
        </p:spPr>
        <p:txBody>
          <a:bodyPr wrap="square" rtlCol="0">
            <a:spAutoFit/>
          </a:bodyPr>
          <a:lstStyle/>
          <a:p>
            <a:r>
              <a:rPr lang="nl-NL" altLang="zh-CN" sz="2000" b="1"/>
              <a:t>IaaS_S&amp;D_MSA</a:t>
            </a:r>
            <a:endParaRPr lang="zh-CN" altLang="en-US" sz="2000" b="1"/>
          </a:p>
        </p:txBody>
      </p:sp>
      <p:graphicFrame>
        <p:nvGraphicFramePr>
          <p:cNvPr id="2" name="表格 1">
            <a:extLst>
              <a:ext uri="{FF2B5EF4-FFF2-40B4-BE49-F238E27FC236}">
                <a16:creationId xmlns:a16="http://schemas.microsoft.com/office/drawing/2014/main" id="{08472714-0AC0-81FD-4000-6527F47DD2A9}"/>
              </a:ext>
            </a:extLst>
          </p:cNvPr>
          <p:cNvGraphicFramePr>
            <a:graphicFrameLocks noGrp="1"/>
          </p:cNvGraphicFramePr>
          <p:nvPr>
            <p:extLst>
              <p:ext uri="{D42A27DB-BD31-4B8C-83A1-F6EECF244321}">
                <p14:modId xmlns:p14="http://schemas.microsoft.com/office/powerpoint/2010/main" val="3240733496"/>
              </p:ext>
            </p:extLst>
          </p:nvPr>
        </p:nvGraphicFramePr>
        <p:xfrm>
          <a:off x="137920" y="510187"/>
          <a:ext cx="9173719" cy="982980"/>
        </p:xfrm>
        <a:graphic>
          <a:graphicData uri="http://schemas.openxmlformats.org/drawingml/2006/table">
            <a:tbl>
              <a:tblPr firstRow="1" bandRow="1">
                <a:tableStyleId>{3C2FFA5D-87B4-456A-9821-1D502468CF0F}</a:tableStyleId>
              </a:tblPr>
              <a:tblGrid>
                <a:gridCol w="1124390">
                  <a:extLst>
                    <a:ext uri="{9D8B030D-6E8A-4147-A177-3AD203B41FA5}">
                      <a16:colId xmlns:a16="http://schemas.microsoft.com/office/drawing/2014/main" val="869603910"/>
                    </a:ext>
                  </a:extLst>
                </a:gridCol>
                <a:gridCol w="1069079">
                  <a:extLst>
                    <a:ext uri="{9D8B030D-6E8A-4147-A177-3AD203B41FA5}">
                      <a16:colId xmlns:a16="http://schemas.microsoft.com/office/drawing/2014/main" val="238663902"/>
                    </a:ext>
                  </a:extLst>
                </a:gridCol>
                <a:gridCol w="1031257">
                  <a:extLst>
                    <a:ext uri="{9D8B030D-6E8A-4147-A177-3AD203B41FA5}">
                      <a16:colId xmlns:a16="http://schemas.microsoft.com/office/drawing/2014/main" val="4114365151"/>
                    </a:ext>
                  </a:extLst>
                </a:gridCol>
                <a:gridCol w="1008461">
                  <a:extLst>
                    <a:ext uri="{9D8B030D-6E8A-4147-A177-3AD203B41FA5}">
                      <a16:colId xmlns:a16="http://schemas.microsoft.com/office/drawing/2014/main" val="4075178046"/>
                    </a:ext>
                  </a:extLst>
                </a:gridCol>
                <a:gridCol w="1192117">
                  <a:extLst>
                    <a:ext uri="{9D8B030D-6E8A-4147-A177-3AD203B41FA5}">
                      <a16:colId xmlns:a16="http://schemas.microsoft.com/office/drawing/2014/main" val="973533418"/>
                    </a:ext>
                  </a:extLst>
                </a:gridCol>
                <a:gridCol w="1100802">
                  <a:extLst>
                    <a:ext uri="{9D8B030D-6E8A-4147-A177-3AD203B41FA5}">
                      <a16:colId xmlns:a16="http://schemas.microsoft.com/office/drawing/2014/main" val="2377711782"/>
                    </a:ext>
                  </a:extLst>
                </a:gridCol>
                <a:gridCol w="1100802">
                  <a:extLst>
                    <a:ext uri="{9D8B030D-6E8A-4147-A177-3AD203B41FA5}">
                      <a16:colId xmlns:a16="http://schemas.microsoft.com/office/drawing/2014/main" val="3946881186"/>
                    </a:ext>
                  </a:extLst>
                </a:gridCol>
                <a:gridCol w="1546811">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Operating Lease/ 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One-time billing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Non- funded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b="0" i="0" u="none" strike="noStrike">
                          <a:solidFill>
                            <a:srgbClr val="000000"/>
                          </a:solidFill>
                          <a:effectLst/>
                          <a:latin typeface="+mn-lt"/>
                        </a:rPr>
                        <a:t>Professional</a:t>
                      </a:r>
                      <a:r>
                        <a:rPr lang="en-US" altLang="zh-CN" sz="1050">
                          <a:solidFill>
                            <a:sysClr val="windowText" lastClr="000000"/>
                          </a:solidFill>
                        </a:rPr>
                        <a:t> service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22" name="Table 14">
            <a:extLst>
              <a:ext uri="{FF2B5EF4-FFF2-40B4-BE49-F238E27FC236}">
                <a16:creationId xmlns:a16="http://schemas.microsoft.com/office/drawing/2014/main" id="{939F5E35-9784-8E2C-618C-897618CB1B4F}"/>
              </a:ext>
            </a:extLst>
          </p:cNvPr>
          <p:cNvGraphicFramePr>
            <a:graphicFrameLocks noGrp="1"/>
          </p:cNvGraphicFramePr>
          <p:nvPr>
            <p:extLst>
              <p:ext uri="{D42A27DB-BD31-4B8C-83A1-F6EECF244321}">
                <p14:modId xmlns:p14="http://schemas.microsoft.com/office/powerpoint/2010/main" val="4169165223"/>
              </p:ext>
            </p:extLst>
          </p:nvPr>
        </p:nvGraphicFramePr>
        <p:xfrm>
          <a:off x="199385" y="1858774"/>
          <a:ext cx="7484117" cy="954971"/>
        </p:xfrm>
        <a:graphic>
          <a:graphicData uri="http://schemas.openxmlformats.org/drawingml/2006/table">
            <a:tbl>
              <a:tblPr/>
              <a:tblGrid>
                <a:gridCol w="582764">
                  <a:extLst>
                    <a:ext uri="{9D8B030D-6E8A-4147-A177-3AD203B41FA5}">
                      <a16:colId xmlns:a16="http://schemas.microsoft.com/office/drawing/2014/main" val="2405149806"/>
                    </a:ext>
                  </a:extLst>
                </a:gridCol>
                <a:gridCol w="311225">
                  <a:extLst>
                    <a:ext uri="{9D8B030D-6E8A-4147-A177-3AD203B41FA5}">
                      <a16:colId xmlns:a16="http://schemas.microsoft.com/office/drawing/2014/main" val="3773246756"/>
                    </a:ext>
                  </a:extLst>
                </a:gridCol>
                <a:gridCol w="762590">
                  <a:extLst>
                    <a:ext uri="{9D8B030D-6E8A-4147-A177-3AD203B41FA5}">
                      <a16:colId xmlns:a16="http://schemas.microsoft.com/office/drawing/2014/main" val="2093791787"/>
                    </a:ext>
                  </a:extLst>
                </a:gridCol>
                <a:gridCol w="2630066">
                  <a:extLst>
                    <a:ext uri="{9D8B030D-6E8A-4147-A177-3AD203B41FA5}">
                      <a16:colId xmlns:a16="http://schemas.microsoft.com/office/drawing/2014/main" val="2315190367"/>
                    </a:ext>
                  </a:extLst>
                </a:gridCol>
                <a:gridCol w="532912">
                  <a:extLst>
                    <a:ext uri="{9D8B030D-6E8A-4147-A177-3AD203B41FA5}">
                      <a16:colId xmlns:a16="http://schemas.microsoft.com/office/drawing/2014/main" val="3469496231"/>
                    </a:ext>
                  </a:extLst>
                </a:gridCol>
                <a:gridCol w="532912">
                  <a:extLst>
                    <a:ext uri="{9D8B030D-6E8A-4147-A177-3AD203B41FA5}">
                      <a16:colId xmlns:a16="http://schemas.microsoft.com/office/drawing/2014/main" val="618512481"/>
                    </a:ext>
                  </a:extLst>
                </a:gridCol>
                <a:gridCol w="532912">
                  <a:extLst>
                    <a:ext uri="{9D8B030D-6E8A-4147-A177-3AD203B41FA5}">
                      <a16:colId xmlns:a16="http://schemas.microsoft.com/office/drawing/2014/main" val="3970721349"/>
                    </a:ext>
                  </a:extLst>
                </a:gridCol>
                <a:gridCol w="532912">
                  <a:extLst>
                    <a:ext uri="{9D8B030D-6E8A-4147-A177-3AD203B41FA5}">
                      <a16:colId xmlns:a16="http://schemas.microsoft.com/office/drawing/2014/main" val="1101408634"/>
                    </a:ext>
                  </a:extLst>
                </a:gridCol>
                <a:gridCol w="532912">
                  <a:extLst>
                    <a:ext uri="{9D8B030D-6E8A-4147-A177-3AD203B41FA5}">
                      <a16:colId xmlns:a16="http://schemas.microsoft.com/office/drawing/2014/main" val="519409402"/>
                    </a:ext>
                  </a:extLst>
                </a:gridCol>
                <a:gridCol w="532912">
                  <a:extLst>
                    <a:ext uri="{9D8B030D-6E8A-4147-A177-3AD203B41FA5}">
                      <a16:colId xmlns:a16="http://schemas.microsoft.com/office/drawing/2014/main" val="3555629991"/>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Non-funded one-time billing upfront service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Customer acceptance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Acc Receivable Lease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a:t>
                      </a:r>
                      <a:r>
                        <a:rPr lang="en-US" altLang="zh-CN" sz="1000" b="0" i="0" u="none" strike="noStrike">
                          <a:solidFill>
                            <a:srgbClr val="000000"/>
                          </a:solidFill>
                          <a:effectLst/>
                          <a:latin typeface="+mn-lt"/>
                        </a:rPr>
                        <a:t>professional</a:t>
                      </a:r>
                      <a:r>
                        <a:rPr kumimoji="0" lang="en-US" altLang="zh-CN" sz="1000" b="0" i="0" u="none" strike="noStrike" kern="1200" cap="none" spc="0" normalizeH="0" baseline="0">
                          <a:ln>
                            <a:noFill/>
                          </a:ln>
                          <a:solidFill>
                            <a:srgbClr val="000000"/>
                          </a:solidFill>
                          <a:effectLst/>
                          <a:uLnTx/>
                          <a:uFillTx/>
                          <a:latin typeface="+mn-lt"/>
                          <a:ea typeface="+mn-ea"/>
                          <a:cs typeface="+mn-cs"/>
                        </a:rPr>
                        <a:t> service</a:t>
                      </a:r>
                      <a:r>
                        <a:rPr kumimoji="0" lang="en-US" sz="1000" b="0" i="0" u="none" strike="noStrike" kern="1200" cap="none" spc="0" normalizeH="0" baseline="0">
                          <a:ln>
                            <a:noFill/>
                          </a:ln>
                          <a:solidFill>
                            <a:srgbClr val="000000"/>
                          </a:solidFill>
                          <a:effectLst/>
                          <a:uLnTx/>
                          <a:uFillTx/>
                          <a:latin typeface="+mn-lt"/>
                          <a:ea typeface="+mn-ea"/>
                          <a:cs typeface="+mn-cs"/>
                        </a:rPr>
                        <a:t>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200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35653082"/>
                  </a:ext>
                </a:extLst>
              </a:tr>
            </a:tbl>
          </a:graphicData>
        </a:graphic>
      </p:graphicFrame>
    </p:spTree>
    <p:extLst>
      <p:ext uri="{BB962C8B-B14F-4D97-AF65-F5344CB8AC3E}">
        <p14:creationId xmlns:p14="http://schemas.microsoft.com/office/powerpoint/2010/main" val="339041861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123F37-2380-CD6E-23D8-13CD8AB0E793}"/>
            </a:ext>
          </a:extLst>
        </p:cNvPr>
        <p:cNvGrpSpPr/>
        <p:nvPr/>
      </p:nvGrpSpPr>
      <p:grpSpPr>
        <a:xfrm>
          <a:off x="0" y="0"/>
          <a:ext cx="0" cy="0"/>
          <a:chOff x="0" y="0"/>
          <a:chExt cx="0" cy="0"/>
        </a:xfrm>
      </p:grpSpPr>
      <p:sp>
        <p:nvSpPr>
          <p:cNvPr id="28" name="文本框 27">
            <a:extLst>
              <a:ext uri="{FF2B5EF4-FFF2-40B4-BE49-F238E27FC236}">
                <a16:creationId xmlns:a16="http://schemas.microsoft.com/office/drawing/2014/main" id="{29F18E0B-FF37-D78C-CAEF-3D261B6D8D67}"/>
              </a:ext>
            </a:extLst>
          </p:cNvPr>
          <p:cNvSpPr txBox="1"/>
          <p:nvPr/>
        </p:nvSpPr>
        <p:spPr>
          <a:xfrm>
            <a:off x="40260" y="-30679"/>
            <a:ext cx="4470947" cy="400110"/>
          </a:xfrm>
          <a:prstGeom prst="rect">
            <a:avLst/>
          </a:prstGeom>
          <a:noFill/>
        </p:spPr>
        <p:txBody>
          <a:bodyPr wrap="square" rtlCol="0">
            <a:spAutoFit/>
          </a:bodyPr>
          <a:lstStyle/>
          <a:p>
            <a:r>
              <a:rPr lang="nl-NL" altLang="zh-CN" sz="2000" b="1"/>
              <a:t>IaaS_S&amp;D_MSA</a:t>
            </a:r>
            <a:endParaRPr lang="zh-CN" altLang="en-US" sz="2000" b="1"/>
          </a:p>
        </p:txBody>
      </p:sp>
      <p:graphicFrame>
        <p:nvGraphicFramePr>
          <p:cNvPr id="2" name="表格 1">
            <a:extLst>
              <a:ext uri="{FF2B5EF4-FFF2-40B4-BE49-F238E27FC236}">
                <a16:creationId xmlns:a16="http://schemas.microsoft.com/office/drawing/2014/main" id="{69DDF0AB-5F77-11AD-BF9B-F36524C06821}"/>
              </a:ext>
            </a:extLst>
          </p:cNvPr>
          <p:cNvGraphicFramePr>
            <a:graphicFrameLocks noGrp="1"/>
          </p:cNvGraphicFramePr>
          <p:nvPr>
            <p:extLst>
              <p:ext uri="{D42A27DB-BD31-4B8C-83A1-F6EECF244321}">
                <p14:modId xmlns:p14="http://schemas.microsoft.com/office/powerpoint/2010/main" val="573938927"/>
              </p:ext>
            </p:extLst>
          </p:nvPr>
        </p:nvGraphicFramePr>
        <p:xfrm>
          <a:off x="61720" y="342547"/>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rgbClr val="C00000"/>
                          </a:solidFill>
                        </a:rPr>
                        <a:t>Fixed/Consumptrion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2" name="表格 11">
            <a:extLst>
              <a:ext uri="{FF2B5EF4-FFF2-40B4-BE49-F238E27FC236}">
                <a16:creationId xmlns:a16="http://schemas.microsoft.com/office/drawing/2014/main" id="{5F8ED775-4CAE-63C9-4A76-427760DD036C}"/>
              </a:ext>
            </a:extLst>
          </p:cNvPr>
          <p:cNvGraphicFramePr>
            <a:graphicFrameLocks noGrp="1"/>
          </p:cNvGraphicFramePr>
          <p:nvPr>
            <p:extLst>
              <p:ext uri="{D42A27DB-BD31-4B8C-83A1-F6EECF244321}">
                <p14:modId xmlns:p14="http://schemas.microsoft.com/office/powerpoint/2010/main" val="3743105018"/>
              </p:ext>
            </p:extLst>
          </p:nvPr>
        </p:nvGraphicFramePr>
        <p:xfrm>
          <a:off x="6203698" y="361104"/>
          <a:ext cx="5937311" cy="1143000"/>
        </p:xfrm>
        <a:graphic>
          <a:graphicData uri="http://schemas.openxmlformats.org/drawingml/2006/table">
            <a:tbl>
              <a:tblPr firstRow="1" bandRow="1">
                <a:tableStyleId>{3C2FFA5D-87B4-456A-9821-1D502468CF0F}</a:tableStyleId>
              </a:tblPr>
              <a:tblGrid>
                <a:gridCol w="674556">
                  <a:extLst>
                    <a:ext uri="{9D8B030D-6E8A-4147-A177-3AD203B41FA5}">
                      <a16:colId xmlns:a16="http://schemas.microsoft.com/office/drawing/2014/main" val="869603910"/>
                    </a:ext>
                  </a:extLst>
                </a:gridCol>
                <a:gridCol w="721347">
                  <a:extLst>
                    <a:ext uri="{9D8B030D-6E8A-4147-A177-3AD203B41FA5}">
                      <a16:colId xmlns:a16="http://schemas.microsoft.com/office/drawing/2014/main" val="238663902"/>
                    </a:ext>
                  </a:extLst>
                </a:gridCol>
                <a:gridCol w="678032">
                  <a:extLst>
                    <a:ext uri="{9D8B030D-6E8A-4147-A177-3AD203B41FA5}">
                      <a16:colId xmlns:a16="http://schemas.microsoft.com/office/drawing/2014/main" val="4114365151"/>
                    </a:ext>
                  </a:extLst>
                </a:gridCol>
                <a:gridCol w="665820">
                  <a:extLst>
                    <a:ext uri="{9D8B030D-6E8A-4147-A177-3AD203B41FA5}">
                      <a16:colId xmlns:a16="http://schemas.microsoft.com/office/drawing/2014/main" val="4075178046"/>
                    </a:ext>
                  </a:extLst>
                </a:gridCol>
                <a:gridCol w="771548">
                  <a:extLst>
                    <a:ext uri="{9D8B030D-6E8A-4147-A177-3AD203B41FA5}">
                      <a16:colId xmlns:a16="http://schemas.microsoft.com/office/drawing/2014/main" val="973533418"/>
                    </a:ext>
                  </a:extLst>
                </a:gridCol>
                <a:gridCol w="712449">
                  <a:extLst>
                    <a:ext uri="{9D8B030D-6E8A-4147-A177-3AD203B41FA5}">
                      <a16:colId xmlns:a16="http://schemas.microsoft.com/office/drawing/2014/main" val="2377711782"/>
                    </a:ext>
                  </a:extLst>
                </a:gridCol>
                <a:gridCol w="712449">
                  <a:extLst>
                    <a:ext uri="{9D8B030D-6E8A-4147-A177-3AD203B41FA5}">
                      <a16:colId xmlns:a16="http://schemas.microsoft.com/office/drawing/2014/main" val="3530919532"/>
                    </a:ext>
                  </a:extLst>
                </a:gridCol>
                <a:gridCol w="1001110">
                  <a:extLst>
                    <a:ext uri="{9D8B030D-6E8A-4147-A177-3AD203B41FA5}">
                      <a16:colId xmlns:a16="http://schemas.microsoft.com/office/drawing/2014/main" val="221569069"/>
                    </a:ext>
                  </a:extLst>
                </a:gridCol>
              </a:tblGrid>
              <a:tr h="32667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199636">
                <a:tc>
                  <a:txBody>
                    <a:bodyPr/>
                    <a:lstStyle/>
                    <a:p>
                      <a:r>
                        <a:rPr lang="en-US" altLang="zh-CN" sz="1050">
                          <a:solidFill>
                            <a:srgbClr val="C00000"/>
                          </a:solidFill>
                        </a:rPr>
                        <a:t>Fixed/Consumptrion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3" name="直接连接符 2">
            <a:extLst>
              <a:ext uri="{FF2B5EF4-FFF2-40B4-BE49-F238E27FC236}">
                <a16:creationId xmlns:a16="http://schemas.microsoft.com/office/drawing/2014/main" id="{F781806D-1942-3E44-711B-DD887A23B51E}"/>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5" name="Table 14">
            <a:extLst>
              <a:ext uri="{FF2B5EF4-FFF2-40B4-BE49-F238E27FC236}">
                <a16:creationId xmlns:a16="http://schemas.microsoft.com/office/drawing/2014/main" id="{52BB468C-2381-F5C4-9C53-86E6BF9C7A6C}"/>
              </a:ext>
            </a:extLst>
          </p:cNvPr>
          <p:cNvGraphicFramePr>
            <a:graphicFrameLocks noGrp="1"/>
          </p:cNvGraphicFramePr>
          <p:nvPr>
            <p:extLst>
              <p:ext uri="{D42A27DB-BD31-4B8C-83A1-F6EECF244321}">
                <p14:modId xmlns:p14="http://schemas.microsoft.com/office/powerpoint/2010/main" val="3375593038"/>
              </p:ext>
            </p:extLst>
          </p:nvPr>
        </p:nvGraphicFramePr>
        <p:xfrm>
          <a:off x="132060" y="1628691"/>
          <a:ext cx="5698421" cy="2069594"/>
        </p:xfrm>
        <a:graphic>
          <a:graphicData uri="http://schemas.openxmlformats.org/drawingml/2006/table">
            <a:tbl>
              <a:tblPr/>
              <a:tblGrid>
                <a:gridCol w="443718">
                  <a:extLst>
                    <a:ext uri="{9D8B030D-6E8A-4147-A177-3AD203B41FA5}">
                      <a16:colId xmlns:a16="http://schemas.microsoft.com/office/drawing/2014/main" val="2405149806"/>
                    </a:ext>
                  </a:extLst>
                </a:gridCol>
                <a:gridCol w="236967">
                  <a:extLst>
                    <a:ext uri="{9D8B030D-6E8A-4147-A177-3AD203B41FA5}">
                      <a16:colId xmlns:a16="http://schemas.microsoft.com/office/drawing/2014/main" val="3773246756"/>
                    </a:ext>
                  </a:extLst>
                </a:gridCol>
                <a:gridCol w="580638">
                  <a:extLst>
                    <a:ext uri="{9D8B030D-6E8A-4147-A177-3AD203B41FA5}">
                      <a16:colId xmlns:a16="http://schemas.microsoft.com/office/drawing/2014/main" val="2093791787"/>
                    </a:ext>
                  </a:extLst>
                </a:gridCol>
                <a:gridCol w="2002538">
                  <a:extLst>
                    <a:ext uri="{9D8B030D-6E8A-4147-A177-3AD203B41FA5}">
                      <a16:colId xmlns:a16="http://schemas.microsoft.com/office/drawing/2014/main" val="2315190367"/>
                    </a:ext>
                  </a:extLst>
                </a:gridCol>
                <a:gridCol w="405760">
                  <a:extLst>
                    <a:ext uri="{9D8B030D-6E8A-4147-A177-3AD203B41FA5}">
                      <a16:colId xmlns:a16="http://schemas.microsoft.com/office/drawing/2014/main" val="3469496231"/>
                    </a:ext>
                  </a:extLst>
                </a:gridCol>
                <a:gridCol w="405760">
                  <a:extLst>
                    <a:ext uri="{9D8B030D-6E8A-4147-A177-3AD203B41FA5}">
                      <a16:colId xmlns:a16="http://schemas.microsoft.com/office/drawing/2014/main" val="618512481"/>
                    </a:ext>
                  </a:extLst>
                </a:gridCol>
                <a:gridCol w="405760">
                  <a:extLst>
                    <a:ext uri="{9D8B030D-6E8A-4147-A177-3AD203B41FA5}">
                      <a16:colId xmlns:a16="http://schemas.microsoft.com/office/drawing/2014/main" val="3970721349"/>
                    </a:ext>
                  </a:extLst>
                </a:gridCol>
                <a:gridCol w="405760">
                  <a:extLst>
                    <a:ext uri="{9D8B030D-6E8A-4147-A177-3AD203B41FA5}">
                      <a16:colId xmlns:a16="http://schemas.microsoft.com/office/drawing/2014/main" val="1101408634"/>
                    </a:ext>
                  </a:extLst>
                </a:gridCol>
                <a:gridCol w="405760">
                  <a:extLst>
                    <a:ext uri="{9D8B030D-6E8A-4147-A177-3AD203B41FA5}">
                      <a16:colId xmlns:a16="http://schemas.microsoft.com/office/drawing/2014/main" val="519409402"/>
                    </a:ext>
                  </a:extLst>
                </a:gridCol>
                <a:gridCol w="405760">
                  <a:extLst>
                    <a:ext uri="{9D8B030D-6E8A-4147-A177-3AD203B41FA5}">
                      <a16:colId xmlns:a16="http://schemas.microsoft.com/office/drawing/2014/main" val="3555629991"/>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Acc Receivable Operating  Lease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1276.3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35653082"/>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5010453</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MS</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23671888"/>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a:t>
                      </a:r>
                      <a:r>
                        <a:rPr kumimoji="0" lang="en-US" altLang="zh-CN" sz="1000" b="0" i="0" u="none" strike="noStrike" kern="1200" cap="none" spc="0" normalizeH="0" baseline="0" noProof="0">
                          <a:ln>
                            <a:noFill/>
                          </a:ln>
                          <a:solidFill>
                            <a:srgbClr val="000000"/>
                          </a:solidFill>
                          <a:effectLst/>
                          <a:uLnTx/>
                          <a:uFillTx/>
                          <a:latin typeface="+mn-lt"/>
                          <a:ea typeface="+mn-ea"/>
                          <a:cs typeface="+mn-cs"/>
                        </a:rPr>
                        <a:t>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1130600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Unbilled AR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916.3</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916.3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419790232"/>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50898099"/>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80197835"/>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7014010"/>
                  </a:ext>
                </a:extLst>
              </a:tr>
            </a:tbl>
          </a:graphicData>
        </a:graphic>
      </p:graphicFrame>
      <p:graphicFrame>
        <p:nvGraphicFramePr>
          <p:cNvPr id="16" name="Table 15">
            <a:extLst>
              <a:ext uri="{FF2B5EF4-FFF2-40B4-BE49-F238E27FC236}">
                <a16:creationId xmlns:a16="http://schemas.microsoft.com/office/drawing/2014/main" id="{DFE80732-AE6D-2DA0-1120-8FE3E66A7643}"/>
              </a:ext>
            </a:extLst>
          </p:cNvPr>
          <p:cNvGraphicFramePr>
            <a:graphicFrameLocks noGrp="1"/>
          </p:cNvGraphicFramePr>
          <p:nvPr>
            <p:extLst>
              <p:ext uri="{D42A27DB-BD31-4B8C-83A1-F6EECF244321}">
                <p14:modId xmlns:p14="http://schemas.microsoft.com/office/powerpoint/2010/main" val="3588065097"/>
              </p:ext>
            </p:extLst>
          </p:nvPr>
        </p:nvGraphicFramePr>
        <p:xfrm>
          <a:off x="6300546" y="1628691"/>
          <a:ext cx="5748756" cy="1965186"/>
        </p:xfrm>
        <a:graphic>
          <a:graphicData uri="http://schemas.openxmlformats.org/drawingml/2006/table">
            <a:tbl>
              <a:tblPr/>
              <a:tblGrid>
                <a:gridCol w="442829">
                  <a:extLst>
                    <a:ext uri="{9D8B030D-6E8A-4147-A177-3AD203B41FA5}">
                      <a16:colId xmlns:a16="http://schemas.microsoft.com/office/drawing/2014/main" val="2405149806"/>
                    </a:ext>
                  </a:extLst>
                </a:gridCol>
                <a:gridCol w="236492">
                  <a:extLst>
                    <a:ext uri="{9D8B030D-6E8A-4147-A177-3AD203B41FA5}">
                      <a16:colId xmlns:a16="http://schemas.microsoft.com/office/drawing/2014/main" val="3773246756"/>
                    </a:ext>
                  </a:extLst>
                </a:gridCol>
                <a:gridCol w="579473">
                  <a:extLst>
                    <a:ext uri="{9D8B030D-6E8A-4147-A177-3AD203B41FA5}">
                      <a16:colId xmlns:a16="http://schemas.microsoft.com/office/drawing/2014/main" val="2093791787"/>
                    </a:ext>
                  </a:extLst>
                </a:gridCol>
                <a:gridCol w="1998522">
                  <a:extLst>
                    <a:ext uri="{9D8B030D-6E8A-4147-A177-3AD203B41FA5}">
                      <a16:colId xmlns:a16="http://schemas.microsoft.com/office/drawing/2014/main" val="2315190367"/>
                    </a:ext>
                  </a:extLst>
                </a:gridCol>
                <a:gridCol w="415240">
                  <a:extLst>
                    <a:ext uri="{9D8B030D-6E8A-4147-A177-3AD203B41FA5}">
                      <a16:colId xmlns:a16="http://schemas.microsoft.com/office/drawing/2014/main" val="3469496231"/>
                    </a:ext>
                  </a:extLst>
                </a:gridCol>
                <a:gridCol w="415240">
                  <a:extLst>
                    <a:ext uri="{9D8B030D-6E8A-4147-A177-3AD203B41FA5}">
                      <a16:colId xmlns:a16="http://schemas.microsoft.com/office/drawing/2014/main" val="618512481"/>
                    </a:ext>
                  </a:extLst>
                </a:gridCol>
                <a:gridCol w="415240">
                  <a:extLst>
                    <a:ext uri="{9D8B030D-6E8A-4147-A177-3AD203B41FA5}">
                      <a16:colId xmlns:a16="http://schemas.microsoft.com/office/drawing/2014/main" val="3907089414"/>
                    </a:ext>
                  </a:extLst>
                </a:gridCol>
                <a:gridCol w="415240">
                  <a:extLst>
                    <a:ext uri="{9D8B030D-6E8A-4147-A177-3AD203B41FA5}">
                      <a16:colId xmlns:a16="http://schemas.microsoft.com/office/drawing/2014/main" val="1101408634"/>
                    </a:ext>
                  </a:extLst>
                </a:gridCol>
                <a:gridCol w="415240">
                  <a:extLst>
                    <a:ext uri="{9D8B030D-6E8A-4147-A177-3AD203B41FA5}">
                      <a16:colId xmlns:a16="http://schemas.microsoft.com/office/drawing/2014/main" val="519409402"/>
                    </a:ext>
                  </a:extLst>
                </a:gridCol>
                <a:gridCol w="415240">
                  <a:extLst>
                    <a:ext uri="{9D8B030D-6E8A-4147-A177-3AD203B41FA5}">
                      <a16:colId xmlns:a16="http://schemas.microsoft.com/office/drawing/2014/main" val="3555629991"/>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Acc Receivable F</a:t>
                      </a:r>
                      <a:r>
                        <a:rPr kumimoji="0" lang="en-US" altLang="zh-CN" sz="1000" b="0" i="0" u="none" strike="noStrike" kern="1200" cap="none" spc="0" normalizeH="0" baseline="0">
                          <a:ln>
                            <a:noFill/>
                          </a:ln>
                          <a:solidFill>
                            <a:srgbClr val="000000"/>
                          </a:solidFill>
                          <a:effectLst/>
                          <a:uLnTx/>
                          <a:uFillTx/>
                          <a:latin typeface="+mn-lt"/>
                          <a:ea typeface="+mn-ea"/>
                          <a:cs typeface="+mn-cs"/>
                        </a:rPr>
                        <a:t>inance</a:t>
                      </a:r>
                      <a:r>
                        <a:rPr kumimoji="0" lang="en-US" sz="1000" b="0" i="0" u="none" strike="noStrike" kern="1200" cap="none" spc="0" normalizeH="0" baseline="0">
                          <a:ln>
                            <a:noFill/>
                          </a:ln>
                          <a:solidFill>
                            <a:srgbClr val="000000"/>
                          </a:solidFill>
                          <a:effectLst/>
                          <a:uLnTx/>
                          <a:uFillTx/>
                          <a:latin typeface="+mn-lt"/>
                          <a:ea typeface="+mn-ea"/>
                          <a:cs typeface="+mn-cs"/>
                        </a:rPr>
                        <a:t>  Lease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1276.3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35653082"/>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5010453</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MS</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23671888"/>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a:t>
                      </a:r>
                      <a:r>
                        <a:rPr kumimoji="0" lang="en-US" altLang="zh-CN" sz="1000" b="0" i="0" u="none" strike="noStrike" kern="1200" cap="none" spc="0" normalizeH="0" baseline="0" noProof="0">
                          <a:ln>
                            <a:noFill/>
                          </a:ln>
                          <a:solidFill>
                            <a:srgbClr val="000000"/>
                          </a:solidFill>
                          <a:effectLst/>
                          <a:uLnTx/>
                          <a:uFillTx/>
                          <a:latin typeface="+mn-lt"/>
                          <a:ea typeface="+mn-ea"/>
                          <a:cs typeface="+mn-cs"/>
                        </a:rPr>
                        <a:t>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1130600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Unbilled AR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916.3</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916.3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368765296"/>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Finance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50898099"/>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Finance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80197835"/>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Finance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7014010"/>
                  </a:ext>
                </a:extLst>
              </a:tr>
            </a:tbl>
          </a:graphicData>
        </a:graphic>
      </p:graphicFrame>
      <p:sp>
        <p:nvSpPr>
          <p:cNvPr id="20" name="Rectangle 5">
            <a:extLst>
              <a:ext uri="{FF2B5EF4-FFF2-40B4-BE49-F238E27FC236}">
                <a16:creationId xmlns:a16="http://schemas.microsoft.com/office/drawing/2014/main" id="{5BAD5BD0-B955-8BAC-04AE-30BECC5B444A}"/>
              </a:ext>
            </a:extLst>
          </p:cNvPr>
          <p:cNvSpPr/>
          <p:nvPr/>
        </p:nvSpPr>
        <p:spPr>
          <a:xfrm>
            <a:off x="6742545" y="2983345"/>
            <a:ext cx="5306757" cy="609493"/>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21" name="对话气泡: 矩形 11">
            <a:extLst>
              <a:ext uri="{FF2B5EF4-FFF2-40B4-BE49-F238E27FC236}">
                <a16:creationId xmlns:a16="http://schemas.microsoft.com/office/drawing/2014/main" id="{B18A151A-F641-EE0A-BF45-90596A156F6D}"/>
              </a:ext>
            </a:extLst>
          </p:cNvPr>
          <p:cNvSpPr/>
          <p:nvPr/>
        </p:nvSpPr>
        <p:spPr>
          <a:xfrm>
            <a:off x="6478403" y="4368478"/>
            <a:ext cx="5387899" cy="579014"/>
          </a:xfrm>
          <a:prstGeom prst="wedgeRectCallout">
            <a:avLst>
              <a:gd name="adj1" fmla="val -37864"/>
              <a:gd name="adj2" fmla="val -16322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Only applicable in variable charge scenario, directly related to HW component in the lease, which deemed as variable leasing revenue under IFRS16 </a:t>
            </a:r>
          </a:p>
        </p:txBody>
      </p:sp>
      <p:sp>
        <p:nvSpPr>
          <p:cNvPr id="8" name="文本框 7">
            <a:extLst>
              <a:ext uri="{FF2B5EF4-FFF2-40B4-BE49-F238E27FC236}">
                <a16:creationId xmlns:a16="http://schemas.microsoft.com/office/drawing/2014/main" id="{0B9C3A85-5722-E038-6979-756BA58907E0}"/>
              </a:ext>
            </a:extLst>
          </p:cNvPr>
          <p:cNvSpPr txBox="1"/>
          <p:nvPr/>
        </p:nvSpPr>
        <p:spPr>
          <a:xfrm>
            <a:off x="3875284" y="1622960"/>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9" name="文本框 8">
            <a:extLst>
              <a:ext uri="{FF2B5EF4-FFF2-40B4-BE49-F238E27FC236}">
                <a16:creationId xmlns:a16="http://schemas.microsoft.com/office/drawing/2014/main" id="{91B24135-AD60-6B5A-07E2-5BC32D8676BC}"/>
              </a:ext>
            </a:extLst>
          </p:cNvPr>
          <p:cNvSpPr txBox="1"/>
          <p:nvPr/>
        </p:nvSpPr>
        <p:spPr>
          <a:xfrm>
            <a:off x="10111493" y="1618852"/>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Tree>
    <p:extLst>
      <p:ext uri="{BB962C8B-B14F-4D97-AF65-F5344CB8AC3E}">
        <p14:creationId xmlns:p14="http://schemas.microsoft.com/office/powerpoint/2010/main" val="100407850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4BC1AE86-011F-DC65-6535-F71F9199C065}"/>
            </a:ext>
          </a:extLst>
        </p:cNvPr>
        <p:cNvGrpSpPr/>
        <p:nvPr/>
      </p:nvGrpSpPr>
      <p:grpSpPr>
        <a:xfrm>
          <a:off x="0" y="0"/>
          <a:ext cx="0" cy="0"/>
          <a:chOff x="0" y="0"/>
          <a:chExt cx="0" cy="0"/>
        </a:xfrm>
      </p:grpSpPr>
      <p:sp>
        <p:nvSpPr>
          <p:cNvPr id="28" name="文本框 27">
            <a:extLst>
              <a:ext uri="{FF2B5EF4-FFF2-40B4-BE49-F238E27FC236}">
                <a16:creationId xmlns:a16="http://schemas.microsoft.com/office/drawing/2014/main" id="{3E73E9CE-303D-FC8D-8FD7-AD507048C774}"/>
              </a:ext>
            </a:extLst>
          </p:cNvPr>
          <p:cNvSpPr txBox="1"/>
          <p:nvPr/>
        </p:nvSpPr>
        <p:spPr>
          <a:xfrm>
            <a:off x="40260" y="-30679"/>
            <a:ext cx="4470947" cy="400110"/>
          </a:xfrm>
          <a:prstGeom prst="rect">
            <a:avLst/>
          </a:prstGeom>
          <a:noFill/>
        </p:spPr>
        <p:txBody>
          <a:bodyPr wrap="square" rtlCol="0">
            <a:spAutoFit/>
          </a:bodyPr>
          <a:lstStyle/>
          <a:p>
            <a:r>
              <a:rPr lang="nl-NL" altLang="zh-CN" sz="2000" b="1"/>
              <a:t>IaaS_S&amp;D_MSA</a:t>
            </a:r>
            <a:endParaRPr lang="zh-CN" altLang="en-US" sz="2000" b="1"/>
          </a:p>
        </p:txBody>
      </p:sp>
      <p:graphicFrame>
        <p:nvGraphicFramePr>
          <p:cNvPr id="2" name="表格 1">
            <a:extLst>
              <a:ext uri="{FF2B5EF4-FFF2-40B4-BE49-F238E27FC236}">
                <a16:creationId xmlns:a16="http://schemas.microsoft.com/office/drawing/2014/main" id="{AE55915E-BCEB-6C79-83B6-0CAF235501BC}"/>
              </a:ext>
            </a:extLst>
          </p:cNvPr>
          <p:cNvGraphicFramePr>
            <a:graphicFrameLocks noGrp="1"/>
          </p:cNvGraphicFramePr>
          <p:nvPr/>
        </p:nvGraphicFramePr>
        <p:xfrm>
          <a:off x="61720" y="342547"/>
          <a:ext cx="5958771" cy="1143000"/>
        </p:xfrm>
        <a:graphic>
          <a:graphicData uri="http://schemas.openxmlformats.org/drawingml/2006/table">
            <a:tbl>
              <a:tblPr firstRow="1" bandRow="1">
                <a:tableStyleId>{3C2FFA5D-87B4-456A-9821-1D502468CF0F}</a:tableStyleId>
              </a:tblPr>
              <a:tblGrid>
                <a:gridCol w="730345">
                  <a:extLst>
                    <a:ext uri="{9D8B030D-6E8A-4147-A177-3AD203B41FA5}">
                      <a16:colId xmlns:a16="http://schemas.microsoft.com/office/drawing/2014/main" val="869603910"/>
                    </a:ext>
                  </a:extLst>
                </a:gridCol>
                <a:gridCol w="694418">
                  <a:extLst>
                    <a:ext uri="{9D8B030D-6E8A-4147-A177-3AD203B41FA5}">
                      <a16:colId xmlns:a16="http://schemas.microsoft.com/office/drawing/2014/main" val="238663902"/>
                    </a:ext>
                  </a:extLst>
                </a:gridCol>
                <a:gridCol w="669851">
                  <a:extLst>
                    <a:ext uri="{9D8B030D-6E8A-4147-A177-3AD203B41FA5}">
                      <a16:colId xmlns:a16="http://schemas.microsoft.com/office/drawing/2014/main" val="4114365151"/>
                    </a:ext>
                  </a:extLst>
                </a:gridCol>
                <a:gridCol w="655044">
                  <a:extLst>
                    <a:ext uri="{9D8B030D-6E8A-4147-A177-3AD203B41FA5}">
                      <a16:colId xmlns:a16="http://schemas.microsoft.com/office/drawing/2014/main" val="4075178046"/>
                    </a:ext>
                  </a:extLst>
                </a:gridCol>
                <a:gridCol w="774337">
                  <a:extLst>
                    <a:ext uri="{9D8B030D-6E8A-4147-A177-3AD203B41FA5}">
                      <a16:colId xmlns:a16="http://schemas.microsoft.com/office/drawing/2014/main" val="973533418"/>
                    </a:ext>
                  </a:extLst>
                </a:gridCol>
                <a:gridCol w="715024">
                  <a:extLst>
                    <a:ext uri="{9D8B030D-6E8A-4147-A177-3AD203B41FA5}">
                      <a16:colId xmlns:a16="http://schemas.microsoft.com/office/drawing/2014/main" val="2377711782"/>
                    </a:ext>
                  </a:extLst>
                </a:gridCol>
                <a:gridCol w="715024">
                  <a:extLst>
                    <a:ext uri="{9D8B030D-6E8A-4147-A177-3AD203B41FA5}">
                      <a16:colId xmlns:a16="http://schemas.microsoft.com/office/drawing/2014/main" val="3946881186"/>
                    </a:ext>
                  </a:extLst>
                </a:gridCol>
                <a:gridCol w="100472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rgbClr val="C00000"/>
                          </a:solidFill>
                        </a:rPr>
                        <a:t>Fixed/Consumptrion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2" name="表格 11">
            <a:extLst>
              <a:ext uri="{FF2B5EF4-FFF2-40B4-BE49-F238E27FC236}">
                <a16:creationId xmlns:a16="http://schemas.microsoft.com/office/drawing/2014/main" id="{02B4D56C-9AAA-6DF2-8E9D-679F4B258922}"/>
              </a:ext>
            </a:extLst>
          </p:cNvPr>
          <p:cNvGraphicFramePr>
            <a:graphicFrameLocks noGrp="1"/>
          </p:cNvGraphicFramePr>
          <p:nvPr/>
        </p:nvGraphicFramePr>
        <p:xfrm>
          <a:off x="6203698" y="361104"/>
          <a:ext cx="5937311" cy="1143000"/>
        </p:xfrm>
        <a:graphic>
          <a:graphicData uri="http://schemas.openxmlformats.org/drawingml/2006/table">
            <a:tbl>
              <a:tblPr firstRow="1" bandRow="1">
                <a:tableStyleId>{3C2FFA5D-87B4-456A-9821-1D502468CF0F}</a:tableStyleId>
              </a:tblPr>
              <a:tblGrid>
                <a:gridCol w="674556">
                  <a:extLst>
                    <a:ext uri="{9D8B030D-6E8A-4147-A177-3AD203B41FA5}">
                      <a16:colId xmlns:a16="http://schemas.microsoft.com/office/drawing/2014/main" val="869603910"/>
                    </a:ext>
                  </a:extLst>
                </a:gridCol>
                <a:gridCol w="721347">
                  <a:extLst>
                    <a:ext uri="{9D8B030D-6E8A-4147-A177-3AD203B41FA5}">
                      <a16:colId xmlns:a16="http://schemas.microsoft.com/office/drawing/2014/main" val="238663902"/>
                    </a:ext>
                  </a:extLst>
                </a:gridCol>
                <a:gridCol w="678032">
                  <a:extLst>
                    <a:ext uri="{9D8B030D-6E8A-4147-A177-3AD203B41FA5}">
                      <a16:colId xmlns:a16="http://schemas.microsoft.com/office/drawing/2014/main" val="4114365151"/>
                    </a:ext>
                  </a:extLst>
                </a:gridCol>
                <a:gridCol w="665820">
                  <a:extLst>
                    <a:ext uri="{9D8B030D-6E8A-4147-A177-3AD203B41FA5}">
                      <a16:colId xmlns:a16="http://schemas.microsoft.com/office/drawing/2014/main" val="4075178046"/>
                    </a:ext>
                  </a:extLst>
                </a:gridCol>
                <a:gridCol w="771548">
                  <a:extLst>
                    <a:ext uri="{9D8B030D-6E8A-4147-A177-3AD203B41FA5}">
                      <a16:colId xmlns:a16="http://schemas.microsoft.com/office/drawing/2014/main" val="973533418"/>
                    </a:ext>
                  </a:extLst>
                </a:gridCol>
                <a:gridCol w="712449">
                  <a:extLst>
                    <a:ext uri="{9D8B030D-6E8A-4147-A177-3AD203B41FA5}">
                      <a16:colId xmlns:a16="http://schemas.microsoft.com/office/drawing/2014/main" val="2377711782"/>
                    </a:ext>
                  </a:extLst>
                </a:gridCol>
                <a:gridCol w="712449">
                  <a:extLst>
                    <a:ext uri="{9D8B030D-6E8A-4147-A177-3AD203B41FA5}">
                      <a16:colId xmlns:a16="http://schemas.microsoft.com/office/drawing/2014/main" val="3530919532"/>
                    </a:ext>
                  </a:extLst>
                </a:gridCol>
                <a:gridCol w="1001110">
                  <a:extLst>
                    <a:ext uri="{9D8B030D-6E8A-4147-A177-3AD203B41FA5}">
                      <a16:colId xmlns:a16="http://schemas.microsoft.com/office/drawing/2014/main" val="221569069"/>
                    </a:ext>
                  </a:extLst>
                </a:gridCol>
              </a:tblGrid>
              <a:tr h="32667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199636">
                <a:tc>
                  <a:txBody>
                    <a:bodyPr/>
                    <a:lstStyle/>
                    <a:p>
                      <a:r>
                        <a:rPr lang="en-US" altLang="zh-CN" sz="1050">
                          <a:solidFill>
                            <a:srgbClr val="C00000"/>
                          </a:solidFill>
                        </a:rPr>
                        <a:t>Fixed/Consumptrion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3" name="直接连接符 2">
            <a:extLst>
              <a:ext uri="{FF2B5EF4-FFF2-40B4-BE49-F238E27FC236}">
                <a16:creationId xmlns:a16="http://schemas.microsoft.com/office/drawing/2014/main" id="{5C0C830D-F9A8-93D7-E99B-E2C554D1DB1F}"/>
              </a:ext>
            </a:extLst>
          </p:cNvPr>
          <p:cNvCxnSpPr>
            <a:cxnSpLocks/>
          </p:cNvCxnSpPr>
          <p:nvPr/>
        </p:nvCxnSpPr>
        <p:spPr>
          <a:xfrm>
            <a:off x="6096000"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15" name="Table 14">
            <a:extLst>
              <a:ext uri="{FF2B5EF4-FFF2-40B4-BE49-F238E27FC236}">
                <a16:creationId xmlns:a16="http://schemas.microsoft.com/office/drawing/2014/main" id="{41B9CE06-161A-9FF4-7E28-1BEC426CCB0A}"/>
              </a:ext>
            </a:extLst>
          </p:cNvPr>
          <p:cNvGraphicFramePr>
            <a:graphicFrameLocks noGrp="1"/>
          </p:cNvGraphicFramePr>
          <p:nvPr/>
        </p:nvGraphicFramePr>
        <p:xfrm>
          <a:off x="107229" y="1622960"/>
          <a:ext cx="5698421" cy="2847469"/>
        </p:xfrm>
        <a:graphic>
          <a:graphicData uri="http://schemas.openxmlformats.org/drawingml/2006/table">
            <a:tbl>
              <a:tblPr/>
              <a:tblGrid>
                <a:gridCol w="443718">
                  <a:extLst>
                    <a:ext uri="{9D8B030D-6E8A-4147-A177-3AD203B41FA5}">
                      <a16:colId xmlns:a16="http://schemas.microsoft.com/office/drawing/2014/main" val="2405149806"/>
                    </a:ext>
                  </a:extLst>
                </a:gridCol>
                <a:gridCol w="236967">
                  <a:extLst>
                    <a:ext uri="{9D8B030D-6E8A-4147-A177-3AD203B41FA5}">
                      <a16:colId xmlns:a16="http://schemas.microsoft.com/office/drawing/2014/main" val="3773246756"/>
                    </a:ext>
                  </a:extLst>
                </a:gridCol>
                <a:gridCol w="580638">
                  <a:extLst>
                    <a:ext uri="{9D8B030D-6E8A-4147-A177-3AD203B41FA5}">
                      <a16:colId xmlns:a16="http://schemas.microsoft.com/office/drawing/2014/main" val="2093791787"/>
                    </a:ext>
                  </a:extLst>
                </a:gridCol>
                <a:gridCol w="2002538">
                  <a:extLst>
                    <a:ext uri="{9D8B030D-6E8A-4147-A177-3AD203B41FA5}">
                      <a16:colId xmlns:a16="http://schemas.microsoft.com/office/drawing/2014/main" val="2315190367"/>
                    </a:ext>
                  </a:extLst>
                </a:gridCol>
                <a:gridCol w="405760">
                  <a:extLst>
                    <a:ext uri="{9D8B030D-6E8A-4147-A177-3AD203B41FA5}">
                      <a16:colId xmlns:a16="http://schemas.microsoft.com/office/drawing/2014/main" val="3469496231"/>
                    </a:ext>
                  </a:extLst>
                </a:gridCol>
                <a:gridCol w="405760">
                  <a:extLst>
                    <a:ext uri="{9D8B030D-6E8A-4147-A177-3AD203B41FA5}">
                      <a16:colId xmlns:a16="http://schemas.microsoft.com/office/drawing/2014/main" val="618512481"/>
                    </a:ext>
                  </a:extLst>
                </a:gridCol>
                <a:gridCol w="405760">
                  <a:extLst>
                    <a:ext uri="{9D8B030D-6E8A-4147-A177-3AD203B41FA5}">
                      <a16:colId xmlns:a16="http://schemas.microsoft.com/office/drawing/2014/main" val="3970721349"/>
                    </a:ext>
                  </a:extLst>
                </a:gridCol>
                <a:gridCol w="405760">
                  <a:extLst>
                    <a:ext uri="{9D8B030D-6E8A-4147-A177-3AD203B41FA5}">
                      <a16:colId xmlns:a16="http://schemas.microsoft.com/office/drawing/2014/main" val="1101408634"/>
                    </a:ext>
                  </a:extLst>
                </a:gridCol>
                <a:gridCol w="405760">
                  <a:extLst>
                    <a:ext uri="{9D8B030D-6E8A-4147-A177-3AD203B41FA5}">
                      <a16:colId xmlns:a16="http://schemas.microsoft.com/office/drawing/2014/main" val="519409402"/>
                    </a:ext>
                  </a:extLst>
                </a:gridCol>
                <a:gridCol w="405760">
                  <a:extLst>
                    <a:ext uri="{9D8B030D-6E8A-4147-A177-3AD203B41FA5}">
                      <a16:colId xmlns:a16="http://schemas.microsoft.com/office/drawing/2014/main" val="3555629991"/>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Acc Receivable Operating  Lease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1276.3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35653082"/>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5010453</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MS</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23671888"/>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Revenue-HW</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903.3</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903.3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368765296"/>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sngStrike" kern="1200" cap="none" spc="0" normalizeH="0" baseline="0">
                          <a:ln>
                            <a:noFill/>
                          </a:ln>
                          <a:solidFill>
                            <a:schemeClr val="tx1"/>
                          </a:solidFill>
                          <a:effectLst/>
                          <a:uLnTx/>
                          <a:uFillTx/>
                          <a:latin typeface="+mn-lt"/>
                          <a:ea typeface="+mn-ea"/>
                          <a:cs typeface="+mn-cs"/>
                        </a:rPr>
                        <a:t>5010440</a:t>
                      </a:r>
                    </a:p>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chemeClr val="tx1"/>
                          </a:solidFill>
                          <a:effectLst/>
                          <a:uLnTx/>
                          <a:uFillTx/>
                          <a:latin typeface="+mn-lt"/>
                          <a:ea typeface="+mn-ea"/>
                          <a:cs typeface="+mn-cs"/>
                        </a:rPr>
                        <a:t>5010401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Funded Premier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11</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11</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4085766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Long term receivable-Product Operating Lease –Factory &amp; Deployment services</a:t>
                      </a:r>
                      <a:endParaRPr lang="en-US" altLang="zh-CN" sz="1000" b="0" i="0" u="none" strike="noStrike">
                        <a:solidFill>
                          <a:srgbClr val="000000"/>
                        </a:solidFill>
                        <a:effectLst/>
                        <a:latin typeface="+mn-l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2</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2</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884634845"/>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50898099"/>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80197835"/>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7014010"/>
                  </a:ext>
                </a:extLst>
              </a:tr>
            </a:tbl>
          </a:graphicData>
        </a:graphic>
      </p:graphicFrame>
      <p:graphicFrame>
        <p:nvGraphicFramePr>
          <p:cNvPr id="16" name="Table 15">
            <a:extLst>
              <a:ext uri="{FF2B5EF4-FFF2-40B4-BE49-F238E27FC236}">
                <a16:creationId xmlns:a16="http://schemas.microsoft.com/office/drawing/2014/main" id="{FE83DDAE-06F6-0E3F-2571-18B6A2CBBF97}"/>
              </a:ext>
            </a:extLst>
          </p:cNvPr>
          <p:cNvGraphicFramePr>
            <a:graphicFrameLocks noGrp="1"/>
          </p:cNvGraphicFramePr>
          <p:nvPr/>
        </p:nvGraphicFramePr>
        <p:xfrm>
          <a:off x="6300546" y="1628691"/>
          <a:ext cx="5748756" cy="2743061"/>
        </p:xfrm>
        <a:graphic>
          <a:graphicData uri="http://schemas.openxmlformats.org/drawingml/2006/table">
            <a:tbl>
              <a:tblPr/>
              <a:tblGrid>
                <a:gridCol w="442829">
                  <a:extLst>
                    <a:ext uri="{9D8B030D-6E8A-4147-A177-3AD203B41FA5}">
                      <a16:colId xmlns:a16="http://schemas.microsoft.com/office/drawing/2014/main" val="2405149806"/>
                    </a:ext>
                  </a:extLst>
                </a:gridCol>
                <a:gridCol w="236492">
                  <a:extLst>
                    <a:ext uri="{9D8B030D-6E8A-4147-A177-3AD203B41FA5}">
                      <a16:colId xmlns:a16="http://schemas.microsoft.com/office/drawing/2014/main" val="3773246756"/>
                    </a:ext>
                  </a:extLst>
                </a:gridCol>
                <a:gridCol w="579473">
                  <a:extLst>
                    <a:ext uri="{9D8B030D-6E8A-4147-A177-3AD203B41FA5}">
                      <a16:colId xmlns:a16="http://schemas.microsoft.com/office/drawing/2014/main" val="2093791787"/>
                    </a:ext>
                  </a:extLst>
                </a:gridCol>
                <a:gridCol w="1998522">
                  <a:extLst>
                    <a:ext uri="{9D8B030D-6E8A-4147-A177-3AD203B41FA5}">
                      <a16:colId xmlns:a16="http://schemas.microsoft.com/office/drawing/2014/main" val="2315190367"/>
                    </a:ext>
                  </a:extLst>
                </a:gridCol>
                <a:gridCol w="415240">
                  <a:extLst>
                    <a:ext uri="{9D8B030D-6E8A-4147-A177-3AD203B41FA5}">
                      <a16:colId xmlns:a16="http://schemas.microsoft.com/office/drawing/2014/main" val="3469496231"/>
                    </a:ext>
                  </a:extLst>
                </a:gridCol>
                <a:gridCol w="415240">
                  <a:extLst>
                    <a:ext uri="{9D8B030D-6E8A-4147-A177-3AD203B41FA5}">
                      <a16:colId xmlns:a16="http://schemas.microsoft.com/office/drawing/2014/main" val="618512481"/>
                    </a:ext>
                  </a:extLst>
                </a:gridCol>
                <a:gridCol w="415240">
                  <a:extLst>
                    <a:ext uri="{9D8B030D-6E8A-4147-A177-3AD203B41FA5}">
                      <a16:colId xmlns:a16="http://schemas.microsoft.com/office/drawing/2014/main" val="3907089414"/>
                    </a:ext>
                  </a:extLst>
                </a:gridCol>
                <a:gridCol w="415240">
                  <a:extLst>
                    <a:ext uri="{9D8B030D-6E8A-4147-A177-3AD203B41FA5}">
                      <a16:colId xmlns:a16="http://schemas.microsoft.com/office/drawing/2014/main" val="1101408634"/>
                    </a:ext>
                  </a:extLst>
                </a:gridCol>
                <a:gridCol w="415240">
                  <a:extLst>
                    <a:ext uri="{9D8B030D-6E8A-4147-A177-3AD203B41FA5}">
                      <a16:colId xmlns:a16="http://schemas.microsoft.com/office/drawing/2014/main" val="519409402"/>
                    </a:ext>
                  </a:extLst>
                </a:gridCol>
                <a:gridCol w="415240">
                  <a:extLst>
                    <a:ext uri="{9D8B030D-6E8A-4147-A177-3AD203B41FA5}">
                      <a16:colId xmlns:a16="http://schemas.microsoft.com/office/drawing/2014/main" val="3555629991"/>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2174105908"/>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91906833"/>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61494213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Acc Receivable F</a:t>
                      </a:r>
                      <a:r>
                        <a:rPr kumimoji="0" lang="en-US" altLang="zh-CN" sz="1000" b="0" i="0" u="none" strike="noStrike" kern="1200" cap="none" spc="0" normalizeH="0" baseline="0">
                          <a:ln>
                            <a:noFill/>
                          </a:ln>
                          <a:solidFill>
                            <a:srgbClr val="000000"/>
                          </a:solidFill>
                          <a:effectLst/>
                          <a:uLnTx/>
                          <a:uFillTx/>
                          <a:latin typeface="+mn-lt"/>
                          <a:ea typeface="+mn-ea"/>
                          <a:cs typeface="+mn-cs"/>
                        </a:rPr>
                        <a:t>inance</a:t>
                      </a:r>
                      <a:r>
                        <a:rPr kumimoji="0" lang="en-US" sz="1000" b="0" i="0" u="none" strike="noStrike" kern="1200" cap="none" spc="0" normalizeH="0" baseline="0">
                          <a:ln>
                            <a:noFill/>
                          </a:ln>
                          <a:solidFill>
                            <a:srgbClr val="000000"/>
                          </a:solidFill>
                          <a:effectLst/>
                          <a:uLnTx/>
                          <a:uFillTx/>
                          <a:latin typeface="+mn-lt"/>
                          <a:ea typeface="+mn-ea"/>
                          <a:cs typeface="+mn-cs"/>
                        </a:rPr>
                        <a:t>  Lease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1276.3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4050222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35653082"/>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5010453</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MS</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23671888"/>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
                      <a:r>
                        <a:rPr lang="en-US" sz="1000" kern="1200">
                          <a:solidFill>
                            <a:sysClr val="windowText" lastClr="000000"/>
                          </a:solidFill>
                          <a:latin typeface="+mn-lt"/>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rtl="0" fontAlgn="b"/>
                      <a:r>
                        <a:rPr lang="en-US" sz="1000" kern="1200">
                          <a:solidFill>
                            <a:sysClr val="windowText" lastClr="000000"/>
                          </a:solidFill>
                          <a:latin typeface="+mn-lt"/>
                          <a:ea typeface="+mn-ea"/>
                          <a:cs typeface="+mn-cs"/>
                        </a:rPr>
                        <a:t>Lease Receivable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903.3</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903.3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368765296"/>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sngStrike" kern="1200" cap="none" spc="0" normalizeH="0" baseline="0">
                          <a:ln>
                            <a:noFill/>
                          </a:ln>
                          <a:solidFill>
                            <a:schemeClr val="tx1"/>
                          </a:solidFill>
                          <a:effectLst/>
                          <a:uLnTx/>
                          <a:uFillTx/>
                          <a:latin typeface="+mn-lt"/>
                          <a:ea typeface="+mn-ea"/>
                          <a:cs typeface="+mn-cs"/>
                        </a:rPr>
                        <a:t>5010440</a:t>
                      </a:r>
                    </a:p>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chemeClr val="tx1"/>
                          </a:solidFill>
                          <a:effectLst/>
                          <a:uLnTx/>
                          <a:uFillTx/>
                          <a:latin typeface="+mn-lt"/>
                          <a:ea typeface="+mn-ea"/>
                          <a:cs typeface="+mn-cs"/>
                        </a:rPr>
                        <a:t>5010401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Funded Premier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11</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11</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67953882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Long term receivable-Product Operating Lease –Factory &amp; Deployment services</a:t>
                      </a:r>
                      <a:endParaRPr lang="en-US" altLang="zh-CN" sz="1000" b="0" i="0" u="none" strike="noStrike">
                        <a:solidFill>
                          <a:srgbClr val="000000"/>
                        </a:solidFill>
                        <a:effectLst/>
                        <a:latin typeface="+mn-l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2</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2</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799898018"/>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Finance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50898099"/>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Finance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80197835"/>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Finance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7014010"/>
                  </a:ext>
                </a:extLst>
              </a:tr>
            </a:tbl>
          </a:graphicData>
        </a:graphic>
      </p:graphicFrame>
      <p:sp>
        <p:nvSpPr>
          <p:cNvPr id="11" name="对话气泡: 矩形 11">
            <a:extLst>
              <a:ext uri="{FF2B5EF4-FFF2-40B4-BE49-F238E27FC236}">
                <a16:creationId xmlns:a16="http://schemas.microsoft.com/office/drawing/2014/main" id="{F56F387F-7DB1-298C-848C-5B29BF1B3EB4}"/>
              </a:ext>
            </a:extLst>
          </p:cNvPr>
          <p:cNvSpPr/>
          <p:nvPr/>
        </p:nvSpPr>
        <p:spPr>
          <a:xfrm>
            <a:off x="494218" y="4808234"/>
            <a:ext cx="4733102" cy="579014"/>
          </a:xfrm>
          <a:prstGeom prst="wedgeRectCallout">
            <a:avLst>
              <a:gd name="adj1" fmla="val -37777"/>
              <a:gd name="adj2" fmla="val -24310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Change point for funded items:</a:t>
            </a:r>
          </a:p>
          <a:p>
            <a:r>
              <a:rPr lang="en-US" sz="1200">
                <a:solidFill>
                  <a:schemeClr val="tx1"/>
                </a:solidFill>
              </a:rPr>
              <a:t>As-is, BRIM booked aggregated amount, item level booked in Odessa</a:t>
            </a:r>
          </a:p>
          <a:p>
            <a:r>
              <a:rPr lang="en-US" sz="1200">
                <a:solidFill>
                  <a:schemeClr val="tx1"/>
                </a:solidFill>
              </a:rPr>
              <a:t>To-be, NexBill book item level with WBS and PN </a:t>
            </a:r>
          </a:p>
        </p:txBody>
      </p:sp>
      <p:sp>
        <p:nvSpPr>
          <p:cNvPr id="19" name="Rectangle 5">
            <a:extLst>
              <a:ext uri="{FF2B5EF4-FFF2-40B4-BE49-F238E27FC236}">
                <a16:creationId xmlns:a16="http://schemas.microsoft.com/office/drawing/2014/main" id="{2697B76C-9E45-871A-E4CE-2B9339A0CDB3}"/>
              </a:ext>
            </a:extLst>
          </p:cNvPr>
          <p:cNvSpPr/>
          <p:nvPr/>
        </p:nvSpPr>
        <p:spPr>
          <a:xfrm>
            <a:off x="548626" y="2800609"/>
            <a:ext cx="5292490" cy="949756"/>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20" name="Rectangle 5">
            <a:extLst>
              <a:ext uri="{FF2B5EF4-FFF2-40B4-BE49-F238E27FC236}">
                <a16:creationId xmlns:a16="http://schemas.microsoft.com/office/drawing/2014/main" id="{A6CC5417-86CC-83E0-69E9-7C210785A93E}"/>
              </a:ext>
            </a:extLst>
          </p:cNvPr>
          <p:cNvSpPr/>
          <p:nvPr/>
        </p:nvSpPr>
        <p:spPr>
          <a:xfrm>
            <a:off x="6756814" y="3792738"/>
            <a:ext cx="5292490" cy="579014"/>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21" name="对话气泡: 矩形 11">
            <a:extLst>
              <a:ext uri="{FF2B5EF4-FFF2-40B4-BE49-F238E27FC236}">
                <a16:creationId xmlns:a16="http://schemas.microsoft.com/office/drawing/2014/main" id="{F2D91720-83DD-8D96-730E-C7BF5A137ED2}"/>
              </a:ext>
            </a:extLst>
          </p:cNvPr>
          <p:cNvSpPr/>
          <p:nvPr/>
        </p:nvSpPr>
        <p:spPr>
          <a:xfrm>
            <a:off x="6537398" y="4939802"/>
            <a:ext cx="5387899" cy="579014"/>
          </a:xfrm>
          <a:prstGeom prst="wedgeRectCallout">
            <a:avLst>
              <a:gd name="adj1" fmla="val -37864"/>
              <a:gd name="adj2" fmla="val -16322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Only applicable in variable charge scenario, directly related to HW component in the lease, which deemed as variable leasing revenue under IFRS16 </a:t>
            </a:r>
          </a:p>
        </p:txBody>
      </p:sp>
      <p:sp>
        <p:nvSpPr>
          <p:cNvPr id="5" name="Rectangle 5">
            <a:extLst>
              <a:ext uri="{FF2B5EF4-FFF2-40B4-BE49-F238E27FC236}">
                <a16:creationId xmlns:a16="http://schemas.microsoft.com/office/drawing/2014/main" id="{3E4A2CD9-DFF9-706D-C17E-8FC9D7548A71}"/>
              </a:ext>
            </a:extLst>
          </p:cNvPr>
          <p:cNvSpPr/>
          <p:nvPr/>
        </p:nvSpPr>
        <p:spPr>
          <a:xfrm>
            <a:off x="6756814" y="2800609"/>
            <a:ext cx="5292490" cy="949756"/>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Rectangle 5">
            <a:extLst>
              <a:ext uri="{FF2B5EF4-FFF2-40B4-BE49-F238E27FC236}">
                <a16:creationId xmlns:a16="http://schemas.microsoft.com/office/drawing/2014/main" id="{67A91709-2FCE-BF14-961C-5F729E292351}"/>
              </a:ext>
            </a:extLst>
          </p:cNvPr>
          <p:cNvSpPr/>
          <p:nvPr/>
        </p:nvSpPr>
        <p:spPr>
          <a:xfrm>
            <a:off x="548626" y="3777476"/>
            <a:ext cx="5292490" cy="692953"/>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8" name="文本框 7">
            <a:extLst>
              <a:ext uri="{FF2B5EF4-FFF2-40B4-BE49-F238E27FC236}">
                <a16:creationId xmlns:a16="http://schemas.microsoft.com/office/drawing/2014/main" id="{D90FDC89-3B83-75D1-E284-557453BD8A19}"/>
              </a:ext>
            </a:extLst>
          </p:cNvPr>
          <p:cNvSpPr txBox="1"/>
          <p:nvPr/>
        </p:nvSpPr>
        <p:spPr>
          <a:xfrm>
            <a:off x="3875284" y="1622960"/>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9" name="文本框 8">
            <a:extLst>
              <a:ext uri="{FF2B5EF4-FFF2-40B4-BE49-F238E27FC236}">
                <a16:creationId xmlns:a16="http://schemas.microsoft.com/office/drawing/2014/main" id="{A7714938-B863-9BC8-4AD8-07C1D3ADE40C}"/>
              </a:ext>
            </a:extLst>
          </p:cNvPr>
          <p:cNvSpPr txBox="1"/>
          <p:nvPr/>
        </p:nvSpPr>
        <p:spPr>
          <a:xfrm>
            <a:off x="10111493" y="1618852"/>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Tree>
    <p:extLst>
      <p:ext uri="{BB962C8B-B14F-4D97-AF65-F5344CB8AC3E}">
        <p14:creationId xmlns:p14="http://schemas.microsoft.com/office/powerpoint/2010/main" val="359941004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847100-328F-14F8-35A9-0540BAF0FF27}"/>
            </a:ext>
          </a:extLst>
        </p:cNvPr>
        <p:cNvGrpSpPr/>
        <p:nvPr/>
      </p:nvGrpSpPr>
      <p:grpSpPr>
        <a:xfrm>
          <a:off x="0" y="0"/>
          <a:ext cx="0" cy="0"/>
          <a:chOff x="0" y="0"/>
          <a:chExt cx="0" cy="0"/>
        </a:xfrm>
      </p:grpSpPr>
      <p:graphicFrame>
        <p:nvGraphicFramePr>
          <p:cNvPr id="18" name="表格 17">
            <a:extLst>
              <a:ext uri="{FF2B5EF4-FFF2-40B4-BE49-F238E27FC236}">
                <a16:creationId xmlns:a16="http://schemas.microsoft.com/office/drawing/2014/main" id="{6428187A-094F-EA61-4EE5-06FB5F04C82D}"/>
              </a:ext>
            </a:extLst>
          </p:cNvPr>
          <p:cNvGraphicFramePr>
            <a:graphicFrameLocks noGrp="1"/>
          </p:cNvGraphicFramePr>
          <p:nvPr>
            <p:extLst>
              <p:ext uri="{D42A27DB-BD31-4B8C-83A1-F6EECF244321}">
                <p14:modId xmlns:p14="http://schemas.microsoft.com/office/powerpoint/2010/main" val="1982002903"/>
              </p:ext>
            </p:extLst>
          </p:nvPr>
        </p:nvGraphicFramePr>
        <p:xfrm>
          <a:off x="68678" y="1857265"/>
          <a:ext cx="5838268" cy="2018479"/>
        </p:xfrm>
        <a:graphic>
          <a:graphicData uri="http://schemas.openxmlformats.org/drawingml/2006/table">
            <a:tbl>
              <a:tblPr/>
              <a:tblGrid>
                <a:gridCol w="499980">
                  <a:extLst>
                    <a:ext uri="{9D8B030D-6E8A-4147-A177-3AD203B41FA5}">
                      <a16:colId xmlns:a16="http://schemas.microsoft.com/office/drawing/2014/main" val="495084399"/>
                    </a:ext>
                  </a:extLst>
                </a:gridCol>
                <a:gridCol w="266740">
                  <a:extLst>
                    <a:ext uri="{9D8B030D-6E8A-4147-A177-3AD203B41FA5}">
                      <a16:colId xmlns:a16="http://schemas.microsoft.com/office/drawing/2014/main" val="3614210242"/>
                    </a:ext>
                  </a:extLst>
                </a:gridCol>
                <a:gridCol w="625567">
                  <a:extLst>
                    <a:ext uri="{9D8B030D-6E8A-4147-A177-3AD203B41FA5}">
                      <a16:colId xmlns:a16="http://schemas.microsoft.com/office/drawing/2014/main" val="1442124609"/>
                    </a:ext>
                  </a:extLst>
                </a:gridCol>
                <a:gridCol w="2212649">
                  <a:extLst>
                    <a:ext uri="{9D8B030D-6E8A-4147-A177-3AD203B41FA5}">
                      <a16:colId xmlns:a16="http://schemas.microsoft.com/office/drawing/2014/main" val="3603859997"/>
                    </a:ext>
                  </a:extLst>
                </a:gridCol>
                <a:gridCol w="372222">
                  <a:extLst>
                    <a:ext uri="{9D8B030D-6E8A-4147-A177-3AD203B41FA5}">
                      <a16:colId xmlns:a16="http://schemas.microsoft.com/office/drawing/2014/main" val="4076488391"/>
                    </a:ext>
                  </a:extLst>
                </a:gridCol>
                <a:gridCol w="372222">
                  <a:extLst>
                    <a:ext uri="{9D8B030D-6E8A-4147-A177-3AD203B41FA5}">
                      <a16:colId xmlns:a16="http://schemas.microsoft.com/office/drawing/2014/main" val="3254101706"/>
                    </a:ext>
                  </a:extLst>
                </a:gridCol>
                <a:gridCol w="372222">
                  <a:extLst>
                    <a:ext uri="{9D8B030D-6E8A-4147-A177-3AD203B41FA5}">
                      <a16:colId xmlns:a16="http://schemas.microsoft.com/office/drawing/2014/main" val="3712391277"/>
                    </a:ext>
                  </a:extLst>
                </a:gridCol>
                <a:gridCol w="372222">
                  <a:extLst>
                    <a:ext uri="{9D8B030D-6E8A-4147-A177-3AD203B41FA5}">
                      <a16:colId xmlns:a16="http://schemas.microsoft.com/office/drawing/2014/main" val="2527660299"/>
                    </a:ext>
                  </a:extLst>
                </a:gridCol>
                <a:gridCol w="372222">
                  <a:extLst>
                    <a:ext uri="{9D8B030D-6E8A-4147-A177-3AD203B41FA5}">
                      <a16:colId xmlns:a16="http://schemas.microsoft.com/office/drawing/2014/main" val="3641075278"/>
                    </a:ext>
                  </a:extLst>
                </a:gridCol>
                <a:gridCol w="372222">
                  <a:extLst>
                    <a:ext uri="{9D8B030D-6E8A-4147-A177-3AD203B41FA5}">
                      <a16:colId xmlns:a16="http://schemas.microsoft.com/office/drawing/2014/main" val="3618613915"/>
                    </a:ext>
                  </a:extLst>
                </a:gridCol>
              </a:tblGrid>
              <a:tr h="178829">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a:solidFill>
                            <a:schemeClr val="bg1"/>
                          </a:solidFill>
                          <a:latin typeface="+mn-lt"/>
                          <a:cs typeface="Arial" pitchFamily="34" charset="0"/>
                        </a:rPr>
                        <a:t>Invoice to customer for early termination</a:t>
                      </a:r>
                      <a:r>
                        <a:rPr lang="en-US" sz="800" b="1" i="0">
                          <a:solidFill>
                            <a:schemeClr val="bg1"/>
                          </a:solidFill>
                          <a:effectLst/>
                          <a:latin typeface="Arial" panose="020B0604020202020204" pitchFamily="34" charset="0"/>
                        </a:rPr>
                        <a:t>​</a:t>
                      </a:r>
                      <a:endParaRPr lang="en-US" sz="1100" b="1" i="0">
                        <a:solidFill>
                          <a:schemeClr val="bg1"/>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13000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13000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215982797"/>
                  </a:ext>
                </a:extLst>
              </a:tr>
              <a:tr h="9144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Broker Sales</a:t>
                      </a:r>
                      <a:r>
                        <a:rPr lang="en-US" altLang="zh-CN" sz="1000" b="0" i="0" u="none" strike="noStrike" kern="1200">
                          <a:solidFill>
                            <a:srgbClr val="000000"/>
                          </a:solidFill>
                          <a:effectLst/>
                          <a:latin typeface="Arial" panose="020B0604020202020204" pitchFamily="34" charset="0"/>
                          <a:ea typeface="+mn-ea"/>
                          <a:cs typeface="+mn-cs"/>
                        </a:rPr>
                        <a:t>(applicable for No Device return)</a:t>
                      </a:r>
                      <a:endParaRPr lang="en-US" sz="1000" b="0" i="0" u="none" strike="noStrike">
                        <a:solidFill>
                          <a:srgbClr val="000000"/>
                        </a:solidFill>
                        <a:effectLst/>
                        <a:latin typeface="+mn-l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XG</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43698393"/>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Svc</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720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720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altLang="zh-CN" sz="1000" b="0" i="0" u="none" strike="noStrike">
                          <a:solidFill>
                            <a:srgbClr val="000000"/>
                          </a:solidFill>
                          <a:effectLst/>
                          <a:latin typeface="+mn-lt"/>
                        </a:rPr>
                        <a:t>Service Revenue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087205294"/>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AR- Upfront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89298417"/>
                  </a:ext>
                </a:extLst>
              </a:tr>
            </a:tbl>
          </a:graphicData>
        </a:graphic>
      </p:graphicFrame>
      <p:graphicFrame>
        <p:nvGraphicFramePr>
          <p:cNvPr id="30" name="表格 29">
            <a:extLst>
              <a:ext uri="{FF2B5EF4-FFF2-40B4-BE49-F238E27FC236}">
                <a16:creationId xmlns:a16="http://schemas.microsoft.com/office/drawing/2014/main" id="{94352A5B-38D9-B2E3-0052-DBFB57CE8DBD}"/>
              </a:ext>
            </a:extLst>
          </p:cNvPr>
          <p:cNvGraphicFramePr>
            <a:graphicFrameLocks noGrp="1"/>
          </p:cNvGraphicFramePr>
          <p:nvPr>
            <p:extLst>
              <p:ext uri="{D42A27DB-BD31-4B8C-83A1-F6EECF244321}">
                <p14:modId xmlns:p14="http://schemas.microsoft.com/office/powerpoint/2010/main" val="3458138194"/>
              </p:ext>
            </p:extLst>
          </p:nvPr>
        </p:nvGraphicFramePr>
        <p:xfrm>
          <a:off x="68678" y="431020"/>
          <a:ext cx="5838269" cy="1394460"/>
        </p:xfrm>
        <a:graphic>
          <a:graphicData uri="http://schemas.openxmlformats.org/drawingml/2006/table">
            <a:tbl>
              <a:tblPr firstRow="1" bandRow="1">
                <a:tableStyleId>{3C2FFA5D-87B4-456A-9821-1D502468CF0F}</a:tableStyleId>
              </a:tblPr>
              <a:tblGrid>
                <a:gridCol w="676206">
                  <a:extLst>
                    <a:ext uri="{9D8B030D-6E8A-4147-A177-3AD203B41FA5}">
                      <a16:colId xmlns:a16="http://schemas.microsoft.com/office/drawing/2014/main" val="869603910"/>
                    </a:ext>
                  </a:extLst>
                </a:gridCol>
                <a:gridCol w="600695">
                  <a:extLst>
                    <a:ext uri="{9D8B030D-6E8A-4147-A177-3AD203B41FA5}">
                      <a16:colId xmlns:a16="http://schemas.microsoft.com/office/drawing/2014/main" val="238663902"/>
                    </a:ext>
                  </a:extLst>
                </a:gridCol>
                <a:gridCol w="616475">
                  <a:extLst>
                    <a:ext uri="{9D8B030D-6E8A-4147-A177-3AD203B41FA5}">
                      <a16:colId xmlns:a16="http://schemas.microsoft.com/office/drawing/2014/main" val="4114365151"/>
                    </a:ext>
                  </a:extLst>
                </a:gridCol>
                <a:gridCol w="649158">
                  <a:extLst>
                    <a:ext uri="{9D8B030D-6E8A-4147-A177-3AD203B41FA5}">
                      <a16:colId xmlns:a16="http://schemas.microsoft.com/office/drawing/2014/main" val="4075178046"/>
                    </a:ext>
                  </a:extLst>
                </a:gridCol>
                <a:gridCol w="78314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rgbClr val="C00000"/>
                          </a:solidFill>
                        </a:rPr>
                        <a:t>Fixed/Consumption</a:t>
                      </a:r>
                      <a:endParaRPr lang="zh-CN" altLang="en-US" sz="1050">
                        <a:solidFill>
                          <a:srgbClr val="C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kern="1200">
                          <a:solidFill>
                            <a:sysClr val="windowText" lastClr="000000"/>
                          </a:solidFill>
                          <a:latin typeface="+mn-lt"/>
                          <a:ea typeface="+mn-ea"/>
                          <a:cs typeface="+mn-cs"/>
                        </a:rPr>
                        <a:t>ET Device Lost/Stolen</a:t>
                      </a:r>
                      <a:endParaRPr lang="zh-CN" altLang="en-US" sz="1050" kern="1200">
                        <a:solidFill>
                          <a:sysClr val="windowText" lastClr="000000"/>
                        </a:solidFill>
                        <a:latin typeface="+mn-lt"/>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3" name="文本框 32">
            <a:extLst>
              <a:ext uri="{FF2B5EF4-FFF2-40B4-BE49-F238E27FC236}">
                <a16:creationId xmlns:a16="http://schemas.microsoft.com/office/drawing/2014/main" id="{FD9B4B23-290A-07A8-558D-9E5037029AE6}"/>
              </a:ext>
            </a:extLst>
          </p:cNvPr>
          <p:cNvSpPr txBox="1"/>
          <p:nvPr/>
        </p:nvSpPr>
        <p:spPr>
          <a:xfrm>
            <a:off x="143235" y="47255"/>
            <a:ext cx="4470947" cy="400110"/>
          </a:xfrm>
          <a:prstGeom prst="rect">
            <a:avLst/>
          </a:prstGeom>
          <a:noFill/>
        </p:spPr>
        <p:txBody>
          <a:bodyPr wrap="square" rtlCol="0">
            <a:spAutoFit/>
          </a:bodyPr>
          <a:lstStyle/>
          <a:p>
            <a:r>
              <a:rPr lang="nl-NL" altLang="zh-CN" sz="2000" b="1"/>
              <a:t>IaaS_S&amp;D_MSA</a:t>
            </a:r>
            <a:endParaRPr lang="zh-CN" altLang="en-US" sz="2000" b="1"/>
          </a:p>
        </p:txBody>
      </p:sp>
      <p:cxnSp>
        <p:nvCxnSpPr>
          <p:cNvPr id="4" name="直接连接符 3">
            <a:extLst>
              <a:ext uri="{FF2B5EF4-FFF2-40B4-BE49-F238E27FC236}">
                <a16:creationId xmlns:a16="http://schemas.microsoft.com/office/drawing/2014/main" id="{CC1FE842-D82D-FE19-7EFE-289D51FD99AD}"/>
              </a:ext>
            </a:extLst>
          </p:cNvPr>
          <p:cNvCxnSpPr>
            <a:cxnSpLocks/>
          </p:cNvCxnSpPr>
          <p:nvPr/>
        </p:nvCxnSpPr>
        <p:spPr>
          <a:xfrm>
            <a:off x="6173972"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graphicFrame>
        <p:nvGraphicFramePr>
          <p:cNvPr id="8" name="表格 7">
            <a:extLst>
              <a:ext uri="{FF2B5EF4-FFF2-40B4-BE49-F238E27FC236}">
                <a16:creationId xmlns:a16="http://schemas.microsoft.com/office/drawing/2014/main" id="{F2A8B2F4-5BAF-53F1-08AB-AF4297699602}"/>
              </a:ext>
            </a:extLst>
          </p:cNvPr>
          <p:cNvGraphicFramePr>
            <a:graphicFrameLocks noGrp="1"/>
          </p:cNvGraphicFramePr>
          <p:nvPr>
            <p:extLst>
              <p:ext uri="{D42A27DB-BD31-4B8C-83A1-F6EECF244321}">
                <p14:modId xmlns:p14="http://schemas.microsoft.com/office/powerpoint/2010/main" val="2902723170"/>
              </p:ext>
            </p:extLst>
          </p:nvPr>
        </p:nvGraphicFramePr>
        <p:xfrm>
          <a:off x="6285055" y="447365"/>
          <a:ext cx="5838269" cy="1394460"/>
        </p:xfrm>
        <a:graphic>
          <a:graphicData uri="http://schemas.openxmlformats.org/drawingml/2006/table">
            <a:tbl>
              <a:tblPr firstRow="1" bandRow="1">
                <a:tableStyleId>{3C2FFA5D-87B4-456A-9821-1D502468CF0F}</a:tableStyleId>
              </a:tblPr>
              <a:tblGrid>
                <a:gridCol w="636740">
                  <a:extLst>
                    <a:ext uri="{9D8B030D-6E8A-4147-A177-3AD203B41FA5}">
                      <a16:colId xmlns:a16="http://schemas.microsoft.com/office/drawing/2014/main" val="869603910"/>
                    </a:ext>
                  </a:extLst>
                </a:gridCol>
                <a:gridCol w="691117">
                  <a:extLst>
                    <a:ext uri="{9D8B030D-6E8A-4147-A177-3AD203B41FA5}">
                      <a16:colId xmlns:a16="http://schemas.microsoft.com/office/drawing/2014/main" val="238663902"/>
                    </a:ext>
                  </a:extLst>
                </a:gridCol>
                <a:gridCol w="659218">
                  <a:extLst>
                    <a:ext uri="{9D8B030D-6E8A-4147-A177-3AD203B41FA5}">
                      <a16:colId xmlns:a16="http://schemas.microsoft.com/office/drawing/2014/main" val="4114365151"/>
                    </a:ext>
                  </a:extLst>
                </a:gridCol>
                <a:gridCol w="659219">
                  <a:extLst>
                    <a:ext uri="{9D8B030D-6E8A-4147-A177-3AD203B41FA5}">
                      <a16:colId xmlns:a16="http://schemas.microsoft.com/office/drawing/2014/main" val="4075178046"/>
                    </a:ext>
                  </a:extLst>
                </a:gridCol>
                <a:gridCol w="679380">
                  <a:extLst>
                    <a:ext uri="{9D8B030D-6E8A-4147-A177-3AD203B41FA5}">
                      <a16:colId xmlns:a16="http://schemas.microsoft.com/office/drawing/2014/main" val="973533418"/>
                    </a:ext>
                  </a:extLst>
                </a:gridCol>
                <a:gridCol w="698222">
                  <a:extLst>
                    <a:ext uri="{9D8B030D-6E8A-4147-A177-3AD203B41FA5}">
                      <a16:colId xmlns:a16="http://schemas.microsoft.com/office/drawing/2014/main" val="2377711782"/>
                    </a:ext>
                  </a:extLst>
                </a:gridCol>
                <a:gridCol w="698222">
                  <a:extLst>
                    <a:ext uri="{9D8B030D-6E8A-4147-A177-3AD203B41FA5}">
                      <a16:colId xmlns:a16="http://schemas.microsoft.com/office/drawing/2014/main" val="1078464214"/>
                    </a:ext>
                  </a:extLst>
                </a:gridCol>
                <a:gridCol w="1116151">
                  <a:extLst>
                    <a:ext uri="{9D8B030D-6E8A-4147-A177-3AD203B41FA5}">
                      <a16:colId xmlns:a16="http://schemas.microsoft.com/office/drawing/2014/main" val="221569069"/>
                    </a:ext>
                  </a:extLst>
                </a:gridCol>
              </a:tblGrid>
              <a:tr h="400573">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88413">
                <a:tc rowSpan="2">
                  <a:txBody>
                    <a:bodyPr/>
                    <a:lstStyle/>
                    <a:p>
                      <a:r>
                        <a:rPr lang="en-US" altLang="zh-CN" sz="1050">
                          <a:solidFill>
                            <a:srgbClr val="C00000"/>
                          </a:solidFill>
                        </a:rPr>
                        <a:t>Fixed/Consumption</a:t>
                      </a:r>
                      <a:endParaRPr lang="zh-CN" altLang="en-US" sz="1050">
                        <a:solidFill>
                          <a:srgbClr val="C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88413">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kern="1200">
                          <a:solidFill>
                            <a:sysClr val="windowText" lastClr="000000"/>
                          </a:solidFill>
                          <a:latin typeface="+mn-lt"/>
                          <a:ea typeface="+mn-ea"/>
                          <a:cs typeface="+mn-cs"/>
                        </a:rPr>
                        <a:t>ET Device Lost/Stolen</a:t>
                      </a:r>
                      <a:endParaRPr lang="zh-CN" altLang="en-US" sz="1050" kern="1200">
                        <a:solidFill>
                          <a:sysClr val="windowText" lastClr="000000"/>
                        </a:solidFill>
                        <a:latin typeface="+mn-lt"/>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6" name="表格 17">
            <a:extLst>
              <a:ext uri="{FF2B5EF4-FFF2-40B4-BE49-F238E27FC236}">
                <a16:creationId xmlns:a16="http://schemas.microsoft.com/office/drawing/2014/main" id="{2FA4F8FB-C2DD-ECE2-E262-A5370B5BBDC0}"/>
              </a:ext>
            </a:extLst>
          </p:cNvPr>
          <p:cNvGraphicFramePr>
            <a:graphicFrameLocks noGrp="1"/>
          </p:cNvGraphicFramePr>
          <p:nvPr>
            <p:extLst>
              <p:ext uri="{D42A27DB-BD31-4B8C-83A1-F6EECF244321}">
                <p14:modId xmlns:p14="http://schemas.microsoft.com/office/powerpoint/2010/main" val="3097855664"/>
              </p:ext>
            </p:extLst>
          </p:nvPr>
        </p:nvGraphicFramePr>
        <p:xfrm>
          <a:off x="6292748" y="1905674"/>
          <a:ext cx="5830570" cy="2018479"/>
        </p:xfrm>
        <a:graphic>
          <a:graphicData uri="http://schemas.openxmlformats.org/drawingml/2006/table">
            <a:tbl>
              <a:tblPr/>
              <a:tblGrid>
                <a:gridCol w="499321">
                  <a:extLst>
                    <a:ext uri="{9D8B030D-6E8A-4147-A177-3AD203B41FA5}">
                      <a16:colId xmlns:a16="http://schemas.microsoft.com/office/drawing/2014/main" val="495084399"/>
                    </a:ext>
                  </a:extLst>
                </a:gridCol>
                <a:gridCol w="266388">
                  <a:extLst>
                    <a:ext uri="{9D8B030D-6E8A-4147-A177-3AD203B41FA5}">
                      <a16:colId xmlns:a16="http://schemas.microsoft.com/office/drawing/2014/main" val="3614210242"/>
                    </a:ext>
                  </a:extLst>
                </a:gridCol>
                <a:gridCol w="624743">
                  <a:extLst>
                    <a:ext uri="{9D8B030D-6E8A-4147-A177-3AD203B41FA5}">
                      <a16:colId xmlns:a16="http://schemas.microsoft.com/office/drawing/2014/main" val="1442124609"/>
                    </a:ext>
                  </a:extLst>
                </a:gridCol>
                <a:gridCol w="2209732">
                  <a:extLst>
                    <a:ext uri="{9D8B030D-6E8A-4147-A177-3AD203B41FA5}">
                      <a16:colId xmlns:a16="http://schemas.microsoft.com/office/drawing/2014/main" val="3603859997"/>
                    </a:ext>
                  </a:extLst>
                </a:gridCol>
                <a:gridCol w="371731">
                  <a:extLst>
                    <a:ext uri="{9D8B030D-6E8A-4147-A177-3AD203B41FA5}">
                      <a16:colId xmlns:a16="http://schemas.microsoft.com/office/drawing/2014/main" val="4076488391"/>
                    </a:ext>
                  </a:extLst>
                </a:gridCol>
                <a:gridCol w="371731">
                  <a:extLst>
                    <a:ext uri="{9D8B030D-6E8A-4147-A177-3AD203B41FA5}">
                      <a16:colId xmlns:a16="http://schemas.microsoft.com/office/drawing/2014/main" val="3254101706"/>
                    </a:ext>
                  </a:extLst>
                </a:gridCol>
                <a:gridCol w="371731">
                  <a:extLst>
                    <a:ext uri="{9D8B030D-6E8A-4147-A177-3AD203B41FA5}">
                      <a16:colId xmlns:a16="http://schemas.microsoft.com/office/drawing/2014/main" val="3712391277"/>
                    </a:ext>
                  </a:extLst>
                </a:gridCol>
                <a:gridCol w="371731">
                  <a:extLst>
                    <a:ext uri="{9D8B030D-6E8A-4147-A177-3AD203B41FA5}">
                      <a16:colId xmlns:a16="http://schemas.microsoft.com/office/drawing/2014/main" val="2527660299"/>
                    </a:ext>
                  </a:extLst>
                </a:gridCol>
                <a:gridCol w="371731">
                  <a:extLst>
                    <a:ext uri="{9D8B030D-6E8A-4147-A177-3AD203B41FA5}">
                      <a16:colId xmlns:a16="http://schemas.microsoft.com/office/drawing/2014/main" val="3641075278"/>
                    </a:ext>
                  </a:extLst>
                </a:gridCol>
                <a:gridCol w="371731">
                  <a:extLst>
                    <a:ext uri="{9D8B030D-6E8A-4147-A177-3AD203B41FA5}">
                      <a16:colId xmlns:a16="http://schemas.microsoft.com/office/drawing/2014/main" val="3618613915"/>
                    </a:ext>
                  </a:extLst>
                </a:gridCol>
              </a:tblGrid>
              <a:tr h="178829">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a:solidFill>
                            <a:schemeClr val="bg1"/>
                          </a:solidFill>
                          <a:latin typeface="+mn-lt"/>
                          <a:cs typeface="Arial" pitchFamily="34" charset="0"/>
                        </a:rPr>
                        <a:t>Invoice to customer for early termination</a:t>
                      </a:r>
                      <a:r>
                        <a:rPr lang="en-US" sz="800" b="1" i="0">
                          <a:solidFill>
                            <a:schemeClr val="bg1"/>
                          </a:solidFill>
                          <a:effectLst/>
                          <a:latin typeface="Arial" panose="020B0604020202020204" pitchFamily="34" charset="0"/>
                        </a:rPr>
                        <a:t>​</a:t>
                      </a:r>
                      <a:endParaRPr lang="en-US" sz="1100" b="1" i="0">
                        <a:solidFill>
                          <a:schemeClr val="bg1"/>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Finance Lease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13000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13000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215982797"/>
                  </a:ext>
                </a:extLst>
              </a:tr>
              <a:tr h="9144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Broker Sales</a:t>
                      </a:r>
                      <a:r>
                        <a:rPr lang="en-US" altLang="zh-CN" sz="1000" b="0" i="0" u="none" strike="noStrike" kern="1200">
                          <a:solidFill>
                            <a:srgbClr val="000000"/>
                          </a:solidFill>
                          <a:effectLst/>
                          <a:latin typeface="Arial" panose="020B0604020202020204" pitchFamily="34" charset="0"/>
                          <a:ea typeface="+mn-ea"/>
                          <a:cs typeface="+mn-cs"/>
                        </a:rPr>
                        <a:t>(applicable for No Device return)</a:t>
                      </a:r>
                      <a:endParaRPr lang="en-US" sz="1000" b="0" i="0" u="none" strike="noStrike">
                        <a:solidFill>
                          <a:srgbClr val="000000"/>
                        </a:solidFill>
                        <a:effectLst/>
                        <a:latin typeface="+mn-lt"/>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XG</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48802026"/>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Svc</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720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720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altLang="zh-CN" sz="1000" b="0" i="0" u="none" strike="noStrike">
                          <a:solidFill>
                            <a:srgbClr val="000000"/>
                          </a:solidFill>
                          <a:effectLst/>
                          <a:latin typeface="+mn-lt"/>
                        </a:rPr>
                        <a:t>Service Revenue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087205294"/>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tx1"/>
                          </a:solidFill>
                          <a:effectLst/>
                          <a:uLnTx/>
                          <a:uFillTx/>
                          <a:latin typeface="+mn-lt"/>
                          <a:ea typeface="+mn-ea"/>
                          <a:cs typeface="+mn-cs"/>
                        </a:rPr>
                        <a:t>AR- Upfront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chemeClr val="tx1"/>
                          </a:solidFill>
                          <a:effectLst/>
                          <a:uLnTx/>
                          <a:uFillTx/>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chemeClr val="tx1"/>
                          </a:solidFill>
                          <a:effectLst/>
                          <a:uLnTx/>
                          <a:uFillTx/>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89298417"/>
                  </a:ext>
                </a:extLst>
              </a:tr>
            </a:tbl>
          </a:graphicData>
        </a:graphic>
      </p:graphicFrame>
      <p:sp>
        <p:nvSpPr>
          <p:cNvPr id="14" name="Speech Bubble: Rectangle with Corners Rounded 7">
            <a:extLst>
              <a:ext uri="{FF2B5EF4-FFF2-40B4-BE49-F238E27FC236}">
                <a16:creationId xmlns:a16="http://schemas.microsoft.com/office/drawing/2014/main" id="{D792AABA-0A01-1651-A788-CD1255C87D03}"/>
              </a:ext>
            </a:extLst>
          </p:cNvPr>
          <p:cNvSpPr/>
          <p:nvPr/>
        </p:nvSpPr>
        <p:spPr>
          <a:xfrm>
            <a:off x="6867146" y="4597551"/>
            <a:ext cx="4663433" cy="623673"/>
          </a:xfrm>
          <a:prstGeom prst="wedgeRoundRectCallout">
            <a:avLst>
              <a:gd name="adj1" fmla="val -34464"/>
              <a:gd name="adj2" fmla="val -234707"/>
              <a:gd name="adj3" fmla="val 1666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 EMEA S&amp;D Model rollout extra recorded in interest income</a:t>
            </a:r>
            <a:r>
              <a:rPr lang="zh-CN" altLang="en-US" sz="1200">
                <a:solidFill>
                  <a:schemeClr val="tx1"/>
                </a:solidFill>
              </a:rPr>
              <a:t> </a:t>
            </a:r>
            <a:r>
              <a:rPr lang="en-US" altLang="zh-CN" sz="1200">
                <a:solidFill>
                  <a:schemeClr val="tx1"/>
                </a:solidFill>
              </a:rPr>
              <a:t>(ongoing service </a:t>
            </a:r>
            <a:r>
              <a:rPr lang="en-US" altLang="zh-CN" sz="1200" err="1">
                <a:solidFill>
                  <a:schemeClr val="tx1"/>
                </a:solidFill>
              </a:rPr>
              <a:t>PoB</a:t>
            </a:r>
            <a:r>
              <a:rPr lang="en-US" altLang="zh-CN" sz="1200">
                <a:solidFill>
                  <a:schemeClr val="tx1"/>
                </a:solidFill>
              </a:rPr>
              <a:t> have not met upon ET )</a:t>
            </a:r>
          </a:p>
          <a:p>
            <a:r>
              <a:rPr lang="en-US" sz="1200">
                <a:solidFill>
                  <a:schemeClr val="tx1"/>
                </a:solidFill>
              </a:rPr>
              <a:t>Now confirmed with Accounting that change to service revenue</a:t>
            </a:r>
          </a:p>
        </p:txBody>
      </p:sp>
      <p:sp>
        <p:nvSpPr>
          <p:cNvPr id="2" name="Rectangle 1">
            <a:extLst>
              <a:ext uri="{FF2B5EF4-FFF2-40B4-BE49-F238E27FC236}">
                <a16:creationId xmlns:a16="http://schemas.microsoft.com/office/drawing/2014/main" id="{6D254694-3E74-2038-4B20-589F31FB07D8}"/>
              </a:ext>
            </a:extLst>
          </p:cNvPr>
          <p:cNvSpPr/>
          <p:nvPr/>
        </p:nvSpPr>
        <p:spPr>
          <a:xfrm>
            <a:off x="559794" y="2823431"/>
            <a:ext cx="5347152" cy="26724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3" name="Rectangle 2">
            <a:extLst>
              <a:ext uri="{FF2B5EF4-FFF2-40B4-BE49-F238E27FC236}">
                <a16:creationId xmlns:a16="http://schemas.microsoft.com/office/drawing/2014/main" id="{2035794D-A8CF-4381-D601-798101DF104C}"/>
              </a:ext>
            </a:extLst>
          </p:cNvPr>
          <p:cNvSpPr/>
          <p:nvPr/>
        </p:nvSpPr>
        <p:spPr>
          <a:xfrm>
            <a:off x="6767978" y="3339473"/>
            <a:ext cx="5347152" cy="22686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9" name="文本框 8">
            <a:extLst>
              <a:ext uri="{FF2B5EF4-FFF2-40B4-BE49-F238E27FC236}">
                <a16:creationId xmlns:a16="http://schemas.microsoft.com/office/drawing/2014/main" id="{FC20F47D-47F7-F728-7470-D6B0996DCB02}"/>
              </a:ext>
            </a:extLst>
          </p:cNvPr>
          <p:cNvSpPr txBox="1"/>
          <p:nvPr/>
        </p:nvSpPr>
        <p:spPr>
          <a:xfrm>
            <a:off x="3969135" y="1857265"/>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10" name="文本框 9">
            <a:extLst>
              <a:ext uri="{FF2B5EF4-FFF2-40B4-BE49-F238E27FC236}">
                <a16:creationId xmlns:a16="http://schemas.microsoft.com/office/drawing/2014/main" id="{EA652B37-2822-5FF2-7CAA-26C87413CA3B}"/>
              </a:ext>
            </a:extLst>
          </p:cNvPr>
          <p:cNvSpPr txBox="1"/>
          <p:nvPr/>
        </p:nvSpPr>
        <p:spPr>
          <a:xfrm>
            <a:off x="10177319" y="1905674"/>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5" name="对话气泡: 矩形 4">
            <a:extLst>
              <a:ext uri="{FF2B5EF4-FFF2-40B4-BE49-F238E27FC236}">
                <a16:creationId xmlns:a16="http://schemas.microsoft.com/office/drawing/2014/main" id="{C56ED4EF-1FC7-1F37-389E-09B1009CCA13}"/>
              </a:ext>
            </a:extLst>
          </p:cNvPr>
          <p:cNvSpPr/>
          <p:nvPr/>
        </p:nvSpPr>
        <p:spPr>
          <a:xfrm>
            <a:off x="446867" y="4127013"/>
            <a:ext cx="3522268" cy="627867"/>
          </a:xfrm>
          <a:prstGeom prst="wedgeRectCallout">
            <a:avLst>
              <a:gd name="adj1" fmla="val -25928"/>
              <a:gd name="adj2" fmla="val -22517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If Device was lost or stolen, then S&amp;D will recognize broker sales on ET request</a:t>
            </a:r>
            <a:endParaRPr lang="zh-CN" altLang="en-US" sz="1200">
              <a:solidFill>
                <a:schemeClr val="tx1"/>
              </a:solidFill>
            </a:endParaRPr>
          </a:p>
        </p:txBody>
      </p:sp>
    </p:spTree>
    <p:extLst>
      <p:ext uri="{BB962C8B-B14F-4D97-AF65-F5344CB8AC3E}">
        <p14:creationId xmlns:p14="http://schemas.microsoft.com/office/powerpoint/2010/main" val="316074107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4C6E6557-C46E-F8E1-DDDE-B3E99F9A96D2}"/>
            </a:ext>
          </a:extLst>
        </p:cNvPr>
        <p:cNvGrpSpPr/>
        <p:nvPr/>
      </p:nvGrpSpPr>
      <p:grpSpPr>
        <a:xfrm>
          <a:off x="0" y="0"/>
          <a:ext cx="0" cy="0"/>
          <a:chOff x="0" y="0"/>
          <a:chExt cx="0" cy="0"/>
        </a:xfrm>
      </p:grpSpPr>
      <p:sp>
        <p:nvSpPr>
          <p:cNvPr id="5" name="文本框 4">
            <a:extLst>
              <a:ext uri="{FF2B5EF4-FFF2-40B4-BE49-F238E27FC236}">
                <a16:creationId xmlns:a16="http://schemas.microsoft.com/office/drawing/2014/main" id="{91F0551E-17CF-3928-BBDC-3AC85BFA168E}"/>
              </a:ext>
            </a:extLst>
          </p:cNvPr>
          <p:cNvSpPr txBox="1"/>
          <p:nvPr/>
        </p:nvSpPr>
        <p:spPr>
          <a:xfrm>
            <a:off x="143235" y="47255"/>
            <a:ext cx="4470947" cy="400110"/>
          </a:xfrm>
          <a:prstGeom prst="rect">
            <a:avLst/>
          </a:prstGeom>
          <a:noFill/>
        </p:spPr>
        <p:txBody>
          <a:bodyPr wrap="square" rtlCol="0">
            <a:spAutoFit/>
          </a:bodyPr>
          <a:lstStyle/>
          <a:p>
            <a:r>
              <a:rPr lang="nl-NL" altLang="zh-CN" sz="2000" b="1"/>
              <a:t>IaaS_S&amp;D_MSA</a:t>
            </a:r>
            <a:endParaRPr lang="zh-CN" altLang="en-US" sz="2000" b="1"/>
          </a:p>
        </p:txBody>
      </p:sp>
      <p:graphicFrame>
        <p:nvGraphicFramePr>
          <p:cNvPr id="6" name="表格 5">
            <a:extLst>
              <a:ext uri="{FF2B5EF4-FFF2-40B4-BE49-F238E27FC236}">
                <a16:creationId xmlns:a16="http://schemas.microsoft.com/office/drawing/2014/main" id="{BB9F86C6-E0AC-88D2-A7D9-0D2664AFA373}"/>
              </a:ext>
            </a:extLst>
          </p:cNvPr>
          <p:cNvGraphicFramePr>
            <a:graphicFrameLocks noGrp="1"/>
          </p:cNvGraphicFramePr>
          <p:nvPr>
            <p:extLst>
              <p:ext uri="{D42A27DB-BD31-4B8C-83A1-F6EECF244321}">
                <p14:modId xmlns:p14="http://schemas.microsoft.com/office/powerpoint/2010/main" val="203853714"/>
              </p:ext>
            </p:extLst>
          </p:nvPr>
        </p:nvGraphicFramePr>
        <p:xfrm>
          <a:off x="100071" y="447365"/>
          <a:ext cx="5890437" cy="171450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Auto Extension</a:t>
                      </a:r>
                    </a:p>
                    <a:p>
                      <a:r>
                        <a:rPr lang="en-US" altLang="zh-CN" sz="1050">
                          <a:solidFill>
                            <a:sysClr val="windowText" lastClr="000000"/>
                          </a:solidFill>
                        </a:rPr>
                        <a:t>Open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85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with  fixed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11" name="表格 10">
            <a:extLst>
              <a:ext uri="{FF2B5EF4-FFF2-40B4-BE49-F238E27FC236}">
                <a16:creationId xmlns:a16="http://schemas.microsoft.com/office/drawing/2014/main" id="{18CF80D1-348B-4231-7433-15E2E99A9B39}"/>
              </a:ext>
            </a:extLst>
          </p:cNvPr>
          <p:cNvGraphicFramePr>
            <a:graphicFrameLocks noGrp="1"/>
          </p:cNvGraphicFramePr>
          <p:nvPr>
            <p:extLst>
              <p:ext uri="{D42A27DB-BD31-4B8C-83A1-F6EECF244321}">
                <p14:modId xmlns:p14="http://schemas.microsoft.com/office/powerpoint/2010/main" val="1085588980"/>
              </p:ext>
            </p:extLst>
          </p:nvPr>
        </p:nvGraphicFramePr>
        <p:xfrm>
          <a:off x="100071" y="2265455"/>
          <a:ext cx="5901072" cy="2268946"/>
        </p:xfrm>
        <a:graphic>
          <a:graphicData uri="http://schemas.openxmlformats.org/drawingml/2006/table">
            <a:tbl>
              <a:tblPr/>
              <a:tblGrid>
                <a:gridCol w="485995">
                  <a:extLst>
                    <a:ext uri="{9D8B030D-6E8A-4147-A177-3AD203B41FA5}">
                      <a16:colId xmlns:a16="http://schemas.microsoft.com/office/drawing/2014/main" val="495084399"/>
                    </a:ext>
                  </a:extLst>
                </a:gridCol>
                <a:gridCol w="267224">
                  <a:extLst>
                    <a:ext uri="{9D8B030D-6E8A-4147-A177-3AD203B41FA5}">
                      <a16:colId xmlns:a16="http://schemas.microsoft.com/office/drawing/2014/main" val="3614210242"/>
                    </a:ext>
                  </a:extLst>
                </a:gridCol>
                <a:gridCol w="635959">
                  <a:extLst>
                    <a:ext uri="{9D8B030D-6E8A-4147-A177-3AD203B41FA5}">
                      <a16:colId xmlns:a16="http://schemas.microsoft.com/office/drawing/2014/main" val="1442124609"/>
                    </a:ext>
                  </a:extLst>
                </a:gridCol>
                <a:gridCol w="2311616">
                  <a:extLst>
                    <a:ext uri="{9D8B030D-6E8A-4147-A177-3AD203B41FA5}">
                      <a16:colId xmlns:a16="http://schemas.microsoft.com/office/drawing/2014/main" val="3603859997"/>
                    </a:ext>
                  </a:extLst>
                </a:gridCol>
                <a:gridCol w="366713">
                  <a:extLst>
                    <a:ext uri="{9D8B030D-6E8A-4147-A177-3AD203B41FA5}">
                      <a16:colId xmlns:a16="http://schemas.microsoft.com/office/drawing/2014/main" val="4076488391"/>
                    </a:ext>
                  </a:extLst>
                </a:gridCol>
                <a:gridCol w="366713">
                  <a:extLst>
                    <a:ext uri="{9D8B030D-6E8A-4147-A177-3AD203B41FA5}">
                      <a16:colId xmlns:a16="http://schemas.microsoft.com/office/drawing/2014/main" val="3254101706"/>
                    </a:ext>
                  </a:extLst>
                </a:gridCol>
                <a:gridCol w="366713">
                  <a:extLst>
                    <a:ext uri="{9D8B030D-6E8A-4147-A177-3AD203B41FA5}">
                      <a16:colId xmlns:a16="http://schemas.microsoft.com/office/drawing/2014/main" val="3712391277"/>
                    </a:ext>
                  </a:extLst>
                </a:gridCol>
                <a:gridCol w="366713">
                  <a:extLst>
                    <a:ext uri="{9D8B030D-6E8A-4147-A177-3AD203B41FA5}">
                      <a16:colId xmlns:a16="http://schemas.microsoft.com/office/drawing/2014/main" val="2527660299"/>
                    </a:ext>
                  </a:extLst>
                </a:gridCol>
                <a:gridCol w="366713">
                  <a:extLst>
                    <a:ext uri="{9D8B030D-6E8A-4147-A177-3AD203B41FA5}">
                      <a16:colId xmlns:a16="http://schemas.microsoft.com/office/drawing/2014/main" val="3641075278"/>
                    </a:ext>
                  </a:extLst>
                </a:gridCol>
                <a:gridCol w="366713">
                  <a:extLst>
                    <a:ext uri="{9D8B030D-6E8A-4147-A177-3AD203B41FA5}">
                      <a16:colId xmlns:a16="http://schemas.microsoft.com/office/drawing/2014/main" val="3618613915"/>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Svc</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rgbClr val="000000"/>
                          </a:solidFill>
                          <a:effectLst/>
                          <a:latin typeface="+mn-lt"/>
                          <a:ea typeface="+mn-ea"/>
                          <a:cs typeface="+mn-cs"/>
                        </a:rPr>
                        <a:t>Interest income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509671263"/>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40553860"/>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37771301"/>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78451192"/>
                  </a:ext>
                </a:extLst>
              </a:tr>
            </a:tbl>
          </a:graphicData>
        </a:graphic>
      </p:graphicFrame>
      <p:sp>
        <p:nvSpPr>
          <p:cNvPr id="2" name="对话气泡: 矩形 11">
            <a:extLst>
              <a:ext uri="{FF2B5EF4-FFF2-40B4-BE49-F238E27FC236}">
                <a16:creationId xmlns:a16="http://schemas.microsoft.com/office/drawing/2014/main" id="{786C76FC-A1B9-CD10-AD15-66FD8EE2D0C6}"/>
              </a:ext>
            </a:extLst>
          </p:cNvPr>
          <p:cNvSpPr/>
          <p:nvPr/>
        </p:nvSpPr>
        <p:spPr>
          <a:xfrm>
            <a:off x="399549" y="4774615"/>
            <a:ext cx="5571460" cy="741701"/>
          </a:xfrm>
          <a:prstGeom prst="wedgeRectCallout">
            <a:avLst>
              <a:gd name="adj1" fmla="val -37176"/>
              <a:gd name="adj2" fmla="val -16426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Confirmed with Accounting:</a:t>
            </a:r>
          </a:p>
          <a:p>
            <a:r>
              <a:rPr lang="en-US" altLang="zh-CN" sz="1200">
                <a:solidFill>
                  <a:schemeClr val="tx1"/>
                </a:solidFill>
              </a:rPr>
              <a:t>Upfront service has been cleared under LT-AR during normal lease term</a:t>
            </a:r>
          </a:p>
          <a:p>
            <a:r>
              <a:rPr lang="en-US" altLang="zh-CN" sz="1200">
                <a:solidFill>
                  <a:schemeClr val="tx1"/>
                </a:solidFill>
              </a:rPr>
              <a:t>During extension, no actual upfront service for customer, will recognize as interest income</a:t>
            </a:r>
          </a:p>
        </p:txBody>
      </p:sp>
      <p:graphicFrame>
        <p:nvGraphicFramePr>
          <p:cNvPr id="3" name="表格 5">
            <a:extLst>
              <a:ext uri="{FF2B5EF4-FFF2-40B4-BE49-F238E27FC236}">
                <a16:creationId xmlns:a16="http://schemas.microsoft.com/office/drawing/2014/main" id="{6580817D-AA1D-A8FD-C253-1E99391A7B10}"/>
              </a:ext>
            </a:extLst>
          </p:cNvPr>
          <p:cNvGraphicFramePr>
            <a:graphicFrameLocks noGrp="1"/>
          </p:cNvGraphicFramePr>
          <p:nvPr>
            <p:extLst>
              <p:ext uri="{D42A27DB-BD31-4B8C-83A1-F6EECF244321}">
                <p14:modId xmlns:p14="http://schemas.microsoft.com/office/powerpoint/2010/main" val="1950524989"/>
              </p:ext>
            </p:extLst>
          </p:nvPr>
        </p:nvGraphicFramePr>
        <p:xfrm>
          <a:off x="6196075" y="447365"/>
          <a:ext cx="5890437" cy="171450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Auto Extension</a:t>
                      </a:r>
                    </a:p>
                    <a:p>
                      <a:r>
                        <a:rPr lang="en-US" altLang="zh-CN" sz="1050">
                          <a:solidFill>
                            <a:sysClr val="windowText" lastClr="000000"/>
                          </a:solidFill>
                        </a:rPr>
                        <a:t>Open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with  fixed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graphicFrame>
        <p:nvGraphicFramePr>
          <p:cNvPr id="4" name="表格 10">
            <a:extLst>
              <a:ext uri="{FF2B5EF4-FFF2-40B4-BE49-F238E27FC236}">
                <a16:creationId xmlns:a16="http://schemas.microsoft.com/office/drawing/2014/main" id="{98669104-C3D1-D673-7B46-A6206CBA269D}"/>
              </a:ext>
            </a:extLst>
          </p:cNvPr>
          <p:cNvGraphicFramePr>
            <a:graphicFrameLocks noGrp="1"/>
          </p:cNvGraphicFramePr>
          <p:nvPr>
            <p:extLst>
              <p:ext uri="{D42A27DB-BD31-4B8C-83A1-F6EECF244321}">
                <p14:modId xmlns:p14="http://schemas.microsoft.com/office/powerpoint/2010/main" val="2175621956"/>
              </p:ext>
            </p:extLst>
          </p:nvPr>
        </p:nvGraphicFramePr>
        <p:xfrm>
          <a:off x="6185442" y="2265455"/>
          <a:ext cx="5901072" cy="2268946"/>
        </p:xfrm>
        <a:graphic>
          <a:graphicData uri="http://schemas.openxmlformats.org/drawingml/2006/table">
            <a:tbl>
              <a:tblPr/>
              <a:tblGrid>
                <a:gridCol w="485995">
                  <a:extLst>
                    <a:ext uri="{9D8B030D-6E8A-4147-A177-3AD203B41FA5}">
                      <a16:colId xmlns:a16="http://schemas.microsoft.com/office/drawing/2014/main" val="495084399"/>
                    </a:ext>
                  </a:extLst>
                </a:gridCol>
                <a:gridCol w="267224">
                  <a:extLst>
                    <a:ext uri="{9D8B030D-6E8A-4147-A177-3AD203B41FA5}">
                      <a16:colId xmlns:a16="http://schemas.microsoft.com/office/drawing/2014/main" val="3614210242"/>
                    </a:ext>
                  </a:extLst>
                </a:gridCol>
                <a:gridCol w="635959">
                  <a:extLst>
                    <a:ext uri="{9D8B030D-6E8A-4147-A177-3AD203B41FA5}">
                      <a16:colId xmlns:a16="http://schemas.microsoft.com/office/drawing/2014/main" val="1442124609"/>
                    </a:ext>
                  </a:extLst>
                </a:gridCol>
                <a:gridCol w="2311616">
                  <a:extLst>
                    <a:ext uri="{9D8B030D-6E8A-4147-A177-3AD203B41FA5}">
                      <a16:colId xmlns:a16="http://schemas.microsoft.com/office/drawing/2014/main" val="3603859997"/>
                    </a:ext>
                  </a:extLst>
                </a:gridCol>
                <a:gridCol w="366713">
                  <a:extLst>
                    <a:ext uri="{9D8B030D-6E8A-4147-A177-3AD203B41FA5}">
                      <a16:colId xmlns:a16="http://schemas.microsoft.com/office/drawing/2014/main" val="4076488391"/>
                    </a:ext>
                  </a:extLst>
                </a:gridCol>
                <a:gridCol w="366713">
                  <a:extLst>
                    <a:ext uri="{9D8B030D-6E8A-4147-A177-3AD203B41FA5}">
                      <a16:colId xmlns:a16="http://schemas.microsoft.com/office/drawing/2014/main" val="3254101706"/>
                    </a:ext>
                  </a:extLst>
                </a:gridCol>
                <a:gridCol w="366713">
                  <a:extLst>
                    <a:ext uri="{9D8B030D-6E8A-4147-A177-3AD203B41FA5}">
                      <a16:colId xmlns:a16="http://schemas.microsoft.com/office/drawing/2014/main" val="3712391277"/>
                    </a:ext>
                  </a:extLst>
                </a:gridCol>
                <a:gridCol w="366713">
                  <a:extLst>
                    <a:ext uri="{9D8B030D-6E8A-4147-A177-3AD203B41FA5}">
                      <a16:colId xmlns:a16="http://schemas.microsoft.com/office/drawing/2014/main" val="2527660299"/>
                    </a:ext>
                  </a:extLst>
                </a:gridCol>
                <a:gridCol w="366713">
                  <a:extLst>
                    <a:ext uri="{9D8B030D-6E8A-4147-A177-3AD203B41FA5}">
                      <a16:colId xmlns:a16="http://schemas.microsoft.com/office/drawing/2014/main" val="3641075278"/>
                    </a:ext>
                  </a:extLst>
                </a:gridCol>
                <a:gridCol w="366713">
                  <a:extLst>
                    <a:ext uri="{9D8B030D-6E8A-4147-A177-3AD203B41FA5}">
                      <a16:colId xmlns:a16="http://schemas.microsoft.com/office/drawing/2014/main" val="3618613915"/>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Extension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5714453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Svc</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rgbClr val="000000"/>
                          </a:solidFill>
                          <a:effectLst/>
                          <a:latin typeface="+mn-lt"/>
                          <a:ea typeface="+mn-ea"/>
                          <a:cs typeface="+mn-cs"/>
                        </a:rPr>
                        <a:t>Interest income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509671263"/>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40553860"/>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37771301"/>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78451192"/>
                  </a:ext>
                </a:extLst>
              </a:tr>
            </a:tbl>
          </a:graphicData>
        </a:graphic>
      </p:graphicFrame>
      <p:cxnSp>
        <p:nvCxnSpPr>
          <p:cNvPr id="9" name="直接连接符 3">
            <a:extLst>
              <a:ext uri="{FF2B5EF4-FFF2-40B4-BE49-F238E27FC236}">
                <a16:creationId xmlns:a16="http://schemas.microsoft.com/office/drawing/2014/main" id="{FD0CACD2-F966-1D74-FADA-10B215644A92}"/>
              </a:ext>
            </a:extLst>
          </p:cNvPr>
          <p:cNvCxnSpPr>
            <a:cxnSpLocks/>
          </p:cNvCxnSpPr>
          <p:nvPr/>
        </p:nvCxnSpPr>
        <p:spPr>
          <a:xfrm>
            <a:off x="6096284"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13" name="Rectangle 1">
            <a:extLst>
              <a:ext uri="{FF2B5EF4-FFF2-40B4-BE49-F238E27FC236}">
                <a16:creationId xmlns:a16="http://schemas.microsoft.com/office/drawing/2014/main" id="{06DDB4FD-18E5-E127-ACE2-35729B43776D}"/>
              </a:ext>
            </a:extLst>
          </p:cNvPr>
          <p:cNvSpPr/>
          <p:nvPr/>
        </p:nvSpPr>
        <p:spPr>
          <a:xfrm>
            <a:off x="594723" y="3777455"/>
            <a:ext cx="5347152" cy="22686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5" name="Rectangle 1">
            <a:extLst>
              <a:ext uri="{FF2B5EF4-FFF2-40B4-BE49-F238E27FC236}">
                <a16:creationId xmlns:a16="http://schemas.microsoft.com/office/drawing/2014/main" id="{2C1B9008-2C1E-7DC6-930A-6344A4633C91}"/>
              </a:ext>
            </a:extLst>
          </p:cNvPr>
          <p:cNvSpPr/>
          <p:nvPr/>
        </p:nvSpPr>
        <p:spPr>
          <a:xfrm>
            <a:off x="6680090" y="3777455"/>
            <a:ext cx="5347152" cy="210372"/>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0" name="文本框 9">
            <a:extLst>
              <a:ext uri="{FF2B5EF4-FFF2-40B4-BE49-F238E27FC236}">
                <a16:creationId xmlns:a16="http://schemas.microsoft.com/office/drawing/2014/main" id="{1E96D267-A0C6-E2B5-EA4A-890766AE4FB9}"/>
              </a:ext>
            </a:extLst>
          </p:cNvPr>
          <p:cNvSpPr txBox="1"/>
          <p:nvPr/>
        </p:nvSpPr>
        <p:spPr>
          <a:xfrm>
            <a:off x="10148701" y="2282022"/>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12" name="文本框 11">
            <a:extLst>
              <a:ext uri="{FF2B5EF4-FFF2-40B4-BE49-F238E27FC236}">
                <a16:creationId xmlns:a16="http://schemas.microsoft.com/office/drawing/2014/main" id="{7358B810-D2ED-241F-AC19-4396E38E4171}"/>
              </a:ext>
            </a:extLst>
          </p:cNvPr>
          <p:cNvSpPr txBox="1"/>
          <p:nvPr/>
        </p:nvSpPr>
        <p:spPr>
          <a:xfrm>
            <a:off x="4052697" y="2257630"/>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7" name="流程图: 资料带 6">
            <a:extLst>
              <a:ext uri="{FF2B5EF4-FFF2-40B4-BE49-F238E27FC236}">
                <a16:creationId xmlns:a16="http://schemas.microsoft.com/office/drawing/2014/main" id="{7715C943-075C-4D22-CF89-886620B08917}"/>
              </a:ext>
            </a:extLst>
          </p:cNvPr>
          <p:cNvSpPr/>
          <p:nvPr/>
        </p:nvSpPr>
        <p:spPr>
          <a:xfrm>
            <a:off x="6368904" y="4697570"/>
            <a:ext cx="3318300" cy="1604513"/>
          </a:xfrm>
          <a:prstGeom prst="flowChartPunchedTape">
            <a:avLst/>
          </a:prstGeom>
          <a:solidFill>
            <a:srgbClr val="FF00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altLang="zh-CN" sz="2000" kern="0">
                <a:solidFill>
                  <a:schemeClr val="bg1"/>
                </a:solidFill>
                <a:latin typeface="Calibri"/>
              </a:rPr>
              <a:t>No System solution for now, </a:t>
            </a:r>
          </a:p>
          <a:p>
            <a:pPr algn="ctr" defTabSz="1088449"/>
            <a:r>
              <a:rPr lang="en-US" altLang="zh-CN" sz="2000" kern="0">
                <a:solidFill>
                  <a:schemeClr val="bg1"/>
                </a:solidFill>
                <a:latin typeface="Calibri"/>
              </a:rPr>
              <a:t>Entry prepared</a:t>
            </a:r>
            <a:endParaRPr lang="zh-CN" altLang="en-US" sz="2000" kern="0">
              <a:solidFill>
                <a:schemeClr val="bg1"/>
              </a:solidFill>
              <a:latin typeface="Calibri"/>
            </a:endParaRPr>
          </a:p>
        </p:txBody>
      </p:sp>
    </p:spTree>
    <p:extLst>
      <p:ext uri="{BB962C8B-B14F-4D97-AF65-F5344CB8AC3E}">
        <p14:creationId xmlns:p14="http://schemas.microsoft.com/office/powerpoint/2010/main" val="727106129"/>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240C6-4A42-609F-83BE-AB1A21440B30}"/>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EB1C9F0E-7891-0E1E-7AB1-3775C8121076}"/>
              </a:ext>
            </a:extLst>
          </p:cNvPr>
          <p:cNvGraphicFramePr>
            <a:graphicFrameLocks noGrp="1"/>
          </p:cNvGraphicFramePr>
          <p:nvPr>
            <p:extLst>
              <p:ext uri="{D42A27DB-BD31-4B8C-83A1-F6EECF244321}">
                <p14:modId xmlns:p14="http://schemas.microsoft.com/office/powerpoint/2010/main" val="1405837375"/>
              </p:ext>
            </p:extLst>
          </p:nvPr>
        </p:nvGraphicFramePr>
        <p:xfrm>
          <a:off x="6096000" y="1647200"/>
          <a:ext cx="5734950" cy="1077159"/>
        </p:xfrm>
        <a:graphic>
          <a:graphicData uri="http://schemas.openxmlformats.org/drawingml/2006/table">
            <a:tbl>
              <a:tblPr/>
              <a:tblGrid>
                <a:gridCol w="489662">
                  <a:extLst>
                    <a:ext uri="{9D8B030D-6E8A-4147-A177-3AD203B41FA5}">
                      <a16:colId xmlns:a16="http://schemas.microsoft.com/office/drawing/2014/main" val="495084399"/>
                    </a:ext>
                  </a:extLst>
                </a:gridCol>
                <a:gridCol w="256427">
                  <a:extLst>
                    <a:ext uri="{9D8B030D-6E8A-4147-A177-3AD203B41FA5}">
                      <a16:colId xmlns:a16="http://schemas.microsoft.com/office/drawing/2014/main" val="3614210242"/>
                    </a:ext>
                  </a:extLst>
                </a:gridCol>
                <a:gridCol w="610264">
                  <a:extLst>
                    <a:ext uri="{9D8B030D-6E8A-4147-A177-3AD203B41FA5}">
                      <a16:colId xmlns:a16="http://schemas.microsoft.com/office/drawing/2014/main" val="1442124609"/>
                    </a:ext>
                  </a:extLst>
                </a:gridCol>
                <a:gridCol w="1957105">
                  <a:extLst>
                    <a:ext uri="{9D8B030D-6E8A-4147-A177-3AD203B41FA5}">
                      <a16:colId xmlns:a16="http://schemas.microsoft.com/office/drawing/2014/main" val="3603859997"/>
                    </a:ext>
                  </a:extLst>
                </a:gridCol>
                <a:gridCol w="403582">
                  <a:extLst>
                    <a:ext uri="{9D8B030D-6E8A-4147-A177-3AD203B41FA5}">
                      <a16:colId xmlns:a16="http://schemas.microsoft.com/office/drawing/2014/main" val="4076488391"/>
                    </a:ext>
                  </a:extLst>
                </a:gridCol>
                <a:gridCol w="403582">
                  <a:extLst>
                    <a:ext uri="{9D8B030D-6E8A-4147-A177-3AD203B41FA5}">
                      <a16:colId xmlns:a16="http://schemas.microsoft.com/office/drawing/2014/main" val="3254101706"/>
                    </a:ext>
                  </a:extLst>
                </a:gridCol>
                <a:gridCol w="403582">
                  <a:extLst>
                    <a:ext uri="{9D8B030D-6E8A-4147-A177-3AD203B41FA5}">
                      <a16:colId xmlns:a16="http://schemas.microsoft.com/office/drawing/2014/main" val="3712391277"/>
                    </a:ext>
                  </a:extLst>
                </a:gridCol>
                <a:gridCol w="403582">
                  <a:extLst>
                    <a:ext uri="{9D8B030D-6E8A-4147-A177-3AD203B41FA5}">
                      <a16:colId xmlns:a16="http://schemas.microsoft.com/office/drawing/2014/main" val="2527660299"/>
                    </a:ext>
                  </a:extLst>
                </a:gridCol>
                <a:gridCol w="403582">
                  <a:extLst>
                    <a:ext uri="{9D8B030D-6E8A-4147-A177-3AD203B41FA5}">
                      <a16:colId xmlns:a16="http://schemas.microsoft.com/office/drawing/2014/main" val="3641075278"/>
                    </a:ext>
                  </a:extLst>
                </a:gridCol>
                <a:gridCol w="403582">
                  <a:extLst>
                    <a:ext uri="{9D8B030D-6E8A-4147-A177-3AD203B41FA5}">
                      <a16:colId xmlns:a16="http://schemas.microsoft.com/office/drawing/2014/main" val="3618613915"/>
                    </a:ext>
                  </a:extLst>
                </a:gridCol>
              </a:tblGrid>
              <a:tr h="0">
                <a:tc rowSpan="5">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j-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j-lt"/>
                          <a:ea typeface="+mn-ea"/>
                          <a:cs typeface="+mn-cs"/>
                        </a:rPr>
                        <a:t>Agent Revenue – </a:t>
                      </a:r>
                      <a:r>
                        <a:rPr lang="en-US" altLang="zh-CN" sz="1000" b="0" i="0" u="none" strike="noStrike">
                          <a:solidFill>
                            <a:srgbClr val="000000"/>
                          </a:solidFill>
                          <a:effectLst/>
                          <a:latin typeface="+mn-lt"/>
                        </a:rPr>
                        <a:t>professional</a:t>
                      </a:r>
                      <a:r>
                        <a:rPr lang="en-US" sz="1000" b="0" i="0" u="none" strike="noStrike" kern="1200">
                          <a:solidFill>
                            <a:srgbClr val="000000"/>
                          </a:solidFill>
                          <a:effectLst/>
                          <a:latin typeface="+mj-lt"/>
                          <a:ea typeface="+mn-ea"/>
                          <a:cs typeface="+mn-cs"/>
                        </a:rPr>
                        <a: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28" name="文本框 27">
            <a:extLst>
              <a:ext uri="{FF2B5EF4-FFF2-40B4-BE49-F238E27FC236}">
                <a16:creationId xmlns:a16="http://schemas.microsoft.com/office/drawing/2014/main" id="{1393D63A-0E1F-748B-14C1-2DF2550DE64C}"/>
              </a:ext>
            </a:extLst>
          </p:cNvPr>
          <p:cNvSpPr txBox="1"/>
          <p:nvPr/>
        </p:nvSpPr>
        <p:spPr>
          <a:xfrm>
            <a:off x="-40473" y="34649"/>
            <a:ext cx="4470947" cy="400110"/>
          </a:xfrm>
          <a:prstGeom prst="rect">
            <a:avLst/>
          </a:prstGeom>
          <a:noFill/>
        </p:spPr>
        <p:txBody>
          <a:bodyPr wrap="square" rtlCol="0">
            <a:spAutoFit/>
          </a:bodyPr>
          <a:lstStyle/>
          <a:p>
            <a:r>
              <a:rPr lang="nl-NL" altLang="zh-CN" sz="2000" b="1"/>
              <a:t>IaaS_AFE_MSA</a:t>
            </a:r>
            <a:endParaRPr lang="zh-CN" altLang="en-US" sz="2000" b="1"/>
          </a:p>
        </p:txBody>
      </p:sp>
      <p:graphicFrame>
        <p:nvGraphicFramePr>
          <p:cNvPr id="4" name="表格 3">
            <a:extLst>
              <a:ext uri="{FF2B5EF4-FFF2-40B4-BE49-F238E27FC236}">
                <a16:creationId xmlns:a16="http://schemas.microsoft.com/office/drawing/2014/main" id="{EC3DFA4E-114F-6BB1-E7EB-080ED1FC56E6}"/>
              </a:ext>
            </a:extLst>
          </p:cNvPr>
          <p:cNvGraphicFramePr>
            <a:graphicFrameLocks noGrp="1"/>
          </p:cNvGraphicFramePr>
          <p:nvPr>
            <p:extLst>
              <p:ext uri="{D42A27DB-BD31-4B8C-83A1-F6EECF244321}">
                <p14:modId xmlns:p14="http://schemas.microsoft.com/office/powerpoint/2010/main" val="159275225"/>
              </p:ext>
            </p:extLst>
          </p:nvPr>
        </p:nvGraphicFramePr>
        <p:xfrm>
          <a:off x="6096001" y="2829433"/>
          <a:ext cx="5734948" cy="1077159"/>
        </p:xfrm>
        <a:graphic>
          <a:graphicData uri="http://schemas.openxmlformats.org/drawingml/2006/table">
            <a:tbl>
              <a:tblPr/>
              <a:tblGrid>
                <a:gridCol w="428381">
                  <a:extLst>
                    <a:ext uri="{9D8B030D-6E8A-4147-A177-3AD203B41FA5}">
                      <a16:colId xmlns:a16="http://schemas.microsoft.com/office/drawing/2014/main" val="495084399"/>
                    </a:ext>
                  </a:extLst>
                </a:gridCol>
                <a:gridCol w="245525">
                  <a:extLst>
                    <a:ext uri="{9D8B030D-6E8A-4147-A177-3AD203B41FA5}">
                      <a16:colId xmlns:a16="http://schemas.microsoft.com/office/drawing/2014/main" val="3614210242"/>
                    </a:ext>
                  </a:extLst>
                </a:gridCol>
                <a:gridCol w="611763">
                  <a:extLst>
                    <a:ext uri="{9D8B030D-6E8A-4147-A177-3AD203B41FA5}">
                      <a16:colId xmlns:a16="http://schemas.microsoft.com/office/drawing/2014/main" val="1442124609"/>
                    </a:ext>
                  </a:extLst>
                </a:gridCol>
                <a:gridCol w="1926999">
                  <a:extLst>
                    <a:ext uri="{9D8B030D-6E8A-4147-A177-3AD203B41FA5}">
                      <a16:colId xmlns:a16="http://schemas.microsoft.com/office/drawing/2014/main" val="3603859997"/>
                    </a:ext>
                  </a:extLst>
                </a:gridCol>
                <a:gridCol w="420380">
                  <a:extLst>
                    <a:ext uri="{9D8B030D-6E8A-4147-A177-3AD203B41FA5}">
                      <a16:colId xmlns:a16="http://schemas.microsoft.com/office/drawing/2014/main" val="4076488391"/>
                    </a:ext>
                  </a:extLst>
                </a:gridCol>
                <a:gridCol w="420380">
                  <a:extLst>
                    <a:ext uri="{9D8B030D-6E8A-4147-A177-3AD203B41FA5}">
                      <a16:colId xmlns:a16="http://schemas.microsoft.com/office/drawing/2014/main" val="3254101706"/>
                    </a:ext>
                  </a:extLst>
                </a:gridCol>
                <a:gridCol w="420380">
                  <a:extLst>
                    <a:ext uri="{9D8B030D-6E8A-4147-A177-3AD203B41FA5}">
                      <a16:colId xmlns:a16="http://schemas.microsoft.com/office/drawing/2014/main" val="3712391277"/>
                    </a:ext>
                  </a:extLst>
                </a:gridCol>
                <a:gridCol w="420380">
                  <a:extLst>
                    <a:ext uri="{9D8B030D-6E8A-4147-A177-3AD203B41FA5}">
                      <a16:colId xmlns:a16="http://schemas.microsoft.com/office/drawing/2014/main" val="2527660299"/>
                    </a:ext>
                  </a:extLst>
                </a:gridCol>
                <a:gridCol w="420380">
                  <a:extLst>
                    <a:ext uri="{9D8B030D-6E8A-4147-A177-3AD203B41FA5}">
                      <a16:colId xmlns:a16="http://schemas.microsoft.com/office/drawing/2014/main" val="3641075278"/>
                    </a:ext>
                  </a:extLst>
                </a:gridCol>
                <a:gridCol w="420380">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a:t>
                      </a:r>
                      <a:r>
                        <a:rPr lang="en-US" altLang="zh-CN" sz="1000" b="0" i="0" u="none" strike="noStrike">
                          <a:solidFill>
                            <a:srgbClr val="000000"/>
                          </a:solidFill>
                          <a:effectLst/>
                          <a:latin typeface="+mn-lt"/>
                        </a:rPr>
                        <a:t>professional</a:t>
                      </a:r>
                      <a:r>
                        <a:rPr lang="en-US" sz="1000" b="0" i="0" u="none" strike="noStrike">
                          <a:solidFill>
                            <a:srgbClr val="000000"/>
                          </a:solidFill>
                          <a:effectLst/>
                          <a:latin typeface="+mn-lt"/>
                        </a:rPr>
                        <a: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981CA501-BC17-317C-FE1C-CE9225169291}"/>
              </a:ext>
            </a:extLst>
          </p:cNvPr>
          <p:cNvGraphicFramePr>
            <a:graphicFrameLocks noGrp="1"/>
          </p:cNvGraphicFramePr>
          <p:nvPr>
            <p:extLst>
              <p:ext uri="{D42A27DB-BD31-4B8C-83A1-F6EECF244321}">
                <p14:modId xmlns:p14="http://schemas.microsoft.com/office/powerpoint/2010/main" val="3178671669"/>
              </p:ext>
            </p:extLst>
          </p:nvPr>
        </p:nvGraphicFramePr>
        <p:xfrm>
          <a:off x="0" y="2829433"/>
          <a:ext cx="5958773" cy="1077159"/>
        </p:xfrm>
        <a:graphic>
          <a:graphicData uri="http://schemas.openxmlformats.org/drawingml/2006/table">
            <a:tbl>
              <a:tblPr/>
              <a:tblGrid>
                <a:gridCol w="444105">
                  <a:extLst>
                    <a:ext uri="{9D8B030D-6E8A-4147-A177-3AD203B41FA5}">
                      <a16:colId xmlns:a16="http://schemas.microsoft.com/office/drawing/2014/main" val="495084399"/>
                    </a:ext>
                  </a:extLst>
                </a:gridCol>
                <a:gridCol w="253840">
                  <a:extLst>
                    <a:ext uri="{9D8B030D-6E8A-4147-A177-3AD203B41FA5}">
                      <a16:colId xmlns:a16="http://schemas.microsoft.com/office/drawing/2014/main" val="3614210242"/>
                    </a:ext>
                  </a:extLst>
                </a:gridCol>
                <a:gridCol w="584800">
                  <a:extLst>
                    <a:ext uri="{9D8B030D-6E8A-4147-A177-3AD203B41FA5}">
                      <a16:colId xmlns:a16="http://schemas.microsoft.com/office/drawing/2014/main" val="1442124609"/>
                    </a:ext>
                  </a:extLst>
                </a:gridCol>
                <a:gridCol w="1976406">
                  <a:extLst>
                    <a:ext uri="{9D8B030D-6E8A-4147-A177-3AD203B41FA5}">
                      <a16:colId xmlns:a16="http://schemas.microsoft.com/office/drawing/2014/main" val="3603859997"/>
                    </a:ext>
                  </a:extLst>
                </a:gridCol>
                <a:gridCol w="449937">
                  <a:extLst>
                    <a:ext uri="{9D8B030D-6E8A-4147-A177-3AD203B41FA5}">
                      <a16:colId xmlns:a16="http://schemas.microsoft.com/office/drawing/2014/main" val="4076488391"/>
                    </a:ext>
                  </a:extLst>
                </a:gridCol>
                <a:gridCol w="449937">
                  <a:extLst>
                    <a:ext uri="{9D8B030D-6E8A-4147-A177-3AD203B41FA5}">
                      <a16:colId xmlns:a16="http://schemas.microsoft.com/office/drawing/2014/main" val="3254101706"/>
                    </a:ext>
                  </a:extLst>
                </a:gridCol>
                <a:gridCol w="449937">
                  <a:extLst>
                    <a:ext uri="{9D8B030D-6E8A-4147-A177-3AD203B41FA5}">
                      <a16:colId xmlns:a16="http://schemas.microsoft.com/office/drawing/2014/main" val="3712391277"/>
                    </a:ext>
                  </a:extLst>
                </a:gridCol>
                <a:gridCol w="449937">
                  <a:extLst>
                    <a:ext uri="{9D8B030D-6E8A-4147-A177-3AD203B41FA5}">
                      <a16:colId xmlns:a16="http://schemas.microsoft.com/office/drawing/2014/main" val="2527660299"/>
                    </a:ext>
                  </a:extLst>
                </a:gridCol>
                <a:gridCol w="449937">
                  <a:extLst>
                    <a:ext uri="{9D8B030D-6E8A-4147-A177-3AD203B41FA5}">
                      <a16:colId xmlns:a16="http://schemas.microsoft.com/office/drawing/2014/main" val="3641075278"/>
                    </a:ext>
                  </a:extLst>
                </a:gridCol>
                <a:gridCol w="449937">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a:t>
                      </a:r>
                      <a:r>
                        <a:rPr lang="en-US" altLang="zh-CN" sz="1000" b="0" i="0" u="none" strike="noStrike">
                          <a:solidFill>
                            <a:srgbClr val="000000"/>
                          </a:solidFill>
                          <a:effectLst/>
                          <a:latin typeface="+mn-lt"/>
                        </a:rPr>
                        <a:t>professional</a:t>
                      </a:r>
                      <a:r>
                        <a:rPr lang="en-US" sz="1000" b="0" i="0" u="none" strike="noStrike">
                          <a:solidFill>
                            <a:srgbClr val="000000"/>
                          </a:solidFill>
                          <a:effectLst/>
                          <a:latin typeface="+mn-lt"/>
                        </a:rPr>
                        <a:t>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bl>
          </a:graphicData>
        </a:graphic>
      </p:graphicFrame>
      <p:graphicFrame>
        <p:nvGraphicFramePr>
          <p:cNvPr id="11" name="表格 10">
            <a:extLst>
              <a:ext uri="{FF2B5EF4-FFF2-40B4-BE49-F238E27FC236}">
                <a16:creationId xmlns:a16="http://schemas.microsoft.com/office/drawing/2014/main" id="{2FFB36ED-CD05-4777-343D-9C4ADFBBB6FC}"/>
              </a:ext>
            </a:extLst>
          </p:cNvPr>
          <p:cNvGraphicFramePr>
            <a:graphicFrameLocks noGrp="1"/>
          </p:cNvGraphicFramePr>
          <p:nvPr>
            <p:extLst>
              <p:ext uri="{D42A27DB-BD31-4B8C-83A1-F6EECF244321}">
                <p14:modId xmlns:p14="http://schemas.microsoft.com/office/powerpoint/2010/main" val="1015361159"/>
              </p:ext>
            </p:extLst>
          </p:nvPr>
        </p:nvGraphicFramePr>
        <p:xfrm>
          <a:off x="231507" y="522805"/>
          <a:ext cx="9173719" cy="982980"/>
        </p:xfrm>
        <a:graphic>
          <a:graphicData uri="http://schemas.openxmlformats.org/drawingml/2006/table">
            <a:tbl>
              <a:tblPr firstRow="1" bandRow="1">
                <a:tableStyleId>{3C2FFA5D-87B4-456A-9821-1D502468CF0F}</a:tableStyleId>
              </a:tblPr>
              <a:tblGrid>
                <a:gridCol w="1124390">
                  <a:extLst>
                    <a:ext uri="{9D8B030D-6E8A-4147-A177-3AD203B41FA5}">
                      <a16:colId xmlns:a16="http://schemas.microsoft.com/office/drawing/2014/main" val="869603910"/>
                    </a:ext>
                  </a:extLst>
                </a:gridCol>
                <a:gridCol w="1069079">
                  <a:extLst>
                    <a:ext uri="{9D8B030D-6E8A-4147-A177-3AD203B41FA5}">
                      <a16:colId xmlns:a16="http://schemas.microsoft.com/office/drawing/2014/main" val="238663902"/>
                    </a:ext>
                  </a:extLst>
                </a:gridCol>
                <a:gridCol w="1031257">
                  <a:extLst>
                    <a:ext uri="{9D8B030D-6E8A-4147-A177-3AD203B41FA5}">
                      <a16:colId xmlns:a16="http://schemas.microsoft.com/office/drawing/2014/main" val="4114365151"/>
                    </a:ext>
                  </a:extLst>
                </a:gridCol>
                <a:gridCol w="1008461">
                  <a:extLst>
                    <a:ext uri="{9D8B030D-6E8A-4147-A177-3AD203B41FA5}">
                      <a16:colId xmlns:a16="http://schemas.microsoft.com/office/drawing/2014/main" val="4075178046"/>
                    </a:ext>
                  </a:extLst>
                </a:gridCol>
                <a:gridCol w="1192117">
                  <a:extLst>
                    <a:ext uri="{9D8B030D-6E8A-4147-A177-3AD203B41FA5}">
                      <a16:colId xmlns:a16="http://schemas.microsoft.com/office/drawing/2014/main" val="973533418"/>
                    </a:ext>
                  </a:extLst>
                </a:gridCol>
                <a:gridCol w="1100802">
                  <a:extLst>
                    <a:ext uri="{9D8B030D-6E8A-4147-A177-3AD203B41FA5}">
                      <a16:colId xmlns:a16="http://schemas.microsoft.com/office/drawing/2014/main" val="2377711782"/>
                    </a:ext>
                  </a:extLst>
                </a:gridCol>
                <a:gridCol w="1100802">
                  <a:extLst>
                    <a:ext uri="{9D8B030D-6E8A-4147-A177-3AD203B41FA5}">
                      <a16:colId xmlns:a16="http://schemas.microsoft.com/office/drawing/2014/main" val="3946881186"/>
                    </a:ext>
                  </a:extLst>
                </a:gridCol>
                <a:gridCol w="1546811">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Operating Lease/ 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One-time billing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Non- funded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b="0" i="0" u="none" strike="noStrike">
                          <a:solidFill>
                            <a:srgbClr val="000000"/>
                          </a:solidFill>
                          <a:effectLst/>
                          <a:latin typeface="+mn-lt"/>
                        </a:rPr>
                        <a:t>Professional</a:t>
                      </a:r>
                      <a:r>
                        <a:rPr lang="en-US" altLang="zh-CN" sz="1050">
                          <a:solidFill>
                            <a:sysClr val="windowText" lastClr="000000"/>
                          </a:solidFill>
                        </a:rPr>
                        <a:t> service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Tree>
    <p:extLst>
      <p:ext uri="{BB962C8B-B14F-4D97-AF65-F5344CB8AC3E}">
        <p14:creationId xmlns:p14="http://schemas.microsoft.com/office/powerpoint/2010/main" val="807809498"/>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411E28-BD69-B2D7-92AC-0A73391D2E7C}"/>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F53AE0CD-E8E2-3C61-7D43-1A7A784C505E}"/>
              </a:ext>
            </a:extLst>
          </p:cNvPr>
          <p:cNvGraphicFramePr>
            <a:graphicFrameLocks noGrp="1"/>
          </p:cNvGraphicFramePr>
          <p:nvPr>
            <p:extLst>
              <p:ext uri="{D42A27DB-BD31-4B8C-83A1-F6EECF244321}">
                <p14:modId xmlns:p14="http://schemas.microsoft.com/office/powerpoint/2010/main" val="2668856733"/>
              </p:ext>
            </p:extLst>
          </p:nvPr>
        </p:nvGraphicFramePr>
        <p:xfrm>
          <a:off x="6096000" y="1647200"/>
          <a:ext cx="5734950" cy="2282729"/>
        </p:xfrm>
        <a:graphic>
          <a:graphicData uri="http://schemas.openxmlformats.org/drawingml/2006/table">
            <a:tbl>
              <a:tblPr/>
              <a:tblGrid>
                <a:gridCol w="489662">
                  <a:extLst>
                    <a:ext uri="{9D8B030D-6E8A-4147-A177-3AD203B41FA5}">
                      <a16:colId xmlns:a16="http://schemas.microsoft.com/office/drawing/2014/main" val="495084399"/>
                    </a:ext>
                  </a:extLst>
                </a:gridCol>
                <a:gridCol w="256427">
                  <a:extLst>
                    <a:ext uri="{9D8B030D-6E8A-4147-A177-3AD203B41FA5}">
                      <a16:colId xmlns:a16="http://schemas.microsoft.com/office/drawing/2014/main" val="3614210242"/>
                    </a:ext>
                  </a:extLst>
                </a:gridCol>
                <a:gridCol w="610264">
                  <a:extLst>
                    <a:ext uri="{9D8B030D-6E8A-4147-A177-3AD203B41FA5}">
                      <a16:colId xmlns:a16="http://schemas.microsoft.com/office/drawing/2014/main" val="1442124609"/>
                    </a:ext>
                  </a:extLst>
                </a:gridCol>
                <a:gridCol w="1957105">
                  <a:extLst>
                    <a:ext uri="{9D8B030D-6E8A-4147-A177-3AD203B41FA5}">
                      <a16:colId xmlns:a16="http://schemas.microsoft.com/office/drawing/2014/main" val="3603859997"/>
                    </a:ext>
                  </a:extLst>
                </a:gridCol>
                <a:gridCol w="403582">
                  <a:extLst>
                    <a:ext uri="{9D8B030D-6E8A-4147-A177-3AD203B41FA5}">
                      <a16:colId xmlns:a16="http://schemas.microsoft.com/office/drawing/2014/main" val="4076488391"/>
                    </a:ext>
                  </a:extLst>
                </a:gridCol>
                <a:gridCol w="403582">
                  <a:extLst>
                    <a:ext uri="{9D8B030D-6E8A-4147-A177-3AD203B41FA5}">
                      <a16:colId xmlns:a16="http://schemas.microsoft.com/office/drawing/2014/main" val="3254101706"/>
                    </a:ext>
                  </a:extLst>
                </a:gridCol>
                <a:gridCol w="403582">
                  <a:extLst>
                    <a:ext uri="{9D8B030D-6E8A-4147-A177-3AD203B41FA5}">
                      <a16:colId xmlns:a16="http://schemas.microsoft.com/office/drawing/2014/main" val="3712391277"/>
                    </a:ext>
                  </a:extLst>
                </a:gridCol>
                <a:gridCol w="403582">
                  <a:extLst>
                    <a:ext uri="{9D8B030D-6E8A-4147-A177-3AD203B41FA5}">
                      <a16:colId xmlns:a16="http://schemas.microsoft.com/office/drawing/2014/main" val="2527660299"/>
                    </a:ext>
                  </a:extLst>
                </a:gridCol>
                <a:gridCol w="403582">
                  <a:extLst>
                    <a:ext uri="{9D8B030D-6E8A-4147-A177-3AD203B41FA5}">
                      <a16:colId xmlns:a16="http://schemas.microsoft.com/office/drawing/2014/main" val="3641075278"/>
                    </a:ext>
                  </a:extLst>
                </a:gridCol>
                <a:gridCol w="403582">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a:t>
                      </a:r>
                      <a:r>
                        <a:rPr kumimoji="0" lang="en-US" altLang="zh-CN" sz="1000" b="0" i="0" u="none" strike="noStrike" kern="1200" cap="none" spc="0" normalizeH="0" baseline="0" noProof="0">
                          <a:ln>
                            <a:noFill/>
                          </a:ln>
                          <a:solidFill>
                            <a:srgbClr val="000000"/>
                          </a:solidFill>
                          <a:effectLst/>
                          <a:uLnTx/>
                          <a:uFillTx/>
                          <a:latin typeface="+mn-lt"/>
                          <a:ea typeface="+mn-ea"/>
                          <a:cs typeface="+mn-cs"/>
                        </a:rPr>
                        <a:t>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1130600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Unbilled AR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914</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914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10822268"/>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06799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064985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4517476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233877"/>
                  </a:ext>
                </a:extLst>
              </a:tr>
            </a:tbl>
          </a:graphicData>
        </a:graphic>
      </p:graphicFrame>
      <p:sp>
        <p:nvSpPr>
          <p:cNvPr id="28" name="文本框 27">
            <a:extLst>
              <a:ext uri="{FF2B5EF4-FFF2-40B4-BE49-F238E27FC236}">
                <a16:creationId xmlns:a16="http://schemas.microsoft.com/office/drawing/2014/main" id="{2D114F58-18D6-DE09-894A-9C2C1B2FD4EA}"/>
              </a:ext>
            </a:extLst>
          </p:cNvPr>
          <p:cNvSpPr txBox="1"/>
          <p:nvPr/>
        </p:nvSpPr>
        <p:spPr>
          <a:xfrm>
            <a:off x="-40473" y="34649"/>
            <a:ext cx="4470947" cy="400110"/>
          </a:xfrm>
          <a:prstGeom prst="rect">
            <a:avLst/>
          </a:prstGeom>
          <a:noFill/>
        </p:spPr>
        <p:txBody>
          <a:bodyPr wrap="square" rtlCol="0">
            <a:spAutoFit/>
          </a:bodyPr>
          <a:lstStyle/>
          <a:p>
            <a:r>
              <a:rPr lang="nl-NL" altLang="zh-CN" sz="2000" b="1"/>
              <a:t>IaaS_AFE_MSA</a:t>
            </a:r>
            <a:endParaRPr lang="zh-CN" altLang="en-US" sz="2000" b="1"/>
          </a:p>
        </p:txBody>
      </p:sp>
      <p:graphicFrame>
        <p:nvGraphicFramePr>
          <p:cNvPr id="4" name="表格 3">
            <a:extLst>
              <a:ext uri="{FF2B5EF4-FFF2-40B4-BE49-F238E27FC236}">
                <a16:creationId xmlns:a16="http://schemas.microsoft.com/office/drawing/2014/main" id="{E01151E6-0222-A550-60E2-62DCB5B1C441}"/>
              </a:ext>
            </a:extLst>
          </p:cNvPr>
          <p:cNvGraphicFramePr>
            <a:graphicFrameLocks noGrp="1"/>
          </p:cNvGraphicFramePr>
          <p:nvPr>
            <p:extLst>
              <p:ext uri="{D42A27DB-BD31-4B8C-83A1-F6EECF244321}">
                <p14:modId xmlns:p14="http://schemas.microsoft.com/office/powerpoint/2010/main" val="2837525920"/>
              </p:ext>
            </p:extLst>
          </p:nvPr>
        </p:nvGraphicFramePr>
        <p:xfrm>
          <a:off x="6095999" y="4342449"/>
          <a:ext cx="5734948" cy="2082337"/>
        </p:xfrm>
        <a:graphic>
          <a:graphicData uri="http://schemas.openxmlformats.org/drawingml/2006/table">
            <a:tbl>
              <a:tblPr/>
              <a:tblGrid>
                <a:gridCol w="428381">
                  <a:extLst>
                    <a:ext uri="{9D8B030D-6E8A-4147-A177-3AD203B41FA5}">
                      <a16:colId xmlns:a16="http://schemas.microsoft.com/office/drawing/2014/main" val="495084399"/>
                    </a:ext>
                  </a:extLst>
                </a:gridCol>
                <a:gridCol w="245525">
                  <a:extLst>
                    <a:ext uri="{9D8B030D-6E8A-4147-A177-3AD203B41FA5}">
                      <a16:colId xmlns:a16="http://schemas.microsoft.com/office/drawing/2014/main" val="3614210242"/>
                    </a:ext>
                  </a:extLst>
                </a:gridCol>
                <a:gridCol w="611763">
                  <a:extLst>
                    <a:ext uri="{9D8B030D-6E8A-4147-A177-3AD203B41FA5}">
                      <a16:colId xmlns:a16="http://schemas.microsoft.com/office/drawing/2014/main" val="1442124609"/>
                    </a:ext>
                  </a:extLst>
                </a:gridCol>
                <a:gridCol w="1926999">
                  <a:extLst>
                    <a:ext uri="{9D8B030D-6E8A-4147-A177-3AD203B41FA5}">
                      <a16:colId xmlns:a16="http://schemas.microsoft.com/office/drawing/2014/main" val="3603859997"/>
                    </a:ext>
                  </a:extLst>
                </a:gridCol>
                <a:gridCol w="420380">
                  <a:extLst>
                    <a:ext uri="{9D8B030D-6E8A-4147-A177-3AD203B41FA5}">
                      <a16:colId xmlns:a16="http://schemas.microsoft.com/office/drawing/2014/main" val="4076488391"/>
                    </a:ext>
                  </a:extLst>
                </a:gridCol>
                <a:gridCol w="420380">
                  <a:extLst>
                    <a:ext uri="{9D8B030D-6E8A-4147-A177-3AD203B41FA5}">
                      <a16:colId xmlns:a16="http://schemas.microsoft.com/office/drawing/2014/main" val="3254101706"/>
                    </a:ext>
                  </a:extLst>
                </a:gridCol>
                <a:gridCol w="420380">
                  <a:extLst>
                    <a:ext uri="{9D8B030D-6E8A-4147-A177-3AD203B41FA5}">
                      <a16:colId xmlns:a16="http://schemas.microsoft.com/office/drawing/2014/main" val="3712391277"/>
                    </a:ext>
                  </a:extLst>
                </a:gridCol>
                <a:gridCol w="420380">
                  <a:extLst>
                    <a:ext uri="{9D8B030D-6E8A-4147-A177-3AD203B41FA5}">
                      <a16:colId xmlns:a16="http://schemas.microsoft.com/office/drawing/2014/main" val="2527660299"/>
                    </a:ext>
                  </a:extLst>
                </a:gridCol>
                <a:gridCol w="420380">
                  <a:extLst>
                    <a:ext uri="{9D8B030D-6E8A-4147-A177-3AD203B41FA5}">
                      <a16:colId xmlns:a16="http://schemas.microsoft.com/office/drawing/2014/main" val="3641075278"/>
                    </a:ext>
                  </a:extLst>
                </a:gridCol>
                <a:gridCol w="420380">
                  <a:extLst>
                    <a:ext uri="{9D8B030D-6E8A-4147-A177-3AD203B41FA5}">
                      <a16:colId xmlns:a16="http://schemas.microsoft.com/office/drawing/2014/main" val="3618613915"/>
                    </a:ext>
                  </a:extLst>
                </a:gridCol>
              </a:tblGrid>
              <a:tr h="16173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4211421"/>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0537104"/>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9419537"/>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0056E740-C15D-40C5-BF7C-1A4C44292CC5}"/>
              </a:ext>
            </a:extLst>
          </p:cNvPr>
          <p:cNvGraphicFramePr>
            <a:graphicFrameLocks noGrp="1"/>
          </p:cNvGraphicFramePr>
          <p:nvPr>
            <p:extLst>
              <p:ext uri="{D42A27DB-BD31-4B8C-83A1-F6EECF244321}">
                <p14:modId xmlns:p14="http://schemas.microsoft.com/office/powerpoint/2010/main" val="3382859668"/>
              </p:ext>
            </p:extLst>
          </p:nvPr>
        </p:nvGraphicFramePr>
        <p:xfrm>
          <a:off x="37852" y="1647200"/>
          <a:ext cx="5958773" cy="2763665"/>
        </p:xfrm>
        <a:graphic>
          <a:graphicData uri="http://schemas.openxmlformats.org/drawingml/2006/table">
            <a:tbl>
              <a:tblPr/>
              <a:tblGrid>
                <a:gridCol w="444105">
                  <a:extLst>
                    <a:ext uri="{9D8B030D-6E8A-4147-A177-3AD203B41FA5}">
                      <a16:colId xmlns:a16="http://schemas.microsoft.com/office/drawing/2014/main" val="495084399"/>
                    </a:ext>
                  </a:extLst>
                </a:gridCol>
                <a:gridCol w="253840">
                  <a:extLst>
                    <a:ext uri="{9D8B030D-6E8A-4147-A177-3AD203B41FA5}">
                      <a16:colId xmlns:a16="http://schemas.microsoft.com/office/drawing/2014/main" val="3614210242"/>
                    </a:ext>
                  </a:extLst>
                </a:gridCol>
                <a:gridCol w="584800">
                  <a:extLst>
                    <a:ext uri="{9D8B030D-6E8A-4147-A177-3AD203B41FA5}">
                      <a16:colId xmlns:a16="http://schemas.microsoft.com/office/drawing/2014/main" val="1442124609"/>
                    </a:ext>
                  </a:extLst>
                </a:gridCol>
                <a:gridCol w="1976406">
                  <a:extLst>
                    <a:ext uri="{9D8B030D-6E8A-4147-A177-3AD203B41FA5}">
                      <a16:colId xmlns:a16="http://schemas.microsoft.com/office/drawing/2014/main" val="3603859997"/>
                    </a:ext>
                  </a:extLst>
                </a:gridCol>
                <a:gridCol w="449937">
                  <a:extLst>
                    <a:ext uri="{9D8B030D-6E8A-4147-A177-3AD203B41FA5}">
                      <a16:colId xmlns:a16="http://schemas.microsoft.com/office/drawing/2014/main" val="4076488391"/>
                    </a:ext>
                  </a:extLst>
                </a:gridCol>
                <a:gridCol w="449937">
                  <a:extLst>
                    <a:ext uri="{9D8B030D-6E8A-4147-A177-3AD203B41FA5}">
                      <a16:colId xmlns:a16="http://schemas.microsoft.com/office/drawing/2014/main" val="3254101706"/>
                    </a:ext>
                  </a:extLst>
                </a:gridCol>
                <a:gridCol w="449937">
                  <a:extLst>
                    <a:ext uri="{9D8B030D-6E8A-4147-A177-3AD203B41FA5}">
                      <a16:colId xmlns:a16="http://schemas.microsoft.com/office/drawing/2014/main" val="3712391277"/>
                    </a:ext>
                  </a:extLst>
                </a:gridCol>
                <a:gridCol w="449937">
                  <a:extLst>
                    <a:ext uri="{9D8B030D-6E8A-4147-A177-3AD203B41FA5}">
                      <a16:colId xmlns:a16="http://schemas.microsoft.com/office/drawing/2014/main" val="2527660299"/>
                    </a:ext>
                  </a:extLst>
                </a:gridCol>
                <a:gridCol w="449937">
                  <a:extLst>
                    <a:ext uri="{9D8B030D-6E8A-4147-A177-3AD203B41FA5}">
                      <a16:colId xmlns:a16="http://schemas.microsoft.com/office/drawing/2014/main" val="3641075278"/>
                    </a:ext>
                  </a:extLst>
                </a:gridCol>
                <a:gridCol w="449937">
                  <a:extLst>
                    <a:ext uri="{9D8B030D-6E8A-4147-A177-3AD203B41FA5}">
                      <a16:colId xmlns:a16="http://schemas.microsoft.com/office/drawing/2014/main" val="3618613915"/>
                    </a:ext>
                  </a:extLst>
                </a:gridCol>
              </a:tblGrid>
              <a:tr h="168009">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84085619"/>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44374784"/>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91638668"/>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52668775"/>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96553738"/>
                  </a:ext>
                </a:extLst>
              </a:tr>
            </a:tbl>
          </a:graphicData>
        </a:graphic>
      </p:graphicFrame>
      <p:graphicFrame>
        <p:nvGraphicFramePr>
          <p:cNvPr id="12" name="表格 11">
            <a:extLst>
              <a:ext uri="{FF2B5EF4-FFF2-40B4-BE49-F238E27FC236}">
                <a16:creationId xmlns:a16="http://schemas.microsoft.com/office/drawing/2014/main" id="{C02DAB12-2972-9F3C-D7FF-E1CC259EB1F2}"/>
              </a:ext>
            </a:extLst>
          </p:cNvPr>
          <p:cNvGraphicFramePr>
            <a:graphicFrameLocks noGrp="1"/>
          </p:cNvGraphicFramePr>
          <p:nvPr>
            <p:extLst>
              <p:ext uri="{D42A27DB-BD31-4B8C-83A1-F6EECF244321}">
                <p14:modId xmlns:p14="http://schemas.microsoft.com/office/powerpoint/2010/main" val="1414297086"/>
              </p:ext>
            </p:extLst>
          </p:nvPr>
        </p:nvGraphicFramePr>
        <p:xfrm>
          <a:off x="37852" y="426316"/>
          <a:ext cx="10828269" cy="852454"/>
        </p:xfrm>
        <a:graphic>
          <a:graphicData uri="http://schemas.openxmlformats.org/drawingml/2006/table">
            <a:tbl>
              <a:tblPr firstRow="1" bandRow="1">
                <a:tableStyleId>{3C2FFA5D-87B4-456A-9821-1D502468CF0F}</a:tableStyleId>
              </a:tblPr>
              <a:tblGrid>
                <a:gridCol w="1327182">
                  <a:extLst>
                    <a:ext uri="{9D8B030D-6E8A-4147-A177-3AD203B41FA5}">
                      <a16:colId xmlns:a16="http://schemas.microsoft.com/office/drawing/2014/main" val="869603910"/>
                    </a:ext>
                  </a:extLst>
                </a:gridCol>
                <a:gridCol w="1261896">
                  <a:extLst>
                    <a:ext uri="{9D8B030D-6E8A-4147-A177-3AD203B41FA5}">
                      <a16:colId xmlns:a16="http://schemas.microsoft.com/office/drawing/2014/main" val="238663902"/>
                    </a:ext>
                  </a:extLst>
                </a:gridCol>
                <a:gridCol w="1217252">
                  <a:extLst>
                    <a:ext uri="{9D8B030D-6E8A-4147-A177-3AD203B41FA5}">
                      <a16:colId xmlns:a16="http://schemas.microsoft.com/office/drawing/2014/main" val="4114365151"/>
                    </a:ext>
                  </a:extLst>
                </a:gridCol>
                <a:gridCol w="1190344">
                  <a:extLst>
                    <a:ext uri="{9D8B030D-6E8A-4147-A177-3AD203B41FA5}">
                      <a16:colId xmlns:a16="http://schemas.microsoft.com/office/drawing/2014/main" val="4075178046"/>
                    </a:ext>
                  </a:extLst>
                </a:gridCol>
                <a:gridCol w="1407125">
                  <a:extLst>
                    <a:ext uri="{9D8B030D-6E8A-4147-A177-3AD203B41FA5}">
                      <a16:colId xmlns:a16="http://schemas.microsoft.com/office/drawing/2014/main" val="973533418"/>
                    </a:ext>
                  </a:extLst>
                </a:gridCol>
                <a:gridCol w="1299340">
                  <a:extLst>
                    <a:ext uri="{9D8B030D-6E8A-4147-A177-3AD203B41FA5}">
                      <a16:colId xmlns:a16="http://schemas.microsoft.com/office/drawing/2014/main" val="2377711782"/>
                    </a:ext>
                  </a:extLst>
                </a:gridCol>
                <a:gridCol w="1299340">
                  <a:extLst>
                    <a:ext uri="{9D8B030D-6E8A-4147-A177-3AD203B41FA5}">
                      <a16:colId xmlns:a16="http://schemas.microsoft.com/office/drawing/2014/main" val="3946881186"/>
                    </a:ext>
                  </a:extLst>
                </a:gridCol>
                <a:gridCol w="1825790">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chemeClr val="tx1"/>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3" name="Rectangle 2">
            <a:extLst>
              <a:ext uri="{FF2B5EF4-FFF2-40B4-BE49-F238E27FC236}">
                <a16:creationId xmlns:a16="http://schemas.microsoft.com/office/drawing/2014/main" id="{F05B5C81-93FB-A782-A89C-986963556A83}"/>
              </a:ext>
            </a:extLst>
          </p:cNvPr>
          <p:cNvSpPr/>
          <p:nvPr/>
        </p:nvSpPr>
        <p:spPr>
          <a:xfrm>
            <a:off x="6602198" y="3001818"/>
            <a:ext cx="5228747" cy="88288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6" name="Rectangle 5">
            <a:extLst>
              <a:ext uri="{FF2B5EF4-FFF2-40B4-BE49-F238E27FC236}">
                <a16:creationId xmlns:a16="http://schemas.microsoft.com/office/drawing/2014/main" id="{7D73C279-8733-E071-23ED-AECDD1CC879B}"/>
              </a:ext>
            </a:extLst>
          </p:cNvPr>
          <p:cNvSpPr/>
          <p:nvPr/>
        </p:nvSpPr>
        <p:spPr>
          <a:xfrm>
            <a:off x="6522720" y="5280661"/>
            <a:ext cx="5308225" cy="94271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Rectangle 6">
            <a:extLst>
              <a:ext uri="{FF2B5EF4-FFF2-40B4-BE49-F238E27FC236}">
                <a16:creationId xmlns:a16="http://schemas.microsoft.com/office/drawing/2014/main" id="{DC389FA7-1BC8-4267-879D-514BD1BF9788}"/>
              </a:ext>
            </a:extLst>
          </p:cNvPr>
          <p:cNvSpPr/>
          <p:nvPr/>
        </p:nvSpPr>
        <p:spPr>
          <a:xfrm>
            <a:off x="498758" y="2777208"/>
            <a:ext cx="5497865" cy="163365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8" name="对话气泡: 矩形 11">
            <a:extLst>
              <a:ext uri="{FF2B5EF4-FFF2-40B4-BE49-F238E27FC236}">
                <a16:creationId xmlns:a16="http://schemas.microsoft.com/office/drawing/2014/main" id="{4323630E-CD79-D2B4-C444-18E52FFA5A1A}"/>
              </a:ext>
            </a:extLst>
          </p:cNvPr>
          <p:cNvSpPr/>
          <p:nvPr/>
        </p:nvSpPr>
        <p:spPr>
          <a:xfrm>
            <a:off x="231507" y="4729716"/>
            <a:ext cx="5571460" cy="481084"/>
          </a:xfrm>
          <a:prstGeom prst="wedgeRectCallout">
            <a:avLst>
              <a:gd name="adj1" fmla="val -35067"/>
              <a:gd name="adj2" fmla="val -12778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Accounting </a:t>
            </a:r>
            <a:r>
              <a:rPr lang="en-US" altLang="zh-CN" sz="1200">
                <a:solidFill>
                  <a:schemeClr val="tx1"/>
                </a:solidFill>
              </a:rPr>
              <a:t>confirmed for</a:t>
            </a:r>
            <a:r>
              <a:rPr lang="zh-CN" altLang="en-US" sz="1200">
                <a:solidFill>
                  <a:schemeClr val="tx1"/>
                </a:solidFill>
              </a:rPr>
              <a:t> </a:t>
            </a:r>
            <a:r>
              <a:rPr lang="en-US" altLang="zh-CN" sz="1200">
                <a:solidFill>
                  <a:schemeClr val="tx1"/>
                </a:solidFill>
              </a:rPr>
              <a:t>variable</a:t>
            </a:r>
            <a:r>
              <a:rPr lang="zh-CN" altLang="en-US" sz="1200">
                <a:solidFill>
                  <a:schemeClr val="tx1"/>
                </a:solidFill>
              </a:rPr>
              <a:t> </a:t>
            </a:r>
            <a:r>
              <a:rPr lang="en-US" altLang="zh-CN" sz="1200">
                <a:solidFill>
                  <a:schemeClr val="tx1"/>
                </a:solidFill>
              </a:rPr>
              <a:t>rev</a:t>
            </a:r>
            <a:r>
              <a:rPr lang="zh-CN" altLang="en-US" sz="1200">
                <a:solidFill>
                  <a:schemeClr val="tx1"/>
                </a:solidFill>
              </a:rPr>
              <a:t> </a:t>
            </a:r>
            <a:r>
              <a:rPr lang="en-US" altLang="zh-CN" sz="1200">
                <a:solidFill>
                  <a:schemeClr val="tx1"/>
                </a:solidFill>
              </a:rPr>
              <a:t>in</a:t>
            </a:r>
            <a:r>
              <a:rPr lang="zh-CN" altLang="en-US" sz="1200">
                <a:solidFill>
                  <a:schemeClr val="tx1"/>
                </a:solidFill>
              </a:rPr>
              <a:t> </a:t>
            </a:r>
            <a:r>
              <a:rPr lang="en-US" altLang="zh-CN" sz="1200">
                <a:solidFill>
                  <a:schemeClr val="tx1"/>
                </a:solidFill>
              </a:rPr>
              <a:t>S&amp;D</a:t>
            </a:r>
            <a:r>
              <a:rPr lang="zh-CN" altLang="en-US" sz="1200">
                <a:solidFill>
                  <a:schemeClr val="tx1"/>
                </a:solidFill>
              </a:rPr>
              <a:t>，</a:t>
            </a:r>
            <a:r>
              <a:rPr lang="en-US" sz="1200">
                <a:solidFill>
                  <a:schemeClr val="tx1"/>
                </a:solidFill>
              </a:rPr>
              <a:t>LV use</a:t>
            </a:r>
            <a:r>
              <a:rPr lang="zh-CN" altLang="en-US" sz="1200">
                <a:solidFill>
                  <a:schemeClr val="tx1"/>
                </a:solidFill>
              </a:rPr>
              <a:t> </a:t>
            </a:r>
            <a:r>
              <a:rPr lang="en-US" sz="1200">
                <a:solidFill>
                  <a:schemeClr val="tx1"/>
                </a:solidFill>
              </a:rPr>
              <a:t>5010401 and PV use 5010450.</a:t>
            </a:r>
          </a:p>
        </p:txBody>
      </p:sp>
      <p:pic>
        <p:nvPicPr>
          <p:cNvPr id="1026" name="Picture 2">
            <a:extLst>
              <a:ext uri="{FF2B5EF4-FFF2-40B4-BE49-F238E27FC236}">
                <a16:creationId xmlns:a16="http://schemas.microsoft.com/office/drawing/2014/main" id="{F7E7FF9E-8C4F-CB7E-BB67-20AF1A3B9CE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852" y="6107599"/>
            <a:ext cx="2061882" cy="715752"/>
          </a:xfrm>
          <a:prstGeom prst="rect">
            <a:avLst/>
          </a:prstGeom>
          <a:noFill/>
          <a:extLst>
            <a:ext uri="{909E8E84-426E-40DD-AFC4-6F175D3DCCD1}">
              <a14:hiddenFill xmlns:a14="http://schemas.microsoft.com/office/drawing/2010/main">
                <a:solidFill>
                  <a:srgbClr val="FFFFFF"/>
                </a:solidFill>
              </a14:hiddenFill>
            </a:ext>
          </a:extLst>
        </p:spPr>
      </p:pic>
      <p:sp>
        <p:nvSpPr>
          <p:cNvPr id="2" name="文本框 1">
            <a:extLst>
              <a:ext uri="{FF2B5EF4-FFF2-40B4-BE49-F238E27FC236}">
                <a16:creationId xmlns:a16="http://schemas.microsoft.com/office/drawing/2014/main" id="{E8C7CE45-1E1D-1509-1325-5CCA98C8DC6F}"/>
              </a:ext>
            </a:extLst>
          </p:cNvPr>
          <p:cNvSpPr txBox="1"/>
          <p:nvPr/>
        </p:nvSpPr>
        <p:spPr>
          <a:xfrm>
            <a:off x="9893134" y="1647200"/>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Tree>
    <p:extLst>
      <p:ext uri="{BB962C8B-B14F-4D97-AF65-F5344CB8AC3E}">
        <p14:creationId xmlns:p14="http://schemas.microsoft.com/office/powerpoint/2010/main" val="292109271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9509F76D-6778-003B-29B8-C00BF0118F27}"/>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266403DB-2B1E-47D2-5AE7-34374E6C6794}"/>
              </a:ext>
            </a:extLst>
          </p:cNvPr>
          <p:cNvGraphicFramePr>
            <a:graphicFrameLocks noGrp="1"/>
          </p:cNvGraphicFramePr>
          <p:nvPr/>
        </p:nvGraphicFramePr>
        <p:xfrm>
          <a:off x="6096000" y="1647200"/>
          <a:ext cx="5734950" cy="2659257"/>
        </p:xfrm>
        <a:graphic>
          <a:graphicData uri="http://schemas.openxmlformats.org/drawingml/2006/table">
            <a:tbl>
              <a:tblPr/>
              <a:tblGrid>
                <a:gridCol w="489662">
                  <a:extLst>
                    <a:ext uri="{9D8B030D-6E8A-4147-A177-3AD203B41FA5}">
                      <a16:colId xmlns:a16="http://schemas.microsoft.com/office/drawing/2014/main" val="495084399"/>
                    </a:ext>
                  </a:extLst>
                </a:gridCol>
                <a:gridCol w="256427">
                  <a:extLst>
                    <a:ext uri="{9D8B030D-6E8A-4147-A177-3AD203B41FA5}">
                      <a16:colId xmlns:a16="http://schemas.microsoft.com/office/drawing/2014/main" val="3614210242"/>
                    </a:ext>
                  </a:extLst>
                </a:gridCol>
                <a:gridCol w="610264">
                  <a:extLst>
                    <a:ext uri="{9D8B030D-6E8A-4147-A177-3AD203B41FA5}">
                      <a16:colId xmlns:a16="http://schemas.microsoft.com/office/drawing/2014/main" val="1442124609"/>
                    </a:ext>
                  </a:extLst>
                </a:gridCol>
                <a:gridCol w="1957105">
                  <a:extLst>
                    <a:ext uri="{9D8B030D-6E8A-4147-A177-3AD203B41FA5}">
                      <a16:colId xmlns:a16="http://schemas.microsoft.com/office/drawing/2014/main" val="3603859997"/>
                    </a:ext>
                  </a:extLst>
                </a:gridCol>
                <a:gridCol w="403582">
                  <a:extLst>
                    <a:ext uri="{9D8B030D-6E8A-4147-A177-3AD203B41FA5}">
                      <a16:colId xmlns:a16="http://schemas.microsoft.com/office/drawing/2014/main" val="4076488391"/>
                    </a:ext>
                  </a:extLst>
                </a:gridCol>
                <a:gridCol w="403582">
                  <a:extLst>
                    <a:ext uri="{9D8B030D-6E8A-4147-A177-3AD203B41FA5}">
                      <a16:colId xmlns:a16="http://schemas.microsoft.com/office/drawing/2014/main" val="3254101706"/>
                    </a:ext>
                  </a:extLst>
                </a:gridCol>
                <a:gridCol w="403582">
                  <a:extLst>
                    <a:ext uri="{9D8B030D-6E8A-4147-A177-3AD203B41FA5}">
                      <a16:colId xmlns:a16="http://schemas.microsoft.com/office/drawing/2014/main" val="3712391277"/>
                    </a:ext>
                  </a:extLst>
                </a:gridCol>
                <a:gridCol w="403582">
                  <a:extLst>
                    <a:ext uri="{9D8B030D-6E8A-4147-A177-3AD203B41FA5}">
                      <a16:colId xmlns:a16="http://schemas.microsoft.com/office/drawing/2014/main" val="2527660299"/>
                    </a:ext>
                  </a:extLst>
                </a:gridCol>
                <a:gridCol w="403582">
                  <a:extLst>
                    <a:ext uri="{9D8B030D-6E8A-4147-A177-3AD203B41FA5}">
                      <a16:colId xmlns:a16="http://schemas.microsoft.com/office/drawing/2014/main" val="3641075278"/>
                    </a:ext>
                  </a:extLst>
                </a:gridCol>
                <a:gridCol w="403582">
                  <a:extLst>
                    <a:ext uri="{9D8B030D-6E8A-4147-A177-3AD203B41FA5}">
                      <a16:colId xmlns:a16="http://schemas.microsoft.com/office/drawing/2014/main" val="3618613915"/>
                    </a:ext>
                  </a:extLst>
                </a:gridCol>
              </a:tblGrid>
              <a:tr h="0">
                <a:tc rowSpan="12">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10822268"/>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j-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rgbClr val="000000"/>
                          </a:solidFill>
                          <a:effectLst/>
                          <a:latin typeface="+mj-lt"/>
                          <a:ea typeface="+mn-ea"/>
                          <a:cs typeface="+mn-cs"/>
                        </a:rPr>
                        <a:t>Agent Revenue – Premier Support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j-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j-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mn-ea"/>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mn-ea"/>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rgbClr val="000000"/>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06799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064985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4517476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233877"/>
                  </a:ext>
                </a:extLst>
              </a:tr>
            </a:tbl>
          </a:graphicData>
        </a:graphic>
      </p:graphicFrame>
      <p:sp>
        <p:nvSpPr>
          <p:cNvPr id="28" name="文本框 27">
            <a:extLst>
              <a:ext uri="{FF2B5EF4-FFF2-40B4-BE49-F238E27FC236}">
                <a16:creationId xmlns:a16="http://schemas.microsoft.com/office/drawing/2014/main" id="{87D4E696-0F59-1D19-CF28-61F7D1AEC8B2}"/>
              </a:ext>
            </a:extLst>
          </p:cNvPr>
          <p:cNvSpPr txBox="1"/>
          <p:nvPr/>
        </p:nvSpPr>
        <p:spPr>
          <a:xfrm>
            <a:off x="-40473" y="34649"/>
            <a:ext cx="4470947" cy="400110"/>
          </a:xfrm>
          <a:prstGeom prst="rect">
            <a:avLst/>
          </a:prstGeom>
          <a:noFill/>
        </p:spPr>
        <p:txBody>
          <a:bodyPr wrap="square" rtlCol="0">
            <a:spAutoFit/>
          </a:bodyPr>
          <a:lstStyle/>
          <a:p>
            <a:r>
              <a:rPr lang="nl-NL" altLang="zh-CN" sz="2000" b="1"/>
              <a:t>IaaS_AFE_MSA</a:t>
            </a:r>
            <a:endParaRPr lang="zh-CN" altLang="en-US" sz="2000" b="1"/>
          </a:p>
        </p:txBody>
      </p:sp>
      <p:graphicFrame>
        <p:nvGraphicFramePr>
          <p:cNvPr id="4" name="表格 3">
            <a:extLst>
              <a:ext uri="{FF2B5EF4-FFF2-40B4-BE49-F238E27FC236}">
                <a16:creationId xmlns:a16="http://schemas.microsoft.com/office/drawing/2014/main" id="{7CD5BCB8-5CDA-A5D3-0200-ED6FC045949F}"/>
              </a:ext>
            </a:extLst>
          </p:cNvPr>
          <p:cNvGraphicFramePr>
            <a:graphicFrameLocks noGrp="1"/>
          </p:cNvGraphicFramePr>
          <p:nvPr/>
        </p:nvGraphicFramePr>
        <p:xfrm>
          <a:off x="6095999" y="4342449"/>
          <a:ext cx="5734948" cy="2082337"/>
        </p:xfrm>
        <a:graphic>
          <a:graphicData uri="http://schemas.openxmlformats.org/drawingml/2006/table">
            <a:tbl>
              <a:tblPr/>
              <a:tblGrid>
                <a:gridCol w="428381">
                  <a:extLst>
                    <a:ext uri="{9D8B030D-6E8A-4147-A177-3AD203B41FA5}">
                      <a16:colId xmlns:a16="http://schemas.microsoft.com/office/drawing/2014/main" val="495084399"/>
                    </a:ext>
                  </a:extLst>
                </a:gridCol>
                <a:gridCol w="245525">
                  <a:extLst>
                    <a:ext uri="{9D8B030D-6E8A-4147-A177-3AD203B41FA5}">
                      <a16:colId xmlns:a16="http://schemas.microsoft.com/office/drawing/2014/main" val="3614210242"/>
                    </a:ext>
                  </a:extLst>
                </a:gridCol>
                <a:gridCol w="611763">
                  <a:extLst>
                    <a:ext uri="{9D8B030D-6E8A-4147-A177-3AD203B41FA5}">
                      <a16:colId xmlns:a16="http://schemas.microsoft.com/office/drawing/2014/main" val="1442124609"/>
                    </a:ext>
                  </a:extLst>
                </a:gridCol>
                <a:gridCol w="1926999">
                  <a:extLst>
                    <a:ext uri="{9D8B030D-6E8A-4147-A177-3AD203B41FA5}">
                      <a16:colId xmlns:a16="http://schemas.microsoft.com/office/drawing/2014/main" val="3603859997"/>
                    </a:ext>
                  </a:extLst>
                </a:gridCol>
                <a:gridCol w="420380">
                  <a:extLst>
                    <a:ext uri="{9D8B030D-6E8A-4147-A177-3AD203B41FA5}">
                      <a16:colId xmlns:a16="http://schemas.microsoft.com/office/drawing/2014/main" val="4076488391"/>
                    </a:ext>
                  </a:extLst>
                </a:gridCol>
                <a:gridCol w="420380">
                  <a:extLst>
                    <a:ext uri="{9D8B030D-6E8A-4147-A177-3AD203B41FA5}">
                      <a16:colId xmlns:a16="http://schemas.microsoft.com/office/drawing/2014/main" val="3254101706"/>
                    </a:ext>
                  </a:extLst>
                </a:gridCol>
                <a:gridCol w="420380">
                  <a:extLst>
                    <a:ext uri="{9D8B030D-6E8A-4147-A177-3AD203B41FA5}">
                      <a16:colId xmlns:a16="http://schemas.microsoft.com/office/drawing/2014/main" val="3712391277"/>
                    </a:ext>
                  </a:extLst>
                </a:gridCol>
                <a:gridCol w="420380">
                  <a:extLst>
                    <a:ext uri="{9D8B030D-6E8A-4147-A177-3AD203B41FA5}">
                      <a16:colId xmlns:a16="http://schemas.microsoft.com/office/drawing/2014/main" val="2527660299"/>
                    </a:ext>
                  </a:extLst>
                </a:gridCol>
                <a:gridCol w="420380">
                  <a:extLst>
                    <a:ext uri="{9D8B030D-6E8A-4147-A177-3AD203B41FA5}">
                      <a16:colId xmlns:a16="http://schemas.microsoft.com/office/drawing/2014/main" val="3641075278"/>
                    </a:ext>
                  </a:extLst>
                </a:gridCol>
                <a:gridCol w="420380">
                  <a:extLst>
                    <a:ext uri="{9D8B030D-6E8A-4147-A177-3AD203B41FA5}">
                      <a16:colId xmlns:a16="http://schemas.microsoft.com/office/drawing/2014/main" val="3618613915"/>
                    </a:ext>
                  </a:extLst>
                </a:gridCol>
              </a:tblGrid>
              <a:tr h="16173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4211421"/>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0537104"/>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9419537"/>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19AF734C-D197-FFB8-602E-7CAFCE9411B0}"/>
              </a:ext>
            </a:extLst>
          </p:cNvPr>
          <p:cNvGraphicFramePr>
            <a:graphicFrameLocks noGrp="1"/>
          </p:cNvGraphicFramePr>
          <p:nvPr/>
        </p:nvGraphicFramePr>
        <p:xfrm>
          <a:off x="37852" y="1647200"/>
          <a:ext cx="5958773" cy="2763665"/>
        </p:xfrm>
        <a:graphic>
          <a:graphicData uri="http://schemas.openxmlformats.org/drawingml/2006/table">
            <a:tbl>
              <a:tblPr/>
              <a:tblGrid>
                <a:gridCol w="444105">
                  <a:extLst>
                    <a:ext uri="{9D8B030D-6E8A-4147-A177-3AD203B41FA5}">
                      <a16:colId xmlns:a16="http://schemas.microsoft.com/office/drawing/2014/main" val="495084399"/>
                    </a:ext>
                  </a:extLst>
                </a:gridCol>
                <a:gridCol w="253840">
                  <a:extLst>
                    <a:ext uri="{9D8B030D-6E8A-4147-A177-3AD203B41FA5}">
                      <a16:colId xmlns:a16="http://schemas.microsoft.com/office/drawing/2014/main" val="3614210242"/>
                    </a:ext>
                  </a:extLst>
                </a:gridCol>
                <a:gridCol w="584800">
                  <a:extLst>
                    <a:ext uri="{9D8B030D-6E8A-4147-A177-3AD203B41FA5}">
                      <a16:colId xmlns:a16="http://schemas.microsoft.com/office/drawing/2014/main" val="1442124609"/>
                    </a:ext>
                  </a:extLst>
                </a:gridCol>
                <a:gridCol w="1976406">
                  <a:extLst>
                    <a:ext uri="{9D8B030D-6E8A-4147-A177-3AD203B41FA5}">
                      <a16:colId xmlns:a16="http://schemas.microsoft.com/office/drawing/2014/main" val="3603859997"/>
                    </a:ext>
                  </a:extLst>
                </a:gridCol>
                <a:gridCol w="449937">
                  <a:extLst>
                    <a:ext uri="{9D8B030D-6E8A-4147-A177-3AD203B41FA5}">
                      <a16:colId xmlns:a16="http://schemas.microsoft.com/office/drawing/2014/main" val="4076488391"/>
                    </a:ext>
                  </a:extLst>
                </a:gridCol>
                <a:gridCol w="449937">
                  <a:extLst>
                    <a:ext uri="{9D8B030D-6E8A-4147-A177-3AD203B41FA5}">
                      <a16:colId xmlns:a16="http://schemas.microsoft.com/office/drawing/2014/main" val="3254101706"/>
                    </a:ext>
                  </a:extLst>
                </a:gridCol>
                <a:gridCol w="449937">
                  <a:extLst>
                    <a:ext uri="{9D8B030D-6E8A-4147-A177-3AD203B41FA5}">
                      <a16:colId xmlns:a16="http://schemas.microsoft.com/office/drawing/2014/main" val="3712391277"/>
                    </a:ext>
                  </a:extLst>
                </a:gridCol>
                <a:gridCol w="449937">
                  <a:extLst>
                    <a:ext uri="{9D8B030D-6E8A-4147-A177-3AD203B41FA5}">
                      <a16:colId xmlns:a16="http://schemas.microsoft.com/office/drawing/2014/main" val="2527660299"/>
                    </a:ext>
                  </a:extLst>
                </a:gridCol>
                <a:gridCol w="449937">
                  <a:extLst>
                    <a:ext uri="{9D8B030D-6E8A-4147-A177-3AD203B41FA5}">
                      <a16:colId xmlns:a16="http://schemas.microsoft.com/office/drawing/2014/main" val="3641075278"/>
                    </a:ext>
                  </a:extLst>
                </a:gridCol>
                <a:gridCol w="449937">
                  <a:extLst>
                    <a:ext uri="{9D8B030D-6E8A-4147-A177-3AD203B41FA5}">
                      <a16:colId xmlns:a16="http://schemas.microsoft.com/office/drawing/2014/main" val="3618613915"/>
                    </a:ext>
                  </a:extLst>
                </a:gridCol>
              </a:tblGrid>
              <a:tr h="168009">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84085619"/>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44374784"/>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91638668"/>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52668775"/>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96553738"/>
                  </a:ext>
                </a:extLst>
              </a:tr>
            </a:tbl>
          </a:graphicData>
        </a:graphic>
      </p:graphicFrame>
      <p:graphicFrame>
        <p:nvGraphicFramePr>
          <p:cNvPr id="12" name="表格 11">
            <a:extLst>
              <a:ext uri="{FF2B5EF4-FFF2-40B4-BE49-F238E27FC236}">
                <a16:creationId xmlns:a16="http://schemas.microsoft.com/office/drawing/2014/main" id="{15C622C9-95FE-3B0B-A738-1776798ED95B}"/>
              </a:ext>
            </a:extLst>
          </p:cNvPr>
          <p:cNvGraphicFramePr>
            <a:graphicFrameLocks noGrp="1"/>
          </p:cNvGraphicFramePr>
          <p:nvPr/>
        </p:nvGraphicFramePr>
        <p:xfrm>
          <a:off x="37852" y="426316"/>
          <a:ext cx="10828269" cy="852454"/>
        </p:xfrm>
        <a:graphic>
          <a:graphicData uri="http://schemas.openxmlformats.org/drawingml/2006/table">
            <a:tbl>
              <a:tblPr firstRow="1" bandRow="1">
                <a:tableStyleId>{3C2FFA5D-87B4-456A-9821-1D502468CF0F}</a:tableStyleId>
              </a:tblPr>
              <a:tblGrid>
                <a:gridCol w="1327182">
                  <a:extLst>
                    <a:ext uri="{9D8B030D-6E8A-4147-A177-3AD203B41FA5}">
                      <a16:colId xmlns:a16="http://schemas.microsoft.com/office/drawing/2014/main" val="869603910"/>
                    </a:ext>
                  </a:extLst>
                </a:gridCol>
                <a:gridCol w="1261896">
                  <a:extLst>
                    <a:ext uri="{9D8B030D-6E8A-4147-A177-3AD203B41FA5}">
                      <a16:colId xmlns:a16="http://schemas.microsoft.com/office/drawing/2014/main" val="238663902"/>
                    </a:ext>
                  </a:extLst>
                </a:gridCol>
                <a:gridCol w="1217252">
                  <a:extLst>
                    <a:ext uri="{9D8B030D-6E8A-4147-A177-3AD203B41FA5}">
                      <a16:colId xmlns:a16="http://schemas.microsoft.com/office/drawing/2014/main" val="4114365151"/>
                    </a:ext>
                  </a:extLst>
                </a:gridCol>
                <a:gridCol w="1190344">
                  <a:extLst>
                    <a:ext uri="{9D8B030D-6E8A-4147-A177-3AD203B41FA5}">
                      <a16:colId xmlns:a16="http://schemas.microsoft.com/office/drawing/2014/main" val="4075178046"/>
                    </a:ext>
                  </a:extLst>
                </a:gridCol>
                <a:gridCol w="1407125">
                  <a:extLst>
                    <a:ext uri="{9D8B030D-6E8A-4147-A177-3AD203B41FA5}">
                      <a16:colId xmlns:a16="http://schemas.microsoft.com/office/drawing/2014/main" val="973533418"/>
                    </a:ext>
                  </a:extLst>
                </a:gridCol>
                <a:gridCol w="1299340">
                  <a:extLst>
                    <a:ext uri="{9D8B030D-6E8A-4147-A177-3AD203B41FA5}">
                      <a16:colId xmlns:a16="http://schemas.microsoft.com/office/drawing/2014/main" val="2377711782"/>
                    </a:ext>
                  </a:extLst>
                </a:gridCol>
                <a:gridCol w="1299340">
                  <a:extLst>
                    <a:ext uri="{9D8B030D-6E8A-4147-A177-3AD203B41FA5}">
                      <a16:colId xmlns:a16="http://schemas.microsoft.com/office/drawing/2014/main" val="3946881186"/>
                    </a:ext>
                  </a:extLst>
                </a:gridCol>
                <a:gridCol w="1825790">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chemeClr val="tx1"/>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3" name="Rectangle 2">
            <a:extLst>
              <a:ext uri="{FF2B5EF4-FFF2-40B4-BE49-F238E27FC236}">
                <a16:creationId xmlns:a16="http://schemas.microsoft.com/office/drawing/2014/main" id="{0B1EFD20-6D79-3061-E66C-3988AFE496A1}"/>
              </a:ext>
            </a:extLst>
          </p:cNvPr>
          <p:cNvSpPr/>
          <p:nvPr/>
        </p:nvSpPr>
        <p:spPr>
          <a:xfrm>
            <a:off x="6602198" y="3313067"/>
            <a:ext cx="5228747" cy="993390"/>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6" name="Rectangle 5">
            <a:extLst>
              <a:ext uri="{FF2B5EF4-FFF2-40B4-BE49-F238E27FC236}">
                <a16:creationId xmlns:a16="http://schemas.microsoft.com/office/drawing/2014/main" id="{093B5FFB-35C8-AC8C-F5C8-D7AED0B6D751}"/>
              </a:ext>
            </a:extLst>
          </p:cNvPr>
          <p:cNvSpPr/>
          <p:nvPr/>
        </p:nvSpPr>
        <p:spPr>
          <a:xfrm>
            <a:off x="6522720" y="5280661"/>
            <a:ext cx="5308225" cy="94271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Rectangle 6">
            <a:extLst>
              <a:ext uri="{FF2B5EF4-FFF2-40B4-BE49-F238E27FC236}">
                <a16:creationId xmlns:a16="http://schemas.microsoft.com/office/drawing/2014/main" id="{8A7B46E8-8D07-8EC1-028D-E28148AE7A56}"/>
              </a:ext>
            </a:extLst>
          </p:cNvPr>
          <p:cNvSpPr/>
          <p:nvPr/>
        </p:nvSpPr>
        <p:spPr>
          <a:xfrm>
            <a:off x="498758" y="2777208"/>
            <a:ext cx="5497865" cy="163365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8" name="对话气泡: 矩形 11">
            <a:extLst>
              <a:ext uri="{FF2B5EF4-FFF2-40B4-BE49-F238E27FC236}">
                <a16:creationId xmlns:a16="http://schemas.microsoft.com/office/drawing/2014/main" id="{C84A790A-05C3-0E72-77B8-1B739A0F5F86}"/>
              </a:ext>
            </a:extLst>
          </p:cNvPr>
          <p:cNvSpPr/>
          <p:nvPr/>
        </p:nvSpPr>
        <p:spPr>
          <a:xfrm>
            <a:off x="231507" y="4729716"/>
            <a:ext cx="5571460" cy="481084"/>
          </a:xfrm>
          <a:prstGeom prst="wedgeRectCallout">
            <a:avLst>
              <a:gd name="adj1" fmla="val -35067"/>
              <a:gd name="adj2" fmla="val -12778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Accounting </a:t>
            </a:r>
            <a:r>
              <a:rPr lang="en-US" altLang="zh-CN" sz="1200">
                <a:solidFill>
                  <a:schemeClr val="tx1"/>
                </a:solidFill>
              </a:rPr>
              <a:t>confirmed for</a:t>
            </a:r>
            <a:r>
              <a:rPr lang="zh-CN" altLang="en-US" sz="1200">
                <a:solidFill>
                  <a:schemeClr val="tx1"/>
                </a:solidFill>
              </a:rPr>
              <a:t> </a:t>
            </a:r>
            <a:r>
              <a:rPr lang="en-US" altLang="zh-CN" sz="1200">
                <a:solidFill>
                  <a:schemeClr val="tx1"/>
                </a:solidFill>
              </a:rPr>
              <a:t>variable</a:t>
            </a:r>
            <a:r>
              <a:rPr lang="zh-CN" altLang="en-US" sz="1200">
                <a:solidFill>
                  <a:schemeClr val="tx1"/>
                </a:solidFill>
              </a:rPr>
              <a:t> </a:t>
            </a:r>
            <a:r>
              <a:rPr lang="en-US" altLang="zh-CN" sz="1200">
                <a:solidFill>
                  <a:schemeClr val="tx1"/>
                </a:solidFill>
              </a:rPr>
              <a:t>rev</a:t>
            </a:r>
            <a:r>
              <a:rPr lang="zh-CN" altLang="en-US" sz="1200">
                <a:solidFill>
                  <a:schemeClr val="tx1"/>
                </a:solidFill>
              </a:rPr>
              <a:t> </a:t>
            </a:r>
            <a:r>
              <a:rPr lang="en-US" altLang="zh-CN" sz="1200">
                <a:solidFill>
                  <a:schemeClr val="tx1"/>
                </a:solidFill>
              </a:rPr>
              <a:t>in</a:t>
            </a:r>
            <a:r>
              <a:rPr lang="zh-CN" altLang="en-US" sz="1200">
                <a:solidFill>
                  <a:schemeClr val="tx1"/>
                </a:solidFill>
              </a:rPr>
              <a:t> </a:t>
            </a:r>
            <a:r>
              <a:rPr lang="en-US" altLang="zh-CN" sz="1200">
                <a:solidFill>
                  <a:schemeClr val="tx1"/>
                </a:solidFill>
              </a:rPr>
              <a:t>S&amp;D</a:t>
            </a:r>
            <a:r>
              <a:rPr lang="zh-CN" altLang="en-US" sz="1200">
                <a:solidFill>
                  <a:schemeClr val="tx1"/>
                </a:solidFill>
              </a:rPr>
              <a:t>，</a:t>
            </a:r>
            <a:r>
              <a:rPr lang="en-US" sz="1200">
                <a:solidFill>
                  <a:schemeClr val="tx1"/>
                </a:solidFill>
              </a:rPr>
              <a:t>LV use</a:t>
            </a:r>
            <a:r>
              <a:rPr lang="zh-CN" altLang="en-US" sz="1200">
                <a:solidFill>
                  <a:schemeClr val="tx1"/>
                </a:solidFill>
              </a:rPr>
              <a:t> </a:t>
            </a:r>
            <a:r>
              <a:rPr lang="en-US" sz="1200">
                <a:solidFill>
                  <a:schemeClr val="tx1"/>
                </a:solidFill>
              </a:rPr>
              <a:t>5010401 and PV use 5010450.</a:t>
            </a:r>
          </a:p>
        </p:txBody>
      </p:sp>
      <p:pic>
        <p:nvPicPr>
          <p:cNvPr id="1026" name="Picture 2">
            <a:extLst>
              <a:ext uri="{FF2B5EF4-FFF2-40B4-BE49-F238E27FC236}">
                <a16:creationId xmlns:a16="http://schemas.microsoft.com/office/drawing/2014/main" id="{AD125CF0-F02C-3A52-B902-8D83F73AC0C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852" y="6107599"/>
            <a:ext cx="2061882" cy="715752"/>
          </a:xfrm>
          <a:prstGeom prst="rect">
            <a:avLst/>
          </a:prstGeom>
          <a:noFill/>
          <a:extLst>
            <a:ext uri="{909E8E84-426E-40DD-AFC4-6F175D3DCCD1}">
              <a14:hiddenFill xmlns:a14="http://schemas.microsoft.com/office/drawing/2010/main">
                <a:solidFill>
                  <a:srgbClr val="FFFFFF"/>
                </a:solidFill>
              </a14:hiddenFill>
            </a:ext>
          </a:extLst>
        </p:spPr>
      </p:pic>
      <p:sp>
        <p:nvSpPr>
          <p:cNvPr id="2" name="文本框 1">
            <a:extLst>
              <a:ext uri="{FF2B5EF4-FFF2-40B4-BE49-F238E27FC236}">
                <a16:creationId xmlns:a16="http://schemas.microsoft.com/office/drawing/2014/main" id="{BE57E720-EF85-B4DC-3D97-BEFF31EB75F1}"/>
              </a:ext>
            </a:extLst>
          </p:cNvPr>
          <p:cNvSpPr txBox="1"/>
          <p:nvPr/>
        </p:nvSpPr>
        <p:spPr>
          <a:xfrm>
            <a:off x="9893134" y="1647200"/>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Tree>
    <p:extLst>
      <p:ext uri="{BB962C8B-B14F-4D97-AF65-F5344CB8AC3E}">
        <p14:creationId xmlns:p14="http://schemas.microsoft.com/office/powerpoint/2010/main" val="2133691339"/>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FA7073-92B2-5E75-8A1C-540B137139A6}"/>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AECA4C3B-7B0E-2558-B467-88AA30D6C28B}"/>
              </a:ext>
            </a:extLst>
          </p:cNvPr>
          <p:cNvGraphicFramePr>
            <a:graphicFrameLocks noGrp="1"/>
          </p:cNvGraphicFramePr>
          <p:nvPr>
            <p:extLst>
              <p:ext uri="{D42A27DB-BD31-4B8C-83A1-F6EECF244321}">
                <p14:modId xmlns:p14="http://schemas.microsoft.com/office/powerpoint/2010/main" val="508410810"/>
              </p:ext>
            </p:extLst>
          </p:nvPr>
        </p:nvGraphicFramePr>
        <p:xfrm>
          <a:off x="6089645" y="1643936"/>
          <a:ext cx="5702497" cy="2282729"/>
        </p:xfrm>
        <a:graphic>
          <a:graphicData uri="http://schemas.openxmlformats.org/drawingml/2006/table">
            <a:tbl>
              <a:tblPr/>
              <a:tblGrid>
                <a:gridCol w="486891">
                  <a:extLst>
                    <a:ext uri="{9D8B030D-6E8A-4147-A177-3AD203B41FA5}">
                      <a16:colId xmlns:a16="http://schemas.microsoft.com/office/drawing/2014/main" val="495084399"/>
                    </a:ext>
                  </a:extLst>
                </a:gridCol>
                <a:gridCol w="254976">
                  <a:extLst>
                    <a:ext uri="{9D8B030D-6E8A-4147-A177-3AD203B41FA5}">
                      <a16:colId xmlns:a16="http://schemas.microsoft.com/office/drawing/2014/main" val="3614210242"/>
                    </a:ext>
                  </a:extLst>
                </a:gridCol>
                <a:gridCol w="606811">
                  <a:extLst>
                    <a:ext uri="{9D8B030D-6E8A-4147-A177-3AD203B41FA5}">
                      <a16:colId xmlns:a16="http://schemas.microsoft.com/office/drawing/2014/main" val="1442124609"/>
                    </a:ext>
                  </a:extLst>
                </a:gridCol>
                <a:gridCol w="1946031">
                  <a:extLst>
                    <a:ext uri="{9D8B030D-6E8A-4147-A177-3AD203B41FA5}">
                      <a16:colId xmlns:a16="http://schemas.microsoft.com/office/drawing/2014/main" val="3603859997"/>
                    </a:ext>
                  </a:extLst>
                </a:gridCol>
                <a:gridCol w="401298">
                  <a:extLst>
                    <a:ext uri="{9D8B030D-6E8A-4147-A177-3AD203B41FA5}">
                      <a16:colId xmlns:a16="http://schemas.microsoft.com/office/drawing/2014/main" val="4076488391"/>
                    </a:ext>
                  </a:extLst>
                </a:gridCol>
                <a:gridCol w="401298">
                  <a:extLst>
                    <a:ext uri="{9D8B030D-6E8A-4147-A177-3AD203B41FA5}">
                      <a16:colId xmlns:a16="http://schemas.microsoft.com/office/drawing/2014/main" val="3254101706"/>
                    </a:ext>
                  </a:extLst>
                </a:gridCol>
                <a:gridCol w="401298">
                  <a:extLst>
                    <a:ext uri="{9D8B030D-6E8A-4147-A177-3AD203B41FA5}">
                      <a16:colId xmlns:a16="http://schemas.microsoft.com/office/drawing/2014/main" val="3712391277"/>
                    </a:ext>
                  </a:extLst>
                </a:gridCol>
                <a:gridCol w="401298">
                  <a:extLst>
                    <a:ext uri="{9D8B030D-6E8A-4147-A177-3AD203B41FA5}">
                      <a16:colId xmlns:a16="http://schemas.microsoft.com/office/drawing/2014/main" val="2527660299"/>
                    </a:ext>
                  </a:extLst>
                </a:gridCol>
                <a:gridCol w="401298">
                  <a:extLst>
                    <a:ext uri="{9D8B030D-6E8A-4147-A177-3AD203B41FA5}">
                      <a16:colId xmlns:a16="http://schemas.microsoft.com/office/drawing/2014/main" val="3641075278"/>
                    </a:ext>
                  </a:extLst>
                </a:gridCol>
                <a:gridCol w="401298">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a:t>
                      </a:r>
                      <a:r>
                        <a:rPr kumimoji="0" lang="en-US" altLang="zh-CN" sz="1000" b="0" i="0" u="none" strike="noStrike" kern="1200" cap="none" spc="0" normalizeH="0" baseline="0" noProof="0">
                          <a:ln>
                            <a:noFill/>
                          </a:ln>
                          <a:solidFill>
                            <a:srgbClr val="000000"/>
                          </a:solidFill>
                          <a:effectLst/>
                          <a:uLnTx/>
                          <a:uFillTx/>
                          <a:latin typeface="+mn-lt"/>
                          <a:ea typeface="+mn-ea"/>
                          <a:cs typeface="+mn-cs"/>
                        </a:rPr>
                        <a:t>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1130600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Unbilled AR </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914</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914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649643129"/>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06799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0649851"/>
                  </a:ext>
                </a:extLst>
              </a:tr>
            </a:tbl>
          </a:graphicData>
        </a:graphic>
      </p:graphicFrame>
      <p:sp>
        <p:nvSpPr>
          <p:cNvPr id="28" name="文本框 27">
            <a:extLst>
              <a:ext uri="{FF2B5EF4-FFF2-40B4-BE49-F238E27FC236}">
                <a16:creationId xmlns:a16="http://schemas.microsoft.com/office/drawing/2014/main" id="{E07EDB06-9FCE-BB2A-121A-102447EC210D}"/>
              </a:ext>
            </a:extLst>
          </p:cNvPr>
          <p:cNvSpPr txBox="1"/>
          <p:nvPr/>
        </p:nvSpPr>
        <p:spPr>
          <a:xfrm>
            <a:off x="-40473" y="34649"/>
            <a:ext cx="4470947" cy="400110"/>
          </a:xfrm>
          <a:prstGeom prst="rect">
            <a:avLst/>
          </a:prstGeom>
          <a:noFill/>
        </p:spPr>
        <p:txBody>
          <a:bodyPr wrap="square" rtlCol="0">
            <a:spAutoFit/>
          </a:bodyPr>
          <a:lstStyle/>
          <a:p>
            <a:r>
              <a:rPr lang="nl-NL" altLang="zh-CN" sz="2000" b="1"/>
              <a:t>IaaS_AFE_MSA</a:t>
            </a:r>
            <a:endParaRPr lang="zh-CN" altLang="en-US" sz="2000" b="1"/>
          </a:p>
        </p:txBody>
      </p:sp>
      <p:graphicFrame>
        <p:nvGraphicFramePr>
          <p:cNvPr id="5" name="表格 4">
            <a:extLst>
              <a:ext uri="{FF2B5EF4-FFF2-40B4-BE49-F238E27FC236}">
                <a16:creationId xmlns:a16="http://schemas.microsoft.com/office/drawing/2014/main" id="{A540086C-067B-B62B-53D2-0ED2EF4E8D4C}"/>
              </a:ext>
            </a:extLst>
          </p:cNvPr>
          <p:cNvGraphicFramePr>
            <a:graphicFrameLocks noGrp="1"/>
          </p:cNvGraphicFramePr>
          <p:nvPr>
            <p:extLst>
              <p:ext uri="{D42A27DB-BD31-4B8C-83A1-F6EECF244321}">
                <p14:modId xmlns:p14="http://schemas.microsoft.com/office/powerpoint/2010/main" val="3262062566"/>
              </p:ext>
            </p:extLst>
          </p:nvPr>
        </p:nvGraphicFramePr>
        <p:xfrm>
          <a:off x="89456" y="1663978"/>
          <a:ext cx="5702498" cy="2773190"/>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2044027">
                  <a:extLst>
                    <a:ext uri="{9D8B030D-6E8A-4147-A177-3AD203B41FA5}">
                      <a16:colId xmlns:a16="http://schemas.microsoft.com/office/drawing/2014/main" val="3603859997"/>
                    </a:ext>
                  </a:extLst>
                </a:gridCol>
                <a:gridCol w="405149">
                  <a:extLst>
                    <a:ext uri="{9D8B030D-6E8A-4147-A177-3AD203B41FA5}">
                      <a16:colId xmlns:a16="http://schemas.microsoft.com/office/drawing/2014/main" val="4076488391"/>
                    </a:ext>
                  </a:extLst>
                </a:gridCol>
                <a:gridCol w="405149">
                  <a:extLst>
                    <a:ext uri="{9D8B030D-6E8A-4147-A177-3AD203B41FA5}">
                      <a16:colId xmlns:a16="http://schemas.microsoft.com/office/drawing/2014/main" val="3254101706"/>
                    </a:ext>
                  </a:extLst>
                </a:gridCol>
                <a:gridCol w="405149">
                  <a:extLst>
                    <a:ext uri="{9D8B030D-6E8A-4147-A177-3AD203B41FA5}">
                      <a16:colId xmlns:a16="http://schemas.microsoft.com/office/drawing/2014/main" val="3712391277"/>
                    </a:ext>
                  </a:extLst>
                </a:gridCol>
                <a:gridCol w="405149">
                  <a:extLst>
                    <a:ext uri="{9D8B030D-6E8A-4147-A177-3AD203B41FA5}">
                      <a16:colId xmlns:a16="http://schemas.microsoft.com/office/drawing/2014/main" val="2527660299"/>
                    </a:ext>
                  </a:extLst>
                </a:gridCol>
                <a:gridCol w="405149">
                  <a:extLst>
                    <a:ext uri="{9D8B030D-6E8A-4147-A177-3AD203B41FA5}">
                      <a16:colId xmlns:a16="http://schemas.microsoft.com/office/drawing/2014/main" val="3641075278"/>
                    </a:ext>
                  </a:extLst>
                </a:gridCol>
                <a:gridCol w="405149">
                  <a:extLst>
                    <a:ext uri="{9D8B030D-6E8A-4147-A177-3AD203B41FA5}">
                      <a16:colId xmlns:a16="http://schemas.microsoft.com/office/drawing/2014/main" val="3618613915"/>
                    </a:ext>
                  </a:extLst>
                </a:gridCol>
              </a:tblGrid>
              <a:tr h="168009">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84085619"/>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44374784"/>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92553694"/>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26164466"/>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65983599"/>
                  </a:ext>
                </a:extLst>
              </a:tr>
            </a:tbl>
          </a:graphicData>
        </a:graphic>
      </p:graphicFrame>
      <p:graphicFrame>
        <p:nvGraphicFramePr>
          <p:cNvPr id="12" name="表格 11">
            <a:extLst>
              <a:ext uri="{FF2B5EF4-FFF2-40B4-BE49-F238E27FC236}">
                <a16:creationId xmlns:a16="http://schemas.microsoft.com/office/drawing/2014/main" id="{9BE67B62-75BC-9FBF-0235-563E69B74D59}"/>
              </a:ext>
            </a:extLst>
          </p:cNvPr>
          <p:cNvGraphicFramePr>
            <a:graphicFrameLocks noGrp="1"/>
          </p:cNvGraphicFramePr>
          <p:nvPr>
            <p:extLst>
              <p:ext uri="{D42A27DB-BD31-4B8C-83A1-F6EECF244321}">
                <p14:modId xmlns:p14="http://schemas.microsoft.com/office/powerpoint/2010/main" val="2398817126"/>
              </p:ext>
            </p:extLst>
          </p:nvPr>
        </p:nvGraphicFramePr>
        <p:xfrm>
          <a:off x="37852" y="426316"/>
          <a:ext cx="10889229" cy="852454"/>
        </p:xfrm>
        <a:graphic>
          <a:graphicData uri="http://schemas.openxmlformats.org/drawingml/2006/table">
            <a:tbl>
              <a:tblPr firstRow="1" bandRow="1">
                <a:tableStyleId>{3C2FFA5D-87B4-456A-9821-1D502468CF0F}</a:tableStyleId>
              </a:tblPr>
              <a:tblGrid>
                <a:gridCol w="1334654">
                  <a:extLst>
                    <a:ext uri="{9D8B030D-6E8A-4147-A177-3AD203B41FA5}">
                      <a16:colId xmlns:a16="http://schemas.microsoft.com/office/drawing/2014/main" val="869603910"/>
                    </a:ext>
                  </a:extLst>
                </a:gridCol>
                <a:gridCol w="1268999">
                  <a:extLst>
                    <a:ext uri="{9D8B030D-6E8A-4147-A177-3AD203B41FA5}">
                      <a16:colId xmlns:a16="http://schemas.microsoft.com/office/drawing/2014/main" val="238663902"/>
                    </a:ext>
                  </a:extLst>
                </a:gridCol>
                <a:gridCol w="1224104">
                  <a:extLst>
                    <a:ext uri="{9D8B030D-6E8A-4147-A177-3AD203B41FA5}">
                      <a16:colId xmlns:a16="http://schemas.microsoft.com/office/drawing/2014/main" val="4114365151"/>
                    </a:ext>
                  </a:extLst>
                </a:gridCol>
                <a:gridCol w="1197046">
                  <a:extLst>
                    <a:ext uri="{9D8B030D-6E8A-4147-A177-3AD203B41FA5}">
                      <a16:colId xmlns:a16="http://schemas.microsoft.com/office/drawing/2014/main" val="4075178046"/>
                    </a:ext>
                  </a:extLst>
                </a:gridCol>
                <a:gridCol w="1415046">
                  <a:extLst>
                    <a:ext uri="{9D8B030D-6E8A-4147-A177-3AD203B41FA5}">
                      <a16:colId xmlns:a16="http://schemas.microsoft.com/office/drawing/2014/main" val="973533418"/>
                    </a:ext>
                  </a:extLst>
                </a:gridCol>
                <a:gridCol w="1306656">
                  <a:extLst>
                    <a:ext uri="{9D8B030D-6E8A-4147-A177-3AD203B41FA5}">
                      <a16:colId xmlns:a16="http://schemas.microsoft.com/office/drawing/2014/main" val="2377711782"/>
                    </a:ext>
                  </a:extLst>
                </a:gridCol>
                <a:gridCol w="1306656">
                  <a:extLst>
                    <a:ext uri="{9D8B030D-6E8A-4147-A177-3AD203B41FA5}">
                      <a16:colId xmlns:a16="http://schemas.microsoft.com/office/drawing/2014/main" val="3946881186"/>
                    </a:ext>
                  </a:extLst>
                </a:gridCol>
                <a:gridCol w="183606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chemeClr val="tx1"/>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2" name="表格 3">
            <a:extLst>
              <a:ext uri="{FF2B5EF4-FFF2-40B4-BE49-F238E27FC236}">
                <a16:creationId xmlns:a16="http://schemas.microsoft.com/office/drawing/2014/main" id="{27440028-E387-AAF2-3E3C-75CF9391C303}"/>
              </a:ext>
            </a:extLst>
          </p:cNvPr>
          <p:cNvGraphicFramePr>
            <a:graphicFrameLocks noGrp="1"/>
          </p:cNvGraphicFramePr>
          <p:nvPr>
            <p:extLst>
              <p:ext uri="{D42A27DB-BD31-4B8C-83A1-F6EECF244321}">
                <p14:modId xmlns:p14="http://schemas.microsoft.com/office/powerpoint/2010/main" val="2551092453"/>
              </p:ext>
            </p:extLst>
          </p:nvPr>
        </p:nvGraphicFramePr>
        <p:xfrm>
          <a:off x="6089645" y="4437168"/>
          <a:ext cx="5708852" cy="2082337"/>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2056748">
                  <a:extLst>
                    <a:ext uri="{9D8B030D-6E8A-4147-A177-3AD203B41FA5}">
                      <a16:colId xmlns:a16="http://schemas.microsoft.com/office/drawing/2014/main" val="3603859997"/>
                    </a:ext>
                  </a:extLst>
                </a:gridCol>
                <a:gridCol w="395381">
                  <a:extLst>
                    <a:ext uri="{9D8B030D-6E8A-4147-A177-3AD203B41FA5}">
                      <a16:colId xmlns:a16="http://schemas.microsoft.com/office/drawing/2014/main" val="4076488391"/>
                    </a:ext>
                  </a:extLst>
                </a:gridCol>
                <a:gridCol w="395381">
                  <a:extLst>
                    <a:ext uri="{9D8B030D-6E8A-4147-A177-3AD203B41FA5}">
                      <a16:colId xmlns:a16="http://schemas.microsoft.com/office/drawing/2014/main" val="3254101706"/>
                    </a:ext>
                  </a:extLst>
                </a:gridCol>
                <a:gridCol w="395381">
                  <a:extLst>
                    <a:ext uri="{9D8B030D-6E8A-4147-A177-3AD203B41FA5}">
                      <a16:colId xmlns:a16="http://schemas.microsoft.com/office/drawing/2014/main" val="3712391277"/>
                    </a:ext>
                  </a:extLst>
                </a:gridCol>
                <a:gridCol w="395381">
                  <a:extLst>
                    <a:ext uri="{9D8B030D-6E8A-4147-A177-3AD203B41FA5}">
                      <a16:colId xmlns:a16="http://schemas.microsoft.com/office/drawing/2014/main" val="2527660299"/>
                    </a:ext>
                  </a:extLst>
                </a:gridCol>
                <a:gridCol w="395381">
                  <a:extLst>
                    <a:ext uri="{9D8B030D-6E8A-4147-A177-3AD203B41FA5}">
                      <a16:colId xmlns:a16="http://schemas.microsoft.com/office/drawing/2014/main" val="3641075278"/>
                    </a:ext>
                  </a:extLst>
                </a:gridCol>
                <a:gridCol w="395381">
                  <a:extLst>
                    <a:ext uri="{9D8B030D-6E8A-4147-A177-3AD203B41FA5}">
                      <a16:colId xmlns:a16="http://schemas.microsoft.com/office/drawing/2014/main" val="3618613915"/>
                    </a:ext>
                  </a:extLst>
                </a:gridCol>
              </a:tblGrid>
              <a:tr h="16173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4211421"/>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0537104"/>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9419537"/>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3" name="Rectangle 2">
            <a:extLst>
              <a:ext uri="{FF2B5EF4-FFF2-40B4-BE49-F238E27FC236}">
                <a16:creationId xmlns:a16="http://schemas.microsoft.com/office/drawing/2014/main" id="{E01AD1BF-3DDF-F711-BBC5-7487EA02EEB0}"/>
              </a:ext>
            </a:extLst>
          </p:cNvPr>
          <p:cNvSpPr/>
          <p:nvPr/>
        </p:nvSpPr>
        <p:spPr>
          <a:xfrm>
            <a:off x="6569750" y="2988485"/>
            <a:ext cx="5228747" cy="96216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4" name="Rectangle 3">
            <a:extLst>
              <a:ext uri="{FF2B5EF4-FFF2-40B4-BE49-F238E27FC236}">
                <a16:creationId xmlns:a16="http://schemas.microsoft.com/office/drawing/2014/main" id="{62C2A899-8447-223B-6D4C-4DEEA560744D}"/>
              </a:ext>
            </a:extLst>
          </p:cNvPr>
          <p:cNvSpPr/>
          <p:nvPr/>
        </p:nvSpPr>
        <p:spPr>
          <a:xfrm>
            <a:off x="6508937" y="5410199"/>
            <a:ext cx="5344143" cy="90678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6" name="Rectangle 5">
            <a:extLst>
              <a:ext uri="{FF2B5EF4-FFF2-40B4-BE49-F238E27FC236}">
                <a16:creationId xmlns:a16="http://schemas.microsoft.com/office/drawing/2014/main" id="{AC5E7153-CF5F-EB96-D2B1-9E2835FE11BE}"/>
              </a:ext>
            </a:extLst>
          </p:cNvPr>
          <p:cNvSpPr/>
          <p:nvPr/>
        </p:nvSpPr>
        <p:spPr>
          <a:xfrm>
            <a:off x="498758" y="2777208"/>
            <a:ext cx="5304209" cy="1723460"/>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对话气泡: 矩形 11">
            <a:extLst>
              <a:ext uri="{FF2B5EF4-FFF2-40B4-BE49-F238E27FC236}">
                <a16:creationId xmlns:a16="http://schemas.microsoft.com/office/drawing/2014/main" id="{20142B70-C777-5ECC-94E1-D39EF730529B}"/>
              </a:ext>
            </a:extLst>
          </p:cNvPr>
          <p:cNvSpPr/>
          <p:nvPr/>
        </p:nvSpPr>
        <p:spPr>
          <a:xfrm>
            <a:off x="89456" y="4846564"/>
            <a:ext cx="5571460" cy="421472"/>
          </a:xfrm>
          <a:prstGeom prst="wedgeRectCallout">
            <a:avLst>
              <a:gd name="adj1" fmla="val -33059"/>
              <a:gd name="adj2" fmla="val -18786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Accounting confirmed for</a:t>
            </a:r>
            <a:r>
              <a:rPr lang="zh-CN" altLang="en-US" sz="1200">
                <a:solidFill>
                  <a:schemeClr val="tx1"/>
                </a:solidFill>
              </a:rPr>
              <a:t> </a:t>
            </a:r>
            <a:r>
              <a:rPr lang="en-US" altLang="zh-CN" sz="1200">
                <a:solidFill>
                  <a:schemeClr val="tx1"/>
                </a:solidFill>
              </a:rPr>
              <a:t>variable</a:t>
            </a:r>
            <a:r>
              <a:rPr lang="zh-CN" altLang="en-US" sz="1200">
                <a:solidFill>
                  <a:schemeClr val="tx1"/>
                </a:solidFill>
              </a:rPr>
              <a:t> </a:t>
            </a:r>
            <a:r>
              <a:rPr lang="en-US" altLang="zh-CN" sz="1200">
                <a:solidFill>
                  <a:schemeClr val="tx1"/>
                </a:solidFill>
              </a:rPr>
              <a:t>rev</a:t>
            </a:r>
            <a:r>
              <a:rPr lang="zh-CN" altLang="en-US" sz="1200">
                <a:solidFill>
                  <a:schemeClr val="tx1"/>
                </a:solidFill>
              </a:rPr>
              <a:t> </a:t>
            </a:r>
            <a:r>
              <a:rPr lang="en-US" altLang="zh-CN" sz="1200">
                <a:solidFill>
                  <a:schemeClr val="tx1"/>
                </a:solidFill>
              </a:rPr>
              <a:t>in</a:t>
            </a:r>
            <a:r>
              <a:rPr lang="zh-CN" altLang="en-US" sz="1200">
                <a:solidFill>
                  <a:schemeClr val="tx1"/>
                </a:solidFill>
              </a:rPr>
              <a:t> </a:t>
            </a:r>
            <a:r>
              <a:rPr lang="en-US" altLang="zh-CN" sz="1200">
                <a:solidFill>
                  <a:schemeClr val="tx1"/>
                </a:solidFill>
              </a:rPr>
              <a:t>S&amp;D</a:t>
            </a:r>
            <a:r>
              <a:rPr lang="zh-CN" altLang="en-US" sz="1200">
                <a:solidFill>
                  <a:schemeClr val="tx1"/>
                </a:solidFill>
              </a:rPr>
              <a:t>，</a:t>
            </a:r>
            <a:r>
              <a:rPr lang="en-US" altLang="zh-CN" sz="1200">
                <a:solidFill>
                  <a:schemeClr val="tx1"/>
                </a:solidFill>
              </a:rPr>
              <a:t>LV use</a:t>
            </a:r>
            <a:r>
              <a:rPr lang="zh-CN" altLang="en-US" sz="1200">
                <a:solidFill>
                  <a:schemeClr val="tx1"/>
                </a:solidFill>
              </a:rPr>
              <a:t> </a:t>
            </a:r>
            <a:r>
              <a:rPr lang="en-US" altLang="zh-CN" sz="1200">
                <a:solidFill>
                  <a:schemeClr val="tx1"/>
                </a:solidFill>
              </a:rPr>
              <a:t>5010401 and PV use 5010509.</a:t>
            </a:r>
          </a:p>
        </p:txBody>
      </p:sp>
      <p:sp>
        <p:nvSpPr>
          <p:cNvPr id="8" name="文本框 7">
            <a:extLst>
              <a:ext uri="{FF2B5EF4-FFF2-40B4-BE49-F238E27FC236}">
                <a16:creationId xmlns:a16="http://schemas.microsoft.com/office/drawing/2014/main" id="{E88F17AA-DF94-9A4E-4F09-9BFA52CBBA31}"/>
              </a:ext>
            </a:extLst>
          </p:cNvPr>
          <p:cNvSpPr txBox="1"/>
          <p:nvPr/>
        </p:nvSpPr>
        <p:spPr>
          <a:xfrm>
            <a:off x="9893134" y="1647200"/>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Tree>
    <p:extLst>
      <p:ext uri="{BB962C8B-B14F-4D97-AF65-F5344CB8AC3E}">
        <p14:creationId xmlns:p14="http://schemas.microsoft.com/office/powerpoint/2010/main" val="67869666"/>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DEB2687-7C6B-6E16-7D7E-26CCF858734C}"/>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4EDF52A7-3213-7EC5-A894-EA569265D0FC}"/>
              </a:ext>
            </a:extLst>
          </p:cNvPr>
          <p:cNvGraphicFramePr>
            <a:graphicFrameLocks noGrp="1"/>
          </p:cNvGraphicFramePr>
          <p:nvPr/>
        </p:nvGraphicFramePr>
        <p:xfrm>
          <a:off x="6089645" y="1643936"/>
          <a:ext cx="5702497" cy="2659257"/>
        </p:xfrm>
        <a:graphic>
          <a:graphicData uri="http://schemas.openxmlformats.org/drawingml/2006/table">
            <a:tbl>
              <a:tblPr/>
              <a:tblGrid>
                <a:gridCol w="486891">
                  <a:extLst>
                    <a:ext uri="{9D8B030D-6E8A-4147-A177-3AD203B41FA5}">
                      <a16:colId xmlns:a16="http://schemas.microsoft.com/office/drawing/2014/main" val="495084399"/>
                    </a:ext>
                  </a:extLst>
                </a:gridCol>
                <a:gridCol w="254976">
                  <a:extLst>
                    <a:ext uri="{9D8B030D-6E8A-4147-A177-3AD203B41FA5}">
                      <a16:colId xmlns:a16="http://schemas.microsoft.com/office/drawing/2014/main" val="3614210242"/>
                    </a:ext>
                  </a:extLst>
                </a:gridCol>
                <a:gridCol w="606811">
                  <a:extLst>
                    <a:ext uri="{9D8B030D-6E8A-4147-A177-3AD203B41FA5}">
                      <a16:colId xmlns:a16="http://schemas.microsoft.com/office/drawing/2014/main" val="1442124609"/>
                    </a:ext>
                  </a:extLst>
                </a:gridCol>
                <a:gridCol w="1946031">
                  <a:extLst>
                    <a:ext uri="{9D8B030D-6E8A-4147-A177-3AD203B41FA5}">
                      <a16:colId xmlns:a16="http://schemas.microsoft.com/office/drawing/2014/main" val="3603859997"/>
                    </a:ext>
                  </a:extLst>
                </a:gridCol>
                <a:gridCol w="401298">
                  <a:extLst>
                    <a:ext uri="{9D8B030D-6E8A-4147-A177-3AD203B41FA5}">
                      <a16:colId xmlns:a16="http://schemas.microsoft.com/office/drawing/2014/main" val="4076488391"/>
                    </a:ext>
                  </a:extLst>
                </a:gridCol>
                <a:gridCol w="401298">
                  <a:extLst>
                    <a:ext uri="{9D8B030D-6E8A-4147-A177-3AD203B41FA5}">
                      <a16:colId xmlns:a16="http://schemas.microsoft.com/office/drawing/2014/main" val="3254101706"/>
                    </a:ext>
                  </a:extLst>
                </a:gridCol>
                <a:gridCol w="401298">
                  <a:extLst>
                    <a:ext uri="{9D8B030D-6E8A-4147-A177-3AD203B41FA5}">
                      <a16:colId xmlns:a16="http://schemas.microsoft.com/office/drawing/2014/main" val="3712391277"/>
                    </a:ext>
                  </a:extLst>
                </a:gridCol>
                <a:gridCol w="401298">
                  <a:extLst>
                    <a:ext uri="{9D8B030D-6E8A-4147-A177-3AD203B41FA5}">
                      <a16:colId xmlns:a16="http://schemas.microsoft.com/office/drawing/2014/main" val="2527660299"/>
                    </a:ext>
                  </a:extLst>
                </a:gridCol>
                <a:gridCol w="401298">
                  <a:extLst>
                    <a:ext uri="{9D8B030D-6E8A-4147-A177-3AD203B41FA5}">
                      <a16:colId xmlns:a16="http://schemas.microsoft.com/office/drawing/2014/main" val="3641075278"/>
                    </a:ext>
                  </a:extLst>
                </a:gridCol>
                <a:gridCol w="401298">
                  <a:extLst>
                    <a:ext uri="{9D8B030D-6E8A-4147-A177-3AD203B41FA5}">
                      <a16:colId xmlns:a16="http://schemas.microsoft.com/office/drawing/2014/main" val="3618613915"/>
                    </a:ext>
                  </a:extLst>
                </a:gridCol>
              </a:tblGrid>
              <a:tr h="0">
                <a:tc rowSpan="12">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649643129"/>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660198487"/>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29420255"/>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06799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0649851"/>
                  </a:ext>
                </a:extLst>
              </a:tr>
            </a:tbl>
          </a:graphicData>
        </a:graphic>
      </p:graphicFrame>
      <p:sp>
        <p:nvSpPr>
          <p:cNvPr id="28" name="文本框 27">
            <a:extLst>
              <a:ext uri="{FF2B5EF4-FFF2-40B4-BE49-F238E27FC236}">
                <a16:creationId xmlns:a16="http://schemas.microsoft.com/office/drawing/2014/main" id="{C1B59EF6-1E5F-568D-76D6-8A22DC4575F1}"/>
              </a:ext>
            </a:extLst>
          </p:cNvPr>
          <p:cNvSpPr txBox="1"/>
          <p:nvPr/>
        </p:nvSpPr>
        <p:spPr>
          <a:xfrm>
            <a:off x="-40473" y="34649"/>
            <a:ext cx="4470947" cy="400110"/>
          </a:xfrm>
          <a:prstGeom prst="rect">
            <a:avLst/>
          </a:prstGeom>
          <a:noFill/>
        </p:spPr>
        <p:txBody>
          <a:bodyPr wrap="square" rtlCol="0">
            <a:spAutoFit/>
          </a:bodyPr>
          <a:lstStyle/>
          <a:p>
            <a:r>
              <a:rPr lang="nl-NL" altLang="zh-CN" sz="2000" b="1"/>
              <a:t>IaaS_AFE_MSA</a:t>
            </a:r>
            <a:endParaRPr lang="zh-CN" altLang="en-US" sz="2000" b="1"/>
          </a:p>
        </p:txBody>
      </p:sp>
      <p:graphicFrame>
        <p:nvGraphicFramePr>
          <p:cNvPr id="5" name="表格 4">
            <a:extLst>
              <a:ext uri="{FF2B5EF4-FFF2-40B4-BE49-F238E27FC236}">
                <a16:creationId xmlns:a16="http://schemas.microsoft.com/office/drawing/2014/main" id="{EA818201-8E38-EBF6-4EB6-FE738B1AF662}"/>
              </a:ext>
            </a:extLst>
          </p:cNvPr>
          <p:cNvGraphicFramePr>
            <a:graphicFrameLocks noGrp="1"/>
          </p:cNvGraphicFramePr>
          <p:nvPr/>
        </p:nvGraphicFramePr>
        <p:xfrm>
          <a:off x="89456" y="1663978"/>
          <a:ext cx="5702498" cy="2773190"/>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2044027">
                  <a:extLst>
                    <a:ext uri="{9D8B030D-6E8A-4147-A177-3AD203B41FA5}">
                      <a16:colId xmlns:a16="http://schemas.microsoft.com/office/drawing/2014/main" val="3603859997"/>
                    </a:ext>
                  </a:extLst>
                </a:gridCol>
                <a:gridCol w="405149">
                  <a:extLst>
                    <a:ext uri="{9D8B030D-6E8A-4147-A177-3AD203B41FA5}">
                      <a16:colId xmlns:a16="http://schemas.microsoft.com/office/drawing/2014/main" val="4076488391"/>
                    </a:ext>
                  </a:extLst>
                </a:gridCol>
                <a:gridCol w="405149">
                  <a:extLst>
                    <a:ext uri="{9D8B030D-6E8A-4147-A177-3AD203B41FA5}">
                      <a16:colId xmlns:a16="http://schemas.microsoft.com/office/drawing/2014/main" val="3254101706"/>
                    </a:ext>
                  </a:extLst>
                </a:gridCol>
                <a:gridCol w="405149">
                  <a:extLst>
                    <a:ext uri="{9D8B030D-6E8A-4147-A177-3AD203B41FA5}">
                      <a16:colId xmlns:a16="http://schemas.microsoft.com/office/drawing/2014/main" val="3712391277"/>
                    </a:ext>
                  </a:extLst>
                </a:gridCol>
                <a:gridCol w="405149">
                  <a:extLst>
                    <a:ext uri="{9D8B030D-6E8A-4147-A177-3AD203B41FA5}">
                      <a16:colId xmlns:a16="http://schemas.microsoft.com/office/drawing/2014/main" val="2527660299"/>
                    </a:ext>
                  </a:extLst>
                </a:gridCol>
                <a:gridCol w="405149">
                  <a:extLst>
                    <a:ext uri="{9D8B030D-6E8A-4147-A177-3AD203B41FA5}">
                      <a16:colId xmlns:a16="http://schemas.microsoft.com/office/drawing/2014/main" val="3641075278"/>
                    </a:ext>
                  </a:extLst>
                </a:gridCol>
                <a:gridCol w="405149">
                  <a:extLst>
                    <a:ext uri="{9D8B030D-6E8A-4147-A177-3AD203B41FA5}">
                      <a16:colId xmlns:a16="http://schemas.microsoft.com/office/drawing/2014/main" val="3618613915"/>
                    </a:ext>
                  </a:extLst>
                </a:gridCol>
              </a:tblGrid>
              <a:tr h="168009">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84085619"/>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44374784"/>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92553694"/>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26164466"/>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65983599"/>
                  </a:ext>
                </a:extLst>
              </a:tr>
            </a:tbl>
          </a:graphicData>
        </a:graphic>
      </p:graphicFrame>
      <p:graphicFrame>
        <p:nvGraphicFramePr>
          <p:cNvPr id="12" name="表格 11">
            <a:extLst>
              <a:ext uri="{FF2B5EF4-FFF2-40B4-BE49-F238E27FC236}">
                <a16:creationId xmlns:a16="http://schemas.microsoft.com/office/drawing/2014/main" id="{C2A9EA5B-4E84-4C66-53B1-B647DAC2805D}"/>
              </a:ext>
            </a:extLst>
          </p:cNvPr>
          <p:cNvGraphicFramePr>
            <a:graphicFrameLocks noGrp="1"/>
          </p:cNvGraphicFramePr>
          <p:nvPr/>
        </p:nvGraphicFramePr>
        <p:xfrm>
          <a:off x="37852" y="426316"/>
          <a:ext cx="10889229" cy="852454"/>
        </p:xfrm>
        <a:graphic>
          <a:graphicData uri="http://schemas.openxmlformats.org/drawingml/2006/table">
            <a:tbl>
              <a:tblPr firstRow="1" bandRow="1">
                <a:tableStyleId>{3C2FFA5D-87B4-456A-9821-1D502468CF0F}</a:tableStyleId>
              </a:tblPr>
              <a:tblGrid>
                <a:gridCol w="1334654">
                  <a:extLst>
                    <a:ext uri="{9D8B030D-6E8A-4147-A177-3AD203B41FA5}">
                      <a16:colId xmlns:a16="http://schemas.microsoft.com/office/drawing/2014/main" val="869603910"/>
                    </a:ext>
                  </a:extLst>
                </a:gridCol>
                <a:gridCol w="1268999">
                  <a:extLst>
                    <a:ext uri="{9D8B030D-6E8A-4147-A177-3AD203B41FA5}">
                      <a16:colId xmlns:a16="http://schemas.microsoft.com/office/drawing/2014/main" val="238663902"/>
                    </a:ext>
                  </a:extLst>
                </a:gridCol>
                <a:gridCol w="1224104">
                  <a:extLst>
                    <a:ext uri="{9D8B030D-6E8A-4147-A177-3AD203B41FA5}">
                      <a16:colId xmlns:a16="http://schemas.microsoft.com/office/drawing/2014/main" val="4114365151"/>
                    </a:ext>
                  </a:extLst>
                </a:gridCol>
                <a:gridCol w="1197046">
                  <a:extLst>
                    <a:ext uri="{9D8B030D-6E8A-4147-A177-3AD203B41FA5}">
                      <a16:colId xmlns:a16="http://schemas.microsoft.com/office/drawing/2014/main" val="4075178046"/>
                    </a:ext>
                  </a:extLst>
                </a:gridCol>
                <a:gridCol w="1415046">
                  <a:extLst>
                    <a:ext uri="{9D8B030D-6E8A-4147-A177-3AD203B41FA5}">
                      <a16:colId xmlns:a16="http://schemas.microsoft.com/office/drawing/2014/main" val="973533418"/>
                    </a:ext>
                  </a:extLst>
                </a:gridCol>
                <a:gridCol w="1306656">
                  <a:extLst>
                    <a:ext uri="{9D8B030D-6E8A-4147-A177-3AD203B41FA5}">
                      <a16:colId xmlns:a16="http://schemas.microsoft.com/office/drawing/2014/main" val="2377711782"/>
                    </a:ext>
                  </a:extLst>
                </a:gridCol>
                <a:gridCol w="1306656">
                  <a:extLst>
                    <a:ext uri="{9D8B030D-6E8A-4147-A177-3AD203B41FA5}">
                      <a16:colId xmlns:a16="http://schemas.microsoft.com/office/drawing/2014/main" val="3946881186"/>
                    </a:ext>
                  </a:extLst>
                </a:gridCol>
                <a:gridCol w="1836068">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chemeClr val="tx1"/>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2" name="表格 3">
            <a:extLst>
              <a:ext uri="{FF2B5EF4-FFF2-40B4-BE49-F238E27FC236}">
                <a16:creationId xmlns:a16="http://schemas.microsoft.com/office/drawing/2014/main" id="{7E994F94-5593-3D49-1494-CD2275BE4882}"/>
              </a:ext>
            </a:extLst>
          </p:cNvPr>
          <p:cNvGraphicFramePr>
            <a:graphicFrameLocks noGrp="1"/>
          </p:cNvGraphicFramePr>
          <p:nvPr/>
        </p:nvGraphicFramePr>
        <p:xfrm>
          <a:off x="6089645" y="4437168"/>
          <a:ext cx="5708852" cy="2082337"/>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2056748">
                  <a:extLst>
                    <a:ext uri="{9D8B030D-6E8A-4147-A177-3AD203B41FA5}">
                      <a16:colId xmlns:a16="http://schemas.microsoft.com/office/drawing/2014/main" val="3603859997"/>
                    </a:ext>
                  </a:extLst>
                </a:gridCol>
                <a:gridCol w="395381">
                  <a:extLst>
                    <a:ext uri="{9D8B030D-6E8A-4147-A177-3AD203B41FA5}">
                      <a16:colId xmlns:a16="http://schemas.microsoft.com/office/drawing/2014/main" val="4076488391"/>
                    </a:ext>
                  </a:extLst>
                </a:gridCol>
                <a:gridCol w="395381">
                  <a:extLst>
                    <a:ext uri="{9D8B030D-6E8A-4147-A177-3AD203B41FA5}">
                      <a16:colId xmlns:a16="http://schemas.microsoft.com/office/drawing/2014/main" val="3254101706"/>
                    </a:ext>
                  </a:extLst>
                </a:gridCol>
                <a:gridCol w="395381">
                  <a:extLst>
                    <a:ext uri="{9D8B030D-6E8A-4147-A177-3AD203B41FA5}">
                      <a16:colId xmlns:a16="http://schemas.microsoft.com/office/drawing/2014/main" val="3712391277"/>
                    </a:ext>
                  </a:extLst>
                </a:gridCol>
                <a:gridCol w="395381">
                  <a:extLst>
                    <a:ext uri="{9D8B030D-6E8A-4147-A177-3AD203B41FA5}">
                      <a16:colId xmlns:a16="http://schemas.microsoft.com/office/drawing/2014/main" val="2527660299"/>
                    </a:ext>
                  </a:extLst>
                </a:gridCol>
                <a:gridCol w="395381">
                  <a:extLst>
                    <a:ext uri="{9D8B030D-6E8A-4147-A177-3AD203B41FA5}">
                      <a16:colId xmlns:a16="http://schemas.microsoft.com/office/drawing/2014/main" val="3641075278"/>
                    </a:ext>
                  </a:extLst>
                </a:gridCol>
                <a:gridCol w="395381">
                  <a:extLst>
                    <a:ext uri="{9D8B030D-6E8A-4147-A177-3AD203B41FA5}">
                      <a16:colId xmlns:a16="http://schemas.microsoft.com/office/drawing/2014/main" val="3618613915"/>
                    </a:ext>
                  </a:extLst>
                </a:gridCol>
              </a:tblGrid>
              <a:tr h="16173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4211421"/>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0537104"/>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9419537"/>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3" name="Rectangle 2">
            <a:extLst>
              <a:ext uri="{FF2B5EF4-FFF2-40B4-BE49-F238E27FC236}">
                <a16:creationId xmlns:a16="http://schemas.microsoft.com/office/drawing/2014/main" id="{B9DB5E2C-279D-5831-6FFE-EDACD861779C}"/>
              </a:ext>
            </a:extLst>
          </p:cNvPr>
          <p:cNvSpPr/>
          <p:nvPr/>
        </p:nvSpPr>
        <p:spPr>
          <a:xfrm>
            <a:off x="6602198" y="3327778"/>
            <a:ext cx="5228747" cy="96216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4" name="Rectangle 3">
            <a:extLst>
              <a:ext uri="{FF2B5EF4-FFF2-40B4-BE49-F238E27FC236}">
                <a16:creationId xmlns:a16="http://schemas.microsoft.com/office/drawing/2014/main" id="{E6E5818B-0063-DC84-21CA-602B563973E7}"/>
              </a:ext>
            </a:extLst>
          </p:cNvPr>
          <p:cNvSpPr/>
          <p:nvPr/>
        </p:nvSpPr>
        <p:spPr>
          <a:xfrm>
            <a:off x="6508937" y="5410199"/>
            <a:ext cx="5344143" cy="90678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6" name="Rectangle 5">
            <a:extLst>
              <a:ext uri="{FF2B5EF4-FFF2-40B4-BE49-F238E27FC236}">
                <a16:creationId xmlns:a16="http://schemas.microsoft.com/office/drawing/2014/main" id="{B30176E9-0F39-8EF8-D0EB-DE92764B53B1}"/>
              </a:ext>
            </a:extLst>
          </p:cNvPr>
          <p:cNvSpPr/>
          <p:nvPr/>
        </p:nvSpPr>
        <p:spPr>
          <a:xfrm>
            <a:off x="498758" y="2777208"/>
            <a:ext cx="5304209" cy="1723460"/>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对话气泡: 矩形 11">
            <a:extLst>
              <a:ext uri="{FF2B5EF4-FFF2-40B4-BE49-F238E27FC236}">
                <a16:creationId xmlns:a16="http://schemas.microsoft.com/office/drawing/2014/main" id="{10FC27C1-E7BF-8D1F-1926-1B7F4064AA3E}"/>
              </a:ext>
            </a:extLst>
          </p:cNvPr>
          <p:cNvSpPr/>
          <p:nvPr/>
        </p:nvSpPr>
        <p:spPr>
          <a:xfrm>
            <a:off x="89456" y="4846564"/>
            <a:ext cx="5571460" cy="421472"/>
          </a:xfrm>
          <a:prstGeom prst="wedgeRectCallout">
            <a:avLst>
              <a:gd name="adj1" fmla="val -33059"/>
              <a:gd name="adj2" fmla="val -18786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Accounting confirmed for</a:t>
            </a:r>
            <a:r>
              <a:rPr lang="zh-CN" altLang="en-US" sz="1200">
                <a:solidFill>
                  <a:schemeClr val="tx1"/>
                </a:solidFill>
              </a:rPr>
              <a:t> </a:t>
            </a:r>
            <a:r>
              <a:rPr lang="en-US" altLang="zh-CN" sz="1200">
                <a:solidFill>
                  <a:schemeClr val="tx1"/>
                </a:solidFill>
              </a:rPr>
              <a:t>variable</a:t>
            </a:r>
            <a:r>
              <a:rPr lang="zh-CN" altLang="en-US" sz="1200">
                <a:solidFill>
                  <a:schemeClr val="tx1"/>
                </a:solidFill>
              </a:rPr>
              <a:t> </a:t>
            </a:r>
            <a:r>
              <a:rPr lang="en-US" altLang="zh-CN" sz="1200">
                <a:solidFill>
                  <a:schemeClr val="tx1"/>
                </a:solidFill>
              </a:rPr>
              <a:t>rev</a:t>
            </a:r>
            <a:r>
              <a:rPr lang="zh-CN" altLang="en-US" sz="1200">
                <a:solidFill>
                  <a:schemeClr val="tx1"/>
                </a:solidFill>
              </a:rPr>
              <a:t> </a:t>
            </a:r>
            <a:r>
              <a:rPr lang="en-US" altLang="zh-CN" sz="1200">
                <a:solidFill>
                  <a:schemeClr val="tx1"/>
                </a:solidFill>
              </a:rPr>
              <a:t>in</a:t>
            </a:r>
            <a:r>
              <a:rPr lang="zh-CN" altLang="en-US" sz="1200">
                <a:solidFill>
                  <a:schemeClr val="tx1"/>
                </a:solidFill>
              </a:rPr>
              <a:t> </a:t>
            </a:r>
            <a:r>
              <a:rPr lang="en-US" altLang="zh-CN" sz="1200">
                <a:solidFill>
                  <a:schemeClr val="tx1"/>
                </a:solidFill>
              </a:rPr>
              <a:t>S&amp;D</a:t>
            </a:r>
            <a:r>
              <a:rPr lang="zh-CN" altLang="en-US" sz="1200">
                <a:solidFill>
                  <a:schemeClr val="tx1"/>
                </a:solidFill>
              </a:rPr>
              <a:t>，</a:t>
            </a:r>
            <a:r>
              <a:rPr lang="en-US" altLang="zh-CN" sz="1200">
                <a:solidFill>
                  <a:schemeClr val="tx1"/>
                </a:solidFill>
              </a:rPr>
              <a:t>LV use</a:t>
            </a:r>
            <a:r>
              <a:rPr lang="zh-CN" altLang="en-US" sz="1200">
                <a:solidFill>
                  <a:schemeClr val="tx1"/>
                </a:solidFill>
              </a:rPr>
              <a:t> </a:t>
            </a:r>
            <a:r>
              <a:rPr lang="en-US" altLang="zh-CN" sz="1200">
                <a:solidFill>
                  <a:schemeClr val="tx1"/>
                </a:solidFill>
              </a:rPr>
              <a:t>5010401 and PV use 5010509.</a:t>
            </a:r>
          </a:p>
        </p:txBody>
      </p:sp>
      <p:sp>
        <p:nvSpPr>
          <p:cNvPr id="8" name="文本框 7">
            <a:extLst>
              <a:ext uri="{FF2B5EF4-FFF2-40B4-BE49-F238E27FC236}">
                <a16:creationId xmlns:a16="http://schemas.microsoft.com/office/drawing/2014/main" id="{558670FE-50A9-2D51-0D42-FB11C41FA49F}"/>
              </a:ext>
            </a:extLst>
          </p:cNvPr>
          <p:cNvSpPr txBox="1"/>
          <p:nvPr/>
        </p:nvSpPr>
        <p:spPr>
          <a:xfrm>
            <a:off x="9893134" y="1647200"/>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Tree>
    <p:extLst>
      <p:ext uri="{BB962C8B-B14F-4D97-AF65-F5344CB8AC3E}">
        <p14:creationId xmlns:p14="http://schemas.microsoft.com/office/powerpoint/2010/main" val="216194459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7CE0AD-16DF-C7DF-C90E-E58180042246}"/>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07A88845-FF08-4759-0798-FEC1262D08C7}"/>
              </a:ext>
            </a:extLst>
          </p:cNvPr>
          <p:cNvGraphicFramePr>
            <a:graphicFrameLocks noGrp="1"/>
          </p:cNvGraphicFramePr>
          <p:nvPr>
            <p:extLst>
              <p:ext uri="{D42A27DB-BD31-4B8C-83A1-F6EECF244321}">
                <p14:modId xmlns:p14="http://schemas.microsoft.com/office/powerpoint/2010/main" val="2778415287"/>
              </p:ext>
            </p:extLst>
          </p:nvPr>
        </p:nvGraphicFramePr>
        <p:xfrm>
          <a:off x="5921123" y="1591188"/>
          <a:ext cx="5734950" cy="2066991"/>
        </p:xfrm>
        <a:graphic>
          <a:graphicData uri="http://schemas.openxmlformats.org/drawingml/2006/table">
            <a:tbl>
              <a:tblPr/>
              <a:tblGrid>
                <a:gridCol w="489662">
                  <a:extLst>
                    <a:ext uri="{9D8B030D-6E8A-4147-A177-3AD203B41FA5}">
                      <a16:colId xmlns:a16="http://schemas.microsoft.com/office/drawing/2014/main" val="495084399"/>
                    </a:ext>
                  </a:extLst>
                </a:gridCol>
                <a:gridCol w="256427">
                  <a:extLst>
                    <a:ext uri="{9D8B030D-6E8A-4147-A177-3AD203B41FA5}">
                      <a16:colId xmlns:a16="http://schemas.microsoft.com/office/drawing/2014/main" val="3614210242"/>
                    </a:ext>
                  </a:extLst>
                </a:gridCol>
                <a:gridCol w="610264">
                  <a:extLst>
                    <a:ext uri="{9D8B030D-6E8A-4147-A177-3AD203B41FA5}">
                      <a16:colId xmlns:a16="http://schemas.microsoft.com/office/drawing/2014/main" val="1442124609"/>
                    </a:ext>
                  </a:extLst>
                </a:gridCol>
                <a:gridCol w="1957105">
                  <a:extLst>
                    <a:ext uri="{9D8B030D-6E8A-4147-A177-3AD203B41FA5}">
                      <a16:colId xmlns:a16="http://schemas.microsoft.com/office/drawing/2014/main" val="3603859997"/>
                    </a:ext>
                  </a:extLst>
                </a:gridCol>
                <a:gridCol w="403582">
                  <a:extLst>
                    <a:ext uri="{9D8B030D-6E8A-4147-A177-3AD203B41FA5}">
                      <a16:colId xmlns:a16="http://schemas.microsoft.com/office/drawing/2014/main" val="4076488391"/>
                    </a:ext>
                  </a:extLst>
                </a:gridCol>
                <a:gridCol w="403582">
                  <a:extLst>
                    <a:ext uri="{9D8B030D-6E8A-4147-A177-3AD203B41FA5}">
                      <a16:colId xmlns:a16="http://schemas.microsoft.com/office/drawing/2014/main" val="3254101706"/>
                    </a:ext>
                  </a:extLst>
                </a:gridCol>
                <a:gridCol w="403582">
                  <a:extLst>
                    <a:ext uri="{9D8B030D-6E8A-4147-A177-3AD203B41FA5}">
                      <a16:colId xmlns:a16="http://schemas.microsoft.com/office/drawing/2014/main" val="3712391277"/>
                    </a:ext>
                  </a:extLst>
                </a:gridCol>
                <a:gridCol w="403582">
                  <a:extLst>
                    <a:ext uri="{9D8B030D-6E8A-4147-A177-3AD203B41FA5}">
                      <a16:colId xmlns:a16="http://schemas.microsoft.com/office/drawing/2014/main" val="2527660299"/>
                    </a:ext>
                  </a:extLst>
                </a:gridCol>
                <a:gridCol w="403582">
                  <a:extLst>
                    <a:ext uri="{9D8B030D-6E8A-4147-A177-3AD203B41FA5}">
                      <a16:colId xmlns:a16="http://schemas.microsoft.com/office/drawing/2014/main" val="3641075278"/>
                    </a:ext>
                  </a:extLst>
                </a:gridCol>
                <a:gridCol w="403582">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10822268"/>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chemeClr val="tx1"/>
                          </a:solidFill>
                          <a:effectLst/>
                          <a:latin typeface="+mn-lt"/>
                          <a:ea typeface="+mn-ea"/>
                          <a:cs typeface="+mn-cs"/>
                        </a:rPr>
                        <a:t>Broker Sales</a:t>
                      </a:r>
                      <a:r>
                        <a:rPr lang="en-US" altLang="zh-CN" sz="1000" b="0" i="0" u="none" strike="noStrike" kern="1200">
                          <a:solidFill>
                            <a:schemeClr val="tx1"/>
                          </a:solidFill>
                          <a:effectLst/>
                          <a:latin typeface="+mn-lt"/>
                          <a:ea typeface="+mn-ea"/>
                          <a:cs typeface="+mn-cs"/>
                        </a:rPr>
                        <a:t>(applicable for No Device return)</a:t>
                      </a:r>
                      <a:endParaRPr lang="en-US"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1000" b="0" i="0" u="none" strike="noStrike" kern="1200">
                          <a:solidFill>
                            <a:schemeClr val="tx1"/>
                          </a:solidFill>
                          <a:effectLst/>
                          <a:latin typeface="+mn-lt"/>
                          <a:ea typeface="+mn-ea"/>
                          <a:cs typeface="+mn-cs"/>
                        </a:rPr>
                        <a:t>XG</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29071992"/>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chemeClr val="tx1"/>
                          </a:solidFill>
                          <a:effectLst/>
                          <a:latin typeface="+mn-lt"/>
                          <a:ea typeface="+mn-ea"/>
                          <a:cs typeface="+mn-cs"/>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chemeClr val="tx1"/>
                          </a:solidFill>
                          <a:effectLst/>
                          <a:latin typeface="+mn-lt"/>
                          <a:ea typeface="+mn-ea"/>
                          <a:cs typeface="+mn-cs"/>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chemeClr val="tx1"/>
                          </a:solidFill>
                          <a:effectLst/>
                          <a:latin typeface="+mn-lt"/>
                          <a:ea typeface="+mn-ea"/>
                          <a:cs typeface="+mn-cs"/>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chemeClr val="tx1"/>
                          </a:solidFill>
                          <a:effectLst/>
                          <a:latin typeface="+mn-lt"/>
                          <a:ea typeface="+mn-ea"/>
                          <a:cs typeface="+mn-cs"/>
                        </a:rPr>
                        <a:t>AR- Upfront service one time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1000" b="0" i="0" u="none" strike="noStrike" kern="1200">
                          <a:solidFill>
                            <a:schemeClr val="tx1"/>
                          </a:solidFill>
                          <a:effectLst/>
                          <a:latin typeface="+mn-lt"/>
                          <a:ea typeface="+mn-ea"/>
                          <a:cs typeface="+mn-cs"/>
                        </a:rPr>
                        <a:t>XG</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6067991"/>
                  </a:ext>
                </a:extLst>
              </a:tr>
            </a:tbl>
          </a:graphicData>
        </a:graphic>
      </p:graphicFrame>
      <p:sp>
        <p:nvSpPr>
          <p:cNvPr id="28" name="文本框 27">
            <a:extLst>
              <a:ext uri="{FF2B5EF4-FFF2-40B4-BE49-F238E27FC236}">
                <a16:creationId xmlns:a16="http://schemas.microsoft.com/office/drawing/2014/main" id="{F1B9BB51-C21B-D001-8EF7-60412BEC3387}"/>
              </a:ext>
            </a:extLst>
          </p:cNvPr>
          <p:cNvSpPr txBox="1"/>
          <p:nvPr/>
        </p:nvSpPr>
        <p:spPr>
          <a:xfrm>
            <a:off x="-40473" y="34649"/>
            <a:ext cx="4470947" cy="400110"/>
          </a:xfrm>
          <a:prstGeom prst="rect">
            <a:avLst/>
          </a:prstGeom>
          <a:noFill/>
        </p:spPr>
        <p:txBody>
          <a:bodyPr wrap="square" rtlCol="0">
            <a:spAutoFit/>
          </a:bodyPr>
          <a:lstStyle/>
          <a:p>
            <a:r>
              <a:rPr lang="nl-NL" altLang="zh-CN" sz="2000" b="1"/>
              <a:t>IaaS_AFE_MSA</a:t>
            </a:r>
            <a:endParaRPr lang="zh-CN" altLang="en-US" sz="2000" b="1"/>
          </a:p>
        </p:txBody>
      </p:sp>
      <p:graphicFrame>
        <p:nvGraphicFramePr>
          <p:cNvPr id="2" name="表格 29">
            <a:extLst>
              <a:ext uri="{FF2B5EF4-FFF2-40B4-BE49-F238E27FC236}">
                <a16:creationId xmlns:a16="http://schemas.microsoft.com/office/drawing/2014/main" id="{294F265E-CA61-2E1F-707B-EAF8E8D96EB3}"/>
              </a:ext>
            </a:extLst>
          </p:cNvPr>
          <p:cNvGraphicFramePr>
            <a:graphicFrameLocks noGrp="1"/>
          </p:cNvGraphicFramePr>
          <p:nvPr>
            <p:extLst>
              <p:ext uri="{D42A27DB-BD31-4B8C-83A1-F6EECF244321}">
                <p14:modId xmlns:p14="http://schemas.microsoft.com/office/powerpoint/2010/main" val="272711127"/>
              </p:ext>
            </p:extLst>
          </p:nvPr>
        </p:nvGraphicFramePr>
        <p:xfrm>
          <a:off x="68677" y="431020"/>
          <a:ext cx="10776902" cy="1026934"/>
        </p:xfrm>
        <a:graphic>
          <a:graphicData uri="http://schemas.openxmlformats.org/drawingml/2006/table">
            <a:tbl>
              <a:tblPr firstRow="1" bandRow="1">
                <a:tableStyleId>{3C2FFA5D-87B4-456A-9821-1D502468CF0F}</a:tableStyleId>
              </a:tblPr>
              <a:tblGrid>
                <a:gridCol w="1328336">
                  <a:extLst>
                    <a:ext uri="{9D8B030D-6E8A-4147-A177-3AD203B41FA5}">
                      <a16:colId xmlns:a16="http://schemas.microsoft.com/office/drawing/2014/main" val="869603910"/>
                    </a:ext>
                  </a:extLst>
                </a:gridCol>
                <a:gridCol w="1180001">
                  <a:extLst>
                    <a:ext uri="{9D8B030D-6E8A-4147-A177-3AD203B41FA5}">
                      <a16:colId xmlns:a16="http://schemas.microsoft.com/office/drawing/2014/main" val="238663902"/>
                    </a:ext>
                  </a:extLst>
                </a:gridCol>
                <a:gridCol w="1211000">
                  <a:extLst>
                    <a:ext uri="{9D8B030D-6E8A-4147-A177-3AD203B41FA5}">
                      <a16:colId xmlns:a16="http://schemas.microsoft.com/office/drawing/2014/main" val="4114365151"/>
                    </a:ext>
                  </a:extLst>
                </a:gridCol>
                <a:gridCol w="1275203">
                  <a:extLst>
                    <a:ext uri="{9D8B030D-6E8A-4147-A177-3AD203B41FA5}">
                      <a16:colId xmlns:a16="http://schemas.microsoft.com/office/drawing/2014/main" val="4075178046"/>
                    </a:ext>
                  </a:extLst>
                </a:gridCol>
                <a:gridCol w="1361437">
                  <a:extLst>
                    <a:ext uri="{9D8B030D-6E8A-4147-A177-3AD203B41FA5}">
                      <a16:colId xmlns:a16="http://schemas.microsoft.com/office/drawing/2014/main" val="973533418"/>
                    </a:ext>
                  </a:extLst>
                </a:gridCol>
                <a:gridCol w="1041621">
                  <a:extLst>
                    <a:ext uri="{9D8B030D-6E8A-4147-A177-3AD203B41FA5}">
                      <a16:colId xmlns:a16="http://schemas.microsoft.com/office/drawing/2014/main" val="2377711782"/>
                    </a:ext>
                  </a:extLst>
                </a:gridCol>
                <a:gridCol w="1661822">
                  <a:extLst>
                    <a:ext uri="{9D8B030D-6E8A-4147-A177-3AD203B41FA5}">
                      <a16:colId xmlns:a16="http://schemas.microsoft.com/office/drawing/2014/main" val="1078464214"/>
                    </a:ext>
                  </a:extLst>
                </a:gridCol>
                <a:gridCol w="1717482">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Fixed/Consumption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 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 name="文本框 2">
            <a:extLst>
              <a:ext uri="{FF2B5EF4-FFF2-40B4-BE49-F238E27FC236}">
                <a16:creationId xmlns:a16="http://schemas.microsoft.com/office/drawing/2014/main" id="{7D9FE17B-18BB-711D-2E91-6427EC4A3784}"/>
              </a:ext>
            </a:extLst>
          </p:cNvPr>
          <p:cNvSpPr txBox="1"/>
          <p:nvPr/>
        </p:nvSpPr>
        <p:spPr>
          <a:xfrm>
            <a:off x="9718262" y="1591188"/>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6" name="对话气泡: 矩形 5">
            <a:extLst>
              <a:ext uri="{FF2B5EF4-FFF2-40B4-BE49-F238E27FC236}">
                <a16:creationId xmlns:a16="http://schemas.microsoft.com/office/drawing/2014/main" id="{4341F086-04CA-9B65-A69C-CF3B8D78214D}"/>
              </a:ext>
            </a:extLst>
          </p:cNvPr>
          <p:cNvSpPr/>
          <p:nvPr/>
        </p:nvSpPr>
        <p:spPr>
          <a:xfrm>
            <a:off x="2248907" y="3361618"/>
            <a:ext cx="3522268" cy="627867"/>
          </a:xfrm>
          <a:prstGeom prst="wedgeRectCallout">
            <a:avLst>
              <a:gd name="adj1" fmla="val 80732"/>
              <a:gd name="adj2" fmla="val -13837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If Device was lost or stolen, then AFE will recognize broker sales on ET request</a:t>
            </a:r>
            <a:endParaRPr lang="zh-CN" altLang="en-US" sz="1200">
              <a:solidFill>
                <a:schemeClr val="tx1"/>
              </a:solidFill>
            </a:endParaRPr>
          </a:p>
        </p:txBody>
      </p:sp>
      <p:sp>
        <p:nvSpPr>
          <p:cNvPr id="7" name="Rectangle 2">
            <a:extLst>
              <a:ext uri="{FF2B5EF4-FFF2-40B4-BE49-F238E27FC236}">
                <a16:creationId xmlns:a16="http://schemas.microsoft.com/office/drawing/2014/main" id="{17EB874D-0076-A07C-D10F-D895EED7858C}"/>
              </a:ext>
            </a:extLst>
          </p:cNvPr>
          <p:cNvSpPr/>
          <p:nvPr/>
        </p:nvSpPr>
        <p:spPr>
          <a:xfrm>
            <a:off x="6427326" y="2544116"/>
            <a:ext cx="5228747" cy="338554"/>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graphicFrame>
        <p:nvGraphicFramePr>
          <p:cNvPr id="8" name="表格 7">
            <a:extLst>
              <a:ext uri="{FF2B5EF4-FFF2-40B4-BE49-F238E27FC236}">
                <a16:creationId xmlns:a16="http://schemas.microsoft.com/office/drawing/2014/main" id="{6F2DF269-D1B6-015A-8773-4B52665E1DC9}"/>
              </a:ext>
            </a:extLst>
          </p:cNvPr>
          <p:cNvGraphicFramePr>
            <a:graphicFrameLocks noGrp="1"/>
          </p:cNvGraphicFramePr>
          <p:nvPr>
            <p:extLst>
              <p:ext uri="{D42A27DB-BD31-4B8C-83A1-F6EECF244321}">
                <p14:modId xmlns:p14="http://schemas.microsoft.com/office/powerpoint/2010/main" val="4196851461"/>
              </p:ext>
            </p:extLst>
          </p:nvPr>
        </p:nvGraphicFramePr>
        <p:xfrm>
          <a:off x="5986848" y="4461046"/>
          <a:ext cx="5734948" cy="1359805"/>
        </p:xfrm>
        <a:graphic>
          <a:graphicData uri="http://schemas.openxmlformats.org/drawingml/2006/table">
            <a:tbl>
              <a:tblPr/>
              <a:tblGrid>
                <a:gridCol w="428381">
                  <a:extLst>
                    <a:ext uri="{9D8B030D-6E8A-4147-A177-3AD203B41FA5}">
                      <a16:colId xmlns:a16="http://schemas.microsoft.com/office/drawing/2014/main" val="495084399"/>
                    </a:ext>
                  </a:extLst>
                </a:gridCol>
                <a:gridCol w="245525">
                  <a:extLst>
                    <a:ext uri="{9D8B030D-6E8A-4147-A177-3AD203B41FA5}">
                      <a16:colId xmlns:a16="http://schemas.microsoft.com/office/drawing/2014/main" val="3614210242"/>
                    </a:ext>
                  </a:extLst>
                </a:gridCol>
                <a:gridCol w="611763">
                  <a:extLst>
                    <a:ext uri="{9D8B030D-6E8A-4147-A177-3AD203B41FA5}">
                      <a16:colId xmlns:a16="http://schemas.microsoft.com/office/drawing/2014/main" val="1442124609"/>
                    </a:ext>
                  </a:extLst>
                </a:gridCol>
                <a:gridCol w="1926999">
                  <a:extLst>
                    <a:ext uri="{9D8B030D-6E8A-4147-A177-3AD203B41FA5}">
                      <a16:colId xmlns:a16="http://schemas.microsoft.com/office/drawing/2014/main" val="3603859997"/>
                    </a:ext>
                  </a:extLst>
                </a:gridCol>
                <a:gridCol w="420380">
                  <a:extLst>
                    <a:ext uri="{9D8B030D-6E8A-4147-A177-3AD203B41FA5}">
                      <a16:colId xmlns:a16="http://schemas.microsoft.com/office/drawing/2014/main" val="4076488391"/>
                    </a:ext>
                  </a:extLst>
                </a:gridCol>
                <a:gridCol w="420380">
                  <a:extLst>
                    <a:ext uri="{9D8B030D-6E8A-4147-A177-3AD203B41FA5}">
                      <a16:colId xmlns:a16="http://schemas.microsoft.com/office/drawing/2014/main" val="3254101706"/>
                    </a:ext>
                  </a:extLst>
                </a:gridCol>
                <a:gridCol w="420380">
                  <a:extLst>
                    <a:ext uri="{9D8B030D-6E8A-4147-A177-3AD203B41FA5}">
                      <a16:colId xmlns:a16="http://schemas.microsoft.com/office/drawing/2014/main" val="3712391277"/>
                    </a:ext>
                  </a:extLst>
                </a:gridCol>
                <a:gridCol w="420380">
                  <a:extLst>
                    <a:ext uri="{9D8B030D-6E8A-4147-A177-3AD203B41FA5}">
                      <a16:colId xmlns:a16="http://schemas.microsoft.com/office/drawing/2014/main" val="2527660299"/>
                    </a:ext>
                  </a:extLst>
                </a:gridCol>
                <a:gridCol w="420380">
                  <a:extLst>
                    <a:ext uri="{9D8B030D-6E8A-4147-A177-3AD203B41FA5}">
                      <a16:colId xmlns:a16="http://schemas.microsoft.com/office/drawing/2014/main" val="3641075278"/>
                    </a:ext>
                  </a:extLst>
                </a:gridCol>
                <a:gridCol w="420380">
                  <a:extLst>
                    <a:ext uri="{9D8B030D-6E8A-4147-A177-3AD203B41FA5}">
                      <a16:colId xmlns:a16="http://schemas.microsoft.com/office/drawing/2014/main" val="3618613915"/>
                    </a:ext>
                  </a:extLst>
                </a:gridCol>
              </a:tblGrid>
              <a:tr h="225902">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29918">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29918">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22468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2468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22468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9" name="表格 8">
            <a:extLst>
              <a:ext uri="{FF2B5EF4-FFF2-40B4-BE49-F238E27FC236}">
                <a16:creationId xmlns:a16="http://schemas.microsoft.com/office/drawing/2014/main" id="{E955405B-B9F5-D71F-12F6-5CA432329B8A}"/>
              </a:ext>
            </a:extLst>
          </p:cNvPr>
          <p:cNvGraphicFramePr>
            <a:graphicFrameLocks noGrp="1"/>
          </p:cNvGraphicFramePr>
          <p:nvPr>
            <p:extLst>
              <p:ext uri="{D42A27DB-BD31-4B8C-83A1-F6EECF244321}">
                <p14:modId xmlns:p14="http://schemas.microsoft.com/office/powerpoint/2010/main" val="3909696684"/>
              </p:ext>
            </p:extLst>
          </p:nvPr>
        </p:nvGraphicFramePr>
        <p:xfrm>
          <a:off x="68677" y="4429367"/>
          <a:ext cx="5702497" cy="1391484"/>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430586">
                  <a:extLst>
                    <a:ext uri="{9D8B030D-6E8A-4147-A177-3AD203B41FA5}">
                      <a16:colId xmlns:a16="http://schemas.microsoft.com/office/drawing/2014/main" val="4076488391"/>
                    </a:ext>
                  </a:extLst>
                </a:gridCol>
                <a:gridCol w="430586">
                  <a:extLst>
                    <a:ext uri="{9D8B030D-6E8A-4147-A177-3AD203B41FA5}">
                      <a16:colId xmlns:a16="http://schemas.microsoft.com/office/drawing/2014/main" val="3254101706"/>
                    </a:ext>
                  </a:extLst>
                </a:gridCol>
                <a:gridCol w="430586">
                  <a:extLst>
                    <a:ext uri="{9D8B030D-6E8A-4147-A177-3AD203B41FA5}">
                      <a16:colId xmlns:a16="http://schemas.microsoft.com/office/drawing/2014/main" val="3712391277"/>
                    </a:ext>
                  </a:extLst>
                </a:gridCol>
                <a:gridCol w="430586">
                  <a:extLst>
                    <a:ext uri="{9D8B030D-6E8A-4147-A177-3AD203B41FA5}">
                      <a16:colId xmlns:a16="http://schemas.microsoft.com/office/drawing/2014/main" val="2527660299"/>
                    </a:ext>
                  </a:extLst>
                </a:gridCol>
                <a:gridCol w="430586">
                  <a:extLst>
                    <a:ext uri="{9D8B030D-6E8A-4147-A177-3AD203B41FA5}">
                      <a16:colId xmlns:a16="http://schemas.microsoft.com/office/drawing/2014/main" val="3641075278"/>
                    </a:ext>
                  </a:extLst>
                </a:gridCol>
                <a:gridCol w="430586">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ET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bl>
          </a:graphicData>
        </a:graphic>
      </p:graphicFrame>
      <p:sp>
        <p:nvSpPr>
          <p:cNvPr id="11" name="Speech Bubble: Rectangle with Corners Rounded 7">
            <a:extLst>
              <a:ext uri="{FF2B5EF4-FFF2-40B4-BE49-F238E27FC236}">
                <a16:creationId xmlns:a16="http://schemas.microsoft.com/office/drawing/2014/main" id="{B20BA2A6-18BA-6248-5037-0BE3FA6EAEB2}"/>
              </a:ext>
            </a:extLst>
          </p:cNvPr>
          <p:cNvSpPr/>
          <p:nvPr/>
        </p:nvSpPr>
        <p:spPr>
          <a:xfrm>
            <a:off x="6096001" y="3734097"/>
            <a:ext cx="5415516" cy="623673"/>
          </a:xfrm>
          <a:prstGeom prst="wedgeRoundRectCallout">
            <a:avLst>
              <a:gd name="adj1" fmla="val -29448"/>
              <a:gd name="adj2" fmla="val -131281"/>
              <a:gd name="adj3" fmla="val 1666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 EMEA S&amp;D Model rollout extra recorded in interest income</a:t>
            </a:r>
            <a:r>
              <a:rPr lang="zh-CN" altLang="en-US" sz="1200">
                <a:solidFill>
                  <a:schemeClr val="tx1"/>
                </a:solidFill>
              </a:rPr>
              <a:t> </a:t>
            </a:r>
            <a:r>
              <a:rPr lang="en-US" altLang="zh-CN" sz="1200">
                <a:solidFill>
                  <a:schemeClr val="tx1"/>
                </a:solidFill>
              </a:rPr>
              <a:t>(ongoing service </a:t>
            </a:r>
            <a:r>
              <a:rPr lang="en-US" altLang="zh-CN" sz="1200" err="1">
                <a:solidFill>
                  <a:schemeClr val="tx1"/>
                </a:solidFill>
              </a:rPr>
              <a:t>PoB</a:t>
            </a:r>
            <a:r>
              <a:rPr lang="en-US" altLang="zh-CN" sz="1200">
                <a:solidFill>
                  <a:schemeClr val="tx1"/>
                </a:solidFill>
              </a:rPr>
              <a:t> have not met upon ET )</a:t>
            </a:r>
          </a:p>
          <a:p>
            <a:r>
              <a:rPr lang="en-US" sz="1200">
                <a:solidFill>
                  <a:schemeClr val="tx1"/>
                </a:solidFill>
              </a:rPr>
              <a:t>Now confirmed with Accounting that change to service revenue</a:t>
            </a:r>
          </a:p>
        </p:txBody>
      </p:sp>
      <p:sp>
        <p:nvSpPr>
          <p:cNvPr id="12" name="Rectangle 2">
            <a:extLst>
              <a:ext uri="{FF2B5EF4-FFF2-40B4-BE49-F238E27FC236}">
                <a16:creationId xmlns:a16="http://schemas.microsoft.com/office/drawing/2014/main" id="{A5D08257-7E4E-6E6A-DA8B-D020213C900E}"/>
              </a:ext>
            </a:extLst>
          </p:cNvPr>
          <p:cNvSpPr/>
          <p:nvPr/>
        </p:nvSpPr>
        <p:spPr>
          <a:xfrm>
            <a:off x="6427326" y="3036330"/>
            <a:ext cx="5228747" cy="231410"/>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Tree>
    <p:extLst>
      <p:ext uri="{BB962C8B-B14F-4D97-AF65-F5344CB8AC3E}">
        <p14:creationId xmlns:p14="http://schemas.microsoft.com/office/powerpoint/2010/main" val="310196398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6FDE87-227D-9EAA-32B4-9CCB2AC3C608}"/>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DAFD71E1-E1E4-CC21-EE8D-A987EEB38971}"/>
              </a:ext>
            </a:extLst>
          </p:cNvPr>
          <p:cNvGraphicFramePr>
            <a:graphicFrameLocks noGrp="1"/>
          </p:cNvGraphicFramePr>
          <p:nvPr>
            <p:extLst>
              <p:ext uri="{D42A27DB-BD31-4B8C-83A1-F6EECF244321}">
                <p14:modId xmlns:p14="http://schemas.microsoft.com/office/powerpoint/2010/main" val="3116442372"/>
              </p:ext>
            </p:extLst>
          </p:nvPr>
        </p:nvGraphicFramePr>
        <p:xfrm>
          <a:off x="5991768" y="1619049"/>
          <a:ext cx="5734950" cy="2066991"/>
        </p:xfrm>
        <a:graphic>
          <a:graphicData uri="http://schemas.openxmlformats.org/drawingml/2006/table">
            <a:tbl>
              <a:tblPr/>
              <a:tblGrid>
                <a:gridCol w="489662">
                  <a:extLst>
                    <a:ext uri="{9D8B030D-6E8A-4147-A177-3AD203B41FA5}">
                      <a16:colId xmlns:a16="http://schemas.microsoft.com/office/drawing/2014/main" val="495084399"/>
                    </a:ext>
                  </a:extLst>
                </a:gridCol>
                <a:gridCol w="256427">
                  <a:extLst>
                    <a:ext uri="{9D8B030D-6E8A-4147-A177-3AD203B41FA5}">
                      <a16:colId xmlns:a16="http://schemas.microsoft.com/office/drawing/2014/main" val="3614210242"/>
                    </a:ext>
                  </a:extLst>
                </a:gridCol>
                <a:gridCol w="610264">
                  <a:extLst>
                    <a:ext uri="{9D8B030D-6E8A-4147-A177-3AD203B41FA5}">
                      <a16:colId xmlns:a16="http://schemas.microsoft.com/office/drawing/2014/main" val="1442124609"/>
                    </a:ext>
                  </a:extLst>
                </a:gridCol>
                <a:gridCol w="1957105">
                  <a:extLst>
                    <a:ext uri="{9D8B030D-6E8A-4147-A177-3AD203B41FA5}">
                      <a16:colId xmlns:a16="http://schemas.microsoft.com/office/drawing/2014/main" val="3603859997"/>
                    </a:ext>
                  </a:extLst>
                </a:gridCol>
                <a:gridCol w="403582">
                  <a:extLst>
                    <a:ext uri="{9D8B030D-6E8A-4147-A177-3AD203B41FA5}">
                      <a16:colId xmlns:a16="http://schemas.microsoft.com/office/drawing/2014/main" val="4076488391"/>
                    </a:ext>
                  </a:extLst>
                </a:gridCol>
                <a:gridCol w="403582">
                  <a:extLst>
                    <a:ext uri="{9D8B030D-6E8A-4147-A177-3AD203B41FA5}">
                      <a16:colId xmlns:a16="http://schemas.microsoft.com/office/drawing/2014/main" val="3254101706"/>
                    </a:ext>
                  </a:extLst>
                </a:gridCol>
                <a:gridCol w="403582">
                  <a:extLst>
                    <a:ext uri="{9D8B030D-6E8A-4147-A177-3AD203B41FA5}">
                      <a16:colId xmlns:a16="http://schemas.microsoft.com/office/drawing/2014/main" val="3712391277"/>
                    </a:ext>
                  </a:extLst>
                </a:gridCol>
                <a:gridCol w="403582">
                  <a:extLst>
                    <a:ext uri="{9D8B030D-6E8A-4147-A177-3AD203B41FA5}">
                      <a16:colId xmlns:a16="http://schemas.microsoft.com/office/drawing/2014/main" val="2527660299"/>
                    </a:ext>
                  </a:extLst>
                </a:gridCol>
                <a:gridCol w="403582">
                  <a:extLst>
                    <a:ext uri="{9D8B030D-6E8A-4147-A177-3AD203B41FA5}">
                      <a16:colId xmlns:a16="http://schemas.microsoft.com/office/drawing/2014/main" val="3641075278"/>
                    </a:ext>
                  </a:extLst>
                </a:gridCol>
                <a:gridCol w="403582">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10822268"/>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chemeClr val="tx1"/>
                          </a:solidFill>
                          <a:effectLst/>
                          <a:latin typeface="+mn-lt"/>
                          <a:ea typeface="+mn-ea"/>
                          <a:cs typeface="+mn-cs"/>
                        </a:rPr>
                        <a:t>Broker Sales</a:t>
                      </a:r>
                      <a:r>
                        <a:rPr lang="en-US" altLang="zh-CN" sz="1000" b="0" i="0" u="none" strike="noStrike" kern="1200">
                          <a:solidFill>
                            <a:schemeClr val="tx1"/>
                          </a:solidFill>
                          <a:effectLst/>
                          <a:latin typeface="+mn-lt"/>
                          <a:ea typeface="+mn-ea"/>
                          <a:cs typeface="+mn-cs"/>
                        </a:rPr>
                        <a:t>(applicable for No Device return)</a:t>
                      </a:r>
                      <a:endParaRPr lang="en-US"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1000" b="0" i="0" u="none" strike="noStrike" kern="1200">
                          <a:solidFill>
                            <a:schemeClr val="tx1"/>
                          </a:solidFill>
                          <a:effectLst/>
                          <a:latin typeface="+mn-lt"/>
                          <a:ea typeface="+mn-ea"/>
                          <a:cs typeface="+mn-cs"/>
                        </a:rPr>
                        <a:t>XG</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29071992"/>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chemeClr val="tx1"/>
                          </a:solidFill>
                          <a:effectLst/>
                          <a:latin typeface="+mn-lt"/>
                          <a:ea typeface="+mn-ea"/>
                          <a:cs typeface="+mn-cs"/>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chemeClr val="tx1"/>
                          </a:solidFill>
                          <a:effectLst/>
                          <a:latin typeface="+mn-lt"/>
                          <a:ea typeface="+mn-ea"/>
                          <a:cs typeface="+mn-cs"/>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chemeClr val="tx1"/>
                          </a:solidFill>
                          <a:effectLst/>
                          <a:latin typeface="+mn-lt"/>
                          <a:ea typeface="+mn-ea"/>
                          <a:cs typeface="+mn-cs"/>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chemeClr val="tx1"/>
                          </a:solidFill>
                          <a:effectLst/>
                          <a:latin typeface="+mn-lt"/>
                          <a:ea typeface="+mn-ea"/>
                          <a:cs typeface="+mn-cs"/>
                        </a:rPr>
                        <a:t>AR- Upfront service one time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1000" b="0" i="0" u="none" strike="noStrike" kern="1200">
                        <a:solidFill>
                          <a:schemeClr val="tx1"/>
                        </a:solidFill>
                        <a:effectLst/>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6067991"/>
                  </a:ext>
                </a:extLst>
              </a:tr>
            </a:tbl>
          </a:graphicData>
        </a:graphic>
      </p:graphicFrame>
      <p:sp>
        <p:nvSpPr>
          <p:cNvPr id="28" name="文本框 27">
            <a:extLst>
              <a:ext uri="{FF2B5EF4-FFF2-40B4-BE49-F238E27FC236}">
                <a16:creationId xmlns:a16="http://schemas.microsoft.com/office/drawing/2014/main" id="{4BCA2446-3456-4421-760F-79C9D34E3B4E}"/>
              </a:ext>
            </a:extLst>
          </p:cNvPr>
          <p:cNvSpPr txBox="1"/>
          <p:nvPr/>
        </p:nvSpPr>
        <p:spPr>
          <a:xfrm>
            <a:off x="-40473" y="34649"/>
            <a:ext cx="4470947" cy="400110"/>
          </a:xfrm>
          <a:prstGeom prst="rect">
            <a:avLst/>
          </a:prstGeom>
          <a:noFill/>
        </p:spPr>
        <p:txBody>
          <a:bodyPr wrap="square" rtlCol="0">
            <a:spAutoFit/>
          </a:bodyPr>
          <a:lstStyle/>
          <a:p>
            <a:r>
              <a:rPr lang="nl-NL" altLang="zh-CN" sz="2000" b="1"/>
              <a:t>IaaS_AFE_MSA</a:t>
            </a:r>
            <a:endParaRPr lang="zh-CN" altLang="en-US" sz="2000" b="1"/>
          </a:p>
        </p:txBody>
      </p:sp>
      <p:graphicFrame>
        <p:nvGraphicFramePr>
          <p:cNvPr id="4" name="表格 3">
            <a:extLst>
              <a:ext uri="{FF2B5EF4-FFF2-40B4-BE49-F238E27FC236}">
                <a16:creationId xmlns:a16="http://schemas.microsoft.com/office/drawing/2014/main" id="{56AE2239-6017-7806-3F61-0DEE49649090}"/>
              </a:ext>
            </a:extLst>
          </p:cNvPr>
          <p:cNvGraphicFramePr>
            <a:graphicFrameLocks noGrp="1"/>
          </p:cNvGraphicFramePr>
          <p:nvPr>
            <p:extLst>
              <p:ext uri="{D42A27DB-BD31-4B8C-83A1-F6EECF244321}">
                <p14:modId xmlns:p14="http://schemas.microsoft.com/office/powerpoint/2010/main" val="3239312355"/>
              </p:ext>
            </p:extLst>
          </p:nvPr>
        </p:nvGraphicFramePr>
        <p:xfrm>
          <a:off x="6096000" y="4741755"/>
          <a:ext cx="5734948" cy="1359805"/>
        </p:xfrm>
        <a:graphic>
          <a:graphicData uri="http://schemas.openxmlformats.org/drawingml/2006/table">
            <a:tbl>
              <a:tblPr/>
              <a:tblGrid>
                <a:gridCol w="428381">
                  <a:extLst>
                    <a:ext uri="{9D8B030D-6E8A-4147-A177-3AD203B41FA5}">
                      <a16:colId xmlns:a16="http://schemas.microsoft.com/office/drawing/2014/main" val="495084399"/>
                    </a:ext>
                  </a:extLst>
                </a:gridCol>
                <a:gridCol w="245525">
                  <a:extLst>
                    <a:ext uri="{9D8B030D-6E8A-4147-A177-3AD203B41FA5}">
                      <a16:colId xmlns:a16="http://schemas.microsoft.com/office/drawing/2014/main" val="3614210242"/>
                    </a:ext>
                  </a:extLst>
                </a:gridCol>
                <a:gridCol w="611763">
                  <a:extLst>
                    <a:ext uri="{9D8B030D-6E8A-4147-A177-3AD203B41FA5}">
                      <a16:colId xmlns:a16="http://schemas.microsoft.com/office/drawing/2014/main" val="1442124609"/>
                    </a:ext>
                  </a:extLst>
                </a:gridCol>
                <a:gridCol w="1926999">
                  <a:extLst>
                    <a:ext uri="{9D8B030D-6E8A-4147-A177-3AD203B41FA5}">
                      <a16:colId xmlns:a16="http://schemas.microsoft.com/office/drawing/2014/main" val="3603859997"/>
                    </a:ext>
                  </a:extLst>
                </a:gridCol>
                <a:gridCol w="420380">
                  <a:extLst>
                    <a:ext uri="{9D8B030D-6E8A-4147-A177-3AD203B41FA5}">
                      <a16:colId xmlns:a16="http://schemas.microsoft.com/office/drawing/2014/main" val="4076488391"/>
                    </a:ext>
                  </a:extLst>
                </a:gridCol>
                <a:gridCol w="420380">
                  <a:extLst>
                    <a:ext uri="{9D8B030D-6E8A-4147-A177-3AD203B41FA5}">
                      <a16:colId xmlns:a16="http://schemas.microsoft.com/office/drawing/2014/main" val="3254101706"/>
                    </a:ext>
                  </a:extLst>
                </a:gridCol>
                <a:gridCol w="420380">
                  <a:extLst>
                    <a:ext uri="{9D8B030D-6E8A-4147-A177-3AD203B41FA5}">
                      <a16:colId xmlns:a16="http://schemas.microsoft.com/office/drawing/2014/main" val="3712391277"/>
                    </a:ext>
                  </a:extLst>
                </a:gridCol>
                <a:gridCol w="420380">
                  <a:extLst>
                    <a:ext uri="{9D8B030D-6E8A-4147-A177-3AD203B41FA5}">
                      <a16:colId xmlns:a16="http://schemas.microsoft.com/office/drawing/2014/main" val="2527660299"/>
                    </a:ext>
                  </a:extLst>
                </a:gridCol>
                <a:gridCol w="420380">
                  <a:extLst>
                    <a:ext uri="{9D8B030D-6E8A-4147-A177-3AD203B41FA5}">
                      <a16:colId xmlns:a16="http://schemas.microsoft.com/office/drawing/2014/main" val="3641075278"/>
                    </a:ext>
                  </a:extLst>
                </a:gridCol>
                <a:gridCol w="420380">
                  <a:extLst>
                    <a:ext uri="{9D8B030D-6E8A-4147-A177-3AD203B41FA5}">
                      <a16:colId xmlns:a16="http://schemas.microsoft.com/office/drawing/2014/main" val="3618613915"/>
                    </a:ext>
                  </a:extLst>
                </a:gridCol>
              </a:tblGrid>
              <a:tr h="225902">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29918">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29918">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22468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2468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22468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8DAFEF61-5BE3-BF1A-18DF-BDE546AF2FC7}"/>
              </a:ext>
            </a:extLst>
          </p:cNvPr>
          <p:cNvGraphicFramePr>
            <a:graphicFrameLocks noGrp="1"/>
          </p:cNvGraphicFramePr>
          <p:nvPr>
            <p:extLst>
              <p:ext uri="{D42A27DB-BD31-4B8C-83A1-F6EECF244321}">
                <p14:modId xmlns:p14="http://schemas.microsoft.com/office/powerpoint/2010/main" val="3788005774"/>
              </p:ext>
            </p:extLst>
          </p:nvPr>
        </p:nvGraphicFramePr>
        <p:xfrm>
          <a:off x="68678" y="4710077"/>
          <a:ext cx="5702497" cy="1391484"/>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430586">
                  <a:extLst>
                    <a:ext uri="{9D8B030D-6E8A-4147-A177-3AD203B41FA5}">
                      <a16:colId xmlns:a16="http://schemas.microsoft.com/office/drawing/2014/main" val="4076488391"/>
                    </a:ext>
                  </a:extLst>
                </a:gridCol>
                <a:gridCol w="430586">
                  <a:extLst>
                    <a:ext uri="{9D8B030D-6E8A-4147-A177-3AD203B41FA5}">
                      <a16:colId xmlns:a16="http://schemas.microsoft.com/office/drawing/2014/main" val="3254101706"/>
                    </a:ext>
                  </a:extLst>
                </a:gridCol>
                <a:gridCol w="430586">
                  <a:extLst>
                    <a:ext uri="{9D8B030D-6E8A-4147-A177-3AD203B41FA5}">
                      <a16:colId xmlns:a16="http://schemas.microsoft.com/office/drawing/2014/main" val="3712391277"/>
                    </a:ext>
                  </a:extLst>
                </a:gridCol>
                <a:gridCol w="430586">
                  <a:extLst>
                    <a:ext uri="{9D8B030D-6E8A-4147-A177-3AD203B41FA5}">
                      <a16:colId xmlns:a16="http://schemas.microsoft.com/office/drawing/2014/main" val="2527660299"/>
                    </a:ext>
                  </a:extLst>
                </a:gridCol>
                <a:gridCol w="430586">
                  <a:extLst>
                    <a:ext uri="{9D8B030D-6E8A-4147-A177-3AD203B41FA5}">
                      <a16:colId xmlns:a16="http://schemas.microsoft.com/office/drawing/2014/main" val="3641075278"/>
                    </a:ext>
                  </a:extLst>
                </a:gridCol>
                <a:gridCol w="430586">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ET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bl>
          </a:graphicData>
        </a:graphic>
      </p:graphicFrame>
      <p:graphicFrame>
        <p:nvGraphicFramePr>
          <p:cNvPr id="3" name="表格 29">
            <a:extLst>
              <a:ext uri="{FF2B5EF4-FFF2-40B4-BE49-F238E27FC236}">
                <a16:creationId xmlns:a16="http://schemas.microsoft.com/office/drawing/2014/main" id="{5CEA426C-D517-4FAB-3596-4EF6EC918E4B}"/>
              </a:ext>
            </a:extLst>
          </p:cNvPr>
          <p:cNvGraphicFramePr>
            <a:graphicFrameLocks noGrp="1"/>
          </p:cNvGraphicFramePr>
          <p:nvPr>
            <p:extLst>
              <p:ext uri="{D42A27DB-BD31-4B8C-83A1-F6EECF244321}">
                <p14:modId xmlns:p14="http://schemas.microsoft.com/office/powerpoint/2010/main" val="3431064743"/>
              </p:ext>
            </p:extLst>
          </p:nvPr>
        </p:nvGraphicFramePr>
        <p:xfrm>
          <a:off x="68678" y="431020"/>
          <a:ext cx="10506557" cy="1026934"/>
        </p:xfrm>
        <a:graphic>
          <a:graphicData uri="http://schemas.openxmlformats.org/drawingml/2006/table">
            <a:tbl>
              <a:tblPr firstRow="1" bandRow="1">
                <a:tableStyleId>{3C2FFA5D-87B4-456A-9821-1D502468CF0F}</a:tableStyleId>
              </a:tblPr>
              <a:tblGrid>
                <a:gridCol w="1561339">
                  <a:extLst>
                    <a:ext uri="{9D8B030D-6E8A-4147-A177-3AD203B41FA5}">
                      <a16:colId xmlns:a16="http://schemas.microsoft.com/office/drawing/2014/main" val="869603910"/>
                    </a:ext>
                  </a:extLst>
                </a:gridCol>
                <a:gridCol w="882655">
                  <a:extLst>
                    <a:ext uri="{9D8B030D-6E8A-4147-A177-3AD203B41FA5}">
                      <a16:colId xmlns:a16="http://schemas.microsoft.com/office/drawing/2014/main" val="238663902"/>
                    </a:ext>
                  </a:extLst>
                </a:gridCol>
                <a:gridCol w="1179935">
                  <a:extLst>
                    <a:ext uri="{9D8B030D-6E8A-4147-A177-3AD203B41FA5}">
                      <a16:colId xmlns:a16="http://schemas.microsoft.com/office/drawing/2014/main" val="4114365151"/>
                    </a:ext>
                  </a:extLst>
                </a:gridCol>
                <a:gridCol w="1242491">
                  <a:extLst>
                    <a:ext uri="{9D8B030D-6E8A-4147-A177-3AD203B41FA5}">
                      <a16:colId xmlns:a16="http://schemas.microsoft.com/office/drawing/2014/main" val="4075178046"/>
                    </a:ext>
                  </a:extLst>
                </a:gridCol>
                <a:gridCol w="1498932">
                  <a:extLst>
                    <a:ext uri="{9D8B030D-6E8A-4147-A177-3AD203B41FA5}">
                      <a16:colId xmlns:a16="http://schemas.microsoft.com/office/drawing/2014/main" val="973533418"/>
                    </a:ext>
                  </a:extLst>
                </a:gridCol>
                <a:gridCol w="1336398">
                  <a:extLst>
                    <a:ext uri="{9D8B030D-6E8A-4147-A177-3AD203B41FA5}">
                      <a16:colId xmlns:a16="http://schemas.microsoft.com/office/drawing/2014/main" val="2377711782"/>
                    </a:ext>
                  </a:extLst>
                </a:gridCol>
                <a:gridCol w="1174789">
                  <a:extLst>
                    <a:ext uri="{9D8B030D-6E8A-4147-A177-3AD203B41FA5}">
                      <a16:colId xmlns:a16="http://schemas.microsoft.com/office/drawing/2014/main" val="1078464214"/>
                    </a:ext>
                  </a:extLst>
                </a:gridCol>
                <a:gridCol w="1630018">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Fixed/Consumption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 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6" name="文本框 5">
            <a:extLst>
              <a:ext uri="{FF2B5EF4-FFF2-40B4-BE49-F238E27FC236}">
                <a16:creationId xmlns:a16="http://schemas.microsoft.com/office/drawing/2014/main" id="{48373879-B937-FCFB-E735-40CC29AF4079}"/>
              </a:ext>
            </a:extLst>
          </p:cNvPr>
          <p:cNvSpPr txBox="1"/>
          <p:nvPr/>
        </p:nvSpPr>
        <p:spPr>
          <a:xfrm>
            <a:off x="9811038" y="1627000"/>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2" name="对话气泡: 矩形 1">
            <a:extLst>
              <a:ext uri="{FF2B5EF4-FFF2-40B4-BE49-F238E27FC236}">
                <a16:creationId xmlns:a16="http://schemas.microsoft.com/office/drawing/2014/main" id="{02037CE8-34C5-81B7-4900-D9DEBF453C5E}"/>
              </a:ext>
            </a:extLst>
          </p:cNvPr>
          <p:cNvSpPr/>
          <p:nvPr/>
        </p:nvSpPr>
        <p:spPr>
          <a:xfrm>
            <a:off x="2255995" y="2782418"/>
            <a:ext cx="3522268" cy="627867"/>
          </a:xfrm>
          <a:prstGeom prst="wedgeRectCallout">
            <a:avLst>
              <a:gd name="adj1" fmla="val 73688"/>
              <a:gd name="adj2" fmla="val -4128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If Device was lost or stolen, then AFE will recognize broker sales on ET request</a:t>
            </a:r>
            <a:endParaRPr lang="zh-CN" altLang="en-US" sz="1200">
              <a:solidFill>
                <a:schemeClr val="tx1"/>
              </a:solidFill>
            </a:endParaRPr>
          </a:p>
        </p:txBody>
      </p:sp>
      <p:sp>
        <p:nvSpPr>
          <p:cNvPr id="7" name="Rectangle 2">
            <a:extLst>
              <a:ext uri="{FF2B5EF4-FFF2-40B4-BE49-F238E27FC236}">
                <a16:creationId xmlns:a16="http://schemas.microsoft.com/office/drawing/2014/main" id="{E5FDAC9E-EE60-6DB4-A5DD-76628A99FC2C}"/>
              </a:ext>
            </a:extLst>
          </p:cNvPr>
          <p:cNvSpPr/>
          <p:nvPr/>
        </p:nvSpPr>
        <p:spPr>
          <a:xfrm>
            <a:off x="6434414" y="2562868"/>
            <a:ext cx="5228747" cy="338554"/>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8" name="Speech Bubble: Rectangle with Corners Rounded 7">
            <a:extLst>
              <a:ext uri="{FF2B5EF4-FFF2-40B4-BE49-F238E27FC236}">
                <a16:creationId xmlns:a16="http://schemas.microsoft.com/office/drawing/2014/main" id="{2EA78CFF-5AFE-5F79-EDF0-A871EF1BCDDE}"/>
              </a:ext>
            </a:extLst>
          </p:cNvPr>
          <p:cNvSpPr/>
          <p:nvPr/>
        </p:nvSpPr>
        <p:spPr>
          <a:xfrm>
            <a:off x="6152708" y="3845241"/>
            <a:ext cx="5415516" cy="623673"/>
          </a:xfrm>
          <a:prstGeom prst="wedgeRoundRectCallout">
            <a:avLst>
              <a:gd name="adj1" fmla="val -29710"/>
              <a:gd name="adj2" fmla="val -138100"/>
              <a:gd name="adj3" fmla="val 1666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 EMEA S&amp;D Model rollout extra recorded in interest income</a:t>
            </a:r>
            <a:r>
              <a:rPr lang="zh-CN" altLang="en-US" sz="1200">
                <a:solidFill>
                  <a:schemeClr val="tx1"/>
                </a:solidFill>
              </a:rPr>
              <a:t> </a:t>
            </a:r>
            <a:r>
              <a:rPr lang="en-US" altLang="zh-CN" sz="1200">
                <a:solidFill>
                  <a:schemeClr val="tx1"/>
                </a:solidFill>
              </a:rPr>
              <a:t>(ongoing service </a:t>
            </a:r>
            <a:r>
              <a:rPr lang="en-US" altLang="zh-CN" sz="1200" err="1">
                <a:solidFill>
                  <a:schemeClr val="tx1"/>
                </a:solidFill>
              </a:rPr>
              <a:t>PoB</a:t>
            </a:r>
            <a:r>
              <a:rPr lang="en-US" altLang="zh-CN" sz="1200">
                <a:solidFill>
                  <a:schemeClr val="tx1"/>
                </a:solidFill>
              </a:rPr>
              <a:t> have not met upon ET )</a:t>
            </a:r>
          </a:p>
          <a:p>
            <a:r>
              <a:rPr lang="en-US" sz="1200">
                <a:solidFill>
                  <a:schemeClr val="tx1"/>
                </a:solidFill>
              </a:rPr>
              <a:t>Now confirmed with Accounting that change to service revenue</a:t>
            </a:r>
          </a:p>
        </p:txBody>
      </p:sp>
      <p:sp>
        <p:nvSpPr>
          <p:cNvPr id="9" name="Rectangle 2">
            <a:extLst>
              <a:ext uri="{FF2B5EF4-FFF2-40B4-BE49-F238E27FC236}">
                <a16:creationId xmlns:a16="http://schemas.microsoft.com/office/drawing/2014/main" id="{76FC617A-A602-B380-DB9E-DAF1E861012E}"/>
              </a:ext>
            </a:extLst>
          </p:cNvPr>
          <p:cNvSpPr/>
          <p:nvPr/>
        </p:nvSpPr>
        <p:spPr>
          <a:xfrm>
            <a:off x="6497971" y="3059054"/>
            <a:ext cx="5228747" cy="279569"/>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Tree>
    <p:extLst>
      <p:ext uri="{BB962C8B-B14F-4D97-AF65-F5344CB8AC3E}">
        <p14:creationId xmlns:p14="http://schemas.microsoft.com/office/powerpoint/2010/main" val="152073403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8F961B4C-5C25-5171-6FB8-3B8C8DFDF441}"/>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607EE222-085B-5759-D867-D02139011C77}"/>
              </a:ext>
            </a:extLst>
          </p:cNvPr>
          <p:cNvSpPr txBox="1"/>
          <p:nvPr/>
        </p:nvSpPr>
        <p:spPr>
          <a:xfrm>
            <a:off x="195322" y="22705"/>
            <a:ext cx="4470947" cy="400110"/>
          </a:xfrm>
          <a:prstGeom prst="rect">
            <a:avLst/>
          </a:prstGeom>
          <a:noFill/>
        </p:spPr>
        <p:txBody>
          <a:bodyPr wrap="square" rtlCol="0">
            <a:spAutoFit/>
          </a:bodyPr>
          <a:lstStyle/>
          <a:p>
            <a:r>
              <a:rPr lang="nl-NL" altLang="zh-CN" sz="2000" b="1"/>
              <a:t>IaaS_AFE_MSA</a:t>
            </a:r>
            <a:endParaRPr lang="zh-CN" altLang="en-US" sz="2000" b="1"/>
          </a:p>
        </p:txBody>
      </p:sp>
      <p:graphicFrame>
        <p:nvGraphicFramePr>
          <p:cNvPr id="116" name="表格 115">
            <a:extLst>
              <a:ext uri="{FF2B5EF4-FFF2-40B4-BE49-F238E27FC236}">
                <a16:creationId xmlns:a16="http://schemas.microsoft.com/office/drawing/2014/main" id="{0ED94E14-6C2C-E7BF-817E-36288C3AB385}"/>
              </a:ext>
            </a:extLst>
          </p:cNvPr>
          <p:cNvGraphicFramePr>
            <a:graphicFrameLocks noGrp="1"/>
          </p:cNvGraphicFramePr>
          <p:nvPr>
            <p:extLst>
              <p:ext uri="{D42A27DB-BD31-4B8C-83A1-F6EECF244321}">
                <p14:modId xmlns:p14="http://schemas.microsoft.com/office/powerpoint/2010/main" val="1817335494"/>
              </p:ext>
            </p:extLst>
          </p:nvPr>
        </p:nvGraphicFramePr>
        <p:xfrm>
          <a:off x="100070" y="2121873"/>
          <a:ext cx="5890435" cy="3067686"/>
        </p:xfrm>
        <a:graphic>
          <a:graphicData uri="http://schemas.openxmlformats.org/drawingml/2006/table">
            <a:tbl>
              <a:tblPr/>
              <a:tblGrid>
                <a:gridCol w="460618">
                  <a:extLst>
                    <a:ext uri="{9D8B030D-6E8A-4147-A177-3AD203B41FA5}">
                      <a16:colId xmlns:a16="http://schemas.microsoft.com/office/drawing/2014/main" val="495084399"/>
                    </a:ext>
                  </a:extLst>
                </a:gridCol>
                <a:gridCol w="259082">
                  <a:extLst>
                    <a:ext uri="{9D8B030D-6E8A-4147-A177-3AD203B41FA5}">
                      <a16:colId xmlns:a16="http://schemas.microsoft.com/office/drawing/2014/main" val="3614210242"/>
                    </a:ext>
                  </a:extLst>
                </a:gridCol>
                <a:gridCol w="616583">
                  <a:extLst>
                    <a:ext uri="{9D8B030D-6E8A-4147-A177-3AD203B41FA5}">
                      <a16:colId xmlns:a16="http://schemas.microsoft.com/office/drawing/2014/main" val="1442124609"/>
                    </a:ext>
                  </a:extLst>
                </a:gridCol>
                <a:gridCol w="1988894">
                  <a:extLst>
                    <a:ext uri="{9D8B030D-6E8A-4147-A177-3AD203B41FA5}">
                      <a16:colId xmlns:a16="http://schemas.microsoft.com/office/drawing/2014/main" val="3603859997"/>
                    </a:ext>
                  </a:extLst>
                </a:gridCol>
                <a:gridCol w="427543">
                  <a:extLst>
                    <a:ext uri="{9D8B030D-6E8A-4147-A177-3AD203B41FA5}">
                      <a16:colId xmlns:a16="http://schemas.microsoft.com/office/drawing/2014/main" val="4076488391"/>
                    </a:ext>
                  </a:extLst>
                </a:gridCol>
                <a:gridCol w="427543">
                  <a:extLst>
                    <a:ext uri="{9D8B030D-6E8A-4147-A177-3AD203B41FA5}">
                      <a16:colId xmlns:a16="http://schemas.microsoft.com/office/drawing/2014/main" val="3254101706"/>
                    </a:ext>
                  </a:extLst>
                </a:gridCol>
                <a:gridCol w="427543">
                  <a:extLst>
                    <a:ext uri="{9D8B030D-6E8A-4147-A177-3AD203B41FA5}">
                      <a16:colId xmlns:a16="http://schemas.microsoft.com/office/drawing/2014/main" val="363493977"/>
                    </a:ext>
                  </a:extLst>
                </a:gridCol>
                <a:gridCol w="427543">
                  <a:extLst>
                    <a:ext uri="{9D8B030D-6E8A-4147-A177-3AD203B41FA5}">
                      <a16:colId xmlns:a16="http://schemas.microsoft.com/office/drawing/2014/main" val="2527660299"/>
                    </a:ext>
                  </a:extLst>
                </a:gridCol>
                <a:gridCol w="427543">
                  <a:extLst>
                    <a:ext uri="{9D8B030D-6E8A-4147-A177-3AD203B41FA5}">
                      <a16:colId xmlns:a16="http://schemas.microsoft.com/office/drawing/2014/main" val="3641075278"/>
                    </a:ext>
                  </a:extLst>
                </a:gridCol>
                <a:gridCol w="427543">
                  <a:extLst>
                    <a:ext uri="{9D8B030D-6E8A-4147-A177-3AD203B41FA5}">
                      <a16:colId xmlns:a16="http://schemas.microsoft.com/office/drawing/2014/main" val="3618613915"/>
                    </a:ext>
                  </a:extLst>
                </a:gridCol>
              </a:tblGrid>
              <a:tr h="182275">
                <a:tc rowSpan="13">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800" b="1" u="none" strike="noStrike" kern="1200">
                          <a:solidFill>
                            <a:schemeClr val="lt1"/>
                          </a:solidFill>
                          <a:effectLst/>
                          <a:latin typeface="+mn-lt"/>
                          <a:ea typeface="+mn-ea"/>
                          <a:cs typeface="+mn-cs"/>
                        </a:rPr>
                        <a:t>Invoice to AFE for Services Revenue on Early Termination</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9">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a:ln>
                            <a:noFill/>
                          </a:ln>
                          <a:solidFill>
                            <a:srgbClr val="000000"/>
                          </a:solidFill>
                          <a:effectLst/>
                          <a:uLnTx/>
                          <a:uFillTx/>
                          <a:latin typeface="+mn-lt"/>
                          <a:ea typeface="+mn-ea"/>
                          <a:cs typeface="+mn-cs"/>
                        </a:rPr>
                        <a:t>Termination Charge - Charge of Outstanding Service Payments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38798572"/>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sngStrike" kern="1200" cap="none" spc="0" normalizeH="0" baseline="0" noProof="0">
                          <a:ln>
                            <a:noFill/>
                          </a:ln>
                          <a:solidFill>
                            <a:srgbClr val="000000"/>
                          </a:solidFill>
                          <a:effectLst/>
                          <a:uLnTx/>
                          <a:uFillTx/>
                          <a:latin typeface="+mn-lt"/>
                          <a:ea typeface="+mn-ea"/>
                          <a:cs typeface="+mn-cs"/>
                        </a:rPr>
                        <a:t>5010440</a:t>
                      </a:r>
                    </a:p>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36697175"/>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20093426"/>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66222787"/>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03278765"/>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9154779"/>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259188"/>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00164512"/>
                  </a:ext>
                </a:extLst>
              </a:tr>
            </a:tbl>
          </a:graphicData>
        </a:graphic>
      </p:graphicFrame>
      <p:graphicFrame>
        <p:nvGraphicFramePr>
          <p:cNvPr id="10" name="表格 9">
            <a:extLst>
              <a:ext uri="{FF2B5EF4-FFF2-40B4-BE49-F238E27FC236}">
                <a16:creationId xmlns:a16="http://schemas.microsoft.com/office/drawing/2014/main" id="{1E2EAF1D-6F01-B142-2680-5B49DF72BCA3}"/>
              </a:ext>
            </a:extLst>
          </p:cNvPr>
          <p:cNvGraphicFramePr>
            <a:graphicFrameLocks noGrp="1"/>
          </p:cNvGraphicFramePr>
          <p:nvPr>
            <p:extLst>
              <p:ext uri="{D42A27DB-BD31-4B8C-83A1-F6EECF244321}">
                <p14:modId xmlns:p14="http://schemas.microsoft.com/office/powerpoint/2010/main" val="3948313192"/>
              </p:ext>
            </p:extLst>
          </p:nvPr>
        </p:nvGraphicFramePr>
        <p:xfrm>
          <a:off x="6201494" y="402306"/>
          <a:ext cx="5821709" cy="2647129"/>
        </p:xfrm>
        <a:graphic>
          <a:graphicData uri="http://schemas.openxmlformats.org/drawingml/2006/table">
            <a:tbl>
              <a:tblPr/>
              <a:tblGrid>
                <a:gridCol w="485587">
                  <a:extLst>
                    <a:ext uri="{9D8B030D-6E8A-4147-A177-3AD203B41FA5}">
                      <a16:colId xmlns:a16="http://schemas.microsoft.com/office/drawing/2014/main" val="495084399"/>
                    </a:ext>
                  </a:extLst>
                </a:gridCol>
                <a:gridCol w="251165">
                  <a:extLst>
                    <a:ext uri="{9D8B030D-6E8A-4147-A177-3AD203B41FA5}">
                      <a16:colId xmlns:a16="http://schemas.microsoft.com/office/drawing/2014/main" val="3614210242"/>
                    </a:ext>
                  </a:extLst>
                </a:gridCol>
                <a:gridCol w="635425">
                  <a:extLst>
                    <a:ext uri="{9D8B030D-6E8A-4147-A177-3AD203B41FA5}">
                      <a16:colId xmlns:a16="http://schemas.microsoft.com/office/drawing/2014/main" val="1442124609"/>
                    </a:ext>
                  </a:extLst>
                </a:gridCol>
                <a:gridCol w="1885492">
                  <a:extLst>
                    <a:ext uri="{9D8B030D-6E8A-4147-A177-3AD203B41FA5}">
                      <a16:colId xmlns:a16="http://schemas.microsoft.com/office/drawing/2014/main" val="3603859997"/>
                    </a:ext>
                  </a:extLst>
                </a:gridCol>
                <a:gridCol w="427340">
                  <a:extLst>
                    <a:ext uri="{9D8B030D-6E8A-4147-A177-3AD203B41FA5}">
                      <a16:colId xmlns:a16="http://schemas.microsoft.com/office/drawing/2014/main" val="4076488391"/>
                    </a:ext>
                  </a:extLst>
                </a:gridCol>
                <a:gridCol w="427340">
                  <a:extLst>
                    <a:ext uri="{9D8B030D-6E8A-4147-A177-3AD203B41FA5}">
                      <a16:colId xmlns:a16="http://schemas.microsoft.com/office/drawing/2014/main" val="3254101706"/>
                    </a:ext>
                  </a:extLst>
                </a:gridCol>
                <a:gridCol w="427340">
                  <a:extLst>
                    <a:ext uri="{9D8B030D-6E8A-4147-A177-3AD203B41FA5}">
                      <a16:colId xmlns:a16="http://schemas.microsoft.com/office/drawing/2014/main" val="4051557831"/>
                    </a:ext>
                  </a:extLst>
                </a:gridCol>
                <a:gridCol w="427340">
                  <a:extLst>
                    <a:ext uri="{9D8B030D-6E8A-4147-A177-3AD203B41FA5}">
                      <a16:colId xmlns:a16="http://schemas.microsoft.com/office/drawing/2014/main" val="2527660299"/>
                    </a:ext>
                  </a:extLst>
                </a:gridCol>
                <a:gridCol w="427340">
                  <a:extLst>
                    <a:ext uri="{9D8B030D-6E8A-4147-A177-3AD203B41FA5}">
                      <a16:colId xmlns:a16="http://schemas.microsoft.com/office/drawing/2014/main" val="3641075278"/>
                    </a:ext>
                  </a:extLst>
                </a:gridCol>
                <a:gridCol w="427340">
                  <a:extLst>
                    <a:ext uri="{9D8B030D-6E8A-4147-A177-3AD203B41FA5}">
                      <a16:colId xmlns:a16="http://schemas.microsoft.com/office/drawing/2014/main" val="3618613915"/>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p>
                    <a:p>
                      <a:pPr algn="ctr" fontAlgn="base">
                        <a:lnSpc>
                          <a:spcPts val="1425"/>
                        </a:lnSpc>
                        <a:buNone/>
                      </a:pP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a:solidFill>
                            <a:schemeClr val="bg1"/>
                          </a:solidFill>
                          <a:latin typeface="+mn-lt"/>
                          <a:cs typeface="Arial" pitchFamily="34" charset="0"/>
                        </a:rPr>
                        <a:t>Final Monthly invoice from Lenovo to Customer</a:t>
                      </a:r>
                      <a:r>
                        <a:rPr lang="en-US" sz="800" b="1" i="0">
                          <a:solidFill>
                            <a:schemeClr val="bg1"/>
                          </a:solidFill>
                          <a:effectLst/>
                          <a:latin typeface="Arial" panose="020B0604020202020204" pitchFamily="34" charset="0"/>
                        </a:rPr>
                        <a:t>​</a:t>
                      </a:r>
                      <a:endParaRPr lang="en-US" sz="1100" b="1" i="0">
                        <a:solidFill>
                          <a:schemeClr val="bg1"/>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10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1000" b="0" i="0" u="none" strike="noStrike" kern="1200">
                          <a:solidFill>
                            <a:srgbClr val="000000"/>
                          </a:solidFill>
                          <a:effectLst/>
                          <a:latin typeface="+mj-lt"/>
                          <a:ea typeface="+mn-ea"/>
                          <a:cs typeface="+mn-cs"/>
                        </a:rPr>
                        <a:t>Interest Income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80664004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15265391"/>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15518152"/>
                  </a:ext>
                </a:extLst>
              </a:tr>
            </a:tbl>
          </a:graphicData>
        </a:graphic>
      </p:graphicFrame>
      <p:graphicFrame>
        <p:nvGraphicFramePr>
          <p:cNvPr id="6" name="表格 5">
            <a:extLst>
              <a:ext uri="{FF2B5EF4-FFF2-40B4-BE49-F238E27FC236}">
                <a16:creationId xmlns:a16="http://schemas.microsoft.com/office/drawing/2014/main" id="{26C28C4A-D34E-299D-2283-CAC78247B883}"/>
              </a:ext>
            </a:extLst>
          </p:cNvPr>
          <p:cNvGraphicFramePr>
            <a:graphicFrameLocks noGrp="1"/>
          </p:cNvGraphicFramePr>
          <p:nvPr>
            <p:extLst>
              <p:ext uri="{D42A27DB-BD31-4B8C-83A1-F6EECF244321}">
                <p14:modId xmlns:p14="http://schemas.microsoft.com/office/powerpoint/2010/main" val="2370348950"/>
              </p:ext>
            </p:extLst>
          </p:nvPr>
        </p:nvGraphicFramePr>
        <p:xfrm>
          <a:off x="6201493" y="3752167"/>
          <a:ext cx="5821705" cy="2644910"/>
        </p:xfrm>
        <a:graphic>
          <a:graphicData uri="http://schemas.openxmlformats.org/drawingml/2006/table">
            <a:tbl>
              <a:tblPr/>
              <a:tblGrid>
                <a:gridCol w="488358">
                  <a:extLst>
                    <a:ext uri="{9D8B030D-6E8A-4147-A177-3AD203B41FA5}">
                      <a16:colId xmlns:a16="http://schemas.microsoft.com/office/drawing/2014/main" val="495084399"/>
                    </a:ext>
                  </a:extLst>
                </a:gridCol>
                <a:gridCol w="281701">
                  <a:extLst>
                    <a:ext uri="{9D8B030D-6E8A-4147-A177-3AD203B41FA5}">
                      <a16:colId xmlns:a16="http://schemas.microsoft.com/office/drawing/2014/main" val="3614210242"/>
                    </a:ext>
                  </a:extLst>
                </a:gridCol>
                <a:gridCol w="660655">
                  <a:extLst>
                    <a:ext uri="{9D8B030D-6E8A-4147-A177-3AD203B41FA5}">
                      <a16:colId xmlns:a16="http://schemas.microsoft.com/office/drawing/2014/main" val="1442124609"/>
                    </a:ext>
                  </a:extLst>
                </a:gridCol>
                <a:gridCol w="1695101">
                  <a:extLst>
                    <a:ext uri="{9D8B030D-6E8A-4147-A177-3AD203B41FA5}">
                      <a16:colId xmlns:a16="http://schemas.microsoft.com/office/drawing/2014/main" val="3603859997"/>
                    </a:ext>
                  </a:extLst>
                </a:gridCol>
                <a:gridCol w="449315">
                  <a:extLst>
                    <a:ext uri="{9D8B030D-6E8A-4147-A177-3AD203B41FA5}">
                      <a16:colId xmlns:a16="http://schemas.microsoft.com/office/drawing/2014/main" val="4076488391"/>
                    </a:ext>
                  </a:extLst>
                </a:gridCol>
                <a:gridCol w="449315">
                  <a:extLst>
                    <a:ext uri="{9D8B030D-6E8A-4147-A177-3AD203B41FA5}">
                      <a16:colId xmlns:a16="http://schemas.microsoft.com/office/drawing/2014/main" val="3254101706"/>
                    </a:ext>
                  </a:extLst>
                </a:gridCol>
                <a:gridCol w="449315">
                  <a:extLst>
                    <a:ext uri="{9D8B030D-6E8A-4147-A177-3AD203B41FA5}">
                      <a16:colId xmlns:a16="http://schemas.microsoft.com/office/drawing/2014/main" val="2678102022"/>
                    </a:ext>
                  </a:extLst>
                </a:gridCol>
                <a:gridCol w="449315">
                  <a:extLst>
                    <a:ext uri="{9D8B030D-6E8A-4147-A177-3AD203B41FA5}">
                      <a16:colId xmlns:a16="http://schemas.microsoft.com/office/drawing/2014/main" val="2527660299"/>
                    </a:ext>
                  </a:extLst>
                </a:gridCol>
                <a:gridCol w="449315">
                  <a:extLst>
                    <a:ext uri="{9D8B030D-6E8A-4147-A177-3AD203B41FA5}">
                      <a16:colId xmlns:a16="http://schemas.microsoft.com/office/drawing/2014/main" val="3641075278"/>
                    </a:ext>
                  </a:extLst>
                </a:gridCol>
                <a:gridCol w="449315">
                  <a:extLst>
                    <a:ext uri="{9D8B030D-6E8A-4147-A177-3AD203B41FA5}">
                      <a16:colId xmlns:a16="http://schemas.microsoft.com/office/drawing/2014/main" val="3618613915"/>
                    </a:ext>
                  </a:extLst>
                </a:gridCol>
              </a:tblGrid>
              <a:tr h="183914">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altLang="zh-CN" sz="800" b="1" i="0" u="none" strike="noStrike" kern="1200">
                          <a:solidFill>
                            <a:srgbClr val="FFFFFF"/>
                          </a:solidFill>
                          <a:effectLst/>
                          <a:latin typeface="Arial" panose="020B0604020202020204" pitchFamily="34" charset="0"/>
                          <a:ea typeface="+mn-ea"/>
                          <a:cs typeface="+mn-cs"/>
                        </a:rPr>
                        <a:t>Monthly service transfer to 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5416792"/>
                  </a:ext>
                </a:extLst>
              </a:tr>
              <a:tr h="15836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6925547"/>
                  </a:ext>
                </a:extLst>
              </a:tr>
              <a:tr h="15836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7491623"/>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536705"/>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21338728"/>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89620628"/>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a:ln>
                            <a:noFill/>
                          </a:ln>
                          <a:solidFill>
                            <a:srgbClr val="000000"/>
                          </a:solidFill>
                          <a:effectLst/>
                          <a:uLnTx/>
                          <a:uFillTx/>
                          <a:latin typeface="+mn-lt"/>
                          <a:ea typeface="+mn-ea"/>
                          <a:cs typeface="+mn-cs"/>
                        </a:rPr>
                        <a:t>A/P –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1000" b="0" i="0" u="none" strike="noStrike" kern="1200" cap="none" spc="0" normalizeH="0" baseline="0">
                          <a:ln>
                            <a:noFill/>
                          </a:ln>
                          <a:solidFill>
                            <a:srgbClr val="000000"/>
                          </a:solidFill>
                          <a:effectLst/>
                          <a:uLnTx/>
                          <a:uFillTx/>
                          <a:latin typeface="+mn-lt"/>
                          <a:ea typeface="+mn-ea"/>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1000" b="0" i="0" u="none" strike="noStrike" kern="1200" cap="none" spc="0" normalizeH="0" baseline="0">
                          <a:ln>
                            <a:noFill/>
                          </a:ln>
                          <a:solidFill>
                            <a:srgbClr val="000000"/>
                          </a:solidFill>
                          <a:effectLst/>
                          <a:uLnTx/>
                          <a:uFillTx/>
                          <a:latin typeface="+mn-lt"/>
                          <a:ea typeface="+mn-ea"/>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3" name="表格 5">
            <a:extLst>
              <a:ext uri="{FF2B5EF4-FFF2-40B4-BE49-F238E27FC236}">
                <a16:creationId xmlns:a16="http://schemas.microsoft.com/office/drawing/2014/main" id="{6A1C449E-8CF0-F64E-1E5D-1AAB1C2D10CA}"/>
              </a:ext>
            </a:extLst>
          </p:cNvPr>
          <p:cNvGraphicFramePr>
            <a:graphicFrameLocks noGrp="1"/>
          </p:cNvGraphicFramePr>
          <p:nvPr>
            <p:extLst>
              <p:ext uri="{D42A27DB-BD31-4B8C-83A1-F6EECF244321}">
                <p14:modId xmlns:p14="http://schemas.microsoft.com/office/powerpoint/2010/main" val="1822201723"/>
              </p:ext>
            </p:extLst>
          </p:nvPr>
        </p:nvGraphicFramePr>
        <p:xfrm>
          <a:off x="100071" y="447365"/>
          <a:ext cx="5890437" cy="171450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Fixed/Consumption</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Auto Extension</a:t>
                      </a:r>
                    </a:p>
                    <a:p>
                      <a:r>
                        <a:rPr lang="en-US" altLang="zh-CN" sz="1050">
                          <a:solidFill>
                            <a:sysClr val="windowText" lastClr="000000"/>
                          </a:solidFill>
                        </a:rPr>
                        <a:t>Open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with  fixed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sp>
        <p:nvSpPr>
          <p:cNvPr id="4" name="Rectangle 3">
            <a:extLst>
              <a:ext uri="{FF2B5EF4-FFF2-40B4-BE49-F238E27FC236}">
                <a16:creationId xmlns:a16="http://schemas.microsoft.com/office/drawing/2014/main" id="{DCD00CA7-0020-A4DD-3A68-EDE4993C744A}"/>
              </a:ext>
            </a:extLst>
          </p:cNvPr>
          <p:cNvSpPr/>
          <p:nvPr/>
        </p:nvSpPr>
        <p:spPr>
          <a:xfrm>
            <a:off x="6679058" y="5255495"/>
            <a:ext cx="5344143" cy="96216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Rectangle 6">
            <a:extLst>
              <a:ext uri="{FF2B5EF4-FFF2-40B4-BE49-F238E27FC236}">
                <a16:creationId xmlns:a16="http://schemas.microsoft.com/office/drawing/2014/main" id="{1220AA56-D186-FC51-1D0D-7873E591117F}"/>
              </a:ext>
            </a:extLst>
          </p:cNvPr>
          <p:cNvSpPr/>
          <p:nvPr/>
        </p:nvSpPr>
        <p:spPr>
          <a:xfrm>
            <a:off x="553009" y="3418133"/>
            <a:ext cx="5437497" cy="1712039"/>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8" name="Rectangle 7">
            <a:extLst>
              <a:ext uri="{FF2B5EF4-FFF2-40B4-BE49-F238E27FC236}">
                <a16:creationId xmlns:a16="http://schemas.microsoft.com/office/drawing/2014/main" id="{38CB0657-C4B0-3786-7833-18F16096FF8D}"/>
              </a:ext>
            </a:extLst>
          </p:cNvPr>
          <p:cNvSpPr/>
          <p:nvPr/>
        </p:nvSpPr>
        <p:spPr>
          <a:xfrm>
            <a:off x="6679054" y="2110912"/>
            <a:ext cx="5344143" cy="938523"/>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1" name="Rectangle 10">
            <a:extLst>
              <a:ext uri="{FF2B5EF4-FFF2-40B4-BE49-F238E27FC236}">
                <a16:creationId xmlns:a16="http://schemas.microsoft.com/office/drawing/2014/main" id="{434C2712-8C67-B961-20C3-6E8D60AB8F77}"/>
              </a:ext>
            </a:extLst>
          </p:cNvPr>
          <p:cNvSpPr/>
          <p:nvPr/>
        </p:nvSpPr>
        <p:spPr>
          <a:xfrm>
            <a:off x="6679055" y="1339222"/>
            <a:ext cx="5344143" cy="228688"/>
          </a:xfrm>
          <a:prstGeom prst="rect">
            <a:avLst/>
          </a:prstGeom>
          <a:noFill/>
          <a:ln w="9525" cap="flat" cmpd="sng" algn="ctr">
            <a:solidFill>
              <a:schemeClr val="accent4">
                <a:lumMod val="75000"/>
              </a:scheme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2" name="对话气泡: 矩形 11">
            <a:extLst>
              <a:ext uri="{FF2B5EF4-FFF2-40B4-BE49-F238E27FC236}">
                <a16:creationId xmlns:a16="http://schemas.microsoft.com/office/drawing/2014/main" id="{B6CB1B7E-C9C2-09A8-AFBB-AF2C7CE83609}"/>
              </a:ext>
            </a:extLst>
          </p:cNvPr>
          <p:cNvSpPr/>
          <p:nvPr/>
        </p:nvSpPr>
        <p:spPr>
          <a:xfrm>
            <a:off x="6196711" y="3105833"/>
            <a:ext cx="5821705" cy="575494"/>
          </a:xfrm>
          <a:prstGeom prst="wedgeRectCallout">
            <a:avLst>
              <a:gd name="adj1" fmla="val -37551"/>
              <a:gd name="adj2" fmla="val -62433"/>
            </a:avLst>
          </a:prstGeom>
          <a:noFill/>
          <a:ln>
            <a:solidFill>
              <a:schemeClr val="accent4">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rPr>
              <a:t>Confirmed with Accounting:</a:t>
            </a:r>
          </a:p>
          <a:p>
            <a:r>
              <a:rPr lang="en-US" altLang="zh-CN" sz="1100">
                <a:solidFill>
                  <a:schemeClr val="tx1"/>
                </a:solidFill>
              </a:rPr>
              <a:t>Upfront service has been cleared under LT-AR during normal lease term</a:t>
            </a:r>
          </a:p>
          <a:p>
            <a:r>
              <a:rPr lang="en-US" altLang="zh-CN" sz="1100">
                <a:solidFill>
                  <a:schemeClr val="tx1"/>
                </a:solidFill>
              </a:rPr>
              <a:t>During extension, no actual upfront service for customer, recognize as interest income</a:t>
            </a:r>
          </a:p>
        </p:txBody>
      </p:sp>
      <p:sp>
        <p:nvSpPr>
          <p:cNvPr id="14" name="对话气泡: 矩形 11">
            <a:extLst>
              <a:ext uri="{FF2B5EF4-FFF2-40B4-BE49-F238E27FC236}">
                <a16:creationId xmlns:a16="http://schemas.microsoft.com/office/drawing/2014/main" id="{EB7019C2-2867-B920-8A87-10470E89B54B}"/>
              </a:ext>
            </a:extLst>
          </p:cNvPr>
          <p:cNvSpPr/>
          <p:nvPr/>
        </p:nvSpPr>
        <p:spPr>
          <a:xfrm>
            <a:off x="100070" y="5468536"/>
            <a:ext cx="5571460" cy="698263"/>
          </a:xfrm>
          <a:prstGeom prst="wedgeRectCallout">
            <a:avLst>
              <a:gd name="adj1" fmla="val -35658"/>
              <a:gd name="adj2" fmla="val -6943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The variable charge lines only apply in variable charge models not in fixed charge models.</a:t>
            </a:r>
          </a:p>
        </p:txBody>
      </p:sp>
      <p:sp>
        <p:nvSpPr>
          <p:cNvPr id="2" name="文本框 1">
            <a:extLst>
              <a:ext uri="{FF2B5EF4-FFF2-40B4-BE49-F238E27FC236}">
                <a16:creationId xmlns:a16="http://schemas.microsoft.com/office/drawing/2014/main" id="{0673D3E8-974B-9548-1415-1852DB4F615E}"/>
              </a:ext>
            </a:extLst>
          </p:cNvPr>
          <p:cNvSpPr txBox="1"/>
          <p:nvPr/>
        </p:nvSpPr>
        <p:spPr>
          <a:xfrm>
            <a:off x="10085386" y="402306"/>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5" name="流程图: 资料带 4">
            <a:extLst>
              <a:ext uri="{FF2B5EF4-FFF2-40B4-BE49-F238E27FC236}">
                <a16:creationId xmlns:a16="http://schemas.microsoft.com/office/drawing/2014/main" id="{D37F095B-8E34-8785-C0A5-022B70FAD485}"/>
              </a:ext>
            </a:extLst>
          </p:cNvPr>
          <p:cNvSpPr/>
          <p:nvPr/>
        </p:nvSpPr>
        <p:spPr>
          <a:xfrm>
            <a:off x="2169845" y="-709398"/>
            <a:ext cx="2674088" cy="1280981"/>
          </a:xfrm>
          <a:prstGeom prst="flowChartPunchedTape">
            <a:avLst/>
          </a:prstGeom>
          <a:solidFill>
            <a:srgbClr val="FF00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altLang="zh-CN" sz="1600" kern="0">
                <a:solidFill>
                  <a:schemeClr val="bg1"/>
                </a:solidFill>
                <a:latin typeface="Calibri"/>
              </a:rPr>
              <a:t>No System solution for now, </a:t>
            </a:r>
          </a:p>
          <a:p>
            <a:pPr algn="ctr" defTabSz="1088449"/>
            <a:r>
              <a:rPr lang="en-US" altLang="zh-CN" sz="1600" kern="0">
                <a:solidFill>
                  <a:schemeClr val="bg1"/>
                </a:solidFill>
                <a:latin typeface="Calibri"/>
              </a:rPr>
              <a:t>Entry prepared</a:t>
            </a:r>
            <a:endParaRPr lang="zh-CN" altLang="en-US" sz="1600" kern="0">
              <a:solidFill>
                <a:schemeClr val="bg1"/>
              </a:solidFill>
              <a:latin typeface="Calibri"/>
            </a:endParaRPr>
          </a:p>
        </p:txBody>
      </p:sp>
    </p:spTree>
    <p:extLst>
      <p:ext uri="{BB962C8B-B14F-4D97-AF65-F5344CB8AC3E}">
        <p14:creationId xmlns:p14="http://schemas.microsoft.com/office/powerpoint/2010/main" val="316629622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7F4CCEB-B7DF-ED7A-9162-035C24554F86}"/>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8913807F-8731-AAB2-BF5C-630DEB242BFC}"/>
              </a:ext>
            </a:extLst>
          </p:cNvPr>
          <p:cNvSpPr txBox="1"/>
          <p:nvPr/>
        </p:nvSpPr>
        <p:spPr>
          <a:xfrm>
            <a:off x="195322" y="22705"/>
            <a:ext cx="4470947" cy="400110"/>
          </a:xfrm>
          <a:prstGeom prst="rect">
            <a:avLst/>
          </a:prstGeom>
          <a:noFill/>
        </p:spPr>
        <p:txBody>
          <a:bodyPr wrap="square" rtlCol="0">
            <a:spAutoFit/>
          </a:bodyPr>
          <a:lstStyle/>
          <a:p>
            <a:r>
              <a:rPr lang="nl-NL" altLang="zh-CN" sz="2000" b="1"/>
              <a:t>IaaS_AFE_MSA</a:t>
            </a:r>
            <a:endParaRPr lang="zh-CN" altLang="en-US" sz="2000" b="1"/>
          </a:p>
        </p:txBody>
      </p:sp>
      <p:graphicFrame>
        <p:nvGraphicFramePr>
          <p:cNvPr id="116" name="表格 115">
            <a:extLst>
              <a:ext uri="{FF2B5EF4-FFF2-40B4-BE49-F238E27FC236}">
                <a16:creationId xmlns:a16="http://schemas.microsoft.com/office/drawing/2014/main" id="{14FAECD0-7079-1C9C-8D1A-D3D0A0502039}"/>
              </a:ext>
            </a:extLst>
          </p:cNvPr>
          <p:cNvGraphicFramePr>
            <a:graphicFrameLocks noGrp="1"/>
          </p:cNvGraphicFramePr>
          <p:nvPr>
            <p:extLst>
              <p:ext uri="{D42A27DB-BD31-4B8C-83A1-F6EECF244321}">
                <p14:modId xmlns:p14="http://schemas.microsoft.com/office/powerpoint/2010/main" val="208589525"/>
              </p:ext>
            </p:extLst>
          </p:nvPr>
        </p:nvGraphicFramePr>
        <p:xfrm>
          <a:off x="100070" y="2121873"/>
          <a:ext cx="5890435" cy="3203272"/>
        </p:xfrm>
        <a:graphic>
          <a:graphicData uri="http://schemas.openxmlformats.org/drawingml/2006/table">
            <a:tbl>
              <a:tblPr/>
              <a:tblGrid>
                <a:gridCol w="460618">
                  <a:extLst>
                    <a:ext uri="{9D8B030D-6E8A-4147-A177-3AD203B41FA5}">
                      <a16:colId xmlns:a16="http://schemas.microsoft.com/office/drawing/2014/main" val="495084399"/>
                    </a:ext>
                  </a:extLst>
                </a:gridCol>
                <a:gridCol w="259082">
                  <a:extLst>
                    <a:ext uri="{9D8B030D-6E8A-4147-A177-3AD203B41FA5}">
                      <a16:colId xmlns:a16="http://schemas.microsoft.com/office/drawing/2014/main" val="3614210242"/>
                    </a:ext>
                  </a:extLst>
                </a:gridCol>
                <a:gridCol w="616583">
                  <a:extLst>
                    <a:ext uri="{9D8B030D-6E8A-4147-A177-3AD203B41FA5}">
                      <a16:colId xmlns:a16="http://schemas.microsoft.com/office/drawing/2014/main" val="1442124609"/>
                    </a:ext>
                  </a:extLst>
                </a:gridCol>
                <a:gridCol w="1988894">
                  <a:extLst>
                    <a:ext uri="{9D8B030D-6E8A-4147-A177-3AD203B41FA5}">
                      <a16:colId xmlns:a16="http://schemas.microsoft.com/office/drawing/2014/main" val="3603859997"/>
                    </a:ext>
                  </a:extLst>
                </a:gridCol>
                <a:gridCol w="427543">
                  <a:extLst>
                    <a:ext uri="{9D8B030D-6E8A-4147-A177-3AD203B41FA5}">
                      <a16:colId xmlns:a16="http://schemas.microsoft.com/office/drawing/2014/main" val="4076488391"/>
                    </a:ext>
                  </a:extLst>
                </a:gridCol>
                <a:gridCol w="427543">
                  <a:extLst>
                    <a:ext uri="{9D8B030D-6E8A-4147-A177-3AD203B41FA5}">
                      <a16:colId xmlns:a16="http://schemas.microsoft.com/office/drawing/2014/main" val="3254101706"/>
                    </a:ext>
                  </a:extLst>
                </a:gridCol>
                <a:gridCol w="427543">
                  <a:extLst>
                    <a:ext uri="{9D8B030D-6E8A-4147-A177-3AD203B41FA5}">
                      <a16:colId xmlns:a16="http://schemas.microsoft.com/office/drawing/2014/main" val="363493977"/>
                    </a:ext>
                  </a:extLst>
                </a:gridCol>
                <a:gridCol w="427543">
                  <a:extLst>
                    <a:ext uri="{9D8B030D-6E8A-4147-A177-3AD203B41FA5}">
                      <a16:colId xmlns:a16="http://schemas.microsoft.com/office/drawing/2014/main" val="2527660299"/>
                    </a:ext>
                  </a:extLst>
                </a:gridCol>
                <a:gridCol w="427543">
                  <a:extLst>
                    <a:ext uri="{9D8B030D-6E8A-4147-A177-3AD203B41FA5}">
                      <a16:colId xmlns:a16="http://schemas.microsoft.com/office/drawing/2014/main" val="3641075278"/>
                    </a:ext>
                  </a:extLst>
                </a:gridCol>
                <a:gridCol w="427543">
                  <a:extLst>
                    <a:ext uri="{9D8B030D-6E8A-4147-A177-3AD203B41FA5}">
                      <a16:colId xmlns:a16="http://schemas.microsoft.com/office/drawing/2014/main" val="3618613915"/>
                    </a:ext>
                  </a:extLst>
                </a:gridCol>
              </a:tblGrid>
              <a:tr h="182275">
                <a:tc rowSpan="13">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800" b="1" u="none" strike="noStrike" kern="1200">
                          <a:solidFill>
                            <a:schemeClr val="lt1"/>
                          </a:solidFill>
                          <a:effectLst/>
                          <a:latin typeface="+mn-lt"/>
                          <a:ea typeface="+mn-ea"/>
                          <a:cs typeface="+mn-cs"/>
                        </a:rPr>
                        <a:t>Invoice to AFE for Services Revenue on Early Termination</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9">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a:ln>
                            <a:noFill/>
                          </a:ln>
                          <a:solidFill>
                            <a:srgbClr val="000000"/>
                          </a:solidFill>
                          <a:effectLst/>
                          <a:uLnTx/>
                          <a:uFillTx/>
                          <a:latin typeface="+mn-lt"/>
                          <a:ea typeface="+mn-ea"/>
                          <a:cs typeface="+mn-cs"/>
                        </a:rPr>
                        <a:t>Termination Charge - Charge of Outstanding Service Payments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38798572"/>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sngStrike" kern="1200" cap="none" spc="0" normalizeH="0" baseline="0" noProof="0">
                          <a:ln>
                            <a:noFill/>
                          </a:ln>
                          <a:solidFill>
                            <a:srgbClr val="000000"/>
                          </a:solidFill>
                          <a:effectLst/>
                          <a:uLnTx/>
                          <a:uFillTx/>
                          <a:latin typeface="+mn-lt"/>
                          <a:ea typeface="+mn-ea"/>
                          <a:cs typeface="+mn-cs"/>
                        </a:rPr>
                        <a:t>5010440</a:t>
                      </a:r>
                    </a:p>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36697175"/>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20093426"/>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66222787"/>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03278765"/>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48497228"/>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75598754"/>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74411967"/>
                  </a:ext>
                </a:extLst>
              </a:tr>
            </a:tbl>
          </a:graphicData>
        </a:graphic>
      </p:graphicFrame>
      <p:graphicFrame>
        <p:nvGraphicFramePr>
          <p:cNvPr id="10" name="表格 9">
            <a:extLst>
              <a:ext uri="{FF2B5EF4-FFF2-40B4-BE49-F238E27FC236}">
                <a16:creationId xmlns:a16="http://schemas.microsoft.com/office/drawing/2014/main" id="{92F0E24F-054A-CB87-AFF3-398C226C80DA}"/>
              </a:ext>
            </a:extLst>
          </p:cNvPr>
          <p:cNvGraphicFramePr>
            <a:graphicFrameLocks noGrp="1"/>
          </p:cNvGraphicFramePr>
          <p:nvPr>
            <p:extLst>
              <p:ext uri="{D42A27DB-BD31-4B8C-83A1-F6EECF244321}">
                <p14:modId xmlns:p14="http://schemas.microsoft.com/office/powerpoint/2010/main" val="4053007254"/>
              </p:ext>
            </p:extLst>
          </p:nvPr>
        </p:nvGraphicFramePr>
        <p:xfrm>
          <a:off x="6201494" y="402306"/>
          <a:ext cx="5821709" cy="2647129"/>
        </p:xfrm>
        <a:graphic>
          <a:graphicData uri="http://schemas.openxmlformats.org/drawingml/2006/table">
            <a:tbl>
              <a:tblPr/>
              <a:tblGrid>
                <a:gridCol w="485587">
                  <a:extLst>
                    <a:ext uri="{9D8B030D-6E8A-4147-A177-3AD203B41FA5}">
                      <a16:colId xmlns:a16="http://schemas.microsoft.com/office/drawing/2014/main" val="495084399"/>
                    </a:ext>
                  </a:extLst>
                </a:gridCol>
                <a:gridCol w="251165">
                  <a:extLst>
                    <a:ext uri="{9D8B030D-6E8A-4147-A177-3AD203B41FA5}">
                      <a16:colId xmlns:a16="http://schemas.microsoft.com/office/drawing/2014/main" val="3614210242"/>
                    </a:ext>
                  </a:extLst>
                </a:gridCol>
                <a:gridCol w="635425">
                  <a:extLst>
                    <a:ext uri="{9D8B030D-6E8A-4147-A177-3AD203B41FA5}">
                      <a16:colId xmlns:a16="http://schemas.microsoft.com/office/drawing/2014/main" val="1442124609"/>
                    </a:ext>
                  </a:extLst>
                </a:gridCol>
                <a:gridCol w="1885492">
                  <a:extLst>
                    <a:ext uri="{9D8B030D-6E8A-4147-A177-3AD203B41FA5}">
                      <a16:colId xmlns:a16="http://schemas.microsoft.com/office/drawing/2014/main" val="3603859997"/>
                    </a:ext>
                  </a:extLst>
                </a:gridCol>
                <a:gridCol w="427340">
                  <a:extLst>
                    <a:ext uri="{9D8B030D-6E8A-4147-A177-3AD203B41FA5}">
                      <a16:colId xmlns:a16="http://schemas.microsoft.com/office/drawing/2014/main" val="4076488391"/>
                    </a:ext>
                  </a:extLst>
                </a:gridCol>
                <a:gridCol w="427340">
                  <a:extLst>
                    <a:ext uri="{9D8B030D-6E8A-4147-A177-3AD203B41FA5}">
                      <a16:colId xmlns:a16="http://schemas.microsoft.com/office/drawing/2014/main" val="3254101706"/>
                    </a:ext>
                  </a:extLst>
                </a:gridCol>
                <a:gridCol w="427340">
                  <a:extLst>
                    <a:ext uri="{9D8B030D-6E8A-4147-A177-3AD203B41FA5}">
                      <a16:colId xmlns:a16="http://schemas.microsoft.com/office/drawing/2014/main" val="4051557831"/>
                    </a:ext>
                  </a:extLst>
                </a:gridCol>
                <a:gridCol w="427340">
                  <a:extLst>
                    <a:ext uri="{9D8B030D-6E8A-4147-A177-3AD203B41FA5}">
                      <a16:colId xmlns:a16="http://schemas.microsoft.com/office/drawing/2014/main" val="2527660299"/>
                    </a:ext>
                  </a:extLst>
                </a:gridCol>
                <a:gridCol w="427340">
                  <a:extLst>
                    <a:ext uri="{9D8B030D-6E8A-4147-A177-3AD203B41FA5}">
                      <a16:colId xmlns:a16="http://schemas.microsoft.com/office/drawing/2014/main" val="3641075278"/>
                    </a:ext>
                  </a:extLst>
                </a:gridCol>
                <a:gridCol w="427340">
                  <a:extLst>
                    <a:ext uri="{9D8B030D-6E8A-4147-A177-3AD203B41FA5}">
                      <a16:colId xmlns:a16="http://schemas.microsoft.com/office/drawing/2014/main" val="3618613915"/>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p>
                    <a:p>
                      <a:pPr algn="ctr" fontAlgn="base">
                        <a:lnSpc>
                          <a:spcPts val="1425"/>
                        </a:lnSpc>
                        <a:buNone/>
                      </a:pP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a:solidFill>
                            <a:schemeClr val="bg1"/>
                          </a:solidFill>
                          <a:latin typeface="+mn-lt"/>
                          <a:cs typeface="Arial" pitchFamily="34" charset="0"/>
                        </a:rPr>
                        <a:t>Final Monthly invoice from Lenovo to Customer</a:t>
                      </a:r>
                      <a:r>
                        <a:rPr lang="en-US" sz="800" b="1" i="0">
                          <a:solidFill>
                            <a:schemeClr val="bg1"/>
                          </a:solidFill>
                          <a:effectLst/>
                          <a:latin typeface="Arial" panose="020B0604020202020204" pitchFamily="34" charset="0"/>
                        </a:rPr>
                        <a:t>​</a:t>
                      </a:r>
                      <a:endParaRPr lang="en-US" sz="1100" b="1" i="0">
                        <a:solidFill>
                          <a:schemeClr val="bg1"/>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690517373"/>
                  </a:ext>
                </a:extLst>
              </a:tr>
              <a:tr h="9144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rgbClr val="000000"/>
                          </a:solidFill>
                          <a:effectLst/>
                          <a:latin typeface="+mn-lt"/>
                          <a:ea typeface="+mn-ea"/>
                          <a:cs typeface="+mn-cs"/>
                        </a:rPr>
                        <a:t>Interest income </a:t>
                      </a:r>
                      <a:r>
                        <a:rPr lang="en-US" sz="1000" b="0" i="0" u="none" strike="noStrike" baseline="0">
                          <a:solidFill>
                            <a:srgbClr val="000000"/>
                          </a:solidFill>
                          <a:effectLst/>
                          <a:latin typeface="+mn-lt"/>
                        </a:rPr>
                        <a:t>– </a:t>
                      </a:r>
                      <a:r>
                        <a:rPr lang="en-US" altLang="zh-CN" sz="1000" b="0" i="0" u="none" strike="noStrike">
                          <a:solidFill>
                            <a:srgbClr val="000000"/>
                          </a:solidFill>
                          <a:effectLst/>
                          <a:latin typeface="+mn-lt"/>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80664004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15265391"/>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15518152"/>
                  </a:ext>
                </a:extLst>
              </a:tr>
            </a:tbl>
          </a:graphicData>
        </a:graphic>
      </p:graphicFrame>
      <p:graphicFrame>
        <p:nvGraphicFramePr>
          <p:cNvPr id="6" name="表格 5">
            <a:extLst>
              <a:ext uri="{FF2B5EF4-FFF2-40B4-BE49-F238E27FC236}">
                <a16:creationId xmlns:a16="http://schemas.microsoft.com/office/drawing/2014/main" id="{DE2DE8AE-39E5-99D8-6101-D84A4799952F}"/>
              </a:ext>
            </a:extLst>
          </p:cNvPr>
          <p:cNvGraphicFramePr>
            <a:graphicFrameLocks noGrp="1"/>
          </p:cNvGraphicFramePr>
          <p:nvPr>
            <p:extLst>
              <p:ext uri="{D42A27DB-BD31-4B8C-83A1-F6EECF244321}">
                <p14:modId xmlns:p14="http://schemas.microsoft.com/office/powerpoint/2010/main" val="148787158"/>
              </p:ext>
            </p:extLst>
          </p:nvPr>
        </p:nvGraphicFramePr>
        <p:xfrm>
          <a:off x="6201493" y="3752167"/>
          <a:ext cx="5821705" cy="2644910"/>
        </p:xfrm>
        <a:graphic>
          <a:graphicData uri="http://schemas.openxmlformats.org/drawingml/2006/table">
            <a:tbl>
              <a:tblPr/>
              <a:tblGrid>
                <a:gridCol w="488358">
                  <a:extLst>
                    <a:ext uri="{9D8B030D-6E8A-4147-A177-3AD203B41FA5}">
                      <a16:colId xmlns:a16="http://schemas.microsoft.com/office/drawing/2014/main" val="495084399"/>
                    </a:ext>
                  </a:extLst>
                </a:gridCol>
                <a:gridCol w="281701">
                  <a:extLst>
                    <a:ext uri="{9D8B030D-6E8A-4147-A177-3AD203B41FA5}">
                      <a16:colId xmlns:a16="http://schemas.microsoft.com/office/drawing/2014/main" val="3614210242"/>
                    </a:ext>
                  </a:extLst>
                </a:gridCol>
                <a:gridCol w="660655">
                  <a:extLst>
                    <a:ext uri="{9D8B030D-6E8A-4147-A177-3AD203B41FA5}">
                      <a16:colId xmlns:a16="http://schemas.microsoft.com/office/drawing/2014/main" val="1442124609"/>
                    </a:ext>
                  </a:extLst>
                </a:gridCol>
                <a:gridCol w="1695101">
                  <a:extLst>
                    <a:ext uri="{9D8B030D-6E8A-4147-A177-3AD203B41FA5}">
                      <a16:colId xmlns:a16="http://schemas.microsoft.com/office/drawing/2014/main" val="3603859997"/>
                    </a:ext>
                  </a:extLst>
                </a:gridCol>
                <a:gridCol w="449315">
                  <a:extLst>
                    <a:ext uri="{9D8B030D-6E8A-4147-A177-3AD203B41FA5}">
                      <a16:colId xmlns:a16="http://schemas.microsoft.com/office/drawing/2014/main" val="4076488391"/>
                    </a:ext>
                  </a:extLst>
                </a:gridCol>
                <a:gridCol w="449315">
                  <a:extLst>
                    <a:ext uri="{9D8B030D-6E8A-4147-A177-3AD203B41FA5}">
                      <a16:colId xmlns:a16="http://schemas.microsoft.com/office/drawing/2014/main" val="3254101706"/>
                    </a:ext>
                  </a:extLst>
                </a:gridCol>
                <a:gridCol w="449315">
                  <a:extLst>
                    <a:ext uri="{9D8B030D-6E8A-4147-A177-3AD203B41FA5}">
                      <a16:colId xmlns:a16="http://schemas.microsoft.com/office/drawing/2014/main" val="2678102022"/>
                    </a:ext>
                  </a:extLst>
                </a:gridCol>
                <a:gridCol w="449315">
                  <a:extLst>
                    <a:ext uri="{9D8B030D-6E8A-4147-A177-3AD203B41FA5}">
                      <a16:colId xmlns:a16="http://schemas.microsoft.com/office/drawing/2014/main" val="2527660299"/>
                    </a:ext>
                  </a:extLst>
                </a:gridCol>
                <a:gridCol w="449315">
                  <a:extLst>
                    <a:ext uri="{9D8B030D-6E8A-4147-A177-3AD203B41FA5}">
                      <a16:colId xmlns:a16="http://schemas.microsoft.com/office/drawing/2014/main" val="3641075278"/>
                    </a:ext>
                  </a:extLst>
                </a:gridCol>
                <a:gridCol w="449315">
                  <a:extLst>
                    <a:ext uri="{9D8B030D-6E8A-4147-A177-3AD203B41FA5}">
                      <a16:colId xmlns:a16="http://schemas.microsoft.com/office/drawing/2014/main" val="3618613915"/>
                    </a:ext>
                  </a:extLst>
                </a:gridCol>
              </a:tblGrid>
              <a:tr h="183914">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altLang="zh-CN" sz="800" b="1" i="0" u="none" strike="noStrike" kern="1200">
                          <a:solidFill>
                            <a:srgbClr val="FFFFFF"/>
                          </a:solidFill>
                          <a:effectLst/>
                          <a:latin typeface="Arial" panose="020B0604020202020204" pitchFamily="34" charset="0"/>
                          <a:ea typeface="+mn-ea"/>
                          <a:cs typeface="+mn-cs"/>
                        </a:rPr>
                        <a:t>Monthly service transfer to 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5416792"/>
                  </a:ext>
                </a:extLst>
              </a:tr>
              <a:tr h="15836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6925547"/>
                  </a:ext>
                </a:extLst>
              </a:tr>
              <a:tr h="15836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7491623"/>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536705"/>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21338728"/>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89620628"/>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a:ln>
                            <a:noFill/>
                          </a:ln>
                          <a:solidFill>
                            <a:srgbClr val="000000"/>
                          </a:solidFill>
                          <a:effectLst/>
                          <a:uLnTx/>
                          <a:uFillTx/>
                          <a:latin typeface="+mn-lt"/>
                          <a:ea typeface="+mn-ea"/>
                          <a:cs typeface="+mn-cs"/>
                        </a:rPr>
                        <a:t>A/P –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1000" b="0" i="0" u="none" strike="noStrike" kern="1200" cap="none" spc="0" normalizeH="0" baseline="0">
                          <a:ln>
                            <a:noFill/>
                          </a:ln>
                          <a:solidFill>
                            <a:srgbClr val="000000"/>
                          </a:solidFill>
                          <a:effectLst/>
                          <a:uLnTx/>
                          <a:uFillTx/>
                          <a:latin typeface="+mn-lt"/>
                          <a:ea typeface="+mn-ea"/>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1000" b="0" i="0" u="none" strike="noStrike" kern="1200" cap="none" spc="0" normalizeH="0" baseline="0">
                          <a:ln>
                            <a:noFill/>
                          </a:ln>
                          <a:solidFill>
                            <a:srgbClr val="000000"/>
                          </a:solidFill>
                          <a:effectLst/>
                          <a:uLnTx/>
                          <a:uFillTx/>
                          <a:latin typeface="+mn-lt"/>
                          <a:ea typeface="+mn-ea"/>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3" name="表格 5">
            <a:extLst>
              <a:ext uri="{FF2B5EF4-FFF2-40B4-BE49-F238E27FC236}">
                <a16:creationId xmlns:a16="http://schemas.microsoft.com/office/drawing/2014/main" id="{2D99EED1-B1C1-2829-D4CA-D3ED6F97E2C0}"/>
              </a:ext>
            </a:extLst>
          </p:cNvPr>
          <p:cNvGraphicFramePr>
            <a:graphicFrameLocks noGrp="1"/>
          </p:cNvGraphicFramePr>
          <p:nvPr>
            <p:extLst>
              <p:ext uri="{D42A27DB-BD31-4B8C-83A1-F6EECF244321}">
                <p14:modId xmlns:p14="http://schemas.microsoft.com/office/powerpoint/2010/main" val="1778049239"/>
              </p:ext>
            </p:extLst>
          </p:nvPr>
        </p:nvGraphicFramePr>
        <p:xfrm>
          <a:off x="100071" y="447365"/>
          <a:ext cx="5890437" cy="171450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Fixed/Consumption</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Auto Extension</a:t>
                      </a:r>
                    </a:p>
                    <a:p>
                      <a:r>
                        <a:rPr lang="en-US" altLang="zh-CN" sz="1050">
                          <a:solidFill>
                            <a:sysClr val="windowText" lastClr="000000"/>
                          </a:solidFill>
                        </a:rPr>
                        <a:t>Open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with  fixed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sp>
        <p:nvSpPr>
          <p:cNvPr id="4" name="Rectangle 3">
            <a:extLst>
              <a:ext uri="{FF2B5EF4-FFF2-40B4-BE49-F238E27FC236}">
                <a16:creationId xmlns:a16="http://schemas.microsoft.com/office/drawing/2014/main" id="{3968F597-9428-F0CD-100A-8A57AE0DA7BF}"/>
              </a:ext>
            </a:extLst>
          </p:cNvPr>
          <p:cNvSpPr/>
          <p:nvPr/>
        </p:nvSpPr>
        <p:spPr>
          <a:xfrm>
            <a:off x="6679058" y="5255495"/>
            <a:ext cx="5344143" cy="96216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Rectangle 6">
            <a:extLst>
              <a:ext uri="{FF2B5EF4-FFF2-40B4-BE49-F238E27FC236}">
                <a16:creationId xmlns:a16="http://schemas.microsoft.com/office/drawing/2014/main" id="{4BABF1D3-1233-4EC6-3AFB-69EBAB67584F}"/>
              </a:ext>
            </a:extLst>
          </p:cNvPr>
          <p:cNvSpPr/>
          <p:nvPr/>
        </p:nvSpPr>
        <p:spPr>
          <a:xfrm>
            <a:off x="553009" y="3539976"/>
            <a:ext cx="5437497" cy="1815876"/>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8" name="Rectangle 7">
            <a:extLst>
              <a:ext uri="{FF2B5EF4-FFF2-40B4-BE49-F238E27FC236}">
                <a16:creationId xmlns:a16="http://schemas.microsoft.com/office/drawing/2014/main" id="{2DF1CEB6-0AE7-C085-25E5-A959B343A876}"/>
              </a:ext>
            </a:extLst>
          </p:cNvPr>
          <p:cNvSpPr/>
          <p:nvPr/>
        </p:nvSpPr>
        <p:spPr>
          <a:xfrm>
            <a:off x="6679055" y="2110912"/>
            <a:ext cx="5344143" cy="938523"/>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1" name="Rectangle 10">
            <a:extLst>
              <a:ext uri="{FF2B5EF4-FFF2-40B4-BE49-F238E27FC236}">
                <a16:creationId xmlns:a16="http://schemas.microsoft.com/office/drawing/2014/main" id="{5861EF19-015C-B9A3-1FDB-9E5C723038FE}"/>
              </a:ext>
            </a:extLst>
          </p:cNvPr>
          <p:cNvSpPr/>
          <p:nvPr/>
        </p:nvSpPr>
        <p:spPr>
          <a:xfrm>
            <a:off x="6679055" y="1323705"/>
            <a:ext cx="5344143" cy="215536"/>
          </a:xfrm>
          <a:prstGeom prst="rect">
            <a:avLst/>
          </a:prstGeom>
          <a:noFill/>
          <a:ln w="9525" cap="flat" cmpd="sng" algn="ctr">
            <a:solidFill>
              <a:schemeClr val="accent4">
                <a:lumMod val="75000"/>
              </a:scheme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2" name="对话气泡: 矩形 11">
            <a:extLst>
              <a:ext uri="{FF2B5EF4-FFF2-40B4-BE49-F238E27FC236}">
                <a16:creationId xmlns:a16="http://schemas.microsoft.com/office/drawing/2014/main" id="{AE26D733-D280-6F8B-E4AC-2671CED8A1CF}"/>
              </a:ext>
            </a:extLst>
          </p:cNvPr>
          <p:cNvSpPr/>
          <p:nvPr/>
        </p:nvSpPr>
        <p:spPr>
          <a:xfrm>
            <a:off x="6344931" y="3214048"/>
            <a:ext cx="5603684" cy="467279"/>
          </a:xfrm>
          <a:prstGeom prst="wedgeRectCallout">
            <a:avLst>
              <a:gd name="adj1" fmla="val -36480"/>
              <a:gd name="adj2" fmla="val -99470"/>
            </a:avLst>
          </a:prstGeom>
          <a:noFill/>
          <a:ln>
            <a:solidFill>
              <a:schemeClr val="accent4">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rPr>
              <a:t>Confirmed with Accounting:</a:t>
            </a:r>
          </a:p>
          <a:p>
            <a:r>
              <a:rPr lang="en-US" altLang="zh-CN" sz="1100">
                <a:solidFill>
                  <a:schemeClr val="tx1"/>
                </a:solidFill>
              </a:rPr>
              <a:t>Upfront service has been cleared under LT-AR during normal lease term</a:t>
            </a:r>
          </a:p>
          <a:p>
            <a:r>
              <a:rPr lang="en-US" altLang="zh-CN" sz="1100">
                <a:solidFill>
                  <a:schemeClr val="tx1"/>
                </a:solidFill>
              </a:rPr>
              <a:t>During extension, no actual upfront service for customer, recognize as interest income</a:t>
            </a:r>
          </a:p>
        </p:txBody>
      </p:sp>
      <p:sp>
        <p:nvSpPr>
          <p:cNvPr id="5" name="对话气泡: 矩形 11">
            <a:extLst>
              <a:ext uri="{FF2B5EF4-FFF2-40B4-BE49-F238E27FC236}">
                <a16:creationId xmlns:a16="http://schemas.microsoft.com/office/drawing/2014/main" id="{6747BD65-B88A-AE80-45C3-40956490F8D5}"/>
              </a:ext>
            </a:extLst>
          </p:cNvPr>
          <p:cNvSpPr/>
          <p:nvPr/>
        </p:nvSpPr>
        <p:spPr>
          <a:xfrm>
            <a:off x="100070" y="5468536"/>
            <a:ext cx="5571460" cy="698263"/>
          </a:xfrm>
          <a:prstGeom prst="wedgeRectCallout">
            <a:avLst>
              <a:gd name="adj1" fmla="val -35658"/>
              <a:gd name="adj2" fmla="val -6943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The variable charge lines only apply in variable charge models not in fixed charge models.</a:t>
            </a:r>
          </a:p>
        </p:txBody>
      </p:sp>
      <p:sp>
        <p:nvSpPr>
          <p:cNvPr id="2" name="文本框 1">
            <a:extLst>
              <a:ext uri="{FF2B5EF4-FFF2-40B4-BE49-F238E27FC236}">
                <a16:creationId xmlns:a16="http://schemas.microsoft.com/office/drawing/2014/main" id="{46024C7D-DB83-1E40-397C-0BBD8F3399EB}"/>
              </a:ext>
            </a:extLst>
          </p:cNvPr>
          <p:cNvSpPr txBox="1"/>
          <p:nvPr/>
        </p:nvSpPr>
        <p:spPr>
          <a:xfrm>
            <a:off x="10085387" y="402306"/>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9" name="流程图: 资料带 8">
            <a:extLst>
              <a:ext uri="{FF2B5EF4-FFF2-40B4-BE49-F238E27FC236}">
                <a16:creationId xmlns:a16="http://schemas.microsoft.com/office/drawing/2014/main" id="{C2A89C34-A55D-02DF-A4DA-79C2C1380FDD}"/>
              </a:ext>
            </a:extLst>
          </p:cNvPr>
          <p:cNvSpPr/>
          <p:nvPr/>
        </p:nvSpPr>
        <p:spPr>
          <a:xfrm>
            <a:off x="2122452" y="-678608"/>
            <a:ext cx="3044972" cy="1289633"/>
          </a:xfrm>
          <a:prstGeom prst="flowChartPunchedTape">
            <a:avLst/>
          </a:prstGeom>
          <a:solidFill>
            <a:srgbClr val="FF00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altLang="zh-CN" sz="2000" kern="0">
                <a:solidFill>
                  <a:schemeClr val="bg1"/>
                </a:solidFill>
                <a:latin typeface="Calibri"/>
              </a:rPr>
              <a:t>No System solution for now, </a:t>
            </a:r>
          </a:p>
          <a:p>
            <a:pPr algn="ctr" defTabSz="1088449"/>
            <a:r>
              <a:rPr lang="en-US" altLang="zh-CN" sz="2000" kern="0">
                <a:solidFill>
                  <a:schemeClr val="bg1"/>
                </a:solidFill>
                <a:latin typeface="Calibri"/>
              </a:rPr>
              <a:t>Entry prepared</a:t>
            </a:r>
            <a:endParaRPr lang="zh-CN" altLang="en-US" sz="2000" kern="0">
              <a:solidFill>
                <a:schemeClr val="bg1"/>
              </a:solidFill>
              <a:latin typeface="Calibri"/>
            </a:endParaRPr>
          </a:p>
        </p:txBody>
      </p:sp>
    </p:spTree>
    <p:extLst>
      <p:ext uri="{BB962C8B-B14F-4D97-AF65-F5344CB8AC3E}">
        <p14:creationId xmlns:p14="http://schemas.microsoft.com/office/powerpoint/2010/main" val="246028495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E7C865-A688-7C75-5377-8066D44B8428}"/>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CBFD7F01-7EF8-72A9-1928-1DCA75AF641A}"/>
              </a:ext>
            </a:extLst>
          </p:cNvPr>
          <p:cNvGraphicFramePr>
            <a:graphicFrameLocks noGrp="1"/>
          </p:cNvGraphicFramePr>
          <p:nvPr>
            <p:extLst>
              <p:ext uri="{D42A27DB-BD31-4B8C-83A1-F6EECF244321}">
                <p14:modId xmlns:p14="http://schemas.microsoft.com/office/powerpoint/2010/main" val="2775250992"/>
              </p:ext>
            </p:extLst>
          </p:nvPr>
        </p:nvGraphicFramePr>
        <p:xfrm>
          <a:off x="6096000" y="1647200"/>
          <a:ext cx="5734950" cy="1077159"/>
        </p:xfrm>
        <a:graphic>
          <a:graphicData uri="http://schemas.openxmlformats.org/drawingml/2006/table">
            <a:tbl>
              <a:tblPr/>
              <a:tblGrid>
                <a:gridCol w="489662">
                  <a:extLst>
                    <a:ext uri="{9D8B030D-6E8A-4147-A177-3AD203B41FA5}">
                      <a16:colId xmlns:a16="http://schemas.microsoft.com/office/drawing/2014/main" val="495084399"/>
                    </a:ext>
                  </a:extLst>
                </a:gridCol>
                <a:gridCol w="256427">
                  <a:extLst>
                    <a:ext uri="{9D8B030D-6E8A-4147-A177-3AD203B41FA5}">
                      <a16:colId xmlns:a16="http://schemas.microsoft.com/office/drawing/2014/main" val="3614210242"/>
                    </a:ext>
                  </a:extLst>
                </a:gridCol>
                <a:gridCol w="610264">
                  <a:extLst>
                    <a:ext uri="{9D8B030D-6E8A-4147-A177-3AD203B41FA5}">
                      <a16:colId xmlns:a16="http://schemas.microsoft.com/office/drawing/2014/main" val="1442124609"/>
                    </a:ext>
                  </a:extLst>
                </a:gridCol>
                <a:gridCol w="1957105">
                  <a:extLst>
                    <a:ext uri="{9D8B030D-6E8A-4147-A177-3AD203B41FA5}">
                      <a16:colId xmlns:a16="http://schemas.microsoft.com/office/drawing/2014/main" val="3603859997"/>
                    </a:ext>
                  </a:extLst>
                </a:gridCol>
                <a:gridCol w="403582">
                  <a:extLst>
                    <a:ext uri="{9D8B030D-6E8A-4147-A177-3AD203B41FA5}">
                      <a16:colId xmlns:a16="http://schemas.microsoft.com/office/drawing/2014/main" val="4076488391"/>
                    </a:ext>
                  </a:extLst>
                </a:gridCol>
                <a:gridCol w="403582">
                  <a:extLst>
                    <a:ext uri="{9D8B030D-6E8A-4147-A177-3AD203B41FA5}">
                      <a16:colId xmlns:a16="http://schemas.microsoft.com/office/drawing/2014/main" val="3254101706"/>
                    </a:ext>
                  </a:extLst>
                </a:gridCol>
                <a:gridCol w="403582">
                  <a:extLst>
                    <a:ext uri="{9D8B030D-6E8A-4147-A177-3AD203B41FA5}">
                      <a16:colId xmlns:a16="http://schemas.microsoft.com/office/drawing/2014/main" val="3712391277"/>
                    </a:ext>
                  </a:extLst>
                </a:gridCol>
                <a:gridCol w="403582">
                  <a:extLst>
                    <a:ext uri="{9D8B030D-6E8A-4147-A177-3AD203B41FA5}">
                      <a16:colId xmlns:a16="http://schemas.microsoft.com/office/drawing/2014/main" val="2527660299"/>
                    </a:ext>
                  </a:extLst>
                </a:gridCol>
                <a:gridCol w="403582">
                  <a:extLst>
                    <a:ext uri="{9D8B030D-6E8A-4147-A177-3AD203B41FA5}">
                      <a16:colId xmlns:a16="http://schemas.microsoft.com/office/drawing/2014/main" val="3641075278"/>
                    </a:ext>
                  </a:extLst>
                </a:gridCol>
                <a:gridCol w="403582">
                  <a:extLst>
                    <a:ext uri="{9D8B030D-6E8A-4147-A177-3AD203B41FA5}">
                      <a16:colId xmlns:a16="http://schemas.microsoft.com/office/drawing/2014/main" val="3618613915"/>
                    </a:ext>
                  </a:extLst>
                </a:gridCol>
              </a:tblGrid>
              <a:tr h="0">
                <a:tc rowSpan="5">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j-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j-lt"/>
                          <a:ea typeface="+mn-ea"/>
                          <a:cs typeface="+mn-cs"/>
                        </a:rPr>
                        <a:t>Agent Revenue – </a:t>
                      </a:r>
                      <a:r>
                        <a:rPr lang="en-US" altLang="zh-CN" sz="1000" b="0" i="0" u="none" strike="noStrike">
                          <a:solidFill>
                            <a:srgbClr val="000000"/>
                          </a:solidFill>
                          <a:effectLst/>
                          <a:latin typeface="+mn-lt"/>
                        </a:rPr>
                        <a:t>professional</a:t>
                      </a:r>
                      <a:r>
                        <a:rPr lang="en-US" sz="1000" b="0" i="0" u="none" strike="noStrike" kern="1200">
                          <a:solidFill>
                            <a:srgbClr val="000000"/>
                          </a:solidFill>
                          <a:effectLst/>
                          <a:latin typeface="+mj-lt"/>
                          <a:ea typeface="+mn-ea"/>
                          <a:cs typeface="+mn-cs"/>
                        </a:rPr>
                        <a: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28" name="文本框 27">
            <a:extLst>
              <a:ext uri="{FF2B5EF4-FFF2-40B4-BE49-F238E27FC236}">
                <a16:creationId xmlns:a16="http://schemas.microsoft.com/office/drawing/2014/main" id="{7DB51027-0291-08F6-CC6D-2652BEB705AD}"/>
              </a:ext>
            </a:extLst>
          </p:cNvPr>
          <p:cNvSpPr txBox="1"/>
          <p:nvPr/>
        </p:nvSpPr>
        <p:spPr>
          <a:xfrm>
            <a:off x="-40473" y="34649"/>
            <a:ext cx="4470947" cy="400110"/>
          </a:xfrm>
          <a:prstGeom prst="rect">
            <a:avLst/>
          </a:prstGeom>
          <a:noFill/>
        </p:spPr>
        <p:txBody>
          <a:bodyPr wrap="square" rtlCol="0">
            <a:spAutoFit/>
          </a:bodyPr>
          <a:lstStyle/>
          <a:p>
            <a:r>
              <a:rPr lang="nl-NL" altLang="zh-CN" sz="2000" b="1"/>
              <a:t>IaaS_AFE HUB_MSA</a:t>
            </a:r>
            <a:endParaRPr lang="zh-CN" altLang="en-US" sz="2000" b="1"/>
          </a:p>
        </p:txBody>
      </p:sp>
      <p:graphicFrame>
        <p:nvGraphicFramePr>
          <p:cNvPr id="4" name="表格 3">
            <a:extLst>
              <a:ext uri="{FF2B5EF4-FFF2-40B4-BE49-F238E27FC236}">
                <a16:creationId xmlns:a16="http://schemas.microsoft.com/office/drawing/2014/main" id="{DA2CAC84-ADC2-C9D2-6B42-FCD1332CC603}"/>
              </a:ext>
            </a:extLst>
          </p:cNvPr>
          <p:cNvGraphicFramePr>
            <a:graphicFrameLocks noGrp="1"/>
          </p:cNvGraphicFramePr>
          <p:nvPr>
            <p:extLst>
              <p:ext uri="{D42A27DB-BD31-4B8C-83A1-F6EECF244321}">
                <p14:modId xmlns:p14="http://schemas.microsoft.com/office/powerpoint/2010/main" val="378142655"/>
              </p:ext>
            </p:extLst>
          </p:nvPr>
        </p:nvGraphicFramePr>
        <p:xfrm>
          <a:off x="6096001" y="2829433"/>
          <a:ext cx="5734948" cy="1077159"/>
        </p:xfrm>
        <a:graphic>
          <a:graphicData uri="http://schemas.openxmlformats.org/drawingml/2006/table">
            <a:tbl>
              <a:tblPr/>
              <a:tblGrid>
                <a:gridCol w="428381">
                  <a:extLst>
                    <a:ext uri="{9D8B030D-6E8A-4147-A177-3AD203B41FA5}">
                      <a16:colId xmlns:a16="http://schemas.microsoft.com/office/drawing/2014/main" val="495084399"/>
                    </a:ext>
                  </a:extLst>
                </a:gridCol>
                <a:gridCol w="245525">
                  <a:extLst>
                    <a:ext uri="{9D8B030D-6E8A-4147-A177-3AD203B41FA5}">
                      <a16:colId xmlns:a16="http://schemas.microsoft.com/office/drawing/2014/main" val="3614210242"/>
                    </a:ext>
                  </a:extLst>
                </a:gridCol>
                <a:gridCol w="611763">
                  <a:extLst>
                    <a:ext uri="{9D8B030D-6E8A-4147-A177-3AD203B41FA5}">
                      <a16:colId xmlns:a16="http://schemas.microsoft.com/office/drawing/2014/main" val="1442124609"/>
                    </a:ext>
                  </a:extLst>
                </a:gridCol>
                <a:gridCol w="1926999">
                  <a:extLst>
                    <a:ext uri="{9D8B030D-6E8A-4147-A177-3AD203B41FA5}">
                      <a16:colId xmlns:a16="http://schemas.microsoft.com/office/drawing/2014/main" val="3603859997"/>
                    </a:ext>
                  </a:extLst>
                </a:gridCol>
                <a:gridCol w="420380">
                  <a:extLst>
                    <a:ext uri="{9D8B030D-6E8A-4147-A177-3AD203B41FA5}">
                      <a16:colId xmlns:a16="http://schemas.microsoft.com/office/drawing/2014/main" val="4076488391"/>
                    </a:ext>
                  </a:extLst>
                </a:gridCol>
                <a:gridCol w="420380">
                  <a:extLst>
                    <a:ext uri="{9D8B030D-6E8A-4147-A177-3AD203B41FA5}">
                      <a16:colId xmlns:a16="http://schemas.microsoft.com/office/drawing/2014/main" val="3254101706"/>
                    </a:ext>
                  </a:extLst>
                </a:gridCol>
                <a:gridCol w="420380">
                  <a:extLst>
                    <a:ext uri="{9D8B030D-6E8A-4147-A177-3AD203B41FA5}">
                      <a16:colId xmlns:a16="http://schemas.microsoft.com/office/drawing/2014/main" val="3712391277"/>
                    </a:ext>
                  </a:extLst>
                </a:gridCol>
                <a:gridCol w="420380">
                  <a:extLst>
                    <a:ext uri="{9D8B030D-6E8A-4147-A177-3AD203B41FA5}">
                      <a16:colId xmlns:a16="http://schemas.microsoft.com/office/drawing/2014/main" val="2527660299"/>
                    </a:ext>
                  </a:extLst>
                </a:gridCol>
                <a:gridCol w="420380">
                  <a:extLst>
                    <a:ext uri="{9D8B030D-6E8A-4147-A177-3AD203B41FA5}">
                      <a16:colId xmlns:a16="http://schemas.microsoft.com/office/drawing/2014/main" val="3641075278"/>
                    </a:ext>
                  </a:extLst>
                </a:gridCol>
                <a:gridCol w="420380">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a:t>
                      </a:r>
                      <a:r>
                        <a:rPr lang="en-US" altLang="zh-CN" sz="1000" b="0" i="0" u="none" strike="noStrike">
                          <a:solidFill>
                            <a:srgbClr val="000000"/>
                          </a:solidFill>
                          <a:effectLst/>
                          <a:latin typeface="+mn-lt"/>
                        </a:rPr>
                        <a:t>professional</a:t>
                      </a:r>
                      <a:r>
                        <a:rPr lang="en-US" sz="1000" b="0" i="0" u="none" strike="noStrike">
                          <a:solidFill>
                            <a:srgbClr val="000000"/>
                          </a:solidFill>
                          <a:effectLst/>
                          <a:latin typeface="+mn-lt"/>
                        </a:rPr>
                        <a: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831CA97F-84C8-4691-BC3F-E477EE4B227B}"/>
              </a:ext>
            </a:extLst>
          </p:cNvPr>
          <p:cNvGraphicFramePr>
            <a:graphicFrameLocks noGrp="1"/>
          </p:cNvGraphicFramePr>
          <p:nvPr>
            <p:extLst>
              <p:ext uri="{D42A27DB-BD31-4B8C-83A1-F6EECF244321}">
                <p14:modId xmlns:p14="http://schemas.microsoft.com/office/powerpoint/2010/main" val="1659113570"/>
              </p:ext>
            </p:extLst>
          </p:nvPr>
        </p:nvGraphicFramePr>
        <p:xfrm>
          <a:off x="37852" y="1647200"/>
          <a:ext cx="5958773" cy="1077159"/>
        </p:xfrm>
        <a:graphic>
          <a:graphicData uri="http://schemas.openxmlformats.org/drawingml/2006/table">
            <a:tbl>
              <a:tblPr/>
              <a:tblGrid>
                <a:gridCol w="444105">
                  <a:extLst>
                    <a:ext uri="{9D8B030D-6E8A-4147-A177-3AD203B41FA5}">
                      <a16:colId xmlns:a16="http://schemas.microsoft.com/office/drawing/2014/main" val="495084399"/>
                    </a:ext>
                  </a:extLst>
                </a:gridCol>
                <a:gridCol w="253840">
                  <a:extLst>
                    <a:ext uri="{9D8B030D-6E8A-4147-A177-3AD203B41FA5}">
                      <a16:colId xmlns:a16="http://schemas.microsoft.com/office/drawing/2014/main" val="3614210242"/>
                    </a:ext>
                  </a:extLst>
                </a:gridCol>
                <a:gridCol w="584800">
                  <a:extLst>
                    <a:ext uri="{9D8B030D-6E8A-4147-A177-3AD203B41FA5}">
                      <a16:colId xmlns:a16="http://schemas.microsoft.com/office/drawing/2014/main" val="1442124609"/>
                    </a:ext>
                  </a:extLst>
                </a:gridCol>
                <a:gridCol w="1976406">
                  <a:extLst>
                    <a:ext uri="{9D8B030D-6E8A-4147-A177-3AD203B41FA5}">
                      <a16:colId xmlns:a16="http://schemas.microsoft.com/office/drawing/2014/main" val="3603859997"/>
                    </a:ext>
                  </a:extLst>
                </a:gridCol>
                <a:gridCol w="449937">
                  <a:extLst>
                    <a:ext uri="{9D8B030D-6E8A-4147-A177-3AD203B41FA5}">
                      <a16:colId xmlns:a16="http://schemas.microsoft.com/office/drawing/2014/main" val="4076488391"/>
                    </a:ext>
                  </a:extLst>
                </a:gridCol>
                <a:gridCol w="449937">
                  <a:extLst>
                    <a:ext uri="{9D8B030D-6E8A-4147-A177-3AD203B41FA5}">
                      <a16:colId xmlns:a16="http://schemas.microsoft.com/office/drawing/2014/main" val="3254101706"/>
                    </a:ext>
                  </a:extLst>
                </a:gridCol>
                <a:gridCol w="449937">
                  <a:extLst>
                    <a:ext uri="{9D8B030D-6E8A-4147-A177-3AD203B41FA5}">
                      <a16:colId xmlns:a16="http://schemas.microsoft.com/office/drawing/2014/main" val="3712391277"/>
                    </a:ext>
                  </a:extLst>
                </a:gridCol>
                <a:gridCol w="449937">
                  <a:extLst>
                    <a:ext uri="{9D8B030D-6E8A-4147-A177-3AD203B41FA5}">
                      <a16:colId xmlns:a16="http://schemas.microsoft.com/office/drawing/2014/main" val="2527660299"/>
                    </a:ext>
                  </a:extLst>
                </a:gridCol>
                <a:gridCol w="449937">
                  <a:extLst>
                    <a:ext uri="{9D8B030D-6E8A-4147-A177-3AD203B41FA5}">
                      <a16:colId xmlns:a16="http://schemas.microsoft.com/office/drawing/2014/main" val="3641075278"/>
                    </a:ext>
                  </a:extLst>
                </a:gridCol>
                <a:gridCol w="449937">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HK24</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professional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bl>
          </a:graphicData>
        </a:graphic>
      </p:graphicFrame>
      <p:graphicFrame>
        <p:nvGraphicFramePr>
          <p:cNvPr id="11" name="表格 10">
            <a:extLst>
              <a:ext uri="{FF2B5EF4-FFF2-40B4-BE49-F238E27FC236}">
                <a16:creationId xmlns:a16="http://schemas.microsoft.com/office/drawing/2014/main" id="{C438B962-8278-538E-918C-B42A0D2A6231}"/>
              </a:ext>
            </a:extLst>
          </p:cNvPr>
          <p:cNvGraphicFramePr>
            <a:graphicFrameLocks noGrp="1"/>
          </p:cNvGraphicFramePr>
          <p:nvPr>
            <p:extLst>
              <p:ext uri="{D42A27DB-BD31-4B8C-83A1-F6EECF244321}">
                <p14:modId xmlns:p14="http://schemas.microsoft.com/office/powerpoint/2010/main" val="4116003968"/>
              </p:ext>
            </p:extLst>
          </p:nvPr>
        </p:nvGraphicFramePr>
        <p:xfrm>
          <a:off x="231507" y="522805"/>
          <a:ext cx="11007994" cy="822960"/>
        </p:xfrm>
        <a:graphic>
          <a:graphicData uri="http://schemas.openxmlformats.org/drawingml/2006/table">
            <a:tbl>
              <a:tblPr firstRow="1" bandRow="1">
                <a:tableStyleId>{3C2FFA5D-87B4-456A-9821-1D502468CF0F}</a:tableStyleId>
              </a:tblPr>
              <a:tblGrid>
                <a:gridCol w="1349211">
                  <a:extLst>
                    <a:ext uri="{9D8B030D-6E8A-4147-A177-3AD203B41FA5}">
                      <a16:colId xmlns:a16="http://schemas.microsoft.com/office/drawing/2014/main" val="869603910"/>
                    </a:ext>
                  </a:extLst>
                </a:gridCol>
                <a:gridCol w="1282839">
                  <a:extLst>
                    <a:ext uri="{9D8B030D-6E8A-4147-A177-3AD203B41FA5}">
                      <a16:colId xmlns:a16="http://schemas.microsoft.com/office/drawing/2014/main" val="238663902"/>
                    </a:ext>
                  </a:extLst>
                </a:gridCol>
                <a:gridCol w="1237455">
                  <a:extLst>
                    <a:ext uri="{9D8B030D-6E8A-4147-A177-3AD203B41FA5}">
                      <a16:colId xmlns:a16="http://schemas.microsoft.com/office/drawing/2014/main" val="4114365151"/>
                    </a:ext>
                  </a:extLst>
                </a:gridCol>
                <a:gridCol w="1210102">
                  <a:extLst>
                    <a:ext uri="{9D8B030D-6E8A-4147-A177-3AD203B41FA5}">
                      <a16:colId xmlns:a16="http://schemas.microsoft.com/office/drawing/2014/main" val="4075178046"/>
                    </a:ext>
                  </a:extLst>
                </a:gridCol>
                <a:gridCol w="1430480">
                  <a:extLst>
                    <a:ext uri="{9D8B030D-6E8A-4147-A177-3AD203B41FA5}">
                      <a16:colId xmlns:a16="http://schemas.microsoft.com/office/drawing/2014/main" val="973533418"/>
                    </a:ext>
                  </a:extLst>
                </a:gridCol>
                <a:gridCol w="1320906">
                  <a:extLst>
                    <a:ext uri="{9D8B030D-6E8A-4147-A177-3AD203B41FA5}">
                      <a16:colId xmlns:a16="http://schemas.microsoft.com/office/drawing/2014/main" val="2377711782"/>
                    </a:ext>
                  </a:extLst>
                </a:gridCol>
                <a:gridCol w="1320906">
                  <a:extLst>
                    <a:ext uri="{9D8B030D-6E8A-4147-A177-3AD203B41FA5}">
                      <a16:colId xmlns:a16="http://schemas.microsoft.com/office/drawing/2014/main" val="3946881186"/>
                    </a:ext>
                  </a:extLst>
                </a:gridCol>
                <a:gridCol w="1856095">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20487">
                <a:tc>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Operating Lease/ 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C00000"/>
                          </a:solidFill>
                        </a:rPr>
                        <a:t>One-time billing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Non- funded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Professional service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Tree>
    <p:extLst>
      <p:ext uri="{BB962C8B-B14F-4D97-AF65-F5344CB8AC3E}">
        <p14:creationId xmlns:p14="http://schemas.microsoft.com/office/powerpoint/2010/main" val="155189579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1D7086-759E-6A6D-585B-6979B6F99E8A}"/>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71B0F500-BC95-6397-C95D-D8656BB166D7}"/>
              </a:ext>
            </a:extLst>
          </p:cNvPr>
          <p:cNvGraphicFramePr>
            <a:graphicFrameLocks noGrp="1"/>
          </p:cNvGraphicFramePr>
          <p:nvPr>
            <p:extLst>
              <p:ext uri="{D42A27DB-BD31-4B8C-83A1-F6EECF244321}">
                <p14:modId xmlns:p14="http://schemas.microsoft.com/office/powerpoint/2010/main" val="1504383943"/>
              </p:ext>
            </p:extLst>
          </p:nvPr>
        </p:nvGraphicFramePr>
        <p:xfrm>
          <a:off x="6096000" y="1647200"/>
          <a:ext cx="5734947" cy="2659257"/>
        </p:xfrm>
        <a:graphic>
          <a:graphicData uri="http://schemas.openxmlformats.org/drawingml/2006/table">
            <a:tbl>
              <a:tblPr/>
              <a:tblGrid>
                <a:gridCol w="489662">
                  <a:extLst>
                    <a:ext uri="{9D8B030D-6E8A-4147-A177-3AD203B41FA5}">
                      <a16:colId xmlns:a16="http://schemas.microsoft.com/office/drawing/2014/main" val="495084399"/>
                    </a:ext>
                  </a:extLst>
                </a:gridCol>
                <a:gridCol w="256427">
                  <a:extLst>
                    <a:ext uri="{9D8B030D-6E8A-4147-A177-3AD203B41FA5}">
                      <a16:colId xmlns:a16="http://schemas.microsoft.com/office/drawing/2014/main" val="3614210242"/>
                    </a:ext>
                  </a:extLst>
                </a:gridCol>
                <a:gridCol w="610264">
                  <a:extLst>
                    <a:ext uri="{9D8B030D-6E8A-4147-A177-3AD203B41FA5}">
                      <a16:colId xmlns:a16="http://schemas.microsoft.com/office/drawing/2014/main" val="1442124609"/>
                    </a:ext>
                  </a:extLst>
                </a:gridCol>
                <a:gridCol w="1957105">
                  <a:extLst>
                    <a:ext uri="{9D8B030D-6E8A-4147-A177-3AD203B41FA5}">
                      <a16:colId xmlns:a16="http://schemas.microsoft.com/office/drawing/2014/main" val="3603859997"/>
                    </a:ext>
                  </a:extLst>
                </a:gridCol>
                <a:gridCol w="364779">
                  <a:extLst>
                    <a:ext uri="{9D8B030D-6E8A-4147-A177-3AD203B41FA5}">
                      <a16:colId xmlns:a16="http://schemas.microsoft.com/office/drawing/2014/main" val="4076488391"/>
                    </a:ext>
                  </a:extLst>
                </a:gridCol>
                <a:gridCol w="364779">
                  <a:extLst>
                    <a:ext uri="{9D8B030D-6E8A-4147-A177-3AD203B41FA5}">
                      <a16:colId xmlns:a16="http://schemas.microsoft.com/office/drawing/2014/main" val="3254101706"/>
                    </a:ext>
                  </a:extLst>
                </a:gridCol>
                <a:gridCol w="294988">
                  <a:extLst>
                    <a:ext uri="{9D8B030D-6E8A-4147-A177-3AD203B41FA5}">
                      <a16:colId xmlns:a16="http://schemas.microsoft.com/office/drawing/2014/main" val="3712391277"/>
                    </a:ext>
                  </a:extLst>
                </a:gridCol>
                <a:gridCol w="306570">
                  <a:extLst>
                    <a:ext uri="{9D8B030D-6E8A-4147-A177-3AD203B41FA5}">
                      <a16:colId xmlns:a16="http://schemas.microsoft.com/office/drawing/2014/main" val="2527660299"/>
                    </a:ext>
                  </a:extLst>
                </a:gridCol>
                <a:gridCol w="420648">
                  <a:extLst>
                    <a:ext uri="{9D8B030D-6E8A-4147-A177-3AD203B41FA5}">
                      <a16:colId xmlns:a16="http://schemas.microsoft.com/office/drawing/2014/main" val="3641075278"/>
                    </a:ext>
                  </a:extLst>
                </a:gridCol>
                <a:gridCol w="669725">
                  <a:extLst>
                    <a:ext uri="{9D8B030D-6E8A-4147-A177-3AD203B41FA5}">
                      <a16:colId xmlns:a16="http://schemas.microsoft.com/office/drawing/2014/main" val="3618613915"/>
                    </a:ext>
                  </a:extLst>
                </a:gridCol>
              </a:tblGrid>
              <a:tr h="0">
                <a:tc rowSpan="12">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10822268"/>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j-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rgbClr val="000000"/>
                          </a:solidFill>
                          <a:effectLst/>
                          <a:latin typeface="+mj-lt"/>
                          <a:ea typeface="+mn-ea"/>
                          <a:cs typeface="+mn-cs"/>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j-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j-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mn-ea"/>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mn-ea"/>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rgbClr val="000000"/>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06799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064985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4517476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233877"/>
                  </a:ext>
                </a:extLst>
              </a:tr>
            </a:tbl>
          </a:graphicData>
        </a:graphic>
      </p:graphicFrame>
      <p:sp>
        <p:nvSpPr>
          <p:cNvPr id="28" name="文本框 27">
            <a:extLst>
              <a:ext uri="{FF2B5EF4-FFF2-40B4-BE49-F238E27FC236}">
                <a16:creationId xmlns:a16="http://schemas.microsoft.com/office/drawing/2014/main" id="{EDD5428C-EC7B-D3AA-71A7-061D38A0B0F1}"/>
              </a:ext>
            </a:extLst>
          </p:cNvPr>
          <p:cNvSpPr txBox="1"/>
          <p:nvPr/>
        </p:nvSpPr>
        <p:spPr>
          <a:xfrm>
            <a:off x="-40473" y="34649"/>
            <a:ext cx="4470947" cy="400110"/>
          </a:xfrm>
          <a:prstGeom prst="rect">
            <a:avLst/>
          </a:prstGeom>
          <a:noFill/>
        </p:spPr>
        <p:txBody>
          <a:bodyPr wrap="square" rtlCol="0">
            <a:spAutoFit/>
          </a:bodyPr>
          <a:lstStyle/>
          <a:p>
            <a:r>
              <a:rPr lang="nl-NL" altLang="zh-CN" sz="2000" b="1"/>
              <a:t>IaaS_ AFE HUB_MSA</a:t>
            </a:r>
            <a:endParaRPr lang="zh-CN" altLang="en-US" sz="2000" b="1"/>
          </a:p>
        </p:txBody>
      </p:sp>
      <p:graphicFrame>
        <p:nvGraphicFramePr>
          <p:cNvPr id="4" name="表格 3">
            <a:extLst>
              <a:ext uri="{FF2B5EF4-FFF2-40B4-BE49-F238E27FC236}">
                <a16:creationId xmlns:a16="http://schemas.microsoft.com/office/drawing/2014/main" id="{7F54B4DC-A850-2966-F982-B542BCB1896E}"/>
              </a:ext>
            </a:extLst>
          </p:cNvPr>
          <p:cNvGraphicFramePr>
            <a:graphicFrameLocks noGrp="1"/>
          </p:cNvGraphicFramePr>
          <p:nvPr>
            <p:extLst>
              <p:ext uri="{D42A27DB-BD31-4B8C-83A1-F6EECF244321}">
                <p14:modId xmlns:p14="http://schemas.microsoft.com/office/powerpoint/2010/main" val="3485271833"/>
              </p:ext>
            </p:extLst>
          </p:nvPr>
        </p:nvGraphicFramePr>
        <p:xfrm>
          <a:off x="6095999" y="4342449"/>
          <a:ext cx="5734946" cy="2082337"/>
        </p:xfrm>
        <a:graphic>
          <a:graphicData uri="http://schemas.openxmlformats.org/drawingml/2006/table">
            <a:tbl>
              <a:tblPr/>
              <a:tblGrid>
                <a:gridCol w="428381">
                  <a:extLst>
                    <a:ext uri="{9D8B030D-6E8A-4147-A177-3AD203B41FA5}">
                      <a16:colId xmlns:a16="http://schemas.microsoft.com/office/drawing/2014/main" val="495084399"/>
                    </a:ext>
                  </a:extLst>
                </a:gridCol>
                <a:gridCol w="245525">
                  <a:extLst>
                    <a:ext uri="{9D8B030D-6E8A-4147-A177-3AD203B41FA5}">
                      <a16:colId xmlns:a16="http://schemas.microsoft.com/office/drawing/2014/main" val="3614210242"/>
                    </a:ext>
                  </a:extLst>
                </a:gridCol>
                <a:gridCol w="611763">
                  <a:extLst>
                    <a:ext uri="{9D8B030D-6E8A-4147-A177-3AD203B41FA5}">
                      <a16:colId xmlns:a16="http://schemas.microsoft.com/office/drawing/2014/main" val="1442124609"/>
                    </a:ext>
                  </a:extLst>
                </a:gridCol>
                <a:gridCol w="1926999">
                  <a:extLst>
                    <a:ext uri="{9D8B030D-6E8A-4147-A177-3AD203B41FA5}">
                      <a16:colId xmlns:a16="http://schemas.microsoft.com/office/drawing/2014/main" val="3603859997"/>
                    </a:ext>
                  </a:extLst>
                </a:gridCol>
                <a:gridCol w="365674">
                  <a:extLst>
                    <a:ext uri="{9D8B030D-6E8A-4147-A177-3AD203B41FA5}">
                      <a16:colId xmlns:a16="http://schemas.microsoft.com/office/drawing/2014/main" val="4076488391"/>
                    </a:ext>
                  </a:extLst>
                </a:gridCol>
                <a:gridCol w="283187">
                  <a:extLst>
                    <a:ext uri="{9D8B030D-6E8A-4147-A177-3AD203B41FA5}">
                      <a16:colId xmlns:a16="http://schemas.microsoft.com/office/drawing/2014/main" val="3254101706"/>
                    </a:ext>
                  </a:extLst>
                </a:gridCol>
                <a:gridCol w="358509">
                  <a:extLst>
                    <a:ext uri="{9D8B030D-6E8A-4147-A177-3AD203B41FA5}">
                      <a16:colId xmlns:a16="http://schemas.microsoft.com/office/drawing/2014/main" val="3712391277"/>
                    </a:ext>
                  </a:extLst>
                </a:gridCol>
                <a:gridCol w="270633">
                  <a:extLst>
                    <a:ext uri="{9D8B030D-6E8A-4147-A177-3AD203B41FA5}">
                      <a16:colId xmlns:a16="http://schemas.microsoft.com/office/drawing/2014/main" val="2527660299"/>
                    </a:ext>
                  </a:extLst>
                </a:gridCol>
                <a:gridCol w="389893">
                  <a:extLst>
                    <a:ext uri="{9D8B030D-6E8A-4147-A177-3AD203B41FA5}">
                      <a16:colId xmlns:a16="http://schemas.microsoft.com/office/drawing/2014/main" val="3641075278"/>
                    </a:ext>
                  </a:extLst>
                </a:gridCol>
                <a:gridCol w="854382">
                  <a:extLst>
                    <a:ext uri="{9D8B030D-6E8A-4147-A177-3AD203B41FA5}">
                      <a16:colId xmlns:a16="http://schemas.microsoft.com/office/drawing/2014/main" val="3618613915"/>
                    </a:ext>
                  </a:extLst>
                </a:gridCol>
              </a:tblGrid>
              <a:tr h="16173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4211421"/>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0537104"/>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9419537"/>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423DF659-2049-20F1-E889-DCAAE822A729}"/>
              </a:ext>
            </a:extLst>
          </p:cNvPr>
          <p:cNvGraphicFramePr>
            <a:graphicFrameLocks noGrp="1"/>
          </p:cNvGraphicFramePr>
          <p:nvPr>
            <p:extLst>
              <p:ext uri="{D42A27DB-BD31-4B8C-83A1-F6EECF244321}">
                <p14:modId xmlns:p14="http://schemas.microsoft.com/office/powerpoint/2010/main" val="2611489824"/>
              </p:ext>
            </p:extLst>
          </p:nvPr>
        </p:nvGraphicFramePr>
        <p:xfrm>
          <a:off x="37852" y="1647200"/>
          <a:ext cx="5958773" cy="2763665"/>
        </p:xfrm>
        <a:graphic>
          <a:graphicData uri="http://schemas.openxmlformats.org/drawingml/2006/table">
            <a:tbl>
              <a:tblPr/>
              <a:tblGrid>
                <a:gridCol w="444105">
                  <a:extLst>
                    <a:ext uri="{9D8B030D-6E8A-4147-A177-3AD203B41FA5}">
                      <a16:colId xmlns:a16="http://schemas.microsoft.com/office/drawing/2014/main" val="495084399"/>
                    </a:ext>
                  </a:extLst>
                </a:gridCol>
                <a:gridCol w="253840">
                  <a:extLst>
                    <a:ext uri="{9D8B030D-6E8A-4147-A177-3AD203B41FA5}">
                      <a16:colId xmlns:a16="http://schemas.microsoft.com/office/drawing/2014/main" val="3614210242"/>
                    </a:ext>
                  </a:extLst>
                </a:gridCol>
                <a:gridCol w="584800">
                  <a:extLst>
                    <a:ext uri="{9D8B030D-6E8A-4147-A177-3AD203B41FA5}">
                      <a16:colId xmlns:a16="http://schemas.microsoft.com/office/drawing/2014/main" val="1442124609"/>
                    </a:ext>
                  </a:extLst>
                </a:gridCol>
                <a:gridCol w="1976406">
                  <a:extLst>
                    <a:ext uri="{9D8B030D-6E8A-4147-A177-3AD203B41FA5}">
                      <a16:colId xmlns:a16="http://schemas.microsoft.com/office/drawing/2014/main" val="3603859997"/>
                    </a:ext>
                  </a:extLst>
                </a:gridCol>
                <a:gridCol w="449937">
                  <a:extLst>
                    <a:ext uri="{9D8B030D-6E8A-4147-A177-3AD203B41FA5}">
                      <a16:colId xmlns:a16="http://schemas.microsoft.com/office/drawing/2014/main" val="4076488391"/>
                    </a:ext>
                  </a:extLst>
                </a:gridCol>
                <a:gridCol w="449937">
                  <a:extLst>
                    <a:ext uri="{9D8B030D-6E8A-4147-A177-3AD203B41FA5}">
                      <a16:colId xmlns:a16="http://schemas.microsoft.com/office/drawing/2014/main" val="3254101706"/>
                    </a:ext>
                  </a:extLst>
                </a:gridCol>
                <a:gridCol w="449937">
                  <a:extLst>
                    <a:ext uri="{9D8B030D-6E8A-4147-A177-3AD203B41FA5}">
                      <a16:colId xmlns:a16="http://schemas.microsoft.com/office/drawing/2014/main" val="3712391277"/>
                    </a:ext>
                  </a:extLst>
                </a:gridCol>
                <a:gridCol w="449937">
                  <a:extLst>
                    <a:ext uri="{9D8B030D-6E8A-4147-A177-3AD203B41FA5}">
                      <a16:colId xmlns:a16="http://schemas.microsoft.com/office/drawing/2014/main" val="2527660299"/>
                    </a:ext>
                  </a:extLst>
                </a:gridCol>
                <a:gridCol w="449937">
                  <a:extLst>
                    <a:ext uri="{9D8B030D-6E8A-4147-A177-3AD203B41FA5}">
                      <a16:colId xmlns:a16="http://schemas.microsoft.com/office/drawing/2014/main" val="3641075278"/>
                    </a:ext>
                  </a:extLst>
                </a:gridCol>
                <a:gridCol w="449937">
                  <a:extLst>
                    <a:ext uri="{9D8B030D-6E8A-4147-A177-3AD203B41FA5}">
                      <a16:colId xmlns:a16="http://schemas.microsoft.com/office/drawing/2014/main" val="3618613915"/>
                    </a:ext>
                  </a:extLst>
                </a:gridCol>
              </a:tblGrid>
              <a:tr h="168009">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HK24</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84085619"/>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44374784"/>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91638668"/>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52668775"/>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96553738"/>
                  </a:ext>
                </a:extLst>
              </a:tr>
            </a:tbl>
          </a:graphicData>
        </a:graphic>
      </p:graphicFrame>
      <p:graphicFrame>
        <p:nvGraphicFramePr>
          <p:cNvPr id="12" name="表格 11">
            <a:extLst>
              <a:ext uri="{FF2B5EF4-FFF2-40B4-BE49-F238E27FC236}">
                <a16:creationId xmlns:a16="http://schemas.microsoft.com/office/drawing/2014/main" id="{EC2FEBBE-C0BE-6D50-4315-322DBF851BD9}"/>
              </a:ext>
            </a:extLst>
          </p:cNvPr>
          <p:cNvGraphicFramePr>
            <a:graphicFrameLocks noGrp="1"/>
          </p:cNvGraphicFramePr>
          <p:nvPr>
            <p:extLst>
              <p:ext uri="{D42A27DB-BD31-4B8C-83A1-F6EECF244321}">
                <p14:modId xmlns:p14="http://schemas.microsoft.com/office/powerpoint/2010/main" val="3658396555"/>
              </p:ext>
            </p:extLst>
          </p:nvPr>
        </p:nvGraphicFramePr>
        <p:xfrm>
          <a:off x="37852" y="426316"/>
          <a:ext cx="10851127" cy="852454"/>
        </p:xfrm>
        <a:graphic>
          <a:graphicData uri="http://schemas.openxmlformats.org/drawingml/2006/table">
            <a:tbl>
              <a:tblPr firstRow="1" bandRow="1">
                <a:tableStyleId>{3C2FFA5D-87B4-456A-9821-1D502468CF0F}</a:tableStyleId>
              </a:tblPr>
              <a:tblGrid>
                <a:gridCol w="1329983">
                  <a:extLst>
                    <a:ext uri="{9D8B030D-6E8A-4147-A177-3AD203B41FA5}">
                      <a16:colId xmlns:a16="http://schemas.microsoft.com/office/drawing/2014/main" val="869603910"/>
                    </a:ext>
                  </a:extLst>
                </a:gridCol>
                <a:gridCol w="1264559">
                  <a:extLst>
                    <a:ext uri="{9D8B030D-6E8A-4147-A177-3AD203B41FA5}">
                      <a16:colId xmlns:a16="http://schemas.microsoft.com/office/drawing/2014/main" val="238663902"/>
                    </a:ext>
                  </a:extLst>
                </a:gridCol>
                <a:gridCol w="1219822">
                  <a:extLst>
                    <a:ext uri="{9D8B030D-6E8A-4147-A177-3AD203B41FA5}">
                      <a16:colId xmlns:a16="http://schemas.microsoft.com/office/drawing/2014/main" val="4114365151"/>
                    </a:ext>
                  </a:extLst>
                </a:gridCol>
                <a:gridCol w="1192858">
                  <a:extLst>
                    <a:ext uri="{9D8B030D-6E8A-4147-A177-3AD203B41FA5}">
                      <a16:colId xmlns:a16="http://schemas.microsoft.com/office/drawing/2014/main" val="4075178046"/>
                    </a:ext>
                  </a:extLst>
                </a:gridCol>
                <a:gridCol w="1410094">
                  <a:extLst>
                    <a:ext uri="{9D8B030D-6E8A-4147-A177-3AD203B41FA5}">
                      <a16:colId xmlns:a16="http://schemas.microsoft.com/office/drawing/2014/main" val="973533418"/>
                    </a:ext>
                  </a:extLst>
                </a:gridCol>
                <a:gridCol w="1302084">
                  <a:extLst>
                    <a:ext uri="{9D8B030D-6E8A-4147-A177-3AD203B41FA5}">
                      <a16:colId xmlns:a16="http://schemas.microsoft.com/office/drawing/2014/main" val="2377711782"/>
                    </a:ext>
                  </a:extLst>
                </a:gridCol>
                <a:gridCol w="1302084">
                  <a:extLst>
                    <a:ext uri="{9D8B030D-6E8A-4147-A177-3AD203B41FA5}">
                      <a16:colId xmlns:a16="http://schemas.microsoft.com/office/drawing/2014/main" val="3946881186"/>
                    </a:ext>
                  </a:extLst>
                </a:gridCol>
                <a:gridCol w="1829643">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3" name="Rectangle 2">
            <a:extLst>
              <a:ext uri="{FF2B5EF4-FFF2-40B4-BE49-F238E27FC236}">
                <a16:creationId xmlns:a16="http://schemas.microsoft.com/office/drawing/2014/main" id="{5ED12C67-12A7-A9DE-A0C3-1EB944B4FB9B}"/>
              </a:ext>
            </a:extLst>
          </p:cNvPr>
          <p:cNvSpPr/>
          <p:nvPr/>
        </p:nvSpPr>
        <p:spPr>
          <a:xfrm>
            <a:off x="6602198" y="3375809"/>
            <a:ext cx="5228747" cy="93064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6" name="Rectangle 5">
            <a:extLst>
              <a:ext uri="{FF2B5EF4-FFF2-40B4-BE49-F238E27FC236}">
                <a16:creationId xmlns:a16="http://schemas.microsoft.com/office/drawing/2014/main" id="{DC1473A7-44A6-DAB3-277E-0FDC317FC958}"/>
              </a:ext>
            </a:extLst>
          </p:cNvPr>
          <p:cNvSpPr/>
          <p:nvPr/>
        </p:nvSpPr>
        <p:spPr>
          <a:xfrm>
            <a:off x="6508937" y="5274859"/>
            <a:ext cx="5344143" cy="96216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Rectangle 6">
            <a:extLst>
              <a:ext uri="{FF2B5EF4-FFF2-40B4-BE49-F238E27FC236}">
                <a16:creationId xmlns:a16="http://schemas.microsoft.com/office/drawing/2014/main" id="{F29EA76D-1C9C-B07D-4B8C-1464035161BE}"/>
              </a:ext>
            </a:extLst>
          </p:cNvPr>
          <p:cNvSpPr/>
          <p:nvPr/>
        </p:nvSpPr>
        <p:spPr>
          <a:xfrm>
            <a:off x="498758" y="2777207"/>
            <a:ext cx="5497865" cy="1697157"/>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8" name="对话气泡: 矩形 11">
            <a:extLst>
              <a:ext uri="{FF2B5EF4-FFF2-40B4-BE49-F238E27FC236}">
                <a16:creationId xmlns:a16="http://schemas.microsoft.com/office/drawing/2014/main" id="{76D15DB2-07CD-1193-D944-9D0935D1C1E2}"/>
              </a:ext>
            </a:extLst>
          </p:cNvPr>
          <p:cNvSpPr/>
          <p:nvPr/>
        </p:nvSpPr>
        <p:spPr>
          <a:xfrm>
            <a:off x="231507" y="4729716"/>
            <a:ext cx="5571460" cy="352824"/>
          </a:xfrm>
          <a:prstGeom prst="wedgeRectCallout">
            <a:avLst>
              <a:gd name="adj1" fmla="val -34290"/>
              <a:gd name="adj2" fmla="val -14286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Accounting confirmed for</a:t>
            </a:r>
            <a:r>
              <a:rPr lang="zh-CN" altLang="en-US" sz="1200">
                <a:solidFill>
                  <a:schemeClr val="tx1"/>
                </a:solidFill>
              </a:rPr>
              <a:t> </a:t>
            </a:r>
            <a:r>
              <a:rPr lang="en-US" altLang="zh-CN" sz="1200">
                <a:solidFill>
                  <a:schemeClr val="tx1"/>
                </a:solidFill>
              </a:rPr>
              <a:t>variable</a:t>
            </a:r>
            <a:r>
              <a:rPr lang="zh-CN" altLang="en-US" sz="1200">
                <a:solidFill>
                  <a:schemeClr val="tx1"/>
                </a:solidFill>
              </a:rPr>
              <a:t> </a:t>
            </a:r>
            <a:r>
              <a:rPr lang="en-US" altLang="zh-CN" sz="1200">
                <a:solidFill>
                  <a:schemeClr val="tx1"/>
                </a:solidFill>
              </a:rPr>
              <a:t>rev</a:t>
            </a:r>
            <a:r>
              <a:rPr lang="zh-CN" altLang="en-US" sz="1200">
                <a:solidFill>
                  <a:schemeClr val="tx1"/>
                </a:solidFill>
              </a:rPr>
              <a:t> </a:t>
            </a:r>
            <a:r>
              <a:rPr lang="en-US" altLang="zh-CN" sz="1200">
                <a:solidFill>
                  <a:schemeClr val="tx1"/>
                </a:solidFill>
              </a:rPr>
              <a:t>in</a:t>
            </a:r>
            <a:r>
              <a:rPr lang="zh-CN" altLang="en-US" sz="1200">
                <a:solidFill>
                  <a:schemeClr val="tx1"/>
                </a:solidFill>
              </a:rPr>
              <a:t> </a:t>
            </a:r>
            <a:r>
              <a:rPr lang="en-US" altLang="zh-CN" sz="1200">
                <a:solidFill>
                  <a:schemeClr val="tx1"/>
                </a:solidFill>
              </a:rPr>
              <a:t>S&amp;D</a:t>
            </a:r>
            <a:r>
              <a:rPr lang="zh-CN" altLang="en-US" sz="1200">
                <a:solidFill>
                  <a:schemeClr val="tx1"/>
                </a:solidFill>
              </a:rPr>
              <a:t>，</a:t>
            </a:r>
            <a:r>
              <a:rPr lang="en-US" altLang="zh-CN" sz="1200">
                <a:solidFill>
                  <a:schemeClr val="tx1"/>
                </a:solidFill>
              </a:rPr>
              <a:t>LV use</a:t>
            </a:r>
            <a:r>
              <a:rPr lang="zh-CN" altLang="en-US" sz="1200">
                <a:solidFill>
                  <a:schemeClr val="tx1"/>
                </a:solidFill>
              </a:rPr>
              <a:t> </a:t>
            </a:r>
            <a:r>
              <a:rPr lang="en-US" altLang="zh-CN" sz="1200">
                <a:solidFill>
                  <a:schemeClr val="tx1"/>
                </a:solidFill>
              </a:rPr>
              <a:t>5010401 and PV use 5010450.</a:t>
            </a:r>
          </a:p>
        </p:txBody>
      </p:sp>
      <p:pic>
        <p:nvPicPr>
          <p:cNvPr id="1026" name="Picture 2">
            <a:extLst>
              <a:ext uri="{FF2B5EF4-FFF2-40B4-BE49-F238E27FC236}">
                <a16:creationId xmlns:a16="http://schemas.microsoft.com/office/drawing/2014/main" id="{B41A6389-A970-0266-45C7-C646C15ADA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852" y="6107599"/>
            <a:ext cx="2061882" cy="715752"/>
          </a:xfrm>
          <a:prstGeom prst="rect">
            <a:avLst/>
          </a:prstGeom>
          <a:noFill/>
          <a:extLst>
            <a:ext uri="{909E8E84-426E-40DD-AFC4-6F175D3DCCD1}">
              <a14:hiddenFill xmlns:a14="http://schemas.microsoft.com/office/drawing/2010/main">
                <a:solidFill>
                  <a:srgbClr val="FFFFFF"/>
                </a:solidFill>
              </a14:hiddenFill>
            </a:ext>
          </a:extLst>
        </p:spPr>
      </p:pic>
      <p:sp>
        <p:nvSpPr>
          <p:cNvPr id="2" name="文本框 1">
            <a:extLst>
              <a:ext uri="{FF2B5EF4-FFF2-40B4-BE49-F238E27FC236}">
                <a16:creationId xmlns:a16="http://schemas.microsoft.com/office/drawing/2014/main" id="{975F3E40-0417-55B1-ED54-40F5A3321ACE}"/>
              </a:ext>
            </a:extLst>
          </p:cNvPr>
          <p:cNvSpPr txBox="1"/>
          <p:nvPr/>
        </p:nvSpPr>
        <p:spPr>
          <a:xfrm>
            <a:off x="9893134" y="1611208"/>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Tree>
    <p:extLst>
      <p:ext uri="{BB962C8B-B14F-4D97-AF65-F5344CB8AC3E}">
        <p14:creationId xmlns:p14="http://schemas.microsoft.com/office/powerpoint/2010/main" val="13426105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9B25E4-6B85-5243-5630-1C39D020D38F}"/>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BABFB7B3-5827-9FA5-92DA-31626501677D}"/>
              </a:ext>
            </a:extLst>
          </p:cNvPr>
          <p:cNvGraphicFramePr>
            <a:graphicFrameLocks noGrp="1"/>
          </p:cNvGraphicFramePr>
          <p:nvPr>
            <p:extLst>
              <p:ext uri="{D42A27DB-BD31-4B8C-83A1-F6EECF244321}">
                <p14:modId xmlns:p14="http://schemas.microsoft.com/office/powerpoint/2010/main" val="206251992"/>
              </p:ext>
            </p:extLst>
          </p:nvPr>
        </p:nvGraphicFramePr>
        <p:xfrm>
          <a:off x="6089645" y="1643936"/>
          <a:ext cx="5702497" cy="2659257"/>
        </p:xfrm>
        <a:graphic>
          <a:graphicData uri="http://schemas.openxmlformats.org/drawingml/2006/table">
            <a:tbl>
              <a:tblPr/>
              <a:tblGrid>
                <a:gridCol w="486891">
                  <a:extLst>
                    <a:ext uri="{9D8B030D-6E8A-4147-A177-3AD203B41FA5}">
                      <a16:colId xmlns:a16="http://schemas.microsoft.com/office/drawing/2014/main" val="495084399"/>
                    </a:ext>
                  </a:extLst>
                </a:gridCol>
                <a:gridCol w="254976">
                  <a:extLst>
                    <a:ext uri="{9D8B030D-6E8A-4147-A177-3AD203B41FA5}">
                      <a16:colId xmlns:a16="http://schemas.microsoft.com/office/drawing/2014/main" val="3614210242"/>
                    </a:ext>
                  </a:extLst>
                </a:gridCol>
                <a:gridCol w="606811">
                  <a:extLst>
                    <a:ext uri="{9D8B030D-6E8A-4147-A177-3AD203B41FA5}">
                      <a16:colId xmlns:a16="http://schemas.microsoft.com/office/drawing/2014/main" val="1442124609"/>
                    </a:ext>
                  </a:extLst>
                </a:gridCol>
                <a:gridCol w="1946031">
                  <a:extLst>
                    <a:ext uri="{9D8B030D-6E8A-4147-A177-3AD203B41FA5}">
                      <a16:colId xmlns:a16="http://schemas.microsoft.com/office/drawing/2014/main" val="3603859997"/>
                    </a:ext>
                  </a:extLst>
                </a:gridCol>
                <a:gridCol w="401298">
                  <a:extLst>
                    <a:ext uri="{9D8B030D-6E8A-4147-A177-3AD203B41FA5}">
                      <a16:colId xmlns:a16="http://schemas.microsoft.com/office/drawing/2014/main" val="4076488391"/>
                    </a:ext>
                  </a:extLst>
                </a:gridCol>
                <a:gridCol w="401298">
                  <a:extLst>
                    <a:ext uri="{9D8B030D-6E8A-4147-A177-3AD203B41FA5}">
                      <a16:colId xmlns:a16="http://schemas.microsoft.com/office/drawing/2014/main" val="3254101706"/>
                    </a:ext>
                  </a:extLst>
                </a:gridCol>
                <a:gridCol w="401298">
                  <a:extLst>
                    <a:ext uri="{9D8B030D-6E8A-4147-A177-3AD203B41FA5}">
                      <a16:colId xmlns:a16="http://schemas.microsoft.com/office/drawing/2014/main" val="3712391277"/>
                    </a:ext>
                  </a:extLst>
                </a:gridCol>
                <a:gridCol w="401298">
                  <a:extLst>
                    <a:ext uri="{9D8B030D-6E8A-4147-A177-3AD203B41FA5}">
                      <a16:colId xmlns:a16="http://schemas.microsoft.com/office/drawing/2014/main" val="2527660299"/>
                    </a:ext>
                  </a:extLst>
                </a:gridCol>
                <a:gridCol w="401298">
                  <a:extLst>
                    <a:ext uri="{9D8B030D-6E8A-4147-A177-3AD203B41FA5}">
                      <a16:colId xmlns:a16="http://schemas.microsoft.com/office/drawing/2014/main" val="3641075278"/>
                    </a:ext>
                  </a:extLst>
                </a:gridCol>
                <a:gridCol w="401298">
                  <a:extLst>
                    <a:ext uri="{9D8B030D-6E8A-4147-A177-3AD203B41FA5}">
                      <a16:colId xmlns:a16="http://schemas.microsoft.com/office/drawing/2014/main" val="3618613915"/>
                    </a:ext>
                  </a:extLst>
                </a:gridCol>
              </a:tblGrid>
              <a:tr h="0">
                <a:tc rowSpan="12">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649643129"/>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660198487"/>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LR – Upfront fulfilled Service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kumimoji="0" lang="en-US" sz="1000" b="0" i="0" u="none" strike="noStrike" kern="1200" cap="none" spc="0" normalizeH="0" baseline="0">
                          <a:ln>
                            <a:noFill/>
                          </a:ln>
                          <a:solidFill>
                            <a:srgbClr val="000000"/>
                          </a:solidFill>
                          <a:effectLst/>
                          <a:uLnTx/>
                          <a:uFillTx/>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29420255"/>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067991"/>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0649851"/>
                  </a:ext>
                </a:extLst>
              </a:tr>
            </a:tbl>
          </a:graphicData>
        </a:graphic>
      </p:graphicFrame>
      <p:sp>
        <p:nvSpPr>
          <p:cNvPr id="28" name="文本框 27">
            <a:extLst>
              <a:ext uri="{FF2B5EF4-FFF2-40B4-BE49-F238E27FC236}">
                <a16:creationId xmlns:a16="http://schemas.microsoft.com/office/drawing/2014/main" id="{C42053C7-B088-AAB8-FB6F-DBA6609D30D7}"/>
              </a:ext>
            </a:extLst>
          </p:cNvPr>
          <p:cNvSpPr txBox="1"/>
          <p:nvPr/>
        </p:nvSpPr>
        <p:spPr>
          <a:xfrm>
            <a:off x="-40473" y="34649"/>
            <a:ext cx="4470947" cy="400110"/>
          </a:xfrm>
          <a:prstGeom prst="rect">
            <a:avLst/>
          </a:prstGeom>
          <a:noFill/>
        </p:spPr>
        <p:txBody>
          <a:bodyPr wrap="square" rtlCol="0">
            <a:spAutoFit/>
          </a:bodyPr>
          <a:lstStyle/>
          <a:p>
            <a:r>
              <a:rPr lang="nl-NL" altLang="zh-CN" sz="2000" b="1"/>
              <a:t>IaaS_ AFE HUB _MSA</a:t>
            </a:r>
            <a:endParaRPr lang="zh-CN" altLang="en-US" sz="2000" b="1"/>
          </a:p>
        </p:txBody>
      </p:sp>
      <p:graphicFrame>
        <p:nvGraphicFramePr>
          <p:cNvPr id="5" name="表格 4">
            <a:extLst>
              <a:ext uri="{FF2B5EF4-FFF2-40B4-BE49-F238E27FC236}">
                <a16:creationId xmlns:a16="http://schemas.microsoft.com/office/drawing/2014/main" id="{410882C2-B89F-5599-BD98-3C34A3BAF0AA}"/>
              </a:ext>
            </a:extLst>
          </p:cNvPr>
          <p:cNvGraphicFramePr>
            <a:graphicFrameLocks noGrp="1"/>
          </p:cNvGraphicFramePr>
          <p:nvPr>
            <p:extLst>
              <p:ext uri="{D42A27DB-BD31-4B8C-83A1-F6EECF244321}">
                <p14:modId xmlns:p14="http://schemas.microsoft.com/office/powerpoint/2010/main" val="2399172030"/>
              </p:ext>
            </p:extLst>
          </p:nvPr>
        </p:nvGraphicFramePr>
        <p:xfrm>
          <a:off x="89456" y="1663978"/>
          <a:ext cx="5702498" cy="2773190"/>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2044027">
                  <a:extLst>
                    <a:ext uri="{9D8B030D-6E8A-4147-A177-3AD203B41FA5}">
                      <a16:colId xmlns:a16="http://schemas.microsoft.com/office/drawing/2014/main" val="3603859997"/>
                    </a:ext>
                  </a:extLst>
                </a:gridCol>
                <a:gridCol w="405149">
                  <a:extLst>
                    <a:ext uri="{9D8B030D-6E8A-4147-A177-3AD203B41FA5}">
                      <a16:colId xmlns:a16="http://schemas.microsoft.com/office/drawing/2014/main" val="4076488391"/>
                    </a:ext>
                  </a:extLst>
                </a:gridCol>
                <a:gridCol w="405149">
                  <a:extLst>
                    <a:ext uri="{9D8B030D-6E8A-4147-A177-3AD203B41FA5}">
                      <a16:colId xmlns:a16="http://schemas.microsoft.com/office/drawing/2014/main" val="3254101706"/>
                    </a:ext>
                  </a:extLst>
                </a:gridCol>
                <a:gridCol w="405149">
                  <a:extLst>
                    <a:ext uri="{9D8B030D-6E8A-4147-A177-3AD203B41FA5}">
                      <a16:colId xmlns:a16="http://schemas.microsoft.com/office/drawing/2014/main" val="3712391277"/>
                    </a:ext>
                  </a:extLst>
                </a:gridCol>
                <a:gridCol w="405149">
                  <a:extLst>
                    <a:ext uri="{9D8B030D-6E8A-4147-A177-3AD203B41FA5}">
                      <a16:colId xmlns:a16="http://schemas.microsoft.com/office/drawing/2014/main" val="2527660299"/>
                    </a:ext>
                  </a:extLst>
                </a:gridCol>
                <a:gridCol w="405149">
                  <a:extLst>
                    <a:ext uri="{9D8B030D-6E8A-4147-A177-3AD203B41FA5}">
                      <a16:colId xmlns:a16="http://schemas.microsoft.com/office/drawing/2014/main" val="3641075278"/>
                    </a:ext>
                  </a:extLst>
                </a:gridCol>
                <a:gridCol w="405149">
                  <a:extLst>
                    <a:ext uri="{9D8B030D-6E8A-4147-A177-3AD203B41FA5}">
                      <a16:colId xmlns:a16="http://schemas.microsoft.com/office/drawing/2014/main" val="3618613915"/>
                    </a:ext>
                  </a:extLst>
                </a:gridCol>
              </a:tblGrid>
              <a:tr h="168009">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HK24</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384085619"/>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44374784"/>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45660961"/>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92553694"/>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26164466"/>
                  </a:ext>
                </a:extLst>
              </a:tr>
              <a:tr h="16710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65983599"/>
                  </a:ext>
                </a:extLst>
              </a:tr>
            </a:tbl>
          </a:graphicData>
        </a:graphic>
      </p:graphicFrame>
      <p:graphicFrame>
        <p:nvGraphicFramePr>
          <p:cNvPr id="12" name="表格 11">
            <a:extLst>
              <a:ext uri="{FF2B5EF4-FFF2-40B4-BE49-F238E27FC236}">
                <a16:creationId xmlns:a16="http://schemas.microsoft.com/office/drawing/2014/main" id="{C67B1320-71DB-43B7-7C31-2700F4E8B393}"/>
              </a:ext>
            </a:extLst>
          </p:cNvPr>
          <p:cNvGraphicFramePr>
            <a:graphicFrameLocks noGrp="1"/>
          </p:cNvGraphicFramePr>
          <p:nvPr>
            <p:extLst>
              <p:ext uri="{D42A27DB-BD31-4B8C-83A1-F6EECF244321}">
                <p14:modId xmlns:p14="http://schemas.microsoft.com/office/powerpoint/2010/main" val="2449964723"/>
              </p:ext>
            </p:extLst>
          </p:nvPr>
        </p:nvGraphicFramePr>
        <p:xfrm>
          <a:off x="37852" y="426316"/>
          <a:ext cx="10805407" cy="852454"/>
        </p:xfrm>
        <a:graphic>
          <a:graphicData uri="http://schemas.openxmlformats.org/drawingml/2006/table">
            <a:tbl>
              <a:tblPr firstRow="1" bandRow="1">
                <a:tableStyleId>{3C2FFA5D-87B4-456A-9821-1D502468CF0F}</a:tableStyleId>
              </a:tblPr>
              <a:tblGrid>
                <a:gridCol w="1324380">
                  <a:extLst>
                    <a:ext uri="{9D8B030D-6E8A-4147-A177-3AD203B41FA5}">
                      <a16:colId xmlns:a16="http://schemas.microsoft.com/office/drawing/2014/main" val="869603910"/>
                    </a:ext>
                  </a:extLst>
                </a:gridCol>
                <a:gridCol w="1259231">
                  <a:extLst>
                    <a:ext uri="{9D8B030D-6E8A-4147-A177-3AD203B41FA5}">
                      <a16:colId xmlns:a16="http://schemas.microsoft.com/office/drawing/2014/main" val="238663902"/>
                    </a:ext>
                  </a:extLst>
                </a:gridCol>
                <a:gridCol w="1214682">
                  <a:extLst>
                    <a:ext uri="{9D8B030D-6E8A-4147-A177-3AD203B41FA5}">
                      <a16:colId xmlns:a16="http://schemas.microsoft.com/office/drawing/2014/main" val="4114365151"/>
                    </a:ext>
                  </a:extLst>
                </a:gridCol>
                <a:gridCol w="1187831">
                  <a:extLst>
                    <a:ext uri="{9D8B030D-6E8A-4147-A177-3AD203B41FA5}">
                      <a16:colId xmlns:a16="http://schemas.microsoft.com/office/drawing/2014/main" val="4075178046"/>
                    </a:ext>
                  </a:extLst>
                </a:gridCol>
                <a:gridCol w="1404153">
                  <a:extLst>
                    <a:ext uri="{9D8B030D-6E8A-4147-A177-3AD203B41FA5}">
                      <a16:colId xmlns:a16="http://schemas.microsoft.com/office/drawing/2014/main" val="973533418"/>
                    </a:ext>
                  </a:extLst>
                </a:gridCol>
                <a:gridCol w="1296598">
                  <a:extLst>
                    <a:ext uri="{9D8B030D-6E8A-4147-A177-3AD203B41FA5}">
                      <a16:colId xmlns:a16="http://schemas.microsoft.com/office/drawing/2014/main" val="2377711782"/>
                    </a:ext>
                  </a:extLst>
                </a:gridCol>
                <a:gridCol w="1296598">
                  <a:extLst>
                    <a:ext uri="{9D8B030D-6E8A-4147-A177-3AD203B41FA5}">
                      <a16:colId xmlns:a16="http://schemas.microsoft.com/office/drawing/2014/main" val="3946881186"/>
                    </a:ext>
                  </a:extLst>
                </a:gridCol>
                <a:gridCol w="1821934">
                  <a:extLst>
                    <a:ext uri="{9D8B030D-6E8A-4147-A177-3AD203B41FA5}">
                      <a16:colId xmlns:a16="http://schemas.microsoft.com/office/drawing/2014/main" val="221569069"/>
                    </a:ext>
                  </a:extLst>
                </a:gridCol>
              </a:tblGrid>
              <a:tr h="36079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40974">
                <a:tc>
                  <a:txBody>
                    <a:bodyPr/>
                    <a:lstStyle/>
                    <a:p>
                      <a:r>
                        <a:rPr lang="en-US" altLang="zh-CN" sz="1050">
                          <a:solidFill>
                            <a:srgbClr val="C00000"/>
                          </a:solidFill>
                        </a:rPr>
                        <a:t>Fixed/Consumption</a:t>
                      </a:r>
                      <a:endParaRPr lang="zh-CN" altLang="en-US" sz="1050">
                        <a:solidFill>
                          <a:srgbClr val="C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Normal Pass/End of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2" name="表格 3">
            <a:extLst>
              <a:ext uri="{FF2B5EF4-FFF2-40B4-BE49-F238E27FC236}">
                <a16:creationId xmlns:a16="http://schemas.microsoft.com/office/drawing/2014/main" id="{ECD18378-5DB5-F2EA-DE4D-134822EC0391}"/>
              </a:ext>
            </a:extLst>
          </p:cNvPr>
          <p:cNvGraphicFramePr>
            <a:graphicFrameLocks noGrp="1"/>
          </p:cNvGraphicFramePr>
          <p:nvPr>
            <p:extLst>
              <p:ext uri="{D42A27DB-BD31-4B8C-83A1-F6EECF244321}">
                <p14:modId xmlns:p14="http://schemas.microsoft.com/office/powerpoint/2010/main" val="3431363077"/>
              </p:ext>
            </p:extLst>
          </p:nvPr>
        </p:nvGraphicFramePr>
        <p:xfrm>
          <a:off x="6089645" y="4437168"/>
          <a:ext cx="5708852" cy="2082337"/>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2056748">
                  <a:extLst>
                    <a:ext uri="{9D8B030D-6E8A-4147-A177-3AD203B41FA5}">
                      <a16:colId xmlns:a16="http://schemas.microsoft.com/office/drawing/2014/main" val="3603859997"/>
                    </a:ext>
                  </a:extLst>
                </a:gridCol>
                <a:gridCol w="395381">
                  <a:extLst>
                    <a:ext uri="{9D8B030D-6E8A-4147-A177-3AD203B41FA5}">
                      <a16:colId xmlns:a16="http://schemas.microsoft.com/office/drawing/2014/main" val="4076488391"/>
                    </a:ext>
                  </a:extLst>
                </a:gridCol>
                <a:gridCol w="395381">
                  <a:extLst>
                    <a:ext uri="{9D8B030D-6E8A-4147-A177-3AD203B41FA5}">
                      <a16:colId xmlns:a16="http://schemas.microsoft.com/office/drawing/2014/main" val="3254101706"/>
                    </a:ext>
                  </a:extLst>
                </a:gridCol>
                <a:gridCol w="395381">
                  <a:extLst>
                    <a:ext uri="{9D8B030D-6E8A-4147-A177-3AD203B41FA5}">
                      <a16:colId xmlns:a16="http://schemas.microsoft.com/office/drawing/2014/main" val="3712391277"/>
                    </a:ext>
                  </a:extLst>
                </a:gridCol>
                <a:gridCol w="395381">
                  <a:extLst>
                    <a:ext uri="{9D8B030D-6E8A-4147-A177-3AD203B41FA5}">
                      <a16:colId xmlns:a16="http://schemas.microsoft.com/office/drawing/2014/main" val="2527660299"/>
                    </a:ext>
                  </a:extLst>
                </a:gridCol>
                <a:gridCol w="395381">
                  <a:extLst>
                    <a:ext uri="{9D8B030D-6E8A-4147-A177-3AD203B41FA5}">
                      <a16:colId xmlns:a16="http://schemas.microsoft.com/office/drawing/2014/main" val="3641075278"/>
                    </a:ext>
                  </a:extLst>
                </a:gridCol>
                <a:gridCol w="395381">
                  <a:extLst>
                    <a:ext uri="{9D8B030D-6E8A-4147-A177-3AD203B41FA5}">
                      <a16:colId xmlns:a16="http://schemas.microsoft.com/office/drawing/2014/main" val="3618613915"/>
                    </a:ext>
                  </a:extLst>
                </a:gridCol>
              </a:tblGrid>
              <a:tr h="16173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4211421"/>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00537104"/>
                  </a:ext>
                </a:extLst>
              </a:tr>
              <a:tr h="16087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9419537"/>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3" name="Rectangle 2">
            <a:extLst>
              <a:ext uri="{FF2B5EF4-FFF2-40B4-BE49-F238E27FC236}">
                <a16:creationId xmlns:a16="http://schemas.microsoft.com/office/drawing/2014/main" id="{72AE5B33-32F4-A5E6-2CC4-36B6E9647644}"/>
              </a:ext>
            </a:extLst>
          </p:cNvPr>
          <p:cNvSpPr/>
          <p:nvPr/>
        </p:nvSpPr>
        <p:spPr>
          <a:xfrm>
            <a:off x="6602198" y="3327778"/>
            <a:ext cx="5228747" cy="96216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4" name="Rectangle 3">
            <a:extLst>
              <a:ext uri="{FF2B5EF4-FFF2-40B4-BE49-F238E27FC236}">
                <a16:creationId xmlns:a16="http://schemas.microsoft.com/office/drawing/2014/main" id="{2173371F-CD5D-ECEA-04FF-F1707B29C558}"/>
              </a:ext>
            </a:extLst>
          </p:cNvPr>
          <p:cNvSpPr/>
          <p:nvPr/>
        </p:nvSpPr>
        <p:spPr>
          <a:xfrm>
            <a:off x="6508937" y="5410199"/>
            <a:ext cx="5344143" cy="90678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6" name="Rectangle 5">
            <a:extLst>
              <a:ext uri="{FF2B5EF4-FFF2-40B4-BE49-F238E27FC236}">
                <a16:creationId xmlns:a16="http://schemas.microsoft.com/office/drawing/2014/main" id="{2B75BB66-DB6C-B895-FB13-5CBC2B4C9F58}"/>
              </a:ext>
            </a:extLst>
          </p:cNvPr>
          <p:cNvSpPr/>
          <p:nvPr/>
        </p:nvSpPr>
        <p:spPr>
          <a:xfrm>
            <a:off x="498758" y="2777208"/>
            <a:ext cx="5304209" cy="1723460"/>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对话气泡: 矩形 11">
            <a:extLst>
              <a:ext uri="{FF2B5EF4-FFF2-40B4-BE49-F238E27FC236}">
                <a16:creationId xmlns:a16="http://schemas.microsoft.com/office/drawing/2014/main" id="{FA5B8191-8E20-F654-DD21-EA70A9E01905}"/>
              </a:ext>
            </a:extLst>
          </p:cNvPr>
          <p:cNvSpPr/>
          <p:nvPr/>
        </p:nvSpPr>
        <p:spPr>
          <a:xfrm>
            <a:off x="220494" y="4840304"/>
            <a:ext cx="5571460" cy="353718"/>
          </a:xfrm>
          <a:prstGeom prst="wedgeRectCallout">
            <a:avLst>
              <a:gd name="adj1" fmla="val -35111"/>
              <a:gd name="adj2" fmla="val -18576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Accounting confirmed for</a:t>
            </a:r>
            <a:r>
              <a:rPr lang="zh-CN" altLang="en-US" sz="1200">
                <a:solidFill>
                  <a:schemeClr val="tx1"/>
                </a:solidFill>
              </a:rPr>
              <a:t> </a:t>
            </a:r>
            <a:r>
              <a:rPr lang="en-US" altLang="zh-CN" sz="1200">
                <a:solidFill>
                  <a:schemeClr val="tx1"/>
                </a:solidFill>
              </a:rPr>
              <a:t>variable</a:t>
            </a:r>
            <a:r>
              <a:rPr lang="zh-CN" altLang="en-US" sz="1200">
                <a:solidFill>
                  <a:schemeClr val="tx1"/>
                </a:solidFill>
              </a:rPr>
              <a:t> </a:t>
            </a:r>
            <a:r>
              <a:rPr lang="en-US" altLang="zh-CN" sz="1200">
                <a:solidFill>
                  <a:schemeClr val="tx1"/>
                </a:solidFill>
              </a:rPr>
              <a:t>rev</a:t>
            </a:r>
            <a:r>
              <a:rPr lang="zh-CN" altLang="en-US" sz="1200">
                <a:solidFill>
                  <a:schemeClr val="tx1"/>
                </a:solidFill>
              </a:rPr>
              <a:t> </a:t>
            </a:r>
            <a:r>
              <a:rPr lang="en-US" altLang="zh-CN" sz="1200">
                <a:solidFill>
                  <a:schemeClr val="tx1"/>
                </a:solidFill>
              </a:rPr>
              <a:t>in</a:t>
            </a:r>
            <a:r>
              <a:rPr lang="zh-CN" altLang="en-US" sz="1200">
                <a:solidFill>
                  <a:schemeClr val="tx1"/>
                </a:solidFill>
              </a:rPr>
              <a:t> </a:t>
            </a:r>
            <a:r>
              <a:rPr lang="en-US" altLang="zh-CN" sz="1200">
                <a:solidFill>
                  <a:schemeClr val="tx1"/>
                </a:solidFill>
              </a:rPr>
              <a:t>S&amp;D</a:t>
            </a:r>
            <a:r>
              <a:rPr lang="zh-CN" altLang="en-US" sz="1200">
                <a:solidFill>
                  <a:schemeClr val="tx1"/>
                </a:solidFill>
              </a:rPr>
              <a:t>，</a:t>
            </a:r>
            <a:r>
              <a:rPr lang="en-US" altLang="zh-CN" sz="1200">
                <a:solidFill>
                  <a:schemeClr val="tx1"/>
                </a:solidFill>
              </a:rPr>
              <a:t>LV use</a:t>
            </a:r>
            <a:r>
              <a:rPr lang="zh-CN" altLang="en-US" sz="1200">
                <a:solidFill>
                  <a:schemeClr val="tx1"/>
                </a:solidFill>
              </a:rPr>
              <a:t> </a:t>
            </a:r>
            <a:r>
              <a:rPr lang="en-US" altLang="zh-CN" sz="1200">
                <a:solidFill>
                  <a:schemeClr val="tx1"/>
                </a:solidFill>
              </a:rPr>
              <a:t>5010401 and PV use 5010509.</a:t>
            </a:r>
          </a:p>
        </p:txBody>
      </p:sp>
      <p:sp>
        <p:nvSpPr>
          <p:cNvPr id="8" name="文本框 7">
            <a:extLst>
              <a:ext uri="{FF2B5EF4-FFF2-40B4-BE49-F238E27FC236}">
                <a16:creationId xmlns:a16="http://schemas.microsoft.com/office/drawing/2014/main" id="{4FDCEFE7-B25D-39D7-0D15-6BDE0E8034B5}"/>
              </a:ext>
            </a:extLst>
          </p:cNvPr>
          <p:cNvSpPr txBox="1"/>
          <p:nvPr/>
        </p:nvSpPr>
        <p:spPr>
          <a:xfrm>
            <a:off x="9854331" y="1630689"/>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Tree>
    <p:extLst>
      <p:ext uri="{BB962C8B-B14F-4D97-AF65-F5344CB8AC3E}">
        <p14:creationId xmlns:p14="http://schemas.microsoft.com/office/powerpoint/2010/main" val="306197949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726388-1987-91C6-0ADA-442FB6ACA6B4}"/>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309A3292-DAD1-8747-8076-8B6610AB90EA}"/>
              </a:ext>
            </a:extLst>
          </p:cNvPr>
          <p:cNvGraphicFramePr>
            <a:graphicFrameLocks noGrp="1"/>
          </p:cNvGraphicFramePr>
          <p:nvPr>
            <p:extLst>
              <p:ext uri="{D42A27DB-BD31-4B8C-83A1-F6EECF244321}">
                <p14:modId xmlns:p14="http://schemas.microsoft.com/office/powerpoint/2010/main" val="56236247"/>
              </p:ext>
            </p:extLst>
          </p:nvPr>
        </p:nvGraphicFramePr>
        <p:xfrm>
          <a:off x="5906948" y="1633587"/>
          <a:ext cx="5734947" cy="2066991"/>
        </p:xfrm>
        <a:graphic>
          <a:graphicData uri="http://schemas.openxmlformats.org/drawingml/2006/table">
            <a:tbl>
              <a:tblPr/>
              <a:tblGrid>
                <a:gridCol w="489662">
                  <a:extLst>
                    <a:ext uri="{9D8B030D-6E8A-4147-A177-3AD203B41FA5}">
                      <a16:colId xmlns:a16="http://schemas.microsoft.com/office/drawing/2014/main" val="495084399"/>
                    </a:ext>
                  </a:extLst>
                </a:gridCol>
                <a:gridCol w="256427">
                  <a:extLst>
                    <a:ext uri="{9D8B030D-6E8A-4147-A177-3AD203B41FA5}">
                      <a16:colId xmlns:a16="http://schemas.microsoft.com/office/drawing/2014/main" val="3614210242"/>
                    </a:ext>
                  </a:extLst>
                </a:gridCol>
                <a:gridCol w="610264">
                  <a:extLst>
                    <a:ext uri="{9D8B030D-6E8A-4147-A177-3AD203B41FA5}">
                      <a16:colId xmlns:a16="http://schemas.microsoft.com/office/drawing/2014/main" val="1442124609"/>
                    </a:ext>
                  </a:extLst>
                </a:gridCol>
                <a:gridCol w="1957105">
                  <a:extLst>
                    <a:ext uri="{9D8B030D-6E8A-4147-A177-3AD203B41FA5}">
                      <a16:colId xmlns:a16="http://schemas.microsoft.com/office/drawing/2014/main" val="3603859997"/>
                    </a:ext>
                  </a:extLst>
                </a:gridCol>
                <a:gridCol w="364779">
                  <a:extLst>
                    <a:ext uri="{9D8B030D-6E8A-4147-A177-3AD203B41FA5}">
                      <a16:colId xmlns:a16="http://schemas.microsoft.com/office/drawing/2014/main" val="4076488391"/>
                    </a:ext>
                  </a:extLst>
                </a:gridCol>
                <a:gridCol w="364779">
                  <a:extLst>
                    <a:ext uri="{9D8B030D-6E8A-4147-A177-3AD203B41FA5}">
                      <a16:colId xmlns:a16="http://schemas.microsoft.com/office/drawing/2014/main" val="3254101706"/>
                    </a:ext>
                  </a:extLst>
                </a:gridCol>
                <a:gridCol w="294988">
                  <a:extLst>
                    <a:ext uri="{9D8B030D-6E8A-4147-A177-3AD203B41FA5}">
                      <a16:colId xmlns:a16="http://schemas.microsoft.com/office/drawing/2014/main" val="3712391277"/>
                    </a:ext>
                  </a:extLst>
                </a:gridCol>
                <a:gridCol w="306570">
                  <a:extLst>
                    <a:ext uri="{9D8B030D-6E8A-4147-A177-3AD203B41FA5}">
                      <a16:colId xmlns:a16="http://schemas.microsoft.com/office/drawing/2014/main" val="2527660299"/>
                    </a:ext>
                  </a:extLst>
                </a:gridCol>
                <a:gridCol w="420648">
                  <a:extLst>
                    <a:ext uri="{9D8B030D-6E8A-4147-A177-3AD203B41FA5}">
                      <a16:colId xmlns:a16="http://schemas.microsoft.com/office/drawing/2014/main" val="3641075278"/>
                    </a:ext>
                  </a:extLst>
                </a:gridCol>
                <a:gridCol w="669725">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10822268"/>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chemeClr val="tx1"/>
                          </a:solidFill>
                          <a:effectLst/>
                          <a:latin typeface="+mn-lt"/>
                          <a:ea typeface="+mn-ea"/>
                          <a:cs typeface="+mn-cs"/>
                        </a:rPr>
                        <a:t>Broker Sales</a:t>
                      </a:r>
                      <a:r>
                        <a:rPr lang="en-US" altLang="zh-CN" sz="1000" b="0" i="0" u="none" strike="noStrike" kern="1200">
                          <a:solidFill>
                            <a:schemeClr val="tx1"/>
                          </a:solidFill>
                          <a:effectLst/>
                          <a:latin typeface="+mn-lt"/>
                          <a:ea typeface="+mn-ea"/>
                          <a:cs typeface="+mn-cs"/>
                        </a:rPr>
                        <a:t>(applicable for No Device return)</a:t>
                      </a:r>
                      <a:endParaRPr lang="en-US"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1000" b="0" i="0" u="none" strike="noStrike" kern="1200">
                          <a:solidFill>
                            <a:schemeClr val="tx1"/>
                          </a:solidFill>
                          <a:effectLst/>
                          <a:latin typeface="+mn-lt"/>
                          <a:ea typeface="+mn-ea"/>
                          <a:cs typeface="+mn-cs"/>
                        </a:rPr>
                        <a:t>XG</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29071992"/>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chemeClr val="tx1"/>
                          </a:solidFill>
                          <a:effectLst/>
                          <a:latin typeface="+mn-lt"/>
                          <a:ea typeface="+mn-ea"/>
                          <a:cs typeface="+mn-cs"/>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chemeClr val="tx1"/>
                          </a:solidFill>
                          <a:effectLst/>
                          <a:latin typeface="+mn-lt"/>
                          <a:ea typeface="+mn-ea"/>
                          <a:cs typeface="+mn-cs"/>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chemeClr val="tx1"/>
                          </a:solidFill>
                          <a:effectLst/>
                          <a:latin typeface="+mn-lt"/>
                          <a:ea typeface="+mn-ea"/>
                          <a:cs typeface="+mn-cs"/>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chemeClr val="tx1"/>
                          </a:solidFill>
                          <a:effectLst/>
                          <a:latin typeface="+mn-lt"/>
                          <a:ea typeface="+mn-ea"/>
                          <a:cs typeface="+mn-cs"/>
                        </a:rPr>
                        <a:t>AR- Upfront service one time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1000" b="0" i="0" u="none" strike="noStrike" kern="1200">
                        <a:solidFill>
                          <a:schemeClr val="tx1"/>
                        </a:solidFill>
                        <a:effectLst/>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6067991"/>
                  </a:ext>
                </a:extLst>
              </a:tr>
            </a:tbl>
          </a:graphicData>
        </a:graphic>
      </p:graphicFrame>
      <p:sp>
        <p:nvSpPr>
          <p:cNvPr id="28" name="文本框 27">
            <a:extLst>
              <a:ext uri="{FF2B5EF4-FFF2-40B4-BE49-F238E27FC236}">
                <a16:creationId xmlns:a16="http://schemas.microsoft.com/office/drawing/2014/main" id="{206630E1-A624-EDDD-6CA3-0E350684084E}"/>
              </a:ext>
            </a:extLst>
          </p:cNvPr>
          <p:cNvSpPr txBox="1"/>
          <p:nvPr/>
        </p:nvSpPr>
        <p:spPr>
          <a:xfrm>
            <a:off x="-40473" y="34649"/>
            <a:ext cx="4470947" cy="400110"/>
          </a:xfrm>
          <a:prstGeom prst="rect">
            <a:avLst/>
          </a:prstGeom>
          <a:noFill/>
        </p:spPr>
        <p:txBody>
          <a:bodyPr wrap="square" rtlCol="0">
            <a:spAutoFit/>
          </a:bodyPr>
          <a:lstStyle/>
          <a:p>
            <a:r>
              <a:rPr lang="nl-NL" altLang="zh-CN" sz="2000" b="1"/>
              <a:t>IaaS_ AFE HUB _MSA</a:t>
            </a:r>
            <a:endParaRPr lang="zh-CN" altLang="en-US" sz="2000" b="1"/>
          </a:p>
        </p:txBody>
      </p:sp>
      <p:graphicFrame>
        <p:nvGraphicFramePr>
          <p:cNvPr id="4" name="表格 3">
            <a:extLst>
              <a:ext uri="{FF2B5EF4-FFF2-40B4-BE49-F238E27FC236}">
                <a16:creationId xmlns:a16="http://schemas.microsoft.com/office/drawing/2014/main" id="{26A51FF6-1846-AAA3-5B87-08FB94B45DFD}"/>
              </a:ext>
            </a:extLst>
          </p:cNvPr>
          <p:cNvGraphicFramePr>
            <a:graphicFrameLocks noGrp="1"/>
          </p:cNvGraphicFramePr>
          <p:nvPr>
            <p:extLst>
              <p:ext uri="{D42A27DB-BD31-4B8C-83A1-F6EECF244321}">
                <p14:modId xmlns:p14="http://schemas.microsoft.com/office/powerpoint/2010/main" val="4283195440"/>
              </p:ext>
            </p:extLst>
          </p:nvPr>
        </p:nvGraphicFramePr>
        <p:xfrm>
          <a:off x="5906948" y="4548348"/>
          <a:ext cx="5734946" cy="1378383"/>
        </p:xfrm>
        <a:graphic>
          <a:graphicData uri="http://schemas.openxmlformats.org/drawingml/2006/table">
            <a:tbl>
              <a:tblPr/>
              <a:tblGrid>
                <a:gridCol w="428381">
                  <a:extLst>
                    <a:ext uri="{9D8B030D-6E8A-4147-A177-3AD203B41FA5}">
                      <a16:colId xmlns:a16="http://schemas.microsoft.com/office/drawing/2014/main" val="495084399"/>
                    </a:ext>
                  </a:extLst>
                </a:gridCol>
                <a:gridCol w="245525">
                  <a:extLst>
                    <a:ext uri="{9D8B030D-6E8A-4147-A177-3AD203B41FA5}">
                      <a16:colId xmlns:a16="http://schemas.microsoft.com/office/drawing/2014/main" val="3614210242"/>
                    </a:ext>
                  </a:extLst>
                </a:gridCol>
                <a:gridCol w="611763">
                  <a:extLst>
                    <a:ext uri="{9D8B030D-6E8A-4147-A177-3AD203B41FA5}">
                      <a16:colId xmlns:a16="http://schemas.microsoft.com/office/drawing/2014/main" val="1442124609"/>
                    </a:ext>
                  </a:extLst>
                </a:gridCol>
                <a:gridCol w="1926999">
                  <a:extLst>
                    <a:ext uri="{9D8B030D-6E8A-4147-A177-3AD203B41FA5}">
                      <a16:colId xmlns:a16="http://schemas.microsoft.com/office/drawing/2014/main" val="3603859997"/>
                    </a:ext>
                  </a:extLst>
                </a:gridCol>
                <a:gridCol w="365674">
                  <a:extLst>
                    <a:ext uri="{9D8B030D-6E8A-4147-A177-3AD203B41FA5}">
                      <a16:colId xmlns:a16="http://schemas.microsoft.com/office/drawing/2014/main" val="4076488391"/>
                    </a:ext>
                  </a:extLst>
                </a:gridCol>
                <a:gridCol w="283187">
                  <a:extLst>
                    <a:ext uri="{9D8B030D-6E8A-4147-A177-3AD203B41FA5}">
                      <a16:colId xmlns:a16="http://schemas.microsoft.com/office/drawing/2014/main" val="3254101706"/>
                    </a:ext>
                  </a:extLst>
                </a:gridCol>
                <a:gridCol w="358509">
                  <a:extLst>
                    <a:ext uri="{9D8B030D-6E8A-4147-A177-3AD203B41FA5}">
                      <a16:colId xmlns:a16="http://schemas.microsoft.com/office/drawing/2014/main" val="3712391277"/>
                    </a:ext>
                  </a:extLst>
                </a:gridCol>
                <a:gridCol w="270633">
                  <a:extLst>
                    <a:ext uri="{9D8B030D-6E8A-4147-A177-3AD203B41FA5}">
                      <a16:colId xmlns:a16="http://schemas.microsoft.com/office/drawing/2014/main" val="2527660299"/>
                    </a:ext>
                  </a:extLst>
                </a:gridCol>
                <a:gridCol w="389893">
                  <a:extLst>
                    <a:ext uri="{9D8B030D-6E8A-4147-A177-3AD203B41FA5}">
                      <a16:colId xmlns:a16="http://schemas.microsoft.com/office/drawing/2014/main" val="3641075278"/>
                    </a:ext>
                  </a:extLst>
                </a:gridCol>
                <a:gridCol w="854382">
                  <a:extLst>
                    <a:ext uri="{9D8B030D-6E8A-4147-A177-3AD203B41FA5}">
                      <a16:colId xmlns:a16="http://schemas.microsoft.com/office/drawing/2014/main" val="3618613915"/>
                    </a:ext>
                  </a:extLst>
                </a:gridCol>
              </a:tblGrid>
              <a:tr h="228988">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33059">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33059">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22775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27759">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22775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1AE0D156-0D93-B3A6-E7E1-C1B9AC7B4642}"/>
              </a:ext>
            </a:extLst>
          </p:cNvPr>
          <p:cNvGraphicFramePr>
            <a:graphicFrameLocks noGrp="1"/>
          </p:cNvGraphicFramePr>
          <p:nvPr>
            <p:extLst>
              <p:ext uri="{D42A27DB-BD31-4B8C-83A1-F6EECF244321}">
                <p14:modId xmlns:p14="http://schemas.microsoft.com/office/powerpoint/2010/main" val="4148766698"/>
              </p:ext>
            </p:extLst>
          </p:nvPr>
        </p:nvGraphicFramePr>
        <p:xfrm>
          <a:off x="68678" y="4535250"/>
          <a:ext cx="5702497" cy="1391484"/>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430586">
                  <a:extLst>
                    <a:ext uri="{9D8B030D-6E8A-4147-A177-3AD203B41FA5}">
                      <a16:colId xmlns:a16="http://schemas.microsoft.com/office/drawing/2014/main" val="4076488391"/>
                    </a:ext>
                  </a:extLst>
                </a:gridCol>
                <a:gridCol w="430586">
                  <a:extLst>
                    <a:ext uri="{9D8B030D-6E8A-4147-A177-3AD203B41FA5}">
                      <a16:colId xmlns:a16="http://schemas.microsoft.com/office/drawing/2014/main" val="3254101706"/>
                    </a:ext>
                  </a:extLst>
                </a:gridCol>
                <a:gridCol w="430586">
                  <a:extLst>
                    <a:ext uri="{9D8B030D-6E8A-4147-A177-3AD203B41FA5}">
                      <a16:colId xmlns:a16="http://schemas.microsoft.com/office/drawing/2014/main" val="3712391277"/>
                    </a:ext>
                  </a:extLst>
                </a:gridCol>
                <a:gridCol w="430586">
                  <a:extLst>
                    <a:ext uri="{9D8B030D-6E8A-4147-A177-3AD203B41FA5}">
                      <a16:colId xmlns:a16="http://schemas.microsoft.com/office/drawing/2014/main" val="2527660299"/>
                    </a:ext>
                  </a:extLst>
                </a:gridCol>
                <a:gridCol w="430586">
                  <a:extLst>
                    <a:ext uri="{9D8B030D-6E8A-4147-A177-3AD203B41FA5}">
                      <a16:colId xmlns:a16="http://schemas.microsoft.com/office/drawing/2014/main" val="3641075278"/>
                    </a:ext>
                  </a:extLst>
                </a:gridCol>
                <a:gridCol w="430586">
                  <a:extLst>
                    <a:ext uri="{9D8B030D-6E8A-4147-A177-3AD203B41FA5}">
                      <a16:colId xmlns:a16="http://schemas.microsoft.com/office/drawing/2014/main" val="3618613915"/>
                    </a:ext>
                  </a:extLst>
                </a:gridCol>
              </a:tblGrid>
              <a:tr h="154984">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HK24</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ET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5774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5774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4153">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57373">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257373">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bl>
          </a:graphicData>
        </a:graphic>
      </p:graphicFrame>
      <p:graphicFrame>
        <p:nvGraphicFramePr>
          <p:cNvPr id="2" name="表格 29">
            <a:extLst>
              <a:ext uri="{FF2B5EF4-FFF2-40B4-BE49-F238E27FC236}">
                <a16:creationId xmlns:a16="http://schemas.microsoft.com/office/drawing/2014/main" id="{A25BB6A7-0B96-4E19-5458-27A76E071645}"/>
              </a:ext>
            </a:extLst>
          </p:cNvPr>
          <p:cNvGraphicFramePr>
            <a:graphicFrameLocks noGrp="1"/>
          </p:cNvGraphicFramePr>
          <p:nvPr>
            <p:extLst>
              <p:ext uri="{D42A27DB-BD31-4B8C-83A1-F6EECF244321}">
                <p14:modId xmlns:p14="http://schemas.microsoft.com/office/powerpoint/2010/main" val="3325164902"/>
              </p:ext>
            </p:extLst>
          </p:nvPr>
        </p:nvGraphicFramePr>
        <p:xfrm>
          <a:off x="68677" y="431020"/>
          <a:ext cx="9925928" cy="1080592"/>
        </p:xfrm>
        <a:graphic>
          <a:graphicData uri="http://schemas.openxmlformats.org/drawingml/2006/table">
            <a:tbl>
              <a:tblPr firstRow="1" bandRow="1">
                <a:tableStyleId>{3C2FFA5D-87B4-456A-9821-1D502468CF0F}</a:tableStyleId>
              </a:tblPr>
              <a:tblGrid>
                <a:gridCol w="1363174">
                  <a:extLst>
                    <a:ext uri="{9D8B030D-6E8A-4147-A177-3AD203B41FA5}">
                      <a16:colId xmlns:a16="http://schemas.microsoft.com/office/drawing/2014/main" val="869603910"/>
                    </a:ext>
                  </a:extLst>
                </a:gridCol>
                <a:gridCol w="883714">
                  <a:extLst>
                    <a:ext uri="{9D8B030D-6E8A-4147-A177-3AD203B41FA5}">
                      <a16:colId xmlns:a16="http://schemas.microsoft.com/office/drawing/2014/main" val="238663902"/>
                    </a:ext>
                  </a:extLst>
                </a:gridCol>
                <a:gridCol w="1084775">
                  <a:extLst>
                    <a:ext uri="{9D8B030D-6E8A-4147-A177-3AD203B41FA5}">
                      <a16:colId xmlns:a16="http://schemas.microsoft.com/office/drawing/2014/main" val="4114365151"/>
                    </a:ext>
                  </a:extLst>
                </a:gridCol>
                <a:gridCol w="1142285">
                  <a:extLst>
                    <a:ext uri="{9D8B030D-6E8A-4147-A177-3AD203B41FA5}">
                      <a16:colId xmlns:a16="http://schemas.microsoft.com/office/drawing/2014/main" val="4075178046"/>
                    </a:ext>
                  </a:extLst>
                </a:gridCol>
                <a:gridCol w="1378045">
                  <a:extLst>
                    <a:ext uri="{9D8B030D-6E8A-4147-A177-3AD203B41FA5}">
                      <a16:colId xmlns:a16="http://schemas.microsoft.com/office/drawing/2014/main" val="973533418"/>
                    </a:ext>
                  </a:extLst>
                </a:gridCol>
                <a:gridCol w="1228620">
                  <a:extLst>
                    <a:ext uri="{9D8B030D-6E8A-4147-A177-3AD203B41FA5}">
                      <a16:colId xmlns:a16="http://schemas.microsoft.com/office/drawing/2014/main" val="2377711782"/>
                    </a:ext>
                  </a:extLst>
                </a:gridCol>
                <a:gridCol w="1228620">
                  <a:extLst>
                    <a:ext uri="{9D8B030D-6E8A-4147-A177-3AD203B41FA5}">
                      <a16:colId xmlns:a16="http://schemas.microsoft.com/office/drawing/2014/main" val="1078464214"/>
                    </a:ext>
                  </a:extLst>
                </a:gridCol>
                <a:gridCol w="1616695">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Fixed/Consumption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3" name="文本框 2">
            <a:extLst>
              <a:ext uri="{FF2B5EF4-FFF2-40B4-BE49-F238E27FC236}">
                <a16:creationId xmlns:a16="http://schemas.microsoft.com/office/drawing/2014/main" id="{68AA262A-7B5D-0D85-35D0-217AE33218D5}"/>
              </a:ext>
            </a:extLst>
          </p:cNvPr>
          <p:cNvSpPr txBox="1"/>
          <p:nvPr/>
        </p:nvSpPr>
        <p:spPr>
          <a:xfrm>
            <a:off x="9704084" y="1633587"/>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9" name="对话气泡: 矩形 8">
            <a:extLst>
              <a:ext uri="{FF2B5EF4-FFF2-40B4-BE49-F238E27FC236}">
                <a16:creationId xmlns:a16="http://schemas.microsoft.com/office/drawing/2014/main" id="{2DFA5BB0-DBC2-4BD7-E011-33AE22C292D8}"/>
              </a:ext>
            </a:extLst>
          </p:cNvPr>
          <p:cNvSpPr/>
          <p:nvPr/>
        </p:nvSpPr>
        <p:spPr>
          <a:xfrm>
            <a:off x="2116160" y="2991872"/>
            <a:ext cx="3522268" cy="627867"/>
          </a:xfrm>
          <a:prstGeom prst="wedgeRectCallout">
            <a:avLst>
              <a:gd name="adj1" fmla="val 79725"/>
              <a:gd name="adj2" fmla="val -7740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If Device was lost or stolen, then AFE will recognize broker sales on ET request</a:t>
            </a:r>
            <a:endParaRPr lang="zh-CN" altLang="en-US" sz="1200">
              <a:solidFill>
                <a:schemeClr val="tx1"/>
              </a:solidFill>
            </a:endParaRPr>
          </a:p>
        </p:txBody>
      </p:sp>
      <p:sp>
        <p:nvSpPr>
          <p:cNvPr id="12" name="Rectangle 2">
            <a:extLst>
              <a:ext uri="{FF2B5EF4-FFF2-40B4-BE49-F238E27FC236}">
                <a16:creationId xmlns:a16="http://schemas.microsoft.com/office/drawing/2014/main" id="{A8858E3E-DDB2-C57D-360B-ADB933E75782}"/>
              </a:ext>
            </a:extLst>
          </p:cNvPr>
          <p:cNvSpPr/>
          <p:nvPr/>
        </p:nvSpPr>
        <p:spPr>
          <a:xfrm>
            <a:off x="6413148" y="2552051"/>
            <a:ext cx="5228747" cy="338554"/>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3" name="Rectangle 2">
            <a:extLst>
              <a:ext uri="{FF2B5EF4-FFF2-40B4-BE49-F238E27FC236}">
                <a16:creationId xmlns:a16="http://schemas.microsoft.com/office/drawing/2014/main" id="{C7D8BFA9-A7A6-F475-1CEF-0F554EE8312D}"/>
              </a:ext>
            </a:extLst>
          </p:cNvPr>
          <p:cNvSpPr/>
          <p:nvPr/>
        </p:nvSpPr>
        <p:spPr>
          <a:xfrm>
            <a:off x="6413148" y="3081907"/>
            <a:ext cx="5228747" cy="221274"/>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4" name="Speech Bubble: Rectangle with Corners Rounded 7">
            <a:extLst>
              <a:ext uri="{FF2B5EF4-FFF2-40B4-BE49-F238E27FC236}">
                <a16:creationId xmlns:a16="http://schemas.microsoft.com/office/drawing/2014/main" id="{D614C40B-85C4-9A86-D46A-A5E097FD76B9}"/>
              </a:ext>
            </a:extLst>
          </p:cNvPr>
          <p:cNvSpPr/>
          <p:nvPr/>
        </p:nvSpPr>
        <p:spPr>
          <a:xfrm>
            <a:off x="6152708" y="3845241"/>
            <a:ext cx="5415516" cy="623673"/>
          </a:xfrm>
          <a:prstGeom prst="wedgeRoundRectCallout">
            <a:avLst>
              <a:gd name="adj1" fmla="val -29710"/>
              <a:gd name="adj2" fmla="val -138100"/>
              <a:gd name="adj3" fmla="val 1666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 EMEA S&amp;D Model rollout extra recorded in interest income</a:t>
            </a:r>
            <a:r>
              <a:rPr lang="zh-CN" altLang="en-US" sz="1200">
                <a:solidFill>
                  <a:schemeClr val="tx1"/>
                </a:solidFill>
              </a:rPr>
              <a:t> </a:t>
            </a:r>
            <a:r>
              <a:rPr lang="en-US" altLang="zh-CN" sz="1200">
                <a:solidFill>
                  <a:schemeClr val="tx1"/>
                </a:solidFill>
              </a:rPr>
              <a:t>(ongoing service </a:t>
            </a:r>
            <a:r>
              <a:rPr lang="en-US" altLang="zh-CN" sz="1200" err="1">
                <a:solidFill>
                  <a:schemeClr val="tx1"/>
                </a:solidFill>
              </a:rPr>
              <a:t>PoB</a:t>
            </a:r>
            <a:r>
              <a:rPr lang="en-US" altLang="zh-CN" sz="1200">
                <a:solidFill>
                  <a:schemeClr val="tx1"/>
                </a:solidFill>
              </a:rPr>
              <a:t> have not met upon ET )</a:t>
            </a:r>
          </a:p>
          <a:p>
            <a:r>
              <a:rPr lang="en-US" sz="1200">
                <a:solidFill>
                  <a:schemeClr val="tx1"/>
                </a:solidFill>
              </a:rPr>
              <a:t>Now confirmed with Accounting that change to service revenue</a:t>
            </a:r>
          </a:p>
        </p:txBody>
      </p:sp>
    </p:spTree>
    <p:extLst>
      <p:ext uri="{BB962C8B-B14F-4D97-AF65-F5344CB8AC3E}">
        <p14:creationId xmlns:p14="http://schemas.microsoft.com/office/powerpoint/2010/main" val="76412223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B6CDBD-C148-0A80-4002-AE72524DBE32}"/>
            </a:ext>
          </a:extLst>
        </p:cNvPr>
        <p:cNvGrpSpPr/>
        <p:nvPr/>
      </p:nvGrpSpPr>
      <p:grpSpPr>
        <a:xfrm>
          <a:off x="0" y="0"/>
          <a:ext cx="0" cy="0"/>
          <a:chOff x="0" y="0"/>
          <a:chExt cx="0" cy="0"/>
        </a:xfrm>
      </p:grpSpPr>
      <p:graphicFrame>
        <p:nvGraphicFramePr>
          <p:cNvPr id="10" name="表格 9">
            <a:extLst>
              <a:ext uri="{FF2B5EF4-FFF2-40B4-BE49-F238E27FC236}">
                <a16:creationId xmlns:a16="http://schemas.microsoft.com/office/drawing/2014/main" id="{3AABA4EA-8095-1CC6-F3BC-560AC6E67268}"/>
              </a:ext>
            </a:extLst>
          </p:cNvPr>
          <p:cNvGraphicFramePr>
            <a:graphicFrameLocks noGrp="1"/>
          </p:cNvGraphicFramePr>
          <p:nvPr>
            <p:extLst>
              <p:ext uri="{D42A27DB-BD31-4B8C-83A1-F6EECF244321}">
                <p14:modId xmlns:p14="http://schemas.microsoft.com/office/powerpoint/2010/main" val="56213841"/>
              </p:ext>
            </p:extLst>
          </p:nvPr>
        </p:nvGraphicFramePr>
        <p:xfrm>
          <a:off x="6022847" y="1647898"/>
          <a:ext cx="5734947" cy="2066991"/>
        </p:xfrm>
        <a:graphic>
          <a:graphicData uri="http://schemas.openxmlformats.org/drawingml/2006/table">
            <a:tbl>
              <a:tblPr/>
              <a:tblGrid>
                <a:gridCol w="489662">
                  <a:extLst>
                    <a:ext uri="{9D8B030D-6E8A-4147-A177-3AD203B41FA5}">
                      <a16:colId xmlns:a16="http://schemas.microsoft.com/office/drawing/2014/main" val="495084399"/>
                    </a:ext>
                  </a:extLst>
                </a:gridCol>
                <a:gridCol w="256427">
                  <a:extLst>
                    <a:ext uri="{9D8B030D-6E8A-4147-A177-3AD203B41FA5}">
                      <a16:colId xmlns:a16="http://schemas.microsoft.com/office/drawing/2014/main" val="3614210242"/>
                    </a:ext>
                  </a:extLst>
                </a:gridCol>
                <a:gridCol w="610264">
                  <a:extLst>
                    <a:ext uri="{9D8B030D-6E8A-4147-A177-3AD203B41FA5}">
                      <a16:colId xmlns:a16="http://schemas.microsoft.com/office/drawing/2014/main" val="1442124609"/>
                    </a:ext>
                  </a:extLst>
                </a:gridCol>
                <a:gridCol w="1957105">
                  <a:extLst>
                    <a:ext uri="{9D8B030D-6E8A-4147-A177-3AD203B41FA5}">
                      <a16:colId xmlns:a16="http://schemas.microsoft.com/office/drawing/2014/main" val="3603859997"/>
                    </a:ext>
                  </a:extLst>
                </a:gridCol>
                <a:gridCol w="364779">
                  <a:extLst>
                    <a:ext uri="{9D8B030D-6E8A-4147-A177-3AD203B41FA5}">
                      <a16:colId xmlns:a16="http://schemas.microsoft.com/office/drawing/2014/main" val="4076488391"/>
                    </a:ext>
                  </a:extLst>
                </a:gridCol>
                <a:gridCol w="364779">
                  <a:extLst>
                    <a:ext uri="{9D8B030D-6E8A-4147-A177-3AD203B41FA5}">
                      <a16:colId xmlns:a16="http://schemas.microsoft.com/office/drawing/2014/main" val="3254101706"/>
                    </a:ext>
                  </a:extLst>
                </a:gridCol>
                <a:gridCol w="294988">
                  <a:extLst>
                    <a:ext uri="{9D8B030D-6E8A-4147-A177-3AD203B41FA5}">
                      <a16:colId xmlns:a16="http://schemas.microsoft.com/office/drawing/2014/main" val="3712391277"/>
                    </a:ext>
                  </a:extLst>
                </a:gridCol>
                <a:gridCol w="306570">
                  <a:extLst>
                    <a:ext uri="{9D8B030D-6E8A-4147-A177-3AD203B41FA5}">
                      <a16:colId xmlns:a16="http://schemas.microsoft.com/office/drawing/2014/main" val="2527660299"/>
                    </a:ext>
                  </a:extLst>
                </a:gridCol>
                <a:gridCol w="420648">
                  <a:extLst>
                    <a:ext uri="{9D8B030D-6E8A-4147-A177-3AD203B41FA5}">
                      <a16:colId xmlns:a16="http://schemas.microsoft.com/office/drawing/2014/main" val="3641075278"/>
                    </a:ext>
                  </a:extLst>
                </a:gridCol>
                <a:gridCol w="669725">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10822268"/>
                  </a:ext>
                </a:extLst>
              </a:tr>
              <a:tr h="11487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5010452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chemeClr val="tx1"/>
                          </a:solidFill>
                          <a:effectLst/>
                          <a:latin typeface="+mn-lt"/>
                          <a:ea typeface="+mn-ea"/>
                          <a:cs typeface="+mn-cs"/>
                        </a:rPr>
                        <a:t>Broker Sales</a:t>
                      </a:r>
                      <a:r>
                        <a:rPr lang="en-US" altLang="zh-CN" sz="1000" b="0" i="0" u="none" strike="noStrike" kern="1200">
                          <a:solidFill>
                            <a:schemeClr val="tx1"/>
                          </a:solidFill>
                          <a:effectLst/>
                          <a:latin typeface="+mn-lt"/>
                          <a:ea typeface="+mn-ea"/>
                          <a:cs typeface="+mn-cs"/>
                        </a:rPr>
                        <a:t>(applicable for No Device return)</a:t>
                      </a:r>
                      <a:endParaRPr lang="en-US"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chemeClr val="tx1"/>
                        </a:solidFill>
                        <a:effectLst/>
                        <a:latin typeface="+mn-lt"/>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1000" b="0" i="0" u="none" strike="noStrike" kern="1200">
                          <a:solidFill>
                            <a:schemeClr val="tx1"/>
                          </a:solidFill>
                          <a:effectLst/>
                          <a:latin typeface="+mn-lt"/>
                          <a:ea typeface="+mn-ea"/>
                          <a:cs typeface="+mn-cs"/>
                        </a:rPr>
                        <a:t>XG</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29071992"/>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chemeClr val="tx1"/>
                          </a:solidFill>
                          <a:effectLst/>
                          <a:latin typeface="+mn-lt"/>
                          <a:ea typeface="+mn-ea"/>
                          <a:cs typeface="+mn-cs"/>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kern="1200">
                          <a:solidFill>
                            <a:schemeClr val="tx1"/>
                          </a:solidFill>
                          <a:effectLst/>
                          <a:latin typeface="+mn-lt"/>
                          <a:ea typeface="+mn-ea"/>
                          <a:cs typeface="+mn-cs"/>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chemeClr val="tx1"/>
                          </a:solidFill>
                          <a:effectLst/>
                          <a:latin typeface="+mn-lt"/>
                          <a:ea typeface="+mn-ea"/>
                          <a:cs typeface="+mn-cs"/>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chemeClr val="tx1"/>
                          </a:solidFill>
                          <a:effectLst/>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140601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chemeClr val="tx1"/>
                          </a:solidFill>
                          <a:effectLst/>
                          <a:latin typeface="+mn-lt"/>
                          <a:ea typeface="+mn-ea"/>
                          <a:cs typeface="+mn-cs"/>
                        </a:rPr>
                        <a:t>AR- Upfront service one time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chemeClr val="tx1"/>
                          </a:solidFill>
                          <a:effectLst/>
                          <a:latin typeface="+mn-lt"/>
                          <a:ea typeface="+mn-ea"/>
                          <a:cs typeface="+mn-cs"/>
                        </a:rPr>
                        <a:t>400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1000" b="0" i="0" u="none" strike="noStrike" kern="1200">
                        <a:solidFill>
                          <a:schemeClr val="tx1"/>
                        </a:solidFill>
                        <a:effectLst/>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chemeClr val="tx1"/>
                          </a:solidFill>
                          <a:effectLst/>
                          <a:latin typeface="+mn-lt"/>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1000" b="0" i="0" u="none" strike="noStrike" kern="1200">
                          <a:solidFill>
                            <a:schemeClr val="tx1"/>
                          </a:solidFill>
                          <a:effectLst/>
                          <a:latin typeface="+mn-lt"/>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6067991"/>
                  </a:ext>
                </a:extLst>
              </a:tr>
            </a:tbl>
          </a:graphicData>
        </a:graphic>
      </p:graphicFrame>
      <p:sp>
        <p:nvSpPr>
          <p:cNvPr id="28" name="文本框 27">
            <a:extLst>
              <a:ext uri="{FF2B5EF4-FFF2-40B4-BE49-F238E27FC236}">
                <a16:creationId xmlns:a16="http://schemas.microsoft.com/office/drawing/2014/main" id="{6065323A-8599-B5F5-B0F1-C5D54CF40AF4}"/>
              </a:ext>
            </a:extLst>
          </p:cNvPr>
          <p:cNvSpPr txBox="1"/>
          <p:nvPr/>
        </p:nvSpPr>
        <p:spPr>
          <a:xfrm>
            <a:off x="-40473" y="34649"/>
            <a:ext cx="4470947" cy="400110"/>
          </a:xfrm>
          <a:prstGeom prst="rect">
            <a:avLst/>
          </a:prstGeom>
          <a:noFill/>
        </p:spPr>
        <p:txBody>
          <a:bodyPr wrap="square" rtlCol="0">
            <a:spAutoFit/>
          </a:bodyPr>
          <a:lstStyle/>
          <a:p>
            <a:r>
              <a:rPr lang="nl-NL" altLang="zh-CN" sz="2000" b="1"/>
              <a:t>IaaS_ AFE HUB _MSA</a:t>
            </a:r>
            <a:endParaRPr lang="zh-CN" altLang="en-US" sz="2000" b="1"/>
          </a:p>
        </p:txBody>
      </p:sp>
      <p:graphicFrame>
        <p:nvGraphicFramePr>
          <p:cNvPr id="4" name="表格 3">
            <a:extLst>
              <a:ext uri="{FF2B5EF4-FFF2-40B4-BE49-F238E27FC236}">
                <a16:creationId xmlns:a16="http://schemas.microsoft.com/office/drawing/2014/main" id="{9015E1A9-845F-E6E7-F6F9-19B7AA8CFEEC}"/>
              </a:ext>
            </a:extLst>
          </p:cNvPr>
          <p:cNvGraphicFramePr>
            <a:graphicFrameLocks noGrp="1"/>
          </p:cNvGraphicFramePr>
          <p:nvPr>
            <p:extLst>
              <p:ext uri="{D42A27DB-BD31-4B8C-83A1-F6EECF244321}">
                <p14:modId xmlns:p14="http://schemas.microsoft.com/office/powerpoint/2010/main" val="1504330844"/>
              </p:ext>
            </p:extLst>
          </p:nvPr>
        </p:nvGraphicFramePr>
        <p:xfrm>
          <a:off x="6027322" y="4716391"/>
          <a:ext cx="5734946" cy="1409054"/>
        </p:xfrm>
        <a:graphic>
          <a:graphicData uri="http://schemas.openxmlformats.org/drawingml/2006/table">
            <a:tbl>
              <a:tblPr/>
              <a:tblGrid>
                <a:gridCol w="428381">
                  <a:extLst>
                    <a:ext uri="{9D8B030D-6E8A-4147-A177-3AD203B41FA5}">
                      <a16:colId xmlns:a16="http://schemas.microsoft.com/office/drawing/2014/main" val="495084399"/>
                    </a:ext>
                  </a:extLst>
                </a:gridCol>
                <a:gridCol w="245525">
                  <a:extLst>
                    <a:ext uri="{9D8B030D-6E8A-4147-A177-3AD203B41FA5}">
                      <a16:colId xmlns:a16="http://schemas.microsoft.com/office/drawing/2014/main" val="3614210242"/>
                    </a:ext>
                  </a:extLst>
                </a:gridCol>
                <a:gridCol w="611763">
                  <a:extLst>
                    <a:ext uri="{9D8B030D-6E8A-4147-A177-3AD203B41FA5}">
                      <a16:colId xmlns:a16="http://schemas.microsoft.com/office/drawing/2014/main" val="1442124609"/>
                    </a:ext>
                  </a:extLst>
                </a:gridCol>
                <a:gridCol w="1926999">
                  <a:extLst>
                    <a:ext uri="{9D8B030D-6E8A-4147-A177-3AD203B41FA5}">
                      <a16:colId xmlns:a16="http://schemas.microsoft.com/office/drawing/2014/main" val="3603859997"/>
                    </a:ext>
                  </a:extLst>
                </a:gridCol>
                <a:gridCol w="365674">
                  <a:extLst>
                    <a:ext uri="{9D8B030D-6E8A-4147-A177-3AD203B41FA5}">
                      <a16:colId xmlns:a16="http://schemas.microsoft.com/office/drawing/2014/main" val="4076488391"/>
                    </a:ext>
                  </a:extLst>
                </a:gridCol>
                <a:gridCol w="283187">
                  <a:extLst>
                    <a:ext uri="{9D8B030D-6E8A-4147-A177-3AD203B41FA5}">
                      <a16:colId xmlns:a16="http://schemas.microsoft.com/office/drawing/2014/main" val="3254101706"/>
                    </a:ext>
                  </a:extLst>
                </a:gridCol>
                <a:gridCol w="358509">
                  <a:extLst>
                    <a:ext uri="{9D8B030D-6E8A-4147-A177-3AD203B41FA5}">
                      <a16:colId xmlns:a16="http://schemas.microsoft.com/office/drawing/2014/main" val="3712391277"/>
                    </a:ext>
                  </a:extLst>
                </a:gridCol>
                <a:gridCol w="270633">
                  <a:extLst>
                    <a:ext uri="{9D8B030D-6E8A-4147-A177-3AD203B41FA5}">
                      <a16:colId xmlns:a16="http://schemas.microsoft.com/office/drawing/2014/main" val="2527660299"/>
                    </a:ext>
                  </a:extLst>
                </a:gridCol>
                <a:gridCol w="389893">
                  <a:extLst>
                    <a:ext uri="{9D8B030D-6E8A-4147-A177-3AD203B41FA5}">
                      <a16:colId xmlns:a16="http://schemas.microsoft.com/office/drawing/2014/main" val="3641075278"/>
                    </a:ext>
                  </a:extLst>
                </a:gridCol>
                <a:gridCol w="854382">
                  <a:extLst>
                    <a:ext uri="{9D8B030D-6E8A-4147-A177-3AD203B41FA5}">
                      <a16:colId xmlns:a16="http://schemas.microsoft.com/office/drawing/2014/main" val="3618613915"/>
                    </a:ext>
                  </a:extLst>
                </a:gridCol>
              </a:tblGrid>
              <a:tr h="234083">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38245">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3824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23282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3282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23282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5" name="表格 4">
            <a:extLst>
              <a:ext uri="{FF2B5EF4-FFF2-40B4-BE49-F238E27FC236}">
                <a16:creationId xmlns:a16="http://schemas.microsoft.com/office/drawing/2014/main" id="{D8DDE273-C592-2F2C-2B91-5DC6838A8775}"/>
              </a:ext>
            </a:extLst>
          </p:cNvPr>
          <p:cNvGraphicFramePr>
            <a:graphicFrameLocks noGrp="1"/>
          </p:cNvGraphicFramePr>
          <p:nvPr>
            <p:extLst>
              <p:ext uri="{D42A27DB-BD31-4B8C-83A1-F6EECF244321}">
                <p14:modId xmlns:p14="http://schemas.microsoft.com/office/powerpoint/2010/main" val="2868100236"/>
              </p:ext>
            </p:extLst>
          </p:nvPr>
        </p:nvGraphicFramePr>
        <p:xfrm>
          <a:off x="0" y="4733961"/>
          <a:ext cx="5702497" cy="1391484"/>
        </p:xfrm>
        <a:graphic>
          <a:graphicData uri="http://schemas.openxmlformats.org/drawingml/2006/table">
            <a:tbl>
              <a:tblPr/>
              <a:tblGrid>
                <a:gridCol w="425005">
                  <a:extLst>
                    <a:ext uri="{9D8B030D-6E8A-4147-A177-3AD203B41FA5}">
                      <a16:colId xmlns:a16="http://schemas.microsoft.com/office/drawing/2014/main" val="495084399"/>
                    </a:ext>
                  </a:extLst>
                </a:gridCol>
                <a:gridCol w="242923">
                  <a:extLst>
                    <a:ext uri="{9D8B030D-6E8A-4147-A177-3AD203B41FA5}">
                      <a16:colId xmlns:a16="http://schemas.microsoft.com/office/drawing/2014/main" val="3614210242"/>
                    </a:ext>
                  </a:extLst>
                </a:gridCol>
                <a:gridCol w="559649">
                  <a:extLst>
                    <a:ext uri="{9D8B030D-6E8A-4147-A177-3AD203B41FA5}">
                      <a16:colId xmlns:a16="http://schemas.microsoft.com/office/drawing/2014/main" val="1442124609"/>
                    </a:ext>
                  </a:extLst>
                </a:gridCol>
                <a:gridCol w="1891404">
                  <a:extLst>
                    <a:ext uri="{9D8B030D-6E8A-4147-A177-3AD203B41FA5}">
                      <a16:colId xmlns:a16="http://schemas.microsoft.com/office/drawing/2014/main" val="3603859997"/>
                    </a:ext>
                  </a:extLst>
                </a:gridCol>
                <a:gridCol w="430586">
                  <a:extLst>
                    <a:ext uri="{9D8B030D-6E8A-4147-A177-3AD203B41FA5}">
                      <a16:colId xmlns:a16="http://schemas.microsoft.com/office/drawing/2014/main" val="4076488391"/>
                    </a:ext>
                  </a:extLst>
                </a:gridCol>
                <a:gridCol w="430586">
                  <a:extLst>
                    <a:ext uri="{9D8B030D-6E8A-4147-A177-3AD203B41FA5}">
                      <a16:colId xmlns:a16="http://schemas.microsoft.com/office/drawing/2014/main" val="3254101706"/>
                    </a:ext>
                  </a:extLst>
                </a:gridCol>
                <a:gridCol w="430586">
                  <a:extLst>
                    <a:ext uri="{9D8B030D-6E8A-4147-A177-3AD203B41FA5}">
                      <a16:colId xmlns:a16="http://schemas.microsoft.com/office/drawing/2014/main" val="3712391277"/>
                    </a:ext>
                  </a:extLst>
                </a:gridCol>
                <a:gridCol w="430586">
                  <a:extLst>
                    <a:ext uri="{9D8B030D-6E8A-4147-A177-3AD203B41FA5}">
                      <a16:colId xmlns:a16="http://schemas.microsoft.com/office/drawing/2014/main" val="2527660299"/>
                    </a:ext>
                  </a:extLst>
                </a:gridCol>
                <a:gridCol w="430586">
                  <a:extLst>
                    <a:ext uri="{9D8B030D-6E8A-4147-A177-3AD203B41FA5}">
                      <a16:colId xmlns:a16="http://schemas.microsoft.com/office/drawing/2014/main" val="3641075278"/>
                    </a:ext>
                  </a:extLst>
                </a:gridCol>
                <a:gridCol w="430586">
                  <a:extLst>
                    <a:ext uri="{9D8B030D-6E8A-4147-A177-3AD203B41FA5}">
                      <a16:colId xmlns:a16="http://schemas.microsoft.com/office/drawing/2014/main" val="3618613915"/>
                    </a:ext>
                  </a:extLst>
                </a:gridCol>
              </a:tblGrid>
              <a:tr h="16800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HK24</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ET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16710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0861808"/>
                  </a:ext>
                </a:extLst>
              </a:tr>
            </a:tbl>
          </a:graphicData>
        </a:graphic>
      </p:graphicFrame>
      <p:graphicFrame>
        <p:nvGraphicFramePr>
          <p:cNvPr id="3" name="表格 29">
            <a:extLst>
              <a:ext uri="{FF2B5EF4-FFF2-40B4-BE49-F238E27FC236}">
                <a16:creationId xmlns:a16="http://schemas.microsoft.com/office/drawing/2014/main" id="{1DAFC261-ADF2-F1F4-DBF6-4BC6B996E755}"/>
              </a:ext>
            </a:extLst>
          </p:cNvPr>
          <p:cNvGraphicFramePr>
            <a:graphicFrameLocks noGrp="1"/>
          </p:cNvGraphicFramePr>
          <p:nvPr>
            <p:extLst>
              <p:ext uri="{D42A27DB-BD31-4B8C-83A1-F6EECF244321}">
                <p14:modId xmlns:p14="http://schemas.microsoft.com/office/powerpoint/2010/main" val="2772193524"/>
              </p:ext>
            </p:extLst>
          </p:nvPr>
        </p:nvGraphicFramePr>
        <p:xfrm>
          <a:off x="68677" y="431020"/>
          <a:ext cx="9344681" cy="1080592"/>
        </p:xfrm>
        <a:graphic>
          <a:graphicData uri="http://schemas.openxmlformats.org/drawingml/2006/table">
            <a:tbl>
              <a:tblPr firstRow="1" bandRow="1">
                <a:tableStyleId>{3C2FFA5D-87B4-456A-9821-1D502468CF0F}</a:tableStyleId>
              </a:tblPr>
              <a:tblGrid>
                <a:gridCol w="1370263">
                  <a:extLst>
                    <a:ext uri="{9D8B030D-6E8A-4147-A177-3AD203B41FA5}">
                      <a16:colId xmlns:a16="http://schemas.microsoft.com/office/drawing/2014/main" val="869603910"/>
                    </a:ext>
                  </a:extLst>
                </a:gridCol>
                <a:gridCol w="673534">
                  <a:extLst>
                    <a:ext uri="{9D8B030D-6E8A-4147-A177-3AD203B41FA5}">
                      <a16:colId xmlns:a16="http://schemas.microsoft.com/office/drawing/2014/main" val="238663902"/>
                    </a:ext>
                  </a:extLst>
                </a:gridCol>
                <a:gridCol w="986725">
                  <a:extLst>
                    <a:ext uri="{9D8B030D-6E8A-4147-A177-3AD203B41FA5}">
                      <a16:colId xmlns:a16="http://schemas.microsoft.com/office/drawing/2014/main" val="4114365151"/>
                    </a:ext>
                  </a:extLst>
                </a:gridCol>
                <a:gridCol w="1039036">
                  <a:extLst>
                    <a:ext uri="{9D8B030D-6E8A-4147-A177-3AD203B41FA5}">
                      <a16:colId xmlns:a16="http://schemas.microsoft.com/office/drawing/2014/main" val="4075178046"/>
                    </a:ext>
                  </a:extLst>
                </a:gridCol>
                <a:gridCol w="1253488">
                  <a:extLst>
                    <a:ext uri="{9D8B030D-6E8A-4147-A177-3AD203B41FA5}">
                      <a16:colId xmlns:a16="http://schemas.microsoft.com/office/drawing/2014/main" val="973533418"/>
                    </a:ext>
                  </a:extLst>
                </a:gridCol>
                <a:gridCol w="1117567">
                  <a:extLst>
                    <a:ext uri="{9D8B030D-6E8A-4147-A177-3AD203B41FA5}">
                      <a16:colId xmlns:a16="http://schemas.microsoft.com/office/drawing/2014/main" val="2377711782"/>
                    </a:ext>
                  </a:extLst>
                </a:gridCol>
                <a:gridCol w="1117567">
                  <a:extLst>
                    <a:ext uri="{9D8B030D-6E8A-4147-A177-3AD203B41FA5}">
                      <a16:colId xmlns:a16="http://schemas.microsoft.com/office/drawing/2014/main" val="1078464214"/>
                    </a:ext>
                  </a:extLst>
                </a:gridCol>
                <a:gridCol w="1786501">
                  <a:extLst>
                    <a:ext uri="{9D8B030D-6E8A-4147-A177-3AD203B41FA5}">
                      <a16:colId xmlns:a16="http://schemas.microsoft.com/office/drawing/2014/main" val="221569069"/>
                    </a:ext>
                  </a:extLst>
                </a:gridCol>
              </a:tblGrid>
              <a:tr h="3578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57822">
                <a:tc rowSpan="2">
                  <a:txBody>
                    <a:bodyPr/>
                    <a:lstStyle/>
                    <a:p>
                      <a:r>
                        <a:rPr lang="en-US" altLang="zh-CN" sz="1050">
                          <a:solidFill>
                            <a:sysClr val="windowText" lastClr="000000"/>
                          </a:solidFill>
                        </a:rPr>
                        <a:t>Fixed/Consumption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rgbClr val="C00000"/>
                          </a:solidFill>
                        </a:rPr>
                        <a:t>Finance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a:t>
                      </a:r>
                    </a:p>
                    <a:p>
                      <a:r>
                        <a:rPr lang="en-US" altLang="zh-CN" sz="1050">
                          <a:solidFill>
                            <a:sysClr val="windowText" lastClr="000000"/>
                          </a:solidFill>
                        </a:rPr>
                        <a:t>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5763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sp>
        <p:nvSpPr>
          <p:cNvPr id="2" name="文本框 1">
            <a:extLst>
              <a:ext uri="{FF2B5EF4-FFF2-40B4-BE49-F238E27FC236}">
                <a16:creationId xmlns:a16="http://schemas.microsoft.com/office/drawing/2014/main" id="{D89E2396-994F-061E-CFEF-FBD7E7959A55}"/>
              </a:ext>
            </a:extLst>
          </p:cNvPr>
          <p:cNvSpPr txBox="1"/>
          <p:nvPr/>
        </p:nvSpPr>
        <p:spPr>
          <a:xfrm>
            <a:off x="9819983" y="1647898"/>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6" name="Rectangle 2">
            <a:extLst>
              <a:ext uri="{FF2B5EF4-FFF2-40B4-BE49-F238E27FC236}">
                <a16:creationId xmlns:a16="http://schemas.microsoft.com/office/drawing/2014/main" id="{DE4E599D-EEB2-9D7D-8FBB-07ADC4A88D83}"/>
              </a:ext>
            </a:extLst>
          </p:cNvPr>
          <p:cNvSpPr/>
          <p:nvPr/>
        </p:nvSpPr>
        <p:spPr>
          <a:xfrm>
            <a:off x="6529047" y="2573320"/>
            <a:ext cx="5228747" cy="338554"/>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对话气泡: 矩形 6">
            <a:extLst>
              <a:ext uri="{FF2B5EF4-FFF2-40B4-BE49-F238E27FC236}">
                <a16:creationId xmlns:a16="http://schemas.microsoft.com/office/drawing/2014/main" id="{3B033205-9D0E-2838-E387-35CCE881E742}"/>
              </a:ext>
            </a:extLst>
          </p:cNvPr>
          <p:cNvSpPr/>
          <p:nvPr/>
        </p:nvSpPr>
        <p:spPr>
          <a:xfrm>
            <a:off x="2138293" y="3020229"/>
            <a:ext cx="3522268" cy="627867"/>
          </a:xfrm>
          <a:prstGeom prst="wedgeRectCallout">
            <a:avLst>
              <a:gd name="adj1" fmla="val 77310"/>
              <a:gd name="adj2" fmla="val -6950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If Device was lost or stolen, then AFE will recognize broker sales on ET request</a:t>
            </a:r>
            <a:endParaRPr lang="zh-CN" altLang="en-US" sz="1200">
              <a:solidFill>
                <a:schemeClr val="tx1"/>
              </a:solidFill>
            </a:endParaRPr>
          </a:p>
        </p:txBody>
      </p:sp>
      <p:sp>
        <p:nvSpPr>
          <p:cNvPr id="13" name="Speech Bubble: Rectangle with Corners Rounded 7">
            <a:extLst>
              <a:ext uri="{FF2B5EF4-FFF2-40B4-BE49-F238E27FC236}">
                <a16:creationId xmlns:a16="http://schemas.microsoft.com/office/drawing/2014/main" id="{5B3DE54E-5B88-3441-D744-83BFCD67F781}"/>
              </a:ext>
            </a:extLst>
          </p:cNvPr>
          <p:cNvSpPr/>
          <p:nvPr/>
        </p:nvSpPr>
        <p:spPr>
          <a:xfrm>
            <a:off x="6173973" y="3851175"/>
            <a:ext cx="5415516" cy="623673"/>
          </a:xfrm>
          <a:prstGeom prst="wedgeRoundRectCallout">
            <a:avLst>
              <a:gd name="adj1" fmla="val -29710"/>
              <a:gd name="adj2" fmla="val -138100"/>
              <a:gd name="adj3" fmla="val 1666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in EMEA S&amp;D Model rollout extra recorded in interest income</a:t>
            </a:r>
            <a:r>
              <a:rPr lang="zh-CN" altLang="en-US" sz="1200">
                <a:solidFill>
                  <a:schemeClr val="tx1"/>
                </a:solidFill>
              </a:rPr>
              <a:t> </a:t>
            </a:r>
            <a:r>
              <a:rPr lang="en-US" altLang="zh-CN" sz="1200">
                <a:solidFill>
                  <a:schemeClr val="tx1"/>
                </a:solidFill>
              </a:rPr>
              <a:t>(ongoing service </a:t>
            </a:r>
            <a:r>
              <a:rPr lang="en-US" altLang="zh-CN" sz="1200" err="1">
                <a:solidFill>
                  <a:schemeClr val="tx1"/>
                </a:solidFill>
              </a:rPr>
              <a:t>PoB</a:t>
            </a:r>
            <a:r>
              <a:rPr lang="en-US" altLang="zh-CN" sz="1200">
                <a:solidFill>
                  <a:schemeClr val="tx1"/>
                </a:solidFill>
              </a:rPr>
              <a:t> have not met upon ET )</a:t>
            </a:r>
          </a:p>
          <a:p>
            <a:r>
              <a:rPr lang="en-US" sz="1200">
                <a:solidFill>
                  <a:schemeClr val="tx1"/>
                </a:solidFill>
              </a:rPr>
              <a:t>Now confirmed with Accounting that change to service revenue</a:t>
            </a:r>
          </a:p>
        </p:txBody>
      </p:sp>
      <p:sp>
        <p:nvSpPr>
          <p:cNvPr id="14" name="Rectangle 2">
            <a:extLst>
              <a:ext uri="{FF2B5EF4-FFF2-40B4-BE49-F238E27FC236}">
                <a16:creationId xmlns:a16="http://schemas.microsoft.com/office/drawing/2014/main" id="{49138B96-B042-872D-D0FD-087E59D61D2A}"/>
              </a:ext>
            </a:extLst>
          </p:cNvPr>
          <p:cNvSpPr/>
          <p:nvPr/>
        </p:nvSpPr>
        <p:spPr>
          <a:xfrm>
            <a:off x="6529047" y="3090446"/>
            <a:ext cx="5228747" cy="225683"/>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Tree>
    <p:extLst>
      <p:ext uri="{BB962C8B-B14F-4D97-AF65-F5344CB8AC3E}">
        <p14:creationId xmlns:p14="http://schemas.microsoft.com/office/powerpoint/2010/main" val="134209453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1C2DD43-5047-198F-3869-B13EB28F5CE2}"/>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367C2429-F082-CA2A-1491-7FEC73F83645}"/>
              </a:ext>
            </a:extLst>
          </p:cNvPr>
          <p:cNvSpPr txBox="1"/>
          <p:nvPr/>
        </p:nvSpPr>
        <p:spPr>
          <a:xfrm>
            <a:off x="195322" y="22705"/>
            <a:ext cx="4470947" cy="400110"/>
          </a:xfrm>
          <a:prstGeom prst="rect">
            <a:avLst/>
          </a:prstGeom>
          <a:noFill/>
        </p:spPr>
        <p:txBody>
          <a:bodyPr wrap="square" rtlCol="0">
            <a:spAutoFit/>
          </a:bodyPr>
          <a:lstStyle/>
          <a:p>
            <a:r>
              <a:rPr lang="nl-NL" altLang="zh-CN" sz="2000" b="1"/>
              <a:t>IaaS_ AFE HUB _MSA</a:t>
            </a:r>
            <a:endParaRPr lang="zh-CN" altLang="en-US" sz="2000" b="1"/>
          </a:p>
        </p:txBody>
      </p:sp>
      <p:graphicFrame>
        <p:nvGraphicFramePr>
          <p:cNvPr id="116" name="表格 115">
            <a:extLst>
              <a:ext uri="{FF2B5EF4-FFF2-40B4-BE49-F238E27FC236}">
                <a16:creationId xmlns:a16="http://schemas.microsoft.com/office/drawing/2014/main" id="{42D2D8A7-F246-1618-4AE4-AAB58EF1F194}"/>
              </a:ext>
            </a:extLst>
          </p:cNvPr>
          <p:cNvGraphicFramePr>
            <a:graphicFrameLocks noGrp="1"/>
          </p:cNvGraphicFramePr>
          <p:nvPr>
            <p:extLst>
              <p:ext uri="{D42A27DB-BD31-4B8C-83A1-F6EECF244321}">
                <p14:modId xmlns:p14="http://schemas.microsoft.com/office/powerpoint/2010/main" val="1503583344"/>
              </p:ext>
            </p:extLst>
          </p:nvPr>
        </p:nvGraphicFramePr>
        <p:xfrm>
          <a:off x="100070" y="2121873"/>
          <a:ext cx="5890435" cy="3067686"/>
        </p:xfrm>
        <a:graphic>
          <a:graphicData uri="http://schemas.openxmlformats.org/drawingml/2006/table">
            <a:tbl>
              <a:tblPr/>
              <a:tblGrid>
                <a:gridCol w="460618">
                  <a:extLst>
                    <a:ext uri="{9D8B030D-6E8A-4147-A177-3AD203B41FA5}">
                      <a16:colId xmlns:a16="http://schemas.microsoft.com/office/drawing/2014/main" val="495084399"/>
                    </a:ext>
                  </a:extLst>
                </a:gridCol>
                <a:gridCol w="259082">
                  <a:extLst>
                    <a:ext uri="{9D8B030D-6E8A-4147-A177-3AD203B41FA5}">
                      <a16:colId xmlns:a16="http://schemas.microsoft.com/office/drawing/2014/main" val="3614210242"/>
                    </a:ext>
                  </a:extLst>
                </a:gridCol>
                <a:gridCol w="616583">
                  <a:extLst>
                    <a:ext uri="{9D8B030D-6E8A-4147-A177-3AD203B41FA5}">
                      <a16:colId xmlns:a16="http://schemas.microsoft.com/office/drawing/2014/main" val="1442124609"/>
                    </a:ext>
                  </a:extLst>
                </a:gridCol>
                <a:gridCol w="1988894">
                  <a:extLst>
                    <a:ext uri="{9D8B030D-6E8A-4147-A177-3AD203B41FA5}">
                      <a16:colId xmlns:a16="http://schemas.microsoft.com/office/drawing/2014/main" val="3603859997"/>
                    </a:ext>
                  </a:extLst>
                </a:gridCol>
                <a:gridCol w="427543">
                  <a:extLst>
                    <a:ext uri="{9D8B030D-6E8A-4147-A177-3AD203B41FA5}">
                      <a16:colId xmlns:a16="http://schemas.microsoft.com/office/drawing/2014/main" val="4076488391"/>
                    </a:ext>
                  </a:extLst>
                </a:gridCol>
                <a:gridCol w="427543">
                  <a:extLst>
                    <a:ext uri="{9D8B030D-6E8A-4147-A177-3AD203B41FA5}">
                      <a16:colId xmlns:a16="http://schemas.microsoft.com/office/drawing/2014/main" val="3254101706"/>
                    </a:ext>
                  </a:extLst>
                </a:gridCol>
                <a:gridCol w="427543">
                  <a:extLst>
                    <a:ext uri="{9D8B030D-6E8A-4147-A177-3AD203B41FA5}">
                      <a16:colId xmlns:a16="http://schemas.microsoft.com/office/drawing/2014/main" val="363493977"/>
                    </a:ext>
                  </a:extLst>
                </a:gridCol>
                <a:gridCol w="427543">
                  <a:extLst>
                    <a:ext uri="{9D8B030D-6E8A-4147-A177-3AD203B41FA5}">
                      <a16:colId xmlns:a16="http://schemas.microsoft.com/office/drawing/2014/main" val="2527660299"/>
                    </a:ext>
                  </a:extLst>
                </a:gridCol>
                <a:gridCol w="427543">
                  <a:extLst>
                    <a:ext uri="{9D8B030D-6E8A-4147-A177-3AD203B41FA5}">
                      <a16:colId xmlns:a16="http://schemas.microsoft.com/office/drawing/2014/main" val="3641075278"/>
                    </a:ext>
                  </a:extLst>
                </a:gridCol>
                <a:gridCol w="427543">
                  <a:extLst>
                    <a:ext uri="{9D8B030D-6E8A-4147-A177-3AD203B41FA5}">
                      <a16:colId xmlns:a16="http://schemas.microsoft.com/office/drawing/2014/main" val="3618613915"/>
                    </a:ext>
                  </a:extLst>
                </a:gridCol>
              </a:tblGrid>
              <a:tr h="182275">
                <a:tc rowSpan="13">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HK24</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800" b="1" u="none" strike="noStrike" kern="1200">
                          <a:solidFill>
                            <a:schemeClr val="lt1"/>
                          </a:solidFill>
                          <a:effectLst/>
                          <a:latin typeface="+mn-lt"/>
                          <a:ea typeface="+mn-ea"/>
                          <a:cs typeface="+mn-cs"/>
                        </a:rPr>
                        <a:t>Invoice to AFE for Services Revenue on Early Termination</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9">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a:ln>
                            <a:noFill/>
                          </a:ln>
                          <a:solidFill>
                            <a:srgbClr val="000000"/>
                          </a:solidFill>
                          <a:effectLst/>
                          <a:uLnTx/>
                          <a:uFillTx/>
                          <a:latin typeface="+mn-lt"/>
                          <a:ea typeface="+mn-ea"/>
                          <a:cs typeface="+mn-cs"/>
                        </a:rPr>
                        <a:t>Termination Charge - Charge of Outstanding Service Payments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38798572"/>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sngStrike" kern="1200" cap="none" spc="0" normalizeH="0" baseline="0" noProof="0">
                          <a:ln>
                            <a:noFill/>
                          </a:ln>
                          <a:solidFill>
                            <a:srgbClr val="000000"/>
                          </a:solidFill>
                          <a:effectLst/>
                          <a:uLnTx/>
                          <a:uFillTx/>
                          <a:latin typeface="+mn-lt"/>
                          <a:ea typeface="+mn-ea"/>
                          <a:cs typeface="+mn-cs"/>
                        </a:rPr>
                        <a:t>5010440</a:t>
                      </a:r>
                    </a:p>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36697175"/>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20093426"/>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66222787"/>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03278765"/>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Power</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9154779"/>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Storage</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259188"/>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5010450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Operating Lease Revenue - Allocation</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00164512"/>
                  </a:ext>
                </a:extLst>
              </a:tr>
            </a:tbl>
          </a:graphicData>
        </a:graphic>
      </p:graphicFrame>
      <p:graphicFrame>
        <p:nvGraphicFramePr>
          <p:cNvPr id="10" name="表格 9">
            <a:extLst>
              <a:ext uri="{FF2B5EF4-FFF2-40B4-BE49-F238E27FC236}">
                <a16:creationId xmlns:a16="http://schemas.microsoft.com/office/drawing/2014/main" id="{70287F6E-A6BE-1D8B-54B9-3C2E2B43A6BC}"/>
              </a:ext>
            </a:extLst>
          </p:cNvPr>
          <p:cNvGraphicFramePr>
            <a:graphicFrameLocks noGrp="1"/>
          </p:cNvGraphicFramePr>
          <p:nvPr>
            <p:extLst>
              <p:ext uri="{D42A27DB-BD31-4B8C-83A1-F6EECF244321}">
                <p14:modId xmlns:p14="http://schemas.microsoft.com/office/powerpoint/2010/main" val="2127168706"/>
              </p:ext>
            </p:extLst>
          </p:nvPr>
        </p:nvGraphicFramePr>
        <p:xfrm>
          <a:off x="6201494" y="402306"/>
          <a:ext cx="5773420" cy="2647129"/>
        </p:xfrm>
        <a:graphic>
          <a:graphicData uri="http://schemas.openxmlformats.org/drawingml/2006/table">
            <a:tbl>
              <a:tblPr/>
              <a:tblGrid>
                <a:gridCol w="437298">
                  <a:extLst>
                    <a:ext uri="{9D8B030D-6E8A-4147-A177-3AD203B41FA5}">
                      <a16:colId xmlns:a16="http://schemas.microsoft.com/office/drawing/2014/main" val="495084399"/>
                    </a:ext>
                  </a:extLst>
                </a:gridCol>
                <a:gridCol w="251165">
                  <a:extLst>
                    <a:ext uri="{9D8B030D-6E8A-4147-A177-3AD203B41FA5}">
                      <a16:colId xmlns:a16="http://schemas.microsoft.com/office/drawing/2014/main" val="3614210242"/>
                    </a:ext>
                  </a:extLst>
                </a:gridCol>
                <a:gridCol w="635425">
                  <a:extLst>
                    <a:ext uri="{9D8B030D-6E8A-4147-A177-3AD203B41FA5}">
                      <a16:colId xmlns:a16="http://schemas.microsoft.com/office/drawing/2014/main" val="1442124609"/>
                    </a:ext>
                  </a:extLst>
                </a:gridCol>
                <a:gridCol w="1885492">
                  <a:extLst>
                    <a:ext uri="{9D8B030D-6E8A-4147-A177-3AD203B41FA5}">
                      <a16:colId xmlns:a16="http://schemas.microsoft.com/office/drawing/2014/main" val="3603859997"/>
                    </a:ext>
                  </a:extLst>
                </a:gridCol>
                <a:gridCol w="427340">
                  <a:extLst>
                    <a:ext uri="{9D8B030D-6E8A-4147-A177-3AD203B41FA5}">
                      <a16:colId xmlns:a16="http://schemas.microsoft.com/office/drawing/2014/main" val="4076488391"/>
                    </a:ext>
                  </a:extLst>
                </a:gridCol>
                <a:gridCol w="427340">
                  <a:extLst>
                    <a:ext uri="{9D8B030D-6E8A-4147-A177-3AD203B41FA5}">
                      <a16:colId xmlns:a16="http://schemas.microsoft.com/office/drawing/2014/main" val="3254101706"/>
                    </a:ext>
                  </a:extLst>
                </a:gridCol>
                <a:gridCol w="427340">
                  <a:extLst>
                    <a:ext uri="{9D8B030D-6E8A-4147-A177-3AD203B41FA5}">
                      <a16:colId xmlns:a16="http://schemas.microsoft.com/office/drawing/2014/main" val="4051557831"/>
                    </a:ext>
                  </a:extLst>
                </a:gridCol>
                <a:gridCol w="427340">
                  <a:extLst>
                    <a:ext uri="{9D8B030D-6E8A-4147-A177-3AD203B41FA5}">
                      <a16:colId xmlns:a16="http://schemas.microsoft.com/office/drawing/2014/main" val="2527660299"/>
                    </a:ext>
                  </a:extLst>
                </a:gridCol>
                <a:gridCol w="427340">
                  <a:extLst>
                    <a:ext uri="{9D8B030D-6E8A-4147-A177-3AD203B41FA5}">
                      <a16:colId xmlns:a16="http://schemas.microsoft.com/office/drawing/2014/main" val="3641075278"/>
                    </a:ext>
                  </a:extLst>
                </a:gridCol>
                <a:gridCol w="427340">
                  <a:extLst>
                    <a:ext uri="{9D8B030D-6E8A-4147-A177-3AD203B41FA5}">
                      <a16:colId xmlns:a16="http://schemas.microsoft.com/office/drawing/2014/main" val="3618613915"/>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a:solidFill>
                            <a:schemeClr val="bg1"/>
                          </a:solidFill>
                          <a:latin typeface="+mn-lt"/>
                          <a:cs typeface="Arial" pitchFamily="34" charset="0"/>
                        </a:rPr>
                        <a:t>Final Monthly invoice from Lenovo to Customer</a:t>
                      </a:r>
                      <a:r>
                        <a:rPr lang="en-US" sz="800" b="1" i="0">
                          <a:solidFill>
                            <a:schemeClr val="bg1"/>
                          </a:solidFill>
                          <a:effectLst/>
                          <a:latin typeface="Arial" panose="020B0604020202020204" pitchFamily="34" charset="0"/>
                        </a:rPr>
                        <a:t>​</a:t>
                      </a:r>
                      <a:endParaRPr lang="en-US" sz="1100" b="1" i="0">
                        <a:solidFill>
                          <a:schemeClr val="bg1"/>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10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1000" b="0" i="0" u="none" strike="noStrike" kern="1200">
                          <a:solidFill>
                            <a:srgbClr val="000000"/>
                          </a:solidFill>
                          <a:effectLst/>
                          <a:latin typeface="+mj-lt"/>
                          <a:ea typeface="+mn-ea"/>
                          <a:cs typeface="+mn-cs"/>
                        </a:rPr>
                        <a:t>Interest Income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806640040"/>
                  </a:ext>
                </a:extLst>
              </a:tr>
              <a:tr h="128893">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l" defTabSz="914400" rtl="0" eaLnBrk="1" fontAlgn="b" latinLnBrk="0" hangingPunct="1"/>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15265391"/>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15518152"/>
                  </a:ext>
                </a:extLst>
              </a:tr>
            </a:tbl>
          </a:graphicData>
        </a:graphic>
      </p:graphicFrame>
      <p:graphicFrame>
        <p:nvGraphicFramePr>
          <p:cNvPr id="6" name="表格 5">
            <a:extLst>
              <a:ext uri="{FF2B5EF4-FFF2-40B4-BE49-F238E27FC236}">
                <a16:creationId xmlns:a16="http://schemas.microsoft.com/office/drawing/2014/main" id="{6B1EA9FC-686D-2A93-B9B5-B4B4AB91460B}"/>
              </a:ext>
            </a:extLst>
          </p:cNvPr>
          <p:cNvGraphicFramePr>
            <a:graphicFrameLocks noGrp="1"/>
          </p:cNvGraphicFramePr>
          <p:nvPr>
            <p:extLst>
              <p:ext uri="{D42A27DB-BD31-4B8C-83A1-F6EECF244321}">
                <p14:modId xmlns:p14="http://schemas.microsoft.com/office/powerpoint/2010/main" val="3517814754"/>
              </p:ext>
            </p:extLst>
          </p:nvPr>
        </p:nvGraphicFramePr>
        <p:xfrm>
          <a:off x="6201493" y="3752167"/>
          <a:ext cx="5821705" cy="2644910"/>
        </p:xfrm>
        <a:graphic>
          <a:graphicData uri="http://schemas.openxmlformats.org/drawingml/2006/table">
            <a:tbl>
              <a:tblPr/>
              <a:tblGrid>
                <a:gridCol w="488358">
                  <a:extLst>
                    <a:ext uri="{9D8B030D-6E8A-4147-A177-3AD203B41FA5}">
                      <a16:colId xmlns:a16="http://schemas.microsoft.com/office/drawing/2014/main" val="495084399"/>
                    </a:ext>
                  </a:extLst>
                </a:gridCol>
                <a:gridCol w="281701">
                  <a:extLst>
                    <a:ext uri="{9D8B030D-6E8A-4147-A177-3AD203B41FA5}">
                      <a16:colId xmlns:a16="http://schemas.microsoft.com/office/drawing/2014/main" val="3614210242"/>
                    </a:ext>
                  </a:extLst>
                </a:gridCol>
                <a:gridCol w="660655">
                  <a:extLst>
                    <a:ext uri="{9D8B030D-6E8A-4147-A177-3AD203B41FA5}">
                      <a16:colId xmlns:a16="http://schemas.microsoft.com/office/drawing/2014/main" val="1442124609"/>
                    </a:ext>
                  </a:extLst>
                </a:gridCol>
                <a:gridCol w="1695101">
                  <a:extLst>
                    <a:ext uri="{9D8B030D-6E8A-4147-A177-3AD203B41FA5}">
                      <a16:colId xmlns:a16="http://schemas.microsoft.com/office/drawing/2014/main" val="3603859997"/>
                    </a:ext>
                  </a:extLst>
                </a:gridCol>
                <a:gridCol w="449315">
                  <a:extLst>
                    <a:ext uri="{9D8B030D-6E8A-4147-A177-3AD203B41FA5}">
                      <a16:colId xmlns:a16="http://schemas.microsoft.com/office/drawing/2014/main" val="4076488391"/>
                    </a:ext>
                  </a:extLst>
                </a:gridCol>
                <a:gridCol w="449315">
                  <a:extLst>
                    <a:ext uri="{9D8B030D-6E8A-4147-A177-3AD203B41FA5}">
                      <a16:colId xmlns:a16="http://schemas.microsoft.com/office/drawing/2014/main" val="3254101706"/>
                    </a:ext>
                  </a:extLst>
                </a:gridCol>
                <a:gridCol w="449315">
                  <a:extLst>
                    <a:ext uri="{9D8B030D-6E8A-4147-A177-3AD203B41FA5}">
                      <a16:colId xmlns:a16="http://schemas.microsoft.com/office/drawing/2014/main" val="2678102022"/>
                    </a:ext>
                  </a:extLst>
                </a:gridCol>
                <a:gridCol w="449315">
                  <a:extLst>
                    <a:ext uri="{9D8B030D-6E8A-4147-A177-3AD203B41FA5}">
                      <a16:colId xmlns:a16="http://schemas.microsoft.com/office/drawing/2014/main" val="2527660299"/>
                    </a:ext>
                  </a:extLst>
                </a:gridCol>
                <a:gridCol w="449315">
                  <a:extLst>
                    <a:ext uri="{9D8B030D-6E8A-4147-A177-3AD203B41FA5}">
                      <a16:colId xmlns:a16="http://schemas.microsoft.com/office/drawing/2014/main" val="3641075278"/>
                    </a:ext>
                  </a:extLst>
                </a:gridCol>
                <a:gridCol w="449315">
                  <a:extLst>
                    <a:ext uri="{9D8B030D-6E8A-4147-A177-3AD203B41FA5}">
                      <a16:colId xmlns:a16="http://schemas.microsoft.com/office/drawing/2014/main" val="3618613915"/>
                    </a:ext>
                  </a:extLst>
                </a:gridCol>
              </a:tblGrid>
              <a:tr h="183914">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altLang="zh-CN" sz="800" b="1" i="0" u="none" strike="noStrike" kern="1200">
                          <a:solidFill>
                            <a:srgbClr val="FFFFFF"/>
                          </a:solidFill>
                          <a:effectLst/>
                          <a:latin typeface="Arial" panose="020B0604020202020204" pitchFamily="34" charset="0"/>
                          <a:ea typeface="+mn-ea"/>
                          <a:cs typeface="+mn-cs"/>
                        </a:rPr>
                        <a:t>Monthly service transfer to 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5416792"/>
                  </a:ext>
                </a:extLst>
              </a:tr>
              <a:tr h="15836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6925547"/>
                  </a:ext>
                </a:extLst>
              </a:tr>
              <a:tr h="15836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7491623"/>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536705"/>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21338728"/>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89620628"/>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a:ln>
                            <a:noFill/>
                          </a:ln>
                          <a:solidFill>
                            <a:srgbClr val="000000"/>
                          </a:solidFill>
                          <a:effectLst/>
                          <a:uLnTx/>
                          <a:uFillTx/>
                          <a:latin typeface="+mn-lt"/>
                          <a:ea typeface="+mn-ea"/>
                          <a:cs typeface="+mn-cs"/>
                        </a:rPr>
                        <a:t>A/P –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1000" b="0" i="0" u="none" strike="noStrike" kern="1200" cap="none" spc="0" normalizeH="0" baseline="0">
                          <a:ln>
                            <a:noFill/>
                          </a:ln>
                          <a:solidFill>
                            <a:srgbClr val="000000"/>
                          </a:solidFill>
                          <a:effectLst/>
                          <a:uLnTx/>
                          <a:uFillTx/>
                          <a:latin typeface="+mn-lt"/>
                          <a:ea typeface="+mn-ea"/>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1000" b="0" i="0" u="none" strike="noStrike" kern="1200" cap="none" spc="0" normalizeH="0" baseline="0">
                          <a:ln>
                            <a:noFill/>
                          </a:ln>
                          <a:solidFill>
                            <a:srgbClr val="000000"/>
                          </a:solidFill>
                          <a:effectLst/>
                          <a:uLnTx/>
                          <a:uFillTx/>
                          <a:latin typeface="+mn-lt"/>
                          <a:ea typeface="+mn-ea"/>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3" name="表格 5">
            <a:extLst>
              <a:ext uri="{FF2B5EF4-FFF2-40B4-BE49-F238E27FC236}">
                <a16:creationId xmlns:a16="http://schemas.microsoft.com/office/drawing/2014/main" id="{BB4E3037-5609-E309-2105-ADDFABBC4E43}"/>
              </a:ext>
            </a:extLst>
          </p:cNvPr>
          <p:cNvGraphicFramePr>
            <a:graphicFrameLocks noGrp="1"/>
          </p:cNvGraphicFramePr>
          <p:nvPr>
            <p:extLst>
              <p:ext uri="{D42A27DB-BD31-4B8C-83A1-F6EECF244321}">
                <p14:modId xmlns:p14="http://schemas.microsoft.com/office/powerpoint/2010/main" val="1466888487"/>
              </p:ext>
            </p:extLst>
          </p:nvPr>
        </p:nvGraphicFramePr>
        <p:xfrm>
          <a:off x="100071" y="447365"/>
          <a:ext cx="5890437" cy="171450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Fixed/Consumption</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Auto Extension</a:t>
                      </a:r>
                    </a:p>
                    <a:p>
                      <a:r>
                        <a:rPr lang="en-US" altLang="zh-CN" sz="1050">
                          <a:solidFill>
                            <a:sysClr val="windowText" lastClr="000000"/>
                          </a:solidFill>
                        </a:rPr>
                        <a:t>Open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with  fixed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sp>
        <p:nvSpPr>
          <p:cNvPr id="4" name="Rectangle 3">
            <a:extLst>
              <a:ext uri="{FF2B5EF4-FFF2-40B4-BE49-F238E27FC236}">
                <a16:creationId xmlns:a16="http://schemas.microsoft.com/office/drawing/2014/main" id="{B1FEF773-0345-8C11-00B1-6F44848AA5B8}"/>
              </a:ext>
            </a:extLst>
          </p:cNvPr>
          <p:cNvSpPr/>
          <p:nvPr/>
        </p:nvSpPr>
        <p:spPr>
          <a:xfrm>
            <a:off x="6679058" y="5255495"/>
            <a:ext cx="5344143" cy="96216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Rectangle 6">
            <a:extLst>
              <a:ext uri="{FF2B5EF4-FFF2-40B4-BE49-F238E27FC236}">
                <a16:creationId xmlns:a16="http://schemas.microsoft.com/office/drawing/2014/main" id="{E10EA56E-4ED2-7080-24AA-0941A442687C}"/>
              </a:ext>
            </a:extLst>
          </p:cNvPr>
          <p:cNvSpPr/>
          <p:nvPr/>
        </p:nvSpPr>
        <p:spPr>
          <a:xfrm>
            <a:off x="553009" y="3571461"/>
            <a:ext cx="5437497" cy="1558711"/>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8" name="Rectangle 7">
            <a:extLst>
              <a:ext uri="{FF2B5EF4-FFF2-40B4-BE49-F238E27FC236}">
                <a16:creationId xmlns:a16="http://schemas.microsoft.com/office/drawing/2014/main" id="{2E15CF8D-3212-1827-D652-3AE04AA93263}"/>
              </a:ext>
            </a:extLst>
          </p:cNvPr>
          <p:cNvSpPr/>
          <p:nvPr/>
        </p:nvSpPr>
        <p:spPr>
          <a:xfrm>
            <a:off x="6679055" y="2110912"/>
            <a:ext cx="5344143" cy="938523"/>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9" name="对话气泡: 矩形 11">
            <a:extLst>
              <a:ext uri="{FF2B5EF4-FFF2-40B4-BE49-F238E27FC236}">
                <a16:creationId xmlns:a16="http://schemas.microsoft.com/office/drawing/2014/main" id="{551BF18D-F546-B22C-407B-79AC8DDE2261}"/>
              </a:ext>
            </a:extLst>
          </p:cNvPr>
          <p:cNvSpPr/>
          <p:nvPr/>
        </p:nvSpPr>
        <p:spPr>
          <a:xfrm>
            <a:off x="100070" y="5468536"/>
            <a:ext cx="5571460" cy="698263"/>
          </a:xfrm>
          <a:prstGeom prst="wedgeRectCallout">
            <a:avLst>
              <a:gd name="adj1" fmla="val -35658"/>
              <a:gd name="adj2" fmla="val -6943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The variable charge lines only apply in variable charge models not in fixed charge models.</a:t>
            </a:r>
          </a:p>
        </p:txBody>
      </p:sp>
      <p:sp>
        <p:nvSpPr>
          <p:cNvPr id="11" name="Rectangle 10">
            <a:extLst>
              <a:ext uri="{FF2B5EF4-FFF2-40B4-BE49-F238E27FC236}">
                <a16:creationId xmlns:a16="http://schemas.microsoft.com/office/drawing/2014/main" id="{7DDAC315-272E-20DB-D7B4-D038543A6748}"/>
              </a:ext>
            </a:extLst>
          </p:cNvPr>
          <p:cNvSpPr/>
          <p:nvPr/>
        </p:nvSpPr>
        <p:spPr>
          <a:xfrm>
            <a:off x="6679055" y="1339222"/>
            <a:ext cx="5344143" cy="228688"/>
          </a:xfrm>
          <a:prstGeom prst="rect">
            <a:avLst/>
          </a:prstGeom>
          <a:noFill/>
          <a:ln w="9525" cap="flat" cmpd="sng" algn="ctr">
            <a:solidFill>
              <a:schemeClr val="accent4">
                <a:lumMod val="75000"/>
              </a:scheme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2" name="对话气泡: 矩形 11">
            <a:extLst>
              <a:ext uri="{FF2B5EF4-FFF2-40B4-BE49-F238E27FC236}">
                <a16:creationId xmlns:a16="http://schemas.microsoft.com/office/drawing/2014/main" id="{27CDBD75-1F5A-4E7D-629A-617183076CFF}"/>
              </a:ext>
            </a:extLst>
          </p:cNvPr>
          <p:cNvSpPr/>
          <p:nvPr/>
        </p:nvSpPr>
        <p:spPr>
          <a:xfrm>
            <a:off x="6321878" y="3174888"/>
            <a:ext cx="5580933" cy="508223"/>
          </a:xfrm>
          <a:prstGeom prst="wedgeRectCallout">
            <a:avLst>
              <a:gd name="adj1" fmla="val -33331"/>
              <a:gd name="adj2" fmla="val -75539"/>
            </a:avLst>
          </a:prstGeom>
          <a:noFill/>
          <a:ln>
            <a:solidFill>
              <a:schemeClr val="accent4">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rPr>
              <a:t>Confirmed with Accounting:</a:t>
            </a:r>
          </a:p>
          <a:p>
            <a:r>
              <a:rPr lang="en-US" altLang="zh-CN" sz="1100">
                <a:solidFill>
                  <a:schemeClr val="tx1"/>
                </a:solidFill>
              </a:rPr>
              <a:t>Upfront service has been cleared under LT-AR during normal lease term</a:t>
            </a:r>
          </a:p>
          <a:p>
            <a:r>
              <a:rPr lang="en-US" altLang="zh-CN" sz="1100">
                <a:solidFill>
                  <a:schemeClr val="tx1"/>
                </a:solidFill>
              </a:rPr>
              <a:t>During extension, no actual upfront service for customer, recognize as interest income</a:t>
            </a:r>
          </a:p>
        </p:txBody>
      </p:sp>
      <p:sp>
        <p:nvSpPr>
          <p:cNvPr id="2" name="文本框 1">
            <a:extLst>
              <a:ext uri="{FF2B5EF4-FFF2-40B4-BE49-F238E27FC236}">
                <a16:creationId xmlns:a16="http://schemas.microsoft.com/office/drawing/2014/main" id="{A150F28F-5024-A5D9-3F63-6EA72A970E95}"/>
              </a:ext>
            </a:extLst>
          </p:cNvPr>
          <p:cNvSpPr txBox="1"/>
          <p:nvPr/>
        </p:nvSpPr>
        <p:spPr>
          <a:xfrm>
            <a:off x="10058867" y="402306"/>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5" name="流程图: 资料带 4">
            <a:extLst>
              <a:ext uri="{FF2B5EF4-FFF2-40B4-BE49-F238E27FC236}">
                <a16:creationId xmlns:a16="http://schemas.microsoft.com/office/drawing/2014/main" id="{9CDA678B-1A98-7B0C-A3B8-562A1563D51E}"/>
              </a:ext>
            </a:extLst>
          </p:cNvPr>
          <p:cNvSpPr/>
          <p:nvPr/>
        </p:nvSpPr>
        <p:spPr>
          <a:xfrm>
            <a:off x="2935764" y="-640491"/>
            <a:ext cx="2674088" cy="1280981"/>
          </a:xfrm>
          <a:prstGeom prst="flowChartPunchedTape">
            <a:avLst/>
          </a:prstGeom>
          <a:solidFill>
            <a:srgbClr val="FF00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altLang="zh-CN" sz="1600" kern="0">
                <a:solidFill>
                  <a:schemeClr val="bg1"/>
                </a:solidFill>
                <a:latin typeface="Calibri"/>
              </a:rPr>
              <a:t>No System solution for now, </a:t>
            </a:r>
          </a:p>
          <a:p>
            <a:pPr algn="ctr" defTabSz="1088449"/>
            <a:r>
              <a:rPr lang="en-US" altLang="zh-CN" sz="1600" kern="0">
                <a:solidFill>
                  <a:schemeClr val="bg1"/>
                </a:solidFill>
                <a:latin typeface="Calibri"/>
              </a:rPr>
              <a:t>Entry prepared</a:t>
            </a:r>
            <a:endParaRPr lang="zh-CN" altLang="en-US" sz="1600" kern="0">
              <a:solidFill>
                <a:schemeClr val="bg1"/>
              </a:solidFill>
              <a:latin typeface="Calibri"/>
            </a:endParaRPr>
          </a:p>
        </p:txBody>
      </p:sp>
    </p:spTree>
    <p:extLst>
      <p:ext uri="{BB962C8B-B14F-4D97-AF65-F5344CB8AC3E}">
        <p14:creationId xmlns:p14="http://schemas.microsoft.com/office/powerpoint/2010/main" val="4134418957"/>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8622E30B-6C7C-2208-DCE4-6125CC64E2DA}"/>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90482010-04BF-4180-03E9-DA4F56EF1C33}"/>
              </a:ext>
            </a:extLst>
          </p:cNvPr>
          <p:cNvSpPr txBox="1"/>
          <p:nvPr/>
        </p:nvSpPr>
        <p:spPr>
          <a:xfrm>
            <a:off x="195322" y="22705"/>
            <a:ext cx="4470947" cy="400110"/>
          </a:xfrm>
          <a:prstGeom prst="rect">
            <a:avLst/>
          </a:prstGeom>
          <a:noFill/>
        </p:spPr>
        <p:txBody>
          <a:bodyPr wrap="square" rtlCol="0">
            <a:spAutoFit/>
          </a:bodyPr>
          <a:lstStyle/>
          <a:p>
            <a:r>
              <a:rPr lang="nl-NL" altLang="zh-CN" sz="2000" b="1"/>
              <a:t>IaaS_ AFE HUB _MSA</a:t>
            </a:r>
            <a:endParaRPr lang="zh-CN" altLang="en-US" sz="2000" b="1"/>
          </a:p>
        </p:txBody>
      </p:sp>
      <p:graphicFrame>
        <p:nvGraphicFramePr>
          <p:cNvPr id="116" name="表格 115">
            <a:extLst>
              <a:ext uri="{FF2B5EF4-FFF2-40B4-BE49-F238E27FC236}">
                <a16:creationId xmlns:a16="http://schemas.microsoft.com/office/drawing/2014/main" id="{A287F193-1DF9-CC6E-C56B-68514D759130}"/>
              </a:ext>
            </a:extLst>
          </p:cNvPr>
          <p:cNvGraphicFramePr>
            <a:graphicFrameLocks noGrp="1"/>
          </p:cNvGraphicFramePr>
          <p:nvPr>
            <p:extLst>
              <p:ext uri="{D42A27DB-BD31-4B8C-83A1-F6EECF244321}">
                <p14:modId xmlns:p14="http://schemas.microsoft.com/office/powerpoint/2010/main" val="3701620426"/>
              </p:ext>
            </p:extLst>
          </p:nvPr>
        </p:nvGraphicFramePr>
        <p:xfrm>
          <a:off x="100070" y="2121873"/>
          <a:ext cx="5890435" cy="3203272"/>
        </p:xfrm>
        <a:graphic>
          <a:graphicData uri="http://schemas.openxmlformats.org/drawingml/2006/table">
            <a:tbl>
              <a:tblPr/>
              <a:tblGrid>
                <a:gridCol w="460618">
                  <a:extLst>
                    <a:ext uri="{9D8B030D-6E8A-4147-A177-3AD203B41FA5}">
                      <a16:colId xmlns:a16="http://schemas.microsoft.com/office/drawing/2014/main" val="495084399"/>
                    </a:ext>
                  </a:extLst>
                </a:gridCol>
                <a:gridCol w="259082">
                  <a:extLst>
                    <a:ext uri="{9D8B030D-6E8A-4147-A177-3AD203B41FA5}">
                      <a16:colId xmlns:a16="http://schemas.microsoft.com/office/drawing/2014/main" val="3614210242"/>
                    </a:ext>
                  </a:extLst>
                </a:gridCol>
                <a:gridCol w="616583">
                  <a:extLst>
                    <a:ext uri="{9D8B030D-6E8A-4147-A177-3AD203B41FA5}">
                      <a16:colId xmlns:a16="http://schemas.microsoft.com/office/drawing/2014/main" val="1442124609"/>
                    </a:ext>
                  </a:extLst>
                </a:gridCol>
                <a:gridCol w="1988894">
                  <a:extLst>
                    <a:ext uri="{9D8B030D-6E8A-4147-A177-3AD203B41FA5}">
                      <a16:colId xmlns:a16="http://schemas.microsoft.com/office/drawing/2014/main" val="3603859997"/>
                    </a:ext>
                  </a:extLst>
                </a:gridCol>
                <a:gridCol w="427543">
                  <a:extLst>
                    <a:ext uri="{9D8B030D-6E8A-4147-A177-3AD203B41FA5}">
                      <a16:colId xmlns:a16="http://schemas.microsoft.com/office/drawing/2014/main" val="4076488391"/>
                    </a:ext>
                  </a:extLst>
                </a:gridCol>
                <a:gridCol w="427543">
                  <a:extLst>
                    <a:ext uri="{9D8B030D-6E8A-4147-A177-3AD203B41FA5}">
                      <a16:colId xmlns:a16="http://schemas.microsoft.com/office/drawing/2014/main" val="3254101706"/>
                    </a:ext>
                  </a:extLst>
                </a:gridCol>
                <a:gridCol w="427543">
                  <a:extLst>
                    <a:ext uri="{9D8B030D-6E8A-4147-A177-3AD203B41FA5}">
                      <a16:colId xmlns:a16="http://schemas.microsoft.com/office/drawing/2014/main" val="363493977"/>
                    </a:ext>
                  </a:extLst>
                </a:gridCol>
                <a:gridCol w="427543">
                  <a:extLst>
                    <a:ext uri="{9D8B030D-6E8A-4147-A177-3AD203B41FA5}">
                      <a16:colId xmlns:a16="http://schemas.microsoft.com/office/drawing/2014/main" val="2527660299"/>
                    </a:ext>
                  </a:extLst>
                </a:gridCol>
                <a:gridCol w="427543">
                  <a:extLst>
                    <a:ext uri="{9D8B030D-6E8A-4147-A177-3AD203B41FA5}">
                      <a16:colId xmlns:a16="http://schemas.microsoft.com/office/drawing/2014/main" val="3641075278"/>
                    </a:ext>
                  </a:extLst>
                </a:gridCol>
                <a:gridCol w="427543">
                  <a:extLst>
                    <a:ext uri="{9D8B030D-6E8A-4147-A177-3AD203B41FA5}">
                      <a16:colId xmlns:a16="http://schemas.microsoft.com/office/drawing/2014/main" val="3618613915"/>
                    </a:ext>
                  </a:extLst>
                </a:gridCol>
              </a:tblGrid>
              <a:tr h="182275">
                <a:tc rowSpan="13">
                  <a:txBody>
                    <a:bodyPr/>
                    <a:lstStyle/>
                    <a:p>
                      <a:pPr algn="ctr" fontAlgn="base">
                        <a:lnSpc>
                          <a:spcPts val="1425"/>
                        </a:lnSpc>
                        <a:buNone/>
                      </a:pPr>
                      <a:r>
                        <a:rPr lang="en-US" sz="900" b="1" i="0" u="none" strike="noStrike">
                          <a:solidFill>
                            <a:srgbClr val="FFFFFF"/>
                          </a:solidFill>
                          <a:effectLst/>
                          <a:latin typeface="Arial" panose="020B0604020202020204" pitchFamily="34" charset="0"/>
                        </a:rPr>
                        <a:t>HK24</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800" b="1" u="none" strike="noStrike" kern="1200">
                          <a:solidFill>
                            <a:schemeClr val="lt1"/>
                          </a:solidFill>
                          <a:effectLst/>
                          <a:latin typeface="+mn-lt"/>
                          <a:ea typeface="+mn-ea"/>
                          <a:cs typeface="+mn-cs"/>
                        </a:rPr>
                        <a:t>Invoice to AFE for Services Revenue on Early Termination</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5516">
                <a:tc vMerge="1">
                  <a:txBody>
                    <a:bodyPr/>
                    <a:lstStyle/>
                    <a:p>
                      <a:endParaRPr lang="zh-CN" altLang="en-US"/>
                    </a:p>
                  </a:txBody>
                  <a:tcPr/>
                </a:tc>
                <a:tc gridSpan="9">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a:ln>
                            <a:noFill/>
                          </a:ln>
                          <a:solidFill>
                            <a:srgbClr val="000000"/>
                          </a:solidFill>
                          <a:effectLst/>
                          <a:uLnTx/>
                          <a:uFillTx/>
                          <a:latin typeface="+mn-lt"/>
                          <a:ea typeface="+mn-ea"/>
                          <a:cs typeface="+mn-cs"/>
                        </a:rPr>
                        <a:t>Termination Charge - Charge of Outstanding Service Payments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1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Managed Service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38798572"/>
                  </a:ext>
                </a:extLst>
              </a:tr>
              <a:tr h="18129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sngStrike" kern="1200" cap="none" spc="0" normalizeH="0" baseline="0" noProof="0">
                          <a:ln>
                            <a:noFill/>
                          </a:ln>
                          <a:solidFill>
                            <a:srgbClr val="000000"/>
                          </a:solidFill>
                          <a:effectLst/>
                          <a:uLnTx/>
                          <a:uFillTx/>
                          <a:latin typeface="+mn-lt"/>
                          <a:ea typeface="+mn-ea"/>
                          <a:cs typeface="+mn-cs"/>
                        </a:rPr>
                        <a:t>5010440</a:t>
                      </a:r>
                    </a:p>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36697175"/>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Power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20093426"/>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storage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66222787"/>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Service Revenue – Variable allocation usage</a:t>
                      </a:r>
                    </a:p>
                  </a:txBody>
                  <a:tcPr marL="9525" marR="9525" marT="9525"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03278765"/>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48497228"/>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75598754"/>
                  </a:ext>
                </a:extLst>
              </a:tr>
              <a:tr h="181297">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5010509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FL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74411967"/>
                  </a:ext>
                </a:extLst>
              </a:tr>
            </a:tbl>
          </a:graphicData>
        </a:graphic>
      </p:graphicFrame>
      <p:graphicFrame>
        <p:nvGraphicFramePr>
          <p:cNvPr id="10" name="表格 9">
            <a:extLst>
              <a:ext uri="{FF2B5EF4-FFF2-40B4-BE49-F238E27FC236}">
                <a16:creationId xmlns:a16="http://schemas.microsoft.com/office/drawing/2014/main" id="{3F38A7F8-D075-C9BB-0134-DFD029EB39FC}"/>
              </a:ext>
            </a:extLst>
          </p:cNvPr>
          <p:cNvGraphicFramePr>
            <a:graphicFrameLocks noGrp="1"/>
          </p:cNvGraphicFramePr>
          <p:nvPr>
            <p:extLst>
              <p:ext uri="{D42A27DB-BD31-4B8C-83A1-F6EECF244321}">
                <p14:modId xmlns:p14="http://schemas.microsoft.com/office/powerpoint/2010/main" val="1440827061"/>
              </p:ext>
            </p:extLst>
          </p:nvPr>
        </p:nvGraphicFramePr>
        <p:xfrm>
          <a:off x="6201494" y="402306"/>
          <a:ext cx="5821709" cy="2647129"/>
        </p:xfrm>
        <a:graphic>
          <a:graphicData uri="http://schemas.openxmlformats.org/drawingml/2006/table">
            <a:tbl>
              <a:tblPr/>
              <a:tblGrid>
                <a:gridCol w="485587">
                  <a:extLst>
                    <a:ext uri="{9D8B030D-6E8A-4147-A177-3AD203B41FA5}">
                      <a16:colId xmlns:a16="http://schemas.microsoft.com/office/drawing/2014/main" val="495084399"/>
                    </a:ext>
                  </a:extLst>
                </a:gridCol>
                <a:gridCol w="251165">
                  <a:extLst>
                    <a:ext uri="{9D8B030D-6E8A-4147-A177-3AD203B41FA5}">
                      <a16:colId xmlns:a16="http://schemas.microsoft.com/office/drawing/2014/main" val="3614210242"/>
                    </a:ext>
                  </a:extLst>
                </a:gridCol>
                <a:gridCol w="635425">
                  <a:extLst>
                    <a:ext uri="{9D8B030D-6E8A-4147-A177-3AD203B41FA5}">
                      <a16:colId xmlns:a16="http://schemas.microsoft.com/office/drawing/2014/main" val="1442124609"/>
                    </a:ext>
                  </a:extLst>
                </a:gridCol>
                <a:gridCol w="1885492">
                  <a:extLst>
                    <a:ext uri="{9D8B030D-6E8A-4147-A177-3AD203B41FA5}">
                      <a16:colId xmlns:a16="http://schemas.microsoft.com/office/drawing/2014/main" val="3603859997"/>
                    </a:ext>
                  </a:extLst>
                </a:gridCol>
                <a:gridCol w="427340">
                  <a:extLst>
                    <a:ext uri="{9D8B030D-6E8A-4147-A177-3AD203B41FA5}">
                      <a16:colId xmlns:a16="http://schemas.microsoft.com/office/drawing/2014/main" val="4076488391"/>
                    </a:ext>
                  </a:extLst>
                </a:gridCol>
                <a:gridCol w="427340">
                  <a:extLst>
                    <a:ext uri="{9D8B030D-6E8A-4147-A177-3AD203B41FA5}">
                      <a16:colId xmlns:a16="http://schemas.microsoft.com/office/drawing/2014/main" val="3254101706"/>
                    </a:ext>
                  </a:extLst>
                </a:gridCol>
                <a:gridCol w="427340">
                  <a:extLst>
                    <a:ext uri="{9D8B030D-6E8A-4147-A177-3AD203B41FA5}">
                      <a16:colId xmlns:a16="http://schemas.microsoft.com/office/drawing/2014/main" val="4051557831"/>
                    </a:ext>
                  </a:extLst>
                </a:gridCol>
                <a:gridCol w="427340">
                  <a:extLst>
                    <a:ext uri="{9D8B030D-6E8A-4147-A177-3AD203B41FA5}">
                      <a16:colId xmlns:a16="http://schemas.microsoft.com/office/drawing/2014/main" val="2527660299"/>
                    </a:ext>
                  </a:extLst>
                </a:gridCol>
                <a:gridCol w="427340">
                  <a:extLst>
                    <a:ext uri="{9D8B030D-6E8A-4147-A177-3AD203B41FA5}">
                      <a16:colId xmlns:a16="http://schemas.microsoft.com/office/drawing/2014/main" val="3641075278"/>
                    </a:ext>
                  </a:extLst>
                </a:gridCol>
                <a:gridCol w="427340">
                  <a:extLst>
                    <a:ext uri="{9D8B030D-6E8A-4147-A177-3AD203B41FA5}">
                      <a16:colId xmlns:a16="http://schemas.microsoft.com/office/drawing/2014/main" val="3618613915"/>
                    </a:ext>
                  </a:extLst>
                </a:gridCol>
              </a:tblGrid>
              <a:tr h="127981">
                <a:tc rowSpan="12">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a:solidFill>
                            <a:schemeClr val="bg1"/>
                          </a:solidFill>
                          <a:latin typeface="+mn-lt"/>
                          <a:cs typeface="Arial" pitchFamily="34" charset="0"/>
                        </a:rPr>
                        <a:t>Final Monthly invoice from Lenovo to Customer</a:t>
                      </a:r>
                      <a:r>
                        <a:rPr lang="en-US" sz="800" b="1" i="0">
                          <a:solidFill>
                            <a:schemeClr val="bg1"/>
                          </a:solidFill>
                          <a:effectLst/>
                          <a:latin typeface="Arial" panose="020B0604020202020204" pitchFamily="34" charset="0"/>
                        </a:rPr>
                        <a:t>​</a:t>
                      </a:r>
                      <a:endParaRPr lang="en-US" sz="1100" b="1" i="0">
                        <a:solidFill>
                          <a:schemeClr val="bg1"/>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ctr"/>
                      <a:r>
                        <a:rPr lang="en-US" sz="1000" b="0" i="0" u="none" strike="noStrike" kern="1200">
                          <a:solidFill>
                            <a:srgbClr val="000000"/>
                          </a:solidFill>
                          <a:effectLst/>
                          <a:latin typeface="+mn-lt"/>
                          <a:ea typeface="等线" panose="02010600030101010101" pitchFamily="2" charset="-122"/>
                          <a:cs typeface="+mn-cs"/>
                        </a:rPr>
                        <a:t>Account Receivable – Leasing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1274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9144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10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1000" b="0" i="0" u="none" strike="noStrike" kern="1200">
                          <a:solidFill>
                            <a:srgbClr val="000000"/>
                          </a:solidFill>
                          <a:effectLst/>
                          <a:latin typeface="+mj-lt"/>
                          <a:ea typeface="+mn-ea"/>
                          <a:cs typeface="+mn-cs"/>
                        </a:rPr>
                        <a:t>Interest Income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806640040"/>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91440">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15265391"/>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15518152"/>
                  </a:ext>
                </a:extLst>
              </a:tr>
            </a:tbl>
          </a:graphicData>
        </a:graphic>
      </p:graphicFrame>
      <p:graphicFrame>
        <p:nvGraphicFramePr>
          <p:cNvPr id="6" name="表格 5">
            <a:extLst>
              <a:ext uri="{FF2B5EF4-FFF2-40B4-BE49-F238E27FC236}">
                <a16:creationId xmlns:a16="http://schemas.microsoft.com/office/drawing/2014/main" id="{B335242A-5570-4D81-3731-44A6A3A740CF}"/>
              </a:ext>
            </a:extLst>
          </p:cNvPr>
          <p:cNvGraphicFramePr>
            <a:graphicFrameLocks noGrp="1"/>
          </p:cNvGraphicFramePr>
          <p:nvPr>
            <p:extLst>
              <p:ext uri="{D42A27DB-BD31-4B8C-83A1-F6EECF244321}">
                <p14:modId xmlns:p14="http://schemas.microsoft.com/office/powerpoint/2010/main" val="2827799611"/>
              </p:ext>
            </p:extLst>
          </p:nvPr>
        </p:nvGraphicFramePr>
        <p:xfrm>
          <a:off x="6201493" y="3752167"/>
          <a:ext cx="5821705" cy="2644910"/>
        </p:xfrm>
        <a:graphic>
          <a:graphicData uri="http://schemas.openxmlformats.org/drawingml/2006/table">
            <a:tbl>
              <a:tblPr/>
              <a:tblGrid>
                <a:gridCol w="488358">
                  <a:extLst>
                    <a:ext uri="{9D8B030D-6E8A-4147-A177-3AD203B41FA5}">
                      <a16:colId xmlns:a16="http://schemas.microsoft.com/office/drawing/2014/main" val="495084399"/>
                    </a:ext>
                  </a:extLst>
                </a:gridCol>
                <a:gridCol w="281701">
                  <a:extLst>
                    <a:ext uri="{9D8B030D-6E8A-4147-A177-3AD203B41FA5}">
                      <a16:colId xmlns:a16="http://schemas.microsoft.com/office/drawing/2014/main" val="3614210242"/>
                    </a:ext>
                  </a:extLst>
                </a:gridCol>
                <a:gridCol w="660655">
                  <a:extLst>
                    <a:ext uri="{9D8B030D-6E8A-4147-A177-3AD203B41FA5}">
                      <a16:colId xmlns:a16="http://schemas.microsoft.com/office/drawing/2014/main" val="1442124609"/>
                    </a:ext>
                  </a:extLst>
                </a:gridCol>
                <a:gridCol w="1695101">
                  <a:extLst>
                    <a:ext uri="{9D8B030D-6E8A-4147-A177-3AD203B41FA5}">
                      <a16:colId xmlns:a16="http://schemas.microsoft.com/office/drawing/2014/main" val="3603859997"/>
                    </a:ext>
                  </a:extLst>
                </a:gridCol>
                <a:gridCol w="449315">
                  <a:extLst>
                    <a:ext uri="{9D8B030D-6E8A-4147-A177-3AD203B41FA5}">
                      <a16:colId xmlns:a16="http://schemas.microsoft.com/office/drawing/2014/main" val="4076488391"/>
                    </a:ext>
                  </a:extLst>
                </a:gridCol>
                <a:gridCol w="449315">
                  <a:extLst>
                    <a:ext uri="{9D8B030D-6E8A-4147-A177-3AD203B41FA5}">
                      <a16:colId xmlns:a16="http://schemas.microsoft.com/office/drawing/2014/main" val="3254101706"/>
                    </a:ext>
                  </a:extLst>
                </a:gridCol>
                <a:gridCol w="449315">
                  <a:extLst>
                    <a:ext uri="{9D8B030D-6E8A-4147-A177-3AD203B41FA5}">
                      <a16:colId xmlns:a16="http://schemas.microsoft.com/office/drawing/2014/main" val="2678102022"/>
                    </a:ext>
                  </a:extLst>
                </a:gridCol>
                <a:gridCol w="449315">
                  <a:extLst>
                    <a:ext uri="{9D8B030D-6E8A-4147-A177-3AD203B41FA5}">
                      <a16:colId xmlns:a16="http://schemas.microsoft.com/office/drawing/2014/main" val="2527660299"/>
                    </a:ext>
                  </a:extLst>
                </a:gridCol>
                <a:gridCol w="449315">
                  <a:extLst>
                    <a:ext uri="{9D8B030D-6E8A-4147-A177-3AD203B41FA5}">
                      <a16:colId xmlns:a16="http://schemas.microsoft.com/office/drawing/2014/main" val="3641075278"/>
                    </a:ext>
                  </a:extLst>
                </a:gridCol>
                <a:gridCol w="449315">
                  <a:extLst>
                    <a:ext uri="{9D8B030D-6E8A-4147-A177-3AD203B41FA5}">
                      <a16:colId xmlns:a16="http://schemas.microsoft.com/office/drawing/2014/main" val="3618613915"/>
                    </a:ext>
                  </a:extLst>
                </a:gridCol>
              </a:tblGrid>
              <a:tr h="183914">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9">
                  <a:txBody>
                    <a:bodyPr/>
                    <a:lstStyle/>
                    <a:p>
                      <a:pPr algn="l" fontAlgn="base">
                        <a:lnSpc>
                          <a:spcPts val="1200"/>
                        </a:lnSpc>
                        <a:buNone/>
                      </a:pPr>
                      <a:r>
                        <a:rPr lang="en-US" altLang="zh-CN" sz="800" b="1" i="0" u="none" strike="noStrike" kern="1200">
                          <a:solidFill>
                            <a:srgbClr val="FFFFFF"/>
                          </a:solidFill>
                          <a:effectLst/>
                          <a:latin typeface="Arial" panose="020B0604020202020204" pitchFamily="34" charset="0"/>
                          <a:ea typeface="+mn-ea"/>
                          <a:cs typeface="+mn-cs"/>
                        </a:rPr>
                        <a:t>Monthly service transfer to S&amp;D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9">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lnL w="6350" cap="flat" cmpd="sng" algn="ctr">
                      <a:solidFill>
                        <a:srgbClr val="D9D9D9"/>
                      </a:solidFill>
                      <a:prstDash val="solid"/>
                      <a:round/>
                      <a:headEnd type="none" w="med" len="med"/>
                      <a:tailEnd type="none" w="med" len="med"/>
                    </a:ln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8365">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Managed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5416792"/>
                  </a:ext>
                </a:extLst>
              </a:tr>
              <a:tr h="15836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6925547"/>
                  </a:ext>
                </a:extLst>
              </a:tr>
              <a:tr h="158365">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Agent Revenue – SW subscription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97491623"/>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Power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536705"/>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storage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21338728"/>
                  </a:ext>
                </a:extLst>
              </a:tr>
              <a:tr h="15836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l" fontAlgn="b"/>
                      <a:r>
                        <a:rPr lang="en-US" sz="1000" b="0" i="0" u="none" strike="noStrike" kern="1200">
                          <a:solidFill>
                            <a:srgbClr val="000000"/>
                          </a:solidFill>
                          <a:effectLst/>
                          <a:latin typeface="+mn-lt"/>
                          <a:ea typeface="+mn-ea"/>
                          <a:cs typeface="+mn-cs"/>
                        </a:rPr>
                        <a:t>Agent Revenue – Variable allocation usage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89620628"/>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kumimoji="0" lang="en-US" sz="1000" b="0" i="0" u="none" strike="noStrike" kern="1200" cap="none" spc="0" normalizeH="0" baseline="0">
                          <a:ln>
                            <a:noFill/>
                          </a:ln>
                          <a:solidFill>
                            <a:srgbClr val="000000"/>
                          </a:solidFill>
                          <a:effectLst/>
                          <a:uLnTx/>
                          <a:uFillTx/>
                          <a:latin typeface="+mn-lt"/>
                          <a:ea typeface="+mn-ea"/>
                          <a:cs typeface="+mn-cs"/>
                        </a:rPr>
                        <a:t>A/P – 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1000" b="0" i="0" u="none" strike="noStrike" kern="1200" cap="none" spc="0" normalizeH="0" baseline="0">
                          <a:ln>
                            <a:noFill/>
                          </a:ln>
                          <a:solidFill>
                            <a:srgbClr val="000000"/>
                          </a:solidFill>
                          <a:effectLst/>
                          <a:uLnTx/>
                          <a:uFillTx/>
                          <a:latin typeface="+mn-lt"/>
                          <a:ea typeface="+mn-ea"/>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kumimoji="0" lang="en-US" altLang="zh-CN" sz="1000" b="0" i="0" u="none" strike="noStrike" kern="1200" cap="none" spc="0" normalizeH="0" baseline="0">
                          <a:ln>
                            <a:noFill/>
                          </a:ln>
                          <a:solidFill>
                            <a:srgbClr val="000000"/>
                          </a:solidFill>
                          <a:effectLst/>
                          <a:uLnTx/>
                          <a:uFillTx/>
                          <a:latin typeface="+mn-lt"/>
                          <a:ea typeface="+mn-ea"/>
                          <a:cs typeface="+mn-cs"/>
                        </a:rPr>
                        <a:t>420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3" name="表格 5">
            <a:extLst>
              <a:ext uri="{FF2B5EF4-FFF2-40B4-BE49-F238E27FC236}">
                <a16:creationId xmlns:a16="http://schemas.microsoft.com/office/drawing/2014/main" id="{62A8A93F-F028-7C18-DF4D-AD20B8D0A3B8}"/>
              </a:ext>
            </a:extLst>
          </p:cNvPr>
          <p:cNvGraphicFramePr>
            <a:graphicFrameLocks noGrp="1"/>
          </p:cNvGraphicFramePr>
          <p:nvPr>
            <p:extLst>
              <p:ext uri="{D42A27DB-BD31-4B8C-83A1-F6EECF244321}">
                <p14:modId xmlns:p14="http://schemas.microsoft.com/office/powerpoint/2010/main" val="1490682300"/>
              </p:ext>
            </p:extLst>
          </p:nvPr>
        </p:nvGraphicFramePr>
        <p:xfrm>
          <a:off x="100071" y="447365"/>
          <a:ext cx="5890437" cy="1714500"/>
        </p:xfrm>
        <a:graphic>
          <a:graphicData uri="http://schemas.openxmlformats.org/drawingml/2006/table">
            <a:tbl>
              <a:tblPr firstRow="1" bandRow="1">
                <a:tableStyleId>{3C2FFA5D-87B4-456A-9821-1D502468CF0F}</a:tableStyleId>
              </a:tblPr>
              <a:tblGrid>
                <a:gridCol w="740214">
                  <a:extLst>
                    <a:ext uri="{9D8B030D-6E8A-4147-A177-3AD203B41FA5}">
                      <a16:colId xmlns:a16="http://schemas.microsoft.com/office/drawing/2014/main" val="869603910"/>
                    </a:ext>
                  </a:extLst>
                </a:gridCol>
                <a:gridCol w="673916">
                  <a:extLst>
                    <a:ext uri="{9D8B030D-6E8A-4147-A177-3AD203B41FA5}">
                      <a16:colId xmlns:a16="http://schemas.microsoft.com/office/drawing/2014/main" val="238663902"/>
                    </a:ext>
                  </a:extLst>
                </a:gridCol>
                <a:gridCol w="655192">
                  <a:extLst>
                    <a:ext uri="{9D8B030D-6E8A-4147-A177-3AD203B41FA5}">
                      <a16:colId xmlns:a16="http://schemas.microsoft.com/office/drawing/2014/main" val="4114365151"/>
                    </a:ext>
                  </a:extLst>
                </a:gridCol>
                <a:gridCol w="717492">
                  <a:extLst>
                    <a:ext uri="{9D8B030D-6E8A-4147-A177-3AD203B41FA5}">
                      <a16:colId xmlns:a16="http://schemas.microsoft.com/office/drawing/2014/main" val="4075178046"/>
                    </a:ext>
                  </a:extLst>
                </a:gridCol>
                <a:gridCol w="784801">
                  <a:extLst>
                    <a:ext uri="{9D8B030D-6E8A-4147-A177-3AD203B41FA5}">
                      <a16:colId xmlns:a16="http://schemas.microsoft.com/office/drawing/2014/main" val="973533418"/>
                    </a:ext>
                  </a:extLst>
                </a:gridCol>
                <a:gridCol w="724686">
                  <a:extLst>
                    <a:ext uri="{9D8B030D-6E8A-4147-A177-3AD203B41FA5}">
                      <a16:colId xmlns:a16="http://schemas.microsoft.com/office/drawing/2014/main" val="2377711782"/>
                    </a:ext>
                  </a:extLst>
                </a:gridCol>
                <a:gridCol w="724686">
                  <a:extLst>
                    <a:ext uri="{9D8B030D-6E8A-4147-A177-3AD203B41FA5}">
                      <a16:colId xmlns:a16="http://schemas.microsoft.com/office/drawing/2014/main" val="3946881186"/>
                    </a:ext>
                  </a:extLst>
                </a:gridCol>
                <a:gridCol w="869450">
                  <a:extLst>
                    <a:ext uri="{9D8B030D-6E8A-4147-A177-3AD203B41FA5}">
                      <a16:colId xmlns:a16="http://schemas.microsoft.com/office/drawing/2014/main" val="221569069"/>
                    </a:ext>
                  </a:extLst>
                </a:gridCol>
              </a:tblGrid>
              <a:tr h="461829">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61829">
                <a:tc rowSpan="2">
                  <a:txBody>
                    <a:bodyPr/>
                    <a:lstStyle/>
                    <a:p>
                      <a:r>
                        <a:rPr lang="en-US" altLang="zh-CN" sz="1050">
                          <a:solidFill>
                            <a:sysClr val="windowText" lastClr="000000"/>
                          </a:solidFill>
                        </a:rPr>
                        <a:t>Fixed/Consumption</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Finance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Auto Extension</a:t>
                      </a:r>
                    </a:p>
                    <a:p>
                      <a:r>
                        <a:rPr lang="en-US" altLang="zh-CN" sz="1050">
                          <a:solidFill>
                            <a:sysClr val="windowText" lastClr="000000"/>
                          </a:solidFill>
                        </a:rPr>
                        <a:t>Open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32517">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u="none" strike="noStrike">
                          <a:effectLst/>
                        </a:rPr>
                        <a:t>Extension with  fixed term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bl>
          </a:graphicData>
        </a:graphic>
      </p:graphicFrame>
      <p:sp>
        <p:nvSpPr>
          <p:cNvPr id="4" name="Rectangle 3">
            <a:extLst>
              <a:ext uri="{FF2B5EF4-FFF2-40B4-BE49-F238E27FC236}">
                <a16:creationId xmlns:a16="http://schemas.microsoft.com/office/drawing/2014/main" id="{A521DB8F-84EA-1CE2-F806-8801F5E2E2E2}"/>
              </a:ext>
            </a:extLst>
          </p:cNvPr>
          <p:cNvSpPr/>
          <p:nvPr/>
        </p:nvSpPr>
        <p:spPr>
          <a:xfrm>
            <a:off x="6679058" y="5255495"/>
            <a:ext cx="5344143" cy="96216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7" name="Rectangle 6">
            <a:extLst>
              <a:ext uri="{FF2B5EF4-FFF2-40B4-BE49-F238E27FC236}">
                <a16:creationId xmlns:a16="http://schemas.microsoft.com/office/drawing/2014/main" id="{CE5D68BE-E049-2500-DF85-CC1BFA80A7E6}"/>
              </a:ext>
            </a:extLst>
          </p:cNvPr>
          <p:cNvSpPr/>
          <p:nvPr/>
        </p:nvSpPr>
        <p:spPr>
          <a:xfrm>
            <a:off x="553009" y="3603009"/>
            <a:ext cx="5437497" cy="1722136"/>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8" name="Rectangle 7">
            <a:extLst>
              <a:ext uri="{FF2B5EF4-FFF2-40B4-BE49-F238E27FC236}">
                <a16:creationId xmlns:a16="http://schemas.microsoft.com/office/drawing/2014/main" id="{54711765-729A-3CC8-0C4F-54590E8A13A3}"/>
              </a:ext>
            </a:extLst>
          </p:cNvPr>
          <p:cNvSpPr/>
          <p:nvPr/>
        </p:nvSpPr>
        <p:spPr>
          <a:xfrm>
            <a:off x="6679055" y="2110912"/>
            <a:ext cx="5344143" cy="938523"/>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9" name="对话气泡: 矩形 11">
            <a:extLst>
              <a:ext uri="{FF2B5EF4-FFF2-40B4-BE49-F238E27FC236}">
                <a16:creationId xmlns:a16="http://schemas.microsoft.com/office/drawing/2014/main" id="{B5088650-A66D-FC9F-E946-CD9F527F0789}"/>
              </a:ext>
            </a:extLst>
          </p:cNvPr>
          <p:cNvSpPr/>
          <p:nvPr/>
        </p:nvSpPr>
        <p:spPr>
          <a:xfrm>
            <a:off x="259558" y="5387447"/>
            <a:ext cx="5571460" cy="698263"/>
          </a:xfrm>
          <a:prstGeom prst="wedgeRectCallout">
            <a:avLst>
              <a:gd name="adj1" fmla="val -35658"/>
              <a:gd name="adj2" fmla="val -6943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rPr>
              <a:t>The variable charge lines only apply in variable charge models not in fixed charge models.</a:t>
            </a:r>
          </a:p>
        </p:txBody>
      </p:sp>
      <p:sp>
        <p:nvSpPr>
          <p:cNvPr id="11" name="Rectangle 10">
            <a:extLst>
              <a:ext uri="{FF2B5EF4-FFF2-40B4-BE49-F238E27FC236}">
                <a16:creationId xmlns:a16="http://schemas.microsoft.com/office/drawing/2014/main" id="{E9580CB1-2C3C-27D8-4B27-FD01699CBC58}"/>
              </a:ext>
            </a:extLst>
          </p:cNvPr>
          <p:cNvSpPr/>
          <p:nvPr/>
        </p:nvSpPr>
        <p:spPr>
          <a:xfrm>
            <a:off x="6679055" y="1339222"/>
            <a:ext cx="5344143" cy="228688"/>
          </a:xfrm>
          <a:prstGeom prst="rect">
            <a:avLst/>
          </a:prstGeom>
          <a:noFill/>
          <a:ln w="9525" cap="flat" cmpd="sng" algn="ctr">
            <a:solidFill>
              <a:schemeClr val="accent4">
                <a:lumMod val="75000"/>
              </a:scheme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2" name="对话气泡: 矩形 11">
            <a:extLst>
              <a:ext uri="{FF2B5EF4-FFF2-40B4-BE49-F238E27FC236}">
                <a16:creationId xmlns:a16="http://schemas.microsoft.com/office/drawing/2014/main" id="{C4965764-FB3D-0185-0CF0-C78F48BFBAD4}"/>
              </a:ext>
            </a:extLst>
          </p:cNvPr>
          <p:cNvSpPr/>
          <p:nvPr/>
        </p:nvSpPr>
        <p:spPr>
          <a:xfrm>
            <a:off x="6421568" y="3174888"/>
            <a:ext cx="5575110" cy="508223"/>
          </a:xfrm>
          <a:prstGeom prst="wedgeRectCallout">
            <a:avLst>
              <a:gd name="adj1" fmla="val -33331"/>
              <a:gd name="adj2" fmla="val -75539"/>
            </a:avLst>
          </a:prstGeom>
          <a:noFill/>
          <a:ln>
            <a:solidFill>
              <a:schemeClr val="accent4">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rPr>
              <a:t>Confirmed with Accounting:</a:t>
            </a:r>
          </a:p>
          <a:p>
            <a:r>
              <a:rPr lang="en-US" altLang="zh-CN" sz="1100">
                <a:solidFill>
                  <a:schemeClr val="tx1"/>
                </a:solidFill>
              </a:rPr>
              <a:t>Upfront service has been cleared under LT-AR during normal lease term</a:t>
            </a:r>
          </a:p>
          <a:p>
            <a:r>
              <a:rPr lang="en-US" altLang="zh-CN" sz="1100">
                <a:solidFill>
                  <a:schemeClr val="tx1"/>
                </a:solidFill>
              </a:rPr>
              <a:t>During extension, no actual upfront service for customer, recognize as interest income</a:t>
            </a:r>
          </a:p>
        </p:txBody>
      </p:sp>
      <p:sp>
        <p:nvSpPr>
          <p:cNvPr id="13" name="文本框 12">
            <a:extLst>
              <a:ext uri="{FF2B5EF4-FFF2-40B4-BE49-F238E27FC236}">
                <a16:creationId xmlns:a16="http://schemas.microsoft.com/office/drawing/2014/main" id="{6D06893D-4FA1-C160-1314-34EB296C746A}"/>
              </a:ext>
            </a:extLst>
          </p:cNvPr>
          <p:cNvSpPr txBox="1"/>
          <p:nvPr/>
        </p:nvSpPr>
        <p:spPr>
          <a:xfrm>
            <a:off x="10072515" y="402306"/>
            <a:ext cx="1937811" cy="338554"/>
          </a:xfrm>
          <a:prstGeom prst="rect">
            <a:avLst/>
          </a:prstGeom>
          <a:solidFill>
            <a:schemeClr val="accent2">
              <a:lumMod val="20000"/>
              <a:lumOff val="80000"/>
            </a:schemeClr>
          </a:solidFill>
        </p:spPr>
        <p:txBody>
          <a:bodyPr wrap="square" rtlCol="0">
            <a:spAutoFit/>
          </a:bodyPr>
          <a:lstStyle/>
          <a:p>
            <a:r>
              <a:rPr lang="en-US" altLang="zh-CN" sz="600" b="1"/>
              <a:t>Change to Odessa also required</a:t>
            </a:r>
          </a:p>
          <a:p>
            <a:r>
              <a:rPr lang="en-US" altLang="zh-CN" sz="500"/>
              <a:t>Unbilled AR split for funded items accounting treatment will not be needed</a:t>
            </a:r>
            <a:endParaRPr lang="zh-CN" altLang="en-US" sz="500"/>
          </a:p>
        </p:txBody>
      </p:sp>
      <p:sp>
        <p:nvSpPr>
          <p:cNvPr id="2" name="流程图: 资料带 1">
            <a:extLst>
              <a:ext uri="{FF2B5EF4-FFF2-40B4-BE49-F238E27FC236}">
                <a16:creationId xmlns:a16="http://schemas.microsoft.com/office/drawing/2014/main" id="{D03694F4-C9B3-CEFD-8C2B-EDC98C67E1EA}"/>
              </a:ext>
            </a:extLst>
          </p:cNvPr>
          <p:cNvSpPr/>
          <p:nvPr/>
        </p:nvSpPr>
        <p:spPr>
          <a:xfrm>
            <a:off x="2928940" y="-833616"/>
            <a:ext cx="2674088" cy="1280981"/>
          </a:xfrm>
          <a:prstGeom prst="flowChartPunchedTape">
            <a:avLst/>
          </a:prstGeom>
          <a:solidFill>
            <a:srgbClr val="FF00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altLang="zh-CN" sz="1600" kern="0">
                <a:solidFill>
                  <a:schemeClr val="bg1"/>
                </a:solidFill>
                <a:latin typeface="Calibri"/>
              </a:rPr>
              <a:t>No System solution for now, </a:t>
            </a:r>
          </a:p>
          <a:p>
            <a:pPr algn="ctr" defTabSz="1088449"/>
            <a:r>
              <a:rPr lang="en-US" altLang="zh-CN" sz="1600" kern="0">
                <a:solidFill>
                  <a:schemeClr val="bg1"/>
                </a:solidFill>
                <a:latin typeface="Calibri"/>
              </a:rPr>
              <a:t>Entry prepared</a:t>
            </a:r>
            <a:endParaRPr lang="zh-CN" altLang="en-US" sz="1600" kern="0">
              <a:solidFill>
                <a:schemeClr val="bg1"/>
              </a:solidFill>
              <a:latin typeface="Calibri"/>
            </a:endParaRPr>
          </a:p>
        </p:txBody>
      </p:sp>
    </p:spTree>
    <p:extLst>
      <p:ext uri="{BB962C8B-B14F-4D97-AF65-F5344CB8AC3E}">
        <p14:creationId xmlns:p14="http://schemas.microsoft.com/office/powerpoint/2010/main" val="124389737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C34853BE-B412-0231-6103-A271162B68EC}"/>
              </a:ext>
            </a:extLst>
          </p:cNvPr>
          <p:cNvSpPr txBox="1"/>
          <p:nvPr/>
        </p:nvSpPr>
        <p:spPr>
          <a:xfrm>
            <a:off x="40260" y="-30679"/>
            <a:ext cx="4470947" cy="400110"/>
          </a:xfrm>
          <a:prstGeom prst="rect">
            <a:avLst/>
          </a:prstGeom>
          <a:noFill/>
        </p:spPr>
        <p:txBody>
          <a:bodyPr wrap="square" rtlCol="0">
            <a:spAutoFit/>
          </a:bodyPr>
          <a:lstStyle/>
          <a:p>
            <a:r>
              <a:rPr lang="nl-NL" altLang="zh-CN" sz="2000" b="1"/>
              <a:t>M</a:t>
            </a:r>
            <a:r>
              <a:rPr lang="en-US" altLang="zh-CN" sz="2000" b="1" err="1"/>
              <a:t>anual</a:t>
            </a:r>
            <a:r>
              <a:rPr lang="zh-CN" altLang="en-US" sz="2000" b="1"/>
              <a:t> </a:t>
            </a:r>
            <a:r>
              <a:rPr lang="en-US" altLang="zh-CN" sz="2000" b="1"/>
              <a:t>Entry</a:t>
            </a:r>
            <a:endParaRPr lang="zh-CN" altLang="en-US" sz="2000" b="1"/>
          </a:p>
        </p:txBody>
      </p:sp>
      <p:graphicFrame>
        <p:nvGraphicFramePr>
          <p:cNvPr id="6" name="表格 5">
            <a:extLst>
              <a:ext uri="{FF2B5EF4-FFF2-40B4-BE49-F238E27FC236}">
                <a16:creationId xmlns:a16="http://schemas.microsoft.com/office/drawing/2014/main" id="{C383112A-3071-F055-7076-F6D75BEC37D7}"/>
              </a:ext>
            </a:extLst>
          </p:cNvPr>
          <p:cNvGraphicFramePr>
            <a:graphicFrameLocks noGrp="1"/>
          </p:cNvGraphicFramePr>
          <p:nvPr>
            <p:extLst>
              <p:ext uri="{D42A27DB-BD31-4B8C-83A1-F6EECF244321}">
                <p14:modId xmlns:p14="http://schemas.microsoft.com/office/powerpoint/2010/main" val="630089161"/>
              </p:ext>
            </p:extLst>
          </p:nvPr>
        </p:nvGraphicFramePr>
        <p:xfrm>
          <a:off x="6083948" y="1996267"/>
          <a:ext cx="6025936" cy="938462"/>
        </p:xfrm>
        <a:graphic>
          <a:graphicData uri="http://schemas.openxmlformats.org/drawingml/2006/table">
            <a:tbl>
              <a:tblPr/>
              <a:tblGrid>
                <a:gridCol w="417685">
                  <a:extLst>
                    <a:ext uri="{9D8B030D-6E8A-4147-A177-3AD203B41FA5}">
                      <a16:colId xmlns:a16="http://schemas.microsoft.com/office/drawing/2014/main" val="495084399"/>
                    </a:ext>
                  </a:extLst>
                </a:gridCol>
                <a:gridCol w="238739">
                  <a:extLst>
                    <a:ext uri="{9D8B030D-6E8A-4147-A177-3AD203B41FA5}">
                      <a16:colId xmlns:a16="http://schemas.microsoft.com/office/drawing/2014/main" val="3614210242"/>
                    </a:ext>
                  </a:extLst>
                </a:gridCol>
                <a:gridCol w="550010">
                  <a:extLst>
                    <a:ext uri="{9D8B030D-6E8A-4147-A177-3AD203B41FA5}">
                      <a16:colId xmlns:a16="http://schemas.microsoft.com/office/drawing/2014/main" val="1442124609"/>
                    </a:ext>
                  </a:extLst>
                </a:gridCol>
                <a:gridCol w="1858828">
                  <a:extLst>
                    <a:ext uri="{9D8B030D-6E8A-4147-A177-3AD203B41FA5}">
                      <a16:colId xmlns:a16="http://schemas.microsoft.com/office/drawing/2014/main" val="3603859997"/>
                    </a:ext>
                  </a:extLst>
                </a:gridCol>
                <a:gridCol w="358693">
                  <a:extLst>
                    <a:ext uri="{9D8B030D-6E8A-4147-A177-3AD203B41FA5}">
                      <a16:colId xmlns:a16="http://schemas.microsoft.com/office/drawing/2014/main" val="4076488391"/>
                    </a:ext>
                  </a:extLst>
                </a:gridCol>
                <a:gridCol w="358693">
                  <a:extLst>
                    <a:ext uri="{9D8B030D-6E8A-4147-A177-3AD203B41FA5}">
                      <a16:colId xmlns:a16="http://schemas.microsoft.com/office/drawing/2014/main" val="3254101706"/>
                    </a:ext>
                  </a:extLst>
                </a:gridCol>
                <a:gridCol w="348599">
                  <a:extLst>
                    <a:ext uri="{9D8B030D-6E8A-4147-A177-3AD203B41FA5}">
                      <a16:colId xmlns:a16="http://schemas.microsoft.com/office/drawing/2014/main" val="3712391277"/>
                    </a:ext>
                  </a:extLst>
                </a:gridCol>
                <a:gridCol w="388086">
                  <a:extLst>
                    <a:ext uri="{9D8B030D-6E8A-4147-A177-3AD203B41FA5}">
                      <a16:colId xmlns:a16="http://schemas.microsoft.com/office/drawing/2014/main" val="4118002695"/>
                    </a:ext>
                  </a:extLst>
                </a:gridCol>
                <a:gridCol w="263152">
                  <a:extLst>
                    <a:ext uri="{9D8B030D-6E8A-4147-A177-3AD203B41FA5}">
                      <a16:colId xmlns:a16="http://schemas.microsoft.com/office/drawing/2014/main" val="2527660299"/>
                    </a:ext>
                  </a:extLst>
                </a:gridCol>
                <a:gridCol w="379115">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Ongoing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bl>
          </a:graphicData>
        </a:graphic>
      </p:graphicFrame>
      <p:graphicFrame>
        <p:nvGraphicFramePr>
          <p:cNvPr id="7" name="表格 6">
            <a:extLst>
              <a:ext uri="{FF2B5EF4-FFF2-40B4-BE49-F238E27FC236}">
                <a16:creationId xmlns:a16="http://schemas.microsoft.com/office/drawing/2014/main" id="{8FCCAB29-7CE6-D0B4-DCF0-E32D62FD9FB0}"/>
              </a:ext>
            </a:extLst>
          </p:cNvPr>
          <p:cNvGraphicFramePr>
            <a:graphicFrameLocks noGrp="1"/>
          </p:cNvGraphicFramePr>
          <p:nvPr>
            <p:extLst>
              <p:ext uri="{D42A27DB-BD31-4B8C-83A1-F6EECF244321}">
                <p14:modId xmlns:p14="http://schemas.microsoft.com/office/powerpoint/2010/main" val="539598480"/>
              </p:ext>
            </p:extLst>
          </p:nvPr>
        </p:nvGraphicFramePr>
        <p:xfrm>
          <a:off x="6085098" y="3817697"/>
          <a:ext cx="6036838" cy="938462"/>
        </p:xfrm>
        <a:graphic>
          <a:graphicData uri="http://schemas.openxmlformats.org/drawingml/2006/table">
            <a:tbl>
              <a:tblPr/>
              <a:tblGrid>
                <a:gridCol w="421943">
                  <a:extLst>
                    <a:ext uri="{9D8B030D-6E8A-4147-A177-3AD203B41FA5}">
                      <a16:colId xmlns:a16="http://schemas.microsoft.com/office/drawing/2014/main" val="495084399"/>
                    </a:ext>
                  </a:extLst>
                </a:gridCol>
                <a:gridCol w="241835">
                  <a:extLst>
                    <a:ext uri="{9D8B030D-6E8A-4147-A177-3AD203B41FA5}">
                      <a16:colId xmlns:a16="http://schemas.microsoft.com/office/drawing/2014/main" val="3614210242"/>
                    </a:ext>
                  </a:extLst>
                </a:gridCol>
                <a:gridCol w="602569">
                  <a:extLst>
                    <a:ext uri="{9D8B030D-6E8A-4147-A177-3AD203B41FA5}">
                      <a16:colId xmlns:a16="http://schemas.microsoft.com/office/drawing/2014/main" val="1442124609"/>
                    </a:ext>
                  </a:extLst>
                </a:gridCol>
                <a:gridCol w="1898038">
                  <a:extLst>
                    <a:ext uri="{9D8B030D-6E8A-4147-A177-3AD203B41FA5}">
                      <a16:colId xmlns:a16="http://schemas.microsoft.com/office/drawing/2014/main" val="3603859997"/>
                    </a:ext>
                  </a:extLst>
                </a:gridCol>
                <a:gridCol w="360178">
                  <a:extLst>
                    <a:ext uri="{9D8B030D-6E8A-4147-A177-3AD203B41FA5}">
                      <a16:colId xmlns:a16="http://schemas.microsoft.com/office/drawing/2014/main" val="4076488391"/>
                    </a:ext>
                  </a:extLst>
                </a:gridCol>
                <a:gridCol w="278930">
                  <a:extLst>
                    <a:ext uri="{9D8B030D-6E8A-4147-A177-3AD203B41FA5}">
                      <a16:colId xmlns:a16="http://schemas.microsoft.com/office/drawing/2014/main" val="3254101706"/>
                    </a:ext>
                  </a:extLst>
                </a:gridCol>
                <a:gridCol w="353120">
                  <a:extLst>
                    <a:ext uri="{9D8B030D-6E8A-4147-A177-3AD203B41FA5}">
                      <a16:colId xmlns:a16="http://schemas.microsoft.com/office/drawing/2014/main" val="3712391277"/>
                    </a:ext>
                  </a:extLst>
                </a:gridCol>
                <a:gridCol w="388086">
                  <a:extLst>
                    <a:ext uri="{9D8B030D-6E8A-4147-A177-3AD203B41FA5}">
                      <a16:colId xmlns:a16="http://schemas.microsoft.com/office/drawing/2014/main" val="3811358726"/>
                    </a:ext>
                  </a:extLst>
                </a:gridCol>
                <a:gridCol w="266565">
                  <a:extLst>
                    <a:ext uri="{9D8B030D-6E8A-4147-A177-3AD203B41FA5}">
                      <a16:colId xmlns:a16="http://schemas.microsoft.com/office/drawing/2014/main" val="2527660299"/>
                    </a:ext>
                  </a:extLst>
                </a:gridCol>
                <a:gridCol w="384033">
                  <a:extLst>
                    <a:ext uri="{9D8B030D-6E8A-4147-A177-3AD203B41FA5}">
                      <a16:colId xmlns:a16="http://schemas.microsoft.com/office/drawing/2014/main" val="3641075278"/>
                    </a:ext>
                  </a:extLst>
                </a:gridCol>
                <a:gridCol w="841541">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Ongoing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8" name="表格 7">
            <a:extLst>
              <a:ext uri="{FF2B5EF4-FFF2-40B4-BE49-F238E27FC236}">
                <a16:creationId xmlns:a16="http://schemas.microsoft.com/office/drawing/2014/main" id="{7A5F1C2A-956A-712C-7798-57768EFA6C50}"/>
              </a:ext>
            </a:extLst>
          </p:cNvPr>
          <p:cNvGraphicFramePr>
            <a:graphicFrameLocks noGrp="1"/>
          </p:cNvGraphicFramePr>
          <p:nvPr>
            <p:extLst>
              <p:ext uri="{D42A27DB-BD31-4B8C-83A1-F6EECF244321}">
                <p14:modId xmlns:p14="http://schemas.microsoft.com/office/powerpoint/2010/main" val="1154653988"/>
              </p:ext>
            </p:extLst>
          </p:nvPr>
        </p:nvGraphicFramePr>
        <p:xfrm>
          <a:off x="82117" y="3817697"/>
          <a:ext cx="5873462" cy="1503254"/>
        </p:xfrm>
        <a:graphic>
          <a:graphicData uri="http://schemas.openxmlformats.org/drawingml/2006/table">
            <a:tbl>
              <a:tblPr/>
              <a:tblGrid>
                <a:gridCol w="426872">
                  <a:extLst>
                    <a:ext uri="{9D8B030D-6E8A-4147-A177-3AD203B41FA5}">
                      <a16:colId xmlns:a16="http://schemas.microsoft.com/office/drawing/2014/main" val="495084399"/>
                    </a:ext>
                  </a:extLst>
                </a:gridCol>
                <a:gridCol w="224367">
                  <a:extLst>
                    <a:ext uri="{9D8B030D-6E8A-4147-A177-3AD203B41FA5}">
                      <a16:colId xmlns:a16="http://schemas.microsoft.com/office/drawing/2014/main" val="3614210242"/>
                    </a:ext>
                  </a:extLst>
                </a:gridCol>
                <a:gridCol w="558592">
                  <a:extLst>
                    <a:ext uri="{9D8B030D-6E8A-4147-A177-3AD203B41FA5}">
                      <a16:colId xmlns:a16="http://schemas.microsoft.com/office/drawing/2014/main" val="1442124609"/>
                    </a:ext>
                  </a:extLst>
                </a:gridCol>
                <a:gridCol w="1896064">
                  <a:extLst>
                    <a:ext uri="{9D8B030D-6E8A-4147-A177-3AD203B41FA5}">
                      <a16:colId xmlns:a16="http://schemas.microsoft.com/office/drawing/2014/main" val="3603859997"/>
                    </a:ext>
                  </a:extLst>
                </a:gridCol>
                <a:gridCol w="341641">
                  <a:extLst>
                    <a:ext uri="{9D8B030D-6E8A-4147-A177-3AD203B41FA5}">
                      <a16:colId xmlns:a16="http://schemas.microsoft.com/office/drawing/2014/main" val="4076488391"/>
                    </a:ext>
                  </a:extLst>
                </a:gridCol>
                <a:gridCol w="341641">
                  <a:extLst>
                    <a:ext uri="{9D8B030D-6E8A-4147-A177-3AD203B41FA5}">
                      <a16:colId xmlns:a16="http://schemas.microsoft.com/office/drawing/2014/main" val="3254101706"/>
                    </a:ext>
                  </a:extLst>
                </a:gridCol>
                <a:gridCol w="258119">
                  <a:extLst>
                    <a:ext uri="{9D8B030D-6E8A-4147-A177-3AD203B41FA5}">
                      <a16:colId xmlns:a16="http://schemas.microsoft.com/office/drawing/2014/main" val="3712391277"/>
                    </a:ext>
                  </a:extLst>
                </a:gridCol>
                <a:gridCol w="547703">
                  <a:extLst>
                    <a:ext uri="{9D8B030D-6E8A-4147-A177-3AD203B41FA5}">
                      <a16:colId xmlns:a16="http://schemas.microsoft.com/office/drawing/2014/main" val="4221779915"/>
                    </a:ext>
                  </a:extLst>
                </a:gridCol>
                <a:gridCol w="243436">
                  <a:extLst>
                    <a:ext uri="{9D8B030D-6E8A-4147-A177-3AD203B41FA5}">
                      <a16:colId xmlns:a16="http://schemas.microsoft.com/office/drawing/2014/main" val="2527660299"/>
                    </a:ext>
                  </a:extLst>
                </a:gridCol>
                <a:gridCol w="432775">
                  <a:extLst>
                    <a:ext uri="{9D8B030D-6E8A-4147-A177-3AD203B41FA5}">
                      <a16:colId xmlns:a16="http://schemas.microsoft.com/office/drawing/2014/main" val="3641075278"/>
                    </a:ext>
                  </a:extLst>
                </a:gridCol>
                <a:gridCol w="602252">
                  <a:extLst>
                    <a:ext uri="{9D8B030D-6E8A-4147-A177-3AD203B41FA5}">
                      <a16:colId xmlns:a16="http://schemas.microsoft.com/office/drawing/2014/main" val="3618613915"/>
                    </a:ext>
                  </a:extLst>
                </a:gridCol>
              </a:tblGrid>
              <a:tr h="127981">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Billing-FL</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44.3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B51ADBA6-0EF9-8451-14BA-AEEBE1375FED}"/>
              </a:ext>
            </a:extLst>
          </p:cNvPr>
          <p:cNvGraphicFramePr>
            <a:graphicFrameLocks noGrp="1"/>
          </p:cNvGraphicFramePr>
          <p:nvPr>
            <p:extLst>
              <p:ext uri="{D42A27DB-BD31-4B8C-83A1-F6EECF244321}">
                <p14:modId xmlns:p14="http://schemas.microsoft.com/office/powerpoint/2010/main" val="334299534"/>
              </p:ext>
            </p:extLst>
          </p:nvPr>
        </p:nvGraphicFramePr>
        <p:xfrm>
          <a:off x="82116" y="1996267"/>
          <a:ext cx="5873462" cy="1691518"/>
        </p:xfrm>
        <a:graphic>
          <a:graphicData uri="http://schemas.openxmlformats.org/drawingml/2006/table">
            <a:tbl>
              <a:tblPr/>
              <a:tblGrid>
                <a:gridCol w="415344">
                  <a:extLst>
                    <a:ext uri="{9D8B030D-6E8A-4147-A177-3AD203B41FA5}">
                      <a16:colId xmlns:a16="http://schemas.microsoft.com/office/drawing/2014/main" val="495084399"/>
                    </a:ext>
                  </a:extLst>
                </a:gridCol>
                <a:gridCol w="274562">
                  <a:extLst>
                    <a:ext uri="{9D8B030D-6E8A-4147-A177-3AD203B41FA5}">
                      <a16:colId xmlns:a16="http://schemas.microsoft.com/office/drawing/2014/main" val="3614210242"/>
                    </a:ext>
                  </a:extLst>
                </a:gridCol>
                <a:gridCol w="564309">
                  <a:extLst>
                    <a:ext uri="{9D8B030D-6E8A-4147-A177-3AD203B41FA5}">
                      <a16:colId xmlns:a16="http://schemas.microsoft.com/office/drawing/2014/main" val="1442124609"/>
                    </a:ext>
                  </a:extLst>
                </a:gridCol>
                <a:gridCol w="1809730">
                  <a:extLst>
                    <a:ext uri="{9D8B030D-6E8A-4147-A177-3AD203B41FA5}">
                      <a16:colId xmlns:a16="http://schemas.microsoft.com/office/drawing/2014/main" val="3603859997"/>
                    </a:ext>
                  </a:extLst>
                </a:gridCol>
                <a:gridCol w="337310">
                  <a:extLst>
                    <a:ext uri="{9D8B030D-6E8A-4147-A177-3AD203B41FA5}">
                      <a16:colId xmlns:a16="http://schemas.microsoft.com/office/drawing/2014/main" val="4076488391"/>
                    </a:ext>
                  </a:extLst>
                </a:gridCol>
                <a:gridCol w="337310">
                  <a:extLst>
                    <a:ext uri="{9D8B030D-6E8A-4147-A177-3AD203B41FA5}">
                      <a16:colId xmlns:a16="http://schemas.microsoft.com/office/drawing/2014/main" val="3254101706"/>
                    </a:ext>
                  </a:extLst>
                </a:gridCol>
                <a:gridCol w="272774">
                  <a:extLst>
                    <a:ext uri="{9D8B030D-6E8A-4147-A177-3AD203B41FA5}">
                      <a16:colId xmlns:a16="http://schemas.microsoft.com/office/drawing/2014/main" val="3712391277"/>
                    </a:ext>
                  </a:extLst>
                </a:gridCol>
                <a:gridCol w="889736">
                  <a:extLst>
                    <a:ext uri="{9D8B030D-6E8A-4147-A177-3AD203B41FA5}">
                      <a16:colId xmlns:a16="http://schemas.microsoft.com/office/drawing/2014/main" val="1982795072"/>
                    </a:ext>
                  </a:extLst>
                </a:gridCol>
                <a:gridCol w="291465">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286486">
                  <a:extLst>
                    <a:ext uri="{9D8B030D-6E8A-4147-A177-3AD203B41FA5}">
                      <a16:colId xmlns:a16="http://schemas.microsoft.com/office/drawing/2014/main" val="3618613915"/>
                    </a:ext>
                  </a:extLst>
                </a:gridCol>
              </a:tblGrid>
              <a:tr h="0">
                <a:tc rowSpan="9">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​-OL</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dummy</a:t>
                      </a:r>
                      <a:r>
                        <a:rPr kumimoji="0" lang="zh-CN" altLang="en-US"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物料</a:t>
                      </a: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1487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 name="表格 1">
            <a:extLst>
              <a:ext uri="{FF2B5EF4-FFF2-40B4-BE49-F238E27FC236}">
                <a16:creationId xmlns:a16="http://schemas.microsoft.com/office/drawing/2014/main" id="{44964D02-A44B-E32F-DDC5-E3C6CEF7BA60}"/>
              </a:ext>
            </a:extLst>
          </p:cNvPr>
          <p:cNvGraphicFramePr>
            <a:graphicFrameLocks noGrp="1"/>
          </p:cNvGraphicFramePr>
          <p:nvPr>
            <p:extLst>
              <p:ext uri="{D42A27DB-BD31-4B8C-83A1-F6EECF244321}">
                <p14:modId xmlns:p14="http://schemas.microsoft.com/office/powerpoint/2010/main" val="446516742"/>
              </p:ext>
            </p:extLst>
          </p:nvPr>
        </p:nvGraphicFramePr>
        <p:xfrm>
          <a:off x="50998" y="477610"/>
          <a:ext cx="5904580" cy="1303020"/>
        </p:xfrm>
        <a:graphic>
          <a:graphicData uri="http://schemas.openxmlformats.org/drawingml/2006/table">
            <a:tbl>
              <a:tblPr firstRow="1" bandRow="1">
                <a:tableStyleId>{3C2FFA5D-87B4-456A-9821-1D502468CF0F}</a:tableStyleId>
              </a:tblPr>
              <a:tblGrid>
                <a:gridCol w="691952">
                  <a:extLst>
                    <a:ext uri="{9D8B030D-6E8A-4147-A177-3AD203B41FA5}">
                      <a16:colId xmlns:a16="http://schemas.microsoft.com/office/drawing/2014/main" val="869603910"/>
                    </a:ext>
                  </a:extLst>
                </a:gridCol>
                <a:gridCol w="672634">
                  <a:extLst>
                    <a:ext uri="{9D8B030D-6E8A-4147-A177-3AD203B41FA5}">
                      <a16:colId xmlns:a16="http://schemas.microsoft.com/office/drawing/2014/main" val="238663902"/>
                    </a:ext>
                  </a:extLst>
                </a:gridCol>
                <a:gridCol w="597295">
                  <a:extLst>
                    <a:ext uri="{9D8B030D-6E8A-4147-A177-3AD203B41FA5}">
                      <a16:colId xmlns:a16="http://schemas.microsoft.com/office/drawing/2014/main" val="4114365151"/>
                    </a:ext>
                  </a:extLst>
                </a:gridCol>
                <a:gridCol w="673171">
                  <a:extLst>
                    <a:ext uri="{9D8B030D-6E8A-4147-A177-3AD203B41FA5}">
                      <a16:colId xmlns:a16="http://schemas.microsoft.com/office/drawing/2014/main" val="4075178046"/>
                    </a:ext>
                  </a:extLst>
                </a:gridCol>
                <a:gridCol w="847725">
                  <a:extLst>
                    <a:ext uri="{9D8B030D-6E8A-4147-A177-3AD203B41FA5}">
                      <a16:colId xmlns:a16="http://schemas.microsoft.com/office/drawing/2014/main" val="973533418"/>
                    </a:ext>
                  </a:extLst>
                </a:gridCol>
                <a:gridCol w="820113">
                  <a:extLst>
                    <a:ext uri="{9D8B030D-6E8A-4147-A177-3AD203B41FA5}">
                      <a16:colId xmlns:a16="http://schemas.microsoft.com/office/drawing/2014/main" val="2377711782"/>
                    </a:ext>
                  </a:extLst>
                </a:gridCol>
                <a:gridCol w="780087">
                  <a:extLst>
                    <a:ext uri="{9D8B030D-6E8A-4147-A177-3AD203B41FA5}">
                      <a16:colId xmlns:a16="http://schemas.microsoft.com/office/drawing/2014/main" val="1705285035"/>
                    </a:ext>
                  </a:extLst>
                </a:gridCol>
                <a:gridCol w="821603">
                  <a:extLst>
                    <a:ext uri="{9D8B030D-6E8A-4147-A177-3AD203B41FA5}">
                      <a16:colId xmlns:a16="http://schemas.microsoft.com/office/drawing/2014/main" val="221569069"/>
                    </a:ext>
                  </a:extLst>
                </a:gridCol>
              </a:tblGrid>
              <a:tr h="553818">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3267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Manual Monthly</a:t>
                      </a:r>
                    </a:p>
                    <a:p>
                      <a:r>
                        <a:rPr lang="en-US" altLang="zh-CN" sz="1050">
                          <a:solidFill>
                            <a:sysClr val="windowText" lastClr="000000"/>
                          </a:solidFill>
                        </a:rPr>
                        <a:t>Billing</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Early Order</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Tree>
    <p:extLst>
      <p:ext uri="{BB962C8B-B14F-4D97-AF65-F5344CB8AC3E}">
        <p14:creationId xmlns:p14="http://schemas.microsoft.com/office/powerpoint/2010/main" val="23829493"/>
      </p:ext>
    </p:extLst>
  </p:cSld>
  <p:clrMapOvr>
    <a:masterClrMapping/>
  </p:clrMapOvr>
  <p:transition spd="med"/>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F78102-B003-E928-14A5-9D7BEDB0374A}"/>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009EB2E6-EDD7-1DF8-3729-6953C00AA337}"/>
              </a:ext>
            </a:extLst>
          </p:cNvPr>
          <p:cNvSpPr>
            <a:spLocks noGrp="1"/>
          </p:cNvSpPr>
          <p:nvPr>
            <p:ph type="title"/>
          </p:nvPr>
        </p:nvSpPr>
        <p:spPr/>
        <p:txBody>
          <a:bodyPr/>
          <a:lstStyle/>
          <a:p>
            <a:r>
              <a:rPr lang="en-US" sz="5800">
                <a:solidFill>
                  <a:prstClr val="white"/>
                </a:solidFill>
              </a:rPr>
              <a:t>F&amp;A BSR for 95 New Biz Requirements</a:t>
            </a:r>
            <a:endParaRPr lang="en-US"/>
          </a:p>
        </p:txBody>
      </p:sp>
      <p:pic>
        <p:nvPicPr>
          <p:cNvPr id="4" name="Graphic 3" descr="Airplane with solid fill">
            <a:hlinkClick r:id="rId3" action="ppaction://hlinksldjump"/>
            <a:extLst>
              <a:ext uri="{FF2B5EF4-FFF2-40B4-BE49-F238E27FC236}">
                <a16:creationId xmlns:a16="http://schemas.microsoft.com/office/drawing/2014/main" id="{CF0C0C0B-FBFB-D74F-630F-A2965170E8E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1792035" y="-9529"/>
            <a:ext cx="457705" cy="457705"/>
          </a:xfrm>
          <a:prstGeom prst="rect">
            <a:avLst/>
          </a:prstGeom>
        </p:spPr>
      </p:pic>
      <p:sp>
        <p:nvSpPr>
          <p:cNvPr id="3" name="Rectangle 2">
            <a:extLst>
              <a:ext uri="{FF2B5EF4-FFF2-40B4-BE49-F238E27FC236}">
                <a16:creationId xmlns:a16="http://schemas.microsoft.com/office/drawing/2014/main" id="{835C84C0-08D3-46D7-C44F-020F13182462}"/>
              </a:ext>
            </a:extLst>
          </p:cNvPr>
          <p:cNvSpPr/>
          <p:nvPr/>
        </p:nvSpPr>
        <p:spPr>
          <a:xfrm>
            <a:off x="266937" y="5830581"/>
            <a:ext cx="8945217" cy="369332"/>
          </a:xfrm>
          <a:prstGeom prst="rect">
            <a:avLst/>
          </a:prstGeom>
          <a:solidFill>
            <a:schemeClr val="bg2">
              <a:lumMod val="20000"/>
              <a:lumOff val="80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grpSp>
        <p:nvGrpSpPr>
          <p:cNvPr id="9" name="Group 8">
            <a:extLst>
              <a:ext uri="{FF2B5EF4-FFF2-40B4-BE49-F238E27FC236}">
                <a16:creationId xmlns:a16="http://schemas.microsoft.com/office/drawing/2014/main" id="{406E68B8-C9BA-BF5A-97D6-A6086A750A16}"/>
              </a:ext>
            </a:extLst>
          </p:cNvPr>
          <p:cNvGrpSpPr/>
          <p:nvPr/>
        </p:nvGrpSpPr>
        <p:grpSpPr>
          <a:xfrm>
            <a:off x="216774" y="5830581"/>
            <a:ext cx="9523574" cy="369332"/>
            <a:chOff x="69107" y="6415570"/>
            <a:chExt cx="9523574" cy="369332"/>
          </a:xfrm>
        </p:grpSpPr>
        <p:sp>
          <p:nvSpPr>
            <p:cNvPr id="2" name="Rectangle 1">
              <a:extLst>
                <a:ext uri="{FF2B5EF4-FFF2-40B4-BE49-F238E27FC236}">
                  <a16:creationId xmlns:a16="http://schemas.microsoft.com/office/drawing/2014/main" id="{02186290-ACE3-78E5-AE0C-F6B3BA57B218}"/>
                </a:ext>
              </a:extLst>
            </p:cNvPr>
            <p:cNvSpPr>
              <a:spLocks noChangeArrowheads="1"/>
            </p:cNvSpPr>
            <p:nvPr/>
          </p:nvSpPr>
          <p:spPr bwMode="auto">
            <a:xfrm>
              <a:off x="1043495" y="6415570"/>
              <a:ext cx="531795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err="1">
                  <a:ln>
                    <a:noFill/>
                  </a:ln>
                  <a:solidFill>
                    <a:schemeClr val="tx1"/>
                  </a:solidFill>
                  <a:effectLst/>
                  <a:latin typeface="Arial" panose="020B0604020202020204" pitchFamily="34" charset="0"/>
                  <a:hlinkClick r:id="rId5"/>
                </a:rPr>
                <a:t>NexBill</a:t>
              </a:r>
              <a:r>
                <a:rPr kumimoji="0" lang="en-US" altLang="en-US" sz="1800" b="0" i="0" u="none" strike="noStrike" cap="none" normalizeH="0" baseline="0">
                  <a:ln>
                    <a:noFill/>
                  </a:ln>
                  <a:solidFill>
                    <a:schemeClr val="tx1"/>
                  </a:solidFill>
                  <a:effectLst/>
                  <a:latin typeface="Arial" panose="020B0604020202020204" pitchFamily="34" charset="0"/>
                  <a:hlinkClick r:id="rId5"/>
                </a:rPr>
                <a:t> - New Requirement Questionaire.pptx</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6" name="TextBox 5">
              <a:extLst>
                <a:ext uri="{FF2B5EF4-FFF2-40B4-BE49-F238E27FC236}">
                  <a16:creationId xmlns:a16="http://schemas.microsoft.com/office/drawing/2014/main" id="{97DE2982-9198-DB6D-5A75-116C708CC607}"/>
                </a:ext>
              </a:extLst>
            </p:cNvPr>
            <p:cNvSpPr txBox="1"/>
            <p:nvPr/>
          </p:nvSpPr>
          <p:spPr>
            <a:xfrm>
              <a:off x="69107" y="6415570"/>
              <a:ext cx="1249490" cy="369332"/>
            </a:xfrm>
            <a:prstGeom prst="rect">
              <a:avLst/>
            </a:prstGeom>
            <a:noFill/>
          </p:spPr>
          <p:txBody>
            <a:bodyPr wrap="square" rtlCol="0">
              <a:spAutoFit/>
            </a:bodyPr>
            <a:lstStyle/>
            <a:p>
              <a:r>
                <a:rPr lang="en-US"/>
                <a:t>E2E BSR</a:t>
              </a:r>
            </a:p>
          </p:txBody>
        </p:sp>
        <p:sp>
          <p:nvSpPr>
            <p:cNvPr id="8" name="Rectangle 1">
              <a:extLst>
                <a:ext uri="{FF2B5EF4-FFF2-40B4-BE49-F238E27FC236}">
                  <a16:creationId xmlns:a16="http://schemas.microsoft.com/office/drawing/2014/main" id="{B34F7F92-F00D-9AF0-124F-73BEB4308D11}"/>
                </a:ext>
              </a:extLst>
            </p:cNvPr>
            <p:cNvSpPr>
              <a:spLocks noChangeArrowheads="1"/>
            </p:cNvSpPr>
            <p:nvPr/>
          </p:nvSpPr>
          <p:spPr bwMode="auto">
            <a:xfrm>
              <a:off x="5929401" y="6415570"/>
              <a:ext cx="366328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chemeClr val="tx1"/>
                  </a:solidFill>
                  <a:effectLst/>
                  <a:latin typeface="Arial" panose="020B0604020202020204" pitchFamily="34" charset="0"/>
                  <a:hlinkClick r:id="rId6"/>
                </a:rPr>
                <a:t>Requirment Clarification.pptx</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787721550"/>
      </p:ext>
    </p:extLst>
  </p:cSld>
  <p:clrMapOvr>
    <a:masterClrMapping/>
  </p:clrMapOvr>
  <p:transition spd="med"/>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7166E1-570C-1A57-ED07-E03D94FAEC39}"/>
            </a:ext>
          </a:extLst>
        </p:cNvPr>
        <p:cNvGrpSpPr/>
        <p:nvPr/>
      </p:nvGrpSpPr>
      <p:grpSpPr>
        <a:xfrm>
          <a:off x="0" y="0"/>
          <a:ext cx="0" cy="0"/>
          <a:chOff x="0" y="0"/>
          <a:chExt cx="0" cy="0"/>
        </a:xfrm>
      </p:grpSpPr>
      <p:graphicFrame>
        <p:nvGraphicFramePr>
          <p:cNvPr id="3" name="表格 2">
            <a:extLst>
              <a:ext uri="{FF2B5EF4-FFF2-40B4-BE49-F238E27FC236}">
                <a16:creationId xmlns:a16="http://schemas.microsoft.com/office/drawing/2014/main" id="{2843483B-1318-9CF8-10E3-5C286B8EB219}"/>
              </a:ext>
            </a:extLst>
          </p:cNvPr>
          <p:cNvGraphicFramePr>
            <a:graphicFrameLocks noGrp="1"/>
          </p:cNvGraphicFramePr>
          <p:nvPr>
            <p:extLst>
              <p:ext uri="{D42A27DB-BD31-4B8C-83A1-F6EECF244321}">
                <p14:modId xmlns:p14="http://schemas.microsoft.com/office/powerpoint/2010/main" val="1569603289"/>
              </p:ext>
            </p:extLst>
          </p:nvPr>
        </p:nvGraphicFramePr>
        <p:xfrm>
          <a:off x="176997" y="353150"/>
          <a:ext cx="11761003" cy="6382460"/>
        </p:xfrm>
        <a:graphic>
          <a:graphicData uri="http://schemas.openxmlformats.org/drawingml/2006/table">
            <a:tbl>
              <a:tblPr/>
              <a:tblGrid>
                <a:gridCol w="3331207">
                  <a:extLst>
                    <a:ext uri="{9D8B030D-6E8A-4147-A177-3AD203B41FA5}">
                      <a16:colId xmlns:a16="http://schemas.microsoft.com/office/drawing/2014/main" val="1805191642"/>
                    </a:ext>
                  </a:extLst>
                </a:gridCol>
                <a:gridCol w="1625771">
                  <a:extLst>
                    <a:ext uri="{9D8B030D-6E8A-4147-A177-3AD203B41FA5}">
                      <a16:colId xmlns:a16="http://schemas.microsoft.com/office/drawing/2014/main" val="1967420905"/>
                    </a:ext>
                  </a:extLst>
                </a:gridCol>
                <a:gridCol w="5464268">
                  <a:extLst>
                    <a:ext uri="{9D8B030D-6E8A-4147-A177-3AD203B41FA5}">
                      <a16:colId xmlns:a16="http://schemas.microsoft.com/office/drawing/2014/main" val="1382430832"/>
                    </a:ext>
                  </a:extLst>
                </a:gridCol>
                <a:gridCol w="1339757">
                  <a:extLst>
                    <a:ext uri="{9D8B030D-6E8A-4147-A177-3AD203B41FA5}">
                      <a16:colId xmlns:a16="http://schemas.microsoft.com/office/drawing/2014/main" val="1734822861"/>
                    </a:ext>
                  </a:extLst>
                </a:gridCol>
              </a:tblGrid>
              <a:tr h="280382">
                <a:tc>
                  <a:txBody>
                    <a:bodyPr/>
                    <a:lstStyle/>
                    <a:p>
                      <a:pPr algn="ctr" rtl="0" fontAlgn="base">
                        <a:lnSpc>
                          <a:spcPts val="900"/>
                        </a:lnSpc>
                        <a:buNone/>
                      </a:pPr>
                      <a:r>
                        <a:rPr lang="en-US" sz="1200" b="1" i="0" u="none" strike="noStrike">
                          <a:solidFill>
                            <a:srgbClr val="000000"/>
                          </a:solidFill>
                          <a:effectLst/>
                          <a:latin typeface="Lato" panose="020F0502020204030203" pitchFamily="34" charset="0"/>
                        </a:rPr>
                        <a:t>New Requirement</a:t>
                      </a:r>
                      <a:r>
                        <a:rPr lang="en-US" sz="1200" b="1" i="0">
                          <a:solidFill>
                            <a:srgbClr val="FFFFFF"/>
                          </a:solidFill>
                          <a:effectLst/>
                          <a:latin typeface="Lato" panose="020F0502020204030203" pitchFamily="34" charset="0"/>
                        </a:rPr>
                        <a:t>​</a:t>
                      </a:r>
                      <a:endParaRPr lang="en-US" b="1" i="0">
                        <a:solidFill>
                          <a:srgbClr val="FFFFFF"/>
                        </a:solidFill>
                        <a:effectLs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6C8E1"/>
                    </a:solidFill>
                  </a:tcPr>
                </a:tc>
                <a:tc>
                  <a:txBody>
                    <a:bodyPr/>
                    <a:lstStyle/>
                    <a:p>
                      <a:pPr marL="0" marR="0" lvl="0" indent="0" algn="ctr" defTabSz="914400" rtl="0" eaLnBrk="1" fontAlgn="base" latinLnBrk="0" hangingPunct="1">
                        <a:lnSpc>
                          <a:spcPts val="900"/>
                        </a:lnSpc>
                        <a:spcBef>
                          <a:spcPts val="0"/>
                        </a:spcBef>
                        <a:spcAft>
                          <a:spcPts val="0"/>
                        </a:spcAft>
                        <a:buClrTx/>
                        <a:buSzTx/>
                        <a:buFontTx/>
                        <a:buNone/>
                        <a:tabLst/>
                        <a:defRPr/>
                      </a:pPr>
                      <a:r>
                        <a:rPr lang="en-US" altLang="zh-CN" sz="1200" b="1" i="0" u="none" strike="noStrike" kern="1200">
                          <a:solidFill>
                            <a:srgbClr val="000000"/>
                          </a:solidFill>
                          <a:effectLst/>
                          <a:latin typeface="Lato" panose="020F0502020204030203" pitchFamily="34" charset="0"/>
                          <a:ea typeface="+mn-ea"/>
                          <a:cs typeface="+mn-cs"/>
                        </a:rPr>
                        <a:t>Remark</a:t>
                      </a:r>
                      <a:endParaRPr lang="en-US" sz="1200" b="1" i="0" u="none" strike="noStrike" kern="1200">
                        <a:solidFill>
                          <a:srgbClr val="000000"/>
                        </a:solidFill>
                        <a:effectLst/>
                        <a:latin typeface="Lato" panose="020F0502020204030203" pitchFamily="34" charset="0"/>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6C8E1"/>
                    </a:solidFill>
                  </a:tcPr>
                </a:tc>
                <a:tc>
                  <a:txBody>
                    <a:bodyPr/>
                    <a:lstStyle/>
                    <a:p>
                      <a:pPr marL="0" marR="0" lvl="0" indent="0" algn="ctr" defTabSz="914400" rtl="0" eaLnBrk="1" fontAlgn="base" latinLnBrk="0" hangingPunct="1">
                        <a:lnSpc>
                          <a:spcPts val="900"/>
                        </a:lnSpc>
                        <a:spcBef>
                          <a:spcPts val="0"/>
                        </a:spcBef>
                        <a:spcAft>
                          <a:spcPts val="0"/>
                        </a:spcAft>
                        <a:buClrTx/>
                        <a:buSzTx/>
                        <a:buFontTx/>
                        <a:buNone/>
                        <a:tabLst/>
                        <a:defRPr/>
                      </a:pPr>
                      <a:r>
                        <a:rPr lang="en-US" sz="1200" b="1" i="0" u="none" strike="noStrike" kern="1200">
                          <a:solidFill>
                            <a:srgbClr val="000000"/>
                          </a:solidFill>
                          <a:effectLst/>
                          <a:latin typeface="Lato" panose="020F0502020204030203" pitchFamily="34" charset="0"/>
                          <a:ea typeface="+mn-ea"/>
                          <a:cs typeface="+mn-cs"/>
                        </a:rPr>
                        <a:t>Scenario Brief Introduction</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6C8E1"/>
                    </a:solidFill>
                  </a:tcPr>
                </a:tc>
                <a:tc>
                  <a:txBody>
                    <a:bodyPr/>
                    <a:lstStyle/>
                    <a:p>
                      <a:pPr marL="0" marR="0" lvl="0" indent="0" algn="ctr" defTabSz="914400" rtl="0" eaLnBrk="1" fontAlgn="base" latinLnBrk="0" hangingPunct="1">
                        <a:lnSpc>
                          <a:spcPts val="900"/>
                        </a:lnSpc>
                        <a:spcBef>
                          <a:spcPts val="0"/>
                        </a:spcBef>
                        <a:spcAft>
                          <a:spcPts val="0"/>
                        </a:spcAft>
                        <a:buClrTx/>
                        <a:buSzTx/>
                        <a:buFontTx/>
                        <a:buNone/>
                        <a:tabLst/>
                        <a:defRPr/>
                      </a:pPr>
                      <a:endParaRPr lang="en-US" sz="1200" b="1" i="0" u="none" strike="noStrike" kern="1200">
                        <a:solidFill>
                          <a:srgbClr val="000000"/>
                        </a:solidFill>
                        <a:effectLst/>
                        <a:latin typeface="Lato" panose="020F0502020204030203" pitchFamily="34" charset="0"/>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6C8E1"/>
                    </a:solidFill>
                  </a:tcPr>
                </a:tc>
                <a:extLst>
                  <a:ext uri="{0D108BD9-81ED-4DB2-BD59-A6C34878D82A}">
                    <a16:rowId xmlns:a16="http://schemas.microsoft.com/office/drawing/2014/main" val="2038325615"/>
                  </a:ext>
                </a:extLst>
              </a:tr>
              <a:tr h="376624">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New Billing Platform for CAPEX and On Demand Billing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F&amp;A Impacted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err="1">
                          <a:ln>
                            <a:noFill/>
                          </a:ln>
                          <a:solidFill>
                            <a:prstClr val="black"/>
                          </a:solidFill>
                          <a:effectLst/>
                          <a:uLnTx/>
                          <a:uFillTx/>
                          <a:latin typeface="Aptos" panose="020B0004020202020204"/>
                          <a:ea typeface="+mn-ea"/>
                          <a:cs typeface="+mn-cs"/>
                        </a:rPr>
                        <a:t>Nexbill</a:t>
                      </a: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 enable issuing customer </a:t>
                      </a:r>
                      <a:r>
                        <a:rPr kumimoji="0" lang="en-US" altLang="zh-CN" sz="1050" b="0" i="0" u="none" strike="noStrike" kern="1200" cap="none" spc="0" normalizeH="0" baseline="0" noProof="0">
                          <a:ln>
                            <a:noFill/>
                          </a:ln>
                          <a:solidFill>
                            <a:prstClr val="black"/>
                          </a:solidFill>
                          <a:effectLst/>
                          <a:uLnTx/>
                          <a:uFillTx/>
                          <a:latin typeface="Aptos" panose="020B0004020202020204"/>
                          <a:ea typeface="+mn-ea"/>
                          <a:cs typeface="+mn-cs"/>
                        </a:rPr>
                        <a:t>invoices, </a:t>
                      </a:r>
                      <a:r>
                        <a:rPr kumimoji="0" lang="en-US" altLang="zh-CN" sz="1050" b="1" i="0" u="none" strike="noStrike" kern="1200" cap="none" spc="0" normalizeH="0" baseline="0" noProof="0">
                          <a:ln>
                            <a:noFill/>
                          </a:ln>
                          <a:solidFill>
                            <a:prstClr val="black"/>
                          </a:solidFill>
                          <a:effectLst/>
                          <a:uLnTx/>
                          <a:uFillTx/>
                          <a:latin typeface="Aptos" panose="020B0004020202020204"/>
                          <a:ea typeface="+mn-ea"/>
                          <a:cs typeface="+mn-cs"/>
                        </a:rPr>
                        <a:t>some of them as-is</a:t>
                      </a:r>
                      <a:r>
                        <a:rPr kumimoji="0" lang="en-US" sz="1050" b="1" i="0" u="none" strike="noStrike" kern="1200" cap="none" spc="0" normalizeH="0" baseline="0" noProof="0">
                          <a:ln>
                            <a:noFill/>
                          </a:ln>
                          <a:solidFill>
                            <a:prstClr val="black"/>
                          </a:solidFill>
                          <a:effectLst/>
                          <a:uLnTx/>
                          <a:uFillTx/>
                          <a:latin typeface="Aptos" panose="020B0004020202020204"/>
                          <a:ea typeface="+mn-ea"/>
                          <a:cs typeface="+mn-cs"/>
                        </a:rPr>
                        <a:t> in S4/ECC</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1" i="0" u="none" strike="noStrike" kern="1200" cap="none" spc="0" normalizeH="0" baseline="0">
                          <a:ln>
                            <a:noFill/>
                          </a:ln>
                          <a:solidFill>
                            <a:prstClr val="black"/>
                          </a:solidFill>
                          <a:effectLst/>
                          <a:uLnTx/>
                          <a:uFillTx/>
                          <a:latin typeface="Aptos" panose="020B0004020202020204"/>
                          <a:ea typeface="+mn-ea"/>
                          <a:cs typeface="+mn-cs"/>
                        </a:rPr>
                        <a:t>As-is in BRIM: </a:t>
                      </a:r>
                      <a:r>
                        <a:rPr kumimoji="0" lang="en-US" sz="1050" b="0" i="0" u="none" strike="noStrike" kern="1200" cap="none" spc="0" normalizeH="0" baseline="0">
                          <a:ln>
                            <a:noFill/>
                          </a:ln>
                          <a:solidFill>
                            <a:prstClr val="black"/>
                          </a:solidFill>
                          <a:effectLst/>
                          <a:uLnTx/>
                          <a:uFillTx/>
                          <a:latin typeface="Aptos" panose="020B0004020202020204"/>
                          <a:ea typeface="+mn-ea"/>
                          <a:cs typeface="+mn-cs"/>
                        </a:rPr>
                        <a:t>DaaS Recurring / IaaS Recurring / Early Termination / On-demand Service / EOT (Buyout) / Upfront Tax / Damage Fund/managed capex managed service portion</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1" i="0" u="none" strike="noStrike" kern="1200" cap="none" spc="0" normalizeH="0" baseline="0">
                          <a:ln>
                            <a:noFill/>
                          </a:ln>
                          <a:solidFill>
                            <a:prstClr val="black"/>
                          </a:solidFill>
                          <a:effectLst/>
                          <a:uLnTx/>
                          <a:uFillTx/>
                          <a:latin typeface="Aptos" panose="020B0004020202020204"/>
                          <a:ea typeface="+mn-ea"/>
                          <a:cs typeface="+mn-cs"/>
                        </a:rPr>
                        <a:t>As-is in ECC/S4: </a:t>
                      </a:r>
                      <a:r>
                        <a:rPr kumimoji="0" lang="en-US" sz="1050" b="0" i="0" u="none" strike="noStrike" kern="1200" cap="none" spc="0" normalizeH="0" baseline="0">
                          <a:ln>
                            <a:noFill/>
                          </a:ln>
                          <a:solidFill>
                            <a:prstClr val="black"/>
                          </a:solidFill>
                          <a:effectLst/>
                          <a:uLnTx/>
                          <a:uFillTx/>
                          <a:latin typeface="Aptos" panose="020B0004020202020204"/>
                          <a:ea typeface="+mn-ea"/>
                          <a:cs typeface="+mn-cs"/>
                        </a:rPr>
                        <a:t>Origination Fee / Penalty(Miss SLA CMR) </a:t>
                      </a:r>
                      <a:r>
                        <a:rPr kumimoji="0" lang="en-US" sz="1050" b="0" i="0" u="none" strike="noStrike" kern="1200" cap="none" spc="0" normalizeH="0" baseline="0">
                          <a:ln>
                            <a:noFill/>
                          </a:ln>
                          <a:solidFill>
                            <a:prstClr val="black"/>
                          </a:solidFill>
                          <a:effectLst/>
                          <a:uLnTx/>
                          <a:uFillTx/>
                          <a:latin typeface="+mn-lt"/>
                          <a:ea typeface="+mn-ea"/>
                          <a:cs typeface="+mn-cs"/>
                        </a:rPr>
                        <a:t>/ Syndication(Full sale/SOR) </a:t>
                      </a:r>
                      <a:r>
                        <a:rPr kumimoji="0" lang="en-US" sz="1050" b="0" i="0" u="none" strike="noStrike" kern="1200" cap="none" spc="0" normalizeH="0" baseline="0">
                          <a:ln>
                            <a:noFill/>
                          </a:ln>
                          <a:solidFill>
                            <a:prstClr val="black"/>
                          </a:solidFill>
                          <a:effectLst/>
                          <a:uLnTx/>
                          <a:uFillTx/>
                          <a:latin typeface="Aptos" panose="020B0004020202020204"/>
                          <a:ea typeface="+mn-ea"/>
                          <a:cs typeface="+mn-cs"/>
                        </a:rPr>
                        <a:t>/ Asset Remarking / Managed Capex </a:t>
                      </a:r>
                      <a:r>
                        <a:rPr kumimoji="0" lang="en-US" sz="1050" b="0" i="0" u="none" strike="noStrike" kern="1200" cap="none" spc="0" normalizeH="0" baseline="0">
                          <a:ln>
                            <a:noFill/>
                          </a:ln>
                          <a:solidFill>
                            <a:prstClr val="black"/>
                          </a:solidFill>
                          <a:effectLst/>
                          <a:uLnTx/>
                          <a:uFillTx/>
                          <a:latin typeface="+mn-lt"/>
                          <a:ea typeface="+mn-ea"/>
                          <a:cs typeface="+mn-cs"/>
                        </a:rPr>
                        <a:t>HW portion / Damage Charge / Property Tax</a:t>
                      </a:r>
                      <a:endParaRPr kumimoji="0" lang="en-US" sz="1050" b="0" i="0" u="none" strike="noStrike" kern="1200" cap="none" spc="0" normalizeH="0" baseline="0" noProof="0">
                        <a:ln>
                          <a:noFill/>
                        </a:ln>
                        <a:solidFill>
                          <a:prstClr val="black"/>
                        </a:solidFill>
                        <a:effectLst/>
                        <a:uLnTx/>
                        <a:uFillTx/>
                        <a:latin typeface="Aptos" panose="020B00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A</a:t>
                      </a:r>
                      <a:r>
                        <a:rPr kumimoji="0" lang="en-US" altLang="zh-CN" sz="1050" b="0" i="0" u="none" strike="noStrike" kern="1200" cap="none" spc="0" normalizeH="0" baseline="0" noProof="0">
                          <a:ln>
                            <a:noFill/>
                          </a:ln>
                          <a:solidFill>
                            <a:prstClr val="black"/>
                          </a:solidFill>
                          <a:effectLst/>
                          <a:uLnTx/>
                          <a:uFillTx/>
                          <a:latin typeface="Aptos" panose="020B0004020202020204"/>
                          <a:ea typeface="+mn-ea"/>
                          <a:cs typeface="+mn-cs"/>
                        </a:rPr>
                        <a:t>ria</a:t>
                      </a:r>
                      <a:endParaRPr kumimoji="0" lang="en-US" sz="1050" b="0" i="0" u="none" strike="noStrike" kern="1200" cap="none" spc="0" normalizeH="0" baseline="0" noProof="0">
                        <a:ln>
                          <a:noFill/>
                        </a:ln>
                        <a:solidFill>
                          <a:prstClr val="black"/>
                        </a:solidFill>
                        <a:effectLst/>
                        <a:uLnTx/>
                        <a:uFillTx/>
                        <a:latin typeface="Aptos" panose="020B0004020202020204"/>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3774879499"/>
                  </a:ext>
                </a:extLst>
              </a:tr>
              <a:tr h="486822">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New Billing Cycle: Semi-&amp; Yearly​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F&amp;A Impacted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New billing frequency will be: </a:t>
                      </a:r>
                      <a:r>
                        <a:rPr kumimoji="0" lang="en-US" sz="1050" b="1" i="0" u="none" strike="noStrike" kern="1200" cap="none" spc="0" normalizeH="0" baseline="0" noProof="0">
                          <a:ln>
                            <a:noFill/>
                          </a:ln>
                          <a:solidFill>
                            <a:prstClr val="black"/>
                          </a:solidFill>
                          <a:effectLst/>
                          <a:uLnTx/>
                          <a:uFillTx/>
                          <a:latin typeface="Aptos" panose="020B0004020202020204"/>
                          <a:ea typeface="+mn-ea"/>
                          <a:cs typeface="+mn-cs"/>
                        </a:rPr>
                        <a:t>6</a:t>
                      </a: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a:t>
                      </a:r>
                      <a:r>
                        <a:rPr kumimoji="0" lang="en-US" sz="1050" b="1" i="0" u="none" strike="noStrike" kern="1200" cap="none" spc="0" normalizeH="0" baseline="0" noProof="0">
                          <a:ln>
                            <a:noFill/>
                          </a:ln>
                          <a:solidFill>
                            <a:prstClr val="black"/>
                          </a:solidFill>
                          <a:effectLst/>
                          <a:uLnTx/>
                          <a:uFillTx/>
                          <a:latin typeface="Aptos" panose="020B0004020202020204"/>
                          <a:ea typeface="+mn-ea"/>
                          <a:cs typeface="+mn-cs"/>
                        </a:rPr>
                        <a:t>12</a:t>
                      </a: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 months,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mn-lt"/>
                          <a:ea typeface="+mn-ea"/>
                          <a:cs typeface="+mn-cs"/>
                        </a:rPr>
                        <a:t>A</a:t>
                      </a:r>
                      <a:r>
                        <a:rPr kumimoji="0" lang="en-US" altLang="zh-CN" sz="1050" b="0" i="0" u="none" strike="noStrike" kern="1200" cap="none" spc="0" normalizeH="0" baseline="0" noProof="0">
                          <a:ln>
                            <a:noFill/>
                          </a:ln>
                          <a:solidFill>
                            <a:prstClr val="black"/>
                          </a:solidFill>
                          <a:effectLst/>
                          <a:uLnTx/>
                          <a:uFillTx/>
                          <a:latin typeface="+mn-lt"/>
                          <a:ea typeface="+mn-ea"/>
                          <a:cs typeface="+mn-cs"/>
                        </a:rPr>
                        <a:t>ria</a:t>
                      </a:r>
                      <a:endParaRPr kumimoji="0" lang="en-US" sz="1050" b="0" i="0" u="none" strike="noStrike" kern="1200" cap="none" spc="0" normalizeH="0" baseline="0" noProof="0">
                        <a:ln>
                          <a:noFill/>
                        </a:ln>
                        <a:solidFill>
                          <a:prstClr val="black"/>
                        </a:solidFill>
                        <a:effectLst/>
                        <a:uLnTx/>
                        <a:uFillTx/>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36818196"/>
                  </a:ext>
                </a:extLst>
              </a:tr>
              <a:tr h="389455">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New Billing Model: Interim Charge​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F&amp;A Impacted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Interim Charge customer for the period between customer acceptance and lease commencement, duration depends on billing circle e.g. quarterly billing up to 90+43 days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mn-lt"/>
                          <a:ea typeface="+mn-ea"/>
                          <a:cs typeface="+mn-cs"/>
                        </a:rPr>
                        <a:t>A</a:t>
                      </a:r>
                      <a:r>
                        <a:rPr kumimoji="0" lang="en-US" altLang="zh-CN" sz="1050" b="0" i="0" u="none" strike="noStrike" kern="1200" cap="none" spc="0" normalizeH="0" baseline="0" noProof="0">
                          <a:ln>
                            <a:noFill/>
                          </a:ln>
                          <a:solidFill>
                            <a:prstClr val="black"/>
                          </a:solidFill>
                          <a:effectLst/>
                          <a:uLnTx/>
                          <a:uFillTx/>
                          <a:latin typeface="+mn-lt"/>
                          <a:ea typeface="+mn-ea"/>
                          <a:cs typeface="+mn-cs"/>
                        </a:rPr>
                        <a:t>ria</a:t>
                      </a:r>
                      <a:endParaRPr kumimoji="0" lang="en-US" sz="1050" b="0" i="0" u="none" strike="noStrike" kern="1200" cap="none" spc="0" normalizeH="0" baseline="0" noProof="0">
                        <a:ln>
                          <a:noFill/>
                        </a:ln>
                        <a:solidFill>
                          <a:prstClr val="black"/>
                        </a:solidFill>
                        <a:effectLst/>
                        <a:uLnTx/>
                        <a:uFillTx/>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3438862681"/>
                  </a:ext>
                </a:extLst>
              </a:tr>
              <a:tr h="816019">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New Billing Model: Structure Payment​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F&amp;A Impacted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mn-lt"/>
                          <a:ea typeface="+mn-ea"/>
                          <a:cs typeface="+mn-cs"/>
                        </a:rPr>
                        <a:t>Rather than straight line payment, Lenovo and customer agree to arrange payment on customized manner, there are  three different scenario defined (</a:t>
                      </a:r>
                      <a:r>
                        <a:rPr kumimoji="0" lang="en-US" altLang="zh-CN" sz="1050" b="0" i="0" u="none" strike="noStrike" kern="1200" cap="none" spc="0" normalizeH="0" baseline="0" noProof="0">
                          <a:ln>
                            <a:noFill/>
                          </a:ln>
                          <a:solidFill>
                            <a:prstClr val="black"/>
                          </a:solidFill>
                          <a:effectLst/>
                          <a:uLnTx/>
                          <a:uFillTx/>
                          <a:latin typeface="+mn-lt"/>
                          <a:ea typeface="+mn-ea"/>
                          <a:cs typeface="+mn-cs"/>
                        </a:rPr>
                        <a:t>MSA deal will be considered in future)</a:t>
                      </a:r>
                      <a:r>
                        <a:rPr kumimoji="0" lang="en-US" sz="1050" b="0" i="0" u="none" strike="noStrike" kern="1200" cap="none" spc="0" normalizeH="0" baseline="0" noProof="0">
                          <a:ln>
                            <a:noFill/>
                          </a:ln>
                          <a:solidFill>
                            <a:prstClr val="black"/>
                          </a:solidFill>
                          <a:effectLst/>
                          <a:uLnTx/>
                          <a:uFillTx/>
                          <a:latin typeface="+mn-lt"/>
                          <a:ea typeface="+mn-ea"/>
                          <a:cs typeface="+mn-cs"/>
                        </a:rPr>
                        <a:t>:</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mn-lt"/>
                          <a:ea typeface="+mn-ea"/>
                          <a:cs typeface="+mn-cs"/>
                        </a:rPr>
                        <a:t>Down Payment + Same Monthly Fee  - </a:t>
                      </a:r>
                      <a:r>
                        <a:rPr kumimoji="0" lang="en-US" altLang="zh-CN" sz="1050" b="0" i="0" u="none" strike="noStrike" kern="1200" cap="none" spc="0" normalizeH="0" baseline="0" noProof="0">
                          <a:ln>
                            <a:noFill/>
                          </a:ln>
                          <a:solidFill>
                            <a:prstClr val="black"/>
                          </a:solidFill>
                          <a:effectLst/>
                          <a:uLnTx/>
                          <a:uFillTx/>
                          <a:latin typeface="+mn-lt"/>
                          <a:ea typeface="+mn-ea"/>
                          <a:cs typeface="+mn-cs"/>
                        </a:rPr>
                        <a:t>MLA only​</a:t>
                      </a:r>
                      <a:r>
                        <a:rPr kumimoji="0" lang="en-US" sz="1050" b="0" i="0" u="none" strike="noStrike" kern="1200" cap="none" spc="0" normalizeH="0" baseline="0" noProof="0">
                          <a:ln>
                            <a:noFill/>
                          </a:ln>
                          <a:solidFill>
                            <a:prstClr val="black"/>
                          </a:solidFill>
                          <a:effectLst/>
                          <a:uLnTx/>
                          <a:uFillTx/>
                          <a:latin typeface="+mn-lt"/>
                          <a:ea typeface="+mn-ea"/>
                          <a:cs typeface="+mn-cs"/>
                        </a:rPr>
                        <a:t>​</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mn-lt"/>
                          <a:ea typeface="+mn-ea"/>
                          <a:cs typeface="+mn-cs"/>
                        </a:rPr>
                        <a:t>Down Payment + Different Monthly Fee -MLA only​</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mn-lt"/>
                          <a:ea typeface="+mn-ea"/>
                          <a:cs typeface="+mn-cs"/>
                        </a:rPr>
                        <a:t>Down Payment + No Billing for Few Months + Same Month Fee  -</a:t>
                      </a:r>
                      <a:r>
                        <a:rPr kumimoji="0" lang="en-US" altLang="zh-CN" sz="1050" b="0" i="0" u="none" strike="noStrike" kern="1200" cap="none" spc="0" normalizeH="0" baseline="0" noProof="0">
                          <a:ln>
                            <a:noFill/>
                          </a:ln>
                          <a:solidFill>
                            <a:prstClr val="black"/>
                          </a:solidFill>
                          <a:effectLst/>
                          <a:uLnTx/>
                          <a:uFillTx/>
                          <a:latin typeface="+mn-lt"/>
                          <a:ea typeface="+mn-ea"/>
                          <a:cs typeface="+mn-cs"/>
                        </a:rPr>
                        <a:t>MLA only​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Yinyin</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2127771212"/>
                  </a:ext>
                </a:extLst>
              </a:tr>
              <a:tr h="669554">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New Change Event: Mid Term Rewrite​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F&amp;A Impacted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Renegotiate with customer in the mid of active lease to extent existing lease term with lower monthly rental in order to mitigate RV exposure risk</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err="1">
                          <a:ln>
                            <a:noFill/>
                          </a:ln>
                          <a:solidFill>
                            <a:prstClr val="black"/>
                          </a:solidFill>
                          <a:effectLst/>
                          <a:uLnTx/>
                          <a:uFillTx/>
                          <a:latin typeface="Aptos" panose="020B0004020202020204"/>
                          <a:ea typeface="+mn-ea"/>
                          <a:cs typeface="+mn-cs"/>
                        </a:rPr>
                        <a:t>Eg.</a:t>
                      </a: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 Monthly rental =100 for 36 months, Rewrite from 20</a:t>
                      </a:r>
                      <a:r>
                        <a:rPr kumimoji="0" lang="en-US" sz="1050" b="0" i="0" u="none" strike="noStrike" kern="1200" cap="none" spc="0" normalizeH="0" baseline="30000" noProof="0">
                          <a:ln>
                            <a:noFill/>
                          </a:ln>
                          <a:solidFill>
                            <a:prstClr val="black"/>
                          </a:solidFill>
                          <a:effectLst/>
                          <a:uLnTx/>
                          <a:uFillTx/>
                          <a:latin typeface="Aptos" panose="020B0004020202020204"/>
                          <a:ea typeface="+mn-ea"/>
                          <a:cs typeface="+mn-cs"/>
                        </a:rPr>
                        <a:t>th</a:t>
                      </a:r>
                      <a:r>
                        <a:rPr kumimoji="0" lang="en-US" sz="1050" b="0" i="0" u="none" strike="noStrike" kern="1200" cap="none" spc="0" normalizeH="0" baseline="0" noProof="0">
                          <a:ln>
                            <a:noFill/>
                          </a:ln>
                          <a:solidFill>
                            <a:prstClr val="black"/>
                          </a:solidFill>
                          <a:effectLst/>
                          <a:uLnTx/>
                          <a:uFillTx/>
                          <a:latin typeface="Aptos" panose="020B0004020202020204"/>
                          <a:ea typeface="+mn-ea"/>
                          <a:cs typeface="+mn-cs"/>
                        </a:rPr>
                        <a:t> month with rental 80, and total lease term extended to 48 months.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altLang="zh-CN" sz="1050" b="0" i="0" u="none" strike="noStrike" kern="1200" cap="none" spc="0" normalizeH="0" baseline="0" noProof="0">
                          <a:ln>
                            <a:noFill/>
                          </a:ln>
                          <a:solidFill>
                            <a:prstClr val="black"/>
                          </a:solidFill>
                          <a:effectLst/>
                          <a:uLnTx/>
                          <a:uFillTx/>
                          <a:latin typeface="+mn-lt"/>
                          <a:ea typeface="+mn-ea"/>
                          <a:cs typeface="+mn-cs"/>
                        </a:rPr>
                        <a:t>Aria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2982825258"/>
                  </a:ext>
                </a:extLst>
              </a:tr>
              <a:tr h="376624">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Advance Billing: Issuing Invoice in Advance​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l" rtl="0" fontAlgn="base">
                        <a:lnSpc>
                          <a:spcPts val="750"/>
                        </a:lnSpc>
                        <a:buNone/>
                      </a:pPr>
                      <a:r>
                        <a:rPr lang="en-US" sz="1050" kern="1200">
                          <a:solidFill>
                            <a:schemeClr val="tx1"/>
                          </a:solidFill>
                          <a:latin typeface="+mn-lt"/>
                          <a:ea typeface="+mn-ea"/>
                          <a:cs typeface="+mn-cs"/>
                        </a:rPr>
                        <a:t>F&amp;A Impacted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l" rtl="0" fontAlgn="base">
                        <a:lnSpc>
                          <a:spcPct val="100000"/>
                        </a:lnSpc>
                        <a:buNone/>
                      </a:pPr>
                      <a:r>
                        <a:rPr lang="en-US" sz="1050" kern="1200">
                          <a:solidFill>
                            <a:schemeClr val="tx1"/>
                          </a:solidFill>
                          <a:latin typeface="+mn-lt"/>
                          <a:ea typeface="+mn-ea"/>
                          <a:cs typeface="+mn-cs"/>
                        </a:rPr>
                        <a:t>Raise invoice for current month and future month together</a:t>
                      </a:r>
                    </a:p>
                    <a:p>
                      <a:pPr algn="l" rtl="0" fontAlgn="base">
                        <a:lnSpc>
                          <a:spcPct val="100000"/>
                        </a:lnSpc>
                        <a:buNone/>
                      </a:pPr>
                      <a:r>
                        <a:rPr lang="en-US" sz="1050" kern="1200">
                          <a:solidFill>
                            <a:schemeClr val="tx1"/>
                          </a:solidFill>
                          <a:latin typeface="+mn-lt"/>
                          <a:ea typeface="+mn-ea"/>
                          <a:cs typeface="+mn-cs"/>
                        </a:rPr>
                        <a:t>e.g. raise Jan Feb March invoice on 1</a:t>
                      </a:r>
                      <a:r>
                        <a:rPr lang="en-US" sz="1050" kern="1200" baseline="30000">
                          <a:solidFill>
                            <a:schemeClr val="tx1"/>
                          </a:solidFill>
                          <a:latin typeface="+mn-lt"/>
                          <a:ea typeface="+mn-ea"/>
                          <a:cs typeface="+mn-cs"/>
                        </a:rPr>
                        <a:t>st</a:t>
                      </a:r>
                      <a:r>
                        <a:rPr lang="en-US" sz="1050" kern="1200">
                          <a:solidFill>
                            <a:schemeClr val="tx1"/>
                          </a:solidFill>
                          <a:latin typeface="+mn-lt"/>
                          <a:ea typeface="+mn-ea"/>
                          <a:cs typeface="+mn-cs"/>
                        </a:rPr>
                        <a:t> Jan, there will be three separate invoices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prstClr val="black"/>
                          </a:solidFill>
                          <a:effectLst/>
                          <a:uLnTx/>
                          <a:uFillTx/>
                          <a:latin typeface="+mn-lt"/>
                          <a:ea typeface="+mn-ea"/>
                          <a:cs typeface="+mn-cs"/>
                        </a:rPr>
                        <a:t>Yinyin</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841441099"/>
                  </a:ext>
                </a:extLst>
              </a:tr>
              <a:tr h="352946">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Invoice Consolidation (Additional Rule)​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r>
                        <a:rPr lang="en-US" sz="1050" kern="1200">
                          <a:solidFill>
                            <a:schemeClr val="tx1"/>
                          </a:solidFill>
                          <a:latin typeface="+mn-lt"/>
                          <a:ea typeface="+mn-ea"/>
                          <a:cs typeface="+mn-cs"/>
                        </a:rPr>
                        <a:t>Not Related to F&amp;A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269987539"/>
                  </a:ext>
                </a:extLst>
              </a:tr>
              <a:tr h="352946">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Preview &amp; Final Invoice Details (Report)​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r>
                        <a:rPr lang="en-US" sz="1050" kern="1200">
                          <a:solidFill>
                            <a:schemeClr val="tx1"/>
                          </a:solidFill>
                          <a:latin typeface="+mn-lt"/>
                          <a:ea typeface="+mn-ea"/>
                          <a:cs typeface="+mn-cs"/>
                        </a:rPr>
                        <a:t>Not Related to F&amp;A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17713437"/>
                  </a:ext>
                </a:extLst>
              </a:tr>
              <a:tr h="352946">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Lenovo Invoice Integration Standard API​</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r>
                        <a:rPr lang="en-US" sz="1050" kern="1200">
                          <a:solidFill>
                            <a:schemeClr val="tx1"/>
                          </a:solidFill>
                          <a:latin typeface="+mn-lt"/>
                          <a:ea typeface="+mn-ea"/>
                          <a:cs typeface="+mn-cs"/>
                        </a:rPr>
                        <a:t>Not Related to F&amp;A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marL="0" marR="0" lvl="0" indent="0" algn="l" defTabSz="914400" rtl="0" eaLnBrk="1" fontAlgn="base" latinLnBrk="0" hangingPunct="1">
                        <a:lnSpc>
                          <a:spcPts val="750"/>
                        </a:lnSpc>
                        <a:spcBef>
                          <a:spcPts val="0"/>
                        </a:spcBef>
                        <a:spcAft>
                          <a:spcPts val="0"/>
                        </a:spcAft>
                        <a:buClrTx/>
                        <a:buSzTx/>
                        <a:buFontTx/>
                        <a:buNone/>
                        <a:tabLst/>
                        <a:defRPr/>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3498117230"/>
                  </a:ext>
                </a:extLst>
              </a:tr>
              <a:tr h="352946">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New E-Invoice (New Countries)​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l" rtl="0" fontAlgn="base">
                        <a:lnSpc>
                          <a:spcPts val="750"/>
                        </a:lnSpc>
                        <a:buNone/>
                      </a:pPr>
                      <a:r>
                        <a:rPr lang="en-US" sz="1050" kern="1200">
                          <a:solidFill>
                            <a:schemeClr val="tx1"/>
                          </a:solidFill>
                          <a:latin typeface="+mn-lt"/>
                          <a:ea typeface="+mn-ea"/>
                          <a:cs typeface="+mn-cs"/>
                        </a:rPr>
                        <a:t>Tax Required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l" rtl="0" fontAlgn="base">
                        <a:lnSpc>
                          <a:spcPts val="750"/>
                        </a:lnSpc>
                        <a:buNone/>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l" rtl="0" fontAlgn="base">
                        <a:lnSpc>
                          <a:spcPts val="750"/>
                        </a:lnSpc>
                        <a:buNone/>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extLst>
                  <a:ext uri="{0D108BD9-81ED-4DB2-BD59-A6C34878D82A}">
                    <a16:rowId xmlns:a16="http://schemas.microsoft.com/office/drawing/2014/main" val="1930561494"/>
                  </a:ext>
                </a:extLst>
              </a:tr>
              <a:tr h="352946">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Invoice Status Tracking​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l" rtl="0" fontAlgn="base">
                        <a:lnSpc>
                          <a:spcPts val="750"/>
                        </a:lnSpc>
                        <a:buNone/>
                      </a:pPr>
                      <a:r>
                        <a:rPr lang="en-US" sz="1050" kern="1200">
                          <a:solidFill>
                            <a:schemeClr val="tx1"/>
                          </a:solidFill>
                          <a:latin typeface="+mn-lt"/>
                          <a:ea typeface="+mn-ea"/>
                          <a:cs typeface="+mn-cs"/>
                        </a:rPr>
                        <a:t>Not Related to F&amp;A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algn="l" rtl="0" fontAlgn="base">
                        <a:lnSpc>
                          <a:spcPts val="750"/>
                        </a:lnSpc>
                        <a:buNone/>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algn="l" rtl="0" fontAlgn="base">
                        <a:lnSpc>
                          <a:spcPts val="750"/>
                        </a:lnSpc>
                        <a:buNone/>
                      </a:pPr>
                      <a:endParaRPr lang="en-US"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2798363078"/>
                  </a:ext>
                </a:extLst>
              </a:tr>
              <a:tr h="352946">
                <a:tc>
                  <a:txBody>
                    <a:bodyPr/>
                    <a:lstStyle/>
                    <a:p>
                      <a:pPr marL="0" algn="l" defTabSz="914400" rtl="0" eaLnBrk="1" fontAlgn="base" latinLnBrk="0" hangingPunct="1">
                        <a:lnSpc>
                          <a:spcPts val="750"/>
                        </a:lnSpc>
                        <a:buNone/>
                      </a:pPr>
                      <a:r>
                        <a:rPr lang="en-US" sz="1050" kern="1200">
                          <a:solidFill>
                            <a:schemeClr val="tx1"/>
                          </a:solidFill>
                          <a:latin typeface="+mn-lt"/>
                          <a:ea typeface="+mn-ea"/>
                          <a:cs typeface="+mn-cs"/>
                        </a:rPr>
                        <a:t>Revenue Sharing Model</a:t>
                      </a:r>
                      <a:r>
                        <a:rPr lang="en-US" altLang="zh-CN" sz="1050" kern="1200">
                          <a:solidFill>
                            <a:schemeClr val="tx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algn="l" rtl="0" fontAlgn="base">
                        <a:lnSpc>
                          <a:spcPts val="750"/>
                        </a:lnSpc>
                        <a:buNone/>
                      </a:pPr>
                      <a:r>
                        <a:rPr lang="en-US" altLang="zh-CN" sz="1050" kern="1200">
                          <a:solidFill>
                            <a:schemeClr val="tx1"/>
                          </a:solidFill>
                          <a:latin typeface="+mn-lt"/>
                          <a:ea typeface="+mn-ea"/>
                          <a:cs typeface="+mn-cs"/>
                        </a:rPr>
                        <a:t>Covered in Later Phase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algn="l" rtl="0" fontAlgn="base">
                        <a:lnSpc>
                          <a:spcPts val="750"/>
                        </a:lnSpc>
                        <a:buNone/>
                      </a:pPr>
                      <a:endParaRPr lang="en-US" altLang="zh-CN"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algn="l" rtl="0" fontAlgn="base">
                        <a:lnSpc>
                          <a:spcPts val="750"/>
                        </a:lnSpc>
                        <a:buNone/>
                      </a:pPr>
                      <a:endParaRPr lang="en-US" altLang="zh-CN" sz="1050" kern="120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2725723913"/>
                  </a:ext>
                </a:extLst>
              </a:tr>
            </a:tbl>
          </a:graphicData>
        </a:graphic>
      </p:graphicFrame>
      <p:sp>
        <p:nvSpPr>
          <p:cNvPr id="4" name="文本框 16">
            <a:extLst>
              <a:ext uri="{FF2B5EF4-FFF2-40B4-BE49-F238E27FC236}">
                <a16:creationId xmlns:a16="http://schemas.microsoft.com/office/drawing/2014/main" id="{8E6F2C07-E04A-0B9D-8CFF-8A728FE1EA37}"/>
              </a:ext>
            </a:extLst>
          </p:cNvPr>
          <p:cNvSpPr txBox="1"/>
          <p:nvPr/>
        </p:nvSpPr>
        <p:spPr>
          <a:xfrm>
            <a:off x="69107" y="0"/>
            <a:ext cx="8520711" cy="400110"/>
          </a:xfrm>
          <a:prstGeom prst="rect">
            <a:avLst/>
          </a:prstGeom>
          <a:noFill/>
        </p:spPr>
        <p:txBody>
          <a:bodyPr wrap="square" rtlCol="0">
            <a:spAutoFit/>
          </a:bodyPr>
          <a:lstStyle/>
          <a:p>
            <a:r>
              <a:rPr lang="nl-NL" altLang="zh-CN" sz="2000" b="1"/>
              <a:t>New Requirements Landing Page</a:t>
            </a:r>
            <a:endParaRPr lang="zh-CN" altLang="en-US" sz="2000" b="1"/>
          </a:p>
        </p:txBody>
      </p:sp>
    </p:spTree>
    <p:extLst>
      <p:ext uri="{BB962C8B-B14F-4D97-AF65-F5344CB8AC3E}">
        <p14:creationId xmlns:p14="http://schemas.microsoft.com/office/powerpoint/2010/main" val="77050946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92F6A4-147F-0516-4660-A43BD581FDDF}"/>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9AAD997E-2122-77B6-91F1-35EB2CD03EE2}"/>
              </a:ext>
            </a:extLst>
          </p:cNvPr>
          <p:cNvSpPr txBox="1">
            <a:spLocks/>
          </p:cNvSpPr>
          <p:nvPr/>
        </p:nvSpPr>
        <p:spPr>
          <a:xfrm>
            <a:off x="295564" y="69669"/>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a:ln>
                  <a:noFill/>
                </a:ln>
                <a:solidFill>
                  <a:prstClr val="black"/>
                </a:solidFill>
                <a:effectLst/>
                <a:uLnTx/>
                <a:uFillTx/>
                <a:latin typeface="Aptos Display" panose="020F0302020204030204"/>
                <a:ea typeface="+mj-ea"/>
                <a:cs typeface="+mj-cs"/>
              </a:rPr>
              <a:t>Accounting Requirement </a:t>
            </a:r>
          </a:p>
        </p:txBody>
      </p:sp>
      <p:sp>
        <p:nvSpPr>
          <p:cNvPr id="6" name="文本框 5">
            <a:extLst>
              <a:ext uri="{FF2B5EF4-FFF2-40B4-BE49-F238E27FC236}">
                <a16:creationId xmlns:a16="http://schemas.microsoft.com/office/drawing/2014/main" id="{B0A2155D-A3C9-63A7-950D-2D5C0A34E993}"/>
              </a:ext>
            </a:extLst>
          </p:cNvPr>
          <p:cNvSpPr txBox="1"/>
          <p:nvPr/>
        </p:nvSpPr>
        <p:spPr>
          <a:xfrm>
            <a:off x="295564" y="1025236"/>
            <a:ext cx="10908145" cy="3607206"/>
          </a:xfrm>
          <a:prstGeom prst="rect">
            <a:avLst/>
          </a:prstGeom>
          <a:noFill/>
        </p:spPr>
        <p:txBody>
          <a:bodyPr wrap="square" rtlCol="0">
            <a:spAutoFit/>
          </a:bodyPr>
          <a:lstStyle/>
          <a:p>
            <a:pPr>
              <a:lnSpc>
                <a:spcPct val="150000"/>
              </a:lnSpc>
            </a:pPr>
            <a:r>
              <a:rPr lang="en-US" altLang="zh-CN" b="1"/>
              <a:t>Assumption:</a:t>
            </a:r>
          </a:p>
          <a:p>
            <a:pPr>
              <a:lnSpc>
                <a:spcPct val="150000"/>
              </a:lnSpc>
            </a:pPr>
            <a:r>
              <a:rPr lang="en-US" altLang="zh-CN" sz="1600"/>
              <a:t>New requirements in </a:t>
            </a:r>
            <a:r>
              <a:rPr lang="en-US" altLang="zh-CN" sz="1600" err="1"/>
              <a:t>Nexbill</a:t>
            </a:r>
            <a:r>
              <a:rPr lang="en-US" altLang="zh-CN" sz="1600"/>
              <a:t> related to service split and amortization, </a:t>
            </a:r>
            <a:r>
              <a:rPr lang="en-US" altLang="zh-CN" sz="1600" err="1"/>
              <a:t>Nexbill</a:t>
            </a:r>
            <a:r>
              <a:rPr lang="en-US" altLang="zh-CN" sz="1600"/>
              <a:t> build own solution to support.</a:t>
            </a:r>
          </a:p>
          <a:p>
            <a:pPr marL="285750" indent="-285750">
              <a:lnSpc>
                <a:spcPct val="150000"/>
              </a:lnSpc>
              <a:buFont typeface="Arial" panose="020B0604020202020204" pitchFamily="34" charset="0"/>
              <a:buChar char="•"/>
            </a:pPr>
            <a:endParaRPr lang="en-US" altLang="zh-CN"/>
          </a:p>
          <a:p>
            <a:pPr>
              <a:lnSpc>
                <a:spcPct val="150000"/>
              </a:lnSpc>
            </a:pPr>
            <a:r>
              <a:rPr lang="en-US" altLang="zh-CN" b="1"/>
              <a:t>GPM Requirement:</a:t>
            </a:r>
          </a:p>
          <a:p>
            <a:pPr marL="285750" indent="-285750">
              <a:lnSpc>
                <a:spcPct val="150000"/>
              </a:lnSpc>
              <a:buFont typeface="Arial" panose="020B0604020202020204" pitchFamily="34" charset="0"/>
              <a:buChar char="•"/>
            </a:pPr>
            <a:r>
              <a:rPr lang="en-US" altLang="zh-CN" sz="1600"/>
              <a:t>Sync to service amortization table in SAP to meet reconciliation requirement ( to be analyzed)</a:t>
            </a:r>
          </a:p>
          <a:p>
            <a:pPr marL="285750" indent="-285750">
              <a:lnSpc>
                <a:spcPct val="150000"/>
              </a:lnSpc>
              <a:buFont typeface="Arial" panose="020B0604020202020204" pitchFamily="34" charset="0"/>
              <a:buChar char="•"/>
            </a:pPr>
            <a:r>
              <a:rPr lang="en-US" altLang="zh-CN" sz="1600"/>
              <a:t>Still keep special indictor in transaction level to ensure Measurement report extract correct numbers</a:t>
            </a:r>
          </a:p>
          <a:p>
            <a:pPr marL="285750" indent="-285750">
              <a:lnSpc>
                <a:spcPct val="150000"/>
              </a:lnSpc>
              <a:buFont typeface="Arial" panose="020B0604020202020204" pitchFamily="34" charset="0"/>
              <a:buChar char="•"/>
            </a:pPr>
            <a:r>
              <a:rPr lang="en-US" altLang="zh-CN" sz="1600"/>
              <a:t>Realize auto-clearing function for amortization</a:t>
            </a:r>
          </a:p>
          <a:p>
            <a:pPr marL="285750" indent="-285750">
              <a:lnSpc>
                <a:spcPct val="150000"/>
              </a:lnSpc>
              <a:buFont typeface="Arial" panose="020B0604020202020204" pitchFamily="34" charset="0"/>
              <a:buChar char="•"/>
            </a:pPr>
            <a:endParaRPr lang="en-US" altLang="zh-CN"/>
          </a:p>
          <a:p>
            <a:pPr marL="285750" indent="-285750">
              <a:lnSpc>
                <a:spcPct val="150000"/>
              </a:lnSpc>
              <a:buFont typeface="Arial" panose="020B0604020202020204" pitchFamily="34" charset="0"/>
              <a:buChar char="•"/>
            </a:pPr>
            <a:endParaRPr lang="zh-CN" altLang="en-US"/>
          </a:p>
        </p:txBody>
      </p:sp>
      <p:pic>
        <p:nvPicPr>
          <p:cNvPr id="3" name="图片 2">
            <a:extLst>
              <a:ext uri="{FF2B5EF4-FFF2-40B4-BE49-F238E27FC236}">
                <a16:creationId xmlns:a16="http://schemas.microsoft.com/office/drawing/2014/main" id="{81FD3BB5-D951-392B-DBF9-E0B42AA15856}"/>
              </a:ext>
            </a:extLst>
          </p:cNvPr>
          <p:cNvPicPr>
            <a:picLocks noChangeAspect="1"/>
          </p:cNvPicPr>
          <p:nvPr/>
        </p:nvPicPr>
        <p:blipFill>
          <a:blip r:embed="rId2"/>
          <a:stretch>
            <a:fillRect/>
          </a:stretch>
        </p:blipFill>
        <p:spPr>
          <a:xfrm>
            <a:off x="11400853" y="0"/>
            <a:ext cx="791147" cy="255168"/>
          </a:xfrm>
          <a:prstGeom prst="rect">
            <a:avLst/>
          </a:prstGeom>
        </p:spPr>
      </p:pic>
    </p:spTree>
    <p:extLst>
      <p:ext uri="{BB962C8B-B14F-4D97-AF65-F5344CB8AC3E}">
        <p14:creationId xmlns:p14="http://schemas.microsoft.com/office/powerpoint/2010/main" val="3027813454"/>
      </p:ext>
    </p:extLst>
  </p:cSld>
  <p:clrMapOvr>
    <a:masterClrMapping/>
  </p:clrMapOvr>
  <p:transition spd="med"/>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8D59662-FFE0-8BEF-9445-20DC6CB411E0}"/>
              </a:ext>
            </a:extLst>
          </p:cNvPr>
          <p:cNvSpPr>
            <a:spLocks noGrp="1"/>
          </p:cNvSpPr>
          <p:nvPr>
            <p:ph type="title"/>
          </p:nvPr>
        </p:nvSpPr>
        <p:spPr/>
        <p:txBody>
          <a:bodyPr/>
          <a:lstStyle/>
          <a:p>
            <a:r>
              <a:rPr lang="en-US" altLang="zh-CN"/>
              <a:t>Issue track update on 9/4</a:t>
            </a:r>
            <a:endParaRPr lang="zh-CN" altLang="en-US"/>
          </a:p>
        </p:txBody>
      </p:sp>
      <p:sp>
        <p:nvSpPr>
          <p:cNvPr id="4" name="灯片编号占位符 3">
            <a:extLst>
              <a:ext uri="{FF2B5EF4-FFF2-40B4-BE49-F238E27FC236}">
                <a16:creationId xmlns:a16="http://schemas.microsoft.com/office/drawing/2014/main" id="{42350D5F-21B9-DC66-87E2-C41686289D81}"/>
              </a:ext>
            </a:extLst>
          </p:cNvPr>
          <p:cNvSpPr>
            <a:spLocks noGrp="1"/>
          </p:cNvSpPr>
          <p:nvPr>
            <p:ph type="sldNum" sz="quarter" idx="4"/>
          </p:nvPr>
        </p:nvSpPr>
        <p:spPr/>
        <p:txBody>
          <a:bodyPr/>
          <a:lstStyle/>
          <a:p>
            <a:fld id="{6D22F896-40B5-4ADD-8801-0D06FADFA095}" type="slidenum">
              <a:rPr lang="en-US" smtClean="0"/>
              <a:pPr/>
              <a:t>102</a:t>
            </a:fld>
            <a:endParaRPr lang="en-US"/>
          </a:p>
        </p:txBody>
      </p:sp>
      <p:sp>
        <p:nvSpPr>
          <p:cNvPr id="6" name="文本框 5">
            <a:extLst>
              <a:ext uri="{FF2B5EF4-FFF2-40B4-BE49-F238E27FC236}">
                <a16:creationId xmlns:a16="http://schemas.microsoft.com/office/drawing/2014/main" id="{2FD2D6A3-1A9E-3744-6E48-5CB25445724E}"/>
              </a:ext>
            </a:extLst>
          </p:cNvPr>
          <p:cNvSpPr txBox="1"/>
          <p:nvPr/>
        </p:nvSpPr>
        <p:spPr>
          <a:xfrm>
            <a:off x="390380" y="772279"/>
            <a:ext cx="11598420" cy="5959773"/>
          </a:xfrm>
          <a:prstGeom prst="rect">
            <a:avLst/>
          </a:prstGeom>
          <a:noFill/>
        </p:spPr>
        <p:txBody>
          <a:bodyPr wrap="square" rtlCol="0">
            <a:spAutoFit/>
          </a:bodyPr>
          <a:lstStyle/>
          <a:p>
            <a:pPr marL="285750" indent="-285750">
              <a:lnSpc>
                <a:spcPct val="150000"/>
              </a:lnSpc>
              <a:buFont typeface="Arial" panose="020B0604020202020204" pitchFamily="34" charset="0"/>
              <a:buChar char="•"/>
            </a:pPr>
            <a:r>
              <a:rPr lang="en-US" altLang="zh-CN" sz="1400" b="1"/>
              <a:t>Mid term Rewrite assumption</a:t>
            </a:r>
            <a:r>
              <a:rPr lang="en-US" altLang="zh-CN" sz="1400"/>
              <a:t>: Tranche will not change after re-write, then front-end should pass a tag ”re-write” to finance &amp; accounting (ERIC) – </a:t>
            </a:r>
            <a:r>
              <a:rPr lang="en-US" altLang="zh-CN" sz="1400">
                <a:highlight>
                  <a:srgbClr val="00FFFF"/>
                </a:highlight>
              </a:rPr>
              <a:t>SO show change event</a:t>
            </a:r>
          </a:p>
          <a:p>
            <a:pPr marL="285750" lvl="0" indent="-285750">
              <a:lnSpc>
                <a:spcPct val="150000"/>
              </a:lnSpc>
              <a:buFont typeface="Arial" panose="020B0604020202020204" pitchFamily="34" charset="0"/>
              <a:buChar char="•"/>
              <a:defRPr/>
            </a:pPr>
            <a:r>
              <a:rPr lang="en-US" altLang="zh-CN" sz="1400" b="1">
                <a:highlight>
                  <a:srgbClr val="FFFF00"/>
                </a:highlight>
              </a:rPr>
              <a:t>Interim Charge</a:t>
            </a:r>
            <a:r>
              <a:rPr lang="en-US" altLang="zh-CN" sz="1400">
                <a:highlight>
                  <a:srgbClr val="FFFF00"/>
                </a:highlight>
              </a:rPr>
              <a:t>: Front end should pass interim charge amt when customer acceptance or before acceptance month end, IF keep old logic that after SPS to trigger lease backdate should be applicable for both Odessa and ESOT( REV&amp;COST) (ERIC</a:t>
            </a:r>
            <a:r>
              <a:rPr lang="en-US" altLang="zh-CN" sz="1400"/>
              <a:t>)—</a:t>
            </a:r>
            <a:r>
              <a:rPr lang="en-US" altLang="zh-CN" sz="1400">
                <a:highlight>
                  <a:srgbClr val="00FFFF"/>
                </a:highlight>
              </a:rPr>
              <a:t>recognize interim in lease commence month with this first billing </a:t>
            </a:r>
          </a:p>
          <a:p>
            <a:pPr marL="285750" lvl="0" indent="-285750">
              <a:lnSpc>
                <a:spcPct val="150000"/>
              </a:lnSpc>
              <a:buFont typeface="Arial" panose="020B0604020202020204" pitchFamily="34" charset="0"/>
              <a:buChar char="•"/>
              <a:defRPr/>
            </a:pPr>
            <a:r>
              <a:rPr lang="en-US" sz="1400" b="1"/>
              <a:t>advance</a:t>
            </a:r>
            <a:r>
              <a:rPr lang="en-US" altLang="zh-CN" sz="1400" b="1"/>
              <a:t>d</a:t>
            </a:r>
            <a:r>
              <a:rPr lang="en-US" sz="1400" b="1"/>
              <a:t> billing</a:t>
            </a:r>
            <a:r>
              <a:rPr lang="zh-CN" altLang="en-US" sz="1400" b="1"/>
              <a:t>：</a:t>
            </a:r>
            <a:r>
              <a:rPr lang="en-US"/>
              <a:t> </a:t>
            </a:r>
            <a:r>
              <a:rPr lang="en-US" sz="1400"/>
              <a:t>should the invoices be consolidated or separated based on the billing cycle? --- </a:t>
            </a:r>
            <a:r>
              <a:rPr lang="zh-CN" altLang="en-US" sz="1400">
                <a:highlight>
                  <a:srgbClr val="00FFFF"/>
                </a:highlight>
              </a:rPr>
              <a:t>按</a:t>
            </a:r>
            <a:r>
              <a:rPr lang="en-US" altLang="zh-CN" sz="1400">
                <a:highlight>
                  <a:srgbClr val="00FFFF"/>
                </a:highlight>
              </a:rPr>
              <a:t>Billing Cycle</a:t>
            </a:r>
            <a:r>
              <a:rPr lang="zh-CN" altLang="en-US" sz="1400">
                <a:highlight>
                  <a:srgbClr val="00FFFF"/>
                </a:highlight>
              </a:rPr>
              <a:t>分开开票</a:t>
            </a:r>
            <a:endParaRPr lang="en-US" sz="1400">
              <a:highlight>
                <a:srgbClr val="00FFFF"/>
              </a:highlight>
            </a:endParaRPr>
          </a:p>
          <a:p>
            <a:pPr lvl="0">
              <a:lnSpc>
                <a:spcPct val="150000"/>
              </a:lnSpc>
              <a:defRPr/>
            </a:pPr>
            <a:r>
              <a:rPr lang="en-US" sz="1400"/>
              <a:t>                                     For example, if we bill two quarters in advance, should we issue two separate invoices (one per quarter), </a:t>
            </a:r>
          </a:p>
          <a:p>
            <a:pPr lvl="0">
              <a:lnSpc>
                <a:spcPct val="150000"/>
              </a:lnSpc>
              <a:defRPr/>
            </a:pPr>
            <a:r>
              <a:rPr lang="en-US" sz="1400"/>
              <a:t>                                     or one invoice that covers both quarters?</a:t>
            </a:r>
          </a:p>
          <a:p>
            <a:pPr marL="285750" lvl="0" indent="-285750">
              <a:lnSpc>
                <a:spcPct val="150000"/>
              </a:lnSpc>
              <a:buFont typeface="Arial" panose="020B0604020202020204" pitchFamily="34" charset="0"/>
              <a:buChar char="•"/>
              <a:defRPr/>
            </a:pPr>
            <a:r>
              <a:rPr lang="en-US" altLang="zh-CN" sz="1400" b="1"/>
              <a:t>Structure payment</a:t>
            </a:r>
            <a:r>
              <a:rPr lang="zh-CN" altLang="en-US" sz="1400" b="1"/>
              <a:t>： </a:t>
            </a:r>
            <a:r>
              <a:rPr lang="en-US" altLang="zh-CN" sz="1400"/>
              <a:t>1. What is the actual business scenario for CMR? Is it only related to SLA issues?</a:t>
            </a:r>
          </a:p>
          <a:p>
            <a:pPr lvl="0">
              <a:lnSpc>
                <a:spcPct val="150000"/>
              </a:lnSpc>
              <a:defRPr/>
            </a:pPr>
            <a:r>
              <a:rPr lang="en-US" altLang="zh-CN" sz="1400"/>
              <a:t>                                                     ----</a:t>
            </a:r>
            <a:r>
              <a:rPr lang="en-US" altLang="zh-CN" sz="1400">
                <a:highlight>
                  <a:srgbClr val="FFFF00"/>
                </a:highlight>
              </a:rPr>
              <a:t>Partial CMR</a:t>
            </a:r>
            <a:r>
              <a:rPr lang="zh-CN" altLang="en-US" sz="1400">
                <a:highlight>
                  <a:srgbClr val="FFFF00"/>
                </a:highlight>
              </a:rPr>
              <a:t>（</a:t>
            </a:r>
            <a:r>
              <a:rPr lang="en-US" altLang="zh-CN" sz="1400">
                <a:highlight>
                  <a:srgbClr val="FFFF00"/>
                </a:highlight>
              </a:rPr>
              <a:t>miss SLA</a:t>
            </a:r>
            <a:r>
              <a:rPr lang="zh-CN" altLang="en-US" sz="1400">
                <a:highlight>
                  <a:srgbClr val="FFFF00"/>
                </a:highlight>
              </a:rPr>
              <a:t>），因服务未达标，在某个</a:t>
            </a:r>
            <a:r>
              <a:rPr lang="en-US" altLang="zh-CN" sz="1400">
                <a:highlight>
                  <a:srgbClr val="FFFF00"/>
                </a:highlight>
              </a:rPr>
              <a:t>Service Item</a:t>
            </a:r>
            <a:r>
              <a:rPr lang="zh-CN" altLang="en-US" sz="1400">
                <a:highlight>
                  <a:srgbClr val="FFFF00"/>
                </a:highlight>
              </a:rPr>
              <a:t>上做部分冲销。</a:t>
            </a:r>
            <a:endParaRPr lang="en-US" altLang="zh-CN" sz="1400">
              <a:highlight>
                <a:srgbClr val="FFFF00"/>
              </a:highlight>
            </a:endParaRPr>
          </a:p>
          <a:p>
            <a:pPr lvl="0">
              <a:lnSpc>
                <a:spcPct val="150000"/>
              </a:lnSpc>
              <a:defRPr/>
            </a:pPr>
            <a:r>
              <a:rPr lang="en-US" altLang="zh-CN" sz="1400"/>
              <a:t>                                                         </a:t>
            </a:r>
            <a:r>
              <a:rPr lang="zh-CN" altLang="en-US" sz="1400">
                <a:highlight>
                  <a:srgbClr val="00FFFF"/>
                </a:highlight>
              </a:rPr>
              <a:t>是针对</a:t>
            </a:r>
            <a:r>
              <a:rPr lang="en-US" altLang="zh-CN" sz="1400">
                <a:highlight>
                  <a:srgbClr val="00FFFF"/>
                </a:highlight>
              </a:rPr>
              <a:t>Bundle</a:t>
            </a:r>
            <a:r>
              <a:rPr lang="zh-CN" altLang="en-US" sz="1400">
                <a:highlight>
                  <a:srgbClr val="00FFFF"/>
                </a:highlight>
              </a:rPr>
              <a:t>下的某个</a:t>
            </a:r>
            <a:r>
              <a:rPr lang="en-US" altLang="zh-CN" sz="1400">
                <a:highlight>
                  <a:srgbClr val="00FFFF"/>
                </a:highlight>
              </a:rPr>
              <a:t>Item</a:t>
            </a:r>
            <a:r>
              <a:rPr lang="zh-CN" altLang="en-US" sz="1400">
                <a:highlight>
                  <a:srgbClr val="00FFFF"/>
                </a:highlight>
              </a:rPr>
              <a:t>某个</a:t>
            </a:r>
            <a:r>
              <a:rPr lang="en-US" altLang="zh-CN" sz="1400">
                <a:highlight>
                  <a:srgbClr val="00FFFF"/>
                </a:highlight>
              </a:rPr>
              <a:t>service item</a:t>
            </a:r>
            <a:r>
              <a:rPr lang="zh-CN" altLang="en-US" sz="1400">
                <a:highlight>
                  <a:srgbClr val="00FFFF"/>
                </a:highlight>
              </a:rPr>
              <a:t>上去开，一定是</a:t>
            </a:r>
            <a:r>
              <a:rPr lang="en-US" altLang="zh-CN" sz="1400">
                <a:highlight>
                  <a:srgbClr val="00FFFF"/>
                </a:highlight>
              </a:rPr>
              <a:t>service</a:t>
            </a:r>
            <a:r>
              <a:rPr lang="zh-CN" altLang="en-US" sz="1400">
                <a:highlight>
                  <a:srgbClr val="00FFFF"/>
                </a:highlight>
              </a:rPr>
              <a:t>。</a:t>
            </a:r>
            <a:endParaRPr lang="en-US" altLang="zh-CN" sz="1400">
              <a:highlight>
                <a:srgbClr val="00FFFF"/>
              </a:highlight>
            </a:endParaRPr>
          </a:p>
          <a:p>
            <a:pPr lvl="0">
              <a:lnSpc>
                <a:spcPct val="150000"/>
              </a:lnSpc>
              <a:defRPr/>
            </a:pPr>
            <a:r>
              <a:rPr lang="en-US" altLang="zh-CN" sz="1400"/>
              <a:t>                                                         </a:t>
            </a:r>
            <a:r>
              <a:rPr lang="zh-CN" altLang="en-US" sz="1400">
                <a:highlight>
                  <a:srgbClr val="00FFFF"/>
                </a:highlight>
              </a:rPr>
              <a:t>不影响</a:t>
            </a:r>
            <a:r>
              <a:rPr lang="en-US" altLang="zh-CN" sz="1400">
                <a:highlight>
                  <a:srgbClr val="00FFFF"/>
                </a:highlight>
              </a:rPr>
              <a:t>HW funded item</a:t>
            </a:r>
            <a:r>
              <a:rPr lang="zh-CN" altLang="en-US" sz="1400">
                <a:highlight>
                  <a:srgbClr val="00FFFF"/>
                </a:highlight>
              </a:rPr>
              <a:t>。不影响标杆金额。</a:t>
            </a:r>
            <a:endParaRPr lang="en-US" altLang="zh-CN" sz="1400">
              <a:highlight>
                <a:srgbClr val="00FFFF"/>
              </a:highlight>
            </a:endParaRPr>
          </a:p>
          <a:p>
            <a:pPr lvl="0">
              <a:lnSpc>
                <a:spcPct val="150000"/>
              </a:lnSpc>
              <a:defRPr/>
            </a:pPr>
            <a:r>
              <a:rPr lang="en-US" altLang="zh-CN" sz="1400"/>
              <a:t>                                                     ----</a:t>
            </a:r>
            <a:r>
              <a:rPr lang="zh-CN" altLang="en-US" sz="1400">
                <a:highlight>
                  <a:srgbClr val="00FFFF"/>
                </a:highlight>
              </a:rPr>
              <a:t>开错票，不影响整体</a:t>
            </a:r>
            <a:r>
              <a:rPr lang="en-US" altLang="zh-CN" sz="1400">
                <a:highlight>
                  <a:srgbClr val="00FFFF"/>
                </a:highlight>
              </a:rPr>
              <a:t>structure</a:t>
            </a:r>
          </a:p>
          <a:p>
            <a:pPr lvl="0">
              <a:lnSpc>
                <a:spcPct val="150000"/>
              </a:lnSpc>
              <a:defRPr/>
            </a:pPr>
            <a:r>
              <a:rPr lang="en-US" altLang="zh-CN" sz="1400"/>
              <a:t>                                          2. Currently, the scope is limited to MLA. Does MLA include swap service?---</a:t>
            </a:r>
            <a:r>
              <a:rPr lang="zh-CN" altLang="en-US" sz="1400">
                <a:highlight>
                  <a:srgbClr val="00FFFF"/>
                </a:highlight>
              </a:rPr>
              <a:t>没有</a:t>
            </a:r>
            <a:r>
              <a:rPr lang="en-US" altLang="zh-CN" sz="1400">
                <a:highlight>
                  <a:srgbClr val="00FFFF"/>
                </a:highlight>
              </a:rPr>
              <a:t>swap service</a:t>
            </a:r>
            <a:r>
              <a:rPr lang="zh-CN" altLang="en-US" sz="1400"/>
              <a:t>。</a:t>
            </a:r>
            <a:endParaRPr lang="en-US" altLang="zh-CN" sz="1400"/>
          </a:p>
          <a:p>
            <a:pPr lvl="0">
              <a:lnSpc>
                <a:spcPct val="150000"/>
              </a:lnSpc>
              <a:defRPr/>
            </a:pPr>
            <a:r>
              <a:rPr lang="en-US" altLang="zh-CN" sz="1400"/>
              <a:t>                                                                                                                                                         </a:t>
            </a:r>
            <a:r>
              <a:rPr lang="zh-CN" altLang="en-US" sz="1400">
                <a:highlight>
                  <a:srgbClr val="00FFFF"/>
                </a:highlight>
              </a:rPr>
              <a:t>但要求都能考虑到</a:t>
            </a:r>
            <a:r>
              <a:rPr lang="en-US" altLang="zh-CN" sz="1400">
                <a:highlight>
                  <a:srgbClr val="00FFFF"/>
                </a:highlight>
              </a:rPr>
              <a:t>managed service</a:t>
            </a:r>
            <a:r>
              <a:rPr lang="zh-CN" altLang="en-US" sz="1400">
                <a:highlight>
                  <a:srgbClr val="00FFFF"/>
                </a:highlight>
              </a:rPr>
              <a:t>。</a:t>
            </a:r>
            <a:endParaRPr lang="en-US" altLang="zh-CN" sz="1400">
              <a:highlight>
                <a:srgbClr val="00FFFF"/>
              </a:highlight>
            </a:endParaRPr>
          </a:p>
          <a:p>
            <a:pPr lvl="0">
              <a:lnSpc>
                <a:spcPct val="150000"/>
              </a:lnSpc>
              <a:defRPr/>
            </a:pPr>
            <a:r>
              <a:rPr lang="en-US" altLang="zh-CN" sz="1400"/>
              <a:t>                                          3. standard payment </a:t>
            </a:r>
            <a:r>
              <a:rPr lang="zh-CN" altLang="en-US" sz="1400"/>
              <a:t>与 </a:t>
            </a:r>
            <a:r>
              <a:rPr lang="en-US" altLang="zh-CN" sz="1400"/>
              <a:t>structure payment </a:t>
            </a:r>
            <a:r>
              <a:rPr lang="zh-CN" altLang="en-US" sz="1400"/>
              <a:t>总额的差异设置容差，以避免因四舍五入或尾差造成不必要的</a:t>
            </a:r>
            <a:endParaRPr lang="en-US" altLang="zh-CN" sz="1400"/>
          </a:p>
          <a:p>
            <a:pPr lvl="0">
              <a:lnSpc>
                <a:spcPct val="150000"/>
              </a:lnSpc>
              <a:defRPr/>
            </a:pPr>
            <a:r>
              <a:rPr lang="en-US" altLang="zh-CN" sz="1400"/>
              <a:t>                                             </a:t>
            </a:r>
            <a:r>
              <a:rPr lang="zh-CN" altLang="en-US" sz="1400"/>
              <a:t> </a:t>
            </a:r>
            <a:r>
              <a:rPr lang="en-US" altLang="zh-CN" sz="1400"/>
              <a:t>average payment </a:t>
            </a:r>
            <a:r>
              <a:rPr lang="zh-CN" altLang="en-US" sz="1400"/>
              <a:t>重算</a:t>
            </a:r>
            <a:r>
              <a:rPr lang="en-US" altLang="zh-CN" sz="1400"/>
              <a:t>----</a:t>
            </a:r>
            <a:r>
              <a:rPr lang="zh-CN" altLang="en-US" sz="1400">
                <a:highlight>
                  <a:srgbClr val="00FFFF"/>
                </a:highlight>
              </a:rPr>
              <a:t>单价三位小数减少</a:t>
            </a:r>
            <a:r>
              <a:rPr lang="en-US" altLang="zh-CN" sz="1400">
                <a:highlight>
                  <a:srgbClr val="00FFFF"/>
                </a:highlight>
              </a:rPr>
              <a:t>rounding</a:t>
            </a:r>
            <a:r>
              <a:rPr lang="zh-CN" altLang="en-US" sz="1400">
                <a:highlight>
                  <a:srgbClr val="00FFFF"/>
                </a:highlight>
              </a:rPr>
              <a:t>，后续</a:t>
            </a:r>
            <a:r>
              <a:rPr lang="en-US" altLang="zh-CN" sz="1400">
                <a:highlight>
                  <a:srgbClr val="00FFFF"/>
                </a:highlight>
              </a:rPr>
              <a:t>Eric</a:t>
            </a:r>
            <a:r>
              <a:rPr lang="zh-CN" altLang="en-US" sz="1400">
                <a:highlight>
                  <a:srgbClr val="00FFFF"/>
                </a:highlight>
              </a:rPr>
              <a:t>将与</a:t>
            </a:r>
            <a:r>
              <a:rPr lang="en-US" altLang="zh-CN" sz="1400">
                <a:highlight>
                  <a:srgbClr val="00FFFF"/>
                </a:highlight>
              </a:rPr>
              <a:t>Cathy/IT</a:t>
            </a:r>
            <a:r>
              <a:rPr lang="zh-CN" altLang="en-US" sz="1400">
                <a:highlight>
                  <a:srgbClr val="00FFFF"/>
                </a:highlight>
              </a:rPr>
              <a:t>团队讨论</a:t>
            </a:r>
            <a:r>
              <a:rPr lang="en-US" altLang="zh-CN" sz="1400">
                <a:highlight>
                  <a:srgbClr val="00FFFF"/>
                </a:highlight>
              </a:rPr>
              <a:t>Rounding</a:t>
            </a:r>
            <a:r>
              <a:rPr lang="zh-CN" altLang="en-US" sz="1400">
                <a:highlight>
                  <a:srgbClr val="00FFFF"/>
                </a:highlight>
              </a:rPr>
              <a:t>处理方案</a:t>
            </a:r>
            <a:endParaRPr lang="en-US" altLang="zh-CN" sz="1400">
              <a:highlight>
                <a:srgbClr val="00FFFF"/>
              </a:highlight>
            </a:endParaRPr>
          </a:p>
          <a:p>
            <a:pPr lvl="0">
              <a:lnSpc>
                <a:spcPct val="150000"/>
              </a:lnSpc>
              <a:defRPr/>
            </a:pPr>
            <a:r>
              <a:rPr lang="en-US" altLang="zh-CN" sz="1400"/>
              <a:t>                                          </a:t>
            </a:r>
            <a:r>
              <a:rPr lang="en-US" altLang="zh-CN" sz="1400">
                <a:highlight>
                  <a:srgbClr val="00FFFF"/>
                </a:highlight>
              </a:rPr>
              <a:t>4. IAAS</a:t>
            </a:r>
            <a:r>
              <a:rPr lang="zh-CN" altLang="en-US" sz="1400">
                <a:highlight>
                  <a:srgbClr val="00FFFF"/>
                </a:highlight>
              </a:rPr>
              <a:t>也要加进去，</a:t>
            </a:r>
            <a:r>
              <a:rPr lang="en-US" altLang="zh-CN" sz="1400">
                <a:highlight>
                  <a:srgbClr val="00FFFF"/>
                </a:highlight>
              </a:rPr>
              <a:t>variable charge</a:t>
            </a:r>
            <a:r>
              <a:rPr lang="zh-CN" altLang="en-US" sz="1400">
                <a:highlight>
                  <a:srgbClr val="00FFFF"/>
                </a:highlight>
              </a:rPr>
              <a:t>不在考虑范围，其他应该和</a:t>
            </a:r>
            <a:r>
              <a:rPr lang="en-US" altLang="zh-CN" sz="1400">
                <a:highlight>
                  <a:srgbClr val="00FFFF"/>
                </a:highlight>
              </a:rPr>
              <a:t>Daas</a:t>
            </a:r>
            <a:r>
              <a:rPr lang="zh-CN" altLang="en-US" sz="1400">
                <a:highlight>
                  <a:srgbClr val="00FFFF"/>
                </a:highlight>
              </a:rPr>
              <a:t>是一样的。</a:t>
            </a:r>
            <a:endParaRPr lang="en-US" altLang="zh-CN" sz="1400">
              <a:highlight>
                <a:srgbClr val="00FFFF"/>
              </a:highlight>
            </a:endParaRPr>
          </a:p>
        </p:txBody>
      </p:sp>
    </p:spTree>
    <p:extLst>
      <p:ext uri="{BB962C8B-B14F-4D97-AF65-F5344CB8AC3E}">
        <p14:creationId xmlns:p14="http://schemas.microsoft.com/office/powerpoint/2010/main" val="26721848"/>
      </p:ext>
    </p:extLst>
  </p:cSld>
  <p:clrMapOvr>
    <a:masterClrMapping/>
  </p:clrMapOvr>
  <p:transition spd="med"/>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C097AF-7FB3-579D-51D9-37BBC6358B0F}"/>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A2D2A44A-FE95-8877-83B9-2876BD1ED9FB}"/>
              </a:ext>
            </a:extLst>
          </p:cNvPr>
          <p:cNvSpPr>
            <a:spLocks noGrp="1"/>
          </p:cNvSpPr>
          <p:nvPr>
            <p:ph type="title"/>
          </p:nvPr>
        </p:nvSpPr>
        <p:spPr>
          <a:xfrm>
            <a:off x="120520" y="125832"/>
            <a:ext cx="11076268" cy="521208"/>
          </a:xfrm>
        </p:spPr>
        <p:txBody>
          <a:bodyPr/>
          <a:lstStyle/>
          <a:p>
            <a:r>
              <a:rPr lang="en-US" altLang="zh-CN"/>
              <a:t>CRs change</a:t>
            </a:r>
            <a:endParaRPr lang="zh-CN" altLang="en-US"/>
          </a:p>
        </p:txBody>
      </p:sp>
      <p:sp>
        <p:nvSpPr>
          <p:cNvPr id="4" name="灯片编号占位符 3">
            <a:extLst>
              <a:ext uri="{FF2B5EF4-FFF2-40B4-BE49-F238E27FC236}">
                <a16:creationId xmlns:a16="http://schemas.microsoft.com/office/drawing/2014/main" id="{61C0A3C6-C4DC-D9E4-E3C1-44CA07C3751A}"/>
              </a:ext>
            </a:extLst>
          </p:cNvPr>
          <p:cNvSpPr>
            <a:spLocks noGrp="1"/>
          </p:cNvSpPr>
          <p:nvPr>
            <p:ph type="sldNum" sz="quarter" idx="4"/>
          </p:nvPr>
        </p:nvSpPr>
        <p:spPr/>
        <p:txBody>
          <a:bodyPr/>
          <a:lstStyle/>
          <a:p>
            <a:fld id="{6D22F896-40B5-4ADD-8801-0D06FADFA095}" type="slidenum">
              <a:rPr lang="en-US" smtClean="0"/>
              <a:pPr/>
              <a:t>103</a:t>
            </a:fld>
            <a:endParaRPr lang="en-US"/>
          </a:p>
        </p:txBody>
      </p:sp>
      <p:graphicFrame>
        <p:nvGraphicFramePr>
          <p:cNvPr id="3" name="表格 2">
            <a:extLst>
              <a:ext uri="{FF2B5EF4-FFF2-40B4-BE49-F238E27FC236}">
                <a16:creationId xmlns:a16="http://schemas.microsoft.com/office/drawing/2014/main" id="{022F6BD5-1582-8D60-D146-D3C85A3AC052}"/>
              </a:ext>
            </a:extLst>
          </p:cNvPr>
          <p:cNvGraphicFramePr>
            <a:graphicFrameLocks noGrp="1"/>
          </p:cNvGraphicFramePr>
          <p:nvPr>
            <p:extLst>
              <p:ext uri="{D42A27DB-BD31-4B8C-83A1-F6EECF244321}">
                <p14:modId xmlns:p14="http://schemas.microsoft.com/office/powerpoint/2010/main" val="1746510160"/>
              </p:ext>
            </p:extLst>
          </p:nvPr>
        </p:nvGraphicFramePr>
        <p:xfrm>
          <a:off x="48529" y="639445"/>
          <a:ext cx="12022951" cy="5579110"/>
        </p:xfrm>
        <a:graphic>
          <a:graphicData uri="http://schemas.openxmlformats.org/drawingml/2006/table">
            <a:tbl>
              <a:tblPr>
                <a:tableStyleId>{5C22544A-7EE6-4342-B048-85BDC9FD1C3A}</a:tableStyleId>
              </a:tblPr>
              <a:tblGrid>
                <a:gridCol w="255132">
                  <a:extLst>
                    <a:ext uri="{9D8B030D-6E8A-4147-A177-3AD203B41FA5}">
                      <a16:colId xmlns:a16="http://schemas.microsoft.com/office/drawing/2014/main" val="789489278"/>
                    </a:ext>
                  </a:extLst>
                </a:gridCol>
                <a:gridCol w="1049271">
                  <a:extLst>
                    <a:ext uri="{9D8B030D-6E8A-4147-A177-3AD203B41FA5}">
                      <a16:colId xmlns:a16="http://schemas.microsoft.com/office/drawing/2014/main" val="654357592"/>
                    </a:ext>
                  </a:extLst>
                </a:gridCol>
                <a:gridCol w="1318930">
                  <a:extLst>
                    <a:ext uri="{9D8B030D-6E8A-4147-A177-3AD203B41FA5}">
                      <a16:colId xmlns:a16="http://schemas.microsoft.com/office/drawing/2014/main" val="2707911734"/>
                    </a:ext>
                  </a:extLst>
                </a:gridCol>
                <a:gridCol w="9399618">
                  <a:extLst>
                    <a:ext uri="{9D8B030D-6E8A-4147-A177-3AD203B41FA5}">
                      <a16:colId xmlns:a16="http://schemas.microsoft.com/office/drawing/2014/main" val="3376410074"/>
                    </a:ext>
                  </a:extLst>
                </a:gridCol>
              </a:tblGrid>
              <a:tr h="177800">
                <a:tc>
                  <a:txBody>
                    <a:bodyPr/>
                    <a:lstStyle/>
                    <a:p>
                      <a:pPr algn="l" fontAlgn="b">
                        <a:buNone/>
                      </a:pPr>
                      <a:r>
                        <a:rPr lang="zh-CN" sz="1200" b="1" u="none" strike="noStrike">
                          <a:effectLst/>
                        </a:rPr>
                        <a:t>No</a:t>
                      </a:r>
                      <a:endParaRPr lang="zh-CN" sz="1200" b="1"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buNone/>
                      </a:pPr>
                      <a:r>
                        <a:rPr lang="zh-CN" sz="1200" b="1" u="none" strike="noStrike">
                          <a:effectLst/>
                        </a:rPr>
                        <a:t>CRs</a:t>
                      </a:r>
                      <a:endParaRPr lang="zh-CN" sz="1200" b="1"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buNone/>
                      </a:pPr>
                      <a:r>
                        <a:rPr lang="zh-CN" sz="1200" b="1" u="none" strike="noStrike">
                          <a:effectLst/>
                        </a:rPr>
                        <a:t>Before</a:t>
                      </a:r>
                      <a:endParaRPr lang="zh-CN" sz="1200" b="1"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buNone/>
                      </a:pPr>
                      <a:r>
                        <a:rPr lang="zh-CN" sz="1200" b="1" u="none" strike="noStrike">
                          <a:effectLst/>
                        </a:rPr>
                        <a:t>Now</a:t>
                      </a:r>
                      <a:endParaRPr lang="zh-CN" sz="1200" b="1"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1865594"/>
                  </a:ext>
                </a:extLst>
              </a:tr>
              <a:tr h="505327">
                <a:tc>
                  <a:txBody>
                    <a:bodyPr/>
                    <a:lstStyle/>
                    <a:p>
                      <a:pPr algn="ctr" fontAlgn="ctr">
                        <a:buNone/>
                      </a:pPr>
                      <a:r>
                        <a:rPr lang="zh-CN" sz="1100" u="none" strike="noStrike">
                          <a:effectLst/>
                        </a:rPr>
                        <a:t>1</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buNone/>
                      </a:pPr>
                      <a:r>
                        <a:rPr lang="zh-CN" sz="1100" u="none" strike="noStrike">
                          <a:effectLst/>
                        </a:rPr>
                        <a:t>Interim Charge</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buNone/>
                      </a:pPr>
                      <a:r>
                        <a:rPr lang="zh-CN" sz="1100" u="none" strike="noStrike">
                          <a:effectLst/>
                        </a:rPr>
                        <a:t>treated as non-lease</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buNone/>
                      </a:pPr>
                      <a:r>
                        <a:rPr lang="zh-CN" sz="1100" u="none" strike="noStrike">
                          <a:effectLst/>
                        </a:rPr>
                        <a:t>a. treated as lease and leasing term from 36 to 37.5 terms</a:t>
                      </a:r>
                      <a:br>
                        <a:rPr lang="zh-CN" sz="1100" u="none" strike="noStrike">
                          <a:effectLst/>
                        </a:rPr>
                      </a:br>
                      <a:r>
                        <a:rPr lang="zh-CN" sz="1100" u="none" strike="noStrike">
                          <a:effectLst/>
                        </a:rPr>
                        <a:t>b. Lease commnece date change from 1st Month to Interim charge date, which will result in Odessa and Nexbill start time triggerred in advance and entry generated accordingly</a:t>
                      </a:r>
                      <a:br>
                        <a:rPr lang="zh-CN" sz="1100" u="none" strike="noStrike">
                          <a:effectLst/>
                        </a:rPr>
                      </a:br>
                      <a:r>
                        <a:rPr lang="zh-CN" sz="1100" u="none" strike="noStrike">
                          <a:effectLst/>
                        </a:rPr>
                        <a:t>c. add IaaS Fix charge scenarios</a:t>
                      </a:r>
                      <a:br>
                        <a:rPr lang="zh-CN" sz="1100" u="none" strike="noStrike">
                          <a:effectLst/>
                        </a:rPr>
                      </a:br>
                      <a:r>
                        <a:rPr lang="zh-CN" sz="1100" u="none" strike="noStrike">
                          <a:effectLst/>
                        </a:rPr>
                        <a:t>d. Front end should pass Interim charge amt to FA end before acceprance month end </a:t>
                      </a:r>
                      <a:br>
                        <a:rPr lang="zh-CN" sz="1100" u="none" strike="noStrike">
                          <a:effectLst/>
                        </a:rPr>
                      </a:br>
                      <a:r>
                        <a:rPr lang="zh-CN" sz="1100" u="none" strike="noStrike">
                          <a:effectLst/>
                        </a:rPr>
                        <a:t>e. if keep old logic that trigger lease after SPS, then back date should be applicable for both Odessa &amp; ESOT</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0051084"/>
                  </a:ext>
                </a:extLst>
              </a:tr>
              <a:tr h="1069274">
                <a:tc>
                  <a:txBody>
                    <a:bodyPr/>
                    <a:lstStyle/>
                    <a:p>
                      <a:pPr algn="ctr" fontAlgn="ctr">
                        <a:buNone/>
                      </a:pPr>
                      <a:r>
                        <a:rPr lang="zh-CN" sz="1100" u="none" strike="noStrike">
                          <a:effectLst/>
                        </a:rPr>
                        <a:t>2</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buNone/>
                      </a:pPr>
                      <a:r>
                        <a:rPr lang="zh-CN" sz="1100" u="none" strike="noStrike">
                          <a:effectLst/>
                        </a:rPr>
                        <a:t>Mid-term Rewrite</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buNone/>
                      </a:pPr>
                      <a:r>
                        <a:rPr lang="zh-CN" sz="1100" u="none" strike="noStrike">
                          <a:effectLst/>
                        </a:rPr>
                        <a:t>1. only enable internal funding &amp; MLA</a:t>
                      </a:r>
                      <a:br>
                        <a:rPr lang="zh-CN" sz="1100" u="none" strike="noStrike">
                          <a:effectLst/>
                        </a:rPr>
                      </a:br>
                      <a:r>
                        <a:rPr lang="zh-CN" sz="1100" u="none" strike="noStrike">
                          <a:effectLst/>
                        </a:rPr>
                        <a:t>2. no mention for the possibility that lease type will be changed after mid term rewrite</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buNone/>
                      </a:pPr>
                      <a:r>
                        <a:rPr lang="zh-CN" sz="1100" u="none" strike="noStrike">
                          <a:effectLst/>
                        </a:rPr>
                        <a:t>a. add external funding scenarios: SOR</a:t>
                      </a:r>
                      <a:br>
                        <a:rPr lang="zh-CN" sz="1100" u="none" strike="noStrike">
                          <a:effectLst/>
                        </a:rPr>
                      </a:br>
                      <a:r>
                        <a:rPr lang="zh-CN" sz="1100" u="none" strike="noStrike">
                          <a:effectLst/>
                        </a:rPr>
                        <a:t>b. Lease type can be changed after mid term Rewrite, all amt for FL/OL should be recalculated, and adjust entry should be also included when midterm rewirte active</a:t>
                      </a:r>
                      <a:br>
                        <a:rPr lang="zh-CN" sz="1100" u="none" strike="noStrike">
                          <a:effectLst/>
                        </a:rPr>
                      </a:br>
                      <a:r>
                        <a:rPr lang="zh-CN" sz="1100" u="none" strike="noStrike">
                          <a:effectLst/>
                        </a:rPr>
                        <a:t>c. since tranche keep the same after rewrite, so tag "re-write" should be pass to FA end</a:t>
                      </a:r>
                      <a:br>
                        <a:rPr lang="zh-CN" sz="1100" u="none" strike="noStrike">
                          <a:effectLst/>
                        </a:rPr>
                      </a:br>
                      <a:r>
                        <a:rPr lang="zh-CN" sz="1100" u="none" strike="noStrike">
                          <a:effectLst/>
                        </a:rPr>
                        <a:t>d. mid term rewrite EOT extension will not provide onging svc but in rewirte extesion period only provide non-funded onging svc</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377562"/>
                  </a:ext>
                </a:extLst>
              </a:tr>
              <a:tr h="177800">
                <a:tc>
                  <a:txBody>
                    <a:bodyPr/>
                    <a:lstStyle/>
                    <a:p>
                      <a:pPr marL="0" algn="ctr" defTabSz="1218621" rtl="0" eaLnBrk="1" fontAlgn="ctr" latinLnBrk="0" hangingPunct="1">
                        <a:buNone/>
                      </a:pPr>
                      <a:r>
                        <a:rPr lang="en-US" altLang="zh-CN" sz="1100" u="none" strike="noStrike" kern="1200">
                          <a:solidFill>
                            <a:schemeClr val="dk1"/>
                          </a:solidFill>
                          <a:effectLst/>
                          <a:latin typeface="+mn-lt"/>
                          <a:ea typeface="+mn-ea"/>
                          <a:cs typeface="+mn-cs"/>
                        </a:rPr>
                        <a:t>3</a:t>
                      </a:r>
                      <a:endParaRPr lang="zh-CN" altLang="en-US" sz="1100" u="none" strike="noStrike" kern="1200">
                        <a:solidFill>
                          <a:schemeClr val="dk1"/>
                        </a:solidFill>
                        <a:effectLst/>
                        <a:latin typeface="+mn-lt"/>
                        <a:ea typeface="+mn-ea"/>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1218621" rtl="0" eaLnBrk="1" fontAlgn="ctr" latinLnBrk="0" hangingPunct="1">
                        <a:buNone/>
                      </a:pPr>
                      <a:r>
                        <a:rPr lang="en-US" altLang="zh-CN" sz="1100" u="none" strike="noStrike" kern="1200">
                          <a:solidFill>
                            <a:schemeClr val="dk1"/>
                          </a:solidFill>
                          <a:effectLst/>
                          <a:latin typeface="+mn-lt"/>
                          <a:ea typeface="+mn-ea"/>
                          <a:cs typeface="+mn-cs"/>
                        </a:rPr>
                        <a:t>Structure Payment</a:t>
                      </a:r>
                      <a:endParaRPr lang="zh-CN" altLang="en-US" sz="1100" u="none" strike="noStrike" kern="1200">
                        <a:solidFill>
                          <a:schemeClr val="dk1"/>
                        </a:solidFill>
                        <a:effectLst/>
                        <a:latin typeface="+mn-lt"/>
                        <a:ea typeface="+mn-ea"/>
                        <a:cs typeface="+mn-cs"/>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zh-CN" sz="1100" u="none" strike="noStrike">
                          <a:effectLst/>
                        </a:rPr>
                        <a:t> </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buNone/>
                      </a:pPr>
                      <a:r>
                        <a:rPr lang="en-US" altLang="zh-CN" sz="1100" u="none" strike="noStrike">
                          <a:effectLst/>
                        </a:rPr>
                        <a:t>a. Need calculation for verifying Downpayment + Monthly Payment*terms = Standard  Payment * Terms</a:t>
                      </a:r>
                    </a:p>
                    <a:p>
                      <a:pPr algn="l" fontAlgn="b">
                        <a:buNone/>
                      </a:pPr>
                      <a:r>
                        <a:rPr lang="en-US" altLang="zh-CN" sz="1100" u="none" strike="noStrike">
                          <a:effectLst/>
                        </a:rPr>
                        <a:t>b. Calculating and get average payment for the amount of monthly revenue recognition.</a:t>
                      </a:r>
                    </a:p>
                    <a:p>
                      <a:pPr algn="l" fontAlgn="b">
                        <a:buNone/>
                      </a:pPr>
                      <a:r>
                        <a:rPr lang="en-US" altLang="zh-CN" sz="1100" u="none" strike="noStrike">
                          <a:effectLst/>
                        </a:rPr>
                        <a:t>c. Set a tolerance for the variance between total standard payment and structure payment, to prevent unnecessary average payment recalculation caused by rounding or small differences.</a:t>
                      </a:r>
                    </a:p>
                    <a:p>
                      <a:pPr algn="l" fontAlgn="b">
                        <a:buNone/>
                      </a:pPr>
                      <a:r>
                        <a:rPr lang="en-US" altLang="zh-CN" sz="1100" u="none" strike="noStrike">
                          <a:effectLst/>
                        </a:rPr>
                        <a:t>d. Based on the two front-end scenarios for calculating downpayment, need to use the funded / non‑funded indicators to determine which PNs' monthly revenue should be compared against deferred revenue, so that the amount to be released from deferred revenue can be recognized as immediate revenue, while non‑funded items can be recognized directly as revenue.</a:t>
                      </a:r>
                    </a:p>
                    <a:p>
                      <a:pPr algn="l" fontAlgn="b">
                        <a:buNone/>
                      </a:pPr>
                      <a:r>
                        <a:rPr lang="en-US" altLang="zh-CN" sz="1100" u="none" strike="noStrike">
                          <a:effectLst/>
                        </a:rPr>
                        <a:t>e. Considering different CMR scenarios, need to set up different GL account configurations, based on the posting requirements in accordance with accounting standards.</a:t>
                      </a:r>
                    </a:p>
                    <a:p>
                      <a:pPr algn="l" fontAlgn="b">
                        <a:buNone/>
                      </a:pPr>
                      <a:r>
                        <a:rPr lang="en-US" altLang="zh-CN" sz="1100" u="none" strike="noStrike">
                          <a:effectLst/>
                        </a:rPr>
                        <a:t>f. If invoicing is delayed during the billing process, the deferred revenue may be insufficient for offset, so we need to consider the relevant logic configuration for unbilled AR to ensure proper accounting entries.</a:t>
                      </a:r>
                    </a:p>
                    <a:p>
                      <a:pPr algn="l" fontAlgn="b">
                        <a:buNone/>
                      </a:pPr>
                      <a:r>
                        <a:rPr lang="en-US" altLang="zh-CN" sz="1100" u="none" strike="noStrike">
                          <a:effectLst/>
                        </a:rPr>
                        <a:t>g. Considering the period‑end balance of deferred revenue, positive or negative,  how to handle the corresponding accounting entries.</a:t>
                      </a:r>
                    </a:p>
                    <a:p>
                      <a:pPr algn="l" fontAlgn="b">
                        <a:buNone/>
                      </a:pPr>
                      <a:r>
                        <a:rPr lang="en-US" altLang="zh-CN" sz="1100" u="none" strike="noStrike">
                          <a:effectLst/>
                        </a:rPr>
                        <a:t>h. open: IAAS in scope or not</a:t>
                      </a:r>
                      <a:r>
                        <a:rPr lang="zh-CN" altLang="en-US" sz="1100" u="none" strike="noStrike">
                          <a:effectLst/>
                        </a:rPr>
                        <a:t>（</a:t>
                      </a:r>
                      <a:r>
                        <a:rPr lang="en-US" altLang="zh-CN" sz="1100" u="none" strike="noStrike">
                          <a:effectLst/>
                        </a:rPr>
                        <a:t>managed service</a:t>
                      </a:r>
                      <a:r>
                        <a:rPr lang="zh-CN" altLang="en-US" sz="1100" u="none" strike="noStrike">
                          <a:effectLst/>
                        </a:rPr>
                        <a:t>）</a:t>
                      </a:r>
                      <a:endParaRPr lang="en-US" altLang="zh-CN" sz="1100" u="none" strike="noStrike">
                        <a:effectLst/>
                      </a:endParaRPr>
                    </a:p>
                    <a:p>
                      <a:pPr algn="l" fontAlgn="b">
                        <a:buNone/>
                      </a:pPr>
                      <a:r>
                        <a:rPr lang="en-US" altLang="zh-CN" sz="1100" u="none" strike="noStrike">
                          <a:effectLst/>
                        </a:rPr>
                        <a:t>i. open: EOT extension's pricing rule and calculation.</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0942929"/>
                  </a:ext>
                </a:extLst>
              </a:tr>
              <a:tr h="177800">
                <a:tc>
                  <a:txBody>
                    <a:bodyPr/>
                    <a:lstStyle/>
                    <a:p>
                      <a:pPr algn="ctr" fontAlgn="ctr">
                        <a:buNone/>
                      </a:pPr>
                      <a:r>
                        <a:rPr lang="zh-CN" sz="1100" u="none" strike="noStrike">
                          <a:effectLst/>
                        </a:rPr>
                        <a:t>4</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buNone/>
                      </a:pPr>
                      <a:r>
                        <a:rPr lang="zh-CN" sz="1100" u="none" strike="noStrike">
                          <a:effectLst/>
                        </a:rPr>
                        <a:t>Advance Billing</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zh-CN" sz="1100" u="none" strike="noStrike">
                          <a:effectLst/>
                        </a:rPr>
                        <a:t> </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buNone/>
                      </a:pPr>
                      <a:r>
                        <a:rPr lang="en-US" altLang="zh-CN" sz="1100" u="none" strike="noStrike">
                          <a:effectLst/>
                        </a:rPr>
                        <a:t>a. Different invoices issue methods, consolidated or separately, affects the allocation determination for deferred revenue.</a:t>
                      </a:r>
                    </a:p>
                    <a:p>
                      <a:pPr algn="l" fontAlgn="b">
                        <a:buNone/>
                      </a:pPr>
                      <a:r>
                        <a:rPr lang="en-US" altLang="zh-CN" sz="1100" u="none" strike="noStrike">
                          <a:effectLst/>
                        </a:rPr>
                        <a:t>b. The key difference between advanced billing and the normal billing cycle is that, because the invoice is issued earlier, the timing of deferred revenue amortization must be determined based on the actual start and end dates of each month, so that revenue can be recognized in the correct accounting period.</a:t>
                      </a:r>
                      <a:endParaRPr lang="zh-CN" sz="1100" b="0" i="0" u="none" strike="noStrike">
                        <a:solidFill>
                          <a:srgbClr val="000000"/>
                        </a:solidFill>
                        <a:effectLst/>
                        <a:latin typeface="等线" panose="02010600030101010101" pitchFamily="2" charset="-122"/>
                        <a:ea typeface="等线" panose="02010600030101010101" pitchFamily="2" charset="-122"/>
                      </a:endParaRPr>
                    </a:p>
                  </a:txBody>
                  <a:tcPr marL="6350" marR="6350" marT="6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3181889"/>
                  </a:ext>
                </a:extLst>
              </a:tr>
            </a:tbl>
          </a:graphicData>
        </a:graphic>
      </p:graphicFrame>
    </p:spTree>
    <p:extLst>
      <p:ext uri="{BB962C8B-B14F-4D97-AF65-F5344CB8AC3E}">
        <p14:creationId xmlns:p14="http://schemas.microsoft.com/office/powerpoint/2010/main" val="149050698"/>
      </p:ext>
    </p:extLst>
  </p:cSld>
  <p:clrMapOvr>
    <a:masterClrMapping/>
  </p:clrMapOvr>
  <p:transition spd="med"/>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DCE352A-BE85-0420-649A-F8ED45148E10}"/>
              </a:ext>
            </a:extLst>
          </p:cNvPr>
          <p:cNvSpPr txBox="1">
            <a:spLocks/>
          </p:cNvSpPr>
          <p:nvPr/>
        </p:nvSpPr>
        <p:spPr>
          <a:xfrm>
            <a:off x="159793" y="69669"/>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Aptos Display" panose="020F0302020204030204"/>
                <a:ea typeface="+mj-ea"/>
                <a:cs typeface="+mj-cs"/>
              </a:rPr>
              <a:t>Key Scope and Assumption in </a:t>
            </a:r>
            <a:r>
              <a:rPr kumimoji="0" lang="en-US" sz="2800" b="1" i="0" u="none" strike="noStrike" kern="1200" cap="none" spc="0" normalizeH="0" baseline="0" noProof="0" err="1">
                <a:ln>
                  <a:noFill/>
                </a:ln>
                <a:solidFill>
                  <a:prstClr val="black"/>
                </a:solidFill>
                <a:effectLst/>
                <a:uLnTx/>
                <a:uFillTx/>
                <a:latin typeface="Aptos Display" panose="020F0302020204030204"/>
                <a:ea typeface="+mj-ea"/>
                <a:cs typeface="+mj-cs"/>
              </a:rPr>
              <a:t>Nexbill</a:t>
            </a:r>
            <a:endParaRPr kumimoji="0" lang="en-US" sz="3600" b="1" i="0" u="none" strike="noStrike" kern="1200" cap="none" spc="0" normalizeH="0" baseline="0" noProof="0">
              <a:ln>
                <a:noFill/>
              </a:ln>
              <a:solidFill>
                <a:prstClr val="black"/>
              </a:solidFill>
              <a:effectLst/>
              <a:uLnTx/>
              <a:uFillTx/>
              <a:latin typeface="Aptos Display" panose="020F0302020204030204"/>
              <a:ea typeface="+mj-ea"/>
              <a:cs typeface="+mj-cs"/>
            </a:endParaRPr>
          </a:p>
        </p:txBody>
      </p:sp>
      <p:graphicFrame>
        <p:nvGraphicFramePr>
          <p:cNvPr id="5" name="Table 5">
            <a:extLst>
              <a:ext uri="{FF2B5EF4-FFF2-40B4-BE49-F238E27FC236}">
                <a16:creationId xmlns:a16="http://schemas.microsoft.com/office/drawing/2014/main" id="{6C79FB8C-1DDB-D111-A04A-9EBABB3D81F2}"/>
              </a:ext>
            </a:extLst>
          </p:cNvPr>
          <p:cNvGraphicFramePr>
            <a:graphicFrameLocks noGrp="1"/>
          </p:cNvGraphicFramePr>
          <p:nvPr>
            <p:extLst>
              <p:ext uri="{D42A27DB-BD31-4B8C-83A1-F6EECF244321}">
                <p14:modId xmlns:p14="http://schemas.microsoft.com/office/powerpoint/2010/main" val="835381874"/>
              </p:ext>
            </p:extLst>
          </p:nvPr>
        </p:nvGraphicFramePr>
        <p:xfrm>
          <a:off x="258679" y="691728"/>
          <a:ext cx="11773528" cy="2733040"/>
        </p:xfrm>
        <a:graphic>
          <a:graphicData uri="http://schemas.openxmlformats.org/drawingml/2006/table">
            <a:tbl>
              <a:tblPr firstRow="1" bandRow="1">
                <a:tableStyleId>{5C22544A-7EE6-4342-B048-85BDC9FD1C3A}</a:tableStyleId>
              </a:tblPr>
              <a:tblGrid>
                <a:gridCol w="524381">
                  <a:extLst>
                    <a:ext uri="{9D8B030D-6E8A-4147-A177-3AD203B41FA5}">
                      <a16:colId xmlns:a16="http://schemas.microsoft.com/office/drawing/2014/main" val="590487580"/>
                    </a:ext>
                  </a:extLst>
                </a:gridCol>
                <a:gridCol w="1160040">
                  <a:extLst>
                    <a:ext uri="{9D8B030D-6E8A-4147-A177-3AD203B41FA5}">
                      <a16:colId xmlns:a16="http://schemas.microsoft.com/office/drawing/2014/main" val="3195040165"/>
                    </a:ext>
                  </a:extLst>
                </a:gridCol>
                <a:gridCol w="10089107">
                  <a:extLst>
                    <a:ext uri="{9D8B030D-6E8A-4147-A177-3AD203B41FA5}">
                      <a16:colId xmlns:a16="http://schemas.microsoft.com/office/drawing/2014/main" val="3020975192"/>
                    </a:ext>
                  </a:extLst>
                </a:gridCol>
              </a:tblGrid>
              <a:tr h="370840">
                <a:tc>
                  <a:txBody>
                    <a:bodyPr/>
                    <a:lstStyle/>
                    <a:p>
                      <a:pPr algn="ctr"/>
                      <a:r>
                        <a:rPr lang="en-US" sz="1400"/>
                        <a:t>No</a:t>
                      </a:r>
                    </a:p>
                  </a:txBody>
                  <a:tcPr anchor="ctr"/>
                </a:tc>
                <a:tc>
                  <a:txBody>
                    <a:bodyPr/>
                    <a:lstStyle/>
                    <a:p>
                      <a:r>
                        <a:rPr lang="en-US" sz="1400"/>
                        <a:t>C</a:t>
                      </a:r>
                      <a:r>
                        <a:rPr lang="en-US" altLang="zh-CN" sz="1400"/>
                        <a:t>ategory</a:t>
                      </a:r>
                      <a:endParaRPr lang="en-US" sz="1400"/>
                    </a:p>
                  </a:txBody>
                  <a:tcPr anchor="ctr"/>
                </a:tc>
                <a:tc>
                  <a:txBody>
                    <a:bodyPr/>
                    <a:lstStyle/>
                    <a:p>
                      <a:r>
                        <a:rPr lang="en-US" sz="1400"/>
                        <a:t>Description</a:t>
                      </a:r>
                    </a:p>
                  </a:txBody>
                  <a:tcPr anchor="ctr"/>
                </a:tc>
                <a:extLst>
                  <a:ext uri="{0D108BD9-81ED-4DB2-BD59-A6C34878D82A}">
                    <a16:rowId xmlns:a16="http://schemas.microsoft.com/office/drawing/2014/main" val="3093137312"/>
                  </a:ext>
                </a:extLst>
              </a:tr>
              <a:tr h="370840">
                <a:tc>
                  <a:txBody>
                    <a:bodyPr/>
                    <a:lstStyle/>
                    <a:p>
                      <a:pPr algn="ctr"/>
                      <a:r>
                        <a:rPr lang="en-US" sz="1400"/>
                        <a:t>1</a:t>
                      </a:r>
                    </a:p>
                  </a:txBody>
                  <a:tcPr anchor="ctr"/>
                </a:tc>
                <a:tc>
                  <a:txBody>
                    <a:bodyPr/>
                    <a:lstStyle/>
                    <a:p>
                      <a:r>
                        <a:rPr lang="en-US" sz="1400"/>
                        <a:t>Scope</a:t>
                      </a:r>
                    </a:p>
                  </a:txBody>
                  <a:tcPr anchor="ctr"/>
                </a:tc>
                <a:tc>
                  <a:txBody>
                    <a:bodyPr/>
                    <a:lstStyle/>
                    <a:p>
                      <a:pPr marL="171450" indent="-171450">
                        <a:buFont typeface="Arial" panose="020B0604020202020204" pitchFamily="34" charset="0"/>
                        <a:buChar char="•"/>
                      </a:pPr>
                      <a:r>
                        <a:rPr lang="en-US" sz="1400"/>
                        <a:t>Countries: as-is EAAS enabled AP/EMEA/NA countries, LA will be considered along with EAAS rollout</a:t>
                      </a:r>
                    </a:p>
                    <a:p>
                      <a:pPr marL="171450" indent="-171450">
                        <a:buFont typeface="Arial" panose="020B0604020202020204" pitchFamily="34" charset="0"/>
                        <a:buChar char="•"/>
                      </a:pPr>
                      <a:r>
                        <a:rPr lang="en-US" sz="1400"/>
                        <a:t>Model: S&amp;D/AFE/AFE Hub/</a:t>
                      </a:r>
                      <a:r>
                        <a:rPr lang="en-US" sz="1400" strike="sngStrike"/>
                        <a:t>Central Billing</a:t>
                      </a:r>
                    </a:p>
                    <a:p>
                      <a:pPr marL="171450" indent="-171450">
                        <a:buFont typeface="Arial" panose="020B0604020202020204" pitchFamily="34" charset="0"/>
                        <a:buChar char="•"/>
                      </a:pPr>
                      <a:r>
                        <a:rPr lang="en-US" sz="1400"/>
                        <a:t>Offering: DaaS/IaaS/ISGLEASE/Managed Capex</a:t>
                      </a:r>
                    </a:p>
                  </a:txBody>
                  <a:tcPr anchor="ctr"/>
                </a:tc>
                <a:extLst>
                  <a:ext uri="{0D108BD9-81ED-4DB2-BD59-A6C34878D82A}">
                    <a16:rowId xmlns:a16="http://schemas.microsoft.com/office/drawing/2014/main" val="4079242787"/>
                  </a:ext>
                </a:extLst>
              </a:tr>
              <a:tr h="370840">
                <a:tc>
                  <a:txBody>
                    <a:bodyPr/>
                    <a:lstStyle/>
                    <a:p>
                      <a:pPr algn="ctr"/>
                      <a:r>
                        <a:rPr lang="en-US" sz="1400"/>
                        <a:t>2</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Scope</a:t>
                      </a:r>
                    </a:p>
                  </a:txBody>
                  <a:tcPr anchor="ct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prstClr val="black"/>
                          </a:solidFill>
                          <a:effectLst/>
                          <a:uLnTx/>
                          <a:uFillTx/>
                          <a:latin typeface="+mn-lt"/>
                          <a:ea typeface="+mn-ea"/>
                          <a:cs typeface="+mn-cs"/>
                        </a:rPr>
                        <a:t>As-is in ECC/S4: </a:t>
                      </a:r>
                      <a:r>
                        <a:rPr kumimoji="0" lang="en-US" sz="1400" b="0" i="0" u="none" strike="noStrike" kern="1200" cap="none" spc="0" normalizeH="0" baseline="0">
                          <a:ln>
                            <a:noFill/>
                          </a:ln>
                          <a:solidFill>
                            <a:prstClr val="black"/>
                          </a:solidFill>
                          <a:effectLst/>
                          <a:uLnTx/>
                          <a:uFillTx/>
                          <a:latin typeface="+mn-lt"/>
                          <a:ea typeface="+mn-ea"/>
                          <a:cs typeface="+mn-cs"/>
                        </a:rPr>
                        <a:t>Origination Fee / Penalty(Miss SLA CMR) / Syndication(Full sale/SOR) / Asset Remarking / Managed Capex HW portion / Property Tax</a:t>
                      </a:r>
                      <a:endParaRPr kumimoji="0" lang="en-US" sz="1400" b="0" i="0" u="none" strike="noStrike" kern="1200" cap="none" spc="0" normalizeH="0" baseline="0" noProof="0">
                        <a:ln>
                          <a:noFill/>
                        </a:ln>
                        <a:solidFill>
                          <a:prstClr val="black"/>
                        </a:solidFill>
                        <a:effectLst/>
                        <a:uLnTx/>
                        <a:uFillTx/>
                        <a:latin typeface="+mn-lt"/>
                        <a:ea typeface="+mn-ea"/>
                        <a:cs typeface="+mn-cs"/>
                      </a:endParaRPr>
                    </a:p>
                  </a:txBody>
                  <a:tcPr anchor="ctr"/>
                </a:tc>
                <a:extLst>
                  <a:ext uri="{0D108BD9-81ED-4DB2-BD59-A6C34878D82A}">
                    <a16:rowId xmlns:a16="http://schemas.microsoft.com/office/drawing/2014/main" val="276218728"/>
                  </a:ext>
                </a:extLst>
              </a:tr>
              <a:tr h="370840">
                <a:tc>
                  <a:txBody>
                    <a:bodyPr/>
                    <a:lstStyle/>
                    <a:p>
                      <a:pPr algn="ctr"/>
                      <a:r>
                        <a:rPr lang="en-US" sz="1400"/>
                        <a:t>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a:t>All assumptions from the as-is scenario BSR session shall be followed.</a:t>
                      </a:r>
                    </a:p>
                  </a:txBody>
                  <a:tcPr anchor="ctr"/>
                </a:tc>
                <a:extLst>
                  <a:ext uri="{0D108BD9-81ED-4DB2-BD59-A6C34878D82A}">
                    <a16:rowId xmlns:a16="http://schemas.microsoft.com/office/drawing/2014/main" val="3200209679"/>
                  </a:ext>
                </a:extLst>
              </a:tr>
              <a:tr h="370840">
                <a:tc>
                  <a:txBody>
                    <a:bodyPr/>
                    <a:lstStyle/>
                    <a:p>
                      <a:pPr algn="ctr"/>
                      <a:r>
                        <a:rPr lang="en-US" sz="1400"/>
                        <a:t>4</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a:t>
                      </a:r>
                      <a:r>
                        <a:rPr kumimoji="0" lang="en-US" altLang="zh-CN" sz="1400" b="0" i="0" u="none" strike="noStrike" kern="1200" cap="none" spc="0" normalizeH="0" baseline="0" noProof="0">
                          <a:ln>
                            <a:noFill/>
                          </a:ln>
                          <a:solidFill>
                            <a:prstClr val="black"/>
                          </a:solidFill>
                          <a:effectLst/>
                          <a:uLnTx/>
                          <a:uFillTx/>
                          <a:latin typeface="Aptos" panose="020B0004020202020204"/>
                          <a:ea typeface="+mn-ea"/>
                          <a:cs typeface="+mn-cs"/>
                        </a:rPr>
                        <a:t>ssumption</a:t>
                      </a:r>
                      <a:endParaRPr kumimoji="0" lang="en-US" sz="1400" b="0" i="0" u="none" strike="noStrike" kern="1200" cap="none" spc="0" normalizeH="0" baseline="0" noProof="0">
                        <a:ln>
                          <a:noFill/>
                        </a:ln>
                        <a:solidFill>
                          <a:prstClr val="black"/>
                        </a:solidFill>
                        <a:effectLst/>
                        <a:uLnTx/>
                        <a:uFillTx/>
                        <a:latin typeface="Aptos" panose="020B0004020202020204"/>
                        <a:ea typeface="+mn-ea"/>
                        <a:cs typeface="+mn-cs"/>
                      </a:endParaRP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The posting header text and header reference Key 2 as “DAAS”,”IAAS”,“ISGLEASE”​, “MSAAS”</a:t>
                      </a:r>
                    </a:p>
                  </a:txBody>
                  <a:tcPr anchor="ctr"/>
                </a:tc>
                <a:extLst>
                  <a:ext uri="{0D108BD9-81ED-4DB2-BD59-A6C34878D82A}">
                    <a16:rowId xmlns:a16="http://schemas.microsoft.com/office/drawing/2014/main" val="3041191279"/>
                  </a:ext>
                </a:extLst>
              </a:tr>
              <a:tr h="370840">
                <a:tc>
                  <a:txBody>
                    <a:bodyPr/>
                    <a:lstStyle/>
                    <a:p>
                      <a:pPr algn="ctr"/>
                      <a:r>
                        <a:rPr lang="en-US" sz="1400"/>
                        <a:t>5</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a:ln>
                            <a:noFill/>
                          </a:ln>
                          <a:solidFill>
                            <a:prstClr val="black"/>
                          </a:solidFill>
                          <a:effectLst/>
                          <a:uLnTx/>
                          <a:uFillTx/>
                          <a:latin typeface="+mn-lt"/>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PN follow as-is rule </a:t>
                      </a:r>
                    </a:p>
                  </a:txBody>
                  <a:tcPr anchor="ctr"/>
                </a:tc>
                <a:extLst>
                  <a:ext uri="{0D108BD9-81ED-4DB2-BD59-A6C34878D82A}">
                    <a16:rowId xmlns:a16="http://schemas.microsoft.com/office/drawing/2014/main" val="2774262706"/>
                  </a:ext>
                </a:extLst>
              </a:tr>
            </a:tbl>
          </a:graphicData>
        </a:graphic>
      </p:graphicFrame>
    </p:spTree>
    <p:extLst>
      <p:ext uri="{BB962C8B-B14F-4D97-AF65-F5344CB8AC3E}">
        <p14:creationId xmlns:p14="http://schemas.microsoft.com/office/powerpoint/2010/main" val="1821667604"/>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838275-6465-28D8-66C0-F48F57B55925}"/>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F895771C-42CC-416D-2918-F1202BCC49FE}"/>
              </a:ext>
            </a:extLst>
          </p:cNvPr>
          <p:cNvSpPr txBox="1">
            <a:spLocks/>
          </p:cNvSpPr>
          <p:nvPr/>
        </p:nvSpPr>
        <p:spPr>
          <a:xfrm>
            <a:off x="371008" y="181587"/>
            <a:ext cx="1105899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32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NexBill Function Summary – CAEPX &amp; On Demand Billing</a:t>
            </a:r>
          </a:p>
        </p:txBody>
      </p:sp>
      <p:graphicFrame>
        <p:nvGraphicFramePr>
          <p:cNvPr id="2" name="表格 1">
            <a:extLst>
              <a:ext uri="{FF2B5EF4-FFF2-40B4-BE49-F238E27FC236}">
                <a16:creationId xmlns:a16="http://schemas.microsoft.com/office/drawing/2014/main" id="{06E6C2D4-B7A4-A277-427A-1C5B026C018E}"/>
              </a:ext>
            </a:extLst>
          </p:cNvPr>
          <p:cNvGraphicFramePr>
            <a:graphicFrameLocks noGrp="1"/>
          </p:cNvGraphicFramePr>
          <p:nvPr>
            <p:extLst>
              <p:ext uri="{D42A27DB-BD31-4B8C-83A1-F6EECF244321}">
                <p14:modId xmlns:p14="http://schemas.microsoft.com/office/powerpoint/2010/main" val="1636542727"/>
              </p:ext>
            </p:extLst>
          </p:nvPr>
        </p:nvGraphicFramePr>
        <p:xfrm>
          <a:off x="507992" y="2093868"/>
          <a:ext cx="11361090" cy="5283544"/>
        </p:xfrm>
        <a:graphic>
          <a:graphicData uri="http://schemas.openxmlformats.org/drawingml/2006/table">
            <a:tbl>
              <a:tblPr firstRow="1">
                <a:tableStyleId>{74C1A8A3-306A-4EB7-A6B1-4F7E0EB9C5D6}</a:tableStyleId>
              </a:tblPr>
              <a:tblGrid>
                <a:gridCol w="805274">
                  <a:extLst>
                    <a:ext uri="{9D8B030D-6E8A-4147-A177-3AD203B41FA5}">
                      <a16:colId xmlns:a16="http://schemas.microsoft.com/office/drawing/2014/main" val="953196418"/>
                    </a:ext>
                  </a:extLst>
                </a:gridCol>
                <a:gridCol w="936019">
                  <a:extLst>
                    <a:ext uri="{9D8B030D-6E8A-4147-A177-3AD203B41FA5}">
                      <a16:colId xmlns:a16="http://schemas.microsoft.com/office/drawing/2014/main" val="2244213570"/>
                    </a:ext>
                  </a:extLst>
                </a:gridCol>
                <a:gridCol w="1478531">
                  <a:extLst>
                    <a:ext uri="{9D8B030D-6E8A-4147-A177-3AD203B41FA5}">
                      <a16:colId xmlns:a16="http://schemas.microsoft.com/office/drawing/2014/main" val="4124519731"/>
                    </a:ext>
                  </a:extLst>
                </a:gridCol>
                <a:gridCol w="1178492">
                  <a:extLst>
                    <a:ext uri="{9D8B030D-6E8A-4147-A177-3AD203B41FA5}">
                      <a16:colId xmlns:a16="http://schemas.microsoft.com/office/drawing/2014/main" val="1459619961"/>
                    </a:ext>
                  </a:extLst>
                </a:gridCol>
                <a:gridCol w="1178492">
                  <a:extLst>
                    <a:ext uri="{9D8B030D-6E8A-4147-A177-3AD203B41FA5}">
                      <a16:colId xmlns:a16="http://schemas.microsoft.com/office/drawing/2014/main" val="1934421907"/>
                    </a:ext>
                  </a:extLst>
                </a:gridCol>
                <a:gridCol w="1178492">
                  <a:extLst>
                    <a:ext uri="{9D8B030D-6E8A-4147-A177-3AD203B41FA5}">
                      <a16:colId xmlns:a16="http://schemas.microsoft.com/office/drawing/2014/main" val="3794596056"/>
                    </a:ext>
                  </a:extLst>
                </a:gridCol>
                <a:gridCol w="1774283">
                  <a:extLst>
                    <a:ext uri="{9D8B030D-6E8A-4147-A177-3AD203B41FA5}">
                      <a16:colId xmlns:a16="http://schemas.microsoft.com/office/drawing/2014/main" val="2350443656"/>
                    </a:ext>
                  </a:extLst>
                </a:gridCol>
                <a:gridCol w="2831507">
                  <a:extLst>
                    <a:ext uri="{9D8B030D-6E8A-4147-A177-3AD203B41FA5}">
                      <a16:colId xmlns:a16="http://schemas.microsoft.com/office/drawing/2014/main" val="4039408740"/>
                    </a:ext>
                  </a:extLst>
                </a:gridCol>
              </a:tblGrid>
              <a:tr h="342347">
                <a:tc>
                  <a:txBody>
                    <a:bodyPr/>
                    <a:lstStyle/>
                    <a:p>
                      <a:pPr algn="l" fontAlgn="b"/>
                      <a:r>
                        <a:rPr lang="en-US" sz="12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Request No.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2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Billing Type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2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Billing Type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2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Account</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2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Status</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2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Billing Method</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2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Model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US" sz="12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Reference PN / Comment</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063103"/>
                  </a:ext>
                </a:extLst>
              </a:tr>
              <a:tr h="279572">
                <a:tc>
                  <a:txBody>
                    <a:bodyPr/>
                    <a:lstStyle/>
                    <a:p>
                      <a:pPr algn="ctr" fontAlgn="ct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1</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algn="l" fontAlgn="ct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Recurring Billing</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Recurring Customer Invoice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endPar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Included in as-is scenario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Manual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fontAlgn="ctr">
                        <a:buFont typeface="Arial" panose="020B0604020202020204" pitchFamily="34" charset="0"/>
                        <a:buNone/>
                      </a:pPr>
                      <a:r>
                        <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S&amp;D Model and 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800">
                          <a:solidFill>
                            <a:schemeClr val="tx1"/>
                          </a:solidFill>
                          <a:effectLst/>
                          <a:latin typeface="Lato" panose="020F0502020204030203" pitchFamily="34" charset="0"/>
                          <a:ea typeface="Lato" panose="020F0502020204030203" pitchFamily="34" charset="0"/>
                          <a:cs typeface="Lato" panose="020F0502020204030203" pitchFamily="34" charset="0"/>
                        </a:rPr>
                        <a:t>5MS1D22401: </a:t>
                      </a:r>
                      <a:r>
                        <a:rPr lang="en-US" altLang="zh-CN" sz="800">
                          <a:solidFill>
                            <a:schemeClr val="tx1"/>
                          </a:solidFill>
                          <a:latin typeface="Lato" panose="020F0502020204030203" pitchFamily="34" charset="0"/>
                          <a:ea typeface="Lato" panose="020F0502020204030203" pitchFamily="34" charset="0"/>
                          <a:cs typeface="Lato" panose="020F0502020204030203" pitchFamily="34" charset="0"/>
                        </a:rPr>
                        <a:t>Lease of Equipment Fee</a:t>
                      </a:r>
                      <a:endParaRPr lang="en-US" altLang="zh-CN" sz="800">
                        <a:solidFill>
                          <a:schemeClr val="tx1"/>
                        </a:solidFill>
                        <a:effectLst/>
                        <a:latin typeface="Lato" panose="020F0502020204030203" pitchFamily="34" charset="0"/>
                        <a:ea typeface="Lato" panose="020F0502020204030203" pitchFamily="34" charset="0"/>
                        <a:cs typeface="Lato" panose="020F0502020204030203" pitchFamily="34" charset="0"/>
                      </a:endParaRPr>
                    </a:p>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800">
                          <a:solidFill>
                            <a:schemeClr val="tx1"/>
                          </a:solidFill>
                          <a:latin typeface="Lato" panose="020F0502020204030203" pitchFamily="34" charset="0"/>
                          <a:ea typeface="Lato" panose="020F0502020204030203" pitchFamily="34" charset="0"/>
                          <a:cs typeface="Lato" panose="020F0502020204030203" pitchFamily="34" charset="0"/>
                        </a:rPr>
                        <a:t>5MS1D10005: MANAGED Service Management</a:t>
                      </a:r>
                      <a:endParaRPr lang="en-US" altLang="zh-CN" sz="800">
                        <a:solidFill>
                          <a:schemeClr val="tx1"/>
                        </a:solidFill>
                        <a:effectLst/>
                        <a:latin typeface="Lato" panose="020F0502020204030203" pitchFamily="34" charset="0"/>
                        <a:ea typeface="Lato" panose="020F0502020204030203" pitchFamily="34" charset="0"/>
                        <a:cs typeface="Lato" panose="020F0502020204030203" pitchFamily="34" charset="0"/>
                      </a:endParaRPr>
                    </a:p>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800">
                          <a:solidFill>
                            <a:schemeClr val="tx1"/>
                          </a:solidFill>
                          <a:effectLst/>
                          <a:latin typeface="Lato" panose="020F0502020204030203" pitchFamily="34" charset="0"/>
                          <a:ea typeface="Lato" panose="020F0502020204030203" pitchFamily="34" charset="0"/>
                          <a:cs typeface="Lato" panose="020F0502020204030203" pitchFamily="34" charset="0"/>
                        </a:rPr>
                        <a:t>Order</a:t>
                      </a:r>
                      <a:r>
                        <a:rPr lang="zh-CN" altLang="en-US" sz="800">
                          <a:solidFill>
                            <a:schemeClr val="tx1"/>
                          </a:solidFill>
                          <a:effectLst/>
                          <a:latin typeface="Lato" panose="020F0502020204030203" pitchFamily="34" charset="0"/>
                          <a:ea typeface="Lato" panose="020F0502020204030203" pitchFamily="34" charset="0"/>
                          <a:cs typeface="Lato" panose="020F0502020204030203" pitchFamily="34" charset="0"/>
                        </a:rPr>
                        <a:t> </a:t>
                      </a:r>
                      <a:r>
                        <a:rPr lang="en-US" altLang="zh-CN" sz="800">
                          <a:solidFill>
                            <a:schemeClr val="tx1"/>
                          </a:solidFill>
                          <a:effectLst/>
                          <a:latin typeface="Lato" panose="020F0502020204030203" pitchFamily="34" charset="0"/>
                          <a:ea typeface="Lato" panose="020F0502020204030203" pitchFamily="34" charset="0"/>
                          <a:cs typeface="Lato" panose="020F0502020204030203" pitchFamily="34" charset="0"/>
                        </a:rPr>
                        <a:t>Reason: ES8(FL) ESS(OL) EST(ICO)</a:t>
                      </a:r>
                    </a:p>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800">
                          <a:solidFill>
                            <a:schemeClr val="accent1"/>
                          </a:solidFill>
                          <a:effectLst/>
                          <a:latin typeface="Lato" panose="020F0502020204030203" pitchFamily="34" charset="0"/>
                          <a:ea typeface="Lato" panose="020F0502020204030203" pitchFamily="34" charset="0"/>
                          <a:cs typeface="Lato" panose="020F0502020204030203" pitchFamily="34" charset="0"/>
                        </a:rPr>
                        <a:t>Need Remark</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09748309"/>
                  </a:ext>
                </a:extLst>
              </a:tr>
              <a:tr h="279572">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2</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1218621" rtl="0" eaLnBrk="1" fontAlgn="b" latinLnBrk="0" hangingPunct="1">
                        <a:lnSpc>
                          <a:spcPct val="100000"/>
                        </a:lnSpc>
                        <a:spcBef>
                          <a:spcPts val="0"/>
                        </a:spcBef>
                        <a:spcAft>
                          <a:spcPts val="0"/>
                        </a:spcAft>
                        <a:buClrTx/>
                        <a:buSzTx/>
                        <a:buFontTx/>
                        <a:buNone/>
                        <a:tabLst/>
                        <a:defRPr/>
                      </a:pPr>
                      <a:endPar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Recurring ICO Invoice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a:p>
                  </a:txBody>
                  <a:tcPr/>
                </a:tc>
                <a:tc vMerge="1">
                  <a:txBody>
                    <a:bodyPr/>
                    <a:lstStyle/>
                    <a:p>
                      <a:pPr algn="l" fontAlgn="ctr"/>
                      <a:endPar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AFE Model; Between S&amp;D and AFE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algn="l" fontAlgn="ctr"/>
                      <a:endParaRPr lang="en-US" altLang="zh-CN"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72741185"/>
                  </a:ext>
                </a:extLst>
              </a:tr>
              <a:tr h="352205">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3</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11">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One Time Billing</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Origination Fee Invoice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5010451</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Covered in new scenario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Manual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S&amp;D Model and 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fontAlgn="ctr">
                        <a:buFont typeface="Arial" panose="020B0604020202020204" pitchFamily="34" charset="0"/>
                        <a:buNone/>
                      </a:pPr>
                      <a:r>
                        <a:rPr lang="en-US" altLang="zh-CN"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5MS1C82123: MANAGED Daas Origination Fee</a:t>
                      </a:r>
                    </a:p>
                    <a:p>
                      <a:pPr marL="0" indent="0" algn="l" fontAlgn="ctr">
                        <a:buFont typeface="Arial" panose="020B0604020202020204" pitchFamily="34" charset="0"/>
                        <a:buNone/>
                      </a:pPr>
                      <a:r>
                        <a:rPr lang="en-US" altLang="zh-CN"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Order Reason: OFR</a:t>
                      </a:r>
                    </a:p>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800">
                          <a:solidFill>
                            <a:schemeClr val="accent1"/>
                          </a:solidFill>
                          <a:effectLst/>
                          <a:latin typeface="Lato" panose="020F0502020204030203" pitchFamily="34" charset="0"/>
                          <a:ea typeface="Lato" panose="020F0502020204030203" pitchFamily="34" charset="0"/>
                          <a:cs typeface="Lato" panose="020F0502020204030203" pitchFamily="34" charset="0"/>
                        </a:rPr>
                        <a:t>Need Remark</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38123564"/>
                  </a:ext>
                </a:extLst>
              </a:tr>
              <a:tr h="352205">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4</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1218621" rtl="0" eaLnBrk="1" fontAlgn="b" latinLnBrk="0" hangingPunct="1">
                        <a:lnSpc>
                          <a:spcPct val="100000"/>
                        </a:lnSpc>
                        <a:spcBef>
                          <a:spcPts val="0"/>
                        </a:spcBef>
                        <a:spcAft>
                          <a:spcPts val="0"/>
                        </a:spcAft>
                        <a:buClrTx/>
                        <a:buSzTx/>
                        <a:buFontTx/>
                        <a:buNone/>
                        <a:tabLst/>
                        <a:defRPr/>
                      </a:pPr>
                      <a:endPar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Property Tax Invoice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2289903</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Covered in new scenario</a:t>
                      </a:r>
                    </a:p>
                    <a:p>
                      <a:pPr marL="0" marR="0" lvl="0" indent="0" algn="l" defTabSz="1218621" rtl="0" eaLnBrk="1" fontAlgn="ctr" latinLnBrk="0" hangingPunct="1">
                        <a:lnSpc>
                          <a:spcPct val="100000"/>
                        </a:lnSpc>
                        <a:spcBef>
                          <a:spcPts val="0"/>
                        </a:spcBef>
                        <a:spcAft>
                          <a:spcPts val="0"/>
                        </a:spcAft>
                        <a:buClrTx/>
                        <a:buSzTx/>
                        <a:buFontTx/>
                        <a:buNone/>
                        <a:tabLst/>
                        <a:defRPr/>
                      </a:pPr>
                      <a:endPar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Manual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S&amp;D Model and 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5MS1H89991: MANAGED US Property Tax Invoice DaaS</a:t>
                      </a:r>
                    </a:p>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Order Reason: PTX</a:t>
                      </a:r>
                    </a:p>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800">
                          <a:solidFill>
                            <a:schemeClr val="accent1"/>
                          </a:solidFill>
                          <a:effectLst/>
                          <a:latin typeface="Lato" panose="020F0502020204030203" pitchFamily="34" charset="0"/>
                          <a:ea typeface="Lato" panose="020F0502020204030203" pitchFamily="34" charset="0"/>
                          <a:cs typeface="Lato" panose="020F0502020204030203" pitchFamily="34" charset="0"/>
                        </a:rPr>
                        <a:t>Need Remark</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64524806"/>
                  </a:ext>
                </a:extLst>
              </a:tr>
              <a:tr h="279572">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Penalty Invoice (Credit)</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5010401(service PN)</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Covered in new scenario</a:t>
                      </a:r>
                    </a:p>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endPar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Manual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S&amp;D Model and 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fontAlgn="ctr">
                        <a:buFont typeface="Arial" panose="020B0604020202020204" pitchFamily="34" charset="0"/>
                        <a:buNone/>
                      </a:pP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Real Service PN (Need to change the description - </a:t>
                      </a:r>
                      <a:r>
                        <a:rPr lang="en-US" altLang="zh-CN"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Service Credit</a:t>
                      </a: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 )</a:t>
                      </a:r>
                    </a:p>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800">
                          <a:solidFill>
                            <a:schemeClr val="accent1"/>
                          </a:solidFill>
                          <a:effectLst/>
                          <a:latin typeface="Lato" panose="020F0502020204030203" pitchFamily="34" charset="0"/>
                          <a:ea typeface="Lato" panose="020F0502020204030203" pitchFamily="34" charset="0"/>
                          <a:cs typeface="Lato" panose="020F0502020204030203" pitchFamily="34" charset="0"/>
                        </a:rPr>
                        <a:t>Need Remark</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63148680"/>
                  </a:ext>
                </a:extLst>
              </a:tr>
              <a:tr h="279572">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6</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Penalty ICO Invoice (Credit)</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1CC"/>
                    </a:solidFill>
                  </a:tcPr>
                </a:tc>
                <a:tc vMerge="1">
                  <a:txBody>
                    <a:bodyPr/>
                    <a:lstStyle/>
                    <a:p>
                      <a:endParaRPr lang="zh-CN" altLang="en-US"/>
                    </a:p>
                  </a:txBody>
                  <a:tcPr/>
                </a:tc>
                <a:tc vMerge="1">
                  <a:txBody>
                    <a:bodyPr/>
                    <a:lstStyle/>
                    <a:p>
                      <a:endParaRPr lang="zh-CN" altLang="en-US"/>
                    </a:p>
                  </a:txBody>
                  <a:tcPr/>
                </a:tc>
                <a:tc vMerge="1">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endPar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AFE Model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fontAlgn="ctr">
                        <a:buFont typeface="Arial" panose="020B0604020202020204" pitchFamily="34" charset="0"/>
                        <a:buNone/>
                      </a:pP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Real Service PN (Need to change the description - </a:t>
                      </a:r>
                      <a:r>
                        <a:rPr lang="en-US" altLang="zh-CN"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Service Credit</a:t>
                      </a: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t>
                      </a:r>
                    </a:p>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800">
                          <a:solidFill>
                            <a:schemeClr val="accent1"/>
                          </a:solidFill>
                          <a:effectLst/>
                          <a:latin typeface="Lato" panose="020F0502020204030203" pitchFamily="34" charset="0"/>
                          <a:ea typeface="Lato" panose="020F0502020204030203" pitchFamily="34" charset="0"/>
                          <a:cs typeface="Lato" panose="020F0502020204030203" pitchFamily="34" charset="0"/>
                        </a:rPr>
                        <a:t>Need Remark</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73146166"/>
                  </a:ext>
                </a:extLst>
              </a:tr>
              <a:tr h="352205">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7</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1218621" rtl="0" eaLnBrk="1" fontAlgn="b" latinLnBrk="0" hangingPunct="1">
                        <a:lnSpc>
                          <a:spcPct val="100000"/>
                        </a:lnSpc>
                        <a:spcBef>
                          <a:spcPts val="0"/>
                        </a:spcBef>
                        <a:spcAft>
                          <a:spcPts val="0"/>
                        </a:spcAft>
                        <a:buClrTx/>
                        <a:buSzTx/>
                        <a:buFontTx/>
                        <a:buNone/>
                        <a:tabLst/>
                        <a:defRPr/>
                      </a:pPr>
                      <a:endPar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Damage Charge Invoice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5010452</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Included in as-is scenario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Manual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S&amp;D Model and 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fontAlgn="ctr">
                        <a:buFont typeface="Arial" panose="020B0604020202020204" pitchFamily="34" charset="0"/>
                        <a:buNone/>
                      </a:pP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5MS1R87545: MANAGED DaaS Damage Charges</a:t>
                      </a:r>
                    </a:p>
                    <a:p>
                      <a:pPr marL="0" indent="0" algn="l" fontAlgn="ctr">
                        <a:buFont typeface="Arial" panose="020B0604020202020204" pitchFamily="34" charset="0"/>
                        <a:buNone/>
                      </a:pP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Order Reason: ESC</a:t>
                      </a:r>
                    </a:p>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lang="en-US" altLang="zh-CN" sz="800">
                          <a:solidFill>
                            <a:schemeClr val="accent1"/>
                          </a:solidFill>
                          <a:effectLst/>
                          <a:latin typeface="Lato" panose="020F0502020204030203" pitchFamily="34" charset="0"/>
                          <a:ea typeface="Lato" panose="020F0502020204030203" pitchFamily="34" charset="0"/>
                          <a:cs typeface="Lato" panose="020F0502020204030203" pitchFamily="34" charset="0"/>
                        </a:rPr>
                        <a:t>Need Remark</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87505560"/>
                  </a:ext>
                </a:extLst>
              </a:tr>
              <a:tr h="279572">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8</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1218621" rtl="0" eaLnBrk="1" fontAlgn="b" latinLnBrk="0" hangingPunct="1">
                        <a:lnSpc>
                          <a:spcPct val="100000"/>
                        </a:lnSpc>
                        <a:spcBef>
                          <a:spcPts val="0"/>
                        </a:spcBef>
                        <a:spcAft>
                          <a:spcPts val="0"/>
                        </a:spcAft>
                        <a:buClrTx/>
                        <a:buSzTx/>
                        <a:buFontTx/>
                        <a:buNone/>
                        <a:tabLst/>
                        <a:defRPr/>
                      </a:pPr>
                      <a:endPar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On Demand Service Invoice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5010401</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Included in as-is scenario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algn="l" fontAlgn="ctr"/>
                      <a:r>
                        <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Manual</a:t>
                      </a:r>
                    </a:p>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ICO Auto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S&amp;D Model and 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Real Service PN</a:t>
                      </a:r>
                    </a:p>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800">
                          <a:solidFill>
                            <a:schemeClr val="accent1"/>
                          </a:solidFill>
                          <a:effectLst/>
                          <a:latin typeface="Lato" panose="020F0502020204030203" pitchFamily="34" charset="0"/>
                          <a:ea typeface="Lato" panose="020F0502020204030203" pitchFamily="34" charset="0"/>
                          <a:cs typeface="Lato" panose="020F0502020204030203" pitchFamily="34" charset="0"/>
                        </a:rPr>
                        <a:t>Need Remark</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8252430"/>
                  </a:ext>
                </a:extLst>
              </a:tr>
              <a:tr h="250520">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9</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On Demand Service ICO Invoice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a:p>
                  </a:txBody>
                  <a:tcPr/>
                </a:tc>
                <a:tc vMerge="1">
                  <a:txBody>
                    <a:bodyPr/>
                    <a:lstStyle/>
                    <a:p>
                      <a:pPr algn="l" fontAlgn="ctr"/>
                      <a:endPar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Real Service PN</a:t>
                      </a:r>
                    </a:p>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800">
                          <a:solidFill>
                            <a:schemeClr val="accent1"/>
                          </a:solidFill>
                          <a:effectLst/>
                          <a:latin typeface="Lato" panose="020F0502020204030203" pitchFamily="34" charset="0"/>
                          <a:ea typeface="Lato" panose="020F0502020204030203" pitchFamily="34" charset="0"/>
                          <a:cs typeface="Lato" panose="020F0502020204030203" pitchFamily="34" charset="0"/>
                        </a:rPr>
                        <a:t>Need Remark</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73421257"/>
                  </a:ext>
                </a:extLst>
              </a:tr>
              <a:tr h="469607">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highlight>
                            <a:srgbClr val="FFFF00"/>
                          </a:highlight>
                          <a:latin typeface="Lato" panose="020F0502020204030203" pitchFamily="34" charset="0"/>
                          <a:ea typeface="Lato" panose="020F0502020204030203" pitchFamily="34" charset="0"/>
                          <a:cs typeface="Lato" panose="020F0502020204030203" pitchFamily="34" charset="0"/>
                        </a:rPr>
                        <a:t>10</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1218621" rtl="0" eaLnBrk="1" fontAlgn="b" latinLnBrk="0" hangingPunct="1">
                        <a:lnSpc>
                          <a:spcPct val="100000"/>
                        </a:lnSpc>
                        <a:spcBef>
                          <a:spcPts val="0"/>
                        </a:spcBef>
                        <a:spcAft>
                          <a:spcPts val="0"/>
                        </a:spcAft>
                        <a:buClrTx/>
                        <a:buSzTx/>
                        <a:buFontTx/>
                        <a:buNone/>
                        <a:tabLst/>
                        <a:defRPr/>
                      </a:pPr>
                      <a:endPar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Syndication Invoice</a:t>
                      </a:r>
                      <a:r>
                        <a:rPr lang="zh-CN" altLang="en-US"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t>
                      </a: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SOR)</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endPar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Covered in new scenario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Auto Trigger</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S&amp;D Model and 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Real PN</a:t>
                      </a:r>
                    </a:p>
                    <a:p>
                      <a:pPr algn="l" fontAlgn="ct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Order Reason: Full Sell - ES4(DaaS) ESJ(IaaS) ESK(ISG Lease) </a:t>
                      </a:r>
                    </a:p>
                    <a:p>
                      <a:pPr algn="l" fontAlgn="ctr"/>
                      <a:r>
                        <a:rPr lang="en-US" altLang="zh-CN"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Order Reason: Sells of Receivable: </a:t>
                      </a: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ESN(DaaS FL w/o recourse) ESP</a:t>
                      </a:r>
                      <a:r>
                        <a:rPr lang="en-US" altLang="zh-CN"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(DaaS OL w/o recourse)</a:t>
                      </a: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 ESQ(DaaS </a:t>
                      </a:r>
                      <a:r>
                        <a:rPr lang="en-US" altLang="zh-CN" sz="800"/>
                        <a:t>FL w/ Recourse</a:t>
                      </a: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 ESR (DaaS OL</a:t>
                      </a:r>
                      <a:r>
                        <a:rPr lang="en-US" altLang="zh-CN" sz="800"/>
                        <a:t> w/ Recourse</a:t>
                      </a: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78318496"/>
                  </a:ext>
                </a:extLst>
              </a:tr>
              <a:tr h="279572">
                <a:tc>
                  <a:txBody>
                    <a:bodyPr/>
                    <a:lstStyle/>
                    <a:p>
                      <a:pPr algn="ctr" fontAlgn="ctr"/>
                      <a:r>
                        <a:rPr lang="en-US" altLang="zh-CN" sz="1000" b="1" i="0" u="none" strike="noStrike">
                          <a:solidFill>
                            <a:schemeClr val="tx1"/>
                          </a:solidFill>
                          <a:effectLst/>
                          <a:highlight>
                            <a:srgbClr val="FFFF00"/>
                          </a:highlight>
                          <a:latin typeface="Lato" panose="020F0502020204030203" pitchFamily="34" charset="0"/>
                          <a:ea typeface="Lato" panose="020F0502020204030203" pitchFamily="34" charset="0"/>
                          <a:cs typeface="Lato" panose="020F0502020204030203" pitchFamily="34" charset="0"/>
                        </a:rPr>
                        <a:t>11</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algn="l" fontAlgn="ctr"/>
                      <a:endPar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Managed CAPEX Invoice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2">
                  <a:txBody>
                    <a:bodyPr/>
                    <a:lstStyle/>
                    <a:p>
                      <a:pPr algn="l" fontAlgn="ctr"/>
                      <a:endPar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2">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Covered in new scenario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rowSpan="2">
                  <a:txBody>
                    <a:bodyPr/>
                    <a:lstStyle/>
                    <a:p>
                      <a:pPr algn="l" fontAlgn="ctr"/>
                      <a:r>
                        <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Auto Trigger</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S&amp;D Model and 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Real PN</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59481471"/>
                  </a:ext>
                </a:extLst>
              </a:tr>
              <a:tr h="279572">
                <a:tc>
                  <a:txBody>
                    <a:bodyPr/>
                    <a:lstStyle/>
                    <a:p>
                      <a:pPr algn="ctr" fontAlgn="ctr"/>
                      <a:r>
                        <a:rPr lang="en-US" altLang="zh-CN" sz="1000" b="1" i="0" u="none" strike="noStrike">
                          <a:solidFill>
                            <a:schemeClr val="tx1"/>
                          </a:solidFill>
                          <a:effectLst/>
                          <a:highlight>
                            <a:srgbClr val="FFFF00"/>
                          </a:highlight>
                          <a:latin typeface="Lato" panose="020F0502020204030203" pitchFamily="34" charset="0"/>
                          <a:ea typeface="Lato" panose="020F0502020204030203" pitchFamily="34" charset="0"/>
                          <a:cs typeface="Lato" panose="020F0502020204030203" pitchFamily="34" charset="0"/>
                        </a:rPr>
                        <a:t>12</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pPr algn="l" fontAlgn="ct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Managed CAPEX ICO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vMerge="1">
                  <a:txBody>
                    <a:bodyPr/>
                    <a:lstStyle/>
                    <a:p>
                      <a:endParaRPr lang="zh-CN" altLang="en-US"/>
                    </a:p>
                  </a:txBody>
                  <a:tcPr/>
                </a:tc>
                <a:tc vMerge="1">
                  <a:txBody>
                    <a:bodyPr/>
                    <a:lstStyle/>
                    <a:p>
                      <a:endParaRPr lang="zh-CN" altLang="en-US"/>
                    </a:p>
                  </a:txBody>
                  <a:tcPr/>
                </a:tc>
                <a:tc vMerge="1">
                  <a:txBody>
                    <a:bodyPr/>
                    <a:lstStyle/>
                    <a:p>
                      <a:pPr algn="l" fontAlgn="ctr"/>
                      <a:endParaRPr lang="en-US"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AFE Model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Real PN</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9587466"/>
                  </a:ext>
                </a:extLst>
              </a:tr>
              <a:tr h="279572">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sz="1000" b="1" i="0" u="none" strike="noStrike">
                          <a:solidFill>
                            <a:schemeClr val="tx1"/>
                          </a:solidFill>
                          <a:effectLst/>
                          <a:highlight>
                            <a:srgbClr val="FFFF00"/>
                          </a:highlight>
                          <a:latin typeface="Lato" panose="020F0502020204030203" pitchFamily="34" charset="0"/>
                          <a:ea typeface="Lato" panose="020F0502020204030203" pitchFamily="34" charset="0"/>
                          <a:cs typeface="Lato" panose="020F0502020204030203" pitchFamily="34" charset="0"/>
                        </a:rPr>
                        <a:t>13</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marL="0" marR="0" lvl="0" indent="0" algn="l" defTabSz="1218621" rtl="0" eaLnBrk="1" fontAlgn="b" latinLnBrk="0" hangingPunct="1">
                        <a:lnSpc>
                          <a:spcPct val="100000"/>
                        </a:lnSpc>
                        <a:spcBef>
                          <a:spcPts val="0"/>
                        </a:spcBef>
                        <a:spcAft>
                          <a:spcPts val="0"/>
                        </a:spcAft>
                        <a:buClrTx/>
                        <a:buSzTx/>
                        <a:buFontTx/>
                        <a:buNone/>
                        <a:tabLst/>
                        <a:defRPr/>
                      </a:pPr>
                      <a:endParaRPr lang="en-US"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Asset Remarking Invoice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endPar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621" rtl="0" eaLnBrk="1" fontAlgn="ctr" latinLnBrk="0" hangingPunct="1">
                        <a:lnSpc>
                          <a:spcPct val="100000"/>
                        </a:lnSpc>
                        <a:spcBef>
                          <a:spcPts val="0"/>
                        </a:spcBef>
                        <a:spcAft>
                          <a:spcPts val="0"/>
                        </a:spcAft>
                        <a:buClrTx/>
                        <a:buSzTx/>
                        <a:buFont typeface="Arial" panose="020B0604020202020204" pitchFamily="34" charset="0"/>
                        <a:buNone/>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Covered in new scenario</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Auto Trigger</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S&amp;D Model and AFE Model </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Real PN </a:t>
                      </a:r>
                    </a:p>
                    <a:p>
                      <a:pPr algn="l" fontAlgn="ct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Order Reason: ESB(DaaS) ESL(IaaS) ESM(ISG Lease)</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22243027"/>
                  </a:ext>
                </a:extLst>
              </a:tr>
              <a:tr h="279572">
                <a:tc>
                  <a:txBody>
                    <a:bodyPr/>
                    <a:lstStyle/>
                    <a:p>
                      <a:pPr marL="0" marR="0" lvl="0" indent="0" algn="ctr" defTabSz="1218621" rtl="0" eaLnBrk="1" fontAlgn="b" latinLnBrk="0" hangingPunct="1">
                        <a:lnSpc>
                          <a:spcPct val="100000"/>
                        </a:lnSpc>
                        <a:spcBef>
                          <a:spcPts val="0"/>
                        </a:spcBef>
                        <a:spcAft>
                          <a:spcPts val="0"/>
                        </a:spcAft>
                        <a:buClrTx/>
                        <a:buSzTx/>
                        <a:buFontTx/>
                        <a:buNone/>
                        <a:tabLst/>
                        <a:defRPr/>
                      </a:pPr>
                      <a:r>
                        <a:rPr lang="en-US"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14</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altLang="zh-CN"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All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b" latinLnBrk="0" hangingPunct="1">
                        <a:lnSpc>
                          <a:spcPct val="100000"/>
                        </a:lnSpc>
                        <a:spcBef>
                          <a:spcPts val="0"/>
                        </a:spcBef>
                        <a:spcAft>
                          <a:spcPts val="0"/>
                        </a:spcAft>
                        <a:buClrTx/>
                        <a:buSzTx/>
                        <a:buFontTx/>
                        <a:buNone/>
                        <a:tabLst/>
                        <a:defRPr/>
                      </a:pPr>
                      <a:r>
                        <a:rPr lang="en-US" sz="1000" b="1"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Credit Memo Request</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endPar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endPar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Manual</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ctr"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chemeClr val="tx1"/>
                          </a:solidFill>
                          <a:effectLst/>
                          <a:latin typeface="Lato" panose="020F0502020204030203" pitchFamily="34" charset="0"/>
                          <a:ea typeface="Lato" panose="020F0502020204030203" pitchFamily="34" charset="0"/>
                          <a:cs typeface="Lato" panose="020F0502020204030203" pitchFamily="34" charset="0"/>
                        </a:rPr>
                        <a:t>All previous scenarios</a:t>
                      </a:r>
                    </a:p>
                  </a:txBody>
                  <a:tcPr marL="7200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47076493"/>
                  </a:ext>
                </a:extLst>
              </a:tr>
            </a:tbl>
          </a:graphicData>
        </a:graphic>
      </p:graphicFrame>
      <p:sp>
        <p:nvSpPr>
          <p:cNvPr id="5" name="文本框 4">
            <a:extLst>
              <a:ext uri="{FF2B5EF4-FFF2-40B4-BE49-F238E27FC236}">
                <a16:creationId xmlns:a16="http://schemas.microsoft.com/office/drawing/2014/main" id="{71EDECF2-6596-3A76-799A-6F3D8E600BA7}"/>
              </a:ext>
            </a:extLst>
          </p:cNvPr>
          <p:cNvSpPr txBox="1"/>
          <p:nvPr/>
        </p:nvSpPr>
        <p:spPr>
          <a:xfrm>
            <a:off x="466896" y="651460"/>
            <a:ext cx="9299767" cy="1446550"/>
          </a:xfrm>
          <a:prstGeom prst="rect">
            <a:avLst/>
          </a:prstGeom>
          <a:noFill/>
        </p:spPr>
        <p:txBody>
          <a:bodyPr wrap="square" rtlCol="0">
            <a:spAutoFit/>
          </a:bodyPr>
          <a:lstStyle/>
          <a:p>
            <a:pPr marL="447675" marR="0" lvl="0" indent="-44767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altLang="zh-CN" sz="14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The billings / invoices listed are only for new manual billing capability / invoices with billing plate form change.</a:t>
            </a:r>
          </a:p>
          <a:p>
            <a:pPr marL="447675" marR="0" lvl="0" indent="-44767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altLang="zh-CN" sz="14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Other BAU billings / invoices will also be included in </a:t>
            </a:r>
            <a:r>
              <a:rPr kumimoji="0" lang="en-US" altLang="zh-CN" sz="1400" b="0" i="0" u="none" strike="noStrike" kern="1200" cap="none" spc="0" normalizeH="0" baseline="0" noProof="0" err="1">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NexBill</a:t>
            </a:r>
            <a:r>
              <a:rPr kumimoji="0" lang="en-US" altLang="zh-CN" sz="14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 like:</a:t>
            </a:r>
          </a:p>
          <a:p>
            <a:pPr marL="904875" marR="0" lvl="1" indent="-447675"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rPr>
              <a:t>Recurring Invoice / Recurring ICO Invoice</a:t>
            </a:r>
          </a:p>
          <a:p>
            <a:pPr marL="904875" marR="0" lvl="1" indent="-447675"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黑体" panose="02010609060101010101" pitchFamily="49" charset="-122"/>
                <a:cs typeface="Lato" panose="020F0502020204030203" pitchFamily="34" charset="0"/>
              </a:rPr>
              <a:t>On Demand Service Invoice</a:t>
            </a:r>
          </a:p>
          <a:p>
            <a:pPr marL="904875" marR="0" lvl="1" indent="-447675"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黑体" panose="02010609060101010101" pitchFamily="49" charset="-122"/>
                <a:cs typeface="Lato" panose="020F0502020204030203" pitchFamily="34" charset="0"/>
              </a:rPr>
              <a:t>Early Termination Invoice</a:t>
            </a:r>
          </a:p>
          <a:p>
            <a:pPr marL="904875" marR="0" lvl="1" indent="-447675"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黑体" panose="02010609060101010101" pitchFamily="49" charset="-122"/>
                <a:cs typeface="Lato" panose="020F0502020204030203" pitchFamily="34" charset="0"/>
              </a:rPr>
              <a:t>Central Billing Invoice </a:t>
            </a:r>
          </a:p>
          <a:p>
            <a:pPr marL="904875" marR="0" lvl="1" indent="-447675"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0" lang="en-US" altLang="zh-CN" sz="1000" b="0" i="0" u="none" strike="noStrike" kern="1200" cap="none" spc="0" normalizeH="0" baseline="0" noProof="0">
                <a:ln>
                  <a:noFill/>
                </a:ln>
                <a:solidFill>
                  <a:srgbClr val="000000"/>
                </a:solidFill>
                <a:effectLst/>
                <a:uLnTx/>
                <a:uFillTx/>
                <a:latin typeface="Lato" panose="020F0502020204030203" pitchFamily="34" charset="0"/>
                <a:ea typeface="黑体" panose="02010609060101010101" pitchFamily="49" charset="-122"/>
                <a:cs typeface="Lato" panose="020F0502020204030203" pitchFamily="34" charset="0"/>
              </a:rPr>
              <a:t>Damage Charge</a:t>
            </a:r>
          </a:p>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FF0000"/>
                </a:solidFill>
                <a:effectLst/>
                <a:uLnTx/>
                <a:uFillTx/>
                <a:latin typeface="Lato" panose="020F0502020204030203" pitchFamily="34" charset="0"/>
                <a:ea typeface="Lato" panose="020F0502020204030203" pitchFamily="34" charset="0"/>
                <a:cs typeface="Lato" panose="020F0502020204030203" pitchFamily="34" charset="0"/>
              </a:rPr>
              <a:t>* Pending Point: Invoice on bundle level of managed CAPEX, need to align with tax team.</a:t>
            </a:r>
          </a:p>
        </p:txBody>
      </p:sp>
    </p:spTree>
    <p:extLst>
      <p:ext uri="{BB962C8B-B14F-4D97-AF65-F5344CB8AC3E}">
        <p14:creationId xmlns:p14="http://schemas.microsoft.com/office/powerpoint/2010/main" val="3621760968"/>
      </p:ext>
    </p:extLst>
  </p:cSld>
  <p:clrMapOvr>
    <a:masterClrMapping/>
  </p:clrMapOvr>
  <p:transition>
    <p:fade/>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a:extLst>
              <a:ext uri="{FF2B5EF4-FFF2-40B4-BE49-F238E27FC236}">
                <a16:creationId xmlns:a16="http://schemas.microsoft.com/office/drawing/2014/main" id="{600546EC-2FA8-0F55-643D-E7350DE5F1C5}"/>
              </a:ext>
            </a:extLst>
          </p:cNvPr>
          <p:cNvGraphicFramePr>
            <a:graphicFrameLocks noGrp="1"/>
          </p:cNvGraphicFramePr>
          <p:nvPr>
            <p:extLst>
              <p:ext uri="{D42A27DB-BD31-4B8C-83A1-F6EECF244321}">
                <p14:modId xmlns:p14="http://schemas.microsoft.com/office/powerpoint/2010/main" val="2469938058"/>
              </p:ext>
            </p:extLst>
          </p:nvPr>
        </p:nvGraphicFramePr>
        <p:xfrm>
          <a:off x="294698" y="833608"/>
          <a:ext cx="5963282" cy="1218637"/>
        </p:xfrm>
        <a:graphic>
          <a:graphicData uri="http://schemas.openxmlformats.org/drawingml/2006/table">
            <a:tbl>
              <a:tblPr/>
              <a:tblGrid>
                <a:gridCol w="429118">
                  <a:extLst>
                    <a:ext uri="{9D8B030D-6E8A-4147-A177-3AD203B41FA5}">
                      <a16:colId xmlns:a16="http://schemas.microsoft.com/office/drawing/2014/main" val="495084399"/>
                    </a:ext>
                  </a:extLst>
                </a:gridCol>
                <a:gridCol w="235950">
                  <a:extLst>
                    <a:ext uri="{9D8B030D-6E8A-4147-A177-3AD203B41FA5}">
                      <a16:colId xmlns:a16="http://schemas.microsoft.com/office/drawing/2014/main" val="3614210242"/>
                    </a:ext>
                  </a:extLst>
                </a:gridCol>
                <a:gridCol w="561532">
                  <a:extLst>
                    <a:ext uri="{9D8B030D-6E8A-4147-A177-3AD203B41FA5}">
                      <a16:colId xmlns:a16="http://schemas.microsoft.com/office/drawing/2014/main" val="1442124609"/>
                    </a:ext>
                  </a:extLst>
                </a:gridCol>
                <a:gridCol w="1576357">
                  <a:extLst>
                    <a:ext uri="{9D8B030D-6E8A-4147-A177-3AD203B41FA5}">
                      <a16:colId xmlns:a16="http://schemas.microsoft.com/office/drawing/2014/main" val="3603859997"/>
                    </a:ext>
                  </a:extLst>
                </a:gridCol>
                <a:gridCol w="335650">
                  <a:extLst>
                    <a:ext uri="{9D8B030D-6E8A-4147-A177-3AD203B41FA5}">
                      <a16:colId xmlns:a16="http://schemas.microsoft.com/office/drawing/2014/main" val="4076488391"/>
                    </a:ext>
                  </a:extLst>
                </a:gridCol>
                <a:gridCol w="335650">
                  <a:extLst>
                    <a:ext uri="{9D8B030D-6E8A-4147-A177-3AD203B41FA5}">
                      <a16:colId xmlns:a16="http://schemas.microsoft.com/office/drawing/2014/main" val="3254101706"/>
                    </a:ext>
                  </a:extLst>
                </a:gridCol>
                <a:gridCol w="274174">
                  <a:extLst>
                    <a:ext uri="{9D8B030D-6E8A-4147-A177-3AD203B41FA5}">
                      <a16:colId xmlns:a16="http://schemas.microsoft.com/office/drawing/2014/main" val="3712391277"/>
                    </a:ext>
                  </a:extLst>
                </a:gridCol>
                <a:gridCol w="854879">
                  <a:extLst>
                    <a:ext uri="{9D8B030D-6E8A-4147-A177-3AD203B41FA5}">
                      <a16:colId xmlns:a16="http://schemas.microsoft.com/office/drawing/2014/main" val="1056677705"/>
                    </a:ext>
                  </a:extLst>
                </a:gridCol>
                <a:gridCol w="341300">
                  <a:extLst>
                    <a:ext uri="{9D8B030D-6E8A-4147-A177-3AD203B41FA5}">
                      <a16:colId xmlns:a16="http://schemas.microsoft.com/office/drawing/2014/main" val="2527660299"/>
                    </a:ext>
                  </a:extLst>
                </a:gridCol>
                <a:gridCol w="499223">
                  <a:extLst>
                    <a:ext uri="{9D8B030D-6E8A-4147-A177-3AD203B41FA5}">
                      <a16:colId xmlns:a16="http://schemas.microsoft.com/office/drawing/2014/main" val="3641075278"/>
                    </a:ext>
                  </a:extLst>
                </a:gridCol>
                <a:gridCol w="519449">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Entity/AFE</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Recognize Origination fee revenue</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17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(Third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Revenue - Origination fee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 - DAAS</a:t>
                      </a:r>
                    </a:p>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XG – IAAS</a:t>
                      </a:r>
                    </a:p>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 - ISGLEASE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5" name="文本框 4">
            <a:extLst>
              <a:ext uri="{FF2B5EF4-FFF2-40B4-BE49-F238E27FC236}">
                <a16:creationId xmlns:a16="http://schemas.microsoft.com/office/drawing/2014/main" id="{FECF9E60-1D79-E6A9-99A1-A0DE18A5DC09}"/>
              </a:ext>
            </a:extLst>
          </p:cNvPr>
          <p:cNvSpPr txBox="1"/>
          <p:nvPr/>
        </p:nvSpPr>
        <p:spPr>
          <a:xfrm>
            <a:off x="209550" y="280502"/>
            <a:ext cx="8520711" cy="400110"/>
          </a:xfrm>
          <a:prstGeom prst="rect">
            <a:avLst/>
          </a:prstGeom>
          <a:noFill/>
        </p:spPr>
        <p:txBody>
          <a:bodyPr wrap="square" rtlCol="0">
            <a:spAutoFit/>
          </a:bodyPr>
          <a:lstStyle/>
          <a:p>
            <a:r>
              <a:rPr lang="nl-NL" altLang="zh-CN" sz="2000" b="1"/>
              <a:t>Origination Fee Invoice</a:t>
            </a:r>
            <a:r>
              <a:rPr lang="en-US" altLang="zh-CN" sz="2000" b="1"/>
              <a:t>|DAAS|IAAS|ISGLEASE|S&amp;D|AFE|</a:t>
            </a:r>
            <a:endParaRPr lang="zh-CN" altLang="en-US" sz="2000" b="1"/>
          </a:p>
        </p:txBody>
      </p:sp>
      <p:sp>
        <p:nvSpPr>
          <p:cNvPr id="6" name="文本框 5">
            <a:extLst>
              <a:ext uri="{FF2B5EF4-FFF2-40B4-BE49-F238E27FC236}">
                <a16:creationId xmlns:a16="http://schemas.microsoft.com/office/drawing/2014/main" id="{A19E8EB9-F3B6-0288-9235-B9FD6FDA7C95}"/>
              </a:ext>
            </a:extLst>
          </p:cNvPr>
          <p:cNvSpPr txBox="1"/>
          <p:nvPr/>
        </p:nvSpPr>
        <p:spPr>
          <a:xfrm>
            <a:off x="209550" y="2388603"/>
            <a:ext cx="10982325" cy="400110"/>
          </a:xfrm>
          <a:prstGeom prst="rect">
            <a:avLst/>
          </a:prstGeom>
          <a:noFill/>
        </p:spPr>
        <p:txBody>
          <a:bodyPr wrap="square" rtlCol="0">
            <a:spAutoFit/>
          </a:bodyPr>
          <a:lstStyle/>
          <a:p>
            <a:r>
              <a:rPr lang="nl-NL" altLang="zh-CN" sz="2000" b="1"/>
              <a:t>Penalty Invoice</a:t>
            </a:r>
            <a:r>
              <a:rPr lang="en-US" altLang="zh-CN" sz="2000" b="1"/>
              <a:t>(Credit)|Penalty ICO(Credit) invoice |DAAS|IAAS|ISGLEASE|S&amp;D|AFE|</a:t>
            </a:r>
            <a:endParaRPr lang="zh-CN" altLang="en-US" sz="2000" b="1"/>
          </a:p>
        </p:txBody>
      </p:sp>
      <p:graphicFrame>
        <p:nvGraphicFramePr>
          <p:cNvPr id="7" name="表格 6">
            <a:extLst>
              <a:ext uri="{FF2B5EF4-FFF2-40B4-BE49-F238E27FC236}">
                <a16:creationId xmlns:a16="http://schemas.microsoft.com/office/drawing/2014/main" id="{F4FE26A4-2A05-5D44-FF7F-C884406FA4A3}"/>
              </a:ext>
            </a:extLst>
          </p:cNvPr>
          <p:cNvGraphicFramePr>
            <a:graphicFrameLocks noGrp="1"/>
          </p:cNvGraphicFramePr>
          <p:nvPr>
            <p:extLst>
              <p:ext uri="{D42A27DB-BD31-4B8C-83A1-F6EECF244321}">
                <p14:modId xmlns:p14="http://schemas.microsoft.com/office/powerpoint/2010/main" val="1030473813"/>
              </p:ext>
            </p:extLst>
          </p:nvPr>
        </p:nvGraphicFramePr>
        <p:xfrm>
          <a:off x="209550" y="3158045"/>
          <a:ext cx="5963282" cy="1670059"/>
        </p:xfrm>
        <a:graphic>
          <a:graphicData uri="http://schemas.openxmlformats.org/drawingml/2006/table">
            <a:tbl>
              <a:tblPr/>
              <a:tblGrid>
                <a:gridCol w="429118">
                  <a:extLst>
                    <a:ext uri="{9D8B030D-6E8A-4147-A177-3AD203B41FA5}">
                      <a16:colId xmlns:a16="http://schemas.microsoft.com/office/drawing/2014/main" val="495084399"/>
                    </a:ext>
                  </a:extLst>
                </a:gridCol>
                <a:gridCol w="235950">
                  <a:extLst>
                    <a:ext uri="{9D8B030D-6E8A-4147-A177-3AD203B41FA5}">
                      <a16:colId xmlns:a16="http://schemas.microsoft.com/office/drawing/2014/main" val="3614210242"/>
                    </a:ext>
                  </a:extLst>
                </a:gridCol>
                <a:gridCol w="561532">
                  <a:extLst>
                    <a:ext uri="{9D8B030D-6E8A-4147-A177-3AD203B41FA5}">
                      <a16:colId xmlns:a16="http://schemas.microsoft.com/office/drawing/2014/main" val="1442124609"/>
                    </a:ext>
                  </a:extLst>
                </a:gridCol>
                <a:gridCol w="1576357">
                  <a:extLst>
                    <a:ext uri="{9D8B030D-6E8A-4147-A177-3AD203B41FA5}">
                      <a16:colId xmlns:a16="http://schemas.microsoft.com/office/drawing/2014/main" val="3603859997"/>
                    </a:ext>
                  </a:extLst>
                </a:gridCol>
                <a:gridCol w="335650">
                  <a:extLst>
                    <a:ext uri="{9D8B030D-6E8A-4147-A177-3AD203B41FA5}">
                      <a16:colId xmlns:a16="http://schemas.microsoft.com/office/drawing/2014/main" val="4076488391"/>
                    </a:ext>
                  </a:extLst>
                </a:gridCol>
                <a:gridCol w="335650">
                  <a:extLst>
                    <a:ext uri="{9D8B030D-6E8A-4147-A177-3AD203B41FA5}">
                      <a16:colId xmlns:a16="http://schemas.microsoft.com/office/drawing/2014/main" val="3254101706"/>
                    </a:ext>
                  </a:extLst>
                </a:gridCol>
                <a:gridCol w="274174">
                  <a:extLst>
                    <a:ext uri="{9D8B030D-6E8A-4147-A177-3AD203B41FA5}">
                      <a16:colId xmlns:a16="http://schemas.microsoft.com/office/drawing/2014/main" val="3712391277"/>
                    </a:ext>
                  </a:extLst>
                </a:gridCol>
                <a:gridCol w="854879">
                  <a:extLst>
                    <a:ext uri="{9D8B030D-6E8A-4147-A177-3AD203B41FA5}">
                      <a16:colId xmlns:a16="http://schemas.microsoft.com/office/drawing/2014/main" val="1056677705"/>
                    </a:ext>
                  </a:extLst>
                </a:gridCol>
                <a:gridCol w="341300">
                  <a:extLst>
                    <a:ext uri="{9D8B030D-6E8A-4147-A177-3AD203B41FA5}">
                      <a16:colId xmlns:a16="http://schemas.microsoft.com/office/drawing/2014/main" val="2527660299"/>
                    </a:ext>
                  </a:extLst>
                </a:gridCol>
                <a:gridCol w="499223">
                  <a:extLst>
                    <a:ext uri="{9D8B030D-6E8A-4147-A177-3AD203B41FA5}">
                      <a16:colId xmlns:a16="http://schemas.microsoft.com/office/drawing/2014/main" val="3641075278"/>
                    </a:ext>
                  </a:extLst>
                </a:gridCol>
                <a:gridCol w="519449">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Recognize Penalty</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credit note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17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 - DAAS</a:t>
                      </a:r>
                    </a:p>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XG – IAAS</a:t>
                      </a:r>
                    </a:p>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 - ISGLEASE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13751830"/>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support 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 - DAAS</a:t>
                      </a:r>
                    </a:p>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XG – IAAS</a:t>
                      </a:r>
                    </a:p>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X* - ISGLEASE</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(Third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01002175"/>
                  </a:ext>
                </a:extLst>
              </a:tr>
            </a:tbl>
          </a:graphicData>
        </a:graphic>
      </p:graphicFrame>
      <p:sp>
        <p:nvSpPr>
          <p:cNvPr id="3" name="文本框 2">
            <a:extLst>
              <a:ext uri="{FF2B5EF4-FFF2-40B4-BE49-F238E27FC236}">
                <a16:creationId xmlns:a16="http://schemas.microsoft.com/office/drawing/2014/main" id="{8A7CC507-6B32-BC2C-EE9C-7E65E885CCB6}"/>
              </a:ext>
            </a:extLst>
          </p:cNvPr>
          <p:cNvSpPr txBox="1"/>
          <p:nvPr/>
        </p:nvSpPr>
        <p:spPr>
          <a:xfrm>
            <a:off x="209550" y="2763442"/>
            <a:ext cx="2927926" cy="369332"/>
          </a:xfrm>
          <a:prstGeom prst="rect">
            <a:avLst/>
          </a:prstGeom>
          <a:noFill/>
        </p:spPr>
        <p:txBody>
          <a:bodyPr wrap="square" rtlCol="0">
            <a:spAutoFit/>
          </a:bodyPr>
          <a:lstStyle/>
          <a:p>
            <a:r>
              <a:rPr lang="en-US" altLang="zh-CN"/>
              <a:t>S&amp;D model</a:t>
            </a:r>
            <a:endParaRPr lang="zh-CN" altLang="en-US"/>
          </a:p>
        </p:txBody>
      </p:sp>
      <p:sp>
        <p:nvSpPr>
          <p:cNvPr id="8" name="文本框 7">
            <a:extLst>
              <a:ext uri="{FF2B5EF4-FFF2-40B4-BE49-F238E27FC236}">
                <a16:creationId xmlns:a16="http://schemas.microsoft.com/office/drawing/2014/main" id="{E922E851-462C-6FD1-D556-CAE250E55024}"/>
              </a:ext>
            </a:extLst>
          </p:cNvPr>
          <p:cNvSpPr txBox="1"/>
          <p:nvPr/>
        </p:nvSpPr>
        <p:spPr>
          <a:xfrm>
            <a:off x="6657683" y="2788713"/>
            <a:ext cx="2927926" cy="369332"/>
          </a:xfrm>
          <a:prstGeom prst="rect">
            <a:avLst/>
          </a:prstGeom>
          <a:noFill/>
        </p:spPr>
        <p:txBody>
          <a:bodyPr wrap="square" rtlCol="0">
            <a:spAutoFit/>
          </a:bodyPr>
          <a:lstStyle/>
          <a:p>
            <a:r>
              <a:rPr lang="en-US" altLang="zh-CN"/>
              <a:t>AFE model</a:t>
            </a:r>
            <a:endParaRPr lang="zh-CN" altLang="en-US"/>
          </a:p>
        </p:txBody>
      </p:sp>
      <p:cxnSp>
        <p:nvCxnSpPr>
          <p:cNvPr id="9" name="直接连接符 8">
            <a:extLst>
              <a:ext uri="{FF2B5EF4-FFF2-40B4-BE49-F238E27FC236}">
                <a16:creationId xmlns:a16="http://schemas.microsoft.com/office/drawing/2014/main" id="{55A23CFB-8740-1B8C-881C-58D6604039EC}"/>
              </a:ext>
            </a:extLst>
          </p:cNvPr>
          <p:cNvCxnSpPr>
            <a:cxnSpLocks/>
          </p:cNvCxnSpPr>
          <p:nvPr/>
        </p:nvCxnSpPr>
        <p:spPr>
          <a:xfrm>
            <a:off x="6354618" y="3020291"/>
            <a:ext cx="0" cy="3837709"/>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10" name="对话气泡: 矩形 9">
            <a:extLst>
              <a:ext uri="{FF2B5EF4-FFF2-40B4-BE49-F238E27FC236}">
                <a16:creationId xmlns:a16="http://schemas.microsoft.com/office/drawing/2014/main" id="{C9AC9800-D7F3-3DD0-AA8D-275E731A57DF}"/>
              </a:ext>
            </a:extLst>
          </p:cNvPr>
          <p:cNvSpPr/>
          <p:nvPr/>
        </p:nvSpPr>
        <p:spPr>
          <a:xfrm>
            <a:off x="1373737" y="5584116"/>
            <a:ext cx="3527477" cy="1250237"/>
          </a:xfrm>
          <a:prstGeom prst="wedgeRectCallout">
            <a:avLst>
              <a:gd name="adj1" fmla="val -24987"/>
              <a:gd name="adj2" fmla="val -10460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 When Lenovo fail to provide services, will issue customer CMR (refund nature) and send it with next month debit note to make combination payment.</a:t>
            </a:r>
          </a:p>
          <a:p>
            <a:r>
              <a:rPr lang="en-US" altLang="zh-CN" sz="1200">
                <a:solidFill>
                  <a:schemeClr val="tx1"/>
                </a:solidFill>
              </a:rPr>
              <a:t>- Customer will receive two </a:t>
            </a:r>
            <a:r>
              <a:rPr lang="en-US" altLang="zh-CN" sz="1200" err="1">
                <a:solidFill>
                  <a:schemeClr val="tx1"/>
                </a:solidFill>
              </a:rPr>
              <a:t>billings,CMR</a:t>
            </a:r>
            <a:r>
              <a:rPr lang="en-US" altLang="zh-CN" sz="1200">
                <a:solidFill>
                  <a:schemeClr val="tx1"/>
                </a:solidFill>
              </a:rPr>
              <a:t> &amp; DMR</a:t>
            </a:r>
          </a:p>
          <a:p>
            <a:r>
              <a:rPr lang="en-US" altLang="zh-CN" sz="1200">
                <a:solidFill>
                  <a:schemeClr val="tx1"/>
                </a:solidFill>
              </a:rPr>
              <a:t>- Account was determined by CMR selected PN master data</a:t>
            </a:r>
          </a:p>
        </p:txBody>
      </p:sp>
      <p:graphicFrame>
        <p:nvGraphicFramePr>
          <p:cNvPr id="11" name="表格 10">
            <a:extLst>
              <a:ext uri="{FF2B5EF4-FFF2-40B4-BE49-F238E27FC236}">
                <a16:creationId xmlns:a16="http://schemas.microsoft.com/office/drawing/2014/main" id="{43434ECC-CA7E-B01B-F27F-567A373E30F3}"/>
              </a:ext>
            </a:extLst>
          </p:cNvPr>
          <p:cNvGraphicFramePr>
            <a:graphicFrameLocks noGrp="1"/>
          </p:cNvGraphicFramePr>
          <p:nvPr>
            <p:extLst>
              <p:ext uri="{D42A27DB-BD31-4B8C-83A1-F6EECF244321}">
                <p14:modId xmlns:p14="http://schemas.microsoft.com/office/powerpoint/2010/main" val="3204002769"/>
              </p:ext>
            </p:extLst>
          </p:nvPr>
        </p:nvGraphicFramePr>
        <p:xfrm>
          <a:off x="6432315" y="3166490"/>
          <a:ext cx="5661835" cy="1143743"/>
        </p:xfrm>
        <a:graphic>
          <a:graphicData uri="http://schemas.openxmlformats.org/drawingml/2006/table">
            <a:tbl>
              <a:tblPr/>
              <a:tblGrid>
                <a:gridCol w="395963">
                  <a:extLst>
                    <a:ext uri="{9D8B030D-6E8A-4147-A177-3AD203B41FA5}">
                      <a16:colId xmlns:a16="http://schemas.microsoft.com/office/drawing/2014/main" val="495084399"/>
                    </a:ext>
                  </a:extLst>
                </a:gridCol>
                <a:gridCol w="217720">
                  <a:extLst>
                    <a:ext uri="{9D8B030D-6E8A-4147-A177-3AD203B41FA5}">
                      <a16:colId xmlns:a16="http://schemas.microsoft.com/office/drawing/2014/main" val="3614210242"/>
                    </a:ext>
                  </a:extLst>
                </a:gridCol>
                <a:gridCol w="561458">
                  <a:extLst>
                    <a:ext uri="{9D8B030D-6E8A-4147-A177-3AD203B41FA5}">
                      <a16:colId xmlns:a16="http://schemas.microsoft.com/office/drawing/2014/main" val="1442124609"/>
                    </a:ext>
                  </a:extLst>
                </a:gridCol>
                <a:gridCol w="1533893">
                  <a:extLst>
                    <a:ext uri="{9D8B030D-6E8A-4147-A177-3AD203B41FA5}">
                      <a16:colId xmlns:a16="http://schemas.microsoft.com/office/drawing/2014/main" val="3603859997"/>
                    </a:ext>
                  </a:extLst>
                </a:gridCol>
                <a:gridCol w="309717">
                  <a:extLst>
                    <a:ext uri="{9D8B030D-6E8A-4147-A177-3AD203B41FA5}">
                      <a16:colId xmlns:a16="http://schemas.microsoft.com/office/drawing/2014/main" val="4076488391"/>
                    </a:ext>
                  </a:extLst>
                </a:gridCol>
                <a:gridCol w="309717">
                  <a:extLst>
                    <a:ext uri="{9D8B030D-6E8A-4147-A177-3AD203B41FA5}">
                      <a16:colId xmlns:a16="http://schemas.microsoft.com/office/drawing/2014/main" val="3254101706"/>
                    </a:ext>
                  </a:extLst>
                </a:gridCol>
                <a:gridCol w="355855">
                  <a:extLst>
                    <a:ext uri="{9D8B030D-6E8A-4147-A177-3AD203B41FA5}">
                      <a16:colId xmlns:a16="http://schemas.microsoft.com/office/drawing/2014/main" val="3712391277"/>
                    </a:ext>
                  </a:extLst>
                </a:gridCol>
                <a:gridCol w="788830">
                  <a:extLst>
                    <a:ext uri="{9D8B030D-6E8A-4147-A177-3AD203B41FA5}">
                      <a16:colId xmlns:a16="http://schemas.microsoft.com/office/drawing/2014/main" val="1056677705"/>
                    </a:ext>
                  </a:extLst>
                </a:gridCol>
                <a:gridCol w="314931">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479315">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Recognize Penalty</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credit note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17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support 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50658501"/>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(Third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13751830"/>
                  </a:ext>
                </a:extLst>
              </a:tr>
            </a:tbl>
          </a:graphicData>
        </a:graphic>
      </p:graphicFrame>
      <p:graphicFrame>
        <p:nvGraphicFramePr>
          <p:cNvPr id="12" name="表格 11">
            <a:extLst>
              <a:ext uri="{FF2B5EF4-FFF2-40B4-BE49-F238E27FC236}">
                <a16:creationId xmlns:a16="http://schemas.microsoft.com/office/drawing/2014/main" id="{76350456-734A-87AD-DB5B-FB7FCA80986B}"/>
              </a:ext>
            </a:extLst>
          </p:cNvPr>
          <p:cNvGraphicFramePr>
            <a:graphicFrameLocks noGrp="1"/>
          </p:cNvGraphicFramePr>
          <p:nvPr>
            <p:extLst>
              <p:ext uri="{D42A27DB-BD31-4B8C-83A1-F6EECF244321}">
                <p14:modId xmlns:p14="http://schemas.microsoft.com/office/powerpoint/2010/main" val="2324197961"/>
              </p:ext>
            </p:extLst>
          </p:nvPr>
        </p:nvGraphicFramePr>
        <p:xfrm>
          <a:off x="6438869" y="4435992"/>
          <a:ext cx="5648725" cy="1148124"/>
        </p:xfrm>
        <a:graphic>
          <a:graphicData uri="http://schemas.openxmlformats.org/drawingml/2006/table">
            <a:tbl>
              <a:tblPr/>
              <a:tblGrid>
                <a:gridCol w="427890">
                  <a:extLst>
                    <a:ext uri="{9D8B030D-6E8A-4147-A177-3AD203B41FA5}">
                      <a16:colId xmlns:a16="http://schemas.microsoft.com/office/drawing/2014/main" val="495084399"/>
                    </a:ext>
                  </a:extLst>
                </a:gridCol>
                <a:gridCol w="245243">
                  <a:extLst>
                    <a:ext uri="{9D8B030D-6E8A-4147-A177-3AD203B41FA5}">
                      <a16:colId xmlns:a16="http://schemas.microsoft.com/office/drawing/2014/main" val="3614210242"/>
                    </a:ext>
                  </a:extLst>
                </a:gridCol>
                <a:gridCol w="611061">
                  <a:extLst>
                    <a:ext uri="{9D8B030D-6E8A-4147-A177-3AD203B41FA5}">
                      <a16:colId xmlns:a16="http://schemas.microsoft.com/office/drawing/2014/main" val="1442124609"/>
                    </a:ext>
                  </a:extLst>
                </a:gridCol>
                <a:gridCol w="1574829">
                  <a:extLst>
                    <a:ext uri="{9D8B030D-6E8A-4147-A177-3AD203B41FA5}">
                      <a16:colId xmlns:a16="http://schemas.microsoft.com/office/drawing/2014/main" val="3603859997"/>
                    </a:ext>
                  </a:extLst>
                </a:gridCol>
                <a:gridCol w="365254">
                  <a:extLst>
                    <a:ext uri="{9D8B030D-6E8A-4147-A177-3AD203B41FA5}">
                      <a16:colId xmlns:a16="http://schemas.microsoft.com/office/drawing/2014/main" val="4076488391"/>
                    </a:ext>
                  </a:extLst>
                </a:gridCol>
                <a:gridCol w="282861">
                  <a:extLst>
                    <a:ext uri="{9D8B030D-6E8A-4147-A177-3AD203B41FA5}">
                      <a16:colId xmlns:a16="http://schemas.microsoft.com/office/drawing/2014/main" val="3254101706"/>
                    </a:ext>
                  </a:extLst>
                </a:gridCol>
                <a:gridCol w="358097">
                  <a:extLst>
                    <a:ext uri="{9D8B030D-6E8A-4147-A177-3AD203B41FA5}">
                      <a16:colId xmlns:a16="http://schemas.microsoft.com/office/drawing/2014/main" val="3712391277"/>
                    </a:ext>
                  </a:extLst>
                </a:gridCol>
                <a:gridCol w="749141">
                  <a:extLst>
                    <a:ext uri="{9D8B030D-6E8A-4147-A177-3AD203B41FA5}">
                      <a16:colId xmlns:a16="http://schemas.microsoft.com/office/drawing/2014/main" val="3811358726"/>
                    </a:ext>
                  </a:extLst>
                </a:gridCol>
                <a:gridCol w="277091">
                  <a:extLst>
                    <a:ext uri="{9D8B030D-6E8A-4147-A177-3AD203B41FA5}">
                      <a16:colId xmlns:a16="http://schemas.microsoft.com/office/drawing/2014/main" val="2527660299"/>
                    </a:ext>
                  </a:extLst>
                </a:gridCol>
                <a:gridCol w="406400">
                  <a:extLst>
                    <a:ext uri="{9D8B030D-6E8A-4147-A177-3AD203B41FA5}">
                      <a16:colId xmlns:a16="http://schemas.microsoft.com/office/drawing/2014/main" val="3641075278"/>
                    </a:ext>
                  </a:extLst>
                </a:gridCol>
                <a:gridCol w="350858">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36395310"/>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support svc</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053707063"/>
                  </a:ext>
                </a:extLst>
              </a:tr>
            </a:tbl>
          </a:graphicData>
        </a:graphic>
      </p:graphicFrame>
      <p:graphicFrame>
        <p:nvGraphicFramePr>
          <p:cNvPr id="13" name="表格 12">
            <a:extLst>
              <a:ext uri="{FF2B5EF4-FFF2-40B4-BE49-F238E27FC236}">
                <a16:creationId xmlns:a16="http://schemas.microsoft.com/office/drawing/2014/main" id="{9A215D39-037B-809E-0E0A-3161F330FDE2}"/>
              </a:ext>
            </a:extLst>
          </p:cNvPr>
          <p:cNvGraphicFramePr>
            <a:graphicFrameLocks noGrp="1"/>
          </p:cNvGraphicFramePr>
          <p:nvPr>
            <p:extLst>
              <p:ext uri="{D42A27DB-BD31-4B8C-83A1-F6EECF244321}">
                <p14:modId xmlns:p14="http://schemas.microsoft.com/office/powerpoint/2010/main" val="4019823260"/>
              </p:ext>
            </p:extLst>
          </p:nvPr>
        </p:nvGraphicFramePr>
        <p:xfrm>
          <a:off x="6432315" y="5709875"/>
          <a:ext cx="5724808" cy="1148124"/>
        </p:xfrm>
        <a:graphic>
          <a:graphicData uri="http://schemas.openxmlformats.org/drawingml/2006/table">
            <a:tbl>
              <a:tblPr/>
              <a:tblGrid>
                <a:gridCol w="437298">
                  <a:extLst>
                    <a:ext uri="{9D8B030D-6E8A-4147-A177-3AD203B41FA5}">
                      <a16:colId xmlns:a16="http://schemas.microsoft.com/office/drawing/2014/main" val="495084399"/>
                    </a:ext>
                  </a:extLst>
                </a:gridCol>
                <a:gridCol w="235074">
                  <a:extLst>
                    <a:ext uri="{9D8B030D-6E8A-4147-A177-3AD203B41FA5}">
                      <a16:colId xmlns:a16="http://schemas.microsoft.com/office/drawing/2014/main" val="3614210242"/>
                    </a:ext>
                  </a:extLst>
                </a:gridCol>
                <a:gridCol w="575157">
                  <a:extLst>
                    <a:ext uri="{9D8B030D-6E8A-4147-A177-3AD203B41FA5}">
                      <a16:colId xmlns:a16="http://schemas.microsoft.com/office/drawing/2014/main" val="1442124609"/>
                    </a:ext>
                  </a:extLst>
                </a:gridCol>
                <a:gridCol w="1631950">
                  <a:extLst>
                    <a:ext uri="{9D8B030D-6E8A-4147-A177-3AD203B41FA5}">
                      <a16:colId xmlns:a16="http://schemas.microsoft.com/office/drawing/2014/main" val="3603859997"/>
                    </a:ext>
                  </a:extLst>
                </a:gridCol>
                <a:gridCol w="353186">
                  <a:extLst>
                    <a:ext uri="{9D8B030D-6E8A-4147-A177-3AD203B41FA5}">
                      <a16:colId xmlns:a16="http://schemas.microsoft.com/office/drawing/2014/main" val="4076488391"/>
                    </a:ext>
                  </a:extLst>
                </a:gridCol>
                <a:gridCol w="353186">
                  <a:extLst>
                    <a:ext uri="{9D8B030D-6E8A-4147-A177-3AD203B41FA5}">
                      <a16:colId xmlns:a16="http://schemas.microsoft.com/office/drawing/2014/main" val="3254101706"/>
                    </a:ext>
                  </a:extLst>
                </a:gridCol>
                <a:gridCol w="280826">
                  <a:extLst>
                    <a:ext uri="{9D8B030D-6E8A-4147-A177-3AD203B41FA5}">
                      <a16:colId xmlns:a16="http://schemas.microsoft.com/office/drawing/2014/main" val="3712391277"/>
                    </a:ext>
                  </a:extLst>
                </a:gridCol>
                <a:gridCol w="742306">
                  <a:extLst>
                    <a:ext uri="{9D8B030D-6E8A-4147-A177-3AD203B41FA5}">
                      <a16:colId xmlns:a16="http://schemas.microsoft.com/office/drawing/2014/main" val="4118002695"/>
                    </a:ext>
                  </a:extLst>
                </a:gridCol>
                <a:gridCol w="291026">
                  <a:extLst>
                    <a:ext uri="{9D8B030D-6E8A-4147-A177-3AD203B41FA5}">
                      <a16:colId xmlns:a16="http://schemas.microsoft.com/office/drawing/2014/main" val="2527660299"/>
                    </a:ext>
                  </a:extLst>
                </a:gridCol>
                <a:gridCol w="388381">
                  <a:extLst>
                    <a:ext uri="{9D8B030D-6E8A-4147-A177-3AD203B41FA5}">
                      <a16:colId xmlns:a16="http://schemas.microsoft.com/office/drawing/2014/main" val="3641075278"/>
                    </a:ext>
                  </a:extLst>
                </a:gridCol>
                <a:gridCol w="436418">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Dr</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support 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39558405"/>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J*/XG/X*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14076024"/>
                  </a:ext>
                </a:extLst>
              </a:tr>
            </a:tbl>
          </a:graphicData>
        </a:graphic>
      </p:graphicFrame>
    </p:spTree>
    <p:extLst>
      <p:ext uri="{BB962C8B-B14F-4D97-AF65-F5344CB8AC3E}">
        <p14:creationId xmlns:p14="http://schemas.microsoft.com/office/powerpoint/2010/main" val="2746396409"/>
      </p:ext>
    </p:extLst>
  </p:cSld>
  <p:clrMapOvr>
    <a:masterClrMapping/>
  </p:clrMapOvr>
  <p:extLst>
    <p:ext uri="{6950BFC3-D8DA-4A85-94F7-54DA5524770B}">
      <p188:commentRel xmlns:p188="http://schemas.microsoft.com/office/powerpoint/2018/8/main" r:id="rId2"/>
    </p:ext>
  </p:extLs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D027F4-66DB-A8D6-6DEB-393AB3C6B55A}"/>
            </a:ext>
          </a:extLst>
        </p:cNvPr>
        <p:cNvGrpSpPr/>
        <p:nvPr/>
      </p:nvGrpSpPr>
      <p:grpSpPr>
        <a:xfrm>
          <a:off x="0" y="0"/>
          <a:ext cx="0" cy="0"/>
          <a:chOff x="0" y="0"/>
          <a:chExt cx="0" cy="0"/>
        </a:xfrm>
      </p:grpSpPr>
      <p:graphicFrame>
        <p:nvGraphicFramePr>
          <p:cNvPr id="4" name="表格 3">
            <a:extLst>
              <a:ext uri="{FF2B5EF4-FFF2-40B4-BE49-F238E27FC236}">
                <a16:creationId xmlns:a16="http://schemas.microsoft.com/office/drawing/2014/main" id="{F11751F6-D3D7-E8AA-5071-FA2F3AC3CF8D}"/>
              </a:ext>
            </a:extLst>
          </p:cNvPr>
          <p:cNvGraphicFramePr>
            <a:graphicFrameLocks noGrp="1"/>
          </p:cNvGraphicFramePr>
          <p:nvPr>
            <p:extLst>
              <p:ext uri="{D42A27DB-BD31-4B8C-83A1-F6EECF244321}">
                <p14:modId xmlns:p14="http://schemas.microsoft.com/office/powerpoint/2010/main" val="2569053230"/>
              </p:ext>
            </p:extLst>
          </p:nvPr>
        </p:nvGraphicFramePr>
        <p:xfrm>
          <a:off x="348095" y="1366139"/>
          <a:ext cx="5963282" cy="955479"/>
        </p:xfrm>
        <a:graphic>
          <a:graphicData uri="http://schemas.openxmlformats.org/drawingml/2006/table">
            <a:tbl>
              <a:tblPr/>
              <a:tblGrid>
                <a:gridCol w="429118">
                  <a:extLst>
                    <a:ext uri="{9D8B030D-6E8A-4147-A177-3AD203B41FA5}">
                      <a16:colId xmlns:a16="http://schemas.microsoft.com/office/drawing/2014/main" val="495084399"/>
                    </a:ext>
                  </a:extLst>
                </a:gridCol>
                <a:gridCol w="235950">
                  <a:extLst>
                    <a:ext uri="{9D8B030D-6E8A-4147-A177-3AD203B41FA5}">
                      <a16:colId xmlns:a16="http://schemas.microsoft.com/office/drawing/2014/main" val="3614210242"/>
                    </a:ext>
                  </a:extLst>
                </a:gridCol>
                <a:gridCol w="561532">
                  <a:extLst>
                    <a:ext uri="{9D8B030D-6E8A-4147-A177-3AD203B41FA5}">
                      <a16:colId xmlns:a16="http://schemas.microsoft.com/office/drawing/2014/main" val="1442124609"/>
                    </a:ext>
                  </a:extLst>
                </a:gridCol>
                <a:gridCol w="1576357">
                  <a:extLst>
                    <a:ext uri="{9D8B030D-6E8A-4147-A177-3AD203B41FA5}">
                      <a16:colId xmlns:a16="http://schemas.microsoft.com/office/drawing/2014/main" val="3603859997"/>
                    </a:ext>
                  </a:extLst>
                </a:gridCol>
                <a:gridCol w="335650">
                  <a:extLst>
                    <a:ext uri="{9D8B030D-6E8A-4147-A177-3AD203B41FA5}">
                      <a16:colId xmlns:a16="http://schemas.microsoft.com/office/drawing/2014/main" val="4076488391"/>
                    </a:ext>
                  </a:extLst>
                </a:gridCol>
                <a:gridCol w="335650">
                  <a:extLst>
                    <a:ext uri="{9D8B030D-6E8A-4147-A177-3AD203B41FA5}">
                      <a16:colId xmlns:a16="http://schemas.microsoft.com/office/drawing/2014/main" val="3254101706"/>
                    </a:ext>
                  </a:extLst>
                </a:gridCol>
                <a:gridCol w="274174">
                  <a:extLst>
                    <a:ext uri="{9D8B030D-6E8A-4147-A177-3AD203B41FA5}">
                      <a16:colId xmlns:a16="http://schemas.microsoft.com/office/drawing/2014/main" val="3712391277"/>
                    </a:ext>
                  </a:extLst>
                </a:gridCol>
                <a:gridCol w="854879">
                  <a:extLst>
                    <a:ext uri="{9D8B030D-6E8A-4147-A177-3AD203B41FA5}">
                      <a16:colId xmlns:a16="http://schemas.microsoft.com/office/drawing/2014/main" val="1056677705"/>
                    </a:ext>
                  </a:extLst>
                </a:gridCol>
                <a:gridCol w="341300">
                  <a:extLst>
                    <a:ext uri="{9D8B030D-6E8A-4147-A177-3AD203B41FA5}">
                      <a16:colId xmlns:a16="http://schemas.microsoft.com/office/drawing/2014/main" val="2527660299"/>
                    </a:ext>
                  </a:extLst>
                </a:gridCol>
                <a:gridCol w="499223">
                  <a:extLst>
                    <a:ext uri="{9D8B030D-6E8A-4147-A177-3AD203B41FA5}">
                      <a16:colId xmlns:a16="http://schemas.microsoft.com/office/drawing/2014/main" val="3641075278"/>
                    </a:ext>
                  </a:extLst>
                </a:gridCol>
                <a:gridCol w="519449">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Record property tax</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property tax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17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(Third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2289903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6" name="文本框 5">
            <a:extLst>
              <a:ext uri="{FF2B5EF4-FFF2-40B4-BE49-F238E27FC236}">
                <a16:creationId xmlns:a16="http://schemas.microsoft.com/office/drawing/2014/main" id="{9F6624C3-AB94-C2CC-3F88-EFA1F7F1593A}"/>
              </a:ext>
            </a:extLst>
          </p:cNvPr>
          <p:cNvSpPr txBox="1"/>
          <p:nvPr/>
        </p:nvSpPr>
        <p:spPr>
          <a:xfrm>
            <a:off x="209550" y="245766"/>
            <a:ext cx="10982325" cy="400110"/>
          </a:xfrm>
          <a:prstGeom prst="rect">
            <a:avLst/>
          </a:prstGeom>
          <a:noFill/>
        </p:spPr>
        <p:txBody>
          <a:bodyPr wrap="square" rtlCol="0">
            <a:spAutoFit/>
          </a:bodyPr>
          <a:lstStyle/>
          <a:p>
            <a:r>
              <a:rPr lang="en-US" altLang="zh-CN" sz="2000" b="1"/>
              <a:t>Property Tax </a:t>
            </a:r>
            <a:r>
              <a:rPr lang="en-US" altLang="zh-CN" sz="2000" b="1" err="1"/>
              <a:t>Invoice|DAAS|IAAS|ISGLEASE|S&amp;D|AFE</a:t>
            </a:r>
            <a:r>
              <a:rPr lang="en-US" altLang="zh-CN" sz="2000" b="1"/>
              <a:t>|</a:t>
            </a:r>
            <a:endParaRPr lang="zh-CN" altLang="en-US" sz="2000" b="1"/>
          </a:p>
        </p:txBody>
      </p:sp>
      <p:sp>
        <p:nvSpPr>
          <p:cNvPr id="10" name="对话气泡: 矩形 9">
            <a:extLst>
              <a:ext uri="{FF2B5EF4-FFF2-40B4-BE49-F238E27FC236}">
                <a16:creationId xmlns:a16="http://schemas.microsoft.com/office/drawing/2014/main" id="{24D22634-1FED-2B54-010D-927997D6EF0D}"/>
              </a:ext>
            </a:extLst>
          </p:cNvPr>
          <p:cNvSpPr/>
          <p:nvPr/>
        </p:nvSpPr>
        <p:spPr>
          <a:xfrm>
            <a:off x="6927163" y="1761804"/>
            <a:ext cx="3527477" cy="822972"/>
          </a:xfrm>
          <a:prstGeom prst="wedgeRectCallout">
            <a:avLst>
              <a:gd name="adj1" fmla="val -66331"/>
              <a:gd name="adj2" fmla="val -4655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Scenario only applicable for US </a:t>
            </a:r>
          </a:p>
          <a:p>
            <a:pPr marL="228600" indent="-228600">
              <a:buAutoNum type="alphaLcPeriod"/>
            </a:pPr>
            <a:r>
              <a:rPr lang="en-US" altLang="zh-CN" sz="1200">
                <a:solidFill>
                  <a:schemeClr val="tx1"/>
                </a:solidFill>
              </a:rPr>
              <a:t>External funded customer</a:t>
            </a:r>
          </a:p>
          <a:p>
            <a:pPr marL="228600" indent="-228600">
              <a:buAutoNum type="alphaLcPeriod"/>
            </a:pPr>
            <a:r>
              <a:rPr lang="en-US" altLang="zh-CN" sz="1200">
                <a:solidFill>
                  <a:schemeClr val="tx1"/>
                </a:solidFill>
              </a:rPr>
              <a:t>S&amp;D internal funded customer</a:t>
            </a:r>
          </a:p>
          <a:p>
            <a:pPr marL="228600" indent="-228600">
              <a:buAutoNum type="alphaLcPeriod"/>
            </a:pPr>
            <a:r>
              <a:rPr lang="en-US" altLang="zh-CN" sz="1200">
                <a:solidFill>
                  <a:schemeClr val="tx1"/>
                </a:solidFill>
              </a:rPr>
              <a:t>AFE internal funded customer</a:t>
            </a:r>
          </a:p>
        </p:txBody>
      </p:sp>
    </p:spTree>
    <p:extLst>
      <p:ext uri="{BB962C8B-B14F-4D97-AF65-F5344CB8AC3E}">
        <p14:creationId xmlns:p14="http://schemas.microsoft.com/office/powerpoint/2010/main" val="84869028"/>
      </p:ext>
    </p:extLst>
  </p:cSld>
  <p:clrMapOvr>
    <a:masterClrMapping/>
  </p:clrMapOvr>
  <p:extLst>
    <p:ext uri="{6950BFC3-D8DA-4A85-94F7-54DA5524770B}">
      <p188:commentRel xmlns:p188="http://schemas.microsoft.com/office/powerpoint/2018/8/main" r:id="rId3"/>
    </p:ext>
  </p:extLs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6B076C-BE74-53F0-BC11-AA6C1AFB7EA2}"/>
            </a:ext>
          </a:extLst>
        </p:cNvPr>
        <p:cNvGrpSpPr/>
        <p:nvPr/>
      </p:nvGrpSpPr>
      <p:grpSpPr>
        <a:xfrm>
          <a:off x="0" y="0"/>
          <a:ext cx="0" cy="0"/>
          <a:chOff x="0" y="0"/>
          <a:chExt cx="0" cy="0"/>
        </a:xfrm>
      </p:grpSpPr>
      <p:graphicFrame>
        <p:nvGraphicFramePr>
          <p:cNvPr id="4" name="表格 3">
            <a:extLst>
              <a:ext uri="{FF2B5EF4-FFF2-40B4-BE49-F238E27FC236}">
                <a16:creationId xmlns:a16="http://schemas.microsoft.com/office/drawing/2014/main" id="{D658C570-4B24-12B6-7843-A741191274EB}"/>
              </a:ext>
            </a:extLst>
          </p:cNvPr>
          <p:cNvGraphicFramePr>
            <a:graphicFrameLocks noGrp="1"/>
          </p:cNvGraphicFramePr>
          <p:nvPr>
            <p:extLst>
              <p:ext uri="{D42A27DB-BD31-4B8C-83A1-F6EECF244321}">
                <p14:modId xmlns:p14="http://schemas.microsoft.com/office/powerpoint/2010/main" val="1927062747"/>
              </p:ext>
            </p:extLst>
          </p:nvPr>
        </p:nvGraphicFramePr>
        <p:xfrm>
          <a:off x="340357" y="1746054"/>
          <a:ext cx="7084064" cy="1821570"/>
        </p:xfrm>
        <a:graphic>
          <a:graphicData uri="http://schemas.openxmlformats.org/drawingml/2006/table">
            <a:tbl>
              <a:tblPr/>
              <a:tblGrid>
                <a:gridCol w="437298">
                  <a:extLst>
                    <a:ext uri="{9D8B030D-6E8A-4147-A177-3AD203B41FA5}">
                      <a16:colId xmlns:a16="http://schemas.microsoft.com/office/drawing/2014/main" val="495084399"/>
                    </a:ext>
                  </a:extLst>
                </a:gridCol>
                <a:gridCol w="218246">
                  <a:extLst>
                    <a:ext uri="{9D8B030D-6E8A-4147-A177-3AD203B41FA5}">
                      <a16:colId xmlns:a16="http://schemas.microsoft.com/office/drawing/2014/main" val="3614210242"/>
                    </a:ext>
                  </a:extLst>
                </a:gridCol>
                <a:gridCol w="762736">
                  <a:extLst>
                    <a:ext uri="{9D8B030D-6E8A-4147-A177-3AD203B41FA5}">
                      <a16:colId xmlns:a16="http://schemas.microsoft.com/office/drawing/2014/main" val="1442124609"/>
                    </a:ext>
                  </a:extLst>
                </a:gridCol>
                <a:gridCol w="2911843">
                  <a:extLst>
                    <a:ext uri="{9D8B030D-6E8A-4147-A177-3AD203B41FA5}">
                      <a16:colId xmlns:a16="http://schemas.microsoft.com/office/drawing/2014/main" val="3603859997"/>
                    </a:ext>
                  </a:extLst>
                </a:gridCol>
                <a:gridCol w="469048">
                  <a:extLst>
                    <a:ext uri="{9D8B030D-6E8A-4147-A177-3AD203B41FA5}">
                      <a16:colId xmlns:a16="http://schemas.microsoft.com/office/drawing/2014/main" val="4076488391"/>
                    </a:ext>
                  </a:extLst>
                </a:gridCol>
                <a:gridCol w="469048">
                  <a:extLst>
                    <a:ext uri="{9D8B030D-6E8A-4147-A177-3AD203B41FA5}">
                      <a16:colId xmlns:a16="http://schemas.microsoft.com/office/drawing/2014/main" val="3254101706"/>
                    </a:ext>
                  </a:extLst>
                </a:gridCol>
                <a:gridCol w="274174">
                  <a:extLst>
                    <a:ext uri="{9D8B030D-6E8A-4147-A177-3AD203B41FA5}">
                      <a16:colId xmlns:a16="http://schemas.microsoft.com/office/drawing/2014/main" val="3712391277"/>
                    </a:ext>
                  </a:extLst>
                </a:gridCol>
                <a:gridCol w="286486">
                  <a:extLst>
                    <a:ext uri="{9D8B030D-6E8A-4147-A177-3AD203B41FA5}">
                      <a16:colId xmlns:a16="http://schemas.microsoft.com/office/drawing/2014/main" val="1056677705"/>
                    </a:ext>
                  </a:extLst>
                </a:gridCol>
                <a:gridCol w="341300">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519449">
                  <a:extLst>
                    <a:ext uri="{9D8B030D-6E8A-4147-A177-3AD203B41FA5}">
                      <a16:colId xmlns:a16="http://schemas.microsoft.com/office/drawing/2014/main" val="3618613915"/>
                    </a:ext>
                  </a:extLst>
                </a:gridCol>
              </a:tblGrid>
              <a:tr h="226141">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Monthly billing</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30162">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3016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22492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1020100000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Account Receivable-Inter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30162">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1180020000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Long Term Receivable-Third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50</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70920585"/>
                  </a:ext>
                </a:extLst>
              </a:tr>
              <a:tr h="224927">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2120003001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Income-LT-Third Party-Leasing</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88045733"/>
                  </a:ext>
                </a:extLst>
              </a:tr>
              <a:tr h="23016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4000100001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Revenue-Third Party-Tech. Services-Immediate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a:solidFill>
                            <a:srgbClr val="000000"/>
                          </a:solidFill>
                          <a:effectLst/>
                          <a:latin typeface="Arial" panose="020B0604020202020204" pitchFamily="34" charset="0"/>
                        </a:rPr>
                        <a:t>50</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96251338"/>
                  </a:ext>
                </a:extLst>
              </a:tr>
              <a:tr h="22492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4000600000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Revenue-Third Party-Product Operating Lease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
        <p:nvSpPr>
          <p:cNvPr id="6" name="文本框 5">
            <a:extLst>
              <a:ext uri="{FF2B5EF4-FFF2-40B4-BE49-F238E27FC236}">
                <a16:creationId xmlns:a16="http://schemas.microsoft.com/office/drawing/2014/main" id="{BBB4DA73-C4AB-D95C-ED78-FD046CAC80F5}"/>
              </a:ext>
            </a:extLst>
          </p:cNvPr>
          <p:cNvSpPr txBox="1"/>
          <p:nvPr/>
        </p:nvSpPr>
        <p:spPr>
          <a:xfrm>
            <a:off x="209551" y="45711"/>
            <a:ext cx="6800850" cy="400110"/>
          </a:xfrm>
          <a:prstGeom prst="rect">
            <a:avLst/>
          </a:prstGeom>
          <a:noFill/>
        </p:spPr>
        <p:txBody>
          <a:bodyPr wrap="square" rtlCol="0">
            <a:spAutoFit/>
          </a:bodyPr>
          <a:lstStyle/>
          <a:p>
            <a:r>
              <a:rPr lang="en-US" altLang="zh-CN" sz="2000" b="1"/>
              <a:t>Upfront Tax </a:t>
            </a:r>
            <a:r>
              <a:rPr lang="en-US" altLang="zh-CN" sz="2000" b="1" err="1"/>
              <a:t>Invoice|DAAS|IAAS|ISGLEASE|S&amp;D|AFE</a:t>
            </a:r>
            <a:r>
              <a:rPr lang="en-US" altLang="zh-CN" sz="2000" b="1"/>
              <a:t>|</a:t>
            </a:r>
            <a:endParaRPr lang="zh-CN" altLang="en-US" sz="2000" b="1"/>
          </a:p>
        </p:txBody>
      </p:sp>
      <p:sp>
        <p:nvSpPr>
          <p:cNvPr id="3" name="文本框 2">
            <a:extLst>
              <a:ext uri="{FF2B5EF4-FFF2-40B4-BE49-F238E27FC236}">
                <a16:creationId xmlns:a16="http://schemas.microsoft.com/office/drawing/2014/main" id="{CD37BC4E-3E38-3D2B-415E-85B7A1BB330C}"/>
              </a:ext>
            </a:extLst>
          </p:cNvPr>
          <p:cNvSpPr txBox="1"/>
          <p:nvPr/>
        </p:nvSpPr>
        <p:spPr>
          <a:xfrm>
            <a:off x="340357" y="4063282"/>
            <a:ext cx="5125978" cy="1015663"/>
          </a:xfrm>
          <a:prstGeom prst="rect">
            <a:avLst/>
          </a:prstGeom>
          <a:noFill/>
        </p:spPr>
        <p:txBody>
          <a:bodyPr wrap="square" rtlCol="0">
            <a:spAutoFit/>
          </a:bodyPr>
          <a:lstStyle/>
          <a:p>
            <a:r>
              <a:rPr lang="en-US" altLang="zh-CN" sz="2000" b="1"/>
              <a:t>US CRF(California Recycling Fee)</a:t>
            </a:r>
          </a:p>
          <a:p>
            <a:r>
              <a:rPr lang="en-US" altLang="zh-CN" sz="2000" b="1"/>
              <a:t>US UFT(Refuse Derived Fuel Tax) </a:t>
            </a:r>
          </a:p>
          <a:p>
            <a:r>
              <a:rPr lang="en-US" altLang="zh-CN" sz="2000" b="1"/>
              <a:t>US RDF (Retail Delivery Fee)</a:t>
            </a:r>
            <a:endParaRPr lang="zh-CN" altLang="en-US" sz="2000" b="1"/>
          </a:p>
        </p:txBody>
      </p:sp>
      <p:graphicFrame>
        <p:nvGraphicFramePr>
          <p:cNvPr id="7" name="表格 6">
            <a:extLst>
              <a:ext uri="{FF2B5EF4-FFF2-40B4-BE49-F238E27FC236}">
                <a16:creationId xmlns:a16="http://schemas.microsoft.com/office/drawing/2014/main" id="{CA31611A-2D51-FA9A-BEC9-BACA63578173}"/>
              </a:ext>
            </a:extLst>
          </p:cNvPr>
          <p:cNvGraphicFramePr>
            <a:graphicFrameLocks noGrp="1"/>
          </p:cNvGraphicFramePr>
          <p:nvPr>
            <p:extLst>
              <p:ext uri="{D42A27DB-BD31-4B8C-83A1-F6EECF244321}">
                <p14:modId xmlns:p14="http://schemas.microsoft.com/office/powerpoint/2010/main" val="3550507526"/>
              </p:ext>
            </p:extLst>
          </p:nvPr>
        </p:nvGraphicFramePr>
        <p:xfrm>
          <a:off x="340357" y="5238115"/>
          <a:ext cx="7204329" cy="1014894"/>
        </p:xfrm>
        <a:graphic>
          <a:graphicData uri="http://schemas.openxmlformats.org/drawingml/2006/table">
            <a:tbl>
              <a:tblPr/>
              <a:tblGrid>
                <a:gridCol w="429118">
                  <a:extLst>
                    <a:ext uri="{9D8B030D-6E8A-4147-A177-3AD203B41FA5}">
                      <a16:colId xmlns:a16="http://schemas.microsoft.com/office/drawing/2014/main" val="495084399"/>
                    </a:ext>
                  </a:extLst>
                </a:gridCol>
                <a:gridCol w="235950">
                  <a:extLst>
                    <a:ext uri="{9D8B030D-6E8A-4147-A177-3AD203B41FA5}">
                      <a16:colId xmlns:a16="http://schemas.microsoft.com/office/drawing/2014/main" val="3614210242"/>
                    </a:ext>
                  </a:extLst>
                </a:gridCol>
                <a:gridCol w="762736">
                  <a:extLst>
                    <a:ext uri="{9D8B030D-6E8A-4147-A177-3AD203B41FA5}">
                      <a16:colId xmlns:a16="http://schemas.microsoft.com/office/drawing/2014/main" val="1442124609"/>
                    </a:ext>
                  </a:extLst>
                </a:gridCol>
                <a:gridCol w="2616200">
                  <a:extLst>
                    <a:ext uri="{9D8B030D-6E8A-4147-A177-3AD203B41FA5}">
                      <a16:colId xmlns:a16="http://schemas.microsoft.com/office/drawing/2014/main" val="3603859997"/>
                    </a:ext>
                  </a:extLst>
                </a:gridCol>
                <a:gridCol w="335650">
                  <a:extLst>
                    <a:ext uri="{9D8B030D-6E8A-4147-A177-3AD203B41FA5}">
                      <a16:colId xmlns:a16="http://schemas.microsoft.com/office/drawing/2014/main" val="4076488391"/>
                    </a:ext>
                  </a:extLst>
                </a:gridCol>
                <a:gridCol w="335650">
                  <a:extLst>
                    <a:ext uri="{9D8B030D-6E8A-4147-A177-3AD203B41FA5}">
                      <a16:colId xmlns:a16="http://schemas.microsoft.com/office/drawing/2014/main" val="3254101706"/>
                    </a:ext>
                  </a:extLst>
                </a:gridCol>
                <a:gridCol w="274174">
                  <a:extLst>
                    <a:ext uri="{9D8B030D-6E8A-4147-A177-3AD203B41FA5}">
                      <a16:colId xmlns:a16="http://schemas.microsoft.com/office/drawing/2014/main" val="3712391277"/>
                    </a:ext>
                  </a:extLst>
                </a:gridCol>
                <a:gridCol w="854879">
                  <a:extLst>
                    <a:ext uri="{9D8B030D-6E8A-4147-A177-3AD203B41FA5}">
                      <a16:colId xmlns:a16="http://schemas.microsoft.com/office/drawing/2014/main" val="1056677705"/>
                    </a:ext>
                  </a:extLst>
                </a:gridCol>
                <a:gridCol w="341300">
                  <a:extLst>
                    <a:ext uri="{9D8B030D-6E8A-4147-A177-3AD203B41FA5}">
                      <a16:colId xmlns:a16="http://schemas.microsoft.com/office/drawing/2014/main" val="2527660299"/>
                    </a:ext>
                  </a:extLst>
                </a:gridCol>
                <a:gridCol w="499223">
                  <a:extLst>
                    <a:ext uri="{9D8B030D-6E8A-4147-A177-3AD203B41FA5}">
                      <a16:colId xmlns:a16="http://schemas.microsoft.com/office/drawing/2014/main" val="3641075278"/>
                    </a:ext>
                  </a:extLst>
                </a:gridCol>
                <a:gridCol w="519449">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One-off</a:t>
                      </a:r>
                      <a:r>
                        <a:rPr lang="zh-CN" altLang="en-US" sz="800" b="1" i="0" u="none" strike="noStrike">
                          <a:solidFill>
                            <a:srgbClr val="FFFFFF"/>
                          </a:solidFill>
                          <a:effectLst/>
                          <a:latin typeface="Arial" panose="020B0604020202020204" pitchFamily="34" charset="0"/>
                        </a:rPr>
                        <a: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CRF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520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1180002000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Long Term Receivable-Third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2031905101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Tax Payable – US Environment handling fee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pic>
        <p:nvPicPr>
          <p:cNvPr id="11" name="图片 10">
            <a:extLst>
              <a:ext uri="{FF2B5EF4-FFF2-40B4-BE49-F238E27FC236}">
                <a16:creationId xmlns:a16="http://schemas.microsoft.com/office/drawing/2014/main" id="{269123E6-38D8-1FA8-B664-72140474C204}"/>
              </a:ext>
            </a:extLst>
          </p:cNvPr>
          <p:cNvPicPr>
            <a:picLocks noChangeAspect="1"/>
          </p:cNvPicPr>
          <p:nvPr/>
        </p:nvPicPr>
        <p:blipFill>
          <a:blip r:embed="rId4"/>
          <a:stretch>
            <a:fillRect/>
          </a:stretch>
        </p:blipFill>
        <p:spPr>
          <a:xfrm flipV="1">
            <a:off x="11265159" y="2214931"/>
            <a:ext cx="586484" cy="172740"/>
          </a:xfrm>
          <a:prstGeom prst="rect">
            <a:avLst/>
          </a:prstGeom>
        </p:spPr>
      </p:pic>
      <p:graphicFrame>
        <p:nvGraphicFramePr>
          <p:cNvPr id="19" name="表格 18">
            <a:extLst>
              <a:ext uri="{FF2B5EF4-FFF2-40B4-BE49-F238E27FC236}">
                <a16:creationId xmlns:a16="http://schemas.microsoft.com/office/drawing/2014/main" id="{080AA57F-02F1-ABFF-9DD9-DCBAA791331C}"/>
              </a:ext>
            </a:extLst>
          </p:cNvPr>
          <p:cNvGraphicFramePr>
            <a:graphicFrameLocks noGrp="1"/>
          </p:cNvGraphicFramePr>
          <p:nvPr>
            <p:extLst>
              <p:ext uri="{D42A27DB-BD31-4B8C-83A1-F6EECF244321}">
                <p14:modId xmlns:p14="http://schemas.microsoft.com/office/powerpoint/2010/main" val="4069960311"/>
              </p:ext>
            </p:extLst>
          </p:nvPr>
        </p:nvGraphicFramePr>
        <p:xfrm>
          <a:off x="321493" y="604991"/>
          <a:ext cx="7011022" cy="955479"/>
        </p:xfrm>
        <a:graphic>
          <a:graphicData uri="http://schemas.openxmlformats.org/drawingml/2006/table">
            <a:tbl>
              <a:tblPr/>
              <a:tblGrid>
                <a:gridCol w="429118">
                  <a:extLst>
                    <a:ext uri="{9D8B030D-6E8A-4147-A177-3AD203B41FA5}">
                      <a16:colId xmlns:a16="http://schemas.microsoft.com/office/drawing/2014/main" val="495084399"/>
                    </a:ext>
                  </a:extLst>
                </a:gridCol>
                <a:gridCol w="235950">
                  <a:extLst>
                    <a:ext uri="{9D8B030D-6E8A-4147-A177-3AD203B41FA5}">
                      <a16:colId xmlns:a16="http://schemas.microsoft.com/office/drawing/2014/main" val="3614210242"/>
                    </a:ext>
                  </a:extLst>
                </a:gridCol>
                <a:gridCol w="762736">
                  <a:extLst>
                    <a:ext uri="{9D8B030D-6E8A-4147-A177-3AD203B41FA5}">
                      <a16:colId xmlns:a16="http://schemas.microsoft.com/office/drawing/2014/main" val="1442124609"/>
                    </a:ext>
                  </a:extLst>
                </a:gridCol>
                <a:gridCol w="2422893">
                  <a:extLst>
                    <a:ext uri="{9D8B030D-6E8A-4147-A177-3AD203B41FA5}">
                      <a16:colId xmlns:a16="http://schemas.microsoft.com/office/drawing/2014/main" val="3603859997"/>
                    </a:ext>
                  </a:extLst>
                </a:gridCol>
                <a:gridCol w="335650">
                  <a:extLst>
                    <a:ext uri="{9D8B030D-6E8A-4147-A177-3AD203B41FA5}">
                      <a16:colId xmlns:a16="http://schemas.microsoft.com/office/drawing/2014/main" val="4076488391"/>
                    </a:ext>
                  </a:extLst>
                </a:gridCol>
                <a:gridCol w="335650">
                  <a:extLst>
                    <a:ext uri="{9D8B030D-6E8A-4147-A177-3AD203B41FA5}">
                      <a16:colId xmlns:a16="http://schemas.microsoft.com/office/drawing/2014/main" val="3254101706"/>
                    </a:ext>
                  </a:extLst>
                </a:gridCol>
                <a:gridCol w="274174">
                  <a:extLst>
                    <a:ext uri="{9D8B030D-6E8A-4147-A177-3AD203B41FA5}">
                      <a16:colId xmlns:a16="http://schemas.microsoft.com/office/drawing/2014/main" val="3712391277"/>
                    </a:ext>
                  </a:extLst>
                </a:gridCol>
                <a:gridCol w="854879">
                  <a:extLst>
                    <a:ext uri="{9D8B030D-6E8A-4147-A177-3AD203B41FA5}">
                      <a16:colId xmlns:a16="http://schemas.microsoft.com/office/drawing/2014/main" val="1056677705"/>
                    </a:ext>
                  </a:extLst>
                </a:gridCol>
                <a:gridCol w="341300">
                  <a:extLst>
                    <a:ext uri="{9D8B030D-6E8A-4147-A177-3AD203B41FA5}">
                      <a16:colId xmlns:a16="http://schemas.microsoft.com/office/drawing/2014/main" val="2527660299"/>
                    </a:ext>
                  </a:extLst>
                </a:gridCol>
                <a:gridCol w="499223">
                  <a:extLst>
                    <a:ext uri="{9D8B030D-6E8A-4147-A177-3AD203B41FA5}">
                      <a16:colId xmlns:a16="http://schemas.microsoft.com/office/drawing/2014/main" val="3641075278"/>
                    </a:ext>
                  </a:extLst>
                </a:gridCol>
                <a:gridCol w="519449">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Upfront tax one-off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a:t>
                      </a:r>
                      <a:r>
                        <a:rPr lang="en-US" altLang="zh-CN" sz="900" b="1" i="0" u="none" strike="noStrike">
                          <a:solidFill>
                            <a:srgbClr val="000000"/>
                          </a:solidFill>
                          <a:effectLst/>
                          <a:latin typeface="Arial" panose="020B0604020202020204" pitchFamily="34" charset="0"/>
                        </a:rPr>
                        <a:t>one-off</a:t>
                      </a:r>
                      <a:r>
                        <a:rPr lang="en-US" sz="900" b="1" i="0" u="none" strike="noStrike">
                          <a:solidFill>
                            <a:srgbClr val="000000"/>
                          </a:solidFill>
                          <a:effectLst/>
                          <a:latin typeface="Arial" panose="020B0604020202020204" pitchFamily="34" charset="0"/>
                        </a:rPr>
                        <a:t>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9217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1180020000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Long Term Receivable-Third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2031085100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Tax Payable-US Sales Taxoutput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spTree>
    <p:extLst>
      <p:ext uri="{BB962C8B-B14F-4D97-AF65-F5344CB8AC3E}">
        <p14:creationId xmlns:p14="http://schemas.microsoft.com/office/powerpoint/2010/main" val="1203894761"/>
      </p:ext>
    </p:extLst>
  </p:cSld>
  <p:clrMapOvr>
    <a:masterClrMapping/>
  </p:clrMapOvr>
  <p:extLst>
    <p:ext uri="{6950BFC3-D8DA-4A85-94F7-54DA5524770B}">
      <p188:commentRel xmlns:p188="http://schemas.microsoft.com/office/powerpoint/2018/8/main" r:id="rId3"/>
    </p:ext>
  </p:extLs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60B95C-5A41-222F-6F64-62812B7BB0A7}"/>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10C0C30E-DFAB-52DA-FE7E-521CB6815105}"/>
              </a:ext>
            </a:extLst>
          </p:cNvPr>
          <p:cNvSpPr txBox="1"/>
          <p:nvPr/>
        </p:nvSpPr>
        <p:spPr>
          <a:xfrm>
            <a:off x="0" y="128102"/>
            <a:ext cx="8520711" cy="400110"/>
          </a:xfrm>
          <a:prstGeom prst="rect">
            <a:avLst/>
          </a:prstGeom>
          <a:noFill/>
        </p:spPr>
        <p:txBody>
          <a:bodyPr wrap="square" rtlCol="0">
            <a:spAutoFit/>
          </a:bodyPr>
          <a:lstStyle/>
          <a:p>
            <a:r>
              <a:rPr lang="nl-NL" altLang="zh-CN" sz="2000" b="1"/>
              <a:t>Managed CAPEX invoice/ICO invoice</a:t>
            </a:r>
            <a:r>
              <a:rPr lang="en-US" altLang="zh-CN" sz="2000" b="1"/>
              <a:t>|DAAS|S&amp;D|AFE|</a:t>
            </a:r>
            <a:endParaRPr lang="zh-CN" altLang="en-US" sz="2000" b="1"/>
          </a:p>
        </p:txBody>
      </p:sp>
      <p:graphicFrame>
        <p:nvGraphicFramePr>
          <p:cNvPr id="2" name="表格 1">
            <a:extLst>
              <a:ext uri="{FF2B5EF4-FFF2-40B4-BE49-F238E27FC236}">
                <a16:creationId xmlns:a16="http://schemas.microsoft.com/office/drawing/2014/main" id="{5A55C35D-C5EF-38D1-B67D-8EE30A0D2734}"/>
              </a:ext>
            </a:extLst>
          </p:cNvPr>
          <p:cNvGraphicFramePr>
            <a:graphicFrameLocks noGrp="1"/>
          </p:cNvGraphicFramePr>
          <p:nvPr>
            <p:extLst>
              <p:ext uri="{D42A27DB-BD31-4B8C-83A1-F6EECF244321}">
                <p14:modId xmlns:p14="http://schemas.microsoft.com/office/powerpoint/2010/main" val="2356738839"/>
              </p:ext>
            </p:extLst>
          </p:nvPr>
        </p:nvGraphicFramePr>
        <p:xfrm>
          <a:off x="149901" y="1366508"/>
          <a:ext cx="5802439" cy="1520271"/>
        </p:xfrm>
        <a:graphic>
          <a:graphicData uri="http://schemas.openxmlformats.org/drawingml/2006/table">
            <a:tbl>
              <a:tblPr/>
              <a:tblGrid>
                <a:gridCol w="428868">
                  <a:extLst>
                    <a:ext uri="{9D8B030D-6E8A-4147-A177-3AD203B41FA5}">
                      <a16:colId xmlns:a16="http://schemas.microsoft.com/office/drawing/2014/main" val="495084399"/>
                    </a:ext>
                  </a:extLst>
                </a:gridCol>
                <a:gridCol w="221830">
                  <a:extLst>
                    <a:ext uri="{9D8B030D-6E8A-4147-A177-3AD203B41FA5}">
                      <a16:colId xmlns:a16="http://schemas.microsoft.com/office/drawing/2014/main" val="3614210242"/>
                    </a:ext>
                  </a:extLst>
                </a:gridCol>
                <a:gridCol w="561204">
                  <a:extLst>
                    <a:ext uri="{9D8B030D-6E8A-4147-A177-3AD203B41FA5}">
                      <a16:colId xmlns:a16="http://schemas.microsoft.com/office/drawing/2014/main" val="1442124609"/>
                    </a:ext>
                  </a:extLst>
                </a:gridCol>
                <a:gridCol w="1969309">
                  <a:extLst>
                    <a:ext uri="{9D8B030D-6E8A-4147-A177-3AD203B41FA5}">
                      <a16:colId xmlns:a16="http://schemas.microsoft.com/office/drawing/2014/main" val="3603859997"/>
                    </a:ext>
                  </a:extLst>
                </a:gridCol>
                <a:gridCol w="385954">
                  <a:extLst>
                    <a:ext uri="{9D8B030D-6E8A-4147-A177-3AD203B41FA5}">
                      <a16:colId xmlns:a16="http://schemas.microsoft.com/office/drawing/2014/main" val="4076488391"/>
                    </a:ext>
                  </a:extLst>
                </a:gridCol>
                <a:gridCol w="372634">
                  <a:extLst>
                    <a:ext uri="{9D8B030D-6E8A-4147-A177-3AD203B41FA5}">
                      <a16:colId xmlns:a16="http://schemas.microsoft.com/office/drawing/2014/main" val="3254101706"/>
                    </a:ext>
                  </a:extLst>
                </a:gridCol>
                <a:gridCol w="382704">
                  <a:extLst>
                    <a:ext uri="{9D8B030D-6E8A-4147-A177-3AD203B41FA5}">
                      <a16:colId xmlns:a16="http://schemas.microsoft.com/office/drawing/2014/main" val="3712391277"/>
                    </a:ext>
                  </a:extLst>
                </a:gridCol>
                <a:gridCol w="579783">
                  <a:extLst>
                    <a:ext uri="{9D8B030D-6E8A-4147-A177-3AD203B41FA5}">
                      <a16:colId xmlns:a16="http://schemas.microsoft.com/office/drawing/2014/main" val="4051557831"/>
                    </a:ext>
                  </a:extLst>
                </a:gridCol>
                <a:gridCol w="246451">
                  <a:extLst>
                    <a:ext uri="{9D8B030D-6E8A-4147-A177-3AD203B41FA5}">
                      <a16:colId xmlns:a16="http://schemas.microsoft.com/office/drawing/2014/main" val="2527660299"/>
                    </a:ext>
                  </a:extLst>
                </a:gridCol>
                <a:gridCol w="386833">
                  <a:extLst>
                    <a:ext uri="{9D8B030D-6E8A-4147-A177-3AD203B41FA5}">
                      <a16:colId xmlns:a16="http://schemas.microsoft.com/office/drawing/2014/main" val="3641075278"/>
                    </a:ext>
                  </a:extLst>
                </a:gridCol>
                <a:gridCol w="266869">
                  <a:extLst>
                    <a:ext uri="{9D8B030D-6E8A-4147-A177-3AD203B41FA5}">
                      <a16:colId xmlns:a16="http://schemas.microsoft.com/office/drawing/2014/main" val="3618613915"/>
                    </a:ext>
                  </a:extLst>
                </a:gridCol>
              </a:tblGrid>
              <a:tr h="127981">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HW delivery – Recognize HW Rev</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HW </a:t>
                      </a:r>
                      <a:r>
                        <a:rPr lang="en-US" altLang="zh-CN" sz="900" b="1" i="0" u="none" strike="noStrike">
                          <a:solidFill>
                            <a:srgbClr val="000000"/>
                          </a:solidFill>
                          <a:effectLst/>
                          <a:latin typeface="Arial" panose="020B0604020202020204" pitchFamily="34" charset="0"/>
                        </a:rPr>
                        <a:t>shipped to customer which will trigger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3</a:t>
                      </a:r>
                      <a:r>
                        <a:rPr lang="en-US" sz="900" b="0" i="0" u="none" strike="noStrike" kern="1200" baseline="30000">
                          <a:solidFill>
                            <a:srgbClr val="000000"/>
                          </a:solidFill>
                          <a:effectLst/>
                          <a:latin typeface="Arial" panose="020B0604020202020204" pitchFamily="34" charset="0"/>
                          <a:ea typeface="+mn-ea"/>
                          <a:cs typeface="+mn-cs"/>
                        </a:rPr>
                        <a:t>rd</a:t>
                      </a:r>
                      <a:r>
                        <a:rPr lang="en-US" sz="900" b="0" i="0" u="none" strike="noStrike" kern="1200">
                          <a:solidFill>
                            <a:srgbClr val="000000"/>
                          </a:solidFill>
                          <a:effectLst/>
                          <a:latin typeface="Arial" panose="020B0604020202020204" pitchFamily="34" charset="0"/>
                          <a:ea typeface="+mn-ea"/>
                          <a:cs typeface="+mn-cs"/>
                        </a:rPr>
                        <a:t>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5010300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Turnover-merchandise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10/20..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Service Revenue - upfront</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04591398"/>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5020300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Cost of Sales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1349903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GIT</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bl>
          </a:graphicData>
        </a:graphic>
      </p:graphicFrame>
      <p:graphicFrame>
        <p:nvGraphicFramePr>
          <p:cNvPr id="8" name="表格 7">
            <a:extLst>
              <a:ext uri="{FF2B5EF4-FFF2-40B4-BE49-F238E27FC236}">
                <a16:creationId xmlns:a16="http://schemas.microsoft.com/office/drawing/2014/main" id="{465FF868-237D-AED8-1A47-5790F7C95EC2}"/>
              </a:ext>
            </a:extLst>
          </p:cNvPr>
          <p:cNvGraphicFramePr>
            <a:graphicFrameLocks noGrp="1"/>
          </p:cNvGraphicFramePr>
          <p:nvPr>
            <p:extLst>
              <p:ext uri="{D42A27DB-BD31-4B8C-83A1-F6EECF244321}">
                <p14:modId xmlns:p14="http://schemas.microsoft.com/office/powerpoint/2010/main" val="4274457112"/>
              </p:ext>
            </p:extLst>
          </p:nvPr>
        </p:nvGraphicFramePr>
        <p:xfrm>
          <a:off x="6201711" y="3173892"/>
          <a:ext cx="5824921" cy="955479"/>
        </p:xfrm>
        <a:graphic>
          <a:graphicData uri="http://schemas.openxmlformats.org/drawingml/2006/table">
            <a:tbl>
              <a:tblPr/>
              <a:tblGrid>
                <a:gridCol w="421810">
                  <a:extLst>
                    <a:ext uri="{9D8B030D-6E8A-4147-A177-3AD203B41FA5}">
                      <a16:colId xmlns:a16="http://schemas.microsoft.com/office/drawing/2014/main" val="495084399"/>
                    </a:ext>
                  </a:extLst>
                </a:gridCol>
                <a:gridCol w="231932">
                  <a:extLst>
                    <a:ext uri="{9D8B030D-6E8A-4147-A177-3AD203B41FA5}">
                      <a16:colId xmlns:a16="http://schemas.microsoft.com/office/drawing/2014/main" val="3614210242"/>
                    </a:ext>
                  </a:extLst>
                </a:gridCol>
                <a:gridCol w="551969">
                  <a:extLst>
                    <a:ext uri="{9D8B030D-6E8A-4147-A177-3AD203B41FA5}">
                      <a16:colId xmlns:a16="http://schemas.microsoft.com/office/drawing/2014/main" val="1442124609"/>
                    </a:ext>
                  </a:extLst>
                </a:gridCol>
                <a:gridCol w="2006325">
                  <a:extLst>
                    <a:ext uri="{9D8B030D-6E8A-4147-A177-3AD203B41FA5}">
                      <a16:colId xmlns:a16="http://schemas.microsoft.com/office/drawing/2014/main" val="3603859997"/>
                    </a:ext>
                  </a:extLst>
                </a:gridCol>
                <a:gridCol w="329933">
                  <a:extLst>
                    <a:ext uri="{9D8B030D-6E8A-4147-A177-3AD203B41FA5}">
                      <a16:colId xmlns:a16="http://schemas.microsoft.com/office/drawing/2014/main" val="4076488391"/>
                    </a:ext>
                  </a:extLst>
                </a:gridCol>
                <a:gridCol w="329933">
                  <a:extLst>
                    <a:ext uri="{9D8B030D-6E8A-4147-A177-3AD203B41FA5}">
                      <a16:colId xmlns:a16="http://schemas.microsoft.com/office/drawing/2014/main" val="3254101706"/>
                    </a:ext>
                  </a:extLst>
                </a:gridCol>
                <a:gridCol w="269504">
                  <a:extLst>
                    <a:ext uri="{9D8B030D-6E8A-4147-A177-3AD203B41FA5}">
                      <a16:colId xmlns:a16="http://schemas.microsoft.com/office/drawing/2014/main" val="3712391277"/>
                    </a:ext>
                  </a:extLst>
                </a:gridCol>
                <a:gridCol w="578134">
                  <a:extLst>
                    <a:ext uri="{9D8B030D-6E8A-4147-A177-3AD203B41FA5}">
                      <a16:colId xmlns:a16="http://schemas.microsoft.com/office/drawing/2014/main" val="2527660299"/>
                    </a:ext>
                  </a:extLst>
                </a:gridCol>
                <a:gridCol w="448575">
                  <a:extLst>
                    <a:ext uri="{9D8B030D-6E8A-4147-A177-3AD203B41FA5}">
                      <a16:colId xmlns:a16="http://schemas.microsoft.com/office/drawing/2014/main" val="3745192730"/>
                    </a:ext>
                  </a:extLst>
                </a:gridCol>
                <a:gridCol w="380466">
                  <a:extLst>
                    <a:ext uri="{9D8B030D-6E8A-4147-A177-3AD203B41FA5}">
                      <a16:colId xmlns:a16="http://schemas.microsoft.com/office/drawing/2014/main" val="3641075278"/>
                    </a:ext>
                  </a:extLst>
                </a:gridCol>
                <a:gridCol w="276340">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AFE Customer Payment Passthrough</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InterCo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2289903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 –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Y</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9" name="表格 8">
            <a:extLst>
              <a:ext uri="{FF2B5EF4-FFF2-40B4-BE49-F238E27FC236}">
                <a16:creationId xmlns:a16="http://schemas.microsoft.com/office/drawing/2014/main" id="{1EF32B1B-5438-40CE-AFA5-DA6F026E73CB}"/>
              </a:ext>
            </a:extLst>
          </p:cNvPr>
          <p:cNvGraphicFramePr>
            <a:graphicFrameLocks noGrp="1"/>
          </p:cNvGraphicFramePr>
          <p:nvPr>
            <p:extLst>
              <p:ext uri="{D42A27DB-BD31-4B8C-83A1-F6EECF244321}">
                <p14:modId xmlns:p14="http://schemas.microsoft.com/office/powerpoint/2010/main" val="3299427013"/>
              </p:ext>
            </p:extLst>
          </p:nvPr>
        </p:nvGraphicFramePr>
        <p:xfrm>
          <a:off x="6217175" y="1366508"/>
          <a:ext cx="5824924" cy="1729111"/>
        </p:xfrm>
        <a:graphic>
          <a:graphicData uri="http://schemas.openxmlformats.org/drawingml/2006/table">
            <a:tbl>
              <a:tblPr/>
              <a:tblGrid>
                <a:gridCol w="424031">
                  <a:extLst>
                    <a:ext uri="{9D8B030D-6E8A-4147-A177-3AD203B41FA5}">
                      <a16:colId xmlns:a16="http://schemas.microsoft.com/office/drawing/2014/main" val="495084399"/>
                    </a:ext>
                  </a:extLst>
                </a:gridCol>
                <a:gridCol w="233153">
                  <a:extLst>
                    <a:ext uri="{9D8B030D-6E8A-4147-A177-3AD203B41FA5}">
                      <a16:colId xmlns:a16="http://schemas.microsoft.com/office/drawing/2014/main" val="3614210242"/>
                    </a:ext>
                  </a:extLst>
                </a:gridCol>
                <a:gridCol w="554875">
                  <a:extLst>
                    <a:ext uri="{9D8B030D-6E8A-4147-A177-3AD203B41FA5}">
                      <a16:colId xmlns:a16="http://schemas.microsoft.com/office/drawing/2014/main" val="1442124609"/>
                    </a:ext>
                  </a:extLst>
                </a:gridCol>
                <a:gridCol w="2016890">
                  <a:extLst>
                    <a:ext uri="{9D8B030D-6E8A-4147-A177-3AD203B41FA5}">
                      <a16:colId xmlns:a16="http://schemas.microsoft.com/office/drawing/2014/main" val="3603859997"/>
                    </a:ext>
                  </a:extLst>
                </a:gridCol>
                <a:gridCol w="331672">
                  <a:extLst>
                    <a:ext uri="{9D8B030D-6E8A-4147-A177-3AD203B41FA5}">
                      <a16:colId xmlns:a16="http://schemas.microsoft.com/office/drawing/2014/main" val="4076488391"/>
                    </a:ext>
                  </a:extLst>
                </a:gridCol>
                <a:gridCol w="331672">
                  <a:extLst>
                    <a:ext uri="{9D8B030D-6E8A-4147-A177-3AD203B41FA5}">
                      <a16:colId xmlns:a16="http://schemas.microsoft.com/office/drawing/2014/main" val="3254101706"/>
                    </a:ext>
                  </a:extLst>
                </a:gridCol>
                <a:gridCol w="351683">
                  <a:extLst>
                    <a:ext uri="{9D8B030D-6E8A-4147-A177-3AD203B41FA5}">
                      <a16:colId xmlns:a16="http://schemas.microsoft.com/office/drawing/2014/main" val="3712391277"/>
                    </a:ext>
                  </a:extLst>
                </a:gridCol>
                <a:gridCol w="460342">
                  <a:extLst>
                    <a:ext uri="{9D8B030D-6E8A-4147-A177-3AD203B41FA5}">
                      <a16:colId xmlns:a16="http://schemas.microsoft.com/office/drawing/2014/main" val="918431112"/>
                    </a:ext>
                  </a:extLst>
                </a:gridCol>
                <a:gridCol w="460342">
                  <a:extLst>
                    <a:ext uri="{9D8B030D-6E8A-4147-A177-3AD203B41FA5}">
                      <a16:colId xmlns:a16="http://schemas.microsoft.com/office/drawing/2014/main" val="2527660299"/>
                    </a:ext>
                  </a:extLst>
                </a:gridCol>
                <a:gridCol w="382470">
                  <a:extLst>
                    <a:ext uri="{9D8B030D-6E8A-4147-A177-3AD203B41FA5}">
                      <a16:colId xmlns:a16="http://schemas.microsoft.com/office/drawing/2014/main" val="3641075278"/>
                    </a:ext>
                  </a:extLst>
                </a:gridCol>
                <a:gridCol w="277794">
                  <a:extLst>
                    <a:ext uri="{9D8B030D-6E8A-4147-A177-3AD203B41FA5}">
                      <a16:colId xmlns:a16="http://schemas.microsoft.com/office/drawing/2014/main" val="3618613915"/>
                    </a:ext>
                  </a:extLst>
                </a:gridCol>
              </a:tblGrid>
              <a:tr h="116185">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Rev recognition</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1825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Customer CAPEX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825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1825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202</a:t>
                      </a:r>
                      <a:endParaRPr kumimoji="0" lang="en-US" altLang="zh-CN" sz="12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202</a:t>
                      </a:r>
                      <a:endParaRPr kumimoji="0" lang="en-US" altLang="zh-CN" sz="12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4047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5010300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Turnover-merchandise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kumimoji="0" lang="en-US" altLang="zh-CN" sz="12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200</a:t>
                      </a:r>
                      <a:endParaRPr kumimoji="0" lang="en-US" altLang="zh-CN" sz="12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10/20…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298871694"/>
                  </a:ext>
                </a:extLst>
              </a:tr>
              <a:tr h="24047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Service Revenue - upfront</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84934171"/>
                  </a:ext>
                </a:extLst>
              </a:tr>
              <a:tr h="24047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5020300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Cost of Sales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713777290"/>
                  </a:ext>
                </a:extLst>
              </a:tr>
              <a:tr h="240474">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1349903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GIT</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0" name="表格 9">
            <a:extLst>
              <a:ext uri="{FF2B5EF4-FFF2-40B4-BE49-F238E27FC236}">
                <a16:creationId xmlns:a16="http://schemas.microsoft.com/office/drawing/2014/main" id="{ACD4E5AC-3514-E593-51B3-371B74A118AE}"/>
              </a:ext>
            </a:extLst>
          </p:cNvPr>
          <p:cNvGraphicFramePr>
            <a:graphicFrameLocks noGrp="1"/>
          </p:cNvGraphicFramePr>
          <p:nvPr>
            <p:extLst>
              <p:ext uri="{D42A27DB-BD31-4B8C-83A1-F6EECF244321}">
                <p14:modId xmlns:p14="http://schemas.microsoft.com/office/powerpoint/2010/main" val="852932041"/>
              </p:ext>
            </p:extLst>
          </p:nvPr>
        </p:nvGraphicFramePr>
        <p:xfrm>
          <a:off x="6239661" y="4207644"/>
          <a:ext cx="5824925" cy="955479"/>
        </p:xfrm>
        <a:graphic>
          <a:graphicData uri="http://schemas.openxmlformats.org/drawingml/2006/table">
            <a:tbl>
              <a:tblPr/>
              <a:tblGrid>
                <a:gridCol w="430144">
                  <a:extLst>
                    <a:ext uri="{9D8B030D-6E8A-4147-A177-3AD203B41FA5}">
                      <a16:colId xmlns:a16="http://schemas.microsoft.com/office/drawing/2014/main" val="495084399"/>
                    </a:ext>
                  </a:extLst>
                </a:gridCol>
                <a:gridCol w="236514">
                  <a:extLst>
                    <a:ext uri="{9D8B030D-6E8A-4147-A177-3AD203B41FA5}">
                      <a16:colId xmlns:a16="http://schemas.microsoft.com/office/drawing/2014/main" val="3614210242"/>
                    </a:ext>
                  </a:extLst>
                </a:gridCol>
                <a:gridCol w="562874">
                  <a:extLst>
                    <a:ext uri="{9D8B030D-6E8A-4147-A177-3AD203B41FA5}">
                      <a16:colId xmlns:a16="http://schemas.microsoft.com/office/drawing/2014/main" val="1442124609"/>
                    </a:ext>
                  </a:extLst>
                </a:gridCol>
                <a:gridCol w="1837891">
                  <a:extLst>
                    <a:ext uri="{9D8B030D-6E8A-4147-A177-3AD203B41FA5}">
                      <a16:colId xmlns:a16="http://schemas.microsoft.com/office/drawing/2014/main" val="3603859997"/>
                    </a:ext>
                  </a:extLst>
                </a:gridCol>
                <a:gridCol w="544524">
                  <a:extLst>
                    <a:ext uri="{9D8B030D-6E8A-4147-A177-3AD203B41FA5}">
                      <a16:colId xmlns:a16="http://schemas.microsoft.com/office/drawing/2014/main" val="4076488391"/>
                    </a:ext>
                  </a:extLst>
                </a:gridCol>
                <a:gridCol w="336451">
                  <a:extLst>
                    <a:ext uri="{9D8B030D-6E8A-4147-A177-3AD203B41FA5}">
                      <a16:colId xmlns:a16="http://schemas.microsoft.com/office/drawing/2014/main" val="3254101706"/>
                    </a:ext>
                  </a:extLst>
                </a:gridCol>
                <a:gridCol w="356752">
                  <a:extLst>
                    <a:ext uri="{9D8B030D-6E8A-4147-A177-3AD203B41FA5}">
                      <a16:colId xmlns:a16="http://schemas.microsoft.com/office/drawing/2014/main" val="3712391277"/>
                    </a:ext>
                  </a:extLst>
                </a:gridCol>
                <a:gridCol w="497847">
                  <a:extLst>
                    <a:ext uri="{9D8B030D-6E8A-4147-A177-3AD203B41FA5}">
                      <a16:colId xmlns:a16="http://schemas.microsoft.com/office/drawing/2014/main" val="423872598"/>
                    </a:ext>
                  </a:extLst>
                </a:gridCol>
                <a:gridCol w="352147">
                  <a:extLst>
                    <a:ext uri="{9D8B030D-6E8A-4147-A177-3AD203B41FA5}">
                      <a16:colId xmlns:a16="http://schemas.microsoft.com/office/drawing/2014/main" val="2527660299"/>
                    </a:ext>
                  </a:extLst>
                </a:gridCol>
                <a:gridCol w="387982">
                  <a:extLst>
                    <a:ext uri="{9D8B030D-6E8A-4147-A177-3AD203B41FA5}">
                      <a16:colId xmlns:a16="http://schemas.microsoft.com/office/drawing/2014/main" val="3641075278"/>
                    </a:ext>
                  </a:extLst>
                </a:gridCol>
                <a:gridCol w="281799">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AFE customer Payment Passthrough</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Interco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3rd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202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2289903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Other Payable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cxnSp>
        <p:nvCxnSpPr>
          <p:cNvPr id="11" name="直接连接符 10">
            <a:extLst>
              <a:ext uri="{FF2B5EF4-FFF2-40B4-BE49-F238E27FC236}">
                <a16:creationId xmlns:a16="http://schemas.microsoft.com/office/drawing/2014/main" id="{38862940-4852-4D48-0BBA-7DA79B68A511}"/>
              </a:ext>
            </a:extLst>
          </p:cNvPr>
          <p:cNvCxnSpPr>
            <a:cxnSpLocks/>
          </p:cNvCxnSpPr>
          <p:nvPr/>
        </p:nvCxnSpPr>
        <p:spPr>
          <a:xfrm>
            <a:off x="6096000" y="885825"/>
            <a:ext cx="0" cy="5972175"/>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4" name="文本框 3">
            <a:extLst>
              <a:ext uri="{FF2B5EF4-FFF2-40B4-BE49-F238E27FC236}">
                <a16:creationId xmlns:a16="http://schemas.microsoft.com/office/drawing/2014/main" id="{9ED5077E-F0D4-15CB-65E4-AFCC2293AE36}"/>
              </a:ext>
            </a:extLst>
          </p:cNvPr>
          <p:cNvSpPr txBox="1"/>
          <p:nvPr/>
        </p:nvSpPr>
        <p:spPr>
          <a:xfrm>
            <a:off x="123194" y="885825"/>
            <a:ext cx="2927926" cy="369332"/>
          </a:xfrm>
          <a:prstGeom prst="rect">
            <a:avLst/>
          </a:prstGeom>
          <a:noFill/>
        </p:spPr>
        <p:txBody>
          <a:bodyPr wrap="square" rtlCol="0">
            <a:spAutoFit/>
          </a:bodyPr>
          <a:lstStyle/>
          <a:p>
            <a:r>
              <a:rPr lang="en-US" altLang="zh-CN"/>
              <a:t>S&amp;D model</a:t>
            </a:r>
            <a:endParaRPr lang="zh-CN" altLang="en-US"/>
          </a:p>
        </p:txBody>
      </p:sp>
      <p:sp>
        <p:nvSpPr>
          <p:cNvPr id="7" name="文本框 6">
            <a:extLst>
              <a:ext uri="{FF2B5EF4-FFF2-40B4-BE49-F238E27FC236}">
                <a16:creationId xmlns:a16="http://schemas.microsoft.com/office/drawing/2014/main" id="{2C10D9AA-6A4D-513D-824E-FF066BF4FBA5}"/>
              </a:ext>
            </a:extLst>
          </p:cNvPr>
          <p:cNvSpPr txBox="1"/>
          <p:nvPr/>
        </p:nvSpPr>
        <p:spPr>
          <a:xfrm>
            <a:off x="6239661" y="885825"/>
            <a:ext cx="2927926" cy="369332"/>
          </a:xfrm>
          <a:prstGeom prst="rect">
            <a:avLst/>
          </a:prstGeom>
          <a:noFill/>
        </p:spPr>
        <p:txBody>
          <a:bodyPr wrap="square" rtlCol="0">
            <a:spAutoFit/>
          </a:bodyPr>
          <a:lstStyle/>
          <a:p>
            <a:r>
              <a:rPr lang="en-US" altLang="zh-CN"/>
              <a:t>AFE model</a:t>
            </a:r>
            <a:endParaRPr lang="zh-CN" altLang="en-US"/>
          </a:p>
        </p:txBody>
      </p:sp>
    </p:spTree>
    <p:extLst>
      <p:ext uri="{BB962C8B-B14F-4D97-AF65-F5344CB8AC3E}">
        <p14:creationId xmlns:p14="http://schemas.microsoft.com/office/powerpoint/2010/main" val="823325364"/>
      </p:ext>
    </p:extLst>
  </p:cSld>
  <p:clrMapOvr>
    <a:masterClrMapping/>
  </p:clrMapOvr>
  <p:extLst>
    <p:ext uri="{6950BFC3-D8DA-4A85-94F7-54DA5524770B}">
      <p188:commentRel xmlns:p188="http://schemas.microsoft.com/office/powerpoint/2018/8/main" r:id="rId3"/>
    </p:ext>
  </p:extLs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F1F8EF-BB0A-0579-70F8-1AEA931CDBAF}"/>
            </a:ext>
          </a:extLst>
        </p:cNvPr>
        <p:cNvGrpSpPr/>
        <p:nvPr/>
      </p:nvGrpSpPr>
      <p:grpSpPr>
        <a:xfrm>
          <a:off x="0" y="0"/>
          <a:ext cx="0" cy="0"/>
          <a:chOff x="0" y="0"/>
          <a:chExt cx="0" cy="0"/>
        </a:xfrm>
      </p:grpSpPr>
      <p:sp>
        <p:nvSpPr>
          <p:cNvPr id="2" name="文本框 1">
            <a:extLst>
              <a:ext uri="{FF2B5EF4-FFF2-40B4-BE49-F238E27FC236}">
                <a16:creationId xmlns:a16="http://schemas.microsoft.com/office/drawing/2014/main" id="{0D989424-735A-78FD-9BE2-614153FC2074}"/>
              </a:ext>
            </a:extLst>
          </p:cNvPr>
          <p:cNvSpPr txBox="1"/>
          <p:nvPr/>
        </p:nvSpPr>
        <p:spPr>
          <a:xfrm>
            <a:off x="127590" y="258392"/>
            <a:ext cx="8520711" cy="400110"/>
          </a:xfrm>
          <a:prstGeom prst="rect">
            <a:avLst/>
          </a:prstGeom>
          <a:noFill/>
        </p:spPr>
        <p:txBody>
          <a:bodyPr wrap="square" rtlCol="0">
            <a:spAutoFit/>
          </a:bodyPr>
          <a:lstStyle/>
          <a:p>
            <a:r>
              <a:rPr lang="en-US" altLang="zh-CN" sz="2000" b="1"/>
              <a:t>Syndication Invoice|DAAS|IAAS|ISGLEASE|3PO|FL|Full Sale</a:t>
            </a:r>
            <a:endParaRPr lang="zh-CN" altLang="en-US" sz="2000" b="1"/>
          </a:p>
        </p:txBody>
      </p:sp>
      <p:graphicFrame>
        <p:nvGraphicFramePr>
          <p:cNvPr id="5" name="表格 4">
            <a:extLst>
              <a:ext uri="{FF2B5EF4-FFF2-40B4-BE49-F238E27FC236}">
                <a16:creationId xmlns:a16="http://schemas.microsoft.com/office/drawing/2014/main" id="{8441AA44-C26E-7E90-B833-80D4246DF838}"/>
              </a:ext>
            </a:extLst>
          </p:cNvPr>
          <p:cNvGraphicFramePr>
            <a:graphicFrameLocks noGrp="1"/>
          </p:cNvGraphicFramePr>
          <p:nvPr>
            <p:extLst>
              <p:ext uri="{D42A27DB-BD31-4B8C-83A1-F6EECF244321}">
                <p14:modId xmlns:p14="http://schemas.microsoft.com/office/powerpoint/2010/main" val="241948264"/>
              </p:ext>
            </p:extLst>
          </p:nvPr>
        </p:nvGraphicFramePr>
        <p:xfrm>
          <a:off x="127590" y="1489082"/>
          <a:ext cx="5847298" cy="1332007"/>
        </p:xfrm>
        <a:graphic>
          <a:graphicData uri="http://schemas.openxmlformats.org/drawingml/2006/table">
            <a:tbl>
              <a:tblPr/>
              <a:tblGrid>
                <a:gridCol w="439985">
                  <a:extLst>
                    <a:ext uri="{9D8B030D-6E8A-4147-A177-3AD203B41FA5}">
                      <a16:colId xmlns:a16="http://schemas.microsoft.com/office/drawing/2014/main" val="495084399"/>
                    </a:ext>
                  </a:extLst>
                </a:gridCol>
                <a:gridCol w="227579">
                  <a:extLst>
                    <a:ext uri="{9D8B030D-6E8A-4147-A177-3AD203B41FA5}">
                      <a16:colId xmlns:a16="http://schemas.microsoft.com/office/drawing/2014/main" val="3614210242"/>
                    </a:ext>
                  </a:extLst>
                </a:gridCol>
                <a:gridCol w="575752">
                  <a:extLst>
                    <a:ext uri="{9D8B030D-6E8A-4147-A177-3AD203B41FA5}">
                      <a16:colId xmlns:a16="http://schemas.microsoft.com/office/drawing/2014/main" val="1442124609"/>
                    </a:ext>
                  </a:extLst>
                </a:gridCol>
                <a:gridCol w="1708425">
                  <a:extLst>
                    <a:ext uri="{9D8B030D-6E8A-4147-A177-3AD203B41FA5}">
                      <a16:colId xmlns:a16="http://schemas.microsoft.com/office/drawing/2014/main" val="3603859997"/>
                    </a:ext>
                  </a:extLst>
                </a:gridCol>
                <a:gridCol w="471104">
                  <a:extLst>
                    <a:ext uri="{9D8B030D-6E8A-4147-A177-3AD203B41FA5}">
                      <a16:colId xmlns:a16="http://schemas.microsoft.com/office/drawing/2014/main" val="4076488391"/>
                    </a:ext>
                  </a:extLst>
                </a:gridCol>
                <a:gridCol w="365512">
                  <a:extLst>
                    <a:ext uri="{9D8B030D-6E8A-4147-A177-3AD203B41FA5}">
                      <a16:colId xmlns:a16="http://schemas.microsoft.com/office/drawing/2014/main" val="3254101706"/>
                    </a:ext>
                  </a:extLst>
                </a:gridCol>
                <a:gridCol w="572310">
                  <a:extLst>
                    <a:ext uri="{9D8B030D-6E8A-4147-A177-3AD203B41FA5}">
                      <a16:colId xmlns:a16="http://schemas.microsoft.com/office/drawing/2014/main" val="3712391277"/>
                    </a:ext>
                  </a:extLst>
                </a:gridCol>
                <a:gridCol w="572310">
                  <a:extLst>
                    <a:ext uri="{9D8B030D-6E8A-4147-A177-3AD203B41FA5}">
                      <a16:colId xmlns:a16="http://schemas.microsoft.com/office/drawing/2014/main" val="4051557831"/>
                    </a:ext>
                  </a:extLst>
                </a:gridCol>
                <a:gridCol w="243675">
                  <a:extLst>
                    <a:ext uri="{9D8B030D-6E8A-4147-A177-3AD203B41FA5}">
                      <a16:colId xmlns:a16="http://schemas.microsoft.com/office/drawing/2014/main" val="2527660299"/>
                    </a:ext>
                  </a:extLst>
                </a:gridCol>
                <a:gridCol w="396860">
                  <a:extLst>
                    <a:ext uri="{9D8B030D-6E8A-4147-A177-3AD203B41FA5}">
                      <a16:colId xmlns:a16="http://schemas.microsoft.com/office/drawing/2014/main" val="3641075278"/>
                    </a:ext>
                  </a:extLst>
                </a:gridCol>
                <a:gridCol w="273786">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Raise invoice to the funder for funding including RV</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Odessa Syndication</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​3</a:t>
                      </a:r>
                      <a:r>
                        <a:rPr lang="en-US" sz="900" b="0" i="0" u="none" strike="noStrike" kern="1200" baseline="30000">
                          <a:solidFill>
                            <a:srgbClr val="000000"/>
                          </a:solidFill>
                          <a:effectLst/>
                          <a:latin typeface="Arial" panose="020B0604020202020204" pitchFamily="34" charset="0"/>
                          <a:ea typeface="+mn-ea"/>
                          <a:cs typeface="+mn-cs"/>
                        </a:rPr>
                        <a:t>rd</a:t>
                      </a:r>
                      <a:r>
                        <a:rPr lang="en-US" sz="900" b="0" i="0" u="none" strike="noStrike" kern="1200">
                          <a:solidFill>
                            <a:srgbClr val="000000"/>
                          </a:solidFill>
                          <a:effectLst/>
                          <a:latin typeface="Arial" panose="020B0604020202020204" pitchFamily="34" charset="0"/>
                          <a:ea typeface="+mn-ea"/>
                          <a:cs typeface="+mn-cs"/>
                        </a:rPr>
                        <a:t>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1105</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1105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Unbilled 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Acc Receivable – Upfront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Premier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6" name="表格 5">
            <a:extLst>
              <a:ext uri="{FF2B5EF4-FFF2-40B4-BE49-F238E27FC236}">
                <a16:creationId xmlns:a16="http://schemas.microsoft.com/office/drawing/2014/main" id="{2CB09377-E33C-9DF4-E5E9-81EFCFA341B2}"/>
              </a:ext>
            </a:extLst>
          </p:cNvPr>
          <p:cNvGraphicFramePr>
            <a:graphicFrameLocks noGrp="1"/>
          </p:cNvGraphicFramePr>
          <p:nvPr>
            <p:extLst>
              <p:ext uri="{D42A27DB-BD31-4B8C-83A1-F6EECF244321}">
                <p14:modId xmlns:p14="http://schemas.microsoft.com/office/powerpoint/2010/main" val="1218582480"/>
              </p:ext>
            </p:extLst>
          </p:nvPr>
        </p:nvGraphicFramePr>
        <p:xfrm>
          <a:off x="6205988" y="1489082"/>
          <a:ext cx="5847298" cy="1332007"/>
        </p:xfrm>
        <a:graphic>
          <a:graphicData uri="http://schemas.openxmlformats.org/drawingml/2006/table">
            <a:tbl>
              <a:tblPr/>
              <a:tblGrid>
                <a:gridCol w="439985">
                  <a:extLst>
                    <a:ext uri="{9D8B030D-6E8A-4147-A177-3AD203B41FA5}">
                      <a16:colId xmlns:a16="http://schemas.microsoft.com/office/drawing/2014/main" val="495084399"/>
                    </a:ext>
                  </a:extLst>
                </a:gridCol>
                <a:gridCol w="227579">
                  <a:extLst>
                    <a:ext uri="{9D8B030D-6E8A-4147-A177-3AD203B41FA5}">
                      <a16:colId xmlns:a16="http://schemas.microsoft.com/office/drawing/2014/main" val="3614210242"/>
                    </a:ext>
                  </a:extLst>
                </a:gridCol>
                <a:gridCol w="575752">
                  <a:extLst>
                    <a:ext uri="{9D8B030D-6E8A-4147-A177-3AD203B41FA5}">
                      <a16:colId xmlns:a16="http://schemas.microsoft.com/office/drawing/2014/main" val="1442124609"/>
                    </a:ext>
                  </a:extLst>
                </a:gridCol>
                <a:gridCol w="1708425">
                  <a:extLst>
                    <a:ext uri="{9D8B030D-6E8A-4147-A177-3AD203B41FA5}">
                      <a16:colId xmlns:a16="http://schemas.microsoft.com/office/drawing/2014/main" val="3603859997"/>
                    </a:ext>
                  </a:extLst>
                </a:gridCol>
                <a:gridCol w="471104">
                  <a:extLst>
                    <a:ext uri="{9D8B030D-6E8A-4147-A177-3AD203B41FA5}">
                      <a16:colId xmlns:a16="http://schemas.microsoft.com/office/drawing/2014/main" val="4076488391"/>
                    </a:ext>
                  </a:extLst>
                </a:gridCol>
                <a:gridCol w="365512">
                  <a:extLst>
                    <a:ext uri="{9D8B030D-6E8A-4147-A177-3AD203B41FA5}">
                      <a16:colId xmlns:a16="http://schemas.microsoft.com/office/drawing/2014/main" val="3254101706"/>
                    </a:ext>
                  </a:extLst>
                </a:gridCol>
                <a:gridCol w="572310">
                  <a:extLst>
                    <a:ext uri="{9D8B030D-6E8A-4147-A177-3AD203B41FA5}">
                      <a16:colId xmlns:a16="http://schemas.microsoft.com/office/drawing/2014/main" val="3712391277"/>
                    </a:ext>
                  </a:extLst>
                </a:gridCol>
                <a:gridCol w="572310">
                  <a:extLst>
                    <a:ext uri="{9D8B030D-6E8A-4147-A177-3AD203B41FA5}">
                      <a16:colId xmlns:a16="http://schemas.microsoft.com/office/drawing/2014/main" val="4051557831"/>
                    </a:ext>
                  </a:extLst>
                </a:gridCol>
                <a:gridCol w="243675">
                  <a:extLst>
                    <a:ext uri="{9D8B030D-6E8A-4147-A177-3AD203B41FA5}">
                      <a16:colId xmlns:a16="http://schemas.microsoft.com/office/drawing/2014/main" val="2527660299"/>
                    </a:ext>
                  </a:extLst>
                </a:gridCol>
                <a:gridCol w="396860">
                  <a:extLst>
                    <a:ext uri="{9D8B030D-6E8A-4147-A177-3AD203B41FA5}">
                      <a16:colId xmlns:a16="http://schemas.microsoft.com/office/drawing/2014/main" val="3641075278"/>
                    </a:ext>
                  </a:extLst>
                </a:gridCol>
                <a:gridCol w="273786">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Raise invoice to the funder for funding including RV</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Odessa Syndication</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​3</a:t>
                      </a:r>
                      <a:r>
                        <a:rPr lang="en-US" sz="900" b="0" i="0" u="none" strike="noStrike" kern="1200" baseline="30000">
                          <a:solidFill>
                            <a:srgbClr val="000000"/>
                          </a:solidFill>
                          <a:effectLst/>
                          <a:latin typeface="Arial" panose="020B0604020202020204" pitchFamily="34" charset="0"/>
                          <a:ea typeface="+mn-ea"/>
                          <a:cs typeface="+mn-cs"/>
                        </a:rPr>
                        <a:t>rd</a:t>
                      </a:r>
                      <a:r>
                        <a:rPr lang="en-US" sz="900" b="0" i="0" u="none" strike="noStrike" kern="1200">
                          <a:solidFill>
                            <a:srgbClr val="000000"/>
                          </a:solidFill>
                          <a:effectLst/>
                          <a:latin typeface="Arial" panose="020B0604020202020204" pitchFamily="34" charset="0"/>
                          <a:ea typeface="+mn-ea"/>
                          <a:cs typeface="+mn-cs"/>
                        </a:rPr>
                        <a:t>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1105</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a:solidFill>
                            <a:srgbClr val="000000"/>
                          </a:solidFill>
                          <a:effectLst/>
                          <a:latin typeface="Arial" panose="020B0604020202020204" pitchFamily="34" charset="0"/>
                        </a:rPr>
                        <a:t>1105</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4161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Unbilled 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Acc Receivable – Upfront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 Premier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11180685"/>
                  </a:ext>
                </a:extLst>
              </a:tr>
            </a:tbl>
          </a:graphicData>
        </a:graphic>
      </p:graphicFrame>
      <p:cxnSp>
        <p:nvCxnSpPr>
          <p:cNvPr id="7" name="直接连接符 6">
            <a:extLst>
              <a:ext uri="{FF2B5EF4-FFF2-40B4-BE49-F238E27FC236}">
                <a16:creationId xmlns:a16="http://schemas.microsoft.com/office/drawing/2014/main" id="{87F62870-E735-B783-D144-6D2B16E1BE3D}"/>
              </a:ext>
            </a:extLst>
          </p:cNvPr>
          <p:cNvCxnSpPr>
            <a:cxnSpLocks/>
          </p:cNvCxnSpPr>
          <p:nvPr/>
        </p:nvCxnSpPr>
        <p:spPr>
          <a:xfrm>
            <a:off x="6096000" y="658502"/>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3" name="对话气泡: 矩形 2">
            <a:extLst>
              <a:ext uri="{FF2B5EF4-FFF2-40B4-BE49-F238E27FC236}">
                <a16:creationId xmlns:a16="http://schemas.microsoft.com/office/drawing/2014/main" id="{089081AF-8EBA-1016-514B-479A013BE072}"/>
              </a:ext>
            </a:extLst>
          </p:cNvPr>
          <p:cNvSpPr/>
          <p:nvPr/>
        </p:nvSpPr>
        <p:spPr>
          <a:xfrm>
            <a:off x="341444" y="3262861"/>
            <a:ext cx="3934992" cy="505575"/>
          </a:xfrm>
          <a:prstGeom prst="wedgeRectCallout">
            <a:avLst>
              <a:gd name="adj1" fmla="val 38317"/>
              <a:gd name="adj2" fmla="val -13836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Amt follow contract price for funded premier support</a:t>
            </a:r>
            <a:endParaRPr lang="zh-CN" altLang="en-US" sz="1200">
              <a:solidFill>
                <a:schemeClr val="tx1"/>
              </a:solidFill>
            </a:endParaRPr>
          </a:p>
        </p:txBody>
      </p:sp>
      <p:sp>
        <p:nvSpPr>
          <p:cNvPr id="9" name="文本框 8">
            <a:extLst>
              <a:ext uri="{FF2B5EF4-FFF2-40B4-BE49-F238E27FC236}">
                <a16:creationId xmlns:a16="http://schemas.microsoft.com/office/drawing/2014/main" id="{550708E3-1074-6A4C-D756-D29F89E0B68E}"/>
              </a:ext>
            </a:extLst>
          </p:cNvPr>
          <p:cNvSpPr txBox="1"/>
          <p:nvPr/>
        </p:nvSpPr>
        <p:spPr>
          <a:xfrm>
            <a:off x="123313" y="1047310"/>
            <a:ext cx="2927926" cy="369332"/>
          </a:xfrm>
          <a:prstGeom prst="rect">
            <a:avLst/>
          </a:prstGeom>
          <a:noFill/>
        </p:spPr>
        <p:txBody>
          <a:bodyPr wrap="square" rtlCol="0">
            <a:spAutoFit/>
          </a:bodyPr>
          <a:lstStyle/>
          <a:p>
            <a:r>
              <a:rPr lang="en-US" altLang="zh-CN"/>
              <a:t>S&amp;D model</a:t>
            </a:r>
            <a:endParaRPr lang="zh-CN" altLang="en-US"/>
          </a:p>
        </p:txBody>
      </p:sp>
      <p:sp>
        <p:nvSpPr>
          <p:cNvPr id="10" name="文本框 9">
            <a:extLst>
              <a:ext uri="{FF2B5EF4-FFF2-40B4-BE49-F238E27FC236}">
                <a16:creationId xmlns:a16="http://schemas.microsoft.com/office/drawing/2014/main" id="{43C04BDD-4217-E3F7-3A0C-C66708C6233E}"/>
              </a:ext>
            </a:extLst>
          </p:cNvPr>
          <p:cNvSpPr txBox="1"/>
          <p:nvPr/>
        </p:nvSpPr>
        <p:spPr>
          <a:xfrm>
            <a:off x="6217113" y="1047310"/>
            <a:ext cx="2927926" cy="369332"/>
          </a:xfrm>
          <a:prstGeom prst="rect">
            <a:avLst/>
          </a:prstGeom>
          <a:noFill/>
        </p:spPr>
        <p:txBody>
          <a:bodyPr wrap="square" rtlCol="0">
            <a:spAutoFit/>
          </a:bodyPr>
          <a:lstStyle/>
          <a:p>
            <a:r>
              <a:rPr lang="en-US" altLang="zh-CN"/>
              <a:t>AFE model</a:t>
            </a:r>
            <a:endParaRPr lang="zh-CN" altLang="en-US"/>
          </a:p>
        </p:txBody>
      </p:sp>
    </p:spTree>
    <p:extLst>
      <p:ext uri="{BB962C8B-B14F-4D97-AF65-F5344CB8AC3E}">
        <p14:creationId xmlns:p14="http://schemas.microsoft.com/office/powerpoint/2010/main" val="310576071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4BA30C89-A78A-564C-5954-A0BC88ECEE84}"/>
              </a:ext>
            </a:extLst>
          </p:cNvPr>
          <p:cNvSpPr txBox="1">
            <a:spLocks/>
          </p:cNvSpPr>
          <p:nvPr/>
        </p:nvSpPr>
        <p:spPr bwMode="gray">
          <a:xfrm>
            <a:off x="97631" y="1946714"/>
            <a:ext cx="5660613" cy="341641"/>
          </a:xfrm>
          <a:prstGeom prst="rect">
            <a:avLst/>
          </a:prstGeom>
        </p:spPr>
        <p:txBody>
          <a:bodyPr wrap="square" lIns="0" tIns="0" rIns="0" bIns="0" anchor="t" anchorCtr="0"/>
          <a:lstStyle>
            <a:defPPr>
              <a:defRPr lang="en-US"/>
            </a:defPPr>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a:latin typeface="+mn-lt"/>
                <a:cs typeface="+mn-cs"/>
              </a:rPr>
              <a:t>SOR | DAAS|S&amp;D |MSA | FL | 3PO|Without  recourse</a:t>
            </a:r>
            <a:endParaRPr lang="en-US" altLang="zh-CN" sz="2000">
              <a:latin typeface="+mn-lt"/>
              <a:cs typeface="+mn-cs"/>
            </a:endParaRPr>
          </a:p>
          <a:p>
            <a:endParaRPr lang="en-US" sz="2000"/>
          </a:p>
        </p:txBody>
      </p:sp>
      <p:graphicFrame>
        <p:nvGraphicFramePr>
          <p:cNvPr id="5" name="表格 4">
            <a:extLst>
              <a:ext uri="{FF2B5EF4-FFF2-40B4-BE49-F238E27FC236}">
                <a16:creationId xmlns:a16="http://schemas.microsoft.com/office/drawing/2014/main" id="{6531E36D-A1A0-424D-B960-35F32F42F9B7}"/>
              </a:ext>
            </a:extLst>
          </p:cNvPr>
          <p:cNvGraphicFramePr>
            <a:graphicFrameLocks noGrp="1"/>
          </p:cNvGraphicFramePr>
          <p:nvPr>
            <p:extLst>
              <p:ext uri="{D42A27DB-BD31-4B8C-83A1-F6EECF244321}">
                <p14:modId xmlns:p14="http://schemas.microsoft.com/office/powerpoint/2010/main" val="1294389760"/>
              </p:ext>
            </p:extLst>
          </p:nvPr>
        </p:nvGraphicFramePr>
        <p:xfrm>
          <a:off x="97631" y="2385708"/>
          <a:ext cx="6132784" cy="2428266"/>
        </p:xfrm>
        <a:graphic>
          <a:graphicData uri="http://schemas.openxmlformats.org/drawingml/2006/table">
            <a:tbl>
              <a:tblPr/>
              <a:tblGrid>
                <a:gridCol w="432544">
                  <a:extLst>
                    <a:ext uri="{9D8B030D-6E8A-4147-A177-3AD203B41FA5}">
                      <a16:colId xmlns:a16="http://schemas.microsoft.com/office/drawing/2014/main" val="495084399"/>
                    </a:ext>
                  </a:extLst>
                </a:gridCol>
                <a:gridCol w="318443">
                  <a:extLst>
                    <a:ext uri="{9D8B030D-6E8A-4147-A177-3AD203B41FA5}">
                      <a16:colId xmlns:a16="http://schemas.microsoft.com/office/drawing/2014/main" val="3614210242"/>
                    </a:ext>
                  </a:extLst>
                </a:gridCol>
                <a:gridCol w="648829">
                  <a:extLst>
                    <a:ext uri="{9D8B030D-6E8A-4147-A177-3AD203B41FA5}">
                      <a16:colId xmlns:a16="http://schemas.microsoft.com/office/drawing/2014/main" val="1442124609"/>
                    </a:ext>
                  </a:extLst>
                </a:gridCol>
                <a:gridCol w="1665202">
                  <a:extLst>
                    <a:ext uri="{9D8B030D-6E8A-4147-A177-3AD203B41FA5}">
                      <a16:colId xmlns:a16="http://schemas.microsoft.com/office/drawing/2014/main" val="3603859997"/>
                    </a:ext>
                  </a:extLst>
                </a:gridCol>
                <a:gridCol w="792480">
                  <a:extLst>
                    <a:ext uri="{9D8B030D-6E8A-4147-A177-3AD203B41FA5}">
                      <a16:colId xmlns:a16="http://schemas.microsoft.com/office/drawing/2014/main" val="4076488391"/>
                    </a:ext>
                  </a:extLst>
                </a:gridCol>
                <a:gridCol w="792480">
                  <a:extLst>
                    <a:ext uri="{9D8B030D-6E8A-4147-A177-3AD203B41FA5}">
                      <a16:colId xmlns:a16="http://schemas.microsoft.com/office/drawing/2014/main" val="3254101706"/>
                    </a:ext>
                  </a:extLst>
                </a:gridCol>
                <a:gridCol w="265369">
                  <a:extLst>
                    <a:ext uri="{9D8B030D-6E8A-4147-A177-3AD203B41FA5}">
                      <a16:colId xmlns:a16="http://schemas.microsoft.com/office/drawing/2014/main" val="3712391277"/>
                    </a:ext>
                  </a:extLst>
                </a:gridCol>
                <a:gridCol w="313618">
                  <a:extLst>
                    <a:ext uri="{9D8B030D-6E8A-4147-A177-3AD203B41FA5}">
                      <a16:colId xmlns:a16="http://schemas.microsoft.com/office/drawing/2014/main" val="4051557831"/>
                    </a:ext>
                  </a:extLst>
                </a:gridCol>
                <a:gridCol w="260036">
                  <a:extLst>
                    <a:ext uri="{9D8B030D-6E8A-4147-A177-3AD203B41FA5}">
                      <a16:colId xmlns:a16="http://schemas.microsoft.com/office/drawing/2014/main" val="2527660299"/>
                    </a:ext>
                  </a:extLst>
                </a:gridCol>
                <a:gridCol w="374628">
                  <a:extLst>
                    <a:ext uri="{9D8B030D-6E8A-4147-A177-3AD203B41FA5}">
                      <a16:colId xmlns:a16="http://schemas.microsoft.com/office/drawing/2014/main" val="3641075278"/>
                    </a:ext>
                  </a:extLst>
                </a:gridCol>
                <a:gridCol w="269155">
                  <a:extLst>
                    <a:ext uri="{9D8B030D-6E8A-4147-A177-3AD203B41FA5}">
                      <a16:colId xmlns:a16="http://schemas.microsoft.com/office/drawing/2014/main" val="3618613915"/>
                    </a:ext>
                  </a:extLst>
                </a:gridCol>
              </a:tblGrid>
              <a:tr h="145762">
                <a:tc rowSpan="11">
                  <a:txBody>
                    <a:bodyPr/>
                    <a:lstStyle/>
                    <a:p>
                      <a:pPr algn="ctr" fontAlgn="base">
                        <a:lnSpc>
                          <a:spcPts val="1425"/>
                        </a:lnSpc>
                        <a:buNone/>
                      </a:pPr>
                      <a:r>
                        <a:rPr lang="en-US" sz="900" b="1" i="0" u="none" strike="noStrike">
                          <a:solidFill>
                            <a:srgbClr val="FFFFFF"/>
                          </a:solidFill>
                          <a:effectLst/>
                          <a:latin typeface="Arial"/>
                        </a:rPr>
                        <a:t>S&amp;D</a:t>
                      </a:r>
                      <a:r>
                        <a:rPr lang="en-US" sz="900" b="1" i="0">
                          <a:solidFill>
                            <a:srgbClr val="FFFFFF"/>
                          </a:solidFill>
                          <a:effectLst/>
                          <a:latin typeface="Arial"/>
                        </a:rPr>
                        <a:t>​</a:t>
                      </a:r>
                      <a:br>
                        <a:rPr lang="en-US" sz="900" b="1" i="0">
                          <a:solidFill>
                            <a:srgbClr val="FFFFFF"/>
                          </a:solidFill>
                          <a:effectLst/>
                          <a:latin typeface="Arial"/>
                        </a:rPr>
                      </a:br>
                      <a:r>
                        <a:rPr lang="en-US" sz="900" b="1" i="0" u="none" strike="noStrike">
                          <a:solidFill>
                            <a:srgbClr val="FFFFFF"/>
                          </a:solidFill>
                          <a:effectLst/>
                          <a:latin typeface="Arial"/>
                        </a:rPr>
                        <a:t>Entity</a:t>
                      </a:r>
                      <a:r>
                        <a:rPr lang="en-US" sz="900" b="1" i="0">
                          <a:solidFill>
                            <a:srgbClr val="FFFFFF"/>
                          </a:solidFill>
                          <a:effectLst/>
                          <a:latin typeface="Arial"/>
                        </a:rPr>
                        <a:t>​</a:t>
                      </a:r>
                      <a:endParaRPr lang="en-US" sz="1100" b="1" i="0">
                        <a:solidFill>
                          <a:srgbClr val="FFFFFF"/>
                        </a:solidFill>
                        <a:effectLst/>
                        <a:latin typeface="Arial"/>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factoring agreement with Financial Institution Odessa trigger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48353">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Account receivable from Financial Institution​</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48353">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8438">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​3</a:t>
                      </a:r>
                      <a:r>
                        <a:rPr lang="en-US" sz="900" b="0" i="0" u="none" strike="noStrike" kern="1200" baseline="30000">
                          <a:solidFill>
                            <a:srgbClr val="000000"/>
                          </a:solidFill>
                          <a:effectLst/>
                          <a:latin typeface="Arial" panose="020B0604020202020204" pitchFamily="34" charset="0"/>
                          <a:ea typeface="+mn-ea"/>
                          <a:cs typeface="+mn-cs"/>
                        </a:rPr>
                        <a:t>rd</a:t>
                      </a:r>
                      <a:r>
                        <a:rPr lang="en-US" sz="900" b="0" i="0" u="none" strike="noStrike" kern="1200">
                          <a:solidFill>
                            <a:srgbClr val="000000"/>
                          </a:solidFill>
                          <a:effectLst/>
                          <a:latin typeface="Arial" panose="020B0604020202020204" pitchFamily="34" charset="0"/>
                          <a:ea typeface="+mn-ea"/>
                          <a:cs typeface="+mn-cs"/>
                        </a:rPr>
                        <a:t>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900+95</a:t>
                      </a:r>
                      <a:r>
                        <a:rPr lang="en-US" altLang="zh-CN" sz="900" b="0" i="0" u="none" strike="noStrike" kern="1200">
                          <a:solidFill>
                            <a:srgbClr val="000000"/>
                          </a:solidFill>
                          <a:effectLst/>
                          <a:latin typeface="Arial" panose="020B0604020202020204" pitchFamily="34" charset="0"/>
                          <a:ea typeface="+mn-ea"/>
                          <a:cs typeface="+mn-cs"/>
                        </a:rPr>
                        <a:t>​+31</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900+95+31​</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LTAR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168​</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LTAR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977</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977</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08358678"/>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5220206</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rtl="0" eaLnBrk="1" fontAlgn="base" latinLnBrk="0" hangingPunct="1">
                        <a:lnSpc>
                          <a:spcPts val="1200"/>
                        </a:lnSpc>
                        <a:buNone/>
                      </a:pPr>
                      <a:r>
                        <a:rPr lang="en-US" sz="900" b="0" i="0" u="none" strike="noStrike" kern="1200">
                          <a:solidFill>
                            <a:srgbClr val="000000"/>
                          </a:solidFill>
                          <a:effectLst/>
                          <a:latin typeface="Arial"/>
                          <a:ea typeface="+mn-ea"/>
                          <a:cs typeface="+mn-cs"/>
                        </a:rPr>
                        <a:t>Financial Expense</a:t>
                      </a:r>
                      <a:r>
                        <a:rPr lang="en-US" sz="900" b="0" i="0" u="none" strike="noStrike" kern="1200" noProof="0">
                          <a:solidFill>
                            <a:srgbClr val="000000"/>
                          </a:solidFill>
                          <a:effectLst/>
                          <a:latin typeface="Arial"/>
                          <a:ea typeface="+mn-ea"/>
                          <a:cs typeface="Arial"/>
                        </a:rPr>
                        <a:t>- Factoring</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04059465"/>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5220206</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rtl="0" eaLnBrk="1" fontAlgn="base" latinLnBrk="0" hangingPunct="1">
                        <a:lnSpc>
                          <a:spcPts val="1200"/>
                        </a:lnSpc>
                        <a:spcBef>
                          <a:spcPts val="0"/>
                        </a:spcBef>
                        <a:spcAft>
                          <a:spcPts val="0"/>
                        </a:spcAft>
                        <a:buClrTx/>
                        <a:buSzTx/>
                        <a:buFontTx/>
                        <a:buNone/>
                      </a:pPr>
                      <a:r>
                        <a:rPr lang="en-US" altLang="zh-CN" sz="900" b="0" i="0" u="none" strike="noStrike" kern="1200">
                          <a:solidFill>
                            <a:srgbClr val="000000"/>
                          </a:solidFill>
                          <a:effectLst/>
                          <a:latin typeface="Arial"/>
                          <a:ea typeface="+mn-ea"/>
                          <a:cs typeface="+mn-cs"/>
                        </a:rPr>
                        <a:t>Financial Expense</a:t>
                      </a:r>
                      <a:r>
                        <a:rPr lang="en-US" sz="900" b="0" i="0" u="none" strike="noStrike" kern="1200" noProof="0">
                          <a:solidFill>
                            <a:srgbClr val="000000"/>
                          </a:solidFill>
                          <a:effectLst/>
                          <a:latin typeface="Arial"/>
                          <a:ea typeface="+mn-ea"/>
                          <a:cs typeface="Arial"/>
                        </a:rPr>
                        <a:t>- Factoring</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77</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77</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63548018"/>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Acc Receivable – Upfront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108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108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5220206</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a:lnSpc>
                          <a:spcPts val="1200"/>
                        </a:lnSpc>
                        <a:spcBef>
                          <a:spcPts val="0"/>
                        </a:spcBef>
                        <a:spcAft>
                          <a:spcPts val="0"/>
                        </a:spcAft>
                        <a:buNone/>
                      </a:pPr>
                      <a:r>
                        <a:rPr lang="en-US" sz="900" b="0" i="0" u="none" strike="noStrike" kern="1200" noProof="0">
                          <a:solidFill>
                            <a:srgbClr val="000000"/>
                          </a:solidFill>
                          <a:effectLst/>
                          <a:latin typeface="Arial"/>
                          <a:ea typeface="+mn-ea"/>
                          <a:cs typeface="Arial"/>
                        </a:rPr>
                        <a:t>Financial Expense- Factoring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13</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13</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36454727"/>
                  </a:ext>
                </a:extLst>
              </a:tr>
              <a:tr h="178438">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2280503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Other Payable -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6" name="表格 5">
            <a:extLst>
              <a:ext uri="{FF2B5EF4-FFF2-40B4-BE49-F238E27FC236}">
                <a16:creationId xmlns:a16="http://schemas.microsoft.com/office/drawing/2014/main" id="{1C847291-0CBC-5249-3CCE-D95F3683670B}"/>
              </a:ext>
            </a:extLst>
          </p:cNvPr>
          <p:cNvGraphicFramePr>
            <a:graphicFrameLocks noGrp="1"/>
          </p:cNvGraphicFramePr>
          <p:nvPr>
            <p:extLst>
              <p:ext uri="{D42A27DB-BD31-4B8C-83A1-F6EECF244321}">
                <p14:modId xmlns:p14="http://schemas.microsoft.com/office/powerpoint/2010/main" val="980800101"/>
              </p:ext>
            </p:extLst>
          </p:nvPr>
        </p:nvGraphicFramePr>
        <p:xfrm>
          <a:off x="111218" y="577091"/>
          <a:ext cx="6053190" cy="1381430"/>
        </p:xfrm>
        <a:graphic>
          <a:graphicData uri="http://schemas.openxmlformats.org/drawingml/2006/table">
            <a:tbl>
              <a:tblPr/>
              <a:tblGrid>
                <a:gridCol w="439985">
                  <a:extLst>
                    <a:ext uri="{9D8B030D-6E8A-4147-A177-3AD203B41FA5}">
                      <a16:colId xmlns:a16="http://schemas.microsoft.com/office/drawing/2014/main" val="495084399"/>
                    </a:ext>
                  </a:extLst>
                </a:gridCol>
                <a:gridCol w="335280">
                  <a:extLst>
                    <a:ext uri="{9D8B030D-6E8A-4147-A177-3AD203B41FA5}">
                      <a16:colId xmlns:a16="http://schemas.microsoft.com/office/drawing/2014/main" val="3614210242"/>
                    </a:ext>
                  </a:extLst>
                </a:gridCol>
                <a:gridCol w="659130">
                  <a:extLst>
                    <a:ext uri="{9D8B030D-6E8A-4147-A177-3AD203B41FA5}">
                      <a16:colId xmlns:a16="http://schemas.microsoft.com/office/drawing/2014/main" val="1442124609"/>
                    </a:ext>
                  </a:extLst>
                </a:gridCol>
                <a:gridCol w="1691640">
                  <a:extLst>
                    <a:ext uri="{9D8B030D-6E8A-4147-A177-3AD203B41FA5}">
                      <a16:colId xmlns:a16="http://schemas.microsoft.com/office/drawing/2014/main" val="3603859997"/>
                    </a:ext>
                  </a:extLst>
                </a:gridCol>
                <a:gridCol w="697648">
                  <a:extLst>
                    <a:ext uri="{9D8B030D-6E8A-4147-A177-3AD203B41FA5}">
                      <a16:colId xmlns:a16="http://schemas.microsoft.com/office/drawing/2014/main" val="4076488391"/>
                    </a:ext>
                  </a:extLst>
                </a:gridCol>
                <a:gridCol w="705586">
                  <a:extLst>
                    <a:ext uri="{9D8B030D-6E8A-4147-A177-3AD203B41FA5}">
                      <a16:colId xmlns:a16="http://schemas.microsoft.com/office/drawing/2014/main" val="3254101706"/>
                    </a:ext>
                  </a:extLst>
                </a:gridCol>
                <a:gridCol w="279400">
                  <a:extLst>
                    <a:ext uri="{9D8B030D-6E8A-4147-A177-3AD203B41FA5}">
                      <a16:colId xmlns:a16="http://schemas.microsoft.com/office/drawing/2014/main" val="3712391277"/>
                    </a:ext>
                  </a:extLst>
                </a:gridCol>
                <a:gridCol w="330200">
                  <a:extLst>
                    <a:ext uri="{9D8B030D-6E8A-4147-A177-3AD203B41FA5}">
                      <a16:colId xmlns:a16="http://schemas.microsoft.com/office/drawing/2014/main" val="4051557831"/>
                    </a:ext>
                  </a:extLst>
                </a:gridCol>
                <a:gridCol w="243675">
                  <a:extLst>
                    <a:ext uri="{9D8B030D-6E8A-4147-A177-3AD203B41FA5}">
                      <a16:colId xmlns:a16="http://schemas.microsoft.com/office/drawing/2014/main" val="2527660299"/>
                    </a:ext>
                  </a:extLst>
                </a:gridCol>
                <a:gridCol w="396860">
                  <a:extLst>
                    <a:ext uri="{9D8B030D-6E8A-4147-A177-3AD203B41FA5}">
                      <a16:colId xmlns:a16="http://schemas.microsoft.com/office/drawing/2014/main" val="3641075278"/>
                    </a:ext>
                  </a:extLst>
                </a:gridCol>
                <a:gridCol w="273786">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factoring agreement with Financial Institution Odessa trigger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42068">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Account receivable from Financial Institution​</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​3</a:t>
                      </a:r>
                      <a:r>
                        <a:rPr lang="en-US" sz="900" b="0" i="0" u="none" strike="noStrike" kern="1200" baseline="30000">
                          <a:solidFill>
                            <a:srgbClr val="000000"/>
                          </a:solidFill>
                          <a:effectLst/>
                          <a:latin typeface="Arial" panose="020B0604020202020204" pitchFamily="34" charset="0"/>
                          <a:ea typeface="+mn-ea"/>
                          <a:cs typeface="+mn-cs"/>
                        </a:rPr>
                        <a:t>rd</a:t>
                      </a:r>
                      <a:r>
                        <a:rPr lang="en-US" sz="900" b="0" i="0" u="none" strike="noStrike" kern="1200">
                          <a:solidFill>
                            <a:srgbClr val="000000"/>
                          </a:solidFill>
                          <a:effectLst/>
                          <a:latin typeface="Arial" panose="020B0604020202020204" pitchFamily="34" charset="0"/>
                          <a:ea typeface="+mn-ea"/>
                          <a:cs typeface="+mn-cs"/>
                        </a:rPr>
                        <a:t>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900+95+31</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900+95+31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2280503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Other Payable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900+31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900+31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Acc Receivable – Upfront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5220206</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Financial Expenses - Factoring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86772307"/>
                  </a:ext>
                </a:extLst>
              </a:tr>
            </a:tbl>
          </a:graphicData>
        </a:graphic>
      </p:graphicFrame>
      <p:sp>
        <p:nvSpPr>
          <p:cNvPr id="7" name="Title 1">
            <a:extLst>
              <a:ext uri="{FF2B5EF4-FFF2-40B4-BE49-F238E27FC236}">
                <a16:creationId xmlns:a16="http://schemas.microsoft.com/office/drawing/2014/main" id="{9674D70A-5BD2-DAD6-ABDF-97C8CA8F7434}"/>
              </a:ext>
            </a:extLst>
          </p:cNvPr>
          <p:cNvSpPr txBox="1">
            <a:spLocks/>
          </p:cNvSpPr>
          <p:nvPr/>
        </p:nvSpPr>
        <p:spPr bwMode="gray">
          <a:xfrm>
            <a:off x="156987" y="124272"/>
            <a:ext cx="5395381" cy="440088"/>
          </a:xfrm>
          <a:prstGeom prst="rect">
            <a:avLst/>
          </a:prstGeom>
        </p:spPr>
        <p:txBody>
          <a:bodyPr wrap="square" lIns="0" tIns="0" rIns="0" bIns="0" anchor="t" anchorCtr="0"/>
          <a:lstStyle>
            <a:defPPr>
              <a:defRPr lang="en-US"/>
            </a:defPPr>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a:latin typeface="+mn-lt"/>
                <a:cs typeface="+mn-cs"/>
              </a:rPr>
              <a:t>SOR | DAAS|S&amp;D|OL |3PO| Without recourse</a:t>
            </a:r>
            <a:endParaRPr lang="en-US" altLang="zh-CN" sz="2000">
              <a:latin typeface="+mn-lt"/>
              <a:cs typeface="+mn-cs"/>
            </a:endParaRPr>
          </a:p>
        </p:txBody>
      </p:sp>
      <p:sp>
        <p:nvSpPr>
          <p:cNvPr id="8" name="Title 1">
            <a:extLst>
              <a:ext uri="{FF2B5EF4-FFF2-40B4-BE49-F238E27FC236}">
                <a16:creationId xmlns:a16="http://schemas.microsoft.com/office/drawing/2014/main" id="{D0BE5ED8-4749-D5F6-36BE-0A3F46668389}"/>
              </a:ext>
            </a:extLst>
          </p:cNvPr>
          <p:cNvSpPr txBox="1">
            <a:spLocks/>
          </p:cNvSpPr>
          <p:nvPr/>
        </p:nvSpPr>
        <p:spPr bwMode="gray">
          <a:xfrm>
            <a:off x="97631" y="4911327"/>
            <a:ext cx="5514094" cy="293392"/>
          </a:xfrm>
          <a:prstGeom prst="rect">
            <a:avLst/>
          </a:prstGeom>
        </p:spPr>
        <p:txBody>
          <a:bodyPr wrap="square" lIns="0" tIns="0" rIns="0" bIns="0" anchor="t" anchorCtr="0"/>
          <a:lstStyle>
            <a:defPPr>
              <a:defRPr lang="en-US"/>
            </a:defPPr>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a:latin typeface="+mn-lt"/>
                <a:cs typeface="+mn-cs"/>
              </a:rPr>
              <a:t>SOR | DAAS|S&amp;D| AFE|OL | FL|3PO|With  recourse</a:t>
            </a:r>
            <a:endParaRPr lang="en-US" altLang="zh-CN" sz="2000">
              <a:latin typeface="+mn-lt"/>
              <a:cs typeface="+mn-cs"/>
            </a:endParaRPr>
          </a:p>
          <a:p>
            <a:endParaRPr lang="en-US" sz="2000"/>
          </a:p>
        </p:txBody>
      </p:sp>
      <p:graphicFrame>
        <p:nvGraphicFramePr>
          <p:cNvPr id="9" name="表格 8">
            <a:extLst>
              <a:ext uri="{FF2B5EF4-FFF2-40B4-BE49-F238E27FC236}">
                <a16:creationId xmlns:a16="http://schemas.microsoft.com/office/drawing/2014/main" id="{4B97727B-59E1-F91A-F85A-D2FB5F3B2676}"/>
              </a:ext>
            </a:extLst>
          </p:cNvPr>
          <p:cNvGraphicFramePr>
            <a:graphicFrameLocks noGrp="1"/>
          </p:cNvGraphicFramePr>
          <p:nvPr>
            <p:extLst>
              <p:ext uri="{D42A27DB-BD31-4B8C-83A1-F6EECF244321}">
                <p14:modId xmlns:p14="http://schemas.microsoft.com/office/powerpoint/2010/main" val="1767763177"/>
              </p:ext>
            </p:extLst>
          </p:nvPr>
        </p:nvGraphicFramePr>
        <p:xfrm>
          <a:off x="97631" y="5360003"/>
          <a:ext cx="6197017" cy="955479"/>
        </p:xfrm>
        <a:graphic>
          <a:graphicData uri="http://schemas.openxmlformats.org/drawingml/2006/table">
            <a:tbl>
              <a:tblPr/>
              <a:tblGrid>
                <a:gridCol w="553972">
                  <a:extLst>
                    <a:ext uri="{9D8B030D-6E8A-4147-A177-3AD203B41FA5}">
                      <a16:colId xmlns:a16="http://schemas.microsoft.com/office/drawing/2014/main" val="495084399"/>
                    </a:ext>
                  </a:extLst>
                </a:gridCol>
                <a:gridCol w="286536">
                  <a:extLst>
                    <a:ext uri="{9D8B030D-6E8A-4147-A177-3AD203B41FA5}">
                      <a16:colId xmlns:a16="http://schemas.microsoft.com/office/drawing/2014/main" val="3614210242"/>
                    </a:ext>
                  </a:extLst>
                </a:gridCol>
                <a:gridCol w="619759">
                  <a:extLst>
                    <a:ext uri="{9D8B030D-6E8A-4147-A177-3AD203B41FA5}">
                      <a16:colId xmlns:a16="http://schemas.microsoft.com/office/drawing/2014/main" val="1442124609"/>
                    </a:ext>
                  </a:extLst>
                </a:gridCol>
                <a:gridCol w="1320798">
                  <a:extLst>
                    <a:ext uri="{9D8B030D-6E8A-4147-A177-3AD203B41FA5}">
                      <a16:colId xmlns:a16="http://schemas.microsoft.com/office/drawing/2014/main" val="3603859997"/>
                    </a:ext>
                  </a:extLst>
                </a:gridCol>
                <a:gridCol w="822959">
                  <a:extLst>
                    <a:ext uri="{9D8B030D-6E8A-4147-A177-3AD203B41FA5}">
                      <a16:colId xmlns:a16="http://schemas.microsoft.com/office/drawing/2014/main" val="4076488391"/>
                    </a:ext>
                  </a:extLst>
                </a:gridCol>
                <a:gridCol w="750284">
                  <a:extLst>
                    <a:ext uri="{9D8B030D-6E8A-4147-A177-3AD203B41FA5}">
                      <a16:colId xmlns:a16="http://schemas.microsoft.com/office/drawing/2014/main" val="3254101706"/>
                    </a:ext>
                  </a:extLst>
                </a:gridCol>
                <a:gridCol w="316422">
                  <a:extLst>
                    <a:ext uri="{9D8B030D-6E8A-4147-A177-3AD203B41FA5}">
                      <a16:colId xmlns:a16="http://schemas.microsoft.com/office/drawing/2014/main" val="3712391277"/>
                    </a:ext>
                  </a:extLst>
                </a:gridCol>
                <a:gridCol w="375096">
                  <a:extLst>
                    <a:ext uri="{9D8B030D-6E8A-4147-A177-3AD203B41FA5}">
                      <a16:colId xmlns:a16="http://schemas.microsoft.com/office/drawing/2014/main" val="4051557831"/>
                    </a:ext>
                  </a:extLst>
                </a:gridCol>
                <a:gridCol w="350029">
                  <a:extLst>
                    <a:ext uri="{9D8B030D-6E8A-4147-A177-3AD203B41FA5}">
                      <a16:colId xmlns:a16="http://schemas.microsoft.com/office/drawing/2014/main" val="2527660299"/>
                    </a:ext>
                  </a:extLst>
                </a:gridCol>
                <a:gridCol w="456448">
                  <a:extLst>
                    <a:ext uri="{9D8B030D-6E8A-4147-A177-3AD203B41FA5}">
                      <a16:colId xmlns:a16="http://schemas.microsoft.com/office/drawing/2014/main" val="3641075278"/>
                    </a:ext>
                  </a:extLst>
                </a:gridCol>
                <a:gridCol w="344714">
                  <a:extLst>
                    <a:ext uri="{9D8B030D-6E8A-4147-A177-3AD203B41FA5}">
                      <a16:colId xmlns:a16="http://schemas.microsoft.com/office/drawing/2014/main" val="3618613915"/>
                    </a:ext>
                  </a:extLst>
                </a:gridCol>
              </a:tblGrid>
              <a:tr h="0">
                <a:tc rowSpan="5">
                  <a:txBody>
                    <a:bodyPr/>
                    <a:lstStyle/>
                    <a:p>
                      <a:pPr algn="ctr" fontAlgn="base">
                        <a:lnSpc>
                          <a:spcPts val="1425"/>
                        </a:lnSpc>
                        <a:buNone/>
                      </a:pPr>
                      <a:r>
                        <a:rPr lang="en-US" sz="900" b="1" i="0" u="none" strike="noStrike">
                          <a:solidFill>
                            <a:srgbClr val="FFFFFF"/>
                          </a:solidFill>
                          <a:effectLst/>
                          <a:latin typeface="Arial"/>
                        </a:rPr>
                        <a:t>S&amp;D</a:t>
                      </a:r>
                      <a:r>
                        <a:rPr lang="en-US" sz="900" b="1" i="0">
                          <a:solidFill>
                            <a:srgbClr val="FFFFFF"/>
                          </a:solidFill>
                          <a:effectLst/>
                          <a:latin typeface="Arial"/>
                        </a:rPr>
                        <a:t>​</a:t>
                      </a:r>
                      <a:br>
                        <a:rPr lang="en-US" sz="900" b="1" i="0">
                          <a:solidFill>
                            <a:srgbClr val="FFFFFF"/>
                          </a:solidFill>
                          <a:effectLst/>
                          <a:latin typeface="Arial"/>
                        </a:rPr>
                      </a:br>
                      <a:r>
                        <a:rPr lang="en-US" sz="900" b="1" i="0" u="none" strike="noStrike">
                          <a:solidFill>
                            <a:srgbClr val="FFFFFF"/>
                          </a:solidFill>
                          <a:effectLst/>
                          <a:latin typeface="Arial"/>
                        </a:rPr>
                        <a:t>Entity</a:t>
                      </a:r>
                      <a:r>
                        <a:rPr lang="en-US" sz="900" b="1" i="0">
                          <a:solidFill>
                            <a:srgbClr val="FFFFFF"/>
                          </a:solidFill>
                          <a:effectLst/>
                          <a:latin typeface="Arial"/>
                        </a:rPr>
                        <a:t>​&amp;AFE</a:t>
                      </a:r>
                      <a:endParaRPr lang="en-US" sz="1100" b="1" i="0">
                        <a:solidFill>
                          <a:srgbClr val="FFFFFF"/>
                        </a:solidFill>
                        <a:effectLst/>
                        <a:latin typeface="Arial"/>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factoring agreement with Financial Institution Odessa trigger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Account receivable from Financial Institution​</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​3</a:t>
                      </a:r>
                      <a:r>
                        <a:rPr lang="en-US" sz="900" b="0" i="0" u="none" strike="noStrike" kern="1200" baseline="30000">
                          <a:solidFill>
                            <a:srgbClr val="000000"/>
                          </a:solidFill>
                          <a:effectLst/>
                          <a:latin typeface="Arial" panose="020B0604020202020204" pitchFamily="34" charset="0"/>
                          <a:ea typeface="+mn-ea"/>
                          <a:cs typeface="+mn-cs"/>
                        </a:rPr>
                        <a:t>rd</a:t>
                      </a:r>
                      <a:r>
                        <a:rPr lang="en-US" sz="900" b="0" i="0" u="none" strike="noStrike" kern="1200">
                          <a:solidFill>
                            <a:srgbClr val="000000"/>
                          </a:solidFill>
                          <a:effectLst/>
                          <a:latin typeface="Arial" panose="020B0604020202020204" pitchFamily="34" charset="0"/>
                          <a:ea typeface="+mn-ea"/>
                          <a:cs typeface="+mn-cs"/>
                        </a:rPr>
                        <a:t>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a:rPr>
                        <a:t>900+95+31</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a:ea typeface="+mn-ea"/>
                          <a:cs typeface="+mn-cs"/>
                        </a:rPr>
                        <a:t>900+95</a:t>
                      </a:r>
                      <a:r>
                        <a:rPr lang="en-US" sz="900" b="0" i="0" u="none" strike="noStrike" kern="1200" noProof="0">
                          <a:solidFill>
                            <a:srgbClr val="000000"/>
                          </a:solidFill>
                          <a:effectLst/>
                          <a:latin typeface="Arial"/>
                          <a:ea typeface="+mn-ea"/>
                          <a:cs typeface="Arial"/>
                        </a:rPr>
                        <a:t>+31</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2280503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Other Payable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a:ea typeface="+mn-ea"/>
                          <a:cs typeface="+mn-cs"/>
                        </a:rPr>
                        <a:t>900+95</a:t>
                      </a:r>
                      <a:r>
                        <a:rPr lang="en-US" sz="900" b="0" i="0" u="none" strike="noStrike" kern="1200" noProof="0">
                          <a:solidFill>
                            <a:srgbClr val="000000"/>
                          </a:solidFill>
                          <a:effectLst/>
                          <a:latin typeface="Arial"/>
                          <a:ea typeface="+mn-ea"/>
                          <a:cs typeface="Arial"/>
                        </a:rPr>
                        <a:t>+31</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a:ea typeface="+mn-ea"/>
                          <a:cs typeface="+mn-cs"/>
                        </a:rPr>
                        <a:t>900+95</a:t>
                      </a:r>
                      <a:r>
                        <a:rPr lang="en-US" sz="900" b="0" i="0" u="none" strike="noStrike" kern="1200" noProof="0">
                          <a:solidFill>
                            <a:srgbClr val="000000"/>
                          </a:solidFill>
                          <a:effectLst/>
                          <a:latin typeface="Arial"/>
                          <a:ea typeface="+mn-ea"/>
                          <a:cs typeface="Arial"/>
                        </a:rPr>
                        <a:t>+31</a:t>
                      </a: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sp>
        <p:nvSpPr>
          <p:cNvPr id="3" name="对话气泡: 矩形 2">
            <a:extLst>
              <a:ext uri="{FF2B5EF4-FFF2-40B4-BE49-F238E27FC236}">
                <a16:creationId xmlns:a16="http://schemas.microsoft.com/office/drawing/2014/main" id="{C8DA552D-A511-84AC-5F7E-324B6BF231F9}"/>
              </a:ext>
            </a:extLst>
          </p:cNvPr>
          <p:cNvSpPr/>
          <p:nvPr/>
        </p:nvSpPr>
        <p:spPr>
          <a:xfrm>
            <a:off x="12367185" y="2079315"/>
            <a:ext cx="1398289" cy="1734057"/>
          </a:xfrm>
          <a:prstGeom prst="wedgeRectCallout">
            <a:avLst>
              <a:gd name="adj1" fmla="val -62170"/>
              <a:gd name="adj2" fmla="val -4676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-Clearing LTAR Interco M0 funded premier; </a:t>
            </a:r>
          </a:p>
          <a:p>
            <a:r>
              <a:rPr lang="en-US" altLang="zh-CN" sz="1200">
                <a:solidFill>
                  <a:schemeClr val="tx1"/>
                </a:solidFill>
              </a:rPr>
              <a:t>-Recognize funded premier interest, net off amt recorded in financial expense</a:t>
            </a:r>
            <a:endParaRPr lang="zh-CN" altLang="en-US" sz="1200">
              <a:solidFill>
                <a:schemeClr val="tx1"/>
              </a:solidFill>
            </a:endParaRPr>
          </a:p>
        </p:txBody>
      </p:sp>
      <p:sp>
        <p:nvSpPr>
          <p:cNvPr id="10" name="Title 1">
            <a:extLst>
              <a:ext uri="{FF2B5EF4-FFF2-40B4-BE49-F238E27FC236}">
                <a16:creationId xmlns:a16="http://schemas.microsoft.com/office/drawing/2014/main" id="{031A051B-F54E-714E-E239-FFC29B118CAB}"/>
              </a:ext>
            </a:extLst>
          </p:cNvPr>
          <p:cNvSpPr txBox="1">
            <a:spLocks/>
          </p:cNvSpPr>
          <p:nvPr/>
        </p:nvSpPr>
        <p:spPr bwMode="gray">
          <a:xfrm>
            <a:off x="6346432" y="0"/>
            <a:ext cx="5395381" cy="440088"/>
          </a:xfrm>
          <a:prstGeom prst="rect">
            <a:avLst/>
          </a:prstGeom>
        </p:spPr>
        <p:txBody>
          <a:bodyPr wrap="square" lIns="0" tIns="0" rIns="0" bIns="0" anchor="t" anchorCtr="0"/>
          <a:lstStyle>
            <a:defPPr>
              <a:defRPr lang="en-US"/>
            </a:defPPr>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a:latin typeface="+mn-lt"/>
                <a:cs typeface="+mn-cs"/>
              </a:rPr>
              <a:t>SOR | DAAS| AFE|OL |3PO| Without recourse</a:t>
            </a:r>
            <a:endParaRPr lang="en-US" altLang="zh-CN" sz="2000">
              <a:latin typeface="+mn-lt"/>
              <a:cs typeface="+mn-cs"/>
            </a:endParaRPr>
          </a:p>
        </p:txBody>
      </p:sp>
      <p:graphicFrame>
        <p:nvGraphicFramePr>
          <p:cNvPr id="11" name="表格 10">
            <a:extLst>
              <a:ext uri="{FF2B5EF4-FFF2-40B4-BE49-F238E27FC236}">
                <a16:creationId xmlns:a16="http://schemas.microsoft.com/office/drawing/2014/main" id="{C2FCF358-A14B-9313-BA46-EF464DCBDBCE}"/>
              </a:ext>
            </a:extLst>
          </p:cNvPr>
          <p:cNvGraphicFramePr>
            <a:graphicFrameLocks noGrp="1"/>
          </p:cNvGraphicFramePr>
          <p:nvPr>
            <p:extLst>
              <p:ext uri="{D42A27DB-BD31-4B8C-83A1-F6EECF244321}">
                <p14:modId xmlns:p14="http://schemas.microsoft.com/office/powerpoint/2010/main" val="2673403426"/>
              </p:ext>
            </p:extLst>
          </p:nvPr>
        </p:nvGraphicFramePr>
        <p:xfrm>
          <a:off x="6285433" y="392362"/>
          <a:ext cx="5904736" cy="2076566"/>
        </p:xfrm>
        <a:graphic>
          <a:graphicData uri="http://schemas.openxmlformats.org/drawingml/2006/table">
            <a:tbl>
              <a:tblPr/>
              <a:tblGrid>
                <a:gridCol w="350979">
                  <a:extLst>
                    <a:ext uri="{9D8B030D-6E8A-4147-A177-3AD203B41FA5}">
                      <a16:colId xmlns:a16="http://schemas.microsoft.com/office/drawing/2014/main" val="495084399"/>
                    </a:ext>
                  </a:extLst>
                </a:gridCol>
                <a:gridCol w="337764">
                  <a:extLst>
                    <a:ext uri="{9D8B030D-6E8A-4147-A177-3AD203B41FA5}">
                      <a16:colId xmlns:a16="http://schemas.microsoft.com/office/drawing/2014/main" val="3614210242"/>
                    </a:ext>
                  </a:extLst>
                </a:gridCol>
                <a:gridCol w="664013">
                  <a:extLst>
                    <a:ext uri="{9D8B030D-6E8A-4147-A177-3AD203B41FA5}">
                      <a16:colId xmlns:a16="http://schemas.microsoft.com/office/drawing/2014/main" val="1442124609"/>
                    </a:ext>
                  </a:extLst>
                </a:gridCol>
                <a:gridCol w="1659890">
                  <a:extLst>
                    <a:ext uri="{9D8B030D-6E8A-4147-A177-3AD203B41FA5}">
                      <a16:colId xmlns:a16="http://schemas.microsoft.com/office/drawing/2014/main" val="3603859997"/>
                    </a:ext>
                  </a:extLst>
                </a:gridCol>
                <a:gridCol w="690171">
                  <a:extLst>
                    <a:ext uri="{9D8B030D-6E8A-4147-A177-3AD203B41FA5}">
                      <a16:colId xmlns:a16="http://schemas.microsoft.com/office/drawing/2014/main" val="4076488391"/>
                    </a:ext>
                  </a:extLst>
                </a:gridCol>
                <a:gridCol w="705586">
                  <a:extLst>
                    <a:ext uri="{9D8B030D-6E8A-4147-A177-3AD203B41FA5}">
                      <a16:colId xmlns:a16="http://schemas.microsoft.com/office/drawing/2014/main" val="3254101706"/>
                    </a:ext>
                  </a:extLst>
                </a:gridCol>
                <a:gridCol w="266808">
                  <a:extLst>
                    <a:ext uri="{9D8B030D-6E8A-4147-A177-3AD203B41FA5}">
                      <a16:colId xmlns:a16="http://schemas.microsoft.com/office/drawing/2014/main" val="3712391277"/>
                    </a:ext>
                  </a:extLst>
                </a:gridCol>
                <a:gridCol w="315318">
                  <a:extLst>
                    <a:ext uri="{9D8B030D-6E8A-4147-A177-3AD203B41FA5}">
                      <a16:colId xmlns:a16="http://schemas.microsoft.com/office/drawing/2014/main" val="4051557831"/>
                    </a:ext>
                  </a:extLst>
                </a:gridCol>
                <a:gridCol w="273786">
                  <a:extLst>
                    <a:ext uri="{9D8B030D-6E8A-4147-A177-3AD203B41FA5}">
                      <a16:colId xmlns:a16="http://schemas.microsoft.com/office/drawing/2014/main" val="2527660299"/>
                    </a:ext>
                  </a:extLst>
                </a:gridCol>
                <a:gridCol w="378974">
                  <a:extLst>
                    <a:ext uri="{9D8B030D-6E8A-4147-A177-3AD203B41FA5}">
                      <a16:colId xmlns:a16="http://schemas.microsoft.com/office/drawing/2014/main" val="3641075278"/>
                    </a:ext>
                  </a:extLst>
                </a:gridCol>
                <a:gridCol w="261447">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factoring agreement with Financial Institution Odessa trigger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42068">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Account receivable from Financial Institution​</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​3</a:t>
                      </a:r>
                      <a:r>
                        <a:rPr lang="en-US" sz="900" b="0" i="0" u="none" strike="noStrike" kern="1200" baseline="30000">
                          <a:solidFill>
                            <a:srgbClr val="000000"/>
                          </a:solidFill>
                          <a:effectLst/>
                          <a:latin typeface="Arial" panose="020B0604020202020204" pitchFamily="34" charset="0"/>
                          <a:ea typeface="+mn-ea"/>
                          <a:cs typeface="+mn-cs"/>
                        </a:rPr>
                        <a:t>rd</a:t>
                      </a:r>
                      <a:r>
                        <a:rPr lang="en-US" sz="900" b="0" i="0" u="none" strike="noStrike" kern="1200">
                          <a:solidFill>
                            <a:srgbClr val="000000"/>
                          </a:solidFill>
                          <a:effectLst/>
                          <a:latin typeface="Arial" panose="020B0604020202020204" pitchFamily="34" charset="0"/>
                          <a:ea typeface="+mn-ea"/>
                          <a:cs typeface="+mn-cs"/>
                        </a:rPr>
                        <a:t>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900+95+31</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900+95+31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2280503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Other Payable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Acc Receivable – Upfront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5220206</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Financial Expenses - Factoring</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8677230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5220206​</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Financial</a:t>
                      </a:r>
                      <a:r>
                        <a:rPr lang="en-US" altLang="zh-CN" sz="900" b="0" i="0" u="none" strike="noStrike" kern="1200">
                          <a:solidFill>
                            <a:srgbClr val="000000"/>
                          </a:solidFill>
                          <a:effectLst/>
                          <a:latin typeface="Arial" panose="020B0604020202020204" pitchFamily="34" charset="0"/>
                          <a:ea typeface="+mn-ea"/>
                          <a:cs typeface="+mn-cs"/>
                        </a:rPr>
                        <a:t>​</a:t>
                      </a:r>
                      <a:r>
                        <a:rPr lang="en-US" sz="900" b="0" i="0" u="none" strike="noStrike" kern="1200">
                          <a:solidFill>
                            <a:srgbClr val="000000"/>
                          </a:solidFill>
                          <a:effectLst/>
                          <a:latin typeface="Arial" panose="020B0604020202020204" pitchFamily="34" charset="0"/>
                          <a:ea typeface="+mn-ea"/>
                          <a:cs typeface="+mn-cs"/>
                        </a:rPr>
                        <a:t> Expenses -Factoring</a:t>
                      </a:r>
                    </a:p>
                  </a:txBody>
                  <a:tcPr marL="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LR – Funded Premier ​</a:t>
                      </a:r>
                    </a:p>
                  </a:txBody>
                  <a:tcPr marL="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64538902"/>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premier</a:t>
                      </a:r>
                    </a:p>
                  </a:txBody>
                  <a:tcPr marL="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80517254"/>
                  </a:ext>
                </a:extLst>
              </a:tr>
            </a:tbl>
          </a:graphicData>
        </a:graphic>
      </p:graphicFrame>
      <p:sp>
        <p:nvSpPr>
          <p:cNvPr id="12" name="Title 1">
            <a:extLst>
              <a:ext uri="{FF2B5EF4-FFF2-40B4-BE49-F238E27FC236}">
                <a16:creationId xmlns:a16="http://schemas.microsoft.com/office/drawing/2014/main" id="{E423DFEE-EB7F-0FC0-59DB-69CE8355D89D}"/>
              </a:ext>
            </a:extLst>
          </p:cNvPr>
          <p:cNvSpPr txBox="1">
            <a:spLocks/>
          </p:cNvSpPr>
          <p:nvPr/>
        </p:nvSpPr>
        <p:spPr bwMode="gray">
          <a:xfrm>
            <a:off x="6352540" y="2583947"/>
            <a:ext cx="5660613" cy="341641"/>
          </a:xfrm>
          <a:prstGeom prst="rect">
            <a:avLst/>
          </a:prstGeom>
        </p:spPr>
        <p:txBody>
          <a:bodyPr wrap="square" lIns="0" tIns="0" rIns="0" bIns="0" anchor="t" anchorCtr="0"/>
          <a:lstStyle>
            <a:defPPr>
              <a:defRPr lang="en-US"/>
            </a:defPPr>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a:latin typeface="+mn-lt"/>
                <a:cs typeface="+mn-cs"/>
              </a:rPr>
              <a:t>SOR | DAAS | AFE|MSA | FL | 3PO|Without  recourse</a:t>
            </a:r>
            <a:endParaRPr lang="en-US" altLang="zh-CN" sz="2000">
              <a:latin typeface="+mn-lt"/>
              <a:cs typeface="+mn-cs"/>
            </a:endParaRPr>
          </a:p>
          <a:p>
            <a:endParaRPr lang="en-US" sz="2000"/>
          </a:p>
        </p:txBody>
      </p:sp>
      <p:graphicFrame>
        <p:nvGraphicFramePr>
          <p:cNvPr id="13" name="表格 12">
            <a:extLst>
              <a:ext uri="{FF2B5EF4-FFF2-40B4-BE49-F238E27FC236}">
                <a16:creationId xmlns:a16="http://schemas.microsoft.com/office/drawing/2014/main" id="{F6D2327D-794C-5608-0940-2CD11DD42737}"/>
              </a:ext>
            </a:extLst>
          </p:cNvPr>
          <p:cNvGraphicFramePr>
            <a:graphicFrameLocks noGrp="1"/>
          </p:cNvGraphicFramePr>
          <p:nvPr>
            <p:extLst>
              <p:ext uri="{D42A27DB-BD31-4B8C-83A1-F6EECF244321}">
                <p14:modId xmlns:p14="http://schemas.microsoft.com/office/powerpoint/2010/main" val="2716145982"/>
              </p:ext>
            </p:extLst>
          </p:nvPr>
        </p:nvGraphicFramePr>
        <p:xfrm>
          <a:off x="6327075" y="3040607"/>
          <a:ext cx="5802052" cy="3044090"/>
        </p:xfrm>
        <a:graphic>
          <a:graphicData uri="http://schemas.openxmlformats.org/drawingml/2006/table">
            <a:tbl>
              <a:tblPr/>
              <a:tblGrid>
                <a:gridCol w="331366">
                  <a:extLst>
                    <a:ext uri="{9D8B030D-6E8A-4147-A177-3AD203B41FA5}">
                      <a16:colId xmlns:a16="http://schemas.microsoft.com/office/drawing/2014/main" val="495084399"/>
                    </a:ext>
                  </a:extLst>
                </a:gridCol>
                <a:gridCol w="318889">
                  <a:extLst>
                    <a:ext uri="{9D8B030D-6E8A-4147-A177-3AD203B41FA5}">
                      <a16:colId xmlns:a16="http://schemas.microsoft.com/office/drawing/2014/main" val="3614210242"/>
                    </a:ext>
                  </a:extLst>
                </a:gridCol>
                <a:gridCol w="659130">
                  <a:extLst>
                    <a:ext uri="{9D8B030D-6E8A-4147-A177-3AD203B41FA5}">
                      <a16:colId xmlns:a16="http://schemas.microsoft.com/office/drawing/2014/main" val="1442124609"/>
                    </a:ext>
                  </a:extLst>
                </a:gridCol>
                <a:gridCol w="1461820">
                  <a:extLst>
                    <a:ext uri="{9D8B030D-6E8A-4147-A177-3AD203B41FA5}">
                      <a16:colId xmlns:a16="http://schemas.microsoft.com/office/drawing/2014/main" val="3603859997"/>
                    </a:ext>
                  </a:extLst>
                </a:gridCol>
                <a:gridCol w="792480">
                  <a:extLst>
                    <a:ext uri="{9D8B030D-6E8A-4147-A177-3AD203B41FA5}">
                      <a16:colId xmlns:a16="http://schemas.microsoft.com/office/drawing/2014/main" val="4076488391"/>
                    </a:ext>
                  </a:extLst>
                </a:gridCol>
                <a:gridCol w="792480">
                  <a:extLst>
                    <a:ext uri="{9D8B030D-6E8A-4147-A177-3AD203B41FA5}">
                      <a16:colId xmlns:a16="http://schemas.microsoft.com/office/drawing/2014/main" val="3254101706"/>
                    </a:ext>
                  </a:extLst>
                </a:gridCol>
                <a:gridCol w="256402">
                  <a:extLst>
                    <a:ext uri="{9D8B030D-6E8A-4147-A177-3AD203B41FA5}">
                      <a16:colId xmlns:a16="http://schemas.microsoft.com/office/drawing/2014/main" val="3712391277"/>
                    </a:ext>
                  </a:extLst>
                </a:gridCol>
                <a:gridCol w="303022">
                  <a:extLst>
                    <a:ext uri="{9D8B030D-6E8A-4147-A177-3AD203B41FA5}">
                      <a16:colId xmlns:a16="http://schemas.microsoft.com/office/drawing/2014/main" val="4051557831"/>
                    </a:ext>
                  </a:extLst>
                </a:gridCol>
                <a:gridCol w="251250">
                  <a:extLst>
                    <a:ext uri="{9D8B030D-6E8A-4147-A177-3AD203B41FA5}">
                      <a16:colId xmlns:a16="http://schemas.microsoft.com/office/drawing/2014/main" val="2527660299"/>
                    </a:ext>
                  </a:extLst>
                </a:gridCol>
                <a:gridCol w="375153">
                  <a:extLst>
                    <a:ext uri="{9D8B030D-6E8A-4147-A177-3AD203B41FA5}">
                      <a16:colId xmlns:a16="http://schemas.microsoft.com/office/drawing/2014/main" val="3641075278"/>
                    </a:ext>
                  </a:extLst>
                </a:gridCol>
                <a:gridCol w="260060">
                  <a:extLst>
                    <a:ext uri="{9D8B030D-6E8A-4147-A177-3AD203B41FA5}">
                      <a16:colId xmlns:a16="http://schemas.microsoft.com/office/drawing/2014/main" val="3618613915"/>
                    </a:ext>
                  </a:extLst>
                </a:gridCol>
              </a:tblGrid>
              <a:tr h="145762">
                <a:tc rowSpan="13">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factoring agreement with Financial Institution Odessa trigger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48353">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Account receivable from Financial Institution​</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48353">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8438">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​3</a:t>
                      </a:r>
                      <a:r>
                        <a:rPr lang="en-US" sz="900" b="0" i="0" u="none" strike="noStrike" kern="1200" baseline="30000">
                          <a:solidFill>
                            <a:srgbClr val="000000"/>
                          </a:solidFill>
                          <a:effectLst/>
                          <a:latin typeface="Arial" panose="020B0604020202020204" pitchFamily="34" charset="0"/>
                          <a:ea typeface="+mn-ea"/>
                          <a:cs typeface="+mn-cs"/>
                        </a:rPr>
                        <a:t>rd</a:t>
                      </a:r>
                      <a:r>
                        <a:rPr lang="en-US" sz="900" b="0" i="0" u="none" strike="noStrike" kern="1200">
                          <a:solidFill>
                            <a:srgbClr val="000000"/>
                          </a:solidFill>
                          <a:effectLst/>
                          <a:latin typeface="Arial" panose="020B0604020202020204" pitchFamily="34" charset="0"/>
                          <a:ea typeface="+mn-ea"/>
                          <a:cs typeface="+mn-cs"/>
                        </a:rPr>
                        <a:t>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900+95</a:t>
                      </a:r>
                      <a:r>
                        <a:rPr lang="en-US" altLang="zh-CN" sz="900" b="0" i="0" u="none" strike="noStrike" kern="1200">
                          <a:solidFill>
                            <a:srgbClr val="000000"/>
                          </a:solidFill>
                          <a:effectLst/>
                          <a:latin typeface="Arial" panose="020B0604020202020204" pitchFamily="34" charset="0"/>
                          <a:ea typeface="+mn-ea"/>
                          <a:cs typeface="+mn-cs"/>
                        </a:rPr>
                        <a:t>​+31</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900+95+31​</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1400303</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LTAR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168​</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LTAR</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977</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977</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708358678"/>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5220206</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Financial Expense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04059465"/>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5220206</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Financial Expense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77</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77</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20/30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63548018"/>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Acc Receivable – Upfront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108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108</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6333717"/>
                  </a:ext>
                </a:extLst>
              </a:tr>
              <a:tr h="17843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5220206</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Other Interest Income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13</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13</a:t>
                      </a:r>
                      <a:r>
                        <a:rPr lang="en-US" altLang="zh-CN" sz="900" b="0" i="0" u="none" strike="noStrike" kern="1200">
                          <a:solidFill>
                            <a:srgbClr val="000000"/>
                          </a:solidFill>
                          <a:effectLst/>
                          <a:latin typeface="Arial" panose="020B0604020202020204" pitchFamily="34" charset="0"/>
                          <a:ea typeface="+mn-ea"/>
                          <a:cs typeface="+mn-cs"/>
                        </a:rPr>
                        <a:t>​</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36454727"/>
                  </a:ext>
                </a:extLst>
              </a:tr>
              <a:tr h="178438">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5220206​</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Financial</a:t>
                      </a:r>
                      <a:r>
                        <a:rPr lang="en-US" altLang="zh-CN" sz="900" b="0" i="0" u="none" strike="noStrike" kern="1200">
                          <a:solidFill>
                            <a:srgbClr val="000000"/>
                          </a:solidFill>
                          <a:effectLst/>
                          <a:latin typeface="Arial" panose="020B0604020202020204" pitchFamily="34" charset="0"/>
                          <a:ea typeface="+mn-ea"/>
                          <a:cs typeface="+mn-cs"/>
                        </a:rPr>
                        <a:t>​</a:t>
                      </a:r>
                      <a:r>
                        <a:rPr lang="en-US" sz="900" b="0" i="0" u="none" strike="noStrike" kern="1200">
                          <a:solidFill>
                            <a:srgbClr val="000000"/>
                          </a:solidFill>
                          <a:effectLst/>
                          <a:latin typeface="Arial" panose="020B0604020202020204" pitchFamily="34" charset="0"/>
                          <a:ea typeface="+mn-ea"/>
                          <a:cs typeface="+mn-cs"/>
                        </a:rPr>
                        <a:t> Expenses - Factoring</a:t>
                      </a:r>
                    </a:p>
                  </a:txBody>
                  <a:tcPr marL="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04527505"/>
                  </a:ext>
                </a:extLst>
              </a:tr>
              <a:tr h="178438">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LR – Funded Premier ​</a:t>
                      </a:r>
                    </a:p>
                  </a:txBody>
                  <a:tcPr marL="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02091175"/>
                  </a:ext>
                </a:extLst>
              </a:tr>
              <a:tr h="178438">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premier</a:t>
                      </a:r>
                    </a:p>
                  </a:txBody>
                  <a:tcPr marL="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sp>
        <p:nvSpPr>
          <p:cNvPr id="2" name="矩形 1">
            <a:extLst>
              <a:ext uri="{FF2B5EF4-FFF2-40B4-BE49-F238E27FC236}">
                <a16:creationId xmlns:a16="http://schemas.microsoft.com/office/drawing/2014/main" id="{BEEB32F7-6B77-16AC-5044-AFCE0373B6F0}"/>
              </a:ext>
            </a:extLst>
          </p:cNvPr>
          <p:cNvSpPr/>
          <p:nvPr/>
        </p:nvSpPr>
        <p:spPr>
          <a:xfrm>
            <a:off x="6631207" y="1816580"/>
            <a:ext cx="5558962" cy="652348"/>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4060572698"/>
      </p:ext>
    </p:extLst>
  </p:cSld>
  <p:clrMapOvr>
    <a:masterClrMapping/>
  </p:clrMapOvr>
  <p:extLst>
    <p:ext uri="{6950BFC3-D8DA-4A85-94F7-54DA5524770B}">
      <p188:commentRel xmlns:p188="http://schemas.microsoft.com/office/powerpoint/2018/8/main" r:id="rId3"/>
    </p:ext>
  </p:extLs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9B4FD1-8C41-55B9-3D5F-D76B0035F3F7}"/>
            </a:ext>
          </a:extLst>
        </p:cNvPr>
        <p:cNvGrpSpPr/>
        <p:nvPr/>
      </p:nvGrpSpPr>
      <p:grpSpPr>
        <a:xfrm>
          <a:off x="0" y="0"/>
          <a:ext cx="0" cy="0"/>
          <a:chOff x="0" y="0"/>
          <a:chExt cx="0" cy="0"/>
        </a:xfrm>
      </p:grpSpPr>
      <p:sp>
        <p:nvSpPr>
          <p:cNvPr id="17" name="文本框 16">
            <a:extLst>
              <a:ext uri="{FF2B5EF4-FFF2-40B4-BE49-F238E27FC236}">
                <a16:creationId xmlns:a16="http://schemas.microsoft.com/office/drawing/2014/main" id="{1C6191FA-322F-5D30-A79F-0B90CE106F5F}"/>
              </a:ext>
            </a:extLst>
          </p:cNvPr>
          <p:cNvSpPr txBox="1"/>
          <p:nvPr/>
        </p:nvSpPr>
        <p:spPr>
          <a:xfrm>
            <a:off x="174166" y="180753"/>
            <a:ext cx="8520711" cy="400110"/>
          </a:xfrm>
          <a:prstGeom prst="rect">
            <a:avLst/>
          </a:prstGeom>
          <a:noFill/>
        </p:spPr>
        <p:txBody>
          <a:bodyPr wrap="square" rtlCol="0">
            <a:spAutoFit/>
          </a:bodyPr>
          <a:lstStyle/>
          <a:p>
            <a:pPr lvl="0" fontAlgn="b">
              <a:defRPr/>
            </a:pPr>
            <a:r>
              <a:rPr lang="en-US" altLang="zh-CN" sz="2000" b="1"/>
              <a:t>Asset Remarketing Invoice|DAAS|IAAS|ISGLEASE|3PO</a:t>
            </a:r>
          </a:p>
        </p:txBody>
      </p:sp>
      <p:graphicFrame>
        <p:nvGraphicFramePr>
          <p:cNvPr id="2" name="表格 1">
            <a:extLst>
              <a:ext uri="{FF2B5EF4-FFF2-40B4-BE49-F238E27FC236}">
                <a16:creationId xmlns:a16="http://schemas.microsoft.com/office/drawing/2014/main" id="{4CA869B1-BA2C-B998-C776-33E795D401BE}"/>
              </a:ext>
            </a:extLst>
          </p:cNvPr>
          <p:cNvGraphicFramePr>
            <a:graphicFrameLocks noGrp="1"/>
          </p:cNvGraphicFramePr>
          <p:nvPr>
            <p:extLst>
              <p:ext uri="{D42A27DB-BD31-4B8C-83A1-F6EECF244321}">
                <p14:modId xmlns:p14="http://schemas.microsoft.com/office/powerpoint/2010/main" val="2529712739"/>
              </p:ext>
            </p:extLst>
          </p:nvPr>
        </p:nvGraphicFramePr>
        <p:xfrm>
          <a:off x="259226" y="756846"/>
          <a:ext cx="6219475" cy="1789207"/>
        </p:xfrm>
        <a:graphic>
          <a:graphicData uri="http://schemas.openxmlformats.org/drawingml/2006/table">
            <a:tbl>
              <a:tblPr/>
              <a:tblGrid>
                <a:gridCol w="428591">
                  <a:extLst>
                    <a:ext uri="{9D8B030D-6E8A-4147-A177-3AD203B41FA5}">
                      <a16:colId xmlns:a16="http://schemas.microsoft.com/office/drawing/2014/main" val="495084399"/>
                    </a:ext>
                  </a:extLst>
                </a:gridCol>
                <a:gridCol w="224356">
                  <a:extLst>
                    <a:ext uri="{9D8B030D-6E8A-4147-A177-3AD203B41FA5}">
                      <a16:colId xmlns:a16="http://schemas.microsoft.com/office/drawing/2014/main" val="3614210242"/>
                    </a:ext>
                  </a:extLst>
                </a:gridCol>
                <a:gridCol w="568085">
                  <a:extLst>
                    <a:ext uri="{9D8B030D-6E8A-4147-A177-3AD203B41FA5}">
                      <a16:colId xmlns:a16="http://schemas.microsoft.com/office/drawing/2014/main" val="1442124609"/>
                    </a:ext>
                  </a:extLst>
                </a:gridCol>
                <a:gridCol w="1776526">
                  <a:extLst>
                    <a:ext uri="{9D8B030D-6E8A-4147-A177-3AD203B41FA5}">
                      <a16:colId xmlns:a16="http://schemas.microsoft.com/office/drawing/2014/main" val="3603859997"/>
                    </a:ext>
                  </a:extLst>
                </a:gridCol>
                <a:gridCol w="424872">
                  <a:extLst>
                    <a:ext uri="{9D8B030D-6E8A-4147-A177-3AD203B41FA5}">
                      <a16:colId xmlns:a16="http://schemas.microsoft.com/office/drawing/2014/main" val="4076488391"/>
                    </a:ext>
                  </a:extLst>
                </a:gridCol>
                <a:gridCol w="314037">
                  <a:extLst>
                    <a:ext uri="{9D8B030D-6E8A-4147-A177-3AD203B41FA5}">
                      <a16:colId xmlns:a16="http://schemas.microsoft.com/office/drawing/2014/main" val="3254101706"/>
                    </a:ext>
                  </a:extLst>
                </a:gridCol>
                <a:gridCol w="415636">
                  <a:extLst>
                    <a:ext uri="{9D8B030D-6E8A-4147-A177-3AD203B41FA5}">
                      <a16:colId xmlns:a16="http://schemas.microsoft.com/office/drawing/2014/main" val="3712391277"/>
                    </a:ext>
                  </a:extLst>
                </a:gridCol>
                <a:gridCol w="940536">
                  <a:extLst>
                    <a:ext uri="{9D8B030D-6E8A-4147-A177-3AD203B41FA5}">
                      <a16:colId xmlns:a16="http://schemas.microsoft.com/office/drawing/2014/main" val="277609593"/>
                    </a:ext>
                  </a:extLst>
                </a:gridCol>
                <a:gridCol w="314036">
                  <a:extLst>
                    <a:ext uri="{9D8B030D-6E8A-4147-A177-3AD203B41FA5}">
                      <a16:colId xmlns:a16="http://schemas.microsoft.com/office/drawing/2014/main" val="2527660299"/>
                    </a:ext>
                  </a:extLst>
                </a:gridCol>
                <a:gridCol w="434109">
                  <a:extLst>
                    <a:ext uri="{9D8B030D-6E8A-4147-A177-3AD203B41FA5}">
                      <a16:colId xmlns:a16="http://schemas.microsoft.com/office/drawing/2014/main" val="3641075278"/>
                    </a:ext>
                  </a:extLst>
                </a:gridCol>
                <a:gridCol w="378691">
                  <a:extLst>
                    <a:ext uri="{9D8B030D-6E8A-4147-A177-3AD203B41FA5}">
                      <a16:colId xmlns:a16="http://schemas.microsoft.com/office/drawing/2014/main" val="3618613915"/>
                    </a:ext>
                  </a:extLst>
                </a:gridCol>
              </a:tblGrid>
              <a:tr h="17882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Entity/AFE Entity/NL11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Recognition of Revenue on Sale of device to 2nd Hand Broker​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Invoice to 2</a:t>
                      </a:r>
                      <a:r>
                        <a:rPr lang="en-US" sz="900" b="1" i="0" u="none" strike="noStrike" baseline="30000">
                          <a:solidFill>
                            <a:srgbClr val="000000"/>
                          </a:solidFill>
                          <a:effectLst/>
                          <a:latin typeface="Arial" panose="020B0604020202020204" pitchFamily="34" charset="0"/>
                        </a:rPr>
                        <a:t>nd</a:t>
                      </a:r>
                      <a:r>
                        <a:rPr lang="en-US" sz="900" b="1" i="0" u="none" strike="noStrike">
                          <a:solidFill>
                            <a:srgbClr val="000000"/>
                          </a:solidFill>
                          <a:effectLst/>
                          <a:latin typeface="Arial" panose="020B0604020202020204" pitchFamily="34" charset="0"/>
                        </a:rPr>
                        <a:t> Broker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Receivable(Third Party)</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30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20(S4-DAAS)</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U4(ECC-DAAS)</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XG-IAAS</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X1-ISGLEASE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66414639"/>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5020452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a:t>
                      </a:r>
                      <a:r>
                        <a:rPr lang="en-US" altLang="zh-CN" sz="900" b="0" i="0" u="none" strike="noStrike" kern="1200">
                          <a:solidFill>
                            <a:srgbClr val="000000"/>
                          </a:solidFill>
                          <a:effectLst/>
                          <a:latin typeface="Arial" panose="020B0604020202020204" pitchFamily="34" charset="0"/>
                          <a:ea typeface="+mn-ea"/>
                          <a:cs typeface="+mn-cs"/>
                        </a:rPr>
                        <a:t>roker sale cost</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7772761"/>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1349903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GIT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80648260"/>
                  </a:ext>
                </a:extLst>
              </a:tr>
            </a:tbl>
          </a:graphicData>
        </a:graphic>
      </p:graphicFrame>
      <p:sp>
        <p:nvSpPr>
          <p:cNvPr id="4" name="对话气泡: 矩形 3">
            <a:extLst>
              <a:ext uri="{FF2B5EF4-FFF2-40B4-BE49-F238E27FC236}">
                <a16:creationId xmlns:a16="http://schemas.microsoft.com/office/drawing/2014/main" id="{EF0354EF-F23F-3413-DC55-A493AB369AFA}"/>
              </a:ext>
            </a:extLst>
          </p:cNvPr>
          <p:cNvSpPr/>
          <p:nvPr/>
        </p:nvSpPr>
        <p:spPr>
          <a:xfrm>
            <a:off x="7130335" y="1380904"/>
            <a:ext cx="1649604" cy="1379012"/>
          </a:xfrm>
          <a:prstGeom prst="wedgeRectCallout">
            <a:avLst>
              <a:gd name="adj1" fmla="val -146756"/>
              <a:gd name="adj2" fmla="val -2654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For 3PO,</a:t>
            </a:r>
            <a:r>
              <a:rPr lang="zh-CN" altLang="en-US" sz="1200">
                <a:solidFill>
                  <a:schemeClr val="tx1"/>
                </a:solidFill>
              </a:rPr>
              <a:t> </a:t>
            </a:r>
            <a:r>
              <a:rPr lang="en-US" altLang="zh-CN" sz="1200">
                <a:solidFill>
                  <a:schemeClr val="tx1"/>
                </a:solidFill>
              </a:rPr>
              <a:t>the</a:t>
            </a:r>
            <a:r>
              <a:rPr lang="zh-CN" altLang="en-US" sz="1200">
                <a:solidFill>
                  <a:schemeClr val="tx1"/>
                </a:solidFill>
              </a:rPr>
              <a:t> </a:t>
            </a:r>
            <a:r>
              <a:rPr lang="en-US" altLang="zh-CN" sz="1200">
                <a:solidFill>
                  <a:schemeClr val="tx1"/>
                </a:solidFill>
              </a:rPr>
              <a:t>PC</a:t>
            </a:r>
            <a:r>
              <a:rPr lang="zh-CN" altLang="en-US" sz="1200">
                <a:solidFill>
                  <a:schemeClr val="tx1"/>
                </a:solidFill>
              </a:rPr>
              <a:t> </a:t>
            </a:r>
            <a:r>
              <a:rPr lang="en-US" altLang="zh-CN" sz="1200">
                <a:solidFill>
                  <a:schemeClr val="tx1"/>
                </a:solidFill>
              </a:rPr>
              <a:t>will</a:t>
            </a:r>
            <a:r>
              <a:rPr lang="zh-CN" altLang="en-US" sz="1200">
                <a:solidFill>
                  <a:schemeClr val="tx1"/>
                </a:solidFill>
              </a:rPr>
              <a:t> </a:t>
            </a:r>
            <a:r>
              <a:rPr lang="en-US" altLang="zh-CN" sz="1200">
                <a:solidFill>
                  <a:schemeClr val="tx1"/>
                </a:solidFill>
              </a:rPr>
              <a:t>be:</a:t>
            </a:r>
          </a:p>
          <a:p>
            <a:r>
              <a:rPr lang="nl-NL" altLang="zh-CN" sz="1200">
                <a:solidFill>
                  <a:schemeClr val="tx1"/>
                </a:solidFill>
              </a:rPr>
              <a:t>30(S4-DAAS)</a:t>
            </a:r>
          </a:p>
          <a:p>
            <a:r>
              <a:rPr lang="nl-NL" altLang="zh-CN" sz="1200">
                <a:solidFill>
                  <a:schemeClr val="tx1"/>
                </a:solidFill>
              </a:rPr>
              <a:t>30(ECC-DAAS)</a:t>
            </a:r>
          </a:p>
          <a:p>
            <a:r>
              <a:rPr lang="nl-NL" altLang="zh-CN" sz="1200">
                <a:solidFill>
                  <a:schemeClr val="tx1"/>
                </a:solidFill>
              </a:rPr>
              <a:t>XG-IAAS</a:t>
            </a:r>
          </a:p>
          <a:p>
            <a:r>
              <a:rPr lang="nl-NL" altLang="zh-CN" sz="1200">
                <a:solidFill>
                  <a:schemeClr val="tx1"/>
                </a:solidFill>
              </a:rPr>
              <a:t>X1-ISGLEASE</a:t>
            </a:r>
          </a:p>
          <a:p>
            <a:r>
              <a:rPr lang="zh-CN" altLang="en-US" sz="1200">
                <a:solidFill>
                  <a:schemeClr val="tx1"/>
                </a:solidFill>
              </a:rPr>
              <a:t> </a:t>
            </a:r>
          </a:p>
        </p:txBody>
      </p:sp>
    </p:spTree>
    <p:extLst>
      <p:ext uri="{BB962C8B-B14F-4D97-AF65-F5344CB8AC3E}">
        <p14:creationId xmlns:p14="http://schemas.microsoft.com/office/powerpoint/2010/main" val="980742931"/>
      </p:ext>
    </p:extLst>
  </p:cSld>
  <p:clrMapOvr>
    <a:masterClrMapping/>
  </p:clrMapOvr>
  <p:extLst>
    <p:ext uri="{6950BFC3-D8DA-4A85-94F7-54DA5524770B}">
      <p188:commentRel xmlns:p188="http://schemas.microsoft.com/office/powerpoint/2018/8/main" r:id="rId2"/>
    </p:ext>
  </p:extLs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0ECB54BF-56DD-BEE2-C600-442A7A734F21}"/>
              </a:ext>
            </a:extLst>
          </p:cNvPr>
          <p:cNvSpPr txBox="1">
            <a:spLocks/>
          </p:cNvSpPr>
          <p:nvPr/>
        </p:nvSpPr>
        <p:spPr>
          <a:xfrm>
            <a:off x="174104" y="133355"/>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Aptos Display" panose="020F0302020204030204"/>
                <a:ea typeface="+mj-ea"/>
                <a:cs typeface="+mj-cs"/>
              </a:rPr>
              <a:t>Key Scope and Assumption in </a:t>
            </a:r>
            <a:r>
              <a:rPr kumimoji="0" lang="en-US" sz="2800" b="1" i="0" u="none" strike="noStrike" kern="1200" cap="none" spc="0" normalizeH="0" baseline="0" noProof="0" err="1">
                <a:ln>
                  <a:noFill/>
                </a:ln>
                <a:solidFill>
                  <a:prstClr val="black"/>
                </a:solidFill>
                <a:effectLst/>
                <a:uLnTx/>
                <a:uFillTx/>
                <a:latin typeface="Aptos Display" panose="020F0302020204030204"/>
                <a:ea typeface="+mj-ea"/>
                <a:cs typeface="+mj-cs"/>
              </a:rPr>
              <a:t>Nex</a:t>
            </a:r>
            <a:r>
              <a:rPr kumimoji="0" lang="en-US" altLang="zh-CN" sz="2800" b="1" i="0" u="none" strike="noStrike" kern="1200" cap="none" spc="0" normalizeH="0" baseline="0" noProof="0" err="1">
                <a:ln>
                  <a:noFill/>
                </a:ln>
                <a:solidFill>
                  <a:prstClr val="black"/>
                </a:solidFill>
                <a:effectLst/>
                <a:uLnTx/>
                <a:uFillTx/>
                <a:latin typeface="Aptos Display" panose="020F0302020204030204"/>
                <a:ea typeface="+mj-ea"/>
                <a:cs typeface="+mj-cs"/>
              </a:rPr>
              <a:t>t</a:t>
            </a:r>
            <a:r>
              <a:rPr kumimoji="0" lang="en-US" sz="2800" b="1" i="0" u="none" strike="noStrike" kern="1200" cap="none" spc="0" normalizeH="0" baseline="0" noProof="0" err="1">
                <a:ln>
                  <a:noFill/>
                </a:ln>
                <a:solidFill>
                  <a:prstClr val="black"/>
                </a:solidFill>
                <a:effectLst/>
                <a:uLnTx/>
                <a:uFillTx/>
                <a:latin typeface="Aptos Display" panose="020F0302020204030204"/>
                <a:ea typeface="+mj-ea"/>
                <a:cs typeface="+mj-cs"/>
              </a:rPr>
              <a:t>bill</a:t>
            </a:r>
            <a:endParaRPr kumimoji="0" lang="en-US" sz="3600" b="1" i="0" u="none" strike="noStrike" kern="1200" cap="none" spc="0" normalizeH="0" baseline="0" noProof="0">
              <a:ln>
                <a:noFill/>
              </a:ln>
              <a:solidFill>
                <a:prstClr val="black"/>
              </a:solidFill>
              <a:effectLst/>
              <a:uLnTx/>
              <a:uFillTx/>
              <a:latin typeface="Aptos Display" panose="020F0302020204030204"/>
              <a:ea typeface="+mj-ea"/>
              <a:cs typeface="+mj-cs"/>
            </a:endParaRPr>
          </a:p>
        </p:txBody>
      </p:sp>
      <p:graphicFrame>
        <p:nvGraphicFramePr>
          <p:cNvPr id="2" name="Table 5">
            <a:extLst>
              <a:ext uri="{FF2B5EF4-FFF2-40B4-BE49-F238E27FC236}">
                <a16:creationId xmlns:a16="http://schemas.microsoft.com/office/drawing/2014/main" id="{9EC02A57-B10B-F5E3-1C2A-25B55ADFBDDD}"/>
              </a:ext>
            </a:extLst>
          </p:cNvPr>
          <p:cNvGraphicFramePr>
            <a:graphicFrameLocks noGrp="1"/>
          </p:cNvGraphicFramePr>
          <p:nvPr>
            <p:extLst>
              <p:ext uri="{D42A27DB-BD31-4B8C-83A1-F6EECF244321}">
                <p14:modId xmlns:p14="http://schemas.microsoft.com/office/powerpoint/2010/main" val="2234228626"/>
              </p:ext>
            </p:extLst>
          </p:nvPr>
        </p:nvGraphicFramePr>
        <p:xfrm>
          <a:off x="3780135" y="1262443"/>
          <a:ext cx="8252072" cy="2072640"/>
        </p:xfrm>
        <a:graphic>
          <a:graphicData uri="http://schemas.openxmlformats.org/drawingml/2006/table">
            <a:tbl>
              <a:tblPr firstRow="1" bandRow="1">
                <a:tableStyleId>{5C22544A-7EE6-4342-B048-85BDC9FD1C3A}</a:tableStyleId>
              </a:tblPr>
              <a:tblGrid>
                <a:gridCol w="520382">
                  <a:extLst>
                    <a:ext uri="{9D8B030D-6E8A-4147-A177-3AD203B41FA5}">
                      <a16:colId xmlns:a16="http://schemas.microsoft.com/office/drawing/2014/main" val="590487580"/>
                    </a:ext>
                  </a:extLst>
                </a:gridCol>
                <a:gridCol w="1328002">
                  <a:extLst>
                    <a:ext uri="{9D8B030D-6E8A-4147-A177-3AD203B41FA5}">
                      <a16:colId xmlns:a16="http://schemas.microsoft.com/office/drawing/2014/main" val="3195040165"/>
                    </a:ext>
                  </a:extLst>
                </a:gridCol>
                <a:gridCol w="6403688">
                  <a:extLst>
                    <a:ext uri="{9D8B030D-6E8A-4147-A177-3AD203B41FA5}">
                      <a16:colId xmlns:a16="http://schemas.microsoft.com/office/drawing/2014/main" val="3020975192"/>
                    </a:ext>
                  </a:extLst>
                </a:gridCol>
              </a:tblGrid>
              <a:tr h="273723">
                <a:tc>
                  <a:txBody>
                    <a:bodyPr/>
                    <a:lstStyle/>
                    <a:p>
                      <a:pPr algn="ctr"/>
                      <a:r>
                        <a:rPr lang="en-US" sz="1400"/>
                        <a:t>No</a:t>
                      </a:r>
                    </a:p>
                  </a:txBody>
                  <a:tcPr anchor="ctr"/>
                </a:tc>
                <a:tc>
                  <a:txBody>
                    <a:bodyPr/>
                    <a:lstStyle/>
                    <a:p>
                      <a:r>
                        <a:rPr lang="en-US" sz="1400"/>
                        <a:t>C</a:t>
                      </a:r>
                      <a:r>
                        <a:rPr lang="en-US" altLang="zh-CN" sz="1400"/>
                        <a:t>ategory</a:t>
                      </a:r>
                      <a:endParaRPr lang="en-US" sz="1400"/>
                    </a:p>
                  </a:txBody>
                  <a:tcPr anchor="ctr"/>
                </a:tc>
                <a:tc>
                  <a:txBody>
                    <a:bodyPr/>
                    <a:lstStyle/>
                    <a:p>
                      <a:r>
                        <a:rPr lang="en-US" sz="1400"/>
                        <a:t>Description</a:t>
                      </a:r>
                    </a:p>
                  </a:txBody>
                  <a:tcPr anchor="ctr"/>
                </a:tc>
                <a:extLst>
                  <a:ext uri="{0D108BD9-81ED-4DB2-BD59-A6C34878D82A}">
                    <a16:rowId xmlns:a16="http://schemas.microsoft.com/office/drawing/2014/main" val="3093137312"/>
                  </a:ext>
                </a:extLst>
              </a:tr>
              <a:tr h="697431">
                <a:tc>
                  <a:txBody>
                    <a:bodyPr/>
                    <a:lstStyle/>
                    <a:p>
                      <a:pPr algn="ctr"/>
                      <a:r>
                        <a:rPr lang="en-US" sz="1400"/>
                        <a:t>1</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a:t>Scope</a:t>
                      </a:r>
                    </a:p>
                  </a:txBody>
                  <a:tcPr anchor="ctr"/>
                </a:tc>
                <a:tc>
                  <a:txBody>
                    <a:bodyPr/>
                    <a:lstStyle/>
                    <a:p>
                      <a:pPr marL="171450" indent="-171450">
                        <a:buFont typeface="Arial" panose="020B0604020202020204" pitchFamily="34" charset="0"/>
                        <a:buChar char="•"/>
                      </a:pPr>
                      <a:r>
                        <a:rPr lang="en-US" altLang="zh-CN" sz="1400"/>
                        <a:t>Countries: as-is EAAS enabled AP/EMEA/NA countries, LA will be considered along with EAAS rollout</a:t>
                      </a:r>
                    </a:p>
                    <a:p>
                      <a:pPr marL="171450" indent="-171450">
                        <a:buFont typeface="Arial" panose="020B0604020202020204" pitchFamily="34" charset="0"/>
                        <a:buChar char="•"/>
                      </a:pPr>
                      <a:r>
                        <a:rPr lang="en-US" altLang="zh-CN" sz="1400"/>
                        <a:t>Model: S&amp;D/AFE/AFE Hub</a:t>
                      </a:r>
                      <a:endParaRPr lang="en-US" altLang="zh-CN" sz="1400" strike="sngStrike"/>
                    </a:p>
                    <a:p>
                      <a:pPr marL="171450" indent="-171450">
                        <a:buFont typeface="Arial" panose="020B0604020202020204" pitchFamily="34" charset="0"/>
                        <a:buChar char="•"/>
                      </a:pPr>
                      <a:r>
                        <a:rPr lang="en-US" altLang="zh-CN" sz="1400"/>
                        <a:t>Offering: DaaS/IaaS/ISGLEASE/Managed Capex</a:t>
                      </a:r>
                    </a:p>
                  </a:txBody>
                  <a:tcPr anchor="ctr"/>
                </a:tc>
                <a:extLst>
                  <a:ext uri="{0D108BD9-81ED-4DB2-BD59-A6C34878D82A}">
                    <a16:rowId xmlns:a16="http://schemas.microsoft.com/office/drawing/2014/main" val="4079242787"/>
                  </a:ext>
                </a:extLst>
              </a:tr>
              <a:tr h="273723">
                <a:tc>
                  <a:txBody>
                    <a:bodyPr/>
                    <a:lstStyle/>
                    <a:p>
                      <a:pPr algn="ctr"/>
                      <a:r>
                        <a:rPr lang="en-US" sz="1400"/>
                        <a:t>2</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a:t>All assumptions from the as-is scenario BSR session shall be followed.</a:t>
                      </a:r>
                    </a:p>
                  </a:txBody>
                  <a:tcPr anchor="ctr"/>
                </a:tc>
                <a:extLst>
                  <a:ext uri="{0D108BD9-81ED-4DB2-BD59-A6C34878D82A}">
                    <a16:rowId xmlns:a16="http://schemas.microsoft.com/office/drawing/2014/main" val="2944555752"/>
                  </a:ext>
                </a:extLst>
              </a:tr>
              <a:tr h="382462">
                <a:tc>
                  <a:txBody>
                    <a:bodyPr/>
                    <a:lstStyle/>
                    <a:p>
                      <a:pPr algn="ctr"/>
                      <a:r>
                        <a:rPr lang="en-US" sz="1400"/>
                        <a:t>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400"/>
                        <a:t>New billing frequency will be: 6/12 months, tranche  generation per month/per semi-yearly/yearly</a:t>
                      </a:r>
                    </a:p>
                  </a:txBody>
                  <a:tcPr anchor="ctr"/>
                </a:tc>
                <a:extLst>
                  <a:ext uri="{0D108BD9-81ED-4DB2-BD59-A6C34878D82A}">
                    <a16:rowId xmlns:a16="http://schemas.microsoft.com/office/drawing/2014/main" val="3200209679"/>
                  </a:ext>
                </a:extLst>
              </a:tr>
            </a:tbl>
          </a:graphicData>
        </a:graphic>
      </p:graphicFrame>
      <p:graphicFrame>
        <p:nvGraphicFramePr>
          <p:cNvPr id="4" name="表格 3">
            <a:extLst>
              <a:ext uri="{FF2B5EF4-FFF2-40B4-BE49-F238E27FC236}">
                <a16:creationId xmlns:a16="http://schemas.microsoft.com/office/drawing/2014/main" id="{B6BCBF29-0348-F57F-482A-5E8A9D64048B}"/>
              </a:ext>
            </a:extLst>
          </p:cNvPr>
          <p:cNvGraphicFramePr>
            <a:graphicFrameLocks noGrp="1"/>
          </p:cNvGraphicFramePr>
          <p:nvPr>
            <p:extLst>
              <p:ext uri="{D42A27DB-BD31-4B8C-83A1-F6EECF244321}">
                <p14:modId xmlns:p14="http://schemas.microsoft.com/office/powerpoint/2010/main" val="4138579994"/>
              </p:ext>
            </p:extLst>
          </p:nvPr>
        </p:nvGraphicFramePr>
        <p:xfrm>
          <a:off x="174104" y="1262443"/>
          <a:ext cx="3445789" cy="1960763"/>
        </p:xfrm>
        <a:graphic>
          <a:graphicData uri="http://schemas.openxmlformats.org/drawingml/2006/table">
            <a:tbl>
              <a:tblPr firstRow="1">
                <a:tableStyleId>{7DF18680-E054-41AD-8BC1-D1AEF772440D}</a:tableStyleId>
              </a:tblPr>
              <a:tblGrid>
                <a:gridCol w="1612115">
                  <a:extLst>
                    <a:ext uri="{9D8B030D-6E8A-4147-A177-3AD203B41FA5}">
                      <a16:colId xmlns:a16="http://schemas.microsoft.com/office/drawing/2014/main" val="1053763652"/>
                    </a:ext>
                  </a:extLst>
                </a:gridCol>
                <a:gridCol w="1833674">
                  <a:extLst>
                    <a:ext uri="{9D8B030D-6E8A-4147-A177-3AD203B41FA5}">
                      <a16:colId xmlns:a16="http://schemas.microsoft.com/office/drawing/2014/main" val="2673544522"/>
                    </a:ext>
                  </a:extLst>
                </a:gridCol>
              </a:tblGrid>
              <a:tr h="325223">
                <a:tc>
                  <a:txBody>
                    <a:bodyPr/>
                    <a:lstStyle/>
                    <a:p>
                      <a:pPr algn="l" fontAlgn="b">
                        <a:buNone/>
                      </a:pPr>
                      <a:r>
                        <a:rPr lang="en-US" sz="1100" b="1"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Scenarios</a:t>
                      </a:r>
                      <a:endParaRPr lang="en-US" sz="11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chemeClr val="accent1"/>
                    </a:solidFill>
                  </a:tcPr>
                </a:tc>
                <a:tc>
                  <a:txBody>
                    <a:bodyPr/>
                    <a:lstStyle/>
                    <a:p>
                      <a:pPr algn="l" fontAlgn="b">
                        <a:buNone/>
                      </a:pPr>
                      <a:r>
                        <a:rPr lang="en-US" sz="1100" b="1"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Applicable or Not</a:t>
                      </a:r>
                      <a:endParaRPr lang="en-US" sz="11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chemeClr val="accent1"/>
                    </a:solidFill>
                  </a:tcPr>
                </a:tc>
                <a:extLst>
                  <a:ext uri="{0D108BD9-81ED-4DB2-BD59-A6C34878D82A}">
                    <a16:rowId xmlns:a16="http://schemas.microsoft.com/office/drawing/2014/main" val="3066843040"/>
                  </a:ext>
                </a:extLst>
              </a:tr>
              <a:tr h="272590">
                <a:tc>
                  <a:txBody>
                    <a:bodyPr/>
                    <a:lstStyle/>
                    <a:p>
                      <a:pPr algn="l"/>
                      <a:r>
                        <a:rPr lang="en-US" altLang="zh-CN" sz="1050" b="1">
                          <a:latin typeface="Lato" panose="020F0502020204030203" pitchFamily="34" charset="0"/>
                          <a:ea typeface="Lato" panose="020F0502020204030203" pitchFamily="34" charset="0"/>
                          <a:cs typeface="Lato" panose="020F0502020204030203" pitchFamily="34" charset="0"/>
                        </a:rPr>
                        <a:t>DaaS MSA, MLA</a:t>
                      </a:r>
                    </a:p>
                  </a:txBody>
                  <a:tcPr marL="36000" marR="36000" marT="0" marB="0" anchor="ctr">
                    <a:solidFill>
                      <a:srgbClr val="D1D1D1"/>
                    </a:solidFill>
                  </a:tcPr>
                </a:tc>
                <a:tc>
                  <a:txBody>
                    <a:bodyPr/>
                    <a:lstStyle/>
                    <a:p>
                      <a:pPr algn="l" fontAlgn="b">
                        <a:buNone/>
                      </a:pPr>
                      <a:r>
                        <a:rPr lang="en-US" sz="1050" b="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Yes</a:t>
                      </a:r>
                      <a:endParaRPr lang="en-US" sz="105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rgbClr val="D1D1D1"/>
                    </a:solidFill>
                  </a:tcPr>
                </a:tc>
                <a:extLst>
                  <a:ext uri="{0D108BD9-81ED-4DB2-BD59-A6C34878D82A}">
                    <a16:rowId xmlns:a16="http://schemas.microsoft.com/office/drawing/2014/main" val="2349831014"/>
                  </a:ext>
                </a:extLst>
              </a:tr>
              <a:tr h="272590">
                <a:tc>
                  <a:txBody>
                    <a:bodyPr/>
                    <a:lstStyle/>
                    <a:p>
                      <a:pPr algn="l"/>
                      <a:r>
                        <a:rPr lang="en-US" altLang="zh-CN" sz="1050" b="1">
                          <a:latin typeface="Lato" panose="020F0502020204030203" pitchFamily="34" charset="0"/>
                          <a:ea typeface="Lato" panose="020F0502020204030203" pitchFamily="34" charset="0"/>
                          <a:cs typeface="Lato" panose="020F0502020204030203" pitchFamily="34" charset="0"/>
                        </a:rPr>
                        <a:t>MSAAS Service </a:t>
                      </a:r>
                    </a:p>
                  </a:txBody>
                  <a:tcPr marL="36000" marR="36000" marT="0" marB="0" anchor="ctr">
                    <a:solidFill>
                      <a:srgbClr val="D1D1D1"/>
                    </a:solidFill>
                  </a:tcPr>
                </a:tc>
                <a:tc>
                  <a:txBody>
                    <a:bodyPr/>
                    <a:lstStyle/>
                    <a:p>
                      <a:pPr algn="l" fontAlgn="b">
                        <a:buNone/>
                      </a:pPr>
                      <a:r>
                        <a:rPr lang="en-US" sz="1050" b="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Yes</a:t>
                      </a:r>
                      <a:endParaRPr lang="en-US" sz="105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rgbClr val="D1D1D1"/>
                    </a:solidFill>
                  </a:tcPr>
                </a:tc>
                <a:extLst>
                  <a:ext uri="{0D108BD9-81ED-4DB2-BD59-A6C34878D82A}">
                    <a16:rowId xmlns:a16="http://schemas.microsoft.com/office/drawing/2014/main" val="2574789370"/>
                  </a:ext>
                </a:extLst>
              </a:tr>
              <a:tr h="272590">
                <a:tc>
                  <a:txBody>
                    <a:bodyPr/>
                    <a:lstStyle/>
                    <a:p>
                      <a:pPr algn="l"/>
                      <a:r>
                        <a:rPr lang="en-US" altLang="zh-CN" sz="1050" b="1">
                          <a:latin typeface="Lato" panose="020F0502020204030203" pitchFamily="34" charset="0"/>
                          <a:ea typeface="Lato" panose="020F0502020204030203" pitchFamily="34" charset="0"/>
                          <a:cs typeface="Lato" panose="020F0502020204030203" pitchFamily="34" charset="0"/>
                        </a:rPr>
                        <a:t>ISG Lease</a:t>
                      </a:r>
                    </a:p>
                  </a:txBody>
                  <a:tcPr marL="36000" marR="36000" marT="0" marB="0" anchor="ctr">
                    <a:solidFill>
                      <a:srgbClr val="D1D1D1"/>
                    </a:solidFill>
                  </a:tcPr>
                </a:tc>
                <a:tc>
                  <a:txBody>
                    <a:bodyPr/>
                    <a:lstStyle/>
                    <a:p>
                      <a:pPr algn="l" fontAlgn="b">
                        <a:buNone/>
                      </a:pPr>
                      <a:r>
                        <a:rPr lang="en-US" sz="1050" b="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Yes</a:t>
                      </a:r>
                      <a:endParaRPr lang="en-US" sz="105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rgbClr val="D1D1D1"/>
                    </a:solidFill>
                  </a:tcPr>
                </a:tc>
                <a:extLst>
                  <a:ext uri="{0D108BD9-81ED-4DB2-BD59-A6C34878D82A}">
                    <a16:rowId xmlns:a16="http://schemas.microsoft.com/office/drawing/2014/main" val="1817517682"/>
                  </a:ext>
                </a:extLst>
              </a:tr>
              <a:tr h="272590">
                <a:tc>
                  <a:txBody>
                    <a:bodyPr/>
                    <a:lstStyle/>
                    <a:p>
                      <a:pPr algn="l" fontAlgn="b">
                        <a:buNone/>
                      </a:pPr>
                      <a:r>
                        <a:rPr lang="en-US" sz="1050" b="1"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IaaS - Fix Charge</a:t>
                      </a:r>
                      <a:endParaRPr lang="en-US" sz="105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rgbClr val="D1D1D1"/>
                    </a:solidFill>
                  </a:tcPr>
                </a:tc>
                <a:tc>
                  <a:txBody>
                    <a:bodyPr/>
                    <a:lstStyle/>
                    <a:p>
                      <a:pPr algn="l" fontAlgn="b">
                        <a:buNone/>
                      </a:pPr>
                      <a:r>
                        <a:rPr lang="en-US" sz="1050" b="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Yes</a:t>
                      </a:r>
                      <a:endParaRPr lang="en-US" sz="105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rgbClr val="D1D1D1"/>
                    </a:solidFill>
                  </a:tcPr>
                </a:tc>
                <a:extLst>
                  <a:ext uri="{0D108BD9-81ED-4DB2-BD59-A6C34878D82A}">
                    <a16:rowId xmlns:a16="http://schemas.microsoft.com/office/drawing/2014/main" val="4123315810"/>
                  </a:ext>
                </a:extLst>
              </a:tr>
              <a:tr h="272590">
                <a:tc>
                  <a:txBody>
                    <a:bodyPr/>
                    <a:lstStyle/>
                    <a:p>
                      <a:pPr algn="l" fontAlgn="b">
                        <a:buNone/>
                      </a:pPr>
                      <a:r>
                        <a:rPr lang="en-US" sz="1050" b="1"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IaaS usage base rate</a:t>
                      </a:r>
                      <a:endParaRPr lang="en-US" sz="105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rgbClr val="D1D1D1"/>
                    </a:solidFill>
                  </a:tcPr>
                </a:tc>
                <a:tc>
                  <a:txBody>
                    <a:bodyPr/>
                    <a:lstStyle/>
                    <a:p>
                      <a:pPr algn="l" fontAlgn="b">
                        <a:buNone/>
                      </a:pPr>
                      <a:r>
                        <a:rPr lang="en-US" sz="1050" b="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rPr>
                        <a:t>No</a:t>
                      </a:r>
                      <a:endParaRPr lang="en-US" sz="1050" b="0" i="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rgbClr val="D1D1D1"/>
                    </a:solidFill>
                  </a:tcPr>
                </a:tc>
                <a:extLst>
                  <a:ext uri="{0D108BD9-81ED-4DB2-BD59-A6C34878D82A}">
                    <a16:rowId xmlns:a16="http://schemas.microsoft.com/office/drawing/2014/main" val="2402612806"/>
                  </a:ext>
                </a:extLst>
              </a:tr>
              <a:tr h="272590">
                <a:tc>
                  <a:txBody>
                    <a:bodyPr/>
                    <a:lstStyle/>
                    <a:p>
                      <a:pPr algn="l" fontAlgn="b">
                        <a:buNone/>
                      </a:pPr>
                      <a:r>
                        <a:rPr lang="en-US" sz="1050" b="1"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Capex</a:t>
                      </a:r>
                      <a:endParaRPr lang="en-US" sz="105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rgbClr val="D1D1D1"/>
                    </a:solidFill>
                  </a:tcPr>
                </a:tc>
                <a:tc>
                  <a:txBody>
                    <a:bodyPr/>
                    <a:lstStyle/>
                    <a:p>
                      <a:pPr algn="l" fontAlgn="b">
                        <a:buNone/>
                      </a:pPr>
                      <a:r>
                        <a:rPr lang="en-US" sz="1050" b="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rPr>
                        <a:t>No</a:t>
                      </a:r>
                      <a:endParaRPr lang="en-US" sz="1050" b="0" i="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solidFill>
                      <a:srgbClr val="D1D1D1"/>
                    </a:solidFill>
                  </a:tcPr>
                </a:tc>
                <a:extLst>
                  <a:ext uri="{0D108BD9-81ED-4DB2-BD59-A6C34878D82A}">
                    <a16:rowId xmlns:a16="http://schemas.microsoft.com/office/drawing/2014/main" val="1361186799"/>
                  </a:ext>
                </a:extLst>
              </a:tr>
            </a:tbl>
          </a:graphicData>
        </a:graphic>
      </p:graphicFrame>
      <p:sp>
        <p:nvSpPr>
          <p:cNvPr id="7" name="文本框 6">
            <a:extLst>
              <a:ext uri="{FF2B5EF4-FFF2-40B4-BE49-F238E27FC236}">
                <a16:creationId xmlns:a16="http://schemas.microsoft.com/office/drawing/2014/main" id="{2FF42DDF-2FB1-D3BC-A0C8-16500C5D24F2}"/>
              </a:ext>
            </a:extLst>
          </p:cNvPr>
          <p:cNvSpPr txBox="1"/>
          <p:nvPr/>
        </p:nvSpPr>
        <p:spPr>
          <a:xfrm>
            <a:off x="175452" y="984686"/>
            <a:ext cx="2087110" cy="184666"/>
          </a:xfrm>
          <a:prstGeom prst="rect">
            <a:avLst/>
          </a:prstGeom>
          <a:noFill/>
        </p:spPr>
        <p:txBody>
          <a:bodyPr wrap="none" lIns="0" tIns="0" rIns="0" bIns="0" rtlCol="0">
            <a:spAutoFit/>
          </a:bodyPr>
          <a:lstStyle/>
          <a:p>
            <a:pPr defTabSz="914126"/>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Applicable Business Scenarios:</a:t>
            </a:r>
            <a:endParaRPr lang="zh-CN" altLang="en-US" sz="12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9" name="文本框 8">
            <a:extLst>
              <a:ext uri="{FF2B5EF4-FFF2-40B4-BE49-F238E27FC236}">
                <a16:creationId xmlns:a16="http://schemas.microsoft.com/office/drawing/2014/main" id="{2D0D6A94-B3C6-BE78-B66B-F34DE4C234CC}"/>
              </a:ext>
            </a:extLst>
          </p:cNvPr>
          <p:cNvSpPr txBox="1"/>
          <p:nvPr/>
        </p:nvSpPr>
        <p:spPr>
          <a:xfrm>
            <a:off x="159793" y="3244334"/>
            <a:ext cx="6094428" cy="369332"/>
          </a:xfrm>
          <a:prstGeom prst="rect">
            <a:avLst/>
          </a:prstGeom>
          <a:noFill/>
        </p:spPr>
        <p:txBody>
          <a:bodyPr wrap="square">
            <a:spAutoFit/>
          </a:bodyPr>
          <a:lstStyle/>
          <a:p>
            <a:r>
              <a:rPr lang="zh-CN" altLang="zh-CN">
                <a:hlinkClick r:id="rId3"/>
              </a:rPr>
              <a:t>NexBill E2E BSR.pptx</a:t>
            </a:r>
            <a:endParaRPr lang="zh-CN" altLang="en-US"/>
          </a:p>
        </p:txBody>
      </p:sp>
    </p:spTree>
    <p:extLst>
      <p:ext uri="{BB962C8B-B14F-4D97-AF65-F5344CB8AC3E}">
        <p14:creationId xmlns:p14="http://schemas.microsoft.com/office/powerpoint/2010/main" val="4079151523"/>
      </p:ext>
    </p:extLst>
  </p:cSld>
  <p:clrMapOvr>
    <a:masterClrMapping/>
  </p:clrMapOvr>
  <p:transition>
    <p:fade/>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B5FF4F-BC4A-A2C2-7381-80901D68C62C}"/>
            </a:ext>
          </a:extLst>
        </p:cNvPr>
        <p:cNvGrpSpPr/>
        <p:nvPr/>
      </p:nvGrpSpPr>
      <p:grpSpPr>
        <a:xfrm>
          <a:off x="0" y="0"/>
          <a:ext cx="0" cy="0"/>
          <a:chOff x="0" y="0"/>
          <a:chExt cx="0" cy="0"/>
        </a:xfrm>
      </p:grpSpPr>
      <p:sp>
        <p:nvSpPr>
          <p:cNvPr id="77" name="文本框 76">
            <a:extLst>
              <a:ext uri="{FF2B5EF4-FFF2-40B4-BE49-F238E27FC236}">
                <a16:creationId xmlns:a16="http://schemas.microsoft.com/office/drawing/2014/main" id="{2C94D483-7D71-5C5F-DF83-33AD14DE51A7}"/>
              </a:ext>
            </a:extLst>
          </p:cNvPr>
          <p:cNvSpPr txBox="1"/>
          <p:nvPr/>
        </p:nvSpPr>
        <p:spPr>
          <a:xfrm>
            <a:off x="482556" y="1961433"/>
            <a:ext cx="2069833" cy="246157"/>
          </a:xfrm>
          <a:prstGeom prst="rect">
            <a:avLst/>
          </a:prstGeom>
          <a:noFill/>
        </p:spPr>
        <p:txBody>
          <a:bodyPr wrap="square" rtlCol="0">
            <a:spAutoFit/>
          </a:bodyPr>
          <a:lstStyle/>
          <a:p>
            <a:pPr defTabSz="914126"/>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rPr>
              <a:t>Semi-yearly billing cycle sample: </a:t>
            </a:r>
            <a:endParaRPr lang="zh-CN" altLang="en-US" sz="10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78" name="文本框 77">
            <a:extLst>
              <a:ext uri="{FF2B5EF4-FFF2-40B4-BE49-F238E27FC236}">
                <a16:creationId xmlns:a16="http://schemas.microsoft.com/office/drawing/2014/main" id="{F0E183EF-6787-13BB-A2AD-1EE8EE920B57}"/>
              </a:ext>
            </a:extLst>
          </p:cNvPr>
          <p:cNvSpPr txBox="1"/>
          <p:nvPr/>
        </p:nvSpPr>
        <p:spPr>
          <a:xfrm>
            <a:off x="580835" y="4661394"/>
            <a:ext cx="8469923" cy="1015663"/>
          </a:xfrm>
          <a:prstGeom prst="rect">
            <a:avLst/>
          </a:prstGeom>
          <a:noFill/>
        </p:spPr>
        <p:txBody>
          <a:bodyPr wrap="square" lIns="0" tIns="0" rIns="0" bIns="0" rtlCol="0">
            <a:spAutoFit/>
          </a:bodyPr>
          <a:lstStyle/>
          <a:p>
            <a:pPr defTabSz="914126">
              <a:spcBef>
                <a:spcPts val="600"/>
              </a:spcBef>
            </a:pPr>
            <a:r>
              <a:rPr lang="en-US" sz="1000" b="1">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Highlight</a:t>
            </a:r>
            <a:r>
              <a:rPr lang="zh-CN" altLang="en-US" sz="1000" b="1">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a:t>
            </a:r>
            <a:endParaRPr lang="en-US" sz="1000" b="1">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179946" indent="-228531" defTabSz="914126">
              <a:spcBef>
                <a:spcPts val="600"/>
              </a:spcBef>
              <a:buFont typeface="+mj-lt"/>
              <a:buAutoNum type="arabicPeriod"/>
            </a:pPr>
            <a:r>
              <a:rPr lang="en-US" sz="900">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Tranche period match billing cycle term period, </a:t>
            </a:r>
            <a:r>
              <a:rPr lang="en-US" sz="900" err="1">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eg</a:t>
            </a:r>
            <a:r>
              <a:rPr lang="en-US" sz="900">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 </a:t>
            </a:r>
            <a:r>
              <a:rPr lang="en-US" altLang="zh-CN" sz="900">
                <a:solidFill>
                  <a:srgbClr val="000000"/>
                </a:solidFill>
                <a:latin typeface="Lato" panose="020F0502020204030203" pitchFamily="34" charset="0"/>
                <a:ea typeface="Lato" panose="020F0502020204030203" pitchFamily="34" charset="0"/>
                <a:cs typeface="Lato" panose="020F0502020204030203" pitchFamily="34" charset="0"/>
              </a:rPr>
              <a:t>quarterly term -&gt; 3 months tranches. (wave1).</a:t>
            </a:r>
            <a:endParaRPr lang="en-US" sz="900">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179946" indent="-228531" defTabSz="914126">
              <a:spcBef>
                <a:spcPts val="600"/>
              </a:spcBef>
              <a:buFont typeface="+mj-lt"/>
              <a:buAutoNum type="arabicPeriod"/>
            </a:pPr>
            <a:r>
              <a:rPr lang="en-US" altLang="zh-CN" sz="900">
                <a:solidFill>
                  <a:srgbClr val="000000"/>
                </a:solidFill>
                <a:latin typeface="Lato" panose="020F0502020204030203" pitchFamily="34" charset="0"/>
                <a:ea typeface="Lato" panose="020F0502020204030203" pitchFamily="34" charset="0"/>
                <a:cs typeface="Lato" panose="020F0502020204030203" pitchFamily="34" charset="0"/>
              </a:rPr>
              <a:t>Recurring invoice date, commence date,  trance start date,  cut off date defined on customer ,same as BAU , shared for all cycle recurring invoice. </a:t>
            </a:r>
          </a:p>
          <a:p>
            <a:pPr marL="179946" indent="-228531" defTabSz="914126">
              <a:spcBef>
                <a:spcPts val="600"/>
              </a:spcBef>
              <a:buFont typeface="+mj-lt"/>
              <a:buAutoNum type="arabicPeriod"/>
            </a:pPr>
            <a:r>
              <a:rPr lang="en-US" altLang="zh-CN" sz="900">
                <a:solidFill>
                  <a:srgbClr val="000000"/>
                </a:solidFill>
                <a:latin typeface="Lato" panose="020F0502020204030203" pitchFamily="34" charset="0"/>
                <a:ea typeface="Lato" panose="020F0502020204030203" pitchFamily="34" charset="0"/>
                <a:cs typeface="Lato" panose="020F0502020204030203" pitchFamily="34" charset="0"/>
              </a:rPr>
              <a:t>Yearly/quarterly/monthly…invoice should be separate invoice but in same statement</a:t>
            </a:r>
          </a:p>
          <a:p>
            <a:pPr marL="179946" indent="-228531" defTabSz="914126">
              <a:spcBef>
                <a:spcPts val="600"/>
              </a:spcBef>
              <a:buFont typeface="+mj-lt"/>
              <a:buAutoNum type="arabicPeriod"/>
            </a:pPr>
            <a:r>
              <a:rPr lang="en-US" altLang="zh-CN" sz="900">
                <a:solidFill>
                  <a:srgbClr val="000000"/>
                </a:solidFill>
                <a:latin typeface="Lato" panose="020F0502020204030203" pitchFamily="34" charset="0"/>
                <a:ea typeface="Lato" panose="020F0502020204030203" pitchFamily="34" charset="0"/>
                <a:cs typeface="Lato" panose="020F0502020204030203" pitchFamily="34" charset="0"/>
              </a:rPr>
              <a:t>Flex option, ET, EOT- If allowed -minimum period unit is one term .(one term =1/3/6/12 month)</a:t>
            </a:r>
          </a:p>
        </p:txBody>
      </p:sp>
      <p:sp>
        <p:nvSpPr>
          <p:cNvPr id="69" name="文本框 68">
            <a:extLst>
              <a:ext uri="{FF2B5EF4-FFF2-40B4-BE49-F238E27FC236}">
                <a16:creationId xmlns:a16="http://schemas.microsoft.com/office/drawing/2014/main" id="{FB57D37C-1DBF-9830-897A-FB756A48EA17}"/>
              </a:ext>
            </a:extLst>
          </p:cNvPr>
          <p:cNvSpPr txBox="1"/>
          <p:nvPr/>
        </p:nvSpPr>
        <p:spPr>
          <a:xfrm>
            <a:off x="452646" y="783893"/>
            <a:ext cx="7425729" cy="830997"/>
          </a:xfrm>
          <a:prstGeom prst="rect">
            <a:avLst/>
          </a:prstGeom>
          <a:noFill/>
        </p:spPr>
        <p:txBody>
          <a:bodyPr wrap="square" rtlCol="0">
            <a:spAutoFit/>
          </a:bodyPr>
          <a:lstStyle/>
          <a:p>
            <a:pPr defTabSz="914126">
              <a:lnSpc>
                <a:spcPct val="150000"/>
              </a:lnSpc>
            </a:pPr>
            <a:r>
              <a:rPr lang="en-US" altLang="zh-CN" sz="1200" b="1">
                <a:latin typeface="Lato" panose="020F0502020204030203" pitchFamily="34" charset="0"/>
                <a:ea typeface="Lato" panose="020F0502020204030203" pitchFamily="34" charset="0"/>
                <a:cs typeface="Lato" panose="020F0502020204030203" pitchFamily="34" charset="0"/>
              </a:rPr>
              <a:t>Option 1: </a:t>
            </a:r>
            <a:r>
              <a:rPr lang="en-US" altLang="zh-CN" sz="1200" u="sng">
                <a:latin typeface="Lato" panose="020F0502020204030203" pitchFamily="34" charset="0"/>
                <a:cs typeface="Lato" panose="020F0502020204030203" pitchFamily="34" charset="0"/>
              </a:rPr>
              <a:t>Tranche Grouping Period = Billing Cycle =  Quarterly / Semi-Yearly / Yearly</a:t>
            </a:r>
          </a:p>
          <a:p>
            <a:pPr marL="171450" indent="-171450" defTabSz="914126">
              <a:buFont typeface="Arial" panose="020B0604020202020204" pitchFamily="34" charset="0"/>
              <a:buChar char="•"/>
            </a:pPr>
            <a:r>
              <a:rPr lang="en-US" altLang="zh-CN" sz="1000" i="1">
                <a:latin typeface="Lato" panose="020F0502020204030203" pitchFamily="34" charset="0"/>
                <a:cs typeface="Lato" panose="020F0502020204030203" pitchFamily="34" charset="0"/>
              </a:rPr>
              <a:t>One tranche </a:t>
            </a:r>
            <a:r>
              <a:rPr lang="en-US" altLang="zh-CN" sz="1000" b="1" i="1">
                <a:latin typeface="Lato" panose="020F0502020204030203" pitchFamily="34" charset="0"/>
                <a:cs typeface="Lato" panose="020F0502020204030203" pitchFamily="34" charset="0"/>
              </a:rPr>
              <a:t>per quarter / semi-year / year</a:t>
            </a:r>
          </a:p>
          <a:p>
            <a:pPr marL="171450" indent="-171450" defTabSz="914126">
              <a:buFont typeface="Arial" panose="020B0604020202020204" pitchFamily="34" charset="0"/>
              <a:buChar char="•"/>
            </a:pPr>
            <a:r>
              <a:rPr lang="en-US" altLang="zh-CN" sz="1000" i="1">
                <a:latin typeface="Lato" panose="020F0502020204030203" pitchFamily="34" charset="0"/>
                <a:cs typeface="Lato" panose="020F0502020204030203" pitchFamily="34" charset="0"/>
              </a:rPr>
              <a:t>Tranche commences </a:t>
            </a:r>
            <a:r>
              <a:rPr lang="en-US" altLang="zh-CN" sz="1000" b="1" i="1">
                <a:latin typeface="Lato" panose="020F0502020204030203" pitchFamily="34" charset="0"/>
                <a:cs typeface="Lato" panose="020F0502020204030203" pitchFamily="34" charset="0"/>
              </a:rPr>
              <a:t>quarterly / semi-yearly / yearly</a:t>
            </a:r>
          </a:p>
          <a:p>
            <a:pPr marL="171450" indent="-171450" defTabSz="914126">
              <a:buFont typeface="Arial" panose="020B0604020202020204" pitchFamily="34" charset="0"/>
              <a:buChar char="•"/>
            </a:pPr>
            <a:r>
              <a:rPr lang="en-US" altLang="zh-CN" sz="1000" i="1">
                <a:latin typeface="Lato" panose="020F0502020204030203" pitchFamily="34" charset="0"/>
                <a:cs typeface="Lato" panose="020F0502020204030203" pitchFamily="34" charset="0"/>
              </a:rPr>
              <a:t>Customer billing is quarterly /  semi-yearly / yearly</a:t>
            </a:r>
          </a:p>
        </p:txBody>
      </p:sp>
      <p:sp>
        <p:nvSpPr>
          <p:cNvPr id="74" name="Title 10">
            <a:extLst>
              <a:ext uri="{FF2B5EF4-FFF2-40B4-BE49-F238E27FC236}">
                <a16:creationId xmlns:a16="http://schemas.microsoft.com/office/drawing/2014/main" id="{409DEDD2-3A12-AB5A-74E4-F314E12EFD30}"/>
              </a:ext>
            </a:extLst>
          </p:cNvPr>
          <p:cNvSpPr txBox="1">
            <a:spLocks/>
          </p:cNvSpPr>
          <p:nvPr/>
        </p:nvSpPr>
        <p:spPr>
          <a:xfrm>
            <a:off x="372499" y="182434"/>
            <a:ext cx="11056112"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200"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NexBill – </a:t>
            </a:r>
            <a:r>
              <a:rPr lang="en-US" altLang="zh-CN" sz="3200" b="1">
                <a:solidFill>
                  <a:srgbClr val="000000"/>
                </a:solidFill>
                <a:latin typeface="Tenorite" panose="00000500000000000000" pitchFamily="2" charset="0"/>
                <a:ea typeface="Lato" panose="020F0502020204030203" pitchFamily="34" charset="0"/>
                <a:cs typeface="Lato" panose="020F0502020204030203" pitchFamily="34" charset="0"/>
                <a:sym typeface="Arial" panose="020B0604020202020204" pitchFamily="34" charset="0"/>
              </a:rPr>
              <a:t>New Billing Cycle – Option 1</a:t>
            </a:r>
            <a:endParaRPr lang="en-US" altLang="zh-CN" sz="3200"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endParaRPr>
          </a:p>
        </p:txBody>
      </p:sp>
      <p:grpSp>
        <p:nvGrpSpPr>
          <p:cNvPr id="80" name="组合 79">
            <a:extLst>
              <a:ext uri="{FF2B5EF4-FFF2-40B4-BE49-F238E27FC236}">
                <a16:creationId xmlns:a16="http://schemas.microsoft.com/office/drawing/2014/main" id="{D532D329-46B0-9FF5-AEB5-300C2823B68B}"/>
              </a:ext>
            </a:extLst>
          </p:cNvPr>
          <p:cNvGrpSpPr/>
          <p:nvPr/>
        </p:nvGrpSpPr>
        <p:grpSpPr>
          <a:xfrm>
            <a:off x="580834" y="2344498"/>
            <a:ext cx="11361296" cy="1493548"/>
            <a:chOff x="579246" y="2344498"/>
            <a:chExt cx="11361296" cy="1493548"/>
          </a:xfrm>
        </p:grpSpPr>
        <p:sp>
          <p:nvSpPr>
            <p:cNvPr id="16" name="矩形 15">
              <a:extLst>
                <a:ext uri="{FF2B5EF4-FFF2-40B4-BE49-F238E27FC236}">
                  <a16:creationId xmlns:a16="http://schemas.microsoft.com/office/drawing/2014/main" id="{C4966C5C-C991-9E04-C7AC-C1B16A53D5B5}"/>
                </a:ext>
              </a:extLst>
            </p:cNvPr>
            <p:cNvSpPr/>
            <p:nvPr/>
          </p:nvSpPr>
          <p:spPr>
            <a:xfrm>
              <a:off x="1384416" y="2344498"/>
              <a:ext cx="4831017" cy="489384"/>
            </a:xfrm>
            <a:prstGeom prst="rect">
              <a:avLst/>
            </a:prstGeom>
            <a:ln w="9525"/>
          </p:spPr>
          <p:style>
            <a:lnRef idx="2">
              <a:schemeClr val="accent4">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25272" tIns="0" rIns="25272" bIns="0" numCol="1" spcCol="1270" anchor="t" anchorCtr="0">
              <a:noAutofit/>
            </a:bodyPr>
            <a:lstStyle/>
            <a:p>
              <a:pPr marL="0" lvl="1" algn="ctr" defTabSz="311057">
                <a:lnSpc>
                  <a:spcPct val="90000"/>
                </a:lnSpc>
                <a:spcBef>
                  <a:spcPct val="0"/>
                </a:spcBef>
                <a:spcAft>
                  <a:spcPct val="15000"/>
                </a:spcAft>
                <a:defRPr/>
              </a:pPr>
              <a:r>
                <a:rPr lang="en-US" altLang="zh-CN" sz="1000">
                  <a:solidFill>
                    <a:srgbClr val="000000">
                      <a:hueOff val="0"/>
                      <a:satOff val="0"/>
                      <a:lumOff val="0"/>
                      <a:alphaOff val="0"/>
                    </a:srgbClr>
                  </a:solidFill>
                  <a:latin typeface="Lato" panose="020F0502020204030203" pitchFamily="34" charset="0"/>
                  <a:ea typeface="Lato" panose="020F0502020204030203" pitchFamily="34" charset="0"/>
                  <a:cs typeface="Lato" panose="020F0502020204030203" pitchFamily="34" charset="0"/>
                </a:rPr>
                <a:t>6 Months Billing Cycle</a:t>
              </a:r>
              <a:endParaRPr lang="zh-CN" altLang="en-US" sz="1000">
                <a:solidFill>
                  <a:srgbClr val="000000">
                    <a:hueOff val="0"/>
                    <a:satOff val="0"/>
                    <a:lumOff val="0"/>
                    <a:alphaOff val="0"/>
                  </a:srgbClr>
                </a:solidFill>
                <a:latin typeface="Lato" panose="020F0502020204030203" pitchFamily="34" charset="0"/>
                <a:ea typeface="黑体" panose="02010609060101010101" pitchFamily="49" charset="-122"/>
                <a:cs typeface="Lato" panose="020F0502020204030203" pitchFamily="34" charset="0"/>
              </a:endParaRPr>
            </a:p>
          </p:txBody>
        </p:sp>
        <p:sp>
          <p:nvSpPr>
            <p:cNvPr id="17" name="任意多边形: 形状 16">
              <a:extLst>
                <a:ext uri="{FF2B5EF4-FFF2-40B4-BE49-F238E27FC236}">
                  <a16:creationId xmlns:a16="http://schemas.microsoft.com/office/drawing/2014/main" id="{C4A7DE2D-9D67-3FC1-EAD5-DA7B938DD720}"/>
                </a:ext>
              </a:extLst>
            </p:cNvPr>
            <p:cNvSpPr/>
            <p:nvPr/>
          </p:nvSpPr>
          <p:spPr>
            <a:xfrm>
              <a:off x="1384416"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1</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18" name="任意多边形: 形状 17">
              <a:extLst>
                <a:ext uri="{FF2B5EF4-FFF2-40B4-BE49-F238E27FC236}">
                  <a16:creationId xmlns:a16="http://schemas.microsoft.com/office/drawing/2014/main" id="{FC06CD52-BD22-C900-EAE2-334FF5136D01}"/>
                </a:ext>
              </a:extLst>
            </p:cNvPr>
            <p:cNvSpPr/>
            <p:nvPr/>
          </p:nvSpPr>
          <p:spPr>
            <a:xfrm>
              <a:off x="2189586"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2</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23" name="任意多边形: 形状 22">
              <a:extLst>
                <a:ext uri="{FF2B5EF4-FFF2-40B4-BE49-F238E27FC236}">
                  <a16:creationId xmlns:a16="http://schemas.microsoft.com/office/drawing/2014/main" id="{0AD927CB-ED2F-3723-52CB-C914E9AC2143}"/>
                </a:ext>
              </a:extLst>
            </p:cNvPr>
            <p:cNvSpPr/>
            <p:nvPr/>
          </p:nvSpPr>
          <p:spPr>
            <a:xfrm>
              <a:off x="2994755"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3</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24" name="任意多边形: 形状 23">
              <a:extLst>
                <a:ext uri="{FF2B5EF4-FFF2-40B4-BE49-F238E27FC236}">
                  <a16:creationId xmlns:a16="http://schemas.microsoft.com/office/drawing/2014/main" id="{9F7110E0-0AB7-0686-C742-CCEEDB4627B0}"/>
                </a:ext>
              </a:extLst>
            </p:cNvPr>
            <p:cNvSpPr/>
            <p:nvPr/>
          </p:nvSpPr>
          <p:spPr>
            <a:xfrm>
              <a:off x="3799925"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4</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25" name="任意多边形: 形状 24">
              <a:extLst>
                <a:ext uri="{FF2B5EF4-FFF2-40B4-BE49-F238E27FC236}">
                  <a16:creationId xmlns:a16="http://schemas.microsoft.com/office/drawing/2014/main" id="{2B1C511C-693D-083F-A7EE-A470B6441EF1}"/>
                </a:ext>
              </a:extLst>
            </p:cNvPr>
            <p:cNvSpPr/>
            <p:nvPr/>
          </p:nvSpPr>
          <p:spPr>
            <a:xfrm>
              <a:off x="4605094"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5</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26" name="任意多边形: 形状 25">
              <a:extLst>
                <a:ext uri="{FF2B5EF4-FFF2-40B4-BE49-F238E27FC236}">
                  <a16:creationId xmlns:a16="http://schemas.microsoft.com/office/drawing/2014/main" id="{F2298FF4-62DE-2276-DE5C-B5F482E6858D}"/>
                </a:ext>
              </a:extLst>
            </p:cNvPr>
            <p:cNvSpPr/>
            <p:nvPr/>
          </p:nvSpPr>
          <p:spPr>
            <a:xfrm>
              <a:off x="5410264"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6</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29" name="矩形 28">
              <a:extLst>
                <a:ext uri="{FF2B5EF4-FFF2-40B4-BE49-F238E27FC236}">
                  <a16:creationId xmlns:a16="http://schemas.microsoft.com/office/drawing/2014/main" id="{25573683-DFB5-FCAD-2ECE-370A94A234F5}"/>
                </a:ext>
              </a:extLst>
            </p:cNvPr>
            <p:cNvSpPr/>
            <p:nvPr/>
          </p:nvSpPr>
          <p:spPr>
            <a:xfrm>
              <a:off x="6215433" y="2344498"/>
              <a:ext cx="4831017" cy="489384"/>
            </a:xfrm>
            <a:prstGeom prst="rect">
              <a:avLst/>
            </a:prstGeom>
            <a:ln w="9525"/>
          </p:spPr>
          <p:style>
            <a:lnRef idx="2">
              <a:schemeClr val="accent4">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25272" tIns="0" rIns="25272" bIns="0" numCol="1" spcCol="1270" anchor="t" anchorCtr="0">
              <a:noAutofit/>
            </a:bodyPr>
            <a:lstStyle/>
            <a:p>
              <a:pPr marL="0" lvl="1" algn="ctr" defTabSz="311057">
                <a:lnSpc>
                  <a:spcPct val="90000"/>
                </a:lnSpc>
                <a:spcBef>
                  <a:spcPct val="0"/>
                </a:spcBef>
                <a:spcAft>
                  <a:spcPct val="15000"/>
                </a:spcAft>
                <a:defRPr/>
              </a:pPr>
              <a:r>
                <a:rPr lang="en-US" altLang="zh-CN" sz="1000">
                  <a:solidFill>
                    <a:srgbClr val="000000">
                      <a:hueOff val="0"/>
                      <a:satOff val="0"/>
                      <a:lumOff val="0"/>
                      <a:alphaOff val="0"/>
                    </a:srgbClr>
                  </a:solidFill>
                  <a:latin typeface="Lato" panose="020F0502020204030203" pitchFamily="34" charset="0"/>
                  <a:ea typeface="Lato" panose="020F0502020204030203" pitchFamily="34" charset="0"/>
                  <a:cs typeface="Lato" panose="020F0502020204030203" pitchFamily="34" charset="0"/>
                </a:rPr>
                <a:t>6 Months Billing Cycle</a:t>
              </a:r>
              <a:endParaRPr lang="zh-CN" altLang="en-US" sz="1000">
                <a:solidFill>
                  <a:srgbClr val="000000">
                    <a:hueOff val="0"/>
                    <a:satOff val="0"/>
                    <a:lumOff val="0"/>
                    <a:alphaOff val="0"/>
                  </a:srgbClr>
                </a:solidFill>
                <a:latin typeface="Lato" panose="020F0502020204030203" pitchFamily="34" charset="0"/>
                <a:ea typeface="黑体" panose="02010609060101010101" pitchFamily="49" charset="-122"/>
                <a:cs typeface="Lato" panose="020F0502020204030203" pitchFamily="34" charset="0"/>
              </a:endParaRPr>
            </a:p>
          </p:txBody>
        </p:sp>
        <p:sp>
          <p:nvSpPr>
            <p:cNvPr id="30" name="任意多边形: 形状 29">
              <a:extLst>
                <a:ext uri="{FF2B5EF4-FFF2-40B4-BE49-F238E27FC236}">
                  <a16:creationId xmlns:a16="http://schemas.microsoft.com/office/drawing/2014/main" id="{921E3AA5-EB12-E958-0090-9BDB9527E9D5}"/>
                </a:ext>
              </a:extLst>
            </p:cNvPr>
            <p:cNvSpPr/>
            <p:nvPr/>
          </p:nvSpPr>
          <p:spPr>
            <a:xfrm>
              <a:off x="6215433"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7</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39" name="任意多边形: 形状 38">
              <a:extLst>
                <a:ext uri="{FF2B5EF4-FFF2-40B4-BE49-F238E27FC236}">
                  <a16:creationId xmlns:a16="http://schemas.microsoft.com/office/drawing/2014/main" id="{9F1C633B-C4B7-69D4-D731-A65CC406BB8D}"/>
                </a:ext>
              </a:extLst>
            </p:cNvPr>
            <p:cNvSpPr/>
            <p:nvPr/>
          </p:nvSpPr>
          <p:spPr>
            <a:xfrm>
              <a:off x="7020603"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8</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41" name="任意多边形: 形状 40">
              <a:extLst>
                <a:ext uri="{FF2B5EF4-FFF2-40B4-BE49-F238E27FC236}">
                  <a16:creationId xmlns:a16="http://schemas.microsoft.com/office/drawing/2014/main" id="{53E02802-8E32-85CD-1709-B53AF63074F0}"/>
                </a:ext>
              </a:extLst>
            </p:cNvPr>
            <p:cNvSpPr/>
            <p:nvPr/>
          </p:nvSpPr>
          <p:spPr>
            <a:xfrm>
              <a:off x="7825772"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9</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42" name="任意多边形: 形状 41">
              <a:extLst>
                <a:ext uri="{FF2B5EF4-FFF2-40B4-BE49-F238E27FC236}">
                  <a16:creationId xmlns:a16="http://schemas.microsoft.com/office/drawing/2014/main" id="{274ED40B-F111-5989-354B-19D8446714B8}"/>
                </a:ext>
              </a:extLst>
            </p:cNvPr>
            <p:cNvSpPr/>
            <p:nvPr/>
          </p:nvSpPr>
          <p:spPr>
            <a:xfrm>
              <a:off x="8630942"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10</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43" name="任意多边形: 形状 42">
              <a:extLst>
                <a:ext uri="{FF2B5EF4-FFF2-40B4-BE49-F238E27FC236}">
                  <a16:creationId xmlns:a16="http://schemas.microsoft.com/office/drawing/2014/main" id="{A12837E9-17EB-C3DA-8CE0-3AEBD118CC21}"/>
                </a:ext>
              </a:extLst>
            </p:cNvPr>
            <p:cNvSpPr/>
            <p:nvPr/>
          </p:nvSpPr>
          <p:spPr>
            <a:xfrm>
              <a:off x="9436111"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11</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44" name="任意多边形: 形状 43">
              <a:extLst>
                <a:ext uri="{FF2B5EF4-FFF2-40B4-BE49-F238E27FC236}">
                  <a16:creationId xmlns:a16="http://schemas.microsoft.com/office/drawing/2014/main" id="{B1172A27-39B3-F516-580F-F9597138DE22}"/>
                </a:ext>
              </a:extLst>
            </p:cNvPr>
            <p:cNvSpPr/>
            <p:nvPr/>
          </p:nvSpPr>
          <p:spPr>
            <a:xfrm>
              <a:off x="10241281" y="2504392"/>
              <a:ext cx="8051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12</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46" name="任意多边形: 形状 45">
              <a:extLst>
                <a:ext uri="{FF2B5EF4-FFF2-40B4-BE49-F238E27FC236}">
                  <a16:creationId xmlns:a16="http://schemas.microsoft.com/office/drawing/2014/main" id="{9B262E74-6225-4263-CF5F-DBA51EA347A3}"/>
                </a:ext>
              </a:extLst>
            </p:cNvPr>
            <p:cNvSpPr/>
            <p:nvPr/>
          </p:nvSpPr>
          <p:spPr>
            <a:xfrm>
              <a:off x="579246" y="2504391"/>
              <a:ext cx="805170"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0</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47" name="文本框 46">
              <a:extLst>
                <a:ext uri="{FF2B5EF4-FFF2-40B4-BE49-F238E27FC236}">
                  <a16:creationId xmlns:a16="http://schemas.microsoft.com/office/drawing/2014/main" id="{837FF46F-FC39-9D89-45EA-CA6D05B75082}"/>
                </a:ext>
              </a:extLst>
            </p:cNvPr>
            <p:cNvSpPr txBox="1"/>
            <p:nvPr/>
          </p:nvSpPr>
          <p:spPr>
            <a:xfrm>
              <a:off x="815317" y="2951673"/>
              <a:ext cx="711325" cy="215444"/>
            </a:xfrm>
            <a:prstGeom prst="rect">
              <a:avLst/>
            </a:prstGeom>
            <a:noFill/>
          </p:spPr>
          <p:txBody>
            <a:bodyPr wrap="square" rtlCol="0">
              <a:spAutoFit/>
            </a:bodyPr>
            <a:lstStyle/>
            <a:p>
              <a:pPr defTabSz="914126">
                <a:defRPr/>
              </a:pPr>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Dec.18</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49" name="文本框 48">
              <a:extLst>
                <a:ext uri="{FF2B5EF4-FFF2-40B4-BE49-F238E27FC236}">
                  <a16:creationId xmlns:a16="http://schemas.microsoft.com/office/drawing/2014/main" id="{938D5F5E-3F7A-E88C-180C-15654C2A55C6}"/>
                </a:ext>
              </a:extLst>
            </p:cNvPr>
            <p:cNvSpPr txBox="1"/>
            <p:nvPr/>
          </p:nvSpPr>
          <p:spPr>
            <a:xfrm>
              <a:off x="5629121" y="2951673"/>
              <a:ext cx="626060" cy="215444"/>
            </a:xfrm>
            <a:prstGeom prst="rect">
              <a:avLst/>
            </a:prstGeom>
            <a:noFill/>
          </p:spPr>
          <p:txBody>
            <a:bodyPr wrap="square" rtlCol="0">
              <a:spAutoFit/>
            </a:bodyPr>
            <a:lstStyle/>
            <a:p>
              <a:pPr defTabSz="914126">
                <a:defRPr/>
              </a:pPr>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Jun.17</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50" name="直接箭头连接符 49">
              <a:extLst>
                <a:ext uri="{FF2B5EF4-FFF2-40B4-BE49-F238E27FC236}">
                  <a16:creationId xmlns:a16="http://schemas.microsoft.com/office/drawing/2014/main" id="{0FED8153-9A89-8780-7C0D-D5A8AE5E91D0}"/>
                </a:ext>
              </a:extLst>
            </p:cNvPr>
            <p:cNvCxnSpPr>
              <a:cxnSpLocks/>
            </p:cNvCxnSpPr>
            <p:nvPr/>
          </p:nvCxnSpPr>
          <p:spPr>
            <a:xfrm>
              <a:off x="1106365" y="2910903"/>
              <a:ext cx="4831017" cy="0"/>
            </a:xfrm>
            <a:prstGeom prst="straightConnector1">
              <a:avLst/>
            </a:prstGeom>
            <a:ln w="3175">
              <a:solidFill>
                <a:schemeClr val="bg1">
                  <a:lumMod val="65000"/>
                </a:schemeClr>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D8192F97-6B53-CB11-4284-CF1A4E2F7DCB}"/>
                </a:ext>
              </a:extLst>
            </p:cNvPr>
            <p:cNvCxnSpPr>
              <a:cxnSpLocks/>
              <a:stCxn id="45" idx="1"/>
              <a:endCxn id="49" idx="0"/>
            </p:cNvCxnSpPr>
            <p:nvPr/>
          </p:nvCxnSpPr>
          <p:spPr>
            <a:xfrm>
              <a:off x="5937384" y="2735246"/>
              <a:ext cx="4767" cy="216427"/>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A6A25FE3-8746-17C0-6697-E4774F0B0F3E}"/>
                </a:ext>
              </a:extLst>
            </p:cNvPr>
            <p:cNvCxnSpPr>
              <a:cxnSpLocks/>
            </p:cNvCxnSpPr>
            <p:nvPr/>
          </p:nvCxnSpPr>
          <p:spPr>
            <a:xfrm>
              <a:off x="1106365" y="2735244"/>
              <a:ext cx="0" cy="216428"/>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23D97E92-02B8-23E9-304C-487C0A4C1243}"/>
                </a:ext>
              </a:extLst>
            </p:cNvPr>
            <p:cNvCxnSpPr>
              <a:cxnSpLocks/>
            </p:cNvCxnSpPr>
            <p:nvPr/>
          </p:nvCxnSpPr>
          <p:spPr>
            <a:xfrm>
              <a:off x="10765601" y="2753025"/>
              <a:ext cx="0" cy="216428"/>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7E2B4639-0F8A-146F-9E24-28A35576F70C}"/>
                </a:ext>
              </a:extLst>
            </p:cNvPr>
            <p:cNvCxnSpPr>
              <a:cxnSpLocks/>
            </p:cNvCxnSpPr>
            <p:nvPr/>
          </p:nvCxnSpPr>
          <p:spPr>
            <a:xfrm>
              <a:off x="5937384" y="2907061"/>
              <a:ext cx="4831017" cy="0"/>
            </a:xfrm>
            <a:prstGeom prst="straightConnector1">
              <a:avLst/>
            </a:prstGeom>
            <a:ln w="3175">
              <a:solidFill>
                <a:schemeClr val="bg1">
                  <a:lumMod val="65000"/>
                </a:schemeClr>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文本框 59">
              <a:extLst>
                <a:ext uri="{FF2B5EF4-FFF2-40B4-BE49-F238E27FC236}">
                  <a16:creationId xmlns:a16="http://schemas.microsoft.com/office/drawing/2014/main" id="{68B2783D-BB50-1B38-2EDC-A66A637A2B43}"/>
                </a:ext>
              </a:extLst>
            </p:cNvPr>
            <p:cNvSpPr txBox="1"/>
            <p:nvPr/>
          </p:nvSpPr>
          <p:spPr>
            <a:xfrm>
              <a:off x="10394885" y="2982251"/>
              <a:ext cx="753104" cy="215444"/>
            </a:xfrm>
            <a:prstGeom prst="rect">
              <a:avLst/>
            </a:prstGeom>
            <a:noFill/>
          </p:spPr>
          <p:txBody>
            <a:bodyPr wrap="square" rtlCol="0">
              <a:spAutoFit/>
            </a:bodyPr>
            <a:lstStyle/>
            <a:p>
              <a:pPr defTabSz="914126">
                <a:defRPr/>
              </a:pPr>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Dec.17</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65" name="直接连接符 64">
              <a:extLst>
                <a:ext uri="{FF2B5EF4-FFF2-40B4-BE49-F238E27FC236}">
                  <a16:creationId xmlns:a16="http://schemas.microsoft.com/office/drawing/2014/main" id="{D6676E69-CAF7-7CB6-80A5-91881092F52B}"/>
                </a:ext>
              </a:extLst>
            </p:cNvPr>
            <p:cNvCxnSpPr>
              <a:cxnSpLocks/>
              <a:endCxn id="66" idx="0"/>
            </p:cNvCxnSpPr>
            <p:nvPr/>
          </p:nvCxnSpPr>
          <p:spPr>
            <a:xfrm>
              <a:off x="3445130" y="2915363"/>
              <a:ext cx="4767" cy="169302"/>
            </a:xfrm>
            <a:prstGeom prst="line">
              <a:avLst/>
            </a:prstGeom>
            <a:ln>
              <a:solidFill>
                <a:srgbClr val="7030A0"/>
              </a:solidFill>
              <a:headEnd type="none" w="med" len="med"/>
              <a:tailEnd type="triangle" w="med" len="med"/>
            </a:ln>
          </p:spPr>
          <p:style>
            <a:lnRef idx="3">
              <a:schemeClr val="accent4"/>
            </a:lnRef>
            <a:fillRef idx="0">
              <a:schemeClr val="accent4"/>
            </a:fillRef>
            <a:effectRef idx="2">
              <a:schemeClr val="accent4"/>
            </a:effectRef>
            <a:fontRef idx="minor">
              <a:schemeClr val="tx1"/>
            </a:fontRef>
          </p:style>
        </p:cxnSp>
        <p:sp>
          <p:nvSpPr>
            <p:cNvPr id="66" name="文本框 65">
              <a:extLst>
                <a:ext uri="{FF2B5EF4-FFF2-40B4-BE49-F238E27FC236}">
                  <a16:creationId xmlns:a16="http://schemas.microsoft.com/office/drawing/2014/main" id="{EE42BDEF-5D89-7ED6-5D14-A1BBE2838E81}"/>
                </a:ext>
              </a:extLst>
            </p:cNvPr>
            <p:cNvSpPr txBox="1"/>
            <p:nvPr/>
          </p:nvSpPr>
          <p:spPr>
            <a:xfrm>
              <a:off x="2448747" y="3084665"/>
              <a:ext cx="2002301" cy="246221"/>
            </a:xfrm>
            <a:prstGeom prst="rect">
              <a:avLst/>
            </a:prstGeom>
            <a:noFill/>
          </p:spPr>
          <p:txBody>
            <a:bodyPr wrap="square" lIns="0" tIns="0" rIns="0" bIns="0" rtlCol="0">
              <a:spAutoFit/>
            </a:bodyPr>
            <a:lstStyle/>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Device AX01</a:t>
              </a:r>
            </a:p>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Accepted at </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15</a:t>
              </a:r>
              <a:r>
                <a:rPr lang="en-US" altLang="zh-CN" sz="800" b="1" u="sng" baseline="30000">
                  <a:solidFill>
                    <a:srgbClr val="7030A0"/>
                  </a:solidFill>
                  <a:latin typeface="Lato" panose="020F0502020204030203" pitchFamily="34" charset="0"/>
                  <a:ea typeface="Lato" panose="020F0502020204030203" pitchFamily="34" charset="0"/>
                  <a:cs typeface="Lato" panose="020F0502020204030203" pitchFamily="34" charset="0"/>
                </a:rPr>
                <a:t>th</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 Jan.</a:t>
              </a:r>
              <a:endParaRPr lang="zh-CN" altLang="en-US" sz="800" b="1" u="sng">
                <a:solidFill>
                  <a:srgbClr val="7030A0"/>
                </a:solidFill>
                <a:latin typeface="Lato" panose="020F0502020204030203" pitchFamily="34" charset="0"/>
                <a:ea typeface="黑体" panose="02010609060101010101" pitchFamily="49" charset="-122"/>
                <a:cs typeface="Lato" panose="020F0502020204030203" pitchFamily="34" charset="0"/>
              </a:endParaRPr>
            </a:p>
          </p:txBody>
        </p:sp>
        <p:cxnSp>
          <p:nvCxnSpPr>
            <p:cNvPr id="57" name="直接连接符 56">
              <a:extLst>
                <a:ext uri="{FF2B5EF4-FFF2-40B4-BE49-F238E27FC236}">
                  <a16:creationId xmlns:a16="http://schemas.microsoft.com/office/drawing/2014/main" id="{30DE57F9-2B5E-72A5-58C5-EF5F1331ADD7}"/>
                </a:ext>
              </a:extLst>
            </p:cNvPr>
            <p:cNvCxnSpPr>
              <a:cxnSpLocks/>
            </p:cNvCxnSpPr>
            <p:nvPr/>
          </p:nvCxnSpPr>
          <p:spPr>
            <a:xfrm>
              <a:off x="6211618" y="2470046"/>
              <a:ext cx="0" cy="1368000"/>
            </a:xfrm>
            <a:prstGeom prst="line">
              <a:avLst/>
            </a:prstGeom>
            <a:ln w="3175">
              <a:solidFill>
                <a:schemeClr val="accent1"/>
              </a:solidFill>
              <a:prstDash val="dash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8292CFE6-4863-723D-3AE0-4D31F99CDF31}"/>
                </a:ext>
              </a:extLst>
            </p:cNvPr>
            <p:cNvCxnSpPr>
              <a:cxnSpLocks/>
            </p:cNvCxnSpPr>
            <p:nvPr/>
          </p:nvCxnSpPr>
          <p:spPr>
            <a:xfrm>
              <a:off x="11042415" y="2470046"/>
              <a:ext cx="0" cy="1368000"/>
            </a:xfrm>
            <a:prstGeom prst="line">
              <a:avLst/>
            </a:prstGeom>
            <a:ln w="3175">
              <a:solidFill>
                <a:schemeClr val="accent1"/>
              </a:solidFill>
              <a:prstDash val="dash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id="{555D6CB4-FEAE-4774-44DB-382B3FED1B44}"/>
                </a:ext>
              </a:extLst>
            </p:cNvPr>
            <p:cNvSpPr txBox="1"/>
            <p:nvPr/>
          </p:nvSpPr>
          <p:spPr>
            <a:xfrm>
              <a:off x="6180959" y="3561806"/>
              <a:ext cx="928786" cy="246221"/>
            </a:xfrm>
            <a:prstGeom prst="rect">
              <a:avLst/>
            </a:prstGeom>
            <a:noFill/>
          </p:spPr>
          <p:txBody>
            <a:bodyPr wrap="square" lIns="0" tIns="0" rIns="0" bIns="0" rtlCol="0">
              <a:spAutoFit/>
            </a:bodyPr>
            <a:lstStyle/>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Device AX01</a:t>
              </a:r>
            </a:p>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1</a:t>
              </a:r>
              <a:r>
                <a:rPr lang="en-US" altLang="zh-CN" sz="800" baseline="30000">
                  <a:solidFill>
                    <a:srgbClr val="7030A0"/>
                  </a:solidFill>
                  <a:latin typeface="Lato" panose="020F0502020204030203" pitchFamily="34" charset="0"/>
                  <a:ea typeface="Lato" panose="020F0502020204030203" pitchFamily="34" charset="0"/>
                  <a:cs typeface="Lato" panose="020F0502020204030203" pitchFamily="34" charset="0"/>
                </a:rPr>
                <a:t>st</a:t>
              </a: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 Invoice: </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1</a:t>
              </a:r>
              <a:r>
                <a:rPr lang="en-US" altLang="zh-CN" sz="800" b="1" u="sng" baseline="30000">
                  <a:solidFill>
                    <a:srgbClr val="7030A0"/>
                  </a:solidFill>
                  <a:latin typeface="Lato" panose="020F0502020204030203" pitchFamily="34" charset="0"/>
                  <a:ea typeface="Lato" panose="020F0502020204030203" pitchFamily="34" charset="0"/>
                  <a:cs typeface="Lato" panose="020F0502020204030203" pitchFamily="34" charset="0"/>
                </a:rPr>
                <a:t>st</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 July</a:t>
              </a:r>
              <a:endParaRPr lang="zh-CN" altLang="en-US" sz="800" b="1" u="sng">
                <a:solidFill>
                  <a:srgbClr val="7030A0"/>
                </a:solidFill>
                <a:latin typeface="Lato" panose="020F0502020204030203" pitchFamily="34" charset="0"/>
                <a:ea typeface="黑体" panose="02010609060101010101" pitchFamily="49" charset="-122"/>
                <a:cs typeface="Lato" panose="020F0502020204030203" pitchFamily="34" charset="0"/>
              </a:endParaRPr>
            </a:p>
          </p:txBody>
        </p:sp>
        <p:sp>
          <p:nvSpPr>
            <p:cNvPr id="70" name="文本框 69">
              <a:extLst>
                <a:ext uri="{FF2B5EF4-FFF2-40B4-BE49-F238E27FC236}">
                  <a16:creationId xmlns:a16="http://schemas.microsoft.com/office/drawing/2014/main" id="{D292A2AC-ECA1-27DB-ECC4-353F0CC50DDA}"/>
                </a:ext>
              </a:extLst>
            </p:cNvPr>
            <p:cNvSpPr txBox="1"/>
            <p:nvPr/>
          </p:nvSpPr>
          <p:spPr>
            <a:xfrm>
              <a:off x="11011756" y="3561806"/>
              <a:ext cx="928786" cy="246221"/>
            </a:xfrm>
            <a:prstGeom prst="rect">
              <a:avLst/>
            </a:prstGeom>
            <a:noFill/>
          </p:spPr>
          <p:txBody>
            <a:bodyPr wrap="square" lIns="0" tIns="0" rIns="0" bIns="0" rtlCol="0">
              <a:spAutoFit/>
            </a:bodyPr>
            <a:lstStyle/>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Device AX01</a:t>
              </a:r>
            </a:p>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2</a:t>
              </a:r>
              <a:r>
                <a:rPr lang="en-US" altLang="zh-CN" sz="800" baseline="30000">
                  <a:solidFill>
                    <a:srgbClr val="7030A0"/>
                  </a:solidFill>
                  <a:latin typeface="Lato" panose="020F0502020204030203" pitchFamily="34" charset="0"/>
                  <a:ea typeface="Lato" panose="020F0502020204030203" pitchFamily="34" charset="0"/>
                  <a:cs typeface="Lato" panose="020F0502020204030203" pitchFamily="34" charset="0"/>
                </a:rPr>
                <a:t>nd</a:t>
              </a: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 Invoice: </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1</a:t>
              </a:r>
              <a:r>
                <a:rPr lang="en-US" altLang="zh-CN" sz="800" b="1" u="sng" baseline="30000">
                  <a:solidFill>
                    <a:srgbClr val="7030A0"/>
                  </a:solidFill>
                  <a:latin typeface="Lato" panose="020F0502020204030203" pitchFamily="34" charset="0"/>
                  <a:ea typeface="Lato" panose="020F0502020204030203" pitchFamily="34" charset="0"/>
                  <a:cs typeface="Lato" panose="020F0502020204030203" pitchFamily="34" charset="0"/>
                </a:rPr>
                <a:t>st</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 Jan</a:t>
              </a:r>
              <a:endParaRPr lang="zh-CN" altLang="en-US" sz="800" b="1" u="sng">
                <a:solidFill>
                  <a:srgbClr val="7030A0"/>
                </a:solidFill>
                <a:latin typeface="Lato" panose="020F0502020204030203" pitchFamily="34" charset="0"/>
                <a:ea typeface="黑体" panose="02010609060101010101" pitchFamily="49" charset="-122"/>
                <a:cs typeface="Lato" panose="020F0502020204030203" pitchFamily="34" charset="0"/>
              </a:endParaRPr>
            </a:p>
          </p:txBody>
        </p:sp>
        <p:sp>
          <p:nvSpPr>
            <p:cNvPr id="27" name="矩形 26">
              <a:extLst>
                <a:ext uri="{FF2B5EF4-FFF2-40B4-BE49-F238E27FC236}">
                  <a16:creationId xmlns:a16="http://schemas.microsoft.com/office/drawing/2014/main" id="{544FFD1C-E8F8-415D-01D9-CA9459C18F31}"/>
                </a:ext>
              </a:extLst>
            </p:cNvPr>
            <p:cNvSpPr/>
            <p:nvPr/>
          </p:nvSpPr>
          <p:spPr>
            <a:xfrm>
              <a:off x="1106367" y="2645184"/>
              <a:ext cx="4831017" cy="180123"/>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900" b="1">
                  <a:solidFill>
                    <a:srgbClr val="000000"/>
                  </a:solidFill>
                  <a:latin typeface="Lato" panose="020F0502020204030203" pitchFamily="34" charset="0"/>
                  <a:ea typeface="Lato" panose="020F0502020204030203" pitchFamily="34" charset="0"/>
                  <a:cs typeface="Lato" panose="020F0502020204030203" pitchFamily="34" charset="0"/>
                </a:rPr>
                <a:t>Tranche 01</a:t>
              </a:r>
              <a:endParaRPr lang="zh-CN" altLang="en-US" sz="9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45" name="矩形 44">
              <a:extLst>
                <a:ext uri="{FF2B5EF4-FFF2-40B4-BE49-F238E27FC236}">
                  <a16:creationId xmlns:a16="http://schemas.microsoft.com/office/drawing/2014/main" id="{192A305F-0470-F0E2-D7B8-7C5D970FAB9E}"/>
                </a:ext>
              </a:extLst>
            </p:cNvPr>
            <p:cNvSpPr/>
            <p:nvPr/>
          </p:nvSpPr>
          <p:spPr>
            <a:xfrm>
              <a:off x="5937384" y="2645184"/>
              <a:ext cx="4831017" cy="180123"/>
            </a:xfrm>
            <a:prstGeom prst="rect">
              <a:avLst/>
            </a:prstGeom>
            <a:solidFill>
              <a:schemeClr val="accent6">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900" b="1">
                  <a:solidFill>
                    <a:srgbClr val="000000"/>
                  </a:solidFill>
                  <a:latin typeface="Lato" panose="020F0502020204030203" pitchFamily="34" charset="0"/>
                  <a:ea typeface="Lato" panose="020F0502020204030203" pitchFamily="34" charset="0"/>
                  <a:cs typeface="Lato" panose="020F0502020204030203" pitchFamily="34" charset="0"/>
                </a:rPr>
                <a:t>Tranche 02</a:t>
              </a:r>
              <a:endParaRPr lang="zh-CN" altLang="en-US" sz="900" b="1">
                <a:solidFill>
                  <a:srgbClr val="000000"/>
                </a:solidFill>
                <a:latin typeface="Lato" panose="020F0502020204030203" pitchFamily="34" charset="0"/>
                <a:cs typeface="Lato" panose="020F0502020204030203" pitchFamily="34" charset="0"/>
              </a:endParaRPr>
            </a:p>
          </p:txBody>
        </p:sp>
      </p:grpSp>
      <p:sp>
        <p:nvSpPr>
          <p:cNvPr id="81" name="菱形 80">
            <a:extLst>
              <a:ext uri="{FF2B5EF4-FFF2-40B4-BE49-F238E27FC236}">
                <a16:creationId xmlns:a16="http://schemas.microsoft.com/office/drawing/2014/main" id="{E9C42488-5BBD-97DA-C160-D140CCE479CD}"/>
              </a:ext>
            </a:extLst>
          </p:cNvPr>
          <p:cNvSpPr/>
          <p:nvPr/>
        </p:nvSpPr>
        <p:spPr>
          <a:xfrm>
            <a:off x="6155522" y="2521871"/>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86" name="菱形 85">
            <a:extLst>
              <a:ext uri="{FF2B5EF4-FFF2-40B4-BE49-F238E27FC236}">
                <a16:creationId xmlns:a16="http://schemas.microsoft.com/office/drawing/2014/main" id="{9051E5B4-7B48-AC1F-1E2D-29A629B8D75E}"/>
              </a:ext>
            </a:extLst>
          </p:cNvPr>
          <p:cNvSpPr/>
          <p:nvPr/>
        </p:nvSpPr>
        <p:spPr>
          <a:xfrm>
            <a:off x="10986540" y="2521871"/>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88" name="菱形 87">
            <a:extLst>
              <a:ext uri="{FF2B5EF4-FFF2-40B4-BE49-F238E27FC236}">
                <a16:creationId xmlns:a16="http://schemas.microsoft.com/office/drawing/2014/main" id="{E7D9E71C-2832-8E37-D657-79AB4BD60654}"/>
              </a:ext>
            </a:extLst>
          </p:cNvPr>
          <p:cNvSpPr/>
          <p:nvPr/>
        </p:nvSpPr>
        <p:spPr>
          <a:xfrm>
            <a:off x="9880218" y="2058543"/>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90" name="文本框 89">
            <a:extLst>
              <a:ext uri="{FF2B5EF4-FFF2-40B4-BE49-F238E27FC236}">
                <a16:creationId xmlns:a16="http://schemas.microsoft.com/office/drawing/2014/main" id="{D2EDC4E6-6141-F533-C19E-40CA985A52F2}"/>
              </a:ext>
            </a:extLst>
          </p:cNvPr>
          <p:cNvSpPr txBox="1"/>
          <p:nvPr/>
        </p:nvSpPr>
        <p:spPr>
          <a:xfrm>
            <a:off x="9986050" y="2008432"/>
            <a:ext cx="1277125" cy="215444"/>
          </a:xfrm>
          <a:prstGeom prst="rect">
            <a:avLst/>
          </a:prstGeom>
          <a:noFill/>
        </p:spPr>
        <p:txBody>
          <a:bodyPr wrap="square" rtlCol="0">
            <a:spAutoFit/>
          </a:bodyPr>
          <a:lstStyle/>
          <a:p>
            <a:pPr defTabSz="914126">
              <a:defRPr/>
            </a:pPr>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Commencement Date</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Tree>
    <p:extLst>
      <p:ext uri="{BB962C8B-B14F-4D97-AF65-F5344CB8AC3E}">
        <p14:creationId xmlns:p14="http://schemas.microsoft.com/office/powerpoint/2010/main" val="851202071"/>
      </p:ext>
    </p:extLst>
  </p:cSld>
  <p:clrMapOvr>
    <a:masterClrMapping/>
  </p:clrMapOvr>
  <p:transition>
    <p:fade/>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A8DFAF-361D-40A5-A3D0-77B3FD89EC8B}"/>
            </a:ext>
          </a:extLst>
        </p:cNvPr>
        <p:cNvGrpSpPr/>
        <p:nvPr/>
      </p:nvGrpSpPr>
      <p:grpSpPr>
        <a:xfrm>
          <a:off x="0" y="0"/>
          <a:ext cx="0" cy="0"/>
          <a:chOff x="0" y="0"/>
          <a:chExt cx="0" cy="0"/>
        </a:xfrm>
      </p:grpSpPr>
      <p:cxnSp>
        <p:nvCxnSpPr>
          <p:cNvPr id="85" name="直接连接符 84">
            <a:extLst>
              <a:ext uri="{FF2B5EF4-FFF2-40B4-BE49-F238E27FC236}">
                <a16:creationId xmlns:a16="http://schemas.microsoft.com/office/drawing/2014/main" id="{2D77F19E-4559-DD45-F5A0-ED2097650D38}"/>
              </a:ext>
            </a:extLst>
          </p:cNvPr>
          <p:cNvCxnSpPr>
            <a:cxnSpLocks/>
          </p:cNvCxnSpPr>
          <p:nvPr/>
        </p:nvCxnSpPr>
        <p:spPr>
          <a:xfrm>
            <a:off x="4540151" y="2470046"/>
            <a:ext cx="0" cy="1800000"/>
          </a:xfrm>
          <a:prstGeom prst="line">
            <a:avLst/>
          </a:prstGeom>
          <a:ln w="3175">
            <a:solidFill>
              <a:schemeClr val="accent1"/>
            </a:solidFill>
            <a:prstDash val="dash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直接连接符 86">
            <a:extLst>
              <a:ext uri="{FF2B5EF4-FFF2-40B4-BE49-F238E27FC236}">
                <a16:creationId xmlns:a16="http://schemas.microsoft.com/office/drawing/2014/main" id="{0194519E-FAF5-FE8B-5A32-4C46284CE3FA}"/>
              </a:ext>
            </a:extLst>
          </p:cNvPr>
          <p:cNvCxnSpPr>
            <a:cxnSpLocks/>
          </p:cNvCxnSpPr>
          <p:nvPr/>
        </p:nvCxnSpPr>
        <p:spPr>
          <a:xfrm>
            <a:off x="8508011" y="2470046"/>
            <a:ext cx="0" cy="1800000"/>
          </a:xfrm>
          <a:prstGeom prst="line">
            <a:avLst/>
          </a:prstGeom>
          <a:ln w="3175">
            <a:solidFill>
              <a:schemeClr val="accent1"/>
            </a:solidFill>
            <a:prstDash val="dash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40EC43A7-6F7D-ECB7-A08B-F8F364CE13E6}"/>
              </a:ext>
            </a:extLst>
          </p:cNvPr>
          <p:cNvSpPr txBox="1"/>
          <p:nvPr/>
        </p:nvSpPr>
        <p:spPr>
          <a:xfrm>
            <a:off x="498723" y="1954879"/>
            <a:ext cx="2069833" cy="246157"/>
          </a:xfrm>
          <a:prstGeom prst="rect">
            <a:avLst/>
          </a:prstGeom>
          <a:noFill/>
        </p:spPr>
        <p:txBody>
          <a:bodyPr wrap="square" rtlCol="0">
            <a:spAutoFit/>
          </a:bodyPr>
          <a:lstStyle/>
          <a:p>
            <a:pPr defTabSz="914126">
              <a:defRPr/>
            </a:pPr>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rPr>
              <a:t>Quarterly b</a:t>
            </a:r>
            <a:r>
              <a:rPr lang="en-US" altLang="zh-CN" sz="1000" b="1" err="1">
                <a:solidFill>
                  <a:srgbClr val="000000"/>
                </a:solidFill>
                <a:latin typeface="Lato" panose="020F0502020204030203" pitchFamily="34" charset="0"/>
                <a:ea typeface="Lato" panose="020F0502020204030203" pitchFamily="34" charset="0"/>
                <a:cs typeface="Lato" panose="020F0502020204030203" pitchFamily="34" charset="0"/>
              </a:rPr>
              <a:t>illing</a:t>
            </a:r>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rPr>
              <a:t> cycle sample: </a:t>
            </a:r>
            <a:endParaRPr lang="zh-CN" altLang="en-US" sz="10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78" name="文本框 77">
            <a:extLst>
              <a:ext uri="{FF2B5EF4-FFF2-40B4-BE49-F238E27FC236}">
                <a16:creationId xmlns:a16="http://schemas.microsoft.com/office/drawing/2014/main" id="{64FBEAC6-C3E8-4D10-23E4-729487F18F51}"/>
              </a:ext>
            </a:extLst>
          </p:cNvPr>
          <p:cNvSpPr txBox="1"/>
          <p:nvPr/>
        </p:nvSpPr>
        <p:spPr>
          <a:xfrm>
            <a:off x="565392" y="4958132"/>
            <a:ext cx="10061862" cy="1231106"/>
          </a:xfrm>
          <a:prstGeom prst="rect">
            <a:avLst/>
          </a:prstGeom>
          <a:noFill/>
        </p:spPr>
        <p:txBody>
          <a:bodyPr wrap="square" lIns="0" tIns="0" rIns="0" bIns="0" rtlCol="0">
            <a:spAutoFit/>
          </a:bodyPr>
          <a:lstStyle/>
          <a:p>
            <a:pPr defTabSz="914126">
              <a:spcBef>
                <a:spcPts val="600"/>
              </a:spcBef>
              <a:defRPr/>
            </a:pPr>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Highlight</a:t>
            </a:r>
            <a:r>
              <a:rPr lang="zh-CN" altLang="en-US" sz="1000" b="1">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a:t>
            </a:r>
            <a:endParaRPr lang="en-US" sz="1000" b="1">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179946" indent="-228531" defTabSz="914126">
              <a:spcBef>
                <a:spcPts val="600"/>
              </a:spcBef>
              <a:buFont typeface="+mj-lt"/>
              <a:buAutoNum type="arabicPeriod"/>
              <a:defRPr/>
            </a:pPr>
            <a:r>
              <a:rPr lang="en-US" sz="900" b="1">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New customer configuration parameter: ‘Always monthly tranche’ = TRUE  =&gt; Monthly tranche for Quarterly , Semi-yearly, Yearly billing cycle , default value is FALSE</a:t>
            </a:r>
          </a:p>
          <a:p>
            <a:pPr marL="179946" indent="-228531" defTabSz="914126">
              <a:spcBef>
                <a:spcPts val="600"/>
              </a:spcBef>
              <a:buFont typeface="+mj-lt"/>
              <a:buAutoNum type="arabicPeriod"/>
              <a:defRPr/>
            </a:pPr>
            <a:r>
              <a:rPr lang="en-US" sz="900" b="1">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The commence date and first billing date is in next month right after the tranche , means every month customer may receive invoice.  </a:t>
            </a:r>
          </a:p>
          <a:p>
            <a:pPr marL="179946" indent="-228531" defTabSz="914126">
              <a:spcBef>
                <a:spcPts val="600"/>
              </a:spcBef>
              <a:buFont typeface="+mj-lt"/>
              <a:buAutoNum type="arabicPeriod"/>
              <a:defRPr/>
            </a:pPr>
            <a:r>
              <a:rPr lang="en-US" altLang="zh-CN" sz="900">
                <a:solidFill>
                  <a:srgbClr val="000000"/>
                </a:solidFill>
                <a:latin typeface="Lato" panose="020F0502020204030203" pitchFamily="34" charset="0"/>
                <a:ea typeface="Lato" panose="020F0502020204030203" pitchFamily="34" charset="0"/>
                <a:cs typeface="Lato" panose="020F0502020204030203" pitchFamily="34" charset="0"/>
              </a:rPr>
              <a:t>Recurring invoice date, commence date,  trance cut off date defined on customer , shared for all cycle recurring invoice. </a:t>
            </a:r>
          </a:p>
          <a:p>
            <a:pPr marL="179946" indent="-228531" defTabSz="914126">
              <a:spcBef>
                <a:spcPts val="600"/>
              </a:spcBef>
              <a:buFont typeface="+mj-lt"/>
              <a:buAutoNum type="arabicPeriod"/>
              <a:defRPr/>
            </a:pPr>
            <a:r>
              <a:rPr lang="en-US" altLang="zh-CN" sz="900">
                <a:solidFill>
                  <a:srgbClr val="000000"/>
                </a:solidFill>
                <a:latin typeface="Lato" panose="020F0502020204030203" pitchFamily="34" charset="0"/>
                <a:ea typeface="Lato" panose="020F0502020204030203" pitchFamily="34" charset="0"/>
                <a:cs typeface="Lato" panose="020F0502020204030203" pitchFamily="34" charset="0"/>
              </a:rPr>
              <a:t>Yearly/quarterly/monthly…invoice should be separate invoice but in same statement</a:t>
            </a:r>
          </a:p>
          <a:p>
            <a:pPr marL="179946" indent="-228531" defTabSz="914126">
              <a:spcBef>
                <a:spcPts val="600"/>
              </a:spcBef>
              <a:buFont typeface="+mj-lt"/>
              <a:buAutoNum type="arabicPeriod"/>
              <a:defRPr/>
            </a:pPr>
            <a:r>
              <a:rPr lang="en-US" altLang="zh-CN" sz="900">
                <a:solidFill>
                  <a:srgbClr val="000000"/>
                </a:solidFill>
                <a:latin typeface="Lato" panose="020F0502020204030203" pitchFamily="34" charset="0"/>
                <a:ea typeface="Lato" panose="020F0502020204030203" pitchFamily="34" charset="0"/>
                <a:cs typeface="Lato" panose="020F0502020204030203" pitchFamily="34" charset="0"/>
              </a:rPr>
              <a:t>Flex option, ET, EOT- If allowed -minimum period unit is one term .(one term =1/3/6/12 month)</a:t>
            </a:r>
          </a:p>
        </p:txBody>
      </p:sp>
      <p:sp>
        <p:nvSpPr>
          <p:cNvPr id="157" name="文本框 156">
            <a:extLst>
              <a:ext uri="{FF2B5EF4-FFF2-40B4-BE49-F238E27FC236}">
                <a16:creationId xmlns:a16="http://schemas.microsoft.com/office/drawing/2014/main" id="{79636343-7ABE-25E8-893B-E075E7D9F957}"/>
              </a:ext>
            </a:extLst>
          </p:cNvPr>
          <p:cNvSpPr txBox="1"/>
          <p:nvPr/>
        </p:nvSpPr>
        <p:spPr>
          <a:xfrm>
            <a:off x="10489821" y="2957651"/>
            <a:ext cx="1478782" cy="1492716"/>
          </a:xfrm>
          <a:prstGeom prst="rect">
            <a:avLst/>
          </a:prstGeom>
          <a:noFill/>
        </p:spPr>
        <p:txBody>
          <a:bodyPr wrap="square" rtlCol="0">
            <a:spAutoFit/>
          </a:bodyPr>
          <a:lstStyle/>
          <a:p>
            <a:pPr algn="l"/>
            <a:r>
              <a:rPr lang="en-US" altLang="zh-CN" sz="700" b="1">
                <a:latin typeface="Lato" panose="020F0502020204030203" pitchFamily="34" charset="0"/>
                <a:ea typeface="Lato" panose="020F0502020204030203" pitchFamily="34" charset="0"/>
                <a:cs typeface="Lato" panose="020F0502020204030203" pitchFamily="34" charset="0"/>
              </a:rPr>
              <a:t>For Tranche 01 </a:t>
            </a:r>
          </a:p>
          <a:p>
            <a:pPr marL="171450" indent="-171450">
              <a:buFont typeface="Arial" panose="020B0604020202020204" pitchFamily="34" charset="0"/>
              <a:buChar char="•"/>
            </a:pPr>
            <a:r>
              <a:rPr lang="en-US" altLang="zh-CN" sz="700">
                <a:solidFill>
                  <a:srgbClr val="7030A0"/>
                </a:solidFill>
                <a:latin typeface="Lato" panose="020F0502020204030203" pitchFamily="34" charset="0"/>
                <a:ea typeface="Lato" panose="020F0502020204030203" pitchFamily="34" charset="0"/>
                <a:cs typeface="Lato" panose="020F0502020204030203" pitchFamily="34" charset="0"/>
              </a:rPr>
              <a:t>Period: 18.Dec~17.Jan</a:t>
            </a:r>
          </a:p>
          <a:p>
            <a:pPr marL="171450" indent="-171450">
              <a:buFont typeface="Arial" panose="020B0604020202020204" pitchFamily="34" charset="0"/>
              <a:buChar char="•"/>
            </a:pPr>
            <a:r>
              <a:rPr lang="en-US" altLang="zh-CN" sz="700">
                <a:solidFill>
                  <a:srgbClr val="7030A0"/>
                </a:solidFill>
                <a:latin typeface="Lato" panose="020F0502020204030203" pitchFamily="34" charset="0"/>
                <a:ea typeface="Lato" panose="020F0502020204030203" pitchFamily="34" charset="0"/>
                <a:cs typeface="Lato" panose="020F0502020204030203" pitchFamily="34" charset="0"/>
              </a:rPr>
              <a:t>Commence date = 01.Feb</a:t>
            </a:r>
          </a:p>
          <a:p>
            <a:pPr marL="171450" indent="-171450">
              <a:buFont typeface="Arial" panose="020B0604020202020204" pitchFamily="34" charset="0"/>
              <a:buChar char="•"/>
            </a:pPr>
            <a:r>
              <a:rPr lang="en-US" altLang="zh-CN" sz="700">
                <a:solidFill>
                  <a:srgbClr val="7030A0"/>
                </a:solidFill>
                <a:latin typeface="Lato" panose="020F0502020204030203" pitchFamily="34" charset="0"/>
                <a:ea typeface="Lato" panose="020F0502020204030203" pitchFamily="34" charset="0"/>
                <a:cs typeface="Lato" panose="020F0502020204030203" pitchFamily="34" charset="0"/>
              </a:rPr>
              <a:t>1</a:t>
            </a:r>
            <a:r>
              <a:rPr lang="en-US" altLang="zh-CN" sz="700" baseline="30000">
                <a:solidFill>
                  <a:srgbClr val="7030A0"/>
                </a:solidFill>
                <a:latin typeface="Lato" panose="020F0502020204030203" pitchFamily="34" charset="0"/>
                <a:ea typeface="Lato" panose="020F0502020204030203" pitchFamily="34" charset="0"/>
                <a:cs typeface="Lato" panose="020F0502020204030203" pitchFamily="34" charset="0"/>
              </a:rPr>
              <a:t>st</a:t>
            </a:r>
            <a:r>
              <a:rPr lang="en-US" altLang="zh-CN" sz="700">
                <a:solidFill>
                  <a:srgbClr val="7030A0"/>
                </a:solidFill>
                <a:latin typeface="Lato" panose="020F0502020204030203" pitchFamily="34" charset="0"/>
                <a:ea typeface="Lato" panose="020F0502020204030203" pitchFamily="34" charset="0"/>
                <a:cs typeface="Lato" panose="020F0502020204030203" pitchFamily="34" charset="0"/>
              </a:rPr>
              <a:t> billing date = 01.Feb </a:t>
            </a:r>
          </a:p>
          <a:p>
            <a:pPr marL="171450" indent="-171450">
              <a:buFont typeface="Arial" panose="020B0604020202020204" pitchFamily="34" charset="0"/>
              <a:buChar char="•"/>
            </a:pPr>
            <a:r>
              <a:rPr lang="en-US" altLang="zh-CN" sz="700">
                <a:solidFill>
                  <a:srgbClr val="7030A0"/>
                </a:solidFill>
                <a:latin typeface="Lato" panose="020F0502020204030203" pitchFamily="34" charset="0"/>
                <a:ea typeface="Lato" panose="020F0502020204030203" pitchFamily="34" charset="0"/>
                <a:cs typeface="Lato" panose="020F0502020204030203" pitchFamily="34" charset="0"/>
              </a:rPr>
              <a:t>2</a:t>
            </a:r>
            <a:r>
              <a:rPr lang="en-US" altLang="zh-CN" sz="700" baseline="30000">
                <a:solidFill>
                  <a:srgbClr val="7030A0"/>
                </a:solidFill>
                <a:latin typeface="Lato" panose="020F0502020204030203" pitchFamily="34" charset="0"/>
                <a:ea typeface="Lato" panose="020F0502020204030203" pitchFamily="34" charset="0"/>
                <a:cs typeface="Lato" panose="020F0502020204030203" pitchFamily="34" charset="0"/>
              </a:rPr>
              <a:t>nd</a:t>
            </a:r>
            <a:r>
              <a:rPr lang="en-US" altLang="zh-CN" sz="700">
                <a:solidFill>
                  <a:srgbClr val="7030A0"/>
                </a:solidFill>
                <a:latin typeface="Lato" panose="020F0502020204030203" pitchFamily="34" charset="0"/>
                <a:ea typeface="Lato" panose="020F0502020204030203" pitchFamily="34" charset="0"/>
                <a:cs typeface="Lato" panose="020F0502020204030203" pitchFamily="34" charset="0"/>
              </a:rPr>
              <a:t> billing date = 01.May</a:t>
            </a:r>
          </a:p>
          <a:p>
            <a:pPr marL="171450" indent="-171450">
              <a:buFont typeface="Arial" panose="020B0604020202020204" pitchFamily="34" charset="0"/>
              <a:buChar char="•"/>
            </a:pPr>
            <a:r>
              <a:rPr lang="en-US" altLang="zh-CN" sz="700">
                <a:solidFill>
                  <a:srgbClr val="7030A0"/>
                </a:solidFill>
                <a:latin typeface="Lato" panose="020F0502020204030203" pitchFamily="34" charset="0"/>
                <a:ea typeface="Lato" panose="020F0502020204030203" pitchFamily="34" charset="0"/>
                <a:cs typeface="Lato" panose="020F0502020204030203" pitchFamily="34" charset="0"/>
              </a:rPr>
              <a:t>…</a:t>
            </a:r>
          </a:p>
          <a:p>
            <a:pPr algn="l"/>
            <a:endParaRPr lang="en-US" altLang="zh-CN" sz="700" b="1">
              <a:latin typeface="Lato" panose="020F0502020204030203" pitchFamily="34" charset="0"/>
              <a:ea typeface="Lato" panose="020F0502020204030203" pitchFamily="34" charset="0"/>
              <a:cs typeface="Lato" panose="020F0502020204030203" pitchFamily="34" charset="0"/>
            </a:endParaRPr>
          </a:p>
          <a:p>
            <a:r>
              <a:rPr lang="en-US" altLang="zh-CN" sz="700" b="1">
                <a:latin typeface="Lato" panose="020F0502020204030203" pitchFamily="34" charset="0"/>
                <a:ea typeface="Lato" panose="020F0502020204030203" pitchFamily="34" charset="0"/>
                <a:cs typeface="Lato" panose="020F0502020204030203" pitchFamily="34" charset="0"/>
              </a:rPr>
              <a:t>For Tranche 02 </a:t>
            </a:r>
          </a:p>
          <a:p>
            <a:pPr marL="171450" indent="-171450">
              <a:buFont typeface="Arial" panose="020B0604020202020204" pitchFamily="34" charset="0"/>
              <a:buChar char="•"/>
            </a:pPr>
            <a:r>
              <a:rPr lang="en-US" altLang="zh-CN" sz="7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Period: 18.Jan~17.Feb</a:t>
            </a:r>
          </a:p>
          <a:p>
            <a:pPr marL="171450" indent="-171450">
              <a:buFont typeface="Arial" panose="020B0604020202020204" pitchFamily="34" charset="0"/>
              <a:buChar char="•"/>
            </a:pPr>
            <a:r>
              <a:rPr lang="en-US" altLang="zh-CN" sz="7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Commence date = 01.Mar</a:t>
            </a:r>
          </a:p>
          <a:p>
            <a:pPr marL="171450" indent="-171450">
              <a:buFont typeface="Arial" panose="020B0604020202020204" pitchFamily="34" charset="0"/>
              <a:buChar char="•"/>
            </a:pPr>
            <a:r>
              <a:rPr lang="en-US" altLang="zh-CN" sz="7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1</a:t>
            </a:r>
            <a:r>
              <a:rPr lang="en-US" altLang="zh-CN" sz="700" baseline="300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st</a:t>
            </a:r>
            <a:r>
              <a:rPr lang="en-US" altLang="zh-CN" sz="7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 billing date = 01.Mar </a:t>
            </a:r>
          </a:p>
          <a:p>
            <a:pPr marL="171450" indent="-171450">
              <a:buFont typeface="Arial" panose="020B0604020202020204" pitchFamily="34" charset="0"/>
              <a:buChar char="•"/>
            </a:pPr>
            <a:r>
              <a:rPr lang="en-US" altLang="zh-CN" sz="7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2</a:t>
            </a:r>
            <a:r>
              <a:rPr lang="en-US" altLang="zh-CN" sz="700" baseline="300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nd</a:t>
            </a:r>
            <a:r>
              <a:rPr lang="en-US" altLang="zh-CN" sz="7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 billing date = 01.Jun</a:t>
            </a:r>
          </a:p>
          <a:p>
            <a:pPr marL="171450" indent="-171450">
              <a:buFont typeface="Arial" panose="020B0604020202020204" pitchFamily="34" charset="0"/>
              <a:buChar char="•"/>
            </a:pPr>
            <a:r>
              <a:rPr lang="en-US" altLang="zh-CN" sz="7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a:t>
            </a:r>
          </a:p>
        </p:txBody>
      </p:sp>
      <p:sp>
        <p:nvSpPr>
          <p:cNvPr id="2" name="文本框 1">
            <a:extLst>
              <a:ext uri="{FF2B5EF4-FFF2-40B4-BE49-F238E27FC236}">
                <a16:creationId xmlns:a16="http://schemas.microsoft.com/office/drawing/2014/main" id="{0D9C0CB3-5871-AE88-BDB0-C1538AD0E2E9}"/>
              </a:ext>
            </a:extLst>
          </p:cNvPr>
          <p:cNvSpPr txBox="1"/>
          <p:nvPr/>
        </p:nvSpPr>
        <p:spPr>
          <a:xfrm>
            <a:off x="439454" y="797627"/>
            <a:ext cx="9196601" cy="854080"/>
          </a:xfrm>
          <a:prstGeom prst="rect">
            <a:avLst/>
          </a:prstGeom>
          <a:noFill/>
        </p:spPr>
        <p:txBody>
          <a:bodyPr wrap="square" rtlCol="0">
            <a:spAutoFit/>
          </a:bodyPr>
          <a:lstStyle/>
          <a:p>
            <a:pPr defTabSz="914126">
              <a:lnSpc>
                <a:spcPct val="150000"/>
              </a:lnSpc>
            </a:pPr>
            <a:r>
              <a:rPr lang="en-US" altLang="zh-CN" sz="1200" b="1">
                <a:latin typeface="Lato" panose="020F0502020204030203" pitchFamily="34" charset="0"/>
                <a:ea typeface="Lato" panose="020F0502020204030203" pitchFamily="34" charset="0"/>
                <a:cs typeface="Lato" panose="020F0502020204030203" pitchFamily="34" charset="0"/>
              </a:rPr>
              <a:t>Option 2:</a:t>
            </a:r>
            <a:r>
              <a:rPr lang="zh-CN" altLang="en-US" sz="1200" b="1">
                <a:latin typeface="Lato" panose="020F0502020204030203" pitchFamily="34" charset="0"/>
                <a:cs typeface="Lato" panose="020F0502020204030203" pitchFamily="34" charset="0"/>
              </a:rPr>
              <a:t> </a:t>
            </a:r>
            <a:r>
              <a:rPr lang="en-US" altLang="zh-CN" sz="1200" u="sng">
                <a:latin typeface="Lato" panose="020F0502020204030203" pitchFamily="34" charset="0"/>
                <a:ea typeface="Lato" panose="020F0502020204030203" pitchFamily="34" charset="0"/>
                <a:cs typeface="Lato" panose="020F0502020204030203" pitchFamily="34" charset="0"/>
              </a:rPr>
              <a:t>Tranche Group Period = Monthly; Billing Cycle = Quarter / Semi-Year / Yearly</a:t>
            </a:r>
          </a:p>
          <a:p>
            <a:pPr marL="171450" indent="-171450" defTabSz="914126">
              <a:buFont typeface="Arial" panose="020B0604020202020204" pitchFamily="34" charset="0"/>
              <a:buChar char="•"/>
            </a:pPr>
            <a:r>
              <a:rPr lang="en-US" altLang="zh-CN" sz="1000" i="1">
                <a:latin typeface="Lato" panose="020F0502020204030203" pitchFamily="34" charset="0"/>
                <a:cs typeface="Lato" panose="020F0502020204030203" pitchFamily="34" charset="0"/>
              </a:rPr>
              <a:t>One tranche </a:t>
            </a:r>
            <a:r>
              <a:rPr lang="en-US" altLang="zh-CN" sz="1000" b="1" i="1">
                <a:latin typeface="Lato" panose="020F0502020204030203" pitchFamily="34" charset="0"/>
                <a:cs typeface="Lato" panose="020F0502020204030203" pitchFamily="34" charset="0"/>
              </a:rPr>
              <a:t>per month</a:t>
            </a:r>
          </a:p>
          <a:p>
            <a:pPr marL="171450" indent="-171450" defTabSz="914126">
              <a:buFont typeface="Arial" panose="020B0604020202020204" pitchFamily="34" charset="0"/>
              <a:buChar char="•"/>
            </a:pPr>
            <a:r>
              <a:rPr lang="en-US" altLang="zh-CN" sz="1000" i="1">
                <a:latin typeface="Lato" panose="020F0502020204030203" pitchFamily="34" charset="0"/>
                <a:cs typeface="Lato" panose="020F0502020204030203" pitchFamily="34" charset="0"/>
              </a:rPr>
              <a:t>Tranche commences </a:t>
            </a:r>
            <a:r>
              <a:rPr lang="en-US" altLang="zh-CN" sz="1000" b="1" i="1">
                <a:latin typeface="Lato" panose="020F0502020204030203" pitchFamily="34" charset="0"/>
                <a:cs typeface="Lato" panose="020F0502020204030203" pitchFamily="34" charset="0"/>
              </a:rPr>
              <a:t>monthly</a:t>
            </a:r>
          </a:p>
          <a:p>
            <a:pPr marL="171450" indent="-171450" defTabSz="914126">
              <a:buFont typeface="Arial" panose="020B0604020202020204" pitchFamily="34" charset="0"/>
              <a:buChar char="•"/>
            </a:pPr>
            <a:r>
              <a:rPr lang="en-US" altLang="zh-CN" sz="1000" i="1">
                <a:latin typeface="Lato" panose="020F0502020204030203" pitchFamily="34" charset="0"/>
                <a:cs typeface="Lato" panose="020F0502020204030203" pitchFamily="34" charset="0"/>
              </a:rPr>
              <a:t>Customer billing is quarterly /  semi-yearly / yearly</a:t>
            </a:r>
          </a:p>
        </p:txBody>
      </p:sp>
      <p:sp>
        <p:nvSpPr>
          <p:cNvPr id="5" name="Title 10">
            <a:extLst>
              <a:ext uri="{FF2B5EF4-FFF2-40B4-BE49-F238E27FC236}">
                <a16:creationId xmlns:a16="http://schemas.microsoft.com/office/drawing/2014/main" id="{36B9859A-4947-80F5-4DB5-5BF3553033BD}"/>
              </a:ext>
            </a:extLst>
          </p:cNvPr>
          <p:cNvSpPr txBox="1">
            <a:spLocks/>
          </p:cNvSpPr>
          <p:nvPr/>
        </p:nvSpPr>
        <p:spPr>
          <a:xfrm>
            <a:off x="372499" y="182434"/>
            <a:ext cx="11056112"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200"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NexBill – </a:t>
            </a:r>
            <a:r>
              <a:rPr lang="en-US" altLang="zh-CN" sz="3200" b="1">
                <a:solidFill>
                  <a:srgbClr val="000000"/>
                </a:solidFill>
                <a:latin typeface="Tenorite" panose="00000500000000000000" pitchFamily="2" charset="0"/>
                <a:ea typeface="Lato" panose="020F0502020204030203" pitchFamily="34" charset="0"/>
                <a:cs typeface="Lato" panose="020F0502020204030203" pitchFamily="34" charset="0"/>
                <a:sym typeface="Arial" panose="020B0604020202020204" pitchFamily="34" charset="0"/>
              </a:rPr>
              <a:t>New Billing Cycle – Option 2</a:t>
            </a:r>
            <a:endParaRPr lang="en-US" altLang="zh-CN" sz="3200"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endParaRPr>
          </a:p>
        </p:txBody>
      </p:sp>
      <p:sp>
        <p:nvSpPr>
          <p:cNvPr id="10" name="文本框 9">
            <a:extLst>
              <a:ext uri="{FF2B5EF4-FFF2-40B4-BE49-F238E27FC236}">
                <a16:creationId xmlns:a16="http://schemas.microsoft.com/office/drawing/2014/main" id="{F6BA4829-B1B4-2EA4-415E-BD14E7D91C91}"/>
              </a:ext>
            </a:extLst>
          </p:cNvPr>
          <p:cNvSpPr txBox="1"/>
          <p:nvPr/>
        </p:nvSpPr>
        <p:spPr>
          <a:xfrm>
            <a:off x="1364090" y="2988800"/>
            <a:ext cx="508883" cy="123111"/>
          </a:xfrm>
          <a:prstGeom prst="rect">
            <a:avLst/>
          </a:prstGeom>
          <a:noFill/>
        </p:spPr>
        <p:txBody>
          <a:bodyPr wrap="square" lIns="0" tIns="0" rIns="0" bIns="0" rtlCol="0">
            <a:spAutoFit/>
          </a:bodyPr>
          <a:lstStyle/>
          <a:p>
            <a:pPr algn="ctr" defTabSz="914126">
              <a:defRPr/>
            </a:pPr>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Dec.18</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1" name="文本框 10">
            <a:extLst>
              <a:ext uri="{FF2B5EF4-FFF2-40B4-BE49-F238E27FC236}">
                <a16:creationId xmlns:a16="http://schemas.microsoft.com/office/drawing/2014/main" id="{E02B3833-DE94-4C55-6773-31B7232A3128}"/>
              </a:ext>
            </a:extLst>
          </p:cNvPr>
          <p:cNvSpPr txBox="1"/>
          <p:nvPr/>
        </p:nvSpPr>
        <p:spPr>
          <a:xfrm>
            <a:off x="2723517" y="2988800"/>
            <a:ext cx="447884" cy="123111"/>
          </a:xfrm>
          <a:prstGeom prst="rect">
            <a:avLst/>
          </a:prstGeom>
          <a:noFill/>
        </p:spPr>
        <p:txBody>
          <a:bodyPr wrap="square" lIns="0" tIns="0" rIns="0" bIns="0" rtlCol="0">
            <a:spAutoFit/>
          </a:bodyPr>
          <a:lstStyle/>
          <a:p>
            <a:pPr algn="ctr" defTabSz="914126">
              <a:defRPr/>
            </a:pPr>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Jan.17</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18" name="直接连接符 17">
            <a:extLst>
              <a:ext uri="{FF2B5EF4-FFF2-40B4-BE49-F238E27FC236}">
                <a16:creationId xmlns:a16="http://schemas.microsoft.com/office/drawing/2014/main" id="{0CC20D3F-BC0A-B854-E8B6-C8E7F544241E}"/>
              </a:ext>
            </a:extLst>
          </p:cNvPr>
          <p:cNvCxnSpPr>
            <a:cxnSpLocks/>
            <a:endCxn id="19" idx="0"/>
          </p:cNvCxnSpPr>
          <p:nvPr/>
        </p:nvCxnSpPr>
        <p:spPr>
          <a:xfrm>
            <a:off x="2208640" y="2910903"/>
            <a:ext cx="0" cy="169200"/>
          </a:xfrm>
          <a:prstGeom prst="line">
            <a:avLst/>
          </a:prstGeom>
          <a:ln>
            <a:solidFill>
              <a:srgbClr val="7030A0"/>
            </a:solidFill>
            <a:headEnd type="none" w="med" len="med"/>
            <a:tailEnd type="triangle" w="med" len="med"/>
          </a:ln>
        </p:spPr>
        <p:style>
          <a:lnRef idx="3">
            <a:schemeClr val="accent4"/>
          </a:lnRef>
          <a:fillRef idx="0">
            <a:schemeClr val="accent4"/>
          </a:fillRef>
          <a:effectRef idx="2">
            <a:schemeClr val="accent4"/>
          </a:effectRef>
          <a:fontRef idx="minor">
            <a:schemeClr val="tx1"/>
          </a:fontRef>
        </p:style>
      </p:cxnSp>
      <p:sp>
        <p:nvSpPr>
          <p:cNvPr id="19" name="文本框 18">
            <a:extLst>
              <a:ext uri="{FF2B5EF4-FFF2-40B4-BE49-F238E27FC236}">
                <a16:creationId xmlns:a16="http://schemas.microsoft.com/office/drawing/2014/main" id="{45BFBC81-5CD0-A7CB-040A-5762EB744E1D}"/>
              </a:ext>
            </a:extLst>
          </p:cNvPr>
          <p:cNvSpPr txBox="1"/>
          <p:nvPr/>
        </p:nvSpPr>
        <p:spPr>
          <a:xfrm>
            <a:off x="1598023" y="3143719"/>
            <a:ext cx="1221235" cy="246221"/>
          </a:xfrm>
          <a:prstGeom prst="rect">
            <a:avLst/>
          </a:prstGeom>
          <a:noFill/>
        </p:spPr>
        <p:txBody>
          <a:bodyPr wrap="square" lIns="0" tIns="0" rIns="0" bIns="0" rtlCol="0">
            <a:spAutoFit/>
          </a:bodyPr>
          <a:lstStyle/>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Device AX01</a:t>
            </a:r>
          </a:p>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Accepted at </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15</a:t>
            </a:r>
            <a:r>
              <a:rPr lang="en-US" altLang="zh-CN" sz="800" b="1" u="sng" baseline="30000">
                <a:solidFill>
                  <a:srgbClr val="7030A0"/>
                </a:solidFill>
                <a:latin typeface="Lato" panose="020F0502020204030203" pitchFamily="34" charset="0"/>
                <a:ea typeface="Lato" panose="020F0502020204030203" pitchFamily="34" charset="0"/>
                <a:cs typeface="Lato" panose="020F0502020204030203" pitchFamily="34" charset="0"/>
              </a:rPr>
              <a:t>th</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 Jan</a:t>
            </a:r>
            <a:endParaRPr lang="zh-CN" altLang="en-US" sz="800" b="1" u="sng">
              <a:solidFill>
                <a:srgbClr val="7030A0"/>
              </a:solidFill>
              <a:latin typeface="Lato" panose="020F0502020204030203" pitchFamily="34" charset="0"/>
              <a:ea typeface="黑体" panose="02010609060101010101" pitchFamily="49" charset="-122"/>
              <a:cs typeface="Lato" panose="020F0502020204030203" pitchFamily="34" charset="0"/>
            </a:endParaRPr>
          </a:p>
        </p:txBody>
      </p:sp>
      <p:cxnSp>
        <p:nvCxnSpPr>
          <p:cNvPr id="38" name="直接连接符 37">
            <a:extLst>
              <a:ext uri="{FF2B5EF4-FFF2-40B4-BE49-F238E27FC236}">
                <a16:creationId xmlns:a16="http://schemas.microsoft.com/office/drawing/2014/main" id="{D9F063FA-196A-F088-5F5F-D30055CC74BA}"/>
              </a:ext>
            </a:extLst>
          </p:cNvPr>
          <p:cNvCxnSpPr>
            <a:cxnSpLocks/>
          </p:cNvCxnSpPr>
          <p:nvPr/>
        </p:nvCxnSpPr>
        <p:spPr>
          <a:xfrm>
            <a:off x="7191693" y="2470046"/>
            <a:ext cx="0" cy="1368000"/>
          </a:xfrm>
          <a:prstGeom prst="line">
            <a:avLst/>
          </a:prstGeom>
          <a:ln w="3175">
            <a:solidFill>
              <a:schemeClr val="accent1"/>
            </a:solidFill>
            <a:prstDash val="dash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文本框 38">
            <a:extLst>
              <a:ext uri="{FF2B5EF4-FFF2-40B4-BE49-F238E27FC236}">
                <a16:creationId xmlns:a16="http://schemas.microsoft.com/office/drawing/2014/main" id="{101D54BE-44A1-AE16-6B97-B1D84DE96E2E}"/>
              </a:ext>
            </a:extLst>
          </p:cNvPr>
          <p:cNvSpPr txBox="1"/>
          <p:nvPr/>
        </p:nvSpPr>
        <p:spPr>
          <a:xfrm>
            <a:off x="3210529" y="3598991"/>
            <a:ext cx="928786" cy="246221"/>
          </a:xfrm>
          <a:prstGeom prst="rect">
            <a:avLst/>
          </a:prstGeom>
          <a:noFill/>
        </p:spPr>
        <p:txBody>
          <a:bodyPr wrap="square" lIns="0" tIns="0" rIns="0" bIns="0" rtlCol="0">
            <a:spAutoFit/>
          </a:bodyPr>
          <a:lstStyle/>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Device AX01</a:t>
            </a:r>
          </a:p>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1</a:t>
            </a:r>
            <a:r>
              <a:rPr lang="en-US" altLang="zh-CN" sz="800" baseline="30000">
                <a:solidFill>
                  <a:srgbClr val="7030A0"/>
                </a:solidFill>
                <a:latin typeface="Lato" panose="020F0502020204030203" pitchFamily="34" charset="0"/>
                <a:ea typeface="Lato" panose="020F0502020204030203" pitchFamily="34" charset="0"/>
                <a:cs typeface="Lato" panose="020F0502020204030203" pitchFamily="34" charset="0"/>
              </a:rPr>
              <a:t>st</a:t>
            </a: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 Invoice: </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1</a:t>
            </a:r>
            <a:r>
              <a:rPr lang="en-US" altLang="zh-CN" sz="800" b="1" u="sng" baseline="30000">
                <a:solidFill>
                  <a:srgbClr val="7030A0"/>
                </a:solidFill>
                <a:latin typeface="Lato" panose="020F0502020204030203" pitchFamily="34" charset="0"/>
                <a:ea typeface="Lato" panose="020F0502020204030203" pitchFamily="34" charset="0"/>
                <a:cs typeface="Lato" panose="020F0502020204030203" pitchFamily="34" charset="0"/>
              </a:rPr>
              <a:t>st</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 Feb</a:t>
            </a:r>
            <a:endParaRPr lang="zh-CN" altLang="en-US" sz="800" b="1" u="sng">
              <a:solidFill>
                <a:srgbClr val="7030A0"/>
              </a:solidFill>
              <a:latin typeface="Lato" panose="020F0502020204030203" pitchFamily="34" charset="0"/>
              <a:ea typeface="黑体" panose="02010609060101010101" pitchFamily="49" charset="-122"/>
              <a:cs typeface="Lato" panose="020F0502020204030203" pitchFamily="34" charset="0"/>
            </a:endParaRPr>
          </a:p>
        </p:txBody>
      </p:sp>
      <p:cxnSp>
        <p:nvCxnSpPr>
          <p:cNvPr id="37" name="直接连接符 36">
            <a:extLst>
              <a:ext uri="{FF2B5EF4-FFF2-40B4-BE49-F238E27FC236}">
                <a16:creationId xmlns:a16="http://schemas.microsoft.com/office/drawing/2014/main" id="{C6159BD3-89A2-91CD-7B16-46C71E2D282A}"/>
              </a:ext>
            </a:extLst>
          </p:cNvPr>
          <p:cNvCxnSpPr>
            <a:cxnSpLocks/>
          </p:cNvCxnSpPr>
          <p:nvPr/>
        </p:nvCxnSpPr>
        <p:spPr>
          <a:xfrm>
            <a:off x="3229587" y="2470046"/>
            <a:ext cx="0" cy="1368000"/>
          </a:xfrm>
          <a:prstGeom prst="line">
            <a:avLst/>
          </a:prstGeom>
          <a:ln w="3175">
            <a:solidFill>
              <a:schemeClr val="accent1"/>
            </a:solidFill>
            <a:prstDash val="dash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文本框 39">
            <a:extLst>
              <a:ext uri="{FF2B5EF4-FFF2-40B4-BE49-F238E27FC236}">
                <a16:creationId xmlns:a16="http://schemas.microsoft.com/office/drawing/2014/main" id="{D12CC00C-ED23-F28E-3C5D-4C50A84F633B}"/>
              </a:ext>
            </a:extLst>
          </p:cNvPr>
          <p:cNvSpPr txBox="1"/>
          <p:nvPr/>
        </p:nvSpPr>
        <p:spPr>
          <a:xfrm>
            <a:off x="7161034" y="3591714"/>
            <a:ext cx="928786" cy="246221"/>
          </a:xfrm>
          <a:prstGeom prst="rect">
            <a:avLst/>
          </a:prstGeom>
          <a:noFill/>
        </p:spPr>
        <p:txBody>
          <a:bodyPr wrap="square" lIns="0" tIns="0" rIns="0" bIns="0" rtlCol="0">
            <a:spAutoFit/>
          </a:bodyPr>
          <a:lstStyle/>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Device AX01</a:t>
            </a:r>
          </a:p>
          <a:p>
            <a:pPr algn="ctr" defTabSz="914126">
              <a:defRPr/>
            </a:pP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2</a:t>
            </a:r>
            <a:r>
              <a:rPr lang="en-US" altLang="zh-CN" sz="800" baseline="30000">
                <a:solidFill>
                  <a:srgbClr val="7030A0"/>
                </a:solidFill>
                <a:latin typeface="Lato" panose="020F0502020204030203" pitchFamily="34" charset="0"/>
                <a:ea typeface="Lato" panose="020F0502020204030203" pitchFamily="34" charset="0"/>
                <a:cs typeface="Lato" panose="020F0502020204030203" pitchFamily="34" charset="0"/>
              </a:rPr>
              <a:t>nd</a:t>
            </a:r>
            <a:r>
              <a:rPr lang="en-US" altLang="zh-CN" sz="800">
                <a:solidFill>
                  <a:srgbClr val="7030A0"/>
                </a:solidFill>
                <a:latin typeface="Lato" panose="020F0502020204030203" pitchFamily="34" charset="0"/>
                <a:ea typeface="Lato" panose="020F0502020204030203" pitchFamily="34" charset="0"/>
                <a:cs typeface="Lato" panose="020F0502020204030203" pitchFamily="34" charset="0"/>
              </a:rPr>
              <a:t> Invoice: </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1</a:t>
            </a:r>
            <a:r>
              <a:rPr lang="en-US" altLang="zh-CN" sz="800" b="1" u="sng" baseline="30000">
                <a:solidFill>
                  <a:srgbClr val="7030A0"/>
                </a:solidFill>
                <a:latin typeface="Lato" panose="020F0502020204030203" pitchFamily="34" charset="0"/>
                <a:ea typeface="Lato" panose="020F0502020204030203" pitchFamily="34" charset="0"/>
                <a:cs typeface="Lato" panose="020F0502020204030203" pitchFamily="34" charset="0"/>
              </a:rPr>
              <a:t>st</a:t>
            </a:r>
            <a:r>
              <a:rPr lang="en-US" altLang="zh-CN" sz="800" b="1" u="sng">
                <a:solidFill>
                  <a:srgbClr val="7030A0"/>
                </a:solidFill>
                <a:latin typeface="Lato" panose="020F0502020204030203" pitchFamily="34" charset="0"/>
                <a:ea typeface="Lato" panose="020F0502020204030203" pitchFamily="34" charset="0"/>
                <a:cs typeface="Lato" panose="020F0502020204030203" pitchFamily="34" charset="0"/>
              </a:rPr>
              <a:t> May</a:t>
            </a:r>
            <a:endParaRPr lang="zh-CN" altLang="en-US" sz="800" b="1" u="sng">
              <a:solidFill>
                <a:srgbClr val="7030A0"/>
              </a:solidFill>
              <a:latin typeface="Lato" panose="020F0502020204030203" pitchFamily="34" charset="0"/>
              <a:ea typeface="黑体" panose="02010609060101010101" pitchFamily="49" charset="-122"/>
              <a:cs typeface="Lato" panose="020F0502020204030203" pitchFamily="34" charset="0"/>
            </a:endParaRPr>
          </a:p>
        </p:txBody>
      </p:sp>
      <p:sp>
        <p:nvSpPr>
          <p:cNvPr id="29" name="矩形 28">
            <a:extLst>
              <a:ext uri="{FF2B5EF4-FFF2-40B4-BE49-F238E27FC236}">
                <a16:creationId xmlns:a16="http://schemas.microsoft.com/office/drawing/2014/main" id="{66CD3FD1-64E0-D6FD-FC36-22F2F6E9B0F9}"/>
              </a:ext>
            </a:extLst>
          </p:cNvPr>
          <p:cNvSpPr/>
          <p:nvPr/>
        </p:nvSpPr>
        <p:spPr>
          <a:xfrm>
            <a:off x="3229587" y="2350978"/>
            <a:ext cx="3958744" cy="489384"/>
          </a:xfrm>
          <a:prstGeom prst="rect">
            <a:avLst/>
          </a:prstGeom>
          <a:ln w="9525"/>
        </p:spPr>
        <p:style>
          <a:lnRef idx="2">
            <a:schemeClr val="accent4">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25272" tIns="0" rIns="25272" bIns="0" numCol="1" spcCol="1270" anchor="t" anchorCtr="0">
            <a:noAutofit/>
          </a:bodyPr>
          <a:lstStyle/>
          <a:p>
            <a:pPr marL="0" lvl="1" algn="ctr" defTabSz="311057">
              <a:lnSpc>
                <a:spcPct val="90000"/>
              </a:lnSpc>
              <a:spcBef>
                <a:spcPct val="0"/>
              </a:spcBef>
              <a:spcAft>
                <a:spcPct val="15000"/>
              </a:spcAft>
              <a:defRPr/>
            </a:pPr>
            <a:r>
              <a:rPr lang="en-US" altLang="zh-CN" sz="1000">
                <a:solidFill>
                  <a:srgbClr val="000000">
                    <a:hueOff val="0"/>
                    <a:satOff val="0"/>
                    <a:lumOff val="0"/>
                    <a:alphaOff val="0"/>
                  </a:srgbClr>
                </a:solidFill>
                <a:latin typeface="Lato" panose="020F0502020204030203" pitchFamily="34" charset="0"/>
                <a:ea typeface="Lato" panose="020F0502020204030203" pitchFamily="34" charset="0"/>
                <a:cs typeface="Lato" panose="020F0502020204030203" pitchFamily="34" charset="0"/>
              </a:rPr>
              <a:t>3 Months Billing Cycle</a:t>
            </a:r>
            <a:endParaRPr lang="zh-CN" altLang="en-US" sz="1000">
              <a:solidFill>
                <a:srgbClr val="000000">
                  <a:hueOff val="0"/>
                  <a:satOff val="0"/>
                  <a:lumOff val="0"/>
                  <a:alphaOff val="0"/>
                </a:srgbClr>
              </a:solidFill>
              <a:latin typeface="Lato" panose="020F0502020204030203" pitchFamily="34" charset="0"/>
              <a:cs typeface="Lato" panose="020F0502020204030203" pitchFamily="34" charset="0"/>
            </a:endParaRPr>
          </a:p>
        </p:txBody>
      </p:sp>
      <p:sp>
        <p:nvSpPr>
          <p:cNvPr id="51" name="矩形 50">
            <a:extLst>
              <a:ext uri="{FF2B5EF4-FFF2-40B4-BE49-F238E27FC236}">
                <a16:creationId xmlns:a16="http://schemas.microsoft.com/office/drawing/2014/main" id="{28626A89-E806-26B4-8974-52F48CA69C71}"/>
              </a:ext>
            </a:extLst>
          </p:cNvPr>
          <p:cNvSpPr/>
          <p:nvPr/>
        </p:nvSpPr>
        <p:spPr>
          <a:xfrm>
            <a:off x="7183656" y="2350978"/>
            <a:ext cx="3972483" cy="489384"/>
          </a:xfrm>
          <a:prstGeom prst="rect">
            <a:avLst/>
          </a:prstGeom>
          <a:ln w="9525"/>
        </p:spPr>
        <p:style>
          <a:lnRef idx="2">
            <a:schemeClr val="accent4">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25272" tIns="0" rIns="25272" bIns="0" numCol="1" spcCol="1270" anchor="t" anchorCtr="0">
            <a:noAutofit/>
          </a:bodyPr>
          <a:lstStyle/>
          <a:p>
            <a:pPr marL="0" lvl="1" algn="ctr" defTabSz="311057">
              <a:lnSpc>
                <a:spcPct val="90000"/>
              </a:lnSpc>
              <a:spcBef>
                <a:spcPct val="0"/>
              </a:spcBef>
              <a:spcAft>
                <a:spcPct val="15000"/>
              </a:spcAft>
              <a:defRPr/>
            </a:pPr>
            <a:r>
              <a:rPr lang="en-US" altLang="zh-CN" sz="1000">
                <a:solidFill>
                  <a:srgbClr val="000000">
                    <a:hueOff val="0"/>
                    <a:satOff val="0"/>
                    <a:lumOff val="0"/>
                    <a:alphaOff val="0"/>
                  </a:srgbClr>
                </a:solidFill>
                <a:latin typeface="Lato" panose="020F0502020204030203" pitchFamily="34" charset="0"/>
                <a:ea typeface="Lato" panose="020F0502020204030203" pitchFamily="34" charset="0"/>
                <a:cs typeface="Lato" panose="020F0502020204030203" pitchFamily="34" charset="0"/>
              </a:rPr>
              <a:t>3 Months Billing Cycle</a:t>
            </a:r>
            <a:endParaRPr lang="zh-CN" altLang="en-US" sz="1000">
              <a:solidFill>
                <a:srgbClr val="000000">
                  <a:hueOff val="0"/>
                  <a:satOff val="0"/>
                  <a:lumOff val="0"/>
                  <a:alphaOff val="0"/>
                </a:srgbClr>
              </a:solidFill>
              <a:latin typeface="Lato" panose="020F0502020204030203" pitchFamily="34" charset="0"/>
              <a:cs typeface="Lato" panose="020F0502020204030203" pitchFamily="34" charset="0"/>
            </a:endParaRPr>
          </a:p>
        </p:txBody>
      </p:sp>
      <p:cxnSp>
        <p:nvCxnSpPr>
          <p:cNvPr id="12" name="直接箭头连接符 11">
            <a:extLst>
              <a:ext uri="{FF2B5EF4-FFF2-40B4-BE49-F238E27FC236}">
                <a16:creationId xmlns:a16="http://schemas.microsoft.com/office/drawing/2014/main" id="{D99D2D37-7960-33CC-08DB-4B3B23AF2ABB}"/>
              </a:ext>
            </a:extLst>
          </p:cNvPr>
          <p:cNvCxnSpPr>
            <a:cxnSpLocks/>
          </p:cNvCxnSpPr>
          <p:nvPr/>
        </p:nvCxnSpPr>
        <p:spPr>
          <a:xfrm>
            <a:off x="1619704" y="2910903"/>
            <a:ext cx="1319879" cy="0"/>
          </a:xfrm>
          <a:prstGeom prst="straightConnector1">
            <a:avLst/>
          </a:prstGeom>
          <a:ln w="3175">
            <a:solidFill>
              <a:schemeClr val="bg1">
                <a:lumMod val="65000"/>
              </a:schemeClr>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A1AB5968-4975-3888-FF0F-5D4393487FF3}"/>
              </a:ext>
            </a:extLst>
          </p:cNvPr>
          <p:cNvCxnSpPr>
            <a:cxnSpLocks/>
          </p:cNvCxnSpPr>
          <p:nvPr/>
        </p:nvCxnSpPr>
        <p:spPr>
          <a:xfrm>
            <a:off x="1619937" y="2735244"/>
            <a:ext cx="0" cy="216428"/>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F5000488-F81E-F448-5B0C-D83FCE0B2B72}"/>
              </a:ext>
            </a:extLst>
          </p:cNvPr>
          <p:cNvCxnSpPr>
            <a:cxnSpLocks/>
          </p:cNvCxnSpPr>
          <p:nvPr/>
        </p:nvCxnSpPr>
        <p:spPr>
          <a:xfrm>
            <a:off x="2947459" y="2735244"/>
            <a:ext cx="0" cy="216428"/>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3" name="组合 72">
            <a:extLst>
              <a:ext uri="{FF2B5EF4-FFF2-40B4-BE49-F238E27FC236}">
                <a16:creationId xmlns:a16="http://schemas.microsoft.com/office/drawing/2014/main" id="{9CBE56CD-6E5C-4F54-F473-0553B4CE7551}"/>
              </a:ext>
            </a:extLst>
          </p:cNvPr>
          <p:cNvGrpSpPr/>
          <p:nvPr/>
        </p:nvGrpSpPr>
        <p:grpSpPr>
          <a:xfrm>
            <a:off x="580835" y="2506625"/>
            <a:ext cx="10569600" cy="140792"/>
            <a:chOff x="579247" y="2506625"/>
            <a:chExt cx="11955479" cy="140792"/>
          </a:xfrm>
        </p:grpSpPr>
        <p:sp>
          <p:nvSpPr>
            <p:cNvPr id="30" name="任意多边形: 形状 29">
              <a:extLst>
                <a:ext uri="{FF2B5EF4-FFF2-40B4-BE49-F238E27FC236}">
                  <a16:creationId xmlns:a16="http://schemas.microsoft.com/office/drawing/2014/main" id="{8E6AD6EC-A927-E1F8-BA9F-DB63EC8FBF3A}"/>
                </a:ext>
              </a:extLst>
            </p:cNvPr>
            <p:cNvSpPr/>
            <p:nvPr/>
          </p:nvSpPr>
          <p:spPr>
            <a:xfrm>
              <a:off x="2073679" y="2506625"/>
              <a:ext cx="1494467"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1</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31" name="任意多边形: 形状 30">
              <a:extLst>
                <a:ext uri="{FF2B5EF4-FFF2-40B4-BE49-F238E27FC236}">
                  <a16:creationId xmlns:a16="http://schemas.microsoft.com/office/drawing/2014/main" id="{ACCD3941-8CAD-670B-1093-EE3C316B7E4D}"/>
                </a:ext>
              </a:extLst>
            </p:cNvPr>
            <p:cNvSpPr/>
            <p:nvPr/>
          </p:nvSpPr>
          <p:spPr>
            <a:xfrm>
              <a:off x="3568109" y="2506625"/>
              <a:ext cx="1494467"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2</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32" name="任意多边形: 形状 31">
              <a:extLst>
                <a:ext uri="{FF2B5EF4-FFF2-40B4-BE49-F238E27FC236}">
                  <a16:creationId xmlns:a16="http://schemas.microsoft.com/office/drawing/2014/main" id="{A66EAE1A-1EDB-522A-DCC1-6A3039079BBC}"/>
                </a:ext>
              </a:extLst>
            </p:cNvPr>
            <p:cNvSpPr/>
            <p:nvPr/>
          </p:nvSpPr>
          <p:spPr>
            <a:xfrm>
              <a:off x="5062539" y="2506625"/>
              <a:ext cx="1494467"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3</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33" name="任意多边形: 形状 32">
              <a:extLst>
                <a:ext uri="{FF2B5EF4-FFF2-40B4-BE49-F238E27FC236}">
                  <a16:creationId xmlns:a16="http://schemas.microsoft.com/office/drawing/2014/main" id="{99120F45-1E51-6FE5-9DA0-7E1D30413459}"/>
                </a:ext>
              </a:extLst>
            </p:cNvPr>
            <p:cNvSpPr/>
            <p:nvPr/>
          </p:nvSpPr>
          <p:spPr>
            <a:xfrm>
              <a:off x="6556969" y="2506625"/>
              <a:ext cx="1494467"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4</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34" name="任意多边形: 形状 33">
              <a:extLst>
                <a:ext uri="{FF2B5EF4-FFF2-40B4-BE49-F238E27FC236}">
                  <a16:creationId xmlns:a16="http://schemas.microsoft.com/office/drawing/2014/main" id="{1D2F9D9B-6B98-9AEB-AEBA-FAD1644E1792}"/>
                </a:ext>
              </a:extLst>
            </p:cNvPr>
            <p:cNvSpPr/>
            <p:nvPr/>
          </p:nvSpPr>
          <p:spPr>
            <a:xfrm>
              <a:off x="8051399" y="2506625"/>
              <a:ext cx="1494467"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5</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35" name="任意多边形: 形状 34">
              <a:extLst>
                <a:ext uri="{FF2B5EF4-FFF2-40B4-BE49-F238E27FC236}">
                  <a16:creationId xmlns:a16="http://schemas.microsoft.com/office/drawing/2014/main" id="{3D9F3F77-44BF-12FA-6A07-A4F6CAD88D64}"/>
                </a:ext>
              </a:extLst>
            </p:cNvPr>
            <p:cNvSpPr/>
            <p:nvPr/>
          </p:nvSpPr>
          <p:spPr>
            <a:xfrm>
              <a:off x="9545829" y="2506625"/>
              <a:ext cx="1494467"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6</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9" name="任意多边形: 形状 8">
              <a:extLst>
                <a:ext uri="{FF2B5EF4-FFF2-40B4-BE49-F238E27FC236}">
                  <a16:creationId xmlns:a16="http://schemas.microsoft.com/office/drawing/2014/main" id="{66071C84-CF1A-CB11-F8D3-1F3CB0245F85}"/>
                </a:ext>
              </a:extLst>
            </p:cNvPr>
            <p:cNvSpPr/>
            <p:nvPr/>
          </p:nvSpPr>
          <p:spPr>
            <a:xfrm>
              <a:off x="579247" y="2506625"/>
              <a:ext cx="1494469"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0</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70" name="任意多边形: 形状 69">
              <a:extLst>
                <a:ext uri="{FF2B5EF4-FFF2-40B4-BE49-F238E27FC236}">
                  <a16:creationId xmlns:a16="http://schemas.microsoft.com/office/drawing/2014/main" id="{D48A8972-72C4-5810-D241-6411292017BC}"/>
                </a:ext>
              </a:extLst>
            </p:cNvPr>
            <p:cNvSpPr/>
            <p:nvPr/>
          </p:nvSpPr>
          <p:spPr>
            <a:xfrm>
              <a:off x="11040259" y="2506625"/>
              <a:ext cx="1494467" cy="140792"/>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7</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grpSp>
      <p:sp>
        <p:nvSpPr>
          <p:cNvPr id="72" name="矩形 71">
            <a:extLst>
              <a:ext uri="{FF2B5EF4-FFF2-40B4-BE49-F238E27FC236}">
                <a16:creationId xmlns:a16="http://schemas.microsoft.com/office/drawing/2014/main" id="{92C3709B-D777-C5A4-4F37-FF3FEE7EEF98}"/>
              </a:ext>
            </a:extLst>
          </p:cNvPr>
          <p:cNvSpPr/>
          <p:nvPr/>
        </p:nvSpPr>
        <p:spPr>
          <a:xfrm>
            <a:off x="9655726" y="2655772"/>
            <a:ext cx="1319879" cy="180123"/>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900" b="1">
                <a:solidFill>
                  <a:schemeClr val="tx1"/>
                </a:solidFill>
                <a:latin typeface="Lato" panose="020F0502020204030203" pitchFamily="34" charset="0"/>
                <a:ea typeface="Lato" panose="020F0502020204030203" pitchFamily="34" charset="0"/>
                <a:cs typeface="Lato" panose="020F0502020204030203" pitchFamily="34" charset="0"/>
              </a:rPr>
              <a:t>Tranche 07</a:t>
            </a:r>
            <a:endParaRPr lang="zh-CN" altLang="en-US" sz="900" b="1">
              <a:solidFill>
                <a:srgbClr val="000000"/>
              </a:solidFill>
              <a:latin typeface="Lato" panose="020F0502020204030203" pitchFamily="34" charset="0"/>
              <a:cs typeface="Lato" panose="020F0502020204030203" pitchFamily="34" charset="0"/>
            </a:endParaRPr>
          </a:p>
        </p:txBody>
      </p:sp>
      <p:grpSp>
        <p:nvGrpSpPr>
          <p:cNvPr id="75" name="组合 74">
            <a:extLst>
              <a:ext uri="{FF2B5EF4-FFF2-40B4-BE49-F238E27FC236}">
                <a16:creationId xmlns:a16="http://schemas.microsoft.com/office/drawing/2014/main" id="{B1D32571-3AEE-D98D-6397-06C9DA331238}"/>
              </a:ext>
            </a:extLst>
          </p:cNvPr>
          <p:cNvGrpSpPr/>
          <p:nvPr/>
        </p:nvGrpSpPr>
        <p:grpSpPr>
          <a:xfrm>
            <a:off x="1619703" y="2655772"/>
            <a:ext cx="8016564" cy="180123"/>
            <a:chOff x="1754331" y="2655771"/>
            <a:chExt cx="9067691" cy="180123"/>
          </a:xfrm>
        </p:grpSpPr>
        <p:sp>
          <p:nvSpPr>
            <p:cNvPr id="53" name="矩形 52">
              <a:extLst>
                <a:ext uri="{FF2B5EF4-FFF2-40B4-BE49-F238E27FC236}">
                  <a16:creationId xmlns:a16="http://schemas.microsoft.com/office/drawing/2014/main" id="{CA9BE297-4EB7-F08C-B902-25849A16773D}"/>
                </a:ext>
              </a:extLst>
            </p:cNvPr>
            <p:cNvSpPr/>
            <p:nvPr/>
          </p:nvSpPr>
          <p:spPr>
            <a:xfrm>
              <a:off x="3269281" y="2655771"/>
              <a:ext cx="1492941" cy="180123"/>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900" b="1">
                  <a:solidFill>
                    <a:schemeClr val="tx1"/>
                  </a:solidFill>
                  <a:latin typeface="Lato" panose="020F0502020204030203" pitchFamily="34" charset="0"/>
                  <a:ea typeface="Lato" panose="020F0502020204030203" pitchFamily="34" charset="0"/>
                  <a:cs typeface="Lato" panose="020F0502020204030203" pitchFamily="34" charset="0"/>
                </a:rPr>
                <a:t>Tranche 02</a:t>
              </a:r>
              <a:endParaRPr lang="zh-CN" altLang="en-US" sz="900" b="1">
                <a:solidFill>
                  <a:srgbClr val="000000"/>
                </a:solidFill>
                <a:latin typeface="Lato" panose="020F0502020204030203" pitchFamily="34" charset="0"/>
                <a:cs typeface="Lato" panose="020F0502020204030203" pitchFamily="34" charset="0"/>
              </a:endParaRPr>
            </a:p>
          </p:txBody>
        </p:sp>
        <p:sp>
          <p:nvSpPr>
            <p:cNvPr id="55" name="矩形 54">
              <a:extLst>
                <a:ext uri="{FF2B5EF4-FFF2-40B4-BE49-F238E27FC236}">
                  <a16:creationId xmlns:a16="http://schemas.microsoft.com/office/drawing/2014/main" id="{3CE50BBB-3F4F-4BFC-CAB2-07D8B5DA7CA8}"/>
                </a:ext>
              </a:extLst>
            </p:cNvPr>
            <p:cNvSpPr/>
            <p:nvPr/>
          </p:nvSpPr>
          <p:spPr>
            <a:xfrm>
              <a:off x="4784231" y="2655771"/>
              <a:ext cx="1492941" cy="180123"/>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900" b="1">
                  <a:solidFill>
                    <a:schemeClr val="tx1"/>
                  </a:solidFill>
                  <a:latin typeface="Lato" panose="020F0502020204030203" pitchFamily="34" charset="0"/>
                  <a:ea typeface="Lato" panose="020F0502020204030203" pitchFamily="34" charset="0"/>
                  <a:cs typeface="Lato" panose="020F0502020204030203" pitchFamily="34" charset="0"/>
                </a:rPr>
                <a:t>Tranche 03</a:t>
              </a:r>
              <a:endParaRPr lang="zh-CN" altLang="en-US" sz="900" b="1">
                <a:solidFill>
                  <a:srgbClr val="000000"/>
                </a:solidFill>
                <a:latin typeface="Lato" panose="020F0502020204030203" pitchFamily="34" charset="0"/>
                <a:cs typeface="Lato" panose="020F0502020204030203" pitchFamily="34" charset="0"/>
              </a:endParaRPr>
            </a:p>
          </p:txBody>
        </p:sp>
        <p:sp>
          <p:nvSpPr>
            <p:cNvPr id="57" name="矩形 56">
              <a:extLst>
                <a:ext uri="{FF2B5EF4-FFF2-40B4-BE49-F238E27FC236}">
                  <a16:creationId xmlns:a16="http://schemas.microsoft.com/office/drawing/2014/main" id="{A376EEF4-ABD3-D6AB-050E-38D0EA04CC42}"/>
                </a:ext>
              </a:extLst>
            </p:cNvPr>
            <p:cNvSpPr/>
            <p:nvPr/>
          </p:nvSpPr>
          <p:spPr>
            <a:xfrm>
              <a:off x="6299181" y="2655771"/>
              <a:ext cx="1492941" cy="180123"/>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900" b="1">
                  <a:solidFill>
                    <a:schemeClr val="tx1"/>
                  </a:solidFill>
                  <a:latin typeface="Lato" panose="020F0502020204030203" pitchFamily="34" charset="0"/>
                  <a:ea typeface="Lato" panose="020F0502020204030203" pitchFamily="34" charset="0"/>
                  <a:cs typeface="Lato" panose="020F0502020204030203" pitchFamily="34" charset="0"/>
                </a:rPr>
                <a:t>Tranche 04</a:t>
              </a:r>
              <a:endParaRPr lang="zh-CN" altLang="en-US" sz="900" b="1">
                <a:solidFill>
                  <a:srgbClr val="000000"/>
                </a:solidFill>
                <a:latin typeface="Lato" panose="020F0502020204030203" pitchFamily="34" charset="0"/>
                <a:cs typeface="Lato" panose="020F0502020204030203" pitchFamily="34" charset="0"/>
              </a:endParaRPr>
            </a:p>
          </p:txBody>
        </p:sp>
        <p:sp>
          <p:nvSpPr>
            <p:cNvPr id="59" name="矩形 58">
              <a:extLst>
                <a:ext uri="{FF2B5EF4-FFF2-40B4-BE49-F238E27FC236}">
                  <a16:creationId xmlns:a16="http://schemas.microsoft.com/office/drawing/2014/main" id="{4AC54AEC-7A62-3A91-F5EE-934A201C63D9}"/>
                </a:ext>
              </a:extLst>
            </p:cNvPr>
            <p:cNvSpPr/>
            <p:nvPr/>
          </p:nvSpPr>
          <p:spPr>
            <a:xfrm>
              <a:off x="7814131" y="2655771"/>
              <a:ext cx="1492941" cy="180123"/>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900" b="1">
                  <a:solidFill>
                    <a:schemeClr val="tx1"/>
                  </a:solidFill>
                  <a:latin typeface="Lato" panose="020F0502020204030203" pitchFamily="34" charset="0"/>
                  <a:ea typeface="Lato" panose="020F0502020204030203" pitchFamily="34" charset="0"/>
                  <a:cs typeface="Lato" panose="020F0502020204030203" pitchFamily="34" charset="0"/>
                </a:rPr>
                <a:t>Tranche 05</a:t>
              </a:r>
              <a:endParaRPr lang="zh-CN" altLang="en-US" sz="900" b="1">
                <a:solidFill>
                  <a:srgbClr val="000000"/>
                </a:solidFill>
                <a:latin typeface="Lato" panose="020F0502020204030203" pitchFamily="34" charset="0"/>
                <a:cs typeface="Lato" panose="020F0502020204030203" pitchFamily="34" charset="0"/>
              </a:endParaRPr>
            </a:p>
          </p:txBody>
        </p:sp>
        <p:sp>
          <p:nvSpPr>
            <p:cNvPr id="61" name="矩形 60">
              <a:extLst>
                <a:ext uri="{FF2B5EF4-FFF2-40B4-BE49-F238E27FC236}">
                  <a16:creationId xmlns:a16="http://schemas.microsoft.com/office/drawing/2014/main" id="{A570A270-72D9-B7C5-CCD4-EF206779C365}"/>
                </a:ext>
              </a:extLst>
            </p:cNvPr>
            <p:cNvSpPr/>
            <p:nvPr/>
          </p:nvSpPr>
          <p:spPr>
            <a:xfrm>
              <a:off x="9329081" y="2655771"/>
              <a:ext cx="1492941" cy="180123"/>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900" b="1">
                  <a:solidFill>
                    <a:schemeClr val="tx1"/>
                  </a:solidFill>
                  <a:latin typeface="Lato" panose="020F0502020204030203" pitchFamily="34" charset="0"/>
                  <a:ea typeface="Lato" panose="020F0502020204030203" pitchFamily="34" charset="0"/>
                  <a:cs typeface="Lato" panose="020F0502020204030203" pitchFamily="34" charset="0"/>
                </a:rPr>
                <a:t>Tranche 06</a:t>
              </a:r>
              <a:endParaRPr lang="zh-CN" altLang="en-US" sz="900" b="1">
                <a:solidFill>
                  <a:srgbClr val="000000"/>
                </a:solidFill>
                <a:latin typeface="Lato" panose="020F0502020204030203" pitchFamily="34" charset="0"/>
                <a:cs typeface="Lato" panose="020F0502020204030203" pitchFamily="34" charset="0"/>
              </a:endParaRPr>
            </a:p>
          </p:txBody>
        </p:sp>
        <p:sp>
          <p:nvSpPr>
            <p:cNvPr id="36" name="矩形 35">
              <a:extLst>
                <a:ext uri="{FF2B5EF4-FFF2-40B4-BE49-F238E27FC236}">
                  <a16:creationId xmlns:a16="http://schemas.microsoft.com/office/drawing/2014/main" id="{CFFB5CFE-F2A8-67F9-A72A-E770EB460DF4}"/>
                </a:ext>
              </a:extLst>
            </p:cNvPr>
            <p:cNvSpPr/>
            <p:nvPr/>
          </p:nvSpPr>
          <p:spPr>
            <a:xfrm>
              <a:off x="1754331" y="2655771"/>
              <a:ext cx="1492941" cy="180123"/>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900" b="1">
                  <a:solidFill>
                    <a:schemeClr val="tx1"/>
                  </a:solidFill>
                  <a:latin typeface="Lato" panose="020F0502020204030203" pitchFamily="34" charset="0"/>
                  <a:ea typeface="Lato" panose="020F0502020204030203" pitchFamily="34" charset="0"/>
                  <a:cs typeface="Lato" panose="020F0502020204030203" pitchFamily="34" charset="0"/>
                </a:rPr>
                <a:t>Tranche 01</a:t>
              </a:r>
              <a:endParaRPr lang="zh-CN" altLang="en-US" sz="9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grpSp>
      <p:cxnSp>
        <p:nvCxnSpPr>
          <p:cNvPr id="112" name="直接箭头连接符 111">
            <a:extLst>
              <a:ext uri="{FF2B5EF4-FFF2-40B4-BE49-F238E27FC236}">
                <a16:creationId xmlns:a16="http://schemas.microsoft.com/office/drawing/2014/main" id="{20769991-B644-2260-9FEA-8DDF1E28DCF7}"/>
              </a:ext>
            </a:extLst>
          </p:cNvPr>
          <p:cNvCxnSpPr>
            <a:cxnSpLocks/>
          </p:cNvCxnSpPr>
          <p:nvPr/>
        </p:nvCxnSpPr>
        <p:spPr>
          <a:xfrm>
            <a:off x="2961158" y="2910903"/>
            <a:ext cx="1319879" cy="0"/>
          </a:xfrm>
          <a:prstGeom prst="straightConnector1">
            <a:avLst/>
          </a:prstGeom>
          <a:ln w="3175">
            <a:solidFill>
              <a:schemeClr val="bg1">
                <a:lumMod val="65000"/>
              </a:schemeClr>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2716EBD3-3A2B-1EA0-F6BE-30EA0B44C80A}"/>
              </a:ext>
            </a:extLst>
          </p:cNvPr>
          <p:cNvCxnSpPr>
            <a:cxnSpLocks/>
          </p:cNvCxnSpPr>
          <p:nvPr/>
        </p:nvCxnSpPr>
        <p:spPr>
          <a:xfrm>
            <a:off x="4288913" y="2735244"/>
            <a:ext cx="0" cy="216428"/>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15DAA898-570E-907B-5101-83DCB473ADDC}"/>
              </a:ext>
            </a:extLst>
          </p:cNvPr>
          <p:cNvCxnSpPr>
            <a:cxnSpLocks/>
            <a:endCxn id="115" idx="0"/>
          </p:cNvCxnSpPr>
          <p:nvPr/>
        </p:nvCxnSpPr>
        <p:spPr>
          <a:xfrm>
            <a:off x="3858166" y="2910903"/>
            <a:ext cx="0" cy="169200"/>
          </a:xfrm>
          <a:prstGeom prst="line">
            <a:avLst/>
          </a:prstGeom>
          <a:ln>
            <a:solidFill>
              <a:schemeClr val="accent1">
                <a:lumMod val="50000"/>
              </a:schemeClr>
            </a:solidFill>
            <a:headEnd type="none" w="med" len="med"/>
            <a:tailEnd type="triangle" w="med" len="med"/>
          </a:ln>
        </p:spPr>
        <p:style>
          <a:lnRef idx="3">
            <a:schemeClr val="accent4"/>
          </a:lnRef>
          <a:fillRef idx="0">
            <a:schemeClr val="accent4"/>
          </a:fillRef>
          <a:effectRef idx="2">
            <a:schemeClr val="accent4"/>
          </a:effectRef>
          <a:fontRef idx="minor">
            <a:schemeClr val="tx1"/>
          </a:fontRef>
        </p:style>
      </p:cxnSp>
      <p:sp>
        <p:nvSpPr>
          <p:cNvPr id="115" name="文本框 114">
            <a:extLst>
              <a:ext uri="{FF2B5EF4-FFF2-40B4-BE49-F238E27FC236}">
                <a16:creationId xmlns:a16="http://schemas.microsoft.com/office/drawing/2014/main" id="{98DFCD88-6BC5-BA0D-E169-6898AE441E85}"/>
              </a:ext>
            </a:extLst>
          </p:cNvPr>
          <p:cNvSpPr txBox="1"/>
          <p:nvPr/>
        </p:nvSpPr>
        <p:spPr>
          <a:xfrm>
            <a:off x="3247549" y="3143719"/>
            <a:ext cx="1221235" cy="246221"/>
          </a:xfrm>
          <a:prstGeom prst="rect">
            <a:avLst/>
          </a:prstGeom>
          <a:noFill/>
        </p:spPr>
        <p:txBody>
          <a:bodyPr wrap="square" lIns="0" tIns="0" rIns="0" bIns="0" rtlCol="0">
            <a:spAutoFit/>
          </a:bodyPr>
          <a:lstStyle/>
          <a:p>
            <a:pPr algn="ctr" defTabSz="914126">
              <a:defRPr/>
            </a:pPr>
            <a:r>
              <a:rPr lang="en-US" altLang="zh-CN" sz="8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Device AX02</a:t>
            </a:r>
          </a:p>
          <a:p>
            <a:pPr algn="ctr" defTabSz="914126">
              <a:defRPr/>
            </a:pPr>
            <a:r>
              <a:rPr lang="en-US" altLang="zh-CN" sz="8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Accepted at </a:t>
            </a:r>
            <a:r>
              <a:rPr lang="en-US" altLang="zh-CN" sz="800" b="1" u="sng">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15</a:t>
            </a:r>
            <a:r>
              <a:rPr lang="en-US" altLang="zh-CN" sz="800" b="1" u="sng" baseline="300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th</a:t>
            </a:r>
            <a:r>
              <a:rPr lang="en-US" altLang="zh-CN" sz="800" b="1" u="sng">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 Feb</a:t>
            </a:r>
            <a:endParaRPr lang="zh-CN" altLang="en-US" sz="800" b="1" u="sng">
              <a:solidFill>
                <a:schemeClr val="accent1">
                  <a:lumMod val="50000"/>
                </a:schemeClr>
              </a:solidFill>
              <a:latin typeface="Lato" panose="020F0502020204030203" pitchFamily="34" charset="0"/>
              <a:ea typeface="黑体" panose="02010609060101010101" pitchFamily="49" charset="-122"/>
              <a:cs typeface="Lato" panose="020F0502020204030203" pitchFamily="34" charset="0"/>
            </a:endParaRPr>
          </a:p>
        </p:txBody>
      </p:sp>
      <p:sp>
        <p:nvSpPr>
          <p:cNvPr id="121" name="文本框 120">
            <a:extLst>
              <a:ext uri="{FF2B5EF4-FFF2-40B4-BE49-F238E27FC236}">
                <a16:creationId xmlns:a16="http://schemas.microsoft.com/office/drawing/2014/main" id="{53A9A0BF-FC7B-58BA-242F-80987D4B9BC9}"/>
              </a:ext>
            </a:extLst>
          </p:cNvPr>
          <p:cNvSpPr txBox="1"/>
          <p:nvPr/>
        </p:nvSpPr>
        <p:spPr>
          <a:xfrm>
            <a:off x="4523554" y="3970841"/>
            <a:ext cx="928786" cy="246221"/>
          </a:xfrm>
          <a:prstGeom prst="rect">
            <a:avLst/>
          </a:prstGeom>
          <a:noFill/>
        </p:spPr>
        <p:txBody>
          <a:bodyPr wrap="square" lIns="0" tIns="0" rIns="0" bIns="0" rtlCol="0">
            <a:spAutoFit/>
          </a:bodyPr>
          <a:lstStyle/>
          <a:p>
            <a:pPr algn="ctr" defTabSz="914126">
              <a:defRPr/>
            </a:pPr>
            <a:r>
              <a:rPr lang="en-US" altLang="zh-CN" sz="8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Device AX02</a:t>
            </a:r>
          </a:p>
          <a:p>
            <a:pPr algn="ctr" defTabSz="914126">
              <a:defRPr/>
            </a:pPr>
            <a:r>
              <a:rPr lang="en-US" altLang="zh-CN" sz="8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1</a:t>
            </a:r>
            <a:r>
              <a:rPr lang="en-US" altLang="zh-CN" sz="800" baseline="300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st</a:t>
            </a:r>
            <a:r>
              <a:rPr lang="en-US" altLang="zh-CN" sz="8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 Invoice: </a:t>
            </a:r>
            <a:r>
              <a:rPr lang="en-US" altLang="zh-CN" sz="800" b="1" u="sng">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1</a:t>
            </a:r>
            <a:r>
              <a:rPr lang="en-US" altLang="zh-CN" sz="800" b="1" u="sng" baseline="300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st</a:t>
            </a:r>
            <a:r>
              <a:rPr lang="en-US" altLang="zh-CN" sz="800" b="1" u="sng">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 Mar</a:t>
            </a:r>
            <a:endParaRPr lang="zh-CN" altLang="en-US" sz="800" b="1" u="sng">
              <a:solidFill>
                <a:schemeClr val="accent1">
                  <a:lumMod val="50000"/>
                </a:schemeClr>
              </a:solidFill>
              <a:latin typeface="Lato" panose="020F0502020204030203" pitchFamily="34" charset="0"/>
              <a:ea typeface="黑体" panose="02010609060101010101" pitchFamily="49" charset="-122"/>
              <a:cs typeface="Lato" panose="020F0502020204030203" pitchFamily="34" charset="0"/>
            </a:endParaRPr>
          </a:p>
        </p:txBody>
      </p:sp>
      <p:sp>
        <p:nvSpPr>
          <p:cNvPr id="123" name="文本框 122">
            <a:extLst>
              <a:ext uri="{FF2B5EF4-FFF2-40B4-BE49-F238E27FC236}">
                <a16:creationId xmlns:a16="http://schemas.microsoft.com/office/drawing/2014/main" id="{F1BB0F79-FF9E-00F2-54F2-059496C7E364}"/>
              </a:ext>
            </a:extLst>
          </p:cNvPr>
          <p:cNvSpPr txBox="1"/>
          <p:nvPr/>
        </p:nvSpPr>
        <p:spPr>
          <a:xfrm>
            <a:off x="8469021" y="3998743"/>
            <a:ext cx="928786" cy="246221"/>
          </a:xfrm>
          <a:prstGeom prst="rect">
            <a:avLst/>
          </a:prstGeom>
          <a:noFill/>
        </p:spPr>
        <p:txBody>
          <a:bodyPr wrap="square" lIns="0" tIns="0" rIns="0" bIns="0" rtlCol="0">
            <a:spAutoFit/>
          </a:bodyPr>
          <a:lstStyle/>
          <a:p>
            <a:pPr algn="ctr" defTabSz="914126">
              <a:defRPr/>
            </a:pPr>
            <a:r>
              <a:rPr lang="en-US" altLang="zh-CN" sz="8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Device AX02</a:t>
            </a:r>
          </a:p>
          <a:p>
            <a:pPr algn="ctr" defTabSz="914126">
              <a:defRPr/>
            </a:pPr>
            <a:r>
              <a:rPr lang="en-US" altLang="zh-CN" sz="8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2</a:t>
            </a:r>
            <a:r>
              <a:rPr lang="en-US" altLang="zh-CN" sz="800" baseline="300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nd</a:t>
            </a:r>
            <a:r>
              <a:rPr lang="en-US" altLang="zh-CN" sz="8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 Invoice: </a:t>
            </a:r>
            <a:r>
              <a:rPr lang="en-US" altLang="zh-CN" sz="800" b="1" u="sng">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1</a:t>
            </a:r>
            <a:r>
              <a:rPr lang="en-US" altLang="zh-CN" sz="800" b="1" u="sng" baseline="30000">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st</a:t>
            </a:r>
            <a:r>
              <a:rPr lang="en-US" altLang="zh-CN" sz="800" b="1" u="sng">
                <a:solidFill>
                  <a:schemeClr val="accent1">
                    <a:lumMod val="50000"/>
                  </a:schemeClr>
                </a:solidFill>
                <a:latin typeface="Lato" panose="020F0502020204030203" pitchFamily="34" charset="0"/>
                <a:ea typeface="Lato" panose="020F0502020204030203" pitchFamily="34" charset="0"/>
                <a:cs typeface="Lato" panose="020F0502020204030203" pitchFamily="34" charset="0"/>
              </a:rPr>
              <a:t> Jun</a:t>
            </a:r>
            <a:endParaRPr lang="zh-CN" altLang="en-US" sz="800" b="1" u="sng">
              <a:solidFill>
                <a:schemeClr val="accent1">
                  <a:lumMod val="50000"/>
                </a:schemeClr>
              </a:solidFill>
              <a:latin typeface="Lato" panose="020F0502020204030203" pitchFamily="34" charset="0"/>
              <a:ea typeface="黑体" panose="02010609060101010101" pitchFamily="49" charset="-122"/>
              <a:cs typeface="Lato" panose="020F0502020204030203" pitchFamily="34" charset="0"/>
            </a:endParaRPr>
          </a:p>
        </p:txBody>
      </p:sp>
      <p:sp>
        <p:nvSpPr>
          <p:cNvPr id="127" name="文本框 126">
            <a:extLst>
              <a:ext uri="{FF2B5EF4-FFF2-40B4-BE49-F238E27FC236}">
                <a16:creationId xmlns:a16="http://schemas.microsoft.com/office/drawing/2014/main" id="{F90D2F62-074F-6417-F8AA-38D8B505AA27}"/>
              </a:ext>
            </a:extLst>
          </p:cNvPr>
          <p:cNvSpPr txBox="1"/>
          <p:nvPr/>
        </p:nvSpPr>
        <p:spPr>
          <a:xfrm>
            <a:off x="4079122" y="2988800"/>
            <a:ext cx="447884" cy="123111"/>
          </a:xfrm>
          <a:prstGeom prst="rect">
            <a:avLst/>
          </a:prstGeom>
          <a:noFill/>
        </p:spPr>
        <p:txBody>
          <a:bodyPr wrap="square" lIns="0" tIns="0" rIns="0" bIns="0" rtlCol="0">
            <a:spAutoFit/>
          </a:bodyPr>
          <a:lstStyle/>
          <a:p>
            <a:pPr algn="ctr" defTabSz="914126">
              <a:defRPr/>
            </a:pPr>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Feb.17</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29" name="菱形 128">
            <a:extLst>
              <a:ext uri="{FF2B5EF4-FFF2-40B4-BE49-F238E27FC236}">
                <a16:creationId xmlns:a16="http://schemas.microsoft.com/office/drawing/2014/main" id="{72D8240B-99F7-7E26-AD92-69D42F89F11D}"/>
              </a:ext>
            </a:extLst>
          </p:cNvPr>
          <p:cNvSpPr/>
          <p:nvPr/>
        </p:nvSpPr>
        <p:spPr>
          <a:xfrm>
            <a:off x="9974215" y="2058543"/>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31" name="文本框 130">
            <a:extLst>
              <a:ext uri="{FF2B5EF4-FFF2-40B4-BE49-F238E27FC236}">
                <a16:creationId xmlns:a16="http://schemas.microsoft.com/office/drawing/2014/main" id="{874FB21B-28EA-B418-A8B3-032AC69416B7}"/>
              </a:ext>
            </a:extLst>
          </p:cNvPr>
          <p:cNvSpPr txBox="1"/>
          <p:nvPr/>
        </p:nvSpPr>
        <p:spPr>
          <a:xfrm>
            <a:off x="10080047" y="2008432"/>
            <a:ext cx="1277125" cy="215444"/>
          </a:xfrm>
          <a:prstGeom prst="rect">
            <a:avLst/>
          </a:prstGeom>
          <a:noFill/>
        </p:spPr>
        <p:txBody>
          <a:bodyPr wrap="square" rtlCol="0">
            <a:spAutoFit/>
          </a:bodyPr>
          <a:lstStyle/>
          <a:p>
            <a:pPr defTabSz="914126">
              <a:defRPr/>
            </a:pPr>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Commencement Date</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35" name="菱形 134">
            <a:extLst>
              <a:ext uri="{FF2B5EF4-FFF2-40B4-BE49-F238E27FC236}">
                <a16:creationId xmlns:a16="http://schemas.microsoft.com/office/drawing/2014/main" id="{DF3C5E80-BB50-BDFC-8DD6-D7972970BDFB}"/>
              </a:ext>
            </a:extLst>
          </p:cNvPr>
          <p:cNvSpPr/>
          <p:nvPr/>
        </p:nvSpPr>
        <p:spPr>
          <a:xfrm>
            <a:off x="3170968" y="2527368"/>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37" name="菱形 136">
            <a:extLst>
              <a:ext uri="{FF2B5EF4-FFF2-40B4-BE49-F238E27FC236}">
                <a16:creationId xmlns:a16="http://schemas.microsoft.com/office/drawing/2014/main" id="{5251CA56-A141-927D-F082-656063996C28}"/>
              </a:ext>
            </a:extLst>
          </p:cNvPr>
          <p:cNvSpPr/>
          <p:nvPr/>
        </p:nvSpPr>
        <p:spPr>
          <a:xfrm>
            <a:off x="4482613" y="2527368"/>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41" name="菱形 140">
            <a:extLst>
              <a:ext uri="{FF2B5EF4-FFF2-40B4-BE49-F238E27FC236}">
                <a16:creationId xmlns:a16="http://schemas.microsoft.com/office/drawing/2014/main" id="{650677A5-C4FE-0B32-D019-578DDD20CADD}"/>
              </a:ext>
            </a:extLst>
          </p:cNvPr>
          <p:cNvSpPr/>
          <p:nvPr/>
        </p:nvSpPr>
        <p:spPr>
          <a:xfrm>
            <a:off x="5801981" y="2527368"/>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47" name="菱形 146">
            <a:extLst>
              <a:ext uri="{FF2B5EF4-FFF2-40B4-BE49-F238E27FC236}">
                <a16:creationId xmlns:a16="http://schemas.microsoft.com/office/drawing/2014/main" id="{DD9758DC-F475-E87B-C582-99BCDAD2E23C}"/>
              </a:ext>
            </a:extLst>
          </p:cNvPr>
          <p:cNvSpPr/>
          <p:nvPr/>
        </p:nvSpPr>
        <p:spPr>
          <a:xfrm>
            <a:off x="7125035" y="2527368"/>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49" name="菱形 148">
            <a:extLst>
              <a:ext uri="{FF2B5EF4-FFF2-40B4-BE49-F238E27FC236}">
                <a16:creationId xmlns:a16="http://schemas.microsoft.com/office/drawing/2014/main" id="{B89C94F6-289A-EBF6-D4B3-A235AA90D224}"/>
              </a:ext>
            </a:extLst>
          </p:cNvPr>
          <p:cNvSpPr/>
          <p:nvPr/>
        </p:nvSpPr>
        <p:spPr>
          <a:xfrm>
            <a:off x="8447714" y="2527368"/>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53" name="菱形 152">
            <a:extLst>
              <a:ext uri="{FF2B5EF4-FFF2-40B4-BE49-F238E27FC236}">
                <a16:creationId xmlns:a16="http://schemas.microsoft.com/office/drawing/2014/main" id="{0BADD648-CE7F-1F58-6D42-1355311F6FC6}"/>
              </a:ext>
            </a:extLst>
          </p:cNvPr>
          <p:cNvSpPr/>
          <p:nvPr/>
        </p:nvSpPr>
        <p:spPr>
          <a:xfrm>
            <a:off x="9776324" y="2527368"/>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58" name="菱形 157">
            <a:extLst>
              <a:ext uri="{FF2B5EF4-FFF2-40B4-BE49-F238E27FC236}">
                <a16:creationId xmlns:a16="http://schemas.microsoft.com/office/drawing/2014/main" id="{E55A887B-974E-6DB8-6608-5035276B846C}"/>
              </a:ext>
            </a:extLst>
          </p:cNvPr>
          <p:cNvSpPr/>
          <p:nvPr/>
        </p:nvSpPr>
        <p:spPr>
          <a:xfrm>
            <a:off x="11089296" y="2527368"/>
            <a:ext cx="105833" cy="105833"/>
          </a:xfrm>
          <a:prstGeom prst="diamond">
            <a:avLst/>
          </a:prstGeom>
          <a:solidFill>
            <a:srgbClr val="FF0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Tree>
    <p:extLst>
      <p:ext uri="{BB962C8B-B14F-4D97-AF65-F5344CB8AC3E}">
        <p14:creationId xmlns:p14="http://schemas.microsoft.com/office/powerpoint/2010/main" val="3349842690"/>
      </p:ext>
    </p:extLst>
  </p:cSld>
  <p:clrMapOvr>
    <a:masterClrMapping/>
  </p:clrMapOvr>
  <p:transition>
    <p:fade/>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904147-12DA-30BA-47DC-AF7E73736C6C}"/>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E7F9EB64-7B56-CA6D-B6ED-EAFE207A96F8}"/>
              </a:ext>
            </a:extLst>
          </p:cNvPr>
          <p:cNvGraphicFramePr>
            <a:graphicFrameLocks noGrp="1"/>
          </p:cNvGraphicFramePr>
          <p:nvPr>
            <p:extLst>
              <p:ext uri="{D42A27DB-BD31-4B8C-83A1-F6EECF244321}">
                <p14:modId xmlns:p14="http://schemas.microsoft.com/office/powerpoint/2010/main" val="3543380171"/>
              </p:ext>
            </p:extLst>
          </p:nvPr>
        </p:nvGraphicFramePr>
        <p:xfrm>
          <a:off x="96745" y="373265"/>
          <a:ext cx="6039292" cy="1303020"/>
        </p:xfrm>
        <a:graphic>
          <a:graphicData uri="http://schemas.openxmlformats.org/drawingml/2006/table">
            <a:tbl>
              <a:tblPr firstRow="1" bandRow="1">
                <a:tableStyleId>{3C2FFA5D-87B4-456A-9821-1D502468CF0F}</a:tableStyleId>
              </a:tblPr>
              <a:tblGrid>
                <a:gridCol w="690976">
                  <a:extLst>
                    <a:ext uri="{9D8B030D-6E8A-4147-A177-3AD203B41FA5}">
                      <a16:colId xmlns:a16="http://schemas.microsoft.com/office/drawing/2014/main" val="869603910"/>
                    </a:ext>
                  </a:extLst>
                </a:gridCol>
                <a:gridCol w="715068">
                  <a:extLst>
                    <a:ext uri="{9D8B030D-6E8A-4147-A177-3AD203B41FA5}">
                      <a16:colId xmlns:a16="http://schemas.microsoft.com/office/drawing/2014/main" val="238663902"/>
                    </a:ext>
                  </a:extLst>
                </a:gridCol>
                <a:gridCol w="613292">
                  <a:extLst>
                    <a:ext uri="{9D8B030D-6E8A-4147-A177-3AD203B41FA5}">
                      <a16:colId xmlns:a16="http://schemas.microsoft.com/office/drawing/2014/main" val="4114365151"/>
                    </a:ext>
                  </a:extLst>
                </a:gridCol>
                <a:gridCol w="758071">
                  <a:extLst>
                    <a:ext uri="{9D8B030D-6E8A-4147-A177-3AD203B41FA5}">
                      <a16:colId xmlns:a16="http://schemas.microsoft.com/office/drawing/2014/main" val="4075178046"/>
                    </a:ext>
                  </a:extLst>
                </a:gridCol>
                <a:gridCol w="707934">
                  <a:extLst>
                    <a:ext uri="{9D8B030D-6E8A-4147-A177-3AD203B41FA5}">
                      <a16:colId xmlns:a16="http://schemas.microsoft.com/office/drawing/2014/main" val="973533418"/>
                    </a:ext>
                  </a:extLst>
                </a:gridCol>
                <a:gridCol w="735421">
                  <a:extLst>
                    <a:ext uri="{9D8B030D-6E8A-4147-A177-3AD203B41FA5}">
                      <a16:colId xmlns:a16="http://schemas.microsoft.com/office/drawing/2014/main" val="2377711782"/>
                    </a:ext>
                  </a:extLst>
                </a:gridCol>
                <a:gridCol w="678941">
                  <a:extLst>
                    <a:ext uri="{9D8B030D-6E8A-4147-A177-3AD203B41FA5}">
                      <a16:colId xmlns:a16="http://schemas.microsoft.com/office/drawing/2014/main" val="3637466090"/>
                    </a:ext>
                  </a:extLst>
                </a:gridCol>
                <a:gridCol w="1139589">
                  <a:extLst>
                    <a:ext uri="{9D8B030D-6E8A-4147-A177-3AD203B41FA5}">
                      <a16:colId xmlns:a16="http://schemas.microsoft.com/office/drawing/2014/main" val="221569069"/>
                    </a:ext>
                  </a:extLst>
                </a:gridCol>
              </a:tblGrid>
              <a:tr h="3305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23068">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highlight>
                            <a:srgbClr val="FFFF00"/>
                          </a:highlight>
                        </a:rPr>
                        <a:t>Semi yearly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4" name="直接连接符 3">
            <a:extLst>
              <a:ext uri="{FF2B5EF4-FFF2-40B4-BE49-F238E27FC236}">
                <a16:creationId xmlns:a16="http://schemas.microsoft.com/office/drawing/2014/main" id="{58B3B067-5016-3653-BA47-5376A7880FB1}"/>
              </a:ext>
            </a:extLst>
          </p:cNvPr>
          <p:cNvCxnSpPr>
            <a:cxnSpLocks/>
          </p:cNvCxnSpPr>
          <p:nvPr/>
        </p:nvCxnSpPr>
        <p:spPr>
          <a:xfrm>
            <a:off x="6247923"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7" name="文本框 6">
            <a:extLst>
              <a:ext uri="{FF2B5EF4-FFF2-40B4-BE49-F238E27FC236}">
                <a16:creationId xmlns:a16="http://schemas.microsoft.com/office/drawing/2014/main" id="{DAE503FA-4205-504F-DC10-A35F7A1D8E93}"/>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DaaS_S&amp;D_MSA/MLA</a:t>
            </a:r>
            <a:endParaRPr lang="zh-CN" altLang="en-US" sz="2000" b="1"/>
          </a:p>
        </p:txBody>
      </p:sp>
      <p:graphicFrame>
        <p:nvGraphicFramePr>
          <p:cNvPr id="2" name="表格 1">
            <a:extLst>
              <a:ext uri="{FF2B5EF4-FFF2-40B4-BE49-F238E27FC236}">
                <a16:creationId xmlns:a16="http://schemas.microsoft.com/office/drawing/2014/main" id="{97C03A18-0C88-A01A-DF3F-471C0B385738}"/>
              </a:ext>
            </a:extLst>
          </p:cNvPr>
          <p:cNvGraphicFramePr>
            <a:graphicFrameLocks noGrp="1"/>
          </p:cNvGraphicFramePr>
          <p:nvPr>
            <p:extLst>
              <p:ext uri="{D42A27DB-BD31-4B8C-83A1-F6EECF244321}">
                <p14:modId xmlns:p14="http://schemas.microsoft.com/office/powerpoint/2010/main" val="3608017226"/>
              </p:ext>
            </p:extLst>
          </p:nvPr>
        </p:nvGraphicFramePr>
        <p:xfrm>
          <a:off x="6281482" y="349346"/>
          <a:ext cx="5872548" cy="1303020"/>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647222">
                  <a:extLst>
                    <a:ext uri="{9D8B030D-6E8A-4147-A177-3AD203B41FA5}">
                      <a16:colId xmlns:a16="http://schemas.microsoft.com/office/drawing/2014/main" val="4114365151"/>
                    </a:ext>
                  </a:extLst>
                </a:gridCol>
                <a:gridCol w="752475">
                  <a:extLst>
                    <a:ext uri="{9D8B030D-6E8A-4147-A177-3AD203B41FA5}">
                      <a16:colId xmlns:a16="http://schemas.microsoft.com/office/drawing/2014/main" val="4075178046"/>
                    </a:ext>
                  </a:extLst>
                </a:gridCol>
                <a:gridCol w="666750">
                  <a:extLst>
                    <a:ext uri="{9D8B030D-6E8A-4147-A177-3AD203B41FA5}">
                      <a16:colId xmlns:a16="http://schemas.microsoft.com/office/drawing/2014/main" val="973533418"/>
                    </a:ext>
                  </a:extLst>
                </a:gridCol>
                <a:gridCol w="672857">
                  <a:extLst>
                    <a:ext uri="{9D8B030D-6E8A-4147-A177-3AD203B41FA5}">
                      <a16:colId xmlns:a16="http://schemas.microsoft.com/office/drawing/2014/main" val="2377711782"/>
                    </a:ext>
                  </a:extLst>
                </a:gridCol>
                <a:gridCol w="6578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49034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90345">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highlight>
                            <a:srgbClr val="FFFF00"/>
                          </a:highlight>
                        </a:rPr>
                        <a:t>Semi yearly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7">
            <a:extLst>
              <a:ext uri="{FF2B5EF4-FFF2-40B4-BE49-F238E27FC236}">
                <a16:creationId xmlns:a16="http://schemas.microsoft.com/office/drawing/2014/main" id="{BA1988D9-3819-6AA2-A27B-57C0F47D01DC}"/>
              </a:ext>
            </a:extLst>
          </p:cNvPr>
          <p:cNvGraphicFramePr>
            <a:graphicFrameLocks noGrp="1"/>
          </p:cNvGraphicFramePr>
          <p:nvPr>
            <p:extLst>
              <p:ext uri="{D42A27DB-BD31-4B8C-83A1-F6EECF244321}">
                <p14:modId xmlns:p14="http://schemas.microsoft.com/office/powerpoint/2010/main" val="2356894341"/>
              </p:ext>
            </p:extLst>
          </p:nvPr>
        </p:nvGraphicFramePr>
        <p:xfrm>
          <a:off x="6281482" y="1789360"/>
          <a:ext cx="5812066" cy="1708535"/>
        </p:xfrm>
        <a:graphic>
          <a:graphicData uri="http://schemas.openxmlformats.org/drawingml/2006/table">
            <a:tbl>
              <a:tblPr/>
              <a:tblGrid>
                <a:gridCol w="437298">
                  <a:extLst>
                    <a:ext uri="{9D8B030D-6E8A-4147-A177-3AD203B41FA5}">
                      <a16:colId xmlns:a16="http://schemas.microsoft.com/office/drawing/2014/main" val="495084399"/>
                    </a:ext>
                  </a:extLst>
                </a:gridCol>
                <a:gridCol w="232343">
                  <a:extLst>
                    <a:ext uri="{9D8B030D-6E8A-4147-A177-3AD203B41FA5}">
                      <a16:colId xmlns:a16="http://schemas.microsoft.com/office/drawing/2014/main" val="3614210242"/>
                    </a:ext>
                  </a:extLst>
                </a:gridCol>
                <a:gridCol w="568953">
                  <a:extLst>
                    <a:ext uri="{9D8B030D-6E8A-4147-A177-3AD203B41FA5}">
                      <a16:colId xmlns:a16="http://schemas.microsoft.com/office/drawing/2014/main" val="1442124609"/>
                    </a:ext>
                  </a:extLst>
                </a:gridCol>
                <a:gridCol w="1837164">
                  <a:extLst>
                    <a:ext uri="{9D8B030D-6E8A-4147-A177-3AD203B41FA5}">
                      <a16:colId xmlns:a16="http://schemas.microsoft.com/office/drawing/2014/main" val="3603859997"/>
                    </a:ext>
                  </a:extLst>
                </a:gridCol>
                <a:gridCol w="396392">
                  <a:extLst>
                    <a:ext uri="{9D8B030D-6E8A-4147-A177-3AD203B41FA5}">
                      <a16:colId xmlns:a16="http://schemas.microsoft.com/office/drawing/2014/main" val="4076488391"/>
                    </a:ext>
                  </a:extLst>
                </a:gridCol>
                <a:gridCol w="413486">
                  <a:extLst>
                    <a:ext uri="{9D8B030D-6E8A-4147-A177-3AD203B41FA5}">
                      <a16:colId xmlns:a16="http://schemas.microsoft.com/office/drawing/2014/main" val="3254101706"/>
                    </a:ext>
                  </a:extLst>
                </a:gridCol>
                <a:gridCol w="367334">
                  <a:extLst>
                    <a:ext uri="{9D8B030D-6E8A-4147-A177-3AD203B41FA5}">
                      <a16:colId xmlns:a16="http://schemas.microsoft.com/office/drawing/2014/main" val="3712391277"/>
                    </a:ext>
                  </a:extLst>
                </a:gridCol>
                <a:gridCol w="381736">
                  <a:extLst>
                    <a:ext uri="{9D8B030D-6E8A-4147-A177-3AD203B41FA5}">
                      <a16:colId xmlns:a16="http://schemas.microsoft.com/office/drawing/2014/main" val="1872140390"/>
                    </a:ext>
                  </a:extLst>
                </a:gridCol>
                <a:gridCol w="256102">
                  <a:extLst>
                    <a:ext uri="{9D8B030D-6E8A-4147-A177-3AD203B41FA5}">
                      <a16:colId xmlns:a16="http://schemas.microsoft.com/office/drawing/2014/main" val="2527660299"/>
                    </a:ext>
                  </a:extLst>
                </a:gridCol>
                <a:gridCol w="385530">
                  <a:extLst>
                    <a:ext uri="{9D8B030D-6E8A-4147-A177-3AD203B41FA5}">
                      <a16:colId xmlns:a16="http://schemas.microsoft.com/office/drawing/2014/main" val="3641075278"/>
                    </a:ext>
                  </a:extLst>
                </a:gridCol>
                <a:gridCol w="535728">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Semi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At the beginning of semi year</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0" name="表格 9">
            <a:extLst>
              <a:ext uri="{FF2B5EF4-FFF2-40B4-BE49-F238E27FC236}">
                <a16:creationId xmlns:a16="http://schemas.microsoft.com/office/drawing/2014/main" id="{D0CA854C-14C8-02F2-91E9-C0E093BF43B9}"/>
              </a:ext>
            </a:extLst>
          </p:cNvPr>
          <p:cNvGraphicFramePr>
            <a:graphicFrameLocks noGrp="1"/>
          </p:cNvGraphicFramePr>
          <p:nvPr>
            <p:extLst>
              <p:ext uri="{D42A27DB-BD31-4B8C-83A1-F6EECF244321}">
                <p14:modId xmlns:p14="http://schemas.microsoft.com/office/powerpoint/2010/main" val="1617193519"/>
              </p:ext>
            </p:extLst>
          </p:nvPr>
        </p:nvGraphicFramePr>
        <p:xfrm>
          <a:off x="52350" y="1784923"/>
          <a:ext cx="6179359" cy="1708535"/>
        </p:xfrm>
        <a:graphic>
          <a:graphicData uri="http://schemas.openxmlformats.org/drawingml/2006/table">
            <a:tbl>
              <a:tblPr/>
              <a:tblGrid>
                <a:gridCol w="428176">
                  <a:extLst>
                    <a:ext uri="{9D8B030D-6E8A-4147-A177-3AD203B41FA5}">
                      <a16:colId xmlns:a16="http://schemas.microsoft.com/office/drawing/2014/main" val="495084399"/>
                    </a:ext>
                  </a:extLst>
                </a:gridCol>
                <a:gridCol w="235432">
                  <a:extLst>
                    <a:ext uri="{9D8B030D-6E8A-4147-A177-3AD203B41FA5}">
                      <a16:colId xmlns:a16="http://schemas.microsoft.com/office/drawing/2014/main" val="3614210242"/>
                    </a:ext>
                  </a:extLst>
                </a:gridCol>
                <a:gridCol w="560299">
                  <a:extLst>
                    <a:ext uri="{9D8B030D-6E8A-4147-A177-3AD203B41FA5}">
                      <a16:colId xmlns:a16="http://schemas.microsoft.com/office/drawing/2014/main" val="1442124609"/>
                    </a:ext>
                  </a:extLst>
                </a:gridCol>
                <a:gridCol w="2036603">
                  <a:extLst>
                    <a:ext uri="{9D8B030D-6E8A-4147-A177-3AD203B41FA5}">
                      <a16:colId xmlns:a16="http://schemas.microsoft.com/office/drawing/2014/main" val="3603859997"/>
                    </a:ext>
                  </a:extLst>
                </a:gridCol>
                <a:gridCol w="397088">
                  <a:extLst>
                    <a:ext uri="{9D8B030D-6E8A-4147-A177-3AD203B41FA5}">
                      <a16:colId xmlns:a16="http://schemas.microsoft.com/office/drawing/2014/main" val="4076488391"/>
                    </a:ext>
                  </a:extLst>
                </a:gridCol>
                <a:gridCol w="404860">
                  <a:extLst>
                    <a:ext uri="{9D8B030D-6E8A-4147-A177-3AD203B41FA5}">
                      <a16:colId xmlns:a16="http://schemas.microsoft.com/office/drawing/2014/main" val="3254101706"/>
                    </a:ext>
                  </a:extLst>
                </a:gridCol>
                <a:gridCol w="257946">
                  <a:extLst>
                    <a:ext uri="{9D8B030D-6E8A-4147-A177-3AD203B41FA5}">
                      <a16:colId xmlns:a16="http://schemas.microsoft.com/office/drawing/2014/main" val="3712391277"/>
                    </a:ext>
                  </a:extLst>
                </a:gridCol>
                <a:gridCol w="578951">
                  <a:extLst>
                    <a:ext uri="{9D8B030D-6E8A-4147-A177-3AD203B41FA5}">
                      <a16:colId xmlns:a16="http://schemas.microsoft.com/office/drawing/2014/main" val="134131131"/>
                    </a:ext>
                  </a:extLst>
                </a:gridCol>
                <a:gridCol w="426186">
                  <a:extLst>
                    <a:ext uri="{9D8B030D-6E8A-4147-A177-3AD203B41FA5}">
                      <a16:colId xmlns:a16="http://schemas.microsoft.com/office/drawing/2014/main" val="2527660299"/>
                    </a:ext>
                  </a:extLst>
                </a:gridCol>
                <a:gridCol w="364150">
                  <a:extLst>
                    <a:ext uri="{9D8B030D-6E8A-4147-A177-3AD203B41FA5}">
                      <a16:colId xmlns:a16="http://schemas.microsoft.com/office/drawing/2014/main" val="3641075278"/>
                    </a:ext>
                  </a:extLst>
                </a:gridCol>
                <a:gridCol w="489668">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t>
                      </a:r>
                      <a:r>
                        <a:rPr lang="en-US" altLang="zh-CN" sz="800" b="1" i="0" u="none" strike="noStrike">
                          <a:solidFill>
                            <a:srgbClr val="FFFFFF"/>
                          </a:solidFill>
                          <a:effectLst/>
                          <a:latin typeface="Arial" panose="020B0604020202020204" pitchFamily="34" charset="0"/>
                        </a:rPr>
                        <a:t>emi </a:t>
                      </a:r>
                      <a:r>
                        <a:rPr lang="en-US" sz="800" b="1" i="0" u="none" strike="noStrike">
                          <a:solidFill>
                            <a:srgbClr val="FFFFFF"/>
                          </a:solidFill>
                          <a:effectLst/>
                          <a:latin typeface="Arial" panose="020B0604020202020204" pitchFamily="34" charset="0"/>
                        </a:rPr>
                        <a:t>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At the beginning of semi year</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A8DEC6D4-44F9-7AEB-7494-1F19794E9533}"/>
              </a:ext>
            </a:extLst>
          </p:cNvPr>
          <p:cNvGraphicFramePr>
            <a:graphicFrameLocks noGrp="1"/>
          </p:cNvGraphicFramePr>
          <p:nvPr>
            <p:extLst>
              <p:ext uri="{D42A27DB-BD31-4B8C-83A1-F6EECF244321}">
                <p14:modId xmlns:p14="http://schemas.microsoft.com/office/powerpoint/2010/main" val="646933424"/>
              </p:ext>
            </p:extLst>
          </p:nvPr>
        </p:nvGraphicFramePr>
        <p:xfrm>
          <a:off x="96746" y="4095161"/>
          <a:ext cx="6127922" cy="1704154"/>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426186">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5772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semi year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chemeClr val="tx1"/>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1" name="表格 10">
            <a:extLst>
              <a:ext uri="{FF2B5EF4-FFF2-40B4-BE49-F238E27FC236}">
                <a16:creationId xmlns:a16="http://schemas.microsoft.com/office/drawing/2014/main" id="{843AB29B-D612-8B41-909B-1CDE8883880D}"/>
              </a:ext>
            </a:extLst>
          </p:cNvPr>
          <p:cNvGraphicFramePr>
            <a:graphicFrameLocks noGrp="1"/>
          </p:cNvGraphicFramePr>
          <p:nvPr>
            <p:extLst>
              <p:ext uri="{D42A27DB-BD31-4B8C-83A1-F6EECF244321}">
                <p14:modId xmlns:p14="http://schemas.microsoft.com/office/powerpoint/2010/main" val="2750357705"/>
              </p:ext>
            </p:extLst>
          </p:nvPr>
        </p:nvGraphicFramePr>
        <p:xfrm>
          <a:off x="6283380" y="3823153"/>
          <a:ext cx="5870650"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11350">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semi year​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81641756"/>
                  </a:ext>
                </a:extLst>
              </a:tr>
            </a:tbl>
          </a:graphicData>
        </a:graphic>
      </p:graphicFrame>
      <p:sp>
        <p:nvSpPr>
          <p:cNvPr id="3" name="对话气泡: 矩形 2">
            <a:extLst>
              <a:ext uri="{FF2B5EF4-FFF2-40B4-BE49-F238E27FC236}">
                <a16:creationId xmlns:a16="http://schemas.microsoft.com/office/drawing/2014/main" id="{E12539FA-CDB8-B1D0-5966-B325D0B36C6B}"/>
              </a:ext>
            </a:extLst>
          </p:cNvPr>
          <p:cNvSpPr/>
          <p:nvPr/>
        </p:nvSpPr>
        <p:spPr>
          <a:xfrm>
            <a:off x="-1913860" y="4912665"/>
            <a:ext cx="1837190" cy="1479268"/>
          </a:xfrm>
          <a:prstGeom prst="wedgeRectCallout">
            <a:avLst>
              <a:gd name="adj1" fmla="val 61150"/>
              <a:gd name="adj2" fmla="val -3541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following month of the semi year, S&amp;D recognize the same entry as the 1</a:t>
            </a:r>
            <a:r>
              <a:rPr lang="en-US" altLang="zh-CN" sz="1200" baseline="30000">
                <a:solidFill>
                  <a:schemeClr val="tx1"/>
                </a:solidFill>
              </a:rPr>
              <a:t>st</a:t>
            </a:r>
            <a:r>
              <a:rPr lang="en-US" altLang="zh-CN" sz="1200">
                <a:solidFill>
                  <a:schemeClr val="tx1"/>
                </a:solidFill>
              </a:rPr>
              <a:t> month </a:t>
            </a:r>
            <a:endParaRPr lang="zh-CN" altLang="en-US" sz="1200">
              <a:solidFill>
                <a:schemeClr val="tx1"/>
              </a:solidFill>
            </a:endParaRPr>
          </a:p>
          <a:p>
            <a:pPr algn="ctr"/>
            <a:endParaRPr lang="zh-CN" altLang="en-US" sz="1200">
              <a:solidFill>
                <a:schemeClr val="tx1"/>
              </a:solidFill>
            </a:endParaRPr>
          </a:p>
        </p:txBody>
      </p:sp>
    </p:spTree>
    <p:extLst>
      <p:ext uri="{BB962C8B-B14F-4D97-AF65-F5344CB8AC3E}">
        <p14:creationId xmlns:p14="http://schemas.microsoft.com/office/powerpoint/2010/main" val="91707567"/>
      </p:ext>
    </p:extLst>
  </p:cSld>
  <p:clrMapOvr>
    <a:masterClrMapping/>
  </p:clrMapOvr>
  <p:extLst>
    <p:ext uri="{6950BFC3-D8DA-4A85-94F7-54DA5524770B}">
      <p188:commentRel xmlns:p188="http://schemas.microsoft.com/office/powerpoint/2018/8/main" r:id="rId3"/>
    </p:ext>
  </p:extLs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D89EE1-6B85-6D2D-EE2F-1C5B3EB54886}"/>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E9C1A09B-7590-961E-2965-849C4CD9DB75}"/>
              </a:ext>
            </a:extLst>
          </p:cNvPr>
          <p:cNvSpPr txBox="1">
            <a:spLocks/>
          </p:cNvSpPr>
          <p:nvPr/>
        </p:nvSpPr>
        <p:spPr>
          <a:xfrm>
            <a:off x="159793" y="69669"/>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Aptos Display" panose="020F0302020204030204"/>
                <a:ea typeface="+mj-ea"/>
                <a:cs typeface="+mj-cs"/>
              </a:rPr>
              <a:t>Key Scope and Assumption in </a:t>
            </a:r>
            <a:r>
              <a:rPr kumimoji="0" lang="en-US" sz="2800" b="1" i="0" u="none" strike="noStrike" kern="1200" cap="none" spc="0" normalizeH="0" baseline="0" noProof="0" err="1">
                <a:ln>
                  <a:noFill/>
                </a:ln>
                <a:solidFill>
                  <a:prstClr val="black"/>
                </a:solidFill>
                <a:effectLst/>
                <a:uLnTx/>
                <a:uFillTx/>
                <a:latin typeface="Aptos Display" panose="020F0302020204030204"/>
                <a:ea typeface="+mj-ea"/>
                <a:cs typeface="+mj-cs"/>
              </a:rPr>
              <a:t>Nexbill</a:t>
            </a:r>
            <a:endParaRPr kumimoji="0" lang="en-US" sz="3600" b="1" i="0" u="none" strike="noStrike" kern="1200" cap="none" spc="0" normalizeH="0" baseline="0" noProof="0">
              <a:ln>
                <a:noFill/>
              </a:ln>
              <a:solidFill>
                <a:prstClr val="black"/>
              </a:solidFill>
              <a:effectLst/>
              <a:uLnTx/>
              <a:uFillTx/>
              <a:latin typeface="Aptos Display" panose="020F0302020204030204"/>
              <a:ea typeface="+mj-ea"/>
              <a:cs typeface="+mj-cs"/>
            </a:endParaRPr>
          </a:p>
        </p:txBody>
      </p:sp>
      <p:graphicFrame>
        <p:nvGraphicFramePr>
          <p:cNvPr id="5" name="Table 5">
            <a:extLst>
              <a:ext uri="{FF2B5EF4-FFF2-40B4-BE49-F238E27FC236}">
                <a16:creationId xmlns:a16="http://schemas.microsoft.com/office/drawing/2014/main" id="{EED4C785-931A-A5AD-0779-A6301764394F}"/>
              </a:ext>
            </a:extLst>
          </p:cNvPr>
          <p:cNvGraphicFramePr>
            <a:graphicFrameLocks noGrp="1"/>
          </p:cNvGraphicFramePr>
          <p:nvPr>
            <p:extLst>
              <p:ext uri="{D42A27DB-BD31-4B8C-83A1-F6EECF244321}">
                <p14:modId xmlns:p14="http://schemas.microsoft.com/office/powerpoint/2010/main" val="2403282193"/>
              </p:ext>
            </p:extLst>
          </p:nvPr>
        </p:nvGraphicFramePr>
        <p:xfrm>
          <a:off x="4137137" y="900203"/>
          <a:ext cx="7685611" cy="2244737"/>
        </p:xfrm>
        <a:graphic>
          <a:graphicData uri="http://schemas.openxmlformats.org/drawingml/2006/table">
            <a:tbl>
              <a:tblPr firstRow="1" bandRow="1">
                <a:tableStyleId>{5C22544A-7EE6-4342-B048-85BDC9FD1C3A}</a:tableStyleId>
              </a:tblPr>
              <a:tblGrid>
                <a:gridCol w="449580">
                  <a:extLst>
                    <a:ext uri="{9D8B030D-6E8A-4147-A177-3AD203B41FA5}">
                      <a16:colId xmlns:a16="http://schemas.microsoft.com/office/drawing/2014/main" val="590487580"/>
                    </a:ext>
                  </a:extLst>
                </a:gridCol>
                <a:gridCol w="1183831">
                  <a:extLst>
                    <a:ext uri="{9D8B030D-6E8A-4147-A177-3AD203B41FA5}">
                      <a16:colId xmlns:a16="http://schemas.microsoft.com/office/drawing/2014/main" val="3195040165"/>
                    </a:ext>
                  </a:extLst>
                </a:gridCol>
                <a:gridCol w="6052200">
                  <a:extLst>
                    <a:ext uri="{9D8B030D-6E8A-4147-A177-3AD203B41FA5}">
                      <a16:colId xmlns:a16="http://schemas.microsoft.com/office/drawing/2014/main" val="3020975192"/>
                    </a:ext>
                  </a:extLst>
                </a:gridCol>
              </a:tblGrid>
              <a:tr h="224629">
                <a:tc>
                  <a:txBody>
                    <a:bodyPr/>
                    <a:lstStyle/>
                    <a:p>
                      <a:pPr algn="ctr"/>
                      <a:r>
                        <a:rPr lang="en-US" sz="1200"/>
                        <a:t>No</a:t>
                      </a:r>
                    </a:p>
                  </a:txBody>
                  <a:tcPr anchor="ctr"/>
                </a:tc>
                <a:tc>
                  <a:txBody>
                    <a:bodyPr/>
                    <a:lstStyle/>
                    <a:p>
                      <a:r>
                        <a:rPr lang="en-US" sz="1200"/>
                        <a:t>C</a:t>
                      </a:r>
                      <a:r>
                        <a:rPr lang="en-US" altLang="zh-CN" sz="1200"/>
                        <a:t>ategory</a:t>
                      </a:r>
                      <a:endParaRPr lang="en-US" sz="1200"/>
                    </a:p>
                  </a:txBody>
                  <a:tcPr anchor="ctr"/>
                </a:tc>
                <a:tc>
                  <a:txBody>
                    <a:bodyPr/>
                    <a:lstStyle/>
                    <a:p>
                      <a:r>
                        <a:rPr lang="en-US" sz="1200"/>
                        <a:t>Description</a:t>
                      </a:r>
                    </a:p>
                  </a:txBody>
                  <a:tcPr anchor="ctr"/>
                </a:tc>
                <a:extLst>
                  <a:ext uri="{0D108BD9-81ED-4DB2-BD59-A6C34878D82A}">
                    <a16:rowId xmlns:a16="http://schemas.microsoft.com/office/drawing/2014/main" val="3093137312"/>
                  </a:ext>
                </a:extLst>
              </a:tr>
              <a:tr h="282159">
                <a:tc>
                  <a:txBody>
                    <a:bodyPr/>
                    <a:lstStyle/>
                    <a:p>
                      <a:pPr algn="ctr"/>
                      <a:r>
                        <a:rPr lang="en-US" sz="1200"/>
                        <a:t>1</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All assumptions from the as-is scenario BSR session shall be followed.</a:t>
                      </a:r>
                    </a:p>
                  </a:txBody>
                  <a:tcPr anchor="ctr"/>
                </a:tc>
                <a:extLst>
                  <a:ext uri="{0D108BD9-81ED-4DB2-BD59-A6C34878D82A}">
                    <a16:rowId xmlns:a16="http://schemas.microsoft.com/office/drawing/2014/main" val="3200209679"/>
                  </a:ext>
                </a:extLst>
              </a:tr>
              <a:tr h="262097">
                <a:tc>
                  <a:txBody>
                    <a:bodyPr/>
                    <a:lstStyle/>
                    <a:p>
                      <a:pPr algn="ctr"/>
                      <a:r>
                        <a:rPr lang="en-US" sz="1200"/>
                        <a:t>2</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Assumption </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Interim Billing will be issued </a:t>
                      </a:r>
                      <a:r>
                        <a:rPr lang="en-US" altLang="zh-CN" sz="1200" b="1"/>
                        <a:t>only for quarterly/semi-yearly/yearly tranche</a:t>
                      </a:r>
                    </a:p>
                  </a:txBody>
                  <a:tcPr anchor="ctr"/>
                </a:tc>
                <a:extLst>
                  <a:ext uri="{0D108BD9-81ED-4DB2-BD59-A6C34878D82A}">
                    <a16:rowId xmlns:a16="http://schemas.microsoft.com/office/drawing/2014/main" val="1982719716"/>
                  </a:ext>
                </a:extLst>
              </a:tr>
              <a:tr h="262675">
                <a:tc>
                  <a:txBody>
                    <a:bodyPr/>
                    <a:lstStyle/>
                    <a:p>
                      <a:pPr algn="ctr"/>
                      <a:r>
                        <a:rPr lang="en-US" sz="1200"/>
                        <a:t>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Assumption </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Interim billing will be charged combined into recurring invoice or separately issued. </a:t>
                      </a:r>
                    </a:p>
                  </a:txBody>
                  <a:tcPr anchor="ctr"/>
                </a:tc>
                <a:extLst>
                  <a:ext uri="{0D108BD9-81ED-4DB2-BD59-A6C34878D82A}">
                    <a16:rowId xmlns:a16="http://schemas.microsoft.com/office/drawing/2014/main" val="4167093554"/>
                  </a:ext>
                </a:extLst>
              </a:tr>
              <a:tr h="262675">
                <a:tc>
                  <a:txBody>
                    <a:bodyPr/>
                    <a:lstStyle/>
                    <a:p>
                      <a:pPr algn="ctr"/>
                      <a:r>
                        <a:rPr lang="en-US" sz="1200"/>
                        <a:t>4</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Assumption </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Interim billing issue date is same with first recurring billing.</a:t>
                      </a:r>
                    </a:p>
                  </a:txBody>
                  <a:tcPr anchor="ctr"/>
                </a:tc>
                <a:extLst>
                  <a:ext uri="{0D108BD9-81ED-4DB2-BD59-A6C34878D82A}">
                    <a16:rowId xmlns:a16="http://schemas.microsoft.com/office/drawing/2014/main" val="1141260296"/>
                  </a:ext>
                </a:extLst>
              </a:tr>
              <a:tr h="590978">
                <a:tc>
                  <a:txBody>
                    <a:bodyPr/>
                    <a:lstStyle/>
                    <a:p>
                      <a:pPr algn="ctr"/>
                      <a:r>
                        <a:rPr lang="en-US" sz="1200"/>
                        <a:t>5</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Interim period will not be considered to increasing leasing term</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Interim charge will be booked in the first billing month</a:t>
                      </a:r>
                    </a:p>
                  </a:txBody>
                  <a:tcPr anchor="ctr"/>
                </a:tc>
                <a:extLst>
                  <a:ext uri="{0D108BD9-81ED-4DB2-BD59-A6C34878D82A}">
                    <a16:rowId xmlns:a16="http://schemas.microsoft.com/office/drawing/2014/main" val="980566545"/>
                  </a:ext>
                </a:extLst>
              </a:tr>
              <a:tr h="198120">
                <a:tc>
                  <a:txBody>
                    <a:bodyPr/>
                    <a:lstStyle/>
                    <a:p>
                      <a:pPr algn="ctr"/>
                      <a:r>
                        <a:rPr lang="en-US" sz="1200"/>
                        <a:t>6</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a:solidFill>
                            <a:schemeClr val="tx1"/>
                          </a:solidFill>
                        </a:rPr>
                        <a:t>Subscription order will show this change event -interim charge </a:t>
                      </a:r>
                    </a:p>
                  </a:txBody>
                  <a:tcPr anchor="ctr"/>
                </a:tc>
                <a:extLst>
                  <a:ext uri="{0D108BD9-81ED-4DB2-BD59-A6C34878D82A}">
                    <a16:rowId xmlns:a16="http://schemas.microsoft.com/office/drawing/2014/main" val="1490967263"/>
                  </a:ext>
                </a:extLst>
              </a:tr>
            </a:tbl>
          </a:graphicData>
        </a:graphic>
      </p:graphicFrame>
      <p:sp>
        <p:nvSpPr>
          <p:cNvPr id="7" name="文本框 6">
            <a:extLst>
              <a:ext uri="{FF2B5EF4-FFF2-40B4-BE49-F238E27FC236}">
                <a16:creationId xmlns:a16="http://schemas.microsoft.com/office/drawing/2014/main" id="{AAF6A5A0-CC35-E1A5-45FA-71609D156224}"/>
              </a:ext>
            </a:extLst>
          </p:cNvPr>
          <p:cNvSpPr txBox="1"/>
          <p:nvPr/>
        </p:nvSpPr>
        <p:spPr>
          <a:xfrm>
            <a:off x="268618" y="3895537"/>
            <a:ext cx="11813132" cy="2608406"/>
          </a:xfrm>
          <a:prstGeom prst="rect">
            <a:avLst/>
          </a:prstGeom>
          <a:noFill/>
        </p:spPr>
        <p:txBody>
          <a:bodyPr wrap="square" rtlCol="0">
            <a:spAutoFit/>
          </a:bodyPr>
          <a:lstStyle/>
          <a:p>
            <a:r>
              <a:rPr lang="en-US" altLang="zh-CN" sz="1200" b="1">
                <a:latin typeface="Lato" panose="020F0502020204030203" pitchFamily="34" charset="0"/>
                <a:ea typeface="Lato" panose="020F0502020204030203" pitchFamily="34" charset="0"/>
                <a:cs typeface="Lato" panose="020F0502020204030203" pitchFamily="34" charset="0"/>
              </a:rPr>
              <a:t>Introduction-Interim Charge in Leasing</a:t>
            </a:r>
          </a:p>
          <a:p>
            <a:r>
              <a:rPr lang="en-US" sz="1050">
                <a:latin typeface="Lato" panose="020F0502020204030203" pitchFamily="34" charset="0"/>
                <a:ea typeface="Lato" panose="020F0502020204030203" pitchFamily="34" charset="0"/>
                <a:cs typeface="Lato" panose="020F0502020204030203" pitchFamily="34" charset="0"/>
              </a:rPr>
              <a:t>Interim Billing refers to a one off charge for a partial period between the commencement of charging for the asset (Typically at Acceptance) and the first regular invoicing period. </a:t>
            </a:r>
          </a:p>
          <a:p>
            <a:endParaRPr lang="en-US" sz="1050">
              <a:latin typeface="Lato" panose="020F0502020204030203" pitchFamily="34" charset="0"/>
              <a:ea typeface="Lato" panose="020F0502020204030203" pitchFamily="34" charset="0"/>
              <a:cs typeface="Lato" panose="020F0502020204030203" pitchFamily="34" charset="0"/>
            </a:endParaRPr>
          </a:p>
          <a:p>
            <a:r>
              <a:rPr lang="en-US" sz="1050">
                <a:latin typeface="Lato" panose="020F0502020204030203" pitchFamily="34" charset="0"/>
                <a:ea typeface="Lato" panose="020F0502020204030203" pitchFamily="34" charset="0"/>
                <a:cs typeface="Lato" panose="020F0502020204030203" pitchFamily="34" charset="0"/>
              </a:rPr>
              <a:t>It typically pertains to quarterly payment cycles where each period starts on either 01 Jan, 01 Apr, 01 Jul or 01 Oct. It can be calculated in one of two ways:</a:t>
            </a:r>
          </a:p>
          <a:p>
            <a:pPr marL="171450" indent="-171450">
              <a:buFont typeface="Arial" panose="020B0604020202020204" pitchFamily="34" charset="0"/>
              <a:buChar char="•"/>
            </a:pPr>
            <a:r>
              <a:rPr lang="en-US" sz="1050" b="1">
                <a:latin typeface="Lato" panose="020F0502020204030203" pitchFamily="34" charset="0"/>
                <a:ea typeface="Lato" panose="020F0502020204030203" pitchFamily="34" charset="0"/>
                <a:cs typeface="Lato" panose="020F0502020204030203" pitchFamily="34" charset="0"/>
              </a:rPr>
              <a:t>Estimated</a:t>
            </a:r>
            <a:r>
              <a:rPr lang="en-US" sz="1050">
                <a:latin typeface="Lato" panose="020F0502020204030203" pitchFamily="34" charset="0"/>
                <a:ea typeface="Lato" panose="020F0502020204030203" pitchFamily="34" charset="0"/>
                <a:cs typeface="Lato" panose="020F0502020204030203" pitchFamily="34" charset="0"/>
              </a:rPr>
              <a:t> - An agreement is made that interim is set at an agreed number of days for each tranche. E.g.  45 days for quarterly payments (default approach)</a:t>
            </a:r>
          </a:p>
          <a:p>
            <a:pPr marL="171450" indent="-171450">
              <a:buFont typeface="Arial" panose="020B0604020202020204" pitchFamily="34" charset="0"/>
              <a:buChar char="•"/>
            </a:pPr>
            <a:r>
              <a:rPr lang="en-US" sz="1050" b="1">
                <a:latin typeface="Lato" panose="020F0502020204030203" pitchFamily="34" charset="0"/>
                <a:ea typeface="Lato" panose="020F0502020204030203" pitchFamily="34" charset="0"/>
                <a:cs typeface="Lato" panose="020F0502020204030203" pitchFamily="34" charset="0"/>
              </a:rPr>
              <a:t>Actual</a:t>
            </a:r>
            <a:r>
              <a:rPr lang="en-US" sz="1050">
                <a:latin typeface="Lato" panose="020F0502020204030203" pitchFamily="34" charset="0"/>
                <a:ea typeface="Lato" panose="020F0502020204030203" pitchFamily="34" charset="0"/>
                <a:cs typeface="Lato" panose="020F0502020204030203" pitchFamily="34" charset="0"/>
              </a:rPr>
              <a:t> - Interim is calculated Acceptance by Acceptance being the X/90 * quarterly payments associated with those assets. Where X is the number of days from acceptance to the start of the regular periodic payments'</a:t>
            </a:r>
          </a:p>
          <a:p>
            <a:endParaRPr lang="en-US" altLang="zh-CN" sz="1200">
              <a:latin typeface="Lato" panose="020F0502020204030203" pitchFamily="34" charset="0"/>
              <a:ea typeface="Lato" panose="020F0502020204030203" pitchFamily="34" charset="0"/>
              <a:cs typeface="Lato" panose="020F0502020204030203" pitchFamily="34" charset="0"/>
            </a:endParaRPr>
          </a:p>
          <a:p>
            <a:r>
              <a:rPr lang="en-US" altLang="zh-CN" sz="1200" b="1">
                <a:latin typeface="Lato" panose="020F0502020204030203" pitchFamily="34" charset="0"/>
                <a:ea typeface="Lato" panose="020F0502020204030203" pitchFamily="34" charset="0"/>
                <a:cs typeface="Lato" panose="020F0502020204030203" pitchFamily="34" charset="0"/>
              </a:rPr>
              <a:t>Interim charges typically arise in scenarios such as:</a:t>
            </a:r>
          </a:p>
          <a:p>
            <a:pPr marL="171450" indent="-171450">
              <a:buFont typeface="Arial" panose="020B0604020202020204" pitchFamily="34" charset="0"/>
              <a:buChar char="•"/>
            </a:pPr>
            <a:r>
              <a:rPr lang="en-US" altLang="zh-CN" sz="1050" b="1">
                <a:latin typeface="Lato" panose="020F0502020204030203" pitchFamily="34" charset="0"/>
                <a:ea typeface="Lato" panose="020F0502020204030203" pitchFamily="34" charset="0"/>
                <a:cs typeface="Lato" panose="020F0502020204030203" pitchFamily="34" charset="0"/>
              </a:rPr>
              <a:t>Early access to the asset before the first regular rental period starts (our case focus)</a:t>
            </a:r>
          </a:p>
          <a:p>
            <a:pPr marL="171450" indent="-171450">
              <a:buFont typeface="Arial" panose="020B0604020202020204" pitchFamily="34" charset="0"/>
              <a:buChar char="•"/>
            </a:pPr>
            <a:r>
              <a:rPr lang="en-US" altLang="zh-CN" sz="1050">
                <a:latin typeface="Lato" panose="020F0502020204030203" pitchFamily="34" charset="0"/>
                <a:ea typeface="Lato" panose="020F0502020204030203" pitchFamily="34" charset="0"/>
                <a:cs typeface="Lato" panose="020F0502020204030203" pitchFamily="34" charset="0"/>
              </a:rPr>
              <a:t>Partial-period usage due to a mid-cycle commencement or early termination</a:t>
            </a:r>
          </a:p>
          <a:p>
            <a:pPr marL="171450" indent="-171450">
              <a:buFont typeface="Arial" panose="020B0604020202020204" pitchFamily="34" charset="0"/>
              <a:buChar char="•"/>
            </a:pPr>
            <a:r>
              <a:rPr lang="en-US" altLang="zh-CN" sz="1050">
                <a:latin typeface="Lato" panose="020F0502020204030203" pitchFamily="34" charset="0"/>
                <a:ea typeface="Lato" panose="020F0502020204030203" pitchFamily="34" charset="0"/>
                <a:cs typeface="Lato" panose="020F0502020204030203" pitchFamily="34" charset="0"/>
              </a:rPr>
              <a:t>Transitional periods between lease restructurings, extensions, or mid-term rewrites</a:t>
            </a:r>
          </a:p>
          <a:p>
            <a:pPr marL="171450" indent="-171450">
              <a:buFont typeface="Arial" panose="020B0604020202020204" pitchFamily="34" charset="0"/>
              <a:buChar char="•"/>
            </a:pPr>
            <a:r>
              <a:rPr lang="en-US" altLang="zh-CN" sz="1050">
                <a:latin typeface="Lato" panose="020F0502020204030203" pitchFamily="34" charset="0"/>
                <a:ea typeface="Lato" panose="020F0502020204030203" pitchFamily="34" charset="0"/>
                <a:cs typeface="Lato" panose="020F0502020204030203" pitchFamily="34" charset="0"/>
              </a:rPr>
              <a:t>Pro-rata rent for a period shorter than the standard payment frequency (monthly/quarterly)</a:t>
            </a:r>
          </a:p>
          <a:p>
            <a:endParaRPr lang="en-US" altLang="zh-CN" sz="1200">
              <a:latin typeface="Lato" panose="020F0502020204030203" pitchFamily="34" charset="0"/>
              <a:ea typeface="Lato" panose="020F0502020204030203" pitchFamily="34" charset="0"/>
              <a:cs typeface="Lato" panose="020F0502020204030203" pitchFamily="34" charset="0"/>
            </a:endParaRPr>
          </a:p>
          <a:p>
            <a:r>
              <a:rPr lang="en-US" altLang="zh-CN" sz="1050">
                <a:latin typeface="Lato" panose="020F0502020204030203" pitchFamily="34" charset="0"/>
                <a:ea typeface="Lato" panose="020F0502020204030203" pitchFamily="34" charset="0"/>
                <a:cs typeface="Lato" panose="020F0502020204030203" pitchFamily="34" charset="0"/>
              </a:rPr>
              <a:t>As part of the total lease consideration, interim charges are generally recognized on a time proportion basis and do not alter the fundamental classification or structure of the original lease.</a:t>
            </a:r>
          </a:p>
        </p:txBody>
      </p:sp>
      <p:graphicFrame>
        <p:nvGraphicFramePr>
          <p:cNvPr id="9" name="表格 8">
            <a:extLst>
              <a:ext uri="{FF2B5EF4-FFF2-40B4-BE49-F238E27FC236}">
                <a16:creationId xmlns:a16="http://schemas.microsoft.com/office/drawing/2014/main" id="{4EE6AAAA-0EFF-0D5F-D4E8-36C99DCEE35C}"/>
              </a:ext>
            </a:extLst>
          </p:cNvPr>
          <p:cNvGraphicFramePr>
            <a:graphicFrameLocks noGrp="1"/>
          </p:cNvGraphicFramePr>
          <p:nvPr>
            <p:extLst>
              <p:ext uri="{D42A27DB-BD31-4B8C-83A1-F6EECF244321}">
                <p14:modId xmlns:p14="http://schemas.microsoft.com/office/powerpoint/2010/main" val="3779857860"/>
              </p:ext>
            </p:extLst>
          </p:nvPr>
        </p:nvGraphicFramePr>
        <p:xfrm>
          <a:off x="268618" y="900203"/>
          <a:ext cx="3428739" cy="2062260"/>
        </p:xfrm>
        <a:graphic>
          <a:graphicData uri="http://schemas.openxmlformats.org/drawingml/2006/table">
            <a:tbl>
              <a:tblPr firstRow="1">
                <a:tableStyleId>{7DF18680-E054-41AD-8BC1-D1AEF772440D}</a:tableStyleId>
              </a:tblPr>
              <a:tblGrid>
                <a:gridCol w="1357716">
                  <a:extLst>
                    <a:ext uri="{9D8B030D-6E8A-4147-A177-3AD203B41FA5}">
                      <a16:colId xmlns:a16="http://schemas.microsoft.com/office/drawing/2014/main" val="1053763652"/>
                    </a:ext>
                  </a:extLst>
                </a:gridCol>
                <a:gridCol w="2071023">
                  <a:extLst>
                    <a:ext uri="{9D8B030D-6E8A-4147-A177-3AD203B41FA5}">
                      <a16:colId xmlns:a16="http://schemas.microsoft.com/office/drawing/2014/main" val="2673544522"/>
                    </a:ext>
                  </a:extLst>
                </a:gridCol>
              </a:tblGrid>
              <a:tr h="325223">
                <a:tc>
                  <a:txBody>
                    <a:bodyPr/>
                    <a:lstStyle/>
                    <a:p>
                      <a:pPr marL="0" algn="l" defTabSz="914400" rtl="0" eaLnBrk="1" fontAlgn="b" latinLnBrk="0" hangingPunct="1">
                        <a:buNone/>
                      </a:pPr>
                      <a:r>
                        <a:rPr lang="en-US" sz="1400" b="1" kern="1200">
                          <a:solidFill>
                            <a:schemeClr val="lt1"/>
                          </a:solidFill>
                          <a:latin typeface="+mn-lt"/>
                          <a:ea typeface="+mn-ea"/>
                          <a:cs typeface="+mn-cs"/>
                        </a:rPr>
                        <a:t>Scenarios</a:t>
                      </a:r>
                    </a:p>
                  </a:txBody>
                  <a:tcPr marL="36000" marR="36000" marT="0" marB="0" anchor="ctr">
                    <a:solidFill>
                      <a:schemeClr val="accent1"/>
                    </a:solidFill>
                  </a:tcPr>
                </a:tc>
                <a:tc>
                  <a:txBody>
                    <a:bodyPr/>
                    <a:lstStyle/>
                    <a:p>
                      <a:pPr marL="0" algn="l" defTabSz="914400" rtl="0" eaLnBrk="1" fontAlgn="b" latinLnBrk="0" hangingPunct="1">
                        <a:buNone/>
                      </a:pPr>
                      <a:r>
                        <a:rPr lang="en-US" sz="1400" b="1" kern="1200">
                          <a:solidFill>
                            <a:schemeClr val="lt1"/>
                          </a:solidFill>
                          <a:latin typeface="+mn-lt"/>
                          <a:ea typeface="+mn-ea"/>
                          <a:cs typeface="+mn-cs"/>
                        </a:rPr>
                        <a:t>Interim applicable or Not</a:t>
                      </a:r>
                    </a:p>
                  </a:txBody>
                  <a:tcPr marL="36000" marR="36000" marT="0" marB="0" anchor="ctr">
                    <a:solidFill>
                      <a:schemeClr val="accent1"/>
                    </a:solidFill>
                  </a:tcPr>
                </a:tc>
                <a:extLst>
                  <a:ext uri="{0D108BD9-81ED-4DB2-BD59-A6C34878D82A}">
                    <a16:rowId xmlns:a16="http://schemas.microsoft.com/office/drawing/2014/main" val="3066843040"/>
                  </a:ext>
                </a:extLst>
              </a:tr>
              <a:tr h="272590">
                <a:tc>
                  <a:txBody>
                    <a:bodyPr/>
                    <a:lstStyle/>
                    <a:p>
                      <a:pPr algn="l"/>
                      <a:r>
                        <a:rPr lang="en-US" altLang="zh-CN" sz="1000" b="1">
                          <a:latin typeface="Lato" panose="020F0502020204030203" pitchFamily="34" charset="0"/>
                          <a:ea typeface="Lato" panose="020F0502020204030203" pitchFamily="34" charset="0"/>
                          <a:cs typeface="Lato" panose="020F0502020204030203" pitchFamily="34" charset="0"/>
                        </a:rPr>
                        <a:t>DaaS MSA, MLA</a:t>
                      </a:r>
                    </a:p>
                  </a:txBody>
                  <a:tcPr marL="36000" marR="36000" marT="0" marB="0" anchor="ctr"/>
                </a:tc>
                <a:tc>
                  <a:txBody>
                    <a:bodyPr/>
                    <a:lstStyle/>
                    <a:p>
                      <a:pPr algn="ctr" fontAlgn="b">
                        <a:buNone/>
                      </a:pPr>
                      <a:r>
                        <a:rPr lang="en-US" sz="1000" b="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Yes</a:t>
                      </a:r>
                      <a:endParaRPr lang="en-US"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tc>
                <a:extLst>
                  <a:ext uri="{0D108BD9-81ED-4DB2-BD59-A6C34878D82A}">
                    <a16:rowId xmlns:a16="http://schemas.microsoft.com/office/drawing/2014/main" val="2349831014"/>
                  </a:ext>
                </a:extLst>
              </a:tr>
              <a:tr h="272590">
                <a:tc>
                  <a:txBody>
                    <a:bodyPr/>
                    <a:lstStyle/>
                    <a:p>
                      <a:pPr algn="l"/>
                      <a:r>
                        <a:rPr lang="en-US" altLang="zh-CN" sz="1000" b="1">
                          <a:latin typeface="Lato" panose="020F0502020204030203" pitchFamily="34" charset="0"/>
                          <a:ea typeface="Lato" panose="020F0502020204030203" pitchFamily="34" charset="0"/>
                          <a:cs typeface="Lato" panose="020F0502020204030203" pitchFamily="34" charset="0"/>
                        </a:rPr>
                        <a:t>MSAAS Service </a:t>
                      </a:r>
                    </a:p>
                  </a:txBody>
                  <a:tcPr marL="36000" marR="36000" marT="0" marB="0" anchor="ctr"/>
                </a:tc>
                <a:tc>
                  <a:txBody>
                    <a:bodyPr/>
                    <a:lstStyle/>
                    <a:p>
                      <a:pPr algn="ctr" fontAlgn="b">
                        <a:buNone/>
                      </a:pPr>
                      <a:r>
                        <a:rPr lang="en-US" sz="1000" b="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Yes</a:t>
                      </a:r>
                      <a:endParaRPr lang="en-US"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tc>
                <a:extLst>
                  <a:ext uri="{0D108BD9-81ED-4DB2-BD59-A6C34878D82A}">
                    <a16:rowId xmlns:a16="http://schemas.microsoft.com/office/drawing/2014/main" val="2574789370"/>
                  </a:ext>
                </a:extLst>
              </a:tr>
              <a:tr h="272590">
                <a:tc>
                  <a:txBody>
                    <a:bodyPr/>
                    <a:lstStyle/>
                    <a:p>
                      <a:pPr algn="l"/>
                      <a:r>
                        <a:rPr lang="en-US" altLang="zh-CN" sz="1000" b="1">
                          <a:latin typeface="Lato" panose="020F0502020204030203" pitchFamily="34" charset="0"/>
                          <a:ea typeface="Lato" panose="020F0502020204030203" pitchFamily="34" charset="0"/>
                          <a:cs typeface="Lato" panose="020F0502020204030203" pitchFamily="34" charset="0"/>
                        </a:rPr>
                        <a:t>ISG Lease</a:t>
                      </a:r>
                    </a:p>
                  </a:txBody>
                  <a:tcPr marL="36000" marR="36000" marT="0" marB="0" anchor="ctr"/>
                </a:tc>
                <a:tc>
                  <a:txBody>
                    <a:bodyPr/>
                    <a:lstStyle/>
                    <a:p>
                      <a:pPr algn="ctr" fontAlgn="b">
                        <a:buNone/>
                      </a:pPr>
                      <a:r>
                        <a:rPr lang="en-US" sz="1000" b="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Yes</a:t>
                      </a:r>
                      <a:endParaRPr lang="en-US"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tc>
                <a:extLst>
                  <a:ext uri="{0D108BD9-81ED-4DB2-BD59-A6C34878D82A}">
                    <a16:rowId xmlns:a16="http://schemas.microsoft.com/office/drawing/2014/main" val="1817517682"/>
                  </a:ext>
                </a:extLst>
              </a:tr>
              <a:tr h="272590">
                <a:tc>
                  <a:txBody>
                    <a:bodyPr/>
                    <a:lstStyle/>
                    <a:p>
                      <a:pPr algn="l" fontAlgn="b">
                        <a:buNone/>
                      </a:pPr>
                      <a:r>
                        <a:rPr lang="en-US" sz="1000" b="1"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IaaS - Fix Charge</a:t>
                      </a:r>
                      <a:endParaRPr lang="en-US" sz="100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tc>
                <a:tc>
                  <a:txBody>
                    <a:bodyPr/>
                    <a:lstStyle/>
                    <a:p>
                      <a:pPr algn="ctr" fontAlgn="b">
                        <a:buNone/>
                      </a:pPr>
                      <a:r>
                        <a:rPr lang="en-US" altLang="zh-CN" sz="1000" b="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rPr>
                        <a:t>No</a:t>
                      </a:r>
                      <a:endParaRPr lang="en-US" altLang="zh-CN" sz="1000" b="0" i="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tc>
                <a:extLst>
                  <a:ext uri="{0D108BD9-81ED-4DB2-BD59-A6C34878D82A}">
                    <a16:rowId xmlns:a16="http://schemas.microsoft.com/office/drawing/2014/main" val="4123315810"/>
                  </a:ext>
                </a:extLst>
              </a:tr>
              <a:tr h="272590">
                <a:tc>
                  <a:txBody>
                    <a:bodyPr/>
                    <a:lstStyle/>
                    <a:p>
                      <a:pPr algn="l" fontAlgn="b">
                        <a:buNone/>
                      </a:pPr>
                      <a:r>
                        <a:rPr lang="en-US" sz="1000" b="1"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IaaS usage base rate</a:t>
                      </a:r>
                      <a:endParaRPr lang="en-US" sz="100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altLang="zh-CN" sz="1000" b="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rPr>
                        <a:t>No</a:t>
                      </a:r>
                      <a:endParaRPr lang="en-US" altLang="zh-CN" sz="1000" b="0" i="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tc>
                <a:extLst>
                  <a:ext uri="{0D108BD9-81ED-4DB2-BD59-A6C34878D82A}">
                    <a16:rowId xmlns:a16="http://schemas.microsoft.com/office/drawing/2014/main" val="2402612806"/>
                  </a:ext>
                </a:extLst>
              </a:tr>
              <a:tr h="272590">
                <a:tc>
                  <a:txBody>
                    <a:bodyPr/>
                    <a:lstStyle/>
                    <a:p>
                      <a:pPr algn="l" fontAlgn="b">
                        <a:buNone/>
                      </a:pPr>
                      <a:r>
                        <a:rPr lang="en-US" sz="1000" b="1"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Capex</a:t>
                      </a:r>
                      <a:endParaRPr lang="en-US" sz="100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tc>
                <a:tc>
                  <a:txBody>
                    <a:bodyPr/>
                    <a:lstStyle/>
                    <a:p>
                      <a:pPr algn="ctr" fontAlgn="b">
                        <a:buNone/>
                      </a:pPr>
                      <a:r>
                        <a:rPr lang="en-US" sz="1000" b="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rPr>
                        <a:t>No</a:t>
                      </a:r>
                      <a:endParaRPr lang="en-US" sz="1000" b="0" i="0" u="none" strike="noStrike">
                        <a:solidFill>
                          <a:srgbClr val="FF0000"/>
                        </a:solidFill>
                        <a:effectLst/>
                        <a:latin typeface="Lato" panose="020F0502020204030203" pitchFamily="34" charset="0"/>
                        <a:ea typeface="Lato" panose="020F0502020204030203" pitchFamily="34" charset="0"/>
                        <a:cs typeface="Lato" panose="020F0502020204030203" pitchFamily="34" charset="0"/>
                      </a:endParaRPr>
                    </a:p>
                  </a:txBody>
                  <a:tcPr marL="36000" marR="36000" marT="0" marB="0" anchor="ctr"/>
                </a:tc>
                <a:extLst>
                  <a:ext uri="{0D108BD9-81ED-4DB2-BD59-A6C34878D82A}">
                    <a16:rowId xmlns:a16="http://schemas.microsoft.com/office/drawing/2014/main" val="1361186799"/>
                  </a:ext>
                </a:extLst>
              </a:tr>
            </a:tbl>
          </a:graphicData>
        </a:graphic>
      </p:graphicFrame>
      <p:sp>
        <p:nvSpPr>
          <p:cNvPr id="11" name="文本框 10">
            <a:extLst>
              <a:ext uri="{FF2B5EF4-FFF2-40B4-BE49-F238E27FC236}">
                <a16:creationId xmlns:a16="http://schemas.microsoft.com/office/drawing/2014/main" id="{D1AAD9A0-E72B-87D9-C28C-BB4190C0D373}"/>
              </a:ext>
            </a:extLst>
          </p:cNvPr>
          <p:cNvSpPr txBox="1"/>
          <p:nvPr/>
        </p:nvSpPr>
        <p:spPr>
          <a:xfrm>
            <a:off x="159793" y="3289461"/>
            <a:ext cx="4766770" cy="369332"/>
          </a:xfrm>
          <a:prstGeom prst="rect">
            <a:avLst/>
          </a:prstGeom>
          <a:noFill/>
        </p:spPr>
        <p:txBody>
          <a:bodyPr wrap="square">
            <a:spAutoFit/>
          </a:bodyPr>
          <a:lstStyle/>
          <a:p>
            <a:r>
              <a:rPr lang="zh-CN" altLang="zh-CN">
                <a:hlinkClick r:id="rId3"/>
              </a:rPr>
              <a:t>NexBill E2E BSR.pptx</a:t>
            </a:r>
            <a:endParaRPr lang="zh-CN" altLang="en-US"/>
          </a:p>
        </p:txBody>
      </p:sp>
      <p:pic>
        <p:nvPicPr>
          <p:cNvPr id="3" name="图片 2">
            <a:extLst>
              <a:ext uri="{FF2B5EF4-FFF2-40B4-BE49-F238E27FC236}">
                <a16:creationId xmlns:a16="http://schemas.microsoft.com/office/drawing/2014/main" id="{19414956-5215-FE9F-5DCF-58CD1BA8DD65}"/>
              </a:ext>
            </a:extLst>
          </p:cNvPr>
          <p:cNvPicPr>
            <a:picLocks noChangeAspect="1"/>
          </p:cNvPicPr>
          <p:nvPr/>
        </p:nvPicPr>
        <p:blipFill>
          <a:blip r:embed="rId4"/>
          <a:stretch>
            <a:fillRect/>
          </a:stretch>
        </p:blipFill>
        <p:spPr>
          <a:xfrm>
            <a:off x="10255064" y="160389"/>
            <a:ext cx="810854" cy="508116"/>
          </a:xfrm>
          <a:prstGeom prst="rect">
            <a:avLst/>
          </a:prstGeom>
        </p:spPr>
      </p:pic>
    </p:spTree>
    <p:extLst>
      <p:ext uri="{BB962C8B-B14F-4D97-AF65-F5344CB8AC3E}">
        <p14:creationId xmlns:p14="http://schemas.microsoft.com/office/powerpoint/2010/main" val="2998295205"/>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4A001E-C417-70DA-5075-97B33671D245}"/>
            </a:ext>
          </a:extLst>
        </p:cNvPr>
        <p:cNvGrpSpPr/>
        <p:nvPr/>
      </p:nvGrpSpPr>
      <p:grpSpPr>
        <a:xfrm>
          <a:off x="0" y="0"/>
          <a:ext cx="0" cy="0"/>
          <a:chOff x="0" y="0"/>
          <a:chExt cx="0" cy="0"/>
        </a:xfrm>
      </p:grpSpPr>
      <p:sp>
        <p:nvSpPr>
          <p:cNvPr id="77" name="文本框 76">
            <a:extLst>
              <a:ext uri="{FF2B5EF4-FFF2-40B4-BE49-F238E27FC236}">
                <a16:creationId xmlns:a16="http://schemas.microsoft.com/office/drawing/2014/main" id="{620B9F80-70A0-CF40-B71A-F7708D76DA29}"/>
              </a:ext>
            </a:extLst>
          </p:cNvPr>
          <p:cNvSpPr txBox="1"/>
          <p:nvPr/>
        </p:nvSpPr>
        <p:spPr>
          <a:xfrm>
            <a:off x="228451" y="690423"/>
            <a:ext cx="2069833" cy="246157"/>
          </a:xfrm>
          <a:prstGeom prst="rect">
            <a:avLst/>
          </a:prstGeom>
          <a:noFill/>
        </p:spPr>
        <p:txBody>
          <a:bodyPr wrap="square" rtlCol="0">
            <a:spAutoFit/>
          </a:bodyPr>
          <a:lstStyle/>
          <a:p>
            <a:pPr defTabSz="914126">
              <a:defRPr/>
            </a:pPr>
            <a:r>
              <a:rPr lang="en-US" altLang="zh-CN" sz="1000" b="1">
                <a:solidFill>
                  <a:srgbClr val="000000"/>
                </a:solidFill>
                <a:latin typeface="Tenorite" panose="00000500000000000000" pitchFamily="2" charset="0"/>
                <a:ea typeface="黑体" panose="02010609060101010101" pitchFamily="49" charset="-122"/>
                <a:cs typeface="Arial" pitchFamily="34" charset="0"/>
              </a:rPr>
              <a:t>Quater cycle as sample: </a:t>
            </a:r>
            <a:endParaRPr lang="zh-CN" altLang="en-US" sz="1000" b="1">
              <a:solidFill>
                <a:srgbClr val="000000"/>
              </a:solidFill>
              <a:latin typeface="Tenorite" panose="00000500000000000000" pitchFamily="2" charset="0"/>
              <a:ea typeface="黑体" panose="02010609060101010101" pitchFamily="49" charset="-122"/>
              <a:cs typeface="Arial" pitchFamily="34" charset="0"/>
            </a:endParaRPr>
          </a:p>
        </p:txBody>
      </p:sp>
      <p:sp>
        <p:nvSpPr>
          <p:cNvPr id="88" name="Title 10">
            <a:extLst>
              <a:ext uri="{FF2B5EF4-FFF2-40B4-BE49-F238E27FC236}">
                <a16:creationId xmlns:a16="http://schemas.microsoft.com/office/drawing/2014/main" id="{58B5239E-C6B3-8A0A-08C9-CD64C8E4426A}"/>
              </a:ext>
            </a:extLst>
          </p:cNvPr>
          <p:cNvSpPr txBox="1">
            <a:spLocks/>
          </p:cNvSpPr>
          <p:nvPr/>
        </p:nvSpPr>
        <p:spPr>
          <a:xfrm>
            <a:off x="372500" y="112196"/>
            <a:ext cx="11067617"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1999"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Next Bill –Interim Charge -Calculation</a:t>
            </a:r>
          </a:p>
        </p:txBody>
      </p:sp>
      <p:grpSp>
        <p:nvGrpSpPr>
          <p:cNvPr id="139" name="组合 138">
            <a:extLst>
              <a:ext uri="{FF2B5EF4-FFF2-40B4-BE49-F238E27FC236}">
                <a16:creationId xmlns:a16="http://schemas.microsoft.com/office/drawing/2014/main" id="{42DFB909-EBC4-740E-11CE-8CCA09A7D3F5}"/>
              </a:ext>
            </a:extLst>
          </p:cNvPr>
          <p:cNvGrpSpPr/>
          <p:nvPr/>
        </p:nvGrpSpPr>
        <p:grpSpPr>
          <a:xfrm>
            <a:off x="1215303" y="873000"/>
            <a:ext cx="8705863" cy="2425935"/>
            <a:chOff x="459475" y="1009639"/>
            <a:chExt cx="6682766" cy="2190258"/>
          </a:xfrm>
        </p:grpSpPr>
        <p:sp>
          <p:nvSpPr>
            <p:cNvPr id="101" name="矩形 100">
              <a:extLst>
                <a:ext uri="{FF2B5EF4-FFF2-40B4-BE49-F238E27FC236}">
                  <a16:creationId xmlns:a16="http://schemas.microsoft.com/office/drawing/2014/main" id="{C4F43CC0-D03C-AC39-E49C-838C5453CA80}"/>
                </a:ext>
              </a:extLst>
            </p:cNvPr>
            <p:cNvSpPr/>
            <p:nvPr/>
          </p:nvSpPr>
          <p:spPr>
            <a:xfrm>
              <a:off x="3830092" y="1210071"/>
              <a:ext cx="2537572" cy="808918"/>
            </a:xfrm>
            <a:prstGeom prst="rect">
              <a:avLst/>
            </a:prstGeom>
            <a:ln w="9525"/>
          </p:spPr>
          <p:style>
            <a:lnRef idx="2">
              <a:schemeClr val="accent4">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25272" tIns="0" rIns="25272" bIns="0" numCol="1" spcCol="1270" anchor="t" anchorCtr="0">
              <a:noAutofit/>
            </a:bodyPr>
            <a:lstStyle/>
            <a:p>
              <a:pPr marL="171399" lvl="1" indent="-171399" algn="ctr" defTabSz="311057">
                <a:lnSpc>
                  <a:spcPct val="90000"/>
                </a:lnSpc>
                <a:spcBef>
                  <a:spcPct val="0"/>
                </a:spcBef>
                <a:spcAft>
                  <a:spcPct val="15000"/>
                </a:spcAft>
                <a:buFont typeface="Arial" panose="020B0604020202020204" pitchFamily="34" charset="0"/>
                <a:buChar char="•"/>
                <a:defRPr/>
              </a:pPr>
              <a:r>
                <a:rPr lang="en-US" altLang="zh-CN" sz="1200">
                  <a:solidFill>
                    <a:srgbClr val="000000">
                      <a:hueOff val="0"/>
                      <a:satOff val="0"/>
                      <a:lumOff val="0"/>
                      <a:alphaOff val="0"/>
                    </a:srgbClr>
                  </a:solidFill>
                  <a:latin typeface="Lato" panose="020F0502020204030203" pitchFamily="34" charset="0"/>
                  <a:ea typeface="Lato" panose="020F0502020204030203" pitchFamily="34" charset="0"/>
                  <a:cs typeface="Lato" panose="020F0502020204030203" pitchFamily="34" charset="0"/>
                </a:rPr>
                <a:t>Quarterly Cycle</a:t>
              </a:r>
              <a:endParaRPr lang="zh-CN" altLang="en-US" sz="1200">
                <a:solidFill>
                  <a:srgbClr val="000000">
                    <a:hueOff val="0"/>
                    <a:satOff val="0"/>
                    <a:lumOff val="0"/>
                    <a:alphaOff val="0"/>
                  </a:srgbClr>
                </a:solidFill>
                <a:latin typeface="Lato" panose="020F0502020204030203" pitchFamily="34" charset="0"/>
                <a:ea typeface="黑体" panose="02010609060101010101" pitchFamily="49" charset="-122"/>
                <a:cs typeface="Lato" panose="020F0502020204030203" pitchFamily="34" charset="0"/>
              </a:endParaRPr>
            </a:p>
          </p:txBody>
        </p:sp>
        <p:sp>
          <p:nvSpPr>
            <p:cNvPr id="69" name="矩形 68">
              <a:extLst>
                <a:ext uri="{FF2B5EF4-FFF2-40B4-BE49-F238E27FC236}">
                  <a16:creationId xmlns:a16="http://schemas.microsoft.com/office/drawing/2014/main" id="{8CAD176C-03AC-104C-988F-971E105F03BD}"/>
                </a:ext>
              </a:extLst>
            </p:cNvPr>
            <p:cNvSpPr/>
            <p:nvPr/>
          </p:nvSpPr>
          <p:spPr>
            <a:xfrm>
              <a:off x="1305333" y="1210071"/>
              <a:ext cx="2537572" cy="808918"/>
            </a:xfrm>
            <a:prstGeom prst="rect">
              <a:avLst/>
            </a:prstGeom>
            <a:ln w="9525"/>
          </p:spPr>
          <p:style>
            <a:lnRef idx="2">
              <a:schemeClr val="accent4">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25272" tIns="0" rIns="25272" bIns="0" numCol="1" spcCol="1270" anchor="t" anchorCtr="0">
              <a:noAutofit/>
            </a:bodyPr>
            <a:lstStyle/>
            <a:p>
              <a:pPr marL="171399" lvl="1" indent="-171399" algn="ctr" defTabSz="311057">
                <a:lnSpc>
                  <a:spcPct val="90000"/>
                </a:lnSpc>
                <a:spcBef>
                  <a:spcPct val="0"/>
                </a:spcBef>
                <a:spcAft>
                  <a:spcPct val="15000"/>
                </a:spcAft>
                <a:buFont typeface="Arial" panose="020B0604020202020204" pitchFamily="34" charset="0"/>
                <a:buChar char="•"/>
                <a:defRPr/>
              </a:pPr>
              <a:r>
                <a:rPr lang="en-US" altLang="zh-CN" sz="1200">
                  <a:solidFill>
                    <a:srgbClr val="000000">
                      <a:hueOff val="0"/>
                      <a:satOff val="0"/>
                      <a:lumOff val="0"/>
                      <a:alphaOff val="0"/>
                    </a:srgbClr>
                  </a:solidFill>
                  <a:latin typeface="Lato" panose="020F0502020204030203" pitchFamily="34" charset="0"/>
                  <a:ea typeface="Lato" panose="020F0502020204030203" pitchFamily="34" charset="0"/>
                  <a:cs typeface="Lato" panose="020F0502020204030203" pitchFamily="34" charset="0"/>
                </a:rPr>
                <a:t>Quarterly Cycle</a:t>
              </a:r>
              <a:endParaRPr lang="zh-CN" altLang="en-US" sz="1200">
                <a:solidFill>
                  <a:srgbClr val="000000">
                    <a:hueOff val="0"/>
                    <a:satOff val="0"/>
                    <a:lumOff val="0"/>
                    <a:alphaOff val="0"/>
                  </a:srgbClr>
                </a:solidFill>
                <a:latin typeface="Lato" panose="020F0502020204030203" pitchFamily="34" charset="0"/>
                <a:ea typeface="黑体" panose="02010609060101010101" pitchFamily="49" charset="-122"/>
                <a:cs typeface="Lato" panose="020F0502020204030203" pitchFamily="34" charset="0"/>
              </a:endParaRPr>
            </a:p>
          </p:txBody>
        </p:sp>
        <p:sp>
          <p:nvSpPr>
            <p:cNvPr id="74" name="任意多边形: 形状 73">
              <a:extLst>
                <a:ext uri="{FF2B5EF4-FFF2-40B4-BE49-F238E27FC236}">
                  <a16:creationId xmlns:a16="http://schemas.microsoft.com/office/drawing/2014/main" id="{9AB70653-6E1E-A3DF-5507-C62F11DA6F13}"/>
                </a:ext>
              </a:extLst>
            </p:cNvPr>
            <p:cNvSpPr/>
            <p:nvPr/>
          </p:nvSpPr>
          <p:spPr>
            <a:xfrm>
              <a:off x="1305333" y="1474365"/>
              <a:ext cx="845858" cy="232719"/>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1</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80" name="任意多边形: 形状 79">
              <a:extLst>
                <a:ext uri="{FF2B5EF4-FFF2-40B4-BE49-F238E27FC236}">
                  <a16:creationId xmlns:a16="http://schemas.microsoft.com/office/drawing/2014/main" id="{D6DDB00E-4057-8A0E-2154-514ECB0AD86D}"/>
                </a:ext>
              </a:extLst>
            </p:cNvPr>
            <p:cNvSpPr/>
            <p:nvPr/>
          </p:nvSpPr>
          <p:spPr>
            <a:xfrm>
              <a:off x="2151191" y="1474365"/>
              <a:ext cx="845858" cy="232719"/>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2</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82" name="任意多边形: 形状 81">
              <a:extLst>
                <a:ext uri="{FF2B5EF4-FFF2-40B4-BE49-F238E27FC236}">
                  <a16:creationId xmlns:a16="http://schemas.microsoft.com/office/drawing/2014/main" id="{C2D360F7-460F-98B2-97A5-667BFD42FF27}"/>
                </a:ext>
              </a:extLst>
            </p:cNvPr>
            <p:cNvSpPr/>
            <p:nvPr/>
          </p:nvSpPr>
          <p:spPr>
            <a:xfrm>
              <a:off x="2997049" y="1474365"/>
              <a:ext cx="845858" cy="232719"/>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3</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84" name="任意多边形: 形状 83">
              <a:extLst>
                <a:ext uri="{FF2B5EF4-FFF2-40B4-BE49-F238E27FC236}">
                  <a16:creationId xmlns:a16="http://schemas.microsoft.com/office/drawing/2014/main" id="{1FEDE8E9-5516-9035-91BF-A85E79E5DB7F}"/>
                </a:ext>
              </a:extLst>
            </p:cNvPr>
            <p:cNvSpPr/>
            <p:nvPr/>
          </p:nvSpPr>
          <p:spPr>
            <a:xfrm>
              <a:off x="3842906" y="1474365"/>
              <a:ext cx="845858" cy="232719"/>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4</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86" name="任意多边形: 形状 85">
              <a:extLst>
                <a:ext uri="{FF2B5EF4-FFF2-40B4-BE49-F238E27FC236}">
                  <a16:creationId xmlns:a16="http://schemas.microsoft.com/office/drawing/2014/main" id="{B54773FA-A19F-0966-6202-FE62A115CA1E}"/>
                </a:ext>
              </a:extLst>
            </p:cNvPr>
            <p:cNvSpPr/>
            <p:nvPr/>
          </p:nvSpPr>
          <p:spPr>
            <a:xfrm>
              <a:off x="4688764" y="1474365"/>
              <a:ext cx="845858" cy="232719"/>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5</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89" name="任意多边形: 形状 88">
              <a:extLst>
                <a:ext uri="{FF2B5EF4-FFF2-40B4-BE49-F238E27FC236}">
                  <a16:creationId xmlns:a16="http://schemas.microsoft.com/office/drawing/2014/main" id="{7B663C6C-B7F5-0CD7-EE28-6EC45124ED03}"/>
                </a:ext>
              </a:extLst>
            </p:cNvPr>
            <p:cNvSpPr/>
            <p:nvPr/>
          </p:nvSpPr>
          <p:spPr>
            <a:xfrm>
              <a:off x="5534621" y="1474365"/>
              <a:ext cx="845858" cy="232719"/>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6</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90" name="矩形 89">
              <a:extLst>
                <a:ext uri="{FF2B5EF4-FFF2-40B4-BE49-F238E27FC236}">
                  <a16:creationId xmlns:a16="http://schemas.microsoft.com/office/drawing/2014/main" id="{B6C8D7DA-8F41-9541-E698-29B709CE8FC3}"/>
                </a:ext>
              </a:extLst>
            </p:cNvPr>
            <p:cNvSpPr/>
            <p:nvPr/>
          </p:nvSpPr>
          <p:spPr>
            <a:xfrm>
              <a:off x="1013234" y="1707083"/>
              <a:ext cx="2523916" cy="297730"/>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1200" b="1">
                  <a:solidFill>
                    <a:srgbClr val="000000"/>
                  </a:solidFill>
                  <a:latin typeface="Tenorite" panose="00000500000000000000" pitchFamily="2" charset="0"/>
                  <a:ea typeface="黑体" panose="02010609060101010101" pitchFamily="49" charset="-122"/>
                </a:rPr>
                <a:t>Tranche202601</a:t>
              </a:r>
              <a:endParaRPr lang="zh-CN" altLang="en-US" sz="1200" b="1">
                <a:solidFill>
                  <a:srgbClr val="000000"/>
                </a:solidFill>
                <a:latin typeface="Tenorite" panose="00000500000000000000" pitchFamily="2" charset="0"/>
                <a:ea typeface="黑体" panose="02010609060101010101" pitchFamily="49" charset="-122"/>
              </a:endParaRPr>
            </a:p>
          </p:txBody>
        </p:sp>
        <p:sp>
          <p:nvSpPr>
            <p:cNvPr id="91" name="任意多边形: 形状 90">
              <a:extLst>
                <a:ext uri="{FF2B5EF4-FFF2-40B4-BE49-F238E27FC236}">
                  <a16:creationId xmlns:a16="http://schemas.microsoft.com/office/drawing/2014/main" id="{97C36704-103E-9200-8485-8E640F1C7E8F}"/>
                </a:ext>
              </a:extLst>
            </p:cNvPr>
            <p:cNvSpPr/>
            <p:nvPr/>
          </p:nvSpPr>
          <p:spPr>
            <a:xfrm>
              <a:off x="459475" y="1474364"/>
              <a:ext cx="845858" cy="232719"/>
            </a:xfrm>
            <a:custGeom>
              <a:avLst/>
              <a:gdLst>
                <a:gd name="connsiteX0" fmla="*/ 0 w 559350"/>
                <a:gd name="connsiteY0" fmla="*/ 22244 h 222435"/>
                <a:gd name="connsiteX1" fmla="*/ 22244 w 559350"/>
                <a:gd name="connsiteY1" fmla="*/ 0 h 222435"/>
                <a:gd name="connsiteX2" fmla="*/ 537107 w 559350"/>
                <a:gd name="connsiteY2" fmla="*/ 0 h 222435"/>
                <a:gd name="connsiteX3" fmla="*/ 559351 w 559350"/>
                <a:gd name="connsiteY3" fmla="*/ 22244 h 222435"/>
                <a:gd name="connsiteX4" fmla="*/ 559350 w 559350"/>
                <a:gd name="connsiteY4" fmla="*/ 200192 h 222435"/>
                <a:gd name="connsiteX5" fmla="*/ 537106 w 559350"/>
                <a:gd name="connsiteY5" fmla="*/ 222436 h 222435"/>
                <a:gd name="connsiteX6" fmla="*/ 22244 w 559350"/>
                <a:gd name="connsiteY6" fmla="*/ 222435 h 222435"/>
                <a:gd name="connsiteX7" fmla="*/ 0 w 559350"/>
                <a:gd name="connsiteY7" fmla="*/ 200191 h 222435"/>
                <a:gd name="connsiteX8" fmla="*/ 0 w 559350"/>
                <a:gd name="connsiteY8" fmla="*/ 22244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9350" h="222435">
                  <a:moveTo>
                    <a:pt x="0" y="22244"/>
                  </a:moveTo>
                  <a:cubicBezTo>
                    <a:pt x="0" y="9959"/>
                    <a:pt x="9959" y="0"/>
                    <a:pt x="22244" y="0"/>
                  </a:cubicBezTo>
                  <a:lnTo>
                    <a:pt x="537107" y="0"/>
                  </a:lnTo>
                  <a:cubicBezTo>
                    <a:pt x="549392" y="0"/>
                    <a:pt x="559351" y="9959"/>
                    <a:pt x="559351" y="22244"/>
                  </a:cubicBezTo>
                  <a:cubicBezTo>
                    <a:pt x="559351" y="81560"/>
                    <a:pt x="559350" y="140876"/>
                    <a:pt x="559350" y="200192"/>
                  </a:cubicBezTo>
                  <a:cubicBezTo>
                    <a:pt x="559350" y="212477"/>
                    <a:pt x="549391" y="222436"/>
                    <a:pt x="537106" y="222436"/>
                  </a:cubicBezTo>
                  <a:lnTo>
                    <a:pt x="22244" y="222435"/>
                  </a:lnTo>
                  <a:cubicBezTo>
                    <a:pt x="9959" y="222435"/>
                    <a:pt x="0" y="212476"/>
                    <a:pt x="0" y="200191"/>
                  </a:cubicBezTo>
                  <a:lnTo>
                    <a:pt x="0" y="22244"/>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3654" tIns="17940" rIns="23654" bIns="17940" numCol="1" spcCol="1270" anchor="ctr" anchorCtr="0">
              <a:noAutofit/>
            </a:bodyPr>
            <a:lstStyle/>
            <a:p>
              <a:pPr algn="ctr" defTabSz="399930">
                <a:lnSpc>
                  <a:spcPct val="90000"/>
                </a:lnSpc>
                <a:spcBef>
                  <a:spcPct val="0"/>
                </a:spcBef>
                <a:spcAft>
                  <a:spcPct val="35000"/>
                </a:spcAft>
                <a:defRPr/>
              </a:pPr>
              <a:r>
                <a:rPr lang="en-US" altLang="zh-CN" sz="900" b="1">
                  <a:solidFill>
                    <a:prstClr val="white"/>
                  </a:solidFill>
                  <a:latin typeface="Lato" panose="020F0502020204030203" pitchFamily="34" charset="0"/>
                  <a:ea typeface="Lato" panose="020F0502020204030203" pitchFamily="34" charset="0"/>
                  <a:cs typeface="Lato" panose="020F0502020204030203" pitchFamily="34" charset="0"/>
                </a:rPr>
                <a:t>Month 0</a:t>
              </a:r>
              <a:endParaRPr lang="zh-CN" altLang="en-US" sz="900" b="1">
                <a:solidFill>
                  <a:prstClr val="white"/>
                </a:solidFill>
                <a:latin typeface="Lato" panose="020F0502020204030203" pitchFamily="34" charset="0"/>
                <a:ea typeface="黑体" panose="02010609060101010101" pitchFamily="49" charset="-122"/>
                <a:cs typeface="Lato" panose="020F0502020204030203" pitchFamily="34" charset="0"/>
              </a:endParaRPr>
            </a:p>
          </p:txBody>
        </p:sp>
        <p:sp>
          <p:nvSpPr>
            <p:cNvPr id="92" name="文本框 91">
              <a:extLst>
                <a:ext uri="{FF2B5EF4-FFF2-40B4-BE49-F238E27FC236}">
                  <a16:creationId xmlns:a16="http://schemas.microsoft.com/office/drawing/2014/main" id="{815823ED-860A-CD61-6370-DEE1CDC5F992}"/>
                </a:ext>
              </a:extLst>
            </p:cNvPr>
            <p:cNvSpPr txBox="1"/>
            <p:nvPr/>
          </p:nvSpPr>
          <p:spPr>
            <a:xfrm>
              <a:off x="704498" y="2034282"/>
              <a:ext cx="611513" cy="194514"/>
            </a:xfrm>
            <a:prstGeom prst="rect">
              <a:avLst/>
            </a:prstGeom>
            <a:noFill/>
          </p:spPr>
          <p:txBody>
            <a:bodyPr wrap="square" rtlCol="0">
              <a:spAutoFit/>
            </a:bodyPr>
            <a:lstStyle/>
            <a:p>
              <a:pPr defTabSz="914126">
                <a:defRPr/>
              </a:pPr>
              <a:r>
                <a:rPr lang="en-US" altLang="zh-CN" sz="800">
                  <a:solidFill>
                    <a:srgbClr val="000000"/>
                  </a:solidFill>
                  <a:latin typeface="Tenorite" panose="00000500000000000000" pitchFamily="2" charset="0"/>
                  <a:ea typeface="黑体" panose="02010609060101010101" pitchFamily="49" charset="-122"/>
                  <a:cs typeface="Arial" pitchFamily="34" charset="0"/>
                </a:rPr>
                <a:t>Dec.18</a:t>
              </a:r>
              <a:endParaRPr lang="zh-CN" altLang="en-US" sz="800">
                <a:solidFill>
                  <a:srgbClr val="000000"/>
                </a:solidFill>
                <a:latin typeface="Tenorite" panose="00000500000000000000" pitchFamily="2" charset="0"/>
                <a:ea typeface="黑体" panose="02010609060101010101" pitchFamily="49" charset="-122"/>
                <a:cs typeface="Arial" pitchFamily="34" charset="0"/>
              </a:endParaRPr>
            </a:p>
          </p:txBody>
        </p:sp>
        <p:sp>
          <p:nvSpPr>
            <p:cNvPr id="93" name="文本框 92">
              <a:extLst>
                <a:ext uri="{FF2B5EF4-FFF2-40B4-BE49-F238E27FC236}">
                  <a16:creationId xmlns:a16="http://schemas.microsoft.com/office/drawing/2014/main" id="{0FD8AB29-6F92-5A29-47C8-7F6B134B2EFD}"/>
                </a:ext>
              </a:extLst>
            </p:cNvPr>
            <p:cNvSpPr txBox="1"/>
            <p:nvPr/>
          </p:nvSpPr>
          <p:spPr>
            <a:xfrm>
              <a:off x="3283094" y="2055126"/>
              <a:ext cx="611513" cy="194514"/>
            </a:xfrm>
            <a:prstGeom prst="rect">
              <a:avLst/>
            </a:prstGeom>
            <a:noFill/>
          </p:spPr>
          <p:txBody>
            <a:bodyPr wrap="square" rtlCol="0">
              <a:spAutoFit/>
            </a:bodyPr>
            <a:lstStyle/>
            <a:p>
              <a:pPr defTabSz="914126">
                <a:defRPr/>
              </a:pPr>
              <a:r>
                <a:rPr lang="en-US" altLang="zh-CN" sz="800">
                  <a:solidFill>
                    <a:srgbClr val="000000"/>
                  </a:solidFill>
                  <a:latin typeface="Tenorite" panose="00000500000000000000" pitchFamily="2" charset="0"/>
                  <a:ea typeface="黑体" panose="02010609060101010101" pitchFamily="49" charset="-122"/>
                  <a:cs typeface="Arial" pitchFamily="34" charset="0"/>
                </a:rPr>
                <a:t>Mar.17</a:t>
              </a:r>
              <a:endParaRPr lang="zh-CN" altLang="en-US" sz="800">
                <a:solidFill>
                  <a:srgbClr val="000000"/>
                </a:solidFill>
                <a:latin typeface="Tenorite" panose="00000500000000000000" pitchFamily="2" charset="0"/>
                <a:ea typeface="黑体" panose="02010609060101010101" pitchFamily="49" charset="-122"/>
                <a:cs typeface="Arial" pitchFamily="34" charset="0"/>
              </a:endParaRPr>
            </a:p>
          </p:txBody>
        </p:sp>
        <p:cxnSp>
          <p:nvCxnSpPr>
            <p:cNvPr id="97" name="直接连接符 96">
              <a:extLst>
                <a:ext uri="{FF2B5EF4-FFF2-40B4-BE49-F238E27FC236}">
                  <a16:creationId xmlns:a16="http://schemas.microsoft.com/office/drawing/2014/main" id="{958D3FEA-03D8-E447-9B4C-C4A83216630F}"/>
                </a:ext>
              </a:extLst>
            </p:cNvPr>
            <p:cNvCxnSpPr>
              <a:cxnSpLocks/>
            </p:cNvCxnSpPr>
            <p:nvPr/>
          </p:nvCxnSpPr>
          <p:spPr>
            <a:xfrm>
              <a:off x="3537150" y="1884166"/>
              <a:ext cx="0" cy="219801"/>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直接连接符 97">
              <a:extLst>
                <a:ext uri="{FF2B5EF4-FFF2-40B4-BE49-F238E27FC236}">
                  <a16:creationId xmlns:a16="http://schemas.microsoft.com/office/drawing/2014/main" id="{71E0E707-D17B-4DC2-33C1-5D34332AF013}"/>
                </a:ext>
              </a:extLst>
            </p:cNvPr>
            <p:cNvCxnSpPr>
              <a:cxnSpLocks/>
            </p:cNvCxnSpPr>
            <p:nvPr/>
          </p:nvCxnSpPr>
          <p:spPr>
            <a:xfrm>
              <a:off x="1013232" y="1855948"/>
              <a:ext cx="0" cy="201980"/>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矩形 99">
              <a:extLst>
                <a:ext uri="{FF2B5EF4-FFF2-40B4-BE49-F238E27FC236}">
                  <a16:creationId xmlns:a16="http://schemas.microsoft.com/office/drawing/2014/main" id="{D77C71B4-BC4A-24FE-8E46-44A7F740DD09}"/>
                </a:ext>
              </a:extLst>
            </p:cNvPr>
            <p:cNvSpPr/>
            <p:nvPr/>
          </p:nvSpPr>
          <p:spPr>
            <a:xfrm>
              <a:off x="3537149" y="1707083"/>
              <a:ext cx="2523916" cy="297730"/>
            </a:xfrm>
            <a:prstGeom prst="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r>
                <a:rPr lang="en-US" altLang="zh-CN" sz="1200" b="1">
                  <a:solidFill>
                    <a:srgbClr val="000000"/>
                  </a:solidFill>
                  <a:latin typeface="Tenorite" panose="00000500000000000000" pitchFamily="2" charset="0"/>
                  <a:ea typeface="黑体" panose="02010609060101010101" pitchFamily="49" charset="-122"/>
                </a:rPr>
                <a:t>Tranche202602</a:t>
              </a:r>
              <a:endParaRPr lang="zh-CN" altLang="en-US" sz="1200" b="1">
                <a:solidFill>
                  <a:srgbClr val="000000"/>
                </a:solidFill>
                <a:latin typeface="Tenorite" panose="00000500000000000000" pitchFamily="2" charset="0"/>
                <a:ea typeface="黑体" panose="02010609060101010101" pitchFamily="49" charset="-122"/>
              </a:endParaRPr>
            </a:p>
          </p:txBody>
        </p:sp>
        <p:cxnSp>
          <p:nvCxnSpPr>
            <p:cNvPr id="102" name="直接连接符 101">
              <a:extLst>
                <a:ext uri="{FF2B5EF4-FFF2-40B4-BE49-F238E27FC236}">
                  <a16:creationId xmlns:a16="http://schemas.microsoft.com/office/drawing/2014/main" id="{3A867639-5AD8-9A56-E001-8DBB466B7CF6}"/>
                </a:ext>
              </a:extLst>
            </p:cNvPr>
            <p:cNvCxnSpPr>
              <a:cxnSpLocks/>
            </p:cNvCxnSpPr>
            <p:nvPr/>
          </p:nvCxnSpPr>
          <p:spPr>
            <a:xfrm>
              <a:off x="6061065" y="1746226"/>
              <a:ext cx="0" cy="357741"/>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CB992954-A783-F9D2-7491-8F48F06ED486}"/>
                </a:ext>
              </a:extLst>
            </p:cNvPr>
            <p:cNvSpPr txBox="1"/>
            <p:nvPr/>
          </p:nvSpPr>
          <p:spPr>
            <a:xfrm>
              <a:off x="5768966" y="2088013"/>
              <a:ext cx="611513" cy="194514"/>
            </a:xfrm>
            <a:prstGeom prst="rect">
              <a:avLst/>
            </a:prstGeom>
            <a:noFill/>
          </p:spPr>
          <p:txBody>
            <a:bodyPr wrap="square" rtlCol="0">
              <a:spAutoFit/>
            </a:bodyPr>
            <a:lstStyle/>
            <a:p>
              <a:pPr defTabSz="914126">
                <a:defRPr/>
              </a:pPr>
              <a:r>
                <a:rPr lang="en-US" altLang="zh-CN" sz="800">
                  <a:solidFill>
                    <a:srgbClr val="000000"/>
                  </a:solidFill>
                  <a:latin typeface="Tenorite" panose="00000500000000000000" pitchFamily="2" charset="0"/>
                  <a:ea typeface="黑体" panose="02010609060101010101" pitchFamily="49" charset="-122"/>
                  <a:cs typeface="Arial" pitchFamily="34" charset="0"/>
                </a:rPr>
                <a:t>Jun.17</a:t>
              </a:r>
              <a:endParaRPr lang="zh-CN" altLang="en-US" sz="800">
                <a:solidFill>
                  <a:srgbClr val="000000"/>
                </a:solidFill>
                <a:latin typeface="Tenorite" panose="00000500000000000000" pitchFamily="2" charset="0"/>
                <a:ea typeface="黑体" panose="02010609060101010101" pitchFamily="49" charset="-122"/>
                <a:cs typeface="Arial" pitchFamily="34" charset="0"/>
              </a:endParaRPr>
            </a:p>
          </p:txBody>
        </p:sp>
        <p:cxnSp>
          <p:nvCxnSpPr>
            <p:cNvPr id="104" name="直接连接符 103">
              <a:extLst>
                <a:ext uri="{FF2B5EF4-FFF2-40B4-BE49-F238E27FC236}">
                  <a16:creationId xmlns:a16="http://schemas.microsoft.com/office/drawing/2014/main" id="{D09B7E42-873A-BFFA-EA80-3465EEF20201}"/>
                </a:ext>
              </a:extLst>
            </p:cNvPr>
            <p:cNvCxnSpPr>
              <a:cxnSpLocks/>
            </p:cNvCxnSpPr>
            <p:nvPr/>
          </p:nvCxnSpPr>
          <p:spPr>
            <a:xfrm>
              <a:off x="2399239" y="1674157"/>
              <a:ext cx="0" cy="767543"/>
            </a:xfrm>
            <a:prstGeom prst="line">
              <a:avLst/>
            </a:prstGeom>
            <a:ln w="3175">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6" name="文本框 105">
              <a:extLst>
                <a:ext uri="{FF2B5EF4-FFF2-40B4-BE49-F238E27FC236}">
                  <a16:creationId xmlns:a16="http://schemas.microsoft.com/office/drawing/2014/main" id="{2F656F51-8BAB-6B07-4522-25AECB188A1F}"/>
                </a:ext>
              </a:extLst>
            </p:cNvPr>
            <p:cNvSpPr txBox="1"/>
            <p:nvPr/>
          </p:nvSpPr>
          <p:spPr>
            <a:xfrm>
              <a:off x="1624661" y="2416241"/>
              <a:ext cx="1549156" cy="305664"/>
            </a:xfrm>
            <a:prstGeom prst="rect">
              <a:avLst/>
            </a:prstGeom>
            <a:noFill/>
          </p:spPr>
          <p:txBody>
            <a:bodyPr wrap="square" rtlCol="0">
              <a:spAutoFit/>
            </a:bodyPr>
            <a:lstStyle/>
            <a:p>
              <a:pPr algn="ctr" defTabSz="914126">
                <a:defRPr/>
              </a:pPr>
              <a:r>
                <a:rPr lang="en-US" altLang="zh-CN" sz="800" b="1">
                  <a:solidFill>
                    <a:srgbClr val="000000"/>
                  </a:solidFill>
                  <a:latin typeface="Tenorite" panose="00000500000000000000" pitchFamily="2" charset="0"/>
                  <a:ea typeface="黑体" panose="02010609060101010101" pitchFamily="49" charset="-122"/>
                  <a:cs typeface="Arial" pitchFamily="34" charset="0"/>
                </a:rPr>
                <a:t>Device AX01 accept</a:t>
              </a:r>
            </a:p>
            <a:p>
              <a:pPr algn="ctr" defTabSz="914126">
                <a:defRPr/>
              </a:pPr>
              <a:r>
                <a:rPr lang="en-US" altLang="zh-CN" sz="800" b="1">
                  <a:solidFill>
                    <a:srgbClr val="FF0000"/>
                  </a:solidFill>
                  <a:latin typeface="Tenorite" panose="00000500000000000000" pitchFamily="2" charset="0"/>
                  <a:ea typeface="黑体" panose="02010609060101010101" pitchFamily="49" charset="-122"/>
                  <a:cs typeface="Arial" pitchFamily="34" charset="0"/>
                </a:rPr>
                <a:t>10</a:t>
              </a:r>
              <a:r>
                <a:rPr lang="en-US" altLang="zh-CN" sz="800" b="1" baseline="30000">
                  <a:solidFill>
                    <a:srgbClr val="FF0000"/>
                  </a:solidFill>
                  <a:latin typeface="Tenorite" panose="00000500000000000000" pitchFamily="2" charset="0"/>
                  <a:ea typeface="黑体" panose="02010609060101010101" pitchFamily="49" charset="-122"/>
                  <a:cs typeface="Arial" pitchFamily="34" charset="0"/>
                </a:rPr>
                <a:t>th</a:t>
              </a:r>
              <a:r>
                <a:rPr lang="en-US" altLang="zh-CN" sz="800" b="1">
                  <a:solidFill>
                    <a:srgbClr val="FF0000"/>
                  </a:solidFill>
                  <a:latin typeface="Tenorite" panose="00000500000000000000" pitchFamily="2" charset="0"/>
                  <a:ea typeface="黑体" panose="02010609060101010101" pitchFamily="49" charset="-122"/>
                  <a:cs typeface="Arial" pitchFamily="34" charset="0"/>
                </a:rPr>
                <a:t> Feb</a:t>
              </a:r>
              <a:endParaRPr lang="zh-CN" altLang="en-US" sz="800" b="1">
                <a:solidFill>
                  <a:srgbClr val="FF0000"/>
                </a:solidFill>
                <a:latin typeface="Tenorite" panose="00000500000000000000" pitchFamily="2" charset="0"/>
                <a:ea typeface="黑体" panose="02010609060101010101" pitchFamily="49" charset="-122"/>
                <a:cs typeface="Arial" pitchFamily="34" charset="0"/>
              </a:endParaRPr>
            </a:p>
          </p:txBody>
        </p:sp>
        <p:sp>
          <p:nvSpPr>
            <p:cNvPr id="108" name="文本框 107">
              <a:extLst>
                <a:ext uri="{FF2B5EF4-FFF2-40B4-BE49-F238E27FC236}">
                  <a16:creationId xmlns:a16="http://schemas.microsoft.com/office/drawing/2014/main" id="{729A54B0-CF41-3C01-94AB-228748D0E103}"/>
                </a:ext>
              </a:extLst>
            </p:cNvPr>
            <p:cNvSpPr txBox="1"/>
            <p:nvPr/>
          </p:nvSpPr>
          <p:spPr>
            <a:xfrm>
              <a:off x="3068327" y="2431885"/>
              <a:ext cx="1549156" cy="305664"/>
            </a:xfrm>
            <a:prstGeom prst="rect">
              <a:avLst/>
            </a:prstGeom>
            <a:noFill/>
          </p:spPr>
          <p:txBody>
            <a:bodyPr wrap="square" rtlCol="0">
              <a:spAutoFit/>
            </a:bodyPr>
            <a:lstStyle/>
            <a:p>
              <a:pPr algn="ctr" defTabSz="914126">
                <a:defRPr/>
              </a:pPr>
              <a:r>
                <a:rPr lang="en-US" altLang="zh-CN" sz="800" b="1">
                  <a:solidFill>
                    <a:srgbClr val="000000"/>
                  </a:solidFill>
                  <a:latin typeface="Tenorite" panose="00000500000000000000" pitchFamily="2" charset="0"/>
                  <a:ea typeface="黑体" panose="02010609060101010101" pitchFamily="49" charset="-122"/>
                  <a:cs typeface="Arial" pitchFamily="34" charset="0"/>
                </a:rPr>
                <a:t>Term1 Commence Date</a:t>
              </a:r>
            </a:p>
            <a:p>
              <a:pPr algn="ctr" defTabSz="914126">
                <a:defRPr/>
              </a:pPr>
              <a:r>
                <a:rPr lang="en-US" altLang="zh-CN" sz="800" b="1">
                  <a:solidFill>
                    <a:srgbClr val="FF0000"/>
                  </a:solidFill>
                  <a:latin typeface="Tenorite" panose="00000500000000000000" pitchFamily="2" charset="0"/>
                  <a:ea typeface="黑体" panose="02010609060101010101" pitchFamily="49" charset="-122"/>
                  <a:cs typeface="Arial" pitchFamily="34" charset="0"/>
                </a:rPr>
                <a:t>1</a:t>
              </a:r>
              <a:r>
                <a:rPr lang="en-US" altLang="zh-CN" sz="800" b="1" baseline="30000">
                  <a:solidFill>
                    <a:srgbClr val="FF0000"/>
                  </a:solidFill>
                  <a:latin typeface="Tenorite" panose="00000500000000000000" pitchFamily="2" charset="0"/>
                  <a:ea typeface="黑体" panose="02010609060101010101" pitchFamily="49" charset="-122"/>
                  <a:cs typeface="Arial" pitchFamily="34" charset="0"/>
                </a:rPr>
                <a:t>st</a:t>
              </a:r>
              <a:r>
                <a:rPr lang="en-US" altLang="zh-CN" sz="800" b="1">
                  <a:solidFill>
                    <a:srgbClr val="FF0000"/>
                  </a:solidFill>
                  <a:latin typeface="Tenorite" panose="00000500000000000000" pitchFamily="2" charset="0"/>
                  <a:ea typeface="黑体" panose="02010609060101010101" pitchFamily="49" charset="-122"/>
                  <a:cs typeface="Arial" pitchFamily="34" charset="0"/>
                </a:rPr>
                <a:t> Apr</a:t>
              </a:r>
              <a:endParaRPr lang="zh-CN" altLang="en-US" sz="800" b="1">
                <a:solidFill>
                  <a:srgbClr val="FF0000"/>
                </a:solidFill>
                <a:latin typeface="Tenorite" panose="00000500000000000000" pitchFamily="2" charset="0"/>
                <a:ea typeface="黑体" panose="02010609060101010101" pitchFamily="49" charset="-122"/>
                <a:cs typeface="Arial" pitchFamily="34" charset="0"/>
              </a:endParaRPr>
            </a:p>
          </p:txBody>
        </p:sp>
        <p:cxnSp>
          <p:nvCxnSpPr>
            <p:cNvPr id="115" name="直接连接符 114">
              <a:extLst>
                <a:ext uri="{FF2B5EF4-FFF2-40B4-BE49-F238E27FC236}">
                  <a16:creationId xmlns:a16="http://schemas.microsoft.com/office/drawing/2014/main" id="{E7C637C9-0F9D-9168-7D79-7FCD692F5AB1}"/>
                </a:ext>
              </a:extLst>
            </p:cNvPr>
            <p:cNvCxnSpPr>
              <a:cxnSpLocks/>
              <a:endCxn id="108" idx="0"/>
            </p:cNvCxnSpPr>
            <p:nvPr/>
          </p:nvCxnSpPr>
          <p:spPr>
            <a:xfrm>
              <a:off x="3842905" y="1630533"/>
              <a:ext cx="0" cy="801352"/>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直接连接符 119">
              <a:extLst>
                <a:ext uri="{FF2B5EF4-FFF2-40B4-BE49-F238E27FC236}">
                  <a16:creationId xmlns:a16="http://schemas.microsoft.com/office/drawing/2014/main" id="{8D80DD98-C9BB-4901-902C-C6703489BD9E}"/>
                </a:ext>
              </a:extLst>
            </p:cNvPr>
            <p:cNvCxnSpPr>
              <a:cxnSpLocks/>
            </p:cNvCxnSpPr>
            <p:nvPr/>
          </p:nvCxnSpPr>
          <p:spPr>
            <a:xfrm>
              <a:off x="2399239" y="2352374"/>
              <a:ext cx="1443666" cy="0"/>
            </a:xfrm>
            <a:prstGeom prst="line">
              <a:avLst/>
            </a:prstGeom>
            <a:ln w="1905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4" name="文本框 123">
              <a:extLst>
                <a:ext uri="{FF2B5EF4-FFF2-40B4-BE49-F238E27FC236}">
                  <a16:creationId xmlns:a16="http://schemas.microsoft.com/office/drawing/2014/main" id="{85591A42-6133-AF87-761B-B515D89B97FA}"/>
                </a:ext>
              </a:extLst>
            </p:cNvPr>
            <p:cNvSpPr txBox="1"/>
            <p:nvPr/>
          </p:nvSpPr>
          <p:spPr>
            <a:xfrm>
              <a:off x="2460016" y="2175925"/>
              <a:ext cx="1191728" cy="194514"/>
            </a:xfrm>
            <a:prstGeom prst="rect">
              <a:avLst/>
            </a:prstGeom>
            <a:noFill/>
          </p:spPr>
          <p:txBody>
            <a:bodyPr wrap="square" rtlCol="0">
              <a:spAutoFit/>
            </a:bodyPr>
            <a:lstStyle/>
            <a:p>
              <a:pPr defTabSz="914126">
                <a:defRPr/>
              </a:pPr>
              <a:r>
                <a:rPr lang="en-US" altLang="zh-CN" sz="800">
                  <a:solidFill>
                    <a:srgbClr val="000000"/>
                  </a:solidFill>
                  <a:highlight>
                    <a:srgbClr val="FFFF00"/>
                  </a:highlight>
                  <a:latin typeface="Tenorite" panose="00000500000000000000" pitchFamily="2" charset="0"/>
                  <a:ea typeface="黑体" panose="02010609060101010101" pitchFamily="49" charset="-122"/>
                  <a:cs typeface="Arial" pitchFamily="34" charset="0"/>
                </a:rPr>
                <a:t>Interim Charge </a:t>
              </a:r>
              <a:r>
                <a:rPr lang="en-US" altLang="zh-CN" sz="800" b="1">
                  <a:solidFill>
                    <a:schemeClr val="accent2"/>
                  </a:solidFill>
                  <a:highlight>
                    <a:srgbClr val="FFFF00"/>
                  </a:highlight>
                  <a:latin typeface="Tenorite" panose="00000500000000000000" pitchFamily="2" charset="0"/>
                  <a:ea typeface="黑体" panose="02010609060101010101" pitchFamily="49" charset="-122"/>
                  <a:cs typeface="Arial" pitchFamily="34" charset="0"/>
                </a:rPr>
                <a:t>50days</a:t>
              </a:r>
              <a:endParaRPr lang="zh-CN" altLang="en-US" sz="800" b="1">
                <a:solidFill>
                  <a:schemeClr val="accent2"/>
                </a:solidFill>
                <a:highlight>
                  <a:srgbClr val="FFFF00"/>
                </a:highlight>
                <a:latin typeface="Tenorite" panose="00000500000000000000" pitchFamily="2" charset="0"/>
                <a:ea typeface="黑体" panose="02010609060101010101" pitchFamily="49" charset="-122"/>
                <a:cs typeface="Arial" pitchFamily="34" charset="0"/>
              </a:endParaRPr>
            </a:p>
          </p:txBody>
        </p:sp>
        <p:cxnSp>
          <p:nvCxnSpPr>
            <p:cNvPr id="128" name="直接连接符 127">
              <a:extLst>
                <a:ext uri="{FF2B5EF4-FFF2-40B4-BE49-F238E27FC236}">
                  <a16:creationId xmlns:a16="http://schemas.microsoft.com/office/drawing/2014/main" id="{E511CEEE-03E8-94AE-64DF-F22545AAB4E7}"/>
                </a:ext>
              </a:extLst>
            </p:cNvPr>
            <p:cNvCxnSpPr>
              <a:cxnSpLocks/>
              <a:endCxn id="130" idx="0"/>
            </p:cNvCxnSpPr>
            <p:nvPr/>
          </p:nvCxnSpPr>
          <p:spPr>
            <a:xfrm>
              <a:off x="3690505" y="1898711"/>
              <a:ext cx="0" cy="995522"/>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0" name="文本框 129">
              <a:extLst>
                <a:ext uri="{FF2B5EF4-FFF2-40B4-BE49-F238E27FC236}">
                  <a16:creationId xmlns:a16="http://schemas.microsoft.com/office/drawing/2014/main" id="{2058B7AF-74EE-BFD8-D481-B8D6B5519FC8}"/>
                </a:ext>
              </a:extLst>
            </p:cNvPr>
            <p:cNvSpPr txBox="1"/>
            <p:nvPr/>
          </p:nvSpPr>
          <p:spPr>
            <a:xfrm>
              <a:off x="2915927" y="2894233"/>
              <a:ext cx="1549156" cy="305664"/>
            </a:xfrm>
            <a:prstGeom prst="rect">
              <a:avLst/>
            </a:prstGeom>
            <a:noFill/>
          </p:spPr>
          <p:txBody>
            <a:bodyPr wrap="square" rtlCol="0">
              <a:spAutoFit/>
            </a:bodyPr>
            <a:lstStyle/>
            <a:p>
              <a:pPr algn="ctr" defTabSz="914126">
                <a:defRPr/>
              </a:pPr>
              <a:r>
                <a:rPr lang="en-US" altLang="zh-CN" sz="800" b="1">
                  <a:solidFill>
                    <a:srgbClr val="000000"/>
                  </a:solidFill>
                  <a:latin typeface="Tenorite" panose="00000500000000000000" pitchFamily="2" charset="0"/>
                  <a:ea typeface="黑体" panose="02010609060101010101" pitchFamily="49" charset="-122"/>
                  <a:cs typeface="Arial" pitchFamily="34" charset="0"/>
                </a:rPr>
                <a:t>Device AX02 accept</a:t>
              </a:r>
            </a:p>
            <a:p>
              <a:pPr algn="ctr" defTabSz="914126">
                <a:defRPr/>
              </a:pPr>
              <a:r>
                <a:rPr lang="en-US" altLang="zh-CN" sz="800" b="1">
                  <a:solidFill>
                    <a:srgbClr val="FF0000"/>
                  </a:solidFill>
                  <a:latin typeface="Tenorite" panose="00000500000000000000" pitchFamily="2" charset="0"/>
                  <a:ea typeface="黑体" panose="02010609060101010101" pitchFamily="49" charset="-122"/>
                  <a:cs typeface="Arial" pitchFamily="34" charset="0"/>
                </a:rPr>
                <a:t>20</a:t>
              </a:r>
              <a:r>
                <a:rPr lang="en-US" altLang="zh-CN" sz="800" b="1" baseline="30000">
                  <a:solidFill>
                    <a:srgbClr val="FF0000"/>
                  </a:solidFill>
                  <a:latin typeface="Tenorite" panose="00000500000000000000" pitchFamily="2" charset="0"/>
                  <a:ea typeface="黑体" panose="02010609060101010101" pitchFamily="49" charset="-122"/>
                  <a:cs typeface="Arial" pitchFamily="34" charset="0"/>
                </a:rPr>
                <a:t>th</a:t>
              </a:r>
              <a:r>
                <a:rPr lang="en-US" altLang="zh-CN" sz="800" b="1">
                  <a:solidFill>
                    <a:srgbClr val="FF0000"/>
                  </a:solidFill>
                  <a:latin typeface="Tenorite" panose="00000500000000000000" pitchFamily="2" charset="0"/>
                  <a:ea typeface="黑体" panose="02010609060101010101" pitchFamily="49" charset="-122"/>
                  <a:cs typeface="Arial" pitchFamily="34" charset="0"/>
                </a:rPr>
                <a:t> Mar</a:t>
              </a:r>
              <a:endParaRPr lang="zh-CN" altLang="en-US" sz="800" b="1">
                <a:solidFill>
                  <a:srgbClr val="FF0000"/>
                </a:solidFill>
                <a:latin typeface="Tenorite" panose="00000500000000000000" pitchFamily="2" charset="0"/>
                <a:ea typeface="黑体" panose="02010609060101010101" pitchFamily="49" charset="-122"/>
                <a:cs typeface="Arial" pitchFamily="34" charset="0"/>
              </a:endParaRPr>
            </a:p>
          </p:txBody>
        </p:sp>
        <p:cxnSp>
          <p:nvCxnSpPr>
            <p:cNvPr id="132" name="直接连接符 131">
              <a:extLst>
                <a:ext uri="{FF2B5EF4-FFF2-40B4-BE49-F238E27FC236}">
                  <a16:creationId xmlns:a16="http://schemas.microsoft.com/office/drawing/2014/main" id="{FDAC9738-F04E-8FF8-8077-BFC73C2B8F34}"/>
                </a:ext>
              </a:extLst>
            </p:cNvPr>
            <p:cNvCxnSpPr>
              <a:cxnSpLocks/>
            </p:cNvCxnSpPr>
            <p:nvPr/>
          </p:nvCxnSpPr>
          <p:spPr>
            <a:xfrm>
              <a:off x="6380479" y="1009639"/>
              <a:ext cx="0" cy="2044711"/>
            </a:xfrm>
            <a:prstGeom prst="line">
              <a:avLst/>
            </a:prstGeom>
            <a:ln w="317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4" name="文本框 133">
              <a:extLst>
                <a:ext uri="{FF2B5EF4-FFF2-40B4-BE49-F238E27FC236}">
                  <a16:creationId xmlns:a16="http://schemas.microsoft.com/office/drawing/2014/main" id="{CC1971AA-3656-E521-8163-5276037C8603}"/>
                </a:ext>
              </a:extLst>
            </p:cNvPr>
            <p:cNvSpPr txBox="1"/>
            <p:nvPr/>
          </p:nvSpPr>
          <p:spPr>
            <a:xfrm>
              <a:off x="5593085" y="2271174"/>
              <a:ext cx="1549156" cy="305664"/>
            </a:xfrm>
            <a:prstGeom prst="rect">
              <a:avLst/>
            </a:prstGeom>
            <a:noFill/>
          </p:spPr>
          <p:txBody>
            <a:bodyPr wrap="square" rtlCol="0">
              <a:spAutoFit/>
            </a:bodyPr>
            <a:lstStyle/>
            <a:p>
              <a:pPr algn="ctr" defTabSz="914126">
                <a:defRPr/>
              </a:pPr>
              <a:r>
                <a:rPr lang="en-US" altLang="zh-CN" sz="800">
                  <a:solidFill>
                    <a:srgbClr val="000000"/>
                  </a:solidFill>
                  <a:latin typeface="Tenorite" panose="00000500000000000000" pitchFamily="2" charset="0"/>
                  <a:ea typeface="黑体" panose="02010609060101010101" pitchFamily="49" charset="-122"/>
                  <a:cs typeface="Arial" pitchFamily="34" charset="0"/>
                </a:rPr>
                <a:t>Term2 Commence Date</a:t>
              </a:r>
            </a:p>
            <a:p>
              <a:pPr algn="ctr" defTabSz="914126">
                <a:defRPr/>
              </a:pPr>
              <a:r>
                <a:rPr lang="en-US" altLang="zh-CN" sz="800">
                  <a:solidFill>
                    <a:srgbClr val="FF0000"/>
                  </a:solidFill>
                  <a:latin typeface="Tenorite" panose="00000500000000000000" pitchFamily="2" charset="0"/>
                  <a:ea typeface="黑体" panose="02010609060101010101" pitchFamily="49" charset="-122"/>
                  <a:cs typeface="Arial" pitchFamily="34" charset="0"/>
                </a:rPr>
                <a:t>1</a:t>
              </a:r>
              <a:r>
                <a:rPr lang="en-US" altLang="zh-CN" sz="800" baseline="30000">
                  <a:solidFill>
                    <a:srgbClr val="FF0000"/>
                  </a:solidFill>
                  <a:latin typeface="Tenorite" panose="00000500000000000000" pitchFamily="2" charset="0"/>
                  <a:ea typeface="黑体" panose="02010609060101010101" pitchFamily="49" charset="-122"/>
                  <a:cs typeface="Arial" pitchFamily="34" charset="0"/>
                </a:rPr>
                <a:t>st</a:t>
              </a:r>
              <a:r>
                <a:rPr lang="en-US" altLang="zh-CN" sz="800">
                  <a:solidFill>
                    <a:srgbClr val="FF0000"/>
                  </a:solidFill>
                  <a:latin typeface="Tenorite" panose="00000500000000000000" pitchFamily="2" charset="0"/>
                  <a:ea typeface="黑体" panose="02010609060101010101" pitchFamily="49" charset="-122"/>
                  <a:cs typeface="Arial" pitchFamily="34" charset="0"/>
                </a:rPr>
                <a:t> Jul</a:t>
              </a:r>
              <a:endParaRPr lang="zh-CN" altLang="en-US" sz="800">
                <a:solidFill>
                  <a:srgbClr val="FF0000"/>
                </a:solidFill>
                <a:latin typeface="Tenorite" panose="00000500000000000000" pitchFamily="2" charset="0"/>
                <a:ea typeface="黑体" panose="02010609060101010101" pitchFamily="49" charset="-122"/>
                <a:cs typeface="Arial" pitchFamily="34" charset="0"/>
              </a:endParaRPr>
            </a:p>
          </p:txBody>
        </p:sp>
        <p:cxnSp>
          <p:nvCxnSpPr>
            <p:cNvPr id="136" name="直接连接符 135">
              <a:extLst>
                <a:ext uri="{FF2B5EF4-FFF2-40B4-BE49-F238E27FC236}">
                  <a16:creationId xmlns:a16="http://schemas.microsoft.com/office/drawing/2014/main" id="{162166AF-1E90-4A3E-A58F-135AC1D27A0A}"/>
                </a:ext>
              </a:extLst>
            </p:cNvPr>
            <p:cNvCxnSpPr>
              <a:cxnSpLocks/>
            </p:cNvCxnSpPr>
            <p:nvPr/>
          </p:nvCxnSpPr>
          <p:spPr>
            <a:xfrm>
              <a:off x="3690505" y="2822274"/>
              <a:ext cx="2677159" cy="0"/>
            </a:xfrm>
            <a:prstGeom prst="line">
              <a:avLst/>
            </a:prstGeom>
            <a:ln w="1905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8" name="文本框 137">
              <a:extLst>
                <a:ext uri="{FF2B5EF4-FFF2-40B4-BE49-F238E27FC236}">
                  <a16:creationId xmlns:a16="http://schemas.microsoft.com/office/drawing/2014/main" id="{44E02516-7B9A-51A4-C938-40FBDBF407D9}"/>
                </a:ext>
              </a:extLst>
            </p:cNvPr>
            <p:cNvSpPr txBox="1"/>
            <p:nvPr/>
          </p:nvSpPr>
          <p:spPr>
            <a:xfrm>
              <a:off x="4420856" y="2623905"/>
              <a:ext cx="1494571" cy="194514"/>
            </a:xfrm>
            <a:prstGeom prst="rect">
              <a:avLst/>
            </a:prstGeom>
            <a:noFill/>
          </p:spPr>
          <p:txBody>
            <a:bodyPr wrap="square" rtlCol="0">
              <a:spAutoFit/>
            </a:bodyPr>
            <a:lstStyle/>
            <a:p>
              <a:pPr defTabSz="914126">
                <a:defRPr/>
              </a:pPr>
              <a:r>
                <a:rPr lang="en-US" altLang="zh-CN" sz="800">
                  <a:solidFill>
                    <a:srgbClr val="000000"/>
                  </a:solidFill>
                  <a:highlight>
                    <a:srgbClr val="FFFF00"/>
                  </a:highlight>
                  <a:latin typeface="Tenorite" panose="00000500000000000000" pitchFamily="2" charset="0"/>
                  <a:ea typeface="黑体" panose="02010609060101010101" pitchFamily="49" charset="-122"/>
                  <a:cs typeface="Arial" pitchFamily="34" charset="0"/>
                </a:rPr>
                <a:t>Interim Charge </a:t>
              </a:r>
              <a:r>
                <a:rPr lang="en-US" altLang="zh-CN" sz="800" b="1">
                  <a:solidFill>
                    <a:schemeClr val="accent2"/>
                  </a:solidFill>
                  <a:highlight>
                    <a:srgbClr val="FFFF00"/>
                  </a:highlight>
                  <a:latin typeface="Tenorite" panose="00000500000000000000" pitchFamily="2" charset="0"/>
                  <a:ea typeface="黑体" panose="02010609060101010101" pitchFamily="49" charset="-122"/>
                  <a:cs typeface="Arial" pitchFamily="34" charset="0"/>
                </a:rPr>
                <a:t>103days (&gt; 90)</a:t>
              </a:r>
              <a:endParaRPr lang="zh-CN" altLang="en-US" sz="800" b="1">
                <a:solidFill>
                  <a:schemeClr val="accent2"/>
                </a:solidFill>
                <a:highlight>
                  <a:srgbClr val="FFFF00"/>
                </a:highlight>
                <a:latin typeface="Tenorite" panose="00000500000000000000" pitchFamily="2" charset="0"/>
                <a:ea typeface="黑体" panose="02010609060101010101" pitchFamily="49" charset="-122"/>
                <a:cs typeface="Arial" pitchFamily="34" charset="0"/>
              </a:endParaRPr>
            </a:p>
          </p:txBody>
        </p:sp>
      </p:grpSp>
      <p:sp>
        <p:nvSpPr>
          <p:cNvPr id="141" name="文本框 140">
            <a:extLst>
              <a:ext uri="{FF2B5EF4-FFF2-40B4-BE49-F238E27FC236}">
                <a16:creationId xmlns:a16="http://schemas.microsoft.com/office/drawing/2014/main" id="{28BE1A7E-02CB-6F70-67A2-BC4330320560}"/>
              </a:ext>
            </a:extLst>
          </p:cNvPr>
          <p:cNvSpPr txBox="1"/>
          <p:nvPr/>
        </p:nvSpPr>
        <p:spPr>
          <a:xfrm>
            <a:off x="538553" y="3365428"/>
            <a:ext cx="6286108" cy="1756571"/>
          </a:xfrm>
          <a:prstGeom prst="rect">
            <a:avLst/>
          </a:prstGeom>
          <a:noFill/>
        </p:spPr>
        <p:txBody>
          <a:bodyPr wrap="square">
            <a:spAutoFit/>
          </a:bodyPr>
          <a:lstStyle/>
          <a:p>
            <a:pPr defTabSz="914126">
              <a:lnSpc>
                <a:spcPct val="150000"/>
              </a:lnSpc>
              <a:spcBef>
                <a:spcPts val="600"/>
              </a:spcBef>
              <a:defRPr/>
            </a:pPr>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rPr>
              <a:t>Interim Charge calculation: </a:t>
            </a:r>
          </a:p>
          <a:p>
            <a:pPr marL="171399" indent="-171399" defTabSz="914126">
              <a:lnSpc>
                <a:spcPct val="150000"/>
              </a:lnSpc>
              <a:spcBef>
                <a:spcPts val="600"/>
              </a:spcBef>
              <a:buFont typeface="Arial" panose="020B0604020202020204" pitchFamily="34" charset="0"/>
              <a:buChar char="•"/>
              <a:defRPr/>
            </a:pPr>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rPr>
              <a:t>Quantity(days): </a:t>
            </a:r>
            <a:r>
              <a:rPr lang="zh-CN" altLang="en-US" sz="1000">
                <a:solidFill>
                  <a:srgbClr val="000000"/>
                </a:solidFill>
                <a:latin typeface="Lato" panose="020F0502020204030203" pitchFamily="34" charset="0"/>
                <a:ea typeface="黑体" panose="02010609060101010101" pitchFamily="49" charset="-122"/>
                <a:cs typeface="Lato" panose="020F0502020204030203" pitchFamily="34" charset="0"/>
              </a:rPr>
              <a:t>interim charge </a:t>
            </a:r>
            <a:r>
              <a:rPr lang="en-US" altLang="zh-CN" sz="1000">
                <a:solidFill>
                  <a:srgbClr val="000000"/>
                </a:solidFill>
                <a:latin typeface="Lato" panose="020F0502020204030203" pitchFamily="34" charset="0"/>
                <a:ea typeface="Lato" panose="020F0502020204030203" pitchFamily="34" charset="0"/>
                <a:cs typeface="Lato" panose="020F0502020204030203" pitchFamily="34" charset="0"/>
              </a:rPr>
              <a:t>for  2026/4/1-2026/2/15 =50D , from acceptance date to commence date</a:t>
            </a:r>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rPr>
              <a:t>, Interim charge days may greater than terms days , as shown in above sample . </a:t>
            </a:r>
          </a:p>
          <a:p>
            <a:pPr marL="171399" indent="-171399" defTabSz="914126">
              <a:lnSpc>
                <a:spcPct val="150000"/>
              </a:lnSpc>
              <a:spcBef>
                <a:spcPts val="600"/>
              </a:spcBef>
              <a:buFont typeface="Arial" panose="020B0604020202020204" pitchFamily="34" charset="0"/>
              <a:buChar char="•"/>
              <a:defRPr/>
            </a:pPr>
            <a:r>
              <a:rPr lang="en-US" altLang="zh-CN" sz="1000" b="1">
                <a:solidFill>
                  <a:srgbClr val="FF0000"/>
                </a:solidFill>
                <a:latin typeface="Lato" panose="020F0502020204030203" pitchFamily="34" charset="0"/>
                <a:ea typeface="Lato" panose="020F0502020204030203" pitchFamily="34" charset="0"/>
                <a:cs typeface="Lato" panose="020F0502020204030203" pitchFamily="34" charset="0"/>
              </a:rPr>
              <a:t>Option2: new req raised at 20260901:  set fix interim charge date by cycle </a:t>
            </a:r>
          </a:p>
          <a:p>
            <a:pPr marL="171399" indent="-171399" defTabSz="914126">
              <a:lnSpc>
                <a:spcPct val="150000"/>
              </a:lnSpc>
              <a:spcBef>
                <a:spcPts val="600"/>
              </a:spcBef>
              <a:buFont typeface="Arial" panose="020B0604020202020204" pitchFamily="34" charset="0"/>
              <a:buChar char="•"/>
              <a:defRPr/>
            </a:pPr>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rPr>
              <a:t>Unit price(/day) </a:t>
            </a:r>
            <a:r>
              <a:rPr lang="en-US" altLang="zh-CN" sz="1000">
                <a:solidFill>
                  <a:srgbClr val="000000"/>
                </a:solidFill>
                <a:latin typeface="Lato" panose="020F0502020204030203" pitchFamily="34" charset="0"/>
                <a:ea typeface="Lato" panose="020F0502020204030203" pitchFamily="34" charset="0"/>
                <a:cs typeface="Lato" panose="020F0502020204030203" pitchFamily="34" charset="0"/>
              </a:rPr>
              <a:t>= recuring term price/90 (</a:t>
            </a:r>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rPr>
              <a:t>fix Quarterly-90/Semi-Yearly-180/ Yearly-360</a:t>
            </a:r>
            <a:r>
              <a:rPr lang="en-US" altLang="zh-CN" sz="1000">
                <a:solidFill>
                  <a:srgbClr val="000000"/>
                </a:solidFill>
                <a:latin typeface="Lato" panose="020F0502020204030203" pitchFamily="34" charset="0"/>
                <a:ea typeface="Lato" panose="020F0502020204030203" pitchFamily="34" charset="0"/>
                <a:cs typeface="Lato" panose="020F0502020204030203" pitchFamily="34" charset="0"/>
              </a:rPr>
              <a:t>)   </a:t>
            </a:r>
          </a:p>
          <a:p>
            <a:pPr marL="171399" indent="-171399" defTabSz="914126">
              <a:lnSpc>
                <a:spcPct val="150000"/>
              </a:lnSpc>
              <a:spcBef>
                <a:spcPts val="600"/>
              </a:spcBef>
              <a:buFont typeface="Arial" panose="020B0604020202020204" pitchFamily="34" charset="0"/>
              <a:buChar char="•"/>
              <a:defRPr/>
            </a:pPr>
            <a:r>
              <a:rPr lang="en-US" altLang="zh-CN" sz="1000" b="1">
                <a:solidFill>
                  <a:srgbClr val="000000"/>
                </a:solidFill>
                <a:latin typeface="Lato" panose="020F0502020204030203" pitchFamily="34" charset="0"/>
                <a:ea typeface="Lato" panose="020F0502020204030203" pitchFamily="34" charset="0"/>
                <a:cs typeface="Lato" panose="020F0502020204030203" pitchFamily="34" charset="0"/>
              </a:rPr>
              <a:t>Interim charge </a:t>
            </a:r>
            <a:r>
              <a:rPr lang="en-US" altLang="zh-CN" sz="1000">
                <a:solidFill>
                  <a:srgbClr val="000000"/>
                </a:solidFill>
                <a:latin typeface="Lato" panose="020F0502020204030203" pitchFamily="34" charset="0"/>
                <a:ea typeface="Lato" panose="020F0502020204030203" pitchFamily="34" charset="0"/>
                <a:cs typeface="Lato" panose="020F0502020204030203" pitchFamily="34" charset="0"/>
              </a:rPr>
              <a:t>= 50D*unit price (day per device)     </a:t>
            </a:r>
          </a:p>
        </p:txBody>
      </p:sp>
      <p:sp>
        <p:nvSpPr>
          <p:cNvPr id="7" name="标注: 弯曲线形(带强调线) 6">
            <a:extLst>
              <a:ext uri="{FF2B5EF4-FFF2-40B4-BE49-F238E27FC236}">
                <a16:creationId xmlns:a16="http://schemas.microsoft.com/office/drawing/2014/main" id="{80B97ACE-9A32-B5EC-1E52-C0797AC07F2A}"/>
              </a:ext>
            </a:extLst>
          </p:cNvPr>
          <p:cNvSpPr/>
          <p:nvPr/>
        </p:nvSpPr>
        <p:spPr>
          <a:xfrm>
            <a:off x="9773001" y="2492529"/>
            <a:ext cx="1693333" cy="711200"/>
          </a:xfrm>
          <a:prstGeom prst="accentCallout2">
            <a:avLst>
              <a:gd name="adj1" fmla="val 18750"/>
              <a:gd name="adj2" fmla="val -8333"/>
              <a:gd name="adj3" fmla="val 18750"/>
              <a:gd name="adj4" fmla="val -16667"/>
              <a:gd name="adj5" fmla="val 52864"/>
              <a:gd name="adj6" fmla="val -76893"/>
            </a:avLst>
          </a:prstGeom>
          <a:no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100" b="1">
                <a:solidFill>
                  <a:schemeClr val="tx1"/>
                </a:solidFill>
                <a:latin typeface="Tenorite" panose="00000500000000000000" pitchFamily="2" charset="0"/>
              </a:rPr>
              <a:t>Interim charge days may greater than term days 90</a:t>
            </a:r>
            <a:endParaRPr lang="zh-CN" altLang="en-US" sz="1100" b="1">
              <a:solidFill>
                <a:schemeClr val="tx1"/>
              </a:solidFill>
              <a:latin typeface="Tenorite" panose="00000500000000000000" pitchFamily="2" charset="0"/>
            </a:endParaRPr>
          </a:p>
        </p:txBody>
      </p:sp>
      <p:sp>
        <p:nvSpPr>
          <p:cNvPr id="3" name="文本框 2">
            <a:extLst>
              <a:ext uri="{FF2B5EF4-FFF2-40B4-BE49-F238E27FC236}">
                <a16:creationId xmlns:a16="http://schemas.microsoft.com/office/drawing/2014/main" id="{B5072DFA-4938-7798-DBAB-A346969C2AF8}"/>
              </a:ext>
            </a:extLst>
          </p:cNvPr>
          <p:cNvSpPr txBox="1"/>
          <p:nvPr/>
        </p:nvSpPr>
        <p:spPr>
          <a:xfrm>
            <a:off x="131007" y="5586451"/>
            <a:ext cx="8424038" cy="384721"/>
          </a:xfrm>
          <a:prstGeom prst="rect">
            <a:avLst/>
          </a:prstGeom>
          <a:noFill/>
        </p:spPr>
        <p:txBody>
          <a:bodyPr wrap="square" lIns="0" tIns="0" rIns="0" bIns="0" rtlCol="0">
            <a:spAutoFit/>
          </a:bodyPr>
          <a:lstStyle/>
          <a:p>
            <a:pPr defTabSz="914126">
              <a:spcBef>
                <a:spcPts val="600"/>
              </a:spcBef>
              <a:defRPr/>
            </a:pPr>
            <a:r>
              <a:rPr lang="en-US" altLang="zh-CN" sz="1000" b="1">
                <a:solidFill>
                  <a:srgbClr val="FF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New </a:t>
            </a:r>
            <a:r>
              <a:rPr lang="zh-CN" altLang="en-US" sz="1000" b="1">
                <a:solidFill>
                  <a:srgbClr val="FF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 </a:t>
            </a:r>
            <a:r>
              <a:rPr lang="en-US" altLang="zh-CN" sz="1000" b="1">
                <a:solidFill>
                  <a:srgbClr val="FF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consider option 2 to set fix interim days , for </a:t>
            </a:r>
            <a:r>
              <a:rPr lang="en-US" altLang="zh-CN" sz="1000" b="1" err="1">
                <a:solidFill>
                  <a:srgbClr val="FF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eg</a:t>
            </a:r>
            <a:r>
              <a:rPr lang="en-US" altLang="zh-CN" sz="1000" b="1">
                <a:solidFill>
                  <a:srgbClr val="FF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 45days for quarterly, 90days for semi-y,  180D for yearly  </a:t>
            </a:r>
          </a:p>
          <a:p>
            <a:pPr defTabSz="914126">
              <a:spcBef>
                <a:spcPts val="600"/>
              </a:spcBef>
              <a:defRPr/>
            </a:pPr>
            <a:r>
              <a:rPr lang="en-US" sz="1000" b="1">
                <a:solidFill>
                  <a:srgbClr val="FF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    </a:t>
            </a:r>
            <a:endParaRPr lang="en-US" altLang="zh-CN" sz="900">
              <a:solidFill>
                <a:srgbClr val="FF0000"/>
              </a:solidFill>
              <a:latin typeface="Lato" panose="020F0502020204030203" pitchFamily="34" charset="0"/>
              <a:ea typeface="Lato" panose="020F0502020204030203" pitchFamily="34" charset="0"/>
              <a:cs typeface="Lato" panose="020F0502020204030203" pitchFamily="34" charset="0"/>
            </a:endParaRPr>
          </a:p>
        </p:txBody>
      </p:sp>
      <p:sp>
        <p:nvSpPr>
          <p:cNvPr id="4" name="矩形 3">
            <a:extLst>
              <a:ext uri="{FF2B5EF4-FFF2-40B4-BE49-F238E27FC236}">
                <a16:creationId xmlns:a16="http://schemas.microsoft.com/office/drawing/2014/main" id="{19F0E065-0A0C-20F9-71E7-0338BAFEF5CD}"/>
              </a:ext>
            </a:extLst>
          </p:cNvPr>
          <p:cNvSpPr/>
          <p:nvPr/>
        </p:nvSpPr>
        <p:spPr>
          <a:xfrm>
            <a:off x="7044764" y="4077852"/>
            <a:ext cx="4814392" cy="1210269"/>
          </a:xfrm>
          <a:prstGeom prst="rect">
            <a:avLst/>
          </a:prstGeom>
          <a:solidFill>
            <a:schemeClr val="bg1">
              <a:lumMod val="95000"/>
            </a:schemeClr>
          </a:solidFill>
          <a:ln w="6350">
            <a:solidFill>
              <a:schemeClr val="bg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endParaRPr lang="zh-CN" altLang="en-US" sz="1200" b="1">
              <a:solidFill>
                <a:srgbClr val="000000"/>
              </a:solidFill>
              <a:latin typeface="Tenorite" panose="00000500000000000000" pitchFamily="2" charset="0"/>
              <a:ea typeface="黑体" panose="02010609060101010101" pitchFamily="49" charset="-122"/>
            </a:endParaRPr>
          </a:p>
        </p:txBody>
      </p:sp>
      <p:sp>
        <p:nvSpPr>
          <p:cNvPr id="6" name="矩形 5">
            <a:extLst>
              <a:ext uri="{FF2B5EF4-FFF2-40B4-BE49-F238E27FC236}">
                <a16:creationId xmlns:a16="http://schemas.microsoft.com/office/drawing/2014/main" id="{CC173EEB-1FF6-7688-F4E4-71ADB6835903}"/>
              </a:ext>
            </a:extLst>
          </p:cNvPr>
          <p:cNvSpPr/>
          <p:nvPr/>
        </p:nvSpPr>
        <p:spPr>
          <a:xfrm>
            <a:off x="7203356" y="4439054"/>
            <a:ext cx="4585950" cy="757902"/>
          </a:xfrm>
          <a:prstGeom prst="rect">
            <a:avLst/>
          </a:prstGeom>
          <a:solidFill>
            <a:schemeClr val="accent4">
              <a:lumMod val="20000"/>
              <a:lumOff val="80000"/>
            </a:schemeClr>
          </a:solidFill>
          <a:ln w="6350">
            <a:noFill/>
          </a:ln>
          <a:effectLst/>
          <a:scene3d>
            <a:camera prst="orthographicFront">
              <a:rot lat="0" lon="0" rev="0"/>
            </a:camera>
            <a:lightRig rig="contrasting" dir="t">
              <a:rot lat="0" lon="0" rev="7800000"/>
            </a:lightRig>
          </a:scene3d>
          <a:sp3d>
            <a:bevelT w="139700" h="139700"/>
          </a:sp3d>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defRPr/>
            </a:pPr>
            <a:endParaRPr lang="zh-CN" altLang="en-US" sz="1200" b="1">
              <a:solidFill>
                <a:srgbClr val="000000"/>
              </a:solidFill>
              <a:latin typeface="Tenorite" panose="00000500000000000000" pitchFamily="2" charset="0"/>
              <a:ea typeface="黑体" panose="02010609060101010101" pitchFamily="49" charset="-122"/>
            </a:endParaRPr>
          </a:p>
        </p:txBody>
      </p:sp>
      <p:sp>
        <p:nvSpPr>
          <p:cNvPr id="8" name="文本框 7">
            <a:extLst>
              <a:ext uri="{FF2B5EF4-FFF2-40B4-BE49-F238E27FC236}">
                <a16:creationId xmlns:a16="http://schemas.microsoft.com/office/drawing/2014/main" id="{20919F65-D7EC-32BD-D1B6-FE5D886D6A30}"/>
              </a:ext>
            </a:extLst>
          </p:cNvPr>
          <p:cNvSpPr txBox="1"/>
          <p:nvPr/>
        </p:nvSpPr>
        <p:spPr>
          <a:xfrm>
            <a:off x="7439957" y="4456827"/>
            <a:ext cx="2628501" cy="246221"/>
          </a:xfrm>
          <a:prstGeom prst="rect">
            <a:avLst/>
          </a:prstGeom>
          <a:noFill/>
        </p:spPr>
        <p:txBody>
          <a:bodyPr wrap="square" rIns="0" rtlCol="0">
            <a:spAutoFit/>
          </a:bodyPr>
          <a:lstStyle/>
          <a:p>
            <a:pPr defTabSz="914126">
              <a:defRPr/>
            </a:pPr>
            <a:r>
              <a:rPr lang="en-US" altLang="zh-CN" sz="1000">
                <a:solidFill>
                  <a:srgbClr val="000000"/>
                </a:solidFill>
                <a:latin typeface="Tenorite" panose="00000500000000000000" pitchFamily="2" charset="0"/>
                <a:ea typeface="黑体" panose="02010609060101010101" pitchFamily="49" charset="-122"/>
                <a:cs typeface="Arial" pitchFamily="34" charset="0"/>
              </a:rPr>
              <a:t>Fix interim charge days for Quarterly tranche:</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9" name="文本框 8">
            <a:extLst>
              <a:ext uri="{FF2B5EF4-FFF2-40B4-BE49-F238E27FC236}">
                <a16:creationId xmlns:a16="http://schemas.microsoft.com/office/drawing/2014/main" id="{1D95D351-1C10-DED5-69C1-84A7678F190F}"/>
              </a:ext>
            </a:extLst>
          </p:cNvPr>
          <p:cNvSpPr txBox="1"/>
          <p:nvPr/>
        </p:nvSpPr>
        <p:spPr>
          <a:xfrm>
            <a:off x="7439957" y="4669381"/>
            <a:ext cx="3410593" cy="246221"/>
          </a:xfrm>
          <a:prstGeom prst="rect">
            <a:avLst/>
          </a:prstGeom>
          <a:noFill/>
        </p:spPr>
        <p:txBody>
          <a:bodyPr wrap="square" rIns="0" rtlCol="0">
            <a:spAutoFit/>
          </a:bodyPr>
          <a:lstStyle/>
          <a:p>
            <a:pPr defTabSz="914126">
              <a:defRPr/>
            </a:pPr>
            <a:r>
              <a:rPr lang="en-US" altLang="zh-CN" sz="1000">
                <a:solidFill>
                  <a:srgbClr val="000000"/>
                </a:solidFill>
                <a:latin typeface="Tenorite" panose="00000500000000000000" pitchFamily="2" charset="0"/>
                <a:cs typeface="Arial" pitchFamily="34" charset="0"/>
              </a:rPr>
              <a:t>Fix interim charge days for Semi-Yearly tranche:</a:t>
            </a:r>
            <a:endParaRPr lang="zh-CN" altLang="en-US" sz="1000">
              <a:solidFill>
                <a:srgbClr val="000000"/>
              </a:solidFill>
              <a:latin typeface="Tenorite" panose="00000500000000000000" pitchFamily="2" charset="0"/>
              <a:cs typeface="Arial" pitchFamily="34" charset="0"/>
            </a:endParaRPr>
          </a:p>
        </p:txBody>
      </p:sp>
      <p:sp>
        <p:nvSpPr>
          <p:cNvPr id="10" name="文本框 9">
            <a:extLst>
              <a:ext uri="{FF2B5EF4-FFF2-40B4-BE49-F238E27FC236}">
                <a16:creationId xmlns:a16="http://schemas.microsoft.com/office/drawing/2014/main" id="{EEE82764-3535-8724-1152-6138A688B8C5}"/>
              </a:ext>
            </a:extLst>
          </p:cNvPr>
          <p:cNvSpPr txBox="1"/>
          <p:nvPr/>
        </p:nvSpPr>
        <p:spPr>
          <a:xfrm>
            <a:off x="7439957" y="4877549"/>
            <a:ext cx="3410593" cy="246221"/>
          </a:xfrm>
          <a:prstGeom prst="rect">
            <a:avLst/>
          </a:prstGeom>
          <a:noFill/>
        </p:spPr>
        <p:txBody>
          <a:bodyPr wrap="square" rIns="0" rtlCol="0">
            <a:spAutoFit/>
          </a:bodyPr>
          <a:lstStyle/>
          <a:p>
            <a:pPr defTabSz="914126">
              <a:defRPr/>
            </a:pPr>
            <a:r>
              <a:rPr lang="en-US" altLang="zh-CN" sz="1000">
                <a:solidFill>
                  <a:srgbClr val="000000"/>
                </a:solidFill>
                <a:latin typeface="Tenorite" panose="00000500000000000000" pitchFamily="2" charset="0"/>
                <a:cs typeface="Arial" pitchFamily="34" charset="0"/>
              </a:rPr>
              <a:t>Fix interim charge days for Yearly tranche:</a:t>
            </a:r>
            <a:endParaRPr lang="zh-CN" altLang="en-US" sz="1000">
              <a:solidFill>
                <a:srgbClr val="000000"/>
              </a:solidFill>
              <a:latin typeface="Tenorite" panose="00000500000000000000" pitchFamily="2" charset="0"/>
              <a:cs typeface="Arial" pitchFamily="34" charset="0"/>
            </a:endParaRPr>
          </a:p>
        </p:txBody>
      </p:sp>
      <p:sp>
        <p:nvSpPr>
          <p:cNvPr id="22" name="矩形 21">
            <a:extLst>
              <a:ext uri="{FF2B5EF4-FFF2-40B4-BE49-F238E27FC236}">
                <a16:creationId xmlns:a16="http://schemas.microsoft.com/office/drawing/2014/main" id="{B77DBE8A-BD47-8636-7AC4-B8986FF34EB6}"/>
              </a:ext>
            </a:extLst>
          </p:cNvPr>
          <p:cNvSpPr/>
          <p:nvPr/>
        </p:nvSpPr>
        <p:spPr>
          <a:xfrm>
            <a:off x="6933634" y="3726637"/>
            <a:ext cx="5096972" cy="1689231"/>
          </a:xfrm>
          <a:prstGeom prst="rect">
            <a:avLst/>
          </a:prstGeom>
          <a:noFill/>
          <a:ln w="6350">
            <a:solidFill>
              <a:srgbClr val="FF0000"/>
            </a:solidFill>
            <a:prstDash val="dash"/>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23" name="矩形 22">
            <a:extLst>
              <a:ext uri="{FF2B5EF4-FFF2-40B4-BE49-F238E27FC236}">
                <a16:creationId xmlns:a16="http://schemas.microsoft.com/office/drawing/2014/main" id="{58E552EB-FECE-E4CA-C16F-47B09F6BF361}"/>
              </a:ext>
            </a:extLst>
          </p:cNvPr>
          <p:cNvSpPr/>
          <p:nvPr/>
        </p:nvSpPr>
        <p:spPr>
          <a:xfrm>
            <a:off x="10347857" y="4491564"/>
            <a:ext cx="596900" cy="177816"/>
          </a:xfrm>
          <a:prstGeom prst="rect">
            <a:avLst/>
          </a:prstGeom>
          <a:solidFill>
            <a:schemeClr val="bg1"/>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200" b="1">
                <a:solidFill>
                  <a:schemeClr val="tx1"/>
                </a:solidFill>
                <a:latin typeface="Tenorite" panose="00000500000000000000" pitchFamily="2" charset="0"/>
              </a:rPr>
              <a:t>45</a:t>
            </a:r>
            <a:endParaRPr lang="zh-CN" altLang="en-US" sz="1200" b="1">
              <a:solidFill>
                <a:schemeClr val="tx1"/>
              </a:solidFill>
              <a:latin typeface="Tenorite" panose="00000500000000000000" pitchFamily="2" charset="0"/>
            </a:endParaRPr>
          </a:p>
        </p:txBody>
      </p:sp>
      <p:sp>
        <p:nvSpPr>
          <p:cNvPr id="25" name="文本框 24">
            <a:extLst>
              <a:ext uri="{FF2B5EF4-FFF2-40B4-BE49-F238E27FC236}">
                <a16:creationId xmlns:a16="http://schemas.microsoft.com/office/drawing/2014/main" id="{8D8EF8C9-F743-E113-49AB-985CE639D57C}"/>
              </a:ext>
            </a:extLst>
          </p:cNvPr>
          <p:cNvSpPr txBox="1"/>
          <p:nvPr/>
        </p:nvSpPr>
        <p:spPr>
          <a:xfrm>
            <a:off x="10921234" y="4448141"/>
            <a:ext cx="417430" cy="246221"/>
          </a:xfrm>
          <a:prstGeom prst="rect">
            <a:avLst/>
          </a:prstGeom>
          <a:noFill/>
        </p:spPr>
        <p:txBody>
          <a:bodyPr wrap="square" rIns="0" rtlCol="0">
            <a:spAutoFit/>
          </a:bodyPr>
          <a:lstStyle/>
          <a:p>
            <a:pPr defTabSz="914126">
              <a:defRPr/>
            </a:pPr>
            <a:r>
              <a:rPr lang="en-US" altLang="zh-CN" sz="1000">
                <a:solidFill>
                  <a:srgbClr val="000000"/>
                </a:solidFill>
                <a:latin typeface="Tenorite" panose="00000500000000000000" pitchFamily="2" charset="0"/>
                <a:ea typeface="黑体" panose="02010609060101010101" pitchFamily="49" charset="-122"/>
                <a:cs typeface="Arial" pitchFamily="34" charset="0"/>
              </a:rPr>
              <a:t>days</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27" name="矩形 26">
            <a:extLst>
              <a:ext uri="{FF2B5EF4-FFF2-40B4-BE49-F238E27FC236}">
                <a16:creationId xmlns:a16="http://schemas.microsoft.com/office/drawing/2014/main" id="{F9C4F67D-BC20-7388-5F27-0EE390EF122B}"/>
              </a:ext>
            </a:extLst>
          </p:cNvPr>
          <p:cNvSpPr/>
          <p:nvPr/>
        </p:nvSpPr>
        <p:spPr>
          <a:xfrm>
            <a:off x="10345318" y="4703059"/>
            <a:ext cx="596900" cy="177816"/>
          </a:xfrm>
          <a:prstGeom prst="rect">
            <a:avLst/>
          </a:prstGeom>
          <a:solidFill>
            <a:schemeClr val="bg1"/>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200" b="1">
                <a:solidFill>
                  <a:schemeClr val="tx1"/>
                </a:solidFill>
                <a:latin typeface="Tenorite" panose="00000500000000000000" pitchFamily="2" charset="0"/>
              </a:rPr>
              <a:t>90</a:t>
            </a:r>
            <a:endParaRPr lang="zh-CN" altLang="en-US" sz="1200" b="1">
              <a:solidFill>
                <a:schemeClr val="tx1"/>
              </a:solidFill>
              <a:latin typeface="Tenorite" panose="00000500000000000000" pitchFamily="2" charset="0"/>
            </a:endParaRPr>
          </a:p>
        </p:txBody>
      </p:sp>
      <p:sp>
        <p:nvSpPr>
          <p:cNvPr id="29" name="文本框 28">
            <a:extLst>
              <a:ext uri="{FF2B5EF4-FFF2-40B4-BE49-F238E27FC236}">
                <a16:creationId xmlns:a16="http://schemas.microsoft.com/office/drawing/2014/main" id="{81B2F614-25A3-B59E-14CA-D8DA7B6890E6}"/>
              </a:ext>
            </a:extLst>
          </p:cNvPr>
          <p:cNvSpPr txBox="1"/>
          <p:nvPr/>
        </p:nvSpPr>
        <p:spPr>
          <a:xfrm>
            <a:off x="10918695" y="4659636"/>
            <a:ext cx="417430" cy="246221"/>
          </a:xfrm>
          <a:prstGeom prst="rect">
            <a:avLst/>
          </a:prstGeom>
          <a:noFill/>
        </p:spPr>
        <p:txBody>
          <a:bodyPr wrap="square" rIns="0" rtlCol="0">
            <a:spAutoFit/>
          </a:bodyPr>
          <a:lstStyle/>
          <a:p>
            <a:pPr defTabSz="914126">
              <a:defRPr/>
            </a:pPr>
            <a:r>
              <a:rPr lang="en-US" altLang="zh-CN" sz="1000">
                <a:solidFill>
                  <a:srgbClr val="000000"/>
                </a:solidFill>
                <a:latin typeface="Tenorite" panose="00000500000000000000" pitchFamily="2" charset="0"/>
                <a:ea typeface="黑体" panose="02010609060101010101" pitchFamily="49" charset="-122"/>
                <a:cs typeface="Arial" pitchFamily="34" charset="0"/>
              </a:rPr>
              <a:t>days</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31" name="矩形 30">
            <a:extLst>
              <a:ext uri="{FF2B5EF4-FFF2-40B4-BE49-F238E27FC236}">
                <a16:creationId xmlns:a16="http://schemas.microsoft.com/office/drawing/2014/main" id="{D585520D-0EED-2FD1-157A-D6C040CFF1BE}"/>
              </a:ext>
            </a:extLst>
          </p:cNvPr>
          <p:cNvSpPr/>
          <p:nvPr/>
        </p:nvSpPr>
        <p:spPr>
          <a:xfrm>
            <a:off x="10352277" y="4916631"/>
            <a:ext cx="596900" cy="177816"/>
          </a:xfrm>
          <a:prstGeom prst="rect">
            <a:avLst/>
          </a:prstGeom>
          <a:solidFill>
            <a:schemeClr val="bg1"/>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200" b="1">
                <a:solidFill>
                  <a:schemeClr val="tx1"/>
                </a:solidFill>
                <a:latin typeface="Tenorite" panose="00000500000000000000" pitchFamily="2" charset="0"/>
              </a:rPr>
              <a:t>180</a:t>
            </a:r>
            <a:endParaRPr lang="zh-CN" altLang="en-US" sz="1200" b="1">
              <a:solidFill>
                <a:schemeClr val="tx1"/>
              </a:solidFill>
              <a:latin typeface="Tenorite" panose="00000500000000000000" pitchFamily="2" charset="0"/>
            </a:endParaRPr>
          </a:p>
        </p:txBody>
      </p:sp>
      <p:sp>
        <p:nvSpPr>
          <p:cNvPr id="33" name="文本框 32">
            <a:extLst>
              <a:ext uri="{FF2B5EF4-FFF2-40B4-BE49-F238E27FC236}">
                <a16:creationId xmlns:a16="http://schemas.microsoft.com/office/drawing/2014/main" id="{6069BDD8-85BF-0B14-DE71-061F0D215B76}"/>
              </a:ext>
            </a:extLst>
          </p:cNvPr>
          <p:cNvSpPr txBox="1"/>
          <p:nvPr/>
        </p:nvSpPr>
        <p:spPr>
          <a:xfrm>
            <a:off x="10925654" y="4873208"/>
            <a:ext cx="417430" cy="246221"/>
          </a:xfrm>
          <a:prstGeom prst="rect">
            <a:avLst/>
          </a:prstGeom>
          <a:noFill/>
        </p:spPr>
        <p:txBody>
          <a:bodyPr wrap="square" rIns="0" rtlCol="0">
            <a:spAutoFit/>
          </a:bodyPr>
          <a:lstStyle/>
          <a:p>
            <a:pPr defTabSz="914126">
              <a:defRPr/>
            </a:pPr>
            <a:r>
              <a:rPr lang="en-US" altLang="zh-CN" sz="1000">
                <a:solidFill>
                  <a:srgbClr val="000000"/>
                </a:solidFill>
                <a:latin typeface="Tenorite" panose="00000500000000000000" pitchFamily="2" charset="0"/>
                <a:ea typeface="黑体" panose="02010609060101010101" pitchFamily="49" charset="-122"/>
                <a:cs typeface="Arial" pitchFamily="34" charset="0"/>
              </a:rPr>
              <a:t>days</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35" name="文本框 34">
            <a:extLst>
              <a:ext uri="{FF2B5EF4-FFF2-40B4-BE49-F238E27FC236}">
                <a16:creationId xmlns:a16="http://schemas.microsoft.com/office/drawing/2014/main" id="{2A644780-4C55-3EB0-E070-D29B438FFAC7}"/>
              </a:ext>
            </a:extLst>
          </p:cNvPr>
          <p:cNvSpPr txBox="1"/>
          <p:nvPr/>
        </p:nvSpPr>
        <p:spPr>
          <a:xfrm>
            <a:off x="7147660" y="4102372"/>
            <a:ext cx="4374317" cy="276927"/>
          </a:xfrm>
          <a:prstGeom prst="rect">
            <a:avLst/>
          </a:prstGeom>
          <a:noFill/>
        </p:spPr>
        <p:txBody>
          <a:bodyPr wrap="square" rtlCol="0">
            <a:spAutoFit/>
          </a:bodyPr>
          <a:lstStyle/>
          <a:p>
            <a:pPr defTabSz="914126">
              <a:defRPr/>
            </a:pPr>
            <a:r>
              <a:rPr lang="en-US" altLang="zh-CN" sz="1200">
                <a:solidFill>
                  <a:srgbClr val="000000"/>
                </a:solidFill>
                <a:latin typeface="Tenorite" panose="00000500000000000000" pitchFamily="2" charset="0"/>
                <a:ea typeface="黑体" panose="02010609060101010101" pitchFamily="49" charset="-122"/>
                <a:cs typeface="Arial" pitchFamily="34" charset="0"/>
              </a:rPr>
              <a:t>Configurable </a:t>
            </a:r>
            <a:r>
              <a:rPr lang="en-US" altLang="zh-CN" sz="1200" b="1">
                <a:solidFill>
                  <a:srgbClr val="000000"/>
                </a:solidFill>
                <a:latin typeface="Tenorite" panose="00000500000000000000" pitchFamily="2" charset="0"/>
                <a:ea typeface="黑体" panose="02010609060101010101" pitchFamily="49" charset="-122"/>
                <a:cs typeface="Arial" pitchFamily="34" charset="0"/>
              </a:rPr>
              <a:t>new parameter</a:t>
            </a:r>
            <a:r>
              <a:rPr lang="en-US" altLang="zh-CN" sz="1200">
                <a:solidFill>
                  <a:srgbClr val="000000"/>
                </a:solidFill>
                <a:latin typeface="Tenorite" panose="00000500000000000000" pitchFamily="2" charset="0"/>
                <a:ea typeface="黑体" panose="02010609060101010101" pitchFamily="49" charset="-122"/>
                <a:cs typeface="Arial" pitchFamily="34" charset="0"/>
              </a:rPr>
              <a:t>:  fix Interim charge days</a:t>
            </a:r>
            <a:endParaRPr lang="zh-CN" altLang="en-US" sz="1200">
              <a:solidFill>
                <a:srgbClr val="000000"/>
              </a:solidFill>
              <a:latin typeface="Tenorite" panose="00000500000000000000" pitchFamily="2" charset="0"/>
              <a:ea typeface="黑体" panose="02010609060101010101" pitchFamily="49" charset="-122"/>
              <a:cs typeface="Arial" pitchFamily="34" charset="0"/>
            </a:endParaRPr>
          </a:p>
        </p:txBody>
      </p:sp>
      <p:sp>
        <p:nvSpPr>
          <p:cNvPr id="37" name="文本框 36">
            <a:extLst>
              <a:ext uri="{FF2B5EF4-FFF2-40B4-BE49-F238E27FC236}">
                <a16:creationId xmlns:a16="http://schemas.microsoft.com/office/drawing/2014/main" id="{BDFEAB73-4281-805F-39A8-E62B468FE955}"/>
              </a:ext>
            </a:extLst>
          </p:cNvPr>
          <p:cNvSpPr txBox="1"/>
          <p:nvPr/>
        </p:nvSpPr>
        <p:spPr>
          <a:xfrm>
            <a:off x="7168287" y="3779983"/>
            <a:ext cx="4374317" cy="276927"/>
          </a:xfrm>
          <a:prstGeom prst="rect">
            <a:avLst/>
          </a:prstGeom>
          <a:noFill/>
          <a:ln>
            <a:noFill/>
          </a:ln>
        </p:spPr>
        <p:txBody>
          <a:bodyPr wrap="square" rtlCol="0">
            <a:spAutoFit/>
          </a:bodyPr>
          <a:lstStyle/>
          <a:p>
            <a:pPr defTabSz="914126">
              <a:defRPr/>
            </a:pPr>
            <a:r>
              <a:rPr lang="en-US" altLang="zh-CN" sz="1200" b="1">
                <a:solidFill>
                  <a:srgbClr val="FF0000"/>
                </a:solidFill>
                <a:latin typeface="Tenorite" panose="00000500000000000000" pitchFamily="2" charset="0"/>
                <a:ea typeface="黑体" panose="02010609060101010101" pitchFamily="49" charset="-122"/>
                <a:cs typeface="Arial" pitchFamily="34" charset="0"/>
              </a:rPr>
              <a:t>New req: for fix interim charge days, 20260901</a:t>
            </a:r>
            <a:endParaRPr lang="zh-CN" altLang="en-US" sz="1200" b="1">
              <a:solidFill>
                <a:srgbClr val="FF0000"/>
              </a:solidFill>
              <a:latin typeface="Tenorite" panose="00000500000000000000" pitchFamily="2" charset="0"/>
              <a:ea typeface="黑体" panose="02010609060101010101" pitchFamily="49" charset="-122"/>
              <a:cs typeface="Arial" pitchFamily="34" charset="0"/>
            </a:endParaRPr>
          </a:p>
        </p:txBody>
      </p:sp>
      <p:cxnSp>
        <p:nvCxnSpPr>
          <p:cNvPr id="39" name="直接箭头连接符 38">
            <a:extLst>
              <a:ext uri="{FF2B5EF4-FFF2-40B4-BE49-F238E27FC236}">
                <a16:creationId xmlns:a16="http://schemas.microsoft.com/office/drawing/2014/main" id="{E0B01622-EC5C-ADDD-8DBE-A8BA3F34FF6D}"/>
              </a:ext>
            </a:extLst>
          </p:cNvPr>
          <p:cNvCxnSpPr>
            <a:endCxn id="35" idx="1"/>
          </p:cNvCxnSpPr>
          <p:nvPr/>
        </p:nvCxnSpPr>
        <p:spPr>
          <a:xfrm flipV="1">
            <a:off x="5373979" y="4240836"/>
            <a:ext cx="1773680" cy="138463"/>
          </a:xfrm>
          <a:prstGeom prst="straightConnector1">
            <a:avLst/>
          </a:prstGeom>
          <a:ln w="3175">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0692143"/>
      </p:ext>
    </p:extLst>
  </p:cSld>
  <p:clrMapOvr>
    <a:masterClrMapping/>
  </p:clrMapOvr>
  <p:transition>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0979C3-BEA4-A18F-6837-87D3E980087F}"/>
            </a:ext>
          </a:extLst>
        </p:cNvPr>
        <p:cNvGrpSpPr/>
        <p:nvPr/>
      </p:nvGrpSpPr>
      <p:grpSpPr>
        <a:xfrm>
          <a:off x="0" y="0"/>
          <a:ext cx="0" cy="0"/>
          <a:chOff x="0" y="0"/>
          <a:chExt cx="0" cy="0"/>
        </a:xfrm>
      </p:grpSpPr>
      <p:sp>
        <p:nvSpPr>
          <p:cNvPr id="2" name="Title 10">
            <a:extLst>
              <a:ext uri="{FF2B5EF4-FFF2-40B4-BE49-F238E27FC236}">
                <a16:creationId xmlns:a16="http://schemas.microsoft.com/office/drawing/2014/main" id="{5598FD7D-77B4-E058-07D2-F65B989A4095}"/>
              </a:ext>
            </a:extLst>
          </p:cNvPr>
          <p:cNvSpPr txBox="1">
            <a:spLocks/>
          </p:cNvSpPr>
          <p:nvPr/>
        </p:nvSpPr>
        <p:spPr>
          <a:xfrm>
            <a:off x="74412" y="107420"/>
            <a:ext cx="635031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Interim charge | S&amp;D </a:t>
            </a:r>
          </a:p>
        </p:txBody>
      </p:sp>
      <p:graphicFrame>
        <p:nvGraphicFramePr>
          <p:cNvPr id="19" name="表格 18">
            <a:extLst>
              <a:ext uri="{FF2B5EF4-FFF2-40B4-BE49-F238E27FC236}">
                <a16:creationId xmlns:a16="http://schemas.microsoft.com/office/drawing/2014/main" id="{23700645-6842-03E9-1B50-3CAFDF90634C}"/>
              </a:ext>
            </a:extLst>
          </p:cNvPr>
          <p:cNvGraphicFramePr>
            <a:graphicFrameLocks noGrp="1"/>
          </p:cNvGraphicFramePr>
          <p:nvPr>
            <p:extLst>
              <p:ext uri="{D42A27DB-BD31-4B8C-83A1-F6EECF244321}">
                <p14:modId xmlns:p14="http://schemas.microsoft.com/office/powerpoint/2010/main" val="1370130201"/>
              </p:ext>
            </p:extLst>
          </p:nvPr>
        </p:nvGraphicFramePr>
        <p:xfrm>
          <a:off x="93463" y="2050429"/>
          <a:ext cx="6047853" cy="2654236"/>
        </p:xfrm>
        <a:graphic>
          <a:graphicData uri="http://schemas.openxmlformats.org/drawingml/2006/table">
            <a:tbl>
              <a:tblPr/>
              <a:tblGrid>
                <a:gridCol w="464598">
                  <a:extLst>
                    <a:ext uri="{9D8B030D-6E8A-4147-A177-3AD203B41FA5}">
                      <a16:colId xmlns:a16="http://schemas.microsoft.com/office/drawing/2014/main" val="495084399"/>
                    </a:ext>
                  </a:extLst>
                </a:gridCol>
                <a:gridCol w="263893">
                  <a:extLst>
                    <a:ext uri="{9D8B030D-6E8A-4147-A177-3AD203B41FA5}">
                      <a16:colId xmlns:a16="http://schemas.microsoft.com/office/drawing/2014/main" val="3614210242"/>
                    </a:ext>
                  </a:extLst>
                </a:gridCol>
                <a:gridCol w="607961">
                  <a:extLst>
                    <a:ext uri="{9D8B030D-6E8A-4147-A177-3AD203B41FA5}">
                      <a16:colId xmlns:a16="http://schemas.microsoft.com/office/drawing/2014/main" val="1442124609"/>
                    </a:ext>
                  </a:extLst>
                </a:gridCol>
                <a:gridCol w="1951674">
                  <a:extLst>
                    <a:ext uri="{9D8B030D-6E8A-4147-A177-3AD203B41FA5}">
                      <a16:colId xmlns:a16="http://schemas.microsoft.com/office/drawing/2014/main" val="3603859997"/>
                    </a:ext>
                  </a:extLst>
                </a:gridCol>
                <a:gridCol w="361504">
                  <a:extLst>
                    <a:ext uri="{9D8B030D-6E8A-4147-A177-3AD203B41FA5}">
                      <a16:colId xmlns:a16="http://schemas.microsoft.com/office/drawing/2014/main" val="4076488391"/>
                    </a:ext>
                  </a:extLst>
                </a:gridCol>
                <a:gridCol w="639413">
                  <a:extLst>
                    <a:ext uri="{9D8B030D-6E8A-4147-A177-3AD203B41FA5}">
                      <a16:colId xmlns:a16="http://schemas.microsoft.com/office/drawing/2014/main" val="3254101706"/>
                    </a:ext>
                  </a:extLst>
                </a:gridCol>
                <a:gridCol w="362686">
                  <a:extLst>
                    <a:ext uri="{9D8B030D-6E8A-4147-A177-3AD203B41FA5}">
                      <a16:colId xmlns:a16="http://schemas.microsoft.com/office/drawing/2014/main" val="3712391277"/>
                    </a:ext>
                  </a:extLst>
                </a:gridCol>
                <a:gridCol w="426521">
                  <a:extLst>
                    <a:ext uri="{9D8B030D-6E8A-4147-A177-3AD203B41FA5}">
                      <a16:colId xmlns:a16="http://schemas.microsoft.com/office/drawing/2014/main" val="4221779915"/>
                    </a:ext>
                  </a:extLst>
                </a:gridCol>
                <a:gridCol w="290879">
                  <a:extLst>
                    <a:ext uri="{9D8B030D-6E8A-4147-A177-3AD203B41FA5}">
                      <a16:colId xmlns:a16="http://schemas.microsoft.com/office/drawing/2014/main" val="2527660299"/>
                    </a:ext>
                  </a:extLst>
                </a:gridCol>
                <a:gridCol w="393163">
                  <a:extLst>
                    <a:ext uri="{9D8B030D-6E8A-4147-A177-3AD203B41FA5}">
                      <a16:colId xmlns:a16="http://schemas.microsoft.com/office/drawing/2014/main" val="3641075278"/>
                    </a:ext>
                  </a:extLst>
                </a:gridCol>
                <a:gridCol w="285561">
                  <a:extLst>
                    <a:ext uri="{9D8B030D-6E8A-4147-A177-3AD203B41FA5}">
                      <a16:colId xmlns:a16="http://schemas.microsoft.com/office/drawing/2014/main" val="3618613915"/>
                    </a:ext>
                  </a:extLst>
                </a:gridCol>
              </a:tblGrid>
              <a:tr h="127981">
                <a:tc rowSpan="14">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Lease commence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a:t>
                      </a:r>
                      <a:r>
                        <a:rPr lang="en-US" sz="900" b="1" i="0" u="none" strike="noStrike">
                          <a:solidFill>
                            <a:srgbClr val="000000"/>
                          </a:solidFill>
                          <a:effectLst/>
                          <a:highlight>
                            <a:srgbClr val="FFFF00"/>
                          </a:highlight>
                          <a:latin typeface="Arial" panose="020B0604020202020204" pitchFamily="34" charset="0"/>
                        </a:rPr>
                        <a:t>combined</a:t>
                      </a:r>
                      <a:r>
                        <a:rPr lang="en-US" sz="900" b="1" i="0" u="none" strike="noStrike">
                          <a:solidFill>
                            <a:srgbClr val="000000"/>
                          </a:solidFill>
                          <a:effectLst/>
                          <a:latin typeface="Arial" panose="020B0604020202020204" pitchFamily="34" charset="0"/>
                        </a:rPr>
                        <a:t> Quarterly recurring Billing</a:t>
                      </a:r>
                      <a:r>
                        <a:rPr lang="en-US" sz="900" b="0" i="0">
                          <a:solidFill>
                            <a:srgbClr val="000000"/>
                          </a:solidFill>
                          <a:effectLst/>
                          <a:latin typeface="Arial" panose="020B0604020202020204" pitchFamily="34" charset="0"/>
                        </a:rPr>
                        <a:t>​ </a:t>
                      </a:r>
                      <a:r>
                        <a:rPr lang="en-US" sz="900" b="1" i="0">
                          <a:solidFill>
                            <a:srgbClr val="000000"/>
                          </a:solidFill>
                          <a:effectLst/>
                          <a:latin typeface="Arial" panose="020B0604020202020204" pitchFamily="34" charset="0"/>
                        </a:rPr>
                        <a:t>&amp; </a:t>
                      </a:r>
                      <a:r>
                        <a:rPr lang="en-US" altLang="zh-CN" sz="900" b="1" i="0">
                          <a:solidFill>
                            <a:srgbClr val="000000"/>
                          </a:solidFill>
                          <a:effectLst/>
                          <a:latin typeface="Arial" panose="020B0604020202020204" pitchFamily="34" charset="0"/>
                        </a:rPr>
                        <a:t>Interim Billing</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-interim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15417">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115417">
                <a:tc vMerge="1">
                  <a:txBody>
                    <a:bodyPr/>
                    <a:lstStyle/>
                    <a:p>
                      <a:endParaRPr lang="zh-CN" altLang="en-US"/>
                    </a:p>
                  </a:txBody>
                  <a:tcPr/>
                </a:tc>
                <a:tc>
                  <a:txBody>
                    <a:bodyPr/>
                    <a:lstStyle/>
                    <a:p>
                      <a:pPr algn="ctr" fontAlgn="base">
                        <a:lnSpc>
                          <a:spcPts val="1200"/>
                        </a:lnSpc>
                        <a:buNone/>
                      </a:pPr>
                      <a:r>
                        <a:rPr lang="en-US" sz="900" b="0" i="0" u="none" strike="sng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sngStrike" kern="1200">
                          <a:solidFill>
                            <a:srgbClr val="000000"/>
                          </a:solidFill>
                          <a:effectLst/>
                          <a:latin typeface="Arial" panose="020B0604020202020204" pitchFamily="34" charset="0"/>
                          <a:ea typeface="+mn-ea"/>
                          <a:cs typeface="+mn-cs"/>
                        </a:rPr>
                        <a:t>5010401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sngStrike" kern="1200">
                          <a:solidFill>
                            <a:srgbClr val="000000"/>
                          </a:solidFill>
                          <a:effectLst/>
                          <a:latin typeface="Arial" panose="020B0604020202020204" pitchFamily="34" charset="0"/>
                          <a:ea typeface="+mn-ea"/>
                          <a:cs typeface="+mn-cs"/>
                        </a:rPr>
                        <a:t>Service Revenue – upfront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sng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sng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endParaRPr lang="en-US" sz="900" b="0" i="0" u="none" strike="sng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altLang="zh-CN" sz="900" b="0" i="0" u="none" strike="sngStrike">
                          <a:solidFill>
                            <a:srgbClr val="000000"/>
                          </a:solidFill>
                          <a:effectLst/>
                          <a:latin typeface="Arial" panose="020B0604020202020204" pitchFamily="34" charset="0"/>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sng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46453699"/>
                  </a:ext>
                </a:extLst>
              </a:tr>
              <a:tr h="115417">
                <a:tc vMerge="1">
                  <a:txBody>
                    <a:bodyPr/>
                    <a:lstStyle/>
                    <a:p>
                      <a:endParaRPr lang="zh-CN" altLang="en-US"/>
                    </a:p>
                  </a:txBody>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premier(funded)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897081219"/>
                  </a:ext>
                </a:extLst>
              </a:tr>
              <a:tr h="11541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FF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FF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FF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FF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FF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358257371"/>
                  </a:ext>
                </a:extLst>
              </a:tr>
              <a:tr h="115417">
                <a:tc vMerge="1">
                  <a:txBody>
                    <a:bodyPr/>
                    <a:lstStyle/>
                    <a:p>
                      <a:endParaRPr lang="zh-CN" altLang="en-US"/>
                    </a:p>
                  </a:txBody>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 recurring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53.9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53.9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745801"/>
                  </a:ext>
                </a:extLst>
              </a:tr>
              <a:tr h="115417">
                <a:tc vMerge="1">
                  <a:txBody>
                    <a:bodyPr/>
                    <a:lstStyle/>
                    <a:p>
                      <a:endParaRPr lang="zh-CN" altLang="en-US"/>
                    </a:p>
                  </a:txBody>
                  <a:tcPr/>
                </a:tc>
                <a:tc>
                  <a:txBody>
                    <a:bodyPr/>
                    <a:lstStyle/>
                    <a:p>
                      <a:pPr algn="ctr" fontAlgn="base">
                        <a:lnSpc>
                          <a:spcPts val="1200"/>
                        </a:lnSpc>
                        <a:buNone/>
                      </a:pPr>
                      <a:r>
                        <a:rPr lang="en-US" altLang="zh-CN" sz="900" b="0" i="0" u="none" strike="noStrike" kern="1200">
                          <a:solidFill>
                            <a:srgbClr val="000000"/>
                          </a:solidFill>
                          <a:effectLst/>
                          <a:latin typeface="Arial" panose="020B0604020202020204" pitchFamily="34" charset="0"/>
                          <a:ea typeface="+mn-ea"/>
                          <a:cs typeface="+mn-cs"/>
                        </a:rPr>
                        <a:t>Cr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svc</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1384645"/>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 - Operating Lease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42350930"/>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a:t>
                      </a:r>
                      <a:r>
                        <a:rPr lang="en-US" sz="900" b="0" i="0" u="none" strike="noStrike" kern="1200">
                          <a:solidFill>
                            <a:srgbClr val="000000"/>
                          </a:solidFill>
                          <a:effectLst/>
                          <a:latin typeface="Arial" panose="020B0604020202020204" pitchFamily="34" charset="0"/>
                          <a:ea typeface="+mn-ea"/>
                          <a:cs typeface="+mn-cs"/>
                        </a:rPr>
                        <a:t> Revenue – </a:t>
                      </a:r>
                      <a:r>
                        <a:rPr lang="en-US" altLang="zh-CN" sz="900" b="0" i="0" u="none" strike="noStrike" kern="1200">
                          <a:solidFill>
                            <a:srgbClr val="000000"/>
                          </a:solidFill>
                          <a:effectLst/>
                          <a:latin typeface="Arial" panose="020B0604020202020204" pitchFamily="34" charset="0"/>
                          <a:ea typeface="+mn-ea"/>
                          <a:cs typeface="+mn-cs"/>
                        </a:rPr>
                        <a:t>Premier(Funded)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chemeClr val="tx1"/>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chemeClr val="tx1"/>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chemeClr val="tx1"/>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chemeClr val="tx1"/>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chemeClr val="tx1"/>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chemeClr val="tx1"/>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1" name="表格 20">
            <a:extLst>
              <a:ext uri="{FF2B5EF4-FFF2-40B4-BE49-F238E27FC236}">
                <a16:creationId xmlns:a16="http://schemas.microsoft.com/office/drawing/2014/main" id="{475516DA-0B0E-C70B-8FE4-B9EF5AC09EB2}"/>
              </a:ext>
            </a:extLst>
          </p:cNvPr>
          <p:cNvGraphicFramePr>
            <a:graphicFrameLocks noGrp="1"/>
          </p:cNvGraphicFramePr>
          <p:nvPr>
            <p:extLst>
              <p:ext uri="{D42A27DB-BD31-4B8C-83A1-F6EECF244321}">
                <p14:modId xmlns:p14="http://schemas.microsoft.com/office/powerpoint/2010/main" val="2130010931"/>
              </p:ext>
            </p:extLst>
          </p:nvPr>
        </p:nvGraphicFramePr>
        <p:xfrm>
          <a:off x="74412" y="4845027"/>
          <a:ext cx="6021589" cy="1704154"/>
        </p:xfrm>
        <a:graphic>
          <a:graphicData uri="http://schemas.openxmlformats.org/drawingml/2006/table">
            <a:tbl>
              <a:tblPr/>
              <a:tblGrid>
                <a:gridCol w="436016">
                  <a:extLst>
                    <a:ext uri="{9D8B030D-6E8A-4147-A177-3AD203B41FA5}">
                      <a16:colId xmlns:a16="http://schemas.microsoft.com/office/drawing/2014/main" val="495084399"/>
                    </a:ext>
                  </a:extLst>
                </a:gridCol>
                <a:gridCol w="239743">
                  <a:extLst>
                    <a:ext uri="{9D8B030D-6E8A-4147-A177-3AD203B41FA5}">
                      <a16:colId xmlns:a16="http://schemas.microsoft.com/office/drawing/2014/main" val="3614210242"/>
                    </a:ext>
                  </a:extLst>
                </a:gridCol>
                <a:gridCol w="570558">
                  <a:extLst>
                    <a:ext uri="{9D8B030D-6E8A-4147-A177-3AD203B41FA5}">
                      <a16:colId xmlns:a16="http://schemas.microsoft.com/office/drawing/2014/main" val="1442124609"/>
                    </a:ext>
                  </a:extLst>
                </a:gridCol>
                <a:gridCol w="2073896">
                  <a:extLst>
                    <a:ext uri="{9D8B030D-6E8A-4147-A177-3AD203B41FA5}">
                      <a16:colId xmlns:a16="http://schemas.microsoft.com/office/drawing/2014/main" val="3603859997"/>
                    </a:ext>
                  </a:extLst>
                </a:gridCol>
                <a:gridCol w="321567">
                  <a:extLst>
                    <a:ext uri="{9D8B030D-6E8A-4147-A177-3AD203B41FA5}">
                      <a16:colId xmlns:a16="http://schemas.microsoft.com/office/drawing/2014/main" val="4076488391"/>
                    </a:ext>
                  </a:extLst>
                </a:gridCol>
                <a:gridCol w="321567">
                  <a:extLst>
                    <a:ext uri="{9D8B030D-6E8A-4147-A177-3AD203B41FA5}">
                      <a16:colId xmlns:a16="http://schemas.microsoft.com/office/drawing/2014/main" val="3254101706"/>
                    </a:ext>
                  </a:extLst>
                </a:gridCol>
                <a:gridCol w="262670">
                  <a:extLst>
                    <a:ext uri="{9D8B030D-6E8A-4147-A177-3AD203B41FA5}">
                      <a16:colId xmlns:a16="http://schemas.microsoft.com/office/drawing/2014/main" val="3712391277"/>
                    </a:ext>
                  </a:extLst>
                </a:gridCol>
                <a:gridCol w="589552">
                  <a:extLst>
                    <a:ext uri="{9D8B030D-6E8A-4147-A177-3AD203B41FA5}">
                      <a16:colId xmlns:a16="http://schemas.microsoft.com/office/drawing/2014/main" val="134131131"/>
                    </a:ext>
                  </a:extLst>
                </a:gridCol>
                <a:gridCol w="336567">
                  <a:extLst>
                    <a:ext uri="{9D8B030D-6E8A-4147-A177-3AD203B41FA5}">
                      <a16:colId xmlns:a16="http://schemas.microsoft.com/office/drawing/2014/main" val="2527660299"/>
                    </a:ext>
                  </a:extLst>
                </a:gridCol>
                <a:gridCol w="370818">
                  <a:extLst>
                    <a:ext uri="{9D8B030D-6E8A-4147-A177-3AD203B41FA5}">
                      <a16:colId xmlns:a16="http://schemas.microsoft.com/office/drawing/2014/main" val="3641075278"/>
                    </a:ext>
                  </a:extLst>
                </a:gridCol>
                <a:gridCol w="498635">
                  <a:extLst>
                    <a:ext uri="{9D8B030D-6E8A-4147-A177-3AD203B41FA5}">
                      <a16:colId xmlns:a16="http://schemas.microsoft.com/office/drawing/2014/main" val="3618613915"/>
                    </a:ext>
                  </a:extLst>
                </a:gridCol>
              </a:tblGrid>
              <a:tr h="15772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3" name="表格 22">
            <a:extLst>
              <a:ext uri="{FF2B5EF4-FFF2-40B4-BE49-F238E27FC236}">
                <a16:creationId xmlns:a16="http://schemas.microsoft.com/office/drawing/2014/main" id="{F5D0224F-ADBA-8B07-D0EA-4F7D15C3C05D}"/>
              </a:ext>
            </a:extLst>
          </p:cNvPr>
          <p:cNvGraphicFramePr>
            <a:graphicFrameLocks noGrp="1"/>
          </p:cNvGraphicFramePr>
          <p:nvPr>
            <p:extLst>
              <p:ext uri="{D42A27DB-BD31-4B8C-83A1-F6EECF244321}">
                <p14:modId xmlns:p14="http://schemas.microsoft.com/office/powerpoint/2010/main" val="870265151"/>
              </p:ext>
            </p:extLst>
          </p:nvPr>
        </p:nvGraphicFramePr>
        <p:xfrm>
          <a:off x="160137" y="607047"/>
          <a:ext cx="5935863" cy="1303020"/>
        </p:xfrm>
        <a:graphic>
          <a:graphicData uri="http://schemas.openxmlformats.org/drawingml/2006/table">
            <a:tbl>
              <a:tblPr firstRow="1" bandRow="1">
                <a:tableStyleId>{3C2FFA5D-87B4-456A-9821-1D502468CF0F}</a:tableStyleId>
              </a:tblPr>
              <a:tblGrid>
                <a:gridCol w="632942">
                  <a:extLst>
                    <a:ext uri="{9D8B030D-6E8A-4147-A177-3AD203B41FA5}">
                      <a16:colId xmlns:a16="http://schemas.microsoft.com/office/drawing/2014/main" val="869603910"/>
                    </a:ext>
                  </a:extLst>
                </a:gridCol>
                <a:gridCol w="723014">
                  <a:extLst>
                    <a:ext uri="{9D8B030D-6E8A-4147-A177-3AD203B41FA5}">
                      <a16:colId xmlns:a16="http://schemas.microsoft.com/office/drawing/2014/main" val="238663902"/>
                    </a:ext>
                  </a:extLst>
                </a:gridCol>
                <a:gridCol w="563525">
                  <a:extLst>
                    <a:ext uri="{9D8B030D-6E8A-4147-A177-3AD203B41FA5}">
                      <a16:colId xmlns:a16="http://schemas.microsoft.com/office/drawing/2014/main" val="4114365151"/>
                    </a:ext>
                  </a:extLst>
                </a:gridCol>
                <a:gridCol w="949332">
                  <a:extLst>
                    <a:ext uri="{9D8B030D-6E8A-4147-A177-3AD203B41FA5}">
                      <a16:colId xmlns:a16="http://schemas.microsoft.com/office/drawing/2014/main" val="4075178046"/>
                    </a:ext>
                  </a:extLst>
                </a:gridCol>
                <a:gridCol w="74295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2950">
                  <a:extLst>
                    <a:ext uri="{9D8B030D-6E8A-4147-A177-3AD203B41FA5}">
                      <a16:colId xmlns:a16="http://schemas.microsoft.com/office/drawing/2014/main" val="2044147452"/>
                    </a:ext>
                  </a:extLst>
                </a:gridCol>
                <a:gridCol w="857250">
                  <a:extLst>
                    <a:ext uri="{9D8B030D-6E8A-4147-A177-3AD203B41FA5}">
                      <a16:colId xmlns:a16="http://schemas.microsoft.com/office/drawing/2014/main" val="221569069"/>
                    </a:ext>
                  </a:extLst>
                </a:gridCol>
              </a:tblGrid>
              <a:tr h="39482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5720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 &amp; Quarterly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NA</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25" name="对话气泡: 矩形 24">
            <a:extLst>
              <a:ext uri="{FF2B5EF4-FFF2-40B4-BE49-F238E27FC236}">
                <a16:creationId xmlns:a16="http://schemas.microsoft.com/office/drawing/2014/main" id="{A4007BD0-51F3-4BDC-A961-B3D96F924CD6}"/>
              </a:ext>
            </a:extLst>
          </p:cNvPr>
          <p:cNvSpPr/>
          <p:nvPr/>
        </p:nvSpPr>
        <p:spPr>
          <a:xfrm>
            <a:off x="-1577853" y="19051"/>
            <a:ext cx="1423754" cy="3102840"/>
          </a:xfrm>
          <a:prstGeom prst="wedgeRectCallout">
            <a:avLst>
              <a:gd name="adj1" fmla="val 96187"/>
              <a:gd name="adj2" fmla="val 5983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1. Interim charge recognized as OL/FL in the first billing month.</a:t>
            </a:r>
          </a:p>
          <a:p>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2. Upfront</a:t>
            </a:r>
            <a:r>
              <a:rPr lang="zh-CN" altLang="en-US" sz="1200">
                <a:solidFill>
                  <a:srgbClr val="000000"/>
                </a:solidFill>
                <a:latin typeface="Tenorite" panose="00000500000000000000" pitchFamily="2" charset="0"/>
                <a:ea typeface="黑体" panose="02010609060101010101" pitchFamily="49" charset="-122"/>
                <a:cs typeface="Arial" panose="020B0604020202020204" pitchFamily="34" charset="0"/>
              </a:rPr>
              <a:t> </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svc</a:t>
            </a:r>
            <a:r>
              <a:rPr lang="zh-CN" altLang="en-US" sz="1200">
                <a:solidFill>
                  <a:srgbClr val="000000"/>
                </a:solidFill>
                <a:latin typeface="Tenorite" panose="00000500000000000000" pitchFamily="2" charset="0"/>
                <a:ea typeface="黑体" panose="02010609060101010101" pitchFamily="49" charset="-122"/>
                <a:cs typeface="Arial" panose="020B0604020202020204" pitchFamily="34" charset="0"/>
              </a:rPr>
              <a:t> </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offset LTAR, ongoing svc recognized as rev and ARS recognized as defer</a:t>
            </a:r>
          </a:p>
          <a:p>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3. Interim billing can be also separately issued in commence month </a:t>
            </a:r>
          </a:p>
        </p:txBody>
      </p:sp>
      <p:sp>
        <p:nvSpPr>
          <p:cNvPr id="14" name="对话气泡: 矩形 13">
            <a:extLst>
              <a:ext uri="{FF2B5EF4-FFF2-40B4-BE49-F238E27FC236}">
                <a16:creationId xmlns:a16="http://schemas.microsoft.com/office/drawing/2014/main" id="{38C7366C-EFD9-5167-003F-1DEB099E97C8}"/>
              </a:ext>
            </a:extLst>
          </p:cNvPr>
          <p:cNvSpPr/>
          <p:nvPr/>
        </p:nvSpPr>
        <p:spPr>
          <a:xfrm>
            <a:off x="-1311153" y="3408796"/>
            <a:ext cx="1157054" cy="1069109"/>
          </a:xfrm>
          <a:prstGeom prst="wedgeRectCallout">
            <a:avLst>
              <a:gd name="adj1" fmla="val 111313"/>
              <a:gd name="adj2" fmla="val -3737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ARS report should capture interim billing or combined billing for ARS accrual </a:t>
            </a:r>
          </a:p>
        </p:txBody>
      </p:sp>
      <p:sp>
        <p:nvSpPr>
          <p:cNvPr id="18" name="矩形 17">
            <a:extLst>
              <a:ext uri="{FF2B5EF4-FFF2-40B4-BE49-F238E27FC236}">
                <a16:creationId xmlns:a16="http://schemas.microsoft.com/office/drawing/2014/main" id="{7DEBD5F1-7559-7A07-2C9B-3FD8E096B72A}"/>
              </a:ext>
            </a:extLst>
          </p:cNvPr>
          <p:cNvSpPr/>
          <p:nvPr/>
        </p:nvSpPr>
        <p:spPr>
          <a:xfrm>
            <a:off x="535709" y="2809876"/>
            <a:ext cx="5541241" cy="762000"/>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对话气泡: 矩形 21">
            <a:extLst>
              <a:ext uri="{FF2B5EF4-FFF2-40B4-BE49-F238E27FC236}">
                <a16:creationId xmlns:a16="http://schemas.microsoft.com/office/drawing/2014/main" id="{622D7F81-38D4-E915-73A6-D0100155E987}"/>
              </a:ext>
            </a:extLst>
          </p:cNvPr>
          <p:cNvSpPr/>
          <p:nvPr/>
        </p:nvSpPr>
        <p:spPr>
          <a:xfrm>
            <a:off x="-1408092" y="5076825"/>
            <a:ext cx="1350932" cy="1636519"/>
          </a:xfrm>
          <a:prstGeom prst="wedgeRectCallout">
            <a:avLst>
              <a:gd name="adj1" fmla="val 65487"/>
              <a:gd name="adj2" fmla="val -4744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At the end of 2</a:t>
            </a:r>
            <a:r>
              <a:rPr lang="en-US" altLang="zh-CN" sz="1200" baseline="30000">
                <a:solidFill>
                  <a:schemeClr val="tx1"/>
                </a:solidFill>
              </a:rPr>
              <a:t>nd</a:t>
            </a:r>
            <a:r>
              <a:rPr lang="en-US" altLang="zh-CN" sz="1200">
                <a:solidFill>
                  <a:schemeClr val="tx1"/>
                </a:solidFill>
              </a:rPr>
              <a:t> Month and 3</a:t>
            </a:r>
            <a:r>
              <a:rPr lang="en-US" altLang="zh-CN" sz="1200" baseline="30000">
                <a:solidFill>
                  <a:schemeClr val="tx1"/>
                </a:solidFill>
              </a:rPr>
              <a:t>rd</a:t>
            </a:r>
            <a:r>
              <a:rPr lang="en-US" altLang="zh-CN" sz="1200">
                <a:solidFill>
                  <a:schemeClr val="tx1"/>
                </a:solidFill>
              </a:rPr>
              <a:t> month of the quarter, S&amp;D recognize the same entry as the 1</a:t>
            </a:r>
            <a:r>
              <a:rPr lang="en-US" altLang="zh-CN" sz="1200" baseline="30000">
                <a:solidFill>
                  <a:schemeClr val="tx1"/>
                </a:solidFill>
              </a:rPr>
              <a:t>st</a:t>
            </a:r>
            <a:r>
              <a:rPr lang="en-US" altLang="zh-CN" sz="1200">
                <a:solidFill>
                  <a:schemeClr val="tx1"/>
                </a:solidFill>
              </a:rPr>
              <a:t> month of the quarter </a:t>
            </a:r>
            <a:endParaRPr lang="zh-CN" altLang="en-US" sz="1200">
              <a:solidFill>
                <a:schemeClr val="tx1"/>
              </a:solidFill>
            </a:endParaRPr>
          </a:p>
        </p:txBody>
      </p:sp>
      <p:graphicFrame>
        <p:nvGraphicFramePr>
          <p:cNvPr id="26" name="表格 25">
            <a:extLst>
              <a:ext uri="{FF2B5EF4-FFF2-40B4-BE49-F238E27FC236}">
                <a16:creationId xmlns:a16="http://schemas.microsoft.com/office/drawing/2014/main" id="{0AF3FC68-D90F-FA17-6E4D-43C4A107FA67}"/>
              </a:ext>
            </a:extLst>
          </p:cNvPr>
          <p:cNvGraphicFramePr>
            <a:graphicFrameLocks noGrp="1"/>
          </p:cNvGraphicFramePr>
          <p:nvPr>
            <p:extLst>
              <p:ext uri="{D42A27DB-BD31-4B8C-83A1-F6EECF244321}">
                <p14:modId xmlns:p14="http://schemas.microsoft.com/office/powerpoint/2010/main" val="4263277217"/>
              </p:ext>
            </p:extLst>
          </p:nvPr>
        </p:nvGraphicFramePr>
        <p:xfrm>
          <a:off x="6213077" y="1929158"/>
          <a:ext cx="5979226" cy="2811862"/>
        </p:xfrm>
        <a:graphic>
          <a:graphicData uri="http://schemas.openxmlformats.org/drawingml/2006/table">
            <a:tbl>
              <a:tblPr/>
              <a:tblGrid>
                <a:gridCol w="438612">
                  <a:extLst>
                    <a:ext uri="{9D8B030D-6E8A-4147-A177-3AD203B41FA5}">
                      <a16:colId xmlns:a16="http://schemas.microsoft.com/office/drawing/2014/main" val="495084399"/>
                    </a:ext>
                  </a:extLst>
                </a:gridCol>
                <a:gridCol w="249132">
                  <a:extLst>
                    <a:ext uri="{9D8B030D-6E8A-4147-A177-3AD203B41FA5}">
                      <a16:colId xmlns:a16="http://schemas.microsoft.com/office/drawing/2014/main" val="3614210242"/>
                    </a:ext>
                  </a:extLst>
                </a:gridCol>
                <a:gridCol w="573956">
                  <a:extLst>
                    <a:ext uri="{9D8B030D-6E8A-4147-A177-3AD203B41FA5}">
                      <a16:colId xmlns:a16="http://schemas.microsoft.com/office/drawing/2014/main" val="1442124609"/>
                    </a:ext>
                  </a:extLst>
                </a:gridCol>
                <a:gridCol w="1889493">
                  <a:extLst>
                    <a:ext uri="{9D8B030D-6E8A-4147-A177-3AD203B41FA5}">
                      <a16:colId xmlns:a16="http://schemas.microsoft.com/office/drawing/2014/main" val="3603859997"/>
                    </a:ext>
                  </a:extLst>
                </a:gridCol>
                <a:gridCol w="543661">
                  <a:extLst>
                    <a:ext uri="{9D8B030D-6E8A-4147-A177-3AD203B41FA5}">
                      <a16:colId xmlns:a16="http://schemas.microsoft.com/office/drawing/2014/main" val="4076488391"/>
                    </a:ext>
                  </a:extLst>
                </a:gridCol>
                <a:gridCol w="603649">
                  <a:extLst>
                    <a:ext uri="{9D8B030D-6E8A-4147-A177-3AD203B41FA5}">
                      <a16:colId xmlns:a16="http://schemas.microsoft.com/office/drawing/2014/main" val="3254101706"/>
                    </a:ext>
                  </a:extLst>
                </a:gridCol>
                <a:gridCol w="362686">
                  <a:extLst>
                    <a:ext uri="{9D8B030D-6E8A-4147-A177-3AD203B41FA5}">
                      <a16:colId xmlns:a16="http://schemas.microsoft.com/office/drawing/2014/main" val="3712391277"/>
                    </a:ext>
                  </a:extLst>
                </a:gridCol>
                <a:gridCol w="402665">
                  <a:extLst>
                    <a:ext uri="{9D8B030D-6E8A-4147-A177-3AD203B41FA5}">
                      <a16:colId xmlns:a16="http://schemas.microsoft.com/office/drawing/2014/main" val="4221779915"/>
                    </a:ext>
                  </a:extLst>
                </a:gridCol>
                <a:gridCol w="274610">
                  <a:extLst>
                    <a:ext uri="{9D8B030D-6E8A-4147-A177-3AD203B41FA5}">
                      <a16:colId xmlns:a16="http://schemas.microsoft.com/office/drawing/2014/main" val="2527660299"/>
                    </a:ext>
                  </a:extLst>
                </a:gridCol>
                <a:gridCol w="371173">
                  <a:extLst>
                    <a:ext uri="{9D8B030D-6E8A-4147-A177-3AD203B41FA5}">
                      <a16:colId xmlns:a16="http://schemas.microsoft.com/office/drawing/2014/main" val="3641075278"/>
                    </a:ext>
                  </a:extLst>
                </a:gridCol>
                <a:gridCol w="269589">
                  <a:extLst>
                    <a:ext uri="{9D8B030D-6E8A-4147-A177-3AD203B41FA5}">
                      <a16:colId xmlns:a16="http://schemas.microsoft.com/office/drawing/2014/main" val="3618613915"/>
                    </a:ext>
                  </a:extLst>
                </a:gridCol>
              </a:tblGrid>
              <a:tr h="167415">
                <a:tc rowSpan="14">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Lease commence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39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a:t>
                      </a:r>
                      <a:r>
                        <a:rPr lang="en-US" sz="900" b="1" i="0" u="none" strike="noStrike">
                          <a:solidFill>
                            <a:srgbClr val="000000"/>
                          </a:solidFill>
                          <a:effectLst/>
                          <a:highlight>
                            <a:srgbClr val="FFFF00"/>
                          </a:highlight>
                          <a:latin typeface="Arial" panose="020B0604020202020204" pitchFamily="34" charset="0"/>
                        </a:rPr>
                        <a:t>combined</a:t>
                      </a:r>
                      <a:r>
                        <a:rPr lang="en-US" sz="900" b="1" i="0" u="none" strike="noStrike">
                          <a:solidFill>
                            <a:srgbClr val="000000"/>
                          </a:solidFill>
                          <a:effectLst/>
                          <a:latin typeface="Arial" panose="020B0604020202020204" pitchFamily="34" charset="0"/>
                        </a:rPr>
                        <a:t> Quarterly recurring Billing</a:t>
                      </a:r>
                      <a:r>
                        <a:rPr lang="en-US" sz="900" b="0" i="0">
                          <a:solidFill>
                            <a:srgbClr val="000000"/>
                          </a:solidFill>
                          <a:effectLst/>
                          <a:latin typeface="Arial" panose="020B0604020202020204" pitchFamily="34" charset="0"/>
                        </a:rPr>
                        <a:t>​ </a:t>
                      </a:r>
                      <a:r>
                        <a:rPr lang="en-US" sz="900" b="1" i="0">
                          <a:solidFill>
                            <a:srgbClr val="000000"/>
                          </a:solidFill>
                          <a:effectLst/>
                          <a:latin typeface="Arial" panose="020B0604020202020204" pitchFamily="34" charset="0"/>
                        </a:rPr>
                        <a:t>&amp; </a:t>
                      </a:r>
                      <a:r>
                        <a:rPr lang="en-US" altLang="zh-CN" sz="900" b="1" i="0">
                          <a:solidFill>
                            <a:srgbClr val="000000"/>
                          </a:solidFill>
                          <a:effectLst/>
                          <a:latin typeface="Arial" panose="020B0604020202020204" pitchFamily="34" charset="0"/>
                        </a:rPr>
                        <a:t>Interim Billing</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391">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391">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 Interim</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70391">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166516">
                <a:tc vMerge="1">
                  <a:txBody>
                    <a:bodyPr/>
                    <a:lstStyle/>
                    <a:p>
                      <a:endParaRPr lang="zh-CN" altLang="en-US"/>
                    </a:p>
                  </a:txBody>
                  <a:tcPr/>
                </a:tc>
                <a:tc>
                  <a:txBody>
                    <a:bodyPr/>
                    <a:lstStyle/>
                    <a:p>
                      <a:pPr algn="ctr" fontAlgn="base">
                        <a:lnSpc>
                          <a:spcPts val="1200"/>
                        </a:lnSpc>
                        <a:buNone/>
                      </a:pPr>
                      <a:r>
                        <a:rPr lang="en-US" sz="900" b="0" i="0" u="none" strike="sng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sngStrike" kern="1200">
                          <a:solidFill>
                            <a:srgbClr val="000000"/>
                          </a:solidFill>
                          <a:effectLst/>
                          <a:latin typeface="Arial" panose="020B0604020202020204" pitchFamily="34" charset="0"/>
                          <a:ea typeface="+mn-ea"/>
                          <a:cs typeface="+mn-cs"/>
                        </a:rPr>
                        <a:t>5010401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sngStrike" kern="1200">
                          <a:solidFill>
                            <a:srgbClr val="000000"/>
                          </a:solidFill>
                          <a:effectLst/>
                          <a:latin typeface="Arial" panose="020B0604020202020204" pitchFamily="34" charset="0"/>
                          <a:ea typeface="+mn-ea"/>
                          <a:cs typeface="+mn-cs"/>
                        </a:rPr>
                        <a:t>Service Revenue – upfront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sng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sngStrike" kern="1200">
                          <a:solidFill>
                            <a:srgbClr val="000000"/>
                          </a:solidFill>
                          <a:effectLst/>
                          <a:latin typeface="Arial" panose="020B0604020202020204" pitchFamily="34" charset="0"/>
                          <a:ea typeface="+mn-ea"/>
                          <a:cs typeface="+mn-cs"/>
                        </a:rPr>
                        <a:t>5</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endParaRPr lang="en-US" sz="900" b="0" i="0" u="none" strike="sng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altLang="zh-CN" sz="900" b="0" i="0" u="none" strike="sngStrike">
                          <a:solidFill>
                            <a:srgbClr val="000000"/>
                          </a:solidFill>
                          <a:effectLst/>
                          <a:latin typeface="Arial" panose="020B0604020202020204" pitchFamily="34" charset="0"/>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sng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412448343"/>
                  </a:ext>
                </a:extLst>
              </a:tr>
              <a:tr h="283058">
                <a:tc vMerge="1">
                  <a:txBody>
                    <a:bodyPr/>
                    <a:lstStyle/>
                    <a:p>
                      <a:endParaRPr lang="zh-CN" altLang="en-US"/>
                    </a:p>
                  </a:txBody>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5010401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premier(funded)</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775226966"/>
                  </a:ext>
                </a:extLst>
              </a:tr>
              <a:tr h="16651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FF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FF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FF0000"/>
                          </a:solidFill>
                          <a:effectLst/>
                          <a:latin typeface="Arial" panose="020B0604020202020204" pitchFamily="34" charset="0"/>
                          <a:ea typeface="+mn-ea"/>
                          <a:cs typeface="+mn-cs"/>
                        </a:rPr>
                        <a:t>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FF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altLang="zh-CN" sz="900" b="0" i="0" u="none" strike="noStrike">
                          <a:solidFill>
                            <a:srgbClr val="FF0000"/>
                          </a:solidFill>
                          <a:effectLst/>
                          <a:latin typeface="Arial" panose="020B0604020202020204" pitchFamily="34" charset="0"/>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FF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722492188"/>
                  </a:ext>
                </a:extLst>
              </a:tr>
              <a:tr h="166516">
                <a:tc vMerge="1">
                  <a:txBody>
                    <a:bodyPr/>
                    <a:lstStyle/>
                    <a:p>
                      <a:endParaRPr lang="zh-CN" altLang="en-US"/>
                    </a:p>
                  </a:txBody>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Lease - recurring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81.9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81.9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004098124"/>
                  </a:ext>
                </a:extLst>
              </a:tr>
              <a:tr h="166516">
                <a:tc vMerge="1">
                  <a:txBody>
                    <a:bodyPr/>
                    <a:lstStyle/>
                    <a:p>
                      <a:endParaRPr lang="zh-CN" altLang="en-US"/>
                    </a:p>
                  </a:txBody>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LTAR – Leasing Rental</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28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51357034"/>
                  </a:ext>
                </a:extLst>
              </a:tr>
              <a:tr h="166516">
                <a:tc vMerge="1">
                  <a:txBody>
                    <a:bodyPr/>
                    <a:lstStyle/>
                    <a:p>
                      <a:endParaRPr lang="zh-CN" altLang="en-US"/>
                    </a:p>
                  </a:txBody>
                  <a:tcPr/>
                </a:tc>
                <a:tc>
                  <a:txBody>
                    <a:bodyPr/>
                    <a:lstStyle/>
                    <a:p>
                      <a:pPr algn="ctr" fontAlgn="base">
                        <a:lnSpc>
                          <a:spcPts val="1200"/>
                        </a:lnSpc>
                        <a:buNone/>
                      </a:pPr>
                      <a:r>
                        <a:rPr lang="en-US" altLang="zh-CN" sz="900" b="0" i="0" u="none" strike="noStrike" kern="1200">
                          <a:solidFill>
                            <a:srgbClr val="000000"/>
                          </a:solidFill>
                          <a:effectLst/>
                          <a:latin typeface="Arial" panose="020B0604020202020204" pitchFamily="34" charset="0"/>
                          <a:ea typeface="+mn-ea"/>
                          <a:cs typeface="+mn-cs"/>
                        </a:rPr>
                        <a:t>Cr</a:t>
                      </a: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svc</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46453699"/>
                  </a:ext>
                </a:extLst>
              </a:tr>
              <a:tr h="25109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a:t>
                      </a:r>
                      <a:r>
                        <a:rPr lang="en-US" sz="900" b="0" i="0" u="none" strike="noStrike" kern="1200">
                          <a:solidFill>
                            <a:srgbClr val="000000"/>
                          </a:solidFill>
                          <a:effectLst/>
                          <a:latin typeface="Arial" panose="020B0604020202020204" pitchFamily="34" charset="0"/>
                          <a:ea typeface="+mn-ea"/>
                          <a:cs typeface="+mn-cs"/>
                        </a:rPr>
                        <a:t> Revenue – </a:t>
                      </a:r>
                      <a:r>
                        <a:rPr lang="en-US" altLang="zh-CN" sz="900" b="0" i="0" u="none" strike="noStrike" kern="1200">
                          <a:solidFill>
                            <a:srgbClr val="000000"/>
                          </a:solidFill>
                          <a:effectLst/>
                          <a:latin typeface="Arial" panose="020B0604020202020204" pitchFamily="34" charset="0"/>
                          <a:ea typeface="+mn-ea"/>
                          <a:cs typeface="+mn-cs"/>
                        </a:rPr>
                        <a:t>Premier(Funded)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16651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16651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8" name="表格 27">
            <a:extLst>
              <a:ext uri="{FF2B5EF4-FFF2-40B4-BE49-F238E27FC236}">
                <a16:creationId xmlns:a16="http://schemas.microsoft.com/office/drawing/2014/main" id="{8B6CC182-1385-06C1-159F-FFC77F88F2FE}"/>
              </a:ext>
            </a:extLst>
          </p:cNvPr>
          <p:cNvGraphicFramePr>
            <a:graphicFrameLocks noGrp="1"/>
          </p:cNvGraphicFramePr>
          <p:nvPr>
            <p:extLst>
              <p:ext uri="{D42A27DB-BD31-4B8C-83A1-F6EECF244321}">
                <p14:modId xmlns:p14="http://schemas.microsoft.com/office/powerpoint/2010/main" val="3826214002"/>
              </p:ext>
            </p:extLst>
          </p:nvPr>
        </p:nvGraphicFramePr>
        <p:xfrm>
          <a:off x="6238845" y="4939618"/>
          <a:ext cx="5890393" cy="1419333"/>
        </p:xfrm>
        <a:graphic>
          <a:graphicData uri="http://schemas.openxmlformats.org/drawingml/2006/table">
            <a:tbl>
              <a:tblPr/>
              <a:tblGrid>
                <a:gridCol w="426516">
                  <a:extLst>
                    <a:ext uri="{9D8B030D-6E8A-4147-A177-3AD203B41FA5}">
                      <a16:colId xmlns:a16="http://schemas.microsoft.com/office/drawing/2014/main" val="495084399"/>
                    </a:ext>
                  </a:extLst>
                </a:gridCol>
                <a:gridCol w="234520">
                  <a:extLst>
                    <a:ext uri="{9D8B030D-6E8A-4147-A177-3AD203B41FA5}">
                      <a16:colId xmlns:a16="http://schemas.microsoft.com/office/drawing/2014/main" val="3614210242"/>
                    </a:ext>
                  </a:extLst>
                </a:gridCol>
                <a:gridCol w="558128">
                  <a:extLst>
                    <a:ext uri="{9D8B030D-6E8A-4147-A177-3AD203B41FA5}">
                      <a16:colId xmlns:a16="http://schemas.microsoft.com/office/drawing/2014/main" val="1442124609"/>
                    </a:ext>
                  </a:extLst>
                </a:gridCol>
                <a:gridCol w="2028710">
                  <a:extLst>
                    <a:ext uri="{9D8B030D-6E8A-4147-A177-3AD203B41FA5}">
                      <a16:colId xmlns:a16="http://schemas.microsoft.com/office/drawing/2014/main" val="3603859997"/>
                    </a:ext>
                  </a:extLst>
                </a:gridCol>
                <a:gridCol w="314561">
                  <a:extLst>
                    <a:ext uri="{9D8B030D-6E8A-4147-A177-3AD203B41FA5}">
                      <a16:colId xmlns:a16="http://schemas.microsoft.com/office/drawing/2014/main" val="4076488391"/>
                    </a:ext>
                  </a:extLst>
                </a:gridCol>
                <a:gridCol w="314561">
                  <a:extLst>
                    <a:ext uri="{9D8B030D-6E8A-4147-A177-3AD203B41FA5}">
                      <a16:colId xmlns:a16="http://schemas.microsoft.com/office/drawing/2014/main" val="3254101706"/>
                    </a:ext>
                  </a:extLst>
                </a:gridCol>
                <a:gridCol w="256947">
                  <a:extLst>
                    <a:ext uri="{9D8B030D-6E8A-4147-A177-3AD203B41FA5}">
                      <a16:colId xmlns:a16="http://schemas.microsoft.com/office/drawing/2014/main" val="3712391277"/>
                    </a:ext>
                  </a:extLst>
                </a:gridCol>
                <a:gridCol w="576707">
                  <a:extLst>
                    <a:ext uri="{9D8B030D-6E8A-4147-A177-3AD203B41FA5}">
                      <a16:colId xmlns:a16="http://schemas.microsoft.com/office/drawing/2014/main" val="134131131"/>
                    </a:ext>
                  </a:extLst>
                </a:gridCol>
                <a:gridCol w="329234">
                  <a:extLst>
                    <a:ext uri="{9D8B030D-6E8A-4147-A177-3AD203B41FA5}">
                      <a16:colId xmlns:a16="http://schemas.microsoft.com/office/drawing/2014/main" val="2527660299"/>
                    </a:ext>
                  </a:extLst>
                </a:gridCol>
                <a:gridCol w="362738">
                  <a:extLst>
                    <a:ext uri="{9D8B030D-6E8A-4147-A177-3AD203B41FA5}">
                      <a16:colId xmlns:a16="http://schemas.microsoft.com/office/drawing/2014/main" val="3641075278"/>
                    </a:ext>
                  </a:extLst>
                </a:gridCol>
                <a:gridCol w="487771">
                  <a:extLst>
                    <a:ext uri="{9D8B030D-6E8A-4147-A177-3AD203B41FA5}">
                      <a16:colId xmlns:a16="http://schemas.microsoft.com/office/drawing/2014/main" val="3618613915"/>
                    </a:ext>
                  </a:extLst>
                </a:gridCol>
              </a:tblGrid>
              <a:tr h="155986">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58759">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8435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514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15514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15514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15514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30" name="表格 29">
            <a:extLst>
              <a:ext uri="{FF2B5EF4-FFF2-40B4-BE49-F238E27FC236}">
                <a16:creationId xmlns:a16="http://schemas.microsoft.com/office/drawing/2014/main" id="{6C85FD91-8837-FAF7-C4C4-B94F65D1177E}"/>
              </a:ext>
            </a:extLst>
          </p:cNvPr>
          <p:cNvGraphicFramePr>
            <a:graphicFrameLocks noGrp="1"/>
          </p:cNvGraphicFramePr>
          <p:nvPr>
            <p:extLst>
              <p:ext uri="{D42A27DB-BD31-4B8C-83A1-F6EECF244321}">
                <p14:modId xmlns:p14="http://schemas.microsoft.com/office/powerpoint/2010/main" val="2111341245"/>
              </p:ext>
            </p:extLst>
          </p:nvPr>
        </p:nvGraphicFramePr>
        <p:xfrm>
          <a:off x="6232128" y="607047"/>
          <a:ext cx="5826523" cy="1303020"/>
        </p:xfrm>
        <a:graphic>
          <a:graphicData uri="http://schemas.openxmlformats.org/drawingml/2006/table">
            <a:tbl>
              <a:tblPr firstRow="1" bandRow="1">
                <a:tableStyleId>{3C2FFA5D-87B4-456A-9821-1D502468CF0F}</a:tableStyleId>
              </a:tblPr>
              <a:tblGrid>
                <a:gridCol w="621283">
                  <a:extLst>
                    <a:ext uri="{9D8B030D-6E8A-4147-A177-3AD203B41FA5}">
                      <a16:colId xmlns:a16="http://schemas.microsoft.com/office/drawing/2014/main" val="869603910"/>
                    </a:ext>
                  </a:extLst>
                </a:gridCol>
                <a:gridCol w="709696">
                  <a:extLst>
                    <a:ext uri="{9D8B030D-6E8A-4147-A177-3AD203B41FA5}">
                      <a16:colId xmlns:a16="http://schemas.microsoft.com/office/drawing/2014/main" val="238663902"/>
                    </a:ext>
                  </a:extLst>
                </a:gridCol>
                <a:gridCol w="553145">
                  <a:extLst>
                    <a:ext uri="{9D8B030D-6E8A-4147-A177-3AD203B41FA5}">
                      <a16:colId xmlns:a16="http://schemas.microsoft.com/office/drawing/2014/main" val="4114365151"/>
                    </a:ext>
                  </a:extLst>
                </a:gridCol>
                <a:gridCol w="931845">
                  <a:extLst>
                    <a:ext uri="{9D8B030D-6E8A-4147-A177-3AD203B41FA5}">
                      <a16:colId xmlns:a16="http://schemas.microsoft.com/office/drawing/2014/main" val="4075178046"/>
                    </a:ext>
                  </a:extLst>
                </a:gridCol>
                <a:gridCol w="729265">
                  <a:extLst>
                    <a:ext uri="{9D8B030D-6E8A-4147-A177-3AD203B41FA5}">
                      <a16:colId xmlns:a16="http://schemas.microsoft.com/office/drawing/2014/main" val="973533418"/>
                    </a:ext>
                  </a:extLst>
                </a:gridCol>
                <a:gridCol w="710565">
                  <a:extLst>
                    <a:ext uri="{9D8B030D-6E8A-4147-A177-3AD203B41FA5}">
                      <a16:colId xmlns:a16="http://schemas.microsoft.com/office/drawing/2014/main" val="2377711782"/>
                    </a:ext>
                  </a:extLst>
                </a:gridCol>
                <a:gridCol w="729265">
                  <a:extLst>
                    <a:ext uri="{9D8B030D-6E8A-4147-A177-3AD203B41FA5}">
                      <a16:colId xmlns:a16="http://schemas.microsoft.com/office/drawing/2014/main" val="2044147452"/>
                    </a:ext>
                  </a:extLst>
                </a:gridCol>
                <a:gridCol w="841459">
                  <a:extLst>
                    <a:ext uri="{9D8B030D-6E8A-4147-A177-3AD203B41FA5}">
                      <a16:colId xmlns:a16="http://schemas.microsoft.com/office/drawing/2014/main" val="221569069"/>
                    </a:ext>
                  </a:extLst>
                </a:gridCol>
              </a:tblGrid>
              <a:tr h="39482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5720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 &amp; Quarterly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NA</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Tree>
    <p:extLst>
      <p:ext uri="{BB962C8B-B14F-4D97-AF65-F5344CB8AC3E}">
        <p14:creationId xmlns:p14="http://schemas.microsoft.com/office/powerpoint/2010/main" val="356854904"/>
      </p:ext>
    </p:extLst>
  </p:cSld>
  <p:clrMapOvr>
    <a:masterClrMapping/>
  </p:clrMapOvr>
  <p:extLst>
    <p:ext uri="{6950BFC3-D8DA-4A85-94F7-54DA5524770B}">
      <p188:commentRel xmlns:p188="http://schemas.microsoft.com/office/powerpoint/2018/8/main" r:id="rId3"/>
    </p:ext>
  </p:extLs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202C68-2B99-B80E-A0E9-D29097759E68}"/>
            </a:ext>
          </a:extLst>
        </p:cNvPr>
        <p:cNvGrpSpPr/>
        <p:nvPr/>
      </p:nvGrpSpPr>
      <p:grpSpPr>
        <a:xfrm>
          <a:off x="0" y="0"/>
          <a:ext cx="0" cy="0"/>
          <a:chOff x="0" y="0"/>
          <a:chExt cx="0" cy="0"/>
        </a:xfrm>
      </p:grpSpPr>
      <p:graphicFrame>
        <p:nvGraphicFramePr>
          <p:cNvPr id="15" name="表格 14">
            <a:extLst>
              <a:ext uri="{FF2B5EF4-FFF2-40B4-BE49-F238E27FC236}">
                <a16:creationId xmlns:a16="http://schemas.microsoft.com/office/drawing/2014/main" id="{12D94B29-E60D-503B-E6EA-D31C95EE195B}"/>
              </a:ext>
            </a:extLst>
          </p:cNvPr>
          <p:cNvGraphicFramePr>
            <a:graphicFrameLocks noGrp="1"/>
          </p:cNvGraphicFramePr>
          <p:nvPr>
            <p:extLst>
              <p:ext uri="{D42A27DB-BD31-4B8C-83A1-F6EECF244321}">
                <p14:modId xmlns:p14="http://schemas.microsoft.com/office/powerpoint/2010/main" val="2522608298"/>
              </p:ext>
            </p:extLst>
          </p:nvPr>
        </p:nvGraphicFramePr>
        <p:xfrm>
          <a:off x="109273" y="2209445"/>
          <a:ext cx="5915467" cy="13276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78843">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2203991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17" name="表格 16">
            <a:extLst>
              <a:ext uri="{FF2B5EF4-FFF2-40B4-BE49-F238E27FC236}">
                <a16:creationId xmlns:a16="http://schemas.microsoft.com/office/drawing/2014/main" id="{8FA62D85-C645-EC76-E8DF-D4D2E5F4261B}"/>
              </a:ext>
            </a:extLst>
          </p:cNvPr>
          <p:cNvGraphicFramePr>
            <a:graphicFrameLocks noGrp="1"/>
          </p:cNvGraphicFramePr>
          <p:nvPr>
            <p:extLst>
              <p:ext uri="{D42A27DB-BD31-4B8C-83A1-F6EECF244321}">
                <p14:modId xmlns:p14="http://schemas.microsoft.com/office/powerpoint/2010/main" val="4085014682"/>
              </p:ext>
            </p:extLst>
          </p:nvPr>
        </p:nvGraphicFramePr>
        <p:xfrm>
          <a:off x="119470" y="3805739"/>
          <a:ext cx="5915467" cy="14800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159723">
                  <a:extLst>
                    <a:ext uri="{9D8B030D-6E8A-4147-A177-3AD203B41FA5}">
                      <a16:colId xmlns:a16="http://schemas.microsoft.com/office/drawing/2014/main" val="3603859997"/>
                    </a:ext>
                  </a:extLst>
                </a:gridCol>
                <a:gridCol w="193522">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21" name="表格 20">
            <a:extLst>
              <a:ext uri="{FF2B5EF4-FFF2-40B4-BE49-F238E27FC236}">
                <a16:creationId xmlns:a16="http://schemas.microsoft.com/office/drawing/2014/main" id="{5B307AE3-FF4D-2E19-4E4A-DBED700E676E}"/>
              </a:ext>
            </a:extLst>
          </p:cNvPr>
          <p:cNvGraphicFramePr>
            <a:graphicFrameLocks noGrp="1"/>
          </p:cNvGraphicFramePr>
          <p:nvPr>
            <p:extLst>
              <p:ext uri="{D42A27DB-BD31-4B8C-83A1-F6EECF244321}">
                <p14:modId xmlns:p14="http://schemas.microsoft.com/office/powerpoint/2010/main" val="1281037713"/>
              </p:ext>
            </p:extLst>
          </p:nvPr>
        </p:nvGraphicFramePr>
        <p:xfrm>
          <a:off x="6122280" y="320141"/>
          <a:ext cx="6002864" cy="2564158"/>
        </p:xfrm>
        <a:graphic>
          <a:graphicData uri="http://schemas.openxmlformats.org/drawingml/2006/table">
            <a:tbl>
              <a:tblPr/>
              <a:tblGrid>
                <a:gridCol w="450311">
                  <a:extLst>
                    <a:ext uri="{9D8B030D-6E8A-4147-A177-3AD203B41FA5}">
                      <a16:colId xmlns:a16="http://schemas.microsoft.com/office/drawing/2014/main" val="495084399"/>
                    </a:ext>
                  </a:extLst>
                </a:gridCol>
                <a:gridCol w="247604">
                  <a:extLst>
                    <a:ext uri="{9D8B030D-6E8A-4147-A177-3AD203B41FA5}">
                      <a16:colId xmlns:a16="http://schemas.microsoft.com/office/drawing/2014/main" val="3614210242"/>
                    </a:ext>
                  </a:extLst>
                </a:gridCol>
                <a:gridCol w="589265">
                  <a:extLst>
                    <a:ext uri="{9D8B030D-6E8A-4147-A177-3AD203B41FA5}">
                      <a16:colId xmlns:a16="http://schemas.microsoft.com/office/drawing/2014/main" val="1442124609"/>
                    </a:ext>
                  </a:extLst>
                </a:gridCol>
                <a:gridCol w="1981200">
                  <a:extLst>
                    <a:ext uri="{9D8B030D-6E8A-4147-A177-3AD203B41FA5}">
                      <a16:colId xmlns:a16="http://schemas.microsoft.com/office/drawing/2014/main" val="3603859997"/>
                    </a:ext>
                  </a:extLst>
                </a:gridCol>
                <a:gridCol w="265848">
                  <a:extLst>
                    <a:ext uri="{9D8B030D-6E8A-4147-A177-3AD203B41FA5}">
                      <a16:colId xmlns:a16="http://schemas.microsoft.com/office/drawing/2014/main" val="4076488391"/>
                    </a:ext>
                  </a:extLst>
                </a:gridCol>
                <a:gridCol w="417617">
                  <a:extLst>
                    <a:ext uri="{9D8B030D-6E8A-4147-A177-3AD203B41FA5}">
                      <a16:colId xmlns:a16="http://schemas.microsoft.com/office/drawing/2014/main" val="3254101706"/>
                    </a:ext>
                  </a:extLst>
                </a:gridCol>
                <a:gridCol w="379272">
                  <a:extLst>
                    <a:ext uri="{9D8B030D-6E8A-4147-A177-3AD203B41FA5}">
                      <a16:colId xmlns:a16="http://schemas.microsoft.com/office/drawing/2014/main" val="3712391277"/>
                    </a:ext>
                  </a:extLst>
                </a:gridCol>
                <a:gridCol w="426186">
                  <a:extLst>
                    <a:ext uri="{9D8B030D-6E8A-4147-A177-3AD203B41FA5}">
                      <a16:colId xmlns:a16="http://schemas.microsoft.com/office/drawing/2014/main" val="134131131"/>
                    </a:ext>
                  </a:extLst>
                </a:gridCol>
                <a:gridCol w="347602">
                  <a:extLst>
                    <a:ext uri="{9D8B030D-6E8A-4147-A177-3AD203B41FA5}">
                      <a16:colId xmlns:a16="http://schemas.microsoft.com/office/drawing/2014/main" val="2527660299"/>
                    </a:ext>
                  </a:extLst>
                </a:gridCol>
                <a:gridCol w="382976">
                  <a:extLst>
                    <a:ext uri="{9D8B030D-6E8A-4147-A177-3AD203B41FA5}">
                      <a16:colId xmlns:a16="http://schemas.microsoft.com/office/drawing/2014/main" val="3641075278"/>
                    </a:ext>
                  </a:extLst>
                </a:gridCol>
                <a:gridCol w="514983">
                  <a:extLst>
                    <a:ext uri="{9D8B030D-6E8A-4147-A177-3AD203B41FA5}">
                      <a16:colId xmlns:a16="http://schemas.microsoft.com/office/drawing/2014/main" val="3618613915"/>
                    </a:ext>
                  </a:extLst>
                </a:gridCol>
              </a:tblGrid>
              <a:tr h="164026">
                <a:tc rowSpan="13">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Interim billing &amp; recurring monthly billing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6942">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At the beginning of the quarter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694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694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-interim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79426"/>
                  </a:ext>
                </a:extLst>
              </a:tr>
              <a:tr h="29521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1631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514087354"/>
                  </a:ext>
                </a:extLst>
              </a:tr>
              <a:tr h="16314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FF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FF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FF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FF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FF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951353734"/>
                  </a:ext>
                </a:extLst>
              </a:tr>
              <a:tr h="16314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 recurring</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116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99199085"/>
                  </a:ext>
                </a:extLst>
              </a:tr>
              <a:tr h="16314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upfront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altLang="zh-CN" sz="900" b="0" i="0" u="none" strike="noStrike">
                          <a:solidFill>
                            <a:srgbClr val="000000"/>
                          </a:solidFill>
                          <a:effectLst/>
                          <a:latin typeface="Arial" panose="020B0604020202020204" pitchFamily="34" charset="0"/>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7421429"/>
                  </a:ext>
                </a:extLst>
              </a:tr>
              <a:tr h="16314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 - Operating Lease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59917395"/>
                  </a:ext>
                </a:extLst>
              </a:tr>
              <a:tr h="16314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74849139"/>
                  </a:ext>
                </a:extLst>
              </a:tr>
              <a:tr h="163146">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31809030"/>
                  </a:ext>
                </a:extLst>
              </a:tr>
              <a:tr h="1631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3" name="表格 22">
            <a:extLst>
              <a:ext uri="{FF2B5EF4-FFF2-40B4-BE49-F238E27FC236}">
                <a16:creationId xmlns:a16="http://schemas.microsoft.com/office/drawing/2014/main" id="{0BF4540E-75DF-CE64-33B4-C93C942F267D}"/>
              </a:ext>
            </a:extLst>
          </p:cNvPr>
          <p:cNvGraphicFramePr>
            <a:graphicFrameLocks noGrp="1"/>
          </p:cNvGraphicFramePr>
          <p:nvPr>
            <p:extLst>
              <p:ext uri="{D42A27DB-BD31-4B8C-83A1-F6EECF244321}">
                <p14:modId xmlns:p14="http://schemas.microsoft.com/office/powerpoint/2010/main" val="15227181"/>
              </p:ext>
            </p:extLst>
          </p:nvPr>
        </p:nvGraphicFramePr>
        <p:xfrm>
          <a:off x="6122281" y="3275386"/>
          <a:ext cx="6177194"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81200">
                  <a:extLst>
                    <a:ext uri="{9D8B030D-6E8A-4147-A177-3AD203B41FA5}">
                      <a16:colId xmlns:a16="http://schemas.microsoft.com/office/drawing/2014/main" val="3603859997"/>
                    </a:ext>
                  </a:extLst>
                </a:gridCol>
                <a:gridCol w="559206">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Quarterly payment to S&amp;D</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Quarterly Billing</a:t>
                      </a:r>
                      <a:r>
                        <a:rPr lang="en-US" altLang="zh-CN" sz="900" b="0" i="0">
                          <a:solidFill>
                            <a:srgbClr val="000000"/>
                          </a:solidFill>
                          <a:effectLst/>
                          <a:latin typeface="Arial" panose="020B0604020202020204" pitchFamily="34" charset="0"/>
                        </a:rPr>
                        <a: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25" name="表格 24">
            <a:extLst>
              <a:ext uri="{FF2B5EF4-FFF2-40B4-BE49-F238E27FC236}">
                <a16:creationId xmlns:a16="http://schemas.microsoft.com/office/drawing/2014/main" id="{658058E8-08DA-3246-C7AF-EF55E7CE316A}"/>
              </a:ext>
            </a:extLst>
          </p:cNvPr>
          <p:cNvGraphicFramePr>
            <a:graphicFrameLocks noGrp="1"/>
          </p:cNvGraphicFramePr>
          <p:nvPr>
            <p:extLst>
              <p:ext uri="{D42A27DB-BD31-4B8C-83A1-F6EECF244321}">
                <p14:modId xmlns:p14="http://schemas.microsoft.com/office/powerpoint/2010/main" val="3531412773"/>
              </p:ext>
            </p:extLst>
          </p:nvPr>
        </p:nvGraphicFramePr>
        <p:xfrm>
          <a:off x="6122280" y="4810216"/>
          <a:ext cx="6039293" cy="951098"/>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90006">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1</a:t>
                      </a:r>
                      <a:r>
                        <a:rPr lang="en-US" altLang="zh-CN" sz="800" b="1" i="0" u="none" strike="noStrike" baseline="30000">
                          <a:solidFill>
                            <a:srgbClr val="FFFFFF"/>
                          </a:solidFill>
                          <a:effectLst/>
                          <a:latin typeface="Arial" panose="020B0604020202020204" pitchFamily="34" charset="0"/>
                        </a:rPr>
                        <a:t>st</a:t>
                      </a:r>
                      <a:r>
                        <a:rPr lang="en-US" altLang="zh-CN" sz="800" b="1" i="0" u="none" strike="noStrike">
                          <a:solidFill>
                            <a:srgbClr val="FFFFFF"/>
                          </a:solidFill>
                          <a:effectLst/>
                          <a:latin typeface="Arial" panose="020B0604020202020204" pitchFamily="34" charset="0"/>
                        </a:rPr>
                        <a:t> Month end adjustment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91606">
                <a:tc vMerge="1">
                  <a:txBody>
                    <a:bodyPr/>
                    <a:lstStyle/>
                    <a:p>
                      <a:endParaRPr lang="zh-CN" altLang="en-US"/>
                    </a:p>
                  </a:txBody>
                  <a:tcPr/>
                </a:tc>
                <a:tc gridSpan="10">
                  <a:txBody>
                    <a:bodyPr/>
                    <a:lstStyle/>
                    <a:p>
                      <a:pPr algn="ctr" fontAlgn="base">
                        <a:lnSpc>
                          <a:spcPts val="1200"/>
                        </a:lnSpc>
                        <a:buNone/>
                      </a:pPr>
                      <a:r>
                        <a:rPr lang="en-US" altLang="zh-CN" sz="900" b="1" i="0">
                          <a:solidFill>
                            <a:srgbClr val="000000"/>
                          </a:solidFill>
                          <a:effectLst/>
                          <a:latin typeface="Arial" panose="020B0604020202020204" pitchFamily="34" charset="0"/>
                        </a:rPr>
                        <a:t>At the end of 1</a:t>
                      </a:r>
                      <a:r>
                        <a:rPr lang="en-US" altLang="zh-CN" sz="900" b="1" i="0" baseline="30000">
                          <a:solidFill>
                            <a:srgbClr val="000000"/>
                          </a:solidFill>
                          <a:effectLst/>
                          <a:latin typeface="Arial" panose="020B0604020202020204" pitchFamily="34" charset="0"/>
                        </a:rPr>
                        <a:t>st</a:t>
                      </a:r>
                      <a:r>
                        <a:rPr lang="en-US" altLang="zh-CN" sz="900" b="1" i="0">
                          <a:solidFill>
                            <a:srgbClr val="000000"/>
                          </a:solidFill>
                          <a:effectLst/>
                          <a:latin typeface="Arial" panose="020B0604020202020204" pitchFamily="34" charset="0"/>
                        </a:rPr>
                        <a:t> month of the quarter​</a:t>
                      </a:r>
                      <a:endParaRPr lang="en-US" altLang="zh-CN"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9160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199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199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a:ea typeface="+mn-ea"/>
                          <a:cs typeface="+mn-cs"/>
                        </a:rPr>
                        <a:t>5010450</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93882986"/>
                  </a:ext>
                </a:extLst>
              </a:tr>
            </a:tbl>
          </a:graphicData>
        </a:graphic>
      </p:graphicFrame>
      <p:graphicFrame>
        <p:nvGraphicFramePr>
          <p:cNvPr id="3" name="表格 2">
            <a:extLst>
              <a:ext uri="{FF2B5EF4-FFF2-40B4-BE49-F238E27FC236}">
                <a16:creationId xmlns:a16="http://schemas.microsoft.com/office/drawing/2014/main" id="{C9524D93-6EE7-4CB2-B8E1-0126A1CA7889}"/>
              </a:ext>
            </a:extLst>
          </p:cNvPr>
          <p:cNvGraphicFramePr>
            <a:graphicFrameLocks noGrp="1"/>
          </p:cNvGraphicFramePr>
          <p:nvPr>
            <p:extLst>
              <p:ext uri="{D42A27DB-BD31-4B8C-83A1-F6EECF244321}">
                <p14:modId xmlns:p14="http://schemas.microsoft.com/office/powerpoint/2010/main" val="3137773981"/>
              </p:ext>
            </p:extLst>
          </p:nvPr>
        </p:nvGraphicFramePr>
        <p:xfrm>
          <a:off x="109273" y="700113"/>
          <a:ext cx="5935863" cy="1303020"/>
        </p:xfrm>
        <a:graphic>
          <a:graphicData uri="http://schemas.openxmlformats.org/drawingml/2006/table">
            <a:tbl>
              <a:tblPr firstRow="1" bandRow="1">
                <a:tableStyleId>{3C2FFA5D-87B4-456A-9821-1D502468CF0F}</a:tableStyleId>
              </a:tblPr>
              <a:tblGrid>
                <a:gridCol w="632942">
                  <a:extLst>
                    <a:ext uri="{9D8B030D-6E8A-4147-A177-3AD203B41FA5}">
                      <a16:colId xmlns:a16="http://schemas.microsoft.com/office/drawing/2014/main" val="869603910"/>
                    </a:ext>
                  </a:extLst>
                </a:gridCol>
                <a:gridCol w="723014">
                  <a:extLst>
                    <a:ext uri="{9D8B030D-6E8A-4147-A177-3AD203B41FA5}">
                      <a16:colId xmlns:a16="http://schemas.microsoft.com/office/drawing/2014/main" val="238663902"/>
                    </a:ext>
                  </a:extLst>
                </a:gridCol>
                <a:gridCol w="563525">
                  <a:extLst>
                    <a:ext uri="{9D8B030D-6E8A-4147-A177-3AD203B41FA5}">
                      <a16:colId xmlns:a16="http://schemas.microsoft.com/office/drawing/2014/main" val="4114365151"/>
                    </a:ext>
                  </a:extLst>
                </a:gridCol>
                <a:gridCol w="949332">
                  <a:extLst>
                    <a:ext uri="{9D8B030D-6E8A-4147-A177-3AD203B41FA5}">
                      <a16:colId xmlns:a16="http://schemas.microsoft.com/office/drawing/2014/main" val="4075178046"/>
                    </a:ext>
                  </a:extLst>
                </a:gridCol>
                <a:gridCol w="74295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2950">
                  <a:extLst>
                    <a:ext uri="{9D8B030D-6E8A-4147-A177-3AD203B41FA5}">
                      <a16:colId xmlns:a16="http://schemas.microsoft.com/office/drawing/2014/main" val="2044147452"/>
                    </a:ext>
                  </a:extLst>
                </a:gridCol>
                <a:gridCol w="857250">
                  <a:extLst>
                    <a:ext uri="{9D8B030D-6E8A-4147-A177-3AD203B41FA5}">
                      <a16:colId xmlns:a16="http://schemas.microsoft.com/office/drawing/2014/main" val="221569069"/>
                    </a:ext>
                  </a:extLst>
                </a:gridCol>
              </a:tblGrid>
              <a:tr h="39482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5720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 &amp; Quarterly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NA</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9" name="对话气泡: 矩形 8">
            <a:extLst>
              <a:ext uri="{FF2B5EF4-FFF2-40B4-BE49-F238E27FC236}">
                <a16:creationId xmlns:a16="http://schemas.microsoft.com/office/drawing/2014/main" id="{5C3893D9-3FAB-2BC0-7C79-A58EAA0DD614}"/>
              </a:ext>
            </a:extLst>
          </p:cNvPr>
          <p:cNvSpPr/>
          <p:nvPr/>
        </p:nvSpPr>
        <p:spPr>
          <a:xfrm>
            <a:off x="12386819" y="3176852"/>
            <a:ext cx="1157054" cy="1069109"/>
          </a:xfrm>
          <a:prstGeom prst="wedgeRectCallout">
            <a:avLst>
              <a:gd name="adj1" fmla="val -79672"/>
              <a:gd name="adj2" fmla="val -16745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ARS report should capture interim billing or combined billing for ARS accrual </a:t>
            </a:r>
          </a:p>
        </p:txBody>
      </p:sp>
      <p:sp>
        <p:nvSpPr>
          <p:cNvPr id="4" name="Title 10">
            <a:extLst>
              <a:ext uri="{FF2B5EF4-FFF2-40B4-BE49-F238E27FC236}">
                <a16:creationId xmlns:a16="http://schemas.microsoft.com/office/drawing/2014/main" id="{B248A851-062A-FB9F-BA28-1A7A694D1405}"/>
              </a:ext>
            </a:extLst>
          </p:cNvPr>
          <p:cNvSpPr txBox="1">
            <a:spLocks/>
          </p:cNvSpPr>
          <p:nvPr/>
        </p:nvSpPr>
        <p:spPr>
          <a:xfrm>
            <a:off x="74412" y="107420"/>
            <a:ext cx="635031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Interim charge | AFE | OL</a:t>
            </a:r>
          </a:p>
        </p:txBody>
      </p:sp>
    </p:spTree>
    <p:extLst>
      <p:ext uri="{BB962C8B-B14F-4D97-AF65-F5344CB8AC3E}">
        <p14:creationId xmlns:p14="http://schemas.microsoft.com/office/powerpoint/2010/main" val="49273041"/>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AB5303-0C6C-E7F1-1A2A-B636A3067C96}"/>
            </a:ext>
          </a:extLst>
        </p:cNvPr>
        <p:cNvGrpSpPr/>
        <p:nvPr/>
      </p:nvGrpSpPr>
      <p:grpSpPr>
        <a:xfrm>
          <a:off x="0" y="0"/>
          <a:ext cx="0" cy="0"/>
          <a:chOff x="0" y="0"/>
          <a:chExt cx="0" cy="0"/>
        </a:xfrm>
      </p:grpSpPr>
      <p:graphicFrame>
        <p:nvGraphicFramePr>
          <p:cNvPr id="15" name="表格 14">
            <a:extLst>
              <a:ext uri="{FF2B5EF4-FFF2-40B4-BE49-F238E27FC236}">
                <a16:creationId xmlns:a16="http://schemas.microsoft.com/office/drawing/2014/main" id="{BCC150FC-24DF-28B0-A060-B2423FBA6CC0}"/>
              </a:ext>
            </a:extLst>
          </p:cNvPr>
          <p:cNvGraphicFramePr>
            <a:graphicFrameLocks noGrp="1"/>
          </p:cNvGraphicFramePr>
          <p:nvPr/>
        </p:nvGraphicFramePr>
        <p:xfrm>
          <a:off x="109273" y="2209445"/>
          <a:ext cx="5915467" cy="13276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78843">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2203991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17" name="表格 16">
            <a:extLst>
              <a:ext uri="{FF2B5EF4-FFF2-40B4-BE49-F238E27FC236}">
                <a16:creationId xmlns:a16="http://schemas.microsoft.com/office/drawing/2014/main" id="{9EF20D33-599E-3655-CDC5-0361853756F3}"/>
              </a:ext>
            </a:extLst>
          </p:cNvPr>
          <p:cNvGraphicFramePr>
            <a:graphicFrameLocks noGrp="1"/>
          </p:cNvGraphicFramePr>
          <p:nvPr>
            <p:extLst>
              <p:ext uri="{D42A27DB-BD31-4B8C-83A1-F6EECF244321}">
                <p14:modId xmlns:p14="http://schemas.microsoft.com/office/powerpoint/2010/main" val="3384857574"/>
              </p:ext>
            </p:extLst>
          </p:nvPr>
        </p:nvGraphicFramePr>
        <p:xfrm>
          <a:off x="119470" y="3805739"/>
          <a:ext cx="5915467" cy="14800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159723">
                  <a:extLst>
                    <a:ext uri="{9D8B030D-6E8A-4147-A177-3AD203B41FA5}">
                      <a16:colId xmlns:a16="http://schemas.microsoft.com/office/drawing/2014/main" val="3603859997"/>
                    </a:ext>
                  </a:extLst>
                </a:gridCol>
                <a:gridCol w="193522">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21" name="表格 20">
            <a:extLst>
              <a:ext uri="{FF2B5EF4-FFF2-40B4-BE49-F238E27FC236}">
                <a16:creationId xmlns:a16="http://schemas.microsoft.com/office/drawing/2014/main" id="{9432ABF3-E12A-ACA6-B0E9-F712848C8792}"/>
              </a:ext>
            </a:extLst>
          </p:cNvPr>
          <p:cNvGraphicFramePr>
            <a:graphicFrameLocks noGrp="1"/>
          </p:cNvGraphicFramePr>
          <p:nvPr>
            <p:extLst>
              <p:ext uri="{D42A27DB-BD31-4B8C-83A1-F6EECF244321}">
                <p14:modId xmlns:p14="http://schemas.microsoft.com/office/powerpoint/2010/main" val="1804795640"/>
              </p:ext>
            </p:extLst>
          </p:nvPr>
        </p:nvGraphicFramePr>
        <p:xfrm>
          <a:off x="6122280" y="320141"/>
          <a:ext cx="6002864" cy="2564158"/>
        </p:xfrm>
        <a:graphic>
          <a:graphicData uri="http://schemas.openxmlformats.org/drawingml/2006/table">
            <a:tbl>
              <a:tblPr/>
              <a:tblGrid>
                <a:gridCol w="450311">
                  <a:extLst>
                    <a:ext uri="{9D8B030D-6E8A-4147-A177-3AD203B41FA5}">
                      <a16:colId xmlns:a16="http://schemas.microsoft.com/office/drawing/2014/main" val="495084399"/>
                    </a:ext>
                  </a:extLst>
                </a:gridCol>
                <a:gridCol w="247604">
                  <a:extLst>
                    <a:ext uri="{9D8B030D-6E8A-4147-A177-3AD203B41FA5}">
                      <a16:colId xmlns:a16="http://schemas.microsoft.com/office/drawing/2014/main" val="3614210242"/>
                    </a:ext>
                  </a:extLst>
                </a:gridCol>
                <a:gridCol w="589265">
                  <a:extLst>
                    <a:ext uri="{9D8B030D-6E8A-4147-A177-3AD203B41FA5}">
                      <a16:colId xmlns:a16="http://schemas.microsoft.com/office/drawing/2014/main" val="1442124609"/>
                    </a:ext>
                  </a:extLst>
                </a:gridCol>
                <a:gridCol w="1981200">
                  <a:extLst>
                    <a:ext uri="{9D8B030D-6E8A-4147-A177-3AD203B41FA5}">
                      <a16:colId xmlns:a16="http://schemas.microsoft.com/office/drawing/2014/main" val="3603859997"/>
                    </a:ext>
                  </a:extLst>
                </a:gridCol>
                <a:gridCol w="265848">
                  <a:extLst>
                    <a:ext uri="{9D8B030D-6E8A-4147-A177-3AD203B41FA5}">
                      <a16:colId xmlns:a16="http://schemas.microsoft.com/office/drawing/2014/main" val="4076488391"/>
                    </a:ext>
                  </a:extLst>
                </a:gridCol>
                <a:gridCol w="417617">
                  <a:extLst>
                    <a:ext uri="{9D8B030D-6E8A-4147-A177-3AD203B41FA5}">
                      <a16:colId xmlns:a16="http://schemas.microsoft.com/office/drawing/2014/main" val="3254101706"/>
                    </a:ext>
                  </a:extLst>
                </a:gridCol>
                <a:gridCol w="379272">
                  <a:extLst>
                    <a:ext uri="{9D8B030D-6E8A-4147-A177-3AD203B41FA5}">
                      <a16:colId xmlns:a16="http://schemas.microsoft.com/office/drawing/2014/main" val="3712391277"/>
                    </a:ext>
                  </a:extLst>
                </a:gridCol>
                <a:gridCol w="426186">
                  <a:extLst>
                    <a:ext uri="{9D8B030D-6E8A-4147-A177-3AD203B41FA5}">
                      <a16:colId xmlns:a16="http://schemas.microsoft.com/office/drawing/2014/main" val="134131131"/>
                    </a:ext>
                  </a:extLst>
                </a:gridCol>
                <a:gridCol w="347602">
                  <a:extLst>
                    <a:ext uri="{9D8B030D-6E8A-4147-A177-3AD203B41FA5}">
                      <a16:colId xmlns:a16="http://schemas.microsoft.com/office/drawing/2014/main" val="2527660299"/>
                    </a:ext>
                  </a:extLst>
                </a:gridCol>
                <a:gridCol w="382976">
                  <a:extLst>
                    <a:ext uri="{9D8B030D-6E8A-4147-A177-3AD203B41FA5}">
                      <a16:colId xmlns:a16="http://schemas.microsoft.com/office/drawing/2014/main" val="3641075278"/>
                    </a:ext>
                  </a:extLst>
                </a:gridCol>
                <a:gridCol w="514983">
                  <a:extLst>
                    <a:ext uri="{9D8B030D-6E8A-4147-A177-3AD203B41FA5}">
                      <a16:colId xmlns:a16="http://schemas.microsoft.com/office/drawing/2014/main" val="3618613915"/>
                    </a:ext>
                  </a:extLst>
                </a:gridCol>
              </a:tblGrid>
              <a:tr h="164026">
                <a:tc rowSpan="13">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Interim billing &amp; recurring monthly billing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6942">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At the beginning of the quarter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694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694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-interim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79426"/>
                  </a:ext>
                </a:extLst>
              </a:tr>
              <a:tr h="29521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20/X1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739065243"/>
                  </a:ext>
                </a:extLst>
              </a:tr>
              <a:tr h="1631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514087354"/>
                  </a:ext>
                </a:extLst>
              </a:tr>
              <a:tr h="16314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chemeClr val="tx1"/>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chemeClr val="tx1"/>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chemeClr val="tx1"/>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chemeClr val="tx1"/>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chemeClr val="tx1"/>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chemeClr val="tx1"/>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951353734"/>
                  </a:ext>
                </a:extLst>
              </a:tr>
              <a:tr h="16314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 recurring</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60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99199085"/>
                  </a:ext>
                </a:extLst>
              </a:tr>
              <a:tr h="163146">
                <a:tc vMerge="1">
                  <a:txBody>
                    <a:bodyPr/>
                    <a:lstStyle/>
                    <a:p>
                      <a:endParaRPr lang="zh-CN" altLang="en-US"/>
                    </a:p>
                  </a:txBody>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LTAR – Leasing Rental</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28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58941833"/>
                  </a:ext>
                </a:extLst>
              </a:tr>
              <a:tr h="16314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1400308</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upfront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altLang="zh-CN"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7421429"/>
                  </a:ext>
                </a:extLst>
              </a:tr>
              <a:tr h="1631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74849139"/>
                  </a:ext>
                </a:extLst>
              </a:tr>
              <a:tr h="163146">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31809030"/>
                  </a:ext>
                </a:extLst>
              </a:tr>
              <a:tr h="1631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3" name="表格 22">
            <a:extLst>
              <a:ext uri="{FF2B5EF4-FFF2-40B4-BE49-F238E27FC236}">
                <a16:creationId xmlns:a16="http://schemas.microsoft.com/office/drawing/2014/main" id="{6A852364-D938-F1F3-EA9A-A6034ADA7E0E}"/>
              </a:ext>
            </a:extLst>
          </p:cNvPr>
          <p:cNvGraphicFramePr>
            <a:graphicFrameLocks noGrp="1"/>
          </p:cNvGraphicFramePr>
          <p:nvPr>
            <p:extLst>
              <p:ext uri="{D42A27DB-BD31-4B8C-83A1-F6EECF244321}">
                <p14:modId xmlns:p14="http://schemas.microsoft.com/office/powerpoint/2010/main" val="416207730"/>
              </p:ext>
            </p:extLst>
          </p:nvPr>
        </p:nvGraphicFramePr>
        <p:xfrm>
          <a:off x="6122280" y="3488489"/>
          <a:ext cx="6177194"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81200">
                  <a:extLst>
                    <a:ext uri="{9D8B030D-6E8A-4147-A177-3AD203B41FA5}">
                      <a16:colId xmlns:a16="http://schemas.microsoft.com/office/drawing/2014/main" val="3603859997"/>
                    </a:ext>
                  </a:extLst>
                </a:gridCol>
                <a:gridCol w="559206">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Quarterly payment to S&amp;D</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Quarterly Billing</a:t>
                      </a:r>
                      <a:r>
                        <a:rPr lang="en-US" altLang="zh-CN" sz="900" b="0" i="0">
                          <a:solidFill>
                            <a:srgbClr val="000000"/>
                          </a:solidFill>
                          <a:effectLst/>
                          <a:latin typeface="Arial" panose="020B0604020202020204" pitchFamily="34" charset="0"/>
                        </a:rPr>
                        <a: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Premier(nonfunded)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 name="表格 2">
            <a:extLst>
              <a:ext uri="{FF2B5EF4-FFF2-40B4-BE49-F238E27FC236}">
                <a16:creationId xmlns:a16="http://schemas.microsoft.com/office/drawing/2014/main" id="{EF945366-E2A2-FE31-74C4-3FA776142690}"/>
              </a:ext>
            </a:extLst>
          </p:cNvPr>
          <p:cNvGraphicFramePr>
            <a:graphicFrameLocks noGrp="1"/>
          </p:cNvGraphicFramePr>
          <p:nvPr>
            <p:extLst>
              <p:ext uri="{D42A27DB-BD31-4B8C-83A1-F6EECF244321}">
                <p14:modId xmlns:p14="http://schemas.microsoft.com/office/powerpoint/2010/main" val="3493283187"/>
              </p:ext>
            </p:extLst>
          </p:nvPr>
        </p:nvGraphicFramePr>
        <p:xfrm>
          <a:off x="109273" y="700113"/>
          <a:ext cx="5935863" cy="1303020"/>
        </p:xfrm>
        <a:graphic>
          <a:graphicData uri="http://schemas.openxmlformats.org/drawingml/2006/table">
            <a:tbl>
              <a:tblPr firstRow="1" bandRow="1">
                <a:tableStyleId>{3C2FFA5D-87B4-456A-9821-1D502468CF0F}</a:tableStyleId>
              </a:tblPr>
              <a:tblGrid>
                <a:gridCol w="632942">
                  <a:extLst>
                    <a:ext uri="{9D8B030D-6E8A-4147-A177-3AD203B41FA5}">
                      <a16:colId xmlns:a16="http://schemas.microsoft.com/office/drawing/2014/main" val="869603910"/>
                    </a:ext>
                  </a:extLst>
                </a:gridCol>
                <a:gridCol w="723014">
                  <a:extLst>
                    <a:ext uri="{9D8B030D-6E8A-4147-A177-3AD203B41FA5}">
                      <a16:colId xmlns:a16="http://schemas.microsoft.com/office/drawing/2014/main" val="238663902"/>
                    </a:ext>
                  </a:extLst>
                </a:gridCol>
                <a:gridCol w="563525">
                  <a:extLst>
                    <a:ext uri="{9D8B030D-6E8A-4147-A177-3AD203B41FA5}">
                      <a16:colId xmlns:a16="http://schemas.microsoft.com/office/drawing/2014/main" val="4114365151"/>
                    </a:ext>
                  </a:extLst>
                </a:gridCol>
                <a:gridCol w="949332">
                  <a:extLst>
                    <a:ext uri="{9D8B030D-6E8A-4147-A177-3AD203B41FA5}">
                      <a16:colId xmlns:a16="http://schemas.microsoft.com/office/drawing/2014/main" val="4075178046"/>
                    </a:ext>
                  </a:extLst>
                </a:gridCol>
                <a:gridCol w="74295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2950">
                  <a:extLst>
                    <a:ext uri="{9D8B030D-6E8A-4147-A177-3AD203B41FA5}">
                      <a16:colId xmlns:a16="http://schemas.microsoft.com/office/drawing/2014/main" val="2044147452"/>
                    </a:ext>
                  </a:extLst>
                </a:gridCol>
                <a:gridCol w="857250">
                  <a:extLst>
                    <a:ext uri="{9D8B030D-6E8A-4147-A177-3AD203B41FA5}">
                      <a16:colId xmlns:a16="http://schemas.microsoft.com/office/drawing/2014/main" val="221569069"/>
                    </a:ext>
                  </a:extLst>
                </a:gridCol>
              </a:tblGrid>
              <a:tr h="39482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5720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 &amp; Quarterly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NA</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9" name="对话气泡: 矩形 8">
            <a:extLst>
              <a:ext uri="{FF2B5EF4-FFF2-40B4-BE49-F238E27FC236}">
                <a16:creationId xmlns:a16="http://schemas.microsoft.com/office/drawing/2014/main" id="{3A355ACD-6DDC-56B3-506F-97DBEC5CDBC7}"/>
              </a:ext>
            </a:extLst>
          </p:cNvPr>
          <p:cNvSpPr/>
          <p:nvPr/>
        </p:nvSpPr>
        <p:spPr>
          <a:xfrm>
            <a:off x="12386819" y="3085384"/>
            <a:ext cx="1157054" cy="1069109"/>
          </a:xfrm>
          <a:prstGeom prst="wedgeRectCallout">
            <a:avLst>
              <a:gd name="adj1" fmla="val -79672"/>
              <a:gd name="adj2" fmla="val -16745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ARS report should capture interim billing or combined billing for ARS accrual </a:t>
            </a:r>
          </a:p>
        </p:txBody>
      </p:sp>
      <p:sp>
        <p:nvSpPr>
          <p:cNvPr id="4" name="Title 10">
            <a:extLst>
              <a:ext uri="{FF2B5EF4-FFF2-40B4-BE49-F238E27FC236}">
                <a16:creationId xmlns:a16="http://schemas.microsoft.com/office/drawing/2014/main" id="{7F168D1E-33E7-D5F6-0F4B-4C71C8218C78}"/>
              </a:ext>
            </a:extLst>
          </p:cNvPr>
          <p:cNvSpPr txBox="1">
            <a:spLocks/>
          </p:cNvSpPr>
          <p:nvPr/>
        </p:nvSpPr>
        <p:spPr>
          <a:xfrm>
            <a:off x="74412" y="107420"/>
            <a:ext cx="635031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Interim charge | </a:t>
            </a:r>
            <a:r>
              <a:rPr lang="en-US" altLang="zh-CN" sz="2000"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AFE </a:t>
            </a: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 FL</a:t>
            </a:r>
          </a:p>
        </p:txBody>
      </p:sp>
    </p:spTree>
    <p:extLst>
      <p:ext uri="{BB962C8B-B14F-4D97-AF65-F5344CB8AC3E}">
        <p14:creationId xmlns:p14="http://schemas.microsoft.com/office/powerpoint/2010/main" val="88882178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C807A0B9-104B-48DE-BC8F-3B47ACF18906}"/>
            </a:ext>
          </a:extLst>
        </p:cNvPr>
        <p:cNvGrpSpPr/>
        <p:nvPr/>
      </p:nvGrpSpPr>
      <p:grpSpPr>
        <a:xfrm>
          <a:off x="0" y="0"/>
          <a:ext cx="0" cy="0"/>
          <a:chOff x="0" y="0"/>
          <a:chExt cx="0" cy="0"/>
        </a:xfrm>
      </p:grpSpPr>
      <p:graphicFrame>
        <p:nvGraphicFramePr>
          <p:cNvPr id="3" name="表格 2">
            <a:extLst>
              <a:ext uri="{FF2B5EF4-FFF2-40B4-BE49-F238E27FC236}">
                <a16:creationId xmlns:a16="http://schemas.microsoft.com/office/drawing/2014/main" id="{E198A66B-1F6D-EC55-E3F7-C334A10F19CC}"/>
              </a:ext>
            </a:extLst>
          </p:cNvPr>
          <p:cNvGraphicFramePr>
            <a:graphicFrameLocks noGrp="1"/>
          </p:cNvGraphicFramePr>
          <p:nvPr>
            <p:extLst>
              <p:ext uri="{D42A27DB-BD31-4B8C-83A1-F6EECF244321}">
                <p14:modId xmlns:p14="http://schemas.microsoft.com/office/powerpoint/2010/main" val="2341863131"/>
              </p:ext>
            </p:extLst>
          </p:nvPr>
        </p:nvGraphicFramePr>
        <p:xfrm>
          <a:off x="67156" y="2045691"/>
          <a:ext cx="5841426" cy="2085626"/>
        </p:xfrm>
        <a:graphic>
          <a:graphicData uri="http://schemas.openxmlformats.org/drawingml/2006/table">
            <a:tbl>
              <a:tblPr/>
              <a:tblGrid>
                <a:gridCol w="417001">
                  <a:extLst>
                    <a:ext uri="{9D8B030D-6E8A-4147-A177-3AD203B41FA5}">
                      <a16:colId xmlns:a16="http://schemas.microsoft.com/office/drawing/2014/main" val="495084399"/>
                    </a:ext>
                  </a:extLst>
                </a:gridCol>
                <a:gridCol w="218290">
                  <a:extLst>
                    <a:ext uri="{9D8B030D-6E8A-4147-A177-3AD203B41FA5}">
                      <a16:colId xmlns:a16="http://schemas.microsoft.com/office/drawing/2014/main" val="3614210242"/>
                    </a:ext>
                  </a:extLst>
                </a:gridCol>
                <a:gridCol w="552723">
                  <a:extLst>
                    <a:ext uri="{9D8B030D-6E8A-4147-A177-3AD203B41FA5}">
                      <a16:colId xmlns:a16="http://schemas.microsoft.com/office/drawing/2014/main" val="1442124609"/>
                    </a:ext>
                  </a:extLst>
                </a:gridCol>
                <a:gridCol w="1728486">
                  <a:extLst>
                    <a:ext uri="{9D8B030D-6E8A-4147-A177-3AD203B41FA5}">
                      <a16:colId xmlns:a16="http://schemas.microsoft.com/office/drawing/2014/main" val="3603859997"/>
                    </a:ext>
                  </a:extLst>
                </a:gridCol>
                <a:gridCol w="340522">
                  <a:extLst>
                    <a:ext uri="{9D8B030D-6E8A-4147-A177-3AD203B41FA5}">
                      <a16:colId xmlns:a16="http://schemas.microsoft.com/office/drawing/2014/main" val="4076488391"/>
                    </a:ext>
                  </a:extLst>
                </a:gridCol>
                <a:gridCol w="332798">
                  <a:extLst>
                    <a:ext uri="{9D8B030D-6E8A-4147-A177-3AD203B41FA5}">
                      <a16:colId xmlns:a16="http://schemas.microsoft.com/office/drawing/2014/main" val="3254101706"/>
                    </a:ext>
                  </a:extLst>
                </a:gridCol>
                <a:gridCol w="404396">
                  <a:extLst>
                    <a:ext uri="{9D8B030D-6E8A-4147-A177-3AD203B41FA5}">
                      <a16:colId xmlns:a16="http://schemas.microsoft.com/office/drawing/2014/main" val="3712391277"/>
                    </a:ext>
                  </a:extLst>
                </a:gridCol>
                <a:gridCol w="828607">
                  <a:extLst>
                    <a:ext uri="{9D8B030D-6E8A-4147-A177-3AD203B41FA5}">
                      <a16:colId xmlns:a16="http://schemas.microsoft.com/office/drawing/2014/main" val="277609593"/>
                    </a:ext>
                  </a:extLst>
                </a:gridCol>
                <a:gridCol w="266382">
                  <a:extLst>
                    <a:ext uri="{9D8B030D-6E8A-4147-A177-3AD203B41FA5}">
                      <a16:colId xmlns:a16="http://schemas.microsoft.com/office/drawing/2014/main" val="2527660299"/>
                    </a:ext>
                  </a:extLst>
                </a:gridCol>
                <a:gridCol w="383770">
                  <a:extLst>
                    <a:ext uri="{9D8B030D-6E8A-4147-A177-3AD203B41FA5}">
                      <a16:colId xmlns:a16="http://schemas.microsoft.com/office/drawing/2014/main" val="3641075278"/>
                    </a:ext>
                  </a:extLst>
                </a:gridCol>
                <a:gridCol w="368451">
                  <a:extLst>
                    <a:ext uri="{9D8B030D-6E8A-4147-A177-3AD203B41FA5}">
                      <a16:colId xmlns:a16="http://schemas.microsoft.com/office/drawing/2014/main" val="3618613915"/>
                    </a:ext>
                  </a:extLst>
                </a:gridCol>
              </a:tblGrid>
              <a:tr h="17882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Interim charge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Customer acceptance</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Unbilled AR</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30 - DAAS</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X*-ISGLEASE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66414639"/>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1400308</a:t>
                      </a:r>
                    </a:p>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a:t>
                      </a:r>
                      <a:r>
                        <a:rPr lang="en-US" altLang="zh-CN" sz="900" b="0" i="0" u="none" strike="noStrike" kern="1200">
                          <a:solidFill>
                            <a:srgbClr val="000000"/>
                          </a:solidFill>
                          <a:effectLst/>
                          <a:latin typeface="Arial" panose="020B0604020202020204" pitchFamily="34" charset="0"/>
                          <a:ea typeface="+mn-ea"/>
                          <a:cs typeface="+mn-cs"/>
                        </a:rPr>
                        <a:t>ervice Revenue - Upfront</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672989654"/>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56121582"/>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628072589"/>
                  </a:ext>
                </a:extLst>
              </a:tr>
              <a:tr h="9144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5573555"/>
                  </a:ext>
                </a:extLst>
              </a:tr>
            </a:tbl>
          </a:graphicData>
        </a:graphic>
      </p:graphicFrame>
      <p:sp>
        <p:nvSpPr>
          <p:cNvPr id="2" name="Title 10">
            <a:extLst>
              <a:ext uri="{FF2B5EF4-FFF2-40B4-BE49-F238E27FC236}">
                <a16:creationId xmlns:a16="http://schemas.microsoft.com/office/drawing/2014/main" id="{84D3D268-B1B3-9CC6-6017-02592D3115A6}"/>
              </a:ext>
            </a:extLst>
          </p:cNvPr>
          <p:cNvSpPr txBox="1">
            <a:spLocks/>
          </p:cNvSpPr>
          <p:nvPr/>
        </p:nvSpPr>
        <p:spPr>
          <a:xfrm>
            <a:off x="183838" y="236355"/>
            <a:ext cx="635031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Interim charge treated as part of </a:t>
            </a:r>
            <a:r>
              <a:rPr kumimoji="0" lang="en-US" altLang="zh-CN" sz="2000" b="1" i="0" u="none" strike="noStrike" kern="1200" cap="none" spc="0" normalizeH="0" baseline="0" noProof="0" err="1">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leasing|S&amp;D|OL</a:t>
            </a: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  </a:t>
            </a:r>
          </a:p>
        </p:txBody>
      </p:sp>
      <p:graphicFrame>
        <p:nvGraphicFramePr>
          <p:cNvPr id="5" name="Table 4">
            <a:extLst>
              <a:ext uri="{FF2B5EF4-FFF2-40B4-BE49-F238E27FC236}">
                <a16:creationId xmlns:a16="http://schemas.microsoft.com/office/drawing/2014/main" id="{1EA48D8C-0C34-D55D-BC98-F3B53C6935E6}"/>
              </a:ext>
            </a:extLst>
          </p:cNvPr>
          <p:cNvGraphicFramePr>
            <a:graphicFrameLocks noGrp="1"/>
          </p:cNvGraphicFramePr>
          <p:nvPr>
            <p:extLst>
              <p:ext uri="{D42A27DB-BD31-4B8C-83A1-F6EECF244321}">
                <p14:modId xmlns:p14="http://schemas.microsoft.com/office/powerpoint/2010/main" val="674469658"/>
              </p:ext>
            </p:extLst>
          </p:nvPr>
        </p:nvGraphicFramePr>
        <p:xfrm>
          <a:off x="81667" y="4211489"/>
          <a:ext cx="5826915" cy="949325"/>
        </p:xfrm>
        <a:graphic>
          <a:graphicData uri="http://schemas.openxmlformats.org/drawingml/2006/table">
            <a:tbl>
              <a:tblPr firstRow="1">
                <a:tableStyleId>{5C22544A-7EE6-4342-B048-85BDC9FD1C3A}</a:tableStyleId>
              </a:tblPr>
              <a:tblGrid>
                <a:gridCol w="406355">
                  <a:extLst>
                    <a:ext uri="{9D8B030D-6E8A-4147-A177-3AD203B41FA5}">
                      <a16:colId xmlns:a16="http://schemas.microsoft.com/office/drawing/2014/main" val="3200314054"/>
                    </a:ext>
                  </a:extLst>
                </a:gridCol>
                <a:gridCol w="338939">
                  <a:extLst>
                    <a:ext uri="{9D8B030D-6E8A-4147-A177-3AD203B41FA5}">
                      <a16:colId xmlns:a16="http://schemas.microsoft.com/office/drawing/2014/main" val="1913271583"/>
                    </a:ext>
                  </a:extLst>
                </a:gridCol>
                <a:gridCol w="781148">
                  <a:extLst>
                    <a:ext uri="{9D8B030D-6E8A-4147-A177-3AD203B41FA5}">
                      <a16:colId xmlns:a16="http://schemas.microsoft.com/office/drawing/2014/main" val="1797281345"/>
                    </a:ext>
                  </a:extLst>
                </a:gridCol>
                <a:gridCol w="1520825">
                  <a:extLst>
                    <a:ext uri="{9D8B030D-6E8A-4147-A177-3AD203B41FA5}">
                      <a16:colId xmlns:a16="http://schemas.microsoft.com/office/drawing/2014/main" val="2743739350"/>
                    </a:ext>
                  </a:extLst>
                </a:gridCol>
                <a:gridCol w="212179">
                  <a:extLst>
                    <a:ext uri="{9D8B030D-6E8A-4147-A177-3AD203B41FA5}">
                      <a16:colId xmlns:a16="http://schemas.microsoft.com/office/drawing/2014/main" val="2056723756"/>
                    </a:ext>
                  </a:extLst>
                </a:gridCol>
                <a:gridCol w="254939">
                  <a:extLst>
                    <a:ext uri="{9D8B030D-6E8A-4147-A177-3AD203B41FA5}">
                      <a16:colId xmlns:a16="http://schemas.microsoft.com/office/drawing/2014/main" val="4073315665"/>
                    </a:ext>
                  </a:extLst>
                </a:gridCol>
                <a:gridCol w="271793">
                  <a:extLst>
                    <a:ext uri="{9D8B030D-6E8A-4147-A177-3AD203B41FA5}">
                      <a16:colId xmlns:a16="http://schemas.microsoft.com/office/drawing/2014/main" val="848560102"/>
                    </a:ext>
                  </a:extLst>
                </a:gridCol>
                <a:gridCol w="1147735">
                  <a:extLst>
                    <a:ext uri="{9D8B030D-6E8A-4147-A177-3AD203B41FA5}">
                      <a16:colId xmlns:a16="http://schemas.microsoft.com/office/drawing/2014/main" val="3517165790"/>
                    </a:ext>
                  </a:extLst>
                </a:gridCol>
                <a:gridCol w="235977">
                  <a:extLst>
                    <a:ext uri="{9D8B030D-6E8A-4147-A177-3AD203B41FA5}">
                      <a16:colId xmlns:a16="http://schemas.microsoft.com/office/drawing/2014/main" val="1302892407"/>
                    </a:ext>
                  </a:extLst>
                </a:gridCol>
                <a:gridCol w="415066">
                  <a:extLst>
                    <a:ext uri="{9D8B030D-6E8A-4147-A177-3AD203B41FA5}">
                      <a16:colId xmlns:a16="http://schemas.microsoft.com/office/drawing/2014/main" val="1503828343"/>
                    </a:ext>
                  </a:extLst>
                </a:gridCol>
                <a:gridCol w="241959">
                  <a:extLst>
                    <a:ext uri="{9D8B030D-6E8A-4147-A177-3AD203B41FA5}">
                      <a16:colId xmlns:a16="http://schemas.microsoft.com/office/drawing/2014/main" val="994416591"/>
                    </a:ext>
                  </a:extLst>
                </a:gridCol>
              </a:tblGrid>
              <a:tr h="75663">
                <a:tc rowSpan="5">
                  <a:txBody>
                    <a:bodyPr/>
                    <a:lstStyle/>
                    <a:p>
                      <a:pPr algn="ctr" fontAlgn="ctr"/>
                      <a:r>
                        <a:rPr lang="en-US" sz="900" b="1" i="0" u="none" strike="noStrike" kern="1200">
                          <a:solidFill>
                            <a:srgbClr val="FFFFFF"/>
                          </a:solidFill>
                          <a:effectLst/>
                          <a:latin typeface="Arial" panose="020B0604020202020204" pitchFamily="34" charset="0"/>
                          <a:ea typeface="+mn-ea"/>
                          <a:cs typeface="+mn-cs"/>
                        </a:rPr>
                        <a:t>S&amp;D</a:t>
                      </a:r>
                      <a:br>
                        <a:rPr lang="en-US" sz="900" b="1" i="0" u="none" strike="noStrike" kern="1200">
                          <a:solidFill>
                            <a:srgbClr val="FFFFFF"/>
                          </a:solidFill>
                          <a:effectLst/>
                          <a:latin typeface="Arial" panose="020B0604020202020204" pitchFamily="34" charset="0"/>
                          <a:ea typeface="+mn-ea"/>
                          <a:cs typeface="+mn-cs"/>
                        </a:rPr>
                      </a:br>
                      <a:r>
                        <a:rPr lang="en-US" sz="900" b="1" i="0" u="none" strike="noStrike" kern="1200">
                          <a:solidFill>
                            <a:srgbClr val="FFFFFF"/>
                          </a:solidFill>
                          <a:effectLst/>
                          <a:latin typeface="Arial" panose="020B0604020202020204" pitchFamily="34" charset="0"/>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Monthly billing to customer</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75663">
                <a:tc vMerge="1">
                  <a:txBody>
                    <a:bodyPr/>
                    <a:lstStyle/>
                    <a:p>
                      <a:endParaRPr lang="zh-CN" altLang="en-US"/>
                    </a:p>
                  </a:txBody>
                  <a:tcPr/>
                </a:tc>
                <a:tc gridSpan="10">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Monthly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071602826"/>
                  </a:ext>
                </a:extLst>
              </a:tr>
              <a:tr h="75663">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TP</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WBS</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2093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4060110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ctr"/>
                      <a:r>
                        <a:rPr lang="en-US" sz="1000" b="0" i="0" u="none" strike="noStrike" kern="1200">
                          <a:solidFill>
                            <a:srgbClr val="000000"/>
                          </a:solidFill>
                          <a:effectLst/>
                          <a:latin typeface="+mn-lt"/>
                          <a:ea typeface="等线"/>
                          <a:cs typeface="+mn-cs"/>
                        </a:rPr>
                        <a:t>Depreciation Expense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等线"/>
                          <a:cs typeface="+mn-cs"/>
                        </a:rPr>
                        <a:t>30 - DAAS</a:t>
                      </a:r>
                    </a:p>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等线"/>
                          <a:cs typeface="+mn-cs"/>
                        </a:rPr>
                        <a:t>X*-ISGLEASE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965704776"/>
                  </a:ext>
                </a:extLst>
              </a:tr>
              <a:tr h="7717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1651550</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lang="en-US" sz="1000" b="0" i="0" u="none" strike="noStrike">
                          <a:solidFill>
                            <a:schemeClr val="tx1"/>
                          </a:solidFill>
                          <a:effectLst/>
                          <a:latin typeface="+mn-lt"/>
                        </a:rPr>
                        <a:t>Accumulated Depreciation</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704665907"/>
                  </a:ext>
                </a:extLst>
              </a:tr>
            </a:tbl>
          </a:graphicData>
        </a:graphic>
      </p:graphicFrame>
      <p:sp>
        <p:nvSpPr>
          <p:cNvPr id="15" name="对话气泡: 矩形 14">
            <a:extLst>
              <a:ext uri="{FF2B5EF4-FFF2-40B4-BE49-F238E27FC236}">
                <a16:creationId xmlns:a16="http://schemas.microsoft.com/office/drawing/2014/main" id="{4F31A58E-F442-495E-39F1-551A7A88FBFF}"/>
              </a:ext>
            </a:extLst>
          </p:cNvPr>
          <p:cNvSpPr/>
          <p:nvPr/>
        </p:nvSpPr>
        <p:spPr>
          <a:xfrm>
            <a:off x="-1285876" y="3786944"/>
            <a:ext cx="1285769" cy="2451931"/>
          </a:xfrm>
          <a:prstGeom prst="wedgeRectCallout">
            <a:avLst>
              <a:gd name="adj1" fmla="val 66000"/>
              <a:gd name="adj2" fmla="val -5928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Assumption:</a:t>
            </a:r>
          </a:p>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Front end should pass interim charge amt when customer acceptance or before acceptance month end</a:t>
            </a:r>
          </a:p>
        </p:txBody>
      </p:sp>
      <p:graphicFrame>
        <p:nvGraphicFramePr>
          <p:cNvPr id="19" name="表格 18">
            <a:extLst>
              <a:ext uri="{FF2B5EF4-FFF2-40B4-BE49-F238E27FC236}">
                <a16:creationId xmlns:a16="http://schemas.microsoft.com/office/drawing/2014/main" id="{711798C1-A4B8-4E54-C046-DEF0B24097FE}"/>
              </a:ext>
            </a:extLst>
          </p:cNvPr>
          <p:cNvGraphicFramePr>
            <a:graphicFrameLocks noGrp="1"/>
          </p:cNvGraphicFramePr>
          <p:nvPr>
            <p:extLst>
              <p:ext uri="{D42A27DB-BD31-4B8C-83A1-F6EECF244321}">
                <p14:modId xmlns:p14="http://schemas.microsoft.com/office/powerpoint/2010/main" val="2566657883"/>
              </p:ext>
            </p:extLst>
          </p:nvPr>
        </p:nvGraphicFramePr>
        <p:xfrm>
          <a:off x="6113813" y="1104510"/>
          <a:ext cx="6118912" cy="2241201"/>
        </p:xfrm>
        <a:graphic>
          <a:graphicData uri="http://schemas.openxmlformats.org/drawingml/2006/table">
            <a:tbl>
              <a:tblPr/>
              <a:tblGrid>
                <a:gridCol w="464233">
                  <a:extLst>
                    <a:ext uri="{9D8B030D-6E8A-4147-A177-3AD203B41FA5}">
                      <a16:colId xmlns:a16="http://schemas.microsoft.com/office/drawing/2014/main" val="495084399"/>
                    </a:ext>
                  </a:extLst>
                </a:gridCol>
                <a:gridCol w="263685">
                  <a:extLst>
                    <a:ext uri="{9D8B030D-6E8A-4147-A177-3AD203B41FA5}">
                      <a16:colId xmlns:a16="http://schemas.microsoft.com/office/drawing/2014/main" val="3614210242"/>
                    </a:ext>
                  </a:extLst>
                </a:gridCol>
                <a:gridCol w="607483">
                  <a:extLst>
                    <a:ext uri="{9D8B030D-6E8A-4147-A177-3AD203B41FA5}">
                      <a16:colId xmlns:a16="http://schemas.microsoft.com/office/drawing/2014/main" val="1442124609"/>
                    </a:ext>
                  </a:extLst>
                </a:gridCol>
                <a:gridCol w="1315632">
                  <a:extLst>
                    <a:ext uri="{9D8B030D-6E8A-4147-A177-3AD203B41FA5}">
                      <a16:colId xmlns:a16="http://schemas.microsoft.com/office/drawing/2014/main" val="3603859997"/>
                    </a:ext>
                  </a:extLst>
                </a:gridCol>
                <a:gridCol w="638911">
                  <a:extLst>
                    <a:ext uri="{9D8B030D-6E8A-4147-A177-3AD203B41FA5}">
                      <a16:colId xmlns:a16="http://schemas.microsoft.com/office/drawing/2014/main" val="4076488391"/>
                    </a:ext>
                  </a:extLst>
                </a:gridCol>
                <a:gridCol w="638911">
                  <a:extLst>
                    <a:ext uri="{9D8B030D-6E8A-4147-A177-3AD203B41FA5}">
                      <a16:colId xmlns:a16="http://schemas.microsoft.com/office/drawing/2014/main" val="3254101706"/>
                    </a:ext>
                  </a:extLst>
                </a:gridCol>
                <a:gridCol w="317121">
                  <a:extLst>
                    <a:ext uri="{9D8B030D-6E8A-4147-A177-3AD203B41FA5}">
                      <a16:colId xmlns:a16="http://schemas.microsoft.com/office/drawing/2014/main" val="3712391277"/>
                    </a:ext>
                  </a:extLst>
                </a:gridCol>
                <a:gridCol w="904094">
                  <a:extLst>
                    <a:ext uri="{9D8B030D-6E8A-4147-A177-3AD203B41FA5}">
                      <a16:colId xmlns:a16="http://schemas.microsoft.com/office/drawing/2014/main" val="4221779915"/>
                    </a:ext>
                  </a:extLst>
                </a:gridCol>
                <a:gridCol w="290651">
                  <a:extLst>
                    <a:ext uri="{9D8B030D-6E8A-4147-A177-3AD203B41FA5}">
                      <a16:colId xmlns:a16="http://schemas.microsoft.com/office/drawing/2014/main" val="2527660299"/>
                    </a:ext>
                  </a:extLst>
                </a:gridCol>
                <a:gridCol w="392854">
                  <a:extLst>
                    <a:ext uri="{9D8B030D-6E8A-4147-A177-3AD203B41FA5}">
                      <a16:colId xmlns:a16="http://schemas.microsoft.com/office/drawing/2014/main" val="3641075278"/>
                    </a:ext>
                  </a:extLst>
                </a:gridCol>
                <a:gridCol w="285337">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Lease commence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a:t>
                      </a:r>
                      <a:r>
                        <a:rPr lang="en-US" sz="900" b="1" i="0" u="none" strike="noStrike">
                          <a:solidFill>
                            <a:srgbClr val="000000"/>
                          </a:solidFill>
                          <a:effectLst/>
                          <a:highlight>
                            <a:srgbClr val="FFFF00"/>
                          </a:highlight>
                          <a:latin typeface="Arial" panose="020B0604020202020204" pitchFamily="34" charset="0"/>
                        </a:rPr>
                        <a:t>combined</a:t>
                      </a:r>
                      <a:r>
                        <a:rPr lang="en-US" sz="900" b="1" i="0" u="none" strike="noStrike">
                          <a:solidFill>
                            <a:srgbClr val="000000"/>
                          </a:solidFill>
                          <a:effectLst/>
                          <a:latin typeface="Arial" panose="020B0604020202020204" pitchFamily="34" charset="0"/>
                        </a:rPr>
                        <a:t> Quarterly recurring Billing</a:t>
                      </a:r>
                      <a:r>
                        <a:rPr lang="en-US" sz="900" b="0" i="0">
                          <a:solidFill>
                            <a:srgbClr val="000000"/>
                          </a:solidFill>
                          <a:effectLst/>
                          <a:latin typeface="Arial" panose="020B0604020202020204" pitchFamily="34" charset="0"/>
                        </a:rPr>
                        <a:t>​ </a:t>
                      </a:r>
                      <a:r>
                        <a:rPr lang="en-US" sz="900" b="1" i="0">
                          <a:solidFill>
                            <a:srgbClr val="000000"/>
                          </a:solidFill>
                          <a:effectLst/>
                          <a:latin typeface="Arial" panose="020B0604020202020204" pitchFamily="34" charset="0"/>
                        </a:rPr>
                        <a:t>&amp; </a:t>
                      </a:r>
                      <a:r>
                        <a:rPr lang="en-US" altLang="zh-CN" sz="900" b="1" i="0">
                          <a:solidFill>
                            <a:srgbClr val="000000"/>
                          </a:solidFill>
                          <a:effectLst/>
                          <a:latin typeface="Arial" panose="020B0604020202020204" pitchFamily="34" charset="0"/>
                        </a:rPr>
                        <a:t>Interim Billing</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51.9+73.3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51.9+73.3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Unbilled AR</a:t>
                      </a:r>
                      <a:r>
                        <a:rPr lang="en-US" sz="900" b="0" i="0" u="none" strike="noStrike" kern="1200">
                          <a:solidFill>
                            <a:srgbClr val="000000"/>
                          </a:solidFill>
                          <a:effectLst/>
                          <a:highlight>
                            <a:srgbClr val="FFFF00"/>
                          </a:highlight>
                          <a:latin typeface="Arial" panose="020B0604020202020204" pitchFamily="34" charset="0"/>
                          <a:ea typeface="+mn-ea"/>
                          <a:cs typeface="+mn-cs"/>
                        </a:rPr>
                        <a:t>(extent to interim line)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 - Operating Lease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30 - DAAS</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X*-ISGLEASE</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42350930"/>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a:t>
                      </a:r>
                      <a:r>
                        <a:rPr lang="en-US" sz="900" b="0" i="0" u="none" strike="noStrike" kern="1200">
                          <a:solidFill>
                            <a:srgbClr val="000000"/>
                          </a:solidFill>
                          <a:effectLst/>
                          <a:latin typeface="Arial" panose="020B0604020202020204" pitchFamily="34" charset="0"/>
                          <a:ea typeface="+mn-ea"/>
                          <a:cs typeface="+mn-cs"/>
                        </a:rPr>
                        <a:t> Revenue – </a:t>
                      </a:r>
                      <a:r>
                        <a:rPr lang="en-US" altLang="zh-CN" sz="900" b="0" i="0" u="none" strike="noStrike" kern="1200">
                          <a:solidFill>
                            <a:srgbClr val="000000"/>
                          </a:solidFill>
                          <a:effectLst/>
                          <a:latin typeface="Arial" panose="020B0604020202020204" pitchFamily="34" charset="0"/>
                          <a:ea typeface="+mn-ea"/>
                          <a:cs typeface="+mn-cs"/>
                        </a:rPr>
                        <a:t>Premier(Funded) </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1" name="表格 20">
            <a:extLst>
              <a:ext uri="{FF2B5EF4-FFF2-40B4-BE49-F238E27FC236}">
                <a16:creationId xmlns:a16="http://schemas.microsoft.com/office/drawing/2014/main" id="{EF4725EA-1998-989A-4CAB-B3AD41B3BC76}"/>
              </a:ext>
            </a:extLst>
          </p:cNvPr>
          <p:cNvGraphicFramePr>
            <a:graphicFrameLocks noGrp="1"/>
          </p:cNvGraphicFramePr>
          <p:nvPr>
            <p:extLst>
              <p:ext uri="{D42A27DB-BD31-4B8C-83A1-F6EECF244321}">
                <p14:modId xmlns:p14="http://schemas.microsoft.com/office/powerpoint/2010/main" val="918331902"/>
              </p:ext>
            </p:extLst>
          </p:nvPr>
        </p:nvGraphicFramePr>
        <p:xfrm>
          <a:off x="6152707" y="3429000"/>
          <a:ext cx="6039293" cy="2008954"/>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57729">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3" name="表格 22">
            <a:extLst>
              <a:ext uri="{FF2B5EF4-FFF2-40B4-BE49-F238E27FC236}">
                <a16:creationId xmlns:a16="http://schemas.microsoft.com/office/drawing/2014/main" id="{7E284660-2972-A6F5-11AC-35EF1672EE04}"/>
              </a:ext>
            </a:extLst>
          </p:cNvPr>
          <p:cNvGraphicFramePr>
            <a:graphicFrameLocks noGrp="1"/>
          </p:cNvGraphicFramePr>
          <p:nvPr>
            <p:extLst>
              <p:ext uri="{D42A27DB-BD31-4B8C-83A1-F6EECF244321}">
                <p14:modId xmlns:p14="http://schemas.microsoft.com/office/powerpoint/2010/main" val="4119352346"/>
              </p:ext>
            </p:extLst>
          </p:nvPr>
        </p:nvGraphicFramePr>
        <p:xfrm>
          <a:off x="74412" y="700113"/>
          <a:ext cx="5935863" cy="1303020"/>
        </p:xfrm>
        <a:graphic>
          <a:graphicData uri="http://schemas.openxmlformats.org/drawingml/2006/table">
            <a:tbl>
              <a:tblPr firstRow="1" bandRow="1">
                <a:tableStyleId>{3C2FFA5D-87B4-456A-9821-1D502468CF0F}</a:tableStyleId>
              </a:tblPr>
              <a:tblGrid>
                <a:gridCol w="632942">
                  <a:extLst>
                    <a:ext uri="{9D8B030D-6E8A-4147-A177-3AD203B41FA5}">
                      <a16:colId xmlns:a16="http://schemas.microsoft.com/office/drawing/2014/main" val="869603910"/>
                    </a:ext>
                  </a:extLst>
                </a:gridCol>
                <a:gridCol w="723014">
                  <a:extLst>
                    <a:ext uri="{9D8B030D-6E8A-4147-A177-3AD203B41FA5}">
                      <a16:colId xmlns:a16="http://schemas.microsoft.com/office/drawing/2014/main" val="238663902"/>
                    </a:ext>
                  </a:extLst>
                </a:gridCol>
                <a:gridCol w="563525">
                  <a:extLst>
                    <a:ext uri="{9D8B030D-6E8A-4147-A177-3AD203B41FA5}">
                      <a16:colId xmlns:a16="http://schemas.microsoft.com/office/drawing/2014/main" val="4114365151"/>
                    </a:ext>
                  </a:extLst>
                </a:gridCol>
                <a:gridCol w="949332">
                  <a:extLst>
                    <a:ext uri="{9D8B030D-6E8A-4147-A177-3AD203B41FA5}">
                      <a16:colId xmlns:a16="http://schemas.microsoft.com/office/drawing/2014/main" val="4075178046"/>
                    </a:ext>
                  </a:extLst>
                </a:gridCol>
                <a:gridCol w="74295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2950">
                  <a:extLst>
                    <a:ext uri="{9D8B030D-6E8A-4147-A177-3AD203B41FA5}">
                      <a16:colId xmlns:a16="http://schemas.microsoft.com/office/drawing/2014/main" val="2044147452"/>
                    </a:ext>
                  </a:extLst>
                </a:gridCol>
                <a:gridCol w="857250">
                  <a:extLst>
                    <a:ext uri="{9D8B030D-6E8A-4147-A177-3AD203B41FA5}">
                      <a16:colId xmlns:a16="http://schemas.microsoft.com/office/drawing/2014/main" val="221569069"/>
                    </a:ext>
                  </a:extLst>
                </a:gridCol>
              </a:tblGrid>
              <a:tr h="39482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5720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 &amp; Quarterly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NA</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25" name="对话气泡: 矩形 24">
            <a:extLst>
              <a:ext uri="{FF2B5EF4-FFF2-40B4-BE49-F238E27FC236}">
                <a16:creationId xmlns:a16="http://schemas.microsoft.com/office/drawing/2014/main" id="{55AAE117-A372-F540-C26D-CC133340A299}"/>
              </a:ext>
            </a:extLst>
          </p:cNvPr>
          <p:cNvSpPr/>
          <p:nvPr/>
        </p:nvSpPr>
        <p:spPr>
          <a:xfrm>
            <a:off x="12520846" y="2387778"/>
            <a:ext cx="1157054" cy="1632781"/>
          </a:xfrm>
          <a:prstGeom prst="wedgeRectCallout">
            <a:avLst>
              <a:gd name="adj1" fmla="val -70242"/>
              <a:gd name="adj2" fmla="val -2554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No upfront svc recognized in recurring billing since already recognized in interim period.</a:t>
            </a:r>
          </a:p>
        </p:txBody>
      </p:sp>
    </p:spTree>
    <p:extLst>
      <p:ext uri="{BB962C8B-B14F-4D97-AF65-F5344CB8AC3E}">
        <p14:creationId xmlns:p14="http://schemas.microsoft.com/office/powerpoint/2010/main" val="208140469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84AD010-E790-53D6-CABC-1921CDF7BA92}"/>
            </a:ext>
          </a:extLst>
        </p:cNvPr>
        <p:cNvGrpSpPr/>
        <p:nvPr/>
      </p:nvGrpSpPr>
      <p:grpSpPr>
        <a:xfrm>
          <a:off x="0" y="0"/>
          <a:ext cx="0" cy="0"/>
          <a:chOff x="0" y="0"/>
          <a:chExt cx="0" cy="0"/>
        </a:xfrm>
      </p:grpSpPr>
      <p:sp>
        <p:nvSpPr>
          <p:cNvPr id="2" name="Title 10">
            <a:extLst>
              <a:ext uri="{FF2B5EF4-FFF2-40B4-BE49-F238E27FC236}">
                <a16:creationId xmlns:a16="http://schemas.microsoft.com/office/drawing/2014/main" id="{286824F2-7793-1F02-D198-112FE9D208F3}"/>
              </a:ext>
            </a:extLst>
          </p:cNvPr>
          <p:cNvSpPr txBox="1">
            <a:spLocks/>
          </p:cNvSpPr>
          <p:nvPr/>
        </p:nvSpPr>
        <p:spPr>
          <a:xfrm>
            <a:off x="49743" y="88386"/>
            <a:ext cx="635031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Interim charge treated as part of </a:t>
            </a:r>
            <a:r>
              <a:rPr kumimoji="0" lang="en-US" altLang="zh-CN" sz="2000" b="1" i="0" u="none" strike="noStrike" kern="1200" cap="none" spc="0" normalizeH="0" baseline="0" noProof="0" err="1">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leasing|S&amp;D|FL</a:t>
            </a: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  </a:t>
            </a:r>
          </a:p>
        </p:txBody>
      </p:sp>
      <p:sp>
        <p:nvSpPr>
          <p:cNvPr id="15" name="对话气泡: 矩形 14">
            <a:extLst>
              <a:ext uri="{FF2B5EF4-FFF2-40B4-BE49-F238E27FC236}">
                <a16:creationId xmlns:a16="http://schemas.microsoft.com/office/drawing/2014/main" id="{ED3402EF-5890-FA41-6FA6-56E0A7E55334}"/>
              </a:ext>
            </a:extLst>
          </p:cNvPr>
          <p:cNvSpPr/>
          <p:nvPr/>
        </p:nvSpPr>
        <p:spPr>
          <a:xfrm>
            <a:off x="-1285876" y="3786944"/>
            <a:ext cx="1285769" cy="2451931"/>
          </a:xfrm>
          <a:prstGeom prst="wedgeRectCallout">
            <a:avLst>
              <a:gd name="adj1" fmla="val 66000"/>
              <a:gd name="adj2" fmla="val -5928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Assumption:</a:t>
            </a:r>
          </a:p>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Front end should pass interim charge amt when customer acceptance or before acceptance month end</a:t>
            </a:r>
          </a:p>
        </p:txBody>
      </p:sp>
      <p:graphicFrame>
        <p:nvGraphicFramePr>
          <p:cNvPr id="19" name="表格 18">
            <a:extLst>
              <a:ext uri="{FF2B5EF4-FFF2-40B4-BE49-F238E27FC236}">
                <a16:creationId xmlns:a16="http://schemas.microsoft.com/office/drawing/2014/main" id="{2C4D3E99-AAF0-ACDD-8534-F746590F35E7}"/>
              </a:ext>
            </a:extLst>
          </p:cNvPr>
          <p:cNvGraphicFramePr>
            <a:graphicFrameLocks noGrp="1"/>
          </p:cNvGraphicFramePr>
          <p:nvPr>
            <p:extLst>
              <p:ext uri="{D42A27DB-BD31-4B8C-83A1-F6EECF244321}">
                <p14:modId xmlns:p14="http://schemas.microsoft.com/office/powerpoint/2010/main" val="1072576547"/>
              </p:ext>
            </p:extLst>
          </p:nvPr>
        </p:nvGraphicFramePr>
        <p:xfrm>
          <a:off x="6150620" y="298986"/>
          <a:ext cx="5930052" cy="1107879"/>
        </p:xfrm>
        <a:graphic>
          <a:graphicData uri="http://schemas.openxmlformats.org/drawingml/2006/table">
            <a:tbl>
              <a:tblPr/>
              <a:tblGrid>
                <a:gridCol w="437298">
                  <a:extLst>
                    <a:ext uri="{9D8B030D-6E8A-4147-A177-3AD203B41FA5}">
                      <a16:colId xmlns:a16="http://schemas.microsoft.com/office/drawing/2014/main" val="495084399"/>
                    </a:ext>
                  </a:extLst>
                </a:gridCol>
                <a:gridCol w="263685">
                  <a:extLst>
                    <a:ext uri="{9D8B030D-6E8A-4147-A177-3AD203B41FA5}">
                      <a16:colId xmlns:a16="http://schemas.microsoft.com/office/drawing/2014/main" val="3614210242"/>
                    </a:ext>
                  </a:extLst>
                </a:gridCol>
                <a:gridCol w="607483">
                  <a:extLst>
                    <a:ext uri="{9D8B030D-6E8A-4147-A177-3AD203B41FA5}">
                      <a16:colId xmlns:a16="http://schemas.microsoft.com/office/drawing/2014/main" val="1442124609"/>
                    </a:ext>
                  </a:extLst>
                </a:gridCol>
                <a:gridCol w="1315632">
                  <a:extLst>
                    <a:ext uri="{9D8B030D-6E8A-4147-A177-3AD203B41FA5}">
                      <a16:colId xmlns:a16="http://schemas.microsoft.com/office/drawing/2014/main" val="3603859997"/>
                    </a:ext>
                  </a:extLst>
                </a:gridCol>
                <a:gridCol w="476986">
                  <a:extLst>
                    <a:ext uri="{9D8B030D-6E8A-4147-A177-3AD203B41FA5}">
                      <a16:colId xmlns:a16="http://schemas.microsoft.com/office/drawing/2014/main" val="4076488391"/>
                    </a:ext>
                  </a:extLst>
                </a:gridCol>
                <a:gridCol w="638911">
                  <a:extLst>
                    <a:ext uri="{9D8B030D-6E8A-4147-A177-3AD203B41FA5}">
                      <a16:colId xmlns:a16="http://schemas.microsoft.com/office/drawing/2014/main" val="3254101706"/>
                    </a:ext>
                  </a:extLst>
                </a:gridCol>
                <a:gridCol w="317121">
                  <a:extLst>
                    <a:ext uri="{9D8B030D-6E8A-4147-A177-3AD203B41FA5}">
                      <a16:colId xmlns:a16="http://schemas.microsoft.com/office/drawing/2014/main" val="3712391277"/>
                    </a:ext>
                  </a:extLst>
                </a:gridCol>
                <a:gridCol w="904094">
                  <a:extLst>
                    <a:ext uri="{9D8B030D-6E8A-4147-A177-3AD203B41FA5}">
                      <a16:colId xmlns:a16="http://schemas.microsoft.com/office/drawing/2014/main" val="4221779915"/>
                    </a:ext>
                  </a:extLst>
                </a:gridCol>
                <a:gridCol w="290651">
                  <a:extLst>
                    <a:ext uri="{9D8B030D-6E8A-4147-A177-3AD203B41FA5}">
                      <a16:colId xmlns:a16="http://schemas.microsoft.com/office/drawing/2014/main" val="2527660299"/>
                    </a:ext>
                  </a:extLst>
                </a:gridCol>
                <a:gridCol w="392854">
                  <a:extLst>
                    <a:ext uri="{9D8B030D-6E8A-4147-A177-3AD203B41FA5}">
                      <a16:colId xmlns:a16="http://schemas.microsoft.com/office/drawing/2014/main" val="3641075278"/>
                    </a:ext>
                  </a:extLst>
                </a:gridCol>
                <a:gridCol w="285337">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Lease commence 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Apr</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a:t>
                      </a:r>
                      <a:r>
                        <a:rPr lang="en-US" altLang="zh-CN" sz="900" b="1" i="0">
                          <a:solidFill>
                            <a:srgbClr val="000000"/>
                          </a:solidFill>
                          <a:effectLst/>
                          <a:latin typeface="Arial" panose="020B0604020202020204" pitchFamily="34" charset="0"/>
                        </a:rPr>
                        <a:t>Interim Billing</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1015.3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1015.3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Unbilled AR</a:t>
                      </a:r>
                      <a:r>
                        <a:rPr lang="en-US" sz="900" b="0" i="0" u="none" strike="noStrike" kern="1200">
                          <a:solidFill>
                            <a:srgbClr val="000000"/>
                          </a:solidFill>
                          <a:effectLst/>
                          <a:highlight>
                            <a:srgbClr val="FFFF00"/>
                          </a:highlight>
                          <a:latin typeface="Arial" panose="020B0604020202020204" pitchFamily="34" charset="0"/>
                          <a:ea typeface="+mn-ea"/>
                          <a:cs typeface="+mn-cs"/>
                        </a:rPr>
                        <a:t>(extent to interim line)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1015.3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1015.3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21" name="表格 20">
            <a:extLst>
              <a:ext uri="{FF2B5EF4-FFF2-40B4-BE49-F238E27FC236}">
                <a16:creationId xmlns:a16="http://schemas.microsoft.com/office/drawing/2014/main" id="{5C4E1C5C-96D8-A6F8-5722-1A723E2D52DD}"/>
              </a:ext>
            </a:extLst>
          </p:cNvPr>
          <p:cNvGraphicFramePr>
            <a:graphicFrameLocks noGrp="1"/>
          </p:cNvGraphicFramePr>
          <p:nvPr>
            <p:extLst>
              <p:ext uri="{D42A27DB-BD31-4B8C-83A1-F6EECF244321}">
                <p14:modId xmlns:p14="http://schemas.microsoft.com/office/powerpoint/2010/main" val="1073068207"/>
              </p:ext>
            </p:extLst>
          </p:nvPr>
        </p:nvGraphicFramePr>
        <p:xfrm>
          <a:off x="6141649" y="3429000"/>
          <a:ext cx="6039293"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57729">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3" name="表格 22">
            <a:extLst>
              <a:ext uri="{FF2B5EF4-FFF2-40B4-BE49-F238E27FC236}">
                <a16:creationId xmlns:a16="http://schemas.microsoft.com/office/drawing/2014/main" id="{622CC842-3BCD-3858-464E-5E92A3F1EB54}"/>
              </a:ext>
            </a:extLst>
          </p:cNvPr>
          <p:cNvGraphicFramePr>
            <a:graphicFrameLocks noGrp="1"/>
          </p:cNvGraphicFramePr>
          <p:nvPr>
            <p:extLst>
              <p:ext uri="{D42A27DB-BD31-4B8C-83A1-F6EECF244321}">
                <p14:modId xmlns:p14="http://schemas.microsoft.com/office/powerpoint/2010/main" val="4212322204"/>
              </p:ext>
            </p:extLst>
          </p:nvPr>
        </p:nvGraphicFramePr>
        <p:xfrm>
          <a:off x="62802" y="525836"/>
          <a:ext cx="5935863" cy="1303020"/>
        </p:xfrm>
        <a:graphic>
          <a:graphicData uri="http://schemas.openxmlformats.org/drawingml/2006/table">
            <a:tbl>
              <a:tblPr firstRow="1" bandRow="1">
                <a:tableStyleId>{3C2FFA5D-87B4-456A-9821-1D502468CF0F}</a:tableStyleId>
              </a:tblPr>
              <a:tblGrid>
                <a:gridCol w="632942">
                  <a:extLst>
                    <a:ext uri="{9D8B030D-6E8A-4147-A177-3AD203B41FA5}">
                      <a16:colId xmlns:a16="http://schemas.microsoft.com/office/drawing/2014/main" val="869603910"/>
                    </a:ext>
                  </a:extLst>
                </a:gridCol>
                <a:gridCol w="723014">
                  <a:extLst>
                    <a:ext uri="{9D8B030D-6E8A-4147-A177-3AD203B41FA5}">
                      <a16:colId xmlns:a16="http://schemas.microsoft.com/office/drawing/2014/main" val="238663902"/>
                    </a:ext>
                  </a:extLst>
                </a:gridCol>
                <a:gridCol w="563525">
                  <a:extLst>
                    <a:ext uri="{9D8B030D-6E8A-4147-A177-3AD203B41FA5}">
                      <a16:colId xmlns:a16="http://schemas.microsoft.com/office/drawing/2014/main" val="4114365151"/>
                    </a:ext>
                  </a:extLst>
                </a:gridCol>
                <a:gridCol w="949332">
                  <a:extLst>
                    <a:ext uri="{9D8B030D-6E8A-4147-A177-3AD203B41FA5}">
                      <a16:colId xmlns:a16="http://schemas.microsoft.com/office/drawing/2014/main" val="4075178046"/>
                    </a:ext>
                  </a:extLst>
                </a:gridCol>
                <a:gridCol w="74295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2950">
                  <a:extLst>
                    <a:ext uri="{9D8B030D-6E8A-4147-A177-3AD203B41FA5}">
                      <a16:colId xmlns:a16="http://schemas.microsoft.com/office/drawing/2014/main" val="2044147452"/>
                    </a:ext>
                  </a:extLst>
                </a:gridCol>
                <a:gridCol w="857250">
                  <a:extLst>
                    <a:ext uri="{9D8B030D-6E8A-4147-A177-3AD203B41FA5}">
                      <a16:colId xmlns:a16="http://schemas.microsoft.com/office/drawing/2014/main" val="221569069"/>
                    </a:ext>
                  </a:extLst>
                </a:gridCol>
              </a:tblGrid>
              <a:tr h="39482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5720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 &amp; Quarterly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NA</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25" name="对话气泡: 矩形 24">
            <a:extLst>
              <a:ext uri="{FF2B5EF4-FFF2-40B4-BE49-F238E27FC236}">
                <a16:creationId xmlns:a16="http://schemas.microsoft.com/office/drawing/2014/main" id="{70FC0C5F-E7B9-6260-5D8A-2ADCE4A48565}"/>
              </a:ext>
            </a:extLst>
          </p:cNvPr>
          <p:cNvSpPr/>
          <p:nvPr/>
        </p:nvSpPr>
        <p:spPr>
          <a:xfrm>
            <a:off x="12351164" y="926623"/>
            <a:ext cx="1157054" cy="1632781"/>
          </a:xfrm>
          <a:prstGeom prst="wedgeRectCallout">
            <a:avLst>
              <a:gd name="adj1" fmla="val -71057"/>
              <a:gd name="adj2" fmla="val 3046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No upfront svc recognized in recurring billing since already recognized in interim period.</a:t>
            </a:r>
          </a:p>
        </p:txBody>
      </p:sp>
      <p:sp>
        <p:nvSpPr>
          <p:cNvPr id="6" name="对话气泡: 矩形 5">
            <a:extLst>
              <a:ext uri="{FF2B5EF4-FFF2-40B4-BE49-F238E27FC236}">
                <a16:creationId xmlns:a16="http://schemas.microsoft.com/office/drawing/2014/main" id="{C7C8A1DA-B2C6-FEC1-8031-99DCDFC00E0E}"/>
              </a:ext>
            </a:extLst>
          </p:cNvPr>
          <p:cNvSpPr/>
          <p:nvPr/>
        </p:nvSpPr>
        <p:spPr>
          <a:xfrm>
            <a:off x="12351164" y="2970553"/>
            <a:ext cx="1157054" cy="1632781"/>
          </a:xfrm>
          <a:prstGeom prst="wedgeRectCallout">
            <a:avLst>
              <a:gd name="adj1" fmla="val -67798"/>
              <a:gd name="adj2" fmla="val -648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Repeat entry in following two months.</a:t>
            </a:r>
          </a:p>
        </p:txBody>
      </p:sp>
      <p:graphicFrame>
        <p:nvGraphicFramePr>
          <p:cNvPr id="11" name="表格 10">
            <a:extLst>
              <a:ext uri="{FF2B5EF4-FFF2-40B4-BE49-F238E27FC236}">
                <a16:creationId xmlns:a16="http://schemas.microsoft.com/office/drawing/2014/main" id="{436A6347-6BDC-5909-4061-2C83A6067137}"/>
              </a:ext>
            </a:extLst>
          </p:cNvPr>
          <p:cNvGraphicFramePr>
            <a:graphicFrameLocks noGrp="1"/>
          </p:cNvGraphicFramePr>
          <p:nvPr>
            <p:extLst>
              <p:ext uri="{D42A27DB-BD31-4B8C-83A1-F6EECF244321}">
                <p14:modId xmlns:p14="http://schemas.microsoft.com/office/powerpoint/2010/main" val="1755330640"/>
              </p:ext>
            </p:extLst>
          </p:nvPr>
        </p:nvGraphicFramePr>
        <p:xfrm>
          <a:off x="54161" y="4419258"/>
          <a:ext cx="5976493" cy="2017264"/>
        </p:xfrm>
        <a:graphic>
          <a:graphicData uri="http://schemas.openxmlformats.org/drawingml/2006/table">
            <a:tbl>
              <a:tblPr/>
              <a:tblGrid>
                <a:gridCol w="460127">
                  <a:extLst>
                    <a:ext uri="{9D8B030D-6E8A-4147-A177-3AD203B41FA5}">
                      <a16:colId xmlns:a16="http://schemas.microsoft.com/office/drawing/2014/main" val="1828247229"/>
                    </a:ext>
                  </a:extLst>
                </a:gridCol>
                <a:gridCol w="219996">
                  <a:extLst>
                    <a:ext uri="{9D8B030D-6E8A-4147-A177-3AD203B41FA5}">
                      <a16:colId xmlns:a16="http://schemas.microsoft.com/office/drawing/2014/main" val="4141232291"/>
                    </a:ext>
                  </a:extLst>
                </a:gridCol>
                <a:gridCol w="695084">
                  <a:extLst>
                    <a:ext uri="{9D8B030D-6E8A-4147-A177-3AD203B41FA5}">
                      <a16:colId xmlns:a16="http://schemas.microsoft.com/office/drawing/2014/main" val="672845899"/>
                    </a:ext>
                  </a:extLst>
                </a:gridCol>
                <a:gridCol w="1386527">
                  <a:extLst>
                    <a:ext uri="{9D8B030D-6E8A-4147-A177-3AD203B41FA5}">
                      <a16:colId xmlns:a16="http://schemas.microsoft.com/office/drawing/2014/main" val="3529420061"/>
                    </a:ext>
                  </a:extLst>
                </a:gridCol>
                <a:gridCol w="660952">
                  <a:extLst>
                    <a:ext uri="{9D8B030D-6E8A-4147-A177-3AD203B41FA5}">
                      <a16:colId xmlns:a16="http://schemas.microsoft.com/office/drawing/2014/main" val="2294942003"/>
                    </a:ext>
                  </a:extLst>
                </a:gridCol>
                <a:gridCol w="455442">
                  <a:extLst>
                    <a:ext uri="{9D8B030D-6E8A-4147-A177-3AD203B41FA5}">
                      <a16:colId xmlns:a16="http://schemas.microsoft.com/office/drawing/2014/main" val="4273387575"/>
                    </a:ext>
                  </a:extLst>
                </a:gridCol>
                <a:gridCol w="487121">
                  <a:extLst>
                    <a:ext uri="{9D8B030D-6E8A-4147-A177-3AD203B41FA5}">
                      <a16:colId xmlns:a16="http://schemas.microsoft.com/office/drawing/2014/main" val="1603564649"/>
                    </a:ext>
                  </a:extLst>
                </a:gridCol>
                <a:gridCol w="487121">
                  <a:extLst>
                    <a:ext uri="{9D8B030D-6E8A-4147-A177-3AD203B41FA5}">
                      <a16:colId xmlns:a16="http://schemas.microsoft.com/office/drawing/2014/main" val="666076507"/>
                    </a:ext>
                  </a:extLst>
                </a:gridCol>
                <a:gridCol w="294369">
                  <a:extLst>
                    <a:ext uri="{9D8B030D-6E8A-4147-A177-3AD203B41FA5}">
                      <a16:colId xmlns:a16="http://schemas.microsoft.com/office/drawing/2014/main" val="3683687233"/>
                    </a:ext>
                  </a:extLst>
                </a:gridCol>
                <a:gridCol w="404482">
                  <a:extLst>
                    <a:ext uri="{9D8B030D-6E8A-4147-A177-3AD203B41FA5}">
                      <a16:colId xmlns:a16="http://schemas.microsoft.com/office/drawing/2014/main" val="296807624"/>
                    </a:ext>
                  </a:extLst>
                </a:gridCol>
                <a:gridCol w="425272">
                  <a:extLst>
                    <a:ext uri="{9D8B030D-6E8A-4147-A177-3AD203B41FA5}">
                      <a16:colId xmlns:a16="http://schemas.microsoft.com/office/drawing/2014/main" val="845238753"/>
                    </a:ext>
                  </a:extLst>
                </a:gridCol>
              </a:tblGrid>
              <a:tr h="129358">
                <a:tc rowSpan="10">
                  <a:txBody>
                    <a:bodyPr/>
                    <a:lstStyle/>
                    <a:p>
                      <a:pPr marL="0" indent="0" algn="ctr" fontAlgn="base">
                        <a:lnSpc>
                          <a:spcPts val="1200"/>
                        </a:lnSpc>
                        <a:buNone/>
                      </a:pPr>
                      <a:r>
                        <a:rPr lang="en-US" sz="1000" b="1" i="0" u="none" strike="noStrike">
                          <a:solidFill>
                            <a:srgbClr val="FFFFFF"/>
                          </a:solidFill>
                          <a:effectLst/>
                          <a:latin typeface="Arial" panose="020B0604020202020204" pitchFamily="34" charset="0"/>
                        </a:rPr>
                        <a:t>S&amp;D</a:t>
                      </a:r>
                      <a:r>
                        <a:rPr lang="en-US" sz="1000" b="1" i="0">
                          <a:solidFill>
                            <a:srgbClr val="FFFFFF"/>
                          </a:solidFill>
                          <a:effectLst/>
                          <a:latin typeface="Arial" panose="020B0604020202020204" pitchFamily="34" charset="0"/>
                        </a:rPr>
                        <a:t>​</a:t>
                      </a:r>
                      <a:br>
                        <a:rPr lang="en-US" sz="1000" b="1" i="0">
                          <a:solidFill>
                            <a:srgbClr val="FFFFFF"/>
                          </a:solidFill>
                          <a:effectLst/>
                          <a:latin typeface="Arial" panose="020B0604020202020204" pitchFamily="34" charset="0"/>
                        </a:rPr>
                      </a:br>
                      <a:r>
                        <a:rPr lang="en-US" sz="1000" b="1" i="0" u="none" strike="noStrike">
                          <a:solidFill>
                            <a:srgbClr val="FFFFFF"/>
                          </a:solidFill>
                          <a:effectLst/>
                          <a:latin typeface="Arial" panose="020B0604020202020204" pitchFamily="34" charset="0"/>
                        </a:rPr>
                        <a:t>Entity</a:t>
                      </a:r>
                      <a:r>
                        <a:rPr lang="en-US" sz="1000" b="1" i="0">
                          <a:solidFill>
                            <a:srgbClr val="FFFFFF"/>
                          </a:solidFill>
                          <a:effectLst/>
                          <a:latin typeface="Arial" panose="020B0604020202020204" pitchFamily="34" charset="0"/>
                        </a:rPr>
                        <a:t>​</a:t>
                      </a:r>
                      <a:endParaRPr lang="en-US" sz="1400" b="1" i="0">
                        <a:solidFill>
                          <a:srgbClr val="FFFFFF"/>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auto">
                        <a:lnSpc>
                          <a:spcPts val="1200"/>
                        </a:lnSpc>
                        <a:buNone/>
                      </a:pPr>
                      <a:r>
                        <a:rPr lang="en-US" sz="800" b="1" i="0" u="none" strike="noStrike" kern="1200">
                          <a:solidFill>
                            <a:srgbClr val="FFFFFF"/>
                          </a:solidFill>
                          <a:effectLst/>
                          <a:latin typeface="Arial" panose="020B0604020202020204" pitchFamily="34" charset="0"/>
                          <a:ea typeface="+mn-ea"/>
                          <a:cs typeface="+mn-cs"/>
                        </a:rPr>
                        <a:t>Recognize Finance Lease Revenue + Cost​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95250" indent="0" algn="l" fontAlgn="auto">
                        <a:lnSpc>
                          <a:spcPts val="1200"/>
                        </a:lnSpc>
                        <a:buNone/>
                      </a:pPr>
                      <a:endParaRPr lang="en-US" sz="1000" b="1" i="0" u="none" strike="noStrike">
                        <a:solidFill>
                          <a:srgbClr val="FFFFFF"/>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641665388"/>
                  </a:ext>
                </a:extLst>
              </a:tr>
              <a:tr h="129358">
                <a:tc vMerge="1">
                  <a:txBody>
                    <a:bodyPr/>
                    <a:lstStyle/>
                    <a:p>
                      <a:endParaRPr lang="zh-CN" altLang="en-US"/>
                    </a:p>
                  </a:txBody>
                  <a:tcPr/>
                </a:tc>
                <a:tc gridSpan="10">
                  <a:txBody>
                    <a:bodyPr/>
                    <a:lstStyle/>
                    <a:p>
                      <a:pPr marL="0" indent="0" algn="ctr" fontAlgn="base">
                        <a:lnSpc>
                          <a:spcPts val="1200"/>
                        </a:lnSpc>
                        <a:buNone/>
                      </a:pPr>
                      <a:r>
                        <a:rPr lang="en-US" sz="1000" b="0" i="0" u="none" strike="noStrike" spc="0">
                          <a:solidFill>
                            <a:srgbClr val="000000"/>
                          </a:solidFill>
                          <a:effectLst/>
                          <a:latin typeface="Arial" panose="020B0604020202020204" pitchFamily="34" charset="0"/>
                        </a:rPr>
                        <a:t>Upon Lease commencement</a:t>
                      </a:r>
                      <a:r>
                        <a:rPr lang="en-US" sz="1000" b="0" i="0">
                          <a:solidFill>
                            <a:srgbClr val="000000"/>
                          </a:solidFill>
                          <a:effectLst/>
                          <a:latin typeface="Arial" panose="020B0604020202020204" pitchFamily="34" charset="0"/>
                        </a:rPr>
                        <a:t>​</a:t>
                      </a: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0" indent="0" algn="ctr" fontAlgn="base">
                        <a:lnSpc>
                          <a:spcPts val="1200"/>
                        </a:lnSpc>
                        <a:buNone/>
                      </a:pP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260440"/>
                  </a:ext>
                </a:extLst>
              </a:tr>
              <a:tr h="129358">
                <a:tc vMerge="1">
                  <a:txBody>
                    <a:bodyPr/>
                    <a:lstStyle/>
                    <a:p>
                      <a:endParaRPr lang="zh-CN" altLang="en-US"/>
                    </a:p>
                  </a:txBody>
                  <a:tcPr/>
                </a:tc>
                <a:tc gridSpan="3">
                  <a:txBody>
                    <a:bodyPr/>
                    <a:lstStyle/>
                    <a:p>
                      <a:pPr marL="0" indent="0" algn="ctr" fontAlgn="base">
                        <a:lnSpc>
                          <a:spcPts val="1200"/>
                        </a:lnSpc>
                        <a:buNone/>
                      </a:pPr>
                      <a:r>
                        <a:rPr lang="en-US" sz="1000" b="0" i="0" u="none" strike="noStrike" spc="0">
                          <a:solidFill>
                            <a:srgbClr val="000000"/>
                          </a:solidFill>
                          <a:effectLst/>
                          <a:latin typeface="Arial" panose="020B0604020202020204" pitchFamily="34" charset="0"/>
                        </a:rPr>
                        <a:t>COA</a:t>
                      </a:r>
                      <a:r>
                        <a:rPr lang="en-US" sz="1000" b="0" i="0">
                          <a:solidFill>
                            <a:srgbClr val="000000"/>
                          </a:solidFill>
                          <a:effectLst/>
                          <a:latin typeface="Arial" panose="020B0604020202020204" pitchFamily="34" charset="0"/>
                        </a:rPr>
                        <a:t>​</a:t>
                      </a: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indent="0" algn="ctr" fontAlgn="base">
                        <a:lnSpc>
                          <a:spcPts val="1200"/>
                        </a:lnSpc>
                        <a:buNone/>
                      </a:pPr>
                      <a:r>
                        <a:rPr lang="en-US" sz="1000" b="0" i="0" u="none" strike="noStrike" spc="0">
                          <a:solidFill>
                            <a:srgbClr val="000000"/>
                          </a:solidFill>
                          <a:effectLst/>
                          <a:latin typeface="Arial" panose="020B0604020202020204" pitchFamily="34" charset="0"/>
                        </a:rPr>
                        <a:t>LV</a:t>
                      </a:r>
                      <a:r>
                        <a:rPr lang="en-US" sz="1000" b="0" i="0">
                          <a:solidFill>
                            <a:srgbClr val="000000"/>
                          </a:solidFill>
                          <a:effectLst/>
                          <a:latin typeface="Arial" panose="020B0604020202020204" pitchFamily="34" charset="0"/>
                        </a:rPr>
                        <a:t>​</a:t>
                      </a: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indent="0" algn="ctr" fontAlgn="base">
                        <a:lnSpc>
                          <a:spcPts val="1200"/>
                        </a:lnSpc>
                        <a:buNone/>
                      </a:pPr>
                      <a:r>
                        <a:rPr lang="en-US" sz="1000" b="0" i="0" u="none" strike="noStrike" spc="0">
                          <a:solidFill>
                            <a:srgbClr val="000000"/>
                          </a:solidFill>
                          <a:effectLst/>
                          <a:latin typeface="Arial" panose="020B0604020202020204" pitchFamily="34" charset="0"/>
                        </a:rPr>
                        <a:t>PV</a:t>
                      </a:r>
                      <a:r>
                        <a:rPr lang="en-US" sz="1000" b="0" i="0">
                          <a:solidFill>
                            <a:srgbClr val="000000"/>
                          </a:solidFill>
                          <a:effectLst/>
                          <a:latin typeface="Arial" panose="020B0604020202020204" pitchFamily="34" charset="0"/>
                        </a:rPr>
                        <a:t>​</a:t>
                      </a: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711932868"/>
                  </a:ext>
                </a:extLst>
              </a:tr>
              <a:tr h="151458">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ctr" rtl="0" fontAlgn="base">
                        <a:lnSpc>
                          <a:spcPts val="1050"/>
                        </a:lnSpc>
                        <a:buNone/>
                      </a:pPr>
                      <a:r>
                        <a:rPr lang="en-US" sz="1000" b="0" i="0" u="none" strike="noStrike" spc="0">
                          <a:solidFill>
                            <a:srgbClr val="000000"/>
                          </a:solidFill>
                          <a:effectLst/>
                          <a:latin typeface="Arial" panose="020B0604020202020204" pitchFamily="34" charset="0"/>
                        </a:rPr>
                        <a:t>1400301</a:t>
                      </a:r>
                      <a:r>
                        <a:rPr lang="en-US" sz="10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1000" b="0" i="0" u="none" strike="noStrike" spc="0">
                          <a:solidFill>
                            <a:srgbClr val="000000"/>
                          </a:solidFill>
                          <a:effectLst/>
                          <a:latin typeface="Arial" panose="020B0604020202020204" pitchFamily="34" charset="0"/>
                        </a:rPr>
                        <a:t>Lease Receivable </a:t>
                      </a:r>
                      <a:r>
                        <a:rPr lang="en-US" sz="10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30,240</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30,240</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r>
                        <a:rPr lang="en-US" sz="900" b="0" i="0" u="none" strike="noStrike" spc="0">
                          <a:solidFill>
                            <a:srgbClr val="000000"/>
                          </a:solidFill>
                          <a:effectLst/>
                          <a:latin typeface="Arial" panose="020B0604020202020204" pitchFamily="34" charset="0"/>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spc="0">
                        <a:solidFill>
                          <a:srgbClr val="000000"/>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spc="0">
                        <a:solidFill>
                          <a:srgbClr val="000000"/>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909174475"/>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a:solidFill>
                            <a:srgbClr val="000000"/>
                          </a:solidFill>
                          <a:effectLst/>
                          <a:latin typeface="Arial" panose="020B0604020202020204" pitchFamily="34" charset="0"/>
                        </a:rPr>
                        <a:t>1400303​</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Receivable Interest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4,011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4,011</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27397841"/>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5010509</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Finance Lease Revenue</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26,229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26,229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04336853"/>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Residual Value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1,771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1,771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36026426"/>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5020509</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Cost Finance Lease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1,771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1,771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719493777"/>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5020509</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Cost Finance Lease</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17,000</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16,800</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250201588"/>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1349903</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Goods in Transit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17,000</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16,800</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15162108"/>
                  </a:ext>
                </a:extLst>
              </a:tr>
            </a:tbl>
          </a:graphicData>
        </a:graphic>
      </p:graphicFrame>
      <p:graphicFrame>
        <p:nvGraphicFramePr>
          <p:cNvPr id="12" name="表格 11">
            <a:extLst>
              <a:ext uri="{FF2B5EF4-FFF2-40B4-BE49-F238E27FC236}">
                <a16:creationId xmlns:a16="http://schemas.microsoft.com/office/drawing/2014/main" id="{1C338E6B-871B-20CD-3EAE-0AD8EF81C330}"/>
              </a:ext>
            </a:extLst>
          </p:cNvPr>
          <p:cNvGraphicFramePr>
            <a:graphicFrameLocks noGrp="1"/>
          </p:cNvGraphicFramePr>
          <p:nvPr>
            <p:extLst>
              <p:ext uri="{D42A27DB-BD31-4B8C-83A1-F6EECF244321}">
                <p14:modId xmlns:p14="http://schemas.microsoft.com/office/powerpoint/2010/main" val="3322527745"/>
              </p:ext>
            </p:extLst>
          </p:nvPr>
        </p:nvGraphicFramePr>
        <p:xfrm>
          <a:off x="20935" y="1952886"/>
          <a:ext cx="6019595" cy="2493472"/>
        </p:xfrm>
        <a:graphic>
          <a:graphicData uri="http://schemas.openxmlformats.org/drawingml/2006/table">
            <a:tbl>
              <a:tblPr/>
              <a:tblGrid>
                <a:gridCol w="404375">
                  <a:extLst>
                    <a:ext uri="{9D8B030D-6E8A-4147-A177-3AD203B41FA5}">
                      <a16:colId xmlns:a16="http://schemas.microsoft.com/office/drawing/2014/main" val="1617715984"/>
                    </a:ext>
                  </a:extLst>
                </a:gridCol>
                <a:gridCol w="235036">
                  <a:extLst>
                    <a:ext uri="{9D8B030D-6E8A-4147-A177-3AD203B41FA5}">
                      <a16:colId xmlns:a16="http://schemas.microsoft.com/office/drawing/2014/main" val="3902748026"/>
                    </a:ext>
                  </a:extLst>
                </a:gridCol>
                <a:gridCol w="559356">
                  <a:extLst>
                    <a:ext uri="{9D8B030D-6E8A-4147-A177-3AD203B41FA5}">
                      <a16:colId xmlns:a16="http://schemas.microsoft.com/office/drawing/2014/main" val="4067912196"/>
                    </a:ext>
                  </a:extLst>
                </a:gridCol>
                <a:gridCol w="1770610">
                  <a:extLst>
                    <a:ext uri="{9D8B030D-6E8A-4147-A177-3AD203B41FA5}">
                      <a16:colId xmlns:a16="http://schemas.microsoft.com/office/drawing/2014/main" val="3080213113"/>
                    </a:ext>
                  </a:extLst>
                </a:gridCol>
                <a:gridCol w="426308">
                  <a:extLst>
                    <a:ext uri="{9D8B030D-6E8A-4147-A177-3AD203B41FA5}">
                      <a16:colId xmlns:a16="http://schemas.microsoft.com/office/drawing/2014/main" val="756085216"/>
                    </a:ext>
                  </a:extLst>
                </a:gridCol>
                <a:gridCol w="426308">
                  <a:extLst>
                    <a:ext uri="{9D8B030D-6E8A-4147-A177-3AD203B41FA5}">
                      <a16:colId xmlns:a16="http://schemas.microsoft.com/office/drawing/2014/main" val="769431567"/>
                    </a:ext>
                  </a:extLst>
                </a:gridCol>
                <a:gridCol w="341335">
                  <a:extLst>
                    <a:ext uri="{9D8B030D-6E8A-4147-A177-3AD203B41FA5}">
                      <a16:colId xmlns:a16="http://schemas.microsoft.com/office/drawing/2014/main" val="364744307"/>
                    </a:ext>
                  </a:extLst>
                </a:gridCol>
                <a:gridCol w="341335">
                  <a:extLst>
                    <a:ext uri="{9D8B030D-6E8A-4147-A177-3AD203B41FA5}">
                      <a16:colId xmlns:a16="http://schemas.microsoft.com/office/drawing/2014/main" val="1870084205"/>
                    </a:ext>
                  </a:extLst>
                </a:gridCol>
                <a:gridCol w="341335">
                  <a:extLst>
                    <a:ext uri="{9D8B030D-6E8A-4147-A177-3AD203B41FA5}">
                      <a16:colId xmlns:a16="http://schemas.microsoft.com/office/drawing/2014/main" val="851839846"/>
                    </a:ext>
                  </a:extLst>
                </a:gridCol>
                <a:gridCol w="385558">
                  <a:extLst>
                    <a:ext uri="{9D8B030D-6E8A-4147-A177-3AD203B41FA5}">
                      <a16:colId xmlns:a16="http://schemas.microsoft.com/office/drawing/2014/main" val="98552746"/>
                    </a:ext>
                  </a:extLst>
                </a:gridCol>
                <a:gridCol w="788039">
                  <a:extLst>
                    <a:ext uri="{9D8B030D-6E8A-4147-A177-3AD203B41FA5}">
                      <a16:colId xmlns:a16="http://schemas.microsoft.com/office/drawing/2014/main" val="678060234"/>
                    </a:ext>
                  </a:extLst>
                </a:gridCol>
              </a:tblGrid>
              <a:tr h="139601">
                <a:tc rowSpan="12">
                  <a:txBody>
                    <a:bodyPr/>
                    <a:lstStyle/>
                    <a:p>
                      <a:pPr marL="0" indent="0"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900" b="1" i="0">
                        <a:solidFill>
                          <a:srgbClr val="FFFFFF"/>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base">
                        <a:lnSpc>
                          <a:spcPts val="1200"/>
                        </a:lnSpc>
                        <a:buNone/>
                      </a:pPr>
                      <a:r>
                        <a:rPr lang="en-US" sz="800" b="1" i="0" u="none" strike="noStrike" kern="1200">
                          <a:solidFill>
                            <a:srgbClr val="FFFFFF"/>
                          </a:solidFill>
                          <a:effectLst/>
                          <a:latin typeface="Arial" panose="020B0604020202020204" pitchFamily="34" charset="0"/>
                          <a:ea typeface="+mn-ea"/>
                          <a:cs typeface="+mn-cs"/>
                        </a:rPr>
                        <a:t>Interim Charge​</a:t>
                      </a: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646354682"/>
                  </a:ext>
                </a:extLst>
              </a:tr>
              <a:tr h="145583">
                <a:tc vMerge="1">
                  <a:txBody>
                    <a:bodyPr/>
                    <a:lstStyle/>
                    <a:p>
                      <a:endParaRPr lang="zh-CN" altLang="en-US"/>
                    </a:p>
                  </a:txBody>
                  <a:tcPr/>
                </a:tc>
                <a:tc gridSpan="10">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Upon Customer acceptance</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2466421016"/>
                  </a:ext>
                </a:extLst>
              </a:tr>
              <a:tr h="159184">
                <a:tc vMerge="1">
                  <a:txBody>
                    <a:bodyPr/>
                    <a:lstStyle/>
                    <a:p>
                      <a:endParaRPr lang="zh-CN" altLang="en-US"/>
                    </a:p>
                  </a:txBody>
                  <a:tcPr/>
                </a:tc>
                <a:tc gridSpan="3">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2007126138"/>
                  </a:ext>
                </a:extLst>
              </a:tr>
              <a:tr h="222987">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Unbilled AR</a:t>
                      </a:r>
                    </a:p>
                  </a:txBody>
                  <a:tcPr marL="0"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1015.3</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1015.3</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auto">
                        <a:lnSpc>
                          <a:spcPts val="1200"/>
                        </a:lnSpc>
                        <a:buNone/>
                      </a:pPr>
                      <a:r>
                        <a:rPr lang="en-US" sz="900" b="0" i="0" u="none" strike="noStrike" spc="0">
                          <a:solidFill>
                            <a:srgbClr val="000000"/>
                          </a:solidFill>
                          <a:effectLst/>
                          <a:latin typeface="Arial" panose="020B0604020202020204" pitchFamily="34" charset="0"/>
                        </a:rPr>
                        <a:t>​</a:t>
                      </a: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7383355"/>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spc="0">
                          <a:solidFill>
                            <a:srgbClr val="FF0000"/>
                          </a:solidFill>
                          <a:effectLst/>
                          <a:latin typeface="Arial" panose="020B0604020202020204" pitchFamily="34" charset="0"/>
                        </a:rPr>
                        <a:t>1400308</a:t>
                      </a:r>
                    </a:p>
                    <a:p>
                      <a:pPr marL="0" indent="0" algn="ctr" fontAlgn="base">
                        <a:lnSpc>
                          <a:spcPts val="1200"/>
                        </a:lnSpc>
                        <a:buNone/>
                      </a:pPr>
                      <a:r>
                        <a:rPr lang="en-US" sz="900" b="0" i="0" u="none" strike="noStrike" spc="0">
                          <a:solidFill>
                            <a:srgbClr val="FF0000"/>
                          </a:solidFill>
                          <a:effectLst/>
                          <a:latin typeface="Arial" panose="020B0604020202020204" pitchFamily="34" charset="0"/>
                        </a:rPr>
                        <a:t>5010401</a:t>
                      </a:r>
                      <a:endParaRPr lang="en-US" sz="900" b="0" i="0">
                        <a:solidFill>
                          <a:srgbClr val="FF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Services Revenue – </a:t>
                      </a:r>
                      <a:r>
                        <a:rPr lang="en-US" altLang="zh-CN" sz="900" b="0" i="0" u="none" strike="noStrike" spc="0">
                          <a:solidFill>
                            <a:srgbClr val="000000"/>
                          </a:solidFill>
                          <a:effectLst/>
                          <a:latin typeface="Arial" panose="020B0604020202020204" pitchFamily="34" charset="0"/>
                        </a:rPr>
                        <a:t>upfront svc</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30</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30</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901081532"/>
                  </a:ext>
                </a:extLst>
              </a:tr>
              <a:tr h="271512">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5010401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Services Revenue – Non-Funded Premier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10</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10</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48749201"/>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FFFFFF"/>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Lease Receivable </a:t>
                      </a:r>
                      <a:r>
                        <a:rPr lang="en-US" sz="900" b="0" i="0">
                          <a:solidFill>
                            <a:srgbClr val="000000"/>
                          </a:solidFill>
                          <a:effectLst/>
                          <a:latin typeface="Arial" panose="020B0604020202020204" pitchFamily="34" charset="0"/>
                        </a:rPr>
                        <a:t>​- FL</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840</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840</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auto">
                        <a:lnSpc>
                          <a:spcPts val="1200"/>
                        </a:lnSpc>
                        <a:buNone/>
                      </a:pPr>
                      <a:r>
                        <a:rPr lang="en-US" sz="900" b="0" i="0" u="none" strike="noStrike" spc="0">
                          <a:solidFill>
                            <a:srgbClr val="000000"/>
                          </a:solidFill>
                          <a:effectLst/>
                          <a:latin typeface="Arial" panose="020B0604020202020204" pitchFamily="34" charset="0"/>
                        </a:rPr>
                        <a:t>​</a:t>
                      </a: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951260876"/>
                  </a:ext>
                </a:extLst>
              </a:tr>
              <a:tr h="15556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7595" cap="flat" cmpd="sng" algn="ctr">
                      <a:solidFill>
                        <a:srgbClr val="FFFFFF"/>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1598949834"/>
                  </a:ext>
                </a:extLst>
              </a:tr>
              <a:tr h="146632">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1400303</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Lease Receivable Interest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111</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111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32836901"/>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5010514</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Interest Income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111</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111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69465504"/>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Residual Value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16</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60109760"/>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5010514</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Interest Income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16</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69087775"/>
                  </a:ext>
                </a:extLst>
              </a:tr>
            </a:tbl>
          </a:graphicData>
        </a:graphic>
      </p:graphicFrame>
      <p:graphicFrame>
        <p:nvGraphicFramePr>
          <p:cNvPr id="8" name="表格 7">
            <a:extLst>
              <a:ext uri="{FF2B5EF4-FFF2-40B4-BE49-F238E27FC236}">
                <a16:creationId xmlns:a16="http://schemas.microsoft.com/office/drawing/2014/main" id="{94B543C7-ED88-41D9-4E49-BC97F27D05ED}"/>
              </a:ext>
            </a:extLst>
          </p:cNvPr>
          <p:cNvGraphicFramePr>
            <a:graphicFrameLocks noGrp="1"/>
          </p:cNvGraphicFramePr>
          <p:nvPr>
            <p:extLst>
              <p:ext uri="{D42A27DB-BD31-4B8C-83A1-F6EECF244321}">
                <p14:modId xmlns:p14="http://schemas.microsoft.com/office/powerpoint/2010/main" val="1973226599"/>
              </p:ext>
            </p:extLst>
          </p:nvPr>
        </p:nvGraphicFramePr>
        <p:xfrm>
          <a:off x="6150620" y="1497742"/>
          <a:ext cx="5930051" cy="1509158"/>
        </p:xfrm>
        <a:graphic>
          <a:graphicData uri="http://schemas.openxmlformats.org/drawingml/2006/table">
            <a:tbl>
              <a:tblPr/>
              <a:tblGrid>
                <a:gridCol w="424031">
                  <a:extLst>
                    <a:ext uri="{9D8B030D-6E8A-4147-A177-3AD203B41FA5}">
                      <a16:colId xmlns:a16="http://schemas.microsoft.com/office/drawing/2014/main" val="495084399"/>
                    </a:ext>
                  </a:extLst>
                </a:gridCol>
                <a:gridCol w="240850">
                  <a:extLst>
                    <a:ext uri="{9D8B030D-6E8A-4147-A177-3AD203B41FA5}">
                      <a16:colId xmlns:a16="http://schemas.microsoft.com/office/drawing/2014/main" val="3614210242"/>
                    </a:ext>
                  </a:extLst>
                </a:gridCol>
                <a:gridCol w="554875">
                  <a:extLst>
                    <a:ext uri="{9D8B030D-6E8A-4147-A177-3AD203B41FA5}">
                      <a16:colId xmlns:a16="http://schemas.microsoft.com/office/drawing/2014/main" val="1442124609"/>
                    </a:ext>
                  </a:extLst>
                </a:gridCol>
                <a:gridCol w="1904430">
                  <a:extLst>
                    <a:ext uri="{9D8B030D-6E8A-4147-A177-3AD203B41FA5}">
                      <a16:colId xmlns:a16="http://schemas.microsoft.com/office/drawing/2014/main" val="3603859997"/>
                    </a:ext>
                  </a:extLst>
                </a:gridCol>
                <a:gridCol w="354609">
                  <a:extLst>
                    <a:ext uri="{9D8B030D-6E8A-4147-A177-3AD203B41FA5}">
                      <a16:colId xmlns:a16="http://schemas.microsoft.com/office/drawing/2014/main" val="4076488391"/>
                    </a:ext>
                  </a:extLst>
                </a:gridCol>
                <a:gridCol w="354609">
                  <a:extLst>
                    <a:ext uri="{9D8B030D-6E8A-4147-A177-3AD203B41FA5}">
                      <a16:colId xmlns:a16="http://schemas.microsoft.com/office/drawing/2014/main" val="3254101706"/>
                    </a:ext>
                  </a:extLst>
                </a:gridCol>
                <a:gridCol w="277081">
                  <a:extLst>
                    <a:ext uri="{9D8B030D-6E8A-4147-A177-3AD203B41FA5}">
                      <a16:colId xmlns:a16="http://schemas.microsoft.com/office/drawing/2014/main" val="3712391277"/>
                    </a:ext>
                  </a:extLst>
                </a:gridCol>
                <a:gridCol w="599097">
                  <a:extLst>
                    <a:ext uri="{9D8B030D-6E8A-4147-A177-3AD203B41FA5}">
                      <a16:colId xmlns:a16="http://schemas.microsoft.com/office/drawing/2014/main" val="1872140390"/>
                    </a:ext>
                  </a:extLst>
                </a:gridCol>
                <a:gridCol w="265479">
                  <a:extLst>
                    <a:ext uri="{9D8B030D-6E8A-4147-A177-3AD203B41FA5}">
                      <a16:colId xmlns:a16="http://schemas.microsoft.com/office/drawing/2014/main" val="2527660299"/>
                    </a:ext>
                  </a:extLst>
                </a:gridCol>
                <a:gridCol w="399647">
                  <a:extLst>
                    <a:ext uri="{9D8B030D-6E8A-4147-A177-3AD203B41FA5}">
                      <a16:colId xmlns:a16="http://schemas.microsoft.com/office/drawing/2014/main" val="3641075278"/>
                    </a:ext>
                  </a:extLst>
                </a:gridCol>
                <a:gridCol w="555343">
                  <a:extLst>
                    <a:ext uri="{9D8B030D-6E8A-4147-A177-3AD203B41FA5}">
                      <a16:colId xmlns:a16="http://schemas.microsoft.com/office/drawing/2014/main" val="3618613915"/>
                    </a:ext>
                  </a:extLst>
                </a:gridCol>
              </a:tblGrid>
              <a:tr h="127981">
                <a:tc rowSpan="8">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kern="1200">
                          <a:solidFill>
                            <a:srgbClr val="FFFFFF"/>
                          </a:solidFill>
                          <a:effectLst/>
                          <a:latin typeface="Arial" panose="020B0604020202020204" pitchFamily="34" charset="0"/>
                          <a:ea typeface="+mn-ea"/>
                          <a:cs typeface="+mn-cs"/>
                        </a:rPr>
                        <a:t>Quarterly Invoice issued to customer ​ </a:t>
                      </a:r>
                      <a:r>
                        <a:rPr lang="en-US" altLang="zh-CN" sz="800" b="1" i="0" u="none" strike="noStrike" kern="1200">
                          <a:solidFill>
                            <a:srgbClr val="FFFFFF"/>
                          </a:solidFill>
                          <a:effectLst/>
                          <a:latin typeface="Arial" panose="020B0604020202020204" pitchFamily="34" charset="0"/>
                          <a:ea typeface="+mn-ea"/>
                          <a:cs typeface="+mn-cs"/>
                        </a:rPr>
                        <a:t>1st Apr</a:t>
                      </a:r>
                      <a:endParaRPr lang="en-US" sz="800" b="1" i="0" u="none" strike="noStrike" kern="1200">
                        <a:solidFill>
                          <a:srgbClr val="FFFFFF"/>
                        </a:solidFill>
                        <a:effectLst/>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800" b="1" i="0" u="none" strike="noStrike" kern="1200">
                          <a:solidFill>
                            <a:srgbClr val="FFFFFF"/>
                          </a:solidFill>
                          <a:effectLst/>
                          <a:latin typeface="Arial" panose="020B0604020202020204" pitchFamily="34" charset="0"/>
                          <a:ea typeface="+mn-ea"/>
                          <a:cs typeface="+mn-cs"/>
                        </a:rPr>
                        <a:t>At the beginning of the quarter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63.9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63.9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6267202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bl>
          </a:graphicData>
        </a:graphic>
      </p:graphicFrame>
      <p:graphicFrame>
        <p:nvGraphicFramePr>
          <p:cNvPr id="10" name="表格 9">
            <a:extLst>
              <a:ext uri="{FF2B5EF4-FFF2-40B4-BE49-F238E27FC236}">
                <a16:creationId xmlns:a16="http://schemas.microsoft.com/office/drawing/2014/main" id="{8C5A8227-05E7-912E-AAB3-F95C0CC578AA}"/>
              </a:ext>
            </a:extLst>
          </p:cNvPr>
          <p:cNvGraphicFramePr>
            <a:graphicFrameLocks noGrp="1"/>
          </p:cNvGraphicFramePr>
          <p:nvPr>
            <p:extLst>
              <p:ext uri="{D42A27DB-BD31-4B8C-83A1-F6EECF244321}">
                <p14:modId xmlns:p14="http://schemas.microsoft.com/office/powerpoint/2010/main" val="1819995835"/>
              </p:ext>
            </p:extLst>
          </p:nvPr>
        </p:nvGraphicFramePr>
        <p:xfrm>
          <a:off x="6161347" y="5147192"/>
          <a:ext cx="6019595" cy="1247596"/>
        </p:xfrm>
        <a:graphic>
          <a:graphicData uri="http://schemas.openxmlformats.org/drawingml/2006/table">
            <a:tbl>
              <a:tblPr/>
              <a:tblGrid>
                <a:gridCol w="404375">
                  <a:extLst>
                    <a:ext uri="{9D8B030D-6E8A-4147-A177-3AD203B41FA5}">
                      <a16:colId xmlns:a16="http://schemas.microsoft.com/office/drawing/2014/main" val="1617715984"/>
                    </a:ext>
                  </a:extLst>
                </a:gridCol>
                <a:gridCol w="235036">
                  <a:extLst>
                    <a:ext uri="{9D8B030D-6E8A-4147-A177-3AD203B41FA5}">
                      <a16:colId xmlns:a16="http://schemas.microsoft.com/office/drawing/2014/main" val="3902748026"/>
                    </a:ext>
                  </a:extLst>
                </a:gridCol>
                <a:gridCol w="559356">
                  <a:extLst>
                    <a:ext uri="{9D8B030D-6E8A-4147-A177-3AD203B41FA5}">
                      <a16:colId xmlns:a16="http://schemas.microsoft.com/office/drawing/2014/main" val="4067912196"/>
                    </a:ext>
                  </a:extLst>
                </a:gridCol>
                <a:gridCol w="1770610">
                  <a:extLst>
                    <a:ext uri="{9D8B030D-6E8A-4147-A177-3AD203B41FA5}">
                      <a16:colId xmlns:a16="http://schemas.microsoft.com/office/drawing/2014/main" val="3080213113"/>
                    </a:ext>
                  </a:extLst>
                </a:gridCol>
                <a:gridCol w="426308">
                  <a:extLst>
                    <a:ext uri="{9D8B030D-6E8A-4147-A177-3AD203B41FA5}">
                      <a16:colId xmlns:a16="http://schemas.microsoft.com/office/drawing/2014/main" val="756085216"/>
                    </a:ext>
                  </a:extLst>
                </a:gridCol>
                <a:gridCol w="426308">
                  <a:extLst>
                    <a:ext uri="{9D8B030D-6E8A-4147-A177-3AD203B41FA5}">
                      <a16:colId xmlns:a16="http://schemas.microsoft.com/office/drawing/2014/main" val="769431567"/>
                    </a:ext>
                  </a:extLst>
                </a:gridCol>
                <a:gridCol w="341335">
                  <a:extLst>
                    <a:ext uri="{9D8B030D-6E8A-4147-A177-3AD203B41FA5}">
                      <a16:colId xmlns:a16="http://schemas.microsoft.com/office/drawing/2014/main" val="364744307"/>
                    </a:ext>
                  </a:extLst>
                </a:gridCol>
                <a:gridCol w="341335">
                  <a:extLst>
                    <a:ext uri="{9D8B030D-6E8A-4147-A177-3AD203B41FA5}">
                      <a16:colId xmlns:a16="http://schemas.microsoft.com/office/drawing/2014/main" val="1870084205"/>
                    </a:ext>
                  </a:extLst>
                </a:gridCol>
                <a:gridCol w="341335">
                  <a:extLst>
                    <a:ext uri="{9D8B030D-6E8A-4147-A177-3AD203B41FA5}">
                      <a16:colId xmlns:a16="http://schemas.microsoft.com/office/drawing/2014/main" val="851839846"/>
                    </a:ext>
                  </a:extLst>
                </a:gridCol>
                <a:gridCol w="385558">
                  <a:extLst>
                    <a:ext uri="{9D8B030D-6E8A-4147-A177-3AD203B41FA5}">
                      <a16:colId xmlns:a16="http://schemas.microsoft.com/office/drawing/2014/main" val="98552746"/>
                    </a:ext>
                  </a:extLst>
                </a:gridCol>
                <a:gridCol w="788039">
                  <a:extLst>
                    <a:ext uri="{9D8B030D-6E8A-4147-A177-3AD203B41FA5}">
                      <a16:colId xmlns:a16="http://schemas.microsoft.com/office/drawing/2014/main" val="678060234"/>
                    </a:ext>
                  </a:extLst>
                </a:gridCol>
              </a:tblGrid>
              <a:tr h="103742">
                <a:tc rowSpan="7">
                  <a:txBody>
                    <a:bodyPr/>
                    <a:lstStyle/>
                    <a:p>
                      <a:pPr marL="0" indent="0"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900" b="1" i="0">
                        <a:solidFill>
                          <a:srgbClr val="FFFFFF"/>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base">
                        <a:lnSpc>
                          <a:spcPts val="1200"/>
                        </a:lnSpc>
                        <a:buNone/>
                      </a:pPr>
                      <a:r>
                        <a:rPr lang="en-US" altLang="zh-CN" sz="800" b="1" i="0" u="none" strike="noStrike" kern="1200">
                          <a:solidFill>
                            <a:srgbClr val="FFFFFF"/>
                          </a:solidFill>
                          <a:effectLst/>
                          <a:latin typeface="Arial" panose="020B0604020202020204" pitchFamily="34" charset="0"/>
                          <a:ea typeface="+mn-ea"/>
                          <a:cs typeface="+mn-cs"/>
                        </a:rPr>
                        <a:t>Monthly Odessa entry</a:t>
                      </a:r>
                      <a:endParaRPr lang="en-US" sz="800" b="1" i="0" u="none" strike="noStrike" kern="1200">
                        <a:solidFill>
                          <a:srgbClr val="FFFFFF"/>
                        </a:solidFill>
                        <a:effectLst/>
                        <a:latin typeface="Arial" panose="020B0604020202020204" pitchFamily="34" charset="0"/>
                        <a:ea typeface="+mn-ea"/>
                        <a:cs typeface="+mn-cs"/>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646354682"/>
                  </a:ext>
                </a:extLst>
              </a:tr>
              <a:tr h="103742">
                <a:tc vMerge="1">
                  <a:txBody>
                    <a:bodyPr/>
                    <a:lstStyle/>
                    <a:p>
                      <a:endParaRPr lang="zh-CN" altLang="en-US"/>
                    </a:p>
                  </a:txBody>
                  <a:tcPr/>
                </a:tc>
                <a:tc gridSpan="10">
                  <a:txBody>
                    <a:bodyPr/>
                    <a:lstStyle/>
                    <a:p>
                      <a:pPr marL="0" indent="0" algn="ctr" fontAlgn="base">
                        <a:lnSpc>
                          <a:spcPts val="1200"/>
                        </a:lnSpc>
                        <a:buNone/>
                      </a:pPr>
                      <a:r>
                        <a:rPr lang="en-US" altLang="zh-CN" sz="900" b="1" i="0" u="none" strike="noStrike" spc="0">
                          <a:solidFill>
                            <a:srgbClr val="000000"/>
                          </a:solidFill>
                          <a:effectLst/>
                          <a:latin typeface="Arial" panose="020B0604020202020204" pitchFamily="34" charset="0"/>
                        </a:rPr>
                        <a:t>Each month end</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2466421016"/>
                  </a:ext>
                </a:extLst>
              </a:tr>
              <a:tr h="113434">
                <a:tc vMerge="1">
                  <a:txBody>
                    <a:bodyPr/>
                    <a:lstStyle/>
                    <a:p>
                      <a:endParaRPr lang="zh-CN" altLang="en-US"/>
                    </a:p>
                  </a:txBody>
                  <a:tcPr/>
                </a:tc>
                <a:tc gridSpan="3">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2007126138"/>
                  </a:ext>
                </a:extLst>
              </a:tr>
              <a:tr h="104490">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1400303</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Lease Receivable Interest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111</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111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32836901"/>
                  </a:ext>
                </a:extLst>
              </a:tr>
              <a:tr h="104490">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5010514</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Interest Income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111</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111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69465504"/>
                  </a:ext>
                </a:extLst>
              </a:tr>
              <a:tr h="104490">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Residual Value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16</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60109760"/>
                  </a:ext>
                </a:extLst>
              </a:tr>
              <a:tr h="104490">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5010514</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Interest Income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16</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69087775"/>
                  </a:ext>
                </a:extLst>
              </a:tr>
            </a:tbl>
          </a:graphicData>
        </a:graphic>
      </p:graphicFrame>
    </p:spTree>
    <p:extLst>
      <p:ext uri="{BB962C8B-B14F-4D97-AF65-F5344CB8AC3E}">
        <p14:creationId xmlns:p14="http://schemas.microsoft.com/office/powerpoint/2010/main" val="189662538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8F2CE7BB-9BDE-A1DC-74D8-4365B770486E}"/>
            </a:ext>
          </a:extLst>
        </p:cNvPr>
        <p:cNvGrpSpPr/>
        <p:nvPr/>
      </p:nvGrpSpPr>
      <p:grpSpPr>
        <a:xfrm>
          <a:off x="0" y="0"/>
          <a:ext cx="0" cy="0"/>
          <a:chOff x="0" y="0"/>
          <a:chExt cx="0" cy="0"/>
        </a:xfrm>
      </p:grpSpPr>
      <p:sp>
        <p:nvSpPr>
          <p:cNvPr id="2" name="Title 10">
            <a:extLst>
              <a:ext uri="{FF2B5EF4-FFF2-40B4-BE49-F238E27FC236}">
                <a16:creationId xmlns:a16="http://schemas.microsoft.com/office/drawing/2014/main" id="{4F9BD370-B9F7-6086-7F1D-ED4F9A30B861}"/>
              </a:ext>
            </a:extLst>
          </p:cNvPr>
          <p:cNvSpPr txBox="1">
            <a:spLocks/>
          </p:cNvSpPr>
          <p:nvPr/>
        </p:nvSpPr>
        <p:spPr>
          <a:xfrm>
            <a:off x="91842" y="55369"/>
            <a:ext cx="635031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Interim charge treated as part of </a:t>
            </a:r>
            <a:r>
              <a:rPr kumimoji="0" lang="en-US" altLang="zh-CN" sz="2000" b="1" i="0" u="none" strike="noStrike" kern="1200" cap="none" spc="0" normalizeH="0" baseline="0" noProof="0" err="1">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leasing|AFE|OL</a:t>
            </a: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  </a:t>
            </a:r>
          </a:p>
        </p:txBody>
      </p:sp>
      <p:graphicFrame>
        <p:nvGraphicFramePr>
          <p:cNvPr id="23" name="表格 22">
            <a:extLst>
              <a:ext uri="{FF2B5EF4-FFF2-40B4-BE49-F238E27FC236}">
                <a16:creationId xmlns:a16="http://schemas.microsoft.com/office/drawing/2014/main" id="{BB6B7DA5-01A2-28C5-DE5E-E1AC811477F0}"/>
              </a:ext>
            </a:extLst>
          </p:cNvPr>
          <p:cNvGraphicFramePr>
            <a:graphicFrameLocks noGrp="1"/>
          </p:cNvGraphicFramePr>
          <p:nvPr>
            <p:extLst>
              <p:ext uri="{D42A27DB-BD31-4B8C-83A1-F6EECF244321}">
                <p14:modId xmlns:p14="http://schemas.microsoft.com/office/powerpoint/2010/main" val="2914122201"/>
              </p:ext>
            </p:extLst>
          </p:nvPr>
        </p:nvGraphicFramePr>
        <p:xfrm>
          <a:off x="91842" y="476570"/>
          <a:ext cx="5935863" cy="1303020"/>
        </p:xfrm>
        <a:graphic>
          <a:graphicData uri="http://schemas.openxmlformats.org/drawingml/2006/table">
            <a:tbl>
              <a:tblPr firstRow="1" bandRow="1">
                <a:tableStyleId>{3C2FFA5D-87B4-456A-9821-1D502468CF0F}</a:tableStyleId>
              </a:tblPr>
              <a:tblGrid>
                <a:gridCol w="632942">
                  <a:extLst>
                    <a:ext uri="{9D8B030D-6E8A-4147-A177-3AD203B41FA5}">
                      <a16:colId xmlns:a16="http://schemas.microsoft.com/office/drawing/2014/main" val="869603910"/>
                    </a:ext>
                  </a:extLst>
                </a:gridCol>
                <a:gridCol w="723014">
                  <a:extLst>
                    <a:ext uri="{9D8B030D-6E8A-4147-A177-3AD203B41FA5}">
                      <a16:colId xmlns:a16="http://schemas.microsoft.com/office/drawing/2014/main" val="238663902"/>
                    </a:ext>
                  </a:extLst>
                </a:gridCol>
                <a:gridCol w="563525">
                  <a:extLst>
                    <a:ext uri="{9D8B030D-6E8A-4147-A177-3AD203B41FA5}">
                      <a16:colId xmlns:a16="http://schemas.microsoft.com/office/drawing/2014/main" val="4114365151"/>
                    </a:ext>
                  </a:extLst>
                </a:gridCol>
                <a:gridCol w="949332">
                  <a:extLst>
                    <a:ext uri="{9D8B030D-6E8A-4147-A177-3AD203B41FA5}">
                      <a16:colId xmlns:a16="http://schemas.microsoft.com/office/drawing/2014/main" val="4075178046"/>
                    </a:ext>
                  </a:extLst>
                </a:gridCol>
                <a:gridCol w="74295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2950">
                  <a:extLst>
                    <a:ext uri="{9D8B030D-6E8A-4147-A177-3AD203B41FA5}">
                      <a16:colId xmlns:a16="http://schemas.microsoft.com/office/drawing/2014/main" val="2044147452"/>
                    </a:ext>
                  </a:extLst>
                </a:gridCol>
                <a:gridCol w="857250">
                  <a:extLst>
                    <a:ext uri="{9D8B030D-6E8A-4147-A177-3AD203B41FA5}">
                      <a16:colId xmlns:a16="http://schemas.microsoft.com/office/drawing/2014/main" val="221569069"/>
                    </a:ext>
                  </a:extLst>
                </a:gridCol>
              </a:tblGrid>
              <a:tr h="39482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5720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 &amp; Quarterly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NA</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6" name="表格 5">
            <a:extLst>
              <a:ext uri="{FF2B5EF4-FFF2-40B4-BE49-F238E27FC236}">
                <a16:creationId xmlns:a16="http://schemas.microsoft.com/office/drawing/2014/main" id="{4774B8FF-182C-A6A6-B0F7-3CAF8E7C9D3A}"/>
              </a:ext>
            </a:extLst>
          </p:cNvPr>
          <p:cNvGraphicFramePr>
            <a:graphicFrameLocks noGrp="1"/>
          </p:cNvGraphicFramePr>
          <p:nvPr>
            <p:extLst>
              <p:ext uri="{D42A27DB-BD31-4B8C-83A1-F6EECF244321}">
                <p14:modId xmlns:p14="http://schemas.microsoft.com/office/powerpoint/2010/main" val="972908102"/>
              </p:ext>
            </p:extLst>
          </p:nvPr>
        </p:nvGraphicFramePr>
        <p:xfrm>
          <a:off x="91840" y="1779590"/>
          <a:ext cx="5935865" cy="1819293"/>
        </p:xfrm>
        <a:graphic>
          <a:graphicData uri="http://schemas.openxmlformats.org/drawingml/2006/table">
            <a:tbl>
              <a:tblPr/>
              <a:tblGrid>
                <a:gridCol w="428072">
                  <a:extLst>
                    <a:ext uri="{9D8B030D-6E8A-4147-A177-3AD203B41FA5}">
                      <a16:colId xmlns:a16="http://schemas.microsoft.com/office/drawing/2014/main" val="495084399"/>
                    </a:ext>
                  </a:extLst>
                </a:gridCol>
                <a:gridCol w="224998">
                  <a:extLst>
                    <a:ext uri="{9D8B030D-6E8A-4147-A177-3AD203B41FA5}">
                      <a16:colId xmlns:a16="http://schemas.microsoft.com/office/drawing/2014/main" val="3614210242"/>
                    </a:ext>
                  </a:extLst>
                </a:gridCol>
                <a:gridCol w="560163">
                  <a:extLst>
                    <a:ext uri="{9D8B030D-6E8A-4147-A177-3AD203B41FA5}">
                      <a16:colId xmlns:a16="http://schemas.microsoft.com/office/drawing/2014/main" val="1442124609"/>
                    </a:ext>
                  </a:extLst>
                </a:gridCol>
                <a:gridCol w="1790215">
                  <a:extLst>
                    <a:ext uri="{9D8B030D-6E8A-4147-A177-3AD203B41FA5}">
                      <a16:colId xmlns:a16="http://schemas.microsoft.com/office/drawing/2014/main" val="3603859997"/>
                    </a:ext>
                  </a:extLst>
                </a:gridCol>
                <a:gridCol w="342602">
                  <a:extLst>
                    <a:ext uri="{9D8B030D-6E8A-4147-A177-3AD203B41FA5}">
                      <a16:colId xmlns:a16="http://schemas.microsoft.com/office/drawing/2014/main" val="4076488391"/>
                    </a:ext>
                  </a:extLst>
                </a:gridCol>
                <a:gridCol w="334831">
                  <a:extLst>
                    <a:ext uri="{9D8B030D-6E8A-4147-A177-3AD203B41FA5}">
                      <a16:colId xmlns:a16="http://schemas.microsoft.com/office/drawing/2014/main" val="3254101706"/>
                    </a:ext>
                  </a:extLst>
                </a:gridCol>
                <a:gridCol w="343576">
                  <a:extLst>
                    <a:ext uri="{9D8B030D-6E8A-4147-A177-3AD203B41FA5}">
                      <a16:colId xmlns:a16="http://schemas.microsoft.com/office/drawing/2014/main" val="3712391277"/>
                    </a:ext>
                  </a:extLst>
                </a:gridCol>
                <a:gridCol w="833668">
                  <a:extLst>
                    <a:ext uri="{9D8B030D-6E8A-4147-A177-3AD203B41FA5}">
                      <a16:colId xmlns:a16="http://schemas.microsoft.com/office/drawing/2014/main" val="4221779915"/>
                    </a:ext>
                  </a:extLst>
                </a:gridCol>
                <a:gridCol w="253162">
                  <a:extLst>
                    <a:ext uri="{9D8B030D-6E8A-4147-A177-3AD203B41FA5}">
                      <a16:colId xmlns:a16="http://schemas.microsoft.com/office/drawing/2014/main" val="2527660299"/>
                    </a:ext>
                  </a:extLst>
                </a:gridCol>
                <a:gridCol w="386114">
                  <a:extLst>
                    <a:ext uri="{9D8B030D-6E8A-4147-A177-3AD203B41FA5}">
                      <a16:colId xmlns:a16="http://schemas.microsoft.com/office/drawing/2014/main" val="3641075278"/>
                    </a:ext>
                  </a:extLst>
                </a:gridCol>
                <a:gridCol w="438464">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Interim charge</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customer acceptance</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Unbilled AR</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30/x1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5010510</a:t>
                      </a:r>
                    </a:p>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J*/x*</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8" name="表格 7">
            <a:extLst>
              <a:ext uri="{FF2B5EF4-FFF2-40B4-BE49-F238E27FC236}">
                <a16:creationId xmlns:a16="http://schemas.microsoft.com/office/drawing/2014/main" id="{A93EFE14-968D-716A-5E36-5D09A2FAFA76}"/>
              </a:ext>
            </a:extLst>
          </p:cNvPr>
          <p:cNvGraphicFramePr>
            <a:graphicFrameLocks noGrp="1"/>
          </p:cNvGraphicFramePr>
          <p:nvPr>
            <p:extLst>
              <p:ext uri="{D42A27DB-BD31-4B8C-83A1-F6EECF244321}">
                <p14:modId xmlns:p14="http://schemas.microsoft.com/office/powerpoint/2010/main" val="4112084905"/>
              </p:ext>
            </p:extLst>
          </p:nvPr>
        </p:nvGraphicFramePr>
        <p:xfrm>
          <a:off x="102115" y="3620973"/>
          <a:ext cx="5915317" cy="1143743"/>
        </p:xfrm>
        <a:graphic>
          <a:graphicData uri="http://schemas.openxmlformats.org/drawingml/2006/table">
            <a:tbl>
              <a:tblPr/>
              <a:tblGrid>
                <a:gridCol w="421943">
                  <a:extLst>
                    <a:ext uri="{9D8B030D-6E8A-4147-A177-3AD203B41FA5}">
                      <a16:colId xmlns:a16="http://schemas.microsoft.com/office/drawing/2014/main" val="495084399"/>
                    </a:ext>
                  </a:extLst>
                </a:gridCol>
                <a:gridCol w="241835">
                  <a:extLst>
                    <a:ext uri="{9D8B030D-6E8A-4147-A177-3AD203B41FA5}">
                      <a16:colId xmlns:a16="http://schemas.microsoft.com/office/drawing/2014/main" val="3614210242"/>
                    </a:ext>
                  </a:extLst>
                </a:gridCol>
                <a:gridCol w="602569">
                  <a:extLst>
                    <a:ext uri="{9D8B030D-6E8A-4147-A177-3AD203B41FA5}">
                      <a16:colId xmlns:a16="http://schemas.microsoft.com/office/drawing/2014/main" val="1442124609"/>
                    </a:ext>
                  </a:extLst>
                </a:gridCol>
                <a:gridCol w="1898038">
                  <a:extLst>
                    <a:ext uri="{9D8B030D-6E8A-4147-A177-3AD203B41FA5}">
                      <a16:colId xmlns:a16="http://schemas.microsoft.com/office/drawing/2014/main" val="3603859997"/>
                    </a:ext>
                  </a:extLst>
                </a:gridCol>
                <a:gridCol w="360178">
                  <a:extLst>
                    <a:ext uri="{9D8B030D-6E8A-4147-A177-3AD203B41FA5}">
                      <a16:colId xmlns:a16="http://schemas.microsoft.com/office/drawing/2014/main" val="4076488391"/>
                    </a:ext>
                  </a:extLst>
                </a:gridCol>
                <a:gridCol w="278930">
                  <a:extLst>
                    <a:ext uri="{9D8B030D-6E8A-4147-A177-3AD203B41FA5}">
                      <a16:colId xmlns:a16="http://schemas.microsoft.com/office/drawing/2014/main" val="3254101706"/>
                    </a:ext>
                  </a:extLst>
                </a:gridCol>
                <a:gridCol w="353120">
                  <a:extLst>
                    <a:ext uri="{9D8B030D-6E8A-4147-A177-3AD203B41FA5}">
                      <a16:colId xmlns:a16="http://schemas.microsoft.com/office/drawing/2014/main" val="3712391277"/>
                    </a:ext>
                  </a:extLst>
                </a:gridCol>
                <a:gridCol w="266565">
                  <a:extLst>
                    <a:ext uri="{9D8B030D-6E8A-4147-A177-3AD203B41FA5}">
                      <a16:colId xmlns:a16="http://schemas.microsoft.com/office/drawing/2014/main" val="3811358726"/>
                    </a:ext>
                  </a:extLst>
                </a:gridCol>
                <a:gridCol w="266565">
                  <a:extLst>
                    <a:ext uri="{9D8B030D-6E8A-4147-A177-3AD203B41FA5}">
                      <a16:colId xmlns:a16="http://schemas.microsoft.com/office/drawing/2014/main" val="2527660299"/>
                    </a:ext>
                  </a:extLst>
                </a:gridCol>
                <a:gridCol w="384033">
                  <a:extLst>
                    <a:ext uri="{9D8B030D-6E8A-4147-A177-3AD203B41FA5}">
                      <a16:colId xmlns:a16="http://schemas.microsoft.com/office/drawing/2014/main" val="3641075278"/>
                    </a:ext>
                  </a:extLst>
                </a:gridCol>
                <a:gridCol w="841541">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Interim charge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2</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0" name="表格 9">
            <a:extLst>
              <a:ext uri="{FF2B5EF4-FFF2-40B4-BE49-F238E27FC236}">
                <a16:creationId xmlns:a16="http://schemas.microsoft.com/office/drawing/2014/main" id="{AC7C455E-2CC6-B2E4-D891-6F845D62DE9F}"/>
              </a:ext>
            </a:extLst>
          </p:cNvPr>
          <p:cNvGraphicFramePr>
            <a:graphicFrameLocks noGrp="1"/>
          </p:cNvGraphicFramePr>
          <p:nvPr>
            <p:extLst>
              <p:ext uri="{D42A27DB-BD31-4B8C-83A1-F6EECF244321}">
                <p14:modId xmlns:p14="http://schemas.microsoft.com/office/powerpoint/2010/main" val="1248851696"/>
              </p:ext>
            </p:extLst>
          </p:nvPr>
        </p:nvGraphicFramePr>
        <p:xfrm>
          <a:off x="110309" y="4781365"/>
          <a:ext cx="5901002" cy="1143743"/>
        </p:xfrm>
        <a:graphic>
          <a:graphicData uri="http://schemas.openxmlformats.org/drawingml/2006/table">
            <a:tbl>
              <a:tblPr/>
              <a:tblGrid>
                <a:gridCol w="417685">
                  <a:extLst>
                    <a:ext uri="{9D8B030D-6E8A-4147-A177-3AD203B41FA5}">
                      <a16:colId xmlns:a16="http://schemas.microsoft.com/office/drawing/2014/main" val="495084399"/>
                    </a:ext>
                  </a:extLst>
                </a:gridCol>
                <a:gridCol w="238739">
                  <a:extLst>
                    <a:ext uri="{9D8B030D-6E8A-4147-A177-3AD203B41FA5}">
                      <a16:colId xmlns:a16="http://schemas.microsoft.com/office/drawing/2014/main" val="3614210242"/>
                    </a:ext>
                  </a:extLst>
                </a:gridCol>
                <a:gridCol w="550010">
                  <a:extLst>
                    <a:ext uri="{9D8B030D-6E8A-4147-A177-3AD203B41FA5}">
                      <a16:colId xmlns:a16="http://schemas.microsoft.com/office/drawing/2014/main" val="1442124609"/>
                    </a:ext>
                  </a:extLst>
                </a:gridCol>
                <a:gridCol w="1858828">
                  <a:extLst>
                    <a:ext uri="{9D8B030D-6E8A-4147-A177-3AD203B41FA5}">
                      <a16:colId xmlns:a16="http://schemas.microsoft.com/office/drawing/2014/main" val="3603859997"/>
                    </a:ext>
                  </a:extLst>
                </a:gridCol>
                <a:gridCol w="358693">
                  <a:extLst>
                    <a:ext uri="{9D8B030D-6E8A-4147-A177-3AD203B41FA5}">
                      <a16:colId xmlns:a16="http://schemas.microsoft.com/office/drawing/2014/main" val="4076488391"/>
                    </a:ext>
                  </a:extLst>
                </a:gridCol>
                <a:gridCol w="358693">
                  <a:extLst>
                    <a:ext uri="{9D8B030D-6E8A-4147-A177-3AD203B41FA5}">
                      <a16:colId xmlns:a16="http://schemas.microsoft.com/office/drawing/2014/main" val="3254101706"/>
                    </a:ext>
                  </a:extLst>
                </a:gridCol>
                <a:gridCol w="348599">
                  <a:extLst>
                    <a:ext uri="{9D8B030D-6E8A-4147-A177-3AD203B41FA5}">
                      <a16:colId xmlns:a16="http://schemas.microsoft.com/office/drawing/2014/main" val="3712391277"/>
                    </a:ext>
                  </a:extLst>
                </a:gridCol>
                <a:gridCol w="263152">
                  <a:extLst>
                    <a:ext uri="{9D8B030D-6E8A-4147-A177-3AD203B41FA5}">
                      <a16:colId xmlns:a16="http://schemas.microsoft.com/office/drawing/2014/main" val="4118002695"/>
                    </a:ext>
                  </a:extLst>
                </a:gridCol>
                <a:gridCol w="263152">
                  <a:extLst>
                    <a:ext uri="{9D8B030D-6E8A-4147-A177-3AD203B41FA5}">
                      <a16:colId xmlns:a16="http://schemas.microsoft.com/office/drawing/2014/main" val="2527660299"/>
                    </a:ext>
                  </a:extLst>
                </a:gridCol>
                <a:gridCol w="379115">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interim charge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
        <p:nvSpPr>
          <p:cNvPr id="12" name="对话气泡: 矩形 11">
            <a:extLst>
              <a:ext uri="{FF2B5EF4-FFF2-40B4-BE49-F238E27FC236}">
                <a16:creationId xmlns:a16="http://schemas.microsoft.com/office/drawing/2014/main" id="{1292FA25-FE7C-C83D-8E0E-7DE79A447BD1}"/>
              </a:ext>
            </a:extLst>
          </p:cNvPr>
          <p:cNvSpPr/>
          <p:nvPr/>
        </p:nvSpPr>
        <p:spPr>
          <a:xfrm>
            <a:off x="-1285769" y="3048036"/>
            <a:ext cx="1285769" cy="1246874"/>
          </a:xfrm>
          <a:prstGeom prst="wedgeRectCallout">
            <a:avLst>
              <a:gd name="adj1" fmla="val 106946"/>
              <a:gd name="adj2" fmla="val -55583"/>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Upfront service should be trigger by customer acceptance?</a:t>
            </a:r>
          </a:p>
        </p:txBody>
      </p:sp>
      <p:graphicFrame>
        <p:nvGraphicFramePr>
          <p:cNvPr id="14" name="Table 4">
            <a:extLst>
              <a:ext uri="{FF2B5EF4-FFF2-40B4-BE49-F238E27FC236}">
                <a16:creationId xmlns:a16="http://schemas.microsoft.com/office/drawing/2014/main" id="{320A2678-FB12-28ED-1EDE-AC119D5E630D}"/>
              </a:ext>
            </a:extLst>
          </p:cNvPr>
          <p:cNvGraphicFramePr>
            <a:graphicFrameLocks noGrp="1"/>
          </p:cNvGraphicFramePr>
          <p:nvPr>
            <p:extLst>
              <p:ext uri="{D42A27DB-BD31-4B8C-83A1-F6EECF244321}">
                <p14:modId xmlns:p14="http://schemas.microsoft.com/office/powerpoint/2010/main" val="3166396638"/>
              </p:ext>
            </p:extLst>
          </p:nvPr>
        </p:nvGraphicFramePr>
        <p:xfrm>
          <a:off x="119545" y="5934344"/>
          <a:ext cx="5826915" cy="918845"/>
        </p:xfrm>
        <a:graphic>
          <a:graphicData uri="http://schemas.openxmlformats.org/drawingml/2006/table">
            <a:tbl>
              <a:tblPr firstRow="1">
                <a:tableStyleId>{5C22544A-7EE6-4342-B048-85BDC9FD1C3A}</a:tableStyleId>
              </a:tblPr>
              <a:tblGrid>
                <a:gridCol w="406355">
                  <a:extLst>
                    <a:ext uri="{9D8B030D-6E8A-4147-A177-3AD203B41FA5}">
                      <a16:colId xmlns:a16="http://schemas.microsoft.com/office/drawing/2014/main" val="3200314054"/>
                    </a:ext>
                  </a:extLst>
                </a:gridCol>
                <a:gridCol w="338939">
                  <a:extLst>
                    <a:ext uri="{9D8B030D-6E8A-4147-A177-3AD203B41FA5}">
                      <a16:colId xmlns:a16="http://schemas.microsoft.com/office/drawing/2014/main" val="1913271583"/>
                    </a:ext>
                  </a:extLst>
                </a:gridCol>
                <a:gridCol w="781148">
                  <a:extLst>
                    <a:ext uri="{9D8B030D-6E8A-4147-A177-3AD203B41FA5}">
                      <a16:colId xmlns:a16="http://schemas.microsoft.com/office/drawing/2014/main" val="1797281345"/>
                    </a:ext>
                  </a:extLst>
                </a:gridCol>
                <a:gridCol w="1520825">
                  <a:extLst>
                    <a:ext uri="{9D8B030D-6E8A-4147-A177-3AD203B41FA5}">
                      <a16:colId xmlns:a16="http://schemas.microsoft.com/office/drawing/2014/main" val="2743739350"/>
                    </a:ext>
                  </a:extLst>
                </a:gridCol>
                <a:gridCol w="212179">
                  <a:extLst>
                    <a:ext uri="{9D8B030D-6E8A-4147-A177-3AD203B41FA5}">
                      <a16:colId xmlns:a16="http://schemas.microsoft.com/office/drawing/2014/main" val="2056723756"/>
                    </a:ext>
                  </a:extLst>
                </a:gridCol>
                <a:gridCol w="254939">
                  <a:extLst>
                    <a:ext uri="{9D8B030D-6E8A-4147-A177-3AD203B41FA5}">
                      <a16:colId xmlns:a16="http://schemas.microsoft.com/office/drawing/2014/main" val="4073315665"/>
                    </a:ext>
                  </a:extLst>
                </a:gridCol>
                <a:gridCol w="271793">
                  <a:extLst>
                    <a:ext uri="{9D8B030D-6E8A-4147-A177-3AD203B41FA5}">
                      <a16:colId xmlns:a16="http://schemas.microsoft.com/office/drawing/2014/main" val="848560102"/>
                    </a:ext>
                  </a:extLst>
                </a:gridCol>
                <a:gridCol w="1147735">
                  <a:extLst>
                    <a:ext uri="{9D8B030D-6E8A-4147-A177-3AD203B41FA5}">
                      <a16:colId xmlns:a16="http://schemas.microsoft.com/office/drawing/2014/main" val="3517165790"/>
                    </a:ext>
                  </a:extLst>
                </a:gridCol>
                <a:gridCol w="235977">
                  <a:extLst>
                    <a:ext uri="{9D8B030D-6E8A-4147-A177-3AD203B41FA5}">
                      <a16:colId xmlns:a16="http://schemas.microsoft.com/office/drawing/2014/main" val="1302892407"/>
                    </a:ext>
                  </a:extLst>
                </a:gridCol>
                <a:gridCol w="415066">
                  <a:extLst>
                    <a:ext uri="{9D8B030D-6E8A-4147-A177-3AD203B41FA5}">
                      <a16:colId xmlns:a16="http://schemas.microsoft.com/office/drawing/2014/main" val="1503828343"/>
                    </a:ext>
                  </a:extLst>
                </a:gridCol>
                <a:gridCol w="241959">
                  <a:extLst>
                    <a:ext uri="{9D8B030D-6E8A-4147-A177-3AD203B41FA5}">
                      <a16:colId xmlns:a16="http://schemas.microsoft.com/office/drawing/2014/main" val="994416591"/>
                    </a:ext>
                  </a:extLst>
                </a:gridCol>
              </a:tblGrid>
              <a:tr h="75663">
                <a:tc rowSpan="5">
                  <a:txBody>
                    <a:bodyPr/>
                    <a:lstStyle/>
                    <a:p>
                      <a:pPr algn="ctr" fontAlgn="ctr"/>
                      <a:r>
                        <a:rPr lang="en-US" sz="900" b="1" i="0" u="none" strike="noStrike" kern="1200">
                          <a:solidFill>
                            <a:srgbClr val="FFFFFF"/>
                          </a:solidFill>
                          <a:effectLst/>
                          <a:latin typeface="Arial" panose="020B0604020202020204" pitchFamily="34" charset="0"/>
                          <a:ea typeface="+mn-ea"/>
                          <a:cs typeface="+mn-cs"/>
                        </a:rPr>
                        <a:t>S&amp;D</a:t>
                      </a:r>
                      <a:br>
                        <a:rPr lang="en-US" sz="900" b="1" i="0" u="none" strike="noStrike" kern="1200">
                          <a:solidFill>
                            <a:srgbClr val="FFFFFF"/>
                          </a:solidFill>
                          <a:effectLst/>
                          <a:latin typeface="Arial" panose="020B0604020202020204" pitchFamily="34" charset="0"/>
                          <a:ea typeface="+mn-ea"/>
                          <a:cs typeface="+mn-cs"/>
                        </a:rPr>
                      </a:br>
                      <a:r>
                        <a:rPr lang="en-US" sz="900" b="1" i="0" u="none" strike="noStrike" kern="1200">
                          <a:solidFill>
                            <a:srgbClr val="FFFFFF"/>
                          </a:solidFill>
                          <a:effectLst/>
                          <a:latin typeface="Arial" panose="020B0604020202020204" pitchFamily="34" charset="0"/>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800" b="1" i="0" u="none" strike="noStrike" kern="1200">
                          <a:solidFill>
                            <a:srgbClr val="FFFFFF"/>
                          </a:solidFill>
                          <a:effectLst/>
                          <a:latin typeface="Arial" panose="020B0604020202020204" pitchFamily="34" charset="0"/>
                          <a:ea typeface="+mn-ea"/>
                          <a:cs typeface="+mn-cs"/>
                        </a:rPr>
                        <a:t>Interim period month end depreciation</a:t>
                      </a:r>
                      <a:endParaRPr lang="en-US" sz="800" b="1" i="0" u="none" strike="noStrike" kern="1200">
                        <a:solidFill>
                          <a:srgbClr val="FFFFFF"/>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75663">
                <a:tc vMerge="1">
                  <a:txBody>
                    <a:bodyPr/>
                    <a:lstStyle/>
                    <a:p>
                      <a:endParaRPr lang="zh-CN" altLang="en-US"/>
                    </a:p>
                  </a:txBody>
                  <a:tcPr/>
                </a:tc>
                <a:tc gridSpan="10">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Monthly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071602826"/>
                  </a:ext>
                </a:extLst>
              </a:tr>
              <a:tr h="75663">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TP</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WBS</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2093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4060110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ctr"/>
                      <a:r>
                        <a:rPr lang="en-US" sz="1000" b="0" i="0" u="none" strike="noStrike" kern="1200">
                          <a:solidFill>
                            <a:srgbClr val="000000"/>
                          </a:solidFill>
                          <a:effectLst/>
                          <a:latin typeface="+mn-lt"/>
                          <a:ea typeface="等线"/>
                          <a:cs typeface="+mn-cs"/>
                        </a:rPr>
                        <a:t>Depreciation Expense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等线"/>
                          <a:cs typeface="+mn-cs"/>
                        </a:rPr>
                        <a:t>30 - DAAS</a:t>
                      </a:r>
                    </a:p>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等线"/>
                          <a:cs typeface="+mn-cs"/>
                        </a:rPr>
                        <a:t>X*-ISGLEASE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965704776"/>
                  </a:ext>
                </a:extLst>
              </a:tr>
              <a:tr h="7717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1651550</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lang="en-US" sz="1000" b="0" i="0" u="none" strike="noStrike">
                          <a:solidFill>
                            <a:schemeClr val="tx1"/>
                          </a:solidFill>
                          <a:effectLst/>
                          <a:latin typeface="+mn-lt"/>
                        </a:rPr>
                        <a:t>Accumulated Depreciation</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704665907"/>
                  </a:ext>
                </a:extLst>
              </a:tr>
            </a:tbl>
          </a:graphicData>
        </a:graphic>
      </p:graphicFrame>
    </p:spTree>
    <p:extLst>
      <p:ext uri="{BB962C8B-B14F-4D97-AF65-F5344CB8AC3E}">
        <p14:creationId xmlns:p14="http://schemas.microsoft.com/office/powerpoint/2010/main" val="2648811621"/>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Title 10">
            <a:extLst>
              <a:ext uri="{FF2B5EF4-FFF2-40B4-BE49-F238E27FC236}">
                <a16:creationId xmlns:a16="http://schemas.microsoft.com/office/drawing/2014/main" id="{93F17206-AB05-2462-B402-325120258B1C}"/>
              </a:ext>
            </a:extLst>
          </p:cNvPr>
          <p:cNvSpPr txBox="1">
            <a:spLocks/>
          </p:cNvSpPr>
          <p:nvPr/>
        </p:nvSpPr>
        <p:spPr>
          <a:xfrm>
            <a:off x="183838" y="236355"/>
            <a:ext cx="635031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Interim charge treated as part of </a:t>
            </a:r>
            <a:r>
              <a:rPr kumimoji="0" lang="en-US" altLang="zh-CN" sz="2000" b="1" i="0" u="none" strike="noStrike" kern="1200" cap="none" spc="0" normalizeH="0" baseline="0" noProof="0" err="1">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leasing|AFE|OL</a:t>
            </a: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  </a:t>
            </a:r>
          </a:p>
        </p:txBody>
      </p:sp>
      <p:sp>
        <p:nvSpPr>
          <p:cNvPr id="7" name="对话气泡: 矩形 6">
            <a:extLst>
              <a:ext uri="{FF2B5EF4-FFF2-40B4-BE49-F238E27FC236}">
                <a16:creationId xmlns:a16="http://schemas.microsoft.com/office/drawing/2014/main" id="{2C9571F8-19C6-5E31-DCC8-A66A49DB70D9}"/>
              </a:ext>
            </a:extLst>
          </p:cNvPr>
          <p:cNvSpPr/>
          <p:nvPr/>
        </p:nvSpPr>
        <p:spPr>
          <a:xfrm>
            <a:off x="-1285876" y="3786944"/>
            <a:ext cx="1285769" cy="2451931"/>
          </a:xfrm>
          <a:prstGeom prst="wedgeRectCallout">
            <a:avLst>
              <a:gd name="adj1" fmla="val 66000"/>
              <a:gd name="adj2" fmla="val -5928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Assumption:</a:t>
            </a:r>
          </a:p>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Front end should pass interim charge amt when customer acceptance or before acceptance month end</a:t>
            </a:r>
          </a:p>
        </p:txBody>
      </p:sp>
      <p:graphicFrame>
        <p:nvGraphicFramePr>
          <p:cNvPr id="15" name="表格 14">
            <a:extLst>
              <a:ext uri="{FF2B5EF4-FFF2-40B4-BE49-F238E27FC236}">
                <a16:creationId xmlns:a16="http://schemas.microsoft.com/office/drawing/2014/main" id="{99A1F9B9-713E-9850-7E49-113878D6B782}"/>
              </a:ext>
            </a:extLst>
          </p:cNvPr>
          <p:cNvGraphicFramePr>
            <a:graphicFrameLocks noGrp="1"/>
          </p:cNvGraphicFramePr>
          <p:nvPr>
            <p:extLst>
              <p:ext uri="{D42A27DB-BD31-4B8C-83A1-F6EECF244321}">
                <p14:modId xmlns:p14="http://schemas.microsoft.com/office/powerpoint/2010/main" val="1417401894"/>
              </p:ext>
            </p:extLst>
          </p:nvPr>
        </p:nvGraphicFramePr>
        <p:xfrm>
          <a:off x="141676" y="2334066"/>
          <a:ext cx="5915467" cy="13276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78843">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52203991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17" name="表格 16">
            <a:extLst>
              <a:ext uri="{FF2B5EF4-FFF2-40B4-BE49-F238E27FC236}">
                <a16:creationId xmlns:a16="http://schemas.microsoft.com/office/drawing/2014/main" id="{D5F671B4-C2B2-40C3-19D1-1202D761B076}"/>
              </a:ext>
            </a:extLst>
          </p:cNvPr>
          <p:cNvGraphicFramePr>
            <a:graphicFrameLocks noGrp="1"/>
          </p:cNvGraphicFramePr>
          <p:nvPr>
            <p:extLst>
              <p:ext uri="{D42A27DB-BD31-4B8C-83A1-F6EECF244321}">
                <p14:modId xmlns:p14="http://schemas.microsoft.com/office/powerpoint/2010/main" val="1743651094"/>
              </p:ext>
            </p:extLst>
          </p:nvPr>
        </p:nvGraphicFramePr>
        <p:xfrm>
          <a:off x="129498" y="4071626"/>
          <a:ext cx="5915467" cy="1480026"/>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159723">
                  <a:extLst>
                    <a:ext uri="{9D8B030D-6E8A-4147-A177-3AD203B41FA5}">
                      <a16:colId xmlns:a16="http://schemas.microsoft.com/office/drawing/2014/main" val="3603859997"/>
                    </a:ext>
                  </a:extLst>
                </a:gridCol>
                <a:gridCol w="193522">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19" name="Table 4">
            <a:extLst>
              <a:ext uri="{FF2B5EF4-FFF2-40B4-BE49-F238E27FC236}">
                <a16:creationId xmlns:a16="http://schemas.microsoft.com/office/drawing/2014/main" id="{457AB321-3D93-6C42-402A-FDEF5101FAFE}"/>
              </a:ext>
            </a:extLst>
          </p:cNvPr>
          <p:cNvGraphicFramePr>
            <a:graphicFrameLocks noGrp="1"/>
          </p:cNvGraphicFramePr>
          <p:nvPr>
            <p:extLst>
              <p:ext uri="{D42A27DB-BD31-4B8C-83A1-F6EECF244321}">
                <p14:modId xmlns:p14="http://schemas.microsoft.com/office/powerpoint/2010/main" val="1701966931"/>
              </p:ext>
            </p:extLst>
          </p:nvPr>
        </p:nvGraphicFramePr>
        <p:xfrm>
          <a:off x="6147037" y="5001838"/>
          <a:ext cx="5826915" cy="918845"/>
        </p:xfrm>
        <a:graphic>
          <a:graphicData uri="http://schemas.openxmlformats.org/drawingml/2006/table">
            <a:tbl>
              <a:tblPr firstRow="1">
                <a:tableStyleId>{5C22544A-7EE6-4342-B048-85BDC9FD1C3A}</a:tableStyleId>
              </a:tblPr>
              <a:tblGrid>
                <a:gridCol w="406355">
                  <a:extLst>
                    <a:ext uri="{9D8B030D-6E8A-4147-A177-3AD203B41FA5}">
                      <a16:colId xmlns:a16="http://schemas.microsoft.com/office/drawing/2014/main" val="3200314054"/>
                    </a:ext>
                  </a:extLst>
                </a:gridCol>
                <a:gridCol w="338939">
                  <a:extLst>
                    <a:ext uri="{9D8B030D-6E8A-4147-A177-3AD203B41FA5}">
                      <a16:colId xmlns:a16="http://schemas.microsoft.com/office/drawing/2014/main" val="1913271583"/>
                    </a:ext>
                  </a:extLst>
                </a:gridCol>
                <a:gridCol w="781148">
                  <a:extLst>
                    <a:ext uri="{9D8B030D-6E8A-4147-A177-3AD203B41FA5}">
                      <a16:colId xmlns:a16="http://schemas.microsoft.com/office/drawing/2014/main" val="1797281345"/>
                    </a:ext>
                  </a:extLst>
                </a:gridCol>
                <a:gridCol w="1520825">
                  <a:extLst>
                    <a:ext uri="{9D8B030D-6E8A-4147-A177-3AD203B41FA5}">
                      <a16:colId xmlns:a16="http://schemas.microsoft.com/office/drawing/2014/main" val="2743739350"/>
                    </a:ext>
                  </a:extLst>
                </a:gridCol>
                <a:gridCol w="212179">
                  <a:extLst>
                    <a:ext uri="{9D8B030D-6E8A-4147-A177-3AD203B41FA5}">
                      <a16:colId xmlns:a16="http://schemas.microsoft.com/office/drawing/2014/main" val="2056723756"/>
                    </a:ext>
                  </a:extLst>
                </a:gridCol>
                <a:gridCol w="254939">
                  <a:extLst>
                    <a:ext uri="{9D8B030D-6E8A-4147-A177-3AD203B41FA5}">
                      <a16:colId xmlns:a16="http://schemas.microsoft.com/office/drawing/2014/main" val="4073315665"/>
                    </a:ext>
                  </a:extLst>
                </a:gridCol>
                <a:gridCol w="271793">
                  <a:extLst>
                    <a:ext uri="{9D8B030D-6E8A-4147-A177-3AD203B41FA5}">
                      <a16:colId xmlns:a16="http://schemas.microsoft.com/office/drawing/2014/main" val="848560102"/>
                    </a:ext>
                  </a:extLst>
                </a:gridCol>
                <a:gridCol w="1147735">
                  <a:extLst>
                    <a:ext uri="{9D8B030D-6E8A-4147-A177-3AD203B41FA5}">
                      <a16:colId xmlns:a16="http://schemas.microsoft.com/office/drawing/2014/main" val="3517165790"/>
                    </a:ext>
                  </a:extLst>
                </a:gridCol>
                <a:gridCol w="235977">
                  <a:extLst>
                    <a:ext uri="{9D8B030D-6E8A-4147-A177-3AD203B41FA5}">
                      <a16:colId xmlns:a16="http://schemas.microsoft.com/office/drawing/2014/main" val="1302892407"/>
                    </a:ext>
                  </a:extLst>
                </a:gridCol>
                <a:gridCol w="415066">
                  <a:extLst>
                    <a:ext uri="{9D8B030D-6E8A-4147-A177-3AD203B41FA5}">
                      <a16:colId xmlns:a16="http://schemas.microsoft.com/office/drawing/2014/main" val="1503828343"/>
                    </a:ext>
                  </a:extLst>
                </a:gridCol>
                <a:gridCol w="241959">
                  <a:extLst>
                    <a:ext uri="{9D8B030D-6E8A-4147-A177-3AD203B41FA5}">
                      <a16:colId xmlns:a16="http://schemas.microsoft.com/office/drawing/2014/main" val="994416591"/>
                    </a:ext>
                  </a:extLst>
                </a:gridCol>
              </a:tblGrid>
              <a:tr h="75663">
                <a:tc rowSpan="5">
                  <a:txBody>
                    <a:bodyPr/>
                    <a:lstStyle/>
                    <a:p>
                      <a:pPr algn="ctr" fontAlgn="ctr"/>
                      <a:r>
                        <a:rPr lang="en-US" sz="900" b="1" i="0" u="none" strike="noStrike" kern="1200">
                          <a:solidFill>
                            <a:srgbClr val="FFFFFF"/>
                          </a:solidFill>
                          <a:effectLst/>
                          <a:latin typeface="Arial" panose="020B0604020202020204" pitchFamily="34" charset="0"/>
                          <a:ea typeface="+mn-ea"/>
                          <a:cs typeface="+mn-cs"/>
                        </a:rPr>
                        <a:t>S&amp;D</a:t>
                      </a:r>
                      <a:br>
                        <a:rPr lang="en-US" sz="900" b="1" i="0" u="none" strike="noStrike" kern="1200">
                          <a:solidFill>
                            <a:srgbClr val="FFFFFF"/>
                          </a:solidFill>
                          <a:effectLst/>
                          <a:latin typeface="Arial" panose="020B0604020202020204" pitchFamily="34" charset="0"/>
                          <a:ea typeface="+mn-ea"/>
                          <a:cs typeface="+mn-cs"/>
                        </a:rPr>
                      </a:br>
                      <a:r>
                        <a:rPr lang="en-US" sz="900" b="1" i="0" u="none" strike="noStrike" kern="1200">
                          <a:solidFill>
                            <a:srgbClr val="FFFFFF"/>
                          </a:solidFill>
                          <a:effectLst/>
                          <a:latin typeface="Arial" panose="020B0604020202020204" pitchFamily="34" charset="0"/>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800" b="1" i="0" u="none" strike="noStrike" kern="1200">
                          <a:solidFill>
                            <a:srgbClr val="FFFFFF"/>
                          </a:solidFill>
                          <a:effectLst/>
                          <a:latin typeface="Arial" panose="020B0604020202020204" pitchFamily="34" charset="0"/>
                          <a:ea typeface="+mn-ea"/>
                          <a:cs typeface="+mn-cs"/>
                        </a:rPr>
                        <a:t>Month end depreciation</a:t>
                      </a:r>
                      <a:endParaRPr lang="en-US" sz="800" b="1" i="0" u="none" strike="noStrike" kern="1200">
                        <a:solidFill>
                          <a:srgbClr val="FFFFFF"/>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75663">
                <a:tc vMerge="1">
                  <a:txBody>
                    <a:bodyPr/>
                    <a:lstStyle/>
                    <a:p>
                      <a:endParaRPr lang="zh-CN" altLang="en-US"/>
                    </a:p>
                  </a:txBody>
                  <a:tcPr/>
                </a:tc>
                <a:tc gridSpan="10">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Monthly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hMerge="1">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071602826"/>
                  </a:ext>
                </a:extLst>
              </a:tr>
              <a:tr h="75663">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TP</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WBS</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2093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4060110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ctr"/>
                      <a:r>
                        <a:rPr lang="en-US" sz="1000" b="0" i="0" u="none" strike="noStrike" kern="1200">
                          <a:solidFill>
                            <a:srgbClr val="000000"/>
                          </a:solidFill>
                          <a:effectLst/>
                          <a:latin typeface="+mn-lt"/>
                          <a:ea typeface="等线"/>
                          <a:cs typeface="+mn-cs"/>
                        </a:rPr>
                        <a:t>Depreciation Expense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等线"/>
                          <a:cs typeface="+mn-cs"/>
                        </a:rPr>
                        <a:t>30 - DAAS</a:t>
                      </a:r>
                    </a:p>
                    <a:p>
                      <a:pPr marL="0" marR="0" lvl="0" indent="0" algn="ctr" defTabSz="914400" rtl="0" eaLnBrk="1" fontAlgn="auto"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mn-lt"/>
                          <a:ea typeface="等线"/>
                          <a:cs typeface="+mn-cs"/>
                        </a:rPr>
                        <a:t>X*-ISGLEASE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965704776"/>
                  </a:ext>
                </a:extLst>
              </a:tr>
              <a:tr h="7717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1651550</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lang="en-US" sz="1000" b="0" i="0" u="none" strike="noStrike">
                          <a:solidFill>
                            <a:schemeClr val="tx1"/>
                          </a:solidFill>
                          <a:effectLst/>
                          <a:latin typeface="+mn-lt"/>
                        </a:rPr>
                        <a:t>Accumulated Depreciation</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704665907"/>
                  </a:ext>
                </a:extLst>
              </a:tr>
            </a:tbl>
          </a:graphicData>
        </a:graphic>
      </p:graphicFrame>
      <p:graphicFrame>
        <p:nvGraphicFramePr>
          <p:cNvPr id="21" name="表格 20">
            <a:extLst>
              <a:ext uri="{FF2B5EF4-FFF2-40B4-BE49-F238E27FC236}">
                <a16:creationId xmlns:a16="http://schemas.microsoft.com/office/drawing/2014/main" id="{D058CC06-2C28-D999-97E0-597501A97FCC}"/>
              </a:ext>
            </a:extLst>
          </p:cNvPr>
          <p:cNvGraphicFramePr>
            <a:graphicFrameLocks noGrp="1"/>
          </p:cNvGraphicFramePr>
          <p:nvPr>
            <p:extLst>
              <p:ext uri="{D42A27DB-BD31-4B8C-83A1-F6EECF244321}">
                <p14:modId xmlns:p14="http://schemas.microsoft.com/office/powerpoint/2010/main" val="180311275"/>
              </p:ext>
            </p:extLst>
          </p:nvPr>
        </p:nvGraphicFramePr>
        <p:xfrm>
          <a:off x="6096000" y="0"/>
          <a:ext cx="6110589" cy="2053580"/>
        </p:xfrm>
        <a:graphic>
          <a:graphicData uri="http://schemas.openxmlformats.org/drawingml/2006/table">
            <a:tbl>
              <a:tblPr/>
              <a:tblGrid>
                <a:gridCol w="430619">
                  <a:extLst>
                    <a:ext uri="{9D8B030D-6E8A-4147-A177-3AD203B41FA5}">
                      <a16:colId xmlns:a16="http://schemas.microsoft.com/office/drawing/2014/main" val="495084399"/>
                    </a:ext>
                  </a:extLst>
                </a:gridCol>
                <a:gridCol w="236776">
                  <a:extLst>
                    <a:ext uri="{9D8B030D-6E8A-4147-A177-3AD203B41FA5}">
                      <a16:colId xmlns:a16="http://schemas.microsoft.com/office/drawing/2014/main" val="3614210242"/>
                    </a:ext>
                  </a:extLst>
                </a:gridCol>
                <a:gridCol w="563496">
                  <a:extLst>
                    <a:ext uri="{9D8B030D-6E8A-4147-A177-3AD203B41FA5}">
                      <a16:colId xmlns:a16="http://schemas.microsoft.com/office/drawing/2014/main" val="1442124609"/>
                    </a:ext>
                  </a:extLst>
                </a:gridCol>
                <a:gridCol w="2048225">
                  <a:extLst>
                    <a:ext uri="{9D8B030D-6E8A-4147-A177-3AD203B41FA5}">
                      <a16:colId xmlns:a16="http://schemas.microsoft.com/office/drawing/2014/main" val="3603859997"/>
                    </a:ext>
                  </a:extLst>
                </a:gridCol>
                <a:gridCol w="399354">
                  <a:extLst>
                    <a:ext uri="{9D8B030D-6E8A-4147-A177-3AD203B41FA5}">
                      <a16:colId xmlns:a16="http://schemas.microsoft.com/office/drawing/2014/main" val="4076488391"/>
                    </a:ext>
                  </a:extLst>
                </a:gridCol>
                <a:gridCol w="399354">
                  <a:extLst>
                    <a:ext uri="{9D8B030D-6E8A-4147-A177-3AD203B41FA5}">
                      <a16:colId xmlns:a16="http://schemas.microsoft.com/office/drawing/2014/main" val="3254101706"/>
                    </a:ext>
                  </a:extLst>
                </a:gridCol>
                <a:gridCol w="259418">
                  <a:extLst>
                    <a:ext uri="{9D8B030D-6E8A-4147-A177-3AD203B41FA5}">
                      <a16:colId xmlns:a16="http://schemas.microsoft.com/office/drawing/2014/main" val="3712391277"/>
                    </a:ext>
                  </a:extLst>
                </a:gridCol>
                <a:gridCol w="582255">
                  <a:extLst>
                    <a:ext uri="{9D8B030D-6E8A-4147-A177-3AD203B41FA5}">
                      <a16:colId xmlns:a16="http://schemas.microsoft.com/office/drawing/2014/main" val="134131131"/>
                    </a:ext>
                  </a:extLst>
                </a:gridCol>
                <a:gridCol w="332401">
                  <a:extLst>
                    <a:ext uri="{9D8B030D-6E8A-4147-A177-3AD203B41FA5}">
                      <a16:colId xmlns:a16="http://schemas.microsoft.com/office/drawing/2014/main" val="2527660299"/>
                    </a:ext>
                  </a:extLst>
                </a:gridCol>
                <a:gridCol w="366228">
                  <a:extLst>
                    <a:ext uri="{9D8B030D-6E8A-4147-A177-3AD203B41FA5}">
                      <a16:colId xmlns:a16="http://schemas.microsoft.com/office/drawing/2014/main" val="3641075278"/>
                    </a:ext>
                  </a:extLst>
                </a:gridCol>
                <a:gridCol w="492463">
                  <a:extLst>
                    <a:ext uri="{9D8B030D-6E8A-4147-A177-3AD203B41FA5}">
                      <a16:colId xmlns:a16="http://schemas.microsoft.com/office/drawing/2014/main" val="3618613915"/>
                    </a:ext>
                  </a:extLst>
                </a:gridCol>
              </a:tblGrid>
              <a:tr h="164026">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&amp; Interim billing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6942">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At the beginning of the quarter</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694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694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187.3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altLang="zh-CN" sz="900" b="0" i="0" u="none" strike="noStrike">
                          <a:solidFill>
                            <a:srgbClr val="000000"/>
                          </a:solidFill>
                          <a:effectLst/>
                          <a:latin typeface="Arial" panose="020B0604020202020204" pitchFamily="34" charset="0"/>
                        </a:rPr>
                        <a:t>187.3</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694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Unbilled AR(extent to interim line)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79426"/>
                  </a:ext>
                </a:extLst>
              </a:tr>
              <a:tr h="29521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631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sngStrike" kern="1200">
                          <a:solidFill>
                            <a:srgbClr val="000000"/>
                          </a:solidFill>
                          <a:effectLst/>
                          <a:latin typeface="Arial" panose="020B0604020202020204" pitchFamily="34" charset="0"/>
                          <a:ea typeface="+mn-ea"/>
                          <a:cs typeface="+mn-cs"/>
                        </a:rPr>
                        <a:t>A</a:t>
                      </a:r>
                      <a:r>
                        <a:rPr lang="en-US" altLang="zh-CN" sz="900" b="0" i="0" u="none" strike="sngStrike" kern="1200">
                          <a:solidFill>
                            <a:srgbClr val="000000"/>
                          </a:solidFill>
                          <a:effectLst/>
                          <a:latin typeface="Arial" panose="020B0604020202020204" pitchFamily="34" charset="0"/>
                          <a:ea typeface="+mn-ea"/>
                          <a:cs typeface="+mn-cs"/>
                        </a:rPr>
                        <a:t>cc Receivable</a:t>
                      </a:r>
                      <a:r>
                        <a:rPr lang="en-US" sz="900" b="0" i="0" u="none" strike="sngStrike" kern="1200">
                          <a:solidFill>
                            <a:srgbClr val="000000"/>
                          </a:solidFill>
                          <a:effectLst/>
                          <a:latin typeface="Arial" panose="020B0604020202020204" pitchFamily="34" charset="0"/>
                          <a:ea typeface="+mn-ea"/>
                          <a:cs typeface="+mn-cs"/>
                        </a:rPr>
                        <a:t>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sng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altLang="zh-CN" sz="900" b="0" i="0" u="none" strike="sng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endParaRPr lang="en-US" altLang="zh-CN" sz="900" b="0" i="0" u="none" strike="sng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sng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40612593"/>
                  </a:ext>
                </a:extLst>
              </a:tr>
              <a:tr h="1631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631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1631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23" name="表格 22">
            <a:extLst>
              <a:ext uri="{FF2B5EF4-FFF2-40B4-BE49-F238E27FC236}">
                <a16:creationId xmlns:a16="http://schemas.microsoft.com/office/drawing/2014/main" id="{D2484D68-854A-F2E9-32E4-E0BF0ED9455D}"/>
              </a:ext>
            </a:extLst>
          </p:cNvPr>
          <p:cNvGraphicFramePr>
            <a:graphicFrameLocks noGrp="1"/>
          </p:cNvGraphicFramePr>
          <p:nvPr>
            <p:extLst>
              <p:ext uri="{D42A27DB-BD31-4B8C-83A1-F6EECF244321}">
                <p14:modId xmlns:p14="http://schemas.microsoft.com/office/powerpoint/2010/main" val="2873526304"/>
              </p:ext>
            </p:extLst>
          </p:nvPr>
        </p:nvGraphicFramePr>
        <p:xfrm>
          <a:off x="6096000" y="2245437"/>
          <a:ext cx="6039293" cy="1332007"/>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Quarterly payment to S&amp;D</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Quarterly Billing</a:t>
                      </a:r>
                      <a:r>
                        <a:rPr lang="en-US" altLang="zh-CN" sz="900" b="0" i="0">
                          <a:solidFill>
                            <a:srgbClr val="000000"/>
                          </a:solidFill>
                          <a:effectLst/>
                          <a:latin typeface="Arial" panose="020B0604020202020204" pitchFamily="34" charset="0"/>
                        </a:rPr>
                        <a: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25" name="表格 24">
            <a:extLst>
              <a:ext uri="{FF2B5EF4-FFF2-40B4-BE49-F238E27FC236}">
                <a16:creationId xmlns:a16="http://schemas.microsoft.com/office/drawing/2014/main" id="{67AE1CA0-E7E7-E90C-C111-4FBCEC3A2A63}"/>
              </a:ext>
            </a:extLst>
          </p:cNvPr>
          <p:cNvGraphicFramePr>
            <a:graphicFrameLocks noGrp="1"/>
          </p:cNvGraphicFramePr>
          <p:nvPr>
            <p:extLst>
              <p:ext uri="{D42A27DB-BD31-4B8C-83A1-F6EECF244321}">
                <p14:modId xmlns:p14="http://schemas.microsoft.com/office/powerpoint/2010/main" val="1634459638"/>
              </p:ext>
            </p:extLst>
          </p:nvPr>
        </p:nvGraphicFramePr>
        <p:xfrm>
          <a:off x="6096000" y="3661692"/>
          <a:ext cx="6039293" cy="1255898"/>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90006">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1</a:t>
                      </a:r>
                      <a:r>
                        <a:rPr lang="en-US" altLang="zh-CN" sz="800" b="1" i="0" u="none" strike="noStrike" baseline="30000">
                          <a:solidFill>
                            <a:srgbClr val="FFFFFF"/>
                          </a:solidFill>
                          <a:effectLst/>
                          <a:latin typeface="Arial" panose="020B0604020202020204" pitchFamily="34" charset="0"/>
                        </a:rPr>
                        <a:t>st</a:t>
                      </a:r>
                      <a:r>
                        <a:rPr lang="en-US" altLang="zh-CN" sz="800" b="1" i="0" u="none" strike="noStrike">
                          <a:solidFill>
                            <a:srgbClr val="FFFFFF"/>
                          </a:solidFill>
                          <a:effectLst/>
                          <a:latin typeface="Arial" panose="020B0604020202020204" pitchFamily="34" charset="0"/>
                        </a:rPr>
                        <a:t> Month end adjustment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91606">
                <a:tc vMerge="1">
                  <a:txBody>
                    <a:bodyPr/>
                    <a:lstStyle/>
                    <a:p>
                      <a:endParaRPr lang="zh-CN" altLang="en-US"/>
                    </a:p>
                  </a:txBody>
                  <a:tcPr/>
                </a:tc>
                <a:tc gridSpan="10">
                  <a:txBody>
                    <a:bodyPr/>
                    <a:lstStyle/>
                    <a:p>
                      <a:pPr algn="ctr" fontAlgn="base">
                        <a:lnSpc>
                          <a:spcPts val="1200"/>
                        </a:lnSpc>
                        <a:buNone/>
                      </a:pPr>
                      <a:r>
                        <a:rPr lang="en-US" altLang="zh-CN" sz="900" b="1" i="0">
                          <a:solidFill>
                            <a:srgbClr val="000000"/>
                          </a:solidFill>
                          <a:effectLst/>
                          <a:latin typeface="Arial" panose="020B0604020202020204" pitchFamily="34" charset="0"/>
                        </a:rPr>
                        <a:t>At the end of 1</a:t>
                      </a:r>
                      <a:r>
                        <a:rPr lang="en-US" altLang="zh-CN" sz="900" b="1" i="0" baseline="30000">
                          <a:solidFill>
                            <a:srgbClr val="000000"/>
                          </a:solidFill>
                          <a:effectLst/>
                          <a:latin typeface="Arial" panose="020B0604020202020204" pitchFamily="34" charset="0"/>
                        </a:rPr>
                        <a:t>st</a:t>
                      </a:r>
                      <a:r>
                        <a:rPr lang="en-US" altLang="zh-CN" sz="900" b="1" i="0">
                          <a:solidFill>
                            <a:srgbClr val="000000"/>
                          </a:solidFill>
                          <a:effectLst/>
                          <a:latin typeface="Arial" panose="020B0604020202020204" pitchFamily="34" charset="0"/>
                        </a:rPr>
                        <a:t> month of the quarter​</a:t>
                      </a:r>
                      <a:endParaRPr lang="en-US" altLang="zh-CN"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9160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199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199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a:ea typeface="+mn-ea"/>
                          <a:cs typeface="+mn-cs"/>
                        </a:rPr>
                        <a:t>5010450</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93882986"/>
                  </a:ext>
                </a:extLst>
              </a:tr>
            </a:tbl>
          </a:graphicData>
        </a:graphic>
      </p:graphicFrame>
    </p:spTree>
    <p:extLst>
      <p:ext uri="{BB962C8B-B14F-4D97-AF65-F5344CB8AC3E}">
        <p14:creationId xmlns:p14="http://schemas.microsoft.com/office/powerpoint/2010/main" val="699923420"/>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8D0ED85C-B544-EDFD-DCE5-03C2E4EF493C}"/>
            </a:ext>
          </a:extLst>
        </p:cNvPr>
        <p:cNvGrpSpPr/>
        <p:nvPr/>
      </p:nvGrpSpPr>
      <p:grpSpPr>
        <a:xfrm>
          <a:off x="0" y="0"/>
          <a:ext cx="0" cy="0"/>
          <a:chOff x="0" y="0"/>
          <a:chExt cx="0" cy="0"/>
        </a:xfrm>
      </p:grpSpPr>
      <p:sp>
        <p:nvSpPr>
          <p:cNvPr id="2" name="Title 10">
            <a:extLst>
              <a:ext uri="{FF2B5EF4-FFF2-40B4-BE49-F238E27FC236}">
                <a16:creationId xmlns:a16="http://schemas.microsoft.com/office/drawing/2014/main" id="{D290AD88-0B78-48F0-E9CE-3DFB46DEE635}"/>
              </a:ext>
            </a:extLst>
          </p:cNvPr>
          <p:cNvSpPr txBox="1">
            <a:spLocks/>
          </p:cNvSpPr>
          <p:nvPr/>
        </p:nvSpPr>
        <p:spPr>
          <a:xfrm>
            <a:off x="91842" y="55369"/>
            <a:ext cx="635031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Interim charge treated as part of </a:t>
            </a:r>
            <a:r>
              <a:rPr kumimoji="0" lang="en-US" altLang="zh-CN" sz="2000" b="1" i="0" u="none" strike="noStrike" kern="1200" cap="none" spc="0" normalizeH="0" baseline="0" noProof="0" err="1">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leasing|AFE|FL</a:t>
            </a: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  </a:t>
            </a:r>
          </a:p>
        </p:txBody>
      </p:sp>
      <p:graphicFrame>
        <p:nvGraphicFramePr>
          <p:cNvPr id="23" name="表格 22">
            <a:extLst>
              <a:ext uri="{FF2B5EF4-FFF2-40B4-BE49-F238E27FC236}">
                <a16:creationId xmlns:a16="http://schemas.microsoft.com/office/drawing/2014/main" id="{3AEC1051-C65C-27D6-57D8-9100464250A2}"/>
              </a:ext>
            </a:extLst>
          </p:cNvPr>
          <p:cNvGraphicFramePr>
            <a:graphicFrameLocks noGrp="1"/>
          </p:cNvGraphicFramePr>
          <p:nvPr>
            <p:extLst>
              <p:ext uri="{D42A27DB-BD31-4B8C-83A1-F6EECF244321}">
                <p14:modId xmlns:p14="http://schemas.microsoft.com/office/powerpoint/2010/main" val="2685312833"/>
              </p:ext>
            </p:extLst>
          </p:nvPr>
        </p:nvGraphicFramePr>
        <p:xfrm>
          <a:off x="91842" y="476570"/>
          <a:ext cx="5935863" cy="1303020"/>
        </p:xfrm>
        <a:graphic>
          <a:graphicData uri="http://schemas.openxmlformats.org/drawingml/2006/table">
            <a:tbl>
              <a:tblPr firstRow="1" bandRow="1">
                <a:tableStyleId>{3C2FFA5D-87B4-456A-9821-1D502468CF0F}</a:tableStyleId>
              </a:tblPr>
              <a:tblGrid>
                <a:gridCol w="632942">
                  <a:extLst>
                    <a:ext uri="{9D8B030D-6E8A-4147-A177-3AD203B41FA5}">
                      <a16:colId xmlns:a16="http://schemas.microsoft.com/office/drawing/2014/main" val="869603910"/>
                    </a:ext>
                  </a:extLst>
                </a:gridCol>
                <a:gridCol w="723014">
                  <a:extLst>
                    <a:ext uri="{9D8B030D-6E8A-4147-A177-3AD203B41FA5}">
                      <a16:colId xmlns:a16="http://schemas.microsoft.com/office/drawing/2014/main" val="238663902"/>
                    </a:ext>
                  </a:extLst>
                </a:gridCol>
                <a:gridCol w="563525">
                  <a:extLst>
                    <a:ext uri="{9D8B030D-6E8A-4147-A177-3AD203B41FA5}">
                      <a16:colId xmlns:a16="http://schemas.microsoft.com/office/drawing/2014/main" val="4114365151"/>
                    </a:ext>
                  </a:extLst>
                </a:gridCol>
                <a:gridCol w="949332">
                  <a:extLst>
                    <a:ext uri="{9D8B030D-6E8A-4147-A177-3AD203B41FA5}">
                      <a16:colId xmlns:a16="http://schemas.microsoft.com/office/drawing/2014/main" val="4075178046"/>
                    </a:ext>
                  </a:extLst>
                </a:gridCol>
                <a:gridCol w="74295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2950">
                  <a:extLst>
                    <a:ext uri="{9D8B030D-6E8A-4147-A177-3AD203B41FA5}">
                      <a16:colId xmlns:a16="http://schemas.microsoft.com/office/drawing/2014/main" val="2044147452"/>
                    </a:ext>
                  </a:extLst>
                </a:gridCol>
                <a:gridCol w="857250">
                  <a:extLst>
                    <a:ext uri="{9D8B030D-6E8A-4147-A177-3AD203B41FA5}">
                      <a16:colId xmlns:a16="http://schemas.microsoft.com/office/drawing/2014/main" val="221569069"/>
                    </a:ext>
                  </a:extLst>
                </a:gridCol>
              </a:tblGrid>
              <a:tr h="39053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99880">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One-off &amp; Quarterly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NA</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12" name="对话气泡: 矩形 11">
            <a:extLst>
              <a:ext uri="{FF2B5EF4-FFF2-40B4-BE49-F238E27FC236}">
                <a16:creationId xmlns:a16="http://schemas.microsoft.com/office/drawing/2014/main" id="{ABAD6C08-3F14-FF9B-FF83-25AB8E307C2F}"/>
              </a:ext>
            </a:extLst>
          </p:cNvPr>
          <p:cNvSpPr/>
          <p:nvPr/>
        </p:nvSpPr>
        <p:spPr>
          <a:xfrm>
            <a:off x="-1285769" y="3048036"/>
            <a:ext cx="1285769" cy="1246874"/>
          </a:xfrm>
          <a:prstGeom prst="wedgeRectCallout">
            <a:avLst>
              <a:gd name="adj1" fmla="val 52351"/>
              <a:gd name="adj2" fmla="val -7039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Upfront service should be trigger by customer acceptance?</a:t>
            </a:r>
          </a:p>
        </p:txBody>
      </p:sp>
      <p:graphicFrame>
        <p:nvGraphicFramePr>
          <p:cNvPr id="4" name="表格 3">
            <a:extLst>
              <a:ext uri="{FF2B5EF4-FFF2-40B4-BE49-F238E27FC236}">
                <a16:creationId xmlns:a16="http://schemas.microsoft.com/office/drawing/2014/main" id="{1140358A-D440-1313-C733-78B38D1FAD6C}"/>
              </a:ext>
            </a:extLst>
          </p:cNvPr>
          <p:cNvGraphicFramePr>
            <a:graphicFrameLocks noGrp="1"/>
          </p:cNvGraphicFramePr>
          <p:nvPr>
            <p:extLst>
              <p:ext uri="{D42A27DB-BD31-4B8C-83A1-F6EECF244321}">
                <p14:modId xmlns:p14="http://schemas.microsoft.com/office/powerpoint/2010/main" val="3460109198"/>
              </p:ext>
            </p:extLst>
          </p:nvPr>
        </p:nvGraphicFramePr>
        <p:xfrm>
          <a:off x="83649" y="4365538"/>
          <a:ext cx="5935863" cy="2481260"/>
        </p:xfrm>
        <a:graphic>
          <a:graphicData uri="http://schemas.openxmlformats.org/drawingml/2006/table">
            <a:tbl>
              <a:tblPr/>
              <a:tblGrid>
                <a:gridCol w="450028">
                  <a:extLst>
                    <a:ext uri="{9D8B030D-6E8A-4147-A177-3AD203B41FA5}">
                      <a16:colId xmlns:a16="http://schemas.microsoft.com/office/drawing/2014/main" val="1828247229"/>
                    </a:ext>
                  </a:extLst>
                </a:gridCol>
                <a:gridCol w="341277">
                  <a:extLst>
                    <a:ext uri="{9D8B030D-6E8A-4147-A177-3AD203B41FA5}">
                      <a16:colId xmlns:a16="http://schemas.microsoft.com/office/drawing/2014/main" val="4141232291"/>
                    </a:ext>
                  </a:extLst>
                </a:gridCol>
                <a:gridCol w="672492">
                  <a:extLst>
                    <a:ext uri="{9D8B030D-6E8A-4147-A177-3AD203B41FA5}">
                      <a16:colId xmlns:a16="http://schemas.microsoft.com/office/drawing/2014/main" val="672845899"/>
                    </a:ext>
                  </a:extLst>
                </a:gridCol>
                <a:gridCol w="1683596">
                  <a:extLst>
                    <a:ext uri="{9D8B030D-6E8A-4147-A177-3AD203B41FA5}">
                      <a16:colId xmlns:a16="http://schemas.microsoft.com/office/drawing/2014/main" val="3529420061"/>
                    </a:ext>
                  </a:extLst>
                </a:gridCol>
                <a:gridCol w="639469">
                  <a:extLst>
                    <a:ext uri="{9D8B030D-6E8A-4147-A177-3AD203B41FA5}">
                      <a16:colId xmlns:a16="http://schemas.microsoft.com/office/drawing/2014/main" val="2294942003"/>
                    </a:ext>
                  </a:extLst>
                </a:gridCol>
                <a:gridCol w="482555">
                  <a:extLst>
                    <a:ext uri="{9D8B030D-6E8A-4147-A177-3AD203B41FA5}">
                      <a16:colId xmlns:a16="http://schemas.microsoft.com/office/drawing/2014/main" val="4273387575"/>
                    </a:ext>
                  </a:extLst>
                </a:gridCol>
                <a:gridCol w="285364">
                  <a:extLst>
                    <a:ext uri="{9D8B030D-6E8A-4147-A177-3AD203B41FA5}">
                      <a16:colId xmlns:a16="http://schemas.microsoft.com/office/drawing/2014/main" val="1603564649"/>
                    </a:ext>
                  </a:extLst>
                </a:gridCol>
                <a:gridCol w="293497">
                  <a:extLst>
                    <a:ext uri="{9D8B030D-6E8A-4147-A177-3AD203B41FA5}">
                      <a16:colId xmlns:a16="http://schemas.microsoft.com/office/drawing/2014/main" val="666076507"/>
                    </a:ext>
                  </a:extLst>
                </a:gridCol>
                <a:gridCol w="284801">
                  <a:extLst>
                    <a:ext uri="{9D8B030D-6E8A-4147-A177-3AD203B41FA5}">
                      <a16:colId xmlns:a16="http://schemas.microsoft.com/office/drawing/2014/main" val="3683687233"/>
                    </a:ext>
                  </a:extLst>
                </a:gridCol>
                <a:gridCol w="391335">
                  <a:extLst>
                    <a:ext uri="{9D8B030D-6E8A-4147-A177-3AD203B41FA5}">
                      <a16:colId xmlns:a16="http://schemas.microsoft.com/office/drawing/2014/main" val="296807624"/>
                    </a:ext>
                  </a:extLst>
                </a:gridCol>
                <a:gridCol w="411449">
                  <a:extLst>
                    <a:ext uri="{9D8B030D-6E8A-4147-A177-3AD203B41FA5}">
                      <a16:colId xmlns:a16="http://schemas.microsoft.com/office/drawing/2014/main" val="845238753"/>
                    </a:ext>
                  </a:extLst>
                </a:gridCol>
              </a:tblGrid>
              <a:tr h="129358">
                <a:tc rowSpan="12">
                  <a:txBody>
                    <a:bodyPr/>
                    <a:lstStyle/>
                    <a:p>
                      <a:pPr marL="0" indent="0" algn="ctr" fontAlgn="base">
                        <a:lnSpc>
                          <a:spcPts val="1200"/>
                        </a:lnSpc>
                        <a:buNone/>
                      </a:pPr>
                      <a:r>
                        <a:rPr lang="en-US" sz="900" b="1" i="0" u="none" strike="noStrike" kern="1200">
                          <a:solidFill>
                            <a:srgbClr val="FFFFFF"/>
                          </a:solidFill>
                          <a:effectLst/>
                          <a:latin typeface="Arial" panose="020B0604020202020204" pitchFamily="34" charset="0"/>
                          <a:ea typeface="+mn-ea"/>
                          <a:cs typeface="+mn-cs"/>
                        </a:rPr>
                        <a:t>AFE​</a:t>
                      </a:r>
                      <a:br>
                        <a:rPr lang="en-US" sz="900" b="1" i="0" u="none" strike="noStrike" kern="1200">
                          <a:solidFill>
                            <a:srgbClr val="FFFFFF"/>
                          </a:solidFill>
                          <a:effectLst/>
                          <a:latin typeface="Arial" panose="020B0604020202020204" pitchFamily="34" charset="0"/>
                          <a:ea typeface="+mn-ea"/>
                          <a:cs typeface="+mn-cs"/>
                        </a:rPr>
                      </a:br>
                      <a:r>
                        <a:rPr lang="en-US" sz="900" b="1" i="0" u="none" strike="noStrike" kern="1200">
                          <a:solidFill>
                            <a:srgbClr val="FFFFFF"/>
                          </a:solidFill>
                          <a:effectLst/>
                          <a:latin typeface="Arial" panose="020B0604020202020204" pitchFamily="34" charset="0"/>
                          <a:ea typeface="+mn-ea"/>
                          <a:cs typeface="+mn-cs"/>
                        </a:rPr>
                        <a:t>Entity​</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auto">
                        <a:lnSpc>
                          <a:spcPts val="1200"/>
                        </a:lnSpc>
                        <a:buNone/>
                      </a:pPr>
                      <a:r>
                        <a:rPr lang="en-US" sz="800" b="1" i="0" u="none" strike="noStrike" kern="1200">
                          <a:solidFill>
                            <a:srgbClr val="FFFFFF"/>
                          </a:solidFill>
                          <a:effectLst/>
                          <a:latin typeface="Arial" panose="020B0604020202020204" pitchFamily="34" charset="0"/>
                          <a:ea typeface="+mn-ea"/>
                          <a:cs typeface="+mn-cs"/>
                        </a:rPr>
                        <a:t>Recognize Finance Lease Revenue + Cost​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95250" indent="0" algn="l" fontAlgn="auto">
                        <a:lnSpc>
                          <a:spcPts val="1200"/>
                        </a:lnSpc>
                        <a:buNone/>
                      </a:pPr>
                      <a:endParaRPr lang="en-US" sz="1000" b="1" i="0" u="none" strike="noStrike">
                        <a:solidFill>
                          <a:srgbClr val="FFFFFF"/>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641665388"/>
                  </a:ext>
                </a:extLst>
              </a:tr>
              <a:tr h="114901">
                <a:tc vMerge="1">
                  <a:txBody>
                    <a:bodyPr/>
                    <a:lstStyle/>
                    <a:p>
                      <a:endParaRPr lang="zh-CN" altLang="en-US"/>
                    </a:p>
                  </a:txBody>
                  <a:tcPr/>
                </a:tc>
                <a:tc gridSpan="10">
                  <a:txBody>
                    <a:bodyPr/>
                    <a:lstStyle/>
                    <a:p>
                      <a:pPr marL="0" indent="0" algn="ctr" fontAlgn="base">
                        <a:lnSpc>
                          <a:spcPts val="1200"/>
                        </a:lnSpc>
                        <a:buNone/>
                      </a:pPr>
                      <a:r>
                        <a:rPr lang="en-US" sz="1000" b="0" i="0" u="none" strike="noStrike" spc="0">
                          <a:solidFill>
                            <a:srgbClr val="000000"/>
                          </a:solidFill>
                          <a:effectLst/>
                          <a:latin typeface="Arial" panose="020B0604020202020204" pitchFamily="34" charset="0"/>
                        </a:rPr>
                        <a:t>Upon Lease commencement</a:t>
                      </a:r>
                      <a:r>
                        <a:rPr lang="en-US" sz="1000" b="0" i="0">
                          <a:solidFill>
                            <a:srgbClr val="000000"/>
                          </a:solidFill>
                          <a:effectLst/>
                          <a:latin typeface="Arial" panose="020B0604020202020204" pitchFamily="34" charset="0"/>
                        </a:rPr>
                        <a:t>​</a:t>
                      </a: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0" indent="0" algn="ctr" fontAlgn="base">
                        <a:lnSpc>
                          <a:spcPts val="1200"/>
                        </a:lnSpc>
                        <a:buNone/>
                      </a:pP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260440"/>
                  </a:ext>
                </a:extLst>
              </a:tr>
              <a:tr h="129358">
                <a:tc vMerge="1">
                  <a:txBody>
                    <a:bodyPr/>
                    <a:lstStyle/>
                    <a:p>
                      <a:endParaRPr lang="zh-CN" altLang="en-US"/>
                    </a:p>
                  </a:txBody>
                  <a:tcPr/>
                </a:tc>
                <a:tc gridSpan="3">
                  <a:txBody>
                    <a:bodyPr/>
                    <a:lstStyle/>
                    <a:p>
                      <a:pPr marL="0" indent="0" algn="ctr" fontAlgn="base">
                        <a:lnSpc>
                          <a:spcPts val="1200"/>
                        </a:lnSpc>
                        <a:buNone/>
                      </a:pPr>
                      <a:r>
                        <a:rPr lang="en-US" sz="1000" b="0" i="0" u="none" strike="noStrike" spc="0">
                          <a:solidFill>
                            <a:srgbClr val="000000"/>
                          </a:solidFill>
                          <a:effectLst/>
                          <a:latin typeface="Arial" panose="020B0604020202020204" pitchFamily="34" charset="0"/>
                        </a:rPr>
                        <a:t>COA</a:t>
                      </a:r>
                      <a:r>
                        <a:rPr lang="en-US" sz="1000" b="0" i="0">
                          <a:solidFill>
                            <a:srgbClr val="000000"/>
                          </a:solidFill>
                          <a:effectLst/>
                          <a:latin typeface="Arial" panose="020B0604020202020204" pitchFamily="34" charset="0"/>
                        </a:rPr>
                        <a:t>​</a:t>
                      </a: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indent="0" algn="ctr" fontAlgn="base">
                        <a:lnSpc>
                          <a:spcPts val="1200"/>
                        </a:lnSpc>
                        <a:buNone/>
                      </a:pPr>
                      <a:r>
                        <a:rPr lang="en-US" sz="1000" b="0" i="0" u="none" strike="noStrike" spc="0">
                          <a:solidFill>
                            <a:srgbClr val="000000"/>
                          </a:solidFill>
                          <a:effectLst/>
                          <a:latin typeface="Arial" panose="020B0604020202020204" pitchFamily="34" charset="0"/>
                        </a:rPr>
                        <a:t>LV</a:t>
                      </a:r>
                      <a:r>
                        <a:rPr lang="en-US" sz="1000" b="0" i="0">
                          <a:solidFill>
                            <a:srgbClr val="000000"/>
                          </a:solidFill>
                          <a:effectLst/>
                          <a:latin typeface="Arial" panose="020B0604020202020204" pitchFamily="34" charset="0"/>
                        </a:rPr>
                        <a:t>​</a:t>
                      </a: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indent="0" algn="ctr" fontAlgn="base">
                        <a:lnSpc>
                          <a:spcPts val="1200"/>
                        </a:lnSpc>
                        <a:buNone/>
                      </a:pPr>
                      <a:r>
                        <a:rPr lang="en-US" sz="1000" b="0" i="0" u="none" strike="noStrike" spc="0">
                          <a:solidFill>
                            <a:srgbClr val="000000"/>
                          </a:solidFill>
                          <a:effectLst/>
                          <a:latin typeface="Arial" panose="020B0604020202020204" pitchFamily="34" charset="0"/>
                        </a:rPr>
                        <a:t>PV</a:t>
                      </a:r>
                      <a:r>
                        <a:rPr lang="en-US" sz="1000" b="0" i="0">
                          <a:solidFill>
                            <a:srgbClr val="000000"/>
                          </a:solidFill>
                          <a:effectLst/>
                          <a:latin typeface="Arial" panose="020B0604020202020204" pitchFamily="34" charset="0"/>
                        </a:rPr>
                        <a:t>​</a:t>
                      </a: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711932868"/>
                  </a:ext>
                </a:extLst>
              </a:tr>
              <a:tr h="151458">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1400301​</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Lease Receivable ​</a:t>
                      </a:r>
                    </a:p>
                  </a:txBody>
                  <a:tcPr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30,240</a:t>
                      </a:r>
                      <a:r>
                        <a:rPr lang="zh-CN" alt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30,240​</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r>
                        <a:rPr lang="en-US" sz="900" b="0" i="0" u="none" strike="noStrike" spc="0">
                          <a:solidFill>
                            <a:srgbClr val="000000"/>
                          </a:solidFill>
                          <a:effectLst/>
                          <a:latin typeface="Arial" panose="020B0604020202020204" pitchFamily="34" charset="0"/>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spc="0">
                        <a:solidFill>
                          <a:srgbClr val="000000"/>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spc="0">
                        <a:solidFill>
                          <a:srgbClr val="000000"/>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909174475"/>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a:solidFill>
                            <a:srgbClr val="000000"/>
                          </a:solidFill>
                          <a:effectLst/>
                          <a:latin typeface="Arial" panose="020B0604020202020204" pitchFamily="34" charset="0"/>
                        </a:rPr>
                        <a:t>1400303​</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Receivable Interest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4,011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4,011</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27397841"/>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5010509</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Finance</a:t>
                      </a:r>
                      <a:r>
                        <a:rPr lang="en-US" sz="900" b="0" i="0" u="none" strike="noStrike" spc="0">
                          <a:solidFill>
                            <a:srgbClr val="000000"/>
                          </a:solidFill>
                          <a:effectLst/>
                          <a:latin typeface="Arial" panose="020B0604020202020204" pitchFamily="34" charset="0"/>
                        </a:rPr>
                        <a:t> Lease Revenue</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26,229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26,229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04336853"/>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Residual Value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1,771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1,771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36026426"/>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5020509</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Cost Finance Lease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1,771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1,771</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719493777"/>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5020509</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Cost Finance Lease</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17,000</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16,800</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250201588"/>
                  </a:ext>
                </a:extLst>
              </a:tr>
              <a:tr h="132021">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1349903</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Goods in Transit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17,000</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16,800</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91864048"/>
                  </a:ext>
                </a:extLst>
              </a:tr>
              <a:tr h="132021">
                <a:tc vMerge="1">
                  <a:txBody>
                    <a:bodyPr/>
                    <a:lstStyle/>
                    <a:p>
                      <a:endParaRPr lang="zh-CN" altLang="en-US"/>
                    </a:p>
                  </a:txBody>
                  <a:tcPr/>
                </a:tc>
                <a:tc>
                  <a:txBody>
                    <a:bodyPr/>
                    <a:lstStyle/>
                    <a:p>
                      <a:pPr marL="0" marR="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Dr​</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1400308​</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LR – Upfront fulfilled service​</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36</a:t>
                      </a:r>
                      <a:endParaRPr lang="zh-CN" altLang="en-US" sz="900" b="0" i="0" u="none" strike="noStrike" kern="1200" spc="0">
                        <a:solidFill>
                          <a:srgbClr val="000000"/>
                        </a:solidFill>
                        <a:effectLst/>
                        <a:latin typeface="Arial" panose="020B0604020202020204" pitchFamily="34" charset="0"/>
                        <a:ea typeface="+mn-ea"/>
                        <a:cs typeface="+mn-cs"/>
                      </a:endParaRP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36</a:t>
                      </a:r>
                      <a:endParaRPr lang="zh-CN" altLang="en-US" sz="900" b="0" i="0" u="none" strike="noStrike" kern="1200" spc="0">
                        <a:solidFill>
                          <a:srgbClr val="000000"/>
                        </a:solidFill>
                        <a:effectLst/>
                        <a:latin typeface="Arial" panose="020B0604020202020204" pitchFamily="34" charset="0"/>
                        <a:ea typeface="+mn-ea"/>
                        <a:cs typeface="+mn-cs"/>
                      </a:endParaRP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575542079"/>
                  </a:ext>
                </a:extLst>
              </a:tr>
              <a:tr h="132021">
                <a:tc vMerge="1">
                  <a:txBody>
                    <a:bodyPr/>
                    <a:lstStyle/>
                    <a:p>
                      <a:endParaRPr lang="zh-CN" altLang="en-US"/>
                    </a:p>
                  </a:txBody>
                  <a:tcPr/>
                </a:tc>
                <a:tc>
                  <a:txBody>
                    <a:bodyPr/>
                    <a:lstStyle/>
                    <a:p>
                      <a:pPr marL="0" marR="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Cr​</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5010510​</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Agent Revenue​</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36</a:t>
                      </a:r>
                      <a:r>
                        <a:rPr lang="zh-CN" altLang="en-US" sz="900" b="0" i="0" u="none" strike="noStrike" kern="1200" spc="0">
                          <a:solidFill>
                            <a:srgbClr val="000000"/>
                          </a:solidFill>
                          <a:effectLst/>
                          <a:latin typeface="Arial" panose="020B0604020202020204" pitchFamily="34" charset="0"/>
                          <a:ea typeface="+mn-ea"/>
                          <a:cs typeface="+mn-cs"/>
                        </a:rPr>
                        <a:t>​</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36</a:t>
                      </a:r>
                      <a:endParaRPr lang="zh-CN" altLang="en-US" sz="900" b="0" i="0" u="none" strike="noStrike" kern="1200" spc="0">
                        <a:solidFill>
                          <a:srgbClr val="000000"/>
                        </a:solidFill>
                        <a:effectLst/>
                        <a:latin typeface="Arial" panose="020B0604020202020204" pitchFamily="34" charset="0"/>
                        <a:ea typeface="+mn-ea"/>
                        <a:cs typeface="+mn-cs"/>
                      </a:endParaRP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15162108"/>
                  </a:ext>
                </a:extLst>
              </a:tr>
            </a:tbl>
          </a:graphicData>
        </a:graphic>
      </p:graphicFrame>
      <p:graphicFrame>
        <p:nvGraphicFramePr>
          <p:cNvPr id="7" name="表格 6">
            <a:extLst>
              <a:ext uri="{FF2B5EF4-FFF2-40B4-BE49-F238E27FC236}">
                <a16:creationId xmlns:a16="http://schemas.microsoft.com/office/drawing/2014/main" id="{F503CCB4-72B3-7A57-724F-EFFBDBC063A1}"/>
              </a:ext>
            </a:extLst>
          </p:cNvPr>
          <p:cNvGraphicFramePr>
            <a:graphicFrameLocks noGrp="1"/>
          </p:cNvGraphicFramePr>
          <p:nvPr>
            <p:extLst>
              <p:ext uri="{D42A27DB-BD31-4B8C-83A1-F6EECF244321}">
                <p14:modId xmlns:p14="http://schemas.microsoft.com/office/powerpoint/2010/main" val="2695131639"/>
              </p:ext>
            </p:extLst>
          </p:nvPr>
        </p:nvGraphicFramePr>
        <p:xfrm>
          <a:off x="83649" y="1620313"/>
          <a:ext cx="5935861" cy="2745225"/>
        </p:xfrm>
        <a:graphic>
          <a:graphicData uri="http://schemas.openxmlformats.org/drawingml/2006/table">
            <a:tbl>
              <a:tblPr/>
              <a:tblGrid>
                <a:gridCol w="417300">
                  <a:extLst>
                    <a:ext uri="{9D8B030D-6E8A-4147-A177-3AD203B41FA5}">
                      <a16:colId xmlns:a16="http://schemas.microsoft.com/office/drawing/2014/main" val="1617715984"/>
                    </a:ext>
                  </a:extLst>
                </a:gridCol>
                <a:gridCol w="242549">
                  <a:extLst>
                    <a:ext uri="{9D8B030D-6E8A-4147-A177-3AD203B41FA5}">
                      <a16:colId xmlns:a16="http://schemas.microsoft.com/office/drawing/2014/main" val="3902748026"/>
                    </a:ext>
                  </a:extLst>
                </a:gridCol>
                <a:gridCol w="577235">
                  <a:extLst>
                    <a:ext uri="{9D8B030D-6E8A-4147-A177-3AD203B41FA5}">
                      <a16:colId xmlns:a16="http://schemas.microsoft.com/office/drawing/2014/main" val="4067912196"/>
                    </a:ext>
                  </a:extLst>
                </a:gridCol>
                <a:gridCol w="2068649">
                  <a:extLst>
                    <a:ext uri="{9D8B030D-6E8A-4147-A177-3AD203B41FA5}">
                      <a16:colId xmlns:a16="http://schemas.microsoft.com/office/drawing/2014/main" val="3080213113"/>
                    </a:ext>
                  </a:extLst>
                </a:gridCol>
                <a:gridCol w="439934">
                  <a:extLst>
                    <a:ext uri="{9D8B030D-6E8A-4147-A177-3AD203B41FA5}">
                      <a16:colId xmlns:a16="http://schemas.microsoft.com/office/drawing/2014/main" val="756085216"/>
                    </a:ext>
                  </a:extLst>
                </a:gridCol>
                <a:gridCol w="439934">
                  <a:extLst>
                    <a:ext uri="{9D8B030D-6E8A-4147-A177-3AD203B41FA5}">
                      <a16:colId xmlns:a16="http://schemas.microsoft.com/office/drawing/2014/main" val="769431567"/>
                    </a:ext>
                  </a:extLst>
                </a:gridCol>
                <a:gridCol w="352245">
                  <a:extLst>
                    <a:ext uri="{9D8B030D-6E8A-4147-A177-3AD203B41FA5}">
                      <a16:colId xmlns:a16="http://schemas.microsoft.com/office/drawing/2014/main" val="364744307"/>
                    </a:ext>
                  </a:extLst>
                </a:gridCol>
                <a:gridCol w="352245">
                  <a:extLst>
                    <a:ext uri="{9D8B030D-6E8A-4147-A177-3AD203B41FA5}">
                      <a16:colId xmlns:a16="http://schemas.microsoft.com/office/drawing/2014/main" val="1870084205"/>
                    </a:ext>
                  </a:extLst>
                </a:gridCol>
                <a:gridCol w="352245">
                  <a:extLst>
                    <a:ext uri="{9D8B030D-6E8A-4147-A177-3AD203B41FA5}">
                      <a16:colId xmlns:a16="http://schemas.microsoft.com/office/drawing/2014/main" val="851839846"/>
                    </a:ext>
                  </a:extLst>
                </a:gridCol>
                <a:gridCol w="397882">
                  <a:extLst>
                    <a:ext uri="{9D8B030D-6E8A-4147-A177-3AD203B41FA5}">
                      <a16:colId xmlns:a16="http://schemas.microsoft.com/office/drawing/2014/main" val="98552746"/>
                    </a:ext>
                  </a:extLst>
                </a:gridCol>
                <a:gridCol w="295643">
                  <a:extLst>
                    <a:ext uri="{9D8B030D-6E8A-4147-A177-3AD203B41FA5}">
                      <a16:colId xmlns:a16="http://schemas.microsoft.com/office/drawing/2014/main" val="678060234"/>
                    </a:ext>
                  </a:extLst>
                </a:gridCol>
              </a:tblGrid>
              <a:tr h="139601">
                <a:tc rowSpan="13">
                  <a:txBody>
                    <a:bodyPr/>
                    <a:lstStyle/>
                    <a:p>
                      <a:pPr marL="0" indent="0"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900" b="1" i="0">
                        <a:solidFill>
                          <a:srgbClr val="FFFFFF"/>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base">
                        <a:lnSpc>
                          <a:spcPts val="1200"/>
                        </a:lnSpc>
                        <a:buNone/>
                      </a:pPr>
                      <a:r>
                        <a:rPr lang="en-US" sz="800" b="1" i="0" u="none" strike="noStrike" kern="1200">
                          <a:solidFill>
                            <a:srgbClr val="FFFFFF"/>
                          </a:solidFill>
                          <a:effectLst/>
                          <a:latin typeface="Arial" panose="020B0604020202020204" pitchFamily="34" charset="0"/>
                          <a:ea typeface="+mn-ea"/>
                          <a:cs typeface="+mn-cs"/>
                        </a:rPr>
                        <a:t>Interim Charge​</a:t>
                      </a: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646354682"/>
                  </a:ext>
                </a:extLst>
              </a:tr>
              <a:tr h="145583">
                <a:tc vMerge="1">
                  <a:txBody>
                    <a:bodyPr/>
                    <a:lstStyle/>
                    <a:p>
                      <a:endParaRPr lang="zh-CN" altLang="en-US"/>
                    </a:p>
                  </a:txBody>
                  <a:tcPr/>
                </a:tc>
                <a:tc gridSpan="10">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Upon Customer acceptance</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2466421016"/>
                  </a:ext>
                </a:extLst>
              </a:tr>
              <a:tr h="159184">
                <a:tc vMerge="1">
                  <a:txBody>
                    <a:bodyPr/>
                    <a:lstStyle/>
                    <a:p>
                      <a:endParaRPr lang="zh-CN" altLang="en-US"/>
                    </a:p>
                  </a:txBody>
                  <a:tcPr/>
                </a:tc>
                <a:tc gridSpan="3">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2007126138"/>
                  </a:ext>
                </a:extLst>
              </a:tr>
              <a:tr h="222987">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Unbilled AR</a:t>
                      </a:r>
                    </a:p>
                  </a:txBody>
                  <a:tcPr marL="0"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1015.3</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1015.3</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auto">
                        <a:lnSpc>
                          <a:spcPts val="1200"/>
                        </a:lnSpc>
                        <a:buNone/>
                      </a:pPr>
                      <a:r>
                        <a:rPr lang="en-US" sz="900" b="0" i="0" u="none" strike="noStrike" spc="0">
                          <a:solidFill>
                            <a:srgbClr val="000000"/>
                          </a:solidFill>
                          <a:effectLst/>
                          <a:latin typeface="Arial" panose="020B0604020202020204" pitchFamily="34" charset="0"/>
                        </a:rPr>
                        <a:t>​</a:t>
                      </a: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7383355"/>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spc="0">
                          <a:solidFill>
                            <a:srgbClr val="FF0000"/>
                          </a:solidFill>
                          <a:effectLst/>
                          <a:latin typeface="Arial" panose="020B0604020202020204" pitchFamily="34" charset="0"/>
                        </a:rPr>
                        <a:t>1400308</a:t>
                      </a:r>
                    </a:p>
                    <a:p>
                      <a:pPr marL="0" indent="0" algn="ctr" fontAlgn="base">
                        <a:lnSpc>
                          <a:spcPts val="1200"/>
                        </a:lnSpc>
                        <a:buNone/>
                      </a:pPr>
                      <a:r>
                        <a:rPr lang="en-US" sz="900" b="0" i="0" u="none" strike="noStrike" spc="0">
                          <a:solidFill>
                            <a:srgbClr val="FF0000"/>
                          </a:solidFill>
                          <a:effectLst/>
                          <a:latin typeface="Arial" panose="020B0604020202020204" pitchFamily="34" charset="0"/>
                        </a:rPr>
                        <a:t>5010510</a:t>
                      </a:r>
                      <a:endParaRPr lang="en-US" sz="900" b="0" i="0">
                        <a:solidFill>
                          <a:srgbClr val="FF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Services Revenue – </a:t>
                      </a:r>
                      <a:r>
                        <a:rPr lang="en-US" altLang="zh-CN" sz="900" b="0" i="0" u="none" strike="noStrike" spc="0">
                          <a:solidFill>
                            <a:srgbClr val="000000"/>
                          </a:solidFill>
                          <a:effectLst/>
                          <a:latin typeface="Arial" panose="020B0604020202020204" pitchFamily="34" charset="0"/>
                        </a:rPr>
                        <a:t>upfront svc</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36</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36</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901081532"/>
                  </a:ext>
                </a:extLst>
              </a:tr>
              <a:tr h="290169">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5010510</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Agent Revenue – M</a:t>
                      </a:r>
                      <a:r>
                        <a:rPr lang="en-US" altLang="zh-CN" sz="900" b="0" i="0" u="none" strike="noStrike" spc="0">
                          <a:solidFill>
                            <a:srgbClr val="000000"/>
                          </a:solidFill>
                          <a:effectLst/>
                          <a:latin typeface="Arial" panose="020B0604020202020204" pitchFamily="34" charset="0"/>
                        </a:rPr>
                        <a:t>gt svc</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10</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10</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48749201"/>
                  </a:ext>
                </a:extLst>
              </a:tr>
              <a:tr h="290169">
                <a:tc vMerge="1">
                  <a:txBody>
                    <a:bodyPr/>
                    <a:lstStyle/>
                    <a:p>
                      <a:endParaRPr lang="zh-CN" altLang="en-US"/>
                    </a:p>
                  </a:txBody>
                  <a:tcPr/>
                </a:tc>
                <a:tc>
                  <a:txBody>
                    <a:bodyPr/>
                    <a:lstStyle/>
                    <a:p>
                      <a:pPr marL="0" indent="0" algn="ctr" fontAlgn="base">
                        <a:lnSpc>
                          <a:spcPts val="1200"/>
                        </a:lnSpc>
                        <a:buNone/>
                      </a:pPr>
                      <a:r>
                        <a:rPr lang="en-US" sz="900" b="0" i="0">
                          <a:solidFill>
                            <a:srgbClr val="000000"/>
                          </a:solidFill>
                          <a:effectLst/>
                        </a:rPr>
                        <a:t>Cr</a:t>
                      </a:r>
                    </a:p>
                  </a:txBody>
                  <a:tcPr marL="31531" marR="31531" marT="15766" marB="15766"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5010510</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Agent Revenue – premier(funded)</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altLang="zh-CN" sz="900" b="0" i="0">
                          <a:solidFill>
                            <a:srgbClr val="000000"/>
                          </a:solidFill>
                          <a:effectLst/>
                        </a:rPr>
                        <a:t>6</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a:solidFill>
                            <a:srgbClr val="000000"/>
                          </a:solidFill>
                          <a:effectLst/>
                        </a:rPr>
                        <a:t>6</a:t>
                      </a: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718810442"/>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FFFFFF"/>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Lease Receivable </a:t>
                      </a:r>
                      <a:r>
                        <a:rPr lang="en-US" sz="900" b="0" i="0">
                          <a:solidFill>
                            <a:srgbClr val="000000"/>
                          </a:solidFill>
                          <a:effectLst/>
                          <a:latin typeface="Arial" panose="020B0604020202020204" pitchFamily="34" charset="0"/>
                        </a:rPr>
                        <a:t>​- FL</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840</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840</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indent="0" algn="ctr" fontAlgn="auto">
                        <a:lnSpc>
                          <a:spcPts val="1200"/>
                        </a:lnSpc>
                        <a:buNone/>
                      </a:pPr>
                      <a:r>
                        <a:rPr lang="en-US" sz="900" b="0" i="0" u="none" strike="noStrike" spc="0">
                          <a:solidFill>
                            <a:srgbClr val="000000"/>
                          </a:solidFill>
                          <a:effectLst/>
                          <a:latin typeface="Arial" panose="020B0604020202020204" pitchFamily="34" charset="0"/>
                        </a:rPr>
                        <a:t>​</a:t>
                      </a: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951260876"/>
                  </a:ext>
                </a:extLst>
              </a:tr>
              <a:tr h="15556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7595" cap="flat" cmpd="sng" algn="ctr">
                      <a:solidFill>
                        <a:srgbClr val="FFFFFF"/>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spc="0">
                          <a:solidFill>
                            <a:srgbClr val="000000"/>
                          </a:solidFill>
                          <a:effectLst/>
                          <a:latin typeface="Arial" panose="020B0604020202020204" pitchFamily="34" charset="0"/>
                        </a:rPr>
                        <a:t>Agent</a:t>
                      </a:r>
                      <a:r>
                        <a:rPr lang="en-US" sz="900" b="0" i="0" u="none" strike="noStrike" kern="1200">
                          <a:solidFill>
                            <a:srgbClr val="000000"/>
                          </a:solidFill>
                          <a:effectLst/>
                          <a:latin typeface="Arial" panose="020B0604020202020204" pitchFamily="34" charset="0"/>
                          <a:ea typeface="+mn-ea"/>
                          <a:cs typeface="+mn-cs"/>
                        </a:rPr>
                        <a:t> Revenue - ARS</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1598949834"/>
                  </a:ext>
                </a:extLst>
              </a:tr>
              <a:tr h="146632">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1400303</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Lease Receivable Interest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111</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111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32836901"/>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5010514</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Interest Income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111</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111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69465504"/>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Residual Value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16</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60109760"/>
                  </a:ext>
                </a:extLst>
              </a:tr>
              <a:tr h="146632">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5010514</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Interest Income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16</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69087775"/>
                  </a:ext>
                </a:extLst>
              </a:tr>
            </a:tbl>
          </a:graphicData>
        </a:graphic>
      </p:graphicFrame>
      <p:graphicFrame>
        <p:nvGraphicFramePr>
          <p:cNvPr id="11" name="表格 10">
            <a:extLst>
              <a:ext uri="{FF2B5EF4-FFF2-40B4-BE49-F238E27FC236}">
                <a16:creationId xmlns:a16="http://schemas.microsoft.com/office/drawing/2014/main" id="{C47C308A-AB58-CCA7-B920-C4B8E3149CF2}"/>
              </a:ext>
            </a:extLst>
          </p:cNvPr>
          <p:cNvGraphicFramePr>
            <a:graphicFrameLocks noGrp="1"/>
          </p:cNvGraphicFramePr>
          <p:nvPr>
            <p:extLst>
              <p:ext uri="{D42A27DB-BD31-4B8C-83A1-F6EECF244321}">
                <p14:modId xmlns:p14="http://schemas.microsoft.com/office/powerpoint/2010/main" val="1986082640"/>
              </p:ext>
            </p:extLst>
          </p:nvPr>
        </p:nvGraphicFramePr>
        <p:xfrm>
          <a:off x="6164297" y="476570"/>
          <a:ext cx="5915317" cy="1143743"/>
        </p:xfrm>
        <a:graphic>
          <a:graphicData uri="http://schemas.openxmlformats.org/drawingml/2006/table">
            <a:tbl>
              <a:tblPr/>
              <a:tblGrid>
                <a:gridCol w="421943">
                  <a:extLst>
                    <a:ext uri="{9D8B030D-6E8A-4147-A177-3AD203B41FA5}">
                      <a16:colId xmlns:a16="http://schemas.microsoft.com/office/drawing/2014/main" val="495084399"/>
                    </a:ext>
                  </a:extLst>
                </a:gridCol>
                <a:gridCol w="241835">
                  <a:extLst>
                    <a:ext uri="{9D8B030D-6E8A-4147-A177-3AD203B41FA5}">
                      <a16:colId xmlns:a16="http://schemas.microsoft.com/office/drawing/2014/main" val="3614210242"/>
                    </a:ext>
                  </a:extLst>
                </a:gridCol>
                <a:gridCol w="602569">
                  <a:extLst>
                    <a:ext uri="{9D8B030D-6E8A-4147-A177-3AD203B41FA5}">
                      <a16:colId xmlns:a16="http://schemas.microsoft.com/office/drawing/2014/main" val="1442124609"/>
                    </a:ext>
                  </a:extLst>
                </a:gridCol>
                <a:gridCol w="1898038">
                  <a:extLst>
                    <a:ext uri="{9D8B030D-6E8A-4147-A177-3AD203B41FA5}">
                      <a16:colId xmlns:a16="http://schemas.microsoft.com/office/drawing/2014/main" val="3603859997"/>
                    </a:ext>
                  </a:extLst>
                </a:gridCol>
                <a:gridCol w="360178">
                  <a:extLst>
                    <a:ext uri="{9D8B030D-6E8A-4147-A177-3AD203B41FA5}">
                      <a16:colId xmlns:a16="http://schemas.microsoft.com/office/drawing/2014/main" val="4076488391"/>
                    </a:ext>
                  </a:extLst>
                </a:gridCol>
                <a:gridCol w="278930">
                  <a:extLst>
                    <a:ext uri="{9D8B030D-6E8A-4147-A177-3AD203B41FA5}">
                      <a16:colId xmlns:a16="http://schemas.microsoft.com/office/drawing/2014/main" val="3254101706"/>
                    </a:ext>
                  </a:extLst>
                </a:gridCol>
                <a:gridCol w="353120">
                  <a:extLst>
                    <a:ext uri="{9D8B030D-6E8A-4147-A177-3AD203B41FA5}">
                      <a16:colId xmlns:a16="http://schemas.microsoft.com/office/drawing/2014/main" val="3712391277"/>
                    </a:ext>
                  </a:extLst>
                </a:gridCol>
                <a:gridCol w="266565">
                  <a:extLst>
                    <a:ext uri="{9D8B030D-6E8A-4147-A177-3AD203B41FA5}">
                      <a16:colId xmlns:a16="http://schemas.microsoft.com/office/drawing/2014/main" val="3811358726"/>
                    </a:ext>
                  </a:extLst>
                </a:gridCol>
                <a:gridCol w="266565">
                  <a:extLst>
                    <a:ext uri="{9D8B030D-6E8A-4147-A177-3AD203B41FA5}">
                      <a16:colId xmlns:a16="http://schemas.microsoft.com/office/drawing/2014/main" val="2527660299"/>
                    </a:ext>
                  </a:extLst>
                </a:gridCol>
                <a:gridCol w="384033">
                  <a:extLst>
                    <a:ext uri="{9D8B030D-6E8A-4147-A177-3AD203B41FA5}">
                      <a16:colId xmlns:a16="http://schemas.microsoft.com/office/drawing/2014/main" val="3641075278"/>
                    </a:ext>
                  </a:extLst>
                </a:gridCol>
                <a:gridCol w="841541">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Interim charge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5" name="表格 14">
            <a:extLst>
              <a:ext uri="{FF2B5EF4-FFF2-40B4-BE49-F238E27FC236}">
                <a16:creationId xmlns:a16="http://schemas.microsoft.com/office/drawing/2014/main" id="{5A97B855-F1D2-86FA-1E9D-43154B30C060}"/>
              </a:ext>
            </a:extLst>
          </p:cNvPr>
          <p:cNvGraphicFramePr>
            <a:graphicFrameLocks noGrp="1"/>
          </p:cNvGraphicFramePr>
          <p:nvPr>
            <p:extLst>
              <p:ext uri="{D42A27DB-BD31-4B8C-83A1-F6EECF244321}">
                <p14:modId xmlns:p14="http://schemas.microsoft.com/office/powerpoint/2010/main" val="2428181163"/>
              </p:ext>
            </p:extLst>
          </p:nvPr>
        </p:nvGraphicFramePr>
        <p:xfrm>
          <a:off x="6172491" y="1636962"/>
          <a:ext cx="5901002" cy="1143743"/>
        </p:xfrm>
        <a:graphic>
          <a:graphicData uri="http://schemas.openxmlformats.org/drawingml/2006/table">
            <a:tbl>
              <a:tblPr/>
              <a:tblGrid>
                <a:gridCol w="417685">
                  <a:extLst>
                    <a:ext uri="{9D8B030D-6E8A-4147-A177-3AD203B41FA5}">
                      <a16:colId xmlns:a16="http://schemas.microsoft.com/office/drawing/2014/main" val="495084399"/>
                    </a:ext>
                  </a:extLst>
                </a:gridCol>
                <a:gridCol w="238739">
                  <a:extLst>
                    <a:ext uri="{9D8B030D-6E8A-4147-A177-3AD203B41FA5}">
                      <a16:colId xmlns:a16="http://schemas.microsoft.com/office/drawing/2014/main" val="3614210242"/>
                    </a:ext>
                  </a:extLst>
                </a:gridCol>
                <a:gridCol w="550010">
                  <a:extLst>
                    <a:ext uri="{9D8B030D-6E8A-4147-A177-3AD203B41FA5}">
                      <a16:colId xmlns:a16="http://schemas.microsoft.com/office/drawing/2014/main" val="1442124609"/>
                    </a:ext>
                  </a:extLst>
                </a:gridCol>
                <a:gridCol w="1858828">
                  <a:extLst>
                    <a:ext uri="{9D8B030D-6E8A-4147-A177-3AD203B41FA5}">
                      <a16:colId xmlns:a16="http://schemas.microsoft.com/office/drawing/2014/main" val="3603859997"/>
                    </a:ext>
                  </a:extLst>
                </a:gridCol>
                <a:gridCol w="358693">
                  <a:extLst>
                    <a:ext uri="{9D8B030D-6E8A-4147-A177-3AD203B41FA5}">
                      <a16:colId xmlns:a16="http://schemas.microsoft.com/office/drawing/2014/main" val="4076488391"/>
                    </a:ext>
                  </a:extLst>
                </a:gridCol>
                <a:gridCol w="358693">
                  <a:extLst>
                    <a:ext uri="{9D8B030D-6E8A-4147-A177-3AD203B41FA5}">
                      <a16:colId xmlns:a16="http://schemas.microsoft.com/office/drawing/2014/main" val="3254101706"/>
                    </a:ext>
                  </a:extLst>
                </a:gridCol>
                <a:gridCol w="348599">
                  <a:extLst>
                    <a:ext uri="{9D8B030D-6E8A-4147-A177-3AD203B41FA5}">
                      <a16:colId xmlns:a16="http://schemas.microsoft.com/office/drawing/2014/main" val="3712391277"/>
                    </a:ext>
                  </a:extLst>
                </a:gridCol>
                <a:gridCol w="263152">
                  <a:extLst>
                    <a:ext uri="{9D8B030D-6E8A-4147-A177-3AD203B41FA5}">
                      <a16:colId xmlns:a16="http://schemas.microsoft.com/office/drawing/2014/main" val="4118002695"/>
                    </a:ext>
                  </a:extLst>
                </a:gridCol>
                <a:gridCol w="263152">
                  <a:extLst>
                    <a:ext uri="{9D8B030D-6E8A-4147-A177-3AD203B41FA5}">
                      <a16:colId xmlns:a16="http://schemas.microsoft.com/office/drawing/2014/main" val="2527660299"/>
                    </a:ext>
                  </a:extLst>
                </a:gridCol>
                <a:gridCol w="379115">
                  <a:extLst>
                    <a:ext uri="{9D8B030D-6E8A-4147-A177-3AD203B41FA5}">
                      <a16:colId xmlns:a16="http://schemas.microsoft.com/office/drawing/2014/main" val="3641075278"/>
                    </a:ext>
                  </a:extLst>
                </a:gridCol>
                <a:gridCol w="864336">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interim charge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16</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72864438"/>
                  </a:ext>
                </a:extLst>
              </a:tr>
              <a:tr h="91899">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6</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spTree>
    <p:extLst>
      <p:ext uri="{BB962C8B-B14F-4D97-AF65-F5344CB8AC3E}">
        <p14:creationId xmlns:p14="http://schemas.microsoft.com/office/powerpoint/2010/main" val="2139240069"/>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9D57783B-A42F-4876-04FE-2A1EBD0CDA1A}"/>
            </a:ext>
          </a:extLst>
        </p:cNvPr>
        <p:cNvGrpSpPr/>
        <p:nvPr/>
      </p:nvGrpSpPr>
      <p:grpSpPr>
        <a:xfrm>
          <a:off x="0" y="0"/>
          <a:ext cx="0" cy="0"/>
          <a:chOff x="0" y="0"/>
          <a:chExt cx="0" cy="0"/>
        </a:xfrm>
      </p:grpSpPr>
      <p:sp>
        <p:nvSpPr>
          <p:cNvPr id="5" name="Title 10">
            <a:extLst>
              <a:ext uri="{FF2B5EF4-FFF2-40B4-BE49-F238E27FC236}">
                <a16:creationId xmlns:a16="http://schemas.microsoft.com/office/drawing/2014/main" id="{C8322B54-C340-8A88-92F8-BA8CCF263FB5}"/>
              </a:ext>
            </a:extLst>
          </p:cNvPr>
          <p:cNvSpPr txBox="1">
            <a:spLocks/>
          </p:cNvSpPr>
          <p:nvPr/>
        </p:nvSpPr>
        <p:spPr>
          <a:xfrm>
            <a:off x="183838" y="236355"/>
            <a:ext cx="6350312" cy="421201"/>
          </a:xfrm>
          <a:prstGeom prst="rect">
            <a:avLst/>
          </a:prstGeom>
        </p:spPr>
        <p:txBody>
          <a:bodyPr vert="horz" lIns="91416" tIns="45708" rIns="91416" bIns="45708"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Interim charge treated as part of </a:t>
            </a:r>
            <a:r>
              <a:rPr kumimoji="0" lang="en-US" altLang="zh-CN" sz="2000" b="1" i="0" u="none" strike="noStrike" kern="1200" cap="none" spc="0" normalizeH="0" baseline="0" noProof="0" err="1">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leasing|AFE</a:t>
            </a: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a:t>
            </a:r>
            <a:r>
              <a:rPr lang="en-US" altLang="zh-CN" sz="2000"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F</a:t>
            </a:r>
            <a:r>
              <a:rPr kumimoji="0" lang="en-US" altLang="zh-CN" sz="2000" b="1"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L  </a:t>
            </a:r>
          </a:p>
        </p:txBody>
      </p:sp>
      <p:sp>
        <p:nvSpPr>
          <p:cNvPr id="7" name="对话气泡: 矩形 6">
            <a:extLst>
              <a:ext uri="{FF2B5EF4-FFF2-40B4-BE49-F238E27FC236}">
                <a16:creationId xmlns:a16="http://schemas.microsoft.com/office/drawing/2014/main" id="{62F8CC7F-3056-4835-B147-8A603562C165}"/>
              </a:ext>
            </a:extLst>
          </p:cNvPr>
          <p:cNvSpPr/>
          <p:nvPr/>
        </p:nvSpPr>
        <p:spPr>
          <a:xfrm>
            <a:off x="-1285876" y="3786944"/>
            <a:ext cx="1285769" cy="2451931"/>
          </a:xfrm>
          <a:prstGeom prst="wedgeRectCallout">
            <a:avLst>
              <a:gd name="adj1" fmla="val 66000"/>
              <a:gd name="adj2" fmla="val -5928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Assumption:</a:t>
            </a:r>
          </a:p>
          <a:p>
            <a:r>
              <a:rPr lang="en-US" altLang="zh-CN" sz="1400">
                <a:solidFill>
                  <a:srgbClr val="FF0000"/>
                </a:solidFill>
                <a:latin typeface="Tenorite" panose="00000500000000000000" pitchFamily="2" charset="0"/>
                <a:ea typeface="黑体" panose="02010609060101010101" pitchFamily="49" charset="-122"/>
                <a:cs typeface="Arial" panose="020B0604020202020204" pitchFamily="34" charset="0"/>
              </a:rPr>
              <a:t>Front end should pass interim charge amt when customer acceptance or before acceptance month end</a:t>
            </a:r>
          </a:p>
        </p:txBody>
      </p:sp>
      <p:graphicFrame>
        <p:nvGraphicFramePr>
          <p:cNvPr id="6" name="表格 5">
            <a:extLst>
              <a:ext uri="{FF2B5EF4-FFF2-40B4-BE49-F238E27FC236}">
                <a16:creationId xmlns:a16="http://schemas.microsoft.com/office/drawing/2014/main" id="{8749898F-2507-FF76-FF6E-CDF5EEF64A17}"/>
              </a:ext>
            </a:extLst>
          </p:cNvPr>
          <p:cNvGraphicFramePr>
            <a:graphicFrameLocks noGrp="1"/>
          </p:cNvGraphicFramePr>
          <p:nvPr>
            <p:extLst>
              <p:ext uri="{D42A27DB-BD31-4B8C-83A1-F6EECF244321}">
                <p14:modId xmlns:p14="http://schemas.microsoft.com/office/powerpoint/2010/main" val="721393019"/>
              </p:ext>
            </p:extLst>
          </p:nvPr>
        </p:nvGraphicFramePr>
        <p:xfrm>
          <a:off x="6087017" y="47255"/>
          <a:ext cx="5937440" cy="2217791"/>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790700">
                  <a:extLst>
                    <a:ext uri="{9D8B030D-6E8A-4147-A177-3AD203B41FA5}">
                      <a16:colId xmlns:a16="http://schemas.microsoft.com/office/drawing/2014/main" val="3603859997"/>
                    </a:ext>
                  </a:extLst>
                </a:gridCol>
                <a:gridCol w="543661">
                  <a:extLst>
                    <a:ext uri="{9D8B030D-6E8A-4147-A177-3AD203B41FA5}">
                      <a16:colId xmlns:a16="http://schemas.microsoft.com/office/drawing/2014/main" val="4076488391"/>
                    </a:ext>
                  </a:extLst>
                </a:gridCol>
                <a:gridCol w="543661">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273786">
                  <a:extLst>
                    <a:ext uri="{9D8B030D-6E8A-4147-A177-3AD203B41FA5}">
                      <a16:colId xmlns:a16="http://schemas.microsoft.com/office/drawing/2014/main" val="2527660299"/>
                    </a:ext>
                  </a:extLst>
                </a:gridCol>
                <a:gridCol w="394436">
                  <a:extLst>
                    <a:ext uri="{9D8B030D-6E8A-4147-A177-3AD203B41FA5}">
                      <a16:colId xmlns:a16="http://schemas.microsoft.com/office/drawing/2014/main" val="3641075278"/>
                    </a:ext>
                  </a:extLst>
                </a:gridCol>
                <a:gridCol w="286486">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Invoice &amp; Interim billing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a:solidFill>
                            <a:srgbClr val="000000"/>
                          </a:solidFill>
                          <a:effectLst/>
                          <a:latin typeface="Arial" panose="020B0604020202020204" pitchFamily="34" charset="0"/>
                        </a:rPr>
                        <a:t>At the beginning of the quarter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82+73.3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82+73.3</a:t>
                      </a:r>
                    </a:p>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1130600​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Unbilled AR(extent to interim line)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73.3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73.3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360618978"/>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703874C2-C727-8401-C480-3EF6FD7F189F}"/>
              </a:ext>
            </a:extLst>
          </p:cNvPr>
          <p:cNvGraphicFramePr>
            <a:graphicFrameLocks noGrp="1"/>
          </p:cNvGraphicFramePr>
          <p:nvPr>
            <p:extLst>
              <p:ext uri="{D42A27DB-BD31-4B8C-83A1-F6EECF244321}">
                <p14:modId xmlns:p14="http://schemas.microsoft.com/office/powerpoint/2010/main" val="4185437407"/>
              </p:ext>
            </p:extLst>
          </p:nvPr>
        </p:nvGraphicFramePr>
        <p:xfrm>
          <a:off x="6069976" y="2344519"/>
          <a:ext cx="6088729" cy="1143743"/>
        </p:xfrm>
        <a:graphic>
          <a:graphicData uri="http://schemas.openxmlformats.org/drawingml/2006/table">
            <a:tbl>
              <a:tblPr/>
              <a:tblGrid>
                <a:gridCol w="433762">
                  <a:extLst>
                    <a:ext uri="{9D8B030D-6E8A-4147-A177-3AD203B41FA5}">
                      <a16:colId xmlns:a16="http://schemas.microsoft.com/office/drawing/2014/main" val="495084399"/>
                    </a:ext>
                  </a:extLst>
                </a:gridCol>
                <a:gridCol w="238503">
                  <a:extLst>
                    <a:ext uri="{9D8B030D-6E8A-4147-A177-3AD203B41FA5}">
                      <a16:colId xmlns:a16="http://schemas.microsoft.com/office/drawing/2014/main" val="3614210242"/>
                    </a:ext>
                  </a:extLst>
                </a:gridCol>
                <a:gridCol w="567608">
                  <a:extLst>
                    <a:ext uri="{9D8B030D-6E8A-4147-A177-3AD203B41FA5}">
                      <a16:colId xmlns:a16="http://schemas.microsoft.com/office/drawing/2014/main" val="1442124609"/>
                    </a:ext>
                  </a:extLst>
                </a:gridCol>
                <a:gridCol w="2063172">
                  <a:extLst>
                    <a:ext uri="{9D8B030D-6E8A-4147-A177-3AD203B41FA5}">
                      <a16:colId xmlns:a16="http://schemas.microsoft.com/office/drawing/2014/main" val="3603859997"/>
                    </a:ext>
                  </a:extLst>
                </a:gridCol>
                <a:gridCol w="398802">
                  <a:extLst>
                    <a:ext uri="{9D8B030D-6E8A-4147-A177-3AD203B41FA5}">
                      <a16:colId xmlns:a16="http://schemas.microsoft.com/office/drawing/2014/main" val="4076488391"/>
                    </a:ext>
                  </a:extLst>
                </a:gridCol>
                <a:gridCol w="339282">
                  <a:extLst>
                    <a:ext uri="{9D8B030D-6E8A-4147-A177-3AD203B41FA5}">
                      <a16:colId xmlns:a16="http://schemas.microsoft.com/office/drawing/2014/main" val="3254101706"/>
                    </a:ext>
                  </a:extLst>
                </a:gridCol>
                <a:gridCol w="261312">
                  <a:extLst>
                    <a:ext uri="{9D8B030D-6E8A-4147-A177-3AD203B41FA5}">
                      <a16:colId xmlns:a16="http://schemas.microsoft.com/office/drawing/2014/main" val="3712391277"/>
                    </a:ext>
                  </a:extLst>
                </a:gridCol>
                <a:gridCol w="586504">
                  <a:extLst>
                    <a:ext uri="{9D8B030D-6E8A-4147-A177-3AD203B41FA5}">
                      <a16:colId xmlns:a16="http://schemas.microsoft.com/office/drawing/2014/main" val="134131131"/>
                    </a:ext>
                  </a:extLst>
                </a:gridCol>
                <a:gridCol w="334827">
                  <a:extLst>
                    <a:ext uri="{9D8B030D-6E8A-4147-A177-3AD203B41FA5}">
                      <a16:colId xmlns:a16="http://schemas.microsoft.com/office/drawing/2014/main" val="2527660299"/>
                    </a:ext>
                  </a:extLst>
                </a:gridCol>
                <a:gridCol w="368900">
                  <a:extLst>
                    <a:ext uri="{9D8B030D-6E8A-4147-A177-3AD203B41FA5}">
                      <a16:colId xmlns:a16="http://schemas.microsoft.com/office/drawing/2014/main" val="3641075278"/>
                    </a:ext>
                  </a:extLst>
                </a:gridCol>
                <a:gridCol w="496057">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payment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Quarterly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11" name="表格 10">
            <a:extLst>
              <a:ext uri="{FF2B5EF4-FFF2-40B4-BE49-F238E27FC236}">
                <a16:creationId xmlns:a16="http://schemas.microsoft.com/office/drawing/2014/main" id="{3FED2EAE-6526-53DE-2D77-E75D1A72B06F}"/>
              </a:ext>
            </a:extLst>
          </p:cNvPr>
          <p:cNvGraphicFramePr>
            <a:graphicFrameLocks noGrp="1"/>
          </p:cNvGraphicFramePr>
          <p:nvPr>
            <p:extLst>
              <p:ext uri="{D42A27DB-BD31-4B8C-83A1-F6EECF244321}">
                <p14:modId xmlns:p14="http://schemas.microsoft.com/office/powerpoint/2010/main" val="4127888379"/>
              </p:ext>
            </p:extLst>
          </p:nvPr>
        </p:nvGraphicFramePr>
        <p:xfrm>
          <a:off x="16254" y="1750385"/>
          <a:ext cx="6039293" cy="1139362"/>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Quarterly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13" name="表格 12">
            <a:extLst>
              <a:ext uri="{FF2B5EF4-FFF2-40B4-BE49-F238E27FC236}">
                <a16:creationId xmlns:a16="http://schemas.microsoft.com/office/drawing/2014/main" id="{D765EEEC-9CBC-BA39-BEAD-04432511A2F9}"/>
              </a:ext>
            </a:extLst>
          </p:cNvPr>
          <p:cNvGraphicFramePr>
            <a:graphicFrameLocks noGrp="1"/>
          </p:cNvGraphicFramePr>
          <p:nvPr>
            <p:extLst>
              <p:ext uri="{D42A27DB-BD31-4B8C-83A1-F6EECF244321}">
                <p14:modId xmlns:p14="http://schemas.microsoft.com/office/powerpoint/2010/main" val="3843283753"/>
              </p:ext>
            </p:extLst>
          </p:nvPr>
        </p:nvGraphicFramePr>
        <p:xfrm>
          <a:off x="16254" y="3743935"/>
          <a:ext cx="6039293" cy="951098"/>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1</a:t>
                      </a:r>
                      <a:r>
                        <a:rPr lang="en-US" sz="800" b="1" i="0" u="none" strike="noStrike" baseline="30000">
                          <a:solidFill>
                            <a:srgbClr val="FFFFFF"/>
                          </a:solidFill>
                          <a:effectLst/>
                          <a:latin typeface="Arial" panose="020B0604020202020204" pitchFamily="34" charset="0"/>
                        </a:rPr>
                        <a:t>st</a:t>
                      </a:r>
                      <a:r>
                        <a:rPr lang="en-US" sz="800" b="1" i="0" u="none" strike="noStrike">
                          <a:solidFill>
                            <a:srgbClr val="FFFFFF"/>
                          </a:solidFill>
                          <a:effectLst/>
                          <a:latin typeface="Arial" panose="020B0604020202020204" pitchFamily="34" charset="0"/>
                        </a:rPr>
                        <a:t>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1</a:t>
                      </a:r>
                      <a:r>
                        <a:rPr lang="en-US" sz="900" b="1" i="0" baseline="30000">
                          <a:solidFill>
                            <a:srgbClr val="000000"/>
                          </a:solidFill>
                          <a:effectLst/>
                          <a:latin typeface="Arial" panose="020B0604020202020204" pitchFamily="34" charset="0"/>
                        </a:rPr>
                        <a:t>st</a:t>
                      </a:r>
                      <a:r>
                        <a:rPr lang="en-US" sz="900" b="1" i="0">
                          <a:solidFill>
                            <a:srgbClr val="000000"/>
                          </a:solidFill>
                          <a:effectLst/>
                          <a:latin typeface="Arial" panose="020B0604020202020204" pitchFamily="34" charset="0"/>
                        </a:rPr>
                        <a:t> month of the quarter​</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16" name="表格 15">
            <a:extLst>
              <a:ext uri="{FF2B5EF4-FFF2-40B4-BE49-F238E27FC236}">
                <a16:creationId xmlns:a16="http://schemas.microsoft.com/office/drawing/2014/main" id="{18EB5EBB-2703-9488-E861-340FEB8DBC7A}"/>
              </a:ext>
            </a:extLst>
          </p:cNvPr>
          <p:cNvGraphicFramePr>
            <a:graphicFrameLocks noGrp="1"/>
          </p:cNvGraphicFramePr>
          <p:nvPr>
            <p:extLst>
              <p:ext uri="{D42A27DB-BD31-4B8C-83A1-F6EECF244321}">
                <p14:modId xmlns:p14="http://schemas.microsoft.com/office/powerpoint/2010/main" val="151969161"/>
              </p:ext>
            </p:extLst>
          </p:nvPr>
        </p:nvGraphicFramePr>
        <p:xfrm>
          <a:off x="6104544" y="3567735"/>
          <a:ext cx="6019595" cy="1247596"/>
        </p:xfrm>
        <a:graphic>
          <a:graphicData uri="http://schemas.openxmlformats.org/drawingml/2006/table">
            <a:tbl>
              <a:tblPr/>
              <a:tblGrid>
                <a:gridCol w="404375">
                  <a:extLst>
                    <a:ext uri="{9D8B030D-6E8A-4147-A177-3AD203B41FA5}">
                      <a16:colId xmlns:a16="http://schemas.microsoft.com/office/drawing/2014/main" val="1617715984"/>
                    </a:ext>
                  </a:extLst>
                </a:gridCol>
                <a:gridCol w="235036">
                  <a:extLst>
                    <a:ext uri="{9D8B030D-6E8A-4147-A177-3AD203B41FA5}">
                      <a16:colId xmlns:a16="http://schemas.microsoft.com/office/drawing/2014/main" val="3902748026"/>
                    </a:ext>
                  </a:extLst>
                </a:gridCol>
                <a:gridCol w="559356">
                  <a:extLst>
                    <a:ext uri="{9D8B030D-6E8A-4147-A177-3AD203B41FA5}">
                      <a16:colId xmlns:a16="http://schemas.microsoft.com/office/drawing/2014/main" val="4067912196"/>
                    </a:ext>
                  </a:extLst>
                </a:gridCol>
                <a:gridCol w="1770610">
                  <a:extLst>
                    <a:ext uri="{9D8B030D-6E8A-4147-A177-3AD203B41FA5}">
                      <a16:colId xmlns:a16="http://schemas.microsoft.com/office/drawing/2014/main" val="3080213113"/>
                    </a:ext>
                  </a:extLst>
                </a:gridCol>
                <a:gridCol w="426308">
                  <a:extLst>
                    <a:ext uri="{9D8B030D-6E8A-4147-A177-3AD203B41FA5}">
                      <a16:colId xmlns:a16="http://schemas.microsoft.com/office/drawing/2014/main" val="756085216"/>
                    </a:ext>
                  </a:extLst>
                </a:gridCol>
                <a:gridCol w="426308">
                  <a:extLst>
                    <a:ext uri="{9D8B030D-6E8A-4147-A177-3AD203B41FA5}">
                      <a16:colId xmlns:a16="http://schemas.microsoft.com/office/drawing/2014/main" val="769431567"/>
                    </a:ext>
                  </a:extLst>
                </a:gridCol>
                <a:gridCol w="341335">
                  <a:extLst>
                    <a:ext uri="{9D8B030D-6E8A-4147-A177-3AD203B41FA5}">
                      <a16:colId xmlns:a16="http://schemas.microsoft.com/office/drawing/2014/main" val="364744307"/>
                    </a:ext>
                  </a:extLst>
                </a:gridCol>
                <a:gridCol w="341335">
                  <a:extLst>
                    <a:ext uri="{9D8B030D-6E8A-4147-A177-3AD203B41FA5}">
                      <a16:colId xmlns:a16="http://schemas.microsoft.com/office/drawing/2014/main" val="1870084205"/>
                    </a:ext>
                  </a:extLst>
                </a:gridCol>
                <a:gridCol w="341335">
                  <a:extLst>
                    <a:ext uri="{9D8B030D-6E8A-4147-A177-3AD203B41FA5}">
                      <a16:colId xmlns:a16="http://schemas.microsoft.com/office/drawing/2014/main" val="851839846"/>
                    </a:ext>
                  </a:extLst>
                </a:gridCol>
                <a:gridCol w="385558">
                  <a:extLst>
                    <a:ext uri="{9D8B030D-6E8A-4147-A177-3AD203B41FA5}">
                      <a16:colId xmlns:a16="http://schemas.microsoft.com/office/drawing/2014/main" val="98552746"/>
                    </a:ext>
                  </a:extLst>
                </a:gridCol>
                <a:gridCol w="788039">
                  <a:extLst>
                    <a:ext uri="{9D8B030D-6E8A-4147-A177-3AD203B41FA5}">
                      <a16:colId xmlns:a16="http://schemas.microsoft.com/office/drawing/2014/main" val="678060234"/>
                    </a:ext>
                  </a:extLst>
                </a:gridCol>
              </a:tblGrid>
              <a:tr h="103742">
                <a:tc rowSpan="7">
                  <a:txBody>
                    <a:bodyPr/>
                    <a:lstStyle/>
                    <a:p>
                      <a:pPr marL="0" indent="0"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900" b="1" i="0">
                        <a:solidFill>
                          <a:srgbClr val="FFFFFF"/>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base">
                        <a:lnSpc>
                          <a:spcPts val="1200"/>
                        </a:lnSpc>
                        <a:buNone/>
                      </a:pPr>
                      <a:r>
                        <a:rPr lang="en-US" altLang="zh-CN" sz="800" b="1" i="0" u="none" strike="noStrike" kern="1200">
                          <a:solidFill>
                            <a:srgbClr val="FFFFFF"/>
                          </a:solidFill>
                          <a:effectLst/>
                          <a:latin typeface="Arial" panose="020B0604020202020204" pitchFamily="34" charset="0"/>
                          <a:ea typeface="+mn-ea"/>
                          <a:cs typeface="+mn-cs"/>
                        </a:rPr>
                        <a:t>Monthly Odessa entry</a:t>
                      </a:r>
                      <a:endParaRPr lang="en-US" sz="800" b="1" i="0" u="none" strike="noStrike" kern="1200">
                        <a:solidFill>
                          <a:srgbClr val="FFFFFF"/>
                        </a:solidFill>
                        <a:effectLst/>
                        <a:latin typeface="Arial" panose="020B0604020202020204" pitchFamily="34" charset="0"/>
                        <a:ea typeface="+mn-ea"/>
                        <a:cs typeface="+mn-cs"/>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646354682"/>
                  </a:ext>
                </a:extLst>
              </a:tr>
              <a:tr h="103742">
                <a:tc vMerge="1">
                  <a:txBody>
                    <a:bodyPr/>
                    <a:lstStyle/>
                    <a:p>
                      <a:endParaRPr lang="zh-CN" altLang="en-US"/>
                    </a:p>
                  </a:txBody>
                  <a:tcPr/>
                </a:tc>
                <a:tc gridSpan="10">
                  <a:txBody>
                    <a:bodyPr/>
                    <a:lstStyle/>
                    <a:p>
                      <a:pPr marL="0" indent="0" algn="ctr" fontAlgn="base">
                        <a:lnSpc>
                          <a:spcPts val="1200"/>
                        </a:lnSpc>
                        <a:buNone/>
                      </a:pPr>
                      <a:r>
                        <a:rPr lang="en-US" altLang="zh-CN" sz="900" b="1" i="0" u="none" strike="noStrike" spc="0">
                          <a:solidFill>
                            <a:srgbClr val="000000"/>
                          </a:solidFill>
                          <a:effectLst/>
                          <a:latin typeface="Arial" panose="020B0604020202020204" pitchFamily="34" charset="0"/>
                        </a:rPr>
                        <a:t>Each month end</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2466421016"/>
                  </a:ext>
                </a:extLst>
              </a:tr>
              <a:tr h="113434">
                <a:tc vMerge="1">
                  <a:txBody>
                    <a:bodyPr/>
                    <a:lstStyle/>
                    <a:p>
                      <a:endParaRPr lang="zh-CN" altLang="en-US"/>
                    </a:p>
                  </a:txBody>
                  <a:tcPr/>
                </a:tc>
                <a:tc gridSpan="3">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indent="0" algn="ctr" fontAlgn="base">
                        <a:lnSpc>
                          <a:spcPts val="1200"/>
                        </a:lnSpc>
                        <a:buNone/>
                      </a:pPr>
                      <a:r>
                        <a:rPr lang="en-US" sz="900" b="1" i="0" u="none" strike="noStrike" spc="0">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2007126138"/>
                  </a:ext>
                </a:extLst>
              </a:tr>
              <a:tr h="104490">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1400303</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Lease Receivable Interest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111</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111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32836901"/>
                  </a:ext>
                </a:extLst>
              </a:tr>
              <a:tr h="104490">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5010514</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Interest Income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111</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111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69465504"/>
                  </a:ext>
                </a:extLst>
              </a:tr>
              <a:tr h="104490">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Residual Value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16</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60109760"/>
                  </a:ext>
                </a:extLst>
              </a:tr>
              <a:tr h="104490">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5010514</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Interest Income </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a:solidFill>
                            <a:srgbClr val="000000"/>
                          </a:solidFill>
                          <a:effectLst/>
                          <a:latin typeface="Arial" panose="020B0604020202020204" pitchFamily="34" charset="0"/>
                        </a:rPr>
                        <a:t>16</a:t>
                      </a:r>
                      <a:r>
                        <a:rPr lang="zh-CN" sz="900" b="0" i="0">
                          <a:solidFill>
                            <a:srgbClr val="000000"/>
                          </a:solidFill>
                          <a:effectLst/>
                          <a:ea typeface="Arial" panose="020B0604020202020204" pitchFamily="34" charset="0"/>
                        </a:rPr>
                        <a:t>​</a:t>
                      </a:r>
                      <a:endParaRPr lang="zh-CN"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16</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X1</a:t>
                      </a:r>
                      <a:r>
                        <a:rPr lang="en-US" sz="900" b="0" i="0">
                          <a:solidFill>
                            <a:srgbClr val="000000"/>
                          </a:solidFill>
                          <a:effectLst/>
                          <a:latin typeface="Arial" panose="020B0604020202020204" pitchFamily="34" charset="0"/>
                        </a:rPr>
                        <a:t>​</a:t>
                      </a:r>
                      <a:endParaRPr lang="en-US" sz="900" b="0" i="0">
                        <a:solidFill>
                          <a:srgbClr val="000000"/>
                        </a:solidFill>
                        <a:effectLst/>
                      </a:endParaRPr>
                    </a:p>
                  </a:txBody>
                  <a:tcPr marL="31531" marR="31531" marT="15766" marB="1576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69087775"/>
                  </a:ext>
                </a:extLst>
              </a:tr>
            </a:tbl>
          </a:graphicData>
        </a:graphic>
      </p:graphicFrame>
    </p:spTree>
    <p:extLst>
      <p:ext uri="{BB962C8B-B14F-4D97-AF65-F5344CB8AC3E}">
        <p14:creationId xmlns:p14="http://schemas.microsoft.com/office/powerpoint/2010/main" val="197518041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161696-A5F4-21B9-D8A1-FAEC194011A4}"/>
            </a:ext>
          </a:extLst>
        </p:cNvPr>
        <p:cNvGrpSpPr/>
        <p:nvPr/>
      </p:nvGrpSpPr>
      <p:grpSpPr>
        <a:xfrm>
          <a:off x="0" y="0"/>
          <a:ext cx="0" cy="0"/>
          <a:chOff x="0" y="0"/>
          <a:chExt cx="0" cy="0"/>
        </a:xfrm>
      </p:grpSpPr>
      <p:sp>
        <p:nvSpPr>
          <p:cNvPr id="8" name="Title 1">
            <a:extLst>
              <a:ext uri="{FF2B5EF4-FFF2-40B4-BE49-F238E27FC236}">
                <a16:creationId xmlns:a16="http://schemas.microsoft.com/office/drawing/2014/main" id="{5808C351-71F8-D0BF-78F0-141F8AC7862E}"/>
              </a:ext>
            </a:extLst>
          </p:cNvPr>
          <p:cNvSpPr txBox="1">
            <a:spLocks/>
          </p:cNvSpPr>
          <p:nvPr/>
        </p:nvSpPr>
        <p:spPr>
          <a:xfrm>
            <a:off x="62809" y="82307"/>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lvl="0" algn="l">
              <a:defRPr/>
            </a:pPr>
            <a:r>
              <a:rPr lang="en-US" sz="2800" b="1">
                <a:solidFill>
                  <a:prstClr val="black"/>
                </a:solidFill>
              </a:rPr>
              <a:t>Mid Term Re-Write|</a:t>
            </a:r>
            <a:r>
              <a:rPr kumimoji="0" lang="en-US" sz="2800" b="1" i="0" u="none" strike="noStrike" kern="1200" cap="none" spc="0" normalizeH="0" baseline="0" noProof="0">
                <a:ln>
                  <a:noFill/>
                </a:ln>
                <a:solidFill>
                  <a:prstClr val="black"/>
                </a:solidFill>
                <a:effectLst/>
                <a:uLnTx/>
                <a:uFillTx/>
                <a:latin typeface="Aptos Display" panose="020F0302020204030204"/>
                <a:ea typeface="+mj-ea"/>
                <a:cs typeface="+mj-cs"/>
              </a:rPr>
              <a:t>Key Scope and Assumption in </a:t>
            </a:r>
            <a:r>
              <a:rPr kumimoji="0" lang="en-US" sz="2800" b="1" i="0" u="none" strike="noStrike" kern="1200" cap="none" spc="0" normalizeH="0" baseline="0" noProof="0" err="1">
                <a:ln>
                  <a:noFill/>
                </a:ln>
                <a:solidFill>
                  <a:prstClr val="black"/>
                </a:solidFill>
                <a:effectLst/>
                <a:uLnTx/>
                <a:uFillTx/>
                <a:latin typeface="Aptos Display" panose="020F0302020204030204"/>
                <a:ea typeface="+mj-ea"/>
                <a:cs typeface="+mj-cs"/>
              </a:rPr>
              <a:t>Nexbill</a:t>
            </a:r>
            <a:endParaRPr kumimoji="0" lang="en-US" sz="3600" b="1" i="0" u="none" strike="noStrike" kern="1200" cap="none" spc="0" normalizeH="0" baseline="0" noProof="0">
              <a:ln>
                <a:noFill/>
              </a:ln>
              <a:solidFill>
                <a:prstClr val="black"/>
              </a:solidFill>
              <a:effectLst/>
              <a:uLnTx/>
              <a:uFillTx/>
              <a:latin typeface="Aptos Display" panose="020F0302020204030204"/>
              <a:ea typeface="+mj-ea"/>
              <a:cs typeface="+mj-cs"/>
            </a:endParaRPr>
          </a:p>
        </p:txBody>
      </p:sp>
      <p:graphicFrame>
        <p:nvGraphicFramePr>
          <p:cNvPr id="6" name="Table 5">
            <a:extLst>
              <a:ext uri="{FF2B5EF4-FFF2-40B4-BE49-F238E27FC236}">
                <a16:creationId xmlns:a16="http://schemas.microsoft.com/office/drawing/2014/main" id="{97B81D7B-C218-BA52-7B31-59F72ABAB57E}"/>
              </a:ext>
            </a:extLst>
          </p:cNvPr>
          <p:cNvGraphicFramePr>
            <a:graphicFrameLocks noGrp="1"/>
          </p:cNvGraphicFramePr>
          <p:nvPr>
            <p:extLst>
              <p:ext uri="{D42A27DB-BD31-4B8C-83A1-F6EECF244321}">
                <p14:modId xmlns:p14="http://schemas.microsoft.com/office/powerpoint/2010/main" val="2740019668"/>
              </p:ext>
            </p:extLst>
          </p:nvPr>
        </p:nvGraphicFramePr>
        <p:xfrm>
          <a:off x="3870775" y="661143"/>
          <a:ext cx="8278771" cy="6004560"/>
        </p:xfrm>
        <a:graphic>
          <a:graphicData uri="http://schemas.openxmlformats.org/drawingml/2006/table">
            <a:tbl>
              <a:tblPr firstRow="1" bandRow="1">
                <a:tableStyleId>{5C22544A-7EE6-4342-B048-85BDC9FD1C3A}</a:tableStyleId>
              </a:tblPr>
              <a:tblGrid>
                <a:gridCol w="476611">
                  <a:extLst>
                    <a:ext uri="{9D8B030D-6E8A-4147-A177-3AD203B41FA5}">
                      <a16:colId xmlns:a16="http://schemas.microsoft.com/office/drawing/2014/main" val="590487580"/>
                    </a:ext>
                  </a:extLst>
                </a:gridCol>
                <a:gridCol w="996139">
                  <a:extLst>
                    <a:ext uri="{9D8B030D-6E8A-4147-A177-3AD203B41FA5}">
                      <a16:colId xmlns:a16="http://schemas.microsoft.com/office/drawing/2014/main" val="3195040165"/>
                    </a:ext>
                  </a:extLst>
                </a:gridCol>
                <a:gridCol w="6806021">
                  <a:extLst>
                    <a:ext uri="{9D8B030D-6E8A-4147-A177-3AD203B41FA5}">
                      <a16:colId xmlns:a16="http://schemas.microsoft.com/office/drawing/2014/main" val="3020975192"/>
                    </a:ext>
                  </a:extLst>
                </a:gridCol>
              </a:tblGrid>
              <a:tr h="212822">
                <a:tc>
                  <a:txBody>
                    <a:bodyPr/>
                    <a:lstStyle/>
                    <a:p>
                      <a:pPr algn="ctr"/>
                      <a:r>
                        <a:rPr lang="en-US" sz="1000"/>
                        <a:t>No</a:t>
                      </a:r>
                    </a:p>
                  </a:txBody>
                  <a:tcPr anchor="ctr"/>
                </a:tc>
                <a:tc>
                  <a:txBody>
                    <a:bodyPr/>
                    <a:lstStyle/>
                    <a:p>
                      <a:r>
                        <a:rPr lang="en-US" sz="1000"/>
                        <a:t>C</a:t>
                      </a:r>
                      <a:r>
                        <a:rPr lang="en-US" altLang="zh-CN" sz="1000"/>
                        <a:t>ategory</a:t>
                      </a:r>
                      <a:endParaRPr lang="en-US" sz="1000"/>
                    </a:p>
                  </a:txBody>
                  <a:tcPr anchor="ctr"/>
                </a:tc>
                <a:tc>
                  <a:txBody>
                    <a:bodyPr/>
                    <a:lstStyle/>
                    <a:p>
                      <a:r>
                        <a:rPr lang="en-US" sz="1000"/>
                        <a:t>Description</a:t>
                      </a:r>
                    </a:p>
                  </a:txBody>
                  <a:tcPr anchor="ctr"/>
                </a:tc>
                <a:extLst>
                  <a:ext uri="{0D108BD9-81ED-4DB2-BD59-A6C34878D82A}">
                    <a16:rowId xmlns:a16="http://schemas.microsoft.com/office/drawing/2014/main" val="3093137312"/>
                  </a:ext>
                </a:extLst>
              </a:tr>
              <a:tr h="877893">
                <a:tc>
                  <a:txBody>
                    <a:bodyPr/>
                    <a:lstStyle/>
                    <a:p>
                      <a:pPr algn="ctr"/>
                      <a:r>
                        <a:rPr lang="en-US" sz="1000"/>
                        <a:t>1</a:t>
                      </a:r>
                    </a:p>
                  </a:txBody>
                  <a:tcPr anchor="ctr"/>
                </a:tc>
                <a:tc>
                  <a:txBody>
                    <a:bodyPr/>
                    <a:lstStyle/>
                    <a:p>
                      <a:r>
                        <a:rPr lang="en-US" sz="1000"/>
                        <a:t>Scope</a:t>
                      </a:r>
                    </a:p>
                  </a:txBody>
                  <a:tcPr anchor="ctr"/>
                </a:tc>
                <a:tc>
                  <a:txBody>
                    <a:bodyPr/>
                    <a:lstStyle/>
                    <a:p>
                      <a:pPr marL="171450" indent="-171450">
                        <a:buFont typeface="Arial" panose="020B0604020202020204" pitchFamily="34" charset="0"/>
                        <a:buChar char="•"/>
                      </a:pPr>
                      <a:r>
                        <a:rPr lang="en-US" altLang="zh-CN" sz="1000"/>
                        <a:t>Countries: as-is EAAS enabled AP/EMEA/NA countries, LA will be considered along with EAAS rollout</a:t>
                      </a:r>
                    </a:p>
                    <a:p>
                      <a:pPr marL="171450" indent="-171450">
                        <a:buFont typeface="Arial" panose="020B0604020202020204" pitchFamily="34" charset="0"/>
                        <a:buChar char="•"/>
                      </a:pPr>
                      <a:r>
                        <a:rPr lang="en-US" altLang="zh-CN" sz="1000"/>
                        <a:t>Model: S&amp;D/AFE/AFE Hub/</a:t>
                      </a:r>
                      <a:r>
                        <a:rPr lang="en-US" altLang="zh-CN" sz="1000" strike="sngStrike">
                          <a:solidFill>
                            <a:schemeClr val="bg1">
                              <a:lumMod val="50000"/>
                            </a:schemeClr>
                          </a:solidFill>
                        </a:rPr>
                        <a:t>Central Billing</a:t>
                      </a:r>
                    </a:p>
                    <a:p>
                      <a:pPr marL="171450" indent="-171450">
                        <a:buFont typeface="Arial" panose="020B0604020202020204" pitchFamily="34" charset="0"/>
                        <a:buChar char="•"/>
                      </a:pPr>
                      <a:r>
                        <a:rPr lang="en-US" altLang="zh-CN" sz="1000"/>
                        <a:t>Offering: DaaS/</a:t>
                      </a:r>
                      <a:r>
                        <a:rPr lang="en-US" altLang="zh-CN" sz="1000" strike="sngStrike" kern="1200">
                          <a:solidFill>
                            <a:schemeClr val="bg1">
                              <a:lumMod val="50000"/>
                            </a:schemeClr>
                          </a:solidFill>
                          <a:latin typeface="+mn-lt"/>
                          <a:ea typeface="+mn-ea"/>
                          <a:cs typeface="+mn-cs"/>
                        </a:rPr>
                        <a:t>IaaS</a:t>
                      </a:r>
                      <a:r>
                        <a:rPr lang="en-US" altLang="zh-CN" sz="1000" strike="noStrike">
                          <a:solidFill>
                            <a:schemeClr val="tx1"/>
                          </a:solidFill>
                        </a:rPr>
                        <a:t>/</a:t>
                      </a:r>
                      <a:r>
                        <a:rPr lang="en-US" altLang="zh-CN" sz="1000"/>
                        <a:t>ISGLEASE</a:t>
                      </a:r>
                      <a:r>
                        <a:rPr lang="en-US" altLang="zh-CN" sz="1000" strike="sngStrike">
                          <a:solidFill>
                            <a:schemeClr val="bg1">
                              <a:lumMod val="50000"/>
                            </a:schemeClr>
                          </a:solidFill>
                        </a:rPr>
                        <a:t>/Managed Capex</a:t>
                      </a:r>
                    </a:p>
                    <a:p>
                      <a:pPr marL="171450" indent="-171450">
                        <a:buFont typeface="Arial" panose="020B0604020202020204" pitchFamily="34" charset="0"/>
                        <a:buChar char="•"/>
                      </a:pPr>
                      <a:r>
                        <a:rPr lang="en-US" altLang="zh-CN" sz="1000" strike="noStrike"/>
                        <a:t>Contract: MLA</a:t>
                      </a:r>
                      <a:endParaRPr lang="en-US" altLang="zh-CN" sz="1000" strike="noStrike" kern="1200">
                        <a:solidFill>
                          <a:schemeClr val="dk1"/>
                        </a:solidFill>
                        <a:latin typeface="+mn-lt"/>
                        <a:ea typeface="+mn-ea"/>
                        <a:cs typeface="+mn-cs"/>
                      </a:endParaRPr>
                    </a:p>
                    <a:p>
                      <a:pPr marL="171450" indent="-171450">
                        <a:buFont typeface="Arial" panose="020B0604020202020204" pitchFamily="34" charset="0"/>
                        <a:buChar char="•"/>
                      </a:pPr>
                      <a:r>
                        <a:rPr lang="en-US" altLang="zh-CN" sz="1000" strike="noStrike" kern="1200">
                          <a:solidFill>
                            <a:schemeClr val="dk1"/>
                          </a:solidFill>
                          <a:latin typeface="+mn-lt"/>
                          <a:ea typeface="+mn-ea"/>
                          <a:cs typeface="+mn-cs"/>
                        </a:rPr>
                        <a:t>Funding Model: Internal/</a:t>
                      </a:r>
                      <a:r>
                        <a:rPr lang="en-US" altLang="zh-CN" sz="1000" strike="noStrike" kern="1200">
                          <a:solidFill>
                            <a:srgbClr val="FF0000"/>
                          </a:solidFill>
                          <a:latin typeface="+mn-lt"/>
                          <a:ea typeface="+mn-ea"/>
                          <a:cs typeface="+mn-cs"/>
                        </a:rPr>
                        <a:t>SOR(TBD)</a:t>
                      </a:r>
                    </a:p>
                    <a:p>
                      <a:pPr marL="171450" marR="0" lvl="0" indent="-171450" algn="l" defTabSz="121862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000" strike="noStrike" kern="1200" noProof="0">
                          <a:solidFill>
                            <a:schemeClr val="dk1"/>
                          </a:solidFill>
                          <a:latin typeface="+mn-lt"/>
                          <a:ea typeface="+mn-ea"/>
                          <a:cs typeface="+mn-cs"/>
                        </a:rPr>
                        <a:t>Change events: Early termination,</a:t>
                      </a:r>
                      <a:r>
                        <a:rPr lang="en-US" altLang="zh-CN" sz="1000"/>
                        <a:t> EOT extension</a:t>
                      </a:r>
                      <a:r>
                        <a:rPr lang="en-US" altLang="zh-CN" sz="1000" strike="noStrike" kern="1200" noProof="0">
                          <a:solidFill>
                            <a:schemeClr val="dk1"/>
                          </a:solidFill>
                          <a:latin typeface="+mn-lt"/>
                          <a:ea typeface="+mn-ea"/>
                          <a:cs typeface="+mn-cs"/>
                        </a:rPr>
                        <a:t> </a:t>
                      </a:r>
                      <a:r>
                        <a:rPr lang="en-US" altLang="zh-CN" sz="1000" strike="sngStrike" kern="1200" noProof="0">
                          <a:solidFill>
                            <a:schemeClr val="bg2">
                              <a:lumMod val="50000"/>
                            </a:schemeClr>
                          </a:solidFill>
                          <a:latin typeface="+mn-lt"/>
                          <a:ea typeface="+mn-ea"/>
                          <a:cs typeface="+mn-cs"/>
                        </a:rPr>
                        <a:t>Flex Options</a:t>
                      </a:r>
                    </a:p>
                  </a:txBody>
                  <a:tcPr anchor="ctr"/>
                </a:tc>
                <a:extLst>
                  <a:ext uri="{0D108BD9-81ED-4DB2-BD59-A6C34878D82A}">
                    <a16:rowId xmlns:a16="http://schemas.microsoft.com/office/drawing/2014/main" val="4079242787"/>
                  </a:ext>
                </a:extLst>
              </a:tr>
              <a:tr h="212822">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000"/>
                        <a:t>2</a:t>
                      </a:r>
                    </a:p>
                  </a:txBody>
                  <a:tcPr anchor="ct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r>
                        <a:rPr kumimoji="0" lang="en-US" altLang="zh-CN" sz="1000" b="0" i="0" u="none" strike="noStrike" kern="1200" cap="none" spc="0" normalizeH="0" baseline="0" noProof="0">
                          <a:ln>
                            <a:noFill/>
                          </a:ln>
                          <a:solidFill>
                            <a:prstClr val="black"/>
                          </a:solidFill>
                          <a:effectLst/>
                          <a:uLnTx/>
                          <a:uFillTx/>
                          <a:latin typeface="+mn-lt"/>
                          <a:ea typeface="+mn-ea"/>
                          <a:cs typeface="+mn-cs"/>
                        </a:rPr>
                        <a:t>Assumption</a:t>
                      </a:r>
                      <a:endParaRPr lang="en-US" sz="1000"/>
                    </a:p>
                  </a:txBody>
                  <a:tcPr anchor="ct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r>
                        <a:rPr lang="en-US" sz="1000"/>
                        <a:t>All assumptions from the as-is scenario BSR </a:t>
                      </a:r>
                      <a:r>
                        <a:rPr lang="en-US" altLang="zh-CN" sz="1000"/>
                        <a:t>session </a:t>
                      </a:r>
                      <a:r>
                        <a:rPr lang="en-US" sz="1000"/>
                        <a:t>shall be followed.</a:t>
                      </a:r>
                    </a:p>
                  </a:txBody>
                  <a:tcPr anchor="ctr"/>
                </a:tc>
                <a:extLst>
                  <a:ext uri="{0D108BD9-81ED-4DB2-BD59-A6C34878D82A}">
                    <a16:rowId xmlns:a16="http://schemas.microsoft.com/office/drawing/2014/main" val="276218728"/>
                  </a:ext>
                </a:extLst>
              </a:tr>
              <a:tr h="478850">
                <a:tc>
                  <a:txBody>
                    <a:bodyPr/>
                    <a:lstStyle/>
                    <a:p>
                      <a:pPr algn="ctr"/>
                      <a:r>
                        <a:rPr lang="en-US" sz="1000"/>
                        <a:t>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Assumption</a:t>
                      </a:r>
                    </a:p>
                  </a:txBody>
                  <a:tcPr anchor="ctr"/>
                </a:tc>
                <a:tc>
                  <a:txBody>
                    <a:bodyPr/>
                    <a:lstStyle/>
                    <a:p>
                      <a:r>
                        <a:rPr lang="en-US" altLang="zh-CN" sz="1000"/>
                        <a:t>The rewrite of price &amp; term is on tranche level, and rewrite is applicable to all the assets within the tranche.</a:t>
                      </a:r>
                      <a:r>
                        <a:rPr lang="zh-CN" altLang="en-US" sz="1000"/>
                        <a:t> </a:t>
                      </a:r>
                      <a:r>
                        <a:rPr lang="en-US" altLang="zh-CN" sz="1000"/>
                        <a:t>The</a:t>
                      </a:r>
                      <a:r>
                        <a:rPr lang="zh-CN" altLang="en-US" sz="1000"/>
                        <a:t> </a:t>
                      </a:r>
                      <a:r>
                        <a:rPr lang="en-US" altLang="zh-CN" sz="1000"/>
                        <a:t>rewrite</a:t>
                      </a:r>
                      <a:r>
                        <a:rPr lang="zh-CN" altLang="en-US" sz="1000"/>
                        <a:t> </a:t>
                      </a:r>
                      <a:r>
                        <a:rPr lang="en-US" altLang="zh-CN" sz="1000"/>
                        <a:t>of</a:t>
                      </a:r>
                      <a:r>
                        <a:rPr lang="zh-CN" altLang="en-US" sz="1000"/>
                        <a:t> </a:t>
                      </a:r>
                      <a:r>
                        <a:rPr lang="en-US" altLang="zh-CN" sz="1000"/>
                        <a:t>price</a:t>
                      </a:r>
                      <a:r>
                        <a:rPr lang="zh-CN" altLang="en-US" sz="1000"/>
                        <a:t> </a:t>
                      </a:r>
                      <a:r>
                        <a:rPr lang="en-US" altLang="zh-CN" sz="1000"/>
                        <a:t>is</a:t>
                      </a:r>
                      <a:r>
                        <a:rPr lang="zh-CN" altLang="en-US" sz="1000"/>
                        <a:t> </a:t>
                      </a:r>
                      <a:r>
                        <a:rPr lang="en-US" altLang="zh-CN" sz="1000"/>
                        <a:t>for</a:t>
                      </a:r>
                      <a:r>
                        <a:rPr lang="zh-CN" altLang="en-US" sz="1000"/>
                        <a:t> </a:t>
                      </a:r>
                      <a:r>
                        <a:rPr lang="en-US" altLang="zh-CN" sz="1000"/>
                        <a:t>monthly charge for whole tranche, which must include effective date, new recurring charge of the whole tranche and rewrite terms.</a:t>
                      </a:r>
                      <a:endParaRPr lang="en-US" sz="1000"/>
                    </a:p>
                  </a:txBody>
                  <a:tcPr anchor="ctr"/>
                </a:tc>
                <a:extLst>
                  <a:ext uri="{0D108BD9-81ED-4DB2-BD59-A6C34878D82A}">
                    <a16:rowId xmlns:a16="http://schemas.microsoft.com/office/drawing/2014/main" val="3200209679"/>
                  </a:ext>
                </a:extLst>
              </a:tr>
              <a:tr h="232542">
                <a:tc>
                  <a:txBody>
                    <a:bodyPr/>
                    <a:lstStyle/>
                    <a:p>
                      <a:pPr algn="ctr"/>
                      <a:r>
                        <a:rPr lang="en-US" sz="1000"/>
                        <a:t>4</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a:t>Rewrite funded items applies Pro-rata approach</a:t>
                      </a:r>
                      <a:r>
                        <a:rPr lang="en-US" sz="1000"/>
                        <a:t>;</a:t>
                      </a:r>
                    </a:p>
                  </a:txBody>
                  <a:tcPr anchor="ctr"/>
                </a:tc>
                <a:extLst>
                  <a:ext uri="{0D108BD9-81ED-4DB2-BD59-A6C34878D82A}">
                    <a16:rowId xmlns:a16="http://schemas.microsoft.com/office/drawing/2014/main" val="95897873"/>
                  </a:ext>
                </a:extLst>
              </a:tr>
              <a:tr h="212822">
                <a:tc>
                  <a:txBody>
                    <a:bodyPr/>
                    <a:lstStyle/>
                    <a:p>
                      <a:pPr algn="ctr"/>
                      <a:r>
                        <a:rPr lang="en-US" sz="1000"/>
                        <a:t>5</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Assumption</a:t>
                      </a:r>
                    </a:p>
                  </a:txBody>
                  <a:tcPr anchor="ctr"/>
                </a:tc>
                <a:tc>
                  <a:txBody>
                    <a:bodyPr/>
                    <a:lstStyle/>
                    <a:p>
                      <a:r>
                        <a:rPr lang="en-US" sz="1000"/>
                        <a:t>If lease type change after rewrite, then recalculation will be needed. </a:t>
                      </a:r>
                    </a:p>
                  </a:txBody>
                  <a:tcPr anchor="ctr"/>
                </a:tc>
                <a:extLst>
                  <a:ext uri="{0D108BD9-81ED-4DB2-BD59-A6C34878D82A}">
                    <a16:rowId xmlns:a16="http://schemas.microsoft.com/office/drawing/2014/main" val="215016291"/>
                  </a:ext>
                </a:extLst>
              </a:tr>
              <a:tr h="345836">
                <a:tc>
                  <a:txBody>
                    <a:bodyPr/>
                    <a:lstStyle/>
                    <a:p>
                      <a:pPr algn="ctr"/>
                      <a:r>
                        <a:rPr lang="en-US" sz="1000"/>
                        <a:t>6</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Only enable rewrite future term, back term rewrite is not allowed(precondition is final invoice is not issued, or credit invoice is issued)</a:t>
                      </a:r>
                    </a:p>
                  </a:txBody>
                  <a:tcPr anchor="ctr"/>
                </a:tc>
                <a:extLst>
                  <a:ext uri="{0D108BD9-81ED-4DB2-BD59-A6C34878D82A}">
                    <a16:rowId xmlns:a16="http://schemas.microsoft.com/office/drawing/2014/main" val="2796129695"/>
                  </a:ext>
                </a:extLst>
              </a:tr>
              <a:tr h="611865">
                <a:tc>
                  <a:txBody>
                    <a:bodyPr/>
                    <a:lstStyle/>
                    <a:p>
                      <a:pPr algn="ctr"/>
                      <a:r>
                        <a:rPr lang="en-US" sz="1000"/>
                        <a:t>7</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ptos" panose="020B0004020202020204"/>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a:solidFill>
                            <a:srgbClr val="FF0000"/>
                          </a:solidFill>
                        </a:rPr>
                        <a:t>(TBD)</a:t>
                      </a:r>
                      <a:r>
                        <a:rPr lang="en-US" sz="1000">
                          <a:solidFill>
                            <a:srgbClr val="FF0000"/>
                          </a:solidFill>
                        </a:rPr>
                        <a:t>Rewrite only applicable for structure payment monthly price not monthly payment schedule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000">
                          <a:solidFill>
                            <a:srgbClr val="FF0000"/>
                          </a:solidFill>
                        </a:rPr>
                        <a:t>Execution has two steps: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000">
                          <a:solidFill>
                            <a:srgbClr val="FF0000"/>
                          </a:solidFill>
                        </a:rPr>
                        <a:t>Step 1: Mid Term Write for price and term;</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000">
                          <a:solidFill>
                            <a:srgbClr val="FF0000"/>
                          </a:solidFill>
                        </a:rPr>
                        <a:t>Step 2: Structure Payment for each model in the tranche; </a:t>
                      </a:r>
                    </a:p>
                  </a:txBody>
                  <a:tcPr anchor="ctr"/>
                </a:tc>
                <a:extLst>
                  <a:ext uri="{0D108BD9-81ED-4DB2-BD59-A6C34878D82A}">
                    <a16:rowId xmlns:a16="http://schemas.microsoft.com/office/drawing/2014/main" val="2375810649"/>
                  </a:ext>
                </a:extLst>
              </a:tr>
              <a:tr h="212822">
                <a:tc>
                  <a:txBody>
                    <a:bodyPr/>
                    <a:lstStyle/>
                    <a:p>
                      <a:pPr algn="ctr"/>
                      <a:r>
                        <a:rPr lang="en-US" sz="1000"/>
                        <a:t>8</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Rewrite is effective only when devices delivered and after commence</a:t>
                      </a:r>
                    </a:p>
                  </a:txBody>
                  <a:tcPr anchor="ctr"/>
                </a:tc>
                <a:extLst>
                  <a:ext uri="{0D108BD9-81ED-4DB2-BD59-A6C34878D82A}">
                    <a16:rowId xmlns:a16="http://schemas.microsoft.com/office/drawing/2014/main" val="1583970167"/>
                  </a:ext>
                </a:extLst>
              </a:tr>
              <a:tr h="478850">
                <a:tc>
                  <a:txBody>
                    <a:bodyPr/>
                    <a:lstStyle/>
                    <a:p>
                      <a:pPr algn="ctr"/>
                      <a:r>
                        <a:rPr lang="en-US" sz="1000"/>
                        <a:t>9</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mn-lt"/>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N</a:t>
                      </a:r>
                      <a:r>
                        <a:rPr lang="en-US" altLang="zh-CN" sz="1000" b="1"/>
                        <a:t>o</a:t>
                      </a:r>
                      <a:r>
                        <a:rPr lang="en-US" altLang="zh-CN" sz="1000"/>
                        <a:t> warranty/premier support service will be provided for EOT extension.(e.g. from 49</a:t>
                      </a:r>
                      <a:r>
                        <a:rPr lang="en-US" altLang="zh-CN" sz="1000" baseline="30000"/>
                        <a:t>th</a:t>
                      </a:r>
                      <a:r>
                        <a:rPr lang="en-US" altLang="zh-CN" sz="1000"/>
                        <a:t>) (MLA extension scope)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a:solidFill>
                            <a:schemeClr val="tx1"/>
                          </a:solidFill>
                        </a:rPr>
                        <a:t>Provide </a:t>
                      </a:r>
                      <a:r>
                        <a:rPr lang="en-US" altLang="zh-CN" sz="1000" b="1">
                          <a:solidFill>
                            <a:schemeClr val="tx1"/>
                          </a:solidFill>
                        </a:rPr>
                        <a:t>non-funded</a:t>
                      </a:r>
                      <a:r>
                        <a:rPr lang="en-US" altLang="zh-CN" sz="1000">
                          <a:solidFill>
                            <a:schemeClr val="tx1"/>
                          </a:solidFill>
                        </a:rPr>
                        <a:t> warranty/premier support service for the extended period at Mid Term Rewrite(e.g. from 37</a:t>
                      </a:r>
                      <a:r>
                        <a:rPr lang="en-US" altLang="zh-CN" sz="1000" baseline="30000">
                          <a:solidFill>
                            <a:schemeClr val="tx1"/>
                          </a:solidFill>
                        </a:rPr>
                        <a:t>th</a:t>
                      </a:r>
                      <a:r>
                        <a:rPr lang="en-US" altLang="zh-CN" sz="1000">
                          <a:solidFill>
                            <a:schemeClr val="tx1"/>
                          </a:solidFill>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b="1">
                          <a:solidFill>
                            <a:schemeClr val="tx1"/>
                          </a:solidFill>
                        </a:rPr>
                        <a:t>Front end should pass all line rewrite amt to </a:t>
                      </a:r>
                      <a:r>
                        <a:rPr lang="en-US" altLang="zh-CN" sz="1000" b="1" err="1">
                          <a:solidFill>
                            <a:schemeClr val="tx1"/>
                          </a:solidFill>
                        </a:rPr>
                        <a:t>Nexbill</a:t>
                      </a:r>
                      <a:r>
                        <a:rPr lang="en-US" altLang="zh-CN" sz="1000" b="1">
                          <a:solidFill>
                            <a:schemeClr val="tx1"/>
                          </a:solidFill>
                        </a:rPr>
                        <a:t>( since funded item change to nonfunded from 37</a:t>
                      </a:r>
                      <a:r>
                        <a:rPr lang="en-US" altLang="zh-CN" sz="1000" b="1" baseline="30000">
                          <a:solidFill>
                            <a:schemeClr val="tx1"/>
                          </a:solidFill>
                        </a:rPr>
                        <a:t>th</a:t>
                      </a:r>
                      <a:r>
                        <a:rPr lang="en-US" altLang="zh-CN" sz="1000" b="1">
                          <a:solidFill>
                            <a:schemeClr val="tx1"/>
                          </a:solidFill>
                        </a:rPr>
                        <a:t> month)</a:t>
                      </a:r>
                    </a:p>
                  </a:txBody>
                  <a:tcPr anchor="ctr"/>
                </a:tc>
                <a:extLst>
                  <a:ext uri="{0D108BD9-81ED-4DB2-BD59-A6C34878D82A}">
                    <a16:rowId xmlns:a16="http://schemas.microsoft.com/office/drawing/2014/main" val="1123684971"/>
                  </a:ext>
                </a:extLst>
              </a:tr>
              <a:tr h="212822">
                <a:tc>
                  <a:txBody>
                    <a:bodyPr/>
                    <a:lstStyle/>
                    <a:p>
                      <a:pPr algn="ctr"/>
                      <a:r>
                        <a:rPr lang="en-US" sz="1000"/>
                        <a:t>10</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mn-lt"/>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a:t>Mid term re-write only enable extending the remaining lease term not enable shorten leasing term</a:t>
                      </a:r>
                    </a:p>
                  </a:txBody>
                  <a:tcPr anchor="ctr"/>
                </a:tc>
                <a:extLst>
                  <a:ext uri="{0D108BD9-81ED-4DB2-BD59-A6C34878D82A}">
                    <a16:rowId xmlns:a16="http://schemas.microsoft.com/office/drawing/2014/main" val="1139659577"/>
                  </a:ext>
                </a:extLst>
              </a:tr>
              <a:tr h="611865">
                <a:tc>
                  <a:txBody>
                    <a:bodyPr/>
                    <a:lstStyle/>
                    <a:p>
                      <a:pPr algn="ctr"/>
                      <a:r>
                        <a:rPr lang="en-US" sz="1000"/>
                        <a:t>11</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mn-lt"/>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a:t>Early Termination: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a:t>Same calculation logic: Remaining Changes + FMV</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a:t>If any device is early terminated/flex down before the effective date and after the quotation to customer, LOT team need to cancel the previous rewrite before Mid Term Write effective date and redo the rewrite. </a:t>
                      </a:r>
                    </a:p>
                  </a:txBody>
                  <a:tcPr anchor="ctr"/>
                </a:tc>
                <a:extLst>
                  <a:ext uri="{0D108BD9-81ED-4DB2-BD59-A6C34878D82A}">
                    <a16:rowId xmlns:a16="http://schemas.microsoft.com/office/drawing/2014/main" val="1324952550"/>
                  </a:ext>
                </a:extLst>
              </a:tr>
              <a:tr h="212822">
                <a:tc>
                  <a:txBody>
                    <a:bodyPr/>
                    <a:lstStyle/>
                    <a:p>
                      <a:pPr algn="ctr"/>
                      <a:r>
                        <a:rPr lang="en-US" sz="1000"/>
                        <a:t>12</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mn-lt"/>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a:t>Tranche will not change after re-write, while front-end should pass a tag ”re-write” to finance &amp; accounting (ERIC)</a:t>
                      </a:r>
                    </a:p>
                  </a:txBody>
                  <a:tcPr anchor="ctr"/>
                </a:tc>
                <a:extLst>
                  <a:ext uri="{0D108BD9-81ED-4DB2-BD59-A6C34878D82A}">
                    <a16:rowId xmlns:a16="http://schemas.microsoft.com/office/drawing/2014/main" val="1002947010"/>
                  </a:ext>
                </a:extLst>
              </a:tr>
              <a:tr h="345836">
                <a:tc>
                  <a:txBody>
                    <a:bodyPr/>
                    <a:lstStyle/>
                    <a:p>
                      <a:pPr algn="ctr"/>
                      <a:r>
                        <a:rPr lang="en-US" sz="1000"/>
                        <a:t>13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mn-lt"/>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00"/>
                        <a:t>Odess can do recalculation to determine lease type after re-write, and change monthly amt directly based on original tranche.</a:t>
                      </a:r>
                    </a:p>
                  </a:txBody>
                  <a:tcPr anchor="ctr"/>
                </a:tc>
                <a:extLst>
                  <a:ext uri="{0D108BD9-81ED-4DB2-BD59-A6C34878D82A}">
                    <a16:rowId xmlns:a16="http://schemas.microsoft.com/office/drawing/2014/main" val="2245132975"/>
                  </a:ext>
                </a:extLst>
              </a:tr>
            </a:tbl>
          </a:graphicData>
        </a:graphic>
      </p:graphicFrame>
      <p:sp>
        <p:nvSpPr>
          <p:cNvPr id="2" name="Rectangle 1">
            <a:extLst>
              <a:ext uri="{FF2B5EF4-FFF2-40B4-BE49-F238E27FC236}">
                <a16:creationId xmlns:a16="http://schemas.microsoft.com/office/drawing/2014/main" id="{A35737CB-0D88-117A-DD67-8A2C147D2CC7}"/>
              </a:ext>
            </a:extLst>
          </p:cNvPr>
          <p:cNvSpPr>
            <a:spLocks noChangeArrowheads="1"/>
          </p:cNvSpPr>
          <p:nvPr/>
        </p:nvSpPr>
        <p:spPr bwMode="auto">
          <a:xfrm>
            <a:off x="10738048" y="41060"/>
            <a:ext cx="163001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hlinkClick r:id="rId3"/>
              </a:rPr>
              <a:t>Nex Bill.pptx</a:t>
            </a: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aphicFrame>
        <p:nvGraphicFramePr>
          <p:cNvPr id="7" name="表格 6">
            <a:extLst>
              <a:ext uri="{FF2B5EF4-FFF2-40B4-BE49-F238E27FC236}">
                <a16:creationId xmlns:a16="http://schemas.microsoft.com/office/drawing/2014/main" id="{E4F159B3-3C4A-14DC-388C-9C87B49A2165}"/>
              </a:ext>
            </a:extLst>
          </p:cNvPr>
          <p:cNvGraphicFramePr>
            <a:graphicFrameLocks noGrp="1"/>
          </p:cNvGraphicFramePr>
          <p:nvPr>
            <p:extLst>
              <p:ext uri="{D42A27DB-BD31-4B8C-83A1-F6EECF244321}">
                <p14:modId xmlns:p14="http://schemas.microsoft.com/office/powerpoint/2010/main" val="3914665292"/>
              </p:ext>
            </p:extLst>
          </p:nvPr>
        </p:nvGraphicFramePr>
        <p:xfrm>
          <a:off x="141321" y="968726"/>
          <a:ext cx="3634204" cy="3162112"/>
        </p:xfrm>
        <a:graphic>
          <a:graphicData uri="http://schemas.openxmlformats.org/drawingml/2006/table">
            <a:tbl>
              <a:tblPr/>
              <a:tblGrid>
                <a:gridCol w="1382679">
                  <a:extLst>
                    <a:ext uri="{9D8B030D-6E8A-4147-A177-3AD203B41FA5}">
                      <a16:colId xmlns:a16="http://schemas.microsoft.com/office/drawing/2014/main" val="165114894"/>
                    </a:ext>
                  </a:extLst>
                </a:gridCol>
                <a:gridCol w="2251525">
                  <a:extLst>
                    <a:ext uri="{9D8B030D-6E8A-4147-A177-3AD203B41FA5}">
                      <a16:colId xmlns:a16="http://schemas.microsoft.com/office/drawing/2014/main" val="1464988678"/>
                    </a:ext>
                  </a:extLst>
                </a:gridCol>
              </a:tblGrid>
              <a:tr h="498324">
                <a:tc>
                  <a:txBody>
                    <a:bodyPr/>
                    <a:lstStyle/>
                    <a:p>
                      <a:pPr algn="l" fontAlgn="base">
                        <a:lnSpc>
                          <a:spcPts val="1200"/>
                        </a:lnSpc>
                        <a:buNone/>
                      </a:pPr>
                      <a:r>
                        <a:rPr lang="en-US" sz="1000" b="1" i="0">
                          <a:solidFill>
                            <a:srgbClr val="FFFFFF"/>
                          </a:solidFill>
                          <a:effectLst/>
                          <a:latin typeface="Lato" panose="020F0502020204030203" pitchFamily="34" charset="0"/>
                        </a:rPr>
                        <a:t>Applicable Business Scenarios</a:t>
                      </a:r>
                      <a:r>
                        <a:rPr lang="en-US" altLang="zh-CN" sz="1000" b="1" i="0">
                          <a:solidFill>
                            <a:srgbClr val="FFFFFF"/>
                          </a:solidFill>
                          <a:effectLst/>
                          <a:ea typeface="Lato" panose="020F0502020204030203" pitchFamily="34" charset="0"/>
                        </a:rPr>
                        <a:t>​</a:t>
                      </a:r>
                      <a:endParaRPr lang="en-US" altLang="zh-CN" b="1" i="0">
                        <a:solidFill>
                          <a:srgbClr val="FFFFFF"/>
                        </a:solidFill>
                        <a:effectLst/>
                      </a:endParaRP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15399" cap="flat" cmpd="sng" algn="ctr">
                      <a:solidFill>
                        <a:srgbClr val="FFFFFF"/>
                      </a:solidFill>
                      <a:prstDash val="solid"/>
                      <a:round/>
                      <a:headEnd type="none" w="med" len="med"/>
                      <a:tailEnd type="none" w="med" len="med"/>
                    </a:lnB>
                    <a:solidFill>
                      <a:srgbClr val="46C8E1"/>
                    </a:solidFill>
                  </a:tcPr>
                </a:tc>
                <a:tc>
                  <a:txBody>
                    <a:bodyPr/>
                    <a:lstStyle/>
                    <a:p>
                      <a:pPr algn="l" fontAlgn="base">
                        <a:lnSpc>
                          <a:spcPts val="1200"/>
                        </a:lnSpc>
                        <a:buNone/>
                      </a:pPr>
                      <a:r>
                        <a:rPr lang="en-US" sz="1000" b="1" i="0">
                          <a:solidFill>
                            <a:srgbClr val="FFFFFF"/>
                          </a:solidFill>
                          <a:effectLst/>
                          <a:latin typeface="Lato" panose="020F0502020204030203" pitchFamily="34" charset="0"/>
                        </a:rPr>
                        <a:t>Comments</a:t>
                      </a:r>
                      <a:r>
                        <a:rPr lang="en-US" altLang="zh-CN" sz="1000" b="1" i="0">
                          <a:solidFill>
                            <a:srgbClr val="FFFFFF"/>
                          </a:solidFill>
                          <a:effectLst/>
                          <a:ea typeface="Lato" panose="020F0502020204030203" pitchFamily="34" charset="0"/>
                        </a:rPr>
                        <a:t>​</a:t>
                      </a:r>
                      <a:endParaRPr lang="en-US" altLang="zh-CN" b="1" i="0">
                        <a:solidFill>
                          <a:srgbClr val="FFFFFF"/>
                        </a:solidFill>
                        <a:effectLst/>
                      </a:endParaRP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15399" cap="flat" cmpd="sng" algn="ctr">
                      <a:solidFill>
                        <a:srgbClr val="FFFFFF"/>
                      </a:solidFill>
                      <a:prstDash val="solid"/>
                      <a:round/>
                      <a:headEnd type="none" w="med" len="med"/>
                      <a:tailEnd type="none" w="med" len="med"/>
                    </a:lnB>
                    <a:solidFill>
                      <a:srgbClr val="46C8E1"/>
                    </a:solidFill>
                  </a:tcPr>
                </a:tc>
                <a:extLst>
                  <a:ext uri="{0D108BD9-81ED-4DB2-BD59-A6C34878D82A}">
                    <a16:rowId xmlns:a16="http://schemas.microsoft.com/office/drawing/2014/main" val="3191917537"/>
                  </a:ext>
                </a:extLst>
              </a:tr>
              <a:tr h="460231">
                <a:tc>
                  <a:txBody>
                    <a:bodyPr/>
                    <a:lstStyle/>
                    <a:p>
                      <a:pPr algn="l" fontAlgn="base">
                        <a:lnSpc>
                          <a:spcPts val="1050"/>
                        </a:lnSpc>
                        <a:buNone/>
                      </a:pPr>
                      <a:r>
                        <a:rPr lang="en-US" sz="1050" strike="sngStrike" kern="1200">
                          <a:solidFill>
                            <a:schemeClr val="dk1"/>
                          </a:solidFill>
                          <a:latin typeface="Lato" panose="020F0502020204030203" pitchFamily="34" charset="0"/>
                          <a:ea typeface="Lato" panose="020F0502020204030203" pitchFamily="34" charset="0"/>
                          <a:cs typeface="Lato" panose="020F0502020204030203" pitchFamily="34" charset="0"/>
                        </a:rPr>
                        <a:t>1. IaaS</a:t>
                      </a:r>
                      <a:endParaRPr lang="en-US" altLang="zh-CN" sz="1050" strike="sngStrike" kern="1200">
                        <a:solidFill>
                          <a:schemeClr val="dk1"/>
                        </a:solidFill>
                        <a:latin typeface="Lato" panose="020F0502020204030203" pitchFamily="34" charset="0"/>
                        <a:ea typeface="Lato" panose="020F0502020204030203" pitchFamily="34" charset="0"/>
                        <a:cs typeface="Lato" panose="020F0502020204030203" pitchFamily="34" charset="0"/>
                      </a:endParaRP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1539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tc>
                  <a:txBody>
                    <a:bodyPr/>
                    <a:lstStyle/>
                    <a:p>
                      <a:pPr algn="l" fontAlgn="base">
                        <a:lnSpc>
                          <a:spcPts val="1050"/>
                        </a:lnSpc>
                        <a:buNone/>
                      </a:pPr>
                      <a:endParaRPr lang="en-US" altLang="zh-CN" sz="1050" kern="1200">
                        <a:solidFill>
                          <a:schemeClr val="dk1"/>
                        </a:solidFill>
                        <a:latin typeface="Lato" panose="020F0502020204030203" pitchFamily="34" charset="0"/>
                        <a:ea typeface="Lato" panose="020F0502020204030203" pitchFamily="34" charset="0"/>
                        <a:cs typeface="Lato" panose="020F0502020204030203" pitchFamily="34" charset="0"/>
                      </a:endParaRP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1539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extLst>
                  <a:ext uri="{0D108BD9-81ED-4DB2-BD59-A6C34878D82A}">
                    <a16:rowId xmlns:a16="http://schemas.microsoft.com/office/drawing/2014/main" val="380768480"/>
                  </a:ext>
                </a:extLst>
              </a:tr>
              <a:tr h="284939">
                <a:tc>
                  <a:txBody>
                    <a:bodyPr/>
                    <a:lstStyle/>
                    <a:p>
                      <a:pPr algn="l" fontAlgn="base">
                        <a:lnSpc>
                          <a:spcPts val="1050"/>
                        </a:lnSpc>
                        <a:buNone/>
                      </a:pPr>
                      <a:r>
                        <a:rPr lang="en-US" sz="1050" kern="1200">
                          <a:solidFill>
                            <a:schemeClr val="dk1"/>
                          </a:solidFill>
                          <a:latin typeface="Lato" panose="020F0502020204030203" pitchFamily="34" charset="0"/>
                          <a:ea typeface="Lato" panose="020F0502020204030203" pitchFamily="34" charset="0"/>
                          <a:cs typeface="Lato" panose="020F0502020204030203" pitchFamily="34" charset="0"/>
                        </a:rPr>
                        <a:t>2. ISG Lease</a:t>
                      </a:r>
                      <a:r>
                        <a:rPr lang="en-US" altLang="zh-CN" sz="1050" kern="1200">
                          <a:solidFill>
                            <a:schemeClr val="dk1"/>
                          </a:solidFill>
                          <a:latin typeface="Lato" panose="020F0502020204030203" pitchFamily="34" charset="0"/>
                          <a:ea typeface="Lato" panose="020F0502020204030203" pitchFamily="34" charset="0"/>
                          <a:cs typeface="Lato" panose="020F0502020204030203" pitchFamily="34" charset="0"/>
                        </a:rPr>
                        <a:t>​</a:t>
                      </a: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tc>
                  <a:txBody>
                    <a:bodyPr/>
                    <a:lstStyle/>
                    <a:p>
                      <a:pPr algn="l" fontAlgn="auto">
                        <a:lnSpc>
                          <a:spcPts val="1050"/>
                        </a:lnSpc>
                        <a:buNone/>
                      </a:pPr>
                      <a:r>
                        <a:rPr lang="zh-CN" altLang="en-US" sz="1050" kern="1200">
                          <a:solidFill>
                            <a:schemeClr val="dk1"/>
                          </a:solidFill>
                          <a:latin typeface="Lato" panose="020F0502020204030203" pitchFamily="34" charset="0"/>
                          <a:ea typeface="Lato" panose="020F0502020204030203" pitchFamily="34" charset="0"/>
                          <a:cs typeface="Lato" panose="020F0502020204030203" pitchFamily="34" charset="0"/>
                        </a:rPr>
                        <a:t>​</a:t>
                      </a: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extLst>
                  <a:ext uri="{0D108BD9-81ED-4DB2-BD59-A6C34878D82A}">
                    <a16:rowId xmlns:a16="http://schemas.microsoft.com/office/drawing/2014/main" val="1280002580"/>
                  </a:ext>
                </a:extLst>
              </a:tr>
              <a:tr h="284939">
                <a:tc>
                  <a:txBody>
                    <a:bodyPr/>
                    <a:lstStyle/>
                    <a:p>
                      <a:pPr algn="l" fontAlgn="base">
                        <a:lnSpc>
                          <a:spcPts val="1050"/>
                        </a:lnSpc>
                        <a:buNone/>
                      </a:pPr>
                      <a:r>
                        <a:rPr lang="en-US" sz="1050" strike="sngStrike" kern="1200">
                          <a:solidFill>
                            <a:schemeClr val="dk1"/>
                          </a:solidFill>
                          <a:latin typeface="Lato" panose="020F0502020204030203" pitchFamily="34" charset="0"/>
                          <a:ea typeface="Lato" panose="020F0502020204030203" pitchFamily="34" charset="0"/>
                          <a:cs typeface="Lato" panose="020F0502020204030203" pitchFamily="34" charset="0"/>
                        </a:rPr>
                        <a:t>3. DaaS – MSA</a:t>
                      </a:r>
                      <a:r>
                        <a:rPr lang="en-US" altLang="zh-CN" sz="1050" strike="sngStrike" kern="1200">
                          <a:solidFill>
                            <a:schemeClr val="dk1"/>
                          </a:solidFill>
                          <a:latin typeface="Lato" panose="020F0502020204030203" pitchFamily="34" charset="0"/>
                          <a:ea typeface="Lato" panose="020F0502020204030203" pitchFamily="34" charset="0"/>
                          <a:cs typeface="Lato" panose="020F0502020204030203" pitchFamily="34" charset="0"/>
                        </a:rPr>
                        <a:t>​</a:t>
                      </a: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tc>
                  <a:txBody>
                    <a:bodyPr/>
                    <a:lstStyle/>
                    <a:p>
                      <a:pPr algn="l" fontAlgn="auto">
                        <a:lnSpc>
                          <a:spcPts val="1050"/>
                        </a:lnSpc>
                        <a:buNone/>
                      </a:pPr>
                      <a:r>
                        <a:rPr lang="zh-CN" altLang="en-US" sz="1050" kern="1200">
                          <a:solidFill>
                            <a:schemeClr val="dk1"/>
                          </a:solidFill>
                          <a:latin typeface="Lato" panose="020F0502020204030203" pitchFamily="34" charset="0"/>
                          <a:ea typeface="Lato" panose="020F0502020204030203" pitchFamily="34" charset="0"/>
                          <a:cs typeface="Lato" panose="020F0502020204030203" pitchFamily="34" charset="0"/>
                        </a:rPr>
                        <a:t>​</a:t>
                      </a: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extLst>
                  <a:ext uri="{0D108BD9-81ED-4DB2-BD59-A6C34878D82A}">
                    <a16:rowId xmlns:a16="http://schemas.microsoft.com/office/drawing/2014/main" val="365636061"/>
                  </a:ext>
                </a:extLst>
              </a:tr>
              <a:tr h="284939">
                <a:tc>
                  <a:txBody>
                    <a:bodyPr/>
                    <a:lstStyle/>
                    <a:p>
                      <a:pPr algn="l" fontAlgn="base">
                        <a:lnSpc>
                          <a:spcPts val="1050"/>
                        </a:lnSpc>
                        <a:buNone/>
                      </a:pPr>
                      <a:r>
                        <a:rPr lang="en-US" sz="1050" kern="1200">
                          <a:solidFill>
                            <a:schemeClr val="dk1"/>
                          </a:solidFill>
                          <a:latin typeface="Lato" panose="020F0502020204030203" pitchFamily="34" charset="0"/>
                          <a:ea typeface="Lato" panose="020F0502020204030203" pitchFamily="34" charset="0"/>
                          <a:cs typeface="Lato" panose="020F0502020204030203" pitchFamily="34" charset="0"/>
                        </a:rPr>
                        <a:t>4. DaaS – MLA</a:t>
                      </a:r>
                      <a:r>
                        <a:rPr lang="en-US" altLang="zh-CN" sz="1050" kern="1200">
                          <a:solidFill>
                            <a:schemeClr val="dk1"/>
                          </a:solidFill>
                          <a:latin typeface="Lato" panose="020F0502020204030203" pitchFamily="34" charset="0"/>
                          <a:ea typeface="Lato" panose="020F0502020204030203" pitchFamily="34" charset="0"/>
                          <a:cs typeface="Lato" panose="020F0502020204030203" pitchFamily="34" charset="0"/>
                        </a:rPr>
                        <a:t>​</a:t>
                      </a: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tc>
                  <a:txBody>
                    <a:bodyPr/>
                    <a:lstStyle/>
                    <a:p>
                      <a:pPr algn="l" fontAlgn="auto">
                        <a:lnSpc>
                          <a:spcPts val="1050"/>
                        </a:lnSpc>
                        <a:buNone/>
                      </a:pPr>
                      <a:r>
                        <a:rPr lang="zh-CN" altLang="en-US" sz="1050" kern="1200">
                          <a:solidFill>
                            <a:schemeClr val="dk1"/>
                          </a:solidFill>
                          <a:latin typeface="Lato" panose="020F0502020204030203" pitchFamily="34" charset="0"/>
                          <a:ea typeface="Lato" panose="020F0502020204030203" pitchFamily="34" charset="0"/>
                          <a:cs typeface="Lato" panose="020F0502020204030203" pitchFamily="34" charset="0"/>
                        </a:rPr>
                        <a:t>​</a:t>
                      </a: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extLst>
                  <a:ext uri="{0D108BD9-81ED-4DB2-BD59-A6C34878D82A}">
                    <a16:rowId xmlns:a16="http://schemas.microsoft.com/office/drawing/2014/main" val="1868096028"/>
                  </a:ext>
                </a:extLst>
              </a:tr>
              <a:tr h="202521">
                <a:tc>
                  <a:txBody>
                    <a:bodyPr/>
                    <a:lstStyle/>
                    <a:p>
                      <a:pPr algn="l" fontAlgn="base">
                        <a:lnSpc>
                          <a:spcPts val="1050"/>
                        </a:lnSpc>
                        <a:buNone/>
                      </a:pPr>
                      <a:r>
                        <a:rPr lang="en-US" altLang="zh-CN" sz="1050" strike="sngStrike" kern="1200">
                          <a:solidFill>
                            <a:schemeClr val="dk1"/>
                          </a:solidFill>
                          <a:latin typeface="Lato" panose="020F0502020204030203" pitchFamily="34" charset="0"/>
                          <a:ea typeface="Lato" panose="020F0502020204030203" pitchFamily="34" charset="0"/>
                          <a:cs typeface="Lato" panose="020F0502020204030203" pitchFamily="34" charset="0"/>
                        </a:rPr>
                        <a:t>5. External Funding</a:t>
                      </a: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tc>
                  <a:txBody>
                    <a:bodyPr/>
                    <a:lstStyle/>
                    <a:p>
                      <a:pPr algn="l" fontAlgn="auto">
                        <a:lnSpc>
                          <a:spcPts val="1050"/>
                        </a:lnSpc>
                        <a:buNone/>
                      </a:pPr>
                      <a:r>
                        <a:rPr lang="en-US" altLang="zh-CN" sz="1050" strike="sngStrike" kern="1200">
                          <a:solidFill>
                            <a:srgbClr val="FF0000"/>
                          </a:solidFill>
                          <a:latin typeface="Lato" panose="020F0502020204030203" pitchFamily="34" charset="0"/>
                          <a:ea typeface="Lato" panose="020F0502020204030203" pitchFamily="34" charset="0"/>
                          <a:cs typeface="Lato" panose="020F0502020204030203" pitchFamily="34" charset="0"/>
                        </a:rPr>
                        <a:t>a. SOR included-Pay off(remaining payment) to external funder, external funding change to internal funding after rewrite; Always keep the asset entitlement under Lenovo</a:t>
                      </a:r>
                      <a:r>
                        <a:rPr lang="zh-CN" altLang="en-US" sz="1050" strike="sngStrike" kern="1200">
                          <a:solidFill>
                            <a:srgbClr val="FF0000"/>
                          </a:solidFill>
                          <a:latin typeface="Lato" panose="020F0502020204030203" pitchFamily="34" charset="0"/>
                          <a:ea typeface="Lato" panose="020F0502020204030203" pitchFamily="34" charset="0"/>
                          <a:cs typeface="Lato" panose="020F0502020204030203" pitchFamily="34" charset="0"/>
                        </a:rPr>
                        <a:t>，</a:t>
                      </a:r>
                      <a:r>
                        <a:rPr lang="en-US" altLang="zh-CN" sz="1050" strike="sngStrike" kern="1200">
                          <a:solidFill>
                            <a:srgbClr val="FF0000"/>
                          </a:solidFill>
                          <a:latin typeface="Lato" panose="020F0502020204030203" pitchFamily="34" charset="0"/>
                          <a:ea typeface="Lato" panose="020F0502020204030203" pitchFamily="34" charset="0"/>
                          <a:cs typeface="Lato" panose="020F0502020204030203" pitchFamily="34" charset="0"/>
                        </a:rPr>
                        <a:t>(TBD)</a:t>
                      </a:r>
                    </a:p>
                    <a:p>
                      <a:pPr algn="l" fontAlgn="auto">
                        <a:lnSpc>
                          <a:spcPts val="1050"/>
                        </a:lnSpc>
                        <a:buNone/>
                      </a:pPr>
                      <a:r>
                        <a:rPr lang="en-US" altLang="zh-CN" sz="1050" strike="sngStrike" kern="1200">
                          <a:solidFill>
                            <a:schemeClr val="tx1"/>
                          </a:solidFill>
                          <a:latin typeface="Lato" panose="020F0502020204030203" pitchFamily="34" charset="0"/>
                          <a:ea typeface="Lato" panose="020F0502020204030203" pitchFamily="34" charset="0"/>
                          <a:cs typeface="Lato" panose="020F0502020204030203" pitchFamily="34" charset="0"/>
                        </a:rPr>
                        <a:t>b. Syndication excluded-Not cover the asset owned by external funder.</a:t>
                      </a:r>
                      <a:endParaRPr lang="zh-CN" altLang="en-US" sz="1050" strike="sngStrike" kern="1200">
                        <a:solidFill>
                          <a:schemeClr val="tx1"/>
                        </a:solidFill>
                        <a:latin typeface="Lato" panose="020F0502020204030203" pitchFamily="34" charset="0"/>
                        <a:ea typeface="Lato" panose="020F0502020204030203" pitchFamily="34" charset="0"/>
                        <a:cs typeface="Lato" panose="020F0502020204030203" pitchFamily="34" charset="0"/>
                      </a:endParaRPr>
                    </a:p>
                  </a:txBody>
                  <a:tcPr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FEBF4"/>
                    </a:solidFill>
                  </a:tcPr>
                </a:tc>
                <a:extLst>
                  <a:ext uri="{0D108BD9-81ED-4DB2-BD59-A6C34878D82A}">
                    <a16:rowId xmlns:a16="http://schemas.microsoft.com/office/drawing/2014/main" val="3931059491"/>
                  </a:ext>
                </a:extLst>
              </a:tr>
            </a:tbl>
          </a:graphicData>
        </a:graphic>
      </p:graphicFrame>
      <p:sp>
        <p:nvSpPr>
          <p:cNvPr id="10" name="文本框 9">
            <a:extLst>
              <a:ext uri="{FF2B5EF4-FFF2-40B4-BE49-F238E27FC236}">
                <a16:creationId xmlns:a16="http://schemas.microsoft.com/office/drawing/2014/main" id="{A0D3BD1D-9416-7708-8BB1-1EFC40A30783}"/>
              </a:ext>
            </a:extLst>
          </p:cNvPr>
          <p:cNvSpPr txBox="1"/>
          <p:nvPr/>
        </p:nvSpPr>
        <p:spPr>
          <a:xfrm>
            <a:off x="62809" y="691727"/>
            <a:ext cx="1184940" cy="276999"/>
          </a:xfrm>
          <a:prstGeom prst="rect">
            <a:avLst/>
          </a:prstGeom>
          <a:noFill/>
        </p:spPr>
        <p:txBody>
          <a:bodyPr wrap="none" rtlCol="0">
            <a:spAutoFit/>
          </a:bodyPr>
          <a:lstStyle/>
          <a:p>
            <a:pPr defTabSz="914126"/>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E2E Scenarios:</a:t>
            </a:r>
            <a:endParaRPr lang="zh-CN" altLang="en-US" sz="12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pic>
        <p:nvPicPr>
          <p:cNvPr id="12" name="图片 11">
            <a:extLst>
              <a:ext uri="{FF2B5EF4-FFF2-40B4-BE49-F238E27FC236}">
                <a16:creationId xmlns:a16="http://schemas.microsoft.com/office/drawing/2014/main" id="{9F56309D-9D99-5B2D-73BE-CD747C961494}"/>
              </a:ext>
            </a:extLst>
          </p:cNvPr>
          <p:cNvPicPr>
            <a:picLocks noChangeAspect="1"/>
          </p:cNvPicPr>
          <p:nvPr/>
        </p:nvPicPr>
        <p:blipFill>
          <a:blip r:embed="rId4"/>
          <a:stretch>
            <a:fillRect/>
          </a:stretch>
        </p:blipFill>
        <p:spPr>
          <a:xfrm>
            <a:off x="9085799" y="82307"/>
            <a:ext cx="1220251" cy="578836"/>
          </a:xfrm>
          <a:prstGeom prst="rect">
            <a:avLst/>
          </a:prstGeom>
        </p:spPr>
      </p:pic>
      <p:sp>
        <p:nvSpPr>
          <p:cNvPr id="14" name="文本框 13">
            <a:extLst>
              <a:ext uri="{FF2B5EF4-FFF2-40B4-BE49-F238E27FC236}">
                <a16:creationId xmlns:a16="http://schemas.microsoft.com/office/drawing/2014/main" id="{6C5E42D0-8A53-445E-DC22-4BBFC5B41F4D}"/>
              </a:ext>
            </a:extLst>
          </p:cNvPr>
          <p:cNvSpPr txBox="1"/>
          <p:nvPr/>
        </p:nvSpPr>
        <p:spPr>
          <a:xfrm>
            <a:off x="62809" y="4235986"/>
            <a:ext cx="2746380" cy="369332"/>
          </a:xfrm>
          <a:prstGeom prst="rect">
            <a:avLst/>
          </a:prstGeom>
          <a:noFill/>
        </p:spPr>
        <p:txBody>
          <a:bodyPr wrap="square">
            <a:spAutoFit/>
          </a:bodyPr>
          <a:lstStyle/>
          <a:p>
            <a:r>
              <a:rPr lang="zh-CN" altLang="zh-CN">
                <a:hlinkClick r:id="rId5"/>
              </a:rPr>
              <a:t>NexBill E2E BSR.pptx</a:t>
            </a:r>
            <a:endParaRPr lang="zh-CN" altLang="en-US"/>
          </a:p>
        </p:txBody>
      </p:sp>
    </p:spTree>
    <p:extLst>
      <p:ext uri="{BB962C8B-B14F-4D97-AF65-F5344CB8AC3E}">
        <p14:creationId xmlns:p14="http://schemas.microsoft.com/office/powerpoint/2010/main" val="2675273621"/>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696902-5D36-4EDE-5D91-B73DCFCE7DAD}"/>
            </a:ext>
          </a:extLst>
        </p:cNvPr>
        <p:cNvGrpSpPr/>
        <p:nvPr/>
      </p:nvGrpSpPr>
      <p:grpSpPr>
        <a:xfrm>
          <a:off x="0" y="0"/>
          <a:ext cx="0" cy="0"/>
          <a:chOff x="0" y="0"/>
          <a:chExt cx="0" cy="0"/>
        </a:xfrm>
      </p:grpSpPr>
      <p:sp>
        <p:nvSpPr>
          <p:cNvPr id="137" name="矩形: 圆角 136">
            <a:extLst>
              <a:ext uri="{FF2B5EF4-FFF2-40B4-BE49-F238E27FC236}">
                <a16:creationId xmlns:a16="http://schemas.microsoft.com/office/drawing/2014/main" id="{34BBBF2D-B17E-EA05-56D8-BD583B281A6C}"/>
              </a:ext>
            </a:extLst>
          </p:cNvPr>
          <p:cNvSpPr/>
          <p:nvPr/>
        </p:nvSpPr>
        <p:spPr>
          <a:xfrm>
            <a:off x="527611" y="2649073"/>
            <a:ext cx="11397273" cy="2292843"/>
          </a:xfrm>
          <a:prstGeom prst="roundRect">
            <a:avLst>
              <a:gd name="adj" fmla="val 2091"/>
            </a:avLst>
          </a:prstGeom>
          <a:solidFill>
            <a:schemeClr val="accent4">
              <a:lumMod val="20000"/>
              <a:lumOff val="80000"/>
            </a:schemeClr>
          </a:solidFill>
          <a:ln w="6350">
            <a:solidFill>
              <a:schemeClr val="bg1">
                <a:lumMod val="75000"/>
              </a:schemeClr>
            </a:solidFill>
            <a:prstDash val="sysDash"/>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95" name="矩形: 圆角 194">
            <a:extLst>
              <a:ext uri="{FF2B5EF4-FFF2-40B4-BE49-F238E27FC236}">
                <a16:creationId xmlns:a16="http://schemas.microsoft.com/office/drawing/2014/main" id="{BD86EE25-7229-06F3-15C3-8CECAD18B6A4}"/>
              </a:ext>
            </a:extLst>
          </p:cNvPr>
          <p:cNvSpPr/>
          <p:nvPr/>
        </p:nvSpPr>
        <p:spPr>
          <a:xfrm>
            <a:off x="531234" y="5894669"/>
            <a:ext cx="5231550" cy="821388"/>
          </a:xfrm>
          <a:prstGeom prst="roundRect">
            <a:avLst>
              <a:gd name="adj" fmla="val 9676"/>
            </a:avLst>
          </a:prstGeom>
          <a:solidFill>
            <a:schemeClr val="tx2">
              <a:lumMod val="20000"/>
              <a:lumOff val="80000"/>
            </a:schemeClr>
          </a:solidFill>
          <a:ln w="6350">
            <a:noFill/>
          </a:ln>
        </p:spPr>
        <p:style>
          <a:lnRef idx="0">
            <a:scrgbClr r="0" g="0" b="0"/>
          </a:lnRef>
          <a:fillRef idx="0">
            <a:scrgbClr r="0" g="0" b="0"/>
          </a:fillRef>
          <a:effectRef idx="0">
            <a:scrgbClr r="0" g="0" b="0"/>
          </a:effectRef>
          <a:fontRef idx="minor">
            <a:schemeClr val="lt1"/>
          </a:fontRef>
        </p:style>
        <p:txBody>
          <a:bodyPr lIns="180000" tIns="0" rIns="0" bIns="0" rtlCol="0" anchor="ctr"/>
          <a:lstStyle/>
          <a:p>
            <a:pPr algn="ctr"/>
            <a:endParaRPr lang="zh-CN" altLang="en-US" sz="1100" b="1">
              <a:solidFill>
                <a:schemeClr val="tx1"/>
              </a:solidFill>
              <a:latin typeface="Lato" panose="020F0502020204030203" pitchFamily="34" charset="0"/>
              <a:cs typeface="Lato" panose="020F0502020204030203" pitchFamily="34" charset="0"/>
            </a:endParaRPr>
          </a:p>
        </p:txBody>
      </p:sp>
      <p:sp>
        <p:nvSpPr>
          <p:cNvPr id="138" name="矩形: 圆角 137">
            <a:extLst>
              <a:ext uri="{FF2B5EF4-FFF2-40B4-BE49-F238E27FC236}">
                <a16:creationId xmlns:a16="http://schemas.microsoft.com/office/drawing/2014/main" id="{BD809CF4-E64D-635D-5B13-26A4B6F178FC}"/>
              </a:ext>
            </a:extLst>
          </p:cNvPr>
          <p:cNvSpPr/>
          <p:nvPr/>
        </p:nvSpPr>
        <p:spPr>
          <a:xfrm>
            <a:off x="527611" y="1913433"/>
            <a:ext cx="11397273" cy="645453"/>
          </a:xfrm>
          <a:prstGeom prst="roundRect">
            <a:avLst>
              <a:gd name="adj" fmla="val 10961"/>
            </a:avLst>
          </a:prstGeom>
          <a:solidFill>
            <a:schemeClr val="accent5">
              <a:lumMod val="20000"/>
              <a:lumOff val="80000"/>
            </a:schemeClr>
          </a:solidFill>
          <a:ln w="6350">
            <a:solidFill>
              <a:schemeClr val="bg1">
                <a:lumMod val="75000"/>
              </a:schemeClr>
            </a:solidFill>
            <a:prstDash val="sysDash"/>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51" name="矩形: 圆角 150">
            <a:extLst>
              <a:ext uri="{FF2B5EF4-FFF2-40B4-BE49-F238E27FC236}">
                <a16:creationId xmlns:a16="http://schemas.microsoft.com/office/drawing/2014/main" id="{5B777D5D-0197-37BA-C0C4-4509192C3437}"/>
              </a:ext>
            </a:extLst>
          </p:cNvPr>
          <p:cNvSpPr/>
          <p:nvPr/>
        </p:nvSpPr>
        <p:spPr>
          <a:xfrm>
            <a:off x="1756731" y="3214882"/>
            <a:ext cx="3373146" cy="326445"/>
          </a:xfrm>
          <a:prstGeom prst="roundRect">
            <a:avLst/>
          </a:prstGeom>
          <a:solidFill>
            <a:schemeClr val="bg1"/>
          </a:solidFill>
          <a:ln w="6350">
            <a:solidFill>
              <a:schemeClr val="bg1">
                <a:lumMod val="50000"/>
              </a:schemeClr>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100" b="1">
              <a:solidFill>
                <a:schemeClr val="tx1"/>
              </a:solidFill>
              <a:latin typeface="Lato" panose="020F0502020204030203" pitchFamily="34" charset="0"/>
              <a:cs typeface="Lato" panose="020F0502020204030203" pitchFamily="34" charset="0"/>
            </a:endParaRPr>
          </a:p>
        </p:txBody>
      </p:sp>
      <p:sp>
        <p:nvSpPr>
          <p:cNvPr id="4" name="Title 10">
            <a:extLst>
              <a:ext uri="{FF2B5EF4-FFF2-40B4-BE49-F238E27FC236}">
                <a16:creationId xmlns:a16="http://schemas.microsoft.com/office/drawing/2014/main" id="{F1C991A1-3BFF-E6D2-EF4E-1D30EAFF4E64}"/>
              </a:ext>
            </a:extLst>
          </p:cNvPr>
          <p:cNvSpPr txBox="1">
            <a:spLocks/>
          </p:cNvSpPr>
          <p:nvPr/>
        </p:nvSpPr>
        <p:spPr>
          <a:xfrm>
            <a:off x="372499" y="182434"/>
            <a:ext cx="11056112"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NexBill – Mid Term Rewrite – Mockup – Tranche Rewrite</a:t>
            </a:r>
          </a:p>
        </p:txBody>
      </p:sp>
      <p:sp>
        <p:nvSpPr>
          <p:cNvPr id="2" name="矩形: 圆角 1">
            <a:extLst>
              <a:ext uri="{FF2B5EF4-FFF2-40B4-BE49-F238E27FC236}">
                <a16:creationId xmlns:a16="http://schemas.microsoft.com/office/drawing/2014/main" id="{DA4DD025-BC45-B99C-AFEE-9A8BF448EF5E}"/>
              </a:ext>
            </a:extLst>
          </p:cNvPr>
          <p:cNvSpPr/>
          <p:nvPr/>
        </p:nvSpPr>
        <p:spPr>
          <a:xfrm>
            <a:off x="554506" y="2799167"/>
            <a:ext cx="2160282" cy="255352"/>
          </a:xfrm>
          <a:prstGeom prst="roundRect">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pl-PL" altLang="zh-CN" sz="900" b="1">
                <a:solidFill>
                  <a:schemeClr val="tx1"/>
                </a:solidFill>
                <a:latin typeface="Lato" panose="020F0502020204030203" pitchFamily="34" charset="0"/>
                <a:ea typeface="Lato" panose="020F0502020204030203" pitchFamily="34" charset="0"/>
                <a:cs typeface="Lato" panose="020F0502020204030203" pitchFamily="34" charset="0"/>
              </a:rPr>
              <a:t>1217132155_CH_202</a:t>
            </a:r>
            <a:r>
              <a:rPr lang="en-US" altLang="zh-CN" sz="900" b="1">
                <a:solidFill>
                  <a:schemeClr val="tx1"/>
                </a:solidFill>
                <a:latin typeface="Lato" panose="020F0502020204030203" pitchFamily="34" charset="0"/>
                <a:ea typeface="Lato" panose="020F0502020204030203" pitchFamily="34" charset="0"/>
                <a:cs typeface="Lato" panose="020F0502020204030203" pitchFamily="34" charset="0"/>
              </a:rPr>
              <a:t>4</a:t>
            </a:r>
            <a:r>
              <a:rPr lang="pl-PL" altLang="zh-CN" sz="900" b="1">
                <a:solidFill>
                  <a:schemeClr val="tx1"/>
                </a:solidFill>
                <a:latin typeface="Lato" panose="020F0502020204030203" pitchFamily="34" charset="0"/>
                <a:ea typeface="Lato" panose="020F0502020204030203" pitchFamily="34" charset="0"/>
                <a:cs typeface="Lato" panose="020F0502020204030203" pitchFamily="34" charset="0"/>
              </a:rPr>
              <a:t>12_M_36_001</a:t>
            </a:r>
            <a:endParaRPr lang="zh-CN" altLang="en-US" sz="900" b="1">
              <a:solidFill>
                <a:schemeClr val="tx1"/>
              </a:solidFill>
              <a:latin typeface="Lato" panose="020F0502020204030203" pitchFamily="34" charset="0"/>
              <a:cs typeface="Lato" panose="020F0502020204030203" pitchFamily="34" charset="0"/>
            </a:endParaRPr>
          </a:p>
        </p:txBody>
      </p:sp>
      <p:sp>
        <p:nvSpPr>
          <p:cNvPr id="12" name="矩形: 圆角 11">
            <a:extLst>
              <a:ext uri="{FF2B5EF4-FFF2-40B4-BE49-F238E27FC236}">
                <a16:creationId xmlns:a16="http://schemas.microsoft.com/office/drawing/2014/main" id="{E01E03A9-05F6-D6E2-D905-B4D8EA1033EA}"/>
              </a:ext>
            </a:extLst>
          </p:cNvPr>
          <p:cNvSpPr/>
          <p:nvPr/>
        </p:nvSpPr>
        <p:spPr>
          <a:xfrm>
            <a:off x="1779347" y="3247570"/>
            <a:ext cx="1662731" cy="255352"/>
          </a:xfrm>
          <a:prstGeom prst="roundRect">
            <a:avLst/>
          </a:prstGeom>
          <a:solidFill>
            <a:schemeClr val="accent5">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2"/>
                </a:solidFill>
                <a:latin typeface="Lato" panose="020F0502020204030203" pitchFamily="34" charset="0"/>
                <a:ea typeface="Lato" panose="020F0502020204030203" pitchFamily="34" charset="0"/>
                <a:cs typeface="Lato" panose="020F0502020204030203" pitchFamily="34" charset="0"/>
              </a:rPr>
              <a:t>NB TP T14 G3 I5 16G 256G 11P</a:t>
            </a:r>
            <a:endParaRPr lang="zh-CN" altLang="en-US" sz="700" b="1">
              <a:solidFill>
                <a:schemeClr val="tx2"/>
              </a:solidFill>
              <a:latin typeface="Lato" panose="020F0502020204030203" pitchFamily="34" charset="0"/>
              <a:cs typeface="Lato" panose="020F0502020204030203" pitchFamily="34" charset="0"/>
            </a:endParaRPr>
          </a:p>
        </p:txBody>
      </p:sp>
      <p:sp>
        <p:nvSpPr>
          <p:cNvPr id="13" name="矩形: 圆角 12">
            <a:extLst>
              <a:ext uri="{FF2B5EF4-FFF2-40B4-BE49-F238E27FC236}">
                <a16:creationId xmlns:a16="http://schemas.microsoft.com/office/drawing/2014/main" id="{F408ECC2-7589-B5D9-5AA6-F8C7864596C5}"/>
              </a:ext>
            </a:extLst>
          </p:cNvPr>
          <p:cNvSpPr/>
          <p:nvPr/>
        </p:nvSpPr>
        <p:spPr>
          <a:xfrm>
            <a:off x="2704575" y="3609319"/>
            <a:ext cx="1166589" cy="179953"/>
          </a:xfrm>
          <a:prstGeom prst="roundRect">
            <a:avLst/>
          </a:prstGeom>
          <a:solidFill>
            <a:schemeClr val="accent2">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T14</a:t>
            </a:r>
            <a:endParaRPr lang="zh-CN" altLang="en-US" sz="700" b="1">
              <a:solidFill>
                <a:schemeClr val="tx1"/>
              </a:solidFill>
              <a:latin typeface="Lato" panose="020F0502020204030203" pitchFamily="34" charset="0"/>
              <a:cs typeface="Lato" panose="020F0502020204030203" pitchFamily="34" charset="0"/>
            </a:endParaRPr>
          </a:p>
        </p:txBody>
      </p:sp>
      <p:cxnSp>
        <p:nvCxnSpPr>
          <p:cNvPr id="16" name="连接符: 肘形 15">
            <a:extLst>
              <a:ext uri="{FF2B5EF4-FFF2-40B4-BE49-F238E27FC236}">
                <a16:creationId xmlns:a16="http://schemas.microsoft.com/office/drawing/2014/main" id="{7F347F60-C482-AFB8-B936-E3BFD90DAA7E}"/>
              </a:ext>
            </a:extLst>
          </p:cNvPr>
          <p:cNvCxnSpPr>
            <a:cxnSpLocks/>
            <a:stCxn id="2" idx="2"/>
            <a:endCxn id="12" idx="1"/>
          </p:cNvCxnSpPr>
          <p:nvPr/>
        </p:nvCxnSpPr>
        <p:spPr>
          <a:xfrm rot="16200000" flipH="1">
            <a:off x="1546634" y="3142533"/>
            <a:ext cx="320727" cy="144699"/>
          </a:xfrm>
          <a:prstGeom prst="bentConnector2">
            <a:avLst/>
          </a:prstGeom>
          <a:ln w="3175">
            <a:solidFill>
              <a:schemeClr val="bg1">
                <a:lumMod val="65000"/>
              </a:schemeClr>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18" name="连接符: 肘形 17">
            <a:extLst>
              <a:ext uri="{FF2B5EF4-FFF2-40B4-BE49-F238E27FC236}">
                <a16:creationId xmlns:a16="http://schemas.microsoft.com/office/drawing/2014/main" id="{49D87B60-291F-F110-BE3E-C8AEE1979697}"/>
              </a:ext>
            </a:extLst>
          </p:cNvPr>
          <p:cNvCxnSpPr>
            <a:cxnSpLocks/>
            <a:stCxn id="12" idx="2"/>
            <a:endCxn id="13" idx="1"/>
          </p:cNvCxnSpPr>
          <p:nvPr/>
        </p:nvCxnSpPr>
        <p:spPr>
          <a:xfrm rot="16200000" flipH="1">
            <a:off x="2559458" y="3554177"/>
            <a:ext cx="196373"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19" name="矩形: 圆角 18">
            <a:extLst>
              <a:ext uri="{FF2B5EF4-FFF2-40B4-BE49-F238E27FC236}">
                <a16:creationId xmlns:a16="http://schemas.microsoft.com/office/drawing/2014/main" id="{7061528D-FC8B-9AC1-B7ED-C194B4BDAC35}"/>
              </a:ext>
            </a:extLst>
          </p:cNvPr>
          <p:cNvSpPr/>
          <p:nvPr/>
        </p:nvSpPr>
        <p:spPr>
          <a:xfrm>
            <a:off x="2704575" y="3818925"/>
            <a:ext cx="1166589" cy="179953"/>
          </a:xfrm>
          <a:prstGeom prst="roundRect">
            <a:avLst/>
          </a:prstGeom>
          <a:solidFill>
            <a:schemeClr val="accent3">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Premier Support</a:t>
            </a:r>
            <a:endParaRPr lang="zh-CN" altLang="en-US" sz="700" b="1">
              <a:solidFill>
                <a:schemeClr val="tx1"/>
              </a:solidFill>
              <a:latin typeface="Lato" panose="020F0502020204030203" pitchFamily="34" charset="0"/>
              <a:cs typeface="Lato" panose="020F0502020204030203" pitchFamily="34" charset="0"/>
            </a:endParaRPr>
          </a:p>
        </p:txBody>
      </p:sp>
      <p:sp>
        <p:nvSpPr>
          <p:cNvPr id="20" name="矩形: 圆角 19">
            <a:extLst>
              <a:ext uri="{FF2B5EF4-FFF2-40B4-BE49-F238E27FC236}">
                <a16:creationId xmlns:a16="http://schemas.microsoft.com/office/drawing/2014/main" id="{1ED765AB-F3A4-B284-8AA0-0F0337FA05CA}"/>
              </a:ext>
            </a:extLst>
          </p:cNvPr>
          <p:cNvSpPr/>
          <p:nvPr/>
        </p:nvSpPr>
        <p:spPr>
          <a:xfrm>
            <a:off x="2704575" y="4028531"/>
            <a:ext cx="1166589" cy="179953"/>
          </a:xfrm>
          <a:prstGeom prst="roundRect">
            <a:avLst/>
          </a:prstGeom>
          <a:solidFill>
            <a:schemeClr val="accent2">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Configuration Service</a:t>
            </a:r>
            <a:endParaRPr lang="zh-CN" altLang="en-US" sz="700" b="1">
              <a:solidFill>
                <a:schemeClr val="tx1"/>
              </a:solidFill>
              <a:latin typeface="Lato" panose="020F0502020204030203" pitchFamily="34" charset="0"/>
              <a:cs typeface="Lato" panose="020F0502020204030203" pitchFamily="34" charset="0"/>
            </a:endParaRPr>
          </a:p>
        </p:txBody>
      </p:sp>
      <p:cxnSp>
        <p:nvCxnSpPr>
          <p:cNvPr id="22" name="连接符: 肘形 21">
            <a:extLst>
              <a:ext uri="{FF2B5EF4-FFF2-40B4-BE49-F238E27FC236}">
                <a16:creationId xmlns:a16="http://schemas.microsoft.com/office/drawing/2014/main" id="{1B60234A-02A8-D4A5-6F3D-BA5DECF59C4A}"/>
              </a:ext>
            </a:extLst>
          </p:cNvPr>
          <p:cNvCxnSpPr>
            <a:cxnSpLocks/>
            <a:stCxn id="12" idx="2"/>
            <a:endCxn id="19" idx="1"/>
          </p:cNvCxnSpPr>
          <p:nvPr/>
        </p:nvCxnSpPr>
        <p:spPr>
          <a:xfrm rot="16200000" flipH="1">
            <a:off x="2454655" y="3658980"/>
            <a:ext cx="405979"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24" name="连接符: 肘形 23">
            <a:extLst>
              <a:ext uri="{FF2B5EF4-FFF2-40B4-BE49-F238E27FC236}">
                <a16:creationId xmlns:a16="http://schemas.microsoft.com/office/drawing/2014/main" id="{CD982E71-8D06-9A7B-F0F5-77DEBBF06D70}"/>
              </a:ext>
            </a:extLst>
          </p:cNvPr>
          <p:cNvCxnSpPr>
            <a:cxnSpLocks/>
            <a:stCxn id="12" idx="2"/>
            <a:endCxn id="20" idx="1"/>
          </p:cNvCxnSpPr>
          <p:nvPr/>
        </p:nvCxnSpPr>
        <p:spPr>
          <a:xfrm rot="16200000" flipH="1">
            <a:off x="2349852" y="3763783"/>
            <a:ext cx="615585"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5" name="矩形: 圆角 24">
            <a:extLst>
              <a:ext uri="{FF2B5EF4-FFF2-40B4-BE49-F238E27FC236}">
                <a16:creationId xmlns:a16="http://schemas.microsoft.com/office/drawing/2014/main" id="{A1186724-BB25-BC29-15C2-20FE2A27ADAE}"/>
              </a:ext>
            </a:extLst>
          </p:cNvPr>
          <p:cNvSpPr/>
          <p:nvPr/>
        </p:nvSpPr>
        <p:spPr>
          <a:xfrm>
            <a:off x="2704575" y="4238138"/>
            <a:ext cx="1166589" cy="179953"/>
          </a:xfrm>
          <a:prstGeom prst="roundRect">
            <a:avLst/>
          </a:prstGeom>
          <a:solidFill>
            <a:schemeClr val="accent2">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Deployment Service</a:t>
            </a:r>
            <a:endParaRPr lang="zh-CN" altLang="en-US" sz="700" b="1">
              <a:solidFill>
                <a:schemeClr val="tx1"/>
              </a:solidFill>
              <a:latin typeface="Lato" panose="020F0502020204030203" pitchFamily="34" charset="0"/>
              <a:cs typeface="Lato" panose="020F0502020204030203" pitchFamily="34" charset="0"/>
            </a:endParaRPr>
          </a:p>
        </p:txBody>
      </p:sp>
      <p:sp>
        <p:nvSpPr>
          <p:cNvPr id="27" name="矩形: 圆角 26">
            <a:extLst>
              <a:ext uri="{FF2B5EF4-FFF2-40B4-BE49-F238E27FC236}">
                <a16:creationId xmlns:a16="http://schemas.microsoft.com/office/drawing/2014/main" id="{2EEF7680-ADF5-0198-1996-7CFC1B199874}"/>
              </a:ext>
            </a:extLst>
          </p:cNvPr>
          <p:cNvSpPr/>
          <p:nvPr/>
        </p:nvSpPr>
        <p:spPr>
          <a:xfrm>
            <a:off x="2704575" y="4449538"/>
            <a:ext cx="1166589" cy="179953"/>
          </a:xfrm>
          <a:prstGeom prst="roundRect">
            <a:avLst/>
          </a:prstGeom>
          <a:solidFill>
            <a:schemeClr val="accent6">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Asset Recovery Service</a:t>
            </a:r>
            <a:endParaRPr lang="zh-CN" altLang="en-US" sz="700" b="1">
              <a:solidFill>
                <a:schemeClr val="tx1"/>
              </a:solidFill>
              <a:latin typeface="Lato" panose="020F0502020204030203" pitchFamily="34" charset="0"/>
              <a:cs typeface="Lato" panose="020F0502020204030203" pitchFamily="34" charset="0"/>
            </a:endParaRPr>
          </a:p>
        </p:txBody>
      </p:sp>
      <p:cxnSp>
        <p:nvCxnSpPr>
          <p:cNvPr id="29" name="连接符: 肘形 28">
            <a:extLst>
              <a:ext uri="{FF2B5EF4-FFF2-40B4-BE49-F238E27FC236}">
                <a16:creationId xmlns:a16="http://schemas.microsoft.com/office/drawing/2014/main" id="{CFE22C63-5BD3-9E41-400B-31567B1D210D}"/>
              </a:ext>
            </a:extLst>
          </p:cNvPr>
          <p:cNvCxnSpPr>
            <a:cxnSpLocks/>
            <a:stCxn id="12" idx="2"/>
            <a:endCxn id="25" idx="1"/>
          </p:cNvCxnSpPr>
          <p:nvPr/>
        </p:nvCxnSpPr>
        <p:spPr>
          <a:xfrm rot="16200000" flipH="1">
            <a:off x="2245047" y="3868587"/>
            <a:ext cx="825192"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34" name="连接符: 肘形 33">
            <a:extLst>
              <a:ext uri="{FF2B5EF4-FFF2-40B4-BE49-F238E27FC236}">
                <a16:creationId xmlns:a16="http://schemas.microsoft.com/office/drawing/2014/main" id="{8BEA5AFC-4423-7541-90FB-B69FAAB24FE2}"/>
              </a:ext>
            </a:extLst>
          </p:cNvPr>
          <p:cNvCxnSpPr>
            <a:cxnSpLocks/>
            <a:stCxn id="12" idx="2"/>
            <a:endCxn id="27" idx="1"/>
          </p:cNvCxnSpPr>
          <p:nvPr/>
        </p:nvCxnSpPr>
        <p:spPr>
          <a:xfrm rot="16200000" flipH="1">
            <a:off x="2139347" y="3974287"/>
            <a:ext cx="1036592"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70" name="矩形: 圆角 69">
            <a:extLst>
              <a:ext uri="{FF2B5EF4-FFF2-40B4-BE49-F238E27FC236}">
                <a16:creationId xmlns:a16="http://schemas.microsoft.com/office/drawing/2014/main" id="{55E11AE6-DC81-9E33-FFE8-1AA59BAB1144}"/>
              </a:ext>
            </a:extLst>
          </p:cNvPr>
          <p:cNvSpPr/>
          <p:nvPr/>
        </p:nvSpPr>
        <p:spPr>
          <a:xfrm>
            <a:off x="2704575" y="4659143"/>
            <a:ext cx="1166589" cy="179953"/>
          </a:xfrm>
          <a:prstGeom prst="roundRect">
            <a:avLst/>
          </a:prstGeom>
          <a:solidFill>
            <a:schemeClr val="accent2">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Accessory</a:t>
            </a:r>
            <a:endParaRPr lang="zh-CN" altLang="en-US" sz="700" b="1">
              <a:solidFill>
                <a:schemeClr val="tx1"/>
              </a:solidFill>
              <a:latin typeface="Lato" panose="020F0502020204030203" pitchFamily="34" charset="0"/>
              <a:cs typeface="Lato" panose="020F0502020204030203" pitchFamily="34" charset="0"/>
            </a:endParaRPr>
          </a:p>
        </p:txBody>
      </p:sp>
      <p:cxnSp>
        <p:nvCxnSpPr>
          <p:cNvPr id="99" name="连接符: 肘形 98">
            <a:extLst>
              <a:ext uri="{FF2B5EF4-FFF2-40B4-BE49-F238E27FC236}">
                <a16:creationId xmlns:a16="http://schemas.microsoft.com/office/drawing/2014/main" id="{D2C3A49B-59E3-ADDA-5A6C-847095CC8C59}"/>
              </a:ext>
            </a:extLst>
          </p:cNvPr>
          <p:cNvCxnSpPr>
            <a:cxnSpLocks/>
            <a:stCxn id="12" idx="2"/>
            <a:endCxn id="70" idx="1"/>
          </p:cNvCxnSpPr>
          <p:nvPr/>
        </p:nvCxnSpPr>
        <p:spPr>
          <a:xfrm rot="16200000" flipH="1">
            <a:off x="2034546" y="4079089"/>
            <a:ext cx="1246197"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133" name="文本框 132">
            <a:extLst>
              <a:ext uri="{FF2B5EF4-FFF2-40B4-BE49-F238E27FC236}">
                <a16:creationId xmlns:a16="http://schemas.microsoft.com/office/drawing/2014/main" id="{19EF5273-BDC0-6B52-A76A-C7A2F77C8331}"/>
              </a:ext>
            </a:extLst>
          </p:cNvPr>
          <p:cNvSpPr txBox="1"/>
          <p:nvPr/>
        </p:nvSpPr>
        <p:spPr>
          <a:xfrm>
            <a:off x="3928743" y="3267551"/>
            <a:ext cx="590226" cy="215444"/>
          </a:xfrm>
          <a:prstGeom prst="rect">
            <a:avLst/>
          </a:prstGeom>
          <a:noFill/>
        </p:spPr>
        <p:txBody>
          <a:bodyPr wrap="none" rtlCol="0">
            <a:spAutoFit/>
          </a:bodyPr>
          <a:lstStyle/>
          <a:p>
            <a:pPr algn="r"/>
            <a:r>
              <a:rPr lang="en-US" altLang="zh-CN" sz="800" b="1">
                <a:solidFill>
                  <a:schemeClr val="tx2"/>
                </a:solidFill>
                <a:latin typeface="Lato" panose="020F0502020204030203" pitchFamily="34" charset="0"/>
                <a:ea typeface="Lato" panose="020F0502020204030203" pitchFamily="34" charset="0"/>
                <a:cs typeface="Lato" panose="020F0502020204030203" pitchFamily="34" charset="0"/>
              </a:rPr>
              <a:t>100.00 $</a:t>
            </a:r>
            <a:endParaRPr lang="zh-CN" altLang="en-US" sz="800" b="1">
              <a:solidFill>
                <a:schemeClr val="tx2"/>
              </a:solidFill>
              <a:latin typeface="Lato" panose="020F0502020204030203" pitchFamily="34" charset="0"/>
              <a:cs typeface="Lato" panose="020F0502020204030203" pitchFamily="34" charset="0"/>
            </a:endParaRPr>
          </a:p>
        </p:txBody>
      </p:sp>
      <p:sp>
        <p:nvSpPr>
          <p:cNvPr id="136" name="文本框 135">
            <a:extLst>
              <a:ext uri="{FF2B5EF4-FFF2-40B4-BE49-F238E27FC236}">
                <a16:creationId xmlns:a16="http://schemas.microsoft.com/office/drawing/2014/main" id="{91BAFB9A-2411-5B31-26FF-F3A9894858C2}"/>
              </a:ext>
            </a:extLst>
          </p:cNvPr>
          <p:cNvSpPr txBox="1"/>
          <p:nvPr/>
        </p:nvSpPr>
        <p:spPr>
          <a:xfrm>
            <a:off x="3988053" y="3587605"/>
            <a:ext cx="530916"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45.00 $</a:t>
            </a:r>
            <a:endParaRPr lang="zh-CN" altLang="en-US" sz="800">
              <a:latin typeface="Lato" panose="020F0502020204030203" pitchFamily="34" charset="0"/>
              <a:cs typeface="Lato" panose="020F0502020204030203" pitchFamily="34" charset="0"/>
            </a:endParaRPr>
          </a:p>
        </p:txBody>
      </p:sp>
      <p:sp>
        <p:nvSpPr>
          <p:cNvPr id="141" name="文本框 140">
            <a:extLst>
              <a:ext uri="{FF2B5EF4-FFF2-40B4-BE49-F238E27FC236}">
                <a16:creationId xmlns:a16="http://schemas.microsoft.com/office/drawing/2014/main" id="{A1FB3E37-38EE-28A3-DF71-388BBB0DE217}"/>
              </a:ext>
            </a:extLst>
          </p:cNvPr>
          <p:cNvSpPr txBox="1"/>
          <p:nvPr/>
        </p:nvSpPr>
        <p:spPr>
          <a:xfrm>
            <a:off x="3988054" y="3795049"/>
            <a:ext cx="530916"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15.00 $</a:t>
            </a:r>
            <a:endParaRPr lang="zh-CN" altLang="en-US" sz="800">
              <a:latin typeface="Lato" panose="020F0502020204030203" pitchFamily="34" charset="0"/>
              <a:cs typeface="Lato" panose="020F0502020204030203" pitchFamily="34" charset="0"/>
            </a:endParaRPr>
          </a:p>
        </p:txBody>
      </p:sp>
      <p:sp>
        <p:nvSpPr>
          <p:cNvPr id="142" name="文本框 141">
            <a:extLst>
              <a:ext uri="{FF2B5EF4-FFF2-40B4-BE49-F238E27FC236}">
                <a16:creationId xmlns:a16="http://schemas.microsoft.com/office/drawing/2014/main" id="{CAA03642-8717-E00D-2311-2F3105270122}"/>
              </a:ext>
            </a:extLst>
          </p:cNvPr>
          <p:cNvSpPr txBox="1"/>
          <p:nvPr/>
        </p:nvSpPr>
        <p:spPr>
          <a:xfrm>
            <a:off x="4047365" y="4002493"/>
            <a:ext cx="471604"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5.00 $</a:t>
            </a:r>
            <a:endParaRPr lang="zh-CN" altLang="en-US" sz="800">
              <a:latin typeface="Lato" panose="020F0502020204030203" pitchFamily="34" charset="0"/>
              <a:cs typeface="Lato" panose="020F0502020204030203" pitchFamily="34" charset="0"/>
            </a:endParaRPr>
          </a:p>
        </p:txBody>
      </p:sp>
      <p:sp>
        <p:nvSpPr>
          <p:cNvPr id="143" name="文本框 142">
            <a:extLst>
              <a:ext uri="{FF2B5EF4-FFF2-40B4-BE49-F238E27FC236}">
                <a16:creationId xmlns:a16="http://schemas.microsoft.com/office/drawing/2014/main" id="{94EA3CB6-AD21-DF6A-5971-B9FE96967499}"/>
              </a:ext>
            </a:extLst>
          </p:cNvPr>
          <p:cNvSpPr txBox="1"/>
          <p:nvPr/>
        </p:nvSpPr>
        <p:spPr>
          <a:xfrm>
            <a:off x="3988053" y="4209937"/>
            <a:ext cx="530916"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10.00 $</a:t>
            </a:r>
            <a:endParaRPr lang="zh-CN" altLang="en-US" sz="800">
              <a:latin typeface="Lato" panose="020F0502020204030203" pitchFamily="34" charset="0"/>
              <a:cs typeface="Lato" panose="020F0502020204030203" pitchFamily="34" charset="0"/>
            </a:endParaRPr>
          </a:p>
        </p:txBody>
      </p:sp>
      <p:sp>
        <p:nvSpPr>
          <p:cNvPr id="145" name="文本框 144">
            <a:extLst>
              <a:ext uri="{FF2B5EF4-FFF2-40B4-BE49-F238E27FC236}">
                <a16:creationId xmlns:a16="http://schemas.microsoft.com/office/drawing/2014/main" id="{13B56FD1-62F1-A096-B400-A95B7C3C2413}"/>
              </a:ext>
            </a:extLst>
          </p:cNvPr>
          <p:cNvSpPr txBox="1"/>
          <p:nvPr/>
        </p:nvSpPr>
        <p:spPr>
          <a:xfrm>
            <a:off x="3988053" y="4417012"/>
            <a:ext cx="530916"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15.00 $</a:t>
            </a:r>
            <a:endParaRPr lang="zh-CN" altLang="en-US" sz="800">
              <a:latin typeface="Lato" panose="020F0502020204030203" pitchFamily="34" charset="0"/>
              <a:cs typeface="Lato" panose="020F0502020204030203" pitchFamily="34" charset="0"/>
            </a:endParaRPr>
          </a:p>
        </p:txBody>
      </p:sp>
      <p:sp>
        <p:nvSpPr>
          <p:cNvPr id="146" name="文本框 145">
            <a:extLst>
              <a:ext uri="{FF2B5EF4-FFF2-40B4-BE49-F238E27FC236}">
                <a16:creationId xmlns:a16="http://schemas.microsoft.com/office/drawing/2014/main" id="{0094D9B5-23BA-3475-A1C6-3AAA5C5C067C}"/>
              </a:ext>
            </a:extLst>
          </p:cNvPr>
          <p:cNvSpPr txBox="1"/>
          <p:nvPr/>
        </p:nvSpPr>
        <p:spPr>
          <a:xfrm>
            <a:off x="3988054" y="4624458"/>
            <a:ext cx="530916"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10.00 $</a:t>
            </a:r>
            <a:endParaRPr lang="zh-CN" altLang="en-US" sz="800">
              <a:latin typeface="Lato" panose="020F0502020204030203" pitchFamily="34" charset="0"/>
              <a:cs typeface="Lato" panose="020F0502020204030203" pitchFamily="34" charset="0"/>
            </a:endParaRPr>
          </a:p>
        </p:txBody>
      </p:sp>
      <p:sp>
        <p:nvSpPr>
          <p:cNvPr id="157" name="文本框 156">
            <a:extLst>
              <a:ext uri="{FF2B5EF4-FFF2-40B4-BE49-F238E27FC236}">
                <a16:creationId xmlns:a16="http://schemas.microsoft.com/office/drawing/2014/main" id="{6F3C30ED-6948-B375-18F2-DD408EE990A1}"/>
              </a:ext>
            </a:extLst>
          </p:cNvPr>
          <p:cNvSpPr txBox="1"/>
          <p:nvPr/>
        </p:nvSpPr>
        <p:spPr>
          <a:xfrm>
            <a:off x="4649667" y="3262893"/>
            <a:ext cx="460382" cy="215444"/>
          </a:xfrm>
          <a:prstGeom prst="rect">
            <a:avLst/>
          </a:prstGeom>
          <a:noFill/>
          <a:ln>
            <a:noFill/>
          </a:ln>
        </p:spPr>
        <p:txBody>
          <a:bodyPr wrap="none" rtlCol="0">
            <a:spAutoFit/>
          </a:bodyPr>
          <a:lstStyle/>
          <a:p>
            <a:pPr algn="l"/>
            <a:r>
              <a:rPr lang="en-US" altLang="zh-CN" sz="800" b="1">
                <a:latin typeface="Lato" panose="020F0502020204030203" pitchFamily="34" charset="0"/>
                <a:ea typeface="Lato" panose="020F0502020204030203" pitchFamily="34" charset="0"/>
                <a:cs typeface="Lato" panose="020F0502020204030203" pitchFamily="34" charset="0"/>
              </a:rPr>
              <a:t>10 PC</a:t>
            </a:r>
            <a:endParaRPr lang="zh-CN" altLang="en-US" sz="800" b="1">
              <a:latin typeface="Lato" panose="020F0502020204030203" pitchFamily="34" charset="0"/>
              <a:cs typeface="Lato" panose="020F0502020204030203" pitchFamily="34" charset="0"/>
            </a:endParaRPr>
          </a:p>
        </p:txBody>
      </p:sp>
      <p:sp>
        <p:nvSpPr>
          <p:cNvPr id="5" name="文本框 4">
            <a:extLst>
              <a:ext uri="{FF2B5EF4-FFF2-40B4-BE49-F238E27FC236}">
                <a16:creationId xmlns:a16="http://schemas.microsoft.com/office/drawing/2014/main" id="{C60E565F-69BF-6FFF-CE7A-992D96DFD5E4}"/>
              </a:ext>
            </a:extLst>
          </p:cNvPr>
          <p:cNvSpPr txBox="1"/>
          <p:nvPr/>
        </p:nvSpPr>
        <p:spPr>
          <a:xfrm>
            <a:off x="4602166" y="3587605"/>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6" name="文本框 5">
            <a:extLst>
              <a:ext uri="{FF2B5EF4-FFF2-40B4-BE49-F238E27FC236}">
                <a16:creationId xmlns:a16="http://schemas.microsoft.com/office/drawing/2014/main" id="{C3724A4E-263E-C879-3539-967B4841E801}"/>
              </a:ext>
            </a:extLst>
          </p:cNvPr>
          <p:cNvSpPr txBox="1"/>
          <p:nvPr/>
        </p:nvSpPr>
        <p:spPr>
          <a:xfrm>
            <a:off x="4602167" y="3795049"/>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7" name="文本框 6">
            <a:extLst>
              <a:ext uri="{FF2B5EF4-FFF2-40B4-BE49-F238E27FC236}">
                <a16:creationId xmlns:a16="http://schemas.microsoft.com/office/drawing/2014/main" id="{11BAF77D-6164-64D8-0050-78BC6115F335}"/>
              </a:ext>
            </a:extLst>
          </p:cNvPr>
          <p:cNvSpPr txBox="1"/>
          <p:nvPr/>
        </p:nvSpPr>
        <p:spPr>
          <a:xfrm>
            <a:off x="4602166" y="4002493"/>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8" name="文本框 7">
            <a:extLst>
              <a:ext uri="{FF2B5EF4-FFF2-40B4-BE49-F238E27FC236}">
                <a16:creationId xmlns:a16="http://schemas.microsoft.com/office/drawing/2014/main" id="{E742A8E5-4225-E818-09E7-C8B25EC133D8}"/>
              </a:ext>
            </a:extLst>
          </p:cNvPr>
          <p:cNvSpPr txBox="1"/>
          <p:nvPr/>
        </p:nvSpPr>
        <p:spPr>
          <a:xfrm>
            <a:off x="4602166" y="4209937"/>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14" name="文本框 13">
            <a:extLst>
              <a:ext uri="{FF2B5EF4-FFF2-40B4-BE49-F238E27FC236}">
                <a16:creationId xmlns:a16="http://schemas.microsoft.com/office/drawing/2014/main" id="{9CD962AD-8466-6972-FB3B-75DAB91ED332}"/>
              </a:ext>
            </a:extLst>
          </p:cNvPr>
          <p:cNvSpPr txBox="1"/>
          <p:nvPr/>
        </p:nvSpPr>
        <p:spPr>
          <a:xfrm>
            <a:off x="4602167" y="4624458"/>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15" name="矩形: 圆角 14">
            <a:extLst>
              <a:ext uri="{FF2B5EF4-FFF2-40B4-BE49-F238E27FC236}">
                <a16:creationId xmlns:a16="http://schemas.microsoft.com/office/drawing/2014/main" id="{A9E8B0EE-2DA6-E94A-BE08-552F1480C20C}"/>
              </a:ext>
            </a:extLst>
          </p:cNvPr>
          <p:cNvSpPr/>
          <p:nvPr/>
        </p:nvSpPr>
        <p:spPr>
          <a:xfrm>
            <a:off x="6203600" y="3219715"/>
            <a:ext cx="5612208" cy="326445"/>
          </a:xfrm>
          <a:prstGeom prst="roundRect">
            <a:avLst/>
          </a:prstGeom>
          <a:solidFill>
            <a:schemeClr val="bg1"/>
          </a:solidFill>
          <a:ln w="6350">
            <a:solidFill>
              <a:schemeClr val="bg1">
                <a:lumMod val="50000"/>
              </a:schemeClr>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100" b="1">
              <a:solidFill>
                <a:schemeClr val="tx1"/>
              </a:solidFill>
              <a:latin typeface="Lato" panose="020F0502020204030203" pitchFamily="34" charset="0"/>
              <a:cs typeface="Lato" panose="020F0502020204030203" pitchFamily="34" charset="0"/>
            </a:endParaRPr>
          </a:p>
        </p:txBody>
      </p:sp>
      <p:sp>
        <p:nvSpPr>
          <p:cNvPr id="17" name="矩形: 圆角 16">
            <a:extLst>
              <a:ext uri="{FF2B5EF4-FFF2-40B4-BE49-F238E27FC236}">
                <a16:creationId xmlns:a16="http://schemas.microsoft.com/office/drawing/2014/main" id="{7EBC53FC-3B95-891D-9FC5-05C6E31C9479}"/>
              </a:ext>
            </a:extLst>
          </p:cNvPr>
          <p:cNvSpPr/>
          <p:nvPr/>
        </p:nvSpPr>
        <p:spPr>
          <a:xfrm>
            <a:off x="6226217" y="3252402"/>
            <a:ext cx="1662731" cy="255352"/>
          </a:xfrm>
          <a:prstGeom prst="roundRect">
            <a:avLst/>
          </a:prstGeom>
          <a:solidFill>
            <a:schemeClr val="accent5">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2"/>
                </a:solidFill>
                <a:latin typeface="Lato" panose="020F0502020204030203" pitchFamily="34" charset="0"/>
                <a:ea typeface="Lato" panose="020F0502020204030203" pitchFamily="34" charset="0"/>
                <a:cs typeface="Lato" panose="020F0502020204030203" pitchFamily="34" charset="0"/>
              </a:rPr>
              <a:t>NB TP T14 G3 I5 16G 256G 11P</a:t>
            </a:r>
            <a:endParaRPr lang="zh-CN" altLang="en-US" sz="700" b="1">
              <a:solidFill>
                <a:schemeClr val="tx2"/>
              </a:solidFill>
              <a:latin typeface="Lato" panose="020F0502020204030203" pitchFamily="34" charset="0"/>
              <a:cs typeface="Lato" panose="020F0502020204030203" pitchFamily="34" charset="0"/>
            </a:endParaRPr>
          </a:p>
        </p:txBody>
      </p:sp>
      <p:sp>
        <p:nvSpPr>
          <p:cNvPr id="21" name="矩形: 圆角 20">
            <a:extLst>
              <a:ext uri="{FF2B5EF4-FFF2-40B4-BE49-F238E27FC236}">
                <a16:creationId xmlns:a16="http://schemas.microsoft.com/office/drawing/2014/main" id="{3E9159A9-02EC-1C32-5160-9138E6DDBA7A}"/>
              </a:ext>
            </a:extLst>
          </p:cNvPr>
          <p:cNvSpPr/>
          <p:nvPr/>
        </p:nvSpPr>
        <p:spPr>
          <a:xfrm>
            <a:off x="7151444" y="3614151"/>
            <a:ext cx="1166589" cy="179953"/>
          </a:xfrm>
          <a:prstGeom prst="roundRect">
            <a:avLst/>
          </a:prstGeom>
          <a:solidFill>
            <a:schemeClr val="accent2">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T14</a:t>
            </a:r>
            <a:endParaRPr lang="zh-CN" altLang="en-US" sz="700" b="1">
              <a:solidFill>
                <a:schemeClr val="tx1"/>
              </a:solidFill>
              <a:latin typeface="Lato" panose="020F0502020204030203" pitchFamily="34" charset="0"/>
              <a:cs typeface="Lato" panose="020F0502020204030203" pitchFamily="34" charset="0"/>
            </a:endParaRPr>
          </a:p>
        </p:txBody>
      </p:sp>
      <p:cxnSp>
        <p:nvCxnSpPr>
          <p:cNvPr id="23" name="连接符: 肘形 22">
            <a:extLst>
              <a:ext uri="{FF2B5EF4-FFF2-40B4-BE49-F238E27FC236}">
                <a16:creationId xmlns:a16="http://schemas.microsoft.com/office/drawing/2014/main" id="{3AE4D02A-3674-C84F-147C-5B850F2C45F0}"/>
              </a:ext>
            </a:extLst>
          </p:cNvPr>
          <p:cNvCxnSpPr>
            <a:cxnSpLocks/>
            <a:stCxn id="17" idx="2"/>
            <a:endCxn id="21" idx="1"/>
          </p:cNvCxnSpPr>
          <p:nvPr/>
        </p:nvCxnSpPr>
        <p:spPr>
          <a:xfrm rot="16200000" flipH="1">
            <a:off x="7006327" y="3559010"/>
            <a:ext cx="196373" cy="93861"/>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8" name="矩形: 圆角 27">
            <a:extLst>
              <a:ext uri="{FF2B5EF4-FFF2-40B4-BE49-F238E27FC236}">
                <a16:creationId xmlns:a16="http://schemas.microsoft.com/office/drawing/2014/main" id="{C8EE2888-59A5-4056-2F41-D264A0EAE40D}"/>
              </a:ext>
            </a:extLst>
          </p:cNvPr>
          <p:cNvSpPr/>
          <p:nvPr/>
        </p:nvSpPr>
        <p:spPr>
          <a:xfrm>
            <a:off x="7151444" y="3823757"/>
            <a:ext cx="1166589" cy="179953"/>
          </a:xfrm>
          <a:prstGeom prst="roundRect">
            <a:avLst/>
          </a:prstGeom>
          <a:solidFill>
            <a:schemeClr val="accent3">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Premier Support</a:t>
            </a:r>
            <a:endParaRPr lang="zh-CN" altLang="en-US" sz="700" b="1">
              <a:solidFill>
                <a:schemeClr val="tx1"/>
              </a:solidFill>
              <a:latin typeface="Lato" panose="020F0502020204030203" pitchFamily="34" charset="0"/>
              <a:cs typeface="Lato" panose="020F0502020204030203" pitchFamily="34" charset="0"/>
            </a:endParaRPr>
          </a:p>
        </p:txBody>
      </p:sp>
      <p:sp>
        <p:nvSpPr>
          <p:cNvPr id="32" name="矩形: 圆角 31">
            <a:extLst>
              <a:ext uri="{FF2B5EF4-FFF2-40B4-BE49-F238E27FC236}">
                <a16:creationId xmlns:a16="http://schemas.microsoft.com/office/drawing/2014/main" id="{DD3B96D9-DA26-CDF0-E277-F3E6B6C436E9}"/>
              </a:ext>
            </a:extLst>
          </p:cNvPr>
          <p:cNvSpPr/>
          <p:nvPr/>
        </p:nvSpPr>
        <p:spPr>
          <a:xfrm>
            <a:off x="7151444" y="4033364"/>
            <a:ext cx="1166589" cy="179953"/>
          </a:xfrm>
          <a:prstGeom prst="roundRect">
            <a:avLst/>
          </a:prstGeom>
          <a:solidFill>
            <a:schemeClr val="accent2">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Configuration Service</a:t>
            </a:r>
            <a:endParaRPr lang="zh-CN" altLang="en-US" sz="700" b="1">
              <a:solidFill>
                <a:schemeClr val="tx1"/>
              </a:solidFill>
              <a:latin typeface="Lato" panose="020F0502020204030203" pitchFamily="34" charset="0"/>
              <a:cs typeface="Lato" panose="020F0502020204030203" pitchFamily="34" charset="0"/>
            </a:endParaRPr>
          </a:p>
        </p:txBody>
      </p:sp>
      <p:cxnSp>
        <p:nvCxnSpPr>
          <p:cNvPr id="33" name="连接符: 肘形 32">
            <a:extLst>
              <a:ext uri="{FF2B5EF4-FFF2-40B4-BE49-F238E27FC236}">
                <a16:creationId xmlns:a16="http://schemas.microsoft.com/office/drawing/2014/main" id="{7A99180B-1447-6E38-42D1-2D17DE3350C9}"/>
              </a:ext>
            </a:extLst>
          </p:cNvPr>
          <p:cNvCxnSpPr>
            <a:cxnSpLocks/>
            <a:stCxn id="17" idx="2"/>
            <a:endCxn id="28" idx="1"/>
          </p:cNvCxnSpPr>
          <p:nvPr/>
        </p:nvCxnSpPr>
        <p:spPr>
          <a:xfrm rot="16200000" flipH="1">
            <a:off x="6901524" y="3663813"/>
            <a:ext cx="405979" cy="93861"/>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37" name="连接符: 肘形 36">
            <a:extLst>
              <a:ext uri="{FF2B5EF4-FFF2-40B4-BE49-F238E27FC236}">
                <a16:creationId xmlns:a16="http://schemas.microsoft.com/office/drawing/2014/main" id="{9B2D094E-B275-CB8F-4AA5-184B1F159391}"/>
              </a:ext>
            </a:extLst>
          </p:cNvPr>
          <p:cNvCxnSpPr>
            <a:cxnSpLocks/>
            <a:stCxn id="17" idx="2"/>
            <a:endCxn id="32" idx="1"/>
          </p:cNvCxnSpPr>
          <p:nvPr/>
        </p:nvCxnSpPr>
        <p:spPr>
          <a:xfrm rot="16200000" flipH="1">
            <a:off x="6796719" y="3768617"/>
            <a:ext cx="615586" cy="93861"/>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38" name="矩形: 圆角 37">
            <a:extLst>
              <a:ext uri="{FF2B5EF4-FFF2-40B4-BE49-F238E27FC236}">
                <a16:creationId xmlns:a16="http://schemas.microsoft.com/office/drawing/2014/main" id="{07930D8D-97E4-AFC5-8241-B3C3187C5BAF}"/>
              </a:ext>
            </a:extLst>
          </p:cNvPr>
          <p:cNvSpPr/>
          <p:nvPr/>
        </p:nvSpPr>
        <p:spPr>
          <a:xfrm>
            <a:off x="7151444" y="4242970"/>
            <a:ext cx="1166589" cy="179953"/>
          </a:xfrm>
          <a:prstGeom prst="roundRect">
            <a:avLst/>
          </a:prstGeom>
          <a:solidFill>
            <a:schemeClr val="accent2">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Deployment Service</a:t>
            </a:r>
            <a:endParaRPr lang="zh-CN" altLang="en-US" sz="700" b="1">
              <a:solidFill>
                <a:schemeClr val="tx1"/>
              </a:solidFill>
              <a:latin typeface="Lato" panose="020F0502020204030203" pitchFamily="34" charset="0"/>
              <a:cs typeface="Lato" panose="020F0502020204030203" pitchFamily="34" charset="0"/>
            </a:endParaRPr>
          </a:p>
        </p:txBody>
      </p:sp>
      <p:sp>
        <p:nvSpPr>
          <p:cNvPr id="41" name="矩形: 圆角 40">
            <a:extLst>
              <a:ext uri="{FF2B5EF4-FFF2-40B4-BE49-F238E27FC236}">
                <a16:creationId xmlns:a16="http://schemas.microsoft.com/office/drawing/2014/main" id="{C4ADD7F9-F61F-7D27-9BE2-4B11277A7C77}"/>
              </a:ext>
            </a:extLst>
          </p:cNvPr>
          <p:cNvSpPr/>
          <p:nvPr/>
        </p:nvSpPr>
        <p:spPr>
          <a:xfrm>
            <a:off x="7151444" y="4450212"/>
            <a:ext cx="1166589" cy="179953"/>
          </a:xfrm>
          <a:prstGeom prst="roundRect">
            <a:avLst/>
          </a:prstGeom>
          <a:solidFill>
            <a:schemeClr val="accent6">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Asset Recovery Service</a:t>
            </a:r>
            <a:endParaRPr lang="zh-CN" altLang="en-US" sz="700" b="1">
              <a:solidFill>
                <a:schemeClr val="tx1"/>
              </a:solidFill>
              <a:latin typeface="Lato" panose="020F0502020204030203" pitchFamily="34" charset="0"/>
              <a:cs typeface="Lato" panose="020F0502020204030203" pitchFamily="34" charset="0"/>
            </a:endParaRPr>
          </a:p>
        </p:txBody>
      </p:sp>
      <p:cxnSp>
        <p:nvCxnSpPr>
          <p:cNvPr id="42" name="连接符: 肘形 41">
            <a:extLst>
              <a:ext uri="{FF2B5EF4-FFF2-40B4-BE49-F238E27FC236}">
                <a16:creationId xmlns:a16="http://schemas.microsoft.com/office/drawing/2014/main" id="{65699B40-BA54-382C-AB6A-863D2A06CB58}"/>
              </a:ext>
            </a:extLst>
          </p:cNvPr>
          <p:cNvCxnSpPr>
            <a:cxnSpLocks/>
            <a:stCxn id="17" idx="2"/>
            <a:endCxn id="38" idx="1"/>
          </p:cNvCxnSpPr>
          <p:nvPr/>
        </p:nvCxnSpPr>
        <p:spPr>
          <a:xfrm rot="16200000" flipH="1">
            <a:off x="6691916" y="3873420"/>
            <a:ext cx="825192" cy="93861"/>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45" name="连接符: 肘形 44">
            <a:extLst>
              <a:ext uri="{FF2B5EF4-FFF2-40B4-BE49-F238E27FC236}">
                <a16:creationId xmlns:a16="http://schemas.microsoft.com/office/drawing/2014/main" id="{4F9B5BA0-76D8-ADA9-D28C-D8369792E57D}"/>
              </a:ext>
            </a:extLst>
          </p:cNvPr>
          <p:cNvCxnSpPr>
            <a:cxnSpLocks/>
            <a:stCxn id="17" idx="2"/>
            <a:endCxn id="41" idx="1"/>
          </p:cNvCxnSpPr>
          <p:nvPr/>
        </p:nvCxnSpPr>
        <p:spPr>
          <a:xfrm rot="16200000" flipH="1">
            <a:off x="6588295" y="3977041"/>
            <a:ext cx="1032434" cy="93861"/>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46" name="矩形: 圆角 45">
            <a:extLst>
              <a:ext uri="{FF2B5EF4-FFF2-40B4-BE49-F238E27FC236}">
                <a16:creationId xmlns:a16="http://schemas.microsoft.com/office/drawing/2014/main" id="{124B4C93-6D37-EEDA-84FC-1B471A2EF824}"/>
              </a:ext>
            </a:extLst>
          </p:cNvPr>
          <p:cNvSpPr/>
          <p:nvPr/>
        </p:nvSpPr>
        <p:spPr>
          <a:xfrm>
            <a:off x="7151444" y="4659817"/>
            <a:ext cx="1166589" cy="179953"/>
          </a:xfrm>
          <a:prstGeom prst="roundRect">
            <a:avLst/>
          </a:prstGeom>
          <a:solidFill>
            <a:schemeClr val="accent2">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r>
              <a:rPr lang="en-US" altLang="zh-CN" sz="700" b="1">
                <a:solidFill>
                  <a:schemeClr val="tx1"/>
                </a:solidFill>
                <a:latin typeface="Lato" panose="020F0502020204030203" pitchFamily="34" charset="0"/>
                <a:ea typeface="Lato" panose="020F0502020204030203" pitchFamily="34" charset="0"/>
                <a:cs typeface="Lato" panose="020F0502020204030203" pitchFamily="34" charset="0"/>
              </a:rPr>
              <a:t>Accessory</a:t>
            </a:r>
            <a:endParaRPr lang="zh-CN" altLang="en-US" sz="700" b="1">
              <a:solidFill>
                <a:schemeClr val="tx1"/>
              </a:solidFill>
              <a:latin typeface="Lato" panose="020F0502020204030203" pitchFamily="34" charset="0"/>
              <a:cs typeface="Lato" panose="020F0502020204030203" pitchFamily="34" charset="0"/>
            </a:endParaRPr>
          </a:p>
        </p:txBody>
      </p:sp>
      <p:cxnSp>
        <p:nvCxnSpPr>
          <p:cNvPr id="47" name="连接符: 肘形 46">
            <a:extLst>
              <a:ext uri="{FF2B5EF4-FFF2-40B4-BE49-F238E27FC236}">
                <a16:creationId xmlns:a16="http://schemas.microsoft.com/office/drawing/2014/main" id="{027271EF-C3DA-6FA0-4EDD-E36B00323121}"/>
              </a:ext>
            </a:extLst>
          </p:cNvPr>
          <p:cNvCxnSpPr>
            <a:cxnSpLocks/>
            <a:stCxn id="17" idx="2"/>
            <a:endCxn id="46" idx="1"/>
          </p:cNvCxnSpPr>
          <p:nvPr/>
        </p:nvCxnSpPr>
        <p:spPr>
          <a:xfrm rot="16200000" flipH="1">
            <a:off x="6483494" y="4081843"/>
            <a:ext cx="1242039" cy="93861"/>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A4515387-9C03-2E2F-B780-1CF3DB4138F5}"/>
              </a:ext>
            </a:extLst>
          </p:cNvPr>
          <p:cNvSpPr txBox="1"/>
          <p:nvPr/>
        </p:nvSpPr>
        <p:spPr>
          <a:xfrm>
            <a:off x="10698380" y="3272383"/>
            <a:ext cx="530916" cy="215444"/>
          </a:xfrm>
          <a:prstGeom prst="rect">
            <a:avLst/>
          </a:prstGeom>
          <a:noFill/>
        </p:spPr>
        <p:txBody>
          <a:bodyPr wrap="none" rtlCol="0">
            <a:spAutoFit/>
          </a:bodyPr>
          <a:lstStyle/>
          <a:p>
            <a:pPr algn="r"/>
            <a:r>
              <a:rPr lang="en-US" altLang="zh-CN" sz="800" b="1">
                <a:solidFill>
                  <a:srgbClr val="00B050"/>
                </a:solidFill>
                <a:latin typeface="Lato" panose="020F0502020204030203" pitchFamily="34" charset="0"/>
                <a:ea typeface="Lato" panose="020F0502020204030203" pitchFamily="34" charset="0"/>
                <a:cs typeface="Lato" panose="020F0502020204030203" pitchFamily="34" charset="0"/>
              </a:rPr>
              <a:t>75.00 $</a:t>
            </a:r>
            <a:endParaRPr lang="zh-CN" altLang="en-US" sz="800" b="1">
              <a:solidFill>
                <a:srgbClr val="00B050"/>
              </a:solidFill>
              <a:latin typeface="Lato" panose="020F0502020204030203" pitchFamily="34" charset="0"/>
              <a:cs typeface="Lato" panose="020F0502020204030203" pitchFamily="34" charset="0"/>
            </a:endParaRPr>
          </a:p>
        </p:txBody>
      </p:sp>
      <p:sp>
        <p:nvSpPr>
          <p:cNvPr id="49" name="文本框 48">
            <a:extLst>
              <a:ext uri="{FF2B5EF4-FFF2-40B4-BE49-F238E27FC236}">
                <a16:creationId xmlns:a16="http://schemas.microsoft.com/office/drawing/2014/main" id="{217932EE-C52E-51CF-0DC4-DA835EB1202D}"/>
              </a:ext>
            </a:extLst>
          </p:cNvPr>
          <p:cNvSpPr txBox="1"/>
          <p:nvPr/>
        </p:nvSpPr>
        <p:spPr>
          <a:xfrm>
            <a:off x="8447386" y="3592438"/>
            <a:ext cx="530916" cy="215444"/>
          </a:xfrm>
          <a:prstGeom prst="rect">
            <a:avLst/>
          </a:prstGeom>
          <a:noFill/>
        </p:spPr>
        <p:txBody>
          <a:bodyPr wrap="none" rtlCol="0" anchor="ctr">
            <a:spAutoFit/>
          </a:bodyPr>
          <a:lstStyle/>
          <a:p>
            <a:pPr algn="r"/>
            <a:r>
              <a:rPr lang="en-US" altLang="zh-CN" sz="800" strike="sngStrike">
                <a:latin typeface="Lato" panose="020F0502020204030203" pitchFamily="34" charset="0"/>
                <a:ea typeface="Lato" panose="020F0502020204030203" pitchFamily="34" charset="0"/>
                <a:cs typeface="Lato" panose="020F0502020204030203" pitchFamily="34" charset="0"/>
              </a:rPr>
              <a:t>45.00 $</a:t>
            </a:r>
            <a:endParaRPr lang="zh-CN" altLang="en-US" sz="800" strike="sngStrike">
              <a:latin typeface="Lato" panose="020F0502020204030203" pitchFamily="34" charset="0"/>
              <a:cs typeface="Lato" panose="020F0502020204030203" pitchFamily="34" charset="0"/>
            </a:endParaRPr>
          </a:p>
        </p:txBody>
      </p:sp>
      <p:sp>
        <p:nvSpPr>
          <p:cNvPr id="50" name="文本框 49">
            <a:extLst>
              <a:ext uri="{FF2B5EF4-FFF2-40B4-BE49-F238E27FC236}">
                <a16:creationId xmlns:a16="http://schemas.microsoft.com/office/drawing/2014/main" id="{C6F15695-5047-ED43-66CC-E62254A407EA}"/>
              </a:ext>
            </a:extLst>
          </p:cNvPr>
          <p:cNvSpPr txBox="1"/>
          <p:nvPr/>
        </p:nvSpPr>
        <p:spPr>
          <a:xfrm>
            <a:off x="8447386" y="3799882"/>
            <a:ext cx="530916" cy="215444"/>
          </a:xfrm>
          <a:prstGeom prst="rect">
            <a:avLst/>
          </a:prstGeom>
          <a:noFill/>
        </p:spPr>
        <p:txBody>
          <a:bodyPr wrap="none" rtlCol="0" anchor="ctr">
            <a:spAutoFit/>
          </a:bodyPr>
          <a:lstStyle/>
          <a:p>
            <a:pPr algn="r"/>
            <a:r>
              <a:rPr lang="en-US" altLang="zh-CN" sz="800" strike="sngStrike">
                <a:latin typeface="Lato" panose="020F0502020204030203" pitchFamily="34" charset="0"/>
                <a:ea typeface="Lato" panose="020F0502020204030203" pitchFamily="34" charset="0"/>
                <a:cs typeface="Lato" panose="020F0502020204030203" pitchFamily="34" charset="0"/>
              </a:rPr>
              <a:t>15.00 $</a:t>
            </a:r>
            <a:endParaRPr lang="zh-CN" altLang="en-US" sz="800" strike="sngStrike">
              <a:latin typeface="Lato" panose="020F0502020204030203" pitchFamily="34" charset="0"/>
              <a:cs typeface="Lato" panose="020F0502020204030203" pitchFamily="34" charset="0"/>
            </a:endParaRPr>
          </a:p>
        </p:txBody>
      </p:sp>
      <p:sp>
        <p:nvSpPr>
          <p:cNvPr id="51" name="文本框 50">
            <a:extLst>
              <a:ext uri="{FF2B5EF4-FFF2-40B4-BE49-F238E27FC236}">
                <a16:creationId xmlns:a16="http://schemas.microsoft.com/office/drawing/2014/main" id="{95453B6A-9BAF-D503-EA08-A98B053DBE15}"/>
              </a:ext>
            </a:extLst>
          </p:cNvPr>
          <p:cNvSpPr txBox="1"/>
          <p:nvPr/>
        </p:nvSpPr>
        <p:spPr>
          <a:xfrm>
            <a:off x="8506698" y="4007326"/>
            <a:ext cx="471604" cy="215444"/>
          </a:xfrm>
          <a:prstGeom prst="rect">
            <a:avLst/>
          </a:prstGeom>
          <a:noFill/>
        </p:spPr>
        <p:txBody>
          <a:bodyPr wrap="none" rtlCol="0" anchor="ctr">
            <a:spAutoFit/>
          </a:bodyPr>
          <a:lstStyle/>
          <a:p>
            <a:pPr algn="r"/>
            <a:r>
              <a:rPr lang="en-US" altLang="zh-CN" sz="800" strike="sngStrike">
                <a:latin typeface="Lato" panose="020F0502020204030203" pitchFamily="34" charset="0"/>
                <a:ea typeface="Lato" panose="020F0502020204030203" pitchFamily="34" charset="0"/>
                <a:cs typeface="Lato" panose="020F0502020204030203" pitchFamily="34" charset="0"/>
              </a:rPr>
              <a:t>5.00 $</a:t>
            </a:r>
            <a:endParaRPr lang="zh-CN" altLang="en-US" sz="800" strike="sngStrike">
              <a:latin typeface="Lato" panose="020F0502020204030203" pitchFamily="34" charset="0"/>
              <a:cs typeface="Lato" panose="020F0502020204030203" pitchFamily="34" charset="0"/>
            </a:endParaRPr>
          </a:p>
        </p:txBody>
      </p:sp>
      <p:sp>
        <p:nvSpPr>
          <p:cNvPr id="52" name="文本框 51">
            <a:extLst>
              <a:ext uri="{FF2B5EF4-FFF2-40B4-BE49-F238E27FC236}">
                <a16:creationId xmlns:a16="http://schemas.microsoft.com/office/drawing/2014/main" id="{A44CF5D6-7D98-D549-374A-5AD89EA8CDE8}"/>
              </a:ext>
            </a:extLst>
          </p:cNvPr>
          <p:cNvSpPr txBox="1"/>
          <p:nvPr/>
        </p:nvSpPr>
        <p:spPr>
          <a:xfrm>
            <a:off x="8447386" y="4214770"/>
            <a:ext cx="530916" cy="215444"/>
          </a:xfrm>
          <a:prstGeom prst="rect">
            <a:avLst/>
          </a:prstGeom>
          <a:noFill/>
        </p:spPr>
        <p:txBody>
          <a:bodyPr wrap="none" rtlCol="0" anchor="ctr">
            <a:spAutoFit/>
          </a:bodyPr>
          <a:lstStyle/>
          <a:p>
            <a:pPr algn="r"/>
            <a:r>
              <a:rPr lang="en-US" altLang="zh-CN" sz="800" strike="sngStrike">
                <a:latin typeface="Lato" panose="020F0502020204030203" pitchFamily="34" charset="0"/>
                <a:ea typeface="Lato" panose="020F0502020204030203" pitchFamily="34" charset="0"/>
                <a:cs typeface="Lato" panose="020F0502020204030203" pitchFamily="34" charset="0"/>
              </a:rPr>
              <a:t>10.00 $</a:t>
            </a:r>
            <a:endParaRPr lang="zh-CN" altLang="en-US" sz="800" strike="sngStrike">
              <a:latin typeface="Lato" panose="020F0502020204030203" pitchFamily="34" charset="0"/>
              <a:cs typeface="Lato" panose="020F0502020204030203" pitchFamily="34" charset="0"/>
            </a:endParaRPr>
          </a:p>
        </p:txBody>
      </p:sp>
      <p:sp>
        <p:nvSpPr>
          <p:cNvPr id="54" name="文本框 53">
            <a:extLst>
              <a:ext uri="{FF2B5EF4-FFF2-40B4-BE49-F238E27FC236}">
                <a16:creationId xmlns:a16="http://schemas.microsoft.com/office/drawing/2014/main" id="{1821B4E6-62A0-3D68-DD15-027EEFB8B4B5}"/>
              </a:ext>
            </a:extLst>
          </p:cNvPr>
          <p:cNvSpPr txBox="1"/>
          <p:nvPr/>
        </p:nvSpPr>
        <p:spPr>
          <a:xfrm>
            <a:off x="8447386" y="4417686"/>
            <a:ext cx="530916" cy="215444"/>
          </a:xfrm>
          <a:prstGeom prst="rect">
            <a:avLst/>
          </a:prstGeom>
          <a:noFill/>
        </p:spPr>
        <p:txBody>
          <a:bodyPr wrap="none" rtlCol="0" anchor="ctr">
            <a:spAutoFit/>
          </a:bodyPr>
          <a:lstStyle/>
          <a:p>
            <a:pPr algn="r"/>
            <a:r>
              <a:rPr lang="en-US" altLang="zh-CN" sz="800" strike="sngStrike">
                <a:latin typeface="Lato" panose="020F0502020204030203" pitchFamily="34" charset="0"/>
                <a:ea typeface="Lato" panose="020F0502020204030203" pitchFamily="34" charset="0"/>
                <a:cs typeface="Lato" panose="020F0502020204030203" pitchFamily="34" charset="0"/>
              </a:rPr>
              <a:t>15.00 $</a:t>
            </a:r>
            <a:endParaRPr lang="zh-CN" altLang="en-US" sz="800" strike="sngStrike">
              <a:latin typeface="Lato" panose="020F0502020204030203" pitchFamily="34" charset="0"/>
              <a:cs typeface="Lato" panose="020F0502020204030203" pitchFamily="34" charset="0"/>
            </a:endParaRPr>
          </a:p>
        </p:txBody>
      </p:sp>
      <p:sp>
        <p:nvSpPr>
          <p:cNvPr id="55" name="文本框 54">
            <a:extLst>
              <a:ext uri="{FF2B5EF4-FFF2-40B4-BE49-F238E27FC236}">
                <a16:creationId xmlns:a16="http://schemas.microsoft.com/office/drawing/2014/main" id="{EE0C64C9-C18D-2254-8571-362E01B307D4}"/>
              </a:ext>
            </a:extLst>
          </p:cNvPr>
          <p:cNvSpPr txBox="1"/>
          <p:nvPr/>
        </p:nvSpPr>
        <p:spPr>
          <a:xfrm>
            <a:off x="8447386" y="4625132"/>
            <a:ext cx="530916" cy="215444"/>
          </a:xfrm>
          <a:prstGeom prst="rect">
            <a:avLst/>
          </a:prstGeom>
          <a:noFill/>
        </p:spPr>
        <p:txBody>
          <a:bodyPr wrap="none" rtlCol="0" anchor="ctr">
            <a:spAutoFit/>
          </a:bodyPr>
          <a:lstStyle/>
          <a:p>
            <a:pPr algn="r"/>
            <a:r>
              <a:rPr lang="en-US" altLang="zh-CN" sz="800" strike="sngStrike">
                <a:latin typeface="Lato" panose="020F0502020204030203" pitchFamily="34" charset="0"/>
                <a:ea typeface="Lato" panose="020F0502020204030203" pitchFamily="34" charset="0"/>
                <a:cs typeface="Lato" panose="020F0502020204030203" pitchFamily="34" charset="0"/>
              </a:rPr>
              <a:t>10.00 $</a:t>
            </a:r>
            <a:endParaRPr lang="zh-CN" altLang="en-US" sz="800" strike="sngStrike">
              <a:latin typeface="Lato" panose="020F0502020204030203" pitchFamily="34" charset="0"/>
              <a:cs typeface="Lato" panose="020F0502020204030203" pitchFamily="34" charset="0"/>
            </a:endParaRPr>
          </a:p>
        </p:txBody>
      </p:sp>
      <p:sp>
        <p:nvSpPr>
          <p:cNvPr id="56" name="文本框 55">
            <a:extLst>
              <a:ext uri="{FF2B5EF4-FFF2-40B4-BE49-F238E27FC236}">
                <a16:creationId xmlns:a16="http://schemas.microsoft.com/office/drawing/2014/main" id="{6AC70BEA-FBBF-CCC0-91C3-00FED8EAAA60}"/>
              </a:ext>
            </a:extLst>
          </p:cNvPr>
          <p:cNvSpPr txBox="1"/>
          <p:nvPr/>
        </p:nvSpPr>
        <p:spPr>
          <a:xfrm>
            <a:off x="11359994" y="3267725"/>
            <a:ext cx="460382" cy="215444"/>
          </a:xfrm>
          <a:prstGeom prst="rect">
            <a:avLst/>
          </a:prstGeom>
          <a:noFill/>
          <a:ln>
            <a:noFill/>
          </a:ln>
        </p:spPr>
        <p:txBody>
          <a:bodyPr wrap="none" rtlCol="0">
            <a:spAutoFit/>
          </a:bodyPr>
          <a:lstStyle/>
          <a:p>
            <a:pPr algn="l"/>
            <a:r>
              <a:rPr lang="en-US" altLang="zh-CN" sz="800" b="1">
                <a:latin typeface="Lato" panose="020F0502020204030203" pitchFamily="34" charset="0"/>
                <a:ea typeface="Lato" panose="020F0502020204030203" pitchFamily="34" charset="0"/>
                <a:cs typeface="Lato" panose="020F0502020204030203" pitchFamily="34" charset="0"/>
              </a:rPr>
              <a:t>10 PC</a:t>
            </a:r>
            <a:endParaRPr lang="zh-CN" altLang="en-US" sz="800" b="1">
              <a:latin typeface="Lato" panose="020F0502020204030203" pitchFamily="34" charset="0"/>
              <a:cs typeface="Lato" panose="020F0502020204030203" pitchFamily="34" charset="0"/>
            </a:endParaRPr>
          </a:p>
        </p:txBody>
      </p:sp>
      <p:sp>
        <p:nvSpPr>
          <p:cNvPr id="57" name="文本框 56">
            <a:extLst>
              <a:ext uri="{FF2B5EF4-FFF2-40B4-BE49-F238E27FC236}">
                <a16:creationId xmlns:a16="http://schemas.microsoft.com/office/drawing/2014/main" id="{513D5E76-3F87-8463-DAC8-1745960A0DAF}"/>
              </a:ext>
            </a:extLst>
          </p:cNvPr>
          <p:cNvSpPr txBox="1"/>
          <p:nvPr/>
        </p:nvSpPr>
        <p:spPr>
          <a:xfrm>
            <a:off x="9061498" y="3592438"/>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58" name="文本框 57">
            <a:extLst>
              <a:ext uri="{FF2B5EF4-FFF2-40B4-BE49-F238E27FC236}">
                <a16:creationId xmlns:a16="http://schemas.microsoft.com/office/drawing/2014/main" id="{C23156A5-991E-4279-0C40-6CEF92F4A466}"/>
              </a:ext>
            </a:extLst>
          </p:cNvPr>
          <p:cNvSpPr txBox="1"/>
          <p:nvPr/>
        </p:nvSpPr>
        <p:spPr>
          <a:xfrm>
            <a:off x="9061499" y="3799882"/>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59" name="文本框 58">
            <a:extLst>
              <a:ext uri="{FF2B5EF4-FFF2-40B4-BE49-F238E27FC236}">
                <a16:creationId xmlns:a16="http://schemas.microsoft.com/office/drawing/2014/main" id="{13AC3051-B809-513F-8DB2-D43B3EF22489}"/>
              </a:ext>
            </a:extLst>
          </p:cNvPr>
          <p:cNvSpPr txBox="1"/>
          <p:nvPr/>
        </p:nvSpPr>
        <p:spPr>
          <a:xfrm>
            <a:off x="9061498" y="4007326"/>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60" name="文本框 59">
            <a:extLst>
              <a:ext uri="{FF2B5EF4-FFF2-40B4-BE49-F238E27FC236}">
                <a16:creationId xmlns:a16="http://schemas.microsoft.com/office/drawing/2014/main" id="{90F80A59-6E8A-07FA-7319-F8132DDC7101}"/>
              </a:ext>
            </a:extLst>
          </p:cNvPr>
          <p:cNvSpPr txBox="1"/>
          <p:nvPr/>
        </p:nvSpPr>
        <p:spPr>
          <a:xfrm>
            <a:off x="9061498" y="4214770"/>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61" name="文本框 60">
            <a:extLst>
              <a:ext uri="{FF2B5EF4-FFF2-40B4-BE49-F238E27FC236}">
                <a16:creationId xmlns:a16="http://schemas.microsoft.com/office/drawing/2014/main" id="{8AE1D5E1-A19E-2955-96AA-48F6430BC708}"/>
              </a:ext>
            </a:extLst>
          </p:cNvPr>
          <p:cNvSpPr txBox="1"/>
          <p:nvPr/>
        </p:nvSpPr>
        <p:spPr>
          <a:xfrm>
            <a:off x="9061499" y="4625132"/>
            <a:ext cx="527710"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Funded</a:t>
            </a:r>
            <a:endParaRPr lang="zh-CN" altLang="en-US" sz="800">
              <a:latin typeface="Lato" panose="020F0502020204030203" pitchFamily="34" charset="0"/>
              <a:cs typeface="Lato" panose="020F0502020204030203" pitchFamily="34" charset="0"/>
            </a:endParaRPr>
          </a:p>
        </p:txBody>
      </p:sp>
      <p:sp>
        <p:nvSpPr>
          <p:cNvPr id="62" name="文本框 61">
            <a:extLst>
              <a:ext uri="{FF2B5EF4-FFF2-40B4-BE49-F238E27FC236}">
                <a16:creationId xmlns:a16="http://schemas.microsoft.com/office/drawing/2014/main" id="{615912B0-EE41-0849-84B5-7C4FF8090208}"/>
              </a:ext>
            </a:extLst>
          </p:cNvPr>
          <p:cNvSpPr txBox="1"/>
          <p:nvPr/>
        </p:nvSpPr>
        <p:spPr>
          <a:xfrm>
            <a:off x="10515462" y="3583378"/>
            <a:ext cx="1303562"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45 * [Pro Rata] = 33.75 $</a:t>
            </a:r>
            <a:endParaRPr lang="zh-CN" altLang="en-US" sz="800">
              <a:latin typeface="Lato" panose="020F0502020204030203" pitchFamily="34" charset="0"/>
              <a:cs typeface="Lato" panose="020F0502020204030203" pitchFamily="34" charset="0"/>
            </a:endParaRPr>
          </a:p>
        </p:txBody>
      </p:sp>
      <p:sp>
        <p:nvSpPr>
          <p:cNvPr id="64" name="文本框 63">
            <a:extLst>
              <a:ext uri="{FF2B5EF4-FFF2-40B4-BE49-F238E27FC236}">
                <a16:creationId xmlns:a16="http://schemas.microsoft.com/office/drawing/2014/main" id="{1DD20AA6-3535-7DCC-D72D-B4F8A424608C}"/>
              </a:ext>
            </a:extLst>
          </p:cNvPr>
          <p:cNvSpPr txBox="1"/>
          <p:nvPr/>
        </p:nvSpPr>
        <p:spPr>
          <a:xfrm>
            <a:off x="11288108" y="3790940"/>
            <a:ext cx="530916" cy="215444"/>
          </a:xfrm>
          <a:prstGeom prst="rect">
            <a:avLst/>
          </a:prstGeom>
          <a:noFill/>
        </p:spPr>
        <p:txBody>
          <a:bodyPr wrap="none" rtlCol="0" anchor="ctr">
            <a:spAutoFit/>
          </a:bodyPr>
          <a:lstStyle/>
          <a:p>
            <a:pPr algn="r"/>
            <a:r>
              <a:rPr lang="en-US" altLang="zh-CN" sz="800">
                <a:solidFill>
                  <a:schemeClr val="accent3"/>
                </a:solidFill>
                <a:latin typeface="Lato" panose="020F0502020204030203" pitchFamily="34" charset="0"/>
                <a:ea typeface="Lato" panose="020F0502020204030203" pitchFamily="34" charset="0"/>
                <a:cs typeface="Lato" panose="020F0502020204030203" pitchFamily="34" charset="0"/>
              </a:rPr>
              <a:t>15.00 $</a:t>
            </a:r>
            <a:endParaRPr lang="zh-CN" altLang="en-US" sz="800">
              <a:solidFill>
                <a:schemeClr val="accent3"/>
              </a:solidFill>
              <a:latin typeface="Lato" panose="020F0502020204030203" pitchFamily="34" charset="0"/>
              <a:cs typeface="Lato" panose="020F0502020204030203" pitchFamily="34" charset="0"/>
            </a:endParaRPr>
          </a:p>
        </p:txBody>
      </p:sp>
      <p:sp>
        <p:nvSpPr>
          <p:cNvPr id="68" name="文本框 67">
            <a:extLst>
              <a:ext uri="{FF2B5EF4-FFF2-40B4-BE49-F238E27FC236}">
                <a16:creationId xmlns:a16="http://schemas.microsoft.com/office/drawing/2014/main" id="{003FD01C-D69E-57E2-B7DA-E9EA5643B543}"/>
              </a:ext>
            </a:extLst>
          </p:cNvPr>
          <p:cNvSpPr txBox="1"/>
          <p:nvPr/>
        </p:nvSpPr>
        <p:spPr>
          <a:xfrm>
            <a:off x="10634084" y="3998502"/>
            <a:ext cx="1184941"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5 * [Pro Rata] = 3.75 $</a:t>
            </a:r>
            <a:endParaRPr lang="zh-CN" altLang="en-US" sz="800">
              <a:latin typeface="Lato" panose="020F0502020204030203" pitchFamily="34" charset="0"/>
              <a:cs typeface="Lato" panose="020F0502020204030203" pitchFamily="34" charset="0"/>
            </a:endParaRPr>
          </a:p>
        </p:txBody>
      </p:sp>
      <p:sp>
        <p:nvSpPr>
          <p:cNvPr id="72" name="文本框 71">
            <a:extLst>
              <a:ext uri="{FF2B5EF4-FFF2-40B4-BE49-F238E27FC236}">
                <a16:creationId xmlns:a16="http://schemas.microsoft.com/office/drawing/2014/main" id="{24ADFC05-6875-E04A-ECCE-46AC018A4D28}"/>
              </a:ext>
            </a:extLst>
          </p:cNvPr>
          <p:cNvSpPr txBox="1"/>
          <p:nvPr/>
        </p:nvSpPr>
        <p:spPr>
          <a:xfrm>
            <a:off x="10574774" y="4206064"/>
            <a:ext cx="1244251"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10 * [Pro Rata] = 7.50 $</a:t>
            </a:r>
            <a:endParaRPr lang="zh-CN" altLang="en-US" sz="800">
              <a:latin typeface="Lato" panose="020F0502020204030203" pitchFamily="34" charset="0"/>
              <a:cs typeface="Lato" panose="020F0502020204030203" pitchFamily="34" charset="0"/>
            </a:endParaRPr>
          </a:p>
        </p:txBody>
      </p:sp>
      <p:sp>
        <p:nvSpPr>
          <p:cNvPr id="78" name="文本框 77">
            <a:extLst>
              <a:ext uri="{FF2B5EF4-FFF2-40B4-BE49-F238E27FC236}">
                <a16:creationId xmlns:a16="http://schemas.microsoft.com/office/drawing/2014/main" id="{244DA8C5-68C5-D56F-0ED0-37BD037203BC}"/>
              </a:ext>
            </a:extLst>
          </p:cNvPr>
          <p:cNvSpPr txBox="1"/>
          <p:nvPr/>
        </p:nvSpPr>
        <p:spPr>
          <a:xfrm>
            <a:off x="10031354" y="4409127"/>
            <a:ext cx="1787670" cy="215444"/>
          </a:xfrm>
          <a:prstGeom prst="rect">
            <a:avLst/>
          </a:prstGeom>
          <a:noFill/>
        </p:spPr>
        <p:txBody>
          <a:bodyPr wrap="none" rtlCol="0" anchor="ctr">
            <a:spAutoFit/>
          </a:bodyPr>
          <a:lstStyle/>
          <a:p>
            <a:pPr algn="r"/>
            <a:r>
              <a:rPr lang="en-US" altLang="zh-CN" sz="800">
                <a:solidFill>
                  <a:schemeClr val="accent4"/>
                </a:solidFill>
                <a:latin typeface="Lato" panose="020F0502020204030203" pitchFamily="34" charset="0"/>
                <a:ea typeface="Lato" panose="020F0502020204030203" pitchFamily="34" charset="0"/>
                <a:cs typeface="Lato" panose="020F0502020204030203" pitchFamily="34" charset="0"/>
              </a:rPr>
              <a:t>(15 * 36 – 15 * 24)/(48-24) = 7.50 $</a:t>
            </a:r>
            <a:endParaRPr lang="zh-CN" altLang="en-US" sz="800">
              <a:solidFill>
                <a:schemeClr val="accent4"/>
              </a:solidFill>
              <a:latin typeface="Lato" panose="020F0502020204030203" pitchFamily="34" charset="0"/>
              <a:cs typeface="Lato" panose="020F0502020204030203" pitchFamily="34" charset="0"/>
            </a:endParaRPr>
          </a:p>
        </p:txBody>
      </p:sp>
      <p:sp>
        <p:nvSpPr>
          <p:cNvPr id="82" name="文本框 81">
            <a:extLst>
              <a:ext uri="{FF2B5EF4-FFF2-40B4-BE49-F238E27FC236}">
                <a16:creationId xmlns:a16="http://schemas.microsoft.com/office/drawing/2014/main" id="{DCABAFC7-54EA-C6B6-582E-30B014FE899A}"/>
              </a:ext>
            </a:extLst>
          </p:cNvPr>
          <p:cNvSpPr txBox="1"/>
          <p:nvPr/>
        </p:nvSpPr>
        <p:spPr>
          <a:xfrm>
            <a:off x="10574774" y="4616662"/>
            <a:ext cx="1244251" cy="215444"/>
          </a:xfrm>
          <a:prstGeom prst="rect">
            <a:avLst/>
          </a:prstGeom>
          <a:noFill/>
        </p:spPr>
        <p:txBody>
          <a:bodyPr wrap="none" rtlCol="0" anchor="ctr">
            <a:spAutoFit/>
          </a:bodyPr>
          <a:lstStyle/>
          <a:p>
            <a:pPr algn="r"/>
            <a:r>
              <a:rPr lang="en-US" altLang="zh-CN" sz="800">
                <a:latin typeface="Lato" panose="020F0502020204030203" pitchFamily="34" charset="0"/>
                <a:ea typeface="Lato" panose="020F0502020204030203" pitchFamily="34" charset="0"/>
                <a:cs typeface="Lato" panose="020F0502020204030203" pitchFamily="34" charset="0"/>
              </a:rPr>
              <a:t>10 * [Pro Rata] = 7.50 $</a:t>
            </a:r>
            <a:endParaRPr lang="zh-CN" altLang="en-US" sz="800">
              <a:latin typeface="Lato" panose="020F0502020204030203" pitchFamily="34" charset="0"/>
              <a:cs typeface="Lato" panose="020F0502020204030203" pitchFamily="34" charset="0"/>
            </a:endParaRPr>
          </a:p>
        </p:txBody>
      </p:sp>
      <p:sp>
        <p:nvSpPr>
          <p:cNvPr id="69" name="矩形: 圆角 68">
            <a:extLst>
              <a:ext uri="{FF2B5EF4-FFF2-40B4-BE49-F238E27FC236}">
                <a16:creationId xmlns:a16="http://schemas.microsoft.com/office/drawing/2014/main" id="{8E6EDFE1-1A78-88BF-05B2-F0C62AD7871F}"/>
              </a:ext>
            </a:extLst>
          </p:cNvPr>
          <p:cNvSpPr/>
          <p:nvPr/>
        </p:nvSpPr>
        <p:spPr>
          <a:xfrm>
            <a:off x="2859488" y="2799042"/>
            <a:ext cx="2270389" cy="255600"/>
          </a:xfrm>
          <a:prstGeom prst="roundRect">
            <a:avLst/>
          </a:prstGeom>
          <a:noFill/>
          <a:ln w="6350">
            <a:solidFill>
              <a:schemeClr val="bg1">
                <a:lumMod val="50000"/>
              </a:schemeClr>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r"/>
            <a:r>
              <a:rPr lang="en-US" altLang="zh-CN" sz="900">
                <a:solidFill>
                  <a:schemeClr val="tx1"/>
                </a:solidFill>
                <a:latin typeface="Lato" panose="020F0502020204030203" pitchFamily="34" charset="0"/>
                <a:ea typeface="Lato" panose="020F0502020204030203" pitchFamily="34" charset="0"/>
                <a:cs typeface="Lato" panose="020F0502020204030203" pitchFamily="34" charset="0"/>
              </a:rPr>
              <a:t>Total Monthly Charge:</a:t>
            </a:r>
            <a:r>
              <a:rPr lang="en-US" altLang="zh-CN" sz="1100">
                <a:solidFill>
                  <a:schemeClr val="tx1"/>
                </a:solidFill>
                <a:latin typeface="Lato" panose="020F0502020204030203" pitchFamily="34" charset="0"/>
                <a:ea typeface="Lato" panose="020F0502020204030203" pitchFamily="34" charset="0"/>
                <a:cs typeface="Lato" panose="020F0502020204030203" pitchFamily="34" charset="0"/>
              </a:rPr>
              <a:t> </a:t>
            </a:r>
            <a:r>
              <a:rPr lang="en-US" altLang="zh-CN" sz="1100" b="1">
                <a:solidFill>
                  <a:schemeClr val="tx1"/>
                </a:solidFill>
                <a:latin typeface="Lato" panose="020F0502020204030203" pitchFamily="34" charset="0"/>
                <a:ea typeface="Lato" panose="020F0502020204030203" pitchFamily="34" charset="0"/>
                <a:cs typeface="Lato" panose="020F0502020204030203" pitchFamily="34" charset="0"/>
              </a:rPr>
              <a:t>1000 $</a:t>
            </a:r>
            <a:endParaRPr lang="zh-CN" altLang="en-US" sz="1100" b="1">
              <a:solidFill>
                <a:schemeClr val="tx1"/>
              </a:solidFill>
              <a:latin typeface="Lato" panose="020F0502020204030203" pitchFamily="34" charset="0"/>
              <a:cs typeface="Lato" panose="020F0502020204030203" pitchFamily="34" charset="0"/>
            </a:endParaRPr>
          </a:p>
        </p:txBody>
      </p:sp>
      <p:sp>
        <p:nvSpPr>
          <p:cNvPr id="77" name="文本框 76">
            <a:extLst>
              <a:ext uri="{FF2B5EF4-FFF2-40B4-BE49-F238E27FC236}">
                <a16:creationId xmlns:a16="http://schemas.microsoft.com/office/drawing/2014/main" id="{920E90C3-A1FE-EDCF-E84D-0B7D14617773}"/>
              </a:ext>
            </a:extLst>
          </p:cNvPr>
          <p:cNvSpPr txBox="1"/>
          <p:nvPr/>
        </p:nvSpPr>
        <p:spPr>
          <a:xfrm>
            <a:off x="140158" y="1899890"/>
            <a:ext cx="353943" cy="675826"/>
          </a:xfrm>
          <a:prstGeom prst="rect">
            <a:avLst/>
          </a:prstGeom>
          <a:noFill/>
        </p:spPr>
        <p:txBody>
          <a:bodyPr vert="eaVert" wrap="none" rtlCol="0">
            <a:spAutoFit/>
          </a:bodyPr>
          <a:lstStyle/>
          <a:p>
            <a:pPr algn="l"/>
            <a:r>
              <a:rPr lang="en-US" altLang="zh-CN" sz="1100" b="1">
                <a:latin typeface="Lato" panose="020F0502020204030203" pitchFamily="34" charset="0"/>
                <a:ea typeface="Lato" panose="020F0502020204030203" pitchFamily="34" charset="0"/>
                <a:cs typeface="Lato" panose="020F0502020204030203" pitchFamily="34" charset="0"/>
              </a:rPr>
              <a:t>End Date</a:t>
            </a:r>
            <a:endParaRPr lang="zh-CN" altLang="en-US" sz="1100" b="1">
              <a:latin typeface="Lato" panose="020F0502020204030203" pitchFamily="34" charset="0"/>
              <a:cs typeface="Lato" panose="020F0502020204030203" pitchFamily="34" charset="0"/>
            </a:endParaRPr>
          </a:p>
        </p:txBody>
      </p:sp>
      <p:sp>
        <p:nvSpPr>
          <p:cNvPr id="79" name="文本框 78">
            <a:extLst>
              <a:ext uri="{FF2B5EF4-FFF2-40B4-BE49-F238E27FC236}">
                <a16:creationId xmlns:a16="http://schemas.microsoft.com/office/drawing/2014/main" id="{91F442FF-D4BA-B74F-5B8C-DCA264DF1E1B}"/>
              </a:ext>
            </a:extLst>
          </p:cNvPr>
          <p:cNvSpPr txBox="1"/>
          <p:nvPr/>
        </p:nvSpPr>
        <p:spPr>
          <a:xfrm>
            <a:off x="140158" y="2652874"/>
            <a:ext cx="353943" cy="409728"/>
          </a:xfrm>
          <a:prstGeom prst="rect">
            <a:avLst/>
          </a:prstGeom>
          <a:noFill/>
        </p:spPr>
        <p:txBody>
          <a:bodyPr vert="eaVert" wrap="none" rtlCol="0">
            <a:spAutoFit/>
          </a:bodyPr>
          <a:lstStyle/>
          <a:p>
            <a:pPr algn="l"/>
            <a:r>
              <a:rPr lang="en-US" altLang="zh-CN" sz="1100" b="1">
                <a:latin typeface="Lato" panose="020F0502020204030203" pitchFamily="34" charset="0"/>
                <a:ea typeface="Lato" panose="020F0502020204030203" pitchFamily="34" charset="0"/>
                <a:cs typeface="Lato" panose="020F0502020204030203" pitchFamily="34" charset="0"/>
              </a:rPr>
              <a:t>Price</a:t>
            </a:r>
            <a:endParaRPr lang="zh-CN" altLang="en-US" sz="1100" b="1">
              <a:latin typeface="Lato" panose="020F0502020204030203" pitchFamily="34" charset="0"/>
              <a:cs typeface="Lato" panose="020F0502020204030203" pitchFamily="34" charset="0"/>
            </a:endParaRPr>
          </a:p>
        </p:txBody>
      </p:sp>
      <p:cxnSp>
        <p:nvCxnSpPr>
          <p:cNvPr id="81" name="直接连接符 80">
            <a:extLst>
              <a:ext uri="{FF2B5EF4-FFF2-40B4-BE49-F238E27FC236}">
                <a16:creationId xmlns:a16="http://schemas.microsoft.com/office/drawing/2014/main" id="{61BC8FDB-3774-1D4A-87EB-38724A52DC76}"/>
              </a:ext>
            </a:extLst>
          </p:cNvPr>
          <p:cNvCxnSpPr>
            <a:cxnSpLocks/>
          </p:cNvCxnSpPr>
          <p:nvPr/>
        </p:nvCxnSpPr>
        <p:spPr>
          <a:xfrm>
            <a:off x="527613" y="2602003"/>
            <a:ext cx="11397270" cy="0"/>
          </a:xfrm>
          <a:prstGeom prst="line">
            <a:avLst/>
          </a:prstGeom>
          <a:ln w="3175">
            <a:solidFill>
              <a:schemeClr val="bg1">
                <a:lumMod val="65000"/>
              </a:schemeClr>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83" name="矩形: 圆角 82">
            <a:extLst>
              <a:ext uri="{FF2B5EF4-FFF2-40B4-BE49-F238E27FC236}">
                <a16:creationId xmlns:a16="http://schemas.microsoft.com/office/drawing/2014/main" id="{3856982F-FAAC-ADCF-F789-8D585291376B}"/>
              </a:ext>
            </a:extLst>
          </p:cNvPr>
          <p:cNvSpPr/>
          <p:nvPr/>
        </p:nvSpPr>
        <p:spPr>
          <a:xfrm>
            <a:off x="6203600" y="2799042"/>
            <a:ext cx="2427330" cy="255600"/>
          </a:xfrm>
          <a:prstGeom prst="roundRect">
            <a:avLst/>
          </a:prstGeom>
          <a:noFill/>
          <a:ln w="6350">
            <a:solidFill>
              <a:schemeClr val="bg1">
                <a:lumMod val="50000"/>
              </a:schemeClr>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r"/>
            <a:r>
              <a:rPr lang="en-US" altLang="zh-CN" sz="900">
                <a:solidFill>
                  <a:schemeClr val="tx1"/>
                </a:solidFill>
                <a:latin typeface="Lato" panose="020F0502020204030203" pitchFamily="34" charset="0"/>
                <a:ea typeface="Lato" panose="020F0502020204030203" pitchFamily="34" charset="0"/>
                <a:cs typeface="Lato" panose="020F0502020204030203" pitchFamily="34" charset="0"/>
              </a:rPr>
              <a:t>Total Monthly Charge: </a:t>
            </a:r>
            <a:r>
              <a:rPr lang="en-US" altLang="zh-CN" sz="1100" b="1">
                <a:solidFill>
                  <a:schemeClr val="tx1"/>
                </a:solidFill>
                <a:highlight>
                  <a:srgbClr val="00FF00"/>
                </a:highlight>
                <a:latin typeface="Lato" panose="020F0502020204030203" pitchFamily="34" charset="0"/>
                <a:ea typeface="Lato" panose="020F0502020204030203" pitchFamily="34" charset="0"/>
                <a:cs typeface="Lato" panose="020F0502020204030203" pitchFamily="34" charset="0"/>
              </a:rPr>
              <a:t>750 $</a:t>
            </a:r>
            <a:endParaRPr lang="zh-CN" altLang="en-US" sz="1100" b="1">
              <a:solidFill>
                <a:schemeClr val="tx1"/>
              </a:solidFill>
              <a:highlight>
                <a:srgbClr val="00FF00"/>
              </a:highlight>
              <a:latin typeface="Lato" panose="020F0502020204030203" pitchFamily="34" charset="0"/>
              <a:cs typeface="Lato" panose="020F0502020204030203" pitchFamily="34" charset="0"/>
            </a:endParaRPr>
          </a:p>
        </p:txBody>
      </p:sp>
      <p:sp>
        <p:nvSpPr>
          <p:cNvPr id="84" name="矩形: 圆角 83">
            <a:extLst>
              <a:ext uri="{FF2B5EF4-FFF2-40B4-BE49-F238E27FC236}">
                <a16:creationId xmlns:a16="http://schemas.microsoft.com/office/drawing/2014/main" id="{ED9B28E6-5A3F-7642-1E17-0FEB6E83DFAA}"/>
              </a:ext>
            </a:extLst>
          </p:cNvPr>
          <p:cNvSpPr/>
          <p:nvPr/>
        </p:nvSpPr>
        <p:spPr>
          <a:xfrm>
            <a:off x="2859487" y="2123839"/>
            <a:ext cx="2270389" cy="255600"/>
          </a:xfrm>
          <a:prstGeom prst="roundRect">
            <a:avLst/>
          </a:prstGeom>
          <a:noFill/>
          <a:ln w="6350">
            <a:solidFill>
              <a:schemeClr val="bg1">
                <a:lumMod val="50000"/>
              </a:schemeClr>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r"/>
            <a:r>
              <a:rPr lang="en-US" altLang="zh-CN" sz="1200" b="1">
                <a:solidFill>
                  <a:schemeClr val="tx1"/>
                </a:solidFill>
                <a:latin typeface="Tenorite" panose="00000500000000000000" pitchFamily="2" charset="0"/>
                <a:cs typeface="Arial" pitchFamily="34" charset="0"/>
              </a:rPr>
              <a:t>2024.01.01 - 2026.12.31</a:t>
            </a:r>
          </a:p>
        </p:txBody>
      </p:sp>
      <p:sp>
        <p:nvSpPr>
          <p:cNvPr id="85" name="矩形: 圆角 84">
            <a:extLst>
              <a:ext uri="{FF2B5EF4-FFF2-40B4-BE49-F238E27FC236}">
                <a16:creationId xmlns:a16="http://schemas.microsoft.com/office/drawing/2014/main" id="{545B79B6-1E7F-A5EA-A521-D97E86F15D44}"/>
              </a:ext>
            </a:extLst>
          </p:cNvPr>
          <p:cNvSpPr/>
          <p:nvPr/>
        </p:nvSpPr>
        <p:spPr>
          <a:xfrm>
            <a:off x="6203600" y="2123839"/>
            <a:ext cx="2427330" cy="255600"/>
          </a:xfrm>
          <a:prstGeom prst="roundRect">
            <a:avLst/>
          </a:prstGeom>
          <a:noFill/>
          <a:ln w="6350">
            <a:solidFill>
              <a:schemeClr val="bg1">
                <a:lumMod val="50000"/>
              </a:schemeClr>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r"/>
            <a:r>
              <a:rPr lang="en-US" altLang="zh-CN" sz="1200" b="1">
                <a:solidFill>
                  <a:schemeClr val="tx1"/>
                </a:solidFill>
                <a:latin typeface="Tenorite" panose="00000500000000000000" pitchFamily="2" charset="0"/>
                <a:cs typeface="Arial" pitchFamily="34" charset="0"/>
              </a:rPr>
              <a:t>2024.01.01 - </a:t>
            </a:r>
            <a:r>
              <a:rPr lang="en-US" altLang="zh-CN" sz="1200" b="1">
                <a:solidFill>
                  <a:schemeClr val="tx1"/>
                </a:solidFill>
                <a:highlight>
                  <a:srgbClr val="00FF00"/>
                </a:highlight>
                <a:latin typeface="Tenorite" panose="00000500000000000000" pitchFamily="2" charset="0"/>
                <a:cs typeface="Arial" pitchFamily="34" charset="0"/>
              </a:rPr>
              <a:t>2027.12.31</a:t>
            </a:r>
          </a:p>
        </p:txBody>
      </p:sp>
      <p:sp>
        <p:nvSpPr>
          <p:cNvPr id="87" name="箭头: 虚尾 86">
            <a:extLst>
              <a:ext uri="{FF2B5EF4-FFF2-40B4-BE49-F238E27FC236}">
                <a16:creationId xmlns:a16="http://schemas.microsoft.com/office/drawing/2014/main" id="{C32B774A-6B34-403C-2DED-A78EF7E58F60}"/>
              </a:ext>
            </a:extLst>
          </p:cNvPr>
          <p:cNvSpPr/>
          <p:nvPr/>
        </p:nvSpPr>
        <p:spPr>
          <a:xfrm>
            <a:off x="5400815" y="2063601"/>
            <a:ext cx="561883" cy="376079"/>
          </a:xfrm>
          <a:prstGeom prst="stripedRightArrow">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89" name="箭头: 虚尾 88">
            <a:extLst>
              <a:ext uri="{FF2B5EF4-FFF2-40B4-BE49-F238E27FC236}">
                <a16:creationId xmlns:a16="http://schemas.microsoft.com/office/drawing/2014/main" id="{194E22AF-6874-6E52-4736-E25439D4C09A}"/>
              </a:ext>
            </a:extLst>
          </p:cNvPr>
          <p:cNvSpPr/>
          <p:nvPr/>
        </p:nvSpPr>
        <p:spPr>
          <a:xfrm>
            <a:off x="5412021" y="2738804"/>
            <a:ext cx="561883" cy="376079"/>
          </a:xfrm>
          <a:prstGeom prst="stripedRightArrow">
            <a:avLst/>
          </a:prstGeom>
          <a:solidFill>
            <a:schemeClr val="accent4">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100" b="1">
              <a:solidFill>
                <a:schemeClr val="tx1"/>
              </a:solidFill>
              <a:latin typeface="Lato" panose="020F0502020204030203" pitchFamily="34" charset="0"/>
              <a:cs typeface="Lato" panose="020F0502020204030203" pitchFamily="34" charset="0"/>
            </a:endParaRPr>
          </a:p>
        </p:txBody>
      </p:sp>
      <p:graphicFrame>
        <p:nvGraphicFramePr>
          <p:cNvPr id="162" name="表格 161">
            <a:extLst>
              <a:ext uri="{FF2B5EF4-FFF2-40B4-BE49-F238E27FC236}">
                <a16:creationId xmlns:a16="http://schemas.microsoft.com/office/drawing/2014/main" id="{E65B2B93-15A0-45E7-9044-4B28740F0DC5}"/>
              </a:ext>
            </a:extLst>
          </p:cNvPr>
          <p:cNvGraphicFramePr>
            <a:graphicFrameLocks noGrp="1"/>
          </p:cNvGraphicFramePr>
          <p:nvPr>
            <p:extLst>
              <p:ext uri="{D42A27DB-BD31-4B8C-83A1-F6EECF244321}">
                <p14:modId xmlns:p14="http://schemas.microsoft.com/office/powerpoint/2010/main" val="3172986848"/>
              </p:ext>
            </p:extLst>
          </p:nvPr>
        </p:nvGraphicFramePr>
        <p:xfrm>
          <a:off x="2302613" y="1134914"/>
          <a:ext cx="9622272" cy="241628"/>
        </p:xfrm>
        <a:graphic>
          <a:graphicData uri="http://schemas.openxmlformats.org/drawingml/2006/table">
            <a:tbl>
              <a:tblPr firstRow="1" bandRow="1">
                <a:tableStyleId>{5C22544A-7EE6-4342-B048-85BDC9FD1C3A}</a:tableStyleId>
              </a:tblPr>
              <a:tblGrid>
                <a:gridCol w="200464">
                  <a:extLst>
                    <a:ext uri="{9D8B030D-6E8A-4147-A177-3AD203B41FA5}">
                      <a16:colId xmlns:a16="http://schemas.microsoft.com/office/drawing/2014/main" val="2580288043"/>
                    </a:ext>
                  </a:extLst>
                </a:gridCol>
                <a:gridCol w="200464">
                  <a:extLst>
                    <a:ext uri="{9D8B030D-6E8A-4147-A177-3AD203B41FA5}">
                      <a16:colId xmlns:a16="http://schemas.microsoft.com/office/drawing/2014/main" val="3091666233"/>
                    </a:ext>
                  </a:extLst>
                </a:gridCol>
                <a:gridCol w="200464">
                  <a:extLst>
                    <a:ext uri="{9D8B030D-6E8A-4147-A177-3AD203B41FA5}">
                      <a16:colId xmlns:a16="http://schemas.microsoft.com/office/drawing/2014/main" val="1710560568"/>
                    </a:ext>
                  </a:extLst>
                </a:gridCol>
                <a:gridCol w="200464">
                  <a:extLst>
                    <a:ext uri="{9D8B030D-6E8A-4147-A177-3AD203B41FA5}">
                      <a16:colId xmlns:a16="http://schemas.microsoft.com/office/drawing/2014/main" val="3376952240"/>
                    </a:ext>
                  </a:extLst>
                </a:gridCol>
                <a:gridCol w="200464">
                  <a:extLst>
                    <a:ext uri="{9D8B030D-6E8A-4147-A177-3AD203B41FA5}">
                      <a16:colId xmlns:a16="http://schemas.microsoft.com/office/drawing/2014/main" val="3400763870"/>
                    </a:ext>
                  </a:extLst>
                </a:gridCol>
                <a:gridCol w="200464">
                  <a:extLst>
                    <a:ext uri="{9D8B030D-6E8A-4147-A177-3AD203B41FA5}">
                      <a16:colId xmlns:a16="http://schemas.microsoft.com/office/drawing/2014/main" val="2375072721"/>
                    </a:ext>
                  </a:extLst>
                </a:gridCol>
                <a:gridCol w="200464">
                  <a:extLst>
                    <a:ext uri="{9D8B030D-6E8A-4147-A177-3AD203B41FA5}">
                      <a16:colId xmlns:a16="http://schemas.microsoft.com/office/drawing/2014/main" val="3691651363"/>
                    </a:ext>
                  </a:extLst>
                </a:gridCol>
                <a:gridCol w="200464">
                  <a:extLst>
                    <a:ext uri="{9D8B030D-6E8A-4147-A177-3AD203B41FA5}">
                      <a16:colId xmlns:a16="http://schemas.microsoft.com/office/drawing/2014/main" val="1649888058"/>
                    </a:ext>
                  </a:extLst>
                </a:gridCol>
                <a:gridCol w="200464">
                  <a:extLst>
                    <a:ext uri="{9D8B030D-6E8A-4147-A177-3AD203B41FA5}">
                      <a16:colId xmlns:a16="http://schemas.microsoft.com/office/drawing/2014/main" val="1012806059"/>
                    </a:ext>
                  </a:extLst>
                </a:gridCol>
                <a:gridCol w="200464">
                  <a:extLst>
                    <a:ext uri="{9D8B030D-6E8A-4147-A177-3AD203B41FA5}">
                      <a16:colId xmlns:a16="http://schemas.microsoft.com/office/drawing/2014/main" val="1799068409"/>
                    </a:ext>
                  </a:extLst>
                </a:gridCol>
                <a:gridCol w="200464">
                  <a:extLst>
                    <a:ext uri="{9D8B030D-6E8A-4147-A177-3AD203B41FA5}">
                      <a16:colId xmlns:a16="http://schemas.microsoft.com/office/drawing/2014/main" val="2267350486"/>
                    </a:ext>
                  </a:extLst>
                </a:gridCol>
                <a:gridCol w="200464">
                  <a:extLst>
                    <a:ext uri="{9D8B030D-6E8A-4147-A177-3AD203B41FA5}">
                      <a16:colId xmlns:a16="http://schemas.microsoft.com/office/drawing/2014/main" val="4160812663"/>
                    </a:ext>
                  </a:extLst>
                </a:gridCol>
                <a:gridCol w="200464">
                  <a:extLst>
                    <a:ext uri="{9D8B030D-6E8A-4147-A177-3AD203B41FA5}">
                      <a16:colId xmlns:a16="http://schemas.microsoft.com/office/drawing/2014/main" val="1455192053"/>
                    </a:ext>
                  </a:extLst>
                </a:gridCol>
                <a:gridCol w="200464">
                  <a:extLst>
                    <a:ext uri="{9D8B030D-6E8A-4147-A177-3AD203B41FA5}">
                      <a16:colId xmlns:a16="http://schemas.microsoft.com/office/drawing/2014/main" val="2218837331"/>
                    </a:ext>
                  </a:extLst>
                </a:gridCol>
                <a:gridCol w="200464">
                  <a:extLst>
                    <a:ext uri="{9D8B030D-6E8A-4147-A177-3AD203B41FA5}">
                      <a16:colId xmlns:a16="http://schemas.microsoft.com/office/drawing/2014/main" val="595361596"/>
                    </a:ext>
                  </a:extLst>
                </a:gridCol>
                <a:gridCol w="200464">
                  <a:extLst>
                    <a:ext uri="{9D8B030D-6E8A-4147-A177-3AD203B41FA5}">
                      <a16:colId xmlns:a16="http://schemas.microsoft.com/office/drawing/2014/main" val="2638525740"/>
                    </a:ext>
                  </a:extLst>
                </a:gridCol>
                <a:gridCol w="200464">
                  <a:extLst>
                    <a:ext uri="{9D8B030D-6E8A-4147-A177-3AD203B41FA5}">
                      <a16:colId xmlns:a16="http://schemas.microsoft.com/office/drawing/2014/main" val="2806180462"/>
                    </a:ext>
                  </a:extLst>
                </a:gridCol>
                <a:gridCol w="200464">
                  <a:extLst>
                    <a:ext uri="{9D8B030D-6E8A-4147-A177-3AD203B41FA5}">
                      <a16:colId xmlns:a16="http://schemas.microsoft.com/office/drawing/2014/main" val="4089011886"/>
                    </a:ext>
                  </a:extLst>
                </a:gridCol>
                <a:gridCol w="200464">
                  <a:extLst>
                    <a:ext uri="{9D8B030D-6E8A-4147-A177-3AD203B41FA5}">
                      <a16:colId xmlns:a16="http://schemas.microsoft.com/office/drawing/2014/main" val="319538752"/>
                    </a:ext>
                  </a:extLst>
                </a:gridCol>
                <a:gridCol w="200464">
                  <a:extLst>
                    <a:ext uri="{9D8B030D-6E8A-4147-A177-3AD203B41FA5}">
                      <a16:colId xmlns:a16="http://schemas.microsoft.com/office/drawing/2014/main" val="3892024230"/>
                    </a:ext>
                  </a:extLst>
                </a:gridCol>
                <a:gridCol w="200464">
                  <a:extLst>
                    <a:ext uri="{9D8B030D-6E8A-4147-A177-3AD203B41FA5}">
                      <a16:colId xmlns:a16="http://schemas.microsoft.com/office/drawing/2014/main" val="4261905839"/>
                    </a:ext>
                  </a:extLst>
                </a:gridCol>
                <a:gridCol w="200464">
                  <a:extLst>
                    <a:ext uri="{9D8B030D-6E8A-4147-A177-3AD203B41FA5}">
                      <a16:colId xmlns:a16="http://schemas.microsoft.com/office/drawing/2014/main" val="1698313495"/>
                    </a:ext>
                  </a:extLst>
                </a:gridCol>
                <a:gridCol w="200464">
                  <a:extLst>
                    <a:ext uri="{9D8B030D-6E8A-4147-A177-3AD203B41FA5}">
                      <a16:colId xmlns:a16="http://schemas.microsoft.com/office/drawing/2014/main" val="109807090"/>
                    </a:ext>
                  </a:extLst>
                </a:gridCol>
                <a:gridCol w="200464">
                  <a:extLst>
                    <a:ext uri="{9D8B030D-6E8A-4147-A177-3AD203B41FA5}">
                      <a16:colId xmlns:a16="http://schemas.microsoft.com/office/drawing/2014/main" val="2149350338"/>
                    </a:ext>
                  </a:extLst>
                </a:gridCol>
                <a:gridCol w="200464">
                  <a:extLst>
                    <a:ext uri="{9D8B030D-6E8A-4147-A177-3AD203B41FA5}">
                      <a16:colId xmlns:a16="http://schemas.microsoft.com/office/drawing/2014/main" val="3170829151"/>
                    </a:ext>
                  </a:extLst>
                </a:gridCol>
                <a:gridCol w="200464">
                  <a:extLst>
                    <a:ext uri="{9D8B030D-6E8A-4147-A177-3AD203B41FA5}">
                      <a16:colId xmlns:a16="http://schemas.microsoft.com/office/drawing/2014/main" val="3175728271"/>
                    </a:ext>
                  </a:extLst>
                </a:gridCol>
                <a:gridCol w="200464">
                  <a:extLst>
                    <a:ext uri="{9D8B030D-6E8A-4147-A177-3AD203B41FA5}">
                      <a16:colId xmlns:a16="http://schemas.microsoft.com/office/drawing/2014/main" val="1448119739"/>
                    </a:ext>
                  </a:extLst>
                </a:gridCol>
                <a:gridCol w="200464">
                  <a:extLst>
                    <a:ext uri="{9D8B030D-6E8A-4147-A177-3AD203B41FA5}">
                      <a16:colId xmlns:a16="http://schemas.microsoft.com/office/drawing/2014/main" val="3077167943"/>
                    </a:ext>
                  </a:extLst>
                </a:gridCol>
                <a:gridCol w="200464">
                  <a:extLst>
                    <a:ext uri="{9D8B030D-6E8A-4147-A177-3AD203B41FA5}">
                      <a16:colId xmlns:a16="http://schemas.microsoft.com/office/drawing/2014/main" val="1320667332"/>
                    </a:ext>
                  </a:extLst>
                </a:gridCol>
                <a:gridCol w="200464">
                  <a:extLst>
                    <a:ext uri="{9D8B030D-6E8A-4147-A177-3AD203B41FA5}">
                      <a16:colId xmlns:a16="http://schemas.microsoft.com/office/drawing/2014/main" val="3591129417"/>
                    </a:ext>
                  </a:extLst>
                </a:gridCol>
                <a:gridCol w="200464">
                  <a:extLst>
                    <a:ext uri="{9D8B030D-6E8A-4147-A177-3AD203B41FA5}">
                      <a16:colId xmlns:a16="http://schemas.microsoft.com/office/drawing/2014/main" val="2418442632"/>
                    </a:ext>
                  </a:extLst>
                </a:gridCol>
                <a:gridCol w="200464">
                  <a:extLst>
                    <a:ext uri="{9D8B030D-6E8A-4147-A177-3AD203B41FA5}">
                      <a16:colId xmlns:a16="http://schemas.microsoft.com/office/drawing/2014/main" val="1017592117"/>
                    </a:ext>
                  </a:extLst>
                </a:gridCol>
                <a:gridCol w="200464">
                  <a:extLst>
                    <a:ext uri="{9D8B030D-6E8A-4147-A177-3AD203B41FA5}">
                      <a16:colId xmlns:a16="http://schemas.microsoft.com/office/drawing/2014/main" val="3605590774"/>
                    </a:ext>
                  </a:extLst>
                </a:gridCol>
                <a:gridCol w="200464">
                  <a:extLst>
                    <a:ext uri="{9D8B030D-6E8A-4147-A177-3AD203B41FA5}">
                      <a16:colId xmlns:a16="http://schemas.microsoft.com/office/drawing/2014/main" val="1577004613"/>
                    </a:ext>
                  </a:extLst>
                </a:gridCol>
                <a:gridCol w="200464">
                  <a:extLst>
                    <a:ext uri="{9D8B030D-6E8A-4147-A177-3AD203B41FA5}">
                      <a16:colId xmlns:a16="http://schemas.microsoft.com/office/drawing/2014/main" val="2347957810"/>
                    </a:ext>
                  </a:extLst>
                </a:gridCol>
                <a:gridCol w="200464">
                  <a:extLst>
                    <a:ext uri="{9D8B030D-6E8A-4147-A177-3AD203B41FA5}">
                      <a16:colId xmlns:a16="http://schemas.microsoft.com/office/drawing/2014/main" val="127041831"/>
                    </a:ext>
                  </a:extLst>
                </a:gridCol>
                <a:gridCol w="200464">
                  <a:extLst>
                    <a:ext uri="{9D8B030D-6E8A-4147-A177-3AD203B41FA5}">
                      <a16:colId xmlns:a16="http://schemas.microsoft.com/office/drawing/2014/main" val="1543541518"/>
                    </a:ext>
                  </a:extLst>
                </a:gridCol>
                <a:gridCol w="200464">
                  <a:extLst>
                    <a:ext uri="{9D8B030D-6E8A-4147-A177-3AD203B41FA5}">
                      <a16:colId xmlns:a16="http://schemas.microsoft.com/office/drawing/2014/main" val="2793635301"/>
                    </a:ext>
                  </a:extLst>
                </a:gridCol>
                <a:gridCol w="200464">
                  <a:extLst>
                    <a:ext uri="{9D8B030D-6E8A-4147-A177-3AD203B41FA5}">
                      <a16:colId xmlns:a16="http://schemas.microsoft.com/office/drawing/2014/main" val="3964220222"/>
                    </a:ext>
                  </a:extLst>
                </a:gridCol>
                <a:gridCol w="200464">
                  <a:extLst>
                    <a:ext uri="{9D8B030D-6E8A-4147-A177-3AD203B41FA5}">
                      <a16:colId xmlns:a16="http://schemas.microsoft.com/office/drawing/2014/main" val="3834905535"/>
                    </a:ext>
                  </a:extLst>
                </a:gridCol>
                <a:gridCol w="200464">
                  <a:extLst>
                    <a:ext uri="{9D8B030D-6E8A-4147-A177-3AD203B41FA5}">
                      <a16:colId xmlns:a16="http://schemas.microsoft.com/office/drawing/2014/main" val="1027498907"/>
                    </a:ext>
                  </a:extLst>
                </a:gridCol>
                <a:gridCol w="200464">
                  <a:extLst>
                    <a:ext uri="{9D8B030D-6E8A-4147-A177-3AD203B41FA5}">
                      <a16:colId xmlns:a16="http://schemas.microsoft.com/office/drawing/2014/main" val="528063750"/>
                    </a:ext>
                  </a:extLst>
                </a:gridCol>
                <a:gridCol w="200464">
                  <a:extLst>
                    <a:ext uri="{9D8B030D-6E8A-4147-A177-3AD203B41FA5}">
                      <a16:colId xmlns:a16="http://schemas.microsoft.com/office/drawing/2014/main" val="1038222254"/>
                    </a:ext>
                  </a:extLst>
                </a:gridCol>
                <a:gridCol w="200464">
                  <a:extLst>
                    <a:ext uri="{9D8B030D-6E8A-4147-A177-3AD203B41FA5}">
                      <a16:colId xmlns:a16="http://schemas.microsoft.com/office/drawing/2014/main" val="3855034025"/>
                    </a:ext>
                  </a:extLst>
                </a:gridCol>
                <a:gridCol w="200464">
                  <a:extLst>
                    <a:ext uri="{9D8B030D-6E8A-4147-A177-3AD203B41FA5}">
                      <a16:colId xmlns:a16="http://schemas.microsoft.com/office/drawing/2014/main" val="3098963799"/>
                    </a:ext>
                  </a:extLst>
                </a:gridCol>
                <a:gridCol w="200464">
                  <a:extLst>
                    <a:ext uri="{9D8B030D-6E8A-4147-A177-3AD203B41FA5}">
                      <a16:colId xmlns:a16="http://schemas.microsoft.com/office/drawing/2014/main" val="2338037462"/>
                    </a:ext>
                  </a:extLst>
                </a:gridCol>
                <a:gridCol w="200464">
                  <a:extLst>
                    <a:ext uri="{9D8B030D-6E8A-4147-A177-3AD203B41FA5}">
                      <a16:colId xmlns:a16="http://schemas.microsoft.com/office/drawing/2014/main" val="1193968082"/>
                    </a:ext>
                  </a:extLst>
                </a:gridCol>
                <a:gridCol w="200464">
                  <a:extLst>
                    <a:ext uri="{9D8B030D-6E8A-4147-A177-3AD203B41FA5}">
                      <a16:colId xmlns:a16="http://schemas.microsoft.com/office/drawing/2014/main" val="1514564231"/>
                    </a:ext>
                  </a:extLst>
                </a:gridCol>
              </a:tblGrid>
              <a:tr h="241628">
                <a:tc>
                  <a:txBody>
                    <a:bodyPr/>
                    <a:lstStyle/>
                    <a:p>
                      <a:pPr algn="ctr"/>
                      <a:r>
                        <a:rPr lang="en-US" altLang="zh-CN" sz="800">
                          <a:latin typeface="Lato" panose="020F0502020204030203" pitchFamily="34" charset="0"/>
                          <a:ea typeface="Lato" panose="020F0502020204030203" pitchFamily="34" charset="0"/>
                          <a:cs typeface="Lato" panose="020F0502020204030203" pitchFamily="34" charset="0"/>
                        </a:rPr>
                        <a:t>1</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ea typeface="Lato" panose="020F0502020204030203" pitchFamily="34" charset="0"/>
                          <a:cs typeface="Lato" panose="020F0502020204030203" pitchFamily="34" charset="0"/>
                        </a:rPr>
                        <a:t>2</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3</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4</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5</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6</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7</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8</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9</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10</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11</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12</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13</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14</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15</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16</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17</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18</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19</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20</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21</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22</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23</a:t>
                      </a:r>
                      <a:endParaRPr lang="zh-CN" altLang="en-US" sz="800">
                        <a:latin typeface="Lato" panose="020F0502020204030203" pitchFamily="34" charset="0"/>
                        <a:cs typeface="Lato" panose="020F0502020204030203" pitchFamily="34" charset="0"/>
                      </a:endParaRPr>
                    </a:p>
                  </a:txBody>
                  <a:tcPr marL="0" marR="0" marT="0" marB="0" anchor="ctr">
                    <a:solidFill>
                      <a:srgbClr val="00B050"/>
                    </a:solidFill>
                  </a:tcPr>
                </a:tc>
                <a:tc>
                  <a:txBody>
                    <a:bodyPr/>
                    <a:lstStyle/>
                    <a:p>
                      <a:pPr algn="ctr"/>
                      <a:r>
                        <a:rPr lang="en-US" altLang="zh-CN" sz="800">
                          <a:latin typeface="Lato" panose="020F0502020204030203" pitchFamily="34" charset="0"/>
                          <a:cs typeface="Lato" panose="020F0502020204030203" pitchFamily="34" charset="0"/>
                        </a:rPr>
                        <a:t>24</a:t>
                      </a:r>
                      <a:endParaRPr lang="zh-CN" altLang="en-US" sz="800">
                        <a:latin typeface="Lato" panose="020F0502020204030203" pitchFamily="34" charset="0"/>
                        <a:cs typeface="Lato" panose="020F0502020204030203" pitchFamily="34" charset="0"/>
                      </a:endParaRPr>
                    </a:p>
                  </a:txBody>
                  <a:tcPr marL="0" marR="0" marT="0" marB="0" anchor="ctr">
                    <a:solidFill>
                      <a:schemeClr val="accent4"/>
                    </a:solidFill>
                  </a:tcPr>
                </a:tc>
                <a:tc>
                  <a:txBody>
                    <a:bodyPr/>
                    <a:lstStyle/>
                    <a:p>
                      <a:pPr algn="ctr"/>
                      <a:r>
                        <a:rPr lang="en-US" altLang="zh-CN" sz="800">
                          <a:latin typeface="Lato" panose="020F0502020204030203" pitchFamily="34" charset="0"/>
                          <a:cs typeface="Lato" panose="020F0502020204030203" pitchFamily="34" charset="0"/>
                        </a:rPr>
                        <a:t>25</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16</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27</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28</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29</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30</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31</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32</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33</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34</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35</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36</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37</a:t>
                      </a:r>
                      <a:endParaRPr lang="zh-CN" altLang="en-US" sz="800">
                        <a:latin typeface="Lato" panose="020F0502020204030203" pitchFamily="34" charset="0"/>
                        <a:cs typeface="Lato" panose="020F0502020204030203" pitchFamily="34" charset="0"/>
                      </a:endParaRPr>
                    </a:p>
                  </a:txBody>
                  <a:tcPr marL="0" marR="0" marT="0" marB="0" anchor="ctr">
                    <a:solidFill>
                      <a:schemeClr val="bg2">
                        <a:lumMod val="75000"/>
                      </a:schemeClr>
                    </a:solidFill>
                  </a:tcPr>
                </a:tc>
                <a:tc>
                  <a:txBody>
                    <a:bodyPr/>
                    <a:lstStyle/>
                    <a:p>
                      <a:pPr algn="ctr"/>
                      <a:r>
                        <a:rPr lang="en-US" altLang="zh-CN" sz="800">
                          <a:latin typeface="Lato" panose="020F0502020204030203" pitchFamily="34" charset="0"/>
                          <a:cs typeface="Lato" panose="020F0502020204030203" pitchFamily="34" charset="0"/>
                        </a:rPr>
                        <a:t>38</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39</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40</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41</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42</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43</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44</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45</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46</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47</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tc>
                  <a:txBody>
                    <a:bodyPr/>
                    <a:lstStyle/>
                    <a:p>
                      <a:pPr algn="ctr"/>
                      <a:r>
                        <a:rPr lang="en-US" altLang="zh-CN" sz="800">
                          <a:latin typeface="Lato" panose="020F0502020204030203" pitchFamily="34" charset="0"/>
                          <a:cs typeface="Lato" panose="020F0502020204030203" pitchFamily="34" charset="0"/>
                        </a:rPr>
                        <a:t>48</a:t>
                      </a:r>
                      <a:endParaRPr lang="zh-CN" altLang="en-US" sz="800">
                        <a:latin typeface="Lato" panose="020F0502020204030203" pitchFamily="34" charset="0"/>
                        <a:cs typeface="Lato" panose="020F0502020204030203" pitchFamily="34" charset="0"/>
                      </a:endParaRPr>
                    </a:p>
                  </a:txBody>
                  <a:tcPr marL="0" marR="0" marT="0" marB="0" anchor="ctr">
                    <a:solidFill>
                      <a:schemeClr val="bg1">
                        <a:lumMod val="85000"/>
                      </a:schemeClr>
                    </a:solidFill>
                  </a:tcPr>
                </a:tc>
                <a:extLst>
                  <a:ext uri="{0D108BD9-81ED-4DB2-BD59-A6C34878D82A}">
                    <a16:rowId xmlns:a16="http://schemas.microsoft.com/office/drawing/2014/main" val="2969580099"/>
                  </a:ext>
                </a:extLst>
              </a:tr>
            </a:tbl>
          </a:graphicData>
        </a:graphic>
      </p:graphicFrame>
      <p:sp>
        <p:nvSpPr>
          <p:cNvPr id="163" name="矩形: 圆角 162">
            <a:extLst>
              <a:ext uri="{FF2B5EF4-FFF2-40B4-BE49-F238E27FC236}">
                <a16:creationId xmlns:a16="http://schemas.microsoft.com/office/drawing/2014/main" id="{E780B3CD-AE71-196D-438A-4D35A89DEA83}"/>
              </a:ext>
            </a:extLst>
          </p:cNvPr>
          <p:cNvSpPr/>
          <p:nvPr/>
        </p:nvSpPr>
        <p:spPr>
          <a:xfrm>
            <a:off x="527611" y="797135"/>
            <a:ext cx="1684851" cy="978127"/>
          </a:xfrm>
          <a:prstGeom prst="roundRect">
            <a:avLst>
              <a:gd name="adj" fmla="val 4378"/>
            </a:avLst>
          </a:prstGeom>
          <a:solidFill>
            <a:schemeClr val="tx2">
              <a:lumMod val="75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200" b="1">
                <a:solidFill>
                  <a:schemeClr val="bg1"/>
                </a:solidFill>
                <a:latin typeface="Lato" panose="020F0502020204030203" pitchFamily="34" charset="0"/>
                <a:cs typeface="Lato" panose="020F0502020204030203" pitchFamily="34" charset="0"/>
              </a:rPr>
              <a:t>Term: 36 </a:t>
            </a:r>
            <a:r>
              <a:rPr lang="en-US" altLang="zh-CN" sz="1200" b="1">
                <a:solidFill>
                  <a:schemeClr val="bg1"/>
                </a:solidFill>
                <a:latin typeface="Lato" panose="020F0502020204030203" pitchFamily="34" charset="0"/>
                <a:cs typeface="Lato" panose="020F0502020204030203" pitchFamily="34" charset="0"/>
                <a:sym typeface="Wingdings" panose="05000000000000000000" pitchFamily="2" charset="2"/>
              </a:rPr>
              <a:t> 48</a:t>
            </a:r>
            <a:endParaRPr lang="zh-CN" altLang="en-US" sz="1200" b="1">
              <a:solidFill>
                <a:schemeClr val="bg1"/>
              </a:solidFill>
              <a:latin typeface="Lato" panose="020F0502020204030203" pitchFamily="34" charset="0"/>
              <a:cs typeface="Lato" panose="020F0502020204030203" pitchFamily="34" charset="0"/>
            </a:endParaRPr>
          </a:p>
        </p:txBody>
      </p:sp>
      <p:cxnSp>
        <p:nvCxnSpPr>
          <p:cNvPr id="165" name="直接箭头连接符 164">
            <a:extLst>
              <a:ext uri="{FF2B5EF4-FFF2-40B4-BE49-F238E27FC236}">
                <a16:creationId xmlns:a16="http://schemas.microsoft.com/office/drawing/2014/main" id="{F6A8BD30-EF83-E22A-556D-4AABF994929B}"/>
              </a:ext>
            </a:extLst>
          </p:cNvPr>
          <p:cNvCxnSpPr>
            <a:cxnSpLocks/>
          </p:cNvCxnSpPr>
          <p:nvPr/>
        </p:nvCxnSpPr>
        <p:spPr>
          <a:xfrm flipV="1">
            <a:off x="6814512" y="1361924"/>
            <a:ext cx="0" cy="288000"/>
          </a:xfrm>
          <a:prstGeom prst="straightConnector1">
            <a:avLst/>
          </a:prstGeom>
          <a:ln w="28575">
            <a:solidFill>
              <a:schemeClr val="bg1">
                <a:lumMod val="65000"/>
              </a:schemeClr>
            </a:solidFill>
            <a:prstDash val="solid"/>
            <a:tailEnd type="stealth"/>
          </a:ln>
        </p:spPr>
        <p:style>
          <a:lnRef idx="1">
            <a:schemeClr val="accent1"/>
          </a:lnRef>
          <a:fillRef idx="0">
            <a:schemeClr val="accent1"/>
          </a:fillRef>
          <a:effectRef idx="0">
            <a:schemeClr val="accent1"/>
          </a:effectRef>
          <a:fontRef idx="minor">
            <a:schemeClr val="tx1"/>
          </a:fontRef>
        </p:style>
      </p:cxnSp>
      <p:cxnSp>
        <p:nvCxnSpPr>
          <p:cNvPr id="166" name="直接箭头连接符 165">
            <a:extLst>
              <a:ext uri="{FF2B5EF4-FFF2-40B4-BE49-F238E27FC236}">
                <a16:creationId xmlns:a16="http://schemas.microsoft.com/office/drawing/2014/main" id="{0BA93BCA-8F1B-748C-1250-961F24312AD6}"/>
              </a:ext>
            </a:extLst>
          </p:cNvPr>
          <p:cNvCxnSpPr>
            <a:cxnSpLocks/>
          </p:cNvCxnSpPr>
          <p:nvPr/>
        </p:nvCxnSpPr>
        <p:spPr>
          <a:xfrm flipV="1">
            <a:off x="7122405" y="1361924"/>
            <a:ext cx="0" cy="288000"/>
          </a:xfrm>
          <a:prstGeom prst="straightConnector1">
            <a:avLst/>
          </a:prstGeom>
          <a:ln w="28575">
            <a:solidFill>
              <a:schemeClr val="bg1">
                <a:lumMod val="65000"/>
              </a:schemeClr>
            </a:solidFill>
            <a:prstDash val="solid"/>
            <a:tailEnd type="stealth"/>
          </a:ln>
        </p:spPr>
        <p:style>
          <a:lnRef idx="1">
            <a:schemeClr val="accent1"/>
          </a:lnRef>
          <a:fillRef idx="0">
            <a:schemeClr val="accent1"/>
          </a:fillRef>
          <a:effectRef idx="0">
            <a:schemeClr val="accent1"/>
          </a:effectRef>
          <a:fontRef idx="minor">
            <a:schemeClr val="tx1"/>
          </a:fontRef>
        </p:style>
      </p:cxnSp>
      <p:sp>
        <p:nvSpPr>
          <p:cNvPr id="167" name="文本框 166">
            <a:extLst>
              <a:ext uri="{FF2B5EF4-FFF2-40B4-BE49-F238E27FC236}">
                <a16:creationId xmlns:a16="http://schemas.microsoft.com/office/drawing/2014/main" id="{7B4C83AA-1477-47F6-49CA-C3A3F7C355A7}"/>
              </a:ext>
            </a:extLst>
          </p:cNvPr>
          <p:cNvSpPr txBox="1"/>
          <p:nvPr/>
        </p:nvSpPr>
        <p:spPr>
          <a:xfrm>
            <a:off x="6136731" y="1349850"/>
            <a:ext cx="728084" cy="338554"/>
          </a:xfrm>
          <a:prstGeom prst="rect">
            <a:avLst/>
          </a:prstGeom>
          <a:noFill/>
        </p:spPr>
        <p:txBody>
          <a:bodyPr wrap="none" rtlCol="0">
            <a:spAutoFit/>
          </a:bodyPr>
          <a:lstStyle/>
          <a:p>
            <a:pPr algn="r"/>
            <a:r>
              <a:rPr lang="en-US" altLang="zh-CN" sz="800" b="1">
                <a:latin typeface="Lato" panose="020F0502020204030203" pitchFamily="34" charset="0"/>
                <a:ea typeface="Lato" panose="020F0502020204030203" pitchFamily="34" charset="0"/>
                <a:cs typeface="Lato" panose="020F0502020204030203" pitchFamily="34" charset="0"/>
              </a:rPr>
              <a:t>Write Time:</a:t>
            </a:r>
          </a:p>
          <a:p>
            <a:pPr algn="r"/>
            <a:r>
              <a:rPr lang="en-US" altLang="zh-CN" sz="800" b="1">
                <a:latin typeface="Lato" panose="020F0502020204030203" pitchFamily="34" charset="0"/>
                <a:cs typeface="Lato" panose="020F0502020204030203" pitchFamily="34" charset="0"/>
              </a:rPr>
              <a:t>2025.11.03</a:t>
            </a:r>
            <a:endParaRPr lang="zh-CN" altLang="en-US" sz="800" b="1">
              <a:latin typeface="Lato" panose="020F0502020204030203" pitchFamily="34" charset="0"/>
              <a:cs typeface="Lato" panose="020F0502020204030203" pitchFamily="34" charset="0"/>
            </a:endParaRPr>
          </a:p>
        </p:txBody>
      </p:sp>
      <p:sp>
        <p:nvSpPr>
          <p:cNvPr id="168" name="文本框 167">
            <a:extLst>
              <a:ext uri="{FF2B5EF4-FFF2-40B4-BE49-F238E27FC236}">
                <a16:creationId xmlns:a16="http://schemas.microsoft.com/office/drawing/2014/main" id="{8B727A5E-6AE7-235A-BEE1-676EB8EA8B3F}"/>
              </a:ext>
            </a:extLst>
          </p:cNvPr>
          <p:cNvSpPr txBox="1"/>
          <p:nvPr/>
        </p:nvSpPr>
        <p:spPr>
          <a:xfrm>
            <a:off x="7104513" y="1354316"/>
            <a:ext cx="873957" cy="338554"/>
          </a:xfrm>
          <a:prstGeom prst="rect">
            <a:avLst/>
          </a:prstGeom>
          <a:noFill/>
        </p:spPr>
        <p:txBody>
          <a:bodyPr wrap="none" rtlCol="0">
            <a:spAutoFit/>
          </a:bodyPr>
          <a:lstStyle/>
          <a:p>
            <a:r>
              <a:rPr lang="en-US" altLang="zh-CN" sz="800" b="1">
                <a:latin typeface="Lato" panose="020F0502020204030203" pitchFamily="34" charset="0"/>
                <a:ea typeface="Lato" panose="020F0502020204030203" pitchFamily="34" charset="0"/>
                <a:cs typeface="Lato" panose="020F0502020204030203" pitchFamily="34" charset="0"/>
              </a:rPr>
              <a:t>Effective Time:</a:t>
            </a:r>
          </a:p>
          <a:p>
            <a:r>
              <a:rPr lang="en-US" altLang="zh-CN" sz="800" b="1">
                <a:highlight>
                  <a:srgbClr val="00FF00"/>
                </a:highlight>
                <a:latin typeface="Lato" panose="020F0502020204030203" pitchFamily="34" charset="0"/>
                <a:cs typeface="Lato" panose="020F0502020204030203" pitchFamily="34" charset="0"/>
              </a:rPr>
              <a:t>2026.01.01</a:t>
            </a:r>
            <a:endParaRPr lang="zh-CN" altLang="en-US" sz="800" b="1">
              <a:highlight>
                <a:srgbClr val="00FF00"/>
              </a:highlight>
              <a:latin typeface="Lato" panose="020F0502020204030203" pitchFamily="34" charset="0"/>
              <a:cs typeface="Lato" panose="020F0502020204030203" pitchFamily="34" charset="0"/>
            </a:endParaRPr>
          </a:p>
        </p:txBody>
      </p:sp>
      <p:cxnSp>
        <p:nvCxnSpPr>
          <p:cNvPr id="169" name="直接箭头连接符 168">
            <a:extLst>
              <a:ext uri="{FF2B5EF4-FFF2-40B4-BE49-F238E27FC236}">
                <a16:creationId xmlns:a16="http://schemas.microsoft.com/office/drawing/2014/main" id="{FE987B94-6EAD-86F2-A075-77BA32357DA5}"/>
              </a:ext>
            </a:extLst>
          </p:cNvPr>
          <p:cNvCxnSpPr>
            <a:cxnSpLocks/>
          </p:cNvCxnSpPr>
          <p:nvPr/>
        </p:nvCxnSpPr>
        <p:spPr>
          <a:xfrm>
            <a:off x="6602846" y="819150"/>
            <a:ext cx="0" cy="288000"/>
          </a:xfrm>
          <a:prstGeom prst="straightConnector1">
            <a:avLst/>
          </a:prstGeom>
          <a:ln w="28575">
            <a:solidFill>
              <a:schemeClr val="bg1">
                <a:lumMod val="65000"/>
              </a:schemeClr>
            </a:solidFill>
            <a:prstDash val="solid"/>
            <a:tailEnd type="stealth"/>
          </a:ln>
        </p:spPr>
        <p:style>
          <a:lnRef idx="1">
            <a:schemeClr val="accent1"/>
          </a:lnRef>
          <a:fillRef idx="0">
            <a:schemeClr val="accent1"/>
          </a:fillRef>
          <a:effectRef idx="0">
            <a:schemeClr val="accent1"/>
          </a:effectRef>
          <a:fontRef idx="minor">
            <a:schemeClr val="tx1"/>
          </a:fontRef>
        </p:style>
      </p:cxnSp>
      <p:sp>
        <p:nvSpPr>
          <p:cNvPr id="171" name="文本框 170">
            <a:extLst>
              <a:ext uri="{FF2B5EF4-FFF2-40B4-BE49-F238E27FC236}">
                <a16:creationId xmlns:a16="http://schemas.microsoft.com/office/drawing/2014/main" id="{643F8427-11E0-1A25-713A-E4D19CAD4EA5}"/>
              </a:ext>
            </a:extLst>
          </p:cNvPr>
          <p:cNvSpPr txBox="1"/>
          <p:nvPr/>
        </p:nvSpPr>
        <p:spPr>
          <a:xfrm>
            <a:off x="4714250" y="765826"/>
            <a:ext cx="1853392" cy="338554"/>
          </a:xfrm>
          <a:prstGeom prst="rect">
            <a:avLst/>
          </a:prstGeom>
          <a:noFill/>
        </p:spPr>
        <p:txBody>
          <a:bodyPr wrap="none" rtlCol="0">
            <a:spAutoFit/>
          </a:bodyPr>
          <a:lstStyle/>
          <a:p>
            <a:pPr algn="r"/>
            <a:r>
              <a:rPr lang="en-US" altLang="zh-CN" sz="800" b="1">
                <a:latin typeface="Lato" panose="020F0502020204030203" pitchFamily="34" charset="0"/>
                <a:ea typeface="Lato" panose="020F0502020204030203" pitchFamily="34" charset="0"/>
                <a:cs typeface="Lato" panose="020F0502020204030203" pitchFamily="34" charset="0"/>
              </a:rPr>
              <a:t>Rewrite Quotation Acceptance Time</a:t>
            </a:r>
          </a:p>
          <a:p>
            <a:pPr algn="r"/>
            <a:r>
              <a:rPr lang="en-US" altLang="zh-CN" sz="800" b="1">
                <a:latin typeface="Lato" panose="020F0502020204030203" pitchFamily="34" charset="0"/>
                <a:cs typeface="Lato" panose="020F0502020204030203" pitchFamily="34" charset="0"/>
              </a:rPr>
              <a:t>2025.10.25</a:t>
            </a:r>
            <a:endParaRPr lang="zh-CN" altLang="en-US" sz="800" b="1">
              <a:latin typeface="Lato" panose="020F0502020204030203" pitchFamily="34" charset="0"/>
              <a:cs typeface="Lato" panose="020F0502020204030203" pitchFamily="34" charset="0"/>
            </a:endParaRPr>
          </a:p>
        </p:txBody>
      </p:sp>
      <p:sp>
        <p:nvSpPr>
          <p:cNvPr id="172" name="文本框 171">
            <a:extLst>
              <a:ext uri="{FF2B5EF4-FFF2-40B4-BE49-F238E27FC236}">
                <a16:creationId xmlns:a16="http://schemas.microsoft.com/office/drawing/2014/main" id="{EDDC9BD2-A26C-0E0A-9560-1074EB650E54}"/>
              </a:ext>
            </a:extLst>
          </p:cNvPr>
          <p:cNvSpPr txBox="1"/>
          <p:nvPr/>
        </p:nvSpPr>
        <p:spPr>
          <a:xfrm>
            <a:off x="636145" y="6085697"/>
            <a:ext cx="4895727" cy="261610"/>
          </a:xfrm>
          <a:prstGeom prst="rect">
            <a:avLst/>
          </a:prstGeom>
          <a:noFill/>
        </p:spPr>
        <p:txBody>
          <a:bodyPr wrap="square">
            <a:spAutoFit/>
          </a:bodyPr>
          <a:lstStyle/>
          <a:p>
            <a:pPr algn="dist"/>
            <a:r>
              <a:rPr lang="en-US" altLang="zh-CN" sz="1100">
                <a:solidFill>
                  <a:schemeClr val="accent4"/>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(15*36 – 15*24 ) / (48-24) = </a:t>
            </a:r>
            <a:r>
              <a:rPr lang="en-US" altLang="zh-CN" sz="1100" b="1">
                <a:solidFill>
                  <a:schemeClr val="accent4"/>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7.50 $</a:t>
            </a:r>
            <a:endParaRPr lang="zh-CN" altLang="en-US" sz="1100" b="1">
              <a:solidFill>
                <a:schemeClr val="accent4"/>
              </a:solidFill>
              <a:latin typeface="Lato" panose="020F0502020204030203" pitchFamily="34" charset="0"/>
              <a:cs typeface="Lato" panose="020F0502020204030203" pitchFamily="34" charset="0"/>
            </a:endParaRPr>
          </a:p>
        </p:txBody>
      </p:sp>
      <p:cxnSp>
        <p:nvCxnSpPr>
          <p:cNvPr id="174" name="直接连接符 173">
            <a:extLst>
              <a:ext uri="{FF2B5EF4-FFF2-40B4-BE49-F238E27FC236}">
                <a16:creationId xmlns:a16="http://schemas.microsoft.com/office/drawing/2014/main" id="{C8199349-7482-389E-E72B-C17D7F2358BD}"/>
              </a:ext>
            </a:extLst>
          </p:cNvPr>
          <p:cNvCxnSpPr>
            <a:cxnSpLocks/>
          </p:cNvCxnSpPr>
          <p:nvPr/>
        </p:nvCxnSpPr>
        <p:spPr>
          <a:xfrm>
            <a:off x="814881" y="6342670"/>
            <a:ext cx="660381" cy="0"/>
          </a:xfrm>
          <a:prstGeom prst="line">
            <a:avLst/>
          </a:prstGeom>
          <a:ln w="28575">
            <a:solidFill>
              <a:schemeClr val="bg1">
                <a:lumMod val="65000"/>
              </a:schemeClr>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177" name="文本框 176">
            <a:extLst>
              <a:ext uri="{FF2B5EF4-FFF2-40B4-BE49-F238E27FC236}">
                <a16:creationId xmlns:a16="http://schemas.microsoft.com/office/drawing/2014/main" id="{FD18726D-3F22-0E98-EB45-47EA9F69A33B}"/>
              </a:ext>
            </a:extLst>
          </p:cNvPr>
          <p:cNvSpPr txBox="1"/>
          <p:nvPr/>
        </p:nvSpPr>
        <p:spPr>
          <a:xfrm>
            <a:off x="1928843" y="6390426"/>
            <a:ext cx="824265" cy="215444"/>
          </a:xfrm>
          <a:prstGeom prst="rect">
            <a:avLst/>
          </a:prstGeom>
          <a:noFill/>
        </p:spPr>
        <p:txBody>
          <a:bodyPr wrap="none" rtlCol="0">
            <a:spAutoFit/>
          </a:bodyPr>
          <a:lstStyle/>
          <a:p>
            <a:pPr algn="l"/>
            <a:r>
              <a:rPr lang="en-US" altLang="zh-CN" sz="800">
                <a:solidFill>
                  <a:schemeClr val="accent4"/>
                </a:solidFill>
                <a:latin typeface="Lato" panose="020F0502020204030203" pitchFamily="34" charset="0"/>
                <a:ea typeface="Lato" panose="020F0502020204030203" pitchFamily="34" charset="0"/>
                <a:cs typeface="Lato" panose="020F0502020204030203" pitchFamily="34" charset="0"/>
              </a:rPr>
              <a:t>Billed Amount</a:t>
            </a:r>
            <a:endParaRPr lang="zh-CN" altLang="en-US" sz="800">
              <a:solidFill>
                <a:schemeClr val="accent4"/>
              </a:solidFill>
              <a:latin typeface="Lato" panose="020F0502020204030203" pitchFamily="34" charset="0"/>
              <a:cs typeface="Lato" panose="020F0502020204030203" pitchFamily="34" charset="0"/>
            </a:endParaRPr>
          </a:p>
        </p:txBody>
      </p:sp>
      <p:sp>
        <p:nvSpPr>
          <p:cNvPr id="178" name="文本框 177">
            <a:extLst>
              <a:ext uri="{FF2B5EF4-FFF2-40B4-BE49-F238E27FC236}">
                <a16:creationId xmlns:a16="http://schemas.microsoft.com/office/drawing/2014/main" id="{6807AF94-64FE-392E-426D-1413CF59A3DA}"/>
              </a:ext>
            </a:extLst>
          </p:cNvPr>
          <p:cNvSpPr txBox="1"/>
          <p:nvPr/>
        </p:nvSpPr>
        <p:spPr>
          <a:xfrm>
            <a:off x="3319309" y="6390426"/>
            <a:ext cx="963725" cy="215444"/>
          </a:xfrm>
          <a:prstGeom prst="rect">
            <a:avLst/>
          </a:prstGeom>
          <a:noFill/>
        </p:spPr>
        <p:txBody>
          <a:bodyPr wrap="none" rtlCol="0">
            <a:spAutoFit/>
          </a:bodyPr>
          <a:lstStyle/>
          <a:p>
            <a:pPr algn="l"/>
            <a:r>
              <a:rPr lang="en-US" altLang="zh-CN" sz="800">
                <a:solidFill>
                  <a:schemeClr val="accent4"/>
                </a:solidFill>
                <a:latin typeface="Lato" panose="020F0502020204030203" pitchFamily="34" charset="0"/>
                <a:ea typeface="Lato" panose="020F0502020204030203" pitchFamily="34" charset="0"/>
                <a:cs typeface="Lato" panose="020F0502020204030203" pitchFamily="34" charset="0"/>
              </a:rPr>
              <a:t>Remaining Terms</a:t>
            </a:r>
            <a:endParaRPr lang="zh-CN" altLang="en-US" sz="800">
              <a:solidFill>
                <a:schemeClr val="accent4"/>
              </a:solidFill>
              <a:latin typeface="Lato" panose="020F0502020204030203" pitchFamily="34" charset="0"/>
              <a:cs typeface="Lato" panose="020F0502020204030203" pitchFamily="34" charset="0"/>
            </a:endParaRPr>
          </a:p>
        </p:txBody>
      </p:sp>
      <p:sp>
        <p:nvSpPr>
          <p:cNvPr id="185" name="文本框 184">
            <a:extLst>
              <a:ext uri="{FF2B5EF4-FFF2-40B4-BE49-F238E27FC236}">
                <a16:creationId xmlns:a16="http://schemas.microsoft.com/office/drawing/2014/main" id="{94B9F165-3BD9-EAFD-69F7-E56EB7D08539}"/>
              </a:ext>
            </a:extLst>
          </p:cNvPr>
          <p:cNvSpPr txBox="1"/>
          <p:nvPr/>
        </p:nvSpPr>
        <p:spPr>
          <a:xfrm>
            <a:off x="733986" y="6390426"/>
            <a:ext cx="805029" cy="215444"/>
          </a:xfrm>
          <a:prstGeom prst="rect">
            <a:avLst/>
          </a:prstGeom>
          <a:noFill/>
        </p:spPr>
        <p:txBody>
          <a:bodyPr wrap="none" rtlCol="0">
            <a:spAutoFit/>
          </a:bodyPr>
          <a:lstStyle/>
          <a:p>
            <a:pPr algn="l"/>
            <a:r>
              <a:rPr lang="en-US" altLang="zh-CN" sz="800">
                <a:solidFill>
                  <a:schemeClr val="accent4"/>
                </a:solidFill>
                <a:latin typeface="Lato" panose="020F0502020204030203" pitchFamily="34" charset="0"/>
                <a:ea typeface="Lato" panose="020F0502020204030203" pitchFamily="34" charset="0"/>
                <a:cs typeface="Lato" panose="020F0502020204030203" pitchFamily="34" charset="0"/>
              </a:rPr>
              <a:t>Total Amount</a:t>
            </a:r>
            <a:endParaRPr lang="zh-CN" altLang="en-US" sz="800">
              <a:solidFill>
                <a:schemeClr val="accent4"/>
              </a:solidFill>
              <a:latin typeface="Lato" panose="020F0502020204030203" pitchFamily="34" charset="0"/>
              <a:cs typeface="Lato" panose="020F0502020204030203" pitchFamily="34" charset="0"/>
            </a:endParaRPr>
          </a:p>
        </p:txBody>
      </p:sp>
      <p:sp>
        <p:nvSpPr>
          <p:cNvPr id="191" name="椭圆 190">
            <a:extLst>
              <a:ext uri="{FF2B5EF4-FFF2-40B4-BE49-F238E27FC236}">
                <a16:creationId xmlns:a16="http://schemas.microsoft.com/office/drawing/2014/main" id="{7106DFD7-223B-2C2E-59B8-638287C625F1}"/>
              </a:ext>
            </a:extLst>
          </p:cNvPr>
          <p:cNvSpPr/>
          <p:nvPr/>
        </p:nvSpPr>
        <p:spPr>
          <a:xfrm>
            <a:off x="11777731" y="3606952"/>
            <a:ext cx="147153" cy="147153"/>
          </a:xfrm>
          <a:prstGeom prst="ellipse">
            <a:avLst/>
          </a:prstGeom>
          <a:solidFill>
            <a:schemeClr val="tx2"/>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000" b="1">
                <a:solidFill>
                  <a:schemeClr val="bg1"/>
                </a:solidFill>
                <a:latin typeface="Lato" panose="020F0502020204030203" pitchFamily="34" charset="0"/>
                <a:ea typeface="Lato" panose="020F0502020204030203" pitchFamily="34" charset="0"/>
                <a:cs typeface="Lato" panose="020F0502020204030203" pitchFamily="34" charset="0"/>
              </a:rPr>
              <a:t>3</a:t>
            </a:r>
            <a:endParaRPr lang="zh-CN" altLang="en-US" sz="1000" b="1">
              <a:solidFill>
                <a:schemeClr val="bg1"/>
              </a:solidFill>
              <a:latin typeface="Lato" panose="020F0502020204030203" pitchFamily="34" charset="0"/>
              <a:cs typeface="Lato" panose="020F0502020204030203" pitchFamily="34" charset="0"/>
            </a:endParaRPr>
          </a:p>
        </p:txBody>
      </p:sp>
      <p:sp>
        <p:nvSpPr>
          <p:cNvPr id="192" name="椭圆 191">
            <a:extLst>
              <a:ext uri="{FF2B5EF4-FFF2-40B4-BE49-F238E27FC236}">
                <a16:creationId xmlns:a16="http://schemas.microsoft.com/office/drawing/2014/main" id="{B3AB8984-2B98-A0A9-511E-37C748A4C79D}"/>
              </a:ext>
            </a:extLst>
          </p:cNvPr>
          <p:cNvSpPr/>
          <p:nvPr/>
        </p:nvSpPr>
        <p:spPr>
          <a:xfrm>
            <a:off x="11768832" y="4439319"/>
            <a:ext cx="147153" cy="147153"/>
          </a:xfrm>
          <a:prstGeom prst="ellipse">
            <a:avLst/>
          </a:prstGeom>
          <a:solidFill>
            <a:schemeClr val="tx2"/>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000" b="1">
                <a:solidFill>
                  <a:schemeClr val="bg1"/>
                </a:solidFill>
                <a:latin typeface="Lato" panose="020F0502020204030203" pitchFamily="34" charset="0"/>
                <a:ea typeface="Lato" panose="020F0502020204030203" pitchFamily="34" charset="0"/>
                <a:cs typeface="Lato" panose="020F0502020204030203" pitchFamily="34" charset="0"/>
              </a:rPr>
              <a:t>2</a:t>
            </a:r>
            <a:endParaRPr lang="zh-CN" altLang="en-US" sz="1000" b="1">
              <a:solidFill>
                <a:schemeClr val="bg1"/>
              </a:solidFill>
              <a:latin typeface="Lato" panose="020F0502020204030203" pitchFamily="34" charset="0"/>
              <a:cs typeface="Lato" panose="020F0502020204030203" pitchFamily="34" charset="0"/>
            </a:endParaRPr>
          </a:p>
        </p:txBody>
      </p:sp>
      <p:sp>
        <p:nvSpPr>
          <p:cNvPr id="194" name="椭圆 193">
            <a:extLst>
              <a:ext uri="{FF2B5EF4-FFF2-40B4-BE49-F238E27FC236}">
                <a16:creationId xmlns:a16="http://schemas.microsoft.com/office/drawing/2014/main" id="{94FC6F8D-82A4-E5E5-7403-8D97CE0C32CE}"/>
              </a:ext>
            </a:extLst>
          </p:cNvPr>
          <p:cNvSpPr/>
          <p:nvPr/>
        </p:nvSpPr>
        <p:spPr>
          <a:xfrm>
            <a:off x="531235" y="5894670"/>
            <a:ext cx="147153" cy="147153"/>
          </a:xfrm>
          <a:prstGeom prst="ellipse">
            <a:avLst/>
          </a:prstGeom>
          <a:solidFill>
            <a:schemeClr val="tx2"/>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000" b="1">
                <a:solidFill>
                  <a:schemeClr val="bg1"/>
                </a:solidFill>
                <a:latin typeface="Lato" panose="020F0502020204030203" pitchFamily="34" charset="0"/>
                <a:ea typeface="Lato" panose="020F0502020204030203" pitchFamily="34" charset="0"/>
                <a:cs typeface="Lato" panose="020F0502020204030203" pitchFamily="34" charset="0"/>
              </a:rPr>
              <a:t>2</a:t>
            </a:r>
            <a:endParaRPr lang="zh-CN" altLang="en-US" sz="1000" b="1">
              <a:solidFill>
                <a:schemeClr val="bg1"/>
              </a:solidFill>
              <a:latin typeface="Lato" panose="020F0502020204030203" pitchFamily="34" charset="0"/>
              <a:cs typeface="Lato" panose="020F0502020204030203" pitchFamily="34" charset="0"/>
            </a:endParaRPr>
          </a:p>
        </p:txBody>
      </p:sp>
      <p:sp>
        <p:nvSpPr>
          <p:cNvPr id="92" name="矩形: 圆角 91">
            <a:extLst>
              <a:ext uri="{FF2B5EF4-FFF2-40B4-BE49-F238E27FC236}">
                <a16:creationId xmlns:a16="http://schemas.microsoft.com/office/drawing/2014/main" id="{50DA8A21-F056-517C-4A63-AF191C1CAD7D}"/>
              </a:ext>
            </a:extLst>
          </p:cNvPr>
          <p:cNvSpPr/>
          <p:nvPr/>
        </p:nvSpPr>
        <p:spPr>
          <a:xfrm>
            <a:off x="6119330" y="5106987"/>
            <a:ext cx="5812433" cy="1609070"/>
          </a:xfrm>
          <a:prstGeom prst="roundRect">
            <a:avLst>
              <a:gd name="adj" fmla="val 4882"/>
            </a:avLst>
          </a:prstGeom>
          <a:solidFill>
            <a:schemeClr val="tx2">
              <a:lumMod val="20000"/>
              <a:lumOff val="80000"/>
            </a:schemeClr>
          </a:solidFill>
          <a:ln w="6350">
            <a:noFill/>
          </a:ln>
        </p:spPr>
        <p:style>
          <a:lnRef idx="0">
            <a:scrgbClr r="0" g="0" b="0"/>
          </a:lnRef>
          <a:fillRef idx="0">
            <a:scrgbClr r="0" g="0" b="0"/>
          </a:fillRef>
          <a:effectRef idx="0">
            <a:scrgbClr r="0" g="0" b="0"/>
          </a:effectRef>
          <a:fontRef idx="minor">
            <a:schemeClr val="lt1"/>
          </a:fontRef>
        </p:style>
        <p:txBody>
          <a:bodyPr lIns="180000" tIns="0" rIns="0" bIns="0" rtlCol="0" anchor="ctr"/>
          <a:lstStyle/>
          <a:p>
            <a:r>
              <a:rPr lang="en-US" altLang="zh-CN" sz="800" b="1">
                <a:solidFill>
                  <a:schemeClr val="tx1"/>
                </a:solidFill>
                <a:latin typeface="Lato" panose="020F0502020204030203" pitchFamily="34" charset="0"/>
                <a:cs typeface="Lato" panose="020F0502020204030203" pitchFamily="34" charset="0"/>
              </a:rPr>
              <a:t>Pro Rata Calculation: </a:t>
            </a:r>
          </a:p>
          <a:p>
            <a:endParaRPr lang="en-US" altLang="zh-CN" sz="700" b="1">
              <a:solidFill>
                <a:schemeClr val="tx1"/>
              </a:solidFill>
              <a:latin typeface="Lato" panose="020F0502020204030203" pitchFamily="34" charset="0"/>
              <a:cs typeface="Lato" panose="020F0502020204030203" pitchFamily="34" charset="0"/>
            </a:endParaRPr>
          </a:p>
          <a:p>
            <a:pPr marL="228600" indent="-228600">
              <a:buAutoNum type="arabicPeriod"/>
            </a:pPr>
            <a:r>
              <a:rPr lang="en-US" altLang="zh-CN" sz="800" b="1">
                <a:solidFill>
                  <a:schemeClr val="tx1"/>
                </a:solidFill>
                <a:latin typeface="Lato" panose="020F0502020204030203" pitchFamily="34" charset="0"/>
                <a:cs typeface="Lato" panose="020F0502020204030203" pitchFamily="34" charset="0"/>
              </a:rPr>
              <a:t>Calculate total monthly charge of the items without special rules before rewrite.</a:t>
            </a:r>
          </a:p>
          <a:p>
            <a:pPr marL="780943" lvl="1" indent="-171450">
              <a:buFont typeface="Arial" panose="020B0604020202020204" pitchFamily="34" charset="0"/>
              <a:buChar char="•"/>
            </a:pPr>
            <a:r>
              <a:rPr lang="en-US" altLang="zh-CN" sz="700">
                <a:solidFill>
                  <a:schemeClr val="tx1"/>
                </a:solidFill>
                <a:latin typeface="Lato" panose="020F0502020204030203" pitchFamily="34" charset="0"/>
                <a:cs typeface="Lato" panose="020F0502020204030203" pitchFamily="34" charset="0"/>
              </a:rPr>
              <a:t>Old - Total Monthly Charge of Support Service:	15.00 * 10 = 150.00 $</a:t>
            </a:r>
          </a:p>
          <a:p>
            <a:pPr marL="780943" lvl="1" indent="-171450">
              <a:buFont typeface="Arial" panose="020B0604020202020204" pitchFamily="34" charset="0"/>
              <a:buChar char="•"/>
            </a:pPr>
            <a:r>
              <a:rPr lang="en-US" altLang="zh-CN" sz="700">
                <a:solidFill>
                  <a:schemeClr val="tx1"/>
                </a:solidFill>
                <a:latin typeface="Lato" panose="020F0502020204030203" pitchFamily="34" charset="0"/>
                <a:cs typeface="Lato" panose="020F0502020204030203" pitchFamily="34" charset="0"/>
              </a:rPr>
              <a:t>Old - Total Monthly Charge of Asset Recovery Service: 	15.00 * 10 = 150.00 $</a:t>
            </a:r>
          </a:p>
          <a:p>
            <a:pPr marL="780943" lvl="1" indent="-171450">
              <a:buFont typeface="Arial" panose="020B0604020202020204" pitchFamily="34" charset="0"/>
              <a:buChar char="•"/>
            </a:pPr>
            <a:r>
              <a:rPr lang="en-US" altLang="zh-CN" sz="700">
                <a:solidFill>
                  <a:schemeClr val="tx1"/>
                </a:solidFill>
                <a:latin typeface="Lato" panose="020F0502020204030203" pitchFamily="34" charset="0"/>
                <a:cs typeface="Lato" panose="020F0502020204030203" pitchFamily="34" charset="0"/>
              </a:rPr>
              <a:t>Old - Total Monthly Charge of remaining items:	1000.00 – 150.00 – 150.00 = </a:t>
            </a:r>
            <a:r>
              <a:rPr lang="en-US" altLang="zh-CN" sz="700" b="1">
                <a:solidFill>
                  <a:schemeClr val="tx1"/>
                </a:solidFill>
                <a:latin typeface="Lato" panose="020F0502020204030203" pitchFamily="34" charset="0"/>
                <a:cs typeface="Lato" panose="020F0502020204030203" pitchFamily="34" charset="0"/>
              </a:rPr>
              <a:t>700.00</a:t>
            </a:r>
            <a:r>
              <a:rPr lang="en-US" altLang="zh-CN" sz="700">
                <a:solidFill>
                  <a:schemeClr val="tx1"/>
                </a:solidFill>
                <a:latin typeface="Lato" panose="020F0502020204030203" pitchFamily="34" charset="0"/>
                <a:cs typeface="Lato" panose="020F0502020204030203" pitchFamily="34" charset="0"/>
              </a:rPr>
              <a:t> $  </a:t>
            </a:r>
          </a:p>
          <a:p>
            <a:pPr marL="228600" indent="-228600">
              <a:buFont typeface="+mj-lt"/>
              <a:buAutoNum type="arabicPeriod" startAt="2"/>
            </a:pPr>
            <a:r>
              <a:rPr lang="en-US" altLang="zh-CN" sz="800" b="1">
                <a:solidFill>
                  <a:schemeClr val="tx1"/>
                </a:solidFill>
                <a:latin typeface="Lato" panose="020F0502020204030203" pitchFamily="34" charset="0"/>
                <a:cs typeface="Lato" panose="020F0502020204030203" pitchFamily="34" charset="0"/>
              </a:rPr>
              <a:t>Calculate total monthly charge of the items without special rules after rewrite.</a:t>
            </a:r>
          </a:p>
          <a:p>
            <a:pPr marL="780943" lvl="1" indent="-171450">
              <a:buFont typeface="Arial" panose="020B0604020202020204" pitchFamily="34" charset="0"/>
              <a:buChar char="•"/>
            </a:pPr>
            <a:r>
              <a:rPr lang="en-US" altLang="zh-CN" sz="700">
                <a:solidFill>
                  <a:schemeClr val="tx1"/>
                </a:solidFill>
                <a:latin typeface="Lato" panose="020F0502020204030203" pitchFamily="34" charset="0"/>
                <a:cs typeface="Lato" panose="020F0502020204030203" pitchFamily="34" charset="0"/>
              </a:rPr>
              <a:t>New - Total Monthly Charge of Support Service:	15.00 * 10 = 150.00 $</a:t>
            </a:r>
          </a:p>
          <a:p>
            <a:pPr marL="780943" lvl="1" indent="-171450">
              <a:buFont typeface="Arial" panose="020B0604020202020204" pitchFamily="34" charset="0"/>
              <a:buChar char="•"/>
            </a:pPr>
            <a:r>
              <a:rPr lang="en-US" altLang="zh-CN" sz="700">
                <a:solidFill>
                  <a:schemeClr val="tx1"/>
                </a:solidFill>
                <a:latin typeface="Lato" panose="020F0502020204030203" pitchFamily="34" charset="0"/>
                <a:cs typeface="Lato" panose="020F0502020204030203" pitchFamily="34" charset="0"/>
              </a:rPr>
              <a:t>New - Total Monthly Charge of Asset Recovery Service: 	7.50 * 10 = 75.00 $</a:t>
            </a:r>
          </a:p>
          <a:p>
            <a:pPr marL="780943" lvl="1" indent="-171450">
              <a:buFont typeface="Arial" panose="020B0604020202020204" pitchFamily="34" charset="0"/>
              <a:buChar char="•"/>
            </a:pPr>
            <a:r>
              <a:rPr lang="en-US" altLang="zh-CN" sz="700">
                <a:solidFill>
                  <a:schemeClr val="tx1"/>
                </a:solidFill>
                <a:latin typeface="Lato" panose="020F0502020204030203" pitchFamily="34" charset="0"/>
                <a:cs typeface="Lato" panose="020F0502020204030203" pitchFamily="34" charset="0"/>
              </a:rPr>
              <a:t>New - Total Monthly Charge of remaining items:	750.00 – 150.00 – 75.00 = </a:t>
            </a:r>
            <a:r>
              <a:rPr lang="en-US" altLang="zh-CN" sz="700" b="1">
                <a:solidFill>
                  <a:schemeClr val="tx1"/>
                </a:solidFill>
                <a:latin typeface="Lato" panose="020F0502020204030203" pitchFamily="34" charset="0"/>
                <a:cs typeface="Lato" panose="020F0502020204030203" pitchFamily="34" charset="0"/>
              </a:rPr>
              <a:t>525.00</a:t>
            </a:r>
            <a:r>
              <a:rPr lang="en-US" altLang="zh-CN" sz="700">
                <a:solidFill>
                  <a:schemeClr val="tx1"/>
                </a:solidFill>
                <a:latin typeface="Lato" panose="020F0502020204030203" pitchFamily="34" charset="0"/>
                <a:cs typeface="Lato" panose="020F0502020204030203" pitchFamily="34" charset="0"/>
              </a:rPr>
              <a:t> $  </a:t>
            </a:r>
          </a:p>
          <a:p>
            <a:pPr marL="228600" indent="-228600">
              <a:buFont typeface="+mj-lt"/>
              <a:buAutoNum type="arabicPeriod" startAt="3"/>
            </a:pPr>
            <a:r>
              <a:rPr lang="en-US" altLang="zh-CN" sz="800" b="1">
                <a:solidFill>
                  <a:schemeClr val="tx1"/>
                </a:solidFill>
                <a:latin typeface="Lato" panose="020F0502020204030203" pitchFamily="34" charset="0"/>
                <a:cs typeface="Lato" panose="020F0502020204030203" pitchFamily="34" charset="0"/>
              </a:rPr>
              <a:t>Calculate Pro Rata for the items without special rules.</a:t>
            </a:r>
          </a:p>
          <a:p>
            <a:pPr marL="780943" lvl="1" indent="-171450">
              <a:buFont typeface="Arial" panose="020B0604020202020204" pitchFamily="34" charset="0"/>
              <a:buChar char="•"/>
            </a:pPr>
            <a:r>
              <a:rPr lang="en-US" altLang="zh-CN" sz="700">
                <a:solidFill>
                  <a:schemeClr val="tx1"/>
                </a:solidFill>
                <a:latin typeface="Lato" panose="020F0502020204030203" pitchFamily="34" charset="0"/>
                <a:cs typeface="Lato" panose="020F0502020204030203" pitchFamily="34" charset="0"/>
              </a:rPr>
              <a:t>Pro Rata = 525 / 700</a:t>
            </a:r>
          </a:p>
          <a:p>
            <a:pPr marL="171450" indent="-171450">
              <a:buFont typeface="Arial" panose="020B0604020202020204" pitchFamily="34" charset="0"/>
              <a:buChar char="•"/>
            </a:pPr>
            <a:endParaRPr lang="en-US" altLang="zh-CN" sz="700">
              <a:solidFill>
                <a:schemeClr val="tx1"/>
              </a:solidFill>
              <a:latin typeface="Lato" panose="020F0502020204030203" pitchFamily="34" charset="0"/>
              <a:cs typeface="Lato" panose="020F0502020204030203" pitchFamily="34" charset="0"/>
            </a:endParaRPr>
          </a:p>
          <a:p>
            <a:r>
              <a:rPr lang="en-US" altLang="zh-CN" sz="700">
                <a:solidFill>
                  <a:schemeClr val="tx1"/>
                </a:solidFill>
                <a:latin typeface="Lato" panose="020F0502020204030203" pitchFamily="34" charset="0"/>
                <a:cs typeface="Lato" panose="020F0502020204030203" pitchFamily="34" charset="0"/>
              </a:rPr>
              <a:t>* If there are multi models in one tranche, need to exclude all the items with special rules.</a:t>
            </a:r>
          </a:p>
        </p:txBody>
      </p:sp>
      <p:sp>
        <p:nvSpPr>
          <p:cNvPr id="93" name="椭圆 92">
            <a:extLst>
              <a:ext uri="{FF2B5EF4-FFF2-40B4-BE49-F238E27FC236}">
                <a16:creationId xmlns:a16="http://schemas.microsoft.com/office/drawing/2014/main" id="{F4FD62D6-ABF5-704E-5766-2DABDF78BC08}"/>
              </a:ext>
            </a:extLst>
          </p:cNvPr>
          <p:cNvSpPr/>
          <p:nvPr/>
        </p:nvSpPr>
        <p:spPr>
          <a:xfrm>
            <a:off x="6127271" y="5111599"/>
            <a:ext cx="147153" cy="147153"/>
          </a:xfrm>
          <a:prstGeom prst="ellipse">
            <a:avLst/>
          </a:prstGeom>
          <a:solidFill>
            <a:schemeClr val="tx2"/>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000" b="1">
                <a:solidFill>
                  <a:schemeClr val="bg1"/>
                </a:solidFill>
                <a:latin typeface="Lato" panose="020F0502020204030203" pitchFamily="34" charset="0"/>
                <a:ea typeface="Lato" panose="020F0502020204030203" pitchFamily="34" charset="0"/>
                <a:cs typeface="Lato" panose="020F0502020204030203" pitchFamily="34" charset="0"/>
              </a:rPr>
              <a:t>3</a:t>
            </a:r>
            <a:endParaRPr lang="zh-CN" altLang="en-US" sz="1000" b="1">
              <a:solidFill>
                <a:schemeClr val="bg1"/>
              </a:solidFill>
              <a:latin typeface="Lato" panose="020F0502020204030203" pitchFamily="34" charset="0"/>
              <a:cs typeface="Lato" panose="020F0502020204030203" pitchFamily="34" charset="0"/>
            </a:endParaRPr>
          </a:p>
        </p:txBody>
      </p:sp>
      <p:sp>
        <p:nvSpPr>
          <p:cNvPr id="95" name="椭圆 94">
            <a:extLst>
              <a:ext uri="{FF2B5EF4-FFF2-40B4-BE49-F238E27FC236}">
                <a16:creationId xmlns:a16="http://schemas.microsoft.com/office/drawing/2014/main" id="{EF2C3947-8693-4468-D5D0-A952D74037A4}"/>
              </a:ext>
            </a:extLst>
          </p:cNvPr>
          <p:cNvSpPr/>
          <p:nvPr/>
        </p:nvSpPr>
        <p:spPr>
          <a:xfrm>
            <a:off x="11777731" y="3816268"/>
            <a:ext cx="147153" cy="147153"/>
          </a:xfrm>
          <a:prstGeom prst="ellipse">
            <a:avLst/>
          </a:prstGeom>
          <a:solidFill>
            <a:schemeClr val="tx2"/>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000" b="1">
                <a:solidFill>
                  <a:schemeClr val="bg1"/>
                </a:solidFill>
                <a:latin typeface="Lato" panose="020F0502020204030203" pitchFamily="34" charset="0"/>
                <a:ea typeface="Lato" panose="020F0502020204030203" pitchFamily="34" charset="0"/>
                <a:cs typeface="Lato" panose="020F0502020204030203" pitchFamily="34" charset="0"/>
              </a:rPr>
              <a:t>1</a:t>
            </a:r>
            <a:endParaRPr lang="zh-CN" altLang="en-US" sz="1000" b="1">
              <a:solidFill>
                <a:schemeClr val="bg1"/>
              </a:solidFill>
              <a:latin typeface="Lato" panose="020F0502020204030203" pitchFamily="34" charset="0"/>
              <a:cs typeface="Lato" panose="020F0502020204030203" pitchFamily="34" charset="0"/>
            </a:endParaRPr>
          </a:p>
        </p:txBody>
      </p:sp>
      <p:sp>
        <p:nvSpPr>
          <p:cNvPr id="96" name="矩形: 圆角 95">
            <a:extLst>
              <a:ext uri="{FF2B5EF4-FFF2-40B4-BE49-F238E27FC236}">
                <a16:creationId xmlns:a16="http://schemas.microsoft.com/office/drawing/2014/main" id="{B155F206-C595-EB90-D41F-B758BBA02864}"/>
              </a:ext>
            </a:extLst>
          </p:cNvPr>
          <p:cNvSpPr/>
          <p:nvPr/>
        </p:nvSpPr>
        <p:spPr>
          <a:xfrm>
            <a:off x="527610" y="5102154"/>
            <a:ext cx="5231550" cy="566722"/>
          </a:xfrm>
          <a:prstGeom prst="roundRect">
            <a:avLst>
              <a:gd name="adj" fmla="val 11889"/>
            </a:avLst>
          </a:prstGeom>
          <a:solidFill>
            <a:schemeClr val="tx2">
              <a:lumMod val="20000"/>
              <a:lumOff val="80000"/>
            </a:schemeClr>
          </a:solidFill>
          <a:ln w="6350">
            <a:noFill/>
          </a:ln>
        </p:spPr>
        <p:style>
          <a:lnRef idx="0">
            <a:scrgbClr r="0" g="0" b="0"/>
          </a:lnRef>
          <a:fillRef idx="0">
            <a:scrgbClr r="0" g="0" b="0"/>
          </a:fillRef>
          <a:effectRef idx="0">
            <a:scrgbClr r="0" g="0" b="0"/>
          </a:effectRef>
          <a:fontRef idx="minor">
            <a:schemeClr val="lt1"/>
          </a:fontRef>
        </p:style>
        <p:txBody>
          <a:bodyPr lIns="180000" tIns="0" rIns="0" bIns="0" rtlCol="0" anchor="ctr"/>
          <a:lstStyle/>
          <a:p>
            <a:r>
              <a:rPr lang="en-US" altLang="zh-CN" sz="1100" b="1">
                <a:solidFill>
                  <a:schemeClr val="accent3"/>
                </a:solidFill>
                <a:latin typeface="Lato" panose="020F0502020204030203" pitchFamily="34" charset="0"/>
                <a:cs typeface="Lato" panose="020F0502020204030203" pitchFamily="34" charset="0"/>
              </a:rPr>
              <a:t>Keep the original monthly charge: 15.00 $</a:t>
            </a:r>
            <a:endParaRPr lang="zh-CN" altLang="en-US" sz="1100" b="1">
              <a:solidFill>
                <a:schemeClr val="accent3"/>
              </a:solidFill>
              <a:latin typeface="Lato" panose="020F0502020204030203" pitchFamily="34" charset="0"/>
              <a:cs typeface="Lato" panose="020F0502020204030203" pitchFamily="34" charset="0"/>
            </a:endParaRPr>
          </a:p>
        </p:txBody>
      </p:sp>
      <p:sp>
        <p:nvSpPr>
          <p:cNvPr id="97" name="椭圆 96">
            <a:extLst>
              <a:ext uri="{FF2B5EF4-FFF2-40B4-BE49-F238E27FC236}">
                <a16:creationId xmlns:a16="http://schemas.microsoft.com/office/drawing/2014/main" id="{FB7E5EA4-5529-05BA-DF9D-B53CE71BBD77}"/>
              </a:ext>
            </a:extLst>
          </p:cNvPr>
          <p:cNvSpPr/>
          <p:nvPr/>
        </p:nvSpPr>
        <p:spPr>
          <a:xfrm>
            <a:off x="527612" y="5105078"/>
            <a:ext cx="147153" cy="147153"/>
          </a:xfrm>
          <a:prstGeom prst="ellipse">
            <a:avLst/>
          </a:prstGeom>
          <a:solidFill>
            <a:schemeClr val="tx2"/>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r>
              <a:rPr lang="en-US" altLang="zh-CN" sz="1000" b="1">
                <a:solidFill>
                  <a:schemeClr val="bg1"/>
                </a:solidFill>
                <a:latin typeface="Lato" panose="020F0502020204030203" pitchFamily="34" charset="0"/>
                <a:ea typeface="Lato" panose="020F0502020204030203" pitchFamily="34" charset="0"/>
                <a:cs typeface="Lato" panose="020F0502020204030203" pitchFamily="34" charset="0"/>
              </a:rPr>
              <a:t>1</a:t>
            </a:r>
            <a:endParaRPr lang="zh-CN" altLang="en-US" sz="1000" b="1">
              <a:solidFill>
                <a:schemeClr val="bg1"/>
              </a:solidFill>
              <a:latin typeface="Lato" panose="020F0502020204030203" pitchFamily="34" charset="0"/>
              <a:cs typeface="Lato" panose="020F0502020204030203" pitchFamily="34" charset="0"/>
            </a:endParaRPr>
          </a:p>
        </p:txBody>
      </p:sp>
      <p:cxnSp>
        <p:nvCxnSpPr>
          <p:cNvPr id="104" name="直接连接符 103">
            <a:extLst>
              <a:ext uri="{FF2B5EF4-FFF2-40B4-BE49-F238E27FC236}">
                <a16:creationId xmlns:a16="http://schemas.microsoft.com/office/drawing/2014/main" id="{E6048B96-FE15-3160-0A18-D2CB91B75C3C}"/>
              </a:ext>
            </a:extLst>
          </p:cNvPr>
          <p:cNvCxnSpPr>
            <a:cxnSpLocks/>
          </p:cNvCxnSpPr>
          <p:nvPr/>
        </p:nvCxnSpPr>
        <p:spPr>
          <a:xfrm>
            <a:off x="1981433" y="6342670"/>
            <a:ext cx="660381" cy="0"/>
          </a:xfrm>
          <a:prstGeom prst="line">
            <a:avLst/>
          </a:prstGeom>
          <a:ln w="28575">
            <a:solidFill>
              <a:schemeClr val="bg1">
                <a:lumMod val="65000"/>
              </a:schemeClr>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6C6292D7-820D-88A9-658D-94D10DA3E210}"/>
              </a:ext>
            </a:extLst>
          </p:cNvPr>
          <p:cNvCxnSpPr>
            <a:cxnSpLocks/>
          </p:cNvCxnSpPr>
          <p:nvPr/>
        </p:nvCxnSpPr>
        <p:spPr>
          <a:xfrm>
            <a:off x="3423486" y="6342670"/>
            <a:ext cx="660381" cy="0"/>
          </a:xfrm>
          <a:prstGeom prst="line">
            <a:avLst/>
          </a:prstGeom>
          <a:ln w="28575">
            <a:solidFill>
              <a:schemeClr val="bg1">
                <a:lumMod val="65000"/>
              </a:schemeClr>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106" name="文本框 105">
            <a:extLst>
              <a:ext uri="{FF2B5EF4-FFF2-40B4-BE49-F238E27FC236}">
                <a16:creationId xmlns:a16="http://schemas.microsoft.com/office/drawing/2014/main" id="{CE55D37B-4E70-163B-D102-35A8BBAFD1B0}"/>
              </a:ext>
            </a:extLst>
          </p:cNvPr>
          <p:cNvSpPr txBox="1"/>
          <p:nvPr/>
        </p:nvSpPr>
        <p:spPr>
          <a:xfrm>
            <a:off x="140158" y="778776"/>
            <a:ext cx="353943" cy="998030"/>
          </a:xfrm>
          <a:prstGeom prst="rect">
            <a:avLst/>
          </a:prstGeom>
          <a:noFill/>
        </p:spPr>
        <p:txBody>
          <a:bodyPr vert="eaVert" wrap="none" rtlCol="0">
            <a:spAutoFit/>
          </a:bodyPr>
          <a:lstStyle/>
          <a:p>
            <a:pPr algn="l"/>
            <a:r>
              <a:rPr lang="en-US" altLang="zh-CN" sz="1100" b="1">
                <a:latin typeface="Lato" panose="020F0502020204030203" pitchFamily="34" charset="0"/>
                <a:ea typeface="Lato" panose="020F0502020204030203" pitchFamily="34" charset="0"/>
                <a:cs typeface="Lato" panose="020F0502020204030203" pitchFamily="34" charset="0"/>
              </a:rPr>
              <a:t>Effective Date</a:t>
            </a:r>
            <a:endParaRPr lang="zh-CN" altLang="en-US" sz="1100" b="1">
              <a:latin typeface="Lato" panose="020F0502020204030203" pitchFamily="34" charset="0"/>
              <a:cs typeface="Lato" panose="020F0502020204030203" pitchFamily="34" charset="0"/>
            </a:endParaRPr>
          </a:p>
        </p:txBody>
      </p:sp>
    </p:spTree>
    <p:extLst>
      <p:ext uri="{BB962C8B-B14F-4D97-AF65-F5344CB8AC3E}">
        <p14:creationId xmlns:p14="http://schemas.microsoft.com/office/powerpoint/2010/main" val="545739408"/>
      </p:ext>
    </p:extLst>
  </p:cSld>
  <p:clrMapOvr>
    <a:masterClrMapping/>
  </p:clrMapOvr>
  <p:transition>
    <p:fade/>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矩形 26">
            <a:extLst>
              <a:ext uri="{FF2B5EF4-FFF2-40B4-BE49-F238E27FC236}">
                <a16:creationId xmlns:a16="http://schemas.microsoft.com/office/drawing/2014/main" id="{4A54A7C2-B97D-3EDE-CA6F-24A8E4BF767F}"/>
              </a:ext>
            </a:extLst>
          </p:cNvPr>
          <p:cNvSpPr/>
          <p:nvPr/>
        </p:nvSpPr>
        <p:spPr>
          <a:xfrm>
            <a:off x="5958562" y="640982"/>
            <a:ext cx="6048375" cy="5832970"/>
          </a:xfrm>
          <a:prstGeom prst="rect">
            <a:avLst/>
          </a:prstGeom>
          <a:solidFill>
            <a:schemeClr val="accent2">
              <a:lumMod val="40000"/>
              <a:lumOff val="60000"/>
              <a:alpha val="25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3" name="灯片编号占位符 2"/>
          <p:cNvSpPr>
            <a:spLocks noGrp="1"/>
          </p:cNvSpPr>
          <p:nvPr>
            <p:ph type="sldNum" sz="quarter" idx="4"/>
          </p:nvPr>
        </p:nvSpPr>
        <p:spPr>
          <a:xfrm>
            <a:off x="11752974" y="6473952"/>
            <a:ext cx="439026" cy="155448"/>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6D22F896-40B5-4ADD-8801-0D06FADFA095}" type="slidenum">
              <a:rPr lang="en-US" smtClean="0"/>
              <a:pPr marL="0" marR="0" lvl="0" indent="0" algn="ctr" defTabSz="914400" rtl="0" eaLnBrk="1" fontAlgn="auto" latinLnBrk="0" hangingPunct="1">
                <a:lnSpc>
                  <a:spcPct val="100000"/>
                </a:lnSpc>
                <a:spcBef>
                  <a:spcPts val="0"/>
                </a:spcBef>
                <a:spcAft>
                  <a:spcPts val="0"/>
                </a:spcAft>
                <a:buClrTx/>
                <a:buSzTx/>
                <a:buFontTx/>
                <a:buNone/>
                <a:tabLst/>
                <a:defRPr/>
              </a:pPr>
              <a:t>130</a:t>
            </a:fld>
            <a:endParaRPr kumimoji="0" lang="en-US" sz="1000" b="0" i="0" u="none" strike="noStrike" kern="1200" cap="none" spc="0" normalizeH="0" baseline="0" noProof="0">
              <a:ln>
                <a:noFill/>
              </a:ln>
              <a:solidFill>
                <a:srgbClr val="000000"/>
              </a:solidFill>
              <a:effectLst/>
              <a:uLnTx/>
              <a:uFillTx/>
            </a:endParaRPr>
          </a:p>
        </p:txBody>
      </p:sp>
      <p:graphicFrame>
        <p:nvGraphicFramePr>
          <p:cNvPr id="2" name="Table 1">
            <a:extLst>
              <a:ext uri="{FF2B5EF4-FFF2-40B4-BE49-F238E27FC236}">
                <a16:creationId xmlns:a16="http://schemas.microsoft.com/office/drawing/2014/main" id="{01B1168D-979F-1F85-3BFD-C174B7379604}"/>
              </a:ext>
            </a:extLst>
          </p:cNvPr>
          <p:cNvGraphicFramePr>
            <a:graphicFrameLocks noGrp="1"/>
          </p:cNvGraphicFramePr>
          <p:nvPr>
            <p:extLst>
              <p:ext uri="{D42A27DB-BD31-4B8C-83A1-F6EECF244321}">
                <p14:modId xmlns:p14="http://schemas.microsoft.com/office/powerpoint/2010/main" val="703782139"/>
              </p:ext>
            </p:extLst>
          </p:nvPr>
        </p:nvGraphicFramePr>
        <p:xfrm>
          <a:off x="199690" y="549335"/>
          <a:ext cx="5661927" cy="739460"/>
        </p:xfrm>
        <a:graphic>
          <a:graphicData uri="http://schemas.openxmlformats.org/drawingml/2006/table">
            <a:tbl>
              <a:tblPr firstRow="1">
                <a:tableStyleId>{5C22544A-7EE6-4342-B048-85BDC9FD1C3A}</a:tableStyleId>
              </a:tblPr>
              <a:tblGrid>
                <a:gridCol w="473996">
                  <a:extLst>
                    <a:ext uri="{9D8B030D-6E8A-4147-A177-3AD203B41FA5}">
                      <a16:colId xmlns:a16="http://schemas.microsoft.com/office/drawing/2014/main" val="3200314054"/>
                    </a:ext>
                  </a:extLst>
                </a:gridCol>
                <a:gridCol w="314031">
                  <a:extLst>
                    <a:ext uri="{9D8B030D-6E8A-4147-A177-3AD203B41FA5}">
                      <a16:colId xmlns:a16="http://schemas.microsoft.com/office/drawing/2014/main" val="1913271583"/>
                    </a:ext>
                  </a:extLst>
                </a:gridCol>
                <a:gridCol w="685192">
                  <a:extLst>
                    <a:ext uri="{9D8B030D-6E8A-4147-A177-3AD203B41FA5}">
                      <a16:colId xmlns:a16="http://schemas.microsoft.com/office/drawing/2014/main" val="1797281345"/>
                    </a:ext>
                  </a:extLst>
                </a:gridCol>
                <a:gridCol w="2093583">
                  <a:extLst>
                    <a:ext uri="{9D8B030D-6E8A-4147-A177-3AD203B41FA5}">
                      <a16:colId xmlns:a16="http://schemas.microsoft.com/office/drawing/2014/main" val="2743739350"/>
                    </a:ext>
                  </a:extLst>
                </a:gridCol>
                <a:gridCol w="622279">
                  <a:extLst>
                    <a:ext uri="{9D8B030D-6E8A-4147-A177-3AD203B41FA5}">
                      <a16:colId xmlns:a16="http://schemas.microsoft.com/office/drawing/2014/main" val="2056723756"/>
                    </a:ext>
                  </a:extLst>
                </a:gridCol>
                <a:gridCol w="600084">
                  <a:extLst>
                    <a:ext uri="{9D8B030D-6E8A-4147-A177-3AD203B41FA5}">
                      <a16:colId xmlns:a16="http://schemas.microsoft.com/office/drawing/2014/main" val="4073315665"/>
                    </a:ext>
                  </a:extLst>
                </a:gridCol>
                <a:gridCol w="872762">
                  <a:extLst>
                    <a:ext uri="{9D8B030D-6E8A-4147-A177-3AD203B41FA5}">
                      <a16:colId xmlns:a16="http://schemas.microsoft.com/office/drawing/2014/main" val="848560102"/>
                    </a:ext>
                  </a:extLst>
                </a:gridCol>
              </a:tblGrid>
              <a:tr h="132953">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Goods issued to Customer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32953">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shipment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32953">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35612">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914400" rtl="0" eaLnBrk="1" fontAlgn="base" latinLnBrk="0" hangingPunct="1">
                        <a:lnSpc>
                          <a:spcPts val="1200"/>
                        </a:lnSpc>
                        <a:spcBef>
                          <a:spcPts val="0"/>
                        </a:spcBef>
                        <a:spcAft>
                          <a:spcPts val="0"/>
                        </a:spcAft>
                        <a:buNone/>
                      </a:pPr>
                      <a:r>
                        <a:rPr lang="en-US" sz="900" b="0" i="0" u="none" strike="noStrike" kern="1200" noProof="0">
                          <a:solidFill>
                            <a:srgbClr val="000000"/>
                          </a:solidFill>
                          <a:effectLst/>
                          <a:latin typeface="Arial" panose="020B0604020202020204" pitchFamily="34" charset="0"/>
                          <a:ea typeface="+mn-ea"/>
                          <a:cs typeface="+mn-cs"/>
                        </a:rPr>
                        <a:t>Fixed Asset In Transit</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135612">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1340000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Inventory </a:t>
                      </a:r>
                    </a:p>
                  </a:txBody>
                  <a:tcPr marL="0"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bl>
          </a:graphicData>
        </a:graphic>
      </p:graphicFrame>
      <p:graphicFrame>
        <p:nvGraphicFramePr>
          <p:cNvPr id="9" name="Table 94">
            <a:extLst>
              <a:ext uri="{FF2B5EF4-FFF2-40B4-BE49-F238E27FC236}">
                <a16:creationId xmlns:a16="http://schemas.microsoft.com/office/drawing/2014/main" id="{57F19E87-DFD3-82D6-36BE-EDD961BCF0F9}"/>
              </a:ext>
            </a:extLst>
          </p:cNvPr>
          <p:cNvGraphicFramePr>
            <a:graphicFrameLocks noGrp="1"/>
          </p:cNvGraphicFramePr>
          <p:nvPr>
            <p:extLst>
              <p:ext uri="{D42A27DB-BD31-4B8C-83A1-F6EECF244321}">
                <p14:modId xmlns:p14="http://schemas.microsoft.com/office/powerpoint/2010/main" val="655934544"/>
              </p:ext>
            </p:extLst>
          </p:nvPr>
        </p:nvGraphicFramePr>
        <p:xfrm>
          <a:off x="199690" y="1310178"/>
          <a:ext cx="5684220" cy="739460"/>
        </p:xfrm>
        <a:graphic>
          <a:graphicData uri="http://schemas.openxmlformats.org/drawingml/2006/table">
            <a:tbl>
              <a:tblPr firstRow="1">
                <a:tableStyleId>{5C22544A-7EE6-4342-B048-85BDC9FD1C3A}</a:tableStyleId>
              </a:tblPr>
              <a:tblGrid>
                <a:gridCol w="479425">
                  <a:extLst>
                    <a:ext uri="{9D8B030D-6E8A-4147-A177-3AD203B41FA5}">
                      <a16:colId xmlns:a16="http://schemas.microsoft.com/office/drawing/2014/main" val="3200314054"/>
                    </a:ext>
                  </a:extLst>
                </a:gridCol>
                <a:gridCol w="315052">
                  <a:extLst>
                    <a:ext uri="{9D8B030D-6E8A-4147-A177-3AD203B41FA5}">
                      <a16:colId xmlns:a16="http://schemas.microsoft.com/office/drawing/2014/main" val="1913271583"/>
                    </a:ext>
                  </a:extLst>
                </a:gridCol>
                <a:gridCol w="687418">
                  <a:extLst>
                    <a:ext uri="{9D8B030D-6E8A-4147-A177-3AD203B41FA5}">
                      <a16:colId xmlns:a16="http://schemas.microsoft.com/office/drawing/2014/main" val="1797281345"/>
                    </a:ext>
                  </a:extLst>
                </a:gridCol>
                <a:gridCol w="2424699">
                  <a:extLst>
                    <a:ext uri="{9D8B030D-6E8A-4147-A177-3AD203B41FA5}">
                      <a16:colId xmlns:a16="http://schemas.microsoft.com/office/drawing/2014/main" val="2743739350"/>
                    </a:ext>
                  </a:extLst>
                </a:gridCol>
                <a:gridCol w="426253">
                  <a:extLst>
                    <a:ext uri="{9D8B030D-6E8A-4147-A177-3AD203B41FA5}">
                      <a16:colId xmlns:a16="http://schemas.microsoft.com/office/drawing/2014/main" val="2056723756"/>
                    </a:ext>
                  </a:extLst>
                </a:gridCol>
                <a:gridCol w="426253">
                  <a:extLst>
                    <a:ext uri="{9D8B030D-6E8A-4147-A177-3AD203B41FA5}">
                      <a16:colId xmlns:a16="http://schemas.microsoft.com/office/drawing/2014/main" val="4073315665"/>
                    </a:ext>
                  </a:extLst>
                </a:gridCol>
                <a:gridCol w="925120">
                  <a:extLst>
                    <a:ext uri="{9D8B030D-6E8A-4147-A177-3AD203B41FA5}">
                      <a16:colId xmlns:a16="http://schemas.microsoft.com/office/drawing/2014/main" val="848560102"/>
                    </a:ext>
                  </a:extLst>
                </a:gridCol>
              </a:tblGrid>
              <a:tr h="119456">
                <a:tc rowSpan="5">
                  <a:txBody>
                    <a:bodyPr/>
                    <a:lstStyle/>
                    <a:p>
                      <a:pPr algn="ctr" fontAlgn="ctr"/>
                      <a:r>
                        <a:rPr lang="en-US" sz="900" b="1" i="0" kern="1200">
                          <a:solidFill>
                            <a:srgbClr val="FFFFFF"/>
                          </a:solidFill>
                          <a:effectLst/>
                          <a:latin typeface="Arial"/>
                          <a:ea typeface="+mn-ea"/>
                          <a:cs typeface="+mn-cs"/>
                        </a:rPr>
                        <a:t>S</a:t>
                      </a:r>
                      <a:r>
                        <a:rPr lang="en-US" altLang="zh-CN" sz="900" b="1" i="0" kern="1200">
                          <a:solidFill>
                            <a:srgbClr val="FFFFFF"/>
                          </a:solidFill>
                          <a:effectLst/>
                          <a:latin typeface="Arial"/>
                          <a:ea typeface="+mn-ea"/>
                          <a:cs typeface="+mn-cs"/>
                        </a:rPr>
                        <a:t>&amp;D</a:t>
                      </a:r>
                    </a:p>
                    <a:p>
                      <a:pPr algn="ctr" fontAlgn="ct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Recognize upfront services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19456">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tx1"/>
                          </a:solidFill>
                          <a:effectLst/>
                          <a:latin typeface="Arial" panose="020B0604020202020204" pitchFamily="34" charset="0"/>
                          <a:ea typeface="+mn-ea"/>
                          <a:cs typeface="+mn-cs"/>
                        </a:rPr>
                        <a:t>Upon Customer acceptance</a:t>
                      </a:r>
                      <a:endParaRPr lang="en-US" altLang="zh-CN" sz="900" b="1" i="0" u="none" strike="noStrike" kern="1200">
                        <a:solidFill>
                          <a:schemeClr val="tx1"/>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19456">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2184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LT-Acc Receivable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r h="61919">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Services Revenue - Upfront Service</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1819737369"/>
                  </a:ext>
                </a:extLst>
              </a:tr>
            </a:tbl>
          </a:graphicData>
        </a:graphic>
      </p:graphicFrame>
      <p:graphicFrame>
        <p:nvGraphicFramePr>
          <p:cNvPr id="10" name="Table 94">
            <a:extLst>
              <a:ext uri="{FF2B5EF4-FFF2-40B4-BE49-F238E27FC236}">
                <a16:creationId xmlns:a16="http://schemas.microsoft.com/office/drawing/2014/main" id="{BB79F83B-51A0-7F61-5E9B-FA2D27DE9B33}"/>
              </a:ext>
            </a:extLst>
          </p:cNvPr>
          <p:cNvGraphicFramePr>
            <a:graphicFrameLocks noGrp="1"/>
          </p:cNvGraphicFramePr>
          <p:nvPr>
            <p:extLst>
              <p:ext uri="{D42A27DB-BD31-4B8C-83A1-F6EECF244321}">
                <p14:modId xmlns:p14="http://schemas.microsoft.com/office/powerpoint/2010/main" val="2283503345"/>
              </p:ext>
            </p:extLst>
          </p:nvPr>
        </p:nvGraphicFramePr>
        <p:xfrm>
          <a:off x="227787" y="2053825"/>
          <a:ext cx="5666714" cy="842470"/>
        </p:xfrm>
        <a:graphic>
          <a:graphicData uri="http://schemas.openxmlformats.org/drawingml/2006/table">
            <a:tbl>
              <a:tblPr firstRow="1">
                <a:tableStyleId>{5C22544A-7EE6-4342-B048-85BDC9FD1C3A}</a:tableStyleId>
              </a:tblPr>
              <a:tblGrid>
                <a:gridCol w="455613">
                  <a:extLst>
                    <a:ext uri="{9D8B030D-6E8A-4147-A177-3AD203B41FA5}">
                      <a16:colId xmlns:a16="http://schemas.microsoft.com/office/drawing/2014/main" val="3200314054"/>
                    </a:ext>
                  </a:extLst>
                </a:gridCol>
                <a:gridCol w="315434">
                  <a:extLst>
                    <a:ext uri="{9D8B030D-6E8A-4147-A177-3AD203B41FA5}">
                      <a16:colId xmlns:a16="http://schemas.microsoft.com/office/drawing/2014/main" val="1913271583"/>
                    </a:ext>
                  </a:extLst>
                </a:gridCol>
                <a:gridCol w="688252">
                  <a:extLst>
                    <a:ext uri="{9D8B030D-6E8A-4147-A177-3AD203B41FA5}">
                      <a16:colId xmlns:a16="http://schemas.microsoft.com/office/drawing/2014/main" val="1797281345"/>
                    </a:ext>
                  </a:extLst>
                </a:gridCol>
                <a:gridCol w="2158226">
                  <a:extLst>
                    <a:ext uri="{9D8B030D-6E8A-4147-A177-3AD203B41FA5}">
                      <a16:colId xmlns:a16="http://schemas.microsoft.com/office/drawing/2014/main" val="2743739350"/>
                    </a:ext>
                  </a:extLst>
                </a:gridCol>
                <a:gridCol w="569766">
                  <a:extLst>
                    <a:ext uri="{9D8B030D-6E8A-4147-A177-3AD203B41FA5}">
                      <a16:colId xmlns:a16="http://schemas.microsoft.com/office/drawing/2014/main" val="2056723756"/>
                    </a:ext>
                  </a:extLst>
                </a:gridCol>
                <a:gridCol w="602763">
                  <a:extLst>
                    <a:ext uri="{9D8B030D-6E8A-4147-A177-3AD203B41FA5}">
                      <a16:colId xmlns:a16="http://schemas.microsoft.com/office/drawing/2014/main" val="4073315665"/>
                    </a:ext>
                  </a:extLst>
                </a:gridCol>
                <a:gridCol w="876660">
                  <a:extLst>
                    <a:ext uri="{9D8B030D-6E8A-4147-A177-3AD203B41FA5}">
                      <a16:colId xmlns:a16="http://schemas.microsoft.com/office/drawing/2014/main" val="848560102"/>
                    </a:ext>
                  </a:extLst>
                </a:gridCol>
              </a:tblGrid>
              <a:tr h="194470">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Recognize Fixed Assets</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Lease commencement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1611550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Fixed Assets Under Operating Lease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162000">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Fixed Assets </a:t>
                      </a:r>
                      <a:r>
                        <a:rPr lang="en-US" sz="900" b="0" i="0" u="none" strike="noStrike" kern="1200">
                          <a:solidFill>
                            <a:srgbClr val="000000"/>
                          </a:solidFill>
                          <a:effectLst/>
                          <a:latin typeface="Arial" panose="020B0604020202020204" pitchFamily="34" charset="0"/>
                          <a:ea typeface="+mn-ea"/>
                          <a:cs typeface="+mn-cs"/>
                        </a:rPr>
                        <a:t>In Transit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graphicFrame>
        <p:nvGraphicFramePr>
          <p:cNvPr id="15" name="Table 94">
            <a:extLst>
              <a:ext uri="{FF2B5EF4-FFF2-40B4-BE49-F238E27FC236}">
                <a16:creationId xmlns:a16="http://schemas.microsoft.com/office/drawing/2014/main" id="{ED3DC64B-C0DE-61A7-6732-5E5DCAD6A338}"/>
              </a:ext>
            </a:extLst>
          </p:cNvPr>
          <p:cNvGraphicFramePr>
            <a:graphicFrameLocks noGrp="1"/>
          </p:cNvGraphicFramePr>
          <p:nvPr>
            <p:extLst>
              <p:ext uri="{D42A27DB-BD31-4B8C-83A1-F6EECF244321}">
                <p14:modId xmlns:p14="http://schemas.microsoft.com/office/powerpoint/2010/main" val="4238763963"/>
              </p:ext>
            </p:extLst>
          </p:nvPr>
        </p:nvGraphicFramePr>
        <p:xfrm>
          <a:off x="6096000" y="826635"/>
          <a:ext cx="5791540" cy="890925"/>
        </p:xfrm>
        <a:graphic>
          <a:graphicData uri="http://schemas.openxmlformats.org/drawingml/2006/table">
            <a:tbl>
              <a:tblPr firstRow="1">
                <a:tableStyleId>{5C22544A-7EE6-4342-B048-85BDC9FD1C3A}</a:tableStyleId>
              </a:tblPr>
              <a:tblGrid>
                <a:gridCol w="361950">
                  <a:extLst>
                    <a:ext uri="{9D8B030D-6E8A-4147-A177-3AD203B41FA5}">
                      <a16:colId xmlns:a16="http://schemas.microsoft.com/office/drawing/2014/main" val="3200314054"/>
                    </a:ext>
                  </a:extLst>
                </a:gridCol>
                <a:gridCol w="221124">
                  <a:extLst>
                    <a:ext uri="{9D8B030D-6E8A-4147-A177-3AD203B41FA5}">
                      <a16:colId xmlns:a16="http://schemas.microsoft.com/office/drawing/2014/main" val="1913271583"/>
                    </a:ext>
                  </a:extLst>
                </a:gridCol>
                <a:gridCol w="482477">
                  <a:extLst>
                    <a:ext uri="{9D8B030D-6E8A-4147-A177-3AD203B41FA5}">
                      <a16:colId xmlns:a16="http://schemas.microsoft.com/office/drawing/2014/main" val="1797281345"/>
                    </a:ext>
                  </a:extLst>
                </a:gridCol>
                <a:gridCol w="2171700">
                  <a:extLst>
                    <a:ext uri="{9D8B030D-6E8A-4147-A177-3AD203B41FA5}">
                      <a16:colId xmlns:a16="http://schemas.microsoft.com/office/drawing/2014/main" val="2743739350"/>
                    </a:ext>
                  </a:extLst>
                </a:gridCol>
                <a:gridCol w="258417">
                  <a:extLst>
                    <a:ext uri="{9D8B030D-6E8A-4147-A177-3AD203B41FA5}">
                      <a16:colId xmlns:a16="http://schemas.microsoft.com/office/drawing/2014/main" val="2056723756"/>
                    </a:ext>
                  </a:extLst>
                </a:gridCol>
                <a:gridCol w="422547">
                  <a:extLst>
                    <a:ext uri="{9D8B030D-6E8A-4147-A177-3AD203B41FA5}">
                      <a16:colId xmlns:a16="http://schemas.microsoft.com/office/drawing/2014/main" val="4073315665"/>
                    </a:ext>
                  </a:extLst>
                </a:gridCol>
                <a:gridCol w="285750">
                  <a:extLst>
                    <a:ext uri="{9D8B030D-6E8A-4147-A177-3AD203B41FA5}">
                      <a16:colId xmlns:a16="http://schemas.microsoft.com/office/drawing/2014/main" val="3068119212"/>
                    </a:ext>
                  </a:extLst>
                </a:gridCol>
                <a:gridCol w="304800">
                  <a:extLst>
                    <a:ext uri="{9D8B030D-6E8A-4147-A177-3AD203B41FA5}">
                      <a16:colId xmlns:a16="http://schemas.microsoft.com/office/drawing/2014/main" val="3765595061"/>
                    </a:ext>
                  </a:extLst>
                </a:gridCol>
                <a:gridCol w="273786">
                  <a:extLst>
                    <a:ext uri="{9D8B030D-6E8A-4147-A177-3AD203B41FA5}">
                      <a16:colId xmlns:a16="http://schemas.microsoft.com/office/drawing/2014/main" val="4016582823"/>
                    </a:ext>
                  </a:extLst>
                </a:gridCol>
                <a:gridCol w="394436">
                  <a:extLst>
                    <a:ext uri="{9D8B030D-6E8A-4147-A177-3AD203B41FA5}">
                      <a16:colId xmlns:a16="http://schemas.microsoft.com/office/drawing/2014/main" val="1452004342"/>
                    </a:ext>
                  </a:extLst>
                </a:gridCol>
                <a:gridCol w="614553">
                  <a:extLst>
                    <a:ext uri="{9D8B030D-6E8A-4147-A177-3AD203B41FA5}">
                      <a16:colId xmlns:a16="http://schemas.microsoft.com/office/drawing/2014/main" val="848560102"/>
                    </a:ext>
                  </a:extLst>
                </a:gridCol>
              </a:tblGrid>
              <a:tr h="108565">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Mid Term Rewrite- upfront service interest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08565">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rewrite active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29102">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graphicFrame>
        <p:nvGraphicFramePr>
          <p:cNvPr id="18" name="Table 94">
            <a:extLst>
              <a:ext uri="{FF2B5EF4-FFF2-40B4-BE49-F238E27FC236}">
                <a16:creationId xmlns:a16="http://schemas.microsoft.com/office/drawing/2014/main" id="{AFBD3911-370F-CB57-434D-95D5F98AD5F2}"/>
              </a:ext>
            </a:extLst>
          </p:cNvPr>
          <p:cNvGraphicFramePr>
            <a:graphicFrameLocks noGrp="1"/>
          </p:cNvGraphicFramePr>
          <p:nvPr>
            <p:extLst>
              <p:ext uri="{D42A27DB-BD31-4B8C-83A1-F6EECF244321}">
                <p14:modId xmlns:p14="http://schemas.microsoft.com/office/powerpoint/2010/main" val="2585186868"/>
              </p:ext>
            </p:extLst>
          </p:nvPr>
        </p:nvGraphicFramePr>
        <p:xfrm>
          <a:off x="246183" y="3764614"/>
          <a:ext cx="5628286" cy="1326751"/>
        </p:xfrm>
        <a:graphic>
          <a:graphicData uri="http://schemas.openxmlformats.org/drawingml/2006/table">
            <a:tbl>
              <a:tblPr firstRow="1">
                <a:tableStyleId>{5C22544A-7EE6-4342-B048-85BDC9FD1C3A}</a:tableStyleId>
              </a:tblPr>
              <a:tblGrid>
                <a:gridCol w="428369">
                  <a:extLst>
                    <a:ext uri="{9D8B030D-6E8A-4147-A177-3AD203B41FA5}">
                      <a16:colId xmlns:a16="http://schemas.microsoft.com/office/drawing/2014/main" val="3200314054"/>
                    </a:ext>
                  </a:extLst>
                </a:gridCol>
                <a:gridCol w="308592">
                  <a:extLst>
                    <a:ext uri="{9D8B030D-6E8A-4147-A177-3AD203B41FA5}">
                      <a16:colId xmlns:a16="http://schemas.microsoft.com/office/drawing/2014/main" val="1913271583"/>
                    </a:ext>
                  </a:extLst>
                </a:gridCol>
                <a:gridCol w="673325">
                  <a:extLst>
                    <a:ext uri="{9D8B030D-6E8A-4147-A177-3AD203B41FA5}">
                      <a16:colId xmlns:a16="http://schemas.microsoft.com/office/drawing/2014/main" val="1797281345"/>
                    </a:ext>
                  </a:extLst>
                </a:gridCol>
                <a:gridCol w="2284750">
                  <a:extLst>
                    <a:ext uri="{9D8B030D-6E8A-4147-A177-3AD203B41FA5}">
                      <a16:colId xmlns:a16="http://schemas.microsoft.com/office/drawing/2014/main" val="2743739350"/>
                    </a:ext>
                  </a:extLst>
                </a:gridCol>
                <a:gridCol w="703000">
                  <a:extLst>
                    <a:ext uri="{9D8B030D-6E8A-4147-A177-3AD203B41FA5}">
                      <a16:colId xmlns:a16="http://schemas.microsoft.com/office/drawing/2014/main" val="2056723756"/>
                    </a:ext>
                  </a:extLst>
                </a:gridCol>
                <a:gridCol w="703000">
                  <a:extLst>
                    <a:ext uri="{9D8B030D-6E8A-4147-A177-3AD203B41FA5}">
                      <a16:colId xmlns:a16="http://schemas.microsoft.com/office/drawing/2014/main" val="4073315665"/>
                    </a:ext>
                  </a:extLst>
                </a:gridCol>
                <a:gridCol w="527250">
                  <a:extLst>
                    <a:ext uri="{9D8B030D-6E8A-4147-A177-3AD203B41FA5}">
                      <a16:colId xmlns:a16="http://schemas.microsoft.com/office/drawing/2014/main" val="848560102"/>
                    </a:ext>
                  </a:extLst>
                </a:gridCol>
              </a:tblGrid>
              <a:tr h="111340">
                <a:tc rowSpan="8">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Monthly Invoice issued to customer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21344">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08428">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22584">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1130103</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851737725"/>
                  </a:ext>
                </a:extLst>
              </a:tr>
              <a:tr h="119007">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5010450</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563725212"/>
                  </a:ext>
                </a:extLst>
              </a:tr>
              <a:tr h="214910">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5010401</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Services Revenue – Non</a:t>
                      </a:r>
                      <a:r>
                        <a:rPr lang="en-US" altLang="zh-CN" sz="900" b="0" i="0" u="none" strike="noStrike" kern="1200">
                          <a:solidFill>
                            <a:srgbClr val="000000"/>
                          </a:solidFill>
                          <a:effectLst/>
                          <a:latin typeface="Arial" panose="020B0604020202020204" pitchFamily="34" charset="0"/>
                          <a:ea typeface="+mn-ea"/>
                          <a:cs typeface="+mn-cs"/>
                        </a:rPr>
                        <a:t>-</a:t>
                      </a:r>
                      <a:r>
                        <a:rPr lang="en-US" sz="900" b="0" i="0" u="none" strike="noStrike" kern="1200">
                          <a:solidFill>
                            <a:srgbClr val="000000"/>
                          </a:solidFill>
                          <a:effectLst/>
                          <a:latin typeface="Arial" panose="020B0604020202020204" pitchFamily="34" charset="0"/>
                          <a:ea typeface="+mn-ea"/>
                          <a:cs typeface="+mn-cs"/>
                        </a:rPr>
                        <a:t>Funded Premier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475736748"/>
                  </a:ext>
                </a:extLst>
              </a:tr>
              <a:tr h="122438">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1.5</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834946976"/>
                  </a:ext>
                </a:extLst>
              </a:tr>
              <a:tr h="122438">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2450522"/>
                  </a:ext>
                </a:extLst>
              </a:tr>
            </a:tbl>
          </a:graphicData>
        </a:graphic>
      </p:graphicFrame>
      <p:grpSp>
        <p:nvGrpSpPr>
          <p:cNvPr id="19" name="Group 18">
            <a:extLst>
              <a:ext uri="{FF2B5EF4-FFF2-40B4-BE49-F238E27FC236}">
                <a16:creationId xmlns:a16="http://schemas.microsoft.com/office/drawing/2014/main" id="{A61B2521-CEC9-6B8A-6CCD-2F8F909CFD58}"/>
              </a:ext>
            </a:extLst>
          </p:cNvPr>
          <p:cNvGrpSpPr/>
          <p:nvPr/>
        </p:nvGrpSpPr>
        <p:grpSpPr>
          <a:xfrm>
            <a:off x="11159606" y="35712"/>
            <a:ext cx="1032394" cy="698500"/>
            <a:chOff x="11159606" y="0"/>
            <a:chExt cx="1032394" cy="734212"/>
          </a:xfrm>
        </p:grpSpPr>
        <p:sp>
          <p:nvSpPr>
            <p:cNvPr id="20" name="Rectangle: Rounded Corners 19">
              <a:extLst>
                <a:ext uri="{FF2B5EF4-FFF2-40B4-BE49-F238E27FC236}">
                  <a16:creationId xmlns:a16="http://schemas.microsoft.com/office/drawing/2014/main" id="{9BF09103-AB8C-1D8F-B172-2B7A93BBC67E}"/>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BRIM</a:t>
              </a:r>
            </a:p>
          </p:txBody>
        </p:sp>
        <p:sp>
          <p:nvSpPr>
            <p:cNvPr id="21" name="Rectangle: Rounded Corners 20">
              <a:extLst>
                <a:ext uri="{FF2B5EF4-FFF2-40B4-BE49-F238E27FC236}">
                  <a16:creationId xmlns:a16="http://schemas.microsoft.com/office/drawing/2014/main" id="{DD1077D5-C9D0-AE85-61D3-AB5BD2432D46}"/>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ECC</a:t>
              </a:r>
            </a:p>
          </p:txBody>
        </p:sp>
        <p:sp>
          <p:nvSpPr>
            <p:cNvPr id="22" name="Rectangle: Rounded Corners 21">
              <a:extLst>
                <a:ext uri="{FF2B5EF4-FFF2-40B4-BE49-F238E27FC236}">
                  <a16:creationId xmlns:a16="http://schemas.microsoft.com/office/drawing/2014/main" id="{4DB9C829-6E2B-5408-CF5F-055AAFF4C0D5}"/>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Odessa</a:t>
              </a:r>
            </a:p>
          </p:txBody>
        </p:sp>
      </p:grpSp>
      <p:graphicFrame>
        <p:nvGraphicFramePr>
          <p:cNvPr id="5" name="Table 94">
            <a:extLst>
              <a:ext uri="{FF2B5EF4-FFF2-40B4-BE49-F238E27FC236}">
                <a16:creationId xmlns:a16="http://schemas.microsoft.com/office/drawing/2014/main" id="{B3754308-3847-FC82-D486-4A07C12052E9}"/>
              </a:ext>
            </a:extLst>
          </p:cNvPr>
          <p:cNvGraphicFramePr>
            <a:graphicFrameLocks noGrp="1"/>
          </p:cNvGraphicFramePr>
          <p:nvPr>
            <p:extLst>
              <p:ext uri="{D42A27DB-BD31-4B8C-83A1-F6EECF244321}">
                <p14:modId xmlns:p14="http://schemas.microsoft.com/office/powerpoint/2010/main" val="2517495465"/>
              </p:ext>
            </p:extLst>
          </p:nvPr>
        </p:nvGraphicFramePr>
        <p:xfrm>
          <a:off x="239282" y="2909905"/>
          <a:ext cx="5643545" cy="828843"/>
        </p:xfrm>
        <a:graphic>
          <a:graphicData uri="http://schemas.openxmlformats.org/drawingml/2006/table">
            <a:tbl>
              <a:tblPr firstRow="1">
                <a:tableStyleId>{5C22544A-7EE6-4342-B048-85BDC9FD1C3A}</a:tableStyleId>
              </a:tblPr>
              <a:tblGrid>
                <a:gridCol w="455613">
                  <a:extLst>
                    <a:ext uri="{9D8B030D-6E8A-4147-A177-3AD203B41FA5}">
                      <a16:colId xmlns:a16="http://schemas.microsoft.com/office/drawing/2014/main" val="3200314054"/>
                    </a:ext>
                  </a:extLst>
                </a:gridCol>
                <a:gridCol w="314031">
                  <a:extLst>
                    <a:ext uri="{9D8B030D-6E8A-4147-A177-3AD203B41FA5}">
                      <a16:colId xmlns:a16="http://schemas.microsoft.com/office/drawing/2014/main" val="1913271583"/>
                    </a:ext>
                  </a:extLst>
                </a:gridCol>
                <a:gridCol w="685192">
                  <a:extLst>
                    <a:ext uri="{9D8B030D-6E8A-4147-A177-3AD203B41FA5}">
                      <a16:colId xmlns:a16="http://schemas.microsoft.com/office/drawing/2014/main" val="1797281345"/>
                    </a:ext>
                  </a:extLst>
                </a:gridCol>
                <a:gridCol w="2348871">
                  <a:extLst>
                    <a:ext uri="{9D8B030D-6E8A-4147-A177-3AD203B41FA5}">
                      <a16:colId xmlns:a16="http://schemas.microsoft.com/office/drawing/2014/main" val="2743739350"/>
                    </a:ext>
                  </a:extLst>
                </a:gridCol>
                <a:gridCol w="366992">
                  <a:extLst>
                    <a:ext uri="{9D8B030D-6E8A-4147-A177-3AD203B41FA5}">
                      <a16:colId xmlns:a16="http://schemas.microsoft.com/office/drawing/2014/main" val="2056723756"/>
                    </a:ext>
                  </a:extLst>
                </a:gridCol>
                <a:gridCol w="600084">
                  <a:extLst>
                    <a:ext uri="{9D8B030D-6E8A-4147-A177-3AD203B41FA5}">
                      <a16:colId xmlns:a16="http://schemas.microsoft.com/office/drawing/2014/main" val="4073315665"/>
                    </a:ext>
                  </a:extLst>
                </a:gridCol>
                <a:gridCol w="872762">
                  <a:extLst>
                    <a:ext uri="{9D8B030D-6E8A-4147-A177-3AD203B41FA5}">
                      <a16:colId xmlns:a16="http://schemas.microsoft.com/office/drawing/2014/main" val="848560102"/>
                    </a:ext>
                  </a:extLst>
                </a:gridCol>
              </a:tblGrid>
              <a:tr h="194470">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Recognize Funded Service interest income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Lease commencement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48373">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12</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12</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424055017"/>
                  </a:ext>
                </a:extLst>
              </a:tr>
              <a:tr h="162000">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12</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12</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928750259"/>
                  </a:ext>
                </a:extLst>
              </a:tr>
            </a:tbl>
          </a:graphicData>
        </a:graphic>
      </p:graphicFrame>
      <p:graphicFrame>
        <p:nvGraphicFramePr>
          <p:cNvPr id="4" name="Table 2">
            <a:extLst>
              <a:ext uri="{FF2B5EF4-FFF2-40B4-BE49-F238E27FC236}">
                <a16:creationId xmlns:a16="http://schemas.microsoft.com/office/drawing/2014/main" id="{CCB711D3-6312-6F75-2DE5-BBCF24C42368}"/>
              </a:ext>
            </a:extLst>
          </p:cNvPr>
          <p:cNvGraphicFramePr>
            <a:graphicFrameLocks noGrp="1"/>
          </p:cNvGraphicFramePr>
          <p:nvPr>
            <p:extLst>
              <p:ext uri="{D42A27DB-BD31-4B8C-83A1-F6EECF244321}">
                <p14:modId xmlns:p14="http://schemas.microsoft.com/office/powerpoint/2010/main" val="3539780797"/>
              </p:ext>
            </p:extLst>
          </p:nvPr>
        </p:nvGraphicFramePr>
        <p:xfrm>
          <a:off x="246183" y="5149586"/>
          <a:ext cx="5643543" cy="739460"/>
        </p:xfrm>
        <a:graphic>
          <a:graphicData uri="http://schemas.openxmlformats.org/drawingml/2006/table">
            <a:tbl>
              <a:tblPr firstRow="1">
                <a:tableStyleId>{5C22544A-7EE6-4342-B048-85BDC9FD1C3A}</a:tableStyleId>
              </a:tblPr>
              <a:tblGrid>
                <a:gridCol w="428900">
                  <a:extLst>
                    <a:ext uri="{9D8B030D-6E8A-4147-A177-3AD203B41FA5}">
                      <a16:colId xmlns:a16="http://schemas.microsoft.com/office/drawing/2014/main" val="3200314054"/>
                    </a:ext>
                  </a:extLst>
                </a:gridCol>
                <a:gridCol w="188910">
                  <a:extLst>
                    <a:ext uri="{9D8B030D-6E8A-4147-A177-3AD203B41FA5}">
                      <a16:colId xmlns:a16="http://schemas.microsoft.com/office/drawing/2014/main" val="1913271583"/>
                    </a:ext>
                  </a:extLst>
                </a:gridCol>
                <a:gridCol w="667178">
                  <a:extLst>
                    <a:ext uri="{9D8B030D-6E8A-4147-A177-3AD203B41FA5}">
                      <a16:colId xmlns:a16="http://schemas.microsoft.com/office/drawing/2014/main" val="1797281345"/>
                    </a:ext>
                  </a:extLst>
                </a:gridCol>
                <a:gridCol w="2130848">
                  <a:extLst>
                    <a:ext uri="{9D8B030D-6E8A-4147-A177-3AD203B41FA5}">
                      <a16:colId xmlns:a16="http://schemas.microsoft.com/office/drawing/2014/main" val="2743739350"/>
                    </a:ext>
                  </a:extLst>
                </a:gridCol>
                <a:gridCol w="639003">
                  <a:extLst>
                    <a:ext uri="{9D8B030D-6E8A-4147-A177-3AD203B41FA5}">
                      <a16:colId xmlns:a16="http://schemas.microsoft.com/office/drawing/2014/main" val="2056723756"/>
                    </a:ext>
                  </a:extLst>
                </a:gridCol>
                <a:gridCol w="711448">
                  <a:extLst>
                    <a:ext uri="{9D8B030D-6E8A-4147-A177-3AD203B41FA5}">
                      <a16:colId xmlns:a16="http://schemas.microsoft.com/office/drawing/2014/main" val="4073315665"/>
                    </a:ext>
                  </a:extLst>
                </a:gridCol>
                <a:gridCol w="877256">
                  <a:extLst>
                    <a:ext uri="{9D8B030D-6E8A-4147-A177-3AD203B41FA5}">
                      <a16:colId xmlns:a16="http://schemas.microsoft.com/office/drawing/2014/main" val="848560102"/>
                    </a:ext>
                  </a:extLst>
                </a:gridCol>
              </a:tblGrid>
              <a:tr h="96327">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Factory service split​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96327">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M0, follow as-is FS split logic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96327">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98254">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9825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 – FS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911046863"/>
                  </a:ext>
                </a:extLst>
              </a:tr>
            </a:tbl>
          </a:graphicData>
        </a:graphic>
      </p:graphicFrame>
      <p:sp>
        <p:nvSpPr>
          <p:cNvPr id="13" name="标题 2">
            <a:extLst>
              <a:ext uri="{FF2B5EF4-FFF2-40B4-BE49-F238E27FC236}">
                <a16:creationId xmlns:a16="http://schemas.microsoft.com/office/drawing/2014/main" id="{24DDC23B-0ADB-1857-B1FC-ACB59301DA08}"/>
              </a:ext>
            </a:extLst>
          </p:cNvPr>
          <p:cNvSpPr>
            <a:spLocks noGrp="1"/>
          </p:cNvSpPr>
          <p:nvPr>
            <p:ph type="title"/>
          </p:nvPr>
        </p:nvSpPr>
        <p:spPr>
          <a:xfrm>
            <a:off x="246183" y="-92811"/>
            <a:ext cx="11188700" cy="698500"/>
          </a:xfrm>
        </p:spPr>
        <p:txBody>
          <a:bodyPr>
            <a:normAutofit/>
          </a:bodyPr>
          <a:lstStyle/>
          <a:p>
            <a:pPr algn="ctr"/>
            <a:r>
              <a:rPr lang="en-US" altLang="zh-CN" sz="3200">
                <a:latin typeface="Arial" panose="020B0604020202020204" pitchFamily="34" charset="0"/>
                <a:cs typeface="Arial" panose="020B0604020202020204" pitchFamily="34" charset="0"/>
              </a:rPr>
              <a:t>S&amp;D: Operating Lease ————</a:t>
            </a:r>
            <a:r>
              <a:rPr lang="zh-CN" altLang="en-US" sz="3200">
                <a:latin typeface="Arial" panose="020B0604020202020204" pitchFamily="34" charset="0"/>
                <a:cs typeface="Arial" panose="020B0604020202020204" pitchFamily="34" charset="0"/>
              </a:rPr>
              <a:t> </a:t>
            </a:r>
            <a:r>
              <a:rPr lang="en-US" altLang="zh-CN" sz="3200">
                <a:latin typeface="Arial" panose="020B0604020202020204" pitchFamily="34" charset="0"/>
                <a:cs typeface="Arial" panose="020B0604020202020204" pitchFamily="34" charset="0"/>
              </a:rPr>
              <a:t>Operating Lease </a:t>
            </a:r>
            <a:endParaRPr lang="zh-CN" altLang="en-US" sz="3200">
              <a:latin typeface="Arial" panose="020B0604020202020204" pitchFamily="34" charset="0"/>
              <a:cs typeface="Arial" panose="020B0604020202020204" pitchFamily="34" charset="0"/>
            </a:endParaRPr>
          </a:p>
        </p:txBody>
      </p:sp>
      <p:graphicFrame>
        <p:nvGraphicFramePr>
          <p:cNvPr id="23" name="Table 94">
            <a:extLst>
              <a:ext uri="{FF2B5EF4-FFF2-40B4-BE49-F238E27FC236}">
                <a16:creationId xmlns:a16="http://schemas.microsoft.com/office/drawing/2014/main" id="{4F2C7733-D561-4418-6D55-B83633BD8D68}"/>
              </a:ext>
            </a:extLst>
          </p:cNvPr>
          <p:cNvGraphicFramePr>
            <a:graphicFrameLocks noGrp="1"/>
          </p:cNvGraphicFramePr>
          <p:nvPr>
            <p:extLst>
              <p:ext uri="{D42A27DB-BD31-4B8C-83A1-F6EECF244321}">
                <p14:modId xmlns:p14="http://schemas.microsoft.com/office/powerpoint/2010/main" val="2633416985"/>
              </p:ext>
            </p:extLst>
          </p:nvPr>
        </p:nvGraphicFramePr>
        <p:xfrm>
          <a:off x="6099678" y="2398987"/>
          <a:ext cx="5823166" cy="1590961"/>
        </p:xfrm>
        <a:graphic>
          <a:graphicData uri="http://schemas.openxmlformats.org/drawingml/2006/table">
            <a:tbl>
              <a:tblPr firstRow="1">
                <a:tableStyleId>{5C22544A-7EE6-4342-B048-85BDC9FD1C3A}</a:tableStyleId>
              </a:tblPr>
              <a:tblGrid>
                <a:gridCol w="361950">
                  <a:extLst>
                    <a:ext uri="{9D8B030D-6E8A-4147-A177-3AD203B41FA5}">
                      <a16:colId xmlns:a16="http://schemas.microsoft.com/office/drawing/2014/main" val="3200314054"/>
                    </a:ext>
                  </a:extLst>
                </a:gridCol>
                <a:gridCol w="206111">
                  <a:extLst>
                    <a:ext uri="{9D8B030D-6E8A-4147-A177-3AD203B41FA5}">
                      <a16:colId xmlns:a16="http://schemas.microsoft.com/office/drawing/2014/main" val="1913271583"/>
                    </a:ext>
                  </a:extLst>
                </a:gridCol>
                <a:gridCol w="488950">
                  <a:extLst>
                    <a:ext uri="{9D8B030D-6E8A-4147-A177-3AD203B41FA5}">
                      <a16:colId xmlns:a16="http://schemas.microsoft.com/office/drawing/2014/main" val="1797281345"/>
                    </a:ext>
                  </a:extLst>
                </a:gridCol>
                <a:gridCol w="2184400">
                  <a:extLst>
                    <a:ext uri="{9D8B030D-6E8A-4147-A177-3AD203B41FA5}">
                      <a16:colId xmlns:a16="http://schemas.microsoft.com/office/drawing/2014/main" val="2743739350"/>
                    </a:ext>
                  </a:extLst>
                </a:gridCol>
                <a:gridCol w="469539">
                  <a:extLst>
                    <a:ext uri="{9D8B030D-6E8A-4147-A177-3AD203B41FA5}">
                      <a16:colId xmlns:a16="http://schemas.microsoft.com/office/drawing/2014/main" val="2056723756"/>
                    </a:ext>
                  </a:extLst>
                </a:gridCol>
                <a:gridCol w="273050">
                  <a:extLst>
                    <a:ext uri="{9D8B030D-6E8A-4147-A177-3AD203B41FA5}">
                      <a16:colId xmlns:a16="http://schemas.microsoft.com/office/drawing/2014/main" val="4073315665"/>
                    </a:ext>
                  </a:extLst>
                </a:gridCol>
                <a:gridCol w="469539">
                  <a:extLst>
                    <a:ext uri="{9D8B030D-6E8A-4147-A177-3AD203B41FA5}">
                      <a16:colId xmlns:a16="http://schemas.microsoft.com/office/drawing/2014/main" val="3857675990"/>
                    </a:ext>
                  </a:extLst>
                </a:gridCol>
                <a:gridCol w="349250">
                  <a:extLst>
                    <a:ext uri="{9D8B030D-6E8A-4147-A177-3AD203B41FA5}">
                      <a16:colId xmlns:a16="http://schemas.microsoft.com/office/drawing/2014/main" val="2793440723"/>
                    </a:ext>
                  </a:extLst>
                </a:gridCol>
                <a:gridCol w="273786">
                  <a:extLst>
                    <a:ext uri="{9D8B030D-6E8A-4147-A177-3AD203B41FA5}">
                      <a16:colId xmlns:a16="http://schemas.microsoft.com/office/drawing/2014/main" val="470285673"/>
                    </a:ext>
                  </a:extLst>
                </a:gridCol>
                <a:gridCol w="394436">
                  <a:extLst>
                    <a:ext uri="{9D8B030D-6E8A-4147-A177-3AD203B41FA5}">
                      <a16:colId xmlns:a16="http://schemas.microsoft.com/office/drawing/2014/main" val="1503885104"/>
                    </a:ext>
                  </a:extLst>
                </a:gridCol>
                <a:gridCol w="352155">
                  <a:extLst>
                    <a:ext uri="{9D8B030D-6E8A-4147-A177-3AD203B41FA5}">
                      <a16:colId xmlns:a16="http://schemas.microsoft.com/office/drawing/2014/main" val="848560102"/>
                    </a:ext>
                  </a:extLst>
                </a:gridCol>
              </a:tblGrid>
              <a:tr h="150560">
                <a:tc rowSpan="8">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Monthly Invoice issued to customer –new contract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4088">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Billing (from 37th month)</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300991">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1130103</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2851737725"/>
                  </a:ext>
                </a:extLst>
              </a:tr>
              <a:tr h="16092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5010450</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HW</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20/X1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563725212"/>
                  </a:ext>
                </a:extLst>
              </a:tr>
              <a:tr h="290613">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5010401</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Services Revenue – Non</a:t>
                      </a:r>
                      <a:r>
                        <a:rPr lang="en-US" altLang="zh-CN" sz="900" b="0" i="0" u="none" strike="noStrike" kern="1200">
                          <a:solidFill>
                            <a:srgbClr val="000000"/>
                          </a:solidFill>
                          <a:effectLst/>
                          <a:latin typeface="Arial" panose="020B0604020202020204" pitchFamily="34" charset="0"/>
                          <a:ea typeface="+mn-ea"/>
                          <a:cs typeface="+mn-cs"/>
                        </a:rPr>
                        <a:t>-</a:t>
                      </a:r>
                      <a:r>
                        <a:rPr lang="en-US" sz="900" b="0" i="0" u="none" strike="noStrike" kern="1200">
                          <a:solidFill>
                            <a:srgbClr val="000000"/>
                          </a:solidFill>
                          <a:effectLst/>
                          <a:latin typeface="Arial" panose="020B0604020202020204" pitchFamily="34" charset="0"/>
                          <a:ea typeface="+mn-ea"/>
                          <a:cs typeface="+mn-cs"/>
                        </a:rPr>
                        <a:t>Funded Premier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475736748"/>
                  </a:ext>
                </a:extLst>
              </a:tr>
              <a:tr h="165568">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834946976"/>
                  </a:ext>
                </a:extLst>
              </a:tr>
              <a:tr h="165568">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422450522"/>
                  </a:ext>
                </a:extLst>
              </a:tr>
            </a:tbl>
          </a:graphicData>
        </a:graphic>
      </p:graphicFrame>
      <p:graphicFrame>
        <p:nvGraphicFramePr>
          <p:cNvPr id="26" name="Table 94">
            <a:extLst>
              <a:ext uri="{FF2B5EF4-FFF2-40B4-BE49-F238E27FC236}">
                <a16:creationId xmlns:a16="http://schemas.microsoft.com/office/drawing/2014/main" id="{7F549851-205D-6182-FB85-59C787D6344F}"/>
              </a:ext>
            </a:extLst>
          </p:cNvPr>
          <p:cNvGraphicFramePr>
            <a:graphicFrameLocks noGrp="1"/>
          </p:cNvGraphicFramePr>
          <p:nvPr>
            <p:extLst>
              <p:ext uri="{D42A27DB-BD31-4B8C-83A1-F6EECF244321}">
                <p14:modId xmlns:p14="http://schemas.microsoft.com/office/powerpoint/2010/main" val="2553072030"/>
              </p:ext>
            </p:extLst>
          </p:nvPr>
        </p:nvGraphicFramePr>
        <p:xfrm>
          <a:off x="6096000" y="4141196"/>
          <a:ext cx="5927063" cy="993489"/>
        </p:xfrm>
        <a:graphic>
          <a:graphicData uri="http://schemas.openxmlformats.org/drawingml/2006/table">
            <a:tbl>
              <a:tblPr firstRow="1">
                <a:tableStyleId>{5C22544A-7EE6-4342-B048-85BDC9FD1C3A}</a:tableStyleId>
              </a:tblPr>
              <a:tblGrid>
                <a:gridCol w="393700">
                  <a:extLst>
                    <a:ext uri="{9D8B030D-6E8A-4147-A177-3AD203B41FA5}">
                      <a16:colId xmlns:a16="http://schemas.microsoft.com/office/drawing/2014/main" val="3200314054"/>
                    </a:ext>
                  </a:extLst>
                </a:gridCol>
                <a:gridCol w="222483">
                  <a:extLst>
                    <a:ext uri="{9D8B030D-6E8A-4147-A177-3AD203B41FA5}">
                      <a16:colId xmlns:a16="http://schemas.microsoft.com/office/drawing/2014/main" val="1913271583"/>
                    </a:ext>
                  </a:extLst>
                </a:gridCol>
                <a:gridCol w="659130">
                  <a:extLst>
                    <a:ext uri="{9D8B030D-6E8A-4147-A177-3AD203B41FA5}">
                      <a16:colId xmlns:a16="http://schemas.microsoft.com/office/drawing/2014/main" val="1797281345"/>
                    </a:ext>
                  </a:extLst>
                </a:gridCol>
                <a:gridCol w="2062480">
                  <a:extLst>
                    <a:ext uri="{9D8B030D-6E8A-4147-A177-3AD203B41FA5}">
                      <a16:colId xmlns:a16="http://schemas.microsoft.com/office/drawing/2014/main" val="2743739350"/>
                    </a:ext>
                  </a:extLst>
                </a:gridCol>
                <a:gridCol w="401870">
                  <a:extLst>
                    <a:ext uri="{9D8B030D-6E8A-4147-A177-3AD203B41FA5}">
                      <a16:colId xmlns:a16="http://schemas.microsoft.com/office/drawing/2014/main" val="2056723756"/>
                    </a:ext>
                  </a:extLst>
                </a:gridCol>
                <a:gridCol w="273050">
                  <a:extLst>
                    <a:ext uri="{9D8B030D-6E8A-4147-A177-3AD203B41FA5}">
                      <a16:colId xmlns:a16="http://schemas.microsoft.com/office/drawing/2014/main" val="4073315665"/>
                    </a:ext>
                  </a:extLst>
                </a:gridCol>
                <a:gridCol w="278548">
                  <a:extLst>
                    <a:ext uri="{9D8B030D-6E8A-4147-A177-3AD203B41FA5}">
                      <a16:colId xmlns:a16="http://schemas.microsoft.com/office/drawing/2014/main" val="202379201"/>
                    </a:ext>
                  </a:extLst>
                </a:gridCol>
                <a:gridCol w="349250">
                  <a:extLst>
                    <a:ext uri="{9D8B030D-6E8A-4147-A177-3AD203B41FA5}">
                      <a16:colId xmlns:a16="http://schemas.microsoft.com/office/drawing/2014/main" val="80591695"/>
                    </a:ext>
                  </a:extLst>
                </a:gridCol>
                <a:gridCol w="273786">
                  <a:extLst>
                    <a:ext uri="{9D8B030D-6E8A-4147-A177-3AD203B41FA5}">
                      <a16:colId xmlns:a16="http://schemas.microsoft.com/office/drawing/2014/main" val="95992620"/>
                    </a:ext>
                  </a:extLst>
                </a:gridCol>
                <a:gridCol w="394436">
                  <a:extLst>
                    <a:ext uri="{9D8B030D-6E8A-4147-A177-3AD203B41FA5}">
                      <a16:colId xmlns:a16="http://schemas.microsoft.com/office/drawing/2014/main" val="1403274746"/>
                    </a:ext>
                  </a:extLst>
                </a:gridCol>
                <a:gridCol w="618330">
                  <a:extLst>
                    <a:ext uri="{9D8B030D-6E8A-4147-A177-3AD203B41FA5}">
                      <a16:colId xmlns:a16="http://schemas.microsoft.com/office/drawing/2014/main" val="848560102"/>
                    </a:ext>
                  </a:extLst>
                </a:gridCol>
              </a:tblGrid>
              <a:tr h="194470">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Rewrite monthly depreciation – adjust depreciation amt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batch</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rtl="0" fontAlgn="base">
                        <a:lnSpc>
                          <a:spcPts val="1050"/>
                        </a:lnSpc>
                        <a:buNone/>
                      </a:pPr>
                      <a:r>
                        <a:rPr lang="en-US" sz="900" b="0" i="0" u="none" strike="noStrike" spc="0">
                          <a:solidFill>
                            <a:srgbClr val="000000"/>
                          </a:solidFill>
                          <a:effectLst/>
                          <a:latin typeface="Arial" panose="020B0604020202020204" pitchFamily="34" charset="0"/>
                        </a:rPr>
                        <a:t>4060110</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a:solidFill>
                            <a:srgbClr val="000000"/>
                          </a:solidFill>
                          <a:effectLst/>
                          <a:latin typeface="Arial" panose="020B0604020202020204" pitchFamily="34" charset="0"/>
                        </a:rPr>
                        <a:t>Depreciation Expense (COS Impact)</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11.3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HW</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20/X1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162000">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rtl="0" fontAlgn="base">
                        <a:lnSpc>
                          <a:spcPts val="1050"/>
                        </a:lnSpc>
                        <a:buNone/>
                      </a:pPr>
                      <a:r>
                        <a:rPr lang="en-US" sz="900" b="0" i="0" u="none" strike="noStrike" spc="0">
                          <a:solidFill>
                            <a:srgbClr val="000000"/>
                          </a:solidFill>
                          <a:effectLst/>
                          <a:latin typeface="Arial" panose="020B0604020202020204" pitchFamily="34" charset="0"/>
                        </a:rPr>
                        <a:t>1651550</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a:solidFill>
                            <a:srgbClr val="000000"/>
                          </a:solidFill>
                          <a:effectLst/>
                          <a:latin typeface="Arial" panose="020B0604020202020204" pitchFamily="34" charset="0"/>
                        </a:rPr>
                        <a:t>Accumulated Depreciation</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11.3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chemeClr val="tx1"/>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chemeClr val="tx1"/>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chemeClr val="tx1"/>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chemeClr val="tx1"/>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sp>
        <p:nvSpPr>
          <p:cNvPr id="28" name="对话气泡: 矩形 27">
            <a:extLst>
              <a:ext uri="{FF2B5EF4-FFF2-40B4-BE49-F238E27FC236}">
                <a16:creationId xmlns:a16="http://schemas.microsoft.com/office/drawing/2014/main" id="{76EC7089-42FC-02AB-7A0F-437C2A165ED5}"/>
              </a:ext>
            </a:extLst>
          </p:cNvPr>
          <p:cNvSpPr/>
          <p:nvPr/>
        </p:nvSpPr>
        <p:spPr>
          <a:xfrm>
            <a:off x="12499193" y="630523"/>
            <a:ext cx="1359509" cy="2188091"/>
          </a:xfrm>
          <a:prstGeom prst="wedgeRectCallout">
            <a:avLst>
              <a:gd name="adj1" fmla="val -92355"/>
              <a:gd name="adj2" fmla="val -1002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It is assumed that after the lease term is extended, the monthly collection amount of upfront Service will decrease accordingly. But the total amount increased,</a:t>
            </a:r>
            <a:r>
              <a:rPr lang="zh-CN" altLang="en-US" sz="1100" b="1">
                <a:solidFill>
                  <a:srgbClr val="000000"/>
                </a:solidFill>
                <a:latin typeface="Arial" panose="020B0604020202020204" pitchFamily="34" charset="0"/>
                <a:ea typeface="黑体" panose="02010609060101010101" pitchFamily="49" charset="-122"/>
                <a:cs typeface="Arial" panose="020B0604020202020204" pitchFamily="34" charset="0"/>
              </a:rPr>
              <a:t> </a:t>
            </a:r>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book</a:t>
            </a:r>
            <a:r>
              <a:rPr lang="zh-CN" altLang="en-US" sz="1100" b="1">
                <a:solidFill>
                  <a:srgbClr val="000000"/>
                </a:solidFill>
                <a:latin typeface="Arial" panose="020B0604020202020204" pitchFamily="34" charset="0"/>
                <a:ea typeface="黑体" panose="02010609060101010101" pitchFamily="49" charset="-122"/>
                <a:cs typeface="Arial" panose="020B0604020202020204" pitchFamily="34" charset="0"/>
              </a:rPr>
              <a:t> </a:t>
            </a:r>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diff as interest income</a:t>
            </a:r>
          </a:p>
        </p:txBody>
      </p:sp>
      <p:sp>
        <p:nvSpPr>
          <p:cNvPr id="6" name="文本框 5">
            <a:extLst>
              <a:ext uri="{FF2B5EF4-FFF2-40B4-BE49-F238E27FC236}">
                <a16:creationId xmlns:a16="http://schemas.microsoft.com/office/drawing/2014/main" id="{A7739871-6E1C-B1A8-90F5-D4F8C6A7E861}"/>
              </a:ext>
            </a:extLst>
          </p:cNvPr>
          <p:cNvSpPr txBox="1"/>
          <p:nvPr/>
        </p:nvSpPr>
        <p:spPr>
          <a:xfrm>
            <a:off x="5760060" y="-23486"/>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sp>
        <p:nvSpPr>
          <p:cNvPr id="11" name="对话气泡: 矩形 10">
            <a:extLst>
              <a:ext uri="{FF2B5EF4-FFF2-40B4-BE49-F238E27FC236}">
                <a16:creationId xmlns:a16="http://schemas.microsoft.com/office/drawing/2014/main" id="{1A567E3E-1F76-A2F5-851B-58BD5CCC2046}"/>
              </a:ext>
            </a:extLst>
          </p:cNvPr>
          <p:cNvSpPr/>
          <p:nvPr/>
        </p:nvSpPr>
        <p:spPr>
          <a:xfrm>
            <a:off x="6096000" y="1850422"/>
            <a:ext cx="5693630" cy="451888"/>
          </a:xfrm>
          <a:prstGeom prst="wedgeRectCallout">
            <a:avLst>
              <a:gd name="adj1" fmla="val 10633"/>
              <a:gd name="adj2" fmla="val -8269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latin typeface="Arial" panose="020B0604020202020204" pitchFamily="34" charset="0"/>
                <a:cs typeface="Arial" panose="020B0604020202020204" pitchFamily="34" charset="0"/>
              </a:rPr>
              <a:t>Calculation logic: </a:t>
            </a:r>
          </a:p>
          <a:p>
            <a:r>
              <a:rPr lang="en-US" altLang="zh-CN" sz="1100">
                <a:solidFill>
                  <a:schemeClr val="tx1"/>
                </a:solidFill>
                <a:latin typeface="Arial" panose="020B0604020202020204" pitchFamily="34" charset="0"/>
                <a:cs typeface="Arial" panose="020B0604020202020204" pitchFamily="34" charset="0"/>
              </a:rPr>
              <a:t>=rewrite upfront amt *new lease term - original upfront amt*remaining months</a:t>
            </a:r>
            <a:endParaRPr lang="zh-CN" altLang="en-US" sz="1100">
              <a:solidFill>
                <a:schemeClr val="tx1"/>
              </a:solidFill>
              <a:latin typeface="Arial" panose="020B0604020202020204" pitchFamily="34" charset="0"/>
              <a:cs typeface="Arial" panose="020B0604020202020204" pitchFamily="34" charset="0"/>
            </a:endParaRPr>
          </a:p>
        </p:txBody>
      </p:sp>
      <p:sp>
        <p:nvSpPr>
          <p:cNvPr id="14" name="对话气泡: 矩形 13">
            <a:extLst>
              <a:ext uri="{FF2B5EF4-FFF2-40B4-BE49-F238E27FC236}">
                <a16:creationId xmlns:a16="http://schemas.microsoft.com/office/drawing/2014/main" id="{67561F05-2B7D-09F3-8E1E-D1AC18A73F7B}"/>
              </a:ext>
            </a:extLst>
          </p:cNvPr>
          <p:cNvSpPr/>
          <p:nvPr/>
        </p:nvSpPr>
        <p:spPr>
          <a:xfrm>
            <a:off x="6061082" y="5493484"/>
            <a:ext cx="5924551" cy="837682"/>
          </a:xfrm>
          <a:prstGeom prst="wedgeRectCallout">
            <a:avLst>
              <a:gd name="adj1" fmla="val 7475"/>
              <a:gd name="adj2" fmla="val -93482"/>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latin typeface="Arial" panose="020B0604020202020204" pitchFamily="34" charset="0"/>
                <a:cs typeface="Arial" panose="020B0604020202020204" pitchFamily="34" charset="0"/>
              </a:rPr>
              <a:t>Monthly Depreciation amt should also be decrease </a:t>
            </a:r>
          </a:p>
          <a:p>
            <a:r>
              <a:rPr lang="en-US" altLang="zh-CN" sz="1100">
                <a:solidFill>
                  <a:schemeClr val="tx1"/>
                </a:solidFill>
                <a:latin typeface="Arial" panose="020B0604020202020204" pitchFamily="34" charset="0"/>
                <a:cs typeface="Arial" panose="020B0604020202020204" pitchFamily="34" charset="0"/>
              </a:rPr>
              <a:t>Calculation logic: </a:t>
            </a:r>
          </a:p>
          <a:p>
            <a:pPr marL="228600" indent="-228600">
              <a:buFont typeface="+mj-ea"/>
              <a:buAutoNum type="circleNumDbPlain"/>
            </a:pPr>
            <a:r>
              <a:rPr lang="en-US" altLang="zh-CN" sz="1100">
                <a:solidFill>
                  <a:schemeClr val="tx1"/>
                </a:solidFill>
                <a:latin typeface="Arial" panose="020B0604020202020204" pitchFamily="34" charset="0"/>
                <a:cs typeface="Arial" panose="020B0604020202020204" pitchFamily="34" charset="0"/>
              </a:rPr>
              <a:t>Recalculate depreciation  cost = (manufacturing cost- depreciated amt)-revalued RV amt</a:t>
            </a:r>
          </a:p>
          <a:p>
            <a:pPr marL="228600" indent="-228600">
              <a:buFont typeface="+mj-ea"/>
              <a:buAutoNum type="circleNumDbPlain"/>
            </a:pPr>
            <a:r>
              <a:rPr lang="en-US" altLang="zh-CN" sz="1100">
                <a:solidFill>
                  <a:schemeClr val="tx1"/>
                </a:solidFill>
                <a:latin typeface="Arial" panose="020B0604020202020204" pitchFamily="34" charset="0"/>
                <a:cs typeface="Arial" panose="020B0604020202020204" pitchFamily="34" charset="0"/>
              </a:rPr>
              <a:t>Adjusted monthly depreciation amt=recalculated depreciation cost / remaining month</a:t>
            </a:r>
          </a:p>
        </p:txBody>
      </p:sp>
      <p:sp>
        <p:nvSpPr>
          <p:cNvPr id="17" name="对话气泡: 矩形 16">
            <a:extLst>
              <a:ext uri="{FF2B5EF4-FFF2-40B4-BE49-F238E27FC236}">
                <a16:creationId xmlns:a16="http://schemas.microsoft.com/office/drawing/2014/main" id="{97FA4646-2896-036F-7B43-6F507AC35705}"/>
              </a:ext>
            </a:extLst>
          </p:cNvPr>
          <p:cNvSpPr/>
          <p:nvPr/>
        </p:nvSpPr>
        <p:spPr>
          <a:xfrm>
            <a:off x="12499193" y="4578854"/>
            <a:ext cx="1197647" cy="1395416"/>
          </a:xfrm>
          <a:prstGeom prst="wedgeRectCallout">
            <a:avLst>
              <a:gd name="adj1" fmla="val -101463"/>
              <a:gd name="adj2" fmla="val -10353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Subsequent steps such as ARS revenue recognition are consistent with normal OL solution.</a:t>
            </a:r>
          </a:p>
        </p:txBody>
      </p:sp>
      <p:graphicFrame>
        <p:nvGraphicFramePr>
          <p:cNvPr id="32" name="Table 94">
            <a:extLst>
              <a:ext uri="{FF2B5EF4-FFF2-40B4-BE49-F238E27FC236}">
                <a16:creationId xmlns:a16="http://schemas.microsoft.com/office/drawing/2014/main" id="{7E4E35C6-6644-9555-7401-C53EC7E07947}"/>
              </a:ext>
            </a:extLst>
          </p:cNvPr>
          <p:cNvGraphicFramePr>
            <a:graphicFrameLocks noGrp="1"/>
          </p:cNvGraphicFramePr>
          <p:nvPr>
            <p:extLst>
              <p:ext uri="{D42A27DB-BD31-4B8C-83A1-F6EECF244321}">
                <p14:modId xmlns:p14="http://schemas.microsoft.com/office/powerpoint/2010/main" val="2896861451"/>
              </p:ext>
            </p:extLst>
          </p:nvPr>
        </p:nvGraphicFramePr>
        <p:xfrm>
          <a:off x="246183" y="5889046"/>
          <a:ext cx="5628287" cy="884240"/>
        </p:xfrm>
        <a:graphic>
          <a:graphicData uri="http://schemas.openxmlformats.org/drawingml/2006/table">
            <a:tbl>
              <a:tblPr firstRow="1">
                <a:tableStyleId>{5C22544A-7EE6-4342-B048-85BDC9FD1C3A}</a:tableStyleId>
              </a:tblPr>
              <a:tblGrid>
                <a:gridCol w="444346">
                  <a:extLst>
                    <a:ext uri="{9D8B030D-6E8A-4147-A177-3AD203B41FA5}">
                      <a16:colId xmlns:a16="http://schemas.microsoft.com/office/drawing/2014/main" val="3200314054"/>
                    </a:ext>
                  </a:extLst>
                </a:gridCol>
                <a:gridCol w="307634">
                  <a:extLst>
                    <a:ext uri="{9D8B030D-6E8A-4147-A177-3AD203B41FA5}">
                      <a16:colId xmlns:a16="http://schemas.microsoft.com/office/drawing/2014/main" val="1913271583"/>
                    </a:ext>
                  </a:extLst>
                </a:gridCol>
                <a:gridCol w="671233">
                  <a:extLst>
                    <a:ext uri="{9D8B030D-6E8A-4147-A177-3AD203B41FA5}">
                      <a16:colId xmlns:a16="http://schemas.microsoft.com/office/drawing/2014/main" val="1797281345"/>
                    </a:ext>
                  </a:extLst>
                </a:gridCol>
                <a:gridCol w="2206557">
                  <a:extLst>
                    <a:ext uri="{9D8B030D-6E8A-4147-A177-3AD203B41FA5}">
                      <a16:colId xmlns:a16="http://schemas.microsoft.com/office/drawing/2014/main" val="2743739350"/>
                    </a:ext>
                  </a:extLst>
                </a:gridCol>
                <a:gridCol w="555677">
                  <a:extLst>
                    <a:ext uri="{9D8B030D-6E8A-4147-A177-3AD203B41FA5}">
                      <a16:colId xmlns:a16="http://schemas.microsoft.com/office/drawing/2014/main" val="2056723756"/>
                    </a:ext>
                  </a:extLst>
                </a:gridCol>
                <a:gridCol w="587858">
                  <a:extLst>
                    <a:ext uri="{9D8B030D-6E8A-4147-A177-3AD203B41FA5}">
                      <a16:colId xmlns:a16="http://schemas.microsoft.com/office/drawing/2014/main" val="4073315665"/>
                    </a:ext>
                  </a:extLst>
                </a:gridCol>
                <a:gridCol w="854982">
                  <a:extLst>
                    <a:ext uri="{9D8B030D-6E8A-4147-A177-3AD203B41FA5}">
                      <a16:colId xmlns:a16="http://schemas.microsoft.com/office/drawing/2014/main" val="848560102"/>
                    </a:ext>
                  </a:extLst>
                </a:gridCol>
              </a:tblGrid>
              <a:tr h="0">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bg1"/>
                          </a:solidFill>
                          <a:effectLst/>
                          <a:latin typeface="Arial" panose="020B0604020202020204" pitchFamily="34" charset="0"/>
                          <a:ea typeface="+mn-ea"/>
                          <a:cs typeface="+mn-cs"/>
                        </a:rPr>
                        <a:t>Recording monthly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92571">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batch</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9257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26963">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rtl="0" fontAlgn="base">
                        <a:lnSpc>
                          <a:spcPts val="1050"/>
                        </a:lnSpc>
                        <a:buNone/>
                      </a:pPr>
                      <a:r>
                        <a:rPr lang="en-US" sz="900" b="0" i="0" u="none" strike="noStrike" spc="0">
                          <a:solidFill>
                            <a:srgbClr val="000000"/>
                          </a:solidFill>
                          <a:effectLst/>
                          <a:latin typeface="Arial" panose="020B0604020202020204" pitchFamily="34" charset="0"/>
                        </a:rPr>
                        <a:t>4060110</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a:solidFill>
                            <a:srgbClr val="000000"/>
                          </a:solidFill>
                          <a:effectLst/>
                          <a:latin typeface="Arial" panose="020B0604020202020204" pitchFamily="34" charset="0"/>
                        </a:rPr>
                        <a:t>Depreciation Expense (COS Impact)</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18.5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15.5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126963">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rtl="0" fontAlgn="base">
                        <a:lnSpc>
                          <a:spcPts val="1050"/>
                        </a:lnSpc>
                        <a:buNone/>
                      </a:pPr>
                      <a:r>
                        <a:rPr lang="en-US" sz="900" b="0" i="0" u="none" strike="noStrike" spc="0">
                          <a:solidFill>
                            <a:srgbClr val="000000"/>
                          </a:solidFill>
                          <a:effectLst/>
                          <a:latin typeface="Arial" panose="020B0604020202020204" pitchFamily="34" charset="0"/>
                        </a:rPr>
                        <a:t>1651550</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a:solidFill>
                            <a:srgbClr val="000000"/>
                          </a:solidFill>
                          <a:effectLst/>
                          <a:latin typeface="Arial" panose="020B0604020202020204" pitchFamily="34" charset="0"/>
                        </a:rPr>
                        <a:t>Accumulated Depreciation</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18.5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15.5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sp>
        <p:nvSpPr>
          <p:cNvPr id="34" name="对话气泡: 矩形 33">
            <a:extLst>
              <a:ext uri="{FF2B5EF4-FFF2-40B4-BE49-F238E27FC236}">
                <a16:creationId xmlns:a16="http://schemas.microsoft.com/office/drawing/2014/main" id="{C5510568-F092-56B7-3A88-128A7DBE3AE1}"/>
              </a:ext>
            </a:extLst>
          </p:cNvPr>
          <p:cNvSpPr/>
          <p:nvPr/>
        </p:nvSpPr>
        <p:spPr>
          <a:xfrm>
            <a:off x="-1047696" y="2227653"/>
            <a:ext cx="998795" cy="2351201"/>
          </a:xfrm>
          <a:prstGeom prst="wedgeRectCallout">
            <a:avLst>
              <a:gd name="adj1" fmla="val 68261"/>
              <a:gd name="adj2" fmla="val -7012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Entries by left hand was normal operating lease by S&amp;D, while right hand were entries after rewrite.</a:t>
            </a:r>
          </a:p>
        </p:txBody>
      </p:sp>
    </p:spTree>
    <p:extLst>
      <p:ext uri="{BB962C8B-B14F-4D97-AF65-F5344CB8AC3E}">
        <p14:creationId xmlns:p14="http://schemas.microsoft.com/office/powerpoint/2010/main" val="272370553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 name="Rectangle 220">
            <a:extLst>
              <a:ext uri="{FF2B5EF4-FFF2-40B4-BE49-F238E27FC236}">
                <a16:creationId xmlns:a16="http://schemas.microsoft.com/office/drawing/2014/main" id="{B7E6AAA0-959F-4708-9645-82BD45088244}"/>
              </a:ext>
            </a:extLst>
          </p:cNvPr>
          <p:cNvSpPr/>
          <p:nvPr/>
        </p:nvSpPr>
        <p:spPr>
          <a:xfrm>
            <a:off x="9703066" y="4606658"/>
            <a:ext cx="3936089" cy="2257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lang="en-US" altLang="zh-CN" sz="800" b="1"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p:txBody>
      </p:sp>
      <p:graphicFrame>
        <p:nvGraphicFramePr>
          <p:cNvPr id="93" name="Table 92">
            <a:extLst>
              <a:ext uri="{FF2B5EF4-FFF2-40B4-BE49-F238E27FC236}">
                <a16:creationId xmlns:a16="http://schemas.microsoft.com/office/drawing/2014/main" id="{2AECDE52-9DF6-4DF7-A738-98DEB0559DDD}"/>
              </a:ext>
            </a:extLst>
          </p:cNvPr>
          <p:cNvGraphicFramePr>
            <a:graphicFrameLocks noGrp="1"/>
          </p:cNvGraphicFramePr>
          <p:nvPr>
            <p:extLst>
              <p:ext uri="{D42A27DB-BD31-4B8C-83A1-F6EECF244321}">
                <p14:modId xmlns:p14="http://schemas.microsoft.com/office/powerpoint/2010/main" val="2381555813"/>
              </p:ext>
            </p:extLst>
          </p:nvPr>
        </p:nvGraphicFramePr>
        <p:xfrm>
          <a:off x="123969" y="774854"/>
          <a:ext cx="5600194" cy="800100"/>
        </p:xfrm>
        <a:graphic>
          <a:graphicData uri="http://schemas.openxmlformats.org/drawingml/2006/table">
            <a:tbl>
              <a:tblPr firstRow="1">
                <a:tableStyleId>{5C22544A-7EE6-4342-B048-85BDC9FD1C3A}</a:tableStyleId>
              </a:tblPr>
              <a:tblGrid>
                <a:gridCol w="659108">
                  <a:extLst>
                    <a:ext uri="{9D8B030D-6E8A-4147-A177-3AD203B41FA5}">
                      <a16:colId xmlns:a16="http://schemas.microsoft.com/office/drawing/2014/main" val="3200314054"/>
                    </a:ext>
                  </a:extLst>
                </a:gridCol>
                <a:gridCol w="299089">
                  <a:extLst>
                    <a:ext uri="{9D8B030D-6E8A-4147-A177-3AD203B41FA5}">
                      <a16:colId xmlns:a16="http://schemas.microsoft.com/office/drawing/2014/main" val="1913271583"/>
                    </a:ext>
                  </a:extLst>
                </a:gridCol>
                <a:gridCol w="652590">
                  <a:extLst>
                    <a:ext uri="{9D8B030D-6E8A-4147-A177-3AD203B41FA5}">
                      <a16:colId xmlns:a16="http://schemas.microsoft.com/office/drawing/2014/main" val="1797281345"/>
                    </a:ext>
                  </a:extLst>
                </a:gridCol>
                <a:gridCol w="1993969">
                  <a:extLst>
                    <a:ext uri="{9D8B030D-6E8A-4147-A177-3AD203B41FA5}">
                      <a16:colId xmlns:a16="http://schemas.microsoft.com/office/drawing/2014/main" val="2743739350"/>
                    </a:ext>
                  </a:extLst>
                </a:gridCol>
                <a:gridCol w="592671">
                  <a:extLst>
                    <a:ext uri="{9D8B030D-6E8A-4147-A177-3AD203B41FA5}">
                      <a16:colId xmlns:a16="http://schemas.microsoft.com/office/drawing/2014/main" val="2056723756"/>
                    </a:ext>
                  </a:extLst>
                </a:gridCol>
                <a:gridCol w="571532">
                  <a:extLst>
                    <a:ext uri="{9D8B030D-6E8A-4147-A177-3AD203B41FA5}">
                      <a16:colId xmlns:a16="http://schemas.microsoft.com/office/drawing/2014/main" val="4073315665"/>
                    </a:ext>
                  </a:extLst>
                </a:gridCol>
                <a:gridCol w="831235">
                  <a:extLst>
                    <a:ext uri="{9D8B030D-6E8A-4147-A177-3AD203B41FA5}">
                      <a16:colId xmlns:a16="http://schemas.microsoft.com/office/drawing/2014/main" val="848560102"/>
                    </a:ext>
                  </a:extLst>
                </a:gridCol>
              </a:tblGrid>
              <a:tr h="68455">
                <a:tc rowSpan="5">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Goods issued to Customer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5">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000000"/>
                          </a:solidFill>
                          <a:effectLst/>
                          <a:uLnTx/>
                          <a:uFillTx/>
                          <a:latin typeface="+mn-lt"/>
                          <a:ea typeface="+mn-ea"/>
                          <a:cs typeface="+mn-cs"/>
                        </a:rPr>
                        <a:t>Upon shipment from Hub Directly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8455">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G</a:t>
                      </a:r>
                      <a:r>
                        <a:rPr lang="en-US" altLang="zh-CN" sz="1000" b="0" i="0" u="none" strike="noStrike">
                          <a:solidFill>
                            <a:srgbClr val="000000"/>
                          </a:solidFill>
                          <a:effectLst/>
                          <a:latin typeface="+mn-lt"/>
                        </a:rPr>
                        <a:t>oods </a:t>
                      </a:r>
                      <a:r>
                        <a:rPr lang="en-US" sz="1000" b="0" i="0" u="none" strike="noStrike">
                          <a:solidFill>
                            <a:srgbClr val="000000"/>
                          </a:solidFill>
                          <a:effectLst/>
                          <a:latin typeface="+mn-lt"/>
                        </a:rPr>
                        <a:t>In Transit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bl>
          </a:graphicData>
        </a:graphic>
      </p:graphicFrame>
      <p:graphicFrame>
        <p:nvGraphicFramePr>
          <p:cNvPr id="94" name="Table 93">
            <a:extLst>
              <a:ext uri="{FF2B5EF4-FFF2-40B4-BE49-F238E27FC236}">
                <a16:creationId xmlns:a16="http://schemas.microsoft.com/office/drawing/2014/main" id="{0FA60DBA-F039-4433-9779-D0F59758D0BF}"/>
              </a:ext>
            </a:extLst>
          </p:cNvPr>
          <p:cNvGraphicFramePr>
            <a:graphicFrameLocks noGrp="1"/>
          </p:cNvGraphicFramePr>
          <p:nvPr>
            <p:extLst>
              <p:ext uri="{D42A27DB-BD31-4B8C-83A1-F6EECF244321}">
                <p14:modId xmlns:p14="http://schemas.microsoft.com/office/powerpoint/2010/main" val="94348548"/>
              </p:ext>
            </p:extLst>
          </p:nvPr>
        </p:nvGraphicFramePr>
        <p:xfrm>
          <a:off x="118575" y="1640306"/>
          <a:ext cx="5600193" cy="1609725"/>
        </p:xfrm>
        <a:graphic>
          <a:graphicData uri="http://schemas.openxmlformats.org/drawingml/2006/table">
            <a:tbl>
              <a:tblPr firstRow="1">
                <a:tableStyleId>{5C22544A-7EE6-4342-B048-85BDC9FD1C3A}</a:tableStyleId>
              </a:tblPr>
              <a:tblGrid>
                <a:gridCol w="659111">
                  <a:extLst>
                    <a:ext uri="{9D8B030D-6E8A-4147-A177-3AD203B41FA5}">
                      <a16:colId xmlns:a16="http://schemas.microsoft.com/office/drawing/2014/main" val="3200314054"/>
                    </a:ext>
                  </a:extLst>
                </a:gridCol>
                <a:gridCol w="179000">
                  <a:extLst>
                    <a:ext uri="{9D8B030D-6E8A-4147-A177-3AD203B41FA5}">
                      <a16:colId xmlns:a16="http://schemas.microsoft.com/office/drawing/2014/main" val="1913271583"/>
                    </a:ext>
                  </a:extLst>
                </a:gridCol>
                <a:gridCol w="632178">
                  <a:extLst>
                    <a:ext uri="{9D8B030D-6E8A-4147-A177-3AD203B41FA5}">
                      <a16:colId xmlns:a16="http://schemas.microsoft.com/office/drawing/2014/main" val="1797281345"/>
                    </a:ext>
                  </a:extLst>
                </a:gridCol>
                <a:gridCol w="2402991">
                  <a:extLst>
                    <a:ext uri="{9D8B030D-6E8A-4147-A177-3AD203B41FA5}">
                      <a16:colId xmlns:a16="http://schemas.microsoft.com/office/drawing/2014/main" val="2743739350"/>
                    </a:ext>
                  </a:extLst>
                </a:gridCol>
                <a:gridCol w="447839">
                  <a:extLst>
                    <a:ext uri="{9D8B030D-6E8A-4147-A177-3AD203B41FA5}">
                      <a16:colId xmlns:a16="http://schemas.microsoft.com/office/drawing/2014/main" val="2056723756"/>
                    </a:ext>
                  </a:extLst>
                </a:gridCol>
                <a:gridCol w="447839">
                  <a:extLst>
                    <a:ext uri="{9D8B030D-6E8A-4147-A177-3AD203B41FA5}">
                      <a16:colId xmlns:a16="http://schemas.microsoft.com/office/drawing/2014/main" val="4073315665"/>
                    </a:ext>
                  </a:extLst>
                </a:gridCol>
                <a:gridCol w="831235">
                  <a:extLst>
                    <a:ext uri="{9D8B030D-6E8A-4147-A177-3AD203B41FA5}">
                      <a16:colId xmlns:a16="http://schemas.microsoft.com/office/drawing/2014/main" val="848560102"/>
                    </a:ext>
                  </a:extLst>
                </a:gridCol>
              </a:tblGrid>
              <a:tr h="68454">
                <a:tc rowSpan="10">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Customer received device and rev/cost recognition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4">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000000"/>
                          </a:solidFill>
                          <a:effectLst/>
                          <a:uLnTx/>
                          <a:uFillTx/>
                          <a:latin typeface="+mn-lt"/>
                          <a:ea typeface="+mn-ea"/>
                          <a:cs typeface="+mn-cs"/>
                        </a:rPr>
                        <a:t>Upon customer acceptance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708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Arial"/>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Arial"/>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Arial"/>
                          <a:ea typeface="+mn-ea"/>
                          <a:cs typeface="+mn-cs"/>
                        </a:rPr>
                        <a:t>PV</a:t>
                      </a:r>
                      <a:endParaRPr kumimoji="0" lang="en-US" sz="1000" b="1" i="0" u="none" strike="noStrike" kern="1200" cap="none" spc="0" normalizeH="0" baseline="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Arial"/>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042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Arial"/>
                          <a:ea typeface="+mn-ea"/>
                          <a:cs typeface="+mn-cs"/>
                        </a:rPr>
                        <a:t>1130200</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ctr"/>
                      <a:r>
                        <a:rPr lang="en-US" sz="1000" b="0" i="0" u="none" strike="noStrike" kern="1200">
                          <a:solidFill>
                            <a:srgbClr val="000000"/>
                          </a:solidFill>
                          <a:effectLst/>
                          <a:latin typeface="+mn-lt"/>
                          <a:ea typeface="+mn-ea"/>
                          <a:cs typeface="+mn-cs"/>
                        </a:rPr>
                        <a:t>Inter-co Receivable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159151">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mn-ea"/>
                          <a:cs typeface="+mn-cs"/>
                        </a:rPr>
                        <a:t>Turnover (IC Revenue)</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042958783"/>
                  </a:ext>
                </a:extLst>
              </a:tr>
              <a:tr h="68423">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Service Revenue – Upfront fulfilled</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chemeClr val="tx1"/>
                          </a:solidFill>
                          <a:effectLst/>
                          <a:latin typeface="+mn-lt"/>
                          <a:ea typeface="等线"/>
                          <a:cs typeface="+mn-cs"/>
                        </a:rPr>
                        <a:t>500</a:t>
                      </a:r>
                      <a:endParaRPr lang="zh-CN" altLang="en-US" sz="1000" b="0" i="0" u="none" strike="noStrike" kern="1200">
                        <a:solidFill>
                          <a:schemeClr val="tx1"/>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911046863"/>
                  </a:ext>
                </a:extLst>
              </a:tr>
              <a:tr h="68423">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Deferred Income – Premier Support</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647945814"/>
                  </a:ext>
                </a:extLst>
              </a:tr>
              <a:tr h="68454">
                <a:tc vMerge="1">
                  <a:txBody>
                    <a:bodyPr/>
                    <a:lstStyle/>
                    <a:p>
                      <a:endParaRPr lang="en-US"/>
                    </a:p>
                  </a:txBody>
                  <a:tcPr/>
                </a:tc>
                <a:tc>
                  <a:txBody>
                    <a:bodyPr/>
                    <a:lstStyle/>
                    <a:p>
                      <a:pPr marL="0" marR="0" lvl="0" indent="0" algn="ctr" defTabSz="1218987" rtl="0">
                        <a:lnSpc>
                          <a:spcPct val="100000"/>
                        </a:lnSpc>
                        <a:spcBef>
                          <a:spcPts val="0"/>
                        </a:spcBef>
                        <a:spcAft>
                          <a:spcPts val="0"/>
                        </a:spcAft>
                        <a:buClrTx/>
                        <a:buSzTx/>
                        <a:buFontTx/>
                        <a:buNone/>
                        <a:tabLst/>
                        <a:defRPr/>
                      </a:pPr>
                      <a:r>
                        <a:rPr lang="en-US" sz="1000" b="0" i="0" u="none" strike="noStrike" kern="1200" cap="none" spc="0" normalizeH="0" baseline="0" noProof="0">
                          <a:ln>
                            <a:noFill/>
                          </a:ln>
                          <a:solidFill>
                            <a:srgbClr val="000000"/>
                          </a:solidFill>
                          <a:effectLst/>
                          <a:uLnTx/>
                          <a:uFillTx/>
                          <a:latin typeface="Arial"/>
                          <a:ea typeface="+mn-ea"/>
                          <a:cs typeface="+mn-cs"/>
                        </a:rPr>
                        <a:t>Cr</a:t>
                      </a:r>
                      <a:endParaRPr kumimoji="0" lang="en-US"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5029999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等线"/>
                          <a:cs typeface="+mn-cs"/>
                        </a:rPr>
                        <a:t>Intercompany P&amp;L</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11200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844412640"/>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5020300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kern="1200">
                          <a:solidFill>
                            <a:srgbClr val="000000"/>
                          </a:solidFill>
                          <a:effectLst/>
                          <a:latin typeface="+mn-lt"/>
                          <a:ea typeface="+mn-ea"/>
                          <a:cs typeface="+mn-cs"/>
                        </a:rPr>
                        <a:t>C</a:t>
                      </a:r>
                      <a:r>
                        <a:rPr lang="en-US" altLang="zh-CN" sz="1000" b="0" i="0" u="none" strike="noStrike" kern="1200">
                          <a:solidFill>
                            <a:srgbClr val="000000"/>
                          </a:solidFill>
                          <a:effectLst/>
                          <a:latin typeface="+mn-lt"/>
                          <a:ea typeface="+mn-ea"/>
                          <a:cs typeface="+mn-cs"/>
                        </a:rPr>
                        <a:t>ost of sales</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70719169"/>
                  </a:ext>
                </a:extLst>
              </a:tr>
              <a:tr h="68454">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G</a:t>
                      </a:r>
                      <a:r>
                        <a:rPr lang="en-US" altLang="zh-CN" sz="1000" b="0" i="0" u="none" strike="noStrike">
                          <a:solidFill>
                            <a:srgbClr val="000000"/>
                          </a:solidFill>
                          <a:effectLst/>
                          <a:latin typeface="+mn-lt"/>
                        </a:rPr>
                        <a:t>oods </a:t>
                      </a:r>
                      <a:r>
                        <a:rPr lang="en-US" sz="1000" b="0" i="0" u="none" strike="noStrike">
                          <a:solidFill>
                            <a:srgbClr val="000000"/>
                          </a:solidFill>
                          <a:effectLst/>
                          <a:latin typeface="+mn-lt"/>
                        </a:rPr>
                        <a:t>In Transit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201279187"/>
                  </a:ext>
                </a:extLst>
              </a:tr>
            </a:tbl>
          </a:graphicData>
        </a:graphic>
      </p:graphicFrame>
      <p:grpSp>
        <p:nvGrpSpPr>
          <p:cNvPr id="6" name="Group 18">
            <a:extLst>
              <a:ext uri="{FF2B5EF4-FFF2-40B4-BE49-F238E27FC236}">
                <a16:creationId xmlns:a16="http://schemas.microsoft.com/office/drawing/2014/main" id="{00B5FBCF-8312-F313-961C-B4E4A9587B4B}"/>
              </a:ext>
            </a:extLst>
          </p:cNvPr>
          <p:cNvGrpSpPr/>
          <p:nvPr/>
        </p:nvGrpSpPr>
        <p:grpSpPr>
          <a:xfrm>
            <a:off x="11159606" y="0"/>
            <a:ext cx="1032394" cy="734212"/>
            <a:chOff x="11159606" y="0"/>
            <a:chExt cx="1032394" cy="734212"/>
          </a:xfrm>
        </p:grpSpPr>
        <p:sp>
          <p:nvSpPr>
            <p:cNvPr id="7" name="Rectangle: Rounded Corners 19">
              <a:extLst>
                <a:ext uri="{FF2B5EF4-FFF2-40B4-BE49-F238E27FC236}">
                  <a16:creationId xmlns:a16="http://schemas.microsoft.com/office/drawing/2014/main" id="{7A2676AE-1371-286F-70D4-E2045F8B1ED7}"/>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BRIM</a:t>
              </a:r>
            </a:p>
          </p:txBody>
        </p:sp>
        <p:sp>
          <p:nvSpPr>
            <p:cNvPr id="8" name="Rectangle: Rounded Corners 20">
              <a:extLst>
                <a:ext uri="{FF2B5EF4-FFF2-40B4-BE49-F238E27FC236}">
                  <a16:creationId xmlns:a16="http://schemas.microsoft.com/office/drawing/2014/main" id="{DD2B3EAF-A18B-BE0E-FAF8-B9860E26DE12}"/>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ECC</a:t>
              </a:r>
            </a:p>
          </p:txBody>
        </p:sp>
        <p:sp>
          <p:nvSpPr>
            <p:cNvPr id="9" name="Rectangle: Rounded Corners 21">
              <a:extLst>
                <a:ext uri="{FF2B5EF4-FFF2-40B4-BE49-F238E27FC236}">
                  <a16:creationId xmlns:a16="http://schemas.microsoft.com/office/drawing/2014/main" id="{E173AF78-39C8-6DE3-EFB5-7164FD34969F}"/>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Odessa</a:t>
              </a:r>
            </a:p>
          </p:txBody>
        </p:sp>
      </p:grpSp>
      <p:graphicFrame>
        <p:nvGraphicFramePr>
          <p:cNvPr id="12" name="Table 11">
            <a:extLst>
              <a:ext uri="{FF2B5EF4-FFF2-40B4-BE49-F238E27FC236}">
                <a16:creationId xmlns:a16="http://schemas.microsoft.com/office/drawing/2014/main" id="{D93628CE-6F84-B8F6-ABA9-16A3A9310A43}"/>
              </a:ext>
            </a:extLst>
          </p:cNvPr>
          <p:cNvGraphicFramePr>
            <a:graphicFrameLocks noGrp="1"/>
          </p:cNvGraphicFramePr>
          <p:nvPr>
            <p:extLst>
              <p:ext uri="{D42A27DB-BD31-4B8C-83A1-F6EECF244321}">
                <p14:modId xmlns:p14="http://schemas.microsoft.com/office/powerpoint/2010/main" val="1934406125"/>
              </p:ext>
            </p:extLst>
          </p:nvPr>
        </p:nvGraphicFramePr>
        <p:xfrm>
          <a:off x="5951305" y="792784"/>
          <a:ext cx="5505527" cy="1285875"/>
        </p:xfrm>
        <a:graphic>
          <a:graphicData uri="http://schemas.openxmlformats.org/drawingml/2006/table">
            <a:tbl>
              <a:tblPr firstRow="1">
                <a:tableStyleId>{5C22544A-7EE6-4342-B048-85BDC9FD1C3A}</a:tableStyleId>
              </a:tblPr>
              <a:tblGrid>
                <a:gridCol w="647966">
                  <a:extLst>
                    <a:ext uri="{9D8B030D-6E8A-4147-A177-3AD203B41FA5}">
                      <a16:colId xmlns:a16="http://schemas.microsoft.com/office/drawing/2014/main" val="3200314054"/>
                    </a:ext>
                  </a:extLst>
                </a:gridCol>
                <a:gridCol w="294033">
                  <a:extLst>
                    <a:ext uri="{9D8B030D-6E8A-4147-A177-3AD203B41FA5}">
                      <a16:colId xmlns:a16="http://schemas.microsoft.com/office/drawing/2014/main" val="1913271583"/>
                    </a:ext>
                  </a:extLst>
                </a:gridCol>
                <a:gridCol w="641558">
                  <a:extLst>
                    <a:ext uri="{9D8B030D-6E8A-4147-A177-3AD203B41FA5}">
                      <a16:colId xmlns:a16="http://schemas.microsoft.com/office/drawing/2014/main" val="1797281345"/>
                    </a:ext>
                  </a:extLst>
                </a:gridCol>
                <a:gridCol w="2262937">
                  <a:extLst>
                    <a:ext uri="{9D8B030D-6E8A-4147-A177-3AD203B41FA5}">
                      <a16:colId xmlns:a16="http://schemas.microsoft.com/office/drawing/2014/main" val="2743739350"/>
                    </a:ext>
                  </a:extLst>
                </a:gridCol>
                <a:gridCol w="397816">
                  <a:extLst>
                    <a:ext uri="{9D8B030D-6E8A-4147-A177-3AD203B41FA5}">
                      <a16:colId xmlns:a16="http://schemas.microsoft.com/office/drawing/2014/main" val="2056723756"/>
                    </a:ext>
                  </a:extLst>
                </a:gridCol>
                <a:gridCol w="397816">
                  <a:extLst>
                    <a:ext uri="{9D8B030D-6E8A-4147-A177-3AD203B41FA5}">
                      <a16:colId xmlns:a16="http://schemas.microsoft.com/office/drawing/2014/main" val="4073315665"/>
                    </a:ext>
                  </a:extLst>
                </a:gridCol>
                <a:gridCol w="863401">
                  <a:extLst>
                    <a:ext uri="{9D8B030D-6E8A-4147-A177-3AD203B41FA5}">
                      <a16:colId xmlns:a16="http://schemas.microsoft.com/office/drawing/2014/main" val="848560102"/>
                    </a:ext>
                  </a:extLst>
                </a:gridCol>
              </a:tblGrid>
              <a:tr h="68455">
                <a:tc rowSpan="8">
                  <a:txBody>
                    <a:bodyPr/>
                    <a:lstStyle/>
                    <a:p>
                      <a:pPr algn="ctr" fontAlgn="ctr"/>
                      <a:r>
                        <a:rPr lang="en-US" sz="1200" b="1" i="0" u="none" strike="noStrike">
                          <a:solidFill>
                            <a:srgbClr val="FFFFFF"/>
                          </a:solidFill>
                          <a:effectLst/>
                          <a:latin typeface="Arial" panose="020B0604020202020204" pitchFamily="34" charset="0"/>
                        </a:rPr>
                        <a:t>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Recognize FA in transit upon Customer acceptance received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5">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1" u="none" strike="noStrike" kern="1200">
                          <a:solidFill>
                            <a:schemeClr val="tx1"/>
                          </a:solidFill>
                          <a:effectLst/>
                          <a:latin typeface="+mn-lt"/>
                          <a:ea typeface="+mn-ea"/>
                          <a:cs typeface="+mn-cs"/>
                        </a:rPr>
                        <a:t>Upon Customer acceptance</a:t>
                      </a:r>
                      <a:endParaRPr kumimoji="0" lang="en-US" altLang="zh-CN" sz="1000" b="1" i="0" u="none" strike="noStrike" kern="1200" cap="none" spc="0" normalizeH="0" baseline="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80497">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5737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1619903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j-lt"/>
                        </a:rPr>
                        <a:t>Fixed Assets in Transit</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Agent Revenue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058660765"/>
                  </a:ext>
                </a:extLst>
              </a:tr>
              <a:tr h="68455">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5029999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等线" panose="02010600030101010101" pitchFamily="2" charset="-122"/>
                          <a:cs typeface="+mn-cs"/>
                        </a:rPr>
                        <a:t>Intercompany P&amp;L</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endParaRPr lang="en-US" altLang="zh-CN" sz="1000" b="0" i="0" u="none" strike="noStrike" kern="1200">
                        <a:solidFill>
                          <a:schemeClr val="tx1"/>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11200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375253924"/>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chemeClr val="tx1"/>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14337446"/>
                  </a:ext>
                </a:extLst>
              </a:tr>
            </a:tbl>
          </a:graphicData>
        </a:graphic>
      </p:graphicFrame>
      <p:graphicFrame>
        <p:nvGraphicFramePr>
          <p:cNvPr id="15" name="Table 14">
            <a:extLst>
              <a:ext uri="{FF2B5EF4-FFF2-40B4-BE49-F238E27FC236}">
                <a16:creationId xmlns:a16="http://schemas.microsoft.com/office/drawing/2014/main" id="{B89604C9-8B95-B7EE-4FC0-EA6A06FAF6BA}"/>
              </a:ext>
            </a:extLst>
          </p:cNvPr>
          <p:cNvGraphicFramePr>
            <a:graphicFrameLocks noGrp="1"/>
          </p:cNvGraphicFramePr>
          <p:nvPr>
            <p:extLst>
              <p:ext uri="{D42A27DB-BD31-4B8C-83A1-F6EECF244321}">
                <p14:modId xmlns:p14="http://schemas.microsoft.com/office/powerpoint/2010/main" val="219084036"/>
              </p:ext>
            </p:extLst>
          </p:nvPr>
        </p:nvGraphicFramePr>
        <p:xfrm>
          <a:off x="5951305" y="2103436"/>
          <a:ext cx="5523617" cy="1123950"/>
        </p:xfrm>
        <a:graphic>
          <a:graphicData uri="http://schemas.openxmlformats.org/drawingml/2006/table">
            <a:tbl>
              <a:tblPr firstRow="1">
                <a:tableStyleId>{5C22544A-7EE6-4342-B048-85BDC9FD1C3A}</a:tableStyleId>
              </a:tblPr>
              <a:tblGrid>
                <a:gridCol w="650095">
                  <a:extLst>
                    <a:ext uri="{9D8B030D-6E8A-4147-A177-3AD203B41FA5}">
                      <a16:colId xmlns:a16="http://schemas.microsoft.com/office/drawing/2014/main" val="3200314054"/>
                    </a:ext>
                  </a:extLst>
                </a:gridCol>
                <a:gridCol w="294999">
                  <a:extLst>
                    <a:ext uri="{9D8B030D-6E8A-4147-A177-3AD203B41FA5}">
                      <a16:colId xmlns:a16="http://schemas.microsoft.com/office/drawing/2014/main" val="1913271583"/>
                    </a:ext>
                  </a:extLst>
                </a:gridCol>
                <a:gridCol w="643666">
                  <a:extLst>
                    <a:ext uri="{9D8B030D-6E8A-4147-A177-3AD203B41FA5}">
                      <a16:colId xmlns:a16="http://schemas.microsoft.com/office/drawing/2014/main" val="1797281345"/>
                    </a:ext>
                  </a:extLst>
                </a:gridCol>
                <a:gridCol w="2270373">
                  <a:extLst>
                    <a:ext uri="{9D8B030D-6E8A-4147-A177-3AD203B41FA5}">
                      <a16:colId xmlns:a16="http://schemas.microsoft.com/office/drawing/2014/main" val="2743739350"/>
                    </a:ext>
                  </a:extLst>
                </a:gridCol>
                <a:gridCol w="399123">
                  <a:extLst>
                    <a:ext uri="{9D8B030D-6E8A-4147-A177-3AD203B41FA5}">
                      <a16:colId xmlns:a16="http://schemas.microsoft.com/office/drawing/2014/main" val="2056723756"/>
                    </a:ext>
                  </a:extLst>
                </a:gridCol>
                <a:gridCol w="399123">
                  <a:extLst>
                    <a:ext uri="{9D8B030D-6E8A-4147-A177-3AD203B41FA5}">
                      <a16:colId xmlns:a16="http://schemas.microsoft.com/office/drawing/2014/main" val="4073315665"/>
                    </a:ext>
                  </a:extLst>
                </a:gridCol>
                <a:gridCol w="866238">
                  <a:extLst>
                    <a:ext uri="{9D8B030D-6E8A-4147-A177-3AD203B41FA5}">
                      <a16:colId xmlns:a16="http://schemas.microsoft.com/office/drawing/2014/main" val="848560102"/>
                    </a:ext>
                  </a:extLst>
                </a:gridCol>
              </a:tblGrid>
              <a:tr h="68455">
                <a:tc rowSpan="7">
                  <a:txBody>
                    <a:bodyPr/>
                    <a:lstStyle/>
                    <a:p>
                      <a:pPr algn="ctr" fontAlgn="ctr"/>
                      <a:r>
                        <a:rPr lang="en-US" sz="1200" b="1" i="0" u="none" strike="noStrike">
                          <a:solidFill>
                            <a:srgbClr val="FFFFFF"/>
                          </a:solidFill>
                          <a:effectLst/>
                          <a:latin typeface="Arial" panose="020B0604020202020204" pitchFamily="34" charset="0"/>
                        </a:rPr>
                        <a:t>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Recognize Fixed Assets and Upfront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5">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1" u="none" strike="noStrike" kern="1200">
                          <a:solidFill>
                            <a:schemeClr val="tx1"/>
                          </a:solidFill>
                          <a:effectLst/>
                          <a:latin typeface="+mn-lt"/>
                          <a:ea typeface="+mn-ea"/>
                          <a:cs typeface="+mn-cs"/>
                        </a:rPr>
                        <a:t>Upon Customer acceptance</a:t>
                      </a:r>
                      <a:endParaRPr kumimoji="0" lang="en-US" altLang="zh-CN" sz="1000" b="1" i="0" u="none" strike="noStrike" kern="1200" cap="none" spc="0" normalizeH="0" baseline="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8455">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Upfront fulfilled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56539118"/>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Agent Revenue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442138969"/>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1611550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Fixed Assets Under Operating Lease</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851737725"/>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1619903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Fixed Assets in Transit</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563725212"/>
                  </a:ext>
                </a:extLst>
              </a:tr>
            </a:tbl>
          </a:graphicData>
        </a:graphic>
      </p:graphicFrame>
      <p:graphicFrame>
        <p:nvGraphicFramePr>
          <p:cNvPr id="17" name="Table 16">
            <a:extLst>
              <a:ext uri="{FF2B5EF4-FFF2-40B4-BE49-F238E27FC236}">
                <a16:creationId xmlns:a16="http://schemas.microsoft.com/office/drawing/2014/main" id="{E556E77E-350E-F8D8-977E-530BE3FB2551}"/>
              </a:ext>
            </a:extLst>
          </p:cNvPr>
          <p:cNvGraphicFramePr>
            <a:graphicFrameLocks noGrp="1"/>
          </p:cNvGraphicFramePr>
          <p:nvPr>
            <p:extLst>
              <p:ext uri="{D42A27DB-BD31-4B8C-83A1-F6EECF244321}">
                <p14:modId xmlns:p14="http://schemas.microsoft.com/office/powerpoint/2010/main" val="2083877140"/>
              </p:ext>
            </p:extLst>
          </p:nvPr>
        </p:nvGraphicFramePr>
        <p:xfrm>
          <a:off x="5941145" y="3244142"/>
          <a:ext cx="5674914" cy="1285875"/>
        </p:xfrm>
        <a:graphic>
          <a:graphicData uri="http://schemas.openxmlformats.org/drawingml/2006/table">
            <a:tbl>
              <a:tblPr firstRow="1">
                <a:tableStyleId>{5C22544A-7EE6-4342-B048-85BDC9FD1C3A}</a:tableStyleId>
              </a:tblPr>
              <a:tblGrid>
                <a:gridCol w="667904">
                  <a:extLst>
                    <a:ext uri="{9D8B030D-6E8A-4147-A177-3AD203B41FA5}">
                      <a16:colId xmlns:a16="http://schemas.microsoft.com/office/drawing/2014/main" val="3200314054"/>
                    </a:ext>
                  </a:extLst>
                </a:gridCol>
                <a:gridCol w="291848">
                  <a:extLst>
                    <a:ext uri="{9D8B030D-6E8A-4147-A177-3AD203B41FA5}">
                      <a16:colId xmlns:a16="http://schemas.microsoft.com/office/drawing/2014/main" val="1913271583"/>
                    </a:ext>
                  </a:extLst>
                </a:gridCol>
                <a:gridCol w="635249">
                  <a:extLst>
                    <a:ext uri="{9D8B030D-6E8A-4147-A177-3AD203B41FA5}">
                      <a16:colId xmlns:a16="http://schemas.microsoft.com/office/drawing/2014/main" val="1797281345"/>
                    </a:ext>
                  </a:extLst>
                </a:gridCol>
                <a:gridCol w="2301963">
                  <a:extLst>
                    <a:ext uri="{9D8B030D-6E8A-4147-A177-3AD203B41FA5}">
                      <a16:colId xmlns:a16="http://schemas.microsoft.com/office/drawing/2014/main" val="2743739350"/>
                    </a:ext>
                  </a:extLst>
                </a:gridCol>
                <a:gridCol w="467813">
                  <a:extLst>
                    <a:ext uri="{9D8B030D-6E8A-4147-A177-3AD203B41FA5}">
                      <a16:colId xmlns:a16="http://schemas.microsoft.com/office/drawing/2014/main" val="2056723756"/>
                    </a:ext>
                  </a:extLst>
                </a:gridCol>
                <a:gridCol w="467813">
                  <a:extLst>
                    <a:ext uri="{9D8B030D-6E8A-4147-A177-3AD203B41FA5}">
                      <a16:colId xmlns:a16="http://schemas.microsoft.com/office/drawing/2014/main" val="4073315665"/>
                    </a:ext>
                  </a:extLst>
                </a:gridCol>
                <a:gridCol w="842324">
                  <a:extLst>
                    <a:ext uri="{9D8B030D-6E8A-4147-A177-3AD203B41FA5}">
                      <a16:colId xmlns:a16="http://schemas.microsoft.com/office/drawing/2014/main" val="848560102"/>
                    </a:ext>
                  </a:extLst>
                </a:gridCol>
              </a:tblGrid>
              <a:tr h="67081">
                <a:tc rowSpan="8">
                  <a:txBody>
                    <a:bodyPr/>
                    <a:lstStyle/>
                    <a:p>
                      <a:pPr algn="ctr" fontAlgn="ctr"/>
                      <a:r>
                        <a:rPr lang="en-US" sz="1200" u="none" strike="noStrike">
                          <a:solidFill>
                            <a:schemeClr val="bg1"/>
                          </a:solidFill>
                          <a:effectLst/>
                        </a:rPr>
                        <a:t>AFE</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Monthly billing to customer</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4">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8454">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704665907"/>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93553249"/>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LR – Upfront fulfilled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245107330"/>
                  </a:ext>
                </a:extLst>
              </a:tr>
              <a:tr h="6845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800212848"/>
                  </a:ext>
                </a:extLst>
              </a:tr>
            </a:tbl>
          </a:graphicData>
        </a:graphic>
      </p:graphicFrame>
      <p:graphicFrame>
        <p:nvGraphicFramePr>
          <p:cNvPr id="18" name="Table 17">
            <a:extLst>
              <a:ext uri="{FF2B5EF4-FFF2-40B4-BE49-F238E27FC236}">
                <a16:creationId xmlns:a16="http://schemas.microsoft.com/office/drawing/2014/main" id="{802B2AFE-A80D-6A00-CFC9-FA17BDC95F31}"/>
              </a:ext>
            </a:extLst>
          </p:cNvPr>
          <p:cNvGraphicFramePr>
            <a:graphicFrameLocks noGrp="1"/>
          </p:cNvGraphicFramePr>
          <p:nvPr>
            <p:extLst>
              <p:ext uri="{D42A27DB-BD31-4B8C-83A1-F6EECF244321}">
                <p14:modId xmlns:p14="http://schemas.microsoft.com/office/powerpoint/2010/main" val="2731297223"/>
              </p:ext>
            </p:extLst>
          </p:nvPr>
        </p:nvGraphicFramePr>
        <p:xfrm>
          <a:off x="5942514" y="5848445"/>
          <a:ext cx="5695375" cy="800100"/>
        </p:xfrm>
        <a:graphic>
          <a:graphicData uri="http://schemas.openxmlformats.org/drawingml/2006/table">
            <a:tbl>
              <a:tblPr firstRow="1">
                <a:tableStyleId>{5C22544A-7EE6-4342-B048-85BDC9FD1C3A}</a:tableStyleId>
              </a:tblPr>
              <a:tblGrid>
                <a:gridCol w="670313">
                  <a:extLst>
                    <a:ext uri="{9D8B030D-6E8A-4147-A177-3AD203B41FA5}">
                      <a16:colId xmlns:a16="http://schemas.microsoft.com/office/drawing/2014/main" val="3200314054"/>
                    </a:ext>
                  </a:extLst>
                </a:gridCol>
                <a:gridCol w="292899">
                  <a:extLst>
                    <a:ext uri="{9D8B030D-6E8A-4147-A177-3AD203B41FA5}">
                      <a16:colId xmlns:a16="http://schemas.microsoft.com/office/drawing/2014/main" val="1913271583"/>
                    </a:ext>
                  </a:extLst>
                </a:gridCol>
                <a:gridCol w="637539">
                  <a:extLst>
                    <a:ext uri="{9D8B030D-6E8A-4147-A177-3AD203B41FA5}">
                      <a16:colId xmlns:a16="http://schemas.microsoft.com/office/drawing/2014/main" val="1797281345"/>
                    </a:ext>
                  </a:extLst>
                </a:gridCol>
                <a:gridCol w="2319114">
                  <a:extLst>
                    <a:ext uri="{9D8B030D-6E8A-4147-A177-3AD203B41FA5}">
                      <a16:colId xmlns:a16="http://schemas.microsoft.com/office/drawing/2014/main" val="2743739350"/>
                    </a:ext>
                  </a:extLst>
                </a:gridCol>
                <a:gridCol w="465074">
                  <a:extLst>
                    <a:ext uri="{9D8B030D-6E8A-4147-A177-3AD203B41FA5}">
                      <a16:colId xmlns:a16="http://schemas.microsoft.com/office/drawing/2014/main" val="2056723756"/>
                    </a:ext>
                  </a:extLst>
                </a:gridCol>
                <a:gridCol w="465074">
                  <a:extLst>
                    <a:ext uri="{9D8B030D-6E8A-4147-A177-3AD203B41FA5}">
                      <a16:colId xmlns:a16="http://schemas.microsoft.com/office/drawing/2014/main" val="4073315665"/>
                    </a:ext>
                  </a:extLst>
                </a:gridCol>
                <a:gridCol w="845362">
                  <a:extLst>
                    <a:ext uri="{9D8B030D-6E8A-4147-A177-3AD203B41FA5}">
                      <a16:colId xmlns:a16="http://schemas.microsoft.com/office/drawing/2014/main" val="848560102"/>
                    </a:ext>
                  </a:extLst>
                </a:gridCol>
              </a:tblGrid>
              <a:tr h="0">
                <a:tc rowSpan="5">
                  <a:txBody>
                    <a:bodyPr/>
                    <a:lstStyle/>
                    <a:p>
                      <a:pPr algn="ctr" fontAlgn="ctr"/>
                      <a:r>
                        <a:rPr lang="en-US" sz="1200" u="none" strike="noStrike">
                          <a:solidFill>
                            <a:schemeClr val="bg1"/>
                          </a:solidFill>
                          <a:effectLst/>
                        </a:rPr>
                        <a:t>AFE</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bg1"/>
                          </a:solidFill>
                          <a:effectLst/>
                          <a:latin typeface="+mn-lt"/>
                          <a:ea typeface="+mn-ea"/>
                          <a:cs typeface="+mn-cs"/>
                        </a:rPr>
                        <a:t>Monthly service transfer to 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949325226"/>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627414531"/>
                  </a:ext>
                </a:extLst>
              </a:tr>
            </a:tbl>
          </a:graphicData>
        </a:graphic>
      </p:graphicFrame>
      <p:graphicFrame>
        <p:nvGraphicFramePr>
          <p:cNvPr id="19" name="Table 18">
            <a:extLst>
              <a:ext uri="{FF2B5EF4-FFF2-40B4-BE49-F238E27FC236}">
                <a16:creationId xmlns:a16="http://schemas.microsoft.com/office/drawing/2014/main" id="{9A99DA3E-AC59-6F35-897E-473B28D42B4A}"/>
              </a:ext>
            </a:extLst>
          </p:cNvPr>
          <p:cNvGraphicFramePr>
            <a:graphicFrameLocks noGrp="1"/>
          </p:cNvGraphicFramePr>
          <p:nvPr>
            <p:extLst>
              <p:ext uri="{D42A27DB-BD31-4B8C-83A1-F6EECF244321}">
                <p14:modId xmlns:p14="http://schemas.microsoft.com/office/powerpoint/2010/main" val="3264848157"/>
              </p:ext>
            </p:extLst>
          </p:nvPr>
        </p:nvGraphicFramePr>
        <p:xfrm>
          <a:off x="5939581" y="4715743"/>
          <a:ext cx="5695373" cy="1123950"/>
        </p:xfrm>
        <a:graphic>
          <a:graphicData uri="http://schemas.openxmlformats.org/drawingml/2006/table">
            <a:tbl>
              <a:tblPr firstRow="1">
                <a:tableStyleId>{5C22544A-7EE6-4342-B048-85BDC9FD1C3A}</a:tableStyleId>
              </a:tblPr>
              <a:tblGrid>
                <a:gridCol w="670311">
                  <a:extLst>
                    <a:ext uri="{9D8B030D-6E8A-4147-A177-3AD203B41FA5}">
                      <a16:colId xmlns:a16="http://schemas.microsoft.com/office/drawing/2014/main" val="3200314054"/>
                    </a:ext>
                  </a:extLst>
                </a:gridCol>
                <a:gridCol w="188353">
                  <a:extLst>
                    <a:ext uri="{9D8B030D-6E8A-4147-A177-3AD203B41FA5}">
                      <a16:colId xmlns:a16="http://schemas.microsoft.com/office/drawing/2014/main" val="1913271583"/>
                    </a:ext>
                  </a:extLst>
                </a:gridCol>
                <a:gridCol w="637664">
                  <a:extLst>
                    <a:ext uri="{9D8B030D-6E8A-4147-A177-3AD203B41FA5}">
                      <a16:colId xmlns:a16="http://schemas.microsoft.com/office/drawing/2014/main" val="1797281345"/>
                    </a:ext>
                  </a:extLst>
                </a:gridCol>
                <a:gridCol w="2464200">
                  <a:extLst>
                    <a:ext uri="{9D8B030D-6E8A-4147-A177-3AD203B41FA5}">
                      <a16:colId xmlns:a16="http://schemas.microsoft.com/office/drawing/2014/main" val="2743739350"/>
                    </a:ext>
                  </a:extLst>
                </a:gridCol>
                <a:gridCol w="504092">
                  <a:extLst>
                    <a:ext uri="{9D8B030D-6E8A-4147-A177-3AD203B41FA5}">
                      <a16:colId xmlns:a16="http://schemas.microsoft.com/office/drawing/2014/main" val="2056723756"/>
                    </a:ext>
                  </a:extLst>
                </a:gridCol>
                <a:gridCol w="385391">
                  <a:extLst>
                    <a:ext uri="{9D8B030D-6E8A-4147-A177-3AD203B41FA5}">
                      <a16:colId xmlns:a16="http://schemas.microsoft.com/office/drawing/2014/main" val="4073315665"/>
                    </a:ext>
                  </a:extLst>
                </a:gridCol>
                <a:gridCol w="845362">
                  <a:extLst>
                    <a:ext uri="{9D8B030D-6E8A-4147-A177-3AD203B41FA5}">
                      <a16:colId xmlns:a16="http://schemas.microsoft.com/office/drawing/2014/main" val="848560102"/>
                    </a:ext>
                  </a:extLst>
                </a:gridCol>
              </a:tblGrid>
              <a:tr h="68454">
                <a:tc rowSpan="7">
                  <a:txBody>
                    <a:bodyPr/>
                    <a:lstStyle/>
                    <a:p>
                      <a:pPr algn="ctr" fontAlgn="ctr"/>
                      <a:r>
                        <a:rPr lang="en-US" sz="1200" u="none" strike="noStrike">
                          <a:effectLst/>
                        </a:rPr>
                        <a:t>AFE</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indent="0" algn="l" defTabSz="1218987" rtl="0" eaLnBrk="1" fontAlgn="b" latinLnBrk="0" hangingPunct="1">
                        <a:buFont typeface="Arial" panose="020B0604020202020204" pitchFamily="34" charset="0"/>
                        <a:buNone/>
                      </a:pPr>
                      <a:r>
                        <a:rPr lang="en-US" sz="1000" b="1" i="0" u="none" strike="noStrike" kern="1200">
                          <a:solidFill>
                            <a:srgbClr val="FFFFFF"/>
                          </a:solidFill>
                          <a:effectLst/>
                          <a:latin typeface="+mj-lt"/>
                          <a:ea typeface="+mn-ea"/>
                          <a:cs typeface="+mn-cs"/>
                        </a:rPr>
                        <a:t>Recording monthly depreciation and funded service</a:t>
                      </a:r>
                      <a:endParaRPr lang="en-US" sz="1000" b="1" u="none" strike="noStrike" kern="1200">
                        <a:solidFill>
                          <a:schemeClr val="lt1"/>
                        </a:solidFill>
                        <a:effectLst/>
                        <a:latin typeface="+mj-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4">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i="0" u="none" strike="noStrike" kern="1200">
                          <a:solidFill>
                            <a:schemeClr val="tx1"/>
                          </a:solidFill>
                          <a:effectLst/>
                          <a:latin typeface="+mj-lt"/>
                          <a:ea typeface="+mn-ea"/>
                          <a:cs typeface="+mn-cs"/>
                        </a:rPr>
                        <a:t>Upon monthly Batch</a:t>
                      </a:r>
                      <a:endParaRPr kumimoji="0" lang="en-US" altLang="zh-CN" sz="1000" b="1" i="0" u="none" strike="noStrike" kern="1200" cap="none" spc="0" normalizeH="0" baseline="0">
                        <a:ln>
                          <a:noFill/>
                        </a:ln>
                        <a:solidFill>
                          <a:schemeClr val="tx1"/>
                        </a:solidFill>
                        <a:effectLst/>
                        <a:uLnTx/>
                        <a:uFillTx/>
                        <a:latin typeface="+mj-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708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j-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j-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j-lt"/>
                          <a:ea typeface="+mn-ea"/>
                          <a:cs typeface="+mn-cs"/>
                        </a:rPr>
                        <a:t>PV</a:t>
                      </a:r>
                      <a:endParaRPr kumimoji="0" lang="en-US" sz="1000" b="1" i="0" u="none" strike="noStrike" kern="1200" cap="none" spc="0" normalizeH="0" baseline="0">
                        <a:ln>
                          <a:noFill/>
                        </a:ln>
                        <a:solidFill>
                          <a:srgbClr val="000000"/>
                        </a:solidFill>
                        <a:effectLst/>
                        <a:uLnTx/>
                        <a:uFillTx/>
                        <a:latin typeface="+mj-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j-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176348254"/>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575544495"/>
                  </a:ext>
                </a:extLst>
              </a:tr>
              <a:tr h="68454">
                <a:tc vMerge="1">
                  <a:txBody>
                    <a:bodyPr/>
                    <a:lstStyle/>
                    <a:p>
                      <a:endParaRPr lang="en-US"/>
                    </a:p>
                  </a:txBody>
                  <a:tcPr/>
                </a:tc>
                <a:tc>
                  <a:txBody>
                    <a:bodyPr/>
                    <a:lstStyle/>
                    <a:p>
                      <a:pPr algn="ctr" fontAlgn="ctr"/>
                      <a:r>
                        <a:rPr lang="en-US" sz="1000" b="0" i="0" u="none" strike="noStrike">
                          <a:solidFill>
                            <a:srgbClr val="000000"/>
                          </a:solidFill>
                          <a:effectLst/>
                          <a:latin typeface="+mj-lt"/>
                        </a:rPr>
                        <a:t>Dr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4060110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Depreciation Expense (COS Impact)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712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401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851737725"/>
                  </a:ext>
                </a:extLst>
              </a:tr>
              <a:tr h="68454">
                <a:tc vMerge="1">
                  <a:txBody>
                    <a:bodyPr/>
                    <a:lstStyle/>
                    <a:p>
                      <a:endParaRPr lang="en-US"/>
                    </a:p>
                  </a:txBody>
                  <a:tcPr/>
                </a:tc>
                <a:tc>
                  <a:txBody>
                    <a:bodyPr/>
                    <a:lstStyle/>
                    <a:p>
                      <a:pPr algn="ctr" fontAlgn="ctr"/>
                      <a:r>
                        <a:rPr lang="en-US" sz="1000" b="0" i="0" u="none" strike="noStrike">
                          <a:solidFill>
                            <a:srgbClr val="000000"/>
                          </a:solidFill>
                          <a:effectLst/>
                          <a:latin typeface="+mj-lt"/>
                        </a:rPr>
                        <a:t>Cr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1651550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Accumulated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712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401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683432593"/>
                  </a:ext>
                </a:extLst>
              </a:tr>
            </a:tbl>
          </a:graphicData>
        </a:graphic>
      </p:graphicFrame>
      <p:graphicFrame>
        <p:nvGraphicFramePr>
          <p:cNvPr id="21" name="Table 20">
            <a:extLst>
              <a:ext uri="{FF2B5EF4-FFF2-40B4-BE49-F238E27FC236}">
                <a16:creationId xmlns:a16="http://schemas.microsoft.com/office/drawing/2014/main" id="{6B0E45EF-4E1B-AD36-ED80-FB98E59ED4BA}"/>
              </a:ext>
            </a:extLst>
          </p:cNvPr>
          <p:cNvGraphicFramePr>
            <a:graphicFrameLocks noGrp="1"/>
          </p:cNvGraphicFramePr>
          <p:nvPr>
            <p:extLst>
              <p:ext uri="{D42A27DB-BD31-4B8C-83A1-F6EECF244321}">
                <p14:modId xmlns:p14="http://schemas.microsoft.com/office/powerpoint/2010/main" val="3174576171"/>
              </p:ext>
            </p:extLst>
          </p:nvPr>
        </p:nvGraphicFramePr>
        <p:xfrm>
          <a:off x="120426" y="3413962"/>
          <a:ext cx="5663238" cy="800100"/>
        </p:xfrm>
        <a:graphic>
          <a:graphicData uri="http://schemas.openxmlformats.org/drawingml/2006/table">
            <a:tbl>
              <a:tblPr firstRow="1">
                <a:tableStyleId>{5C22544A-7EE6-4342-B048-85BDC9FD1C3A}</a:tableStyleId>
              </a:tblPr>
              <a:tblGrid>
                <a:gridCol w="666531">
                  <a:extLst>
                    <a:ext uri="{9D8B030D-6E8A-4147-A177-3AD203B41FA5}">
                      <a16:colId xmlns:a16="http://schemas.microsoft.com/office/drawing/2014/main" val="3200314054"/>
                    </a:ext>
                  </a:extLst>
                </a:gridCol>
                <a:gridCol w="291249">
                  <a:extLst>
                    <a:ext uri="{9D8B030D-6E8A-4147-A177-3AD203B41FA5}">
                      <a16:colId xmlns:a16="http://schemas.microsoft.com/office/drawing/2014/main" val="1913271583"/>
                    </a:ext>
                  </a:extLst>
                </a:gridCol>
                <a:gridCol w="633942">
                  <a:extLst>
                    <a:ext uri="{9D8B030D-6E8A-4147-A177-3AD203B41FA5}">
                      <a16:colId xmlns:a16="http://schemas.microsoft.com/office/drawing/2014/main" val="1797281345"/>
                    </a:ext>
                  </a:extLst>
                </a:gridCol>
                <a:gridCol w="2497687">
                  <a:extLst>
                    <a:ext uri="{9D8B030D-6E8A-4147-A177-3AD203B41FA5}">
                      <a16:colId xmlns:a16="http://schemas.microsoft.com/office/drawing/2014/main" val="2743739350"/>
                    </a:ext>
                  </a:extLst>
                </a:gridCol>
                <a:gridCol w="376977">
                  <a:extLst>
                    <a:ext uri="{9D8B030D-6E8A-4147-A177-3AD203B41FA5}">
                      <a16:colId xmlns:a16="http://schemas.microsoft.com/office/drawing/2014/main" val="2056723756"/>
                    </a:ext>
                  </a:extLst>
                </a:gridCol>
                <a:gridCol w="356261">
                  <a:extLst>
                    <a:ext uri="{9D8B030D-6E8A-4147-A177-3AD203B41FA5}">
                      <a16:colId xmlns:a16="http://schemas.microsoft.com/office/drawing/2014/main" val="4073315665"/>
                    </a:ext>
                  </a:extLst>
                </a:gridCol>
                <a:gridCol w="840591">
                  <a:extLst>
                    <a:ext uri="{9D8B030D-6E8A-4147-A177-3AD203B41FA5}">
                      <a16:colId xmlns:a16="http://schemas.microsoft.com/office/drawing/2014/main" val="848560102"/>
                    </a:ext>
                  </a:extLst>
                </a:gridCol>
              </a:tblGrid>
              <a:tr h="68455">
                <a:tc rowSpan="5">
                  <a:txBody>
                    <a:bodyPr/>
                    <a:lstStyle/>
                    <a:p>
                      <a:pPr algn="ctr" fontAlgn="ctr"/>
                      <a:r>
                        <a:rPr lang="en-US" sz="1200" b="1" i="0" u="none" strike="sngStrike">
                          <a:solidFill>
                            <a:schemeClr val="bg1"/>
                          </a:solidFill>
                          <a:effectLst/>
                          <a:latin typeface="Arial"/>
                        </a:rPr>
                        <a:t>S&amp;D</a:t>
                      </a:r>
                    </a:p>
                    <a:p>
                      <a:pPr algn="ctr" fontAlgn="ctr"/>
                      <a:r>
                        <a:rPr lang="en-US" sz="1200" u="none" strike="sngStrike">
                          <a:solidFill>
                            <a:schemeClr val="bg1"/>
                          </a:solidFill>
                          <a:effectLst/>
                        </a:rPr>
                        <a:t>Entity</a:t>
                      </a:r>
                      <a:endParaRPr lang="en-US" sz="1200" b="1" i="0" u="none" strike="sng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S</a:t>
                      </a:r>
                      <a:r>
                        <a:rPr lang="en-US" sz="1000" b="1" u="none" strike="noStrike" kern="1200">
                          <a:solidFill>
                            <a:schemeClr val="bg1"/>
                          </a:solidFill>
                          <a:effectLst/>
                          <a:latin typeface="+mn-lt"/>
                          <a:ea typeface="+mn-ea"/>
                          <a:cs typeface="+mn-cs"/>
                        </a:rPr>
                        <a:t>&amp;D raises monthly invoice to 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5">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8455">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7200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10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extLst>
                  <a:ext uri="{0D108BD9-81ED-4DB2-BD59-A6C34878D82A}">
                    <a16:rowId xmlns:a16="http://schemas.microsoft.com/office/drawing/2014/main" val="308658163"/>
                  </a:ext>
                </a:extLst>
              </a:tr>
            </a:tbl>
          </a:graphicData>
        </a:graphic>
      </p:graphicFrame>
      <p:graphicFrame>
        <p:nvGraphicFramePr>
          <p:cNvPr id="24" name="Table 65">
            <a:extLst>
              <a:ext uri="{FF2B5EF4-FFF2-40B4-BE49-F238E27FC236}">
                <a16:creationId xmlns:a16="http://schemas.microsoft.com/office/drawing/2014/main" id="{958047E1-4576-F0ED-2322-49F6A9B1DF3D}"/>
              </a:ext>
            </a:extLst>
          </p:cNvPr>
          <p:cNvGraphicFramePr>
            <a:graphicFrameLocks noGrp="1"/>
          </p:cNvGraphicFramePr>
          <p:nvPr>
            <p:extLst>
              <p:ext uri="{D42A27DB-BD31-4B8C-83A1-F6EECF244321}">
                <p14:modId xmlns:p14="http://schemas.microsoft.com/office/powerpoint/2010/main" val="4207015558"/>
              </p:ext>
            </p:extLst>
          </p:nvPr>
        </p:nvGraphicFramePr>
        <p:xfrm>
          <a:off x="115032" y="4647887"/>
          <a:ext cx="5674025" cy="800100"/>
        </p:xfrm>
        <a:graphic>
          <a:graphicData uri="http://schemas.openxmlformats.org/drawingml/2006/table">
            <a:tbl>
              <a:tblPr firstRow="1">
                <a:tableStyleId>{5C22544A-7EE6-4342-B048-85BDC9FD1C3A}</a:tableStyleId>
              </a:tblPr>
              <a:tblGrid>
                <a:gridCol w="680527">
                  <a:extLst>
                    <a:ext uri="{9D8B030D-6E8A-4147-A177-3AD203B41FA5}">
                      <a16:colId xmlns:a16="http://schemas.microsoft.com/office/drawing/2014/main" val="3200314054"/>
                    </a:ext>
                  </a:extLst>
                </a:gridCol>
                <a:gridCol w="289123">
                  <a:extLst>
                    <a:ext uri="{9D8B030D-6E8A-4147-A177-3AD203B41FA5}">
                      <a16:colId xmlns:a16="http://schemas.microsoft.com/office/drawing/2014/main" val="1913271583"/>
                    </a:ext>
                  </a:extLst>
                </a:gridCol>
                <a:gridCol w="737897">
                  <a:extLst>
                    <a:ext uri="{9D8B030D-6E8A-4147-A177-3AD203B41FA5}">
                      <a16:colId xmlns:a16="http://schemas.microsoft.com/office/drawing/2014/main" val="1423110619"/>
                    </a:ext>
                  </a:extLst>
                </a:gridCol>
                <a:gridCol w="2146675">
                  <a:extLst>
                    <a:ext uri="{9D8B030D-6E8A-4147-A177-3AD203B41FA5}">
                      <a16:colId xmlns:a16="http://schemas.microsoft.com/office/drawing/2014/main" val="2743739350"/>
                    </a:ext>
                  </a:extLst>
                </a:gridCol>
                <a:gridCol w="509048">
                  <a:extLst>
                    <a:ext uri="{9D8B030D-6E8A-4147-A177-3AD203B41FA5}">
                      <a16:colId xmlns:a16="http://schemas.microsoft.com/office/drawing/2014/main" val="2056723756"/>
                    </a:ext>
                  </a:extLst>
                </a:gridCol>
                <a:gridCol w="490193">
                  <a:extLst>
                    <a:ext uri="{9D8B030D-6E8A-4147-A177-3AD203B41FA5}">
                      <a16:colId xmlns:a16="http://schemas.microsoft.com/office/drawing/2014/main" val="4073315665"/>
                    </a:ext>
                  </a:extLst>
                </a:gridCol>
                <a:gridCol w="820562">
                  <a:extLst>
                    <a:ext uri="{9D8B030D-6E8A-4147-A177-3AD203B41FA5}">
                      <a16:colId xmlns:a16="http://schemas.microsoft.com/office/drawing/2014/main" val="848560102"/>
                    </a:ext>
                  </a:extLst>
                </a:gridCol>
              </a:tblGrid>
              <a:tr h="68454">
                <a:tc rowSpan="5">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Funded Ongoing service monthly amortization</a:t>
                      </a:r>
                      <a:endParaRPr kumimoji="0" lang="en-US" sz="1000" b="1" i="0" u="none" strike="noStrike" kern="1200" cap="none" spc="0" normalizeH="0" baseline="0" noProof="0">
                        <a:ln>
                          <a:noFill/>
                        </a:ln>
                        <a:solidFill>
                          <a:prstClr val="white"/>
                        </a:solidFill>
                        <a:effectLst/>
                        <a:uLnTx/>
                        <a:uFillTx/>
                        <a:latin typeface="+mn-lt"/>
                        <a:ea typeface="+mn-ea"/>
                        <a:cs typeface="Arial"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4">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altLang="zh-CN"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708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50002211"/>
                  </a:ext>
                </a:extLst>
              </a:tr>
              <a:tr h="68454">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Deferred Income – Premier Support</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1538828212"/>
                  </a:ext>
                </a:extLst>
              </a:tr>
              <a:tr h="68454">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1976302529"/>
                  </a:ext>
                </a:extLst>
              </a:tr>
            </a:tbl>
          </a:graphicData>
        </a:graphic>
      </p:graphicFrame>
      <p:graphicFrame>
        <p:nvGraphicFramePr>
          <p:cNvPr id="2" name="Table 2">
            <a:extLst>
              <a:ext uri="{FF2B5EF4-FFF2-40B4-BE49-F238E27FC236}">
                <a16:creationId xmlns:a16="http://schemas.microsoft.com/office/drawing/2014/main" id="{716F4EBB-4B36-4DEF-3856-B82DC2649C87}"/>
              </a:ext>
            </a:extLst>
          </p:cNvPr>
          <p:cNvGraphicFramePr>
            <a:graphicFrameLocks noGrp="1"/>
          </p:cNvGraphicFramePr>
          <p:nvPr>
            <p:extLst>
              <p:ext uri="{D42A27DB-BD31-4B8C-83A1-F6EECF244321}">
                <p14:modId xmlns:p14="http://schemas.microsoft.com/office/powerpoint/2010/main" val="2182532319"/>
              </p:ext>
            </p:extLst>
          </p:nvPr>
        </p:nvGraphicFramePr>
        <p:xfrm>
          <a:off x="85274" y="5522225"/>
          <a:ext cx="5703785" cy="723900"/>
        </p:xfrm>
        <a:graphic>
          <a:graphicData uri="http://schemas.openxmlformats.org/drawingml/2006/table">
            <a:tbl>
              <a:tblPr firstRow="1">
                <a:tableStyleId>{5C22544A-7EE6-4342-B048-85BDC9FD1C3A}</a:tableStyleId>
              </a:tblPr>
              <a:tblGrid>
                <a:gridCol w="671304">
                  <a:extLst>
                    <a:ext uri="{9D8B030D-6E8A-4147-A177-3AD203B41FA5}">
                      <a16:colId xmlns:a16="http://schemas.microsoft.com/office/drawing/2014/main" val="3200314054"/>
                    </a:ext>
                  </a:extLst>
                </a:gridCol>
                <a:gridCol w="182311">
                  <a:extLst>
                    <a:ext uri="{9D8B030D-6E8A-4147-A177-3AD203B41FA5}">
                      <a16:colId xmlns:a16="http://schemas.microsoft.com/office/drawing/2014/main" val="1913271583"/>
                    </a:ext>
                  </a:extLst>
                </a:gridCol>
                <a:gridCol w="643872">
                  <a:extLst>
                    <a:ext uri="{9D8B030D-6E8A-4147-A177-3AD203B41FA5}">
                      <a16:colId xmlns:a16="http://schemas.microsoft.com/office/drawing/2014/main" val="1797281345"/>
                    </a:ext>
                  </a:extLst>
                </a:gridCol>
                <a:gridCol w="2056411">
                  <a:extLst>
                    <a:ext uri="{9D8B030D-6E8A-4147-A177-3AD203B41FA5}">
                      <a16:colId xmlns:a16="http://schemas.microsoft.com/office/drawing/2014/main" val="2743739350"/>
                    </a:ext>
                  </a:extLst>
                </a:gridCol>
                <a:gridCol w="616681">
                  <a:extLst>
                    <a:ext uri="{9D8B030D-6E8A-4147-A177-3AD203B41FA5}">
                      <a16:colId xmlns:a16="http://schemas.microsoft.com/office/drawing/2014/main" val="2056723756"/>
                    </a:ext>
                  </a:extLst>
                </a:gridCol>
                <a:gridCol w="686595">
                  <a:extLst>
                    <a:ext uri="{9D8B030D-6E8A-4147-A177-3AD203B41FA5}">
                      <a16:colId xmlns:a16="http://schemas.microsoft.com/office/drawing/2014/main" val="4073315665"/>
                    </a:ext>
                  </a:extLst>
                </a:gridCol>
                <a:gridCol w="846611">
                  <a:extLst>
                    <a:ext uri="{9D8B030D-6E8A-4147-A177-3AD203B41FA5}">
                      <a16:colId xmlns:a16="http://schemas.microsoft.com/office/drawing/2014/main" val="848560102"/>
                    </a:ext>
                  </a:extLst>
                </a:gridCol>
              </a:tblGrid>
              <a:tr h="96327">
                <a:tc rowSpan="5">
                  <a:txBody>
                    <a:bodyPr/>
                    <a:lstStyle/>
                    <a:p>
                      <a:pPr algn="ctr" fontAlgn="ctr"/>
                      <a:r>
                        <a:rPr lang="en-US" sz="1100" u="none" strike="noStrike">
                          <a:effectLst/>
                        </a:rPr>
                        <a:t>S&amp;D</a:t>
                      </a:r>
                      <a:br>
                        <a:rPr lang="en-US" sz="1100" u="none" strike="noStrike">
                          <a:effectLst/>
                        </a:rPr>
                      </a:br>
                      <a:r>
                        <a:rPr lang="en-US" sz="1100" u="none" strike="noStrike">
                          <a:effectLst/>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900" b="1" u="none" strike="noStrike" kern="1200">
                          <a:solidFill>
                            <a:schemeClr val="lt1"/>
                          </a:solidFill>
                          <a:effectLst/>
                          <a:latin typeface="+mn-lt"/>
                          <a:ea typeface="+mn-ea"/>
                          <a:cs typeface="+mn-cs"/>
                        </a:rPr>
                        <a:t>Factory service split​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96327">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a:ln>
                            <a:noFill/>
                          </a:ln>
                          <a:solidFill>
                            <a:srgbClr val="000000"/>
                          </a:solidFill>
                          <a:effectLst/>
                          <a:uLnTx/>
                          <a:uFillTx/>
                          <a:latin typeface="+mn-lt"/>
                          <a:ea typeface="+mn-ea"/>
                          <a:cs typeface="+mn-cs"/>
                        </a:rPr>
                        <a:t>Upon M0, follow as-is FS split logic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96327">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900" b="1" i="0" u="none" strike="noStrike" kern="1200" cap="none" spc="0" normalizeH="0" baseline="0">
                          <a:ln>
                            <a:noFill/>
                          </a:ln>
                          <a:solidFill>
                            <a:srgbClr val="000000"/>
                          </a:solidFill>
                          <a:effectLst/>
                          <a:uLnTx/>
                          <a:uFillTx/>
                          <a:latin typeface="Arial"/>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900" b="1" i="0" u="none" strike="noStrike" kern="1200" cap="none" spc="0" normalizeH="0" baseline="0">
                          <a:ln>
                            <a:noFill/>
                          </a:ln>
                          <a:solidFill>
                            <a:srgbClr val="000000"/>
                          </a:solidFill>
                          <a:effectLst/>
                          <a:uLnTx/>
                          <a:uFillTx/>
                          <a:latin typeface="Arial"/>
                          <a:ea typeface="+mn-ea"/>
                          <a:cs typeface="+mn-cs"/>
                        </a:rPr>
                        <a:t>PV</a:t>
                      </a:r>
                      <a:endParaRPr kumimoji="0" lang="en-US" sz="900" b="1" i="0" u="none" strike="noStrike" kern="1200" cap="none" spc="0" normalizeH="0" baseline="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900" b="1" i="0" u="none" strike="noStrike" kern="1200" cap="none" spc="0" normalizeH="0" baseline="0">
                          <a:ln>
                            <a:noFill/>
                          </a:ln>
                          <a:solidFill>
                            <a:srgbClr val="000000"/>
                          </a:solidFill>
                          <a:effectLst/>
                          <a:uLnTx/>
                          <a:uFillTx/>
                          <a:latin typeface="Arial"/>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982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mn-lt"/>
                          <a:ea typeface="+mn-ea"/>
                          <a:cs typeface="+mn-cs"/>
                        </a:rPr>
                        <a:t>5010300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mn-lt"/>
                          <a:ea typeface="+mn-ea"/>
                          <a:cs typeface="+mn-cs"/>
                        </a:rPr>
                        <a:t>Turnover (IC Revenue)</a:t>
                      </a:r>
                      <a:endParaRPr lang="en-US" altLang="zh-CN" sz="9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9825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b"/>
                      <a:r>
                        <a:rPr lang="en-US" sz="900" b="0" i="0" u="none" strike="noStrike">
                          <a:solidFill>
                            <a:srgbClr val="000000"/>
                          </a:solidFill>
                          <a:effectLst/>
                          <a:latin typeface="+mn-lt"/>
                        </a:rPr>
                        <a:t>5010401</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900" b="0" i="0" u="none" strike="noStrike">
                          <a:solidFill>
                            <a:srgbClr val="000000"/>
                          </a:solidFill>
                          <a:effectLst/>
                          <a:latin typeface="+mn-lt"/>
                        </a:rPr>
                        <a:t>Service Rev – FS</a:t>
                      </a:r>
                      <a:endParaRPr lang="en-US" sz="900" b="0" i="0" u="none" strike="noStrike">
                        <a:solidFill>
                          <a:srgbClr val="FF0000"/>
                        </a:solidFill>
                        <a:effectLst/>
                        <a:latin typeface="+mn-lt"/>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911046863"/>
                  </a:ext>
                </a:extLst>
              </a:tr>
            </a:tbl>
          </a:graphicData>
        </a:graphic>
      </p:graphicFrame>
      <p:sp>
        <p:nvSpPr>
          <p:cNvPr id="3" name="标题 2">
            <a:extLst>
              <a:ext uri="{FF2B5EF4-FFF2-40B4-BE49-F238E27FC236}">
                <a16:creationId xmlns:a16="http://schemas.microsoft.com/office/drawing/2014/main" id="{D0C44DE4-C2FA-7636-3507-B6B9D8521154}"/>
              </a:ext>
            </a:extLst>
          </p:cNvPr>
          <p:cNvSpPr>
            <a:spLocks noGrp="1"/>
          </p:cNvSpPr>
          <p:nvPr>
            <p:ph type="title"/>
          </p:nvPr>
        </p:nvSpPr>
        <p:spPr>
          <a:xfrm>
            <a:off x="281228" y="48625"/>
            <a:ext cx="11188700" cy="698500"/>
          </a:xfrm>
        </p:spPr>
        <p:txBody>
          <a:bodyPr>
            <a:normAutofit/>
          </a:bodyPr>
          <a:lstStyle/>
          <a:p>
            <a:pPr algn="ctr"/>
            <a:r>
              <a:rPr lang="en-US" altLang="zh-CN" sz="3200">
                <a:latin typeface="Arial" panose="020B0604020202020204" pitchFamily="34" charset="0"/>
                <a:cs typeface="Arial" panose="020B0604020202020204" pitchFamily="34" charset="0"/>
              </a:rPr>
              <a:t>AFE: Operating Lease ————</a:t>
            </a:r>
            <a:r>
              <a:rPr lang="zh-CN" altLang="en-US" sz="3200">
                <a:latin typeface="Arial" panose="020B0604020202020204" pitchFamily="34" charset="0"/>
                <a:cs typeface="Arial" panose="020B0604020202020204" pitchFamily="34" charset="0"/>
              </a:rPr>
              <a:t> </a:t>
            </a:r>
            <a:r>
              <a:rPr lang="en-US" altLang="zh-CN" sz="3200">
                <a:latin typeface="Arial" panose="020B0604020202020204" pitchFamily="34" charset="0"/>
                <a:cs typeface="Arial" panose="020B0604020202020204" pitchFamily="34" charset="0"/>
              </a:rPr>
              <a:t>Operating Lease </a:t>
            </a:r>
            <a:endParaRPr lang="zh-CN" altLang="en-US" sz="3200">
              <a:latin typeface="Arial" panose="020B0604020202020204" pitchFamily="34" charset="0"/>
              <a:cs typeface="Arial" panose="020B0604020202020204" pitchFamily="34" charset="0"/>
            </a:endParaRPr>
          </a:p>
        </p:txBody>
      </p:sp>
      <p:sp>
        <p:nvSpPr>
          <p:cNvPr id="5" name="文本框 4">
            <a:extLst>
              <a:ext uri="{FF2B5EF4-FFF2-40B4-BE49-F238E27FC236}">
                <a16:creationId xmlns:a16="http://schemas.microsoft.com/office/drawing/2014/main" id="{D010CBFD-1BB8-EB6B-9036-65677D940502}"/>
              </a:ext>
            </a:extLst>
          </p:cNvPr>
          <p:cNvSpPr txBox="1"/>
          <p:nvPr/>
        </p:nvSpPr>
        <p:spPr>
          <a:xfrm>
            <a:off x="5844901" y="89624"/>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sp>
        <p:nvSpPr>
          <p:cNvPr id="13" name="对话气泡: 矩形 12">
            <a:extLst>
              <a:ext uri="{FF2B5EF4-FFF2-40B4-BE49-F238E27FC236}">
                <a16:creationId xmlns:a16="http://schemas.microsoft.com/office/drawing/2014/main" id="{0A050C1A-2675-BFA0-4E39-916A51E96F1E}"/>
              </a:ext>
            </a:extLst>
          </p:cNvPr>
          <p:cNvSpPr/>
          <p:nvPr/>
        </p:nvSpPr>
        <p:spPr>
          <a:xfrm>
            <a:off x="-1056302" y="2279050"/>
            <a:ext cx="952500" cy="1896672"/>
          </a:xfrm>
          <a:prstGeom prst="wedgeRectCallout">
            <a:avLst>
              <a:gd name="adj1" fmla="val 68261"/>
              <a:gd name="adj2" fmla="val -7012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Entries this page were normal operating lease by AFE, while right hand were entries after rewrite.</a:t>
            </a:r>
          </a:p>
        </p:txBody>
      </p:sp>
    </p:spTree>
    <p:extLst>
      <p:ext uri="{BB962C8B-B14F-4D97-AF65-F5344CB8AC3E}">
        <p14:creationId xmlns:p14="http://schemas.microsoft.com/office/powerpoint/2010/main" val="165583899"/>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B4EB5C-639D-1E94-1A34-9CACD43E6798}"/>
            </a:ext>
          </a:extLst>
        </p:cNvPr>
        <p:cNvGrpSpPr/>
        <p:nvPr/>
      </p:nvGrpSpPr>
      <p:grpSpPr>
        <a:xfrm>
          <a:off x="0" y="0"/>
          <a:ext cx="0" cy="0"/>
          <a:chOff x="0" y="0"/>
          <a:chExt cx="0" cy="0"/>
        </a:xfrm>
      </p:grpSpPr>
      <p:sp>
        <p:nvSpPr>
          <p:cNvPr id="27" name="矩形 26">
            <a:extLst>
              <a:ext uri="{FF2B5EF4-FFF2-40B4-BE49-F238E27FC236}">
                <a16:creationId xmlns:a16="http://schemas.microsoft.com/office/drawing/2014/main" id="{0FC2DC98-B7DC-DE2C-330B-74F9854ECD34}"/>
              </a:ext>
            </a:extLst>
          </p:cNvPr>
          <p:cNvSpPr/>
          <p:nvPr/>
        </p:nvSpPr>
        <p:spPr>
          <a:xfrm>
            <a:off x="669406" y="840167"/>
            <a:ext cx="6048375" cy="5730239"/>
          </a:xfrm>
          <a:prstGeom prst="rect">
            <a:avLst/>
          </a:prstGeom>
          <a:solidFill>
            <a:schemeClr val="accent2">
              <a:lumMod val="40000"/>
              <a:lumOff val="60000"/>
              <a:alpha val="25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3" name="灯片编号占位符 2">
            <a:extLst>
              <a:ext uri="{FF2B5EF4-FFF2-40B4-BE49-F238E27FC236}">
                <a16:creationId xmlns:a16="http://schemas.microsoft.com/office/drawing/2014/main" id="{D5867AD6-AE53-11A0-CCEB-C0E8710CA379}"/>
              </a:ext>
            </a:extLst>
          </p:cNvPr>
          <p:cNvSpPr>
            <a:spLocks noGrp="1"/>
          </p:cNvSpPr>
          <p:nvPr>
            <p:ph type="sldNum" sz="quarter" idx="4"/>
          </p:nvPr>
        </p:nvSpPr>
        <p:spPr>
          <a:xfrm>
            <a:off x="11752974" y="6473952"/>
            <a:ext cx="439026" cy="155448"/>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6D22F896-40B5-4ADD-8801-0D06FADFA095}" type="slidenum">
              <a:rPr lang="en-US" smtClean="0"/>
              <a:pPr marL="0" marR="0" lvl="0" indent="0" algn="ctr" defTabSz="914400" rtl="0" eaLnBrk="1" fontAlgn="auto" latinLnBrk="0" hangingPunct="1">
                <a:lnSpc>
                  <a:spcPct val="100000"/>
                </a:lnSpc>
                <a:spcBef>
                  <a:spcPts val="0"/>
                </a:spcBef>
                <a:spcAft>
                  <a:spcPts val="0"/>
                </a:spcAft>
                <a:buClrTx/>
                <a:buSzTx/>
                <a:buFontTx/>
                <a:buNone/>
                <a:tabLst/>
                <a:defRPr/>
              </a:pPr>
              <a:t>132</a:t>
            </a:fld>
            <a:endParaRPr kumimoji="0" lang="en-US" sz="1000" b="0" i="0" u="none" strike="noStrike" kern="1200" cap="none" spc="0" normalizeH="0" baseline="0" noProof="0">
              <a:ln>
                <a:noFill/>
              </a:ln>
              <a:solidFill>
                <a:srgbClr val="000000"/>
              </a:solidFill>
              <a:effectLst/>
              <a:uLnTx/>
              <a:uFillTx/>
            </a:endParaRPr>
          </a:p>
        </p:txBody>
      </p:sp>
      <p:grpSp>
        <p:nvGrpSpPr>
          <p:cNvPr id="19" name="Group 18">
            <a:extLst>
              <a:ext uri="{FF2B5EF4-FFF2-40B4-BE49-F238E27FC236}">
                <a16:creationId xmlns:a16="http://schemas.microsoft.com/office/drawing/2014/main" id="{D7B7E341-7B11-6851-3716-DC81B7EB503F}"/>
              </a:ext>
            </a:extLst>
          </p:cNvPr>
          <p:cNvGrpSpPr/>
          <p:nvPr/>
        </p:nvGrpSpPr>
        <p:grpSpPr>
          <a:xfrm>
            <a:off x="11159606" y="35712"/>
            <a:ext cx="1032394" cy="698500"/>
            <a:chOff x="11159606" y="0"/>
            <a:chExt cx="1032394" cy="734212"/>
          </a:xfrm>
        </p:grpSpPr>
        <p:sp>
          <p:nvSpPr>
            <p:cNvPr id="20" name="Rectangle: Rounded Corners 19">
              <a:extLst>
                <a:ext uri="{FF2B5EF4-FFF2-40B4-BE49-F238E27FC236}">
                  <a16:creationId xmlns:a16="http://schemas.microsoft.com/office/drawing/2014/main" id="{22D78047-91AB-5E1B-D7DD-B5CFDB315442}"/>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BRIM</a:t>
              </a:r>
            </a:p>
          </p:txBody>
        </p:sp>
        <p:sp>
          <p:nvSpPr>
            <p:cNvPr id="21" name="Rectangle: Rounded Corners 20">
              <a:extLst>
                <a:ext uri="{FF2B5EF4-FFF2-40B4-BE49-F238E27FC236}">
                  <a16:creationId xmlns:a16="http://schemas.microsoft.com/office/drawing/2014/main" id="{D0A1B319-9FFB-5161-6767-7E7E0598ACDE}"/>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ECC</a:t>
              </a:r>
            </a:p>
          </p:txBody>
        </p:sp>
        <p:sp>
          <p:nvSpPr>
            <p:cNvPr id="22" name="Rectangle: Rounded Corners 21">
              <a:extLst>
                <a:ext uri="{FF2B5EF4-FFF2-40B4-BE49-F238E27FC236}">
                  <a16:creationId xmlns:a16="http://schemas.microsoft.com/office/drawing/2014/main" id="{2FA201BC-A0E4-5B46-7479-54249085E06D}"/>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Odessa</a:t>
              </a:r>
            </a:p>
          </p:txBody>
        </p:sp>
      </p:grpSp>
      <p:sp>
        <p:nvSpPr>
          <p:cNvPr id="13" name="标题 2">
            <a:extLst>
              <a:ext uri="{FF2B5EF4-FFF2-40B4-BE49-F238E27FC236}">
                <a16:creationId xmlns:a16="http://schemas.microsoft.com/office/drawing/2014/main" id="{C6EEB6D9-139B-DAAD-5C3E-4DD00718F395}"/>
              </a:ext>
            </a:extLst>
          </p:cNvPr>
          <p:cNvSpPr>
            <a:spLocks noGrp="1"/>
          </p:cNvSpPr>
          <p:nvPr>
            <p:ph type="title"/>
          </p:nvPr>
        </p:nvSpPr>
        <p:spPr>
          <a:xfrm>
            <a:off x="281228" y="48625"/>
            <a:ext cx="11188700" cy="698500"/>
          </a:xfrm>
        </p:spPr>
        <p:txBody>
          <a:bodyPr>
            <a:normAutofit/>
          </a:bodyPr>
          <a:lstStyle/>
          <a:p>
            <a:pPr algn="ctr"/>
            <a:r>
              <a:rPr lang="en-US" altLang="zh-CN" sz="3200">
                <a:latin typeface="Arial" panose="020B0604020202020204" pitchFamily="34" charset="0"/>
                <a:cs typeface="Arial" panose="020B0604020202020204" pitchFamily="34" charset="0"/>
              </a:rPr>
              <a:t>AFE: Operating Lease ————</a:t>
            </a:r>
            <a:r>
              <a:rPr lang="zh-CN" altLang="en-US" sz="3200">
                <a:latin typeface="Arial" panose="020B0604020202020204" pitchFamily="34" charset="0"/>
                <a:cs typeface="Arial" panose="020B0604020202020204" pitchFamily="34" charset="0"/>
              </a:rPr>
              <a:t> </a:t>
            </a:r>
            <a:r>
              <a:rPr lang="en-US" altLang="zh-CN" sz="3200">
                <a:latin typeface="Arial" panose="020B0604020202020204" pitchFamily="34" charset="0"/>
                <a:cs typeface="Arial" panose="020B0604020202020204" pitchFamily="34" charset="0"/>
              </a:rPr>
              <a:t>Operating Lease </a:t>
            </a:r>
            <a:endParaRPr lang="zh-CN" altLang="en-US" sz="3200">
              <a:latin typeface="Arial" panose="020B0604020202020204" pitchFamily="34" charset="0"/>
              <a:cs typeface="Arial" panose="020B0604020202020204" pitchFamily="34" charset="0"/>
            </a:endParaRPr>
          </a:p>
        </p:txBody>
      </p:sp>
      <p:sp>
        <p:nvSpPr>
          <p:cNvPr id="28" name="对话气泡: 矩形 27">
            <a:extLst>
              <a:ext uri="{FF2B5EF4-FFF2-40B4-BE49-F238E27FC236}">
                <a16:creationId xmlns:a16="http://schemas.microsoft.com/office/drawing/2014/main" id="{87E0F2BB-8198-71A2-5D73-84BC33695F9B}"/>
              </a:ext>
            </a:extLst>
          </p:cNvPr>
          <p:cNvSpPr/>
          <p:nvPr/>
        </p:nvSpPr>
        <p:spPr>
          <a:xfrm>
            <a:off x="7120779" y="782808"/>
            <a:ext cx="2597379" cy="833341"/>
          </a:xfrm>
          <a:prstGeom prst="wedgeRectCallout">
            <a:avLst>
              <a:gd name="adj1" fmla="val -72297"/>
              <a:gd name="adj2" fmla="val 3718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In AFE model, AFE will keep this upfront service amt as interest income, since customer will pay upfront in more months.</a:t>
            </a:r>
          </a:p>
        </p:txBody>
      </p:sp>
      <p:sp>
        <p:nvSpPr>
          <p:cNvPr id="6" name="文本框 5">
            <a:extLst>
              <a:ext uri="{FF2B5EF4-FFF2-40B4-BE49-F238E27FC236}">
                <a16:creationId xmlns:a16="http://schemas.microsoft.com/office/drawing/2014/main" id="{E9E40309-4D0B-5411-D5C8-0E540239BF77}"/>
              </a:ext>
            </a:extLst>
          </p:cNvPr>
          <p:cNvSpPr txBox="1"/>
          <p:nvPr/>
        </p:nvSpPr>
        <p:spPr>
          <a:xfrm>
            <a:off x="5844901" y="89624"/>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sp>
        <p:nvSpPr>
          <p:cNvPr id="11" name="对话气泡: 矩形 10">
            <a:extLst>
              <a:ext uri="{FF2B5EF4-FFF2-40B4-BE49-F238E27FC236}">
                <a16:creationId xmlns:a16="http://schemas.microsoft.com/office/drawing/2014/main" id="{4B462F4A-02F4-2BDF-994C-C19F3AF8875C}"/>
              </a:ext>
            </a:extLst>
          </p:cNvPr>
          <p:cNvSpPr/>
          <p:nvPr/>
        </p:nvSpPr>
        <p:spPr>
          <a:xfrm>
            <a:off x="846778" y="1988592"/>
            <a:ext cx="5693630" cy="451888"/>
          </a:xfrm>
          <a:prstGeom prst="wedgeRectCallout">
            <a:avLst>
              <a:gd name="adj1" fmla="val 26234"/>
              <a:gd name="adj2" fmla="val -7306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latin typeface="Arial" panose="020B0604020202020204" pitchFamily="34" charset="0"/>
                <a:cs typeface="Arial" panose="020B0604020202020204" pitchFamily="34" charset="0"/>
              </a:rPr>
              <a:t>Calculation logic: </a:t>
            </a:r>
          </a:p>
          <a:p>
            <a:r>
              <a:rPr lang="en-US" altLang="zh-CN" sz="1100">
                <a:solidFill>
                  <a:schemeClr val="tx1"/>
                </a:solidFill>
                <a:latin typeface="Arial" panose="020B0604020202020204" pitchFamily="34" charset="0"/>
                <a:cs typeface="Arial" panose="020B0604020202020204" pitchFamily="34" charset="0"/>
              </a:rPr>
              <a:t>=rewrite upfront amt *new lease term - original upfront amt*remaining months</a:t>
            </a:r>
            <a:endParaRPr lang="zh-CN" altLang="en-US" sz="1100">
              <a:solidFill>
                <a:schemeClr val="tx1"/>
              </a:solidFill>
              <a:latin typeface="Arial" panose="020B0604020202020204" pitchFamily="34" charset="0"/>
              <a:cs typeface="Arial" panose="020B0604020202020204" pitchFamily="34" charset="0"/>
            </a:endParaRPr>
          </a:p>
        </p:txBody>
      </p:sp>
      <p:sp>
        <p:nvSpPr>
          <p:cNvPr id="14" name="对话气泡: 矩形 13">
            <a:extLst>
              <a:ext uri="{FF2B5EF4-FFF2-40B4-BE49-F238E27FC236}">
                <a16:creationId xmlns:a16="http://schemas.microsoft.com/office/drawing/2014/main" id="{A24EC87B-C08C-9DEA-7B8A-8F065962A223}"/>
              </a:ext>
            </a:extLst>
          </p:cNvPr>
          <p:cNvSpPr/>
          <p:nvPr/>
        </p:nvSpPr>
        <p:spPr>
          <a:xfrm>
            <a:off x="860350" y="5564355"/>
            <a:ext cx="5924551" cy="837682"/>
          </a:xfrm>
          <a:prstGeom prst="wedgeRectCallout">
            <a:avLst>
              <a:gd name="adj1" fmla="val 26143"/>
              <a:gd name="adj2" fmla="val -8100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latin typeface="Arial" panose="020B0604020202020204" pitchFamily="34" charset="0"/>
                <a:cs typeface="Arial" panose="020B0604020202020204" pitchFamily="34" charset="0"/>
              </a:rPr>
              <a:t>Monthly Depreciation amt should also be decrease </a:t>
            </a:r>
          </a:p>
          <a:p>
            <a:r>
              <a:rPr lang="en-US" altLang="zh-CN" sz="1100">
                <a:solidFill>
                  <a:schemeClr val="tx1"/>
                </a:solidFill>
                <a:latin typeface="Arial" panose="020B0604020202020204" pitchFamily="34" charset="0"/>
                <a:cs typeface="Arial" panose="020B0604020202020204" pitchFamily="34" charset="0"/>
              </a:rPr>
              <a:t>Calculation logic: </a:t>
            </a:r>
          </a:p>
          <a:p>
            <a:pPr marL="228600" indent="-228600">
              <a:buFont typeface="+mj-ea"/>
              <a:buAutoNum type="circleNumDbPlain"/>
            </a:pPr>
            <a:r>
              <a:rPr lang="en-US" altLang="zh-CN" sz="1100">
                <a:solidFill>
                  <a:schemeClr val="tx1"/>
                </a:solidFill>
                <a:latin typeface="Arial" panose="020B0604020202020204" pitchFamily="34" charset="0"/>
                <a:cs typeface="Arial" panose="020B0604020202020204" pitchFamily="34" charset="0"/>
              </a:rPr>
              <a:t>Recalculate depreciation  cost = (manufacturing cost- depreciated amt)-revalued RV amt</a:t>
            </a:r>
          </a:p>
          <a:p>
            <a:pPr marL="228600" indent="-228600">
              <a:buFont typeface="+mj-ea"/>
              <a:buAutoNum type="circleNumDbPlain"/>
            </a:pPr>
            <a:r>
              <a:rPr lang="en-US" altLang="zh-CN" sz="1100">
                <a:solidFill>
                  <a:schemeClr val="tx1"/>
                </a:solidFill>
                <a:latin typeface="Arial" panose="020B0604020202020204" pitchFamily="34" charset="0"/>
                <a:cs typeface="Arial" panose="020B0604020202020204" pitchFamily="34" charset="0"/>
              </a:rPr>
              <a:t>Adjusted monthly depreciation amt=recalculated depreciation cost / remaining month</a:t>
            </a:r>
          </a:p>
        </p:txBody>
      </p:sp>
      <p:sp>
        <p:nvSpPr>
          <p:cNvPr id="17" name="对话气泡: 矩形 16">
            <a:extLst>
              <a:ext uri="{FF2B5EF4-FFF2-40B4-BE49-F238E27FC236}">
                <a16:creationId xmlns:a16="http://schemas.microsoft.com/office/drawing/2014/main" id="{A2DFA390-B613-CA2D-5E0C-C893FD037476}"/>
              </a:ext>
            </a:extLst>
          </p:cNvPr>
          <p:cNvSpPr/>
          <p:nvPr/>
        </p:nvSpPr>
        <p:spPr>
          <a:xfrm>
            <a:off x="7454547" y="4103051"/>
            <a:ext cx="1669163" cy="1395416"/>
          </a:xfrm>
          <a:prstGeom prst="wedgeRectCallout">
            <a:avLst>
              <a:gd name="adj1" fmla="val -112881"/>
              <a:gd name="adj2" fmla="val -5359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Subsequent steps such as ARS revenue recognition, premier </a:t>
            </a:r>
            <a:r>
              <a:rPr lang="en-US" altLang="zh-CN" sz="1100" b="1" err="1">
                <a:solidFill>
                  <a:srgbClr val="000000"/>
                </a:solidFill>
                <a:latin typeface="Arial" panose="020B0604020202020204" pitchFamily="34" charset="0"/>
                <a:ea typeface="黑体" panose="02010609060101010101" pitchFamily="49" charset="-122"/>
                <a:cs typeface="Arial" panose="020B0604020202020204" pitchFamily="34" charset="0"/>
              </a:rPr>
              <a:t>interco</a:t>
            </a:r>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 monthly are consistent with normal OL solution.</a:t>
            </a:r>
          </a:p>
        </p:txBody>
      </p:sp>
      <p:graphicFrame>
        <p:nvGraphicFramePr>
          <p:cNvPr id="12" name="Table 94">
            <a:extLst>
              <a:ext uri="{FF2B5EF4-FFF2-40B4-BE49-F238E27FC236}">
                <a16:creationId xmlns:a16="http://schemas.microsoft.com/office/drawing/2014/main" id="{F5A30618-6AA6-AE0B-48EC-587DBFF82BFC}"/>
              </a:ext>
            </a:extLst>
          </p:cNvPr>
          <p:cNvGraphicFramePr>
            <a:graphicFrameLocks noGrp="1"/>
          </p:cNvGraphicFramePr>
          <p:nvPr>
            <p:extLst>
              <p:ext uri="{D42A27DB-BD31-4B8C-83A1-F6EECF244321}">
                <p14:modId xmlns:p14="http://schemas.microsoft.com/office/powerpoint/2010/main" val="2113714143"/>
              </p:ext>
            </p:extLst>
          </p:nvPr>
        </p:nvGraphicFramePr>
        <p:xfrm>
          <a:off x="773296" y="930796"/>
          <a:ext cx="5791540" cy="890925"/>
        </p:xfrm>
        <a:graphic>
          <a:graphicData uri="http://schemas.openxmlformats.org/drawingml/2006/table">
            <a:tbl>
              <a:tblPr firstRow="1">
                <a:tableStyleId>{5C22544A-7EE6-4342-B048-85BDC9FD1C3A}</a:tableStyleId>
              </a:tblPr>
              <a:tblGrid>
                <a:gridCol w="361950">
                  <a:extLst>
                    <a:ext uri="{9D8B030D-6E8A-4147-A177-3AD203B41FA5}">
                      <a16:colId xmlns:a16="http://schemas.microsoft.com/office/drawing/2014/main" val="3200314054"/>
                    </a:ext>
                  </a:extLst>
                </a:gridCol>
                <a:gridCol w="221124">
                  <a:extLst>
                    <a:ext uri="{9D8B030D-6E8A-4147-A177-3AD203B41FA5}">
                      <a16:colId xmlns:a16="http://schemas.microsoft.com/office/drawing/2014/main" val="1913271583"/>
                    </a:ext>
                  </a:extLst>
                </a:gridCol>
                <a:gridCol w="482477">
                  <a:extLst>
                    <a:ext uri="{9D8B030D-6E8A-4147-A177-3AD203B41FA5}">
                      <a16:colId xmlns:a16="http://schemas.microsoft.com/office/drawing/2014/main" val="1797281345"/>
                    </a:ext>
                  </a:extLst>
                </a:gridCol>
                <a:gridCol w="2171700">
                  <a:extLst>
                    <a:ext uri="{9D8B030D-6E8A-4147-A177-3AD203B41FA5}">
                      <a16:colId xmlns:a16="http://schemas.microsoft.com/office/drawing/2014/main" val="2743739350"/>
                    </a:ext>
                  </a:extLst>
                </a:gridCol>
                <a:gridCol w="258417">
                  <a:extLst>
                    <a:ext uri="{9D8B030D-6E8A-4147-A177-3AD203B41FA5}">
                      <a16:colId xmlns:a16="http://schemas.microsoft.com/office/drawing/2014/main" val="2056723756"/>
                    </a:ext>
                  </a:extLst>
                </a:gridCol>
                <a:gridCol w="422547">
                  <a:extLst>
                    <a:ext uri="{9D8B030D-6E8A-4147-A177-3AD203B41FA5}">
                      <a16:colId xmlns:a16="http://schemas.microsoft.com/office/drawing/2014/main" val="4073315665"/>
                    </a:ext>
                  </a:extLst>
                </a:gridCol>
                <a:gridCol w="285750">
                  <a:extLst>
                    <a:ext uri="{9D8B030D-6E8A-4147-A177-3AD203B41FA5}">
                      <a16:colId xmlns:a16="http://schemas.microsoft.com/office/drawing/2014/main" val="3068119212"/>
                    </a:ext>
                  </a:extLst>
                </a:gridCol>
                <a:gridCol w="304800">
                  <a:extLst>
                    <a:ext uri="{9D8B030D-6E8A-4147-A177-3AD203B41FA5}">
                      <a16:colId xmlns:a16="http://schemas.microsoft.com/office/drawing/2014/main" val="3765595061"/>
                    </a:ext>
                  </a:extLst>
                </a:gridCol>
                <a:gridCol w="273786">
                  <a:extLst>
                    <a:ext uri="{9D8B030D-6E8A-4147-A177-3AD203B41FA5}">
                      <a16:colId xmlns:a16="http://schemas.microsoft.com/office/drawing/2014/main" val="4016582823"/>
                    </a:ext>
                  </a:extLst>
                </a:gridCol>
                <a:gridCol w="394436">
                  <a:extLst>
                    <a:ext uri="{9D8B030D-6E8A-4147-A177-3AD203B41FA5}">
                      <a16:colId xmlns:a16="http://schemas.microsoft.com/office/drawing/2014/main" val="1452004342"/>
                    </a:ext>
                  </a:extLst>
                </a:gridCol>
                <a:gridCol w="614553">
                  <a:extLst>
                    <a:ext uri="{9D8B030D-6E8A-4147-A177-3AD203B41FA5}">
                      <a16:colId xmlns:a16="http://schemas.microsoft.com/office/drawing/2014/main" val="848560102"/>
                    </a:ext>
                  </a:extLst>
                </a:gridCol>
              </a:tblGrid>
              <a:tr h="108565">
                <a:tc rowSpan="5">
                  <a:txBody>
                    <a:bodyPr/>
                    <a:lstStyle/>
                    <a:p>
                      <a:pPr algn="ctr" fontAlgn="ctr"/>
                      <a:r>
                        <a:rPr lang="en-US" sz="900" b="1" i="0" kern="1200">
                          <a:solidFill>
                            <a:srgbClr val="FFFFFF"/>
                          </a:solidFill>
                          <a:effectLst/>
                          <a:latin typeface="Arial"/>
                          <a:ea typeface="+mn-ea"/>
                          <a:cs typeface="+mn-cs"/>
                        </a:rPr>
                        <a:t>AFE</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Mid Term Rewrite upfront service interest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08565">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rewrite active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29102">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graphicFrame>
        <p:nvGraphicFramePr>
          <p:cNvPr id="24" name="Table 94">
            <a:extLst>
              <a:ext uri="{FF2B5EF4-FFF2-40B4-BE49-F238E27FC236}">
                <a16:creationId xmlns:a16="http://schemas.microsoft.com/office/drawing/2014/main" id="{3AD060EB-5C17-BA9A-F639-76D181CDF7C4}"/>
              </a:ext>
            </a:extLst>
          </p:cNvPr>
          <p:cNvGraphicFramePr>
            <a:graphicFrameLocks noGrp="1"/>
          </p:cNvGraphicFramePr>
          <p:nvPr>
            <p:extLst>
              <p:ext uri="{D42A27DB-BD31-4B8C-83A1-F6EECF244321}">
                <p14:modId xmlns:p14="http://schemas.microsoft.com/office/powerpoint/2010/main" val="3972828928"/>
              </p:ext>
            </p:extLst>
          </p:nvPr>
        </p:nvGraphicFramePr>
        <p:xfrm>
          <a:off x="822251" y="2564969"/>
          <a:ext cx="5760114" cy="1392488"/>
        </p:xfrm>
        <a:graphic>
          <a:graphicData uri="http://schemas.openxmlformats.org/drawingml/2006/table">
            <a:tbl>
              <a:tblPr firstRow="1">
                <a:tableStyleId>{5C22544A-7EE6-4342-B048-85BDC9FD1C3A}</a:tableStyleId>
              </a:tblPr>
              <a:tblGrid>
                <a:gridCol w="356941">
                  <a:extLst>
                    <a:ext uri="{9D8B030D-6E8A-4147-A177-3AD203B41FA5}">
                      <a16:colId xmlns:a16="http://schemas.microsoft.com/office/drawing/2014/main" val="3200314054"/>
                    </a:ext>
                  </a:extLst>
                </a:gridCol>
                <a:gridCol w="203259">
                  <a:extLst>
                    <a:ext uri="{9D8B030D-6E8A-4147-A177-3AD203B41FA5}">
                      <a16:colId xmlns:a16="http://schemas.microsoft.com/office/drawing/2014/main" val="1913271583"/>
                    </a:ext>
                  </a:extLst>
                </a:gridCol>
                <a:gridCol w="482184">
                  <a:extLst>
                    <a:ext uri="{9D8B030D-6E8A-4147-A177-3AD203B41FA5}">
                      <a16:colId xmlns:a16="http://schemas.microsoft.com/office/drawing/2014/main" val="1797281345"/>
                    </a:ext>
                  </a:extLst>
                </a:gridCol>
                <a:gridCol w="2171700">
                  <a:extLst>
                    <a:ext uri="{9D8B030D-6E8A-4147-A177-3AD203B41FA5}">
                      <a16:colId xmlns:a16="http://schemas.microsoft.com/office/drawing/2014/main" val="2743739350"/>
                    </a:ext>
                  </a:extLst>
                </a:gridCol>
                <a:gridCol w="463042">
                  <a:extLst>
                    <a:ext uri="{9D8B030D-6E8A-4147-A177-3AD203B41FA5}">
                      <a16:colId xmlns:a16="http://schemas.microsoft.com/office/drawing/2014/main" val="2056723756"/>
                    </a:ext>
                  </a:extLst>
                </a:gridCol>
                <a:gridCol w="269272">
                  <a:extLst>
                    <a:ext uri="{9D8B030D-6E8A-4147-A177-3AD203B41FA5}">
                      <a16:colId xmlns:a16="http://schemas.microsoft.com/office/drawing/2014/main" val="4073315665"/>
                    </a:ext>
                  </a:extLst>
                </a:gridCol>
                <a:gridCol w="463042">
                  <a:extLst>
                    <a:ext uri="{9D8B030D-6E8A-4147-A177-3AD203B41FA5}">
                      <a16:colId xmlns:a16="http://schemas.microsoft.com/office/drawing/2014/main" val="3857675990"/>
                    </a:ext>
                  </a:extLst>
                </a:gridCol>
                <a:gridCol w="344417">
                  <a:extLst>
                    <a:ext uri="{9D8B030D-6E8A-4147-A177-3AD203B41FA5}">
                      <a16:colId xmlns:a16="http://schemas.microsoft.com/office/drawing/2014/main" val="2793440723"/>
                    </a:ext>
                  </a:extLst>
                </a:gridCol>
                <a:gridCol w="269997">
                  <a:extLst>
                    <a:ext uri="{9D8B030D-6E8A-4147-A177-3AD203B41FA5}">
                      <a16:colId xmlns:a16="http://schemas.microsoft.com/office/drawing/2014/main" val="470285673"/>
                    </a:ext>
                  </a:extLst>
                </a:gridCol>
                <a:gridCol w="388978">
                  <a:extLst>
                    <a:ext uri="{9D8B030D-6E8A-4147-A177-3AD203B41FA5}">
                      <a16:colId xmlns:a16="http://schemas.microsoft.com/office/drawing/2014/main" val="1503885104"/>
                    </a:ext>
                  </a:extLst>
                </a:gridCol>
                <a:gridCol w="347282">
                  <a:extLst>
                    <a:ext uri="{9D8B030D-6E8A-4147-A177-3AD203B41FA5}">
                      <a16:colId xmlns:a16="http://schemas.microsoft.com/office/drawing/2014/main" val="848560102"/>
                    </a:ext>
                  </a:extLst>
                </a:gridCol>
              </a:tblGrid>
              <a:tr h="116357">
                <a:tc rowSpan="8">
                  <a:txBody>
                    <a:bodyPr/>
                    <a:lstStyle/>
                    <a:p>
                      <a:pPr algn="ctr" fontAlgn="ctr"/>
                      <a:r>
                        <a:rPr lang="en-US" sz="900" b="1" i="0" kern="1200">
                          <a:solidFill>
                            <a:srgbClr val="FFFFFF"/>
                          </a:solidFill>
                          <a:effectLst/>
                          <a:latin typeface="Arial"/>
                          <a:ea typeface="+mn-ea"/>
                          <a:cs typeface="+mn-cs"/>
                        </a:rPr>
                        <a:t>AFE</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Monthly Invoice issued to customer –new contract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26812">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Billing (from 37th month)</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4888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32614">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1130103</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2851737725"/>
                  </a:ext>
                </a:extLst>
              </a:tr>
              <a:tr h="124370">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5010450</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HW</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20/X1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563725212"/>
                  </a:ext>
                </a:extLst>
              </a:tr>
              <a:tr h="224594">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5010510</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Non</a:t>
                      </a:r>
                      <a:r>
                        <a:rPr lang="en-US" altLang="zh-CN" sz="900" b="0" i="0" u="none" strike="noStrike" kern="1200">
                          <a:solidFill>
                            <a:srgbClr val="000000"/>
                          </a:solidFill>
                          <a:effectLst/>
                          <a:latin typeface="Arial" panose="020B0604020202020204" pitchFamily="34" charset="0"/>
                          <a:ea typeface="+mn-ea"/>
                          <a:cs typeface="+mn-cs"/>
                        </a:rPr>
                        <a:t>-</a:t>
                      </a:r>
                      <a:r>
                        <a:rPr lang="en-US" sz="900" b="0" i="0" u="none" strike="noStrike" kern="1200">
                          <a:solidFill>
                            <a:srgbClr val="000000"/>
                          </a:solidFill>
                          <a:effectLst/>
                          <a:latin typeface="Arial" panose="020B0604020202020204" pitchFamily="34" charset="0"/>
                          <a:ea typeface="+mn-ea"/>
                          <a:cs typeface="+mn-cs"/>
                        </a:rPr>
                        <a:t>Funded Premier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475736748"/>
                  </a:ext>
                </a:extLst>
              </a:tr>
              <a:tr h="127955">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chemeClr val="tx1"/>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834946976"/>
                  </a:ext>
                </a:extLst>
              </a:tr>
              <a:tr h="127955">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5010510</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422450522"/>
                  </a:ext>
                </a:extLst>
              </a:tr>
            </a:tbl>
          </a:graphicData>
        </a:graphic>
      </p:graphicFrame>
      <p:graphicFrame>
        <p:nvGraphicFramePr>
          <p:cNvPr id="31" name="Table 94">
            <a:extLst>
              <a:ext uri="{FF2B5EF4-FFF2-40B4-BE49-F238E27FC236}">
                <a16:creationId xmlns:a16="http://schemas.microsoft.com/office/drawing/2014/main" id="{7F23F04D-7478-1B1B-765F-F0E75BCDF99A}"/>
              </a:ext>
            </a:extLst>
          </p:cNvPr>
          <p:cNvGraphicFramePr>
            <a:graphicFrameLocks noGrp="1"/>
          </p:cNvGraphicFramePr>
          <p:nvPr>
            <p:extLst>
              <p:ext uri="{D42A27DB-BD31-4B8C-83A1-F6EECF244321}">
                <p14:modId xmlns:p14="http://schemas.microsoft.com/office/powerpoint/2010/main" val="3941800724"/>
              </p:ext>
            </p:extLst>
          </p:nvPr>
        </p:nvGraphicFramePr>
        <p:xfrm>
          <a:off x="846780" y="4270442"/>
          <a:ext cx="5794480" cy="993489"/>
        </p:xfrm>
        <a:graphic>
          <a:graphicData uri="http://schemas.openxmlformats.org/drawingml/2006/table">
            <a:tbl>
              <a:tblPr firstRow="1">
                <a:tableStyleId>{5C22544A-7EE6-4342-B048-85BDC9FD1C3A}</a:tableStyleId>
              </a:tblPr>
              <a:tblGrid>
                <a:gridCol w="376236">
                  <a:extLst>
                    <a:ext uri="{9D8B030D-6E8A-4147-A177-3AD203B41FA5}">
                      <a16:colId xmlns:a16="http://schemas.microsoft.com/office/drawing/2014/main" val="3200314054"/>
                    </a:ext>
                  </a:extLst>
                </a:gridCol>
                <a:gridCol w="212613">
                  <a:extLst>
                    <a:ext uri="{9D8B030D-6E8A-4147-A177-3AD203B41FA5}">
                      <a16:colId xmlns:a16="http://schemas.microsoft.com/office/drawing/2014/main" val="1913271583"/>
                    </a:ext>
                  </a:extLst>
                </a:gridCol>
                <a:gridCol w="648147">
                  <a:extLst>
                    <a:ext uri="{9D8B030D-6E8A-4147-A177-3AD203B41FA5}">
                      <a16:colId xmlns:a16="http://schemas.microsoft.com/office/drawing/2014/main" val="1797281345"/>
                    </a:ext>
                  </a:extLst>
                </a:gridCol>
                <a:gridCol w="2062480">
                  <a:extLst>
                    <a:ext uri="{9D8B030D-6E8A-4147-A177-3AD203B41FA5}">
                      <a16:colId xmlns:a16="http://schemas.microsoft.com/office/drawing/2014/main" val="2743739350"/>
                    </a:ext>
                  </a:extLst>
                </a:gridCol>
                <a:gridCol w="384042">
                  <a:extLst>
                    <a:ext uri="{9D8B030D-6E8A-4147-A177-3AD203B41FA5}">
                      <a16:colId xmlns:a16="http://schemas.microsoft.com/office/drawing/2014/main" val="2056723756"/>
                    </a:ext>
                  </a:extLst>
                </a:gridCol>
                <a:gridCol w="260937">
                  <a:extLst>
                    <a:ext uri="{9D8B030D-6E8A-4147-A177-3AD203B41FA5}">
                      <a16:colId xmlns:a16="http://schemas.microsoft.com/office/drawing/2014/main" val="4073315665"/>
                    </a:ext>
                  </a:extLst>
                </a:gridCol>
                <a:gridCol w="266191">
                  <a:extLst>
                    <a:ext uri="{9D8B030D-6E8A-4147-A177-3AD203B41FA5}">
                      <a16:colId xmlns:a16="http://schemas.microsoft.com/office/drawing/2014/main" val="202379201"/>
                    </a:ext>
                  </a:extLst>
                </a:gridCol>
                <a:gridCol w="343430">
                  <a:extLst>
                    <a:ext uri="{9D8B030D-6E8A-4147-A177-3AD203B41FA5}">
                      <a16:colId xmlns:a16="http://schemas.microsoft.com/office/drawing/2014/main" val="80591695"/>
                    </a:ext>
                  </a:extLst>
                </a:gridCol>
                <a:gridCol w="261640">
                  <a:extLst>
                    <a:ext uri="{9D8B030D-6E8A-4147-A177-3AD203B41FA5}">
                      <a16:colId xmlns:a16="http://schemas.microsoft.com/office/drawing/2014/main" val="95992620"/>
                    </a:ext>
                  </a:extLst>
                </a:gridCol>
                <a:gridCol w="387864">
                  <a:extLst>
                    <a:ext uri="{9D8B030D-6E8A-4147-A177-3AD203B41FA5}">
                      <a16:colId xmlns:a16="http://schemas.microsoft.com/office/drawing/2014/main" val="1403274746"/>
                    </a:ext>
                  </a:extLst>
                </a:gridCol>
                <a:gridCol w="590900">
                  <a:extLst>
                    <a:ext uri="{9D8B030D-6E8A-4147-A177-3AD203B41FA5}">
                      <a16:colId xmlns:a16="http://schemas.microsoft.com/office/drawing/2014/main" val="848560102"/>
                    </a:ext>
                  </a:extLst>
                </a:gridCol>
              </a:tblGrid>
              <a:tr h="194470">
                <a:tc rowSpan="5">
                  <a:txBody>
                    <a:bodyPr/>
                    <a:lstStyle/>
                    <a:p>
                      <a:pPr algn="ctr" fontAlgn="ctr"/>
                      <a:r>
                        <a:rPr lang="en-US" sz="900" b="1" i="0" kern="1200">
                          <a:solidFill>
                            <a:srgbClr val="FFFFFF"/>
                          </a:solidFill>
                          <a:effectLst/>
                          <a:latin typeface="Arial"/>
                          <a:ea typeface="+mn-ea"/>
                          <a:cs typeface="+mn-cs"/>
                        </a:rPr>
                        <a:t>AFE</a:t>
                      </a:r>
                    </a:p>
                    <a:p>
                      <a:pPr algn="ctr" fontAlgn="ct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Rewrite monthly depreciation – adjust depreciation amt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batch</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spc="0">
                          <a:solidFill>
                            <a:srgbClr val="000000"/>
                          </a:solidFill>
                          <a:effectLst/>
                          <a:latin typeface="Arial" panose="020B0604020202020204" pitchFamily="34" charset="0"/>
                        </a:rPr>
                        <a:t>4060110</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a:solidFill>
                            <a:srgbClr val="000000"/>
                          </a:solidFill>
                          <a:effectLst/>
                          <a:latin typeface="Arial" panose="020B0604020202020204" pitchFamily="34" charset="0"/>
                        </a:rPr>
                        <a:t>Depreciation Expense (COS Impact)</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11.3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HW</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20/X1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162000">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spc="0">
                          <a:solidFill>
                            <a:srgbClr val="000000"/>
                          </a:solidFill>
                          <a:effectLst/>
                          <a:latin typeface="Arial" panose="020B0604020202020204" pitchFamily="34" charset="0"/>
                        </a:rPr>
                        <a:t>1651550</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a:solidFill>
                            <a:srgbClr val="000000"/>
                          </a:solidFill>
                          <a:effectLst/>
                          <a:latin typeface="Arial" panose="020B0604020202020204" pitchFamily="34" charset="0"/>
                        </a:rPr>
                        <a:t>Accumulated Depreciation</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11.3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chemeClr val="tx1"/>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chemeClr val="tx1"/>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chemeClr val="tx1"/>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chemeClr val="tx1"/>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spTree>
    <p:extLst>
      <p:ext uri="{BB962C8B-B14F-4D97-AF65-F5344CB8AC3E}">
        <p14:creationId xmlns:p14="http://schemas.microsoft.com/office/powerpoint/2010/main" val="305442362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4"/>
          </p:nvPr>
        </p:nvSpPr>
        <p:spPr>
          <a:xfrm>
            <a:off x="11752974" y="6473952"/>
            <a:ext cx="439026" cy="155448"/>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6D22F896-40B5-4ADD-8801-0D06FADFA095}" type="slidenum">
              <a:rPr lang="en-US" smtClean="0"/>
              <a:pPr marL="0" marR="0" lvl="0" indent="0" algn="ctr" defTabSz="914400" rtl="0" eaLnBrk="1" fontAlgn="auto" latinLnBrk="0" hangingPunct="1">
                <a:lnSpc>
                  <a:spcPct val="100000"/>
                </a:lnSpc>
                <a:spcBef>
                  <a:spcPts val="0"/>
                </a:spcBef>
                <a:spcAft>
                  <a:spcPts val="0"/>
                </a:spcAft>
                <a:buClrTx/>
                <a:buSzTx/>
                <a:buFontTx/>
                <a:buNone/>
                <a:tabLst/>
                <a:defRPr/>
              </a:pPr>
              <a:t>133</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aphicFrame>
        <p:nvGraphicFramePr>
          <p:cNvPr id="2" name="Table 1">
            <a:extLst>
              <a:ext uri="{FF2B5EF4-FFF2-40B4-BE49-F238E27FC236}">
                <a16:creationId xmlns:a16="http://schemas.microsoft.com/office/drawing/2014/main" id="{E866EAEC-2F23-BA3D-8B21-19C2B8FC905C}"/>
              </a:ext>
            </a:extLst>
          </p:cNvPr>
          <p:cNvGraphicFramePr>
            <a:graphicFrameLocks noGrp="1"/>
          </p:cNvGraphicFramePr>
          <p:nvPr>
            <p:extLst>
              <p:ext uri="{D42A27DB-BD31-4B8C-83A1-F6EECF244321}">
                <p14:modId xmlns:p14="http://schemas.microsoft.com/office/powerpoint/2010/main" val="216328140"/>
              </p:ext>
            </p:extLst>
          </p:nvPr>
        </p:nvGraphicFramePr>
        <p:xfrm>
          <a:off x="304225" y="931359"/>
          <a:ext cx="5600194" cy="1123950"/>
        </p:xfrm>
        <a:graphic>
          <a:graphicData uri="http://schemas.openxmlformats.org/drawingml/2006/table">
            <a:tbl>
              <a:tblPr firstRow="1">
                <a:tableStyleId>{5C22544A-7EE6-4342-B048-85BDC9FD1C3A}</a:tableStyleId>
              </a:tblPr>
              <a:tblGrid>
                <a:gridCol w="659108">
                  <a:extLst>
                    <a:ext uri="{9D8B030D-6E8A-4147-A177-3AD203B41FA5}">
                      <a16:colId xmlns:a16="http://schemas.microsoft.com/office/drawing/2014/main" val="3200314054"/>
                    </a:ext>
                  </a:extLst>
                </a:gridCol>
                <a:gridCol w="299089">
                  <a:extLst>
                    <a:ext uri="{9D8B030D-6E8A-4147-A177-3AD203B41FA5}">
                      <a16:colId xmlns:a16="http://schemas.microsoft.com/office/drawing/2014/main" val="1913271583"/>
                    </a:ext>
                  </a:extLst>
                </a:gridCol>
                <a:gridCol w="652590">
                  <a:extLst>
                    <a:ext uri="{9D8B030D-6E8A-4147-A177-3AD203B41FA5}">
                      <a16:colId xmlns:a16="http://schemas.microsoft.com/office/drawing/2014/main" val="1797281345"/>
                    </a:ext>
                  </a:extLst>
                </a:gridCol>
                <a:gridCol w="1993969">
                  <a:extLst>
                    <a:ext uri="{9D8B030D-6E8A-4147-A177-3AD203B41FA5}">
                      <a16:colId xmlns:a16="http://schemas.microsoft.com/office/drawing/2014/main" val="2743739350"/>
                    </a:ext>
                  </a:extLst>
                </a:gridCol>
                <a:gridCol w="592671">
                  <a:extLst>
                    <a:ext uri="{9D8B030D-6E8A-4147-A177-3AD203B41FA5}">
                      <a16:colId xmlns:a16="http://schemas.microsoft.com/office/drawing/2014/main" val="2056723756"/>
                    </a:ext>
                  </a:extLst>
                </a:gridCol>
                <a:gridCol w="571532">
                  <a:extLst>
                    <a:ext uri="{9D8B030D-6E8A-4147-A177-3AD203B41FA5}">
                      <a16:colId xmlns:a16="http://schemas.microsoft.com/office/drawing/2014/main" val="4073315665"/>
                    </a:ext>
                  </a:extLst>
                </a:gridCol>
                <a:gridCol w="831235">
                  <a:extLst>
                    <a:ext uri="{9D8B030D-6E8A-4147-A177-3AD203B41FA5}">
                      <a16:colId xmlns:a16="http://schemas.microsoft.com/office/drawing/2014/main" val="848560102"/>
                    </a:ext>
                  </a:extLst>
                </a:gridCol>
              </a:tblGrid>
              <a:tr h="157162">
                <a:tc rowSpan="7">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Goods issued to Customer</a:t>
                      </a:r>
                      <a:endParaRPr lang="en-US" sz="1000" b="1" u="none" strike="noStrike" kern="1200">
                        <a:solidFill>
                          <a:srgbClr val="FF0000"/>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32953">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000000"/>
                          </a:solidFill>
                          <a:effectLst/>
                          <a:uLnTx/>
                          <a:uFillTx/>
                          <a:latin typeface="+mn-lt"/>
                          <a:ea typeface="+mn-ea"/>
                          <a:cs typeface="+mn-cs"/>
                        </a:rPr>
                        <a:t>Upon shipment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32953">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3561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rtl="0">
                        <a:lnSpc>
                          <a:spcPct val="100000"/>
                        </a:lnSpc>
                        <a:spcBef>
                          <a:spcPts val="0"/>
                        </a:spcBef>
                        <a:spcAft>
                          <a:spcPts val="0"/>
                        </a:spcAft>
                        <a:buClrTx/>
                        <a:buSzTx/>
                        <a:buFontTx/>
                        <a:buNone/>
                      </a:pPr>
                      <a:r>
                        <a:rPr lang="en-US" sz="1000" b="0" i="0" u="none" strike="noStrike">
                          <a:solidFill>
                            <a:srgbClr val="000000"/>
                          </a:solidFill>
                          <a:effectLst/>
                          <a:latin typeface="+mn-lt"/>
                        </a:rPr>
                        <a:t>G</a:t>
                      </a:r>
                      <a:r>
                        <a:rPr lang="en-US" altLang="zh-CN" sz="1000" b="0" i="0" u="none" strike="noStrike">
                          <a:solidFill>
                            <a:srgbClr val="000000"/>
                          </a:solidFill>
                          <a:effectLst/>
                          <a:latin typeface="+mn-lt"/>
                        </a:rPr>
                        <a:t>oods </a:t>
                      </a:r>
                      <a:r>
                        <a:rPr lang="en-US" sz="1000" b="0" i="0" u="none" strike="noStrike">
                          <a:solidFill>
                            <a:srgbClr val="000000"/>
                          </a:solidFill>
                          <a:effectLst/>
                          <a:latin typeface="+mn-lt"/>
                        </a:rPr>
                        <a:t>In Transit</a:t>
                      </a:r>
                      <a:endParaRPr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17,000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13561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1340000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Inventory </a:t>
                      </a:r>
                      <a:r>
                        <a:rPr lang="en-US" sz="1000" b="0" i="0" u="none" strike="noStrike">
                          <a:solidFill>
                            <a:srgbClr val="FF0000"/>
                          </a:solidFill>
                          <a:effectLst/>
                          <a:latin typeface="+mn-lt"/>
                        </a:rPr>
                        <a:t>(Option 1)</a:t>
                      </a:r>
                    </a:p>
                  </a:txBody>
                  <a:tcPr marL="0"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17,000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r h="135612">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Inter Co AP</a:t>
                      </a:r>
                      <a:r>
                        <a:rPr lang="en-US" sz="1000" b="0" i="0" u="none" strike="noStrike">
                          <a:solidFill>
                            <a:srgbClr val="FF0000"/>
                          </a:solidFill>
                          <a:effectLst/>
                          <a:latin typeface="+mn-lt"/>
                        </a:rPr>
                        <a:t>(Option 2)</a:t>
                      </a:r>
                    </a:p>
                  </a:txBody>
                  <a:tcPr marL="0"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17,000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570528167"/>
                  </a:ext>
                </a:extLst>
              </a:tr>
              <a:tr h="135612">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5029999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mn-ea"/>
                          <a:cs typeface="+mn-cs"/>
                        </a:rPr>
                        <a:t>Intercompany P&amp;L</a:t>
                      </a:r>
                      <a:r>
                        <a:rPr lang="en-US" sz="1000" b="0" i="0" u="none" strike="noStrike">
                          <a:solidFill>
                            <a:srgbClr val="FF0000"/>
                          </a:solidFill>
                          <a:effectLst/>
                          <a:latin typeface="+mn-lt"/>
                        </a:rPr>
                        <a:t>(Option 2)</a:t>
                      </a:r>
                    </a:p>
                  </a:txBody>
                  <a:tcPr marL="0"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a:cs typeface="+mn-cs"/>
                        </a:rPr>
                        <a:t>200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Arial"/>
                          <a:ea typeface="黑体"/>
                          <a:cs typeface="+mn-cs"/>
                        </a:rPr>
                        <a:t>20/X1</a:t>
                      </a:r>
                      <a:endPar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4043952738"/>
                  </a:ext>
                </a:extLst>
              </a:tr>
            </a:tbl>
          </a:graphicData>
        </a:graphic>
      </p:graphicFrame>
      <p:sp>
        <p:nvSpPr>
          <p:cNvPr id="29" name="Rectangle 28">
            <a:extLst>
              <a:ext uri="{FF2B5EF4-FFF2-40B4-BE49-F238E27FC236}">
                <a16:creationId xmlns:a16="http://schemas.microsoft.com/office/drawing/2014/main" id="{95C0AA70-5786-A7E0-5E2F-22E6DA07D948}"/>
              </a:ext>
            </a:extLst>
          </p:cNvPr>
          <p:cNvSpPr/>
          <p:nvPr/>
        </p:nvSpPr>
        <p:spPr>
          <a:xfrm>
            <a:off x="931185" y="1557352"/>
            <a:ext cx="4953156" cy="497957"/>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30" name="Speech Bubble: Rectangle with Corners Rounded 29">
            <a:extLst>
              <a:ext uri="{FF2B5EF4-FFF2-40B4-BE49-F238E27FC236}">
                <a16:creationId xmlns:a16="http://schemas.microsoft.com/office/drawing/2014/main" id="{E98784F6-F7E3-301E-7F86-2CB68BD642CB}"/>
              </a:ext>
            </a:extLst>
          </p:cNvPr>
          <p:cNvSpPr/>
          <p:nvPr/>
        </p:nvSpPr>
        <p:spPr>
          <a:xfrm>
            <a:off x="336517" y="2177409"/>
            <a:ext cx="5535611" cy="229247"/>
          </a:xfrm>
          <a:prstGeom prst="wedgeRoundRectCallout">
            <a:avLst>
              <a:gd name="adj1" fmla="val 23556"/>
              <a:gd name="adj2" fmla="val -90262"/>
              <a:gd name="adj3" fmla="val 16667"/>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ysClr val="windowText" lastClr="000000"/>
                </a:solidFill>
                <a:effectLst/>
                <a:uLnTx/>
                <a:uFillTx/>
                <a:latin typeface="Arial"/>
                <a:ea typeface="+mn-ea"/>
                <a:cs typeface="+mn-cs"/>
              </a:rPr>
              <a:t>Option 1: S&amp;D delivery; Option 2: HUB delivery</a:t>
            </a:r>
          </a:p>
        </p:txBody>
      </p:sp>
      <p:graphicFrame>
        <p:nvGraphicFramePr>
          <p:cNvPr id="31" name="Table 94">
            <a:extLst>
              <a:ext uri="{FF2B5EF4-FFF2-40B4-BE49-F238E27FC236}">
                <a16:creationId xmlns:a16="http://schemas.microsoft.com/office/drawing/2014/main" id="{6EE0793B-0C96-2DF7-C095-813CF9D9E34E}"/>
              </a:ext>
            </a:extLst>
          </p:cNvPr>
          <p:cNvGraphicFramePr>
            <a:graphicFrameLocks noGrp="1"/>
          </p:cNvGraphicFramePr>
          <p:nvPr>
            <p:extLst>
              <p:ext uri="{D42A27DB-BD31-4B8C-83A1-F6EECF244321}">
                <p14:modId xmlns:p14="http://schemas.microsoft.com/office/powerpoint/2010/main" val="1941479667"/>
              </p:ext>
            </p:extLst>
          </p:nvPr>
        </p:nvGraphicFramePr>
        <p:xfrm>
          <a:off x="271938" y="2439417"/>
          <a:ext cx="5600191" cy="968375"/>
        </p:xfrm>
        <a:graphic>
          <a:graphicData uri="http://schemas.openxmlformats.org/drawingml/2006/table">
            <a:tbl>
              <a:tblPr firstRow="1">
                <a:tableStyleId>{5C22544A-7EE6-4342-B048-85BDC9FD1C3A}</a:tableStyleId>
              </a:tblPr>
              <a:tblGrid>
                <a:gridCol w="659107">
                  <a:extLst>
                    <a:ext uri="{9D8B030D-6E8A-4147-A177-3AD203B41FA5}">
                      <a16:colId xmlns:a16="http://schemas.microsoft.com/office/drawing/2014/main" val="3200314054"/>
                    </a:ext>
                  </a:extLst>
                </a:gridCol>
                <a:gridCol w="299089">
                  <a:extLst>
                    <a:ext uri="{9D8B030D-6E8A-4147-A177-3AD203B41FA5}">
                      <a16:colId xmlns:a16="http://schemas.microsoft.com/office/drawing/2014/main" val="1913271583"/>
                    </a:ext>
                  </a:extLst>
                </a:gridCol>
                <a:gridCol w="652589">
                  <a:extLst>
                    <a:ext uri="{9D8B030D-6E8A-4147-A177-3AD203B41FA5}">
                      <a16:colId xmlns:a16="http://schemas.microsoft.com/office/drawing/2014/main" val="1797281345"/>
                    </a:ext>
                  </a:extLst>
                </a:gridCol>
                <a:gridCol w="2301847">
                  <a:extLst>
                    <a:ext uri="{9D8B030D-6E8A-4147-A177-3AD203B41FA5}">
                      <a16:colId xmlns:a16="http://schemas.microsoft.com/office/drawing/2014/main" val="2743739350"/>
                    </a:ext>
                  </a:extLst>
                </a:gridCol>
                <a:gridCol w="404656">
                  <a:extLst>
                    <a:ext uri="{9D8B030D-6E8A-4147-A177-3AD203B41FA5}">
                      <a16:colId xmlns:a16="http://schemas.microsoft.com/office/drawing/2014/main" val="2056723756"/>
                    </a:ext>
                  </a:extLst>
                </a:gridCol>
                <a:gridCol w="404656">
                  <a:extLst>
                    <a:ext uri="{9D8B030D-6E8A-4147-A177-3AD203B41FA5}">
                      <a16:colId xmlns:a16="http://schemas.microsoft.com/office/drawing/2014/main" val="4073315665"/>
                    </a:ext>
                  </a:extLst>
                </a:gridCol>
                <a:gridCol w="878247">
                  <a:extLst>
                    <a:ext uri="{9D8B030D-6E8A-4147-A177-3AD203B41FA5}">
                      <a16:colId xmlns:a16="http://schemas.microsoft.com/office/drawing/2014/main" val="848560102"/>
                    </a:ext>
                  </a:extLst>
                </a:gridCol>
              </a:tblGrid>
              <a:tr h="161925">
                <a:tc rowSpan="6">
                  <a:txBody>
                    <a:bodyPr/>
                    <a:lstStyle/>
                    <a:p>
                      <a:pPr algn="ctr" fontAlgn="ctr"/>
                      <a:r>
                        <a:rPr lang="en-US" sz="1200" b="1" i="0" u="none" strike="noStrike">
                          <a:solidFill>
                            <a:srgbClr val="FFFFFF"/>
                          </a:solidFill>
                          <a:effectLst/>
                          <a:latin typeface="Arial"/>
                        </a:rPr>
                        <a:t>S</a:t>
                      </a:r>
                      <a:r>
                        <a:rPr lang="en-US" altLang="zh-CN" sz="1200" b="1" i="0" u="none" strike="noStrike">
                          <a:solidFill>
                            <a:srgbClr val="FFFFFF"/>
                          </a:solidFill>
                          <a:effectLst/>
                          <a:latin typeface="Arial"/>
                        </a:rPr>
                        <a:t>&amp;D</a:t>
                      </a:r>
                      <a:endParaRPr lang="en-US"/>
                    </a:p>
                    <a:p>
                      <a:pPr lvl="0" algn="ctr">
                        <a:buNone/>
                      </a:pPr>
                      <a:r>
                        <a:rPr lang="en-US" sz="1200" b="1" i="0" u="none" strike="noStrike">
                          <a:solidFill>
                            <a:srgbClr val="FFFFFF"/>
                          </a:solidFill>
                          <a:effectLst/>
                          <a:latin typeface="Arial"/>
                        </a:rPr>
                        <a:t>Entity</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rtl="0" eaLnBrk="1" fontAlgn="b" latinLnBrk="0" hangingPunct="1">
                        <a:lnSpc>
                          <a:spcPct val="100000"/>
                        </a:lnSpc>
                        <a:spcBef>
                          <a:spcPts val="0"/>
                        </a:spcBef>
                        <a:spcAft>
                          <a:spcPts val="0"/>
                        </a:spcAft>
                        <a:buClrTx/>
                        <a:buSzTx/>
                        <a:buFont typeface="Arial" panose="020B0604020202020204" pitchFamily="34" charset="0"/>
                        <a:buNone/>
                      </a:pPr>
                      <a:r>
                        <a:rPr lang="en-US" sz="1000" b="1" u="none" strike="noStrike" kern="1200">
                          <a:solidFill>
                            <a:schemeClr val="lt1"/>
                          </a:solidFill>
                          <a:effectLst/>
                          <a:latin typeface="+mn-lt"/>
                          <a:ea typeface="+mn-ea"/>
                          <a:cs typeface="+mn-cs"/>
                        </a:rPr>
                        <a:t>Recognize upfront services </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1925">
                <a:tc vMerge="1">
                  <a:txBody>
                    <a:bodyPr/>
                    <a:lstStyle/>
                    <a:p>
                      <a:endParaRPr lang="zh-CN" altLang="en-US"/>
                    </a:p>
                  </a:txBody>
                  <a:tcPr/>
                </a:tc>
                <a:tc gridSpan="6">
                  <a:txBody>
                    <a:bodyPr/>
                    <a:lstStyle/>
                    <a:p>
                      <a:pPr marL="0" marR="0" lvl="0" indent="0" algn="ctr" rtl="0" eaLnBrk="1" fontAlgn="b" latinLnBrk="0" hangingPunct="1">
                        <a:lnSpc>
                          <a:spcPct val="100000"/>
                        </a:lnSpc>
                        <a:spcBef>
                          <a:spcPts val="0"/>
                        </a:spcBef>
                        <a:spcAft>
                          <a:spcPts val="0"/>
                        </a:spcAft>
                        <a:buClrTx/>
                        <a:buSzTx/>
                        <a:buFontTx/>
                        <a:buNone/>
                      </a:pPr>
                      <a:r>
                        <a:rPr lang="en-US" sz="1000" b="1" u="none" strike="noStrike" kern="1200">
                          <a:solidFill>
                            <a:schemeClr val="tx1"/>
                          </a:solidFill>
                          <a:effectLst/>
                          <a:latin typeface="+mn-lt"/>
                          <a:ea typeface="+mn-ea"/>
                          <a:cs typeface="+mn-cs"/>
                        </a:rPr>
                        <a:t>Upon Customer acceptance</a:t>
                      </a:r>
                      <a:endParaRPr kumimoji="0" lang="en-US" altLang="zh-CN" sz="1000" b="1" i="0" u="none" strike="noStrike" kern="1200" cap="none" spc="0" normalizeH="0" baseline="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3225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1" i="0" u="none" strike="noStrike" kern="1200" cap="none" spc="0" normalizeH="0" baseline="0">
                          <a:ln>
                            <a:noFill/>
                          </a:ln>
                          <a:solidFill>
                            <a:srgbClr val="000000"/>
                          </a:solidFill>
                          <a:effectLst/>
                          <a:uLnTx/>
                          <a:uFillTx/>
                          <a:latin typeface="+mn-lt"/>
                          <a:ea typeface="+mn-ea"/>
                          <a:cs typeface="+mn-cs"/>
                        </a:rPr>
                        <a:t>COA</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lang="en-US" sz="1000" b="1" i="0" u="none" strike="noStrike" kern="1200" cap="none" spc="0" normalizeH="0" baseline="0">
                          <a:ln>
                            <a:noFill/>
                          </a:ln>
                          <a:solidFill>
                            <a:srgbClr val="000000"/>
                          </a:solidFill>
                          <a:effectLst/>
                          <a:uLnTx/>
                          <a:uFillTx/>
                          <a:latin typeface="+mn-lt"/>
                          <a:ea typeface="+mn-ea"/>
                          <a:cs typeface="+mn-cs"/>
                        </a:rPr>
                        <a:t>LV</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lang="en-US" sz="1000" b="1" i="0" u="none" strike="noStrike" kern="1200" cap="none" spc="0" normalizeH="0" baseline="0">
                          <a:ln>
                            <a:noFill/>
                          </a:ln>
                          <a:solidFill>
                            <a:srgbClr val="000000"/>
                          </a:solidFill>
                          <a:effectLst/>
                          <a:uLnTx/>
                          <a:uFillTx/>
                          <a:latin typeface="+mn-lt"/>
                          <a:ea typeface="+mn-ea"/>
                          <a:cs typeface="+mn-cs"/>
                        </a:rPr>
                        <a:t>Profit Center</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32382">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kern="1200" cap="none" spc="0" normalizeH="0" baseline="0" noProof="0">
                          <a:ln>
                            <a:noFill/>
                          </a:ln>
                          <a:solidFill>
                            <a:srgbClr val="000000"/>
                          </a:solidFill>
                          <a:effectLst/>
                          <a:uLnTx/>
                          <a:uFillTx/>
                          <a:latin typeface="+mn-lt"/>
                          <a:ea typeface="+mn-ea"/>
                          <a:cs typeface="+mn-cs"/>
                        </a:rPr>
                        <a:t>Dr</a:t>
                      </a:r>
                      <a:endParaRPr kumimoji="0" lang="en-US"/>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mn-lt"/>
                          <a:ea typeface="+mn-ea"/>
                          <a:cs typeface="+mn-cs"/>
                        </a:rPr>
                        <a:t>1400308</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Acc</a:t>
                      </a:r>
                      <a:r>
                        <a:rPr lang="en-US" sz="1000" b="0" i="0" u="none" strike="noStrike" baseline="0">
                          <a:solidFill>
                            <a:srgbClr val="000000"/>
                          </a:solidFill>
                          <a:effectLst/>
                          <a:latin typeface="+mn-lt"/>
                        </a:rPr>
                        <a:t> Receivable - Upfront Service</a:t>
                      </a:r>
                      <a:endParaRPr lang="en-US" sz="1000" b="0" i="0" u="none" strike="noStrike">
                        <a:solidFill>
                          <a:srgbClr val="000000"/>
                        </a:solidFill>
                        <a:effectLst/>
                        <a:latin typeface="+mn-lt"/>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Arial"/>
                          <a:ea typeface="等线"/>
                          <a:cs typeface="+mn-cs"/>
                        </a:rPr>
                        <a:t>500</a:t>
                      </a:r>
                      <a:endParaRPr kumimoji="0"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Arial"/>
                          <a:ea typeface="等线"/>
                          <a:cs typeface="+mn-cs"/>
                        </a:rPr>
                        <a:t>500</a:t>
                      </a:r>
                      <a:endParaRPr kumimoji="0"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Arial"/>
                          <a:ea typeface="黑体"/>
                          <a:cs typeface="+mn-cs"/>
                        </a:rPr>
                        <a:t>J*/X*</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r h="13238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kern="1200" cap="none" spc="0" normalizeH="0" baseline="0" noProof="0">
                          <a:ln>
                            <a:noFill/>
                          </a:ln>
                          <a:solidFill>
                            <a:schemeClr val="tx1"/>
                          </a:solidFill>
                          <a:effectLst/>
                          <a:uLnTx/>
                          <a:uFillTx/>
                          <a:latin typeface="+mn-lt"/>
                          <a:ea typeface="+mn-ea"/>
                          <a:cs typeface="+mn-cs"/>
                        </a:rPr>
                        <a:t>Cr</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b"/>
                      <a:r>
                        <a:rPr lang="en-US" sz="1000" b="0" i="0" u="none" strike="noStrike">
                          <a:solidFill>
                            <a:srgbClr val="000000"/>
                          </a:solidFill>
                          <a:effectLst/>
                          <a:latin typeface="+mn-lt"/>
                        </a:rPr>
                        <a:t>5010401</a:t>
                      </a:r>
                      <a:endParaRPr lang="en-US"/>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rtl="0" fontAlgn="b"/>
                      <a:r>
                        <a:rPr lang="en-US" sz="1000" b="0" i="0" u="none" strike="noStrike">
                          <a:solidFill>
                            <a:srgbClr val="000000"/>
                          </a:solidFill>
                          <a:effectLst/>
                          <a:latin typeface="+mn-lt"/>
                        </a:rPr>
                        <a:t>Services</a:t>
                      </a:r>
                      <a:r>
                        <a:rPr lang="en-US" sz="1000" b="0" i="0" u="none" strike="noStrike" baseline="0">
                          <a:solidFill>
                            <a:srgbClr val="000000"/>
                          </a:solidFill>
                          <a:effectLst/>
                          <a:latin typeface="+mn-lt"/>
                        </a:rPr>
                        <a:t> Revenue - Upfront Service</a:t>
                      </a:r>
                      <a:endParaRPr lang="en-US" sz="1000" b="0" i="0" u="none" strike="noStrike">
                        <a:solidFill>
                          <a:srgbClr val="000000"/>
                        </a:solidFill>
                        <a:effectLst/>
                        <a:latin typeface="+mn-lt"/>
                      </a:endParaRP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Arial"/>
                          <a:ea typeface="等线"/>
                          <a:cs typeface="+mn-cs"/>
                        </a:rPr>
                        <a:t>500</a:t>
                      </a:r>
                      <a:endParaRPr kumimoji="0"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Arial"/>
                          <a:ea typeface="等线"/>
                          <a:cs typeface="+mn-cs"/>
                        </a:rPr>
                        <a:t>500</a:t>
                      </a:r>
                      <a:endParaRPr kumimoji="0"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Arial"/>
                          <a:ea typeface="黑体"/>
                          <a:cs typeface="+mn-cs"/>
                        </a:rPr>
                        <a:t>J*/X*</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1819737369"/>
                  </a:ext>
                </a:extLst>
              </a:tr>
              <a:tr h="132382">
                <a:tc vMerge="1">
                  <a:txBody>
                    <a:bodyPr/>
                    <a:lstStyle/>
                    <a:p>
                      <a:pPr algn="ctr" fontAlgn="ctr"/>
                      <a:endParaRPr lang="en-US" sz="1200" b="1" i="0" u="none" strike="noStrike">
                        <a:solidFill>
                          <a:srgbClr val="FFFFFF"/>
                        </a:solidFill>
                        <a:effectLst/>
                        <a:highlight>
                          <a:srgbClr val="000080"/>
                        </a:highligh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l" fontAlgn="ctr"/>
                      <a:r>
                        <a:rPr lang="en-US" sz="1000">
                          <a:solidFill>
                            <a:sysClr val="windowText" lastClr="000000"/>
                          </a:solidFill>
                          <a:latin typeface="+mn-lt"/>
                        </a:rPr>
                        <a:t>Tax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endParaRPr lang="en-US" altLang="zh-CN" sz="1000" b="0" i="0" u="none" strike="noStrike" kern="1200">
                        <a:solidFill>
                          <a:schemeClr val="tx1"/>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endParaRPr lang="en-US" altLang="zh-CN" sz="1000" b="0" i="0" u="none" strike="noStrike" kern="1200">
                        <a:solidFill>
                          <a:schemeClr val="tx1"/>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chemeClr val="tx1"/>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59758968"/>
                  </a:ext>
                </a:extLst>
              </a:tr>
            </a:tbl>
          </a:graphicData>
        </a:graphic>
      </p:graphicFrame>
      <p:graphicFrame>
        <p:nvGraphicFramePr>
          <p:cNvPr id="33" name="Table 94">
            <a:extLst>
              <a:ext uri="{FF2B5EF4-FFF2-40B4-BE49-F238E27FC236}">
                <a16:creationId xmlns:a16="http://schemas.microsoft.com/office/drawing/2014/main" id="{41598F64-C66E-F74E-799E-8960F4FE2E7D}"/>
              </a:ext>
            </a:extLst>
          </p:cNvPr>
          <p:cNvGraphicFramePr>
            <a:graphicFrameLocks noGrp="1"/>
          </p:cNvGraphicFramePr>
          <p:nvPr/>
        </p:nvGraphicFramePr>
        <p:xfrm>
          <a:off x="6101314" y="866715"/>
          <a:ext cx="5600192" cy="800100"/>
        </p:xfrm>
        <a:graphic>
          <a:graphicData uri="http://schemas.openxmlformats.org/drawingml/2006/table">
            <a:tbl>
              <a:tblPr firstRow="1">
                <a:tableStyleId>{5C22544A-7EE6-4342-B048-85BDC9FD1C3A}</a:tableStyleId>
              </a:tblPr>
              <a:tblGrid>
                <a:gridCol w="659108">
                  <a:extLst>
                    <a:ext uri="{9D8B030D-6E8A-4147-A177-3AD203B41FA5}">
                      <a16:colId xmlns:a16="http://schemas.microsoft.com/office/drawing/2014/main" val="3200314054"/>
                    </a:ext>
                  </a:extLst>
                </a:gridCol>
                <a:gridCol w="299089">
                  <a:extLst>
                    <a:ext uri="{9D8B030D-6E8A-4147-A177-3AD203B41FA5}">
                      <a16:colId xmlns:a16="http://schemas.microsoft.com/office/drawing/2014/main" val="1913271583"/>
                    </a:ext>
                  </a:extLst>
                </a:gridCol>
                <a:gridCol w="652590">
                  <a:extLst>
                    <a:ext uri="{9D8B030D-6E8A-4147-A177-3AD203B41FA5}">
                      <a16:colId xmlns:a16="http://schemas.microsoft.com/office/drawing/2014/main" val="1797281345"/>
                    </a:ext>
                  </a:extLst>
                </a:gridCol>
                <a:gridCol w="2237109">
                  <a:extLst>
                    <a:ext uri="{9D8B030D-6E8A-4147-A177-3AD203B41FA5}">
                      <a16:colId xmlns:a16="http://schemas.microsoft.com/office/drawing/2014/main" val="2743739350"/>
                    </a:ext>
                  </a:extLst>
                </a:gridCol>
                <a:gridCol w="349530">
                  <a:extLst>
                    <a:ext uri="{9D8B030D-6E8A-4147-A177-3AD203B41FA5}">
                      <a16:colId xmlns:a16="http://schemas.microsoft.com/office/drawing/2014/main" val="2056723756"/>
                    </a:ext>
                  </a:extLst>
                </a:gridCol>
                <a:gridCol w="571531">
                  <a:extLst>
                    <a:ext uri="{9D8B030D-6E8A-4147-A177-3AD203B41FA5}">
                      <a16:colId xmlns:a16="http://schemas.microsoft.com/office/drawing/2014/main" val="4073315665"/>
                    </a:ext>
                  </a:extLst>
                </a:gridCol>
                <a:gridCol w="831235">
                  <a:extLst>
                    <a:ext uri="{9D8B030D-6E8A-4147-A177-3AD203B41FA5}">
                      <a16:colId xmlns:a16="http://schemas.microsoft.com/office/drawing/2014/main" val="848560102"/>
                    </a:ext>
                  </a:extLst>
                </a:gridCol>
              </a:tblGrid>
              <a:tr h="147162">
                <a:tc rowSpan="5">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Recognize </a:t>
                      </a:r>
                      <a:r>
                        <a:rPr lang="en-US" sz="1000" b="1" u="none" strike="noStrike" kern="1200" baseline="0">
                          <a:solidFill>
                            <a:schemeClr val="lt1"/>
                          </a:solidFill>
                          <a:effectLst/>
                          <a:latin typeface="+mn-lt"/>
                          <a:ea typeface="+mn-ea"/>
                          <a:cs typeface="+mn-cs"/>
                        </a:rPr>
                        <a:t>Funded Service interest income</a:t>
                      </a: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22591">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000000"/>
                          </a:solidFill>
                          <a:effectLst/>
                          <a:uLnTx/>
                          <a:uFillTx/>
                          <a:latin typeface="+mn-lt"/>
                          <a:ea typeface="+mn-ea"/>
                          <a:cs typeface="+mn-cs"/>
                        </a:rPr>
                        <a:t>Upon Lease commencement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2259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22591">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Acc</a:t>
                      </a:r>
                      <a:r>
                        <a:rPr lang="en-US" sz="1000" b="0" i="0" u="none" strike="noStrike" baseline="0">
                          <a:solidFill>
                            <a:srgbClr val="000000"/>
                          </a:solidFill>
                          <a:effectLst/>
                          <a:latin typeface="+mn-lt"/>
                        </a:rPr>
                        <a:t> Receivable - Upfront Service</a:t>
                      </a:r>
                      <a:endParaRPr lang="en-US" sz="1000" b="0" i="0" u="none" strike="noStrike">
                        <a:solidFill>
                          <a:srgbClr val="000000"/>
                        </a:solidFill>
                        <a:effectLst/>
                        <a:latin typeface="+mn-lt"/>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50</a:t>
                      </a:r>
                      <a:endParaRPr kumimoji="0" lang="zh-CN" altLang="en-US"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50</a:t>
                      </a:r>
                      <a:endParaRPr kumimoji="0" lang="zh-CN" altLang="en-US"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424055017"/>
                  </a:ext>
                </a:extLst>
              </a:tr>
              <a:tr h="122591">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a:lnSpc>
                          <a:spcPct val="100000"/>
                        </a:lnSpc>
                        <a:spcBef>
                          <a:spcPts val="0"/>
                        </a:spcBef>
                        <a:spcAft>
                          <a:spcPts val="0"/>
                        </a:spcAft>
                        <a:buNone/>
                        <a:tabLst/>
                        <a:defRPr/>
                      </a:pPr>
                      <a:r>
                        <a:rPr lang="en-US" altLang="zh-CN" sz="1000" b="0" i="0" u="none" strike="noStrike" kern="1200" cap="none" spc="0" normalizeH="0" baseline="0" noProof="0">
                          <a:ln>
                            <a:noFill/>
                          </a:ln>
                          <a:solidFill>
                            <a:srgbClr val="000000"/>
                          </a:solidFill>
                          <a:effectLst/>
                          <a:uLnTx/>
                          <a:uFillTx/>
                          <a:latin typeface="+mn-lt"/>
                          <a:ea typeface="+mn-ea"/>
                          <a:cs typeface="+mn-cs"/>
                        </a:rPr>
                        <a:t>5010514</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lang="en-US" sz="1000" b="0" i="0" u="none" strike="noStrike" kern="1200">
                          <a:solidFill>
                            <a:srgbClr val="000000"/>
                          </a:solidFill>
                          <a:effectLst/>
                          <a:latin typeface="+mn-lt"/>
                          <a:ea typeface="+mn-ea"/>
                          <a:cs typeface="+mn-cs"/>
                        </a:rPr>
                        <a:t>Interest income </a:t>
                      </a:r>
                      <a:r>
                        <a:rPr lang="en-US" sz="1000" b="0" i="0" u="none" strike="noStrike" baseline="0">
                          <a:solidFill>
                            <a:srgbClr val="000000"/>
                          </a:solidFill>
                          <a:effectLst/>
                          <a:latin typeface="+mn-lt"/>
                        </a:rPr>
                        <a:t>- Upfront Service</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50</a:t>
                      </a:r>
                      <a:endParaRPr kumimoji="0" lang="zh-CN" altLang="en-US"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50</a:t>
                      </a:r>
                      <a:endParaRPr kumimoji="0" lang="zh-CN" altLang="en-US"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928750259"/>
                  </a:ext>
                </a:extLst>
              </a:tr>
            </a:tbl>
          </a:graphicData>
        </a:graphic>
      </p:graphicFrame>
      <p:sp>
        <p:nvSpPr>
          <p:cNvPr id="34" name="Rectangle 33">
            <a:extLst>
              <a:ext uri="{FF2B5EF4-FFF2-40B4-BE49-F238E27FC236}">
                <a16:creationId xmlns:a16="http://schemas.microsoft.com/office/drawing/2014/main" id="{90C0B283-B2F7-F351-BE9B-10DA7B1A06EC}"/>
              </a:ext>
            </a:extLst>
          </p:cNvPr>
          <p:cNvSpPr/>
          <p:nvPr/>
        </p:nvSpPr>
        <p:spPr>
          <a:xfrm>
            <a:off x="6101314" y="863301"/>
            <a:ext cx="5600191" cy="800988"/>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35" name="Speech Bubble: Rectangle with Corners Rounded 34">
            <a:extLst>
              <a:ext uri="{FF2B5EF4-FFF2-40B4-BE49-F238E27FC236}">
                <a16:creationId xmlns:a16="http://schemas.microsoft.com/office/drawing/2014/main" id="{7D74238C-5894-8D92-1AB5-9F7F72937188}"/>
              </a:ext>
            </a:extLst>
          </p:cNvPr>
          <p:cNvSpPr/>
          <p:nvPr/>
        </p:nvSpPr>
        <p:spPr>
          <a:xfrm>
            <a:off x="6549510" y="1753487"/>
            <a:ext cx="4985358" cy="307894"/>
          </a:xfrm>
          <a:prstGeom prst="wedgeRoundRectCallout">
            <a:avLst>
              <a:gd name="adj1" fmla="val 22986"/>
              <a:gd name="adj2" fmla="val -68256"/>
              <a:gd name="adj3" fmla="val 16667"/>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kumimoji="0" lang="en-US" sz="1050" b="0" i="0" u="none" strike="noStrike" kern="1200" cap="none" spc="0" normalizeH="0" baseline="0" noProof="0">
                <a:ln>
                  <a:noFill/>
                </a:ln>
                <a:solidFill>
                  <a:sysClr val="windowText" lastClr="000000"/>
                </a:solidFill>
                <a:effectLst/>
                <a:uLnTx/>
                <a:uFillTx/>
                <a:latin typeface="Arial"/>
                <a:ea typeface="+mn-ea"/>
                <a:cs typeface="+mn-cs"/>
              </a:rPr>
              <a:t>Funded upfront service interest treatment under S&amp;D model</a:t>
            </a: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kumimoji="0" lang="en-US" sz="1050" b="0" i="0" u="none" strike="noStrike" kern="1200" cap="none" spc="0" normalizeH="0" baseline="0" noProof="0">
                <a:ln>
                  <a:noFill/>
                </a:ln>
                <a:solidFill>
                  <a:sysClr val="windowText" lastClr="000000"/>
                </a:solidFill>
                <a:effectLst/>
                <a:uLnTx/>
                <a:uFillTx/>
                <a:latin typeface="Arial"/>
                <a:ea typeface="+mn-ea"/>
                <a:cs typeface="+mn-cs"/>
              </a:rPr>
              <a:t>If upfront service is non-funded onetime collection, this entry not required</a:t>
            </a:r>
          </a:p>
        </p:txBody>
      </p:sp>
      <p:sp>
        <p:nvSpPr>
          <p:cNvPr id="38" name="Speech Bubble: Rectangle with Corners Rounded 37">
            <a:extLst>
              <a:ext uri="{FF2B5EF4-FFF2-40B4-BE49-F238E27FC236}">
                <a16:creationId xmlns:a16="http://schemas.microsoft.com/office/drawing/2014/main" id="{35DFD6F8-9BAD-AD0E-6656-D69D9BD62BB1}"/>
              </a:ext>
            </a:extLst>
          </p:cNvPr>
          <p:cNvSpPr/>
          <p:nvPr/>
        </p:nvSpPr>
        <p:spPr>
          <a:xfrm>
            <a:off x="5959636" y="6372432"/>
            <a:ext cx="5716166" cy="344578"/>
          </a:xfrm>
          <a:prstGeom prst="wedgeRoundRectCallout">
            <a:avLst>
              <a:gd name="adj1" fmla="val 22986"/>
              <a:gd name="adj2" fmla="val -68256"/>
              <a:gd name="adj3" fmla="val 16667"/>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0" lang="en-US" sz="1050" b="0" i="0" u="none" strike="noStrike" kern="1200" cap="none" spc="0" normalizeH="0" baseline="0" noProof="0">
                <a:ln>
                  <a:noFill/>
                </a:ln>
                <a:solidFill>
                  <a:srgbClr val="000000"/>
                </a:solidFill>
                <a:effectLst/>
                <a:uLnTx/>
                <a:uFillTx/>
                <a:latin typeface="Arial"/>
                <a:ea typeface="+mn-ea"/>
                <a:cs typeface="+mn-cs"/>
              </a:rPr>
              <a:t>P</a:t>
            </a:r>
            <a:r>
              <a:rPr kumimoji="0" lang="en-US" altLang="zh-CN" sz="105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remier: 5010401(DaaS) 5010401(IaaS)</a:t>
            </a:r>
          </a:p>
        </p:txBody>
      </p:sp>
      <p:sp>
        <p:nvSpPr>
          <p:cNvPr id="39" name="TextBox 38">
            <a:extLst>
              <a:ext uri="{FF2B5EF4-FFF2-40B4-BE49-F238E27FC236}">
                <a16:creationId xmlns:a16="http://schemas.microsoft.com/office/drawing/2014/main" id="{06D7C46C-4D6D-AA52-022D-A5A6ED27934F}"/>
              </a:ext>
            </a:extLst>
          </p:cNvPr>
          <p:cNvSpPr txBox="1"/>
          <p:nvPr/>
        </p:nvSpPr>
        <p:spPr>
          <a:xfrm>
            <a:off x="2077950" y="5989848"/>
            <a:ext cx="3806391" cy="276999"/>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1200" cap="none" spc="0" normalizeH="0" baseline="0" noProof="0">
                <a:ln>
                  <a:noFill/>
                </a:ln>
                <a:solidFill>
                  <a:srgbClr val="000000"/>
                </a:solidFill>
                <a:effectLst/>
                <a:uLnTx/>
                <a:uFillTx/>
                <a:latin typeface="Arial" pitchFamily="34" charset="0"/>
                <a:ea typeface="+mn-ea"/>
                <a:cs typeface="Arial" pitchFamily="34" charset="0"/>
              </a:rPr>
              <a:t>*C</a:t>
            </a:r>
            <a:r>
              <a:rPr kumimoji="0" lang="en-US" altLang="zh-CN" sz="12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urrent vs Non-Current Reclass follow AFE rule</a:t>
            </a:r>
            <a:endParaRPr kumimoji="0" lang="en-US" sz="1200" b="1" i="1"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42" name="Speech Bubble: Rectangle with Corners Rounded 41">
            <a:extLst>
              <a:ext uri="{FF2B5EF4-FFF2-40B4-BE49-F238E27FC236}">
                <a16:creationId xmlns:a16="http://schemas.microsoft.com/office/drawing/2014/main" id="{50C9130E-3512-5A22-B1BF-7D030B9EADE5}"/>
              </a:ext>
            </a:extLst>
          </p:cNvPr>
          <p:cNvSpPr/>
          <p:nvPr/>
        </p:nvSpPr>
        <p:spPr>
          <a:xfrm>
            <a:off x="336517" y="5388416"/>
            <a:ext cx="5420784" cy="249581"/>
          </a:xfrm>
          <a:prstGeom prst="wedgeRoundRectCallout">
            <a:avLst>
              <a:gd name="adj1" fmla="val 22986"/>
              <a:gd name="adj2" fmla="val -68256"/>
              <a:gd name="adj3" fmla="val 16667"/>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ysClr val="windowText" lastClr="000000"/>
                </a:solidFill>
                <a:effectLst/>
                <a:uLnTx/>
                <a:uFillTx/>
                <a:latin typeface="Arial"/>
                <a:ea typeface="+mn-ea"/>
                <a:cs typeface="+mn-cs"/>
              </a:rPr>
              <a:t>Under S&amp;D is dealer lessor, so PV and LV both have value</a:t>
            </a:r>
          </a:p>
        </p:txBody>
      </p:sp>
      <p:graphicFrame>
        <p:nvGraphicFramePr>
          <p:cNvPr id="45" name="Table 94">
            <a:extLst>
              <a:ext uri="{FF2B5EF4-FFF2-40B4-BE49-F238E27FC236}">
                <a16:creationId xmlns:a16="http://schemas.microsoft.com/office/drawing/2014/main" id="{1D9FF6A6-60C3-24A2-6578-4CBD5BD3BBD5}"/>
              </a:ext>
            </a:extLst>
          </p:cNvPr>
          <p:cNvGraphicFramePr>
            <a:graphicFrameLocks noGrp="1"/>
          </p:cNvGraphicFramePr>
          <p:nvPr>
            <p:extLst>
              <p:ext uri="{D42A27DB-BD31-4B8C-83A1-F6EECF244321}">
                <p14:modId xmlns:p14="http://schemas.microsoft.com/office/powerpoint/2010/main" val="659395703"/>
              </p:ext>
            </p:extLst>
          </p:nvPr>
        </p:nvGraphicFramePr>
        <p:xfrm>
          <a:off x="5968533" y="2114574"/>
          <a:ext cx="6010727" cy="2556213"/>
        </p:xfrm>
        <a:graphic>
          <a:graphicData uri="http://schemas.openxmlformats.org/drawingml/2006/table">
            <a:tbl>
              <a:tblPr firstRow="1">
                <a:tableStyleId>{5C22544A-7EE6-4342-B048-85BDC9FD1C3A}</a:tableStyleId>
              </a:tblPr>
              <a:tblGrid>
                <a:gridCol w="668413">
                  <a:extLst>
                    <a:ext uri="{9D8B030D-6E8A-4147-A177-3AD203B41FA5}">
                      <a16:colId xmlns:a16="http://schemas.microsoft.com/office/drawing/2014/main" val="3200314054"/>
                    </a:ext>
                  </a:extLst>
                </a:gridCol>
                <a:gridCol w="303311">
                  <a:extLst>
                    <a:ext uri="{9D8B030D-6E8A-4147-A177-3AD203B41FA5}">
                      <a16:colId xmlns:a16="http://schemas.microsoft.com/office/drawing/2014/main" val="1913271583"/>
                    </a:ext>
                  </a:extLst>
                </a:gridCol>
                <a:gridCol w="661802">
                  <a:extLst>
                    <a:ext uri="{9D8B030D-6E8A-4147-A177-3AD203B41FA5}">
                      <a16:colId xmlns:a16="http://schemas.microsoft.com/office/drawing/2014/main" val="1797281345"/>
                    </a:ext>
                  </a:extLst>
                </a:gridCol>
                <a:gridCol w="2271122">
                  <a:extLst>
                    <a:ext uri="{9D8B030D-6E8A-4147-A177-3AD203B41FA5}">
                      <a16:colId xmlns:a16="http://schemas.microsoft.com/office/drawing/2014/main" val="2743739350"/>
                    </a:ext>
                  </a:extLst>
                </a:gridCol>
                <a:gridCol w="657354">
                  <a:extLst>
                    <a:ext uri="{9D8B030D-6E8A-4147-A177-3AD203B41FA5}">
                      <a16:colId xmlns:a16="http://schemas.microsoft.com/office/drawing/2014/main" val="2056723756"/>
                    </a:ext>
                  </a:extLst>
                </a:gridCol>
                <a:gridCol w="657354">
                  <a:extLst>
                    <a:ext uri="{9D8B030D-6E8A-4147-A177-3AD203B41FA5}">
                      <a16:colId xmlns:a16="http://schemas.microsoft.com/office/drawing/2014/main" val="4073315665"/>
                    </a:ext>
                  </a:extLst>
                </a:gridCol>
                <a:gridCol w="791371">
                  <a:extLst>
                    <a:ext uri="{9D8B030D-6E8A-4147-A177-3AD203B41FA5}">
                      <a16:colId xmlns:a16="http://schemas.microsoft.com/office/drawing/2014/main" val="848560102"/>
                    </a:ext>
                  </a:extLst>
                </a:gridCol>
              </a:tblGrid>
              <a:tr h="147407">
                <a:tc rowSpan="13">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Monthly Invoice issued to customer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47407">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000000"/>
                          </a:solidFill>
                          <a:effectLst/>
                          <a:uLnTx/>
                          <a:uFillTx/>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47407">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4165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1130103</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Acc Receivable Operating  Lease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1017.3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1017.3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851737725"/>
                  </a:ext>
                </a:extLst>
              </a:tr>
              <a:tr h="150356">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5010401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SW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563725212"/>
                  </a:ext>
                </a:extLst>
              </a:tr>
              <a:tr h="283022">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ysClr val="windowText" lastClr="000000"/>
                          </a:solidFill>
                          <a:effectLst/>
                          <a:uLnTx/>
                          <a:uFillTx/>
                          <a:latin typeface="+mn-lt"/>
                          <a:ea typeface="+mn-ea"/>
                          <a:cs typeface="+mn-cs"/>
                        </a:rPr>
                        <a:t>5010401</a:t>
                      </a:r>
                      <a:endParaRPr kumimoji="0" lang="en-US" altLang="zh-CN" sz="1000" b="0" i="0" u="none" strike="noStrike" kern="1200" cap="none" spc="0" normalizeH="0" baseline="0" noProof="0">
                        <a:ln>
                          <a:noFill/>
                        </a:ln>
                        <a:solidFill>
                          <a:sysClr val="windowText" lastClr="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Services Revenue – Non</a:t>
                      </a:r>
                      <a:r>
                        <a:rPr kumimoji="0" lang="en-US" altLang="zh-CN" sz="1000" b="0" i="0" u="none" strike="noStrike" kern="1200" cap="none" spc="0" normalizeH="0" baseline="0">
                          <a:ln>
                            <a:noFill/>
                          </a:ln>
                          <a:solidFill>
                            <a:srgbClr val="000000"/>
                          </a:solidFill>
                          <a:effectLst/>
                          <a:uLnTx/>
                          <a:uFillTx/>
                          <a:latin typeface="+mn-lt"/>
                          <a:ea typeface="+mn-ea"/>
                          <a:cs typeface="+mn-cs"/>
                        </a:rPr>
                        <a:t>-</a:t>
                      </a:r>
                      <a:r>
                        <a:rPr kumimoji="0" lang="en-US" sz="1000" b="0" i="0" u="none" strike="noStrike" kern="1200" cap="none" spc="0" normalizeH="0" baseline="0">
                          <a:ln>
                            <a:noFill/>
                          </a:ln>
                          <a:solidFill>
                            <a:srgbClr val="000000"/>
                          </a:solidFill>
                          <a:effectLst/>
                          <a:uLnTx/>
                          <a:uFillTx/>
                          <a:latin typeface="+mn-lt"/>
                          <a:ea typeface="+mn-ea"/>
                          <a:cs typeface="+mn-cs"/>
                        </a:rPr>
                        <a:t>Funded Premier</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10</a:t>
                      </a: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586069101"/>
                  </a:ext>
                </a:extLst>
              </a:tr>
              <a:tr h="150356">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algn="ctr" fontAlgn="b"/>
                      <a:r>
                        <a:rPr kumimoji="0" lang="en-US" sz="1000" b="0" i="0" u="none" strike="noStrike" kern="1200" cap="none" spc="0" normalizeH="0" baseline="0">
                          <a:ln>
                            <a:noFill/>
                          </a:ln>
                          <a:solidFill>
                            <a:srgbClr val="000000"/>
                          </a:solidFill>
                          <a:effectLst/>
                          <a:uLnTx/>
                          <a:uFillTx/>
                          <a:latin typeface="+mn-lt"/>
                          <a:ea typeface="+mn-ea"/>
                          <a:cs typeface="+mn-cs"/>
                        </a:rPr>
                        <a:t>Cr</a:t>
                      </a:r>
                    </a:p>
                  </a:txBody>
                  <a:tcPr marL="0" marR="0" marT="0" marB="0" anchor="b">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840</a:t>
                      </a: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840</a:t>
                      </a:r>
                      <a:endPar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1507101681"/>
                  </a:ext>
                </a:extLst>
              </a:tr>
              <a:tr h="291867">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Cr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Acc Receivable </a:t>
                      </a:r>
                      <a:r>
                        <a:rPr lang="en-US" sz="1000" b="0" i="0" u="none" strike="noStrike" baseline="0">
                          <a:solidFill>
                            <a:schemeClr val="tx1"/>
                          </a:solidFill>
                          <a:effectLst/>
                          <a:latin typeface="+mn-lt"/>
                        </a:rPr>
                        <a:t>– Funded Upfront Service</a:t>
                      </a:r>
                      <a:endParaRPr lang="en-US" sz="1000" b="0" i="0" u="none" strike="noStrike">
                        <a:solidFill>
                          <a:schemeClr val="tx1"/>
                        </a:solidFill>
                        <a:effectLst/>
                        <a:latin typeface="+mn-lt"/>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ysClr val="windowText" lastClr="000000"/>
                          </a:solidFill>
                          <a:effectLst/>
                          <a:latin typeface="+mn-lt"/>
                          <a:ea typeface="等线" panose="02010600030101010101" pitchFamily="2" charset="-122"/>
                          <a:cs typeface="+mn-cs"/>
                        </a:rPr>
                        <a:t>15.3</a:t>
                      </a:r>
                      <a:endParaRPr lang="zh-CN" altLang="en-US" sz="1000" b="0" i="0" u="none" strike="noStrike" kern="1200">
                        <a:solidFill>
                          <a:sysClr val="windowText" lastClr="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ysClr val="windowText" lastClr="000000"/>
                          </a:solidFill>
                          <a:effectLst/>
                          <a:uLnTx/>
                          <a:uFillTx/>
                          <a:latin typeface="Arial"/>
                          <a:ea typeface="等线" panose="02010600030101010101" pitchFamily="2" charset="-122"/>
                          <a:cs typeface="+mn-cs"/>
                        </a:rPr>
                        <a:t>15.3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834946976"/>
                  </a:ext>
                </a:extLst>
              </a:tr>
              <a:tr h="291867">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Defer Revenue -ARS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ysClr val="windowText" lastClr="000000"/>
                          </a:solidFill>
                          <a:effectLst/>
                          <a:latin typeface="+mn-lt"/>
                          <a:ea typeface="等线" panose="02010600030101010101" pitchFamily="2" charset="-122"/>
                          <a:cs typeface="+mn-cs"/>
                        </a:rPr>
                        <a:t>2</a:t>
                      </a:r>
                      <a:endParaRPr lang="zh-CN" altLang="en-US" sz="1000" b="0" i="0" u="none" strike="noStrike" kern="1200">
                        <a:solidFill>
                          <a:sysClr val="windowText" lastClr="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ysClr val="windowText" lastClr="000000"/>
                          </a:solidFill>
                          <a:effectLst/>
                          <a:uLnTx/>
                          <a:uFillTx/>
                          <a:latin typeface="Arial"/>
                          <a:ea typeface="等线" panose="02010600030101010101" pitchFamily="2" charset="-122"/>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J*</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110115960"/>
                  </a:ext>
                </a:extLst>
              </a:tr>
              <a:tr h="150356">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fontAlgn="b"/>
                      <a:r>
                        <a:rPr kumimoji="0" lang="en-US" sz="1000" b="0" i="0" u="none" strike="noStrike" kern="1200" cap="none" spc="0" normalizeH="0" baseline="0">
                          <a:ln>
                            <a:noFill/>
                          </a:ln>
                          <a:solidFill>
                            <a:srgbClr val="000000"/>
                          </a:solidFill>
                          <a:effectLst/>
                          <a:uLnTx/>
                          <a:uFillTx/>
                          <a:latin typeface="+mn-lt"/>
                          <a:ea typeface="+mn-ea"/>
                          <a:cs typeface="+mn-cs"/>
                        </a:rPr>
                        <a:t>Dr</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1400303</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 Interest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111</a:t>
                      </a: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792215093"/>
                  </a:ext>
                </a:extLst>
              </a:tr>
              <a:tr h="150356">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fontAlgn="t"/>
                      <a:r>
                        <a:rPr kumimoji="0" lang="en-US" sz="1000" b="0" i="0" u="none" strike="noStrike" kern="1200" cap="none" spc="0" normalizeH="0" baseline="0">
                          <a:ln>
                            <a:noFill/>
                          </a:ln>
                          <a:solidFill>
                            <a:srgbClr val="000000"/>
                          </a:solidFill>
                          <a:effectLst/>
                          <a:uLnTx/>
                          <a:uFillTx/>
                          <a:latin typeface="+mn-lt"/>
                          <a:ea typeface="+mn-ea"/>
                          <a:cs typeface="+mn-cs"/>
                        </a:rPr>
                        <a:t>Cr</a:t>
                      </a:r>
                    </a:p>
                  </a:txBody>
                  <a:tcPr marL="0" marR="0" marT="0" marB="0">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lvl="0" algn="ctr">
                        <a:lnSpc>
                          <a:spcPct val="100000"/>
                        </a:lnSpc>
                        <a:spcBef>
                          <a:spcPts val="0"/>
                        </a:spcBef>
                        <a:spcAft>
                          <a:spcPts val="0"/>
                        </a:spcAft>
                        <a:buNone/>
                      </a:pPr>
                      <a:r>
                        <a:rPr lang="en-US" sz="1000" b="0" i="0" u="none" strike="noStrike" kern="1200" cap="none" spc="0" normalizeH="0" baseline="0" noProof="0">
                          <a:ln>
                            <a:noFill/>
                          </a:ln>
                          <a:solidFill>
                            <a:srgbClr val="000000"/>
                          </a:solidFill>
                          <a:effectLst/>
                          <a:uLnTx/>
                          <a:uFillTx/>
                          <a:latin typeface="Arial"/>
                          <a:ea typeface="+mn-ea"/>
                          <a:cs typeface="Arial"/>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Interest Income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111</a:t>
                      </a: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621657461"/>
                  </a:ext>
                </a:extLst>
              </a:tr>
              <a:tr h="150356">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fontAlgn="t"/>
                      <a:r>
                        <a:rPr kumimoji="0" lang="en-US" sz="1000" b="0" i="0" u="none" strike="noStrike" kern="1200" cap="none" spc="0" normalizeH="0" baseline="0">
                          <a:ln>
                            <a:noFill/>
                          </a:ln>
                          <a:solidFill>
                            <a:srgbClr val="000000"/>
                          </a:solidFill>
                          <a:effectLst/>
                          <a:uLnTx/>
                          <a:uFillTx/>
                          <a:latin typeface="+mn-lt"/>
                          <a:ea typeface="+mn-ea"/>
                          <a:cs typeface="+mn-cs"/>
                        </a:rPr>
                        <a:t>Dr</a:t>
                      </a:r>
                    </a:p>
                  </a:txBody>
                  <a:tcPr marL="0" marR="0" marT="0" marB="0">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1400307</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Residual Value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16</a:t>
                      </a: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117272754"/>
                  </a:ext>
                </a:extLst>
              </a:tr>
              <a:tr h="150356">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fontAlgn="t"/>
                      <a:r>
                        <a:rPr kumimoji="0" lang="en-US" sz="1000" b="0" i="0" u="none" strike="noStrike" kern="1200" cap="none" spc="0" normalizeH="0" baseline="0">
                          <a:ln>
                            <a:noFill/>
                          </a:ln>
                          <a:solidFill>
                            <a:srgbClr val="000000"/>
                          </a:solidFill>
                          <a:effectLst/>
                          <a:uLnTx/>
                          <a:uFillTx/>
                          <a:latin typeface="+mn-lt"/>
                          <a:ea typeface="+mn-ea"/>
                          <a:cs typeface="+mn-cs"/>
                        </a:rPr>
                        <a:t>Cr</a:t>
                      </a:r>
                    </a:p>
                  </a:txBody>
                  <a:tcPr marL="0" marR="0" marT="0" marB="0">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lvl="0" algn="ctr">
                        <a:lnSpc>
                          <a:spcPct val="100000"/>
                        </a:lnSpc>
                        <a:spcBef>
                          <a:spcPts val="0"/>
                        </a:spcBef>
                        <a:spcAft>
                          <a:spcPts val="0"/>
                        </a:spcAft>
                        <a:buNone/>
                      </a:pPr>
                      <a:r>
                        <a:rPr lang="en-US" sz="1000" b="0" i="0" u="none" strike="noStrike" kern="1200" cap="none" spc="0" normalizeH="0" baseline="0" noProof="0">
                          <a:ln>
                            <a:noFill/>
                          </a:ln>
                          <a:solidFill>
                            <a:srgbClr val="000000"/>
                          </a:solidFill>
                          <a:effectLst/>
                          <a:uLnTx/>
                          <a:uFillTx/>
                          <a:latin typeface="Arial"/>
                          <a:ea typeface="+mn-ea"/>
                          <a:cs typeface="Arial"/>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Interest Income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16</a:t>
                      </a: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73149316"/>
                  </a:ext>
                </a:extLst>
              </a:tr>
            </a:tbl>
          </a:graphicData>
        </a:graphic>
      </p:graphicFrame>
      <p:graphicFrame>
        <p:nvGraphicFramePr>
          <p:cNvPr id="41" name="Table 94">
            <a:extLst>
              <a:ext uri="{FF2B5EF4-FFF2-40B4-BE49-F238E27FC236}">
                <a16:creationId xmlns:a16="http://schemas.microsoft.com/office/drawing/2014/main" id="{B720C552-97B4-D080-FF74-0719BAE073A7}"/>
              </a:ext>
            </a:extLst>
          </p:cNvPr>
          <p:cNvGraphicFramePr>
            <a:graphicFrameLocks noGrp="1"/>
          </p:cNvGraphicFramePr>
          <p:nvPr>
            <p:extLst>
              <p:ext uri="{D42A27DB-BD31-4B8C-83A1-F6EECF244321}">
                <p14:modId xmlns:p14="http://schemas.microsoft.com/office/powerpoint/2010/main" val="3166550646"/>
              </p:ext>
            </p:extLst>
          </p:nvPr>
        </p:nvGraphicFramePr>
        <p:xfrm>
          <a:off x="294135" y="3450789"/>
          <a:ext cx="5590206" cy="1820230"/>
        </p:xfrm>
        <a:graphic>
          <a:graphicData uri="http://schemas.openxmlformats.org/drawingml/2006/table">
            <a:tbl>
              <a:tblPr firstRow="1">
                <a:tableStyleId>{5C22544A-7EE6-4342-B048-85BDC9FD1C3A}</a:tableStyleId>
              </a:tblPr>
              <a:tblGrid>
                <a:gridCol w="657934">
                  <a:extLst>
                    <a:ext uri="{9D8B030D-6E8A-4147-A177-3AD203B41FA5}">
                      <a16:colId xmlns:a16="http://schemas.microsoft.com/office/drawing/2014/main" val="3200314054"/>
                    </a:ext>
                  </a:extLst>
                </a:gridCol>
                <a:gridCol w="298555">
                  <a:extLst>
                    <a:ext uri="{9D8B030D-6E8A-4147-A177-3AD203B41FA5}">
                      <a16:colId xmlns:a16="http://schemas.microsoft.com/office/drawing/2014/main" val="1913271583"/>
                    </a:ext>
                  </a:extLst>
                </a:gridCol>
                <a:gridCol w="651427">
                  <a:extLst>
                    <a:ext uri="{9D8B030D-6E8A-4147-A177-3AD203B41FA5}">
                      <a16:colId xmlns:a16="http://schemas.microsoft.com/office/drawing/2014/main" val="1797281345"/>
                    </a:ext>
                  </a:extLst>
                </a:gridCol>
                <a:gridCol w="1994463">
                  <a:extLst>
                    <a:ext uri="{9D8B030D-6E8A-4147-A177-3AD203B41FA5}">
                      <a16:colId xmlns:a16="http://schemas.microsoft.com/office/drawing/2014/main" val="2743739350"/>
                    </a:ext>
                  </a:extLst>
                </a:gridCol>
                <a:gridCol w="587563">
                  <a:extLst>
                    <a:ext uri="{9D8B030D-6E8A-4147-A177-3AD203B41FA5}">
                      <a16:colId xmlns:a16="http://schemas.microsoft.com/office/drawing/2014/main" val="2056723756"/>
                    </a:ext>
                  </a:extLst>
                </a:gridCol>
                <a:gridCol w="570512">
                  <a:extLst>
                    <a:ext uri="{9D8B030D-6E8A-4147-A177-3AD203B41FA5}">
                      <a16:colId xmlns:a16="http://schemas.microsoft.com/office/drawing/2014/main" val="4073315665"/>
                    </a:ext>
                  </a:extLst>
                </a:gridCol>
                <a:gridCol w="829752">
                  <a:extLst>
                    <a:ext uri="{9D8B030D-6E8A-4147-A177-3AD203B41FA5}">
                      <a16:colId xmlns:a16="http://schemas.microsoft.com/office/drawing/2014/main" val="848560102"/>
                    </a:ext>
                  </a:extLst>
                </a:gridCol>
              </a:tblGrid>
              <a:tr h="159151">
                <a:tc rowSpan="10">
                  <a:txBody>
                    <a:bodyPr/>
                    <a:lstStyle/>
                    <a:p>
                      <a:pPr algn="ctr" fontAlgn="ctr"/>
                      <a:r>
                        <a:rPr lang="en-US" sz="1000" b="1" u="none" strike="noStrike" kern="1200">
                          <a:solidFill>
                            <a:schemeClr val="lt1"/>
                          </a:solidFill>
                          <a:effectLst/>
                          <a:latin typeface="+mn-lt"/>
                          <a:ea typeface="+mn-ea"/>
                          <a:cs typeface="+mn-cs"/>
                        </a:rPr>
                        <a:t>S&amp;D</a:t>
                      </a:r>
                      <a:br>
                        <a:rPr lang="en-US" sz="1000" b="1" u="none" strike="noStrike" kern="1200">
                          <a:solidFill>
                            <a:srgbClr val="FFFFFF"/>
                          </a:solidFill>
                          <a:effectLst/>
                          <a:latin typeface="+mn-lt"/>
                          <a:ea typeface="+mn-ea"/>
                          <a:cs typeface="+mn-cs"/>
                        </a:rPr>
                      </a:br>
                      <a:r>
                        <a:rPr lang="en-US" sz="1000" b="1" u="none" strike="noStrike" kern="1200">
                          <a:solidFill>
                            <a:schemeClr val="lt1"/>
                          </a:solidFill>
                          <a:effectLst/>
                          <a:latin typeface="+mn-lt"/>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 </a:t>
                      </a:r>
                      <a:r>
                        <a:rPr lang="en-US" sz="1000" b="1" u="none" strike="noStrike" kern="1200" err="1">
                          <a:solidFill>
                            <a:schemeClr val="lt1"/>
                          </a:solidFill>
                          <a:effectLst/>
                          <a:latin typeface="+mn-lt"/>
                          <a:ea typeface="+mn-ea"/>
                          <a:cs typeface="+mn-cs"/>
                        </a:rPr>
                        <a:t>Recognise</a:t>
                      </a:r>
                      <a:r>
                        <a:rPr lang="en-US" sz="1000" b="1" u="none" strike="noStrike" kern="1200">
                          <a:solidFill>
                            <a:schemeClr val="lt1"/>
                          </a:solidFill>
                          <a:effectLst/>
                          <a:latin typeface="+mn-lt"/>
                          <a:ea typeface="+mn-ea"/>
                          <a:cs typeface="+mn-cs"/>
                        </a:rPr>
                        <a:t> Finance Lease Revenue + Cost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83424">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Upon Lease commencement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83424">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0"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PV</a:t>
                      </a:r>
                      <a:endParaRPr kumimoji="0" lang="en-US" sz="1000" b="0"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0"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76338">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30,240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30,240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1984375241"/>
                  </a:ext>
                </a:extLst>
              </a:tr>
              <a:tr h="185078">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1400303</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Lease Receivable Interest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ctr" fontAlgn="ctr"/>
                      <a:r>
                        <a:rPr kumimoji="0" lang="en-US" altLang="zh-CN" sz="1000" b="0" i="0" u="none" strike="noStrike" kern="1200" cap="none" spc="0" normalizeH="0" baseline="0">
                          <a:ln>
                            <a:noFill/>
                          </a:ln>
                          <a:solidFill>
                            <a:srgbClr val="000000"/>
                          </a:solidFill>
                          <a:effectLst/>
                          <a:uLnTx/>
                          <a:uFillTx/>
                          <a:latin typeface="+mn-lt"/>
                          <a:ea typeface="+mn-ea"/>
                          <a:cs typeface="+mn-cs"/>
                        </a:rPr>
                        <a:t>4,011</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4,011</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715442142"/>
                  </a:ext>
                </a:extLst>
              </a:tr>
              <a:tr h="193015">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5010509</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Finance Lease Revenue</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26,229</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26,229</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860048024"/>
                  </a:ext>
                </a:extLst>
              </a:tr>
              <a:tr h="185078">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1400307</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Residual Value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1,771</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1,771</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4187575609"/>
                  </a:ext>
                </a:extLst>
              </a:tr>
              <a:tr h="185078">
                <a:tc vMerge="1">
                  <a:txBody>
                    <a:bodyPr/>
                    <a:lstStyle/>
                    <a:p>
                      <a:pPr algn="ctr" fontAlgn="ctr"/>
                      <a:endParaRPr kumimoji="0" lang="en-US" sz="1000" b="0"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5020509</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Cost Finance Lease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1,771</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1,771</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254339308"/>
                  </a:ext>
                </a:extLst>
              </a:tr>
              <a:tr h="185078">
                <a:tc vMerge="1">
                  <a:txBody>
                    <a:bodyPr/>
                    <a:lstStyle/>
                    <a:p>
                      <a:pPr algn="ctr" fontAlgn="ctr"/>
                      <a:endParaRPr kumimoji="0" lang="en-US" sz="1000" b="0"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5020509</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b"/>
                      <a:r>
                        <a:rPr kumimoji="0" lang="en-US" sz="1000" b="0" i="0" u="none" strike="noStrike" kern="1200" cap="none" spc="0" normalizeH="0" baseline="0">
                          <a:ln>
                            <a:noFill/>
                          </a:ln>
                          <a:solidFill>
                            <a:srgbClr val="000000"/>
                          </a:solidFill>
                          <a:effectLst/>
                          <a:uLnTx/>
                          <a:uFillTx/>
                          <a:latin typeface="+mn-lt"/>
                          <a:ea typeface="+mn-ea"/>
                          <a:cs typeface="+mn-cs"/>
                        </a:rPr>
                        <a:t>Cost Finance Lease</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a:ln>
                            <a:noFill/>
                          </a:ln>
                          <a:solidFill>
                            <a:srgbClr val="000000"/>
                          </a:solidFill>
                          <a:effectLst/>
                          <a:uLnTx/>
                          <a:uFillTx/>
                          <a:latin typeface="+mn-lt"/>
                          <a:ea typeface="+mn-ea"/>
                          <a:cs typeface="+mn-cs"/>
                        </a:rPr>
                        <a:t>17,000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16,800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4086984928"/>
                  </a:ext>
                </a:extLst>
              </a:tr>
              <a:tr h="198979">
                <a:tc vMerge="1">
                  <a:txBody>
                    <a:bodyPr/>
                    <a:lstStyle/>
                    <a:p>
                      <a:pPr algn="ctr" fontAlgn="ctr"/>
                      <a:endParaRPr kumimoji="0" lang="en-US" sz="1000" b="0"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1349903</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algn="l" fontAlgn="ctr"/>
                      <a:r>
                        <a:rPr kumimoji="0" lang="en-US" sz="1000" b="0" i="0" u="none" strike="noStrike" kern="1200" cap="none" spc="0" normalizeH="0" baseline="0">
                          <a:ln>
                            <a:noFill/>
                          </a:ln>
                          <a:solidFill>
                            <a:srgbClr val="000000"/>
                          </a:solidFill>
                          <a:effectLst/>
                          <a:uLnTx/>
                          <a:uFillTx/>
                          <a:latin typeface="+mn-lt"/>
                          <a:ea typeface="+mn-ea"/>
                          <a:cs typeface="+mn-cs"/>
                        </a:rPr>
                        <a:t>Goods in Transit</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a:ln>
                            <a:noFill/>
                          </a:ln>
                          <a:solidFill>
                            <a:srgbClr val="000000"/>
                          </a:solidFill>
                          <a:effectLst/>
                          <a:uLnTx/>
                          <a:uFillTx/>
                          <a:latin typeface="+mn-lt"/>
                          <a:ea typeface="+mn-ea"/>
                          <a:cs typeface="+mn-cs"/>
                        </a:rPr>
                        <a:t>17,000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a:ln>
                            <a:noFill/>
                          </a:ln>
                          <a:solidFill>
                            <a:srgbClr val="000000"/>
                          </a:solidFill>
                          <a:effectLst/>
                          <a:uLnTx/>
                          <a:uFillTx/>
                          <a:latin typeface="+mn-lt"/>
                          <a:ea typeface="+mn-ea"/>
                          <a:cs typeface="+mn-cs"/>
                        </a:rPr>
                        <a:t>16,800</a:t>
                      </a:r>
                      <a:endParaRPr kumimoji="0" lang="zh-CN" altLang="en-US" sz="1000" b="0" i="0" u="none" strike="noStrike" kern="1200" cap="none" spc="0" normalizeH="0" baseline="0">
                        <a:ln>
                          <a:noFill/>
                        </a:ln>
                        <a:solidFill>
                          <a:srgbClr val="000000"/>
                        </a:solidFill>
                        <a:effectLst/>
                        <a:uLnTx/>
                        <a:uFillTx/>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274004026"/>
                  </a:ext>
                </a:extLst>
              </a:tr>
            </a:tbl>
          </a:graphicData>
        </a:graphic>
      </p:graphicFrame>
      <p:graphicFrame>
        <p:nvGraphicFramePr>
          <p:cNvPr id="4" name="Table 2">
            <a:extLst>
              <a:ext uri="{FF2B5EF4-FFF2-40B4-BE49-F238E27FC236}">
                <a16:creationId xmlns:a16="http://schemas.microsoft.com/office/drawing/2014/main" id="{6DF0C7CF-720A-6825-2B7D-096640B01642}"/>
              </a:ext>
            </a:extLst>
          </p:cNvPr>
          <p:cNvGraphicFramePr>
            <a:graphicFrameLocks noGrp="1"/>
          </p:cNvGraphicFramePr>
          <p:nvPr>
            <p:extLst>
              <p:ext uri="{D42A27DB-BD31-4B8C-83A1-F6EECF244321}">
                <p14:modId xmlns:p14="http://schemas.microsoft.com/office/powerpoint/2010/main" val="3961620175"/>
              </p:ext>
            </p:extLst>
          </p:nvPr>
        </p:nvGraphicFramePr>
        <p:xfrm>
          <a:off x="5968533" y="4670890"/>
          <a:ext cx="6010727" cy="723900"/>
        </p:xfrm>
        <a:graphic>
          <a:graphicData uri="http://schemas.openxmlformats.org/drawingml/2006/table">
            <a:tbl>
              <a:tblPr firstRow="1">
                <a:tableStyleId>{5C22544A-7EE6-4342-B048-85BDC9FD1C3A}</a:tableStyleId>
              </a:tblPr>
              <a:tblGrid>
                <a:gridCol w="707429">
                  <a:extLst>
                    <a:ext uri="{9D8B030D-6E8A-4147-A177-3AD203B41FA5}">
                      <a16:colId xmlns:a16="http://schemas.microsoft.com/office/drawing/2014/main" val="3200314054"/>
                    </a:ext>
                  </a:extLst>
                </a:gridCol>
                <a:gridCol w="192122">
                  <a:extLst>
                    <a:ext uri="{9D8B030D-6E8A-4147-A177-3AD203B41FA5}">
                      <a16:colId xmlns:a16="http://schemas.microsoft.com/office/drawing/2014/main" val="1913271583"/>
                    </a:ext>
                  </a:extLst>
                </a:gridCol>
                <a:gridCol w="678521">
                  <a:extLst>
                    <a:ext uri="{9D8B030D-6E8A-4147-A177-3AD203B41FA5}">
                      <a16:colId xmlns:a16="http://schemas.microsoft.com/office/drawing/2014/main" val="1797281345"/>
                    </a:ext>
                  </a:extLst>
                </a:gridCol>
                <a:gridCol w="2167075">
                  <a:extLst>
                    <a:ext uri="{9D8B030D-6E8A-4147-A177-3AD203B41FA5}">
                      <a16:colId xmlns:a16="http://schemas.microsoft.com/office/drawing/2014/main" val="2743739350"/>
                    </a:ext>
                  </a:extLst>
                </a:gridCol>
                <a:gridCol w="649867">
                  <a:extLst>
                    <a:ext uri="{9D8B030D-6E8A-4147-A177-3AD203B41FA5}">
                      <a16:colId xmlns:a16="http://schemas.microsoft.com/office/drawing/2014/main" val="2056723756"/>
                    </a:ext>
                  </a:extLst>
                </a:gridCol>
                <a:gridCol w="723543">
                  <a:extLst>
                    <a:ext uri="{9D8B030D-6E8A-4147-A177-3AD203B41FA5}">
                      <a16:colId xmlns:a16="http://schemas.microsoft.com/office/drawing/2014/main" val="4073315665"/>
                    </a:ext>
                  </a:extLst>
                </a:gridCol>
                <a:gridCol w="892170">
                  <a:extLst>
                    <a:ext uri="{9D8B030D-6E8A-4147-A177-3AD203B41FA5}">
                      <a16:colId xmlns:a16="http://schemas.microsoft.com/office/drawing/2014/main" val="848560102"/>
                    </a:ext>
                  </a:extLst>
                </a:gridCol>
              </a:tblGrid>
              <a:tr h="96327">
                <a:tc rowSpan="5">
                  <a:txBody>
                    <a:bodyPr/>
                    <a:lstStyle/>
                    <a:p>
                      <a:pPr algn="ctr" fontAlgn="ctr"/>
                      <a:r>
                        <a:rPr lang="en-US" sz="1100" u="none" strike="noStrike">
                          <a:effectLst/>
                        </a:rPr>
                        <a:t>S&amp;D</a:t>
                      </a:r>
                      <a:br>
                        <a:rPr lang="en-US" sz="1100" u="none" strike="noStrike">
                          <a:effectLst/>
                        </a:rPr>
                      </a:br>
                      <a:r>
                        <a:rPr lang="en-US" sz="1100" u="none" strike="noStrike">
                          <a:effectLst/>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900" b="1" u="none" strike="noStrike" kern="1200">
                          <a:solidFill>
                            <a:schemeClr val="lt1"/>
                          </a:solidFill>
                          <a:effectLst/>
                          <a:latin typeface="+mn-lt"/>
                          <a:ea typeface="+mn-ea"/>
                          <a:cs typeface="+mn-cs"/>
                        </a:rPr>
                        <a:t>Factory service split​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96327">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a:ln>
                            <a:noFill/>
                          </a:ln>
                          <a:solidFill>
                            <a:srgbClr val="000000"/>
                          </a:solidFill>
                          <a:effectLst/>
                          <a:uLnTx/>
                          <a:uFillTx/>
                          <a:latin typeface="+mn-lt"/>
                          <a:ea typeface="+mn-ea"/>
                          <a:cs typeface="+mn-cs"/>
                        </a:rPr>
                        <a:t>Upon M0, follow as-is FS split logic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96327">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900" b="1" i="0" u="none" strike="noStrike" kern="1200" cap="none" spc="0" normalizeH="0" baseline="0">
                          <a:ln>
                            <a:noFill/>
                          </a:ln>
                          <a:solidFill>
                            <a:srgbClr val="000000"/>
                          </a:solidFill>
                          <a:effectLst/>
                          <a:uLnTx/>
                          <a:uFillTx/>
                          <a:latin typeface="Arial"/>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900" b="1" i="0" u="none" strike="noStrike" kern="1200" cap="none" spc="0" normalizeH="0" baseline="0">
                          <a:ln>
                            <a:noFill/>
                          </a:ln>
                          <a:solidFill>
                            <a:srgbClr val="000000"/>
                          </a:solidFill>
                          <a:effectLst/>
                          <a:uLnTx/>
                          <a:uFillTx/>
                          <a:latin typeface="Arial"/>
                          <a:ea typeface="+mn-ea"/>
                          <a:cs typeface="+mn-cs"/>
                        </a:rPr>
                        <a:t>PV</a:t>
                      </a:r>
                      <a:endParaRPr kumimoji="0" lang="en-US" sz="900" b="1" i="0" u="none" strike="noStrike" kern="1200" cap="none" spc="0" normalizeH="0" baseline="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900" b="1" i="0" u="none" strike="noStrike" kern="1200" cap="none" spc="0" normalizeH="0" baseline="0">
                          <a:ln>
                            <a:noFill/>
                          </a:ln>
                          <a:solidFill>
                            <a:srgbClr val="000000"/>
                          </a:solidFill>
                          <a:effectLst/>
                          <a:uLnTx/>
                          <a:uFillTx/>
                          <a:latin typeface="Arial"/>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982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mn-lt"/>
                          <a:ea typeface="+mn-ea"/>
                          <a:cs typeface="+mn-cs"/>
                        </a:rPr>
                        <a:t>5010509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ase"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a:ln>
                            <a:noFill/>
                          </a:ln>
                          <a:solidFill>
                            <a:srgbClr val="000000"/>
                          </a:solidFill>
                          <a:effectLst/>
                          <a:uLnTx/>
                          <a:uFillTx/>
                          <a:latin typeface="+mn-lt"/>
                          <a:ea typeface="+mn-ea"/>
                          <a:cs typeface="+mn-cs"/>
                        </a:rPr>
                        <a:t>Finance Lease Revenue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mn-lt"/>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9825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b"/>
                      <a:r>
                        <a:rPr lang="en-US" sz="900" b="0" i="0" u="none" strike="noStrike">
                          <a:solidFill>
                            <a:srgbClr val="000000"/>
                          </a:solidFill>
                          <a:effectLst/>
                          <a:latin typeface="+mn-lt"/>
                        </a:rPr>
                        <a:t>5010401</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900" b="0" i="0" u="none" strike="noStrike">
                          <a:solidFill>
                            <a:srgbClr val="000000"/>
                          </a:solidFill>
                          <a:effectLst/>
                          <a:latin typeface="+mn-lt"/>
                        </a:rPr>
                        <a:t>Service Rev – FS</a:t>
                      </a:r>
                      <a:endParaRPr lang="en-US" sz="900" b="0" i="0" u="none" strike="noStrike">
                        <a:solidFill>
                          <a:srgbClr val="FF0000"/>
                        </a:solidFill>
                        <a:effectLst/>
                        <a:latin typeface="+mn-lt"/>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911046863"/>
                  </a:ext>
                </a:extLst>
              </a:tr>
            </a:tbl>
          </a:graphicData>
        </a:graphic>
      </p:graphicFrame>
      <p:grpSp>
        <p:nvGrpSpPr>
          <p:cNvPr id="5" name="Group 18">
            <a:extLst>
              <a:ext uri="{FF2B5EF4-FFF2-40B4-BE49-F238E27FC236}">
                <a16:creationId xmlns:a16="http://schemas.microsoft.com/office/drawing/2014/main" id="{F408DFCB-E39C-C230-C70E-D1FB30A41C62}"/>
              </a:ext>
            </a:extLst>
          </p:cNvPr>
          <p:cNvGrpSpPr/>
          <p:nvPr/>
        </p:nvGrpSpPr>
        <p:grpSpPr>
          <a:xfrm>
            <a:off x="11159606" y="0"/>
            <a:ext cx="1032394" cy="734212"/>
            <a:chOff x="11159606" y="0"/>
            <a:chExt cx="1032394" cy="734212"/>
          </a:xfrm>
        </p:grpSpPr>
        <p:sp>
          <p:nvSpPr>
            <p:cNvPr id="6" name="Rectangle: Rounded Corners 19">
              <a:extLst>
                <a:ext uri="{FF2B5EF4-FFF2-40B4-BE49-F238E27FC236}">
                  <a16:creationId xmlns:a16="http://schemas.microsoft.com/office/drawing/2014/main" id="{C4AD80F5-2C34-D963-1AB3-FAFC94086050}"/>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BRIM</a:t>
              </a:r>
            </a:p>
          </p:txBody>
        </p:sp>
        <p:sp>
          <p:nvSpPr>
            <p:cNvPr id="7" name="Rectangle: Rounded Corners 20">
              <a:extLst>
                <a:ext uri="{FF2B5EF4-FFF2-40B4-BE49-F238E27FC236}">
                  <a16:creationId xmlns:a16="http://schemas.microsoft.com/office/drawing/2014/main" id="{5B8657EC-8E4B-82E2-1EBA-94D19FABD15B}"/>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ECC</a:t>
              </a:r>
            </a:p>
          </p:txBody>
        </p:sp>
        <p:sp>
          <p:nvSpPr>
            <p:cNvPr id="8" name="Rectangle: Rounded Corners 21">
              <a:extLst>
                <a:ext uri="{FF2B5EF4-FFF2-40B4-BE49-F238E27FC236}">
                  <a16:creationId xmlns:a16="http://schemas.microsoft.com/office/drawing/2014/main" id="{DB50A2A3-DE2C-4E17-AE67-8E8DCF9072AB}"/>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Odessa</a:t>
              </a:r>
            </a:p>
          </p:txBody>
        </p:sp>
      </p:grpSp>
      <p:sp>
        <p:nvSpPr>
          <p:cNvPr id="9" name="标题 2">
            <a:extLst>
              <a:ext uri="{FF2B5EF4-FFF2-40B4-BE49-F238E27FC236}">
                <a16:creationId xmlns:a16="http://schemas.microsoft.com/office/drawing/2014/main" id="{45DE66F5-A865-F815-55DA-73C0387653CB}"/>
              </a:ext>
            </a:extLst>
          </p:cNvPr>
          <p:cNvSpPr>
            <a:spLocks noGrp="1"/>
          </p:cNvSpPr>
          <p:nvPr>
            <p:ph type="title"/>
          </p:nvPr>
        </p:nvSpPr>
        <p:spPr>
          <a:xfrm>
            <a:off x="281228" y="48625"/>
            <a:ext cx="11188700" cy="698500"/>
          </a:xfrm>
        </p:spPr>
        <p:txBody>
          <a:bodyPr>
            <a:normAutofit/>
          </a:bodyPr>
          <a:lstStyle/>
          <a:p>
            <a:pPr algn="ctr"/>
            <a:r>
              <a:rPr lang="en-US" altLang="zh-CN" sz="2800">
                <a:latin typeface="Arial" panose="020B0604020202020204" pitchFamily="34" charset="0"/>
                <a:cs typeface="Arial" panose="020B0604020202020204" pitchFamily="34" charset="0"/>
              </a:rPr>
              <a:t>S&amp;D: Finance Lease ————</a:t>
            </a:r>
            <a:r>
              <a:rPr lang="zh-CN" altLang="en-US" sz="2800">
                <a:latin typeface="Arial" panose="020B0604020202020204" pitchFamily="34" charset="0"/>
                <a:cs typeface="Arial" panose="020B0604020202020204" pitchFamily="34" charset="0"/>
              </a:rPr>
              <a:t> </a:t>
            </a:r>
            <a:r>
              <a:rPr lang="en-US" altLang="zh-CN" sz="2800">
                <a:latin typeface="Arial" panose="020B0604020202020204" pitchFamily="34" charset="0"/>
                <a:cs typeface="Arial" panose="020B0604020202020204" pitchFamily="34" charset="0"/>
              </a:rPr>
              <a:t>Finance Lease </a:t>
            </a:r>
            <a:endParaRPr lang="zh-CN" altLang="en-US" sz="2800">
              <a:latin typeface="Arial" panose="020B0604020202020204" pitchFamily="34" charset="0"/>
              <a:cs typeface="Arial" panose="020B0604020202020204" pitchFamily="34" charset="0"/>
            </a:endParaRPr>
          </a:p>
        </p:txBody>
      </p:sp>
      <p:sp>
        <p:nvSpPr>
          <p:cNvPr id="10" name="文本框 9">
            <a:extLst>
              <a:ext uri="{FF2B5EF4-FFF2-40B4-BE49-F238E27FC236}">
                <a16:creationId xmlns:a16="http://schemas.microsoft.com/office/drawing/2014/main" id="{E7AB5236-BCC2-5F75-1867-3334D03A3485}"/>
              </a:ext>
            </a:extLst>
          </p:cNvPr>
          <p:cNvSpPr txBox="1"/>
          <p:nvPr/>
        </p:nvSpPr>
        <p:spPr>
          <a:xfrm>
            <a:off x="5783664" y="98071"/>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sp>
        <p:nvSpPr>
          <p:cNvPr id="11" name="文本框 10">
            <a:extLst>
              <a:ext uri="{FF2B5EF4-FFF2-40B4-BE49-F238E27FC236}">
                <a16:creationId xmlns:a16="http://schemas.microsoft.com/office/drawing/2014/main" id="{E0666731-1A29-057F-4379-78C60F57B619}"/>
              </a:ext>
            </a:extLst>
          </p:cNvPr>
          <p:cNvSpPr txBox="1"/>
          <p:nvPr/>
        </p:nvSpPr>
        <p:spPr>
          <a:xfrm>
            <a:off x="5619750" y="356681"/>
            <a:ext cx="1676399"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48M</a:t>
            </a:r>
            <a:r>
              <a:rPr lang="zh-CN" altLang="en-US" sz="2000">
                <a:solidFill>
                  <a:srgbClr val="FF0000"/>
                </a:solidFill>
                <a:latin typeface="Arial" panose="020B0604020202020204" pitchFamily="34" charset="0"/>
                <a:cs typeface="Arial" panose="020B0604020202020204" pitchFamily="34" charset="0"/>
              </a:rPr>
              <a:t>→</a:t>
            </a:r>
            <a:r>
              <a:rPr lang="en-US" altLang="zh-CN" sz="2000">
                <a:solidFill>
                  <a:srgbClr val="FF0000"/>
                </a:solidFill>
                <a:latin typeface="Arial" panose="020B0604020202020204" pitchFamily="34" charset="0"/>
                <a:cs typeface="Arial" panose="020B0604020202020204" pitchFamily="34" charset="0"/>
              </a:rPr>
              <a:t>60M</a:t>
            </a:r>
            <a:endParaRPr lang="zh-CN" altLang="en-US" sz="200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5805128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DD49017D-95BE-B635-8F78-DBB0581890DC}"/>
              </a:ext>
            </a:extLst>
          </p:cNvPr>
          <p:cNvSpPr>
            <a:spLocks noGrp="1"/>
          </p:cNvSpPr>
          <p:nvPr>
            <p:ph type="title"/>
          </p:nvPr>
        </p:nvSpPr>
        <p:spPr>
          <a:xfrm>
            <a:off x="281228" y="48625"/>
            <a:ext cx="11188700" cy="698500"/>
          </a:xfrm>
        </p:spPr>
        <p:txBody>
          <a:bodyPr>
            <a:normAutofit/>
          </a:bodyPr>
          <a:lstStyle/>
          <a:p>
            <a:pPr algn="ctr"/>
            <a:r>
              <a:rPr lang="en-US" altLang="zh-CN" sz="2800">
                <a:latin typeface="Arial" panose="020B0604020202020204" pitchFamily="34" charset="0"/>
                <a:cs typeface="Arial" panose="020B0604020202020204" pitchFamily="34" charset="0"/>
              </a:rPr>
              <a:t>S&amp;D: Finance Lease ————</a:t>
            </a:r>
            <a:r>
              <a:rPr lang="zh-CN" altLang="en-US" sz="2800">
                <a:latin typeface="Arial" panose="020B0604020202020204" pitchFamily="34" charset="0"/>
                <a:cs typeface="Arial" panose="020B0604020202020204" pitchFamily="34" charset="0"/>
              </a:rPr>
              <a:t> </a:t>
            </a:r>
            <a:r>
              <a:rPr lang="en-US" altLang="zh-CN" sz="2800">
                <a:latin typeface="Arial" panose="020B0604020202020204" pitchFamily="34" charset="0"/>
                <a:cs typeface="Arial" panose="020B0604020202020204" pitchFamily="34" charset="0"/>
              </a:rPr>
              <a:t>Finance Lease </a:t>
            </a:r>
            <a:endParaRPr lang="zh-CN" altLang="en-US" sz="2800">
              <a:latin typeface="Arial" panose="020B0604020202020204" pitchFamily="34" charset="0"/>
              <a:cs typeface="Arial" panose="020B0604020202020204" pitchFamily="34" charset="0"/>
            </a:endParaRPr>
          </a:p>
        </p:txBody>
      </p:sp>
      <p:sp>
        <p:nvSpPr>
          <p:cNvPr id="5" name="文本框 4">
            <a:extLst>
              <a:ext uri="{FF2B5EF4-FFF2-40B4-BE49-F238E27FC236}">
                <a16:creationId xmlns:a16="http://schemas.microsoft.com/office/drawing/2014/main" id="{CCF5334E-6E26-17FF-94A6-4E5263BAD674}"/>
              </a:ext>
            </a:extLst>
          </p:cNvPr>
          <p:cNvSpPr txBox="1"/>
          <p:nvPr/>
        </p:nvSpPr>
        <p:spPr>
          <a:xfrm>
            <a:off x="5783664" y="98071"/>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sp>
        <p:nvSpPr>
          <p:cNvPr id="7" name="文本框 6">
            <a:extLst>
              <a:ext uri="{FF2B5EF4-FFF2-40B4-BE49-F238E27FC236}">
                <a16:creationId xmlns:a16="http://schemas.microsoft.com/office/drawing/2014/main" id="{9F375239-F090-D666-8B5B-0173CC139D50}"/>
              </a:ext>
            </a:extLst>
          </p:cNvPr>
          <p:cNvSpPr txBox="1"/>
          <p:nvPr/>
        </p:nvSpPr>
        <p:spPr>
          <a:xfrm>
            <a:off x="5619750" y="356681"/>
            <a:ext cx="1676399"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48M</a:t>
            </a:r>
            <a:r>
              <a:rPr lang="zh-CN" altLang="en-US" sz="2000">
                <a:solidFill>
                  <a:srgbClr val="FF0000"/>
                </a:solidFill>
                <a:latin typeface="Arial" panose="020B0604020202020204" pitchFamily="34" charset="0"/>
                <a:cs typeface="Arial" panose="020B0604020202020204" pitchFamily="34" charset="0"/>
              </a:rPr>
              <a:t>→</a:t>
            </a:r>
            <a:r>
              <a:rPr lang="en-US" altLang="zh-CN" sz="2000">
                <a:solidFill>
                  <a:srgbClr val="FF0000"/>
                </a:solidFill>
                <a:latin typeface="Arial" panose="020B0604020202020204" pitchFamily="34" charset="0"/>
                <a:cs typeface="Arial" panose="020B0604020202020204" pitchFamily="34" charset="0"/>
              </a:rPr>
              <a:t>60M</a:t>
            </a:r>
            <a:endParaRPr lang="zh-CN" altLang="en-US" sz="2000">
              <a:solidFill>
                <a:srgbClr val="FF0000"/>
              </a:solidFill>
              <a:latin typeface="Arial" panose="020B0604020202020204" pitchFamily="34" charset="0"/>
              <a:cs typeface="Arial" panose="020B0604020202020204" pitchFamily="34" charset="0"/>
            </a:endParaRPr>
          </a:p>
        </p:txBody>
      </p:sp>
      <p:sp>
        <p:nvSpPr>
          <p:cNvPr id="9" name="矩形 8">
            <a:extLst>
              <a:ext uri="{FF2B5EF4-FFF2-40B4-BE49-F238E27FC236}">
                <a16:creationId xmlns:a16="http://schemas.microsoft.com/office/drawing/2014/main" id="{D3897B91-A6E0-E617-216E-0C0F97A01AF6}"/>
              </a:ext>
            </a:extLst>
          </p:cNvPr>
          <p:cNvSpPr/>
          <p:nvPr/>
        </p:nvSpPr>
        <p:spPr>
          <a:xfrm>
            <a:off x="572366" y="951401"/>
            <a:ext cx="6048375" cy="5549918"/>
          </a:xfrm>
          <a:prstGeom prst="rect">
            <a:avLst/>
          </a:prstGeom>
          <a:solidFill>
            <a:schemeClr val="accent2">
              <a:lumMod val="40000"/>
              <a:lumOff val="60000"/>
              <a:alpha val="25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11" name="对话气泡: 矩形 10">
            <a:extLst>
              <a:ext uri="{FF2B5EF4-FFF2-40B4-BE49-F238E27FC236}">
                <a16:creationId xmlns:a16="http://schemas.microsoft.com/office/drawing/2014/main" id="{BD25E894-262A-95EB-C37B-BF51DC862478}"/>
              </a:ext>
            </a:extLst>
          </p:cNvPr>
          <p:cNvSpPr/>
          <p:nvPr/>
        </p:nvSpPr>
        <p:spPr>
          <a:xfrm>
            <a:off x="773804" y="2287780"/>
            <a:ext cx="5693630" cy="451888"/>
          </a:xfrm>
          <a:prstGeom prst="wedgeRectCallout">
            <a:avLst>
              <a:gd name="adj1" fmla="val 7254"/>
              <a:gd name="adj2" fmla="val -7714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latin typeface="Arial" panose="020B0604020202020204" pitchFamily="34" charset="0"/>
                <a:cs typeface="Arial" panose="020B0604020202020204" pitchFamily="34" charset="0"/>
              </a:rPr>
              <a:t>Calculation logic: </a:t>
            </a:r>
          </a:p>
          <a:p>
            <a:r>
              <a:rPr lang="en-US" altLang="zh-CN" sz="1100">
                <a:solidFill>
                  <a:schemeClr val="tx1"/>
                </a:solidFill>
                <a:latin typeface="Arial" panose="020B0604020202020204" pitchFamily="34" charset="0"/>
                <a:cs typeface="Arial" panose="020B0604020202020204" pitchFamily="34" charset="0"/>
              </a:rPr>
              <a:t>=rewrite upfront amt *new lease term -original upfront amt*remaining months</a:t>
            </a:r>
            <a:endParaRPr lang="zh-CN" altLang="en-US" sz="1100">
              <a:solidFill>
                <a:schemeClr val="tx1"/>
              </a:solidFill>
              <a:latin typeface="Arial" panose="020B0604020202020204" pitchFamily="34" charset="0"/>
              <a:cs typeface="Arial" panose="020B0604020202020204" pitchFamily="34" charset="0"/>
            </a:endParaRPr>
          </a:p>
        </p:txBody>
      </p:sp>
      <p:graphicFrame>
        <p:nvGraphicFramePr>
          <p:cNvPr id="13" name="表格 12">
            <a:extLst>
              <a:ext uri="{FF2B5EF4-FFF2-40B4-BE49-F238E27FC236}">
                <a16:creationId xmlns:a16="http://schemas.microsoft.com/office/drawing/2014/main" id="{6389396B-7D34-BB40-04B1-A26FD27C1C31}"/>
              </a:ext>
            </a:extLst>
          </p:cNvPr>
          <p:cNvGraphicFramePr>
            <a:graphicFrameLocks noGrp="1"/>
          </p:cNvGraphicFramePr>
          <p:nvPr>
            <p:extLst>
              <p:ext uri="{D42A27DB-BD31-4B8C-83A1-F6EECF244321}">
                <p14:modId xmlns:p14="http://schemas.microsoft.com/office/powerpoint/2010/main" val="2368992226"/>
              </p:ext>
            </p:extLst>
          </p:nvPr>
        </p:nvGraphicFramePr>
        <p:xfrm>
          <a:off x="742068" y="2881038"/>
          <a:ext cx="5653809" cy="1811262"/>
        </p:xfrm>
        <a:graphic>
          <a:graphicData uri="http://schemas.openxmlformats.org/drawingml/2006/table">
            <a:tbl>
              <a:tblPr/>
              <a:tblGrid>
                <a:gridCol w="439278">
                  <a:extLst>
                    <a:ext uri="{9D8B030D-6E8A-4147-A177-3AD203B41FA5}">
                      <a16:colId xmlns:a16="http://schemas.microsoft.com/office/drawing/2014/main" val="1828247229"/>
                    </a:ext>
                  </a:extLst>
                </a:gridCol>
                <a:gridCol w="258088">
                  <a:extLst>
                    <a:ext uri="{9D8B030D-6E8A-4147-A177-3AD203B41FA5}">
                      <a16:colId xmlns:a16="http://schemas.microsoft.com/office/drawing/2014/main" val="4141232291"/>
                    </a:ext>
                  </a:extLst>
                </a:gridCol>
                <a:gridCol w="701708">
                  <a:extLst>
                    <a:ext uri="{9D8B030D-6E8A-4147-A177-3AD203B41FA5}">
                      <a16:colId xmlns:a16="http://schemas.microsoft.com/office/drawing/2014/main" val="672845899"/>
                    </a:ext>
                  </a:extLst>
                </a:gridCol>
                <a:gridCol w="1229002">
                  <a:extLst>
                    <a:ext uri="{9D8B030D-6E8A-4147-A177-3AD203B41FA5}">
                      <a16:colId xmlns:a16="http://schemas.microsoft.com/office/drawing/2014/main" val="3529420061"/>
                    </a:ext>
                  </a:extLst>
                </a:gridCol>
                <a:gridCol w="680776">
                  <a:extLst>
                    <a:ext uri="{9D8B030D-6E8A-4147-A177-3AD203B41FA5}">
                      <a16:colId xmlns:a16="http://schemas.microsoft.com/office/drawing/2014/main" val="2294942003"/>
                    </a:ext>
                  </a:extLst>
                </a:gridCol>
                <a:gridCol w="513726">
                  <a:extLst>
                    <a:ext uri="{9D8B030D-6E8A-4147-A177-3AD203B41FA5}">
                      <a16:colId xmlns:a16="http://schemas.microsoft.com/office/drawing/2014/main" val="4273387575"/>
                    </a:ext>
                  </a:extLst>
                </a:gridCol>
                <a:gridCol w="303797">
                  <a:extLst>
                    <a:ext uri="{9D8B030D-6E8A-4147-A177-3AD203B41FA5}">
                      <a16:colId xmlns:a16="http://schemas.microsoft.com/office/drawing/2014/main" val="1603564649"/>
                    </a:ext>
                  </a:extLst>
                </a:gridCol>
                <a:gridCol w="369595">
                  <a:extLst>
                    <a:ext uri="{9D8B030D-6E8A-4147-A177-3AD203B41FA5}">
                      <a16:colId xmlns:a16="http://schemas.microsoft.com/office/drawing/2014/main" val="666076507"/>
                    </a:ext>
                  </a:extLst>
                </a:gridCol>
                <a:gridCol w="303198">
                  <a:extLst>
                    <a:ext uri="{9D8B030D-6E8A-4147-A177-3AD203B41FA5}">
                      <a16:colId xmlns:a16="http://schemas.microsoft.com/office/drawing/2014/main" val="3683687233"/>
                    </a:ext>
                  </a:extLst>
                </a:gridCol>
                <a:gridCol w="416614">
                  <a:extLst>
                    <a:ext uri="{9D8B030D-6E8A-4147-A177-3AD203B41FA5}">
                      <a16:colId xmlns:a16="http://schemas.microsoft.com/office/drawing/2014/main" val="296807624"/>
                    </a:ext>
                  </a:extLst>
                </a:gridCol>
                <a:gridCol w="438027">
                  <a:extLst>
                    <a:ext uri="{9D8B030D-6E8A-4147-A177-3AD203B41FA5}">
                      <a16:colId xmlns:a16="http://schemas.microsoft.com/office/drawing/2014/main" val="845238753"/>
                    </a:ext>
                  </a:extLst>
                </a:gridCol>
              </a:tblGrid>
              <a:tr h="159906">
                <a:tc rowSpan="9">
                  <a:txBody>
                    <a:bodyPr/>
                    <a:lstStyle/>
                    <a:p>
                      <a:pPr marL="0" indent="0" algn="ctr" fontAlgn="base">
                        <a:lnSpc>
                          <a:spcPts val="1200"/>
                        </a:lnSpc>
                        <a:buNone/>
                      </a:pPr>
                      <a:r>
                        <a:rPr lang="en-US" sz="900" b="1" i="0" u="none" strike="noStrike" kern="1200">
                          <a:solidFill>
                            <a:srgbClr val="FFFFFF"/>
                          </a:solidFill>
                          <a:effectLst/>
                          <a:latin typeface="Arial" panose="020B0604020202020204" pitchFamily="34" charset="0"/>
                          <a:ea typeface="+mn-ea"/>
                          <a:cs typeface="+mn-cs"/>
                        </a:rPr>
                        <a:t>S&amp;D​</a:t>
                      </a:r>
                      <a:br>
                        <a:rPr lang="en-US" sz="900" b="1" i="0" u="none" strike="noStrike" kern="1200">
                          <a:solidFill>
                            <a:srgbClr val="FFFFFF"/>
                          </a:solidFill>
                          <a:effectLst/>
                          <a:latin typeface="Arial" panose="020B0604020202020204" pitchFamily="34" charset="0"/>
                          <a:ea typeface="+mn-ea"/>
                          <a:cs typeface="+mn-cs"/>
                        </a:rPr>
                      </a:br>
                      <a:r>
                        <a:rPr lang="en-US" sz="900" b="1" i="0" u="none" strike="noStrike" kern="1200">
                          <a:solidFill>
                            <a:srgbClr val="FFFFFF"/>
                          </a:solidFill>
                          <a:effectLst/>
                          <a:latin typeface="Arial" panose="020B0604020202020204" pitchFamily="34" charset="0"/>
                          <a:ea typeface="+mn-ea"/>
                          <a:cs typeface="+mn-cs"/>
                        </a:rPr>
                        <a:t>Entity​</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auto">
                        <a:lnSpc>
                          <a:spcPts val="1200"/>
                        </a:lnSpc>
                        <a:buNone/>
                      </a:pPr>
                      <a:r>
                        <a:rPr lang="en-US" sz="900" b="1" i="0" u="none" strike="noStrike" kern="1200">
                          <a:solidFill>
                            <a:srgbClr val="FFFFFF"/>
                          </a:solidFill>
                          <a:effectLst/>
                          <a:latin typeface="Arial" panose="020B0604020202020204" pitchFamily="34" charset="0"/>
                          <a:ea typeface="+mn-ea"/>
                          <a:cs typeface="+mn-cs"/>
                        </a:rPr>
                        <a:t>Mid-term Rewrite</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95250" indent="0" algn="l" fontAlgn="auto">
                        <a:lnSpc>
                          <a:spcPts val="1200"/>
                        </a:lnSpc>
                        <a:buNone/>
                      </a:pPr>
                      <a:endParaRPr lang="en-US" sz="1000" b="1" i="0" u="none" strike="noStrike">
                        <a:solidFill>
                          <a:srgbClr val="FFFFFF"/>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641665388"/>
                  </a:ext>
                </a:extLst>
              </a:tr>
              <a:tr h="159684">
                <a:tc vMerge="1">
                  <a:txBody>
                    <a:bodyPr/>
                    <a:lstStyle/>
                    <a:p>
                      <a:endParaRPr lang="zh-CN" altLang="en-US"/>
                    </a:p>
                  </a:txBody>
                  <a:tcPr/>
                </a:tc>
                <a:tc gridSpan="10">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Upon rewrite active​</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0" indent="0" algn="ctr" fontAlgn="base">
                        <a:lnSpc>
                          <a:spcPts val="1200"/>
                        </a:lnSpc>
                        <a:buNone/>
                      </a:pP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260440"/>
                  </a:ext>
                </a:extLst>
              </a:tr>
              <a:tr h="162294">
                <a:tc vMerge="1">
                  <a:txBody>
                    <a:bodyPr/>
                    <a:lstStyle/>
                    <a:p>
                      <a:endParaRPr lang="zh-CN" altLang="en-US"/>
                    </a:p>
                  </a:txBody>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COA​</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LV​</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PV​</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711932868"/>
                  </a:ext>
                </a:extLst>
              </a:tr>
              <a:tr h="203106">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1400301​</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Lease Receivable ​</a:t>
                      </a:r>
                    </a:p>
                  </a:txBody>
                  <a:tcPr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1180</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1180</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r>
                        <a:rPr 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909174475"/>
                  </a:ext>
                </a:extLst>
              </a:tr>
              <a:tr h="203106">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1400301​</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Lease Receivable ​</a:t>
                      </a:r>
                    </a:p>
                  </a:txBody>
                  <a:tcPr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1034</a:t>
                      </a:r>
                      <a:r>
                        <a:rPr lang="zh-CN" alt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1034</a:t>
                      </a:r>
                      <a:r>
                        <a:rPr lang="zh-CN" alt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r>
                        <a:rPr 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97475585"/>
                  </a:ext>
                </a:extLst>
              </a:tr>
              <a:tr h="176604">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a:solidFill>
                            <a:srgbClr val="000000"/>
                          </a:solidFill>
                          <a:effectLst/>
                          <a:latin typeface="Arial" panose="020B0604020202020204" pitchFamily="34" charset="0"/>
                        </a:rPr>
                        <a:t>1400303​</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Receivable Interest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174.6</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spc="0">
                          <a:solidFill>
                            <a:srgbClr val="000000"/>
                          </a:solidFill>
                          <a:effectLst/>
                          <a:latin typeface="Arial" panose="020B0604020202020204" pitchFamily="34" charset="0"/>
                        </a:rPr>
                        <a:t>174.6</a:t>
                      </a:r>
                      <a:r>
                        <a:rPr lang="zh-CN" altLang="zh-CN" sz="900" b="0" i="0">
                          <a:solidFill>
                            <a:srgbClr val="000000"/>
                          </a:solidFill>
                          <a:effectLst/>
                          <a:ea typeface="Arial" panose="020B0604020202020204" pitchFamily="34" charset="0"/>
                        </a:rPr>
                        <a: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27397841"/>
                  </a:ext>
                </a:extLst>
              </a:tr>
              <a:tr h="230606">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a:solidFill>
                            <a:srgbClr val="000000"/>
                          </a:solidFill>
                          <a:effectLst/>
                          <a:latin typeface="Arial" panose="020B0604020202020204" pitchFamily="34" charset="0"/>
                        </a:rPr>
                        <a:t>1400303​</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Receivable Interest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283.9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spc="0">
                          <a:solidFill>
                            <a:srgbClr val="000000"/>
                          </a:solidFill>
                          <a:effectLst/>
                          <a:latin typeface="Arial" panose="020B0604020202020204" pitchFamily="34" charset="0"/>
                        </a:rPr>
                        <a:t>283.9</a:t>
                      </a:r>
                      <a:r>
                        <a:rPr lang="zh-CN" altLang="zh-CN" sz="900" b="0" i="0">
                          <a:solidFill>
                            <a:srgbClr val="000000"/>
                          </a:solidFill>
                          <a:effectLst/>
                          <a:ea typeface="Arial" panose="020B0604020202020204" pitchFamily="34" charset="0"/>
                        </a:rPr>
                        <a: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699130467"/>
                  </a:ext>
                </a:extLst>
              </a:tr>
              <a:tr h="176604">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Residual Value ​</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spc="0">
                          <a:solidFill>
                            <a:srgbClr val="000000"/>
                          </a:solidFill>
                          <a:effectLst/>
                          <a:latin typeface="Arial" panose="020B0604020202020204" pitchFamily="34" charset="0"/>
                        </a:rPr>
                        <a:t>50.9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HW</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20/X1</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N</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36026426"/>
                  </a:ext>
                </a:extLst>
              </a:tr>
              <a:tr h="176604">
                <a:tc vMerge="1">
                  <a:txBody>
                    <a:bodyPr/>
                    <a:lstStyle/>
                    <a:p>
                      <a:endParaRPr lang="zh-CN" altLang="en-US"/>
                    </a:p>
                  </a:txBody>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Cr</a:t>
                      </a: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5010514</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Interest Income</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14.3</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14.3</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719493777"/>
                  </a:ext>
                </a:extLst>
              </a:tr>
            </a:tbl>
          </a:graphicData>
        </a:graphic>
      </p:graphicFrame>
      <p:graphicFrame>
        <p:nvGraphicFramePr>
          <p:cNvPr id="15" name="表格 14">
            <a:extLst>
              <a:ext uri="{FF2B5EF4-FFF2-40B4-BE49-F238E27FC236}">
                <a16:creationId xmlns:a16="http://schemas.microsoft.com/office/drawing/2014/main" id="{9B154F21-0F1C-0B45-A929-2408941482C3}"/>
              </a:ext>
            </a:extLst>
          </p:cNvPr>
          <p:cNvGraphicFramePr>
            <a:graphicFrameLocks noGrp="1"/>
          </p:cNvGraphicFramePr>
          <p:nvPr>
            <p:extLst>
              <p:ext uri="{D42A27DB-BD31-4B8C-83A1-F6EECF244321}">
                <p14:modId xmlns:p14="http://schemas.microsoft.com/office/powerpoint/2010/main" val="1566475170"/>
              </p:ext>
            </p:extLst>
          </p:nvPr>
        </p:nvGraphicFramePr>
        <p:xfrm>
          <a:off x="773804" y="4890263"/>
          <a:ext cx="5549618" cy="1373335"/>
        </p:xfrm>
        <a:graphic>
          <a:graphicData uri="http://schemas.openxmlformats.org/drawingml/2006/table">
            <a:tbl>
              <a:tblPr/>
              <a:tblGrid>
                <a:gridCol w="385153">
                  <a:extLst>
                    <a:ext uri="{9D8B030D-6E8A-4147-A177-3AD203B41FA5}">
                      <a16:colId xmlns:a16="http://schemas.microsoft.com/office/drawing/2014/main" val="3736999773"/>
                    </a:ext>
                  </a:extLst>
                </a:gridCol>
                <a:gridCol w="195716">
                  <a:extLst>
                    <a:ext uri="{9D8B030D-6E8A-4147-A177-3AD203B41FA5}">
                      <a16:colId xmlns:a16="http://schemas.microsoft.com/office/drawing/2014/main" val="3816563074"/>
                    </a:ext>
                  </a:extLst>
                </a:gridCol>
                <a:gridCol w="524010">
                  <a:extLst>
                    <a:ext uri="{9D8B030D-6E8A-4147-A177-3AD203B41FA5}">
                      <a16:colId xmlns:a16="http://schemas.microsoft.com/office/drawing/2014/main" val="138387391"/>
                    </a:ext>
                  </a:extLst>
                </a:gridCol>
                <a:gridCol w="1882166">
                  <a:extLst>
                    <a:ext uri="{9D8B030D-6E8A-4147-A177-3AD203B41FA5}">
                      <a16:colId xmlns:a16="http://schemas.microsoft.com/office/drawing/2014/main" val="6136393"/>
                    </a:ext>
                  </a:extLst>
                </a:gridCol>
                <a:gridCol w="298710">
                  <a:extLst>
                    <a:ext uri="{9D8B030D-6E8A-4147-A177-3AD203B41FA5}">
                      <a16:colId xmlns:a16="http://schemas.microsoft.com/office/drawing/2014/main" val="3149587505"/>
                    </a:ext>
                  </a:extLst>
                </a:gridCol>
                <a:gridCol w="298710">
                  <a:extLst>
                    <a:ext uri="{9D8B030D-6E8A-4147-A177-3AD203B41FA5}">
                      <a16:colId xmlns:a16="http://schemas.microsoft.com/office/drawing/2014/main" val="2445563365"/>
                    </a:ext>
                  </a:extLst>
                </a:gridCol>
                <a:gridCol w="375956">
                  <a:extLst>
                    <a:ext uri="{9D8B030D-6E8A-4147-A177-3AD203B41FA5}">
                      <a16:colId xmlns:a16="http://schemas.microsoft.com/office/drawing/2014/main" val="1905432288"/>
                    </a:ext>
                  </a:extLst>
                </a:gridCol>
                <a:gridCol w="290418">
                  <a:extLst>
                    <a:ext uri="{9D8B030D-6E8A-4147-A177-3AD203B41FA5}">
                      <a16:colId xmlns:a16="http://schemas.microsoft.com/office/drawing/2014/main" val="3187367784"/>
                    </a:ext>
                  </a:extLst>
                </a:gridCol>
                <a:gridCol w="277544">
                  <a:extLst>
                    <a:ext uri="{9D8B030D-6E8A-4147-A177-3AD203B41FA5}">
                      <a16:colId xmlns:a16="http://schemas.microsoft.com/office/drawing/2014/main" val="2775114162"/>
                    </a:ext>
                  </a:extLst>
                </a:gridCol>
                <a:gridCol w="399849">
                  <a:extLst>
                    <a:ext uri="{9D8B030D-6E8A-4147-A177-3AD203B41FA5}">
                      <a16:colId xmlns:a16="http://schemas.microsoft.com/office/drawing/2014/main" val="3638765688"/>
                    </a:ext>
                  </a:extLst>
                </a:gridCol>
                <a:gridCol w="621386">
                  <a:extLst>
                    <a:ext uri="{9D8B030D-6E8A-4147-A177-3AD203B41FA5}">
                      <a16:colId xmlns:a16="http://schemas.microsoft.com/office/drawing/2014/main" val="2755887217"/>
                    </a:ext>
                  </a:extLst>
                </a:gridCol>
              </a:tblGrid>
              <a:tr h="101485">
                <a:tc rowSpan="8">
                  <a:txBody>
                    <a:bodyPr/>
                    <a:lstStyle/>
                    <a:p>
                      <a:pPr marL="0" indent="0" algn="ctr" fontAlgn="base">
                        <a:lnSpc>
                          <a:spcPts val="1425"/>
                        </a:lnSpc>
                        <a:buNone/>
                      </a:pPr>
                      <a:r>
                        <a:rPr lang="en-US" sz="900" b="1" i="0" u="none" strike="noStrike">
                          <a:solidFill>
                            <a:srgbClr val="FFFFFF"/>
                          </a:solidFill>
                          <a:effectLst/>
                          <a:latin typeface="Arial" panose="020B0604020202020204" pitchFamily="34" charset="0"/>
                        </a:rPr>
                        <a:t>S&amp;D</a:t>
                      </a:r>
                    </a:p>
                    <a:p>
                      <a:pPr marL="0" indent="0" algn="ctr" fontAlgn="base">
                        <a:lnSpc>
                          <a:spcPts val="1425"/>
                        </a:lnSpc>
                        <a:buNone/>
                      </a:pPr>
                      <a:r>
                        <a:rPr lang="en-US" altLang="zh-CN" sz="900" b="1" i="0" u="none" strike="noStrike">
                          <a:solidFill>
                            <a:srgbClr val="FFFFFF"/>
                          </a:solidFill>
                          <a:effectLst/>
                          <a:latin typeface="Arial" panose="020B0604020202020204" pitchFamily="34" charset="0"/>
                        </a:rPr>
                        <a:t>Entity</a:t>
                      </a:r>
                      <a:r>
                        <a:rPr lang="en-US" sz="1050" b="1" i="0">
                          <a:solidFill>
                            <a:srgbClr val="FFFFFF"/>
                          </a:solidFill>
                          <a:effectLst/>
                          <a:latin typeface="Arial" panose="020B0604020202020204" pitchFamily="34" charset="0"/>
                        </a:rPr>
                        <a:t>​</a:t>
                      </a:r>
                      <a:endParaRPr lang="en-US" sz="1100" b="1" i="0">
                        <a:solidFill>
                          <a:srgbClr val="FFFFFF"/>
                        </a:solidFill>
                        <a:effectLst/>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180975" indent="0" algn="l" fontAlgn="base">
                        <a:lnSpc>
                          <a:spcPts val="1200"/>
                        </a:lnSpc>
                        <a:buNone/>
                      </a:pPr>
                      <a:r>
                        <a:rPr lang="en-US" sz="900" b="1" i="0" u="none" strike="noStrike" kern="1200">
                          <a:solidFill>
                            <a:srgbClr val="FFFFFF"/>
                          </a:solidFill>
                          <a:effectLst/>
                          <a:latin typeface="Arial" panose="020B0604020202020204" pitchFamily="34" charset="0"/>
                          <a:ea typeface="+mn-ea"/>
                          <a:cs typeface="+mn-cs"/>
                        </a:rPr>
                        <a:t>Monthly billing to customer – New Contract </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80975" indent="0" algn="l" fontAlgn="base">
                        <a:lnSpc>
                          <a:spcPts val="1200"/>
                        </a:lnSpc>
                        <a:buNone/>
                      </a:pPr>
                      <a:endParaRPr lang="en-US" sz="900" b="1" i="0" u="none" strike="noStrike" kern="1200">
                        <a:solidFill>
                          <a:srgbClr val="FFFFFF"/>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pPr marL="180975" indent="0" algn="l" fontAlgn="base">
                        <a:lnSpc>
                          <a:spcPts val="1200"/>
                        </a:lnSpc>
                        <a:buNone/>
                      </a:pPr>
                      <a:endParaRPr lang="en-US" sz="900" b="1" i="0" u="none" strike="noStrike" kern="1200">
                        <a:solidFill>
                          <a:srgbClr val="FFFFFF"/>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pPr marL="180975" indent="0" algn="l" fontAlgn="base">
                        <a:lnSpc>
                          <a:spcPts val="1200"/>
                        </a:lnSpc>
                        <a:buNone/>
                      </a:pPr>
                      <a:endParaRPr lang="en-US" sz="900" b="1" i="0" u="none" strike="noStrike" kern="1200">
                        <a:solidFill>
                          <a:srgbClr val="FFFFFF"/>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pPr marL="180975" indent="0" algn="l" fontAlgn="base">
                        <a:lnSpc>
                          <a:spcPts val="1200"/>
                        </a:lnSpc>
                        <a:buNone/>
                      </a:pPr>
                      <a:endParaRPr lang="en-US" sz="900" b="1" i="0" u="none" strike="noStrike" kern="1200">
                        <a:solidFill>
                          <a:srgbClr val="FFFFFF"/>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221172060"/>
                  </a:ext>
                </a:extLst>
              </a:tr>
              <a:tr h="99519">
                <a:tc vMerge="1">
                  <a:txBody>
                    <a:bodyPr/>
                    <a:lstStyle/>
                    <a:p>
                      <a:endParaRPr lang="zh-CN" altLang="en-US"/>
                    </a:p>
                  </a:txBody>
                  <a:tcPr/>
                </a:tc>
                <a:tc gridSpan="10">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Upon Monthly Billing​</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41410719"/>
                  </a:ext>
                </a:extLst>
              </a:tr>
              <a:tr h="99519">
                <a:tc vMerge="1">
                  <a:txBody>
                    <a:bodyPr/>
                    <a:lstStyle/>
                    <a:p>
                      <a:endParaRPr lang="zh-CN" altLang="en-US"/>
                    </a:p>
                  </a:txBody>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COA​</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LV​</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PV​</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3495505102"/>
                  </a:ext>
                </a:extLst>
              </a:tr>
              <a:tr h="16676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Dr​</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1130103​</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Account Receivable – Leasing​</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23.7</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23.7</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0659259"/>
                  </a:ext>
                </a:extLst>
              </a:tr>
              <a:tr h="11009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Cr​</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1400301​</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Lease Receivable​</a:t>
                      </a:r>
                    </a:p>
                  </a:txBody>
                  <a:tcPr marL="20333" marR="20333" marT="10167" marB="1016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20​</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20​</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193092680"/>
                  </a:ext>
                </a:extLst>
              </a:tr>
              <a:tr h="134384">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Cr​</a:t>
                      </a:r>
                    </a:p>
                  </a:txBody>
                  <a:tcPr marL="20333" marR="20333" marT="10167" marB="1016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1400308​</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LR – Upfront fulfilled Service​</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0.7</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0.7​</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356592"/>
                  </a:ext>
                </a:extLst>
              </a:tr>
              <a:tr h="19914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Cr​</a:t>
                      </a:r>
                    </a:p>
                  </a:txBody>
                  <a:tcPr marL="20333" marR="20333" marT="10167" marB="10167" anchor="ctr">
                    <a:lnL w="7595" cap="flat" cmpd="sng" algn="ctr">
                      <a:solidFill>
                        <a:srgbClr val="BFBFBF"/>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5010401​</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Service Revenue – Premier support​</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76166950"/>
                  </a:ext>
                </a:extLst>
              </a:tr>
              <a:tr h="18295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Cr​</a:t>
                      </a:r>
                    </a:p>
                  </a:txBody>
                  <a:tcPr marL="20333" marR="20333" marT="10167" marB="10167" anchor="ctr">
                    <a:lnL w="7595" cap="flat" cmpd="sng" algn="ctr">
                      <a:solidFill>
                        <a:srgbClr val="BFBFBF"/>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2070009​</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Defer Revenue – ARS​</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0613144"/>
                  </a:ext>
                </a:extLst>
              </a:tr>
            </a:tbl>
          </a:graphicData>
        </a:graphic>
      </p:graphicFrame>
      <p:sp>
        <p:nvSpPr>
          <p:cNvPr id="17" name="矩形 16">
            <a:extLst>
              <a:ext uri="{FF2B5EF4-FFF2-40B4-BE49-F238E27FC236}">
                <a16:creationId xmlns:a16="http://schemas.microsoft.com/office/drawing/2014/main" id="{019FD55B-E17D-E2D0-B54F-4F9B9A2D0018}"/>
              </a:ext>
            </a:extLst>
          </p:cNvPr>
          <p:cNvSpPr/>
          <p:nvPr/>
        </p:nvSpPr>
        <p:spPr>
          <a:xfrm>
            <a:off x="1173019" y="3432415"/>
            <a:ext cx="5222858" cy="1061921"/>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对话气泡: 矩形 18">
            <a:extLst>
              <a:ext uri="{FF2B5EF4-FFF2-40B4-BE49-F238E27FC236}">
                <a16:creationId xmlns:a16="http://schemas.microsoft.com/office/drawing/2014/main" id="{ADA82381-1DA2-6D15-CD28-3DEC66DC9D5F}"/>
              </a:ext>
            </a:extLst>
          </p:cNvPr>
          <p:cNvSpPr/>
          <p:nvPr/>
        </p:nvSpPr>
        <p:spPr>
          <a:xfrm>
            <a:off x="7061791" y="1777970"/>
            <a:ext cx="1097364" cy="1134555"/>
          </a:xfrm>
          <a:prstGeom prst="wedgeRectCallout">
            <a:avLst>
              <a:gd name="adj1" fmla="val -109900"/>
              <a:gd name="adj2" fmla="val 3696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latin typeface="Arial" panose="020B0604020202020204" pitchFamily="34" charset="0"/>
                <a:cs typeface="Arial" panose="020B0604020202020204" pitchFamily="34" charset="0"/>
              </a:rPr>
              <a:t>Adjust HW LTAR, unrealized interest and RV</a:t>
            </a:r>
            <a:endParaRPr lang="zh-CN" altLang="en-US" sz="1100">
              <a:solidFill>
                <a:schemeClr val="tx1"/>
              </a:solidFill>
              <a:latin typeface="Arial" panose="020B0604020202020204" pitchFamily="34" charset="0"/>
              <a:cs typeface="Arial" panose="020B0604020202020204" pitchFamily="34" charset="0"/>
            </a:endParaRPr>
          </a:p>
        </p:txBody>
      </p:sp>
      <p:sp>
        <p:nvSpPr>
          <p:cNvPr id="21" name="对话气泡: 矩形 20">
            <a:extLst>
              <a:ext uri="{FF2B5EF4-FFF2-40B4-BE49-F238E27FC236}">
                <a16:creationId xmlns:a16="http://schemas.microsoft.com/office/drawing/2014/main" id="{0E27AAC2-7D89-FF9F-2A37-81B3304F2D8F}"/>
              </a:ext>
            </a:extLst>
          </p:cNvPr>
          <p:cNvSpPr/>
          <p:nvPr/>
        </p:nvSpPr>
        <p:spPr>
          <a:xfrm>
            <a:off x="7244757" y="3159082"/>
            <a:ext cx="4947243" cy="1134555"/>
          </a:xfrm>
          <a:prstGeom prst="wedgeRectCallout">
            <a:avLst>
              <a:gd name="adj1" fmla="val -66568"/>
              <a:gd name="adj2" fmla="val -1203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altLang="zh-CN" sz="1100">
                <a:solidFill>
                  <a:schemeClr val="tx1"/>
                </a:solidFill>
                <a:latin typeface="Arial" panose="020B0604020202020204" pitchFamily="34" charset="0"/>
                <a:cs typeface="Arial" panose="020B0604020202020204" pitchFamily="34" charset="0"/>
              </a:rPr>
              <a:t>DR:AR=rewrite monthly HW amt*remaining month(60-1)</a:t>
            </a:r>
          </a:p>
          <a:p>
            <a:r>
              <a:rPr lang="en-US" altLang="zh-CN" sz="1100">
                <a:solidFill>
                  <a:schemeClr val="tx1"/>
                </a:solidFill>
                <a:latin typeface="Arial" panose="020B0604020202020204" pitchFamily="34" charset="0"/>
                <a:cs typeface="Arial" panose="020B0604020202020204" pitchFamily="34" charset="0"/>
              </a:rPr>
              <a:t>CR:AR=original monthly HW amt*remaining month(48-1)  </a:t>
            </a:r>
          </a:p>
          <a:p>
            <a:r>
              <a:rPr lang="en-US" altLang="zh-CN" sz="1100">
                <a:solidFill>
                  <a:schemeClr val="tx1"/>
                </a:solidFill>
                <a:latin typeface="Arial" panose="020B0604020202020204" pitchFamily="34" charset="0"/>
                <a:cs typeface="Arial" panose="020B0604020202020204" pitchFamily="34" charset="0"/>
              </a:rPr>
              <a:t>Same logic for interest income &amp; RV </a:t>
            </a:r>
          </a:p>
          <a:p>
            <a:r>
              <a:rPr lang="en-US" altLang="zh-CN" sz="1100">
                <a:solidFill>
                  <a:schemeClr val="tx1"/>
                </a:solidFill>
                <a:highlight>
                  <a:srgbClr val="FFFF00"/>
                </a:highlight>
                <a:latin typeface="Arial" panose="020B0604020202020204" pitchFamily="34" charset="0"/>
                <a:cs typeface="Arial" panose="020B0604020202020204" pitchFamily="34" charset="0"/>
              </a:rPr>
              <a:t>60 RV-48 RV PV=1400307 </a:t>
            </a:r>
          </a:p>
          <a:p>
            <a:r>
              <a:rPr lang="en-US" altLang="zh-CN" sz="1100">
                <a:solidFill>
                  <a:schemeClr val="tx1"/>
                </a:solidFill>
                <a:highlight>
                  <a:srgbClr val="FFFF00"/>
                </a:highlight>
                <a:latin typeface="Arial" panose="020B0604020202020204" pitchFamily="34" charset="0"/>
                <a:cs typeface="Arial" panose="020B0604020202020204" pitchFamily="34" charset="0"/>
              </a:rPr>
              <a:t>Diff booked as interest income</a:t>
            </a:r>
            <a:endParaRPr lang="zh-CN" altLang="en-US" sz="1100">
              <a:solidFill>
                <a:schemeClr val="tx1"/>
              </a:solidFill>
              <a:highlight>
                <a:srgbClr val="FFFF00"/>
              </a:highlight>
              <a:latin typeface="Arial" panose="020B0604020202020204" pitchFamily="34" charset="0"/>
              <a:cs typeface="Arial" panose="020B0604020202020204" pitchFamily="34" charset="0"/>
            </a:endParaRPr>
          </a:p>
        </p:txBody>
      </p:sp>
      <p:sp>
        <p:nvSpPr>
          <p:cNvPr id="23" name="对话气泡: 矩形 22">
            <a:extLst>
              <a:ext uri="{FF2B5EF4-FFF2-40B4-BE49-F238E27FC236}">
                <a16:creationId xmlns:a16="http://schemas.microsoft.com/office/drawing/2014/main" id="{D2E234A6-A9DA-C0A4-0457-CE3BAC746440}"/>
              </a:ext>
            </a:extLst>
          </p:cNvPr>
          <p:cNvSpPr/>
          <p:nvPr/>
        </p:nvSpPr>
        <p:spPr>
          <a:xfrm>
            <a:off x="6775892" y="4879222"/>
            <a:ext cx="1669163" cy="1395416"/>
          </a:xfrm>
          <a:prstGeom prst="wedgeRectCallout">
            <a:avLst>
              <a:gd name="adj1" fmla="val -90694"/>
              <a:gd name="adj2" fmla="val 2457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Subsequent steps such as interest income recognized are the same as finance lease.</a:t>
            </a:r>
          </a:p>
        </p:txBody>
      </p:sp>
      <p:graphicFrame>
        <p:nvGraphicFramePr>
          <p:cNvPr id="25" name="Table 94">
            <a:extLst>
              <a:ext uri="{FF2B5EF4-FFF2-40B4-BE49-F238E27FC236}">
                <a16:creationId xmlns:a16="http://schemas.microsoft.com/office/drawing/2014/main" id="{8195859E-BD8C-E7F9-30D9-5BAE076A836D}"/>
              </a:ext>
            </a:extLst>
          </p:cNvPr>
          <p:cNvGraphicFramePr>
            <a:graphicFrameLocks noGrp="1"/>
          </p:cNvGraphicFramePr>
          <p:nvPr>
            <p:extLst>
              <p:ext uri="{D42A27DB-BD31-4B8C-83A1-F6EECF244321}">
                <p14:modId xmlns:p14="http://schemas.microsoft.com/office/powerpoint/2010/main" val="1879288517"/>
              </p:ext>
            </p:extLst>
          </p:nvPr>
        </p:nvGraphicFramePr>
        <p:xfrm>
          <a:off x="700783" y="1155806"/>
          <a:ext cx="5693630" cy="990604"/>
        </p:xfrm>
        <a:graphic>
          <a:graphicData uri="http://schemas.openxmlformats.org/drawingml/2006/table">
            <a:tbl>
              <a:tblPr firstRow="1">
                <a:tableStyleId>{5C22544A-7EE6-4342-B048-85BDC9FD1C3A}</a:tableStyleId>
              </a:tblPr>
              <a:tblGrid>
                <a:gridCol w="355831">
                  <a:extLst>
                    <a:ext uri="{9D8B030D-6E8A-4147-A177-3AD203B41FA5}">
                      <a16:colId xmlns:a16="http://schemas.microsoft.com/office/drawing/2014/main" val="3200314054"/>
                    </a:ext>
                  </a:extLst>
                </a:gridCol>
                <a:gridCol w="217386">
                  <a:extLst>
                    <a:ext uri="{9D8B030D-6E8A-4147-A177-3AD203B41FA5}">
                      <a16:colId xmlns:a16="http://schemas.microsoft.com/office/drawing/2014/main" val="1913271583"/>
                    </a:ext>
                  </a:extLst>
                </a:gridCol>
                <a:gridCol w="474320">
                  <a:extLst>
                    <a:ext uri="{9D8B030D-6E8A-4147-A177-3AD203B41FA5}">
                      <a16:colId xmlns:a16="http://schemas.microsoft.com/office/drawing/2014/main" val="1797281345"/>
                    </a:ext>
                  </a:extLst>
                </a:gridCol>
                <a:gridCol w="2134986">
                  <a:extLst>
                    <a:ext uri="{9D8B030D-6E8A-4147-A177-3AD203B41FA5}">
                      <a16:colId xmlns:a16="http://schemas.microsoft.com/office/drawing/2014/main" val="2743739350"/>
                    </a:ext>
                  </a:extLst>
                </a:gridCol>
                <a:gridCol w="254048">
                  <a:extLst>
                    <a:ext uri="{9D8B030D-6E8A-4147-A177-3AD203B41FA5}">
                      <a16:colId xmlns:a16="http://schemas.microsoft.com/office/drawing/2014/main" val="2056723756"/>
                    </a:ext>
                  </a:extLst>
                </a:gridCol>
                <a:gridCol w="415404">
                  <a:extLst>
                    <a:ext uri="{9D8B030D-6E8A-4147-A177-3AD203B41FA5}">
                      <a16:colId xmlns:a16="http://schemas.microsoft.com/office/drawing/2014/main" val="4073315665"/>
                    </a:ext>
                  </a:extLst>
                </a:gridCol>
                <a:gridCol w="280919">
                  <a:extLst>
                    <a:ext uri="{9D8B030D-6E8A-4147-A177-3AD203B41FA5}">
                      <a16:colId xmlns:a16="http://schemas.microsoft.com/office/drawing/2014/main" val="3068119212"/>
                    </a:ext>
                  </a:extLst>
                </a:gridCol>
                <a:gridCol w="299647">
                  <a:extLst>
                    <a:ext uri="{9D8B030D-6E8A-4147-A177-3AD203B41FA5}">
                      <a16:colId xmlns:a16="http://schemas.microsoft.com/office/drawing/2014/main" val="3765595061"/>
                    </a:ext>
                  </a:extLst>
                </a:gridCol>
                <a:gridCol w="269157">
                  <a:extLst>
                    <a:ext uri="{9D8B030D-6E8A-4147-A177-3AD203B41FA5}">
                      <a16:colId xmlns:a16="http://schemas.microsoft.com/office/drawing/2014/main" val="4016582823"/>
                    </a:ext>
                  </a:extLst>
                </a:gridCol>
                <a:gridCol w="387768">
                  <a:extLst>
                    <a:ext uri="{9D8B030D-6E8A-4147-A177-3AD203B41FA5}">
                      <a16:colId xmlns:a16="http://schemas.microsoft.com/office/drawing/2014/main" val="1452004342"/>
                    </a:ext>
                  </a:extLst>
                </a:gridCol>
                <a:gridCol w="604164">
                  <a:extLst>
                    <a:ext uri="{9D8B030D-6E8A-4147-A177-3AD203B41FA5}">
                      <a16:colId xmlns:a16="http://schemas.microsoft.com/office/drawing/2014/main" val="848560102"/>
                    </a:ext>
                  </a:extLst>
                </a:gridCol>
              </a:tblGrid>
              <a:tr h="108565">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Mid Term Rewrite upfront service interest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08565">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rewrite active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29102">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spTree>
    <p:extLst>
      <p:ext uri="{BB962C8B-B14F-4D97-AF65-F5344CB8AC3E}">
        <p14:creationId xmlns:p14="http://schemas.microsoft.com/office/powerpoint/2010/main" val="1968418736"/>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A6682659-E628-3A26-B44B-F2E0EC24A140}"/>
              </a:ext>
            </a:extLst>
          </p:cNvPr>
          <p:cNvGraphicFramePr>
            <a:graphicFrameLocks noGrp="1"/>
          </p:cNvGraphicFramePr>
          <p:nvPr>
            <p:extLst>
              <p:ext uri="{D42A27DB-BD31-4B8C-83A1-F6EECF244321}">
                <p14:modId xmlns:p14="http://schemas.microsoft.com/office/powerpoint/2010/main" val="1227788742"/>
              </p:ext>
            </p:extLst>
          </p:nvPr>
        </p:nvGraphicFramePr>
        <p:xfrm>
          <a:off x="5940871" y="2042328"/>
          <a:ext cx="5695369" cy="1947762"/>
        </p:xfrm>
        <a:graphic>
          <a:graphicData uri="http://schemas.openxmlformats.org/drawingml/2006/table">
            <a:tbl>
              <a:tblPr firstRow="1">
                <a:tableStyleId>{5C22544A-7EE6-4342-B048-85BDC9FD1C3A}</a:tableStyleId>
              </a:tblPr>
              <a:tblGrid>
                <a:gridCol w="524584">
                  <a:extLst>
                    <a:ext uri="{9D8B030D-6E8A-4147-A177-3AD203B41FA5}">
                      <a16:colId xmlns:a16="http://schemas.microsoft.com/office/drawing/2014/main" val="3200314054"/>
                    </a:ext>
                  </a:extLst>
                </a:gridCol>
                <a:gridCol w="448745">
                  <a:extLst>
                    <a:ext uri="{9D8B030D-6E8A-4147-A177-3AD203B41FA5}">
                      <a16:colId xmlns:a16="http://schemas.microsoft.com/office/drawing/2014/main" val="1913271583"/>
                    </a:ext>
                  </a:extLst>
                </a:gridCol>
                <a:gridCol w="595834">
                  <a:extLst>
                    <a:ext uri="{9D8B030D-6E8A-4147-A177-3AD203B41FA5}">
                      <a16:colId xmlns:a16="http://schemas.microsoft.com/office/drawing/2014/main" val="1797281345"/>
                    </a:ext>
                  </a:extLst>
                </a:gridCol>
                <a:gridCol w="2070372">
                  <a:extLst>
                    <a:ext uri="{9D8B030D-6E8A-4147-A177-3AD203B41FA5}">
                      <a16:colId xmlns:a16="http://schemas.microsoft.com/office/drawing/2014/main" val="2743739350"/>
                    </a:ext>
                  </a:extLst>
                </a:gridCol>
                <a:gridCol w="629227">
                  <a:extLst>
                    <a:ext uri="{9D8B030D-6E8A-4147-A177-3AD203B41FA5}">
                      <a16:colId xmlns:a16="http://schemas.microsoft.com/office/drawing/2014/main" val="2056723756"/>
                    </a:ext>
                  </a:extLst>
                </a:gridCol>
                <a:gridCol w="581244">
                  <a:extLst>
                    <a:ext uri="{9D8B030D-6E8A-4147-A177-3AD203B41FA5}">
                      <a16:colId xmlns:a16="http://schemas.microsoft.com/office/drawing/2014/main" val="4073315665"/>
                    </a:ext>
                  </a:extLst>
                </a:gridCol>
                <a:gridCol w="845363">
                  <a:extLst>
                    <a:ext uri="{9D8B030D-6E8A-4147-A177-3AD203B41FA5}">
                      <a16:colId xmlns:a16="http://schemas.microsoft.com/office/drawing/2014/main" val="848560102"/>
                    </a:ext>
                  </a:extLst>
                </a:gridCol>
              </a:tblGrid>
              <a:tr h="0">
                <a:tc rowSpan="12">
                  <a:txBody>
                    <a:bodyPr/>
                    <a:lstStyle/>
                    <a:p>
                      <a:pPr algn="ctr" fontAlgn="ctr"/>
                      <a:r>
                        <a:rPr lang="en-US" sz="1200" u="none" strike="noStrike">
                          <a:effectLst/>
                        </a:rPr>
                        <a:t>AFE</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Lenovo AFE Entries - Recognize Finance Lease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9762">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1" u="none" strike="noStrike" kern="1200">
                          <a:solidFill>
                            <a:schemeClr val="tx1"/>
                          </a:solidFill>
                          <a:effectLst/>
                          <a:latin typeface="+mn-lt"/>
                          <a:ea typeface="+mn-ea"/>
                          <a:cs typeface="+mn-cs"/>
                        </a:rPr>
                        <a:t>Upon Customer acceptance</a:t>
                      </a:r>
                      <a:endParaRPr kumimoji="0" lang="en-US" altLang="zh-CN" sz="1000" b="1" i="0" u="none" strike="noStrike" kern="1200" cap="none" spc="0" normalizeH="0" baseline="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1925">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tc>
                <a:tc>
                  <a:txBody>
                    <a:bodyPr/>
                    <a:lstStyle/>
                    <a:p>
                      <a:pPr algn="ctr" fontAlgn="ctr"/>
                      <a:r>
                        <a:rPr lang="en-US" sz="1000" b="0" i="0" u="none" strike="noStrike">
                          <a:solidFill>
                            <a:srgbClr val="000000"/>
                          </a:solidFill>
                          <a:effectLst/>
                          <a:latin typeface="+mn-lt"/>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Long Term Receivable - Leasing</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30240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30240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851737725"/>
                  </a:ext>
                </a:extLst>
              </a:tr>
              <a:tr h="0">
                <a:tc vMerge="1">
                  <a:txBody>
                    <a:bodyPr/>
                    <a:lstStyle/>
                    <a:p>
                      <a:endParaRPr lang="en-US"/>
                    </a:p>
                  </a:txBody>
                  <a:tcPr/>
                </a:tc>
                <a:tc>
                  <a:txBody>
                    <a:bodyPr/>
                    <a:lstStyle/>
                    <a:p>
                      <a:pPr algn="ctr" fontAlgn="ctr"/>
                      <a:r>
                        <a:rPr lang="en-US" sz="1000" b="0" i="0" u="none" strike="noStrike">
                          <a:solidFill>
                            <a:srgbClr val="000000"/>
                          </a:solidFill>
                          <a:effectLst/>
                          <a:latin typeface="+mn-lt"/>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1400303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Lease Receivable - Interest</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4011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4011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512719663"/>
                  </a:ext>
                </a:extLst>
              </a:tr>
              <a:tr h="0">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algn="ctr" fontAlgn="ctr"/>
                      <a:r>
                        <a:rPr lang="en-US" sz="1000" b="0" i="0" u="none" strike="noStrike">
                          <a:solidFill>
                            <a:srgbClr val="000000"/>
                          </a:solidFill>
                          <a:effectLst/>
                          <a:latin typeface="+mn-lt"/>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5010509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Finance Lease Revenue</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lang="zh-CN" altLang="en-US" sz="1000" b="0" i="0" u="none" strike="noStrike" kern="1200">
                        <a:solidFill>
                          <a:schemeClr val="tx1"/>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chemeClr val="tx1"/>
                          </a:solidFill>
                          <a:effectLst/>
                          <a:latin typeface="+mn-lt"/>
                          <a:ea typeface="等线"/>
                          <a:cs typeface="+mn-cs"/>
                        </a:rPr>
                        <a:t>26229</a:t>
                      </a:r>
                      <a:endParaRPr lang="zh-CN" altLang="en-US" sz="1000" b="0" i="0" u="none" strike="noStrike" kern="1200">
                        <a:solidFill>
                          <a:schemeClr val="tx1"/>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538828212"/>
                  </a:ext>
                </a:extLst>
              </a:tr>
              <a:tr h="0">
                <a:tc vMerge="1">
                  <a:txBody>
                    <a:bodyPr/>
                    <a:lstStyle/>
                    <a:p>
                      <a:endParaRPr lang="en-US"/>
                    </a:p>
                  </a:txBody>
                  <a:tcPr/>
                </a:tc>
                <a:tc>
                  <a:txBody>
                    <a:bodyPr/>
                    <a:lstStyle/>
                    <a:p>
                      <a:pPr algn="ctr" fontAlgn="ctr"/>
                      <a:r>
                        <a:rPr lang="en-US" sz="1000" b="0" i="0" u="none" strike="noStrike">
                          <a:solidFill>
                            <a:srgbClr val="000000"/>
                          </a:solidFill>
                          <a:effectLst/>
                          <a:latin typeface="+mn-lt"/>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1400307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Residual Value </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1771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1771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847583054"/>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5020509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ctr"/>
                      <a:r>
                        <a:rPr lang="en-US" sz="1000" b="0" i="0" u="none" strike="noStrike" kern="1200">
                          <a:solidFill>
                            <a:srgbClr val="000000"/>
                          </a:solidFill>
                          <a:effectLst/>
                          <a:latin typeface="+mn-lt"/>
                          <a:ea typeface="等线"/>
                          <a:cs typeface="+mn-cs"/>
                        </a:rPr>
                        <a:t>Cost Finance Lease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1771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928834704"/>
                  </a:ext>
                </a:extLst>
              </a:tr>
              <a:tr h="0">
                <a:tc vMerge="1">
                  <a:txBody>
                    <a:bodyPr/>
                    <a:lstStyle/>
                    <a:p>
                      <a:endParaRPr lang="zh-CN" altLang="en-US"/>
                    </a:p>
                  </a:txBody>
                  <a:tcPr/>
                </a:tc>
                <a:tc>
                  <a:txBody>
                    <a:bodyPr/>
                    <a:lstStyle/>
                    <a:p>
                      <a:pPr algn="ctr" fontAlgn="ctr"/>
                      <a:r>
                        <a:rPr lang="en-US" sz="1000" b="0" i="0" u="none" strike="noStrike">
                          <a:solidFill>
                            <a:srgbClr val="000000"/>
                          </a:solidFill>
                          <a:effectLst/>
                          <a:latin typeface="+mn-lt"/>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5020509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ctr"/>
                      <a:r>
                        <a:rPr lang="en-US" sz="1000" b="0" i="0" u="none" strike="noStrike" kern="1200">
                          <a:solidFill>
                            <a:srgbClr val="000000"/>
                          </a:solidFill>
                          <a:effectLst/>
                          <a:latin typeface="+mn-lt"/>
                          <a:ea typeface="等线"/>
                          <a:cs typeface="+mn-cs"/>
                        </a:rPr>
                        <a:t>Cost Finance Lease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042958783"/>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G</a:t>
                      </a:r>
                      <a:r>
                        <a:rPr lang="en-US" altLang="zh-CN" sz="1000" b="0" i="0" u="none" strike="noStrike">
                          <a:solidFill>
                            <a:srgbClr val="000000"/>
                          </a:solidFill>
                          <a:effectLst/>
                          <a:latin typeface="+mn-lt"/>
                        </a:rPr>
                        <a:t>oods </a:t>
                      </a:r>
                      <a:r>
                        <a:rPr lang="en-US" sz="1000" b="0" i="0" u="none" strike="noStrike">
                          <a:solidFill>
                            <a:srgbClr val="000000"/>
                          </a:solidFill>
                          <a:effectLst/>
                          <a:latin typeface="+mn-lt"/>
                        </a:rPr>
                        <a:t>In Transit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88598031"/>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LR – Upfront fulfilled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661605742"/>
                  </a:ext>
                </a:extLst>
              </a:tr>
              <a:tr h="0">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Agent Revenue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403671934"/>
                  </a:ext>
                </a:extLst>
              </a:tr>
            </a:tbl>
          </a:graphicData>
        </a:graphic>
      </p:graphicFrame>
      <p:grpSp>
        <p:nvGrpSpPr>
          <p:cNvPr id="10" name="Group 18">
            <a:extLst>
              <a:ext uri="{FF2B5EF4-FFF2-40B4-BE49-F238E27FC236}">
                <a16:creationId xmlns:a16="http://schemas.microsoft.com/office/drawing/2014/main" id="{53AAAAD0-C21F-18CF-AEE5-4EBF2445BEC3}"/>
              </a:ext>
            </a:extLst>
          </p:cNvPr>
          <p:cNvGrpSpPr/>
          <p:nvPr/>
        </p:nvGrpSpPr>
        <p:grpSpPr>
          <a:xfrm>
            <a:off x="11159606" y="0"/>
            <a:ext cx="1032394" cy="734212"/>
            <a:chOff x="11159606" y="0"/>
            <a:chExt cx="1032394" cy="734212"/>
          </a:xfrm>
        </p:grpSpPr>
        <p:sp>
          <p:nvSpPr>
            <p:cNvPr id="11" name="Rectangle: Rounded Corners 19">
              <a:extLst>
                <a:ext uri="{FF2B5EF4-FFF2-40B4-BE49-F238E27FC236}">
                  <a16:creationId xmlns:a16="http://schemas.microsoft.com/office/drawing/2014/main" id="{49766FB2-786A-6B4E-CDD1-2F920041C857}"/>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BRIM</a:t>
              </a:r>
            </a:p>
          </p:txBody>
        </p:sp>
        <p:sp>
          <p:nvSpPr>
            <p:cNvPr id="12" name="Rectangle: Rounded Corners 20">
              <a:extLst>
                <a:ext uri="{FF2B5EF4-FFF2-40B4-BE49-F238E27FC236}">
                  <a16:creationId xmlns:a16="http://schemas.microsoft.com/office/drawing/2014/main" id="{55651E83-033D-EB74-7C71-3F07BD1B1292}"/>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ECC</a:t>
              </a:r>
            </a:p>
          </p:txBody>
        </p:sp>
        <p:sp>
          <p:nvSpPr>
            <p:cNvPr id="13" name="Rectangle: Rounded Corners 21">
              <a:extLst>
                <a:ext uri="{FF2B5EF4-FFF2-40B4-BE49-F238E27FC236}">
                  <a16:creationId xmlns:a16="http://schemas.microsoft.com/office/drawing/2014/main" id="{B70C8D1D-D319-1E51-40A7-5E72AA83E9AB}"/>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Odessa</a:t>
              </a:r>
            </a:p>
          </p:txBody>
        </p:sp>
      </p:grpSp>
      <p:graphicFrame>
        <p:nvGraphicFramePr>
          <p:cNvPr id="14" name="Table 13">
            <a:extLst>
              <a:ext uri="{FF2B5EF4-FFF2-40B4-BE49-F238E27FC236}">
                <a16:creationId xmlns:a16="http://schemas.microsoft.com/office/drawing/2014/main" id="{A0224392-1322-CBE4-8D2F-752ED3488E9D}"/>
              </a:ext>
            </a:extLst>
          </p:cNvPr>
          <p:cNvGraphicFramePr>
            <a:graphicFrameLocks noGrp="1"/>
          </p:cNvGraphicFramePr>
          <p:nvPr>
            <p:extLst>
              <p:ext uri="{D42A27DB-BD31-4B8C-83A1-F6EECF244321}">
                <p14:modId xmlns:p14="http://schemas.microsoft.com/office/powerpoint/2010/main" val="1828303898"/>
              </p:ext>
            </p:extLst>
          </p:nvPr>
        </p:nvGraphicFramePr>
        <p:xfrm>
          <a:off x="5939458" y="5314932"/>
          <a:ext cx="5674913" cy="1442074"/>
        </p:xfrm>
        <a:graphic>
          <a:graphicData uri="http://schemas.openxmlformats.org/drawingml/2006/table">
            <a:tbl>
              <a:tblPr firstRow="1">
                <a:tableStyleId>{5C22544A-7EE6-4342-B048-85BDC9FD1C3A}</a:tableStyleId>
              </a:tblPr>
              <a:tblGrid>
                <a:gridCol w="667904">
                  <a:extLst>
                    <a:ext uri="{9D8B030D-6E8A-4147-A177-3AD203B41FA5}">
                      <a16:colId xmlns:a16="http://schemas.microsoft.com/office/drawing/2014/main" val="3200314054"/>
                    </a:ext>
                  </a:extLst>
                </a:gridCol>
                <a:gridCol w="232645">
                  <a:extLst>
                    <a:ext uri="{9D8B030D-6E8A-4147-A177-3AD203B41FA5}">
                      <a16:colId xmlns:a16="http://schemas.microsoft.com/office/drawing/2014/main" val="1913271583"/>
                    </a:ext>
                  </a:extLst>
                </a:gridCol>
                <a:gridCol w="861526">
                  <a:extLst>
                    <a:ext uri="{9D8B030D-6E8A-4147-A177-3AD203B41FA5}">
                      <a16:colId xmlns:a16="http://schemas.microsoft.com/office/drawing/2014/main" val="1797281345"/>
                    </a:ext>
                  </a:extLst>
                </a:gridCol>
                <a:gridCol w="2132275">
                  <a:extLst>
                    <a:ext uri="{9D8B030D-6E8A-4147-A177-3AD203B41FA5}">
                      <a16:colId xmlns:a16="http://schemas.microsoft.com/office/drawing/2014/main" val="2743739350"/>
                    </a:ext>
                  </a:extLst>
                </a:gridCol>
                <a:gridCol w="473839">
                  <a:extLst>
                    <a:ext uri="{9D8B030D-6E8A-4147-A177-3AD203B41FA5}">
                      <a16:colId xmlns:a16="http://schemas.microsoft.com/office/drawing/2014/main" val="2056723756"/>
                    </a:ext>
                  </a:extLst>
                </a:gridCol>
                <a:gridCol w="473839">
                  <a:extLst>
                    <a:ext uri="{9D8B030D-6E8A-4147-A177-3AD203B41FA5}">
                      <a16:colId xmlns:a16="http://schemas.microsoft.com/office/drawing/2014/main" val="4073315665"/>
                    </a:ext>
                  </a:extLst>
                </a:gridCol>
                <a:gridCol w="832885">
                  <a:extLst>
                    <a:ext uri="{9D8B030D-6E8A-4147-A177-3AD203B41FA5}">
                      <a16:colId xmlns:a16="http://schemas.microsoft.com/office/drawing/2014/main" val="848560102"/>
                    </a:ext>
                  </a:extLst>
                </a:gridCol>
              </a:tblGrid>
              <a:tr h="150374">
                <a:tc rowSpan="9">
                  <a:txBody>
                    <a:bodyPr/>
                    <a:lstStyle/>
                    <a:p>
                      <a:pPr algn="ctr" fontAlgn="ctr"/>
                      <a:r>
                        <a:rPr lang="en-US" sz="1200" u="none" strike="noStrike">
                          <a:effectLst/>
                        </a:rPr>
                        <a:t>AFE</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indent="0" algn="l" defTabSz="1218987" rtl="0" eaLnBrk="1" fontAlgn="b" latinLnBrk="0" hangingPunct="1">
                        <a:buFont typeface="Arial" panose="020B0604020202020204" pitchFamily="34" charset="0"/>
                        <a:buNone/>
                      </a:pPr>
                      <a:r>
                        <a:rPr lang="en-US" altLang="zh-CN" sz="1000" b="1" u="none" strike="noStrike" kern="1200">
                          <a:solidFill>
                            <a:schemeClr val="lt1"/>
                          </a:solidFill>
                          <a:effectLst/>
                          <a:latin typeface="+mn-lt"/>
                          <a:ea typeface="+mn-ea"/>
                          <a:cs typeface="+mn-cs"/>
                        </a:rPr>
                        <a:t>Record interest income &amp; Residual Value and Funded premier</a:t>
                      </a: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50374">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50374">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541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527404361"/>
                  </a:ext>
                </a:extLst>
              </a:tr>
              <a:tr h="165412">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756290162"/>
                  </a:ext>
                </a:extLst>
              </a:tr>
              <a:tr h="150374">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l" fontAlgn="b"/>
                      <a:r>
                        <a:rPr lang="en-US" sz="1000" b="0" i="0" u="none" strike="noStrike">
                          <a:solidFill>
                            <a:srgbClr val="000000"/>
                          </a:solidFill>
                          <a:effectLst/>
                          <a:latin typeface="+mn-lt"/>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Lease Receivable - Interest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sz="1000" b="0" i="0" u="none" strike="noStrike">
                          <a:solidFill>
                            <a:srgbClr val="000000"/>
                          </a:solidFill>
                          <a:effectLst/>
                          <a:latin typeface="+mn-lt"/>
                        </a:rPr>
                        <a:t>111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sz="1000" b="0" i="0" u="none" strike="noStrike">
                          <a:solidFill>
                            <a:srgbClr val="000000"/>
                          </a:solidFill>
                          <a:effectLst/>
                          <a:latin typeface="+mn-lt"/>
                        </a:rPr>
                        <a:t>111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032157848"/>
                  </a:ext>
                </a:extLst>
              </a:tr>
              <a:tr h="150374">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l" fontAlgn="t"/>
                      <a:r>
                        <a:rPr lang="en-US" sz="1000" b="0" i="0" u="none" strike="noStrike">
                          <a:solidFill>
                            <a:srgbClr val="000000"/>
                          </a:solidFill>
                          <a:effectLst/>
                          <a:latin typeface="+mn-lt"/>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5220204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sz="1000" b="0" i="0" u="none" strike="noStrike">
                          <a:solidFill>
                            <a:srgbClr val="000000"/>
                          </a:solidFill>
                          <a:effectLst/>
                          <a:latin typeface="+mn-lt"/>
                        </a:rPr>
                        <a:t>111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sz="1000" b="0" i="0" u="none" strike="noStrike">
                          <a:solidFill>
                            <a:srgbClr val="000000"/>
                          </a:solidFill>
                          <a:effectLst/>
                          <a:latin typeface="+mn-lt"/>
                        </a:rPr>
                        <a:t>111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825654086"/>
                  </a:ext>
                </a:extLst>
              </a:tr>
              <a:tr h="150374">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l" fontAlgn="t"/>
                      <a:r>
                        <a:rPr lang="en-US" sz="1000" b="0" i="0" u="none" strike="noStrike">
                          <a:solidFill>
                            <a:srgbClr val="000000"/>
                          </a:solidFill>
                          <a:effectLst/>
                          <a:latin typeface="+mn-lt"/>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Residual Value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sz="1000" b="0" i="0" u="none" strike="noStrike">
                          <a:solidFill>
                            <a:srgbClr val="000000"/>
                          </a:solidFill>
                          <a:effectLst/>
                          <a:latin typeface="+mn-lt"/>
                        </a:rPr>
                        <a:t>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sz="1000" b="0" i="0" u="none" strike="noStrike">
                          <a:solidFill>
                            <a:srgbClr val="000000"/>
                          </a:solidFill>
                          <a:effectLst/>
                          <a:latin typeface="+mn-lt"/>
                        </a:rPr>
                        <a:t>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739428291"/>
                  </a:ext>
                </a:extLst>
              </a:tr>
              <a:tr h="150374">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l" fontAlgn="t"/>
                      <a:r>
                        <a:rPr lang="en-US" sz="1000" b="0" i="0" u="none" strike="noStrike">
                          <a:solidFill>
                            <a:srgbClr val="000000"/>
                          </a:solidFill>
                          <a:effectLst/>
                          <a:latin typeface="+mn-lt"/>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5220204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sz="1000" b="0" i="0" u="none" strike="noStrike">
                          <a:solidFill>
                            <a:srgbClr val="000000"/>
                          </a:solidFill>
                          <a:effectLst/>
                          <a:latin typeface="+mn-lt"/>
                        </a:rPr>
                        <a:t>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sz="1000" b="0" i="0" u="none" strike="noStrike">
                          <a:solidFill>
                            <a:srgbClr val="000000"/>
                          </a:solidFill>
                          <a:effectLst/>
                          <a:latin typeface="+mn-lt"/>
                        </a:rPr>
                        <a:t>16</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4083846737"/>
                  </a:ext>
                </a:extLst>
              </a:tr>
            </a:tbl>
          </a:graphicData>
        </a:graphic>
      </p:graphicFrame>
      <p:graphicFrame>
        <p:nvGraphicFramePr>
          <p:cNvPr id="24" name="Table 23">
            <a:extLst>
              <a:ext uri="{FF2B5EF4-FFF2-40B4-BE49-F238E27FC236}">
                <a16:creationId xmlns:a16="http://schemas.microsoft.com/office/drawing/2014/main" id="{707D1128-9740-0779-E252-43E34E9E0A6C}"/>
              </a:ext>
            </a:extLst>
          </p:cNvPr>
          <p:cNvGraphicFramePr>
            <a:graphicFrameLocks noGrp="1"/>
          </p:cNvGraphicFramePr>
          <p:nvPr>
            <p:extLst>
              <p:ext uri="{D42A27DB-BD31-4B8C-83A1-F6EECF244321}">
                <p14:modId xmlns:p14="http://schemas.microsoft.com/office/powerpoint/2010/main" val="300966888"/>
              </p:ext>
            </p:extLst>
          </p:nvPr>
        </p:nvGraphicFramePr>
        <p:xfrm>
          <a:off x="123969" y="774854"/>
          <a:ext cx="5600194" cy="800100"/>
        </p:xfrm>
        <a:graphic>
          <a:graphicData uri="http://schemas.openxmlformats.org/drawingml/2006/table">
            <a:tbl>
              <a:tblPr firstRow="1">
                <a:tableStyleId>{5C22544A-7EE6-4342-B048-85BDC9FD1C3A}</a:tableStyleId>
              </a:tblPr>
              <a:tblGrid>
                <a:gridCol w="659108">
                  <a:extLst>
                    <a:ext uri="{9D8B030D-6E8A-4147-A177-3AD203B41FA5}">
                      <a16:colId xmlns:a16="http://schemas.microsoft.com/office/drawing/2014/main" val="3200314054"/>
                    </a:ext>
                  </a:extLst>
                </a:gridCol>
                <a:gridCol w="299089">
                  <a:extLst>
                    <a:ext uri="{9D8B030D-6E8A-4147-A177-3AD203B41FA5}">
                      <a16:colId xmlns:a16="http://schemas.microsoft.com/office/drawing/2014/main" val="1913271583"/>
                    </a:ext>
                  </a:extLst>
                </a:gridCol>
                <a:gridCol w="652590">
                  <a:extLst>
                    <a:ext uri="{9D8B030D-6E8A-4147-A177-3AD203B41FA5}">
                      <a16:colId xmlns:a16="http://schemas.microsoft.com/office/drawing/2014/main" val="1797281345"/>
                    </a:ext>
                  </a:extLst>
                </a:gridCol>
                <a:gridCol w="1993969">
                  <a:extLst>
                    <a:ext uri="{9D8B030D-6E8A-4147-A177-3AD203B41FA5}">
                      <a16:colId xmlns:a16="http://schemas.microsoft.com/office/drawing/2014/main" val="2743739350"/>
                    </a:ext>
                  </a:extLst>
                </a:gridCol>
                <a:gridCol w="592671">
                  <a:extLst>
                    <a:ext uri="{9D8B030D-6E8A-4147-A177-3AD203B41FA5}">
                      <a16:colId xmlns:a16="http://schemas.microsoft.com/office/drawing/2014/main" val="2056723756"/>
                    </a:ext>
                  </a:extLst>
                </a:gridCol>
                <a:gridCol w="571532">
                  <a:extLst>
                    <a:ext uri="{9D8B030D-6E8A-4147-A177-3AD203B41FA5}">
                      <a16:colId xmlns:a16="http://schemas.microsoft.com/office/drawing/2014/main" val="4073315665"/>
                    </a:ext>
                  </a:extLst>
                </a:gridCol>
                <a:gridCol w="831235">
                  <a:extLst>
                    <a:ext uri="{9D8B030D-6E8A-4147-A177-3AD203B41FA5}">
                      <a16:colId xmlns:a16="http://schemas.microsoft.com/office/drawing/2014/main" val="848560102"/>
                    </a:ext>
                  </a:extLst>
                </a:gridCol>
              </a:tblGrid>
              <a:tr h="0">
                <a:tc rowSpan="5">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Goods issued to Customer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000000"/>
                          </a:solidFill>
                          <a:effectLst/>
                          <a:uLnTx/>
                          <a:uFillTx/>
                          <a:latin typeface="+mn-lt"/>
                          <a:ea typeface="+mn-ea"/>
                          <a:cs typeface="+mn-cs"/>
                        </a:rPr>
                        <a:t>Upon shipment from Hub Directly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rtl="0">
                        <a:lnSpc>
                          <a:spcPct val="100000"/>
                        </a:lnSpc>
                        <a:spcBef>
                          <a:spcPts val="0"/>
                        </a:spcBef>
                        <a:spcAft>
                          <a:spcPts val="0"/>
                        </a:spcAft>
                        <a:buClrTx/>
                        <a:buSzTx/>
                        <a:buFontTx/>
                        <a:buNone/>
                      </a:pPr>
                      <a:r>
                        <a:rPr lang="en-US" sz="1000" b="0" i="0" u="none" strike="noStrike">
                          <a:solidFill>
                            <a:srgbClr val="000000"/>
                          </a:solidFill>
                          <a:effectLst/>
                          <a:latin typeface="+mn-lt"/>
                        </a:rPr>
                        <a:t>G</a:t>
                      </a:r>
                      <a:r>
                        <a:rPr lang="en-US" altLang="zh-CN" sz="1000" b="0" i="0" u="none" strike="noStrike">
                          <a:solidFill>
                            <a:srgbClr val="000000"/>
                          </a:solidFill>
                          <a:effectLst/>
                          <a:latin typeface="+mn-lt"/>
                        </a:rPr>
                        <a:t>oods </a:t>
                      </a:r>
                      <a:r>
                        <a:rPr lang="en-US" sz="1000" b="0" i="0" u="none" strike="noStrike">
                          <a:solidFill>
                            <a:srgbClr val="000000"/>
                          </a:solidFill>
                          <a:effectLst/>
                          <a:latin typeface="+mn-lt"/>
                        </a:rPr>
                        <a:t>In Transit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bl>
          </a:graphicData>
        </a:graphic>
      </p:graphicFrame>
      <p:graphicFrame>
        <p:nvGraphicFramePr>
          <p:cNvPr id="25" name="Table 24">
            <a:extLst>
              <a:ext uri="{FF2B5EF4-FFF2-40B4-BE49-F238E27FC236}">
                <a16:creationId xmlns:a16="http://schemas.microsoft.com/office/drawing/2014/main" id="{D90A3D23-F620-46D9-D0FF-E2A21490796A}"/>
              </a:ext>
            </a:extLst>
          </p:cNvPr>
          <p:cNvGraphicFramePr>
            <a:graphicFrameLocks noGrp="1"/>
          </p:cNvGraphicFramePr>
          <p:nvPr>
            <p:extLst>
              <p:ext uri="{D42A27DB-BD31-4B8C-83A1-F6EECF244321}">
                <p14:modId xmlns:p14="http://schemas.microsoft.com/office/powerpoint/2010/main" val="2259943655"/>
              </p:ext>
            </p:extLst>
          </p:nvPr>
        </p:nvGraphicFramePr>
        <p:xfrm>
          <a:off x="118575" y="1640307"/>
          <a:ext cx="5600189" cy="1609725"/>
        </p:xfrm>
        <a:graphic>
          <a:graphicData uri="http://schemas.openxmlformats.org/drawingml/2006/table">
            <a:tbl>
              <a:tblPr firstRow="1">
                <a:tableStyleId>{5C22544A-7EE6-4342-B048-85BDC9FD1C3A}</a:tableStyleId>
              </a:tblPr>
              <a:tblGrid>
                <a:gridCol w="659111">
                  <a:extLst>
                    <a:ext uri="{9D8B030D-6E8A-4147-A177-3AD203B41FA5}">
                      <a16:colId xmlns:a16="http://schemas.microsoft.com/office/drawing/2014/main" val="3200314054"/>
                    </a:ext>
                  </a:extLst>
                </a:gridCol>
                <a:gridCol w="190499">
                  <a:extLst>
                    <a:ext uri="{9D8B030D-6E8A-4147-A177-3AD203B41FA5}">
                      <a16:colId xmlns:a16="http://schemas.microsoft.com/office/drawing/2014/main" val="1913271583"/>
                    </a:ext>
                  </a:extLst>
                </a:gridCol>
                <a:gridCol w="620677">
                  <a:extLst>
                    <a:ext uri="{9D8B030D-6E8A-4147-A177-3AD203B41FA5}">
                      <a16:colId xmlns:a16="http://schemas.microsoft.com/office/drawing/2014/main" val="1797281345"/>
                    </a:ext>
                  </a:extLst>
                </a:gridCol>
                <a:gridCol w="2402990">
                  <a:extLst>
                    <a:ext uri="{9D8B030D-6E8A-4147-A177-3AD203B41FA5}">
                      <a16:colId xmlns:a16="http://schemas.microsoft.com/office/drawing/2014/main" val="2743739350"/>
                    </a:ext>
                  </a:extLst>
                </a:gridCol>
                <a:gridCol w="447839">
                  <a:extLst>
                    <a:ext uri="{9D8B030D-6E8A-4147-A177-3AD203B41FA5}">
                      <a16:colId xmlns:a16="http://schemas.microsoft.com/office/drawing/2014/main" val="2056723756"/>
                    </a:ext>
                  </a:extLst>
                </a:gridCol>
                <a:gridCol w="447839">
                  <a:extLst>
                    <a:ext uri="{9D8B030D-6E8A-4147-A177-3AD203B41FA5}">
                      <a16:colId xmlns:a16="http://schemas.microsoft.com/office/drawing/2014/main" val="4073315665"/>
                    </a:ext>
                  </a:extLst>
                </a:gridCol>
                <a:gridCol w="831234">
                  <a:extLst>
                    <a:ext uri="{9D8B030D-6E8A-4147-A177-3AD203B41FA5}">
                      <a16:colId xmlns:a16="http://schemas.microsoft.com/office/drawing/2014/main" val="848560102"/>
                    </a:ext>
                  </a:extLst>
                </a:gridCol>
              </a:tblGrid>
              <a:tr h="0">
                <a:tc rowSpan="10">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Customer received device and rev/cost recognition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000000"/>
                          </a:solidFill>
                          <a:effectLst/>
                          <a:uLnTx/>
                          <a:uFillTx/>
                          <a:latin typeface="+mn-lt"/>
                          <a:ea typeface="+mn-ea"/>
                          <a:cs typeface="+mn-cs"/>
                        </a:rPr>
                        <a:t>Upon customer acceptance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Arial"/>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Arial"/>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Arial"/>
                          <a:ea typeface="+mn-ea"/>
                          <a:cs typeface="+mn-cs"/>
                        </a:rPr>
                        <a:t>PV</a:t>
                      </a:r>
                      <a:endParaRPr kumimoji="0" lang="en-US" sz="1000" b="1" i="0" u="none" strike="noStrike" kern="1200" cap="none" spc="0" normalizeH="0" baseline="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Arial"/>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1130200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ctr"/>
                      <a:r>
                        <a:rPr lang="en-US" sz="1000" b="0" i="0" u="none" strike="noStrike" kern="1200">
                          <a:solidFill>
                            <a:srgbClr val="000000"/>
                          </a:solidFill>
                          <a:effectLst/>
                          <a:latin typeface="+mn-lt"/>
                          <a:ea typeface="+mn-ea"/>
                          <a:cs typeface="+mn-cs"/>
                        </a:rPr>
                        <a:t>Inter-co Receivable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159151">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mn-ea"/>
                          <a:cs typeface="+mn-cs"/>
                        </a:rPr>
                        <a:t>Turnover (IC Revenue)</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mn-lt"/>
                          <a:ea typeface="等线"/>
                          <a:cs typeface="+mn-cs"/>
                        </a:rPr>
                        <a:t>16800</a:t>
                      </a:r>
                      <a:endParaRPr kumimoji="0" lang="en-US" altLang="zh-CN" sz="1000" b="0" i="0" u="none" strike="noStrike" kern="1200" cap="none" spc="0" normalizeH="0" baseline="0" noProof="0">
                        <a:ln>
                          <a:noFill/>
                        </a:ln>
                        <a:solidFill>
                          <a:srgbClr val="000000"/>
                        </a:solidFill>
                        <a:effectLst/>
                        <a:uLnTx/>
                        <a:uFillTx/>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042958783"/>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rtl="0" eaLnBrk="1" fontAlgn="b" latinLnBrk="0" hangingPunct="1">
                        <a:lnSpc>
                          <a:spcPct val="100000"/>
                        </a:lnSpc>
                        <a:spcBef>
                          <a:spcPts val="0"/>
                        </a:spcBef>
                        <a:spcAft>
                          <a:spcPts val="0"/>
                        </a:spcAft>
                        <a:buClrTx/>
                        <a:buSzTx/>
                        <a:buFontTx/>
                        <a:buNone/>
                      </a:pPr>
                      <a:r>
                        <a:rPr lang="en-US" sz="1000" b="0" i="0" u="none" strike="noStrike">
                          <a:solidFill>
                            <a:srgbClr val="000000"/>
                          </a:solidFill>
                          <a:effectLst/>
                          <a:latin typeface="+mn-lt"/>
                        </a:rPr>
                        <a:t>Service Revenue – Upfront fulfilled</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chemeClr val="tx1"/>
                          </a:solidFill>
                          <a:effectLst/>
                          <a:latin typeface="+mn-lt"/>
                          <a:ea typeface="等线"/>
                          <a:cs typeface="+mn-cs"/>
                        </a:rPr>
                        <a:t>500</a:t>
                      </a:r>
                      <a:endParaRPr lang="zh-CN" altLang="en-US" sz="1000" b="0" i="0" u="none" strike="noStrike" kern="1200">
                        <a:solidFill>
                          <a:schemeClr val="tx1"/>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mn-lt"/>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911046863"/>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Deferred Income – Premier Support</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mn-lt"/>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647945814"/>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5029999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等线"/>
                          <a:cs typeface="+mn-cs"/>
                        </a:rPr>
                        <a:t>Intercompany P&amp;L</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11200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844412640"/>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5020300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kern="1200">
                          <a:solidFill>
                            <a:srgbClr val="000000"/>
                          </a:solidFill>
                          <a:effectLst/>
                          <a:latin typeface="+mn-lt"/>
                          <a:ea typeface="+mn-ea"/>
                          <a:cs typeface="+mn-cs"/>
                        </a:rPr>
                        <a:t>C</a:t>
                      </a:r>
                      <a:r>
                        <a:rPr lang="en-US" altLang="zh-CN" sz="1000" b="0" i="0" u="none" strike="noStrike" kern="1200">
                          <a:solidFill>
                            <a:srgbClr val="000000"/>
                          </a:solidFill>
                          <a:effectLst/>
                          <a:latin typeface="+mn-lt"/>
                          <a:ea typeface="+mn-ea"/>
                          <a:cs typeface="+mn-cs"/>
                        </a:rPr>
                        <a:t>ost of sales</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70719169"/>
                  </a:ext>
                </a:extLst>
              </a:tr>
              <a:tr h="0">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G</a:t>
                      </a:r>
                      <a:r>
                        <a:rPr lang="en-US" altLang="zh-CN" sz="1000" b="0" i="0" u="none" strike="noStrike">
                          <a:solidFill>
                            <a:srgbClr val="000000"/>
                          </a:solidFill>
                          <a:effectLst/>
                          <a:latin typeface="+mn-lt"/>
                        </a:rPr>
                        <a:t>oods </a:t>
                      </a:r>
                      <a:r>
                        <a:rPr lang="en-US" sz="1000" b="0" i="0" u="none" strike="noStrike">
                          <a:solidFill>
                            <a:srgbClr val="000000"/>
                          </a:solidFill>
                          <a:effectLst/>
                          <a:latin typeface="+mn-lt"/>
                        </a:rPr>
                        <a:t>In Transit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ptos" panose="020B0004020202020204"/>
                          <a:ea typeface="宋体" panose="02010600030101010101" pitchFamily="2" charset="-122"/>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201279187"/>
                  </a:ext>
                </a:extLst>
              </a:tr>
            </a:tbl>
          </a:graphicData>
        </a:graphic>
      </p:graphicFrame>
      <p:graphicFrame>
        <p:nvGraphicFramePr>
          <p:cNvPr id="26" name="Table 25">
            <a:extLst>
              <a:ext uri="{FF2B5EF4-FFF2-40B4-BE49-F238E27FC236}">
                <a16:creationId xmlns:a16="http://schemas.microsoft.com/office/drawing/2014/main" id="{5B09BF9F-5773-99EA-8532-932B1129C243}"/>
              </a:ext>
            </a:extLst>
          </p:cNvPr>
          <p:cNvGraphicFramePr>
            <a:graphicFrameLocks noGrp="1"/>
          </p:cNvGraphicFramePr>
          <p:nvPr>
            <p:extLst>
              <p:ext uri="{D42A27DB-BD31-4B8C-83A1-F6EECF244321}">
                <p14:modId xmlns:p14="http://schemas.microsoft.com/office/powerpoint/2010/main" val="3014025833"/>
              </p:ext>
            </p:extLst>
          </p:nvPr>
        </p:nvGraphicFramePr>
        <p:xfrm>
          <a:off x="120426" y="3317712"/>
          <a:ext cx="5663238" cy="800100"/>
        </p:xfrm>
        <a:graphic>
          <a:graphicData uri="http://schemas.openxmlformats.org/drawingml/2006/table">
            <a:tbl>
              <a:tblPr firstRow="1">
                <a:tableStyleId>{5C22544A-7EE6-4342-B048-85BDC9FD1C3A}</a:tableStyleId>
              </a:tblPr>
              <a:tblGrid>
                <a:gridCol w="666531">
                  <a:extLst>
                    <a:ext uri="{9D8B030D-6E8A-4147-A177-3AD203B41FA5}">
                      <a16:colId xmlns:a16="http://schemas.microsoft.com/office/drawing/2014/main" val="3200314054"/>
                    </a:ext>
                  </a:extLst>
                </a:gridCol>
                <a:gridCol w="291249">
                  <a:extLst>
                    <a:ext uri="{9D8B030D-6E8A-4147-A177-3AD203B41FA5}">
                      <a16:colId xmlns:a16="http://schemas.microsoft.com/office/drawing/2014/main" val="1913271583"/>
                    </a:ext>
                  </a:extLst>
                </a:gridCol>
                <a:gridCol w="633942">
                  <a:extLst>
                    <a:ext uri="{9D8B030D-6E8A-4147-A177-3AD203B41FA5}">
                      <a16:colId xmlns:a16="http://schemas.microsoft.com/office/drawing/2014/main" val="1797281345"/>
                    </a:ext>
                  </a:extLst>
                </a:gridCol>
                <a:gridCol w="2497687">
                  <a:extLst>
                    <a:ext uri="{9D8B030D-6E8A-4147-A177-3AD203B41FA5}">
                      <a16:colId xmlns:a16="http://schemas.microsoft.com/office/drawing/2014/main" val="2743739350"/>
                    </a:ext>
                  </a:extLst>
                </a:gridCol>
                <a:gridCol w="376977">
                  <a:extLst>
                    <a:ext uri="{9D8B030D-6E8A-4147-A177-3AD203B41FA5}">
                      <a16:colId xmlns:a16="http://schemas.microsoft.com/office/drawing/2014/main" val="2056723756"/>
                    </a:ext>
                  </a:extLst>
                </a:gridCol>
                <a:gridCol w="356261">
                  <a:extLst>
                    <a:ext uri="{9D8B030D-6E8A-4147-A177-3AD203B41FA5}">
                      <a16:colId xmlns:a16="http://schemas.microsoft.com/office/drawing/2014/main" val="4073315665"/>
                    </a:ext>
                  </a:extLst>
                </a:gridCol>
                <a:gridCol w="840591">
                  <a:extLst>
                    <a:ext uri="{9D8B030D-6E8A-4147-A177-3AD203B41FA5}">
                      <a16:colId xmlns:a16="http://schemas.microsoft.com/office/drawing/2014/main" val="848560102"/>
                    </a:ext>
                  </a:extLst>
                </a:gridCol>
              </a:tblGrid>
              <a:tr h="0">
                <a:tc rowSpan="5">
                  <a:txBody>
                    <a:bodyPr/>
                    <a:lstStyle/>
                    <a:p>
                      <a:pPr algn="ctr" fontAlgn="ctr"/>
                      <a:r>
                        <a:rPr lang="en-US" sz="1200" b="1" i="0" u="none" strike="noStrike">
                          <a:solidFill>
                            <a:schemeClr val="bg1"/>
                          </a:solidFill>
                          <a:effectLst/>
                          <a:latin typeface="Arial"/>
                        </a:rPr>
                        <a:t>S&amp;D</a:t>
                      </a:r>
                    </a:p>
                    <a:p>
                      <a:pPr algn="ctr" fontAlgn="ctr"/>
                      <a:r>
                        <a:rPr lang="en-US" sz="1200" u="none" strike="noStrike">
                          <a:solidFill>
                            <a:schemeClr val="bg1"/>
                          </a:solidFill>
                          <a:effectLst/>
                        </a:rPr>
                        <a:t>Entity</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S</a:t>
                      </a:r>
                      <a:r>
                        <a:rPr lang="en-US" sz="1000" b="1" u="none" strike="noStrike" kern="1200">
                          <a:solidFill>
                            <a:schemeClr val="bg1"/>
                          </a:solidFill>
                          <a:effectLst/>
                          <a:latin typeface="+mn-lt"/>
                          <a:ea typeface="+mn-ea"/>
                          <a:cs typeface="+mn-cs"/>
                        </a:rPr>
                        <a:t>&amp;D raises monthly invoice to 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mn-lt"/>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extLst>
                  <a:ext uri="{0D108BD9-81ED-4DB2-BD59-A6C34878D82A}">
                    <a16:rowId xmlns:a16="http://schemas.microsoft.com/office/drawing/2014/main" val="308658163"/>
                  </a:ext>
                </a:extLst>
              </a:tr>
            </a:tbl>
          </a:graphicData>
        </a:graphic>
      </p:graphicFrame>
      <p:graphicFrame>
        <p:nvGraphicFramePr>
          <p:cNvPr id="27" name="Table 65">
            <a:extLst>
              <a:ext uri="{FF2B5EF4-FFF2-40B4-BE49-F238E27FC236}">
                <a16:creationId xmlns:a16="http://schemas.microsoft.com/office/drawing/2014/main" id="{84BF1727-D5BE-1AE2-5ADD-11402E4EE4E8}"/>
              </a:ext>
            </a:extLst>
          </p:cNvPr>
          <p:cNvGraphicFramePr>
            <a:graphicFrameLocks noGrp="1"/>
          </p:cNvGraphicFramePr>
          <p:nvPr>
            <p:extLst>
              <p:ext uri="{D42A27DB-BD31-4B8C-83A1-F6EECF244321}">
                <p14:modId xmlns:p14="http://schemas.microsoft.com/office/powerpoint/2010/main" val="3117307546"/>
              </p:ext>
            </p:extLst>
          </p:nvPr>
        </p:nvGraphicFramePr>
        <p:xfrm>
          <a:off x="115032" y="4279737"/>
          <a:ext cx="5674025" cy="800100"/>
        </p:xfrm>
        <a:graphic>
          <a:graphicData uri="http://schemas.openxmlformats.org/drawingml/2006/table">
            <a:tbl>
              <a:tblPr firstRow="1">
                <a:tableStyleId>{5C22544A-7EE6-4342-B048-85BDC9FD1C3A}</a:tableStyleId>
              </a:tblPr>
              <a:tblGrid>
                <a:gridCol w="680527">
                  <a:extLst>
                    <a:ext uri="{9D8B030D-6E8A-4147-A177-3AD203B41FA5}">
                      <a16:colId xmlns:a16="http://schemas.microsoft.com/office/drawing/2014/main" val="3200314054"/>
                    </a:ext>
                  </a:extLst>
                </a:gridCol>
                <a:gridCol w="289123">
                  <a:extLst>
                    <a:ext uri="{9D8B030D-6E8A-4147-A177-3AD203B41FA5}">
                      <a16:colId xmlns:a16="http://schemas.microsoft.com/office/drawing/2014/main" val="1913271583"/>
                    </a:ext>
                  </a:extLst>
                </a:gridCol>
                <a:gridCol w="737897">
                  <a:extLst>
                    <a:ext uri="{9D8B030D-6E8A-4147-A177-3AD203B41FA5}">
                      <a16:colId xmlns:a16="http://schemas.microsoft.com/office/drawing/2014/main" val="1423110619"/>
                    </a:ext>
                  </a:extLst>
                </a:gridCol>
                <a:gridCol w="2146675">
                  <a:extLst>
                    <a:ext uri="{9D8B030D-6E8A-4147-A177-3AD203B41FA5}">
                      <a16:colId xmlns:a16="http://schemas.microsoft.com/office/drawing/2014/main" val="2743739350"/>
                    </a:ext>
                  </a:extLst>
                </a:gridCol>
                <a:gridCol w="509048">
                  <a:extLst>
                    <a:ext uri="{9D8B030D-6E8A-4147-A177-3AD203B41FA5}">
                      <a16:colId xmlns:a16="http://schemas.microsoft.com/office/drawing/2014/main" val="2056723756"/>
                    </a:ext>
                  </a:extLst>
                </a:gridCol>
                <a:gridCol w="490193">
                  <a:extLst>
                    <a:ext uri="{9D8B030D-6E8A-4147-A177-3AD203B41FA5}">
                      <a16:colId xmlns:a16="http://schemas.microsoft.com/office/drawing/2014/main" val="4073315665"/>
                    </a:ext>
                  </a:extLst>
                </a:gridCol>
                <a:gridCol w="820562">
                  <a:extLst>
                    <a:ext uri="{9D8B030D-6E8A-4147-A177-3AD203B41FA5}">
                      <a16:colId xmlns:a16="http://schemas.microsoft.com/office/drawing/2014/main" val="848560102"/>
                    </a:ext>
                  </a:extLst>
                </a:gridCol>
              </a:tblGrid>
              <a:tr h="0">
                <a:tc rowSpan="5">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Funded Ongoing service monthly amortization</a:t>
                      </a:r>
                      <a:endParaRPr kumimoji="0" lang="en-US" sz="1000" b="1" i="0" u="none" strike="noStrike" kern="1200" cap="none" spc="0" normalizeH="0" baseline="0" noProof="0">
                        <a:ln>
                          <a:noFill/>
                        </a:ln>
                        <a:solidFill>
                          <a:prstClr val="white"/>
                        </a:solidFill>
                        <a:effectLst/>
                        <a:uLnTx/>
                        <a:uFillTx/>
                        <a:latin typeface="+mn-lt"/>
                        <a:ea typeface="+mn-ea"/>
                        <a:cs typeface="Arial"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altLang="zh-CN"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50002211"/>
                  </a:ext>
                </a:extLst>
              </a:tr>
              <a:tr h="0">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Deferred Income – Premier Support</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1538828212"/>
                  </a:ext>
                </a:extLst>
              </a:tr>
              <a:tr h="0">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1976302529"/>
                  </a:ext>
                </a:extLst>
              </a:tr>
            </a:tbl>
          </a:graphicData>
        </a:graphic>
      </p:graphicFrame>
      <p:graphicFrame>
        <p:nvGraphicFramePr>
          <p:cNvPr id="28" name="Table 27">
            <a:extLst>
              <a:ext uri="{FF2B5EF4-FFF2-40B4-BE49-F238E27FC236}">
                <a16:creationId xmlns:a16="http://schemas.microsoft.com/office/drawing/2014/main" id="{8D142B92-0399-ADA1-15A0-878ACC6A0FC3}"/>
              </a:ext>
            </a:extLst>
          </p:cNvPr>
          <p:cNvGraphicFramePr>
            <a:graphicFrameLocks noGrp="1"/>
          </p:cNvGraphicFramePr>
          <p:nvPr>
            <p:extLst>
              <p:ext uri="{D42A27DB-BD31-4B8C-83A1-F6EECF244321}">
                <p14:modId xmlns:p14="http://schemas.microsoft.com/office/powerpoint/2010/main" val="1372963112"/>
              </p:ext>
            </p:extLst>
          </p:nvPr>
        </p:nvGraphicFramePr>
        <p:xfrm>
          <a:off x="5940867" y="730154"/>
          <a:ext cx="5673505" cy="1285875"/>
        </p:xfrm>
        <a:graphic>
          <a:graphicData uri="http://schemas.openxmlformats.org/drawingml/2006/table">
            <a:tbl>
              <a:tblPr firstRow="1">
                <a:tableStyleId>{5C22544A-7EE6-4342-B048-85BDC9FD1C3A}</a:tableStyleId>
              </a:tblPr>
              <a:tblGrid>
                <a:gridCol w="379640">
                  <a:extLst>
                    <a:ext uri="{9D8B030D-6E8A-4147-A177-3AD203B41FA5}">
                      <a16:colId xmlns:a16="http://schemas.microsoft.com/office/drawing/2014/main" val="3200314054"/>
                    </a:ext>
                  </a:extLst>
                </a:gridCol>
                <a:gridCol w="320443">
                  <a:extLst>
                    <a:ext uri="{9D8B030D-6E8A-4147-A177-3AD203B41FA5}">
                      <a16:colId xmlns:a16="http://schemas.microsoft.com/office/drawing/2014/main" val="1913271583"/>
                    </a:ext>
                  </a:extLst>
                </a:gridCol>
                <a:gridCol w="699183">
                  <a:extLst>
                    <a:ext uri="{9D8B030D-6E8A-4147-A177-3AD203B41FA5}">
                      <a16:colId xmlns:a16="http://schemas.microsoft.com/office/drawing/2014/main" val="1797281345"/>
                    </a:ext>
                  </a:extLst>
                </a:gridCol>
                <a:gridCol w="2466192">
                  <a:extLst>
                    <a:ext uri="{9D8B030D-6E8A-4147-A177-3AD203B41FA5}">
                      <a16:colId xmlns:a16="http://schemas.microsoft.com/office/drawing/2014/main" val="2743739350"/>
                    </a:ext>
                  </a:extLst>
                </a:gridCol>
                <a:gridCol w="433548">
                  <a:extLst>
                    <a:ext uri="{9D8B030D-6E8A-4147-A177-3AD203B41FA5}">
                      <a16:colId xmlns:a16="http://schemas.microsoft.com/office/drawing/2014/main" val="2056723756"/>
                    </a:ext>
                  </a:extLst>
                </a:gridCol>
                <a:gridCol w="433548">
                  <a:extLst>
                    <a:ext uri="{9D8B030D-6E8A-4147-A177-3AD203B41FA5}">
                      <a16:colId xmlns:a16="http://schemas.microsoft.com/office/drawing/2014/main" val="4073315665"/>
                    </a:ext>
                  </a:extLst>
                </a:gridCol>
                <a:gridCol w="940951">
                  <a:extLst>
                    <a:ext uri="{9D8B030D-6E8A-4147-A177-3AD203B41FA5}">
                      <a16:colId xmlns:a16="http://schemas.microsoft.com/office/drawing/2014/main" val="848560102"/>
                    </a:ext>
                  </a:extLst>
                </a:gridCol>
              </a:tblGrid>
              <a:tr h="0">
                <a:tc rowSpan="8">
                  <a:txBody>
                    <a:bodyPr/>
                    <a:lstStyle/>
                    <a:p>
                      <a:pPr algn="ctr" fontAlgn="ctr"/>
                      <a:r>
                        <a:rPr lang="en-US" sz="1200" b="1" i="0" u="none" strike="noStrike">
                          <a:solidFill>
                            <a:srgbClr val="FFFFFF"/>
                          </a:solidFill>
                          <a:effectLst/>
                          <a:latin typeface="Arial"/>
                        </a:rPr>
                        <a:t>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Recognize FA in transit upon Customer acceptance received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1" u="none" strike="noStrike" kern="1200">
                          <a:solidFill>
                            <a:schemeClr val="tx1"/>
                          </a:solidFill>
                          <a:effectLst/>
                          <a:latin typeface="+mn-lt"/>
                          <a:ea typeface="+mn-ea"/>
                          <a:cs typeface="+mn-cs"/>
                        </a:rPr>
                        <a:t>Upon Customer acceptance</a:t>
                      </a:r>
                      <a:endParaRPr kumimoji="0" lang="en-US" altLang="zh-CN" sz="1000" b="1" i="0" u="none" strike="noStrike" kern="1200" cap="none" spc="0" normalizeH="0" baseline="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4122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mj-lt"/>
                          <a:ea typeface="+mn-ea"/>
                          <a:cs typeface="+mn-cs"/>
                        </a:rPr>
                        <a:t>1349903</a:t>
                      </a:r>
                      <a:endParaRPr kumimoji="0" lang="en-US" altLang="zh-CN" sz="1000" b="0" i="0" u="none" strike="noStrike" kern="1200" cap="none" spc="0" normalizeH="0" baseline="0" noProof="0">
                        <a:ln>
                          <a:noFill/>
                        </a:ln>
                        <a:solidFill>
                          <a:srgbClr val="000000"/>
                        </a:solidFill>
                        <a:effectLst/>
                        <a:uLnTx/>
                        <a:uFillTx/>
                        <a:latin typeface="+mj-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j-lt"/>
                        </a:rPr>
                        <a:t>Goods in Transit</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Agent Revenue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058660765"/>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5029999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等线"/>
                          <a:cs typeface="+mn-cs"/>
                        </a:rPr>
                        <a:t>Intercompany P&amp;L</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endParaRPr lang="en-US" altLang="zh-CN" sz="1000" b="0" i="0" u="none" strike="noStrike" kern="1200">
                        <a:solidFill>
                          <a:schemeClr val="tx1"/>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11200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375253924"/>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chemeClr val="tx1"/>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14337446"/>
                  </a:ext>
                </a:extLst>
              </a:tr>
            </a:tbl>
          </a:graphicData>
        </a:graphic>
      </p:graphicFrame>
      <p:graphicFrame>
        <p:nvGraphicFramePr>
          <p:cNvPr id="29" name="Table 28">
            <a:extLst>
              <a:ext uri="{FF2B5EF4-FFF2-40B4-BE49-F238E27FC236}">
                <a16:creationId xmlns:a16="http://schemas.microsoft.com/office/drawing/2014/main" id="{9BF1A505-7B14-D41F-2007-1C00C94F4FBE}"/>
              </a:ext>
            </a:extLst>
          </p:cNvPr>
          <p:cNvGraphicFramePr>
            <a:graphicFrameLocks noGrp="1"/>
          </p:cNvGraphicFramePr>
          <p:nvPr>
            <p:extLst>
              <p:ext uri="{D42A27DB-BD31-4B8C-83A1-F6EECF244321}">
                <p14:modId xmlns:p14="http://schemas.microsoft.com/office/powerpoint/2010/main" val="2434393089"/>
              </p:ext>
            </p:extLst>
          </p:nvPr>
        </p:nvGraphicFramePr>
        <p:xfrm>
          <a:off x="119236" y="5878633"/>
          <a:ext cx="5695375" cy="800100"/>
        </p:xfrm>
        <a:graphic>
          <a:graphicData uri="http://schemas.openxmlformats.org/drawingml/2006/table">
            <a:tbl>
              <a:tblPr firstRow="1">
                <a:tableStyleId>{5C22544A-7EE6-4342-B048-85BDC9FD1C3A}</a:tableStyleId>
              </a:tblPr>
              <a:tblGrid>
                <a:gridCol w="670313">
                  <a:extLst>
                    <a:ext uri="{9D8B030D-6E8A-4147-A177-3AD203B41FA5}">
                      <a16:colId xmlns:a16="http://schemas.microsoft.com/office/drawing/2014/main" val="3200314054"/>
                    </a:ext>
                  </a:extLst>
                </a:gridCol>
                <a:gridCol w="292899">
                  <a:extLst>
                    <a:ext uri="{9D8B030D-6E8A-4147-A177-3AD203B41FA5}">
                      <a16:colId xmlns:a16="http://schemas.microsoft.com/office/drawing/2014/main" val="1913271583"/>
                    </a:ext>
                  </a:extLst>
                </a:gridCol>
                <a:gridCol w="637539">
                  <a:extLst>
                    <a:ext uri="{9D8B030D-6E8A-4147-A177-3AD203B41FA5}">
                      <a16:colId xmlns:a16="http://schemas.microsoft.com/office/drawing/2014/main" val="1797281345"/>
                    </a:ext>
                  </a:extLst>
                </a:gridCol>
                <a:gridCol w="2319114">
                  <a:extLst>
                    <a:ext uri="{9D8B030D-6E8A-4147-A177-3AD203B41FA5}">
                      <a16:colId xmlns:a16="http://schemas.microsoft.com/office/drawing/2014/main" val="2743739350"/>
                    </a:ext>
                  </a:extLst>
                </a:gridCol>
                <a:gridCol w="465074">
                  <a:extLst>
                    <a:ext uri="{9D8B030D-6E8A-4147-A177-3AD203B41FA5}">
                      <a16:colId xmlns:a16="http://schemas.microsoft.com/office/drawing/2014/main" val="2056723756"/>
                    </a:ext>
                  </a:extLst>
                </a:gridCol>
                <a:gridCol w="465074">
                  <a:extLst>
                    <a:ext uri="{9D8B030D-6E8A-4147-A177-3AD203B41FA5}">
                      <a16:colId xmlns:a16="http://schemas.microsoft.com/office/drawing/2014/main" val="4073315665"/>
                    </a:ext>
                  </a:extLst>
                </a:gridCol>
                <a:gridCol w="845362">
                  <a:extLst>
                    <a:ext uri="{9D8B030D-6E8A-4147-A177-3AD203B41FA5}">
                      <a16:colId xmlns:a16="http://schemas.microsoft.com/office/drawing/2014/main" val="848560102"/>
                    </a:ext>
                  </a:extLst>
                </a:gridCol>
              </a:tblGrid>
              <a:tr h="0">
                <a:tc rowSpan="5">
                  <a:txBody>
                    <a:bodyPr/>
                    <a:lstStyle/>
                    <a:p>
                      <a:pPr algn="ctr" fontAlgn="ctr"/>
                      <a:r>
                        <a:rPr lang="en-US" sz="1200" u="none" strike="noStrike">
                          <a:solidFill>
                            <a:schemeClr val="bg1"/>
                          </a:solidFill>
                          <a:effectLst/>
                        </a:rPr>
                        <a:t>AFE</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rtl="0" eaLnBrk="1" fontAlgn="b" latinLnBrk="0" hangingPunct="1">
                        <a:lnSpc>
                          <a:spcPct val="100000"/>
                        </a:lnSpc>
                        <a:spcBef>
                          <a:spcPts val="0"/>
                        </a:spcBef>
                        <a:spcAft>
                          <a:spcPts val="0"/>
                        </a:spcAft>
                        <a:buClrTx/>
                        <a:buSzTx/>
                        <a:buFont typeface="Arial" panose="020B0604020202020204" pitchFamily="34" charset="0"/>
                        <a:buNone/>
                      </a:pPr>
                      <a:r>
                        <a:rPr lang="en-US" sz="1000" b="1" u="none" strike="noStrike" kern="1200">
                          <a:solidFill>
                            <a:schemeClr val="bg1"/>
                          </a:solidFill>
                          <a:effectLst/>
                          <a:latin typeface="+mn-lt"/>
                          <a:ea typeface="+mn-ea"/>
                          <a:cs typeface="+mn-cs"/>
                        </a:rPr>
                        <a:t>Monthly service transfer to S&amp;D KR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Agent Revenue – ARS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mn-lt"/>
                        </a:rPr>
                        <a:t>J*</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949325226"/>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627414531"/>
                  </a:ext>
                </a:extLst>
              </a:tr>
            </a:tbl>
          </a:graphicData>
        </a:graphic>
      </p:graphicFrame>
      <p:graphicFrame>
        <p:nvGraphicFramePr>
          <p:cNvPr id="31" name="Table 30">
            <a:extLst>
              <a:ext uri="{FF2B5EF4-FFF2-40B4-BE49-F238E27FC236}">
                <a16:creationId xmlns:a16="http://schemas.microsoft.com/office/drawing/2014/main" id="{2AEF21AC-94BD-1FEE-4DED-8F2F2A476B63}"/>
              </a:ext>
            </a:extLst>
          </p:cNvPr>
          <p:cNvGraphicFramePr>
            <a:graphicFrameLocks noGrp="1"/>
          </p:cNvGraphicFramePr>
          <p:nvPr>
            <p:extLst>
              <p:ext uri="{D42A27DB-BD31-4B8C-83A1-F6EECF244321}">
                <p14:modId xmlns:p14="http://schemas.microsoft.com/office/powerpoint/2010/main" val="957818785"/>
              </p:ext>
            </p:extLst>
          </p:nvPr>
        </p:nvGraphicFramePr>
        <p:xfrm>
          <a:off x="5940867" y="4008562"/>
          <a:ext cx="5674914" cy="1285875"/>
        </p:xfrm>
        <a:graphic>
          <a:graphicData uri="http://schemas.openxmlformats.org/drawingml/2006/table">
            <a:tbl>
              <a:tblPr firstRow="1">
                <a:tableStyleId>{5C22544A-7EE6-4342-B048-85BDC9FD1C3A}</a:tableStyleId>
              </a:tblPr>
              <a:tblGrid>
                <a:gridCol w="552297">
                  <a:extLst>
                    <a:ext uri="{9D8B030D-6E8A-4147-A177-3AD203B41FA5}">
                      <a16:colId xmlns:a16="http://schemas.microsoft.com/office/drawing/2014/main" val="3200314054"/>
                    </a:ext>
                  </a:extLst>
                </a:gridCol>
                <a:gridCol w="407455">
                  <a:extLst>
                    <a:ext uri="{9D8B030D-6E8A-4147-A177-3AD203B41FA5}">
                      <a16:colId xmlns:a16="http://schemas.microsoft.com/office/drawing/2014/main" val="1913271583"/>
                    </a:ext>
                  </a:extLst>
                </a:gridCol>
                <a:gridCol w="635249">
                  <a:extLst>
                    <a:ext uri="{9D8B030D-6E8A-4147-A177-3AD203B41FA5}">
                      <a16:colId xmlns:a16="http://schemas.microsoft.com/office/drawing/2014/main" val="1797281345"/>
                    </a:ext>
                  </a:extLst>
                </a:gridCol>
                <a:gridCol w="2301963">
                  <a:extLst>
                    <a:ext uri="{9D8B030D-6E8A-4147-A177-3AD203B41FA5}">
                      <a16:colId xmlns:a16="http://schemas.microsoft.com/office/drawing/2014/main" val="2743739350"/>
                    </a:ext>
                  </a:extLst>
                </a:gridCol>
                <a:gridCol w="467813">
                  <a:extLst>
                    <a:ext uri="{9D8B030D-6E8A-4147-A177-3AD203B41FA5}">
                      <a16:colId xmlns:a16="http://schemas.microsoft.com/office/drawing/2014/main" val="2056723756"/>
                    </a:ext>
                  </a:extLst>
                </a:gridCol>
                <a:gridCol w="467813">
                  <a:extLst>
                    <a:ext uri="{9D8B030D-6E8A-4147-A177-3AD203B41FA5}">
                      <a16:colId xmlns:a16="http://schemas.microsoft.com/office/drawing/2014/main" val="4073315665"/>
                    </a:ext>
                  </a:extLst>
                </a:gridCol>
                <a:gridCol w="842324">
                  <a:extLst>
                    <a:ext uri="{9D8B030D-6E8A-4147-A177-3AD203B41FA5}">
                      <a16:colId xmlns:a16="http://schemas.microsoft.com/office/drawing/2014/main" val="848560102"/>
                    </a:ext>
                  </a:extLst>
                </a:gridCol>
              </a:tblGrid>
              <a:tr h="0">
                <a:tc rowSpan="8">
                  <a:txBody>
                    <a:bodyPr/>
                    <a:lstStyle/>
                    <a:p>
                      <a:pPr algn="ctr" fontAlgn="ctr"/>
                      <a:r>
                        <a:rPr lang="en-US" sz="1200" u="none" strike="noStrike">
                          <a:solidFill>
                            <a:schemeClr val="bg1"/>
                          </a:solidFill>
                          <a:effectLst/>
                        </a:rPr>
                        <a:t>AFE</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rtl="0" eaLnBrk="1" fontAlgn="b" latinLnBrk="0" hangingPunct="1">
                        <a:lnSpc>
                          <a:spcPct val="100000"/>
                        </a:lnSpc>
                        <a:spcBef>
                          <a:spcPts val="0"/>
                        </a:spcBef>
                        <a:spcAft>
                          <a:spcPts val="0"/>
                        </a:spcAft>
                        <a:buClrTx/>
                        <a:buSzTx/>
                        <a:buFont typeface="Arial" panose="020B0604020202020204" pitchFamily="34" charset="0"/>
                        <a:buNone/>
                      </a:pPr>
                      <a:r>
                        <a:rPr lang="en-US" altLang="zh-CN" sz="1000">
                          <a:latin typeface="+mn-lt"/>
                          <a:cs typeface="Arial"/>
                        </a:rPr>
                        <a:t>Monthly billing to customer </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704665907"/>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93553249"/>
                  </a:ext>
                </a:extLst>
              </a:tr>
              <a:tr h="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LR – Upfront fulfilled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245107330"/>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Agent Revenue – ARS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800212848"/>
                  </a:ext>
                </a:extLst>
              </a:tr>
            </a:tbl>
          </a:graphicData>
        </a:graphic>
      </p:graphicFrame>
      <p:graphicFrame>
        <p:nvGraphicFramePr>
          <p:cNvPr id="2" name="Table 2">
            <a:extLst>
              <a:ext uri="{FF2B5EF4-FFF2-40B4-BE49-F238E27FC236}">
                <a16:creationId xmlns:a16="http://schemas.microsoft.com/office/drawing/2014/main" id="{B82D9535-1CC2-6DB5-20A8-0CA3049A561B}"/>
              </a:ext>
            </a:extLst>
          </p:cNvPr>
          <p:cNvGraphicFramePr>
            <a:graphicFrameLocks noGrp="1"/>
          </p:cNvGraphicFramePr>
          <p:nvPr>
            <p:extLst>
              <p:ext uri="{D42A27DB-BD31-4B8C-83A1-F6EECF244321}">
                <p14:modId xmlns:p14="http://schemas.microsoft.com/office/powerpoint/2010/main" val="3316437450"/>
              </p:ext>
            </p:extLst>
          </p:nvPr>
        </p:nvGraphicFramePr>
        <p:xfrm>
          <a:off x="115032" y="5139983"/>
          <a:ext cx="5703785" cy="748030"/>
        </p:xfrm>
        <a:graphic>
          <a:graphicData uri="http://schemas.openxmlformats.org/drawingml/2006/table">
            <a:tbl>
              <a:tblPr firstRow="1">
                <a:tableStyleId>{5C22544A-7EE6-4342-B048-85BDC9FD1C3A}</a:tableStyleId>
              </a:tblPr>
              <a:tblGrid>
                <a:gridCol w="671304">
                  <a:extLst>
                    <a:ext uri="{9D8B030D-6E8A-4147-A177-3AD203B41FA5}">
                      <a16:colId xmlns:a16="http://schemas.microsoft.com/office/drawing/2014/main" val="3200314054"/>
                    </a:ext>
                  </a:extLst>
                </a:gridCol>
                <a:gridCol w="182311">
                  <a:extLst>
                    <a:ext uri="{9D8B030D-6E8A-4147-A177-3AD203B41FA5}">
                      <a16:colId xmlns:a16="http://schemas.microsoft.com/office/drawing/2014/main" val="1913271583"/>
                    </a:ext>
                  </a:extLst>
                </a:gridCol>
                <a:gridCol w="643872">
                  <a:extLst>
                    <a:ext uri="{9D8B030D-6E8A-4147-A177-3AD203B41FA5}">
                      <a16:colId xmlns:a16="http://schemas.microsoft.com/office/drawing/2014/main" val="1797281345"/>
                    </a:ext>
                  </a:extLst>
                </a:gridCol>
                <a:gridCol w="2056411">
                  <a:extLst>
                    <a:ext uri="{9D8B030D-6E8A-4147-A177-3AD203B41FA5}">
                      <a16:colId xmlns:a16="http://schemas.microsoft.com/office/drawing/2014/main" val="2743739350"/>
                    </a:ext>
                  </a:extLst>
                </a:gridCol>
                <a:gridCol w="616681">
                  <a:extLst>
                    <a:ext uri="{9D8B030D-6E8A-4147-A177-3AD203B41FA5}">
                      <a16:colId xmlns:a16="http://schemas.microsoft.com/office/drawing/2014/main" val="2056723756"/>
                    </a:ext>
                  </a:extLst>
                </a:gridCol>
                <a:gridCol w="686595">
                  <a:extLst>
                    <a:ext uri="{9D8B030D-6E8A-4147-A177-3AD203B41FA5}">
                      <a16:colId xmlns:a16="http://schemas.microsoft.com/office/drawing/2014/main" val="4073315665"/>
                    </a:ext>
                  </a:extLst>
                </a:gridCol>
                <a:gridCol w="846611">
                  <a:extLst>
                    <a:ext uri="{9D8B030D-6E8A-4147-A177-3AD203B41FA5}">
                      <a16:colId xmlns:a16="http://schemas.microsoft.com/office/drawing/2014/main" val="848560102"/>
                    </a:ext>
                  </a:extLst>
                </a:gridCol>
              </a:tblGrid>
              <a:tr h="96327">
                <a:tc rowSpan="5">
                  <a:txBody>
                    <a:bodyPr/>
                    <a:lstStyle/>
                    <a:p>
                      <a:pPr algn="ctr" fontAlgn="ctr"/>
                      <a:r>
                        <a:rPr lang="en-US" sz="1100" u="none" strike="noStrike">
                          <a:effectLst/>
                        </a:rPr>
                        <a:t>S&amp;D</a:t>
                      </a:r>
                      <a:br>
                        <a:rPr lang="en-US" sz="1100" u="none" strike="noStrike">
                          <a:effectLst/>
                        </a:rPr>
                      </a:br>
                      <a:r>
                        <a:rPr lang="en-US" sz="1100" u="none" strike="noStrike">
                          <a:effectLst/>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900" b="1" u="none" strike="noStrike" kern="1200">
                          <a:solidFill>
                            <a:schemeClr val="lt1"/>
                          </a:solidFill>
                          <a:effectLst/>
                          <a:latin typeface="+mn-lt"/>
                          <a:ea typeface="+mn-ea"/>
                          <a:cs typeface="+mn-cs"/>
                        </a:rPr>
                        <a:t>Factory service split​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96327">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a:ln>
                            <a:noFill/>
                          </a:ln>
                          <a:solidFill>
                            <a:srgbClr val="000000"/>
                          </a:solidFill>
                          <a:effectLst/>
                          <a:uLnTx/>
                          <a:uFillTx/>
                          <a:latin typeface="+mn-lt"/>
                          <a:ea typeface="+mn-ea"/>
                          <a:cs typeface="+mn-cs"/>
                        </a:rPr>
                        <a:t>Upon M0, follow as-is FS split logic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96327">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900" b="1" i="0" u="none" strike="noStrike" kern="1200" cap="none" spc="0" normalizeH="0" baseline="0">
                          <a:ln>
                            <a:noFill/>
                          </a:ln>
                          <a:solidFill>
                            <a:srgbClr val="000000"/>
                          </a:solidFill>
                          <a:effectLst/>
                          <a:uLnTx/>
                          <a:uFillTx/>
                          <a:latin typeface="Arial"/>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900" b="1" i="0" u="none" strike="noStrike" kern="1200" cap="none" spc="0" normalizeH="0" baseline="0">
                          <a:ln>
                            <a:noFill/>
                          </a:ln>
                          <a:solidFill>
                            <a:srgbClr val="000000"/>
                          </a:solidFill>
                          <a:effectLst/>
                          <a:uLnTx/>
                          <a:uFillTx/>
                          <a:latin typeface="Arial"/>
                          <a:ea typeface="+mn-ea"/>
                          <a:cs typeface="+mn-cs"/>
                        </a:rPr>
                        <a:t>PV</a:t>
                      </a:r>
                      <a:endParaRPr kumimoji="0" lang="en-US" sz="900" b="1" i="0" u="none" strike="noStrike" kern="1200" cap="none" spc="0" normalizeH="0" baseline="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900" b="1" i="0" u="none" strike="noStrike" kern="1200" cap="none" spc="0" normalizeH="0" baseline="0">
                          <a:ln>
                            <a:noFill/>
                          </a:ln>
                          <a:solidFill>
                            <a:srgbClr val="000000"/>
                          </a:solidFill>
                          <a:effectLst/>
                          <a:uLnTx/>
                          <a:uFillTx/>
                          <a:latin typeface="Arial"/>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982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mn-lt"/>
                          <a:ea typeface="+mn-ea"/>
                          <a:cs typeface="+mn-cs"/>
                        </a:rPr>
                        <a:t>5010300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mn-lt"/>
                          <a:ea typeface="+mn-ea"/>
                          <a:cs typeface="+mn-cs"/>
                        </a:rPr>
                        <a:t>Turnover (IC Revenue)</a:t>
                      </a:r>
                      <a:endParaRPr lang="en-US" altLang="zh-CN" sz="9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9825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b"/>
                      <a:r>
                        <a:rPr lang="en-US" sz="900" b="0" i="0" u="none" strike="noStrike">
                          <a:solidFill>
                            <a:srgbClr val="000000"/>
                          </a:solidFill>
                          <a:effectLst/>
                          <a:latin typeface="+mn-lt"/>
                        </a:rPr>
                        <a:t>5010401</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900" b="0" i="0" u="none" strike="noStrike">
                          <a:solidFill>
                            <a:srgbClr val="000000"/>
                          </a:solidFill>
                          <a:effectLst/>
                          <a:latin typeface="+mn-lt"/>
                        </a:rPr>
                        <a:t>Service Rev – FS</a:t>
                      </a:r>
                      <a:endParaRPr lang="en-US" sz="900" b="0" i="0" u="none" strike="noStrike">
                        <a:solidFill>
                          <a:srgbClr val="FF0000"/>
                        </a:solidFill>
                        <a:effectLst/>
                        <a:latin typeface="+mn-lt"/>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prstClr val="black"/>
                          </a:solidFill>
                          <a:effectLst/>
                          <a:uLnTx/>
                          <a:uFillTx/>
                          <a:latin typeface="Aptos" panose="020B0004020202020204"/>
                          <a:ea typeface="宋体" panose="02010600030101010101" pitchFamily="2" charset="-122"/>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911046863"/>
                  </a:ext>
                </a:extLst>
              </a:tr>
            </a:tbl>
          </a:graphicData>
        </a:graphic>
      </p:graphicFrame>
      <p:sp>
        <p:nvSpPr>
          <p:cNvPr id="3" name="标题 2">
            <a:extLst>
              <a:ext uri="{FF2B5EF4-FFF2-40B4-BE49-F238E27FC236}">
                <a16:creationId xmlns:a16="http://schemas.microsoft.com/office/drawing/2014/main" id="{9F990569-0830-FC46-59E1-71C34C9E910D}"/>
              </a:ext>
            </a:extLst>
          </p:cNvPr>
          <p:cNvSpPr>
            <a:spLocks noGrp="1"/>
          </p:cNvSpPr>
          <p:nvPr>
            <p:ph type="title"/>
          </p:nvPr>
        </p:nvSpPr>
        <p:spPr>
          <a:xfrm>
            <a:off x="281228" y="48625"/>
            <a:ext cx="11188700" cy="698500"/>
          </a:xfrm>
        </p:spPr>
        <p:txBody>
          <a:bodyPr>
            <a:normAutofit/>
          </a:bodyPr>
          <a:lstStyle/>
          <a:p>
            <a:pPr algn="ctr"/>
            <a:r>
              <a:rPr lang="en-US" altLang="zh-CN" sz="2800">
                <a:latin typeface="Arial" panose="020B0604020202020204" pitchFamily="34" charset="0"/>
                <a:cs typeface="Arial" panose="020B0604020202020204" pitchFamily="34" charset="0"/>
              </a:rPr>
              <a:t>AFE: Finance Lease ————</a:t>
            </a:r>
            <a:r>
              <a:rPr lang="zh-CN" altLang="en-US" sz="2800">
                <a:latin typeface="Arial" panose="020B0604020202020204" pitchFamily="34" charset="0"/>
                <a:cs typeface="Arial" panose="020B0604020202020204" pitchFamily="34" charset="0"/>
              </a:rPr>
              <a:t> </a:t>
            </a:r>
            <a:r>
              <a:rPr lang="en-US" altLang="zh-CN" sz="2800">
                <a:latin typeface="Arial" panose="020B0604020202020204" pitchFamily="34" charset="0"/>
                <a:cs typeface="Arial" panose="020B0604020202020204" pitchFamily="34" charset="0"/>
              </a:rPr>
              <a:t>Finance Lease </a:t>
            </a:r>
            <a:endParaRPr lang="zh-CN" altLang="en-US" sz="2800">
              <a:latin typeface="Arial" panose="020B0604020202020204" pitchFamily="34" charset="0"/>
              <a:cs typeface="Arial" panose="020B0604020202020204" pitchFamily="34" charset="0"/>
            </a:endParaRPr>
          </a:p>
        </p:txBody>
      </p:sp>
      <p:sp>
        <p:nvSpPr>
          <p:cNvPr id="7" name="文本框 6">
            <a:extLst>
              <a:ext uri="{FF2B5EF4-FFF2-40B4-BE49-F238E27FC236}">
                <a16:creationId xmlns:a16="http://schemas.microsoft.com/office/drawing/2014/main" id="{1D5E1C0C-17A5-2150-5F8E-A3305340160D}"/>
              </a:ext>
            </a:extLst>
          </p:cNvPr>
          <p:cNvSpPr txBox="1"/>
          <p:nvPr/>
        </p:nvSpPr>
        <p:spPr>
          <a:xfrm>
            <a:off x="5783664" y="98071"/>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sp>
        <p:nvSpPr>
          <p:cNvPr id="9" name="文本框 8">
            <a:extLst>
              <a:ext uri="{FF2B5EF4-FFF2-40B4-BE49-F238E27FC236}">
                <a16:creationId xmlns:a16="http://schemas.microsoft.com/office/drawing/2014/main" id="{91BB0DF2-BCCE-7062-7D99-ED6599271B3B}"/>
              </a:ext>
            </a:extLst>
          </p:cNvPr>
          <p:cNvSpPr txBox="1"/>
          <p:nvPr/>
        </p:nvSpPr>
        <p:spPr>
          <a:xfrm>
            <a:off x="5619750" y="356681"/>
            <a:ext cx="1676399"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48M</a:t>
            </a:r>
            <a:r>
              <a:rPr lang="zh-CN" altLang="en-US" sz="2000">
                <a:solidFill>
                  <a:srgbClr val="FF0000"/>
                </a:solidFill>
                <a:latin typeface="Arial" panose="020B0604020202020204" pitchFamily="34" charset="0"/>
                <a:cs typeface="Arial" panose="020B0604020202020204" pitchFamily="34" charset="0"/>
              </a:rPr>
              <a:t>→</a:t>
            </a:r>
            <a:r>
              <a:rPr lang="en-US" altLang="zh-CN" sz="2000">
                <a:solidFill>
                  <a:srgbClr val="FF0000"/>
                </a:solidFill>
                <a:latin typeface="Arial" panose="020B0604020202020204" pitchFamily="34" charset="0"/>
                <a:cs typeface="Arial" panose="020B0604020202020204" pitchFamily="34" charset="0"/>
              </a:rPr>
              <a:t>60M</a:t>
            </a:r>
            <a:endParaRPr lang="zh-CN" altLang="en-US" sz="200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0792979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32EF8A-220F-55E6-701F-FBAA4FDFF360}"/>
            </a:ext>
          </a:extLst>
        </p:cNvPr>
        <p:cNvGrpSpPr/>
        <p:nvPr/>
      </p:nvGrpSpPr>
      <p:grpSpPr>
        <a:xfrm>
          <a:off x="0" y="0"/>
          <a:ext cx="0" cy="0"/>
          <a:chOff x="0" y="0"/>
          <a:chExt cx="0" cy="0"/>
        </a:xfrm>
      </p:grpSpPr>
      <p:sp>
        <p:nvSpPr>
          <p:cNvPr id="17" name="矩形 16">
            <a:extLst>
              <a:ext uri="{FF2B5EF4-FFF2-40B4-BE49-F238E27FC236}">
                <a16:creationId xmlns:a16="http://schemas.microsoft.com/office/drawing/2014/main" id="{510E3A79-13CF-2C14-0870-861512840D15}"/>
              </a:ext>
            </a:extLst>
          </p:cNvPr>
          <p:cNvSpPr/>
          <p:nvPr/>
        </p:nvSpPr>
        <p:spPr>
          <a:xfrm>
            <a:off x="600076" y="622282"/>
            <a:ext cx="6048375" cy="5549918"/>
          </a:xfrm>
          <a:prstGeom prst="rect">
            <a:avLst/>
          </a:prstGeom>
          <a:solidFill>
            <a:schemeClr val="accent2">
              <a:lumMod val="40000"/>
              <a:lumOff val="60000"/>
              <a:alpha val="25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grpSp>
        <p:nvGrpSpPr>
          <p:cNvPr id="6" name="Group 18">
            <a:extLst>
              <a:ext uri="{FF2B5EF4-FFF2-40B4-BE49-F238E27FC236}">
                <a16:creationId xmlns:a16="http://schemas.microsoft.com/office/drawing/2014/main" id="{4772AFD4-FB05-8EB4-0741-44185357779E}"/>
              </a:ext>
            </a:extLst>
          </p:cNvPr>
          <p:cNvGrpSpPr/>
          <p:nvPr/>
        </p:nvGrpSpPr>
        <p:grpSpPr>
          <a:xfrm>
            <a:off x="11381105" y="-111931"/>
            <a:ext cx="1032394" cy="734212"/>
            <a:chOff x="11159606" y="0"/>
            <a:chExt cx="1032394" cy="734212"/>
          </a:xfrm>
        </p:grpSpPr>
        <p:sp>
          <p:nvSpPr>
            <p:cNvPr id="7" name="Rectangle: Rounded Corners 19">
              <a:extLst>
                <a:ext uri="{FF2B5EF4-FFF2-40B4-BE49-F238E27FC236}">
                  <a16:creationId xmlns:a16="http://schemas.microsoft.com/office/drawing/2014/main" id="{8A2E48F0-92AF-6771-A967-026F36177D80}"/>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BRIM</a:t>
              </a:r>
            </a:p>
          </p:txBody>
        </p:sp>
        <p:sp>
          <p:nvSpPr>
            <p:cNvPr id="8" name="Rectangle: Rounded Corners 20">
              <a:extLst>
                <a:ext uri="{FF2B5EF4-FFF2-40B4-BE49-F238E27FC236}">
                  <a16:creationId xmlns:a16="http://schemas.microsoft.com/office/drawing/2014/main" id="{3F7593A1-88D1-DDB2-C23A-4F9A38DA6688}"/>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ECC</a:t>
              </a:r>
            </a:p>
          </p:txBody>
        </p:sp>
        <p:sp>
          <p:nvSpPr>
            <p:cNvPr id="9" name="Rectangle: Rounded Corners 21">
              <a:extLst>
                <a:ext uri="{FF2B5EF4-FFF2-40B4-BE49-F238E27FC236}">
                  <a16:creationId xmlns:a16="http://schemas.microsoft.com/office/drawing/2014/main" id="{7A607E0D-DFDF-578C-33D6-7C0D75C13B97}"/>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Odessa</a:t>
              </a:r>
            </a:p>
          </p:txBody>
        </p:sp>
      </p:grpSp>
      <p:sp>
        <p:nvSpPr>
          <p:cNvPr id="13" name="标题 2">
            <a:extLst>
              <a:ext uri="{FF2B5EF4-FFF2-40B4-BE49-F238E27FC236}">
                <a16:creationId xmlns:a16="http://schemas.microsoft.com/office/drawing/2014/main" id="{BD31B9A4-7C83-4FAC-21D1-DCE0B47C136A}"/>
              </a:ext>
            </a:extLst>
          </p:cNvPr>
          <p:cNvSpPr>
            <a:spLocks noGrp="1"/>
          </p:cNvSpPr>
          <p:nvPr>
            <p:ph type="title"/>
          </p:nvPr>
        </p:nvSpPr>
        <p:spPr>
          <a:xfrm>
            <a:off x="281228" y="48625"/>
            <a:ext cx="11188700" cy="698500"/>
          </a:xfrm>
        </p:spPr>
        <p:txBody>
          <a:bodyPr>
            <a:normAutofit/>
          </a:bodyPr>
          <a:lstStyle/>
          <a:p>
            <a:pPr algn="ctr"/>
            <a:r>
              <a:rPr lang="en-US" altLang="zh-CN" sz="2800">
                <a:latin typeface="Arial" panose="020B0604020202020204" pitchFamily="34" charset="0"/>
                <a:cs typeface="Arial" panose="020B0604020202020204" pitchFamily="34" charset="0"/>
              </a:rPr>
              <a:t>AFE: Finance Lease ————</a:t>
            </a:r>
            <a:r>
              <a:rPr lang="zh-CN" altLang="en-US" sz="2800">
                <a:latin typeface="Arial" panose="020B0604020202020204" pitchFamily="34" charset="0"/>
                <a:cs typeface="Arial" panose="020B0604020202020204" pitchFamily="34" charset="0"/>
              </a:rPr>
              <a:t> </a:t>
            </a:r>
            <a:r>
              <a:rPr lang="en-US" altLang="zh-CN" sz="2800">
                <a:latin typeface="Arial" panose="020B0604020202020204" pitchFamily="34" charset="0"/>
                <a:cs typeface="Arial" panose="020B0604020202020204" pitchFamily="34" charset="0"/>
              </a:rPr>
              <a:t>Finance Lease </a:t>
            </a:r>
            <a:endParaRPr lang="zh-CN" altLang="en-US" sz="2800">
              <a:latin typeface="Arial" panose="020B0604020202020204" pitchFamily="34" charset="0"/>
              <a:cs typeface="Arial" panose="020B0604020202020204" pitchFamily="34" charset="0"/>
            </a:endParaRPr>
          </a:p>
        </p:txBody>
      </p:sp>
      <p:sp>
        <p:nvSpPr>
          <p:cNvPr id="4" name="文本框 3">
            <a:extLst>
              <a:ext uri="{FF2B5EF4-FFF2-40B4-BE49-F238E27FC236}">
                <a16:creationId xmlns:a16="http://schemas.microsoft.com/office/drawing/2014/main" id="{D9CE04D6-6812-87AD-5088-8445A42A5934}"/>
              </a:ext>
            </a:extLst>
          </p:cNvPr>
          <p:cNvSpPr txBox="1"/>
          <p:nvPr/>
        </p:nvSpPr>
        <p:spPr>
          <a:xfrm>
            <a:off x="5783664" y="98071"/>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sp>
        <p:nvSpPr>
          <p:cNvPr id="16" name="对话气泡: 矩形 15">
            <a:extLst>
              <a:ext uri="{FF2B5EF4-FFF2-40B4-BE49-F238E27FC236}">
                <a16:creationId xmlns:a16="http://schemas.microsoft.com/office/drawing/2014/main" id="{F25DBB45-EAA7-E8A2-D3E1-321B3212D23F}"/>
              </a:ext>
            </a:extLst>
          </p:cNvPr>
          <p:cNvSpPr/>
          <p:nvPr/>
        </p:nvSpPr>
        <p:spPr>
          <a:xfrm>
            <a:off x="769778" y="1844968"/>
            <a:ext cx="5693630" cy="451888"/>
          </a:xfrm>
          <a:prstGeom prst="wedgeRectCallout">
            <a:avLst>
              <a:gd name="adj1" fmla="val 26234"/>
              <a:gd name="adj2" fmla="val -7306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latin typeface="Arial" panose="020B0604020202020204" pitchFamily="34" charset="0"/>
                <a:cs typeface="Arial" panose="020B0604020202020204" pitchFamily="34" charset="0"/>
              </a:rPr>
              <a:t>Calculation logic: </a:t>
            </a:r>
          </a:p>
          <a:p>
            <a:r>
              <a:rPr lang="en-US" altLang="zh-CN" sz="1100">
                <a:solidFill>
                  <a:schemeClr val="tx1"/>
                </a:solidFill>
                <a:latin typeface="Arial" panose="020B0604020202020204" pitchFamily="34" charset="0"/>
                <a:cs typeface="Arial" panose="020B0604020202020204" pitchFamily="34" charset="0"/>
              </a:rPr>
              <a:t>=rewrite upfront amt *new lease term -original upfront amt*remaining months</a:t>
            </a:r>
            <a:endParaRPr lang="zh-CN" altLang="en-US" sz="1100">
              <a:solidFill>
                <a:schemeClr val="tx1"/>
              </a:solidFill>
              <a:latin typeface="Arial" panose="020B0604020202020204" pitchFamily="34" charset="0"/>
              <a:cs typeface="Arial" panose="020B0604020202020204" pitchFamily="34" charset="0"/>
            </a:endParaRPr>
          </a:p>
        </p:txBody>
      </p:sp>
      <p:graphicFrame>
        <p:nvGraphicFramePr>
          <p:cNvPr id="35" name="表格 34">
            <a:extLst>
              <a:ext uri="{FF2B5EF4-FFF2-40B4-BE49-F238E27FC236}">
                <a16:creationId xmlns:a16="http://schemas.microsoft.com/office/drawing/2014/main" id="{D760552F-9881-D009-E3AB-7198A8A50F26}"/>
              </a:ext>
            </a:extLst>
          </p:cNvPr>
          <p:cNvGraphicFramePr>
            <a:graphicFrameLocks noGrp="1"/>
          </p:cNvGraphicFramePr>
          <p:nvPr>
            <p:extLst>
              <p:ext uri="{D42A27DB-BD31-4B8C-83A1-F6EECF244321}">
                <p14:modId xmlns:p14="http://schemas.microsoft.com/office/powerpoint/2010/main" val="2162190560"/>
              </p:ext>
            </p:extLst>
          </p:nvPr>
        </p:nvGraphicFramePr>
        <p:xfrm>
          <a:off x="769779" y="2551919"/>
          <a:ext cx="5380214" cy="1811262"/>
        </p:xfrm>
        <a:graphic>
          <a:graphicData uri="http://schemas.openxmlformats.org/drawingml/2006/table">
            <a:tbl>
              <a:tblPr/>
              <a:tblGrid>
                <a:gridCol w="452725">
                  <a:extLst>
                    <a:ext uri="{9D8B030D-6E8A-4147-A177-3AD203B41FA5}">
                      <a16:colId xmlns:a16="http://schemas.microsoft.com/office/drawing/2014/main" val="1828247229"/>
                    </a:ext>
                  </a:extLst>
                </a:gridCol>
                <a:gridCol w="243881">
                  <a:extLst>
                    <a:ext uri="{9D8B030D-6E8A-4147-A177-3AD203B41FA5}">
                      <a16:colId xmlns:a16="http://schemas.microsoft.com/office/drawing/2014/main" val="4141232291"/>
                    </a:ext>
                  </a:extLst>
                </a:gridCol>
                <a:gridCol w="663081">
                  <a:extLst>
                    <a:ext uri="{9D8B030D-6E8A-4147-A177-3AD203B41FA5}">
                      <a16:colId xmlns:a16="http://schemas.microsoft.com/office/drawing/2014/main" val="672845899"/>
                    </a:ext>
                  </a:extLst>
                </a:gridCol>
                <a:gridCol w="1161350">
                  <a:extLst>
                    <a:ext uri="{9D8B030D-6E8A-4147-A177-3AD203B41FA5}">
                      <a16:colId xmlns:a16="http://schemas.microsoft.com/office/drawing/2014/main" val="3529420061"/>
                    </a:ext>
                  </a:extLst>
                </a:gridCol>
                <a:gridCol w="643302">
                  <a:extLst>
                    <a:ext uri="{9D8B030D-6E8A-4147-A177-3AD203B41FA5}">
                      <a16:colId xmlns:a16="http://schemas.microsoft.com/office/drawing/2014/main" val="2294942003"/>
                    </a:ext>
                  </a:extLst>
                </a:gridCol>
                <a:gridCol w="485447">
                  <a:extLst>
                    <a:ext uri="{9D8B030D-6E8A-4147-A177-3AD203B41FA5}">
                      <a16:colId xmlns:a16="http://schemas.microsoft.com/office/drawing/2014/main" val="4273387575"/>
                    </a:ext>
                  </a:extLst>
                </a:gridCol>
                <a:gridCol w="287074">
                  <a:extLst>
                    <a:ext uri="{9D8B030D-6E8A-4147-A177-3AD203B41FA5}">
                      <a16:colId xmlns:a16="http://schemas.microsoft.com/office/drawing/2014/main" val="1603564649"/>
                    </a:ext>
                  </a:extLst>
                </a:gridCol>
                <a:gridCol w="349250">
                  <a:extLst>
                    <a:ext uri="{9D8B030D-6E8A-4147-A177-3AD203B41FA5}">
                      <a16:colId xmlns:a16="http://schemas.microsoft.com/office/drawing/2014/main" val="666076507"/>
                    </a:ext>
                  </a:extLst>
                </a:gridCol>
                <a:gridCol w="286508">
                  <a:extLst>
                    <a:ext uri="{9D8B030D-6E8A-4147-A177-3AD203B41FA5}">
                      <a16:colId xmlns:a16="http://schemas.microsoft.com/office/drawing/2014/main" val="3683687233"/>
                    </a:ext>
                  </a:extLst>
                </a:gridCol>
                <a:gridCol w="393681">
                  <a:extLst>
                    <a:ext uri="{9D8B030D-6E8A-4147-A177-3AD203B41FA5}">
                      <a16:colId xmlns:a16="http://schemas.microsoft.com/office/drawing/2014/main" val="296807624"/>
                    </a:ext>
                  </a:extLst>
                </a:gridCol>
                <a:gridCol w="413915">
                  <a:extLst>
                    <a:ext uri="{9D8B030D-6E8A-4147-A177-3AD203B41FA5}">
                      <a16:colId xmlns:a16="http://schemas.microsoft.com/office/drawing/2014/main" val="845238753"/>
                    </a:ext>
                  </a:extLst>
                </a:gridCol>
              </a:tblGrid>
              <a:tr h="159906">
                <a:tc rowSpan="9">
                  <a:txBody>
                    <a:bodyPr/>
                    <a:lstStyle/>
                    <a:p>
                      <a:pPr marL="0" indent="0" algn="ctr" fontAlgn="base">
                        <a:lnSpc>
                          <a:spcPts val="1200"/>
                        </a:lnSpc>
                        <a:buNone/>
                      </a:pPr>
                      <a:r>
                        <a:rPr lang="en-US" sz="900" b="1" i="0" u="none" strike="noStrike" kern="1200">
                          <a:solidFill>
                            <a:srgbClr val="FFFFFF"/>
                          </a:solidFill>
                          <a:effectLst/>
                          <a:latin typeface="Arial" panose="020B0604020202020204" pitchFamily="34" charset="0"/>
                          <a:ea typeface="+mn-ea"/>
                          <a:cs typeface="+mn-cs"/>
                        </a:rPr>
                        <a:t>AFE​</a:t>
                      </a:r>
                      <a:br>
                        <a:rPr lang="en-US" sz="900" b="1" i="0" u="none" strike="noStrike" kern="1200">
                          <a:solidFill>
                            <a:srgbClr val="FFFFFF"/>
                          </a:solidFill>
                          <a:effectLst/>
                          <a:latin typeface="Arial" panose="020B0604020202020204" pitchFamily="34" charset="0"/>
                          <a:ea typeface="+mn-ea"/>
                          <a:cs typeface="+mn-cs"/>
                        </a:rPr>
                      </a:br>
                      <a:r>
                        <a:rPr lang="en-US" sz="900" b="1" i="0" u="none" strike="noStrike" kern="1200">
                          <a:solidFill>
                            <a:srgbClr val="FFFFFF"/>
                          </a:solidFill>
                          <a:effectLst/>
                          <a:latin typeface="Arial" panose="020B0604020202020204" pitchFamily="34" charset="0"/>
                          <a:ea typeface="+mn-ea"/>
                          <a:cs typeface="+mn-cs"/>
                        </a:rPr>
                        <a:t>Entity​</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auto">
                        <a:lnSpc>
                          <a:spcPts val="1200"/>
                        </a:lnSpc>
                        <a:buNone/>
                      </a:pPr>
                      <a:r>
                        <a:rPr lang="en-US" sz="900" b="1" i="0" u="none" strike="noStrike" kern="1200">
                          <a:solidFill>
                            <a:srgbClr val="FFFFFF"/>
                          </a:solidFill>
                          <a:effectLst/>
                          <a:latin typeface="Arial" panose="020B0604020202020204" pitchFamily="34" charset="0"/>
                          <a:ea typeface="+mn-ea"/>
                          <a:cs typeface="+mn-cs"/>
                        </a:rPr>
                        <a:t>Mid-term Rewrite</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95250" indent="0" algn="l" fontAlgn="auto">
                        <a:lnSpc>
                          <a:spcPts val="1200"/>
                        </a:lnSpc>
                        <a:buNone/>
                      </a:pPr>
                      <a:endParaRPr lang="en-US" sz="1000" b="1" i="0" u="none" strike="noStrike">
                        <a:solidFill>
                          <a:srgbClr val="FFFFFF"/>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641665388"/>
                  </a:ext>
                </a:extLst>
              </a:tr>
              <a:tr h="159684">
                <a:tc vMerge="1">
                  <a:txBody>
                    <a:bodyPr/>
                    <a:lstStyle/>
                    <a:p>
                      <a:endParaRPr lang="zh-CN" altLang="en-US"/>
                    </a:p>
                  </a:txBody>
                  <a:tcPr/>
                </a:tc>
                <a:tc gridSpan="10">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Upon rewrite active​</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0" indent="0" algn="ctr" fontAlgn="base">
                        <a:lnSpc>
                          <a:spcPts val="1200"/>
                        </a:lnSpc>
                        <a:buNone/>
                      </a:pP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260440"/>
                  </a:ext>
                </a:extLst>
              </a:tr>
              <a:tr h="162294">
                <a:tc vMerge="1">
                  <a:txBody>
                    <a:bodyPr/>
                    <a:lstStyle/>
                    <a:p>
                      <a:endParaRPr lang="zh-CN" altLang="en-US"/>
                    </a:p>
                  </a:txBody>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COA​</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LV​</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PV​</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711932868"/>
                  </a:ext>
                </a:extLst>
              </a:tr>
              <a:tr h="203106">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1400301​</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Lease Receivable ​</a:t>
                      </a:r>
                    </a:p>
                  </a:txBody>
                  <a:tcPr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1180</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1180</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r>
                        <a:rPr 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909174475"/>
                  </a:ext>
                </a:extLst>
              </a:tr>
              <a:tr h="203106">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1400301​</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Lease Receivable ​</a:t>
                      </a:r>
                    </a:p>
                  </a:txBody>
                  <a:tcPr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1034</a:t>
                      </a:r>
                      <a:r>
                        <a:rPr lang="zh-CN" alt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1034</a:t>
                      </a:r>
                      <a:r>
                        <a:rPr lang="zh-CN" alt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r>
                        <a:rPr 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97475585"/>
                  </a:ext>
                </a:extLst>
              </a:tr>
              <a:tr h="176604">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a:solidFill>
                            <a:srgbClr val="000000"/>
                          </a:solidFill>
                          <a:effectLst/>
                          <a:latin typeface="Arial" panose="020B0604020202020204" pitchFamily="34" charset="0"/>
                        </a:rPr>
                        <a:t>1400303​</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Receivable Interest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174.6</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spc="0">
                          <a:solidFill>
                            <a:srgbClr val="000000"/>
                          </a:solidFill>
                          <a:effectLst/>
                          <a:latin typeface="Arial" panose="020B0604020202020204" pitchFamily="34" charset="0"/>
                        </a:rPr>
                        <a:t>174.6</a:t>
                      </a:r>
                      <a:r>
                        <a:rPr lang="zh-CN" altLang="zh-CN" sz="900" b="0" i="0">
                          <a:solidFill>
                            <a:srgbClr val="000000"/>
                          </a:solidFill>
                          <a:effectLst/>
                          <a:ea typeface="Arial" panose="020B0604020202020204" pitchFamily="34" charset="0"/>
                        </a:rPr>
                        <a: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27397841"/>
                  </a:ext>
                </a:extLst>
              </a:tr>
              <a:tr h="230606">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a:solidFill>
                            <a:srgbClr val="000000"/>
                          </a:solidFill>
                          <a:effectLst/>
                          <a:latin typeface="Arial" panose="020B0604020202020204" pitchFamily="34" charset="0"/>
                        </a:rPr>
                        <a:t>1400303​</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Receivable Interest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283.9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spc="0">
                          <a:solidFill>
                            <a:srgbClr val="000000"/>
                          </a:solidFill>
                          <a:effectLst/>
                          <a:latin typeface="Arial" panose="020B0604020202020204" pitchFamily="34" charset="0"/>
                        </a:rPr>
                        <a:t>283.9</a:t>
                      </a:r>
                      <a:r>
                        <a:rPr lang="zh-CN" altLang="zh-CN" sz="900" b="0" i="0">
                          <a:solidFill>
                            <a:srgbClr val="000000"/>
                          </a:solidFill>
                          <a:effectLst/>
                          <a:ea typeface="Arial" panose="020B0604020202020204" pitchFamily="34" charset="0"/>
                        </a:rPr>
                        <a: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699130467"/>
                  </a:ext>
                </a:extLst>
              </a:tr>
              <a:tr h="176604">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Residual Value ​</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50.9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spc="0">
                          <a:solidFill>
                            <a:srgbClr val="000000"/>
                          </a:solidFill>
                          <a:effectLst/>
                          <a:latin typeface="Arial" panose="020B0604020202020204" pitchFamily="34" charset="0"/>
                        </a:rPr>
                        <a:t>50.9</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HW</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20/X1</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N</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chemeClr val="tx1"/>
                          </a:solidFill>
                          <a:effectLst/>
                          <a:latin typeface="Arial" panose="020B0604020202020204" pitchFamily="34" charset="0"/>
                          <a:ea typeface="+mn-ea"/>
                          <a:cs typeface="+mn-cs"/>
                        </a:rPr>
                        <a:t>Y</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36026426"/>
                  </a:ext>
                </a:extLst>
              </a:tr>
              <a:tr h="176604">
                <a:tc vMerge="1">
                  <a:txBody>
                    <a:bodyPr/>
                    <a:lstStyle/>
                    <a:p>
                      <a:endParaRPr lang="zh-CN" altLang="en-US"/>
                    </a:p>
                  </a:txBody>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Cr</a:t>
                      </a: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5010514</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Interest Income</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14.3</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14.3</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719493777"/>
                  </a:ext>
                </a:extLst>
              </a:tr>
            </a:tbl>
          </a:graphicData>
        </a:graphic>
      </p:graphicFrame>
      <p:graphicFrame>
        <p:nvGraphicFramePr>
          <p:cNvPr id="36" name="表格 35">
            <a:extLst>
              <a:ext uri="{FF2B5EF4-FFF2-40B4-BE49-F238E27FC236}">
                <a16:creationId xmlns:a16="http://schemas.microsoft.com/office/drawing/2014/main" id="{6644C9B7-1D14-2406-72EF-7F4D89547B17}"/>
              </a:ext>
            </a:extLst>
          </p:cNvPr>
          <p:cNvGraphicFramePr>
            <a:graphicFrameLocks noGrp="1"/>
          </p:cNvGraphicFramePr>
          <p:nvPr>
            <p:extLst>
              <p:ext uri="{D42A27DB-BD31-4B8C-83A1-F6EECF244321}">
                <p14:modId xmlns:p14="http://schemas.microsoft.com/office/powerpoint/2010/main" val="2962728327"/>
              </p:ext>
            </p:extLst>
          </p:nvPr>
        </p:nvGraphicFramePr>
        <p:xfrm>
          <a:off x="801514" y="4561144"/>
          <a:ext cx="5526692" cy="1373335"/>
        </p:xfrm>
        <a:graphic>
          <a:graphicData uri="http://schemas.openxmlformats.org/drawingml/2006/table">
            <a:tbl>
              <a:tblPr/>
              <a:tblGrid>
                <a:gridCol w="420079">
                  <a:extLst>
                    <a:ext uri="{9D8B030D-6E8A-4147-A177-3AD203B41FA5}">
                      <a16:colId xmlns:a16="http://schemas.microsoft.com/office/drawing/2014/main" val="3736999773"/>
                    </a:ext>
                  </a:extLst>
                </a:gridCol>
                <a:gridCol w="195716">
                  <a:extLst>
                    <a:ext uri="{9D8B030D-6E8A-4147-A177-3AD203B41FA5}">
                      <a16:colId xmlns:a16="http://schemas.microsoft.com/office/drawing/2014/main" val="3816563074"/>
                    </a:ext>
                  </a:extLst>
                </a:gridCol>
                <a:gridCol w="524010">
                  <a:extLst>
                    <a:ext uri="{9D8B030D-6E8A-4147-A177-3AD203B41FA5}">
                      <a16:colId xmlns:a16="http://schemas.microsoft.com/office/drawing/2014/main" val="138387391"/>
                    </a:ext>
                  </a:extLst>
                </a:gridCol>
                <a:gridCol w="1824314">
                  <a:extLst>
                    <a:ext uri="{9D8B030D-6E8A-4147-A177-3AD203B41FA5}">
                      <a16:colId xmlns:a16="http://schemas.microsoft.com/office/drawing/2014/main" val="6136393"/>
                    </a:ext>
                  </a:extLst>
                </a:gridCol>
                <a:gridCol w="298710">
                  <a:extLst>
                    <a:ext uri="{9D8B030D-6E8A-4147-A177-3AD203B41FA5}">
                      <a16:colId xmlns:a16="http://schemas.microsoft.com/office/drawing/2014/main" val="3149587505"/>
                    </a:ext>
                  </a:extLst>
                </a:gridCol>
                <a:gridCol w="298710">
                  <a:extLst>
                    <a:ext uri="{9D8B030D-6E8A-4147-A177-3AD203B41FA5}">
                      <a16:colId xmlns:a16="http://schemas.microsoft.com/office/drawing/2014/main" val="2445563365"/>
                    </a:ext>
                  </a:extLst>
                </a:gridCol>
                <a:gridCol w="375956">
                  <a:extLst>
                    <a:ext uri="{9D8B030D-6E8A-4147-A177-3AD203B41FA5}">
                      <a16:colId xmlns:a16="http://schemas.microsoft.com/office/drawing/2014/main" val="1905432288"/>
                    </a:ext>
                  </a:extLst>
                </a:gridCol>
                <a:gridCol w="290418">
                  <a:extLst>
                    <a:ext uri="{9D8B030D-6E8A-4147-A177-3AD203B41FA5}">
                      <a16:colId xmlns:a16="http://schemas.microsoft.com/office/drawing/2014/main" val="3187367784"/>
                    </a:ext>
                  </a:extLst>
                </a:gridCol>
                <a:gridCol w="277544">
                  <a:extLst>
                    <a:ext uri="{9D8B030D-6E8A-4147-A177-3AD203B41FA5}">
                      <a16:colId xmlns:a16="http://schemas.microsoft.com/office/drawing/2014/main" val="2775114162"/>
                    </a:ext>
                  </a:extLst>
                </a:gridCol>
                <a:gridCol w="399849">
                  <a:extLst>
                    <a:ext uri="{9D8B030D-6E8A-4147-A177-3AD203B41FA5}">
                      <a16:colId xmlns:a16="http://schemas.microsoft.com/office/drawing/2014/main" val="3638765688"/>
                    </a:ext>
                  </a:extLst>
                </a:gridCol>
                <a:gridCol w="621386">
                  <a:extLst>
                    <a:ext uri="{9D8B030D-6E8A-4147-A177-3AD203B41FA5}">
                      <a16:colId xmlns:a16="http://schemas.microsoft.com/office/drawing/2014/main" val="2755887217"/>
                    </a:ext>
                  </a:extLst>
                </a:gridCol>
              </a:tblGrid>
              <a:tr h="101485">
                <a:tc rowSpan="8">
                  <a:txBody>
                    <a:bodyPr/>
                    <a:lstStyle/>
                    <a:p>
                      <a:pPr marL="0" indent="0" algn="ctr" fontAlgn="base">
                        <a:lnSpc>
                          <a:spcPts val="1425"/>
                        </a:lnSpc>
                        <a:buNone/>
                      </a:pPr>
                      <a:r>
                        <a:rPr lang="en-US" sz="900" b="1" i="0" u="none" strike="noStrike">
                          <a:solidFill>
                            <a:srgbClr val="FFFFFF"/>
                          </a:solidFill>
                          <a:effectLst/>
                          <a:latin typeface="Arial" panose="020B0604020202020204" pitchFamily="34" charset="0"/>
                        </a:rPr>
                        <a:t>AFE</a:t>
                      </a:r>
                    </a:p>
                    <a:p>
                      <a:pPr marL="0" indent="0" algn="ctr" fontAlgn="base">
                        <a:lnSpc>
                          <a:spcPts val="1425"/>
                        </a:lnSpc>
                        <a:buNone/>
                      </a:pPr>
                      <a:r>
                        <a:rPr lang="en-US" altLang="zh-CN" sz="900" b="1" i="0" u="none" strike="noStrike">
                          <a:solidFill>
                            <a:srgbClr val="FFFFFF"/>
                          </a:solidFill>
                          <a:effectLst/>
                          <a:latin typeface="Arial" panose="020B0604020202020204" pitchFamily="34" charset="0"/>
                        </a:rPr>
                        <a:t>Entity</a:t>
                      </a:r>
                      <a:r>
                        <a:rPr lang="en-US" sz="1050" b="1" i="0">
                          <a:solidFill>
                            <a:srgbClr val="FFFFFF"/>
                          </a:solidFill>
                          <a:effectLst/>
                          <a:latin typeface="Arial" panose="020B0604020202020204" pitchFamily="34" charset="0"/>
                        </a:rPr>
                        <a:t>​</a:t>
                      </a:r>
                      <a:endParaRPr lang="en-US" sz="1100" b="1" i="0">
                        <a:solidFill>
                          <a:srgbClr val="FFFFFF"/>
                        </a:solidFill>
                        <a:effectLst/>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180975" indent="0" algn="l" fontAlgn="base">
                        <a:lnSpc>
                          <a:spcPts val="1200"/>
                        </a:lnSpc>
                        <a:buNone/>
                      </a:pPr>
                      <a:r>
                        <a:rPr lang="en-US" sz="900" b="1" i="0" u="none" strike="noStrike" kern="1200">
                          <a:solidFill>
                            <a:srgbClr val="FFFFFF"/>
                          </a:solidFill>
                          <a:effectLst/>
                          <a:latin typeface="Arial" panose="020B0604020202020204" pitchFamily="34" charset="0"/>
                          <a:ea typeface="+mn-ea"/>
                          <a:cs typeface="+mn-cs"/>
                        </a:rPr>
                        <a:t>Monthly billing to customer – New Contract </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80975" indent="0" algn="l" fontAlgn="base">
                        <a:lnSpc>
                          <a:spcPts val="1200"/>
                        </a:lnSpc>
                        <a:buNone/>
                      </a:pPr>
                      <a:endParaRPr lang="en-US" sz="900" b="1" i="0" u="none" strike="noStrike" kern="1200">
                        <a:solidFill>
                          <a:srgbClr val="FFFFFF"/>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pPr marL="180975" indent="0" algn="l" fontAlgn="base">
                        <a:lnSpc>
                          <a:spcPts val="1200"/>
                        </a:lnSpc>
                        <a:buNone/>
                      </a:pPr>
                      <a:endParaRPr lang="en-US" sz="900" b="1" i="0" u="none" strike="noStrike" kern="1200">
                        <a:solidFill>
                          <a:srgbClr val="FFFFFF"/>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pPr marL="180975" indent="0" algn="l" fontAlgn="base">
                        <a:lnSpc>
                          <a:spcPts val="1200"/>
                        </a:lnSpc>
                        <a:buNone/>
                      </a:pPr>
                      <a:endParaRPr lang="en-US" sz="900" b="1" i="0" u="none" strike="noStrike" kern="1200">
                        <a:solidFill>
                          <a:srgbClr val="FFFFFF"/>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pPr marL="180975" indent="0" algn="l" fontAlgn="base">
                        <a:lnSpc>
                          <a:spcPts val="1200"/>
                        </a:lnSpc>
                        <a:buNone/>
                      </a:pPr>
                      <a:endParaRPr lang="en-US" sz="900" b="1" i="0" u="none" strike="noStrike" kern="1200">
                        <a:solidFill>
                          <a:srgbClr val="FFFFFF"/>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221172060"/>
                  </a:ext>
                </a:extLst>
              </a:tr>
              <a:tr h="99519">
                <a:tc vMerge="1">
                  <a:txBody>
                    <a:bodyPr/>
                    <a:lstStyle/>
                    <a:p>
                      <a:endParaRPr lang="zh-CN" altLang="en-US"/>
                    </a:p>
                  </a:txBody>
                  <a:tcPr/>
                </a:tc>
                <a:tc gridSpan="10">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Upon Monthly Billing​</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241410719"/>
                  </a:ext>
                </a:extLst>
              </a:tr>
              <a:tr h="99519">
                <a:tc vMerge="1">
                  <a:txBody>
                    <a:bodyPr/>
                    <a:lstStyle/>
                    <a:p>
                      <a:endParaRPr lang="zh-CN" altLang="en-US"/>
                    </a:p>
                  </a:txBody>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COA​</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LV​</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PV​</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3495505102"/>
                  </a:ext>
                </a:extLst>
              </a:tr>
              <a:tr h="16676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Dr​</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1130103​</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Account Receivable – Leasing​</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23.7</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23.7</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0659259"/>
                  </a:ext>
                </a:extLst>
              </a:tr>
              <a:tr h="11009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Cr​</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1400301​</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Lease Receivable​</a:t>
                      </a:r>
                    </a:p>
                  </a:txBody>
                  <a:tcPr marL="20333" marR="20333" marT="10167" marB="1016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20​</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20​</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sz="900" b="0" i="0" kern="1200">
                        <a:solidFill>
                          <a:srgbClr val="000000"/>
                        </a:solidFill>
                        <a:effectLst/>
                        <a:latin typeface="Arial" panose="020B0604020202020204" pitchFamily="34" charset="0"/>
                        <a:ea typeface="+mn-ea"/>
                        <a:cs typeface="+mn-cs"/>
                      </a:endParaRP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193092680"/>
                  </a:ext>
                </a:extLst>
              </a:tr>
              <a:tr h="134384">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Cr​</a:t>
                      </a:r>
                    </a:p>
                  </a:txBody>
                  <a:tcPr marL="20333" marR="20333" marT="10167" marB="1016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1400308​</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LR – Upfront fulfilled Service​</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0.7</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0.7​</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356592"/>
                  </a:ext>
                </a:extLst>
              </a:tr>
              <a:tr h="19914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Cr​</a:t>
                      </a:r>
                    </a:p>
                  </a:txBody>
                  <a:tcPr marL="20333" marR="20333" marT="10167" marB="10167" anchor="ctr">
                    <a:lnL w="7595" cap="flat" cmpd="sng" algn="ctr">
                      <a:solidFill>
                        <a:srgbClr val="BFBFBF"/>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5010510​</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Agent Revenue – Premier support​</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2​</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276166950"/>
                  </a:ext>
                </a:extLst>
              </a:tr>
              <a:tr h="182957">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Cr​</a:t>
                      </a:r>
                    </a:p>
                  </a:txBody>
                  <a:tcPr marL="20333" marR="20333" marT="10167" marB="10167" anchor="ctr">
                    <a:lnL w="7595" cap="flat" cmpd="sng" algn="ctr">
                      <a:solidFill>
                        <a:srgbClr val="BFBFBF"/>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5010510​</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Agent Revenue – ARS​</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kern="1200">
                          <a:solidFill>
                            <a:srgbClr val="000000"/>
                          </a:solidFill>
                          <a:effectLst/>
                          <a:latin typeface="Arial" panose="020B0604020202020204" pitchFamily="34" charset="0"/>
                          <a:ea typeface="+mn-ea"/>
                          <a:cs typeface="+mn-cs"/>
                        </a:rPr>
                        <a:t>1​</a:t>
                      </a:r>
                    </a:p>
                  </a:txBody>
                  <a:tcPr marL="20333" marR="20333" marT="10167" marB="1016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0613144"/>
                  </a:ext>
                </a:extLst>
              </a:tr>
            </a:tbl>
          </a:graphicData>
        </a:graphic>
      </p:graphicFrame>
      <p:sp>
        <p:nvSpPr>
          <p:cNvPr id="38" name="矩形 37">
            <a:extLst>
              <a:ext uri="{FF2B5EF4-FFF2-40B4-BE49-F238E27FC236}">
                <a16:creationId xmlns:a16="http://schemas.microsoft.com/office/drawing/2014/main" id="{1E8A2BD0-8035-AD8C-849E-E0437D6E4456}"/>
              </a:ext>
            </a:extLst>
          </p:cNvPr>
          <p:cNvSpPr/>
          <p:nvPr/>
        </p:nvSpPr>
        <p:spPr>
          <a:xfrm>
            <a:off x="1194619" y="3103296"/>
            <a:ext cx="4955373" cy="1061921"/>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对话气泡: 矩形 39">
            <a:extLst>
              <a:ext uri="{FF2B5EF4-FFF2-40B4-BE49-F238E27FC236}">
                <a16:creationId xmlns:a16="http://schemas.microsoft.com/office/drawing/2014/main" id="{E4187823-2A9D-03F2-2260-7530E913CBFB}"/>
              </a:ext>
            </a:extLst>
          </p:cNvPr>
          <p:cNvSpPr/>
          <p:nvPr/>
        </p:nvSpPr>
        <p:spPr>
          <a:xfrm>
            <a:off x="7089502" y="1844968"/>
            <a:ext cx="1097364" cy="1134555"/>
          </a:xfrm>
          <a:prstGeom prst="wedgeRectCallout">
            <a:avLst>
              <a:gd name="adj1" fmla="val -109900"/>
              <a:gd name="adj2" fmla="val 3696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a:solidFill>
                  <a:schemeClr val="tx1"/>
                </a:solidFill>
                <a:latin typeface="Arial" panose="020B0604020202020204" pitchFamily="34" charset="0"/>
                <a:cs typeface="Arial" panose="020B0604020202020204" pitchFamily="34" charset="0"/>
              </a:rPr>
              <a:t>Adjust HW LTAR, unrealized interest and RV</a:t>
            </a:r>
            <a:endParaRPr lang="zh-CN" altLang="en-US" sz="1100">
              <a:solidFill>
                <a:schemeClr val="tx1"/>
              </a:solidFill>
              <a:latin typeface="Arial" panose="020B0604020202020204" pitchFamily="34" charset="0"/>
              <a:cs typeface="Arial" panose="020B0604020202020204" pitchFamily="34" charset="0"/>
            </a:endParaRPr>
          </a:p>
        </p:txBody>
      </p:sp>
      <p:sp>
        <p:nvSpPr>
          <p:cNvPr id="5" name="对话气泡: 矩形 4">
            <a:extLst>
              <a:ext uri="{FF2B5EF4-FFF2-40B4-BE49-F238E27FC236}">
                <a16:creationId xmlns:a16="http://schemas.microsoft.com/office/drawing/2014/main" id="{CCE87EAA-57C1-C11D-515A-C21A00809EDB}"/>
              </a:ext>
            </a:extLst>
          </p:cNvPr>
          <p:cNvSpPr/>
          <p:nvPr/>
        </p:nvSpPr>
        <p:spPr>
          <a:xfrm>
            <a:off x="6644681" y="3110967"/>
            <a:ext cx="4947243" cy="1134555"/>
          </a:xfrm>
          <a:prstGeom prst="wedgeRectCallout">
            <a:avLst>
              <a:gd name="adj1" fmla="val -79660"/>
              <a:gd name="adj2" fmla="val -1958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altLang="zh-CN" sz="1100">
                <a:solidFill>
                  <a:schemeClr val="tx1"/>
                </a:solidFill>
                <a:latin typeface="Arial" panose="020B0604020202020204" pitchFamily="34" charset="0"/>
                <a:cs typeface="Arial" panose="020B0604020202020204" pitchFamily="34" charset="0"/>
              </a:rPr>
              <a:t>DR:AR=rewrite monthly HW amt*remaining month(60-1)</a:t>
            </a:r>
          </a:p>
          <a:p>
            <a:r>
              <a:rPr lang="en-US" altLang="zh-CN" sz="1100">
                <a:solidFill>
                  <a:schemeClr val="tx1"/>
                </a:solidFill>
                <a:latin typeface="Arial" panose="020B0604020202020204" pitchFamily="34" charset="0"/>
                <a:cs typeface="Arial" panose="020B0604020202020204" pitchFamily="34" charset="0"/>
              </a:rPr>
              <a:t>CR:AR=original monthly HW amt*remaining month(48-1)  </a:t>
            </a:r>
          </a:p>
          <a:p>
            <a:r>
              <a:rPr lang="en-US" altLang="zh-CN" sz="1100">
                <a:solidFill>
                  <a:schemeClr val="tx1"/>
                </a:solidFill>
                <a:latin typeface="Arial" panose="020B0604020202020204" pitchFamily="34" charset="0"/>
                <a:cs typeface="Arial" panose="020B0604020202020204" pitchFamily="34" charset="0"/>
              </a:rPr>
              <a:t>Same logic for interest income &amp; RV </a:t>
            </a:r>
          </a:p>
          <a:p>
            <a:r>
              <a:rPr lang="en-US" altLang="zh-CN" sz="1100">
                <a:solidFill>
                  <a:schemeClr val="tx1"/>
                </a:solidFill>
                <a:highlight>
                  <a:srgbClr val="FFFF00"/>
                </a:highlight>
                <a:latin typeface="Arial" panose="020B0604020202020204" pitchFamily="34" charset="0"/>
                <a:cs typeface="Arial" panose="020B0604020202020204" pitchFamily="34" charset="0"/>
              </a:rPr>
              <a:t>60 RV-48 RV PV=1400307 </a:t>
            </a:r>
          </a:p>
          <a:p>
            <a:r>
              <a:rPr lang="en-US" altLang="zh-CN" sz="1100">
                <a:solidFill>
                  <a:schemeClr val="tx1"/>
                </a:solidFill>
                <a:highlight>
                  <a:srgbClr val="FFFF00"/>
                </a:highlight>
                <a:latin typeface="Arial" panose="020B0604020202020204" pitchFamily="34" charset="0"/>
                <a:cs typeface="Arial" panose="020B0604020202020204" pitchFamily="34" charset="0"/>
              </a:rPr>
              <a:t>Diff booked as interest income</a:t>
            </a:r>
            <a:endParaRPr lang="zh-CN" altLang="en-US" sz="1100">
              <a:solidFill>
                <a:schemeClr val="tx1"/>
              </a:solidFill>
              <a:highlight>
                <a:srgbClr val="FFFF00"/>
              </a:highlight>
              <a:latin typeface="Arial" panose="020B0604020202020204" pitchFamily="34" charset="0"/>
              <a:cs typeface="Arial" panose="020B0604020202020204" pitchFamily="34" charset="0"/>
            </a:endParaRPr>
          </a:p>
          <a:p>
            <a:endParaRPr lang="zh-CN" altLang="en-US" sz="1100">
              <a:solidFill>
                <a:schemeClr val="tx1"/>
              </a:solidFill>
              <a:highlight>
                <a:srgbClr val="FFFF00"/>
              </a:highlight>
              <a:latin typeface="Arial" panose="020B0604020202020204" pitchFamily="34" charset="0"/>
              <a:cs typeface="Arial" panose="020B0604020202020204" pitchFamily="34" charset="0"/>
            </a:endParaRPr>
          </a:p>
        </p:txBody>
      </p:sp>
      <p:sp>
        <p:nvSpPr>
          <p:cNvPr id="14" name="文本框 13">
            <a:extLst>
              <a:ext uri="{FF2B5EF4-FFF2-40B4-BE49-F238E27FC236}">
                <a16:creationId xmlns:a16="http://schemas.microsoft.com/office/drawing/2014/main" id="{64194DC7-7C9B-E27C-0826-923647D6AE56}"/>
              </a:ext>
            </a:extLst>
          </p:cNvPr>
          <p:cNvSpPr txBox="1"/>
          <p:nvPr/>
        </p:nvSpPr>
        <p:spPr>
          <a:xfrm>
            <a:off x="5619750" y="356681"/>
            <a:ext cx="1676399"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48M</a:t>
            </a:r>
            <a:r>
              <a:rPr lang="zh-CN" altLang="en-US" sz="2000">
                <a:solidFill>
                  <a:srgbClr val="FF0000"/>
                </a:solidFill>
                <a:latin typeface="Arial" panose="020B0604020202020204" pitchFamily="34" charset="0"/>
                <a:cs typeface="Arial" panose="020B0604020202020204" pitchFamily="34" charset="0"/>
              </a:rPr>
              <a:t>→</a:t>
            </a:r>
            <a:r>
              <a:rPr lang="en-US" altLang="zh-CN" sz="2000">
                <a:solidFill>
                  <a:srgbClr val="FF0000"/>
                </a:solidFill>
                <a:latin typeface="Arial" panose="020B0604020202020204" pitchFamily="34" charset="0"/>
                <a:cs typeface="Arial" panose="020B0604020202020204" pitchFamily="34" charset="0"/>
              </a:rPr>
              <a:t>60M</a:t>
            </a:r>
            <a:endParaRPr lang="zh-CN" altLang="en-US" sz="2000">
              <a:solidFill>
                <a:srgbClr val="FF0000"/>
              </a:solidFill>
              <a:latin typeface="Arial" panose="020B0604020202020204" pitchFamily="34" charset="0"/>
              <a:cs typeface="Arial" panose="020B0604020202020204" pitchFamily="34" charset="0"/>
            </a:endParaRPr>
          </a:p>
        </p:txBody>
      </p:sp>
      <p:sp>
        <p:nvSpPr>
          <p:cNvPr id="19" name="对话气泡: 矩形 18">
            <a:extLst>
              <a:ext uri="{FF2B5EF4-FFF2-40B4-BE49-F238E27FC236}">
                <a16:creationId xmlns:a16="http://schemas.microsoft.com/office/drawing/2014/main" id="{AAFDA0DD-8A9E-A8D3-C45C-43AF83A8A8C7}"/>
              </a:ext>
            </a:extLst>
          </p:cNvPr>
          <p:cNvSpPr/>
          <p:nvPr/>
        </p:nvSpPr>
        <p:spPr>
          <a:xfrm>
            <a:off x="6803602" y="4550103"/>
            <a:ext cx="1669163" cy="1395416"/>
          </a:xfrm>
          <a:prstGeom prst="wedgeRectCallout">
            <a:avLst>
              <a:gd name="adj1" fmla="val -90694"/>
              <a:gd name="adj2" fmla="val 2457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Subsequent steps such as ARS revenue recognition, premier/ARS </a:t>
            </a:r>
            <a:r>
              <a:rPr lang="en-US" altLang="zh-CN" sz="1100" b="1" err="1">
                <a:solidFill>
                  <a:srgbClr val="000000"/>
                </a:solidFill>
                <a:latin typeface="Arial" panose="020B0604020202020204" pitchFamily="34" charset="0"/>
                <a:ea typeface="黑体" panose="02010609060101010101" pitchFamily="49" charset="-122"/>
                <a:cs typeface="Arial" panose="020B0604020202020204" pitchFamily="34" charset="0"/>
              </a:rPr>
              <a:t>interco</a:t>
            </a:r>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 monthly are consistent with normal FL solution.</a:t>
            </a:r>
          </a:p>
        </p:txBody>
      </p:sp>
      <p:graphicFrame>
        <p:nvGraphicFramePr>
          <p:cNvPr id="23" name="Table 94">
            <a:extLst>
              <a:ext uri="{FF2B5EF4-FFF2-40B4-BE49-F238E27FC236}">
                <a16:creationId xmlns:a16="http://schemas.microsoft.com/office/drawing/2014/main" id="{B8084091-FCC3-FF28-8A36-EE9D31275FD8}"/>
              </a:ext>
            </a:extLst>
          </p:cNvPr>
          <p:cNvGraphicFramePr>
            <a:graphicFrameLocks noGrp="1"/>
          </p:cNvGraphicFramePr>
          <p:nvPr>
            <p:extLst>
              <p:ext uri="{D42A27DB-BD31-4B8C-83A1-F6EECF244321}">
                <p14:modId xmlns:p14="http://schemas.microsoft.com/office/powerpoint/2010/main" val="4052964232"/>
              </p:ext>
            </p:extLst>
          </p:nvPr>
        </p:nvGraphicFramePr>
        <p:xfrm>
          <a:off x="728493" y="826687"/>
          <a:ext cx="5791540" cy="890925"/>
        </p:xfrm>
        <a:graphic>
          <a:graphicData uri="http://schemas.openxmlformats.org/drawingml/2006/table">
            <a:tbl>
              <a:tblPr firstRow="1">
                <a:tableStyleId>{5C22544A-7EE6-4342-B048-85BDC9FD1C3A}</a:tableStyleId>
              </a:tblPr>
              <a:tblGrid>
                <a:gridCol w="361950">
                  <a:extLst>
                    <a:ext uri="{9D8B030D-6E8A-4147-A177-3AD203B41FA5}">
                      <a16:colId xmlns:a16="http://schemas.microsoft.com/office/drawing/2014/main" val="3200314054"/>
                    </a:ext>
                  </a:extLst>
                </a:gridCol>
                <a:gridCol w="221124">
                  <a:extLst>
                    <a:ext uri="{9D8B030D-6E8A-4147-A177-3AD203B41FA5}">
                      <a16:colId xmlns:a16="http://schemas.microsoft.com/office/drawing/2014/main" val="1913271583"/>
                    </a:ext>
                  </a:extLst>
                </a:gridCol>
                <a:gridCol w="482477">
                  <a:extLst>
                    <a:ext uri="{9D8B030D-6E8A-4147-A177-3AD203B41FA5}">
                      <a16:colId xmlns:a16="http://schemas.microsoft.com/office/drawing/2014/main" val="1797281345"/>
                    </a:ext>
                  </a:extLst>
                </a:gridCol>
                <a:gridCol w="2171700">
                  <a:extLst>
                    <a:ext uri="{9D8B030D-6E8A-4147-A177-3AD203B41FA5}">
                      <a16:colId xmlns:a16="http://schemas.microsoft.com/office/drawing/2014/main" val="2743739350"/>
                    </a:ext>
                  </a:extLst>
                </a:gridCol>
                <a:gridCol w="258417">
                  <a:extLst>
                    <a:ext uri="{9D8B030D-6E8A-4147-A177-3AD203B41FA5}">
                      <a16:colId xmlns:a16="http://schemas.microsoft.com/office/drawing/2014/main" val="2056723756"/>
                    </a:ext>
                  </a:extLst>
                </a:gridCol>
                <a:gridCol w="422547">
                  <a:extLst>
                    <a:ext uri="{9D8B030D-6E8A-4147-A177-3AD203B41FA5}">
                      <a16:colId xmlns:a16="http://schemas.microsoft.com/office/drawing/2014/main" val="4073315665"/>
                    </a:ext>
                  </a:extLst>
                </a:gridCol>
                <a:gridCol w="285750">
                  <a:extLst>
                    <a:ext uri="{9D8B030D-6E8A-4147-A177-3AD203B41FA5}">
                      <a16:colId xmlns:a16="http://schemas.microsoft.com/office/drawing/2014/main" val="3068119212"/>
                    </a:ext>
                  </a:extLst>
                </a:gridCol>
                <a:gridCol w="304800">
                  <a:extLst>
                    <a:ext uri="{9D8B030D-6E8A-4147-A177-3AD203B41FA5}">
                      <a16:colId xmlns:a16="http://schemas.microsoft.com/office/drawing/2014/main" val="3765595061"/>
                    </a:ext>
                  </a:extLst>
                </a:gridCol>
                <a:gridCol w="273786">
                  <a:extLst>
                    <a:ext uri="{9D8B030D-6E8A-4147-A177-3AD203B41FA5}">
                      <a16:colId xmlns:a16="http://schemas.microsoft.com/office/drawing/2014/main" val="4016582823"/>
                    </a:ext>
                  </a:extLst>
                </a:gridCol>
                <a:gridCol w="394436">
                  <a:extLst>
                    <a:ext uri="{9D8B030D-6E8A-4147-A177-3AD203B41FA5}">
                      <a16:colId xmlns:a16="http://schemas.microsoft.com/office/drawing/2014/main" val="1452004342"/>
                    </a:ext>
                  </a:extLst>
                </a:gridCol>
                <a:gridCol w="614553">
                  <a:extLst>
                    <a:ext uri="{9D8B030D-6E8A-4147-A177-3AD203B41FA5}">
                      <a16:colId xmlns:a16="http://schemas.microsoft.com/office/drawing/2014/main" val="848560102"/>
                    </a:ext>
                  </a:extLst>
                </a:gridCol>
              </a:tblGrid>
              <a:tr h="108565">
                <a:tc rowSpan="5">
                  <a:txBody>
                    <a:bodyPr/>
                    <a:lstStyle/>
                    <a:p>
                      <a:pPr algn="ctr" fontAlgn="ctr"/>
                      <a:r>
                        <a:rPr lang="en-US" sz="900" b="1" i="0" kern="1200">
                          <a:solidFill>
                            <a:srgbClr val="FFFFFF"/>
                          </a:solidFill>
                          <a:effectLst/>
                          <a:latin typeface="Arial"/>
                          <a:ea typeface="+mn-ea"/>
                          <a:cs typeface="+mn-cs"/>
                        </a:rPr>
                        <a:t>AFE</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Mid Term Rewrite upfront service interest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08565">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rewrite active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29102">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spTree>
    <p:extLst>
      <p:ext uri="{BB962C8B-B14F-4D97-AF65-F5344CB8AC3E}">
        <p14:creationId xmlns:p14="http://schemas.microsoft.com/office/powerpoint/2010/main" val="1289992282"/>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CE8D25-392B-B86B-62DE-D23C41C42F00}"/>
            </a:ext>
          </a:extLst>
        </p:cNvPr>
        <p:cNvGrpSpPr/>
        <p:nvPr/>
      </p:nvGrpSpPr>
      <p:grpSpPr>
        <a:xfrm>
          <a:off x="0" y="0"/>
          <a:ext cx="0" cy="0"/>
          <a:chOff x="0" y="0"/>
          <a:chExt cx="0" cy="0"/>
        </a:xfrm>
      </p:grpSpPr>
      <p:sp>
        <p:nvSpPr>
          <p:cNvPr id="27" name="矩形 26">
            <a:extLst>
              <a:ext uri="{FF2B5EF4-FFF2-40B4-BE49-F238E27FC236}">
                <a16:creationId xmlns:a16="http://schemas.microsoft.com/office/drawing/2014/main" id="{34C8642B-A049-A3F2-DD76-8ED2CDCB0AAC}"/>
              </a:ext>
            </a:extLst>
          </p:cNvPr>
          <p:cNvSpPr/>
          <p:nvPr/>
        </p:nvSpPr>
        <p:spPr>
          <a:xfrm>
            <a:off x="5943155" y="674529"/>
            <a:ext cx="5846475" cy="6147759"/>
          </a:xfrm>
          <a:prstGeom prst="rect">
            <a:avLst/>
          </a:prstGeom>
          <a:solidFill>
            <a:schemeClr val="accent2">
              <a:lumMod val="40000"/>
              <a:lumOff val="60000"/>
              <a:alpha val="25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3" name="灯片编号占位符 2">
            <a:extLst>
              <a:ext uri="{FF2B5EF4-FFF2-40B4-BE49-F238E27FC236}">
                <a16:creationId xmlns:a16="http://schemas.microsoft.com/office/drawing/2014/main" id="{85CD5782-C626-6DD6-EDE2-72D1013BA3A7}"/>
              </a:ext>
            </a:extLst>
          </p:cNvPr>
          <p:cNvSpPr>
            <a:spLocks noGrp="1"/>
          </p:cNvSpPr>
          <p:nvPr>
            <p:ph type="sldNum" sz="quarter" idx="4"/>
          </p:nvPr>
        </p:nvSpPr>
        <p:spPr>
          <a:xfrm>
            <a:off x="11773083" y="7000786"/>
            <a:ext cx="439026" cy="155448"/>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6D22F896-40B5-4ADD-8801-0D06FADFA095}" type="slidenum">
              <a:rPr lang="en-US" smtClean="0"/>
              <a:pPr marL="0" marR="0" lvl="0" indent="0" algn="ctr" defTabSz="914400" rtl="0" eaLnBrk="1" fontAlgn="auto" latinLnBrk="0" hangingPunct="1">
                <a:lnSpc>
                  <a:spcPct val="100000"/>
                </a:lnSpc>
                <a:spcBef>
                  <a:spcPts val="0"/>
                </a:spcBef>
                <a:spcAft>
                  <a:spcPts val="0"/>
                </a:spcAft>
                <a:buClrTx/>
                <a:buSzTx/>
                <a:buFontTx/>
                <a:buNone/>
                <a:tabLst/>
                <a:defRPr/>
              </a:pPr>
              <a:t>137</a:t>
            </a:fld>
            <a:endParaRPr kumimoji="0" lang="en-US" sz="1000" b="0" i="0" u="none" strike="noStrike" kern="1200" cap="none" spc="0" normalizeH="0" baseline="0" noProof="0">
              <a:ln>
                <a:noFill/>
              </a:ln>
              <a:solidFill>
                <a:srgbClr val="000000"/>
              </a:solidFill>
              <a:effectLst/>
              <a:uLnTx/>
              <a:uFillTx/>
            </a:endParaRPr>
          </a:p>
        </p:txBody>
      </p:sp>
      <p:graphicFrame>
        <p:nvGraphicFramePr>
          <p:cNvPr id="2" name="Table 1">
            <a:extLst>
              <a:ext uri="{FF2B5EF4-FFF2-40B4-BE49-F238E27FC236}">
                <a16:creationId xmlns:a16="http://schemas.microsoft.com/office/drawing/2014/main" id="{A6229F19-183D-E895-5ABD-6F16E6DE725D}"/>
              </a:ext>
            </a:extLst>
          </p:cNvPr>
          <p:cNvGraphicFramePr>
            <a:graphicFrameLocks noGrp="1"/>
          </p:cNvGraphicFramePr>
          <p:nvPr>
            <p:extLst>
              <p:ext uri="{D42A27DB-BD31-4B8C-83A1-F6EECF244321}">
                <p14:modId xmlns:p14="http://schemas.microsoft.com/office/powerpoint/2010/main" val="1211431606"/>
              </p:ext>
            </p:extLst>
          </p:nvPr>
        </p:nvGraphicFramePr>
        <p:xfrm>
          <a:off x="199690" y="624074"/>
          <a:ext cx="5661927" cy="739460"/>
        </p:xfrm>
        <a:graphic>
          <a:graphicData uri="http://schemas.openxmlformats.org/drawingml/2006/table">
            <a:tbl>
              <a:tblPr firstRow="1">
                <a:tableStyleId>{5C22544A-7EE6-4342-B048-85BDC9FD1C3A}</a:tableStyleId>
              </a:tblPr>
              <a:tblGrid>
                <a:gridCol w="473996">
                  <a:extLst>
                    <a:ext uri="{9D8B030D-6E8A-4147-A177-3AD203B41FA5}">
                      <a16:colId xmlns:a16="http://schemas.microsoft.com/office/drawing/2014/main" val="3200314054"/>
                    </a:ext>
                  </a:extLst>
                </a:gridCol>
                <a:gridCol w="314031">
                  <a:extLst>
                    <a:ext uri="{9D8B030D-6E8A-4147-A177-3AD203B41FA5}">
                      <a16:colId xmlns:a16="http://schemas.microsoft.com/office/drawing/2014/main" val="1913271583"/>
                    </a:ext>
                  </a:extLst>
                </a:gridCol>
                <a:gridCol w="685192">
                  <a:extLst>
                    <a:ext uri="{9D8B030D-6E8A-4147-A177-3AD203B41FA5}">
                      <a16:colId xmlns:a16="http://schemas.microsoft.com/office/drawing/2014/main" val="1797281345"/>
                    </a:ext>
                  </a:extLst>
                </a:gridCol>
                <a:gridCol w="2093583">
                  <a:extLst>
                    <a:ext uri="{9D8B030D-6E8A-4147-A177-3AD203B41FA5}">
                      <a16:colId xmlns:a16="http://schemas.microsoft.com/office/drawing/2014/main" val="2743739350"/>
                    </a:ext>
                  </a:extLst>
                </a:gridCol>
                <a:gridCol w="622279">
                  <a:extLst>
                    <a:ext uri="{9D8B030D-6E8A-4147-A177-3AD203B41FA5}">
                      <a16:colId xmlns:a16="http://schemas.microsoft.com/office/drawing/2014/main" val="2056723756"/>
                    </a:ext>
                  </a:extLst>
                </a:gridCol>
                <a:gridCol w="600084">
                  <a:extLst>
                    <a:ext uri="{9D8B030D-6E8A-4147-A177-3AD203B41FA5}">
                      <a16:colId xmlns:a16="http://schemas.microsoft.com/office/drawing/2014/main" val="4073315665"/>
                    </a:ext>
                  </a:extLst>
                </a:gridCol>
                <a:gridCol w="872762">
                  <a:extLst>
                    <a:ext uri="{9D8B030D-6E8A-4147-A177-3AD203B41FA5}">
                      <a16:colId xmlns:a16="http://schemas.microsoft.com/office/drawing/2014/main" val="848560102"/>
                    </a:ext>
                  </a:extLst>
                </a:gridCol>
              </a:tblGrid>
              <a:tr h="132953">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Goods issued to Customer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32953">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shipment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32953">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35612">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None/>
                      </a:pPr>
                      <a:r>
                        <a:rPr lang="en-US" sz="900" b="0" i="0" u="none" strike="noStrike" kern="1200" noProof="0">
                          <a:solidFill>
                            <a:srgbClr val="000000"/>
                          </a:solidFill>
                          <a:effectLst/>
                          <a:latin typeface="Arial" panose="020B0604020202020204" pitchFamily="34" charset="0"/>
                          <a:ea typeface="+mn-ea"/>
                          <a:cs typeface="+mn-cs"/>
                        </a:rPr>
                        <a:t>Fixed Asset In Transit</a:t>
                      </a:r>
                      <a:endParaRPr 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135612">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1340000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Inventory </a:t>
                      </a:r>
                    </a:p>
                  </a:txBody>
                  <a:tcPr marL="0"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bl>
          </a:graphicData>
        </a:graphic>
      </p:graphicFrame>
      <p:graphicFrame>
        <p:nvGraphicFramePr>
          <p:cNvPr id="9" name="Table 94">
            <a:extLst>
              <a:ext uri="{FF2B5EF4-FFF2-40B4-BE49-F238E27FC236}">
                <a16:creationId xmlns:a16="http://schemas.microsoft.com/office/drawing/2014/main" id="{EE157002-3DC3-55E5-0C74-C7B1C90DDB9A}"/>
              </a:ext>
            </a:extLst>
          </p:cNvPr>
          <p:cNvGraphicFramePr>
            <a:graphicFrameLocks noGrp="1"/>
          </p:cNvGraphicFramePr>
          <p:nvPr>
            <p:extLst>
              <p:ext uri="{D42A27DB-BD31-4B8C-83A1-F6EECF244321}">
                <p14:modId xmlns:p14="http://schemas.microsoft.com/office/powerpoint/2010/main" val="1898092167"/>
              </p:ext>
            </p:extLst>
          </p:nvPr>
        </p:nvGraphicFramePr>
        <p:xfrm>
          <a:off x="182513" y="1401869"/>
          <a:ext cx="5684220" cy="739460"/>
        </p:xfrm>
        <a:graphic>
          <a:graphicData uri="http://schemas.openxmlformats.org/drawingml/2006/table">
            <a:tbl>
              <a:tblPr firstRow="1">
                <a:tableStyleId>{5C22544A-7EE6-4342-B048-85BDC9FD1C3A}</a:tableStyleId>
              </a:tblPr>
              <a:tblGrid>
                <a:gridCol w="479425">
                  <a:extLst>
                    <a:ext uri="{9D8B030D-6E8A-4147-A177-3AD203B41FA5}">
                      <a16:colId xmlns:a16="http://schemas.microsoft.com/office/drawing/2014/main" val="3200314054"/>
                    </a:ext>
                  </a:extLst>
                </a:gridCol>
                <a:gridCol w="315052">
                  <a:extLst>
                    <a:ext uri="{9D8B030D-6E8A-4147-A177-3AD203B41FA5}">
                      <a16:colId xmlns:a16="http://schemas.microsoft.com/office/drawing/2014/main" val="1913271583"/>
                    </a:ext>
                  </a:extLst>
                </a:gridCol>
                <a:gridCol w="687418">
                  <a:extLst>
                    <a:ext uri="{9D8B030D-6E8A-4147-A177-3AD203B41FA5}">
                      <a16:colId xmlns:a16="http://schemas.microsoft.com/office/drawing/2014/main" val="1797281345"/>
                    </a:ext>
                  </a:extLst>
                </a:gridCol>
                <a:gridCol w="2424699">
                  <a:extLst>
                    <a:ext uri="{9D8B030D-6E8A-4147-A177-3AD203B41FA5}">
                      <a16:colId xmlns:a16="http://schemas.microsoft.com/office/drawing/2014/main" val="2743739350"/>
                    </a:ext>
                  </a:extLst>
                </a:gridCol>
                <a:gridCol w="426253">
                  <a:extLst>
                    <a:ext uri="{9D8B030D-6E8A-4147-A177-3AD203B41FA5}">
                      <a16:colId xmlns:a16="http://schemas.microsoft.com/office/drawing/2014/main" val="2056723756"/>
                    </a:ext>
                  </a:extLst>
                </a:gridCol>
                <a:gridCol w="426253">
                  <a:extLst>
                    <a:ext uri="{9D8B030D-6E8A-4147-A177-3AD203B41FA5}">
                      <a16:colId xmlns:a16="http://schemas.microsoft.com/office/drawing/2014/main" val="4073315665"/>
                    </a:ext>
                  </a:extLst>
                </a:gridCol>
                <a:gridCol w="925120">
                  <a:extLst>
                    <a:ext uri="{9D8B030D-6E8A-4147-A177-3AD203B41FA5}">
                      <a16:colId xmlns:a16="http://schemas.microsoft.com/office/drawing/2014/main" val="848560102"/>
                    </a:ext>
                  </a:extLst>
                </a:gridCol>
              </a:tblGrid>
              <a:tr h="119456">
                <a:tc rowSpan="5">
                  <a:txBody>
                    <a:bodyPr/>
                    <a:lstStyle/>
                    <a:p>
                      <a:pPr algn="ctr" fontAlgn="ctr"/>
                      <a:r>
                        <a:rPr lang="en-US" sz="900" b="1" i="0" kern="1200">
                          <a:solidFill>
                            <a:srgbClr val="FFFFFF"/>
                          </a:solidFill>
                          <a:effectLst/>
                          <a:latin typeface="Arial"/>
                          <a:ea typeface="+mn-ea"/>
                          <a:cs typeface="+mn-cs"/>
                        </a:rPr>
                        <a:t>S</a:t>
                      </a:r>
                      <a:r>
                        <a:rPr lang="en-US" altLang="zh-CN" sz="900" b="1" i="0" kern="1200">
                          <a:solidFill>
                            <a:srgbClr val="FFFFFF"/>
                          </a:solidFill>
                          <a:effectLst/>
                          <a:latin typeface="Arial"/>
                          <a:ea typeface="+mn-ea"/>
                          <a:cs typeface="+mn-cs"/>
                        </a:rPr>
                        <a:t>&amp;D</a:t>
                      </a:r>
                    </a:p>
                    <a:p>
                      <a:pPr algn="ctr" fontAlgn="ct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Recognize upfront services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19456">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tx1"/>
                          </a:solidFill>
                          <a:effectLst/>
                          <a:latin typeface="Arial" panose="020B0604020202020204" pitchFamily="34" charset="0"/>
                          <a:ea typeface="+mn-ea"/>
                          <a:cs typeface="+mn-cs"/>
                        </a:rPr>
                        <a:t>Upon Customer acceptance</a:t>
                      </a:r>
                      <a:endParaRPr lang="en-US" altLang="zh-CN" sz="900" b="1" i="0" u="none" strike="noStrike" kern="1200">
                        <a:solidFill>
                          <a:schemeClr val="tx1"/>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19456">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2184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LT-Acc Receivable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r h="121844">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Services Revenue - Upfront Service</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1819737369"/>
                  </a:ext>
                </a:extLst>
              </a:tr>
            </a:tbl>
          </a:graphicData>
        </a:graphic>
      </p:graphicFrame>
      <p:graphicFrame>
        <p:nvGraphicFramePr>
          <p:cNvPr id="10" name="Table 94">
            <a:extLst>
              <a:ext uri="{FF2B5EF4-FFF2-40B4-BE49-F238E27FC236}">
                <a16:creationId xmlns:a16="http://schemas.microsoft.com/office/drawing/2014/main" id="{16880472-7AD5-7B47-8ADF-D6B673CDC546}"/>
              </a:ext>
            </a:extLst>
          </p:cNvPr>
          <p:cNvGraphicFramePr>
            <a:graphicFrameLocks noGrp="1"/>
          </p:cNvGraphicFramePr>
          <p:nvPr>
            <p:extLst>
              <p:ext uri="{D42A27DB-BD31-4B8C-83A1-F6EECF244321}">
                <p14:modId xmlns:p14="http://schemas.microsoft.com/office/powerpoint/2010/main" val="4128167316"/>
              </p:ext>
            </p:extLst>
          </p:nvPr>
        </p:nvGraphicFramePr>
        <p:xfrm>
          <a:off x="182513" y="2177574"/>
          <a:ext cx="5666714" cy="842470"/>
        </p:xfrm>
        <a:graphic>
          <a:graphicData uri="http://schemas.openxmlformats.org/drawingml/2006/table">
            <a:tbl>
              <a:tblPr firstRow="1">
                <a:tableStyleId>{5C22544A-7EE6-4342-B048-85BDC9FD1C3A}</a:tableStyleId>
              </a:tblPr>
              <a:tblGrid>
                <a:gridCol w="455613">
                  <a:extLst>
                    <a:ext uri="{9D8B030D-6E8A-4147-A177-3AD203B41FA5}">
                      <a16:colId xmlns:a16="http://schemas.microsoft.com/office/drawing/2014/main" val="3200314054"/>
                    </a:ext>
                  </a:extLst>
                </a:gridCol>
                <a:gridCol w="315434">
                  <a:extLst>
                    <a:ext uri="{9D8B030D-6E8A-4147-A177-3AD203B41FA5}">
                      <a16:colId xmlns:a16="http://schemas.microsoft.com/office/drawing/2014/main" val="1913271583"/>
                    </a:ext>
                  </a:extLst>
                </a:gridCol>
                <a:gridCol w="688252">
                  <a:extLst>
                    <a:ext uri="{9D8B030D-6E8A-4147-A177-3AD203B41FA5}">
                      <a16:colId xmlns:a16="http://schemas.microsoft.com/office/drawing/2014/main" val="1797281345"/>
                    </a:ext>
                  </a:extLst>
                </a:gridCol>
                <a:gridCol w="2158226">
                  <a:extLst>
                    <a:ext uri="{9D8B030D-6E8A-4147-A177-3AD203B41FA5}">
                      <a16:colId xmlns:a16="http://schemas.microsoft.com/office/drawing/2014/main" val="2743739350"/>
                    </a:ext>
                  </a:extLst>
                </a:gridCol>
                <a:gridCol w="569766">
                  <a:extLst>
                    <a:ext uri="{9D8B030D-6E8A-4147-A177-3AD203B41FA5}">
                      <a16:colId xmlns:a16="http://schemas.microsoft.com/office/drawing/2014/main" val="2056723756"/>
                    </a:ext>
                  </a:extLst>
                </a:gridCol>
                <a:gridCol w="602763">
                  <a:extLst>
                    <a:ext uri="{9D8B030D-6E8A-4147-A177-3AD203B41FA5}">
                      <a16:colId xmlns:a16="http://schemas.microsoft.com/office/drawing/2014/main" val="4073315665"/>
                    </a:ext>
                  </a:extLst>
                </a:gridCol>
                <a:gridCol w="876660">
                  <a:extLst>
                    <a:ext uri="{9D8B030D-6E8A-4147-A177-3AD203B41FA5}">
                      <a16:colId xmlns:a16="http://schemas.microsoft.com/office/drawing/2014/main" val="848560102"/>
                    </a:ext>
                  </a:extLst>
                </a:gridCol>
              </a:tblGrid>
              <a:tr h="194470">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Recognize Fixed Assets</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Lease commencement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1611550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Fixed Assets Under Operating Lease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162000">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Fixed Assets </a:t>
                      </a:r>
                      <a:r>
                        <a:rPr lang="en-US" sz="900" b="0" i="0" u="none" strike="noStrike" kern="1200">
                          <a:solidFill>
                            <a:srgbClr val="000000"/>
                          </a:solidFill>
                          <a:effectLst/>
                          <a:latin typeface="Arial" panose="020B0604020202020204" pitchFamily="34" charset="0"/>
                          <a:ea typeface="+mn-ea"/>
                          <a:cs typeface="+mn-cs"/>
                        </a:rPr>
                        <a:t>In Transit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graphicFrame>
        <p:nvGraphicFramePr>
          <p:cNvPr id="18" name="Table 94">
            <a:extLst>
              <a:ext uri="{FF2B5EF4-FFF2-40B4-BE49-F238E27FC236}">
                <a16:creationId xmlns:a16="http://schemas.microsoft.com/office/drawing/2014/main" id="{59B85CA1-F8F5-B3BE-B0C9-EB88FD6DC58A}"/>
              </a:ext>
            </a:extLst>
          </p:cNvPr>
          <p:cNvGraphicFramePr>
            <a:graphicFrameLocks noGrp="1"/>
          </p:cNvGraphicFramePr>
          <p:nvPr>
            <p:extLst>
              <p:ext uri="{D42A27DB-BD31-4B8C-83A1-F6EECF244321}">
                <p14:modId xmlns:p14="http://schemas.microsoft.com/office/powerpoint/2010/main" val="1796820659"/>
              </p:ext>
            </p:extLst>
          </p:nvPr>
        </p:nvGraphicFramePr>
        <p:xfrm>
          <a:off x="194097" y="3874202"/>
          <a:ext cx="5628286" cy="1269847"/>
        </p:xfrm>
        <a:graphic>
          <a:graphicData uri="http://schemas.openxmlformats.org/drawingml/2006/table">
            <a:tbl>
              <a:tblPr firstRow="1">
                <a:tableStyleId>{5C22544A-7EE6-4342-B048-85BDC9FD1C3A}</a:tableStyleId>
              </a:tblPr>
              <a:tblGrid>
                <a:gridCol w="428369">
                  <a:extLst>
                    <a:ext uri="{9D8B030D-6E8A-4147-A177-3AD203B41FA5}">
                      <a16:colId xmlns:a16="http://schemas.microsoft.com/office/drawing/2014/main" val="3200314054"/>
                    </a:ext>
                  </a:extLst>
                </a:gridCol>
                <a:gridCol w="308592">
                  <a:extLst>
                    <a:ext uri="{9D8B030D-6E8A-4147-A177-3AD203B41FA5}">
                      <a16:colId xmlns:a16="http://schemas.microsoft.com/office/drawing/2014/main" val="1913271583"/>
                    </a:ext>
                  </a:extLst>
                </a:gridCol>
                <a:gridCol w="673325">
                  <a:extLst>
                    <a:ext uri="{9D8B030D-6E8A-4147-A177-3AD203B41FA5}">
                      <a16:colId xmlns:a16="http://schemas.microsoft.com/office/drawing/2014/main" val="1797281345"/>
                    </a:ext>
                  </a:extLst>
                </a:gridCol>
                <a:gridCol w="2284750">
                  <a:extLst>
                    <a:ext uri="{9D8B030D-6E8A-4147-A177-3AD203B41FA5}">
                      <a16:colId xmlns:a16="http://schemas.microsoft.com/office/drawing/2014/main" val="2743739350"/>
                    </a:ext>
                  </a:extLst>
                </a:gridCol>
                <a:gridCol w="703000">
                  <a:extLst>
                    <a:ext uri="{9D8B030D-6E8A-4147-A177-3AD203B41FA5}">
                      <a16:colId xmlns:a16="http://schemas.microsoft.com/office/drawing/2014/main" val="2056723756"/>
                    </a:ext>
                  </a:extLst>
                </a:gridCol>
                <a:gridCol w="703000">
                  <a:extLst>
                    <a:ext uri="{9D8B030D-6E8A-4147-A177-3AD203B41FA5}">
                      <a16:colId xmlns:a16="http://schemas.microsoft.com/office/drawing/2014/main" val="4073315665"/>
                    </a:ext>
                  </a:extLst>
                </a:gridCol>
                <a:gridCol w="527250">
                  <a:extLst>
                    <a:ext uri="{9D8B030D-6E8A-4147-A177-3AD203B41FA5}">
                      <a16:colId xmlns:a16="http://schemas.microsoft.com/office/drawing/2014/main" val="848560102"/>
                    </a:ext>
                  </a:extLst>
                </a:gridCol>
              </a:tblGrid>
              <a:tr h="96858">
                <a:tc rowSpan="8">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Monthly Invoice issued to customer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05561">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94325">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93633">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1130103</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851737725"/>
                  </a:ext>
                </a:extLst>
              </a:tr>
              <a:tr h="10352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5010450</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Operating Lease Revenue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33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563725212"/>
                  </a:ext>
                </a:extLst>
              </a:tr>
              <a:tr h="186957">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5010401</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Services Revenue – Non</a:t>
                      </a:r>
                      <a:r>
                        <a:rPr lang="en-US" altLang="zh-CN" sz="900" b="0" i="0" u="none" strike="noStrike" kern="1200">
                          <a:solidFill>
                            <a:srgbClr val="000000"/>
                          </a:solidFill>
                          <a:effectLst/>
                          <a:latin typeface="Arial" panose="020B0604020202020204" pitchFamily="34" charset="0"/>
                          <a:ea typeface="+mn-ea"/>
                          <a:cs typeface="+mn-cs"/>
                        </a:rPr>
                        <a:t>-</a:t>
                      </a:r>
                      <a:r>
                        <a:rPr lang="en-US" sz="900" b="0" i="0" u="none" strike="noStrike" kern="1200">
                          <a:solidFill>
                            <a:srgbClr val="000000"/>
                          </a:solidFill>
                          <a:effectLst/>
                          <a:latin typeface="Arial" panose="020B0604020202020204" pitchFamily="34" charset="0"/>
                          <a:ea typeface="+mn-ea"/>
                          <a:cs typeface="+mn-cs"/>
                        </a:rPr>
                        <a:t>Funded Premier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475736748"/>
                  </a:ext>
                </a:extLst>
              </a:tr>
              <a:tr h="106513">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1.5</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834946976"/>
                  </a:ext>
                </a:extLst>
              </a:tr>
              <a:tr h="106513">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-ARS</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2450522"/>
                  </a:ext>
                </a:extLst>
              </a:tr>
            </a:tbl>
          </a:graphicData>
        </a:graphic>
      </p:graphicFrame>
      <p:grpSp>
        <p:nvGrpSpPr>
          <p:cNvPr id="19" name="Group 18">
            <a:extLst>
              <a:ext uri="{FF2B5EF4-FFF2-40B4-BE49-F238E27FC236}">
                <a16:creationId xmlns:a16="http://schemas.microsoft.com/office/drawing/2014/main" id="{39EEE570-DE9F-A346-0E3F-78F14DCB0801}"/>
              </a:ext>
            </a:extLst>
          </p:cNvPr>
          <p:cNvGrpSpPr/>
          <p:nvPr/>
        </p:nvGrpSpPr>
        <p:grpSpPr>
          <a:xfrm>
            <a:off x="11159606" y="35712"/>
            <a:ext cx="1032394" cy="698500"/>
            <a:chOff x="11159606" y="0"/>
            <a:chExt cx="1032394" cy="734212"/>
          </a:xfrm>
        </p:grpSpPr>
        <p:sp>
          <p:nvSpPr>
            <p:cNvPr id="20" name="Rectangle: Rounded Corners 19">
              <a:extLst>
                <a:ext uri="{FF2B5EF4-FFF2-40B4-BE49-F238E27FC236}">
                  <a16:creationId xmlns:a16="http://schemas.microsoft.com/office/drawing/2014/main" id="{D9A40B44-DAB8-B6C9-29D6-96380F4EC7EF}"/>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BRIM</a:t>
              </a:r>
            </a:p>
          </p:txBody>
        </p:sp>
        <p:sp>
          <p:nvSpPr>
            <p:cNvPr id="21" name="Rectangle: Rounded Corners 20">
              <a:extLst>
                <a:ext uri="{FF2B5EF4-FFF2-40B4-BE49-F238E27FC236}">
                  <a16:creationId xmlns:a16="http://schemas.microsoft.com/office/drawing/2014/main" id="{1F706150-8045-0FA5-DF5E-91714AF98652}"/>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ECC</a:t>
              </a:r>
            </a:p>
          </p:txBody>
        </p:sp>
        <p:sp>
          <p:nvSpPr>
            <p:cNvPr id="22" name="Rectangle: Rounded Corners 21">
              <a:extLst>
                <a:ext uri="{FF2B5EF4-FFF2-40B4-BE49-F238E27FC236}">
                  <a16:creationId xmlns:a16="http://schemas.microsoft.com/office/drawing/2014/main" id="{45E8C258-48EB-0737-AF0C-D1D5C0B45228}"/>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rPr>
                <a:t>Odessa</a:t>
              </a:r>
            </a:p>
          </p:txBody>
        </p:sp>
      </p:grpSp>
      <p:graphicFrame>
        <p:nvGraphicFramePr>
          <p:cNvPr id="5" name="Table 94">
            <a:extLst>
              <a:ext uri="{FF2B5EF4-FFF2-40B4-BE49-F238E27FC236}">
                <a16:creationId xmlns:a16="http://schemas.microsoft.com/office/drawing/2014/main" id="{92F16349-4059-6727-5287-1B619284A0C8}"/>
              </a:ext>
            </a:extLst>
          </p:cNvPr>
          <p:cNvGraphicFramePr>
            <a:graphicFrameLocks noGrp="1"/>
          </p:cNvGraphicFramePr>
          <p:nvPr>
            <p:extLst>
              <p:ext uri="{D42A27DB-BD31-4B8C-83A1-F6EECF244321}">
                <p14:modId xmlns:p14="http://schemas.microsoft.com/office/powerpoint/2010/main" val="1881019278"/>
              </p:ext>
            </p:extLst>
          </p:nvPr>
        </p:nvGraphicFramePr>
        <p:xfrm>
          <a:off x="194097" y="3009114"/>
          <a:ext cx="5643545" cy="828843"/>
        </p:xfrm>
        <a:graphic>
          <a:graphicData uri="http://schemas.openxmlformats.org/drawingml/2006/table">
            <a:tbl>
              <a:tblPr firstRow="1">
                <a:tableStyleId>{5C22544A-7EE6-4342-B048-85BDC9FD1C3A}</a:tableStyleId>
              </a:tblPr>
              <a:tblGrid>
                <a:gridCol w="455613">
                  <a:extLst>
                    <a:ext uri="{9D8B030D-6E8A-4147-A177-3AD203B41FA5}">
                      <a16:colId xmlns:a16="http://schemas.microsoft.com/office/drawing/2014/main" val="3200314054"/>
                    </a:ext>
                  </a:extLst>
                </a:gridCol>
                <a:gridCol w="314031">
                  <a:extLst>
                    <a:ext uri="{9D8B030D-6E8A-4147-A177-3AD203B41FA5}">
                      <a16:colId xmlns:a16="http://schemas.microsoft.com/office/drawing/2014/main" val="1913271583"/>
                    </a:ext>
                  </a:extLst>
                </a:gridCol>
                <a:gridCol w="685192">
                  <a:extLst>
                    <a:ext uri="{9D8B030D-6E8A-4147-A177-3AD203B41FA5}">
                      <a16:colId xmlns:a16="http://schemas.microsoft.com/office/drawing/2014/main" val="1797281345"/>
                    </a:ext>
                  </a:extLst>
                </a:gridCol>
                <a:gridCol w="2348871">
                  <a:extLst>
                    <a:ext uri="{9D8B030D-6E8A-4147-A177-3AD203B41FA5}">
                      <a16:colId xmlns:a16="http://schemas.microsoft.com/office/drawing/2014/main" val="2743739350"/>
                    </a:ext>
                  </a:extLst>
                </a:gridCol>
                <a:gridCol w="366992">
                  <a:extLst>
                    <a:ext uri="{9D8B030D-6E8A-4147-A177-3AD203B41FA5}">
                      <a16:colId xmlns:a16="http://schemas.microsoft.com/office/drawing/2014/main" val="2056723756"/>
                    </a:ext>
                  </a:extLst>
                </a:gridCol>
                <a:gridCol w="600084">
                  <a:extLst>
                    <a:ext uri="{9D8B030D-6E8A-4147-A177-3AD203B41FA5}">
                      <a16:colId xmlns:a16="http://schemas.microsoft.com/office/drawing/2014/main" val="4073315665"/>
                    </a:ext>
                  </a:extLst>
                </a:gridCol>
                <a:gridCol w="872762">
                  <a:extLst>
                    <a:ext uri="{9D8B030D-6E8A-4147-A177-3AD203B41FA5}">
                      <a16:colId xmlns:a16="http://schemas.microsoft.com/office/drawing/2014/main" val="848560102"/>
                    </a:ext>
                  </a:extLst>
                </a:gridCol>
              </a:tblGrid>
              <a:tr h="194470">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Recognize Funded Service interest income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Lease commencement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48373">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12</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12</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424055017"/>
                  </a:ext>
                </a:extLst>
              </a:tr>
              <a:tr h="162000">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12</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12</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928750259"/>
                  </a:ext>
                </a:extLst>
              </a:tr>
            </a:tbl>
          </a:graphicData>
        </a:graphic>
      </p:graphicFrame>
      <p:graphicFrame>
        <p:nvGraphicFramePr>
          <p:cNvPr id="4" name="Table 2">
            <a:extLst>
              <a:ext uri="{FF2B5EF4-FFF2-40B4-BE49-F238E27FC236}">
                <a16:creationId xmlns:a16="http://schemas.microsoft.com/office/drawing/2014/main" id="{FEB37F1E-747C-99E0-A474-CBE2B390E5C4}"/>
              </a:ext>
            </a:extLst>
          </p:cNvPr>
          <p:cNvGraphicFramePr>
            <a:graphicFrameLocks noGrp="1"/>
          </p:cNvGraphicFramePr>
          <p:nvPr>
            <p:extLst>
              <p:ext uri="{D42A27DB-BD31-4B8C-83A1-F6EECF244321}">
                <p14:modId xmlns:p14="http://schemas.microsoft.com/office/powerpoint/2010/main" val="711561255"/>
              </p:ext>
            </p:extLst>
          </p:nvPr>
        </p:nvGraphicFramePr>
        <p:xfrm>
          <a:off x="178840" y="5173392"/>
          <a:ext cx="5643543" cy="739460"/>
        </p:xfrm>
        <a:graphic>
          <a:graphicData uri="http://schemas.openxmlformats.org/drawingml/2006/table">
            <a:tbl>
              <a:tblPr firstRow="1">
                <a:tableStyleId>{5C22544A-7EE6-4342-B048-85BDC9FD1C3A}</a:tableStyleId>
              </a:tblPr>
              <a:tblGrid>
                <a:gridCol w="428900">
                  <a:extLst>
                    <a:ext uri="{9D8B030D-6E8A-4147-A177-3AD203B41FA5}">
                      <a16:colId xmlns:a16="http://schemas.microsoft.com/office/drawing/2014/main" val="3200314054"/>
                    </a:ext>
                  </a:extLst>
                </a:gridCol>
                <a:gridCol w="188910">
                  <a:extLst>
                    <a:ext uri="{9D8B030D-6E8A-4147-A177-3AD203B41FA5}">
                      <a16:colId xmlns:a16="http://schemas.microsoft.com/office/drawing/2014/main" val="1913271583"/>
                    </a:ext>
                  </a:extLst>
                </a:gridCol>
                <a:gridCol w="667178">
                  <a:extLst>
                    <a:ext uri="{9D8B030D-6E8A-4147-A177-3AD203B41FA5}">
                      <a16:colId xmlns:a16="http://schemas.microsoft.com/office/drawing/2014/main" val="1797281345"/>
                    </a:ext>
                  </a:extLst>
                </a:gridCol>
                <a:gridCol w="2130848">
                  <a:extLst>
                    <a:ext uri="{9D8B030D-6E8A-4147-A177-3AD203B41FA5}">
                      <a16:colId xmlns:a16="http://schemas.microsoft.com/office/drawing/2014/main" val="2743739350"/>
                    </a:ext>
                  </a:extLst>
                </a:gridCol>
                <a:gridCol w="639003">
                  <a:extLst>
                    <a:ext uri="{9D8B030D-6E8A-4147-A177-3AD203B41FA5}">
                      <a16:colId xmlns:a16="http://schemas.microsoft.com/office/drawing/2014/main" val="2056723756"/>
                    </a:ext>
                  </a:extLst>
                </a:gridCol>
                <a:gridCol w="711448">
                  <a:extLst>
                    <a:ext uri="{9D8B030D-6E8A-4147-A177-3AD203B41FA5}">
                      <a16:colId xmlns:a16="http://schemas.microsoft.com/office/drawing/2014/main" val="4073315665"/>
                    </a:ext>
                  </a:extLst>
                </a:gridCol>
                <a:gridCol w="877256">
                  <a:extLst>
                    <a:ext uri="{9D8B030D-6E8A-4147-A177-3AD203B41FA5}">
                      <a16:colId xmlns:a16="http://schemas.microsoft.com/office/drawing/2014/main" val="848560102"/>
                    </a:ext>
                  </a:extLst>
                </a:gridCol>
              </a:tblGrid>
              <a:tr h="96327">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Factory service split​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96327">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M0, follow as-is FS split logic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96327">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98254">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9825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5010401</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 – FS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911046863"/>
                  </a:ext>
                </a:extLst>
              </a:tr>
            </a:tbl>
          </a:graphicData>
        </a:graphic>
      </p:graphicFrame>
      <p:sp>
        <p:nvSpPr>
          <p:cNvPr id="13" name="标题 2">
            <a:extLst>
              <a:ext uri="{FF2B5EF4-FFF2-40B4-BE49-F238E27FC236}">
                <a16:creationId xmlns:a16="http://schemas.microsoft.com/office/drawing/2014/main" id="{9FE6AF24-5400-1D96-A481-C03EDA9F19DA}"/>
              </a:ext>
            </a:extLst>
          </p:cNvPr>
          <p:cNvSpPr>
            <a:spLocks noGrp="1"/>
          </p:cNvSpPr>
          <p:nvPr>
            <p:ph type="title"/>
          </p:nvPr>
        </p:nvSpPr>
        <p:spPr>
          <a:xfrm>
            <a:off x="281228" y="48625"/>
            <a:ext cx="11188700" cy="698500"/>
          </a:xfrm>
        </p:spPr>
        <p:txBody>
          <a:bodyPr>
            <a:normAutofit/>
          </a:bodyPr>
          <a:lstStyle/>
          <a:p>
            <a:pPr algn="ctr"/>
            <a:r>
              <a:rPr lang="en-US" altLang="zh-CN" sz="3200">
                <a:latin typeface="Arial" panose="020B0604020202020204" pitchFamily="34" charset="0"/>
                <a:cs typeface="Arial" panose="020B0604020202020204" pitchFamily="34" charset="0"/>
              </a:rPr>
              <a:t>S&amp;D: Operating Lease ————</a:t>
            </a:r>
            <a:r>
              <a:rPr lang="zh-CN" altLang="en-US" sz="3200">
                <a:latin typeface="Arial" panose="020B0604020202020204" pitchFamily="34" charset="0"/>
                <a:cs typeface="Arial" panose="020B0604020202020204" pitchFamily="34" charset="0"/>
              </a:rPr>
              <a:t> </a:t>
            </a:r>
            <a:r>
              <a:rPr lang="en-US" altLang="zh-CN" sz="3200">
                <a:latin typeface="Arial" panose="020B0604020202020204" pitchFamily="34" charset="0"/>
                <a:cs typeface="Arial" panose="020B0604020202020204" pitchFamily="34" charset="0"/>
              </a:rPr>
              <a:t>Finance Lease </a:t>
            </a:r>
            <a:endParaRPr lang="zh-CN" altLang="en-US" sz="3200">
              <a:latin typeface="Arial" panose="020B0604020202020204" pitchFamily="34" charset="0"/>
              <a:cs typeface="Arial" panose="020B0604020202020204" pitchFamily="34" charset="0"/>
            </a:endParaRPr>
          </a:p>
        </p:txBody>
      </p:sp>
      <p:graphicFrame>
        <p:nvGraphicFramePr>
          <p:cNvPr id="23" name="Table 94">
            <a:extLst>
              <a:ext uri="{FF2B5EF4-FFF2-40B4-BE49-F238E27FC236}">
                <a16:creationId xmlns:a16="http://schemas.microsoft.com/office/drawing/2014/main" id="{3B4B2359-8D4C-114F-A627-AAC7FCCAF372}"/>
              </a:ext>
            </a:extLst>
          </p:cNvPr>
          <p:cNvGraphicFramePr>
            <a:graphicFrameLocks noGrp="1"/>
          </p:cNvGraphicFramePr>
          <p:nvPr>
            <p:extLst>
              <p:ext uri="{D42A27DB-BD31-4B8C-83A1-F6EECF244321}">
                <p14:modId xmlns:p14="http://schemas.microsoft.com/office/powerpoint/2010/main" val="4075916877"/>
              </p:ext>
            </p:extLst>
          </p:nvPr>
        </p:nvGraphicFramePr>
        <p:xfrm>
          <a:off x="6013642" y="5277903"/>
          <a:ext cx="5775988" cy="1412716"/>
        </p:xfrm>
        <a:graphic>
          <a:graphicData uri="http://schemas.openxmlformats.org/drawingml/2006/table">
            <a:tbl>
              <a:tblPr firstRow="1">
                <a:tableStyleId>{5C22544A-7EE6-4342-B048-85BDC9FD1C3A}</a:tableStyleId>
              </a:tblPr>
              <a:tblGrid>
                <a:gridCol w="371095">
                  <a:extLst>
                    <a:ext uri="{9D8B030D-6E8A-4147-A177-3AD203B41FA5}">
                      <a16:colId xmlns:a16="http://schemas.microsoft.com/office/drawing/2014/main" val="3200314054"/>
                    </a:ext>
                  </a:extLst>
                </a:gridCol>
                <a:gridCol w="251348">
                  <a:extLst>
                    <a:ext uri="{9D8B030D-6E8A-4147-A177-3AD203B41FA5}">
                      <a16:colId xmlns:a16="http://schemas.microsoft.com/office/drawing/2014/main" val="1913271583"/>
                    </a:ext>
                  </a:extLst>
                </a:gridCol>
                <a:gridCol w="548422">
                  <a:extLst>
                    <a:ext uri="{9D8B030D-6E8A-4147-A177-3AD203B41FA5}">
                      <a16:colId xmlns:a16="http://schemas.microsoft.com/office/drawing/2014/main" val="1797281345"/>
                    </a:ext>
                  </a:extLst>
                </a:gridCol>
                <a:gridCol w="2184400">
                  <a:extLst>
                    <a:ext uri="{9D8B030D-6E8A-4147-A177-3AD203B41FA5}">
                      <a16:colId xmlns:a16="http://schemas.microsoft.com/office/drawing/2014/main" val="2743739350"/>
                    </a:ext>
                  </a:extLst>
                </a:gridCol>
                <a:gridCol w="273050">
                  <a:extLst>
                    <a:ext uri="{9D8B030D-6E8A-4147-A177-3AD203B41FA5}">
                      <a16:colId xmlns:a16="http://schemas.microsoft.com/office/drawing/2014/main" val="2056723756"/>
                    </a:ext>
                  </a:extLst>
                </a:gridCol>
                <a:gridCol w="273050">
                  <a:extLst>
                    <a:ext uri="{9D8B030D-6E8A-4147-A177-3AD203B41FA5}">
                      <a16:colId xmlns:a16="http://schemas.microsoft.com/office/drawing/2014/main" val="4073315665"/>
                    </a:ext>
                  </a:extLst>
                </a:gridCol>
                <a:gridCol w="356728">
                  <a:extLst>
                    <a:ext uri="{9D8B030D-6E8A-4147-A177-3AD203B41FA5}">
                      <a16:colId xmlns:a16="http://schemas.microsoft.com/office/drawing/2014/main" val="169605660"/>
                    </a:ext>
                  </a:extLst>
                </a:gridCol>
                <a:gridCol w="420228">
                  <a:extLst>
                    <a:ext uri="{9D8B030D-6E8A-4147-A177-3AD203B41FA5}">
                      <a16:colId xmlns:a16="http://schemas.microsoft.com/office/drawing/2014/main" val="599234496"/>
                    </a:ext>
                  </a:extLst>
                </a:gridCol>
                <a:gridCol w="273786">
                  <a:extLst>
                    <a:ext uri="{9D8B030D-6E8A-4147-A177-3AD203B41FA5}">
                      <a16:colId xmlns:a16="http://schemas.microsoft.com/office/drawing/2014/main" val="1573636133"/>
                    </a:ext>
                  </a:extLst>
                </a:gridCol>
                <a:gridCol w="394436">
                  <a:extLst>
                    <a:ext uri="{9D8B030D-6E8A-4147-A177-3AD203B41FA5}">
                      <a16:colId xmlns:a16="http://schemas.microsoft.com/office/drawing/2014/main" val="270655957"/>
                    </a:ext>
                  </a:extLst>
                </a:gridCol>
                <a:gridCol w="429445">
                  <a:extLst>
                    <a:ext uri="{9D8B030D-6E8A-4147-A177-3AD203B41FA5}">
                      <a16:colId xmlns:a16="http://schemas.microsoft.com/office/drawing/2014/main" val="848560102"/>
                    </a:ext>
                  </a:extLst>
                </a:gridCol>
              </a:tblGrid>
              <a:tr h="111715">
                <a:tc rowSpan="8">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Monthly Invoice issued to customer –new contract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21753">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Billing (from 37th month)</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E9F5F9"/>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42942">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23335">
                <a:tc vMerge="1">
                  <a:txBody>
                    <a:bodyPr/>
                    <a:lstStyle/>
                    <a:p>
                      <a:endParaRPr 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1130103</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2851737725"/>
                  </a:ext>
                </a:extLst>
              </a:tr>
              <a:tr h="119408">
                <a:tc vMerge="1">
                  <a:txBody>
                    <a:bodyPr/>
                    <a:lstStyle/>
                    <a:p>
                      <a:endParaRPr 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1400301</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563725212"/>
                  </a:ext>
                </a:extLst>
              </a:tr>
              <a:tr h="215634">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5010401</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Services Revenue – Non</a:t>
                      </a:r>
                      <a:r>
                        <a:rPr lang="en-US" altLang="zh-CN" sz="900" b="0" i="0" u="none" strike="noStrike" kern="1200">
                          <a:solidFill>
                            <a:srgbClr val="000000"/>
                          </a:solidFill>
                          <a:effectLst/>
                          <a:latin typeface="Arial" panose="020B0604020202020204" pitchFamily="34" charset="0"/>
                          <a:ea typeface="+mn-ea"/>
                          <a:cs typeface="+mn-cs"/>
                        </a:rPr>
                        <a:t>-</a:t>
                      </a:r>
                      <a:r>
                        <a:rPr lang="en-US" sz="900" b="0" i="0" u="none" strike="noStrike" kern="1200">
                          <a:solidFill>
                            <a:srgbClr val="000000"/>
                          </a:solidFill>
                          <a:effectLst/>
                          <a:latin typeface="Arial" panose="020B0604020202020204" pitchFamily="34" charset="0"/>
                          <a:ea typeface="+mn-ea"/>
                          <a:cs typeface="+mn-cs"/>
                        </a:rPr>
                        <a:t>Funded Premier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SVC</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475736748"/>
                  </a:ext>
                </a:extLst>
              </a:tr>
              <a:tr h="122851">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834946976"/>
                  </a:ext>
                </a:extLst>
              </a:tr>
              <a:tr h="139692">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SVC</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422450522"/>
                  </a:ext>
                </a:extLst>
              </a:tr>
            </a:tbl>
          </a:graphicData>
        </a:graphic>
      </p:graphicFrame>
      <p:sp>
        <p:nvSpPr>
          <p:cNvPr id="28" name="对话气泡: 矩形 27">
            <a:extLst>
              <a:ext uri="{FF2B5EF4-FFF2-40B4-BE49-F238E27FC236}">
                <a16:creationId xmlns:a16="http://schemas.microsoft.com/office/drawing/2014/main" id="{1F6694F1-50FD-C840-C646-F794E4E94ED2}"/>
              </a:ext>
            </a:extLst>
          </p:cNvPr>
          <p:cNvSpPr/>
          <p:nvPr/>
        </p:nvSpPr>
        <p:spPr>
          <a:xfrm>
            <a:off x="12394528" y="617170"/>
            <a:ext cx="1359509" cy="1977417"/>
          </a:xfrm>
          <a:prstGeom prst="wedgeRectCallout">
            <a:avLst>
              <a:gd name="adj1" fmla="val -92355"/>
              <a:gd name="adj2" fmla="val -1002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It is assumed that after the lease term is extended, the monthly collection amount of upfront Service will decrease accordingly. But the total amount increased</a:t>
            </a:r>
          </a:p>
        </p:txBody>
      </p:sp>
      <p:sp>
        <p:nvSpPr>
          <p:cNvPr id="6" name="文本框 5">
            <a:extLst>
              <a:ext uri="{FF2B5EF4-FFF2-40B4-BE49-F238E27FC236}">
                <a16:creationId xmlns:a16="http://schemas.microsoft.com/office/drawing/2014/main" id="{B7E0D5ED-5881-CE4F-589B-7963A80073F3}"/>
              </a:ext>
            </a:extLst>
          </p:cNvPr>
          <p:cNvSpPr txBox="1"/>
          <p:nvPr/>
        </p:nvSpPr>
        <p:spPr>
          <a:xfrm>
            <a:off x="5844901" y="89624"/>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sp>
        <p:nvSpPr>
          <p:cNvPr id="11" name="对话气泡: 矩形 10">
            <a:extLst>
              <a:ext uri="{FF2B5EF4-FFF2-40B4-BE49-F238E27FC236}">
                <a16:creationId xmlns:a16="http://schemas.microsoft.com/office/drawing/2014/main" id="{662BFA7C-6860-5884-899F-DF25EF616473}"/>
              </a:ext>
            </a:extLst>
          </p:cNvPr>
          <p:cNvSpPr/>
          <p:nvPr/>
        </p:nvSpPr>
        <p:spPr>
          <a:xfrm>
            <a:off x="6096000" y="1787435"/>
            <a:ext cx="4788310" cy="326025"/>
          </a:xfrm>
          <a:prstGeom prst="wedgeRectCallout">
            <a:avLst>
              <a:gd name="adj1" fmla="val 16994"/>
              <a:gd name="adj2" fmla="val -7795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000">
                <a:solidFill>
                  <a:schemeClr val="tx1"/>
                </a:solidFill>
                <a:latin typeface="Arial" panose="020B0604020202020204" pitchFamily="34" charset="0"/>
                <a:cs typeface="Arial" panose="020B0604020202020204" pitchFamily="34" charset="0"/>
              </a:rPr>
              <a:t>Calculation logic: </a:t>
            </a:r>
          </a:p>
          <a:p>
            <a:r>
              <a:rPr lang="en-US" altLang="zh-CN" sz="1000">
                <a:solidFill>
                  <a:schemeClr val="tx1"/>
                </a:solidFill>
                <a:latin typeface="Arial" panose="020B0604020202020204" pitchFamily="34" charset="0"/>
                <a:cs typeface="Arial" panose="020B0604020202020204" pitchFamily="34" charset="0"/>
              </a:rPr>
              <a:t>=rewrite upfront amt *new lease term -original upfront amt*remaining months</a:t>
            </a:r>
            <a:endParaRPr lang="zh-CN" altLang="en-US" sz="1000">
              <a:solidFill>
                <a:schemeClr val="tx1"/>
              </a:solidFill>
              <a:latin typeface="Arial" panose="020B0604020202020204" pitchFamily="34" charset="0"/>
              <a:cs typeface="Arial" panose="020B0604020202020204" pitchFamily="34" charset="0"/>
            </a:endParaRPr>
          </a:p>
        </p:txBody>
      </p:sp>
      <p:sp>
        <p:nvSpPr>
          <p:cNvPr id="17" name="对话气泡: 矩形 16">
            <a:extLst>
              <a:ext uri="{FF2B5EF4-FFF2-40B4-BE49-F238E27FC236}">
                <a16:creationId xmlns:a16="http://schemas.microsoft.com/office/drawing/2014/main" id="{8692A404-978A-51EA-DEA2-74C29D9F9AE4}"/>
              </a:ext>
            </a:extLst>
          </p:cNvPr>
          <p:cNvSpPr/>
          <p:nvPr/>
        </p:nvSpPr>
        <p:spPr>
          <a:xfrm>
            <a:off x="12394527" y="5543122"/>
            <a:ext cx="1359509" cy="1395416"/>
          </a:xfrm>
          <a:prstGeom prst="wedgeRectCallout">
            <a:avLst>
              <a:gd name="adj1" fmla="val -92355"/>
              <a:gd name="adj2" fmla="val -1002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Subsequent steps such as ARS revenue recognition are consistent with normal OL solution.</a:t>
            </a:r>
          </a:p>
        </p:txBody>
      </p:sp>
      <p:graphicFrame>
        <p:nvGraphicFramePr>
          <p:cNvPr id="8" name="Table 94">
            <a:extLst>
              <a:ext uri="{FF2B5EF4-FFF2-40B4-BE49-F238E27FC236}">
                <a16:creationId xmlns:a16="http://schemas.microsoft.com/office/drawing/2014/main" id="{A3813B0B-4C48-3633-BC0F-9FEFB1D59B55}"/>
              </a:ext>
            </a:extLst>
          </p:cNvPr>
          <p:cNvGraphicFramePr>
            <a:graphicFrameLocks noGrp="1"/>
          </p:cNvGraphicFramePr>
          <p:nvPr>
            <p:extLst>
              <p:ext uri="{D42A27DB-BD31-4B8C-83A1-F6EECF244321}">
                <p14:modId xmlns:p14="http://schemas.microsoft.com/office/powerpoint/2010/main" val="3152600266"/>
              </p:ext>
            </p:extLst>
          </p:nvPr>
        </p:nvGraphicFramePr>
        <p:xfrm>
          <a:off x="5991311" y="2143075"/>
          <a:ext cx="5723534" cy="1094129"/>
        </p:xfrm>
        <a:graphic>
          <a:graphicData uri="http://schemas.openxmlformats.org/drawingml/2006/table">
            <a:tbl>
              <a:tblPr firstRow="1">
                <a:tableStyleId>{5C22544A-7EE6-4342-B048-85BDC9FD1C3A}</a:tableStyleId>
              </a:tblPr>
              <a:tblGrid>
                <a:gridCol w="355541">
                  <a:extLst>
                    <a:ext uri="{9D8B030D-6E8A-4147-A177-3AD203B41FA5}">
                      <a16:colId xmlns:a16="http://schemas.microsoft.com/office/drawing/2014/main" val="3200314054"/>
                    </a:ext>
                  </a:extLst>
                </a:gridCol>
                <a:gridCol w="162177">
                  <a:extLst>
                    <a:ext uri="{9D8B030D-6E8A-4147-A177-3AD203B41FA5}">
                      <a16:colId xmlns:a16="http://schemas.microsoft.com/office/drawing/2014/main" val="1913271583"/>
                    </a:ext>
                  </a:extLst>
                </a:gridCol>
                <a:gridCol w="659130">
                  <a:extLst>
                    <a:ext uri="{9D8B030D-6E8A-4147-A177-3AD203B41FA5}">
                      <a16:colId xmlns:a16="http://schemas.microsoft.com/office/drawing/2014/main" val="1797281345"/>
                    </a:ext>
                  </a:extLst>
                </a:gridCol>
                <a:gridCol w="1924050">
                  <a:extLst>
                    <a:ext uri="{9D8B030D-6E8A-4147-A177-3AD203B41FA5}">
                      <a16:colId xmlns:a16="http://schemas.microsoft.com/office/drawing/2014/main" val="2743739350"/>
                    </a:ext>
                  </a:extLst>
                </a:gridCol>
                <a:gridCol w="429145">
                  <a:extLst>
                    <a:ext uri="{9D8B030D-6E8A-4147-A177-3AD203B41FA5}">
                      <a16:colId xmlns:a16="http://schemas.microsoft.com/office/drawing/2014/main" val="2056723756"/>
                    </a:ext>
                  </a:extLst>
                </a:gridCol>
                <a:gridCol w="405825">
                  <a:extLst>
                    <a:ext uri="{9D8B030D-6E8A-4147-A177-3AD203B41FA5}">
                      <a16:colId xmlns:a16="http://schemas.microsoft.com/office/drawing/2014/main" val="4073315665"/>
                    </a:ext>
                  </a:extLst>
                </a:gridCol>
                <a:gridCol w="280691">
                  <a:extLst>
                    <a:ext uri="{9D8B030D-6E8A-4147-A177-3AD203B41FA5}">
                      <a16:colId xmlns:a16="http://schemas.microsoft.com/office/drawing/2014/main" val="3041128711"/>
                    </a:ext>
                  </a:extLst>
                </a:gridCol>
                <a:gridCol w="420228">
                  <a:extLst>
                    <a:ext uri="{9D8B030D-6E8A-4147-A177-3AD203B41FA5}">
                      <a16:colId xmlns:a16="http://schemas.microsoft.com/office/drawing/2014/main" val="673312871"/>
                    </a:ext>
                  </a:extLst>
                </a:gridCol>
                <a:gridCol w="405825">
                  <a:extLst>
                    <a:ext uri="{9D8B030D-6E8A-4147-A177-3AD203B41FA5}">
                      <a16:colId xmlns:a16="http://schemas.microsoft.com/office/drawing/2014/main" val="474361888"/>
                    </a:ext>
                  </a:extLst>
                </a:gridCol>
                <a:gridCol w="394436">
                  <a:extLst>
                    <a:ext uri="{9D8B030D-6E8A-4147-A177-3AD203B41FA5}">
                      <a16:colId xmlns:a16="http://schemas.microsoft.com/office/drawing/2014/main" val="1176865574"/>
                    </a:ext>
                  </a:extLst>
                </a:gridCol>
                <a:gridCol w="286486">
                  <a:extLst>
                    <a:ext uri="{9D8B030D-6E8A-4147-A177-3AD203B41FA5}">
                      <a16:colId xmlns:a16="http://schemas.microsoft.com/office/drawing/2014/main" val="848560102"/>
                    </a:ext>
                  </a:extLst>
                </a:gridCol>
              </a:tblGrid>
              <a:tr h="47158">
                <a:tc rowSpan="6">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Mid term Rewrite- transfer fixed assets to GIT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47158">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rewrite active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Fixed Assets </a:t>
                      </a:r>
                      <a:r>
                        <a:rPr lang="en-US" sz="900" b="0" i="0" u="none" strike="noStrike" kern="1200">
                          <a:solidFill>
                            <a:srgbClr val="000000"/>
                          </a:solidFill>
                          <a:effectLst/>
                          <a:latin typeface="Arial" panose="020B0604020202020204" pitchFamily="34" charset="0"/>
                          <a:ea typeface="+mn-ea"/>
                          <a:cs typeface="+mn-cs"/>
                        </a:rPr>
                        <a:t>In Transit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656.6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654.6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0">
                <a:tc vMerge="1">
                  <a:txBody>
                    <a:bodyPr/>
                    <a:lstStyle/>
                    <a:p>
                      <a:endParaRPr lang="zh-CN" alt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1611550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Fixed Assets Under Operating Lease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11219793"/>
                  </a:ext>
                </a:extLst>
              </a:tr>
              <a:tr h="0">
                <a:tc vMerge="1">
                  <a:txBody>
                    <a:bodyPr/>
                    <a:lstStyle/>
                    <a:p>
                      <a:endParaRPr 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1651550​</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Accumulated Depreciation​</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18.5​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15.5​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graphicFrame>
        <p:nvGraphicFramePr>
          <p:cNvPr id="29" name="表格 28">
            <a:extLst>
              <a:ext uri="{FF2B5EF4-FFF2-40B4-BE49-F238E27FC236}">
                <a16:creationId xmlns:a16="http://schemas.microsoft.com/office/drawing/2014/main" id="{2A6A96F1-08BE-5E04-B0CE-95AB37C324F3}"/>
              </a:ext>
            </a:extLst>
          </p:cNvPr>
          <p:cNvGraphicFramePr>
            <a:graphicFrameLocks noGrp="1"/>
          </p:cNvGraphicFramePr>
          <p:nvPr>
            <p:extLst>
              <p:ext uri="{D42A27DB-BD31-4B8C-83A1-F6EECF244321}">
                <p14:modId xmlns:p14="http://schemas.microsoft.com/office/powerpoint/2010/main" val="4112706533"/>
              </p:ext>
            </p:extLst>
          </p:nvPr>
        </p:nvGraphicFramePr>
        <p:xfrm>
          <a:off x="5982389" y="3239924"/>
          <a:ext cx="5630484" cy="2015765"/>
        </p:xfrm>
        <a:graphic>
          <a:graphicData uri="http://schemas.openxmlformats.org/drawingml/2006/table">
            <a:tbl>
              <a:tblPr/>
              <a:tblGrid>
                <a:gridCol w="439278">
                  <a:extLst>
                    <a:ext uri="{9D8B030D-6E8A-4147-A177-3AD203B41FA5}">
                      <a16:colId xmlns:a16="http://schemas.microsoft.com/office/drawing/2014/main" val="1828247229"/>
                    </a:ext>
                  </a:extLst>
                </a:gridCol>
                <a:gridCol w="249316">
                  <a:extLst>
                    <a:ext uri="{9D8B030D-6E8A-4147-A177-3AD203B41FA5}">
                      <a16:colId xmlns:a16="http://schemas.microsoft.com/office/drawing/2014/main" val="4141232291"/>
                    </a:ext>
                  </a:extLst>
                </a:gridCol>
                <a:gridCol w="677858">
                  <a:extLst>
                    <a:ext uri="{9D8B030D-6E8A-4147-A177-3AD203B41FA5}">
                      <a16:colId xmlns:a16="http://schemas.microsoft.com/office/drawing/2014/main" val="672845899"/>
                    </a:ext>
                  </a:extLst>
                </a:gridCol>
                <a:gridCol w="1351325">
                  <a:extLst>
                    <a:ext uri="{9D8B030D-6E8A-4147-A177-3AD203B41FA5}">
                      <a16:colId xmlns:a16="http://schemas.microsoft.com/office/drawing/2014/main" val="3529420061"/>
                    </a:ext>
                  </a:extLst>
                </a:gridCol>
                <a:gridCol w="657638">
                  <a:extLst>
                    <a:ext uri="{9D8B030D-6E8A-4147-A177-3AD203B41FA5}">
                      <a16:colId xmlns:a16="http://schemas.microsoft.com/office/drawing/2014/main" val="2294942003"/>
                    </a:ext>
                  </a:extLst>
                </a:gridCol>
                <a:gridCol w="410943">
                  <a:extLst>
                    <a:ext uri="{9D8B030D-6E8A-4147-A177-3AD203B41FA5}">
                      <a16:colId xmlns:a16="http://schemas.microsoft.com/office/drawing/2014/main" val="4273387575"/>
                    </a:ext>
                  </a:extLst>
                </a:gridCol>
                <a:gridCol w="293472">
                  <a:extLst>
                    <a:ext uri="{9D8B030D-6E8A-4147-A177-3AD203B41FA5}">
                      <a16:colId xmlns:a16="http://schemas.microsoft.com/office/drawing/2014/main" val="1603564649"/>
                    </a:ext>
                  </a:extLst>
                </a:gridCol>
                <a:gridCol w="432168">
                  <a:extLst>
                    <a:ext uri="{9D8B030D-6E8A-4147-A177-3AD203B41FA5}">
                      <a16:colId xmlns:a16="http://schemas.microsoft.com/office/drawing/2014/main" val="666076507"/>
                    </a:ext>
                  </a:extLst>
                </a:gridCol>
                <a:gridCol w="292893">
                  <a:extLst>
                    <a:ext uri="{9D8B030D-6E8A-4147-A177-3AD203B41FA5}">
                      <a16:colId xmlns:a16="http://schemas.microsoft.com/office/drawing/2014/main" val="3683687233"/>
                    </a:ext>
                  </a:extLst>
                </a:gridCol>
                <a:gridCol w="402454">
                  <a:extLst>
                    <a:ext uri="{9D8B030D-6E8A-4147-A177-3AD203B41FA5}">
                      <a16:colId xmlns:a16="http://schemas.microsoft.com/office/drawing/2014/main" val="296807624"/>
                    </a:ext>
                  </a:extLst>
                </a:gridCol>
                <a:gridCol w="423139">
                  <a:extLst>
                    <a:ext uri="{9D8B030D-6E8A-4147-A177-3AD203B41FA5}">
                      <a16:colId xmlns:a16="http://schemas.microsoft.com/office/drawing/2014/main" val="845238753"/>
                    </a:ext>
                  </a:extLst>
                </a:gridCol>
              </a:tblGrid>
              <a:tr h="159906">
                <a:tc rowSpan="10">
                  <a:txBody>
                    <a:bodyPr/>
                    <a:lstStyle/>
                    <a:p>
                      <a:pPr marL="0" indent="0" algn="ctr" fontAlgn="base">
                        <a:lnSpc>
                          <a:spcPts val="1200"/>
                        </a:lnSpc>
                        <a:buNone/>
                      </a:pPr>
                      <a:r>
                        <a:rPr lang="en-US" sz="900" b="1" i="0" u="none" strike="noStrike" kern="1200">
                          <a:solidFill>
                            <a:srgbClr val="FFFFFF"/>
                          </a:solidFill>
                          <a:effectLst/>
                          <a:latin typeface="Arial" panose="020B0604020202020204" pitchFamily="34" charset="0"/>
                          <a:ea typeface="+mn-ea"/>
                          <a:cs typeface="+mn-cs"/>
                        </a:rPr>
                        <a:t>S&amp;D</a:t>
                      </a:r>
                      <a:br>
                        <a:rPr lang="en-US" sz="900" b="1" i="0" u="none" strike="noStrike" kern="1200">
                          <a:solidFill>
                            <a:srgbClr val="FFFFFF"/>
                          </a:solidFill>
                          <a:effectLst/>
                          <a:latin typeface="Arial" panose="020B0604020202020204" pitchFamily="34" charset="0"/>
                          <a:ea typeface="+mn-ea"/>
                          <a:cs typeface="+mn-cs"/>
                        </a:rPr>
                      </a:br>
                      <a:r>
                        <a:rPr lang="en-US" sz="900" b="1" i="0" u="none" strike="noStrike" kern="1200">
                          <a:solidFill>
                            <a:srgbClr val="FFFFFF"/>
                          </a:solidFill>
                          <a:effectLst/>
                          <a:latin typeface="Arial" panose="020B0604020202020204" pitchFamily="34" charset="0"/>
                          <a:ea typeface="+mn-ea"/>
                          <a:cs typeface="+mn-cs"/>
                        </a:rPr>
                        <a:t>Entity​</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auto">
                        <a:lnSpc>
                          <a:spcPts val="1200"/>
                        </a:lnSpc>
                        <a:buNone/>
                      </a:pPr>
                      <a:r>
                        <a:rPr lang="en-US" sz="900" b="1" i="0" u="none" strike="noStrike" kern="1200">
                          <a:solidFill>
                            <a:srgbClr val="FFFFFF"/>
                          </a:solidFill>
                          <a:effectLst/>
                          <a:latin typeface="Arial" panose="020B0604020202020204" pitchFamily="34" charset="0"/>
                          <a:ea typeface="+mn-ea"/>
                          <a:cs typeface="+mn-cs"/>
                        </a:rPr>
                        <a:t>Mid-term Rewrite - Recognize Finance Lease Revenue + Cost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95250" indent="0" algn="l" fontAlgn="auto">
                        <a:lnSpc>
                          <a:spcPts val="1200"/>
                        </a:lnSpc>
                        <a:buNone/>
                      </a:pPr>
                      <a:endParaRPr lang="en-US" sz="1000" b="1" i="0" u="none" strike="noStrike">
                        <a:solidFill>
                          <a:srgbClr val="FFFFFF"/>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641665388"/>
                  </a:ext>
                </a:extLst>
              </a:tr>
              <a:tr h="159684">
                <a:tc vMerge="1">
                  <a:txBody>
                    <a:bodyPr/>
                    <a:lstStyle/>
                    <a:p>
                      <a:endParaRPr lang="zh-CN" altLang="en-US"/>
                    </a:p>
                  </a:txBody>
                  <a:tcPr/>
                </a:tc>
                <a:tc gridSpan="10">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Upon rewrite active​</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0" indent="0" algn="ctr" fontAlgn="base">
                        <a:lnSpc>
                          <a:spcPts val="1200"/>
                        </a:lnSpc>
                        <a:buNone/>
                      </a:pP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260440"/>
                  </a:ext>
                </a:extLst>
              </a:tr>
              <a:tr h="162294">
                <a:tc vMerge="1">
                  <a:txBody>
                    <a:bodyPr/>
                    <a:lstStyle/>
                    <a:p>
                      <a:endParaRPr lang="zh-CN" altLang="en-US"/>
                    </a:p>
                  </a:txBody>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COA​</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LV​</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PV​</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711932868"/>
                  </a:ext>
                </a:extLst>
              </a:tr>
              <a:tr h="203106">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chemeClr val="tx1"/>
                          </a:solidFill>
                          <a:effectLst/>
                          <a:latin typeface="Arial" panose="020B0604020202020204" pitchFamily="34" charset="0"/>
                        </a:rPr>
                        <a:t>Dr</a:t>
                      </a:r>
                      <a:r>
                        <a:rPr lang="en-US" sz="900" b="0" i="0">
                          <a:solidFill>
                            <a:schemeClr val="tx1"/>
                          </a:solidFill>
                          <a:effectLst/>
                          <a:latin typeface="Arial" panose="020B0604020202020204" pitchFamily="34" charset="0"/>
                        </a:rPr>
                        <a:t>​</a:t>
                      </a:r>
                      <a:endParaRPr lang="en-US" sz="1200" b="0" i="0">
                        <a:solidFill>
                          <a:schemeClr val="tx1"/>
                        </a:solidFill>
                        <a:effectLst/>
                      </a:endParaRP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chemeClr val="tx1"/>
                          </a:solidFill>
                          <a:effectLst/>
                          <a:latin typeface="Arial" panose="020B0604020202020204" pitchFamily="34" charset="0"/>
                          <a:ea typeface="+mn-ea"/>
                          <a:cs typeface="+mn-cs"/>
                        </a:rPr>
                        <a:t>1400301​</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chemeClr val="tx1"/>
                          </a:solidFill>
                          <a:effectLst/>
                          <a:latin typeface="Arial" panose="020B0604020202020204" pitchFamily="34" charset="0"/>
                          <a:ea typeface="+mn-ea"/>
                          <a:cs typeface="+mn-cs"/>
                        </a:rPr>
                        <a:t>Lease Receivable ​</a:t>
                      </a:r>
                    </a:p>
                  </a:txBody>
                  <a:tcPr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chemeClr val="tx1"/>
                          </a:solidFill>
                          <a:effectLst/>
                          <a:latin typeface="Arial" panose="020B0604020202020204" pitchFamily="34" charset="0"/>
                          <a:ea typeface="+mn-ea"/>
                          <a:cs typeface="+mn-cs"/>
                        </a:rPr>
                        <a:t>1034</a:t>
                      </a:r>
                      <a:r>
                        <a:rPr lang="zh-CN" altLang="en-US" sz="900" b="0" i="0" u="none" strike="noStrike" kern="1200" spc="0">
                          <a:solidFill>
                            <a:schemeClr val="tx1"/>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chemeClr val="tx1"/>
                          </a:solidFill>
                          <a:effectLst/>
                          <a:latin typeface="Arial" panose="020B0604020202020204" pitchFamily="34" charset="0"/>
                          <a:ea typeface="+mn-ea"/>
                          <a:cs typeface="+mn-cs"/>
                        </a:rPr>
                        <a:t>1034</a:t>
                      </a:r>
                      <a:r>
                        <a:rPr lang="zh-CN" altLang="en-US" sz="900" b="0" i="0" u="none" strike="noStrike" kern="1200" spc="0">
                          <a:solidFill>
                            <a:schemeClr val="tx1"/>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rgbClr val="FF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r>
                        <a:rPr lang="en-US"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97475585"/>
                  </a:ext>
                </a:extLst>
              </a:tr>
              <a:tr h="246376">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a:solidFill>
                            <a:srgbClr val="000000"/>
                          </a:solidFill>
                          <a:effectLst/>
                          <a:latin typeface="Arial" panose="020B0604020202020204" pitchFamily="34" charset="0"/>
                        </a:rPr>
                        <a:t>1400303​</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Receivable Interest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187.3</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spc="0">
                          <a:solidFill>
                            <a:srgbClr val="000000"/>
                          </a:solidFill>
                          <a:effectLst/>
                          <a:latin typeface="Arial" panose="020B0604020202020204" pitchFamily="34" charset="0"/>
                        </a:rPr>
                        <a:t>187.3</a:t>
                      </a:r>
                      <a:r>
                        <a:rPr lang="zh-CN" altLang="zh-CN" sz="900" b="0" i="0">
                          <a:solidFill>
                            <a:srgbClr val="000000"/>
                          </a:solidFill>
                          <a:effectLst/>
                          <a:ea typeface="Arial" panose="020B0604020202020204" pitchFamily="34" charset="0"/>
                        </a:rPr>
                        <a: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27397841"/>
                  </a:ext>
                </a:extLst>
              </a:tr>
              <a:tr h="230606">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a:solidFill>
                            <a:srgbClr val="000000"/>
                          </a:solidFill>
                          <a:effectLst/>
                          <a:latin typeface="Arial" panose="020B0604020202020204" pitchFamily="34" charset="0"/>
                        </a:rPr>
                        <a:t>5010509​</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Finance lease Revenue</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846.7</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spc="0">
                          <a:solidFill>
                            <a:srgbClr val="000000"/>
                          </a:solidFill>
                          <a:effectLst/>
                          <a:latin typeface="Arial" panose="020B0604020202020204" pitchFamily="34" charset="0"/>
                          <a:ea typeface="+mn-ea"/>
                          <a:cs typeface="+mn-cs"/>
                        </a:rPr>
                        <a:t>846.7</a:t>
                      </a:r>
                      <a:r>
                        <a:rPr lang="zh-CN" altLang="zh-CN" sz="900" b="0" i="0">
                          <a:solidFill>
                            <a:srgbClr val="000000"/>
                          </a:solidFill>
                          <a:effectLst/>
                          <a:ea typeface="Arial" panose="020B0604020202020204" pitchFamily="34" charset="0"/>
                        </a:rPr>
                        <a: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699130467"/>
                  </a:ext>
                </a:extLst>
              </a:tr>
              <a:tr h="176604">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Residual Value ​</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49.4</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spc="0">
                          <a:solidFill>
                            <a:srgbClr val="000000"/>
                          </a:solidFill>
                          <a:effectLst/>
                          <a:latin typeface="Arial" panose="020B0604020202020204" pitchFamily="34" charset="0"/>
                        </a:rPr>
                        <a:t>49.4</a:t>
                      </a:r>
                      <a:r>
                        <a:rPr lang="zh-CN" altLang="zh-CN" sz="900" b="0" i="0">
                          <a:solidFill>
                            <a:srgbClr val="000000"/>
                          </a:solidFill>
                          <a:effectLst/>
                          <a:ea typeface="Arial" panose="020B0604020202020204" pitchFamily="34" charset="0"/>
                        </a:rPr>
                        <a:t>​</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endParaRPr lang="en-US" sz="900" b="0" i="0" u="none" strike="noStrike" kern="1200">
                        <a:solidFill>
                          <a:srgbClr val="000000"/>
                        </a:solidFill>
                        <a:effectLst/>
                        <a:latin typeface="Arial" panose="020B0604020202020204" pitchFamily="34" charset="0"/>
                        <a:ea typeface="+mn-ea"/>
                        <a:cs typeface="+mn-cs"/>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36026426"/>
                  </a:ext>
                </a:extLst>
              </a:tr>
              <a:tr h="176604">
                <a:tc vMerge="1">
                  <a:txBody>
                    <a:bodyPr/>
                    <a:lstStyle/>
                    <a:p>
                      <a:endParaRPr lang="zh-CN" altLang="en-US"/>
                    </a:p>
                  </a:txBody>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Cr</a:t>
                      </a: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5020509</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Cost Finance lease</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49.4</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spc="0">
                          <a:solidFill>
                            <a:srgbClr val="000000"/>
                          </a:solidFill>
                          <a:effectLst/>
                          <a:latin typeface="Arial" panose="020B0604020202020204" pitchFamily="34" charset="0"/>
                          <a:ea typeface="+mn-ea"/>
                          <a:cs typeface="+mn-cs"/>
                        </a:rPr>
                        <a:t>49.4</a:t>
                      </a:r>
                      <a:r>
                        <a:rPr lang="zh-CN" altLang="zh-CN"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578367403"/>
                  </a:ext>
                </a:extLst>
              </a:tr>
              <a:tr h="176604">
                <a:tc vMerge="1">
                  <a:txBody>
                    <a:bodyPr/>
                    <a:lstStyle/>
                    <a:p>
                      <a:endParaRPr lang="zh-CN" altLang="en-US"/>
                    </a:p>
                  </a:txBody>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Dr</a:t>
                      </a: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5020509</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Cost Finance lease</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656.6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656.6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580737550"/>
                  </a:ext>
                </a:extLst>
              </a:tr>
              <a:tr h="176604">
                <a:tc vMerge="1">
                  <a:txBody>
                    <a:bodyPr/>
                    <a:lstStyle/>
                    <a:p>
                      <a:endParaRPr lang="zh-CN" altLang="en-US"/>
                    </a:p>
                  </a:txBody>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Cr</a:t>
                      </a: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1349903</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GIT</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656.6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656.6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719493777"/>
                  </a:ext>
                </a:extLst>
              </a:tr>
            </a:tbl>
          </a:graphicData>
        </a:graphic>
      </p:graphicFrame>
      <p:sp>
        <p:nvSpPr>
          <p:cNvPr id="35" name="对话气泡: 矩形 34">
            <a:extLst>
              <a:ext uri="{FF2B5EF4-FFF2-40B4-BE49-F238E27FC236}">
                <a16:creationId xmlns:a16="http://schemas.microsoft.com/office/drawing/2014/main" id="{271A9B06-8B8C-2F1C-803A-2947EF16058B}"/>
              </a:ext>
            </a:extLst>
          </p:cNvPr>
          <p:cNvSpPr/>
          <p:nvPr/>
        </p:nvSpPr>
        <p:spPr>
          <a:xfrm>
            <a:off x="12500852" y="3009114"/>
            <a:ext cx="1359509" cy="2477386"/>
          </a:xfrm>
          <a:prstGeom prst="wedgeRectCallout">
            <a:avLst>
              <a:gd name="adj1" fmla="val -111190"/>
              <a:gd name="adj2" fmla="val -1192"/>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highlight>
                  <a:srgbClr val="FFFF00"/>
                </a:highlight>
                <a:latin typeface="Arial" panose="020B0604020202020204" pitchFamily="34" charset="0"/>
                <a:ea typeface="黑体" panose="02010609060101010101" pitchFamily="49" charset="-122"/>
                <a:cs typeface="Arial" panose="020B0604020202020204" pitchFamily="34" charset="0"/>
              </a:rPr>
              <a:t>If we should use original deal rete and OL remaining receivable to recalculate FL AR PV amt(base on front end provide remaining committed rentals.)</a:t>
            </a:r>
          </a:p>
        </p:txBody>
      </p:sp>
      <p:graphicFrame>
        <p:nvGraphicFramePr>
          <p:cNvPr id="37" name="Table 94">
            <a:extLst>
              <a:ext uri="{FF2B5EF4-FFF2-40B4-BE49-F238E27FC236}">
                <a16:creationId xmlns:a16="http://schemas.microsoft.com/office/drawing/2014/main" id="{9D6FECCE-DAB1-9D51-5FBF-19A4312FFB41}"/>
              </a:ext>
            </a:extLst>
          </p:cNvPr>
          <p:cNvGraphicFramePr>
            <a:graphicFrameLocks noGrp="1"/>
          </p:cNvGraphicFramePr>
          <p:nvPr>
            <p:extLst>
              <p:ext uri="{D42A27DB-BD31-4B8C-83A1-F6EECF244321}">
                <p14:modId xmlns:p14="http://schemas.microsoft.com/office/powerpoint/2010/main" val="2260129297"/>
              </p:ext>
            </p:extLst>
          </p:nvPr>
        </p:nvGraphicFramePr>
        <p:xfrm>
          <a:off x="178840" y="5942195"/>
          <a:ext cx="5628287" cy="884240"/>
        </p:xfrm>
        <a:graphic>
          <a:graphicData uri="http://schemas.openxmlformats.org/drawingml/2006/table">
            <a:tbl>
              <a:tblPr firstRow="1">
                <a:tableStyleId>{5C22544A-7EE6-4342-B048-85BDC9FD1C3A}</a:tableStyleId>
              </a:tblPr>
              <a:tblGrid>
                <a:gridCol w="444346">
                  <a:extLst>
                    <a:ext uri="{9D8B030D-6E8A-4147-A177-3AD203B41FA5}">
                      <a16:colId xmlns:a16="http://schemas.microsoft.com/office/drawing/2014/main" val="3200314054"/>
                    </a:ext>
                  </a:extLst>
                </a:gridCol>
                <a:gridCol w="307634">
                  <a:extLst>
                    <a:ext uri="{9D8B030D-6E8A-4147-A177-3AD203B41FA5}">
                      <a16:colId xmlns:a16="http://schemas.microsoft.com/office/drawing/2014/main" val="1913271583"/>
                    </a:ext>
                  </a:extLst>
                </a:gridCol>
                <a:gridCol w="671233">
                  <a:extLst>
                    <a:ext uri="{9D8B030D-6E8A-4147-A177-3AD203B41FA5}">
                      <a16:colId xmlns:a16="http://schemas.microsoft.com/office/drawing/2014/main" val="1797281345"/>
                    </a:ext>
                  </a:extLst>
                </a:gridCol>
                <a:gridCol w="2206557">
                  <a:extLst>
                    <a:ext uri="{9D8B030D-6E8A-4147-A177-3AD203B41FA5}">
                      <a16:colId xmlns:a16="http://schemas.microsoft.com/office/drawing/2014/main" val="2743739350"/>
                    </a:ext>
                  </a:extLst>
                </a:gridCol>
                <a:gridCol w="555677">
                  <a:extLst>
                    <a:ext uri="{9D8B030D-6E8A-4147-A177-3AD203B41FA5}">
                      <a16:colId xmlns:a16="http://schemas.microsoft.com/office/drawing/2014/main" val="2056723756"/>
                    </a:ext>
                  </a:extLst>
                </a:gridCol>
                <a:gridCol w="587858">
                  <a:extLst>
                    <a:ext uri="{9D8B030D-6E8A-4147-A177-3AD203B41FA5}">
                      <a16:colId xmlns:a16="http://schemas.microsoft.com/office/drawing/2014/main" val="4073315665"/>
                    </a:ext>
                  </a:extLst>
                </a:gridCol>
                <a:gridCol w="854982">
                  <a:extLst>
                    <a:ext uri="{9D8B030D-6E8A-4147-A177-3AD203B41FA5}">
                      <a16:colId xmlns:a16="http://schemas.microsoft.com/office/drawing/2014/main" val="848560102"/>
                    </a:ext>
                  </a:extLst>
                </a:gridCol>
              </a:tblGrid>
              <a:tr h="111125">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bg1"/>
                          </a:solidFill>
                          <a:effectLst/>
                          <a:latin typeface="Arial" panose="020B0604020202020204" pitchFamily="34" charset="0"/>
                          <a:ea typeface="+mn-ea"/>
                          <a:cs typeface="+mn-cs"/>
                        </a:rPr>
                        <a:t>Recording monthly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92571">
                <a:tc vMerge="1">
                  <a:txBody>
                    <a:bodyPr/>
                    <a:lstStyle/>
                    <a:p>
                      <a:endParaRPr lang="zh-CN" altLang="en-US"/>
                    </a:p>
                  </a:txBody>
                  <a:tcPr/>
                </a:tc>
                <a:tc gridSpan="6">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batch</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9257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26963">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rtl="0" fontAlgn="base">
                        <a:lnSpc>
                          <a:spcPts val="1050"/>
                        </a:lnSpc>
                        <a:buNone/>
                      </a:pPr>
                      <a:r>
                        <a:rPr lang="en-US" sz="900" b="0" i="0" u="none" strike="noStrike" spc="0">
                          <a:solidFill>
                            <a:srgbClr val="000000"/>
                          </a:solidFill>
                          <a:effectLst/>
                          <a:latin typeface="Arial" panose="020B0604020202020204" pitchFamily="34" charset="0"/>
                        </a:rPr>
                        <a:t>4060110</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a:solidFill>
                            <a:srgbClr val="000000"/>
                          </a:solidFill>
                          <a:effectLst/>
                          <a:latin typeface="Arial" panose="020B0604020202020204" pitchFamily="34" charset="0"/>
                        </a:rPr>
                        <a:t>Depreciation Expense (COS Impact)</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18.5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15.5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126963">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ctr" rtl="0" fontAlgn="base">
                        <a:lnSpc>
                          <a:spcPts val="1050"/>
                        </a:lnSpc>
                        <a:buNone/>
                      </a:pPr>
                      <a:r>
                        <a:rPr lang="en-US" sz="900" b="0" i="0" u="none" strike="noStrike" spc="0">
                          <a:solidFill>
                            <a:srgbClr val="000000"/>
                          </a:solidFill>
                          <a:effectLst/>
                          <a:latin typeface="Arial" panose="020B0604020202020204" pitchFamily="34" charset="0"/>
                        </a:rPr>
                        <a:t>1651550</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indent="0" algn="l" rtl="0" fontAlgn="base">
                        <a:lnSpc>
                          <a:spcPts val="1050"/>
                        </a:lnSpc>
                        <a:buNone/>
                      </a:pPr>
                      <a:r>
                        <a:rPr lang="en-US" sz="900" b="0" i="0" u="none" strike="noStrike">
                          <a:solidFill>
                            <a:srgbClr val="000000"/>
                          </a:solidFill>
                          <a:effectLst/>
                          <a:latin typeface="Arial" panose="020B0604020202020204" pitchFamily="34" charset="0"/>
                        </a:rPr>
                        <a:t>Accumulated Depreciation</a:t>
                      </a:r>
                      <a:r>
                        <a:rPr lang="en-US" sz="900" b="0" i="0">
                          <a:solidFill>
                            <a:srgbClr val="000000"/>
                          </a:solidFill>
                          <a:effectLst/>
                          <a:latin typeface="Arial" panose="020B0604020202020204" pitchFamily="34" charset="0"/>
                        </a:rPr>
                        <a:t>​</a:t>
                      </a:r>
                      <a:endParaRPr lang="en-US" sz="900" b="0" i="0">
                        <a:solidFill>
                          <a:srgbClr val="000000"/>
                        </a:solidFill>
                        <a:effectLst/>
                        <a:latin typeface="Segoe UI" panose="020B0502040204020203"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18.5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15.5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graphicFrame>
        <p:nvGraphicFramePr>
          <p:cNvPr id="39" name="Table 94">
            <a:extLst>
              <a:ext uri="{FF2B5EF4-FFF2-40B4-BE49-F238E27FC236}">
                <a16:creationId xmlns:a16="http://schemas.microsoft.com/office/drawing/2014/main" id="{E0116ED3-5005-B354-E7F3-AD8DD2A27335}"/>
              </a:ext>
            </a:extLst>
          </p:cNvPr>
          <p:cNvGraphicFramePr>
            <a:graphicFrameLocks noGrp="1"/>
          </p:cNvGraphicFramePr>
          <p:nvPr>
            <p:extLst>
              <p:ext uri="{D42A27DB-BD31-4B8C-83A1-F6EECF244321}">
                <p14:modId xmlns:p14="http://schemas.microsoft.com/office/powerpoint/2010/main" val="3022704607"/>
              </p:ext>
            </p:extLst>
          </p:nvPr>
        </p:nvGraphicFramePr>
        <p:xfrm>
          <a:off x="5982389" y="766958"/>
          <a:ext cx="5475437" cy="890925"/>
        </p:xfrm>
        <a:graphic>
          <a:graphicData uri="http://schemas.openxmlformats.org/drawingml/2006/table">
            <a:tbl>
              <a:tblPr firstRow="1">
                <a:tableStyleId>{5C22544A-7EE6-4342-B048-85BDC9FD1C3A}</a:tableStyleId>
              </a:tblPr>
              <a:tblGrid>
                <a:gridCol w="361950">
                  <a:extLst>
                    <a:ext uri="{9D8B030D-6E8A-4147-A177-3AD203B41FA5}">
                      <a16:colId xmlns:a16="http://schemas.microsoft.com/office/drawing/2014/main" val="3200314054"/>
                    </a:ext>
                  </a:extLst>
                </a:gridCol>
                <a:gridCol w="221124">
                  <a:extLst>
                    <a:ext uri="{9D8B030D-6E8A-4147-A177-3AD203B41FA5}">
                      <a16:colId xmlns:a16="http://schemas.microsoft.com/office/drawing/2014/main" val="1913271583"/>
                    </a:ext>
                  </a:extLst>
                </a:gridCol>
                <a:gridCol w="482477">
                  <a:extLst>
                    <a:ext uri="{9D8B030D-6E8A-4147-A177-3AD203B41FA5}">
                      <a16:colId xmlns:a16="http://schemas.microsoft.com/office/drawing/2014/main" val="1797281345"/>
                    </a:ext>
                  </a:extLst>
                </a:gridCol>
                <a:gridCol w="2171700">
                  <a:extLst>
                    <a:ext uri="{9D8B030D-6E8A-4147-A177-3AD203B41FA5}">
                      <a16:colId xmlns:a16="http://schemas.microsoft.com/office/drawing/2014/main" val="2743739350"/>
                    </a:ext>
                  </a:extLst>
                </a:gridCol>
                <a:gridCol w="258417">
                  <a:extLst>
                    <a:ext uri="{9D8B030D-6E8A-4147-A177-3AD203B41FA5}">
                      <a16:colId xmlns:a16="http://schemas.microsoft.com/office/drawing/2014/main" val="2056723756"/>
                    </a:ext>
                  </a:extLst>
                </a:gridCol>
                <a:gridCol w="422547">
                  <a:extLst>
                    <a:ext uri="{9D8B030D-6E8A-4147-A177-3AD203B41FA5}">
                      <a16:colId xmlns:a16="http://schemas.microsoft.com/office/drawing/2014/main" val="4073315665"/>
                    </a:ext>
                  </a:extLst>
                </a:gridCol>
                <a:gridCol w="285750">
                  <a:extLst>
                    <a:ext uri="{9D8B030D-6E8A-4147-A177-3AD203B41FA5}">
                      <a16:colId xmlns:a16="http://schemas.microsoft.com/office/drawing/2014/main" val="3068119212"/>
                    </a:ext>
                  </a:extLst>
                </a:gridCol>
                <a:gridCol w="304800">
                  <a:extLst>
                    <a:ext uri="{9D8B030D-6E8A-4147-A177-3AD203B41FA5}">
                      <a16:colId xmlns:a16="http://schemas.microsoft.com/office/drawing/2014/main" val="3765595061"/>
                    </a:ext>
                  </a:extLst>
                </a:gridCol>
                <a:gridCol w="273786">
                  <a:extLst>
                    <a:ext uri="{9D8B030D-6E8A-4147-A177-3AD203B41FA5}">
                      <a16:colId xmlns:a16="http://schemas.microsoft.com/office/drawing/2014/main" val="4016582823"/>
                    </a:ext>
                  </a:extLst>
                </a:gridCol>
                <a:gridCol w="394436">
                  <a:extLst>
                    <a:ext uri="{9D8B030D-6E8A-4147-A177-3AD203B41FA5}">
                      <a16:colId xmlns:a16="http://schemas.microsoft.com/office/drawing/2014/main" val="1452004342"/>
                    </a:ext>
                  </a:extLst>
                </a:gridCol>
                <a:gridCol w="298450">
                  <a:extLst>
                    <a:ext uri="{9D8B030D-6E8A-4147-A177-3AD203B41FA5}">
                      <a16:colId xmlns:a16="http://schemas.microsoft.com/office/drawing/2014/main" val="848560102"/>
                    </a:ext>
                  </a:extLst>
                </a:gridCol>
              </a:tblGrid>
              <a:tr h="108565">
                <a:tc rowSpan="5">
                  <a:txBody>
                    <a:bodyPr/>
                    <a:lstStyle/>
                    <a:p>
                      <a:pPr algn="ctr" fontAlgn="ctr"/>
                      <a:r>
                        <a:rPr lang="en-US" sz="900" b="1" i="0" kern="1200">
                          <a:solidFill>
                            <a:srgbClr val="FFFFFF"/>
                          </a:solidFill>
                          <a:effectLst/>
                          <a:latin typeface="Arial"/>
                          <a:ea typeface="+mn-ea"/>
                          <a:cs typeface="+mn-cs"/>
                        </a:rPr>
                        <a:t>S&amp;D</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Mid Term Rewrite upfront service interest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08565">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rewrite active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29102">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spTree>
    <p:extLst>
      <p:ext uri="{BB962C8B-B14F-4D97-AF65-F5344CB8AC3E}">
        <p14:creationId xmlns:p14="http://schemas.microsoft.com/office/powerpoint/2010/main" val="4065922848"/>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6CD092-8EB9-DB24-BE39-F93A499B0A14}"/>
            </a:ext>
          </a:extLst>
        </p:cNvPr>
        <p:cNvGrpSpPr/>
        <p:nvPr/>
      </p:nvGrpSpPr>
      <p:grpSpPr>
        <a:xfrm>
          <a:off x="0" y="0"/>
          <a:ext cx="0" cy="0"/>
          <a:chOff x="0" y="0"/>
          <a:chExt cx="0" cy="0"/>
        </a:xfrm>
      </p:grpSpPr>
      <p:sp>
        <p:nvSpPr>
          <p:cNvPr id="221" name="Rectangle 220">
            <a:extLst>
              <a:ext uri="{FF2B5EF4-FFF2-40B4-BE49-F238E27FC236}">
                <a16:creationId xmlns:a16="http://schemas.microsoft.com/office/drawing/2014/main" id="{360919E1-F212-44C9-D2EE-2D94BBF0B982}"/>
              </a:ext>
            </a:extLst>
          </p:cNvPr>
          <p:cNvSpPr/>
          <p:nvPr/>
        </p:nvSpPr>
        <p:spPr>
          <a:xfrm>
            <a:off x="9703066" y="4606658"/>
            <a:ext cx="3936089" cy="2257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lang="en-US" altLang="zh-CN" sz="800" b="1"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p:txBody>
      </p:sp>
      <p:graphicFrame>
        <p:nvGraphicFramePr>
          <p:cNvPr id="93" name="Table 92">
            <a:extLst>
              <a:ext uri="{FF2B5EF4-FFF2-40B4-BE49-F238E27FC236}">
                <a16:creationId xmlns:a16="http://schemas.microsoft.com/office/drawing/2014/main" id="{2C97A311-1152-45DF-2C75-F6662763DB3A}"/>
              </a:ext>
            </a:extLst>
          </p:cNvPr>
          <p:cNvGraphicFramePr>
            <a:graphicFrameLocks noGrp="1"/>
          </p:cNvGraphicFramePr>
          <p:nvPr/>
        </p:nvGraphicFramePr>
        <p:xfrm>
          <a:off x="123969" y="774854"/>
          <a:ext cx="5600194" cy="800100"/>
        </p:xfrm>
        <a:graphic>
          <a:graphicData uri="http://schemas.openxmlformats.org/drawingml/2006/table">
            <a:tbl>
              <a:tblPr firstRow="1">
                <a:tableStyleId>{5C22544A-7EE6-4342-B048-85BDC9FD1C3A}</a:tableStyleId>
              </a:tblPr>
              <a:tblGrid>
                <a:gridCol w="659108">
                  <a:extLst>
                    <a:ext uri="{9D8B030D-6E8A-4147-A177-3AD203B41FA5}">
                      <a16:colId xmlns:a16="http://schemas.microsoft.com/office/drawing/2014/main" val="3200314054"/>
                    </a:ext>
                  </a:extLst>
                </a:gridCol>
                <a:gridCol w="299089">
                  <a:extLst>
                    <a:ext uri="{9D8B030D-6E8A-4147-A177-3AD203B41FA5}">
                      <a16:colId xmlns:a16="http://schemas.microsoft.com/office/drawing/2014/main" val="1913271583"/>
                    </a:ext>
                  </a:extLst>
                </a:gridCol>
                <a:gridCol w="652590">
                  <a:extLst>
                    <a:ext uri="{9D8B030D-6E8A-4147-A177-3AD203B41FA5}">
                      <a16:colId xmlns:a16="http://schemas.microsoft.com/office/drawing/2014/main" val="1797281345"/>
                    </a:ext>
                  </a:extLst>
                </a:gridCol>
                <a:gridCol w="1993969">
                  <a:extLst>
                    <a:ext uri="{9D8B030D-6E8A-4147-A177-3AD203B41FA5}">
                      <a16:colId xmlns:a16="http://schemas.microsoft.com/office/drawing/2014/main" val="2743739350"/>
                    </a:ext>
                  </a:extLst>
                </a:gridCol>
                <a:gridCol w="592671">
                  <a:extLst>
                    <a:ext uri="{9D8B030D-6E8A-4147-A177-3AD203B41FA5}">
                      <a16:colId xmlns:a16="http://schemas.microsoft.com/office/drawing/2014/main" val="2056723756"/>
                    </a:ext>
                  </a:extLst>
                </a:gridCol>
                <a:gridCol w="571532">
                  <a:extLst>
                    <a:ext uri="{9D8B030D-6E8A-4147-A177-3AD203B41FA5}">
                      <a16:colId xmlns:a16="http://schemas.microsoft.com/office/drawing/2014/main" val="4073315665"/>
                    </a:ext>
                  </a:extLst>
                </a:gridCol>
                <a:gridCol w="831235">
                  <a:extLst>
                    <a:ext uri="{9D8B030D-6E8A-4147-A177-3AD203B41FA5}">
                      <a16:colId xmlns:a16="http://schemas.microsoft.com/office/drawing/2014/main" val="848560102"/>
                    </a:ext>
                  </a:extLst>
                </a:gridCol>
              </a:tblGrid>
              <a:tr h="68455">
                <a:tc rowSpan="5">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Goods issued to Customer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5">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000000"/>
                          </a:solidFill>
                          <a:effectLst/>
                          <a:uLnTx/>
                          <a:uFillTx/>
                          <a:latin typeface="+mn-lt"/>
                          <a:ea typeface="+mn-ea"/>
                          <a:cs typeface="+mn-cs"/>
                        </a:rPr>
                        <a:t>Upon shipment from Hub Directly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8455">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G</a:t>
                      </a:r>
                      <a:r>
                        <a:rPr lang="en-US" altLang="zh-CN" sz="1000" b="0" i="0" u="none" strike="noStrike">
                          <a:solidFill>
                            <a:srgbClr val="000000"/>
                          </a:solidFill>
                          <a:effectLst/>
                          <a:latin typeface="+mn-lt"/>
                        </a:rPr>
                        <a:t>oods </a:t>
                      </a:r>
                      <a:r>
                        <a:rPr lang="en-US" sz="1000" b="0" i="0" u="none" strike="noStrike">
                          <a:solidFill>
                            <a:srgbClr val="000000"/>
                          </a:solidFill>
                          <a:effectLst/>
                          <a:latin typeface="+mn-lt"/>
                        </a:rPr>
                        <a:t>In Transit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bl>
          </a:graphicData>
        </a:graphic>
      </p:graphicFrame>
      <p:graphicFrame>
        <p:nvGraphicFramePr>
          <p:cNvPr id="94" name="Table 93">
            <a:extLst>
              <a:ext uri="{FF2B5EF4-FFF2-40B4-BE49-F238E27FC236}">
                <a16:creationId xmlns:a16="http://schemas.microsoft.com/office/drawing/2014/main" id="{A4F32035-9956-E82A-C970-A41713784049}"/>
              </a:ext>
            </a:extLst>
          </p:cNvPr>
          <p:cNvGraphicFramePr>
            <a:graphicFrameLocks noGrp="1"/>
          </p:cNvGraphicFramePr>
          <p:nvPr/>
        </p:nvGraphicFramePr>
        <p:xfrm>
          <a:off x="118575" y="1640306"/>
          <a:ext cx="5600193" cy="1609725"/>
        </p:xfrm>
        <a:graphic>
          <a:graphicData uri="http://schemas.openxmlformats.org/drawingml/2006/table">
            <a:tbl>
              <a:tblPr firstRow="1">
                <a:tableStyleId>{5C22544A-7EE6-4342-B048-85BDC9FD1C3A}</a:tableStyleId>
              </a:tblPr>
              <a:tblGrid>
                <a:gridCol w="659111">
                  <a:extLst>
                    <a:ext uri="{9D8B030D-6E8A-4147-A177-3AD203B41FA5}">
                      <a16:colId xmlns:a16="http://schemas.microsoft.com/office/drawing/2014/main" val="3200314054"/>
                    </a:ext>
                  </a:extLst>
                </a:gridCol>
                <a:gridCol w="179000">
                  <a:extLst>
                    <a:ext uri="{9D8B030D-6E8A-4147-A177-3AD203B41FA5}">
                      <a16:colId xmlns:a16="http://schemas.microsoft.com/office/drawing/2014/main" val="1913271583"/>
                    </a:ext>
                  </a:extLst>
                </a:gridCol>
                <a:gridCol w="632178">
                  <a:extLst>
                    <a:ext uri="{9D8B030D-6E8A-4147-A177-3AD203B41FA5}">
                      <a16:colId xmlns:a16="http://schemas.microsoft.com/office/drawing/2014/main" val="1797281345"/>
                    </a:ext>
                  </a:extLst>
                </a:gridCol>
                <a:gridCol w="2402991">
                  <a:extLst>
                    <a:ext uri="{9D8B030D-6E8A-4147-A177-3AD203B41FA5}">
                      <a16:colId xmlns:a16="http://schemas.microsoft.com/office/drawing/2014/main" val="2743739350"/>
                    </a:ext>
                  </a:extLst>
                </a:gridCol>
                <a:gridCol w="447839">
                  <a:extLst>
                    <a:ext uri="{9D8B030D-6E8A-4147-A177-3AD203B41FA5}">
                      <a16:colId xmlns:a16="http://schemas.microsoft.com/office/drawing/2014/main" val="2056723756"/>
                    </a:ext>
                  </a:extLst>
                </a:gridCol>
                <a:gridCol w="447839">
                  <a:extLst>
                    <a:ext uri="{9D8B030D-6E8A-4147-A177-3AD203B41FA5}">
                      <a16:colId xmlns:a16="http://schemas.microsoft.com/office/drawing/2014/main" val="4073315665"/>
                    </a:ext>
                  </a:extLst>
                </a:gridCol>
                <a:gridCol w="831235">
                  <a:extLst>
                    <a:ext uri="{9D8B030D-6E8A-4147-A177-3AD203B41FA5}">
                      <a16:colId xmlns:a16="http://schemas.microsoft.com/office/drawing/2014/main" val="848560102"/>
                    </a:ext>
                  </a:extLst>
                </a:gridCol>
              </a:tblGrid>
              <a:tr h="68454">
                <a:tc rowSpan="10">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Customer received device and rev/cost recognition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4">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000000"/>
                          </a:solidFill>
                          <a:effectLst/>
                          <a:uLnTx/>
                          <a:uFillTx/>
                          <a:latin typeface="+mn-lt"/>
                          <a:ea typeface="+mn-ea"/>
                          <a:cs typeface="+mn-cs"/>
                        </a:rPr>
                        <a:t>Upon customer acceptance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708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Arial"/>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Arial"/>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Arial"/>
                          <a:ea typeface="+mn-ea"/>
                          <a:cs typeface="+mn-cs"/>
                        </a:rPr>
                        <a:t>PV</a:t>
                      </a:r>
                      <a:endParaRPr kumimoji="0" lang="en-US" sz="1000" b="1" i="0" u="none" strike="noStrike" kern="1200" cap="none" spc="0" normalizeH="0" baseline="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Arial"/>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0421">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Arial"/>
                          <a:ea typeface="+mn-ea"/>
                          <a:cs typeface="+mn-cs"/>
                        </a:rPr>
                        <a:t>1130200</a:t>
                      </a:r>
                      <a:endParaRPr kumimoji="0" lang="en-US" altLang="zh-CN"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ctr"/>
                      <a:r>
                        <a:rPr lang="en-US" sz="1000" b="0" i="0" u="none" strike="noStrike" kern="1200">
                          <a:solidFill>
                            <a:srgbClr val="000000"/>
                          </a:solidFill>
                          <a:effectLst/>
                          <a:latin typeface="+mn-lt"/>
                          <a:ea typeface="+mn-ea"/>
                          <a:cs typeface="+mn-cs"/>
                        </a:rPr>
                        <a:t>Inter-co Receivable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159151">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5010300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mn-ea"/>
                          <a:cs typeface="+mn-cs"/>
                        </a:rPr>
                        <a:t>Turnover (IC Revenue)</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042958783"/>
                  </a:ext>
                </a:extLst>
              </a:tr>
              <a:tr h="68423">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Service Revenue – Upfront fulfilled</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chemeClr val="tx1"/>
                          </a:solidFill>
                          <a:effectLst/>
                          <a:latin typeface="+mn-lt"/>
                          <a:ea typeface="等线"/>
                          <a:cs typeface="+mn-cs"/>
                        </a:rPr>
                        <a:t>500</a:t>
                      </a:r>
                      <a:endParaRPr lang="zh-CN" altLang="en-US" sz="1000" b="0" i="0" u="none" strike="noStrike" kern="1200">
                        <a:solidFill>
                          <a:schemeClr val="tx1"/>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mn-lt"/>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911046863"/>
                  </a:ext>
                </a:extLst>
              </a:tr>
              <a:tr h="68423">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Deferred Income – Premier Support</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chemeClr val="tx1"/>
                          </a:solidFill>
                          <a:effectLst/>
                          <a:latin typeface="+mn-lt"/>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647945814"/>
                  </a:ext>
                </a:extLst>
              </a:tr>
              <a:tr h="68454">
                <a:tc vMerge="1">
                  <a:txBody>
                    <a:bodyPr/>
                    <a:lstStyle/>
                    <a:p>
                      <a:endParaRPr lang="en-US"/>
                    </a:p>
                  </a:txBody>
                  <a:tcPr/>
                </a:tc>
                <a:tc>
                  <a:txBody>
                    <a:bodyPr/>
                    <a:lstStyle/>
                    <a:p>
                      <a:pPr marL="0" marR="0" lvl="0" indent="0" algn="ctr" defTabSz="1218987" rtl="0">
                        <a:lnSpc>
                          <a:spcPct val="100000"/>
                        </a:lnSpc>
                        <a:spcBef>
                          <a:spcPts val="0"/>
                        </a:spcBef>
                        <a:spcAft>
                          <a:spcPts val="0"/>
                        </a:spcAft>
                        <a:buClrTx/>
                        <a:buSzTx/>
                        <a:buFontTx/>
                        <a:buNone/>
                        <a:tabLst/>
                        <a:defRPr/>
                      </a:pPr>
                      <a:r>
                        <a:rPr lang="en-US" sz="1000" b="0" i="0" u="none" strike="noStrike" kern="1200" cap="none" spc="0" normalizeH="0" baseline="0" noProof="0">
                          <a:ln>
                            <a:noFill/>
                          </a:ln>
                          <a:solidFill>
                            <a:srgbClr val="000000"/>
                          </a:solidFill>
                          <a:effectLst/>
                          <a:uLnTx/>
                          <a:uFillTx/>
                          <a:latin typeface="Arial"/>
                          <a:ea typeface="+mn-ea"/>
                          <a:cs typeface="+mn-cs"/>
                        </a:rPr>
                        <a:t>Cr</a:t>
                      </a:r>
                      <a:endParaRPr kumimoji="0" lang="en-US" sz="10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5029999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等线"/>
                          <a:cs typeface="+mn-cs"/>
                        </a:rPr>
                        <a:t>Intercompany P&amp;L</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endParaRPr lang="zh-CN" alt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11200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844412640"/>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5020300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kern="1200">
                          <a:solidFill>
                            <a:srgbClr val="000000"/>
                          </a:solidFill>
                          <a:effectLst/>
                          <a:latin typeface="+mn-lt"/>
                          <a:ea typeface="+mn-ea"/>
                          <a:cs typeface="+mn-cs"/>
                        </a:rPr>
                        <a:t>C</a:t>
                      </a:r>
                      <a:r>
                        <a:rPr lang="en-US" altLang="zh-CN" sz="1000" b="0" i="0" u="none" strike="noStrike" kern="1200">
                          <a:solidFill>
                            <a:srgbClr val="000000"/>
                          </a:solidFill>
                          <a:effectLst/>
                          <a:latin typeface="+mn-lt"/>
                          <a:ea typeface="+mn-ea"/>
                          <a:cs typeface="+mn-cs"/>
                        </a:rPr>
                        <a:t>ost of sales</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70719169"/>
                  </a:ext>
                </a:extLst>
              </a:tr>
              <a:tr h="68454">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1349903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a:solidFill>
                            <a:srgbClr val="000000"/>
                          </a:solidFill>
                          <a:effectLst/>
                          <a:latin typeface="+mn-lt"/>
                        </a:rPr>
                        <a:t>G</a:t>
                      </a:r>
                      <a:r>
                        <a:rPr lang="en-US" altLang="zh-CN" sz="1000" b="0" i="0" u="none" strike="noStrike">
                          <a:solidFill>
                            <a:srgbClr val="000000"/>
                          </a:solidFill>
                          <a:effectLst/>
                          <a:latin typeface="+mn-lt"/>
                        </a:rPr>
                        <a:t>oods </a:t>
                      </a:r>
                      <a:r>
                        <a:rPr lang="en-US" sz="1000" b="0" i="0" u="none" strike="noStrike">
                          <a:solidFill>
                            <a:srgbClr val="000000"/>
                          </a:solidFill>
                          <a:effectLst/>
                          <a:latin typeface="+mn-lt"/>
                        </a:rPr>
                        <a:t>In Transit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等线"/>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a:solidFill>
                            <a:srgbClr val="000000"/>
                          </a:solidFill>
                          <a:effectLst/>
                          <a:latin typeface="+mn-lt"/>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201279187"/>
                  </a:ext>
                </a:extLst>
              </a:tr>
            </a:tbl>
          </a:graphicData>
        </a:graphic>
      </p:graphicFrame>
      <p:grpSp>
        <p:nvGrpSpPr>
          <p:cNvPr id="6" name="Group 18">
            <a:extLst>
              <a:ext uri="{FF2B5EF4-FFF2-40B4-BE49-F238E27FC236}">
                <a16:creationId xmlns:a16="http://schemas.microsoft.com/office/drawing/2014/main" id="{291B5E37-B144-1A23-EAF1-F7337AB7821F}"/>
              </a:ext>
            </a:extLst>
          </p:cNvPr>
          <p:cNvGrpSpPr/>
          <p:nvPr/>
        </p:nvGrpSpPr>
        <p:grpSpPr>
          <a:xfrm>
            <a:off x="11159606" y="0"/>
            <a:ext cx="1032394" cy="734212"/>
            <a:chOff x="11159606" y="0"/>
            <a:chExt cx="1032394" cy="734212"/>
          </a:xfrm>
        </p:grpSpPr>
        <p:sp>
          <p:nvSpPr>
            <p:cNvPr id="7" name="Rectangle: Rounded Corners 19">
              <a:extLst>
                <a:ext uri="{FF2B5EF4-FFF2-40B4-BE49-F238E27FC236}">
                  <a16:creationId xmlns:a16="http://schemas.microsoft.com/office/drawing/2014/main" id="{160885EE-1E07-A2FF-205E-75FC259236D5}"/>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BRIM</a:t>
              </a:r>
            </a:p>
          </p:txBody>
        </p:sp>
        <p:sp>
          <p:nvSpPr>
            <p:cNvPr id="8" name="Rectangle: Rounded Corners 20">
              <a:extLst>
                <a:ext uri="{FF2B5EF4-FFF2-40B4-BE49-F238E27FC236}">
                  <a16:creationId xmlns:a16="http://schemas.microsoft.com/office/drawing/2014/main" id="{AA5714C4-EE5E-8839-56FF-86317717475D}"/>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ECC</a:t>
              </a:r>
            </a:p>
          </p:txBody>
        </p:sp>
        <p:sp>
          <p:nvSpPr>
            <p:cNvPr id="9" name="Rectangle: Rounded Corners 21">
              <a:extLst>
                <a:ext uri="{FF2B5EF4-FFF2-40B4-BE49-F238E27FC236}">
                  <a16:creationId xmlns:a16="http://schemas.microsoft.com/office/drawing/2014/main" id="{3BE05F33-30C1-0769-951F-CAAB821BE047}"/>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Odessa</a:t>
              </a:r>
            </a:p>
          </p:txBody>
        </p:sp>
      </p:grpSp>
      <p:graphicFrame>
        <p:nvGraphicFramePr>
          <p:cNvPr id="12" name="Table 11">
            <a:extLst>
              <a:ext uri="{FF2B5EF4-FFF2-40B4-BE49-F238E27FC236}">
                <a16:creationId xmlns:a16="http://schemas.microsoft.com/office/drawing/2014/main" id="{46FC7AE8-CDC1-17CE-0089-C0A874DA5FFC}"/>
              </a:ext>
            </a:extLst>
          </p:cNvPr>
          <p:cNvGraphicFramePr>
            <a:graphicFrameLocks noGrp="1"/>
          </p:cNvGraphicFramePr>
          <p:nvPr/>
        </p:nvGraphicFramePr>
        <p:xfrm>
          <a:off x="5951305" y="792784"/>
          <a:ext cx="5505527" cy="1285875"/>
        </p:xfrm>
        <a:graphic>
          <a:graphicData uri="http://schemas.openxmlformats.org/drawingml/2006/table">
            <a:tbl>
              <a:tblPr firstRow="1">
                <a:tableStyleId>{5C22544A-7EE6-4342-B048-85BDC9FD1C3A}</a:tableStyleId>
              </a:tblPr>
              <a:tblGrid>
                <a:gridCol w="647966">
                  <a:extLst>
                    <a:ext uri="{9D8B030D-6E8A-4147-A177-3AD203B41FA5}">
                      <a16:colId xmlns:a16="http://schemas.microsoft.com/office/drawing/2014/main" val="3200314054"/>
                    </a:ext>
                  </a:extLst>
                </a:gridCol>
                <a:gridCol w="294033">
                  <a:extLst>
                    <a:ext uri="{9D8B030D-6E8A-4147-A177-3AD203B41FA5}">
                      <a16:colId xmlns:a16="http://schemas.microsoft.com/office/drawing/2014/main" val="1913271583"/>
                    </a:ext>
                  </a:extLst>
                </a:gridCol>
                <a:gridCol w="641558">
                  <a:extLst>
                    <a:ext uri="{9D8B030D-6E8A-4147-A177-3AD203B41FA5}">
                      <a16:colId xmlns:a16="http://schemas.microsoft.com/office/drawing/2014/main" val="1797281345"/>
                    </a:ext>
                  </a:extLst>
                </a:gridCol>
                <a:gridCol w="2262937">
                  <a:extLst>
                    <a:ext uri="{9D8B030D-6E8A-4147-A177-3AD203B41FA5}">
                      <a16:colId xmlns:a16="http://schemas.microsoft.com/office/drawing/2014/main" val="2743739350"/>
                    </a:ext>
                  </a:extLst>
                </a:gridCol>
                <a:gridCol w="397816">
                  <a:extLst>
                    <a:ext uri="{9D8B030D-6E8A-4147-A177-3AD203B41FA5}">
                      <a16:colId xmlns:a16="http://schemas.microsoft.com/office/drawing/2014/main" val="2056723756"/>
                    </a:ext>
                  </a:extLst>
                </a:gridCol>
                <a:gridCol w="397816">
                  <a:extLst>
                    <a:ext uri="{9D8B030D-6E8A-4147-A177-3AD203B41FA5}">
                      <a16:colId xmlns:a16="http://schemas.microsoft.com/office/drawing/2014/main" val="4073315665"/>
                    </a:ext>
                  </a:extLst>
                </a:gridCol>
                <a:gridCol w="863401">
                  <a:extLst>
                    <a:ext uri="{9D8B030D-6E8A-4147-A177-3AD203B41FA5}">
                      <a16:colId xmlns:a16="http://schemas.microsoft.com/office/drawing/2014/main" val="848560102"/>
                    </a:ext>
                  </a:extLst>
                </a:gridCol>
              </a:tblGrid>
              <a:tr h="68455">
                <a:tc rowSpan="8">
                  <a:txBody>
                    <a:bodyPr/>
                    <a:lstStyle/>
                    <a:p>
                      <a:pPr algn="ctr" fontAlgn="ctr"/>
                      <a:r>
                        <a:rPr lang="en-US" sz="1200" b="1" i="0" u="none" strike="noStrike">
                          <a:solidFill>
                            <a:srgbClr val="FFFFFF"/>
                          </a:solidFill>
                          <a:effectLst/>
                          <a:latin typeface="Arial" panose="020B0604020202020204" pitchFamily="34" charset="0"/>
                        </a:rPr>
                        <a:t>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Recognize FA in transit upon Customer acceptance received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5">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1" u="none" strike="noStrike" kern="1200">
                          <a:solidFill>
                            <a:schemeClr val="tx1"/>
                          </a:solidFill>
                          <a:effectLst/>
                          <a:latin typeface="+mn-lt"/>
                          <a:ea typeface="+mn-ea"/>
                          <a:cs typeface="+mn-cs"/>
                        </a:rPr>
                        <a:t>Upon Customer acceptance</a:t>
                      </a:r>
                      <a:endParaRPr kumimoji="0" lang="en-US" altLang="zh-CN" sz="1000" b="1" i="0" u="none" strike="noStrike" kern="1200" cap="none" spc="0" normalizeH="0" baseline="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80497">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57377">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1619903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j-lt"/>
                        </a:rPr>
                        <a:t>Fixed Assets in Transit</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Agent Revenue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563725212"/>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2160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058660765"/>
                  </a:ext>
                </a:extLst>
              </a:tr>
              <a:tr h="68455">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5029999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等线" panose="02010600030101010101" pitchFamily="2" charset="-122"/>
                          <a:cs typeface="+mn-cs"/>
                        </a:rPr>
                        <a:t>Intercompany P&amp;L</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endParaRPr lang="en-US" altLang="zh-CN" sz="1000" b="0" i="0" u="none" strike="noStrike" kern="1200">
                        <a:solidFill>
                          <a:schemeClr val="tx1"/>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11200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3375253924"/>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30660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chemeClr val="tx1"/>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14337446"/>
                  </a:ext>
                </a:extLst>
              </a:tr>
            </a:tbl>
          </a:graphicData>
        </a:graphic>
      </p:graphicFrame>
      <p:graphicFrame>
        <p:nvGraphicFramePr>
          <p:cNvPr id="15" name="Table 14">
            <a:extLst>
              <a:ext uri="{FF2B5EF4-FFF2-40B4-BE49-F238E27FC236}">
                <a16:creationId xmlns:a16="http://schemas.microsoft.com/office/drawing/2014/main" id="{EFA024A4-D087-DCB0-EC29-63E572FF16A9}"/>
              </a:ext>
            </a:extLst>
          </p:cNvPr>
          <p:cNvGraphicFramePr>
            <a:graphicFrameLocks noGrp="1"/>
          </p:cNvGraphicFramePr>
          <p:nvPr/>
        </p:nvGraphicFramePr>
        <p:xfrm>
          <a:off x="5951305" y="2103436"/>
          <a:ext cx="5523617" cy="1123950"/>
        </p:xfrm>
        <a:graphic>
          <a:graphicData uri="http://schemas.openxmlformats.org/drawingml/2006/table">
            <a:tbl>
              <a:tblPr firstRow="1">
                <a:tableStyleId>{5C22544A-7EE6-4342-B048-85BDC9FD1C3A}</a:tableStyleId>
              </a:tblPr>
              <a:tblGrid>
                <a:gridCol w="650095">
                  <a:extLst>
                    <a:ext uri="{9D8B030D-6E8A-4147-A177-3AD203B41FA5}">
                      <a16:colId xmlns:a16="http://schemas.microsoft.com/office/drawing/2014/main" val="3200314054"/>
                    </a:ext>
                  </a:extLst>
                </a:gridCol>
                <a:gridCol w="294999">
                  <a:extLst>
                    <a:ext uri="{9D8B030D-6E8A-4147-A177-3AD203B41FA5}">
                      <a16:colId xmlns:a16="http://schemas.microsoft.com/office/drawing/2014/main" val="1913271583"/>
                    </a:ext>
                  </a:extLst>
                </a:gridCol>
                <a:gridCol w="643666">
                  <a:extLst>
                    <a:ext uri="{9D8B030D-6E8A-4147-A177-3AD203B41FA5}">
                      <a16:colId xmlns:a16="http://schemas.microsoft.com/office/drawing/2014/main" val="1797281345"/>
                    </a:ext>
                  </a:extLst>
                </a:gridCol>
                <a:gridCol w="2270373">
                  <a:extLst>
                    <a:ext uri="{9D8B030D-6E8A-4147-A177-3AD203B41FA5}">
                      <a16:colId xmlns:a16="http://schemas.microsoft.com/office/drawing/2014/main" val="2743739350"/>
                    </a:ext>
                  </a:extLst>
                </a:gridCol>
                <a:gridCol w="399123">
                  <a:extLst>
                    <a:ext uri="{9D8B030D-6E8A-4147-A177-3AD203B41FA5}">
                      <a16:colId xmlns:a16="http://schemas.microsoft.com/office/drawing/2014/main" val="2056723756"/>
                    </a:ext>
                  </a:extLst>
                </a:gridCol>
                <a:gridCol w="399123">
                  <a:extLst>
                    <a:ext uri="{9D8B030D-6E8A-4147-A177-3AD203B41FA5}">
                      <a16:colId xmlns:a16="http://schemas.microsoft.com/office/drawing/2014/main" val="4073315665"/>
                    </a:ext>
                  </a:extLst>
                </a:gridCol>
                <a:gridCol w="866238">
                  <a:extLst>
                    <a:ext uri="{9D8B030D-6E8A-4147-A177-3AD203B41FA5}">
                      <a16:colId xmlns:a16="http://schemas.microsoft.com/office/drawing/2014/main" val="848560102"/>
                    </a:ext>
                  </a:extLst>
                </a:gridCol>
              </a:tblGrid>
              <a:tr h="68455">
                <a:tc rowSpan="7">
                  <a:txBody>
                    <a:bodyPr/>
                    <a:lstStyle/>
                    <a:p>
                      <a:pPr algn="ctr" fontAlgn="ctr"/>
                      <a:r>
                        <a:rPr lang="en-US" sz="1200" b="1" i="0" u="none" strike="noStrike">
                          <a:solidFill>
                            <a:srgbClr val="FFFFFF"/>
                          </a:solidFill>
                          <a:effectLst/>
                          <a:latin typeface="Arial" panose="020B0604020202020204" pitchFamily="34" charset="0"/>
                        </a:rPr>
                        <a:t>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Recognize Fixed Assets and Upfront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5">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1" u="none" strike="noStrike" kern="1200">
                          <a:solidFill>
                            <a:schemeClr val="tx1"/>
                          </a:solidFill>
                          <a:effectLst/>
                          <a:latin typeface="+mn-lt"/>
                          <a:ea typeface="+mn-ea"/>
                          <a:cs typeface="+mn-cs"/>
                        </a:rPr>
                        <a:t>Upon Customer acceptance</a:t>
                      </a:r>
                      <a:endParaRPr kumimoji="0" lang="en-US" altLang="zh-CN" sz="1000" b="1" i="0" u="none" strike="noStrike" kern="1200" cap="none" spc="0" normalizeH="0" baseline="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8455">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Upfront fulfilled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56539118"/>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Agent Revenue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500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442138969"/>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1611550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Fixed Assets Under Operating Lease</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851737725"/>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1619903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Fixed Assets in Transit</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a:cs typeface="+mn-cs"/>
                        </a:rPr>
                        <a:t>28000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等线" panose="02010600030101010101" pitchFamily="2" charset="-122"/>
                          <a:cs typeface="+mn-cs"/>
                        </a:rPr>
                        <a:t>16800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563725212"/>
                  </a:ext>
                </a:extLst>
              </a:tr>
            </a:tbl>
          </a:graphicData>
        </a:graphic>
      </p:graphicFrame>
      <p:graphicFrame>
        <p:nvGraphicFramePr>
          <p:cNvPr id="17" name="Table 16">
            <a:extLst>
              <a:ext uri="{FF2B5EF4-FFF2-40B4-BE49-F238E27FC236}">
                <a16:creationId xmlns:a16="http://schemas.microsoft.com/office/drawing/2014/main" id="{A89A2A29-E029-9B91-2935-D7023C46D979}"/>
              </a:ext>
            </a:extLst>
          </p:cNvPr>
          <p:cNvGraphicFramePr>
            <a:graphicFrameLocks noGrp="1"/>
          </p:cNvGraphicFramePr>
          <p:nvPr>
            <p:extLst>
              <p:ext uri="{D42A27DB-BD31-4B8C-83A1-F6EECF244321}">
                <p14:modId xmlns:p14="http://schemas.microsoft.com/office/powerpoint/2010/main" val="347881799"/>
              </p:ext>
            </p:extLst>
          </p:nvPr>
        </p:nvGraphicFramePr>
        <p:xfrm>
          <a:off x="5941145" y="3244142"/>
          <a:ext cx="5674914" cy="1285875"/>
        </p:xfrm>
        <a:graphic>
          <a:graphicData uri="http://schemas.openxmlformats.org/drawingml/2006/table">
            <a:tbl>
              <a:tblPr firstRow="1">
                <a:tableStyleId>{5C22544A-7EE6-4342-B048-85BDC9FD1C3A}</a:tableStyleId>
              </a:tblPr>
              <a:tblGrid>
                <a:gridCol w="667904">
                  <a:extLst>
                    <a:ext uri="{9D8B030D-6E8A-4147-A177-3AD203B41FA5}">
                      <a16:colId xmlns:a16="http://schemas.microsoft.com/office/drawing/2014/main" val="3200314054"/>
                    </a:ext>
                  </a:extLst>
                </a:gridCol>
                <a:gridCol w="291848">
                  <a:extLst>
                    <a:ext uri="{9D8B030D-6E8A-4147-A177-3AD203B41FA5}">
                      <a16:colId xmlns:a16="http://schemas.microsoft.com/office/drawing/2014/main" val="1913271583"/>
                    </a:ext>
                  </a:extLst>
                </a:gridCol>
                <a:gridCol w="635249">
                  <a:extLst>
                    <a:ext uri="{9D8B030D-6E8A-4147-A177-3AD203B41FA5}">
                      <a16:colId xmlns:a16="http://schemas.microsoft.com/office/drawing/2014/main" val="1797281345"/>
                    </a:ext>
                  </a:extLst>
                </a:gridCol>
                <a:gridCol w="2301963">
                  <a:extLst>
                    <a:ext uri="{9D8B030D-6E8A-4147-A177-3AD203B41FA5}">
                      <a16:colId xmlns:a16="http://schemas.microsoft.com/office/drawing/2014/main" val="2743739350"/>
                    </a:ext>
                  </a:extLst>
                </a:gridCol>
                <a:gridCol w="467813">
                  <a:extLst>
                    <a:ext uri="{9D8B030D-6E8A-4147-A177-3AD203B41FA5}">
                      <a16:colId xmlns:a16="http://schemas.microsoft.com/office/drawing/2014/main" val="2056723756"/>
                    </a:ext>
                  </a:extLst>
                </a:gridCol>
                <a:gridCol w="467813">
                  <a:extLst>
                    <a:ext uri="{9D8B030D-6E8A-4147-A177-3AD203B41FA5}">
                      <a16:colId xmlns:a16="http://schemas.microsoft.com/office/drawing/2014/main" val="4073315665"/>
                    </a:ext>
                  </a:extLst>
                </a:gridCol>
                <a:gridCol w="842324">
                  <a:extLst>
                    <a:ext uri="{9D8B030D-6E8A-4147-A177-3AD203B41FA5}">
                      <a16:colId xmlns:a16="http://schemas.microsoft.com/office/drawing/2014/main" val="848560102"/>
                    </a:ext>
                  </a:extLst>
                </a:gridCol>
              </a:tblGrid>
              <a:tr h="67081">
                <a:tc rowSpan="8">
                  <a:txBody>
                    <a:bodyPr/>
                    <a:lstStyle/>
                    <a:p>
                      <a:pPr algn="ctr" fontAlgn="ctr"/>
                      <a:r>
                        <a:rPr lang="en-US" sz="1200" u="none" strike="noStrike">
                          <a:solidFill>
                            <a:schemeClr val="bg1"/>
                          </a:solidFill>
                          <a:effectLst/>
                        </a:rPr>
                        <a:t>AFE</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Monthly billing to customer</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4">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8454">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等线"/>
                          <a:cs typeface="+mn-cs"/>
                        </a:rPr>
                        <a:t>Account Receivable – Leasing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944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840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704665907"/>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93553249"/>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LR – Upfront fulfilled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245107330"/>
                  </a:ext>
                </a:extLst>
              </a:tr>
              <a:tr h="6845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800212848"/>
                  </a:ext>
                </a:extLst>
              </a:tr>
            </a:tbl>
          </a:graphicData>
        </a:graphic>
      </p:graphicFrame>
      <p:graphicFrame>
        <p:nvGraphicFramePr>
          <p:cNvPr id="18" name="Table 17">
            <a:extLst>
              <a:ext uri="{FF2B5EF4-FFF2-40B4-BE49-F238E27FC236}">
                <a16:creationId xmlns:a16="http://schemas.microsoft.com/office/drawing/2014/main" id="{E96356D2-6973-AF73-47FD-6FB01108E67F}"/>
              </a:ext>
            </a:extLst>
          </p:cNvPr>
          <p:cNvGraphicFramePr>
            <a:graphicFrameLocks noGrp="1"/>
          </p:cNvGraphicFramePr>
          <p:nvPr>
            <p:extLst>
              <p:ext uri="{D42A27DB-BD31-4B8C-83A1-F6EECF244321}">
                <p14:modId xmlns:p14="http://schemas.microsoft.com/office/powerpoint/2010/main" val="3948615501"/>
              </p:ext>
            </p:extLst>
          </p:nvPr>
        </p:nvGraphicFramePr>
        <p:xfrm>
          <a:off x="5942514" y="5848445"/>
          <a:ext cx="5695375" cy="800100"/>
        </p:xfrm>
        <a:graphic>
          <a:graphicData uri="http://schemas.openxmlformats.org/drawingml/2006/table">
            <a:tbl>
              <a:tblPr firstRow="1">
                <a:tableStyleId>{5C22544A-7EE6-4342-B048-85BDC9FD1C3A}</a:tableStyleId>
              </a:tblPr>
              <a:tblGrid>
                <a:gridCol w="670313">
                  <a:extLst>
                    <a:ext uri="{9D8B030D-6E8A-4147-A177-3AD203B41FA5}">
                      <a16:colId xmlns:a16="http://schemas.microsoft.com/office/drawing/2014/main" val="3200314054"/>
                    </a:ext>
                  </a:extLst>
                </a:gridCol>
                <a:gridCol w="292899">
                  <a:extLst>
                    <a:ext uri="{9D8B030D-6E8A-4147-A177-3AD203B41FA5}">
                      <a16:colId xmlns:a16="http://schemas.microsoft.com/office/drawing/2014/main" val="1913271583"/>
                    </a:ext>
                  </a:extLst>
                </a:gridCol>
                <a:gridCol w="637539">
                  <a:extLst>
                    <a:ext uri="{9D8B030D-6E8A-4147-A177-3AD203B41FA5}">
                      <a16:colId xmlns:a16="http://schemas.microsoft.com/office/drawing/2014/main" val="1797281345"/>
                    </a:ext>
                  </a:extLst>
                </a:gridCol>
                <a:gridCol w="2319114">
                  <a:extLst>
                    <a:ext uri="{9D8B030D-6E8A-4147-A177-3AD203B41FA5}">
                      <a16:colId xmlns:a16="http://schemas.microsoft.com/office/drawing/2014/main" val="2743739350"/>
                    </a:ext>
                  </a:extLst>
                </a:gridCol>
                <a:gridCol w="465074">
                  <a:extLst>
                    <a:ext uri="{9D8B030D-6E8A-4147-A177-3AD203B41FA5}">
                      <a16:colId xmlns:a16="http://schemas.microsoft.com/office/drawing/2014/main" val="2056723756"/>
                    </a:ext>
                  </a:extLst>
                </a:gridCol>
                <a:gridCol w="465074">
                  <a:extLst>
                    <a:ext uri="{9D8B030D-6E8A-4147-A177-3AD203B41FA5}">
                      <a16:colId xmlns:a16="http://schemas.microsoft.com/office/drawing/2014/main" val="4073315665"/>
                    </a:ext>
                  </a:extLst>
                </a:gridCol>
                <a:gridCol w="845362">
                  <a:extLst>
                    <a:ext uri="{9D8B030D-6E8A-4147-A177-3AD203B41FA5}">
                      <a16:colId xmlns:a16="http://schemas.microsoft.com/office/drawing/2014/main" val="848560102"/>
                    </a:ext>
                  </a:extLst>
                </a:gridCol>
              </a:tblGrid>
              <a:tr h="0">
                <a:tc rowSpan="5">
                  <a:txBody>
                    <a:bodyPr/>
                    <a:lstStyle/>
                    <a:p>
                      <a:pPr algn="ctr" fontAlgn="ctr"/>
                      <a:r>
                        <a:rPr lang="en-US" sz="1200" u="none" strike="noStrike">
                          <a:solidFill>
                            <a:schemeClr val="bg1"/>
                          </a:solidFill>
                          <a:effectLst/>
                        </a:rPr>
                        <a:t>AFE</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bg1"/>
                          </a:solidFill>
                          <a:effectLst/>
                          <a:latin typeface="+mn-lt"/>
                          <a:ea typeface="+mn-ea"/>
                          <a:cs typeface="+mn-cs"/>
                        </a:rPr>
                        <a:t>Monthly service transfer to 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Agent Revenue – SW subscription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949325226"/>
                  </a:ext>
                </a:extLst>
              </a:tr>
              <a:tr h="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a:solidFill>
                            <a:sysClr val="windowText" lastClr="000000"/>
                          </a:solidFill>
                          <a:latin typeface="+mn-lt"/>
                        </a:rPr>
                        <a:t>A/P-Inter Group</a:t>
                      </a:r>
                      <a:endParaRPr lang="en-US"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627414531"/>
                  </a:ext>
                </a:extLst>
              </a:tr>
            </a:tbl>
          </a:graphicData>
        </a:graphic>
      </p:graphicFrame>
      <p:graphicFrame>
        <p:nvGraphicFramePr>
          <p:cNvPr id="19" name="Table 18">
            <a:extLst>
              <a:ext uri="{FF2B5EF4-FFF2-40B4-BE49-F238E27FC236}">
                <a16:creationId xmlns:a16="http://schemas.microsoft.com/office/drawing/2014/main" id="{9B8734E9-DE47-3408-7E8A-5D39A671D8D2}"/>
              </a:ext>
            </a:extLst>
          </p:cNvPr>
          <p:cNvGraphicFramePr>
            <a:graphicFrameLocks noGrp="1"/>
          </p:cNvGraphicFramePr>
          <p:nvPr/>
        </p:nvGraphicFramePr>
        <p:xfrm>
          <a:off x="5939581" y="4715743"/>
          <a:ext cx="5695373" cy="1123950"/>
        </p:xfrm>
        <a:graphic>
          <a:graphicData uri="http://schemas.openxmlformats.org/drawingml/2006/table">
            <a:tbl>
              <a:tblPr firstRow="1">
                <a:tableStyleId>{5C22544A-7EE6-4342-B048-85BDC9FD1C3A}</a:tableStyleId>
              </a:tblPr>
              <a:tblGrid>
                <a:gridCol w="670311">
                  <a:extLst>
                    <a:ext uri="{9D8B030D-6E8A-4147-A177-3AD203B41FA5}">
                      <a16:colId xmlns:a16="http://schemas.microsoft.com/office/drawing/2014/main" val="3200314054"/>
                    </a:ext>
                  </a:extLst>
                </a:gridCol>
                <a:gridCol w="188353">
                  <a:extLst>
                    <a:ext uri="{9D8B030D-6E8A-4147-A177-3AD203B41FA5}">
                      <a16:colId xmlns:a16="http://schemas.microsoft.com/office/drawing/2014/main" val="1913271583"/>
                    </a:ext>
                  </a:extLst>
                </a:gridCol>
                <a:gridCol w="637664">
                  <a:extLst>
                    <a:ext uri="{9D8B030D-6E8A-4147-A177-3AD203B41FA5}">
                      <a16:colId xmlns:a16="http://schemas.microsoft.com/office/drawing/2014/main" val="1797281345"/>
                    </a:ext>
                  </a:extLst>
                </a:gridCol>
                <a:gridCol w="2464200">
                  <a:extLst>
                    <a:ext uri="{9D8B030D-6E8A-4147-A177-3AD203B41FA5}">
                      <a16:colId xmlns:a16="http://schemas.microsoft.com/office/drawing/2014/main" val="2743739350"/>
                    </a:ext>
                  </a:extLst>
                </a:gridCol>
                <a:gridCol w="504092">
                  <a:extLst>
                    <a:ext uri="{9D8B030D-6E8A-4147-A177-3AD203B41FA5}">
                      <a16:colId xmlns:a16="http://schemas.microsoft.com/office/drawing/2014/main" val="2056723756"/>
                    </a:ext>
                  </a:extLst>
                </a:gridCol>
                <a:gridCol w="385391">
                  <a:extLst>
                    <a:ext uri="{9D8B030D-6E8A-4147-A177-3AD203B41FA5}">
                      <a16:colId xmlns:a16="http://schemas.microsoft.com/office/drawing/2014/main" val="4073315665"/>
                    </a:ext>
                  </a:extLst>
                </a:gridCol>
                <a:gridCol w="845362">
                  <a:extLst>
                    <a:ext uri="{9D8B030D-6E8A-4147-A177-3AD203B41FA5}">
                      <a16:colId xmlns:a16="http://schemas.microsoft.com/office/drawing/2014/main" val="848560102"/>
                    </a:ext>
                  </a:extLst>
                </a:gridCol>
              </a:tblGrid>
              <a:tr h="68454">
                <a:tc rowSpan="7">
                  <a:txBody>
                    <a:bodyPr/>
                    <a:lstStyle/>
                    <a:p>
                      <a:pPr algn="ctr" fontAlgn="ctr"/>
                      <a:r>
                        <a:rPr lang="en-US" sz="1200" u="none" strike="noStrike">
                          <a:effectLst/>
                        </a:rPr>
                        <a:t>AFE</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indent="0" algn="l" defTabSz="1218987" rtl="0" eaLnBrk="1" fontAlgn="b" latinLnBrk="0" hangingPunct="1">
                        <a:buFont typeface="Arial" panose="020B0604020202020204" pitchFamily="34" charset="0"/>
                        <a:buNone/>
                      </a:pPr>
                      <a:r>
                        <a:rPr lang="en-US" sz="1000" b="1" i="0" u="none" strike="noStrike" kern="1200">
                          <a:solidFill>
                            <a:srgbClr val="FFFFFF"/>
                          </a:solidFill>
                          <a:effectLst/>
                          <a:latin typeface="+mj-lt"/>
                          <a:ea typeface="+mn-ea"/>
                          <a:cs typeface="+mn-cs"/>
                        </a:rPr>
                        <a:t>Recording monthly depreciation and funded service</a:t>
                      </a:r>
                      <a:endParaRPr lang="en-US" sz="1000" b="1" u="none" strike="noStrike" kern="1200">
                        <a:solidFill>
                          <a:schemeClr val="lt1"/>
                        </a:solidFill>
                        <a:effectLst/>
                        <a:latin typeface="+mj-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4">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i="0" u="none" strike="noStrike" kern="1200">
                          <a:solidFill>
                            <a:schemeClr val="tx1"/>
                          </a:solidFill>
                          <a:effectLst/>
                          <a:latin typeface="+mj-lt"/>
                          <a:ea typeface="+mn-ea"/>
                          <a:cs typeface="+mn-cs"/>
                        </a:rPr>
                        <a:t>Upon monthly Batch</a:t>
                      </a:r>
                      <a:endParaRPr kumimoji="0" lang="en-US" altLang="zh-CN" sz="1000" b="1" i="0" u="none" strike="noStrike" kern="1200" cap="none" spc="0" normalizeH="0" baseline="0">
                        <a:ln>
                          <a:noFill/>
                        </a:ln>
                        <a:solidFill>
                          <a:schemeClr val="tx1"/>
                        </a:solidFill>
                        <a:effectLst/>
                        <a:uLnTx/>
                        <a:uFillTx/>
                        <a:latin typeface="+mj-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708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j-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j-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j-lt"/>
                          <a:ea typeface="+mn-ea"/>
                          <a:cs typeface="+mn-cs"/>
                        </a:rPr>
                        <a:t>PV</a:t>
                      </a:r>
                      <a:endParaRPr kumimoji="0" lang="en-US" sz="1000" b="1" i="0" u="none" strike="noStrike" kern="1200" cap="none" spc="0" normalizeH="0" baseline="0">
                        <a:ln>
                          <a:noFill/>
                        </a:ln>
                        <a:solidFill>
                          <a:srgbClr val="000000"/>
                        </a:solidFill>
                        <a:effectLst/>
                        <a:uLnTx/>
                        <a:uFillTx/>
                        <a:latin typeface="+mj-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j-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176348254"/>
                  </a:ext>
                </a:extLst>
              </a:tr>
              <a:tr h="684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575544495"/>
                  </a:ext>
                </a:extLst>
              </a:tr>
              <a:tr h="68454">
                <a:tc vMerge="1">
                  <a:txBody>
                    <a:bodyPr/>
                    <a:lstStyle/>
                    <a:p>
                      <a:endParaRPr lang="en-US"/>
                    </a:p>
                  </a:txBody>
                  <a:tcPr/>
                </a:tc>
                <a:tc>
                  <a:txBody>
                    <a:bodyPr/>
                    <a:lstStyle/>
                    <a:p>
                      <a:pPr algn="ctr" fontAlgn="ctr"/>
                      <a:r>
                        <a:rPr lang="en-US" sz="1000" b="0" i="0" u="none" strike="noStrike">
                          <a:solidFill>
                            <a:srgbClr val="000000"/>
                          </a:solidFill>
                          <a:effectLst/>
                          <a:latin typeface="+mj-lt"/>
                        </a:rPr>
                        <a:t>Dr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4060110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Depreciation Expense (COS Impact)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712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401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851737725"/>
                  </a:ext>
                </a:extLst>
              </a:tr>
              <a:tr h="68454">
                <a:tc vMerge="1">
                  <a:txBody>
                    <a:bodyPr/>
                    <a:lstStyle/>
                    <a:p>
                      <a:endParaRPr lang="en-US"/>
                    </a:p>
                  </a:txBody>
                  <a:tcPr/>
                </a:tc>
                <a:tc>
                  <a:txBody>
                    <a:bodyPr/>
                    <a:lstStyle/>
                    <a:p>
                      <a:pPr algn="ctr" fontAlgn="ctr"/>
                      <a:r>
                        <a:rPr lang="en-US" sz="1000" b="0" i="0" u="none" strike="noStrike">
                          <a:solidFill>
                            <a:srgbClr val="000000"/>
                          </a:solidFill>
                          <a:effectLst/>
                          <a:latin typeface="+mj-lt"/>
                        </a:rPr>
                        <a:t>Cr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1651550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Accumulated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712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401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683432593"/>
                  </a:ext>
                </a:extLst>
              </a:tr>
            </a:tbl>
          </a:graphicData>
        </a:graphic>
      </p:graphicFrame>
      <p:graphicFrame>
        <p:nvGraphicFramePr>
          <p:cNvPr id="21" name="Table 20">
            <a:extLst>
              <a:ext uri="{FF2B5EF4-FFF2-40B4-BE49-F238E27FC236}">
                <a16:creationId xmlns:a16="http://schemas.microsoft.com/office/drawing/2014/main" id="{2F56679D-9C68-10C5-0185-67F4D96021BA}"/>
              </a:ext>
            </a:extLst>
          </p:cNvPr>
          <p:cNvGraphicFramePr>
            <a:graphicFrameLocks noGrp="1"/>
          </p:cNvGraphicFramePr>
          <p:nvPr>
            <p:extLst>
              <p:ext uri="{D42A27DB-BD31-4B8C-83A1-F6EECF244321}">
                <p14:modId xmlns:p14="http://schemas.microsoft.com/office/powerpoint/2010/main" val="3814135623"/>
              </p:ext>
            </p:extLst>
          </p:nvPr>
        </p:nvGraphicFramePr>
        <p:xfrm>
          <a:off x="120426" y="3413962"/>
          <a:ext cx="5663238" cy="800100"/>
        </p:xfrm>
        <a:graphic>
          <a:graphicData uri="http://schemas.openxmlformats.org/drawingml/2006/table">
            <a:tbl>
              <a:tblPr firstRow="1">
                <a:tableStyleId>{5C22544A-7EE6-4342-B048-85BDC9FD1C3A}</a:tableStyleId>
              </a:tblPr>
              <a:tblGrid>
                <a:gridCol w="666531">
                  <a:extLst>
                    <a:ext uri="{9D8B030D-6E8A-4147-A177-3AD203B41FA5}">
                      <a16:colId xmlns:a16="http://schemas.microsoft.com/office/drawing/2014/main" val="3200314054"/>
                    </a:ext>
                  </a:extLst>
                </a:gridCol>
                <a:gridCol w="291249">
                  <a:extLst>
                    <a:ext uri="{9D8B030D-6E8A-4147-A177-3AD203B41FA5}">
                      <a16:colId xmlns:a16="http://schemas.microsoft.com/office/drawing/2014/main" val="1913271583"/>
                    </a:ext>
                  </a:extLst>
                </a:gridCol>
                <a:gridCol w="633942">
                  <a:extLst>
                    <a:ext uri="{9D8B030D-6E8A-4147-A177-3AD203B41FA5}">
                      <a16:colId xmlns:a16="http://schemas.microsoft.com/office/drawing/2014/main" val="1797281345"/>
                    </a:ext>
                  </a:extLst>
                </a:gridCol>
                <a:gridCol w="2497687">
                  <a:extLst>
                    <a:ext uri="{9D8B030D-6E8A-4147-A177-3AD203B41FA5}">
                      <a16:colId xmlns:a16="http://schemas.microsoft.com/office/drawing/2014/main" val="2743739350"/>
                    </a:ext>
                  </a:extLst>
                </a:gridCol>
                <a:gridCol w="376977">
                  <a:extLst>
                    <a:ext uri="{9D8B030D-6E8A-4147-A177-3AD203B41FA5}">
                      <a16:colId xmlns:a16="http://schemas.microsoft.com/office/drawing/2014/main" val="2056723756"/>
                    </a:ext>
                  </a:extLst>
                </a:gridCol>
                <a:gridCol w="356261">
                  <a:extLst>
                    <a:ext uri="{9D8B030D-6E8A-4147-A177-3AD203B41FA5}">
                      <a16:colId xmlns:a16="http://schemas.microsoft.com/office/drawing/2014/main" val="4073315665"/>
                    </a:ext>
                  </a:extLst>
                </a:gridCol>
                <a:gridCol w="840591">
                  <a:extLst>
                    <a:ext uri="{9D8B030D-6E8A-4147-A177-3AD203B41FA5}">
                      <a16:colId xmlns:a16="http://schemas.microsoft.com/office/drawing/2014/main" val="848560102"/>
                    </a:ext>
                  </a:extLst>
                </a:gridCol>
              </a:tblGrid>
              <a:tr h="68455">
                <a:tc rowSpan="5">
                  <a:txBody>
                    <a:bodyPr/>
                    <a:lstStyle/>
                    <a:p>
                      <a:pPr algn="ctr" fontAlgn="ctr"/>
                      <a:r>
                        <a:rPr lang="en-US" sz="1200" b="1" i="0" u="none" strike="sngStrike">
                          <a:solidFill>
                            <a:schemeClr val="bg1"/>
                          </a:solidFill>
                          <a:effectLst/>
                          <a:latin typeface="Arial"/>
                        </a:rPr>
                        <a:t>S&amp;D</a:t>
                      </a:r>
                    </a:p>
                    <a:p>
                      <a:pPr algn="ctr" fontAlgn="ctr"/>
                      <a:r>
                        <a:rPr lang="en-US" sz="1200" u="none" strike="sngStrike">
                          <a:solidFill>
                            <a:schemeClr val="bg1"/>
                          </a:solidFill>
                          <a:effectLst/>
                        </a:rPr>
                        <a:t>Entity</a:t>
                      </a:r>
                      <a:endParaRPr lang="en-US" sz="1200" b="1" i="0" u="none" strike="sng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S</a:t>
                      </a:r>
                      <a:r>
                        <a:rPr lang="en-US" sz="1000" b="1" u="none" strike="noStrike" kern="1200">
                          <a:solidFill>
                            <a:schemeClr val="bg1"/>
                          </a:solidFill>
                          <a:effectLst/>
                          <a:latin typeface="+mn-lt"/>
                          <a:ea typeface="+mn-ea"/>
                          <a:cs typeface="+mn-cs"/>
                        </a:rPr>
                        <a:t>&amp;D raises monthly invoice to 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5">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Upon Monthly Billing</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8455">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68455">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mn-ea"/>
                          <a:cs typeface="+mn-cs"/>
                        </a:rPr>
                        <a:t>Account Receivable (Inter Group)</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7200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algn="l" fontAlgn="b"/>
                      <a:r>
                        <a:rPr lang="en-US" sz="1000" b="0" i="0" u="none" strike="noStrike">
                          <a:solidFill>
                            <a:srgbClr val="000000"/>
                          </a:solidFill>
                          <a:effectLst/>
                          <a:latin typeface="+mn-lt"/>
                        </a:rPr>
                        <a:t>Service Revenue – SW subscription</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3E8DDD"/>
                    </a:solidFill>
                  </a:tcPr>
                </a:tc>
                <a:extLst>
                  <a:ext uri="{0D108BD9-81ED-4DB2-BD59-A6C34878D82A}">
                    <a16:rowId xmlns:a16="http://schemas.microsoft.com/office/drawing/2014/main" val="308658163"/>
                  </a:ext>
                </a:extLst>
              </a:tr>
            </a:tbl>
          </a:graphicData>
        </a:graphic>
      </p:graphicFrame>
      <p:graphicFrame>
        <p:nvGraphicFramePr>
          <p:cNvPr id="24" name="Table 65">
            <a:extLst>
              <a:ext uri="{FF2B5EF4-FFF2-40B4-BE49-F238E27FC236}">
                <a16:creationId xmlns:a16="http://schemas.microsoft.com/office/drawing/2014/main" id="{B5923D65-0366-9B67-F212-667BAE142D27}"/>
              </a:ext>
            </a:extLst>
          </p:cNvPr>
          <p:cNvGraphicFramePr>
            <a:graphicFrameLocks noGrp="1"/>
          </p:cNvGraphicFramePr>
          <p:nvPr/>
        </p:nvGraphicFramePr>
        <p:xfrm>
          <a:off x="115032" y="4647887"/>
          <a:ext cx="5674025" cy="800100"/>
        </p:xfrm>
        <a:graphic>
          <a:graphicData uri="http://schemas.openxmlformats.org/drawingml/2006/table">
            <a:tbl>
              <a:tblPr firstRow="1">
                <a:tableStyleId>{5C22544A-7EE6-4342-B048-85BDC9FD1C3A}</a:tableStyleId>
              </a:tblPr>
              <a:tblGrid>
                <a:gridCol w="680527">
                  <a:extLst>
                    <a:ext uri="{9D8B030D-6E8A-4147-A177-3AD203B41FA5}">
                      <a16:colId xmlns:a16="http://schemas.microsoft.com/office/drawing/2014/main" val="3200314054"/>
                    </a:ext>
                  </a:extLst>
                </a:gridCol>
                <a:gridCol w="289123">
                  <a:extLst>
                    <a:ext uri="{9D8B030D-6E8A-4147-A177-3AD203B41FA5}">
                      <a16:colId xmlns:a16="http://schemas.microsoft.com/office/drawing/2014/main" val="1913271583"/>
                    </a:ext>
                  </a:extLst>
                </a:gridCol>
                <a:gridCol w="737897">
                  <a:extLst>
                    <a:ext uri="{9D8B030D-6E8A-4147-A177-3AD203B41FA5}">
                      <a16:colId xmlns:a16="http://schemas.microsoft.com/office/drawing/2014/main" val="1423110619"/>
                    </a:ext>
                  </a:extLst>
                </a:gridCol>
                <a:gridCol w="2146675">
                  <a:extLst>
                    <a:ext uri="{9D8B030D-6E8A-4147-A177-3AD203B41FA5}">
                      <a16:colId xmlns:a16="http://schemas.microsoft.com/office/drawing/2014/main" val="2743739350"/>
                    </a:ext>
                  </a:extLst>
                </a:gridCol>
                <a:gridCol w="509048">
                  <a:extLst>
                    <a:ext uri="{9D8B030D-6E8A-4147-A177-3AD203B41FA5}">
                      <a16:colId xmlns:a16="http://schemas.microsoft.com/office/drawing/2014/main" val="2056723756"/>
                    </a:ext>
                  </a:extLst>
                </a:gridCol>
                <a:gridCol w="490193">
                  <a:extLst>
                    <a:ext uri="{9D8B030D-6E8A-4147-A177-3AD203B41FA5}">
                      <a16:colId xmlns:a16="http://schemas.microsoft.com/office/drawing/2014/main" val="4073315665"/>
                    </a:ext>
                  </a:extLst>
                </a:gridCol>
                <a:gridCol w="820562">
                  <a:extLst>
                    <a:ext uri="{9D8B030D-6E8A-4147-A177-3AD203B41FA5}">
                      <a16:colId xmlns:a16="http://schemas.microsoft.com/office/drawing/2014/main" val="848560102"/>
                    </a:ext>
                  </a:extLst>
                </a:gridCol>
              </a:tblGrid>
              <a:tr h="68454">
                <a:tc rowSpan="5">
                  <a:txBody>
                    <a:bodyPr/>
                    <a:lstStyle/>
                    <a:p>
                      <a:pPr algn="ctr" fontAlgn="ctr"/>
                      <a:r>
                        <a:rPr lang="en-US" sz="1200" u="none" strike="noStrike">
                          <a:effectLst/>
                        </a:rPr>
                        <a:t>S&amp;D</a:t>
                      </a:r>
                      <a:br>
                        <a:rPr lang="en-US" sz="1200" u="none" strike="noStrike">
                          <a:effectLst/>
                        </a:rPr>
                      </a:br>
                      <a:r>
                        <a:rPr lang="en-US" sz="1200" u="none" strike="noStrike">
                          <a:effectLst/>
                        </a:rPr>
                        <a:t>Entity</a:t>
                      </a: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Funded Ongoing service monthly amortization</a:t>
                      </a:r>
                      <a:endParaRPr kumimoji="0" lang="en-US" sz="1000" b="1" i="0" u="none" strike="noStrike" kern="1200" cap="none" spc="0" normalizeH="0" baseline="0" noProof="0">
                        <a:ln>
                          <a:noFill/>
                        </a:ln>
                        <a:solidFill>
                          <a:prstClr val="white"/>
                        </a:solidFill>
                        <a:effectLst/>
                        <a:uLnTx/>
                        <a:uFillTx/>
                        <a:latin typeface="+mn-lt"/>
                        <a:ea typeface="+mn-ea"/>
                        <a:cs typeface="Arial"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68454">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altLang="zh-CN"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67081">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50002211"/>
                  </a:ext>
                </a:extLst>
              </a:tr>
              <a:tr h="68454">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Deferred Income – Premier Support</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a:cs typeface="+mn-cs"/>
                        </a:rPr>
                        <a:t>60</a:t>
                      </a:r>
                      <a:endParaRPr lang="zh-CN" alt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1538828212"/>
                  </a:ext>
                </a:extLst>
              </a:tr>
              <a:tr h="68454">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1000" b="0" i="0" u="none" strike="noStrike">
                          <a:solidFill>
                            <a:srgbClr val="000000"/>
                          </a:solidFill>
                          <a:effectLst/>
                          <a:latin typeface="+mn-lt"/>
                        </a:rPr>
                        <a:t>Service Revenue – Premier Support</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1976302529"/>
                  </a:ext>
                </a:extLst>
              </a:tr>
            </a:tbl>
          </a:graphicData>
        </a:graphic>
      </p:graphicFrame>
      <p:graphicFrame>
        <p:nvGraphicFramePr>
          <p:cNvPr id="2" name="Table 2">
            <a:extLst>
              <a:ext uri="{FF2B5EF4-FFF2-40B4-BE49-F238E27FC236}">
                <a16:creationId xmlns:a16="http://schemas.microsoft.com/office/drawing/2014/main" id="{330D6A55-5058-A52E-1630-AB02828B95A9}"/>
              </a:ext>
            </a:extLst>
          </p:cNvPr>
          <p:cNvGraphicFramePr>
            <a:graphicFrameLocks noGrp="1"/>
          </p:cNvGraphicFramePr>
          <p:nvPr/>
        </p:nvGraphicFramePr>
        <p:xfrm>
          <a:off x="85274" y="5522225"/>
          <a:ext cx="5703785" cy="723900"/>
        </p:xfrm>
        <a:graphic>
          <a:graphicData uri="http://schemas.openxmlformats.org/drawingml/2006/table">
            <a:tbl>
              <a:tblPr firstRow="1">
                <a:tableStyleId>{5C22544A-7EE6-4342-B048-85BDC9FD1C3A}</a:tableStyleId>
              </a:tblPr>
              <a:tblGrid>
                <a:gridCol w="671304">
                  <a:extLst>
                    <a:ext uri="{9D8B030D-6E8A-4147-A177-3AD203B41FA5}">
                      <a16:colId xmlns:a16="http://schemas.microsoft.com/office/drawing/2014/main" val="3200314054"/>
                    </a:ext>
                  </a:extLst>
                </a:gridCol>
                <a:gridCol w="182311">
                  <a:extLst>
                    <a:ext uri="{9D8B030D-6E8A-4147-A177-3AD203B41FA5}">
                      <a16:colId xmlns:a16="http://schemas.microsoft.com/office/drawing/2014/main" val="1913271583"/>
                    </a:ext>
                  </a:extLst>
                </a:gridCol>
                <a:gridCol w="643872">
                  <a:extLst>
                    <a:ext uri="{9D8B030D-6E8A-4147-A177-3AD203B41FA5}">
                      <a16:colId xmlns:a16="http://schemas.microsoft.com/office/drawing/2014/main" val="1797281345"/>
                    </a:ext>
                  </a:extLst>
                </a:gridCol>
                <a:gridCol w="2056411">
                  <a:extLst>
                    <a:ext uri="{9D8B030D-6E8A-4147-A177-3AD203B41FA5}">
                      <a16:colId xmlns:a16="http://schemas.microsoft.com/office/drawing/2014/main" val="2743739350"/>
                    </a:ext>
                  </a:extLst>
                </a:gridCol>
                <a:gridCol w="616681">
                  <a:extLst>
                    <a:ext uri="{9D8B030D-6E8A-4147-A177-3AD203B41FA5}">
                      <a16:colId xmlns:a16="http://schemas.microsoft.com/office/drawing/2014/main" val="2056723756"/>
                    </a:ext>
                  </a:extLst>
                </a:gridCol>
                <a:gridCol w="686595">
                  <a:extLst>
                    <a:ext uri="{9D8B030D-6E8A-4147-A177-3AD203B41FA5}">
                      <a16:colId xmlns:a16="http://schemas.microsoft.com/office/drawing/2014/main" val="4073315665"/>
                    </a:ext>
                  </a:extLst>
                </a:gridCol>
                <a:gridCol w="846611">
                  <a:extLst>
                    <a:ext uri="{9D8B030D-6E8A-4147-A177-3AD203B41FA5}">
                      <a16:colId xmlns:a16="http://schemas.microsoft.com/office/drawing/2014/main" val="848560102"/>
                    </a:ext>
                  </a:extLst>
                </a:gridCol>
              </a:tblGrid>
              <a:tr h="96327">
                <a:tc rowSpan="5">
                  <a:txBody>
                    <a:bodyPr/>
                    <a:lstStyle/>
                    <a:p>
                      <a:pPr algn="ctr" fontAlgn="ctr"/>
                      <a:r>
                        <a:rPr lang="en-US" sz="1100" u="none" strike="noStrike">
                          <a:effectLst/>
                        </a:rPr>
                        <a:t>S&amp;D</a:t>
                      </a:r>
                      <a:br>
                        <a:rPr lang="en-US" sz="1100" u="none" strike="noStrike">
                          <a:effectLst/>
                        </a:rPr>
                      </a:br>
                      <a:r>
                        <a:rPr lang="en-US" sz="1100" u="none" strike="noStrike">
                          <a:effectLst/>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900" b="1" u="none" strike="noStrike" kern="1200">
                          <a:solidFill>
                            <a:schemeClr val="lt1"/>
                          </a:solidFill>
                          <a:effectLst/>
                          <a:latin typeface="+mn-lt"/>
                          <a:ea typeface="+mn-ea"/>
                          <a:cs typeface="+mn-cs"/>
                        </a:rPr>
                        <a:t>Factory service split​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96327">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a:ln>
                            <a:noFill/>
                          </a:ln>
                          <a:solidFill>
                            <a:srgbClr val="000000"/>
                          </a:solidFill>
                          <a:effectLst/>
                          <a:uLnTx/>
                          <a:uFillTx/>
                          <a:latin typeface="+mn-lt"/>
                          <a:ea typeface="+mn-ea"/>
                          <a:cs typeface="+mn-cs"/>
                        </a:rPr>
                        <a:t>Upon M0, follow as-is FS split logic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96327">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900" b="1" i="0" u="none" strike="noStrike" kern="1200" cap="none" spc="0" normalizeH="0" baseline="0">
                          <a:ln>
                            <a:noFill/>
                          </a:ln>
                          <a:solidFill>
                            <a:srgbClr val="000000"/>
                          </a:solidFill>
                          <a:effectLst/>
                          <a:uLnTx/>
                          <a:uFillTx/>
                          <a:latin typeface="Arial"/>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900" b="1" i="0" u="none" strike="noStrike" kern="1200" cap="none" spc="0" normalizeH="0" baseline="0">
                          <a:ln>
                            <a:noFill/>
                          </a:ln>
                          <a:solidFill>
                            <a:srgbClr val="000000"/>
                          </a:solidFill>
                          <a:effectLst/>
                          <a:uLnTx/>
                          <a:uFillTx/>
                          <a:latin typeface="Arial"/>
                          <a:ea typeface="+mn-ea"/>
                          <a:cs typeface="+mn-cs"/>
                        </a:rPr>
                        <a:t>PV</a:t>
                      </a:r>
                      <a:endParaRPr kumimoji="0" lang="en-US" sz="900" b="1" i="0" u="none" strike="noStrike" kern="1200" cap="none" spc="0" normalizeH="0" baseline="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900" b="1" i="0" u="none" strike="noStrike" kern="1200" cap="none" spc="0" normalizeH="0" baseline="0">
                          <a:ln>
                            <a:noFill/>
                          </a:ln>
                          <a:solidFill>
                            <a:srgbClr val="000000"/>
                          </a:solidFill>
                          <a:effectLst/>
                          <a:uLnTx/>
                          <a:uFillTx/>
                          <a:latin typeface="Arial"/>
                          <a:ea typeface="+mn-ea"/>
                          <a:cs typeface="+mn-cs"/>
                        </a:rPr>
                        <a:t>Profit Center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98254">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mn-lt"/>
                          <a:ea typeface="+mn-ea"/>
                          <a:cs typeface="+mn-cs"/>
                        </a:rPr>
                        <a:t>5010300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l" defTabSz="1218987" rtl="0" eaLnBrk="1" fontAlgn="ctr"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mn-lt"/>
                          <a:ea typeface="+mn-ea"/>
                          <a:cs typeface="+mn-cs"/>
                        </a:rPr>
                        <a:t>Turnover (IC Revenue)</a:t>
                      </a:r>
                      <a:endParaRPr lang="en-US" altLang="zh-CN" sz="9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mn-lt"/>
                          <a:ea typeface="+mn-ea"/>
                          <a:cs typeface="+mn-cs"/>
                        </a:rPr>
                        <a:t>X1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2851737725"/>
                  </a:ext>
                </a:extLst>
              </a:tr>
              <a:tr h="98254">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ctr" fontAlgn="b"/>
                      <a:r>
                        <a:rPr lang="en-US" sz="900" b="0" i="0" u="none" strike="noStrike">
                          <a:solidFill>
                            <a:srgbClr val="000000"/>
                          </a:solidFill>
                          <a:effectLst/>
                          <a:latin typeface="+mn-lt"/>
                        </a:rPr>
                        <a:t>5010401</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algn="l" fontAlgn="b"/>
                      <a:r>
                        <a:rPr lang="en-US" sz="900" b="0" i="0" u="none" strike="noStrike">
                          <a:solidFill>
                            <a:srgbClr val="000000"/>
                          </a:solidFill>
                          <a:effectLst/>
                          <a:latin typeface="+mn-lt"/>
                        </a:rPr>
                        <a:t>Service Rev – FS</a:t>
                      </a:r>
                      <a:endParaRPr lang="en-US" sz="900" b="0" i="0" u="none" strike="noStrike">
                        <a:solidFill>
                          <a:srgbClr val="FF0000"/>
                        </a:solidFill>
                        <a:effectLst/>
                        <a:latin typeface="+mn-lt"/>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rPr>
                        <a:t>5</a:t>
                      </a:r>
                      <a:endParaRPr kumimoji="0" lang="zh-CN" altLang="en-US" sz="900" b="0" i="0" u="none" strike="noStrike" kern="1200" cap="none" spc="0" normalizeH="0" baseline="0" noProof="0">
                        <a:ln>
                          <a:noFill/>
                        </a:ln>
                        <a:solidFill>
                          <a:srgbClr val="000000"/>
                        </a:solidFill>
                        <a:effectLst/>
                        <a:uLnTx/>
                        <a:uFillTx/>
                        <a:latin typeface="Arial"/>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mn-lt"/>
                          <a:ea typeface="+mn-ea"/>
                          <a:cs typeface="+mn-cs"/>
                        </a:rPr>
                        <a:t>X*</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DCDCA"/>
                    </a:solidFill>
                  </a:tcPr>
                </a:tc>
                <a:extLst>
                  <a:ext uri="{0D108BD9-81ED-4DB2-BD59-A6C34878D82A}">
                    <a16:rowId xmlns:a16="http://schemas.microsoft.com/office/drawing/2014/main" val="911046863"/>
                  </a:ext>
                </a:extLst>
              </a:tr>
            </a:tbl>
          </a:graphicData>
        </a:graphic>
      </p:graphicFrame>
      <p:sp>
        <p:nvSpPr>
          <p:cNvPr id="13" name="对话气泡: 矩形 12">
            <a:extLst>
              <a:ext uri="{FF2B5EF4-FFF2-40B4-BE49-F238E27FC236}">
                <a16:creationId xmlns:a16="http://schemas.microsoft.com/office/drawing/2014/main" id="{BC735DB9-BAF2-0CDF-7AEF-890BD867999C}"/>
              </a:ext>
            </a:extLst>
          </p:cNvPr>
          <p:cNvSpPr/>
          <p:nvPr/>
        </p:nvSpPr>
        <p:spPr>
          <a:xfrm>
            <a:off x="-1056302" y="2279050"/>
            <a:ext cx="952500" cy="1896672"/>
          </a:xfrm>
          <a:prstGeom prst="wedgeRectCallout">
            <a:avLst>
              <a:gd name="adj1" fmla="val 68261"/>
              <a:gd name="adj2" fmla="val -7012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Entries this page were normal operating lease by AFE, while right hand were entries after rewrite.</a:t>
            </a:r>
          </a:p>
        </p:txBody>
      </p:sp>
      <p:sp>
        <p:nvSpPr>
          <p:cNvPr id="14" name="标题 2">
            <a:extLst>
              <a:ext uri="{FF2B5EF4-FFF2-40B4-BE49-F238E27FC236}">
                <a16:creationId xmlns:a16="http://schemas.microsoft.com/office/drawing/2014/main" id="{AE276517-DA71-6ED1-D2BE-9BAD7B7A2DEE}"/>
              </a:ext>
            </a:extLst>
          </p:cNvPr>
          <p:cNvSpPr txBox="1">
            <a:spLocks/>
          </p:cNvSpPr>
          <p:nvPr/>
        </p:nvSpPr>
        <p:spPr>
          <a:xfrm>
            <a:off x="281228" y="48625"/>
            <a:ext cx="11188700" cy="6985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zh-CN" sz="3200">
                <a:latin typeface="Arial" panose="020B0604020202020204" pitchFamily="34" charset="0"/>
                <a:cs typeface="Arial" panose="020B0604020202020204" pitchFamily="34" charset="0"/>
              </a:rPr>
              <a:t>AFE: Operating Lease ————</a:t>
            </a:r>
            <a:r>
              <a:rPr lang="zh-CN" altLang="en-US" sz="3200">
                <a:latin typeface="Arial" panose="020B0604020202020204" pitchFamily="34" charset="0"/>
                <a:cs typeface="Arial" panose="020B0604020202020204" pitchFamily="34" charset="0"/>
              </a:rPr>
              <a:t> </a:t>
            </a:r>
            <a:r>
              <a:rPr lang="en-US" altLang="zh-CN" sz="3200">
                <a:latin typeface="Arial" panose="020B0604020202020204" pitchFamily="34" charset="0"/>
                <a:cs typeface="Arial" panose="020B0604020202020204" pitchFamily="34" charset="0"/>
              </a:rPr>
              <a:t>Finance Lease </a:t>
            </a:r>
            <a:endParaRPr lang="zh-CN" altLang="en-US" sz="3200">
              <a:latin typeface="Arial" panose="020B0604020202020204" pitchFamily="34" charset="0"/>
              <a:cs typeface="Arial" panose="020B0604020202020204" pitchFamily="34" charset="0"/>
            </a:endParaRPr>
          </a:p>
        </p:txBody>
      </p:sp>
      <p:sp>
        <p:nvSpPr>
          <p:cNvPr id="20" name="文本框 19">
            <a:extLst>
              <a:ext uri="{FF2B5EF4-FFF2-40B4-BE49-F238E27FC236}">
                <a16:creationId xmlns:a16="http://schemas.microsoft.com/office/drawing/2014/main" id="{222AD348-4DB4-1CF1-8AF1-9920AE9FEEC4}"/>
              </a:ext>
            </a:extLst>
          </p:cNvPr>
          <p:cNvSpPr txBox="1"/>
          <p:nvPr/>
        </p:nvSpPr>
        <p:spPr>
          <a:xfrm>
            <a:off x="5923282" y="89624"/>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4823670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a:extLst>
              <a:ext uri="{FF2B5EF4-FFF2-40B4-BE49-F238E27FC236}">
                <a16:creationId xmlns:a16="http://schemas.microsoft.com/office/drawing/2014/main" id="{8E98D7F9-F3BE-7F64-AE2F-FECAC896F983}"/>
              </a:ext>
            </a:extLst>
          </p:cNvPr>
          <p:cNvSpPr/>
          <p:nvPr/>
        </p:nvSpPr>
        <p:spPr>
          <a:xfrm>
            <a:off x="29103" y="747125"/>
            <a:ext cx="5846475" cy="6062250"/>
          </a:xfrm>
          <a:prstGeom prst="rect">
            <a:avLst/>
          </a:prstGeom>
          <a:solidFill>
            <a:schemeClr val="accent2">
              <a:lumMod val="40000"/>
              <a:lumOff val="60000"/>
              <a:alpha val="25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zh-CN" altLang="en-US" sz="900" kern="0">
              <a:solidFill>
                <a:sysClr val="windowText" lastClr="000000"/>
              </a:solidFill>
              <a:latin typeface="Calibri"/>
            </a:endParaRPr>
          </a:p>
        </p:txBody>
      </p:sp>
      <p:sp>
        <p:nvSpPr>
          <p:cNvPr id="4" name="标题 2">
            <a:extLst>
              <a:ext uri="{FF2B5EF4-FFF2-40B4-BE49-F238E27FC236}">
                <a16:creationId xmlns:a16="http://schemas.microsoft.com/office/drawing/2014/main" id="{4B621FD1-FA11-0F0A-F193-62C99A73DC2B}"/>
              </a:ext>
            </a:extLst>
          </p:cNvPr>
          <p:cNvSpPr txBox="1">
            <a:spLocks/>
          </p:cNvSpPr>
          <p:nvPr/>
        </p:nvSpPr>
        <p:spPr>
          <a:xfrm>
            <a:off x="281228" y="48625"/>
            <a:ext cx="11188700" cy="6985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zh-CN" sz="3200">
                <a:latin typeface="Arial" panose="020B0604020202020204" pitchFamily="34" charset="0"/>
                <a:cs typeface="Arial" panose="020B0604020202020204" pitchFamily="34" charset="0"/>
              </a:rPr>
              <a:t>AFE: Operating Lease ————</a:t>
            </a:r>
            <a:r>
              <a:rPr lang="zh-CN" altLang="en-US" sz="3200">
                <a:latin typeface="Arial" panose="020B0604020202020204" pitchFamily="34" charset="0"/>
                <a:cs typeface="Arial" panose="020B0604020202020204" pitchFamily="34" charset="0"/>
              </a:rPr>
              <a:t> </a:t>
            </a:r>
            <a:r>
              <a:rPr lang="en-US" altLang="zh-CN" sz="3200">
                <a:latin typeface="Arial" panose="020B0604020202020204" pitchFamily="34" charset="0"/>
                <a:cs typeface="Arial" panose="020B0604020202020204" pitchFamily="34" charset="0"/>
              </a:rPr>
              <a:t>Finance Lease </a:t>
            </a:r>
            <a:endParaRPr lang="zh-CN" altLang="en-US" sz="3200">
              <a:latin typeface="Arial" panose="020B0604020202020204" pitchFamily="34" charset="0"/>
              <a:cs typeface="Arial" panose="020B0604020202020204" pitchFamily="34" charset="0"/>
            </a:endParaRPr>
          </a:p>
        </p:txBody>
      </p:sp>
      <p:sp>
        <p:nvSpPr>
          <p:cNvPr id="6" name="文本框 5">
            <a:extLst>
              <a:ext uri="{FF2B5EF4-FFF2-40B4-BE49-F238E27FC236}">
                <a16:creationId xmlns:a16="http://schemas.microsoft.com/office/drawing/2014/main" id="{5787C241-0551-599D-6EC2-5D0CD709C7B6}"/>
              </a:ext>
            </a:extLst>
          </p:cNvPr>
          <p:cNvSpPr txBox="1"/>
          <p:nvPr/>
        </p:nvSpPr>
        <p:spPr>
          <a:xfrm>
            <a:off x="5923282" y="89624"/>
            <a:ext cx="1409700" cy="400110"/>
          </a:xfrm>
          <a:prstGeom prst="rect">
            <a:avLst/>
          </a:prstGeom>
          <a:noFill/>
        </p:spPr>
        <p:txBody>
          <a:bodyPr wrap="square" rtlCol="0">
            <a:spAutoFit/>
          </a:bodyPr>
          <a:lstStyle/>
          <a:p>
            <a:r>
              <a:rPr lang="en-US" altLang="zh-CN" sz="2000">
                <a:solidFill>
                  <a:srgbClr val="FF0000"/>
                </a:solidFill>
                <a:latin typeface="Arial" panose="020B0604020202020204" pitchFamily="34" charset="0"/>
                <a:cs typeface="Arial" panose="020B0604020202020204" pitchFamily="34" charset="0"/>
              </a:rPr>
              <a:t>Re-write</a:t>
            </a:r>
            <a:endParaRPr lang="zh-CN" altLang="en-US" sz="2000">
              <a:solidFill>
                <a:srgbClr val="FF0000"/>
              </a:solidFill>
              <a:latin typeface="Arial" panose="020B0604020202020204" pitchFamily="34" charset="0"/>
              <a:cs typeface="Arial" panose="020B0604020202020204" pitchFamily="34" charset="0"/>
            </a:endParaRPr>
          </a:p>
        </p:txBody>
      </p:sp>
      <p:graphicFrame>
        <p:nvGraphicFramePr>
          <p:cNvPr id="8" name="Table 94">
            <a:extLst>
              <a:ext uri="{FF2B5EF4-FFF2-40B4-BE49-F238E27FC236}">
                <a16:creationId xmlns:a16="http://schemas.microsoft.com/office/drawing/2014/main" id="{7AC7D868-7FF9-F127-FD37-14D9377ADEE8}"/>
              </a:ext>
            </a:extLst>
          </p:cNvPr>
          <p:cNvGraphicFramePr>
            <a:graphicFrameLocks noGrp="1"/>
          </p:cNvGraphicFramePr>
          <p:nvPr>
            <p:extLst>
              <p:ext uri="{D42A27DB-BD31-4B8C-83A1-F6EECF244321}">
                <p14:modId xmlns:p14="http://schemas.microsoft.com/office/powerpoint/2010/main" val="1793299171"/>
              </p:ext>
            </p:extLst>
          </p:nvPr>
        </p:nvGraphicFramePr>
        <p:xfrm>
          <a:off x="119444" y="1918684"/>
          <a:ext cx="5612994" cy="1086636"/>
        </p:xfrm>
        <a:graphic>
          <a:graphicData uri="http://schemas.openxmlformats.org/drawingml/2006/table">
            <a:tbl>
              <a:tblPr firstRow="1">
                <a:tableStyleId>{5C22544A-7EE6-4342-B048-85BDC9FD1C3A}</a:tableStyleId>
              </a:tblPr>
              <a:tblGrid>
                <a:gridCol w="358053">
                  <a:extLst>
                    <a:ext uri="{9D8B030D-6E8A-4147-A177-3AD203B41FA5}">
                      <a16:colId xmlns:a16="http://schemas.microsoft.com/office/drawing/2014/main" val="3200314054"/>
                    </a:ext>
                  </a:extLst>
                </a:gridCol>
                <a:gridCol w="163323">
                  <a:extLst>
                    <a:ext uri="{9D8B030D-6E8A-4147-A177-3AD203B41FA5}">
                      <a16:colId xmlns:a16="http://schemas.microsoft.com/office/drawing/2014/main" val="1913271583"/>
                    </a:ext>
                  </a:extLst>
                </a:gridCol>
                <a:gridCol w="659130">
                  <a:extLst>
                    <a:ext uri="{9D8B030D-6E8A-4147-A177-3AD203B41FA5}">
                      <a16:colId xmlns:a16="http://schemas.microsoft.com/office/drawing/2014/main" val="1797281345"/>
                    </a:ext>
                  </a:extLst>
                </a:gridCol>
                <a:gridCol w="1903337">
                  <a:extLst>
                    <a:ext uri="{9D8B030D-6E8A-4147-A177-3AD203B41FA5}">
                      <a16:colId xmlns:a16="http://schemas.microsoft.com/office/drawing/2014/main" val="2743739350"/>
                    </a:ext>
                  </a:extLst>
                </a:gridCol>
                <a:gridCol w="436880">
                  <a:extLst>
                    <a:ext uri="{9D8B030D-6E8A-4147-A177-3AD203B41FA5}">
                      <a16:colId xmlns:a16="http://schemas.microsoft.com/office/drawing/2014/main" val="2056723756"/>
                    </a:ext>
                  </a:extLst>
                </a:gridCol>
                <a:gridCol w="436880">
                  <a:extLst>
                    <a:ext uri="{9D8B030D-6E8A-4147-A177-3AD203B41FA5}">
                      <a16:colId xmlns:a16="http://schemas.microsoft.com/office/drawing/2014/main" val="4073315665"/>
                    </a:ext>
                  </a:extLst>
                </a:gridCol>
                <a:gridCol w="283402">
                  <a:extLst>
                    <a:ext uri="{9D8B030D-6E8A-4147-A177-3AD203B41FA5}">
                      <a16:colId xmlns:a16="http://schemas.microsoft.com/office/drawing/2014/main" val="4081990693"/>
                    </a:ext>
                  </a:extLst>
                </a:gridCol>
                <a:gridCol w="420228">
                  <a:extLst>
                    <a:ext uri="{9D8B030D-6E8A-4147-A177-3AD203B41FA5}">
                      <a16:colId xmlns:a16="http://schemas.microsoft.com/office/drawing/2014/main" val="2799714174"/>
                    </a:ext>
                  </a:extLst>
                </a:gridCol>
                <a:gridCol w="270839">
                  <a:extLst>
                    <a:ext uri="{9D8B030D-6E8A-4147-A177-3AD203B41FA5}">
                      <a16:colId xmlns:a16="http://schemas.microsoft.com/office/drawing/2014/main" val="826735996"/>
                    </a:ext>
                  </a:extLst>
                </a:gridCol>
                <a:gridCol w="394436">
                  <a:extLst>
                    <a:ext uri="{9D8B030D-6E8A-4147-A177-3AD203B41FA5}">
                      <a16:colId xmlns:a16="http://schemas.microsoft.com/office/drawing/2014/main" val="1141160472"/>
                    </a:ext>
                  </a:extLst>
                </a:gridCol>
                <a:gridCol w="286486">
                  <a:extLst>
                    <a:ext uri="{9D8B030D-6E8A-4147-A177-3AD203B41FA5}">
                      <a16:colId xmlns:a16="http://schemas.microsoft.com/office/drawing/2014/main" val="848560102"/>
                    </a:ext>
                  </a:extLst>
                </a:gridCol>
              </a:tblGrid>
              <a:tr h="47158">
                <a:tc rowSpan="6">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900" b="1" i="0" kern="1200">
                          <a:solidFill>
                            <a:srgbClr val="FFFFFF"/>
                          </a:solidFill>
                          <a:effectLst/>
                          <a:latin typeface="Arial"/>
                          <a:ea typeface="+mn-ea"/>
                          <a:cs typeface="+mn-cs"/>
                        </a:rPr>
                        <a:t>A</a:t>
                      </a:r>
                      <a:r>
                        <a:rPr lang="en-US" altLang="zh-CN" sz="900" b="1" i="0" kern="1200">
                          <a:solidFill>
                            <a:srgbClr val="FFFFFF"/>
                          </a:solidFill>
                          <a:effectLst/>
                          <a:latin typeface="Arial"/>
                          <a:ea typeface="+mn-ea"/>
                          <a:cs typeface="+mn-cs"/>
                        </a:rPr>
                        <a:t>FE</a:t>
                      </a:r>
                      <a:br>
                        <a:rPr lang="en-US" altLang="zh-CN" sz="900" b="1" i="0" kern="1200">
                          <a:solidFill>
                            <a:srgbClr val="FFFFFF"/>
                          </a:solidFill>
                          <a:effectLst/>
                          <a:latin typeface="Arial"/>
                          <a:ea typeface="+mn-ea"/>
                          <a:cs typeface="+mn-cs"/>
                        </a:rPr>
                      </a:br>
                      <a:r>
                        <a:rPr lang="en-US" altLang="zh-CN" sz="900" b="1" i="0" kern="1200">
                          <a:solidFill>
                            <a:srgbClr val="FFFFFF"/>
                          </a:solidFill>
                          <a:effectLst/>
                          <a:latin typeface="Arial"/>
                          <a:ea typeface="+mn-ea"/>
                          <a:cs typeface="+mn-cs"/>
                        </a:rPr>
                        <a:t>Entity</a:t>
                      </a:r>
                    </a:p>
                    <a:p>
                      <a:pPr algn="ctr" fontAlgn="ctr"/>
                      <a:endParaRPr lang="en-US" sz="900" b="1" i="0" kern="1200">
                        <a:solidFill>
                          <a:srgbClr val="FFFFFF"/>
                        </a:solidFill>
                        <a:effectLst/>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Mid term Rewrite- transfer fixed assets to GIT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47158">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rewrite active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lnL w="12700" cap="flat" cmpd="sng" algn="ctr">
                      <a:solidFill>
                        <a:schemeClr val="bg1">
                          <a:lumMod val="85000"/>
                        </a:schemeClr>
                      </a:solidFill>
                      <a:prstDash val="solid"/>
                      <a:round/>
                      <a:headEnd type="none" w="med" len="med"/>
                      <a:tailEnd type="none" w="med" len="med"/>
                    </a:lnL>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0">
                <a:tc vMerge="1">
                  <a:txBody>
                    <a:bodyPr/>
                    <a:lstStyle/>
                    <a:p>
                      <a:endParaRPr 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1619903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Fixed Assets </a:t>
                      </a:r>
                      <a:r>
                        <a:rPr lang="en-US" sz="900" b="0" i="0" u="none" strike="noStrike" kern="1200">
                          <a:solidFill>
                            <a:srgbClr val="000000"/>
                          </a:solidFill>
                          <a:effectLst/>
                          <a:latin typeface="Arial" panose="020B0604020202020204" pitchFamily="34" charset="0"/>
                          <a:ea typeface="+mn-ea"/>
                          <a:cs typeface="+mn-cs"/>
                        </a:rPr>
                        <a:t>In Transit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896.1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654.6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0">
                <a:tc vMerge="1">
                  <a:txBody>
                    <a:bodyPr/>
                    <a:lstStyle/>
                    <a:p>
                      <a:endParaRPr lang="zh-CN" alt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1611550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Fixed Assets Under Operating Lease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914.6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670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11219793"/>
                  </a:ext>
                </a:extLst>
              </a:tr>
              <a:tr h="0">
                <a:tc vMerge="1">
                  <a:txBody>
                    <a:bodyPr/>
                    <a:lstStyle/>
                    <a:p>
                      <a:endParaRPr 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1651550​</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Accumulated Depreciation​</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18.5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15.5​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graphicFrame>
        <p:nvGraphicFramePr>
          <p:cNvPr id="10" name="表格 9">
            <a:extLst>
              <a:ext uri="{FF2B5EF4-FFF2-40B4-BE49-F238E27FC236}">
                <a16:creationId xmlns:a16="http://schemas.microsoft.com/office/drawing/2014/main" id="{987A9210-2EFD-4E3C-6D11-DB7AEE279BCC}"/>
              </a:ext>
            </a:extLst>
          </p:cNvPr>
          <p:cNvGraphicFramePr>
            <a:graphicFrameLocks noGrp="1"/>
          </p:cNvGraphicFramePr>
          <p:nvPr>
            <p:extLst>
              <p:ext uri="{D42A27DB-BD31-4B8C-83A1-F6EECF244321}">
                <p14:modId xmlns:p14="http://schemas.microsoft.com/office/powerpoint/2010/main" val="988426091"/>
              </p:ext>
            </p:extLst>
          </p:nvPr>
        </p:nvGraphicFramePr>
        <p:xfrm>
          <a:off x="119444" y="3121260"/>
          <a:ext cx="5482549" cy="2147320"/>
        </p:xfrm>
        <a:graphic>
          <a:graphicData uri="http://schemas.openxmlformats.org/drawingml/2006/table">
            <a:tbl>
              <a:tblPr/>
              <a:tblGrid>
                <a:gridCol w="439278">
                  <a:extLst>
                    <a:ext uri="{9D8B030D-6E8A-4147-A177-3AD203B41FA5}">
                      <a16:colId xmlns:a16="http://schemas.microsoft.com/office/drawing/2014/main" val="1828247229"/>
                    </a:ext>
                  </a:extLst>
                </a:gridCol>
                <a:gridCol w="394828">
                  <a:extLst>
                    <a:ext uri="{9D8B030D-6E8A-4147-A177-3AD203B41FA5}">
                      <a16:colId xmlns:a16="http://schemas.microsoft.com/office/drawing/2014/main" val="4141232291"/>
                    </a:ext>
                  </a:extLst>
                </a:gridCol>
                <a:gridCol w="659130">
                  <a:extLst>
                    <a:ext uri="{9D8B030D-6E8A-4147-A177-3AD203B41FA5}">
                      <a16:colId xmlns:a16="http://schemas.microsoft.com/office/drawing/2014/main" val="672845899"/>
                    </a:ext>
                  </a:extLst>
                </a:gridCol>
                <a:gridCol w="1313991">
                  <a:extLst>
                    <a:ext uri="{9D8B030D-6E8A-4147-A177-3AD203B41FA5}">
                      <a16:colId xmlns:a16="http://schemas.microsoft.com/office/drawing/2014/main" val="3529420061"/>
                    </a:ext>
                  </a:extLst>
                </a:gridCol>
                <a:gridCol w="399590">
                  <a:extLst>
                    <a:ext uri="{9D8B030D-6E8A-4147-A177-3AD203B41FA5}">
                      <a16:colId xmlns:a16="http://schemas.microsoft.com/office/drawing/2014/main" val="2294942003"/>
                    </a:ext>
                  </a:extLst>
                </a:gridCol>
                <a:gridCol w="482555">
                  <a:extLst>
                    <a:ext uri="{9D8B030D-6E8A-4147-A177-3AD203B41FA5}">
                      <a16:colId xmlns:a16="http://schemas.microsoft.com/office/drawing/2014/main" val="4273387575"/>
                    </a:ext>
                  </a:extLst>
                </a:gridCol>
                <a:gridCol w="285364">
                  <a:extLst>
                    <a:ext uri="{9D8B030D-6E8A-4147-A177-3AD203B41FA5}">
                      <a16:colId xmlns:a16="http://schemas.microsoft.com/office/drawing/2014/main" val="1603564649"/>
                    </a:ext>
                  </a:extLst>
                </a:gridCol>
                <a:gridCol w="420228">
                  <a:extLst>
                    <a:ext uri="{9D8B030D-6E8A-4147-A177-3AD203B41FA5}">
                      <a16:colId xmlns:a16="http://schemas.microsoft.com/office/drawing/2014/main" val="666076507"/>
                    </a:ext>
                  </a:extLst>
                </a:gridCol>
                <a:gridCol w="284801">
                  <a:extLst>
                    <a:ext uri="{9D8B030D-6E8A-4147-A177-3AD203B41FA5}">
                      <a16:colId xmlns:a16="http://schemas.microsoft.com/office/drawing/2014/main" val="3683687233"/>
                    </a:ext>
                  </a:extLst>
                </a:gridCol>
                <a:gridCol w="391335">
                  <a:extLst>
                    <a:ext uri="{9D8B030D-6E8A-4147-A177-3AD203B41FA5}">
                      <a16:colId xmlns:a16="http://schemas.microsoft.com/office/drawing/2014/main" val="296807624"/>
                    </a:ext>
                  </a:extLst>
                </a:gridCol>
                <a:gridCol w="411449">
                  <a:extLst>
                    <a:ext uri="{9D8B030D-6E8A-4147-A177-3AD203B41FA5}">
                      <a16:colId xmlns:a16="http://schemas.microsoft.com/office/drawing/2014/main" val="845238753"/>
                    </a:ext>
                  </a:extLst>
                </a:gridCol>
              </a:tblGrid>
              <a:tr h="159906">
                <a:tc rowSpan="11">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kern="1200">
                          <a:solidFill>
                            <a:srgbClr val="FFFFFF"/>
                          </a:solidFill>
                          <a:effectLst/>
                          <a:latin typeface="Arial"/>
                          <a:ea typeface="+mn-ea"/>
                          <a:cs typeface="+mn-cs"/>
                        </a:rPr>
                        <a:t>AFE</a:t>
                      </a:r>
                      <a:br>
                        <a:rPr lang="en-US" altLang="zh-CN" sz="900" b="1" i="0" kern="1200">
                          <a:solidFill>
                            <a:srgbClr val="FFFFFF"/>
                          </a:solidFill>
                          <a:effectLst/>
                          <a:latin typeface="Arial"/>
                          <a:ea typeface="+mn-ea"/>
                          <a:cs typeface="+mn-cs"/>
                        </a:rPr>
                      </a:br>
                      <a:r>
                        <a:rPr lang="en-US" altLang="zh-CN" sz="900" b="1" i="0" kern="1200">
                          <a:solidFill>
                            <a:srgbClr val="FFFFFF"/>
                          </a:solidFill>
                          <a:effectLst/>
                          <a:latin typeface="Arial"/>
                          <a:ea typeface="+mn-ea"/>
                          <a:cs typeface="+mn-cs"/>
                        </a:rPr>
                        <a:t>Entity</a:t>
                      </a:r>
                    </a:p>
                    <a:p>
                      <a:pPr marL="0" indent="0" algn="ctr" fontAlgn="base">
                        <a:lnSpc>
                          <a:spcPts val="1200"/>
                        </a:lnSpc>
                        <a:buNone/>
                      </a:pPr>
                      <a:endParaRPr lang="en-US" sz="900" b="1" i="0" u="none" strike="noStrike" kern="1200">
                        <a:solidFill>
                          <a:srgbClr val="FFFFFF"/>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gridSpan="10">
                  <a:txBody>
                    <a:bodyPr/>
                    <a:lstStyle/>
                    <a:p>
                      <a:pPr marL="95250" indent="0" algn="l" fontAlgn="auto">
                        <a:lnSpc>
                          <a:spcPts val="1200"/>
                        </a:lnSpc>
                        <a:buNone/>
                      </a:pPr>
                      <a:r>
                        <a:rPr lang="en-US" sz="900" b="1" i="0" u="none" strike="noStrike" kern="1200">
                          <a:solidFill>
                            <a:srgbClr val="FFFFFF"/>
                          </a:solidFill>
                          <a:effectLst/>
                          <a:latin typeface="Arial" panose="020B0604020202020204" pitchFamily="34" charset="0"/>
                          <a:ea typeface="+mn-ea"/>
                          <a:cs typeface="+mn-cs"/>
                        </a:rPr>
                        <a:t>Mid-term Rewrite - Recognize Finance Lease Revenue + Cost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95250" indent="0" algn="l" fontAlgn="auto">
                        <a:lnSpc>
                          <a:spcPts val="1200"/>
                        </a:lnSpc>
                        <a:buNone/>
                      </a:pPr>
                      <a:endParaRPr lang="en-US" sz="1000" b="1" i="0" u="none" strike="noStrike">
                        <a:solidFill>
                          <a:srgbClr val="FFFFFF"/>
                        </a:solidFill>
                        <a:effectLst/>
                        <a:latin typeface="Arial" panose="020B0604020202020204" pitchFamily="34" charset="0"/>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641665388"/>
                  </a:ext>
                </a:extLst>
              </a:tr>
              <a:tr h="159684">
                <a:tc vMerge="1">
                  <a:txBody>
                    <a:bodyPr/>
                    <a:lstStyle/>
                    <a:p>
                      <a:endParaRPr lang="zh-CN" altLang="en-US"/>
                    </a:p>
                  </a:txBody>
                  <a:tcPr/>
                </a:tc>
                <a:tc gridSpan="10">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Upon rewrite active​</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0" indent="0" algn="ctr" fontAlgn="base">
                        <a:lnSpc>
                          <a:spcPts val="1200"/>
                        </a:lnSpc>
                        <a:buNone/>
                      </a:pPr>
                      <a:endParaRPr lang="en-US" sz="14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260440"/>
                  </a:ext>
                </a:extLst>
              </a:tr>
              <a:tr h="162294">
                <a:tc vMerge="1">
                  <a:txBody>
                    <a:bodyPr/>
                    <a:lstStyle/>
                    <a:p>
                      <a:endParaRPr lang="zh-CN" altLang="en-US"/>
                    </a:p>
                  </a:txBody>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COA​</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LV​</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PV​</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TP</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WBS</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711932868"/>
                  </a:ext>
                </a:extLst>
              </a:tr>
              <a:tr h="203106">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chemeClr val="tx1"/>
                          </a:solidFill>
                          <a:effectLst/>
                          <a:latin typeface="Arial" panose="020B0604020202020204" pitchFamily="34" charset="0"/>
                        </a:rPr>
                        <a:t>Dr</a:t>
                      </a:r>
                      <a:r>
                        <a:rPr lang="en-US" sz="900" b="0" i="0">
                          <a:solidFill>
                            <a:schemeClr val="tx1"/>
                          </a:solidFill>
                          <a:effectLst/>
                          <a:latin typeface="Arial" panose="020B0604020202020204" pitchFamily="34" charset="0"/>
                        </a:rPr>
                        <a:t>​</a:t>
                      </a:r>
                      <a:endParaRPr lang="en-US" sz="1200" b="0" i="0">
                        <a:solidFill>
                          <a:schemeClr val="tx1"/>
                        </a:solidFill>
                        <a:effectLst/>
                      </a:endParaRP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chemeClr val="tx1"/>
                          </a:solidFill>
                          <a:effectLst/>
                          <a:latin typeface="Arial" panose="020B0604020202020204" pitchFamily="34" charset="0"/>
                          <a:ea typeface="+mn-ea"/>
                          <a:cs typeface="+mn-cs"/>
                        </a:rPr>
                        <a:t>1400301​</a:t>
                      </a:r>
                    </a:p>
                  </a:txBody>
                  <a:tcPr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indent="0" algn="l" defTabSz="914400" rtl="0" eaLnBrk="1" fontAlgn="base" latinLnBrk="0" hangingPunct="1">
                        <a:lnSpc>
                          <a:spcPts val="1200"/>
                        </a:lnSpc>
                        <a:buNone/>
                      </a:pPr>
                      <a:r>
                        <a:rPr lang="en-US" sz="900" b="0" i="0" u="none" strike="noStrike" kern="1200" spc="0">
                          <a:solidFill>
                            <a:schemeClr val="tx1"/>
                          </a:solidFill>
                          <a:effectLst/>
                          <a:latin typeface="Arial" panose="020B0604020202020204" pitchFamily="34" charset="0"/>
                          <a:ea typeface="+mn-ea"/>
                          <a:cs typeface="+mn-cs"/>
                        </a:rPr>
                        <a:t>Lease Receivable ​</a:t>
                      </a:r>
                    </a:p>
                  </a:txBody>
                  <a:tcPr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chemeClr val="tx1"/>
                          </a:solidFill>
                          <a:effectLst/>
                          <a:latin typeface="Arial" panose="020B0604020202020204" pitchFamily="34" charset="0"/>
                          <a:ea typeface="+mn-ea"/>
                          <a:cs typeface="+mn-cs"/>
                        </a:rPr>
                        <a:t>1034</a:t>
                      </a:r>
                      <a:r>
                        <a:rPr lang="zh-CN" altLang="en-US" sz="900" b="0" i="0" u="none" strike="noStrike" kern="1200" spc="0">
                          <a:solidFill>
                            <a:schemeClr val="tx1"/>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r>
                        <a:rPr lang="en-US" sz="900" b="0" i="0" u="none" strike="noStrike" kern="1200" spc="0">
                          <a:solidFill>
                            <a:schemeClr val="tx1"/>
                          </a:solidFill>
                          <a:effectLst/>
                          <a:latin typeface="Arial" panose="020B0604020202020204" pitchFamily="34" charset="0"/>
                          <a:ea typeface="+mn-ea"/>
                          <a:cs typeface="+mn-cs"/>
                        </a:rPr>
                        <a:t>1034</a:t>
                      </a:r>
                      <a:r>
                        <a:rPr lang="zh-CN" altLang="en-US" sz="900" b="0" i="0" u="none" strike="noStrike" kern="1200" spc="0">
                          <a:solidFill>
                            <a:schemeClr val="tx1"/>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en-US" sz="900" b="0" i="0" u="none" strike="noStrike" kern="1200" spc="0">
                        <a:solidFill>
                          <a:schemeClr val="tx1"/>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chemeClr val="tx1"/>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r>
                        <a:rPr lang="en-US" sz="900" b="0" i="0" u="none" strike="noStrike" kern="1200" spc="0">
                          <a:solidFill>
                            <a:schemeClr val="tx1"/>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chemeClr val="tx1"/>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auto">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497475585"/>
                  </a:ext>
                </a:extLst>
              </a:tr>
              <a:tr h="176604">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a:solidFill>
                            <a:srgbClr val="000000"/>
                          </a:solidFill>
                          <a:effectLst/>
                          <a:latin typeface="Arial" panose="020B0604020202020204" pitchFamily="34" charset="0"/>
                        </a:rPr>
                        <a:t>1400303​</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Receivable Interest </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187.3</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spc="0">
                          <a:solidFill>
                            <a:srgbClr val="000000"/>
                          </a:solidFill>
                          <a:effectLst/>
                          <a:latin typeface="Arial" panose="020B0604020202020204" pitchFamily="34" charset="0"/>
                        </a:rPr>
                        <a:t>187.3</a:t>
                      </a:r>
                      <a:r>
                        <a:rPr lang="zh-CN" altLang="zh-CN" sz="900" b="0" i="0">
                          <a:solidFill>
                            <a:srgbClr val="000000"/>
                          </a:solidFill>
                          <a:effectLst/>
                          <a:ea typeface="Arial" panose="020B0604020202020204" pitchFamily="34" charset="0"/>
                        </a:rPr>
                        <a: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1227397841"/>
                  </a:ext>
                </a:extLst>
              </a:tr>
              <a:tr h="230606">
                <a:tc vMerge="1">
                  <a:txBody>
                    <a:bodyPr/>
                    <a:lstStyle/>
                    <a:p>
                      <a:endParaRPr lang="zh-CN" altLang="en-US"/>
                    </a:p>
                  </a:txBody>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Cr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a:solidFill>
                            <a:srgbClr val="000000"/>
                          </a:solidFill>
                          <a:effectLst/>
                          <a:latin typeface="Arial" panose="020B0604020202020204" pitchFamily="34" charset="0"/>
                        </a:rPr>
                        <a:t>5010509​</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Finance lease Revenue</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spc="0">
                          <a:solidFill>
                            <a:srgbClr val="000000"/>
                          </a:solidFill>
                          <a:effectLst/>
                          <a:latin typeface="Arial" panose="020B0604020202020204" pitchFamily="34" charset="0"/>
                          <a:ea typeface="+mn-ea"/>
                          <a:cs typeface="+mn-cs"/>
                        </a:rPr>
                        <a:t>846.7</a:t>
                      </a:r>
                      <a:r>
                        <a:rPr lang="zh-CN" altLang="zh-CN" sz="900" b="0" i="0">
                          <a:solidFill>
                            <a:srgbClr val="000000"/>
                          </a:solidFill>
                          <a:effectLst/>
                          <a:ea typeface="Arial" panose="020B0604020202020204" pitchFamily="34" charset="0"/>
                        </a:rPr>
                        <a:t>​</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699130467"/>
                  </a:ext>
                </a:extLst>
              </a:tr>
              <a:tr h="176604">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spc="0">
                          <a:solidFill>
                            <a:srgbClr val="000000"/>
                          </a:solidFill>
                          <a:effectLst/>
                          <a:latin typeface="Arial" panose="020B0604020202020204" pitchFamily="34" charset="0"/>
                        </a:rPr>
                        <a:t>1400307</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Residual Value ​</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sz="900" b="0" i="0" u="none" strike="noStrike" spc="0">
                          <a:solidFill>
                            <a:srgbClr val="000000"/>
                          </a:solidFill>
                          <a:effectLst/>
                          <a:latin typeface="Arial" panose="020B0604020202020204" pitchFamily="34" charset="0"/>
                        </a:rPr>
                        <a:t>49.4</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spc="0">
                          <a:solidFill>
                            <a:srgbClr val="000000"/>
                          </a:solidFill>
                          <a:effectLst/>
                          <a:latin typeface="Arial" panose="020B0604020202020204" pitchFamily="34" charset="0"/>
                        </a:rPr>
                        <a:t>49.4</a:t>
                      </a:r>
                      <a:r>
                        <a:rPr lang="zh-CN" altLang="zh-CN" sz="900" b="0" i="0">
                          <a:solidFill>
                            <a:srgbClr val="000000"/>
                          </a:solidFill>
                          <a:effectLst/>
                          <a:ea typeface="Arial" panose="020B0604020202020204" pitchFamily="34" charset="0"/>
                        </a:rPr>
                        <a:t>​</a:t>
                      </a:r>
                      <a:r>
                        <a:rPr lang="zh-CN" sz="900" b="0" i="0">
                          <a:solidFill>
                            <a:srgbClr val="000000"/>
                          </a:solidFill>
                          <a:effectLst/>
                          <a:ea typeface="Arial" panose="020B0604020202020204" pitchFamily="34" charset="0"/>
                        </a:rPr>
                        <a:t>​</a:t>
                      </a:r>
                      <a:endParaRPr lang="zh-CN" sz="1200" b="0" i="0">
                        <a:solidFill>
                          <a:srgbClr val="000000"/>
                        </a:solidFill>
                        <a:effectLst/>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36026426"/>
                  </a:ext>
                </a:extLst>
              </a:tr>
              <a:tr h="176604">
                <a:tc vMerge="1">
                  <a:txBody>
                    <a:bodyPr/>
                    <a:lstStyle/>
                    <a:p>
                      <a:endParaRPr lang="zh-CN" altLang="en-US"/>
                    </a:p>
                  </a:txBody>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Cr</a:t>
                      </a: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5020509</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Cost Finance lease</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defTabSz="914400" rtl="0" eaLnBrk="1" fontAlgn="base" latinLnBrk="0" hangingPunct="1">
                        <a:lnSpc>
                          <a:spcPts val="1200"/>
                        </a:lnSpc>
                        <a:buNone/>
                      </a:pP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spc="0">
                          <a:solidFill>
                            <a:srgbClr val="000000"/>
                          </a:solidFill>
                          <a:effectLst/>
                          <a:latin typeface="Arial" panose="020B0604020202020204" pitchFamily="34" charset="0"/>
                          <a:ea typeface="+mn-ea"/>
                          <a:cs typeface="+mn-cs"/>
                        </a:rPr>
                        <a:t>49.4</a:t>
                      </a:r>
                      <a:r>
                        <a:rPr lang="zh-CN" altLang="zh-CN" sz="900" b="0" i="0" u="none" strike="noStrike" kern="1200" spc="0">
                          <a:solidFill>
                            <a:srgbClr val="000000"/>
                          </a:solidFill>
                          <a:effectLst/>
                          <a:latin typeface="Arial" panose="020B0604020202020204" pitchFamily="34" charset="0"/>
                          <a:ea typeface="+mn-ea"/>
                          <a:cs typeface="+mn-cs"/>
                        </a:rPr>
                        <a:t>​</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578367403"/>
                  </a:ext>
                </a:extLst>
              </a:tr>
              <a:tr h="176604">
                <a:tc vMerge="1">
                  <a:txBody>
                    <a:bodyPr/>
                    <a:lstStyle/>
                    <a:p>
                      <a:endParaRPr lang="zh-CN" altLang="en-US"/>
                    </a:p>
                  </a:txBody>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Dr</a:t>
                      </a: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5020509</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Cost Finance lease</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654.6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580737550"/>
                  </a:ext>
                </a:extLst>
              </a:tr>
              <a:tr h="176604">
                <a:tc vMerge="1">
                  <a:txBody>
                    <a:bodyPr/>
                    <a:lstStyle/>
                    <a:p>
                      <a:endParaRPr lang="zh-CN" altLang="en-US"/>
                    </a:p>
                  </a:txBody>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Cr</a:t>
                      </a: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1619903</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GIT</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896.1</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654.6</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643885012"/>
                  </a:ext>
                </a:extLst>
              </a:tr>
              <a:tr h="176604">
                <a:tc vMerge="1">
                  <a:txBody>
                    <a:bodyPr/>
                    <a:lstStyle/>
                    <a:p>
                      <a:endParaRPr lang="zh-CN" altLang="en-US"/>
                    </a:p>
                  </a:txBody>
                  <a:tcPr>
                    <a:lnT w="7595" cap="flat" cmpd="sng" algn="ctr">
                      <a:solidFill>
                        <a:srgbClr val="D9D9D9"/>
                      </a:solidFill>
                      <a:prstDash val="solid"/>
                      <a:round/>
                      <a:headEnd type="none" w="med" len="med"/>
                      <a:tailEnd type="none" w="med" len="med"/>
                    </a:lnT>
                  </a:tcPr>
                </a:tc>
                <a:tc>
                  <a:txBody>
                    <a:bodyPr/>
                    <a:lstStyle/>
                    <a:p>
                      <a:pPr marL="0" indent="0" algn="ctr" defTabSz="914400" rtl="0" eaLnBrk="1" fontAlgn="base" latinLnBrk="0" hangingPunct="1">
                        <a:lnSpc>
                          <a:spcPts val="1200"/>
                        </a:lnSpc>
                        <a:buNone/>
                      </a:pPr>
                      <a:r>
                        <a:rPr lang="en-US" sz="900" b="0" i="0" u="none" strike="noStrike" kern="1200" spc="0">
                          <a:solidFill>
                            <a:srgbClr val="000000"/>
                          </a:solidFill>
                          <a:effectLst/>
                          <a:latin typeface="Arial" panose="020B0604020202020204" pitchFamily="34" charset="0"/>
                          <a:ea typeface="+mn-ea"/>
                          <a:cs typeface="+mn-cs"/>
                        </a:rPr>
                        <a:t>Dr/Cr</a:t>
                      </a:r>
                    </a:p>
                  </a:txBody>
                  <a:tcPr marL="45014" marR="45014" marT="22507" marB="22507" anchor="ctr">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5010514</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l" fontAlgn="base">
                        <a:lnSpc>
                          <a:spcPts val="1200"/>
                        </a:lnSpc>
                        <a:buNone/>
                      </a:pPr>
                      <a:r>
                        <a:rPr lang="en-US" sz="900" b="0" i="0" u="none" strike="noStrike" kern="1200" spc="0">
                          <a:solidFill>
                            <a:srgbClr val="000000"/>
                          </a:solidFill>
                          <a:effectLst/>
                          <a:latin typeface="Arial" panose="020B0604020202020204" pitchFamily="34" charset="0"/>
                          <a:ea typeface="+mn-ea"/>
                          <a:cs typeface="+mn-cs"/>
                        </a:rPr>
                        <a:t>Interest Income</a:t>
                      </a:r>
                    </a:p>
                  </a:txBody>
                  <a:tcPr marL="45014" marR="45014" marT="22507" marB="22507" anchor="b">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x</a:t>
                      </a: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HW</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20/X1</a:t>
                      </a:r>
                    </a:p>
                  </a:txBody>
                  <a:tcPr marL="45014" marR="45014" marT="22507" marB="22507"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7595" cap="flat" cmpd="sng" algn="ctr">
                      <a:solidFill>
                        <a:srgbClr val="D9D9D9"/>
                      </a:solidFill>
                      <a:prstDash val="solid"/>
                      <a:round/>
                      <a:headEnd type="none" w="med" len="med"/>
                      <a:tailEnd type="none" w="med" len="med"/>
                    </a:lnL>
                    <a:lnR w="7595" cap="flat" cmpd="sng" algn="ctr">
                      <a:solidFill>
                        <a:srgbClr val="D9D9D9"/>
                      </a:solidFill>
                      <a:prstDash val="solid"/>
                      <a:round/>
                      <a:headEnd type="none" w="med" len="med"/>
                      <a:tailEnd type="none" w="med" len="med"/>
                    </a:lnR>
                    <a:lnT w="7595" cap="flat" cmpd="sng" algn="ctr">
                      <a:solidFill>
                        <a:srgbClr val="D9D9D9"/>
                      </a:solidFill>
                      <a:prstDash val="solid"/>
                      <a:round/>
                      <a:headEnd type="none" w="med" len="med"/>
                      <a:tailEnd type="none" w="med" len="med"/>
                    </a:lnT>
                    <a:lnB w="7595"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719493777"/>
                  </a:ext>
                </a:extLst>
              </a:tr>
            </a:tbl>
          </a:graphicData>
        </a:graphic>
      </p:graphicFrame>
      <p:graphicFrame>
        <p:nvGraphicFramePr>
          <p:cNvPr id="12" name="Table 94">
            <a:extLst>
              <a:ext uri="{FF2B5EF4-FFF2-40B4-BE49-F238E27FC236}">
                <a16:creationId xmlns:a16="http://schemas.microsoft.com/office/drawing/2014/main" id="{417EEAC6-F7C7-9E8F-51CE-A600A3DE011D}"/>
              </a:ext>
            </a:extLst>
          </p:cNvPr>
          <p:cNvGraphicFramePr>
            <a:graphicFrameLocks noGrp="1"/>
          </p:cNvGraphicFramePr>
          <p:nvPr>
            <p:extLst>
              <p:ext uri="{D42A27DB-BD31-4B8C-83A1-F6EECF244321}">
                <p14:modId xmlns:p14="http://schemas.microsoft.com/office/powerpoint/2010/main" val="3270938354"/>
              </p:ext>
            </p:extLst>
          </p:nvPr>
        </p:nvGraphicFramePr>
        <p:xfrm>
          <a:off x="98944" y="5384520"/>
          <a:ext cx="5940897" cy="1304315"/>
        </p:xfrm>
        <a:graphic>
          <a:graphicData uri="http://schemas.openxmlformats.org/drawingml/2006/table">
            <a:tbl>
              <a:tblPr firstRow="1">
                <a:tableStyleId>{5C22544A-7EE6-4342-B048-85BDC9FD1C3A}</a:tableStyleId>
              </a:tblPr>
              <a:tblGrid>
                <a:gridCol w="361950">
                  <a:extLst>
                    <a:ext uri="{9D8B030D-6E8A-4147-A177-3AD203B41FA5}">
                      <a16:colId xmlns:a16="http://schemas.microsoft.com/office/drawing/2014/main" val="3200314054"/>
                    </a:ext>
                  </a:extLst>
                </a:gridCol>
                <a:gridCol w="282066">
                  <a:extLst>
                    <a:ext uri="{9D8B030D-6E8A-4147-A177-3AD203B41FA5}">
                      <a16:colId xmlns:a16="http://schemas.microsoft.com/office/drawing/2014/main" val="1913271583"/>
                    </a:ext>
                  </a:extLst>
                </a:gridCol>
                <a:gridCol w="488950">
                  <a:extLst>
                    <a:ext uri="{9D8B030D-6E8A-4147-A177-3AD203B41FA5}">
                      <a16:colId xmlns:a16="http://schemas.microsoft.com/office/drawing/2014/main" val="1797281345"/>
                    </a:ext>
                  </a:extLst>
                </a:gridCol>
                <a:gridCol w="2171700">
                  <a:extLst>
                    <a:ext uri="{9D8B030D-6E8A-4147-A177-3AD203B41FA5}">
                      <a16:colId xmlns:a16="http://schemas.microsoft.com/office/drawing/2014/main" val="2743739350"/>
                    </a:ext>
                  </a:extLst>
                </a:gridCol>
                <a:gridCol w="449656">
                  <a:extLst>
                    <a:ext uri="{9D8B030D-6E8A-4147-A177-3AD203B41FA5}">
                      <a16:colId xmlns:a16="http://schemas.microsoft.com/office/drawing/2014/main" val="2056723756"/>
                    </a:ext>
                  </a:extLst>
                </a:gridCol>
                <a:gridCol w="449656">
                  <a:extLst>
                    <a:ext uri="{9D8B030D-6E8A-4147-A177-3AD203B41FA5}">
                      <a16:colId xmlns:a16="http://schemas.microsoft.com/office/drawing/2014/main" val="4073315665"/>
                    </a:ext>
                  </a:extLst>
                </a:gridCol>
                <a:gridCol w="356728">
                  <a:extLst>
                    <a:ext uri="{9D8B030D-6E8A-4147-A177-3AD203B41FA5}">
                      <a16:colId xmlns:a16="http://schemas.microsoft.com/office/drawing/2014/main" val="1446968252"/>
                    </a:ext>
                  </a:extLst>
                </a:gridCol>
                <a:gridCol w="375778">
                  <a:extLst>
                    <a:ext uri="{9D8B030D-6E8A-4147-A177-3AD203B41FA5}">
                      <a16:colId xmlns:a16="http://schemas.microsoft.com/office/drawing/2014/main" val="400281424"/>
                    </a:ext>
                  </a:extLst>
                </a:gridCol>
                <a:gridCol w="273786">
                  <a:extLst>
                    <a:ext uri="{9D8B030D-6E8A-4147-A177-3AD203B41FA5}">
                      <a16:colId xmlns:a16="http://schemas.microsoft.com/office/drawing/2014/main" val="90303485"/>
                    </a:ext>
                  </a:extLst>
                </a:gridCol>
                <a:gridCol w="394436">
                  <a:extLst>
                    <a:ext uri="{9D8B030D-6E8A-4147-A177-3AD203B41FA5}">
                      <a16:colId xmlns:a16="http://schemas.microsoft.com/office/drawing/2014/main" val="2294296812"/>
                    </a:ext>
                  </a:extLst>
                </a:gridCol>
                <a:gridCol w="336191">
                  <a:extLst>
                    <a:ext uri="{9D8B030D-6E8A-4147-A177-3AD203B41FA5}">
                      <a16:colId xmlns:a16="http://schemas.microsoft.com/office/drawing/2014/main" val="848560102"/>
                    </a:ext>
                  </a:extLst>
                </a:gridCol>
              </a:tblGrid>
              <a:tr h="78975">
                <a:tc rowSpan="8">
                  <a:txBody>
                    <a:bodyPr/>
                    <a:lstStyle/>
                    <a:p>
                      <a:pPr algn="ctr" fontAlgn="ctr"/>
                      <a:r>
                        <a:rPr lang="en-US" sz="900" b="1" i="0" kern="1200">
                          <a:solidFill>
                            <a:srgbClr val="FFFFFF"/>
                          </a:solidFill>
                          <a:effectLst/>
                          <a:latin typeface="Arial"/>
                          <a:ea typeface="+mn-ea"/>
                          <a:cs typeface="+mn-cs"/>
                        </a:rPr>
                        <a:t>AFE</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Monthly Invoice issued to customer –new contract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78975">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Monthly Billing (from 37th month)</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E9F5F9"/>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78975">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LV​</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PV​</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Arial" panose="020B0604020202020204" pitchFamily="34" charset="0"/>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06690">
                <a:tc vMerge="1">
                  <a:txBody>
                    <a:bodyPr/>
                    <a:lstStyle/>
                    <a:p>
                      <a:endParaRPr 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1130103</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2851737725"/>
                  </a:ext>
                </a:extLst>
              </a:tr>
              <a:tr h="80685">
                <a:tc vMerge="1">
                  <a:txBody>
                    <a:bodyPr/>
                    <a:lstStyle/>
                    <a:p>
                      <a:endParaRPr lang="en-US"/>
                    </a:p>
                  </a:txBody>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1400301</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563725212"/>
                  </a:ext>
                </a:extLst>
              </a:tr>
              <a:tr h="166556">
                <a:tc vMerge="1">
                  <a:txBody>
                    <a:bodyPr/>
                    <a:lstStyle/>
                    <a:p>
                      <a:endParaRPr lang="zh-CN" alt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5010510</a:t>
                      </a: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gent</a:t>
                      </a:r>
                      <a:r>
                        <a:rPr lang="en-US" sz="900" b="0" i="0" u="none" strike="noStrike" kern="1200">
                          <a:solidFill>
                            <a:srgbClr val="000000"/>
                          </a:solidFill>
                          <a:effectLst/>
                          <a:latin typeface="Arial" panose="020B0604020202020204" pitchFamily="34" charset="0"/>
                          <a:ea typeface="+mn-ea"/>
                          <a:cs typeface="+mn-cs"/>
                        </a:rPr>
                        <a:t> Revenue – Non</a:t>
                      </a:r>
                      <a:r>
                        <a:rPr lang="en-US" altLang="zh-CN" sz="900" b="0" i="0" u="none" strike="noStrike" kern="1200">
                          <a:solidFill>
                            <a:srgbClr val="000000"/>
                          </a:solidFill>
                          <a:effectLst/>
                          <a:latin typeface="Arial" panose="020B0604020202020204" pitchFamily="34" charset="0"/>
                          <a:ea typeface="+mn-ea"/>
                          <a:cs typeface="+mn-cs"/>
                        </a:rPr>
                        <a:t>-</a:t>
                      </a:r>
                      <a:r>
                        <a:rPr lang="en-US" sz="900" b="0" i="0" u="none" strike="noStrike" kern="1200">
                          <a:solidFill>
                            <a:srgbClr val="000000"/>
                          </a:solidFill>
                          <a:effectLst/>
                          <a:latin typeface="Arial" panose="020B0604020202020204" pitchFamily="34" charset="0"/>
                          <a:ea typeface="+mn-ea"/>
                          <a:cs typeface="+mn-cs"/>
                        </a:rPr>
                        <a:t>Funded Premier </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SVC</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475736748"/>
                  </a:ext>
                </a:extLst>
              </a:tr>
              <a:tr h="80685">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3834946976"/>
                  </a:ext>
                </a:extLst>
              </a:tr>
              <a:tr h="166556">
                <a:tc vMerge="1">
                  <a:txBody>
                    <a:bodyPr/>
                    <a:lstStyle/>
                    <a:p>
                      <a:pPr algn="ctr" fontAlgn="ctr"/>
                      <a:endParaRPr lang="en-US" sz="1200" b="1" i="0" u="none" strike="noStrike">
                        <a:solidFill>
                          <a:srgbClr val="FFFFFF"/>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indent="0" algn="ctr" fontAlgn="base">
                        <a:lnSpc>
                          <a:spcPts val="1200"/>
                        </a:lnSpc>
                        <a:buNone/>
                      </a:pPr>
                      <a:r>
                        <a:rPr lang="en-US" altLang="zh-CN" sz="900" b="0" i="0" u="none" strike="noStrike" kern="1200" spc="0">
                          <a:solidFill>
                            <a:srgbClr val="000000"/>
                          </a:solidFill>
                          <a:effectLst/>
                          <a:latin typeface="Arial" panose="020B0604020202020204" pitchFamily="34" charset="0"/>
                          <a:ea typeface="+mn-ea"/>
                          <a:cs typeface="+mn-cs"/>
                        </a:rPr>
                        <a:t>SVC</a:t>
                      </a:r>
                      <a:endParaRPr lang="zh-CN" altLang="en-US" sz="900" b="0" i="0" u="none" strike="noStrike" kern="1200" spc="0">
                        <a:solidFill>
                          <a:srgbClr val="000000"/>
                        </a:solidFill>
                        <a:effectLst/>
                        <a:latin typeface="Arial" panose="020B0604020202020204" pitchFamily="34" charset="0"/>
                        <a:ea typeface="+mn-ea"/>
                        <a:cs typeface="+mn-cs"/>
                      </a:endParaRP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45014" marR="45014" marT="22507" marB="22507"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D8E8F8"/>
                    </a:solidFill>
                  </a:tcPr>
                </a:tc>
                <a:extLst>
                  <a:ext uri="{0D108BD9-81ED-4DB2-BD59-A6C34878D82A}">
                    <a16:rowId xmlns:a16="http://schemas.microsoft.com/office/drawing/2014/main" val="422450522"/>
                  </a:ext>
                </a:extLst>
              </a:tr>
            </a:tbl>
          </a:graphicData>
        </a:graphic>
      </p:graphicFrame>
      <p:sp>
        <p:nvSpPr>
          <p:cNvPr id="18" name="对话气泡: 矩形 17">
            <a:extLst>
              <a:ext uri="{FF2B5EF4-FFF2-40B4-BE49-F238E27FC236}">
                <a16:creationId xmlns:a16="http://schemas.microsoft.com/office/drawing/2014/main" id="{C8AA6063-E278-B134-1F2A-06F81FBB4713}"/>
              </a:ext>
            </a:extLst>
          </p:cNvPr>
          <p:cNvSpPr/>
          <p:nvPr/>
        </p:nvSpPr>
        <p:spPr>
          <a:xfrm>
            <a:off x="7085945" y="956487"/>
            <a:ext cx="2597379" cy="833341"/>
          </a:xfrm>
          <a:prstGeom prst="wedgeRectCallout">
            <a:avLst>
              <a:gd name="adj1" fmla="val -113537"/>
              <a:gd name="adj2" fmla="val 2255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In AFE model, AFE will keep this upfront service amt as interest income, since customer will pay upfront in more months.</a:t>
            </a:r>
          </a:p>
        </p:txBody>
      </p:sp>
      <p:graphicFrame>
        <p:nvGraphicFramePr>
          <p:cNvPr id="22" name="Table 94">
            <a:extLst>
              <a:ext uri="{FF2B5EF4-FFF2-40B4-BE49-F238E27FC236}">
                <a16:creationId xmlns:a16="http://schemas.microsoft.com/office/drawing/2014/main" id="{55151EBA-06F4-8980-BD50-4FC34A27138F}"/>
              </a:ext>
            </a:extLst>
          </p:cNvPr>
          <p:cNvGraphicFramePr>
            <a:graphicFrameLocks noGrp="1"/>
          </p:cNvGraphicFramePr>
          <p:nvPr>
            <p:extLst>
              <p:ext uri="{D42A27DB-BD31-4B8C-83A1-F6EECF244321}">
                <p14:modId xmlns:p14="http://schemas.microsoft.com/office/powerpoint/2010/main" val="1021255091"/>
              </p:ext>
            </p:extLst>
          </p:nvPr>
        </p:nvGraphicFramePr>
        <p:xfrm>
          <a:off x="119444" y="898903"/>
          <a:ext cx="5463473" cy="890925"/>
        </p:xfrm>
        <a:graphic>
          <a:graphicData uri="http://schemas.openxmlformats.org/drawingml/2006/table">
            <a:tbl>
              <a:tblPr firstRow="1">
                <a:tableStyleId>{5C22544A-7EE6-4342-B048-85BDC9FD1C3A}</a:tableStyleId>
              </a:tblPr>
              <a:tblGrid>
                <a:gridCol w="361950">
                  <a:extLst>
                    <a:ext uri="{9D8B030D-6E8A-4147-A177-3AD203B41FA5}">
                      <a16:colId xmlns:a16="http://schemas.microsoft.com/office/drawing/2014/main" val="3200314054"/>
                    </a:ext>
                  </a:extLst>
                </a:gridCol>
                <a:gridCol w="221124">
                  <a:extLst>
                    <a:ext uri="{9D8B030D-6E8A-4147-A177-3AD203B41FA5}">
                      <a16:colId xmlns:a16="http://schemas.microsoft.com/office/drawing/2014/main" val="1913271583"/>
                    </a:ext>
                  </a:extLst>
                </a:gridCol>
                <a:gridCol w="482477">
                  <a:extLst>
                    <a:ext uri="{9D8B030D-6E8A-4147-A177-3AD203B41FA5}">
                      <a16:colId xmlns:a16="http://schemas.microsoft.com/office/drawing/2014/main" val="1797281345"/>
                    </a:ext>
                  </a:extLst>
                </a:gridCol>
                <a:gridCol w="2171700">
                  <a:extLst>
                    <a:ext uri="{9D8B030D-6E8A-4147-A177-3AD203B41FA5}">
                      <a16:colId xmlns:a16="http://schemas.microsoft.com/office/drawing/2014/main" val="2743739350"/>
                    </a:ext>
                  </a:extLst>
                </a:gridCol>
                <a:gridCol w="258417">
                  <a:extLst>
                    <a:ext uri="{9D8B030D-6E8A-4147-A177-3AD203B41FA5}">
                      <a16:colId xmlns:a16="http://schemas.microsoft.com/office/drawing/2014/main" val="2056723756"/>
                    </a:ext>
                  </a:extLst>
                </a:gridCol>
                <a:gridCol w="422547">
                  <a:extLst>
                    <a:ext uri="{9D8B030D-6E8A-4147-A177-3AD203B41FA5}">
                      <a16:colId xmlns:a16="http://schemas.microsoft.com/office/drawing/2014/main" val="4073315665"/>
                    </a:ext>
                  </a:extLst>
                </a:gridCol>
                <a:gridCol w="285750">
                  <a:extLst>
                    <a:ext uri="{9D8B030D-6E8A-4147-A177-3AD203B41FA5}">
                      <a16:colId xmlns:a16="http://schemas.microsoft.com/office/drawing/2014/main" val="3068119212"/>
                    </a:ext>
                  </a:extLst>
                </a:gridCol>
                <a:gridCol w="304800">
                  <a:extLst>
                    <a:ext uri="{9D8B030D-6E8A-4147-A177-3AD203B41FA5}">
                      <a16:colId xmlns:a16="http://schemas.microsoft.com/office/drawing/2014/main" val="3765595061"/>
                    </a:ext>
                  </a:extLst>
                </a:gridCol>
                <a:gridCol w="273786">
                  <a:extLst>
                    <a:ext uri="{9D8B030D-6E8A-4147-A177-3AD203B41FA5}">
                      <a16:colId xmlns:a16="http://schemas.microsoft.com/office/drawing/2014/main" val="4016582823"/>
                    </a:ext>
                  </a:extLst>
                </a:gridCol>
                <a:gridCol w="394436">
                  <a:extLst>
                    <a:ext uri="{9D8B030D-6E8A-4147-A177-3AD203B41FA5}">
                      <a16:colId xmlns:a16="http://schemas.microsoft.com/office/drawing/2014/main" val="1452004342"/>
                    </a:ext>
                  </a:extLst>
                </a:gridCol>
                <a:gridCol w="286486">
                  <a:extLst>
                    <a:ext uri="{9D8B030D-6E8A-4147-A177-3AD203B41FA5}">
                      <a16:colId xmlns:a16="http://schemas.microsoft.com/office/drawing/2014/main" val="848560102"/>
                    </a:ext>
                  </a:extLst>
                </a:gridCol>
              </a:tblGrid>
              <a:tr h="108565">
                <a:tc rowSpan="5">
                  <a:txBody>
                    <a:bodyPr/>
                    <a:lstStyle/>
                    <a:p>
                      <a:pPr algn="ctr" fontAlgn="ctr"/>
                      <a:r>
                        <a:rPr lang="en-US" sz="900" b="1" i="0" kern="1200">
                          <a:solidFill>
                            <a:srgbClr val="FFFFFF"/>
                          </a:solidFill>
                          <a:effectLst/>
                          <a:latin typeface="Arial"/>
                          <a:ea typeface="+mn-ea"/>
                          <a:cs typeface="+mn-cs"/>
                        </a:rPr>
                        <a:t>AFE</a:t>
                      </a:r>
                      <a:br>
                        <a:rPr lang="en-US" sz="900" b="1" i="0" kern="1200">
                          <a:solidFill>
                            <a:srgbClr val="FFFFFF"/>
                          </a:solidFill>
                          <a:effectLst/>
                          <a:latin typeface="Arial"/>
                          <a:ea typeface="+mn-ea"/>
                          <a:cs typeface="+mn-cs"/>
                        </a:rPr>
                      </a:br>
                      <a:r>
                        <a:rPr lang="en-US" sz="900" b="1" i="0" kern="1200">
                          <a:solidFill>
                            <a:srgbClr val="FFFFFF"/>
                          </a:solidFill>
                          <a:effectLst/>
                          <a:latin typeface="Arial"/>
                          <a:ea typeface="+mn-ea"/>
                          <a:cs typeface="+mn-cs"/>
                        </a:rPr>
                        <a:t>Entity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chemeClr val="bg1"/>
                          </a:solidFill>
                          <a:effectLst/>
                          <a:latin typeface="Arial" panose="020B0604020202020204" pitchFamily="34" charset="0"/>
                          <a:ea typeface="+mn-ea"/>
                          <a:cs typeface="+mn-cs"/>
                        </a:rPr>
                        <a:t>Mid Term Rewrite upfront service interest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08565">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u="none" strike="noStrike" kern="1200">
                          <a:solidFill>
                            <a:schemeClr val="tx1"/>
                          </a:solidFill>
                          <a:effectLst/>
                          <a:latin typeface="Arial" panose="020B0604020202020204" pitchFamily="34" charset="0"/>
                          <a:ea typeface="+mn-ea"/>
                          <a:cs typeface="+mn-cs"/>
                        </a:rPr>
                        <a:t>Upon rewrite active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29102">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1" i="0" u="none" strike="noStrike" kern="1200">
                          <a:solidFill>
                            <a:srgbClr val="000000"/>
                          </a:solidFill>
                          <a:effectLst/>
                          <a:latin typeface="Arial" panose="020B0604020202020204" pitchFamily="34" charset="0"/>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PV</a:t>
                      </a:r>
                      <a:endParaRPr lang="en-US" sz="900" b="1" i="0" u="none" strike="noStrike" kern="120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endParaRPr lang="en-US"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Funded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2.6</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noProof="0">
                        <a:solidFill>
                          <a:srgbClr val="000000"/>
                        </a:solidFill>
                        <a:effectLst/>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2851737725"/>
                  </a:ext>
                </a:extLst>
              </a:tr>
              <a:tr h="202518">
                <a:tc vMerge="1">
                  <a:txBody>
                    <a:bodyPr/>
                    <a:lstStyle/>
                    <a:p>
                      <a:endParaRPr 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Interest income - Upfront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2.6</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SVC</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J*/X*</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endParaRPr lang="zh-CN" altLang="en-US" sz="900" b="0" i="0" u="none" strike="noStrike" kern="1200" noProof="0">
                        <a:solidFill>
                          <a:srgbClr val="000000"/>
                        </a:solidFill>
                        <a:effectLst/>
                        <a:latin typeface="Arial" panose="020B0604020202020204" pitchFamily="34" charset="0"/>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val="3563725212"/>
                  </a:ext>
                </a:extLst>
              </a:tr>
            </a:tbl>
          </a:graphicData>
        </a:graphic>
      </p:graphicFrame>
      <p:sp>
        <p:nvSpPr>
          <p:cNvPr id="24" name="对话气泡: 矩形 23">
            <a:extLst>
              <a:ext uri="{FF2B5EF4-FFF2-40B4-BE49-F238E27FC236}">
                <a16:creationId xmlns:a16="http://schemas.microsoft.com/office/drawing/2014/main" id="{F81FEEA1-3F64-CF53-E92D-70E0D1317D4D}"/>
              </a:ext>
            </a:extLst>
          </p:cNvPr>
          <p:cNvSpPr/>
          <p:nvPr/>
        </p:nvSpPr>
        <p:spPr>
          <a:xfrm>
            <a:off x="7332982" y="3361579"/>
            <a:ext cx="2597379" cy="1223555"/>
          </a:xfrm>
          <a:prstGeom prst="wedgeRectCallout">
            <a:avLst>
              <a:gd name="adj1" fmla="val -121605"/>
              <a:gd name="adj2" fmla="val 2484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Odessa M0 after mid-term rewrite active, book rev &amp; cost.</a:t>
            </a:r>
          </a:p>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Month end interest income entry was the same with normal FL.</a:t>
            </a:r>
          </a:p>
          <a:p>
            <a:endPar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endParaRPr>
          </a:p>
        </p:txBody>
      </p:sp>
      <p:sp>
        <p:nvSpPr>
          <p:cNvPr id="3" name="对话气泡: 矩形 2">
            <a:extLst>
              <a:ext uri="{FF2B5EF4-FFF2-40B4-BE49-F238E27FC236}">
                <a16:creationId xmlns:a16="http://schemas.microsoft.com/office/drawing/2014/main" id="{D888A9BF-1671-33C2-653B-BC21F59C2F04}"/>
              </a:ext>
            </a:extLst>
          </p:cNvPr>
          <p:cNvSpPr/>
          <p:nvPr/>
        </p:nvSpPr>
        <p:spPr>
          <a:xfrm>
            <a:off x="7085945" y="5184071"/>
            <a:ext cx="2597379" cy="833341"/>
          </a:xfrm>
          <a:prstGeom prst="wedgeRectCallout">
            <a:avLst>
              <a:gd name="adj1" fmla="val -107564"/>
              <a:gd name="adj2" fmla="val -5223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GIT will have Diff from lease receivable, interest, FL </a:t>
            </a:r>
          </a:p>
        </p:txBody>
      </p:sp>
      <p:sp>
        <p:nvSpPr>
          <p:cNvPr id="7" name="对话气泡: 矩形 6">
            <a:extLst>
              <a:ext uri="{FF2B5EF4-FFF2-40B4-BE49-F238E27FC236}">
                <a16:creationId xmlns:a16="http://schemas.microsoft.com/office/drawing/2014/main" id="{7BD92309-E265-CDCA-CB9F-79129D430AD8}"/>
              </a:ext>
            </a:extLst>
          </p:cNvPr>
          <p:cNvSpPr/>
          <p:nvPr/>
        </p:nvSpPr>
        <p:spPr>
          <a:xfrm>
            <a:off x="7332981" y="1965249"/>
            <a:ext cx="2597379" cy="833341"/>
          </a:xfrm>
          <a:prstGeom prst="wedgeRectCallout">
            <a:avLst>
              <a:gd name="adj1" fmla="val -113537"/>
              <a:gd name="adj2" fmla="val 22554"/>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Arial" panose="020B0604020202020204" pitchFamily="34" charset="0"/>
                <a:ea typeface="黑体" panose="02010609060101010101" pitchFamily="49" charset="-122"/>
                <a:cs typeface="Arial" panose="020B0604020202020204" pitchFamily="34" charset="0"/>
              </a:rPr>
              <a:t>Reverse depreciation amt to GIT </a:t>
            </a:r>
          </a:p>
        </p:txBody>
      </p:sp>
    </p:spTree>
    <p:extLst>
      <p:ext uri="{BB962C8B-B14F-4D97-AF65-F5344CB8AC3E}">
        <p14:creationId xmlns:p14="http://schemas.microsoft.com/office/powerpoint/2010/main" val="3023484337"/>
      </p:ext>
    </p:extLst>
  </p:cSld>
  <p:clrMapOvr>
    <a:masterClrMapping/>
  </p:clrMapOvr>
  <p:extLst>
    <p:ext uri="{6950BFC3-D8DA-4A85-94F7-54DA5524770B}">
      <p188:commentRel xmlns:p188="http://schemas.microsoft.com/office/powerpoint/2018/8/main" r:id="rId2"/>
    </p:ext>
  </p:extLs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25927AE6-A1A6-4406-A771-FFD6D4F99B88}"/>
              </a:ext>
            </a:extLst>
          </p:cNvPr>
          <p:cNvSpPr>
            <a:spLocks noGrp="1"/>
          </p:cNvSpPr>
          <p:nvPr>
            <p:ph type="sldNum" sz="quarter" idx="4"/>
          </p:nvPr>
        </p:nvSpPr>
        <p:spPr>
          <a:xfrm>
            <a:off x="11752974" y="6473952"/>
            <a:ext cx="439026" cy="155448"/>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6D22F896-40B5-4ADD-8801-0D06FADFA095}" type="slidenum">
              <a:rPr lang="en-US" smtClean="0"/>
              <a:pPr marL="0" marR="0" lvl="0" indent="0" algn="ctr" defTabSz="914400" rtl="0" eaLnBrk="1" fontAlgn="auto" latinLnBrk="0" hangingPunct="1">
                <a:lnSpc>
                  <a:spcPct val="100000"/>
                </a:lnSpc>
                <a:spcBef>
                  <a:spcPts val="0"/>
                </a:spcBef>
                <a:spcAft>
                  <a:spcPts val="0"/>
                </a:spcAft>
                <a:buClrTx/>
                <a:buSzTx/>
                <a:buFontTx/>
                <a:buNone/>
                <a:tabLst/>
                <a:defRPr/>
              </a:pPr>
              <a:t>140</a:t>
            </a:fld>
            <a:endPar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graphicFrame>
        <p:nvGraphicFramePr>
          <p:cNvPr id="28" name="Table 27">
            <a:extLst>
              <a:ext uri="{FF2B5EF4-FFF2-40B4-BE49-F238E27FC236}">
                <a16:creationId xmlns:a16="http://schemas.microsoft.com/office/drawing/2014/main" id="{167B6B66-33A7-4EC5-B8E3-7B9DFE7737B0}"/>
              </a:ext>
            </a:extLst>
          </p:cNvPr>
          <p:cNvGraphicFramePr>
            <a:graphicFrameLocks noGrp="1"/>
          </p:cNvGraphicFramePr>
          <p:nvPr>
            <p:extLst>
              <p:ext uri="{D42A27DB-BD31-4B8C-83A1-F6EECF244321}">
                <p14:modId xmlns:p14="http://schemas.microsoft.com/office/powerpoint/2010/main" val="3178723842"/>
              </p:ext>
            </p:extLst>
          </p:nvPr>
        </p:nvGraphicFramePr>
        <p:xfrm>
          <a:off x="151591" y="4693226"/>
          <a:ext cx="5164785" cy="810000"/>
        </p:xfrm>
        <a:graphic>
          <a:graphicData uri="http://schemas.openxmlformats.org/drawingml/2006/table">
            <a:tbl>
              <a:tblPr firstRow="1">
                <a:tableStyleId>{5C22544A-7EE6-4342-B048-85BDC9FD1C3A}</a:tableStyleId>
              </a:tblPr>
              <a:tblGrid>
                <a:gridCol w="437910">
                  <a:extLst>
                    <a:ext uri="{9D8B030D-6E8A-4147-A177-3AD203B41FA5}">
                      <a16:colId xmlns:a16="http://schemas.microsoft.com/office/drawing/2014/main" val="3200314054"/>
                    </a:ext>
                  </a:extLst>
                </a:gridCol>
                <a:gridCol w="198489">
                  <a:extLst>
                    <a:ext uri="{9D8B030D-6E8A-4147-A177-3AD203B41FA5}">
                      <a16:colId xmlns:a16="http://schemas.microsoft.com/office/drawing/2014/main" val="1913271583"/>
                    </a:ext>
                  </a:extLst>
                </a:gridCol>
                <a:gridCol w="726931">
                  <a:extLst>
                    <a:ext uri="{9D8B030D-6E8A-4147-A177-3AD203B41FA5}">
                      <a16:colId xmlns:a16="http://schemas.microsoft.com/office/drawing/2014/main" val="1797281345"/>
                    </a:ext>
                  </a:extLst>
                </a:gridCol>
                <a:gridCol w="2475676">
                  <a:extLst>
                    <a:ext uri="{9D8B030D-6E8A-4147-A177-3AD203B41FA5}">
                      <a16:colId xmlns:a16="http://schemas.microsoft.com/office/drawing/2014/main" val="2743739350"/>
                    </a:ext>
                  </a:extLst>
                </a:gridCol>
                <a:gridCol w="312832">
                  <a:extLst>
                    <a:ext uri="{9D8B030D-6E8A-4147-A177-3AD203B41FA5}">
                      <a16:colId xmlns:a16="http://schemas.microsoft.com/office/drawing/2014/main" val="2056723756"/>
                    </a:ext>
                  </a:extLst>
                </a:gridCol>
                <a:gridCol w="312832">
                  <a:extLst>
                    <a:ext uri="{9D8B030D-6E8A-4147-A177-3AD203B41FA5}">
                      <a16:colId xmlns:a16="http://schemas.microsoft.com/office/drawing/2014/main" val="4073315665"/>
                    </a:ext>
                  </a:extLst>
                </a:gridCol>
                <a:gridCol w="700115">
                  <a:extLst>
                    <a:ext uri="{9D8B030D-6E8A-4147-A177-3AD203B41FA5}">
                      <a16:colId xmlns:a16="http://schemas.microsoft.com/office/drawing/2014/main" val="848560102"/>
                    </a:ext>
                  </a:extLst>
                </a:gridCol>
              </a:tblGrid>
              <a:tr h="162000">
                <a:tc rowSpan="5">
                  <a:txBody>
                    <a:bodyPr/>
                    <a:lstStyle/>
                    <a:p>
                      <a:pPr algn="ctr" fontAlgn="ctr"/>
                      <a:r>
                        <a:rPr lang="en-US" sz="1200" b="1" i="0" u="none" strike="noStrike">
                          <a:solidFill>
                            <a:schemeClr val="bg1"/>
                          </a:solidFill>
                          <a:effectLst/>
                          <a:latin typeface="Arial"/>
                        </a:rPr>
                        <a:t>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End of Lease service performed recognize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chemeClr val="tx1"/>
                          </a:solidFill>
                          <a:effectLst/>
                          <a:uLnTx/>
                          <a:uFillTx/>
                          <a:latin typeface="+mn-lt"/>
                          <a:ea typeface="+mn-ea"/>
                          <a:cs typeface="+mn-cs"/>
                        </a:rPr>
                        <a:t>Upon Service completed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Deferred Income</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Services Revenue – D</a:t>
                      </a:r>
                      <a:r>
                        <a:rPr lang="en-US" altLang="zh-CN" sz="1000" b="0" i="0" u="none" strike="noStrike">
                          <a:solidFill>
                            <a:srgbClr val="000000"/>
                          </a:solidFill>
                          <a:effectLst/>
                          <a:latin typeface="+mn-lt"/>
                        </a:rPr>
                        <a:t>aaS</a:t>
                      </a:r>
                      <a:endParaRPr lang="en-US" sz="1000" b="0" i="0" u="none" strike="noStrike">
                        <a:solidFill>
                          <a:srgbClr val="000000"/>
                        </a:solidFill>
                        <a:effectLst/>
                        <a:latin typeface="+mn-lt"/>
                      </a:endParaRP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14759219"/>
                  </a:ext>
                </a:extLst>
              </a:tr>
            </a:tbl>
          </a:graphicData>
        </a:graphic>
      </p:graphicFrame>
      <p:graphicFrame>
        <p:nvGraphicFramePr>
          <p:cNvPr id="30" name="Table 29">
            <a:extLst>
              <a:ext uri="{FF2B5EF4-FFF2-40B4-BE49-F238E27FC236}">
                <a16:creationId xmlns:a16="http://schemas.microsoft.com/office/drawing/2014/main" id="{E910A701-19F7-4810-B409-E898F513FA13}"/>
              </a:ext>
            </a:extLst>
          </p:cNvPr>
          <p:cNvGraphicFramePr>
            <a:graphicFrameLocks noGrp="1"/>
          </p:cNvGraphicFramePr>
          <p:nvPr>
            <p:extLst>
              <p:ext uri="{D42A27DB-BD31-4B8C-83A1-F6EECF244321}">
                <p14:modId xmlns:p14="http://schemas.microsoft.com/office/powerpoint/2010/main" val="3724105374"/>
              </p:ext>
            </p:extLst>
          </p:nvPr>
        </p:nvGraphicFramePr>
        <p:xfrm>
          <a:off x="151591" y="1980691"/>
          <a:ext cx="5166450" cy="1620000"/>
        </p:xfrm>
        <a:graphic>
          <a:graphicData uri="http://schemas.openxmlformats.org/drawingml/2006/table">
            <a:tbl>
              <a:tblPr firstRow="1">
                <a:tableStyleId>{5C22544A-7EE6-4342-B048-85BDC9FD1C3A}</a:tableStyleId>
              </a:tblPr>
              <a:tblGrid>
                <a:gridCol w="408240">
                  <a:extLst>
                    <a:ext uri="{9D8B030D-6E8A-4147-A177-3AD203B41FA5}">
                      <a16:colId xmlns:a16="http://schemas.microsoft.com/office/drawing/2014/main" val="3200314054"/>
                    </a:ext>
                  </a:extLst>
                </a:gridCol>
                <a:gridCol w="248333">
                  <a:extLst>
                    <a:ext uri="{9D8B030D-6E8A-4147-A177-3AD203B41FA5}">
                      <a16:colId xmlns:a16="http://schemas.microsoft.com/office/drawing/2014/main" val="1913271583"/>
                    </a:ext>
                  </a:extLst>
                </a:gridCol>
                <a:gridCol w="607593">
                  <a:extLst>
                    <a:ext uri="{9D8B030D-6E8A-4147-A177-3AD203B41FA5}">
                      <a16:colId xmlns:a16="http://schemas.microsoft.com/office/drawing/2014/main" val="1797281345"/>
                    </a:ext>
                  </a:extLst>
                </a:gridCol>
                <a:gridCol w="2546492">
                  <a:extLst>
                    <a:ext uri="{9D8B030D-6E8A-4147-A177-3AD203B41FA5}">
                      <a16:colId xmlns:a16="http://schemas.microsoft.com/office/drawing/2014/main" val="2743739350"/>
                    </a:ext>
                  </a:extLst>
                </a:gridCol>
                <a:gridCol w="331871">
                  <a:extLst>
                    <a:ext uri="{9D8B030D-6E8A-4147-A177-3AD203B41FA5}">
                      <a16:colId xmlns:a16="http://schemas.microsoft.com/office/drawing/2014/main" val="2056723756"/>
                    </a:ext>
                  </a:extLst>
                </a:gridCol>
                <a:gridCol w="354956">
                  <a:extLst>
                    <a:ext uri="{9D8B030D-6E8A-4147-A177-3AD203B41FA5}">
                      <a16:colId xmlns:a16="http://schemas.microsoft.com/office/drawing/2014/main" val="4073315665"/>
                    </a:ext>
                  </a:extLst>
                </a:gridCol>
                <a:gridCol w="668965">
                  <a:extLst>
                    <a:ext uri="{9D8B030D-6E8A-4147-A177-3AD203B41FA5}">
                      <a16:colId xmlns:a16="http://schemas.microsoft.com/office/drawing/2014/main" val="848560102"/>
                    </a:ext>
                  </a:extLst>
                </a:gridCol>
              </a:tblGrid>
              <a:tr h="162000">
                <a:tc rowSpan="10">
                  <a:txBody>
                    <a:bodyPr/>
                    <a:lstStyle/>
                    <a:p>
                      <a:pPr algn="ctr" fontAlgn="ctr"/>
                      <a:r>
                        <a:rPr lang="en-US" sz="1200" u="none" strike="noStrike">
                          <a:solidFill>
                            <a:schemeClr val="bg1"/>
                          </a:solidFill>
                          <a:effectLst/>
                        </a:rPr>
                        <a:t>S&amp;D</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Monthly invoice from Lenovo to Customer</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b="1" u="none" strike="noStrike" kern="1200">
                          <a:solidFill>
                            <a:schemeClr val="tx1"/>
                          </a:solidFill>
                          <a:effectLst/>
                          <a:latin typeface="+mn-lt"/>
                          <a:ea typeface="+mn-ea"/>
                          <a:cs typeface="+mn-cs"/>
                        </a:rPr>
                        <a:t>Monthly invoice issued to customer</a:t>
                      </a: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等线"/>
                          <a:cs typeface="+mn-cs"/>
                        </a:rPr>
                        <a:t>Account Receivable OL - </a:t>
                      </a:r>
                      <a:r>
                        <a:rPr lang="en-US" altLang="zh-CN" sz="1000" b="0" i="0" u="none" strike="noStrike" kern="1200">
                          <a:solidFill>
                            <a:srgbClr val="000000"/>
                          </a:solidFill>
                          <a:effectLst/>
                          <a:latin typeface="+mn-lt"/>
                          <a:ea typeface="等线"/>
                          <a:cs typeface="+mn-cs"/>
                        </a:rPr>
                        <a:t>customer</a:t>
                      </a:r>
                      <a:endParaRPr 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35.2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35.2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a:lnSpc>
                          <a:spcPct val="100000"/>
                        </a:lnSpc>
                        <a:spcBef>
                          <a:spcPts val="0"/>
                        </a:spcBef>
                        <a:spcAft>
                          <a:spcPts val="0"/>
                        </a:spcAft>
                        <a:buNone/>
                        <a:tabLst/>
                        <a:defRPr/>
                      </a:pPr>
                      <a:r>
                        <a:rPr lang="en-US" sz="1000" b="0" i="0" u="none" strike="noStrike" noProof="0">
                          <a:solidFill>
                            <a:srgbClr val="000000"/>
                          </a:solidFill>
                          <a:effectLst/>
                          <a:latin typeface="+mn-lt"/>
                        </a:rPr>
                        <a:t>U4/</a:t>
                      </a:r>
                      <a:r>
                        <a:rPr lang="en-US" sz="1000" b="0" i="0" u="none" strike="noStrike" noProof="0">
                          <a:solidFill>
                            <a:srgbClr val="000000"/>
                          </a:solidFill>
                          <a:effectLst/>
                          <a:latin typeface="Arial"/>
                        </a:rPr>
                        <a:t>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704665907"/>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highlight>
                            <a:srgbClr val="00FF00"/>
                          </a:highlight>
                          <a:latin typeface="+mn-lt"/>
                          <a:ea typeface="+mn-ea"/>
                          <a:cs typeface="+mn-cs"/>
                        </a:rPr>
                        <a:t>Interest income-</a:t>
                      </a:r>
                      <a:r>
                        <a:rPr lang="en-US" sz="1000" b="0" i="0" u="none" strike="noStrike" kern="1200" noProof="0">
                          <a:solidFill>
                            <a:srgbClr val="000000"/>
                          </a:solidFill>
                          <a:effectLst/>
                          <a:highlight>
                            <a:srgbClr val="00FF00"/>
                          </a:highlight>
                          <a:latin typeface="+mn-lt"/>
                          <a:ea typeface="+mn-ea"/>
                          <a:cs typeface="+mn-cs"/>
                        </a:rPr>
                        <a:t>Ship to Home</a:t>
                      </a:r>
                      <a:endParaRPr lang="en-US" sz="1000" b="0" i="0" u="none" strike="noStrike" kern="1200">
                        <a:solidFill>
                          <a:srgbClr val="000000"/>
                        </a:solidFill>
                        <a:effectLst/>
                        <a:highlight>
                          <a:srgbClr val="00FF00"/>
                        </a:highligh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a:lnSpc>
                          <a:spcPct val="100000"/>
                        </a:lnSpc>
                        <a:spcBef>
                          <a:spcPts val="0"/>
                        </a:spcBef>
                        <a:spcAft>
                          <a:spcPts val="0"/>
                        </a:spcAft>
                        <a:buNone/>
                        <a:tabLst/>
                        <a:defRPr/>
                      </a:pPr>
                      <a:r>
                        <a:rPr lang="en-US" sz="1000" b="0" i="0" u="none" strike="noStrike" noProof="0">
                          <a:solidFill>
                            <a:srgbClr val="000000"/>
                          </a:solidFill>
                          <a:effectLst/>
                          <a:latin typeface="Arial"/>
                        </a:rPr>
                        <a:t>30/J*/PK</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483757682"/>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mn-lt"/>
                          <a:ea typeface="+mn-ea"/>
                          <a:cs typeface="+mn-cs"/>
                        </a:rPr>
                        <a:t>5010453</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rtl="0" eaLnBrk="1" fontAlgn="b" latinLnBrk="0" hangingPunct="1">
                        <a:lnSpc>
                          <a:spcPct val="100000"/>
                        </a:lnSpc>
                        <a:spcBef>
                          <a:spcPts val="0"/>
                        </a:spcBef>
                        <a:spcAft>
                          <a:spcPts val="0"/>
                        </a:spcAft>
                        <a:buClrTx/>
                        <a:buSzTx/>
                        <a:buFontTx/>
                        <a:buNone/>
                      </a:pPr>
                      <a:r>
                        <a:rPr lang="en-US" sz="1000" b="0" i="0" u="none" strike="noStrike" kern="1200" noProof="0">
                          <a:solidFill>
                            <a:srgbClr val="000000"/>
                          </a:solidFill>
                          <a:effectLst/>
                          <a:latin typeface="+mn-lt"/>
                          <a:ea typeface="+mn-ea"/>
                          <a:cs typeface="+mn-cs"/>
                        </a:rPr>
                        <a:t>Services Revenue DaaS--Managed Service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064797181"/>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rtl="0" eaLnBrk="1" fontAlgn="b" latinLnBrk="0" hangingPunct="1">
                        <a:lnSpc>
                          <a:spcPct val="100000"/>
                        </a:lnSpc>
                        <a:spcBef>
                          <a:spcPts val="0"/>
                        </a:spcBef>
                        <a:spcAft>
                          <a:spcPts val="0"/>
                        </a:spcAft>
                        <a:buClrTx/>
                        <a:buSzTx/>
                        <a:buFontTx/>
                        <a:buNone/>
                      </a:pPr>
                      <a:r>
                        <a:rPr lang="en-US" sz="1000" b="0" i="0" u="none" strike="noStrike" kern="1200" noProof="0">
                          <a:solidFill>
                            <a:srgbClr val="000000"/>
                          </a:solidFill>
                          <a:effectLst/>
                          <a:latin typeface="+mn-lt"/>
                          <a:ea typeface="+mn-ea"/>
                          <a:cs typeface="+mn-cs"/>
                        </a:rPr>
                        <a:t>Services Revenue DaaS--Premier Support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501530050"/>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Deferred Revenue--</a:t>
                      </a:r>
                      <a:r>
                        <a:rPr lang="en-US" sz="1000" b="0" i="0" u="none" strike="noStrike" kern="1200" noProof="0">
                          <a:solidFill>
                            <a:srgbClr val="000000"/>
                          </a:solidFill>
                          <a:effectLst/>
                          <a:latin typeface="+mn-lt"/>
                          <a:ea typeface="+mn-ea"/>
                          <a:cs typeface="+mn-cs"/>
                        </a:rPr>
                        <a:t>ARS</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067519403"/>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b"/>
                      <a:r>
                        <a:rPr lang="en-US" sz="1000" b="0" i="0" u="none" strike="noStrike">
                          <a:solidFill>
                            <a:srgbClr val="000000"/>
                          </a:solidFill>
                          <a:effectLst/>
                          <a:latin typeface="+mn-lt"/>
                        </a:rPr>
                        <a:t>2220032</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rtl="0" fontAlgn="b"/>
                      <a:r>
                        <a:rPr lang="en-US" sz="1000" b="0" i="0" u="none" strike="noStrike">
                          <a:solidFill>
                            <a:srgbClr val="000000"/>
                          </a:solidFill>
                          <a:effectLst/>
                          <a:latin typeface="+mn-lt"/>
                        </a:rPr>
                        <a:t>Tax Payable-GST-Output</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endParaRPr lang="en-US" altLang="zh-CN" sz="1000" b="0" i="0" u="none" strike="noStrike" kern="1200">
                        <a:solidFill>
                          <a:srgbClr val="000000"/>
                        </a:solidFill>
                        <a:effectLst/>
                        <a:latin typeface="+mn-lt"/>
                        <a:ea typeface="等线" panose="02010600030101010101" pitchFamily="2" charset="-122"/>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kumimoji="0" lang="en-US" altLang="zh-CN" sz="10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627414531"/>
                  </a:ext>
                </a:extLst>
              </a:tr>
            </a:tbl>
          </a:graphicData>
        </a:graphic>
      </p:graphicFrame>
      <p:graphicFrame>
        <p:nvGraphicFramePr>
          <p:cNvPr id="32" name="Table 31">
            <a:extLst>
              <a:ext uri="{FF2B5EF4-FFF2-40B4-BE49-F238E27FC236}">
                <a16:creationId xmlns:a16="http://schemas.microsoft.com/office/drawing/2014/main" id="{1B234EFF-6CDE-49BF-A546-4C7BBDE8EA47}"/>
              </a:ext>
            </a:extLst>
          </p:cNvPr>
          <p:cNvGraphicFramePr>
            <a:graphicFrameLocks noGrp="1"/>
          </p:cNvGraphicFramePr>
          <p:nvPr>
            <p:extLst>
              <p:ext uri="{D42A27DB-BD31-4B8C-83A1-F6EECF244321}">
                <p14:modId xmlns:p14="http://schemas.microsoft.com/office/powerpoint/2010/main" val="992969709"/>
              </p:ext>
            </p:extLst>
          </p:nvPr>
        </p:nvGraphicFramePr>
        <p:xfrm>
          <a:off x="151591" y="3684138"/>
          <a:ext cx="5164785" cy="810000"/>
        </p:xfrm>
        <a:graphic>
          <a:graphicData uri="http://schemas.openxmlformats.org/drawingml/2006/table">
            <a:tbl>
              <a:tblPr firstRow="1">
                <a:tableStyleId>{5C22544A-7EE6-4342-B048-85BDC9FD1C3A}</a:tableStyleId>
              </a:tblPr>
              <a:tblGrid>
                <a:gridCol w="413589">
                  <a:extLst>
                    <a:ext uri="{9D8B030D-6E8A-4147-A177-3AD203B41FA5}">
                      <a16:colId xmlns:a16="http://schemas.microsoft.com/office/drawing/2014/main" val="3200314054"/>
                    </a:ext>
                  </a:extLst>
                </a:gridCol>
                <a:gridCol w="248154">
                  <a:extLst>
                    <a:ext uri="{9D8B030D-6E8A-4147-A177-3AD203B41FA5}">
                      <a16:colId xmlns:a16="http://schemas.microsoft.com/office/drawing/2014/main" val="1913271583"/>
                    </a:ext>
                  </a:extLst>
                </a:gridCol>
                <a:gridCol w="673801">
                  <a:extLst>
                    <a:ext uri="{9D8B030D-6E8A-4147-A177-3AD203B41FA5}">
                      <a16:colId xmlns:a16="http://schemas.microsoft.com/office/drawing/2014/main" val="1797281345"/>
                    </a:ext>
                  </a:extLst>
                </a:gridCol>
                <a:gridCol w="2227890">
                  <a:extLst>
                    <a:ext uri="{9D8B030D-6E8A-4147-A177-3AD203B41FA5}">
                      <a16:colId xmlns:a16="http://schemas.microsoft.com/office/drawing/2014/main" val="2743739350"/>
                    </a:ext>
                  </a:extLst>
                </a:gridCol>
                <a:gridCol w="374668">
                  <a:extLst>
                    <a:ext uri="{9D8B030D-6E8A-4147-A177-3AD203B41FA5}">
                      <a16:colId xmlns:a16="http://schemas.microsoft.com/office/drawing/2014/main" val="2056723756"/>
                    </a:ext>
                  </a:extLst>
                </a:gridCol>
                <a:gridCol w="374668">
                  <a:extLst>
                    <a:ext uri="{9D8B030D-6E8A-4147-A177-3AD203B41FA5}">
                      <a16:colId xmlns:a16="http://schemas.microsoft.com/office/drawing/2014/main" val="4073315665"/>
                    </a:ext>
                  </a:extLst>
                </a:gridCol>
                <a:gridCol w="852015">
                  <a:extLst>
                    <a:ext uri="{9D8B030D-6E8A-4147-A177-3AD203B41FA5}">
                      <a16:colId xmlns:a16="http://schemas.microsoft.com/office/drawing/2014/main" val="848560102"/>
                    </a:ext>
                  </a:extLst>
                </a:gridCol>
              </a:tblGrid>
              <a:tr h="162000">
                <a:tc rowSpan="5">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1200" u="none" strike="noStrike">
                          <a:solidFill>
                            <a:schemeClr val="bg1"/>
                          </a:solidFill>
                          <a:effectLst/>
                        </a:rPr>
                        <a:t>S&amp;D</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Monthly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FF0000"/>
                          </a:solidFill>
                          <a:effectLst/>
                          <a:uLnTx/>
                          <a:uFillTx/>
                          <a:latin typeface="+mn-lt"/>
                          <a:ea typeface="+mn-ea"/>
                          <a:cs typeface="+mn-cs"/>
                        </a:rPr>
                        <a:t>Depreciation rate needs to be recalculated with new RV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Dr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4060110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Depreciation Expense (COS Impact)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a:cs typeface="+mn-cs"/>
                        </a:rPr>
                        <a:t>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a:cs typeface="+mn-cs"/>
                        </a:rPr>
                        <a:t>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a:lnSpc>
                          <a:spcPct val="100000"/>
                        </a:lnSpc>
                        <a:spcBef>
                          <a:spcPts val="0"/>
                        </a:spcBef>
                        <a:spcAft>
                          <a:spcPts val="0"/>
                        </a:spcAft>
                        <a:buNone/>
                        <a:tabLst/>
                        <a:defRPr/>
                      </a:pPr>
                      <a:r>
                        <a:rPr lang="en-US" sz="1000" b="0" i="0" u="none" strike="noStrike" noProof="0">
                          <a:solidFill>
                            <a:srgbClr val="000000"/>
                          </a:solidFill>
                          <a:effectLst/>
                          <a:latin typeface="+mn-lt"/>
                        </a:rPr>
                        <a:t>U4/20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421641794"/>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Cr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1651550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Accumulated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a:cs typeface="+mn-cs"/>
                        </a:rPr>
                        <a:t>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a:cs typeface="+mn-cs"/>
                        </a:rPr>
                        <a:t>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a:lnSpc>
                          <a:spcPct val="100000"/>
                        </a:lnSpc>
                        <a:spcBef>
                          <a:spcPts val="0"/>
                        </a:spcBef>
                        <a:spcAft>
                          <a:spcPts val="0"/>
                        </a:spcAft>
                        <a:buNone/>
                        <a:tabLst/>
                        <a:defRPr/>
                      </a:pPr>
                      <a:r>
                        <a:rPr lang="en-US" sz="1000" b="0" i="0" u="none" strike="noStrike" noProof="0">
                          <a:solidFill>
                            <a:srgbClr val="000000"/>
                          </a:solidFill>
                          <a:effectLst/>
                          <a:latin typeface="+mn-lt"/>
                        </a:rPr>
                        <a:t>U4/20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979390839"/>
                  </a:ext>
                </a:extLst>
              </a:tr>
            </a:tbl>
          </a:graphicData>
        </a:graphic>
      </p:graphicFrame>
      <p:grpSp>
        <p:nvGrpSpPr>
          <p:cNvPr id="13" name="Group 12">
            <a:extLst>
              <a:ext uri="{FF2B5EF4-FFF2-40B4-BE49-F238E27FC236}">
                <a16:creationId xmlns:a16="http://schemas.microsoft.com/office/drawing/2014/main" id="{F8893929-D3B9-EC4F-A3DE-DBCB0E72FCA2}"/>
              </a:ext>
            </a:extLst>
          </p:cNvPr>
          <p:cNvGrpSpPr/>
          <p:nvPr/>
        </p:nvGrpSpPr>
        <p:grpSpPr>
          <a:xfrm>
            <a:off x="11159606" y="0"/>
            <a:ext cx="1032394" cy="734212"/>
            <a:chOff x="11159606" y="0"/>
            <a:chExt cx="1032394" cy="734212"/>
          </a:xfrm>
        </p:grpSpPr>
        <p:sp>
          <p:nvSpPr>
            <p:cNvPr id="7" name="Rectangle: Rounded Corners 6">
              <a:extLst>
                <a:ext uri="{FF2B5EF4-FFF2-40B4-BE49-F238E27FC236}">
                  <a16:creationId xmlns:a16="http://schemas.microsoft.com/office/drawing/2014/main" id="{10B00116-9792-16CF-55F9-D780F687E70F}"/>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BRIM</a:t>
              </a:r>
            </a:p>
          </p:txBody>
        </p:sp>
        <p:sp>
          <p:nvSpPr>
            <p:cNvPr id="8" name="Rectangle: Rounded Corners 7">
              <a:extLst>
                <a:ext uri="{FF2B5EF4-FFF2-40B4-BE49-F238E27FC236}">
                  <a16:creationId xmlns:a16="http://schemas.microsoft.com/office/drawing/2014/main" id="{2D9EE9E4-181A-0522-A994-0AC539BB9659}"/>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ECC</a:t>
              </a:r>
            </a:p>
          </p:txBody>
        </p:sp>
        <p:sp>
          <p:nvSpPr>
            <p:cNvPr id="9" name="Rectangle: Rounded Corners 8">
              <a:extLst>
                <a:ext uri="{FF2B5EF4-FFF2-40B4-BE49-F238E27FC236}">
                  <a16:creationId xmlns:a16="http://schemas.microsoft.com/office/drawing/2014/main" id="{3185EA08-AE7E-05C3-9A1D-5437E38D7C17}"/>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Odessa</a:t>
              </a:r>
            </a:p>
          </p:txBody>
        </p:sp>
      </p:grpSp>
      <p:sp>
        <p:nvSpPr>
          <p:cNvPr id="6" name="Speech Bubble: Rectangle with Corners Rounded 5">
            <a:extLst>
              <a:ext uri="{FF2B5EF4-FFF2-40B4-BE49-F238E27FC236}">
                <a16:creationId xmlns:a16="http://schemas.microsoft.com/office/drawing/2014/main" id="{AEE48ED8-0B70-0BDA-3EE9-7EBBA3DABF0F}"/>
              </a:ext>
            </a:extLst>
          </p:cNvPr>
          <p:cNvSpPr/>
          <p:nvPr/>
        </p:nvSpPr>
        <p:spPr>
          <a:xfrm>
            <a:off x="-1651820" y="2399857"/>
            <a:ext cx="1386348" cy="1839713"/>
          </a:xfrm>
          <a:prstGeom prst="wedgeRoundRectCallout">
            <a:avLst>
              <a:gd name="adj1" fmla="val 69725"/>
              <a:gd name="adj2" fmla="val -40755"/>
              <a:gd name="adj3" fmla="val 16667"/>
            </a:avLst>
          </a:prstGeom>
          <a:ln/>
        </p:spPr>
        <p:style>
          <a:lnRef idx="1">
            <a:schemeClr val="accent2"/>
          </a:lnRef>
          <a:fillRef idx="2">
            <a:schemeClr val="accent2"/>
          </a:fillRef>
          <a:effectRef idx="1">
            <a:schemeClr val="accent2"/>
          </a:effectRef>
          <a:fontRef idx="minor">
            <a:schemeClr val="dk1"/>
          </a:fontRef>
        </p:style>
        <p:txBody>
          <a:bodyPr lIns="182880" tIns="182880" rIns="182880" bIns="182880" rtlCol="0" anchor="t"/>
          <a:lstStyle/>
          <a:p>
            <a:pPr algn="l"/>
            <a:r>
              <a:rPr lang="en-US" sz="900">
                <a:solidFill>
                  <a:schemeClr val="bg2"/>
                </a:solidFill>
              </a:rPr>
              <a:t>In  BRIM, upfront service under S&amp;D company in any models, should book in service revenue(5010401)</a:t>
            </a:r>
          </a:p>
        </p:txBody>
      </p:sp>
      <p:sp>
        <p:nvSpPr>
          <p:cNvPr id="5" name="Speech Bubble: Rectangle 4">
            <a:extLst>
              <a:ext uri="{FF2B5EF4-FFF2-40B4-BE49-F238E27FC236}">
                <a16:creationId xmlns:a16="http://schemas.microsoft.com/office/drawing/2014/main" id="{A45353E1-3E9D-A708-3633-5090F4005C99}"/>
              </a:ext>
            </a:extLst>
          </p:cNvPr>
          <p:cNvSpPr/>
          <p:nvPr/>
        </p:nvSpPr>
        <p:spPr>
          <a:xfrm>
            <a:off x="1421439" y="5897880"/>
            <a:ext cx="2098502" cy="731520"/>
          </a:xfrm>
          <a:prstGeom prst="wedgeRectCallout">
            <a:avLst>
              <a:gd name="adj1" fmla="val 62982"/>
              <a:gd name="adj2" fmla="val -252444"/>
            </a:avLst>
          </a:prstGeom>
          <a:ln/>
        </p:spPr>
        <p:style>
          <a:lnRef idx="2">
            <a:schemeClr val="accent5"/>
          </a:lnRef>
          <a:fillRef idx="1">
            <a:schemeClr val="lt1"/>
          </a:fillRef>
          <a:effectRef idx="0">
            <a:schemeClr val="accent5"/>
          </a:effectRef>
          <a:fontRef idx="minor">
            <a:schemeClr val="dk1"/>
          </a:fontRef>
        </p:style>
        <p:txBody>
          <a:bodyPr lIns="182880" tIns="182880" rIns="182880" bIns="182880" rtlCol="0" anchor="t"/>
          <a:lstStyle/>
          <a:p>
            <a:r>
              <a:rPr lang="en-US" altLang="zh-CN" sz="1000">
                <a:solidFill>
                  <a:schemeClr val="tx1"/>
                </a:solidFill>
              </a:rPr>
              <a:t>RV at </a:t>
            </a:r>
            <a:r>
              <a:rPr lang="en-US" sz="1000">
                <a:solidFill>
                  <a:schemeClr val="tx1"/>
                </a:solidFill>
              </a:rPr>
              <a:t>36 terms</a:t>
            </a:r>
            <a:r>
              <a:rPr lang="en-US" altLang="zh-CN" sz="1000">
                <a:solidFill>
                  <a:schemeClr val="tx1"/>
                </a:solidFill>
              </a:rPr>
              <a:t>-RV at 48terms</a:t>
            </a:r>
            <a:r>
              <a:rPr lang="zh-CN" altLang="en-US" sz="1000">
                <a:solidFill>
                  <a:schemeClr val="tx1"/>
                </a:solidFill>
              </a:rPr>
              <a:t>（</a:t>
            </a:r>
            <a:r>
              <a:rPr lang="en-US" altLang="zh-CN" sz="1000">
                <a:solidFill>
                  <a:schemeClr val="tx1"/>
                </a:solidFill>
              </a:rPr>
              <a:t>use the latest RV%)</a:t>
            </a:r>
            <a:r>
              <a:rPr lang="zh-CN" altLang="en-US" sz="1000">
                <a:solidFill>
                  <a:schemeClr val="tx1"/>
                </a:solidFill>
              </a:rPr>
              <a:t>，</a:t>
            </a:r>
            <a:r>
              <a:rPr lang="en-US" altLang="zh-CN" sz="1000">
                <a:solidFill>
                  <a:schemeClr val="tx1"/>
                </a:solidFill>
              </a:rPr>
              <a:t>then divides the terms of extension</a:t>
            </a:r>
            <a:endParaRPr lang="en-US" sz="1000">
              <a:solidFill>
                <a:schemeClr val="tx1"/>
              </a:solidFill>
            </a:endParaRPr>
          </a:p>
        </p:txBody>
      </p:sp>
      <p:sp>
        <p:nvSpPr>
          <p:cNvPr id="10" name="Speech Bubble: Rectangle with Corners Rounded 9">
            <a:extLst>
              <a:ext uri="{FF2B5EF4-FFF2-40B4-BE49-F238E27FC236}">
                <a16:creationId xmlns:a16="http://schemas.microsoft.com/office/drawing/2014/main" id="{5A9D9DDC-52D9-4441-1B27-683B36D80BF6}"/>
              </a:ext>
            </a:extLst>
          </p:cNvPr>
          <p:cNvSpPr/>
          <p:nvPr/>
        </p:nvSpPr>
        <p:spPr>
          <a:xfrm>
            <a:off x="-1697306" y="4342220"/>
            <a:ext cx="1640365" cy="3024600"/>
          </a:xfrm>
          <a:prstGeom prst="wedgeRoundRectCallout">
            <a:avLst>
              <a:gd name="adj1" fmla="val 61049"/>
              <a:gd name="adj2" fmla="val -60101"/>
              <a:gd name="adj3" fmla="val 16667"/>
            </a:avLst>
          </a:prstGeom>
          <a:ln/>
        </p:spPr>
        <p:style>
          <a:lnRef idx="1">
            <a:schemeClr val="accent6"/>
          </a:lnRef>
          <a:fillRef idx="2">
            <a:schemeClr val="accent6"/>
          </a:fillRef>
          <a:effectRef idx="1">
            <a:schemeClr val="accent6"/>
          </a:effectRef>
          <a:fontRef idx="minor">
            <a:schemeClr val="dk1"/>
          </a:fontRef>
        </p:style>
        <p:txBody>
          <a:bodyPr lIns="182880" tIns="182880" rIns="182880" bIns="182880" rtlCol="0" anchor="t"/>
          <a:lstStyle/>
          <a:p>
            <a:pPr algn="just"/>
            <a:r>
              <a:rPr lang="en-US" sz="900">
                <a:solidFill>
                  <a:schemeClr val="bg2"/>
                </a:solidFill>
              </a:rPr>
              <a:t>I</a:t>
            </a:r>
            <a:r>
              <a:rPr lang="en-US" altLang="zh-CN" sz="900">
                <a:solidFill>
                  <a:schemeClr val="bg2"/>
                </a:solidFill>
              </a:rPr>
              <a:t>n normal lease,</a:t>
            </a:r>
            <a:r>
              <a:rPr lang="zh-CN" altLang="en-US" sz="900">
                <a:solidFill>
                  <a:schemeClr val="bg2"/>
                </a:solidFill>
              </a:rPr>
              <a:t> </a:t>
            </a:r>
            <a:r>
              <a:rPr lang="en-US" sz="900">
                <a:solidFill>
                  <a:schemeClr val="bg2"/>
                </a:solidFill>
              </a:rPr>
              <a:t>upfront service is recognized upon customer acceptance, and post in LTAR, and offset in monthly billing, at the last term in lease, LTAR is cleared. So, in extension, upfront service is booked in 5010401 directly. T</a:t>
            </a:r>
            <a:r>
              <a:rPr lang="en-US" altLang="zh-CN" sz="900">
                <a:solidFill>
                  <a:schemeClr val="bg2"/>
                </a:solidFill>
              </a:rPr>
              <a:t>here is no actual upfront service(ship to home) for customer in extension, so recognize the revenue.</a:t>
            </a:r>
            <a:endParaRPr lang="en-US" sz="900">
              <a:solidFill>
                <a:schemeClr val="bg2"/>
              </a:solidFill>
            </a:endParaRPr>
          </a:p>
        </p:txBody>
      </p:sp>
      <p:sp>
        <p:nvSpPr>
          <p:cNvPr id="4" name="标题 2">
            <a:extLst>
              <a:ext uri="{FF2B5EF4-FFF2-40B4-BE49-F238E27FC236}">
                <a16:creationId xmlns:a16="http://schemas.microsoft.com/office/drawing/2014/main" id="{92BFAFF7-7B87-0833-59E4-75FC21EA493E}"/>
              </a:ext>
            </a:extLst>
          </p:cNvPr>
          <p:cNvSpPr txBox="1">
            <a:spLocks/>
          </p:cNvSpPr>
          <p:nvPr/>
        </p:nvSpPr>
        <p:spPr>
          <a:xfrm>
            <a:off x="215570" y="1158907"/>
            <a:ext cx="4911007" cy="698500"/>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zh-CN" sz="3600"/>
              <a:t>S&amp;D EOT-Extension OL</a:t>
            </a:r>
            <a:endParaRPr lang="zh-CN" altLang="en-US" sz="3600"/>
          </a:p>
        </p:txBody>
      </p:sp>
      <p:graphicFrame>
        <p:nvGraphicFramePr>
          <p:cNvPr id="15" name="Table 30">
            <a:extLst>
              <a:ext uri="{FF2B5EF4-FFF2-40B4-BE49-F238E27FC236}">
                <a16:creationId xmlns:a16="http://schemas.microsoft.com/office/drawing/2014/main" id="{7FFBF102-4C6D-6A26-308B-5A0C35CBF067}"/>
              </a:ext>
            </a:extLst>
          </p:cNvPr>
          <p:cNvGraphicFramePr>
            <a:graphicFrameLocks noGrp="1"/>
          </p:cNvGraphicFramePr>
          <p:nvPr>
            <p:extLst>
              <p:ext uri="{D42A27DB-BD31-4B8C-83A1-F6EECF244321}">
                <p14:modId xmlns:p14="http://schemas.microsoft.com/office/powerpoint/2010/main" val="287662478"/>
              </p:ext>
            </p:extLst>
          </p:nvPr>
        </p:nvGraphicFramePr>
        <p:xfrm>
          <a:off x="6103322" y="2947221"/>
          <a:ext cx="5180283" cy="2106000"/>
        </p:xfrm>
        <a:graphic>
          <a:graphicData uri="http://schemas.openxmlformats.org/drawingml/2006/table">
            <a:tbl>
              <a:tblPr firstRow="1">
                <a:tableStyleId>{5C22544A-7EE6-4342-B048-85BDC9FD1C3A}</a:tableStyleId>
              </a:tblPr>
              <a:tblGrid>
                <a:gridCol w="414544">
                  <a:extLst>
                    <a:ext uri="{9D8B030D-6E8A-4147-A177-3AD203B41FA5}">
                      <a16:colId xmlns:a16="http://schemas.microsoft.com/office/drawing/2014/main" val="3200314054"/>
                    </a:ext>
                  </a:extLst>
                </a:gridCol>
                <a:gridCol w="248726">
                  <a:extLst>
                    <a:ext uri="{9D8B030D-6E8A-4147-A177-3AD203B41FA5}">
                      <a16:colId xmlns:a16="http://schemas.microsoft.com/office/drawing/2014/main" val="1913271583"/>
                    </a:ext>
                  </a:extLst>
                </a:gridCol>
                <a:gridCol w="608553">
                  <a:extLst>
                    <a:ext uri="{9D8B030D-6E8A-4147-A177-3AD203B41FA5}">
                      <a16:colId xmlns:a16="http://schemas.microsoft.com/office/drawing/2014/main" val="1797281345"/>
                    </a:ext>
                  </a:extLst>
                </a:gridCol>
                <a:gridCol w="2518099">
                  <a:extLst>
                    <a:ext uri="{9D8B030D-6E8A-4147-A177-3AD203B41FA5}">
                      <a16:colId xmlns:a16="http://schemas.microsoft.com/office/drawing/2014/main" val="2743739350"/>
                    </a:ext>
                  </a:extLst>
                </a:gridCol>
                <a:gridCol w="377025">
                  <a:extLst>
                    <a:ext uri="{9D8B030D-6E8A-4147-A177-3AD203B41FA5}">
                      <a16:colId xmlns:a16="http://schemas.microsoft.com/office/drawing/2014/main" val="2056723756"/>
                    </a:ext>
                  </a:extLst>
                </a:gridCol>
                <a:gridCol w="377025">
                  <a:extLst>
                    <a:ext uri="{9D8B030D-6E8A-4147-A177-3AD203B41FA5}">
                      <a16:colId xmlns:a16="http://schemas.microsoft.com/office/drawing/2014/main" val="4073315665"/>
                    </a:ext>
                  </a:extLst>
                </a:gridCol>
                <a:gridCol w="636311">
                  <a:extLst>
                    <a:ext uri="{9D8B030D-6E8A-4147-A177-3AD203B41FA5}">
                      <a16:colId xmlns:a16="http://schemas.microsoft.com/office/drawing/2014/main" val="848560102"/>
                    </a:ext>
                  </a:extLst>
                </a:gridCol>
              </a:tblGrid>
              <a:tr h="162000">
                <a:tc rowSpan="13">
                  <a:txBody>
                    <a:bodyPr/>
                    <a:lstStyle/>
                    <a:p>
                      <a:pPr algn="ctr" fontAlgn="ctr"/>
                      <a:r>
                        <a:rPr lang="en-US" sz="1200" b="1" i="0" u="none" strike="noStrike">
                          <a:solidFill>
                            <a:schemeClr val="bg1"/>
                          </a:solidFill>
                          <a:effectLst/>
                          <a:latin typeface="Arial" panose="020B0604020202020204" pitchFamily="34" charset="0"/>
                        </a:rPr>
                        <a:t>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Monthly invoice from Lenovo to Customer</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等线"/>
                          <a:cs typeface="+mn-cs"/>
                        </a:rPr>
                        <a:t>Account Receivable FL - </a:t>
                      </a:r>
                      <a:r>
                        <a:rPr lang="en-US" altLang="zh-CN" sz="1000" b="0" i="0" u="none" strike="noStrike" kern="1200">
                          <a:solidFill>
                            <a:srgbClr val="000000"/>
                          </a:solidFill>
                          <a:effectLst/>
                          <a:latin typeface="+mn-lt"/>
                          <a:ea typeface="等线"/>
                          <a:cs typeface="+mn-cs"/>
                        </a:rPr>
                        <a:t>customer</a:t>
                      </a:r>
                      <a:endParaRPr 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35.2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35.2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a:lnSpc>
                          <a:spcPct val="100000"/>
                        </a:lnSpc>
                        <a:spcBef>
                          <a:spcPts val="0"/>
                        </a:spcBef>
                        <a:spcAft>
                          <a:spcPts val="0"/>
                        </a:spcAft>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704665907"/>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Lease Receivable - Interest</a:t>
                      </a:r>
                      <a:r>
                        <a:rPr lang="en-US" sz="1000" b="0" i="0" u="none" strike="noStrike" noProof="0">
                          <a:solidFill>
                            <a:schemeClr val="tx1"/>
                          </a:solidFill>
                          <a:effectLst/>
                          <a:latin typeface="Arial"/>
                        </a:rPr>
                        <a:t>--HW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a:lnSpc>
                          <a:spcPct val="100000"/>
                        </a:lnSpc>
                        <a:spcBef>
                          <a:spcPts val="0"/>
                        </a:spcBef>
                        <a:spcAft>
                          <a:spcPts val="0"/>
                        </a:spcAft>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994063777"/>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r>
                        <a:rPr lang="en-US" sz="1000" b="0" i="0" u="none" strike="noStrike" noProof="0">
                          <a:solidFill>
                            <a:schemeClr val="tx1"/>
                          </a:solidFill>
                          <a:effectLst/>
                          <a:latin typeface="Arial"/>
                        </a:rPr>
                        <a:t>--HW revenue</a:t>
                      </a:r>
                      <a:endParaRPr lang="en-US" sz="1000" b="0" i="0" u="none" strike="noStrike">
                        <a:solidFill>
                          <a:schemeClr val="tx1"/>
                        </a:solidFill>
                        <a:effectLst/>
                        <a:latin typeface="+mn-lt"/>
                      </a:endParaRP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a:lnSpc>
                          <a:spcPct val="100000"/>
                        </a:lnSpc>
                        <a:spcBef>
                          <a:spcPts val="0"/>
                        </a:spcBef>
                        <a:spcAft>
                          <a:spcPts val="0"/>
                        </a:spcAft>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064797181"/>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Residual Value--</a:t>
                      </a:r>
                      <a:r>
                        <a:rPr lang="en-US" sz="1000" b="0" i="0" u="none" strike="noStrike" noProof="0">
                          <a:solidFill>
                            <a:srgbClr val="000000"/>
                          </a:solidFill>
                          <a:effectLst/>
                        </a:rPr>
                        <a:t>underlying residual value</a:t>
                      </a:r>
                      <a:endParaRPr lang="en-US"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a:lnSpc>
                          <a:spcPct val="100000"/>
                        </a:lnSpc>
                        <a:spcBef>
                          <a:spcPts val="0"/>
                        </a:spcBef>
                        <a:spcAft>
                          <a:spcPts val="0"/>
                        </a:spcAft>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501530050"/>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r>
                        <a:rPr lang="en-US" sz="1000" b="0" i="0" u="none" strike="noStrike" noProof="0">
                          <a:solidFill>
                            <a:srgbClr val="000000"/>
                          </a:solidFill>
                          <a:effectLst/>
                          <a:latin typeface="Arial"/>
                        </a:rPr>
                        <a:t>--underlying residual value</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a:lnSpc>
                          <a:spcPct val="100000"/>
                        </a:lnSpc>
                        <a:spcBef>
                          <a:spcPts val="0"/>
                        </a:spcBef>
                        <a:spcAft>
                          <a:spcPts val="0"/>
                        </a:spcAft>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735836802"/>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b"/>
                      <a:r>
                        <a:rPr lang="en-US" sz="1000" b="0" i="0" u="none" strike="noStrike">
                          <a:solidFill>
                            <a:srgbClr val="000000"/>
                          </a:solidFill>
                          <a:effectLst/>
                          <a:highlight>
                            <a:srgbClr val="00FF00"/>
                          </a:highlight>
                          <a:latin typeface="+mn-lt"/>
                        </a:rPr>
                        <a:t>5010514</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rtl="0" fontAlgn="b"/>
                      <a:r>
                        <a:rPr lang="en-US" sz="1000" b="0" i="0" u="none" strike="noStrike">
                          <a:solidFill>
                            <a:srgbClr val="000000"/>
                          </a:solidFill>
                          <a:effectLst/>
                          <a:highlight>
                            <a:srgbClr val="00FF00"/>
                          </a:highlight>
                          <a:latin typeface="+mn-lt"/>
                        </a:rPr>
                        <a:t>Interest income--Ship to home</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627414531"/>
                  </a:ext>
                </a:extLst>
              </a:tr>
              <a:tr h="162000">
                <a:tc vMerge="1">
                  <a:txBody>
                    <a:bodyPr/>
                    <a:lstStyle/>
                    <a:p>
                      <a:pPr algn="ctr" fontAlgn="ct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b"/>
                      <a:r>
                        <a:rPr lang="en-US" sz="1000" b="0" i="0" u="none" strike="noStrike">
                          <a:solidFill>
                            <a:srgbClr val="000000"/>
                          </a:solidFill>
                          <a:effectLst/>
                          <a:latin typeface="+mn-lt"/>
                        </a:rPr>
                        <a:t>5010453</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rtl="0" fontAlgn="b"/>
                      <a:r>
                        <a:rPr lang="en-US" sz="1000" b="0" i="0" u="none" strike="noStrike" kern="1200">
                          <a:solidFill>
                            <a:srgbClr val="000000"/>
                          </a:solidFill>
                          <a:effectLst/>
                          <a:latin typeface="+mn-lt"/>
                          <a:ea typeface="+mn-ea"/>
                          <a:cs typeface="+mn-cs"/>
                        </a:rPr>
                        <a:t>Services Revenue DaaS--</a:t>
                      </a:r>
                      <a:r>
                        <a:rPr lang="en-US" sz="1000" b="0" i="0" u="none" strike="noStrike" kern="1200" noProof="0">
                          <a:solidFill>
                            <a:srgbClr val="000000"/>
                          </a:solidFill>
                          <a:effectLst/>
                          <a:latin typeface="+mn-lt"/>
                          <a:ea typeface="+mn-ea"/>
                          <a:cs typeface="+mn-cs"/>
                        </a:rPr>
                        <a:t>Managed Service</a:t>
                      </a:r>
                      <a:endParaRPr lang="en-US" sz="1000" b="0" i="0" u="none" strike="noStrike" kern="1200">
                        <a:solidFill>
                          <a:srgbClr val="000000"/>
                        </a:solidFill>
                        <a:effectLst/>
                        <a:latin typeface="+mn-lt"/>
                        <a:ea typeface="+mn-ea"/>
                        <a:cs typeface="+mn-cs"/>
                      </a:endParaRP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1634378429"/>
                  </a:ext>
                </a:extLst>
              </a:tr>
              <a:tr h="162000">
                <a:tc vMerge="1">
                  <a:txBody>
                    <a:bodyPr/>
                    <a:lstStyle/>
                    <a:p>
                      <a:pPr algn="ctr" fontAlgn="ct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b"/>
                      <a:r>
                        <a:rPr lang="en-US" sz="1000" b="0" i="0" u="none" strike="noStrike">
                          <a:solidFill>
                            <a:srgbClr val="000000"/>
                          </a:solidFill>
                          <a:effectLst/>
                          <a:latin typeface="+mn-lt"/>
                        </a:rPr>
                        <a:t>5010401</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rtl="0" fontAlgn="b"/>
                      <a:r>
                        <a:rPr lang="en-US" sz="1000" b="0" i="0" u="none" strike="noStrike" kern="1200">
                          <a:solidFill>
                            <a:srgbClr val="000000"/>
                          </a:solidFill>
                          <a:effectLst/>
                          <a:latin typeface="+mn-lt"/>
                          <a:ea typeface="+mn-ea"/>
                          <a:cs typeface="+mn-cs"/>
                        </a:rPr>
                        <a:t>Services Revenue DaaS--</a:t>
                      </a:r>
                      <a:r>
                        <a:rPr lang="en-US" sz="1000" b="0" i="0" u="none" strike="noStrike" kern="1200" noProof="0">
                          <a:solidFill>
                            <a:srgbClr val="000000"/>
                          </a:solidFill>
                          <a:effectLst/>
                          <a:latin typeface="+mn-lt"/>
                          <a:ea typeface="+mn-ea"/>
                          <a:cs typeface="+mn-cs"/>
                        </a:rPr>
                        <a:t>Premier Support</a:t>
                      </a:r>
                      <a:endParaRPr lang="en-US" sz="1000" b="0" i="0" u="none" strike="noStrike" kern="1200">
                        <a:solidFill>
                          <a:srgbClr val="000000"/>
                        </a:solidFill>
                        <a:effectLst/>
                        <a:latin typeface="+mn-lt"/>
                        <a:ea typeface="+mn-ea"/>
                        <a:cs typeface="+mn-cs"/>
                      </a:endParaRP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993517493"/>
                  </a:ext>
                </a:extLst>
              </a:tr>
              <a:tr h="162000">
                <a:tc vMerge="1">
                  <a:txBody>
                    <a:bodyPr/>
                    <a:lstStyle/>
                    <a:p>
                      <a:pPr algn="ctr" fontAlgn="ct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a:t>
                      </a:r>
                      <a:r>
                        <a:rPr kumimoji="0" lang="en-US" altLang="zh-CN" sz="1000" b="0" i="0" u="none" strike="noStrike" kern="1200" cap="none" spc="0" normalizeH="0" baseline="0" noProof="0">
                          <a:ln>
                            <a:noFill/>
                          </a:ln>
                          <a:solidFill>
                            <a:srgbClr val="000000"/>
                          </a:solidFill>
                          <a:effectLst/>
                          <a:uLnTx/>
                          <a:uFillTx/>
                          <a:latin typeface="+mn-lt"/>
                          <a:ea typeface="+mn-ea"/>
                          <a:cs typeface="+mn-cs"/>
                        </a:rPr>
                        <a:t>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b"/>
                      <a:r>
                        <a:rPr lang="en-US" sz="1000" b="0" i="0" u="none" strike="noStrike">
                          <a:solidFill>
                            <a:srgbClr val="000000"/>
                          </a:solidFill>
                          <a:effectLst/>
                          <a:latin typeface="+mn-lt"/>
                        </a:rPr>
                        <a:t>2070009</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lang="en-US" sz="1000" b="0" i="0" u="none" strike="noStrike" kern="1200">
                          <a:solidFill>
                            <a:srgbClr val="000000"/>
                          </a:solidFill>
                          <a:effectLst/>
                          <a:latin typeface="+mn-lt"/>
                          <a:ea typeface="+mn-ea"/>
                          <a:cs typeface="+mn-cs"/>
                        </a:rPr>
                        <a:t>D</a:t>
                      </a:r>
                      <a:r>
                        <a:rPr lang="en-US" altLang="zh-CN" sz="1000" b="0" i="0" u="none" strike="noStrike" kern="1200">
                          <a:solidFill>
                            <a:srgbClr val="000000"/>
                          </a:solidFill>
                          <a:effectLst/>
                          <a:latin typeface="+mn-lt"/>
                          <a:ea typeface="+mn-ea"/>
                          <a:cs typeface="+mn-cs"/>
                        </a:rPr>
                        <a:t>eferred Revenue--ARS</a:t>
                      </a:r>
                      <a:endParaRPr lang="en-US" sz="1000" b="0" i="0" u="none" strike="noStrike" kern="1200">
                        <a:solidFill>
                          <a:srgbClr val="000000"/>
                        </a:solidFill>
                        <a:effectLst/>
                        <a:latin typeface="+mn-lt"/>
                        <a:ea typeface="+mn-ea"/>
                        <a:cs typeface="+mn-cs"/>
                      </a:endParaRP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723096512"/>
                  </a:ext>
                </a:extLst>
              </a:tr>
            </a:tbl>
          </a:graphicData>
        </a:graphic>
      </p:graphicFrame>
      <p:graphicFrame>
        <p:nvGraphicFramePr>
          <p:cNvPr id="17" name="Table 15">
            <a:extLst>
              <a:ext uri="{FF2B5EF4-FFF2-40B4-BE49-F238E27FC236}">
                <a16:creationId xmlns:a16="http://schemas.microsoft.com/office/drawing/2014/main" id="{18CDD3D1-3F3B-1E6C-9E86-01B9EE7F41B0}"/>
              </a:ext>
            </a:extLst>
          </p:cNvPr>
          <p:cNvGraphicFramePr>
            <a:graphicFrameLocks noGrp="1"/>
          </p:cNvGraphicFramePr>
          <p:nvPr>
            <p:extLst>
              <p:ext uri="{D42A27DB-BD31-4B8C-83A1-F6EECF244321}">
                <p14:modId xmlns:p14="http://schemas.microsoft.com/office/powerpoint/2010/main" val="3109250144"/>
              </p:ext>
            </p:extLst>
          </p:nvPr>
        </p:nvGraphicFramePr>
        <p:xfrm>
          <a:off x="6096000" y="1410655"/>
          <a:ext cx="5168427" cy="1295925"/>
        </p:xfrm>
        <a:graphic>
          <a:graphicData uri="http://schemas.openxmlformats.org/drawingml/2006/table">
            <a:tbl>
              <a:tblPr firstRow="1">
                <a:tableStyleId>{5C22544A-7EE6-4342-B048-85BDC9FD1C3A}</a:tableStyleId>
              </a:tblPr>
              <a:tblGrid>
                <a:gridCol w="409495">
                  <a:extLst>
                    <a:ext uri="{9D8B030D-6E8A-4147-A177-3AD203B41FA5}">
                      <a16:colId xmlns:a16="http://schemas.microsoft.com/office/drawing/2014/main" val="3200314054"/>
                    </a:ext>
                  </a:extLst>
                </a:gridCol>
                <a:gridCol w="248370">
                  <a:extLst>
                    <a:ext uri="{9D8B030D-6E8A-4147-A177-3AD203B41FA5}">
                      <a16:colId xmlns:a16="http://schemas.microsoft.com/office/drawing/2014/main" val="1913271583"/>
                    </a:ext>
                  </a:extLst>
                </a:gridCol>
                <a:gridCol w="607683">
                  <a:extLst>
                    <a:ext uri="{9D8B030D-6E8A-4147-A177-3AD203B41FA5}">
                      <a16:colId xmlns:a16="http://schemas.microsoft.com/office/drawing/2014/main" val="1797281345"/>
                    </a:ext>
                  </a:extLst>
                </a:gridCol>
                <a:gridCol w="2434538">
                  <a:extLst>
                    <a:ext uri="{9D8B030D-6E8A-4147-A177-3AD203B41FA5}">
                      <a16:colId xmlns:a16="http://schemas.microsoft.com/office/drawing/2014/main" val="2743739350"/>
                    </a:ext>
                  </a:extLst>
                </a:gridCol>
                <a:gridCol w="331283">
                  <a:extLst>
                    <a:ext uri="{9D8B030D-6E8A-4147-A177-3AD203B41FA5}">
                      <a16:colId xmlns:a16="http://schemas.microsoft.com/office/drawing/2014/main" val="2056723756"/>
                    </a:ext>
                  </a:extLst>
                </a:gridCol>
                <a:gridCol w="331283">
                  <a:extLst>
                    <a:ext uri="{9D8B030D-6E8A-4147-A177-3AD203B41FA5}">
                      <a16:colId xmlns:a16="http://schemas.microsoft.com/office/drawing/2014/main" val="4073315665"/>
                    </a:ext>
                  </a:extLst>
                </a:gridCol>
                <a:gridCol w="805775">
                  <a:extLst>
                    <a:ext uri="{9D8B030D-6E8A-4147-A177-3AD203B41FA5}">
                      <a16:colId xmlns:a16="http://schemas.microsoft.com/office/drawing/2014/main" val="848560102"/>
                    </a:ext>
                  </a:extLst>
                </a:gridCol>
              </a:tblGrid>
              <a:tr h="162000">
                <a:tc rowSpan="8">
                  <a:txBody>
                    <a:bodyPr/>
                    <a:lstStyle/>
                    <a:p>
                      <a:pPr algn="ctr" fontAlgn="ctr"/>
                      <a:r>
                        <a:rPr lang="en-US" sz="1200" u="none" strike="noStrike">
                          <a:solidFill>
                            <a:schemeClr val="bg1"/>
                          </a:solidFill>
                          <a:effectLst/>
                        </a:rPr>
                        <a:t>S&amp;D</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Recognize FL Revenue and Cost upon Commencement of lease extension</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 lease agreement with Customer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11186">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335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335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Lease Receivable - Interest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704665907"/>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altLang="zh-CN" sz="1000" b="0" i="0" u="none" strike="noStrike" kern="1200">
                          <a:solidFill>
                            <a:srgbClr val="000000"/>
                          </a:solidFill>
                          <a:effectLst/>
                          <a:latin typeface="+mn-lt"/>
                          <a:ea typeface="等线" panose="02010600030101010101" pitchFamily="2" charset="-122"/>
                          <a:cs typeface="+mn-cs"/>
                        </a:rPr>
                        <a:t>309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064797181"/>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501530050"/>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Residual Value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68956058"/>
                  </a:ext>
                </a:extLst>
              </a:tr>
            </a:tbl>
          </a:graphicData>
        </a:graphic>
      </p:graphicFrame>
      <p:graphicFrame>
        <p:nvGraphicFramePr>
          <p:cNvPr id="19" name="Table 20">
            <a:extLst>
              <a:ext uri="{FF2B5EF4-FFF2-40B4-BE49-F238E27FC236}">
                <a16:creationId xmlns:a16="http://schemas.microsoft.com/office/drawing/2014/main" id="{0AA5C972-5A05-26D3-0116-B1FDCF4FF376}"/>
              </a:ext>
            </a:extLst>
          </p:cNvPr>
          <p:cNvGraphicFramePr>
            <a:graphicFrameLocks noGrp="1"/>
          </p:cNvGraphicFramePr>
          <p:nvPr>
            <p:extLst>
              <p:ext uri="{D42A27DB-BD31-4B8C-83A1-F6EECF244321}">
                <p14:modId xmlns:p14="http://schemas.microsoft.com/office/powerpoint/2010/main" val="2927120725"/>
              </p:ext>
            </p:extLst>
          </p:nvPr>
        </p:nvGraphicFramePr>
        <p:xfrm>
          <a:off x="6096000" y="5251065"/>
          <a:ext cx="5164785" cy="810000"/>
        </p:xfrm>
        <a:graphic>
          <a:graphicData uri="http://schemas.openxmlformats.org/drawingml/2006/table">
            <a:tbl>
              <a:tblPr firstRow="1">
                <a:tableStyleId>{5C22544A-7EE6-4342-B048-85BDC9FD1C3A}</a:tableStyleId>
              </a:tblPr>
              <a:tblGrid>
                <a:gridCol w="437910">
                  <a:extLst>
                    <a:ext uri="{9D8B030D-6E8A-4147-A177-3AD203B41FA5}">
                      <a16:colId xmlns:a16="http://schemas.microsoft.com/office/drawing/2014/main" val="3200314054"/>
                    </a:ext>
                  </a:extLst>
                </a:gridCol>
                <a:gridCol w="198489">
                  <a:extLst>
                    <a:ext uri="{9D8B030D-6E8A-4147-A177-3AD203B41FA5}">
                      <a16:colId xmlns:a16="http://schemas.microsoft.com/office/drawing/2014/main" val="1913271583"/>
                    </a:ext>
                  </a:extLst>
                </a:gridCol>
                <a:gridCol w="726931">
                  <a:extLst>
                    <a:ext uri="{9D8B030D-6E8A-4147-A177-3AD203B41FA5}">
                      <a16:colId xmlns:a16="http://schemas.microsoft.com/office/drawing/2014/main" val="1797281345"/>
                    </a:ext>
                  </a:extLst>
                </a:gridCol>
                <a:gridCol w="2475676">
                  <a:extLst>
                    <a:ext uri="{9D8B030D-6E8A-4147-A177-3AD203B41FA5}">
                      <a16:colId xmlns:a16="http://schemas.microsoft.com/office/drawing/2014/main" val="2743739350"/>
                    </a:ext>
                  </a:extLst>
                </a:gridCol>
                <a:gridCol w="312832">
                  <a:extLst>
                    <a:ext uri="{9D8B030D-6E8A-4147-A177-3AD203B41FA5}">
                      <a16:colId xmlns:a16="http://schemas.microsoft.com/office/drawing/2014/main" val="2056723756"/>
                    </a:ext>
                  </a:extLst>
                </a:gridCol>
                <a:gridCol w="312832">
                  <a:extLst>
                    <a:ext uri="{9D8B030D-6E8A-4147-A177-3AD203B41FA5}">
                      <a16:colId xmlns:a16="http://schemas.microsoft.com/office/drawing/2014/main" val="4073315665"/>
                    </a:ext>
                  </a:extLst>
                </a:gridCol>
                <a:gridCol w="700115">
                  <a:extLst>
                    <a:ext uri="{9D8B030D-6E8A-4147-A177-3AD203B41FA5}">
                      <a16:colId xmlns:a16="http://schemas.microsoft.com/office/drawing/2014/main" val="848560102"/>
                    </a:ext>
                  </a:extLst>
                </a:gridCol>
              </a:tblGrid>
              <a:tr h="162000">
                <a:tc rowSpan="5">
                  <a:txBody>
                    <a:bodyPr/>
                    <a:lstStyle/>
                    <a:p>
                      <a:pPr algn="ctr" fontAlgn="ctr"/>
                      <a:r>
                        <a:rPr lang="en-US" sz="1200" b="1" i="0" u="none" strike="noStrike">
                          <a:solidFill>
                            <a:schemeClr val="bg1"/>
                          </a:solidFill>
                          <a:effectLst/>
                          <a:latin typeface="Arial"/>
                        </a:rPr>
                        <a:t>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End of Lease service performed recognize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chemeClr val="tx1"/>
                          </a:solidFill>
                          <a:effectLst/>
                          <a:uLnTx/>
                          <a:uFillTx/>
                          <a:latin typeface="+mn-lt"/>
                          <a:ea typeface="+mn-ea"/>
                          <a:cs typeface="+mn-cs"/>
                        </a:rPr>
                        <a:t>Upon Service completed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Deferred Income---ARS</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Services Revenue – D</a:t>
                      </a:r>
                      <a:r>
                        <a:rPr lang="en-US" altLang="zh-CN" sz="1000" b="0" i="0" u="none" strike="noStrike">
                          <a:solidFill>
                            <a:srgbClr val="000000"/>
                          </a:solidFill>
                          <a:effectLst/>
                          <a:latin typeface="+mn-lt"/>
                        </a:rPr>
                        <a:t>aaS--ARS</a:t>
                      </a:r>
                      <a:endParaRPr lang="en-US" sz="1000" b="0" i="0" u="none" strike="noStrike">
                        <a:solidFill>
                          <a:srgbClr val="000000"/>
                        </a:solidFill>
                        <a:effectLst/>
                        <a:latin typeface="+mn-lt"/>
                      </a:endParaRP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14759219"/>
                  </a:ext>
                </a:extLst>
              </a:tr>
            </a:tbl>
          </a:graphicData>
        </a:graphic>
      </p:graphicFrame>
      <p:sp>
        <p:nvSpPr>
          <p:cNvPr id="21" name="Speech Bubble: Rectangle with Corners Rounded 5">
            <a:extLst>
              <a:ext uri="{FF2B5EF4-FFF2-40B4-BE49-F238E27FC236}">
                <a16:creationId xmlns:a16="http://schemas.microsoft.com/office/drawing/2014/main" id="{746C0357-D054-4BE4-0F42-CB0F44BEC698}"/>
              </a:ext>
            </a:extLst>
          </p:cNvPr>
          <p:cNvSpPr/>
          <p:nvPr/>
        </p:nvSpPr>
        <p:spPr>
          <a:xfrm>
            <a:off x="11675802" y="1410655"/>
            <a:ext cx="3127248" cy="977567"/>
          </a:xfrm>
          <a:prstGeom prst="wedgeRoundRectCallout">
            <a:avLst>
              <a:gd name="adj1" fmla="val -63901"/>
              <a:gd name="adj2" fmla="val 33929"/>
              <a:gd name="adj3" fmla="val 16667"/>
            </a:avLst>
          </a:prstGeom>
          <a:ln/>
        </p:spPr>
        <p:style>
          <a:lnRef idx="1">
            <a:schemeClr val="accent5"/>
          </a:lnRef>
          <a:fillRef idx="2">
            <a:schemeClr val="accent5"/>
          </a:fillRef>
          <a:effectRef idx="1">
            <a:schemeClr val="accent5"/>
          </a:effectRef>
          <a:fontRef idx="minor">
            <a:schemeClr val="dk1"/>
          </a:fontRef>
        </p:style>
        <p:txBody>
          <a:bodyPr lIns="182880" tIns="182880" rIns="182880" bIns="182880" rtlCol="0" anchor="t"/>
          <a:lstStyle/>
          <a:p>
            <a:pPr algn="l"/>
            <a:r>
              <a:rPr lang="en-US" sz="900">
                <a:solidFill>
                  <a:schemeClr val="bg2"/>
                </a:solidFill>
              </a:rPr>
              <a:t>Finance lease only recognize interest income (previously recognize rev/cost in extension period)</a:t>
            </a:r>
          </a:p>
          <a:p>
            <a:pPr algn="l"/>
            <a:r>
              <a:rPr lang="zh-CN" altLang="en-US" sz="900">
                <a:solidFill>
                  <a:schemeClr val="bg2"/>
                </a:solidFill>
              </a:rPr>
              <a:t>针对</a:t>
            </a:r>
            <a:r>
              <a:rPr lang="en-US" altLang="zh-CN" sz="900">
                <a:solidFill>
                  <a:schemeClr val="bg2"/>
                </a:solidFill>
              </a:rPr>
              <a:t>HW</a:t>
            </a:r>
            <a:r>
              <a:rPr lang="zh-CN" altLang="en-US" sz="900">
                <a:solidFill>
                  <a:schemeClr val="bg2"/>
                </a:solidFill>
              </a:rPr>
              <a:t>的</a:t>
            </a:r>
            <a:r>
              <a:rPr lang="en-US" altLang="zh-CN" sz="900">
                <a:solidFill>
                  <a:schemeClr val="bg2"/>
                </a:solidFill>
              </a:rPr>
              <a:t>Finance lease revenue</a:t>
            </a:r>
            <a:r>
              <a:rPr lang="zh-CN" altLang="en-US" sz="900">
                <a:solidFill>
                  <a:schemeClr val="bg2"/>
                </a:solidFill>
              </a:rPr>
              <a:t>，确认在</a:t>
            </a:r>
            <a:r>
              <a:rPr lang="en-US" altLang="zh-CN" sz="900">
                <a:solidFill>
                  <a:schemeClr val="bg2"/>
                </a:solidFill>
              </a:rPr>
              <a:t>interest income account</a:t>
            </a:r>
            <a:r>
              <a:rPr lang="zh-CN" altLang="en-US" sz="900">
                <a:solidFill>
                  <a:schemeClr val="bg2"/>
                </a:solidFill>
              </a:rPr>
              <a:t>（</a:t>
            </a:r>
            <a:r>
              <a:rPr lang="en-US" altLang="zh-CN" sz="900">
                <a:solidFill>
                  <a:schemeClr val="bg2"/>
                </a:solidFill>
              </a:rPr>
              <a:t>5220204</a:t>
            </a:r>
            <a:r>
              <a:rPr lang="zh-CN" altLang="en-US" sz="900">
                <a:solidFill>
                  <a:schemeClr val="bg2"/>
                </a:solidFill>
              </a:rPr>
              <a:t>）</a:t>
            </a:r>
            <a:r>
              <a:rPr lang="en-US" altLang="zh-CN" sz="900">
                <a:solidFill>
                  <a:schemeClr val="bg2"/>
                </a:solidFill>
              </a:rPr>
              <a:t>rather than 5010509</a:t>
            </a:r>
            <a:r>
              <a:rPr lang="zh-CN" altLang="en-US" sz="900">
                <a:solidFill>
                  <a:schemeClr val="bg2"/>
                </a:solidFill>
              </a:rPr>
              <a:t>（</a:t>
            </a:r>
            <a:r>
              <a:rPr lang="en-US" altLang="zh-CN" sz="900">
                <a:solidFill>
                  <a:schemeClr val="bg2"/>
                </a:solidFill>
              </a:rPr>
              <a:t>lease revenue</a:t>
            </a:r>
            <a:r>
              <a:rPr lang="zh-CN" altLang="en-US" sz="900">
                <a:solidFill>
                  <a:schemeClr val="bg2"/>
                </a:solidFill>
              </a:rPr>
              <a:t>）</a:t>
            </a:r>
            <a:endParaRPr lang="en-US" sz="900">
              <a:solidFill>
                <a:schemeClr val="bg2"/>
              </a:solidFill>
            </a:endParaRPr>
          </a:p>
        </p:txBody>
      </p:sp>
      <p:sp>
        <p:nvSpPr>
          <p:cNvPr id="23" name="Speech Bubble: Rectangle with Corners Rounded 3">
            <a:extLst>
              <a:ext uri="{FF2B5EF4-FFF2-40B4-BE49-F238E27FC236}">
                <a16:creationId xmlns:a16="http://schemas.microsoft.com/office/drawing/2014/main" id="{3BC8DDF8-5F6B-BDB3-634F-43D65AFB8F63}"/>
              </a:ext>
            </a:extLst>
          </p:cNvPr>
          <p:cNvSpPr/>
          <p:nvPr/>
        </p:nvSpPr>
        <p:spPr>
          <a:xfrm>
            <a:off x="4107426" y="5626510"/>
            <a:ext cx="1848680" cy="1002890"/>
          </a:xfrm>
          <a:prstGeom prst="wedgeRoundRectCallout">
            <a:avLst>
              <a:gd name="adj1" fmla="val 57758"/>
              <a:gd name="adj2" fmla="val -179726"/>
              <a:gd name="adj3" fmla="val 16667"/>
            </a:avLst>
          </a:prstGeom>
          <a:ln/>
        </p:spPr>
        <p:style>
          <a:lnRef idx="1">
            <a:schemeClr val="accent2"/>
          </a:lnRef>
          <a:fillRef idx="2">
            <a:schemeClr val="accent2"/>
          </a:fillRef>
          <a:effectRef idx="1">
            <a:schemeClr val="accent2"/>
          </a:effectRef>
          <a:fontRef idx="minor">
            <a:schemeClr val="dk1"/>
          </a:fontRef>
        </p:style>
        <p:txBody>
          <a:bodyPr lIns="182880" tIns="182880" rIns="182880" bIns="182880" rtlCol="0" anchor="t"/>
          <a:lstStyle/>
          <a:p>
            <a:pPr algn="l"/>
            <a:r>
              <a:rPr lang="en-US" sz="900">
                <a:solidFill>
                  <a:schemeClr val="bg2"/>
                </a:solidFill>
              </a:rPr>
              <a:t>In  BRIM, upfront service under S&amp;D company in any models, should book in service revenue(5010401)</a:t>
            </a:r>
          </a:p>
        </p:txBody>
      </p:sp>
      <p:sp>
        <p:nvSpPr>
          <p:cNvPr id="25" name="Speech Bubble: Rectangle with Corners Rounded 10">
            <a:extLst>
              <a:ext uri="{FF2B5EF4-FFF2-40B4-BE49-F238E27FC236}">
                <a16:creationId xmlns:a16="http://schemas.microsoft.com/office/drawing/2014/main" id="{5F9A0B35-ECBF-3C62-D1F6-EB0170942229}"/>
              </a:ext>
            </a:extLst>
          </p:cNvPr>
          <p:cNvSpPr/>
          <p:nvPr/>
        </p:nvSpPr>
        <p:spPr>
          <a:xfrm>
            <a:off x="12135486" y="2810435"/>
            <a:ext cx="2260532" cy="998577"/>
          </a:xfrm>
          <a:prstGeom prst="wedgeRoundRectCallout">
            <a:avLst>
              <a:gd name="adj1" fmla="val -95738"/>
              <a:gd name="adj2" fmla="val -71019"/>
              <a:gd name="adj3" fmla="val 16667"/>
            </a:avLst>
          </a:prstGeom>
          <a:ln/>
        </p:spPr>
        <p:style>
          <a:lnRef idx="1">
            <a:schemeClr val="accent2"/>
          </a:lnRef>
          <a:fillRef idx="2">
            <a:schemeClr val="accent2"/>
          </a:fillRef>
          <a:effectRef idx="1">
            <a:schemeClr val="accent2"/>
          </a:effectRef>
          <a:fontRef idx="minor">
            <a:schemeClr val="dk1"/>
          </a:fontRef>
        </p:style>
        <p:txBody>
          <a:bodyPr lIns="182880" tIns="182880" rIns="182880" bIns="182880" rtlCol="0" anchor="t"/>
          <a:lstStyle/>
          <a:p>
            <a:r>
              <a:rPr lang="zh-CN" altLang="en-US" sz="900">
                <a:solidFill>
                  <a:schemeClr val="tx1"/>
                </a:solidFill>
              </a:rPr>
              <a:t>贷 第一次租赁的</a:t>
            </a:r>
            <a:r>
              <a:rPr lang="en-US" altLang="zh-CN" sz="900">
                <a:solidFill>
                  <a:schemeClr val="tx1"/>
                </a:solidFill>
              </a:rPr>
              <a:t>RV balance</a:t>
            </a:r>
            <a:r>
              <a:rPr lang="zh-CN" altLang="en-US" sz="900">
                <a:solidFill>
                  <a:schemeClr val="tx1"/>
                </a:solidFill>
              </a:rPr>
              <a:t>，</a:t>
            </a:r>
            <a:endParaRPr lang="en-US" altLang="zh-CN" sz="900">
              <a:solidFill>
                <a:schemeClr val="tx1"/>
              </a:solidFill>
            </a:endParaRPr>
          </a:p>
          <a:p>
            <a:r>
              <a:rPr lang="en-US" altLang="zh-CN" sz="900">
                <a:solidFill>
                  <a:schemeClr val="tx1"/>
                </a:solidFill>
              </a:rPr>
              <a:t>  </a:t>
            </a:r>
            <a:r>
              <a:rPr lang="zh-CN" altLang="en-US" sz="900">
                <a:solidFill>
                  <a:schemeClr val="tx1"/>
                </a:solidFill>
              </a:rPr>
              <a:t>借 </a:t>
            </a:r>
            <a:r>
              <a:rPr lang="en-US" altLang="zh-CN" sz="900">
                <a:solidFill>
                  <a:schemeClr val="tx1"/>
                </a:solidFill>
              </a:rPr>
              <a:t>interest income</a:t>
            </a:r>
          </a:p>
          <a:p>
            <a:r>
              <a:rPr lang="zh-CN" altLang="en-US" sz="900">
                <a:solidFill>
                  <a:schemeClr val="tx1"/>
                </a:solidFill>
              </a:rPr>
              <a:t>借 延期到</a:t>
            </a:r>
            <a:r>
              <a:rPr lang="en-US" altLang="zh-CN" sz="900">
                <a:solidFill>
                  <a:schemeClr val="tx1"/>
                </a:solidFill>
              </a:rPr>
              <a:t>48</a:t>
            </a:r>
            <a:r>
              <a:rPr lang="zh-CN" altLang="en-US" sz="900">
                <a:solidFill>
                  <a:schemeClr val="tx1"/>
                </a:solidFill>
              </a:rPr>
              <a:t>期的</a:t>
            </a:r>
            <a:r>
              <a:rPr lang="en-US" altLang="zh-CN" sz="900">
                <a:solidFill>
                  <a:schemeClr val="tx1"/>
                </a:solidFill>
              </a:rPr>
              <a:t>RV </a:t>
            </a:r>
            <a:r>
              <a:rPr lang="zh-CN" altLang="en-US" sz="900">
                <a:solidFill>
                  <a:schemeClr val="tx1"/>
                </a:solidFill>
              </a:rPr>
              <a:t>折现</a:t>
            </a:r>
            <a:endParaRPr lang="en-US" altLang="zh-CN" sz="900">
              <a:solidFill>
                <a:schemeClr val="tx1"/>
              </a:solidFill>
            </a:endParaRPr>
          </a:p>
          <a:p>
            <a:r>
              <a:rPr lang="en-US" altLang="zh-CN" sz="900">
                <a:solidFill>
                  <a:schemeClr val="tx1"/>
                </a:solidFill>
              </a:rPr>
              <a:t>  </a:t>
            </a:r>
            <a:r>
              <a:rPr lang="zh-CN" altLang="en-US" sz="900">
                <a:solidFill>
                  <a:schemeClr val="tx1"/>
                </a:solidFill>
              </a:rPr>
              <a:t>贷</a:t>
            </a:r>
            <a:r>
              <a:rPr lang="en-US" altLang="zh-CN" sz="900">
                <a:solidFill>
                  <a:schemeClr val="tx1"/>
                </a:solidFill>
              </a:rPr>
              <a:t> interest income</a:t>
            </a:r>
          </a:p>
          <a:p>
            <a:r>
              <a:rPr lang="en-US" altLang="zh-CN" sz="900">
                <a:solidFill>
                  <a:schemeClr val="tx1"/>
                </a:solidFill>
              </a:rPr>
              <a:t>      Odessa</a:t>
            </a:r>
            <a:r>
              <a:rPr lang="zh-CN" altLang="en-US" sz="900">
                <a:solidFill>
                  <a:schemeClr val="tx1"/>
                </a:solidFill>
              </a:rPr>
              <a:t>：</a:t>
            </a:r>
            <a:r>
              <a:rPr lang="en-US" altLang="zh-CN" sz="900">
                <a:solidFill>
                  <a:schemeClr val="tx1"/>
                </a:solidFill>
              </a:rPr>
              <a:t>5010509/5020509</a:t>
            </a:r>
            <a:endParaRPr lang="en-US" sz="900">
              <a:solidFill>
                <a:schemeClr val="tx1"/>
              </a:solidFill>
            </a:endParaRPr>
          </a:p>
        </p:txBody>
      </p:sp>
      <p:sp>
        <p:nvSpPr>
          <p:cNvPr id="27" name="Speech Bubble: Rectangle with Corners Rounded 11">
            <a:extLst>
              <a:ext uri="{FF2B5EF4-FFF2-40B4-BE49-F238E27FC236}">
                <a16:creationId xmlns:a16="http://schemas.microsoft.com/office/drawing/2014/main" id="{4614D487-486A-C989-F875-D31C8BF3654E}"/>
              </a:ext>
            </a:extLst>
          </p:cNvPr>
          <p:cNvSpPr/>
          <p:nvPr/>
        </p:nvSpPr>
        <p:spPr>
          <a:xfrm>
            <a:off x="12135486" y="4000221"/>
            <a:ext cx="2260532" cy="574948"/>
          </a:xfrm>
          <a:prstGeom prst="wedgeRoundRectCallout">
            <a:avLst>
              <a:gd name="adj1" fmla="val -21916"/>
              <a:gd name="adj2" fmla="val -72545"/>
              <a:gd name="adj3" fmla="val 16667"/>
            </a:avLst>
          </a:prstGeom>
          <a:ln/>
        </p:spPr>
        <p:style>
          <a:lnRef idx="1">
            <a:schemeClr val="accent2"/>
          </a:lnRef>
          <a:fillRef idx="2">
            <a:schemeClr val="accent2"/>
          </a:fillRef>
          <a:effectRef idx="1">
            <a:schemeClr val="accent2"/>
          </a:effectRef>
          <a:fontRef idx="minor">
            <a:schemeClr val="dk1"/>
          </a:fontRef>
        </p:style>
        <p:txBody>
          <a:bodyPr lIns="182880" tIns="182880" rIns="182880" bIns="182880" rtlCol="0" anchor="t"/>
          <a:lstStyle/>
          <a:p>
            <a:r>
              <a:rPr lang="en-US" altLang="zh-CN" sz="900">
                <a:solidFill>
                  <a:schemeClr val="tx1"/>
                </a:solidFill>
              </a:rPr>
              <a:t>48</a:t>
            </a:r>
            <a:r>
              <a:rPr lang="zh-CN" altLang="en-US" sz="900">
                <a:solidFill>
                  <a:schemeClr val="tx1"/>
                </a:solidFill>
              </a:rPr>
              <a:t>期</a:t>
            </a:r>
            <a:r>
              <a:rPr lang="en-US" altLang="zh-CN" sz="900">
                <a:solidFill>
                  <a:schemeClr val="tx1"/>
                </a:solidFill>
              </a:rPr>
              <a:t>RV matrix</a:t>
            </a:r>
            <a:r>
              <a:rPr lang="zh-CN" altLang="en-US" sz="900">
                <a:solidFill>
                  <a:schemeClr val="tx1"/>
                </a:solidFill>
              </a:rPr>
              <a:t>用的是哪个，延用还是用新的？</a:t>
            </a:r>
            <a:r>
              <a:rPr lang="en-US" altLang="zh-CN" sz="900">
                <a:solidFill>
                  <a:schemeClr val="tx1"/>
                </a:solidFill>
              </a:rPr>
              <a:t>---</a:t>
            </a:r>
            <a:r>
              <a:rPr lang="zh-CN" altLang="en-US" sz="900">
                <a:solidFill>
                  <a:schemeClr val="tx1"/>
                </a:solidFill>
              </a:rPr>
              <a:t>回答：用新的</a:t>
            </a:r>
            <a:endParaRPr lang="en-US" altLang="zh-CN" sz="900">
              <a:solidFill>
                <a:schemeClr val="tx1"/>
              </a:solidFill>
            </a:endParaRPr>
          </a:p>
          <a:p>
            <a:endParaRPr lang="en-US" altLang="zh-CN" sz="900">
              <a:solidFill>
                <a:schemeClr val="tx1"/>
              </a:solidFill>
            </a:endParaRPr>
          </a:p>
          <a:p>
            <a:endParaRPr lang="en-US" sz="900">
              <a:solidFill>
                <a:schemeClr val="tx1"/>
              </a:solidFill>
            </a:endParaRPr>
          </a:p>
        </p:txBody>
      </p:sp>
      <p:sp>
        <p:nvSpPr>
          <p:cNvPr id="31" name="TextBox 4">
            <a:extLst>
              <a:ext uri="{FF2B5EF4-FFF2-40B4-BE49-F238E27FC236}">
                <a16:creationId xmlns:a16="http://schemas.microsoft.com/office/drawing/2014/main" id="{5083AB10-FF59-A829-A67A-09CD588E7D39}"/>
              </a:ext>
            </a:extLst>
          </p:cNvPr>
          <p:cNvSpPr txBox="1"/>
          <p:nvPr/>
        </p:nvSpPr>
        <p:spPr>
          <a:xfrm>
            <a:off x="11675802" y="2460829"/>
            <a:ext cx="2346888" cy="276999"/>
          </a:xfrm>
          <a:prstGeom prst="rect">
            <a:avLst/>
          </a:prstGeom>
          <a:noFill/>
        </p:spPr>
        <p:txBody>
          <a:bodyPr wrap="square" rtlCol="0">
            <a:spAutoFit/>
          </a:bodyPr>
          <a:lstStyle/>
          <a:p>
            <a:r>
              <a:rPr lang="en-US" sz="1200">
                <a:latin typeface="Arial" pitchFamily="34" charset="0"/>
                <a:cs typeface="Arial" pitchFamily="34" charset="0"/>
              </a:rPr>
              <a:t>O</a:t>
            </a:r>
            <a:r>
              <a:rPr lang="en-US" altLang="zh-CN" sz="1200">
                <a:latin typeface="Arial" pitchFamily="34" charset="0"/>
                <a:cs typeface="Arial" pitchFamily="34" charset="0"/>
              </a:rPr>
              <a:t>dessa logic</a:t>
            </a:r>
            <a:r>
              <a:rPr lang="zh-CN" altLang="en-US" sz="1200">
                <a:latin typeface="Arial" pitchFamily="34" charset="0"/>
                <a:cs typeface="Arial" pitchFamily="34" charset="0"/>
              </a:rPr>
              <a:t>：</a:t>
            </a:r>
            <a:r>
              <a:rPr lang="en-US" sz="1200">
                <a:latin typeface="Arial" pitchFamily="34" charset="0"/>
                <a:cs typeface="Arial" pitchFamily="34" charset="0"/>
              </a:rPr>
              <a:t>IRR </a:t>
            </a:r>
            <a:r>
              <a:rPr lang="en-US" altLang="zh-CN" sz="1200">
                <a:latin typeface="Arial" pitchFamily="34" charset="0"/>
                <a:cs typeface="Arial" pitchFamily="34" charset="0"/>
              </a:rPr>
              <a:t>recalculate</a:t>
            </a:r>
          </a:p>
        </p:txBody>
      </p:sp>
      <p:sp>
        <p:nvSpPr>
          <p:cNvPr id="34" name="标题 2">
            <a:extLst>
              <a:ext uri="{FF2B5EF4-FFF2-40B4-BE49-F238E27FC236}">
                <a16:creationId xmlns:a16="http://schemas.microsoft.com/office/drawing/2014/main" id="{09B9476F-2AD5-F5C4-A42A-8C3E4CDD14D6}"/>
              </a:ext>
            </a:extLst>
          </p:cNvPr>
          <p:cNvSpPr txBox="1">
            <a:spLocks/>
          </p:cNvSpPr>
          <p:nvPr/>
        </p:nvSpPr>
        <p:spPr>
          <a:xfrm>
            <a:off x="6041114" y="516231"/>
            <a:ext cx="4911007" cy="698500"/>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zh-CN" sz="3600"/>
              <a:t>S&amp;D EOT-Extension FL</a:t>
            </a:r>
            <a:endParaRPr lang="zh-CN" altLang="en-US" sz="3600"/>
          </a:p>
        </p:txBody>
      </p:sp>
      <p:sp>
        <p:nvSpPr>
          <p:cNvPr id="36" name="文本框 35">
            <a:extLst>
              <a:ext uri="{FF2B5EF4-FFF2-40B4-BE49-F238E27FC236}">
                <a16:creationId xmlns:a16="http://schemas.microsoft.com/office/drawing/2014/main" id="{5EB2641D-458A-CF5B-7B4A-D769BBB9B413}"/>
              </a:ext>
            </a:extLst>
          </p:cNvPr>
          <p:cNvSpPr txBox="1"/>
          <p:nvPr/>
        </p:nvSpPr>
        <p:spPr>
          <a:xfrm>
            <a:off x="6103322" y="6243119"/>
            <a:ext cx="3689770" cy="461665"/>
          </a:xfrm>
          <a:prstGeom prst="rect">
            <a:avLst/>
          </a:prstGeom>
          <a:noFill/>
        </p:spPr>
        <p:txBody>
          <a:bodyPr wrap="square">
            <a:spAutoFit/>
          </a:bodyPr>
          <a:lstStyle/>
          <a:p>
            <a:r>
              <a:rPr lang="zh-CN" altLang="zh-CN" sz="1200">
                <a:hlinkClick r:id="rId3"/>
              </a:rPr>
              <a:t>EaaS Accounting &amp; Finance Extension with Option BSR_20250328 for contractual.pptx</a:t>
            </a:r>
            <a:endParaRPr lang="zh-CN" altLang="en-US" sz="1200"/>
          </a:p>
        </p:txBody>
      </p:sp>
      <p:sp>
        <p:nvSpPr>
          <p:cNvPr id="2" name="文本框 1">
            <a:extLst>
              <a:ext uri="{FF2B5EF4-FFF2-40B4-BE49-F238E27FC236}">
                <a16:creationId xmlns:a16="http://schemas.microsoft.com/office/drawing/2014/main" id="{181EA4F0-FD23-1ABE-1977-6501E93F6DFD}"/>
              </a:ext>
            </a:extLst>
          </p:cNvPr>
          <p:cNvSpPr txBox="1"/>
          <p:nvPr/>
        </p:nvSpPr>
        <p:spPr>
          <a:xfrm>
            <a:off x="215570" y="251049"/>
            <a:ext cx="4988026" cy="646331"/>
          </a:xfrm>
          <a:prstGeom prst="rect">
            <a:avLst/>
          </a:prstGeom>
          <a:noFill/>
        </p:spPr>
        <p:txBody>
          <a:bodyPr wrap="square" rtlCol="0">
            <a:spAutoFit/>
          </a:bodyPr>
          <a:lstStyle/>
          <a:p>
            <a:r>
              <a:rPr lang="en-US" altLang="zh-CN"/>
              <a:t>EOT extension after rewrite keep the same solution with Extension.</a:t>
            </a:r>
            <a:endParaRPr lang="zh-CN" altLang="en-US"/>
          </a:p>
        </p:txBody>
      </p:sp>
    </p:spTree>
    <p:extLst>
      <p:ext uri="{BB962C8B-B14F-4D97-AF65-F5344CB8AC3E}">
        <p14:creationId xmlns:p14="http://schemas.microsoft.com/office/powerpoint/2010/main" val="91369097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25927AE6-A1A6-4406-A771-FFD6D4F99B88}"/>
              </a:ext>
            </a:extLst>
          </p:cNvPr>
          <p:cNvSpPr>
            <a:spLocks noGrp="1"/>
          </p:cNvSpPr>
          <p:nvPr>
            <p:ph type="sldNum" sz="quarter" idx="4"/>
          </p:nvPr>
        </p:nvSpPr>
        <p:spPr>
          <a:xfrm>
            <a:off x="11752974" y="6473952"/>
            <a:ext cx="439026" cy="155448"/>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6D22F896-40B5-4ADD-8801-0D06FADFA095}" type="slidenum">
              <a:rPr lang="en-US" smtClean="0"/>
              <a:pPr marL="0" marR="0" lvl="0" indent="0" algn="ctr" defTabSz="914400" rtl="0" eaLnBrk="1" fontAlgn="auto" latinLnBrk="0" hangingPunct="1">
                <a:lnSpc>
                  <a:spcPct val="100000"/>
                </a:lnSpc>
                <a:spcBef>
                  <a:spcPts val="0"/>
                </a:spcBef>
                <a:spcAft>
                  <a:spcPts val="0"/>
                </a:spcAft>
                <a:buClrTx/>
                <a:buSzTx/>
                <a:buFontTx/>
                <a:buNone/>
                <a:tabLst/>
                <a:defRPr/>
              </a:pPr>
              <a:t>141</a:t>
            </a:fld>
            <a:endPar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graphicFrame>
        <p:nvGraphicFramePr>
          <p:cNvPr id="28" name="Table 27">
            <a:extLst>
              <a:ext uri="{FF2B5EF4-FFF2-40B4-BE49-F238E27FC236}">
                <a16:creationId xmlns:a16="http://schemas.microsoft.com/office/drawing/2014/main" id="{167B6B66-33A7-4EC5-B8E3-7B9DFE7737B0}"/>
              </a:ext>
            </a:extLst>
          </p:cNvPr>
          <p:cNvGraphicFramePr>
            <a:graphicFrameLocks noGrp="1"/>
          </p:cNvGraphicFramePr>
          <p:nvPr/>
        </p:nvGraphicFramePr>
        <p:xfrm>
          <a:off x="3391589" y="5181729"/>
          <a:ext cx="5203512" cy="810000"/>
        </p:xfrm>
        <a:graphic>
          <a:graphicData uri="http://schemas.openxmlformats.org/drawingml/2006/table">
            <a:tbl>
              <a:tblPr firstRow="1">
                <a:tableStyleId>{5C22544A-7EE6-4342-B048-85BDC9FD1C3A}</a:tableStyleId>
              </a:tblPr>
              <a:tblGrid>
                <a:gridCol w="441193">
                  <a:extLst>
                    <a:ext uri="{9D8B030D-6E8A-4147-A177-3AD203B41FA5}">
                      <a16:colId xmlns:a16="http://schemas.microsoft.com/office/drawing/2014/main" val="3200314054"/>
                    </a:ext>
                  </a:extLst>
                </a:gridCol>
                <a:gridCol w="199976">
                  <a:extLst>
                    <a:ext uri="{9D8B030D-6E8A-4147-A177-3AD203B41FA5}">
                      <a16:colId xmlns:a16="http://schemas.microsoft.com/office/drawing/2014/main" val="1913271583"/>
                    </a:ext>
                  </a:extLst>
                </a:gridCol>
                <a:gridCol w="732382">
                  <a:extLst>
                    <a:ext uri="{9D8B030D-6E8A-4147-A177-3AD203B41FA5}">
                      <a16:colId xmlns:a16="http://schemas.microsoft.com/office/drawing/2014/main" val="1797281345"/>
                    </a:ext>
                  </a:extLst>
                </a:gridCol>
                <a:gridCol w="2441137">
                  <a:extLst>
                    <a:ext uri="{9D8B030D-6E8A-4147-A177-3AD203B41FA5}">
                      <a16:colId xmlns:a16="http://schemas.microsoft.com/office/drawing/2014/main" val="2743739350"/>
                    </a:ext>
                  </a:extLst>
                </a:gridCol>
                <a:gridCol w="368281">
                  <a:extLst>
                    <a:ext uri="{9D8B030D-6E8A-4147-A177-3AD203B41FA5}">
                      <a16:colId xmlns:a16="http://schemas.microsoft.com/office/drawing/2014/main" val="2056723756"/>
                    </a:ext>
                  </a:extLst>
                </a:gridCol>
                <a:gridCol w="315178">
                  <a:extLst>
                    <a:ext uri="{9D8B030D-6E8A-4147-A177-3AD203B41FA5}">
                      <a16:colId xmlns:a16="http://schemas.microsoft.com/office/drawing/2014/main" val="4073315665"/>
                    </a:ext>
                  </a:extLst>
                </a:gridCol>
                <a:gridCol w="705365">
                  <a:extLst>
                    <a:ext uri="{9D8B030D-6E8A-4147-A177-3AD203B41FA5}">
                      <a16:colId xmlns:a16="http://schemas.microsoft.com/office/drawing/2014/main" val="848560102"/>
                    </a:ext>
                  </a:extLst>
                </a:gridCol>
              </a:tblGrid>
              <a:tr h="162000">
                <a:tc rowSpan="5">
                  <a:txBody>
                    <a:bodyPr/>
                    <a:lstStyle/>
                    <a:p>
                      <a:pPr algn="ctr" fontAlgn="ctr"/>
                      <a:r>
                        <a:rPr lang="en-US" sz="1200" b="1" i="0" u="none" strike="noStrike">
                          <a:solidFill>
                            <a:schemeClr val="bg1"/>
                          </a:solidFill>
                          <a:effectLst/>
                          <a:latin typeface="Arial"/>
                        </a:rPr>
                        <a:t>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End of Lease service performed recognize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chemeClr val="tx1"/>
                          </a:solidFill>
                          <a:effectLst/>
                          <a:uLnTx/>
                          <a:uFillTx/>
                          <a:latin typeface="+mn-lt"/>
                          <a:ea typeface="+mn-ea"/>
                          <a:cs typeface="+mn-cs"/>
                        </a:rPr>
                        <a:t>Upon Service completed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Deferred Revenue--ARS</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Services Revenue DaaS--ARS</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14759219"/>
                  </a:ext>
                </a:extLst>
              </a:tr>
            </a:tbl>
          </a:graphicData>
        </a:graphic>
      </p:graphicFrame>
      <p:graphicFrame>
        <p:nvGraphicFramePr>
          <p:cNvPr id="30" name="Table 29">
            <a:extLst>
              <a:ext uri="{FF2B5EF4-FFF2-40B4-BE49-F238E27FC236}">
                <a16:creationId xmlns:a16="http://schemas.microsoft.com/office/drawing/2014/main" id="{E910A701-19F7-4810-B409-E898F513FA13}"/>
              </a:ext>
            </a:extLst>
          </p:cNvPr>
          <p:cNvGraphicFramePr>
            <a:graphicFrameLocks noGrp="1"/>
          </p:cNvGraphicFramePr>
          <p:nvPr/>
        </p:nvGraphicFramePr>
        <p:xfrm>
          <a:off x="382385" y="2791029"/>
          <a:ext cx="5172104" cy="1134000"/>
        </p:xfrm>
        <a:graphic>
          <a:graphicData uri="http://schemas.openxmlformats.org/drawingml/2006/table">
            <a:tbl>
              <a:tblPr firstRow="1">
                <a:tableStyleId>{5C22544A-7EE6-4342-B048-85BDC9FD1C3A}</a:tableStyleId>
              </a:tblPr>
              <a:tblGrid>
                <a:gridCol w="413890">
                  <a:extLst>
                    <a:ext uri="{9D8B030D-6E8A-4147-A177-3AD203B41FA5}">
                      <a16:colId xmlns:a16="http://schemas.microsoft.com/office/drawing/2014/main" val="3200314054"/>
                    </a:ext>
                  </a:extLst>
                </a:gridCol>
                <a:gridCol w="248333">
                  <a:extLst>
                    <a:ext uri="{9D8B030D-6E8A-4147-A177-3AD203B41FA5}">
                      <a16:colId xmlns:a16="http://schemas.microsoft.com/office/drawing/2014/main" val="1913271583"/>
                    </a:ext>
                  </a:extLst>
                </a:gridCol>
                <a:gridCol w="607593">
                  <a:extLst>
                    <a:ext uri="{9D8B030D-6E8A-4147-A177-3AD203B41FA5}">
                      <a16:colId xmlns:a16="http://schemas.microsoft.com/office/drawing/2014/main" val="1797281345"/>
                    </a:ext>
                  </a:extLst>
                </a:gridCol>
                <a:gridCol w="2500312">
                  <a:extLst>
                    <a:ext uri="{9D8B030D-6E8A-4147-A177-3AD203B41FA5}">
                      <a16:colId xmlns:a16="http://schemas.microsoft.com/office/drawing/2014/main" val="2743739350"/>
                    </a:ext>
                  </a:extLst>
                </a:gridCol>
                <a:gridCol w="265091">
                  <a:extLst>
                    <a:ext uri="{9D8B030D-6E8A-4147-A177-3AD203B41FA5}">
                      <a16:colId xmlns:a16="http://schemas.microsoft.com/office/drawing/2014/main" val="2056723756"/>
                    </a:ext>
                  </a:extLst>
                </a:gridCol>
                <a:gridCol w="331233">
                  <a:extLst>
                    <a:ext uri="{9D8B030D-6E8A-4147-A177-3AD203B41FA5}">
                      <a16:colId xmlns:a16="http://schemas.microsoft.com/office/drawing/2014/main" val="4073315665"/>
                    </a:ext>
                  </a:extLst>
                </a:gridCol>
                <a:gridCol w="805652">
                  <a:extLst>
                    <a:ext uri="{9D8B030D-6E8A-4147-A177-3AD203B41FA5}">
                      <a16:colId xmlns:a16="http://schemas.microsoft.com/office/drawing/2014/main" val="848560102"/>
                    </a:ext>
                  </a:extLst>
                </a:gridCol>
              </a:tblGrid>
              <a:tr h="162000">
                <a:tc rowSpan="7">
                  <a:txBody>
                    <a:bodyPr/>
                    <a:lstStyle/>
                    <a:p>
                      <a:pPr algn="ctr" fontAlgn="ctr"/>
                      <a:r>
                        <a:rPr lang="en-US" sz="1200" u="none" strike="noStrike">
                          <a:solidFill>
                            <a:schemeClr val="bg1"/>
                          </a:solidFill>
                          <a:effectLst/>
                        </a:rPr>
                        <a:t>S&amp;D</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Monthly invoice from Lenovo to AFE for service revenue</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kumimoji="0" lang="en-US" altLang="zh-CN" sz="1000" b="1" i="0" u="none" strike="noStrike" kern="1200" cap="none" spc="0" normalizeH="0" baseline="0">
                          <a:ln>
                            <a:noFill/>
                          </a:ln>
                          <a:solidFill>
                            <a:schemeClr val="tx1"/>
                          </a:solidFill>
                          <a:effectLst/>
                          <a:uLnTx/>
                          <a:uFillTx/>
                          <a:latin typeface="+mn-lt"/>
                          <a:ea typeface="+mn-ea"/>
                          <a:cs typeface="+mn-cs"/>
                        </a:rPr>
                        <a:t>Managed service and ARS performed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等线"/>
                          <a:cs typeface="+mn-cs"/>
                        </a:rPr>
                        <a:t>Account Receivable (Interco) – to AFE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mj-lt"/>
                          <a:ea typeface="+mn-ea"/>
                          <a:cs typeface="+mn-cs"/>
                        </a:rPr>
                        <a:t>5010453</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j-lt"/>
                        </a:rPr>
                        <a:t>Services Revenue DaaS—managed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704665907"/>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Service Revenue--</a:t>
                      </a:r>
                      <a:r>
                        <a:rPr lang="en-US" sz="1000" b="0" i="0" u="none" strike="noStrike" kern="1200" noProof="0">
                          <a:solidFill>
                            <a:srgbClr val="000000"/>
                          </a:solidFill>
                          <a:effectLst/>
                          <a:latin typeface="+mn-lt"/>
                          <a:ea typeface="+mn-ea"/>
                          <a:cs typeface="+mn-cs"/>
                        </a:rPr>
                        <a:t>Premier Support</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1892960573"/>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Deferred Revenue---ARS</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483757682"/>
                  </a:ext>
                </a:extLst>
              </a:tr>
            </a:tbl>
          </a:graphicData>
        </a:graphic>
      </p:graphicFrame>
      <p:graphicFrame>
        <p:nvGraphicFramePr>
          <p:cNvPr id="32" name="Table 31">
            <a:extLst>
              <a:ext uri="{FF2B5EF4-FFF2-40B4-BE49-F238E27FC236}">
                <a16:creationId xmlns:a16="http://schemas.microsoft.com/office/drawing/2014/main" id="{1B234EFF-6CDE-49BF-A546-4C7BBDE8EA47}"/>
              </a:ext>
            </a:extLst>
          </p:cNvPr>
          <p:cNvGraphicFramePr>
            <a:graphicFrameLocks noGrp="1"/>
          </p:cNvGraphicFramePr>
          <p:nvPr/>
        </p:nvGraphicFramePr>
        <p:xfrm>
          <a:off x="3391589" y="4218257"/>
          <a:ext cx="5203513" cy="806750"/>
        </p:xfrm>
        <a:graphic>
          <a:graphicData uri="http://schemas.openxmlformats.org/drawingml/2006/table">
            <a:tbl>
              <a:tblPr firstRow="1">
                <a:tableStyleId>{5C22544A-7EE6-4342-B048-85BDC9FD1C3A}</a:tableStyleId>
              </a:tblPr>
              <a:tblGrid>
                <a:gridCol w="416689">
                  <a:extLst>
                    <a:ext uri="{9D8B030D-6E8A-4147-A177-3AD203B41FA5}">
                      <a16:colId xmlns:a16="http://schemas.microsoft.com/office/drawing/2014/main" val="3200314054"/>
                    </a:ext>
                  </a:extLst>
                </a:gridCol>
                <a:gridCol w="250015">
                  <a:extLst>
                    <a:ext uri="{9D8B030D-6E8A-4147-A177-3AD203B41FA5}">
                      <a16:colId xmlns:a16="http://schemas.microsoft.com/office/drawing/2014/main" val="1913271583"/>
                    </a:ext>
                  </a:extLst>
                </a:gridCol>
                <a:gridCol w="678855">
                  <a:extLst>
                    <a:ext uri="{9D8B030D-6E8A-4147-A177-3AD203B41FA5}">
                      <a16:colId xmlns:a16="http://schemas.microsoft.com/office/drawing/2014/main" val="1797281345"/>
                    </a:ext>
                  </a:extLst>
                </a:gridCol>
                <a:gridCol w="2515564">
                  <a:extLst>
                    <a:ext uri="{9D8B030D-6E8A-4147-A177-3AD203B41FA5}">
                      <a16:colId xmlns:a16="http://schemas.microsoft.com/office/drawing/2014/main" val="2743739350"/>
                    </a:ext>
                  </a:extLst>
                </a:gridCol>
                <a:gridCol w="378106">
                  <a:extLst>
                    <a:ext uri="{9D8B030D-6E8A-4147-A177-3AD203B41FA5}">
                      <a16:colId xmlns:a16="http://schemas.microsoft.com/office/drawing/2014/main" val="2056723756"/>
                    </a:ext>
                  </a:extLst>
                </a:gridCol>
                <a:gridCol w="355020">
                  <a:extLst>
                    <a:ext uri="{9D8B030D-6E8A-4147-A177-3AD203B41FA5}">
                      <a16:colId xmlns:a16="http://schemas.microsoft.com/office/drawing/2014/main" val="4073315665"/>
                    </a:ext>
                  </a:extLst>
                </a:gridCol>
                <a:gridCol w="609264">
                  <a:extLst>
                    <a:ext uri="{9D8B030D-6E8A-4147-A177-3AD203B41FA5}">
                      <a16:colId xmlns:a16="http://schemas.microsoft.com/office/drawing/2014/main" val="848560102"/>
                    </a:ext>
                  </a:extLst>
                </a:gridCol>
              </a:tblGrid>
              <a:tr h="0">
                <a:tc rowSpan="5">
                  <a:txBody>
                    <a:bodyPr/>
                    <a:lstStyle/>
                    <a:p>
                      <a:pPr algn="ctr" fontAlgn="ctr"/>
                      <a:r>
                        <a:rPr lang="en-US" sz="1200" b="1" i="0" u="none" strike="noStrike">
                          <a:solidFill>
                            <a:srgbClr val="FFFFFF"/>
                          </a:solidFill>
                          <a:effectLst/>
                          <a:latin typeface="Arial" panose="020B0604020202020204" pitchFamily="34" charset="0"/>
                        </a:rPr>
                        <a:t>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Monthly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rgbClr val="FF0000"/>
                          </a:solidFill>
                          <a:effectLst/>
                          <a:uLnTx/>
                          <a:uFillTx/>
                          <a:latin typeface="+mn-lt"/>
                          <a:ea typeface="+mn-ea"/>
                          <a:cs typeface="+mn-cs"/>
                        </a:rPr>
                        <a:t>Depreciation rate needs to be recalculated with new RV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Dr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4060110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Depreciation Expense (COS Impact)</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j-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421641794"/>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Cr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1651550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j-lt"/>
                        </a:rPr>
                        <a:t>Accumulated Depreciation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j-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979390839"/>
                  </a:ext>
                </a:extLst>
              </a:tr>
            </a:tbl>
          </a:graphicData>
        </a:graphic>
      </p:graphicFrame>
      <p:graphicFrame>
        <p:nvGraphicFramePr>
          <p:cNvPr id="4" name="Table 3">
            <a:extLst>
              <a:ext uri="{FF2B5EF4-FFF2-40B4-BE49-F238E27FC236}">
                <a16:creationId xmlns:a16="http://schemas.microsoft.com/office/drawing/2014/main" id="{3BA19085-ADBE-4BFA-9A2C-7AED4EDD74AA}"/>
              </a:ext>
            </a:extLst>
          </p:cNvPr>
          <p:cNvGraphicFramePr>
            <a:graphicFrameLocks noGrp="1"/>
          </p:cNvGraphicFramePr>
          <p:nvPr/>
        </p:nvGraphicFramePr>
        <p:xfrm>
          <a:off x="5915332" y="1099119"/>
          <a:ext cx="5203518" cy="1458000"/>
        </p:xfrm>
        <a:graphic>
          <a:graphicData uri="http://schemas.openxmlformats.org/drawingml/2006/table">
            <a:tbl>
              <a:tblPr firstRow="1">
                <a:tableStyleId>{5C22544A-7EE6-4342-B048-85BDC9FD1C3A}</a:tableStyleId>
              </a:tblPr>
              <a:tblGrid>
                <a:gridCol w="408240">
                  <a:extLst>
                    <a:ext uri="{9D8B030D-6E8A-4147-A177-3AD203B41FA5}">
                      <a16:colId xmlns:a16="http://schemas.microsoft.com/office/drawing/2014/main" val="3200314054"/>
                    </a:ext>
                  </a:extLst>
                </a:gridCol>
                <a:gridCol w="248333">
                  <a:extLst>
                    <a:ext uri="{9D8B030D-6E8A-4147-A177-3AD203B41FA5}">
                      <a16:colId xmlns:a16="http://schemas.microsoft.com/office/drawing/2014/main" val="1913271583"/>
                    </a:ext>
                  </a:extLst>
                </a:gridCol>
                <a:gridCol w="607593">
                  <a:extLst>
                    <a:ext uri="{9D8B030D-6E8A-4147-A177-3AD203B41FA5}">
                      <a16:colId xmlns:a16="http://schemas.microsoft.com/office/drawing/2014/main" val="1797281345"/>
                    </a:ext>
                  </a:extLst>
                </a:gridCol>
                <a:gridCol w="2507848">
                  <a:extLst>
                    <a:ext uri="{9D8B030D-6E8A-4147-A177-3AD203B41FA5}">
                      <a16:colId xmlns:a16="http://schemas.microsoft.com/office/drawing/2014/main" val="2743739350"/>
                    </a:ext>
                  </a:extLst>
                </a:gridCol>
                <a:gridCol w="393538">
                  <a:extLst>
                    <a:ext uri="{9D8B030D-6E8A-4147-A177-3AD203B41FA5}">
                      <a16:colId xmlns:a16="http://schemas.microsoft.com/office/drawing/2014/main" val="2056723756"/>
                    </a:ext>
                  </a:extLst>
                </a:gridCol>
                <a:gridCol w="385822">
                  <a:extLst>
                    <a:ext uri="{9D8B030D-6E8A-4147-A177-3AD203B41FA5}">
                      <a16:colId xmlns:a16="http://schemas.microsoft.com/office/drawing/2014/main" val="4073315665"/>
                    </a:ext>
                  </a:extLst>
                </a:gridCol>
                <a:gridCol w="652144">
                  <a:extLst>
                    <a:ext uri="{9D8B030D-6E8A-4147-A177-3AD203B41FA5}">
                      <a16:colId xmlns:a16="http://schemas.microsoft.com/office/drawing/2014/main" val="848560102"/>
                    </a:ext>
                  </a:extLst>
                </a:gridCol>
              </a:tblGrid>
              <a:tr h="162000">
                <a:tc rowSpan="9">
                  <a:txBody>
                    <a:bodyPr/>
                    <a:lstStyle/>
                    <a:p>
                      <a:pPr algn="ctr" fontAlgn="ctr"/>
                      <a:r>
                        <a:rPr lang="en-US" sz="1200" u="none" strike="noStrike">
                          <a:solidFill>
                            <a:schemeClr val="bg1"/>
                          </a:solidFill>
                          <a:effectLst/>
                        </a:rPr>
                        <a:t>AFE</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Monthly invoice from Lenovo to Customer</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tx1"/>
                          </a:solidFill>
                          <a:effectLst/>
                          <a:latin typeface="+mn-lt"/>
                          <a:ea typeface="+mn-ea"/>
                          <a:cs typeface="+mn-cs"/>
                        </a:rPr>
                        <a:t> Monthly Invoice issued to customer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等线"/>
                          <a:cs typeface="+mn-cs"/>
                        </a:rPr>
                        <a:t>Account Receivable – to customer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lvl="0" algn="ctr">
                        <a:buNone/>
                      </a:pPr>
                      <a:r>
                        <a:rPr lang="en-US" sz="1000" b="0" i="0" u="none" strike="noStrike" kern="1200" noProof="0">
                          <a:solidFill>
                            <a:srgbClr val="000000"/>
                          </a:solidFill>
                          <a:effectLst/>
                          <a:latin typeface="Arial"/>
                        </a:rPr>
                        <a:t>35</a:t>
                      </a:r>
                      <a:endParaRPr lang="en-US" altLang="zh-CN" sz="1000" b="0" i="0" u="none" strike="noStrike" kern="1200">
                        <a:solidFill>
                          <a:srgbClr val="FF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a:lnSpc>
                          <a:spcPct val="100000"/>
                        </a:lnSpc>
                        <a:spcBef>
                          <a:spcPts val="0"/>
                        </a:spcBef>
                        <a:spcAft>
                          <a:spcPts val="0"/>
                        </a:spcAft>
                        <a:buNone/>
                        <a:tabLst/>
                        <a:defRPr/>
                      </a:pPr>
                      <a:r>
                        <a:rPr lang="en-US" sz="1000" b="0" i="0" u="none" strike="noStrike" noProof="0">
                          <a:solidFill>
                            <a:srgbClr val="000000"/>
                          </a:solidFill>
                          <a:effectLst/>
                          <a:latin typeface="+mn-lt"/>
                        </a:rPr>
                        <a:t>30/J*/PK</a:t>
                      </a:r>
                      <a:endParaRPr lang="en-US" sz="1000"/>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5010450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j-lt"/>
                        </a:rPr>
                        <a:t>Operating Lease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lvl="0" algn="ctr">
                        <a:buNone/>
                      </a:pPr>
                      <a:r>
                        <a:rPr lang="en-US" sz="1000" b="0" i="0" u="none" strike="noStrike" kern="1200" noProof="0">
                          <a:solidFill>
                            <a:srgbClr val="000000"/>
                          </a:solidFill>
                          <a:effectLst/>
                          <a:latin typeface="Arial"/>
                        </a:rPr>
                        <a:t>28</a:t>
                      </a:r>
                      <a:endParaRPr lang="en-US" altLang="zh-CN" sz="1000" b="0" i="0" u="none" strike="noStrike" kern="1200">
                        <a:solidFill>
                          <a:srgbClr val="FF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a:lnSpc>
                          <a:spcPct val="100000"/>
                        </a:lnSpc>
                        <a:spcBef>
                          <a:spcPts val="0"/>
                        </a:spcBef>
                        <a:spcAft>
                          <a:spcPts val="0"/>
                        </a:spcAft>
                        <a:buNone/>
                        <a:tabLst/>
                        <a:defRPr/>
                      </a:pPr>
                      <a:r>
                        <a:rPr lang="en-US" sz="1000" b="0" i="0" u="none" strike="noStrike" noProof="0">
                          <a:solidFill>
                            <a:srgbClr val="000000"/>
                          </a:solidFill>
                          <a:effectLst/>
                          <a:latin typeface="+mn-lt"/>
                        </a:rPr>
                        <a:t>U4/20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704665907"/>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highlight>
                            <a:srgbClr val="00FF00"/>
                          </a:highlight>
                          <a:latin typeface="+mn-lt"/>
                          <a:ea typeface="+mn-ea"/>
                          <a:cs typeface="+mn-cs"/>
                        </a:rPr>
                        <a:t>Interest income-</a:t>
                      </a:r>
                      <a:r>
                        <a:rPr lang="en-US" sz="1000" b="0" i="0" u="none" strike="noStrike" kern="1200" noProof="0">
                          <a:solidFill>
                            <a:srgbClr val="000000"/>
                          </a:solidFill>
                          <a:effectLst/>
                          <a:highlight>
                            <a:srgbClr val="00FF00"/>
                          </a:highlight>
                          <a:latin typeface="+mn-lt"/>
                          <a:ea typeface="+mn-ea"/>
                          <a:cs typeface="+mn-cs"/>
                        </a:rPr>
                        <a:t>Ship to Home</a:t>
                      </a:r>
                      <a:endParaRPr lang="en-US" sz="1000" b="0" i="0" u="none" strike="noStrike" kern="1200">
                        <a:solidFill>
                          <a:srgbClr val="000000"/>
                        </a:solidFill>
                        <a:effectLst/>
                        <a:highlight>
                          <a:srgbClr val="00FF00"/>
                        </a:highligh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483757682"/>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mn-lt"/>
                          <a:ea typeface="+mn-ea"/>
                          <a:cs typeface="+mn-cs"/>
                        </a:rPr>
                        <a:t>5010510</a:t>
                      </a:r>
                      <a:endParaRPr kumimoji="0" lang="en-US" altLang="zh-CN"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Agent Revenue--</a:t>
                      </a:r>
                      <a:r>
                        <a:rPr lang="en-US" sz="1000" b="0" i="0" u="none" strike="noStrike" kern="1200" noProof="0">
                          <a:solidFill>
                            <a:srgbClr val="000000"/>
                          </a:solidFill>
                          <a:effectLst/>
                          <a:latin typeface="+mn-lt"/>
                          <a:ea typeface="+mn-ea"/>
                          <a:cs typeface="+mn-cs"/>
                        </a:rPr>
                        <a:t>Managed Service</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064797181"/>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Agent Revenue--</a:t>
                      </a:r>
                      <a:r>
                        <a:rPr lang="en-US" sz="1000" b="0" i="0" u="none" strike="noStrike" kern="1200" noProof="0">
                          <a:solidFill>
                            <a:srgbClr val="000000"/>
                          </a:solidFill>
                          <a:effectLst/>
                          <a:latin typeface="+mn-lt"/>
                          <a:ea typeface="+mn-ea"/>
                          <a:cs typeface="+mn-cs"/>
                        </a:rPr>
                        <a:t>Premier Support</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endParaRPr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endParaRPr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501530050"/>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Agent Revenue--ARS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067519403"/>
                  </a:ext>
                </a:extLst>
              </a:tr>
            </a:tbl>
          </a:graphicData>
        </a:graphic>
      </p:graphicFrame>
      <p:graphicFrame>
        <p:nvGraphicFramePr>
          <p:cNvPr id="7" name="Table 6">
            <a:extLst>
              <a:ext uri="{FF2B5EF4-FFF2-40B4-BE49-F238E27FC236}">
                <a16:creationId xmlns:a16="http://schemas.microsoft.com/office/drawing/2014/main" id="{BF5E1ABA-14D8-8C7E-6491-F3E8CD41F6CD}"/>
              </a:ext>
            </a:extLst>
          </p:cNvPr>
          <p:cNvGraphicFramePr>
            <a:graphicFrameLocks noGrp="1"/>
          </p:cNvGraphicFramePr>
          <p:nvPr/>
        </p:nvGraphicFramePr>
        <p:xfrm>
          <a:off x="5915332" y="2791029"/>
          <a:ext cx="5203516" cy="1134000"/>
        </p:xfrm>
        <a:graphic>
          <a:graphicData uri="http://schemas.openxmlformats.org/drawingml/2006/table">
            <a:tbl>
              <a:tblPr firstRow="1">
                <a:tableStyleId>{5C22544A-7EE6-4342-B048-85BDC9FD1C3A}</a:tableStyleId>
              </a:tblPr>
              <a:tblGrid>
                <a:gridCol w="416691">
                  <a:extLst>
                    <a:ext uri="{9D8B030D-6E8A-4147-A177-3AD203B41FA5}">
                      <a16:colId xmlns:a16="http://schemas.microsoft.com/office/drawing/2014/main" val="3200314054"/>
                    </a:ext>
                  </a:extLst>
                </a:gridCol>
                <a:gridCol w="250014">
                  <a:extLst>
                    <a:ext uri="{9D8B030D-6E8A-4147-A177-3AD203B41FA5}">
                      <a16:colId xmlns:a16="http://schemas.microsoft.com/office/drawing/2014/main" val="1913271583"/>
                    </a:ext>
                  </a:extLst>
                </a:gridCol>
                <a:gridCol w="678854">
                  <a:extLst>
                    <a:ext uri="{9D8B030D-6E8A-4147-A177-3AD203B41FA5}">
                      <a16:colId xmlns:a16="http://schemas.microsoft.com/office/drawing/2014/main" val="1797281345"/>
                    </a:ext>
                  </a:extLst>
                </a:gridCol>
                <a:gridCol w="2406697">
                  <a:extLst>
                    <a:ext uri="{9D8B030D-6E8A-4147-A177-3AD203B41FA5}">
                      <a16:colId xmlns:a16="http://schemas.microsoft.com/office/drawing/2014/main" val="2743739350"/>
                    </a:ext>
                  </a:extLst>
                </a:gridCol>
                <a:gridCol w="372704">
                  <a:extLst>
                    <a:ext uri="{9D8B030D-6E8A-4147-A177-3AD203B41FA5}">
                      <a16:colId xmlns:a16="http://schemas.microsoft.com/office/drawing/2014/main" val="2056723756"/>
                    </a:ext>
                  </a:extLst>
                </a:gridCol>
                <a:gridCol w="333822">
                  <a:extLst>
                    <a:ext uri="{9D8B030D-6E8A-4147-A177-3AD203B41FA5}">
                      <a16:colId xmlns:a16="http://schemas.microsoft.com/office/drawing/2014/main" val="4073315665"/>
                    </a:ext>
                  </a:extLst>
                </a:gridCol>
                <a:gridCol w="744734">
                  <a:extLst>
                    <a:ext uri="{9D8B030D-6E8A-4147-A177-3AD203B41FA5}">
                      <a16:colId xmlns:a16="http://schemas.microsoft.com/office/drawing/2014/main" val="848560102"/>
                    </a:ext>
                  </a:extLst>
                </a:gridCol>
              </a:tblGrid>
              <a:tr h="162000">
                <a:tc rowSpan="7">
                  <a:txBody>
                    <a:bodyPr/>
                    <a:lstStyle/>
                    <a:p>
                      <a:pPr algn="ctr" fontAlgn="ctr"/>
                      <a:r>
                        <a:rPr lang="en-US" sz="1200" b="1" i="0" u="none" strike="noStrike">
                          <a:solidFill>
                            <a:srgbClr val="FFFFFF"/>
                          </a:solidFill>
                          <a:effectLst/>
                          <a:latin typeface="Arial" panose="020B0604020202020204" pitchFamily="34" charset="0"/>
                        </a:rPr>
                        <a:t>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Invoice from S&amp;D for monthly service </a:t>
                      </a:r>
                      <a:r>
                        <a:rPr lang="en-US" altLang="zh-CN" sz="1000" b="1" u="none" strike="noStrike" kern="1200">
                          <a:solidFill>
                            <a:schemeClr val="lt1"/>
                          </a:solidFill>
                          <a:effectLst/>
                          <a:latin typeface="+mn-lt"/>
                          <a:ea typeface="+mn-ea"/>
                          <a:cs typeface="+mn-cs"/>
                        </a:rPr>
                        <a:t>cost </a:t>
                      </a: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chemeClr val="tx1"/>
                          </a:solidFill>
                          <a:effectLst/>
                          <a:uLnTx/>
                          <a:uFillTx/>
                          <a:latin typeface="+mn-lt"/>
                          <a:ea typeface="+mn-ea"/>
                          <a:cs typeface="+mn-cs"/>
                        </a:rPr>
                        <a:t>Managed service and ARS performed by 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Dr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Agent Revenue--</a:t>
                      </a:r>
                      <a:r>
                        <a:rPr lang="en-US" sz="1000" b="0" i="0" u="none" strike="noStrike" kern="1200" noProof="0">
                          <a:solidFill>
                            <a:srgbClr val="000000"/>
                          </a:solidFill>
                          <a:effectLst/>
                          <a:latin typeface="+mn-lt"/>
                          <a:ea typeface="+mn-ea"/>
                          <a:cs typeface="+mn-cs"/>
                        </a:rPr>
                        <a:t>Managed Service</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1641794"/>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Dr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Agent Revenue--ARS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520808988"/>
                  </a:ext>
                </a:extLst>
              </a:tr>
              <a:tr h="162000">
                <a:tc vMerge="1">
                  <a:txBody>
                    <a:bodyPr/>
                    <a:lstStyle/>
                    <a:p>
                      <a:endParaRPr lang="en-US"/>
                    </a:p>
                  </a:txBody>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Agent Revenue--</a:t>
                      </a:r>
                      <a:r>
                        <a:rPr lang="en-US" sz="1000" b="0" i="0" u="none" strike="noStrike" kern="1200" noProof="0">
                          <a:solidFill>
                            <a:srgbClr val="000000"/>
                          </a:solidFill>
                          <a:effectLst/>
                          <a:latin typeface="+mn-lt"/>
                          <a:ea typeface="+mn-ea"/>
                          <a:cs typeface="+mn-cs"/>
                        </a:rPr>
                        <a:t>Premier Support</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endParaRPr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endParaRPr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688999926"/>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Cr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j-lt"/>
                        </a:rPr>
                        <a:t>Inter-co Payable –to 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j-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979390839"/>
                  </a:ext>
                </a:extLst>
              </a:tr>
            </a:tbl>
          </a:graphicData>
        </a:graphic>
      </p:graphicFrame>
      <p:grpSp>
        <p:nvGrpSpPr>
          <p:cNvPr id="18" name="Group 17">
            <a:extLst>
              <a:ext uri="{FF2B5EF4-FFF2-40B4-BE49-F238E27FC236}">
                <a16:creationId xmlns:a16="http://schemas.microsoft.com/office/drawing/2014/main" id="{69ABCB01-DE6F-0669-1D6F-5E9D01B437C6}"/>
              </a:ext>
            </a:extLst>
          </p:cNvPr>
          <p:cNvGrpSpPr/>
          <p:nvPr/>
        </p:nvGrpSpPr>
        <p:grpSpPr>
          <a:xfrm>
            <a:off x="11159606" y="0"/>
            <a:ext cx="1032394" cy="734212"/>
            <a:chOff x="11159606" y="0"/>
            <a:chExt cx="1032394" cy="734212"/>
          </a:xfrm>
        </p:grpSpPr>
        <p:sp>
          <p:nvSpPr>
            <p:cNvPr id="15" name="Rectangle: Rounded Corners 14">
              <a:extLst>
                <a:ext uri="{FF2B5EF4-FFF2-40B4-BE49-F238E27FC236}">
                  <a16:creationId xmlns:a16="http://schemas.microsoft.com/office/drawing/2014/main" id="{2D94A386-73DF-98D8-A7B9-C1AB2A52E578}"/>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BRIM</a:t>
              </a:r>
            </a:p>
          </p:txBody>
        </p:sp>
        <p:sp>
          <p:nvSpPr>
            <p:cNvPr id="16" name="Rectangle: Rounded Corners 15">
              <a:extLst>
                <a:ext uri="{FF2B5EF4-FFF2-40B4-BE49-F238E27FC236}">
                  <a16:creationId xmlns:a16="http://schemas.microsoft.com/office/drawing/2014/main" id="{EA034A90-7ADC-BE96-C286-69507E73D1B5}"/>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ECC</a:t>
              </a:r>
            </a:p>
          </p:txBody>
        </p:sp>
        <p:sp>
          <p:nvSpPr>
            <p:cNvPr id="17" name="Rectangle: Rounded Corners 16">
              <a:extLst>
                <a:ext uri="{FF2B5EF4-FFF2-40B4-BE49-F238E27FC236}">
                  <a16:creationId xmlns:a16="http://schemas.microsoft.com/office/drawing/2014/main" id="{147E9501-147A-7AA5-A9E5-730A785696AF}"/>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Odessa</a:t>
              </a:r>
            </a:p>
          </p:txBody>
        </p:sp>
      </p:grpSp>
      <p:sp>
        <p:nvSpPr>
          <p:cNvPr id="26" name="Rectangle 25">
            <a:extLst>
              <a:ext uri="{FF2B5EF4-FFF2-40B4-BE49-F238E27FC236}">
                <a16:creationId xmlns:a16="http://schemas.microsoft.com/office/drawing/2014/main" id="{E1CF083E-C6CC-8C14-1B4E-83989DBBD4CC}"/>
              </a:ext>
            </a:extLst>
          </p:cNvPr>
          <p:cNvSpPr/>
          <p:nvPr/>
        </p:nvSpPr>
        <p:spPr>
          <a:xfrm>
            <a:off x="273864" y="2678116"/>
            <a:ext cx="10990177" cy="1383419"/>
          </a:xfrm>
          <a:custGeom>
            <a:avLst/>
            <a:gdLst>
              <a:gd name="csX0" fmla="*/ 0 w 10990177"/>
              <a:gd name="csY0" fmla="*/ 0 h 1383419"/>
              <a:gd name="csX1" fmla="*/ 248725 w 10990177"/>
              <a:gd name="csY1" fmla="*/ 0 h 1383419"/>
              <a:gd name="csX2" fmla="*/ 1046959 w 10990177"/>
              <a:gd name="csY2" fmla="*/ 0 h 1383419"/>
              <a:gd name="csX3" fmla="*/ 1625389 w 10990177"/>
              <a:gd name="csY3" fmla="*/ 0 h 1383419"/>
              <a:gd name="csX4" fmla="*/ 1874114 w 10990177"/>
              <a:gd name="csY4" fmla="*/ 0 h 1383419"/>
              <a:gd name="csX5" fmla="*/ 2232741 w 10990177"/>
              <a:gd name="csY5" fmla="*/ 0 h 1383419"/>
              <a:gd name="csX6" fmla="*/ 2921073 w 10990177"/>
              <a:gd name="csY6" fmla="*/ 0 h 1383419"/>
              <a:gd name="csX7" fmla="*/ 3389602 w 10990177"/>
              <a:gd name="csY7" fmla="*/ 0 h 1383419"/>
              <a:gd name="csX8" fmla="*/ 4077934 w 10990177"/>
              <a:gd name="csY8" fmla="*/ 0 h 1383419"/>
              <a:gd name="csX9" fmla="*/ 4876168 w 10990177"/>
              <a:gd name="csY9" fmla="*/ 0 h 1383419"/>
              <a:gd name="csX10" fmla="*/ 5454598 w 10990177"/>
              <a:gd name="csY10" fmla="*/ 0 h 1383419"/>
              <a:gd name="csX11" fmla="*/ 5813225 w 10990177"/>
              <a:gd name="csY11" fmla="*/ 0 h 1383419"/>
              <a:gd name="csX12" fmla="*/ 6501557 w 10990177"/>
              <a:gd name="csY12" fmla="*/ 0 h 1383419"/>
              <a:gd name="csX13" fmla="*/ 7299791 w 10990177"/>
              <a:gd name="csY13" fmla="*/ 0 h 1383419"/>
              <a:gd name="csX14" fmla="*/ 7768320 w 10990177"/>
              <a:gd name="csY14" fmla="*/ 0 h 1383419"/>
              <a:gd name="csX15" fmla="*/ 8456652 w 10990177"/>
              <a:gd name="csY15" fmla="*/ 0 h 1383419"/>
              <a:gd name="csX16" fmla="*/ 8925181 w 10990177"/>
              <a:gd name="csY16" fmla="*/ 0 h 1383419"/>
              <a:gd name="csX17" fmla="*/ 9723414 w 10990177"/>
              <a:gd name="csY17" fmla="*/ 0 h 1383419"/>
              <a:gd name="csX18" fmla="*/ 10411747 w 10990177"/>
              <a:gd name="csY18" fmla="*/ 0 h 1383419"/>
              <a:gd name="csX19" fmla="*/ 10990177 w 10990177"/>
              <a:gd name="csY19" fmla="*/ 0 h 1383419"/>
              <a:gd name="csX20" fmla="*/ 10990177 w 10990177"/>
              <a:gd name="csY20" fmla="*/ 447305 h 1383419"/>
              <a:gd name="csX21" fmla="*/ 10990177 w 10990177"/>
              <a:gd name="csY21" fmla="*/ 936114 h 1383419"/>
              <a:gd name="csX22" fmla="*/ 10990177 w 10990177"/>
              <a:gd name="csY22" fmla="*/ 1383419 h 1383419"/>
              <a:gd name="csX23" fmla="*/ 10191943 w 10990177"/>
              <a:gd name="csY23" fmla="*/ 1383419 h 1383419"/>
              <a:gd name="csX24" fmla="*/ 9943218 w 10990177"/>
              <a:gd name="csY24" fmla="*/ 1383419 h 1383419"/>
              <a:gd name="csX25" fmla="*/ 9254886 w 10990177"/>
              <a:gd name="csY25" fmla="*/ 1383419 h 1383419"/>
              <a:gd name="csX26" fmla="*/ 8456652 w 10990177"/>
              <a:gd name="csY26" fmla="*/ 1383419 h 1383419"/>
              <a:gd name="csX27" fmla="*/ 7988123 w 10990177"/>
              <a:gd name="csY27" fmla="*/ 1383419 h 1383419"/>
              <a:gd name="csX28" fmla="*/ 7629497 w 10990177"/>
              <a:gd name="csY28" fmla="*/ 1383419 h 1383419"/>
              <a:gd name="csX29" fmla="*/ 6941164 w 10990177"/>
              <a:gd name="csY29" fmla="*/ 1383419 h 1383419"/>
              <a:gd name="csX30" fmla="*/ 6252832 w 10990177"/>
              <a:gd name="csY30" fmla="*/ 1383419 h 1383419"/>
              <a:gd name="csX31" fmla="*/ 5784304 w 10990177"/>
              <a:gd name="csY31" fmla="*/ 1383419 h 1383419"/>
              <a:gd name="csX32" fmla="*/ 5315775 w 10990177"/>
              <a:gd name="csY32" fmla="*/ 1383419 h 1383419"/>
              <a:gd name="csX33" fmla="*/ 4627443 w 10990177"/>
              <a:gd name="csY33" fmla="*/ 1383419 h 1383419"/>
              <a:gd name="csX34" fmla="*/ 4049013 w 10990177"/>
              <a:gd name="csY34" fmla="*/ 1383419 h 1383419"/>
              <a:gd name="csX35" fmla="*/ 3360680 w 10990177"/>
              <a:gd name="csY35" fmla="*/ 1383419 h 1383419"/>
              <a:gd name="csX36" fmla="*/ 2782250 w 10990177"/>
              <a:gd name="csY36" fmla="*/ 1383419 h 1383419"/>
              <a:gd name="csX37" fmla="*/ 2093918 w 10990177"/>
              <a:gd name="csY37" fmla="*/ 1383419 h 1383419"/>
              <a:gd name="csX38" fmla="*/ 1735291 w 10990177"/>
              <a:gd name="csY38" fmla="*/ 1383419 h 1383419"/>
              <a:gd name="csX39" fmla="*/ 1266763 w 10990177"/>
              <a:gd name="csY39" fmla="*/ 1383419 h 1383419"/>
              <a:gd name="csX40" fmla="*/ 798234 w 10990177"/>
              <a:gd name="csY40" fmla="*/ 1383419 h 1383419"/>
              <a:gd name="csX41" fmla="*/ 0 w 10990177"/>
              <a:gd name="csY41" fmla="*/ 1383419 h 1383419"/>
              <a:gd name="csX42" fmla="*/ 0 w 10990177"/>
              <a:gd name="csY42" fmla="*/ 922279 h 1383419"/>
              <a:gd name="csX43" fmla="*/ 0 w 10990177"/>
              <a:gd name="csY43" fmla="*/ 474974 h 1383419"/>
              <a:gd name="csX44" fmla="*/ 0 w 10990177"/>
              <a:gd name="csY44" fmla="*/ 0 h 13834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Lst>
            <a:rect l="l" t="t" r="r" b="b"/>
            <a:pathLst>
              <a:path w="10990177" h="1383419" extrusionOk="0">
                <a:moveTo>
                  <a:pt x="0" y="0"/>
                </a:moveTo>
                <a:cubicBezTo>
                  <a:pt x="119802" y="-20484"/>
                  <a:pt x="174348" y="15671"/>
                  <a:pt x="248725" y="0"/>
                </a:cubicBezTo>
                <a:cubicBezTo>
                  <a:pt x="323102" y="-15671"/>
                  <a:pt x="756039" y="36717"/>
                  <a:pt x="1046959" y="0"/>
                </a:cubicBezTo>
                <a:cubicBezTo>
                  <a:pt x="1337879" y="-36717"/>
                  <a:pt x="1339956" y="4987"/>
                  <a:pt x="1625389" y="0"/>
                </a:cubicBezTo>
                <a:cubicBezTo>
                  <a:pt x="1910822" y="-4987"/>
                  <a:pt x="1774250" y="29014"/>
                  <a:pt x="1874114" y="0"/>
                </a:cubicBezTo>
                <a:cubicBezTo>
                  <a:pt x="1973979" y="-29014"/>
                  <a:pt x="2124392" y="12354"/>
                  <a:pt x="2232741" y="0"/>
                </a:cubicBezTo>
                <a:cubicBezTo>
                  <a:pt x="2341090" y="-12354"/>
                  <a:pt x="2770940" y="7978"/>
                  <a:pt x="2921073" y="0"/>
                </a:cubicBezTo>
                <a:cubicBezTo>
                  <a:pt x="3071206" y="-7978"/>
                  <a:pt x="3279204" y="48804"/>
                  <a:pt x="3389602" y="0"/>
                </a:cubicBezTo>
                <a:cubicBezTo>
                  <a:pt x="3500000" y="-48804"/>
                  <a:pt x="3762050" y="77889"/>
                  <a:pt x="4077934" y="0"/>
                </a:cubicBezTo>
                <a:cubicBezTo>
                  <a:pt x="4393818" y="-77889"/>
                  <a:pt x="4615011" y="93931"/>
                  <a:pt x="4876168" y="0"/>
                </a:cubicBezTo>
                <a:cubicBezTo>
                  <a:pt x="5137325" y="-93931"/>
                  <a:pt x="5328683" y="4370"/>
                  <a:pt x="5454598" y="0"/>
                </a:cubicBezTo>
                <a:cubicBezTo>
                  <a:pt x="5580513" y="-4370"/>
                  <a:pt x="5674868" y="77"/>
                  <a:pt x="5813225" y="0"/>
                </a:cubicBezTo>
                <a:cubicBezTo>
                  <a:pt x="5951582" y="-77"/>
                  <a:pt x="6175207" y="3964"/>
                  <a:pt x="6501557" y="0"/>
                </a:cubicBezTo>
                <a:cubicBezTo>
                  <a:pt x="6827907" y="-3964"/>
                  <a:pt x="7104979" y="31191"/>
                  <a:pt x="7299791" y="0"/>
                </a:cubicBezTo>
                <a:cubicBezTo>
                  <a:pt x="7494603" y="-31191"/>
                  <a:pt x="7653255" y="35400"/>
                  <a:pt x="7768320" y="0"/>
                </a:cubicBezTo>
                <a:cubicBezTo>
                  <a:pt x="7883385" y="-35400"/>
                  <a:pt x="8257054" y="14847"/>
                  <a:pt x="8456652" y="0"/>
                </a:cubicBezTo>
                <a:cubicBezTo>
                  <a:pt x="8656250" y="-14847"/>
                  <a:pt x="8696809" y="39662"/>
                  <a:pt x="8925181" y="0"/>
                </a:cubicBezTo>
                <a:cubicBezTo>
                  <a:pt x="9153553" y="-39662"/>
                  <a:pt x="9473083" y="15733"/>
                  <a:pt x="9723414" y="0"/>
                </a:cubicBezTo>
                <a:cubicBezTo>
                  <a:pt x="9973745" y="-15733"/>
                  <a:pt x="10090951" y="49628"/>
                  <a:pt x="10411747" y="0"/>
                </a:cubicBezTo>
                <a:cubicBezTo>
                  <a:pt x="10732543" y="-49628"/>
                  <a:pt x="10860923" y="31339"/>
                  <a:pt x="10990177" y="0"/>
                </a:cubicBezTo>
                <a:cubicBezTo>
                  <a:pt x="10993685" y="99204"/>
                  <a:pt x="10940793" y="277337"/>
                  <a:pt x="10990177" y="447305"/>
                </a:cubicBezTo>
                <a:cubicBezTo>
                  <a:pt x="11039561" y="617274"/>
                  <a:pt x="10956456" y="833392"/>
                  <a:pt x="10990177" y="936114"/>
                </a:cubicBezTo>
                <a:cubicBezTo>
                  <a:pt x="11023898" y="1038836"/>
                  <a:pt x="10963211" y="1194092"/>
                  <a:pt x="10990177" y="1383419"/>
                </a:cubicBezTo>
                <a:cubicBezTo>
                  <a:pt x="10822992" y="1440040"/>
                  <a:pt x="10353465" y="1296641"/>
                  <a:pt x="10191943" y="1383419"/>
                </a:cubicBezTo>
                <a:cubicBezTo>
                  <a:pt x="10030421" y="1470197"/>
                  <a:pt x="10051828" y="1367874"/>
                  <a:pt x="9943218" y="1383419"/>
                </a:cubicBezTo>
                <a:cubicBezTo>
                  <a:pt x="9834608" y="1398964"/>
                  <a:pt x="9464299" y="1382714"/>
                  <a:pt x="9254886" y="1383419"/>
                </a:cubicBezTo>
                <a:cubicBezTo>
                  <a:pt x="9045473" y="1384124"/>
                  <a:pt x="8720524" y="1337767"/>
                  <a:pt x="8456652" y="1383419"/>
                </a:cubicBezTo>
                <a:cubicBezTo>
                  <a:pt x="8192780" y="1429071"/>
                  <a:pt x="8135727" y="1329847"/>
                  <a:pt x="7988123" y="1383419"/>
                </a:cubicBezTo>
                <a:cubicBezTo>
                  <a:pt x="7840519" y="1436991"/>
                  <a:pt x="7806294" y="1370232"/>
                  <a:pt x="7629497" y="1383419"/>
                </a:cubicBezTo>
                <a:cubicBezTo>
                  <a:pt x="7452700" y="1396606"/>
                  <a:pt x="7233601" y="1378096"/>
                  <a:pt x="6941164" y="1383419"/>
                </a:cubicBezTo>
                <a:cubicBezTo>
                  <a:pt x="6648727" y="1388742"/>
                  <a:pt x="6418884" y="1319648"/>
                  <a:pt x="6252832" y="1383419"/>
                </a:cubicBezTo>
                <a:cubicBezTo>
                  <a:pt x="6086780" y="1447190"/>
                  <a:pt x="5970509" y="1371791"/>
                  <a:pt x="5784304" y="1383419"/>
                </a:cubicBezTo>
                <a:cubicBezTo>
                  <a:pt x="5598099" y="1395047"/>
                  <a:pt x="5489101" y="1338838"/>
                  <a:pt x="5315775" y="1383419"/>
                </a:cubicBezTo>
                <a:cubicBezTo>
                  <a:pt x="5142449" y="1428000"/>
                  <a:pt x="4959735" y="1303026"/>
                  <a:pt x="4627443" y="1383419"/>
                </a:cubicBezTo>
                <a:cubicBezTo>
                  <a:pt x="4295151" y="1463812"/>
                  <a:pt x="4243156" y="1380320"/>
                  <a:pt x="4049013" y="1383419"/>
                </a:cubicBezTo>
                <a:cubicBezTo>
                  <a:pt x="3854870" y="1386518"/>
                  <a:pt x="3589455" y="1347747"/>
                  <a:pt x="3360680" y="1383419"/>
                </a:cubicBezTo>
                <a:cubicBezTo>
                  <a:pt x="3131905" y="1419091"/>
                  <a:pt x="2917392" y="1356694"/>
                  <a:pt x="2782250" y="1383419"/>
                </a:cubicBezTo>
                <a:cubicBezTo>
                  <a:pt x="2647108" y="1410144"/>
                  <a:pt x="2371372" y="1328216"/>
                  <a:pt x="2093918" y="1383419"/>
                </a:cubicBezTo>
                <a:cubicBezTo>
                  <a:pt x="1816464" y="1438622"/>
                  <a:pt x="1855730" y="1348975"/>
                  <a:pt x="1735291" y="1383419"/>
                </a:cubicBezTo>
                <a:cubicBezTo>
                  <a:pt x="1614852" y="1417863"/>
                  <a:pt x="1493022" y="1330106"/>
                  <a:pt x="1266763" y="1383419"/>
                </a:cubicBezTo>
                <a:cubicBezTo>
                  <a:pt x="1040504" y="1436732"/>
                  <a:pt x="1009842" y="1327814"/>
                  <a:pt x="798234" y="1383419"/>
                </a:cubicBezTo>
                <a:cubicBezTo>
                  <a:pt x="586626" y="1439024"/>
                  <a:pt x="167108" y="1376373"/>
                  <a:pt x="0" y="1383419"/>
                </a:cubicBezTo>
                <a:cubicBezTo>
                  <a:pt x="-30107" y="1280601"/>
                  <a:pt x="21605" y="1034599"/>
                  <a:pt x="0" y="922279"/>
                </a:cubicBezTo>
                <a:cubicBezTo>
                  <a:pt x="-21605" y="809959"/>
                  <a:pt x="13248" y="649537"/>
                  <a:pt x="0" y="474974"/>
                </a:cubicBezTo>
                <a:cubicBezTo>
                  <a:pt x="-13248" y="300412"/>
                  <a:pt x="8940" y="154934"/>
                  <a:pt x="0" y="0"/>
                </a:cubicBezTo>
                <a:close/>
              </a:path>
            </a:pathLst>
          </a:custGeom>
          <a:noFill/>
          <a:ln>
            <a:solidFill>
              <a:schemeClr val="accent3">
                <a:lumMod val="60000"/>
                <a:lumOff val="40000"/>
              </a:schemeClr>
            </a:solidFill>
            <a:prstDash val="sysDot"/>
            <a:extLst>
              <a:ext uri="{C807C97D-BFC1-408E-A445-0C87EB9F89A2}">
                <ask:lineSketchStyleProps xmlns:ask="http://schemas.microsoft.com/office/drawing/2018/sketchyshapes" sd="1502860790">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algn="l"/>
            <a:endParaRPr lang="en-US" sz="1600" err="1">
              <a:solidFill>
                <a:prstClr val="white"/>
              </a:solidFill>
            </a:endParaRPr>
          </a:p>
        </p:txBody>
      </p:sp>
      <p:sp>
        <p:nvSpPr>
          <p:cNvPr id="5" name="Speech Bubble: Rectangle with Corners Rounded 4">
            <a:extLst>
              <a:ext uri="{FF2B5EF4-FFF2-40B4-BE49-F238E27FC236}">
                <a16:creationId xmlns:a16="http://schemas.microsoft.com/office/drawing/2014/main" id="{267F8796-667F-C167-DCEA-A4761159108A}"/>
              </a:ext>
            </a:extLst>
          </p:cNvPr>
          <p:cNvSpPr/>
          <p:nvPr/>
        </p:nvSpPr>
        <p:spPr>
          <a:xfrm>
            <a:off x="2386015" y="1977538"/>
            <a:ext cx="2939305" cy="640080"/>
          </a:xfrm>
          <a:prstGeom prst="wedgeRoundRectCallout">
            <a:avLst>
              <a:gd name="adj1" fmla="val 79051"/>
              <a:gd name="adj2" fmla="val -2183"/>
              <a:gd name="adj3" fmla="val 16667"/>
            </a:avLst>
          </a:prstGeom>
          <a:ln/>
        </p:spPr>
        <p:style>
          <a:lnRef idx="1">
            <a:schemeClr val="accent3"/>
          </a:lnRef>
          <a:fillRef idx="2">
            <a:schemeClr val="accent3"/>
          </a:fillRef>
          <a:effectRef idx="1">
            <a:schemeClr val="accent3"/>
          </a:effectRef>
          <a:fontRef idx="minor">
            <a:schemeClr val="dk1"/>
          </a:fontRef>
        </p:style>
        <p:txBody>
          <a:bodyPr lIns="182880" tIns="182880" rIns="182880" bIns="182880" rtlCol="0" anchor="t"/>
          <a:lstStyle/>
          <a:p>
            <a:pPr algn="l"/>
            <a:r>
              <a:rPr lang="en-US" sz="900">
                <a:solidFill>
                  <a:schemeClr val="bg2"/>
                </a:solidFill>
              </a:rPr>
              <a:t>In BRIM, upfront service under AFE model, should book in agent revenue in AFE entity.</a:t>
            </a:r>
          </a:p>
        </p:txBody>
      </p:sp>
      <p:sp>
        <p:nvSpPr>
          <p:cNvPr id="8" name="Speech Bubble: Rectangle with Corners Rounded 7">
            <a:extLst>
              <a:ext uri="{FF2B5EF4-FFF2-40B4-BE49-F238E27FC236}">
                <a16:creationId xmlns:a16="http://schemas.microsoft.com/office/drawing/2014/main" id="{442EE68C-1E88-290A-CFBF-6106066F79BE}"/>
              </a:ext>
            </a:extLst>
          </p:cNvPr>
          <p:cNvSpPr/>
          <p:nvPr/>
        </p:nvSpPr>
        <p:spPr>
          <a:xfrm>
            <a:off x="2254341" y="778495"/>
            <a:ext cx="3202655" cy="1266414"/>
          </a:xfrm>
          <a:prstGeom prst="wedgeRoundRectCallout">
            <a:avLst>
              <a:gd name="adj1" fmla="val 69586"/>
              <a:gd name="adj2" fmla="val 44988"/>
              <a:gd name="adj3" fmla="val 16667"/>
            </a:avLst>
          </a:prstGeom>
          <a:ln/>
        </p:spPr>
        <p:style>
          <a:lnRef idx="1">
            <a:schemeClr val="accent6"/>
          </a:lnRef>
          <a:fillRef idx="2">
            <a:schemeClr val="accent6"/>
          </a:fillRef>
          <a:effectRef idx="1">
            <a:schemeClr val="accent6"/>
          </a:effectRef>
          <a:fontRef idx="minor">
            <a:schemeClr val="dk1"/>
          </a:fontRef>
        </p:style>
        <p:txBody>
          <a:bodyPr lIns="182880" tIns="182880" rIns="182880" bIns="182880" rtlCol="0" anchor="t"/>
          <a:lstStyle/>
          <a:p>
            <a:pPr algn="l"/>
            <a:r>
              <a:rPr lang="en-US" sz="900">
                <a:solidFill>
                  <a:schemeClr val="bg2"/>
                </a:solidFill>
              </a:rPr>
              <a:t>I</a:t>
            </a:r>
            <a:r>
              <a:rPr lang="en-US" altLang="zh-CN" sz="900">
                <a:solidFill>
                  <a:schemeClr val="bg2"/>
                </a:solidFill>
              </a:rPr>
              <a:t>n normal lease,</a:t>
            </a:r>
            <a:r>
              <a:rPr lang="zh-CN" altLang="en-US" sz="900">
                <a:solidFill>
                  <a:schemeClr val="bg2"/>
                </a:solidFill>
              </a:rPr>
              <a:t> </a:t>
            </a:r>
            <a:r>
              <a:rPr lang="en-US" sz="900">
                <a:solidFill>
                  <a:schemeClr val="bg2"/>
                </a:solidFill>
              </a:rPr>
              <a:t>upfront service is recognized upon customer acceptance, and post in LTAR, and offset in monthly billing, at the last term in lease, LTAR is cleared. So, in extension, upfront service is booked in 5010401 directly. T</a:t>
            </a:r>
            <a:r>
              <a:rPr lang="en-US" altLang="zh-CN" sz="900">
                <a:solidFill>
                  <a:schemeClr val="bg2"/>
                </a:solidFill>
              </a:rPr>
              <a:t>here is no actual upfront service(ship to home) for customer in extension, so recognize the revenue.</a:t>
            </a:r>
            <a:endParaRPr lang="en-US" sz="900">
              <a:solidFill>
                <a:schemeClr val="bg2"/>
              </a:solidFill>
            </a:endParaRPr>
          </a:p>
        </p:txBody>
      </p:sp>
      <p:sp>
        <p:nvSpPr>
          <p:cNvPr id="9" name="Speech Bubble: Rectangle with Corners Rounded 8">
            <a:extLst>
              <a:ext uri="{FF2B5EF4-FFF2-40B4-BE49-F238E27FC236}">
                <a16:creationId xmlns:a16="http://schemas.microsoft.com/office/drawing/2014/main" id="{94FDD089-2E25-A28C-A1CA-BDE8BBA2B4C3}"/>
              </a:ext>
            </a:extLst>
          </p:cNvPr>
          <p:cNvSpPr/>
          <p:nvPr/>
        </p:nvSpPr>
        <p:spPr>
          <a:xfrm>
            <a:off x="11372562" y="2914577"/>
            <a:ext cx="2899619" cy="910495"/>
          </a:xfrm>
          <a:prstGeom prst="wedgeRoundRectCallout">
            <a:avLst>
              <a:gd name="adj1" fmla="val -58747"/>
              <a:gd name="adj2" fmla="val 34634"/>
              <a:gd name="adj3" fmla="val 16667"/>
            </a:avLst>
          </a:prstGeom>
          <a:ln/>
        </p:spPr>
        <p:style>
          <a:lnRef idx="1">
            <a:schemeClr val="accent6"/>
          </a:lnRef>
          <a:fillRef idx="2">
            <a:schemeClr val="accent6"/>
          </a:fillRef>
          <a:effectRef idx="1">
            <a:schemeClr val="accent6"/>
          </a:effectRef>
          <a:fontRef idx="minor">
            <a:schemeClr val="dk1"/>
          </a:fontRef>
        </p:style>
        <p:txBody>
          <a:bodyPr lIns="182880" tIns="182880" rIns="182880" bIns="182880" rtlCol="0" anchor="t"/>
          <a:lstStyle/>
          <a:p>
            <a:pPr algn="l"/>
            <a:r>
              <a:rPr lang="en-US" sz="900">
                <a:solidFill>
                  <a:schemeClr val="bg2"/>
                </a:solidFill>
              </a:rPr>
              <a:t>No funded premier support, so no ICO vouchers that AFE fund service from S&amp;D upon customer acceptance. Therefore,  AFE need to transfer the premier support monthly.</a:t>
            </a:r>
          </a:p>
        </p:txBody>
      </p:sp>
      <p:sp>
        <p:nvSpPr>
          <p:cNvPr id="12" name="标题 2">
            <a:extLst>
              <a:ext uri="{FF2B5EF4-FFF2-40B4-BE49-F238E27FC236}">
                <a16:creationId xmlns:a16="http://schemas.microsoft.com/office/drawing/2014/main" id="{E07BF10F-B963-538C-98EB-BA18E8C53FFD}"/>
              </a:ext>
            </a:extLst>
          </p:cNvPr>
          <p:cNvSpPr txBox="1">
            <a:spLocks/>
          </p:cNvSpPr>
          <p:nvPr/>
        </p:nvSpPr>
        <p:spPr>
          <a:xfrm>
            <a:off x="188462" y="145288"/>
            <a:ext cx="4911007" cy="698500"/>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zh-CN" sz="3600"/>
              <a:t>AFE EOT-Extension OL</a:t>
            </a:r>
            <a:endParaRPr lang="zh-CN" altLang="en-US" sz="3600"/>
          </a:p>
        </p:txBody>
      </p:sp>
    </p:spTree>
    <p:extLst>
      <p:ext uri="{BB962C8B-B14F-4D97-AF65-F5344CB8AC3E}">
        <p14:creationId xmlns:p14="http://schemas.microsoft.com/office/powerpoint/2010/main" val="730422453"/>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25927AE6-A1A6-4406-A771-FFD6D4F99B88}"/>
              </a:ext>
            </a:extLst>
          </p:cNvPr>
          <p:cNvSpPr>
            <a:spLocks noGrp="1"/>
          </p:cNvSpPr>
          <p:nvPr>
            <p:ph type="sldNum" sz="quarter" idx="4"/>
          </p:nvPr>
        </p:nvSpPr>
        <p:spPr>
          <a:xfrm>
            <a:off x="11752974" y="6473952"/>
            <a:ext cx="439026" cy="155448"/>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6D22F896-40B5-4ADD-8801-0D06FADFA095}" type="slidenum">
              <a:rPr lang="en-US" smtClean="0"/>
              <a:pPr marL="0" marR="0" lvl="0" indent="0" algn="ctr" defTabSz="914400" rtl="0" eaLnBrk="1" fontAlgn="auto" latinLnBrk="0" hangingPunct="1">
                <a:lnSpc>
                  <a:spcPct val="100000"/>
                </a:lnSpc>
                <a:spcBef>
                  <a:spcPts val="0"/>
                </a:spcBef>
                <a:spcAft>
                  <a:spcPts val="0"/>
                </a:spcAft>
                <a:buClrTx/>
                <a:buSzTx/>
                <a:buFontTx/>
                <a:buNone/>
                <a:tabLst/>
                <a:defRPr/>
              </a:pPr>
              <a:t>142</a:t>
            </a:fld>
            <a:endPar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graphicFrame>
        <p:nvGraphicFramePr>
          <p:cNvPr id="16" name="Table 15">
            <a:extLst>
              <a:ext uri="{FF2B5EF4-FFF2-40B4-BE49-F238E27FC236}">
                <a16:creationId xmlns:a16="http://schemas.microsoft.com/office/drawing/2014/main" id="{6D3A2EC0-DAF0-4F13-A3E6-2F019E39CEE1}"/>
              </a:ext>
            </a:extLst>
          </p:cNvPr>
          <p:cNvGraphicFramePr>
            <a:graphicFrameLocks noGrp="1"/>
          </p:cNvGraphicFramePr>
          <p:nvPr/>
        </p:nvGraphicFramePr>
        <p:xfrm>
          <a:off x="5806568" y="875941"/>
          <a:ext cx="5218866" cy="1296000"/>
        </p:xfrm>
        <a:graphic>
          <a:graphicData uri="http://schemas.openxmlformats.org/drawingml/2006/table">
            <a:tbl>
              <a:tblPr firstRow="1">
                <a:tableStyleId>{5C22544A-7EE6-4342-B048-85BDC9FD1C3A}</a:tableStyleId>
              </a:tblPr>
              <a:tblGrid>
                <a:gridCol w="417632">
                  <a:extLst>
                    <a:ext uri="{9D8B030D-6E8A-4147-A177-3AD203B41FA5}">
                      <a16:colId xmlns:a16="http://schemas.microsoft.com/office/drawing/2014/main" val="3200314054"/>
                    </a:ext>
                  </a:extLst>
                </a:gridCol>
                <a:gridCol w="250579">
                  <a:extLst>
                    <a:ext uri="{9D8B030D-6E8A-4147-A177-3AD203B41FA5}">
                      <a16:colId xmlns:a16="http://schemas.microsoft.com/office/drawing/2014/main" val="1913271583"/>
                    </a:ext>
                  </a:extLst>
                </a:gridCol>
                <a:gridCol w="613085">
                  <a:extLst>
                    <a:ext uri="{9D8B030D-6E8A-4147-A177-3AD203B41FA5}">
                      <a16:colId xmlns:a16="http://schemas.microsoft.com/office/drawing/2014/main" val="1797281345"/>
                    </a:ext>
                  </a:extLst>
                </a:gridCol>
                <a:gridCol w="2456177">
                  <a:extLst>
                    <a:ext uri="{9D8B030D-6E8A-4147-A177-3AD203B41FA5}">
                      <a16:colId xmlns:a16="http://schemas.microsoft.com/office/drawing/2014/main" val="2743739350"/>
                    </a:ext>
                  </a:extLst>
                </a:gridCol>
                <a:gridCol w="334228">
                  <a:extLst>
                    <a:ext uri="{9D8B030D-6E8A-4147-A177-3AD203B41FA5}">
                      <a16:colId xmlns:a16="http://schemas.microsoft.com/office/drawing/2014/main" val="2056723756"/>
                    </a:ext>
                  </a:extLst>
                </a:gridCol>
                <a:gridCol w="334228">
                  <a:extLst>
                    <a:ext uri="{9D8B030D-6E8A-4147-A177-3AD203B41FA5}">
                      <a16:colId xmlns:a16="http://schemas.microsoft.com/office/drawing/2014/main" val="4073315665"/>
                    </a:ext>
                  </a:extLst>
                </a:gridCol>
                <a:gridCol w="812937">
                  <a:extLst>
                    <a:ext uri="{9D8B030D-6E8A-4147-A177-3AD203B41FA5}">
                      <a16:colId xmlns:a16="http://schemas.microsoft.com/office/drawing/2014/main" val="848560102"/>
                    </a:ext>
                  </a:extLst>
                </a:gridCol>
              </a:tblGrid>
              <a:tr h="162000">
                <a:tc rowSpan="8">
                  <a:txBody>
                    <a:bodyPr/>
                    <a:lstStyle/>
                    <a:p>
                      <a:pPr algn="ctr" fontAlgn="ctr"/>
                      <a:r>
                        <a:rPr lang="en-US" sz="1200" u="none" strike="noStrike">
                          <a:solidFill>
                            <a:schemeClr val="bg1"/>
                          </a:solidFill>
                          <a:effectLst/>
                        </a:rPr>
                        <a:t>AFE</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Recognize FL Revenue and Cost upon Commencement of lease extension</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335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335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Lease Receivable - Interest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26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704665907"/>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309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064797181"/>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501530050"/>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Residual Value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65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68956058"/>
                  </a:ext>
                </a:extLst>
              </a:tr>
            </a:tbl>
          </a:graphicData>
        </a:graphic>
      </p:graphicFrame>
      <p:graphicFrame>
        <p:nvGraphicFramePr>
          <p:cNvPr id="9" name="Table 8">
            <a:extLst>
              <a:ext uri="{FF2B5EF4-FFF2-40B4-BE49-F238E27FC236}">
                <a16:creationId xmlns:a16="http://schemas.microsoft.com/office/drawing/2014/main" id="{227052D3-635C-E958-C36F-08F8B752EF04}"/>
              </a:ext>
            </a:extLst>
          </p:cNvPr>
          <p:cNvGraphicFramePr>
            <a:graphicFrameLocks noGrp="1"/>
          </p:cNvGraphicFramePr>
          <p:nvPr/>
        </p:nvGraphicFramePr>
        <p:xfrm>
          <a:off x="330762" y="4869307"/>
          <a:ext cx="5172104" cy="810000"/>
        </p:xfrm>
        <a:graphic>
          <a:graphicData uri="http://schemas.openxmlformats.org/drawingml/2006/table">
            <a:tbl>
              <a:tblPr firstRow="1">
                <a:tableStyleId>{5C22544A-7EE6-4342-B048-85BDC9FD1C3A}</a:tableStyleId>
              </a:tblPr>
              <a:tblGrid>
                <a:gridCol w="438530">
                  <a:extLst>
                    <a:ext uri="{9D8B030D-6E8A-4147-A177-3AD203B41FA5}">
                      <a16:colId xmlns:a16="http://schemas.microsoft.com/office/drawing/2014/main" val="3200314054"/>
                    </a:ext>
                  </a:extLst>
                </a:gridCol>
                <a:gridCol w="198769">
                  <a:extLst>
                    <a:ext uri="{9D8B030D-6E8A-4147-A177-3AD203B41FA5}">
                      <a16:colId xmlns:a16="http://schemas.microsoft.com/office/drawing/2014/main" val="1913271583"/>
                    </a:ext>
                  </a:extLst>
                </a:gridCol>
                <a:gridCol w="727962">
                  <a:extLst>
                    <a:ext uri="{9D8B030D-6E8A-4147-A177-3AD203B41FA5}">
                      <a16:colId xmlns:a16="http://schemas.microsoft.com/office/drawing/2014/main" val="1797281345"/>
                    </a:ext>
                  </a:extLst>
                </a:gridCol>
                <a:gridCol w="2479187">
                  <a:extLst>
                    <a:ext uri="{9D8B030D-6E8A-4147-A177-3AD203B41FA5}">
                      <a16:colId xmlns:a16="http://schemas.microsoft.com/office/drawing/2014/main" val="2743739350"/>
                    </a:ext>
                  </a:extLst>
                </a:gridCol>
                <a:gridCol w="394096">
                  <a:extLst>
                    <a:ext uri="{9D8B030D-6E8A-4147-A177-3AD203B41FA5}">
                      <a16:colId xmlns:a16="http://schemas.microsoft.com/office/drawing/2014/main" val="2056723756"/>
                    </a:ext>
                  </a:extLst>
                </a:gridCol>
                <a:gridCol w="386369">
                  <a:extLst>
                    <a:ext uri="{9D8B030D-6E8A-4147-A177-3AD203B41FA5}">
                      <a16:colId xmlns:a16="http://schemas.microsoft.com/office/drawing/2014/main" val="4073315665"/>
                    </a:ext>
                  </a:extLst>
                </a:gridCol>
                <a:gridCol w="547191">
                  <a:extLst>
                    <a:ext uri="{9D8B030D-6E8A-4147-A177-3AD203B41FA5}">
                      <a16:colId xmlns:a16="http://schemas.microsoft.com/office/drawing/2014/main" val="848560102"/>
                    </a:ext>
                  </a:extLst>
                </a:gridCol>
              </a:tblGrid>
              <a:tr h="162000">
                <a:tc rowSpan="5">
                  <a:txBody>
                    <a:bodyPr/>
                    <a:lstStyle/>
                    <a:p>
                      <a:pPr algn="ctr" fontAlgn="ctr"/>
                      <a:r>
                        <a:rPr lang="en-US" sz="1200" b="1" i="0" u="none" strike="noStrike">
                          <a:solidFill>
                            <a:schemeClr val="bg1"/>
                          </a:solidFill>
                          <a:effectLst/>
                          <a:latin typeface="Arial"/>
                        </a:rPr>
                        <a:t>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sz="1000" b="1" u="none" strike="noStrike" kern="1200">
                          <a:solidFill>
                            <a:schemeClr val="lt1"/>
                          </a:solidFill>
                          <a:effectLst/>
                          <a:latin typeface="+mn-lt"/>
                          <a:ea typeface="+mn-ea"/>
                          <a:cs typeface="+mn-cs"/>
                        </a:rPr>
                        <a:t>End of Lease Upon Device Collection</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chemeClr val="tx1"/>
                          </a:solidFill>
                          <a:effectLst/>
                          <a:uLnTx/>
                          <a:uFillTx/>
                          <a:latin typeface="+mn-lt"/>
                          <a:ea typeface="+mn-ea"/>
                          <a:cs typeface="+mn-cs"/>
                        </a:rPr>
                        <a:t>Recognition of revenue for Service performed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chemeClr val="tx1"/>
                          </a:solidFill>
                          <a:effectLst/>
                          <a:uLnTx/>
                          <a:uFillTx/>
                          <a:latin typeface="+mn-lt"/>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Deferred Revenue</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Services Revenue DaaS</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panose="02010600030101010101" pitchFamily="2" charset="-122"/>
                          <a:cs typeface="+mn-cs"/>
                        </a:rPr>
                        <a:t>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14759219"/>
                  </a:ext>
                </a:extLst>
              </a:tr>
            </a:tbl>
          </a:graphicData>
        </a:graphic>
      </p:graphicFrame>
      <p:grpSp>
        <p:nvGrpSpPr>
          <p:cNvPr id="26" name="Group 25">
            <a:extLst>
              <a:ext uri="{FF2B5EF4-FFF2-40B4-BE49-F238E27FC236}">
                <a16:creationId xmlns:a16="http://schemas.microsoft.com/office/drawing/2014/main" id="{0222AEA7-874A-B3CB-0ED7-54408C29800E}"/>
              </a:ext>
            </a:extLst>
          </p:cNvPr>
          <p:cNvGrpSpPr/>
          <p:nvPr/>
        </p:nvGrpSpPr>
        <p:grpSpPr>
          <a:xfrm>
            <a:off x="11159606" y="0"/>
            <a:ext cx="1032394" cy="734212"/>
            <a:chOff x="11159606" y="0"/>
            <a:chExt cx="1032394" cy="734212"/>
          </a:xfrm>
        </p:grpSpPr>
        <p:sp>
          <p:nvSpPr>
            <p:cNvPr id="22" name="Rectangle: Rounded Corners 21">
              <a:extLst>
                <a:ext uri="{FF2B5EF4-FFF2-40B4-BE49-F238E27FC236}">
                  <a16:creationId xmlns:a16="http://schemas.microsoft.com/office/drawing/2014/main" id="{E2EE1E71-BBEA-5B44-8B3F-387E2CD54031}"/>
                </a:ext>
              </a:extLst>
            </p:cNvPr>
            <p:cNvSpPr/>
            <p:nvPr/>
          </p:nvSpPr>
          <p:spPr>
            <a:xfrm>
              <a:off x="11159608" y="251049"/>
              <a:ext cx="1032392" cy="21798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BRIM</a:t>
              </a:r>
            </a:p>
          </p:txBody>
        </p:sp>
        <p:sp>
          <p:nvSpPr>
            <p:cNvPr id="24" name="Rectangle: Rounded Corners 23">
              <a:extLst>
                <a:ext uri="{FF2B5EF4-FFF2-40B4-BE49-F238E27FC236}">
                  <a16:creationId xmlns:a16="http://schemas.microsoft.com/office/drawing/2014/main" id="{5AD08A48-1059-4D6D-DAF1-A66BC8256A09}"/>
                </a:ext>
              </a:extLst>
            </p:cNvPr>
            <p:cNvSpPr/>
            <p:nvPr/>
          </p:nvSpPr>
          <p:spPr>
            <a:xfrm>
              <a:off x="11159608" y="0"/>
              <a:ext cx="1032392" cy="21798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ECC</a:t>
              </a:r>
            </a:p>
          </p:txBody>
        </p:sp>
        <p:sp>
          <p:nvSpPr>
            <p:cNvPr id="25" name="Rectangle: Rounded Corners 24">
              <a:extLst>
                <a:ext uri="{FF2B5EF4-FFF2-40B4-BE49-F238E27FC236}">
                  <a16:creationId xmlns:a16="http://schemas.microsoft.com/office/drawing/2014/main" id="{267EE92E-CD20-12EE-6249-2D232C870788}"/>
                </a:ext>
              </a:extLst>
            </p:cNvPr>
            <p:cNvSpPr/>
            <p:nvPr/>
          </p:nvSpPr>
          <p:spPr>
            <a:xfrm>
              <a:off x="11159606" y="516231"/>
              <a:ext cx="1032393" cy="21798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a:ln>
                    <a:noFill/>
                  </a:ln>
                  <a:solidFill>
                    <a:prstClr val="white"/>
                  </a:solidFill>
                  <a:effectLst/>
                  <a:uLnTx/>
                  <a:uFillTx/>
                  <a:latin typeface="Arial"/>
                  <a:ea typeface="+mn-ea"/>
                  <a:cs typeface="+mn-cs"/>
                </a:rPr>
                <a:t>Odessa</a:t>
              </a:r>
            </a:p>
          </p:txBody>
        </p:sp>
      </p:grpSp>
      <p:graphicFrame>
        <p:nvGraphicFramePr>
          <p:cNvPr id="13" name="Table 12">
            <a:extLst>
              <a:ext uri="{FF2B5EF4-FFF2-40B4-BE49-F238E27FC236}">
                <a16:creationId xmlns:a16="http://schemas.microsoft.com/office/drawing/2014/main" id="{FC6B2848-7BA2-2ABE-DFC1-427EDEA9D998}"/>
              </a:ext>
            </a:extLst>
          </p:cNvPr>
          <p:cNvGraphicFramePr>
            <a:graphicFrameLocks noGrp="1"/>
          </p:cNvGraphicFramePr>
          <p:nvPr/>
        </p:nvGraphicFramePr>
        <p:xfrm>
          <a:off x="5803895" y="2242083"/>
          <a:ext cx="5223823" cy="2106000"/>
        </p:xfrm>
        <a:graphic>
          <a:graphicData uri="http://schemas.openxmlformats.org/drawingml/2006/table">
            <a:tbl>
              <a:tblPr firstRow="1">
                <a:tableStyleId>{5C22544A-7EE6-4342-B048-85BDC9FD1C3A}</a:tableStyleId>
              </a:tblPr>
              <a:tblGrid>
                <a:gridCol w="418028">
                  <a:extLst>
                    <a:ext uri="{9D8B030D-6E8A-4147-A177-3AD203B41FA5}">
                      <a16:colId xmlns:a16="http://schemas.microsoft.com/office/drawing/2014/main" val="3200314054"/>
                    </a:ext>
                  </a:extLst>
                </a:gridCol>
                <a:gridCol w="250816">
                  <a:extLst>
                    <a:ext uri="{9D8B030D-6E8A-4147-A177-3AD203B41FA5}">
                      <a16:colId xmlns:a16="http://schemas.microsoft.com/office/drawing/2014/main" val="1913271583"/>
                    </a:ext>
                  </a:extLst>
                </a:gridCol>
                <a:gridCol w="613668">
                  <a:extLst>
                    <a:ext uri="{9D8B030D-6E8A-4147-A177-3AD203B41FA5}">
                      <a16:colId xmlns:a16="http://schemas.microsoft.com/office/drawing/2014/main" val="1797281345"/>
                    </a:ext>
                  </a:extLst>
                </a:gridCol>
                <a:gridCol w="2539264">
                  <a:extLst>
                    <a:ext uri="{9D8B030D-6E8A-4147-A177-3AD203B41FA5}">
                      <a16:colId xmlns:a16="http://schemas.microsoft.com/office/drawing/2014/main" val="2743739350"/>
                    </a:ext>
                  </a:extLst>
                </a:gridCol>
                <a:gridCol w="380194">
                  <a:extLst>
                    <a:ext uri="{9D8B030D-6E8A-4147-A177-3AD203B41FA5}">
                      <a16:colId xmlns:a16="http://schemas.microsoft.com/office/drawing/2014/main" val="2056723756"/>
                    </a:ext>
                  </a:extLst>
                </a:gridCol>
                <a:gridCol w="380194">
                  <a:extLst>
                    <a:ext uri="{9D8B030D-6E8A-4147-A177-3AD203B41FA5}">
                      <a16:colId xmlns:a16="http://schemas.microsoft.com/office/drawing/2014/main" val="4073315665"/>
                    </a:ext>
                  </a:extLst>
                </a:gridCol>
                <a:gridCol w="641659">
                  <a:extLst>
                    <a:ext uri="{9D8B030D-6E8A-4147-A177-3AD203B41FA5}">
                      <a16:colId xmlns:a16="http://schemas.microsoft.com/office/drawing/2014/main" val="848560102"/>
                    </a:ext>
                  </a:extLst>
                </a:gridCol>
              </a:tblGrid>
              <a:tr h="162000">
                <a:tc rowSpan="13">
                  <a:txBody>
                    <a:bodyPr/>
                    <a:lstStyle/>
                    <a:p>
                      <a:pPr algn="ctr" fontAlgn="ctr"/>
                      <a:r>
                        <a:rPr lang="en-US" sz="1200" b="1" i="0" u="none" strike="noStrike">
                          <a:solidFill>
                            <a:schemeClr val="bg1"/>
                          </a:solidFill>
                          <a:effectLst/>
                          <a:latin typeface="Arial"/>
                        </a:rPr>
                        <a:t>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Monthly invoice from Lenovo to Customer</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endParaRPr lang="en-US" sz="1000" b="1" u="none" strike="noStrike" kern="1200">
                        <a:solidFill>
                          <a:schemeClr val="tx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1130103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等线"/>
                          <a:cs typeface="+mn-cs"/>
                        </a:rPr>
                        <a:t>Account Receivable FL - </a:t>
                      </a:r>
                      <a:r>
                        <a:rPr lang="en-US" altLang="zh-CN" sz="1000" b="0" i="0" u="none" strike="noStrike" kern="1200">
                          <a:solidFill>
                            <a:srgbClr val="000000"/>
                          </a:solidFill>
                          <a:effectLst/>
                          <a:latin typeface="+mn-lt"/>
                          <a:ea typeface="等线"/>
                          <a:cs typeface="+mn-cs"/>
                        </a:rPr>
                        <a:t>customer</a:t>
                      </a:r>
                      <a:endParaRPr lang="en-US" sz="1000" b="0" i="0" u="none" strike="noStrike" kern="1200">
                        <a:solidFill>
                          <a:srgbClr val="000000"/>
                        </a:solidFill>
                        <a:effectLst/>
                        <a:latin typeface="+mn-lt"/>
                        <a:ea typeface="等线"/>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35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sz="1000" b="0" i="0" u="none" strike="noStrike">
                          <a:solidFill>
                            <a:schemeClr val="tx1"/>
                          </a:solidFill>
                          <a:effectLst/>
                          <a:latin typeface="+mn-lt"/>
                        </a:rPr>
                        <a:t>1400301</a:t>
                      </a:r>
                      <a:endParaRPr kumimoji="0" lang="en-US" altLang="zh-CN" sz="1000" b="0" i="0" u="none" strike="noStrike" kern="1200" cap="none" spc="0" normalizeH="0" baseline="0" noProof="0">
                        <a:ln>
                          <a:noFill/>
                        </a:ln>
                        <a:solidFill>
                          <a:schemeClr val="tx1"/>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chemeClr val="tx1"/>
                          </a:solidFill>
                          <a:effectLst/>
                          <a:latin typeface="+mn-lt"/>
                        </a:rPr>
                        <a:t>Lease Receivable</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a:lnSpc>
                          <a:spcPct val="100000"/>
                        </a:lnSpc>
                        <a:spcBef>
                          <a:spcPts val="0"/>
                        </a:spcBef>
                        <a:spcAft>
                          <a:spcPts val="0"/>
                        </a:spcAft>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704665907"/>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1400303</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Lease Receivable - Interest</a:t>
                      </a:r>
                      <a:r>
                        <a:rPr lang="en-US" sz="1000" b="0" i="0" u="none" strike="noStrike" noProof="0">
                          <a:solidFill>
                            <a:schemeClr val="tx1"/>
                          </a:solidFill>
                          <a:effectLst/>
                          <a:latin typeface="Arial"/>
                        </a:rPr>
                        <a:t>--HW revenue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a:lnSpc>
                          <a:spcPct val="100000"/>
                        </a:lnSpc>
                        <a:spcBef>
                          <a:spcPts val="0"/>
                        </a:spcBef>
                        <a:spcAft>
                          <a:spcPts val="0"/>
                        </a:spcAft>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U4/20</a:t>
                      </a:r>
                      <a:endParaRPr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994063777"/>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r>
                        <a:rPr lang="en-US" sz="1000" b="0" i="0" u="none" strike="noStrike" noProof="0">
                          <a:solidFill>
                            <a:schemeClr val="tx1"/>
                          </a:solidFill>
                          <a:effectLst/>
                          <a:latin typeface="Arial"/>
                        </a:rPr>
                        <a:t>--HW revenue</a:t>
                      </a:r>
                      <a:endParaRPr lang="en-US" sz="1000" b="0" i="0" u="none" strike="noStrike">
                        <a:solidFill>
                          <a:schemeClr val="tx1"/>
                        </a:solidFill>
                        <a:effectLst/>
                        <a:latin typeface="+mn-lt"/>
                      </a:endParaRP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U4/20</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3064797181"/>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1400307</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Residual Value--</a:t>
                      </a:r>
                      <a:r>
                        <a:rPr lang="en-US" sz="1000" b="0" i="0" u="none" strike="noStrike" noProof="0">
                          <a:solidFill>
                            <a:srgbClr val="000000"/>
                          </a:solidFill>
                          <a:effectLst/>
                        </a:rPr>
                        <a:t>underlying residual value</a:t>
                      </a:r>
                      <a:endParaRPr lang="en-US" sz="1000" b="0" i="0" u="none" strike="noStrike">
                        <a:solidFill>
                          <a:srgbClr val="000000"/>
                        </a:solidFill>
                        <a:effectLst/>
                        <a:latin typeface="+mn-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U4/20</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2501530050"/>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l" fontAlgn="b"/>
                      <a:r>
                        <a:rPr lang="en-US" sz="1000" b="0" i="0" u="none" strike="noStrike">
                          <a:solidFill>
                            <a:srgbClr val="000000"/>
                          </a:solidFill>
                          <a:effectLst/>
                          <a:latin typeface="+mn-lt"/>
                        </a:rPr>
                        <a:t>Interest Income</a:t>
                      </a:r>
                      <a:r>
                        <a:rPr lang="en-US" sz="1000" b="0" i="0" u="none" strike="noStrike" noProof="0">
                          <a:solidFill>
                            <a:srgbClr val="000000"/>
                          </a:solidFill>
                          <a:effectLst/>
                          <a:latin typeface="Arial"/>
                        </a:rPr>
                        <a:t>--underlying residual value</a:t>
                      </a:r>
                    </a:p>
                  </a:txBody>
                  <a:tcPr marL="6350" marR="6350" marT="635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U4/20</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6AC346"/>
                    </a:solidFill>
                  </a:tcPr>
                </a:tc>
                <a:extLst>
                  <a:ext uri="{0D108BD9-81ED-4DB2-BD59-A6C34878D82A}">
                    <a16:rowId xmlns:a16="http://schemas.microsoft.com/office/drawing/2014/main" val="1735836802"/>
                  </a:ext>
                </a:extLst>
              </a:tr>
              <a:tr h="162000">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b"/>
                      <a:r>
                        <a:rPr kumimoji="0" lang="en-US" sz="1000" b="0" i="0" u="none" strike="noStrike" kern="1200" cap="none" spc="0" normalizeH="0" baseline="0" noProof="0">
                          <a:ln>
                            <a:noFill/>
                          </a:ln>
                          <a:solidFill>
                            <a:srgbClr val="000000"/>
                          </a:solidFill>
                          <a:effectLst/>
                          <a:highlight>
                            <a:srgbClr val="00FF00"/>
                          </a:highlight>
                          <a:uLnTx/>
                          <a:uFillTx/>
                          <a:latin typeface="+mn-lt"/>
                          <a:ea typeface="+mn-ea"/>
                          <a:cs typeface="+mn-cs"/>
                        </a:rPr>
                        <a:t>5010514</a:t>
                      </a:r>
                      <a:endParaRPr lang="en-US" sz="1000" b="0" i="0" u="none" strike="noStrike">
                        <a:solidFill>
                          <a:srgbClr val="000000"/>
                        </a:solidFill>
                        <a:effectLst/>
                        <a:latin typeface="+mn-lt"/>
                      </a:endParaRP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rtl="0" fontAlgn="b"/>
                      <a:r>
                        <a:rPr lang="en-US" sz="1000" b="0" i="0" u="none" strike="noStrike">
                          <a:solidFill>
                            <a:srgbClr val="000000"/>
                          </a:solidFill>
                          <a:effectLst/>
                          <a:highlight>
                            <a:srgbClr val="00FF00"/>
                          </a:highlight>
                          <a:latin typeface="+mn-lt"/>
                        </a:rPr>
                        <a:t>Interest income--Ship to home</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627414531"/>
                  </a:ext>
                </a:extLst>
              </a:tr>
              <a:tr h="162000">
                <a:tc vMerge="1">
                  <a:txBody>
                    <a:bodyPr/>
                    <a:lstStyle/>
                    <a:p>
                      <a:pPr algn="ctr" fontAlgn="ct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Arial"/>
                        </a:rPr>
                        <a:t>5010510</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lvl="0" algn="l">
                        <a:buNone/>
                      </a:pPr>
                      <a:r>
                        <a:rPr lang="en-US" sz="1000" b="0" i="0" u="none" strike="noStrike" kern="1200" noProof="0">
                          <a:solidFill>
                            <a:srgbClr val="000000"/>
                          </a:solidFill>
                          <a:effectLst/>
                          <a:latin typeface="Arial"/>
                        </a:rPr>
                        <a:t>Agent </a:t>
                      </a:r>
                      <a:r>
                        <a:rPr lang="en-US" sz="1000" b="0" i="0" u="none" strike="noStrike" kern="1200">
                          <a:solidFill>
                            <a:srgbClr val="000000"/>
                          </a:solidFill>
                          <a:effectLst/>
                          <a:latin typeface="+mn-lt"/>
                          <a:ea typeface="+mn-ea"/>
                          <a:cs typeface="+mn-cs"/>
                        </a:rPr>
                        <a:t>Revenue DaaS--</a:t>
                      </a:r>
                      <a:r>
                        <a:rPr lang="en-US" sz="1000" b="0" i="0" u="none" strike="noStrike" kern="1200" noProof="0">
                          <a:solidFill>
                            <a:srgbClr val="000000"/>
                          </a:solidFill>
                          <a:effectLst/>
                          <a:latin typeface="+mn-lt"/>
                          <a:ea typeface="+mn-ea"/>
                          <a:cs typeface="+mn-cs"/>
                        </a:rPr>
                        <a:t>Managed Service</a:t>
                      </a:r>
                      <a:endParaRPr lang="en-US" sz="1000" b="0" i="0" u="none" strike="noStrike" kern="1200">
                        <a:solidFill>
                          <a:srgbClr val="000000"/>
                        </a:solidFill>
                        <a:effectLst/>
                        <a:latin typeface="+mn-lt"/>
                        <a:ea typeface="+mn-ea"/>
                        <a:cs typeface="+mn-cs"/>
                      </a:endParaRP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1634378429"/>
                  </a:ext>
                </a:extLst>
              </a:tr>
              <a:tr h="162000">
                <a:tc vMerge="1">
                  <a:txBody>
                    <a:bodyPr/>
                    <a:lstStyle/>
                    <a:p>
                      <a:pPr algn="ctr" fontAlgn="ct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Arial"/>
                        </a:rPr>
                        <a:t>5010510</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lvl="0" algn="l">
                        <a:buNone/>
                      </a:pPr>
                      <a:r>
                        <a:rPr lang="en-US" sz="1000" b="0" i="0" u="none" strike="noStrike" kern="1200" noProof="0">
                          <a:solidFill>
                            <a:srgbClr val="000000"/>
                          </a:solidFill>
                          <a:effectLst/>
                          <a:latin typeface="Arial"/>
                        </a:rPr>
                        <a:t>Agent </a:t>
                      </a:r>
                      <a:r>
                        <a:rPr lang="en-US" sz="1000" b="0" i="0" u="none" strike="noStrike" kern="1200">
                          <a:solidFill>
                            <a:srgbClr val="000000"/>
                          </a:solidFill>
                          <a:effectLst/>
                          <a:latin typeface="+mn-lt"/>
                          <a:ea typeface="+mn-ea"/>
                          <a:cs typeface="+mn-cs"/>
                        </a:rPr>
                        <a:t>Revenue DaaS--</a:t>
                      </a:r>
                      <a:r>
                        <a:rPr lang="en-US" sz="1000" b="0" i="0" u="none" strike="noStrike" kern="1200" noProof="0">
                          <a:solidFill>
                            <a:srgbClr val="000000"/>
                          </a:solidFill>
                          <a:effectLst/>
                          <a:latin typeface="+mn-lt"/>
                          <a:ea typeface="+mn-ea"/>
                          <a:cs typeface="+mn-cs"/>
                        </a:rPr>
                        <a:t>Premier Support</a:t>
                      </a:r>
                      <a:endParaRPr lang="en-US" sz="1000" b="0" i="0" u="none" strike="noStrike" kern="1200">
                        <a:solidFill>
                          <a:srgbClr val="000000"/>
                        </a:solidFill>
                        <a:effectLst/>
                        <a:latin typeface="+mn-lt"/>
                        <a:ea typeface="+mn-ea"/>
                        <a:cs typeface="+mn-cs"/>
                      </a:endParaRP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993517493"/>
                  </a:ext>
                </a:extLst>
              </a:tr>
              <a:tr h="162000">
                <a:tc vMerge="1">
                  <a:txBody>
                    <a:bodyPr/>
                    <a:lstStyle/>
                    <a:p>
                      <a:pPr algn="ctr" fontAlgn="ct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a:t>
                      </a:r>
                      <a:r>
                        <a:rPr kumimoji="0" lang="en-US" altLang="zh-CN" sz="1000" b="0" i="0" u="none" strike="noStrike" kern="1200" cap="none" spc="0" normalizeH="0" baseline="0" noProof="0">
                          <a:ln>
                            <a:noFill/>
                          </a:ln>
                          <a:solidFill>
                            <a:srgbClr val="000000"/>
                          </a:solidFill>
                          <a:effectLst/>
                          <a:uLnTx/>
                          <a:uFillTx/>
                          <a:latin typeface="+mn-lt"/>
                          <a:ea typeface="+mn-ea"/>
                          <a:cs typeface="+mn-cs"/>
                        </a:rPr>
                        <a:t>r</a:t>
                      </a: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6350" marR="6350" marT="6350" marB="0"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Arial"/>
                        </a:rPr>
                        <a:t>5010510</a:t>
                      </a: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l" defTabSz="1218987">
                        <a:lnSpc>
                          <a:spcPct val="100000"/>
                        </a:lnSpc>
                        <a:spcBef>
                          <a:spcPts val="0"/>
                        </a:spcBef>
                        <a:spcAft>
                          <a:spcPts val="0"/>
                        </a:spcAft>
                        <a:buNone/>
                        <a:tabLst/>
                        <a:defRPr/>
                      </a:pPr>
                      <a:r>
                        <a:rPr lang="en-US" sz="1000" b="0" i="0" u="none" strike="noStrike" kern="1200" noProof="0">
                          <a:solidFill>
                            <a:srgbClr val="000000"/>
                          </a:solidFill>
                          <a:effectLst/>
                          <a:latin typeface="Arial"/>
                        </a:rPr>
                        <a:t>Agent </a:t>
                      </a:r>
                      <a:r>
                        <a:rPr lang="en-US" altLang="zh-CN" sz="1000" b="0" i="0" u="none" strike="noStrike" kern="1200">
                          <a:solidFill>
                            <a:srgbClr val="000000"/>
                          </a:solidFill>
                          <a:effectLst/>
                          <a:latin typeface="+mn-lt"/>
                          <a:ea typeface="+mn-ea"/>
                          <a:cs typeface="+mn-cs"/>
                        </a:rPr>
                        <a:t>Revenue--ARS</a:t>
                      </a:r>
                      <a:endParaRPr lang="en-US" sz="1000" b="0" i="0" u="none" strike="noStrike" kern="1200">
                        <a:solidFill>
                          <a:srgbClr val="000000"/>
                        </a:solidFill>
                        <a:effectLst/>
                        <a:latin typeface="+mn-lt"/>
                        <a:ea typeface="+mn-ea"/>
                        <a:cs typeface="+mn-cs"/>
                      </a:endParaRPr>
                    </a:p>
                  </a:txBody>
                  <a:tcPr marL="0" marR="0" marT="0"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723096512"/>
                  </a:ext>
                </a:extLst>
              </a:tr>
            </a:tbl>
          </a:graphicData>
        </a:graphic>
      </p:graphicFrame>
      <p:graphicFrame>
        <p:nvGraphicFramePr>
          <p:cNvPr id="7" name="Table 6">
            <a:extLst>
              <a:ext uri="{FF2B5EF4-FFF2-40B4-BE49-F238E27FC236}">
                <a16:creationId xmlns:a16="http://schemas.microsoft.com/office/drawing/2014/main" id="{4ABD081C-FAF5-6A89-BE6B-2DF7EF7E3BE8}"/>
              </a:ext>
            </a:extLst>
          </p:cNvPr>
          <p:cNvGraphicFramePr>
            <a:graphicFrameLocks noGrp="1"/>
          </p:cNvGraphicFramePr>
          <p:nvPr/>
        </p:nvGraphicFramePr>
        <p:xfrm>
          <a:off x="330762" y="3143041"/>
          <a:ext cx="5172104" cy="1134000"/>
        </p:xfrm>
        <a:graphic>
          <a:graphicData uri="http://schemas.openxmlformats.org/drawingml/2006/table">
            <a:tbl>
              <a:tblPr firstRow="1">
                <a:tableStyleId>{5C22544A-7EE6-4342-B048-85BDC9FD1C3A}</a:tableStyleId>
              </a:tblPr>
              <a:tblGrid>
                <a:gridCol w="413890">
                  <a:extLst>
                    <a:ext uri="{9D8B030D-6E8A-4147-A177-3AD203B41FA5}">
                      <a16:colId xmlns:a16="http://schemas.microsoft.com/office/drawing/2014/main" val="3200314054"/>
                    </a:ext>
                  </a:extLst>
                </a:gridCol>
                <a:gridCol w="248333">
                  <a:extLst>
                    <a:ext uri="{9D8B030D-6E8A-4147-A177-3AD203B41FA5}">
                      <a16:colId xmlns:a16="http://schemas.microsoft.com/office/drawing/2014/main" val="1913271583"/>
                    </a:ext>
                  </a:extLst>
                </a:gridCol>
                <a:gridCol w="607593">
                  <a:extLst>
                    <a:ext uri="{9D8B030D-6E8A-4147-A177-3AD203B41FA5}">
                      <a16:colId xmlns:a16="http://schemas.microsoft.com/office/drawing/2014/main" val="1797281345"/>
                    </a:ext>
                  </a:extLst>
                </a:gridCol>
                <a:gridCol w="2500312">
                  <a:extLst>
                    <a:ext uri="{9D8B030D-6E8A-4147-A177-3AD203B41FA5}">
                      <a16:colId xmlns:a16="http://schemas.microsoft.com/office/drawing/2014/main" val="2743739350"/>
                    </a:ext>
                  </a:extLst>
                </a:gridCol>
                <a:gridCol w="265091">
                  <a:extLst>
                    <a:ext uri="{9D8B030D-6E8A-4147-A177-3AD203B41FA5}">
                      <a16:colId xmlns:a16="http://schemas.microsoft.com/office/drawing/2014/main" val="2056723756"/>
                    </a:ext>
                  </a:extLst>
                </a:gridCol>
                <a:gridCol w="331233">
                  <a:extLst>
                    <a:ext uri="{9D8B030D-6E8A-4147-A177-3AD203B41FA5}">
                      <a16:colId xmlns:a16="http://schemas.microsoft.com/office/drawing/2014/main" val="4073315665"/>
                    </a:ext>
                  </a:extLst>
                </a:gridCol>
                <a:gridCol w="805652">
                  <a:extLst>
                    <a:ext uri="{9D8B030D-6E8A-4147-A177-3AD203B41FA5}">
                      <a16:colId xmlns:a16="http://schemas.microsoft.com/office/drawing/2014/main" val="848560102"/>
                    </a:ext>
                  </a:extLst>
                </a:gridCol>
              </a:tblGrid>
              <a:tr h="162000">
                <a:tc rowSpan="7">
                  <a:txBody>
                    <a:bodyPr/>
                    <a:lstStyle/>
                    <a:p>
                      <a:pPr algn="ctr" fontAlgn="ctr"/>
                      <a:r>
                        <a:rPr lang="en-US" sz="1200" u="none" strike="noStrike">
                          <a:solidFill>
                            <a:schemeClr val="bg1"/>
                          </a:solidFill>
                          <a:effectLst/>
                        </a:rPr>
                        <a:t>S&amp;D</a:t>
                      </a: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82880" marR="0" lvl="0" indent="0" algn="l"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lang="en-US" altLang="zh-CN" sz="1000">
                          <a:latin typeface="+mn-lt"/>
                          <a:cs typeface="Arial"/>
                        </a:rPr>
                        <a:t>Monthly invoice from Lenovo to AFE for service revenue</a:t>
                      </a:r>
                      <a:endParaRPr lang="en-US" sz="1000" b="1" u="none" strike="noStrike" kern="1200">
                        <a:solidFill>
                          <a:schemeClr val="bg1"/>
                        </a:solidFill>
                        <a:effectLst/>
                        <a:latin typeface="+mn-lt"/>
                        <a:ea typeface="+mn-ea"/>
                        <a:cs typeface="Arial"/>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182880" marR="0" lvl="0" indent="0" algn="ctr" defTabSz="1218987" rtl="0" eaLnBrk="1" fontAlgn="b" latinLnBrk="0" hangingPunct="1">
                        <a:lnSpc>
                          <a:spcPct val="100000"/>
                        </a:lnSpc>
                        <a:spcBef>
                          <a:spcPts val="0"/>
                        </a:spcBef>
                        <a:spcAft>
                          <a:spcPts val="0"/>
                        </a:spcAft>
                        <a:buClrTx/>
                        <a:buSzTx/>
                        <a:buFont typeface="Arial" panose="020B0604020202020204" pitchFamily="34" charset="0"/>
                        <a:buNone/>
                        <a:tabLst/>
                        <a:defRPr/>
                      </a:pPr>
                      <a:r>
                        <a:rPr kumimoji="0" lang="en-US" altLang="zh-CN" sz="1000" b="1" i="0" u="none" strike="noStrike" kern="1200" cap="none" spc="0" normalizeH="0" baseline="0">
                          <a:ln>
                            <a:noFill/>
                          </a:ln>
                          <a:solidFill>
                            <a:schemeClr val="tx1"/>
                          </a:solidFill>
                          <a:effectLst/>
                          <a:uLnTx/>
                          <a:uFillTx/>
                          <a:latin typeface="+mn-lt"/>
                          <a:ea typeface="+mn-ea"/>
                          <a:cs typeface="+mn-cs"/>
                        </a:rPr>
                        <a:t>Managed service and ARS performed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1130200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ctr"/>
                      <a:r>
                        <a:rPr lang="en-US" sz="1000" b="0" i="0" u="none" strike="noStrike" kern="1200">
                          <a:solidFill>
                            <a:srgbClr val="000000"/>
                          </a:solidFill>
                          <a:effectLst/>
                          <a:latin typeface="+mn-lt"/>
                          <a:ea typeface="等线"/>
                          <a:cs typeface="+mn-cs"/>
                        </a:rPr>
                        <a:t>Account Receivable (Interco) – to AFE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2965704776"/>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lang="en-US" altLang="zh-CN" sz="1000" b="0" i="0" u="none" strike="noStrike" kern="1200" cap="none" spc="0" normalizeH="0" baseline="0" noProof="0">
                          <a:ln>
                            <a:noFill/>
                          </a:ln>
                          <a:solidFill>
                            <a:srgbClr val="000000"/>
                          </a:solidFill>
                          <a:effectLst/>
                          <a:uLnTx/>
                          <a:uFillTx/>
                          <a:latin typeface="+mj-lt"/>
                          <a:ea typeface="+mn-ea"/>
                          <a:cs typeface="+mn-cs"/>
                        </a:rPr>
                        <a:t>5010453</a:t>
                      </a:r>
                      <a:endParaRPr kumimoji="0" lang="en-US"/>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j-lt"/>
                        </a:rPr>
                        <a:t>Services Revenue DaaS—managed service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704665907"/>
                  </a:ext>
                </a:extLst>
              </a:tr>
              <a:tr h="162000">
                <a:tc vMerge="1">
                  <a:txBody>
                    <a:bodyPr/>
                    <a:lstStyle/>
                    <a:p>
                      <a:endParaRPr 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1"/>
                          </a:solidFill>
                          <a:effectLst/>
                          <a:uLnTx/>
                          <a:uFillTx/>
                          <a:latin typeface="+mn-lt"/>
                          <a:ea typeface="+mn-ea"/>
                          <a:cs typeface="+mn-cs"/>
                        </a:rPr>
                        <a:t>2070009</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n-lt"/>
                        </a:rPr>
                        <a:t>Deferred Revenue---ARS</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483757682"/>
                  </a:ext>
                </a:extLst>
              </a:tr>
              <a:tr h="162000">
                <a:tc vMerge="1">
                  <a:txBody>
                    <a:bodyPr/>
                    <a:lstStyle/>
                    <a:p>
                      <a:pPr algn="ctr" fontAlgn="ctr"/>
                      <a:endParaRPr lang="en-US" sz="1200" b="1" i="0" u="none" strike="noStrike">
                        <a:solidFill>
                          <a:schemeClr val="bg1"/>
                        </a:solidFill>
                        <a:effectLst/>
                        <a:latin typeface="Arial" panose="020B0604020202020204" pitchFamily="34" charset="0"/>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Cr</a:t>
                      </a:r>
                    </a:p>
                  </a:txBody>
                  <a:tcPr marL="6350" marR="6350" marT="635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5010401</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Service Revenue--</a:t>
                      </a:r>
                      <a:r>
                        <a:rPr lang="en-US" sz="1000" b="0" i="0" u="none" strike="noStrike" kern="1200" noProof="0">
                          <a:solidFill>
                            <a:srgbClr val="000000"/>
                          </a:solidFill>
                          <a:effectLst/>
                          <a:latin typeface="+mn-lt"/>
                          <a:ea typeface="+mn-ea"/>
                          <a:cs typeface="+mn-cs"/>
                        </a:rPr>
                        <a:t>Premier Support</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129026875"/>
                  </a:ext>
                </a:extLst>
              </a:tr>
            </a:tbl>
          </a:graphicData>
        </a:graphic>
      </p:graphicFrame>
      <p:graphicFrame>
        <p:nvGraphicFramePr>
          <p:cNvPr id="15" name="Table 14">
            <a:extLst>
              <a:ext uri="{FF2B5EF4-FFF2-40B4-BE49-F238E27FC236}">
                <a16:creationId xmlns:a16="http://schemas.microsoft.com/office/drawing/2014/main" id="{8A70644F-32E4-3D15-0F47-868D7AED4FD4}"/>
              </a:ext>
            </a:extLst>
          </p:cNvPr>
          <p:cNvGraphicFramePr>
            <a:graphicFrameLocks noGrp="1"/>
          </p:cNvGraphicFramePr>
          <p:nvPr/>
        </p:nvGraphicFramePr>
        <p:xfrm>
          <a:off x="5803895" y="4545307"/>
          <a:ext cx="5223823" cy="1134000"/>
        </p:xfrm>
        <a:graphic>
          <a:graphicData uri="http://schemas.openxmlformats.org/drawingml/2006/table">
            <a:tbl>
              <a:tblPr firstRow="1">
                <a:tableStyleId>{5C22544A-7EE6-4342-B048-85BDC9FD1C3A}</a:tableStyleId>
              </a:tblPr>
              <a:tblGrid>
                <a:gridCol w="418317">
                  <a:extLst>
                    <a:ext uri="{9D8B030D-6E8A-4147-A177-3AD203B41FA5}">
                      <a16:colId xmlns:a16="http://schemas.microsoft.com/office/drawing/2014/main" val="3200314054"/>
                    </a:ext>
                  </a:extLst>
                </a:gridCol>
                <a:gridCol w="250989">
                  <a:extLst>
                    <a:ext uri="{9D8B030D-6E8A-4147-A177-3AD203B41FA5}">
                      <a16:colId xmlns:a16="http://schemas.microsoft.com/office/drawing/2014/main" val="1913271583"/>
                    </a:ext>
                  </a:extLst>
                </a:gridCol>
                <a:gridCol w="681504">
                  <a:extLst>
                    <a:ext uri="{9D8B030D-6E8A-4147-A177-3AD203B41FA5}">
                      <a16:colId xmlns:a16="http://schemas.microsoft.com/office/drawing/2014/main" val="1797281345"/>
                    </a:ext>
                  </a:extLst>
                </a:gridCol>
                <a:gridCol w="2416089">
                  <a:extLst>
                    <a:ext uri="{9D8B030D-6E8A-4147-A177-3AD203B41FA5}">
                      <a16:colId xmlns:a16="http://schemas.microsoft.com/office/drawing/2014/main" val="2743739350"/>
                    </a:ext>
                  </a:extLst>
                </a:gridCol>
                <a:gridCol w="374159">
                  <a:extLst>
                    <a:ext uri="{9D8B030D-6E8A-4147-A177-3AD203B41FA5}">
                      <a16:colId xmlns:a16="http://schemas.microsoft.com/office/drawing/2014/main" val="2056723756"/>
                    </a:ext>
                  </a:extLst>
                </a:gridCol>
                <a:gridCol w="335125">
                  <a:extLst>
                    <a:ext uri="{9D8B030D-6E8A-4147-A177-3AD203B41FA5}">
                      <a16:colId xmlns:a16="http://schemas.microsoft.com/office/drawing/2014/main" val="4073315665"/>
                    </a:ext>
                  </a:extLst>
                </a:gridCol>
                <a:gridCol w="747640">
                  <a:extLst>
                    <a:ext uri="{9D8B030D-6E8A-4147-A177-3AD203B41FA5}">
                      <a16:colId xmlns:a16="http://schemas.microsoft.com/office/drawing/2014/main" val="848560102"/>
                    </a:ext>
                  </a:extLst>
                </a:gridCol>
              </a:tblGrid>
              <a:tr h="162000">
                <a:tc rowSpan="7">
                  <a:txBody>
                    <a:bodyPr/>
                    <a:lstStyle/>
                    <a:p>
                      <a:pPr algn="ctr" fontAlgn="ctr"/>
                      <a:r>
                        <a:rPr lang="en-US" sz="1200" b="1" i="0" u="none" strike="noStrike">
                          <a:solidFill>
                            <a:srgbClr val="FFFFFF"/>
                          </a:solidFill>
                          <a:effectLst/>
                          <a:latin typeface="Arial" panose="020B0604020202020204" pitchFamily="34" charset="0"/>
                        </a:rPr>
                        <a:t>AFE</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gridSpan="6">
                  <a:txBody>
                    <a:bodyPr/>
                    <a:lstStyle/>
                    <a:p>
                      <a:pPr marL="102870" indent="0" algn="l" defTabSz="1218987" rtl="0" eaLnBrk="1" fontAlgn="b" latinLnBrk="0" hangingPunct="1">
                        <a:buFont typeface="Arial" panose="020B0604020202020204" pitchFamily="34" charset="0"/>
                        <a:buNone/>
                      </a:pPr>
                      <a:r>
                        <a:rPr lang="en-US" sz="1000" b="1" u="none" strike="noStrike" kern="1200">
                          <a:solidFill>
                            <a:schemeClr val="lt1"/>
                          </a:solidFill>
                          <a:effectLst/>
                          <a:latin typeface="+mn-lt"/>
                          <a:ea typeface="+mn-ea"/>
                          <a:cs typeface="+mn-cs"/>
                        </a:rPr>
                        <a:t>Invoice from S&amp;D for monthly service </a:t>
                      </a:r>
                      <a:r>
                        <a:rPr lang="en-US" altLang="zh-CN" sz="1000" b="1" u="none" strike="noStrike" kern="1200">
                          <a:solidFill>
                            <a:schemeClr val="lt1"/>
                          </a:solidFill>
                          <a:effectLst/>
                          <a:latin typeface="+mn-lt"/>
                          <a:ea typeface="+mn-ea"/>
                          <a:cs typeface="+mn-cs"/>
                        </a:rPr>
                        <a:t>cost </a:t>
                      </a: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en-US"/>
                    </a:p>
                  </a:txBody>
                  <a:tcPr/>
                </a:tc>
                <a:tc hMerge="1">
                  <a:txBody>
                    <a:bodyPr/>
                    <a:lstStyle/>
                    <a:p>
                      <a:endParaRPr lang="en-US"/>
                    </a:p>
                  </a:txBody>
                  <a:tcPr>
                    <a:lnL w="12700" cap="flat" cmpd="sng" algn="ctr">
                      <a:solidFill>
                        <a:schemeClr val="bg1">
                          <a:lumMod val="85000"/>
                        </a:schemeClr>
                      </a:solidFill>
                      <a:prstDash val="solid"/>
                      <a:round/>
                      <a:headEnd type="none" w="med" len="med"/>
                      <a:tailEnd type="none" w="med" len="med"/>
                    </a:lnL>
                  </a:tcPr>
                </a:tc>
                <a:tc hMerge="1">
                  <a:txBody>
                    <a:bodyPr/>
                    <a:lstStyle/>
                    <a:p>
                      <a:endParaRPr lang="en-US"/>
                    </a:p>
                  </a:txBody>
                  <a:tcPr/>
                </a:tc>
                <a:tc hMerge="1">
                  <a:txBody>
                    <a:bodyPr/>
                    <a:lstStyle/>
                    <a:p>
                      <a:pPr marL="102870" indent="0" algn="l" defTabSz="1218987" rtl="0" eaLnBrk="1" fontAlgn="b" latinLnBrk="0" hangingPunct="1">
                        <a:buFont typeface="Arial" panose="020B0604020202020204" pitchFamily="34" charset="0"/>
                        <a:buNone/>
                      </a:pPr>
                      <a:endParaRPr lang="en-US" sz="1000" b="1" u="none" strike="noStrike" kern="1200">
                        <a:solidFill>
                          <a:schemeClr val="lt1"/>
                        </a:solidFill>
                        <a:effectLst/>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extLst>
                  <a:ext uri="{0D108BD9-81ED-4DB2-BD59-A6C34878D82A}">
                    <a16:rowId xmlns:a16="http://schemas.microsoft.com/office/drawing/2014/main" val="2595333063"/>
                  </a:ext>
                </a:extLst>
              </a:tr>
              <a:tr h="162000">
                <a:tc vMerge="1">
                  <a:txBody>
                    <a:bodyPr/>
                    <a:lstStyle/>
                    <a:p>
                      <a:endParaRPr lang="zh-CN" altLang="en-US"/>
                    </a:p>
                  </a:txBody>
                  <a:tcPr/>
                </a:tc>
                <a:tc gridSpan="6">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1" i="0" u="none" strike="noStrike" kern="1200" cap="none" spc="0" normalizeH="0" baseline="0">
                          <a:ln>
                            <a:noFill/>
                          </a:ln>
                          <a:solidFill>
                            <a:schemeClr val="tx1"/>
                          </a:solidFill>
                          <a:effectLst/>
                          <a:uLnTx/>
                          <a:uFillTx/>
                          <a:latin typeface="+mn-lt"/>
                          <a:ea typeface="+mn-ea"/>
                          <a:cs typeface="+mn-cs"/>
                        </a:rPr>
                        <a:t>Managed service and ARS performed by 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ctr"/>
                      <a:endParaRPr kumimoji="0" lang="en-US" sz="1000" b="1"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71602826"/>
                  </a:ext>
                </a:extLst>
              </a:tr>
              <a:tr h="162000">
                <a:tc vMerge="1">
                  <a:txBody>
                    <a:bodyPr/>
                    <a:lstStyle/>
                    <a:p>
                      <a:endParaRPr lang="en-US"/>
                    </a:p>
                  </a:txBody>
                  <a:tcPr>
                    <a:lnT w="12700" cap="flat" cmpd="sng" algn="ctr">
                      <a:solidFill>
                        <a:schemeClr val="bg1"/>
                      </a:solidFill>
                      <a:prstDash val="solid"/>
                      <a:round/>
                      <a:headEnd type="none" w="med" len="med"/>
                      <a:tailEnd type="none" w="med" len="med"/>
                    </a:lnT>
                  </a:tcPr>
                </a:tc>
                <a:tc gridSpan="3">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1" i="0" u="none" strike="noStrike" kern="1200" cap="none" spc="0" normalizeH="0" baseline="0">
                          <a:ln>
                            <a:noFill/>
                          </a:ln>
                          <a:solidFill>
                            <a:srgbClr val="000000"/>
                          </a:solidFill>
                          <a:effectLst/>
                          <a:uLnTx/>
                          <a:uFillTx/>
                          <a:latin typeface="+mn-lt"/>
                          <a:ea typeface="+mn-ea"/>
                          <a:cs typeface="+mn-cs"/>
                        </a:rPr>
                        <a:t>COA</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endParaRPr lang="zh-CN" altLang="en-US"/>
                    </a:p>
                  </a:txBody>
                  <a:tcPr/>
                </a:tc>
                <a:tc hMerge="1">
                  <a:txBody>
                    <a:bodyPr/>
                    <a:lstStyle/>
                    <a:p>
                      <a:pPr lvl="1" algn="l" fontAlgn="b"/>
                      <a:endParaRPr kumimoji="0" lang="en-US" sz="1000" b="0" i="0" u="none" strike="noStrike" kern="1200" cap="none" spc="0" normalizeH="0" baseline="0">
                        <a:ln>
                          <a:noFill/>
                        </a:ln>
                        <a:solidFill>
                          <a:srgbClr val="000000"/>
                        </a:solidFill>
                        <a:effectLst/>
                        <a:uLnTx/>
                        <a:uFillTx/>
                        <a:latin typeface="Arial" panose="020B0604020202020204" pitchFamily="34" charset="0"/>
                        <a:ea typeface="+mn-ea"/>
                        <a:cs typeface="+mn-cs"/>
                      </a:endParaRPr>
                    </a:p>
                  </a:txBody>
                  <a:tcPr marL="19050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LV</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altLang="zh-CN" sz="1000" b="1" i="0" u="none" strike="noStrike" kern="1200" cap="none" spc="0" normalizeH="0" baseline="0">
                          <a:ln>
                            <a:noFill/>
                          </a:ln>
                          <a:solidFill>
                            <a:srgbClr val="000000"/>
                          </a:solidFill>
                          <a:effectLst/>
                          <a:uLnTx/>
                          <a:uFillTx/>
                          <a:latin typeface="+mn-lt"/>
                          <a:ea typeface="+mn-ea"/>
                          <a:cs typeface="+mn-cs"/>
                        </a:rPr>
                        <a:t>PV</a:t>
                      </a:r>
                      <a:endParaRPr kumimoji="0" lang="en-US" sz="1000" b="1" i="0" u="none" strike="noStrike" kern="1200" cap="none" spc="0" normalizeH="0" baseline="0">
                        <a:ln>
                          <a:noFill/>
                        </a:ln>
                        <a:solidFill>
                          <a:srgbClr val="000000"/>
                        </a:solidFill>
                        <a:effectLst/>
                        <a:uLnTx/>
                        <a:uFillTx/>
                        <a:latin typeface="+mn-lt"/>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r>
                        <a:rPr kumimoji="0" lang="en-US" sz="1000" b="1" i="0" u="none" strike="noStrike" kern="1200" cap="none" spc="0" normalizeH="0" baseline="0">
                          <a:ln>
                            <a:noFill/>
                          </a:ln>
                          <a:solidFill>
                            <a:srgbClr val="000000"/>
                          </a:solidFill>
                          <a:effectLst/>
                          <a:uLnTx/>
                          <a:uFillTx/>
                          <a:latin typeface="+mn-lt"/>
                          <a:ea typeface="+mn-ea"/>
                          <a:cs typeface="+mn-cs"/>
                        </a:rPr>
                        <a:t>PC</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50002211"/>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Dr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Agent Revenue--</a:t>
                      </a:r>
                      <a:r>
                        <a:rPr lang="en-US" sz="1000" b="0" i="0" u="none" strike="noStrike" kern="1200" noProof="0">
                          <a:solidFill>
                            <a:srgbClr val="000000"/>
                          </a:solidFill>
                          <a:effectLst/>
                          <a:latin typeface="+mn-lt"/>
                          <a:ea typeface="+mn-ea"/>
                          <a:cs typeface="+mn-cs"/>
                        </a:rPr>
                        <a:t>Managed Service</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421641794"/>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Dr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Agent Revenue--ARS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520808988"/>
                  </a:ext>
                </a:extLst>
              </a:tr>
              <a:tr h="162000">
                <a:tc vMerge="1">
                  <a:txBody>
                    <a:bodyPr/>
                    <a:lstStyle/>
                    <a:p>
                      <a:endParaRPr lang="en-US"/>
                    </a:p>
                  </a:txBody>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Dr</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kern="1200">
                          <a:solidFill>
                            <a:srgbClr val="000000"/>
                          </a:solidFill>
                          <a:effectLst/>
                          <a:latin typeface="+mn-lt"/>
                          <a:ea typeface="+mn-ea"/>
                          <a:cs typeface="+mn-cs"/>
                        </a:rPr>
                        <a:t>Agent Revenue--</a:t>
                      </a:r>
                      <a:r>
                        <a:rPr lang="en-US" sz="1000" b="0" i="0" u="none" strike="noStrike" kern="1200" noProof="0">
                          <a:solidFill>
                            <a:srgbClr val="000000"/>
                          </a:solidFill>
                          <a:effectLst/>
                          <a:latin typeface="+mn-lt"/>
                          <a:ea typeface="+mn-ea"/>
                          <a:cs typeface="+mn-cs"/>
                        </a:rPr>
                        <a:t>Premier Support</a:t>
                      </a:r>
                      <a:endParaRPr lang="en-US" sz="1000" b="0" i="0" u="none" strike="noStrike" kern="1200">
                        <a:solidFill>
                          <a:srgbClr val="000000"/>
                        </a:solidFill>
                        <a:effectLst/>
                        <a:latin typeface="+mn-lt"/>
                        <a:ea typeface="+mn-ea"/>
                        <a:cs typeface="+mn-cs"/>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endParaRPr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n-lt"/>
                          <a:ea typeface="等线"/>
                          <a:cs typeface="+mn-cs"/>
                        </a:rPr>
                        <a:t>1</a:t>
                      </a:r>
                      <a:endParaRPr lang="en-US"/>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mn-ea"/>
                          <a:cs typeface="+mn-cs"/>
                        </a:rPr>
                        <a:t>30/J*/PK</a:t>
                      </a:r>
                      <a:endParaRPr kumimoji="0" lang="en-US" sz="2400" b="0" i="0" u="none" strike="noStrike" kern="1200" cap="none" spc="0" normalizeH="0" baseline="0" noProof="0">
                        <a:ln>
                          <a:noFill/>
                        </a:ln>
                        <a:solidFill>
                          <a:srgbClr val="000000"/>
                        </a:solidFill>
                        <a:effectLst/>
                        <a:uLnTx/>
                        <a:uFillTx/>
                        <a:latin typeface="Arial"/>
                        <a:ea typeface="+mn-ea"/>
                        <a:cs typeface="+mn-cs"/>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996069759"/>
                  </a:ext>
                </a:extLst>
              </a:tr>
              <a:tr h="162000">
                <a:tc vMerge="1">
                  <a:txBody>
                    <a:bodyPr/>
                    <a:lstStyle/>
                    <a:p>
                      <a:endParaRPr lang="en-US"/>
                    </a:p>
                  </a:txBody>
                  <a:tcPr/>
                </a:tc>
                <a:tc>
                  <a:txBody>
                    <a:bodyPr/>
                    <a:lstStyle/>
                    <a:p>
                      <a:pPr algn="l" fontAlgn="ctr"/>
                      <a:r>
                        <a:rPr lang="en-US" sz="1000" b="0" i="0" u="none" strike="noStrike">
                          <a:solidFill>
                            <a:srgbClr val="000000"/>
                          </a:solidFill>
                          <a:effectLst/>
                          <a:latin typeface="+mj-lt"/>
                        </a:rPr>
                        <a:t>Cr </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j-lt"/>
                          <a:ea typeface="+mn-ea"/>
                          <a:cs typeface="+mn-cs"/>
                        </a:rPr>
                        <a:t>2030200</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l" fontAlgn="b"/>
                      <a:r>
                        <a:rPr lang="en-US" sz="1000" b="0" i="0" u="none" strike="noStrike">
                          <a:solidFill>
                            <a:srgbClr val="000000"/>
                          </a:solidFill>
                          <a:effectLst/>
                          <a:latin typeface="+mj-lt"/>
                        </a:rPr>
                        <a:t>Inter-co Payable –to S&amp;D</a:t>
                      </a: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algn="ctr" fontAlgn="ctr"/>
                      <a:r>
                        <a:rPr lang="en-US" altLang="zh-CN" sz="1000" b="0" i="0" u="none" strike="noStrike" kern="1200">
                          <a:solidFill>
                            <a:srgbClr val="000000"/>
                          </a:solidFill>
                          <a:effectLst/>
                          <a:latin typeface="+mj-lt"/>
                          <a:ea typeface="等线" panose="02010600030101010101" pitchFamily="2" charset="-122"/>
                          <a:cs typeface="+mn-cs"/>
                        </a:rPr>
                        <a:t>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endParaRPr lang="en-US" altLang="zh-CN" sz="1000" b="0" i="0" u="none" strike="noStrike">
                        <a:solidFill>
                          <a:srgbClr val="000000"/>
                        </a:solidFill>
                        <a:effectLst/>
                        <a:latin typeface="+mj-lt"/>
                      </a:endParaRPr>
                    </a:p>
                  </a:txBody>
                  <a:tcPr marL="6350" marR="6350" marT="635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3E8DDD"/>
                    </a:solidFill>
                  </a:tcPr>
                </a:tc>
                <a:extLst>
                  <a:ext uri="{0D108BD9-81ED-4DB2-BD59-A6C34878D82A}">
                    <a16:rowId xmlns:a16="http://schemas.microsoft.com/office/drawing/2014/main" val="3979390839"/>
                  </a:ext>
                </a:extLst>
              </a:tr>
            </a:tbl>
          </a:graphicData>
        </a:graphic>
      </p:graphicFrame>
      <p:sp>
        <p:nvSpPr>
          <p:cNvPr id="21" name="Rectangle 20">
            <a:extLst>
              <a:ext uri="{FF2B5EF4-FFF2-40B4-BE49-F238E27FC236}">
                <a16:creationId xmlns:a16="http://schemas.microsoft.com/office/drawing/2014/main" id="{8333B75C-A490-AB02-0C24-C2CA4E034142}"/>
              </a:ext>
            </a:extLst>
          </p:cNvPr>
          <p:cNvSpPr/>
          <p:nvPr/>
        </p:nvSpPr>
        <p:spPr>
          <a:xfrm>
            <a:off x="5614416" y="4403285"/>
            <a:ext cx="5545190" cy="1384867"/>
          </a:xfrm>
          <a:custGeom>
            <a:avLst/>
            <a:gdLst>
              <a:gd name="csX0" fmla="*/ 0 w 5545190"/>
              <a:gd name="csY0" fmla="*/ 0 h 1384867"/>
              <a:gd name="csX1" fmla="*/ 388163 w 5545190"/>
              <a:gd name="csY1" fmla="*/ 0 h 1384867"/>
              <a:gd name="csX2" fmla="*/ 1053586 w 5545190"/>
              <a:gd name="csY2" fmla="*/ 0 h 1384867"/>
              <a:gd name="csX3" fmla="*/ 1608105 w 5545190"/>
              <a:gd name="csY3" fmla="*/ 0 h 1384867"/>
              <a:gd name="csX4" fmla="*/ 1996268 w 5545190"/>
              <a:gd name="csY4" fmla="*/ 0 h 1384867"/>
              <a:gd name="csX5" fmla="*/ 2439884 w 5545190"/>
              <a:gd name="csY5" fmla="*/ 0 h 1384867"/>
              <a:gd name="csX6" fmla="*/ 3049855 w 5545190"/>
              <a:gd name="csY6" fmla="*/ 0 h 1384867"/>
              <a:gd name="csX7" fmla="*/ 3548922 w 5545190"/>
              <a:gd name="csY7" fmla="*/ 0 h 1384867"/>
              <a:gd name="csX8" fmla="*/ 4158893 w 5545190"/>
              <a:gd name="csY8" fmla="*/ 0 h 1384867"/>
              <a:gd name="csX9" fmla="*/ 4824315 w 5545190"/>
              <a:gd name="csY9" fmla="*/ 0 h 1384867"/>
              <a:gd name="csX10" fmla="*/ 5545190 w 5545190"/>
              <a:gd name="csY10" fmla="*/ 0 h 1384867"/>
              <a:gd name="csX11" fmla="*/ 5545190 w 5545190"/>
              <a:gd name="csY11" fmla="*/ 433925 h 1384867"/>
              <a:gd name="csX12" fmla="*/ 5545190 w 5545190"/>
              <a:gd name="csY12" fmla="*/ 867850 h 1384867"/>
              <a:gd name="csX13" fmla="*/ 5545190 w 5545190"/>
              <a:gd name="csY13" fmla="*/ 1384867 h 1384867"/>
              <a:gd name="csX14" fmla="*/ 5101575 w 5545190"/>
              <a:gd name="csY14" fmla="*/ 1384867 h 1384867"/>
              <a:gd name="csX15" fmla="*/ 4547056 w 5545190"/>
              <a:gd name="csY15" fmla="*/ 1384867 h 1384867"/>
              <a:gd name="csX16" fmla="*/ 4158893 w 5545190"/>
              <a:gd name="csY16" fmla="*/ 1384867 h 1384867"/>
              <a:gd name="csX17" fmla="*/ 3604374 w 5545190"/>
              <a:gd name="csY17" fmla="*/ 1384867 h 1384867"/>
              <a:gd name="csX18" fmla="*/ 3049855 w 5545190"/>
              <a:gd name="csY18" fmla="*/ 1384867 h 1384867"/>
              <a:gd name="csX19" fmla="*/ 2384432 w 5545190"/>
              <a:gd name="csY19" fmla="*/ 1384867 h 1384867"/>
              <a:gd name="csX20" fmla="*/ 1774461 w 5545190"/>
              <a:gd name="csY20" fmla="*/ 1384867 h 1384867"/>
              <a:gd name="csX21" fmla="*/ 1109038 w 5545190"/>
              <a:gd name="csY21" fmla="*/ 1384867 h 1384867"/>
              <a:gd name="csX22" fmla="*/ 499067 w 5545190"/>
              <a:gd name="csY22" fmla="*/ 1384867 h 1384867"/>
              <a:gd name="csX23" fmla="*/ 0 w 5545190"/>
              <a:gd name="csY23" fmla="*/ 1384867 h 1384867"/>
              <a:gd name="csX24" fmla="*/ 0 w 5545190"/>
              <a:gd name="csY24" fmla="*/ 964791 h 1384867"/>
              <a:gd name="csX25" fmla="*/ 0 w 5545190"/>
              <a:gd name="csY25" fmla="*/ 544714 h 1384867"/>
              <a:gd name="csX26" fmla="*/ 0 w 5545190"/>
              <a:gd name="csY26" fmla="*/ 0 h 13848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5545190" h="1384867" extrusionOk="0">
                <a:moveTo>
                  <a:pt x="0" y="0"/>
                </a:moveTo>
                <a:cubicBezTo>
                  <a:pt x="106547" y="-36142"/>
                  <a:pt x="294394" y="38462"/>
                  <a:pt x="388163" y="0"/>
                </a:cubicBezTo>
                <a:cubicBezTo>
                  <a:pt x="481932" y="-38462"/>
                  <a:pt x="846147" y="77571"/>
                  <a:pt x="1053586" y="0"/>
                </a:cubicBezTo>
                <a:cubicBezTo>
                  <a:pt x="1261025" y="-77571"/>
                  <a:pt x="1363106" y="40248"/>
                  <a:pt x="1608105" y="0"/>
                </a:cubicBezTo>
                <a:cubicBezTo>
                  <a:pt x="1853104" y="-40248"/>
                  <a:pt x="1813751" y="10622"/>
                  <a:pt x="1996268" y="0"/>
                </a:cubicBezTo>
                <a:cubicBezTo>
                  <a:pt x="2178785" y="-10622"/>
                  <a:pt x="2240204" y="18068"/>
                  <a:pt x="2439884" y="0"/>
                </a:cubicBezTo>
                <a:cubicBezTo>
                  <a:pt x="2639564" y="-18068"/>
                  <a:pt x="2774047" y="59848"/>
                  <a:pt x="3049855" y="0"/>
                </a:cubicBezTo>
                <a:cubicBezTo>
                  <a:pt x="3325663" y="-59848"/>
                  <a:pt x="3388094" y="1560"/>
                  <a:pt x="3548922" y="0"/>
                </a:cubicBezTo>
                <a:cubicBezTo>
                  <a:pt x="3709750" y="-1560"/>
                  <a:pt x="3951533" y="587"/>
                  <a:pt x="4158893" y="0"/>
                </a:cubicBezTo>
                <a:cubicBezTo>
                  <a:pt x="4366253" y="-587"/>
                  <a:pt x="4496451" y="66230"/>
                  <a:pt x="4824315" y="0"/>
                </a:cubicBezTo>
                <a:cubicBezTo>
                  <a:pt x="5152179" y="-66230"/>
                  <a:pt x="5370355" y="60690"/>
                  <a:pt x="5545190" y="0"/>
                </a:cubicBezTo>
                <a:cubicBezTo>
                  <a:pt x="5545845" y="167095"/>
                  <a:pt x="5516912" y="299829"/>
                  <a:pt x="5545190" y="433925"/>
                </a:cubicBezTo>
                <a:cubicBezTo>
                  <a:pt x="5573468" y="568021"/>
                  <a:pt x="5523552" y="712653"/>
                  <a:pt x="5545190" y="867850"/>
                </a:cubicBezTo>
                <a:cubicBezTo>
                  <a:pt x="5566828" y="1023048"/>
                  <a:pt x="5525596" y="1162614"/>
                  <a:pt x="5545190" y="1384867"/>
                </a:cubicBezTo>
                <a:cubicBezTo>
                  <a:pt x="5447747" y="1415008"/>
                  <a:pt x="5306095" y="1344824"/>
                  <a:pt x="5101575" y="1384867"/>
                </a:cubicBezTo>
                <a:cubicBezTo>
                  <a:pt x="4897056" y="1424910"/>
                  <a:pt x="4668885" y="1327368"/>
                  <a:pt x="4547056" y="1384867"/>
                </a:cubicBezTo>
                <a:cubicBezTo>
                  <a:pt x="4425227" y="1442366"/>
                  <a:pt x="4281506" y="1365426"/>
                  <a:pt x="4158893" y="1384867"/>
                </a:cubicBezTo>
                <a:cubicBezTo>
                  <a:pt x="4036280" y="1404308"/>
                  <a:pt x="3718580" y="1321777"/>
                  <a:pt x="3604374" y="1384867"/>
                </a:cubicBezTo>
                <a:cubicBezTo>
                  <a:pt x="3490168" y="1447957"/>
                  <a:pt x="3308537" y="1353184"/>
                  <a:pt x="3049855" y="1384867"/>
                </a:cubicBezTo>
                <a:cubicBezTo>
                  <a:pt x="2791173" y="1416550"/>
                  <a:pt x="2540445" y="1316887"/>
                  <a:pt x="2384432" y="1384867"/>
                </a:cubicBezTo>
                <a:cubicBezTo>
                  <a:pt x="2228419" y="1452847"/>
                  <a:pt x="2049533" y="1337436"/>
                  <a:pt x="1774461" y="1384867"/>
                </a:cubicBezTo>
                <a:cubicBezTo>
                  <a:pt x="1499389" y="1432298"/>
                  <a:pt x="1387973" y="1378363"/>
                  <a:pt x="1109038" y="1384867"/>
                </a:cubicBezTo>
                <a:cubicBezTo>
                  <a:pt x="830103" y="1391371"/>
                  <a:pt x="674620" y="1369464"/>
                  <a:pt x="499067" y="1384867"/>
                </a:cubicBezTo>
                <a:cubicBezTo>
                  <a:pt x="323514" y="1400270"/>
                  <a:pt x="211466" y="1341365"/>
                  <a:pt x="0" y="1384867"/>
                </a:cubicBezTo>
                <a:cubicBezTo>
                  <a:pt x="-4750" y="1247981"/>
                  <a:pt x="17772" y="1065597"/>
                  <a:pt x="0" y="964791"/>
                </a:cubicBezTo>
                <a:cubicBezTo>
                  <a:pt x="-17772" y="863985"/>
                  <a:pt x="22834" y="641982"/>
                  <a:pt x="0" y="544714"/>
                </a:cubicBezTo>
                <a:cubicBezTo>
                  <a:pt x="-22834" y="447446"/>
                  <a:pt x="27368" y="174744"/>
                  <a:pt x="0" y="0"/>
                </a:cubicBezTo>
                <a:close/>
              </a:path>
            </a:pathLst>
          </a:custGeom>
          <a:noFill/>
          <a:ln>
            <a:solidFill>
              <a:schemeClr val="accent3">
                <a:lumMod val="60000"/>
                <a:lumOff val="40000"/>
              </a:schemeClr>
            </a:solidFill>
            <a:prstDash val="sysDot"/>
            <a:extLst>
              <a:ext uri="{C807C97D-BFC1-408E-A445-0C87EB9F89A2}">
                <ask:lineSketchStyleProps xmlns:ask="http://schemas.microsoft.com/office/drawing/2018/sketchyshapes" sd="1502860790">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algn="l"/>
            <a:endParaRPr lang="en-US" sz="1600" err="1">
              <a:solidFill>
                <a:prstClr val="white"/>
              </a:solidFill>
            </a:endParaRPr>
          </a:p>
        </p:txBody>
      </p:sp>
      <p:sp>
        <p:nvSpPr>
          <p:cNvPr id="5" name="Speech Bubble: Rectangle with Corners Rounded 4">
            <a:extLst>
              <a:ext uri="{FF2B5EF4-FFF2-40B4-BE49-F238E27FC236}">
                <a16:creationId xmlns:a16="http://schemas.microsoft.com/office/drawing/2014/main" id="{DF2414FA-93D6-7A9B-0271-9D68A63D52AA}"/>
              </a:ext>
            </a:extLst>
          </p:cNvPr>
          <p:cNvSpPr/>
          <p:nvPr/>
        </p:nvSpPr>
        <p:spPr>
          <a:xfrm>
            <a:off x="2194560" y="1174909"/>
            <a:ext cx="3008376" cy="604818"/>
          </a:xfrm>
          <a:prstGeom prst="wedgeRoundRectCallout">
            <a:avLst>
              <a:gd name="adj1" fmla="val 81421"/>
              <a:gd name="adj2" fmla="val 48362"/>
              <a:gd name="adj3" fmla="val 16667"/>
            </a:avLst>
          </a:prstGeom>
          <a:ln/>
        </p:spPr>
        <p:style>
          <a:lnRef idx="1">
            <a:schemeClr val="accent5"/>
          </a:lnRef>
          <a:fillRef idx="2">
            <a:schemeClr val="accent5"/>
          </a:fillRef>
          <a:effectRef idx="1">
            <a:schemeClr val="accent5"/>
          </a:effectRef>
          <a:fontRef idx="minor">
            <a:schemeClr val="dk1"/>
          </a:fontRef>
        </p:style>
        <p:txBody>
          <a:bodyPr lIns="182880" tIns="182880" rIns="182880" bIns="182880" rtlCol="0" anchor="t"/>
          <a:lstStyle/>
          <a:p>
            <a:pPr algn="l"/>
            <a:r>
              <a:rPr lang="en-US" sz="900">
                <a:solidFill>
                  <a:schemeClr val="bg2"/>
                </a:solidFill>
              </a:rPr>
              <a:t>Finance lease only recognize interest income (previously recognize rev/cost in extension period)</a:t>
            </a:r>
          </a:p>
        </p:txBody>
      </p:sp>
      <p:sp>
        <p:nvSpPr>
          <p:cNvPr id="8" name="Speech Bubble: Rectangle with Corners Rounded 7">
            <a:extLst>
              <a:ext uri="{FF2B5EF4-FFF2-40B4-BE49-F238E27FC236}">
                <a16:creationId xmlns:a16="http://schemas.microsoft.com/office/drawing/2014/main" id="{301B0723-A526-CC83-5B9E-5D9EE12A82D0}"/>
              </a:ext>
            </a:extLst>
          </p:cNvPr>
          <p:cNvSpPr/>
          <p:nvPr/>
        </p:nvSpPr>
        <p:spPr>
          <a:xfrm>
            <a:off x="2194560" y="2107026"/>
            <a:ext cx="3008376" cy="640080"/>
          </a:xfrm>
          <a:prstGeom prst="wedgeRoundRectCallout">
            <a:avLst>
              <a:gd name="adj1" fmla="val 83485"/>
              <a:gd name="adj2" fmla="val 209244"/>
              <a:gd name="adj3" fmla="val 16667"/>
            </a:avLst>
          </a:prstGeom>
          <a:ln/>
        </p:spPr>
        <p:style>
          <a:lnRef idx="1">
            <a:schemeClr val="accent3"/>
          </a:lnRef>
          <a:fillRef idx="2">
            <a:schemeClr val="accent3"/>
          </a:fillRef>
          <a:effectRef idx="1">
            <a:schemeClr val="accent3"/>
          </a:effectRef>
          <a:fontRef idx="minor">
            <a:schemeClr val="dk1"/>
          </a:fontRef>
        </p:style>
        <p:txBody>
          <a:bodyPr lIns="182880" tIns="182880" rIns="182880" bIns="182880" rtlCol="0" anchor="t"/>
          <a:lstStyle/>
          <a:p>
            <a:pPr algn="l"/>
            <a:r>
              <a:rPr lang="en-US" sz="900">
                <a:solidFill>
                  <a:schemeClr val="bg2"/>
                </a:solidFill>
              </a:rPr>
              <a:t>In BRIM, upfront service under AFE model, should book in agent revenue in AFE entity.</a:t>
            </a:r>
          </a:p>
        </p:txBody>
      </p:sp>
      <p:sp>
        <p:nvSpPr>
          <p:cNvPr id="10" name="Rectangle 9">
            <a:extLst>
              <a:ext uri="{FF2B5EF4-FFF2-40B4-BE49-F238E27FC236}">
                <a16:creationId xmlns:a16="http://schemas.microsoft.com/office/drawing/2014/main" id="{4D910078-BBCB-5057-B401-E6B454A0452A}"/>
              </a:ext>
            </a:extLst>
          </p:cNvPr>
          <p:cNvSpPr/>
          <p:nvPr/>
        </p:nvSpPr>
        <p:spPr>
          <a:xfrm>
            <a:off x="182880" y="3018418"/>
            <a:ext cx="5431536" cy="1384867"/>
          </a:xfrm>
          <a:custGeom>
            <a:avLst/>
            <a:gdLst>
              <a:gd name="csX0" fmla="*/ 0 w 5431536"/>
              <a:gd name="csY0" fmla="*/ 0 h 1384867"/>
              <a:gd name="csX1" fmla="*/ 380208 w 5431536"/>
              <a:gd name="csY1" fmla="*/ 0 h 1384867"/>
              <a:gd name="csX2" fmla="*/ 1031992 w 5431536"/>
              <a:gd name="csY2" fmla="*/ 0 h 1384867"/>
              <a:gd name="csX3" fmla="*/ 1575145 w 5431536"/>
              <a:gd name="csY3" fmla="*/ 0 h 1384867"/>
              <a:gd name="csX4" fmla="*/ 1955353 w 5431536"/>
              <a:gd name="csY4" fmla="*/ 0 h 1384867"/>
              <a:gd name="csX5" fmla="*/ 2389876 w 5431536"/>
              <a:gd name="csY5" fmla="*/ 0 h 1384867"/>
              <a:gd name="csX6" fmla="*/ 2987345 w 5431536"/>
              <a:gd name="csY6" fmla="*/ 0 h 1384867"/>
              <a:gd name="csX7" fmla="*/ 3476183 w 5431536"/>
              <a:gd name="csY7" fmla="*/ 0 h 1384867"/>
              <a:gd name="csX8" fmla="*/ 4073652 w 5431536"/>
              <a:gd name="csY8" fmla="*/ 0 h 1384867"/>
              <a:gd name="csX9" fmla="*/ 4725436 w 5431536"/>
              <a:gd name="csY9" fmla="*/ 0 h 1384867"/>
              <a:gd name="csX10" fmla="*/ 5431536 w 5431536"/>
              <a:gd name="csY10" fmla="*/ 0 h 1384867"/>
              <a:gd name="csX11" fmla="*/ 5431536 w 5431536"/>
              <a:gd name="csY11" fmla="*/ 433925 h 1384867"/>
              <a:gd name="csX12" fmla="*/ 5431536 w 5431536"/>
              <a:gd name="csY12" fmla="*/ 867850 h 1384867"/>
              <a:gd name="csX13" fmla="*/ 5431536 w 5431536"/>
              <a:gd name="csY13" fmla="*/ 1384867 h 1384867"/>
              <a:gd name="csX14" fmla="*/ 4997013 w 5431536"/>
              <a:gd name="csY14" fmla="*/ 1384867 h 1384867"/>
              <a:gd name="csX15" fmla="*/ 4453860 w 5431536"/>
              <a:gd name="csY15" fmla="*/ 1384867 h 1384867"/>
              <a:gd name="csX16" fmla="*/ 4073652 w 5431536"/>
              <a:gd name="csY16" fmla="*/ 1384867 h 1384867"/>
              <a:gd name="csX17" fmla="*/ 3530498 w 5431536"/>
              <a:gd name="csY17" fmla="*/ 1384867 h 1384867"/>
              <a:gd name="csX18" fmla="*/ 2987345 w 5431536"/>
              <a:gd name="csY18" fmla="*/ 1384867 h 1384867"/>
              <a:gd name="csX19" fmla="*/ 2335560 w 5431536"/>
              <a:gd name="csY19" fmla="*/ 1384867 h 1384867"/>
              <a:gd name="csX20" fmla="*/ 1738092 w 5431536"/>
              <a:gd name="csY20" fmla="*/ 1384867 h 1384867"/>
              <a:gd name="csX21" fmla="*/ 1086307 w 5431536"/>
              <a:gd name="csY21" fmla="*/ 1384867 h 1384867"/>
              <a:gd name="csX22" fmla="*/ 488838 w 5431536"/>
              <a:gd name="csY22" fmla="*/ 1384867 h 1384867"/>
              <a:gd name="csX23" fmla="*/ 0 w 5431536"/>
              <a:gd name="csY23" fmla="*/ 1384867 h 1384867"/>
              <a:gd name="csX24" fmla="*/ 0 w 5431536"/>
              <a:gd name="csY24" fmla="*/ 964791 h 1384867"/>
              <a:gd name="csX25" fmla="*/ 0 w 5431536"/>
              <a:gd name="csY25" fmla="*/ 544714 h 1384867"/>
              <a:gd name="csX26" fmla="*/ 0 w 5431536"/>
              <a:gd name="csY26" fmla="*/ 0 h 13848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5431536" h="1384867" extrusionOk="0">
                <a:moveTo>
                  <a:pt x="0" y="0"/>
                </a:moveTo>
                <a:cubicBezTo>
                  <a:pt x="176052" y="-13570"/>
                  <a:pt x="230208" y="13435"/>
                  <a:pt x="380208" y="0"/>
                </a:cubicBezTo>
                <a:cubicBezTo>
                  <a:pt x="530208" y="-13435"/>
                  <a:pt x="819764" y="32459"/>
                  <a:pt x="1031992" y="0"/>
                </a:cubicBezTo>
                <a:cubicBezTo>
                  <a:pt x="1244220" y="-32459"/>
                  <a:pt x="1445434" y="63039"/>
                  <a:pt x="1575145" y="0"/>
                </a:cubicBezTo>
                <a:cubicBezTo>
                  <a:pt x="1704856" y="-63039"/>
                  <a:pt x="1822094" y="24546"/>
                  <a:pt x="1955353" y="0"/>
                </a:cubicBezTo>
                <a:cubicBezTo>
                  <a:pt x="2088612" y="-24546"/>
                  <a:pt x="2271103" y="2532"/>
                  <a:pt x="2389876" y="0"/>
                </a:cubicBezTo>
                <a:cubicBezTo>
                  <a:pt x="2508649" y="-2532"/>
                  <a:pt x="2756748" y="1882"/>
                  <a:pt x="2987345" y="0"/>
                </a:cubicBezTo>
                <a:cubicBezTo>
                  <a:pt x="3217942" y="-1882"/>
                  <a:pt x="3241169" y="17915"/>
                  <a:pt x="3476183" y="0"/>
                </a:cubicBezTo>
                <a:cubicBezTo>
                  <a:pt x="3711197" y="-17915"/>
                  <a:pt x="3905871" y="53782"/>
                  <a:pt x="4073652" y="0"/>
                </a:cubicBezTo>
                <a:cubicBezTo>
                  <a:pt x="4241433" y="-53782"/>
                  <a:pt x="4475580" y="34097"/>
                  <a:pt x="4725436" y="0"/>
                </a:cubicBezTo>
                <a:cubicBezTo>
                  <a:pt x="4975292" y="-34097"/>
                  <a:pt x="5274768" y="80301"/>
                  <a:pt x="5431536" y="0"/>
                </a:cubicBezTo>
                <a:cubicBezTo>
                  <a:pt x="5432191" y="167095"/>
                  <a:pt x="5403258" y="299829"/>
                  <a:pt x="5431536" y="433925"/>
                </a:cubicBezTo>
                <a:cubicBezTo>
                  <a:pt x="5459814" y="568021"/>
                  <a:pt x="5409898" y="712653"/>
                  <a:pt x="5431536" y="867850"/>
                </a:cubicBezTo>
                <a:cubicBezTo>
                  <a:pt x="5453174" y="1023048"/>
                  <a:pt x="5411942" y="1162614"/>
                  <a:pt x="5431536" y="1384867"/>
                </a:cubicBezTo>
                <a:cubicBezTo>
                  <a:pt x="5264145" y="1393009"/>
                  <a:pt x="5211379" y="1383455"/>
                  <a:pt x="4997013" y="1384867"/>
                </a:cubicBezTo>
                <a:cubicBezTo>
                  <a:pt x="4782647" y="1386279"/>
                  <a:pt x="4709002" y="1354003"/>
                  <a:pt x="4453860" y="1384867"/>
                </a:cubicBezTo>
                <a:cubicBezTo>
                  <a:pt x="4198718" y="1415731"/>
                  <a:pt x="4195153" y="1363655"/>
                  <a:pt x="4073652" y="1384867"/>
                </a:cubicBezTo>
                <a:cubicBezTo>
                  <a:pt x="3952151" y="1406079"/>
                  <a:pt x="3641423" y="1345513"/>
                  <a:pt x="3530498" y="1384867"/>
                </a:cubicBezTo>
                <a:cubicBezTo>
                  <a:pt x="3419573" y="1424221"/>
                  <a:pt x="3218089" y="1329867"/>
                  <a:pt x="2987345" y="1384867"/>
                </a:cubicBezTo>
                <a:cubicBezTo>
                  <a:pt x="2756601" y="1439867"/>
                  <a:pt x="2653430" y="1347471"/>
                  <a:pt x="2335560" y="1384867"/>
                </a:cubicBezTo>
                <a:cubicBezTo>
                  <a:pt x="2017691" y="1422263"/>
                  <a:pt x="1890641" y="1371505"/>
                  <a:pt x="1738092" y="1384867"/>
                </a:cubicBezTo>
                <a:cubicBezTo>
                  <a:pt x="1585543" y="1398229"/>
                  <a:pt x="1364374" y="1363211"/>
                  <a:pt x="1086307" y="1384867"/>
                </a:cubicBezTo>
                <a:cubicBezTo>
                  <a:pt x="808240" y="1406523"/>
                  <a:pt x="715566" y="1314608"/>
                  <a:pt x="488838" y="1384867"/>
                </a:cubicBezTo>
                <a:cubicBezTo>
                  <a:pt x="262110" y="1455126"/>
                  <a:pt x="125374" y="1361504"/>
                  <a:pt x="0" y="1384867"/>
                </a:cubicBezTo>
                <a:cubicBezTo>
                  <a:pt x="-4750" y="1247981"/>
                  <a:pt x="17772" y="1065597"/>
                  <a:pt x="0" y="964791"/>
                </a:cubicBezTo>
                <a:cubicBezTo>
                  <a:pt x="-17772" y="863985"/>
                  <a:pt x="22834" y="641982"/>
                  <a:pt x="0" y="544714"/>
                </a:cubicBezTo>
                <a:cubicBezTo>
                  <a:pt x="-22834" y="447446"/>
                  <a:pt x="27368" y="174744"/>
                  <a:pt x="0" y="0"/>
                </a:cubicBezTo>
                <a:close/>
              </a:path>
            </a:pathLst>
          </a:custGeom>
          <a:noFill/>
          <a:ln>
            <a:solidFill>
              <a:schemeClr val="accent3">
                <a:lumMod val="60000"/>
                <a:lumOff val="40000"/>
              </a:schemeClr>
            </a:solidFill>
            <a:prstDash val="sysDot"/>
            <a:extLst>
              <a:ext uri="{C807C97D-BFC1-408E-A445-0C87EB9F89A2}">
                <ask:lineSketchStyleProps xmlns:ask="http://schemas.microsoft.com/office/drawing/2018/sketchyshapes" sd="1502860790">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algn="l"/>
            <a:endParaRPr lang="en-US" sz="1600" err="1">
              <a:solidFill>
                <a:prstClr val="white"/>
              </a:solidFill>
            </a:endParaRPr>
          </a:p>
        </p:txBody>
      </p:sp>
      <p:sp>
        <p:nvSpPr>
          <p:cNvPr id="12" name="标题 2">
            <a:extLst>
              <a:ext uri="{FF2B5EF4-FFF2-40B4-BE49-F238E27FC236}">
                <a16:creationId xmlns:a16="http://schemas.microsoft.com/office/drawing/2014/main" id="{8B1799BB-E833-3E09-DE20-3734B3A202A0}"/>
              </a:ext>
            </a:extLst>
          </p:cNvPr>
          <p:cNvSpPr txBox="1">
            <a:spLocks/>
          </p:cNvSpPr>
          <p:nvPr/>
        </p:nvSpPr>
        <p:spPr>
          <a:xfrm>
            <a:off x="188462" y="145288"/>
            <a:ext cx="4911007" cy="698500"/>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zh-CN" sz="3600"/>
              <a:t>AFE EOT-Extension FL</a:t>
            </a:r>
            <a:endParaRPr lang="zh-CN" altLang="en-US" sz="3600"/>
          </a:p>
        </p:txBody>
      </p:sp>
    </p:spTree>
    <p:extLst>
      <p:ext uri="{BB962C8B-B14F-4D97-AF65-F5344CB8AC3E}">
        <p14:creationId xmlns:p14="http://schemas.microsoft.com/office/powerpoint/2010/main" val="1862390854"/>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6AF17A99-BAAA-0F3E-BCDD-FF874210CAC1}"/>
              </a:ext>
            </a:extLst>
          </p:cNvPr>
          <p:cNvSpPr txBox="1"/>
          <p:nvPr/>
        </p:nvSpPr>
        <p:spPr>
          <a:xfrm>
            <a:off x="132750" y="204409"/>
            <a:ext cx="12059250" cy="584647"/>
          </a:xfrm>
          <a:prstGeom prst="rect">
            <a:avLst/>
          </a:prstGeom>
          <a:noFill/>
        </p:spPr>
        <p:txBody>
          <a:bodyPr wrap="square" rtlCol="0">
            <a:spAutoFit/>
          </a:bodyPr>
          <a:lstStyle/>
          <a:p>
            <a:pPr algn="l"/>
            <a:r>
              <a:rPr lang="en-US" altLang="zh-CN" sz="3199" b="1">
                <a:solidFill>
                  <a:srgbClr val="000000"/>
                </a:solidFill>
                <a:latin typeface="Tenorite" panose="00000500000000000000" pitchFamily="2" charset="0"/>
                <a:ea typeface="黑体" panose="02010609060101010101" pitchFamily="49" charset="-122"/>
                <a:cs typeface="Arial" panose="020B0604020202020204" pitchFamily="34" charset="0"/>
              </a:rPr>
              <a:t>OL to</a:t>
            </a:r>
            <a:r>
              <a:rPr lang="zh-CN" altLang="en-US" sz="3199" b="1">
                <a:solidFill>
                  <a:srgbClr val="000000"/>
                </a:solidFill>
                <a:latin typeface="Tenorite" panose="00000500000000000000" pitchFamily="2" charset="0"/>
                <a:ea typeface="黑体" panose="02010609060101010101" pitchFamily="49" charset="-122"/>
                <a:cs typeface="Arial" panose="020B0604020202020204" pitchFamily="34" charset="0"/>
              </a:rPr>
              <a:t> </a:t>
            </a:r>
            <a:r>
              <a:rPr lang="en-US" altLang="zh-CN" sz="3199" b="1">
                <a:solidFill>
                  <a:srgbClr val="000000"/>
                </a:solidFill>
                <a:latin typeface="Tenorite" panose="00000500000000000000" pitchFamily="2" charset="0"/>
                <a:ea typeface="黑体" panose="02010609060101010101" pitchFamily="49" charset="-122"/>
                <a:cs typeface="Arial" panose="020B0604020202020204" pitchFamily="34" charset="0"/>
              </a:rPr>
              <a:t>OL- Revenue &amp; Depreciate Cost Recalculation Logic</a:t>
            </a:r>
            <a:endParaRPr lang="zh-CN" altLang="en-US" sz="3199" b="1">
              <a:solidFill>
                <a:srgbClr val="000000"/>
              </a:solidFill>
              <a:latin typeface="Tenorite" panose="00000500000000000000" pitchFamily="2" charset="0"/>
              <a:ea typeface="黑体" panose="02010609060101010101" pitchFamily="49" charset="-122"/>
              <a:cs typeface="Arial" panose="020B0604020202020204" pitchFamily="34" charset="0"/>
            </a:endParaRPr>
          </a:p>
        </p:txBody>
      </p:sp>
      <p:graphicFrame>
        <p:nvGraphicFramePr>
          <p:cNvPr id="7" name="表格 6">
            <a:extLst>
              <a:ext uri="{FF2B5EF4-FFF2-40B4-BE49-F238E27FC236}">
                <a16:creationId xmlns:a16="http://schemas.microsoft.com/office/drawing/2014/main" id="{2BD9CEF9-9FFD-3881-0A6D-525BBD684234}"/>
              </a:ext>
            </a:extLst>
          </p:cNvPr>
          <p:cNvGraphicFramePr>
            <a:graphicFrameLocks noGrp="1"/>
          </p:cNvGraphicFramePr>
          <p:nvPr>
            <p:extLst>
              <p:ext uri="{D42A27DB-BD31-4B8C-83A1-F6EECF244321}">
                <p14:modId xmlns:p14="http://schemas.microsoft.com/office/powerpoint/2010/main" val="721940650"/>
              </p:ext>
            </p:extLst>
          </p:nvPr>
        </p:nvGraphicFramePr>
        <p:xfrm>
          <a:off x="205619" y="4079642"/>
          <a:ext cx="5494793" cy="955479"/>
        </p:xfrm>
        <a:graphic>
          <a:graphicData uri="http://schemas.openxmlformats.org/drawingml/2006/table">
            <a:tbl>
              <a:tblPr/>
              <a:tblGrid>
                <a:gridCol w="418289">
                  <a:extLst>
                    <a:ext uri="{9D8B030D-6E8A-4147-A177-3AD203B41FA5}">
                      <a16:colId xmlns:a16="http://schemas.microsoft.com/office/drawing/2014/main" val="495084399"/>
                    </a:ext>
                  </a:extLst>
                </a:gridCol>
                <a:gridCol w="258906">
                  <a:extLst>
                    <a:ext uri="{9D8B030D-6E8A-4147-A177-3AD203B41FA5}">
                      <a16:colId xmlns:a16="http://schemas.microsoft.com/office/drawing/2014/main" val="3614210242"/>
                    </a:ext>
                  </a:extLst>
                </a:gridCol>
                <a:gridCol w="616163">
                  <a:extLst>
                    <a:ext uri="{9D8B030D-6E8A-4147-A177-3AD203B41FA5}">
                      <a16:colId xmlns:a16="http://schemas.microsoft.com/office/drawing/2014/main" val="1442124609"/>
                    </a:ext>
                  </a:extLst>
                </a:gridCol>
                <a:gridCol w="1470053">
                  <a:extLst>
                    <a:ext uri="{9D8B030D-6E8A-4147-A177-3AD203B41FA5}">
                      <a16:colId xmlns:a16="http://schemas.microsoft.com/office/drawing/2014/main" val="3603859997"/>
                    </a:ext>
                  </a:extLst>
                </a:gridCol>
                <a:gridCol w="331599">
                  <a:extLst>
                    <a:ext uri="{9D8B030D-6E8A-4147-A177-3AD203B41FA5}">
                      <a16:colId xmlns:a16="http://schemas.microsoft.com/office/drawing/2014/main" val="4076488391"/>
                    </a:ext>
                  </a:extLst>
                </a:gridCol>
                <a:gridCol w="331599">
                  <a:extLst>
                    <a:ext uri="{9D8B030D-6E8A-4147-A177-3AD203B41FA5}">
                      <a16:colId xmlns:a16="http://schemas.microsoft.com/office/drawing/2014/main" val="3254101706"/>
                    </a:ext>
                  </a:extLst>
                </a:gridCol>
                <a:gridCol w="313184">
                  <a:extLst>
                    <a:ext uri="{9D8B030D-6E8A-4147-A177-3AD203B41FA5}">
                      <a16:colId xmlns:a16="http://schemas.microsoft.com/office/drawing/2014/main" val="3712391277"/>
                    </a:ext>
                  </a:extLst>
                </a:gridCol>
                <a:gridCol w="565582">
                  <a:extLst>
                    <a:ext uri="{9D8B030D-6E8A-4147-A177-3AD203B41FA5}">
                      <a16:colId xmlns:a16="http://schemas.microsoft.com/office/drawing/2014/main" val="134131131"/>
                    </a:ext>
                  </a:extLst>
                </a:gridCol>
                <a:gridCol w="322883">
                  <a:extLst>
                    <a:ext uri="{9D8B030D-6E8A-4147-A177-3AD203B41FA5}">
                      <a16:colId xmlns:a16="http://schemas.microsoft.com/office/drawing/2014/main" val="2527660299"/>
                    </a:ext>
                  </a:extLst>
                </a:gridCol>
                <a:gridCol w="388175">
                  <a:extLst>
                    <a:ext uri="{9D8B030D-6E8A-4147-A177-3AD203B41FA5}">
                      <a16:colId xmlns:a16="http://schemas.microsoft.com/office/drawing/2014/main" val="3641075278"/>
                    </a:ext>
                  </a:extLst>
                </a:gridCol>
                <a:gridCol w="478360">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Depreciation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rewrite active Month Batch</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4060110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Depreciation Expense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1218255"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黑体" panose="02010609060101010101" pitchFamily="49" charset="-122"/>
                          <a:cs typeface="+mn-cs"/>
                        </a:rPr>
                        <a:t>1.08</a:t>
                      </a:r>
                      <a:endParaRPr kumimoji="0" lang="en-US" altLang="zh-CN" sz="12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1218255"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黑体" panose="02010609060101010101" pitchFamily="49" charset="-122"/>
                          <a:cs typeface="+mn-cs"/>
                        </a:rPr>
                        <a:t>1.08</a:t>
                      </a:r>
                      <a:endParaRPr kumimoji="0" lang="en-US" altLang="zh-CN" sz="12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HW​</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1651550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Accumulated Depreciation</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1218255"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黑体" panose="02010609060101010101" pitchFamily="49" charset="-122"/>
                          <a:cs typeface="+mn-cs"/>
                        </a:rPr>
                        <a:t>1.08</a:t>
                      </a:r>
                      <a:endParaRPr kumimoji="0" lang="en-US" altLang="zh-CN" sz="12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1218255"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黑体" panose="02010609060101010101" pitchFamily="49" charset="-122"/>
                          <a:cs typeface="+mn-cs"/>
                        </a:rPr>
                        <a:t>1.08</a:t>
                      </a:r>
                      <a:endParaRPr kumimoji="0" lang="en-US" altLang="zh-CN" sz="12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739065243"/>
                  </a:ext>
                </a:extLst>
              </a:tr>
            </a:tbl>
          </a:graphicData>
        </a:graphic>
      </p:graphicFrame>
      <p:sp>
        <p:nvSpPr>
          <p:cNvPr id="8" name="文本框 7">
            <a:extLst>
              <a:ext uri="{FF2B5EF4-FFF2-40B4-BE49-F238E27FC236}">
                <a16:creationId xmlns:a16="http://schemas.microsoft.com/office/drawing/2014/main" id="{D173C59C-4A66-2A50-88A4-851108C7B663}"/>
              </a:ext>
            </a:extLst>
          </p:cNvPr>
          <p:cNvSpPr txBox="1"/>
          <p:nvPr/>
        </p:nvSpPr>
        <p:spPr>
          <a:xfrm>
            <a:off x="6096000" y="3988145"/>
            <a:ext cx="6006442" cy="2422523"/>
          </a:xfrm>
          <a:prstGeom prst="rect">
            <a:avLst/>
          </a:prstGeom>
          <a:noFill/>
        </p:spPr>
        <p:txBody>
          <a:bodyPr wrap="square" lIns="0" tIns="0" rIns="0" bIns="0" rtlCol="0">
            <a:spAutoFit/>
          </a:bodyPr>
          <a:lstStyle/>
          <a:p>
            <a:pPr marL="285750" indent="-285750" defTabSz="1218987">
              <a:lnSpc>
                <a:spcPct val="150000"/>
              </a:lnSpc>
              <a:buFont typeface="Wingdings" panose="05000000000000000000" pitchFamily="2" charset="2"/>
              <a:buChar char="l"/>
            </a:pPr>
            <a:r>
              <a:rPr lang="en-US" altLang="zh-CN" sz="12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Depreciation Method </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Straight Line Method of Depreciation</a:t>
            </a:r>
          </a:p>
          <a:p>
            <a:pPr marL="285750" indent="-285750" defTabSz="1218987">
              <a:lnSpc>
                <a:spcPct val="150000"/>
              </a:lnSpc>
              <a:buFont typeface="Wingdings" panose="05000000000000000000" pitchFamily="2" charset="2"/>
              <a:buChar char="l"/>
            </a:pPr>
            <a:r>
              <a:rPr lang="en-US" altLang="zh-CN" sz="12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Remaining Depreciation Terms </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Not billed terms + Extended terms</a:t>
            </a:r>
          </a:p>
          <a:p>
            <a:pPr defTabSz="1218987">
              <a:lnSpc>
                <a:spcPct val="150000"/>
              </a:lnSpc>
            </a:pP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 12 terms + 12 terms= 24 terms</a:t>
            </a:r>
          </a:p>
          <a:p>
            <a:pPr marL="285750" indent="-285750" defTabSz="1218987">
              <a:lnSpc>
                <a:spcPct val="150000"/>
              </a:lnSpc>
              <a:buFont typeface="Wingdings" panose="05000000000000000000" pitchFamily="2" charset="2"/>
              <a:buChar char="l"/>
            </a:pPr>
            <a:r>
              <a:rPr lang="en-US" altLang="zh-CN" sz="12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RV</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a:t>
            </a:r>
            <a:r>
              <a:rPr lang="en-US" altLang="zh-CN" sz="12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for T14</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17%</a:t>
            </a:r>
          </a:p>
          <a:p>
            <a:pPr marL="285750" indent="-285750" defTabSz="1218987">
              <a:lnSpc>
                <a:spcPct val="150000"/>
              </a:lnSpc>
              <a:buFont typeface="Wingdings" panose="05000000000000000000" pitchFamily="2" charset="2"/>
              <a:buChar char="l"/>
            </a:pPr>
            <a:r>
              <a:rPr lang="en-US" altLang="zh-CN" sz="12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RV value </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31.15*17% = 5.3</a:t>
            </a:r>
          </a:p>
          <a:p>
            <a:pPr marL="285750" indent="-285750" defTabSz="1218987">
              <a:lnSpc>
                <a:spcPct val="150000"/>
              </a:lnSpc>
              <a:buFont typeface="Wingdings" panose="05000000000000000000" pitchFamily="2" charset="2"/>
              <a:buChar char="l"/>
            </a:pPr>
            <a:r>
              <a:rPr lang="en-US" altLang="zh-CN" sz="12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Depreciation Expense </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(Asset value – RV value)/Remaining Depreciation Terms </a:t>
            </a:r>
          </a:p>
          <a:p>
            <a:pPr defTabSz="1218987">
              <a:lnSpc>
                <a:spcPct val="150000"/>
              </a:lnSpc>
            </a:pP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 (31.15 – 5.3)/24 = 1.08</a:t>
            </a:r>
          </a:p>
          <a:p>
            <a:pPr defTabSz="1218987">
              <a:lnSpc>
                <a:spcPct val="150000"/>
              </a:lnSpc>
            </a:pPr>
            <a:endPar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endParaRPr>
          </a:p>
          <a:p>
            <a:pPr defTabSz="1218987">
              <a:lnSpc>
                <a:spcPct val="150000"/>
              </a:lnSpc>
            </a:pPr>
            <a:endParaRPr lang="en-US" altLang="zh-CN" sz="700">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p:txBody>
      </p:sp>
      <p:graphicFrame>
        <p:nvGraphicFramePr>
          <p:cNvPr id="3" name="表格 2">
            <a:extLst>
              <a:ext uri="{FF2B5EF4-FFF2-40B4-BE49-F238E27FC236}">
                <a16:creationId xmlns:a16="http://schemas.microsoft.com/office/drawing/2014/main" id="{1794A2F2-5773-B75F-1E55-8555909FE583}"/>
              </a:ext>
            </a:extLst>
          </p:cNvPr>
          <p:cNvGraphicFramePr>
            <a:graphicFrameLocks noGrp="1"/>
          </p:cNvGraphicFramePr>
          <p:nvPr>
            <p:extLst>
              <p:ext uri="{D42A27DB-BD31-4B8C-83A1-F6EECF244321}">
                <p14:modId xmlns:p14="http://schemas.microsoft.com/office/powerpoint/2010/main" val="1181922790"/>
              </p:ext>
            </p:extLst>
          </p:nvPr>
        </p:nvGraphicFramePr>
        <p:xfrm>
          <a:off x="205618" y="1066378"/>
          <a:ext cx="5494794" cy="2196202"/>
        </p:xfrm>
        <a:graphic>
          <a:graphicData uri="http://schemas.openxmlformats.org/drawingml/2006/table">
            <a:tbl>
              <a:tblPr/>
              <a:tblGrid>
                <a:gridCol w="431144">
                  <a:extLst>
                    <a:ext uri="{9D8B030D-6E8A-4147-A177-3AD203B41FA5}">
                      <a16:colId xmlns:a16="http://schemas.microsoft.com/office/drawing/2014/main" val="495084399"/>
                    </a:ext>
                  </a:extLst>
                </a:gridCol>
                <a:gridCol w="233904">
                  <a:extLst>
                    <a:ext uri="{9D8B030D-6E8A-4147-A177-3AD203B41FA5}">
                      <a16:colId xmlns:a16="http://schemas.microsoft.com/office/drawing/2014/main" val="3614210242"/>
                    </a:ext>
                  </a:extLst>
                </a:gridCol>
                <a:gridCol w="556661">
                  <a:extLst>
                    <a:ext uri="{9D8B030D-6E8A-4147-A177-3AD203B41FA5}">
                      <a16:colId xmlns:a16="http://schemas.microsoft.com/office/drawing/2014/main" val="1442124609"/>
                    </a:ext>
                  </a:extLst>
                </a:gridCol>
                <a:gridCol w="1821847">
                  <a:extLst>
                    <a:ext uri="{9D8B030D-6E8A-4147-A177-3AD203B41FA5}">
                      <a16:colId xmlns:a16="http://schemas.microsoft.com/office/drawing/2014/main" val="3603859997"/>
                    </a:ext>
                  </a:extLst>
                </a:gridCol>
                <a:gridCol w="337235">
                  <a:extLst>
                    <a:ext uri="{9D8B030D-6E8A-4147-A177-3AD203B41FA5}">
                      <a16:colId xmlns:a16="http://schemas.microsoft.com/office/drawing/2014/main" val="4076488391"/>
                    </a:ext>
                  </a:extLst>
                </a:gridCol>
                <a:gridCol w="337235">
                  <a:extLst>
                    <a:ext uri="{9D8B030D-6E8A-4147-A177-3AD203B41FA5}">
                      <a16:colId xmlns:a16="http://schemas.microsoft.com/office/drawing/2014/main" val="3254101706"/>
                    </a:ext>
                  </a:extLst>
                </a:gridCol>
                <a:gridCol w="256272">
                  <a:extLst>
                    <a:ext uri="{9D8B030D-6E8A-4147-A177-3AD203B41FA5}">
                      <a16:colId xmlns:a16="http://schemas.microsoft.com/office/drawing/2014/main" val="3712391277"/>
                    </a:ext>
                  </a:extLst>
                </a:gridCol>
                <a:gridCol w="575192">
                  <a:extLst>
                    <a:ext uri="{9D8B030D-6E8A-4147-A177-3AD203B41FA5}">
                      <a16:colId xmlns:a16="http://schemas.microsoft.com/office/drawing/2014/main" val="134131131"/>
                    </a:ext>
                  </a:extLst>
                </a:gridCol>
                <a:gridCol w="269933">
                  <a:extLst>
                    <a:ext uri="{9D8B030D-6E8A-4147-A177-3AD203B41FA5}">
                      <a16:colId xmlns:a16="http://schemas.microsoft.com/office/drawing/2014/main" val="2527660299"/>
                    </a:ext>
                  </a:extLst>
                </a:gridCol>
                <a:gridCol w="388885">
                  <a:extLst>
                    <a:ext uri="{9D8B030D-6E8A-4147-A177-3AD203B41FA5}">
                      <a16:colId xmlns:a16="http://schemas.microsoft.com/office/drawing/2014/main" val="3641075278"/>
                    </a:ext>
                  </a:extLst>
                </a:gridCol>
                <a:gridCol w="286486">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Monthly Invoice issued to customer ​</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Upon Monthly Billing​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44.3</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4" name="文本框 3">
            <a:extLst>
              <a:ext uri="{FF2B5EF4-FFF2-40B4-BE49-F238E27FC236}">
                <a16:creationId xmlns:a16="http://schemas.microsoft.com/office/drawing/2014/main" id="{7780ECE8-992B-27B2-7E73-8886EA47D20B}"/>
              </a:ext>
            </a:extLst>
          </p:cNvPr>
          <p:cNvSpPr txBox="1"/>
          <p:nvPr/>
        </p:nvSpPr>
        <p:spPr>
          <a:xfrm>
            <a:off x="6076950" y="1066378"/>
            <a:ext cx="6006442" cy="1076770"/>
          </a:xfrm>
          <a:prstGeom prst="rect">
            <a:avLst/>
          </a:prstGeom>
          <a:noFill/>
        </p:spPr>
        <p:txBody>
          <a:bodyPr wrap="square" lIns="0" tIns="0" rIns="0" bIns="0" rtlCol="0">
            <a:spAutoFit/>
          </a:bodyPr>
          <a:lstStyle/>
          <a:p>
            <a:pPr marL="285750" indent="-285750" defTabSz="1218987">
              <a:lnSpc>
                <a:spcPct val="150000"/>
              </a:lnSpc>
              <a:buFont typeface="Wingdings" panose="05000000000000000000" pitchFamily="2" charset="2"/>
              <a:buChar char="l"/>
            </a:pP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LGFS only need to define the mid term rewrite rules for Term Change &amp; LRF Change, system can auto recalculate the new price for all tranches after uploaded by LOT.</a:t>
            </a:r>
          </a:p>
          <a:p>
            <a:pPr marL="285750" indent="-285750" defTabSz="1218987">
              <a:lnSpc>
                <a:spcPct val="150000"/>
              </a:lnSpc>
              <a:buFont typeface="Wingdings" panose="05000000000000000000" pitchFamily="2" charset="2"/>
              <a:buChar char="l"/>
            </a:pPr>
            <a:r>
              <a:rPr lang="en-US" altLang="zh-CN" sz="12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OL Revenue/Upfront</a:t>
            </a:r>
            <a:r>
              <a:rPr lang="zh-CN" altLang="en-US" sz="12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a:t>
            </a:r>
            <a:r>
              <a:rPr lang="en-US" altLang="zh-CN" sz="12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service/Managed service/Premier support/ARS: </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Front-end recalculation amt and pass to finance team </a:t>
            </a:r>
            <a:r>
              <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rPr>
              <a:t>​</a:t>
            </a:r>
            <a:endParaRPr lang="en-US" altLang="zh-CN" sz="12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endParaRPr>
          </a:p>
        </p:txBody>
      </p:sp>
      <p:pic>
        <p:nvPicPr>
          <p:cNvPr id="6" name="图片 5">
            <a:extLst>
              <a:ext uri="{FF2B5EF4-FFF2-40B4-BE49-F238E27FC236}">
                <a16:creationId xmlns:a16="http://schemas.microsoft.com/office/drawing/2014/main" id="{720412B4-C6B9-47D1-A14D-E5156A59AA4D}"/>
              </a:ext>
            </a:extLst>
          </p:cNvPr>
          <p:cNvPicPr>
            <a:picLocks noChangeAspect="1"/>
          </p:cNvPicPr>
          <p:nvPr/>
        </p:nvPicPr>
        <p:blipFill>
          <a:blip r:embed="rId3"/>
          <a:stretch>
            <a:fillRect/>
          </a:stretch>
        </p:blipFill>
        <p:spPr>
          <a:xfrm>
            <a:off x="270566" y="5166591"/>
            <a:ext cx="2015234" cy="1691409"/>
          </a:xfrm>
          <a:prstGeom prst="rect">
            <a:avLst/>
          </a:prstGeom>
        </p:spPr>
      </p:pic>
    </p:spTree>
    <p:extLst>
      <p:ext uri="{BB962C8B-B14F-4D97-AF65-F5344CB8AC3E}">
        <p14:creationId xmlns:p14="http://schemas.microsoft.com/office/powerpoint/2010/main" val="3021891805"/>
      </p:ext>
    </p:extLst>
  </p:cSld>
  <p:clrMapOvr>
    <a:masterClrMapping/>
  </p:clrMapOvr>
  <p:transition>
    <p:fade/>
  </p:transition>
</p:sld>
</file>

<file path=ppt/slides/slide14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035E2C4-0ACE-6531-5044-8D355D5E272C}"/>
            </a:ext>
          </a:extLst>
        </p:cNvPr>
        <p:cNvGrpSpPr/>
        <p:nvPr/>
      </p:nvGrpSpPr>
      <p:grpSpPr>
        <a:xfrm>
          <a:off x="0" y="0"/>
          <a:ext cx="0" cy="0"/>
          <a:chOff x="0" y="0"/>
          <a:chExt cx="0" cy="0"/>
        </a:xfrm>
      </p:grpSpPr>
      <p:sp>
        <p:nvSpPr>
          <p:cNvPr id="5" name="文本框 4">
            <a:extLst>
              <a:ext uri="{FF2B5EF4-FFF2-40B4-BE49-F238E27FC236}">
                <a16:creationId xmlns:a16="http://schemas.microsoft.com/office/drawing/2014/main" id="{073FA64E-2E20-E765-68C5-898A6756F5B4}"/>
              </a:ext>
            </a:extLst>
          </p:cNvPr>
          <p:cNvSpPr txBox="1"/>
          <p:nvPr/>
        </p:nvSpPr>
        <p:spPr>
          <a:xfrm>
            <a:off x="8867" y="10175"/>
            <a:ext cx="10540424" cy="584647"/>
          </a:xfrm>
          <a:prstGeom prst="rect">
            <a:avLst/>
          </a:prstGeom>
          <a:noFill/>
        </p:spPr>
        <p:txBody>
          <a:bodyPr wrap="square" rtlCol="0">
            <a:spAutoFit/>
          </a:bodyPr>
          <a:lstStyle/>
          <a:p>
            <a:pPr algn="l"/>
            <a:r>
              <a:rPr lang="en-US" altLang="zh-CN" sz="3199" b="1">
                <a:solidFill>
                  <a:srgbClr val="000000"/>
                </a:solidFill>
                <a:latin typeface="Tenorite" panose="00000500000000000000" pitchFamily="2" charset="0"/>
                <a:ea typeface="黑体" panose="02010609060101010101" pitchFamily="49" charset="-122"/>
                <a:cs typeface="Arial" panose="020B0604020202020204" pitchFamily="34" charset="0"/>
              </a:rPr>
              <a:t>FL to FL - Revenue &amp; Cost Recalculation Logic</a:t>
            </a:r>
            <a:endParaRPr lang="zh-CN" altLang="en-US" sz="3199" b="1">
              <a:solidFill>
                <a:srgbClr val="000000"/>
              </a:solidFill>
              <a:latin typeface="Tenorite" panose="00000500000000000000" pitchFamily="2" charset="0"/>
              <a:ea typeface="黑体" panose="02010609060101010101" pitchFamily="49" charset="-122"/>
              <a:cs typeface="Arial" panose="020B0604020202020204" pitchFamily="34" charset="0"/>
            </a:endParaRPr>
          </a:p>
        </p:txBody>
      </p:sp>
      <p:graphicFrame>
        <p:nvGraphicFramePr>
          <p:cNvPr id="3" name="表格 2">
            <a:extLst>
              <a:ext uri="{FF2B5EF4-FFF2-40B4-BE49-F238E27FC236}">
                <a16:creationId xmlns:a16="http://schemas.microsoft.com/office/drawing/2014/main" id="{3E6B322A-7E96-970D-9FAD-D9A0B9F900C6}"/>
              </a:ext>
            </a:extLst>
          </p:cNvPr>
          <p:cNvGraphicFramePr>
            <a:graphicFrameLocks noGrp="1"/>
          </p:cNvGraphicFramePr>
          <p:nvPr>
            <p:extLst>
              <p:ext uri="{D42A27DB-BD31-4B8C-83A1-F6EECF244321}">
                <p14:modId xmlns:p14="http://schemas.microsoft.com/office/powerpoint/2010/main" val="35428485"/>
              </p:ext>
            </p:extLst>
          </p:nvPr>
        </p:nvGraphicFramePr>
        <p:xfrm>
          <a:off x="139796" y="4952262"/>
          <a:ext cx="6203596" cy="1860935"/>
        </p:xfrm>
        <a:graphic>
          <a:graphicData uri="http://schemas.openxmlformats.org/drawingml/2006/table">
            <a:tbl>
              <a:tblPr/>
              <a:tblGrid>
                <a:gridCol w="437298">
                  <a:extLst>
                    <a:ext uri="{9D8B030D-6E8A-4147-A177-3AD203B41FA5}">
                      <a16:colId xmlns:a16="http://schemas.microsoft.com/office/drawing/2014/main" val="495084399"/>
                    </a:ext>
                  </a:extLst>
                </a:gridCol>
                <a:gridCol w="23353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73562">
                  <a:extLst>
                    <a:ext uri="{9D8B030D-6E8A-4147-A177-3AD203B41FA5}">
                      <a16:colId xmlns:a16="http://schemas.microsoft.com/office/drawing/2014/main" val="3603859997"/>
                    </a:ext>
                  </a:extLst>
                </a:gridCol>
                <a:gridCol w="476986">
                  <a:extLst>
                    <a:ext uri="{9D8B030D-6E8A-4147-A177-3AD203B41FA5}">
                      <a16:colId xmlns:a16="http://schemas.microsoft.com/office/drawing/2014/main" val="4076488391"/>
                    </a:ext>
                  </a:extLst>
                </a:gridCol>
                <a:gridCol w="476986">
                  <a:extLst>
                    <a:ext uri="{9D8B030D-6E8A-4147-A177-3AD203B41FA5}">
                      <a16:colId xmlns:a16="http://schemas.microsoft.com/office/drawing/2014/main" val="3254101706"/>
                    </a:ext>
                  </a:extLst>
                </a:gridCol>
                <a:gridCol w="268668">
                  <a:extLst>
                    <a:ext uri="{9D8B030D-6E8A-4147-A177-3AD203B41FA5}">
                      <a16:colId xmlns:a16="http://schemas.microsoft.com/office/drawing/2014/main" val="3712391277"/>
                    </a:ext>
                  </a:extLst>
                </a:gridCol>
                <a:gridCol w="580908">
                  <a:extLst>
                    <a:ext uri="{9D8B030D-6E8A-4147-A177-3AD203B41FA5}">
                      <a16:colId xmlns:a16="http://schemas.microsoft.com/office/drawing/2014/main" val="1872140390"/>
                    </a:ext>
                  </a:extLst>
                </a:gridCol>
                <a:gridCol w="257419">
                  <a:extLst>
                    <a:ext uri="{9D8B030D-6E8A-4147-A177-3AD203B41FA5}">
                      <a16:colId xmlns:a16="http://schemas.microsoft.com/office/drawing/2014/main" val="2527660299"/>
                    </a:ext>
                  </a:extLst>
                </a:gridCol>
                <a:gridCol w="387513">
                  <a:extLst>
                    <a:ext uri="{9D8B030D-6E8A-4147-A177-3AD203B41FA5}">
                      <a16:colId xmlns:a16="http://schemas.microsoft.com/office/drawing/2014/main" val="3641075278"/>
                    </a:ext>
                  </a:extLst>
                </a:gridCol>
                <a:gridCol w="538482">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16.53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16.53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(T14 &amp; X1)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6.23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6.23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3.3</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0187103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sp>
        <p:nvSpPr>
          <p:cNvPr id="2" name="文本框 1">
            <a:extLst>
              <a:ext uri="{FF2B5EF4-FFF2-40B4-BE49-F238E27FC236}">
                <a16:creationId xmlns:a16="http://schemas.microsoft.com/office/drawing/2014/main" id="{85DFDDC3-2A4E-9E53-2D10-7613A09E9237}"/>
              </a:ext>
            </a:extLst>
          </p:cNvPr>
          <p:cNvSpPr txBox="1"/>
          <p:nvPr/>
        </p:nvSpPr>
        <p:spPr>
          <a:xfrm>
            <a:off x="6474321" y="5270536"/>
            <a:ext cx="5199552" cy="1389868"/>
          </a:xfrm>
          <a:prstGeom prst="rect">
            <a:avLst/>
          </a:prstGeom>
          <a:noFill/>
        </p:spPr>
        <p:txBody>
          <a:bodyPr wrap="square" lIns="0" tIns="0" rIns="0" bIns="0" rtlCol="0">
            <a:spAutoFit/>
          </a:bodyPr>
          <a:lstStyle/>
          <a:p>
            <a:pPr marL="285750" indent="-285750" defTabSz="1218987">
              <a:lnSpc>
                <a:spcPct val="150000"/>
              </a:lnSpc>
              <a:buFont typeface="Wingdings" panose="05000000000000000000" pitchFamily="2" charset="2"/>
              <a:buChar char="l"/>
            </a:pPr>
            <a:r>
              <a:rPr lang="en-US" altLang="zh-CN" sz="11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Lease Receivable  </a:t>
            </a: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Monthly rewrite payment amt *Quantity</a:t>
            </a:r>
          </a:p>
          <a:p>
            <a:pPr defTabSz="1218987">
              <a:lnSpc>
                <a:spcPct val="150000"/>
              </a:lnSpc>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 Rewrite amt * changed LRF * Quantity</a:t>
            </a:r>
          </a:p>
          <a:p>
            <a:pPr defTabSz="1218987">
              <a:lnSpc>
                <a:spcPct val="150000"/>
              </a:lnSpc>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 31.15* 0.024 * 5 + 51.95 * 0.024 * 2 = 6.23</a:t>
            </a:r>
          </a:p>
          <a:p>
            <a:pPr marL="285750" indent="-285750" defTabSz="1218987">
              <a:lnSpc>
                <a:spcPct val="150000"/>
              </a:lnSpc>
              <a:buFont typeface="Wingdings" panose="05000000000000000000" pitchFamily="2" charset="2"/>
              <a:buChar char="l"/>
            </a:pPr>
            <a:r>
              <a:rPr lang="en-US" altLang="zh-CN" sz="11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OL Revenue/Upfront</a:t>
            </a:r>
            <a:r>
              <a:rPr lang="zh-CN" altLang="en-US" sz="11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a:t>
            </a:r>
            <a:r>
              <a:rPr lang="en-US" altLang="zh-CN" sz="11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service/Managed service/Premier support/ARS: </a:t>
            </a: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Front-end recalculation amt and pass to finance team </a:t>
            </a:r>
          </a:p>
          <a:p>
            <a:pPr defTabSz="1218987">
              <a:lnSpc>
                <a:spcPct val="150000"/>
              </a:lnSpc>
            </a:pPr>
            <a:endParaRPr lang="en-US" altLang="zh-CN" sz="600">
              <a:solidFill>
                <a:srgbClr val="000000"/>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p:txBody>
      </p:sp>
      <p:graphicFrame>
        <p:nvGraphicFramePr>
          <p:cNvPr id="8" name="表格 7">
            <a:extLst>
              <a:ext uri="{FF2B5EF4-FFF2-40B4-BE49-F238E27FC236}">
                <a16:creationId xmlns:a16="http://schemas.microsoft.com/office/drawing/2014/main" id="{D34388CA-5EF3-E8C7-E00A-E664238B88A5}"/>
              </a:ext>
            </a:extLst>
          </p:cNvPr>
          <p:cNvGraphicFramePr>
            <a:graphicFrameLocks noGrp="1"/>
          </p:cNvGraphicFramePr>
          <p:nvPr>
            <p:extLst>
              <p:ext uri="{D42A27DB-BD31-4B8C-83A1-F6EECF244321}">
                <p14:modId xmlns:p14="http://schemas.microsoft.com/office/powerpoint/2010/main" val="1503215068"/>
              </p:ext>
            </p:extLst>
          </p:nvPr>
        </p:nvGraphicFramePr>
        <p:xfrm>
          <a:off x="113414" y="594822"/>
          <a:ext cx="6256360" cy="1854730"/>
        </p:xfrm>
        <a:graphic>
          <a:graphicData uri="http://schemas.openxmlformats.org/drawingml/2006/table">
            <a:tbl>
              <a:tblPr/>
              <a:tblGrid>
                <a:gridCol w="437298">
                  <a:extLst>
                    <a:ext uri="{9D8B030D-6E8A-4147-A177-3AD203B41FA5}">
                      <a16:colId xmlns:a16="http://schemas.microsoft.com/office/drawing/2014/main" val="495084399"/>
                    </a:ext>
                  </a:extLst>
                </a:gridCol>
                <a:gridCol w="311132">
                  <a:extLst>
                    <a:ext uri="{9D8B030D-6E8A-4147-A177-3AD203B41FA5}">
                      <a16:colId xmlns:a16="http://schemas.microsoft.com/office/drawing/2014/main" val="3614210242"/>
                    </a:ext>
                  </a:extLst>
                </a:gridCol>
                <a:gridCol w="659130">
                  <a:extLst>
                    <a:ext uri="{9D8B030D-6E8A-4147-A177-3AD203B41FA5}">
                      <a16:colId xmlns:a16="http://schemas.microsoft.com/office/drawing/2014/main" val="1442124609"/>
                    </a:ext>
                  </a:extLst>
                </a:gridCol>
                <a:gridCol w="1222226">
                  <a:extLst>
                    <a:ext uri="{9D8B030D-6E8A-4147-A177-3AD203B41FA5}">
                      <a16:colId xmlns:a16="http://schemas.microsoft.com/office/drawing/2014/main" val="3603859997"/>
                    </a:ext>
                  </a:extLst>
                </a:gridCol>
                <a:gridCol w="1069486">
                  <a:extLst>
                    <a:ext uri="{9D8B030D-6E8A-4147-A177-3AD203B41FA5}">
                      <a16:colId xmlns:a16="http://schemas.microsoft.com/office/drawing/2014/main" val="4076488391"/>
                    </a:ext>
                  </a:extLst>
                </a:gridCol>
                <a:gridCol w="810114">
                  <a:extLst>
                    <a:ext uri="{9D8B030D-6E8A-4147-A177-3AD203B41FA5}">
                      <a16:colId xmlns:a16="http://schemas.microsoft.com/office/drawing/2014/main" val="3254101706"/>
                    </a:ext>
                  </a:extLst>
                </a:gridCol>
                <a:gridCol w="279400">
                  <a:extLst>
                    <a:ext uri="{9D8B030D-6E8A-4147-A177-3AD203B41FA5}">
                      <a16:colId xmlns:a16="http://schemas.microsoft.com/office/drawing/2014/main" val="3712391277"/>
                    </a:ext>
                  </a:extLst>
                </a:gridCol>
                <a:gridCol w="544245">
                  <a:extLst>
                    <a:ext uri="{9D8B030D-6E8A-4147-A177-3AD203B41FA5}">
                      <a16:colId xmlns:a16="http://schemas.microsoft.com/office/drawing/2014/main" val="1872140390"/>
                    </a:ext>
                  </a:extLst>
                </a:gridCol>
                <a:gridCol w="273786">
                  <a:extLst>
                    <a:ext uri="{9D8B030D-6E8A-4147-A177-3AD203B41FA5}">
                      <a16:colId xmlns:a16="http://schemas.microsoft.com/office/drawing/2014/main" val="2527660299"/>
                    </a:ext>
                  </a:extLst>
                </a:gridCol>
                <a:gridCol w="363057">
                  <a:extLst>
                    <a:ext uri="{9D8B030D-6E8A-4147-A177-3AD203B41FA5}">
                      <a16:colId xmlns:a16="http://schemas.microsoft.com/office/drawing/2014/main" val="3641075278"/>
                    </a:ext>
                  </a:extLst>
                </a:gridCol>
                <a:gridCol w="286486">
                  <a:extLst>
                    <a:ext uri="{9D8B030D-6E8A-4147-A177-3AD203B41FA5}">
                      <a16:colId xmlns:a16="http://schemas.microsoft.com/office/drawing/2014/main" val="3618613915"/>
                    </a:ext>
                  </a:extLst>
                </a:gridCol>
              </a:tblGrid>
              <a:tr h="111748">
                <a:tc rowSpan="8">
                  <a:txBody>
                    <a:bodyPr/>
                    <a:lstStyle/>
                    <a:p>
                      <a:pPr algn="ctr" fontAlgn="base">
                        <a:lnSpc>
                          <a:spcPts val="1425"/>
                        </a:lnSpc>
                        <a:buNone/>
                      </a:pPr>
                      <a:r>
                        <a:rPr lang="en-US" sz="900" b="1" i="0">
                          <a:solidFill>
                            <a:srgbClr val="FFFFFF"/>
                          </a:solidFill>
                          <a:effectLst/>
                          <a:latin typeface="Arial"/>
                        </a:rPr>
                        <a:t>AFE​</a:t>
                      </a:r>
                      <a:br>
                        <a:rPr lang="en-US" sz="900" b="1" i="0">
                          <a:solidFill>
                            <a:srgbClr val="FFFFFF"/>
                          </a:solidFill>
                          <a:effectLst/>
                          <a:latin typeface="Arial"/>
                        </a:rPr>
                      </a:br>
                      <a:r>
                        <a:rPr lang="en-US" sz="900" b="1" i="0" u="none" strike="noStrike">
                          <a:solidFill>
                            <a:srgbClr val="FFFFFF"/>
                          </a:solidFill>
                          <a:effectLst/>
                          <a:latin typeface="Arial"/>
                        </a:rPr>
                        <a:t>Entity</a:t>
                      </a:r>
                      <a:r>
                        <a:rPr lang="en-US" sz="900" b="1" i="0">
                          <a:solidFill>
                            <a:srgbClr val="FFFFFF"/>
                          </a:solidFill>
                          <a:effectLst/>
                          <a:latin typeface="Arial"/>
                        </a:rPr>
                        <a:t>​</a:t>
                      </a:r>
                      <a:endParaRPr lang="en-US" sz="1100" b="1" i="0">
                        <a:solidFill>
                          <a:srgbClr val="FFFFFF"/>
                        </a:solidFill>
                        <a:effectLst/>
                        <a:latin typeface="Arial"/>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13735">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13735">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36800">
                <a:tc vMerge="1">
                  <a:txBody>
                    <a:bodyPr/>
                    <a:lstStyle/>
                    <a:p>
                      <a:endParaRPr lang="zh-CN" altLang="en-US"/>
                    </a:p>
                  </a:txBody>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Dr​</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1400301</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l" defTabSz="914400" rtl="0" eaLnBrk="1" fontAlgn="base" latinLnBrk="0" hangingPunct="1">
                        <a:lnSpc>
                          <a:spcPct val="100000"/>
                        </a:lnSpc>
                        <a:buNone/>
                      </a:pPr>
                      <a:r>
                        <a:rPr lang="en-US" altLang="zh-CN" sz="900" b="0" i="0" u="none" strike="noStrike" kern="1200">
                          <a:solidFill>
                            <a:srgbClr val="000000"/>
                          </a:solidFill>
                          <a:effectLst/>
                          <a:latin typeface="Arial" panose="020B0604020202020204" pitchFamily="34" charset="0"/>
                          <a:ea typeface="+mn-ea"/>
                          <a:cs typeface="+mn-cs"/>
                        </a:rPr>
                        <a:t>Lease Receivable </a:t>
                      </a:r>
                      <a:endParaRPr lang="en-US" sz="900" b="0" i="0" u="none" strike="noStrike" kern="1200">
                        <a:solidFill>
                          <a:srgbClr val="000000"/>
                        </a:solidFill>
                        <a:effectLst/>
                        <a:latin typeface="Arial" panose="020B0604020202020204" pitchFamily="34" charset="0"/>
                        <a:ea typeface="+mn-ea"/>
                        <a:cs typeface="+mn-cs"/>
                      </a:endParaRPr>
                    </a:p>
                  </a:txBody>
                  <a:tcPr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149.52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149.52</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algn="ctr" fontAlgn="auto">
                        <a:lnSpc>
                          <a:spcPct val="1000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4038309671"/>
                  </a:ext>
                </a:extLst>
              </a:tr>
              <a:tr h="201123">
                <a:tc vMerge="1">
                  <a:txBody>
                    <a:bodyPr/>
                    <a:lstStyle/>
                    <a:p>
                      <a:endParaRPr lang="zh-CN" altLang="en-US"/>
                    </a:p>
                  </a:txBody>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Cr​</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1400303</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l" defTabSz="914400" rtl="0" eaLnBrk="1" fontAlgn="base" latinLnBrk="0" hangingPunct="1">
                        <a:lnSpc>
                          <a:spcPct val="100000"/>
                        </a:lnSpc>
                        <a:buNone/>
                      </a:pPr>
                      <a:r>
                        <a:rPr lang="en-US" altLang="zh-CN" sz="900" b="0" i="0" u="none" strike="noStrike" kern="1200">
                          <a:solidFill>
                            <a:srgbClr val="000000"/>
                          </a:solidFill>
                          <a:effectLst/>
                          <a:latin typeface="Arial" panose="020B0604020202020204" pitchFamily="34" charset="0"/>
                          <a:ea typeface="+mn-ea"/>
                          <a:cs typeface="+mn-cs"/>
                        </a:rPr>
                        <a:t>Lease Receivable - Interest</a:t>
                      </a:r>
                    </a:p>
                  </a:txBody>
                  <a:tcPr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ct val="100000"/>
                        </a:lnSpc>
                        <a:buNone/>
                      </a:pPr>
                      <a:r>
                        <a:rPr lang="en-US" altLang="zh-CN" sz="900" b="0" i="0" u="none" strike="noStrike" kern="1200">
                          <a:solidFill>
                            <a:srgbClr val="000000"/>
                          </a:solidFill>
                          <a:effectLst/>
                          <a:latin typeface="Arial" panose="020B0604020202020204" pitchFamily="34" charset="0"/>
                          <a:ea typeface="+mn-ea"/>
                          <a:cs typeface="+mn-cs"/>
                        </a:rPr>
                        <a:t>16.12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16.12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2739065243"/>
                  </a:ext>
                </a:extLst>
              </a:tr>
              <a:tr h="13680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Cr​</a:t>
                      </a:r>
                    </a:p>
                  </a:txBody>
                  <a:tcPr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5010514</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Interest Income</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133.4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133.4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ct val="1000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240612593"/>
                  </a:ext>
                </a:extLst>
              </a:tr>
              <a:tr h="13680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Dr​</a:t>
                      </a:r>
                    </a:p>
                  </a:txBody>
                  <a:tcPr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5010514</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Interest Income</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32.53-25.54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32.53-25.54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ct val="1000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901871034"/>
                  </a:ext>
                </a:extLst>
              </a:tr>
              <a:tr h="13680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Cr</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1400307</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l"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Residual Value</a:t>
                      </a:r>
                    </a:p>
                  </a:txBody>
                  <a:tcPr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32.53-25.54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32.53-25.54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ct val="1000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algn="ctr" defTabSz="914400" rtl="0" eaLnBrk="1" fontAlgn="base" latinLnBrk="0" hangingPunct="1">
                        <a:lnSpc>
                          <a:spcPct val="1000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92D050"/>
                    </a:solidFill>
                  </a:tcPr>
                </a:tc>
                <a:extLst>
                  <a:ext uri="{0D108BD9-81ED-4DB2-BD59-A6C34878D82A}">
                    <a16:rowId xmlns:a16="http://schemas.microsoft.com/office/drawing/2014/main" val="3952808342"/>
                  </a:ext>
                </a:extLst>
              </a:tr>
            </a:tbl>
          </a:graphicData>
        </a:graphic>
      </p:graphicFrame>
      <p:sp>
        <p:nvSpPr>
          <p:cNvPr id="9" name="文本框 8">
            <a:extLst>
              <a:ext uri="{FF2B5EF4-FFF2-40B4-BE49-F238E27FC236}">
                <a16:creationId xmlns:a16="http://schemas.microsoft.com/office/drawing/2014/main" id="{C9284B01-5407-4B11-CD54-166287AB008B}"/>
              </a:ext>
            </a:extLst>
          </p:cNvPr>
          <p:cNvSpPr txBox="1"/>
          <p:nvPr/>
        </p:nvSpPr>
        <p:spPr>
          <a:xfrm>
            <a:off x="6474322" y="1128222"/>
            <a:ext cx="5585710" cy="4033092"/>
          </a:xfrm>
          <a:prstGeom prst="rect">
            <a:avLst/>
          </a:prstGeom>
          <a:noFill/>
        </p:spPr>
        <p:txBody>
          <a:bodyPr wrap="square" lIns="0" tIns="0" rIns="0" bIns="0" rtlCol="0">
            <a:spAutoFit/>
          </a:bodyPr>
          <a:lstStyle/>
          <a:p>
            <a:pPr marL="285750" indent="-285750" defTabSz="1218987">
              <a:lnSpc>
                <a:spcPct val="150000"/>
              </a:lnSpc>
              <a:buFont typeface="Wingdings" panose="05000000000000000000" pitchFamily="2" charset="2"/>
              <a:buChar char="l"/>
            </a:pPr>
            <a:r>
              <a:rPr lang="en-US" altLang="zh-CN" sz="1100" b="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IRR </a:t>
            </a: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need to be recalculated since each month cashflow is changed after rewrite.</a:t>
            </a:r>
          </a:p>
          <a:p>
            <a:pPr marL="285750" indent="-285750" defTabSz="1218987">
              <a:lnSpc>
                <a:spcPct val="150000"/>
              </a:lnSpc>
              <a:buFont typeface="Wingdings" panose="05000000000000000000" pitchFamily="2" charset="2"/>
              <a:buChar char="l"/>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Rewrite Monthly </a:t>
            </a:r>
            <a:r>
              <a:rPr lang="en-US" altLang="zh-CN" sz="1100" err="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Pmt</a:t>
            </a: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 Rewrite one time price * rewrite LRF * Quantity</a:t>
            </a:r>
          </a:p>
          <a:p>
            <a:pPr defTabSz="1218987">
              <a:lnSpc>
                <a:spcPct val="150000"/>
              </a:lnSpc>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 31.15*0.024*5+51.95*0.024*2 = 6.23</a:t>
            </a:r>
          </a:p>
          <a:p>
            <a:pPr marL="285750" indent="-285750" defTabSz="1218987">
              <a:lnSpc>
                <a:spcPct val="150000"/>
              </a:lnSpc>
              <a:buFont typeface="Wingdings" panose="05000000000000000000" pitchFamily="2" charset="2"/>
              <a:buChar char="l"/>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Monthly </a:t>
            </a:r>
            <a:r>
              <a:rPr lang="en-US" altLang="zh-CN" sz="1100" err="1">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Pmt</a:t>
            </a: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 one time price * LRF * Quantity</a:t>
            </a:r>
          </a:p>
          <a:p>
            <a:pPr defTabSz="1218987">
              <a:lnSpc>
                <a:spcPct val="150000"/>
              </a:lnSpc>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 45*0.03*5+75*0.023*2 = 11.25</a:t>
            </a:r>
          </a:p>
          <a:p>
            <a:pPr marL="171450" indent="-171450" defTabSz="1218987">
              <a:lnSpc>
                <a:spcPct val="150000"/>
              </a:lnSpc>
              <a:buFont typeface="Wingdings" panose="05000000000000000000" pitchFamily="2" charset="2"/>
              <a:buChar char="l"/>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Recalculate IRR=IRR(finance lease receivable – month 0 receivable + RV value)/12 </a:t>
            </a:r>
          </a:p>
          <a:p>
            <a:pPr defTabSz="1218987">
              <a:lnSpc>
                <a:spcPct val="150000"/>
              </a:lnSpc>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=IRR (45*5+75*2-11.25+41.54)/12=12.22%</a:t>
            </a:r>
          </a:p>
          <a:p>
            <a:pPr marL="285750" indent="-285750" defTabSz="1218987">
              <a:lnSpc>
                <a:spcPct val="150000"/>
              </a:lnSpc>
              <a:buFont typeface="Wingdings" panose="05000000000000000000" pitchFamily="2" charset="2"/>
              <a:buChar char="l"/>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Lease Receivable = Rewrite Monthly * remaining Lease term</a:t>
            </a:r>
          </a:p>
          <a:p>
            <a:pPr defTabSz="1218987">
              <a:lnSpc>
                <a:spcPct val="150000"/>
              </a:lnSpc>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=6.23*24=149.52</a:t>
            </a:r>
          </a:p>
          <a:p>
            <a:pPr marL="285750" indent="-285750" defTabSz="1218987">
              <a:lnSpc>
                <a:spcPct val="150000"/>
              </a:lnSpc>
              <a:buFont typeface="Wingdings" panose="05000000000000000000" pitchFamily="2" charset="2"/>
              <a:buChar char="l"/>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Finance Lease = PV(recalculate IRR/12,remaining lease term,-monthly receivable,0,1)</a:t>
            </a:r>
          </a:p>
          <a:p>
            <a:pPr defTabSz="1218987">
              <a:lnSpc>
                <a:spcPct val="150000"/>
              </a:lnSpc>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=PV (12.22%/12,24,-6.23,0,1)= 133.4</a:t>
            </a:r>
          </a:p>
          <a:p>
            <a:pPr marL="285750" indent="-285750" defTabSz="1218987">
              <a:lnSpc>
                <a:spcPct val="150000"/>
              </a:lnSpc>
              <a:buFont typeface="Wingdings" panose="05000000000000000000" pitchFamily="2" charset="2"/>
              <a:buChar char="l"/>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Residual Value = Rewrite amt * RV%  = (31.15*5 +51.95*2)*16% = 41.54</a:t>
            </a:r>
          </a:p>
          <a:p>
            <a:pPr marL="285750" indent="-285750" defTabSz="1218987">
              <a:lnSpc>
                <a:spcPct val="150000"/>
              </a:lnSpc>
              <a:buFont typeface="Wingdings" panose="05000000000000000000" pitchFamily="2" charset="2"/>
              <a:buChar char="l"/>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Total Residual Value = RV amt/(1+ rewrite IRR/12)^remaining lease term</a:t>
            </a:r>
          </a:p>
          <a:p>
            <a:pPr defTabSz="1218987">
              <a:lnSpc>
                <a:spcPct val="150000"/>
              </a:lnSpc>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=41.54/(1+12.22%/12)^24 = 25.54</a:t>
            </a:r>
          </a:p>
          <a:p>
            <a:pPr marL="171450" indent="-171450" defTabSz="1218987">
              <a:lnSpc>
                <a:spcPct val="150000"/>
              </a:lnSpc>
              <a:buFont typeface="Wingdings" panose="05000000000000000000" pitchFamily="2" charset="2"/>
              <a:buChar char="l"/>
            </a:pP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RV amt (36 terms) = </a:t>
            </a:r>
            <a:r>
              <a:rPr kumimoji="0" lang="en-US" altLang="zh-CN" sz="11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RV amt/(1+ IRR/12)^ lease term</a:t>
            </a:r>
          </a:p>
          <a:p>
            <a:pPr defTabSz="1218987">
              <a:lnSpc>
                <a:spcPct val="150000"/>
              </a:lnSpc>
            </a:pPr>
            <a:r>
              <a:rPr lang="en-US" altLang="zh-CN" sz="8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                                                     </a:t>
            </a: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sym typeface="Wingdings" panose="05000000000000000000" pitchFamily="2" charset="2"/>
              </a:rPr>
              <a:t>=(45*5+75*2)*24%/(1+25.71%/12)^36 = 32.53</a:t>
            </a:r>
          </a:p>
        </p:txBody>
      </p:sp>
      <p:sp>
        <p:nvSpPr>
          <p:cNvPr id="6" name="对话气泡: 矩形 5">
            <a:extLst>
              <a:ext uri="{FF2B5EF4-FFF2-40B4-BE49-F238E27FC236}">
                <a16:creationId xmlns:a16="http://schemas.microsoft.com/office/drawing/2014/main" id="{3D2C7F3A-DE5E-2B7B-78D0-47D625308C74}"/>
              </a:ext>
            </a:extLst>
          </p:cNvPr>
          <p:cNvSpPr/>
          <p:nvPr/>
        </p:nvSpPr>
        <p:spPr>
          <a:xfrm>
            <a:off x="205859" y="2893761"/>
            <a:ext cx="4622578" cy="1070477"/>
          </a:xfrm>
          <a:prstGeom prst="wedgeRectCallout">
            <a:avLst>
              <a:gd name="adj1" fmla="val -31401"/>
              <a:gd name="adj2" fmla="val -83722"/>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100" b="1">
                <a:solidFill>
                  <a:srgbClr val="000000"/>
                </a:solidFill>
                <a:latin typeface="Tenorite" panose="00000500000000000000" pitchFamily="2" charset="0"/>
                <a:ea typeface="黑体" panose="02010609060101010101" pitchFamily="49" charset="-122"/>
                <a:cs typeface="Arial" panose="020B0604020202020204" pitchFamily="34" charset="0"/>
              </a:rPr>
              <a:t>1. Reverse RV balance before rewrite </a:t>
            </a:r>
          </a:p>
          <a:p>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rPr>
              <a:t>Dr Interest Income </a:t>
            </a:r>
          </a:p>
          <a:p>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rPr>
              <a:t>  Cr RV balance (36 terms)</a:t>
            </a:r>
          </a:p>
          <a:p>
            <a:r>
              <a:rPr lang="en-US" altLang="zh-CN" sz="1100" b="1">
                <a:solidFill>
                  <a:srgbClr val="000000"/>
                </a:solidFill>
                <a:latin typeface="Tenorite" panose="00000500000000000000" pitchFamily="2" charset="0"/>
                <a:ea typeface="黑体" panose="02010609060101010101" pitchFamily="49" charset="-122"/>
                <a:cs typeface="Arial" panose="020B0604020202020204" pitchFamily="34" charset="0"/>
              </a:rPr>
              <a:t>2. Book RV balance after rewrite</a:t>
            </a:r>
          </a:p>
          <a:p>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rPr>
              <a:t>Dr</a:t>
            </a:r>
            <a:r>
              <a:rPr lang="zh-CN" altLang="en-US" sz="1100">
                <a:solidFill>
                  <a:srgbClr val="000000"/>
                </a:solidFill>
                <a:latin typeface="Tenorite" panose="00000500000000000000" pitchFamily="2" charset="0"/>
                <a:ea typeface="黑体" panose="02010609060101010101" pitchFamily="49" charset="-122"/>
                <a:cs typeface="Arial" panose="020B0604020202020204" pitchFamily="34" charset="0"/>
              </a:rPr>
              <a:t>  </a:t>
            </a: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rPr>
              <a:t>PV value for RV after rewrite to 48terms</a:t>
            </a:r>
            <a:r>
              <a:rPr lang="zh-CN" altLang="en-US" sz="1100">
                <a:solidFill>
                  <a:srgbClr val="000000"/>
                </a:solidFill>
                <a:latin typeface="Tenorite" panose="00000500000000000000" pitchFamily="2" charset="0"/>
                <a:ea typeface="黑体" panose="02010609060101010101" pitchFamily="49" charset="-122"/>
                <a:cs typeface="Arial" panose="020B0604020202020204" pitchFamily="34" charset="0"/>
              </a:rPr>
              <a:t>​</a:t>
            </a:r>
          </a:p>
          <a:p>
            <a:r>
              <a:rPr lang="zh-CN" altLang="en-US" sz="1100">
                <a:solidFill>
                  <a:srgbClr val="000000"/>
                </a:solidFill>
                <a:latin typeface="Tenorite" panose="00000500000000000000" pitchFamily="2" charset="0"/>
                <a:ea typeface="黑体" panose="02010609060101010101" pitchFamily="49" charset="-122"/>
                <a:cs typeface="Arial" panose="020B0604020202020204" pitchFamily="34" charset="0"/>
              </a:rPr>
              <a:t>  </a:t>
            </a:r>
            <a:r>
              <a:rPr lang="en-US" altLang="zh-CN" sz="1100">
                <a:solidFill>
                  <a:srgbClr val="000000"/>
                </a:solidFill>
                <a:latin typeface="Tenorite" panose="00000500000000000000" pitchFamily="2" charset="0"/>
                <a:ea typeface="黑体" panose="02010609060101010101" pitchFamily="49" charset="-122"/>
                <a:cs typeface="Arial" panose="020B0604020202020204" pitchFamily="34" charset="0"/>
              </a:rPr>
              <a:t>Cr Interest Income</a:t>
            </a:r>
          </a:p>
        </p:txBody>
      </p:sp>
      <p:graphicFrame>
        <p:nvGraphicFramePr>
          <p:cNvPr id="4" name="表格 3">
            <a:extLst>
              <a:ext uri="{FF2B5EF4-FFF2-40B4-BE49-F238E27FC236}">
                <a16:creationId xmlns:a16="http://schemas.microsoft.com/office/drawing/2014/main" id="{F755C519-750E-514F-3A93-BF36FE8D4A5E}"/>
              </a:ext>
            </a:extLst>
          </p:cNvPr>
          <p:cNvGraphicFramePr>
            <a:graphicFrameLocks noGrp="1"/>
          </p:cNvGraphicFramePr>
          <p:nvPr>
            <p:extLst>
              <p:ext uri="{D42A27DB-BD31-4B8C-83A1-F6EECF244321}">
                <p14:modId xmlns:p14="http://schemas.microsoft.com/office/powerpoint/2010/main" val="1092000386"/>
              </p:ext>
            </p:extLst>
          </p:nvPr>
        </p:nvGraphicFramePr>
        <p:xfrm>
          <a:off x="6474321" y="594822"/>
          <a:ext cx="5585711" cy="533400"/>
        </p:xfrm>
        <a:graphic>
          <a:graphicData uri="http://schemas.openxmlformats.org/drawingml/2006/table">
            <a:tbl>
              <a:tblPr>
                <a:tableStyleId>{5C22544A-7EE6-4342-B048-85BDC9FD1C3A}</a:tableStyleId>
              </a:tblPr>
              <a:tblGrid>
                <a:gridCol w="269476">
                  <a:extLst>
                    <a:ext uri="{9D8B030D-6E8A-4147-A177-3AD203B41FA5}">
                      <a16:colId xmlns:a16="http://schemas.microsoft.com/office/drawing/2014/main" val="2564969332"/>
                    </a:ext>
                  </a:extLst>
                </a:gridCol>
                <a:gridCol w="976851">
                  <a:extLst>
                    <a:ext uri="{9D8B030D-6E8A-4147-A177-3AD203B41FA5}">
                      <a16:colId xmlns:a16="http://schemas.microsoft.com/office/drawing/2014/main" val="3044752010"/>
                    </a:ext>
                  </a:extLst>
                </a:gridCol>
                <a:gridCol w="589480">
                  <a:extLst>
                    <a:ext uri="{9D8B030D-6E8A-4147-A177-3AD203B41FA5}">
                      <a16:colId xmlns:a16="http://schemas.microsoft.com/office/drawing/2014/main" val="2104999879"/>
                    </a:ext>
                  </a:extLst>
                </a:gridCol>
                <a:gridCol w="874114">
                  <a:extLst>
                    <a:ext uri="{9D8B030D-6E8A-4147-A177-3AD203B41FA5}">
                      <a16:colId xmlns:a16="http://schemas.microsoft.com/office/drawing/2014/main" val="3748546009"/>
                    </a:ext>
                  </a:extLst>
                </a:gridCol>
                <a:gridCol w="320003">
                  <a:extLst>
                    <a:ext uri="{9D8B030D-6E8A-4147-A177-3AD203B41FA5}">
                      <a16:colId xmlns:a16="http://schemas.microsoft.com/office/drawing/2014/main" val="1734321408"/>
                    </a:ext>
                  </a:extLst>
                </a:gridCol>
                <a:gridCol w="775560">
                  <a:extLst>
                    <a:ext uri="{9D8B030D-6E8A-4147-A177-3AD203B41FA5}">
                      <a16:colId xmlns:a16="http://schemas.microsoft.com/office/drawing/2014/main" val="2766942390"/>
                    </a:ext>
                  </a:extLst>
                </a:gridCol>
                <a:gridCol w="523795">
                  <a:extLst>
                    <a:ext uri="{9D8B030D-6E8A-4147-A177-3AD203B41FA5}">
                      <a16:colId xmlns:a16="http://schemas.microsoft.com/office/drawing/2014/main" val="3564276387"/>
                    </a:ext>
                  </a:extLst>
                </a:gridCol>
                <a:gridCol w="700638">
                  <a:extLst>
                    <a:ext uri="{9D8B030D-6E8A-4147-A177-3AD203B41FA5}">
                      <a16:colId xmlns:a16="http://schemas.microsoft.com/office/drawing/2014/main" val="1254971832"/>
                    </a:ext>
                  </a:extLst>
                </a:gridCol>
                <a:gridCol w="277897">
                  <a:extLst>
                    <a:ext uri="{9D8B030D-6E8A-4147-A177-3AD203B41FA5}">
                      <a16:colId xmlns:a16="http://schemas.microsoft.com/office/drawing/2014/main" val="829437580"/>
                    </a:ext>
                  </a:extLst>
                </a:gridCol>
                <a:gridCol w="277897">
                  <a:extLst>
                    <a:ext uri="{9D8B030D-6E8A-4147-A177-3AD203B41FA5}">
                      <a16:colId xmlns:a16="http://schemas.microsoft.com/office/drawing/2014/main" val="3457645748"/>
                    </a:ext>
                  </a:extLst>
                </a:gridCol>
              </a:tblGrid>
              <a:tr h="177800">
                <a:tc>
                  <a:txBody>
                    <a:bodyPr/>
                    <a:lstStyle/>
                    <a:p>
                      <a:pPr algn="ctr" fontAlgn="b">
                        <a:buNone/>
                      </a:pPr>
                      <a:r>
                        <a:rPr lang="en-US" sz="1100" u="none" strike="noStrike">
                          <a:effectLst/>
                        </a:rPr>
                        <a:t>PC</a:t>
                      </a:r>
                      <a:endParaRPr lang="en-U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100" u="none" strike="noStrike">
                          <a:effectLst/>
                        </a:rPr>
                        <a:t>One time price</a:t>
                      </a:r>
                      <a:endParaRPr lang="en-US" sz="1100" b="1"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100" u="none" strike="noStrike">
                          <a:effectLst/>
                        </a:rPr>
                        <a:t>Quantity</a:t>
                      </a:r>
                      <a:endParaRPr lang="en-US" sz="1100" b="1"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100" u="none" strike="noStrike">
                          <a:effectLst/>
                        </a:rPr>
                        <a:t>Rewrite Price</a:t>
                      </a:r>
                      <a:endParaRPr lang="en-US" sz="1100" b="1"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100" u="none" strike="noStrike">
                          <a:effectLst/>
                        </a:rPr>
                        <a:t>LRF</a:t>
                      </a:r>
                      <a:endParaRPr lang="en-US" sz="1100" b="1"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100" u="none" strike="noStrike">
                          <a:effectLst/>
                        </a:rPr>
                        <a:t>Rewrite LRF</a:t>
                      </a:r>
                      <a:endParaRPr lang="en-US" sz="1100" b="1"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100" u="none" strike="noStrike">
                          <a:effectLst/>
                        </a:rPr>
                        <a:t>36M RV</a:t>
                      </a:r>
                      <a:endParaRPr lang="en-US" sz="1100" b="1"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100" u="none" strike="noStrike">
                          <a:effectLst/>
                        </a:rPr>
                        <a:t>48M RV</a:t>
                      </a:r>
                      <a:endParaRPr lang="en-US" sz="1100" b="1"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100" u="none" strike="noStrike">
                          <a:effectLst/>
                        </a:rPr>
                        <a:t>LV</a:t>
                      </a:r>
                      <a:endParaRPr lang="en-US" sz="1100" b="1"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sz="1100" u="none" strike="noStrike">
                          <a:effectLst/>
                        </a:rPr>
                        <a:t>PV</a:t>
                      </a:r>
                      <a:endParaRPr lang="en-US" sz="1100" b="1"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4065515"/>
                  </a:ext>
                </a:extLst>
              </a:tr>
              <a:tr h="177800">
                <a:tc>
                  <a:txBody>
                    <a:bodyPr/>
                    <a:lstStyle/>
                    <a:p>
                      <a:pPr algn="ctr" fontAlgn="b">
                        <a:buNone/>
                      </a:pPr>
                      <a:r>
                        <a:rPr lang="en-US" sz="1100" u="none" strike="noStrike">
                          <a:effectLst/>
                        </a:rPr>
                        <a:t>T14</a:t>
                      </a:r>
                      <a:endParaRPr lang="en-U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45</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5</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31.15</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0.03</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0.024</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24%</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16%</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190</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180</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30493176"/>
                  </a:ext>
                </a:extLst>
              </a:tr>
              <a:tr h="177800">
                <a:tc>
                  <a:txBody>
                    <a:bodyPr/>
                    <a:lstStyle/>
                    <a:p>
                      <a:pPr algn="ctr" fontAlgn="b">
                        <a:buNone/>
                      </a:pPr>
                      <a:r>
                        <a:rPr lang="en-US" sz="1100" u="none" strike="noStrike">
                          <a:effectLst/>
                        </a:rPr>
                        <a:t>X1</a:t>
                      </a:r>
                      <a:endParaRPr lang="en-U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75</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2</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51.95</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0.03</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0.024</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24%</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16%</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130</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buNone/>
                      </a:pPr>
                      <a:r>
                        <a:rPr lang="en-US" altLang="zh-Hans" sz="1100" u="none" strike="noStrike">
                          <a:effectLst/>
                        </a:rPr>
                        <a:t>120</a:t>
                      </a:r>
                      <a:endParaRPr lang="en-US" altLang="zh-Hans" sz="1100" b="0" i="0" u="none" strike="noStrike">
                        <a:solidFill>
                          <a:srgbClr val="000000"/>
                        </a:solidFill>
                        <a:effectLst/>
                        <a:latin typeface="等线" panose="02010600030101010101" pitchFamily="2" charset="-122"/>
                        <a:ea typeface="等线" panose="02010600030101010101" pitchFamily="2" charset="-122"/>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922356"/>
                  </a:ext>
                </a:extLst>
              </a:tr>
            </a:tbl>
          </a:graphicData>
        </a:graphic>
      </p:graphicFrame>
      <p:sp>
        <p:nvSpPr>
          <p:cNvPr id="7" name="Rectangle 1">
            <a:extLst>
              <a:ext uri="{FF2B5EF4-FFF2-40B4-BE49-F238E27FC236}">
                <a16:creationId xmlns:a16="http://schemas.microsoft.com/office/drawing/2014/main" id="{CABC722A-54E1-A7D7-9F3F-99099789A409}"/>
              </a:ext>
            </a:extLst>
          </p:cNvPr>
          <p:cNvSpPr/>
          <p:nvPr/>
        </p:nvSpPr>
        <p:spPr>
          <a:xfrm>
            <a:off x="539895" y="2007792"/>
            <a:ext cx="5803497" cy="441760"/>
          </a:xfrm>
          <a:prstGeom prst="rect">
            <a:avLst/>
          </a:prstGeom>
          <a:noFill/>
          <a:ln w="12700"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Tree>
    <p:extLst>
      <p:ext uri="{BB962C8B-B14F-4D97-AF65-F5344CB8AC3E}">
        <p14:creationId xmlns:p14="http://schemas.microsoft.com/office/powerpoint/2010/main" val="3170037443"/>
      </p:ext>
    </p:extLst>
  </p:cSld>
  <p:clrMapOvr>
    <a:masterClrMapping/>
  </p:clrMapOvr>
  <p:transition>
    <p:fade/>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54C571-BD41-9A82-44BE-C602E99066C3}"/>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F9A8E985-7387-43D1-C4F2-CE399182A269}"/>
              </a:ext>
            </a:extLst>
          </p:cNvPr>
          <p:cNvSpPr txBox="1">
            <a:spLocks/>
          </p:cNvSpPr>
          <p:nvPr/>
        </p:nvSpPr>
        <p:spPr>
          <a:xfrm>
            <a:off x="336213" y="196948"/>
            <a:ext cx="11056112"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Structure Payment – F&amp;A key Scope and Assumptions</a:t>
            </a:r>
          </a:p>
        </p:txBody>
      </p:sp>
      <p:sp>
        <p:nvSpPr>
          <p:cNvPr id="7" name="文本框 6">
            <a:extLst>
              <a:ext uri="{FF2B5EF4-FFF2-40B4-BE49-F238E27FC236}">
                <a16:creationId xmlns:a16="http://schemas.microsoft.com/office/drawing/2014/main" id="{26C28300-473E-7138-B2A5-8ABC511DD931}"/>
              </a:ext>
            </a:extLst>
          </p:cNvPr>
          <p:cNvSpPr txBox="1"/>
          <p:nvPr/>
        </p:nvSpPr>
        <p:spPr>
          <a:xfrm>
            <a:off x="0" y="1219766"/>
            <a:ext cx="1184940" cy="276999"/>
          </a:xfrm>
          <a:prstGeom prst="rect">
            <a:avLst/>
          </a:prstGeom>
          <a:noFill/>
        </p:spPr>
        <p:txBody>
          <a:bodyPr wrap="none" rtlCol="0">
            <a:spAutoFit/>
          </a:bodyPr>
          <a:lstStyle/>
          <a:p>
            <a:pPr defTabSz="914126"/>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E2E Scenarios:</a:t>
            </a:r>
            <a:endParaRPr lang="zh-CN" altLang="en-US" sz="12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graphicFrame>
        <p:nvGraphicFramePr>
          <p:cNvPr id="5" name="Table 5">
            <a:extLst>
              <a:ext uri="{FF2B5EF4-FFF2-40B4-BE49-F238E27FC236}">
                <a16:creationId xmlns:a16="http://schemas.microsoft.com/office/drawing/2014/main" id="{41F4AA9C-A9B0-79A8-7748-B39F78E2C932}"/>
              </a:ext>
            </a:extLst>
          </p:cNvPr>
          <p:cNvGraphicFramePr>
            <a:graphicFrameLocks noGrp="1"/>
          </p:cNvGraphicFramePr>
          <p:nvPr>
            <p:extLst>
              <p:ext uri="{D42A27DB-BD31-4B8C-83A1-F6EECF244321}">
                <p14:modId xmlns:p14="http://schemas.microsoft.com/office/powerpoint/2010/main" val="515684954"/>
              </p:ext>
            </p:extLst>
          </p:nvPr>
        </p:nvGraphicFramePr>
        <p:xfrm>
          <a:off x="4198420" y="633911"/>
          <a:ext cx="7885105" cy="6073578"/>
        </p:xfrm>
        <a:graphic>
          <a:graphicData uri="http://schemas.openxmlformats.org/drawingml/2006/table">
            <a:tbl>
              <a:tblPr firstRow="1" bandRow="1"/>
              <a:tblGrid>
                <a:gridCol w="417419">
                  <a:extLst>
                    <a:ext uri="{9D8B030D-6E8A-4147-A177-3AD203B41FA5}">
                      <a16:colId xmlns:a16="http://schemas.microsoft.com/office/drawing/2014/main" val="590487580"/>
                    </a:ext>
                  </a:extLst>
                </a:gridCol>
                <a:gridCol w="1034207">
                  <a:extLst>
                    <a:ext uri="{9D8B030D-6E8A-4147-A177-3AD203B41FA5}">
                      <a16:colId xmlns:a16="http://schemas.microsoft.com/office/drawing/2014/main" val="3195040165"/>
                    </a:ext>
                  </a:extLst>
                </a:gridCol>
                <a:gridCol w="6433479">
                  <a:extLst>
                    <a:ext uri="{9D8B030D-6E8A-4147-A177-3AD203B41FA5}">
                      <a16:colId xmlns:a16="http://schemas.microsoft.com/office/drawing/2014/main" val="3020975192"/>
                    </a:ext>
                  </a:extLst>
                </a:gridCol>
              </a:tblGrid>
              <a:tr h="384591">
                <a:tc>
                  <a:txBody>
                    <a:bodyPr/>
                    <a:lstStyle>
                      <a:lvl1pPr marL="0" algn="l" defTabSz="1218621" rtl="0" eaLnBrk="1" latinLnBrk="0" hangingPunct="1">
                        <a:defRPr sz="2399" b="1" kern="1200">
                          <a:solidFill>
                            <a:schemeClr val="lt1"/>
                          </a:solidFill>
                          <a:latin typeface="Aptos" panose="020B0004020202020204"/>
                        </a:defRPr>
                      </a:lvl1pPr>
                      <a:lvl2pPr marL="609310" algn="l" defTabSz="1218621" rtl="0" eaLnBrk="1" latinLnBrk="0" hangingPunct="1">
                        <a:defRPr sz="2399" b="1" kern="1200">
                          <a:solidFill>
                            <a:schemeClr val="lt1"/>
                          </a:solidFill>
                          <a:latin typeface="Aptos" panose="020B0004020202020204"/>
                        </a:defRPr>
                      </a:lvl2pPr>
                      <a:lvl3pPr marL="1218621" algn="l" defTabSz="1218621" rtl="0" eaLnBrk="1" latinLnBrk="0" hangingPunct="1">
                        <a:defRPr sz="2399" b="1" kern="1200">
                          <a:solidFill>
                            <a:schemeClr val="lt1"/>
                          </a:solidFill>
                          <a:latin typeface="Aptos" panose="020B0004020202020204"/>
                        </a:defRPr>
                      </a:lvl3pPr>
                      <a:lvl4pPr marL="1827931" algn="l" defTabSz="1218621" rtl="0" eaLnBrk="1" latinLnBrk="0" hangingPunct="1">
                        <a:defRPr sz="2399" b="1" kern="1200">
                          <a:solidFill>
                            <a:schemeClr val="lt1"/>
                          </a:solidFill>
                          <a:latin typeface="Aptos" panose="020B0004020202020204"/>
                        </a:defRPr>
                      </a:lvl4pPr>
                      <a:lvl5pPr marL="2437242" algn="l" defTabSz="1218621" rtl="0" eaLnBrk="1" latinLnBrk="0" hangingPunct="1">
                        <a:defRPr sz="2399" b="1" kern="1200">
                          <a:solidFill>
                            <a:schemeClr val="lt1"/>
                          </a:solidFill>
                          <a:latin typeface="Aptos" panose="020B0004020202020204"/>
                        </a:defRPr>
                      </a:lvl5pPr>
                      <a:lvl6pPr marL="3046553" algn="l" defTabSz="1218621" rtl="0" eaLnBrk="1" latinLnBrk="0" hangingPunct="1">
                        <a:defRPr sz="2399" b="1" kern="1200">
                          <a:solidFill>
                            <a:schemeClr val="lt1"/>
                          </a:solidFill>
                          <a:latin typeface="Aptos" panose="020B0004020202020204"/>
                        </a:defRPr>
                      </a:lvl6pPr>
                      <a:lvl7pPr marL="3655863" algn="l" defTabSz="1218621" rtl="0" eaLnBrk="1" latinLnBrk="0" hangingPunct="1">
                        <a:defRPr sz="2399" b="1" kern="1200">
                          <a:solidFill>
                            <a:schemeClr val="lt1"/>
                          </a:solidFill>
                          <a:latin typeface="Aptos" panose="020B0004020202020204"/>
                        </a:defRPr>
                      </a:lvl7pPr>
                      <a:lvl8pPr marL="4265173" algn="l" defTabSz="1218621" rtl="0" eaLnBrk="1" latinLnBrk="0" hangingPunct="1">
                        <a:defRPr sz="2399" b="1" kern="1200">
                          <a:solidFill>
                            <a:schemeClr val="lt1"/>
                          </a:solidFill>
                          <a:latin typeface="Aptos" panose="020B0004020202020204"/>
                        </a:defRPr>
                      </a:lvl8pPr>
                      <a:lvl9pPr marL="4874484" algn="l" defTabSz="1218621" rtl="0" eaLnBrk="1" latinLnBrk="0" hangingPunct="1">
                        <a:defRPr sz="2399" b="1" kern="1200">
                          <a:solidFill>
                            <a:schemeClr val="lt1"/>
                          </a:solidFill>
                          <a:latin typeface="Aptos" panose="020B0004020202020204"/>
                        </a:defRPr>
                      </a:lvl9pPr>
                    </a:lstStyle>
                    <a:p>
                      <a:pPr algn="ctr"/>
                      <a:r>
                        <a:rPr lang="en-US" sz="1200"/>
                        <a:t>No</a:t>
                      </a:r>
                    </a:p>
                  </a:txBody>
                  <a:tcPr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156082"/>
                    </a:solidFill>
                  </a:tcPr>
                </a:tc>
                <a:tc>
                  <a:txBody>
                    <a:bodyPr/>
                    <a:lstStyle>
                      <a:lvl1pPr marL="0" algn="l" defTabSz="1218621" rtl="0" eaLnBrk="1" latinLnBrk="0" hangingPunct="1">
                        <a:defRPr sz="2399" b="1" kern="1200">
                          <a:solidFill>
                            <a:schemeClr val="lt1"/>
                          </a:solidFill>
                          <a:latin typeface="Aptos" panose="020B0004020202020204"/>
                        </a:defRPr>
                      </a:lvl1pPr>
                      <a:lvl2pPr marL="609310" algn="l" defTabSz="1218621" rtl="0" eaLnBrk="1" latinLnBrk="0" hangingPunct="1">
                        <a:defRPr sz="2399" b="1" kern="1200">
                          <a:solidFill>
                            <a:schemeClr val="lt1"/>
                          </a:solidFill>
                          <a:latin typeface="Aptos" panose="020B0004020202020204"/>
                        </a:defRPr>
                      </a:lvl2pPr>
                      <a:lvl3pPr marL="1218621" algn="l" defTabSz="1218621" rtl="0" eaLnBrk="1" latinLnBrk="0" hangingPunct="1">
                        <a:defRPr sz="2399" b="1" kern="1200">
                          <a:solidFill>
                            <a:schemeClr val="lt1"/>
                          </a:solidFill>
                          <a:latin typeface="Aptos" panose="020B0004020202020204"/>
                        </a:defRPr>
                      </a:lvl3pPr>
                      <a:lvl4pPr marL="1827931" algn="l" defTabSz="1218621" rtl="0" eaLnBrk="1" latinLnBrk="0" hangingPunct="1">
                        <a:defRPr sz="2399" b="1" kern="1200">
                          <a:solidFill>
                            <a:schemeClr val="lt1"/>
                          </a:solidFill>
                          <a:latin typeface="Aptos" panose="020B0004020202020204"/>
                        </a:defRPr>
                      </a:lvl4pPr>
                      <a:lvl5pPr marL="2437242" algn="l" defTabSz="1218621" rtl="0" eaLnBrk="1" latinLnBrk="0" hangingPunct="1">
                        <a:defRPr sz="2399" b="1" kern="1200">
                          <a:solidFill>
                            <a:schemeClr val="lt1"/>
                          </a:solidFill>
                          <a:latin typeface="Aptos" panose="020B0004020202020204"/>
                        </a:defRPr>
                      </a:lvl5pPr>
                      <a:lvl6pPr marL="3046553" algn="l" defTabSz="1218621" rtl="0" eaLnBrk="1" latinLnBrk="0" hangingPunct="1">
                        <a:defRPr sz="2399" b="1" kern="1200">
                          <a:solidFill>
                            <a:schemeClr val="lt1"/>
                          </a:solidFill>
                          <a:latin typeface="Aptos" panose="020B0004020202020204"/>
                        </a:defRPr>
                      </a:lvl6pPr>
                      <a:lvl7pPr marL="3655863" algn="l" defTabSz="1218621" rtl="0" eaLnBrk="1" latinLnBrk="0" hangingPunct="1">
                        <a:defRPr sz="2399" b="1" kern="1200">
                          <a:solidFill>
                            <a:schemeClr val="lt1"/>
                          </a:solidFill>
                          <a:latin typeface="Aptos" panose="020B0004020202020204"/>
                        </a:defRPr>
                      </a:lvl7pPr>
                      <a:lvl8pPr marL="4265173" algn="l" defTabSz="1218621" rtl="0" eaLnBrk="1" latinLnBrk="0" hangingPunct="1">
                        <a:defRPr sz="2399" b="1" kern="1200">
                          <a:solidFill>
                            <a:schemeClr val="lt1"/>
                          </a:solidFill>
                          <a:latin typeface="Aptos" panose="020B0004020202020204"/>
                        </a:defRPr>
                      </a:lvl8pPr>
                      <a:lvl9pPr marL="4874484" algn="l" defTabSz="1218621" rtl="0" eaLnBrk="1" latinLnBrk="0" hangingPunct="1">
                        <a:defRPr sz="2399" b="1" kern="1200">
                          <a:solidFill>
                            <a:schemeClr val="lt1"/>
                          </a:solidFill>
                          <a:latin typeface="Aptos" panose="020B0004020202020204"/>
                        </a:defRPr>
                      </a:lvl9pPr>
                    </a:lstStyle>
                    <a:p>
                      <a:r>
                        <a:rPr lang="en-US" sz="1200"/>
                        <a:t>C</a:t>
                      </a:r>
                      <a:r>
                        <a:rPr lang="en-US" altLang="zh-CN" sz="1200"/>
                        <a:t>ategory</a:t>
                      </a:r>
                      <a:endParaRPr lang="en-US" sz="1200"/>
                    </a:p>
                  </a:txBody>
                  <a:tcPr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156082"/>
                    </a:solidFill>
                  </a:tcPr>
                </a:tc>
                <a:tc>
                  <a:txBody>
                    <a:bodyPr/>
                    <a:lstStyle>
                      <a:lvl1pPr marL="0" algn="l" defTabSz="1218621" rtl="0" eaLnBrk="1" latinLnBrk="0" hangingPunct="1">
                        <a:defRPr sz="2399" b="1" kern="1200">
                          <a:solidFill>
                            <a:schemeClr val="lt1"/>
                          </a:solidFill>
                          <a:latin typeface="Aptos" panose="020B0004020202020204"/>
                        </a:defRPr>
                      </a:lvl1pPr>
                      <a:lvl2pPr marL="609310" algn="l" defTabSz="1218621" rtl="0" eaLnBrk="1" latinLnBrk="0" hangingPunct="1">
                        <a:defRPr sz="2399" b="1" kern="1200">
                          <a:solidFill>
                            <a:schemeClr val="lt1"/>
                          </a:solidFill>
                          <a:latin typeface="Aptos" panose="020B0004020202020204"/>
                        </a:defRPr>
                      </a:lvl2pPr>
                      <a:lvl3pPr marL="1218621" algn="l" defTabSz="1218621" rtl="0" eaLnBrk="1" latinLnBrk="0" hangingPunct="1">
                        <a:defRPr sz="2399" b="1" kern="1200">
                          <a:solidFill>
                            <a:schemeClr val="lt1"/>
                          </a:solidFill>
                          <a:latin typeface="Aptos" panose="020B0004020202020204"/>
                        </a:defRPr>
                      </a:lvl3pPr>
                      <a:lvl4pPr marL="1827931" algn="l" defTabSz="1218621" rtl="0" eaLnBrk="1" latinLnBrk="0" hangingPunct="1">
                        <a:defRPr sz="2399" b="1" kern="1200">
                          <a:solidFill>
                            <a:schemeClr val="lt1"/>
                          </a:solidFill>
                          <a:latin typeface="Aptos" panose="020B0004020202020204"/>
                        </a:defRPr>
                      </a:lvl4pPr>
                      <a:lvl5pPr marL="2437242" algn="l" defTabSz="1218621" rtl="0" eaLnBrk="1" latinLnBrk="0" hangingPunct="1">
                        <a:defRPr sz="2399" b="1" kern="1200">
                          <a:solidFill>
                            <a:schemeClr val="lt1"/>
                          </a:solidFill>
                          <a:latin typeface="Aptos" panose="020B0004020202020204"/>
                        </a:defRPr>
                      </a:lvl5pPr>
                      <a:lvl6pPr marL="3046553" algn="l" defTabSz="1218621" rtl="0" eaLnBrk="1" latinLnBrk="0" hangingPunct="1">
                        <a:defRPr sz="2399" b="1" kern="1200">
                          <a:solidFill>
                            <a:schemeClr val="lt1"/>
                          </a:solidFill>
                          <a:latin typeface="Aptos" panose="020B0004020202020204"/>
                        </a:defRPr>
                      </a:lvl6pPr>
                      <a:lvl7pPr marL="3655863" algn="l" defTabSz="1218621" rtl="0" eaLnBrk="1" latinLnBrk="0" hangingPunct="1">
                        <a:defRPr sz="2399" b="1" kern="1200">
                          <a:solidFill>
                            <a:schemeClr val="lt1"/>
                          </a:solidFill>
                          <a:latin typeface="Aptos" panose="020B0004020202020204"/>
                        </a:defRPr>
                      </a:lvl7pPr>
                      <a:lvl8pPr marL="4265173" algn="l" defTabSz="1218621" rtl="0" eaLnBrk="1" latinLnBrk="0" hangingPunct="1">
                        <a:defRPr sz="2399" b="1" kern="1200">
                          <a:solidFill>
                            <a:schemeClr val="lt1"/>
                          </a:solidFill>
                          <a:latin typeface="Aptos" panose="020B0004020202020204"/>
                        </a:defRPr>
                      </a:lvl8pPr>
                      <a:lvl9pPr marL="4874484" algn="l" defTabSz="1218621" rtl="0" eaLnBrk="1" latinLnBrk="0" hangingPunct="1">
                        <a:defRPr sz="2399" b="1" kern="1200">
                          <a:solidFill>
                            <a:schemeClr val="lt1"/>
                          </a:solidFill>
                          <a:latin typeface="Aptos" panose="020B0004020202020204"/>
                        </a:defRPr>
                      </a:lvl9pPr>
                    </a:lstStyle>
                    <a:p>
                      <a:r>
                        <a:rPr lang="en-US" sz="1200"/>
                        <a:t>Description</a:t>
                      </a:r>
                    </a:p>
                  </a:txBody>
                  <a:tcPr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156082"/>
                    </a:solidFill>
                  </a:tcPr>
                </a:tc>
                <a:extLst>
                  <a:ext uri="{0D108BD9-81ED-4DB2-BD59-A6C34878D82A}">
                    <a16:rowId xmlns:a16="http://schemas.microsoft.com/office/drawing/2014/main" val="3093137312"/>
                  </a:ext>
                </a:extLst>
              </a:tr>
              <a:tr h="1232799">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1</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156082">
                        <a:tint val="4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r>
                        <a:rPr lang="en-US" sz="1200"/>
                        <a:t>Scope</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171450" indent="-171450">
                        <a:buFont typeface="Arial" panose="020B0604020202020204" pitchFamily="34" charset="0"/>
                        <a:buChar char="•"/>
                      </a:pPr>
                      <a:r>
                        <a:rPr lang="en-US" sz="1200"/>
                        <a:t>Countries: as-is EAAS enabled AP/EMEA/NA countries, LA will be considered along with EAAS rollout</a:t>
                      </a:r>
                    </a:p>
                    <a:p>
                      <a:pPr marL="171450" indent="-171450">
                        <a:buFont typeface="Arial" panose="020B0604020202020204" pitchFamily="34" charset="0"/>
                        <a:buChar char="•"/>
                      </a:pPr>
                      <a:r>
                        <a:rPr lang="en-US" sz="1200"/>
                        <a:t>Model: S&amp;D/AFE/AFE Hub/</a:t>
                      </a:r>
                      <a:r>
                        <a:rPr lang="en-US" sz="1200" strike="sngStrike">
                          <a:solidFill>
                            <a:schemeClr val="bg1">
                              <a:lumMod val="50000"/>
                            </a:schemeClr>
                          </a:solidFill>
                        </a:rPr>
                        <a:t>Central Billing</a:t>
                      </a:r>
                    </a:p>
                    <a:p>
                      <a:pPr marL="171450" indent="-171450">
                        <a:buFont typeface="Arial" panose="020B0604020202020204" pitchFamily="34" charset="0"/>
                        <a:buChar char="•"/>
                      </a:pPr>
                      <a:r>
                        <a:rPr lang="en-US" sz="1200"/>
                        <a:t>Offering: DaaS/</a:t>
                      </a:r>
                      <a:r>
                        <a:rPr lang="en-US" sz="1200" strike="sngStrike">
                          <a:solidFill>
                            <a:schemeClr val="bg1">
                              <a:lumMod val="50000"/>
                            </a:schemeClr>
                          </a:solidFill>
                        </a:rPr>
                        <a:t>IaaS/</a:t>
                      </a:r>
                      <a:r>
                        <a:rPr lang="en-US" sz="1200"/>
                        <a:t>ISGLEASE</a:t>
                      </a:r>
                      <a:r>
                        <a:rPr lang="en-US" sz="1200" strike="sngStrike">
                          <a:solidFill>
                            <a:schemeClr val="bg1">
                              <a:lumMod val="50000"/>
                            </a:schemeClr>
                          </a:solidFill>
                        </a:rPr>
                        <a:t>/Managed Capex</a:t>
                      </a:r>
                    </a:p>
                    <a:p>
                      <a:pPr marL="171450" indent="-171450">
                        <a:buFont typeface="Arial" panose="020B0604020202020204" pitchFamily="34" charset="0"/>
                        <a:buChar char="•"/>
                      </a:pPr>
                      <a:r>
                        <a:rPr lang="en-US" altLang="zh-CN" sz="1200" strike="noStrike"/>
                        <a:t>Contract: MLA/</a:t>
                      </a:r>
                      <a:r>
                        <a:rPr lang="en-US" altLang="zh-CN" sz="1200" strike="sngStrike">
                          <a:solidFill>
                            <a:schemeClr val="bg1">
                              <a:lumMod val="50000"/>
                            </a:schemeClr>
                          </a:solidFill>
                        </a:rPr>
                        <a:t>MSA</a:t>
                      </a:r>
                    </a:p>
                    <a:p>
                      <a:pPr marL="171450" marR="0" lvl="0" indent="-171450" algn="l" defTabSz="1218621"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zh-CN" sz="1200" strike="noStrike" kern="1200" noProof="0">
                          <a:solidFill>
                            <a:schemeClr val="dk1"/>
                          </a:solidFill>
                          <a:latin typeface="Aptos" panose="020B0004020202020204"/>
                          <a:ea typeface="+mn-ea"/>
                          <a:cs typeface="+mn-cs"/>
                        </a:rPr>
                        <a:t>Change events: Early termination, </a:t>
                      </a:r>
                      <a:r>
                        <a:rPr lang="en-US" altLang="zh-CN" sz="1200" strike="noStrike" kern="1200" noProof="0">
                          <a:solidFill>
                            <a:schemeClr val="tx1"/>
                          </a:solidFill>
                          <a:latin typeface="Aptos" panose="020B0004020202020204"/>
                          <a:ea typeface="+mn-ea"/>
                          <a:cs typeface="+mn-cs"/>
                        </a:rPr>
                        <a:t>EOT extension</a:t>
                      </a:r>
                      <a:r>
                        <a:rPr lang="zh-CN" altLang="en-US" sz="1200" strike="noStrike" kern="1200" noProof="0">
                          <a:solidFill>
                            <a:schemeClr val="tx1"/>
                          </a:solidFill>
                          <a:latin typeface="Aptos" panose="020B0004020202020204"/>
                          <a:ea typeface="+mn-ea"/>
                          <a:cs typeface="+mn-cs"/>
                        </a:rPr>
                        <a:t>（</a:t>
                      </a:r>
                      <a:r>
                        <a:rPr lang="en-US" altLang="zh-CN" sz="1200" strike="noStrike" kern="1200" noProof="0">
                          <a:solidFill>
                            <a:schemeClr val="tx1"/>
                          </a:solidFill>
                          <a:latin typeface="Aptos" panose="020B0004020202020204"/>
                          <a:ea typeface="+mn-ea"/>
                          <a:cs typeface="+mn-cs"/>
                        </a:rPr>
                        <a:t>Front-end pricing is not yet confirmed and is open for now, but it has no impact on the accounting entries</a:t>
                      </a:r>
                      <a:r>
                        <a:rPr lang="zh-CN" altLang="en-US" sz="1200" strike="noStrike" kern="1200" noProof="0">
                          <a:solidFill>
                            <a:schemeClr val="tx1"/>
                          </a:solidFill>
                          <a:latin typeface="Aptos" panose="020B0004020202020204"/>
                          <a:ea typeface="+mn-ea"/>
                          <a:cs typeface="+mn-cs"/>
                        </a:rPr>
                        <a:t>）</a:t>
                      </a:r>
                      <a:r>
                        <a:rPr lang="en-US" altLang="zh-CN" sz="1200" strike="sngStrike" kern="1200" noProof="0">
                          <a:solidFill>
                            <a:schemeClr val="dk1"/>
                          </a:solidFill>
                          <a:latin typeface="Aptos" panose="020B0004020202020204"/>
                          <a:ea typeface="+mn-ea"/>
                          <a:cs typeface="+mn-cs"/>
                        </a:rPr>
                        <a:t>, </a:t>
                      </a:r>
                      <a:r>
                        <a:rPr lang="en-US" altLang="zh-CN" sz="1200" strike="sngStrike" kern="1200" noProof="0">
                          <a:solidFill>
                            <a:schemeClr val="bg1">
                              <a:lumMod val="50000"/>
                            </a:schemeClr>
                          </a:solidFill>
                          <a:latin typeface="Aptos" panose="020B0004020202020204"/>
                          <a:ea typeface="+mn-ea"/>
                          <a:cs typeface="+mn-cs"/>
                        </a:rPr>
                        <a:t>flex option , syndication</a:t>
                      </a:r>
                    </a:p>
                  </a:txBody>
                  <a:tcPr anchor="ct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extLst>
                  <a:ext uri="{0D108BD9-81ED-4DB2-BD59-A6C34878D82A}">
                    <a16:rowId xmlns:a16="http://schemas.microsoft.com/office/drawing/2014/main" val="4079242787"/>
                  </a:ext>
                </a:extLst>
              </a:tr>
              <a:tr h="304925">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2</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156082">
                        <a:tint val="2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r>
                        <a:rPr kumimoji="0" lang="en-US" altLang="zh-CN" sz="1200" b="0" i="0" u="none" strike="noStrike" kern="1200" cap="none" spc="0" normalizeH="0" baseline="0" noProof="0">
                          <a:ln>
                            <a:noFill/>
                          </a:ln>
                          <a:solidFill>
                            <a:prstClr val="black"/>
                          </a:solidFill>
                          <a:effectLst/>
                          <a:uLnTx/>
                          <a:uFillTx/>
                          <a:latin typeface="+mn-lt"/>
                          <a:ea typeface="+mn-ea"/>
                          <a:cs typeface="+mn-cs"/>
                        </a:rPr>
                        <a:t>Assumption</a:t>
                      </a:r>
                      <a:endParaRPr lang="en-US" sz="1200"/>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156082">
                        <a:tint val="2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r>
                        <a:rPr lang="en-US" sz="1200"/>
                        <a:t>All assumptions from the as-is scenario BSR </a:t>
                      </a:r>
                      <a:r>
                        <a:rPr lang="en-US" altLang="zh-CN" sz="1200"/>
                        <a:t>session </a:t>
                      </a:r>
                      <a:r>
                        <a:rPr lang="en-US" sz="1200"/>
                        <a:t>shall be followed.</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156082">
                        <a:tint val="20000"/>
                      </a:srgbClr>
                    </a:solidFill>
                  </a:tcPr>
                </a:tc>
                <a:extLst>
                  <a:ext uri="{0D108BD9-81ED-4DB2-BD59-A6C34878D82A}">
                    <a16:rowId xmlns:a16="http://schemas.microsoft.com/office/drawing/2014/main" val="276218728"/>
                  </a:ext>
                </a:extLst>
              </a:tr>
              <a:tr h="474153">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3</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156082">
                        <a:tint val="4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mn-lt"/>
                          <a:ea typeface="+mn-ea"/>
                          <a:cs typeface="+mn-cs"/>
                        </a:rPr>
                        <a:t>Assumption</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156082">
                        <a:tint val="4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r>
                        <a:rPr lang="en-US" sz="1200"/>
                        <a:t>The payment schedule for structural payments </a:t>
                      </a:r>
                      <a:r>
                        <a:rPr lang="en-US" altLang="zh-CN" sz="1200"/>
                        <a:t>will</a:t>
                      </a:r>
                      <a:r>
                        <a:rPr lang="en-US" sz="1200"/>
                        <a:t> be finalized prior to the commencement of the lease. </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156082">
                        <a:tint val="40000"/>
                      </a:srgbClr>
                    </a:solidFill>
                  </a:tcPr>
                </a:tc>
                <a:extLst>
                  <a:ext uri="{0D108BD9-81ED-4DB2-BD59-A6C34878D82A}">
                    <a16:rowId xmlns:a16="http://schemas.microsoft.com/office/drawing/2014/main" val="2835529470"/>
                  </a:ext>
                </a:extLst>
              </a:tr>
              <a:tr h="474153">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4</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156082">
                        <a:tint val="2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mn-lt"/>
                          <a:ea typeface="+mn-ea"/>
                          <a:cs typeface="+mn-cs"/>
                        </a:rPr>
                        <a:t>Assumption</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2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r>
                        <a:rPr lang="en-US" altLang="zh-CN" sz="1200"/>
                        <a:t>Any changes to the total lease amount (e.g., customer discounts, monthly price adjustments) will require an update to the structured payment schedule.</a:t>
                      </a:r>
                      <a:endParaRPr lang="en-US" sz="1200"/>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20000"/>
                      </a:srgbClr>
                    </a:solidFill>
                  </a:tcPr>
                </a:tc>
                <a:extLst>
                  <a:ext uri="{0D108BD9-81ED-4DB2-BD59-A6C34878D82A}">
                    <a16:rowId xmlns:a16="http://schemas.microsoft.com/office/drawing/2014/main" val="3200209679"/>
                  </a:ext>
                </a:extLst>
              </a:tr>
              <a:tr h="509280">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5</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mn-lt"/>
                          <a:ea typeface="+mn-ea"/>
                          <a:cs typeface="+mn-cs"/>
                        </a:rPr>
                        <a:t>Assumption</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tc>
                  <a:txBody>
                    <a:bodyPr/>
                    <a:lstStyle/>
                    <a:p>
                      <a:r>
                        <a:rPr lang="en-US" sz="1200" kern="1200">
                          <a:solidFill>
                            <a:schemeClr val="dk1"/>
                          </a:solidFill>
                          <a:latin typeface="Aptos" panose="020B0004020202020204"/>
                          <a:ea typeface="+mn-ea"/>
                          <a:cs typeface="+mn-cs"/>
                        </a:rPr>
                        <a:t>Front-end will provide item-level revenue split result of Structure payment and standard payment.</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extLst>
                  <a:ext uri="{0D108BD9-81ED-4DB2-BD59-A6C34878D82A}">
                    <a16:rowId xmlns:a16="http://schemas.microsoft.com/office/drawing/2014/main" val="83307384"/>
                  </a:ext>
                </a:extLst>
              </a:tr>
              <a:tr h="509280">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6</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mn-lt"/>
                          <a:ea typeface="+mn-ea"/>
                          <a:cs typeface="+mn-cs"/>
                        </a:rPr>
                        <a:t>Assumption</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tc>
                  <a:txBody>
                    <a:bodyPr/>
                    <a:lstStyle/>
                    <a:p>
                      <a:r>
                        <a:rPr lang="en-US" altLang="zh-CN" sz="1200" kern="1200">
                          <a:solidFill>
                            <a:schemeClr val="dk1"/>
                          </a:solidFill>
                          <a:latin typeface="Aptos" panose="020B0004020202020204"/>
                          <a:ea typeface="+mn-ea"/>
                          <a:cs typeface="+mn-cs"/>
                        </a:rPr>
                        <a:t>Needs clear flag to determine which items are involved in the downpayment allocation to correctly recognize revenue and handle defer revenue.</a:t>
                      </a:r>
                      <a:r>
                        <a:rPr lang="zh-CN" altLang="en-US" sz="1200" kern="1200">
                          <a:solidFill>
                            <a:schemeClr val="dk1"/>
                          </a:solidFill>
                          <a:latin typeface="Aptos" panose="020B0004020202020204"/>
                          <a:ea typeface="+mn-ea"/>
                          <a:cs typeface="+mn-cs"/>
                        </a:rPr>
                        <a:t> </a:t>
                      </a:r>
                      <a:r>
                        <a:rPr lang="en-US" altLang="zh-CN" sz="1200" kern="1200">
                          <a:solidFill>
                            <a:schemeClr val="dk1"/>
                          </a:solidFill>
                          <a:latin typeface="Aptos" panose="020B0004020202020204"/>
                          <a:ea typeface="+mn-ea"/>
                          <a:cs typeface="+mn-cs"/>
                        </a:rPr>
                        <a:t>(refer to downpayment for funded PN)</a:t>
                      </a:r>
                      <a:endParaRPr lang="en-US" sz="1200" kern="1200">
                        <a:solidFill>
                          <a:schemeClr val="dk1"/>
                        </a:solidFill>
                        <a:latin typeface="Aptos" panose="020B0004020202020204"/>
                        <a:ea typeface="+mn-ea"/>
                        <a:cs typeface="+mn-cs"/>
                      </a:endParaRP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extLst>
                  <a:ext uri="{0D108BD9-81ED-4DB2-BD59-A6C34878D82A}">
                    <a16:rowId xmlns:a16="http://schemas.microsoft.com/office/drawing/2014/main" val="4247713848"/>
                  </a:ext>
                </a:extLst>
              </a:tr>
              <a:tr h="457210">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7</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156082">
                        <a:tint val="4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mn-lt"/>
                          <a:ea typeface="+mn-ea"/>
                          <a:cs typeface="+mn-cs"/>
                        </a:rPr>
                        <a:t>Assumption</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r>
                        <a:rPr lang="en-US" altLang="zh-CN" sz="1200"/>
                        <a:t>For lease classification, the implicit interest rate will be calculated based on the projected future cash inflows. </a:t>
                      </a:r>
                      <a:endParaRPr lang="en-US" sz="1200" b="1"/>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extLst>
                  <a:ext uri="{0D108BD9-81ED-4DB2-BD59-A6C34878D82A}">
                    <a16:rowId xmlns:a16="http://schemas.microsoft.com/office/drawing/2014/main" val="798853282"/>
                  </a:ext>
                </a:extLst>
              </a:tr>
              <a:tr h="474153">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8</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156082">
                        <a:tint val="20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mn-lt"/>
                          <a:ea typeface="+mn-ea"/>
                          <a:cs typeface="+mn-cs"/>
                        </a:rPr>
                        <a:t>Assumption</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156082">
                        <a:tint val="2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itchFamily="34" charset="0"/>
                        </a:rPr>
                        <a:t>Downpayment billing will be issued after lease commencement, together with 1</a:t>
                      </a:r>
                      <a:r>
                        <a:rPr kumimoji="0" lang="en-US" altLang="zh-CN" sz="120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itchFamily="34" charset="0"/>
                        </a:rPr>
                        <a:t>st</a:t>
                      </a:r>
                      <a:r>
                        <a:rPr kumimoji="0" lang="en-US" altLang="zh-CN" sz="120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itchFamily="34" charset="0"/>
                        </a:rPr>
                        <a:t> monthly billing</a:t>
                      </a:r>
                      <a:r>
                        <a:rPr kumimoji="0" lang="en-US" altLang="zh-CN" sz="1200" i="0" u="none" strike="noStrike" kern="1200" cap="none" spc="0" normalizeH="0" baseline="0" noProof="0">
                          <a:ln>
                            <a:noFill/>
                          </a:ln>
                          <a:solidFill>
                            <a:srgbClr val="000000"/>
                          </a:solidFill>
                          <a:effectLst/>
                          <a:uLnTx/>
                          <a:uFillTx/>
                          <a:latin typeface="Tenorite" panose="00000500000000000000" pitchFamily="2" charset="0"/>
                          <a:ea typeface="+mn-ea"/>
                          <a:cs typeface="Arial" pitchFamily="34" charset="0"/>
                        </a:rPr>
                        <a:t>. And shown as a separate line item if on the same invoice.</a:t>
                      </a:r>
                      <a:endParaRPr kumimoji="0" lang="en-US" altLang="zh-CN" sz="120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itchFamily="34" charset="0"/>
                      </a:endParaRPr>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156082">
                        <a:tint val="20000"/>
                      </a:srgbClr>
                    </a:solidFill>
                  </a:tcPr>
                </a:tc>
                <a:extLst>
                  <a:ext uri="{0D108BD9-81ED-4DB2-BD59-A6C34878D82A}">
                    <a16:rowId xmlns:a16="http://schemas.microsoft.com/office/drawing/2014/main" val="624920458"/>
                  </a:ext>
                </a:extLst>
              </a:tr>
              <a:tr h="384591">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9</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156082">
                        <a:tint val="4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mn-lt"/>
                          <a:ea typeface="+mn-ea"/>
                          <a:cs typeface="+mn-cs"/>
                        </a:rPr>
                        <a:t>Assumption</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tc>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lang="en-US" altLang="zh-CN" sz="1200" kern="1200">
                          <a:solidFill>
                            <a:schemeClr val="dk1"/>
                          </a:solidFill>
                          <a:latin typeface="Aptos" panose="020B0004020202020204"/>
                          <a:ea typeface="+mn-ea"/>
                          <a:cs typeface="+mn-cs"/>
                        </a:rPr>
                        <a:t>Structures payment will always have higher initial payments ,(e.g., downpayment, step-down) , this means, at the end of each month, the cumulative billing amount will always exceed the cumulative recognized revenue.</a:t>
                      </a:r>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40000"/>
                      </a:srgbClr>
                    </a:solidFill>
                  </a:tcPr>
                </a:tc>
                <a:extLst>
                  <a:ext uri="{0D108BD9-81ED-4DB2-BD59-A6C34878D82A}">
                    <a16:rowId xmlns:a16="http://schemas.microsoft.com/office/drawing/2014/main" val="3606666962"/>
                  </a:ext>
                </a:extLst>
              </a:tr>
              <a:tr h="474153">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algn="ctr"/>
                      <a:r>
                        <a:rPr lang="en-US" sz="1200"/>
                        <a:t>10</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2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solidFill>
                          <a:effectLst/>
                          <a:uLnTx/>
                          <a:uFillTx/>
                          <a:latin typeface="+mn-lt"/>
                          <a:ea typeface="+mn-ea"/>
                          <a:cs typeface="+mn-cs"/>
                        </a:rPr>
                        <a:t>Assumption</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20000"/>
                      </a:srgbClr>
                    </a:solidFill>
                  </a:tcP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itchFamily="34" charset="0"/>
                        </a:rPr>
                        <a:t>In AFE model, AFE will pay S&amp;D in accordance with the same payment schedule as the customer’s payments to AFE.</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56082">
                        <a:tint val="20000"/>
                      </a:srgbClr>
                    </a:solidFill>
                  </a:tcPr>
                </a:tc>
                <a:extLst>
                  <a:ext uri="{0D108BD9-81ED-4DB2-BD59-A6C34878D82A}">
                    <a16:rowId xmlns:a16="http://schemas.microsoft.com/office/drawing/2014/main" val="1094595571"/>
                  </a:ext>
                </a:extLst>
              </a:tr>
            </a:tbl>
          </a:graphicData>
        </a:graphic>
      </p:graphicFrame>
      <p:sp>
        <p:nvSpPr>
          <p:cNvPr id="6" name="文本框 5">
            <a:extLst>
              <a:ext uri="{FF2B5EF4-FFF2-40B4-BE49-F238E27FC236}">
                <a16:creationId xmlns:a16="http://schemas.microsoft.com/office/drawing/2014/main" id="{E5776FFC-12BC-15BA-18DD-05461614852A}"/>
              </a:ext>
            </a:extLst>
          </p:cNvPr>
          <p:cNvSpPr txBox="1"/>
          <p:nvPr/>
        </p:nvSpPr>
        <p:spPr>
          <a:xfrm>
            <a:off x="0" y="554352"/>
            <a:ext cx="2473754" cy="276999"/>
          </a:xfrm>
          <a:prstGeom prst="rect">
            <a:avLst/>
          </a:prstGeom>
          <a:noFill/>
        </p:spPr>
        <p:txBody>
          <a:bodyPr wrap="none" rtlCol="0">
            <a:spAutoFit/>
          </a:bodyPr>
          <a:lstStyle/>
          <a:p>
            <a:pPr defTabSz="914126"/>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F&amp;A key Scope and Assumptions:</a:t>
            </a:r>
            <a:endParaRPr lang="zh-CN" altLang="en-US" sz="12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3" name="Slide Number Placeholder 4">
            <a:extLst>
              <a:ext uri="{FF2B5EF4-FFF2-40B4-BE49-F238E27FC236}">
                <a16:creationId xmlns:a16="http://schemas.microsoft.com/office/drawing/2014/main" id="{92BE0E8B-9659-D511-5E15-F95F8E206639}"/>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145</a:t>
            </a:fld>
            <a:endParaRPr lang="en-US">
              <a:solidFill>
                <a:srgbClr val="000000"/>
              </a:solidFill>
            </a:endParaRPr>
          </a:p>
        </p:txBody>
      </p:sp>
      <p:sp>
        <p:nvSpPr>
          <p:cNvPr id="9" name="文本框 8">
            <a:extLst>
              <a:ext uri="{FF2B5EF4-FFF2-40B4-BE49-F238E27FC236}">
                <a16:creationId xmlns:a16="http://schemas.microsoft.com/office/drawing/2014/main" id="{6AE90B76-F7D9-59E6-85DE-1C3CF8505962}"/>
              </a:ext>
            </a:extLst>
          </p:cNvPr>
          <p:cNvSpPr txBox="1"/>
          <p:nvPr/>
        </p:nvSpPr>
        <p:spPr>
          <a:xfrm>
            <a:off x="0" y="819423"/>
            <a:ext cx="2972524" cy="369332"/>
          </a:xfrm>
          <a:prstGeom prst="rect">
            <a:avLst/>
          </a:prstGeom>
          <a:noFill/>
        </p:spPr>
        <p:txBody>
          <a:bodyPr wrap="square">
            <a:spAutoFit/>
          </a:bodyPr>
          <a:lstStyle/>
          <a:p>
            <a:r>
              <a:rPr lang="zh-CN" altLang="zh-CN">
                <a:hlinkClick r:id="rId3"/>
              </a:rPr>
              <a:t>NexBill E2E BSR.pptx</a:t>
            </a:r>
            <a:endParaRPr lang="zh-CN" altLang="en-US"/>
          </a:p>
        </p:txBody>
      </p:sp>
      <p:graphicFrame>
        <p:nvGraphicFramePr>
          <p:cNvPr id="10" name="表格 1">
            <a:extLst>
              <a:ext uri="{FF2B5EF4-FFF2-40B4-BE49-F238E27FC236}">
                <a16:creationId xmlns:a16="http://schemas.microsoft.com/office/drawing/2014/main" id="{E5EB3087-AD55-6DE4-6700-8A1C20D41F59}"/>
              </a:ext>
            </a:extLst>
          </p:cNvPr>
          <p:cNvGraphicFramePr>
            <a:graphicFrameLocks noGrp="1"/>
          </p:cNvGraphicFramePr>
          <p:nvPr>
            <p:extLst>
              <p:ext uri="{D42A27DB-BD31-4B8C-83A1-F6EECF244321}">
                <p14:modId xmlns:p14="http://schemas.microsoft.com/office/powerpoint/2010/main" val="732273911"/>
              </p:ext>
            </p:extLst>
          </p:nvPr>
        </p:nvGraphicFramePr>
        <p:xfrm>
          <a:off x="108475" y="1497309"/>
          <a:ext cx="4027714" cy="5163743"/>
        </p:xfrm>
        <a:graphic>
          <a:graphicData uri="http://schemas.openxmlformats.org/drawingml/2006/table">
            <a:tbl>
              <a:tblPr firstRow="1" bandRow="1">
                <a:tableStyleId>{7DF18680-E054-41AD-8BC1-D1AEF772440D}</a:tableStyleId>
              </a:tblPr>
              <a:tblGrid>
                <a:gridCol w="1763507">
                  <a:extLst>
                    <a:ext uri="{9D8B030D-6E8A-4147-A177-3AD203B41FA5}">
                      <a16:colId xmlns:a16="http://schemas.microsoft.com/office/drawing/2014/main" val="1464928574"/>
                    </a:ext>
                  </a:extLst>
                </a:gridCol>
                <a:gridCol w="1278342">
                  <a:extLst>
                    <a:ext uri="{9D8B030D-6E8A-4147-A177-3AD203B41FA5}">
                      <a16:colId xmlns:a16="http://schemas.microsoft.com/office/drawing/2014/main" val="2145182167"/>
                    </a:ext>
                  </a:extLst>
                </a:gridCol>
                <a:gridCol w="985865">
                  <a:extLst>
                    <a:ext uri="{9D8B030D-6E8A-4147-A177-3AD203B41FA5}">
                      <a16:colId xmlns:a16="http://schemas.microsoft.com/office/drawing/2014/main" val="3001080914"/>
                    </a:ext>
                  </a:extLst>
                </a:gridCol>
              </a:tblGrid>
              <a:tr h="397211">
                <a:tc>
                  <a:txBody>
                    <a:bodyPr/>
                    <a:lstStyle/>
                    <a:p>
                      <a:r>
                        <a:rPr lang="en-US" altLang="zh-CN" sz="1000">
                          <a:latin typeface="Lato" panose="020F0502020204030203" pitchFamily="34" charset="0"/>
                          <a:ea typeface="Lato" panose="020F0502020204030203" pitchFamily="34" charset="0"/>
                          <a:cs typeface="Lato" panose="020F0502020204030203" pitchFamily="34" charset="0"/>
                        </a:rPr>
                        <a:t>Structure Payment Scenarios</a:t>
                      </a:r>
                      <a:endParaRPr lang="zh-CN" altLang="en-US" sz="1000">
                        <a:latin typeface="Lato" panose="020F0502020204030203" pitchFamily="34" charset="0"/>
                        <a:cs typeface="Lato" panose="020F0502020204030203" pitchFamily="34" charset="0"/>
                      </a:endParaRPr>
                    </a:p>
                  </a:txBody>
                  <a:tcPr marL="35991" marR="35991" marT="0" marB="0" anchor="ctr"/>
                </a:tc>
                <a:tc>
                  <a:txBody>
                    <a:bodyPr/>
                    <a:lstStyle/>
                    <a:p>
                      <a:r>
                        <a:rPr lang="en-US" altLang="zh-CN" sz="1000">
                          <a:latin typeface="Lato" panose="020F0502020204030203" pitchFamily="34" charset="0"/>
                          <a:ea typeface="Lato" panose="020F0502020204030203" pitchFamily="34" charset="0"/>
                          <a:cs typeface="Lato" panose="020F0502020204030203" pitchFamily="34" charset="0"/>
                        </a:rPr>
                        <a:t>Applicable Business Scenarios</a:t>
                      </a:r>
                      <a:endParaRPr lang="zh-CN" altLang="en-US" sz="1000">
                        <a:latin typeface="Lato" panose="020F0502020204030203" pitchFamily="34" charset="0"/>
                        <a:cs typeface="Lato" panose="020F0502020204030203" pitchFamily="34" charset="0"/>
                      </a:endParaRPr>
                    </a:p>
                  </a:txBody>
                  <a:tcPr marL="35991" marR="35991" marT="0" marB="0" anchor="ctr"/>
                </a:tc>
                <a:tc>
                  <a:txBody>
                    <a:bodyPr/>
                    <a:lstStyle/>
                    <a:p>
                      <a:r>
                        <a:rPr lang="en-US" altLang="zh-CN" sz="1000">
                          <a:latin typeface="Lato" panose="020F0502020204030203" pitchFamily="34" charset="0"/>
                          <a:cs typeface="Lato" panose="020F0502020204030203" pitchFamily="34" charset="0"/>
                        </a:rPr>
                        <a:t>Comments</a:t>
                      </a:r>
                      <a:endParaRPr lang="zh-CN" altLang="en-US" sz="1000">
                        <a:latin typeface="Lato" panose="020F0502020204030203" pitchFamily="34" charset="0"/>
                        <a:cs typeface="Lato" panose="020F0502020204030203" pitchFamily="34" charset="0"/>
                      </a:endParaRPr>
                    </a:p>
                  </a:txBody>
                  <a:tcPr marL="35991" marR="35991" marT="0" marB="0" anchor="ctr"/>
                </a:tc>
                <a:extLst>
                  <a:ext uri="{0D108BD9-81ED-4DB2-BD59-A6C34878D82A}">
                    <a16:rowId xmlns:a16="http://schemas.microsoft.com/office/drawing/2014/main" val="2216299738"/>
                  </a:ext>
                </a:extLst>
              </a:tr>
              <a:tr h="397211">
                <a:tc rowSpan="4">
                  <a:txBody>
                    <a:bodyPr/>
                    <a:lstStyle/>
                    <a:p>
                      <a:r>
                        <a:rPr lang="en-US" altLang="zh-CN" sz="900">
                          <a:latin typeface="Lato" panose="020F0502020204030203" pitchFamily="34" charset="0"/>
                          <a:ea typeface="Lato" panose="020F0502020204030203" pitchFamily="34" charset="0"/>
                          <a:cs typeface="Lato" panose="020F0502020204030203" pitchFamily="34" charset="0"/>
                        </a:rPr>
                        <a:t>1. Downpayment + </a:t>
                      </a:r>
                      <a:r>
                        <a:rPr lang="en-US" altLang="zh-CN" sz="900">
                          <a:solidFill>
                            <a:schemeClr val="tx1"/>
                          </a:solidFill>
                          <a:effectLst/>
                          <a:latin typeface="Lato" panose="020F0502020204030203" pitchFamily="34" charset="0"/>
                          <a:ea typeface="Lato" panose="020F0502020204030203" pitchFamily="34" charset="0"/>
                          <a:cs typeface="Lato" panose="020F0502020204030203" pitchFamily="34" charset="0"/>
                        </a:rPr>
                        <a:t>Same Monthly Fee </a:t>
                      </a:r>
                      <a:endParaRPr lang="zh-CN" altLang="en-US" sz="900">
                        <a:latin typeface="Lato" panose="020F0502020204030203" pitchFamily="34" charset="0"/>
                        <a:cs typeface="Lato" panose="020F0502020204030203" pitchFamily="34" charset="0"/>
                      </a:endParaRPr>
                    </a:p>
                  </a:txBody>
                  <a:tcPr marL="35991" marR="35991" marT="0" marB="0" anchor="ctr"/>
                </a:tc>
                <a:tc>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lang="en-US" altLang="zh-CN" sz="900">
                          <a:latin typeface="Lato" panose="020F0502020204030203" pitchFamily="34" charset="0"/>
                          <a:ea typeface="Lato" panose="020F0502020204030203" pitchFamily="34" charset="0"/>
                          <a:cs typeface="Lato" panose="020F0502020204030203" pitchFamily="34" charset="0"/>
                        </a:rPr>
                        <a:t>1. ISG Lease</a:t>
                      </a:r>
                      <a:endParaRPr lang="zh-CN" altLang="en-US" sz="900">
                        <a:latin typeface="Lato" panose="020F0502020204030203" pitchFamily="34" charset="0"/>
                        <a:cs typeface="Lato" panose="020F0502020204030203" pitchFamily="34" charset="0"/>
                      </a:endParaRPr>
                    </a:p>
                  </a:txBody>
                  <a:tcPr marL="35991" marR="35991" marT="0" marB="0" anchor="ctr">
                    <a:solidFill>
                      <a:srgbClr val="CFEBF4"/>
                    </a:solidFill>
                  </a:tcPr>
                </a:tc>
                <a:tc>
                  <a:txBody>
                    <a:bodyPr/>
                    <a:lstStyle/>
                    <a:p>
                      <a:endParaRPr lang="zh-CN" altLang="en-US" sz="800">
                        <a:latin typeface="Lato" panose="020F0502020204030203" pitchFamily="34" charset="0"/>
                        <a:cs typeface="Lato" panose="020F0502020204030203" pitchFamily="34" charset="0"/>
                      </a:endParaRPr>
                    </a:p>
                  </a:txBody>
                  <a:tcPr marL="35991" marR="35991" marT="0" marB="0" anchor="ctr">
                    <a:solidFill>
                      <a:srgbClr val="CFEBF4"/>
                    </a:solidFill>
                  </a:tcPr>
                </a:tc>
                <a:extLst>
                  <a:ext uri="{0D108BD9-81ED-4DB2-BD59-A6C34878D82A}">
                    <a16:rowId xmlns:a16="http://schemas.microsoft.com/office/drawing/2014/main" val="1922368086"/>
                  </a:ext>
                </a:extLst>
              </a:tr>
              <a:tr h="397211">
                <a:tc vMerge="1">
                  <a:txBody>
                    <a:bodyPr/>
                    <a:lstStyle/>
                    <a:p>
                      <a:endParaRPr lang="zh-CN" altLang="en-US" sz="1000">
                        <a:latin typeface="Lato" panose="020F0502020204030203" pitchFamily="34" charset="0"/>
                        <a:cs typeface="Lato" panose="020F0502020204030203" pitchFamily="34" charset="0"/>
                      </a:endParaRPr>
                    </a:p>
                  </a:txBody>
                  <a:tcPr marL="36000" marR="36000" marT="0" marB="0" anchor="ctr"/>
                </a:tc>
                <a:tc>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lang="en-US" altLang="zh-CN" sz="900">
                          <a:latin typeface="Lato" panose="020F0502020204030203" pitchFamily="34" charset="0"/>
                          <a:ea typeface="Lato" panose="020F0502020204030203" pitchFamily="34" charset="0"/>
                          <a:cs typeface="Lato" panose="020F0502020204030203" pitchFamily="34" charset="0"/>
                        </a:rPr>
                        <a:t>2. DaaS – MLA</a:t>
                      </a:r>
                      <a:endParaRPr lang="zh-CN" altLang="en-US" sz="900">
                        <a:latin typeface="Lato" panose="020F0502020204030203" pitchFamily="34" charset="0"/>
                        <a:cs typeface="Lato" panose="020F0502020204030203" pitchFamily="34" charset="0"/>
                      </a:endParaRPr>
                    </a:p>
                  </a:txBody>
                  <a:tcPr marL="35991" marR="35991" marT="0" marB="0" anchor="ctr">
                    <a:solidFill>
                      <a:srgbClr val="CFEBF4"/>
                    </a:solidFill>
                  </a:tcPr>
                </a:tc>
                <a:tc>
                  <a:txBody>
                    <a:bodyPr/>
                    <a:lstStyle/>
                    <a:p>
                      <a:endParaRPr lang="zh-CN" altLang="en-US" sz="800">
                        <a:latin typeface="Lato" panose="020F0502020204030203" pitchFamily="34" charset="0"/>
                        <a:cs typeface="Lato" panose="020F0502020204030203" pitchFamily="34" charset="0"/>
                      </a:endParaRPr>
                    </a:p>
                  </a:txBody>
                  <a:tcPr marL="35991" marR="35991" marT="0" marB="0" anchor="ctr">
                    <a:solidFill>
                      <a:srgbClr val="CFEBF4"/>
                    </a:solidFill>
                  </a:tcPr>
                </a:tc>
                <a:extLst>
                  <a:ext uri="{0D108BD9-81ED-4DB2-BD59-A6C34878D82A}">
                    <a16:rowId xmlns:a16="http://schemas.microsoft.com/office/drawing/2014/main" val="159400492"/>
                  </a:ext>
                </a:extLst>
              </a:tr>
              <a:tr h="397211">
                <a:tc vMerge="1">
                  <a:txBody>
                    <a:bodyPr/>
                    <a:lstStyle/>
                    <a:p>
                      <a:endParaRPr lang="zh-CN" altLang="en-US" sz="1000">
                        <a:latin typeface="Lato" panose="020F0502020204030203" pitchFamily="34" charset="0"/>
                        <a:cs typeface="Lato" panose="020F0502020204030203" pitchFamily="34" charset="0"/>
                      </a:endParaRPr>
                    </a:p>
                  </a:txBody>
                  <a:tcPr marL="36000" marR="36000" marT="0" marB="0" anchor="ctr"/>
                </a:tc>
                <a:tc>
                  <a:txBody>
                    <a:bodyPr/>
                    <a:lstStyle/>
                    <a:p>
                      <a:pPr marL="0" marR="0" lvl="0" indent="0" algn="l" defTabSz="1218255" rtl="0" eaLnBrk="1" fontAlgn="auto" latinLnBrk="0" hangingPunct="1">
                        <a:lnSpc>
                          <a:spcPct val="100000"/>
                        </a:lnSpc>
                        <a:spcBef>
                          <a:spcPts val="0"/>
                        </a:spcBef>
                        <a:spcAft>
                          <a:spcPts val="0"/>
                        </a:spcAft>
                        <a:buClrTx/>
                        <a:buSzTx/>
                        <a:buFontTx/>
                        <a:buNone/>
                        <a:tabLst/>
                        <a:defRPr/>
                      </a:pPr>
                      <a:r>
                        <a:rPr lang="en-US" altLang="zh-CN" sz="900">
                          <a:solidFill>
                            <a:srgbClr val="FF0000"/>
                          </a:solidFill>
                          <a:latin typeface="Lato" panose="020F0502020204030203" pitchFamily="34" charset="0"/>
                          <a:ea typeface="Lato" panose="020F0502020204030203" pitchFamily="34" charset="0"/>
                          <a:cs typeface="Lato" panose="020F0502020204030203" pitchFamily="34" charset="0"/>
                        </a:rPr>
                        <a:t>3. IaaS – MSA [TBD]</a:t>
                      </a:r>
                      <a:endParaRPr lang="zh-CN" altLang="en-US" sz="900">
                        <a:solidFill>
                          <a:srgbClr val="FF0000"/>
                        </a:solidFill>
                        <a:latin typeface="Lato" panose="020F0502020204030203" pitchFamily="34" charset="0"/>
                        <a:cs typeface="Lato" panose="020F0502020204030203" pitchFamily="34" charset="0"/>
                      </a:endParaRPr>
                    </a:p>
                  </a:txBody>
                  <a:tcPr marL="35991" marR="35991" marT="0" marB="0" anchor="ctr">
                    <a:solidFill>
                      <a:srgbClr val="CFEBF4"/>
                    </a:solidFill>
                  </a:tcPr>
                </a:tc>
                <a:tc rowSpan="2">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lang="en-US" altLang="zh-CN" sz="800">
                          <a:latin typeface="Lato" panose="020F0502020204030203" pitchFamily="34" charset="0"/>
                          <a:cs typeface="Lato" panose="020F0502020204030203" pitchFamily="34" charset="0"/>
                        </a:rPr>
                        <a:t>MSA deal will be considered in future.</a:t>
                      </a:r>
                      <a:endParaRPr lang="zh-CN" altLang="en-US" sz="800">
                        <a:latin typeface="Lato" panose="020F0502020204030203" pitchFamily="34" charset="0"/>
                        <a:cs typeface="Lato" panose="020F0502020204030203" pitchFamily="34" charset="0"/>
                      </a:endParaRPr>
                    </a:p>
                  </a:txBody>
                  <a:tcPr marL="35991" marR="35991" marT="0" marB="0" anchor="ctr">
                    <a:solidFill>
                      <a:srgbClr val="CFEBF4"/>
                    </a:solidFill>
                  </a:tcPr>
                </a:tc>
                <a:extLst>
                  <a:ext uri="{0D108BD9-81ED-4DB2-BD59-A6C34878D82A}">
                    <a16:rowId xmlns:a16="http://schemas.microsoft.com/office/drawing/2014/main" val="3891528322"/>
                  </a:ext>
                </a:extLst>
              </a:tr>
              <a:tr h="397211">
                <a:tc vMerge="1">
                  <a:txBody>
                    <a:bodyPr/>
                    <a:lstStyle/>
                    <a:p>
                      <a:endParaRPr lang="zh-CN" altLang="en-US" sz="1000">
                        <a:latin typeface="Lato" panose="020F0502020204030203" pitchFamily="34" charset="0"/>
                        <a:cs typeface="Lato" panose="020F0502020204030203" pitchFamily="34" charset="0"/>
                      </a:endParaRPr>
                    </a:p>
                  </a:txBody>
                  <a:tcPr marL="36000" marR="36000" marT="0" marB="0" anchor="ctr"/>
                </a:tc>
                <a:tc>
                  <a:txBody>
                    <a:bodyPr/>
                    <a:lstStyle/>
                    <a:p>
                      <a:r>
                        <a:rPr lang="en-US" altLang="zh-CN" sz="900">
                          <a:solidFill>
                            <a:schemeClr val="bg1">
                              <a:lumMod val="75000"/>
                            </a:schemeClr>
                          </a:solidFill>
                          <a:latin typeface="Lato" panose="020F0502020204030203" pitchFamily="34" charset="0"/>
                          <a:ea typeface="Lato" panose="020F0502020204030203" pitchFamily="34" charset="0"/>
                          <a:cs typeface="Lato" panose="020F0502020204030203" pitchFamily="34" charset="0"/>
                        </a:rPr>
                        <a:t>4. DaaS – MSA</a:t>
                      </a:r>
                      <a:endParaRPr lang="zh-CN" altLang="en-US" sz="900">
                        <a:solidFill>
                          <a:schemeClr val="bg1">
                            <a:lumMod val="75000"/>
                          </a:schemeClr>
                        </a:solidFill>
                        <a:latin typeface="Lato" panose="020F0502020204030203" pitchFamily="34" charset="0"/>
                        <a:cs typeface="Lato" panose="020F0502020204030203" pitchFamily="34" charset="0"/>
                      </a:endParaRPr>
                    </a:p>
                  </a:txBody>
                  <a:tcPr marL="35991" marR="35991" marT="0" marB="0" anchor="ctr">
                    <a:solidFill>
                      <a:srgbClr val="CFEBF4"/>
                    </a:solidFill>
                  </a:tcPr>
                </a:tc>
                <a:tc vMerge="1">
                  <a:txBody>
                    <a:bodyPr/>
                    <a:lstStyle/>
                    <a:p>
                      <a:endParaRPr lang="zh-CN" altLang="en-US" sz="900">
                        <a:latin typeface="Lato" panose="020F0502020204030203" pitchFamily="34" charset="0"/>
                        <a:cs typeface="Lato" panose="020F0502020204030203" pitchFamily="34" charset="0"/>
                      </a:endParaRPr>
                    </a:p>
                  </a:txBody>
                  <a:tcPr marL="35991" marR="35991" marT="0" marB="0" anchor="ctr">
                    <a:solidFill>
                      <a:srgbClr val="CFEBF4"/>
                    </a:solidFill>
                  </a:tcPr>
                </a:tc>
                <a:extLst>
                  <a:ext uri="{0D108BD9-81ED-4DB2-BD59-A6C34878D82A}">
                    <a16:rowId xmlns:a16="http://schemas.microsoft.com/office/drawing/2014/main" val="1458170839"/>
                  </a:ext>
                </a:extLst>
              </a:tr>
              <a:tr h="397211">
                <a:tc rowSpan="4">
                  <a:txBody>
                    <a:bodyPr/>
                    <a:lstStyle/>
                    <a:p>
                      <a:r>
                        <a:rPr lang="en-US" altLang="zh-CN" sz="900">
                          <a:latin typeface="Lato" panose="020F0502020204030203" pitchFamily="34" charset="0"/>
                          <a:ea typeface="Lato" panose="020F0502020204030203" pitchFamily="34" charset="0"/>
                          <a:cs typeface="Lato" panose="020F0502020204030203" pitchFamily="34" charset="0"/>
                        </a:rPr>
                        <a:t>2. Downpayment + </a:t>
                      </a:r>
                      <a:r>
                        <a:rPr lang="en-US" altLang="zh-CN" sz="900">
                          <a:solidFill>
                            <a:schemeClr val="tx1"/>
                          </a:solidFill>
                          <a:effectLst/>
                          <a:latin typeface="Lato" panose="020F0502020204030203" pitchFamily="34" charset="0"/>
                          <a:ea typeface="Lato" panose="020F0502020204030203" pitchFamily="34" charset="0"/>
                          <a:cs typeface="Lato" panose="020F0502020204030203" pitchFamily="34" charset="0"/>
                        </a:rPr>
                        <a:t>Different Monthly Fee </a:t>
                      </a:r>
                      <a:endParaRPr lang="zh-CN" altLang="en-US" sz="900">
                        <a:latin typeface="Lato" panose="020F0502020204030203" pitchFamily="34" charset="0"/>
                        <a:cs typeface="Lato" panose="020F0502020204030203" pitchFamily="34" charset="0"/>
                      </a:endParaRPr>
                    </a:p>
                  </a:txBody>
                  <a:tcPr marL="35991" marR="35991" marT="0" marB="0" anchor="ctr">
                    <a:solidFill>
                      <a:srgbClr val="E9F5F9"/>
                    </a:solidFill>
                  </a:tcPr>
                </a:tc>
                <a:tc>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lang="en-US" altLang="zh-CN" sz="900">
                          <a:latin typeface="Lato" panose="020F0502020204030203" pitchFamily="34" charset="0"/>
                          <a:ea typeface="Lato" panose="020F0502020204030203" pitchFamily="34" charset="0"/>
                          <a:cs typeface="Lato" panose="020F0502020204030203" pitchFamily="34" charset="0"/>
                        </a:rPr>
                        <a:t>1. ISG Lease</a:t>
                      </a:r>
                      <a:endParaRPr lang="zh-CN" altLang="en-US" sz="900">
                        <a:latin typeface="Lato" panose="020F0502020204030203" pitchFamily="34" charset="0"/>
                        <a:cs typeface="Lato" panose="020F0502020204030203" pitchFamily="34" charset="0"/>
                      </a:endParaRPr>
                    </a:p>
                  </a:txBody>
                  <a:tcPr marL="35991" marR="35991" marT="0" marB="0" anchor="ctr">
                    <a:solidFill>
                      <a:srgbClr val="E9F5F9"/>
                    </a:solidFill>
                  </a:tcPr>
                </a:tc>
                <a:tc rowSpan="2">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endParaRPr lang="zh-CN" altLang="en-US" sz="800">
                        <a:latin typeface="Lato" panose="020F0502020204030203" pitchFamily="34" charset="0"/>
                        <a:cs typeface="Lato" panose="020F0502020204030203" pitchFamily="34" charset="0"/>
                      </a:endParaRPr>
                    </a:p>
                  </a:txBody>
                  <a:tcPr marL="35991" marR="35991" marT="0" marB="0" anchor="ctr">
                    <a:solidFill>
                      <a:srgbClr val="E9F5F9"/>
                    </a:solidFill>
                  </a:tcPr>
                </a:tc>
                <a:extLst>
                  <a:ext uri="{0D108BD9-81ED-4DB2-BD59-A6C34878D82A}">
                    <a16:rowId xmlns:a16="http://schemas.microsoft.com/office/drawing/2014/main" val="3462168571"/>
                  </a:ext>
                </a:extLst>
              </a:tr>
              <a:tr h="397211">
                <a:tc vMerge="1">
                  <a:txBody>
                    <a:bodyPr/>
                    <a:lstStyle/>
                    <a:p>
                      <a:endParaRPr lang="zh-CN" altLang="en-US" sz="1000">
                        <a:latin typeface="Lato" panose="020F0502020204030203" pitchFamily="34" charset="0"/>
                        <a:cs typeface="Lato" panose="020F0502020204030203" pitchFamily="34" charset="0"/>
                      </a:endParaRPr>
                    </a:p>
                  </a:txBody>
                  <a:tcPr marL="36000" marR="36000" marT="0" marB="0" anchor="ctr">
                    <a:solidFill>
                      <a:schemeClr val="bg1">
                        <a:lumMod val="95000"/>
                      </a:schemeClr>
                    </a:solidFill>
                  </a:tcPr>
                </a:tc>
                <a:tc>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lang="en-US" altLang="zh-CN" sz="900">
                          <a:latin typeface="Lato" panose="020F0502020204030203" pitchFamily="34" charset="0"/>
                          <a:ea typeface="Lato" panose="020F0502020204030203" pitchFamily="34" charset="0"/>
                          <a:cs typeface="Lato" panose="020F0502020204030203" pitchFamily="34" charset="0"/>
                        </a:rPr>
                        <a:t>2. DaaS – MLA</a:t>
                      </a:r>
                      <a:endParaRPr lang="zh-CN" altLang="en-US" sz="900">
                        <a:latin typeface="Lato" panose="020F0502020204030203" pitchFamily="34" charset="0"/>
                        <a:cs typeface="Lato" panose="020F0502020204030203" pitchFamily="34" charset="0"/>
                      </a:endParaRPr>
                    </a:p>
                  </a:txBody>
                  <a:tcPr marL="35991" marR="35991" marT="0" marB="0" anchor="ctr"/>
                </a:tc>
                <a:tc vMerge="1">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endParaRPr lang="zh-CN" altLang="en-US" sz="900">
                        <a:latin typeface="Lato" panose="020F0502020204030203" pitchFamily="34" charset="0"/>
                        <a:cs typeface="Lato" panose="020F0502020204030203" pitchFamily="34" charset="0"/>
                      </a:endParaRPr>
                    </a:p>
                  </a:txBody>
                  <a:tcPr marL="36000" marR="36000" marT="0" marB="0" anchor="ctr"/>
                </a:tc>
                <a:extLst>
                  <a:ext uri="{0D108BD9-81ED-4DB2-BD59-A6C34878D82A}">
                    <a16:rowId xmlns:a16="http://schemas.microsoft.com/office/drawing/2014/main" val="2182978888"/>
                  </a:ext>
                </a:extLst>
              </a:tr>
              <a:tr h="397211">
                <a:tc vMerge="1">
                  <a:txBody>
                    <a:bodyPr/>
                    <a:lstStyle/>
                    <a:p>
                      <a:endParaRPr lang="zh-CN" altLang="en-US" sz="900">
                        <a:latin typeface="Lato" panose="020F0502020204030203" pitchFamily="34" charset="0"/>
                        <a:cs typeface="Lato" panose="020F0502020204030203" pitchFamily="34" charset="0"/>
                      </a:endParaRPr>
                    </a:p>
                  </a:txBody>
                  <a:tcPr marL="35991" marR="35991" marT="0" marB="0" anchor="ctr">
                    <a:solidFill>
                      <a:srgbClr val="E9F5F9"/>
                    </a:solidFill>
                  </a:tcPr>
                </a:tc>
                <a:tc>
                  <a:txBody>
                    <a:bodyPr/>
                    <a:lstStyle/>
                    <a:p>
                      <a:pPr marL="0" marR="0" lvl="0" indent="0" algn="l" defTabSz="1218255" rtl="0" eaLnBrk="1" fontAlgn="auto" latinLnBrk="0" hangingPunct="1">
                        <a:lnSpc>
                          <a:spcPct val="100000"/>
                        </a:lnSpc>
                        <a:spcBef>
                          <a:spcPts val="0"/>
                        </a:spcBef>
                        <a:spcAft>
                          <a:spcPts val="0"/>
                        </a:spcAft>
                        <a:buClrTx/>
                        <a:buSzTx/>
                        <a:buFontTx/>
                        <a:buNone/>
                        <a:tabLst/>
                        <a:defRPr/>
                      </a:pPr>
                      <a:r>
                        <a:rPr lang="en-US" altLang="zh-CN" sz="900">
                          <a:solidFill>
                            <a:srgbClr val="FF0000"/>
                          </a:solidFill>
                          <a:latin typeface="Lato" panose="020F0502020204030203" pitchFamily="34" charset="0"/>
                          <a:ea typeface="Lato" panose="020F0502020204030203" pitchFamily="34" charset="0"/>
                          <a:cs typeface="Lato" panose="020F0502020204030203" pitchFamily="34" charset="0"/>
                        </a:rPr>
                        <a:t>3. IaaS – MSA [TBD]</a:t>
                      </a:r>
                      <a:endParaRPr lang="zh-CN" altLang="en-US" sz="900">
                        <a:solidFill>
                          <a:srgbClr val="FF0000"/>
                        </a:solidFill>
                        <a:latin typeface="Lato" panose="020F0502020204030203" pitchFamily="34" charset="0"/>
                        <a:cs typeface="Lato" panose="020F0502020204030203" pitchFamily="34" charset="0"/>
                      </a:endParaRPr>
                    </a:p>
                  </a:txBody>
                  <a:tcPr marL="35991" marR="35991" marT="0" marB="0" anchor="ctr">
                    <a:solidFill>
                      <a:srgbClr val="E9F5F9"/>
                    </a:solidFill>
                  </a:tcPr>
                </a:tc>
                <a:tc rowSpan="2">
                  <a:txBody>
                    <a:bodyPr/>
                    <a:lstStyle/>
                    <a:p>
                      <a:pPr marL="0" marR="0" lvl="0" indent="0" algn="l" defTabSz="1218255" rtl="0" eaLnBrk="1" fontAlgn="auto" latinLnBrk="0" hangingPunct="1">
                        <a:lnSpc>
                          <a:spcPct val="100000"/>
                        </a:lnSpc>
                        <a:spcBef>
                          <a:spcPts val="0"/>
                        </a:spcBef>
                        <a:spcAft>
                          <a:spcPts val="0"/>
                        </a:spcAft>
                        <a:buClrTx/>
                        <a:buSzTx/>
                        <a:buFontTx/>
                        <a:buNone/>
                        <a:tabLst/>
                        <a:defRPr/>
                      </a:pPr>
                      <a:r>
                        <a:rPr lang="en-US" altLang="zh-CN" sz="800">
                          <a:latin typeface="Lato" panose="020F0502020204030203" pitchFamily="34" charset="0"/>
                          <a:cs typeface="Lato" panose="020F0502020204030203" pitchFamily="34" charset="0"/>
                        </a:rPr>
                        <a:t>MSA deal will be considered in future.</a:t>
                      </a:r>
                    </a:p>
                  </a:txBody>
                  <a:tcPr marL="35991" marR="35991" marT="0" marB="0" anchor="ctr">
                    <a:solidFill>
                      <a:srgbClr val="E9F5F9"/>
                    </a:solidFill>
                  </a:tcPr>
                </a:tc>
                <a:extLst>
                  <a:ext uri="{0D108BD9-81ED-4DB2-BD59-A6C34878D82A}">
                    <a16:rowId xmlns:a16="http://schemas.microsoft.com/office/drawing/2014/main" val="1738912847"/>
                  </a:ext>
                </a:extLst>
              </a:tr>
              <a:tr h="397211">
                <a:tc vMerge="1">
                  <a:txBody>
                    <a:bodyPr/>
                    <a:lstStyle/>
                    <a:p>
                      <a:endParaRPr lang="zh-CN" altLang="en-US" sz="900">
                        <a:latin typeface="Lato" panose="020F0502020204030203" pitchFamily="34" charset="0"/>
                        <a:cs typeface="Lato" panose="020F0502020204030203" pitchFamily="34" charset="0"/>
                      </a:endParaRPr>
                    </a:p>
                  </a:txBody>
                  <a:tcPr marL="35991" marR="35991" marT="0" marB="0" anchor="ctr">
                    <a:solidFill>
                      <a:srgbClr val="E9F5F9"/>
                    </a:solidFill>
                  </a:tcPr>
                </a:tc>
                <a:tc>
                  <a:txBody>
                    <a:bodyPr/>
                    <a:lstStyle/>
                    <a:p>
                      <a:r>
                        <a:rPr lang="en-US" altLang="zh-CN" sz="900">
                          <a:solidFill>
                            <a:schemeClr val="bg1">
                              <a:lumMod val="75000"/>
                            </a:schemeClr>
                          </a:solidFill>
                          <a:latin typeface="Lato" panose="020F0502020204030203" pitchFamily="34" charset="0"/>
                          <a:ea typeface="Lato" panose="020F0502020204030203" pitchFamily="34" charset="0"/>
                          <a:cs typeface="Lato" panose="020F0502020204030203" pitchFamily="34" charset="0"/>
                        </a:rPr>
                        <a:t>4. DaaS – MSA</a:t>
                      </a:r>
                      <a:endParaRPr lang="zh-CN" altLang="en-US" sz="900">
                        <a:solidFill>
                          <a:schemeClr val="bg1">
                            <a:lumMod val="75000"/>
                          </a:schemeClr>
                        </a:solidFill>
                        <a:latin typeface="Lato" panose="020F0502020204030203" pitchFamily="34" charset="0"/>
                        <a:cs typeface="Lato" panose="020F0502020204030203" pitchFamily="34" charset="0"/>
                      </a:endParaRPr>
                    </a:p>
                  </a:txBody>
                  <a:tcPr marL="35991" marR="35991" marT="0" marB="0" anchor="ctr">
                    <a:solidFill>
                      <a:srgbClr val="E9F5F9"/>
                    </a:solidFill>
                  </a:tcPr>
                </a:tc>
                <a:tc vMerge="1">
                  <a:txBody>
                    <a:bodyPr/>
                    <a:lstStyle/>
                    <a:p>
                      <a:endParaRPr lang="zh-CN" altLang="en-US" sz="800">
                        <a:latin typeface="Lato" panose="020F0502020204030203" pitchFamily="34" charset="0"/>
                        <a:cs typeface="Lato" panose="020F0502020204030203" pitchFamily="34" charset="0"/>
                      </a:endParaRPr>
                    </a:p>
                  </a:txBody>
                  <a:tcPr marL="35991" marR="35991" marT="0" marB="0" anchor="ctr">
                    <a:solidFill>
                      <a:srgbClr val="E9F5F9"/>
                    </a:solidFill>
                  </a:tcPr>
                </a:tc>
                <a:extLst>
                  <a:ext uri="{0D108BD9-81ED-4DB2-BD59-A6C34878D82A}">
                    <a16:rowId xmlns:a16="http://schemas.microsoft.com/office/drawing/2014/main" val="1376158176"/>
                  </a:ext>
                </a:extLst>
              </a:tr>
              <a:tr h="397211">
                <a:tc rowSpan="4">
                  <a:txBody>
                    <a:bodyPr/>
                    <a:lstStyle/>
                    <a:p>
                      <a:r>
                        <a:rPr lang="en-US" altLang="zh-CN" sz="900">
                          <a:latin typeface="Lato" panose="020F0502020204030203" pitchFamily="34" charset="0"/>
                          <a:ea typeface="Lato" panose="020F0502020204030203" pitchFamily="34" charset="0"/>
                          <a:cs typeface="Lato" panose="020F0502020204030203" pitchFamily="34" charset="0"/>
                        </a:rPr>
                        <a:t>3. </a:t>
                      </a:r>
                      <a:r>
                        <a:rPr lang="en-US" altLang="zh-CN" sz="900">
                          <a:solidFill>
                            <a:schemeClr val="tx1"/>
                          </a:solidFill>
                          <a:effectLst/>
                          <a:latin typeface="Lato" panose="020F0502020204030203" pitchFamily="34" charset="0"/>
                          <a:ea typeface="Lato" panose="020F0502020204030203" pitchFamily="34" charset="0"/>
                          <a:cs typeface="Lato" panose="020F0502020204030203" pitchFamily="34" charset="0"/>
                        </a:rPr>
                        <a:t>Down Payment + No Billing for Few Months </a:t>
                      </a:r>
                      <a:endParaRPr lang="zh-CN" altLang="en-US" sz="900">
                        <a:latin typeface="Lato" panose="020F0502020204030203" pitchFamily="34" charset="0"/>
                        <a:cs typeface="Lato" panose="020F0502020204030203" pitchFamily="34" charset="0"/>
                      </a:endParaRPr>
                    </a:p>
                  </a:txBody>
                  <a:tcPr marL="35991" marR="35991" marT="0" marB="0" anchor="ctr"/>
                </a:tc>
                <a:tc>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lang="en-US" altLang="zh-CN" sz="900">
                          <a:latin typeface="Lato" panose="020F0502020204030203" pitchFamily="34" charset="0"/>
                          <a:ea typeface="Lato" panose="020F0502020204030203" pitchFamily="34" charset="0"/>
                          <a:cs typeface="Lato" panose="020F0502020204030203" pitchFamily="34" charset="0"/>
                        </a:rPr>
                        <a:t>1. ISG Lease</a:t>
                      </a:r>
                      <a:endParaRPr lang="zh-CN" altLang="en-US" sz="900">
                        <a:latin typeface="Lato" panose="020F0502020204030203" pitchFamily="34" charset="0"/>
                        <a:cs typeface="Lato" panose="020F0502020204030203" pitchFamily="34" charset="0"/>
                      </a:endParaRPr>
                    </a:p>
                  </a:txBody>
                  <a:tcPr marL="35991" marR="35991" marT="0" marB="0" anchor="ctr">
                    <a:solidFill>
                      <a:srgbClr val="CFEBF4"/>
                    </a:solidFill>
                  </a:tcPr>
                </a:tc>
                <a:tc>
                  <a:txBody>
                    <a:bodyPr/>
                    <a:lstStyle/>
                    <a:p>
                      <a:pPr marL="0" marR="0" lvl="0" indent="0" algn="l" defTabSz="1218255" rtl="0" eaLnBrk="1" fontAlgn="auto" latinLnBrk="0" hangingPunct="1">
                        <a:lnSpc>
                          <a:spcPct val="100000"/>
                        </a:lnSpc>
                        <a:spcBef>
                          <a:spcPts val="0"/>
                        </a:spcBef>
                        <a:spcAft>
                          <a:spcPts val="0"/>
                        </a:spcAft>
                        <a:buClrTx/>
                        <a:buSzTx/>
                        <a:buFontTx/>
                        <a:buNone/>
                        <a:tabLst/>
                        <a:defRPr/>
                      </a:pPr>
                      <a:endParaRPr lang="zh-CN" altLang="en-US" sz="800">
                        <a:latin typeface="Lato" panose="020F0502020204030203" pitchFamily="34" charset="0"/>
                        <a:cs typeface="Lato" panose="020F0502020204030203" pitchFamily="34" charset="0"/>
                      </a:endParaRPr>
                    </a:p>
                  </a:txBody>
                  <a:tcPr marL="35991" marR="35991" marT="0" marB="0" anchor="ctr">
                    <a:solidFill>
                      <a:srgbClr val="CFEBF4"/>
                    </a:solidFill>
                  </a:tcPr>
                </a:tc>
                <a:extLst>
                  <a:ext uri="{0D108BD9-81ED-4DB2-BD59-A6C34878D82A}">
                    <a16:rowId xmlns:a16="http://schemas.microsoft.com/office/drawing/2014/main" val="2121881613"/>
                  </a:ext>
                </a:extLst>
              </a:tr>
              <a:tr h="397211">
                <a:tc vMerge="1">
                  <a:txBody>
                    <a:bodyPr/>
                    <a:lstStyle/>
                    <a:p>
                      <a:endParaRPr lang="zh-CN" altLang="en-US" sz="1000">
                        <a:latin typeface="Lato" panose="020F0502020204030203" pitchFamily="34" charset="0"/>
                        <a:cs typeface="Lato" panose="020F0502020204030203" pitchFamily="34" charset="0"/>
                      </a:endParaRPr>
                    </a:p>
                  </a:txBody>
                  <a:tcPr marL="36000" marR="36000" marT="0" marB="0" anchor="ctr">
                    <a:solidFill>
                      <a:schemeClr val="bg1">
                        <a:lumMod val="95000"/>
                      </a:schemeClr>
                    </a:solidFill>
                  </a:tcPr>
                </a:tc>
                <a:tc>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lang="en-US" altLang="zh-CN" sz="900">
                          <a:latin typeface="Lato" panose="020F0502020204030203" pitchFamily="34" charset="0"/>
                          <a:ea typeface="Lato" panose="020F0502020204030203" pitchFamily="34" charset="0"/>
                          <a:cs typeface="Lato" panose="020F0502020204030203" pitchFamily="34" charset="0"/>
                        </a:rPr>
                        <a:t>2. DaaS – MLA</a:t>
                      </a:r>
                      <a:endParaRPr lang="zh-CN" altLang="en-US" sz="900">
                        <a:latin typeface="Lato" panose="020F0502020204030203" pitchFamily="34" charset="0"/>
                        <a:cs typeface="Lato" panose="020F0502020204030203" pitchFamily="34" charset="0"/>
                      </a:endParaRPr>
                    </a:p>
                  </a:txBody>
                  <a:tcPr marL="35991" marR="35991" marT="0" marB="0" anchor="ctr">
                    <a:solidFill>
                      <a:srgbClr val="CFEBF4"/>
                    </a:solidFill>
                  </a:tcPr>
                </a:tc>
                <a:tc>
                  <a:txBody>
                    <a:bodyPr/>
                    <a:lstStyle/>
                    <a:p>
                      <a:endParaRPr lang="zh-CN" altLang="en-US" sz="800">
                        <a:latin typeface="Lato" panose="020F0502020204030203" pitchFamily="34" charset="0"/>
                        <a:cs typeface="Lato" panose="020F0502020204030203" pitchFamily="34" charset="0"/>
                      </a:endParaRPr>
                    </a:p>
                  </a:txBody>
                  <a:tcPr marL="35991" marR="35991" marT="0" marB="0" anchor="ctr">
                    <a:solidFill>
                      <a:srgbClr val="CFEBF4"/>
                    </a:solidFill>
                  </a:tcPr>
                </a:tc>
                <a:extLst>
                  <a:ext uri="{0D108BD9-81ED-4DB2-BD59-A6C34878D82A}">
                    <a16:rowId xmlns:a16="http://schemas.microsoft.com/office/drawing/2014/main" val="1222305406"/>
                  </a:ext>
                </a:extLst>
              </a:tr>
              <a:tr h="397211">
                <a:tc vMerge="1">
                  <a:txBody>
                    <a:bodyPr/>
                    <a:lstStyle/>
                    <a:p>
                      <a:endParaRPr lang="zh-CN" altLang="en-US" sz="1000">
                        <a:latin typeface="Lato" panose="020F0502020204030203" pitchFamily="34" charset="0"/>
                        <a:cs typeface="Lato" panose="020F0502020204030203" pitchFamily="34" charset="0"/>
                      </a:endParaRPr>
                    </a:p>
                  </a:txBody>
                  <a:tcPr marL="36000" marR="36000" marT="0" marB="0" anchor="ctr">
                    <a:solidFill>
                      <a:schemeClr val="bg1">
                        <a:lumMod val="95000"/>
                      </a:schemeClr>
                    </a:solidFill>
                  </a:tcPr>
                </a:tc>
                <a:tc>
                  <a:txBody>
                    <a:bodyPr/>
                    <a:lstStyle/>
                    <a:p>
                      <a:pPr marL="0" marR="0" lvl="0" indent="0" algn="l" defTabSz="1218255" rtl="0" eaLnBrk="1" fontAlgn="auto" latinLnBrk="0" hangingPunct="1">
                        <a:lnSpc>
                          <a:spcPct val="100000"/>
                        </a:lnSpc>
                        <a:spcBef>
                          <a:spcPts val="0"/>
                        </a:spcBef>
                        <a:spcAft>
                          <a:spcPts val="0"/>
                        </a:spcAft>
                        <a:buClrTx/>
                        <a:buSzTx/>
                        <a:buFontTx/>
                        <a:buNone/>
                        <a:tabLst/>
                        <a:defRPr/>
                      </a:pPr>
                      <a:r>
                        <a:rPr lang="en-US" altLang="zh-CN" sz="900">
                          <a:solidFill>
                            <a:srgbClr val="FF0000"/>
                          </a:solidFill>
                          <a:latin typeface="Lato" panose="020F0502020204030203" pitchFamily="34" charset="0"/>
                          <a:ea typeface="Lato" panose="020F0502020204030203" pitchFamily="34" charset="0"/>
                          <a:cs typeface="Lato" panose="020F0502020204030203" pitchFamily="34" charset="0"/>
                        </a:rPr>
                        <a:t>3. IaaS – MSA [TBD]</a:t>
                      </a:r>
                      <a:endParaRPr lang="zh-CN" altLang="en-US" sz="900">
                        <a:solidFill>
                          <a:srgbClr val="FF0000"/>
                        </a:solidFill>
                        <a:latin typeface="Lato" panose="020F0502020204030203" pitchFamily="34" charset="0"/>
                        <a:cs typeface="Lato" panose="020F0502020204030203" pitchFamily="34" charset="0"/>
                      </a:endParaRPr>
                    </a:p>
                  </a:txBody>
                  <a:tcPr marL="35991" marR="35991" marT="0" marB="0" anchor="ctr">
                    <a:solidFill>
                      <a:srgbClr val="CFEBF4"/>
                    </a:solidFill>
                  </a:tcPr>
                </a:tc>
                <a:tc rowSpan="2">
                  <a:txBody>
                    <a:bodyPr/>
                    <a:lstStyle/>
                    <a:p>
                      <a:pPr marL="0" marR="0" lvl="0" indent="0" algn="l" defTabSz="1218255" rtl="0" eaLnBrk="1" fontAlgn="auto" latinLnBrk="0" hangingPunct="1">
                        <a:lnSpc>
                          <a:spcPct val="100000"/>
                        </a:lnSpc>
                        <a:spcBef>
                          <a:spcPts val="0"/>
                        </a:spcBef>
                        <a:spcAft>
                          <a:spcPts val="0"/>
                        </a:spcAft>
                        <a:buClrTx/>
                        <a:buSzTx/>
                        <a:buFontTx/>
                        <a:buNone/>
                        <a:tabLst/>
                        <a:defRPr/>
                      </a:pPr>
                      <a:r>
                        <a:rPr lang="en-US" altLang="zh-CN" sz="800">
                          <a:latin typeface="Lato" panose="020F0502020204030203" pitchFamily="34" charset="0"/>
                          <a:cs typeface="Lato" panose="020F0502020204030203" pitchFamily="34" charset="0"/>
                        </a:rPr>
                        <a:t>MSA deal will be considered in future.</a:t>
                      </a:r>
                      <a:endParaRPr lang="zh-CN" altLang="en-US" sz="800">
                        <a:latin typeface="Lato" panose="020F0502020204030203" pitchFamily="34" charset="0"/>
                        <a:cs typeface="Lato" panose="020F0502020204030203" pitchFamily="34" charset="0"/>
                      </a:endParaRPr>
                    </a:p>
                  </a:txBody>
                  <a:tcPr marL="35991" marR="35991" marT="0" marB="0" anchor="ctr">
                    <a:solidFill>
                      <a:srgbClr val="CFEBF4"/>
                    </a:solidFill>
                  </a:tcPr>
                </a:tc>
                <a:extLst>
                  <a:ext uri="{0D108BD9-81ED-4DB2-BD59-A6C34878D82A}">
                    <a16:rowId xmlns:a16="http://schemas.microsoft.com/office/drawing/2014/main" val="3514565197"/>
                  </a:ext>
                </a:extLst>
              </a:tr>
              <a:tr h="397211">
                <a:tc vMerge="1">
                  <a:txBody>
                    <a:bodyPr/>
                    <a:lstStyle/>
                    <a:p>
                      <a:endParaRPr lang="zh-CN" altLang="en-US" sz="1000">
                        <a:latin typeface="Lato" panose="020F0502020204030203" pitchFamily="34" charset="0"/>
                        <a:cs typeface="Lato" panose="020F0502020204030203" pitchFamily="34" charset="0"/>
                      </a:endParaRPr>
                    </a:p>
                  </a:txBody>
                  <a:tcPr marL="36000" marR="36000" marT="0" marB="0" anchor="ctr">
                    <a:solidFill>
                      <a:schemeClr val="bg1">
                        <a:lumMod val="95000"/>
                      </a:schemeClr>
                    </a:solidFill>
                  </a:tcPr>
                </a:tc>
                <a:tc>
                  <a:txBody>
                    <a:bodyPr/>
                    <a:lstStyle/>
                    <a:p>
                      <a:r>
                        <a:rPr lang="en-US" altLang="zh-CN" sz="900">
                          <a:solidFill>
                            <a:schemeClr val="bg1">
                              <a:lumMod val="75000"/>
                            </a:schemeClr>
                          </a:solidFill>
                          <a:latin typeface="Lato" panose="020F0502020204030203" pitchFamily="34" charset="0"/>
                          <a:ea typeface="Lato" panose="020F0502020204030203" pitchFamily="34" charset="0"/>
                          <a:cs typeface="Lato" panose="020F0502020204030203" pitchFamily="34" charset="0"/>
                        </a:rPr>
                        <a:t>4. DaaS – MSA</a:t>
                      </a:r>
                      <a:endParaRPr lang="zh-CN" altLang="en-US" sz="900">
                        <a:solidFill>
                          <a:schemeClr val="bg1">
                            <a:lumMod val="75000"/>
                          </a:schemeClr>
                        </a:solidFill>
                        <a:latin typeface="Lato" panose="020F0502020204030203" pitchFamily="34" charset="0"/>
                        <a:cs typeface="Lato" panose="020F0502020204030203" pitchFamily="34" charset="0"/>
                      </a:endParaRPr>
                    </a:p>
                  </a:txBody>
                  <a:tcPr marL="35991" marR="35991" marT="0" marB="0" anchor="ctr">
                    <a:solidFill>
                      <a:srgbClr val="CFEBF4"/>
                    </a:solidFill>
                  </a:tcPr>
                </a:tc>
                <a:tc vMerge="1">
                  <a:txBody>
                    <a:bodyPr/>
                    <a:lstStyle/>
                    <a:p>
                      <a:endParaRPr lang="zh-CN" altLang="en-US" sz="800">
                        <a:latin typeface="Lato" panose="020F0502020204030203" pitchFamily="34" charset="0"/>
                        <a:cs typeface="Lato" panose="020F0502020204030203" pitchFamily="34" charset="0"/>
                      </a:endParaRPr>
                    </a:p>
                  </a:txBody>
                  <a:tcPr marL="35991" marR="35991" marT="0" marB="0" anchor="ctr">
                    <a:solidFill>
                      <a:srgbClr val="CFEBF4"/>
                    </a:solidFill>
                  </a:tcPr>
                </a:tc>
                <a:extLst>
                  <a:ext uri="{0D108BD9-81ED-4DB2-BD59-A6C34878D82A}">
                    <a16:rowId xmlns:a16="http://schemas.microsoft.com/office/drawing/2014/main" val="3832696410"/>
                  </a:ext>
                </a:extLst>
              </a:tr>
            </a:tbl>
          </a:graphicData>
        </a:graphic>
      </p:graphicFrame>
    </p:spTree>
    <p:extLst>
      <p:ext uri="{BB962C8B-B14F-4D97-AF65-F5344CB8AC3E}">
        <p14:creationId xmlns:p14="http://schemas.microsoft.com/office/powerpoint/2010/main" val="1789452225"/>
      </p:ext>
    </p:extLst>
  </p:cSld>
  <p:clrMapOvr>
    <a:masterClrMapping/>
  </p:clrMapOvr>
  <p:transition>
    <p:fade/>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79B219-983D-C843-9881-82C940AF2309}"/>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200A2FD2-92B7-2DF2-1D9C-A1E914313504}"/>
              </a:ext>
            </a:extLst>
          </p:cNvPr>
          <p:cNvSpPr txBox="1">
            <a:spLocks/>
          </p:cNvSpPr>
          <p:nvPr/>
        </p:nvSpPr>
        <p:spPr>
          <a:xfrm>
            <a:off x="372499" y="182434"/>
            <a:ext cx="11056112"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 Revenue Split – F&amp;A key points</a:t>
            </a:r>
          </a:p>
        </p:txBody>
      </p:sp>
      <p:sp>
        <p:nvSpPr>
          <p:cNvPr id="28" name="文本框 27">
            <a:extLst>
              <a:ext uri="{FF2B5EF4-FFF2-40B4-BE49-F238E27FC236}">
                <a16:creationId xmlns:a16="http://schemas.microsoft.com/office/drawing/2014/main" id="{2E1A31A3-21E5-AEF1-8B38-FA08441C2D75}"/>
              </a:ext>
            </a:extLst>
          </p:cNvPr>
          <p:cNvSpPr txBox="1"/>
          <p:nvPr/>
        </p:nvSpPr>
        <p:spPr>
          <a:xfrm>
            <a:off x="7382496" y="2100606"/>
            <a:ext cx="5476398" cy="2865913"/>
          </a:xfrm>
          <a:prstGeom prst="rect">
            <a:avLst/>
          </a:prstGeom>
          <a:noFill/>
        </p:spPr>
        <p:txBody>
          <a:bodyPr wrap="square" rtlCol="0">
            <a:spAutoFit/>
          </a:bodyPr>
          <a:lstStyle/>
          <a:p>
            <a:pPr marL="228600" indent="-228600">
              <a:lnSpc>
                <a:spcPct val="150000"/>
              </a:lnSpc>
              <a:spcAft>
                <a:spcPts val="600"/>
              </a:spcAft>
              <a:buFont typeface="+mj-lt"/>
              <a:buAutoNum type="arabicPeriod"/>
              <a:defRPr/>
            </a:pPr>
            <a:r>
              <a:rPr lang="en-US" altLang="zh-CN" sz="1400">
                <a:solidFill>
                  <a:srgbClr val="000000"/>
                </a:solidFill>
                <a:latin typeface="Lato" panose="020F0502020204030203" pitchFamily="34" charset="0"/>
                <a:ea typeface="Lato" panose="020F0502020204030203" pitchFamily="34" charset="0"/>
                <a:cs typeface="Lato" panose="020F0502020204030203" pitchFamily="34" charset="0"/>
              </a:rPr>
              <a:t>F&amp;A solution will be based revenue split results.</a:t>
            </a:r>
          </a:p>
          <a:p>
            <a:pPr marL="742950" lvl="1" indent="-285750">
              <a:lnSpc>
                <a:spcPct val="150000"/>
              </a:lnSpc>
              <a:spcAft>
                <a:spcPts val="600"/>
              </a:spcAft>
              <a:buFont typeface="Wingdings" panose="05000000000000000000" pitchFamily="2" charset="2"/>
              <a:buChar char="Ø"/>
              <a:defRPr/>
            </a:pPr>
            <a:r>
              <a:rPr lang="en-US" altLang="zh-CN" sz="1400">
                <a:solidFill>
                  <a:srgbClr val="000000"/>
                </a:solidFill>
                <a:latin typeface="Lato" panose="020F0502020204030203" pitchFamily="34" charset="0"/>
                <a:ea typeface="Lato" panose="020F0502020204030203" pitchFamily="34" charset="0"/>
                <a:cs typeface="Lato" panose="020F0502020204030203" pitchFamily="34" charset="0"/>
              </a:rPr>
              <a:t>Most scenarios: Downpayment + Monthly Payment*terms = </a:t>
            </a:r>
            <a:r>
              <a:rPr lang="en-US" altLang="zh-CN" sz="1400" b="1">
                <a:solidFill>
                  <a:srgbClr val="000000"/>
                </a:solidFill>
                <a:latin typeface="Lato" panose="020F0502020204030203" pitchFamily="34" charset="0"/>
                <a:ea typeface="Lato" panose="020F0502020204030203" pitchFamily="34" charset="0"/>
                <a:cs typeface="Lato" panose="020F0502020204030203" pitchFamily="34" charset="0"/>
              </a:rPr>
              <a:t>Standard  Payment </a:t>
            </a:r>
            <a:r>
              <a:rPr lang="en-US" altLang="zh-CN" sz="1400">
                <a:solidFill>
                  <a:srgbClr val="000000"/>
                </a:solidFill>
                <a:latin typeface="Lato" panose="020F0502020204030203" pitchFamily="34" charset="0"/>
                <a:ea typeface="Lato" panose="020F0502020204030203" pitchFamily="34" charset="0"/>
                <a:cs typeface="Lato" panose="020F0502020204030203" pitchFamily="34" charset="0"/>
              </a:rPr>
              <a:t>* Terms.</a:t>
            </a:r>
          </a:p>
          <a:p>
            <a:pPr marL="742950" lvl="1" indent="-285750">
              <a:lnSpc>
                <a:spcPct val="150000"/>
              </a:lnSpc>
              <a:spcAft>
                <a:spcPts val="600"/>
              </a:spcAft>
              <a:buFont typeface="Wingdings" panose="05000000000000000000" pitchFamily="2" charset="2"/>
              <a:buChar char="Ø"/>
              <a:defRPr/>
            </a:pPr>
            <a:r>
              <a:rPr lang="en-US" altLang="zh-CN" sz="1400">
                <a:solidFill>
                  <a:srgbClr val="000000"/>
                </a:solidFill>
                <a:latin typeface="Lato" panose="020F0502020204030203" pitchFamily="34" charset="0"/>
                <a:ea typeface="Lato" panose="020F0502020204030203" pitchFamily="34" charset="0"/>
                <a:cs typeface="Lato" panose="020F0502020204030203" pitchFamily="34" charset="0"/>
              </a:rPr>
              <a:t>Otherwise, calculate </a:t>
            </a:r>
            <a:r>
              <a:rPr lang="en-US" altLang="zh-CN" sz="1400" b="1">
                <a:solidFill>
                  <a:srgbClr val="000000"/>
                </a:solidFill>
                <a:latin typeface="Lato" panose="020F0502020204030203" pitchFamily="34" charset="0"/>
                <a:ea typeface="Lato" panose="020F0502020204030203" pitchFamily="34" charset="0"/>
                <a:cs typeface="Lato" panose="020F0502020204030203" pitchFamily="34" charset="0"/>
              </a:rPr>
              <a:t>Average Payment</a:t>
            </a:r>
            <a:r>
              <a:rPr lang="en-US" altLang="zh-CN" sz="1400">
                <a:solidFill>
                  <a:srgbClr val="000000"/>
                </a:solidFill>
                <a:latin typeface="Lato" panose="020F0502020204030203" pitchFamily="34" charset="0"/>
                <a:ea typeface="Lato" panose="020F0502020204030203" pitchFamily="34" charset="0"/>
                <a:cs typeface="Lato" panose="020F0502020204030203" pitchFamily="34" charset="0"/>
              </a:rPr>
              <a:t>=(Downpayment + Monthly Payment*terms )/terms</a:t>
            </a:r>
          </a:p>
          <a:p>
            <a:pPr marL="228600" indent="-228600">
              <a:lnSpc>
                <a:spcPct val="150000"/>
              </a:lnSpc>
              <a:spcAft>
                <a:spcPts val="600"/>
              </a:spcAft>
              <a:buFont typeface="+mj-lt"/>
              <a:buAutoNum type="arabicPeriod"/>
              <a:defRPr/>
            </a:pPr>
            <a:r>
              <a:rPr lang="en-US" altLang="zh-CN" sz="1400">
                <a:solidFill>
                  <a:srgbClr val="000000"/>
                </a:solidFill>
                <a:latin typeface="Lato" panose="020F0502020204030203" pitchFamily="34" charset="0"/>
                <a:ea typeface="Lato" panose="020F0502020204030203" pitchFamily="34" charset="0"/>
                <a:cs typeface="Lato" panose="020F0502020204030203" pitchFamily="34" charset="0"/>
              </a:rPr>
              <a:t>For Finance lease, item-level revenue split results will be synchronized to </a:t>
            </a:r>
            <a:r>
              <a:rPr lang="en-US" altLang="zh-CN" sz="1400" b="1">
                <a:solidFill>
                  <a:srgbClr val="000000"/>
                </a:solidFill>
                <a:latin typeface="Lato" panose="020F0502020204030203" pitchFamily="34" charset="0"/>
                <a:ea typeface="Lato" panose="020F0502020204030203" pitchFamily="34" charset="0"/>
                <a:cs typeface="Lato" panose="020F0502020204030203" pitchFamily="34" charset="0"/>
              </a:rPr>
              <a:t>Odessa</a:t>
            </a:r>
            <a:r>
              <a:rPr lang="en-US" altLang="zh-CN" sz="1400">
                <a:solidFill>
                  <a:srgbClr val="000000"/>
                </a:solidFill>
                <a:latin typeface="Lato" panose="020F0502020204030203" pitchFamily="34" charset="0"/>
                <a:ea typeface="Lato" panose="020F0502020204030203" pitchFamily="34" charset="0"/>
                <a:cs typeface="Lato" panose="020F0502020204030203" pitchFamily="34" charset="0"/>
              </a:rPr>
              <a:t> for calculation of implicit interest rate (IRR) and monthly interest income. </a:t>
            </a:r>
          </a:p>
        </p:txBody>
      </p:sp>
      <p:pic>
        <p:nvPicPr>
          <p:cNvPr id="7" name="图片 6">
            <a:extLst>
              <a:ext uri="{FF2B5EF4-FFF2-40B4-BE49-F238E27FC236}">
                <a16:creationId xmlns:a16="http://schemas.microsoft.com/office/drawing/2014/main" id="{8C42DB42-3626-42C2-6588-904E5837B38D}"/>
              </a:ext>
            </a:extLst>
          </p:cNvPr>
          <p:cNvPicPr>
            <a:picLocks noChangeAspect="1"/>
          </p:cNvPicPr>
          <p:nvPr/>
        </p:nvPicPr>
        <p:blipFill>
          <a:blip r:embed="rId3"/>
          <a:stretch>
            <a:fillRect/>
          </a:stretch>
        </p:blipFill>
        <p:spPr>
          <a:xfrm>
            <a:off x="-117987" y="971126"/>
            <a:ext cx="7500483" cy="5124874"/>
          </a:xfrm>
          <a:prstGeom prst="rect">
            <a:avLst/>
          </a:prstGeom>
        </p:spPr>
      </p:pic>
      <p:sp>
        <p:nvSpPr>
          <p:cNvPr id="3" name="Slide Number Placeholder 4">
            <a:extLst>
              <a:ext uri="{FF2B5EF4-FFF2-40B4-BE49-F238E27FC236}">
                <a16:creationId xmlns:a16="http://schemas.microsoft.com/office/drawing/2014/main" id="{7887D73B-CFCA-9CFF-D1A4-A156818BF200}"/>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146</a:t>
            </a:fld>
            <a:endParaRPr lang="en-US">
              <a:solidFill>
                <a:srgbClr val="000000"/>
              </a:solidFill>
            </a:endParaRPr>
          </a:p>
        </p:txBody>
      </p:sp>
    </p:spTree>
    <p:extLst>
      <p:ext uri="{BB962C8B-B14F-4D97-AF65-F5344CB8AC3E}">
        <p14:creationId xmlns:p14="http://schemas.microsoft.com/office/powerpoint/2010/main" val="1943496420"/>
      </p:ext>
    </p:extLst>
  </p:cSld>
  <p:clrMapOvr>
    <a:masterClrMapping/>
  </p:clrMapOvr>
  <p:transition>
    <p:fade/>
  </p:transition>
</p:sld>
</file>

<file path=ppt/slides/slide14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60C0DC3-CA24-5F0B-67F7-0E1A3B082C69}"/>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75F29875-2CFB-3C71-C5E1-D267A7096192}"/>
              </a:ext>
            </a:extLst>
          </p:cNvPr>
          <p:cNvSpPr txBox="1">
            <a:spLocks/>
          </p:cNvSpPr>
          <p:nvPr/>
        </p:nvSpPr>
        <p:spPr>
          <a:xfrm>
            <a:off x="372499" y="182434"/>
            <a:ext cx="11056112"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err="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NextBill</a:t>
            </a:r>
            <a:r>
              <a:rPr lang="en-US" altLang="zh-CN" sz="3199"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 – Structure Payment – 3 Scenarios Sample</a:t>
            </a:r>
          </a:p>
        </p:txBody>
      </p:sp>
      <p:graphicFrame>
        <p:nvGraphicFramePr>
          <p:cNvPr id="6" name="表格 5">
            <a:extLst>
              <a:ext uri="{FF2B5EF4-FFF2-40B4-BE49-F238E27FC236}">
                <a16:creationId xmlns:a16="http://schemas.microsoft.com/office/drawing/2014/main" id="{D478810A-C128-321F-F4BC-65D6E8E13673}"/>
              </a:ext>
            </a:extLst>
          </p:cNvPr>
          <p:cNvGraphicFramePr>
            <a:graphicFrameLocks noGrp="1"/>
          </p:cNvGraphicFramePr>
          <p:nvPr/>
        </p:nvGraphicFramePr>
        <p:xfrm>
          <a:off x="500222" y="1549566"/>
          <a:ext cx="1608279" cy="5105529"/>
        </p:xfrm>
        <a:graphic>
          <a:graphicData uri="http://schemas.openxmlformats.org/drawingml/2006/table">
            <a:tbl>
              <a:tblPr firstRow="1">
                <a:tableStyleId>{00A15C55-8517-42AA-B614-E9B94910E393}</a:tableStyleId>
              </a:tblPr>
              <a:tblGrid>
                <a:gridCol w="529556">
                  <a:extLst>
                    <a:ext uri="{9D8B030D-6E8A-4147-A177-3AD203B41FA5}">
                      <a16:colId xmlns:a16="http://schemas.microsoft.com/office/drawing/2014/main" val="823924166"/>
                    </a:ext>
                  </a:extLst>
                </a:gridCol>
                <a:gridCol w="1078723">
                  <a:extLst>
                    <a:ext uri="{9D8B030D-6E8A-4147-A177-3AD203B41FA5}">
                      <a16:colId xmlns:a16="http://schemas.microsoft.com/office/drawing/2014/main" val="157080097"/>
                    </a:ext>
                  </a:extLst>
                </a:gridCol>
              </a:tblGrid>
              <a:tr h="285753">
                <a:tc>
                  <a:txBody>
                    <a:bodyPr/>
                    <a:lstStyle/>
                    <a:p>
                      <a:pPr algn="ctr" rtl="0" fontAlgn="ctr"/>
                      <a:r>
                        <a:rPr lang="en-US" sz="900" u="none" strike="noStrike">
                          <a:effectLst/>
                          <a:latin typeface="Lato" panose="020F0502020204030203" pitchFamily="34" charset="0"/>
                          <a:ea typeface="Lato" panose="020F0502020204030203" pitchFamily="34" charset="0"/>
                          <a:cs typeface="Lato" panose="020F0502020204030203" pitchFamily="34" charset="0"/>
                        </a:rPr>
                        <a:t>Term</a:t>
                      </a:r>
                      <a:endParaRPr lang="en-US" sz="90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ctr" rtl="0" fontAlgn="ctr"/>
                      <a:r>
                        <a:rPr lang="en-US" sz="900" u="none" strike="noStrike">
                          <a:effectLst/>
                          <a:latin typeface="Lato" panose="020F0502020204030203" pitchFamily="34" charset="0"/>
                          <a:ea typeface="Lato" panose="020F0502020204030203" pitchFamily="34" charset="0"/>
                          <a:cs typeface="Lato" panose="020F0502020204030203" pitchFamily="34" charset="0"/>
                        </a:rPr>
                        <a:t>Monthly Price</a:t>
                      </a:r>
                      <a:endParaRPr lang="en-US" sz="90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50798896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824917320"/>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48397819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46060534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5253461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748186053"/>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28063567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132640346"/>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8</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44987358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11139025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70247019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75073795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480239260"/>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13</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74995117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719463040"/>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19808318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16</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93468149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101878618"/>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18</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98940177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757498496"/>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20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74433832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680343526"/>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93935767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680064096"/>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123,749.90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920795819"/>
                  </a:ext>
                </a:extLst>
              </a:tr>
            </a:tbl>
          </a:graphicData>
        </a:graphic>
      </p:graphicFrame>
      <p:graphicFrame>
        <p:nvGraphicFramePr>
          <p:cNvPr id="7" name="表格 6">
            <a:extLst>
              <a:ext uri="{FF2B5EF4-FFF2-40B4-BE49-F238E27FC236}">
                <a16:creationId xmlns:a16="http://schemas.microsoft.com/office/drawing/2014/main" id="{677C12E0-2F21-E320-6258-21DCAF867E15}"/>
              </a:ext>
            </a:extLst>
          </p:cNvPr>
          <p:cNvGraphicFramePr>
            <a:graphicFrameLocks noGrp="1"/>
          </p:cNvGraphicFramePr>
          <p:nvPr>
            <p:extLst>
              <p:ext uri="{D42A27DB-BD31-4B8C-83A1-F6EECF244321}">
                <p14:modId xmlns:p14="http://schemas.microsoft.com/office/powerpoint/2010/main" val="3343104719"/>
              </p:ext>
            </p:extLst>
          </p:nvPr>
        </p:nvGraphicFramePr>
        <p:xfrm>
          <a:off x="2428025" y="1542742"/>
          <a:ext cx="3017002" cy="5100625"/>
        </p:xfrm>
        <a:graphic>
          <a:graphicData uri="http://schemas.openxmlformats.org/drawingml/2006/table">
            <a:tbl>
              <a:tblPr firstRow="1">
                <a:tableStyleId>{7DF18680-E054-41AD-8BC1-D1AEF772440D}</a:tableStyleId>
              </a:tblPr>
              <a:tblGrid>
                <a:gridCol w="302724">
                  <a:extLst>
                    <a:ext uri="{9D8B030D-6E8A-4147-A177-3AD203B41FA5}">
                      <a16:colId xmlns:a16="http://schemas.microsoft.com/office/drawing/2014/main" val="1713399966"/>
                    </a:ext>
                  </a:extLst>
                </a:gridCol>
                <a:gridCol w="793134">
                  <a:extLst>
                    <a:ext uri="{9D8B030D-6E8A-4147-A177-3AD203B41FA5}">
                      <a16:colId xmlns:a16="http://schemas.microsoft.com/office/drawing/2014/main" val="2296484523"/>
                    </a:ext>
                  </a:extLst>
                </a:gridCol>
                <a:gridCol w="969301">
                  <a:extLst>
                    <a:ext uri="{9D8B030D-6E8A-4147-A177-3AD203B41FA5}">
                      <a16:colId xmlns:a16="http://schemas.microsoft.com/office/drawing/2014/main" val="872111573"/>
                    </a:ext>
                  </a:extLst>
                </a:gridCol>
                <a:gridCol w="951843">
                  <a:extLst>
                    <a:ext uri="{9D8B030D-6E8A-4147-A177-3AD203B41FA5}">
                      <a16:colId xmlns:a16="http://schemas.microsoft.com/office/drawing/2014/main" val="1738524889"/>
                    </a:ext>
                  </a:extLst>
                </a:gridCol>
              </a:tblGrid>
              <a:tr h="285753">
                <a:tc>
                  <a:txBody>
                    <a:bodyPr/>
                    <a:lstStyle/>
                    <a:p>
                      <a:pPr algn="ctr" rtl="0" fontAlgn="ctr"/>
                      <a:r>
                        <a:rPr lang="en-US" sz="900" u="none" strike="noStrike">
                          <a:effectLst/>
                          <a:latin typeface="Lato" panose="020F0502020204030203" pitchFamily="34" charset="0"/>
                          <a:ea typeface="Lato" panose="020F0502020204030203" pitchFamily="34" charset="0"/>
                          <a:cs typeface="Lato" panose="020F0502020204030203" pitchFamily="34" charset="0"/>
                        </a:rPr>
                        <a:t>Term</a:t>
                      </a:r>
                      <a:endParaRPr lang="en-US" sz="90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ctr" rtl="0" fontAlgn="ctr"/>
                      <a:r>
                        <a:rPr lang="en-US" sz="900"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Downpayment</a:t>
                      </a:r>
                      <a:endParaRPr lang="en-US" sz="9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ctr" rtl="0" fontAlgn="ctr"/>
                      <a:r>
                        <a:rPr lang="en-US" sz="9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Downpayment for</a:t>
                      </a:r>
                    </a:p>
                  </a:txBody>
                  <a:tcPr marL="4557" marR="4557" marT="4557" marB="0" anchor="ctr"/>
                </a:tc>
                <a:tc>
                  <a:txBody>
                    <a:bodyPr/>
                    <a:lstStyle/>
                    <a:p>
                      <a:pPr algn="ctr" rtl="0" fontAlgn="ctr"/>
                      <a:r>
                        <a:rPr lang="en-US" sz="900"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Monthly Payment</a:t>
                      </a:r>
                      <a:endParaRPr lang="en-US" sz="9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8818105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3,712,497.00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7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All Items/Funded Items</a:t>
                      </a: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81933102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2901746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76105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86332840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86948168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14497310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49922344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8</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56894332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69901504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94624347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582333304"/>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86143567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13</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0998455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99474045"/>
                  </a:ext>
                </a:extLst>
              </a:tr>
              <a:tr h="195920">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0196799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16</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11488648"/>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134720863"/>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18</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6284999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2125083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20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22254911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92690956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75304783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84909902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818144234"/>
                  </a:ext>
                </a:extLst>
              </a:tr>
            </a:tbl>
          </a:graphicData>
        </a:graphic>
      </p:graphicFrame>
      <p:graphicFrame>
        <p:nvGraphicFramePr>
          <p:cNvPr id="2" name="表格 1">
            <a:extLst>
              <a:ext uri="{FF2B5EF4-FFF2-40B4-BE49-F238E27FC236}">
                <a16:creationId xmlns:a16="http://schemas.microsoft.com/office/drawing/2014/main" id="{75C0D1EE-B6C6-5B90-1E48-147FF94644CB}"/>
              </a:ext>
            </a:extLst>
          </p:cNvPr>
          <p:cNvGraphicFramePr>
            <a:graphicFrameLocks noGrp="1"/>
          </p:cNvGraphicFramePr>
          <p:nvPr/>
        </p:nvGraphicFramePr>
        <p:xfrm>
          <a:off x="5557158" y="1549565"/>
          <a:ext cx="3017002" cy="5105529"/>
        </p:xfrm>
        <a:graphic>
          <a:graphicData uri="http://schemas.openxmlformats.org/drawingml/2006/table">
            <a:tbl>
              <a:tblPr firstRow="1">
                <a:tableStyleId>{7DF18680-E054-41AD-8BC1-D1AEF772440D}</a:tableStyleId>
              </a:tblPr>
              <a:tblGrid>
                <a:gridCol w="302724">
                  <a:extLst>
                    <a:ext uri="{9D8B030D-6E8A-4147-A177-3AD203B41FA5}">
                      <a16:colId xmlns:a16="http://schemas.microsoft.com/office/drawing/2014/main" val="1713399966"/>
                    </a:ext>
                  </a:extLst>
                </a:gridCol>
                <a:gridCol w="793134">
                  <a:extLst>
                    <a:ext uri="{9D8B030D-6E8A-4147-A177-3AD203B41FA5}">
                      <a16:colId xmlns:a16="http://schemas.microsoft.com/office/drawing/2014/main" val="2296484523"/>
                    </a:ext>
                  </a:extLst>
                </a:gridCol>
                <a:gridCol w="969301">
                  <a:extLst>
                    <a:ext uri="{9D8B030D-6E8A-4147-A177-3AD203B41FA5}">
                      <a16:colId xmlns:a16="http://schemas.microsoft.com/office/drawing/2014/main" val="872111573"/>
                    </a:ext>
                  </a:extLst>
                </a:gridCol>
                <a:gridCol w="951843">
                  <a:extLst>
                    <a:ext uri="{9D8B030D-6E8A-4147-A177-3AD203B41FA5}">
                      <a16:colId xmlns:a16="http://schemas.microsoft.com/office/drawing/2014/main" val="1738524889"/>
                    </a:ext>
                  </a:extLst>
                </a:gridCol>
              </a:tblGrid>
              <a:tr h="285753">
                <a:tc>
                  <a:txBody>
                    <a:bodyPr/>
                    <a:lstStyle/>
                    <a:p>
                      <a:pPr algn="ctr" rtl="0" fontAlgn="ctr"/>
                      <a:r>
                        <a:rPr lang="en-US" sz="900" u="none" strike="noStrike">
                          <a:effectLst/>
                          <a:latin typeface="Lato" panose="020F0502020204030203" pitchFamily="34" charset="0"/>
                          <a:ea typeface="Lato" panose="020F0502020204030203" pitchFamily="34" charset="0"/>
                          <a:cs typeface="Lato" panose="020F0502020204030203" pitchFamily="34" charset="0"/>
                        </a:rPr>
                        <a:t>Term</a:t>
                      </a:r>
                      <a:endParaRPr lang="en-US" sz="90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ctr" rtl="0" fontAlgn="ctr"/>
                      <a:r>
                        <a:rPr lang="en-US" sz="900"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Downpayment</a:t>
                      </a:r>
                      <a:endParaRPr lang="en-US" sz="9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ctr" rtl="0" fontAlgn="ctr"/>
                      <a:r>
                        <a:rPr lang="en-US" sz="9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Downpayment for</a:t>
                      </a:r>
                    </a:p>
                  </a:txBody>
                  <a:tcPr marL="4557" marR="4557" marT="4557" marB="0" anchor="ctr"/>
                </a:tc>
                <a:tc>
                  <a:txBody>
                    <a:bodyPr/>
                    <a:lstStyle/>
                    <a:p>
                      <a:pPr algn="ctr" rtl="0" fontAlgn="ctr"/>
                      <a:r>
                        <a:rPr lang="en-US" sz="900"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Monthly Payment</a:t>
                      </a:r>
                      <a:endParaRPr lang="en-US" sz="9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8818105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3,712,497.00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7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All Items/Funded Items</a:t>
                      </a: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73,012.44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81933102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72,826.82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2901746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72,641.19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76105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72,455.57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86332840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72,269.94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86948168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72,084.32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14497310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71,898.69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49922344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8</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71,713.07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56894332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71,527.44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69901504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71,341.82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94624347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71,156.19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582333304"/>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70,970.57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86143567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13</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70,784.94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0998455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70,599.32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9947404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70,413.69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0196799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16</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70,228.07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11488648"/>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70,042.44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134720863"/>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18</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69,856.82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6284999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69,671.19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2125083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20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69,485.57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22254911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92690956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67,443.70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75304783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84909902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62,060.57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818144234"/>
                  </a:ext>
                </a:extLst>
              </a:tr>
            </a:tbl>
          </a:graphicData>
        </a:graphic>
      </p:graphicFrame>
      <p:graphicFrame>
        <p:nvGraphicFramePr>
          <p:cNvPr id="3" name="表格 2">
            <a:extLst>
              <a:ext uri="{FF2B5EF4-FFF2-40B4-BE49-F238E27FC236}">
                <a16:creationId xmlns:a16="http://schemas.microsoft.com/office/drawing/2014/main" id="{E687F7E1-0E0B-BF8B-4AF3-D6905710E874}"/>
              </a:ext>
            </a:extLst>
          </p:cNvPr>
          <p:cNvGraphicFramePr>
            <a:graphicFrameLocks noGrp="1"/>
          </p:cNvGraphicFramePr>
          <p:nvPr>
            <p:extLst>
              <p:ext uri="{D42A27DB-BD31-4B8C-83A1-F6EECF244321}">
                <p14:modId xmlns:p14="http://schemas.microsoft.com/office/powerpoint/2010/main" val="3610400749"/>
              </p:ext>
            </p:extLst>
          </p:nvPr>
        </p:nvGraphicFramePr>
        <p:xfrm>
          <a:off x="8732321" y="1549564"/>
          <a:ext cx="3017079" cy="5105529"/>
        </p:xfrm>
        <a:graphic>
          <a:graphicData uri="http://schemas.openxmlformats.org/drawingml/2006/table">
            <a:tbl>
              <a:tblPr firstRow="1">
                <a:tableStyleId>{7DF18680-E054-41AD-8BC1-D1AEF772440D}</a:tableStyleId>
              </a:tblPr>
              <a:tblGrid>
                <a:gridCol w="302801">
                  <a:extLst>
                    <a:ext uri="{9D8B030D-6E8A-4147-A177-3AD203B41FA5}">
                      <a16:colId xmlns:a16="http://schemas.microsoft.com/office/drawing/2014/main" val="1713399966"/>
                    </a:ext>
                  </a:extLst>
                </a:gridCol>
                <a:gridCol w="793134">
                  <a:extLst>
                    <a:ext uri="{9D8B030D-6E8A-4147-A177-3AD203B41FA5}">
                      <a16:colId xmlns:a16="http://schemas.microsoft.com/office/drawing/2014/main" val="2296484523"/>
                    </a:ext>
                  </a:extLst>
                </a:gridCol>
                <a:gridCol w="969301">
                  <a:extLst>
                    <a:ext uri="{9D8B030D-6E8A-4147-A177-3AD203B41FA5}">
                      <a16:colId xmlns:a16="http://schemas.microsoft.com/office/drawing/2014/main" val="872111573"/>
                    </a:ext>
                  </a:extLst>
                </a:gridCol>
                <a:gridCol w="951843">
                  <a:extLst>
                    <a:ext uri="{9D8B030D-6E8A-4147-A177-3AD203B41FA5}">
                      <a16:colId xmlns:a16="http://schemas.microsoft.com/office/drawing/2014/main" val="1738524889"/>
                    </a:ext>
                  </a:extLst>
                </a:gridCol>
              </a:tblGrid>
              <a:tr h="285753">
                <a:tc>
                  <a:txBody>
                    <a:bodyPr/>
                    <a:lstStyle/>
                    <a:p>
                      <a:pPr algn="ctr" rtl="0" fontAlgn="ctr"/>
                      <a:r>
                        <a:rPr lang="en-US" sz="900" u="none" strike="noStrike">
                          <a:effectLst/>
                          <a:latin typeface="Lato" panose="020F0502020204030203" pitchFamily="34" charset="0"/>
                          <a:ea typeface="Lato" panose="020F0502020204030203" pitchFamily="34" charset="0"/>
                          <a:cs typeface="Lato" panose="020F0502020204030203" pitchFamily="34" charset="0"/>
                        </a:rPr>
                        <a:t>Term</a:t>
                      </a:r>
                      <a:endParaRPr lang="en-US" sz="90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ctr" rtl="0" fontAlgn="ctr"/>
                      <a:r>
                        <a:rPr lang="en-US" sz="900"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Downpayment</a:t>
                      </a:r>
                      <a:endParaRPr lang="en-US" sz="9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ctr" rtl="0" fontAlgn="ctr"/>
                      <a:r>
                        <a:rPr lang="en-US" sz="9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Downpayment for</a:t>
                      </a:r>
                    </a:p>
                  </a:txBody>
                  <a:tcPr marL="4557" marR="4557" marT="4557" marB="0" anchor="ctr"/>
                </a:tc>
                <a:tc>
                  <a:txBody>
                    <a:bodyPr/>
                    <a:lstStyle/>
                    <a:p>
                      <a:pPr algn="ctr" rtl="0" fontAlgn="ctr"/>
                      <a:r>
                        <a:rPr lang="en-US" sz="900" u="none" strike="noStrike">
                          <a:solidFill>
                            <a:schemeClr val="bg1"/>
                          </a:solidFill>
                          <a:effectLst/>
                          <a:latin typeface="Lato" panose="020F0502020204030203" pitchFamily="34" charset="0"/>
                          <a:ea typeface="Lato" panose="020F0502020204030203" pitchFamily="34" charset="0"/>
                          <a:cs typeface="Lato" panose="020F0502020204030203" pitchFamily="34" charset="0"/>
                        </a:rPr>
                        <a:t>Monthly Payment</a:t>
                      </a:r>
                      <a:endParaRPr lang="en-US" sz="900" b="1" i="0" u="none" strike="noStrike">
                        <a:solidFill>
                          <a:schemeClr val="bg1"/>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8818105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3,712,497.00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7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All Items/Funded Items</a:t>
                      </a: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81933102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2901746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3</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76105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863328401"/>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86948168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14497310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49922344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8</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56894332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69901504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94624347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11</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582333304"/>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12</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86143567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13</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09984559"/>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14</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9947404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30196799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16</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11488648"/>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4134720863"/>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18</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6284999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19</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61,874.95</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721250835"/>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22254911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57</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185,624.85</a:t>
                      </a:r>
                    </a:p>
                  </a:txBody>
                  <a:tcPr marL="4557" marR="4557" marT="4557" marB="0" anchor="ctr"/>
                </a:tc>
                <a:extLst>
                  <a:ext uri="{0D108BD9-81ED-4DB2-BD59-A6C34878D82A}">
                    <a16:rowId xmlns:a16="http://schemas.microsoft.com/office/drawing/2014/main" val="3926909567"/>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58</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150.00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753047831"/>
                  </a:ext>
                </a:extLst>
              </a:tr>
              <a:tr h="200824">
                <a:tc>
                  <a:txBody>
                    <a:bodyPr/>
                    <a:lstStyle/>
                    <a:p>
                      <a:pPr algn="ctr" rtl="0" fontAlgn="ctr"/>
                      <a:r>
                        <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59</a:t>
                      </a: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0.00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1849099022"/>
                  </a:ext>
                </a:extLst>
              </a:tr>
              <a:tr h="200824">
                <a:tc>
                  <a:txBody>
                    <a:bodyPr/>
                    <a:lstStyle/>
                    <a:p>
                      <a:pPr algn="ctr" rtl="0" fontAlgn="ctr"/>
                      <a:r>
                        <a:rPr lang="en-US" altLang="zh-CN" sz="900" u="none" strike="noStrike">
                          <a:effectLst/>
                          <a:latin typeface="Lato" panose="020F0502020204030203" pitchFamily="34" charset="0"/>
                          <a:ea typeface="Lato" panose="020F0502020204030203" pitchFamily="34" charset="0"/>
                          <a:cs typeface="Lato" panose="020F0502020204030203" pitchFamily="34" charset="0"/>
                        </a:rPr>
                        <a:t>60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endParaRPr lang="en-US" altLang="zh-CN" sz="10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tc>
                  <a:txBody>
                    <a:bodyPr/>
                    <a:lstStyle/>
                    <a:p>
                      <a:pPr algn="r" rtl="0" fontAlgn="ctr"/>
                      <a:r>
                        <a:rPr lang="en-US" altLang="zh-CN" sz="900">
                          <a:latin typeface="Lato" panose="020F0502020204030203" pitchFamily="34" charset="0"/>
                          <a:ea typeface="Lato" panose="020F0502020204030203" pitchFamily="34" charset="0"/>
                          <a:cs typeface="Lato" panose="020F0502020204030203" pitchFamily="34" charset="0"/>
                        </a:rPr>
                        <a:t>0.00</a:t>
                      </a:r>
                      <a:endParaRPr lang="en-US" altLang="zh-CN" sz="9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endParaRPr>
                    </a:p>
                  </a:txBody>
                  <a:tcPr marL="4557" marR="4557" marT="4557" marB="0" anchor="ctr"/>
                </a:tc>
                <a:extLst>
                  <a:ext uri="{0D108BD9-81ED-4DB2-BD59-A6C34878D82A}">
                    <a16:rowId xmlns:a16="http://schemas.microsoft.com/office/drawing/2014/main" val="2818144234"/>
                  </a:ext>
                </a:extLst>
              </a:tr>
            </a:tbl>
          </a:graphicData>
        </a:graphic>
      </p:graphicFrame>
      <p:sp>
        <p:nvSpPr>
          <p:cNvPr id="5" name="文本框 4">
            <a:extLst>
              <a:ext uri="{FF2B5EF4-FFF2-40B4-BE49-F238E27FC236}">
                <a16:creationId xmlns:a16="http://schemas.microsoft.com/office/drawing/2014/main" id="{9B60C1D4-AA49-5FF1-49A6-E34BFDFD2E80}"/>
              </a:ext>
            </a:extLst>
          </p:cNvPr>
          <p:cNvSpPr txBox="1"/>
          <p:nvPr/>
        </p:nvSpPr>
        <p:spPr>
          <a:xfrm>
            <a:off x="2317148" y="1303343"/>
            <a:ext cx="1271502" cy="246221"/>
          </a:xfrm>
          <a:prstGeom prst="rect">
            <a:avLst/>
          </a:prstGeom>
          <a:noFill/>
        </p:spPr>
        <p:txBody>
          <a:bodyPr wrap="none" rtlCol="0">
            <a:spAutoFit/>
          </a:bodyPr>
          <a:lstStyle/>
          <a:p>
            <a:r>
              <a:rPr lang="en-US" altLang="zh-CN" sz="1000">
                <a:latin typeface="Lato" panose="020F0502020204030203" pitchFamily="34" charset="0"/>
                <a:ea typeface="Lato" panose="020F0502020204030203" pitchFamily="34" charset="0"/>
                <a:cs typeface="Lato" panose="020F0502020204030203" pitchFamily="34" charset="0"/>
              </a:rPr>
              <a:t>Same Monthly Fee:</a:t>
            </a:r>
            <a:endParaRPr lang="zh-CN" altLang="en-US" sz="1000">
              <a:latin typeface="Tenorite" panose="00000500000000000000" pitchFamily="2" charset="0"/>
              <a:cs typeface="Arial" pitchFamily="34" charset="0"/>
            </a:endParaRPr>
          </a:p>
        </p:txBody>
      </p:sp>
      <p:sp>
        <p:nvSpPr>
          <p:cNvPr id="9" name="文本框 8">
            <a:extLst>
              <a:ext uri="{FF2B5EF4-FFF2-40B4-BE49-F238E27FC236}">
                <a16:creationId xmlns:a16="http://schemas.microsoft.com/office/drawing/2014/main" id="{E514B416-7432-D32B-56EC-CE02B79EBEAB}"/>
              </a:ext>
            </a:extLst>
          </p:cNvPr>
          <p:cNvSpPr txBox="1"/>
          <p:nvPr/>
        </p:nvSpPr>
        <p:spPr>
          <a:xfrm>
            <a:off x="5492309" y="1303343"/>
            <a:ext cx="1483098" cy="246221"/>
          </a:xfrm>
          <a:prstGeom prst="rect">
            <a:avLst/>
          </a:prstGeom>
          <a:noFill/>
        </p:spPr>
        <p:txBody>
          <a:bodyPr wrap="none" rtlCol="0">
            <a:spAutoFit/>
          </a:bodyPr>
          <a:lstStyle/>
          <a:p>
            <a:r>
              <a:rPr lang="en-US" altLang="zh-CN" sz="1000">
                <a:latin typeface="Lato" panose="020F0502020204030203" pitchFamily="34" charset="0"/>
                <a:ea typeface="Lato" panose="020F0502020204030203" pitchFamily="34" charset="0"/>
                <a:cs typeface="Lato" panose="020F0502020204030203" pitchFamily="34" charset="0"/>
              </a:rPr>
              <a:t>Different Monthly Fee:</a:t>
            </a:r>
            <a:endParaRPr lang="zh-CN" altLang="en-US" sz="1000">
              <a:latin typeface="Tenorite" panose="00000500000000000000" pitchFamily="2" charset="0"/>
              <a:cs typeface="Arial" pitchFamily="34" charset="0"/>
            </a:endParaRPr>
          </a:p>
        </p:txBody>
      </p:sp>
      <p:sp>
        <p:nvSpPr>
          <p:cNvPr id="10" name="文本框 9">
            <a:extLst>
              <a:ext uri="{FF2B5EF4-FFF2-40B4-BE49-F238E27FC236}">
                <a16:creationId xmlns:a16="http://schemas.microsoft.com/office/drawing/2014/main" id="{A301F5F4-A8CE-36B1-590F-409766CBA6AB}"/>
              </a:ext>
            </a:extLst>
          </p:cNvPr>
          <p:cNvSpPr txBox="1"/>
          <p:nvPr/>
        </p:nvSpPr>
        <p:spPr>
          <a:xfrm>
            <a:off x="8667472" y="1303343"/>
            <a:ext cx="1733167" cy="246221"/>
          </a:xfrm>
          <a:prstGeom prst="rect">
            <a:avLst/>
          </a:prstGeom>
          <a:noFill/>
        </p:spPr>
        <p:txBody>
          <a:bodyPr wrap="none" rtlCol="0">
            <a:spAutoFit/>
          </a:bodyPr>
          <a:lstStyle/>
          <a:p>
            <a:r>
              <a:rPr lang="en-US" altLang="zh-CN" sz="1000">
                <a:latin typeface="Lato" panose="020F0502020204030203" pitchFamily="34" charset="0"/>
                <a:ea typeface="Lato" panose="020F0502020204030203" pitchFamily="34" charset="0"/>
                <a:cs typeface="Lato" panose="020F0502020204030203" pitchFamily="34" charset="0"/>
              </a:rPr>
              <a:t>No Billing for Few Months: </a:t>
            </a:r>
            <a:endParaRPr lang="zh-CN" altLang="en-US" sz="1000">
              <a:latin typeface="Tenorite" panose="00000500000000000000" pitchFamily="2" charset="0"/>
              <a:cs typeface="Arial" pitchFamily="34" charset="0"/>
            </a:endParaRPr>
          </a:p>
        </p:txBody>
      </p:sp>
      <p:sp>
        <p:nvSpPr>
          <p:cNvPr id="11" name="矩形: 圆角 10">
            <a:extLst>
              <a:ext uri="{FF2B5EF4-FFF2-40B4-BE49-F238E27FC236}">
                <a16:creationId xmlns:a16="http://schemas.microsoft.com/office/drawing/2014/main" id="{28A13C27-230F-7596-C7A8-F51C9F82A95A}"/>
              </a:ext>
            </a:extLst>
          </p:cNvPr>
          <p:cNvSpPr/>
          <p:nvPr/>
        </p:nvSpPr>
        <p:spPr>
          <a:xfrm>
            <a:off x="8732320" y="6039179"/>
            <a:ext cx="3017002" cy="609092"/>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2" name="矩形: 圆角 11">
            <a:extLst>
              <a:ext uri="{FF2B5EF4-FFF2-40B4-BE49-F238E27FC236}">
                <a16:creationId xmlns:a16="http://schemas.microsoft.com/office/drawing/2014/main" id="{58C77C03-8E2B-7880-8D06-14362E4BFE17}"/>
              </a:ext>
            </a:extLst>
          </p:cNvPr>
          <p:cNvSpPr/>
          <p:nvPr/>
        </p:nvSpPr>
        <p:spPr>
          <a:xfrm>
            <a:off x="7615044" y="1808403"/>
            <a:ext cx="959117" cy="4839869"/>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3" name="矩形: 圆角 12">
            <a:extLst>
              <a:ext uri="{FF2B5EF4-FFF2-40B4-BE49-F238E27FC236}">
                <a16:creationId xmlns:a16="http://schemas.microsoft.com/office/drawing/2014/main" id="{7D879D4D-1A9D-1A60-D723-869E393C72DB}"/>
              </a:ext>
            </a:extLst>
          </p:cNvPr>
          <p:cNvSpPr/>
          <p:nvPr/>
        </p:nvSpPr>
        <p:spPr>
          <a:xfrm>
            <a:off x="4478850" y="1808403"/>
            <a:ext cx="959117" cy="4839869"/>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8" name="文本框 7">
            <a:extLst>
              <a:ext uri="{FF2B5EF4-FFF2-40B4-BE49-F238E27FC236}">
                <a16:creationId xmlns:a16="http://schemas.microsoft.com/office/drawing/2014/main" id="{616F0062-2402-2DE1-CF61-0272F50C77AA}"/>
              </a:ext>
            </a:extLst>
          </p:cNvPr>
          <p:cNvSpPr txBox="1"/>
          <p:nvPr/>
        </p:nvSpPr>
        <p:spPr>
          <a:xfrm>
            <a:off x="424072" y="1303342"/>
            <a:ext cx="1107997" cy="246221"/>
          </a:xfrm>
          <a:prstGeom prst="rect">
            <a:avLst/>
          </a:prstGeom>
          <a:noFill/>
        </p:spPr>
        <p:txBody>
          <a:bodyPr wrap="none" rtlCol="0">
            <a:spAutoFit/>
          </a:bodyPr>
          <a:lstStyle/>
          <a:p>
            <a:pPr algn="ctr"/>
            <a:r>
              <a:rPr lang="en-US" altLang="zh-CN" sz="1000">
                <a:latin typeface="Lato" panose="020F0502020204030203" pitchFamily="34" charset="0"/>
                <a:ea typeface="Lato" panose="020F0502020204030203" pitchFamily="34" charset="0"/>
                <a:cs typeface="Lato" panose="020F0502020204030203" pitchFamily="34" charset="0"/>
              </a:rPr>
              <a:t>Standard Pricing</a:t>
            </a:r>
            <a:endParaRPr lang="zh-CN" altLang="en-US" sz="1000">
              <a:latin typeface="Tenorite" panose="00000500000000000000" pitchFamily="2" charset="0"/>
              <a:cs typeface="Arial" pitchFamily="34" charset="0"/>
            </a:endParaRPr>
          </a:p>
        </p:txBody>
      </p:sp>
      <p:sp>
        <p:nvSpPr>
          <p:cNvPr id="14" name="文本框 13">
            <a:extLst>
              <a:ext uri="{FF2B5EF4-FFF2-40B4-BE49-F238E27FC236}">
                <a16:creationId xmlns:a16="http://schemas.microsoft.com/office/drawing/2014/main" id="{B9842CB3-A7CB-9C68-465C-47BA5B506EFB}"/>
              </a:ext>
            </a:extLst>
          </p:cNvPr>
          <p:cNvSpPr txBox="1"/>
          <p:nvPr/>
        </p:nvSpPr>
        <p:spPr>
          <a:xfrm>
            <a:off x="413490" y="741893"/>
            <a:ext cx="11140019" cy="461665"/>
          </a:xfrm>
          <a:prstGeom prst="rect">
            <a:avLst/>
          </a:prstGeom>
          <a:noFill/>
        </p:spPr>
        <p:txBody>
          <a:bodyPr wrap="square" rtlCol="0">
            <a:spAutoFit/>
          </a:bodyPr>
          <a:lstStyle/>
          <a:p>
            <a:pPr marL="228600" indent="-228600">
              <a:buFont typeface="Wingdings" panose="05000000000000000000" pitchFamily="2" charset="2"/>
              <a:buChar char="Ø"/>
            </a:pPr>
            <a:r>
              <a:rPr lang="en-US" altLang="zh-CN" sz="1200">
                <a:latin typeface="Lato" panose="020F0502020204030203" pitchFamily="34" charset="0"/>
                <a:ea typeface="Lato" panose="020F0502020204030203" pitchFamily="34" charset="0"/>
                <a:cs typeface="Lato" panose="020F0502020204030203" pitchFamily="34" charset="0"/>
              </a:rPr>
              <a:t>Use the </a:t>
            </a:r>
            <a:r>
              <a:rPr lang="en-US" altLang="zh-CN" sz="1200" b="1" u="sng">
                <a:latin typeface="Lato" panose="020F0502020204030203" pitchFamily="34" charset="0"/>
                <a:ea typeface="Lato" panose="020F0502020204030203" pitchFamily="34" charset="0"/>
                <a:cs typeface="Lato" panose="020F0502020204030203" pitchFamily="34" charset="0"/>
              </a:rPr>
              <a:t>unified structure payment uploading template</a:t>
            </a:r>
            <a:r>
              <a:rPr lang="en-US" altLang="zh-CN" sz="1200">
                <a:latin typeface="Lato" panose="020F0502020204030203" pitchFamily="34" charset="0"/>
                <a:ea typeface="Lato" panose="020F0502020204030203" pitchFamily="34" charset="0"/>
                <a:cs typeface="Lato" panose="020F0502020204030203" pitchFamily="34" charset="0"/>
              </a:rPr>
              <a:t> to support all different scenarios. </a:t>
            </a:r>
          </a:p>
          <a:p>
            <a:pPr marL="228600" indent="-228600">
              <a:buFont typeface="Wingdings" panose="05000000000000000000" pitchFamily="2" charset="2"/>
              <a:buChar char="Ø"/>
            </a:pPr>
            <a:r>
              <a:rPr lang="en-US" altLang="zh-CN" sz="1200">
                <a:latin typeface="Lato" panose="020F0502020204030203" pitchFamily="34" charset="0"/>
                <a:ea typeface="Lato" panose="020F0502020204030203" pitchFamily="34" charset="0"/>
                <a:cs typeface="Lato" panose="020F0502020204030203" pitchFamily="34" charset="0"/>
              </a:rPr>
              <a:t>LOT team only need to adjust </a:t>
            </a:r>
            <a:r>
              <a:rPr lang="en-US" altLang="zh-CN" sz="1200" b="1" u="sng">
                <a:latin typeface="Lato" panose="020F0502020204030203" pitchFamily="34" charset="0"/>
                <a:ea typeface="Lato" panose="020F0502020204030203" pitchFamily="34" charset="0"/>
                <a:cs typeface="Lato" panose="020F0502020204030203" pitchFamily="34" charset="0"/>
              </a:rPr>
              <a:t>different payment schedule value</a:t>
            </a:r>
            <a:r>
              <a:rPr lang="en-US" altLang="zh-CN" sz="1200">
                <a:latin typeface="Lato" panose="020F0502020204030203" pitchFamily="34" charset="0"/>
                <a:ea typeface="Lato" panose="020F0502020204030203" pitchFamily="34" charset="0"/>
                <a:cs typeface="Lato" panose="020F0502020204030203" pitchFamily="34" charset="0"/>
              </a:rPr>
              <a:t> in corresponding term for different structure payment scenarios.  </a:t>
            </a:r>
            <a:endParaRPr lang="zh-CN" altLang="en-US" sz="1200">
              <a:latin typeface="Tenorite" panose="00000500000000000000" pitchFamily="2" charset="0"/>
              <a:cs typeface="Arial" pitchFamily="34" charset="0"/>
            </a:endParaRPr>
          </a:p>
        </p:txBody>
      </p:sp>
    </p:spTree>
    <p:extLst>
      <p:ext uri="{BB962C8B-B14F-4D97-AF65-F5344CB8AC3E}">
        <p14:creationId xmlns:p14="http://schemas.microsoft.com/office/powerpoint/2010/main" val="236332691"/>
      </p:ext>
    </p:extLst>
  </p:cSld>
  <p:clrMapOvr>
    <a:masterClrMapping/>
  </p:clrMapOvr>
  <p:transition>
    <p:fade/>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D8950E-59CF-EEBC-60F5-A5446DCE7610}"/>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BB8414B4-B98D-2017-7C14-EE1DA24E6F05}"/>
              </a:ext>
            </a:extLst>
          </p:cNvPr>
          <p:cNvSpPr txBox="1">
            <a:spLocks/>
          </p:cNvSpPr>
          <p:nvPr/>
        </p:nvSpPr>
        <p:spPr>
          <a:xfrm>
            <a:off x="319490" y="489170"/>
            <a:ext cx="11056112"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–Average Payment calculation</a:t>
            </a:r>
          </a:p>
        </p:txBody>
      </p:sp>
      <p:sp>
        <p:nvSpPr>
          <p:cNvPr id="3" name="Slide Number Placeholder 4">
            <a:extLst>
              <a:ext uri="{FF2B5EF4-FFF2-40B4-BE49-F238E27FC236}">
                <a16:creationId xmlns:a16="http://schemas.microsoft.com/office/drawing/2014/main" id="{5D011903-81C5-FC84-1215-198F86129F85}"/>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148</a:t>
            </a:fld>
            <a:endParaRPr lang="en-US">
              <a:solidFill>
                <a:srgbClr val="000000"/>
              </a:solidFill>
            </a:endParaRPr>
          </a:p>
        </p:txBody>
      </p:sp>
      <p:sp>
        <p:nvSpPr>
          <p:cNvPr id="6" name="文本框 5">
            <a:extLst>
              <a:ext uri="{FF2B5EF4-FFF2-40B4-BE49-F238E27FC236}">
                <a16:creationId xmlns:a16="http://schemas.microsoft.com/office/drawing/2014/main" id="{EB966A33-3BA2-993A-E0D4-C4F876B28ACB}"/>
              </a:ext>
            </a:extLst>
          </p:cNvPr>
          <p:cNvSpPr txBox="1"/>
          <p:nvPr/>
        </p:nvSpPr>
        <p:spPr>
          <a:xfrm>
            <a:off x="407132" y="910261"/>
            <a:ext cx="8094138" cy="1015663"/>
          </a:xfrm>
          <a:prstGeom prst="rect">
            <a:avLst/>
          </a:prstGeom>
          <a:noFill/>
        </p:spPr>
        <p:txBody>
          <a:bodyPr wrap="square" rtlCol="0">
            <a:spAutoFit/>
          </a:bodyPr>
          <a:lstStyle/>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When: </a:t>
            </a:r>
            <a:r>
              <a:rPr lang="en-US" altLang="zh-CN" sz="1200">
                <a:latin typeface="Lato" panose="020F0502020204030203" pitchFamily="34" charset="0"/>
                <a:ea typeface="Lato" panose="020F0502020204030203" pitchFamily="34" charset="0"/>
                <a:cs typeface="Lato" panose="020F0502020204030203" pitchFamily="34" charset="0"/>
              </a:rPr>
              <a:t>Before lease commencement </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Data source: </a:t>
            </a:r>
            <a:r>
              <a:rPr lang="en-US" altLang="zh-CN" sz="1200">
                <a:latin typeface="Lato" panose="020F0502020204030203" pitchFamily="34" charset="0"/>
                <a:ea typeface="Lato" panose="020F0502020204030203" pitchFamily="34" charset="0"/>
                <a:cs typeface="Lato" panose="020F0502020204030203" pitchFamily="34" charset="0"/>
              </a:rPr>
              <a:t>Standard Payment and Structure Payment revenue split result </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Granular: </a:t>
            </a:r>
            <a:r>
              <a:rPr lang="en-US" altLang="zh-CN" sz="1200">
                <a:latin typeface="Lato" panose="020F0502020204030203" pitchFamily="34" charset="0"/>
                <a:ea typeface="Lato" panose="020F0502020204030203" pitchFamily="34" charset="0"/>
                <a:cs typeface="Lato" panose="020F0502020204030203" pitchFamily="34" charset="0"/>
              </a:rPr>
              <a:t>By tranche, by device type, by line-item PN</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Consistency check: (</a:t>
            </a:r>
            <a:r>
              <a:rPr lang="en-US" altLang="zh-CN" sz="1200" u="sng">
                <a:latin typeface="Lato" panose="020F0502020204030203" pitchFamily="34" charset="0"/>
                <a:ea typeface="Lato" panose="020F0502020204030203" pitchFamily="34" charset="0"/>
                <a:cs typeface="Lato" panose="020F0502020204030203" pitchFamily="34" charset="0"/>
              </a:rPr>
              <a:t>Down Payment + Sum of Monthly Payment)=Standard Payment * Terms</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Average Payment: </a:t>
            </a:r>
            <a:r>
              <a:rPr lang="en-US" altLang="zh-CN" sz="1200" u="sng">
                <a:latin typeface="Lato" panose="020F0502020204030203" pitchFamily="34" charset="0"/>
                <a:ea typeface="Lato" panose="020F0502020204030203" pitchFamily="34" charset="0"/>
                <a:cs typeface="Lato" panose="020F0502020204030203" pitchFamily="34" charset="0"/>
              </a:rPr>
              <a:t>(Down Payment + Sum of Monthly Payment)/ Terms</a:t>
            </a:r>
          </a:p>
        </p:txBody>
      </p:sp>
      <p:graphicFrame>
        <p:nvGraphicFramePr>
          <p:cNvPr id="9" name="表格 8">
            <a:extLst>
              <a:ext uri="{FF2B5EF4-FFF2-40B4-BE49-F238E27FC236}">
                <a16:creationId xmlns:a16="http://schemas.microsoft.com/office/drawing/2014/main" id="{4F3337B8-1F94-AAF3-908B-B296672D863D}"/>
              </a:ext>
            </a:extLst>
          </p:cNvPr>
          <p:cNvGraphicFramePr>
            <a:graphicFrameLocks noGrp="1"/>
          </p:cNvGraphicFramePr>
          <p:nvPr>
            <p:extLst>
              <p:ext uri="{D42A27DB-BD31-4B8C-83A1-F6EECF244321}">
                <p14:modId xmlns:p14="http://schemas.microsoft.com/office/powerpoint/2010/main" val="533096845"/>
              </p:ext>
            </p:extLst>
          </p:nvPr>
        </p:nvGraphicFramePr>
        <p:xfrm>
          <a:off x="636104" y="2122572"/>
          <a:ext cx="10064019" cy="4095600"/>
        </p:xfrm>
        <a:graphic>
          <a:graphicData uri="http://schemas.openxmlformats.org/drawingml/2006/table">
            <a:tbl>
              <a:tblPr/>
              <a:tblGrid>
                <a:gridCol w="1176734">
                  <a:extLst>
                    <a:ext uri="{9D8B030D-6E8A-4147-A177-3AD203B41FA5}">
                      <a16:colId xmlns:a16="http://schemas.microsoft.com/office/drawing/2014/main" val="2744772571"/>
                    </a:ext>
                  </a:extLst>
                </a:gridCol>
                <a:gridCol w="1432993">
                  <a:extLst>
                    <a:ext uri="{9D8B030D-6E8A-4147-A177-3AD203B41FA5}">
                      <a16:colId xmlns:a16="http://schemas.microsoft.com/office/drawing/2014/main" val="2160148747"/>
                    </a:ext>
                  </a:extLst>
                </a:gridCol>
                <a:gridCol w="495554">
                  <a:extLst>
                    <a:ext uri="{9D8B030D-6E8A-4147-A177-3AD203B41FA5}">
                      <a16:colId xmlns:a16="http://schemas.microsoft.com/office/drawing/2014/main" val="1931412143"/>
                    </a:ext>
                  </a:extLst>
                </a:gridCol>
                <a:gridCol w="526527">
                  <a:extLst>
                    <a:ext uri="{9D8B030D-6E8A-4147-A177-3AD203B41FA5}">
                      <a16:colId xmlns:a16="http://schemas.microsoft.com/office/drawing/2014/main" val="4028424021"/>
                    </a:ext>
                  </a:extLst>
                </a:gridCol>
                <a:gridCol w="557498">
                  <a:extLst>
                    <a:ext uri="{9D8B030D-6E8A-4147-A177-3AD203B41FA5}">
                      <a16:colId xmlns:a16="http://schemas.microsoft.com/office/drawing/2014/main" val="2868629149"/>
                    </a:ext>
                  </a:extLst>
                </a:gridCol>
                <a:gridCol w="557498">
                  <a:extLst>
                    <a:ext uri="{9D8B030D-6E8A-4147-A177-3AD203B41FA5}">
                      <a16:colId xmlns:a16="http://schemas.microsoft.com/office/drawing/2014/main" val="425873419"/>
                    </a:ext>
                  </a:extLst>
                </a:gridCol>
                <a:gridCol w="434791">
                  <a:extLst>
                    <a:ext uri="{9D8B030D-6E8A-4147-A177-3AD203B41FA5}">
                      <a16:colId xmlns:a16="http://schemas.microsoft.com/office/drawing/2014/main" val="3213070842"/>
                    </a:ext>
                  </a:extLst>
                </a:gridCol>
                <a:gridCol w="662609">
                  <a:extLst>
                    <a:ext uri="{9D8B030D-6E8A-4147-A177-3AD203B41FA5}">
                      <a16:colId xmlns:a16="http://schemas.microsoft.com/office/drawing/2014/main" val="6808317"/>
                    </a:ext>
                  </a:extLst>
                </a:gridCol>
                <a:gridCol w="675861">
                  <a:extLst>
                    <a:ext uri="{9D8B030D-6E8A-4147-A177-3AD203B41FA5}">
                      <a16:colId xmlns:a16="http://schemas.microsoft.com/office/drawing/2014/main" val="4221791321"/>
                    </a:ext>
                  </a:extLst>
                </a:gridCol>
                <a:gridCol w="735496">
                  <a:extLst>
                    <a:ext uri="{9D8B030D-6E8A-4147-A177-3AD203B41FA5}">
                      <a16:colId xmlns:a16="http://schemas.microsoft.com/office/drawing/2014/main" val="2008111461"/>
                    </a:ext>
                  </a:extLst>
                </a:gridCol>
                <a:gridCol w="1636643">
                  <a:extLst>
                    <a:ext uri="{9D8B030D-6E8A-4147-A177-3AD203B41FA5}">
                      <a16:colId xmlns:a16="http://schemas.microsoft.com/office/drawing/2014/main" val="1511647095"/>
                    </a:ext>
                  </a:extLst>
                </a:gridCol>
                <a:gridCol w="1171815">
                  <a:extLst>
                    <a:ext uri="{9D8B030D-6E8A-4147-A177-3AD203B41FA5}">
                      <a16:colId xmlns:a16="http://schemas.microsoft.com/office/drawing/2014/main" val="3828688262"/>
                    </a:ext>
                  </a:extLst>
                </a:gridCol>
              </a:tblGrid>
              <a:tr h="203466">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Device Type</a:t>
                      </a:r>
                    </a:p>
                  </a:txBody>
                  <a:tcPr marL="0" marR="0" marT="0"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Line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Funding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Standard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1</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34</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35</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36</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txBody>
                  <a:tcPr marL="0" marR="0" marT="0" marB="0" anchor="ctr">
                    <a:lnL w="12700" cap="flat" cmpd="sng" algn="ctr">
                      <a:solidFill>
                        <a:schemeClr val="bg1"/>
                      </a:solidFill>
                      <a:prstDash val="solid"/>
                      <a:round/>
                      <a:headEnd type="none" w="med" len="med"/>
                      <a:tailEnd type="none" w="med" len="med"/>
                    </a:lnL>
                    <a:lnR>
                      <a:noFill/>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consistency check</a:t>
                      </a:r>
                    </a:p>
                  </a:txBody>
                  <a:tcPr marL="0" marR="0" marT="0" marB="0" anchor="ctr">
                    <a:lnL>
                      <a:noFill/>
                    </a:lnL>
                    <a:lnR>
                      <a:noFill/>
                    </a:lnR>
                    <a:lnT>
                      <a:noFill/>
                    </a:lnT>
                    <a:lnB>
                      <a:noFill/>
                    </a:lnB>
                    <a:solidFill>
                      <a:srgbClr val="ED7D3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Average Payment</a:t>
                      </a:r>
                    </a:p>
                  </a:txBody>
                  <a:tcPr marL="0" marR="0" marT="0" marB="0" anchor="ctr">
                    <a:lnL>
                      <a:noFill/>
                    </a:lnL>
                    <a:lnR>
                      <a:noFill/>
                    </a:lnR>
                    <a:lnT>
                      <a:noFill/>
                    </a:lnT>
                    <a:lnB>
                      <a:noFill/>
                    </a:lnB>
                    <a:solidFill>
                      <a:srgbClr val="ED7D31"/>
                    </a:solidFill>
                  </a:tcPr>
                </a:tc>
                <a:extLst>
                  <a:ext uri="{0D108BD9-81ED-4DB2-BD59-A6C34878D82A}">
                    <a16:rowId xmlns:a16="http://schemas.microsoft.com/office/drawing/2014/main" val="1106804197"/>
                  </a:ext>
                </a:extLst>
              </a:tr>
              <a:tr h="286956">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NB TP T14 G3 I5 16G 256G 11P</a:t>
                      </a: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Downpayment for All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1600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Sum(1800+50+1600+150)-100*36=0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748349008"/>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720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67.5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rPr>
                        <a:t>=standard payment</a:t>
                      </a: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369278422"/>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Premier Support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240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rPr>
                        <a:t>=standard payment</a:t>
                      </a: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5064486"/>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Configuration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rPr>
                        <a:t>=standard payment</a:t>
                      </a: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103570580"/>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Deployment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rPr>
                        <a:t>=standard payment</a:t>
                      </a: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69618695"/>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Managed Service (Future)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240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rPr>
                        <a:t>=standard payment</a:t>
                      </a: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0392124"/>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Asset Recovery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rPr>
                        <a:t>=standard payment</a:t>
                      </a: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337623552"/>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Accessory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160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rPr>
                        <a:t>=standard payment</a:t>
                      </a: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387258584"/>
                  </a:ext>
                </a:extLst>
              </a:tr>
              <a:tr h="203466">
                <a:tc>
                  <a:txBody>
                    <a:bodyPr/>
                    <a:lstStyle/>
                    <a:p>
                      <a:pPr marL="0" algn="ctr" defTabSz="1218621" rtl="0" eaLnBrk="1" fontAlgn="ctr" latinLnBrk="0" hangingPunct="1">
                        <a:buNone/>
                      </a:pPr>
                      <a:endPar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l" defTabSz="1218621" rtl="0" eaLnBrk="1" fontAlgn="ctr" latinLnBrk="0" hangingPunct="1">
                        <a:buNone/>
                      </a:pPr>
                      <a:endPar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408739694"/>
                  </a:ext>
                </a:extLst>
              </a:tr>
              <a:tr h="203466">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NB TP X1 G3 I7 32G 512G</a:t>
                      </a: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Downpayment for Funded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160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2700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2560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Sum(2700+75+2560+80*3)-160*36=-185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820240195"/>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72.00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1518.75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25.31</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900.00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28.13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28.13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28.13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Sum(1518.75+25.31+900+28.13*3)/36=70.23</a:t>
                      </a: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466633791"/>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Premier Support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506.25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8.44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300.00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9.38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9.38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9.38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23.41</a:t>
                      </a: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770477270"/>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Configuration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168.75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2.81</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3.13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3.13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3.13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7.80</a:t>
                      </a: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816272252"/>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Deployment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168.75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2.81</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3.13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3.13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3.13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7.80</a:t>
                      </a: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894632839"/>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Managed Service (Future)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720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22.50</a:t>
                      </a: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267110302"/>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Asset Recovery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240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7.50</a:t>
                      </a: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26317383"/>
                  </a:ext>
                </a:extLst>
              </a:tr>
              <a:tr h="203466">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Accessory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16</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337.5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5.63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200.00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6.25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6.25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6.25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chemeClr val="accent2">
                        <a:lumMod val="20000"/>
                        <a:lumOff val="80000"/>
                      </a:schemeClr>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15.61</a:t>
                      </a:r>
                    </a:p>
                  </a:txBody>
                  <a:tcPr marL="0" marR="0" marT="0"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solidFill>
                      <a:schemeClr val="accent2">
                        <a:lumMod val="20000"/>
                        <a:lumOff val="80000"/>
                      </a:schemeClr>
                    </a:solidFill>
                  </a:tcPr>
                </a:tc>
                <a:extLst>
                  <a:ext uri="{0D108BD9-81ED-4DB2-BD59-A6C34878D82A}">
                    <a16:rowId xmlns:a16="http://schemas.microsoft.com/office/drawing/2014/main" val="545837833"/>
                  </a:ext>
                </a:extLst>
              </a:tr>
            </a:tbl>
          </a:graphicData>
        </a:graphic>
      </p:graphicFrame>
      <p:sp>
        <p:nvSpPr>
          <p:cNvPr id="13" name="矩形: 圆角 12">
            <a:extLst>
              <a:ext uri="{FF2B5EF4-FFF2-40B4-BE49-F238E27FC236}">
                <a16:creationId xmlns:a16="http://schemas.microsoft.com/office/drawing/2014/main" id="{2E929C89-D8E9-6EC7-8198-C181EDE49242}"/>
              </a:ext>
            </a:extLst>
          </p:cNvPr>
          <p:cNvSpPr/>
          <p:nvPr/>
        </p:nvSpPr>
        <p:spPr>
          <a:xfrm flipH="1">
            <a:off x="7881354" y="4281316"/>
            <a:ext cx="2818769" cy="1924220"/>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5" name="矩形: 圆角 14">
            <a:extLst>
              <a:ext uri="{FF2B5EF4-FFF2-40B4-BE49-F238E27FC236}">
                <a16:creationId xmlns:a16="http://schemas.microsoft.com/office/drawing/2014/main" id="{E3704268-6C89-3E51-D971-DE09DFDBAE70}"/>
              </a:ext>
            </a:extLst>
          </p:cNvPr>
          <p:cNvSpPr/>
          <p:nvPr/>
        </p:nvSpPr>
        <p:spPr>
          <a:xfrm flipH="1">
            <a:off x="7881358" y="2356590"/>
            <a:ext cx="2818770" cy="1728078"/>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Tree>
    <p:extLst>
      <p:ext uri="{BB962C8B-B14F-4D97-AF65-F5344CB8AC3E}">
        <p14:creationId xmlns:p14="http://schemas.microsoft.com/office/powerpoint/2010/main" val="334202925"/>
      </p:ext>
    </p:extLst>
  </p:cSld>
  <p:clrMapOvr>
    <a:masterClrMapping/>
  </p:clrMapOvr>
  <p:transition>
    <p:fade/>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F20647-3FEF-7BEB-6348-4D8F3A178CCB}"/>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2A45247C-56B9-DD0E-3F4E-F40EED0C740C}"/>
              </a:ext>
            </a:extLst>
          </p:cNvPr>
          <p:cNvSpPr txBox="1">
            <a:spLocks/>
          </p:cNvSpPr>
          <p:nvPr/>
        </p:nvSpPr>
        <p:spPr>
          <a:xfrm>
            <a:off x="372499" y="182434"/>
            <a:ext cx="11607658"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 Revenue Split – Accounting treatments</a:t>
            </a:r>
          </a:p>
        </p:txBody>
      </p:sp>
      <p:sp>
        <p:nvSpPr>
          <p:cNvPr id="3" name="Slide Number Placeholder 4">
            <a:extLst>
              <a:ext uri="{FF2B5EF4-FFF2-40B4-BE49-F238E27FC236}">
                <a16:creationId xmlns:a16="http://schemas.microsoft.com/office/drawing/2014/main" id="{7202F638-19AB-6F0A-8AEE-B2F1195777E0}"/>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149</a:t>
            </a:fld>
            <a:endParaRPr lang="en-US">
              <a:solidFill>
                <a:srgbClr val="000000"/>
              </a:solidFill>
            </a:endParaRPr>
          </a:p>
        </p:txBody>
      </p:sp>
      <p:sp>
        <p:nvSpPr>
          <p:cNvPr id="28" name="文本框 27">
            <a:extLst>
              <a:ext uri="{FF2B5EF4-FFF2-40B4-BE49-F238E27FC236}">
                <a16:creationId xmlns:a16="http://schemas.microsoft.com/office/drawing/2014/main" id="{A4DE8685-0B89-C671-DD0E-9F379AC25F3D}"/>
              </a:ext>
            </a:extLst>
          </p:cNvPr>
          <p:cNvSpPr txBox="1"/>
          <p:nvPr/>
        </p:nvSpPr>
        <p:spPr>
          <a:xfrm>
            <a:off x="6828106" y="953732"/>
            <a:ext cx="5363894" cy="5447069"/>
          </a:xfrm>
          <a:prstGeom prst="rect">
            <a:avLst/>
          </a:prstGeom>
          <a:noFill/>
        </p:spPr>
        <p:txBody>
          <a:bodyPr wrap="square" rtlCol="0">
            <a:spAutoFit/>
          </a:bodyPr>
          <a:lstStyle/>
          <a:p>
            <a:pPr marL="228600" indent="-228600">
              <a:lnSpc>
                <a:spcPts val="2000"/>
              </a:lnSpc>
              <a:spcAft>
                <a:spcPts val="600"/>
              </a:spcAft>
              <a:buFont typeface="+mj-lt"/>
              <a:buAutoNum type="arabicPeriod"/>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For OL HW Rev and on-going service Rev:</a:t>
            </a:r>
          </a:p>
          <a:p>
            <a:pPr marL="742950" lvl="1" indent="-285750">
              <a:lnSpc>
                <a:spcPts val="2000"/>
              </a:lnSpc>
              <a:spcAft>
                <a:spcPts val="600"/>
              </a:spcAft>
              <a:buFont typeface="Wingdings" panose="05000000000000000000" pitchFamily="2" charset="2"/>
              <a:buChar char="Ø"/>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Revenue recognition will be based on average payment amount</a:t>
            </a:r>
          </a:p>
          <a:p>
            <a:pPr marL="742950" lvl="1" indent="-285750">
              <a:lnSpc>
                <a:spcPts val="2000"/>
              </a:lnSpc>
              <a:spcAft>
                <a:spcPts val="600"/>
              </a:spcAft>
              <a:buFont typeface="Wingdings" panose="05000000000000000000" pitchFamily="2" charset="2"/>
              <a:buChar char="Ø"/>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If monthly payment </a:t>
            </a:r>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exceeds</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 the average payment, the excess amount will be booked as defer rev(2070000).</a:t>
            </a:r>
          </a:p>
          <a:p>
            <a:pPr marL="742950" lvl="1" indent="-285750">
              <a:lnSpc>
                <a:spcPts val="2000"/>
              </a:lnSpc>
              <a:spcAft>
                <a:spcPts val="600"/>
              </a:spcAft>
              <a:buFont typeface="Wingdings" panose="05000000000000000000" pitchFamily="2" charset="2"/>
              <a:buChar char="Ø"/>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Otherwise, the monthly payment will be booked directly as revenue. The </a:t>
            </a:r>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shortfall</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 amount will be automatically transferred from deferred revenue to immediate revenue by the end of the month.</a:t>
            </a:r>
          </a:p>
          <a:p>
            <a:pPr marL="742950" lvl="1" indent="-285750">
              <a:lnSpc>
                <a:spcPts val="2000"/>
              </a:lnSpc>
              <a:spcAft>
                <a:spcPts val="600"/>
              </a:spcAft>
              <a:buFont typeface="Wingdings" panose="05000000000000000000" pitchFamily="2" charset="2"/>
              <a:buChar char="Ø"/>
              <a:defRPr/>
            </a:pPr>
            <a:r>
              <a:rPr lang="en-US" altLang="zh-CN" sz="1200">
                <a:latin typeface="Lato" panose="020F0502020204030203" pitchFamily="34" charset="0"/>
                <a:ea typeface="Lato" panose="020F0502020204030203" pitchFamily="34" charset="0"/>
                <a:cs typeface="Lato" panose="020F0502020204030203" pitchFamily="34" charset="0"/>
              </a:rPr>
              <a:t>LTAR offset follows the payment schedule if applicable(AFE model, AFE entity</a:t>
            </a:r>
            <a:r>
              <a:rPr lang="zh-CN" altLang="en-US" sz="1200">
                <a:latin typeface="Lato" panose="020F0502020204030203" pitchFamily="34" charset="0"/>
                <a:ea typeface="Lato" panose="020F0502020204030203" pitchFamily="34" charset="0"/>
                <a:cs typeface="Lato" panose="020F0502020204030203" pitchFamily="34" charset="0"/>
              </a:rPr>
              <a:t>，</a:t>
            </a:r>
            <a:r>
              <a:rPr lang="en-US" altLang="zh-CN" sz="1200">
                <a:latin typeface="Lato" panose="020F0502020204030203" pitchFamily="34" charset="0"/>
                <a:ea typeface="Lato" panose="020F0502020204030203" pitchFamily="34" charset="0"/>
                <a:cs typeface="Lato" panose="020F0502020204030203" pitchFamily="34" charset="0"/>
              </a:rPr>
              <a:t>funded premier support)</a:t>
            </a:r>
          </a:p>
          <a:p>
            <a:pPr marL="228600" indent="-228600">
              <a:lnSpc>
                <a:spcPts val="2000"/>
              </a:lnSpc>
              <a:spcAft>
                <a:spcPts val="600"/>
              </a:spcAft>
              <a:buFont typeface="+mj-lt"/>
              <a:buAutoNum type="arabicPeriod"/>
              <a:defRPr/>
            </a:pPr>
            <a:r>
              <a:rPr lang="en-US" altLang="zh-CN" sz="1200">
                <a:solidFill>
                  <a:schemeClr val="tx2"/>
                </a:solidFill>
                <a:latin typeface="Lato" panose="020F0502020204030203" pitchFamily="34" charset="0"/>
                <a:ea typeface="Lato" panose="020F0502020204030203" pitchFamily="34" charset="0"/>
                <a:cs typeface="Lato" panose="020F0502020204030203" pitchFamily="34" charset="0"/>
              </a:rPr>
              <a:t>For FL HW Rev</a:t>
            </a:r>
          </a:p>
          <a:p>
            <a:pPr marL="800100" lvl="1" indent="-342900">
              <a:lnSpc>
                <a:spcPts val="2000"/>
              </a:lnSpc>
              <a:spcAft>
                <a:spcPts val="600"/>
              </a:spcAft>
              <a:buFont typeface="Wingdings" panose="05000000000000000000" pitchFamily="2" charset="2"/>
              <a:buChar char="Ø"/>
              <a:defRPr/>
            </a:pPr>
            <a:r>
              <a:rPr lang="en-US" altLang="zh-CN" sz="1200">
                <a:solidFill>
                  <a:schemeClr val="tx2"/>
                </a:solidFill>
                <a:latin typeface="Lato" panose="020F0502020204030203" pitchFamily="34" charset="0"/>
                <a:ea typeface="Lato" panose="020F0502020204030203" pitchFamily="34" charset="0"/>
                <a:cs typeface="Lato" panose="020F0502020204030203" pitchFamily="34" charset="0"/>
              </a:rPr>
              <a:t>M0 and Monthly accounting entries keep as-is,</a:t>
            </a:r>
            <a:r>
              <a:rPr lang="zh-CN" altLang="en-US" sz="1200">
                <a:solidFill>
                  <a:schemeClr val="tx2"/>
                </a:solidFill>
                <a:latin typeface="Lato" panose="020F0502020204030203" pitchFamily="34" charset="0"/>
                <a:ea typeface="Lato" panose="020F0502020204030203" pitchFamily="34" charset="0"/>
                <a:cs typeface="Lato" panose="020F0502020204030203" pitchFamily="34" charset="0"/>
              </a:rPr>
              <a:t> </a:t>
            </a:r>
            <a:r>
              <a:rPr lang="en-US" altLang="zh-CN" sz="1200">
                <a:solidFill>
                  <a:schemeClr val="tx2"/>
                </a:solidFill>
                <a:latin typeface="Lato" panose="020F0502020204030203" pitchFamily="34" charset="0"/>
                <a:ea typeface="Lato" panose="020F0502020204030203" pitchFamily="34" charset="0"/>
                <a:cs typeface="Lato" panose="020F0502020204030203" pitchFamily="34" charset="0"/>
              </a:rPr>
              <a:t>revenue amounts computed from the matching payment schedule.</a:t>
            </a:r>
          </a:p>
          <a:p>
            <a:pPr marL="800100" lvl="1" indent="-342900">
              <a:lnSpc>
                <a:spcPts val="2000"/>
              </a:lnSpc>
              <a:spcAft>
                <a:spcPts val="600"/>
              </a:spcAft>
              <a:buFont typeface="Wingdings" panose="05000000000000000000" pitchFamily="2" charset="2"/>
              <a:buChar char="Ø"/>
              <a:defRPr/>
            </a:pPr>
            <a:r>
              <a:rPr lang="en-US" altLang="zh-CN" sz="1200">
                <a:solidFill>
                  <a:schemeClr val="tx2"/>
                </a:solidFill>
                <a:latin typeface="Lato" panose="020F0502020204030203" pitchFamily="34" charset="0"/>
                <a:ea typeface="Lato" panose="020F0502020204030203" pitchFamily="34" charset="0"/>
                <a:cs typeface="Lato" panose="020F0502020204030203" pitchFamily="34" charset="0"/>
              </a:rPr>
              <a:t>LTAR offset follows the payment schedule</a:t>
            </a:r>
          </a:p>
          <a:p>
            <a:pPr marL="342900" indent="-342900">
              <a:lnSpc>
                <a:spcPts val="2000"/>
              </a:lnSpc>
              <a:spcAft>
                <a:spcPts val="600"/>
              </a:spcAft>
              <a:buFont typeface="+mj-lt"/>
              <a:buAutoNum type="arabicPeriod"/>
              <a:defRPr/>
            </a:pPr>
            <a:r>
              <a:rPr kumimoji="0" lang="en-US" altLang="zh-CN" sz="1200" b="0" i="0" u="none" strike="noStrike" kern="1200" cap="none" spc="0" normalizeH="0" baseline="0" noProof="0">
                <a:ln>
                  <a:noFill/>
                </a:ln>
                <a:solidFill>
                  <a:schemeClr val="tx2"/>
                </a:solidFill>
                <a:effectLst/>
                <a:uLnTx/>
                <a:uFillTx/>
                <a:latin typeface="Lato" panose="020F0502020204030203" pitchFamily="34" charset="0"/>
                <a:ea typeface="Lato" panose="020F0502020204030203" pitchFamily="34" charset="0"/>
                <a:cs typeface="Lato" panose="020F0502020204030203" pitchFamily="34" charset="0"/>
              </a:rPr>
              <a:t>For ARS service</a:t>
            </a:r>
            <a:r>
              <a:rPr lang="en-US" altLang="zh-CN" sz="1200">
                <a:solidFill>
                  <a:schemeClr val="tx2"/>
                </a:solidFill>
                <a:latin typeface="Lato" panose="020F0502020204030203" pitchFamily="34" charset="0"/>
                <a:ea typeface="Lato" panose="020F0502020204030203" pitchFamily="34" charset="0"/>
                <a:cs typeface="Lato" panose="020F0502020204030203" pitchFamily="34" charset="0"/>
              </a:rPr>
              <a:t> and upfront service</a:t>
            </a:r>
          </a:p>
          <a:p>
            <a:pPr marL="742950" lvl="1" indent="-285750">
              <a:lnSpc>
                <a:spcPts val="2000"/>
              </a:lnSpc>
              <a:spcAft>
                <a:spcPts val="600"/>
              </a:spcAft>
              <a:buFont typeface="Wingdings" panose="05000000000000000000" pitchFamily="2" charset="2"/>
              <a:buChar char="Ø"/>
              <a:defRPr/>
            </a:pPr>
            <a:r>
              <a:rPr kumimoji="0" lang="en-US" altLang="zh-CN" sz="1200" b="0" i="0" u="none" strike="noStrike" kern="1200" cap="none" spc="0" normalizeH="0" baseline="0" noProof="0">
                <a:ln>
                  <a:noFill/>
                </a:ln>
                <a:solidFill>
                  <a:schemeClr val="tx2"/>
                </a:solidFill>
                <a:effectLst/>
                <a:uLnTx/>
                <a:uFillTx/>
                <a:latin typeface="Lato" panose="020F0502020204030203" pitchFamily="34" charset="0"/>
                <a:ea typeface="Lato" panose="020F0502020204030203" pitchFamily="34" charset="0"/>
                <a:cs typeface="Lato" panose="020F0502020204030203" pitchFamily="34" charset="0"/>
              </a:rPr>
              <a:t>Accounting entries keep as-is</a:t>
            </a:r>
            <a:r>
              <a:rPr lang="en-US" altLang="zh-CN" sz="1200">
                <a:solidFill>
                  <a:schemeClr val="tx2"/>
                </a:solidFill>
                <a:latin typeface="Lato" panose="020F0502020204030203" pitchFamily="34" charset="0"/>
                <a:ea typeface="Lato" panose="020F0502020204030203" pitchFamily="34" charset="0"/>
                <a:cs typeface="Lato" panose="020F0502020204030203" pitchFamily="34" charset="0"/>
              </a:rPr>
              <a:t>,</a:t>
            </a:r>
            <a:r>
              <a:rPr lang="zh-CN" altLang="en-US" sz="1200">
                <a:solidFill>
                  <a:schemeClr val="tx2"/>
                </a:solidFill>
                <a:latin typeface="Lato" panose="020F0502020204030203" pitchFamily="34" charset="0"/>
                <a:ea typeface="Lato" panose="020F0502020204030203" pitchFamily="34" charset="0"/>
                <a:cs typeface="Lato" panose="020F0502020204030203" pitchFamily="34" charset="0"/>
              </a:rPr>
              <a:t> </a:t>
            </a:r>
            <a:r>
              <a:rPr lang="en-US" altLang="zh-CN" sz="1200">
                <a:solidFill>
                  <a:schemeClr val="tx2"/>
                </a:solidFill>
                <a:latin typeface="Lato" panose="020F0502020204030203" pitchFamily="34" charset="0"/>
                <a:ea typeface="Lato" panose="020F0502020204030203" pitchFamily="34" charset="0"/>
                <a:cs typeface="Lato" panose="020F0502020204030203" pitchFamily="34" charset="0"/>
              </a:rPr>
              <a:t>revenue amount will be the actual total payment amount.</a:t>
            </a:r>
          </a:p>
          <a:p>
            <a:pPr marL="742950" lvl="1" indent="-285750">
              <a:lnSpc>
                <a:spcPts val="2000"/>
              </a:lnSpc>
              <a:spcAft>
                <a:spcPts val="600"/>
              </a:spcAft>
              <a:buFont typeface="Wingdings" panose="05000000000000000000" pitchFamily="2" charset="2"/>
              <a:buChar char="Ø"/>
              <a:defRPr/>
            </a:pPr>
            <a:r>
              <a:rPr lang="en-US" altLang="zh-CN" sz="1200">
                <a:solidFill>
                  <a:schemeClr val="tx2"/>
                </a:solidFill>
                <a:latin typeface="Lato" panose="020F0502020204030203" pitchFamily="34" charset="0"/>
                <a:ea typeface="Lato" panose="020F0502020204030203" pitchFamily="34" charset="0"/>
                <a:cs typeface="Lato" panose="020F0502020204030203" pitchFamily="34" charset="0"/>
              </a:rPr>
              <a:t>LTAR offset follows the payment schedule if applicable</a:t>
            </a:r>
          </a:p>
        </p:txBody>
      </p:sp>
      <p:pic>
        <p:nvPicPr>
          <p:cNvPr id="5" name="Picture 4">
            <a:extLst>
              <a:ext uri="{FF2B5EF4-FFF2-40B4-BE49-F238E27FC236}">
                <a16:creationId xmlns:a16="http://schemas.microsoft.com/office/drawing/2014/main" id="{D942C9DC-88DD-08F4-5AE6-FD069859E490}"/>
              </a:ext>
            </a:extLst>
          </p:cNvPr>
          <p:cNvPicPr>
            <a:picLocks noChangeAspect="1"/>
          </p:cNvPicPr>
          <p:nvPr/>
        </p:nvPicPr>
        <p:blipFill>
          <a:blip r:embed="rId3"/>
          <a:stretch>
            <a:fillRect/>
          </a:stretch>
        </p:blipFill>
        <p:spPr>
          <a:xfrm>
            <a:off x="-2269768" y="854752"/>
            <a:ext cx="9189314" cy="5049516"/>
          </a:xfrm>
          <a:prstGeom prst="rect">
            <a:avLst/>
          </a:prstGeom>
        </p:spPr>
      </p:pic>
    </p:spTree>
    <p:extLst>
      <p:ext uri="{BB962C8B-B14F-4D97-AF65-F5344CB8AC3E}">
        <p14:creationId xmlns:p14="http://schemas.microsoft.com/office/powerpoint/2010/main" val="4192170164"/>
      </p:ext>
    </p:extLst>
  </p:cSld>
  <p:clrMapOvr>
    <a:masterClrMapping/>
  </p:clrMapOvr>
  <p:transition>
    <p:fade/>
  </p:transition>
</p:sld>
</file>

<file path=ppt/slides/slide150.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F00900FA-7A3F-D243-AF49-10F7783866A0}"/>
            </a:ext>
          </a:extLst>
        </p:cNvPr>
        <p:cNvGrpSpPr/>
        <p:nvPr/>
      </p:nvGrpSpPr>
      <p:grpSpPr>
        <a:xfrm>
          <a:off x="0" y="0"/>
          <a:ext cx="0" cy="0"/>
          <a:chOff x="0" y="0"/>
          <a:chExt cx="0" cy="0"/>
        </a:xfrm>
      </p:grpSpPr>
      <p:sp>
        <p:nvSpPr>
          <p:cNvPr id="46" name="矩形: 圆角 45">
            <a:extLst>
              <a:ext uri="{FF2B5EF4-FFF2-40B4-BE49-F238E27FC236}">
                <a16:creationId xmlns:a16="http://schemas.microsoft.com/office/drawing/2014/main" id="{D1A25A6B-1A12-E3AA-AA43-347C7D116464}"/>
              </a:ext>
            </a:extLst>
          </p:cNvPr>
          <p:cNvSpPr/>
          <p:nvPr/>
        </p:nvSpPr>
        <p:spPr>
          <a:xfrm>
            <a:off x="5786985" y="2339474"/>
            <a:ext cx="1022507" cy="1459275"/>
          </a:xfrm>
          <a:prstGeom prst="roundRect">
            <a:avLst>
              <a:gd name="adj" fmla="val 5109"/>
            </a:avLst>
          </a:prstGeom>
          <a:solidFill>
            <a:schemeClr val="accent4">
              <a:lumMod val="20000"/>
              <a:lumOff val="80000"/>
              <a:alpha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
        <p:nvSpPr>
          <p:cNvPr id="4" name="Title 10">
            <a:extLst>
              <a:ext uri="{FF2B5EF4-FFF2-40B4-BE49-F238E27FC236}">
                <a16:creationId xmlns:a16="http://schemas.microsoft.com/office/drawing/2014/main" id="{BE5EF7B5-1302-1FBB-05A6-DE4592107E42}"/>
              </a:ext>
            </a:extLst>
          </p:cNvPr>
          <p:cNvSpPr txBox="1">
            <a:spLocks/>
          </p:cNvSpPr>
          <p:nvPr/>
        </p:nvSpPr>
        <p:spPr>
          <a:xfrm>
            <a:off x="372499" y="182434"/>
            <a:ext cx="11056112"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NexBill – Structure Payment – Revenue Split</a:t>
            </a:r>
          </a:p>
        </p:txBody>
      </p:sp>
      <p:sp>
        <p:nvSpPr>
          <p:cNvPr id="3" name="矩形: 圆角 2">
            <a:extLst>
              <a:ext uri="{FF2B5EF4-FFF2-40B4-BE49-F238E27FC236}">
                <a16:creationId xmlns:a16="http://schemas.microsoft.com/office/drawing/2014/main" id="{4D84A443-2193-06A5-135C-82D6D2E423BC}"/>
              </a:ext>
            </a:extLst>
          </p:cNvPr>
          <p:cNvSpPr/>
          <p:nvPr/>
        </p:nvSpPr>
        <p:spPr>
          <a:xfrm>
            <a:off x="680655" y="1966723"/>
            <a:ext cx="3430521" cy="326445"/>
          </a:xfrm>
          <a:prstGeom prst="roundRect">
            <a:avLst/>
          </a:prstGeom>
          <a:solidFill>
            <a:schemeClr val="bg1"/>
          </a:solidFill>
          <a:ln w="6350">
            <a:solidFill>
              <a:schemeClr val="bg1">
                <a:lumMod val="50000"/>
              </a:schemeClr>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1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5" name="矩形: 圆角 4">
            <a:extLst>
              <a:ext uri="{FF2B5EF4-FFF2-40B4-BE49-F238E27FC236}">
                <a16:creationId xmlns:a16="http://schemas.microsoft.com/office/drawing/2014/main" id="{5D5E8D22-5961-5E8C-41A0-31F12051CDBA}"/>
              </a:ext>
            </a:extLst>
          </p:cNvPr>
          <p:cNvSpPr/>
          <p:nvPr/>
        </p:nvSpPr>
        <p:spPr>
          <a:xfrm>
            <a:off x="703271" y="1999410"/>
            <a:ext cx="1662731" cy="255352"/>
          </a:xfrm>
          <a:prstGeom prst="roundRect">
            <a:avLst/>
          </a:prstGeom>
          <a:solidFill>
            <a:schemeClr val="accent5">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8246AF"/>
                </a:solidFill>
                <a:latin typeface="Lato" panose="020F0502020204030203" pitchFamily="34" charset="0"/>
                <a:ea typeface="Lato" panose="020F0502020204030203" pitchFamily="34" charset="0"/>
                <a:cs typeface="Lato" panose="020F0502020204030203" pitchFamily="34" charset="0"/>
              </a:rPr>
              <a:t>NB TP T14 G3 I5 16G 256G 11P</a:t>
            </a:r>
            <a:endParaRPr lang="zh-CN" altLang="en-US" sz="700" b="1">
              <a:solidFill>
                <a:srgbClr val="8246AF"/>
              </a:solidFill>
              <a:latin typeface="Lato" panose="020F0502020204030203" pitchFamily="34" charset="0"/>
              <a:ea typeface="黑体" panose="02010609060101010101" pitchFamily="49" charset="-122"/>
              <a:cs typeface="Lato" panose="020F0502020204030203" pitchFamily="34" charset="0"/>
            </a:endParaRPr>
          </a:p>
        </p:txBody>
      </p:sp>
      <p:sp>
        <p:nvSpPr>
          <p:cNvPr id="7" name="矩形: 圆角 6">
            <a:extLst>
              <a:ext uri="{FF2B5EF4-FFF2-40B4-BE49-F238E27FC236}">
                <a16:creationId xmlns:a16="http://schemas.microsoft.com/office/drawing/2014/main" id="{9C91BFFC-63E1-1A59-252A-F7B1C4E93CFD}"/>
              </a:ext>
            </a:extLst>
          </p:cNvPr>
          <p:cNvSpPr/>
          <p:nvPr/>
        </p:nvSpPr>
        <p:spPr>
          <a:xfrm>
            <a:off x="1628498" y="2361159"/>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T14</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9" name="连接符: 肘形 8">
            <a:extLst>
              <a:ext uri="{FF2B5EF4-FFF2-40B4-BE49-F238E27FC236}">
                <a16:creationId xmlns:a16="http://schemas.microsoft.com/office/drawing/2014/main" id="{108FAF7E-E58B-0ECD-BFA2-28147F83B368}"/>
              </a:ext>
            </a:extLst>
          </p:cNvPr>
          <p:cNvCxnSpPr>
            <a:cxnSpLocks/>
            <a:stCxn id="5" idx="2"/>
            <a:endCxn id="7" idx="1"/>
          </p:cNvCxnSpPr>
          <p:nvPr/>
        </p:nvCxnSpPr>
        <p:spPr>
          <a:xfrm rot="16200000" flipH="1">
            <a:off x="1483380" y="2306017"/>
            <a:ext cx="196373"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10" name="矩形: 圆角 9">
            <a:extLst>
              <a:ext uri="{FF2B5EF4-FFF2-40B4-BE49-F238E27FC236}">
                <a16:creationId xmlns:a16="http://schemas.microsoft.com/office/drawing/2014/main" id="{2E91DB3E-7998-CCB5-4E6A-453A64D2C064}"/>
              </a:ext>
            </a:extLst>
          </p:cNvPr>
          <p:cNvSpPr/>
          <p:nvPr/>
        </p:nvSpPr>
        <p:spPr>
          <a:xfrm>
            <a:off x="1628498" y="2570766"/>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Premier Support</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1" name="矩形: 圆角 10">
            <a:extLst>
              <a:ext uri="{FF2B5EF4-FFF2-40B4-BE49-F238E27FC236}">
                <a16:creationId xmlns:a16="http://schemas.microsoft.com/office/drawing/2014/main" id="{A3CF0EBD-FC1C-2979-E631-B1B4FFFF8910}"/>
              </a:ext>
            </a:extLst>
          </p:cNvPr>
          <p:cNvSpPr/>
          <p:nvPr/>
        </p:nvSpPr>
        <p:spPr>
          <a:xfrm>
            <a:off x="1628498" y="2780372"/>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Configuration Service</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12" name="连接符: 肘形 11">
            <a:extLst>
              <a:ext uri="{FF2B5EF4-FFF2-40B4-BE49-F238E27FC236}">
                <a16:creationId xmlns:a16="http://schemas.microsoft.com/office/drawing/2014/main" id="{D4B64594-E17F-FB94-661C-CBBBD95077BB}"/>
              </a:ext>
            </a:extLst>
          </p:cNvPr>
          <p:cNvCxnSpPr>
            <a:cxnSpLocks/>
            <a:stCxn id="5" idx="2"/>
            <a:endCxn id="10" idx="1"/>
          </p:cNvCxnSpPr>
          <p:nvPr/>
        </p:nvCxnSpPr>
        <p:spPr>
          <a:xfrm rot="16200000" flipH="1">
            <a:off x="1378578" y="2410820"/>
            <a:ext cx="405979"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3" name="连接符: 肘形 12">
            <a:extLst>
              <a:ext uri="{FF2B5EF4-FFF2-40B4-BE49-F238E27FC236}">
                <a16:creationId xmlns:a16="http://schemas.microsoft.com/office/drawing/2014/main" id="{38D025B3-E6FE-BA2B-E9B5-06EE7CC49455}"/>
              </a:ext>
            </a:extLst>
          </p:cNvPr>
          <p:cNvCxnSpPr>
            <a:cxnSpLocks/>
            <a:stCxn id="5" idx="2"/>
            <a:endCxn id="11" idx="1"/>
          </p:cNvCxnSpPr>
          <p:nvPr/>
        </p:nvCxnSpPr>
        <p:spPr>
          <a:xfrm rot="16200000" flipH="1">
            <a:off x="1273773" y="2515624"/>
            <a:ext cx="615586"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14" name="矩形: 圆角 13">
            <a:extLst>
              <a:ext uri="{FF2B5EF4-FFF2-40B4-BE49-F238E27FC236}">
                <a16:creationId xmlns:a16="http://schemas.microsoft.com/office/drawing/2014/main" id="{5A5F623E-F671-D61E-AB89-120974EF168A}"/>
              </a:ext>
            </a:extLst>
          </p:cNvPr>
          <p:cNvSpPr/>
          <p:nvPr/>
        </p:nvSpPr>
        <p:spPr>
          <a:xfrm>
            <a:off x="1628498" y="2989979"/>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Deployment Service</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5" name="矩形: 圆角 14">
            <a:extLst>
              <a:ext uri="{FF2B5EF4-FFF2-40B4-BE49-F238E27FC236}">
                <a16:creationId xmlns:a16="http://schemas.microsoft.com/office/drawing/2014/main" id="{62DBCDF4-EAA7-128F-3D6F-D586606CD7F5}"/>
              </a:ext>
            </a:extLst>
          </p:cNvPr>
          <p:cNvSpPr/>
          <p:nvPr/>
        </p:nvSpPr>
        <p:spPr>
          <a:xfrm>
            <a:off x="1628498" y="3199585"/>
            <a:ext cx="1415503" cy="179953"/>
          </a:xfrm>
          <a:prstGeom prst="roundRect">
            <a:avLst/>
          </a:prstGeom>
          <a:solidFill>
            <a:schemeClr val="accent6">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alpha val="25000"/>
                  </a:srgbClr>
                </a:solidFill>
                <a:latin typeface="Lato" panose="020F0502020204030203" pitchFamily="34" charset="0"/>
                <a:ea typeface="Lato" panose="020F0502020204030203" pitchFamily="34" charset="0"/>
                <a:cs typeface="Lato" panose="020F0502020204030203" pitchFamily="34" charset="0"/>
              </a:rPr>
              <a:t>Managed Service (Future)</a:t>
            </a:r>
            <a:endParaRPr lang="zh-CN" altLang="en-US" sz="700" b="1">
              <a:solidFill>
                <a:srgbClr val="000000">
                  <a:alpha val="25000"/>
                </a:srgbClr>
              </a:solidFill>
              <a:latin typeface="Lato" panose="020F0502020204030203" pitchFamily="34" charset="0"/>
              <a:ea typeface="黑体" panose="02010609060101010101" pitchFamily="49" charset="-122"/>
              <a:cs typeface="Lato" panose="020F0502020204030203" pitchFamily="34" charset="0"/>
            </a:endParaRPr>
          </a:p>
        </p:txBody>
      </p:sp>
      <p:sp>
        <p:nvSpPr>
          <p:cNvPr id="16" name="矩形: 圆角 15">
            <a:extLst>
              <a:ext uri="{FF2B5EF4-FFF2-40B4-BE49-F238E27FC236}">
                <a16:creationId xmlns:a16="http://schemas.microsoft.com/office/drawing/2014/main" id="{6474C83E-28A8-E1E2-F0A2-DA8CA37F47A8}"/>
              </a:ext>
            </a:extLst>
          </p:cNvPr>
          <p:cNvSpPr/>
          <p:nvPr/>
        </p:nvSpPr>
        <p:spPr>
          <a:xfrm>
            <a:off x="1628498" y="3409191"/>
            <a:ext cx="1415503" cy="179953"/>
          </a:xfrm>
          <a:prstGeom prst="roundRect">
            <a:avLst/>
          </a:prstGeom>
          <a:solidFill>
            <a:schemeClr val="accent6">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Asset Recovery Service</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17" name="连接符: 肘形 16">
            <a:extLst>
              <a:ext uri="{FF2B5EF4-FFF2-40B4-BE49-F238E27FC236}">
                <a16:creationId xmlns:a16="http://schemas.microsoft.com/office/drawing/2014/main" id="{D1A88B6B-7AA3-9B77-9632-1A9B9733B289}"/>
              </a:ext>
            </a:extLst>
          </p:cNvPr>
          <p:cNvCxnSpPr>
            <a:cxnSpLocks/>
            <a:stCxn id="5" idx="2"/>
            <a:endCxn id="14" idx="1"/>
          </p:cNvCxnSpPr>
          <p:nvPr/>
        </p:nvCxnSpPr>
        <p:spPr>
          <a:xfrm rot="16200000" flipH="1">
            <a:off x="1168971" y="2620427"/>
            <a:ext cx="825192"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8" name="连接符: 肘形 17">
            <a:extLst>
              <a:ext uri="{FF2B5EF4-FFF2-40B4-BE49-F238E27FC236}">
                <a16:creationId xmlns:a16="http://schemas.microsoft.com/office/drawing/2014/main" id="{1A2231A8-93AF-933D-0A5A-57886C18BC97}"/>
              </a:ext>
            </a:extLst>
          </p:cNvPr>
          <p:cNvCxnSpPr>
            <a:cxnSpLocks/>
            <a:stCxn id="5" idx="2"/>
            <a:endCxn id="15" idx="1"/>
          </p:cNvCxnSpPr>
          <p:nvPr/>
        </p:nvCxnSpPr>
        <p:spPr>
          <a:xfrm rot="16200000" flipH="1">
            <a:off x="1064167" y="2725230"/>
            <a:ext cx="1034798"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9" name="连接符: 肘形 18">
            <a:extLst>
              <a:ext uri="{FF2B5EF4-FFF2-40B4-BE49-F238E27FC236}">
                <a16:creationId xmlns:a16="http://schemas.microsoft.com/office/drawing/2014/main" id="{4BD7D414-0816-BD68-4E13-543A8A7DA630}"/>
              </a:ext>
            </a:extLst>
          </p:cNvPr>
          <p:cNvCxnSpPr>
            <a:cxnSpLocks/>
            <a:stCxn id="5" idx="2"/>
            <a:endCxn id="16" idx="1"/>
          </p:cNvCxnSpPr>
          <p:nvPr/>
        </p:nvCxnSpPr>
        <p:spPr>
          <a:xfrm rot="16200000" flipH="1">
            <a:off x="959365" y="2830033"/>
            <a:ext cx="1244405"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0" name="矩形: 圆角 19">
            <a:extLst>
              <a:ext uri="{FF2B5EF4-FFF2-40B4-BE49-F238E27FC236}">
                <a16:creationId xmlns:a16="http://schemas.microsoft.com/office/drawing/2014/main" id="{BD22501B-82B8-EDC9-14AD-524A1C931E5E}"/>
              </a:ext>
            </a:extLst>
          </p:cNvPr>
          <p:cNvSpPr/>
          <p:nvPr/>
        </p:nvSpPr>
        <p:spPr>
          <a:xfrm>
            <a:off x="1628498" y="3618797"/>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Accessory</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21" name="连接符: 肘形 20">
            <a:extLst>
              <a:ext uri="{FF2B5EF4-FFF2-40B4-BE49-F238E27FC236}">
                <a16:creationId xmlns:a16="http://schemas.microsoft.com/office/drawing/2014/main" id="{3ADC3439-8214-01AF-D99B-FD2A810E6A35}"/>
              </a:ext>
            </a:extLst>
          </p:cNvPr>
          <p:cNvCxnSpPr>
            <a:cxnSpLocks/>
            <a:stCxn id="5" idx="2"/>
            <a:endCxn id="20" idx="1"/>
          </p:cNvCxnSpPr>
          <p:nvPr/>
        </p:nvCxnSpPr>
        <p:spPr>
          <a:xfrm rot="16200000" flipH="1">
            <a:off x="854562" y="2934836"/>
            <a:ext cx="1454010"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2" name="文本框 21">
            <a:extLst>
              <a:ext uri="{FF2B5EF4-FFF2-40B4-BE49-F238E27FC236}">
                <a16:creationId xmlns:a16="http://schemas.microsoft.com/office/drawing/2014/main" id="{A6ADA0BD-2B51-C6E3-323D-B740716A562A}"/>
              </a:ext>
            </a:extLst>
          </p:cNvPr>
          <p:cNvSpPr txBox="1"/>
          <p:nvPr/>
        </p:nvSpPr>
        <p:spPr>
          <a:xfrm>
            <a:off x="3488244" y="2019391"/>
            <a:ext cx="590072" cy="215388"/>
          </a:xfrm>
          <a:prstGeom prst="rect">
            <a:avLst/>
          </a:prstGeom>
          <a:noFill/>
        </p:spPr>
        <p:txBody>
          <a:bodyPr wrap="square" rtlCol="0">
            <a:spAutoFit/>
          </a:bodyPr>
          <a:lstStyle/>
          <a:p>
            <a:pPr algn="r" defTabSz="914126"/>
            <a:r>
              <a:rPr lang="en-US" altLang="zh-CN" sz="800" b="1">
                <a:solidFill>
                  <a:srgbClr val="8246AF"/>
                </a:solidFill>
                <a:latin typeface="Lato" panose="020F0502020204030203" pitchFamily="34" charset="0"/>
                <a:ea typeface="Lato" panose="020F0502020204030203" pitchFamily="34" charset="0"/>
                <a:cs typeface="Lato" panose="020F0502020204030203" pitchFamily="34" charset="0"/>
              </a:rPr>
              <a:t>100.00 $</a:t>
            </a:r>
            <a:endParaRPr lang="zh-CN" altLang="en-US" sz="800" b="1">
              <a:solidFill>
                <a:srgbClr val="8246AF"/>
              </a:solidFill>
              <a:latin typeface="Lato" panose="020F0502020204030203" pitchFamily="34" charset="0"/>
              <a:ea typeface="黑体" panose="02010609060101010101" pitchFamily="49" charset="-122"/>
              <a:cs typeface="Lato" panose="020F0502020204030203" pitchFamily="34" charset="0"/>
            </a:endParaRPr>
          </a:p>
        </p:txBody>
      </p:sp>
      <p:sp>
        <p:nvSpPr>
          <p:cNvPr id="23" name="文本框 22">
            <a:extLst>
              <a:ext uri="{FF2B5EF4-FFF2-40B4-BE49-F238E27FC236}">
                <a16:creationId xmlns:a16="http://schemas.microsoft.com/office/drawing/2014/main" id="{446D8754-2A41-24D4-551E-73ACA07D7125}"/>
              </a:ext>
            </a:extLst>
          </p:cNvPr>
          <p:cNvSpPr txBox="1"/>
          <p:nvPr/>
        </p:nvSpPr>
        <p:spPr>
          <a:xfrm>
            <a:off x="3547541" y="2339474"/>
            <a:ext cx="530777"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45.00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24" name="文本框 23">
            <a:extLst>
              <a:ext uri="{FF2B5EF4-FFF2-40B4-BE49-F238E27FC236}">
                <a16:creationId xmlns:a16="http://schemas.microsoft.com/office/drawing/2014/main" id="{7003B99B-9E90-F209-9E75-9E65F51EFF4E}"/>
              </a:ext>
            </a:extLst>
          </p:cNvPr>
          <p:cNvSpPr txBox="1"/>
          <p:nvPr/>
        </p:nvSpPr>
        <p:spPr>
          <a:xfrm>
            <a:off x="3547541" y="2546918"/>
            <a:ext cx="530777"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25" name="文本框 24">
            <a:extLst>
              <a:ext uri="{FF2B5EF4-FFF2-40B4-BE49-F238E27FC236}">
                <a16:creationId xmlns:a16="http://schemas.microsoft.com/office/drawing/2014/main" id="{2B4F3F04-D6C4-A7BD-BBB2-26CF6704265C}"/>
              </a:ext>
            </a:extLst>
          </p:cNvPr>
          <p:cNvSpPr txBox="1"/>
          <p:nvPr/>
        </p:nvSpPr>
        <p:spPr>
          <a:xfrm>
            <a:off x="3606836" y="2754362"/>
            <a:ext cx="4714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26" name="文本框 25">
            <a:extLst>
              <a:ext uri="{FF2B5EF4-FFF2-40B4-BE49-F238E27FC236}">
                <a16:creationId xmlns:a16="http://schemas.microsoft.com/office/drawing/2014/main" id="{0298E263-83BC-9005-4E5D-5B5857773D09}"/>
              </a:ext>
            </a:extLst>
          </p:cNvPr>
          <p:cNvSpPr txBox="1"/>
          <p:nvPr/>
        </p:nvSpPr>
        <p:spPr>
          <a:xfrm>
            <a:off x="3606836" y="2961806"/>
            <a:ext cx="4714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27" name="文本框 26">
            <a:extLst>
              <a:ext uri="{FF2B5EF4-FFF2-40B4-BE49-F238E27FC236}">
                <a16:creationId xmlns:a16="http://schemas.microsoft.com/office/drawing/2014/main" id="{686BDACA-67EF-6F47-737D-27778B3FC799}"/>
              </a:ext>
            </a:extLst>
          </p:cNvPr>
          <p:cNvSpPr txBox="1"/>
          <p:nvPr/>
        </p:nvSpPr>
        <p:spPr>
          <a:xfrm>
            <a:off x="3547541" y="3169250"/>
            <a:ext cx="530777" cy="215388"/>
          </a:xfrm>
          <a:prstGeom prst="rect">
            <a:avLst/>
          </a:prstGeom>
          <a:noFill/>
        </p:spPr>
        <p:txBody>
          <a:bodyPr wrap="none" rtlCol="0" anchor="ctr">
            <a:spAutoFit/>
          </a:bodyPr>
          <a:lstStyle/>
          <a:p>
            <a:pPr algn="r" defTabSz="914126"/>
            <a:r>
              <a:rPr lang="en-US" altLang="zh-CN" sz="800" b="1">
                <a:solidFill>
                  <a:srgbClr val="3E8DDD">
                    <a:alpha val="25000"/>
                  </a:srgbClr>
                </a:solidFill>
                <a:latin typeface="Lato" panose="020F0502020204030203" pitchFamily="34" charset="0"/>
                <a:ea typeface="Lato" panose="020F0502020204030203" pitchFamily="34" charset="0"/>
                <a:cs typeface="Lato" panose="020F0502020204030203" pitchFamily="34" charset="0"/>
              </a:rPr>
              <a:t>15.00</a:t>
            </a:r>
            <a:r>
              <a:rPr lang="en-US" altLang="zh-CN" sz="800" b="1">
                <a:solidFill>
                  <a:srgbClr val="000000">
                    <a:alpha val="25000"/>
                  </a:srgbClr>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alpha val="25000"/>
                </a:srgbClr>
              </a:solidFill>
              <a:latin typeface="Lato" panose="020F0502020204030203" pitchFamily="34" charset="0"/>
              <a:ea typeface="黑体" panose="02010609060101010101" pitchFamily="49" charset="-122"/>
              <a:cs typeface="Lato" panose="020F0502020204030203" pitchFamily="34" charset="0"/>
            </a:endParaRPr>
          </a:p>
        </p:txBody>
      </p:sp>
      <p:sp>
        <p:nvSpPr>
          <p:cNvPr id="28" name="文本框 27">
            <a:extLst>
              <a:ext uri="{FF2B5EF4-FFF2-40B4-BE49-F238E27FC236}">
                <a16:creationId xmlns:a16="http://schemas.microsoft.com/office/drawing/2014/main" id="{EE53DF7A-037D-C283-6B2E-C034CDB3567A}"/>
              </a:ext>
            </a:extLst>
          </p:cNvPr>
          <p:cNvSpPr txBox="1"/>
          <p:nvPr/>
        </p:nvSpPr>
        <p:spPr>
          <a:xfrm>
            <a:off x="3606836" y="3376694"/>
            <a:ext cx="4714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29" name="文本框 28">
            <a:extLst>
              <a:ext uri="{FF2B5EF4-FFF2-40B4-BE49-F238E27FC236}">
                <a16:creationId xmlns:a16="http://schemas.microsoft.com/office/drawing/2014/main" id="{AAF08ADF-9484-50B0-3C33-A58A17D7C98A}"/>
              </a:ext>
            </a:extLst>
          </p:cNvPr>
          <p:cNvSpPr txBox="1"/>
          <p:nvPr/>
        </p:nvSpPr>
        <p:spPr>
          <a:xfrm>
            <a:off x="3547541" y="3584140"/>
            <a:ext cx="530777"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30" name="文本框 29">
            <a:extLst>
              <a:ext uri="{FF2B5EF4-FFF2-40B4-BE49-F238E27FC236}">
                <a16:creationId xmlns:a16="http://schemas.microsoft.com/office/drawing/2014/main" id="{73BC180E-05B9-9DB0-CF10-4410CA744F05}"/>
              </a:ext>
            </a:extLst>
          </p:cNvPr>
          <p:cNvSpPr txBox="1"/>
          <p:nvPr/>
        </p:nvSpPr>
        <p:spPr>
          <a:xfrm>
            <a:off x="2993780" y="2339474"/>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31" name="文本框 30">
            <a:extLst>
              <a:ext uri="{FF2B5EF4-FFF2-40B4-BE49-F238E27FC236}">
                <a16:creationId xmlns:a16="http://schemas.microsoft.com/office/drawing/2014/main" id="{5F7B92A3-8A96-5E1A-0B29-E562E1413ABF}"/>
              </a:ext>
            </a:extLst>
          </p:cNvPr>
          <p:cNvSpPr txBox="1"/>
          <p:nvPr/>
        </p:nvSpPr>
        <p:spPr>
          <a:xfrm>
            <a:off x="2993780" y="2546918"/>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32" name="文本框 31">
            <a:extLst>
              <a:ext uri="{FF2B5EF4-FFF2-40B4-BE49-F238E27FC236}">
                <a16:creationId xmlns:a16="http://schemas.microsoft.com/office/drawing/2014/main" id="{FEA9AB6A-6921-4AF7-57F8-C05BAA6B6474}"/>
              </a:ext>
            </a:extLst>
          </p:cNvPr>
          <p:cNvSpPr txBox="1"/>
          <p:nvPr/>
        </p:nvSpPr>
        <p:spPr>
          <a:xfrm>
            <a:off x="2993780" y="2754362"/>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33" name="文本框 32">
            <a:extLst>
              <a:ext uri="{FF2B5EF4-FFF2-40B4-BE49-F238E27FC236}">
                <a16:creationId xmlns:a16="http://schemas.microsoft.com/office/drawing/2014/main" id="{D9FA57F2-451E-4E17-7E08-DCE3C980BD85}"/>
              </a:ext>
            </a:extLst>
          </p:cNvPr>
          <p:cNvSpPr txBox="1"/>
          <p:nvPr/>
        </p:nvSpPr>
        <p:spPr>
          <a:xfrm>
            <a:off x="2993780" y="2961806"/>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34" name="文本框 33">
            <a:extLst>
              <a:ext uri="{FF2B5EF4-FFF2-40B4-BE49-F238E27FC236}">
                <a16:creationId xmlns:a16="http://schemas.microsoft.com/office/drawing/2014/main" id="{B5999D65-C3EC-B881-57D8-B1528121D4B3}"/>
              </a:ext>
            </a:extLst>
          </p:cNvPr>
          <p:cNvSpPr txBox="1"/>
          <p:nvPr/>
        </p:nvSpPr>
        <p:spPr>
          <a:xfrm>
            <a:off x="2993780" y="3584140"/>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35" name="矩形: 圆角 34">
            <a:extLst>
              <a:ext uri="{FF2B5EF4-FFF2-40B4-BE49-F238E27FC236}">
                <a16:creationId xmlns:a16="http://schemas.microsoft.com/office/drawing/2014/main" id="{8B5093D2-7A0F-B63B-D564-6D8BB2CDF55E}"/>
              </a:ext>
            </a:extLst>
          </p:cNvPr>
          <p:cNvSpPr/>
          <p:nvPr/>
        </p:nvSpPr>
        <p:spPr>
          <a:xfrm>
            <a:off x="4483212" y="1966723"/>
            <a:ext cx="1148277" cy="1832027"/>
          </a:xfrm>
          <a:prstGeom prst="roundRect">
            <a:avLst>
              <a:gd name="adj" fmla="val 5109"/>
            </a:avLst>
          </a:prstGeom>
          <a:solidFill>
            <a:schemeClr val="accent4">
              <a:lumMod val="20000"/>
              <a:lumOff val="80000"/>
              <a:alpha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800" b="1">
                <a:solidFill>
                  <a:srgbClr val="000000"/>
                </a:solidFill>
                <a:latin typeface="Tenorite" panose="00000500000000000000" pitchFamily="2" charset="0"/>
                <a:ea typeface="黑体" panose="02010609060101010101" pitchFamily="49" charset="-122"/>
              </a:rPr>
              <a:t>Total: (36 * 100.00 $) / 2</a:t>
            </a:r>
          </a:p>
          <a:p>
            <a:pPr algn="ctr" defTabSz="914126"/>
            <a:r>
              <a:rPr lang="en-US" altLang="zh-CN" sz="1200" b="1">
                <a:solidFill>
                  <a:srgbClr val="000000"/>
                </a:solidFill>
                <a:latin typeface="Tenorite" panose="00000500000000000000" pitchFamily="2" charset="0"/>
                <a:ea typeface="黑体" panose="02010609060101010101" pitchFamily="49" charset="-122"/>
              </a:rPr>
              <a:t>1800.00 $</a:t>
            </a:r>
            <a:endParaRPr lang="zh-CN" altLang="en-US" sz="1200" b="1">
              <a:solidFill>
                <a:srgbClr val="000000"/>
              </a:solidFill>
              <a:latin typeface="Tenorite" panose="00000500000000000000" pitchFamily="2" charset="0"/>
              <a:ea typeface="黑体" panose="02010609060101010101" pitchFamily="49" charset="-122"/>
            </a:endParaRPr>
          </a:p>
        </p:txBody>
      </p:sp>
      <p:sp>
        <p:nvSpPr>
          <p:cNvPr id="36" name="文本框 35">
            <a:extLst>
              <a:ext uri="{FF2B5EF4-FFF2-40B4-BE49-F238E27FC236}">
                <a16:creationId xmlns:a16="http://schemas.microsoft.com/office/drawing/2014/main" id="{FD817318-599A-0FAC-78B5-6813600A10DD}"/>
              </a:ext>
            </a:extLst>
          </p:cNvPr>
          <p:cNvSpPr txBox="1"/>
          <p:nvPr/>
        </p:nvSpPr>
        <p:spPr>
          <a:xfrm>
            <a:off x="4414211" y="1720565"/>
            <a:ext cx="1317647" cy="246157"/>
          </a:xfrm>
          <a:prstGeom prst="rect">
            <a:avLst/>
          </a:prstGeom>
          <a:noFill/>
        </p:spPr>
        <p:txBody>
          <a:bodyPr wrap="none" rtlCol="0">
            <a:spAutoFit/>
          </a:bodyPr>
          <a:lstStyle/>
          <a:p>
            <a:pPr defTabSz="914126"/>
            <a:r>
              <a:rPr lang="en-US" altLang="zh-CN" sz="1000">
                <a:solidFill>
                  <a:srgbClr val="000000"/>
                </a:solidFill>
                <a:latin typeface="Tenorite" panose="00000500000000000000" pitchFamily="2" charset="0"/>
                <a:ea typeface="黑体" panose="02010609060101010101" pitchFamily="49" charset="-122"/>
                <a:cs typeface="Arial" pitchFamily="34" charset="0"/>
              </a:rPr>
              <a:t>Downpayment (50%)</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37" name="文本框 36">
            <a:extLst>
              <a:ext uri="{FF2B5EF4-FFF2-40B4-BE49-F238E27FC236}">
                <a16:creationId xmlns:a16="http://schemas.microsoft.com/office/drawing/2014/main" id="{2B263ED3-0977-1796-DF0D-F2EE12273D79}"/>
              </a:ext>
            </a:extLst>
          </p:cNvPr>
          <p:cNvSpPr txBox="1"/>
          <p:nvPr/>
        </p:nvSpPr>
        <p:spPr>
          <a:xfrm>
            <a:off x="5786986" y="2355377"/>
            <a:ext cx="945847"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45%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38" name="文本框 37">
            <a:extLst>
              <a:ext uri="{FF2B5EF4-FFF2-40B4-BE49-F238E27FC236}">
                <a16:creationId xmlns:a16="http://schemas.microsoft.com/office/drawing/2014/main" id="{0EC610CC-07E2-5D0A-291C-9C2642269A93}"/>
              </a:ext>
            </a:extLst>
          </p:cNvPr>
          <p:cNvSpPr txBox="1"/>
          <p:nvPr/>
        </p:nvSpPr>
        <p:spPr>
          <a:xfrm>
            <a:off x="5786986" y="2562821"/>
            <a:ext cx="945847"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15%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39" name="文本框 38">
            <a:extLst>
              <a:ext uri="{FF2B5EF4-FFF2-40B4-BE49-F238E27FC236}">
                <a16:creationId xmlns:a16="http://schemas.microsoft.com/office/drawing/2014/main" id="{C73F8D00-F438-DDBA-AFE3-17BA8E30818D}"/>
              </a:ext>
            </a:extLst>
          </p:cNvPr>
          <p:cNvSpPr txBox="1"/>
          <p:nvPr/>
        </p:nvSpPr>
        <p:spPr>
          <a:xfrm>
            <a:off x="5846282" y="2770265"/>
            <a:ext cx="886550"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40" name="文本框 39">
            <a:extLst>
              <a:ext uri="{FF2B5EF4-FFF2-40B4-BE49-F238E27FC236}">
                <a16:creationId xmlns:a16="http://schemas.microsoft.com/office/drawing/2014/main" id="{DED62AEE-2497-5C4B-59A9-822F0AE98F1F}"/>
              </a:ext>
            </a:extLst>
          </p:cNvPr>
          <p:cNvSpPr txBox="1"/>
          <p:nvPr/>
        </p:nvSpPr>
        <p:spPr>
          <a:xfrm>
            <a:off x="5846282" y="2977709"/>
            <a:ext cx="886550"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41" name="文本框 40">
            <a:extLst>
              <a:ext uri="{FF2B5EF4-FFF2-40B4-BE49-F238E27FC236}">
                <a16:creationId xmlns:a16="http://schemas.microsoft.com/office/drawing/2014/main" id="{94EBEFA3-E5C3-5A26-F6F9-EB992032AB57}"/>
              </a:ext>
            </a:extLst>
          </p:cNvPr>
          <p:cNvSpPr txBox="1"/>
          <p:nvPr/>
        </p:nvSpPr>
        <p:spPr>
          <a:xfrm>
            <a:off x="5786986" y="3185153"/>
            <a:ext cx="945847" cy="215388"/>
          </a:xfrm>
          <a:prstGeom prst="rect">
            <a:avLst/>
          </a:prstGeom>
          <a:noFill/>
        </p:spPr>
        <p:txBody>
          <a:bodyPr wrap="none" rtlCol="0" anchor="ctr">
            <a:spAutoFit/>
          </a:bodyPr>
          <a:lstStyle/>
          <a:p>
            <a:pPr algn="r" defTabSz="914126"/>
            <a:r>
              <a:rPr lang="en-US" altLang="zh-CN" sz="800" b="1">
                <a:solidFill>
                  <a:srgbClr val="3E8DDD">
                    <a:alpha val="25000"/>
                  </a:srgbClr>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alpha val="25000"/>
                  </a:srgbClr>
                </a:solidFill>
                <a:latin typeface="Lato" panose="020F0502020204030203" pitchFamily="34" charset="0"/>
                <a:ea typeface="Lato" panose="020F0502020204030203" pitchFamily="34" charset="0"/>
                <a:cs typeface="Lato" panose="020F0502020204030203" pitchFamily="34" charset="0"/>
              </a:rPr>
              <a:t> $ * 15%</a:t>
            </a:r>
            <a:endParaRPr lang="zh-CN" altLang="en-US" sz="800" b="1">
              <a:solidFill>
                <a:srgbClr val="000000">
                  <a:alpha val="25000"/>
                </a:srgbClr>
              </a:solidFill>
              <a:latin typeface="Lato" panose="020F0502020204030203" pitchFamily="34" charset="0"/>
              <a:ea typeface="黑体" panose="02010609060101010101" pitchFamily="49" charset="-122"/>
              <a:cs typeface="Lato" panose="020F0502020204030203" pitchFamily="34" charset="0"/>
            </a:endParaRPr>
          </a:p>
        </p:txBody>
      </p:sp>
      <p:sp>
        <p:nvSpPr>
          <p:cNvPr id="42" name="文本框 41">
            <a:extLst>
              <a:ext uri="{FF2B5EF4-FFF2-40B4-BE49-F238E27FC236}">
                <a16:creationId xmlns:a16="http://schemas.microsoft.com/office/drawing/2014/main" id="{3CA970D0-D2B2-E45D-194B-3556C6F77191}"/>
              </a:ext>
            </a:extLst>
          </p:cNvPr>
          <p:cNvSpPr txBox="1"/>
          <p:nvPr/>
        </p:nvSpPr>
        <p:spPr>
          <a:xfrm>
            <a:off x="5846282" y="3392597"/>
            <a:ext cx="886550"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43" name="文本框 42">
            <a:extLst>
              <a:ext uri="{FF2B5EF4-FFF2-40B4-BE49-F238E27FC236}">
                <a16:creationId xmlns:a16="http://schemas.microsoft.com/office/drawing/2014/main" id="{AE4D3300-75B1-441B-C75C-BC9BA1F94F07}"/>
              </a:ext>
            </a:extLst>
          </p:cNvPr>
          <p:cNvSpPr txBox="1"/>
          <p:nvPr/>
        </p:nvSpPr>
        <p:spPr>
          <a:xfrm>
            <a:off x="5786986" y="3600043"/>
            <a:ext cx="945847"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10%</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44" name="文本框 43">
            <a:extLst>
              <a:ext uri="{FF2B5EF4-FFF2-40B4-BE49-F238E27FC236}">
                <a16:creationId xmlns:a16="http://schemas.microsoft.com/office/drawing/2014/main" id="{DE3DE096-D3F9-EDD4-5D23-A8CCD7121D46}"/>
              </a:ext>
            </a:extLst>
          </p:cNvPr>
          <p:cNvSpPr txBox="1"/>
          <p:nvPr/>
        </p:nvSpPr>
        <p:spPr>
          <a:xfrm>
            <a:off x="539761" y="1423097"/>
            <a:ext cx="3354532" cy="261542"/>
          </a:xfrm>
          <a:prstGeom prst="rect">
            <a:avLst/>
          </a:prstGeom>
          <a:noFill/>
        </p:spPr>
        <p:txBody>
          <a:bodyPr wrap="none" rtlCol="0">
            <a:spAutoFit/>
          </a:bodyPr>
          <a:lstStyle/>
          <a:p>
            <a:pPr defTabSz="914126"/>
            <a:r>
              <a:rPr lang="en-US" altLang="zh-CN" sz="1100" b="1">
                <a:solidFill>
                  <a:srgbClr val="000000"/>
                </a:solidFill>
                <a:latin typeface="Tenorite" panose="00000500000000000000" pitchFamily="2" charset="0"/>
                <a:ea typeface="黑体" panose="02010609060101010101" pitchFamily="49" charset="-122"/>
                <a:cs typeface="Arial" pitchFamily="34" charset="0"/>
              </a:rPr>
              <a:t>Split Revenue – Downpayment for All Bundle Items:</a:t>
            </a:r>
            <a:endParaRPr lang="zh-CN" altLang="en-US" sz="1100" b="1">
              <a:solidFill>
                <a:srgbClr val="000000"/>
              </a:solidFill>
              <a:latin typeface="Tenorite" panose="00000500000000000000" pitchFamily="2" charset="0"/>
              <a:ea typeface="黑体" panose="02010609060101010101" pitchFamily="49" charset="-122"/>
              <a:cs typeface="Arial" pitchFamily="34" charset="0"/>
            </a:endParaRPr>
          </a:p>
        </p:txBody>
      </p:sp>
      <p:sp>
        <p:nvSpPr>
          <p:cNvPr id="45" name="文本框 44">
            <a:extLst>
              <a:ext uri="{FF2B5EF4-FFF2-40B4-BE49-F238E27FC236}">
                <a16:creationId xmlns:a16="http://schemas.microsoft.com/office/drawing/2014/main" id="{732BB536-9B91-1A49-FBA5-E9715BDC4763}"/>
              </a:ext>
            </a:extLst>
          </p:cNvPr>
          <p:cNvSpPr txBox="1"/>
          <p:nvPr/>
        </p:nvSpPr>
        <p:spPr>
          <a:xfrm>
            <a:off x="5696695" y="2076635"/>
            <a:ext cx="933026" cy="246157"/>
          </a:xfrm>
          <a:prstGeom prst="rect">
            <a:avLst/>
          </a:prstGeom>
          <a:noFill/>
        </p:spPr>
        <p:txBody>
          <a:bodyPr wrap="none" rtlCol="0">
            <a:spAutoFit/>
          </a:bodyPr>
          <a:lstStyle/>
          <a:p>
            <a:pPr defTabSz="914126"/>
            <a:r>
              <a:rPr lang="en-US" altLang="zh-CN" sz="1000">
                <a:solidFill>
                  <a:srgbClr val="000000"/>
                </a:solidFill>
                <a:latin typeface="Tenorite" panose="00000500000000000000" pitchFamily="2" charset="0"/>
                <a:ea typeface="黑体" panose="02010609060101010101" pitchFamily="49" charset="-122"/>
                <a:cs typeface="Arial" pitchFamily="34" charset="0"/>
              </a:rPr>
              <a:t>Revenue Split</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48" name="矩形: 圆角 47">
            <a:extLst>
              <a:ext uri="{FF2B5EF4-FFF2-40B4-BE49-F238E27FC236}">
                <a16:creationId xmlns:a16="http://schemas.microsoft.com/office/drawing/2014/main" id="{DDD0CA3A-1F6E-4205-B294-81A5C60B0CAC}"/>
              </a:ext>
            </a:extLst>
          </p:cNvPr>
          <p:cNvSpPr/>
          <p:nvPr/>
        </p:nvSpPr>
        <p:spPr>
          <a:xfrm>
            <a:off x="7192854" y="1966723"/>
            <a:ext cx="1148277" cy="1832027"/>
          </a:xfrm>
          <a:prstGeom prst="roundRect">
            <a:avLst>
              <a:gd name="adj" fmla="val 5109"/>
            </a:avLst>
          </a:prstGeom>
          <a:solidFill>
            <a:schemeClr val="accent4">
              <a:lumMod val="20000"/>
              <a:lumOff val="80000"/>
              <a:alpha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1200" b="1">
                <a:solidFill>
                  <a:srgbClr val="000000"/>
                </a:solidFill>
                <a:latin typeface="Tenorite" panose="00000500000000000000" pitchFamily="2" charset="0"/>
                <a:ea typeface="黑体" panose="02010609060101010101" pitchFamily="49" charset="-122"/>
              </a:rPr>
              <a:t>50.00 $</a:t>
            </a:r>
            <a:endParaRPr lang="zh-CN" altLang="en-US" sz="1200" b="1">
              <a:solidFill>
                <a:srgbClr val="000000"/>
              </a:solidFill>
              <a:latin typeface="Tenorite" panose="00000500000000000000" pitchFamily="2" charset="0"/>
              <a:ea typeface="黑体" panose="02010609060101010101" pitchFamily="49" charset="-122"/>
            </a:endParaRPr>
          </a:p>
        </p:txBody>
      </p:sp>
      <p:sp>
        <p:nvSpPr>
          <p:cNvPr id="49" name="文本框 48">
            <a:extLst>
              <a:ext uri="{FF2B5EF4-FFF2-40B4-BE49-F238E27FC236}">
                <a16:creationId xmlns:a16="http://schemas.microsoft.com/office/drawing/2014/main" id="{DE28EEA0-93DD-534D-7AF3-C4D47D1960BC}"/>
              </a:ext>
            </a:extLst>
          </p:cNvPr>
          <p:cNvSpPr txBox="1"/>
          <p:nvPr/>
        </p:nvSpPr>
        <p:spPr>
          <a:xfrm>
            <a:off x="7123852" y="1720565"/>
            <a:ext cx="1486304" cy="246221"/>
          </a:xfrm>
          <a:prstGeom prst="rect">
            <a:avLst/>
          </a:prstGeom>
          <a:noFill/>
        </p:spPr>
        <p:txBody>
          <a:bodyPr wrap="none" rtlCol="0">
            <a:spAutoFit/>
          </a:bodyPr>
          <a:lstStyle/>
          <a:p>
            <a:pPr defTabSz="914126"/>
            <a:r>
              <a:rPr lang="en-US" altLang="zh-CN" sz="1000">
                <a:solidFill>
                  <a:srgbClr val="000000"/>
                </a:solidFill>
                <a:latin typeface="Tenorite" panose="00000500000000000000" pitchFamily="2" charset="0"/>
                <a:ea typeface="黑体" panose="02010609060101010101" pitchFamily="49" charset="-122"/>
                <a:cs typeface="Arial" pitchFamily="34" charset="0"/>
              </a:rPr>
              <a:t>Monthly Payment (50%)</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50" name="矩形: 圆角 49">
            <a:extLst>
              <a:ext uri="{FF2B5EF4-FFF2-40B4-BE49-F238E27FC236}">
                <a16:creationId xmlns:a16="http://schemas.microsoft.com/office/drawing/2014/main" id="{01E6E7ED-335C-EB0C-3D93-79BB07E60298}"/>
              </a:ext>
            </a:extLst>
          </p:cNvPr>
          <p:cNvSpPr/>
          <p:nvPr/>
        </p:nvSpPr>
        <p:spPr>
          <a:xfrm>
            <a:off x="8500421" y="2339474"/>
            <a:ext cx="1022507" cy="1459275"/>
          </a:xfrm>
          <a:prstGeom prst="roundRect">
            <a:avLst>
              <a:gd name="adj" fmla="val 5109"/>
            </a:avLst>
          </a:prstGeom>
          <a:solidFill>
            <a:schemeClr val="accent4">
              <a:lumMod val="20000"/>
              <a:lumOff val="80000"/>
              <a:alpha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
        <p:nvSpPr>
          <p:cNvPr id="51" name="文本框 50">
            <a:extLst>
              <a:ext uri="{FF2B5EF4-FFF2-40B4-BE49-F238E27FC236}">
                <a16:creationId xmlns:a16="http://schemas.microsoft.com/office/drawing/2014/main" id="{68F13430-7477-87E7-03E1-56375D76D995}"/>
              </a:ext>
            </a:extLst>
          </p:cNvPr>
          <p:cNvSpPr txBox="1"/>
          <p:nvPr/>
        </p:nvSpPr>
        <p:spPr>
          <a:xfrm>
            <a:off x="8619012" y="2355377"/>
            <a:ext cx="827256"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45%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52" name="文本框 51">
            <a:extLst>
              <a:ext uri="{FF2B5EF4-FFF2-40B4-BE49-F238E27FC236}">
                <a16:creationId xmlns:a16="http://schemas.microsoft.com/office/drawing/2014/main" id="{097EE286-CAC8-D78E-59E3-2E579840C0D2}"/>
              </a:ext>
            </a:extLst>
          </p:cNvPr>
          <p:cNvSpPr txBox="1"/>
          <p:nvPr/>
        </p:nvSpPr>
        <p:spPr>
          <a:xfrm>
            <a:off x="8619014" y="2562821"/>
            <a:ext cx="827255"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15%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53" name="文本框 52">
            <a:extLst>
              <a:ext uri="{FF2B5EF4-FFF2-40B4-BE49-F238E27FC236}">
                <a16:creationId xmlns:a16="http://schemas.microsoft.com/office/drawing/2014/main" id="{46E7C983-0C3D-39E9-2BAE-D7484D897657}"/>
              </a:ext>
            </a:extLst>
          </p:cNvPr>
          <p:cNvSpPr txBox="1"/>
          <p:nvPr/>
        </p:nvSpPr>
        <p:spPr>
          <a:xfrm>
            <a:off x="8678310" y="2770265"/>
            <a:ext cx="767959"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54" name="文本框 53">
            <a:extLst>
              <a:ext uri="{FF2B5EF4-FFF2-40B4-BE49-F238E27FC236}">
                <a16:creationId xmlns:a16="http://schemas.microsoft.com/office/drawing/2014/main" id="{3BD669B1-90CF-F7DF-CCE9-047C70608B8A}"/>
              </a:ext>
            </a:extLst>
          </p:cNvPr>
          <p:cNvSpPr txBox="1"/>
          <p:nvPr/>
        </p:nvSpPr>
        <p:spPr>
          <a:xfrm>
            <a:off x="8678310" y="2977709"/>
            <a:ext cx="767959"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55" name="文本框 54">
            <a:extLst>
              <a:ext uri="{FF2B5EF4-FFF2-40B4-BE49-F238E27FC236}">
                <a16:creationId xmlns:a16="http://schemas.microsoft.com/office/drawing/2014/main" id="{5453FF70-D16E-FDF8-FF24-21CBB9B35887}"/>
              </a:ext>
            </a:extLst>
          </p:cNvPr>
          <p:cNvSpPr txBox="1"/>
          <p:nvPr/>
        </p:nvSpPr>
        <p:spPr>
          <a:xfrm>
            <a:off x="8619014" y="3185153"/>
            <a:ext cx="827255" cy="215388"/>
          </a:xfrm>
          <a:prstGeom prst="rect">
            <a:avLst/>
          </a:prstGeom>
          <a:noFill/>
        </p:spPr>
        <p:txBody>
          <a:bodyPr wrap="none" rtlCol="0" anchor="ctr">
            <a:spAutoFit/>
          </a:bodyPr>
          <a:lstStyle/>
          <a:p>
            <a:pPr algn="r" defTabSz="914126"/>
            <a:r>
              <a:rPr lang="en-US" altLang="zh-CN" sz="800" b="1">
                <a:solidFill>
                  <a:srgbClr val="3E8DDD">
                    <a:alpha val="25000"/>
                  </a:srgbClr>
                </a:solidFill>
                <a:latin typeface="Lato" panose="020F0502020204030203" pitchFamily="34" charset="0"/>
                <a:ea typeface="Lato" panose="020F0502020204030203" pitchFamily="34" charset="0"/>
                <a:cs typeface="Lato" panose="020F0502020204030203" pitchFamily="34" charset="0"/>
              </a:rPr>
              <a:t>50.00</a:t>
            </a:r>
            <a:r>
              <a:rPr lang="en-US" altLang="zh-CN" sz="800" b="1">
                <a:solidFill>
                  <a:srgbClr val="000000">
                    <a:alpha val="25000"/>
                  </a:srgbClr>
                </a:solidFill>
                <a:latin typeface="Lato" panose="020F0502020204030203" pitchFamily="34" charset="0"/>
                <a:ea typeface="Lato" panose="020F0502020204030203" pitchFamily="34" charset="0"/>
                <a:cs typeface="Lato" panose="020F0502020204030203" pitchFamily="34" charset="0"/>
              </a:rPr>
              <a:t> $ * 15%</a:t>
            </a:r>
            <a:endParaRPr lang="zh-CN" altLang="en-US" sz="800" b="1">
              <a:solidFill>
                <a:srgbClr val="000000">
                  <a:alpha val="25000"/>
                </a:srgbClr>
              </a:solidFill>
              <a:latin typeface="Lato" panose="020F0502020204030203" pitchFamily="34" charset="0"/>
              <a:ea typeface="黑体" panose="02010609060101010101" pitchFamily="49" charset="-122"/>
              <a:cs typeface="Lato" panose="020F0502020204030203" pitchFamily="34" charset="0"/>
            </a:endParaRPr>
          </a:p>
        </p:txBody>
      </p:sp>
      <p:sp>
        <p:nvSpPr>
          <p:cNvPr id="56" name="文本框 55">
            <a:extLst>
              <a:ext uri="{FF2B5EF4-FFF2-40B4-BE49-F238E27FC236}">
                <a16:creationId xmlns:a16="http://schemas.microsoft.com/office/drawing/2014/main" id="{B8F519FE-706B-48DF-3533-2899347EC633}"/>
              </a:ext>
            </a:extLst>
          </p:cNvPr>
          <p:cNvSpPr txBox="1"/>
          <p:nvPr/>
        </p:nvSpPr>
        <p:spPr>
          <a:xfrm>
            <a:off x="8678310" y="3392597"/>
            <a:ext cx="767959"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5%</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57" name="文本框 56">
            <a:extLst>
              <a:ext uri="{FF2B5EF4-FFF2-40B4-BE49-F238E27FC236}">
                <a16:creationId xmlns:a16="http://schemas.microsoft.com/office/drawing/2014/main" id="{973BD4DD-1884-CB96-F49B-A30E69AED680}"/>
              </a:ext>
            </a:extLst>
          </p:cNvPr>
          <p:cNvSpPr txBox="1"/>
          <p:nvPr/>
        </p:nvSpPr>
        <p:spPr>
          <a:xfrm>
            <a:off x="8619014" y="3600043"/>
            <a:ext cx="827255"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10%</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58" name="文本框 57">
            <a:extLst>
              <a:ext uri="{FF2B5EF4-FFF2-40B4-BE49-F238E27FC236}">
                <a16:creationId xmlns:a16="http://schemas.microsoft.com/office/drawing/2014/main" id="{C06F9CEC-D553-1F37-7922-D84915E3659E}"/>
              </a:ext>
            </a:extLst>
          </p:cNvPr>
          <p:cNvSpPr txBox="1"/>
          <p:nvPr/>
        </p:nvSpPr>
        <p:spPr>
          <a:xfrm>
            <a:off x="8410132" y="2076635"/>
            <a:ext cx="933026" cy="246157"/>
          </a:xfrm>
          <a:prstGeom prst="rect">
            <a:avLst/>
          </a:prstGeom>
          <a:noFill/>
        </p:spPr>
        <p:txBody>
          <a:bodyPr wrap="none" rtlCol="0">
            <a:spAutoFit/>
          </a:bodyPr>
          <a:lstStyle/>
          <a:p>
            <a:pPr defTabSz="914126"/>
            <a:r>
              <a:rPr lang="en-US" altLang="zh-CN" sz="1000">
                <a:solidFill>
                  <a:srgbClr val="000000"/>
                </a:solidFill>
                <a:latin typeface="Tenorite" panose="00000500000000000000" pitchFamily="2" charset="0"/>
                <a:ea typeface="黑体" panose="02010609060101010101" pitchFamily="49" charset="-122"/>
                <a:cs typeface="Arial" pitchFamily="34" charset="0"/>
              </a:rPr>
              <a:t>Revenue Split</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59" name="矩形: 圆角 58">
            <a:extLst>
              <a:ext uri="{FF2B5EF4-FFF2-40B4-BE49-F238E27FC236}">
                <a16:creationId xmlns:a16="http://schemas.microsoft.com/office/drawing/2014/main" id="{FD3D4245-E696-2F1E-1B49-7206815D393A}"/>
              </a:ext>
            </a:extLst>
          </p:cNvPr>
          <p:cNvSpPr/>
          <p:nvPr/>
        </p:nvSpPr>
        <p:spPr>
          <a:xfrm>
            <a:off x="680655" y="4458667"/>
            <a:ext cx="3430521" cy="326445"/>
          </a:xfrm>
          <a:prstGeom prst="roundRect">
            <a:avLst/>
          </a:prstGeom>
          <a:solidFill>
            <a:schemeClr val="bg1"/>
          </a:solidFill>
          <a:ln w="6350">
            <a:solidFill>
              <a:schemeClr val="bg1">
                <a:lumMod val="50000"/>
              </a:schemeClr>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1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60" name="矩形: 圆角 59">
            <a:extLst>
              <a:ext uri="{FF2B5EF4-FFF2-40B4-BE49-F238E27FC236}">
                <a16:creationId xmlns:a16="http://schemas.microsoft.com/office/drawing/2014/main" id="{F454FAB2-5958-DA3C-45BF-121FC1AA9315}"/>
              </a:ext>
            </a:extLst>
          </p:cNvPr>
          <p:cNvSpPr/>
          <p:nvPr/>
        </p:nvSpPr>
        <p:spPr>
          <a:xfrm>
            <a:off x="703271" y="4491354"/>
            <a:ext cx="1662731" cy="255352"/>
          </a:xfrm>
          <a:prstGeom prst="roundRect">
            <a:avLst/>
          </a:prstGeom>
          <a:solidFill>
            <a:schemeClr val="accent5">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8246AF"/>
                </a:solidFill>
                <a:latin typeface="Lato" panose="020F0502020204030203" pitchFamily="34" charset="0"/>
                <a:ea typeface="Lato" panose="020F0502020204030203" pitchFamily="34" charset="0"/>
                <a:cs typeface="Lato" panose="020F0502020204030203" pitchFamily="34" charset="0"/>
              </a:rPr>
              <a:t>NB TP T14 G3 I5 16G 256G 11P</a:t>
            </a:r>
            <a:endParaRPr lang="zh-CN" altLang="en-US" sz="700" b="1">
              <a:solidFill>
                <a:srgbClr val="8246AF"/>
              </a:solidFill>
              <a:latin typeface="Lato" panose="020F0502020204030203" pitchFamily="34" charset="0"/>
              <a:ea typeface="黑体" panose="02010609060101010101" pitchFamily="49" charset="-122"/>
              <a:cs typeface="Lato" panose="020F0502020204030203" pitchFamily="34" charset="0"/>
            </a:endParaRPr>
          </a:p>
        </p:txBody>
      </p:sp>
      <p:sp>
        <p:nvSpPr>
          <p:cNvPr id="61" name="矩形: 圆角 60">
            <a:extLst>
              <a:ext uri="{FF2B5EF4-FFF2-40B4-BE49-F238E27FC236}">
                <a16:creationId xmlns:a16="http://schemas.microsoft.com/office/drawing/2014/main" id="{3A60BE07-BD5D-2673-B53D-C6DAC2C4AD5F}"/>
              </a:ext>
            </a:extLst>
          </p:cNvPr>
          <p:cNvSpPr/>
          <p:nvPr/>
        </p:nvSpPr>
        <p:spPr>
          <a:xfrm>
            <a:off x="1628498" y="4853103"/>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T14</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62" name="连接符: 肘形 61">
            <a:extLst>
              <a:ext uri="{FF2B5EF4-FFF2-40B4-BE49-F238E27FC236}">
                <a16:creationId xmlns:a16="http://schemas.microsoft.com/office/drawing/2014/main" id="{087292A0-B1B2-4A1F-6EEB-43DDF3CCEE42}"/>
              </a:ext>
            </a:extLst>
          </p:cNvPr>
          <p:cNvCxnSpPr>
            <a:cxnSpLocks/>
            <a:stCxn id="60" idx="2"/>
            <a:endCxn id="61" idx="1"/>
          </p:cNvCxnSpPr>
          <p:nvPr/>
        </p:nvCxnSpPr>
        <p:spPr>
          <a:xfrm rot="16200000" flipH="1">
            <a:off x="1483380" y="4797961"/>
            <a:ext cx="196373"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63" name="矩形: 圆角 62">
            <a:extLst>
              <a:ext uri="{FF2B5EF4-FFF2-40B4-BE49-F238E27FC236}">
                <a16:creationId xmlns:a16="http://schemas.microsoft.com/office/drawing/2014/main" id="{6DDF7C00-7898-1F26-FAFE-FE76C5710051}"/>
              </a:ext>
            </a:extLst>
          </p:cNvPr>
          <p:cNvSpPr/>
          <p:nvPr/>
        </p:nvSpPr>
        <p:spPr>
          <a:xfrm>
            <a:off x="1628498" y="5062710"/>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Premier Support</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64" name="矩形: 圆角 63">
            <a:extLst>
              <a:ext uri="{FF2B5EF4-FFF2-40B4-BE49-F238E27FC236}">
                <a16:creationId xmlns:a16="http://schemas.microsoft.com/office/drawing/2014/main" id="{418DBB3D-3ABF-254B-BB2D-01B636138802}"/>
              </a:ext>
            </a:extLst>
          </p:cNvPr>
          <p:cNvSpPr/>
          <p:nvPr/>
        </p:nvSpPr>
        <p:spPr>
          <a:xfrm>
            <a:off x="1628498" y="5272316"/>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Configuration Service</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65" name="连接符: 肘形 64">
            <a:extLst>
              <a:ext uri="{FF2B5EF4-FFF2-40B4-BE49-F238E27FC236}">
                <a16:creationId xmlns:a16="http://schemas.microsoft.com/office/drawing/2014/main" id="{1E48DB0E-101B-0C06-52AC-DAC6390430CB}"/>
              </a:ext>
            </a:extLst>
          </p:cNvPr>
          <p:cNvCxnSpPr>
            <a:cxnSpLocks/>
            <a:stCxn id="60" idx="2"/>
            <a:endCxn id="63" idx="1"/>
          </p:cNvCxnSpPr>
          <p:nvPr/>
        </p:nvCxnSpPr>
        <p:spPr>
          <a:xfrm rot="16200000" flipH="1">
            <a:off x="1378578" y="4902764"/>
            <a:ext cx="405979"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6" name="连接符: 肘形 65">
            <a:extLst>
              <a:ext uri="{FF2B5EF4-FFF2-40B4-BE49-F238E27FC236}">
                <a16:creationId xmlns:a16="http://schemas.microsoft.com/office/drawing/2014/main" id="{2CE84E5F-9A95-0C64-D7A5-49CDA0F10CC0}"/>
              </a:ext>
            </a:extLst>
          </p:cNvPr>
          <p:cNvCxnSpPr>
            <a:cxnSpLocks/>
            <a:stCxn id="60" idx="2"/>
            <a:endCxn id="64" idx="1"/>
          </p:cNvCxnSpPr>
          <p:nvPr/>
        </p:nvCxnSpPr>
        <p:spPr>
          <a:xfrm rot="16200000" flipH="1">
            <a:off x="1273773" y="5007568"/>
            <a:ext cx="615586"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67" name="矩形: 圆角 66">
            <a:extLst>
              <a:ext uri="{FF2B5EF4-FFF2-40B4-BE49-F238E27FC236}">
                <a16:creationId xmlns:a16="http://schemas.microsoft.com/office/drawing/2014/main" id="{F2BE25E4-6B7C-6863-7187-3CB9FF7585D3}"/>
              </a:ext>
            </a:extLst>
          </p:cNvPr>
          <p:cNvSpPr/>
          <p:nvPr/>
        </p:nvSpPr>
        <p:spPr>
          <a:xfrm>
            <a:off x="1628498" y="5481923"/>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Deployment Service</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68" name="矩形: 圆角 67">
            <a:extLst>
              <a:ext uri="{FF2B5EF4-FFF2-40B4-BE49-F238E27FC236}">
                <a16:creationId xmlns:a16="http://schemas.microsoft.com/office/drawing/2014/main" id="{C477C352-33B4-9EDD-0709-BE70811FED60}"/>
              </a:ext>
            </a:extLst>
          </p:cNvPr>
          <p:cNvSpPr/>
          <p:nvPr/>
        </p:nvSpPr>
        <p:spPr>
          <a:xfrm>
            <a:off x="1628498" y="5691529"/>
            <a:ext cx="1415503" cy="179953"/>
          </a:xfrm>
          <a:prstGeom prst="roundRect">
            <a:avLst/>
          </a:prstGeom>
          <a:solidFill>
            <a:schemeClr val="accent6">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alpha val="25000"/>
                  </a:srgbClr>
                </a:solidFill>
                <a:latin typeface="Lato" panose="020F0502020204030203" pitchFamily="34" charset="0"/>
                <a:ea typeface="Lato" panose="020F0502020204030203" pitchFamily="34" charset="0"/>
                <a:cs typeface="Lato" panose="020F0502020204030203" pitchFamily="34" charset="0"/>
              </a:rPr>
              <a:t>Managed Service (Future)</a:t>
            </a:r>
            <a:endParaRPr lang="zh-CN" altLang="en-US" sz="700" b="1">
              <a:solidFill>
                <a:srgbClr val="000000">
                  <a:alpha val="25000"/>
                </a:srgbClr>
              </a:solidFill>
              <a:latin typeface="Lato" panose="020F0502020204030203" pitchFamily="34" charset="0"/>
              <a:ea typeface="黑体" panose="02010609060101010101" pitchFamily="49" charset="-122"/>
              <a:cs typeface="Lato" panose="020F0502020204030203" pitchFamily="34" charset="0"/>
            </a:endParaRPr>
          </a:p>
        </p:txBody>
      </p:sp>
      <p:sp>
        <p:nvSpPr>
          <p:cNvPr id="69" name="矩形: 圆角 68">
            <a:extLst>
              <a:ext uri="{FF2B5EF4-FFF2-40B4-BE49-F238E27FC236}">
                <a16:creationId xmlns:a16="http://schemas.microsoft.com/office/drawing/2014/main" id="{F33D2AF8-62F7-5F4C-7E4D-90CB04783A46}"/>
              </a:ext>
            </a:extLst>
          </p:cNvPr>
          <p:cNvSpPr/>
          <p:nvPr/>
        </p:nvSpPr>
        <p:spPr>
          <a:xfrm>
            <a:off x="1628498" y="5901135"/>
            <a:ext cx="1415503" cy="179953"/>
          </a:xfrm>
          <a:prstGeom prst="roundRect">
            <a:avLst/>
          </a:prstGeom>
          <a:solidFill>
            <a:schemeClr val="accent6">
              <a:lumMod val="20000"/>
              <a:lumOff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Asset Recovery Service</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70" name="连接符: 肘形 69">
            <a:extLst>
              <a:ext uri="{FF2B5EF4-FFF2-40B4-BE49-F238E27FC236}">
                <a16:creationId xmlns:a16="http://schemas.microsoft.com/office/drawing/2014/main" id="{18BAB770-2392-B478-BC35-B149EAF57451}"/>
              </a:ext>
            </a:extLst>
          </p:cNvPr>
          <p:cNvCxnSpPr>
            <a:cxnSpLocks/>
            <a:stCxn id="60" idx="2"/>
            <a:endCxn id="67" idx="1"/>
          </p:cNvCxnSpPr>
          <p:nvPr/>
        </p:nvCxnSpPr>
        <p:spPr>
          <a:xfrm rot="16200000" flipH="1">
            <a:off x="1168971" y="5112370"/>
            <a:ext cx="825192"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71" name="连接符: 肘形 70">
            <a:extLst>
              <a:ext uri="{FF2B5EF4-FFF2-40B4-BE49-F238E27FC236}">
                <a16:creationId xmlns:a16="http://schemas.microsoft.com/office/drawing/2014/main" id="{398A3324-7655-3BC4-3863-52F3A0137BEB}"/>
              </a:ext>
            </a:extLst>
          </p:cNvPr>
          <p:cNvCxnSpPr>
            <a:cxnSpLocks/>
            <a:stCxn id="60" idx="2"/>
            <a:endCxn id="68" idx="1"/>
          </p:cNvCxnSpPr>
          <p:nvPr/>
        </p:nvCxnSpPr>
        <p:spPr>
          <a:xfrm rot="16200000" flipH="1">
            <a:off x="1064167" y="5217174"/>
            <a:ext cx="1034798"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72" name="连接符: 肘形 71">
            <a:extLst>
              <a:ext uri="{FF2B5EF4-FFF2-40B4-BE49-F238E27FC236}">
                <a16:creationId xmlns:a16="http://schemas.microsoft.com/office/drawing/2014/main" id="{1A1DFA8C-DEF7-2249-0E34-29C27671C135}"/>
              </a:ext>
            </a:extLst>
          </p:cNvPr>
          <p:cNvCxnSpPr>
            <a:cxnSpLocks/>
            <a:stCxn id="60" idx="2"/>
            <a:endCxn id="69" idx="1"/>
          </p:cNvCxnSpPr>
          <p:nvPr/>
        </p:nvCxnSpPr>
        <p:spPr>
          <a:xfrm rot="16200000" flipH="1">
            <a:off x="959365" y="5321977"/>
            <a:ext cx="1244405"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73" name="矩形: 圆角 72">
            <a:extLst>
              <a:ext uri="{FF2B5EF4-FFF2-40B4-BE49-F238E27FC236}">
                <a16:creationId xmlns:a16="http://schemas.microsoft.com/office/drawing/2014/main" id="{77D521AD-88CD-DA3E-1157-ED5162332819}"/>
              </a:ext>
            </a:extLst>
          </p:cNvPr>
          <p:cNvSpPr/>
          <p:nvPr/>
        </p:nvSpPr>
        <p:spPr>
          <a:xfrm>
            <a:off x="1628498" y="6110741"/>
            <a:ext cx="1415503" cy="179953"/>
          </a:xfrm>
          <a:prstGeom prst="roundRect">
            <a:avLst/>
          </a:prstGeom>
          <a:solidFill>
            <a:srgbClr val="FFC000"/>
          </a:solidFill>
          <a:ln w="6350">
            <a:solidFill>
              <a:schemeClr val="tx1"/>
            </a:solidFill>
          </a:ln>
        </p:spPr>
        <p:style>
          <a:lnRef idx="0">
            <a:scrgbClr r="0" g="0" b="0"/>
          </a:lnRef>
          <a:fillRef idx="0">
            <a:scrgbClr r="0" g="0" b="0"/>
          </a:fillRef>
          <a:effectRef idx="0">
            <a:scrgbClr r="0" g="0" b="0"/>
          </a:effectRef>
          <a:fontRef idx="minor">
            <a:schemeClr val="lt1"/>
          </a:fontRef>
        </p:style>
        <p:txBody>
          <a:bodyPr lIns="35991" tIns="0" rIns="35991" bIns="0" rtlCol="0" anchor="ctr"/>
          <a:lstStyle/>
          <a:p>
            <a:pPr defTabSz="914126"/>
            <a:r>
              <a:rPr lang="en-US" altLang="zh-CN" sz="700" b="1">
                <a:solidFill>
                  <a:srgbClr val="000000"/>
                </a:solidFill>
                <a:latin typeface="Lato" panose="020F0502020204030203" pitchFamily="34" charset="0"/>
                <a:ea typeface="Lato" panose="020F0502020204030203" pitchFamily="34" charset="0"/>
                <a:cs typeface="Lato" panose="020F0502020204030203" pitchFamily="34" charset="0"/>
              </a:rPr>
              <a:t>Accessory</a:t>
            </a:r>
            <a:endParaRPr lang="zh-CN" altLang="en-US" sz="7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cxnSp>
        <p:nvCxnSpPr>
          <p:cNvPr id="74" name="连接符: 肘形 73">
            <a:extLst>
              <a:ext uri="{FF2B5EF4-FFF2-40B4-BE49-F238E27FC236}">
                <a16:creationId xmlns:a16="http://schemas.microsoft.com/office/drawing/2014/main" id="{9965325F-8F4A-380E-ABF3-27749AED8653}"/>
              </a:ext>
            </a:extLst>
          </p:cNvPr>
          <p:cNvCxnSpPr>
            <a:cxnSpLocks/>
            <a:stCxn id="60" idx="2"/>
            <a:endCxn id="73" idx="1"/>
          </p:cNvCxnSpPr>
          <p:nvPr/>
        </p:nvCxnSpPr>
        <p:spPr>
          <a:xfrm rot="16200000" flipH="1">
            <a:off x="854562" y="5426780"/>
            <a:ext cx="1454010" cy="93862"/>
          </a:xfrm>
          <a:prstGeom prst="bentConnector2">
            <a:avLst/>
          </a:prstGeom>
          <a:ln w="3175">
            <a:solidFill>
              <a:schemeClr val="bg1">
                <a:lumMod val="65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6562C761-9113-FCD2-FBF6-150279D6F192}"/>
              </a:ext>
            </a:extLst>
          </p:cNvPr>
          <p:cNvSpPr txBox="1"/>
          <p:nvPr/>
        </p:nvSpPr>
        <p:spPr>
          <a:xfrm>
            <a:off x="3488244" y="4511335"/>
            <a:ext cx="590072" cy="215388"/>
          </a:xfrm>
          <a:prstGeom prst="rect">
            <a:avLst/>
          </a:prstGeom>
          <a:noFill/>
        </p:spPr>
        <p:txBody>
          <a:bodyPr wrap="square" rtlCol="0">
            <a:spAutoFit/>
          </a:bodyPr>
          <a:lstStyle/>
          <a:p>
            <a:pPr algn="r" defTabSz="914126"/>
            <a:r>
              <a:rPr lang="en-US" altLang="zh-CN" sz="800" b="1">
                <a:solidFill>
                  <a:srgbClr val="8246AF"/>
                </a:solidFill>
                <a:latin typeface="Lato" panose="020F0502020204030203" pitchFamily="34" charset="0"/>
                <a:ea typeface="Lato" panose="020F0502020204030203" pitchFamily="34" charset="0"/>
                <a:cs typeface="Lato" panose="020F0502020204030203" pitchFamily="34" charset="0"/>
              </a:rPr>
              <a:t>100.00 $</a:t>
            </a:r>
            <a:endParaRPr lang="zh-CN" altLang="en-US" sz="800" b="1">
              <a:solidFill>
                <a:srgbClr val="8246AF"/>
              </a:solidFill>
              <a:latin typeface="Lato" panose="020F0502020204030203" pitchFamily="34" charset="0"/>
              <a:ea typeface="黑体" panose="02010609060101010101" pitchFamily="49" charset="-122"/>
              <a:cs typeface="Lato" panose="020F0502020204030203" pitchFamily="34" charset="0"/>
            </a:endParaRPr>
          </a:p>
        </p:txBody>
      </p:sp>
      <p:sp>
        <p:nvSpPr>
          <p:cNvPr id="76" name="文本框 75">
            <a:extLst>
              <a:ext uri="{FF2B5EF4-FFF2-40B4-BE49-F238E27FC236}">
                <a16:creationId xmlns:a16="http://schemas.microsoft.com/office/drawing/2014/main" id="{63B65FD1-5C3E-08F5-77FC-080D6E2730B3}"/>
              </a:ext>
            </a:extLst>
          </p:cNvPr>
          <p:cNvSpPr txBox="1"/>
          <p:nvPr/>
        </p:nvSpPr>
        <p:spPr>
          <a:xfrm>
            <a:off x="3547541" y="4831418"/>
            <a:ext cx="530777"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45.00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77" name="文本框 76">
            <a:extLst>
              <a:ext uri="{FF2B5EF4-FFF2-40B4-BE49-F238E27FC236}">
                <a16:creationId xmlns:a16="http://schemas.microsoft.com/office/drawing/2014/main" id="{6DA5458D-C217-C904-092F-C2DDBAFF3F2F}"/>
              </a:ext>
            </a:extLst>
          </p:cNvPr>
          <p:cNvSpPr txBox="1"/>
          <p:nvPr/>
        </p:nvSpPr>
        <p:spPr>
          <a:xfrm>
            <a:off x="3547541" y="5038862"/>
            <a:ext cx="530777"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78" name="文本框 77">
            <a:extLst>
              <a:ext uri="{FF2B5EF4-FFF2-40B4-BE49-F238E27FC236}">
                <a16:creationId xmlns:a16="http://schemas.microsoft.com/office/drawing/2014/main" id="{268AABAB-DE9B-B131-0329-A0C54636CBBA}"/>
              </a:ext>
            </a:extLst>
          </p:cNvPr>
          <p:cNvSpPr txBox="1"/>
          <p:nvPr/>
        </p:nvSpPr>
        <p:spPr>
          <a:xfrm>
            <a:off x="3606836" y="5246306"/>
            <a:ext cx="4714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79" name="文本框 78">
            <a:extLst>
              <a:ext uri="{FF2B5EF4-FFF2-40B4-BE49-F238E27FC236}">
                <a16:creationId xmlns:a16="http://schemas.microsoft.com/office/drawing/2014/main" id="{9EABBFC2-E45C-2A0D-F9EC-3C36C9BF2F8F}"/>
              </a:ext>
            </a:extLst>
          </p:cNvPr>
          <p:cNvSpPr txBox="1"/>
          <p:nvPr/>
        </p:nvSpPr>
        <p:spPr>
          <a:xfrm>
            <a:off x="3606836" y="5453750"/>
            <a:ext cx="4714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80" name="文本框 79">
            <a:extLst>
              <a:ext uri="{FF2B5EF4-FFF2-40B4-BE49-F238E27FC236}">
                <a16:creationId xmlns:a16="http://schemas.microsoft.com/office/drawing/2014/main" id="{47272264-C5BB-1915-C1B0-7DB65F4C8FC6}"/>
              </a:ext>
            </a:extLst>
          </p:cNvPr>
          <p:cNvSpPr txBox="1"/>
          <p:nvPr/>
        </p:nvSpPr>
        <p:spPr>
          <a:xfrm>
            <a:off x="3547541" y="5661194"/>
            <a:ext cx="530777" cy="215388"/>
          </a:xfrm>
          <a:prstGeom prst="rect">
            <a:avLst/>
          </a:prstGeom>
          <a:noFill/>
        </p:spPr>
        <p:txBody>
          <a:bodyPr wrap="none" rtlCol="0" anchor="ctr">
            <a:spAutoFit/>
          </a:bodyPr>
          <a:lstStyle/>
          <a:p>
            <a:pPr algn="r" defTabSz="914126"/>
            <a:r>
              <a:rPr lang="en-US" altLang="zh-CN" sz="800" b="1">
                <a:solidFill>
                  <a:srgbClr val="3E8DDD">
                    <a:alpha val="25000"/>
                  </a:srgbClr>
                </a:solidFill>
                <a:latin typeface="Lato" panose="020F0502020204030203" pitchFamily="34" charset="0"/>
                <a:ea typeface="Lato" panose="020F0502020204030203" pitchFamily="34" charset="0"/>
                <a:cs typeface="Lato" panose="020F0502020204030203" pitchFamily="34" charset="0"/>
              </a:rPr>
              <a:t>15.00</a:t>
            </a:r>
            <a:r>
              <a:rPr lang="en-US" altLang="zh-CN" sz="800" b="1">
                <a:solidFill>
                  <a:srgbClr val="000000">
                    <a:alpha val="25000"/>
                  </a:srgbClr>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alpha val="25000"/>
                </a:srgbClr>
              </a:solidFill>
              <a:latin typeface="Lato" panose="020F0502020204030203" pitchFamily="34" charset="0"/>
              <a:ea typeface="黑体" panose="02010609060101010101" pitchFamily="49" charset="-122"/>
              <a:cs typeface="Lato" panose="020F0502020204030203" pitchFamily="34" charset="0"/>
            </a:endParaRPr>
          </a:p>
        </p:txBody>
      </p:sp>
      <p:sp>
        <p:nvSpPr>
          <p:cNvPr id="81" name="文本框 80">
            <a:extLst>
              <a:ext uri="{FF2B5EF4-FFF2-40B4-BE49-F238E27FC236}">
                <a16:creationId xmlns:a16="http://schemas.microsoft.com/office/drawing/2014/main" id="{D77889C6-8B7C-15CA-0EA8-2EECC91BC589}"/>
              </a:ext>
            </a:extLst>
          </p:cNvPr>
          <p:cNvSpPr txBox="1"/>
          <p:nvPr/>
        </p:nvSpPr>
        <p:spPr>
          <a:xfrm>
            <a:off x="3606836" y="5868638"/>
            <a:ext cx="4714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82" name="文本框 81">
            <a:extLst>
              <a:ext uri="{FF2B5EF4-FFF2-40B4-BE49-F238E27FC236}">
                <a16:creationId xmlns:a16="http://schemas.microsoft.com/office/drawing/2014/main" id="{865415D1-FAFC-1E35-5892-B59C152DC607}"/>
              </a:ext>
            </a:extLst>
          </p:cNvPr>
          <p:cNvSpPr txBox="1"/>
          <p:nvPr/>
        </p:nvSpPr>
        <p:spPr>
          <a:xfrm>
            <a:off x="3547541" y="6076084"/>
            <a:ext cx="530777"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83" name="文本框 82">
            <a:extLst>
              <a:ext uri="{FF2B5EF4-FFF2-40B4-BE49-F238E27FC236}">
                <a16:creationId xmlns:a16="http://schemas.microsoft.com/office/drawing/2014/main" id="{877B64B3-8371-441D-BD09-2FED060FEC02}"/>
              </a:ext>
            </a:extLst>
          </p:cNvPr>
          <p:cNvSpPr txBox="1"/>
          <p:nvPr/>
        </p:nvSpPr>
        <p:spPr>
          <a:xfrm>
            <a:off x="2993780" y="4831418"/>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84" name="文本框 83">
            <a:extLst>
              <a:ext uri="{FF2B5EF4-FFF2-40B4-BE49-F238E27FC236}">
                <a16:creationId xmlns:a16="http://schemas.microsoft.com/office/drawing/2014/main" id="{66CA2E6E-CAFB-3022-D5DF-08682182BBE3}"/>
              </a:ext>
            </a:extLst>
          </p:cNvPr>
          <p:cNvSpPr txBox="1"/>
          <p:nvPr/>
        </p:nvSpPr>
        <p:spPr>
          <a:xfrm>
            <a:off x="2993780" y="5038862"/>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85" name="文本框 84">
            <a:extLst>
              <a:ext uri="{FF2B5EF4-FFF2-40B4-BE49-F238E27FC236}">
                <a16:creationId xmlns:a16="http://schemas.microsoft.com/office/drawing/2014/main" id="{39007C40-7B9D-E5AF-13A0-11D22DFB3565}"/>
              </a:ext>
            </a:extLst>
          </p:cNvPr>
          <p:cNvSpPr txBox="1"/>
          <p:nvPr/>
        </p:nvSpPr>
        <p:spPr>
          <a:xfrm>
            <a:off x="2993780" y="5246306"/>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86" name="文本框 85">
            <a:extLst>
              <a:ext uri="{FF2B5EF4-FFF2-40B4-BE49-F238E27FC236}">
                <a16:creationId xmlns:a16="http://schemas.microsoft.com/office/drawing/2014/main" id="{43765F2D-B043-3E55-A30B-CC19626C520D}"/>
              </a:ext>
            </a:extLst>
          </p:cNvPr>
          <p:cNvSpPr txBox="1"/>
          <p:nvPr/>
        </p:nvSpPr>
        <p:spPr>
          <a:xfrm>
            <a:off x="2993780" y="5453750"/>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87" name="文本框 86">
            <a:extLst>
              <a:ext uri="{FF2B5EF4-FFF2-40B4-BE49-F238E27FC236}">
                <a16:creationId xmlns:a16="http://schemas.microsoft.com/office/drawing/2014/main" id="{AA35FF5F-772B-5587-F6EC-D929B61521E3}"/>
              </a:ext>
            </a:extLst>
          </p:cNvPr>
          <p:cNvSpPr txBox="1"/>
          <p:nvPr/>
        </p:nvSpPr>
        <p:spPr>
          <a:xfrm>
            <a:off x="2993780" y="6076084"/>
            <a:ext cx="527572" cy="215388"/>
          </a:xfrm>
          <a:prstGeom prst="rect">
            <a:avLst/>
          </a:prstGeom>
          <a:noFill/>
        </p:spPr>
        <p:txBody>
          <a:bodyPr wrap="none" rtlCol="0" anchor="ctr">
            <a:spAutoFit/>
          </a:bodyPr>
          <a:lstStyle/>
          <a:p>
            <a:pPr algn="r" defTabSz="914126"/>
            <a:r>
              <a:rPr lang="en-US" altLang="zh-CN" sz="800">
                <a:solidFill>
                  <a:srgbClr val="000000"/>
                </a:solidFill>
                <a:latin typeface="Lato" panose="020F0502020204030203" pitchFamily="34" charset="0"/>
                <a:ea typeface="Lato" panose="020F0502020204030203" pitchFamily="34" charset="0"/>
                <a:cs typeface="Lato" panose="020F0502020204030203" pitchFamily="34" charset="0"/>
              </a:rPr>
              <a:t>Funded</a:t>
            </a:r>
            <a:endParaRPr lang="zh-CN" altLang="en-US" sz="800">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88" name="文本框 87">
            <a:extLst>
              <a:ext uri="{FF2B5EF4-FFF2-40B4-BE49-F238E27FC236}">
                <a16:creationId xmlns:a16="http://schemas.microsoft.com/office/drawing/2014/main" id="{55C2A267-2925-8D85-8E9D-4C548763883F}"/>
              </a:ext>
            </a:extLst>
          </p:cNvPr>
          <p:cNvSpPr txBox="1"/>
          <p:nvPr/>
        </p:nvSpPr>
        <p:spPr>
          <a:xfrm>
            <a:off x="595504" y="3962209"/>
            <a:ext cx="3194273" cy="261542"/>
          </a:xfrm>
          <a:prstGeom prst="rect">
            <a:avLst/>
          </a:prstGeom>
          <a:noFill/>
        </p:spPr>
        <p:txBody>
          <a:bodyPr wrap="none" rtlCol="0">
            <a:spAutoFit/>
          </a:bodyPr>
          <a:lstStyle/>
          <a:p>
            <a:pPr defTabSz="914126"/>
            <a:r>
              <a:rPr lang="en-US" altLang="zh-CN" sz="1100" b="1">
                <a:solidFill>
                  <a:srgbClr val="000000"/>
                </a:solidFill>
                <a:latin typeface="Tenorite" panose="00000500000000000000" pitchFamily="2" charset="0"/>
                <a:ea typeface="黑体" panose="02010609060101010101" pitchFamily="49" charset="-122"/>
                <a:cs typeface="Arial" pitchFamily="34" charset="0"/>
              </a:rPr>
              <a:t>Split Revenue – Downpayment for Funded Items:</a:t>
            </a:r>
            <a:endParaRPr lang="zh-CN" altLang="en-US" sz="1100" b="1">
              <a:solidFill>
                <a:srgbClr val="000000"/>
              </a:solidFill>
              <a:latin typeface="Tenorite" panose="00000500000000000000" pitchFamily="2" charset="0"/>
              <a:ea typeface="黑体" panose="02010609060101010101" pitchFamily="49" charset="-122"/>
              <a:cs typeface="Arial" pitchFamily="34" charset="0"/>
            </a:endParaRPr>
          </a:p>
        </p:txBody>
      </p:sp>
      <p:sp>
        <p:nvSpPr>
          <p:cNvPr id="89" name="矩形: 圆角 88">
            <a:extLst>
              <a:ext uri="{FF2B5EF4-FFF2-40B4-BE49-F238E27FC236}">
                <a16:creationId xmlns:a16="http://schemas.microsoft.com/office/drawing/2014/main" id="{89F29F25-F8E4-4F87-B580-35170B35C5E0}"/>
              </a:ext>
            </a:extLst>
          </p:cNvPr>
          <p:cNvSpPr/>
          <p:nvPr/>
        </p:nvSpPr>
        <p:spPr>
          <a:xfrm>
            <a:off x="5786985" y="4846614"/>
            <a:ext cx="1022507" cy="1459275"/>
          </a:xfrm>
          <a:prstGeom prst="roundRect">
            <a:avLst>
              <a:gd name="adj" fmla="val 5109"/>
            </a:avLst>
          </a:prstGeom>
          <a:solidFill>
            <a:schemeClr val="accent4">
              <a:lumMod val="20000"/>
              <a:lumOff val="80000"/>
              <a:alpha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
        <p:nvSpPr>
          <p:cNvPr id="90" name="矩形: 圆角 89">
            <a:extLst>
              <a:ext uri="{FF2B5EF4-FFF2-40B4-BE49-F238E27FC236}">
                <a16:creationId xmlns:a16="http://schemas.microsoft.com/office/drawing/2014/main" id="{72C1269E-48D4-CC2E-08B9-55E75ABF68AB}"/>
              </a:ext>
            </a:extLst>
          </p:cNvPr>
          <p:cNvSpPr/>
          <p:nvPr/>
        </p:nvSpPr>
        <p:spPr>
          <a:xfrm>
            <a:off x="4483212" y="4473863"/>
            <a:ext cx="1148277" cy="1832027"/>
          </a:xfrm>
          <a:prstGeom prst="roundRect">
            <a:avLst>
              <a:gd name="adj" fmla="val 5109"/>
            </a:avLst>
          </a:prstGeom>
          <a:solidFill>
            <a:schemeClr val="accent4">
              <a:lumMod val="20000"/>
              <a:lumOff val="80000"/>
              <a:alpha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800" b="1">
                <a:solidFill>
                  <a:srgbClr val="000000"/>
                </a:solidFill>
                <a:latin typeface="Tenorite" panose="00000500000000000000" pitchFamily="2" charset="0"/>
                <a:ea typeface="黑体" panose="02010609060101010101" pitchFamily="49" charset="-122"/>
              </a:rPr>
              <a:t>Total: (36 * 100.00 $) / 2</a:t>
            </a:r>
          </a:p>
          <a:p>
            <a:pPr algn="ctr" defTabSz="914126"/>
            <a:r>
              <a:rPr lang="en-US" altLang="zh-CN" sz="1200" b="1">
                <a:solidFill>
                  <a:srgbClr val="000000"/>
                </a:solidFill>
                <a:latin typeface="Tenorite" panose="00000500000000000000" pitchFamily="2" charset="0"/>
                <a:ea typeface="黑体" panose="02010609060101010101" pitchFamily="49" charset="-122"/>
              </a:rPr>
              <a:t>1800.00 $</a:t>
            </a:r>
          </a:p>
        </p:txBody>
      </p:sp>
      <p:sp>
        <p:nvSpPr>
          <p:cNvPr id="91" name="文本框 90">
            <a:extLst>
              <a:ext uri="{FF2B5EF4-FFF2-40B4-BE49-F238E27FC236}">
                <a16:creationId xmlns:a16="http://schemas.microsoft.com/office/drawing/2014/main" id="{4117408A-92A9-6AE1-0162-B6E713F1C285}"/>
              </a:ext>
            </a:extLst>
          </p:cNvPr>
          <p:cNvSpPr txBox="1"/>
          <p:nvPr/>
        </p:nvSpPr>
        <p:spPr>
          <a:xfrm>
            <a:off x="4414211" y="4227707"/>
            <a:ext cx="1317990" cy="246221"/>
          </a:xfrm>
          <a:prstGeom prst="rect">
            <a:avLst/>
          </a:prstGeom>
          <a:noFill/>
        </p:spPr>
        <p:txBody>
          <a:bodyPr wrap="none" rtlCol="0">
            <a:spAutoFit/>
          </a:bodyPr>
          <a:lstStyle/>
          <a:p>
            <a:pPr defTabSz="914126"/>
            <a:r>
              <a:rPr lang="en-US" altLang="zh-CN" sz="1000">
                <a:solidFill>
                  <a:srgbClr val="000000"/>
                </a:solidFill>
                <a:latin typeface="Tenorite" panose="00000500000000000000" pitchFamily="2" charset="0"/>
                <a:ea typeface="黑体" panose="02010609060101010101" pitchFamily="49" charset="-122"/>
                <a:cs typeface="Arial" pitchFamily="34" charset="0"/>
              </a:rPr>
              <a:t>Downpayment (50%)</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92" name="文本框 91">
            <a:extLst>
              <a:ext uri="{FF2B5EF4-FFF2-40B4-BE49-F238E27FC236}">
                <a16:creationId xmlns:a16="http://schemas.microsoft.com/office/drawing/2014/main" id="{FBABF2D0-F42D-6221-D847-CEF60C96C15F}"/>
              </a:ext>
            </a:extLst>
          </p:cNvPr>
          <p:cNvSpPr txBox="1"/>
          <p:nvPr/>
        </p:nvSpPr>
        <p:spPr>
          <a:xfrm>
            <a:off x="5785404" y="4862517"/>
            <a:ext cx="10291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45/80</a:t>
            </a:r>
            <a:endParaRPr lang="zh-CN" altLang="en-US" sz="800" b="1" u="sng">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93" name="文本框 92">
            <a:extLst>
              <a:ext uri="{FF2B5EF4-FFF2-40B4-BE49-F238E27FC236}">
                <a16:creationId xmlns:a16="http://schemas.microsoft.com/office/drawing/2014/main" id="{1F191114-C79F-184E-4AEF-A09C5A17F539}"/>
              </a:ext>
            </a:extLst>
          </p:cNvPr>
          <p:cNvSpPr txBox="1"/>
          <p:nvPr/>
        </p:nvSpPr>
        <p:spPr>
          <a:xfrm>
            <a:off x="5785404" y="5069961"/>
            <a:ext cx="10291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15/80</a:t>
            </a:r>
            <a:endParaRPr lang="zh-CN" altLang="en-US" sz="800" b="1" u="sng">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94" name="文本框 93">
            <a:extLst>
              <a:ext uri="{FF2B5EF4-FFF2-40B4-BE49-F238E27FC236}">
                <a16:creationId xmlns:a16="http://schemas.microsoft.com/office/drawing/2014/main" id="{97E9C527-3875-0AC5-7EF4-9D274E42A35F}"/>
              </a:ext>
            </a:extLst>
          </p:cNvPr>
          <p:cNvSpPr txBox="1"/>
          <p:nvPr/>
        </p:nvSpPr>
        <p:spPr>
          <a:xfrm>
            <a:off x="5844700" y="5277405"/>
            <a:ext cx="969884"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5/80</a:t>
            </a:r>
            <a:endParaRPr lang="zh-CN" altLang="en-US" sz="800" b="1" u="sng">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95" name="文本框 94">
            <a:extLst>
              <a:ext uri="{FF2B5EF4-FFF2-40B4-BE49-F238E27FC236}">
                <a16:creationId xmlns:a16="http://schemas.microsoft.com/office/drawing/2014/main" id="{19D35180-13FB-87B3-E68B-6F756DDA4811}"/>
              </a:ext>
            </a:extLst>
          </p:cNvPr>
          <p:cNvSpPr txBox="1"/>
          <p:nvPr/>
        </p:nvSpPr>
        <p:spPr>
          <a:xfrm>
            <a:off x="5844700" y="5484849"/>
            <a:ext cx="969884"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5/80</a:t>
            </a:r>
            <a:endParaRPr lang="zh-CN" altLang="en-US" sz="800" b="1" u="sng">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96" name="文本框 95">
            <a:extLst>
              <a:ext uri="{FF2B5EF4-FFF2-40B4-BE49-F238E27FC236}">
                <a16:creationId xmlns:a16="http://schemas.microsoft.com/office/drawing/2014/main" id="{7515B30A-F606-5EC4-1FA7-3E6E7592AEC1}"/>
              </a:ext>
            </a:extLst>
          </p:cNvPr>
          <p:cNvSpPr txBox="1"/>
          <p:nvPr/>
        </p:nvSpPr>
        <p:spPr>
          <a:xfrm>
            <a:off x="6343104" y="5692293"/>
            <a:ext cx="471481" cy="215388"/>
          </a:xfrm>
          <a:prstGeom prst="rect">
            <a:avLst/>
          </a:prstGeom>
          <a:noFill/>
        </p:spPr>
        <p:txBody>
          <a:bodyPr wrap="none" rtlCol="0" anchor="ctr">
            <a:spAutoFit/>
          </a:bodyPr>
          <a:lstStyle/>
          <a:p>
            <a:pPr algn="r" defTabSz="914126"/>
            <a:r>
              <a:rPr lang="en-US" altLang="zh-CN" sz="800" b="1">
                <a:solidFill>
                  <a:srgbClr val="3E8DDD">
                    <a:alpha val="25000"/>
                  </a:srgbClr>
                </a:solidFill>
                <a:latin typeface="Lato" panose="020F0502020204030203" pitchFamily="34" charset="0"/>
                <a:ea typeface="Lato" panose="020F0502020204030203" pitchFamily="34" charset="0"/>
                <a:cs typeface="Lato" panose="020F0502020204030203" pitchFamily="34" charset="0"/>
              </a:rPr>
              <a:t>0.00</a:t>
            </a:r>
            <a:r>
              <a:rPr lang="en-US" altLang="zh-CN" sz="800" b="1">
                <a:solidFill>
                  <a:srgbClr val="000000">
                    <a:alpha val="25000"/>
                  </a:srgbClr>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alpha val="25000"/>
                </a:srgbClr>
              </a:solidFill>
              <a:latin typeface="Lato" panose="020F0502020204030203" pitchFamily="34" charset="0"/>
              <a:ea typeface="黑体" panose="02010609060101010101" pitchFamily="49" charset="-122"/>
              <a:cs typeface="Lato" panose="020F0502020204030203" pitchFamily="34" charset="0"/>
            </a:endParaRPr>
          </a:p>
        </p:txBody>
      </p:sp>
      <p:sp>
        <p:nvSpPr>
          <p:cNvPr id="97" name="文本框 96">
            <a:extLst>
              <a:ext uri="{FF2B5EF4-FFF2-40B4-BE49-F238E27FC236}">
                <a16:creationId xmlns:a16="http://schemas.microsoft.com/office/drawing/2014/main" id="{6CC73533-878B-6B72-2A17-43FDD553B829}"/>
              </a:ext>
            </a:extLst>
          </p:cNvPr>
          <p:cNvSpPr txBox="1"/>
          <p:nvPr/>
        </p:nvSpPr>
        <p:spPr>
          <a:xfrm>
            <a:off x="6343104" y="5899737"/>
            <a:ext cx="4714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98" name="文本框 97">
            <a:extLst>
              <a:ext uri="{FF2B5EF4-FFF2-40B4-BE49-F238E27FC236}">
                <a16:creationId xmlns:a16="http://schemas.microsoft.com/office/drawing/2014/main" id="{FD7DBD50-A1D0-3103-22D3-DFB68BE46265}"/>
              </a:ext>
            </a:extLst>
          </p:cNvPr>
          <p:cNvSpPr txBox="1"/>
          <p:nvPr/>
        </p:nvSpPr>
        <p:spPr>
          <a:xfrm>
            <a:off x="5785404" y="6107183"/>
            <a:ext cx="1029181"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1800.00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10/80</a:t>
            </a:r>
            <a:endParaRPr lang="zh-CN" altLang="en-US" sz="800" b="1" u="sng">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99" name="文本框 98">
            <a:extLst>
              <a:ext uri="{FF2B5EF4-FFF2-40B4-BE49-F238E27FC236}">
                <a16:creationId xmlns:a16="http://schemas.microsoft.com/office/drawing/2014/main" id="{40D97B22-AA01-C294-9577-B0A2FC7418EA}"/>
              </a:ext>
            </a:extLst>
          </p:cNvPr>
          <p:cNvSpPr txBox="1"/>
          <p:nvPr/>
        </p:nvSpPr>
        <p:spPr>
          <a:xfrm>
            <a:off x="5696695" y="4583775"/>
            <a:ext cx="933026" cy="246157"/>
          </a:xfrm>
          <a:prstGeom prst="rect">
            <a:avLst/>
          </a:prstGeom>
          <a:noFill/>
        </p:spPr>
        <p:txBody>
          <a:bodyPr wrap="none" rtlCol="0">
            <a:spAutoFit/>
          </a:bodyPr>
          <a:lstStyle/>
          <a:p>
            <a:pPr defTabSz="914126"/>
            <a:r>
              <a:rPr lang="en-US" altLang="zh-CN" sz="1000">
                <a:solidFill>
                  <a:srgbClr val="000000"/>
                </a:solidFill>
                <a:latin typeface="Tenorite" panose="00000500000000000000" pitchFamily="2" charset="0"/>
                <a:ea typeface="黑体" panose="02010609060101010101" pitchFamily="49" charset="-122"/>
                <a:cs typeface="Arial" pitchFamily="34" charset="0"/>
              </a:rPr>
              <a:t>Revenue Split</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100" name="矩形: 圆角 99">
            <a:extLst>
              <a:ext uri="{FF2B5EF4-FFF2-40B4-BE49-F238E27FC236}">
                <a16:creationId xmlns:a16="http://schemas.microsoft.com/office/drawing/2014/main" id="{AD02F306-EF9B-4C14-5695-807D035344A1}"/>
              </a:ext>
            </a:extLst>
          </p:cNvPr>
          <p:cNvSpPr/>
          <p:nvPr/>
        </p:nvSpPr>
        <p:spPr>
          <a:xfrm>
            <a:off x="7192854" y="4491354"/>
            <a:ext cx="1148277" cy="1832027"/>
          </a:xfrm>
          <a:prstGeom prst="roundRect">
            <a:avLst>
              <a:gd name="adj" fmla="val 5109"/>
            </a:avLst>
          </a:prstGeom>
          <a:solidFill>
            <a:schemeClr val="accent4">
              <a:lumMod val="20000"/>
              <a:lumOff val="80000"/>
              <a:alpha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r>
              <a:rPr lang="en-US" altLang="zh-CN" sz="1200" b="1">
                <a:solidFill>
                  <a:srgbClr val="000000"/>
                </a:solidFill>
                <a:latin typeface="Tenorite" panose="00000500000000000000" pitchFamily="2" charset="0"/>
                <a:ea typeface="黑体" panose="02010609060101010101" pitchFamily="49" charset="-122"/>
              </a:rPr>
              <a:t>50.00 $</a:t>
            </a:r>
            <a:endParaRPr lang="zh-CN" altLang="en-US" sz="1200" b="1">
              <a:solidFill>
                <a:srgbClr val="000000"/>
              </a:solidFill>
              <a:latin typeface="Tenorite" panose="00000500000000000000" pitchFamily="2" charset="0"/>
              <a:ea typeface="黑体" panose="02010609060101010101" pitchFamily="49" charset="-122"/>
            </a:endParaRPr>
          </a:p>
        </p:txBody>
      </p:sp>
      <p:sp>
        <p:nvSpPr>
          <p:cNvPr id="101" name="文本框 100">
            <a:extLst>
              <a:ext uri="{FF2B5EF4-FFF2-40B4-BE49-F238E27FC236}">
                <a16:creationId xmlns:a16="http://schemas.microsoft.com/office/drawing/2014/main" id="{1DF576C9-D043-1804-BFC3-4935F7812AA4}"/>
              </a:ext>
            </a:extLst>
          </p:cNvPr>
          <p:cNvSpPr txBox="1"/>
          <p:nvPr/>
        </p:nvSpPr>
        <p:spPr>
          <a:xfrm>
            <a:off x="7123852" y="4245198"/>
            <a:ext cx="1486304" cy="246221"/>
          </a:xfrm>
          <a:prstGeom prst="rect">
            <a:avLst/>
          </a:prstGeom>
          <a:noFill/>
        </p:spPr>
        <p:txBody>
          <a:bodyPr wrap="none" rtlCol="0">
            <a:spAutoFit/>
          </a:bodyPr>
          <a:lstStyle/>
          <a:p>
            <a:pPr defTabSz="914126"/>
            <a:r>
              <a:rPr lang="en-US" altLang="zh-CN" sz="1000">
                <a:solidFill>
                  <a:srgbClr val="000000"/>
                </a:solidFill>
                <a:latin typeface="Tenorite" panose="00000500000000000000" pitchFamily="2" charset="0"/>
                <a:ea typeface="黑体" panose="02010609060101010101" pitchFamily="49" charset="-122"/>
                <a:cs typeface="Arial" pitchFamily="34" charset="0"/>
              </a:rPr>
              <a:t>Monthly Payment (50%)</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102" name="矩形: 圆角 101">
            <a:extLst>
              <a:ext uri="{FF2B5EF4-FFF2-40B4-BE49-F238E27FC236}">
                <a16:creationId xmlns:a16="http://schemas.microsoft.com/office/drawing/2014/main" id="{C28D6918-6B79-2656-B612-60353FE833EA}"/>
              </a:ext>
            </a:extLst>
          </p:cNvPr>
          <p:cNvSpPr/>
          <p:nvPr/>
        </p:nvSpPr>
        <p:spPr>
          <a:xfrm>
            <a:off x="8500421" y="4804649"/>
            <a:ext cx="1322833" cy="1459275"/>
          </a:xfrm>
          <a:prstGeom prst="roundRect">
            <a:avLst>
              <a:gd name="adj" fmla="val 5109"/>
            </a:avLst>
          </a:prstGeom>
          <a:solidFill>
            <a:schemeClr val="accent4">
              <a:lumMod val="20000"/>
              <a:lumOff val="80000"/>
              <a:alpha val="80000"/>
            </a:scheme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
        <p:nvSpPr>
          <p:cNvPr id="103" name="文本框 102">
            <a:extLst>
              <a:ext uri="{FF2B5EF4-FFF2-40B4-BE49-F238E27FC236}">
                <a16:creationId xmlns:a16="http://schemas.microsoft.com/office/drawing/2014/main" id="{6F6316B7-B79C-35C9-AAFE-6721682742EB}"/>
              </a:ext>
            </a:extLst>
          </p:cNvPr>
          <p:cNvSpPr txBox="1"/>
          <p:nvPr/>
        </p:nvSpPr>
        <p:spPr>
          <a:xfrm>
            <a:off x="8521642" y="4820552"/>
            <a:ext cx="1288799"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 – 15 - 5</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45/80</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04" name="文本框 103">
            <a:extLst>
              <a:ext uri="{FF2B5EF4-FFF2-40B4-BE49-F238E27FC236}">
                <a16:creationId xmlns:a16="http://schemas.microsoft.com/office/drawing/2014/main" id="{C97CAB11-3719-1233-AC5F-A76BBFE00EE6}"/>
              </a:ext>
            </a:extLst>
          </p:cNvPr>
          <p:cNvSpPr txBox="1"/>
          <p:nvPr/>
        </p:nvSpPr>
        <p:spPr>
          <a:xfrm>
            <a:off x="8521642" y="5027996"/>
            <a:ext cx="1288799"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 – 15 - 5</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15/80</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05" name="文本框 104">
            <a:extLst>
              <a:ext uri="{FF2B5EF4-FFF2-40B4-BE49-F238E27FC236}">
                <a16:creationId xmlns:a16="http://schemas.microsoft.com/office/drawing/2014/main" id="{F20FDC90-4F6E-76F4-83A5-65A512448300}"/>
              </a:ext>
            </a:extLst>
          </p:cNvPr>
          <p:cNvSpPr txBox="1"/>
          <p:nvPr/>
        </p:nvSpPr>
        <p:spPr>
          <a:xfrm>
            <a:off x="8580936" y="5235440"/>
            <a:ext cx="1229505"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 – 15 - 5</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5/80</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06" name="文本框 105">
            <a:extLst>
              <a:ext uri="{FF2B5EF4-FFF2-40B4-BE49-F238E27FC236}">
                <a16:creationId xmlns:a16="http://schemas.microsoft.com/office/drawing/2014/main" id="{84132F58-9072-0AE7-1B2D-B58C6A307A6F}"/>
              </a:ext>
            </a:extLst>
          </p:cNvPr>
          <p:cNvSpPr txBox="1"/>
          <p:nvPr/>
        </p:nvSpPr>
        <p:spPr>
          <a:xfrm>
            <a:off x="8580936" y="5442884"/>
            <a:ext cx="1229505"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 – 15 - 5</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5/80</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07" name="文本框 106">
            <a:extLst>
              <a:ext uri="{FF2B5EF4-FFF2-40B4-BE49-F238E27FC236}">
                <a16:creationId xmlns:a16="http://schemas.microsoft.com/office/drawing/2014/main" id="{E4CA4BE1-6DC3-9C29-F4DA-FDF828E5FB13}"/>
              </a:ext>
            </a:extLst>
          </p:cNvPr>
          <p:cNvSpPr txBox="1"/>
          <p:nvPr/>
        </p:nvSpPr>
        <p:spPr>
          <a:xfrm>
            <a:off x="9279664" y="5650328"/>
            <a:ext cx="530777" cy="215388"/>
          </a:xfrm>
          <a:prstGeom prst="rect">
            <a:avLst/>
          </a:prstGeom>
          <a:noFill/>
        </p:spPr>
        <p:txBody>
          <a:bodyPr wrap="none" rtlCol="0" anchor="ctr">
            <a:spAutoFit/>
          </a:bodyPr>
          <a:lstStyle/>
          <a:p>
            <a:pPr algn="r" defTabSz="914126"/>
            <a:r>
              <a:rPr lang="en-US" altLang="zh-CN" sz="800" b="1">
                <a:solidFill>
                  <a:srgbClr val="3E8DDD">
                    <a:alpha val="25000"/>
                  </a:srgbClr>
                </a:solidFill>
                <a:latin typeface="Lato" panose="020F0502020204030203" pitchFamily="34" charset="0"/>
                <a:ea typeface="Lato" panose="020F0502020204030203" pitchFamily="34" charset="0"/>
                <a:cs typeface="Lato" panose="020F0502020204030203" pitchFamily="34" charset="0"/>
              </a:rPr>
              <a:t>15.00</a:t>
            </a:r>
            <a:r>
              <a:rPr lang="en-US" altLang="zh-CN" sz="800" b="1">
                <a:solidFill>
                  <a:srgbClr val="000000">
                    <a:alpha val="25000"/>
                  </a:srgbClr>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alpha val="25000"/>
                </a:srgbClr>
              </a:solidFill>
              <a:latin typeface="Lato" panose="020F0502020204030203" pitchFamily="34" charset="0"/>
              <a:ea typeface="黑体" panose="02010609060101010101" pitchFamily="49" charset="-122"/>
              <a:cs typeface="Lato" panose="020F0502020204030203" pitchFamily="34" charset="0"/>
            </a:endParaRPr>
          </a:p>
        </p:txBody>
      </p:sp>
      <p:sp>
        <p:nvSpPr>
          <p:cNvPr id="108" name="文本框 107">
            <a:extLst>
              <a:ext uri="{FF2B5EF4-FFF2-40B4-BE49-F238E27FC236}">
                <a16:creationId xmlns:a16="http://schemas.microsoft.com/office/drawing/2014/main" id="{3864831F-B50F-31B0-BB1E-FE9FF4C75DDF}"/>
              </a:ext>
            </a:extLst>
          </p:cNvPr>
          <p:cNvSpPr txBox="1"/>
          <p:nvPr/>
        </p:nvSpPr>
        <p:spPr>
          <a:xfrm>
            <a:off x="9338960" y="5857771"/>
            <a:ext cx="471480"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09" name="文本框 108">
            <a:extLst>
              <a:ext uri="{FF2B5EF4-FFF2-40B4-BE49-F238E27FC236}">
                <a16:creationId xmlns:a16="http://schemas.microsoft.com/office/drawing/2014/main" id="{6CABCB3D-D4B7-8E69-95E5-395AAA884284}"/>
              </a:ext>
            </a:extLst>
          </p:cNvPr>
          <p:cNvSpPr txBox="1"/>
          <p:nvPr/>
        </p:nvSpPr>
        <p:spPr>
          <a:xfrm>
            <a:off x="8521642" y="6065217"/>
            <a:ext cx="1288799" cy="215388"/>
          </a:xfrm>
          <a:prstGeom prst="rect">
            <a:avLst/>
          </a:prstGeom>
          <a:noFill/>
        </p:spPr>
        <p:txBody>
          <a:bodyPr wrap="none" rtlCol="0" anchor="ctr">
            <a:spAutoFit/>
          </a:bodyPr>
          <a:lstStyle/>
          <a:p>
            <a:pPr algn="r" defTabSz="914126"/>
            <a:r>
              <a:rPr lang="en-US" altLang="zh-CN" sz="800" b="1">
                <a:solidFill>
                  <a:srgbClr val="3E8DDD"/>
                </a:solidFill>
                <a:latin typeface="Lato" panose="020F0502020204030203" pitchFamily="34" charset="0"/>
                <a:ea typeface="Lato" panose="020F0502020204030203" pitchFamily="34" charset="0"/>
                <a:cs typeface="Lato" panose="020F0502020204030203" pitchFamily="34" charset="0"/>
              </a:rPr>
              <a:t>50.00 – 15 - 5</a:t>
            </a:r>
            <a:r>
              <a:rPr lang="en-US" altLang="zh-CN" sz="800" b="1">
                <a:solidFill>
                  <a:srgbClr val="000000"/>
                </a:solidFill>
                <a:latin typeface="Lato" panose="020F0502020204030203" pitchFamily="34" charset="0"/>
                <a:ea typeface="Lato" panose="020F0502020204030203" pitchFamily="34" charset="0"/>
                <a:cs typeface="Lato" panose="020F0502020204030203" pitchFamily="34" charset="0"/>
              </a:rPr>
              <a:t> $ * </a:t>
            </a:r>
            <a:r>
              <a:rPr lang="en-US" altLang="zh-CN" sz="800" b="1" u="sng">
                <a:solidFill>
                  <a:srgbClr val="000000"/>
                </a:solidFill>
                <a:latin typeface="Lato" panose="020F0502020204030203" pitchFamily="34" charset="0"/>
                <a:ea typeface="Lato" panose="020F0502020204030203" pitchFamily="34" charset="0"/>
                <a:cs typeface="Lato" panose="020F0502020204030203" pitchFamily="34" charset="0"/>
              </a:rPr>
              <a:t>10/80</a:t>
            </a:r>
            <a:endParaRPr lang="zh-CN" altLang="en-US" sz="800" b="1">
              <a:solidFill>
                <a:srgbClr val="000000"/>
              </a:solidFill>
              <a:latin typeface="Lato" panose="020F0502020204030203" pitchFamily="34" charset="0"/>
              <a:ea typeface="黑体" panose="02010609060101010101" pitchFamily="49" charset="-122"/>
              <a:cs typeface="Lato" panose="020F0502020204030203" pitchFamily="34" charset="0"/>
            </a:endParaRPr>
          </a:p>
        </p:txBody>
      </p:sp>
      <p:sp>
        <p:nvSpPr>
          <p:cNvPr id="110" name="文本框 109">
            <a:extLst>
              <a:ext uri="{FF2B5EF4-FFF2-40B4-BE49-F238E27FC236}">
                <a16:creationId xmlns:a16="http://schemas.microsoft.com/office/drawing/2014/main" id="{4DC17479-4BC5-277D-85C9-34677B1D4CE8}"/>
              </a:ext>
            </a:extLst>
          </p:cNvPr>
          <p:cNvSpPr txBox="1"/>
          <p:nvPr/>
        </p:nvSpPr>
        <p:spPr>
          <a:xfrm>
            <a:off x="8410133" y="4535426"/>
            <a:ext cx="1678665" cy="246221"/>
          </a:xfrm>
          <a:prstGeom prst="rect">
            <a:avLst/>
          </a:prstGeom>
          <a:noFill/>
        </p:spPr>
        <p:txBody>
          <a:bodyPr wrap="none" rtlCol="0">
            <a:spAutoFit/>
          </a:bodyPr>
          <a:lstStyle/>
          <a:p>
            <a:pPr defTabSz="914126"/>
            <a:r>
              <a:rPr lang="en-US" altLang="zh-CN" sz="1000" b="1">
                <a:solidFill>
                  <a:srgbClr val="000000"/>
                </a:solidFill>
                <a:latin typeface="Tenorite" panose="00000500000000000000" pitchFamily="2" charset="0"/>
                <a:ea typeface="黑体" panose="02010609060101010101" pitchFamily="49" charset="-122"/>
                <a:cs typeface="Arial" pitchFamily="34" charset="0"/>
              </a:rPr>
              <a:t>Revenue Split (Fix for SRV)</a:t>
            </a:r>
            <a:endParaRPr lang="zh-CN" altLang="en-US" sz="1000" b="1">
              <a:solidFill>
                <a:srgbClr val="000000"/>
              </a:solidFill>
              <a:latin typeface="Tenorite" panose="00000500000000000000" pitchFamily="2" charset="0"/>
              <a:ea typeface="黑体" panose="02010609060101010101" pitchFamily="49" charset="-122"/>
              <a:cs typeface="Arial" pitchFamily="34" charset="0"/>
            </a:endParaRPr>
          </a:p>
        </p:txBody>
      </p:sp>
      <p:sp>
        <p:nvSpPr>
          <p:cNvPr id="111" name="矩形: 圆角 110">
            <a:extLst>
              <a:ext uri="{FF2B5EF4-FFF2-40B4-BE49-F238E27FC236}">
                <a16:creationId xmlns:a16="http://schemas.microsoft.com/office/drawing/2014/main" id="{5E6C3D6A-503F-F40B-230E-CE9C2EDFC4B6}"/>
              </a:ext>
            </a:extLst>
          </p:cNvPr>
          <p:cNvSpPr/>
          <p:nvPr/>
        </p:nvSpPr>
        <p:spPr>
          <a:xfrm>
            <a:off x="3547541" y="1999410"/>
            <a:ext cx="563635" cy="4291284"/>
          </a:xfrm>
          <a:prstGeom prst="roundRect">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
        <p:nvSpPr>
          <p:cNvPr id="112" name="矩形: 圆角 111">
            <a:extLst>
              <a:ext uri="{FF2B5EF4-FFF2-40B4-BE49-F238E27FC236}">
                <a16:creationId xmlns:a16="http://schemas.microsoft.com/office/drawing/2014/main" id="{5B4677C4-0BA2-8496-7F25-0E371DD86EFB}"/>
              </a:ext>
            </a:extLst>
          </p:cNvPr>
          <p:cNvSpPr/>
          <p:nvPr/>
        </p:nvSpPr>
        <p:spPr>
          <a:xfrm>
            <a:off x="8486203" y="2293168"/>
            <a:ext cx="1328308" cy="3997526"/>
          </a:xfrm>
          <a:prstGeom prst="roundRect">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
        <p:nvSpPr>
          <p:cNvPr id="8" name="文本框 7">
            <a:extLst>
              <a:ext uri="{FF2B5EF4-FFF2-40B4-BE49-F238E27FC236}">
                <a16:creationId xmlns:a16="http://schemas.microsoft.com/office/drawing/2014/main" id="{6DD33E82-7F00-E199-831E-B0802B2D563D}"/>
              </a:ext>
            </a:extLst>
          </p:cNvPr>
          <p:cNvSpPr txBox="1"/>
          <p:nvPr/>
        </p:nvSpPr>
        <p:spPr>
          <a:xfrm>
            <a:off x="3022215" y="1720137"/>
            <a:ext cx="1164101" cy="246221"/>
          </a:xfrm>
          <a:prstGeom prst="rect">
            <a:avLst/>
          </a:prstGeom>
          <a:noFill/>
        </p:spPr>
        <p:txBody>
          <a:bodyPr wrap="none" rtlCol="0">
            <a:spAutoFit/>
          </a:bodyPr>
          <a:lstStyle/>
          <a:p>
            <a:pPr defTabSz="914126"/>
            <a:r>
              <a:rPr lang="en-US" altLang="zh-CN" sz="1000" b="1">
                <a:solidFill>
                  <a:srgbClr val="000000"/>
                </a:solidFill>
                <a:latin typeface="Tenorite" panose="00000500000000000000" pitchFamily="2" charset="0"/>
                <a:ea typeface="黑体" panose="02010609060101010101" pitchFamily="49" charset="-122"/>
                <a:cs typeface="Arial" pitchFamily="34" charset="0"/>
              </a:rPr>
              <a:t>Average</a:t>
            </a:r>
            <a:r>
              <a:rPr lang="en-US" altLang="zh-CN" sz="1000">
                <a:solidFill>
                  <a:srgbClr val="000000"/>
                </a:solidFill>
                <a:latin typeface="Tenorite" panose="00000500000000000000" pitchFamily="2" charset="0"/>
                <a:ea typeface="黑体" panose="02010609060101010101" pitchFamily="49" charset="-122"/>
                <a:cs typeface="Arial" pitchFamily="34" charset="0"/>
              </a:rPr>
              <a:t> Payment</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47" name="文本框 46">
            <a:extLst>
              <a:ext uri="{FF2B5EF4-FFF2-40B4-BE49-F238E27FC236}">
                <a16:creationId xmlns:a16="http://schemas.microsoft.com/office/drawing/2014/main" id="{BCD4DD69-6C23-B549-E814-141A032A8D00}"/>
              </a:ext>
            </a:extLst>
          </p:cNvPr>
          <p:cNvSpPr txBox="1"/>
          <p:nvPr/>
        </p:nvSpPr>
        <p:spPr>
          <a:xfrm>
            <a:off x="413489" y="603840"/>
            <a:ext cx="9032779" cy="830997"/>
          </a:xfrm>
          <a:prstGeom prst="rect">
            <a:avLst/>
          </a:prstGeom>
          <a:noFill/>
        </p:spPr>
        <p:txBody>
          <a:bodyPr wrap="square" rtlCol="0">
            <a:spAutoFit/>
          </a:bodyPr>
          <a:lstStyle/>
          <a:p>
            <a:pPr marL="228600" indent="-228600" defTabSz="1218987">
              <a:buFont typeface="Wingdings" panose="05000000000000000000" pitchFamily="2" charset="2"/>
              <a:buChar char="Ø"/>
            </a:pPr>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Downpayment for All Bundle Items: </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Split to revenue based on the price percentage of each bundle item for both downpayment and monthly/quarterly payment.</a:t>
            </a:r>
          </a:p>
          <a:p>
            <a:pPr marL="228600" indent="-228600" defTabSz="1218987">
              <a:buFont typeface="Wingdings" panose="05000000000000000000" pitchFamily="2" charset="2"/>
              <a:buChar char="Ø"/>
            </a:pPr>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Downpayment for Funded Items: </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Funded items use price percentage for revenue split; Not funded service use the fix monthly/quarterly price for revenue split. </a:t>
            </a:r>
          </a:p>
        </p:txBody>
      </p:sp>
      <p:sp>
        <p:nvSpPr>
          <p:cNvPr id="113" name="文本框 112">
            <a:extLst>
              <a:ext uri="{FF2B5EF4-FFF2-40B4-BE49-F238E27FC236}">
                <a16:creationId xmlns:a16="http://schemas.microsoft.com/office/drawing/2014/main" id="{B806378E-868F-A884-1713-8C9FF03A543E}"/>
              </a:ext>
            </a:extLst>
          </p:cNvPr>
          <p:cNvSpPr txBox="1"/>
          <p:nvPr/>
        </p:nvSpPr>
        <p:spPr>
          <a:xfrm>
            <a:off x="2993780" y="4212003"/>
            <a:ext cx="1220206" cy="246221"/>
          </a:xfrm>
          <a:prstGeom prst="rect">
            <a:avLst/>
          </a:prstGeom>
          <a:noFill/>
        </p:spPr>
        <p:txBody>
          <a:bodyPr wrap="none" rtlCol="0">
            <a:spAutoFit/>
          </a:bodyPr>
          <a:lstStyle/>
          <a:p>
            <a:pPr defTabSz="914126"/>
            <a:r>
              <a:rPr lang="en-US" altLang="zh-CN" sz="1000">
                <a:solidFill>
                  <a:srgbClr val="000000"/>
                </a:solidFill>
                <a:latin typeface="Tenorite" panose="00000500000000000000" pitchFamily="2" charset="0"/>
                <a:ea typeface="黑体" panose="02010609060101010101" pitchFamily="49" charset="-122"/>
                <a:cs typeface="Arial" pitchFamily="34" charset="0"/>
              </a:rPr>
              <a:t>Standard Payment</a:t>
            </a:r>
            <a:endParaRPr lang="zh-CN" altLang="en-US" sz="1000">
              <a:solidFill>
                <a:srgbClr val="000000"/>
              </a:solidFill>
              <a:latin typeface="Tenorite" panose="00000500000000000000" pitchFamily="2" charset="0"/>
              <a:ea typeface="黑体" panose="02010609060101010101" pitchFamily="49" charset="-122"/>
              <a:cs typeface="Arial" pitchFamily="34" charset="0"/>
            </a:endParaRPr>
          </a:p>
        </p:txBody>
      </p:sp>
      <p:sp>
        <p:nvSpPr>
          <p:cNvPr id="115" name="矩形: 圆角 114">
            <a:extLst>
              <a:ext uri="{FF2B5EF4-FFF2-40B4-BE49-F238E27FC236}">
                <a16:creationId xmlns:a16="http://schemas.microsoft.com/office/drawing/2014/main" id="{B9FAC2D9-E76D-0DEB-F7D1-866FB36094D3}"/>
              </a:ext>
            </a:extLst>
          </p:cNvPr>
          <p:cNvSpPr/>
          <p:nvPr/>
        </p:nvSpPr>
        <p:spPr>
          <a:xfrm>
            <a:off x="5796523" y="2334926"/>
            <a:ext cx="1005312" cy="3955768"/>
          </a:xfrm>
          <a:prstGeom prst="roundRect">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defTabSz="914126"/>
            <a:endParaRPr lang="zh-CN" altLang="en-US" sz="1200" b="1">
              <a:solidFill>
                <a:srgbClr val="000000"/>
              </a:solidFill>
              <a:latin typeface="Tenorite" panose="00000500000000000000" pitchFamily="2" charset="0"/>
              <a:ea typeface="黑体" panose="02010609060101010101" pitchFamily="49" charset="-122"/>
            </a:endParaRPr>
          </a:p>
        </p:txBody>
      </p:sp>
    </p:spTree>
    <p:extLst>
      <p:ext uri="{BB962C8B-B14F-4D97-AF65-F5344CB8AC3E}">
        <p14:creationId xmlns:p14="http://schemas.microsoft.com/office/powerpoint/2010/main" val="2308163468"/>
      </p:ext>
    </p:extLst>
  </p:cSld>
  <p:clrMapOvr>
    <a:masterClrMapping/>
  </p:clrMapOvr>
  <p:transition>
    <p:fade/>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C7B001-9C8D-3D49-6AC8-5FB78E2F8EC4}"/>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4D1BED02-BE10-12EB-5778-9CA9250FF921}"/>
              </a:ext>
            </a:extLst>
          </p:cNvPr>
          <p:cNvSpPr txBox="1">
            <a:spLocks/>
          </p:cNvSpPr>
          <p:nvPr/>
        </p:nvSpPr>
        <p:spPr>
          <a:xfrm>
            <a:off x="158049" y="248129"/>
            <a:ext cx="11594214"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–CMR of monthly billing </a:t>
            </a:r>
          </a:p>
        </p:txBody>
      </p:sp>
      <p:sp>
        <p:nvSpPr>
          <p:cNvPr id="3" name="Slide Number Placeholder 4">
            <a:extLst>
              <a:ext uri="{FF2B5EF4-FFF2-40B4-BE49-F238E27FC236}">
                <a16:creationId xmlns:a16="http://schemas.microsoft.com/office/drawing/2014/main" id="{2C39C1F3-17CA-ECF4-FA2D-141D13772E32}"/>
              </a:ext>
            </a:extLst>
          </p:cNvPr>
          <p:cNvSpPr txBox="1">
            <a:spLocks/>
          </p:cNvSpPr>
          <p:nvPr/>
        </p:nvSpPr>
        <p:spPr>
          <a:xfrm>
            <a:off x="12514263" y="61976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151</a:t>
            </a:fld>
            <a:endParaRPr lang="en-US">
              <a:solidFill>
                <a:srgbClr val="000000"/>
              </a:solidFill>
            </a:endParaRPr>
          </a:p>
        </p:txBody>
      </p:sp>
      <p:graphicFrame>
        <p:nvGraphicFramePr>
          <p:cNvPr id="5" name="表格 4">
            <a:extLst>
              <a:ext uri="{FF2B5EF4-FFF2-40B4-BE49-F238E27FC236}">
                <a16:creationId xmlns:a16="http://schemas.microsoft.com/office/drawing/2014/main" id="{6636E9FA-2E4F-18EE-9658-30C34854EA82}"/>
              </a:ext>
            </a:extLst>
          </p:cNvPr>
          <p:cNvGraphicFramePr>
            <a:graphicFrameLocks noGrp="1"/>
          </p:cNvGraphicFramePr>
          <p:nvPr>
            <p:extLst>
              <p:ext uri="{D42A27DB-BD31-4B8C-83A1-F6EECF244321}">
                <p14:modId xmlns:p14="http://schemas.microsoft.com/office/powerpoint/2010/main" val="67832974"/>
              </p:ext>
            </p:extLst>
          </p:nvPr>
        </p:nvGraphicFramePr>
        <p:xfrm>
          <a:off x="1375565" y="2991377"/>
          <a:ext cx="8349174" cy="3124776"/>
        </p:xfrm>
        <a:graphic>
          <a:graphicData uri="http://schemas.openxmlformats.org/drawingml/2006/table">
            <a:tbl>
              <a:tblPr/>
              <a:tblGrid>
                <a:gridCol w="633643">
                  <a:extLst>
                    <a:ext uri="{9D8B030D-6E8A-4147-A177-3AD203B41FA5}">
                      <a16:colId xmlns:a16="http://schemas.microsoft.com/office/drawing/2014/main" val="1223615466"/>
                    </a:ext>
                  </a:extLst>
                </a:gridCol>
                <a:gridCol w="933172">
                  <a:extLst>
                    <a:ext uri="{9D8B030D-6E8A-4147-A177-3AD203B41FA5}">
                      <a16:colId xmlns:a16="http://schemas.microsoft.com/office/drawing/2014/main" val="2919641517"/>
                    </a:ext>
                  </a:extLst>
                </a:gridCol>
                <a:gridCol w="418254">
                  <a:extLst>
                    <a:ext uri="{9D8B030D-6E8A-4147-A177-3AD203B41FA5}">
                      <a16:colId xmlns:a16="http://schemas.microsoft.com/office/drawing/2014/main" val="531832058"/>
                    </a:ext>
                  </a:extLst>
                </a:gridCol>
                <a:gridCol w="623515">
                  <a:extLst>
                    <a:ext uri="{9D8B030D-6E8A-4147-A177-3AD203B41FA5}">
                      <a16:colId xmlns:a16="http://schemas.microsoft.com/office/drawing/2014/main" val="1680926291"/>
                    </a:ext>
                  </a:extLst>
                </a:gridCol>
                <a:gridCol w="560568">
                  <a:extLst>
                    <a:ext uri="{9D8B030D-6E8A-4147-A177-3AD203B41FA5}">
                      <a16:colId xmlns:a16="http://schemas.microsoft.com/office/drawing/2014/main" val="3740347969"/>
                    </a:ext>
                  </a:extLst>
                </a:gridCol>
                <a:gridCol w="560568">
                  <a:extLst>
                    <a:ext uri="{9D8B030D-6E8A-4147-A177-3AD203B41FA5}">
                      <a16:colId xmlns:a16="http://schemas.microsoft.com/office/drawing/2014/main" val="3624190083"/>
                    </a:ext>
                  </a:extLst>
                </a:gridCol>
                <a:gridCol w="659922">
                  <a:extLst>
                    <a:ext uri="{9D8B030D-6E8A-4147-A177-3AD203B41FA5}">
                      <a16:colId xmlns:a16="http://schemas.microsoft.com/office/drawing/2014/main" val="1083414609"/>
                    </a:ext>
                  </a:extLst>
                </a:gridCol>
                <a:gridCol w="659922">
                  <a:extLst>
                    <a:ext uri="{9D8B030D-6E8A-4147-A177-3AD203B41FA5}">
                      <a16:colId xmlns:a16="http://schemas.microsoft.com/office/drawing/2014/main" val="4018705919"/>
                    </a:ext>
                  </a:extLst>
                </a:gridCol>
                <a:gridCol w="663919">
                  <a:extLst>
                    <a:ext uri="{9D8B030D-6E8A-4147-A177-3AD203B41FA5}">
                      <a16:colId xmlns:a16="http://schemas.microsoft.com/office/drawing/2014/main" val="2242117723"/>
                    </a:ext>
                  </a:extLst>
                </a:gridCol>
                <a:gridCol w="884913">
                  <a:extLst>
                    <a:ext uri="{9D8B030D-6E8A-4147-A177-3AD203B41FA5}">
                      <a16:colId xmlns:a16="http://schemas.microsoft.com/office/drawing/2014/main" val="1308578556"/>
                    </a:ext>
                  </a:extLst>
                </a:gridCol>
                <a:gridCol w="430934">
                  <a:extLst>
                    <a:ext uri="{9D8B030D-6E8A-4147-A177-3AD203B41FA5}">
                      <a16:colId xmlns:a16="http://schemas.microsoft.com/office/drawing/2014/main" val="1191152152"/>
                    </a:ext>
                  </a:extLst>
                </a:gridCol>
                <a:gridCol w="659922">
                  <a:extLst>
                    <a:ext uri="{9D8B030D-6E8A-4147-A177-3AD203B41FA5}">
                      <a16:colId xmlns:a16="http://schemas.microsoft.com/office/drawing/2014/main" val="3910769529"/>
                    </a:ext>
                  </a:extLst>
                </a:gridCol>
                <a:gridCol w="659922">
                  <a:extLst>
                    <a:ext uri="{9D8B030D-6E8A-4147-A177-3AD203B41FA5}">
                      <a16:colId xmlns:a16="http://schemas.microsoft.com/office/drawing/2014/main" val="3395476477"/>
                    </a:ext>
                  </a:extLst>
                </a:gridCol>
              </a:tblGrid>
              <a:tr h="391959">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Device Type</a:t>
                      </a:r>
                    </a:p>
                  </a:txBody>
                  <a:tcPr marL="0" marR="0" marT="0"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Line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Funding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Average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t>
                      </a: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34</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 billing</a:t>
                      </a:r>
                    </a:p>
                  </a:txBody>
                  <a:tcPr marL="0" marR="0" marT="0"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gridSpan="2">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hMerge="1">
                  <a:txBody>
                    <a:bodyPr/>
                    <a:lstStyle/>
                    <a:p>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Overbilled balance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tc rowSpan="2">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34</a:t>
                      </a:r>
                      <a:r>
                        <a:rPr lang="en-US" altLang="zh-CN"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CMR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46C8E1"/>
                    </a:solidFill>
                  </a:tcPr>
                </a:tc>
                <a:tc gridSpan="2">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 </a:t>
                      </a:r>
                    </a:p>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of CMR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hMerge="1">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extLst>
                  <a:ext uri="{0D108BD9-81ED-4DB2-BD59-A6C34878D82A}">
                    <a16:rowId xmlns:a16="http://schemas.microsoft.com/office/drawing/2014/main" val="2450389415"/>
                  </a:ext>
                </a:extLst>
              </a:tr>
              <a:tr h="391959">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mpd="sng">
                      <a:noFill/>
                      <a:prstDash val="soli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Downpayment-</a:t>
                      </a:r>
                      <a:r>
                        <a:rPr lang="en-US" altLang="zh-CN" sz="900" b="1" u="none" strike="noStrike" kern="1200" err="1">
                          <a:solidFill>
                            <a:schemeClr val="lt1"/>
                          </a:solidFill>
                          <a:effectLst/>
                          <a:latin typeface="Lato" panose="020F0502020204030203" pitchFamily="34" charset="0"/>
                          <a:ea typeface="Lato" panose="020F0502020204030203" pitchFamily="34" charset="0"/>
                          <a:cs typeface="Lato" panose="020F0502020204030203" pitchFamily="34" charset="0"/>
                        </a:rPr>
                        <a:t>Sum.variance</a:t>
                      </a: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accent2"/>
                    </a:solidFill>
                  </a:tcPr>
                </a:tc>
                <a:tc vMerge="1">
                  <a:txBody>
                    <a:bodyPr/>
                    <a:lstStyle/>
                    <a:p>
                      <a:pPr marL="0" algn="ctr" defTabSz="1218621" rtl="0" eaLnBrk="1" fontAlgn="ctr" latinLnBrk="0" hangingPunct="1">
                        <a:buNone/>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val="2365377180"/>
                  </a:ext>
                </a:extLst>
              </a:tr>
              <a:tr h="351876">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NB TP T14 G3 I5 16G 256G 11P</a:t>
                      </a: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Downpayment for All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prstDash val="soli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841195480"/>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67.5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lang="en-US" altLang="zh-CN" sz="900" b="0" u="none" strike="noStrike" kern="1200" noProof="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2905223256"/>
                  </a:ext>
                </a:extLst>
              </a:tr>
              <a:tr h="310118">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Premier Support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22361554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Configuration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64010382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Deployment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134390990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Managed Service (Future)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388650791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Asset Recovery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4037216401"/>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Accessory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4147581611"/>
                  </a:ext>
                </a:extLst>
              </a:tr>
            </a:tbl>
          </a:graphicData>
        </a:graphic>
      </p:graphicFrame>
      <p:sp>
        <p:nvSpPr>
          <p:cNvPr id="12" name="文本框 11">
            <a:extLst>
              <a:ext uri="{FF2B5EF4-FFF2-40B4-BE49-F238E27FC236}">
                <a16:creationId xmlns:a16="http://schemas.microsoft.com/office/drawing/2014/main" id="{B106F079-10C5-EFA5-4329-32711F0B8279}"/>
              </a:ext>
            </a:extLst>
          </p:cNvPr>
          <p:cNvSpPr txBox="1"/>
          <p:nvPr/>
        </p:nvSpPr>
        <p:spPr>
          <a:xfrm>
            <a:off x="387255" y="953136"/>
            <a:ext cx="10108026" cy="1754326"/>
          </a:xfrm>
          <a:prstGeom prst="rect">
            <a:avLst/>
          </a:prstGeom>
          <a:noFill/>
        </p:spPr>
        <p:txBody>
          <a:bodyPr wrap="square" rtlCol="0">
            <a:spAutoFit/>
          </a:bodyPr>
          <a:lstStyle/>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Business nature</a:t>
            </a:r>
            <a:r>
              <a:rPr lang="zh-CN" altLang="en-US" sz="1200" b="1">
                <a:latin typeface="Lato" panose="020F0502020204030203" pitchFamily="34" charset="0"/>
                <a:ea typeface="Lato" panose="020F0502020204030203" pitchFamily="34" charset="0"/>
                <a:cs typeface="Lato" panose="020F0502020204030203" pitchFamily="34" charset="0"/>
              </a:rPr>
              <a:t>：</a:t>
            </a:r>
            <a:r>
              <a:rPr lang="en-US" altLang="zh-CN" sz="1200" b="1">
                <a:latin typeface="Lato" panose="020F0502020204030203" pitchFamily="34" charset="0"/>
                <a:ea typeface="Lato" panose="020F0502020204030203" pitchFamily="34" charset="0"/>
                <a:cs typeface="Lato" panose="020F0502020204030203" pitchFamily="34" charset="0"/>
              </a:rPr>
              <a:t>1. </a:t>
            </a:r>
            <a:r>
              <a:rPr lang="en-US" sz="1200">
                <a:latin typeface="Lato" panose="020F0502020204030203" pitchFamily="34" charset="0"/>
                <a:ea typeface="Lato" panose="020F0502020204030203" pitchFamily="34" charset="0"/>
                <a:cs typeface="Lato" panose="020F0502020204030203" pitchFamily="34" charset="0"/>
              </a:rPr>
              <a:t>Miss SLA--a service fails to meet the agreed SLA.</a:t>
            </a:r>
            <a:r>
              <a:rPr lang="zh-CN" altLang="en-US" sz="1200">
                <a:latin typeface="Lato" panose="020F0502020204030203" pitchFamily="34" charset="0"/>
                <a:ea typeface="Lato" panose="020F0502020204030203" pitchFamily="34" charset="0"/>
                <a:cs typeface="Lato" panose="020F0502020204030203" pitchFamily="34" charset="0"/>
              </a:rPr>
              <a:t> </a:t>
            </a:r>
            <a:r>
              <a:rPr lang="en-US" altLang="zh-CN" sz="1200">
                <a:latin typeface="Lato" panose="020F0502020204030203" pitchFamily="34" charset="0"/>
                <a:ea typeface="Lato" panose="020F0502020204030203" pitchFamily="34" charset="0"/>
                <a:cs typeface="Lato" panose="020F0502020204030203" pitchFamily="34" charset="0"/>
              </a:rPr>
              <a:t>Front end will make a partial offset on a specific service item.</a:t>
            </a:r>
          </a:p>
          <a:p>
            <a:r>
              <a:rPr lang="en-US" altLang="zh-CN" sz="1200">
                <a:latin typeface="Lato" panose="020F0502020204030203" pitchFamily="34" charset="0"/>
                <a:ea typeface="Lato" panose="020F0502020204030203" pitchFamily="34" charset="0"/>
                <a:cs typeface="Lato" panose="020F0502020204030203" pitchFamily="34" charset="0"/>
              </a:rPr>
              <a:t>                                     2. Issue an incorrect invoice( i.e. tax calculation error), will fully reverse and recalculate, then issue a correct invoice.</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Assumption:  </a:t>
            </a:r>
            <a:r>
              <a:rPr lang="en-US" altLang="zh-CN" sz="1200">
                <a:latin typeface="Lato" panose="020F0502020204030203" pitchFamily="34" charset="0"/>
                <a:ea typeface="Lato" panose="020F0502020204030203" pitchFamily="34" charset="0"/>
                <a:cs typeface="Lato" panose="020F0502020204030203" pitchFamily="34" charset="0"/>
              </a:rPr>
              <a:t>1. Partial CMR is raised at the </a:t>
            </a:r>
            <a:r>
              <a:rPr lang="en-US" altLang="zh-CN" sz="1200" b="1">
                <a:latin typeface="Lato" panose="020F0502020204030203" pitchFamily="34" charset="0"/>
                <a:ea typeface="Lato" panose="020F0502020204030203" pitchFamily="34" charset="0"/>
                <a:cs typeface="Lato" panose="020F0502020204030203" pitchFamily="34" charset="0"/>
              </a:rPr>
              <a:t>service</a:t>
            </a:r>
            <a:r>
              <a:rPr lang="en-US" altLang="zh-CN" sz="1200">
                <a:latin typeface="Lato" panose="020F0502020204030203" pitchFamily="34" charset="0"/>
                <a:ea typeface="Lato" panose="020F0502020204030203" pitchFamily="34" charset="0"/>
                <a:cs typeface="Lato" panose="020F0502020204030203" pitchFamily="34" charset="0"/>
              </a:rPr>
              <a:t> item level</a:t>
            </a:r>
          </a:p>
          <a:p>
            <a:r>
              <a:rPr lang="en-US" altLang="zh-CN" sz="1200">
                <a:latin typeface="Lato" panose="020F0502020204030203" pitchFamily="34" charset="0"/>
                <a:ea typeface="Lato" panose="020F0502020204030203" pitchFamily="34" charset="0"/>
                <a:cs typeface="Lato" panose="020F0502020204030203" pitchFamily="34" charset="0"/>
              </a:rPr>
              <a:t>                             2. </a:t>
            </a:r>
            <a:r>
              <a:rPr lang="en-US" altLang="zh-CN" sz="1200" b="1">
                <a:latin typeface="Lato" panose="020F0502020204030203" pitchFamily="34" charset="0"/>
                <a:ea typeface="Lato" panose="020F0502020204030203" pitchFamily="34" charset="0"/>
                <a:cs typeface="Lato" panose="020F0502020204030203" pitchFamily="34" charset="0"/>
              </a:rPr>
              <a:t>Not</a:t>
            </a:r>
            <a:r>
              <a:rPr lang="en-US" altLang="zh-CN" sz="1200">
                <a:latin typeface="Lato" panose="020F0502020204030203" pitchFamily="34" charset="0"/>
                <a:ea typeface="Lato" panose="020F0502020204030203" pitchFamily="34" charset="0"/>
                <a:cs typeface="Lato" panose="020F0502020204030203" pitchFamily="34" charset="0"/>
              </a:rPr>
              <a:t> affect the funded hardware item in the bundle</a:t>
            </a:r>
          </a:p>
          <a:p>
            <a:r>
              <a:rPr lang="en-US" altLang="zh-CN" sz="1200">
                <a:latin typeface="Lato" panose="020F0502020204030203" pitchFamily="34" charset="0"/>
                <a:ea typeface="Lato" panose="020F0502020204030203" pitchFamily="34" charset="0"/>
                <a:cs typeface="Lato" panose="020F0502020204030203" pitchFamily="34" charset="0"/>
              </a:rPr>
              <a:t>                             3. </a:t>
            </a:r>
            <a:r>
              <a:rPr lang="en-US" altLang="zh-CN" sz="1200" b="1">
                <a:latin typeface="Lato" panose="020F0502020204030203" pitchFamily="34" charset="0"/>
                <a:ea typeface="Lato" panose="020F0502020204030203" pitchFamily="34" charset="0"/>
                <a:cs typeface="Lato" panose="020F0502020204030203" pitchFamily="34" charset="0"/>
              </a:rPr>
              <a:t>Not</a:t>
            </a:r>
            <a:r>
              <a:rPr lang="en-US" altLang="zh-CN" sz="1200">
                <a:latin typeface="Lato" panose="020F0502020204030203" pitchFamily="34" charset="0"/>
                <a:ea typeface="Lato" panose="020F0502020204030203" pitchFamily="34" charset="0"/>
                <a:cs typeface="Lato" panose="020F0502020204030203" pitchFamily="34" charset="0"/>
              </a:rPr>
              <a:t> affect the already finalized structure payment</a:t>
            </a:r>
          </a:p>
          <a:p>
            <a:r>
              <a:rPr lang="en-US" altLang="zh-CN" sz="1200">
                <a:latin typeface="Lato" panose="020F0502020204030203" pitchFamily="34" charset="0"/>
                <a:ea typeface="Lato" panose="020F0502020204030203" pitchFamily="34" charset="0"/>
                <a:cs typeface="Lato" panose="020F0502020204030203" pitchFamily="34" charset="0"/>
              </a:rPr>
              <a:t>                             4. </a:t>
            </a:r>
            <a:r>
              <a:rPr lang="en-US" altLang="zh-CN" sz="1200" b="1">
                <a:latin typeface="Lato" panose="020F0502020204030203" pitchFamily="34" charset="0"/>
                <a:ea typeface="Lato" panose="020F0502020204030203" pitchFamily="34" charset="0"/>
                <a:cs typeface="Lato" panose="020F0502020204030203" pitchFamily="34" charset="0"/>
              </a:rPr>
              <a:t>Not</a:t>
            </a:r>
            <a:r>
              <a:rPr lang="en-US" altLang="zh-CN" sz="1200">
                <a:latin typeface="Lato" panose="020F0502020204030203" pitchFamily="34" charset="0"/>
                <a:ea typeface="Lato" panose="020F0502020204030203" pitchFamily="34" charset="0"/>
                <a:cs typeface="Lato" panose="020F0502020204030203" pitchFamily="34" charset="0"/>
              </a:rPr>
              <a:t> affect the average payment/ standard payment</a:t>
            </a:r>
          </a:p>
          <a:p>
            <a:r>
              <a:rPr lang="en-US" altLang="zh-CN" sz="1200">
                <a:latin typeface="Lato" panose="020F0502020204030203" pitchFamily="34" charset="0"/>
                <a:ea typeface="Lato" panose="020F0502020204030203" pitchFamily="34" charset="0"/>
                <a:cs typeface="Lato" panose="020F0502020204030203" pitchFamily="34" charset="0"/>
              </a:rPr>
              <a:t>                             5. Partial CMR must be recognized in the period in which it occurs.</a:t>
            </a:r>
          </a:p>
          <a:p>
            <a:r>
              <a:rPr lang="en-US" altLang="zh-CN" sz="1200">
                <a:latin typeface="Lato" panose="020F0502020204030203" pitchFamily="34" charset="0"/>
                <a:ea typeface="Lato" panose="020F0502020204030203" pitchFamily="34" charset="0"/>
                <a:cs typeface="Lato" panose="020F0502020204030203" pitchFamily="34" charset="0"/>
              </a:rPr>
              <a:t>                             6. </a:t>
            </a:r>
            <a:r>
              <a:rPr lang="en-US" altLang="zh-CN" sz="1200" strike="sngStrike">
                <a:latin typeface="Lato" panose="020F0502020204030203" pitchFamily="34" charset="0"/>
                <a:ea typeface="Lato" panose="020F0502020204030203" pitchFamily="34" charset="0"/>
                <a:cs typeface="Lato" panose="020F0502020204030203" pitchFamily="34" charset="0"/>
              </a:rPr>
              <a:t>Miss SLA flag passed from the upstream system to FI system.</a:t>
            </a:r>
          </a:p>
          <a:p>
            <a:r>
              <a:rPr lang="en-US" altLang="zh-CN" sz="1200">
                <a:latin typeface="Lato" panose="020F0502020204030203" pitchFamily="34" charset="0"/>
                <a:ea typeface="Lato" panose="020F0502020204030203" pitchFamily="34" charset="0"/>
                <a:cs typeface="Lato" panose="020F0502020204030203" pitchFamily="34" charset="0"/>
              </a:rPr>
              <a:t>                             7. Front–end need to provide PN level CMR information.</a:t>
            </a:r>
          </a:p>
        </p:txBody>
      </p:sp>
      <p:sp>
        <p:nvSpPr>
          <p:cNvPr id="14" name="对话气泡: 矩形 13">
            <a:extLst>
              <a:ext uri="{FF2B5EF4-FFF2-40B4-BE49-F238E27FC236}">
                <a16:creationId xmlns:a16="http://schemas.microsoft.com/office/drawing/2014/main" id="{32F29355-2051-668B-1B07-079ACF88DBA8}"/>
              </a:ext>
            </a:extLst>
          </p:cNvPr>
          <p:cNvSpPr/>
          <p:nvPr/>
        </p:nvSpPr>
        <p:spPr>
          <a:xfrm>
            <a:off x="8467304" y="1886684"/>
            <a:ext cx="2691857" cy="623562"/>
          </a:xfrm>
          <a:prstGeom prst="wedgeRectCallout">
            <a:avLst>
              <a:gd name="adj1" fmla="val -40665"/>
              <a:gd name="adj2" fmla="val 11496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latin typeface="Lato" panose="020F0502020204030203" pitchFamily="34" charset="0"/>
                <a:ea typeface="Lato" panose="020F0502020204030203" pitchFamily="34" charset="0"/>
                <a:cs typeface="Lato" panose="020F0502020204030203" pitchFamily="34" charset="0"/>
              </a:rPr>
              <a:t>Partial CMR of monthly need to be recognized negative immediate revenue in the current period.</a:t>
            </a:r>
            <a:endParaRPr lang="en-US" altLang="zh-CN" sz="1200">
              <a:solidFill>
                <a:srgbClr val="000000"/>
              </a:solidFill>
              <a:latin typeface="Lato" panose="020F0502020204030203" pitchFamily="34" charset="0"/>
              <a:ea typeface="Lato" panose="020F0502020204030203" pitchFamily="34" charset="0"/>
              <a:cs typeface="Lato" panose="020F0502020204030203" pitchFamily="34" charset="0"/>
            </a:endParaRPr>
          </a:p>
        </p:txBody>
      </p:sp>
      <p:graphicFrame>
        <p:nvGraphicFramePr>
          <p:cNvPr id="2" name="Table 1">
            <a:extLst>
              <a:ext uri="{FF2B5EF4-FFF2-40B4-BE49-F238E27FC236}">
                <a16:creationId xmlns:a16="http://schemas.microsoft.com/office/drawing/2014/main" id="{486065B3-A2FD-E1DF-41C3-DCA219EFDE93}"/>
              </a:ext>
            </a:extLst>
          </p:cNvPr>
          <p:cNvGraphicFramePr>
            <a:graphicFrameLocks noGrp="1"/>
          </p:cNvGraphicFramePr>
          <p:nvPr>
            <p:extLst>
              <p:ext uri="{D42A27DB-BD31-4B8C-83A1-F6EECF244321}">
                <p14:modId xmlns:p14="http://schemas.microsoft.com/office/powerpoint/2010/main" val="1665408239"/>
              </p:ext>
            </p:extLst>
          </p:nvPr>
        </p:nvGraphicFramePr>
        <p:xfrm>
          <a:off x="9724739" y="2991377"/>
          <a:ext cx="884913" cy="3124774"/>
        </p:xfrm>
        <a:graphic>
          <a:graphicData uri="http://schemas.openxmlformats.org/drawingml/2006/table">
            <a:tbl>
              <a:tblPr/>
              <a:tblGrid>
                <a:gridCol w="884913">
                  <a:extLst>
                    <a:ext uri="{9D8B030D-6E8A-4147-A177-3AD203B41FA5}">
                      <a16:colId xmlns:a16="http://schemas.microsoft.com/office/drawing/2014/main" val="3492797171"/>
                    </a:ext>
                  </a:extLst>
                </a:gridCol>
              </a:tblGrid>
              <a:tr h="406655">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Overbilled balance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3293287997"/>
                  </a:ext>
                </a:extLst>
              </a:tr>
              <a:tr h="406655">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Downpayment-</a:t>
                      </a:r>
                      <a:r>
                        <a:rPr lang="en-US" altLang="zh-CN" sz="900" b="1" u="none" strike="noStrike" kern="1200" err="1">
                          <a:solidFill>
                            <a:schemeClr val="lt1"/>
                          </a:solidFill>
                          <a:effectLst/>
                          <a:latin typeface="Lato" panose="020F0502020204030203" pitchFamily="34" charset="0"/>
                          <a:ea typeface="Lato" panose="020F0502020204030203" pitchFamily="34" charset="0"/>
                          <a:cs typeface="Lato" panose="020F0502020204030203" pitchFamily="34" charset="0"/>
                        </a:rPr>
                        <a:t>Sum.variance</a:t>
                      </a: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272697345"/>
                  </a:ext>
                </a:extLst>
              </a:tr>
              <a:tr h="365069">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prstDash val="soli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940638841"/>
                  </a:ext>
                </a:extLst>
              </a:tr>
              <a:tr h="270775">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lang="en-US" altLang="zh-CN" sz="900" b="0" u="none" strike="noStrike" kern="1200" noProof="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661332178"/>
                  </a:ext>
                </a:extLst>
              </a:tr>
              <a:tr h="321745">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277245741"/>
                  </a:ext>
                </a:extLst>
              </a:tr>
              <a:tr h="270775">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896581428"/>
                  </a:ext>
                </a:extLst>
              </a:tr>
              <a:tr h="270775">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736341821"/>
                  </a:ext>
                </a:extLst>
              </a:tr>
              <a:tr h="270775">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02476137"/>
                  </a:ext>
                </a:extLst>
              </a:tr>
              <a:tr h="270775">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75153646"/>
                  </a:ext>
                </a:extLst>
              </a:tr>
              <a:tr h="270775">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256177647"/>
                  </a:ext>
                </a:extLst>
              </a:tr>
            </a:tbl>
          </a:graphicData>
        </a:graphic>
      </p:graphicFrame>
      <p:sp>
        <p:nvSpPr>
          <p:cNvPr id="7" name="Flowchart: Alternate Process 6">
            <a:extLst>
              <a:ext uri="{FF2B5EF4-FFF2-40B4-BE49-F238E27FC236}">
                <a16:creationId xmlns:a16="http://schemas.microsoft.com/office/drawing/2014/main" id="{41D01631-63DA-BECE-297F-23BA4D794E30}"/>
              </a:ext>
            </a:extLst>
          </p:cNvPr>
          <p:cNvSpPr/>
          <p:nvPr/>
        </p:nvSpPr>
        <p:spPr>
          <a:xfrm>
            <a:off x="7921487" y="2892287"/>
            <a:ext cx="2763078" cy="3223864"/>
          </a:xfrm>
          <a:prstGeom prst="flowChartAlternateProcess">
            <a:avLst/>
          </a:prstGeom>
          <a:noFill/>
          <a:ln w="28575">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en-US" sz="1200" b="1">
              <a:solidFill>
                <a:schemeClr val="tx1"/>
              </a:solidFill>
              <a:latin typeface="Tenorite" panose="00000500000000000000" pitchFamily="2" charset="0"/>
            </a:endParaRPr>
          </a:p>
        </p:txBody>
      </p:sp>
    </p:spTree>
    <p:extLst>
      <p:ext uri="{BB962C8B-B14F-4D97-AF65-F5344CB8AC3E}">
        <p14:creationId xmlns:p14="http://schemas.microsoft.com/office/powerpoint/2010/main" val="2593342307"/>
      </p:ext>
    </p:extLst>
  </p:cSld>
  <p:clrMapOvr>
    <a:masterClrMapping/>
  </p:clrMapOvr>
  <p:transition>
    <p:fade/>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26F747-C5B0-51D7-F90B-75D956CBA4B8}"/>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827918A6-ED4F-1431-4B18-D0AE9E83F430}"/>
              </a:ext>
            </a:extLst>
          </p:cNvPr>
          <p:cNvSpPr txBox="1">
            <a:spLocks/>
          </p:cNvSpPr>
          <p:nvPr/>
        </p:nvSpPr>
        <p:spPr>
          <a:xfrm>
            <a:off x="213472" y="457526"/>
            <a:ext cx="11594214"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 Monthly vs. Average Payment Comparison</a:t>
            </a:r>
          </a:p>
        </p:txBody>
      </p:sp>
      <p:sp>
        <p:nvSpPr>
          <p:cNvPr id="3" name="Slide Number Placeholder 4">
            <a:extLst>
              <a:ext uri="{FF2B5EF4-FFF2-40B4-BE49-F238E27FC236}">
                <a16:creationId xmlns:a16="http://schemas.microsoft.com/office/drawing/2014/main" id="{0BE66935-A3E8-F58B-5FB1-DE324A1672AE}"/>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152</a:t>
            </a:fld>
            <a:endParaRPr lang="en-US">
              <a:solidFill>
                <a:srgbClr val="000000"/>
              </a:solidFill>
            </a:endParaRPr>
          </a:p>
        </p:txBody>
      </p:sp>
      <p:graphicFrame>
        <p:nvGraphicFramePr>
          <p:cNvPr id="5" name="表格 4">
            <a:extLst>
              <a:ext uri="{FF2B5EF4-FFF2-40B4-BE49-F238E27FC236}">
                <a16:creationId xmlns:a16="http://schemas.microsoft.com/office/drawing/2014/main" id="{8322B700-FBEB-13A5-0852-3F1E6BB0A2C2}"/>
              </a:ext>
            </a:extLst>
          </p:cNvPr>
          <p:cNvGraphicFramePr>
            <a:graphicFrameLocks noGrp="1"/>
          </p:cNvGraphicFramePr>
          <p:nvPr>
            <p:extLst>
              <p:ext uri="{D42A27DB-BD31-4B8C-83A1-F6EECF244321}">
                <p14:modId xmlns:p14="http://schemas.microsoft.com/office/powerpoint/2010/main" val="3614417012"/>
              </p:ext>
            </p:extLst>
          </p:nvPr>
        </p:nvGraphicFramePr>
        <p:xfrm>
          <a:off x="795133" y="2753058"/>
          <a:ext cx="9985513" cy="3048987"/>
        </p:xfrm>
        <a:graphic>
          <a:graphicData uri="http://schemas.openxmlformats.org/drawingml/2006/table">
            <a:tbl>
              <a:tblPr/>
              <a:tblGrid>
                <a:gridCol w="745124">
                  <a:extLst>
                    <a:ext uri="{9D8B030D-6E8A-4147-A177-3AD203B41FA5}">
                      <a16:colId xmlns:a16="http://schemas.microsoft.com/office/drawing/2014/main" val="1223615466"/>
                    </a:ext>
                  </a:extLst>
                </a:gridCol>
                <a:gridCol w="1097351">
                  <a:extLst>
                    <a:ext uri="{9D8B030D-6E8A-4147-A177-3AD203B41FA5}">
                      <a16:colId xmlns:a16="http://schemas.microsoft.com/office/drawing/2014/main" val="2919641517"/>
                    </a:ext>
                  </a:extLst>
                </a:gridCol>
                <a:gridCol w="491839">
                  <a:extLst>
                    <a:ext uri="{9D8B030D-6E8A-4147-A177-3AD203B41FA5}">
                      <a16:colId xmlns:a16="http://schemas.microsoft.com/office/drawing/2014/main" val="531832058"/>
                    </a:ext>
                  </a:extLst>
                </a:gridCol>
                <a:gridCol w="733215">
                  <a:extLst>
                    <a:ext uri="{9D8B030D-6E8A-4147-A177-3AD203B41FA5}">
                      <a16:colId xmlns:a16="http://schemas.microsoft.com/office/drawing/2014/main" val="1680926291"/>
                    </a:ext>
                  </a:extLst>
                </a:gridCol>
                <a:gridCol w="659189">
                  <a:extLst>
                    <a:ext uri="{9D8B030D-6E8A-4147-A177-3AD203B41FA5}">
                      <a16:colId xmlns:a16="http://schemas.microsoft.com/office/drawing/2014/main" val="3740347969"/>
                    </a:ext>
                  </a:extLst>
                </a:gridCol>
                <a:gridCol w="496540">
                  <a:extLst>
                    <a:ext uri="{9D8B030D-6E8A-4147-A177-3AD203B41FA5}">
                      <a16:colId xmlns:a16="http://schemas.microsoft.com/office/drawing/2014/main" val="1655280822"/>
                    </a:ext>
                  </a:extLst>
                </a:gridCol>
                <a:gridCol w="512968">
                  <a:extLst>
                    <a:ext uri="{9D8B030D-6E8A-4147-A177-3AD203B41FA5}">
                      <a16:colId xmlns:a16="http://schemas.microsoft.com/office/drawing/2014/main" val="2633814507"/>
                    </a:ext>
                  </a:extLst>
                </a:gridCol>
                <a:gridCol w="776023">
                  <a:extLst>
                    <a:ext uri="{9D8B030D-6E8A-4147-A177-3AD203B41FA5}">
                      <a16:colId xmlns:a16="http://schemas.microsoft.com/office/drawing/2014/main" val="338844945"/>
                    </a:ext>
                  </a:extLst>
                </a:gridCol>
                <a:gridCol w="776023">
                  <a:extLst>
                    <a:ext uri="{9D8B030D-6E8A-4147-A177-3AD203B41FA5}">
                      <a16:colId xmlns:a16="http://schemas.microsoft.com/office/drawing/2014/main" val="1083414609"/>
                    </a:ext>
                  </a:extLst>
                </a:gridCol>
                <a:gridCol w="446113">
                  <a:extLst>
                    <a:ext uri="{9D8B030D-6E8A-4147-A177-3AD203B41FA5}">
                      <a16:colId xmlns:a16="http://schemas.microsoft.com/office/drawing/2014/main" val="3210642669"/>
                    </a:ext>
                  </a:extLst>
                </a:gridCol>
                <a:gridCol w="470558">
                  <a:extLst>
                    <a:ext uri="{9D8B030D-6E8A-4147-A177-3AD203B41FA5}">
                      <a16:colId xmlns:a16="http://schemas.microsoft.com/office/drawing/2014/main" val="2501989706"/>
                    </a:ext>
                  </a:extLst>
                </a:gridCol>
                <a:gridCol w="849450">
                  <a:extLst>
                    <a:ext uri="{9D8B030D-6E8A-4147-A177-3AD203B41FA5}">
                      <a16:colId xmlns:a16="http://schemas.microsoft.com/office/drawing/2014/main" val="3268160901"/>
                    </a:ext>
                  </a:extLst>
                </a:gridCol>
                <a:gridCol w="488891">
                  <a:extLst>
                    <a:ext uri="{9D8B030D-6E8A-4147-A177-3AD203B41FA5}">
                      <a16:colId xmlns:a16="http://schemas.microsoft.com/office/drawing/2014/main" val="481265203"/>
                    </a:ext>
                  </a:extLst>
                </a:gridCol>
                <a:gridCol w="556113">
                  <a:extLst>
                    <a:ext uri="{9D8B030D-6E8A-4147-A177-3AD203B41FA5}">
                      <a16:colId xmlns:a16="http://schemas.microsoft.com/office/drawing/2014/main" val="32863902"/>
                    </a:ext>
                  </a:extLst>
                </a:gridCol>
                <a:gridCol w="886116">
                  <a:extLst>
                    <a:ext uri="{9D8B030D-6E8A-4147-A177-3AD203B41FA5}">
                      <a16:colId xmlns:a16="http://schemas.microsoft.com/office/drawing/2014/main" val="1074070856"/>
                    </a:ext>
                  </a:extLst>
                </a:gridCol>
              </a:tblGrid>
              <a:tr h="357691">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Device Type</a:t>
                      </a:r>
                    </a:p>
                  </a:txBody>
                  <a:tcPr marL="0" marR="0" marT="0"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Line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Funding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Average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1</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1</a:t>
                      </a:r>
                      <a:r>
                        <a:rPr lang="en-US" altLang="zh-CN"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Variance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ED7D31"/>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Overbilled balance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ED7D31"/>
                    </a:solidFill>
                  </a:tcPr>
                </a:tc>
                <a:tc row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34</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34</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Variance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ED7D31"/>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Overbilled balance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ED7D3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35</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35</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Variance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ED7D31"/>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Overbilled balance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ED7D31"/>
                    </a:solidFill>
                  </a:tcPr>
                </a:tc>
                <a:extLst>
                  <a:ext uri="{0D108BD9-81ED-4DB2-BD59-A6C34878D82A}">
                    <a16:rowId xmlns:a16="http://schemas.microsoft.com/office/drawing/2014/main" val="2450389415"/>
                  </a:ext>
                </a:extLst>
              </a:tr>
              <a:tr h="426226">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Month-Average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D7D31"/>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Downpayment-</a:t>
                      </a:r>
                      <a:r>
                        <a:rPr lang="en-US" altLang="zh-CN" sz="900" b="1" u="none" strike="noStrike" kern="1200" err="1">
                          <a:solidFill>
                            <a:schemeClr val="lt1"/>
                          </a:solidFill>
                          <a:effectLst/>
                          <a:latin typeface="Lato" panose="020F0502020204030203" pitchFamily="34" charset="0"/>
                          <a:ea typeface="Lato" panose="020F0502020204030203" pitchFamily="34" charset="0"/>
                          <a:cs typeface="Lato" panose="020F0502020204030203" pitchFamily="34" charset="0"/>
                        </a:rPr>
                        <a:t>Sum.variance</a:t>
                      </a: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D7D31"/>
                    </a:solidFill>
                  </a:tcPr>
                </a:tc>
                <a:tc vMerge="1">
                  <a:txBody>
                    <a:bodyPr/>
                    <a:lstStyle/>
                    <a:p>
                      <a:pPr marL="0" algn="ctr" defTabSz="1218621" rtl="0" eaLnBrk="1" fontAlgn="ctr" latinLnBrk="0" hangingPunct="1">
                        <a:buNone/>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D7D31"/>
                    </a:solidFill>
                  </a:tcPr>
                </a:tc>
                <a:tc>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Month-Average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D7D31"/>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Downpayment-Sum.variance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D7D31"/>
                    </a:solidFill>
                  </a:tcPr>
                </a:tc>
                <a:tc>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Month-Average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D7D31"/>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Downpayment-</a:t>
                      </a:r>
                      <a:r>
                        <a:rPr lang="en-US" altLang="zh-CN" sz="900" b="1" u="none" strike="noStrike" kern="1200" err="1">
                          <a:solidFill>
                            <a:schemeClr val="lt1"/>
                          </a:solidFill>
                          <a:effectLst/>
                          <a:latin typeface="Lato" panose="020F0502020204030203" pitchFamily="34" charset="0"/>
                          <a:ea typeface="Lato" panose="020F0502020204030203" pitchFamily="34" charset="0"/>
                          <a:cs typeface="Lato" panose="020F0502020204030203" pitchFamily="34" charset="0"/>
                        </a:rPr>
                        <a:t>Sum.variance</a:t>
                      </a: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D7D31"/>
                    </a:solidFill>
                  </a:tcPr>
                </a:tc>
                <a:extLst>
                  <a:ext uri="{0D108BD9-81ED-4DB2-BD59-A6C34878D82A}">
                    <a16:rowId xmlns:a16="http://schemas.microsoft.com/office/drawing/2014/main" val="1409042224"/>
                  </a:ext>
                </a:extLst>
              </a:tr>
              <a:tr h="351876">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NB TP T14 G3 I5 16G 256G 11P</a:t>
                      </a: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Downpayment for All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1750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841195480"/>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787.5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67.5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=67.5-45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905223256"/>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Premier Support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262.5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30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2361554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Configuration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64010382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Deployment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134390990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Managed Service (Future)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=7.5-15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262.5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30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88650791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Asset Recovery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bg1">
                            <a:lumMod val="6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037216401"/>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Accessory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147581611"/>
                  </a:ext>
                </a:extLst>
              </a:tr>
            </a:tbl>
          </a:graphicData>
        </a:graphic>
      </p:graphicFrame>
      <p:sp>
        <p:nvSpPr>
          <p:cNvPr id="8" name="矩形: 圆角 7">
            <a:extLst>
              <a:ext uri="{FF2B5EF4-FFF2-40B4-BE49-F238E27FC236}">
                <a16:creationId xmlns:a16="http://schemas.microsoft.com/office/drawing/2014/main" id="{5EBEB0EA-BD7B-6F22-0BFF-43ED7B463313}"/>
              </a:ext>
            </a:extLst>
          </p:cNvPr>
          <p:cNvSpPr/>
          <p:nvPr/>
        </p:nvSpPr>
        <p:spPr>
          <a:xfrm flipH="1">
            <a:off x="4518991" y="2753057"/>
            <a:ext cx="1775792" cy="3035657"/>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9" name="矩形: 圆角 8">
            <a:extLst>
              <a:ext uri="{FF2B5EF4-FFF2-40B4-BE49-F238E27FC236}">
                <a16:creationId xmlns:a16="http://schemas.microsoft.com/office/drawing/2014/main" id="{6D3DCB82-AF10-6975-DB4F-445B31A829CF}"/>
              </a:ext>
            </a:extLst>
          </p:cNvPr>
          <p:cNvSpPr/>
          <p:nvPr/>
        </p:nvSpPr>
        <p:spPr>
          <a:xfrm flipH="1">
            <a:off x="7056781" y="2753059"/>
            <a:ext cx="1775791" cy="3035655"/>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0" name="矩形: 圆角 9">
            <a:extLst>
              <a:ext uri="{FF2B5EF4-FFF2-40B4-BE49-F238E27FC236}">
                <a16:creationId xmlns:a16="http://schemas.microsoft.com/office/drawing/2014/main" id="{E9957BEC-10E7-CAC6-1E84-FE7282FF902F}"/>
              </a:ext>
            </a:extLst>
          </p:cNvPr>
          <p:cNvSpPr/>
          <p:nvPr/>
        </p:nvSpPr>
        <p:spPr>
          <a:xfrm flipH="1">
            <a:off x="8878956" y="2753058"/>
            <a:ext cx="1901687" cy="3035655"/>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2" name="文本框 11">
            <a:extLst>
              <a:ext uri="{FF2B5EF4-FFF2-40B4-BE49-F238E27FC236}">
                <a16:creationId xmlns:a16="http://schemas.microsoft.com/office/drawing/2014/main" id="{841C31A6-C405-FCDC-7DE2-0086434C8EFF}"/>
              </a:ext>
            </a:extLst>
          </p:cNvPr>
          <p:cNvSpPr txBox="1"/>
          <p:nvPr/>
        </p:nvSpPr>
        <p:spPr>
          <a:xfrm>
            <a:off x="407132" y="953136"/>
            <a:ext cx="8750119" cy="1200329"/>
          </a:xfrm>
          <a:prstGeom prst="rect">
            <a:avLst/>
          </a:prstGeom>
          <a:noFill/>
        </p:spPr>
        <p:txBody>
          <a:bodyPr wrap="square" rtlCol="0">
            <a:spAutoFit/>
          </a:bodyPr>
          <a:lstStyle/>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Granular: </a:t>
            </a:r>
            <a:r>
              <a:rPr lang="en-US" altLang="zh-CN" sz="1200">
                <a:latin typeface="Lato" panose="020F0502020204030203" pitchFamily="34" charset="0"/>
                <a:ea typeface="Lato" panose="020F0502020204030203" pitchFamily="34" charset="0"/>
                <a:cs typeface="Lato" panose="020F0502020204030203" pitchFamily="34" charset="0"/>
              </a:rPr>
              <a:t>By tranche, by device type, by line item PN</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Scope: </a:t>
            </a:r>
            <a:r>
              <a:rPr lang="en-US" altLang="zh-CN" sz="1200">
                <a:latin typeface="Lato" panose="020F0502020204030203" pitchFamily="34" charset="0"/>
                <a:ea typeface="Lato" panose="020F0502020204030203" pitchFamily="34" charset="0"/>
                <a:cs typeface="Lato" panose="020F0502020204030203" pitchFamily="34" charset="0"/>
              </a:rPr>
              <a:t>HW(OL), on-going service</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Scenario 1: </a:t>
            </a:r>
            <a:r>
              <a:rPr lang="en-US" altLang="zh-CN" sz="1200">
                <a:latin typeface="Lato" panose="020F0502020204030203" pitchFamily="34" charset="0"/>
                <a:ea typeface="Lato" panose="020F0502020204030203" pitchFamily="34" charset="0"/>
                <a:cs typeface="Lato" panose="020F0502020204030203" pitchFamily="34" charset="0"/>
              </a:rPr>
              <a:t>1</a:t>
            </a:r>
            <a:r>
              <a:rPr lang="en-US" altLang="zh-CN" sz="1200" baseline="30000">
                <a:latin typeface="Lato" panose="020F0502020204030203" pitchFamily="34" charset="0"/>
                <a:ea typeface="Lato" panose="020F0502020204030203" pitchFamily="34" charset="0"/>
                <a:cs typeface="Lato" panose="020F0502020204030203" pitchFamily="34" charset="0"/>
              </a:rPr>
              <a:t>st </a:t>
            </a:r>
            <a:r>
              <a:rPr lang="en-US" altLang="zh-CN" sz="1200">
                <a:latin typeface="Lato" panose="020F0502020204030203" pitchFamily="34" charset="0"/>
                <a:ea typeface="Lato" panose="020F0502020204030203" pitchFamily="34" charset="0"/>
                <a:cs typeface="Lato" panose="020F0502020204030203" pitchFamily="34" charset="0"/>
              </a:rPr>
              <a:t>Month, billing amount </a:t>
            </a:r>
            <a:r>
              <a:rPr lang="en-US" altLang="zh-CN" sz="1200" b="1">
                <a:latin typeface="Lato" panose="020F0502020204030203" pitchFamily="34" charset="0"/>
                <a:ea typeface="Lato" panose="020F0502020204030203" pitchFamily="34" charset="0"/>
                <a:cs typeface="Lato" panose="020F0502020204030203" pitchFamily="34" charset="0"/>
              </a:rPr>
              <a:t>lower</a:t>
            </a:r>
            <a:r>
              <a:rPr lang="en-US" altLang="zh-CN" sz="1200">
                <a:latin typeface="Lato" panose="020F0502020204030203" pitchFamily="34" charset="0"/>
                <a:ea typeface="Lato" panose="020F0502020204030203" pitchFamily="34" charset="0"/>
                <a:cs typeface="Lato" panose="020F0502020204030203" pitchFamily="34" charset="0"/>
              </a:rPr>
              <a:t> than average, the shortfall shall be offset against the downpayment</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Scenario 2: </a:t>
            </a:r>
            <a:r>
              <a:rPr lang="en-US" altLang="zh-CN" sz="1200">
                <a:latin typeface="Lato" panose="020F0502020204030203" pitchFamily="34" charset="0"/>
                <a:ea typeface="Lato" panose="020F0502020204030203" pitchFamily="34" charset="0"/>
                <a:cs typeface="Lato" panose="020F0502020204030203" pitchFamily="34" charset="0"/>
              </a:rPr>
              <a:t>34</a:t>
            </a:r>
            <a:r>
              <a:rPr lang="en-US" altLang="zh-CN" sz="1200" b="1" baseline="30000">
                <a:latin typeface="Lato" panose="020F0502020204030203" pitchFamily="34" charset="0"/>
                <a:ea typeface="Lato" panose="020F0502020204030203" pitchFamily="34" charset="0"/>
                <a:cs typeface="Lato" panose="020F0502020204030203" pitchFamily="34" charset="0"/>
              </a:rPr>
              <a:t>th</a:t>
            </a:r>
            <a:r>
              <a:rPr lang="en-US" altLang="zh-CN" sz="1200" b="1">
                <a:latin typeface="Lato" panose="020F0502020204030203" pitchFamily="34" charset="0"/>
                <a:ea typeface="Lato" panose="020F0502020204030203" pitchFamily="34" charset="0"/>
                <a:cs typeface="Lato" panose="020F0502020204030203" pitchFamily="34" charset="0"/>
              </a:rPr>
              <a:t> </a:t>
            </a:r>
            <a:r>
              <a:rPr lang="en-US" altLang="zh-CN" sz="1200">
                <a:latin typeface="Lato" panose="020F0502020204030203" pitchFamily="34" charset="0"/>
                <a:ea typeface="Lato" panose="020F0502020204030203" pitchFamily="34" charset="0"/>
                <a:cs typeface="Lato" panose="020F0502020204030203" pitchFamily="34" charset="0"/>
              </a:rPr>
              <a:t>Month, billing amount </a:t>
            </a:r>
            <a:r>
              <a:rPr lang="en-US" altLang="zh-CN" sz="1200" b="1">
                <a:latin typeface="Lato" panose="020F0502020204030203" pitchFamily="34" charset="0"/>
                <a:ea typeface="Lato" panose="020F0502020204030203" pitchFamily="34" charset="0"/>
                <a:cs typeface="Lato" panose="020F0502020204030203" pitchFamily="34" charset="0"/>
              </a:rPr>
              <a:t>higher</a:t>
            </a:r>
            <a:r>
              <a:rPr lang="en-US" altLang="zh-CN" sz="1200">
                <a:latin typeface="Lato" panose="020F0502020204030203" pitchFamily="34" charset="0"/>
                <a:ea typeface="Lato" panose="020F0502020204030203" pitchFamily="34" charset="0"/>
                <a:cs typeface="Lato" panose="020F0502020204030203" pitchFamily="34" charset="0"/>
              </a:rPr>
              <a:t> than average, the excess shall be added to overbilled balance</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Scenario 3: </a:t>
            </a:r>
            <a:r>
              <a:rPr lang="en-US" altLang="zh-CN" sz="1200">
                <a:latin typeface="Lato" panose="020F0502020204030203" pitchFamily="34" charset="0"/>
                <a:ea typeface="Lato" panose="020F0502020204030203" pitchFamily="34" charset="0"/>
                <a:cs typeface="Lato" panose="020F0502020204030203" pitchFamily="34" charset="0"/>
              </a:rPr>
              <a:t>35</a:t>
            </a:r>
            <a:r>
              <a:rPr lang="en-US" altLang="zh-CN" sz="1200" b="1" baseline="30000">
                <a:latin typeface="Lato" panose="020F0502020204030203" pitchFamily="34" charset="0"/>
                <a:ea typeface="Lato" panose="020F0502020204030203" pitchFamily="34" charset="0"/>
                <a:cs typeface="Lato" panose="020F0502020204030203" pitchFamily="34" charset="0"/>
              </a:rPr>
              <a:t>th</a:t>
            </a:r>
            <a:r>
              <a:rPr lang="en-US" altLang="zh-CN" sz="1200" b="1">
                <a:latin typeface="Lato" panose="020F0502020204030203" pitchFamily="34" charset="0"/>
                <a:ea typeface="Lato" panose="020F0502020204030203" pitchFamily="34" charset="0"/>
                <a:cs typeface="Lato" panose="020F0502020204030203" pitchFamily="34" charset="0"/>
              </a:rPr>
              <a:t> </a:t>
            </a:r>
            <a:r>
              <a:rPr lang="en-US" altLang="zh-CN" sz="1200">
                <a:latin typeface="Lato" panose="020F0502020204030203" pitchFamily="34" charset="0"/>
                <a:ea typeface="Lato" panose="020F0502020204030203" pitchFamily="34" charset="0"/>
                <a:cs typeface="Lato" panose="020F0502020204030203" pitchFamily="34" charset="0"/>
              </a:rPr>
              <a:t>Month, </a:t>
            </a:r>
            <a:r>
              <a:rPr lang="en-US" altLang="zh-CN" sz="1200" b="1">
                <a:latin typeface="Lato" panose="020F0502020204030203" pitchFamily="34" charset="0"/>
                <a:ea typeface="Lato" panose="020F0502020204030203" pitchFamily="34" charset="0"/>
                <a:cs typeface="Lato" panose="020F0502020204030203" pitchFamily="34" charset="0"/>
              </a:rPr>
              <a:t>no</a:t>
            </a:r>
            <a:r>
              <a:rPr lang="en-US" altLang="zh-CN" sz="1200">
                <a:latin typeface="Lato" panose="020F0502020204030203" pitchFamily="34" charset="0"/>
                <a:ea typeface="Lato" panose="020F0502020204030203" pitchFamily="34" charset="0"/>
                <a:cs typeface="Lato" panose="020F0502020204030203" pitchFamily="34" charset="0"/>
              </a:rPr>
              <a:t> monthly billing, transfer from accumulative overbilled balance per the average payment</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Key assumption: </a:t>
            </a:r>
            <a:r>
              <a:rPr lang="en-US" altLang="zh-CN" sz="1200">
                <a:latin typeface="Lato" panose="020F0502020204030203" pitchFamily="34" charset="0"/>
                <a:ea typeface="Lato" panose="020F0502020204030203" pitchFamily="34" charset="0"/>
                <a:cs typeface="Lato" panose="020F0502020204030203" pitchFamily="34" charset="0"/>
              </a:rPr>
              <a:t>At the end of each period, overbilled balance shall always remain above zero</a:t>
            </a:r>
          </a:p>
        </p:txBody>
      </p:sp>
      <p:sp>
        <p:nvSpPr>
          <p:cNvPr id="13" name="对话气泡: 矩形 12">
            <a:extLst>
              <a:ext uri="{FF2B5EF4-FFF2-40B4-BE49-F238E27FC236}">
                <a16:creationId xmlns:a16="http://schemas.microsoft.com/office/drawing/2014/main" id="{89CA73DB-397C-C296-2CF9-1A6A5D5D4662}"/>
              </a:ext>
            </a:extLst>
          </p:cNvPr>
          <p:cNvSpPr/>
          <p:nvPr/>
        </p:nvSpPr>
        <p:spPr>
          <a:xfrm>
            <a:off x="5635245" y="2153467"/>
            <a:ext cx="1004095" cy="346939"/>
          </a:xfrm>
          <a:prstGeom prst="wedgeRectCallout">
            <a:avLst>
              <a:gd name="adj1" fmla="val -31111"/>
              <a:gd name="adj2" fmla="val 12955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latin typeface="Lato" panose="020F0502020204030203" pitchFamily="34" charset="0"/>
                <a:ea typeface="Lato" panose="020F0502020204030203" pitchFamily="34" charset="0"/>
                <a:cs typeface="Lato" panose="020F0502020204030203" pitchFamily="34" charset="0"/>
              </a:rPr>
              <a:t>Scenario1</a:t>
            </a:r>
            <a:endParaRPr lang="en-US" altLang="zh-CN" sz="12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14" name="对话气泡: 矩形 13">
            <a:extLst>
              <a:ext uri="{FF2B5EF4-FFF2-40B4-BE49-F238E27FC236}">
                <a16:creationId xmlns:a16="http://schemas.microsoft.com/office/drawing/2014/main" id="{56D3D07C-9F0D-A893-121C-E964C8086B55}"/>
              </a:ext>
            </a:extLst>
          </p:cNvPr>
          <p:cNvSpPr/>
          <p:nvPr/>
        </p:nvSpPr>
        <p:spPr>
          <a:xfrm>
            <a:off x="7589940" y="2153466"/>
            <a:ext cx="1004095" cy="346939"/>
          </a:xfrm>
          <a:prstGeom prst="wedgeRectCallout">
            <a:avLst>
              <a:gd name="adj1" fmla="val -31111"/>
              <a:gd name="adj2" fmla="val 12955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latin typeface="Lato" panose="020F0502020204030203" pitchFamily="34" charset="0"/>
                <a:ea typeface="Lato" panose="020F0502020204030203" pitchFamily="34" charset="0"/>
                <a:cs typeface="Lato" panose="020F0502020204030203" pitchFamily="34" charset="0"/>
              </a:rPr>
              <a:t>Scenario2</a:t>
            </a:r>
            <a:endParaRPr lang="en-US" altLang="zh-CN" sz="12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15" name="对话气泡: 矩形 14">
            <a:extLst>
              <a:ext uri="{FF2B5EF4-FFF2-40B4-BE49-F238E27FC236}">
                <a16:creationId xmlns:a16="http://schemas.microsoft.com/office/drawing/2014/main" id="{5AEA9628-DC62-54BA-7F55-239637AB7B8E}"/>
              </a:ext>
            </a:extLst>
          </p:cNvPr>
          <p:cNvSpPr/>
          <p:nvPr/>
        </p:nvSpPr>
        <p:spPr>
          <a:xfrm>
            <a:off x="9319348" y="2153465"/>
            <a:ext cx="1004095" cy="346939"/>
          </a:xfrm>
          <a:prstGeom prst="wedgeRectCallout">
            <a:avLst>
              <a:gd name="adj1" fmla="val -31111"/>
              <a:gd name="adj2" fmla="val 12955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latin typeface="Lato" panose="020F0502020204030203" pitchFamily="34" charset="0"/>
                <a:ea typeface="Lato" panose="020F0502020204030203" pitchFamily="34" charset="0"/>
                <a:cs typeface="Lato" panose="020F0502020204030203" pitchFamily="34" charset="0"/>
              </a:rPr>
              <a:t>Scenario3</a:t>
            </a:r>
            <a:endParaRPr lang="en-US" altLang="zh-CN" sz="1200">
              <a:solidFill>
                <a:srgbClr val="000000"/>
              </a:solidFill>
              <a:latin typeface="Lato" panose="020F0502020204030203" pitchFamily="34" charset="0"/>
              <a:ea typeface="Lato" panose="020F0502020204030203" pitchFamily="34" charset="0"/>
              <a:cs typeface="Lato" panose="020F0502020204030203" pitchFamily="34" charset="0"/>
            </a:endParaRPr>
          </a:p>
        </p:txBody>
      </p:sp>
    </p:spTree>
    <p:extLst>
      <p:ext uri="{BB962C8B-B14F-4D97-AF65-F5344CB8AC3E}">
        <p14:creationId xmlns:p14="http://schemas.microsoft.com/office/powerpoint/2010/main" val="2619159180"/>
      </p:ext>
    </p:extLst>
  </p:cSld>
  <p:clrMapOvr>
    <a:masterClrMapping/>
  </p:clrMapOvr>
  <p:transition>
    <p:fade/>
  </p:transition>
</p:sld>
</file>

<file path=ppt/slides/slide15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1774EE7-81E7-08B2-BBE8-CD51A2C49095}"/>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8333F08F-CAAB-040C-BE19-8E4C7450FFBF}"/>
              </a:ext>
            </a:extLst>
          </p:cNvPr>
          <p:cNvSpPr txBox="1">
            <a:spLocks/>
          </p:cNvSpPr>
          <p:nvPr/>
        </p:nvSpPr>
        <p:spPr>
          <a:xfrm>
            <a:off x="158049" y="458674"/>
            <a:ext cx="11594214"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 partial CMR of monthly billing </a:t>
            </a:r>
          </a:p>
        </p:txBody>
      </p:sp>
      <p:sp>
        <p:nvSpPr>
          <p:cNvPr id="3" name="Slide Number Placeholder 4">
            <a:extLst>
              <a:ext uri="{FF2B5EF4-FFF2-40B4-BE49-F238E27FC236}">
                <a16:creationId xmlns:a16="http://schemas.microsoft.com/office/drawing/2014/main" id="{877DB4AE-F3FE-F457-E29E-706C673697CD}"/>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153</a:t>
            </a:fld>
            <a:endParaRPr lang="en-US">
              <a:solidFill>
                <a:srgbClr val="000000"/>
              </a:solidFill>
            </a:endParaRPr>
          </a:p>
        </p:txBody>
      </p:sp>
      <p:graphicFrame>
        <p:nvGraphicFramePr>
          <p:cNvPr id="5" name="表格 4">
            <a:extLst>
              <a:ext uri="{FF2B5EF4-FFF2-40B4-BE49-F238E27FC236}">
                <a16:creationId xmlns:a16="http://schemas.microsoft.com/office/drawing/2014/main" id="{11FB1A22-4D38-FF4D-D598-DB25A183ABE5}"/>
              </a:ext>
            </a:extLst>
          </p:cNvPr>
          <p:cNvGraphicFramePr>
            <a:graphicFrameLocks noGrp="1"/>
          </p:cNvGraphicFramePr>
          <p:nvPr>
            <p:extLst>
              <p:ext uri="{D42A27DB-BD31-4B8C-83A1-F6EECF244321}">
                <p14:modId xmlns:p14="http://schemas.microsoft.com/office/powerpoint/2010/main" val="1324169881"/>
              </p:ext>
            </p:extLst>
          </p:nvPr>
        </p:nvGraphicFramePr>
        <p:xfrm>
          <a:off x="702065" y="3139791"/>
          <a:ext cx="8349174" cy="3111446"/>
        </p:xfrm>
        <a:graphic>
          <a:graphicData uri="http://schemas.openxmlformats.org/drawingml/2006/table">
            <a:tbl>
              <a:tblPr/>
              <a:tblGrid>
                <a:gridCol w="688025">
                  <a:extLst>
                    <a:ext uri="{9D8B030D-6E8A-4147-A177-3AD203B41FA5}">
                      <a16:colId xmlns:a16="http://schemas.microsoft.com/office/drawing/2014/main" val="1223615466"/>
                    </a:ext>
                  </a:extLst>
                </a:gridCol>
                <a:gridCol w="1013261">
                  <a:extLst>
                    <a:ext uri="{9D8B030D-6E8A-4147-A177-3AD203B41FA5}">
                      <a16:colId xmlns:a16="http://schemas.microsoft.com/office/drawing/2014/main" val="2919641517"/>
                    </a:ext>
                  </a:extLst>
                </a:gridCol>
                <a:gridCol w="454150">
                  <a:extLst>
                    <a:ext uri="{9D8B030D-6E8A-4147-A177-3AD203B41FA5}">
                      <a16:colId xmlns:a16="http://schemas.microsoft.com/office/drawing/2014/main" val="531832058"/>
                    </a:ext>
                  </a:extLst>
                </a:gridCol>
                <a:gridCol w="677028">
                  <a:extLst>
                    <a:ext uri="{9D8B030D-6E8A-4147-A177-3AD203B41FA5}">
                      <a16:colId xmlns:a16="http://schemas.microsoft.com/office/drawing/2014/main" val="1680926291"/>
                    </a:ext>
                  </a:extLst>
                </a:gridCol>
                <a:gridCol w="608678">
                  <a:extLst>
                    <a:ext uri="{9D8B030D-6E8A-4147-A177-3AD203B41FA5}">
                      <a16:colId xmlns:a16="http://schemas.microsoft.com/office/drawing/2014/main" val="3740347969"/>
                    </a:ext>
                  </a:extLst>
                </a:gridCol>
                <a:gridCol w="608678">
                  <a:extLst>
                    <a:ext uri="{9D8B030D-6E8A-4147-A177-3AD203B41FA5}">
                      <a16:colId xmlns:a16="http://schemas.microsoft.com/office/drawing/2014/main" val="3624190083"/>
                    </a:ext>
                  </a:extLst>
                </a:gridCol>
                <a:gridCol w="716559">
                  <a:extLst>
                    <a:ext uri="{9D8B030D-6E8A-4147-A177-3AD203B41FA5}">
                      <a16:colId xmlns:a16="http://schemas.microsoft.com/office/drawing/2014/main" val="1083414609"/>
                    </a:ext>
                  </a:extLst>
                </a:gridCol>
                <a:gridCol w="716559">
                  <a:extLst>
                    <a:ext uri="{9D8B030D-6E8A-4147-A177-3AD203B41FA5}">
                      <a16:colId xmlns:a16="http://schemas.microsoft.com/office/drawing/2014/main" val="4018705919"/>
                    </a:ext>
                  </a:extLst>
                </a:gridCol>
                <a:gridCol w="716559">
                  <a:extLst>
                    <a:ext uri="{9D8B030D-6E8A-4147-A177-3AD203B41FA5}">
                      <a16:colId xmlns:a16="http://schemas.microsoft.com/office/drawing/2014/main" val="2242117723"/>
                    </a:ext>
                  </a:extLst>
                </a:gridCol>
                <a:gridCol w="716559">
                  <a:extLst>
                    <a:ext uri="{9D8B030D-6E8A-4147-A177-3AD203B41FA5}">
                      <a16:colId xmlns:a16="http://schemas.microsoft.com/office/drawing/2014/main" val="1191152152"/>
                    </a:ext>
                  </a:extLst>
                </a:gridCol>
                <a:gridCol w="716559">
                  <a:extLst>
                    <a:ext uri="{9D8B030D-6E8A-4147-A177-3AD203B41FA5}">
                      <a16:colId xmlns:a16="http://schemas.microsoft.com/office/drawing/2014/main" val="3910769529"/>
                    </a:ext>
                  </a:extLst>
                </a:gridCol>
                <a:gridCol w="716559">
                  <a:extLst>
                    <a:ext uri="{9D8B030D-6E8A-4147-A177-3AD203B41FA5}">
                      <a16:colId xmlns:a16="http://schemas.microsoft.com/office/drawing/2014/main" val="3395476477"/>
                    </a:ext>
                  </a:extLst>
                </a:gridCol>
              </a:tblGrid>
              <a:tr h="391959">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Device Type</a:t>
                      </a:r>
                    </a:p>
                  </a:txBody>
                  <a:tcPr marL="0" marR="0" marT="0"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Line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Funding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Average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t>
                      </a: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34</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 billing</a:t>
                      </a:r>
                    </a:p>
                  </a:txBody>
                  <a:tcPr marL="0" marR="0" marT="0"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gridSpan="2">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hMerge="1">
                  <a:txBody>
                    <a:bodyPr/>
                    <a:lstStyle/>
                    <a:p>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2">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34</a:t>
                      </a:r>
                      <a:r>
                        <a:rPr lang="en-US" altLang="zh-CN"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th</a:t>
                      </a: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CMR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46C8E1"/>
                    </a:solidFill>
                  </a:tcPr>
                </a:tc>
                <a:tc gridSpan="2">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 </a:t>
                      </a:r>
                    </a:p>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of CMR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hMerge="1">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extLst>
                  <a:ext uri="{0D108BD9-81ED-4DB2-BD59-A6C34878D82A}">
                    <a16:rowId xmlns:a16="http://schemas.microsoft.com/office/drawing/2014/main" val="2450389415"/>
                  </a:ext>
                </a:extLst>
              </a:tr>
              <a:tr h="391959">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tc vMerge="1">
                  <a:txBody>
                    <a:bodyPr/>
                    <a:lstStyle/>
                    <a:p>
                      <a:pPr marL="0" algn="ctr" defTabSz="1218621" rtl="0" eaLnBrk="1" fontAlgn="ctr" latinLnBrk="0" hangingPunct="1">
                        <a:buNone/>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val="2365377180"/>
                  </a:ext>
                </a:extLst>
              </a:tr>
              <a:tr h="351876">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NB TP T14 G3 I5 16G 256G 11P</a:t>
                      </a: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Downpayment for All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841195480"/>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67.5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2905223256"/>
                  </a:ext>
                </a:extLst>
              </a:tr>
              <a:tr h="310118">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Premier Support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22361554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Configuration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64010382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Deployment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134390990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Managed Service (Future)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388650791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Asset Recovery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4037216401"/>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Accessory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kumimoji="0" lang="en-US" altLang="zh-CN" sz="900" b="1"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extLst>
                  <a:ext uri="{0D108BD9-81ED-4DB2-BD59-A6C34878D82A}">
                    <a16:rowId xmlns:a16="http://schemas.microsoft.com/office/drawing/2014/main" val="4147581611"/>
                  </a:ext>
                </a:extLst>
              </a:tr>
            </a:tbl>
          </a:graphicData>
        </a:graphic>
      </p:graphicFrame>
      <p:sp>
        <p:nvSpPr>
          <p:cNvPr id="12" name="文本框 11">
            <a:extLst>
              <a:ext uri="{FF2B5EF4-FFF2-40B4-BE49-F238E27FC236}">
                <a16:creationId xmlns:a16="http://schemas.microsoft.com/office/drawing/2014/main" id="{08AACBCE-9EDF-DC14-5A7B-A215549A205F}"/>
              </a:ext>
            </a:extLst>
          </p:cNvPr>
          <p:cNvSpPr txBox="1"/>
          <p:nvPr/>
        </p:nvSpPr>
        <p:spPr>
          <a:xfrm>
            <a:off x="387254" y="953136"/>
            <a:ext cx="10671685" cy="1015663"/>
          </a:xfrm>
          <a:prstGeom prst="rect">
            <a:avLst/>
          </a:prstGeom>
          <a:noFill/>
        </p:spPr>
        <p:txBody>
          <a:bodyPr wrap="square" rtlCol="0">
            <a:spAutoFit/>
          </a:bodyPr>
          <a:lstStyle/>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As-is CMR logic: </a:t>
            </a:r>
            <a:r>
              <a:rPr lang="en-US" altLang="zh-CN" sz="1200">
                <a:latin typeface="Lato" panose="020F0502020204030203" pitchFamily="34" charset="0"/>
                <a:ea typeface="Lato" panose="020F0502020204030203" pitchFamily="34" charset="0"/>
                <a:cs typeface="Lato" panose="020F0502020204030203" pitchFamily="34" charset="0"/>
              </a:rPr>
              <a:t>same accounting treatment with the original billing</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Pain point for structure payment: </a:t>
            </a:r>
            <a:r>
              <a:rPr lang="en-US" altLang="zh-CN" sz="1200">
                <a:latin typeface="Lato" panose="020F0502020204030203" pitchFamily="34" charset="0"/>
                <a:ea typeface="Lato" panose="020F0502020204030203" pitchFamily="34" charset="0"/>
                <a:cs typeface="Lato" panose="020F0502020204030203" pitchFamily="34" charset="0"/>
              </a:rPr>
              <a:t>original monthly billing may have two different treatments based on the comparison with average billing.</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Potential solution: </a:t>
            </a:r>
            <a:r>
              <a:rPr lang="en-US" altLang="zh-CN" sz="1200">
                <a:latin typeface="Lato" panose="020F0502020204030203" pitchFamily="34" charset="0"/>
                <a:ea typeface="Lato" panose="020F0502020204030203" pitchFamily="34" charset="0"/>
                <a:cs typeface="Lato" panose="020F0502020204030203" pitchFamily="34" charset="0"/>
              </a:rPr>
              <a:t>business nature input and more complex calculation logic </a:t>
            </a:r>
          </a:p>
          <a:p>
            <a:pPr marL="228600" indent="-228600">
              <a:buFont typeface="Wingdings" panose="05000000000000000000" pitchFamily="2" charset="2"/>
              <a:buChar char="Ø"/>
            </a:pPr>
            <a:endParaRPr lang="en-US" altLang="zh-CN" sz="1200">
              <a:latin typeface="Lato" panose="020F0502020204030203" pitchFamily="34" charset="0"/>
              <a:ea typeface="Lato" panose="020F0502020204030203" pitchFamily="34" charset="0"/>
              <a:cs typeface="Lato" panose="020F0502020204030203" pitchFamily="34" charset="0"/>
            </a:endParaRP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Generally applicable operation suggestion: </a:t>
            </a:r>
            <a:r>
              <a:rPr lang="en-US" altLang="zh-CN" sz="1200">
                <a:latin typeface="Lato" panose="020F0502020204030203" pitchFamily="34" charset="0"/>
                <a:ea typeface="Lato" panose="020F0502020204030203" pitchFamily="34" charset="0"/>
                <a:cs typeface="Lato" panose="020F0502020204030203" pitchFamily="34" charset="0"/>
              </a:rPr>
              <a:t>Apply full amount CMR against the original billing, then issue a corrected DMR for the accurate amount.</a:t>
            </a:r>
          </a:p>
        </p:txBody>
      </p:sp>
      <p:sp>
        <p:nvSpPr>
          <p:cNvPr id="14" name="对话气泡: 矩形 13">
            <a:extLst>
              <a:ext uri="{FF2B5EF4-FFF2-40B4-BE49-F238E27FC236}">
                <a16:creationId xmlns:a16="http://schemas.microsoft.com/office/drawing/2014/main" id="{743E9096-A420-AF38-3AA0-376FECDBE3C5}"/>
              </a:ext>
            </a:extLst>
          </p:cNvPr>
          <p:cNvSpPr/>
          <p:nvPr/>
        </p:nvSpPr>
        <p:spPr>
          <a:xfrm>
            <a:off x="6462303" y="2172920"/>
            <a:ext cx="2991252" cy="623562"/>
          </a:xfrm>
          <a:prstGeom prst="wedgeRectCallout">
            <a:avLst>
              <a:gd name="adj1" fmla="val -11225"/>
              <a:gd name="adj2" fmla="val 10193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latin typeface="Lato" panose="020F0502020204030203" pitchFamily="34" charset="0"/>
                <a:ea typeface="Lato" panose="020F0502020204030203" pitchFamily="34" charset="0"/>
                <a:cs typeface="Lato" panose="020F0502020204030203" pitchFamily="34" charset="0"/>
              </a:rPr>
              <a:t>Partial CMR of monthly billing higher than average payment</a:t>
            </a:r>
            <a:endParaRPr lang="en-US" altLang="zh-CN" sz="12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 name="矩形: 圆角 5">
            <a:extLst>
              <a:ext uri="{FF2B5EF4-FFF2-40B4-BE49-F238E27FC236}">
                <a16:creationId xmlns:a16="http://schemas.microsoft.com/office/drawing/2014/main" id="{76D7081E-AA46-C142-AB5A-FD1E7379D9A6}"/>
              </a:ext>
            </a:extLst>
          </p:cNvPr>
          <p:cNvSpPr/>
          <p:nvPr/>
        </p:nvSpPr>
        <p:spPr>
          <a:xfrm flipH="1">
            <a:off x="6864625" y="3139791"/>
            <a:ext cx="2186608" cy="3048989"/>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17" name="椭圆 16">
            <a:extLst>
              <a:ext uri="{FF2B5EF4-FFF2-40B4-BE49-F238E27FC236}">
                <a16:creationId xmlns:a16="http://schemas.microsoft.com/office/drawing/2014/main" id="{6EB23EC0-ADB7-6DEF-142A-9B7DCCC7C0A4}"/>
              </a:ext>
            </a:extLst>
          </p:cNvPr>
          <p:cNvSpPr/>
          <p:nvPr/>
        </p:nvSpPr>
        <p:spPr>
          <a:xfrm>
            <a:off x="9677179" y="3293011"/>
            <a:ext cx="1381760" cy="1371274"/>
          </a:xfrm>
          <a:prstGeom prst="ellipse">
            <a:avLst/>
          </a:prstGeom>
          <a:solidFill>
            <a:srgbClr val="FFFF00"/>
          </a:solidFill>
          <a:ln w="6350">
            <a:no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Tree>
    <p:extLst>
      <p:ext uri="{BB962C8B-B14F-4D97-AF65-F5344CB8AC3E}">
        <p14:creationId xmlns:p14="http://schemas.microsoft.com/office/powerpoint/2010/main" val="1200450615"/>
      </p:ext>
    </p:extLst>
  </p:cSld>
  <p:clrMapOvr>
    <a:masterClrMapping/>
  </p:clrMapOvr>
  <p:transition>
    <p:fade/>
  </p:transition>
</p:sld>
</file>

<file path=ppt/slides/slide15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EB188914-C501-E0AB-2C22-3831CB7650FF}"/>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E1E7C047-5C96-CAD3-E237-C21EEC303088}"/>
              </a:ext>
            </a:extLst>
          </p:cNvPr>
          <p:cNvSpPr txBox="1">
            <a:spLocks/>
          </p:cNvSpPr>
          <p:nvPr/>
        </p:nvSpPr>
        <p:spPr>
          <a:xfrm>
            <a:off x="213472" y="457526"/>
            <a:ext cx="11594214"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 raise DMR before month end</a:t>
            </a:r>
          </a:p>
        </p:txBody>
      </p:sp>
      <p:sp>
        <p:nvSpPr>
          <p:cNvPr id="3" name="Slide Number Placeholder 4">
            <a:extLst>
              <a:ext uri="{FF2B5EF4-FFF2-40B4-BE49-F238E27FC236}">
                <a16:creationId xmlns:a16="http://schemas.microsoft.com/office/drawing/2014/main" id="{442A50BD-44B0-5479-9320-CC413668A69F}"/>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154</a:t>
            </a:fld>
            <a:endParaRPr lang="en-US">
              <a:solidFill>
                <a:srgbClr val="000000"/>
              </a:solidFill>
            </a:endParaRPr>
          </a:p>
        </p:txBody>
      </p:sp>
      <p:graphicFrame>
        <p:nvGraphicFramePr>
          <p:cNvPr id="5" name="表格 4">
            <a:extLst>
              <a:ext uri="{FF2B5EF4-FFF2-40B4-BE49-F238E27FC236}">
                <a16:creationId xmlns:a16="http://schemas.microsoft.com/office/drawing/2014/main" id="{8E8E3C24-907E-CA74-9356-F338FF1A1C2F}"/>
              </a:ext>
            </a:extLst>
          </p:cNvPr>
          <p:cNvGraphicFramePr>
            <a:graphicFrameLocks noGrp="1"/>
          </p:cNvGraphicFramePr>
          <p:nvPr>
            <p:extLst>
              <p:ext uri="{D42A27DB-BD31-4B8C-83A1-F6EECF244321}">
                <p14:modId xmlns:p14="http://schemas.microsoft.com/office/powerpoint/2010/main" val="2698833418"/>
              </p:ext>
            </p:extLst>
          </p:nvPr>
        </p:nvGraphicFramePr>
        <p:xfrm>
          <a:off x="1099327" y="3014840"/>
          <a:ext cx="8614515" cy="3048988"/>
        </p:xfrm>
        <a:graphic>
          <a:graphicData uri="http://schemas.openxmlformats.org/drawingml/2006/table">
            <a:tbl>
              <a:tblPr/>
              <a:tblGrid>
                <a:gridCol w="742652">
                  <a:extLst>
                    <a:ext uri="{9D8B030D-6E8A-4147-A177-3AD203B41FA5}">
                      <a16:colId xmlns:a16="http://schemas.microsoft.com/office/drawing/2014/main" val="1223615466"/>
                    </a:ext>
                  </a:extLst>
                </a:gridCol>
                <a:gridCol w="1093710">
                  <a:extLst>
                    <a:ext uri="{9D8B030D-6E8A-4147-A177-3AD203B41FA5}">
                      <a16:colId xmlns:a16="http://schemas.microsoft.com/office/drawing/2014/main" val="2919641517"/>
                    </a:ext>
                  </a:extLst>
                </a:gridCol>
                <a:gridCol w="490209">
                  <a:extLst>
                    <a:ext uri="{9D8B030D-6E8A-4147-A177-3AD203B41FA5}">
                      <a16:colId xmlns:a16="http://schemas.microsoft.com/office/drawing/2014/main" val="531832058"/>
                    </a:ext>
                  </a:extLst>
                </a:gridCol>
                <a:gridCol w="730781">
                  <a:extLst>
                    <a:ext uri="{9D8B030D-6E8A-4147-A177-3AD203B41FA5}">
                      <a16:colId xmlns:a16="http://schemas.microsoft.com/office/drawing/2014/main" val="1680926291"/>
                    </a:ext>
                  </a:extLst>
                </a:gridCol>
                <a:gridCol w="657005">
                  <a:extLst>
                    <a:ext uri="{9D8B030D-6E8A-4147-A177-3AD203B41FA5}">
                      <a16:colId xmlns:a16="http://schemas.microsoft.com/office/drawing/2014/main" val="3740347969"/>
                    </a:ext>
                  </a:extLst>
                </a:gridCol>
                <a:gridCol w="657028">
                  <a:extLst>
                    <a:ext uri="{9D8B030D-6E8A-4147-A177-3AD203B41FA5}">
                      <a16:colId xmlns:a16="http://schemas.microsoft.com/office/drawing/2014/main" val="3210642669"/>
                    </a:ext>
                  </a:extLst>
                </a:gridCol>
                <a:gridCol w="838138">
                  <a:extLst>
                    <a:ext uri="{9D8B030D-6E8A-4147-A177-3AD203B41FA5}">
                      <a16:colId xmlns:a16="http://schemas.microsoft.com/office/drawing/2014/main" val="32863902"/>
                    </a:ext>
                  </a:extLst>
                </a:gridCol>
                <a:gridCol w="838138">
                  <a:extLst>
                    <a:ext uri="{9D8B030D-6E8A-4147-A177-3AD203B41FA5}">
                      <a16:colId xmlns:a16="http://schemas.microsoft.com/office/drawing/2014/main" val="3327877036"/>
                    </a:ext>
                  </a:extLst>
                </a:gridCol>
                <a:gridCol w="838138">
                  <a:extLst>
                    <a:ext uri="{9D8B030D-6E8A-4147-A177-3AD203B41FA5}">
                      <a16:colId xmlns:a16="http://schemas.microsoft.com/office/drawing/2014/main" val="4164381523"/>
                    </a:ext>
                  </a:extLst>
                </a:gridCol>
                <a:gridCol w="838138">
                  <a:extLst>
                    <a:ext uri="{9D8B030D-6E8A-4147-A177-3AD203B41FA5}">
                      <a16:colId xmlns:a16="http://schemas.microsoft.com/office/drawing/2014/main" val="1711004978"/>
                    </a:ext>
                  </a:extLst>
                </a:gridCol>
                <a:gridCol w="890578">
                  <a:extLst>
                    <a:ext uri="{9D8B030D-6E8A-4147-A177-3AD203B41FA5}">
                      <a16:colId xmlns:a16="http://schemas.microsoft.com/office/drawing/2014/main" val="1074070856"/>
                    </a:ext>
                  </a:extLst>
                </a:gridCol>
              </a:tblGrid>
              <a:tr h="357691">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Device Type</a:t>
                      </a:r>
                    </a:p>
                  </a:txBody>
                  <a:tcPr marL="0" marR="0" marT="0"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Line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Funding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Average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1</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Billing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1</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 DMR</a:t>
                      </a:r>
                    </a:p>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(before month end)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grid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of DMR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solidFill>
                      <a:srgbClr val="92D050"/>
                    </a:solidFill>
                  </a:tcPr>
                </a:tc>
                <a:tc rowSpan="2" h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3">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 end</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Amortization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extLst>
                  <a:ext uri="{0D108BD9-81ED-4DB2-BD59-A6C34878D82A}">
                    <a16:rowId xmlns:a16="http://schemas.microsoft.com/office/drawing/2014/main" val="2450389415"/>
                  </a:ext>
                </a:extLst>
              </a:tr>
              <a:tr h="34268">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row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pPr marL="0" algn="ctr" defTabSz="1218621" rtl="0" eaLnBrk="1" fontAlgn="ctr" latinLnBrk="0" hangingPunct="1">
                        <a:buNone/>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gridSpan="2" vMerge="1">
                  <a:txBody>
                    <a:bodyPr/>
                    <a:lstStyle/>
                    <a:p>
                      <a:endParaRPr lang="zh-CN" altLang="en-US"/>
                    </a:p>
                  </a:txBody>
                  <a:tcPr/>
                </a:tc>
                <a:tc hMerge="1" vMerge="1">
                  <a:txBody>
                    <a:bodyPr/>
                    <a:lstStyle/>
                    <a:p>
                      <a:endParaRPr lang="zh-CN" altLang="en-US"/>
                    </a:p>
                  </a:txBody>
                  <a:tcPr/>
                </a:tc>
                <a:tc vMerge="1">
                  <a:txBody>
                    <a:bodyPr/>
                    <a:lstStyle/>
                    <a:p>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extLst>
                  <a:ext uri="{0D108BD9-81ED-4DB2-BD59-A6C34878D82A}">
                    <a16:rowId xmlns:a16="http://schemas.microsoft.com/office/drawing/2014/main" val="1409042224"/>
                  </a:ext>
                </a:extLst>
              </a:tr>
              <a:tr h="391959">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92D050"/>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endParaRPr lang="zh-CN" altLang="en-US"/>
                    </a:p>
                  </a:txBody>
                  <a:tcPr/>
                </a:tc>
                <a:extLst>
                  <a:ext uri="{0D108BD9-81ED-4DB2-BD59-A6C34878D82A}">
                    <a16:rowId xmlns:a16="http://schemas.microsoft.com/office/drawing/2014/main" val="259579907"/>
                  </a:ext>
                </a:extLst>
              </a:tr>
              <a:tr h="351876">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NB TP T14 G3 I5 16G 256G 11P</a:t>
                      </a: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Downpayment for All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841195480"/>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905223256"/>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Premier Support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2361554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Configuration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64010382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Deployment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134390990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Managed Service (Future)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88650791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Asset Recovery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037216401"/>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Accessory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147581611"/>
                  </a:ext>
                </a:extLst>
              </a:tr>
            </a:tbl>
          </a:graphicData>
        </a:graphic>
      </p:graphicFrame>
      <p:sp>
        <p:nvSpPr>
          <p:cNvPr id="12" name="文本框 11">
            <a:extLst>
              <a:ext uri="{FF2B5EF4-FFF2-40B4-BE49-F238E27FC236}">
                <a16:creationId xmlns:a16="http://schemas.microsoft.com/office/drawing/2014/main" id="{8999323B-5456-BDFC-9E52-EEC0F4646414}"/>
              </a:ext>
            </a:extLst>
          </p:cNvPr>
          <p:cNvSpPr txBox="1"/>
          <p:nvPr/>
        </p:nvSpPr>
        <p:spPr>
          <a:xfrm>
            <a:off x="407132" y="953136"/>
            <a:ext cx="9734395" cy="1569660"/>
          </a:xfrm>
          <a:prstGeom prst="rect">
            <a:avLst/>
          </a:prstGeom>
          <a:noFill/>
        </p:spPr>
        <p:txBody>
          <a:bodyPr wrap="square" rtlCol="0">
            <a:spAutoFit/>
          </a:bodyPr>
          <a:lstStyle/>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As-is CMR logic: </a:t>
            </a:r>
            <a:r>
              <a:rPr lang="en-US" altLang="zh-CN" sz="1200">
                <a:latin typeface="Lato" panose="020F0502020204030203" pitchFamily="34" charset="0"/>
                <a:ea typeface="Lato" panose="020F0502020204030203" pitchFamily="34" charset="0"/>
                <a:cs typeface="Lato" panose="020F0502020204030203" pitchFamily="34" charset="0"/>
              </a:rPr>
              <a:t>same accounting treatment with the original billing</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Pain point for structure payment: </a:t>
            </a:r>
            <a:r>
              <a:rPr lang="en-US" altLang="zh-CN" sz="1200">
                <a:latin typeface="Lato" panose="020F0502020204030203" pitchFamily="34" charset="0"/>
                <a:ea typeface="Lato" panose="020F0502020204030203" pitchFamily="34" charset="0"/>
                <a:cs typeface="Lato" panose="020F0502020204030203" pitchFamily="34" charset="0"/>
              </a:rPr>
              <a:t>original monthly billing may have two different treatments based on the comparison with average billing.</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Potential solution: </a:t>
            </a:r>
            <a:r>
              <a:rPr lang="en-US" altLang="zh-CN" sz="1200">
                <a:latin typeface="Lato" panose="020F0502020204030203" pitchFamily="34" charset="0"/>
                <a:ea typeface="Lato" panose="020F0502020204030203" pitchFamily="34" charset="0"/>
                <a:cs typeface="Lato" panose="020F0502020204030203" pitchFamily="34" charset="0"/>
              </a:rPr>
              <a:t>business nature input and more complex calculation logic</a:t>
            </a:r>
          </a:p>
          <a:p>
            <a:pPr marL="228600" indent="-228600">
              <a:buFont typeface="Wingdings" panose="05000000000000000000" pitchFamily="2" charset="2"/>
              <a:buChar char="Ø"/>
            </a:pPr>
            <a:endParaRPr lang="en-US" altLang="zh-CN" sz="1200" b="1">
              <a:latin typeface="Lato" panose="020F0502020204030203" pitchFamily="34" charset="0"/>
              <a:ea typeface="Lato" panose="020F0502020204030203" pitchFamily="34" charset="0"/>
              <a:cs typeface="Lato" panose="020F0502020204030203" pitchFamily="34" charset="0"/>
            </a:endParaRP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Generally applicable operation suggestion: </a:t>
            </a:r>
            <a:r>
              <a:rPr lang="en-US" altLang="zh-CN" sz="1200">
                <a:latin typeface="Lato" panose="020F0502020204030203" pitchFamily="34" charset="0"/>
                <a:ea typeface="Lato" panose="020F0502020204030203" pitchFamily="34" charset="0"/>
                <a:cs typeface="Lato" panose="020F0502020204030203" pitchFamily="34" charset="0"/>
              </a:rPr>
              <a:t>Apply full amount CMR against the original billing, then issue a corrected DMR for the accurate amount.</a:t>
            </a:r>
          </a:p>
          <a:p>
            <a:pPr marL="228600" indent="-228600">
              <a:buFont typeface="Wingdings" panose="05000000000000000000" pitchFamily="2" charset="2"/>
              <a:buChar char="Ø"/>
            </a:pPr>
            <a:endParaRPr lang="en-US" altLang="zh-CN" sz="1200">
              <a:latin typeface="Lato" panose="020F0502020204030203" pitchFamily="34" charset="0"/>
              <a:ea typeface="Lato" panose="020F0502020204030203" pitchFamily="34" charset="0"/>
              <a:cs typeface="Lato" panose="020F0502020204030203" pitchFamily="34" charset="0"/>
            </a:endParaRPr>
          </a:p>
          <a:p>
            <a:pPr marL="228600" indent="-228600">
              <a:buFont typeface="Wingdings" panose="05000000000000000000" pitchFamily="2" charset="2"/>
              <a:buChar char="Ø"/>
            </a:pPr>
            <a:endParaRPr lang="en-US" altLang="zh-CN" sz="1200">
              <a:latin typeface="Lato" panose="020F0502020204030203" pitchFamily="34" charset="0"/>
              <a:ea typeface="Lato" panose="020F0502020204030203" pitchFamily="34" charset="0"/>
              <a:cs typeface="Lato" panose="020F0502020204030203" pitchFamily="34" charset="0"/>
            </a:endParaRPr>
          </a:p>
        </p:txBody>
      </p:sp>
      <p:sp>
        <p:nvSpPr>
          <p:cNvPr id="16" name="对话气泡: 矩形 15">
            <a:extLst>
              <a:ext uri="{FF2B5EF4-FFF2-40B4-BE49-F238E27FC236}">
                <a16:creationId xmlns:a16="http://schemas.microsoft.com/office/drawing/2014/main" id="{43BE20EF-570B-C315-7162-5F1553C929F0}"/>
              </a:ext>
            </a:extLst>
          </p:cNvPr>
          <p:cNvSpPr/>
          <p:nvPr/>
        </p:nvSpPr>
        <p:spPr>
          <a:xfrm>
            <a:off x="5552359" y="2109324"/>
            <a:ext cx="2981739" cy="472362"/>
          </a:xfrm>
          <a:prstGeom prst="wedgeRectCallout">
            <a:avLst>
              <a:gd name="adj1" fmla="val -11225"/>
              <a:gd name="adj2" fmla="val 10193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latin typeface="Lato" panose="020F0502020204030203" pitchFamily="34" charset="0"/>
                <a:ea typeface="Lato" panose="020F0502020204030203" pitchFamily="34" charset="0"/>
                <a:cs typeface="Lato" panose="020F0502020204030203" pitchFamily="34" charset="0"/>
              </a:rPr>
              <a:t>Scenario2: DMR of monthly billing lower than average payment</a:t>
            </a:r>
          </a:p>
        </p:txBody>
      </p:sp>
      <p:sp>
        <p:nvSpPr>
          <p:cNvPr id="7" name="椭圆 6">
            <a:extLst>
              <a:ext uri="{FF2B5EF4-FFF2-40B4-BE49-F238E27FC236}">
                <a16:creationId xmlns:a16="http://schemas.microsoft.com/office/drawing/2014/main" id="{08B411CC-0E70-4484-F633-47BBA6778D39}"/>
              </a:ext>
            </a:extLst>
          </p:cNvPr>
          <p:cNvSpPr/>
          <p:nvPr/>
        </p:nvSpPr>
        <p:spPr>
          <a:xfrm>
            <a:off x="10767391" y="457526"/>
            <a:ext cx="815009" cy="495610"/>
          </a:xfrm>
          <a:prstGeom prst="ellipse">
            <a:avLst/>
          </a:prstGeom>
          <a:solidFill>
            <a:srgbClr val="FFFF00"/>
          </a:solidFill>
          <a:ln w="6350">
            <a:no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8" name="矩形: 圆角 7">
            <a:extLst>
              <a:ext uri="{FF2B5EF4-FFF2-40B4-BE49-F238E27FC236}">
                <a16:creationId xmlns:a16="http://schemas.microsoft.com/office/drawing/2014/main" id="{94330315-6349-E065-904E-07D76DE6A239}"/>
              </a:ext>
            </a:extLst>
          </p:cNvPr>
          <p:cNvSpPr/>
          <p:nvPr/>
        </p:nvSpPr>
        <p:spPr>
          <a:xfrm flipH="1">
            <a:off x="6294782" y="3014839"/>
            <a:ext cx="3419060" cy="3048989"/>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Tree>
    <p:extLst>
      <p:ext uri="{BB962C8B-B14F-4D97-AF65-F5344CB8AC3E}">
        <p14:creationId xmlns:p14="http://schemas.microsoft.com/office/powerpoint/2010/main" val="2350224897"/>
      </p:ext>
    </p:extLst>
  </p:cSld>
  <p:clrMapOvr>
    <a:masterClrMapping/>
  </p:clrMapOvr>
  <p:transition>
    <p:fade/>
  </p:transition>
</p:sld>
</file>

<file path=ppt/slides/slide155.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CD443ED7-0830-45E7-98B0-BE8C2B439E4B}"/>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0106E68B-C470-B775-0F73-4A6BCB57C846}"/>
              </a:ext>
            </a:extLst>
          </p:cNvPr>
          <p:cNvSpPr txBox="1">
            <a:spLocks/>
          </p:cNvSpPr>
          <p:nvPr/>
        </p:nvSpPr>
        <p:spPr>
          <a:xfrm>
            <a:off x="213472" y="457526"/>
            <a:ext cx="11594214"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 raise DMR after month end</a:t>
            </a:r>
          </a:p>
        </p:txBody>
      </p:sp>
      <p:sp>
        <p:nvSpPr>
          <p:cNvPr id="3" name="Slide Number Placeholder 4">
            <a:extLst>
              <a:ext uri="{FF2B5EF4-FFF2-40B4-BE49-F238E27FC236}">
                <a16:creationId xmlns:a16="http://schemas.microsoft.com/office/drawing/2014/main" id="{E8F2754D-A408-262F-A748-958DB1E989E6}"/>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155</a:t>
            </a:fld>
            <a:endParaRPr lang="en-US">
              <a:solidFill>
                <a:srgbClr val="000000"/>
              </a:solidFill>
            </a:endParaRPr>
          </a:p>
        </p:txBody>
      </p:sp>
      <p:graphicFrame>
        <p:nvGraphicFramePr>
          <p:cNvPr id="5" name="表格 4">
            <a:extLst>
              <a:ext uri="{FF2B5EF4-FFF2-40B4-BE49-F238E27FC236}">
                <a16:creationId xmlns:a16="http://schemas.microsoft.com/office/drawing/2014/main" id="{2159708D-65D1-7A1C-E8E3-42214BAB3B27}"/>
              </a:ext>
            </a:extLst>
          </p:cNvPr>
          <p:cNvGraphicFramePr>
            <a:graphicFrameLocks noGrp="1"/>
          </p:cNvGraphicFramePr>
          <p:nvPr>
            <p:extLst>
              <p:ext uri="{D42A27DB-BD31-4B8C-83A1-F6EECF244321}">
                <p14:modId xmlns:p14="http://schemas.microsoft.com/office/powerpoint/2010/main" val="3961737953"/>
              </p:ext>
            </p:extLst>
          </p:nvPr>
        </p:nvGraphicFramePr>
        <p:xfrm>
          <a:off x="702065" y="3054597"/>
          <a:ext cx="7971485" cy="3062318"/>
        </p:xfrm>
        <a:graphic>
          <a:graphicData uri="http://schemas.openxmlformats.org/drawingml/2006/table">
            <a:tbl>
              <a:tblPr/>
              <a:tblGrid>
                <a:gridCol w="691426">
                  <a:extLst>
                    <a:ext uri="{9D8B030D-6E8A-4147-A177-3AD203B41FA5}">
                      <a16:colId xmlns:a16="http://schemas.microsoft.com/office/drawing/2014/main" val="1223615466"/>
                    </a:ext>
                  </a:extLst>
                </a:gridCol>
                <a:gridCol w="1018269">
                  <a:extLst>
                    <a:ext uri="{9D8B030D-6E8A-4147-A177-3AD203B41FA5}">
                      <a16:colId xmlns:a16="http://schemas.microsoft.com/office/drawing/2014/main" val="2919641517"/>
                    </a:ext>
                  </a:extLst>
                </a:gridCol>
                <a:gridCol w="456396">
                  <a:extLst>
                    <a:ext uri="{9D8B030D-6E8A-4147-A177-3AD203B41FA5}">
                      <a16:colId xmlns:a16="http://schemas.microsoft.com/office/drawing/2014/main" val="531832058"/>
                    </a:ext>
                  </a:extLst>
                </a:gridCol>
                <a:gridCol w="680375">
                  <a:extLst>
                    <a:ext uri="{9D8B030D-6E8A-4147-A177-3AD203B41FA5}">
                      <a16:colId xmlns:a16="http://schemas.microsoft.com/office/drawing/2014/main" val="1680926291"/>
                    </a:ext>
                  </a:extLst>
                </a:gridCol>
                <a:gridCol w="611687">
                  <a:extLst>
                    <a:ext uri="{9D8B030D-6E8A-4147-A177-3AD203B41FA5}">
                      <a16:colId xmlns:a16="http://schemas.microsoft.com/office/drawing/2014/main" val="3740347969"/>
                    </a:ext>
                  </a:extLst>
                </a:gridCol>
                <a:gridCol w="611707">
                  <a:extLst>
                    <a:ext uri="{9D8B030D-6E8A-4147-A177-3AD203B41FA5}">
                      <a16:colId xmlns:a16="http://schemas.microsoft.com/office/drawing/2014/main" val="3210642669"/>
                    </a:ext>
                  </a:extLst>
                </a:gridCol>
                <a:gridCol w="780325">
                  <a:extLst>
                    <a:ext uri="{9D8B030D-6E8A-4147-A177-3AD203B41FA5}">
                      <a16:colId xmlns:a16="http://schemas.microsoft.com/office/drawing/2014/main" val="32863902"/>
                    </a:ext>
                  </a:extLst>
                </a:gridCol>
                <a:gridCol w="780325">
                  <a:extLst>
                    <a:ext uri="{9D8B030D-6E8A-4147-A177-3AD203B41FA5}">
                      <a16:colId xmlns:a16="http://schemas.microsoft.com/office/drawing/2014/main" val="623422630"/>
                    </a:ext>
                  </a:extLst>
                </a:gridCol>
                <a:gridCol w="780325">
                  <a:extLst>
                    <a:ext uri="{9D8B030D-6E8A-4147-A177-3AD203B41FA5}">
                      <a16:colId xmlns:a16="http://schemas.microsoft.com/office/drawing/2014/main" val="3500505807"/>
                    </a:ext>
                  </a:extLst>
                </a:gridCol>
                <a:gridCol w="780325">
                  <a:extLst>
                    <a:ext uri="{9D8B030D-6E8A-4147-A177-3AD203B41FA5}">
                      <a16:colId xmlns:a16="http://schemas.microsoft.com/office/drawing/2014/main" val="4164381523"/>
                    </a:ext>
                  </a:extLst>
                </a:gridCol>
                <a:gridCol w="780325">
                  <a:extLst>
                    <a:ext uri="{9D8B030D-6E8A-4147-A177-3AD203B41FA5}">
                      <a16:colId xmlns:a16="http://schemas.microsoft.com/office/drawing/2014/main" val="1711004978"/>
                    </a:ext>
                  </a:extLst>
                </a:gridCol>
              </a:tblGrid>
              <a:tr h="357691">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Device Type</a:t>
                      </a:r>
                    </a:p>
                  </a:txBody>
                  <a:tcPr marL="0" marR="0" marT="0"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Line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Funding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Average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1</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Billing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 end</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Amortization to immediate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1</a:t>
                      </a:r>
                      <a:r>
                        <a:rPr lang="en-US" altLang="zh-CN"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 DMR</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(after month end)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grid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of DMR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2" h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extLst>
                  <a:ext uri="{0D108BD9-81ED-4DB2-BD59-A6C34878D82A}">
                    <a16:rowId xmlns:a16="http://schemas.microsoft.com/office/drawing/2014/main" val="2450389415"/>
                  </a:ext>
                </a:extLst>
              </a:tr>
              <a:tr h="34268">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row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endParaRPr lang="zh-CN" altLang="en-US"/>
                    </a:p>
                  </a:txBody>
                  <a:tcPr/>
                </a:tc>
                <a:tc vMerge="1">
                  <a:txBody>
                    <a:bodyPr/>
                    <a:lstStyle/>
                    <a:p>
                      <a:endParaRPr lang="zh-CN" altLang="en-US"/>
                    </a:p>
                  </a:txBody>
                  <a:tcPr/>
                </a:tc>
                <a:tc gridSpan="2"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409042224"/>
                  </a:ext>
                </a:extLst>
              </a:tr>
              <a:tr h="391959">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extLst>
                  <a:ext uri="{0D108BD9-81ED-4DB2-BD59-A6C34878D82A}">
                    <a16:rowId xmlns:a16="http://schemas.microsoft.com/office/drawing/2014/main" val="259579907"/>
                  </a:ext>
                </a:extLst>
              </a:tr>
              <a:tr h="351876">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NB TP T14 G3 I5 16G 256G 11P</a:t>
                      </a: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Downpayment for All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841195480"/>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905223256"/>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Premier Support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2361554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Configuration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64010382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Deployment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134390990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Managed Service (Future)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88650791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Asset Recovery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037216401"/>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Accessory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147581611"/>
                  </a:ext>
                </a:extLst>
              </a:tr>
            </a:tbl>
          </a:graphicData>
        </a:graphic>
      </p:graphicFrame>
      <p:sp>
        <p:nvSpPr>
          <p:cNvPr id="12" name="文本框 11">
            <a:extLst>
              <a:ext uri="{FF2B5EF4-FFF2-40B4-BE49-F238E27FC236}">
                <a16:creationId xmlns:a16="http://schemas.microsoft.com/office/drawing/2014/main" id="{476DF43F-60B2-F904-E7D0-43DB0D044C1E}"/>
              </a:ext>
            </a:extLst>
          </p:cNvPr>
          <p:cNvSpPr txBox="1"/>
          <p:nvPr/>
        </p:nvSpPr>
        <p:spPr>
          <a:xfrm>
            <a:off x="407132" y="953136"/>
            <a:ext cx="9734395" cy="1384995"/>
          </a:xfrm>
          <a:prstGeom prst="rect">
            <a:avLst/>
          </a:prstGeom>
          <a:noFill/>
        </p:spPr>
        <p:txBody>
          <a:bodyPr wrap="square" rtlCol="0">
            <a:spAutoFit/>
          </a:bodyPr>
          <a:lstStyle/>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As-is CMR logic: </a:t>
            </a:r>
            <a:r>
              <a:rPr lang="en-US" altLang="zh-CN" sz="1200">
                <a:latin typeface="Lato" panose="020F0502020204030203" pitchFamily="34" charset="0"/>
                <a:ea typeface="Lato" panose="020F0502020204030203" pitchFamily="34" charset="0"/>
                <a:cs typeface="Lato" panose="020F0502020204030203" pitchFamily="34" charset="0"/>
              </a:rPr>
              <a:t>same accounting treatment with the original billing</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Pain point for structure payment: </a:t>
            </a:r>
            <a:r>
              <a:rPr lang="en-US" altLang="zh-CN" sz="1200">
                <a:latin typeface="Lato" panose="020F0502020204030203" pitchFamily="34" charset="0"/>
                <a:ea typeface="Lato" panose="020F0502020204030203" pitchFamily="34" charset="0"/>
                <a:cs typeface="Lato" panose="020F0502020204030203" pitchFamily="34" charset="0"/>
              </a:rPr>
              <a:t>original monthly billing may have two different treatments based on the comparison with average billing.</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Potential solution: </a:t>
            </a:r>
            <a:r>
              <a:rPr lang="en-US" altLang="zh-CN" sz="1200">
                <a:latin typeface="Lato" panose="020F0502020204030203" pitchFamily="34" charset="0"/>
                <a:ea typeface="Lato" panose="020F0502020204030203" pitchFamily="34" charset="0"/>
                <a:cs typeface="Lato" panose="020F0502020204030203" pitchFamily="34" charset="0"/>
              </a:rPr>
              <a:t>business nature input and more complex calculation logic</a:t>
            </a:r>
          </a:p>
          <a:p>
            <a:pPr marL="228600" indent="-228600">
              <a:buFont typeface="Wingdings" panose="05000000000000000000" pitchFamily="2" charset="2"/>
              <a:buChar char="Ø"/>
            </a:pPr>
            <a:endParaRPr lang="en-US" altLang="zh-CN" sz="1200" b="1">
              <a:latin typeface="Lato" panose="020F0502020204030203" pitchFamily="34" charset="0"/>
              <a:ea typeface="Lato" panose="020F0502020204030203" pitchFamily="34" charset="0"/>
              <a:cs typeface="Lato" panose="020F0502020204030203" pitchFamily="34" charset="0"/>
            </a:endParaRP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Generally applicable operation suggestion: </a:t>
            </a:r>
            <a:r>
              <a:rPr lang="en-US" altLang="zh-CN" sz="1200">
                <a:latin typeface="Lato" panose="020F0502020204030203" pitchFamily="34" charset="0"/>
                <a:ea typeface="Lato" panose="020F0502020204030203" pitchFamily="34" charset="0"/>
                <a:cs typeface="Lato" panose="020F0502020204030203" pitchFamily="34" charset="0"/>
              </a:rPr>
              <a:t>Apply full amount CMR against the original billing, then issue a corrected DMR for the accurate amount.</a:t>
            </a:r>
          </a:p>
          <a:p>
            <a:pPr marL="228600" indent="-228600">
              <a:buFont typeface="Wingdings" panose="05000000000000000000" pitchFamily="2" charset="2"/>
              <a:buChar char="Ø"/>
            </a:pPr>
            <a:endParaRPr lang="en-US" altLang="zh-CN" sz="1200">
              <a:latin typeface="Lato" panose="020F0502020204030203" pitchFamily="34" charset="0"/>
              <a:ea typeface="Lato" panose="020F0502020204030203" pitchFamily="34" charset="0"/>
              <a:cs typeface="Lato" panose="020F0502020204030203" pitchFamily="34" charset="0"/>
            </a:endParaRPr>
          </a:p>
        </p:txBody>
      </p:sp>
      <p:sp>
        <p:nvSpPr>
          <p:cNvPr id="2" name="椭圆 1">
            <a:extLst>
              <a:ext uri="{FF2B5EF4-FFF2-40B4-BE49-F238E27FC236}">
                <a16:creationId xmlns:a16="http://schemas.microsoft.com/office/drawing/2014/main" id="{0D44C266-DA59-8EE4-B6A9-3E2E0B28FF09}"/>
              </a:ext>
            </a:extLst>
          </p:cNvPr>
          <p:cNvSpPr/>
          <p:nvPr/>
        </p:nvSpPr>
        <p:spPr>
          <a:xfrm>
            <a:off x="10767391" y="457526"/>
            <a:ext cx="815009" cy="495610"/>
          </a:xfrm>
          <a:prstGeom prst="ellipse">
            <a:avLst/>
          </a:prstGeom>
          <a:solidFill>
            <a:srgbClr val="FFFF00"/>
          </a:solidFill>
          <a:ln w="6350">
            <a:no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6" name="矩形: 圆角 5">
            <a:extLst>
              <a:ext uri="{FF2B5EF4-FFF2-40B4-BE49-F238E27FC236}">
                <a16:creationId xmlns:a16="http://schemas.microsoft.com/office/drawing/2014/main" id="{E0B32451-7784-DDBA-7668-CB510038BFBC}"/>
              </a:ext>
            </a:extLst>
          </p:cNvPr>
          <p:cNvSpPr/>
          <p:nvPr/>
        </p:nvSpPr>
        <p:spPr>
          <a:xfrm flipH="1">
            <a:off x="6314660" y="3054597"/>
            <a:ext cx="2358890" cy="3048989"/>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7" name="对话气泡: 矩形 6">
            <a:extLst>
              <a:ext uri="{FF2B5EF4-FFF2-40B4-BE49-F238E27FC236}">
                <a16:creationId xmlns:a16="http://schemas.microsoft.com/office/drawing/2014/main" id="{D4CA139F-A7BE-9A98-52F9-29ADD18B7E13}"/>
              </a:ext>
            </a:extLst>
          </p:cNvPr>
          <p:cNvSpPr/>
          <p:nvPr/>
        </p:nvSpPr>
        <p:spPr>
          <a:xfrm>
            <a:off x="5578864" y="2227984"/>
            <a:ext cx="2981739" cy="472362"/>
          </a:xfrm>
          <a:prstGeom prst="wedgeRectCallout">
            <a:avLst>
              <a:gd name="adj1" fmla="val -11225"/>
              <a:gd name="adj2" fmla="val 10193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latin typeface="Lato" panose="020F0502020204030203" pitchFamily="34" charset="0"/>
                <a:ea typeface="Lato" panose="020F0502020204030203" pitchFamily="34" charset="0"/>
                <a:cs typeface="Lato" panose="020F0502020204030203" pitchFamily="34" charset="0"/>
              </a:rPr>
              <a:t>Scenario2: DMR of monthly billing lower than average payment</a:t>
            </a:r>
          </a:p>
        </p:txBody>
      </p:sp>
    </p:spTree>
    <p:extLst>
      <p:ext uri="{BB962C8B-B14F-4D97-AF65-F5344CB8AC3E}">
        <p14:creationId xmlns:p14="http://schemas.microsoft.com/office/powerpoint/2010/main" val="1242610337"/>
      </p:ext>
    </p:extLst>
  </p:cSld>
  <p:clrMapOvr>
    <a:masterClrMapping/>
  </p:clrMapOvr>
  <p:transition>
    <p:fade/>
  </p:transition>
</p:sld>
</file>

<file path=ppt/slides/slide15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F2339485-BBB8-95AC-4202-50514B8E8115}"/>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4AB3A534-9CA8-C6D7-FA84-51E5478DFF24}"/>
              </a:ext>
            </a:extLst>
          </p:cNvPr>
          <p:cNvSpPr txBox="1">
            <a:spLocks/>
          </p:cNvSpPr>
          <p:nvPr/>
        </p:nvSpPr>
        <p:spPr>
          <a:xfrm>
            <a:off x="213472" y="457526"/>
            <a:ext cx="11594214"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 DMR after month end</a:t>
            </a:r>
          </a:p>
        </p:txBody>
      </p:sp>
      <p:sp>
        <p:nvSpPr>
          <p:cNvPr id="3" name="Slide Number Placeholder 4">
            <a:extLst>
              <a:ext uri="{FF2B5EF4-FFF2-40B4-BE49-F238E27FC236}">
                <a16:creationId xmlns:a16="http://schemas.microsoft.com/office/drawing/2014/main" id="{867A15CC-705E-314F-4839-74EDA257F7BF}"/>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156</a:t>
            </a:fld>
            <a:endParaRPr lang="en-US">
              <a:solidFill>
                <a:srgbClr val="000000"/>
              </a:solidFill>
            </a:endParaRPr>
          </a:p>
        </p:txBody>
      </p:sp>
      <p:graphicFrame>
        <p:nvGraphicFramePr>
          <p:cNvPr id="5" name="表格 4">
            <a:extLst>
              <a:ext uri="{FF2B5EF4-FFF2-40B4-BE49-F238E27FC236}">
                <a16:creationId xmlns:a16="http://schemas.microsoft.com/office/drawing/2014/main" id="{7F17F4E2-195F-77EE-7D65-1E2A90EDA885}"/>
              </a:ext>
            </a:extLst>
          </p:cNvPr>
          <p:cNvGraphicFramePr>
            <a:graphicFrameLocks noGrp="1"/>
          </p:cNvGraphicFramePr>
          <p:nvPr>
            <p:extLst>
              <p:ext uri="{D42A27DB-BD31-4B8C-83A1-F6EECF244321}">
                <p14:modId xmlns:p14="http://schemas.microsoft.com/office/powerpoint/2010/main" val="1677290242"/>
              </p:ext>
            </p:extLst>
          </p:nvPr>
        </p:nvGraphicFramePr>
        <p:xfrm>
          <a:off x="596048" y="2676910"/>
          <a:ext cx="9886419" cy="3075648"/>
        </p:xfrm>
        <a:graphic>
          <a:graphicData uri="http://schemas.openxmlformats.org/drawingml/2006/table">
            <a:tbl>
              <a:tblPr/>
              <a:tblGrid>
                <a:gridCol w="616232">
                  <a:extLst>
                    <a:ext uri="{9D8B030D-6E8A-4147-A177-3AD203B41FA5}">
                      <a16:colId xmlns:a16="http://schemas.microsoft.com/office/drawing/2014/main" val="1223615466"/>
                    </a:ext>
                  </a:extLst>
                </a:gridCol>
                <a:gridCol w="907529">
                  <a:extLst>
                    <a:ext uri="{9D8B030D-6E8A-4147-A177-3AD203B41FA5}">
                      <a16:colId xmlns:a16="http://schemas.microsoft.com/office/drawing/2014/main" val="2919641517"/>
                    </a:ext>
                  </a:extLst>
                </a:gridCol>
                <a:gridCol w="406762">
                  <a:extLst>
                    <a:ext uri="{9D8B030D-6E8A-4147-A177-3AD203B41FA5}">
                      <a16:colId xmlns:a16="http://schemas.microsoft.com/office/drawing/2014/main" val="531832058"/>
                    </a:ext>
                  </a:extLst>
                </a:gridCol>
                <a:gridCol w="606383">
                  <a:extLst>
                    <a:ext uri="{9D8B030D-6E8A-4147-A177-3AD203B41FA5}">
                      <a16:colId xmlns:a16="http://schemas.microsoft.com/office/drawing/2014/main" val="1680926291"/>
                    </a:ext>
                  </a:extLst>
                </a:gridCol>
                <a:gridCol w="545164">
                  <a:extLst>
                    <a:ext uri="{9D8B030D-6E8A-4147-A177-3AD203B41FA5}">
                      <a16:colId xmlns:a16="http://schemas.microsoft.com/office/drawing/2014/main" val="3740347969"/>
                    </a:ext>
                  </a:extLst>
                </a:gridCol>
                <a:gridCol w="545182">
                  <a:extLst>
                    <a:ext uri="{9D8B030D-6E8A-4147-A177-3AD203B41FA5}">
                      <a16:colId xmlns:a16="http://schemas.microsoft.com/office/drawing/2014/main" val="3210642669"/>
                    </a:ext>
                  </a:extLst>
                </a:gridCol>
                <a:gridCol w="695463">
                  <a:extLst>
                    <a:ext uri="{9D8B030D-6E8A-4147-A177-3AD203B41FA5}">
                      <a16:colId xmlns:a16="http://schemas.microsoft.com/office/drawing/2014/main" val="32863902"/>
                    </a:ext>
                  </a:extLst>
                </a:gridCol>
                <a:gridCol w="695463">
                  <a:extLst>
                    <a:ext uri="{9D8B030D-6E8A-4147-A177-3AD203B41FA5}">
                      <a16:colId xmlns:a16="http://schemas.microsoft.com/office/drawing/2014/main" val="623422630"/>
                    </a:ext>
                  </a:extLst>
                </a:gridCol>
                <a:gridCol w="695463">
                  <a:extLst>
                    <a:ext uri="{9D8B030D-6E8A-4147-A177-3AD203B41FA5}">
                      <a16:colId xmlns:a16="http://schemas.microsoft.com/office/drawing/2014/main" val="3327877036"/>
                    </a:ext>
                  </a:extLst>
                </a:gridCol>
                <a:gridCol w="695463">
                  <a:extLst>
                    <a:ext uri="{9D8B030D-6E8A-4147-A177-3AD203B41FA5}">
                      <a16:colId xmlns:a16="http://schemas.microsoft.com/office/drawing/2014/main" val="3817005292"/>
                    </a:ext>
                  </a:extLst>
                </a:gridCol>
                <a:gridCol w="695463">
                  <a:extLst>
                    <a:ext uri="{9D8B030D-6E8A-4147-A177-3AD203B41FA5}">
                      <a16:colId xmlns:a16="http://schemas.microsoft.com/office/drawing/2014/main" val="1038681320"/>
                    </a:ext>
                  </a:extLst>
                </a:gridCol>
                <a:gridCol w="695463">
                  <a:extLst>
                    <a:ext uri="{9D8B030D-6E8A-4147-A177-3AD203B41FA5}">
                      <a16:colId xmlns:a16="http://schemas.microsoft.com/office/drawing/2014/main" val="3500505807"/>
                    </a:ext>
                  </a:extLst>
                </a:gridCol>
                <a:gridCol w="695463">
                  <a:extLst>
                    <a:ext uri="{9D8B030D-6E8A-4147-A177-3AD203B41FA5}">
                      <a16:colId xmlns:a16="http://schemas.microsoft.com/office/drawing/2014/main" val="4164381523"/>
                    </a:ext>
                  </a:extLst>
                </a:gridCol>
                <a:gridCol w="695463">
                  <a:extLst>
                    <a:ext uri="{9D8B030D-6E8A-4147-A177-3AD203B41FA5}">
                      <a16:colId xmlns:a16="http://schemas.microsoft.com/office/drawing/2014/main" val="1711004978"/>
                    </a:ext>
                  </a:extLst>
                </a:gridCol>
                <a:gridCol w="695463">
                  <a:extLst>
                    <a:ext uri="{9D8B030D-6E8A-4147-A177-3AD203B41FA5}">
                      <a16:colId xmlns:a16="http://schemas.microsoft.com/office/drawing/2014/main" val="3781653164"/>
                    </a:ext>
                  </a:extLst>
                </a:gridCol>
              </a:tblGrid>
              <a:tr h="357691">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Device Type</a:t>
                      </a:r>
                    </a:p>
                  </a:txBody>
                  <a:tcPr marL="0" marR="0" marT="0"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Line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Funding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Average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1</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Billing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 end</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Amortization to immediate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1</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 CMR</a:t>
                      </a:r>
                    </a:p>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(after month end)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 end</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Amortization to immediate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1</a:t>
                      </a:r>
                      <a:r>
                        <a:rPr lang="en-US" altLang="zh-CN"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 DMR</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(after month end)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grid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of DMR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2" h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3">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 end</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Amortization to immediate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extLst>
                  <a:ext uri="{0D108BD9-81ED-4DB2-BD59-A6C34878D82A}">
                    <a16:rowId xmlns:a16="http://schemas.microsoft.com/office/drawing/2014/main" val="2450389415"/>
                  </a:ext>
                </a:extLst>
              </a:tr>
              <a:tr h="34268">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row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endParaRPr lang="zh-CN" altLang="en-US"/>
                    </a:p>
                  </a:txBody>
                  <a:tcPr/>
                </a:tc>
                <a:tc vMerge="1">
                  <a:txBody>
                    <a:bodyPr/>
                    <a:lstStyle/>
                    <a:p>
                      <a:pPr marL="0" algn="ctr" defTabSz="1218621" rtl="0" eaLnBrk="1" fontAlgn="ctr" latinLnBrk="0" hangingPunct="1">
                        <a:buNone/>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gridSpan="2" vMerge="1">
                  <a:txBody>
                    <a:bodyPr/>
                    <a:lstStyle/>
                    <a:p>
                      <a:endParaRPr lang="zh-CN" altLang="en-US"/>
                    </a:p>
                  </a:txBody>
                  <a:tcPr/>
                </a:tc>
                <a:tc hMerge="1"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1409042224"/>
                  </a:ext>
                </a:extLst>
              </a:tr>
              <a:tr h="391959">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endParaRPr lang="zh-CN" altLang="en-US"/>
                    </a:p>
                  </a:txBody>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extLst>
                  <a:ext uri="{0D108BD9-81ED-4DB2-BD59-A6C34878D82A}">
                    <a16:rowId xmlns:a16="http://schemas.microsoft.com/office/drawing/2014/main" val="259579907"/>
                  </a:ext>
                </a:extLst>
              </a:tr>
              <a:tr h="351876">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NB TP T14 G3 I5 16G 256G 11P</a:t>
                      </a: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Downpayment for All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841195480"/>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905223256"/>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Premier Support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2361554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Configuration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64010382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Deployment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134390990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Managed Service (Future)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88650791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Asset Recovery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037216401"/>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Accessory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147581611"/>
                  </a:ext>
                </a:extLst>
              </a:tr>
            </a:tbl>
          </a:graphicData>
        </a:graphic>
      </p:graphicFrame>
      <p:sp>
        <p:nvSpPr>
          <p:cNvPr id="12" name="文本框 11">
            <a:extLst>
              <a:ext uri="{FF2B5EF4-FFF2-40B4-BE49-F238E27FC236}">
                <a16:creationId xmlns:a16="http://schemas.microsoft.com/office/drawing/2014/main" id="{F1814A1D-0952-A0A0-60D4-7769DEEAB04E}"/>
              </a:ext>
            </a:extLst>
          </p:cNvPr>
          <p:cNvSpPr txBox="1"/>
          <p:nvPr/>
        </p:nvSpPr>
        <p:spPr>
          <a:xfrm>
            <a:off x="407132" y="953136"/>
            <a:ext cx="9734395" cy="1754326"/>
          </a:xfrm>
          <a:prstGeom prst="rect">
            <a:avLst/>
          </a:prstGeom>
          <a:noFill/>
        </p:spPr>
        <p:txBody>
          <a:bodyPr wrap="square" rtlCol="0">
            <a:spAutoFit/>
          </a:bodyPr>
          <a:lstStyle/>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As-is CMR logic: </a:t>
            </a:r>
            <a:r>
              <a:rPr lang="en-US" altLang="zh-CN" sz="1200">
                <a:latin typeface="Lato" panose="020F0502020204030203" pitchFamily="34" charset="0"/>
                <a:ea typeface="Lato" panose="020F0502020204030203" pitchFamily="34" charset="0"/>
                <a:cs typeface="Lato" panose="020F0502020204030203" pitchFamily="34" charset="0"/>
              </a:rPr>
              <a:t>same accounting treatment with the original billing</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Pain point for structure payment: </a:t>
            </a:r>
            <a:r>
              <a:rPr lang="en-US" altLang="zh-CN" sz="1200">
                <a:latin typeface="Lato" panose="020F0502020204030203" pitchFamily="34" charset="0"/>
                <a:ea typeface="Lato" panose="020F0502020204030203" pitchFamily="34" charset="0"/>
                <a:cs typeface="Lato" panose="020F0502020204030203" pitchFamily="34" charset="0"/>
              </a:rPr>
              <a:t>original monthly billing may have two different treatments based on the comparison with average billing.</a:t>
            </a:r>
          </a:p>
          <a:p>
            <a:pPr marL="228600" indent="-228600">
              <a:buFont typeface="Wingdings" panose="05000000000000000000" pitchFamily="2" charset="2"/>
              <a:buChar char="Ø"/>
            </a:pPr>
            <a:endParaRPr lang="en-US" altLang="zh-CN" sz="1200" b="1">
              <a:latin typeface="Lato" panose="020F0502020204030203" pitchFamily="34" charset="0"/>
              <a:ea typeface="Lato" panose="020F0502020204030203" pitchFamily="34" charset="0"/>
              <a:cs typeface="Lato" panose="020F0502020204030203" pitchFamily="34" charset="0"/>
            </a:endParaRP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Assumption: </a:t>
            </a:r>
            <a:r>
              <a:rPr lang="en-US" altLang="zh-CN" sz="1200">
                <a:latin typeface="Lato" panose="020F0502020204030203" pitchFamily="34" charset="0"/>
                <a:ea typeface="Lato" panose="020F0502020204030203" pitchFamily="34" charset="0"/>
                <a:cs typeface="Lato" panose="020F0502020204030203" pitchFamily="34" charset="0"/>
              </a:rPr>
              <a:t>full amount CMR then issue corrected DMR</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Key point: </a:t>
            </a:r>
          </a:p>
          <a:p>
            <a:pPr marL="685800" lvl="1" indent="-228600">
              <a:buFont typeface="Wingdings" panose="05000000000000000000" pitchFamily="2" charset="2"/>
              <a:buChar char="Ø"/>
            </a:pPr>
            <a:r>
              <a:rPr lang="en-US" altLang="zh-CN" sz="1200">
                <a:latin typeface="Lato" panose="020F0502020204030203" pitchFamily="34" charset="0"/>
                <a:ea typeface="Lato" panose="020F0502020204030203" pitchFamily="34" charset="0"/>
                <a:cs typeface="Lato" panose="020F0502020204030203" pitchFamily="34" charset="0"/>
              </a:rPr>
              <a:t>Monthly end amortization with reference to original monthly billing</a:t>
            </a:r>
          </a:p>
          <a:p>
            <a:pPr marL="685800" lvl="1" indent="-228600">
              <a:buFont typeface="Wingdings" panose="05000000000000000000" pitchFamily="2" charset="2"/>
              <a:buChar char="Ø"/>
            </a:pPr>
            <a:r>
              <a:rPr lang="en-US" altLang="zh-CN" sz="1200">
                <a:latin typeface="Lato" panose="020F0502020204030203" pitchFamily="34" charset="0"/>
                <a:ea typeface="Lato" panose="020F0502020204030203" pitchFamily="34" charset="0"/>
                <a:cs typeface="Lato" panose="020F0502020204030203" pitchFamily="34" charset="0"/>
              </a:rPr>
              <a:t>Related monthly end amortization also need to reverse </a:t>
            </a:r>
          </a:p>
          <a:p>
            <a:pPr marL="685800" lvl="1" indent="-228600">
              <a:buFont typeface="Wingdings" panose="05000000000000000000" pitchFamily="2" charset="2"/>
              <a:buChar char="Ø"/>
            </a:pPr>
            <a:r>
              <a:rPr lang="en-US" altLang="zh-CN" sz="1200">
                <a:latin typeface="Lato" panose="020F0502020204030203" pitchFamily="34" charset="0"/>
                <a:ea typeface="Lato" panose="020F0502020204030203" pitchFamily="34" charset="0"/>
                <a:cs typeface="Lato" panose="020F0502020204030203" pitchFamily="34" charset="0"/>
              </a:rPr>
              <a:t>New monthly end amortization need to be booked based on the new DMR</a:t>
            </a:r>
          </a:p>
          <a:p>
            <a:pPr marL="228600" indent="-228600">
              <a:buFont typeface="Wingdings" panose="05000000000000000000" pitchFamily="2" charset="2"/>
              <a:buChar char="Ø"/>
            </a:pPr>
            <a:endParaRPr lang="en-US" altLang="zh-CN" sz="1200">
              <a:latin typeface="Lato" panose="020F0502020204030203" pitchFamily="34" charset="0"/>
              <a:ea typeface="Lato" panose="020F0502020204030203" pitchFamily="34" charset="0"/>
              <a:cs typeface="Lato" panose="020F0502020204030203" pitchFamily="34" charset="0"/>
            </a:endParaRPr>
          </a:p>
        </p:txBody>
      </p:sp>
      <p:sp>
        <p:nvSpPr>
          <p:cNvPr id="2" name="椭圆 1">
            <a:extLst>
              <a:ext uri="{FF2B5EF4-FFF2-40B4-BE49-F238E27FC236}">
                <a16:creationId xmlns:a16="http://schemas.microsoft.com/office/drawing/2014/main" id="{CA6D54D0-DBF9-EBCA-22AC-B20FA96C12B9}"/>
              </a:ext>
            </a:extLst>
          </p:cNvPr>
          <p:cNvSpPr/>
          <p:nvPr/>
        </p:nvSpPr>
        <p:spPr>
          <a:xfrm>
            <a:off x="10767391" y="457526"/>
            <a:ext cx="815009" cy="495610"/>
          </a:xfrm>
          <a:prstGeom prst="ellipse">
            <a:avLst/>
          </a:prstGeom>
          <a:solidFill>
            <a:srgbClr val="FFFF00"/>
          </a:solidFill>
          <a:ln w="6350">
            <a:no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6" name="矩形: 圆角 5">
            <a:extLst>
              <a:ext uri="{FF2B5EF4-FFF2-40B4-BE49-F238E27FC236}">
                <a16:creationId xmlns:a16="http://schemas.microsoft.com/office/drawing/2014/main" id="{E67E52A3-5318-7709-8822-D01732B8358A}"/>
              </a:ext>
            </a:extLst>
          </p:cNvPr>
          <p:cNvSpPr/>
          <p:nvPr/>
        </p:nvSpPr>
        <p:spPr>
          <a:xfrm flipH="1">
            <a:off x="5592413" y="2676910"/>
            <a:ext cx="4890053" cy="3048989"/>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Tree>
    <p:extLst>
      <p:ext uri="{BB962C8B-B14F-4D97-AF65-F5344CB8AC3E}">
        <p14:creationId xmlns:p14="http://schemas.microsoft.com/office/powerpoint/2010/main" val="2869484528"/>
      </p:ext>
    </p:extLst>
  </p:cSld>
  <p:clrMapOvr>
    <a:masterClrMapping/>
  </p:clrMapOvr>
  <p:transition>
    <p:fade/>
  </p:transition>
</p:sld>
</file>

<file path=ppt/slides/slide15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ABF60D25-EB78-C0A1-33BC-0743D4B6874A}"/>
            </a:ext>
          </a:extLst>
        </p:cNvPr>
        <p:cNvGrpSpPr/>
        <p:nvPr/>
      </p:nvGrpSpPr>
      <p:grpSpPr>
        <a:xfrm>
          <a:off x="0" y="0"/>
          <a:ext cx="0" cy="0"/>
          <a:chOff x="0" y="0"/>
          <a:chExt cx="0" cy="0"/>
        </a:xfrm>
      </p:grpSpPr>
      <p:sp>
        <p:nvSpPr>
          <p:cNvPr id="4" name="Title 10">
            <a:extLst>
              <a:ext uri="{FF2B5EF4-FFF2-40B4-BE49-F238E27FC236}">
                <a16:creationId xmlns:a16="http://schemas.microsoft.com/office/drawing/2014/main" id="{2C03400F-68BF-9205-9D53-D9C2C2B521F7}"/>
              </a:ext>
            </a:extLst>
          </p:cNvPr>
          <p:cNvSpPr txBox="1">
            <a:spLocks/>
          </p:cNvSpPr>
          <p:nvPr/>
        </p:nvSpPr>
        <p:spPr>
          <a:xfrm>
            <a:off x="213472" y="457526"/>
            <a:ext cx="11594214"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a:solidFill>
                  <a:srgbClr val="000000"/>
                </a:solidFill>
                <a:latin typeface="Tenorite" panose="00000500000000000000" pitchFamily="2" charset="0"/>
                <a:cs typeface="Arial" panose="020B0604020202020204" pitchFamily="34" charset="0"/>
                <a:sym typeface="Arial" panose="020B0604020202020204" pitchFamily="34" charset="0"/>
              </a:rPr>
              <a:t>Structure Payment – DMR after month end</a:t>
            </a:r>
          </a:p>
        </p:txBody>
      </p:sp>
      <p:sp>
        <p:nvSpPr>
          <p:cNvPr id="3" name="Slide Number Placeholder 4">
            <a:extLst>
              <a:ext uri="{FF2B5EF4-FFF2-40B4-BE49-F238E27FC236}">
                <a16:creationId xmlns:a16="http://schemas.microsoft.com/office/drawing/2014/main" id="{477FB8E0-E4A9-DF88-554A-08A248EF0330}"/>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157</a:t>
            </a:fld>
            <a:endParaRPr lang="en-US">
              <a:solidFill>
                <a:srgbClr val="000000"/>
              </a:solidFill>
            </a:endParaRPr>
          </a:p>
        </p:txBody>
      </p:sp>
      <p:graphicFrame>
        <p:nvGraphicFramePr>
          <p:cNvPr id="5" name="表格 4">
            <a:extLst>
              <a:ext uri="{FF2B5EF4-FFF2-40B4-BE49-F238E27FC236}">
                <a16:creationId xmlns:a16="http://schemas.microsoft.com/office/drawing/2014/main" id="{4D39ABE3-0C71-8952-FD1D-14527253A6D3}"/>
              </a:ext>
            </a:extLst>
          </p:cNvPr>
          <p:cNvGraphicFramePr>
            <a:graphicFrameLocks noGrp="1"/>
          </p:cNvGraphicFramePr>
          <p:nvPr>
            <p:extLst>
              <p:ext uri="{D42A27DB-BD31-4B8C-83A1-F6EECF244321}">
                <p14:modId xmlns:p14="http://schemas.microsoft.com/office/powerpoint/2010/main" val="1903727191"/>
              </p:ext>
            </p:extLst>
          </p:nvPr>
        </p:nvGraphicFramePr>
        <p:xfrm>
          <a:off x="596047" y="2842439"/>
          <a:ext cx="9886419" cy="3075648"/>
        </p:xfrm>
        <a:graphic>
          <a:graphicData uri="http://schemas.openxmlformats.org/drawingml/2006/table">
            <a:tbl>
              <a:tblPr/>
              <a:tblGrid>
                <a:gridCol w="616232">
                  <a:extLst>
                    <a:ext uri="{9D8B030D-6E8A-4147-A177-3AD203B41FA5}">
                      <a16:colId xmlns:a16="http://schemas.microsoft.com/office/drawing/2014/main" val="1223615466"/>
                    </a:ext>
                  </a:extLst>
                </a:gridCol>
                <a:gridCol w="907529">
                  <a:extLst>
                    <a:ext uri="{9D8B030D-6E8A-4147-A177-3AD203B41FA5}">
                      <a16:colId xmlns:a16="http://schemas.microsoft.com/office/drawing/2014/main" val="2919641517"/>
                    </a:ext>
                  </a:extLst>
                </a:gridCol>
                <a:gridCol w="406762">
                  <a:extLst>
                    <a:ext uri="{9D8B030D-6E8A-4147-A177-3AD203B41FA5}">
                      <a16:colId xmlns:a16="http://schemas.microsoft.com/office/drawing/2014/main" val="531832058"/>
                    </a:ext>
                  </a:extLst>
                </a:gridCol>
                <a:gridCol w="606383">
                  <a:extLst>
                    <a:ext uri="{9D8B030D-6E8A-4147-A177-3AD203B41FA5}">
                      <a16:colId xmlns:a16="http://schemas.microsoft.com/office/drawing/2014/main" val="1680926291"/>
                    </a:ext>
                  </a:extLst>
                </a:gridCol>
                <a:gridCol w="545164">
                  <a:extLst>
                    <a:ext uri="{9D8B030D-6E8A-4147-A177-3AD203B41FA5}">
                      <a16:colId xmlns:a16="http://schemas.microsoft.com/office/drawing/2014/main" val="3740347969"/>
                    </a:ext>
                  </a:extLst>
                </a:gridCol>
                <a:gridCol w="545182">
                  <a:extLst>
                    <a:ext uri="{9D8B030D-6E8A-4147-A177-3AD203B41FA5}">
                      <a16:colId xmlns:a16="http://schemas.microsoft.com/office/drawing/2014/main" val="3210642669"/>
                    </a:ext>
                  </a:extLst>
                </a:gridCol>
                <a:gridCol w="695463">
                  <a:extLst>
                    <a:ext uri="{9D8B030D-6E8A-4147-A177-3AD203B41FA5}">
                      <a16:colId xmlns:a16="http://schemas.microsoft.com/office/drawing/2014/main" val="32863902"/>
                    </a:ext>
                  </a:extLst>
                </a:gridCol>
                <a:gridCol w="695463">
                  <a:extLst>
                    <a:ext uri="{9D8B030D-6E8A-4147-A177-3AD203B41FA5}">
                      <a16:colId xmlns:a16="http://schemas.microsoft.com/office/drawing/2014/main" val="623422630"/>
                    </a:ext>
                  </a:extLst>
                </a:gridCol>
                <a:gridCol w="695463">
                  <a:extLst>
                    <a:ext uri="{9D8B030D-6E8A-4147-A177-3AD203B41FA5}">
                      <a16:colId xmlns:a16="http://schemas.microsoft.com/office/drawing/2014/main" val="3327877036"/>
                    </a:ext>
                  </a:extLst>
                </a:gridCol>
                <a:gridCol w="695463">
                  <a:extLst>
                    <a:ext uri="{9D8B030D-6E8A-4147-A177-3AD203B41FA5}">
                      <a16:colId xmlns:a16="http://schemas.microsoft.com/office/drawing/2014/main" val="3817005292"/>
                    </a:ext>
                  </a:extLst>
                </a:gridCol>
                <a:gridCol w="695463">
                  <a:extLst>
                    <a:ext uri="{9D8B030D-6E8A-4147-A177-3AD203B41FA5}">
                      <a16:colId xmlns:a16="http://schemas.microsoft.com/office/drawing/2014/main" val="1038681320"/>
                    </a:ext>
                  </a:extLst>
                </a:gridCol>
                <a:gridCol w="695463">
                  <a:extLst>
                    <a:ext uri="{9D8B030D-6E8A-4147-A177-3AD203B41FA5}">
                      <a16:colId xmlns:a16="http://schemas.microsoft.com/office/drawing/2014/main" val="3500505807"/>
                    </a:ext>
                  </a:extLst>
                </a:gridCol>
                <a:gridCol w="695463">
                  <a:extLst>
                    <a:ext uri="{9D8B030D-6E8A-4147-A177-3AD203B41FA5}">
                      <a16:colId xmlns:a16="http://schemas.microsoft.com/office/drawing/2014/main" val="4164381523"/>
                    </a:ext>
                  </a:extLst>
                </a:gridCol>
                <a:gridCol w="695463">
                  <a:extLst>
                    <a:ext uri="{9D8B030D-6E8A-4147-A177-3AD203B41FA5}">
                      <a16:colId xmlns:a16="http://schemas.microsoft.com/office/drawing/2014/main" val="1711004978"/>
                    </a:ext>
                  </a:extLst>
                </a:gridCol>
                <a:gridCol w="695463">
                  <a:extLst>
                    <a:ext uri="{9D8B030D-6E8A-4147-A177-3AD203B41FA5}">
                      <a16:colId xmlns:a16="http://schemas.microsoft.com/office/drawing/2014/main" val="3781653164"/>
                    </a:ext>
                  </a:extLst>
                </a:gridCol>
              </a:tblGrid>
              <a:tr h="357691">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Device Type</a:t>
                      </a:r>
                    </a:p>
                  </a:txBody>
                  <a:tcPr marL="0" marR="0" marT="0"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Line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Funding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Average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3E8DDD"/>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Down Payment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1</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a:t>
                      </a:r>
                    </a:p>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Billing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 end</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Amortization to immediate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1</a:t>
                      </a:r>
                      <a:r>
                        <a:rPr lang="en-US"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 CMR</a:t>
                      </a:r>
                    </a:p>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(after month end)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 end</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Amortization to immediate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3">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1</a:t>
                      </a:r>
                      <a:r>
                        <a:rPr lang="en-US" altLang="zh-CN" sz="900" b="1" u="none" strike="noStrike" kern="1200" baseline="30000">
                          <a:solidFill>
                            <a:schemeClr val="lt1"/>
                          </a:solidFill>
                          <a:effectLst/>
                          <a:latin typeface="Lato" panose="020F0502020204030203" pitchFamily="34" charset="0"/>
                          <a:ea typeface="Lato" panose="020F0502020204030203" pitchFamily="34" charset="0"/>
                          <a:cs typeface="Lato" panose="020F0502020204030203" pitchFamily="34" charset="0"/>
                        </a:rPr>
                        <a:t>st</a:t>
                      </a: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Month DMR</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(after month end)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2" grid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Accounting treatment</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 of DMR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tc rowSpan="2" h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46C8E1"/>
                    </a:solidFill>
                  </a:tcPr>
                </a:tc>
                <a:tc rowSpan="3">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Month end</a:t>
                      </a:r>
                    </a:p>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Amortization to immediate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92D050"/>
                    </a:solidFill>
                  </a:tcPr>
                </a:tc>
                <a:extLst>
                  <a:ext uri="{0D108BD9-81ED-4DB2-BD59-A6C34878D82A}">
                    <a16:rowId xmlns:a16="http://schemas.microsoft.com/office/drawing/2014/main" val="2450389415"/>
                  </a:ext>
                </a:extLst>
              </a:tr>
              <a:tr h="34268">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3E8DDD"/>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46C8E1"/>
                    </a:solidFill>
                  </a:tcPr>
                </a:tc>
                <a:tc rowSpan="2">
                  <a:txBody>
                    <a:bodyPr/>
                    <a:lstStyle/>
                    <a:p>
                      <a:pPr marL="0" algn="ctr" defTabSz="1218621" rtl="0" eaLnBrk="1" fontAlgn="ctr" latinLnBrk="0" hangingPunct="1">
                        <a:buNone/>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endParaRPr lang="zh-CN" altLang="en-US"/>
                    </a:p>
                  </a:txBody>
                  <a:tcPr/>
                </a:tc>
                <a:tc vMerge="1">
                  <a:txBody>
                    <a:bodyPr/>
                    <a:lstStyle/>
                    <a:p>
                      <a:pPr marL="0" algn="ctr" defTabSz="1218621" rtl="0" eaLnBrk="1" fontAlgn="ctr" latinLnBrk="0" hangingPunct="1">
                        <a:buNone/>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gridSpan="2" vMerge="1">
                  <a:txBody>
                    <a:bodyPr/>
                    <a:lstStyle/>
                    <a:p>
                      <a:endParaRPr lang="zh-CN" altLang="en-US"/>
                    </a:p>
                  </a:txBody>
                  <a:tcPr/>
                </a:tc>
                <a:tc hMerge="1"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1409042224"/>
                  </a:ext>
                </a:extLst>
              </a:tr>
              <a:tr h="391959">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endParaRPr lang="en-US" altLang="zh-CN"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endParaRPr lang="zh-CN" altLang="en-US"/>
                    </a:p>
                  </a:txBody>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Immediate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a:txBody>
                    <a:bodyPr/>
                    <a:lstStyle/>
                    <a:p>
                      <a:pPr marL="0" algn="ctr" defTabSz="1218621" rtl="0" eaLnBrk="1" fontAlgn="ctr" latinLnBrk="0" hangingPunct="1">
                        <a:buNone/>
                      </a:pPr>
                      <a:r>
                        <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rPr>
                        <a:t>Defer revenue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tc vMerge="1">
                  <a:txBody>
                    <a:bodyPr/>
                    <a:lstStyle/>
                    <a:p>
                      <a:pPr marL="0" algn="ctr" defTabSz="1218621" rtl="0" eaLnBrk="1" fontAlgn="ctr" latinLnBrk="0" hangingPunct="1">
                        <a:buNone/>
                      </a:pPr>
                      <a:endParaRPr lang="en-US" sz="900" b="1" u="none" strike="noStrike" kern="1200">
                        <a:solidFill>
                          <a:schemeClr val="lt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92D050"/>
                    </a:solidFill>
                  </a:tcPr>
                </a:tc>
                <a:extLst>
                  <a:ext uri="{0D108BD9-81ED-4DB2-BD59-A6C34878D82A}">
                    <a16:rowId xmlns:a16="http://schemas.microsoft.com/office/drawing/2014/main" val="259579907"/>
                  </a:ext>
                </a:extLst>
              </a:tr>
              <a:tr h="351876">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NB TP T14 G3 I5 16G 256G 11P</a:t>
                      </a:r>
                    </a:p>
                  </a:txBody>
                  <a:tcPr marL="0" marR="0" marT="0"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Downpayment for All Items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marR="0" lvl="0" indent="0" algn="ctr" defTabSz="1218621" rtl="0" eaLnBrk="1" fontAlgn="ctr" latinLnBrk="0" hangingPunct="1">
                        <a:lnSpc>
                          <a:spcPct val="100000"/>
                        </a:lnSpc>
                        <a:spcBef>
                          <a:spcPts val="0"/>
                        </a:spcBef>
                        <a:spcAft>
                          <a:spcPts val="0"/>
                        </a:spcAft>
                        <a:buClrTx/>
                        <a:buSzTx/>
                        <a:buFontTx/>
                        <a:buNone/>
                        <a:tabLst/>
                        <a:defRPr/>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841195480"/>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810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905223256"/>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Premier Support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22361554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Configuration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64010382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Deployment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1343909904"/>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Managed Service (Future)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zh-CN" altLang="en-US" sz="900" b="0" u="none" strike="noStrike" kern="1200">
                          <a:solidFill>
                            <a:schemeClr val="bg1">
                              <a:lumMod val="75000"/>
                            </a:schemeClr>
                          </a:solidFill>
                          <a:effectLst/>
                          <a:latin typeface="Lato" panose="020F0502020204030203" pitchFamily="34" charset="0"/>
                          <a:ea typeface="等线" panose="02010600030101010101" pitchFamily="2" charset="-122"/>
                          <a:cs typeface="Lato" panose="020F0502020204030203" pitchFamily="34" charset="0"/>
                        </a:rPr>
                        <a:t>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15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270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r>
                        <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rPr>
                        <a:t>7.5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algn="ctr" defTabSz="1218621" rtl="0" eaLnBrk="1" fontAlgn="ctr" latinLnBrk="0" hangingPunct="1">
                        <a:buNone/>
                      </a:pPr>
                      <a:endParaRPr lang="en-US" altLang="zh-CN" sz="900" b="0" u="none" strike="noStrike" kern="1200">
                        <a:solidFill>
                          <a:schemeClr val="bg1">
                            <a:lumMod val="75000"/>
                          </a:schemeClr>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886507913"/>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Asset Recovery Service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2.5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037216401"/>
                  </a:ext>
                </a:extLst>
              </a:tr>
              <a:tr h="260990">
                <a:tc>
                  <a:txBody>
                    <a:bodyPr/>
                    <a:lstStyle/>
                    <a:p>
                      <a:pPr marL="0" algn="ctr" defTabSz="1218621" rtl="0" eaLnBrk="1" fontAlgn="ctr" latinLnBrk="0" hangingPunct="1">
                        <a:buNone/>
                      </a:pPr>
                      <a:endParaRPr lang="zh-CN" altLang="en-US" sz="900" b="0" u="none" strike="noStrike" kern="1200">
                        <a:solidFill>
                          <a:schemeClr val="tx1"/>
                        </a:solidFill>
                        <a:effectLst/>
                        <a:latin typeface="Lato" panose="020F0502020204030203" pitchFamily="34" charset="0"/>
                        <a:ea typeface="等线" panose="02010600030101010101" pitchFamily="2" charset="-122"/>
                        <a:cs typeface="Lato" panose="020F0502020204030203" pitchFamily="34" charset="0"/>
                      </a:endParaRPr>
                    </a:p>
                  </a:txBody>
                  <a:tcPr marL="0" marR="0" marT="0" marB="0" anchor="b">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l"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Accessory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funded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8EE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180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r>
                        <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rPr>
                        <a:t>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9F5F9"/>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tc>
                  <a:txBody>
                    <a:bodyPr/>
                    <a:lstStyle/>
                    <a:p>
                      <a:pPr marL="0" algn="ctr" defTabSz="1218621" rtl="0" eaLnBrk="1" fontAlgn="ctr" latinLnBrk="0" hangingPunct="1">
                        <a:buNone/>
                      </a:pPr>
                      <a:endParaRPr lang="en-US" altLang="zh-CN" sz="900" b="0" u="none" strike="noStrike" kern="1200">
                        <a:solidFill>
                          <a:schemeClr val="tx1"/>
                        </a:solidFill>
                        <a:effectLst/>
                        <a:latin typeface="Lato" panose="020F0502020204030203" pitchFamily="34" charset="0"/>
                        <a:ea typeface="Lato" panose="020F0502020204030203" pitchFamily="34" charset="0"/>
                        <a:cs typeface="Lato" panose="020F0502020204030203"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1CC"/>
                    </a:solidFill>
                  </a:tcPr>
                </a:tc>
                <a:extLst>
                  <a:ext uri="{0D108BD9-81ED-4DB2-BD59-A6C34878D82A}">
                    <a16:rowId xmlns:a16="http://schemas.microsoft.com/office/drawing/2014/main" val="4147581611"/>
                  </a:ext>
                </a:extLst>
              </a:tr>
            </a:tbl>
          </a:graphicData>
        </a:graphic>
      </p:graphicFrame>
      <p:sp>
        <p:nvSpPr>
          <p:cNvPr id="12" name="文本框 11">
            <a:extLst>
              <a:ext uri="{FF2B5EF4-FFF2-40B4-BE49-F238E27FC236}">
                <a16:creationId xmlns:a16="http://schemas.microsoft.com/office/drawing/2014/main" id="{ACE88665-F8D9-E679-2CA4-73BC94D24EE1}"/>
              </a:ext>
            </a:extLst>
          </p:cNvPr>
          <p:cNvSpPr txBox="1"/>
          <p:nvPr/>
        </p:nvSpPr>
        <p:spPr>
          <a:xfrm>
            <a:off x="407132" y="953136"/>
            <a:ext cx="9734395" cy="2123658"/>
          </a:xfrm>
          <a:prstGeom prst="rect">
            <a:avLst/>
          </a:prstGeom>
          <a:noFill/>
        </p:spPr>
        <p:txBody>
          <a:bodyPr wrap="square" rtlCol="0">
            <a:spAutoFit/>
          </a:bodyPr>
          <a:lstStyle/>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As-is CMR logic: </a:t>
            </a:r>
            <a:r>
              <a:rPr lang="en-US" altLang="zh-CN" sz="1200">
                <a:latin typeface="Lato" panose="020F0502020204030203" pitchFamily="34" charset="0"/>
                <a:ea typeface="Lato" panose="020F0502020204030203" pitchFamily="34" charset="0"/>
                <a:cs typeface="Lato" panose="020F0502020204030203" pitchFamily="34" charset="0"/>
              </a:rPr>
              <a:t>same accounting treatment with the original billing</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Pain point for structure payment: </a:t>
            </a:r>
            <a:r>
              <a:rPr lang="en-US" altLang="zh-CN" sz="1200">
                <a:latin typeface="Lato" panose="020F0502020204030203" pitchFamily="34" charset="0"/>
                <a:ea typeface="Lato" panose="020F0502020204030203" pitchFamily="34" charset="0"/>
                <a:cs typeface="Lato" panose="020F0502020204030203" pitchFamily="34" charset="0"/>
              </a:rPr>
              <a:t>original monthly billing may have two different treatments based on the comparison with average billing.</a:t>
            </a:r>
          </a:p>
          <a:p>
            <a:pPr marL="228600" indent="-228600">
              <a:buFont typeface="Wingdings" panose="05000000000000000000" pitchFamily="2" charset="2"/>
              <a:buChar char="Ø"/>
            </a:pPr>
            <a:endParaRPr lang="en-US" altLang="zh-CN" sz="1200" b="1">
              <a:latin typeface="Lato" panose="020F0502020204030203" pitchFamily="34" charset="0"/>
              <a:ea typeface="Lato" panose="020F0502020204030203" pitchFamily="34" charset="0"/>
              <a:cs typeface="Lato" panose="020F0502020204030203" pitchFamily="34" charset="0"/>
            </a:endParaRP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Assumption: </a:t>
            </a:r>
          </a:p>
          <a:p>
            <a:pPr marL="685800" lvl="1"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F</a:t>
            </a:r>
            <a:r>
              <a:rPr lang="en-US" altLang="zh-CN" sz="1200">
                <a:latin typeface="Lato" panose="020F0502020204030203" pitchFamily="34" charset="0"/>
                <a:ea typeface="Lato" panose="020F0502020204030203" pitchFamily="34" charset="0"/>
                <a:cs typeface="Lato" panose="020F0502020204030203" pitchFamily="34" charset="0"/>
              </a:rPr>
              <a:t>ull amount CMR then issue corrected DMR</a:t>
            </a:r>
          </a:p>
          <a:p>
            <a:pPr marL="685800" lvl="1" indent="-228600">
              <a:buFont typeface="Wingdings" panose="05000000000000000000" pitchFamily="2" charset="2"/>
              <a:buChar char="Ø"/>
            </a:pPr>
            <a:r>
              <a:rPr lang="en-US" altLang="zh-CN" sz="1200">
                <a:latin typeface="Lato" panose="020F0502020204030203" pitchFamily="34" charset="0"/>
                <a:ea typeface="Lato" panose="020F0502020204030203" pitchFamily="34" charset="0"/>
                <a:cs typeface="Lato" panose="020F0502020204030203" pitchFamily="34" charset="0"/>
              </a:rPr>
              <a:t>All billing go to defer, monthly amortization based on average payment</a:t>
            </a:r>
          </a:p>
          <a:p>
            <a:pPr marL="228600" indent="-228600">
              <a:buFont typeface="Wingdings" panose="05000000000000000000" pitchFamily="2" charset="2"/>
              <a:buChar char="Ø"/>
            </a:pPr>
            <a:r>
              <a:rPr lang="en-US" altLang="zh-CN" sz="1200" b="1">
                <a:latin typeface="Lato" panose="020F0502020204030203" pitchFamily="34" charset="0"/>
                <a:ea typeface="Lato" panose="020F0502020204030203" pitchFamily="34" charset="0"/>
                <a:cs typeface="Lato" panose="020F0502020204030203" pitchFamily="34" charset="0"/>
              </a:rPr>
              <a:t>Key point: </a:t>
            </a:r>
          </a:p>
          <a:p>
            <a:pPr marL="685800" lvl="1" indent="-228600">
              <a:buFont typeface="Wingdings" panose="05000000000000000000" pitchFamily="2" charset="2"/>
              <a:buChar char="Ø"/>
            </a:pPr>
            <a:r>
              <a:rPr lang="en-US" altLang="zh-CN" sz="1200">
                <a:latin typeface="Lato" panose="020F0502020204030203" pitchFamily="34" charset="0"/>
                <a:ea typeface="Lato" panose="020F0502020204030203" pitchFamily="34" charset="0"/>
                <a:cs typeface="Lato" panose="020F0502020204030203" pitchFamily="34" charset="0"/>
              </a:rPr>
              <a:t>DMR could follow as-is logic</a:t>
            </a:r>
          </a:p>
          <a:p>
            <a:pPr marL="685800" lvl="1" indent="-228600">
              <a:buFont typeface="Wingdings" panose="05000000000000000000" pitchFamily="2" charset="2"/>
              <a:buChar char="Ø"/>
            </a:pPr>
            <a:r>
              <a:rPr lang="en-US" altLang="zh-CN" sz="1200">
                <a:latin typeface="Lato" panose="020F0502020204030203" pitchFamily="34" charset="0"/>
                <a:ea typeface="Lato" panose="020F0502020204030203" pitchFamily="34" charset="0"/>
                <a:cs typeface="Lato" panose="020F0502020204030203" pitchFamily="34" charset="0"/>
              </a:rPr>
              <a:t>If DMR/CMR affects total lease payment, Defer revenue account will leave a balance at lease end [ + assumption: total lease payment won’t change after lease commencement, otherwise need to cancel and re-trigger the lease]</a:t>
            </a:r>
          </a:p>
          <a:p>
            <a:pPr marL="228600" indent="-228600">
              <a:buFont typeface="Wingdings" panose="05000000000000000000" pitchFamily="2" charset="2"/>
              <a:buChar char="Ø"/>
            </a:pPr>
            <a:endParaRPr lang="en-US" altLang="zh-CN" sz="1200">
              <a:latin typeface="Lato" panose="020F0502020204030203" pitchFamily="34" charset="0"/>
              <a:ea typeface="Lato" panose="020F0502020204030203" pitchFamily="34" charset="0"/>
              <a:cs typeface="Lato" panose="020F0502020204030203" pitchFamily="34" charset="0"/>
            </a:endParaRPr>
          </a:p>
        </p:txBody>
      </p:sp>
      <p:sp>
        <p:nvSpPr>
          <p:cNvPr id="2" name="椭圆 1">
            <a:extLst>
              <a:ext uri="{FF2B5EF4-FFF2-40B4-BE49-F238E27FC236}">
                <a16:creationId xmlns:a16="http://schemas.microsoft.com/office/drawing/2014/main" id="{614E3746-798B-4329-96E9-CFCDEC07B68E}"/>
              </a:ext>
            </a:extLst>
          </p:cNvPr>
          <p:cNvSpPr/>
          <p:nvPr/>
        </p:nvSpPr>
        <p:spPr>
          <a:xfrm>
            <a:off x="10767391" y="457526"/>
            <a:ext cx="815009" cy="495610"/>
          </a:xfrm>
          <a:prstGeom prst="ellipse">
            <a:avLst/>
          </a:prstGeom>
          <a:solidFill>
            <a:srgbClr val="FFFF00"/>
          </a:solidFill>
          <a:ln w="6350">
            <a:no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
        <p:nvSpPr>
          <p:cNvPr id="6" name="矩形: 圆角 5">
            <a:extLst>
              <a:ext uri="{FF2B5EF4-FFF2-40B4-BE49-F238E27FC236}">
                <a16:creationId xmlns:a16="http://schemas.microsoft.com/office/drawing/2014/main" id="{1057DE95-C45F-8907-1374-B4CC6E04FFB9}"/>
              </a:ext>
            </a:extLst>
          </p:cNvPr>
          <p:cNvSpPr/>
          <p:nvPr/>
        </p:nvSpPr>
        <p:spPr>
          <a:xfrm flipH="1">
            <a:off x="5592413" y="2842439"/>
            <a:ext cx="4890053" cy="3048989"/>
          </a:xfrm>
          <a:prstGeom prst="roundRect">
            <a:avLst>
              <a:gd name="adj" fmla="val 5535"/>
            </a:avLst>
          </a:prstGeom>
          <a:noFill/>
          <a:ln w="19050">
            <a:solidFill>
              <a:srgbClr val="FF0000"/>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latin typeface="Tenorite" panose="00000500000000000000" pitchFamily="2" charset="0"/>
            </a:endParaRPr>
          </a:p>
        </p:txBody>
      </p:sp>
    </p:spTree>
    <p:extLst>
      <p:ext uri="{BB962C8B-B14F-4D97-AF65-F5344CB8AC3E}">
        <p14:creationId xmlns:p14="http://schemas.microsoft.com/office/powerpoint/2010/main" val="1711458018"/>
      </p:ext>
    </p:extLst>
  </p:cSld>
  <p:clrMapOvr>
    <a:masterClrMapping/>
  </p:clrMapOvr>
  <p:transition>
    <p:fade/>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C34977-6B39-0E8A-969C-8B1DF9476D45}"/>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F94EB711-FA2F-D628-B9AA-30D0F2F99EA7}"/>
              </a:ext>
            </a:extLst>
          </p:cNvPr>
          <p:cNvGraphicFramePr>
            <a:graphicFrameLocks noGrp="1"/>
          </p:cNvGraphicFramePr>
          <p:nvPr>
            <p:extLst>
              <p:ext uri="{D42A27DB-BD31-4B8C-83A1-F6EECF244321}">
                <p14:modId xmlns:p14="http://schemas.microsoft.com/office/powerpoint/2010/main" val="3876882740"/>
              </p:ext>
            </p:extLst>
          </p:nvPr>
        </p:nvGraphicFramePr>
        <p:xfrm>
          <a:off x="201959" y="450014"/>
          <a:ext cx="5872548" cy="1227066"/>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596359">
                  <a:extLst>
                    <a:ext uri="{9D8B030D-6E8A-4147-A177-3AD203B41FA5}">
                      <a16:colId xmlns:a16="http://schemas.microsoft.com/office/drawing/2014/main" val="4114365151"/>
                    </a:ext>
                  </a:extLst>
                </a:gridCol>
                <a:gridCol w="737141">
                  <a:extLst>
                    <a:ext uri="{9D8B030D-6E8A-4147-A177-3AD203B41FA5}">
                      <a16:colId xmlns:a16="http://schemas.microsoft.com/office/drawing/2014/main" val="4075178046"/>
                    </a:ext>
                  </a:extLst>
                </a:gridCol>
                <a:gridCol w="688388">
                  <a:extLst>
                    <a:ext uri="{9D8B030D-6E8A-4147-A177-3AD203B41FA5}">
                      <a16:colId xmlns:a16="http://schemas.microsoft.com/office/drawing/2014/main" val="973533418"/>
                    </a:ext>
                  </a:extLst>
                </a:gridCol>
                <a:gridCol w="715116">
                  <a:extLst>
                    <a:ext uri="{9D8B030D-6E8A-4147-A177-3AD203B41FA5}">
                      <a16:colId xmlns:a16="http://schemas.microsoft.com/office/drawing/2014/main" val="2377711782"/>
                    </a:ext>
                  </a:extLst>
                </a:gridCol>
                <a:gridCol w="6601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51216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65556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r>
                        <a:rPr lang="en-US" altLang="zh-CN" sz="1050">
                          <a:solidFill>
                            <a:srgbClr val="FF0000"/>
                          </a:solidFill>
                        </a:rPr>
                        <a:t>Downpayment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4" name="直接连接符 3">
            <a:extLst>
              <a:ext uri="{FF2B5EF4-FFF2-40B4-BE49-F238E27FC236}">
                <a16:creationId xmlns:a16="http://schemas.microsoft.com/office/drawing/2014/main" id="{3FB4B040-0E25-8481-E3E0-D29ECAF393A4}"/>
              </a:ext>
            </a:extLst>
          </p:cNvPr>
          <p:cNvCxnSpPr>
            <a:cxnSpLocks/>
          </p:cNvCxnSpPr>
          <p:nvPr/>
        </p:nvCxnSpPr>
        <p:spPr>
          <a:xfrm>
            <a:off x="6205978"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7" name="文本框 6">
            <a:extLst>
              <a:ext uri="{FF2B5EF4-FFF2-40B4-BE49-F238E27FC236}">
                <a16:creationId xmlns:a16="http://schemas.microsoft.com/office/drawing/2014/main" id="{05AD7362-F5C0-FDFC-F62E-AFAB2E54F54E}"/>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DAAS_S&amp;D_MLA</a:t>
            </a:r>
            <a:endParaRPr lang="zh-CN" altLang="en-US" sz="2000" b="1"/>
          </a:p>
        </p:txBody>
      </p:sp>
      <p:graphicFrame>
        <p:nvGraphicFramePr>
          <p:cNvPr id="2" name="表格 1">
            <a:extLst>
              <a:ext uri="{FF2B5EF4-FFF2-40B4-BE49-F238E27FC236}">
                <a16:creationId xmlns:a16="http://schemas.microsoft.com/office/drawing/2014/main" id="{84C71212-AA11-E8F8-5DB0-A8C78DE37F46}"/>
              </a:ext>
            </a:extLst>
          </p:cNvPr>
          <p:cNvGraphicFramePr>
            <a:graphicFrameLocks noGrp="1"/>
          </p:cNvGraphicFramePr>
          <p:nvPr>
            <p:extLst>
              <p:ext uri="{D42A27DB-BD31-4B8C-83A1-F6EECF244321}">
                <p14:modId xmlns:p14="http://schemas.microsoft.com/office/powerpoint/2010/main" val="889478805"/>
              </p:ext>
            </p:extLst>
          </p:nvPr>
        </p:nvGraphicFramePr>
        <p:xfrm>
          <a:off x="6281482" y="450014"/>
          <a:ext cx="5872548" cy="1623060"/>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675722">
                  <a:extLst>
                    <a:ext uri="{9D8B030D-6E8A-4147-A177-3AD203B41FA5}">
                      <a16:colId xmlns:a16="http://schemas.microsoft.com/office/drawing/2014/main" val="4114365151"/>
                    </a:ext>
                  </a:extLst>
                </a:gridCol>
                <a:gridCol w="766564">
                  <a:extLst>
                    <a:ext uri="{9D8B030D-6E8A-4147-A177-3AD203B41FA5}">
                      <a16:colId xmlns:a16="http://schemas.microsoft.com/office/drawing/2014/main" val="4075178046"/>
                    </a:ext>
                  </a:extLst>
                </a:gridCol>
                <a:gridCol w="696476">
                  <a:extLst>
                    <a:ext uri="{9D8B030D-6E8A-4147-A177-3AD203B41FA5}">
                      <a16:colId xmlns:a16="http://schemas.microsoft.com/office/drawing/2014/main" val="973533418"/>
                    </a:ext>
                  </a:extLst>
                </a:gridCol>
                <a:gridCol w="600542">
                  <a:extLst>
                    <a:ext uri="{9D8B030D-6E8A-4147-A177-3AD203B41FA5}">
                      <a16:colId xmlns:a16="http://schemas.microsoft.com/office/drawing/2014/main" val="2377711782"/>
                    </a:ext>
                  </a:extLst>
                </a:gridCol>
                <a:gridCol w="6578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49034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90345">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chemeClr val="tx1"/>
                          </a:solidFill>
                        </a:rPr>
                        <a:t>Finance</a:t>
                      </a:r>
                    </a:p>
                    <a:p>
                      <a:r>
                        <a:rPr lang="en-US" altLang="zh-CN" sz="1050">
                          <a:solidFill>
                            <a:schemeClr val="tx1"/>
                          </a:solidFill>
                        </a:rPr>
                        <a:t>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r>
                        <a:rPr lang="en-US" altLang="zh-CN" sz="1050">
                          <a:solidFill>
                            <a:srgbClr val="FF0000"/>
                          </a:solidFill>
                        </a:rPr>
                        <a:t>Downpayment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5" name="表格 4">
            <a:extLst>
              <a:ext uri="{FF2B5EF4-FFF2-40B4-BE49-F238E27FC236}">
                <a16:creationId xmlns:a16="http://schemas.microsoft.com/office/drawing/2014/main" id="{A331D5A6-E448-9618-81EF-2D726477274D}"/>
              </a:ext>
            </a:extLst>
          </p:cNvPr>
          <p:cNvGraphicFramePr>
            <a:graphicFrameLocks noGrp="1"/>
          </p:cNvGraphicFramePr>
          <p:nvPr>
            <p:extLst>
              <p:ext uri="{D42A27DB-BD31-4B8C-83A1-F6EECF244321}">
                <p14:modId xmlns:p14="http://schemas.microsoft.com/office/powerpoint/2010/main" val="4095097989"/>
              </p:ext>
            </p:extLst>
          </p:nvPr>
        </p:nvGraphicFramePr>
        <p:xfrm>
          <a:off x="138401" y="2214781"/>
          <a:ext cx="6039293" cy="339014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693484">
                  <a:extLst>
                    <a:ext uri="{9D8B030D-6E8A-4147-A177-3AD203B41FA5}">
                      <a16:colId xmlns:a16="http://schemas.microsoft.com/office/drawing/2014/main" val="3603859997"/>
                    </a:ext>
                  </a:extLst>
                </a:gridCol>
                <a:gridCol w="541866">
                  <a:extLst>
                    <a:ext uri="{9D8B030D-6E8A-4147-A177-3AD203B41FA5}">
                      <a16:colId xmlns:a16="http://schemas.microsoft.com/office/drawing/2014/main" val="4076488391"/>
                    </a:ext>
                  </a:extLst>
                </a:gridCol>
                <a:gridCol w="489667">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208247">
                <a:tc rowSpan="12">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a:t>
                      </a:r>
                      <a:r>
                        <a:rPr lang="en-US" altLang="zh-CN" sz="800" b="1" i="0" u="none" strike="noStrike">
                          <a:solidFill>
                            <a:srgbClr val="FFFFFF"/>
                          </a:solidFill>
                          <a:effectLst/>
                          <a:latin typeface="Arial" panose="020B0604020202020204" pitchFamily="34" charset="0"/>
                        </a:rPr>
                        <a:t>ownpayment</a:t>
                      </a:r>
                      <a:r>
                        <a:rPr lang="en-US" sz="800" b="1" i="0" u="none" strike="noStrike">
                          <a:solidFill>
                            <a:srgbClr val="FFFFFF"/>
                          </a:solidFill>
                          <a:effectLst/>
                          <a:latin typeface="Arial" panose="020B0604020202020204" pitchFamily="34" charset="0"/>
                        </a:rPr>
                        <a: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11457">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Down payment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1457">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8263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a:t>
                      </a:r>
                      <a:r>
                        <a:rPr lang="en-US" sz="900" b="0" i="0" u="none" strike="noStrike" kern="1200">
                          <a:solidFill>
                            <a:srgbClr val="000000"/>
                          </a:solidFill>
                          <a:effectLst/>
                          <a:latin typeface="Arial" panose="020B0604020202020204" pitchFamily="34" charset="0"/>
                          <a:ea typeface="+mn-ea"/>
                          <a:cs typeface="+mn-cs"/>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4087354"/>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382632">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sp>
        <p:nvSpPr>
          <p:cNvPr id="8" name="对话气泡: 矩形 7">
            <a:extLst>
              <a:ext uri="{FF2B5EF4-FFF2-40B4-BE49-F238E27FC236}">
                <a16:creationId xmlns:a16="http://schemas.microsoft.com/office/drawing/2014/main" id="{0ECAC268-1686-10DB-28F2-F2CE25061DBA}"/>
              </a:ext>
            </a:extLst>
          </p:cNvPr>
          <p:cNvSpPr/>
          <p:nvPr/>
        </p:nvSpPr>
        <p:spPr>
          <a:xfrm>
            <a:off x="592702" y="5785043"/>
            <a:ext cx="5130690" cy="493077"/>
          </a:xfrm>
          <a:prstGeom prst="wedgeRectCallout">
            <a:avLst>
              <a:gd name="adj1" fmla="val -37749"/>
              <a:gd name="adj2" fmla="val -8880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Applicable under scenario that downpayment is for all items. </a:t>
            </a:r>
            <a:endParaRPr lang="zh-CN" altLang="en-US" sz="1200">
              <a:solidFill>
                <a:schemeClr val="tx1"/>
              </a:solidFill>
            </a:endParaRPr>
          </a:p>
        </p:txBody>
      </p:sp>
      <p:sp>
        <p:nvSpPr>
          <p:cNvPr id="9" name="Rectangle 1">
            <a:extLst>
              <a:ext uri="{FF2B5EF4-FFF2-40B4-BE49-F238E27FC236}">
                <a16:creationId xmlns:a16="http://schemas.microsoft.com/office/drawing/2014/main" id="{E4DD1793-4F30-1AB8-A01A-DC4FFFBD29BA}"/>
              </a:ext>
            </a:extLst>
          </p:cNvPr>
          <p:cNvSpPr/>
          <p:nvPr/>
        </p:nvSpPr>
        <p:spPr>
          <a:xfrm>
            <a:off x="592702" y="4380807"/>
            <a:ext cx="5613276" cy="1224124"/>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graphicFrame>
        <p:nvGraphicFramePr>
          <p:cNvPr id="10" name="表格 9">
            <a:extLst>
              <a:ext uri="{FF2B5EF4-FFF2-40B4-BE49-F238E27FC236}">
                <a16:creationId xmlns:a16="http://schemas.microsoft.com/office/drawing/2014/main" id="{07E0770C-1E71-8C35-F8F0-A6B065E9C30D}"/>
              </a:ext>
            </a:extLst>
          </p:cNvPr>
          <p:cNvGraphicFramePr>
            <a:graphicFrameLocks noGrp="1"/>
          </p:cNvGraphicFramePr>
          <p:nvPr>
            <p:extLst>
              <p:ext uri="{D42A27DB-BD31-4B8C-83A1-F6EECF244321}">
                <p14:modId xmlns:p14="http://schemas.microsoft.com/office/powerpoint/2010/main" val="1742051416"/>
              </p:ext>
            </p:extLst>
          </p:nvPr>
        </p:nvGraphicFramePr>
        <p:xfrm>
          <a:off x="6337449" y="2214780"/>
          <a:ext cx="5736018" cy="3151250"/>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693484">
                  <a:extLst>
                    <a:ext uri="{9D8B030D-6E8A-4147-A177-3AD203B41FA5}">
                      <a16:colId xmlns:a16="http://schemas.microsoft.com/office/drawing/2014/main" val="3603859997"/>
                    </a:ext>
                  </a:extLst>
                </a:gridCol>
                <a:gridCol w="541866">
                  <a:extLst>
                    <a:ext uri="{9D8B030D-6E8A-4147-A177-3AD203B41FA5}">
                      <a16:colId xmlns:a16="http://schemas.microsoft.com/office/drawing/2014/main" val="4076488391"/>
                    </a:ext>
                  </a:extLst>
                </a:gridCol>
                <a:gridCol w="489667">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261443">
                  <a:extLst>
                    <a:ext uri="{9D8B030D-6E8A-4147-A177-3AD203B41FA5}">
                      <a16:colId xmlns:a16="http://schemas.microsoft.com/office/drawing/2014/main" val="134131131"/>
                    </a:ext>
                  </a:extLst>
                </a:gridCol>
                <a:gridCol w="321734">
                  <a:extLst>
                    <a:ext uri="{9D8B030D-6E8A-4147-A177-3AD203B41FA5}">
                      <a16:colId xmlns:a16="http://schemas.microsoft.com/office/drawing/2014/main" val="2527660299"/>
                    </a:ext>
                  </a:extLst>
                </a:gridCol>
                <a:gridCol w="347133">
                  <a:extLst>
                    <a:ext uri="{9D8B030D-6E8A-4147-A177-3AD203B41FA5}">
                      <a16:colId xmlns:a16="http://schemas.microsoft.com/office/drawing/2014/main" val="3641075278"/>
                    </a:ext>
                  </a:extLst>
                </a:gridCol>
                <a:gridCol w="567267">
                  <a:extLst>
                    <a:ext uri="{9D8B030D-6E8A-4147-A177-3AD203B41FA5}">
                      <a16:colId xmlns:a16="http://schemas.microsoft.com/office/drawing/2014/main" val="3618613915"/>
                    </a:ext>
                  </a:extLst>
                </a:gridCol>
              </a:tblGrid>
              <a:tr h="208247">
                <a:tc rowSpan="12">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Downpayment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11457">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Down payment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1457">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8263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0889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7780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Lease Receivable </a:t>
                      </a:r>
                      <a:r>
                        <a:rPr lang="en-US" altLang="zh-CN" sz="900" b="0" i="0" u="sng" strike="noStrike" kern="1200">
                          <a:solidFill>
                            <a:srgbClr val="000000"/>
                          </a:solidFill>
                          <a:effectLst/>
                          <a:latin typeface="Arial" panose="020B0604020202020204" pitchFamily="34" charset="0"/>
                          <a:ea typeface="+mn-ea"/>
                          <a:cs typeface="+mn-cs"/>
                        </a:rPr>
                        <a:t>(3PO)</a:t>
                      </a:r>
                      <a:endParaRPr lang="en-US" sz="900" b="0" i="0" u="sng"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a:t>
                      </a:r>
                      <a:r>
                        <a:rPr lang="en-US" sz="900" b="0" i="0" u="none" strike="noStrike" kern="1200">
                          <a:solidFill>
                            <a:srgbClr val="000000"/>
                          </a:solidFill>
                          <a:effectLst/>
                          <a:latin typeface="Arial" panose="020B0604020202020204" pitchFamily="34" charset="0"/>
                          <a:ea typeface="+mn-ea"/>
                          <a:cs typeface="+mn-cs"/>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4087354"/>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382632">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sp>
        <p:nvSpPr>
          <p:cNvPr id="11" name="Rectangle 1">
            <a:extLst>
              <a:ext uri="{FF2B5EF4-FFF2-40B4-BE49-F238E27FC236}">
                <a16:creationId xmlns:a16="http://schemas.microsoft.com/office/drawing/2014/main" id="{D0980105-4A90-08FC-4AEB-B58D3ED0327F}"/>
              </a:ext>
            </a:extLst>
          </p:cNvPr>
          <p:cNvSpPr/>
          <p:nvPr/>
        </p:nvSpPr>
        <p:spPr>
          <a:xfrm>
            <a:off x="6756435" y="4148666"/>
            <a:ext cx="5297164" cy="1217363"/>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2" name="对话气泡: 矩形 11">
            <a:extLst>
              <a:ext uri="{FF2B5EF4-FFF2-40B4-BE49-F238E27FC236}">
                <a16:creationId xmlns:a16="http://schemas.microsoft.com/office/drawing/2014/main" id="{C5E5A610-DF21-C44A-90E1-47C8FDF8DC84}"/>
              </a:ext>
            </a:extLst>
          </p:cNvPr>
          <p:cNvSpPr/>
          <p:nvPr/>
        </p:nvSpPr>
        <p:spPr>
          <a:xfrm>
            <a:off x="6688565" y="5604930"/>
            <a:ext cx="5130690" cy="493077"/>
          </a:xfrm>
          <a:prstGeom prst="wedgeRectCallout">
            <a:avLst>
              <a:gd name="adj1" fmla="val -37749"/>
              <a:gd name="adj2" fmla="val -88806"/>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Applicable under scenario that downpayment is for all items. </a:t>
            </a:r>
            <a:endParaRPr lang="zh-CN" altLang="en-US" sz="1200">
              <a:solidFill>
                <a:schemeClr val="tx1"/>
              </a:solidFill>
            </a:endParaRPr>
          </a:p>
        </p:txBody>
      </p:sp>
      <p:sp>
        <p:nvSpPr>
          <p:cNvPr id="3" name="Slide Number Placeholder 4">
            <a:extLst>
              <a:ext uri="{FF2B5EF4-FFF2-40B4-BE49-F238E27FC236}">
                <a16:creationId xmlns:a16="http://schemas.microsoft.com/office/drawing/2014/main" id="{4852A6F7-8E6E-1A10-59DF-CC5CA9B4E7ED}"/>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158</a:t>
            </a:fld>
            <a:endParaRPr lang="en-US">
              <a:solidFill>
                <a:srgbClr val="000000"/>
              </a:solidFill>
            </a:endParaRPr>
          </a:p>
        </p:txBody>
      </p:sp>
    </p:spTree>
    <p:extLst>
      <p:ext uri="{BB962C8B-B14F-4D97-AF65-F5344CB8AC3E}">
        <p14:creationId xmlns:p14="http://schemas.microsoft.com/office/powerpoint/2010/main" val="688952280"/>
      </p:ext>
    </p:extLst>
  </p:cSld>
  <p:clrMapOvr>
    <a:masterClrMapping/>
  </p:clrMapOvr>
  <p:transition spd="med"/>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75C8C-A4C4-7C24-E91C-46C07383701F}"/>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9478CE94-85B7-86F4-12A6-A8C43CF32A20}"/>
              </a:ext>
            </a:extLst>
          </p:cNvPr>
          <p:cNvGraphicFramePr>
            <a:graphicFrameLocks noGrp="1"/>
          </p:cNvGraphicFramePr>
          <p:nvPr>
            <p:extLst>
              <p:ext uri="{D42A27DB-BD31-4B8C-83A1-F6EECF244321}">
                <p14:modId xmlns:p14="http://schemas.microsoft.com/office/powerpoint/2010/main" val="1540367467"/>
              </p:ext>
            </p:extLst>
          </p:nvPr>
        </p:nvGraphicFramePr>
        <p:xfrm>
          <a:off x="201958" y="450014"/>
          <a:ext cx="9972556" cy="982980"/>
        </p:xfrm>
        <a:graphic>
          <a:graphicData uri="http://schemas.openxmlformats.org/drawingml/2006/table">
            <a:tbl>
              <a:tblPr firstRow="1" bandRow="1">
                <a:tableStyleId>{3C2FFA5D-87B4-456A-9821-1D502468CF0F}</a:tableStyleId>
              </a:tblPr>
              <a:tblGrid>
                <a:gridCol w="1140994">
                  <a:extLst>
                    <a:ext uri="{9D8B030D-6E8A-4147-A177-3AD203B41FA5}">
                      <a16:colId xmlns:a16="http://schemas.microsoft.com/office/drawing/2014/main" val="869603910"/>
                    </a:ext>
                  </a:extLst>
                </a:gridCol>
                <a:gridCol w="1180777">
                  <a:extLst>
                    <a:ext uri="{9D8B030D-6E8A-4147-A177-3AD203B41FA5}">
                      <a16:colId xmlns:a16="http://schemas.microsoft.com/office/drawing/2014/main" val="238663902"/>
                    </a:ext>
                  </a:extLst>
                </a:gridCol>
                <a:gridCol w="1012716">
                  <a:extLst>
                    <a:ext uri="{9D8B030D-6E8A-4147-A177-3AD203B41FA5}">
                      <a16:colId xmlns:a16="http://schemas.microsoft.com/office/drawing/2014/main" val="4114365151"/>
                    </a:ext>
                  </a:extLst>
                </a:gridCol>
                <a:gridCol w="1251787">
                  <a:extLst>
                    <a:ext uri="{9D8B030D-6E8A-4147-A177-3AD203B41FA5}">
                      <a16:colId xmlns:a16="http://schemas.microsoft.com/office/drawing/2014/main" val="4075178046"/>
                    </a:ext>
                  </a:extLst>
                </a:gridCol>
                <a:gridCol w="1168996">
                  <a:extLst>
                    <a:ext uri="{9D8B030D-6E8A-4147-A177-3AD203B41FA5}">
                      <a16:colId xmlns:a16="http://schemas.microsoft.com/office/drawing/2014/main" val="973533418"/>
                    </a:ext>
                  </a:extLst>
                </a:gridCol>
                <a:gridCol w="1214385">
                  <a:extLst>
                    <a:ext uri="{9D8B030D-6E8A-4147-A177-3AD203B41FA5}">
                      <a16:colId xmlns:a16="http://schemas.microsoft.com/office/drawing/2014/main" val="2377711782"/>
                    </a:ext>
                  </a:extLst>
                </a:gridCol>
                <a:gridCol w="1121122">
                  <a:extLst>
                    <a:ext uri="{9D8B030D-6E8A-4147-A177-3AD203B41FA5}">
                      <a16:colId xmlns:a16="http://schemas.microsoft.com/office/drawing/2014/main" val="3637466090"/>
                    </a:ext>
                  </a:extLst>
                </a:gridCol>
                <a:gridCol w="1881779">
                  <a:extLst>
                    <a:ext uri="{9D8B030D-6E8A-4147-A177-3AD203B41FA5}">
                      <a16:colId xmlns:a16="http://schemas.microsoft.com/office/drawing/2014/main" val="221569069"/>
                    </a:ext>
                  </a:extLst>
                </a:gridCol>
              </a:tblGrid>
              <a:tr h="40738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14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 </a:t>
                      </a:r>
                      <a:r>
                        <a:rPr lang="en-US" altLang="zh-CN" sz="1050">
                          <a:solidFill>
                            <a:schemeClr val="tx1"/>
                          </a:solidFill>
                        </a:rPr>
                        <a:t>monthly/quarterly billing </a:t>
                      </a:r>
                      <a:r>
                        <a:rPr lang="en-US" altLang="zh-CN" sz="1050">
                          <a:solidFill>
                            <a:srgbClr val="FF0000"/>
                          </a:solidFill>
                        </a:rPr>
                        <a:t>lower </a:t>
                      </a:r>
                      <a:r>
                        <a:rPr lang="en-US" altLang="zh-CN" sz="1050">
                          <a:solidFill>
                            <a:schemeClr val="tx1"/>
                          </a:solidFill>
                        </a:rPr>
                        <a:t>than average payment</a:t>
                      </a:r>
                      <a:endParaRPr lang="zh-CN" altLang="en-US" sz="105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7" name="文本框 6">
            <a:extLst>
              <a:ext uri="{FF2B5EF4-FFF2-40B4-BE49-F238E27FC236}">
                <a16:creationId xmlns:a16="http://schemas.microsoft.com/office/drawing/2014/main" id="{8B174FFD-E53B-6585-938B-64B46A226B85}"/>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DAAS_S&amp;D_MLA</a:t>
            </a:r>
            <a:endParaRPr lang="zh-CN" altLang="en-US" sz="2000" b="1"/>
          </a:p>
        </p:txBody>
      </p:sp>
      <p:graphicFrame>
        <p:nvGraphicFramePr>
          <p:cNvPr id="13" name="表格 12">
            <a:extLst>
              <a:ext uri="{FF2B5EF4-FFF2-40B4-BE49-F238E27FC236}">
                <a16:creationId xmlns:a16="http://schemas.microsoft.com/office/drawing/2014/main" id="{BCE18A03-83C4-26D6-77A5-20E7E3796FD2}"/>
              </a:ext>
            </a:extLst>
          </p:cNvPr>
          <p:cNvGraphicFramePr>
            <a:graphicFrameLocks noGrp="1"/>
          </p:cNvGraphicFramePr>
          <p:nvPr>
            <p:extLst>
              <p:ext uri="{D42A27DB-BD31-4B8C-83A1-F6EECF244321}">
                <p14:modId xmlns:p14="http://schemas.microsoft.com/office/powerpoint/2010/main" val="947625703"/>
              </p:ext>
            </p:extLst>
          </p:nvPr>
        </p:nvGraphicFramePr>
        <p:xfrm>
          <a:off x="201958" y="1680961"/>
          <a:ext cx="5668870" cy="4289045"/>
        </p:xfrm>
        <a:graphic>
          <a:graphicData uri="http://schemas.openxmlformats.org/drawingml/2006/table">
            <a:tbl>
              <a:tblPr/>
              <a:tblGrid>
                <a:gridCol w="444085">
                  <a:extLst>
                    <a:ext uri="{9D8B030D-6E8A-4147-A177-3AD203B41FA5}">
                      <a16:colId xmlns:a16="http://schemas.microsoft.com/office/drawing/2014/main" val="495084399"/>
                    </a:ext>
                  </a:extLst>
                </a:gridCol>
                <a:gridCol w="248386">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557297">
                  <a:extLst>
                    <a:ext uri="{9D8B030D-6E8A-4147-A177-3AD203B41FA5}">
                      <a16:colId xmlns:a16="http://schemas.microsoft.com/office/drawing/2014/main" val="3603859997"/>
                    </a:ext>
                  </a:extLst>
                </a:gridCol>
                <a:gridCol w="498290">
                  <a:extLst>
                    <a:ext uri="{9D8B030D-6E8A-4147-A177-3AD203B41FA5}">
                      <a16:colId xmlns:a16="http://schemas.microsoft.com/office/drawing/2014/main" val="4076488391"/>
                    </a:ext>
                  </a:extLst>
                </a:gridCol>
                <a:gridCol w="450289">
                  <a:extLst>
                    <a:ext uri="{9D8B030D-6E8A-4147-A177-3AD203B41FA5}">
                      <a16:colId xmlns:a16="http://schemas.microsoft.com/office/drawing/2014/main" val="3254101706"/>
                    </a:ext>
                  </a:extLst>
                </a:gridCol>
                <a:gridCol w="242256">
                  <a:extLst>
                    <a:ext uri="{9D8B030D-6E8A-4147-A177-3AD203B41FA5}">
                      <a16:colId xmlns:a16="http://schemas.microsoft.com/office/drawing/2014/main" val="3712391277"/>
                    </a:ext>
                  </a:extLst>
                </a:gridCol>
                <a:gridCol w="543736">
                  <a:extLst>
                    <a:ext uri="{9D8B030D-6E8A-4147-A177-3AD203B41FA5}">
                      <a16:colId xmlns:a16="http://schemas.microsoft.com/office/drawing/2014/main" val="134131131"/>
                    </a:ext>
                  </a:extLst>
                </a:gridCol>
                <a:gridCol w="310411">
                  <a:extLst>
                    <a:ext uri="{9D8B030D-6E8A-4147-A177-3AD203B41FA5}">
                      <a16:colId xmlns:a16="http://schemas.microsoft.com/office/drawing/2014/main" val="2527660299"/>
                    </a:ext>
                  </a:extLst>
                </a:gridCol>
                <a:gridCol w="342000">
                  <a:extLst>
                    <a:ext uri="{9D8B030D-6E8A-4147-A177-3AD203B41FA5}">
                      <a16:colId xmlns:a16="http://schemas.microsoft.com/office/drawing/2014/main" val="3641075278"/>
                    </a:ext>
                  </a:extLst>
                </a:gridCol>
                <a:gridCol w="459884">
                  <a:extLst>
                    <a:ext uri="{9D8B030D-6E8A-4147-A177-3AD203B41FA5}">
                      <a16:colId xmlns:a16="http://schemas.microsoft.com/office/drawing/2014/main" val="3618613915"/>
                    </a:ext>
                  </a:extLst>
                </a:gridCol>
              </a:tblGrid>
              <a:tr h="224825">
                <a:tc rowSpan="12">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Monthly/Quarterly Invoice issued to customer </a:t>
                      </a:r>
                      <a:r>
                        <a:rPr lang="en-US" sz="800" b="1" i="0" u="none" strike="noStrike">
                          <a:solidFill>
                            <a:srgbClr val="FFFFFF"/>
                          </a:solidFill>
                          <a:effectLst/>
                          <a:latin typeface="Arial" panose="020B0604020202020204" pitchFamily="34" charset="0"/>
                        </a:rPr>
                        <a:t>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28290">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Monthly/Quarterly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2829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41309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41309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41309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22829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a:t>
                      </a:r>
                      <a:r>
                        <a:rPr lang="en-US" sz="900" b="0" i="0" u="none" strike="noStrike" kern="1200">
                          <a:solidFill>
                            <a:srgbClr val="000000"/>
                          </a:solidFill>
                          <a:effectLst/>
                          <a:latin typeface="Arial" panose="020B0604020202020204" pitchFamily="34" charset="0"/>
                          <a:ea typeface="+mn-ea"/>
                          <a:cs typeface="+mn-cs"/>
                        </a:rPr>
                        <a:t>-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3664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22829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baseline="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4087354"/>
                  </a:ext>
                </a:extLst>
              </a:tr>
              <a:tr h="41309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Service Revenue -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22829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413092">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graphicFrame>
        <p:nvGraphicFramePr>
          <p:cNvPr id="17" name="表格 16">
            <a:extLst>
              <a:ext uri="{FF2B5EF4-FFF2-40B4-BE49-F238E27FC236}">
                <a16:creationId xmlns:a16="http://schemas.microsoft.com/office/drawing/2014/main" id="{873E6F14-5B16-0B02-9327-2B164FF42C1C}"/>
              </a:ext>
            </a:extLst>
          </p:cNvPr>
          <p:cNvGraphicFramePr>
            <a:graphicFrameLocks noGrp="1"/>
          </p:cNvGraphicFramePr>
          <p:nvPr>
            <p:extLst>
              <p:ext uri="{D42A27DB-BD31-4B8C-83A1-F6EECF244321}">
                <p14:modId xmlns:p14="http://schemas.microsoft.com/office/powerpoint/2010/main" val="2640901561"/>
              </p:ext>
            </p:extLst>
          </p:nvPr>
        </p:nvGraphicFramePr>
        <p:xfrm>
          <a:off x="5962008" y="2147718"/>
          <a:ext cx="5916479" cy="3662341"/>
        </p:xfrm>
        <a:graphic>
          <a:graphicData uri="http://schemas.openxmlformats.org/drawingml/2006/table">
            <a:tbl>
              <a:tblPr/>
              <a:tblGrid>
                <a:gridCol w="428405">
                  <a:extLst>
                    <a:ext uri="{9D8B030D-6E8A-4147-A177-3AD203B41FA5}">
                      <a16:colId xmlns:a16="http://schemas.microsoft.com/office/drawing/2014/main" val="495084399"/>
                    </a:ext>
                  </a:extLst>
                </a:gridCol>
                <a:gridCol w="235558">
                  <a:extLst>
                    <a:ext uri="{9D8B030D-6E8A-4147-A177-3AD203B41FA5}">
                      <a16:colId xmlns:a16="http://schemas.microsoft.com/office/drawing/2014/main" val="3614210242"/>
                    </a:ext>
                  </a:extLst>
                </a:gridCol>
                <a:gridCol w="560599">
                  <a:extLst>
                    <a:ext uri="{9D8B030D-6E8A-4147-A177-3AD203B41FA5}">
                      <a16:colId xmlns:a16="http://schemas.microsoft.com/office/drawing/2014/main" val="1442124609"/>
                    </a:ext>
                  </a:extLst>
                </a:gridCol>
                <a:gridCol w="2037695">
                  <a:extLst>
                    <a:ext uri="{9D8B030D-6E8A-4147-A177-3AD203B41FA5}">
                      <a16:colId xmlns:a16="http://schemas.microsoft.com/office/drawing/2014/main" val="3603859997"/>
                    </a:ext>
                  </a:extLst>
                </a:gridCol>
                <a:gridCol w="315953">
                  <a:extLst>
                    <a:ext uri="{9D8B030D-6E8A-4147-A177-3AD203B41FA5}">
                      <a16:colId xmlns:a16="http://schemas.microsoft.com/office/drawing/2014/main" val="4076488391"/>
                    </a:ext>
                  </a:extLst>
                </a:gridCol>
                <a:gridCol w="315953">
                  <a:extLst>
                    <a:ext uri="{9D8B030D-6E8A-4147-A177-3AD203B41FA5}">
                      <a16:colId xmlns:a16="http://schemas.microsoft.com/office/drawing/2014/main" val="3254101706"/>
                    </a:ext>
                  </a:extLst>
                </a:gridCol>
                <a:gridCol w="258085">
                  <a:extLst>
                    <a:ext uri="{9D8B030D-6E8A-4147-A177-3AD203B41FA5}">
                      <a16:colId xmlns:a16="http://schemas.microsoft.com/office/drawing/2014/main" val="3712391277"/>
                    </a:ext>
                  </a:extLst>
                </a:gridCol>
                <a:gridCol w="579262">
                  <a:extLst>
                    <a:ext uri="{9D8B030D-6E8A-4147-A177-3AD203B41FA5}">
                      <a16:colId xmlns:a16="http://schemas.microsoft.com/office/drawing/2014/main" val="134131131"/>
                    </a:ext>
                  </a:extLst>
                </a:gridCol>
                <a:gridCol w="330693">
                  <a:extLst>
                    <a:ext uri="{9D8B030D-6E8A-4147-A177-3AD203B41FA5}">
                      <a16:colId xmlns:a16="http://schemas.microsoft.com/office/drawing/2014/main" val="2527660299"/>
                    </a:ext>
                  </a:extLst>
                </a:gridCol>
                <a:gridCol w="364345">
                  <a:extLst>
                    <a:ext uri="{9D8B030D-6E8A-4147-A177-3AD203B41FA5}">
                      <a16:colId xmlns:a16="http://schemas.microsoft.com/office/drawing/2014/main" val="3641075278"/>
                    </a:ext>
                  </a:extLst>
                </a:gridCol>
                <a:gridCol w="489931">
                  <a:extLst>
                    <a:ext uri="{9D8B030D-6E8A-4147-A177-3AD203B41FA5}">
                      <a16:colId xmlns:a16="http://schemas.microsoft.com/office/drawing/2014/main" val="3618613915"/>
                    </a:ext>
                  </a:extLst>
                </a:gridCol>
              </a:tblGrid>
              <a:tr h="204041">
                <a:tc rowSpan="13">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07186">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Monthly end​ amortization</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0718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7490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37490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20718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22182322"/>
                  </a:ext>
                </a:extLst>
              </a:tr>
              <a:tr h="20718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37490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8385649"/>
                  </a:ext>
                </a:extLst>
              </a:tr>
              <a:tr h="374904">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374904">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20718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baseline="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69528025"/>
                  </a:ext>
                </a:extLst>
              </a:tr>
              <a:tr h="20718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207186">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Service Revenue -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0226234"/>
                  </a:ext>
                </a:extLst>
              </a:tr>
            </a:tbl>
          </a:graphicData>
        </a:graphic>
      </p:graphicFrame>
      <p:sp>
        <p:nvSpPr>
          <p:cNvPr id="3" name="对话气泡: 矩形 2">
            <a:extLst>
              <a:ext uri="{FF2B5EF4-FFF2-40B4-BE49-F238E27FC236}">
                <a16:creationId xmlns:a16="http://schemas.microsoft.com/office/drawing/2014/main" id="{E3ECC473-966A-3985-F5B1-D8DACBCA33BF}"/>
              </a:ext>
            </a:extLst>
          </p:cNvPr>
          <p:cNvSpPr/>
          <p:nvPr/>
        </p:nvSpPr>
        <p:spPr>
          <a:xfrm>
            <a:off x="6834567" y="1554895"/>
            <a:ext cx="4171363" cy="346939"/>
          </a:xfrm>
          <a:prstGeom prst="wedgeRectCallout">
            <a:avLst>
              <a:gd name="adj1" fmla="val -34758"/>
              <a:gd name="adj2" fmla="val 11046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Monthly shortfall amount </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will be made up via amortization.</a:t>
            </a:r>
          </a:p>
        </p:txBody>
      </p:sp>
      <p:sp>
        <p:nvSpPr>
          <p:cNvPr id="2" name="Slide Number Placeholder 4">
            <a:extLst>
              <a:ext uri="{FF2B5EF4-FFF2-40B4-BE49-F238E27FC236}">
                <a16:creationId xmlns:a16="http://schemas.microsoft.com/office/drawing/2014/main" id="{9F2FFE78-3E0A-EBB1-0D4E-CF4F2FE59FDE}"/>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159</a:t>
            </a:fld>
            <a:endParaRPr lang="en-US">
              <a:solidFill>
                <a:srgbClr val="000000"/>
              </a:solidFill>
            </a:endParaRPr>
          </a:p>
        </p:txBody>
      </p:sp>
    </p:spTree>
    <p:extLst>
      <p:ext uri="{BB962C8B-B14F-4D97-AF65-F5344CB8AC3E}">
        <p14:creationId xmlns:p14="http://schemas.microsoft.com/office/powerpoint/2010/main" val="2198148000"/>
      </p:ext>
    </p:extLst>
  </p:cSld>
  <p:clrMapOvr>
    <a:masterClrMapping/>
  </p:clrMapOvr>
  <p:transition spd="med"/>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0A4BEC-DA15-A030-BF04-49BB6149B23B}"/>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3B679AB6-7F5D-A166-D496-A25DC6D0F1DD}"/>
              </a:ext>
            </a:extLst>
          </p:cNvPr>
          <p:cNvGraphicFramePr>
            <a:graphicFrameLocks noGrp="1"/>
          </p:cNvGraphicFramePr>
          <p:nvPr>
            <p:extLst>
              <p:ext uri="{D42A27DB-BD31-4B8C-83A1-F6EECF244321}">
                <p14:modId xmlns:p14="http://schemas.microsoft.com/office/powerpoint/2010/main" val="1006294770"/>
              </p:ext>
            </p:extLst>
          </p:nvPr>
        </p:nvGraphicFramePr>
        <p:xfrm>
          <a:off x="201958" y="450014"/>
          <a:ext cx="9972556" cy="982980"/>
        </p:xfrm>
        <a:graphic>
          <a:graphicData uri="http://schemas.openxmlformats.org/drawingml/2006/table">
            <a:tbl>
              <a:tblPr firstRow="1" bandRow="1">
                <a:tableStyleId>{3C2FFA5D-87B4-456A-9821-1D502468CF0F}</a:tableStyleId>
              </a:tblPr>
              <a:tblGrid>
                <a:gridCol w="1140994">
                  <a:extLst>
                    <a:ext uri="{9D8B030D-6E8A-4147-A177-3AD203B41FA5}">
                      <a16:colId xmlns:a16="http://schemas.microsoft.com/office/drawing/2014/main" val="869603910"/>
                    </a:ext>
                  </a:extLst>
                </a:gridCol>
                <a:gridCol w="1180777">
                  <a:extLst>
                    <a:ext uri="{9D8B030D-6E8A-4147-A177-3AD203B41FA5}">
                      <a16:colId xmlns:a16="http://schemas.microsoft.com/office/drawing/2014/main" val="238663902"/>
                    </a:ext>
                  </a:extLst>
                </a:gridCol>
                <a:gridCol w="1012716">
                  <a:extLst>
                    <a:ext uri="{9D8B030D-6E8A-4147-A177-3AD203B41FA5}">
                      <a16:colId xmlns:a16="http://schemas.microsoft.com/office/drawing/2014/main" val="4114365151"/>
                    </a:ext>
                  </a:extLst>
                </a:gridCol>
                <a:gridCol w="1251787">
                  <a:extLst>
                    <a:ext uri="{9D8B030D-6E8A-4147-A177-3AD203B41FA5}">
                      <a16:colId xmlns:a16="http://schemas.microsoft.com/office/drawing/2014/main" val="4075178046"/>
                    </a:ext>
                  </a:extLst>
                </a:gridCol>
                <a:gridCol w="1168996">
                  <a:extLst>
                    <a:ext uri="{9D8B030D-6E8A-4147-A177-3AD203B41FA5}">
                      <a16:colId xmlns:a16="http://schemas.microsoft.com/office/drawing/2014/main" val="973533418"/>
                    </a:ext>
                  </a:extLst>
                </a:gridCol>
                <a:gridCol w="1214385">
                  <a:extLst>
                    <a:ext uri="{9D8B030D-6E8A-4147-A177-3AD203B41FA5}">
                      <a16:colId xmlns:a16="http://schemas.microsoft.com/office/drawing/2014/main" val="2377711782"/>
                    </a:ext>
                  </a:extLst>
                </a:gridCol>
                <a:gridCol w="1121122">
                  <a:extLst>
                    <a:ext uri="{9D8B030D-6E8A-4147-A177-3AD203B41FA5}">
                      <a16:colId xmlns:a16="http://schemas.microsoft.com/office/drawing/2014/main" val="3637466090"/>
                    </a:ext>
                  </a:extLst>
                </a:gridCol>
                <a:gridCol w="1881779">
                  <a:extLst>
                    <a:ext uri="{9D8B030D-6E8A-4147-A177-3AD203B41FA5}">
                      <a16:colId xmlns:a16="http://schemas.microsoft.com/office/drawing/2014/main" val="221569069"/>
                    </a:ext>
                  </a:extLst>
                </a:gridCol>
              </a:tblGrid>
              <a:tr h="40738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14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 </a:t>
                      </a:r>
                      <a:r>
                        <a:rPr lang="en-US" altLang="zh-CN" sz="1050">
                          <a:solidFill>
                            <a:schemeClr val="tx1"/>
                          </a:solidFill>
                        </a:rPr>
                        <a:t>monthly billing </a:t>
                      </a:r>
                      <a:r>
                        <a:rPr lang="en-US" altLang="zh-CN" sz="1050">
                          <a:solidFill>
                            <a:srgbClr val="FF0000"/>
                          </a:solidFill>
                        </a:rPr>
                        <a:t>higher </a:t>
                      </a:r>
                      <a:r>
                        <a:rPr lang="en-US" altLang="zh-CN" sz="1050">
                          <a:solidFill>
                            <a:schemeClr val="tx1"/>
                          </a:solidFill>
                        </a:rPr>
                        <a:t>than average payment</a:t>
                      </a:r>
                      <a:endParaRPr lang="zh-CN" altLang="en-US" sz="105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7" name="文本框 6">
            <a:extLst>
              <a:ext uri="{FF2B5EF4-FFF2-40B4-BE49-F238E27FC236}">
                <a16:creationId xmlns:a16="http://schemas.microsoft.com/office/drawing/2014/main" id="{2BF7850D-8011-B819-2A68-B8D23535D5AE}"/>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DAAS_S&amp;D_MLA</a:t>
            </a:r>
            <a:endParaRPr lang="zh-CN" altLang="en-US" sz="2000" b="1"/>
          </a:p>
        </p:txBody>
      </p:sp>
      <p:graphicFrame>
        <p:nvGraphicFramePr>
          <p:cNvPr id="13" name="表格 12">
            <a:extLst>
              <a:ext uri="{FF2B5EF4-FFF2-40B4-BE49-F238E27FC236}">
                <a16:creationId xmlns:a16="http://schemas.microsoft.com/office/drawing/2014/main" id="{5A4D8986-4633-C9BC-E449-10DB7034F53F}"/>
              </a:ext>
            </a:extLst>
          </p:cNvPr>
          <p:cNvGraphicFramePr>
            <a:graphicFrameLocks noGrp="1"/>
          </p:cNvGraphicFramePr>
          <p:nvPr>
            <p:extLst>
              <p:ext uri="{D42A27DB-BD31-4B8C-83A1-F6EECF244321}">
                <p14:modId xmlns:p14="http://schemas.microsoft.com/office/powerpoint/2010/main" val="3313003297"/>
              </p:ext>
            </p:extLst>
          </p:nvPr>
        </p:nvGraphicFramePr>
        <p:xfrm>
          <a:off x="201958" y="1680963"/>
          <a:ext cx="7964579" cy="4519601"/>
        </p:xfrm>
        <a:graphic>
          <a:graphicData uri="http://schemas.openxmlformats.org/drawingml/2006/table">
            <a:tbl>
              <a:tblPr/>
              <a:tblGrid>
                <a:gridCol w="576705">
                  <a:extLst>
                    <a:ext uri="{9D8B030D-6E8A-4147-A177-3AD203B41FA5}">
                      <a16:colId xmlns:a16="http://schemas.microsoft.com/office/drawing/2014/main" val="495084399"/>
                    </a:ext>
                  </a:extLst>
                </a:gridCol>
                <a:gridCol w="317102">
                  <a:extLst>
                    <a:ext uri="{9D8B030D-6E8A-4147-A177-3AD203B41FA5}">
                      <a16:colId xmlns:a16="http://schemas.microsoft.com/office/drawing/2014/main" val="3614210242"/>
                    </a:ext>
                  </a:extLst>
                </a:gridCol>
                <a:gridCol w="754662">
                  <a:extLst>
                    <a:ext uri="{9D8B030D-6E8A-4147-A177-3AD203B41FA5}">
                      <a16:colId xmlns:a16="http://schemas.microsoft.com/office/drawing/2014/main" val="1442124609"/>
                    </a:ext>
                  </a:extLst>
                </a:gridCol>
                <a:gridCol w="2233355">
                  <a:extLst>
                    <a:ext uri="{9D8B030D-6E8A-4147-A177-3AD203B41FA5}">
                      <a16:colId xmlns:a16="http://schemas.microsoft.com/office/drawing/2014/main" val="3603859997"/>
                    </a:ext>
                  </a:extLst>
                </a:gridCol>
                <a:gridCol w="714609">
                  <a:extLst>
                    <a:ext uri="{9D8B030D-6E8A-4147-A177-3AD203B41FA5}">
                      <a16:colId xmlns:a16="http://schemas.microsoft.com/office/drawing/2014/main" val="4076488391"/>
                    </a:ext>
                  </a:extLst>
                </a:gridCol>
                <a:gridCol w="645770">
                  <a:extLst>
                    <a:ext uri="{9D8B030D-6E8A-4147-A177-3AD203B41FA5}">
                      <a16:colId xmlns:a16="http://schemas.microsoft.com/office/drawing/2014/main" val="3254101706"/>
                    </a:ext>
                  </a:extLst>
                </a:gridCol>
                <a:gridCol w="347425">
                  <a:extLst>
                    <a:ext uri="{9D8B030D-6E8A-4147-A177-3AD203B41FA5}">
                      <a16:colId xmlns:a16="http://schemas.microsoft.com/office/drawing/2014/main" val="3712391277"/>
                    </a:ext>
                  </a:extLst>
                </a:gridCol>
                <a:gridCol w="779784">
                  <a:extLst>
                    <a:ext uri="{9D8B030D-6E8A-4147-A177-3AD203B41FA5}">
                      <a16:colId xmlns:a16="http://schemas.microsoft.com/office/drawing/2014/main" val="134131131"/>
                    </a:ext>
                  </a:extLst>
                </a:gridCol>
                <a:gridCol w="445167">
                  <a:extLst>
                    <a:ext uri="{9D8B030D-6E8A-4147-A177-3AD203B41FA5}">
                      <a16:colId xmlns:a16="http://schemas.microsoft.com/office/drawing/2014/main" val="2527660299"/>
                    </a:ext>
                  </a:extLst>
                </a:gridCol>
                <a:gridCol w="490470">
                  <a:extLst>
                    <a:ext uri="{9D8B030D-6E8A-4147-A177-3AD203B41FA5}">
                      <a16:colId xmlns:a16="http://schemas.microsoft.com/office/drawing/2014/main" val="3641075278"/>
                    </a:ext>
                  </a:extLst>
                </a:gridCol>
                <a:gridCol w="659530">
                  <a:extLst>
                    <a:ext uri="{9D8B030D-6E8A-4147-A177-3AD203B41FA5}">
                      <a16:colId xmlns:a16="http://schemas.microsoft.com/office/drawing/2014/main" val="3618613915"/>
                    </a:ext>
                  </a:extLst>
                </a:gridCol>
              </a:tblGrid>
              <a:tr h="161766">
                <a:tc rowSpan="17">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Monthly Invoice issued to customer </a:t>
                      </a:r>
                      <a:r>
                        <a:rPr lang="en-US" sz="800" b="1" i="0" u="none" strike="noStrike">
                          <a:solidFill>
                            <a:srgbClr val="FFFFFF"/>
                          </a:solidFill>
                          <a:effectLst/>
                          <a:latin typeface="Arial" panose="020B0604020202020204" pitchFamily="34" charset="0"/>
                        </a:rPr>
                        <a:t>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260">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Monthly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2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25937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150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9722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29722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16426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a:t>
                      </a:r>
                      <a:r>
                        <a:rPr lang="en-US" sz="900" b="0" i="0" u="none" strike="noStrike" kern="1200">
                          <a:solidFill>
                            <a:srgbClr val="000000"/>
                          </a:solidFill>
                          <a:effectLst/>
                          <a:latin typeface="Arial" panose="020B0604020202020204" pitchFamily="34" charset="0"/>
                          <a:ea typeface="+mn-ea"/>
                          <a:cs typeface="+mn-cs"/>
                        </a:rPr>
                        <a:t>-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23009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16426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baseline="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15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15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4087354"/>
                  </a:ext>
                </a:extLst>
              </a:tr>
              <a:tr h="297228">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Service Revenue -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16426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259379">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r h="297228">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56520415"/>
                  </a:ext>
                </a:extLst>
              </a:tr>
              <a:tr h="297228">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11588417"/>
                  </a:ext>
                </a:extLst>
              </a:tr>
              <a:tr h="259379">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595414123"/>
                  </a:ext>
                </a:extLst>
              </a:tr>
              <a:tr h="259379">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116512748"/>
                  </a:ext>
                </a:extLst>
              </a:tr>
              <a:tr h="297228">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94712455"/>
                  </a:ext>
                </a:extLst>
              </a:tr>
            </a:tbl>
          </a:graphicData>
        </a:graphic>
      </p:graphicFrame>
      <p:sp>
        <p:nvSpPr>
          <p:cNvPr id="2" name="Rectangle 1">
            <a:extLst>
              <a:ext uri="{FF2B5EF4-FFF2-40B4-BE49-F238E27FC236}">
                <a16:creationId xmlns:a16="http://schemas.microsoft.com/office/drawing/2014/main" id="{943D3863-AA63-F1EB-9ABF-DDA42A646C67}"/>
              </a:ext>
            </a:extLst>
          </p:cNvPr>
          <p:cNvSpPr/>
          <p:nvPr/>
        </p:nvSpPr>
        <p:spPr>
          <a:xfrm>
            <a:off x="789771" y="4672468"/>
            <a:ext cx="7376766" cy="1528095"/>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4" name="对话气泡: 矩形 3">
            <a:extLst>
              <a:ext uri="{FF2B5EF4-FFF2-40B4-BE49-F238E27FC236}">
                <a16:creationId xmlns:a16="http://schemas.microsoft.com/office/drawing/2014/main" id="{CA67E602-1DF3-2948-ADC7-4A8E4362A9FC}"/>
              </a:ext>
            </a:extLst>
          </p:cNvPr>
          <p:cNvSpPr/>
          <p:nvPr/>
        </p:nvSpPr>
        <p:spPr>
          <a:xfrm>
            <a:off x="8728574" y="4562110"/>
            <a:ext cx="2282014" cy="646385"/>
          </a:xfrm>
          <a:prstGeom prst="wedgeRectCallout">
            <a:avLst>
              <a:gd name="adj1" fmla="val -76515"/>
              <a:gd name="adj2" fmla="val 2521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OL HW and on-going service, Monthly excess amount </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will be booked as defer revenue.</a:t>
            </a:r>
            <a:endParaRPr lang="zh-CN" altLang="en-US" sz="1200">
              <a:solidFill>
                <a:schemeClr val="tx1"/>
              </a:solidFill>
            </a:endParaRPr>
          </a:p>
        </p:txBody>
      </p:sp>
      <p:sp>
        <p:nvSpPr>
          <p:cNvPr id="5" name="Rectangle 1">
            <a:extLst>
              <a:ext uri="{FF2B5EF4-FFF2-40B4-BE49-F238E27FC236}">
                <a16:creationId xmlns:a16="http://schemas.microsoft.com/office/drawing/2014/main" id="{EF8F55B2-CA6F-4D13-511D-FEE046F15DC7}"/>
              </a:ext>
            </a:extLst>
          </p:cNvPr>
          <p:cNvSpPr/>
          <p:nvPr/>
        </p:nvSpPr>
        <p:spPr>
          <a:xfrm>
            <a:off x="789771" y="4121254"/>
            <a:ext cx="7376766" cy="551213"/>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6" name="对话气泡: 矩形 5">
            <a:extLst>
              <a:ext uri="{FF2B5EF4-FFF2-40B4-BE49-F238E27FC236}">
                <a16:creationId xmlns:a16="http://schemas.microsoft.com/office/drawing/2014/main" id="{F9F3BD5C-75E5-3184-F725-F1C342768A8A}"/>
              </a:ext>
            </a:extLst>
          </p:cNvPr>
          <p:cNvSpPr/>
          <p:nvPr/>
        </p:nvSpPr>
        <p:spPr>
          <a:xfrm>
            <a:off x="8754350" y="3686898"/>
            <a:ext cx="2282014" cy="646385"/>
          </a:xfrm>
          <a:prstGeom prst="wedgeRectCallout">
            <a:avLst>
              <a:gd name="adj1" fmla="val -76515"/>
              <a:gd name="adj2" fmla="val 2521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ARS and Damage fund booked as defer revenue upon billing.</a:t>
            </a:r>
            <a:endParaRPr lang="zh-CN" altLang="en-US" sz="1200">
              <a:solidFill>
                <a:schemeClr val="tx1"/>
              </a:solidFill>
            </a:endParaRPr>
          </a:p>
        </p:txBody>
      </p:sp>
      <p:sp>
        <p:nvSpPr>
          <p:cNvPr id="8" name="Slide Number Placeholder 4">
            <a:extLst>
              <a:ext uri="{FF2B5EF4-FFF2-40B4-BE49-F238E27FC236}">
                <a16:creationId xmlns:a16="http://schemas.microsoft.com/office/drawing/2014/main" id="{C46B4CC5-321F-69B1-DECB-B9579CD943CC}"/>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160</a:t>
            </a:fld>
            <a:endParaRPr lang="en-US">
              <a:solidFill>
                <a:srgbClr val="000000"/>
              </a:solidFill>
            </a:endParaRPr>
          </a:p>
        </p:txBody>
      </p:sp>
    </p:spTree>
    <p:extLst>
      <p:ext uri="{BB962C8B-B14F-4D97-AF65-F5344CB8AC3E}">
        <p14:creationId xmlns:p14="http://schemas.microsoft.com/office/powerpoint/2010/main" val="3809540857"/>
      </p:ext>
    </p:extLst>
  </p:cSld>
  <p:clrMapOvr>
    <a:masterClrMapping/>
  </p:clrMapOvr>
  <p:transition spd="med"/>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C08AB7-B79B-5EA3-566C-C9BEA251FA83}"/>
            </a:ext>
          </a:extLst>
        </p:cNvPr>
        <p:cNvGrpSpPr/>
        <p:nvPr/>
      </p:nvGrpSpPr>
      <p:grpSpPr>
        <a:xfrm>
          <a:off x="0" y="0"/>
          <a:ext cx="0" cy="0"/>
          <a:chOff x="0" y="0"/>
          <a:chExt cx="0" cy="0"/>
        </a:xfrm>
      </p:grpSpPr>
      <p:sp>
        <p:nvSpPr>
          <p:cNvPr id="7" name="文本框 6">
            <a:extLst>
              <a:ext uri="{FF2B5EF4-FFF2-40B4-BE49-F238E27FC236}">
                <a16:creationId xmlns:a16="http://schemas.microsoft.com/office/drawing/2014/main" id="{E3535094-4583-DC45-9BDE-352097625F15}"/>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DAAS_S&amp;D_MLA</a:t>
            </a:r>
            <a:endParaRPr lang="zh-CN" altLang="en-US" sz="2000" b="1"/>
          </a:p>
        </p:txBody>
      </p:sp>
      <p:graphicFrame>
        <p:nvGraphicFramePr>
          <p:cNvPr id="2" name="表格 1">
            <a:extLst>
              <a:ext uri="{FF2B5EF4-FFF2-40B4-BE49-F238E27FC236}">
                <a16:creationId xmlns:a16="http://schemas.microsoft.com/office/drawing/2014/main" id="{AE1D2E15-A7FB-6217-42C1-35A4643656EE}"/>
              </a:ext>
            </a:extLst>
          </p:cNvPr>
          <p:cNvGraphicFramePr>
            <a:graphicFrameLocks noGrp="1"/>
          </p:cNvGraphicFramePr>
          <p:nvPr>
            <p:extLst>
              <p:ext uri="{D42A27DB-BD31-4B8C-83A1-F6EECF244321}">
                <p14:modId xmlns:p14="http://schemas.microsoft.com/office/powerpoint/2010/main" val="1792217679"/>
              </p:ext>
            </p:extLst>
          </p:nvPr>
        </p:nvGraphicFramePr>
        <p:xfrm>
          <a:off x="217336" y="1951277"/>
          <a:ext cx="5978806" cy="3320507"/>
        </p:xfrm>
        <a:graphic>
          <a:graphicData uri="http://schemas.openxmlformats.org/drawingml/2006/table">
            <a:tbl>
              <a:tblPr/>
              <a:tblGrid>
                <a:gridCol w="439969">
                  <a:extLst>
                    <a:ext uri="{9D8B030D-6E8A-4147-A177-3AD203B41FA5}">
                      <a16:colId xmlns:a16="http://schemas.microsoft.com/office/drawing/2014/main" val="495084399"/>
                    </a:ext>
                  </a:extLst>
                </a:gridCol>
                <a:gridCol w="241916">
                  <a:extLst>
                    <a:ext uri="{9D8B030D-6E8A-4147-A177-3AD203B41FA5}">
                      <a16:colId xmlns:a16="http://schemas.microsoft.com/office/drawing/2014/main" val="3614210242"/>
                    </a:ext>
                  </a:extLst>
                </a:gridCol>
                <a:gridCol w="575731">
                  <a:extLst>
                    <a:ext uri="{9D8B030D-6E8A-4147-A177-3AD203B41FA5}">
                      <a16:colId xmlns:a16="http://schemas.microsoft.com/office/drawing/2014/main" val="1442124609"/>
                    </a:ext>
                  </a:extLst>
                </a:gridCol>
                <a:gridCol w="2008928">
                  <a:extLst>
                    <a:ext uri="{9D8B030D-6E8A-4147-A177-3AD203B41FA5}">
                      <a16:colId xmlns:a16="http://schemas.microsoft.com/office/drawing/2014/main" val="3603859997"/>
                    </a:ext>
                  </a:extLst>
                </a:gridCol>
                <a:gridCol w="343854">
                  <a:extLst>
                    <a:ext uri="{9D8B030D-6E8A-4147-A177-3AD203B41FA5}">
                      <a16:colId xmlns:a16="http://schemas.microsoft.com/office/drawing/2014/main" val="4076488391"/>
                    </a:ext>
                  </a:extLst>
                </a:gridCol>
                <a:gridCol w="378941">
                  <a:extLst>
                    <a:ext uri="{9D8B030D-6E8A-4147-A177-3AD203B41FA5}">
                      <a16:colId xmlns:a16="http://schemas.microsoft.com/office/drawing/2014/main" val="3254101706"/>
                    </a:ext>
                  </a:extLst>
                </a:gridCol>
                <a:gridCol w="294732">
                  <a:extLst>
                    <a:ext uri="{9D8B030D-6E8A-4147-A177-3AD203B41FA5}">
                      <a16:colId xmlns:a16="http://schemas.microsoft.com/office/drawing/2014/main" val="3712391277"/>
                    </a:ext>
                  </a:extLst>
                </a:gridCol>
                <a:gridCol w="575429">
                  <a:extLst>
                    <a:ext uri="{9D8B030D-6E8A-4147-A177-3AD203B41FA5}">
                      <a16:colId xmlns:a16="http://schemas.microsoft.com/office/drawing/2014/main" val="1729481084"/>
                    </a:ext>
                  </a:extLst>
                </a:gridCol>
                <a:gridCol w="273680">
                  <a:extLst>
                    <a:ext uri="{9D8B030D-6E8A-4147-A177-3AD203B41FA5}">
                      <a16:colId xmlns:a16="http://schemas.microsoft.com/office/drawing/2014/main" val="2527660299"/>
                    </a:ext>
                  </a:extLst>
                </a:gridCol>
                <a:gridCol w="350872">
                  <a:extLst>
                    <a:ext uri="{9D8B030D-6E8A-4147-A177-3AD203B41FA5}">
                      <a16:colId xmlns:a16="http://schemas.microsoft.com/office/drawing/2014/main" val="3641075278"/>
                    </a:ext>
                  </a:extLst>
                </a:gridCol>
                <a:gridCol w="494754">
                  <a:extLst>
                    <a:ext uri="{9D8B030D-6E8A-4147-A177-3AD203B41FA5}">
                      <a16:colId xmlns:a16="http://schemas.microsoft.com/office/drawing/2014/main" val="3618613915"/>
                    </a:ext>
                  </a:extLst>
                </a:gridCol>
              </a:tblGrid>
              <a:tr h="178829">
                <a:tc rowSpan="13">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request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002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endParaRPr lang="en-US" sz="900" b="0" i="0" u="none" strike="noStrike">
                        <a:solidFill>
                          <a:srgbClr val="000000"/>
                        </a:solidFill>
                        <a:effectLst/>
                        <a:latin typeface="Arial" panose="020B0604020202020204" pitchFamily="34" charset="0"/>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8182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90372722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20/30/U4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385176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7542213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baseline="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89298417"/>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Service Revenue -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9935045"/>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J*</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86718768"/>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4" name="表格 3">
            <a:extLst>
              <a:ext uri="{FF2B5EF4-FFF2-40B4-BE49-F238E27FC236}">
                <a16:creationId xmlns:a16="http://schemas.microsoft.com/office/drawing/2014/main" id="{5A8AC031-9F75-083A-0203-8335D8CD6CE4}"/>
              </a:ext>
            </a:extLst>
          </p:cNvPr>
          <p:cNvGraphicFramePr>
            <a:graphicFrameLocks noGrp="1"/>
          </p:cNvGraphicFramePr>
          <p:nvPr>
            <p:extLst>
              <p:ext uri="{D42A27DB-BD31-4B8C-83A1-F6EECF244321}">
                <p14:modId xmlns:p14="http://schemas.microsoft.com/office/powerpoint/2010/main" val="2756028676"/>
              </p:ext>
            </p:extLst>
          </p:nvPr>
        </p:nvGraphicFramePr>
        <p:xfrm>
          <a:off x="217335" y="523933"/>
          <a:ext cx="5978807" cy="1394460"/>
        </p:xfrm>
        <a:graphic>
          <a:graphicData uri="http://schemas.openxmlformats.org/drawingml/2006/table">
            <a:tbl>
              <a:tblPr firstRow="1" bandRow="1">
                <a:tableStyleId>{3C2FFA5D-87B4-456A-9821-1D502468CF0F}</a:tableStyleId>
              </a:tblPr>
              <a:tblGrid>
                <a:gridCol w="651268">
                  <a:extLst>
                    <a:ext uri="{9D8B030D-6E8A-4147-A177-3AD203B41FA5}">
                      <a16:colId xmlns:a16="http://schemas.microsoft.com/office/drawing/2014/main" val="869603910"/>
                    </a:ext>
                  </a:extLst>
                </a:gridCol>
                <a:gridCol w="595558">
                  <a:extLst>
                    <a:ext uri="{9D8B030D-6E8A-4147-A177-3AD203B41FA5}">
                      <a16:colId xmlns:a16="http://schemas.microsoft.com/office/drawing/2014/main" val="238663902"/>
                    </a:ext>
                  </a:extLst>
                </a:gridCol>
                <a:gridCol w="610786">
                  <a:extLst>
                    <a:ext uri="{9D8B030D-6E8A-4147-A177-3AD203B41FA5}">
                      <a16:colId xmlns:a16="http://schemas.microsoft.com/office/drawing/2014/main" val="4114365151"/>
                    </a:ext>
                  </a:extLst>
                </a:gridCol>
                <a:gridCol w="642932">
                  <a:extLst>
                    <a:ext uri="{9D8B030D-6E8A-4147-A177-3AD203B41FA5}">
                      <a16:colId xmlns:a16="http://schemas.microsoft.com/office/drawing/2014/main" val="4075178046"/>
                    </a:ext>
                  </a:extLst>
                </a:gridCol>
                <a:gridCol w="707226">
                  <a:extLst>
                    <a:ext uri="{9D8B030D-6E8A-4147-A177-3AD203B41FA5}">
                      <a16:colId xmlns:a16="http://schemas.microsoft.com/office/drawing/2014/main" val="973533418"/>
                    </a:ext>
                  </a:extLst>
                </a:gridCol>
                <a:gridCol w="700796">
                  <a:extLst>
                    <a:ext uri="{9D8B030D-6E8A-4147-A177-3AD203B41FA5}">
                      <a16:colId xmlns:a16="http://schemas.microsoft.com/office/drawing/2014/main" val="2377711782"/>
                    </a:ext>
                  </a:extLst>
                </a:gridCol>
                <a:gridCol w="861529">
                  <a:extLst>
                    <a:ext uri="{9D8B030D-6E8A-4147-A177-3AD203B41FA5}">
                      <a16:colId xmlns:a16="http://schemas.microsoft.com/office/drawing/2014/main" val="1705285035"/>
                    </a:ext>
                  </a:extLst>
                </a:gridCol>
                <a:gridCol w="1208712">
                  <a:extLst>
                    <a:ext uri="{9D8B030D-6E8A-4147-A177-3AD203B41FA5}">
                      <a16:colId xmlns:a16="http://schemas.microsoft.com/office/drawing/2014/main" val="221569069"/>
                    </a:ext>
                  </a:extLst>
                </a:gridCol>
              </a:tblGrid>
              <a:tr h="44700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492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 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4922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15" name="表格 14">
            <a:extLst>
              <a:ext uri="{FF2B5EF4-FFF2-40B4-BE49-F238E27FC236}">
                <a16:creationId xmlns:a16="http://schemas.microsoft.com/office/drawing/2014/main" id="{380D87F2-475E-0C36-F681-ABF6ED1CA96D}"/>
              </a:ext>
            </a:extLst>
          </p:cNvPr>
          <p:cNvGraphicFramePr>
            <a:graphicFrameLocks noGrp="1"/>
          </p:cNvGraphicFramePr>
          <p:nvPr>
            <p:extLst>
              <p:ext uri="{D42A27DB-BD31-4B8C-83A1-F6EECF244321}">
                <p14:modId xmlns:p14="http://schemas.microsoft.com/office/powerpoint/2010/main" val="2554504103"/>
              </p:ext>
            </p:extLst>
          </p:nvPr>
        </p:nvGraphicFramePr>
        <p:xfrm>
          <a:off x="6303301" y="755506"/>
          <a:ext cx="5711540" cy="4262381"/>
        </p:xfrm>
        <a:graphic>
          <a:graphicData uri="http://schemas.openxmlformats.org/drawingml/2006/table">
            <a:tbl>
              <a:tblPr/>
              <a:tblGrid>
                <a:gridCol w="411082">
                  <a:extLst>
                    <a:ext uri="{9D8B030D-6E8A-4147-A177-3AD203B41FA5}">
                      <a16:colId xmlns:a16="http://schemas.microsoft.com/office/drawing/2014/main" val="495084399"/>
                    </a:ext>
                  </a:extLst>
                </a:gridCol>
                <a:gridCol w="226033">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55296">
                  <a:extLst>
                    <a:ext uri="{9D8B030D-6E8A-4147-A177-3AD203B41FA5}">
                      <a16:colId xmlns:a16="http://schemas.microsoft.com/office/drawing/2014/main" val="3603859997"/>
                    </a:ext>
                  </a:extLst>
                </a:gridCol>
                <a:gridCol w="303177">
                  <a:extLst>
                    <a:ext uri="{9D8B030D-6E8A-4147-A177-3AD203B41FA5}">
                      <a16:colId xmlns:a16="http://schemas.microsoft.com/office/drawing/2014/main" val="4076488391"/>
                    </a:ext>
                  </a:extLst>
                </a:gridCol>
                <a:gridCol w="303177">
                  <a:extLst>
                    <a:ext uri="{9D8B030D-6E8A-4147-A177-3AD203B41FA5}">
                      <a16:colId xmlns:a16="http://schemas.microsoft.com/office/drawing/2014/main" val="3254101706"/>
                    </a:ext>
                  </a:extLst>
                </a:gridCol>
                <a:gridCol w="247648">
                  <a:extLst>
                    <a:ext uri="{9D8B030D-6E8A-4147-A177-3AD203B41FA5}">
                      <a16:colId xmlns:a16="http://schemas.microsoft.com/office/drawing/2014/main" val="3712391277"/>
                    </a:ext>
                  </a:extLst>
                </a:gridCol>
                <a:gridCol w="555838">
                  <a:extLst>
                    <a:ext uri="{9D8B030D-6E8A-4147-A177-3AD203B41FA5}">
                      <a16:colId xmlns:a16="http://schemas.microsoft.com/office/drawing/2014/main" val="134131131"/>
                    </a:ext>
                  </a:extLst>
                </a:gridCol>
                <a:gridCol w="317321">
                  <a:extLst>
                    <a:ext uri="{9D8B030D-6E8A-4147-A177-3AD203B41FA5}">
                      <a16:colId xmlns:a16="http://schemas.microsoft.com/office/drawing/2014/main" val="2527660299"/>
                    </a:ext>
                  </a:extLst>
                </a:gridCol>
                <a:gridCol w="349612">
                  <a:extLst>
                    <a:ext uri="{9D8B030D-6E8A-4147-A177-3AD203B41FA5}">
                      <a16:colId xmlns:a16="http://schemas.microsoft.com/office/drawing/2014/main" val="3641075278"/>
                    </a:ext>
                  </a:extLst>
                </a:gridCol>
                <a:gridCol w="470120">
                  <a:extLst>
                    <a:ext uri="{9D8B030D-6E8A-4147-A177-3AD203B41FA5}">
                      <a16:colId xmlns:a16="http://schemas.microsoft.com/office/drawing/2014/main" val="3618613915"/>
                    </a:ext>
                  </a:extLst>
                </a:gridCol>
              </a:tblGrid>
              <a:tr h="183974">
                <a:tc rowSpan="13">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proportion amortization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86809">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Upon ET request</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338032">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3803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3380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306938200"/>
                  </a:ext>
                </a:extLst>
              </a:tr>
              <a:tr h="29671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22182322"/>
                  </a:ext>
                </a:extLst>
              </a:tr>
              <a:tr h="29671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489255">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28385649"/>
                  </a:ext>
                </a:extLst>
              </a:tr>
              <a:tr h="33803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3380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29986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baseline="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69528025"/>
                  </a:ext>
                </a:extLst>
              </a:tr>
              <a:tr h="29671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489255">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5010401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Service Revenue -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0226234"/>
                  </a:ext>
                </a:extLst>
              </a:tr>
            </a:tbl>
          </a:graphicData>
        </a:graphic>
      </p:graphicFrame>
      <p:sp>
        <p:nvSpPr>
          <p:cNvPr id="16" name="Rectangle 1">
            <a:extLst>
              <a:ext uri="{FF2B5EF4-FFF2-40B4-BE49-F238E27FC236}">
                <a16:creationId xmlns:a16="http://schemas.microsoft.com/office/drawing/2014/main" id="{69D5EE22-9EE0-AA2D-6F14-A52C27255C5E}"/>
              </a:ext>
            </a:extLst>
          </p:cNvPr>
          <p:cNvSpPr/>
          <p:nvPr/>
        </p:nvSpPr>
        <p:spPr>
          <a:xfrm>
            <a:off x="6715525" y="1425798"/>
            <a:ext cx="5255813" cy="3592089"/>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7" name="对话气泡: 矩形 16">
            <a:extLst>
              <a:ext uri="{FF2B5EF4-FFF2-40B4-BE49-F238E27FC236}">
                <a16:creationId xmlns:a16="http://schemas.microsoft.com/office/drawing/2014/main" id="{3241CE9F-F854-5EF1-9E1A-510CCD7361A3}"/>
              </a:ext>
            </a:extLst>
          </p:cNvPr>
          <p:cNvSpPr/>
          <p:nvPr/>
        </p:nvSpPr>
        <p:spPr>
          <a:xfrm>
            <a:off x="9263270" y="5364493"/>
            <a:ext cx="2717265" cy="823710"/>
          </a:xfrm>
          <a:prstGeom prst="wedgeRectCallout">
            <a:avLst>
              <a:gd name="adj1" fmla="val -23132"/>
              <a:gd name="adj2" fmla="val -7981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For early termination, the proportion of overbilled shall be reclassified from deferred revenue to corresponding immediate revenue</a:t>
            </a:r>
          </a:p>
        </p:txBody>
      </p:sp>
      <p:sp>
        <p:nvSpPr>
          <p:cNvPr id="18" name="Rectangle 1">
            <a:extLst>
              <a:ext uri="{FF2B5EF4-FFF2-40B4-BE49-F238E27FC236}">
                <a16:creationId xmlns:a16="http://schemas.microsoft.com/office/drawing/2014/main" id="{AEEDC0E5-97D8-B604-9BCA-3E851A2762CD}"/>
              </a:ext>
            </a:extLst>
          </p:cNvPr>
          <p:cNvSpPr/>
          <p:nvPr/>
        </p:nvSpPr>
        <p:spPr>
          <a:xfrm>
            <a:off x="3458813" y="2621965"/>
            <a:ext cx="2737327" cy="2649819"/>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graphicFrame>
        <p:nvGraphicFramePr>
          <p:cNvPr id="20" name="表格 19">
            <a:extLst>
              <a:ext uri="{FF2B5EF4-FFF2-40B4-BE49-F238E27FC236}">
                <a16:creationId xmlns:a16="http://schemas.microsoft.com/office/drawing/2014/main" id="{40CB5D1F-D1FB-A6C0-6DF8-B5AB10BF2BC4}"/>
              </a:ext>
            </a:extLst>
          </p:cNvPr>
          <p:cNvGraphicFramePr>
            <a:graphicFrameLocks noGrp="1"/>
          </p:cNvGraphicFramePr>
          <p:nvPr>
            <p:extLst>
              <p:ext uri="{D42A27DB-BD31-4B8C-83A1-F6EECF244321}">
                <p14:modId xmlns:p14="http://schemas.microsoft.com/office/powerpoint/2010/main" val="1051217432"/>
              </p:ext>
            </p:extLst>
          </p:nvPr>
        </p:nvGraphicFramePr>
        <p:xfrm>
          <a:off x="211465" y="5364493"/>
          <a:ext cx="6769781" cy="1314990"/>
        </p:xfrm>
        <a:graphic>
          <a:graphicData uri="http://schemas.openxmlformats.org/drawingml/2006/table">
            <a:tbl>
              <a:tblPr/>
              <a:tblGrid>
                <a:gridCol w="607012">
                  <a:extLst>
                    <a:ext uri="{9D8B030D-6E8A-4147-A177-3AD203B41FA5}">
                      <a16:colId xmlns:a16="http://schemas.microsoft.com/office/drawing/2014/main" val="495084399"/>
                    </a:ext>
                  </a:extLst>
                </a:gridCol>
                <a:gridCol w="381842">
                  <a:extLst>
                    <a:ext uri="{9D8B030D-6E8A-4147-A177-3AD203B41FA5}">
                      <a16:colId xmlns:a16="http://schemas.microsoft.com/office/drawing/2014/main" val="3614210242"/>
                    </a:ext>
                  </a:extLst>
                </a:gridCol>
                <a:gridCol w="715946">
                  <a:extLst>
                    <a:ext uri="{9D8B030D-6E8A-4147-A177-3AD203B41FA5}">
                      <a16:colId xmlns:a16="http://schemas.microsoft.com/office/drawing/2014/main" val="1442124609"/>
                    </a:ext>
                  </a:extLst>
                </a:gridCol>
                <a:gridCol w="1868557">
                  <a:extLst>
                    <a:ext uri="{9D8B030D-6E8A-4147-A177-3AD203B41FA5}">
                      <a16:colId xmlns:a16="http://schemas.microsoft.com/office/drawing/2014/main" val="3603859997"/>
                    </a:ext>
                  </a:extLst>
                </a:gridCol>
                <a:gridCol w="373711">
                  <a:extLst>
                    <a:ext uri="{9D8B030D-6E8A-4147-A177-3AD203B41FA5}">
                      <a16:colId xmlns:a16="http://schemas.microsoft.com/office/drawing/2014/main" val="4076488391"/>
                    </a:ext>
                  </a:extLst>
                </a:gridCol>
                <a:gridCol w="365760">
                  <a:extLst>
                    <a:ext uri="{9D8B030D-6E8A-4147-A177-3AD203B41FA5}">
                      <a16:colId xmlns:a16="http://schemas.microsoft.com/office/drawing/2014/main" val="3254101706"/>
                    </a:ext>
                  </a:extLst>
                </a:gridCol>
                <a:gridCol w="262393">
                  <a:extLst>
                    <a:ext uri="{9D8B030D-6E8A-4147-A177-3AD203B41FA5}">
                      <a16:colId xmlns:a16="http://schemas.microsoft.com/office/drawing/2014/main" val="3712391277"/>
                    </a:ext>
                  </a:extLst>
                </a:gridCol>
                <a:gridCol w="357809">
                  <a:extLst>
                    <a:ext uri="{9D8B030D-6E8A-4147-A177-3AD203B41FA5}">
                      <a16:colId xmlns:a16="http://schemas.microsoft.com/office/drawing/2014/main" val="2728947310"/>
                    </a:ext>
                  </a:extLst>
                </a:gridCol>
                <a:gridCol w="365760">
                  <a:extLst>
                    <a:ext uri="{9D8B030D-6E8A-4147-A177-3AD203B41FA5}">
                      <a16:colId xmlns:a16="http://schemas.microsoft.com/office/drawing/2014/main" val="2527660299"/>
                    </a:ext>
                  </a:extLst>
                </a:gridCol>
                <a:gridCol w="580445">
                  <a:extLst>
                    <a:ext uri="{9D8B030D-6E8A-4147-A177-3AD203B41FA5}">
                      <a16:colId xmlns:a16="http://schemas.microsoft.com/office/drawing/2014/main" val="3641075278"/>
                    </a:ext>
                  </a:extLst>
                </a:gridCol>
                <a:gridCol w="890546">
                  <a:extLst>
                    <a:ext uri="{9D8B030D-6E8A-4147-A177-3AD203B41FA5}">
                      <a16:colId xmlns:a16="http://schemas.microsoft.com/office/drawing/2014/main" val="3618613915"/>
                    </a:ext>
                  </a:extLst>
                </a:gridCol>
              </a:tblGrid>
              <a:tr h="158453">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Recognition of End of Lease Services Revenue</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089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End of Lease</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08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9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6089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ARS(EOT)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3455902"/>
                  </a:ext>
                </a:extLst>
              </a:tr>
              <a:tr h="16089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51075742"/>
                  </a:ext>
                </a:extLst>
              </a:tr>
              <a:tr h="16089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sp>
        <p:nvSpPr>
          <p:cNvPr id="19" name="对话气泡: 矩形 18">
            <a:extLst>
              <a:ext uri="{FF2B5EF4-FFF2-40B4-BE49-F238E27FC236}">
                <a16:creationId xmlns:a16="http://schemas.microsoft.com/office/drawing/2014/main" id="{5C61B092-D59E-CF6E-C6F9-B2DAC036966E}"/>
              </a:ext>
            </a:extLst>
          </p:cNvPr>
          <p:cNvSpPr/>
          <p:nvPr/>
        </p:nvSpPr>
        <p:spPr>
          <a:xfrm>
            <a:off x="7052805" y="5534347"/>
            <a:ext cx="2083242" cy="653856"/>
          </a:xfrm>
          <a:prstGeom prst="wedgeRectCallout">
            <a:avLst>
              <a:gd name="adj1" fmla="val -89821"/>
              <a:gd name="adj2" fmla="val -10715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Lato" panose="020F0502020204030203" pitchFamily="34" charset="0"/>
                <a:cs typeface="Lato" panose="020F0502020204030203" pitchFamily="34" charset="0"/>
              </a:rPr>
              <a:t>Sum of structure payments of remaining months + FMV</a:t>
            </a:r>
            <a:endParaRPr lang="en-US" altLang="zh-CN" sz="1200">
              <a:solidFill>
                <a:schemeClr val="tx1"/>
              </a:solidFill>
            </a:endParaRPr>
          </a:p>
        </p:txBody>
      </p:sp>
      <p:sp>
        <p:nvSpPr>
          <p:cNvPr id="3" name="Slide Number Placeholder 4">
            <a:extLst>
              <a:ext uri="{FF2B5EF4-FFF2-40B4-BE49-F238E27FC236}">
                <a16:creationId xmlns:a16="http://schemas.microsoft.com/office/drawing/2014/main" id="{785318D5-3424-7626-B2B4-3D88B5009E00}"/>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161</a:t>
            </a:fld>
            <a:endParaRPr lang="en-US">
              <a:solidFill>
                <a:srgbClr val="000000"/>
              </a:solidFill>
            </a:endParaRPr>
          </a:p>
        </p:txBody>
      </p:sp>
      <p:sp>
        <p:nvSpPr>
          <p:cNvPr id="6" name="Flowchart: Process 5">
            <a:extLst>
              <a:ext uri="{FF2B5EF4-FFF2-40B4-BE49-F238E27FC236}">
                <a16:creationId xmlns:a16="http://schemas.microsoft.com/office/drawing/2014/main" id="{5170E022-8137-6A82-BA81-6B0CC038769A}"/>
              </a:ext>
            </a:extLst>
          </p:cNvPr>
          <p:cNvSpPr/>
          <p:nvPr/>
        </p:nvSpPr>
        <p:spPr>
          <a:xfrm>
            <a:off x="6303301" y="755506"/>
            <a:ext cx="5807183" cy="4262381"/>
          </a:xfrm>
          <a:prstGeom prst="flowChartProcess">
            <a:avLst/>
          </a:prstGeom>
          <a:solidFill>
            <a:srgbClr val="D9D9D9">
              <a:alpha val="79000"/>
            </a:srgb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en-US" sz="1200" b="1">
              <a:solidFill>
                <a:schemeClr val="tx1"/>
              </a:solidFill>
              <a:highlight>
                <a:srgbClr val="D9D9D9"/>
              </a:highlight>
              <a:latin typeface="Tenorite" panose="00000500000000000000" pitchFamily="2" charset="0"/>
            </a:endParaRPr>
          </a:p>
        </p:txBody>
      </p:sp>
      <p:sp>
        <p:nvSpPr>
          <p:cNvPr id="9" name="Flowchart: Process 8">
            <a:extLst>
              <a:ext uri="{FF2B5EF4-FFF2-40B4-BE49-F238E27FC236}">
                <a16:creationId xmlns:a16="http://schemas.microsoft.com/office/drawing/2014/main" id="{F2608419-55D7-D784-8149-16FA13034D6D}"/>
              </a:ext>
            </a:extLst>
          </p:cNvPr>
          <p:cNvSpPr/>
          <p:nvPr/>
        </p:nvSpPr>
        <p:spPr>
          <a:xfrm>
            <a:off x="9257398" y="5132716"/>
            <a:ext cx="2717265" cy="1055487"/>
          </a:xfrm>
          <a:prstGeom prst="flowChartProcess">
            <a:avLst/>
          </a:prstGeom>
          <a:solidFill>
            <a:srgbClr val="D9D9D9">
              <a:alpha val="79000"/>
            </a:srgb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en-US" sz="1200" b="1">
              <a:solidFill>
                <a:schemeClr val="tx1"/>
              </a:solidFill>
              <a:highlight>
                <a:srgbClr val="D9D9D9"/>
              </a:highlight>
              <a:latin typeface="Tenorite" panose="00000500000000000000" pitchFamily="2" charset="0"/>
            </a:endParaRPr>
          </a:p>
        </p:txBody>
      </p:sp>
    </p:spTree>
    <p:extLst>
      <p:ext uri="{BB962C8B-B14F-4D97-AF65-F5344CB8AC3E}">
        <p14:creationId xmlns:p14="http://schemas.microsoft.com/office/powerpoint/2010/main" val="1571953997"/>
      </p:ext>
    </p:extLst>
  </p:cSld>
  <p:clrMapOvr>
    <a:masterClrMapping/>
  </p:clrMapOvr>
  <p:transition spd="med"/>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36DD61-919B-91C9-BEE0-63D82A39969E}"/>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B27FA7E5-5129-E0AF-BCB2-686D159D8F41}"/>
              </a:ext>
            </a:extLst>
          </p:cNvPr>
          <p:cNvGraphicFramePr>
            <a:graphicFrameLocks noGrp="1"/>
          </p:cNvGraphicFramePr>
          <p:nvPr>
            <p:extLst>
              <p:ext uri="{D42A27DB-BD31-4B8C-83A1-F6EECF244321}">
                <p14:modId xmlns:p14="http://schemas.microsoft.com/office/powerpoint/2010/main" val="1553659967"/>
              </p:ext>
            </p:extLst>
          </p:nvPr>
        </p:nvGraphicFramePr>
        <p:xfrm>
          <a:off x="201958" y="450014"/>
          <a:ext cx="10415242" cy="932936"/>
        </p:xfrm>
        <a:graphic>
          <a:graphicData uri="http://schemas.openxmlformats.org/drawingml/2006/table">
            <a:tbl>
              <a:tblPr firstRow="1" bandRow="1">
                <a:tableStyleId>{3C2FFA5D-87B4-456A-9821-1D502468CF0F}</a:tableStyleId>
              </a:tblPr>
              <a:tblGrid>
                <a:gridCol w="1175369">
                  <a:extLst>
                    <a:ext uri="{9D8B030D-6E8A-4147-A177-3AD203B41FA5}">
                      <a16:colId xmlns:a16="http://schemas.microsoft.com/office/drawing/2014/main" val="869603910"/>
                    </a:ext>
                  </a:extLst>
                </a:gridCol>
                <a:gridCol w="1216351">
                  <a:extLst>
                    <a:ext uri="{9D8B030D-6E8A-4147-A177-3AD203B41FA5}">
                      <a16:colId xmlns:a16="http://schemas.microsoft.com/office/drawing/2014/main" val="238663902"/>
                    </a:ext>
                  </a:extLst>
                </a:gridCol>
                <a:gridCol w="1043226">
                  <a:extLst>
                    <a:ext uri="{9D8B030D-6E8A-4147-A177-3AD203B41FA5}">
                      <a16:colId xmlns:a16="http://schemas.microsoft.com/office/drawing/2014/main" val="4114365151"/>
                    </a:ext>
                  </a:extLst>
                </a:gridCol>
                <a:gridCol w="1289500">
                  <a:extLst>
                    <a:ext uri="{9D8B030D-6E8A-4147-A177-3AD203B41FA5}">
                      <a16:colId xmlns:a16="http://schemas.microsoft.com/office/drawing/2014/main" val="4075178046"/>
                    </a:ext>
                  </a:extLst>
                </a:gridCol>
                <a:gridCol w="1204215">
                  <a:extLst>
                    <a:ext uri="{9D8B030D-6E8A-4147-A177-3AD203B41FA5}">
                      <a16:colId xmlns:a16="http://schemas.microsoft.com/office/drawing/2014/main" val="973533418"/>
                    </a:ext>
                  </a:extLst>
                </a:gridCol>
                <a:gridCol w="1250971">
                  <a:extLst>
                    <a:ext uri="{9D8B030D-6E8A-4147-A177-3AD203B41FA5}">
                      <a16:colId xmlns:a16="http://schemas.microsoft.com/office/drawing/2014/main" val="2377711782"/>
                    </a:ext>
                  </a:extLst>
                </a:gridCol>
                <a:gridCol w="1154898">
                  <a:extLst>
                    <a:ext uri="{9D8B030D-6E8A-4147-A177-3AD203B41FA5}">
                      <a16:colId xmlns:a16="http://schemas.microsoft.com/office/drawing/2014/main" val="3637466090"/>
                    </a:ext>
                  </a:extLst>
                </a:gridCol>
                <a:gridCol w="2080712">
                  <a:extLst>
                    <a:ext uri="{9D8B030D-6E8A-4147-A177-3AD203B41FA5}">
                      <a16:colId xmlns:a16="http://schemas.microsoft.com/office/drawing/2014/main" val="221569069"/>
                    </a:ext>
                  </a:extLst>
                </a:gridCol>
              </a:tblGrid>
              <a:tr h="40738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14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 – </a:t>
                      </a:r>
                      <a:r>
                        <a:rPr lang="en-US" altLang="zh-CN" sz="1050" kern="1200">
                          <a:solidFill>
                            <a:srgbClr val="FF0000"/>
                          </a:solidFill>
                          <a:latin typeface="+mn-lt"/>
                          <a:ea typeface="+mn-ea"/>
                          <a:cs typeface="+mn-cs"/>
                        </a:rPr>
                        <a:t>Fully </a:t>
                      </a:r>
                      <a:r>
                        <a:rPr lang="en-US" altLang="zh-CN" sz="1050">
                          <a:solidFill>
                            <a:srgbClr val="FF0000"/>
                          </a:solidFill>
                        </a:rPr>
                        <a:t>CMR</a:t>
                      </a:r>
                    </a:p>
                    <a:p>
                      <a:r>
                        <a:rPr lang="en-US" altLang="zh-CN" sz="1050">
                          <a:solidFill>
                            <a:srgbClr val="FF0000"/>
                          </a:solidFill>
                        </a:rPr>
                        <a:t>/DMR</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7" name="文本框 6">
            <a:extLst>
              <a:ext uri="{FF2B5EF4-FFF2-40B4-BE49-F238E27FC236}">
                <a16:creationId xmlns:a16="http://schemas.microsoft.com/office/drawing/2014/main" id="{83A9039B-F767-1692-93E9-91EBFBE5254B}"/>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DAAS_S&amp;D_MLA</a:t>
            </a:r>
            <a:endParaRPr lang="zh-CN" altLang="en-US" sz="2000" b="1"/>
          </a:p>
        </p:txBody>
      </p:sp>
      <p:sp>
        <p:nvSpPr>
          <p:cNvPr id="8" name="Slide Number Placeholder 4">
            <a:extLst>
              <a:ext uri="{FF2B5EF4-FFF2-40B4-BE49-F238E27FC236}">
                <a16:creationId xmlns:a16="http://schemas.microsoft.com/office/drawing/2014/main" id="{2F1E0634-9AFD-748B-91D7-89998BC81828}"/>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162</a:t>
            </a:fld>
            <a:endParaRPr lang="en-US">
              <a:solidFill>
                <a:srgbClr val="000000"/>
              </a:solidFill>
            </a:endParaRPr>
          </a:p>
        </p:txBody>
      </p:sp>
      <p:graphicFrame>
        <p:nvGraphicFramePr>
          <p:cNvPr id="9" name="表格 8">
            <a:extLst>
              <a:ext uri="{FF2B5EF4-FFF2-40B4-BE49-F238E27FC236}">
                <a16:creationId xmlns:a16="http://schemas.microsoft.com/office/drawing/2014/main" id="{E3F7BDDC-FCA9-D0F3-900B-30041A10D00F}"/>
              </a:ext>
            </a:extLst>
          </p:cNvPr>
          <p:cNvGraphicFramePr>
            <a:graphicFrameLocks noGrp="1"/>
          </p:cNvGraphicFramePr>
          <p:nvPr>
            <p:extLst>
              <p:ext uri="{D42A27DB-BD31-4B8C-83A1-F6EECF244321}">
                <p14:modId xmlns:p14="http://schemas.microsoft.com/office/powerpoint/2010/main" val="1102304465"/>
              </p:ext>
            </p:extLst>
          </p:nvPr>
        </p:nvGraphicFramePr>
        <p:xfrm>
          <a:off x="22767" y="2051413"/>
          <a:ext cx="6039293" cy="339014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693484">
                  <a:extLst>
                    <a:ext uri="{9D8B030D-6E8A-4147-A177-3AD203B41FA5}">
                      <a16:colId xmlns:a16="http://schemas.microsoft.com/office/drawing/2014/main" val="3603859997"/>
                    </a:ext>
                  </a:extLst>
                </a:gridCol>
                <a:gridCol w="541866">
                  <a:extLst>
                    <a:ext uri="{9D8B030D-6E8A-4147-A177-3AD203B41FA5}">
                      <a16:colId xmlns:a16="http://schemas.microsoft.com/office/drawing/2014/main" val="4076488391"/>
                    </a:ext>
                  </a:extLst>
                </a:gridCol>
                <a:gridCol w="489667">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208247">
                <a:tc rowSpan="12">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a:t>
                      </a:r>
                      <a:r>
                        <a:rPr lang="en-US" altLang="zh-CN" sz="800" b="1" i="0" u="none" strike="noStrike">
                          <a:solidFill>
                            <a:srgbClr val="FFFFFF"/>
                          </a:solidFill>
                          <a:effectLst/>
                          <a:latin typeface="Arial" panose="020B0604020202020204" pitchFamily="34" charset="0"/>
                        </a:rPr>
                        <a:t>ownpayment</a:t>
                      </a:r>
                      <a:r>
                        <a:rPr lang="en-US" sz="800" b="1" i="0" u="none" strike="noStrike">
                          <a:solidFill>
                            <a:srgbClr val="FFFFFF"/>
                          </a:solidFill>
                          <a:effectLst/>
                          <a:latin typeface="Arial" panose="020B0604020202020204" pitchFamily="34" charset="0"/>
                        </a:rPr>
                        <a: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11457">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DMR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1457">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8263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a:t>
                      </a:r>
                      <a:r>
                        <a:rPr lang="en-US" sz="900" b="0" i="0" u="none" strike="noStrike" kern="1200">
                          <a:solidFill>
                            <a:srgbClr val="000000"/>
                          </a:solidFill>
                          <a:effectLst/>
                          <a:latin typeface="Arial" panose="020B0604020202020204" pitchFamily="34" charset="0"/>
                          <a:ea typeface="+mn-ea"/>
                          <a:cs typeface="+mn-cs"/>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4087354"/>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382632">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sp>
        <p:nvSpPr>
          <p:cNvPr id="10" name="对话气泡: 矩形 9">
            <a:extLst>
              <a:ext uri="{FF2B5EF4-FFF2-40B4-BE49-F238E27FC236}">
                <a16:creationId xmlns:a16="http://schemas.microsoft.com/office/drawing/2014/main" id="{13B4174A-BFAB-2A6E-4842-0AEE1F07E6BF}"/>
              </a:ext>
            </a:extLst>
          </p:cNvPr>
          <p:cNvSpPr/>
          <p:nvPr/>
        </p:nvSpPr>
        <p:spPr>
          <a:xfrm>
            <a:off x="-2077571" y="2011268"/>
            <a:ext cx="1500305" cy="2203885"/>
          </a:xfrm>
          <a:prstGeom prst="wedgeRectCallout">
            <a:avLst>
              <a:gd name="adj1" fmla="val 87286"/>
              <a:gd name="adj2" fmla="val 1064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CMR/DMR issued due to wrong information update, e.g.,  tax calculation update, customer address update, shall not impact revenue recognition, will be booked as defer. </a:t>
            </a:r>
            <a:endParaRPr lang="zh-CN" altLang="en-US" sz="1200">
              <a:solidFill>
                <a:schemeClr val="tx1"/>
              </a:solidFill>
            </a:endParaRPr>
          </a:p>
        </p:txBody>
      </p:sp>
      <p:sp>
        <p:nvSpPr>
          <p:cNvPr id="11" name="Rectangle 1">
            <a:extLst>
              <a:ext uri="{FF2B5EF4-FFF2-40B4-BE49-F238E27FC236}">
                <a16:creationId xmlns:a16="http://schemas.microsoft.com/office/drawing/2014/main" id="{EC19AD5B-5778-B916-2372-F836951BE5CA}"/>
              </a:ext>
            </a:extLst>
          </p:cNvPr>
          <p:cNvSpPr/>
          <p:nvPr/>
        </p:nvSpPr>
        <p:spPr>
          <a:xfrm>
            <a:off x="455476" y="2669968"/>
            <a:ext cx="5606584" cy="2771594"/>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2" name="椭圆 1">
            <a:extLst>
              <a:ext uri="{FF2B5EF4-FFF2-40B4-BE49-F238E27FC236}">
                <a16:creationId xmlns:a16="http://schemas.microsoft.com/office/drawing/2014/main" id="{40DB6C94-B90A-CB0C-69B5-F711690FD52A}"/>
              </a:ext>
            </a:extLst>
          </p:cNvPr>
          <p:cNvSpPr/>
          <p:nvPr/>
        </p:nvSpPr>
        <p:spPr>
          <a:xfrm>
            <a:off x="11752264" y="0"/>
            <a:ext cx="438150" cy="400110"/>
          </a:xfrm>
          <a:prstGeom prst="ellipse">
            <a:avLst/>
          </a:prstGeom>
          <a:solidFill>
            <a:srgbClr val="FFFF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highlight>
                <a:srgbClr val="FFFF00"/>
              </a:highlight>
              <a:latin typeface="Tenorite" panose="00000500000000000000" pitchFamily="2" charset="0"/>
            </a:endParaRPr>
          </a:p>
        </p:txBody>
      </p:sp>
      <p:graphicFrame>
        <p:nvGraphicFramePr>
          <p:cNvPr id="4" name="表格 8">
            <a:extLst>
              <a:ext uri="{FF2B5EF4-FFF2-40B4-BE49-F238E27FC236}">
                <a16:creationId xmlns:a16="http://schemas.microsoft.com/office/drawing/2014/main" id="{1B9368A7-BCE0-8E42-81D6-48B5F75149CC}"/>
              </a:ext>
            </a:extLst>
          </p:cNvPr>
          <p:cNvGraphicFramePr>
            <a:graphicFrameLocks noGrp="1"/>
          </p:cNvGraphicFramePr>
          <p:nvPr>
            <p:extLst>
              <p:ext uri="{D42A27DB-BD31-4B8C-83A1-F6EECF244321}">
                <p14:modId xmlns:p14="http://schemas.microsoft.com/office/powerpoint/2010/main" val="3336157528"/>
              </p:ext>
            </p:extLst>
          </p:nvPr>
        </p:nvGraphicFramePr>
        <p:xfrm>
          <a:off x="6096000" y="2051413"/>
          <a:ext cx="6039293" cy="339014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693484">
                  <a:extLst>
                    <a:ext uri="{9D8B030D-6E8A-4147-A177-3AD203B41FA5}">
                      <a16:colId xmlns:a16="http://schemas.microsoft.com/office/drawing/2014/main" val="3603859997"/>
                    </a:ext>
                  </a:extLst>
                </a:gridCol>
                <a:gridCol w="541866">
                  <a:extLst>
                    <a:ext uri="{9D8B030D-6E8A-4147-A177-3AD203B41FA5}">
                      <a16:colId xmlns:a16="http://schemas.microsoft.com/office/drawing/2014/main" val="4076488391"/>
                    </a:ext>
                  </a:extLst>
                </a:gridCol>
                <a:gridCol w="489667">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208247">
                <a:tc rowSpan="12">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a:t>
                      </a:r>
                      <a:r>
                        <a:rPr lang="en-US" altLang="zh-CN" sz="800" b="1" i="0" u="none" strike="noStrike">
                          <a:solidFill>
                            <a:srgbClr val="FFFFFF"/>
                          </a:solidFill>
                          <a:effectLst/>
                          <a:latin typeface="Arial" panose="020B0604020202020204" pitchFamily="34" charset="0"/>
                        </a:rPr>
                        <a:t>ownpayment</a:t>
                      </a:r>
                      <a:r>
                        <a:rPr lang="en-US" sz="800" b="1" i="0" u="none" strike="noStrike">
                          <a:solidFill>
                            <a:srgbClr val="FFFFFF"/>
                          </a:solidFill>
                          <a:effectLst/>
                          <a:latin typeface="Arial" panose="020B0604020202020204" pitchFamily="34" charset="0"/>
                        </a:rPr>
                        <a: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11457">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CMR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1457">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82632">
                <a:tc vMerge="1">
                  <a:txBody>
                    <a:bodyPr/>
                    <a:lstStyle/>
                    <a:p>
                      <a:endParaRPr lang="zh-CN" altLang="en-US"/>
                    </a:p>
                  </a:txBody>
                  <a:tcPr/>
                </a:tc>
                <a:tc>
                  <a:txBody>
                    <a:bodyPr/>
                    <a:lstStyle/>
                    <a:p>
                      <a:pPr algn="ctr" fontAlgn="base">
                        <a:lnSpc>
                          <a:spcPts val="1200"/>
                        </a:lnSpc>
                        <a:buNone/>
                      </a:pPr>
                      <a:r>
                        <a:rPr lang="en-US" sz="900" b="0" i="0" u="none" strike="noStrike">
                          <a:solidFill>
                            <a:srgbClr val="FF0000"/>
                          </a:solidFill>
                          <a:effectLst/>
                          <a:latin typeface="Arial" panose="020B0604020202020204" pitchFamily="34" charset="0"/>
                        </a:rPr>
                        <a:t>Cr</a:t>
                      </a:r>
                      <a:r>
                        <a:rPr lang="en-US" sz="900" b="0" i="0">
                          <a:solidFill>
                            <a:srgbClr val="FF0000"/>
                          </a:solidFill>
                          <a:effectLst/>
                          <a:latin typeface="Arial" panose="020B0604020202020204" pitchFamily="34" charset="0"/>
                        </a:rPr>
                        <a:t>​</a:t>
                      </a:r>
                      <a:endParaRPr lang="en-US" sz="1200" b="0" i="0">
                        <a:solidFill>
                          <a:srgbClr val="FF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FF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FF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a:t>
                      </a:r>
                      <a:r>
                        <a:rPr lang="en-US" sz="900" b="0" i="0" u="none" strike="noStrike" kern="1200">
                          <a:solidFill>
                            <a:srgbClr val="000000"/>
                          </a:solidFill>
                          <a:effectLst/>
                          <a:latin typeface="Arial" panose="020B0604020202020204" pitchFamily="34" charset="0"/>
                          <a:ea typeface="+mn-ea"/>
                          <a:cs typeface="+mn-cs"/>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FF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4087354"/>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382632">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FF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spTree>
    <p:extLst>
      <p:ext uri="{BB962C8B-B14F-4D97-AF65-F5344CB8AC3E}">
        <p14:creationId xmlns:p14="http://schemas.microsoft.com/office/powerpoint/2010/main" val="2265522815"/>
      </p:ext>
    </p:extLst>
  </p:cSld>
  <p:clrMapOvr>
    <a:masterClrMapping/>
  </p:clrMapOvr>
  <p:transition spd="med"/>
  <p:extLst>
    <p:ext uri="{6950BFC3-D8DA-4A85-94F7-54DA5524770B}">
      <p188:commentRel xmlns:p188="http://schemas.microsoft.com/office/powerpoint/2018/8/main" r:id="rId3"/>
    </p:ext>
  </p:extLs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E8E639-F0BB-0343-0562-E4DCA1983F59}"/>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225C6DA9-033D-A12E-DD97-9EBF536A25D0}"/>
              </a:ext>
            </a:extLst>
          </p:cNvPr>
          <p:cNvGraphicFramePr>
            <a:graphicFrameLocks noGrp="1"/>
          </p:cNvGraphicFramePr>
          <p:nvPr>
            <p:extLst>
              <p:ext uri="{D42A27DB-BD31-4B8C-83A1-F6EECF244321}">
                <p14:modId xmlns:p14="http://schemas.microsoft.com/office/powerpoint/2010/main" val="3697695744"/>
              </p:ext>
            </p:extLst>
          </p:nvPr>
        </p:nvGraphicFramePr>
        <p:xfrm>
          <a:off x="201958" y="450014"/>
          <a:ext cx="10415242" cy="932936"/>
        </p:xfrm>
        <a:graphic>
          <a:graphicData uri="http://schemas.openxmlformats.org/drawingml/2006/table">
            <a:tbl>
              <a:tblPr firstRow="1" bandRow="1">
                <a:tableStyleId>{3C2FFA5D-87B4-456A-9821-1D502468CF0F}</a:tableStyleId>
              </a:tblPr>
              <a:tblGrid>
                <a:gridCol w="1175369">
                  <a:extLst>
                    <a:ext uri="{9D8B030D-6E8A-4147-A177-3AD203B41FA5}">
                      <a16:colId xmlns:a16="http://schemas.microsoft.com/office/drawing/2014/main" val="869603910"/>
                    </a:ext>
                  </a:extLst>
                </a:gridCol>
                <a:gridCol w="1216351">
                  <a:extLst>
                    <a:ext uri="{9D8B030D-6E8A-4147-A177-3AD203B41FA5}">
                      <a16:colId xmlns:a16="http://schemas.microsoft.com/office/drawing/2014/main" val="238663902"/>
                    </a:ext>
                  </a:extLst>
                </a:gridCol>
                <a:gridCol w="1043226">
                  <a:extLst>
                    <a:ext uri="{9D8B030D-6E8A-4147-A177-3AD203B41FA5}">
                      <a16:colId xmlns:a16="http://schemas.microsoft.com/office/drawing/2014/main" val="4114365151"/>
                    </a:ext>
                  </a:extLst>
                </a:gridCol>
                <a:gridCol w="1289500">
                  <a:extLst>
                    <a:ext uri="{9D8B030D-6E8A-4147-A177-3AD203B41FA5}">
                      <a16:colId xmlns:a16="http://schemas.microsoft.com/office/drawing/2014/main" val="4075178046"/>
                    </a:ext>
                  </a:extLst>
                </a:gridCol>
                <a:gridCol w="1204215">
                  <a:extLst>
                    <a:ext uri="{9D8B030D-6E8A-4147-A177-3AD203B41FA5}">
                      <a16:colId xmlns:a16="http://schemas.microsoft.com/office/drawing/2014/main" val="973533418"/>
                    </a:ext>
                  </a:extLst>
                </a:gridCol>
                <a:gridCol w="1250971">
                  <a:extLst>
                    <a:ext uri="{9D8B030D-6E8A-4147-A177-3AD203B41FA5}">
                      <a16:colId xmlns:a16="http://schemas.microsoft.com/office/drawing/2014/main" val="2377711782"/>
                    </a:ext>
                  </a:extLst>
                </a:gridCol>
                <a:gridCol w="1154898">
                  <a:extLst>
                    <a:ext uri="{9D8B030D-6E8A-4147-A177-3AD203B41FA5}">
                      <a16:colId xmlns:a16="http://schemas.microsoft.com/office/drawing/2014/main" val="3637466090"/>
                    </a:ext>
                  </a:extLst>
                </a:gridCol>
                <a:gridCol w="2080712">
                  <a:extLst>
                    <a:ext uri="{9D8B030D-6E8A-4147-A177-3AD203B41FA5}">
                      <a16:colId xmlns:a16="http://schemas.microsoft.com/office/drawing/2014/main" val="221569069"/>
                    </a:ext>
                  </a:extLst>
                </a:gridCol>
              </a:tblGrid>
              <a:tr h="40738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14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 – </a:t>
                      </a:r>
                      <a:r>
                        <a:rPr lang="en-US" altLang="zh-CN" sz="1050" kern="1200">
                          <a:solidFill>
                            <a:srgbClr val="FF0000"/>
                          </a:solidFill>
                          <a:latin typeface="+mn-lt"/>
                          <a:ea typeface="+mn-ea"/>
                          <a:cs typeface="+mn-cs"/>
                        </a:rPr>
                        <a:t>Partial </a:t>
                      </a:r>
                      <a:r>
                        <a:rPr lang="en-US" altLang="zh-CN" sz="1050">
                          <a:solidFill>
                            <a:srgbClr val="FF0000"/>
                          </a:solidFill>
                        </a:rPr>
                        <a:t>CMR</a:t>
                      </a:r>
                    </a:p>
                    <a:p>
                      <a:r>
                        <a:rPr lang="en-US" altLang="zh-CN" sz="1050">
                          <a:solidFill>
                            <a:srgbClr val="FF0000"/>
                          </a:solidFill>
                        </a:rPr>
                        <a:t>/DMR</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sp>
        <p:nvSpPr>
          <p:cNvPr id="7" name="文本框 6">
            <a:extLst>
              <a:ext uri="{FF2B5EF4-FFF2-40B4-BE49-F238E27FC236}">
                <a16:creationId xmlns:a16="http://schemas.microsoft.com/office/drawing/2014/main" id="{EB995D89-D324-F2A7-C7E1-3DF911256845}"/>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DAAS_S&amp;D_MLA</a:t>
            </a:r>
            <a:endParaRPr lang="zh-CN" altLang="en-US" sz="2000" b="1"/>
          </a:p>
        </p:txBody>
      </p:sp>
      <p:sp>
        <p:nvSpPr>
          <p:cNvPr id="8" name="Slide Number Placeholder 4">
            <a:extLst>
              <a:ext uri="{FF2B5EF4-FFF2-40B4-BE49-F238E27FC236}">
                <a16:creationId xmlns:a16="http://schemas.microsoft.com/office/drawing/2014/main" id="{6BC07E8D-6851-471C-81C0-380E0B57C123}"/>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163</a:t>
            </a:fld>
            <a:endParaRPr lang="en-US">
              <a:solidFill>
                <a:srgbClr val="000000"/>
              </a:solidFill>
            </a:endParaRPr>
          </a:p>
        </p:txBody>
      </p:sp>
      <p:graphicFrame>
        <p:nvGraphicFramePr>
          <p:cNvPr id="9" name="表格 8">
            <a:extLst>
              <a:ext uri="{FF2B5EF4-FFF2-40B4-BE49-F238E27FC236}">
                <a16:creationId xmlns:a16="http://schemas.microsoft.com/office/drawing/2014/main" id="{790BEFD5-7296-7C63-6A9C-A3C09E565AEF}"/>
              </a:ext>
            </a:extLst>
          </p:cNvPr>
          <p:cNvGraphicFramePr>
            <a:graphicFrameLocks noGrp="1"/>
          </p:cNvGraphicFramePr>
          <p:nvPr/>
        </p:nvGraphicFramePr>
        <p:xfrm>
          <a:off x="22767" y="2051413"/>
          <a:ext cx="6039293" cy="339014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693484">
                  <a:extLst>
                    <a:ext uri="{9D8B030D-6E8A-4147-A177-3AD203B41FA5}">
                      <a16:colId xmlns:a16="http://schemas.microsoft.com/office/drawing/2014/main" val="3603859997"/>
                    </a:ext>
                  </a:extLst>
                </a:gridCol>
                <a:gridCol w="541866">
                  <a:extLst>
                    <a:ext uri="{9D8B030D-6E8A-4147-A177-3AD203B41FA5}">
                      <a16:colId xmlns:a16="http://schemas.microsoft.com/office/drawing/2014/main" val="4076488391"/>
                    </a:ext>
                  </a:extLst>
                </a:gridCol>
                <a:gridCol w="489667">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208247">
                <a:tc rowSpan="12">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a:t>
                      </a:r>
                      <a:r>
                        <a:rPr lang="en-US" altLang="zh-CN" sz="800" b="1" i="0" u="none" strike="noStrike">
                          <a:solidFill>
                            <a:srgbClr val="FFFFFF"/>
                          </a:solidFill>
                          <a:effectLst/>
                          <a:latin typeface="Arial" panose="020B0604020202020204" pitchFamily="34" charset="0"/>
                        </a:rPr>
                        <a:t>ownpayment</a:t>
                      </a:r>
                      <a:r>
                        <a:rPr lang="en-US" sz="800" b="1" i="0" u="none" strike="noStrike">
                          <a:solidFill>
                            <a:srgbClr val="FFFFFF"/>
                          </a:solidFill>
                          <a:effectLst/>
                          <a:latin typeface="Arial" panose="020B0604020202020204" pitchFamily="34" charset="0"/>
                        </a:rPr>
                        <a: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11457">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DMR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1457">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82632">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180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a:t>
                      </a:r>
                      <a:r>
                        <a:rPr lang="en-US" sz="900" b="0" i="0" u="none" strike="noStrike" kern="1200">
                          <a:solidFill>
                            <a:srgbClr val="000000"/>
                          </a:solidFill>
                          <a:effectLst/>
                          <a:latin typeface="Arial" panose="020B0604020202020204" pitchFamily="34" charset="0"/>
                          <a:ea typeface="+mn-ea"/>
                          <a:cs typeface="+mn-cs"/>
                        </a:rPr>
                        <a:t>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4087354"/>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382632">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Damage Fund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5MS1S78867</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858632546"/>
                  </a:ext>
                </a:extLst>
              </a:tr>
            </a:tbl>
          </a:graphicData>
        </a:graphic>
      </p:graphicFrame>
      <p:sp>
        <p:nvSpPr>
          <p:cNvPr id="10" name="对话气泡: 矩形 9">
            <a:extLst>
              <a:ext uri="{FF2B5EF4-FFF2-40B4-BE49-F238E27FC236}">
                <a16:creationId xmlns:a16="http://schemas.microsoft.com/office/drawing/2014/main" id="{36CC9BA6-D9D1-A13B-5D65-86FAA75D9D27}"/>
              </a:ext>
            </a:extLst>
          </p:cNvPr>
          <p:cNvSpPr/>
          <p:nvPr/>
        </p:nvSpPr>
        <p:spPr>
          <a:xfrm>
            <a:off x="-2077571" y="2011268"/>
            <a:ext cx="1500305" cy="2203885"/>
          </a:xfrm>
          <a:prstGeom prst="wedgeRectCallout">
            <a:avLst>
              <a:gd name="adj1" fmla="val 87286"/>
              <a:gd name="adj2" fmla="val 10645"/>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CMR/DMR issued due to wrong information update, e.g.,  tax calculation update, customer address update, shall not impact revenue recognition, will be booked as defer. </a:t>
            </a:r>
            <a:endParaRPr lang="zh-CN" altLang="en-US" sz="1200">
              <a:solidFill>
                <a:schemeClr val="tx1"/>
              </a:solidFill>
            </a:endParaRPr>
          </a:p>
        </p:txBody>
      </p:sp>
      <p:sp>
        <p:nvSpPr>
          <p:cNvPr id="11" name="Rectangle 1">
            <a:extLst>
              <a:ext uri="{FF2B5EF4-FFF2-40B4-BE49-F238E27FC236}">
                <a16:creationId xmlns:a16="http://schemas.microsoft.com/office/drawing/2014/main" id="{E78CD84D-8EFD-2C60-179C-99C1F3AE26E9}"/>
              </a:ext>
            </a:extLst>
          </p:cNvPr>
          <p:cNvSpPr/>
          <p:nvPr/>
        </p:nvSpPr>
        <p:spPr>
          <a:xfrm>
            <a:off x="455476" y="2669968"/>
            <a:ext cx="5606584" cy="2771594"/>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2" name="椭圆 1">
            <a:extLst>
              <a:ext uri="{FF2B5EF4-FFF2-40B4-BE49-F238E27FC236}">
                <a16:creationId xmlns:a16="http://schemas.microsoft.com/office/drawing/2014/main" id="{651079FE-1D14-106F-85DB-D6F9B1CF50A0}"/>
              </a:ext>
            </a:extLst>
          </p:cNvPr>
          <p:cNvSpPr/>
          <p:nvPr/>
        </p:nvSpPr>
        <p:spPr>
          <a:xfrm>
            <a:off x="11810862" y="0"/>
            <a:ext cx="381138" cy="364831"/>
          </a:xfrm>
          <a:prstGeom prst="ellipse">
            <a:avLst/>
          </a:prstGeom>
          <a:solidFill>
            <a:srgbClr val="FFFF00"/>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zh-CN" altLang="en-US" sz="1200" b="1">
              <a:solidFill>
                <a:schemeClr val="tx1"/>
              </a:solidFill>
              <a:highlight>
                <a:srgbClr val="FFFF00"/>
              </a:highlight>
              <a:latin typeface="Tenorite" panose="00000500000000000000" pitchFamily="2" charset="0"/>
            </a:endParaRPr>
          </a:p>
        </p:txBody>
      </p:sp>
      <p:graphicFrame>
        <p:nvGraphicFramePr>
          <p:cNvPr id="4" name="表格 8">
            <a:extLst>
              <a:ext uri="{FF2B5EF4-FFF2-40B4-BE49-F238E27FC236}">
                <a16:creationId xmlns:a16="http://schemas.microsoft.com/office/drawing/2014/main" id="{3AA4E0AE-AEE5-FBE5-B53C-172546C2D32A}"/>
              </a:ext>
            </a:extLst>
          </p:cNvPr>
          <p:cNvGraphicFramePr>
            <a:graphicFrameLocks noGrp="1"/>
          </p:cNvGraphicFramePr>
          <p:nvPr>
            <p:extLst>
              <p:ext uri="{D42A27DB-BD31-4B8C-83A1-F6EECF244321}">
                <p14:modId xmlns:p14="http://schemas.microsoft.com/office/powerpoint/2010/main" val="3422554132"/>
              </p:ext>
            </p:extLst>
          </p:nvPr>
        </p:nvGraphicFramePr>
        <p:xfrm>
          <a:off x="6096000" y="2051413"/>
          <a:ext cx="6039293" cy="181933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693484">
                  <a:extLst>
                    <a:ext uri="{9D8B030D-6E8A-4147-A177-3AD203B41FA5}">
                      <a16:colId xmlns:a16="http://schemas.microsoft.com/office/drawing/2014/main" val="3603859997"/>
                    </a:ext>
                  </a:extLst>
                </a:gridCol>
                <a:gridCol w="541866">
                  <a:extLst>
                    <a:ext uri="{9D8B030D-6E8A-4147-A177-3AD203B41FA5}">
                      <a16:colId xmlns:a16="http://schemas.microsoft.com/office/drawing/2014/main" val="4076488391"/>
                    </a:ext>
                  </a:extLst>
                </a:gridCol>
                <a:gridCol w="489667">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208247">
                <a:tc rowSpan="7">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a:t>
                      </a:r>
                      <a:r>
                        <a:rPr lang="en-US" altLang="zh-CN" sz="800" b="1" i="0" u="none" strike="noStrike">
                          <a:solidFill>
                            <a:srgbClr val="FFFFFF"/>
                          </a:solidFill>
                          <a:effectLst/>
                          <a:latin typeface="Arial" panose="020B0604020202020204" pitchFamily="34" charset="0"/>
                        </a:rPr>
                        <a:t>ownpayment</a:t>
                      </a:r>
                      <a:r>
                        <a:rPr lang="en-US" sz="800" b="1" i="0" u="none" strike="noStrike">
                          <a:solidFill>
                            <a:srgbClr val="FFFFFF"/>
                          </a:solidFill>
                          <a:effectLst/>
                          <a:latin typeface="Arial" panose="020B0604020202020204" pitchFamily="34" charset="0"/>
                        </a:rPr>
                        <a: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11457">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CMR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1457">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82632">
                <a:tc vMerge="1">
                  <a:txBody>
                    <a:bodyPr/>
                    <a:lstStyle/>
                    <a:p>
                      <a:endParaRPr lang="zh-CN" altLang="en-US"/>
                    </a:p>
                  </a:txBody>
                  <a:tcPr/>
                </a:tc>
                <a:tc>
                  <a:txBody>
                    <a:bodyPr/>
                    <a:lstStyle/>
                    <a:p>
                      <a:pPr algn="ctr" fontAlgn="base">
                        <a:lnSpc>
                          <a:spcPts val="1200"/>
                        </a:lnSpc>
                        <a:buNone/>
                      </a:pPr>
                      <a:r>
                        <a:rPr lang="en-US" sz="900" b="0" i="0" u="none" strike="noStrike">
                          <a:solidFill>
                            <a:srgbClr val="FF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FF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4087354"/>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bl>
          </a:graphicData>
        </a:graphic>
      </p:graphicFrame>
      <p:graphicFrame>
        <p:nvGraphicFramePr>
          <p:cNvPr id="5" name="表格 8">
            <a:extLst>
              <a:ext uri="{FF2B5EF4-FFF2-40B4-BE49-F238E27FC236}">
                <a16:creationId xmlns:a16="http://schemas.microsoft.com/office/drawing/2014/main" id="{CA3B854A-1485-AA66-2C89-383CF6D0086E}"/>
              </a:ext>
            </a:extLst>
          </p:cNvPr>
          <p:cNvGraphicFramePr>
            <a:graphicFrameLocks noGrp="1"/>
          </p:cNvGraphicFramePr>
          <p:nvPr>
            <p:extLst>
              <p:ext uri="{D42A27DB-BD31-4B8C-83A1-F6EECF244321}">
                <p14:modId xmlns:p14="http://schemas.microsoft.com/office/powerpoint/2010/main" val="1478244332"/>
              </p:ext>
            </p:extLst>
          </p:nvPr>
        </p:nvGraphicFramePr>
        <p:xfrm>
          <a:off x="6095999" y="3981827"/>
          <a:ext cx="6039293" cy="181933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693484">
                  <a:extLst>
                    <a:ext uri="{9D8B030D-6E8A-4147-A177-3AD203B41FA5}">
                      <a16:colId xmlns:a16="http://schemas.microsoft.com/office/drawing/2014/main" val="3603859997"/>
                    </a:ext>
                  </a:extLst>
                </a:gridCol>
                <a:gridCol w="541866">
                  <a:extLst>
                    <a:ext uri="{9D8B030D-6E8A-4147-A177-3AD203B41FA5}">
                      <a16:colId xmlns:a16="http://schemas.microsoft.com/office/drawing/2014/main" val="4076488391"/>
                    </a:ext>
                  </a:extLst>
                </a:gridCol>
                <a:gridCol w="489667">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208247">
                <a:tc rowSpan="7">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a:t>
                      </a:r>
                      <a:r>
                        <a:rPr lang="en-US" altLang="zh-CN" sz="800" b="1" i="0" u="none" strike="noStrike">
                          <a:solidFill>
                            <a:srgbClr val="FFFFFF"/>
                          </a:solidFill>
                          <a:effectLst/>
                          <a:latin typeface="Arial" panose="020B0604020202020204" pitchFamily="34" charset="0"/>
                        </a:rPr>
                        <a:t>ownpayment</a:t>
                      </a:r>
                      <a:r>
                        <a:rPr lang="en-US" sz="800" b="1" i="0" u="none" strike="noStrike">
                          <a:solidFill>
                            <a:srgbClr val="FFFFFF"/>
                          </a:solidFill>
                          <a:effectLst/>
                          <a:latin typeface="Arial" panose="020B0604020202020204" pitchFamily="34" charset="0"/>
                        </a:rPr>
                        <a:t>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11457">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CMR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211457">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82632">
                <a:tc vMerge="1">
                  <a:txBody>
                    <a:bodyPr/>
                    <a:lstStyle/>
                    <a:p>
                      <a:endParaRPr lang="zh-CN" altLang="en-US"/>
                    </a:p>
                  </a:txBody>
                  <a:tcPr/>
                </a:tc>
                <a:tc>
                  <a:txBody>
                    <a:bodyPr/>
                    <a:lstStyle/>
                    <a:p>
                      <a:pPr algn="ctr" fontAlgn="base">
                        <a:lnSpc>
                          <a:spcPts val="1200"/>
                        </a:lnSpc>
                        <a:buNone/>
                      </a:pPr>
                      <a:r>
                        <a:rPr lang="en-US" sz="900" b="0" i="0" u="none" strike="noStrike">
                          <a:solidFill>
                            <a:srgbClr val="FF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54</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FF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21145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FF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en-US" altLang="zh-CN" sz="900" b="0" i="0" u="none" strike="noStrike" kern="1200" baseline="0">
                          <a:solidFill>
                            <a:srgbClr val="000000"/>
                          </a:solidFill>
                          <a:effectLst/>
                          <a:latin typeface="Arial" panose="020B0604020202020204" pitchFamily="34" charset="0"/>
                          <a:ea typeface="+mn-ea"/>
                          <a:cs typeface="+mn-cs"/>
                        </a:rPr>
                        <a: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algn="ctr" defTabSz="914400" rtl="0" eaLnBrk="1" fontAlgn="base" latinLnBrk="0" hangingPunct="1">
                        <a:lnSpc>
                          <a:spcPts val="1200"/>
                        </a:lnSpc>
                        <a:buNone/>
                      </a:pPr>
                      <a:r>
                        <a:rPr lang="en-US" altLang="zh-CN" sz="900" b="0" i="0" u="none" strike="noStrike" kern="1200" baseline="0">
                          <a:solidFill>
                            <a:srgbClr val="000000"/>
                          </a:solidFill>
                          <a:effectLst/>
                          <a:latin typeface="Arial" panose="020B0604020202020204" pitchFamily="34" charset="0"/>
                          <a:ea typeface="+mn-ea"/>
                          <a:cs typeface="+mn-cs"/>
                        </a:rPr>
                        <a:t>27</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14087354"/>
                  </a:ext>
                </a:extLst>
              </a:tr>
              <a:tr h="38263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5MS1C68-123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bl>
          </a:graphicData>
        </a:graphic>
      </p:graphicFrame>
    </p:spTree>
    <p:extLst>
      <p:ext uri="{BB962C8B-B14F-4D97-AF65-F5344CB8AC3E}">
        <p14:creationId xmlns:p14="http://schemas.microsoft.com/office/powerpoint/2010/main" val="2558955398"/>
      </p:ext>
    </p:extLst>
  </p:cSld>
  <p:clrMapOvr>
    <a:masterClrMapping/>
  </p:clrMapOvr>
  <p:transition spd="med"/>
  <p:extLst>
    <p:ext uri="{6950BFC3-D8DA-4A85-94F7-54DA5524770B}">
      <p188:commentRel xmlns:p188="http://schemas.microsoft.com/office/powerpoint/2018/8/main" r:id="rId3"/>
    </p:ext>
  </p:extLs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EC23CF-EDD0-BCE5-BE63-C63A56D63C7D}"/>
            </a:ext>
          </a:extLst>
        </p:cNvPr>
        <p:cNvGrpSpPr/>
        <p:nvPr/>
      </p:nvGrpSpPr>
      <p:grpSpPr>
        <a:xfrm>
          <a:off x="0" y="0"/>
          <a:ext cx="0" cy="0"/>
          <a:chOff x="0" y="0"/>
          <a:chExt cx="0" cy="0"/>
        </a:xfrm>
      </p:grpSpPr>
      <p:sp>
        <p:nvSpPr>
          <p:cNvPr id="7" name="文本框 6">
            <a:extLst>
              <a:ext uri="{FF2B5EF4-FFF2-40B4-BE49-F238E27FC236}">
                <a16:creationId xmlns:a16="http://schemas.microsoft.com/office/drawing/2014/main" id="{5B15DB07-C0EF-CFFE-5B1C-75ADF0403E40}"/>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DaaS_AFE_MLA</a:t>
            </a:r>
            <a:endParaRPr lang="zh-CN" altLang="en-US" sz="2000" b="1"/>
          </a:p>
        </p:txBody>
      </p:sp>
      <p:graphicFrame>
        <p:nvGraphicFramePr>
          <p:cNvPr id="10" name="表格 9">
            <a:extLst>
              <a:ext uri="{FF2B5EF4-FFF2-40B4-BE49-F238E27FC236}">
                <a16:creationId xmlns:a16="http://schemas.microsoft.com/office/drawing/2014/main" id="{87D80AF0-4302-352A-F233-DCCF229E283A}"/>
              </a:ext>
            </a:extLst>
          </p:cNvPr>
          <p:cNvGraphicFramePr>
            <a:graphicFrameLocks noGrp="1"/>
          </p:cNvGraphicFramePr>
          <p:nvPr>
            <p:extLst>
              <p:ext uri="{D42A27DB-BD31-4B8C-83A1-F6EECF244321}">
                <p14:modId xmlns:p14="http://schemas.microsoft.com/office/powerpoint/2010/main" val="1789762123"/>
              </p:ext>
            </p:extLst>
          </p:nvPr>
        </p:nvGraphicFramePr>
        <p:xfrm>
          <a:off x="6027437" y="1645868"/>
          <a:ext cx="6084041" cy="2184582"/>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74477">
                  <a:extLst>
                    <a:ext uri="{9D8B030D-6E8A-4147-A177-3AD203B41FA5}">
                      <a16:colId xmlns:a16="http://schemas.microsoft.com/office/drawing/2014/main" val="4076488391"/>
                    </a:ext>
                  </a:extLst>
                </a:gridCol>
                <a:gridCol w="357351">
                  <a:extLst>
                    <a:ext uri="{9D8B030D-6E8A-4147-A177-3AD203B41FA5}">
                      <a16:colId xmlns:a16="http://schemas.microsoft.com/office/drawing/2014/main" val="3254101706"/>
                    </a:ext>
                  </a:extLst>
                </a:gridCol>
                <a:gridCol w="286486">
                  <a:extLst>
                    <a:ext uri="{9D8B030D-6E8A-4147-A177-3AD203B41FA5}">
                      <a16:colId xmlns:a16="http://schemas.microsoft.com/office/drawing/2014/main" val="3712391277"/>
                    </a:ext>
                  </a:extLst>
                </a:gridCol>
                <a:gridCol w="5261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Downpayment Invoice issued to customer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downpayment billing</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1620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1620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cc Receivable</a:t>
                      </a:r>
                      <a:r>
                        <a:rPr lang="en-US" sz="900" b="0" i="0" u="none" strike="noStrike" kern="1200">
                          <a:solidFill>
                            <a:srgbClr val="000000"/>
                          </a:solidFill>
                          <a:effectLst/>
                          <a:latin typeface="Arial" panose="020B0604020202020204" pitchFamily="34" charset="0"/>
                          <a:ea typeface="+mn-ea"/>
                          <a:cs typeface="+mn-cs"/>
                        </a:rPr>
                        <a:t>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180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Defer Revenue </a:t>
                      </a:r>
                      <a:r>
                        <a:rPr lang="en-US" sz="900" b="0" i="0" u="none" strike="sngStrike" kern="1200" baseline="0">
                          <a:solidFill>
                            <a:srgbClr val="000000"/>
                          </a:solidFill>
                          <a:effectLst/>
                          <a:latin typeface="Arial" panose="020B0604020202020204" pitchFamily="34" charset="0"/>
                          <a:ea typeface="+mn-ea"/>
                          <a:cs typeface="+mn-cs"/>
                        </a:rPr>
                        <a:t>- applicable for swap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0F91D68C-301D-F5B7-FEAC-55F224CD7073}"/>
              </a:ext>
            </a:extLst>
          </p:cNvPr>
          <p:cNvGraphicFramePr>
            <a:graphicFrameLocks noGrp="1"/>
          </p:cNvGraphicFramePr>
          <p:nvPr>
            <p:extLst>
              <p:ext uri="{D42A27DB-BD31-4B8C-83A1-F6EECF244321}">
                <p14:modId xmlns:p14="http://schemas.microsoft.com/office/powerpoint/2010/main" val="1772420248"/>
              </p:ext>
            </p:extLst>
          </p:nvPr>
        </p:nvGraphicFramePr>
        <p:xfrm>
          <a:off x="6133231" y="4077684"/>
          <a:ext cx="6039293" cy="938462"/>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Downpayment to S&amp;D</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1" i="0" u="none" strike="noStrike">
                          <a:solidFill>
                            <a:srgbClr val="000000"/>
                          </a:solidFill>
                          <a:effectLst/>
                          <a:latin typeface="Arial" panose="020B0604020202020204" pitchFamily="34" charset="0"/>
                        </a:rPr>
                        <a:t>Upon downpayment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 name="表格 2">
            <a:extLst>
              <a:ext uri="{FF2B5EF4-FFF2-40B4-BE49-F238E27FC236}">
                <a16:creationId xmlns:a16="http://schemas.microsoft.com/office/drawing/2014/main" id="{7F390B79-010E-29B7-C568-C5DB0986ECBD}"/>
              </a:ext>
            </a:extLst>
          </p:cNvPr>
          <p:cNvGraphicFramePr>
            <a:graphicFrameLocks noGrp="1"/>
          </p:cNvGraphicFramePr>
          <p:nvPr>
            <p:extLst>
              <p:ext uri="{D42A27DB-BD31-4B8C-83A1-F6EECF244321}">
                <p14:modId xmlns:p14="http://schemas.microsoft.com/office/powerpoint/2010/main" val="3818217838"/>
              </p:ext>
            </p:extLst>
          </p:nvPr>
        </p:nvGraphicFramePr>
        <p:xfrm>
          <a:off x="19476" y="4077684"/>
          <a:ext cx="5915467" cy="938462"/>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Downpayment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kumimoji="0" lang="en-US" altLang="zh-CN" sz="900" b="1" i="0" u="none" strike="noStrike" kern="1200" cap="none" spc="0" normalizeH="0" baseline="0" noProof="0">
                          <a:ln>
                            <a:noFill/>
                          </a:ln>
                          <a:solidFill>
                            <a:srgbClr val="000000"/>
                          </a:solidFill>
                          <a:effectLst/>
                          <a:uLnTx/>
                          <a:uFillTx/>
                          <a:latin typeface="Arial" panose="020B0604020202020204" pitchFamily="34" charset="0"/>
                          <a:ea typeface="+mn-ea"/>
                          <a:cs typeface="+mn-cs"/>
                        </a:rPr>
                        <a:t>Upon downpayment billing</a:t>
                      </a:r>
                      <a:endParaRPr kumimoji="0" lang="en-US" altLang="zh-CN" sz="1200" b="0" i="0" u="none" strike="noStrike" kern="1200" cap="none" spc="0" normalizeH="0" baseline="0" noProof="0">
                        <a:ln>
                          <a:noFill/>
                        </a:ln>
                        <a:solidFill>
                          <a:srgbClr val="000000"/>
                        </a:solidFill>
                        <a:effectLst/>
                        <a:uLnTx/>
                        <a:uFillTx/>
                        <a:latin typeface="+mn-lt"/>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2" name="表格 1">
            <a:extLst>
              <a:ext uri="{FF2B5EF4-FFF2-40B4-BE49-F238E27FC236}">
                <a16:creationId xmlns:a16="http://schemas.microsoft.com/office/drawing/2014/main" id="{E74FEE89-E340-81F5-D89D-577E2E781A71}"/>
              </a:ext>
            </a:extLst>
          </p:cNvPr>
          <p:cNvGraphicFramePr>
            <a:graphicFrameLocks noGrp="1"/>
          </p:cNvGraphicFramePr>
          <p:nvPr>
            <p:extLst>
              <p:ext uri="{D42A27DB-BD31-4B8C-83A1-F6EECF244321}">
                <p14:modId xmlns:p14="http://schemas.microsoft.com/office/powerpoint/2010/main" val="3716357508"/>
              </p:ext>
            </p:extLst>
          </p:nvPr>
        </p:nvGraphicFramePr>
        <p:xfrm>
          <a:off x="201958" y="450015"/>
          <a:ext cx="11232017" cy="1011044"/>
        </p:xfrm>
        <a:graphic>
          <a:graphicData uri="http://schemas.openxmlformats.org/drawingml/2006/table">
            <a:tbl>
              <a:tblPr firstRow="1" bandRow="1">
                <a:tableStyleId>{3C2FFA5D-87B4-456A-9821-1D502468CF0F}</a:tableStyleId>
              </a:tblPr>
              <a:tblGrid>
                <a:gridCol w="1285093">
                  <a:extLst>
                    <a:ext uri="{9D8B030D-6E8A-4147-A177-3AD203B41FA5}">
                      <a16:colId xmlns:a16="http://schemas.microsoft.com/office/drawing/2014/main" val="869603910"/>
                    </a:ext>
                  </a:extLst>
                </a:gridCol>
                <a:gridCol w="1329900">
                  <a:extLst>
                    <a:ext uri="{9D8B030D-6E8A-4147-A177-3AD203B41FA5}">
                      <a16:colId xmlns:a16="http://schemas.microsoft.com/office/drawing/2014/main" val="238663902"/>
                    </a:ext>
                  </a:extLst>
                </a:gridCol>
                <a:gridCol w="1140615">
                  <a:extLst>
                    <a:ext uri="{9D8B030D-6E8A-4147-A177-3AD203B41FA5}">
                      <a16:colId xmlns:a16="http://schemas.microsoft.com/office/drawing/2014/main" val="4114365151"/>
                    </a:ext>
                  </a:extLst>
                </a:gridCol>
                <a:gridCol w="1409879">
                  <a:extLst>
                    <a:ext uri="{9D8B030D-6E8A-4147-A177-3AD203B41FA5}">
                      <a16:colId xmlns:a16="http://schemas.microsoft.com/office/drawing/2014/main" val="4075178046"/>
                    </a:ext>
                  </a:extLst>
                </a:gridCol>
                <a:gridCol w="1316632">
                  <a:extLst>
                    <a:ext uri="{9D8B030D-6E8A-4147-A177-3AD203B41FA5}">
                      <a16:colId xmlns:a16="http://schemas.microsoft.com/office/drawing/2014/main" val="973533418"/>
                    </a:ext>
                  </a:extLst>
                </a:gridCol>
                <a:gridCol w="1367753">
                  <a:extLst>
                    <a:ext uri="{9D8B030D-6E8A-4147-A177-3AD203B41FA5}">
                      <a16:colId xmlns:a16="http://schemas.microsoft.com/office/drawing/2014/main" val="2377711782"/>
                    </a:ext>
                  </a:extLst>
                </a:gridCol>
                <a:gridCol w="1262711">
                  <a:extLst>
                    <a:ext uri="{9D8B030D-6E8A-4147-A177-3AD203B41FA5}">
                      <a16:colId xmlns:a16="http://schemas.microsoft.com/office/drawing/2014/main" val="3637466090"/>
                    </a:ext>
                  </a:extLst>
                </a:gridCol>
                <a:gridCol w="2119434">
                  <a:extLst>
                    <a:ext uri="{9D8B030D-6E8A-4147-A177-3AD203B41FA5}">
                      <a16:colId xmlns:a16="http://schemas.microsoft.com/office/drawing/2014/main" val="221569069"/>
                    </a:ext>
                  </a:extLst>
                </a:gridCol>
              </a:tblGrid>
              <a:tr h="443440">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67604">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r>
                        <a:rPr lang="en-US" altLang="zh-CN" sz="1050">
                          <a:solidFill>
                            <a:srgbClr val="FF0000"/>
                          </a:solidFill>
                        </a:rPr>
                        <a:t>Downpayment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17" name="表格 16">
            <a:extLst>
              <a:ext uri="{FF2B5EF4-FFF2-40B4-BE49-F238E27FC236}">
                <a16:creationId xmlns:a16="http://schemas.microsoft.com/office/drawing/2014/main" id="{E6A71969-ED9B-7147-636D-F6B35C25AF6F}"/>
              </a:ext>
            </a:extLst>
          </p:cNvPr>
          <p:cNvGraphicFramePr>
            <a:graphicFrameLocks noGrp="1"/>
          </p:cNvGraphicFramePr>
          <p:nvPr>
            <p:extLst>
              <p:ext uri="{D42A27DB-BD31-4B8C-83A1-F6EECF244321}">
                <p14:modId xmlns:p14="http://schemas.microsoft.com/office/powerpoint/2010/main" val="2045758337"/>
              </p:ext>
            </p:extLst>
          </p:nvPr>
        </p:nvGraphicFramePr>
        <p:xfrm>
          <a:off x="6133231" y="5188871"/>
          <a:ext cx="5978247" cy="1064523"/>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364010">
                  <a:extLst>
                    <a:ext uri="{9D8B030D-6E8A-4147-A177-3AD203B41FA5}">
                      <a16:colId xmlns:a16="http://schemas.microsoft.com/office/drawing/2014/main" val="4076488391"/>
                    </a:ext>
                  </a:extLst>
                </a:gridCol>
                <a:gridCol w="281898">
                  <a:extLst>
                    <a:ext uri="{9D8B030D-6E8A-4147-A177-3AD203B41FA5}">
                      <a16:colId xmlns:a16="http://schemas.microsoft.com/office/drawing/2014/main" val="3254101706"/>
                    </a:ext>
                  </a:extLst>
                </a:gridCol>
                <a:gridCol w="356877">
                  <a:extLst>
                    <a:ext uri="{9D8B030D-6E8A-4147-A177-3AD203B41FA5}">
                      <a16:colId xmlns:a16="http://schemas.microsoft.com/office/drawing/2014/main" val="3712391277"/>
                    </a:ext>
                  </a:extLst>
                </a:gridCol>
                <a:gridCol w="269401">
                  <a:extLst>
                    <a:ext uri="{9D8B030D-6E8A-4147-A177-3AD203B41FA5}">
                      <a16:colId xmlns:a16="http://schemas.microsoft.com/office/drawing/2014/main" val="1461470061"/>
                    </a:ext>
                  </a:extLst>
                </a:gridCol>
                <a:gridCol w="269401">
                  <a:extLst>
                    <a:ext uri="{9D8B030D-6E8A-4147-A177-3AD203B41FA5}">
                      <a16:colId xmlns:a16="http://schemas.microsoft.com/office/drawing/2014/main" val="2527660299"/>
                    </a:ext>
                  </a:extLst>
                </a:gridCol>
                <a:gridCol w="388119">
                  <a:extLst>
                    <a:ext uri="{9D8B030D-6E8A-4147-A177-3AD203B41FA5}">
                      <a16:colId xmlns:a16="http://schemas.microsoft.com/office/drawing/2014/main" val="3641075278"/>
                    </a:ext>
                  </a:extLst>
                </a:gridCol>
                <a:gridCol w="850494">
                  <a:extLst>
                    <a:ext uri="{9D8B030D-6E8A-4147-A177-3AD203B41FA5}">
                      <a16:colId xmlns:a16="http://schemas.microsoft.com/office/drawing/2014/main" val="3618613915"/>
                    </a:ext>
                  </a:extLst>
                </a:gridCol>
              </a:tblGrid>
              <a:tr h="95550">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Offset against LT AR for premier support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Arial" panose="020B0604020202020204" pitchFamily="34" charset="0"/>
                          <a:ea typeface="+mn-ea"/>
                          <a:cs typeface="+mn-cs"/>
                        </a:rPr>
                        <a:t>At end of the billing issuance month</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270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213206944"/>
                  </a:ext>
                </a:extLst>
              </a:tr>
            </a:tbl>
          </a:graphicData>
        </a:graphic>
      </p:graphicFrame>
      <p:sp>
        <p:nvSpPr>
          <p:cNvPr id="6" name="Rectangle 1">
            <a:extLst>
              <a:ext uri="{FF2B5EF4-FFF2-40B4-BE49-F238E27FC236}">
                <a16:creationId xmlns:a16="http://schemas.microsoft.com/office/drawing/2014/main" id="{1AB76179-F17A-4FA6-F906-46586DAE908F}"/>
              </a:ext>
            </a:extLst>
          </p:cNvPr>
          <p:cNvSpPr/>
          <p:nvPr/>
        </p:nvSpPr>
        <p:spPr>
          <a:xfrm>
            <a:off x="6540550" y="5721132"/>
            <a:ext cx="5570928" cy="532262"/>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4" name="Slide Number Placeholder 4">
            <a:extLst>
              <a:ext uri="{FF2B5EF4-FFF2-40B4-BE49-F238E27FC236}">
                <a16:creationId xmlns:a16="http://schemas.microsoft.com/office/drawing/2014/main" id="{66131625-5EF1-D2F8-6C5C-136728573BFB}"/>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164</a:t>
            </a:fld>
            <a:endParaRPr lang="en-US">
              <a:solidFill>
                <a:srgbClr val="000000"/>
              </a:solidFill>
            </a:endParaRPr>
          </a:p>
        </p:txBody>
      </p:sp>
      <p:sp>
        <p:nvSpPr>
          <p:cNvPr id="12" name="对话气泡: 矩形 11">
            <a:extLst>
              <a:ext uri="{FF2B5EF4-FFF2-40B4-BE49-F238E27FC236}">
                <a16:creationId xmlns:a16="http://schemas.microsoft.com/office/drawing/2014/main" id="{047ED55F-F899-5E07-78F1-05A4DF5AB35D}"/>
              </a:ext>
            </a:extLst>
          </p:cNvPr>
          <p:cNvSpPr/>
          <p:nvPr/>
        </p:nvSpPr>
        <p:spPr>
          <a:xfrm>
            <a:off x="2814869" y="5353403"/>
            <a:ext cx="3096627" cy="622853"/>
          </a:xfrm>
          <a:prstGeom prst="wedgeRectCallout">
            <a:avLst>
              <a:gd name="adj1" fmla="val 58005"/>
              <a:gd name="adj2" fmla="val -899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Funded premier support service, upon billing, booked as agent revenue, then Odessa trigger the setoff with LTAR</a:t>
            </a:r>
            <a:endParaRPr lang="zh-CN" altLang="en-US" sz="1200">
              <a:solidFill>
                <a:schemeClr val="tx1"/>
              </a:solidFill>
            </a:endParaRPr>
          </a:p>
        </p:txBody>
      </p:sp>
      <p:sp>
        <p:nvSpPr>
          <p:cNvPr id="5" name="Speech Bubble: Rectangle with Corners Rounded 4">
            <a:extLst>
              <a:ext uri="{FF2B5EF4-FFF2-40B4-BE49-F238E27FC236}">
                <a16:creationId xmlns:a16="http://schemas.microsoft.com/office/drawing/2014/main" id="{FBEFA7FF-6969-161F-44FD-9BF9DE6FE4C2}"/>
              </a:ext>
            </a:extLst>
          </p:cNvPr>
          <p:cNvSpPr/>
          <p:nvPr/>
        </p:nvSpPr>
        <p:spPr>
          <a:xfrm>
            <a:off x="1718268" y="2039814"/>
            <a:ext cx="2984361" cy="1256045"/>
          </a:xfrm>
          <a:prstGeom prst="wedgeRoundRectCallout">
            <a:avLst>
              <a:gd name="adj1" fmla="val 108462"/>
              <a:gd name="adj2" fmla="val 55178"/>
              <a:gd name="adj3" fmla="val 16667"/>
            </a:avLst>
          </a:prstGeom>
          <a:ln/>
        </p:spPr>
        <p:style>
          <a:lnRef idx="2">
            <a:schemeClr val="accent2"/>
          </a:lnRef>
          <a:fillRef idx="1">
            <a:schemeClr val="lt1"/>
          </a:fillRef>
          <a:effectRef idx="0">
            <a:schemeClr val="accent2"/>
          </a:effectRef>
          <a:fontRef idx="minor">
            <a:schemeClr val="dk1"/>
          </a:fontRef>
        </p:style>
        <p:txBody>
          <a:bodyPr lIns="0" tIns="0" rIns="0" bIns="0" rtlCol="0" anchor="ctr"/>
          <a:lstStyle/>
          <a:p>
            <a:r>
              <a:rPr lang="en-US" sz="1200">
                <a:solidFill>
                  <a:schemeClr val="tx1"/>
                </a:solidFill>
                <a:latin typeface="Tenorite" panose="00000500000000000000" pitchFamily="2" charset="0"/>
              </a:rPr>
              <a:t>Under AFE model, agent revenue of premier support doesn’t need to replaced with defer revenue. Because 5010510 will be setoff in Odessa.(in M0, premier support bas been already posted in LTAR 1400308 under AFE entity)</a:t>
            </a:r>
          </a:p>
        </p:txBody>
      </p:sp>
    </p:spTree>
    <p:extLst>
      <p:ext uri="{BB962C8B-B14F-4D97-AF65-F5344CB8AC3E}">
        <p14:creationId xmlns:p14="http://schemas.microsoft.com/office/powerpoint/2010/main" val="931286179"/>
      </p:ext>
    </p:extLst>
  </p:cSld>
  <p:clrMapOvr>
    <a:masterClrMapping/>
  </p:clrMapOvr>
  <p:transition spd="med"/>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24B7DE-C0B1-986F-D75E-D021757370EE}"/>
            </a:ext>
          </a:extLst>
        </p:cNvPr>
        <p:cNvGrpSpPr/>
        <p:nvPr/>
      </p:nvGrpSpPr>
      <p:grpSpPr>
        <a:xfrm>
          <a:off x="0" y="0"/>
          <a:ext cx="0" cy="0"/>
          <a:chOff x="0" y="0"/>
          <a:chExt cx="0" cy="0"/>
        </a:xfrm>
      </p:grpSpPr>
      <p:sp>
        <p:nvSpPr>
          <p:cNvPr id="7" name="文本框 6">
            <a:extLst>
              <a:ext uri="{FF2B5EF4-FFF2-40B4-BE49-F238E27FC236}">
                <a16:creationId xmlns:a16="http://schemas.microsoft.com/office/drawing/2014/main" id="{C69D0CD5-1CEF-5617-B8F3-3D493E4AA6FB}"/>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DaaS_AFE_MLA</a:t>
            </a:r>
            <a:endParaRPr lang="zh-CN" altLang="en-US" sz="2000" b="1"/>
          </a:p>
        </p:txBody>
      </p:sp>
      <p:graphicFrame>
        <p:nvGraphicFramePr>
          <p:cNvPr id="5" name="表格 4">
            <a:extLst>
              <a:ext uri="{FF2B5EF4-FFF2-40B4-BE49-F238E27FC236}">
                <a16:creationId xmlns:a16="http://schemas.microsoft.com/office/drawing/2014/main" id="{D3B490B0-3125-27C4-33C4-1E89FC2C9692}"/>
              </a:ext>
            </a:extLst>
          </p:cNvPr>
          <p:cNvGraphicFramePr>
            <a:graphicFrameLocks noGrp="1"/>
          </p:cNvGraphicFramePr>
          <p:nvPr>
            <p:extLst>
              <p:ext uri="{D42A27DB-BD31-4B8C-83A1-F6EECF244321}">
                <p14:modId xmlns:p14="http://schemas.microsoft.com/office/powerpoint/2010/main" val="3550003372"/>
              </p:ext>
            </p:extLst>
          </p:nvPr>
        </p:nvGraphicFramePr>
        <p:xfrm>
          <a:off x="201958" y="450014"/>
          <a:ext cx="5403713" cy="1943100"/>
        </p:xfrm>
        <a:graphic>
          <a:graphicData uri="http://schemas.openxmlformats.org/drawingml/2006/table">
            <a:tbl>
              <a:tblPr firstRow="1" bandRow="1">
                <a:tableStyleId>{3C2FFA5D-87B4-456A-9821-1D502468CF0F}</a:tableStyleId>
              </a:tblPr>
              <a:tblGrid>
                <a:gridCol w="618257">
                  <a:extLst>
                    <a:ext uri="{9D8B030D-6E8A-4147-A177-3AD203B41FA5}">
                      <a16:colId xmlns:a16="http://schemas.microsoft.com/office/drawing/2014/main" val="869603910"/>
                    </a:ext>
                  </a:extLst>
                </a:gridCol>
                <a:gridCol w="639814">
                  <a:extLst>
                    <a:ext uri="{9D8B030D-6E8A-4147-A177-3AD203B41FA5}">
                      <a16:colId xmlns:a16="http://schemas.microsoft.com/office/drawing/2014/main" val="238663902"/>
                    </a:ext>
                  </a:extLst>
                </a:gridCol>
                <a:gridCol w="548749">
                  <a:extLst>
                    <a:ext uri="{9D8B030D-6E8A-4147-A177-3AD203B41FA5}">
                      <a16:colId xmlns:a16="http://schemas.microsoft.com/office/drawing/2014/main" val="4114365151"/>
                    </a:ext>
                  </a:extLst>
                </a:gridCol>
                <a:gridCol w="678291">
                  <a:extLst>
                    <a:ext uri="{9D8B030D-6E8A-4147-A177-3AD203B41FA5}">
                      <a16:colId xmlns:a16="http://schemas.microsoft.com/office/drawing/2014/main" val="4075178046"/>
                    </a:ext>
                  </a:extLst>
                </a:gridCol>
                <a:gridCol w="633430">
                  <a:extLst>
                    <a:ext uri="{9D8B030D-6E8A-4147-A177-3AD203B41FA5}">
                      <a16:colId xmlns:a16="http://schemas.microsoft.com/office/drawing/2014/main" val="973533418"/>
                    </a:ext>
                  </a:extLst>
                </a:gridCol>
                <a:gridCol w="658025">
                  <a:extLst>
                    <a:ext uri="{9D8B030D-6E8A-4147-A177-3AD203B41FA5}">
                      <a16:colId xmlns:a16="http://schemas.microsoft.com/office/drawing/2014/main" val="2377711782"/>
                    </a:ext>
                  </a:extLst>
                </a:gridCol>
                <a:gridCol w="607489">
                  <a:extLst>
                    <a:ext uri="{9D8B030D-6E8A-4147-A177-3AD203B41FA5}">
                      <a16:colId xmlns:a16="http://schemas.microsoft.com/office/drawing/2014/main" val="3637466090"/>
                    </a:ext>
                  </a:extLst>
                </a:gridCol>
                <a:gridCol w="1019658">
                  <a:extLst>
                    <a:ext uri="{9D8B030D-6E8A-4147-A177-3AD203B41FA5}">
                      <a16:colId xmlns:a16="http://schemas.microsoft.com/office/drawing/2014/main" val="221569069"/>
                    </a:ext>
                  </a:extLst>
                </a:gridCol>
              </a:tblGrid>
              <a:tr h="40738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14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 </a:t>
                      </a:r>
                      <a:r>
                        <a:rPr lang="en-US" altLang="zh-CN" sz="1050">
                          <a:solidFill>
                            <a:schemeClr val="tx1"/>
                          </a:solidFill>
                        </a:rPr>
                        <a:t>monthly/quarterly billing </a:t>
                      </a:r>
                      <a:r>
                        <a:rPr lang="en-US" altLang="zh-CN" sz="1050">
                          <a:solidFill>
                            <a:srgbClr val="FF0000"/>
                          </a:solidFill>
                        </a:rPr>
                        <a:t>lower </a:t>
                      </a:r>
                      <a:r>
                        <a:rPr lang="en-US" altLang="zh-CN" sz="1050">
                          <a:solidFill>
                            <a:schemeClr val="tx1"/>
                          </a:solidFill>
                        </a:rPr>
                        <a:t>than average payment</a:t>
                      </a:r>
                      <a:endParaRPr lang="zh-CN" altLang="en-US" sz="105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6" name="表格 5">
            <a:extLst>
              <a:ext uri="{FF2B5EF4-FFF2-40B4-BE49-F238E27FC236}">
                <a16:creationId xmlns:a16="http://schemas.microsoft.com/office/drawing/2014/main" id="{D5A61EA7-5073-3E1D-F4B1-F1EBB2DAE82B}"/>
              </a:ext>
            </a:extLst>
          </p:cNvPr>
          <p:cNvGraphicFramePr>
            <a:graphicFrameLocks noGrp="1"/>
          </p:cNvGraphicFramePr>
          <p:nvPr>
            <p:extLst>
              <p:ext uri="{D42A27DB-BD31-4B8C-83A1-F6EECF244321}">
                <p14:modId xmlns:p14="http://schemas.microsoft.com/office/powerpoint/2010/main" val="1280207572"/>
              </p:ext>
            </p:extLst>
          </p:nvPr>
        </p:nvGraphicFramePr>
        <p:xfrm>
          <a:off x="5768663" y="333432"/>
          <a:ext cx="5988347" cy="2298515"/>
        </p:xfrm>
        <a:graphic>
          <a:graphicData uri="http://schemas.openxmlformats.org/drawingml/2006/table">
            <a:tbl>
              <a:tblPr/>
              <a:tblGrid>
                <a:gridCol w="420472">
                  <a:extLst>
                    <a:ext uri="{9D8B030D-6E8A-4147-A177-3AD203B41FA5}">
                      <a16:colId xmlns:a16="http://schemas.microsoft.com/office/drawing/2014/main" val="495084399"/>
                    </a:ext>
                  </a:extLst>
                </a:gridCol>
                <a:gridCol w="277952">
                  <a:extLst>
                    <a:ext uri="{9D8B030D-6E8A-4147-A177-3AD203B41FA5}">
                      <a16:colId xmlns:a16="http://schemas.microsoft.com/office/drawing/2014/main" val="3614210242"/>
                    </a:ext>
                  </a:extLst>
                </a:gridCol>
                <a:gridCol w="571276">
                  <a:extLst>
                    <a:ext uri="{9D8B030D-6E8A-4147-A177-3AD203B41FA5}">
                      <a16:colId xmlns:a16="http://schemas.microsoft.com/office/drawing/2014/main" val="1442124609"/>
                    </a:ext>
                  </a:extLst>
                </a:gridCol>
                <a:gridCol w="1832072">
                  <a:extLst>
                    <a:ext uri="{9D8B030D-6E8A-4147-A177-3AD203B41FA5}">
                      <a16:colId xmlns:a16="http://schemas.microsoft.com/office/drawing/2014/main" val="3603859997"/>
                    </a:ext>
                  </a:extLst>
                </a:gridCol>
                <a:gridCol w="341474">
                  <a:extLst>
                    <a:ext uri="{9D8B030D-6E8A-4147-A177-3AD203B41FA5}">
                      <a16:colId xmlns:a16="http://schemas.microsoft.com/office/drawing/2014/main" val="4076488391"/>
                    </a:ext>
                  </a:extLst>
                </a:gridCol>
                <a:gridCol w="341474">
                  <a:extLst>
                    <a:ext uri="{9D8B030D-6E8A-4147-A177-3AD203B41FA5}">
                      <a16:colId xmlns:a16="http://schemas.microsoft.com/office/drawing/2014/main" val="3254101706"/>
                    </a:ext>
                  </a:extLst>
                </a:gridCol>
                <a:gridCol w="276142">
                  <a:extLst>
                    <a:ext uri="{9D8B030D-6E8A-4147-A177-3AD203B41FA5}">
                      <a16:colId xmlns:a16="http://schemas.microsoft.com/office/drawing/2014/main" val="3712391277"/>
                    </a:ext>
                  </a:extLst>
                </a:gridCol>
                <a:gridCol w="619789">
                  <a:extLst>
                    <a:ext uri="{9D8B030D-6E8A-4147-A177-3AD203B41FA5}">
                      <a16:colId xmlns:a16="http://schemas.microsoft.com/office/drawing/2014/main" val="1982795072"/>
                    </a:ext>
                  </a:extLst>
                </a:gridCol>
                <a:gridCol w="286984">
                  <a:extLst>
                    <a:ext uri="{9D8B030D-6E8A-4147-A177-3AD203B41FA5}">
                      <a16:colId xmlns:a16="http://schemas.microsoft.com/office/drawing/2014/main" val="2527660299"/>
                    </a:ext>
                  </a:extLst>
                </a:gridCol>
                <a:gridCol w="393774">
                  <a:extLst>
                    <a:ext uri="{9D8B030D-6E8A-4147-A177-3AD203B41FA5}">
                      <a16:colId xmlns:a16="http://schemas.microsoft.com/office/drawing/2014/main" val="3641075278"/>
                    </a:ext>
                  </a:extLst>
                </a:gridCol>
                <a:gridCol w="626938">
                  <a:extLst>
                    <a:ext uri="{9D8B030D-6E8A-4147-A177-3AD203B41FA5}">
                      <a16:colId xmlns:a16="http://schemas.microsoft.com/office/drawing/2014/main" val="3618613915"/>
                    </a:ext>
                  </a:extLst>
                </a:gridCol>
              </a:tblGrid>
              <a:tr h="0">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Monthly/Quarterly Invoice issued to customer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a:t>
                      </a:r>
                      <a:r>
                        <a:rPr lang="en-US" altLang="zh-CN" sz="900" b="1" i="0" u="none" strike="noStrike">
                          <a:solidFill>
                            <a:srgbClr val="000000"/>
                          </a:solidFill>
                          <a:effectLst/>
                          <a:latin typeface="Arial" panose="020B0604020202020204" pitchFamily="34" charset="0"/>
                        </a:rPr>
                        <a:t>quarterly</a:t>
                      </a:r>
                      <a:r>
                        <a:rPr lang="en-US" sz="900" b="1" i="0" u="none" strike="noStrike">
                          <a:solidFill>
                            <a:srgbClr val="000000"/>
                          </a:solidFill>
                          <a:effectLst/>
                          <a:latin typeface="Arial" panose="020B0604020202020204" pitchFamily="34" charset="0"/>
                        </a:rPr>
                        <a: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45</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45</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658033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a:solidFill>
                            <a:srgbClr val="000000"/>
                          </a:solidFill>
                          <a:effectLst/>
                          <a:latin typeface="Arial" panose="020B0604020202020204" pitchFamily="34" charset="0"/>
                          <a:ea typeface="+mn-ea"/>
                          <a:cs typeface="+mn-cs"/>
                        </a:rPr>
                        <a:t>Service Revenue – </a:t>
                      </a:r>
                      <a:r>
                        <a:rPr lang="en-US" altLang="zh-CN" sz="900" b="0" i="0" u="none" strike="sngStrike" kern="1200" baseline="0">
                          <a:solidFill>
                            <a:srgbClr val="000000"/>
                          </a:solidFill>
                          <a:effectLst/>
                          <a:latin typeface="Arial" panose="020B0604020202020204" pitchFamily="34" charset="0"/>
                          <a:ea typeface="+mn-ea"/>
                          <a:cs typeface="+mn-cs"/>
                        </a:rPr>
                        <a:t>applicable for swap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2" name="表格 11">
            <a:extLst>
              <a:ext uri="{FF2B5EF4-FFF2-40B4-BE49-F238E27FC236}">
                <a16:creationId xmlns:a16="http://schemas.microsoft.com/office/drawing/2014/main" id="{B3DEF74C-5971-3D99-F820-F05AADC17E3D}"/>
              </a:ext>
            </a:extLst>
          </p:cNvPr>
          <p:cNvGraphicFramePr>
            <a:graphicFrameLocks noGrp="1"/>
          </p:cNvGraphicFramePr>
          <p:nvPr>
            <p:extLst>
              <p:ext uri="{D42A27DB-BD31-4B8C-83A1-F6EECF244321}">
                <p14:modId xmlns:p14="http://schemas.microsoft.com/office/powerpoint/2010/main" val="1421592412"/>
              </p:ext>
            </p:extLst>
          </p:nvPr>
        </p:nvGraphicFramePr>
        <p:xfrm>
          <a:off x="5768663" y="2657935"/>
          <a:ext cx="5978247" cy="938462"/>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364010">
                  <a:extLst>
                    <a:ext uri="{9D8B030D-6E8A-4147-A177-3AD203B41FA5}">
                      <a16:colId xmlns:a16="http://schemas.microsoft.com/office/drawing/2014/main" val="4076488391"/>
                    </a:ext>
                  </a:extLst>
                </a:gridCol>
                <a:gridCol w="281898">
                  <a:extLst>
                    <a:ext uri="{9D8B030D-6E8A-4147-A177-3AD203B41FA5}">
                      <a16:colId xmlns:a16="http://schemas.microsoft.com/office/drawing/2014/main" val="3254101706"/>
                    </a:ext>
                  </a:extLst>
                </a:gridCol>
                <a:gridCol w="356877">
                  <a:extLst>
                    <a:ext uri="{9D8B030D-6E8A-4147-A177-3AD203B41FA5}">
                      <a16:colId xmlns:a16="http://schemas.microsoft.com/office/drawing/2014/main" val="3712391277"/>
                    </a:ext>
                  </a:extLst>
                </a:gridCol>
                <a:gridCol w="269401">
                  <a:extLst>
                    <a:ext uri="{9D8B030D-6E8A-4147-A177-3AD203B41FA5}">
                      <a16:colId xmlns:a16="http://schemas.microsoft.com/office/drawing/2014/main" val="1461470061"/>
                    </a:ext>
                  </a:extLst>
                </a:gridCol>
                <a:gridCol w="269401">
                  <a:extLst>
                    <a:ext uri="{9D8B030D-6E8A-4147-A177-3AD203B41FA5}">
                      <a16:colId xmlns:a16="http://schemas.microsoft.com/office/drawing/2014/main" val="2527660299"/>
                    </a:ext>
                  </a:extLst>
                </a:gridCol>
                <a:gridCol w="388119">
                  <a:extLst>
                    <a:ext uri="{9D8B030D-6E8A-4147-A177-3AD203B41FA5}">
                      <a16:colId xmlns:a16="http://schemas.microsoft.com/office/drawing/2014/main" val="3641075278"/>
                    </a:ext>
                  </a:extLst>
                </a:gridCol>
                <a:gridCol w="850494">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3" name="表格 12">
            <a:extLst>
              <a:ext uri="{FF2B5EF4-FFF2-40B4-BE49-F238E27FC236}">
                <a16:creationId xmlns:a16="http://schemas.microsoft.com/office/drawing/2014/main" id="{4A3F7309-C323-B027-16A3-3F19198423C6}"/>
              </a:ext>
            </a:extLst>
          </p:cNvPr>
          <p:cNvGraphicFramePr>
            <a:graphicFrameLocks noGrp="1"/>
          </p:cNvGraphicFramePr>
          <p:nvPr>
            <p:extLst>
              <p:ext uri="{D42A27DB-BD31-4B8C-83A1-F6EECF244321}">
                <p14:modId xmlns:p14="http://schemas.microsoft.com/office/powerpoint/2010/main" val="2614483795"/>
              </p:ext>
            </p:extLst>
          </p:nvPr>
        </p:nvGraphicFramePr>
        <p:xfrm>
          <a:off x="143235" y="2657935"/>
          <a:ext cx="5479929" cy="938462"/>
        </p:xfrm>
        <a:graphic>
          <a:graphicData uri="http://schemas.openxmlformats.org/drawingml/2006/table">
            <a:tbl>
              <a:tblPr/>
              <a:tblGrid>
                <a:gridCol w="390100">
                  <a:extLst>
                    <a:ext uri="{9D8B030D-6E8A-4147-A177-3AD203B41FA5}">
                      <a16:colId xmlns:a16="http://schemas.microsoft.com/office/drawing/2014/main" val="495084399"/>
                    </a:ext>
                  </a:extLst>
                </a:gridCol>
                <a:gridCol w="222972">
                  <a:extLst>
                    <a:ext uri="{9D8B030D-6E8A-4147-A177-3AD203B41FA5}">
                      <a16:colId xmlns:a16="http://schemas.microsoft.com/office/drawing/2014/main" val="3614210242"/>
                    </a:ext>
                  </a:extLst>
                </a:gridCol>
                <a:gridCol w="604956">
                  <a:extLst>
                    <a:ext uri="{9D8B030D-6E8A-4147-A177-3AD203B41FA5}">
                      <a16:colId xmlns:a16="http://schemas.microsoft.com/office/drawing/2014/main" val="1442124609"/>
                    </a:ext>
                  </a:extLst>
                </a:gridCol>
                <a:gridCol w="1644795">
                  <a:extLst>
                    <a:ext uri="{9D8B030D-6E8A-4147-A177-3AD203B41FA5}">
                      <a16:colId xmlns:a16="http://schemas.microsoft.com/office/drawing/2014/main" val="3603859997"/>
                    </a:ext>
                  </a:extLst>
                </a:gridCol>
                <a:gridCol w="335004">
                  <a:extLst>
                    <a:ext uri="{9D8B030D-6E8A-4147-A177-3AD203B41FA5}">
                      <a16:colId xmlns:a16="http://schemas.microsoft.com/office/drawing/2014/main" val="4076488391"/>
                    </a:ext>
                  </a:extLst>
                </a:gridCol>
                <a:gridCol w="335004">
                  <a:extLst>
                    <a:ext uri="{9D8B030D-6E8A-4147-A177-3AD203B41FA5}">
                      <a16:colId xmlns:a16="http://schemas.microsoft.com/office/drawing/2014/main" val="3254101706"/>
                    </a:ext>
                  </a:extLst>
                </a:gridCol>
                <a:gridCol w="507910">
                  <a:extLst>
                    <a:ext uri="{9D8B030D-6E8A-4147-A177-3AD203B41FA5}">
                      <a16:colId xmlns:a16="http://schemas.microsoft.com/office/drawing/2014/main" val="3712391277"/>
                    </a:ext>
                  </a:extLst>
                </a:gridCol>
                <a:gridCol w="314645">
                  <a:extLst>
                    <a:ext uri="{9D8B030D-6E8A-4147-A177-3AD203B41FA5}">
                      <a16:colId xmlns:a16="http://schemas.microsoft.com/office/drawing/2014/main" val="967768249"/>
                    </a:ext>
                  </a:extLst>
                </a:gridCol>
                <a:gridCol w="266937">
                  <a:extLst>
                    <a:ext uri="{9D8B030D-6E8A-4147-A177-3AD203B41FA5}">
                      <a16:colId xmlns:a16="http://schemas.microsoft.com/office/drawing/2014/main" val="2527660299"/>
                    </a:ext>
                  </a:extLst>
                </a:gridCol>
                <a:gridCol w="388478">
                  <a:extLst>
                    <a:ext uri="{9D8B030D-6E8A-4147-A177-3AD203B41FA5}">
                      <a16:colId xmlns:a16="http://schemas.microsoft.com/office/drawing/2014/main" val="3641075278"/>
                    </a:ext>
                  </a:extLst>
                </a:gridCol>
                <a:gridCol w="469128">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17" name="表格 16">
            <a:extLst>
              <a:ext uri="{FF2B5EF4-FFF2-40B4-BE49-F238E27FC236}">
                <a16:creationId xmlns:a16="http://schemas.microsoft.com/office/drawing/2014/main" id="{269408AD-BCFF-02F7-5F5E-DAD8D50A4623}"/>
              </a:ext>
            </a:extLst>
          </p:cNvPr>
          <p:cNvGraphicFramePr>
            <a:graphicFrameLocks noGrp="1"/>
          </p:cNvGraphicFramePr>
          <p:nvPr>
            <p:extLst>
              <p:ext uri="{D42A27DB-BD31-4B8C-83A1-F6EECF244321}">
                <p14:modId xmlns:p14="http://schemas.microsoft.com/office/powerpoint/2010/main" val="3282714494"/>
              </p:ext>
            </p:extLst>
          </p:nvPr>
        </p:nvGraphicFramePr>
        <p:xfrm>
          <a:off x="5738139" y="3622385"/>
          <a:ext cx="6039293" cy="2301118"/>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Monthly end adjustment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a:solidFill>
                            <a:srgbClr val="000000"/>
                          </a:solidFill>
                          <a:effectLst/>
                          <a:latin typeface="Arial" panose="020B0604020202020204" pitchFamily="34" charset="0"/>
                        </a:rPr>
                        <a:t>At the end of each month​</a:t>
                      </a:r>
                      <a:endParaRPr lang="en-US" altLang="zh-CN"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169747502"/>
                  </a:ext>
                </a:extLst>
              </a:tr>
              <a:tr h="91899">
                <a:tc vMerge="1">
                  <a:txBody>
                    <a:bodyPr/>
                    <a:lstStyle/>
                    <a:p>
                      <a:endParaRPr lang="zh-CN" altLang="en-US"/>
                    </a:p>
                  </a:txBody>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applicable for swap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39408646"/>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a:ea typeface="+mn-ea"/>
                          <a:cs typeface="+mn-cs"/>
                        </a:rPr>
                        <a:t>5010450</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93882986"/>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a:ea typeface="+mn-ea"/>
                          <a:cs typeface="+mn-cs"/>
                        </a:rPr>
                        <a:t>5010450</a:t>
                      </a:r>
                      <a:endParaRPr lang="en-US"/>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a:solidFill>
                            <a:srgbClr val="000000"/>
                          </a:solidFill>
                          <a:effectLst/>
                          <a:latin typeface="Arial" panose="020B0604020202020204" pitchFamily="34" charset="0"/>
                          <a:ea typeface="+mn-ea"/>
                          <a:cs typeface="+mn-cs"/>
                        </a:rPr>
                        <a:t>Service Revenue – </a:t>
                      </a:r>
                      <a:r>
                        <a:rPr lang="en-US" altLang="zh-CN" sz="900" b="0" i="0" u="none" strike="sngStrike" kern="1200" baseline="0">
                          <a:solidFill>
                            <a:srgbClr val="000000"/>
                          </a:solidFill>
                          <a:effectLst/>
                          <a:latin typeface="Arial" panose="020B0604020202020204" pitchFamily="34" charset="0"/>
                          <a:ea typeface="+mn-ea"/>
                          <a:cs typeface="+mn-cs"/>
                        </a:rPr>
                        <a:t>applicable for swap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64659537"/>
                  </a:ext>
                </a:extLst>
              </a:tr>
            </a:tbl>
          </a:graphicData>
        </a:graphic>
      </p:graphicFrame>
      <p:sp>
        <p:nvSpPr>
          <p:cNvPr id="18" name="对话气泡: 矩形 17">
            <a:extLst>
              <a:ext uri="{FF2B5EF4-FFF2-40B4-BE49-F238E27FC236}">
                <a16:creationId xmlns:a16="http://schemas.microsoft.com/office/drawing/2014/main" id="{75744789-C742-F16B-4FE7-770AAFF2EE42}"/>
              </a:ext>
            </a:extLst>
          </p:cNvPr>
          <p:cNvSpPr/>
          <p:nvPr/>
        </p:nvSpPr>
        <p:spPr>
          <a:xfrm>
            <a:off x="1345956" y="4276578"/>
            <a:ext cx="4026681" cy="496366"/>
          </a:xfrm>
          <a:prstGeom prst="wedgeRectCallout">
            <a:avLst>
              <a:gd name="adj1" fmla="val 57454"/>
              <a:gd name="adj2" fmla="val 6598"/>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OL HW and on-going service, Monthly shortfall amount </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will be made up via amortization.</a:t>
            </a:r>
          </a:p>
        </p:txBody>
      </p:sp>
      <p:sp>
        <p:nvSpPr>
          <p:cNvPr id="21" name="Rectangle 1">
            <a:extLst>
              <a:ext uri="{FF2B5EF4-FFF2-40B4-BE49-F238E27FC236}">
                <a16:creationId xmlns:a16="http://schemas.microsoft.com/office/drawing/2014/main" id="{B8D81F8C-A02A-F029-DDA4-5FD2FADA9B8B}"/>
              </a:ext>
            </a:extLst>
          </p:cNvPr>
          <p:cNvSpPr/>
          <p:nvPr/>
        </p:nvSpPr>
        <p:spPr>
          <a:xfrm>
            <a:off x="6167203" y="4197097"/>
            <a:ext cx="5610229" cy="175129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graphicFrame>
        <p:nvGraphicFramePr>
          <p:cNvPr id="23" name="表格 22">
            <a:extLst>
              <a:ext uri="{FF2B5EF4-FFF2-40B4-BE49-F238E27FC236}">
                <a16:creationId xmlns:a16="http://schemas.microsoft.com/office/drawing/2014/main" id="{E932994E-6BA0-FE3E-BD5E-5D0202E86F0C}"/>
              </a:ext>
            </a:extLst>
          </p:cNvPr>
          <p:cNvGraphicFramePr>
            <a:graphicFrameLocks noGrp="1"/>
          </p:cNvGraphicFramePr>
          <p:nvPr>
            <p:extLst>
              <p:ext uri="{D42A27DB-BD31-4B8C-83A1-F6EECF244321}">
                <p14:modId xmlns:p14="http://schemas.microsoft.com/office/powerpoint/2010/main" val="906797073"/>
              </p:ext>
            </p:extLst>
          </p:nvPr>
        </p:nvGraphicFramePr>
        <p:xfrm>
          <a:off x="5742828" y="6015336"/>
          <a:ext cx="5978247" cy="842664"/>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2031379">
                  <a:extLst>
                    <a:ext uri="{9D8B030D-6E8A-4147-A177-3AD203B41FA5}">
                      <a16:colId xmlns:a16="http://schemas.microsoft.com/office/drawing/2014/main" val="3603859997"/>
                    </a:ext>
                  </a:extLst>
                </a:gridCol>
                <a:gridCol w="250860">
                  <a:extLst>
                    <a:ext uri="{9D8B030D-6E8A-4147-A177-3AD203B41FA5}">
                      <a16:colId xmlns:a16="http://schemas.microsoft.com/office/drawing/2014/main" val="4076488391"/>
                    </a:ext>
                  </a:extLst>
                </a:gridCol>
                <a:gridCol w="334087">
                  <a:extLst>
                    <a:ext uri="{9D8B030D-6E8A-4147-A177-3AD203B41FA5}">
                      <a16:colId xmlns:a16="http://schemas.microsoft.com/office/drawing/2014/main" val="3254101706"/>
                    </a:ext>
                  </a:extLst>
                </a:gridCol>
                <a:gridCol w="443753">
                  <a:extLst>
                    <a:ext uri="{9D8B030D-6E8A-4147-A177-3AD203B41FA5}">
                      <a16:colId xmlns:a16="http://schemas.microsoft.com/office/drawing/2014/main" val="3712391277"/>
                    </a:ext>
                  </a:extLst>
                </a:gridCol>
                <a:gridCol w="342900">
                  <a:extLst>
                    <a:ext uri="{9D8B030D-6E8A-4147-A177-3AD203B41FA5}">
                      <a16:colId xmlns:a16="http://schemas.microsoft.com/office/drawing/2014/main" val="1461470061"/>
                    </a:ext>
                  </a:extLst>
                </a:gridCol>
                <a:gridCol w="363071">
                  <a:extLst>
                    <a:ext uri="{9D8B030D-6E8A-4147-A177-3AD203B41FA5}">
                      <a16:colId xmlns:a16="http://schemas.microsoft.com/office/drawing/2014/main" val="2527660299"/>
                    </a:ext>
                  </a:extLst>
                </a:gridCol>
                <a:gridCol w="510988">
                  <a:extLst>
                    <a:ext uri="{9D8B030D-6E8A-4147-A177-3AD203B41FA5}">
                      <a16:colId xmlns:a16="http://schemas.microsoft.com/office/drawing/2014/main" val="3641075278"/>
                    </a:ext>
                  </a:extLst>
                </a:gridCol>
                <a:gridCol w="421391">
                  <a:extLst>
                    <a:ext uri="{9D8B030D-6E8A-4147-A177-3AD203B41FA5}">
                      <a16:colId xmlns:a16="http://schemas.microsoft.com/office/drawing/2014/main" val="3618613915"/>
                    </a:ext>
                  </a:extLst>
                </a:gridCol>
              </a:tblGrid>
              <a:tr h="152787">
                <a:tc rowSpan="4">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Offset against LT AR for premier support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80730">
                <a:tc vMerge="1">
                  <a:txBody>
                    <a:bodyPr/>
                    <a:lstStyle/>
                    <a:p>
                      <a:endParaRPr lang="zh-CN" altLang="en-US"/>
                    </a:p>
                  </a:txBody>
                  <a:tcPr>
                    <a:lnT w="6350" cap="flat" cmpd="sng" algn="ctr">
                      <a:solidFill>
                        <a:srgbClr val="D9D9D9"/>
                      </a:solidFill>
                      <a:prstDash val="solid"/>
                      <a:round/>
                      <a:headEnd type="none" w="med" len="med"/>
                      <a:tailEnd type="none" w="med" len="med"/>
                    </a:lnT>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5142">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4038309671"/>
                  </a:ext>
                </a:extLst>
              </a:tr>
              <a:tr h="15514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213206944"/>
                  </a:ext>
                </a:extLst>
              </a:tr>
            </a:tbl>
          </a:graphicData>
        </a:graphic>
      </p:graphicFrame>
      <p:sp>
        <p:nvSpPr>
          <p:cNvPr id="2" name="对话气泡: 矩形 1">
            <a:extLst>
              <a:ext uri="{FF2B5EF4-FFF2-40B4-BE49-F238E27FC236}">
                <a16:creationId xmlns:a16="http://schemas.microsoft.com/office/drawing/2014/main" id="{44F49104-1AA6-BDFF-F640-A010D038A225}"/>
              </a:ext>
            </a:extLst>
          </p:cNvPr>
          <p:cNvSpPr/>
          <p:nvPr/>
        </p:nvSpPr>
        <p:spPr>
          <a:xfrm>
            <a:off x="1345957" y="5831071"/>
            <a:ext cx="4177650" cy="368529"/>
          </a:xfrm>
          <a:prstGeom prst="wedgeRectCallout">
            <a:avLst>
              <a:gd name="adj1" fmla="val 56457"/>
              <a:gd name="adj2" fmla="val 3840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Odessa trigger the setoff with LTAR at end of the billing issuance month</a:t>
            </a:r>
          </a:p>
        </p:txBody>
      </p:sp>
      <p:sp>
        <p:nvSpPr>
          <p:cNvPr id="3" name="Slide Number Placeholder 4">
            <a:extLst>
              <a:ext uri="{FF2B5EF4-FFF2-40B4-BE49-F238E27FC236}">
                <a16:creationId xmlns:a16="http://schemas.microsoft.com/office/drawing/2014/main" id="{1AF95DEF-09E1-1EE4-9101-863DCF5E36F2}"/>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165</a:t>
            </a:fld>
            <a:endParaRPr lang="en-US">
              <a:solidFill>
                <a:srgbClr val="000000"/>
              </a:solidFill>
            </a:endParaRPr>
          </a:p>
        </p:txBody>
      </p:sp>
      <p:sp>
        <p:nvSpPr>
          <p:cNvPr id="8" name="Speech Bubble: Rectangle with Corners Rounded 7">
            <a:extLst>
              <a:ext uri="{FF2B5EF4-FFF2-40B4-BE49-F238E27FC236}">
                <a16:creationId xmlns:a16="http://schemas.microsoft.com/office/drawing/2014/main" id="{D3B30294-2F75-7E59-13EB-6FD35F40C1D8}"/>
              </a:ext>
            </a:extLst>
          </p:cNvPr>
          <p:cNvSpPr/>
          <p:nvPr/>
        </p:nvSpPr>
        <p:spPr>
          <a:xfrm>
            <a:off x="11990042" y="633045"/>
            <a:ext cx="2984361" cy="1256045"/>
          </a:xfrm>
          <a:prstGeom prst="wedgeRoundRectCallout">
            <a:avLst>
              <a:gd name="adj1" fmla="val -65964"/>
              <a:gd name="adj2" fmla="val 62678"/>
              <a:gd name="adj3" fmla="val 16667"/>
            </a:avLst>
          </a:prstGeom>
          <a:ln/>
        </p:spPr>
        <p:style>
          <a:lnRef idx="2">
            <a:schemeClr val="accent2"/>
          </a:lnRef>
          <a:fillRef idx="1">
            <a:schemeClr val="lt1"/>
          </a:fillRef>
          <a:effectRef idx="0">
            <a:schemeClr val="accent2"/>
          </a:effectRef>
          <a:fontRef idx="minor">
            <a:schemeClr val="dk1"/>
          </a:fontRef>
        </p:style>
        <p:txBody>
          <a:bodyPr lIns="0" tIns="0" rIns="0" bIns="0" rtlCol="0" anchor="ctr"/>
          <a:lstStyle/>
          <a:p>
            <a:r>
              <a:rPr lang="en-US" sz="1200">
                <a:solidFill>
                  <a:schemeClr val="tx1"/>
                </a:solidFill>
                <a:latin typeface="Tenorite" panose="00000500000000000000" pitchFamily="2" charset="0"/>
              </a:rPr>
              <a:t>Under AFE model, agent revenue of premier support doesn’t need to replaced with defer revenue. Because 5010510 will be setoff in Odessa.(in M0, premier support bas been already posted in LTAR 1400308 under AFE entity)</a:t>
            </a:r>
          </a:p>
        </p:txBody>
      </p:sp>
    </p:spTree>
    <p:extLst>
      <p:ext uri="{BB962C8B-B14F-4D97-AF65-F5344CB8AC3E}">
        <p14:creationId xmlns:p14="http://schemas.microsoft.com/office/powerpoint/2010/main" val="68389883"/>
      </p:ext>
    </p:extLst>
  </p:cSld>
  <p:clrMapOvr>
    <a:masterClrMapping/>
  </p:clrMapOvr>
  <p:transition spd="med"/>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7BC14F-44B0-97C4-9DB9-470A1AB4953D}"/>
            </a:ext>
          </a:extLst>
        </p:cNvPr>
        <p:cNvGrpSpPr/>
        <p:nvPr/>
      </p:nvGrpSpPr>
      <p:grpSpPr>
        <a:xfrm>
          <a:off x="0" y="0"/>
          <a:ext cx="0" cy="0"/>
          <a:chOff x="0" y="0"/>
          <a:chExt cx="0" cy="0"/>
        </a:xfrm>
      </p:grpSpPr>
      <p:sp>
        <p:nvSpPr>
          <p:cNvPr id="7" name="文本框 6">
            <a:extLst>
              <a:ext uri="{FF2B5EF4-FFF2-40B4-BE49-F238E27FC236}">
                <a16:creationId xmlns:a16="http://schemas.microsoft.com/office/drawing/2014/main" id="{72E6440C-3FBF-DA1F-A6A3-BC237B28E14D}"/>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DaaS_AFE_MLA</a:t>
            </a:r>
            <a:endParaRPr lang="zh-CN" altLang="en-US" sz="2000" b="1"/>
          </a:p>
        </p:txBody>
      </p:sp>
      <p:graphicFrame>
        <p:nvGraphicFramePr>
          <p:cNvPr id="5" name="表格 4">
            <a:extLst>
              <a:ext uri="{FF2B5EF4-FFF2-40B4-BE49-F238E27FC236}">
                <a16:creationId xmlns:a16="http://schemas.microsoft.com/office/drawing/2014/main" id="{D49A538B-2A67-FDD0-D590-161F9006F311}"/>
              </a:ext>
            </a:extLst>
          </p:cNvPr>
          <p:cNvGraphicFramePr>
            <a:graphicFrameLocks noGrp="1"/>
          </p:cNvGraphicFramePr>
          <p:nvPr>
            <p:extLst>
              <p:ext uri="{D42A27DB-BD31-4B8C-83A1-F6EECF244321}">
                <p14:modId xmlns:p14="http://schemas.microsoft.com/office/powerpoint/2010/main" val="577921380"/>
              </p:ext>
            </p:extLst>
          </p:nvPr>
        </p:nvGraphicFramePr>
        <p:xfrm>
          <a:off x="201958" y="450014"/>
          <a:ext cx="5576806" cy="1783080"/>
        </p:xfrm>
        <a:graphic>
          <a:graphicData uri="http://schemas.openxmlformats.org/drawingml/2006/table">
            <a:tbl>
              <a:tblPr firstRow="1" bandRow="1">
                <a:tableStyleId>{3C2FFA5D-87B4-456A-9821-1D502468CF0F}</a:tableStyleId>
              </a:tblPr>
              <a:tblGrid>
                <a:gridCol w="638061">
                  <a:extLst>
                    <a:ext uri="{9D8B030D-6E8A-4147-A177-3AD203B41FA5}">
                      <a16:colId xmlns:a16="http://schemas.microsoft.com/office/drawing/2014/main" val="869603910"/>
                    </a:ext>
                  </a:extLst>
                </a:gridCol>
                <a:gridCol w="660309">
                  <a:extLst>
                    <a:ext uri="{9D8B030D-6E8A-4147-A177-3AD203B41FA5}">
                      <a16:colId xmlns:a16="http://schemas.microsoft.com/office/drawing/2014/main" val="238663902"/>
                    </a:ext>
                  </a:extLst>
                </a:gridCol>
                <a:gridCol w="566327">
                  <a:extLst>
                    <a:ext uri="{9D8B030D-6E8A-4147-A177-3AD203B41FA5}">
                      <a16:colId xmlns:a16="http://schemas.microsoft.com/office/drawing/2014/main" val="4114365151"/>
                    </a:ext>
                  </a:extLst>
                </a:gridCol>
                <a:gridCol w="700018">
                  <a:extLst>
                    <a:ext uri="{9D8B030D-6E8A-4147-A177-3AD203B41FA5}">
                      <a16:colId xmlns:a16="http://schemas.microsoft.com/office/drawing/2014/main" val="4075178046"/>
                    </a:ext>
                  </a:extLst>
                </a:gridCol>
                <a:gridCol w="653720">
                  <a:extLst>
                    <a:ext uri="{9D8B030D-6E8A-4147-A177-3AD203B41FA5}">
                      <a16:colId xmlns:a16="http://schemas.microsoft.com/office/drawing/2014/main" val="973533418"/>
                    </a:ext>
                  </a:extLst>
                </a:gridCol>
                <a:gridCol w="679103">
                  <a:extLst>
                    <a:ext uri="{9D8B030D-6E8A-4147-A177-3AD203B41FA5}">
                      <a16:colId xmlns:a16="http://schemas.microsoft.com/office/drawing/2014/main" val="2377711782"/>
                    </a:ext>
                  </a:extLst>
                </a:gridCol>
                <a:gridCol w="626948">
                  <a:extLst>
                    <a:ext uri="{9D8B030D-6E8A-4147-A177-3AD203B41FA5}">
                      <a16:colId xmlns:a16="http://schemas.microsoft.com/office/drawing/2014/main" val="3637466090"/>
                    </a:ext>
                  </a:extLst>
                </a:gridCol>
                <a:gridCol w="1052320">
                  <a:extLst>
                    <a:ext uri="{9D8B030D-6E8A-4147-A177-3AD203B41FA5}">
                      <a16:colId xmlns:a16="http://schemas.microsoft.com/office/drawing/2014/main" val="221569069"/>
                    </a:ext>
                  </a:extLst>
                </a:gridCol>
              </a:tblGrid>
              <a:tr h="407387">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521456">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 </a:t>
                      </a:r>
                      <a:r>
                        <a:rPr lang="en-US" altLang="zh-CN" sz="1050">
                          <a:solidFill>
                            <a:schemeClr val="tx1"/>
                          </a:solidFill>
                        </a:rPr>
                        <a:t>monthly/quarterly billing </a:t>
                      </a:r>
                      <a:r>
                        <a:rPr lang="en-US" altLang="zh-CN" sz="1050">
                          <a:solidFill>
                            <a:srgbClr val="FF0000"/>
                          </a:solidFill>
                        </a:rPr>
                        <a:t>higher </a:t>
                      </a:r>
                      <a:r>
                        <a:rPr lang="en-US" altLang="zh-CN" sz="1050">
                          <a:solidFill>
                            <a:schemeClr val="tx1"/>
                          </a:solidFill>
                        </a:rPr>
                        <a:t>than average payment</a:t>
                      </a:r>
                      <a:endParaRPr lang="zh-CN" altLang="en-US" sz="105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6" name="表格 5">
            <a:extLst>
              <a:ext uri="{FF2B5EF4-FFF2-40B4-BE49-F238E27FC236}">
                <a16:creationId xmlns:a16="http://schemas.microsoft.com/office/drawing/2014/main" id="{5EE3B82B-2FA9-9865-3126-1E23537AC6E1}"/>
              </a:ext>
            </a:extLst>
          </p:cNvPr>
          <p:cNvGraphicFramePr>
            <a:graphicFrameLocks noGrp="1"/>
          </p:cNvGraphicFramePr>
          <p:nvPr>
            <p:extLst>
              <p:ext uri="{D42A27DB-BD31-4B8C-83A1-F6EECF244321}">
                <p14:modId xmlns:p14="http://schemas.microsoft.com/office/powerpoint/2010/main" val="304677482"/>
              </p:ext>
            </p:extLst>
          </p:nvPr>
        </p:nvGraphicFramePr>
        <p:xfrm>
          <a:off x="5768663" y="447365"/>
          <a:ext cx="5988347" cy="3282040"/>
        </p:xfrm>
        <a:graphic>
          <a:graphicData uri="http://schemas.openxmlformats.org/drawingml/2006/table">
            <a:tbl>
              <a:tblPr/>
              <a:tblGrid>
                <a:gridCol w="420472">
                  <a:extLst>
                    <a:ext uri="{9D8B030D-6E8A-4147-A177-3AD203B41FA5}">
                      <a16:colId xmlns:a16="http://schemas.microsoft.com/office/drawing/2014/main" val="495084399"/>
                    </a:ext>
                  </a:extLst>
                </a:gridCol>
                <a:gridCol w="277952">
                  <a:extLst>
                    <a:ext uri="{9D8B030D-6E8A-4147-A177-3AD203B41FA5}">
                      <a16:colId xmlns:a16="http://schemas.microsoft.com/office/drawing/2014/main" val="3614210242"/>
                    </a:ext>
                  </a:extLst>
                </a:gridCol>
                <a:gridCol w="571276">
                  <a:extLst>
                    <a:ext uri="{9D8B030D-6E8A-4147-A177-3AD203B41FA5}">
                      <a16:colId xmlns:a16="http://schemas.microsoft.com/office/drawing/2014/main" val="1442124609"/>
                    </a:ext>
                  </a:extLst>
                </a:gridCol>
                <a:gridCol w="1832072">
                  <a:extLst>
                    <a:ext uri="{9D8B030D-6E8A-4147-A177-3AD203B41FA5}">
                      <a16:colId xmlns:a16="http://schemas.microsoft.com/office/drawing/2014/main" val="3603859997"/>
                    </a:ext>
                  </a:extLst>
                </a:gridCol>
                <a:gridCol w="341474">
                  <a:extLst>
                    <a:ext uri="{9D8B030D-6E8A-4147-A177-3AD203B41FA5}">
                      <a16:colId xmlns:a16="http://schemas.microsoft.com/office/drawing/2014/main" val="4076488391"/>
                    </a:ext>
                  </a:extLst>
                </a:gridCol>
                <a:gridCol w="501833">
                  <a:extLst>
                    <a:ext uri="{9D8B030D-6E8A-4147-A177-3AD203B41FA5}">
                      <a16:colId xmlns:a16="http://schemas.microsoft.com/office/drawing/2014/main" val="3254101706"/>
                    </a:ext>
                  </a:extLst>
                </a:gridCol>
                <a:gridCol w="309489">
                  <a:extLst>
                    <a:ext uri="{9D8B030D-6E8A-4147-A177-3AD203B41FA5}">
                      <a16:colId xmlns:a16="http://schemas.microsoft.com/office/drawing/2014/main" val="3712391277"/>
                    </a:ext>
                  </a:extLst>
                </a:gridCol>
                <a:gridCol w="626012">
                  <a:extLst>
                    <a:ext uri="{9D8B030D-6E8A-4147-A177-3AD203B41FA5}">
                      <a16:colId xmlns:a16="http://schemas.microsoft.com/office/drawing/2014/main" val="1982795072"/>
                    </a:ext>
                  </a:extLst>
                </a:gridCol>
                <a:gridCol w="253219">
                  <a:extLst>
                    <a:ext uri="{9D8B030D-6E8A-4147-A177-3AD203B41FA5}">
                      <a16:colId xmlns:a16="http://schemas.microsoft.com/office/drawing/2014/main" val="2527660299"/>
                    </a:ext>
                  </a:extLst>
                </a:gridCol>
                <a:gridCol w="443132">
                  <a:extLst>
                    <a:ext uri="{9D8B030D-6E8A-4147-A177-3AD203B41FA5}">
                      <a16:colId xmlns:a16="http://schemas.microsoft.com/office/drawing/2014/main" val="3641075278"/>
                    </a:ext>
                  </a:extLst>
                </a:gridCol>
                <a:gridCol w="411416">
                  <a:extLst>
                    <a:ext uri="{9D8B030D-6E8A-4147-A177-3AD203B41FA5}">
                      <a16:colId xmlns:a16="http://schemas.microsoft.com/office/drawing/2014/main" val="3618613915"/>
                    </a:ext>
                  </a:extLst>
                </a:gridCol>
              </a:tblGrid>
              <a:tr h="0">
                <a:tc rowSpan="13">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Monthly/Quarterly Invoice issued to customer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a:t>
                      </a:r>
                      <a:r>
                        <a:rPr lang="en-US" altLang="zh-CN" sz="900" b="1" i="0" u="none" strike="noStrike">
                          <a:solidFill>
                            <a:srgbClr val="000000"/>
                          </a:solidFill>
                          <a:effectLst/>
                          <a:latin typeface="Arial" panose="020B0604020202020204" pitchFamily="34" charset="0"/>
                        </a:rPr>
                        <a:t>quarterly</a:t>
                      </a:r>
                      <a:r>
                        <a:rPr lang="en-US" sz="900" b="1" i="0" u="none" strike="noStrike">
                          <a:solidFill>
                            <a:srgbClr val="000000"/>
                          </a:solidFill>
                          <a:effectLst/>
                          <a:latin typeface="Arial" panose="020B0604020202020204" pitchFamily="34" charset="0"/>
                        </a:rPr>
                        <a: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6580331"/>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22.5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22.5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a:solidFill>
                            <a:srgbClr val="000000"/>
                          </a:solidFill>
                          <a:effectLst/>
                          <a:latin typeface="Arial" panose="020B0604020202020204" pitchFamily="34" charset="0"/>
                          <a:ea typeface="+mn-ea"/>
                          <a:cs typeface="+mn-cs"/>
                        </a:rPr>
                        <a:t>Service Revenue – </a:t>
                      </a:r>
                      <a:r>
                        <a:rPr lang="en-US" altLang="zh-CN" sz="900" b="0" i="0" u="none" strike="sngStrike" kern="1200" baseline="0">
                          <a:solidFill>
                            <a:srgbClr val="000000"/>
                          </a:solidFill>
                          <a:effectLst/>
                          <a:latin typeface="Arial" panose="020B0604020202020204" pitchFamily="34" charset="0"/>
                          <a:ea typeface="+mn-ea"/>
                          <a:cs typeface="+mn-cs"/>
                        </a:rPr>
                        <a:t>applicable for swap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15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15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sng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48801539"/>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22.5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32179094"/>
                  </a:ext>
                </a:extLst>
              </a:tr>
              <a:tr h="0">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Defer Revenue - applicable for swap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7.5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76785258"/>
                  </a:ext>
                </a:extLst>
              </a:tr>
            </a:tbl>
          </a:graphicData>
        </a:graphic>
      </p:graphicFrame>
      <p:graphicFrame>
        <p:nvGraphicFramePr>
          <p:cNvPr id="12" name="表格 11">
            <a:extLst>
              <a:ext uri="{FF2B5EF4-FFF2-40B4-BE49-F238E27FC236}">
                <a16:creationId xmlns:a16="http://schemas.microsoft.com/office/drawing/2014/main" id="{C501F89D-1FA2-36AF-DD10-837AED667002}"/>
              </a:ext>
            </a:extLst>
          </p:cNvPr>
          <p:cNvGraphicFramePr>
            <a:graphicFrameLocks noGrp="1"/>
          </p:cNvGraphicFramePr>
          <p:nvPr>
            <p:extLst>
              <p:ext uri="{D42A27DB-BD31-4B8C-83A1-F6EECF244321}">
                <p14:modId xmlns:p14="http://schemas.microsoft.com/office/powerpoint/2010/main" val="2482928077"/>
              </p:ext>
            </p:extLst>
          </p:nvPr>
        </p:nvGraphicFramePr>
        <p:xfrm>
          <a:off x="5768663" y="3861118"/>
          <a:ext cx="5978247" cy="938462"/>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364010">
                  <a:extLst>
                    <a:ext uri="{9D8B030D-6E8A-4147-A177-3AD203B41FA5}">
                      <a16:colId xmlns:a16="http://schemas.microsoft.com/office/drawing/2014/main" val="4076488391"/>
                    </a:ext>
                  </a:extLst>
                </a:gridCol>
                <a:gridCol w="281898">
                  <a:extLst>
                    <a:ext uri="{9D8B030D-6E8A-4147-A177-3AD203B41FA5}">
                      <a16:colId xmlns:a16="http://schemas.microsoft.com/office/drawing/2014/main" val="3254101706"/>
                    </a:ext>
                  </a:extLst>
                </a:gridCol>
                <a:gridCol w="356877">
                  <a:extLst>
                    <a:ext uri="{9D8B030D-6E8A-4147-A177-3AD203B41FA5}">
                      <a16:colId xmlns:a16="http://schemas.microsoft.com/office/drawing/2014/main" val="3712391277"/>
                    </a:ext>
                  </a:extLst>
                </a:gridCol>
                <a:gridCol w="269401">
                  <a:extLst>
                    <a:ext uri="{9D8B030D-6E8A-4147-A177-3AD203B41FA5}">
                      <a16:colId xmlns:a16="http://schemas.microsoft.com/office/drawing/2014/main" val="1461470061"/>
                    </a:ext>
                  </a:extLst>
                </a:gridCol>
                <a:gridCol w="269401">
                  <a:extLst>
                    <a:ext uri="{9D8B030D-6E8A-4147-A177-3AD203B41FA5}">
                      <a16:colId xmlns:a16="http://schemas.microsoft.com/office/drawing/2014/main" val="2527660299"/>
                    </a:ext>
                  </a:extLst>
                </a:gridCol>
                <a:gridCol w="388119">
                  <a:extLst>
                    <a:ext uri="{9D8B030D-6E8A-4147-A177-3AD203B41FA5}">
                      <a16:colId xmlns:a16="http://schemas.microsoft.com/office/drawing/2014/main" val="3641075278"/>
                    </a:ext>
                  </a:extLst>
                </a:gridCol>
                <a:gridCol w="850494">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service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13" name="表格 12">
            <a:extLst>
              <a:ext uri="{FF2B5EF4-FFF2-40B4-BE49-F238E27FC236}">
                <a16:creationId xmlns:a16="http://schemas.microsoft.com/office/drawing/2014/main" id="{725543F8-C8E9-E9C8-60E9-30980DCF3C4B}"/>
              </a:ext>
            </a:extLst>
          </p:cNvPr>
          <p:cNvGraphicFramePr>
            <a:graphicFrameLocks noGrp="1"/>
          </p:cNvGraphicFramePr>
          <p:nvPr>
            <p:extLst>
              <p:ext uri="{D42A27DB-BD31-4B8C-83A1-F6EECF244321}">
                <p14:modId xmlns:p14="http://schemas.microsoft.com/office/powerpoint/2010/main" val="1437314374"/>
              </p:ext>
            </p:extLst>
          </p:nvPr>
        </p:nvGraphicFramePr>
        <p:xfrm>
          <a:off x="143235" y="3861118"/>
          <a:ext cx="5479929" cy="938462"/>
        </p:xfrm>
        <a:graphic>
          <a:graphicData uri="http://schemas.openxmlformats.org/drawingml/2006/table">
            <a:tbl>
              <a:tblPr/>
              <a:tblGrid>
                <a:gridCol w="390100">
                  <a:extLst>
                    <a:ext uri="{9D8B030D-6E8A-4147-A177-3AD203B41FA5}">
                      <a16:colId xmlns:a16="http://schemas.microsoft.com/office/drawing/2014/main" val="495084399"/>
                    </a:ext>
                  </a:extLst>
                </a:gridCol>
                <a:gridCol w="222972">
                  <a:extLst>
                    <a:ext uri="{9D8B030D-6E8A-4147-A177-3AD203B41FA5}">
                      <a16:colId xmlns:a16="http://schemas.microsoft.com/office/drawing/2014/main" val="3614210242"/>
                    </a:ext>
                  </a:extLst>
                </a:gridCol>
                <a:gridCol w="604956">
                  <a:extLst>
                    <a:ext uri="{9D8B030D-6E8A-4147-A177-3AD203B41FA5}">
                      <a16:colId xmlns:a16="http://schemas.microsoft.com/office/drawing/2014/main" val="1442124609"/>
                    </a:ext>
                  </a:extLst>
                </a:gridCol>
                <a:gridCol w="1644795">
                  <a:extLst>
                    <a:ext uri="{9D8B030D-6E8A-4147-A177-3AD203B41FA5}">
                      <a16:colId xmlns:a16="http://schemas.microsoft.com/office/drawing/2014/main" val="3603859997"/>
                    </a:ext>
                  </a:extLst>
                </a:gridCol>
                <a:gridCol w="335004">
                  <a:extLst>
                    <a:ext uri="{9D8B030D-6E8A-4147-A177-3AD203B41FA5}">
                      <a16:colId xmlns:a16="http://schemas.microsoft.com/office/drawing/2014/main" val="4076488391"/>
                    </a:ext>
                  </a:extLst>
                </a:gridCol>
                <a:gridCol w="335004">
                  <a:extLst>
                    <a:ext uri="{9D8B030D-6E8A-4147-A177-3AD203B41FA5}">
                      <a16:colId xmlns:a16="http://schemas.microsoft.com/office/drawing/2014/main" val="3254101706"/>
                    </a:ext>
                  </a:extLst>
                </a:gridCol>
                <a:gridCol w="507910">
                  <a:extLst>
                    <a:ext uri="{9D8B030D-6E8A-4147-A177-3AD203B41FA5}">
                      <a16:colId xmlns:a16="http://schemas.microsoft.com/office/drawing/2014/main" val="3712391277"/>
                    </a:ext>
                  </a:extLst>
                </a:gridCol>
                <a:gridCol w="314645">
                  <a:extLst>
                    <a:ext uri="{9D8B030D-6E8A-4147-A177-3AD203B41FA5}">
                      <a16:colId xmlns:a16="http://schemas.microsoft.com/office/drawing/2014/main" val="967768249"/>
                    </a:ext>
                  </a:extLst>
                </a:gridCol>
                <a:gridCol w="266937">
                  <a:extLst>
                    <a:ext uri="{9D8B030D-6E8A-4147-A177-3AD203B41FA5}">
                      <a16:colId xmlns:a16="http://schemas.microsoft.com/office/drawing/2014/main" val="2527660299"/>
                    </a:ext>
                  </a:extLst>
                </a:gridCol>
                <a:gridCol w="388478">
                  <a:extLst>
                    <a:ext uri="{9D8B030D-6E8A-4147-A177-3AD203B41FA5}">
                      <a16:colId xmlns:a16="http://schemas.microsoft.com/office/drawing/2014/main" val="3641075278"/>
                    </a:ext>
                  </a:extLst>
                </a:gridCol>
                <a:gridCol w="469128">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monthly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7.5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2" name="表格 1">
            <a:extLst>
              <a:ext uri="{FF2B5EF4-FFF2-40B4-BE49-F238E27FC236}">
                <a16:creationId xmlns:a16="http://schemas.microsoft.com/office/drawing/2014/main" id="{6C324556-9F08-A7C3-DD2C-BFA59EDA4344}"/>
              </a:ext>
            </a:extLst>
          </p:cNvPr>
          <p:cNvGraphicFramePr>
            <a:graphicFrameLocks noGrp="1"/>
          </p:cNvGraphicFramePr>
          <p:nvPr>
            <p:extLst>
              <p:ext uri="{D42A27DB-BD31-4B8C-83A1-F6EECF244321}">
                <p14:modId xmlns:p14="http://schemas.microsoft.com/office/powerpoint/2010/main" val="1313960080"/>
              </p:ext>
            </p:extLst>
          </p:nvPr>
        </p:nvGraphicFramePr>
        <p:xfrm>
          <a:off x="5778763" y="5165279"/>
          <a:ext cx="5978247" cy="1064523"/>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364010">
                  <a:extLst>
                    <a:ext uri="{9D8B030D-6E8A-4147-A177-3AD203B41FA5}">
                      <a16:colId xmlns:a16="http://schemas.microsoft.com/office/drawing/2014/main" val="4076488391"/>
                    </a:ext>
                  </a:extLst>
                </a:gridCol>
                <a:gridCol w="281898">
                  <a:extLst>
                    <a:ext uri="{9D8B030D-6E8A-4147-A177-3AD203B41FA5}">
                      <a16:colId xmlns:a16="http://schemas.microsoft.com/office/drawing/2014/main" val="3254101706"/>
                    </a:ext>
                  </a:extLst>
                </a:gridCol>
                <a:gridCol w="356877">
                  <a:extLst>
                    <a:ext uri="{9D8B030D-6E8A-4147-A177-3AD203B41FA5}">
                      <a16:colId xmlns:a16="http://schemas.microsoft.com/office/drawing/2014/main" val="3712391277"/>
                    </a:ext>
                  </a:extLst>
                </a:gridCol>
                <a:gridCol w="269401">
                  <a:extLst>
                    <a:ext uri="{9D8B030D-6E8A-4147-A177-3AD203B41FA5}">
                      <a16:colId xmlns:a16="http://schemas.microsoft.com/office/drawing/2014/main" val="1461470061"/>
                    </a:ext>
                  </a:extLst>
                </a:gridCol>
                <a:gridCol w="269401">
                  <a:extLst>
                    <a:ext uri="{9D8B030D-6E8A-4147-A177-3AD203B41FA5}">
                      <a16:colId xmlns:a16="http://schemas.microsoft.com/office/drawing/2014/main" val="2527660299"/>
                    </a:ext>
                  </a:extLst>
                </a:gridCol>
                <a:gridCol w="388119">
                  <a:extLst>
                    <a:ext uri="{9D8B030D-6E8A-4147-A177-3AD203B41FA5}">
                      <a16:colId xmlns:a16="http://schemas.microsoft.com/office/drawing/2014/main" val="3641075278"/>
                    </a:ext>
                  </a:extLst>
                </a:gridCol>
                <a:gridCol w="850494">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Offset against LT AR for premier support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kumimoji="0" lang="en-US" altLang="zh-CN" sz="900" b="1" i="0" u="none" strike="noStrike" kern="1200" cap="none" spc="0" normalizeH="0" baseline="0">
                          <a:ln>
                            <a:noFill/>
                          </a:ln>
                          <a:solidFill>
                            <a:srgbClr val="000000"/>
                          </a:solidFill>
                          <a:effectLst/>
                          <a:uLnTx/>
                          <a:uFillTx/>
                          <a:latin typeface="Arial" panose="020B0604020202020204" pitchFamily="34" charset="0"/>
                          <a:ea typeface="+mn-ea"/>
                          <a:cs typeface="+mn-cs"/>
                        </a:rPr>
                        <a:t>At end of the billing issuance month</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22.5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22.5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4038309671"/>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22.5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22.5</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213206944"/>
                  </a:ext>
                </a:extLst>
              </a:tr>
            </a:tbl>
          </a:graphicData>
        </a:graphic>
      </p:graphicFrame>
      <p:sp>
        <p:nvSpPr>
          <p:cNvPr id="3" name="对话气泡: 矩形 2">
            <a:extLst>
              <a:ext uri="{FF2B5EF4-FFF2-40B4-BE49-F238E27FC236}">
                <a16:creationId xmlns:a16="http://schemas.microsoft.com/office/drawing/2014/main" id="{65492299-648A-208F-60A8-E2ECC1845A53}"/>
              </a:ext>
            </a:extLst>
          </p:cNvPr>
          <p:cNvSpPr/>
          <p:nvPr/>
        </p:nvSpPr>
        <p:spPr>
          <a:xfrm>
            <a:off x="1620639" y="2925763"/>
            <a:ext cx="3841803" cy="641648"/>
          </a:xfrm>
          <a:prstGeom prst="wedgeRectCallout">
            <a:avLst>
              <a:gd name="adj1" fmla="val 68436"/>
              <a:gd name="adj2" fmla="val -14259"/>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OL HW and AFE fulfilled swap stock service, Monthly excess amount </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will be booked as defer revenue.</a:t>
            </a:r>
          </a:p>
        </p:txBody>
      </p:sp>
      <p:sp>
        <p:nvSpPr>
          <p:cNvPr id="8" name="Rectangle 1">
            <a:extLst>
              <a:ext uri="{FF2B5EF4-FFF2-40B4-BE49-F238E27FC236}">
                <a16:creationId xmlns:a16="http://schemas.microsoft.com/office/drawing/2014/main" id="{0C5F3A07-F3F8-AA48-7592-BC5948CBB416}"/>
              </a:ext>
            </a:extLst>
          </p:cNvPr>
          <p:cNvSpPr/>
          <p:nvPr/>
        </p:nvSpPr>
        <p:spPr>
          <a:xfrm>
            <a:off x="6178428" y="2763769"/>
            <a:ext cx="5578582" cy="965636"/>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10" name="Rectangle 1">
            <a:extLst>
              <a:ext uri="{FF2B5EF4-FFF2-40B4-BE49-F238E27FC236}">
                <a16:creationId xmlns:a16="http://schemas.microsoft.com/office/drawing/2014/main" id="{64E25706-9BFF-E4EA-6332-9AFBA61DD0EB}"/>
              </a:ext>
            </a:extLst>
          </p:cNvPr>
          <p:cNvSpPr/>
          <p:nvPr/>
        </p:nvSpPr>
        <p:spPr>
          <a:xfrm>
            <a:off x="6178428" y="5697540"/>
            <a:ext cx="5578582" cy="532262"/>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sp>
        <p:nvSpPr>
          <p:cNvPr id="4" name="Slide Number Placeholder 4">
            <a:extLst>
              <a:ext uri="{FF2B5EF4-FFF2-40B4-BE49-F238E27FC236}">
                <a16:creationId xmlns:a16="http://schemas.microsoft.com/office/drawing/2014/main" id="{67E6226F-BDCE-5CDA-8559-32F6C45249CC}"/>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166</a:t>
            </a:fld>
            <a:endParaRPr lang="en-US">
              <a:solidFill>
                <a:srgbClr val="000000"/>
              </a:solidFill>
            </a:endParaRPr>
          </a:p>
        </p:txBody>
      </p:sp>
      <p:sp>
        <p:nvSpPr>
          <p:cNvPr id="9" name="对话气泡: 矩形 8">
            <a:extLst>
              <a:ext uri="{FF2B5EF4-FFF2-40B4-BE49-F238E27FC236}">
                <a16:creationId xmlns:a16="http://schemas.microsoft.com/office/drawing/2014/main" id="{5C1CF94F-D6D7-EB07-FF48-27F68332712F}"/>
              </a:ext>
            </a:extLst>
          </p:cNvPr>
          <p:cNvSpPr/>
          <p:nvPr/>
        </p:nvSpPr>
        <p:spPr>
          <a:xfrm>
            <a:off x="1223074" y="5196962"/>
            <a:ext cx="3841803" cy="640622"/>
          </a:xfrm>
          <a:prstGeom prst="wedgeRectCallout">
            <a:avLst>
              <a:gd name="adj1" fmla="val 69126"/>
              <a:gd name="adj2" fmla="val 14702"/>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Funded premier support, upon billing, booked as agent revenue, then Odessa trigger the setoff with LTAR.</a:t>
            </a:r>
            <a:endParaRPr lang="zh-CN" altLang="en-US" sz="1200">
              <a:solidFill>
                <a:schemeClr val="tx1"/>
              </a:solidFill>
            </a:endParaRPr>
          </a:p>
        </p:txBody>
      </p:sp>
    </p:spTree>
    <p:extLst>
      <p:ext uri="{BB962C8B-B14F-4D97-AF65-F5344CB8AC3E}">
        <p14:creationId xmlns:p14="http://schemas.microsoft.com/office/powerpoint/2010/main" val="3274812028"/>
      </p:ext>
    </p:extLst>
  </p:cSld>
  <p:clrMapOvr>
    <a:masterClrMapping/>
  </p:clrMapOvr>
  <p:transition spd="med"/>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E34002-3D9E-D927-168D-6CB2FFCAC8AF}"/>
            </a:ext>
          </a:extLst>
        </p:cNvPr>
        <p:cNvGrpSpPr/>
        <p:nvPr/>
      </p:nvGrpSpPr>
      <p:grpSpPr>
        <a:xfrm>
          <a:off x="0" y="0"/>
          <a:ext cx="0" cy="0"/>
          <a:chOff x="0" y="0"/>
          <a:chExt cx="0" cy="0"/>
        </a:xfrm>
      </p:grpSpPr>
      <p:sp>
        <p:nvSpPr>
          <p:cNvPr id="7" name="文本框 6">
            <a:extLst>
              <a:ext uri="{FF2B5EF4-FFF2-40B4-BE49-F238E27FC236}">
                <a16:creationId xmlns:a16="http://schemas.microsoft.com/office/drawing/2014/main" id="{18C3D9CA-DFEF-3C7D-EE78-668360672729}"/>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DAAS_AFE_MLA</a:t>
            </a:r>
            <a:endParaRPr lang="zh-CN" altLang="en-US" sz="2000" b="1"/>
          </a:p>
        </p:txBody>
      </p:sp>
      <p:graphicFrame>
        <p:nvGraphicFramePr>
          <p:cNvPr id="5" name="表格 4">
            <a:extLst>
              <a:ext uri="{FF2B5EF4-FFF2-40B4-BE49-F238E27FC236}">
                <a16:creationId xmlns:a16="http://schemas.microsoft.com/office/drawing/2014/main" id="{9C010A88-ECE2-CAE2-8A30-5F0FF3285B31}"/>
              </a:ext>
            </a:extLst>
          </p:cNvPr>
          <p:cNvGraphicFramePr>
            <a:graphicFrameLocks noGrp="1"/>
          </p:cNvGraphicFramePr>
          <p:nvPr>
            <p:extLst>
              <p:ext uri="{D42A27DB-BD31-4B8C-83A1-F6EECF244321}">
                <p14:modId xmlns:p14="http://schemas.microsoft.com/office/powerpoint/2010/main" val="2572598270"/>
              </p:ext>
            </p:extLst>
          </p:nvPr>
        </p:nvGraphicFramePr>
        <p:xfrm>
          <a:off x="217335" y="523933"/>
          <a:ext cx="5405830" cy="1554480"/>
        </p:xfrm>
        <a:graphic>
          <a:graphicData uri="http://schemas.openxmlformats.org/drawingml/2006/table">
            <a:tbl>
              <a:tblPr firstRow="1" bandRow="1">
                <a:tableStyleId>{3C2FFA5D-87B4-456A-9821-1D502468CF0F}</a:tableStyleId>
              </a:tblPr>
              <a:tblGrid>
                <a:gridCol w="588853">
                  <a:extLst>
                    <a:ext uri="{9D8B030D-6E8A-4147-A177-3AD203B41FA5}">
                      <a16:colId xmlns:a16="http://schemas.microsoft.com/office/drawing/2014/main" val="869603910"/>
                    </a:ext>
                  </a:extLst>
                </a:gridCol>
                <a:gridCol w="538483">
                  <a:extLst>
                    <a:ext uri="{9D8B030D-6E8A-4147-A177-3AD203B41FA5}">
                      <a16:colId xmlns:a16="http://schemas.microsoft.com/office/drawing/2014/main" val="238663902"/>
                    </a:ext>
                  </a:extLst>
                </a:gridCol>
                <a:gridCol w="552252">
                  <a:extLst>
                    <a:ext uri="{9D8B030D-6E8A-4147-A177-3AD203B41FA5}">
                      <a16:colId xmlns:a16="http://schemas.microsoft.com/office/drawing/2014/main" val="4114365151"/>
                    </a:ext>
                  </a:extLst>
                </a:gridCol>
                <a:gridCol w="581317">
                  <a:extLst>
                    <a:ext uri="{9D8B030D-6E8A-4147-A177-3AD203B41FA5}">
                      <a16:colId xmlns:a16="http://schemas.microsoft.com/office/drawing/2014/main" val="4075178046"/>
                    </a:ext>
                  </a:extLst>
                </a:gridCol>
                <a:gridCol w="639449">
                  <a:extLst>
                    <a:ext uri="{9D8B030D-6E8A-4147-A177-3AD203B41FA5}">
                      <a16:colId xmlns:a16="http://schemas.microsoft.com/office/drawing/2014/main" val="973533418"/>
                    </a:ext>
                  </a:extLst>
                </a:gridCol>
                <a:gridCol w="633635">
                  <a:extLst>
                    <a:ext uri="{9D8B030D-6E8A-4147-A177-3AD203B41FA5}">
                      <a16:colId xmlns:a16="http://schemas.microsoft.com/office/drawing/2014/main" val="2377711782"/>
                    </a:ext>
                  </a:extLst>
                </a:gridCol>
                <a:gridCol w="778965">
                  <a:extLst>
                    <a:ext uri="{9D8B030D-6E8A-4147-A177-3AD203B41FA5}">
                      <a16:colId xmlns:a16="http://schemas.microsoft.com/office/drawing/2014/main" val="1705285035"/>
                    </a:ext>
                  </a:extLst>
                </a:gridCol>
                <a:gridCol w="1092876">
                  <a:extLst>
                    <a:ext uri="{9D8B030D-6E8A-4147-A177-3AD203B41FA5}">
                      <a16:colId xmlns:a16="http://schemas.microsoft.com/office/drawing/2014/main" val="221569069"/>
                    </a:ext>
                  </a:extLst>
                </a:gridCol>
              </a:tblGrid>
              <a:tr h="44700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349222">
                <a:tc rowSpan="2">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OL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Monthly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ET Device Return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349222">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a:txBody>
                    <a:bodyPr/>
                    <a:lstStyle/>
                    <a:p>
                      <a:r>
                        <a:rPr lang="en-US" altLang="zh-CN" sz="1050">
                          <a:solidFill>
                            <a:sysClr val="windowText" lastClr="000000"/>
                          </a:solidFill>
                        </a:rPr>
                        <a:t>ET Device Lost/Stolen</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894890"/>
                  </a:ext>
                </a:extLst>
              </a:tr>
            </a:tbl>
          </a:graphicData>
        </a:graphic>
      </p:graphicFrame>
      <p:graphicFrame>
        <p:nvGraphicFramePr>
          <p:cNvPr id="13" name="表格 12">
            <a:extLst>
              <a:ext uri="{FF2B5EF4-FFF2-40B4-BE49-F238E27FC236}">
                <a16:creationId xmlns:a16="http://schemas.microsoft.com/office/drawing/2014/main" id="{A8F149E0-B371-6859-608B-B2B9620F3038}"/>
              </a:ext>
            </a:extLst>
          </p:cNvPr>
          <p:cNvGraphicFramePr>
            <a:graphicFrameLocks noGrp="1"/>
          </p:cNvGraphicFramePr>
          <p:nvPr>
            <p:extLst>
              <p:ext uri="{D42A27DB-BD31-4B8C-83A1-F6EECF244321}">
                <p14:modId xmlns:p14="http://schemas.microsoft.com/office/powerpoint/2010/main" val="3358093744"/>
              </p:ext>
            </p:extLst>
          </p:nvPr>
        </p:nvGraphicFramePr>
        <p:xfrm>
          <a:off x="143236" y="2219419"/>
          <a:ext cx="5535065" cy="938462"/>
        </p:xfrm>
        <a:graphic>
          <a:graphicData uri="http://schemas.openxmlformats.org/drawingml/2006/table">
            <a:tbl>
              <a:tblPr/>
              <a:tblGrid>
                <a:gridCol w="445236">
                  <a:extLst>
                    <a:ext uri="{9D8B030D-6E8A-4147-A177-3AD203B41FA5}">
                      <a16:colId xmlns:a16="http://schemas.microsoft.com/office/drawing/2014/main" val="495084399"/>
                    </a:ext>
                  </a:extLst>
                </a:gridCol>
                <a:gridCol w="222972">
                  <a:extLst>
                    <a:ext uri="{9D8B030D-6E8A-4147-A177-3AD203B41FA5}">
                      <a16:colId xmlns:a16="http://schemas.microsoft.com/office/drawing/2014/main" val="3614210242"/>
                    </a:ext>
                  </a:extLst>
                </a:gridCol>
                <a:gridCol w="604956">
                  <a:extLst>
                    <a:ext uri="{9D8B030D-6E8A-4147-A177-3AD203B41FA5}">
                      <a16:colId xmlns:a16="http://schemas.microsoft.com/office/drawing/2014/main" val="1442124609"/>
                    </a:ext>
                  </a:extLst>
                </a:gridCol>
                <a:gridCol w="1644795">
                  <a:extLst>
                    <a:ext uri="{9D8B030D-6E8A-4147-A177-3AD203B41FA5}">
                      <a16:colId xmlns:a16="http://schemas.microsoft.com/office/drawing/2014/main" val="3603859997"/>
                    </a:ext>
                  </a:extLst>
                </a:gridCol>
                <a:gridCol w="335004">
                  <a:extLst>
                    <a:ext uri="{9D8B030D-6E8A-4147-A177-3AD203B41FA5}">
                      <a16:colId xmlns:a16="http://schemas.microsoft.com/office/drawing/2014/main" val="4076488391"/>
                    </a:ext>
                  </a:extLst>
                </a:gridCol>
                <a:gridCol w="335004">
                  <a:extLst>
                    <a:ext uri="{9D8B030D-6E8A-4147-A177-3AD203B41FA5}">
                      <a16:colId xmlns:a16="http://schemas.microsoft.com/office/drawing/2014/main" val="3254101706"/>
                    </a:ext>
                  </a:extLst>
                </a:gridCol>
                <a:gridCol w="507910">
                  <a:extLst>
                    <a:ext uri="{9D8B030D-6E8A-4147-A177-3AD203B41FA5}">
                      <a16:colId xmlns:a16="http://schemas.microsoft.com/office/drawing/2014/main" val="3712391277"/>
                    </a:ext>
                  </a:extLst>
                </a:gridCol>
                <a:gridCol w="314645">
                  <a:extLst>
                    <a:ext uri="{9D8B030D-6E8A-4147-A177-3AD203B41FA5}">
                      <a16:colId xmlns:a16="http://schemas.microsoft.com/office/drawing/2014/main" val="967768249"/>
                    </a:ext>
                  </a:extLst>
                </a:gridCol>
                <a:gridCol w="266937">
                  <a:extLst>
                    <a:ext uri="{9D8B030D-6E8A-4147-A177-3AD203B41FA5}">
                      <a16:colId xmlns:a16="http://schemas.microsoft.com/office/drawing/2014/main" val="2527660299"/>
                    </a:ext>
                  </a:extLst>
                </a:gridCol>
                <a:gridCol w="388478">
                  <a:extLst>
                    <a:ext uri="{9D8B030D-6E8A-4147-A177-3AD203B41FA5}">
                      <a16:colId xmlns:a16="http://schemas.microsoft.com/office/drawing/2014/main" val="3641075278"/>
                    </a:ext>
                  </a:extLst>
                </a:gridCol>
                <a:gridCol w="469128">
                  <a:extLst>
                    <a:ext uri="{9D8B030D-6E8A-4147-A177-3AD203B41FA5}">
                      <a16:colId xmlns:a16="http://schemas.microsoft.com/office/drawing/2014/main" val="3618613915"/>
                    </a:ext>
                  </a:extLst>
                </a:gridCol>
              </a:tblGrid>
              <a:tr h="16800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S&amp;D raises ET invoice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0996">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09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7099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7107">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Deferred Revenue - ARS</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076113988"/>
                  </a:ext>
                </a:extLst>
              </a:tr>
            </a:tbl>
          </a:graphicData>
        </a:graphic>
      </p:graphicFrame>
      <p:graphicFrame>
        <p:nvGraphicFramePr>
          <p:cNvPr id="18" name="表格 17">
            <a:extLst>
              <a:ext uri="{FF2B5EF4-FFF2-40B4-BE49-F238E27FC236}">
                <a16:creationId xmlns:a16="http://schemas.microsoft.com/office/drawing/2014/main" id="{9BE5873C-7229-17A0-10E0-92A582BC0CE4}"/>
              </a:ext>
            </a:extLst>
          </p:cNvPr>
          <p:cNvGraphicFramePr>
            <a:graphicFrameLocks noGrp="1"/>
          </p:cNvGraphicFramePr>
          <p:nvPr>
            <p:extLst>
              <p:ext uri="{D42A27DB-BD31-4B8C-83A1-F6EECF244321}">
                <p14:modId xmlns:p14="http://schemas.microsoft.com/office/powerpoint/2010/main" val="2685502892"/>
              </p:ext>
            </p:extLst>
          </p:nvPr>
        </p:nvGraphicFramePr>
        <p:xfrm>
          <a:off x="5752760" y="142601"/>
          <a:ext cx="5988347" cy="2755970"/>
        </p:xfrm>
        <a:graphic>
          <a:graphicData uri="http://schemas.openxmlformats.org/drawingml/2006/table">
            <a:tbl>
              <a:tblPr/>
              <a:tblGrid>
                <a:gridCol w="420472">
                  <a:extLst>
                    <a:ext uri="{9D8B030D-6E8A-4147-A177-3AD203B41FA5}">
                      <a16:colId xmlns:a16="http://schemas.microsoft.com/office/drawing/2014/main" val="495084399"/>
                    </a:ext>
                  </a:extLst>
                </a:gridCol>
                <a:gridCol w="277952">
                  <a:extLst>
                    <a:ext uri="{9D8B030D-6E8A-4147-A177-3AD203B41FA5}">
                      <a16:colId xmlns:a16="http://schemas.microsoft.com/office/drawing/2014/main" val="3614210242"/>
                    </a:ext>
                  </a:extLst>
                </a:gridCol>
                <a:gridCol w="571276">
                  <a:extLst>
                    <a:ext uri="{9D8B030D-6E8A-4147-A177-3AD203B41FA5}">
                      <a16:colId xmlns:a16="http://schemas.microsoft.com/office/drawing/2014/main" val="1442124609"/>
                    </a:ext>
                  </a:extLst>
                </a:gridCol>
                <a:gridCol w="1832072">
                  <a:extLst>
                    <a:ext uri="{9D8B030D-6E8A-4147-A177-3AD203B41FA5}">
                      <a16:colId xmlns:a16="http://schemas.microsoft.com/office/drawing/2014/main" val="3603859997"/>
                    </a:ext>
                  </a:extLst>
                </a:gridCol>
                <a:gridCol w="341474">
                  <a:extLst>
                    <a:ext uri="{9D8B030D-6E8A-4147-A177-3AD203B41FA5}">
                      <a16:colId xmlns:a16="http://schemas.microsoft.com/office/drawing/2014/main" val="4076488391"/>
                    </a:ext>
                  </a:extLst>
                </a:gridCol>
                <a:gridCol w="341474">
                  <a:extLst>
                    <a:ext uri="{9D8B030D-6E8A-4147-A177-3AD203B41FA5}">
                      <a16:colId xmlns:a16="http://schemas.microsoft.com/office/drawing/2014/main" val="3254101706"/>
                    </a:ext>
                  </a:extLst>
                </a:gridCol>
                <a:gridCol w="276142">
                  <a:extLst>
                    <a:ext uri="{9D8B030D-6E8A-4147-A177-3AD203B41FA5}">
                      <a16:colId xmlns:a16="http://schemas.microsoft.com/office/drawing/2014/main" val="3712391277"/>
                    </a:ext>
                  </a:extLst>
                </a:gridCol>
                <a:gridCol w="619789">
                  <a:extLst>
                    <a:ext uri="{9D8B030D-6E8A-4147-A177-3AD203B41FA5}">
                      <a16:colId xmlns:a16="http://schemas.microsoft.com/office/drawing/2014/main" val="1982795072"/>
                    </a:ext>
                  </a:extLst>
                </a:gridCol>
                <a:gridCol w="286984">
                  <a:extLst>
                    <a:ext uri="{9D8B030D-6E8A-4147-A177-3AD203B41FA5}">
                      <a16:colId xmlns:a16="http://schemas.microsoft.com/office/drawing/2014/main" val="2527660299"/>
                    </a:ext>
                  </a:extLst>
                </a:gridCol>
                <a:gridCol w="569655">
                  <a:extLst>
                    <a:ext uri="{9D8B030D-6E8A-4147-A177-3AD203B41FA5}">
                      <a16:colId xmlns:a16="http://schemas.microsoft.com/office/drawing/2014/main" val="3641075278"/>
                    </a:ext>
                  </a:extLst>
                </a:gridCol>
                <a:gridCol w="451057">
                  <a:extLst>
                    <a:ext uri="{9D8B030D-6E8A-4147-A177-3AD203B41FA5}">
                      <a16:colId xmlns:a16="http://schemas.microsoft.com/office/drawing/2014/main" val="3618613915"/>
                    </a:ext>
                  </a:extLst>
                </a:gridCol>
              </a:tblGrid>
              <a:tr h="0">
                <a:tc rowSpan="11">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altLang="zh-CN" sz="900" b="1" i="0">
                          <a:solidFill>
                            <a:srgbClr val="FFFFFF"/>
                          </a:solidFill>
                          <a:effectLst/>
                        </a:rPr>
                        <a:t>ET Invoice issued to customer ​</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0">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0">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1200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5010450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42658033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5010452</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Broker Sales (applicable No Device return)</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300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20/30/U4</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726425068"/>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a:t>
                      </a:r>
                      <a:r>
                        <a:rPr lang="zh-CN" altLang="en-US" sz="900" b="0" i="0" u="none" strike="noStrike" kern="1200">
                          <a:solidFill>
                            <a:srgbClr val="000000"/>
                          </a:solidFill>
                          <a:effectLst/>
                          <a:latin typeface="Arial" panose="020B0604020202020204" pitchFamily="34" charset="0"/>
                          <a:ea typeface="+mn-ea"/>
                          <a:cs typeface="+mn-cs"/>
                        </a:rPr>
                        <a:t> </a:t>
                      </a:r>
                      <a:r>
                        <a:rPr lang="en-US" altLang="zh-CN" sz="900" b="0" i="0" u="none" strike="noStrike" kern="1200">
                          <a:solidFill>
                            <a:srgbClr val="000000"/>
                          </a:solidFill>
                          <a:effectLst/>
                          <a:latin typeface="Arial" panose="020B0604020202020204" pitchFamily="34" charset="0"/>
                          <a:ea typeface="+mn-ea"/>
                          <a:cs typeface="+mn-cs"/>
                        </a:rPr>
                        <a:t>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a:solidFill>
                            <a:srgbClr val="000000"/>
                          </a:solidFill>
                          <a:effectLst/>
                          <a:latin typeface="Arial" panose="020B0604020202020204" pitchFamily="34" charset="0"/>
                          <a:ea typeface="+mn-ea"/>
                          <a:cs typeface="+mn-cs"/>
                        </a:rPr>
                        <a:t>Service Revenue – </a:t>
                      </a:r>
                      <a:r>
                        <a:rPr lang="en-US" altLang="zh-CN" sz="900" b="0" i="0" u="none" strike="sngStrike" kern="1200" baseline="0">
                          <a:solidFill>
                            <a:srgbClr val="000000"/>
                          </a:solidFill>
                          <a:effectLst/>
                          <a:latin typeface="Arial" panose="020B0604020202020204" pitchFamily="34" charset="0"/>
                          <a:ea typeface="+mn-ea"/>
                          <a:cs typeface="+mn-cs"/>
                        </a:rPr>
                        <a:t>applicable for swap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9" name="表格 18">
            <a:extLst>
              <a:ext uri="{FF2B5EF4-FFF2-40B4-BE49-F238E27FC236}">
                <a16:creationId xmlns:a16="http://schemas.microsoft.com/office/drawing/2014/main" id="{5DF67FF5-841A-48BB-33DA-EAB43D28D26D}"/>
              </a:ext>
            </a:extLst>
          </p:cNvPr>
          <p:cNvGraphicFramePr>
            <a:graphicFrameLocks noGrp="1"/>
          </p:cNvGraphicFramePr>
          <p:nvPr>
            <p:extLst>
              <p:ext uri="{D42A27DB-BD31-4B8C-83A1-F6EECF244321}">
                <p14:modId xmlns:p14="http://schemas.microsoft.com/office/powerpoint/2010/main" val="2106554777"/>
              </p:ext>
            </p:extLst>
          </p:nvPr>
        </p:nvGraphicFramePr>
        <p:xfrm>
          <a:off x="5752759" y="2918770"/>
          <a:ext cx="5978247" cy="938462"/>
        </p:xfrm>
        <a:graphic>
          <a:graphicData uri="http://schemas.openxmlformats.org/drawingml/2006/table">
            <a:tbl>
              <a:tblPr/>
              <a:tblGrid>
                <a:gridCol w="426431">
                  <a:extLst>
                    <a:ext uri="{9D8B030D-6E8A-4147-A177-3AD203B41FA5}">
                      <a16:colId xmlns:a16="http://schemas.microsoft.com/office/drawing/2014/main" val="495084399"/>
                    </a:ext>
                  </a:extLst>
                </a:gridCol>
                <a:gridCol w="244408">
                  <a:extLst>
                    <a:ext uri="{9D8B030D-6E8A-4147-A177-3AD203B41FA5}">
                      <a16:colId xmlns:a16="http://schemas.microsoft.com/office/drawing/2014/main" val="3614210242"/>
                    </a:ext>
                  </a:extLst>
                </a:gridCol>
                <a:gridCol w="608979">
                  <a:extLst>
                    <a:ext uri="{9D8B030D-6E8A-4147-A177-3AD203B41FA5}">
                      <a16:colId xmlns:a16="http://schemas.microsoft.com/office/drawing/2014/main" val="1442124609"/>
                    </a:ext>
                  </a:extLst>
                </a:gridCol>
                <a:gridCol w="1918229">
                  <a:extLst>
                    <a:ext uri="{9D8B030D-6E8A-4147-A177-3AD203B41FA5}">
                      <a16:colId xmlns:a16="http://schemas.microsoft.com/office/drawing/2014/main" val="3603859997"/>
                    </a:ext>
                  </a:extLst>
                </a:gridCol>
                <a:gridCol w="364010">
                  <a:extLst>
                    <a:ext uri="{9D8B030D-6E8A-4147-A177-3AD203B41FA5}">
                      <a16:colId xmlns:a16="http://schemas.microsoft.com/office/drawing/2014/main" val="4076488391"/>
                    </a:ext>
                  </a:extLst>
                </a:gridCol>
                <a:gridCol w="281898">
                  <a:extLst>
                    <a:ext uri="{9D8B030D-6E8A-4147-A177-3AD203B41FA5}">
                      <a16:colId xmlns:a16="http://schemas.microsoft.com/office/drawing/2014/main" val="3254101706"/>
                    </a:ext>
                  </a:extLst>
                </a:gridCol>
                <a:gridCol w="356877">
                  <a:extLst>
                    <a:ext uri="{9D8B030D-6E8A-4147-A177-3AD203B41FA5}">
                      <a16:colId xmlns:a16="http://schemas.microsoft.com/office/drawing/2014/main" val="3712391277"/>
                    </a:ext>
                  </a:extLst>
                </a:gridCol>
                <a:gridCol w="269401">
                  <a:extLst>
                    <a:ext uri="{9D8B030D-6E8A-4147-A177-3AD203B41FA5}">
                      <a16:colId xmlns:a16="http://schemas.microsoft.com/office/drawing/2014/main" val="1461470061"/>
                    </a:ext>
                  </a:extLst>
                </a:gridCol>
                <a:gridCol w="269401">
                  <a:extLst>
                    <a:ext uri="{9D8B030D-6E8A-4147-A177-3AD203B41FA5}">
                      <a16:colId xmlns:a16="http://schemas.microsoft.com/office/drawing/2014/main" val="2527660299"/>
                    </a:ext>
                  </a:extLst>
                </a:gridCol>
                <a:gridCol w="388119">
                  <a:extLst>
                    <a:ext uri="{9D8B030D-6E8A-4147-A177-3AD203B41FA5}">
                      <a16:colId xmlns:a16="http://schemas.microsoft.com/office/drawing/2014/main" val="3641075278"/>
                    </a:ext>
                  </a:extLst>
                </a:gridCol>
                <a:gridCol w="850494">
                  <a:extLst>
                    <a:ext uri="{9D8B030D-6E8A-4147-A177-3AD203B41FA5}">
                      <a16:colId xmlns:a16="http://schemas.microsoft.com/office/drawing/2014/main" val="3618613915"/>
                    </a:ext>
                  </a:extLst>
                </a:gridCol>
              </a:tblGrid>
              <a:tr h="161739">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ET transfer to S&amp;D</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ET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ARS</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13206944"/>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bl>
          </a:graphicData>
        </a:graphic>
      </p:graphicFrame>
      <p:graphicFrame>
        <p:nvGraphicFramePr>
          <p:cNvPr id="20" name="表格 19">
            <a:extLst>
              <a:ext uri="{FF2B5EF4-FFF2-40B4-BE49-F238E27FC236}">
                <a16:creationId xmlns:a16="http://schemas.microsoft.com/office/drawing/2014/main" id="{B4A93C01-E304-DC05-6851-7D99AC519055}"/>
              </a:ext>
            </a:extLst>
          </p:cNvPr>
          <p:cNvGraphicFramePr>
            <a:graphicFrameLocks noGrp="1"/>
          </p:cNvGraphicFramePr>
          <p:nvPr>
            <p:extLst>
              <p:ext uri="{D42A27DB-BD31-4B8C-83A1-F6EECF244321}">
                <p14:modId xmlns:p14="http://schemas.microsoft.com/office/powerpoint/2010/main" val="3998823251"/>
              </p:ext>
            </p:extLst>
          </p:nvPr>
        </p:nvGraphicFramePr>
        <p:xfrm>
          <a:off x="5752759" y="3877431"/>
          <a:ext cx="6039293" cy="2436072"/>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40543">
                <a:tc rowSpan="9">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900" b="1" i="0">
                          <a:solidFill>
                            <a:srgbClr val="FFFFFF"/>
                          </a:solidFill>
                          <a:effectLst/>
                        </a:rPr>
                        <a:t>ET proportion amortization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40543">
                <a:tc vMerge="1">
                  <a:txBody>
                    <a:bodyPr/>
                    <a:lstStyle/>
                    <a:p>
                      <a:endParaRPr lang="zh-CN" altLang="en-US"/>
                    </a:p>
                  </a:txBody>
                  <a:tcPr/>
                </a:tc>
                <a:tc gridSpan="10">
                  <a:txBody>
                    <a:bodyPr/>
                    <a:lstStyle/>
                    <a:p>
                      <a:pPr algn="ctr" fontAlgn="base">
                        <a:lnSpc>
                          <a:spcPts val="1200"/>
                        </a:lnSpc>
                        <a:buNone/>
                      </a:pPr>
                      <a:r>
                        <a:rPr lang="en-US" altLang="zh-CN" sz="900" b="1" i="0">
                          <a:solidFill>
                            <a:srgbClr val="000000"/>
                          </a:solidFill>
                          <a:effectLst/>
                          <a:latin typeface="Arial" panose="020B0604020202020204" pitchFamily="34" charset="0"/>
                        </a:rPr>
                        <a:t>Upon ET billing</a:t>
                      </a:r>
                      <a:endParaRPr lang="en-US" altLang="zh-CN"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40543">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25431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25431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169747502"/>
                  </a:ext>
                </a:extLst>
              </a:tr>
              <a:tr h="254312">
                <a:tc vMerge="1">
                  <a:txBody>
                    <a:bodyPr/>
                    <a:lstStyle/>
                    <a:p>
                      <a:endParaRPr lang="zh-CN" altLang="en-US"/>
                    </a:p>
                  </a:txBody>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Defer Revenue - applicable for swap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1218621" rtl="0" eaLnBrk="1" fontAlgn="base" latinLnBrk="0" hangingPunct="1">
                        <a:lnSpc>
                          <a:spcPts val="1200"/>
                        </a:lnSpc>
                        <a:buNone/>
                      </a:pPr>
                      <a:r>
                        <a:rPr lang="en-US"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38872197"/>
                  </a:ext>
                </a:extLst>
              </a:tr>
              <a:tr h="25431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a:ea typeface="+mn-ea"/>
                          <a:cs typeface="+mn-cs"/>
                        </a:rPr>
                        <a:t>5010450</a:t>
                      </a:r>
                      <a:endParaRPr lang="en-US" sz="900" b="0" i="0" u="sng"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93882986"/>
                  </a:ext>
                </a:extLst>
              </a:tr>
              <a:tr h="254312">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a:ea typeface="+mn-ea"/>
                          <a:cs typeface="+mn-cs"/>
                        </a:rPr>
                        <a:t>5010450</a:t>
                      </a:r>
                      <a:endParaRPr lang="en-US" u="sng"/>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450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254312">
                <a:tc vMerge="1">
                  <a:txBody>
                    <a:bodyPr/>
                    <a:lstStyle/>
                    <a:p>
                      <a:pPr algn="ctr" fontAlgn="base">
                        <a:lnSpc>
                          <a:spcPts val="1425"/>
                        </a:lnSpc>
                        <a:buNone/>
                      </a:pP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1218621" rtl="0" eaLnBrk="1" fontAlgn="base" latinLnBrk="0" hangingPunct="1">
                        <a:lnSpc>
                          <a:spcPts val="1200"/>
                        </a:lnSpc>
                        <a:spcBef>
                          <a:spcPts val="0"/>
                        </a:spcBef>
                        <a:spcAft>
                          <a:spcPts val="0"/>
                        </a:spcAft>
                        <a:buClrTx/>
                        <a:buSzTx/>
                        <a:buFontTx/>
                        <a:buNone/>
                        <a:tabLst/>
                        <a:defRPr/>
                      </a:pPr>
                      <a:r>
                        <a:rPr lang="en-US" sz="900" b="0" i="0" u="none" strike="sngStrike" kern="1200" baseline="0">
                          <a:solidFill>
                            <a:srgbClr val="000000"/>
                          </a:solidFill>
                          <a:effectLst/>
                          <a:latin typeface="Arial" panose="020B0604020202020204" pitchFamily="34" charset="0"/>
                          <a:ea typeface="+mn-ea"/>
                          <a:cs typeface="+mn-cs"/>
                        </a:rPr>
                        <a:t>Service Revenue – </a:t>
                      </a:r>
                      <a:r>
                        <a:rPr lang="en-US" altLang="zh-CN" sz="900" b="0" i="0" u="none" strike="sngStrike" kern="1200" baseline="0">
                          <a:solidFill>
                            <a:srgbClr val="000000"/>
                          </a:solidFill>
                          <a:effectLst/>
                          <a:latin typeface="Arial" panose="020B0604020202020204" pitchFamily="34" charset="0"/>
                          <a:ea typeface="+mn-ea"/>
                          <a:cs typeface="+mn-cs"/>
                        </a:rPr>
                        <a:t>applicable for swap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sngStrike" kern="1200" baseline="0">
                          <a:solidFill>
                            <a:srgbClr val="000000"/>
                          </a:solidFill>
                          <a:effectLst/>
                          <a:latin typeface="Arial" panose="020B0604020202020204" pitchFamily="34" charset="0"/>
                          <a:ea typeface="+mn-ea"/>
                          <a:cs typeface="+mn-cs"/>
                        </a:rPr>
                        <a:t>150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1218621" rtl="0" eaLnBrk="1" fontAlgn="base" latinLnBrk="0" hangingPunct="1">
                        <a:lnSpc>
                          <a:spcPts val="1200"/>
                        </a:lnSpc>
                        <a:spcBef>
                          <a:spcPts val="0"/>
                        </a:spcBef>
                        <a:spcAft>
                          <a:spcPts val="0"/>
                        </a:spcAft>
                        <a:buClrTx/>
                        <a:buSzTx/>
                        <a:buFontTx/>
                        <a:buNone/>
                        <a:tabLst/>
                        <a:defRPr/>
                      </a:pPr>
                      <a:r>
                        <a:rPr lang="en-US" altLang="zh-CN" sz="900" b="0" i="0" u="none" strike="sngStrike" kern="1200" baseline="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6145507"/>
                  </a:ext>
                </a:extLst>
              </a:tr>
            </a:tbl>
          </a:graphicData>
        </a:graphic>
      </p:graphicFrame>
      <p:sp>
        <p:nvSpPr>
          <p:cNvPr id="21" name="Rectangle 1">
            <a:extLst>
              <a:ext uri="{FF2B5EF4-FFF2-40B4-BE49-F238E27FC236}">
                <a16:creationId xmlns:a16="http://schemas.microsoft.com/office/drawing/2014/main" id="{4823ABD4-C89F-C23B-0895-EF693F432FDD}"/>
              </a:ext>
            </a:extLst>
          </p:cNvPr>
          <p:cNvSpPr/>
          <p:nvPr/>
        </p:nvSpPr>
        <p:spPr>
          <a:xfrm>
            <a:off x="6181823" y="4428265"/>
            <a:ext cx="5610229" cy="1885238"/>
          </a:xfrm>
          <a:prstGeom prst="rect">
            <a:avLst/>
          </a:prstGeom>
          <a:noFill/>
          <a:ln w="9525" cap="flat" cmpd="sng" algn="ctr">
            <a:solidFill>
              <a:srgbClr val="FF0000"/>
            </a:solid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endParaRPr lang="en-US" sz="900" kern="0">
              <a:solidFill>
                <a:sysClr val="windowText" lastClr="000000"/>
              </a:solidFill>
              <a:latin typeface="Calibri"/>
            </a:endParaRPr>
          </a:p>
        </p:txBody>
      </p:sp>
      <p:graphicFrame>
        <p:nvGraphicFramePr>
          <p:cNvPr id="23" name="表格 22">
            <a:extLst>
              <a:ext uri="{FF2B5EF4-FFF2-40B4-BE49-F238E27FC236}">
                <a16:creationId xmlns:a16="http://schemas.microsoft.com/office/drawing/2014/main" id="{752BF30F-C004-9188-A219-715087DC7C35}"/>
              </a:ext>
            </a:extLst>
          </p:cNvPr>
          <p:cNvGraphicFramePr>
            <a:graphicFrameLocks noGrp="1"/>
          </p:cNvGraphicFramePr>
          <p:nvPr>
            <p:extLst>
              <p:ext uri="{D42A27DB-BD31-4B8C-83A1-F6EECF244321}">
                <p14:modId xmlns:p14="http://schemas.microsoft.com/office/powerpoint/2010/main" val="2692666382"/>
              </p:ext>
            </p:extLst>
          </p:nvPr>
        </p:nvGraphicFramePr>
        <p:xfrm>
          <a:off x="143236" y="5323215"/>
          <a:ext cx="5479929" cy="1028659"/>
        </p:xfrm>
        <a:graphic>
          <a:graphicData uri="http://schemas.openxmlformats.org/drawingml/2006/table">
            <a:tbl>
              <a:tblPr/>
              <a:tblGrid>
                <a:gridCol w="482777">
                  <a:extLst>
                    <a:ext uri="{9D8B030D-6E8A-4147-A177-3AD203B41FA5}">
                      <a16:colId xmlns:a16="http://schemas.microsoft.com/office/drawing/2014/main" val="495084399"/>
                    </a:ext>
                  </a:extLst>
                </a:gridCol>
                <a:gridCol w="309490">
                  <a:extLst>
                    <a:ext uri="{9D8B030D-6E8A-4147-A177-3AD203B41FA5}">
                      <a16:colId xmlns:a16="http://schemas.microsoft.com/office/drawing/2014/main" val="3614210242"/>
                    </a:ext>
                  </a:extLst>
                </a:gridCol>
                <a:gridCol w="569741">
                  <a:extLst>
                    <a:ext uri="{9D8B030D-6E8A-4147-A177-3AD203B41FA5}">
                      <a16:colId xmlns:a16="http://schemas.microsoft.com/office/drawing/2014/main" val="1442124609"/>
                    </a:ext>
                  </a:extLst>
                </a:gridCol>
                <a:gridCol w="1673183">
                  <a:extLst>
                    <a:ext uri="{9D8B030D-6E8A-4147-A177-3AD203B41FA5}">
                      <a16:colId xmlns:a16="http://schemas.microsoft.com/office/drawing/2014/main" val="3603859997"/>
                    </a:ext>
                  </a:extLst>
                </a:gridCol>
                <a:gridCol w="229950">
                  <a:extLst>
                    <a:ext uri="{9D8B030D-6E8A-4147-A177-3AD203B41FA5}">
                      <a16:colId xmlns:a16="http://schemas.microsoft.com/office/drawing/2014/main" val="4076488391"/>
                    </a:ext>
                  </a:extLst>
                </a:gridCol>
                <a:gridCol w="306239">
                  <a:extLst>
                    <a:ext uri="{9D8B030D-6E8A-4147-A177-3AD203B41FA5}">
                      <a16:colId xmlns:a16="http://schemas.microsoft.com/office/drawing/2014/main" val="3254101706"/>
                    </a:ext>
                  </a:extLst>
                </a:gridCol>
                <a:gridCol w="406764">
                  <a:extLst>
                    <a:ext uri="{9D8B030D-6E8A-4147-A177-3AD203B41FA5}">
                      <a16:colId xmlns:a16="http://schemas.microsoft.com/office/drawing/2014/main" val="3712391277"/>
                    </a:ext>
                  </a:extLst>
                </a:gridCol>
                <a:gridCol w="314318">
                  <a:extLst>
                    <a:ext uri="{9D8B030D-6E8A-4147-A177-3AD203B41FA5}">
                      <a16:colId xmlns:a16="http://schemas.microsoft.com/office/drawing/2014/main" val="1461470061"/>
                    </a:ext>
                  </a:extLst>
                </a:gridCol>
                <a:gridCol w="332807">
                  <a:extLst>
                    <a:ext uri="{9D8B030D-6E8A-4147-A177-3AD203B41FA5}">
                      <a16:colId xmlns:a16="http://schemas.microsoft.com/office/drawing/2014/main" val="2527660299"/>
                    </a:ext>
                  </a:extLst>
                </a:gridCol>
                <a:gridCol w="468394">
                  <a:extLst>
                    <a:ext uri="{9D8B030D-6E8A-4147-A177-3AD203B41FA5}">
                      <a16:colId xmlns:a16="http://schemas.microsoft.com/office/drawing/2014/main" val="3641075278"/>
                    </a:ext>
                  </a:extLst>
                </a:gridCol>
                <a:gridCol w="386266">
                  <a:extLst>
                    <a:ext uri="{9D8B030D-6E8A-4147-A177-3AD203B41FA5}">
                      <a16:colId xmlns:a16="http://schemas.microsoft.com/office/drawing/2014/main" val="3618613915"/>
                    </a:ext>
                  </a:extLst>
                </a:gridCol>
              </a:tblGrid>
              <a:tr h="152787">
                <a:tc rowSpan="4">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Offset against LT AR for funded premier support (upon ET billing)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80730">
                <a:tc vMerge="1">
                  <a:txBody>
                    <a:bodyPr/>
                    <a:lstStyle/>
                    <a:p>
                      <a:endParaRPr lang="zh-CN" altLang="en-US"/>
                    </a:p>
                  </a:txBody>
                  <a:tcPr>
                    <a:lnT w="6350" cap="flat" cmpd="sng" algn="ctr">
                      <a:solidFill>
                        <a:srgbClr val="D9D9D9"/>
                      </a:solidFill>
                      <a:prstDash val="solid"/>
                      <a:round/>
                      <a:headEnd type="none" w="med" len="med"/>
                      <a:tailEnd type="none" w="med" len="med"/>
                    </a:lnT>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5142">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4038309671"/>
                  </a:ext>
                </a:extLst>
              </a:tr>
              <a:tr h="15514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150</a:t>
                      </a:r>
                    </a:p>
                  </a:txBody>
                  <a:tcPr marL="0" marR="0" marT="0" marB="0" anchor="b">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213206944"/>
                  </a:ext>
                </a:extLst>
              </a:tr>
            </a:tbl>
          </a:graphicData>
        </a:graphic>
      </p:graphicFrame>
      <p:graphicFrame>
        <p:nvGraphicFramePr>
          <p:cNvPr id="24" name="表格 23">
            <a:extLst>
              <a:ext uri="{FF2B5EF4-FFF2-40B4-BE49-F238E27FC236}">
                <a16:creationId xmlns:a16="http://schemas.microsoft.com/office/drawing/2014/main" id="{2706691A-9925-F539-C659-1BCF847EB177}"/>
              </a:ext>
            </a:extLst>
          </p:cNvPr>
          <p:cNvGraphicFramePr>
            <a:graphicFrameLocks noGrp="1"/>
          </p:cNvGraphicFramePr>
          <p:nvPr>
            <p:extLst>
              <p:ext uri="{D42A27DB-BD31-4B8C-83A1-F6EECF244321}">
                <p14:modId xmlns:p14="http://schemas.microsoft.com/office/powerpoint/2010/main" val="4007323887"/>
              </p:ext>
            </p:extLst>
          </p:nvPr>
        </p:nvGraphicFramePr>
        <p:xfrm>
          <a:off x="143235" y="3259683"/>
          <a:ext cx="5479930" cy="938462"/>
        </p:xfrm>
        <a:graphic>
          <a:graphicData uri="http://schemas.openxmlformats.org/drawingml/2006/table">
            <a:tbl>
              <a:tblPr/>
              <a:tblGrid>
                <a:gridCol w="491358">
                  <a:extLst>
                    <a:ext uri="{9D8B030D-6E8A-4147-A177-3AD203B41FA5}">
                      <a16:colId xmlns:a16="http://schemas.microsoft.com/office/drawing/2014/main" val="495084399"/>
                    </a:ext>
                  </a:extLst>
                </a:gridCol>
                <a:gridCol w="309089">
                  <a:extLst>
                    <a:ext uri="{9D8B030D-6E8A-4147-A177-3AD203B41FA5}">
                      <a16:colId xmlns:a16="http://schemas.microsoft.com/office/drawing/2014/main" val="3614210242"/>
                    </a:ext>
                  </a:extLst>
                </a:gridCol>
                <a:gridCol w="579536">
                  <a:extLst>
                    <a:ext uri="{9D8B030D-6E8A-4147-A177-3AD203B41FA5}">
                      <a16:colId xmlns:a16="http://schemas.microsoft.com/office/drawing/2014/main" val="1442124609"/>
                    </a:ext>
                  </a:extLst>
                </a:gridCol>
                <a:gridCol w="1512540">
                  <a:extLst>
                    <a:ext uri="{9D8B030D-6E8A-4147-A177-3AD203B41FA5}">
                      <a16:colId xmlns:a16="http://schemas.microsoft.com/office/drawing/2014/main" val="3603859997"/>
                    </a:ext>
                  </a:extLst>
                </a:gridCol>
                <a:gridCol w="302508">
                  <a:extLst>
                    <a:ext uri="{9D8B030D-6E8A-4147-A177-3AD203B41FA5}">
                      <a16:colId xmlns:a16="http://schemas.microsoft.com/office/drawing/2014/main" val="4076488391"/>
                    </a:ext>
                  </a:extLst>
                </a:gridCol>
                <a:gridCol w="296071">
                  <a:extLst>
                    <a:ext uri="{9D8B030D-6E8A-4147-A177-3AD203B41FA5}">
                      <a16:colId xmlns:a16="http://schemas.microsoft.com/office/drawing/2014/main" val="3254101706"/>
                    </a:ext>
                  </a:extLst>
                </a:gridCol>
                <a:gridCol w="449368">
                  <a:extLst>
                    <a:ext uri="{9D8B030D-6E8A-4147-A177-3AD203B41FA5}">
                      <a16:colId xmlns:a16="http://schemas.microsoft.com/office/drawing/2014/main" val="3712391277"/>
                    </a:ext>
                  </a:extLst>
                </a:gridCol>
                <a:gridCol w="314011">
                  <a:extLst>
                    <a:ext uri="{9D8B030D-6E8A-4147-A177-3AD203B41FA5}">
                      <a16:colId xmlns:a16="http://schemas.microsoft.com/office/drawing/2014/main" val="2728947310"/>
                    </a:ext>
                  </a:extLst>
                </a:gridCol>
                <a:gridCol w="370372">
                  <a:extLst>
                    <a:ext uri="{9D8B030D-6E8A-4147-A177-3AD203B41FA5}">
                      <a16:colId xmlns:a16="http://schemas.microsoft.com/office/drawing/2014/main" val="2527660299"/>
                    </a:ext>
                  </a:extLst>
                </a:gridCol>
                <a:gridCol w="442836">
                  <a:extLst>
                    <a:ext uri="{9D8B030D-6E8A-4147-A177-3AD203B41FA5}">
                      <a16:colId xmlns:a16="http://schemas.microsoft.com/office/drawing/2014/main" val="3641075278"/>
                    </a:ext>
                  </a:extLst>
                </a:gridCol>
                <a:gridCol w="412241">
                  <a:extLst>
                    <a:ext uri="{9D8B030D-6E8A-4147-A177-3AD203B41FA5}">
                      <a16:colId xmlns:a16="http://schemas.microsoft.com/office/drawing/2014/main" val="3618613915"/>
                    </a:ext>
                  </a:extLst>
                </a:gridCol>
              </a:tblGrid>
              <a:tr h="158453">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Recognition of End of Lease Services Revenue</a:t>
                      </a:r>
                      <a:r>
                        <a:rPr lang="en-US" altLang="zh-CN" sz="800" b="1" i="0">
                          <a:solidFill>
                            <a:srgbClr val="FFFFFF"/>
                          </a:solidFill>
                          <a:effectLst/>
                          <a:latin typeface="Arial" panose="020B0604020202020204" pitchFamily="34" charset="0"/>
                        </a:rPr>
                        <a:t>​</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0896">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Service completed</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0896">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089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81813737"/>
                  </a:ext>
                </a:extLst>
              </a:tr>
              <a:tr h="16089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72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3455902"/>
                  </a:ext>
                </a:extLst>
              </a:tr>
            </a:tbl>
          </a:graphicData>
        </a:graphic>
      </p:graphicFrame>
      <p:sp>
        <p:nvSpPr>
          <p:cNvPr id="25" name="对话气泡: 矩形 24">
            <a:extLst>
              <a:ext uri="{FF2B5EF4-FFF2-40B4-BE49-F238E27FC236}">
                <a16:creationId xmlns:a16="http://schemas.microsoft.com/office/drawing/2014/main" id="{53641A67-82BD-ED70-2B8F-5890F45B0CFE}"/>
              </a:ext>
            </a:extLst>
          </p:cNvPr>
          <p:cNvSpPr/>
          <p:nvPr/>
        </p:nvSpPr>
        <p:spPr>
          <a:xfrm>
            <a:off x="476261" y="4317853"/>
            <a:ext cx="5061966" cy="466661"/>
          </a:xfrm>
          <a:prstGeom prst="wedgeRectCallout">
            <a:avLst>
              <a:gd name="adj1" fmla="val 55214"/>
              <a:gd name="adj2" fmla="val -148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For early termination, the proportion of overbilled shall be reclassified from deferred revenue to corresponding immediate revenue</a:t>
            </a:r>
          </a:p>
        </p:txBody>
      </p:sp>
      <p:sp>
        <p:nvSpPr>
          <p:cNvPr id="2" name="对话气泡: 矩形 1">
            <a:extLst>
              <a:ext uri="{FF2B5EF4-FFF2-40B4-BE49-F238E27FC236}">
                <a16:creationId xmlns:a16="http://schemas.microsoft.com/office/drawing/2014/main" id="{EE85121D-A143-09BB-CB0F-77C6C4CFD6E4}"/>
              </a:ext>
            </a:extLst>
          </p:cNvPr>
          <p:cNvSpPr/>
          <p:nvPr/>
        </p:nvSpPr>
        <p:spPr>
          <a:xfrm>
            <a:off x="476261" y="4844369"/>
            <a:ext cx="5061966" cy="346610"/>
          </a:xfrm>
          <a:prstGeom prst="wedgeRectCallout">
            <a:avLst>
              <a:gd name="adj1" fmla="val -28020"/>
              <a:gd name="adj2" fmla="val 67847"/>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Odessa trigger the setoff with LTAR at end of ET billing issuance month</a:t>
            </a:r>
          </a:p>
        </p:txBody>
      </p:sp>
      <p:sp>
        <p:nvSpPr>
          <p:cNvPr id="3" name="Slide Number Placeholder 4">
            <a:extLst>
              <a:ext uri="{FF2B5EF4-FFF2-40B4-BE49-F238E27FC236}">
                <a16:creationId xmlns:a16="http://schemas.microsoft.com/office/drawing/2014/main" id="{5CAE636B-F477-530E-8D03-B03E7930FD8C}"/>
              </a:ext>
            </a:extLst>
          </p:cNvPr>
          <p:cNvSpPr txBox="1">
            <a:spLocks/>
          </p:cNvSpPr>
          <p:nvPr/>
        </p:nvSpPr>
        <p:spPr>
          <a:xfrm>
            <a:off x="11752263" y="6400801"/>
            <a:ext cx="438150" cy="155575"/>
          </a:xfrm>
          <a:prstGeom prst="rect">
            <a:avLst/>
          </a:prstGeom>
        </p:spPr>
        <p:txBody>
          <a:bodyPr vert="horz" lIns="0" tIns="0" rIns="0" bIns="0" rtlCol="0" anchor="ct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167</a:t>
            </a:fld>
            <a:endParaRPr lang="en-US">
              <a:solidFill>
                <a:srgbClr val="000000"/>
              </a:solidFill>
            </a:endParaRPr>
          </a:p>
        </p:txBody>
      </p:sp>
      <p:sp>
        <p:nvSpPr>
          <p:cNvPr id="6" name="Flowchart: Process 5">
            <a:extLst>
              <a:ext uri="{FF2B5EF4-FFF2-40B4-BE49-F238E27FC236}">
                <a16:creationId xmlns:a16="http://schemas.microsoft.com/office/drawing/2014/main" id="{460F8DD3-0CB6-D25C-D994-3A3FC907573A}"/>
              </a:ext>
            </a:extLst>
          </p:cNvPr>
          <p:cNvSpPr/>
          <p:nvPr/>
        </p:nvSpPr>
        <p:spPr>
          <a:xfrm>
            <a:off x="5752759" y="3877432"/>
            <a:ext cx="6039293" cy="2436072"/>
          </a:xfrm>
          <a:prstGeom prst="flowChartProcess">
            <a:avLst/>
          </a:prstGeom>
          <a:solidFill>
            <a:srgbClr val="D9D9D9">
              <a:alpha val="79000"/>
            </a:srgb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en-US" sz="1200" b="1">
              <a:solidFill>
                <a:schemeClr val="tx1"/>
              </a:solidFill>
              <a:highlight>
                <a:srgbClr val="D9D9D9"/>
              </a:highlight>
              <a:latin typeface="Tenorite" panose="00000500000000000000" pitchFamily="2" charset="0"/>
            </a:endParaRPr>
          </a:p>
        </p:txBody>
      </p:sp>
      <p:sp>
        <p:nvSpPr>
          <p:cNvPr id="9" name="Flowchart: Process 8">
            <a:extLst>
              <a:ext uri="{FF2B5EF4-FFF2-40B4-BE49-F238E27FC236}">
                <a16:creationId xmlns:a16="http://schemas.microsoft.com/office/drawing/2014/main" id="{CEB560C3-F465-B330-C943-87D3AFF24617}"/>
              </a:ext>
            </a:extLst>
          </p:cNvPr>
          <p:cNvSpPr/>
          <p:nvPr/>
        </p:nvSpPr>
        <p:spPr>
          <a:xfrm>
            <a:off x="476261" y="4326876"/>
            <a:ext cx="5211701" cy="457637"/>
          </a:xfrm>
          <a:prstGeom prst="flowChartProcess">
            <a:avLst/>
          </a:prstGeom>
          <a:solidFill>
            <a:srgbClr val="D9D9D9">
              <a:alpha val="79000"/>
            </a:srgbClr>
          </a:solidFill>
          <a:ln w="6350">
            <a:solidFill>
              <a:schemeClr val="tx1"/>
            </a:solidFill>
          </a:ln>
        </p:spPr>
        <p:style>
          <a:lnRef idx="0">
            <a:scrgbClr r="0" g="0" b="0"/>
          </a:lnRef>
          <a:fillRef idx="0">
            <a:scrgbClr r="0" g="0" b="0"/>
          </a:fillRef>
          <a:effectRef idx="0">
            <a:scrgbClr r="0" g="0" b="0"/>
          </a:effectRef>
          <a:fontRef idx="minor">
            <a:schemeClr val="lt1"/>
          </a:fontRef>
        </p:style>
        <p:txBody>
          <a:bodyPr lIns="0" tIns="0" rIns="0" bIns="0" rtlCol="0" anchor="ctr"/>
          <a:lstStyle/>
          <a:p>
            <a:pPr algn="ctr"/>
            <a:endParaRPr lang="en-US" sz="1200" b="1">
              <a:solidFill>
                <a:schemeClr val="tx1"/>
              </a:solidFill>
              <a:highlight>
                <a:srgbClr val="D9D9D9"/>
              </a:highlight>
              <a:latin typeface="Tenorite" panose="00000500000000000000" pitchFamily="2" charset="0"/>
            </a:endParaRPr>
          </a:p>
        </p:txBody>
      </p:sp>
    </p:spTree>
    <p:extLst>
      <p:ext uri="{BB962C8B-B14F-4D97-AF65-F5344CB8AC3E}">
        <p14:creationId xmlns:p14="http://schemas.microsoft.com/office/powerpoint/2010/main" val="4275982484"/>
      </p:ext>
    </p:extLst>
  </p:cSld>
  <p:clrMapOvr>
    <a:masterClrMapping/>
  </p:clrMapOvr>
  <p:transition spd="med"/>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B66261-5660-D0DC-1214-DA4B96F12246}"/>
            </a:ext>
          </a:extLst>
        </p:cNvPr>
        <p:cNvGrpSpPr/>
        <p:nvPr/>
      </p:nvGrpSpPr>
      <p:grpSpPr>
        <a:xfrm>
          <a:off x="0" y="0"/>
          <a:ext cx="0" cy="0"/>
          <a:chOff x="0" y="0"/>
          <a:chExt cx="0" cy="0"/>
        </a:xfrm>
      </p:grpSpPr>
      <p:sp>
        <p:nvSpPr>
          <p:cNvPr id="5" name="Title 1">
            <a:extLst>
              <a:ext uri="{FF2B5EF4-FFF2-40B4-BE49-F238E27FC236}">
                <a16:creationId xmlns:a16="http://schemas.microsoft.com/office/drawing/2014/main" id="{F81D28D9-74EB-411B-3772-5CF0A895A59E}"/>
              </a:ext>
            </a:extLst>
          </p:cNvPr>
          <p:cNvSpPr txBox="1">
            <a:spLocks/>
          </p:cNvSpPr>
          <p:nvPr/>
        </p:nvSpPr>
        <p:spPr>
          <a:xfrm>
            <a:off x="174104" y="133355"/>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2800"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Advanced Billing– F&amp;A key Scope and Assumptions</a:t>
            </a:r>
          </a:p>
        </p:txBody>
      </p:sp>
      <p:graphicFrame>
        <p:nvGraphicFramePr>
          <p:cNvPr id="6" name="Table 5">
            <a:extLst>
              <a:ext uri="{FF2B5EF4-FFF2-40B4-BE49-F238E27FC236}">
                <a16:creationId xmlns:a16="http://schemas.microsoft.com/office/drawing/2014/main" id="{56252694-49BD-F2AB-82AB-FE926316CD5B}"/>
              </a:ext>
            </a:extLst>
          </p:cNvPr>
          <p:cNvGraphicFramePr>
            <a:graphicFrameLocks noGrp="1"/>
          </p:cNvGraphicFramePr>
          <p:nvPr>
            <p:extLst>
              <p:ext uri="{D42A27DB-BD31-4B8C-83A1-F6EECF244321}">
                <p14:modId xmlns:p14="http://schemas.microsoft.com/office/powerpoint/2010/main" val="1261458460"/>
              </p:ext>
            </p:extLst>
          </p:nvPr>
        </p:nvGraphicFramePr>
        <p:xfrm>
          <a:off x="839894" y="1083415"/>
          <a:ext cx="11088683" cy="3321285"/>
        </p:xfrm>
        <a:graphic>
          <a:graphicData uri="http://schemas.openxmlformats.org/drawingml/2006/table">
            <a:tbl>
              <a:tblPr firstRow="1" bandRow="1">
                <a:tableStyleId>{5C22544A-7EE6-4342-B048-85BDC9FD1C3A}</a:tableStyleId>
              </a:tblPr>
              <a:tblGrid>
                <a:gridCol w="694138">
                  <a:extLst>
                    <a:ext uri="{9D8B030D-6E8A-4147-A177-3AD203B41FA5}">
                      <a16:colId xmlns:a16="http://schemas.microsoft.com/office/drawing/2014/main" val="590487580"/>
                    </a:ext>
                  </a:extLst>
                </a:gridCol>
                <a:gridCol w="1263355">
                  <a:extLst>
                    <a:ext uri="{9D8B030D-6E8A-4147-A177-3AD203B41FA5}">
                      <a16:colId xmlns:a16="http://schemas.microsoft.com/office/drawing/2014/main" val="3195040165"/>
                    </a:ext>
                  </a:extLst>
                </a:gridCol>
                <a:gridCol w="9131190">
                  <a:extLst>
                    <a:ext uri="{9D8B030D-6E8A-4147-A177-3AD203B41FA5}">
                      <a16:colId xmlns:a16="http://schemas.microsoft.com/office/drawing/2014/main" val="3020975192"/>
                    </a:ext>
                  </a:extLst>
                </a:gridCol>
              </a:tblGrid>
              <a:tr h="437868">
                <a:tc>
                  <a:txBody>
                    <a:bodyPr/>
                    <a:lstStyle/>
                    <a:p>
                      <a:pPr algn="ctr"/>
                      <a:r>
                        <a:rPr lang="en-US" sz="1400"/>
                        <a:t>No</a:t>
                      </a:r>
                    </a:p>
                  </a:txBody>
                  <a:tcPr anchor="ctr"/>
                </a:tc>
                <a:tc>
                  <a:txBody>
                    <a:bodyPr/>
                    <a:lstStyle/>
                    <a:p>
                      <a:r>
                        <a:rPr lang="en-US" sz="1400"/>
                        <a:t>C</a:t>
                      </a:r>
                      <a:r>
                        <a:rPr lang="en-US" altLang="zh-CN" sz="1400"/>
                        <a:t>ategory</a:t>
                      </a:r>
                      <a:endParaRPr lang="en-US" sz="1400"/>
                    </a:p>
                  </a:txBody>
                  <a:tcPr anchor="ctr"/>
                </a:tc>
                <a:tc>
                  <a:txBody>
                    <a:bodyPr/>
                    <a:lstStyle/>
                    <a:p>
                      <a:r>
                        <a:rPr lang="en-US" sz="1400"/>
                        <a:t>Description</a:t>
                      </a:r>
                    </a:p>
                  </a:txBody>
                  <a:tcPr anchor="ctr"/>
                </a:tc>
                <a:extLst>
                  <a:ext uri="{0D108BD9-81ED-4DB2-BD59-A6C34878D82A}">
                    <a16:rowId xmlns:a16="http://schemas.microsoft.com/office/drawing/2014/main" val="3093137312"/>
                  </a:ext>
                </a:extLst>
              </a:tr>
              <a:tr h="1221917">
                <a:tc>
                  <a:txBody>
                    <a:bodyPr/>
                    <a:lstStyle/>
                    <a:p>
                      <a:pPr algn="ctr"/>
                      <a:r>
                        <a:rPr lang="en-US" sz="1400"/>
                        <a:t>1</a:t>
                      </a:r>
                    </a:p>
                  </a:txBody>
                  <a:tcPr anchor="ctr"/>
                </a:tc>
                <a:tc>
                  <a:txBody>
                    <a:bodyPr/>
                    <a:lstStyle/>
                    <a:p>
                      <a:r>
                        <a:rPr lang="en-US" sz="1400"/>
                        <a:t>Scope</a:t>
                      </a:r>
                    </a:p>
                  </a:txBody>
                  <a:tcPr anchor="ctr"/>
                </a:tc>
                <a:tc>
                  <a:txBody>
                    <a:bodyPr/>
                    <a:lstStyle/>
                    <a:p>
                      <a:pPr marL="171450" indent="-171450">
                        <a:buFont typeface="Arial" panose="020B0604020202020204" pitchFamily="34" charset="0"/>
                        <a:buChar char="•"/>
                      </a:pPr>
                      <a:r>
                        <a:rPr lang="en-US" sz="1400"/>
                        <a:t>Countries: as-is EAAS enabled AP/EMEA/NA countries, LA will be considered along with EAAS rollout</a:t>
                      </a:r>
                    </a:p>
                    <a:p>
                      <a:pPr marL="171450" indent="-171450">
                        <a:buFont typeface="Arial" panose="020B0604020202020204" pitchFamily="34" charset="0"/>
                        <a:buChar char="•"/>
                      </a:pPr>
                      <a:r>
                        <a:rPr lang="en-US" sz="1400" strike="noStrike"/>
                        <a:t>Model: S&amp;D/AFE/AFE Hub/Central Billing</a:t>
                      </a:r>
                    </a:p>
                    <a:p>
                      <a:pPr marL="171450" indent="-171450">
                        <a:buFont typeface="Arial" panose="020B0604020202020204" pitchFamily="34" charset="0"/>
                        <a:buChar char="•"/>
                      </a:pPr>
                      <a:r>
                        <a:rPr lang="en-US" sz="1400" strike="noStrike"/>
                        <a:t>Offering: DaaS/IaaS/ISGLEASE/Managed Capex</a:t>
                      </a:r>
                    </a:p>
                    <a:p>
                      <a:pPr marL="171450" indent="-171450">
                        <a:buFont typeface="Arial" panose="020B0604020202020204" pitchFamily="34" charset="0"/>
                        <a:buChar char="•"/>
                      </a:pPr>
                      <a:r>
                        <a:rPr lang="en-US" altLang="zh-CN" sz="1400" strike="noStrike"/>
                        <a:t>Contract: MLA/MSA</a:t>
                      </a:r>
                    </a:p>
                    <a:p>
                      <a:pPr marL="171450" indent="-171450">
                        <a:buFont typeface="Arial" panose="020B0604020202020204" pitchFamily="34" charset="0"/>
                        <a:buChar char="•"/>
                      </a:pPr>
                      <a:r>
                        <a:rPr lang="en-US" sz="1400" strike="noStrike"/>
                        <a:t>Scenario: Recurringly charged invoices with billing plan</a:t>
                      </a:r>
                    </a:p>
                  </a:txBody>
                  <a:tcPr anchor="ctr"/>
                </a:tc>
                <a:extLst>
                  <a:ext uri="{0D108BD9-81ED-4DB2-BD59-A6C34878D82A}">
                    <a16:rowId xmlns:a16="http://schemas.microsoft.com/office/drawing/2014/main" val="4079242787"/>
                  </a:ext>
                </a:extLst>
              </a:tr>
              <a:tr h="437868">
                <a:tc>
                  <a:txBody>
                    <a:bodyPr/>
                    <a:lstStyle/>
                    <a:p>
                      <a:pPr algn="ctr"/>
                      <a:r>
                        <a:rPr lang="en-US" sz="1400"/>
                        <a:t>2</a:t>
                      </a:r>
                    </a:p>
                  </a:txBody>
                  <a:tcPr anchor="ct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a:ln>
                            <a:noFill/>
                          </a:ln>
                          <a:solidFill>
                            <a:prstClr val="black"/>
                          </a:solidFill>
                          <a:effectLst/>
                          <a:uLnTx/>
                          <a:uFillTx/>
                          <a:latin typeface="+mn-lt"/>
                          <a:ea typeface="+mn-ea"/>
                          <a:cs typeface="+mn-cs"/>
                        </a:rPr>
                        <a:t>Assumption</a:t>
                      </a:r>
                      <a:endParaRPr kumimoji="0" lang="en-US" sz="1400" b="0" i="0" u="none" strike="noStrike" kern="1200" cap="none" spc="0" normalizeH="0" baseline="0">
                        <a:ln>
                          <a:noFill/>
                        </a:ln>
                        <a:solidFill>
                          <a:prstClr val="black"/>
                        </a:solidFill>
                        <a:effectLst/>
                        <a:uLnTx/>
                        <a:uFillTx/>
                        <a:latin typeface="+mn-lt"/>
                        <a:ea typeface="+mn-ea"/>
                        <a:cs typeface="+mn-cs"/>
                      </a:endParaRPr>
                    </a:p>
                  </a:txBody>
                  <a:tcPr anchor="ct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a:ln>
                            <a:noFill/>
                          </a:ln>
                          <a:solidFill>
                            <a:prstClr val="black"/>
                          </a:solidFill>
                          <a:effectLst/>
                          <a:uLnTx/>
                          <a:uFillTx/>
                          <a:latin typeface="+mn-lt"/>
                          <a:ea typeface="+mn-ea"/>
                          <a:cs typeface="+mn-cs"/>
                        </a:rPr>
                        <a:t>All assumptions from the as-is scenario BSR </a:t>
                      </a:r>
                      <a:r>
                        <a:rPr kumimoji="0" lang="en-US" altLang="zh-CN" sz="1400" b="0" i="0" u="none" strike="noStrike" kern="1200" cap="none" spc="0" normalizeH="0" baseline="0">
                          <a:ln>
                            <a:noFill/>
                          </a:ln>
                          <a:solidFill>
                            <a:prstClr val="black"/>
                          </a:solidFill>
                          <a:effectLst/>
                          <a:uLnTx/>
                          <a:uFillTx/>
                          <a:latin typeface="+mn-lt"/>
                          <a:ea typeface="+mn-ea"/>
                          <a:cs typeface="+mn-cs"/>
                        </a:rPr>
                        <a:t>session </a:t>
                      </a:r>
                      <a:r>
                        <a:rPr kumimoji="0" lang="en-US" sz="1400" b="0" i="0" u="none" strike="noStrike" kern="1200" cap="none" spc="0" normalizeH="0" baseline="0">
                          <a:ln>
                            <a:noFill/>
                          </a:ln>
                          <a:solidFill>
                            <a:prstClr val="black"/>
                          </a:solidFill>
                          <a:effectLst/>
                          <a:uLnTx/>
                          <a:uFillTx/>
                          <a:latin typeface="+mn-lt"/>
                          <a:ea typeface="+mn-ea"/>
                          <a:cs typeface="+mn-cs"/>
                        </a:rPr>
                        <a:t>shall be followed.</a:t>
                      </a:r>
                    </a:p>
                  </a:txBody>
                  <a:tcPr anchor="ctr"/>
                </a:tc>
                <a:extLst>
                  <a:ext uri="{0D108BD9-81ED-4DB2-BD59-A6C34878D82A}">
                    <a16:rowId xmlns:a16="http://schemas.microsoft.com/office/drawing/2014/main" val="276218728"/>
                  </a:ext>
                </a:extLst>
              </a:tr>
              <a:tr h="611816">
                <a:tc>
                  <a:txBody>
                    <a:bodyPr/>
                    <a:lstStyle/>
                    <a:p>
                      <a:pPr algn="ctr"/>
                      <a:r>
                        <a:rPr lang="en-US" sz="1400"/>
                        <a:t>3</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a:ln>
                            <a:noFill/>
                          </a:ln>
                          <a:solidFill>
                            <a:prstClr val="black"/>
                          </a:solidFill>
                          <a:effectLst/>
                          <a:uLnTx/>
                          <a:uFillTx/>
                          <a:latin typeface="+mn-lt"/>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itchFamily="34" charset="0"/>
                        </a:rPr>
                        <a:t>Separate statement documents for advance-issued invoices of different billing periods</a:t>
                      </a:r>
                    </a:p>
                  </a:txBody>
                  <a:tcPr anchor="ctr"/>
                </a:tc>
                <a:extLst>
                  <a:ext uri="{0D108BD9-81ED-4DB2-BD59-A6C34878D82A}">
                    <a16:rowId xmlns:a16="http://schemas.microsoft.com/office/drawing/2014/main" val="2835529470"/>
                  </a:ext>
                </a:extLst>
              </a:tr>
              <a:tr h="611816">
                <a:tc>
                  <a:txBody>
                    <a:bodyPr/>
                    <a:lstStyle/>
                    <a:p>
                      <a:pPr algn="ctr"/>
                      <a:r>
                        <a:rPr lang="en-US" sz="1400"/>
                        <a:t>4</a:t>
                      </a:r>
                    </a:p>
                  </a:txBody>
                  <a:tcPr anchor="ct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a:ln>
                            <a:noFill/>
                          </a:ln>
                          <a:solidFill>
                            <a:prstClr val="black"/>
                          </a:solidFill>
                          <a:effectLst/>
                          <a:uLnTx/>
                          <a:uFillTx/>
                          <a:latin typeface="+mn-lt"/>
                          <a:ea typeface="+mn-ea"/>
                          <a:cs typeface="+mn-cs"/>
                        </a:rPr>
                        <a:t>Assumption</a:t>
                      </a:r>
                    </a:p>
                  </a:txBody>
                  <a:tcPr anchor="ctr"/>
                </a:tc>
                <a:tc>
                  <a:txBody>
                    <a:bodyPr/>
                    <a:lstStyle>
                      <a:lvl1pPr marL="0" algn="l" defTabSz="1218621" rtl="0" eaLnBrk="1" latinLnBrk="0" hangingPunct="1">
                        <a:defRPr sz="2399" kern="1200">
                          <a:solidFill>
                            <a:schemeClr val="dk1"/>
                          </a:solidFill>
                          <a:latin typeface="Aptos" panose="020B0004020202020204"/>
                        </a:defRPr>
                      </a:lvl1pPr>
                      <a:lvl2pPr marL="609310" algn="l" defTabSz="1218621" rtl="0" eaLnBrk="1" latinLnBrk="0" hangingPunct="1">
                        <a:defRPr sz="2399" kern="1200">
                          <a:solidFill>
                            <a:schemeClr val="dk1"/>
                          </a:solidFill>
                          <a:latin typeface="Aptos" panose="020B0004020202020204"/>
                        </a:defRPr>
                      </a:lvl2pPr>
                      <a:lvl3pPr marL="1218621" algn="l" defTabSz="1218621" rtl="0" eaLnBrk="1" latinLnBrk="0" hangingPunct="1">
                        <a:defRPr sz="2399" kern="1200">
                          <a:solidFill>
                            <a:schemeClr val="dk1"/>
                          </a:solidFill>
                          <a:latin typeface="Aptos" panose="020B0004020202020204"/>
                        </a:defRPr>
                      </a:lvl3pPr>
                      <a:lvl4pPr marL="1827931" algn="l" defTabSz="1218621" rtl="0" eaLnBrk="1" latinLnBrk="0" hangingPunct="1">
                        <a:defRPr sz="2399" kern="1200">
                          <a:solidFill>
                            <a:schemeClr val="dk1"/>
                          </a:solidFill>
                          <a:latin typeface="Aptos" panose="020B0004020202020204"/>
                        </a:defRPr>
                      </a:lvl4pPr>
                      <a:lvl5pPr marL="2437242" algn="l" defTabSz="1218621" rtl="0" eaLnBrk="1" latinLnBrk="0" hangingPunct="1">
                        <a:defRPr sz="2399" kern="1200">
                          <a:solidFill>
                            <a:schemeClr val="dk1"/>
                          </a:solidFill>
                          <a:latin typeface="Aptos" panose="020B0004020202020204"/>
                        </a:defRPr>
                      </a:lvl5pPr>
                      <a:lvl6pPr marL="3046553" algn="l" defTabSz="1218621" rtl="0" eaLnBrk="1" latinLnBrk="0" hangingPunct="1">
                        <a:defRPr sz="2399" kern="1200">
                          <a:solidFill>
                            <a:schemeClr val="dk1"/>
                          </a:solidFill>
                          <a:latin typeface="Aptos" panose="020B0004020202020204"/>
                        </a:defRPr>
                      </a:lvl6pPr>
                      <a:lvl7pPr marL="3655863" algn="l" defTabSz="1218621" rtl="0" eaLnBrk="1" latinLnBrk="0" hangingPunct="1">
                        <a:defRPr sz="2399" kern="1200">
                          <a:solidFill>
                            <a:schemeClr val="dk1"/>
                          </a:solidFill>
                          <a:latin typeface="Aptos" panose="020B0004020202020204"/>
                        </a:defRPr>
                      </a:lvl7pPr>
                      <a:lvl8pPr marL="4265173" algn="l" defTabSz="1218621" rtl="0" eaLnBrk="1" latinLnBrk="0" hangingPunct="1">
                        <a:defRPr sz="2399" kern="1200">
                          <a:solidFill>
                            <a:schemeClr val="dk1"/>
                          </a:solidFill>
                          <a:latin typeface="Aptos" panose="020B0004020202020204"/>
                        </a:defRPr>
                      </a:lvl8pPr>
                      <a:lvl9pPr marL="4874484" algn="l" defTabSz="1218621" rtl="0" eaLnBrk="1" latinLnBrk="0" hangingPunct="1">
                        <a:defRPr sz="2399" kern="1200">
                          <a:solidFill>
                            <a:schemeClr val="dk1"/>
                          </a:solidFill>
                          <a:latin typeface="Aptos" panose="020B00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itchFamily="34" charset="0"/>
                        </a:rPr>
                        <a:t>In AFE model, AFE will pay S&amp;D in accordance with the same payment schedule as the customer’s payments to AFE.</a:t>
                      </a:r>
                    </a:p>
                  </a:txBody>
                  <a:tcPr anchor="ctr"/>
                </a:tc>
                <a:extLst>
                  <a:ext uri="{0D108BD9-81ED-4DB2-BD59-A6C34878D82A}">
                    <a16:rowId xmlns:a16="http://schemas.microsoft.com/office/drawing/2014/main" val="3200209679"/>
                  </a:ext>
                </a:extLst>
              </a:tr>
            </a:tbl>
          </a:graphicData>
        </a:graphic>
      </p:graphicFrame>
      <p:sp>
        <p:nvSpPr>
          <p:cNvPr id="2" name="Slide Number Placeholder 4">
            <a:extLst>
              <a:ext uri="{FF2B5EF4-FFF2-40B4-BE49-F238E27FC236}">
                <a16:creationId xmlns:a16="http://schemas.microsoft.com/office/drawing/2014/main" id="{5E7DF337-4787-C1BE-ACCE-7DB2A0735284}"/>
              </a:ext>
            </a:extLst>
          </p:cNvPr>
          <p:cNvSpPr txBox="1">
            <a:spLocks/>
          </p:cNvSpPr>
          <p:nvPr/>
        </p:nvSpPr>
        <p:spPr>
          <a:xfrm>
            <a:off x="11752263" y="6400801"/>
            <a:ext cx="438150" cy="15557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168</a:t>
            </a:fld>
            <a:endParaRPr lang="en-US">
              <a:solidFill>
                <a:srgbClr val="000000"/>
              </a:solidFill>
            </a:endParaRPr>
          </a:p>
        </p:txBody>
      </p:sp>
    </p:spTree>
    <p:extLst>
      <p:ext uri="{BB962C8B-B14F-4D97-AF65-F5344CB8AC3E}">
        <p14:creationId xmlns:p14="http://schemas.microsoft.com/office/powerpoint/2010/main" val="2184656602"/>
      </p:ext>
    </p:extLst>
  </p:cSld>
  <p:clrMapOvr>
    <a:masterClrMapping/>
  </p:clrMapOvr>
  <p:transition>
    <p:fade/>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E69A53-AF1A-4CEC-D799-051B16815FC3}"/>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C0E0DC5-FA28-8B33-B5EF-68551B0C0F2B}"/>
              </a:ext>
            </a:extLst>
          </p:cNvPr>
          <p:cNvGraphicFramePr>
            <a:graphicFrameLocks noChangeAspect="1"/>
          </p:cNvGraphicFramePr>
          <p:nvPr>
            <p:custDataLst>
              <p:tags r:id="rId1"/>
            </p:custDataLst>
          </p:nvPr>
        </p:nvGraphicFramePr>
        <p:xfrm>
          <a:off x="3175" y="2480"/>
          <a:ext cx="1588" cy="1588"/>
        </p:xfrm>
        <a:graphic>
          <a:graphicData uri="http://schemas.openxmlformats.org/presentationml/2006/ole">
            <mc:AlternateContent xmlns:mc="http://schemas.openxmlformats.org/markup-compatibility/2006">
              <mc:Choice xmlns:v="urn:schemas-microsoft-com:vml" Requires="v">
                <p:oleObj name="think-cell 幻灯片" r:id="rId4" imgW="395" imgH="396" progId="TCLayout.ActiveDocument.1">
                  <p:embed/>
                </p:oleObj>
              </mc:Choice>
              <mc:Fallback>
                <p:oleObj name="think-cell 幻灯片" r:id="rId4" imgW="395" imgH="396" progId="TCLayout.ActiveDocument.1">
                  <p:embed/>
                  <p:pic>
                    <p:nvPicPr>
                      <p:cNvPr id="4" name="think-cell data - do not delete" hidden="1">
                        <a:extLst>
                          <a:ext uri="{FF2B5EF4-FFF2-40B4-BE49-F238E27FC236}">
                            <a16:creationId xmlns:a16="http://schemas.microsoft.com/office/drawing/2014/main" id="{4C0E0DC5-FA28-8B33-B5EF-68551B0C0F2B}"/>
                          </a:ext>
                        </a:extLst>
                      </p:cNvPr>
                      <p:cNvPicPr/>
                      <p:nvPr/>
                    </p:nvPicPr>
                    <p:blipFill>
                      <a:blip r:embed="rId5"/>
                      <a:stretch>
                        <a:fillRect/>
                      </a:stretch>
                    </p:blipFill>
                    <p:spPr>
                      <a:xfrm>
                        <a:off x="3175" y="2480"/>
                        <a:ext cx="1588" cy="1588"/>
                      </a:xfrm>
                      <a:prstGeom prst="rect">
                        <a:avLst/>
                      </a:prstGeom>
                    </p:spPr>
                  </p:pic>
                </p:oleObj>
              </mc:Fallback>
            </mc:AlternateContent>
          </a:graphicData>
        </a:graphic>
      </p:graphicFrame>
      <p:sp>
        <p:nvSpPr>
          <p:cNvPr id="6" name="Title 10">
            <a:extLst>
              <a:ext uri="{FF2B5EF4-FFF2-40B4-BE49-F238E27FC236}">
                <a16:creationId xmlns:a16="http://schemas.microsoft.com/office/drawing/2014/main" id="{0661AF9B-FE5D-F2D4-FBB8-F1B228976200}"/>
              </a:ext>
            </a:extLst>
          </p:cNvPr>
          <p:cNvSpPr txBox="1">
            <a:spLocks/>
          </p:cNvSpPr>
          <p:nvPr/>
        </p:nvSpPr>
        <p:spPr>
          <a:xfrm>
            <a:off x="372499" y="182434"/>
            <a:ext cx="11056112" cy="421091"/>
          </a:xfrm>
          <a:prstGeom prst="rect">
            <a:avLst/>
          </a:prstGeom>
        </p:spPr>
        <p:txBody>
          <a:bodyPr vert="horz" lIns="91392" tIns="45696" rIns="91392" bIns="45696"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defTabSz="914126">
              <a:spcAft>
                <a:spcPct val="0"/>
              </a:spcAft>
              <a:defRPr/>
            </a:pPr>
            <a:r>
              <a:rPr lang="en-US" altLang="zh-CN" sz="3199" b="1" err="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NexBill</a:t>
            </a:r>
            <a:r>
              <a:rPr lang="en-US" altLang="zh-CN" sz="3199" b="1">
                <a:solidFill>
                  <a:srgbClr val="000000"/>
                </a:solidFill>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rPr>
              <a:t> – Advanced Billing: Issuing Invoice in Advance</a:t>
            </a:r>
            <a:endParaRPr lang="en-US" altLang="zh-CN" sz="3199" b="1">
              <a:latin typeface="Tenorite" panose="00000500000000000000" pitchFamily="2" charset="0"/>
              <a:ea typeface="黑体" panose="02010609060101010101" pitchFamily="49" charset="-122"/>
              <a:cs typeface="Arial" panose="020B0604020202020204" pitchFamily="34" charset="0"/>
              <a:sym typeface="Arial" panose="020B0604020202020204" pitchFamily="34" charset="0"/>
            </a:endParaRPr>
          </a:p>
        </p:txBody>
      </p:sp>
      <p:sp>
        <p:nvSpPr>
          <p:cNvPr id="5" name="TextBox 7">
            <a:extLst>
              <a:ext uri="{FF2B5EF4-FFF2-40B4-BE49-F238E27FC236}">
                <a16:creationId xmlns:a16="http://schemas.microsoft.com/office/drawing/2014/main" id="{60705F3C-92C2-D49B-56E0-9E0C0650563B}"/>
              </a:ext>
            </a:extLst>
          </p:cNvPr>
          <p:cNvSpPr txBox="1"/>
          <p:nvPr/>
        </p:nvSpPr>
        <p:spPr>
          <a:xfrm>
            <a:off x="450041" y="926467"/>
            <a:ext cx="10180017" cy="1969770"/>
          </a:xfrm>
          <a:prstGeom prst="rect">
            <a:avLst/>
          </a:prstGeom>
          <a:noFill/>
        </p:spPr>
        <p:txBody>
          <a:bodyPr wrap="square" rtlCol="0">
            <a:spAutoFit/>
          </a:bodyPr>
          <a:lstStyle/>
          <a:p>
            <a:pPr marL="285750" indent="-285750">
              <a:buFont typeface="Wingdings" panose="05000000000000000000" pitchFamily="2" charset="2"/>
              <a:buChar char="Ø"/>
            </a:pPr>
            <a:r>
              <a:rPr lang="en-US" altLang="zh-CN" sz="1400" b="1">
                <a:latin typeface="Lato" panose="020F0502020204030203" pitchFamily="34" charset="0"/>
                <a:ea typeface="Lato" panose="020F0502020204030203" pitchFamily="34" charset="0"/>
                <a:cs typeface="Lato" panose="020F0502020204030203" pitchFamily="34" charset="0"/>
              </a:rPr>
              <a:t>Scope: 		</a:t>
            </a:r>
          </a:p>
          <a:p>
            <a:pPr marL="895243" lvl="1" indent="-285750">
              <a:buFontTx/>
              <a:buChar char="-"/>
            </a:pPr>
            <a:r>
              <a:rPr lang="en-US" altLang="zh-CN" sz="1200">
                <a:latin typeface="Lato" panose="020F0502020204030203" pitchFamily="34" charset="0"/>
                <a:ea typeface="Lato" panose="020F0502020204030203" pitchFamily="34" charset="0"/>
                <a:cs typeface="Lato" panose="020F0502020204030203" pitchFamily="34" charset="0"/>
              </a:rPr>
              <a:t>Recurringly charged invoices with billing plan</a:t>
            </a:r>
          </a:p>
          <a:p>
            <a:pPr marL="285750" indent="-285750">
              <a:buFont typeface="Wingdings" panose="05000000000000000000" pitchFamily="2" charset="2"/>
              <a:buChar char="Ø"/>
            </a:pPr>
            <a:endParaRPr lang="en-US" altLang="zh-CN" sz="1600">
              <a:latin typeface="Lato" panose="020F0502020204030203" pitchFamily="34" charset="0"/>
              <a:ea typeface="Lato" panose="020F0502020204030203" pitchFamily="34" charset="0"/>
              <a:cs typeface="Lato" panose="020F0502020204030203" pitchFamily="34" charset="0"/>
            </a:endParaRPr>
          </a:p>
          <a:p>
            <a:pPr marL="285750" indent="-285750">
              <a:buFont typeface="Wingdings" panose="05000000000000000000" pitchFamily="2" charset="2"/>
              <a:buChar char="Ø"/>
            </a:pPr>
            <a:r>
              <a:rPr lang="en-US" altLang="zh-CN" sz="1400" b="1">
                <a:latin typeface="Lato" panose="020F0502020204030203" pitchFamily="34" charset="0"/>
                <a:ea typeface="Lato" panose="020F0502020204030203" pitchFamily="34" charset="0"/>
                <a:cs typeface="Lato" panose="020F0502020204030203" pitchFamily="34" charset="0"/>
              </a:rPr>
              <a:t>Request Management:	</a:t>
            </a:r>
          </a:p>
          <a:p>
            <a:pPr marL="895243" lvl="1" indent="-285750">
              <a:buFontTx/>
              <a:buChar char="-"/>
            </a:pPr>
            <a:r>
              <a:rPr lang="en-US" altLang="zh-CN" sz="1200">
                <a:latin typeface="Lato" panose="020F0502020204030203" pitchFamily="34" charset="0"/>
                <a:ea typeface="Lato" panose="020F0502020204030203" pitchFamily="34" charset="0"/>
                <a:cs typeface="Lato" panose="020F0502020204030203" pitchFamily="34" charset="0"/>
              </a:rPr>
              <a:t>Nex Bill UI design to allow user to select future billing periods and submit request</a:t>
            </a:r>
          </a:p>
          <a:p>
            <a:pPr marL="285750" indent="-285750">
              <a:buFont typeface="Wingdings" panose="05000000000000000000" pitchFamily="2" charset="2"/>
              <a:buChar char="Ø"/>
            </a:pPr>
            <a:endParaRPr lang="en-US" altLang="zh-CN" sz="1600">
              <a:latin typeface="Lato" panose="020F0502020204030203" pitchFamily="34" charset="0"/>
              <a:ea typeface="Lato" panose="020F0502020204030203" pitchFamily="34" charset="0"/>
              <a:cs typeface="Lato" panose="020F0502020204030203" pitchFamily="34" charset="0"/>
            </a:endParaRPr>
          </a:p>
          <a:p>
            <a:pPr marL="285750" indent="-285750">
              <a:buFont typeface="Wingdings" panose="05000000000000000000" pitchFamily="2" charset="2"/>
              <a:buChar char="Ø"/>
            </a:pPr>
            <a:r>
              <a:rPr lang="en-US" altLang="zh-CN" sz="1400" b="1">
                <a:latin typeface="Lato" panose="020F0502020204030203" pitchFamily="34" charset="0"/>
                <a:ea typeface="Lato" panose="020F0502020204030203" pitchFamily="34" charset="0"/>
                <a:cs typeface="Lato" panose="020F0502020204030203" pitchFamily="34" charset="0"/>
              </a:rPr>
              <a:t>Exceptions Handling:</a:t>
            </a:r>
          </a:p>
          <a:p>
            <a:pPr marL="895243" lvl="1" indent="-285750">
              <a:buFontTx/>
              <a:buChar char="-"/>
            </a:pPr>
            <a:r>
              <a:rPr lang="en-US" altLang="zh-CN" sz="1200">
                <a:latin typeface="Lato" panose="020F0502020204030203" pitchFamily="34" charset="0"/>
                <a:ea typeface="Lato" panose="020F0502020204030203" pitchFamily="34" charset="0"/>
                <a:cs typeface="Lato" panose="020F0502020204030203" pitchFamily="34" charset="0"/>
              </a:rPr>
              <a:t>Charge amount change due to changes events: BAU process to raise Credit Note</a:t>
            </a:r>
          </a:p>
          <a:p>
            <a:pPr marL="895243" lvl="1" indent="-285750">
              <a:buFontTx/>
              <a:buChar char="-"/>
            </a:pPr>
            <a:r>
              <a:rPr lang="en-US" altLang="zh-CN" sz="1200">
                <a:latin typeface="Lato" panose="020F0502020204030203" pitchFamily="34" charset="0"/>
                <a:ea typeface="Lato" panose="020F0502020204030203" pitchFamily="34" charset="0"/>
                <a:cs typeface="Lato" panose="020F0502020204030203" pitchFamily="34" charset="0"/>
              </a:rPr>
              <a:t>New tranches will be reflected in new invoice if customer has activated new devices after the advanced invoices are billed</a:t>
            </a:r>
          </a:p>
        </p:txBody>
      </p:sp>
      <p:sp>
        <p:nvSpPr>
          <p:cNvPr id="3" name="文本框 2">
            <a:extLst>
              <a:ext uri="{FF2B5EF4-FFF2-40B4-BE49-F238E27FC236}">
                <a16:creationId xmlns:a16="http://schemas.microsoft.com/office/drawing/2014/main" id="{C9891FC0-12C8-2A22-B2EF-CBEF4A95DCCA}"/>
              </a:ext>
            </a:extLst>
          </p:cNvPr>
          <p:cNvSpPr txBox="1"/>
          <p:nvPr/>
        </p:nvSpPr>
        <p:spPr>
          <a:xfrm>
            <a:off x="737907" y="5765608"/>
            <a:ext cx="9963666" cy="461665"/>
          </a:xfrm>
          <a:prstGeom prst="rect">
            <a:avLst/>
          </a:prstGeom>
          <a:noFill/>
        </p:spPr>
        <p:txBody>
          <a:bodyPr wrap="square">
            <a:spAutoFit/>
          </a:bodyPr>
          <a:lstStyle/>
          <a:p>
            <a:r>
              <a:rPr lang="en-US" altLang="zh-CN" sz="1200">
                <a:latin typeface="Lato" panose="020F0502020204030203" pitchFamily="34" charset="0"/>
                <a:ea typeface="Lato" panose="020F0502020204030203" pitchFamily="34" charset="0"/>
                <a:cs typeface="Lato" panose="020F0502020204030203" pitchFamily="34" charset="0"/>
              </a:rPr>
              <a:t>*  Separate statement documents for advance-issued invoices of different billing periods</a:t>
            </a:r>
          </a:p>
          <a:p>
            <a:r>
              <a:rPr lang="en-US" altLang="zh-CN" sz="1200">
                <a:latin typeface="Lato" panose="020F0502020204030203" pitchFamily="34" charset="0"/>
                <a:ea typeface="Lato" panose="020F0502020204030203" pitchFamily="34" charset="0"/>
                <a:cs typeface="Lato" panose="020F0502020204030203" pitchFamily="34" charset="0"/>
              </a:rPr>
              <a:t>*  Defer revenue detail will be shared in F&amp;A session. </a:t>
            </a:r>
          </a:p>
        </p:txBody>
      </p:sp>
      <p:grpSp>
        <p:nvGrpSpPr>
          <p:cNvPr id="34" name="组合 33">
            <a:extLst>
              <a:ext uri="{FF2B5EF4-FFF2-40B4-BE49-F238E27FC236}">
                <a16:creationId xmlns:a16="http://schemas.microsoft.com/office/drawing/2014/main" id="{84CD416D-082A-8ADA-A1B3-6B5E9727043D}"/>
              </a:ext>
            </a:extLst>
          </p:cNvPr>
          <p:cNvGrpSpPr/>
          <p:nvPr/>
        </p:nvGrpSpPr>
        <p:grpSpPr>
          <a:xfrm>
            <a:off x="1174950" y="3255820"/>
            <a:ext cx="8777084" cy="2158607"/>
            <a:chOff x="1847692" y="3602557"/>
            <a:chExt cx="8777084" cy="2158607"/>
          </a:xfrm>
        </p:grpSpPr>
        <p:sp>
          <p:nvSpPr>
            <p:cNvPr id="7" name="Rectangle 28">
              <a:extLst>
                <a:ext uri="{FF2B5EF4-FFF2-40B4-BE49-F238E27FC236}">
                  <a16:creationId xmlns:a16="http://schemas.microsoft.com/office/drawing/2014/main" id="{E3063DC9-BD1F-747D-670B-3444022F9106}"/>
                </a:ext>
              </a:extLst>
            </p:cNvPr>
            <p:cNvSpPr/>
            <p:nvPr/>
          </p:nvSpPr>
          <p:spPr>
            <a:xfrm>
              <a:off x="1847693" y="3626824"/>
              <a:ext cx="1333869" cy="585791"/>
            </a:xfrm>
            <a:prstGeom prst="rect">
              <a:avLst/>
            </a:prstGeom>
            <a:solidFill>
              <a:schemeClr val="bg1">
                <a:lumMod val="85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Offline request from customer</a:t>
              </a:r>
            </a:p>
          </p:txBody>
        </p:sp>
        <p:cxnSp>
          <p:nvCxnSpPr>
            <p:cNvPr id="11" name="直接箭头连接符 10">
              <a:extLst>
                <a:ext uri="{FF2B5EF4-FFF2-40B4-BE49-F238E27FC236}">
                  <a16:creationId xmlns:a16="http://schemas.microsoft.com/office/drawing/2014/main" id="{823B855C-6D2E-C463-71E3-7B9E2AE1BE27}"/>
                </a:ext>
              </a:extLst>
            </p:cNvPr>
            <p:cNvCxnSpPr>
              <a:cxnSpLocks/>
              <a:stCxn id="7" idx="3"/>
            </p:cNvCxnSpPr>
            <p:nvPr/>
          </p:nvCxnSpPr>
          <p:spPr>
            <a:xfrm flipV="1">
              <a:off x="3181562" y="3914437"/>
              <a:ext cx="539450" cy="5284"/>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2" name="Rectangle 28">
              <a:extLst>
                <a:ext uri="{FF2B5EF4-FFF2-40B4-BE49-F238E27FC236}">
                  <a16:creationId xmlns:a16="http://schemas.microsoft.com/office/drawing/2014/main" id="{E5DCEE6C-BF23-5662-C1A1-239571014D64}"/>
                </a:ext>
              </a:extLst>
            </p:cNvPr>
            <p:cNvSpPr/>
            <p:nvPr/>
          </p:nvSpPr>
          <p:spPr>
            <a:xfrm>
              <a:off x="3708550" y="3623879"/>
              <a:ext cx="1333869" cy="585791"/>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Submit advance billing request in Nex Bill</a:t>
              </a:r>
            </a:p>
          </p:txBody>
        </p:sp>
        <p:sp>
          <p:nvSpPr>
            <p:cNvPr id="17" name="Rectangle 28">
              <a:extLst>
                <a:ext uri="{FF2B5EF4-FFF2-40B4-BE49-F238E27FC236}">
                  <a16:creationId xmlns:a16="http://schemas.microsoft.com/office/drawing/2014/main" id="{6056CA75-9F13-1EAD-5B7E-7DFDA0BA7ECB}"/>
                </a:ext>
              </a:extLst>
            </p:cNvPr>
            <p:cNvSpPr/>
            <p:nvPr/>
          </p:nvSpPr>
          <p:spPr>
            <a:xfrm>
              <a:off x="1847692" y="4214451"/>
              <a:ext cx="1333869" cy="289399"/>
            </a:xfrm>
            <a:prstGeom prst="rect">
              <a:avLst/>
            </a:prstGeom>
            <a:solidFill>
              <a:schemeClr val="bg1">
                <a:lumMod val="85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MSA: SMO</a:t>
              </a:r>
            </a:p>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MLA: LOT</a:t>
              </a:r>
            </a:p>
          </p:txBody>
        </p:sp>
        <p:sp>
          <p:nvSpPr>
            <p:cNvPr id="18" name="Rectangle 28">
              <a:extLst>
                <a:ext uri="{FF2B5EF4-FFF2-40B4-BE49-F238E27FC236}">
                  <a16:creationId xmlns:a16="http://schemas.microsoft.com/office/drawing/2014/main" id="{B2469CB5-C4F6-7F70-1CF5-C1233AD2D80F}"/>
                </a:ext>
              </a:extLst>
            </p:cNvPr>
            <p:cNvSpPr/>
            <p:nvPr/>
          </p:nvSpPr>
          <p:spPr>
            <a:xfrm>
              <a:off x="3708548" y="4205893"/>
              <a:ext cx="1333869" cy="289399"/>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LOT</a:t>
              </a:r>
            </a:p>
          </p:txBody>
        </p:sp>
        <p:cxnSp>
          <p:nvCxnSpPr>
            <p:cNvPr id="19" name="直接箭头连接符 18">
              <a:extLst>
                <a:ext uri="{FF2B5EF4-FFF2-40B4-BE49-F238E27FC236}">
                  <a16:creationId xmlns:a16="http://schemas.microsoft.com/office/drawing/2014/main" id="{7AEAB8A6-88E1-2C25-C27A-01453DB4911E}"/>
                </a:ext>
              </a:extLst>
            </p:cNvPr>
            <p:cNvCxnSpPr>
              <a:cxnSpLocks/>
            </p:cNvCxnSpPr>
            <p:nvPr/>
          </p:nvCxnSpPr>
          <p:spPr>
            <a:xfrm flipV="1">
              <a:off x="6890602" y="3894087"/>
              <a:ext cx="539450" cy="5284"/>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0" name="Rectangle 28">
              <a:extLst>
                <a:ext uri="{FF2B5EF4-FFF2-40B4-BE49-F238E27FC236}">
                  <a16:creationId xmlns:a16="http://schemas.microsoft.com/office/drawing/2014/main" id="{F711E965-D9D1-58D0-5D91-B8FF1EF6DC33}"/>
                </a:ext>
              </a:extLst>
            </p:cNvPr>
            <p:cNvSpPr/>
            <p:nvPr/>
          </p:nvSpPr>
          <p:spPr>
            <a:xfrm>
              <a:off x="7417590" y="3603529"/>
              <a:ext cx="1333869" cy="585791"/>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Preview approval</a:t>
              </a:r>
            </a:p>
          </p:txBody>
        </p:sp>
        <p:sp>
          <p:nvSpPr>
            <p:cNvPr id="21" name="Rectangle 28">
              <a:extLst>
                <a:ext uri="{FF2B5EF4-FFF2-40B4-BE49-F238E27FC236}">
                  <a16:creationId xmlns:a16="http://schemas.microsoft.com/office/drawing/2014/main" id="{99BC0753-B2F9-AD43-B1E6-FBC57D2A5D36}"/>
                </a:ext>
              </a:extLst>
            </p:cNvPr>
            <p:cNvSpPr/>
            <p:nvPr/>
          </p:nvSpPr>
          <p:spPr>
            <a:xfrm>
              <a:off x="7417588" y="4185543"/>
              <a:ext cx="1333869" cy="289399"/>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LOT</a:t>
              </a:r>
            </a:p>
          </p:txBody>
        </p:sp>
        <p:cxnSp>
          <p:nvCxnSpPr>
            <p:cNvPr id="22" name="直接箭头连接符 21">
              <a:extLst>
                <a:ext uri="{FF2B5EF4-FFF2-40B4-BE49-F238E27FC236}">
                  <a16:creationId xmlns:a16="http://schemas.microsoft.com/office/drawing/2014/main" id="{75194B88-C632-57C3-C735-0B0E0E38AF24}"/>
                </a:ext>
              </a:extLst>
            </p:cNvPr>
            <p:cNvCxnSpPr>
              <a:cxnSpLocks/>
            </p:cNvCxnSpPr>
            <p:nvPr/>
          </p:nvCxnSpPr>
          <p:spPr>
            <a:xfrm flipV="1">
              <a:off x="8763919" y="3893115"/>
              <a:ext cx="539450" cy="5284"/>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3" name="Rectangle 28">
              <a:extLst>
                <a:ext uri="{FF2B5EF4-FFF2-40B4-BE49-F238E27FC236}">
                  <a16:creationId xmlns:a16="http://schemas.microsoft.com/office/drawing/2014/main" id="{69E0C498-46E4-AD28-0710-EE237CADFB31}"/>
                </a:ext>
              </a:extLst>
            </p:cNvPr>
            <p:cNvSpPr/>
            <p:nvPr/>
          </p:nvSpPr>
          <p:spPr>
            <a:xfrm>
              <a:off x="9290907" y="3602557"/>
              <a:ext cx="1333869" cy="585791"/>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Final invoice generation &amp; delivery to customer</a:t>
              </a:r>
            </a:p>
          </p:txBody>
        </p:sp>
        <p:sp>
          <p:nvSpPr>
            <p:cNvPr id="24" name="Rectangle 28">
              <a:extLst>
                <a:ext uri="{FF2B5EF4-FFF2-40B4-BE49-F238E27FC236}">
                  <a16:creationId xmlns:a16="http://schemas.microsoft.com/office/drawing/2014/main" id="{5598A35B-B649-1386-E0CF-875DDA99C59F}"/>
                </a:ext>
              </a:extLst>
            </p:cNvPr>
            <p:cNvSpPr/>
            <p:nvPr/>
          </p:nvSpPr>
          <p:spPr>
            <a:xfrm>
              <a:off x="9290905" y="4184571"/>
              <a:ext cx="1333869" cy="289399"/>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LOT</a:t>
              </a:r>
            </a:p>
          </p:txBody>
        </p:sp>
        <p:cxnSp>
          <p:nvCxnSpPr>
            <p:cNvPr id="27" name="直接箭头连接符 26">
              <a:extLst>
                <a:ext uri="{FF2B5EF4-FFF2-40B4-BE49-F238E27FC236}">
                  <a16:creationId xmlns:a16="http://schemas.microsoft.com/office/drawing/2014/main" id="{252D9B6E-F0B8-E7DF-6D66-76B3C692FA60}"/>
                </a:ext>
              </a:extLst>
            </p:cNvPr>
            <p:cNvCxnSpPr>
              <a:cxnSpLocks/>
            </p:cNvCxnSpPr>
            <p:nvPr/>
          </p:nvCxnSpPr>
          <p:spPr>
            <a:xfrm flipV="1">
              <a:off x="5036083" y="3894087"/>
              <a:ext cx="539450" cy="5284"/>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8" name="Rectangle 28">
              <a:extLst>
                <a:ext uri="{FF2B5EF4-FFF2-40B4-BE49-F238E27FC236}">
                  <a16:creationId xmlns:a16="http://schemas.microsoft.com/office/drawing/2014/main" id="{439907CF-C916-256C-C0C4-D89B7F01B48E}"/>
                </a:ext>
              </a:extLst>
            </p:cNvPr>
            <p:cNvSpPr/>
            <p:nvPr/>
          </p:nvSpPr>
          <p:spPr>
            <a:xfrm>
              <a:off x="5563071" y="3603529"/>
              <a:ext cx="1333869" cy="585791"/>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Invoice generation </a:t>
              </a:r>
            </a:p>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by system job</a:t>
              </a:r>
            </a:p>
          </p:txBody>
        </p:sp>
        <p:sp>
          <p:nvSpPr>
            <p:cNvPr id="29" name="Rectangle 28">
              <a:extLst>
                <a:ext uri="{FF2B5EF4-FFF2-40B4-BE49-F238E27FC236}">
                  <a16:creationId xmlns:a16="http://schemas.microsoft.com/office/drawing/2014/main" id="{4A39240C-13F4-04F9-09F7-1C5082945B1B}"/>
                </a:ext>
              </a:extLst>
            </p:cNvPr>
            <p:cNvSpPr/>
            <p:nvPr/>
          </p:nvSpPr>
          <p:spPr>
            <a:xfrm>
              <a:off x="5563069" y="4185543"/>
              <a:ext cx="1333869" cy="289399"/>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Auto</a:t>
              </a:r>
            </a:p>
          </p:txBody>
        </p:sp>
        <p:cxnSp>
          <p:nvCxnSpPr>
            <p:cNvPr id="30" name="直接箭头连接符 29">
              <a:extLst>
                <a:ext uri="{FF2B5EF4-FFF2-40B4-BE49-F238E27FC236}">
                  <a16:creationId xmlns:a16="http://schemas.microsoft.com/office/drawing/2014/main" id="{25B39ED3-620C-F59B-7DC7-B59098C0BA7E}"/>
                </a:ext>
              </a:extLst>
            </p:cNvPr>
            <p:cNvCxnSpPr>
              <a:cxnSpLocks/>
            </p:cNvCxnSpPr>
            <p:nvPr/>
          </p:nvCxnSpPr>
          <p:spPr>
            <a:xfrm>
              <a:off x="9013254" y="3889929"/>
              <a:ext cx="0" cy="993798"/>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2" name="Rectangle 28">
              <a:extLst>
                <a:ext uri="{FF2B5EF4-FFF2-40B4-BE49-F238E27FC236}">
                  <a16:creationId xmlns:a16="http://schemas.microsoft.com/office/drawing/2014/main" id="{B927BED4-1E72-164B-3197-28C29313685A}"/>
                </a:ext>
              </a:extLst>
            </p:cNvPr>
            <p:cNvSpPr/>
            <p:nvPr/>
          </p:nvSpPr>
          <p:spPr>
            <a:xfrm>
              <a:off x="8346321" y="4889751"/>
              <a:ext cx="1333869" cy="585791"/>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Accounting posting in ECC/S4</a:t>
              </a:r>
            </a:p>
          </p:txBody>
        </p:sp>
        <p:sp>
          <p:nvSpPr>
            <p:cNvPr id="33" name="Rectangle 28">
              <a:extLst>
                <a:ext uri="{FF2B5EF4-FFF2-40B4-BE49-F238E27FC236}">
                  <a16:creationId xmlns:a16="http://schemas.microsoft.com/office/drawing/2014/main" id="{3F31E23D-117E-6CE9-66A5-EF4DD6C9F320}"/>
                </a:ext>
              </a:extLst>
            </p:cNvPr>
            <p:cNvSpPr/>
            <p:nvPr/>
          </p:nvSpPr>
          <p:spPr>
            <a:xfrm>
              <a:off x="8346319" y="5471765"/>
              <a:ext cx="1333869" cy="289399"/>
            </a:xfrm>
            <a:prstGeom prst="rect">
              <a:avLst/>
            </a:prstGeom>
            <a:solidFill>
              <a:schemeClr val="accent6">
                <a:lumMod val="10000"/>
                <a:lumOff val="90000"/>
              </a:schemeClr>
            </a:solidFill>
            <a:ln w="12700" cap="flat" cmpd="sng" algn="ctr">
              <a:solidFill>
                <a:srgbClr val="000000"/>
              </a:solidFill>
              <a:prstDash val="solid"/>
            </a:ln>
            <a:effectLst/>
          </p:spPr>
          <p:txBody>
            <a:bodyPr lIns="0" rIns="0" rtlCol="0" anchor="ctr"/>
            <a:lstStyle>
              <a:defPPr>
                <a:defRPr lang="en-US"/>
              </a:defPPr>
              <a:lvl1pPr marL="0" algn="l" defTabSz="1218987" rtl="0" eaLnBrk="1" latinLnBrk="0" hangingPunct="1">
                <a:defRPr sz="2400" kern="1200">
                  <a:solidFill>
                    <a:schemeClr val="tx1"/>
                  </a:solidFill>
                  <a:latin typeface="+mn-lt"/>
                  <a:ea typeface="+mn-ea"/>
                  <a:cs typeface="+mn-cs"/>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algn="ctr" defTabSz="1217469">
                <a:defRPr/>
              </a:pPr>
              <a:r>
                <a:rPr lang="en-US" altLang="zh-CN" sz="800" kern="0">
                  <a:solidFill>
                    <a:srgbClr val="000000"/>
                  </a:solidFill>
                  <a:latin typeface="Lato" panose="020F0502020204030203" pitchFamily="34" charset="0"/>
                  <a:ea typeface="Lato" panose="020F0502020204030203" pitchFamily="34" charset="0"/>
                  <a:cs typeface="Lato" panose="020F0502020204030203" pitchFamily="34" charset="0"/>
                </a:rPr>
                <a:t>Auto</a:t>
              </a:r>
            </a:p>
          </p:txBody>
        </p:sp>
      </p:grpSp>
    </p:spTree>
    <p:extLst>
      <p:ext uri="{BB962C8B-B14F-4D97-AF65-F5344CB8AC3E}">
        <p14:creationId xmlns:p14="http://schemas.microsoft.com/office/powerpoint/2010/main" val="25015613"/>
      </p:ext>
    </p:extLst>
  </p:cSld>
  <p:clrMapOvr>
    <a:masterClrMapping/>
  </p:clrMapOvr>
  <p:transition spd="med"/>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43D754-DC23-0DB3-2E81-311FF2356E35}"/>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22525ED3-CC04-5829-81B4-EE469AB1AC9A}"/>
              </a:ext>
            </a:extLst>
          </p:cNvPr>
          <p:cNvGraphicFramePr>
            <a:graphicFrameLocks noGrp="1"/>
          </p:cNvGraphicFramePr>
          <p:nvPr>
            <p:extLst>
              <p:ext uri="{D42A27DB-BD31-4B8C-83A1-F6EECF244321}">
                <p14:modId xmlns:p14="http://schemas.microsoft.com/office/powerpoint/2010/main" val="466497147"/>
              </p:ext>
            </p:extLst>
          </p:nvPr>
        </p:nvGraphicFramePr>
        <p:xfrm>
          <a:off x="96745" y="373265"/>
          <a:ext cx="6039292" cy="1143000"/>
        </p:xfrm>
        <a:graphic>
          <a:graphicData uri="http://schemas.openxmlformats.org/drawingml/2006/table">
            <a:tbl>
              <a:tblPr firstRow="1" bandRow="1">
                <a:tableStyleId>{3C2FFA5D-87B4-456A-9821-1D502468CF0F}</a:tableStyleId>
              </a:tblPr>
              <a:tblGrid>
                <a:gridCol w="690976">
                  <a:extLst>
                    <a:ext uri="{9D8B030D-6E8A-4147-A177-3AD203B41FA5}">
                      <a16:colId xmlns:a16="http://schemas.microsoft.com/office/drawing/2014/main" val="869603910"/>
                    </a:ext>
                  </a:extLst>
                </a:gridCol>
                <a:gridCol w="715068">
                  <a:extLst>
                    <a:ext uri="{9D8B030D-6E8A-4147-A177-3AD203B41FA5}">
                      <a16:colId xmlns:a16="http://schemas.microsoft.com/office/drawing/2014/main" val="238663902"/>
                    </a:ext>
                  </a:extLst>
                </a:gridCol>
                <a:gridCol w="613292">
                  <a:extLst>
                    <a:ext uri="{9D8B030D-6E8A-4147-A177-3AD203B41FA5}">
                      <a16:colId xmlns:a16="http://schemas.microsoft.com/office/drawing/2014/main" val="4114365151"/>
                    </a:ext>
                  </a:extLst>
                </a:gridCol>
                <a:gridCol w="931919">
                  <a:extLst>
                    <a:ext uri="{9D8B030D-6E8A-4147-A177-3AD203B41FA5}">
                      <a16:colId xmlns:a16="http://schemas.microsoft.com/office/drawing/2014/main" val="4075178046"/>
                    </a:ext>
                  </a:extLst>
                </a:gridCol>
                <a:gridCol w="67818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6760">
                  <a:extLst>
                    <a:ext uri="{9D8B030D-6E8A-4147-A177-3AD203B41FA5}">
                      <a16:colId xmlns:a16="http://schemas.microsoft.com/office/drawing/2014/main" val="3637466090"/>
                    </a:ext>
                  </a:extLst>
                </a:gridCol>
                <a:gridCol w="939197">
                  <a:extLst>
                    <a:ext uri="{9D8B030D-6E8A-4147-A177-3AD203B41FA5}">
                      <a16:colId xmlns:a16="http://schemas.microsoft.com/office/drawing/2014/main" val="221569069"/>
                    </a:ext>
                  </a:extLst>
                </a:gridCol>
              </a:tblGrid>
              <a:tr h="3305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23068">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Monthly</a:t>
                      </a:r>
                      <a:endParaRPr lang="en-US" altLang="zh-CN" sz="1050">
                        <a:solidFill>
                          <a:srgbClr val="FF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Advance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4" name="直接连接符 3">
            <a:extLst>
              <a:ext uri="{FF2B5EF4-FFF2-40B4-BE49-F238E27FC236}">
                <a16:creationId xmlns:a16="http://schemas.microsoft.com/office/drawing/2014/main" id="{412F0FEB-6092-6A60-6235-00C3F33C9017}"/>
              </a:ext>
            </a:extLst>
          </p:cNvPr>
          <p:cNvCxnSpPr>
            <a:cxnSpLocks/>
          </p:cNvCxnSpPr>
          <p:nvPr/>
        </p:nvCxnSpPr>
        <p:spPr>
          <a:xfrm>
            <a:off x="6247923"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7" name="文本框 6">
            <a:extLst>
              <a:ext uri="{FF2B5EF4-FFF2-40B4-BE49-F238E27FC236}">
                <a16:creationId xmlns:a16="http://schemas.microsoft.com/office/drawing/2014/main" id="{5528DFAE-5664-2C54-73AC-E542712B532B}"/>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DaaS_S&amp;D_MSA/MLA</a:t>
            </a:r>
            <a:endParaRPr lang="zh-CN" altLang="en-US" sz="2000" b="1"/>
          </a:p>
        </p:txBody>
      </p:sp>
      <p:graphicFrame>
        <p:nvGraphicFramePr>
          <p:cNvPr id="2" name="表格 1">
            <a:extLst>
              <a:ext uri="{FF2B5EF4-FFF2-40B4-BE49-F238E27FC236}">
                <a16:creationId xmlns:a16="http://schemas.microsoft.com/office/drawing/2014/main" id="{09ABCD56-45AD-5394-2700-6F0ADD1F0970}"/>
              </a:ext>
            </a:extLst>
          </p:cNvPr>
          <p:cNvGraphicFramePr>
            <a:graphicFrameLocks noGrp="1"/>
          </p:cNvGraphicFramePr>
          <p:nvPr>
            <p:extLst>
              <p:ext uri="{D42A27DB-BD31-4B8C-83A1-F6EECF244321}">
                <p14:modId xmlns:p14="http://schemas.microsoft.com/office/powerpoint/2010/main" val="3572413369"/>
              </p:ext>
            </p:extLst>
          </p:nvPr>
        </p:nvGraphicFramePr>
        <p:xfrm>
          <a:off x="6281482" y="349346"/>
          <a:ext cx="5872548" cy="1213843"/>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647222">
                  <a:extLst>
                    <a:ext uri="{9D8B030D-6E8A-4147-A177-3AD203B41FA5}">
                      <a16:colId xmlns:a16="http://schemas.microsoft.com/office/drawing/2014/main" val="4114365151"/>
                    </a:ext>
                  </a:extLst>
                </a:gridCol>
                <a:gridCol w="752475">
                  <a:extLst>
                    <a:ext uri="{9D8B030D-6E8A-4147-A177-3AD203B41FA5}">
                      <a16:colId xmlns:a16="http://schemas.microsoft.com/office/drawing/2014/main" val="4075178046"/>
                    </a:ext>
                  </a:extLst>
                </a:gridCol>
                <a:gridCol w="666750">
                  <a:extLst>
                    <a:ext uri="{9D8B030D-6E8A-4147-A177-3AD203B41FA5}">
                      <a16:colId xmlns:a16="http://schemas.microsoft.com/office/drawing/2014/main" val="973533418"/>
                    </a:ext>
                  </a:extLst>
                </a:gridCol>
                <a:gridCol w="672857">
                  <a:extLst>
                    <a:ext uri="{9D8B030D-6E8A-4147-A177-3AD203B41FA5}">
                      <a16:colId xmlns:a16="http://schemas.microsoft.com/office/drawing/2014/main" val="2377711782"/>
                    </a:ext>
                  </a:extLst>
                </a:gridCol>
                <a:gridCol w="6578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501831">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642343">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Monthly</a:t>
                      </a:r>
                      <a:endParaRPr lang="en-US" altLang="zh-CN"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Advance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7">
            <a:extLst>
              <a:ext uri="{FF2B5EF4-FFF2-40B4-BE49-F238E27FC236}">
                <a16:creationId xmlns:a16="http://schemas.microsoft.com/office/drawing/2014/main" id="{F79CBF16-61C7-515F-D41F-EADA1603BF4B}"/>
              </a:ext>
            </a:extLst>
          </p:cNvPr>
          <p:cNvGraphicFramePr>
            <a:graphicFrameLocks noGrp="1"/>
          </p:cNvGraphicFramePr>
          <p:nvPr>
            <p:extLst>
              <p:ext uri="{D42A27DB-BD31-4B8C-83A1-F6EECF244321}">
                <p14:modId xmlns:p14="http://schemas.microsoft.com/office/powerpoint/2010/main" val="2604463135"/>
              </p:ext>
            </p:extLst>
          </p:nvPr>
        </p:nvGraphicFramePr>
        <p:xfrm>
          <a:off x="6319452" y="1567626"/>
          <a:ext cx="5870647" cy="1892418"/>
        </p:xfrm>
        <a:graphic>
          <a:graphicData uri="http://schemas.openxmlformats.org/drawingml/2006/table">
            <a:tbl>
              <a:tblPr/>
              <a:tblGrid>
                <a:gridCol w="409054">
                  <a:extLst>
                    <a:ext uri="{9D8B030D-6E8A-4147-A177-3AD203B41FA5}">
                      <a16:colId xmlns:a16="http://schemas.microsoft.com/office/drawing/2014/main" val="495084399"/>
                    </a:ext>
                  </a:extLst>
                </a:gridCol>
                <a:gridCol w="232343">
                  <a:extLst>
                    <a:ext uri="{9D8B030D-6E8A-4147-A177-3AD203B41FA5}">
                      <a16:colId xmlns:a16="http://schemas.microsoft.com/office/drawing/2014/main" val="3614210242"/>
                    </a:ext>
                  </a:extLst>
                </a:gridCol>
                <a:gridCol w="568953">
                  <a:extLst>
                    <a:ext uri="{9D8B030D-6E8A-4147-A177-3AD203B41FA5}">
                      <a16:colId xmlns:a16="http://schemas.microsoft.com/office/drawing/2014/main" val="1442124609"/>
                    </a:ext>
                  </a:extLst>
                </a:gridCol>
                <a:gridCol w="1837164">
                  <a:extLst>
                    <a:ext uri="{9D8B030D-6E8A-4147-A177-3AD203B41FA5}">
                      <a16:colId xmlns:a16="http://schemas.microsoft.com/office/drawing/2014/main" val="3603859997"/>
                    </a:ext>
                  </a:extLst>
                </a:gridCol>
                <a:gridCol w="396392">
                  <a:extLst>
                    <a:ext uri="{9D8B030D-6E8A-4147-A177-3AD203B41FA5}">
                      <a16:colId xmlns:a16="http://schemas.microsoft.com/office/drawing/2014/main" val="4076488391"/>
                    </a:ext>
                  </a:extLst>
                </a:gridCol>
                <a:gridCol w="605212">
                  <a:extLst>
                    <a:ext uri="{9D8B030D-6E8A-4147-A177-3AD203B41FA5}">
                      <a16:colId xmlns:a16="http://schemas.microsoft.com/office/drawing/2014/main" val="3254101706"/>
                    </a:ext>
                  </a:extLst>
                </a:gridCol>
                <a:gridCol w="367334">
                  <a:extLst>
                    <a:ext uri="{9D8B030D-6E8A-4147-A177-3AD203B41FA5}">
                      <a16:colId xmlns:a16="http://schemas.microsoft.com/office/drawing/2014/main" val="3712391277"/>
                    </a:ext>
                  </a:extLst>
                </a:gridCol>
                <a:gridCol w="276835">
                  <a:extLst>
                    <a:ext uri="{9D8B030D-6E8A-4147-A177-3AD203B41FA5}">
                      <a16:colId xmlns:a16="http://schemas.microsoft.com/office/drawing/2014/main" val="1872140390"/>
                    </a:ext>
                  </a:extLst>
                </a:gridCol>
                <a:gridCol w="256102">
                  <a:extLst>
                    <a:ext uri="{9D8B030D-6E8A-4147-A177-3AD203B41FA5}">
                      <a16:colId xmlns:a16="http://schemas.microsoft.com/office/drawing/2014/main" val="2527660299"/>
                    </a:ext>
                  </a:extLst>
                </a:gridCol>
                <a:gridCol w="385530">
                  <a:extLst>
                    <a:ext uri="{9D8B030D-6E8A-4147-A177-3AD203B41FA5}">
                      <a16:colId xmlns:a16="http://schemas.microsoft.com/office/drawing/2014/main" val="3641075278"/>
                    </a:ext>
                  </a:extLst>
                </a:gridCol>
                <a:gridCol w="53572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Advance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Upon advance billing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sng"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Lease Receivable </a:t>
                      </a:r>
                      <a:r>
                        <a:rPr lang="en-US" altLang="zh-CN" sz="900" b="0" i="0" u="sng" strike="noStrike" kern="1200">
                          <a:solidFill>
                            <a:srgbClr val="000000"/>
                          </a:solidFill>
                          <a:effectLst/>
                          <a:latin typeface="Arial" panose="020B0604020202020204" pitchFamily="34" charset="0"/>
                          <a:ea typeface="+mn-ea"/>
                          <a:cs typeface="+mn-cs"/>
                        </a:rPr>
                        <a:t>(3PO)</a:t>
                      </a:r>
                      <a:endParaRPr lang="en-US" sz="900" b="0" i="0" u="sng"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sng"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1479446"/>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0" name="表格 9">
            <a:extLst>
              <a:ext uri="{FF2B5EF4-FFF2-40B4-BE49-F238E27FC236}">
                <a16:creationId xmlns:a16="http://schemas.microsoft.com/office/drawing/2014/main" id="{8C6BFCDC-0CC4-47E1-CBBE-71DE67099B84}"/>
              </a:ext>
            </a:extLst>
          </p:cNvPr>
          <p:cNvGraphicFramePr>
            <a:graphicFrameLocks noGrp="1"/>
          </p:cNvGraphicFramePr>
          <p:nvPr>
            <p:extLst>
              <p:ext uri="{D42A27DB-BD31-4B8C-83A1-F6EECF244321}">
                <p14:modId xmlns:p14="http://schemas.microsoft.com/office/powerpoint/2010/main" val="3255144916"/>
              </p:ext>
            </p:extLst>
          </p:nvPr>
        </p:nvGraphicFramePr>
        <p:xfrm>
          <a:off x="90320" y="1563189"/>
          <a:ext cx="6083688" cy="2201599"/>
        </p:xfrm>
        <a:graphic>
          <a:graphicData uri="http://schemas.openxmlformats.org/drawingml/2006/table">
            <a:tbl>
              <a:tblPr/>
              <a:tblGrid>
                <a:gridCol w="428176">
                  <a:extLst>
                    <a:ext uri="{9D8B030D-6E8A-4147-A177-3AD203B41FA5}">
                      <a16:colId xmlns:a16="http://schemas.microsoft.com/office/drawing/2014/main" val="495084399"/>
                    </a:ext>
                  </a:extLst>
                </a:gridCol>
                <a:gridCol w="235432">
                  <a:extLst>
                    <a:ext uri="{9D8B030D-6E8A-4147-A177-3AD203B41FA5}">
                      <a16:colId xmlns:a16="http://schemas.microsoft.com/office/drawing/2014/main" val="3614210242"/>
                    </a:ext>
                  </a:extLst>
                </a:gridCol>
                <a:gridCol w="560299">
                  <a:extLst>
                    <a:ext uri="{9D8B030D-6E8A-4147-A177-3AD203B41FA5}">
                      <a16:colId xmlns:a16="http://schemas.microsoft.com/office/drawing/2014/main" val="1442124609"/>
                    </a:ext>
                  </a:extLst>
                </a:gridCol>
                <a:gridCol w="2036603">
                  <a:extLst>
                    <a:ext uri="{9D8B030D-6E8A-4147-A177-3AD203B41FA5}">
                      <a16:colId xmlns:a16="http://schemas.microsoft.com/office/drawing/2014/main" val="3603859997"/>
                    </a:ext>
                  </a:extLst>
                </a:gridCol>
                <a:gridCol w="397088">
                  <a:extLst>
                    <a:ext uri="{9D8B030D-6E8A-4147-A177-3AD203B41FA5}">
                      <a16:colId xmlns:a16="http://schemas.microsoft.com/office/drawing/2014/main" val="4076488391"/>
                    </a:ext>
                  </a:extLst>
                </a:gridCol>
                <a:gridCol w="404860">
                  <a:extLst>
                    <a:ext uri="{9D8B030D-6E8A-4147-A177-3AD203B41FA5}">
                      <a16:colId xmlns:a16="http://schemas.microsoft.com/office/drawing/2014/main" val="3254101706"/>
                    </a:ext>
                  </a:extLst>
                </a:gridCol>
                <a:gridCol w="257946">
                  <a:extLst>
                    <a:ext uri="{9D8B030D-6E8A-4147-A177-3AD203B41FA5}">
                      <a16:colId xmlns:a16="http://schemas.microsoft.com/office/drawing/2014/main" val="3712391277"/>
                    </a:ext>
                  </a:extLst>
                </a:gridCol>
                <a:gridCol w="578951">
                  <a:extLst>
                    <a:ext uri="{9D8B030D-6E8A-4147-A177-3AD203B41FA5}">
                      <a16:colId xmlns:a16="http://schemas.microsoft.com/office/drawing/2014/main" val="134131131"/>
                    </a:ext>
                  </a:extLst>
                </a:gridCol>
                <a:gridCol w="330515">
                  <a:extLst>
                    <a:ext uri="{9D8B030D-6E8A-4147-A177-3AD203B41FA5}">
                      <a16:colId xmlns:a16="http://schemas.microsoft.com/office/drawing/2014/main" val="2527660299"/>
                    </a:ext>
                  </a:extLst>
                </a:gridCol>
                <a:gridCol w="364150">
                  <a:extLst>
                    <a:ext uri="{9D8B030D-6E8A-4147-A177-3AD203B41FA5}">
                      <a16:colId xmlns:a16="http://schemas.microsoft.com/office/drawing/2014/main" val="3641075278"/>
                    </a:ext>
                  </a:extLst>
                </a:gridCol>
                <a:gridCol w="48966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Advance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advance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a:t>
                      </a:r>
                      <a:r>
                        <a:rPr lang="en-US" sz="900" b="0" i="0" u="none" strike="noStrike" kern="1200">
                          <a:solidFill>
                            <a:srgbClr val="000000"/>
                          </a:solidFill>
                          <a:effectLst/>
                          <a:latin typeface="Arial" panose="020B0604020202020204" pitchFamily="34" charset="0"/>
                          <a:ea typeface="+mn-ea"/>
                          <a:cs typeface="+mn-cs"/>
                        </a:rPr>
                        <a:t>-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027431B5-77BF-286D-FD93-F44F6223895C}"/>
              </a:ext>
            </a:extLst>
          </p:cNvPr>
          <p:cNvGraphicFramePr>
            <a:graphicFrameLocks noGrp="1"/>
          </p:cNvGraphicFramePr>
          <p:nvPr>
            <p:extLst>
              <p:ext uri="{D42A27DB-BD31-4B8C-83A1-F6EECF244321}">
                <p14:modId xmlns:p14="http://schemas.microsoft.com/office/powerpoint/2010/main" val="2204847916"/>
              </p:ext>
            </p:extLst>
          </p:nvPr>
        </p:nvGraphicFramePr>
        <p:xfrm>
          <a:off x="96745" y="4100824"/>
          <a:ext cx="6039293" cy="2690282"/>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68651">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Billing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71649">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the billing month</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1649">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30353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30353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16774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1677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30353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303536">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1677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167746">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1" name="表格 10">
            <a:extLst>
              <a:ext uri="{FF2B5EF4-FFF2-40B4-BE49-F238E27FC236}">
                <a16:creationId xmlns:a16="http://schemas.microsoft.com/office/drawing/2014/main" id="{C4F993D4-BF31-B62F-69B4-A5E5B487295E}"/>
              </a:ext>
            </a:extLst>
          </p:cNvPr>
          <p:cNvGraphicFramePr>
            <a:graphicFrameLocks noGrp="1"/>
          </p:cNvGraphicFramePr>
          <p:nvPr>
            <p:extLst>
              <p:ext uri="{D42A27DB-BD31-4B8C-83A1-F6EECF244321}">
                <p14:modId xmlns:p14="http://schemas.microsoft.com/office/powerpoint/2010/main" val="1679666091"/>
              </p:ext>
            </p:extLst>
          </p:nvPr>
        </p:nvGraphicFramePr>
        <p:xfrm>
          <a:off x="6319938" y="4239941"/>
          <a:ext cx="5870650"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11350">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Billing month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the billing month</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81641756"/>
                  </a:ext>
                </a:extLst>
              </a:tr>
            </a:tbl>
          </a:graphicData>
        </a:graphic>
      </p:graphicFrame>
      <p:sp>
        <p:nvSpPr>
          <p:cNvPr id="3" name="对话气泡: 矩形 2">
            <a:extLst>
              <a:ext uri="{FF2B5EF4-FFF2-40B4-BE49-F238E27FC236}">
                <a16:creationId xmlns:a16="http://schemas.microsoft.com/office/drawing/2014/main" id="{A49C25D3-C42E-ABFB-6025-07D9B369B4D2}"/>
              </a:ext>
            </a:extLst>
          </p:cNvPr>
          <p:cNvSpPr/>
          <p:nvPr/>
        </p:nvSpPr>
        <p:spPr>
          <a:xfrm>
            <a:off x="6948199" y="5818713"/>
            <a:ext cx="4222720" cy="406827"/>
          </a:xfrm>
          <a:prstGeom prst="wedgeRectCallout">
            <a:avLst>
              <a:gd name="adj1" fmla="val -61573"/>
              <a:gd name="adj2" fmla="val -5808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Automatically amortize at the end of billing period</a:t>
            </a:r>
            <a:endParaRPr lang="zh-CN" altLang="en-US" sz="1200">
              <a:solidFill>
                <a:schemeClr val="tx1"/>
              </a:solidFill>
            </a:endParaRPr>
          </a:p>
        </p:txBody>
      </p:sp>
      <p:sp>
        <p:nvSpPr>
          <p:cNvPr id="5" name="对话气泡: 矩形 4">
            <a:extLst>
              <a:ext uri="{FF2B5EF4-FFF2-40B4-BE49-F238E27FC236}">
                <a16:creationId xmlns:a16="http://schemas.microsoft.com/office/drawing/2014/main" id="{D0A74B28-EF8B-22A6-6074-B81C53911674}"/>
              </a:ext>
            </a:extLst>
          </p:cNvPr>
          <p:cNvSpPr/>
          <p:nvPr/>
        </p:nvSpPr>
        <p:spPr>
          <a:xfrm>
            <a:off x="6780559" y="3646579"/>
            <a:ext cx="4222720" cy="406827"/>
          </a:xfrm>
          <a:prstGeom prst="wedgeRectCallout">
            <a:avLst>
              <a:gd name="adj1" fmla="val -61573"/>
              <a:gd name="adj2" fmla="val -5808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Similar accounting treatment with quarterly billing</a:t>
            </a:r>
            <a:endParaRPr lang="zh-CN" altLang="en-US" sz="1200">
              <a:solidFill>
                <a:schemeClr val="tx1"/>
              </a:solidFill>
            </a:endParaRPr>
          </a:p>
        </p:txBody>
      </p:sp>
      <p:sp>
        <p:nvSpPr>
          <p:cNvPr id="6" name="Slide Number Placeholder 4">
            <a:extLst>
              <a:ext uri="{FF2B5EF4-FFF2-40B4-BE49-F238E27FC236}">
                <a16:creationId xmlns:a16="http://schemas.microsoft.com/office/drawing/2014/main" id="{712F7C74-BC92-DCA9-FB00-CE8EFA7B6E9D}"/>
              </a:ext>
            </a:extLst>
          </p:cNvPr>
          <p:cNvSpPr txBox="1">
            <a:spLocks/>
          </p:cNvSpPr>
          <p:nvPr/>
        </p:nvSpPr>
        <p:spPr>
          <a:xfrm>
            <a:off x="11752263" y="6400801"/>
            <a:ext cx="438150" cy="15557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170</a:t>
            </a:fld>
            <a:endParaRPr lang="en-US">
              <a:solidFill>
                <a:srgbClr val="000000"/>
              </a:solidFill>
            </a:endParaRPr>
          </a:p>
        </p:txBody>
      </p:sp>
    </p:spTree>
    <p:extLst>
      <p:ext uri="{BB962C8B-B14F-4D97-AF65-F5344CB8AC3E}">
        <p14:creationId xmlns:p14="http://schemas.microsoft.com/office/powerpoint/2010/main" val="3110780578"/>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89A6C7-AF01-1CCA-9B41-F714FAA1C72E}"/>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E3F8316D-8DBD-5A98-788E-E04EEA0690EB}"/>
              </a:ext>
            </a:extLst>
          </p:cNvPr>
          <p:cNvGraphicFramePr>
            <a:graphicFrameLocks noGrp="1"/>
          </p:cNvGraphicFramePr>
          <p:nvPr>
            <p:extLst>
              <p:ext uri="{D42A27DB-BD31-4B8C-83A1-F6EECF244321}">
                <p14:modId xmlns:p14="http://schemas.microsoft.com/office/powerpoint/2010/main" val="3530365943"/>
              </p:ext>
            </p:extLst>
          </p:nvPr>
        </p:nvGraphicFramePr>
        <p:xfrm>
          <a:off x="96745" y="373265"/>
          <a:ext cx="6039292" cy="1143000"/>
        </p:xfrm>
        <a:graphic>
          <a:graphicData uri="http://schemas.openxmlformats.org/drawingml/2006/table">
            <a:tbl>
              <a:tblPr firstRow="1" bandRow="1">
                <a:tableStyleId>{3C2FFA5D-87B4-456A-9821-1D502468CF0F}</a:tableStyleId>
              </a:tblPr>
              <a:tblGrid>
                <a:gridCol w="690976">
                  <a:extLst>
                    <a:ext uri="{9D8B030D-6E8A-4147-A177-3AD203B41FA5}">
                      <a16:colId xmlns:a16="http://schemas.microsoft.com/office/drawing/2014/main" val="869603910"/>
                    </a:ext>
                  </a:extLst>
                </a:gridCol>
                <a:gridCol w="715068">
                  <a:extLst>
                    <a:ext uri="{9D8B030D-6E8A-4147-A177-3AD203B41FA5}">
                      <a16:colId xmlns:a16="http://schemas.microsoft.com/office/drawing/2014/main" val="238663902"/>
                    </a:ext>
                  </a:extLst>
                </a:gridCol>
                <a:gridCol w="613292">
                  <a:extLst>
                    <a:ext uri="{9D8B030D-6E8A-4147-A177-3AD203B41FA5}">
                      <a16:colId xmlns:a16="http://schemas.microsoft.com/office/drawing/2014/main" val="4114365151"/>
                    </a:ext>
                  </a:extLst>
                </a:gridCol>
                <a:gridCol w="931919">
                  <a:extLst>
                    <a:ext uri="{9D8B030D-6E8A-4147-A177-3AD203B41FA5}">
                      <a16:colId xmlns:a16="http://schemas.microsoft.com/office/drawing/2014/main" val="4075178046"/>
                    </a:ext>
                  </a:extLst>
                </a:gridCol>
                <a:gridCol w="67818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6760">
                  <a:extLst>
                    <a:ext uri="{9D8B030D-6E8A-4147-A177-3AD203B41FA5}">
                      <a16:colId xmlns:a16="http://schemas.microsoft.com/office/drawing/2014/main" val="3637466090"/>
                    </a:ext>
                  </a:extLst>
                </a:gridCol>
                <a:gridCol w="939197">
                  <a:extLst>
                    <a:ext uri="{9D8B030D-6E8A-4147-A177-3AD203B41FA5}">
                      <a16:colId xmlns:a16="http://schemas.microsoft.com/office/drawing/2014/main" val="221569069"/>
                    </a:ext>
                  </a:extLst>
                </a:gridCol>
              </a:tblGrid>
              <a:tr h="3305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23068">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Quarterly billing</a:t>
                      </a:r>
                      <a:endParaRPr lang="en-US" altLang="zh-CN" sz="1050">
                        <a:solidFill>
                          <a:srgbClr val="FF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Advance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4" name="直接连接符 3">
            <a:extLst>
              <a:ext uri="{FF2B5EF4-FFF2-40B4-BE49-F238E27FC236}">
                <a16:creationId xmlns:a16="http://schemas.microsoft.com/office/drawing/2014/main" id="{9E55A7D1-1674-EEE5-3501-D5C2ED08FBA4}"/>
              </a:ext>
            </a:extLst>
          </p:cNvPr>
          <p:cNvCxnSpPr>
            <a:cxnSpLocks/>
          </p:cNvCxnSpPr>
          <p:nvPr/>
        </p:nvCxnSpPr>
        <p:spPr>
          <a:xfrm>
            <a:off x="6247923"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7" name="文本框 6">
            <a:extLst>
              <a:ext uri="{FF2B5EF4-FFF2-40B4-BE49-F238E27FC236}">
                <a16:creationId xmlns:a16="http://schemas.microsoft.com/office/drawing/2014/main" id="{F8B0FFE7-37FC-2E9E-60F5-97D7107E1D00}"/>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DaaS_S&amp;D_MSA/MLA</a:t>
            </a:r>
            <a:endParaRPr lang="zh-CN" altLang="en-US" sz="2000" b="1"/>
          </a:p>
        </p:txBody>
      </p:sp>
      <p:graphicFrame>
        <p:nvGraphicFramePr>
          <p:cNvPr id="2" name="表格 1">
            <a:extLst>
              <a:ext uri="{FF2B5EF4-FFF2-40B4-BE49-F238E27FC236}">
                <a16:creationId xmlns:a16="http://schemas.microsoft.com/office/drawing/2014/main" id="{58DEDE80-6793-86FD-95D1-D3E2DAEC5085}"/>
              </a:ext>
            </a:extLst>
          </p:cNvPr>
          <p:cNvGraphicFramePr>
            <a:graphicFrameLocks noGrp="1"/>
          </p:cNvGraphicFramePr>
          <p:nvPr>
            <p:extLst>
              <p:ext uri="{D42A27DB-BD31-4B8C-83A1-F6EECF244321}">
                <p14:modId xmlns:p14="http://schemas.microsoft.com/office/powerpoint/2010/main" val="3254914717"/>
              </p:ext>
            </p:extLst>
          </p:nvPr>
        </p:nvGraphicFramePr>
        <p:xfrm>
          <a:off x="6281482" y="349346"/>
          <a:ext cx="5872548" cy="1143000"/>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647222">
                  <a:extLst>
                    <a:ext uri="{9D8B030D-6E8A-4147-A177-3AD203B41FA5}">
                      <a16:colId xmlns:a16="http://schemas.microsoft.com/office/drawing/2014/main" val="4114365151"/>
                    </a:ext>
                  </a:extLst>
                </a:gridCol>
                <a:gridCol w="752475">
                  <a:extLst>
                    <a:ext uri="{9D8B030D-6E8A-4147-A177-3AD203B41FA5}">
                      <a16:colId xmlns:a16="http://schemas.microsoft.com/office/drawing/2014/main" val="4075178046"/>
                    </a:ext>
                  </a:extLst>
                </a:gridCol>
                <a:gridCol w="666750">
                  <a:extLst>
                    <a:ext uri="{9D8B030D-6E8A-4147-A177-3AD203B41FA5}">
                      <a16:colId xmlns:a16="http://schemas.microsoft.com/office/drawing/2014/main" val="973533418"/>
                    </a:ext>
                  </a:extLst>
                </a:gridCol>
                <a:gridCol w="672857">
                  <a:extLst>
                    <a:ext uri="{9D8B030D-6E8A-4147-A177-3AD203B41FA5}">
                      <a16:colId xmlns:a16="http://schemas.microsoft.com/office/drawing/2014/main" val="2377711782"/>
                    </a:ext>
                  </a:extLst>
                </a:gridCol>
                <a:gridCol w="6578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49034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90345">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Quarterly billing</a:t>
                      </a:r>
                      <a:endParaRPr lang="en-US" altLang="zh-CN"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Advance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7">
            <a:extLst>
              <a:ext uri="{FF2B5EF4-FFF2-40B4-BE49-F238E27FC236}">
                <a16:creationId xmlns:a16="http://schemas.microsoft.com/office/drawing/2014/main" id="{51F970D1-7EE5-20D8-139F-E44FE9253E3B}"/>
              </a:ext>
            </a:extLst>
          </p:cNvPr>
          <p:cNvGraphicFramePr>
            <a:graphicFrameLocks noGrp="1"/>
          </p:cNvGraphicFramePr>
          <p:nvPr>
            <p:extLst>
              <p:ext uri="{D42A27DB-BD31-4B8C-83A1-F6EECF244321}">
                <p14:modId xmlns:p14="http://schemas.microsoft.com/office/powerpoint/2010/main" val="2709416535"/>
              </p:ext>
            </p:extLst>
          </p:nvPr>
        </p:nvGraphicFramePr>
        <p:xfrm>
          <a:off x="6283383" y="1566878"/>
          <a:ext cx="5870647" cy="1892418"/>
        </p:xfrm>
        <a:graphic>
          <a:graphicData uri="http://schemas.openxmlformats.org/drawingml/2006/table">
            <a:tbl>
              <a:tblPr/>
              <a:tblGrid>
                <a:gridCol w="409054">
                  <a:extLst>
                    <a:ext uri="{9D8B030D-6E8A-4147-A177-3AD203B41FA5}">
                      <a16:colId xmlns:a16="http://schemas.microsoft.com/office/drawing/2014/main" val="495084399"/>
                    </a:ext>
                  </a:extLst>
                </a:gridCol>
                <a:gridCol w="232343">
                  <a:extLst>
                    <a:ext uri="{9D8B030D-6E8A-4147-A177-3AD203B41FA5}">
                      <a16:colId xmlns:a16="http://schemas.microsoft.com/office/drawing/2014/main" val="3614210242"/>
                    </a:ext>
                  </a:extLst>
                </a:gridCol>
                <a:gridCol w="568953">
                  <a:extLst>
                    <a:ext uri="{9D8B030D-6E8A-4147-A177-3AD203B41FA5}">
                      <a16:colId xmlns:a16="http://schemas.microsoft.com/office/drawing/2014/main" val="1442124609"/>
                    </a:ext>
                  </a:extLst>
                </a:gridCol>
                <a:gridCol w="1837164">
                  <a:extLst>
                    <a:ext uri="{9D8B030D-6E8A-4147-A177-3AD203B41FA5}">
                      <a16:colId xmlns:a16="http://schemas.microsoft.com/office/drawing/2014/main" val="3603859997"/>
                    </a:ext>
                  </a:extLst>
                </a:gridCol>
                <a:gridCol w="396392">
                  <a:extLst>
                    <a:ext uri="{9D8B030D-6E8A-4147-A177-3AD203B41FA5}">
                      <a16:colId xmlns:a16="http://schemas.microsoft.com/office/drawing/2014/main" val="4076488391"/>
                    </a:ext>
                  </a:extLst>
                </a:gridCol>
                <a:gridCol w="605212">
                  <a:extLst>
                    <a:ext uri="{9D8B030D-6E8A-4147-A177-3AD203B41FA5}">
                      <a16:colId xmlns:a16="http://schemas.microsoft.com/office/drawing/2014/main" val="3254101706"/>
                    </a:ext>
                  </a:extLst>
                </a:gridCol>
                <a:gridCol w="367334">
                  <a:extLst>
                    <a:ext uri="{9D8B030D-6E8A-4147-A177-3AD203B41FA5}">
                      <a16:colId xmlns:a16="http://schemas.microsoft.com/office/drawing/2014/main" val="3712391277"/>
                    </a:ext>
                  </a:extLst>
                </a:gridCol>
                <a:gridCol w="276835">
                  <a:extLst>
                    <a:ext uri="{9D8B030D-6E8A-4147-A177-3AD203B41FA5}">
                      <a16:colId xmlns:a16="http://schemas.microsoft.com/office/drawing/2014/main" val="1872140390"/>
                    </a:ext>
                  </a:extLst>
                </a:gridCol>
                <a:gridCol w="256102">
                  <a:extLst>
                    <a:ext uri="{9D8B030D-6E8A-4147-A177-3AD203B41FA5}">
                      <a16:colId xmlns:a16="http://schemas.microsoft.com/office/drawing/2014/main" val="2527660299"/>
                    </a:ext>
                  </a:extLst>
                </a:gridCol>
                <a:gridCol w="385530">
                  <a:extLst>
                    <a:ext uri="{9D8B030D-6E8A-4147-A177-3AD203B41FA5}">
                      <a16:colId xmlns:a16="http://schemas.microsoft.com/office/drawing/2014/main" val="3641075278"/>
                    </a:ext>
                  </a:extLst>
                </a:gridCol>
                <a:gridCol w="53572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Advance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Upon advance billing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1479446"/>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0" name="表格 9">
            <a:extLst>
              <a:ext uri="{FF2B5EF4-FFF2-40B4-BE49-F238E27FC236}">
                <a16:creationId xmlns:a16="http://schemas.microsoft.com/office/drawing/2014/main" id="{ED0BBA88-3D24-E45F-11F1-80541CB18B6D}"/>
              </a:ext>
            </a:extLst>
          </p:cNvPr>
          <p:cNvGraphicFramePr>
            <a:graphicFrameLocks noGrp="1"/>
          </p:cNvGraphicFramePr>
          <p:nvPr>
            <p:extLst>
              <p:ext uri="{D42A27DB-BD31-4B8C-83A1-F6EECF244321}">
                <p14:modId xmlns:p14="http://schemas.microsoft.com/office/powerpoint/2010/main" val="1973464062"/>
              </p:ext>
            </p:extLst>
          </p:nvPr>
        </p:nvGraphicFramePr>
        <p:xfrm>
          <a:off x="54251" y="1562441"/>
          <a:ext cx="6083688" cy="2201599"/>
        </p:xfrm>
        <a:graphic>
          <a:graphicData uri="http://schemas.openxmlformats.org/drawingml/2006/table">
            <a:tbl>
              <a:tblPr/>
              <a:tblGrid>
                <a:gridCol w="428176">
                  <a:extLst>
                    <a:ext uri="{9D8B030D-6E8A-4147-A177-3AD203B41FA5}">
                      <a16:colId xmlns:a16="http://schemas.microsoft.com/office/drawing/2014/main" val="495084399"/>
                    </a:ext>
                  </a:extLst>
                </a:gridCol>
                <a:gridCol w="235432">
                  <a:extLst>
                    <a:ext uri="{9D8B030D-6E8A-4147-A177-3AD203B41FA5}">
                      <a16:colId xmlns:a16="http://schemas.microsoft.com/office/drawing/2014/main" val="3614210242"/>
                    </a:ext>
                  </a:extLst>
                </a:gridCol>
                <a:gridCol w="560299">
                  <a:extLst>
                    <a:ext uri="{9D8B030D-6E8A-4147-A177-3AD203B41FA5}">
                      <a16:colId xmlns:a16="http://schemas.microsoft.com/office/drawing/2014/main" val="1442124609"/>
                    </a:ext>
                  </a:extLst>
                </a:gridCol>
                <a:gridCol w="2036603">
                  <a:extLst>
                    <a:ext uri="{9D8B030D-6E8A-4147-A177-3AD203B41FA5}">
                      <a16:colId xmlns:a16="http://schemas.microsoft.com/office/drawing/2014/main" val="3603859997"/>
                    </a:ext>
                  </a:extLst>
                </a:gridCol>
                <a:gridCol w="397088">
                  <a:extLst>
                    <a:ext uri="{9D8B030D-6E8A-4147-A177-3AD203B41FA5}">
                      <a16:colId xmlns:a16="http://schemas.microsoft.com/office/drawing/2014/main" val="4076488391"/>
                    </a:ext>
                  </a:extLst>
                </a:gridCol>
                <a:gridCol w="404860">
                  <a:extLst>
                    <a:ext uri="{9D8B030D-6E8A-4147-A177-3AD203B41FA5}">
                      <a16:colId xmlns:a16="http://schemas.microsoft.com/office/drawing/2014/main" val="3254101706"/>
                    </a:ext>
                  </a:extLst>
                </a:gridCol>
                <a:gridCol w="257946">
                  <a:extLst>
                    <a:ext uri="{9D8B030D-6E8A-4147-A177-3AD203B41FA5}">
                      <a16:colId xmlns:a16="http://schemas.microsoft.com/office/drawing/2014/main" val="3712391277"/>
                    </a:ext>
                  </a:extLst>
                </a:gridCol>
                <a:gridCol w="578951">
                  <a:extLst>
                    <a:ext uri="{9D8B030D-6E8A-4147-A177-3AD203B41FA5}">
                      <a16:colId xmlns:a16="http://schemas.microsoft.com/office/drawing/2014/main" val="134131131"/>
                    </a:ext>
                  </a:extLst>
                </a:gridCol>
                <a:gridCol w="330515">
                  <a:extLst>
                    <a:ext uri="{9D8B030D-6E8A-4147-A177-3AD203B41FA5}">
                      <a16:colId xmlns:a16="http://schemas.microsoft.com/office/drawing/2014/main" val="2527660299"/>
                    </a:ext>
                  </a:extLst>
                </a:gridCol>
                <a:gridCol w="364150">
                  <a:extLst>
                    <a:ext uri="{9D8B030D-6E8A-4147-A177-3AD203B41FA5}">
                      <a16:colId xmlns:a16="http://schemas.microsoft.com/office/drawing/2014/main" val="3641075278"/>
                    </a:ext>
                  </a:extLst>
                </a:gridCol>
                <a:gridCol w="48966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Advance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advance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a:t>
                      </a:r>
                      <a:r>
                        <a:rPr lang="en-US" sz="900" b="0" i="0" u="none" strike="noStrike" kern="1200">
                          <a:solidFill>
                            <a:srgbClr val="000000"/>
                          </a:solidFill>
                          <a:effectLst/>
                          <a:latin typeface="Arial" panose="020B0604020202020204" pitchFamily="34" charset="0"/>
                          <a:ea typeface="+mn-ea"/>
                          <a:cs typeface="+mn-cs"/>
                        </a:rPr>
                        <a:t>-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97588221-72A6-AC4E-6077-FC55511CAF3B}"/>
              </a:ext>
            </a:extLst>
          </p:cNvPr>
          <p:cNvGraphicFramePr>
            <a:graphicFrameLocks noGrp="1"/>
          </p:cNvGraphicFramePr>
          <p:nvPr>
            <p:extLst>
              <p:ext uri="{D42A27DB-BD31-4B8C-83A1-F6EECF244321}">
                <p14:modId xmlns:p14="http://schemas.microsoft.com/office/powerpoint/2010/main" val="3793157695"/>
              </p:ext>
            </p:extLst>
          </p:nvPr>
        </p:nvGraphicFramePr>
        <p:xfrm>
          <a:off x="96745" y="4053406"/>
          <a:ext cx="6039293" cy="2690282"/>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577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the month</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84/3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84/3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84/3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84/3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1" name="表格 10">
            <a:extLst>
              <a:ext uri="{FF2B5EF4-FFF2-40B4-BE49-F238E27FC236}">
                <a16:creationId xmlns:a16="http://schemas.microsoft.com/office/drawing/2014/main" id="{5920A752-8F88-30E8-E976-76CF6A271D66}"/>
              </a:ext>
            </a:extLst>
          </p:cNvPr>
          <p:cNvGraphicFramePr>
            <a:graphicFrameLocks noGrp="1"/>
          </p:cNvGraphicFramePr>
          <p:nvPr>
            <p:extLst>
              <p:ext uri="{D42A27DB-BD31-4B8C-83A1-F6EECF244321}">
                <p14:modId xmlns:p14="http://schemas.microsoft.com/office/powerpoint/2010/main" val="3346341036"/>
              </p:ext>
            </p:extLst>
          </p:nvPr>
        </p:nvGraphicFramePr>
        <p:xfrm>
          <a:off x="6357908" y="4257456"/>
          <a:ext cx="5870650"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11350">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 Monthly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the month</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81641756"/>
                  </a:ext>
                </a:extLst>
              </a:tr>
            </a:tbl>
          </a:graphicData>
        </a:graphic>
      </p:graphicFrame>
      <p:sp>
        <p:nvSpPr>
          <p:cNvPr id="3" name="对话气泡: 矩形 2">
            <a:extLst>
              <a:ext uri="{FF2B5EF4-FFF2-40B4-BE49-F238E27FC236}">
                <a16:creationId xmlns:a16="http://schemas.microsoft.com/office/drawing/2014/main" id="{3B68E580-6554-BB6D-6B1A-3A79D7E6174D}"/>
              </a:ext>
            </a:extLst>
          </p:cNvPr>
          <p:cNvSpPr/>
          <p:nvPr/>
        </p:nvSpPr>
        <p:spPr>
          <a:xfrm>
            <a:off x="6780559" y="5938705"/>
            <a:ext cx="4298921" cy="444537"/>
          </a:xfrm>
          <a:prstGeom prst="wedgeRectCallout">
            <a:avLst>
              <a:gd name="adj1" fmla="val -61573"/>
              <a:gd name="adj2" fmla="val -5808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Automatically amortize at the end of each month in the quarter</a:t>
            </a:r>
            <a:endParaRPr lang="zh-CN" altLang="en-US" sz="1200">
              <a:solidFill>
                <a:schemeClr val="tx1"/>
              </a:solidFill>
            </a:endParaRPr>
          </a:p>
        </p:txBody>
      </p:sp>
      <p:sp>
        <p:nvSpPr>
          <p:cNvPr id="5" name="对话气泡: 矩形 4">
            <a:extLst>
              <a:ext uri="{FF2B5EF4-FFF2-40B4-BE49-F238E27FC236}">
                <a16:creationId xmlns:a16="http://schemas.microsoft.com/office/drawing/2014/main" id="{67B064F6-700E-25FC-A940-1FD90C142E84}"/>
              </a:ext>
            </a:extLst>
          </p:cNvPr>
          <p:cNvSpPr/>
          <p:nvPr/>
        </p:nvSpPr>
        <p:spPr>
          <a:xfrm>
            <a:off x="6780559" y="3646579"/>
            <a:ext cx="4222720" cy="406827"/>
          </a:xfrm>
          <a:prstGeom prst="wedgeRectCallout">
            <a:avLst>
              <a:gd name="adj1" fmla="val -61573"/>
              <a:gd name="adj2" fmla="val -5808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Same accounting treatment with quarterly normal billing</a:t>
            </a:r>
            <a:endParaRPr lang="zh-CN" altLang="en-US" sz="1200">
              <a:solidFill>
                <a:schemeClr val="tx1"/>
              </a:solidFill>
            </a:endParaRPr>
          </a:p>
        </p:txBody>
      </p:sp>
      <p:sp>
        <p:nvSpPr>
          <p:cNvPr id="6" name="Slide Number Placeholder 4">
            <a:extLst>
              <a:ext uri="{FF2B5EF4-FFF2-40B4-BE49-F238E27FC236}">
                <a16:creationId xmlns:a16="http://schemas.microsoft.com/office/drawing/2014/main" id="{1F16330F-160F-722C-D491-295CCB9D32A3}"/>
              </a:ext>
            </a:extLst>
          </p:cNvPr>
          <p:cNvSpPr txBox="1">
            <a:spLocks/>
          </p:cNvSpPr>
          <p:nvPr/>
        </p:nvSpPr>
        <p:spPr>
          <a:xfrm>
            <a:off x="11752263" y="6400801"/>
            <a:ext cx="438150" cy="15557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171</a:t>
            </a:fld>
            <a:endParaRPr lang="en-US">
              <a:solidFill>
                <a:srgbClr val="000000"/>
              </a:solidFill>
            </a:endParaRPr>
          </a:p>
        </p:txBody>
      </p:sp>
    </p:spTree>
    <p:extLst>
      <p:ext uri="{BB962C8B-B14F-4D97-AF65-F5344CB8AC3E}">
        <p14:creationId xmlns:p14="http://schemas.microsoft.com/office/powerpoint/2010/main" val="1147164411"/>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C351DB-0738-D6AD-22F4-2E4627479C5C}"/>
            </a:ext>
          </a:extLst>
        </p:cNvPr>
        <p:cNvGrpSpPr/>
        <p:nvPr/>
      </p:nvGrpSpPr>
      <p:grpSpPr>
        <a:xfrm>
          <a:off x="0" y="0"/>
          <a:ext cx="0" cy="0"/>
          <a:chOff x="0" y="0"/>
          <a:chExt cx="0" cy="0"/>
        </a:xfrm>
      </p:grpSpPr>
      <p:graphicFrame>
        <p:nvGraphicFramePr>
          <p:cNvPr id="38" name="表格 37">
            <a:extLst>
              <a:ext uri="{FF2B5EF4-FFF2-40B4-BE49-F238E27FC236}">
                <a16:creationId xmlns:a16="http://schemas.microsoft.com/office/drawing/2014/main" id="{B6E81D35-0467-A8C6-5B01-7CA1CE9A3A8F}"/>
              </a:ext>
            </a:extLst>
          </p:cNvPr>
          <p:cNvGraphicFramePr>
            <a:graphicFrameLocks noGrp="1"/>
          </p:cNvGraphicFramePr>
          <p:nvPr>
            <p:extLst>
              <p:ext uri="{D42A27DB-BD31-4B8C-83A1-F6EECF244321}">
                <p14:modId xmlns:p14="http://schemas.microsoft.com/office/powerpoint/2010/main" val="2407014435"/>
              </p:ext>
            </p:extLst>
          </p:nvPr>
        </p:nvGraphicFramePr>
        <p:xfrm>
          <a:off x="96745" y="373265"/>
          <a:ext cx="6039292" cy="1143000"/>
        </p:xfrm>
        <a:graphic>
          <a:graphicData uri="http://schemas.openxmlformats.org/drawingml/2006/table">
            <a:tbl>
              <a:tblPr firstRow="1" bandRow="1">
                <a:tableStyleId>{3C2FFA5D-87B4-456A-9821-1D502468CF0F}</a:tableStyleId>
              </a:tblPr>
              <a:tblGrid>
                <a:gridCol w="690976">
                  <a:extLst>
                    <a:ext uri="{9D8B030D-6E8A-4147-A177-3AD203B41FA5}">
                      <a16:colId xmlns:a16="http://schemas.microsoft.com/office/drawing/2014/main" val="869603910"/>
                    </a:ext>
                  </a:extLst>
                </a:gridCol>
                <a:gridCol w="715068">
                  <a:extLst>
                    <a:ext uri="{9D8B030D-6E8A-4147-A177-3AD203B41FA5}">
                      <a16:colId xmlns:a16="http://schemas.microsoft.com/office/drawing/2014/main" val="238663902"/>
                    </a:ext>
                  </a:extLst>
                </a:gridCol>
                <a:gridCol w="613292">
                  <a:extLst>
                    <a:ext uri="{9D8B030D-6E8A-4147-A177-3AD203B41FA5}">
                      <a16:colId xmlns:a16="http://schemas.microsoft.com/office/drawing/2014/main" val="4114365151"/>
                    </a:ext>
                  </a:extLst>
                </a:gridCol>
                <a:gridCol w="931919">
                  <a:extLst>
                    <a:ext uri="{9D8B030D-6E8A-4147-A177-3AD203B41FA5}">
                      <a16:colId xmlns:a16="http://schemas.microsoft.com/office/drawing/2014/main" val="4075178046"/>
                    </a:ext>
                  </a:extLst>
                </a:gridCol>
                <a:gridCol w="67818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6760">
                  <a:extLst>
                    <a:ext uri="{9D8B030D-6E8A-4147-A177-3AD203B41FA5}">
                      <a16:colId xmlns:a16="http://schemas.microsoft.com/office/drawing/2014/main" val="3637466090"/>
                    </a:ext>
                  </a:extLst>
                </a:gridCol>
                <a:gridCol w="939197">
                  <a:extLst>
                    <a:ext uri="{9D8B030D-6E8A-4147-A177-3AD203B41FA5}">
                      <a16:colId xmlns:a16="http://schemas.microsoft.com/office/drawing/2014/main" val="221569069"/>
                    </a:ext>
                  </a:extLst>
                </a:gridCol>
              </a:tblGrid>
              <a:tr h="3305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23068">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Advance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cxnSp>
        <p:nvCxnSpPr>
          <p:cNvPr id="4" name="直接连接符 3">
            <a:extLst>
              <a:ext uri="{FF2B5EF4-FFF2-40B4-BE49-F238E27FC236}">
                <a16:creationId xmlns:a16="http://schemas.microsoft.com/office/drawing/2014/main" id="{178FF3BD-AFA4-491A-5E7C-A95440B2D6BF}"/>
              </a:ext>
            </a:extLst>
          </p:cNvPr>
          <p:cNvCxnSpPr>
            <a:cxnSpLocks/>
          </p:cNvCxnSpPr>
          <p:nvPr/>
        </p:nvCxnSpPr>
        <p:spPr>
          <a:xfrm>
            <a:off x="6247923" y="509808"/>
            <a:ext cx="0" cy="6348192"/>
          </a:xfrm>
          <a:prstGeom prst="line">
            <a:avLst/>
          </a:prstGeom>
          <a:ln w="38100">
            <a:solidFill>
              <a:srgbClr val="FF0000"/>
            </a:solidFill>
            <a:prstDash val="dash"/>
          </a:ln>
        </p:spPr>
        <p:style>
          <a:lnRef idx="2">
            <a:schemeClr val="accent1"/>
          </a:lnRef>
          <a:fillRef idx="0">
            <a:schemeClr val="accent1"/>
          </a:fillRef>
          <a:effectRef idx="1">
            <a:schemeClr val="accent1"/>
          </a:effectRef>
          <a:fontRef idx="minor">
            <a:schemeClr val="tx1"/>
          </a:fontRef>
        </p:style>
      </p:cxnSp>
      <p:sp>
        <p:nvSpPr>
          <p:cNvPr id="7" name="文本框 6">
            <a:extLst>
              <a:ext uri="{FF2B5EF4-FFF2-40B4-BE49-F238E27FC236}">
                <a16:creationId xmlns:a16="http://schemas.microsoft.com/office/drawing/2014/main" id="{25934A3A-91CC-76ED-7EF4-8B737CA09B44}"/>
              </a:ext>
            </a:extLst>
          </p:cNvPr>
          <p:cNvSpPr txBox="1"/>
          <p:nvPr/>
        </p:nvSpPr>
        <p:spPr>
          <a:xfrm>
            <a:off x="143235" y="47255"/>
            <a:ext cx="4470947" cy="400110"/>
          </a:xfrm>
          <a:prstGeom prst="rect">
            <a:avLst/>
          </a:prstGeom>
          <a:noFill/>
        </p:spPr>
        <p:txBody>
          <a:bodyPr wrap="square" rtlCol="0">
            <a:spAutoFit/>
          </a:bodyPr>
          <a:lstStyle/>
          <a:p>
            <a:r>
              <a:rPr lang="nl-NL" altLang="zh-CN" sz="2000" b="1"/>
              <a:t>DaaS_S&amp;D_MSA/MLA</a:t>
            </a:r>
            <a:endParaRPr lang="zh-CN" altLang="en-US" sz="2000" b="1"/>
          </a:p>
        </p:txBody>
      </p:sp>
      <p:graphicFrame>
        <p:nvGraphicFramePr>
          <p:cNvPr id="2" name="表格 1">
            <a:extLst>
              <a:ext uri="{FF2B5EF4-FFF2-40B4-BE49-F238E27FC236}">
                <a16:creationId xmlns:a16="http://schemas.microsoft.com/office/drawing/2014/main" id="{87EEEE4A-E706-DB0F-02F3-B7603166234E}"/>
              </a:ext>
            </a:extLst>
          </p:cNvPr>
          <p:cNvGraphicFramePr>
            <a:graphicFrameLocks noGrp="1"/>
          </p:cNvGraphicFramePr>
          <p:nvPr>
            <p:extLst>
              <p:ext uri="{D42A27DB-BD31-4B8C-83A1-F6EECF244321}">
                <p14:modId xmlns:p14="http://schemas.microsoft.com/office/powerpoint/2010/main" val="759236226"/>
              </p:ext>
            </p:extLst>
          </p:nvPr>
        </p:nvGraphicFramePr>
        <p:xfrm>
          <a:off x="6281482" y="349346"/>
          <a:ext cx="5872548" cy="1143000"/>
        </p:xfrm>
        <a:graphic>
          <a:graphicData uri="http://schemas.openxmlformats.org/drawingml/2006/table">
            <a:tbl>
              <a:tblPr firstRow="1" bandRow="1">
                <a:tableStyleId>{3C2FFA5D-87B4-456A-9821-1D502468CF0F}</a:tableStyleId>
              </a:tblPr>
              <a:tblGrid>
                <a:gridCol w="671898">
                  <a:extLst>
                    <a:ext uri="{9D8B030D-6E8A-4147-A177-3AD203B41FA5}">
                      <a16:colId xmlns:a16="http://schemas.microsoft.com/office/drawing/2014/main" val="869603910"/>
                    </a:ext>
                  </a:extLst>
                </a:gridCol>
                <a:gridCol w="695325">
                  <a:extLst>
                    <a:ext uri="{9D8B030D-6E8A-4147-A177-3AD203B41FA5}">
                      <a16:colId xmlns:a16="http://schemas.microsoft.com/office/drawing/2014/main" val="238663902"/>
                    </a:ext>
                  </a:extLst>
                </a:gridCol>
                <a:gridCol w="647222">
                  <a:extLst>
                    <a:ext uri="{9D8B030D-6E8A-4147-A177-3AD203B41FA5}">
                      <a16:colId xmlns:a16="http://schemas.microsoft.com/office/drawing/2014/main" val="4114365151"/>
                    </a:ext>
                  </a:extLst>
                </a:gridCol>
                <a:gridCol w="752475">
                  <a:extLst>
                    <a:ext uri="{9D8B030D-6E8A-4147-A177-3AD203B41FA5}">
                      <a16:colId xmlns:a16="http://schemas.microsoft.com/office/drawing/2014/main" val="4075178046"/>
                    </a:ext>
                  </a:extLst>
                </a:gridCol>
                <a:gridCol w="666750">
                  <a:extLst>
                    <a:ext uri="{9D8B030D-6E8A-4147-A177-3AD203B41FA5}">
                      <a16:colId xmlns:a16="http://schemas.microsoft.com/office/drawing/2014/main" val="973533418"/>
                    </a:ext>
                  </a:extLst>
                </a:gridCol>
                <a:gridCol w="672857">
                  <a:extLst>
                    <a:ext uri="{9D8B030D-6E8A-4147-A177-3AD203B41FA5}">
                      <a16:colId xmlns:a16="http://schemas.microsoft.com/office/drawing/2014/main" val="2377711782"/>
                    </a:ext>
                  </a:extLst>
                </a:gridCol>
                <a:gridCol w="657896">
                  <a:extLst>
                    <a:ext uri="{9D8B030D-6E8A-4147-A177-3AD203B41FA5}">
                      <a16:colId xmlns:a16="http://schemas.microsoft.com/office/drawing/2014/main" val="3637466090"/>
                    </a:ext>
                  </a:extLst>
                </a:gridCol>
                <a:gridCol w="1108125">
                  <a:extLst>
                    <a:ext uri="{9D8B030D-6E8A-4147-A177-3AD203B41FA5}">
                      <a16:colId xmlns:a16="http://schemas.microsoft.com/office/drawing/2014/main" val="221569069"/>
                    </a:ext>
                  </a:extLst>
                </a:gridCol>
              </a:tblGrid>
              <a:tr h="490345">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90345">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Finance</a:t>
                      </a:r>
                    </a:p>
                    <a:p>
                      <a:r>
                        <a:rPr lang="en-US" altLang="zh-CN" sz="1050">
                          <a:solidFill>
                            <a:sysClr val="windowText" lastClr="000000"/>
                          </a:solidFill>
                        </a:rPr>
                        <a:t>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Structure Payment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Advance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8" name="表格 7">
            <a:extLst>
              <a:ext uri="{FF2B5EF4-FFF2-40B4-BE49-F238E27FC236}">
                <a16:creationId xmlns:a16="http://schemas.microsoft.com/office/drawing/2014/main" id="{3C643D19-89B6-5DE8-E3D8-0F71C13077B4}"/>
              </a:ext>
            </a:extLst>
          </p:cNvPr>
          <p:cNvGraphicFramePr>
            <a:graphicFrameLocks noGrp="1"/>
          </p:cNvGraphicFramePr>
          <p:nvPr/>
        </p:nvGraphicFramePr>
        <p:xfrm>
          <a:off x="6283383" y="1566878"/>
          <a:ext cx="5870647" cy="1892418"/>
        </p:xfrm>
        <a:graphic>
          <a:graphicData uri="http://schemas.openxmlformats.org/drawingml/2006/table">
            <a:tbl>
              <a:tblPr/>
              <a:tblGrid>
                <a:gridCol w="409054">
                  <a:extLst>
                    <a:ext uri="{9D8B030D-6E8A-4147-A177-3AD203B41FA5}">
                      <a16:colId xmlns:a16="http://schemas.microsoft.com/office/drawing/2014/main" val="495084399"/>
                    </a:ext>
                  </a:extLst>
                </a:gridCol>
                <a:gridCol w="232343">
                  <a:extLst>
                    <a:ext uri="{9D8B030D-6E8A-4147-A177-3AD203B41FA5}">
                      <a16:colId xmlns:a16="http://schemas.microsoft.com/office/drawing/2014/main" val="3614210242"/>
                    </a:ext>
                  </a:extLst>
                </a:gridCol>
                <a:gridCol w="568953">
                  <a:extLst>
                    <a:ext uri="{9D8B030D-6E8A-4147-A177-3AD203B41FA5}">
                      <a16:colId xmlns:a16="http://schemas.microsoft.com/office/drawing/2014/main" val="1442124609"/>
                    </a:ext>
                  </a:extLst>
                </a:gridCol>
                <a:gridCol w="1837164">
                  <a:extLst>
                    <a:ext uri="{9D8B030D-6E8A-4147-A177-3AD203B41FA5}">
                      <a16:colId xmlns:a16="http://schemas.microsoft.com/office/drawing/2014/main" val="3603859997"/>
                    </a:ext>
                  </a:extLst>
                </a:gridCol>
                <a:gridCol w="396392">
                  <a:extLst>
                    <a:ext uri="{9D8B030D-6E8A-4147-A177-3AD203B41FA5}">
                      <a16:colId xmlns:a16="http://schemas.microsoft.com/office/drawing/2014/main" val="4076488391"/>
                    </a:ext>
                  </a:extLst>
                </a:gridCol>
                <a:gridCol w="605212">
                  <a:extLst>
                    <a:ext uri="{9D8B030D-6E8A-4147-A177-3AD203B41FA5}">
                      <a16:colId xmlns:a16="http://schemas.microsoft.com/office/drawing/2014/main" val="3254101706"/>
                    </a:ext>
                  </a:extLst>
                </a:gridCol>
                <a:gridCol w="367334">
                  <a:extLst>
                    <a:ext uri="{9D8B030D-6E8A-4147-A177-3AD203B41FA5}">
                      <a16:colId xmlns:a16="http://schemas.microsoft.com/office/drawing/2014/main" val="3712391277"/>
                    </a:ext>
                  </a:extLst>
                </a:gridCol>
                <a:gridCol w="276835">
                  <a:extLst>
                    <a:ext uri="{9D8B030D-6E8A-4147-A177-3AD203B41FA5}">
                      <a16:colId xmlns:a16="http://schemas.microsoft.com/office/drawing/2014/main" val="1872140390"/>
                    </a:ext>
                  </a:extLst>
                </a:gridCol>
                <a:gridCol w="256102">
                  <a:extLst>
                    <a:ext uri="{9D8B030D-6E8A-4147-A177-3AD203B41FA5}">
                      <a16:colId xmlns:a16="http://schemas.microsoft.com/office/drawing/2014/main" val="2527660299"/>
                    </a:ext>
                  </a:extLst>
                </a:gridCol>
                <a:gridCol w="385530">
                  <a:extLst>
                    <a:ext uri="{9D8B030D-6E8A-4147-A177-3AD203B41FA5}">
                      <a16:colId xmlns:a16="http://schemas.microsoft.com/office/drawing/2014/main" val="3641075278"/>
                    </a:ext>
                  </a:extLst>
                </a:gridCol>
                <a:gridCol w="53572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Advance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algn="ctr" defTabSz="914400" rtl="0" eaLnBrk="1" fontAlgn="base" latinLnBrk="0" hangingPunct="1">
                        <a:lnSpc>
                          <a:spcPts val="1200"/>
                        </a:lnSpc>
                        <a:buNone/>
                      </a:pPr>
                      <a:r>
                        <a:rPr lang="en-US" altLang="zh-CN" sz="900" b="1" i="0" u="none" strike="noStrike" kern="1200">
                          <a:solidFill>
                            <a:srgbClr val="000000"/>
                          </a:solidFill>
                          <a:effectLst/>
                          <a:latin typeface="Arial" panose="020B0604020202020204" pitchFamily="34" charset="0"/>
                          <a:ea typeface="+mn-ea"/>
                          <a:cs typeface="+mn-cs"/>
                        </a:rPr>
                        <a:t>Upon advance billing</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21936">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AR Finance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1400301</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Lease Receivable </a:t>
                      </a:r>
                      <a:r>
                        <a:rPr lang="en-US" altLang="zh-CN" sz="900" b="0" i="0" u="none" strike="noStrike" kern="1200">
                          <a:solidFill>
                            <a:srgbClr val="000000"/>
                          </a:solidFill>
                          <a:effectLst/>
                          <a:latin typeface="Arial" panose="020B0604020202020204" pitchFamily="34" charset="0"/>
                          <a:ea typeface="+mn-ea"/>
                          <a:cs typeface="+mn-cs"/>
                        </a:rPr>
                        <a:t>(3PO)</a:t>
                      </a:r>
                      <a:endParaRPr lang="en-US" sz="900" b="0" i="0" u="none"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511479446"/>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endParaRPr lang="zh-CN" altLang="en-US" sz="900" b="0" i="0" u="none" strike="noStrike" kern="1200">
                        <a:solidFill>
                          <a:srgbClr val="000000"/>
                        </a:solidFill>
                        <a:effectLst/>
                        <a:latin typeface="Arial" panose="020B0604020202020204" pitchFamily="34" charset="0"/>
                        <a:ea typeface="+mn-ea"/>
                        <a:cs typeface="+mn-cs"/>
                      </a:endParaRP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0256455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322820739"/>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0" name="表格 9">
            <a:extLst>
              <a:ext uri="{FF2B5EF4-FFF2-40B4-BE49-F238E27FC236}">
                <a16:creationId xmlns:a16="http://schemas.microsoft.com/office/drawing/2014/main" id="{E3B71242-3983-90BD-AF6A-CFF1DB9A0FE2}"/>
              </a:ext>
            </a:extLst>
          </p:cNvPr>
          <p:cNvGraphicFramePr>
            <a:graphicFrameLocks noGrp="1"/>
          </p:cNvGraphicFramePr>
          <p:nvPr/>
        </p:nvGraphicFramePr>
        <p:xfrm>
          <a:off x="54251" y="1562441"/>
          <a:ext cx="6083688" cy="2201599"/>
        </p:xfrm>
        <a:graphic>
          <a:graphicData uri="http://schemas.openxmlformats.org/drawingml/2006/table">
            <a:tbl>
              <a:tblPr/>
              <a:tblGrid>
                <a:gridCol w="428176">
                  <a:extLst>
                    <a:ext uri="{9D8B030D-6E8A-4147-A177-3AD203B41FA5}">
                      <a16:colId xmlns:a16="http://schemas.microsoft.com/office/drawing/2014/main" val="495084399"/>
                    </a:ext>
                  </a:extLst>
                </a:gridCol>
                <a:gridCol w="235432">
                  <a:extLst>
                    <a:ext uri="{9D8B030D-6E8A-4147-A177-3AD203B41FA5}">
                      <a16:colId xmlns:a16="http://schemas.microsoft.com/office/drawing/2014/main" val="3614210242"/>
                    </a:ext>
                  </a:extLst>
                </a:gridCol>
                <a:gridCol w="560299">
                  <a:extLst>
                    <a:ext uri="{9D8B030D-6E8A-4147-A177-3AD203B41FA5}">
                      <a16:colId xmlns:a16="http://schemas.microsoft.com/office/drawing/2014/main" val="1442124609"/>
                    </a:ext>
                  </a:extLst>
                </a:gridCol>
                <a:gridCol w="2036603">
                  <a:extLst>
                    <a:ext uri="{9D8B030D-6E8A-4147-A177-3AD203B41FA5}">
                      <a16:colId xmlns:a16="http://schemas.microsoft.com/office/drawing/2014/main" val="3603859997"/>
                    </a:ext>
                  </a:extLst>
                </a:gridCol>
                <a:gridCol w="397088">
                  <a:extLst>
                    <a:ext uri="{9D8B030D-6E8A-4147-A177-3AD203B41FA5}">
                      <a16:colId xmlns:a16="http://schemas.microsoft.com/office/drawing/2014/main" val="4076488391"/>
                    </a:ext>
                  </a:extLst>
                </a:gridCol>
                <a:gridCol w="404860">
                  <a:extLst>
                    <a:ext uri="{9D8B030D-6E8A-4147-A177-3AD203B41FA5}">
                      <a16:colId xmlns:a16="http://schemas.microsoft.com/office/drawing/2014/main" val="3254101706"/>
                    </a:ext>
                  </a:extLst>
                </a:gridCol>
                <a:gridCol w="257946">
                  <a:extLst>
                    <a:ext uri="{9D8B030D-6E8A-4147-A177-3AD203B41FA5}">
                      <a16:colId xmlns:a16="http://schemas.microsoft.com/office/drawing/2014/main" val="3712391277"/>
                    </a:ext>
                  </a:extLst>
                </a:gridCol>
                <a:gridCol w="578951">
                  <a:extLst>
                    <a:ext uri="{9D8B030D-6E8A-4147-A177-3AD203B41FA5}">
                      <a16:colId xmlns:a16="http://schemas.microsoft.com/office/drawing/2014/main" val="134131131"/>
                    </a:ext>
                  </a:extLst>
                </a:gridCol>
                <a:gridCol w="330515">
                  <a:extLst>
                    <a:ext uri="{9D8B030D-6E8A-4147-A177-3AD203B41FA5}">
                      <a16:colId xmlns:a16="http://schemas.microsoft.com/office/drawing/2014/main" val="2527660299"/>
                    </a:ext>
                  </a:extLst>
                </a:gridCol>
                <a:gridCol w="364150">
                  <a:extLst>
                    <a:ext uri="{9D8B030D-6E8A-4147-A177-3AD203B41FA5}">
                      <a16:colId xmlns:a16="http://schemas.microsoft.com/office/drawing/2014/main" val="3641075278"/>
                    </a:ext>
                  </a:extLst>
                </a:gridCol>
                <a:gridCol w="489668">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S&amp;D​</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Advance Invoice issued to customer </a:t>
                      </a:r>
                      <a:r>
                        <a:rPr lang="en-US" sz="8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advance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111.9</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111.9</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a:t>
                      </a:r>
                      <a:r>
                        <a:rPr lang="en-US" sz="900" b="0" i="0" u="none" strike="noStrike" kern="1200">
                          <a:solidFill>
                            <a:srgbClr val="000000"/>
                          </a:solidFill>
                          <a:effectLst/>
                          <a:latin typeface="Arial" panose="020B0604020202020204" pitchFamily="34" charset="0"/>
                          <a:ea typeface="+mn-ea"/>
                          <a:cs typeface="+mn-cs"/>
                        </a:rPr>
                        <a:t>-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240B88FC-D573-06B0-2C41-CECD26C4F6FC}"/>
              </a:ext>
            </a:extLst>
          </p:cNvPr>
          <p:cNvGraphicFramePr>
            <a:graphicFrameLocks noGrp="1"/>
          </p:cNvGraphicFramePr>
          <p:nvPr>
            <p:extLst>
              <p:ext uri="{D42A27DB-BD31-4B8C-83A1-F6EECF244321}">
                <p14:modId xmlns:p14="http://schemas.microsoft.com/office/powerpoint/2010/main" val="3170219479"/>
              </p:ext>
            </p:extLst>
          </p:nvPr>
        </p:nvGraphicFramePr>
        <p:xfrm>
          <a:off x="96745" y="4053406"/>
          <a:ext cx="6039293" cy="2690282"/>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57729">
                <a:tc rowSpan="11">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the month</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Operating Lease Revenue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U4(ECC)</a:t>
                      </a: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11" name="表格 10">
            <a:extLst>
              <a:ext uri="{FF2B5EF4-FFF2-40B4-BE49-F238E27FC236}">
                <a16:creationId xmlns:a16="http://schemas.microsoft.com/office/drawing/2014/main" id="{BCE889BB-F90A-F077-D992-CA4FE9B302EC}"/>
              </a:ext>
            </a:extLst>
          </p:cNvPr>
          <p:cNvGraphicFramePr>
            <a:graphicFrameLocks noGrp="1"/>
          </p:cNvGraphicFramePr>
          <p:nvPr/>
        </p:nvGraphicFramePr>
        <p:xfrm>
          <a:off x="6357908" y="4257456"/>
          <a:ext cx="5870650" cy="13276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1911350">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 Monthly end adjustment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At the end of the month</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5010453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Services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969528025"/>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5010401</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mn-ea"/>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481641756"/>
                  </a:ext>
                </a:extLst>
              </a:tr>
            </a:tbl>
          </a:graphicData>
        </a:graphic>
      </p:graphicFrame>
      <p:sp>
        <p:nvSpPr>
          <p:cNvPr id="3" name="对话气泡: 矩形 2">
            <a:extLst>
              <a:ext uri="{FF2B5EF4-FFF2-40B4-BE49-F238E27FC236}">
                <a16:creationId xmlns:a16="http://schemas.microsoft.com/office/drawing/2014/main" id="{41E85D98-FABC-D8A5-D31C-CBD3AEC8C127}"/>
              </a:ext>
            </a:extLst>
          </p:cNvPr>
          <p:cNvSpPr/>
          <p:nvPr/>
        </p:nvSpPr>
        <p:spPr>
          <a:xfrm>
            <a:off x="6879619" y="5938705"/>
            <a:ext cx="4222720" cy="444537"/>
          </a:xfrm>
          <a:prstGeom prst="wedgeRectCallout">
            <a:avLst>
              <a:gd name="adj1" fmla="val -61573"/>
              <a:gd name="adj2" fmla="val -5808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Same structure payment amortization logic</a:t>
            </a:r>
            <a:endParaRPr lang="zh-CN" altLang="en-US" sz="1200">
              <a:solidFill>
                <a:schemeClr val="tx1"/>
              </a:solidFill>
            </a:endParaRPr>
          </a:p>
        </p:txBody>
      </p:sp>
      <p:sp>
        <p:nvSpPr>
          <p:cNvPr id="5" name="对话气泡: 矩形 4">
            <a:extLst>
              <a:ext uri="{FF2B5EF4-FFF2-40B4-BE49-F238E27FC236}">
                <a16:creationId xmlns:a16="http://schemas.microsoft.com/office/drawing/2014/main" id="{14E1DDA3-0CFF-83A9-1D22-ACD254B3F6BC}"/>
              </a:ext>
            </a:extLst>
          </p:cNvPr>
          <p:cNvSpPr/>
          <p:nvPr/>
        </p:nvSpPr>
        <p:spPr>
          <a:xfrm>
            <a:off x="6780559" y="3646579"/>
            <a:ext cx="4222720" cy="498701"/>
          </a:xfrm>
          <a:prstGeom prst="wedgeRectCallout">
            <a:avLst>
              <a:gd name="adj1" fmla="val -61573"/>
              <a:gd name="adj2" fmla="val -58081"/>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Same accounting treatment with down payment.</a:t>
            </a:r>
            <a:endParaRPr lang="zh-CN" altLang="en-US" sz="1200">
              <a:solidFill>
                <a:schemeClr val="tx1"/>
              </a:solidFill>
            </a:endParaRPr>
          </a:p>
        </p:txBody>
      </p:sp>
      <p:sp>
        <p:nvSpPr>
          <p:cNvPr id="6" name="Slide Number Placeholder 4">
            <a:extLst>
              <a:ext uri="{FF2B5EF4-FFF2-40B4-BE49-F238E27FC236}">
                <a16:creationId xmlns:a16="http://schemas.microsoft.com/office/drawing/2014/main" id="{B8B5CE14-F376-406E-134B-DB00A65864C4}"/>
              </a:ext>
            </a:extLst>
          </p:cNvPr>
          <p:cNvSpPr txBox="1">
            <a:spLocks/>
          </p:cNvSpPr>
          <p:nvPr/>
        </p:nvSpPr>
        <p:spPr>
          <a:xfrm>
            <a:off x="11752263" y="6400801"/>
            <a:ext cx="438150" cy="15557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172</a:t>
            </a:fld>
            <a:endParaRPr lang="en-US">
              <a:solidFill>
                <a:srgbClr val="000000"/>
              </a:solidFill>
            </a:endParaRPr>
          </a:p>
        </p:txBody>
      </p:sp>
    </p:spTree>
    <p:extLst>
      <p:ext uri="{BB962C8B-B14F-4D97-AF65-F5344CB8AC3E}">
        <p14:creationId xmlns:p14="http://schemas.microsoft.com/office/powerpoint/2010/main" val="2265940670"/>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6DD29F-A25C-95F5-169E-D229B0DB3FB1}"/>
            </a:ext>
          </a:extLst>
        </p:cNvPr>
        <p:cNvGrpSpPr/>
        <p:nvPr/>
      </p:nvGrpSpPr>
      <p:grpSpPr>
        <a:xfrm>
          <a:off x="0" y="0"/>
          <a:ext cx="0" cy="0"/>
          <a:chOff x="0" y="0"/>
          <a:chExt cx="0" cy="0"/>
        </a:xfrm>
      </p:grpSpPr>
      <p:sp>
        <p:nvSpPr>
          <p:cNvPr id="7" name="文本框 6">
            <a:extLst>
              <a:ext uri="{FF2B5EF4-FFF2-40B4-BE49-F238E27FC236}">
                <a16:creationId xmlns:a16="http://schemas.microsoft.com/office/drawing/2014/main" id="{915B4296-EC7C-CC6A-104F-1078090F1012}"/>
              </a:ext>
            </a:extLst>
          </p:cNvPr>
          <p:cNvSpPr txBox="1"/>
          <p:nvPr/>
        </p:nvSpPr>
        <p:spPr>
          <a:xfrm>
            <a:off x="143235" y="47255"/>
            <a:ext cx="4470947" cy="400110"/>
          </a:xfrm>
          <a:prstGeom prst="rect">
            <a:avLst/>
          </a:prstGeom>
          <a:noFill/>
        </p:spPr>
        <p:txBody>
          <a:bodyPr wrap="square" rtlCol="0">
            <a:spAutoFit/>
          </a:bodyPr>
          <a:lstStyle/>
          <a:p>
            <a:r>
              <a:rPr lang="nl-NL" altLang="zh-CN" sz="2000" b="1"/>
              <a:t>DaaS_AFE_MSA/MLA</a:t>
            </a:r>
            <a:endParaRPr lang="zh-CN" altLang="en-US" sz="2000" b="1"/>
          </a:p>
        </p:txBody>
      </p:sp>
      <p:graphicFrame>
        <p:nvGraphicFramePr>
          <p:cNvPr id="10" name="表格 9">
            <a:extLst>
              <a:ext uri="{FF2B5EF4-FFF2-40B4-BE49-F238E27FC236}">
                <a16:creationId xmlns:a16="http://schemas.microsoft.com/office/drawing/2014/main" id="{E610188C-8DD6-A7D3-0DEE-2119C67085CC}"/>
              </a:ext>
            </a:extLst>
          </p:cNvPr>
          <p:cNvGraphicFramePr>
            <a:graphicFrameLocks noGrp="1"/>
          </p:cNvGraphicFramePr>
          <p:nvPr>
            <p:extLst>
              <p:ext uri="{D42A27DB-BD31-4B8C-83A1-F6EECF244321}">
                <p14:modId xmlns:p14="http://schemas.microsoft.com/office/powerpoint/2010/main" val="3423517981"/>
              </p:ext>
            </p:extLst>
          </p:nvPr>
        </p:nvGraphicFramePr>
        <p:xfrm>
          <a:off x="6095998" y="368724"/>
          <a:ext cx="6039293" cy="2201599"/>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10">
                  <a:txBody>
                    <a:bodyPr/>
                    <a:lstStyle/>
                    <a:p>
                      <a:pPr algn="ctr" fontAlgn="base">
                        <a:lnSpc>
                          <a:spcPts val="1425"/>
                        </a:lnSpc>
                        <a:buNone/>
                      </a:pPr>
                      <a:r>
                        <a:rPr lang="en-US" sz="900" b="1" i="0">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800" b="1" i="0" u="none" strike="noStrike">
                          <a:solidFill>
                            <a:srgbClr val="FFFFFF"/>
                          </a:solidFill>
                          <a:effectLst/>
                          <a:latin typeface="Arial" panose="020B0604020202020204" pitchFamily="34" charset="0"/>
                        </a:rPr>
                        <a:t>Advance Invoice issued to customer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advance billing</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111</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111</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r h="9144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922182322"/>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a:t>
                      </a:r>
                      <a:r>
                        <a:rPr lang="en-US" altLang="zh-CN" sz="900" b="0" i="0" u="none" strike="noStrike" kern="1200">
                          <a:solidFill>
                            <a:srgbClr val="000000"/>
                          </a:solidFill>
                          <a:effectLst/>
                          <a:latin typeface="Arial" panose="020B0604020202020204" pitchFamily="34" charset="0"/>
                          <a:ea typeface="+mn-ea"/>
                          <a:cs typeface="+mn-cs"/>
                        </a:rPr>
                        <a:t>cc Receivable</a:t>
                      </a:r>
                      <a:r>
                        <a:rPr lang="en-US" sz="900" b="0" i="0" u="none" strike="noStrike" kern="1200">
                          <a:solidFill>
                            <a:srgbClr val="000000"/>
                          </a:solidFill>
                          <a:effectLst/>
                          <a:latin typeface="Arial" panose="020B0604020202020204" pitchFamily="34" charset="0"/>
                          <a:ea typeface="+mn-ea"/>
                          <a:cs typeface="+mn-cs"/>
                        </a:rPr>
                        <a:t> - Upfront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1689298417"/>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Premier(funded)</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509671263"/>
                  </a:ext>
                </a:extLst>
              </a:tr>
            </a:tbl>
          </a:graphicData>
        </a:graphic>
      </p:graphicFrame>
      <p:graphicFrame>
        <p:nvGraphicFramePr>
          <p:cNvPr id="9" name="表格 8">
            <a:extLst>
              <a:ext uri="{FF2B5EF4-FFF2-40B4-BE49-F238E27FC236}">
                <a16:creationId xmlns:a16="http://schemas.microsoft.com/office/drawing/2014/main" id="{311F34F2-7C9B-60FC-D576-0A886E91641C}"/>
              </a:ext>
            </a:extLst>
          </p:cNvPr>
          <p:cNvGraphicFramePr>
            <a:graphicFrameLocks noGrp="1"/>
          </p:cNvGraphicFramePr>
          <p:nvPr>
            <p:extLst>
              <p:ext uri="{D42A27DB-BD31-4B8C-83A1-F6EECF244321}">
                <p14:modId xmlns:p14="http://schemas.microsoft.com/office/powerpoint/2010/main" val="2194696951"/>
              </p:ext>
            </p:extLst>
          </p:nvPr>
        </p:nvGraphicFramePr>
        <p:xfrm>
          <a:off x="6095997" y="2609321"/>
          <a:ext cx="6039293" cy="1143743"/>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Advance payment to S&amp;D</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altLang="zh-CN" sz="900" b="1" i="0" u="none" strike="noStrike">
                          <a:solidFill>
                            <a:srgbClr val="000000"/>
                          </a:solidFill>
                          <a:effectLst/>
                          <a:latin typeface="Arial" panose="020B0604020202020204" pitchFamily="34" charset="0"/>
                        </a:rPr>
                        <a:t>Upon Advance Billing</a:t>
                      </a:r>
                      <a:r>
                        <a:rPr lang="en-US" altLang="zh-CN" sz="900" b="0" i="0">
                          <a:solidFill>
                            <a:srgbClr val="000000"/>
                          </a:solidFill>
                          <a:effectLst/>
                          <a:latin typeface="Arial" panose="020B0604020202020204" pitchFamily="34" charset="0"/>
                        </a:rPr>
                        <a:t>​</a:t>
                      </a:r>
                      <a:endParaRPr lang="en-US" altLang="zh-CN"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Agent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240612593"/>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2030200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A/P-inter Group</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3" name="表格 2">
            <a:extLst>
              <a:ext uri="{FF2B5EF4-FFF2-40B4-BE49-F238E27FC236}">
                <a16:creationId xmlns:a16="http://schemas.microsoft.com/office/drawing/2014/main" id="{692D7D5F-5EB1-1F66-3D5F-6AF1369C7B1B}"/>
              </a:ext>
            </a:extLst>
          </p:cNvPr>
          <p:cNvGraphicFramePr>
            <a:graphicFrameLocks noGrp="1"/>
          </p:cNvGraphicFramePr>
          <p:nvPr>
            <p:extLst>
              <p:ext uri="{D42A27DB-BD31-4B8C-83A1-F6EECF244321}">
                <p14:modId xmlns:p14="http://schemas.microsoft.com/office/powerpoint/2010/main" val="3254918264"/>
              </p:ext>
            </p:extLst>
          </p:nvPr>
        </p:nvGraphicFramePr>
        <p:xfrm>
          <a:off x="143235" y="2613702"/>
          <a:ext cx="5915467" cy="1139362"/>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Advance Billing to AFE </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algn="ctr" fontAlgn="base">
                        <a:lnSpc>
                          <a:spcPts val="1200"/>
                        </a:lnSpc>
                        <a:buNone/>
                      </a:pPr>
                      <a:r>
                        <a:rPr lang="en-US" sz="900" b="1" i="0">
                          <a:solidFill>
                            <a:srgbClr val="000000"/>
                          </a:solidFill>
                          <a:effectLst/>
                          <a:latin typeface="Arial" panose="020B0604020202020204" pitchFamily="34" charset="0"/>
                        </a:rPr>
                        <a:t>Upon Advance Billing</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1130200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A/R Inter Group</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endParaRPr lang="en-US" altLang="zh-CN" sz="900" b="0" i="0" u="none" strike="noStrike" kern="1200">
                        <a:solidFill>
                          <a:srgbClr val="000000"/>
                        </a:solidFill>
                        <a:effectLst/>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2070009</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Deferred Revenue – 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514087354"/>
                  </a:ext>
                </a:extLst>
              </a:tr>
            </a:tbl>
          </a:graphicData>
        </a:graphic>
      </p:graphicFrame>
      <p:graphicFrame>
        <p:nvGraphicFramePr>
          <p:cNvPr id="5" name="表格 4">
            <a:extLst>
              <a:ext uri="{FF2B5EF4-FFF2-40B4-BE49-F238E27FC236}">
                <a16:creationId xmlns:a16="http://schemas.microsoft.com/office/drawing/2014/main" id="{00B80726-E166-E0F7-1E19-AF4FFB4724BB}"/>
              </a:ext>
            </a:extLst>
          </p:cNvPr>
          <p:cNvGraphicFramePr>
            <a:graphicFrameLocks noGrp="1"/>
          </p:cNvGraphicFramePr>
          <p:nvPr>
            <p:extLst>
              <p:ext uri="{D42A27DB-BD31-4B8C-83A1-F6EECF244321}">
                <p14:modId xmlns:p14="http://schemas.microsoft.com/office/powerpoint/2010/main" val="1657198526"/>
              </p:ext>
            </p:extLst>
          </p:nvPr>
        </p:nvGraphicFramePr>
        <p:xfrm>
          <a:off x="143235" y="3812129"/>
          <a:ext cx="5915467" cy="951098"/>
        </p:xfrm>
        <a:graphic>
          <a:graphicData uri="http://schemas.openxmlformats.org/drawingml/2006/table">
            <a:tbl>
              <a:tblPr/>
              <a:tblGrid>
                <a:gridCol w="428332">
                  <a:extLst>
                    <a:ext uri="{9D8B030D-6E8A-4147-A177-3AD203B41FA5}">
                      <a16:colId xmlns:a16="http://schemas.microsoft.com/office/drawing/2014/main" val="495084399"/>
                    </a:ext>
                  </a:extLst>
                </a:gridCol>
                <a:gridCol w="235518">
                  <a:extLst>
                    <a:ext uri="{9D8B030D-6E8A-4147-A177-3AD203B41FA5}">
                      <a16:colId xmlns:a16="http://schemas.microsoft.com/office/drawing/2014/main" val="3614210242"/>
                    </a:ext>
                  </a:extLst>
                </a:gridCol>
                <a:gridCol w="560503">
                  <a:extLst>
                    <a:ext uri="{9D8B030D-6E8A-4147-A177-3AD203B41FA5}">
                      <a16:colId xmlns:a16="http://schemas.microsoft.com/office/drawing/2014/main" val="1442124609"/>
                    </a:ext>
                  </a:extLst>
                </a:gridCol>
                <a:gridCol w="2037346">
                  <a:extLst>
                    <a:ext uri="{9D8B030D-6E8A-4147-A177-3AD203B41FA5}">
                      <a16:colId xmlns:a16="http://schemas.microsoft.com/office/drawing/2014/main" val="3603859997"/>
                    </a:ext>
                  </a:extLst>
                </a:gridCol>
                <a:gridCol w="315899">
                  <a:extLst>
                    <a:ext uri="{9D8B030D-6E8A-4147-A177-3AD203B41FA5}">
                      <a16:colId xmlns:a16="http://schemas.microsoft.com/office/drawing/2014/main" val="4076488391"/>
                    </a:ext>
                  </a:extLst>
                </a:gridCol>
                <a:gridCol w="315899">
                  <a:extLst>
                    <a:ext uri="{9D8B030D-6E8A-4147-A177-3AD203B41FA5}">
                      <a16:colId xmlns:a16="http://schemas.microsoft.com/office/drawing/2014/main" val="3254101706"/>
                    </a:ext>
                  </a:extLst>
                </a:gridCol>
                <a:gridCol w="258041">
                  <a:extLst>
                    <a:ext uri="{9D8B030D-6E8A-4147-A177-3AD203B41FA5}">
                      <a16:colId xmlns:a16="http://schemas.microsoft.com/office/drawing/2014/main" val="3712391277"/>
                    </a:ext>
                  </a:extLst>
                </a:gridCol>
                <a:gridCol w="579163">
                  <a:extLst>
                    <a:ext uri="{9D8B030D-6E8A-4147-A177-3AD203B41FA5}">
                      <a16:colId xmlns:a16="http://schemas.microsoft.com/office/drawing/2014/main" val="134131131"/>
                    </a:ext>
                  </a:extLst>
                </a:gridCol>
                <a:gridCol w="330636">
                  <a:extLst>
                    <a:ext uri="{9D8B030D-6E8A-4147-A177-3AD203B41FA5}">
                      <a16:colId xmlns:a16="http://schemas.microsoft.com/office/drawing/2014/main" val="2527660299"/>
                    </a:ext>
                  </a:extLst>
                </a:gridCol>
                <a:gridCol w="364283">
                  <a:extLst>
                    <a:ext uri="{9D8B030D-6E8A-4147-A177-3AD203B41FA5}">
                      <a16:colId xmlns:a16="http://schemas.microsoft.com/office/drawing/2014/main" val="3641075278"/>
                    </a:ext>
                  </a:extLst>
                </a:gridCol>
                <a:gridCol w="489847">
                  <a:extLst>
                    <a:ext uri="{9D8B030D-6E8A-4147-A177-3AD203B41FA5}">
                      <a16:colId xmlns:a16="http://schemas.microsoft.com/office/drawing/2014/main" val="3618613915"/>
                    </a:ext>
                  </a:extLst>
                </a:gridCol>
              </a:tblGrid>
              <a:tr h="127981">
                <a:tc rowSpan="5">
                  <a:txBody>
                    <a:bodyPr/>
                    <a:lstStyle/>
                    <a:p>
                      <a:pPr algn="ctr" fontAlgn="base">
                        <a:lnSpc>
                          <a:spcPts val="1425"/>
                        </a:lnSpc>
                        <a:buNone/>
                      </a:pPr>
                      <a:r>
                        <a:rPr lang="en-US" sz="900" b="1" i="0" u="none" strike="noStrike">
                          <a:solidFill>
                            <a:srgbClr val="FFFFFF"/>
                          </a:solidFill>
                          <a:effectLst/>
                          <a:latin typeface="Arial" panose="020B0604020202020204" pitchFamily="34" charset="0"/>
                        </a:rPr>
                        <a:t>S&amp;D</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Billing month end adjustment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a:solidFill>
                            <a:srgbClr val="000000"/>
                          </a:solidFill>
                          <a:effectLst/>
                          <a:latin typeface="Arial" panose="020B0604020202020204" pitchFamily="34" charset="0"/>
                        </a:rPr>
                        <a:t>At the end of the month</a:t>
                      </a:r>
                      <a:r>
                        <a:rPr lang="en-US" sz="900" b="1" i="0">
                          <a:solidFill>
                            <a:srgbClr val="000000"/>
                          </a:solidFill>
                          <a:effectLst/>
                          <a:latin typeface="Arial" panose="020B0604020202020204" pitchFamily="34" charset="0"/>
                        </a:rPr>
                        <a:t>​</a:t>
                      </a:r>
                      <a:endParaRPr lang="en-US"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2070000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Defer Revenue - 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SVC</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440">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5010453</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sz="900" b="0" i="0" u="none" strike="noStrike" kern="1200">
                          <a:solidFill>
                            <a:srgbClr val="000000"/>
                          </a:solidFill>
                          <a:effectLst/>
                          <a:latin typeface="Arial" panose="020B0604020202020204" pitchFamily="34" charset="0"/>
                          <a:ea typeface="+mn-ea"/>
                          <a:cs typeface="+mn-cs"/>
                        </a:rPr>
                        <a:t>Service Revenue – </a:t>
                      </a:r>
                      <a:r>
                        <a:rPr lang="en-US" altLang="zh-CN" sz="900" b="0" i="0" u="none" strike="noStrike" kern="1200">
                          <a:solidFill>
                            <a:srgbClr val="000000"/>
                          </a:solidFill>
                          <a:effectLst/>
                          <a:latin typeface="Arial" panose="020B0604020202020204" pitchFamily="34" charset="0"/>
                          <a:ea typeface="+mn-ea"/>
                          <a:cs typeface="+mn-cs"/>
                        </a:rPr>
                        <a:t>Mgt service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6</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3875227674"/>
                  </a:ext>
                </a:extLst>
              </a:tr>
            </a:tbl>
          </a:graphicData>
        </a:graphic>
      </p:graphicFrame>
      <p:graphicFrame>
        <p:nvGraphicFramePr>
          <p:cNvPr id="6" name="表格 5">
            <a:extLst>
              <a:ext uri="{FF2B5EF4-FFF2-40B4-BE49-F238E27FC236}">
                <a16:creationId xmlns:a16="http://schemas.microsoft.com/office/drawing/2014/main" id="{E3EFF915-6CA3-6C8C-AF67-B212B7601C68}"/>
              </a:ext>
            </a:extLst>
          </p:cNvPr>
          <p:cNvGraphicFramePr>
            <a:graphicFrameLocks noGrp="1"/>
          </p:cNvGraphicFramePr>
          <p:nvPr>
            <p:extLst>
              <p:ext uri="{D42A27DB-BD31-4B8C-83A1-F6EECF244321}">
                <p14:modId xmlns:p14="http://schemas.microsoft.com/office/powerpoint/2010/main" val="3956513159"/>
              </p:ext>
            </p:extLst>
          </p:nvPr>
        </p:nvGraphicFramePr>
        <p:xfrm>
          <a:off x="6095997" y="3823071"/>
          <a:ext cx="6039293" cy="1937226"/>
        </p:xfrm>
        <a:graphic>
          <a:graphicData uri="http://schemas.openxmlformats.org/drawingml/2006/table">
            <a:tbl>
              <a:tblPr/>
              <a:tblGrid>
                <a:gridCol w="437298">
                  <a:extLst>
                    <a:ext uri="{9D8B030D-6E8A-4147-A177-3AD203B41FA5}">
                      <a16:colId xmlns:a16="http://schemas.microsoft.com/office/drawing/2014/main" val="495084399"/>
                    </a:ext>
                  </a:extLst>
                </a:gridCol>
                <a:gridCol w="240448">
                  <a:extLst>
                    <a:ext uri="{9D8B030D-6E8A-4147-A177-3AD203B41FA5}">
                      <a16:colId xmlns:a16="http://schemas.microsoft.com/office/drawing/2014/main" val="3614210242"/>
                    </a:ext>
                  </a:extLst>
                </a:gridCol>
                <a:gridCol w="572236">
                  <a:extLst>
                    <a:ext uri="{9D8B030D-6E8A-4147-A177-3AD203B41FA5}">
                      <a16:colId xmlns:a16="http://schemas.microsoft.com/office/drawing/2014/main" val="1442124609"/>
                    </a:ext>
                  </a:extLst>
                </a:gridCol>
                <a:gridCol w="2079993">
                  <a:extLst>
                    <a:ext uri="{9D8B030D-6E8A-4147-A177-3AD203B41FA5}">
                      <a16:colId xmlns:a16="http://schemas.microsoft.com/office/drawing/2014/main" val="3603859997"/>
                    </a:ext>
                  </a:extLst>
                </a:gridCol>
                <a:gridCol w="322512">
                  <a:extLst>
                    <a:ext uri="{9D8B030D-6E8A-4147-A177-3AD203B41FA5}">
                      <a16:colId xmlns:a16="http://schemas.microsoft.com/office/drawing/2014/main" val="4076488391"/>
                    </a:ext>
                  </a:extLst>
                </a:gridCol>
                <a:gridCol w="322512">
                  <a:extLst>
                    <a:ext uri="{9D8B030D-6E8A-4147-A177-3AD203B41FA5}">
                      <a16:colId xmlns:a16="http://schemas.microsoft.com/office/drawing/2014/main" val="3254101706"/>
                    </a:ext>
                  </a:extLst>
                </a:gridCol>
                <a:gridCol w="263442">
                  <a:extLst>
                    <a:ext uri="{9D8B030D-6E8A-4147-A177-3AD203B41FA5}">
                      <a16:colId xmlns:a16="http://schemas.microsoft.com/office/drawing/2014/main" val="3712391277"/>
                    </a:ext>
                  </a:extLst>
                </a:gridCol>
                <a:gridCol w="591286">
                  <a:extLst>
                    <a:ext uri="{9D8B030D-6E8A-4147-A177-3AD203B41FA5}">
                      <a16:colId xmlns:a16="http://schemas.microsoft.com/office/drawing/2014/main" val="134131131"/>
                    </a:ext>
                  </a:extLst>
                </a:gridCol>
                <a:gridCol w="337557">
                  <a:extLst>
                    <a:ext uri="{9D8B030D-6E8A-4147-A177-3AD203B41FA5}">
                      <a16:colId xmlns:a16="http://schemas.microsoft.com/office/drawing/2014/main" val="2527660299"/>
                    </a:ext>
                  </a:extLst>
                </a:gridCol>
                <a:gridCol w="371908">
                  <a:extLst>
                    <a:ext uri="{9D8B030D-6E8A-4147-A177-3AD203B41FA5}">
                      <a16:colId xmlns:a16="http://schemas.microsoft.com/office/drawing/2014/main" val="3641075278"/>
                    </a:ext>
                  </a:extLst>
                </a:gridCol>
                <a:gridCol w="500101">
                  <a:extLst>
                    <a:ext uri="{9D8B030D-6E8A-4147-A177-3AD203B41FA5}">
                      <a16:colId xmlns:a16="http://schemas.microsoft.com/office/drawing/2014/main" val="3618613915"/>
                    </a:ext>
                  </a:extLst>
                </a:gridCol>
              </a:tblGrid>
              <a:tr h="127981">
                <a:tc rowSpan="7">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altLang="zh-CN" sz="800" b="1" i="0" u="none" strike="noStrike">
                          <a:solidFill>
                            <a:srgbClr val="FFFFFF"/>
                          </a:solidFill>
                          <a:effectLst/>
                          <a:latin typeface="Arial" panose="020B0604020202020204" pitchFamily="34" charset="0"/>
                        </a:rPr>
                        <a:t>Billing month end adjustment </a:t>
                      </a:r>
                      <a:endParaRPr lang="en-US" altLang="zh-CN"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27981">
                <a:tc vMerge="1">
                  <a:txBody>
                    <a:bodyPr/>
                    <a:lstStyle/>
                    <a:p>
                      <a:endParaRPr lang="zh-CN" altLang="en-US"/>
                    </a:p>
                  </a:txBody>
                  <a:tcPr/>
                </a:tc>
                <a:tc gridSpan="10">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1" i="0">
                          <a:solidFill>
                            <a:srgbClr val="000000"/>
                          </a:solidFill>
                          <a:effectLst/>
                          <a:latin typeface="Arial" panose="020B0604020202020204" pitchFamily="34" charset="0"/>
                        </a:rPr>
                        <a:t>At the end of the month​</a:t>
                      </a:r>
                      <a:endParaRPr lang="en-US" altLang="zh-CN" sz="1200" b="1"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77560">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2070000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Defer Revenue Operating Lease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169747502"/>
                  </a:ext>
                </a:extLst>
              </a:tr>
              <a:tr h="91899">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a:ea typeface="+mn-ea"/>
                          <a:cs typeface="+mn-cs"/>
                        </a:rPr>
                        <a:t>5010450</a:t>
                      </a:r>
                      <a:endParaRPr lang="en-US" sz="900" b="0" i="0" u="sng" strike="noStrike" kern="1200">
                        <a:solidFill>
                          <a:srgbClr val="000000"/>
                        </a:solidFill>
                        <a:effectLst/>
                        <a:latin typeface="Arial" panose="020B0604020202020204" pitchFamily="34" charset="0"/>
                        <a:ea typeface="+mn-ea"/>
                        <a:cs typeface="+mn-cs"/>
                      </a:endParaRP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20(S4)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993882986"/>
                  </a:ext>
                </a:extLst>
              </a:tr>
              <a:tr h="0">
                <a:tc vMerge="1">
                  <a:txBody>
                    <a:bodyPr/>
                    <a:lstStyle/>
                    <a:p>
                      <a:endParaRPr lang="zh-CN" altLang="en-US"/>
                    </a:p>
                  </a:txBody>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sng" strike="noStrike" kern="1200" noProof="0">
                          <a:solidFill>
                            <a:srgbClr val="000000"/>
                          </a:solidFill>
                          <a:effectLst/>
                          <a:latin typeface="Arial" panose="020B0604020202020204" pitchFamily="34" charset="0"/>
                          <a:ea typeface="+mn-ea"/>
                          <a:cs typeface="+mn-cs"/>
                        </a:rPr>
                        <a:t>Cr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sng" strike="noStrike" kern="1200">
                          <a:solidFill>
                            <a:srgbClr val="000000"/>
                          </a:solidFill>
                          <a:effectLst/>
                          <a:latin typeface="Arial"/>
                          <a:ea typeface="+mn-ea"/>
                          <a:cs typeface="+mn-cs"/>
                        </a:rPr>
                        <a:t>5010450</a:t>
                      </a:r>
                      <a:endParaRPr lang="en-US" u="sng"/>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sng" strike="noStrike" kern="1200">
                          <a:solidFill>
                            <a:srgbClr val="000000"/>
                          </a:solidFill>
                          <a:effectLst/>
                          <a:latin typeface="Arial" panose="020B0604020202020204" pitchFamily="34" charset="0"/>
                          <a:ea typeface="+mn-ea"/>
                          <a:cs typeface="+mn-cs"/>
                        </a:rPr>
                        <a:t>Operating Lease Revenue (3PO)</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altLang="zh-CN" sz="900" b="0" i="0" u="sng" strike="noStrike" kern="1200">
                          <a:solidFill>
                            <a:srgbClr val="000000"/>
                          </a:solidFill>
                          <a:effectLst/>
                          <a:latin typeface="Arial" panose="020B0604020202020204" pitchFamily="34" charset="0"/>
                          <a:ea typeface="+mn-ea"/>
                          <a:cs typeface="+mn-cs"/>
                        </a:rPr>
                        <a:t>84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HW</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30(S4)</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U4(ECC)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sng"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sng"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39065243"/>
                  </a:ext>
                </a:extLst>
              </a:tr>
            </a:tbl>
          </a:graphicData>
        </a:graphic>
      </p:graphicFrame>
      <p:graphicFrame>
        <p:nvGraphicFramePr>
          <p:cNvPr id="2" name="表格 1">
            <a:extLst>
              <a:ext uri="{FF2B5EF4-FFF2-40B4-BE49-F238E27FC236}">
                <a16:creationId xmlns:a16="http://schemas.microsoft.com/office/drawing/2014/main" id="{A29B4258-9047-99CB-7D28-9E9D25D14B3B}"/>
              </a:ext>
            </a:extLst>
          </p:cNvPr>
          <p:cNvGraphicFramePr>
            <a:graphicFrameLocks noGrp="1"/>
          </p:cNvGraphicFramePr>
          <p:nvPr>
            <p:extLst>
              <p:ext uri="{D42A27DB-BD31-4B8C-83A1-F6EECF244321}">
                <p14:modId xmlns:p14="http://schemas.microsoft.com/office/powerpoint/2010/main" val="3572727116"/>
              </p:ext>
            </p:extLst>
          </p:nvPr>
        </p:nvGraphicFramePr>
        <p:xfrm>
          <a:off x="56706" y="516051"/>
          <a:ext cx="5886894" cy="1143000"/>
        </p:xfrm>
        <a:graphic>
          <a:graphicData uri="http://schemas.openxmlformats.org/drawingml/2006/table">
            <a:tbl>
              <a:tblPr firstRow="1" bandRow="1">
                <a:tableStyleId>{3C2FFA5D-87B4-456A-9821-1D502468CF0F}</a:tableStyleId>
              </a:tblPr>
              <a:tblGrid>
                <a:gridCol w="690976">
                  <a:extLst>
                    <a:ext uri="{9D8B030D-6E8A-4147-A177-3AD203B41FA5}">
                      <a16:colId xmlns:a16="http://schemas.microsoft.com/office/drawing/2014/main" val="869603910"/>
                    </a:ext>
                  </a:extLst>
                </a:gridCol>
                <a:gridCol w="715068">
                  <a:extLst>
                    <a:ext uri="{9D8B030D-6E8A-4147-A177-3AD203B41FA5}">
                      <a16:colId xmlns:a16="http://schemas.microsoft.com/office/drawing/2014/main" val="238663902"/>
                    </a:ext>
                  </a:extLst>
                </a:gridCol>
                <a:gridCol w="613292">
                  <a:extLst>
                    <a:ext uri="{9D8B030D-6E8A-4147-A177-3AD203B41FA5}">
                      <a16:colId xmlns:a16="http://schemas.microsoft.com/office/drawing/2014/main" val="4114365151"/>
                    </a:ext>
                  </a:extLst>
                </a:gridCol>
                <a:gridCol w="931919">
                  <a:extLst>
                    <a:ext uri="{9D8B030D-6E8A-4147-A177-3AD203B41FA5}">
                      <a16:colId xmlns:a16="http://schemas.microsoft.com/office/drawing/2014/main" val="4075178046"/>
                    </a:ext>
                  </a:extLst>
                </a:gridCol>
                <a:gridCol w="678180">
                  <a:extLst>
                    <a:ext uri="{9D8B030D-6E8A-4147-A177-3AD203B41FA5}">
                      <a16:colId xmlns:a16="http://schemas.microsoft.com/office/drawing/2014/main" val="973533418"/>
                    </a:ext>
                  </a:extLst>
                </a:gridCol>
                <a:gridCol w="723900">
                  <a:extLst>
                    <a:ext uri="{9D8B030D-6E8A-4147-A177-3AD203B41FA5}">
                      <a16:colId xmlns:a16="http://schemas.microsoft.com/office/drawing/2014/main" val="2377711782"/>
                    </a:ext>
                  </a:extLst>
                </a:gridCol>
                <a:gridCol w="746760">
                  <a:extLst>
                    <a:ext uri="{9D8B030D-6E8A-4147-A177-3AD203B41FA5}">
                      <a16:colId xmlns:a16="http://schemas.microsoft.com/office/drawing/2014/main" val="3637466090"/>
                    </a:ext>
                  </a:extLst>
                </a:gridCol>
                <a:gridCol w="786799">
                  <a:extLst>
                    <a:ext uri="{9D8B030D-6E8A-4147-A177-3AD203B41FA5}">
                      <a16:colId xmlns:a16="http://schemas.microsoft.com/office/drawing/2014/main" val="221569069"/>
                    </a:ext>
                  </a:extLst>
                </a:gridCol>
              </a:tblGrid>
              <a:tr h="330522">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10.Fulfillment Method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11.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423068">
                <a:tc>
                  <a:txBody>
                    <a:bodyPr/>
                    <a:lstStyle/>
                    <a:p>
                      <a:r>
                        <a:rPr lang="en-US" altLang="zh-CN" sz="1050">
                          <a:solidFill>
                            <a:sysClr val="windowText" lastClr="000000"/>
                          </a:solidFill>
                        </a:rPr>
                        <a:t>Fixed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Operating Lease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Monthly</a:t>
                      </a:r>
                      <a:endParaRPr lang="en-US" altLang="zh-CN" sz="1050">
                        <a:solidFill>
                          <a:srgbClr val="FF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HW/3PO</a:t>
                      </a: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Lenovo/</a:t>
                      </a:r>
                    </a:p>
                    <a:p>
                      <a:r>
                        <a:rPr lang="en-US" altLang="zh-CN" sz="1050">
                          <a:solidFill>
                            <a:sysClr val="windowText" lastClr="000000"/>
                          </a:solidFill>
                        </a:rPr>
                        <a:t>Non-Lenovo</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rgbClr val="FF0000"/>
                          </a:solidFill>
                        </a:rPr>
                        <a:t>Advance billing</a:t>
                      </a:r>
                      <a:endParaRPr lang="zh-CN" altLang="en-US" sz="105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bl>
          </a:graphicData>
        </a:graphic>
      </p:graphicFrame>
      <p:graphicFrame>
        <p:nvGraphicFramePr>
          <p:cNvPr id="4" name="表格 3">
            <a:extLst>
              <a:ext uri="{FF2B5EF4-FFF2-40B4-BE49-F238E27FC236}">
                <a16:creationId xmlns:a16="http://schemas.microsoft.com/office/drawing/2014/main" id="{525BEC9B-161F-B9F9-AEA1-65990C89C1FF}"/>
              </a:ext>
            </a:extLst>
          </p:cNvPr>
          <p:cNvGraphicFramePr>
            <a:graphicFrameLocks noGrp="1"/>
          </p:cNvGraphicFramePr>
          <p:nvPr>
            <p:extLst>
              <p:ext uri="{D42A27DB-BD31-4B8C-83A1-F6EECF244321}">
                <p14:modId xmlns:p14="http://schemas.microsoft.com/office/powerpoint/2010/main" val="3195676140"/>
              </p:ext>
            </p:extLst>
          </p:nvPr>
        </p:nvGraphicFramePr>
        <p:xfrm>
          <a:off x="6095997" y="5830304"/>
          <a:ext cx="5915467" cy="842664"/>
        </p:xfrm>
        <a:graphic>
          <a:graphicData uri="http://schemas.openxmlformats.org/drawingml/2006/table">
            <a:tbl>
              <a:tblPr/>
              <a:tblGrid>
                <a:gridCol w="447608">
                  <a:extLst>
                    <a:ext uri="{9D8B030D-6E8A-4147-A177-3AD203B41FA5}">
                      <a16:colId xmlns:a16="http://schemas.microsoft.com/office/drawing/2014/main" val="495084399"/>
                    </a:ext>
                  </a:extLst>
                </a:gridCol>
                <a:gridCol w="253219">
                  <a:extLst>
                    <a:ext uri="{9D8B030D-6E8A-4147-A177-3AD203B41FA5}">
                      <a16:colId xmlns:a16="http://schemas.microsoft.com/office/drawing/2014/main" val="3614210242"/>
                    </a:ext>
                  </a:extLst>
                </a:gridCol>
                <a:gridCol w="576775">
                  <a:extLst>
                    <a:ext uri="{9D8B030D-6E8A-4147-A177-3AD203B41FA5}">
                      <a16:colId xmlns:a16="http://schemas.microsoft.com/office/drawing/2014/main" val="1442124609"/>
                    </a:ext>
                  </a:extLst>
                </a:gridCol>
                <a:gridCol w="1998823">
                  <a:extLst>
                    <a:ext uri="{9D8B030D-6E8A-4147-A177-3AD203B41FA5}">
                      <a16:colId xmlns:a16="http://schemas.microsoft.com/office/drawing/2014/main" val="3603859997"/>
                    </a:ext>
                  </a:extLst>
                </a:gridCol>
                <a:gridCol w="248226">
                  <a:extLst>
                    <a:ext uri="{9D8B030D-6E8A-4147-A177-3AD203B41FA5}">
                      <a16:colId xmlns:a16="http://schemas.microsoft.com/office/drawing/2014/main" val="4076488391"/>
                    </a:ext>
                  </a:extLst>
                </a:gridCol>
                <a:gridCol w="330578">
                  <a:extLst>
                    <a:ext uri="{9D8B030D-6E8A-4147-A177-3AD203B41FA5}">
                      <a16:colId xmlns:a16="http://schemas.microsoft.com/office/drawing/2014/main" val="3254101706"/>
                    </a:ext>
                  </a:extLst>
                </a:gridCol>
                <a:gridCol w="439093">
                  <a:extLst>
                    <a:ext uri="{9D8B030D-6E8A-4147-A177-3AD203B41FA5}">
                      <a16:colId xmlns:a16="http://schemas.microsoft.com/office/drawing/2014/main" val="3712391277"/>
                    </a:ext>
                  </a:extLst>
                </a:gridCol>
                <a:gridCol w="339300">
                  <a:extLst>
                    <a:ext uri="{9D8B030D-6E8A-4147-A177-3AD203B41FA5}">
                      <a16:colId xmlns:a16="http://schemas.microsoft.com/office/drawing/2014/main" val="1461470061"/>
                    </a:ext>
                  </a:extLst>
                </a:gridCol>
                <a:gridCol w="359258">
                  <a:extLst>
                    <a:ext uri="{9D8B030D-6E8A-4147-A177-3AD203B41FA5}">
                      <a16:colId xmlns:a16="http://schemas.microsoft.com/office/drawing/2014/main" val="2527660299"/>
                    </a:ext>
                  </a:extLst>
                </a:gridCol>
                <a:gridCol w="505621">
                  <a:extLst>
                    <a:ext uri="{9D8B030D-6E8A-4147-A177-3AD203B41FA5}">
                      <a16:colId xmlns:a16="http://schemas.microsoft.com/office/drawing/2014/main" val="3641075278"/>
                    </a:ext>
                  </a:extLst>
                </a:gridCol>
                <a:gridCol w="416966">
                  <a:extLst>
                    <a:ext uri="{9D8B030D-6E8A-4147-A177-3AD203B41FA5}">
                      <a16:colId xmlns:a16="http://schemas.microsoft.com/office/drawing/2014/main" val="3618613915"/>
                    </a:ext>
                  </a:extLst>
                </a:gridCol>
              </a:tblGrid>
              <a:tr h="152787">
                <a:tc rowSpan="4">
                  <a:txBody>
                    <a:bodyPr/>
                    <a:lstStyle/>
                    <a:p>
                      <a:pPr algn="ctr" fontAlgn="base">
                        <a:lnSpc>
                          <a:spcPts val="1425"/>
                        </a:lnSpc>
                        <a:buNone/>
                      </a:pPr>
                      <a:r>
                        <a:rPr lang="en-US" sz="900" b="1" i="0" u="none" strike="noStrike">
                          <a:solidFill>
                            <a:srgbClr val="FFFFFF"/>
                          </a:solidFill>
                          <a:effectLst/>
                          <a:latin typeface="Arial" panose="020B0604020202020204" pitchFamily="34" charset="0"/>
                        </a:rPr>
                        <a:t>AFE</a:t>
                      </a:r>
                      <a:r>
                        <a:rPr lang="en-US" sz="900" b="1" i="0">
                          <a:solidFill>
                            <a:srgbClr val="FFFFFF"/>
                          </a:solidFill>
                          <a:effectLst/>
                          <a:latin typeface="Arial" panose="020B0604020202020204" pitchFamily="34" charset="0"/>
                        </a:rPr>
                        <a:t>​</a:t>
                      </a:r>
                      <a:br>
                        <a:rPr lang="en-US" sz="900" b="1" i="0">
                          <a:solidFill>
                            <a:srgbClr val="FFFFFF"/>
                          </a:solidFill>
                          <a:effectLst/>
                          <a:latin typeface="Arial" panose="020B0604020202020204" pitchFamily="34" charset="0"/>
                        </a:rPr>
                      </a:br>
                      <a:r>
                        <a:rPr lang="en-US" sz="900" b="1" i="0" u="none" strike="noStrike">
                          <a:solidFill>
                            <a:srgbClr val="FFFFFF"/>
                          </a:solidFill>
                          <a:effectLst/>
                          <a:latin typeface="Arial" panose="020B0604020202020204" pitchFamily="34" charset="0"/>
                        </a:rPr>
                        <a:t>Entity</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Offset against LT AR for funded premier support </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280730">
                <a:tc vMerge="1">
                  <a:txBody>
                    <a:bodyPr/>
                    <a:lstStyle/>
                    <a:p>
                      <a:endParaRPr lang="zh-CN" altLang="en-US"/>
                    </a:p>
                  </a:txBody>
                  <a:tcPr>
                    <a:lnT w="6350" cap="flat" cmpd="sng" algn="ctr">
                      <a:solidFill>
                        <a:srgbClr val="D9D9D9"/>
                      </a:solidFill>
                      <a:prstDash val="solid"/>
                      <a:round/>
                      <a:headEnd type="none" w="med" len="med"/>
                      <a:tailEnd type="none" w="med" len="med"/>
                    </a:lnT>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55142">
                <a:tc vMerge="1">
                  <a:txBody>
                    <a:bodyPr/>
                    <a:lstStyle/>
                    <a:p>
                      <a:endParaRPr lang="zh-CN" altLang="en-US"/>
                    </a:p>
                  </a:txBody>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Dr</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mn-lt"/>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l" fontAlgn="b"/>
                      <a:r>
                        <a:rPr lang="en-US" sz="1000" b="0" i="0" u="none" strike="noStrike">
                          <a:solidFill>
                            <a:srgbClr val="000000"/>
                          </a:solidFill>
                          <a:effectLst/>
                          <a:latin typeface="+mn-lt"/>
                        </a:rPr>
                        <a:t>Agent Revenue – Premier Support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4038309671"/>
                  </a:ext>
                </a:extLst>
              </a:tr>
              <a:tr h="155142">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mn-lt"/>
                          <a:ea typeface="+mn-ea"/>
                          <a:cs typeface="+mn-cs"/>
                        </a:rPr>
                        <a:t>Cr</a:t>
                      </a:r>
                    </a:p>
                  </a:txBody>
                  <a:tcPr marL="6350" marR="6350" marT="6350" marB="0"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1400308</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l" defTabSz="1218987" rtl="0" eaLnBrk="1" fontAlgn="b"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rPr>
                        <a:t>LR – </a:t>
                      </a:r>
                      <a:r>
                        <a:rPr lang="en-US" sz="1000" b="0" i="0" u="none" strike="noStrike">
                          <a:solidFill>
                            <a:srgbClr val="000000"/>
                          </a:solidFill>
                          <a:effectLst/>
                          <a:latin typeface="+mn-lt"/>
                        </a:rPr>
                        <a:t>Premier Support</a:t>
                      </a:r>
                      <a:endParaRPr kumimoji="0" lang="en-US" altLang="zh-CN" sz="1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altLang="zh-CN" sz="900" b="0" i="0" u="none" strike="noStrike" kern="1200">
                          <a:solidFill>
                            <a:srgbClr val="000000"/>
                          </a:solidFill>
                          <a:effectLst/>
                          <a:latin typeface="Arial" panose="020B0604020202020204" pitchFamily="34" charset="0"/>
                          <a:ea typeface="+mn-ea"/>
                          <a:cs typeface="+mn-cs"/>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J*</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213206944"/>
                  </a:ext>
                </a:extLst>
              </a:tr>
            </a:tbl>
          </a:graphicData>
        </a:graphic>
      </p:graphicFrame>
      <p:sp>
        <p:nvSpPr>
          <p:cNvPr id="8" name="对话气泡: 矩形 7">
            <a:extLst>
              <a:ext uri="{FF2B5EF4-FFF2-40B4-BE49-F238E27FC236}">
                <a16:creationId xmlns:a16="http://schemas.microsoft.com/office/drawing/2014/main" id="{D1DC5754-2DE0-6814-2637-CE9D57C794BF}"/>
              </a:ext>
            </a:extLst>
          </p:cNvPr>
          <p:cNvSpPr/>
          <p:nvPr/>
        </p:nvSpPr>
        <p:spPr>
          <a:xfrm>
            <a:off x="1934308" y="5830304"/>
            <a:ext cx="3836036" cy="471691"/>
          </a:xfrm>
          <a:prstGeom prst="wedgeRectCallout">
            <a:avLst>
              <a:gd name="adj1" fmla="val 57437"/>
              <a:gd name="adj2" fmla="val 27260"/>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sz="1200">
                <a:solidFill>
                  <a:schemeClr val="tx1"/>
                </a:solidFill>
              </a:rPr>
              <a:t>Odessa trigger the setoff with LTAR, at billing issuance month end.</a:t>
            </a:r>
          </a:p>
        </p:txBody>
      </p:sp>
    </p:spTree>
    <p:extLst>
      <p:ext uri="{BB962C8B-B14F-4D97-AF65-F5344CB8AC3E}">
        <p14:creationId xmlns:p14="http://schemas.microsoft.com/office/powerpoint/2010/main" val="4229977920"/>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C398FF-86E4-C2B1-FB83-844ABF3B7465}"/>
            </a:ext>
          </a:extLst>
        </p:cNvPr>
        <p:cNvGrpSpPr/>
        <p:nvPr/>
      </p:nvGrpSpPr>
      <p:grpSpPr>
        <a:xfrm>
          <a:off x="0" y="0"/>
          <a:ext cx="0" cy="0"/>
          <a:chOff x="0" y="0"/>
          <a:chExt cx="0" cy="0"/>
        </a:xfrm>
      </p:grpSpPr>
      <p:sp>
        <p:nvSpPr>
          <p:cNvPr id="3" name="灯片编号占位符 2">
            <a:extLst>
              <a:ext uri="{FF2B5EF4-FFF2-40B4-BE49-F238E27FC236}">
                <a16:creationId xmlns:a16="http://schemas.microsoft.com/office/drawing/2014/main" id="{68F0582B-9483-AFC6-C50C-1715AC04A045}"/>
              </a:ext>
            </a:extLst>
          </p:cNvPr>
          <p:cNvSpPr>
            <a:spLocks noGrp="1"/>
          </p:cNvSpPr>
          <p:nvPr>
            <p:ph type="sldNum" sz="quarter" idx="10"/>
          </p:nvPr>
        </p:nvSpPr>
        <p:spPr/>
        <p:txBody>
          <a:bodyPr/>
          <a:lstStyle/>
          <a:p>
            <a:pPr algn="ctr" defTabSz="1218987">
              <a:defRPr/>
            </a:pPr>
            <a:fld id="{6D22F896-40B5-4ADD-8801-0D06FADFA095}" type="slidenum">
              <a:rPr lang="en-US" sz="1000">
                <a:solidFill>
                  <a:srgbClr val="000000"/>
                </a:solidFill>
                <a:latin typeface="Arial" panose="020B0604020202020204" pitchFamily="34" charset="0"/>
                <a:cs typeface="Arial" panose="020B0604020202020204" pitchFamily="34" charset="0"/>
              </a:rPr>
              <a:pPr algn="ctr" defTabSz="1218987">
                <a:defRPr/>
              </a:pPr>
              <a:t>174</a:t>
            </a:fld>
            <a:endParaRPr lang="en-US" sz="1000">
              <a:solidFill>
                <a:srgbClr val="000000"/>
              </a:solidFill>
              <a:latin typeface="Arial" panose="020B0604020202020204" pitchFamily="34" charset="0"/>
              <a:cs typeface="Arial" panose="020B0604020202020204" pitchFamily="34" charset="0"/>
            </a:endParaRPr>
          </a:p>
        </p:txBody>
      </p:sp>
      <p:sp>
        <p:nvSpPr>
          <p:cNvPr id="7" name="文本框 6">
            <a:extLst>
              <a:ext uri="{FF2B5EF4-FFF2-40B4-BE49-F238E27FC236}">
                <a16:creationId xmlns:a16="http://schemas.microsoft.com/office/drawing/2014/main" id="{EA0EDE43-0B02-5AC1-257B-1B3FD021421B}"/>
              </a:ext>
            </a:extLst>
          </p:cNvPr>
          <p:cNvSpPr txBox="1"/>
          <p:nvPr/>
        </p:nvSpPr>
        <p:spPr>
          <a:xfrm>
            <a:off x="468485" y="749739"/>
            <a:ext cx="10668001" cy="5878532"/>
          </a:xfrm>
          <a:prstGeom prst="rect">
            <a:avLst/>
          </a:prstGeom>
          <a:noFill/>
        </p:spPr>
        <p:txBody>
          <a:bodyPr wrap="square" rtlCol="0">
            <a:spAutoFit/>
          </a:bodyPr>
          <a:lstStyle/>
          <a:p>
            <a:pPr marL="447675" indent="-447675">
              <a:buFont typeface="Wingdings" panose="05000000000000000000" pitchFamily="2" charset="2"/>
              <a:buChar char="Ø"/>
              <a:defRPr/>
            </a:pPr>
            <a:r>
              <a:rPr lang="en-US" altLang="zh-CN" sz="2000">
                <a:solidFill>
                  <a:srgbClr val="000000"/>
                </a:solidFill>
                <a:latin typeface="Lato" panose="020F0502020204030203" pitchFamily="34" charset="0"/>
                <a:ea typeface="Lato" panose="020F0502020204030203" pitchFamily="34" charset="0"/>
                <a:cs typeface="Lato" panose="020F0502020204030203" pitchFamily="34" charset="0"/>
              </a:rPr>
              <a:t>Background:</a:t>
            </a:r>
          </a:p>
          <a:p>
            <a:pPr marL="1057168" lvl="1" indent="-447675">
              <a:buFont typeface="Wingdings" panose="05000000000000000000" pitchFamily="2" charset="2"/>
              <a:buChar char="l"/>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Finance teams need to map billing amounts and backlog to </a:t>
            </a:r>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Opportunity ID </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for revenue tracking, forecasting, and quarter-end close.</a:t>
            </a:r>
          </a:p>
          <a:p>
            <a:pPr marL="1057168" lvl="1" indent="-447675">
              <a:buFont typeface="Arial" panose="020B0604020202020204" pitchFamily="34" charset="0"/>
              <a:buChar char="•"/>
              <a:defRPr/>
            </a:pPr>
            <a:endParaRPr lang="en-US" altLang="zh-CN" sz="1200">
              <a:solidFill>
                <a:srgbClr val="000000"/>
              </a:solidFill>
              <a:latin typeface="Lato" panose="020F0502020204030203" pitchFamily="34" charset="0"/>
              <a:ea typeface="Lato" panose="020F0502020204030203" pitchFamily="34" charset="0"/>
              <a:cs typeface="Lato" panose="020F0502020204030203" pitchFamily="34" charset="0"/>
            </a:endParaRPr>
          </a:p>
          <a:p>
            <a:pPr marL="447675" indent="-447675">
              <a:buFont typeface="Wingdings" panose="05000000000000000000" pitchFamily="2" charset="2"/>
              <a:buChar char="Ø"/>
              <a:defRPr/>
            </a:pPr>
            <a:r>
              <a:rPr lang="en-US" altLang="zh-CN" sz="2000">
                <a:solidFill>
                  <a:srgbClr val="000000"/>
                </a:solidFill>
                <a:latin typeface="Lato" panose="020F0502020204030203" pitchFamily="34" charset="0"/>
                <a:ea typeface="Lato" panose="020F0502020204030203" pitchFamily="34" charset="0"/>
                <a:cs typeface="Lato" panose="020F0502020204030203" pitchFamily="34" charset="0"/>
              </a:rPr>
              <a:t>As-is Situation:</a:t>
            </a:r>
          </a:p>
          <a:p>
            <a:pPr marL="1057168" lvl="1" indent="-447675">
              <a:buFont typeface="Wingdings" panose="05000000000000000000" pitchFamily="2" charset="2"/>
              <a:buChar char="l"/>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Accounting / Ledger reports do not contain Opportunity ID </a:t>
            </a:r>
          </a:p>
          <a:p>
            <a:pPr marL="1057168" lvl="1" indent="-447675">
              <a:buFont typeface="Wingdings" panose="05000000000000000000" pitchFamily="2" charset="2"/>
              <a:buChar char="l"/>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This is especially challenging for </a:t>
            </a:r>
            <a:r>
              <a:rPr lang="en-US" altLang="zh-CN" sz="1200">
                <a:solidFill>
                  <a:srgbClr val="C00000"/>
                </a:solidFill>
                <a:latin typeface="Lato" panose="020F0502020204030203" pitchFamily="34" charset="0"/>
                <a:ea typeface="Lato" panose="020F0502020204030203" pitchFamily="34" charset="0"/>
                <a:cs typeface="Lato" panose="020F0502020204030203" pitchFamily="34" charset="0"/>
              </a:rPr>
              <a:t>Running IAAS </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manual billing scenarios </a:t>
            </a:r>
          </a:p>
          <a:p>
            <a:pPr marL="1057168" lvl="1" indent="-447675">
              <a:buFont typeface="Wingdings" panose="05000000000000000000" pitchFamily="2" charset="2"/>
              <a:buChar char="l"/>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One customer or one invoice may relate to multiple Opportunities, which currently requires heavy manual mapping in Excel</a:t>
            </a:r>
          </a:p>
          <a:p>
            <a:pPr marL="1057168" lvl="1" indent="-447675">
              <a:buFont typeface="Arial" panose="020B0604020202020204" pitchFamily="34" charset="0"/>
              <a:buChar char="•"/>
              <a:defRPr/>
            </a:pPr>
            <a:endParaRPr lang="en-US" altLang="zh-CN" sz="2000">
              <a:solidFill>
                <a:srgbClr val="000000"/>
              </a:solidFill>
              <a:latin typeface="Lato" panose="020F0502020204030203" pitchFamily="34" charset="0"/>
              <a:ea typeface="Lato" panose="020F0502020204030203" pitchFamily="34" charset="0"/>
              <a:cs typeface="Lato" panose="020F0502020204030203" pitchFamily="34" charset="0"/>
            </a:endParaRPr>
          </a:p>
          <a:p>
            <a:pPr marL="447675" indent="-447675">
              <a:buFont typeface="Wingdings" panose="05000000000000000000" pitchFamily="2" charset="2"/>
              <a:buChar char="Ø"/>
              <a:defRPr/>
            </a:pPr>
            <a:r>
              <a:rPr lang="en-US" altLang="zh-CN" sz="2000">
                <a:solidFill>
                  <a:srgbClr val="000000"/>
                </a:solidFill>
                <a:latin typeface="Lato" panose="020F0502020204030203" pitchFamily="34" charset="0"/>
                <a:ea typeface="Lato" panose="020F0502020204030203" pitchFamily="34" charset="0"/>
                <a:cs typeface="Lato" panose="020F0502020204030203" pitchFamily="34" charset="0"/>
              </a:rPr>
              <a:t>Solution Aligned</a:t>
            </a:r>
          </a:p>
          <a:p>
            <a:pPr marL="1057168" lvl="1" indent="-447675">
              <a:buFont typeface="Wingdings" panose="05000000000000000000" pitchFamily="2" charset="2"/>
              <a:buChar char="l"/>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No changes to the accounting ledger; Opportunity ID is not available or suitable at posting level. </a:t>
            </a:r>
          </a:p>
          <a:p>
            <a:pPr marL="1057168" lvl="1" indent="-447675">
              <a:buFont typeface="Wingdings" panose="05000000000000000000" pitchFamily="2" charset="2"/>
              <a:buChar char="l"/>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A </a:t>
            </a:r>
            <a:r>
              <a:rPr lang="en-US" altLang="zh-CN" sz="1200" err="1">
                <a:solidFill>
                  <a:srgbClr val="000000"/>
                </a:solidFill>
                <a:latin typeface="Lato" panose="020F0502020204030203" pitchFamily="34" charset="0"/>
                <a:ea typeface="Lato" panose="020F0502020204030203" pitchFamily="34" charset="0"/>
                <a:cs typeface="Lato" panose="020F0502020204030203" pitchFamily="34" charset="0"/>
              </a:rPr>
              <a:t>NexBill</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 business operation </a:t>
            </a:r>
            <a:r>
              <a:rPr lang="en-US" altLang="zh-CN" sz="1200" b="1">
                <a:solidFill>
                  <a:srgbClr val="000000"/>
                </a:solidFill>
                <a:latin typeface="Lato" panose="020F0502020204030203" pitchFamily="34" charset="0"/>
                <a:ea typeface="Lato" panose="020F0502020204030203" pitchFamily="34" charset="0"/>
                <a:cs typeface="Lato" panose="020F0502020204030203" pitchFamily="34" charset="0"/>
              </a:rPr>
              <a:t>report</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 will be created to map: [</a:t>
            </a:r>
            <a:r>
              <a:rPr lang="en-US" altLang="zh-CN" sz="1200" err="1">
                <a:solidFill>
                  <a:srgbClr val="000000"/>
                </a:solidFill>
                <a:latin typeface="Lato" panose="020F0502020204030203" pitchFamily="34" charset="0"/>
                <a:ea typeface="Lato" panose="020F0502020204030203" pitchFamily="34" charset="0"/>
                <a:cs typeface="Lato" panose="020F0502020204030203" pitchFamily="34" charset="0"/>
              </a:rPr>
              <a:t>Xiuping</a:t>
            </a: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 and Sterling will follow up the report]</a:t>
            </a:r>
          </a:p>
          <a:p>
            <a:pPr marL="1666662" lvl="2" indent="-447675">
              <a:buFont typeface="Arial" panose="020B0604020202020204" pitchFamily="34" charset="0"/>
              <a:buChar char="•"/>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Customer</a:t>
            </a:r>
          </a:p>
          <a:p>
            <a:pPr marL="1666662" lvl="2" indent="-447675">
              <a:buFont typeface="Arial" panose="020B0604020202020204" pitchFamily="34" charset="0"/>
              <a:buChar char="•"/>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Opportunity ID</a:t>
            </a:r>
          </a:p>
          <a:p>
            <a:pPr marL="1666662" lvl="2" indent="-447675">
              <a:buFont typeface="Arial" panose="020B0604020202020204" pitchFamily="34" charset="0"/>
              <a:buChar char="•"/>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Invoice</a:t>
            </a:r>
          </a:p>
          <a:p>
            <a:pPr marL="1666662" lvl="2" indent="-447675">
              <a:buFont typeface="Arial" panose="020B0604020202020204" pitchFamily="34" charset="0"/>
              <a:buChar char="•"/>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Invoice Item</a:t>
            </a:r>
          </a:p>
          <a:p>
            <a:pPr marL="1666662" lvl="2" indent="-447675">
              <a:buFont typeface="Arial" panose="020B0604020202020204" pitchFamily="34" charset="0"/>
              <a:buChar char="•"/>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Billing amount</a:t>
            </a:r>
          </a:p>
          <a:p>
            <a:pPr marL="1666662" lvl="2" indent="-447675">
              <a:buFont typeface="Arial" panose="020B0604020202020204" pitchFamily="34" charset="0"/>
              <a:buChar char="•"/>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Etc.</a:t>
            </a:r>
          </a:p>
          <a:p>
            <a:pPr marL="1057168" lvl="1" indent="-447675">
              <a:buFont typeface="Wingdings" panose="05000000000000000000" pitchFamily="2" charset="2"/>
              <a:buChar char="l"/>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On transaction level: [Eric will follow up the system change]</a:t>
            </a:r>
          </a:p>
          <a:p>
            <a:pPr marL="1666662" lvl="2" indent="-447675">
              <a:buFont typeface="Arial" panose="020B0604020202020204" pitchFamily="34" charset="0"/>
              <a:buChar char="•"/>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EAAS: Use existing Opportunity ID in Pricing Contracts and map via invoice/contract items. </a:t>
            </a:r>
          </a:p>
          <a:p>
            <a:pPr marL="1666662" lvl="2" indent="-447675">
              <a:buFont typeface="Arial" panose="020B0604020202020204" pitchFamily="34" charset="0"/>
              <a:buChar char="•"/>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Running IAAS &amp; manual billing: Capture Opportunity ID at the billing request or order level for invoicing and use it for reporting (not ledger posting). </a:t>
            </a:r>
          </a:p>
          <a:p>
            <a:pPr lvl="1">
              <a:defRPr/>
            </a:pPr>
            <a:endParaRPr lang="en-US" altLang="zh-CN" sz="1200">
              <a:solidFill>
                <a:srgbClr val="000000"/>
              </a:solidFill>
              <a:latin typeface="Lato" panose="020F0502020204030203" pitchFamily="34" charset="0"/>
              <a:ea typeface="Lato" panose="020F0502020204030203" pitchFamily="34" charset="0"/>
              <a:cs typeface="Lato" panose="020F0502020204030203" pitchFamily="34" charset="0"/>
            </a:endParaRPr>
          </a:p>
          <a:p>
            <a:pPr marL="447675" indent="-447675">
              <a:buFont typeface="Wingdings" panose="05000000000000000000" pitchFamily="2" charset="2"/>
              <a:buChar char="Ø"/>
              <a:defRPr/>
            </a:pPr>
            <a:r>
              <a:rPr lang="en-US" altLang="zh-CN" sz="2000">
                <a:solidFill>
                  <a:srgbClr val="000000"/>
                </a:solidFill>
                <a:latin typeface="Lato" panose="020F0502020204030203" pitchFamily="34" charset="0"/>
                <a:ea typeface="Lato" panose="020F0502020204030203" pitchFamily="34" charset="0"/>
                <a:cs typeface="Lato" panose="020F0502020204030203" pitchFamily="34" charset="0"/>
              </a:rPr>
              <a:t>Business Change Needed</a:t>
            </a:r>
          </a:p>
          <a:p>
            <a:pPr marL="1057168" lvl="1" indent="-447675">
              <a:buFont typeface="Wingdings" panose="05000000000000000000" pitchFamily="2" charset="2"/>
              <a:buChar char="l"/>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CSM Team need to share the Opportunity Id when sharing the billing schedule to LOT Team for IAAS business. </a:t>
            </a:r>
          </a:p>
          <a:p>
            <a:pPr marL="1057168" lvl="1" indent="-447675">
              <a:buFont typeface="Wingdings" panose="05000000000000000000" pitchFamily="2" charset="2"/>
              <a:buChar char="l"/>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LOT Team need to fulfill the Opportunity ID when creating the manual billing request </a:t>
            </a:r>
          </a:p>
          <a:p>
            <a:pPr lvl="1">
              <a:defRPr/>
            </a:pPr>
            <a:endParaRPr lang="en-US" altLang="zh-CN" sz="1200">
              <a:solidFill>
                <a:srgbClr val="000000"/>
              </a:solidFill>
              <a:latin typeface="Lato" panose="020F0502020204030203" pitchFamily="34" charset="0"/>
              <a:ea typeface="Lato" panose="020F0502020204030203" pitchFamily="34" charset="0"/>
              <a:cs typeface="Lato" panose="020F0502020204030203" pitchFamily="34" charset="0"/>
            </a:endParaRPr>
          </a:p>
          <a:p>
            <a:pPr lvl="1">
              <a:defRPr/>
            </a:pPr>
            <a:endParaRPr lang="en-US" altLang="zh-CN" sz="1200">
              <a:solidFill>
                <a:srgbClr val="000000"/>
              </a:solidFill>
              <a:latin typeface="Lato" panose="020F0502020204030203" pitchFamily="34" charset="0"/>
              <a:ea typeface="Lato" panose="020F0502020204030203" pitchFamily="34" charset="0"/>
              <a:cs typeface="Lato" panose="020F0502020204030203" pitchFamily="34" charset="0"/>
            </a:endParaRPr>
          </a:p>
          <a:p>
            <a:pPr lvl="1">
              <a:defRPr/>
            </a:pPr>
            <a:r>
              <a:rPr lang="en-US" altLang="zh-CN" sz="1200">
                <a:solidFill>
                  <a:srgbClr val="000000"/>
                </a:solidFill>
                <a:latin typeface="Lato" panose="020F0502020204030203" pitchFamily="34" charset="0"/>
                <a:ea typeface="Lato" panose="020F0502020204030203" pitchFamily="34" charset="0"/>
                <a:cs typeface="Lato" panose="020F0502020204030203" pitchFamily="34" charset="0"/>
              </a:rPr>
              <a:t>* The solution is designed as a reusable capability across IAAS, DAAS, and other EAAS-related businesses.</a:t>
            </a:r>
          </a:p>
        </p:txBody>
      </p:sp>
      <p:sp>
        <p:nvSpPr>
          <p:cNvPr id="8" name="Title 1">
            <a:extLst>
              <a:ext uri="{FF2B5EF4-FFF2-40B4-BE49-F238E27FC236}">
                <a16:creationId xmlns:a16="http://schemas.microsoft.com/office/drawing/2014/main" id="{5B59B9E5-21A8-A6E5-E8CB-A4DA58A80AC1}"/>
              </a:ext>
            </a:extLst>
          </p:cNvPr>
          <p:cNvSpPr>
            <a:spLocks noGrp="1"/>
          </p:cNvSpPr>
          <p:nvPr>
            <p:ph type="title"/>
          </p:nvPr>
        </p:nvSpPr>
        <p:spPr>
          <a:xfrm>
            <a:off x="491839" y="254608"/>
            <a:ext cx="10668001" cy="418576"/>
          </a:xfrm>
        </p:spPr>
        <p:txBody>
          <a:bodyPr>
            <a:normAutofit fontScale="90000"/>
          </a:bodyPr>
          <a:lstStyle/>
          <a:p>
            <a:pPr defTabSz="913852">
              <a:spcAft>
                <a:spcPct val="0"/>
              </a:spcAft>
              <a:defRPr/>
            </a:pPr>
            <a:r>
              <a:rPr lang="en-US" altLang="zh-CN" sz="3198" err="1">
                <a:solidFill>
                  <a:srgbClr val="000000"/>
                </a:solidFill>
                <a:latin typeface="Tenorite" panose="00000500000000000000" pitchFamily="2" charset="0"/>
                <a:sym typeface="Arial" panose="020B0604020202020204" pitchFamily="34" charset="0"/>
              </a:rPr>
              <a:t>NexBill</a:t>
            </a:r>
            <a:r>
              <a:rPr lang="en-US" altLang="zh-CN" sz="3198">
                <a:solidFill>
                  <a:srgbClr val="000000"/>
                </a:solidFill>
                <a:latin typeface="Tenorite" panose="00000500000000000000" pitchFamily="2" charset="0"/>
                <a:sym typeface="Arial" panose="020B0604020202020204" pitchFamily="34" charset="0"/>
              </a:rPr>
              <a:t> – Manual Recurring Billing for IaaS</a:t>
            </a:r>
          </a:p>
        </p:txBody>
      </p:sp>
    </p:spTree>
    <p:extLst>
      <p:ext uri="{BB962C8B-B14F-4D97-AF65-F5344CB8AC3E}">
        <p14:creationId xmlns:p14="http://schemas.microsoft.com/office/powerpoint/2010/main" val="13089841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a:extLst>
              <a:ext uri="{FF2B5EF4-FFF2-40B4-BE49-F238E27FC236}">
                <a16:creationId xmlns:a16="http://schemas.microsoft.com/office/drawing/2014/main" id="{C53058B2-9BFB-E445-A765-A0C4A66B1A9C}"/>
              </a:ext>
            </a:extLst>
          </p:cNvPr>
          <p:cNvGraphicFramePr>
            <a:graphicFrameLocks noChangeAspect="1"/>
          </p:cNvGraphicFramePr>
          <p:nvPr>
            <p:extLst>
              <p:ext uri="{D42A27DB-BD31-4B8C-83A1-F6EECF244321}">
                <p14:modId xmlns:p14="http://schemas.microsoft.com/office/powerpoint/2010/main" val="964926473"/>
              </p:ext>
            </p:extLst>
          </p:nvPr>
        </p:nvGraphicFramePr>
        <p:xfrm>
          <a:off x="10972800" y="2959669"/>
          <a:ext cx="914400" cy="781050"/>
        </p:xfrm>
        <a:graphic>
          <a:graphicData uri="http://schemas.openxmlformats.org/presentationml/2006/ole">
            <mc:AlternateContent xmlns:mc="http://schemas.openxmlformats.org/markup-compatibility/2006">
              <mc:Choice xmlns:v="urn:schemas-microsoft-com:vml" Requires="v">
                <p:oleObj name="Worksheet" showAsIcon="1" r:id="rId2" imgW="914552" imgH="781101" progId="Excel.Sheet.12">
                  <p:embed/>
                </p:oleObj>
              </mc:Choice>
              <mc:Fallback>
                <p:oleObj name="Worksheet" showAsIcon="1" r:id="rId2" imgW="914552" imgH="781101" progId="Excel.Sheet.12">
                  <p:embed/>
                  <p:pic>
                    <p:nvPicPr>
                      <p:cNvPr id="3" name="Object 2">
                        <a:extLst>
                          <a:ext uri="{FF2B5EF4-FFF2-40B4-BE49-F238E27FC236}">
                            <a16:creationId xmlns:a16="http://schemas.microsoft.com/office/drawing/2014/main" id="{C53058B2-9BFB-E445-A765-A0C4A66B1A9C}"/>
                          </a:ext>
                        </a:extLst>
                      </p:cNvPr>
                      <p:cNvPicPr/>
                      <p:nvPr/>
                    </p:nvPicPr>
                    <p:blipFill>
                      <a:blip r:embed="rId3"/>
                      <a:stretch>
                        <a:fillRect/>
                      </a:stretch>
                    </p:blipFill>
                    <p:spPr>
                      <a:xfrm>
                        <a:off x="10972800" y="2959669"/>
                        <a:ext cx="914400" cy="781050"/>
                      </a:xfrm>
                      <a:prstGeom prst="rect">
                        <a:avLst/>
                      </a:prstGeom>
                    </p:spPr>
                  </p:pic>
                </p:oleObj>
              </mc:Fallback>
            </mc:AlternateContent>
          </a:graphicData>
        </a:graphic>
      </p:graphicFrame>
      <p:pic>
        <p:nvPicPr>
          <p:cNvPr id="5" name="Picture 4">
            <a:extLst>
              <a:ext uri="{FF2B5EF4-FFF2-40B4-BE49-F238E27FC236}">
                <a16:creationId xmlns:a16="http://schemas.microsoft.com/office/drawing/2014/main" id="{8BAAC7F1-F670-AD9F-8584-41C353741827}"/>
              </a:ext>
            </a:extLst>
          </p:cNvPr>
          <p:cNvPicPr>
            <a:picLocks noChangeAspect="1"/>
          </p:cNvPicPr>
          <p:nvPr/>
        </p:nvPicPr>
        <p:blipFill>
          <a:blip r:embed="rId4"/>
          <a:stretch>
            <a:fillRect/>
          </a:stretch>
        </p:blipFill>
        <p:spPr>
          <a:xfrm>
            <a:off x="0" y="4697085"/>
            <a:ext cx="12192000" cy="1999331"/>
          </a:xfrm>
          <a:prstGeom prst="rect">
            <a:avLst/>
          </a:prstGeom>
        </p:spPr>
      </p:pic>
      <p:sp>
        <p:nvSpPr>
          <p:cNvPr id="6" name="Rectangle 5">
            <a:extLst>
              <a:ext uri="{FF2B5EF4-FFF2-40B4-BE49-F238E27FC236}">
                <a16:creationId xmlns:a16="http://schemas.microsoft.com/office/drawing/2014/main" id="{1D35E8D3-2424-667F-9CB9-3635310B331F}"/>
              </a:ext>
            </a:extLst>
          </p:cNvPr>
          <p:cNvSpPr/>
          <p:nvPr/>
        </p:nvSpPr>
        <p:spPr>
          <a:xfrm>
            <a:off x="2076090" y="506083"/>
            <a:ext cx="1460740" cy="781050"/>
          </a:xfrm>
          <a:prstGeom prst="rect">
            <a:avLst/>
          </a:prstGeom>
          <a:solidFill>
            <a:schemeClr val="bg2">
              <a:lumMod val="90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sz="1600" kern="0">
                <a:solidFill>
                  <a:sysClr val="windowText" lastClr="000000"/>
                </a:solidFill>
                <a:latin typeface="Calibri"/>
              </a:rPr>
              <a:t>Contract Center/EPR</a:t>
            </a:r>
          </a:p>
        </p:txBody>
      </p:sp>
      <p:sp>
        <p:nvSpPr>
          <p:cNvPr id="9" name="TextBox 8">
            <a:extLst>
              <a:ext uri="{FF2B5EF4-FFF2-40B4-BE49-F238E27FC236}">
                <a16:creationId xmlns:a16="http://schemas.microsoft.com/office/drawing/2014/main" id="{0BF1B0BA-FD41-317B-D4B0-20D58E926E10}"/>
              </a:ext>
            </a:extLst>
          </p:cNvPr>
          <p:cNvSpPr txBox="1"/>
          <p:nvPr/>
        </p:nvSpPr>
        <p:spPr>
          <a:xfrm>
            <a:off x="247291" y="711942"/>
            <a:ext cx="1222899" cy="369332"/>
          </a:xfrm>
          <a:prstGeom prst="rect">
            <a:avLst/>
          </a:prstGeom>
          <a:noFill/>
        </p:spPr>
        <p:txBody>
          <a:bodyPr wrap="none" rtlCol="0">
            <a:spAutoFit/>
          </a:bodyPr>
          <a:lstStyle/>
          <a:p>
            <a:r>
              <a:rPr lang="en-US"/>
              <a:t>EAAS IAAS</a:t>
            </a:r>
          </a:p>
        </p:txBody>
      </p:sp>
      <p:sp>
        <p:nvSpPr>
          <p:cNvPr id="11" name="TextBox 10">
            <a:extLst>
              <a:ext uri="{FF2B5EF4-FFF2-40B4-BE49-F238E27FC236}">
                <a16:creationId xmlns:a16="http://schemas.microsoft.com/office/drawing/2014/main" id="{56E6C65D-A6B8-B18F-6529-F7C2629A447E}"/>
              </a:ext>
            </a:extLst>
          </p:cNvPr>
          <p:cNvSpPr txBox="1"/>
          <p:nvPr/>
        </p:nvSpPr>
        <p:spPr>
          <a:xfrm>
            <a:off x="304800" y="2587921"/>
            <a:ext cx="1722587" cy="646331"/>
          </a:xfrm>
          <a:prstGeom prst="rect">
            <a:avLst/>
          </a:prstGeom>
          <a:noFill/>
        </p:spPr>
        <p:txBody>
          <a:bodyPr wrap="none" rtlCol="0">
            <a:spAutoFit/>
          </a:bodyPr>
          <a:lstStyle/>
          <a:p>
            <a:r>
              <a:rPr lang="en-US"/>
              <a:t>Running IAAS</a:t>
            </a:r>
          </a:p>
          <a:p>
            <a:r>
              <a:rPr lang="en-US"/>
              <a:t>(manual billing)</a:t>
            </a:r>
          </a:p>
        </p:txBody>
      </p:sp>
      <p:sp>
        <p:nvSpPr>
          <p:cNvPr id="12" name="Rectangle 11">
            <a:extLst>
              <a:ext uri="{FF2B5EF4-FFF2-40B4-BE49-F238E27FC236}">
                <a16:creationId xmlns:a16="http://schemas.microsoft.com/office/drawing/2014/main" id="{DB71058B-46FC-5539-EBCD-9CF19BD688E0}"/>
              </a:ext>
            </a:extLst>
          </p:cNvPr>
          <p:cNvSpPr/>
          <p:nvPr/>
        </p:nvSpPr>
        <p:spPr>
          <a:xfrm>
            <a:off x="4218317" y="506083"/>
            <a:ext cx="1460740" cy="781050"/>
          </a:xfrm>
          <a:prstGeom prst="rect">
            <a:avLst/>
          </a:prstGeom>
          <a:solidFill>
            <a:schemeClr val="accent6">
              <a:lumMod val="20000"/>
              <a:lumOff val="80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sz="1600" kern="0">
                <a:solidFill>
                  <a:sysClr val="windowText" lastClr="000000"/>
                </a:solidFill>
                <a:latin typeface="Calibri"/>
              </a:rPr>
              <a:t>Invoice</a:t>
            </a:r>
          </a:p>
        </p:txBody>
      </p:sp>
      <p:sp>
        <p:nvSpPr>
          <p:cNvPr id="13" name="Rectangle 12">
            <a:extLst>
              <a:ext uri="{FF2B5EF4-FFF2-40B4-BE49-F238E27FC236}">
                <a16:creationId xmlns:a16="http://schemas.microsoft.com/office/drawing/2014/main" id="{D81CCDCF-F385-AEC6-2549-C26466536FFA}"/>
              </a:ext>
            </a:extLst>
          </p:cNvPr>
          <p:cNvSpPr/>
          <p:nvPr/>
        </p:nvSpPr>
        <p:spPr>
          <a:xfrm>
            <a:off x="6360544" y="506083"/>
            <a:ext cx="1460740" cy="781050"/>
          </a:xfrm>
          <a:prstGeom prst="rect">
            <a:avLst/>
          </a:prstGeom>
          <a:solidFill>
            <a:schemeClr val="tx2">
              <a:lumMod val="10000"/>
              <a:lumOff val="90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sz="1600" kern="0">
                <a:solidFill>
                  <a:sysClr val="windowText" lastClr="000000"/>
                </a:solidFill>
                <a:latin typeface="Calibri"/>
              </a:rPr>
              <a:t>FI document</a:t>
            </a:r>
          </a:p>
        </p:txBody>
      </p:sp>
      <p:sp>
        <p:nvSpPr>
          <p:cNvPr id="14" name="Rectangle 13">
            <a:extLst>
              <a:ext uri="{FF2B5EF4-FFF2-40B4-BE49-F238E27FC236}">
                <a16:creationId xmlns:a16="http://schemas.microsoft.com/office/drawing/2014/main" id="{7A14CE30-78E0-A8F3-2932-DD8E484C6C49}"/>
              </a:ext>
            </a:extLst>
          </p:cNvPr>
          <p:cNvSpPr/>
          <p:nvPr/>
        </p:nvSpPr>
        <p:spPr>
          <a:xfrm>
            <a:off x="4218317" y="2337761"/>
            <a:ext cx="1460740" cy="781050"/>
          </a:xfrm>
          <a:prstGeom prst="rect">
            <a:avLst/>
          </a:prstGeom>
          <a:solidFill>
            <a:schemeClr val="accent6">
              <a:lumMod val="20000"/>
              <a:lumOff val="80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sz="1600" kern="0">
                <a:solidFill>
                  <a:sysClr val="windowText" lastClr="000000"/>
                </a:solidFill>
                <a:latin typeface="Calibri"/>
              </a:rPr>
              <a:t>Invoice</a:t>
            </a:r>
          </a:p>
        </p:txBody>
      </p:sp>
      <p:sp>
        <p:nvSpPr>
          <p:cNvPr id="15" name="Rectangle 14">
            <a:extLst>
              <a:ext uri="{FF2B5EF4-FFF2-40B4-BE49-F238E27FC236}">
                <a16:creationId xmlns:a16="http://schemas.microsoft.com/office/drawing/2014/main" id="{B0E04BF7-29AD-322D-E5D7-126E425F413D}"/>
              </a:ext>
            </a:extLst>
          </p:cNvPr>
          <p:cNvSpPr/>
          <p:nvPr/>
        </p:nvSpPr>
        <p:spPr>
          <a:xfrm>
            <a:off x="6360544" y="2337761"/>
            <a:ext cx="1460740" cy="781050"/>
          </a:xfrm>
          <a:prstGeom prst="rect">
            <a:avLst/>
          </a:prstGeom>
          <a:solidFill>
            <a:schemeClr val="tx2">
              <a:lumMod val="10000"/>
              <a:lumOff val="90000"/>
            </a:schemeClr>
          </a:solidFill>
          <a:ln w="9525" cap="flat" cmpd="sng" algn="ctr">
            <a:noFill/>
            <a:prstDash val="solid"/>
          </a:ln>
          <a:effectLst>
            <a:outerShdw blurRad="40000" dist="20000" dir="5400000" rotWithShape="0">
              <a:srgbClr val="000000">
                <a:alpha val="38000"/>
              </a:srgbClr>
            </a:outerShdw>
          </a:effectLst>
        </p:spPr>
        <p:txBody>
          <a:bodyPr lIns="0" tIns="35982" rIns="0" bIns="0" rtlCol="0" anchor="ctr" anchorCtr="0"/>
          <a:lstStyle/>
          <a:p>
            <a:pPr algn="ctr" defTabSz="1088449"/>
            <a:r>
              <a:rPr lang="en-US" sz="1600" kern="0">
                <a:solidFill>
                  <a:sysClr val="windowText" lastClr="000000"/>
                </a:solidFill>
                <a:latin typeface="Calibri"/>
              </a:rPr>
              <a:t>FI document</a:t>
            </a:r>
          </a:p>
        </p:txBody>
      </p:sp>
      <p:sp>
        <p:nvSpPr>
          <p:cNvPr id="19" name="TextBox 18">
            <a:extLst>
              <a:ext uri="{FF2B5EF4-FFF2-40B4-BE49-F238E27FC236}">
                <a16:creationId xmlns:a16="http://schemas.microsoft.com/office/drawing/2014/main" id="{9B0ACEF3-2912-3696-D9E1-9652D390DDBB}"/>
              </a:ext>
            </a:extLst>
          </p:cNvPr>
          <p:cNvSpPr txBox="1"/>
          <p:nvPr/>
        </p:nvSpPr>
        <p:spPr>
          <a:xfrm>
            <a:off x="2076090" y="1331433"/>
            <a:ext cx="1369542" cy="276999"/>
          </a:xfrm>
          <a:prstGeom prst="rect">
            <a:avLst/>
          </a:prstGeom>
          <a:noFill/>
        </p:spPr>
        <p:txBody>
          <a:bodyPr wrap="none" rtlCol="0">
            <a:spAutoFit/>
          </a:bodyPr>
          <a:lstStyle/>
          <a:p>
            <a:r>
              <a:rPr lang="en-US" sz="1200"/>
              <a:t>Contract – OPP ID</a:t>
            </a:r>
          </a:p>
        </p:txBody>
      </p:sp>
      <p:cxnSp>
        <p:nvCxnSpPr>
          <p:cNvPr id="21" name="Straight Arrow Connector 20">
            <a:extLst>
              <a:ext uri="{FF2B5EF4-FFF2-40B4-BE49-F238E27FC236}">
                <a16:creationId xmlns:a16="http://schemas.microsoft.com/office/drawing/2014/main" id="{79D3D60B-B2C9-2A72-9938-66F42CDF269E}"/>
              </a:ext>
            </a:extLst>
          </p:cNvPr>
          <p:cNvCxnSpPr>
            <a:cxnSpLocks/>
          </p:cNvCxnSpPr>
          <p:nvPr/>
        </p:nvCxnSpPr>
        <p:spPr>
          <a:xfrm>
            <a:off x="3605841" y="896608"/>
            <a:ext cx="554966" cy="0"/>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sp>
        <p:nvSpPr>
          <p:cNvPr id="22" name="TextBox 21">
            <a:extLst>
              <a:ext uri="{FF2B5EF4-FFF2-40B4-BE49-F238E27FC236}">
                <a16:creationId xmlns:a16="http://schemas.microsoft.com/office/drawing/2014/main" id="{765D0765-D2D7-3EBC-7BFD-6CE211AB1936}"/>
              </a:ext>
            </a:extLst>
          </p:cNvPr>
          <p:cNvSpPr txBox="1"/>
          <p:nvPr/>
        </p:nvSpPr>
        <p:spPr>
          <a:xfrm>
            <a:off x="4229819" y="1293938"/>
            <a:ext cx="1808700" cy="646331"/>
          </a:xfrm>
          <a:prstGeom prst="rect">
            <a:avLst/>
          </a:prstGeom>
          <a:noFill/>
        </p:spPr>
        <p:txBody>
          <a:bodyPr wrap="none" rtlCol="0">
            <a:spAutoFit/>
          </a:bodyPr>
          <a:lstStyle/>
          <a:p>
            <a:r>
              <a:rPr lang="en-US" sz="1200">
                <a:solidFill>
                  <a:srgbClr val="C00000"/>
                </a:solidFill>
              </a:rPr>
              <a:t>invoice item 1 - OPP ID A</a:t>
            </a:r>
          </a:p>
          <a:p>
            <a:r>
              <a:rPr lang="en-US" sz="1200">
                <a:solidFill>
                  <a:srgbClr val="C00000"/>
                </a:solidFill>
              </a:rPr>
              <a:t>invoice item 2 - OPP ID B</a:t>
            </a:r>
          </a:p>
          <a:p>
            <a:r>
              <a:rPr lang="en-US" sz="1200">
                <a:solidFill>
                  <a:srgbClr val="C00000"/>
                </a:solidFill>
              </a:rPr>
              <a:t>…</a:t>
            </a:r>
          </a:p>
        </p:txBody>
      </p:sp>
      <p:cxnSp>
        <p:nvCxnSpPr>
          <p:cNvPr id="25" name="Straight Arrow Connector 24">
            <a:extLst>
              <a:ext uri="{FF2B5EF4-FFF2-40B4-BE49-F238E27FC236}">
                <a16:creationId xmlns:a16="http://schemas.microsoft.com/office/drawing/2014/main" id="{F98D3847-ADBC-0F8D-0EAF-89D584A559E8}"/>
              </a:ext>
            </a:extLst>
          </p:cNvPr>
          <p:cNvCxnSpPr/>
          <p:nvPr/>
        </p:nvCxnSpPr>
        <p:spPr>
          <a:xfrm>
            <a:off x="5805577" y="896608"/>
            <a:ext cx="414068" cy="0"/>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26" name="Straight Arrow Connector 25">
            <a:extLst>
              <a:ext uri="{FF2B5EF4-FFF2-40B4-BE49-F238E27FC236}">
                <a16:creationId xmlns:a16="http://schemas.microsoft.com/office/drawing/2014/main" id="{89D875FB-F98D-469C-9231-091FAAB793B9}"/>
              </a:ext>
            </a:extLst>
          </p:cNvPr>
          <p:cNvCxnSpPr/>
          <p:nvPr/>
        </p:nvCxnSpPr>
        <p:spPr>
          <a:xfrm>
            <a:off x="5805577" y="2745538"/>
            <a:ext cx="414068" cy="0"/>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sp>
        <p:nvSpPr>
          <p:cNvPr id="27" name="TextBox 26">
            <a:extLst>
              <a:ext uri="{FF2B5EF4-FFF2-40B4-BE49-F238E27FC236}">
                <a16:creationId xmlns:a16="http://schemas.microsoft.com/office/drawing/2014/main" id="{33149EB3-1A00-7CCC-1DC4-A796752D0976}"/>
              </a:ext>
            </a:extLst>
          </p:cNvPr>
          <p:cNvSpPr txBox="1"/>
          <p:nvPr/>
        </p:nvSpPr>
        <p:spPr>
          <a:xfrm>
            <a:off x="3510953" y="911499"/>
            <a:ext cx="1095428" cy="276999"/>
          </a:xfrm>
          <a:prstGeom prst="rect">
            <a:avLst/>
          </a:prstGeom>
          <a:noFill/>
        </p:spPr>
        <p:txBody>
          <a:bodyPr wrap="none" rtlCol="0">
            <a:spAutoFit/>
          </a:bodyPr>
          <a:lstStyle/>
          <a:p>
            <a:r>
              <a:rPr lang="en-US" altLang="zh-CN" sz="1200"/>
              <a:t>consolidation</a:t>
            </a:r>
            <a:endParaRPr lang="en-US" sz="1200"/>
          </a:p>
        </p:txBody>
      </p:sp>
      <p:sp>
        <p:nvSpPr>
          <p:cNvPr id="28" name="TextBox 27">
            <a:extLst>
              <a:ext uri="{FF2B5EF4-FFF2-40B4-BE49-F238E27FC236}">
                <a16:creationId xmlns:a16="http://schemas.microsoft.com/office/drawing/2014/main" id="{0ADEF431-01C3-896F-F42B-0DFD7B014F72}"/>
              </a:ext>
            </a:extLst>
          </p:cNvPr>
          <p:cNvSpPr txBox="1"/>
          <p:nvPr/>
        </p:nvSpPr>
        <p:spPr>
          <a:xfrm>
            <a:off x="3685964" y="631977"/>
            <a:ext cx="391454" cy="276999"/>
          </a:xfrm>
          <a:prstGeom prst="rect">
            <a:avLst/>
          </a:prstGeom>
          <a:noFill/>
        </p:spPr>
        <p:txBody>
          <a:bodyPr wrap="none" rtlCol="0">
            <a:spAutoFit/>
          </a:bodyPr>
          <a:lstStyle/>
          <a:p>
            <a:r>
              <a:rPr lang="en-US" sz="1200"/>
              <a:t>1:1</a:t>
            </a:r>
          </a:p>
        </p:txBody>
      </p:sp>
      <p:sp>
        <p:nvSpPr>
          <p:cNvPr id="30" name="TextBox 29">
            <a:extLst>
              <a:ext uri="{FF2B5EF4-FFF2-40B4-BE49-F238E27FC236}">
                <a16:creationId xmlns:a16="http://schemas.microsoft.com/office/drawing/2014/main" id="{EF6A1A98-9E06-6FA0-D650-506746F89618}"/>
              </a:ext>
            </a:extLst>
          </p:cNvPr>
          <p:cNvSpPr txBox="1"/>
          <p:nvPr/>
        </p:nvSpPr>
        <p:spPr>
          <a:xfrm>
            <a:off x="4229819" y="3143031"/>
            <a:ext cx="1808700" cy="646331"/>
          </a:xfrm>
          <a:prstGeom prst="rect">
            <a:avLst/>
          </a:prstGeom>
          <a:noFill/>
        </p:spPr>
        <p:txBody>
          <a:bodyPr wrap="none" rtlCol="0">
            <a:spAutoFit/>
          </a:bodyPr>
          <a:lstStyle/>
          <a:p>
            <a:r>
              <a:rPr lang="en-US" sz="1200"/>
              <a:t>invoice item 1 - OPP ID A</a:t>
            </a:r>
          </a:p>
          <a:p>
            <a:r>
              <a:rPr lang="en-US" sz="1200"/>
              <a:t>invoice item 2 - OPP ID B</a:t>
            </a:r>
          </a:p>
          <a:p>
            <a:r>
              <a:rPr lang="en-US" sz="1200"/>
              <a:t>…</a:t>
            </a:r>
          </a:p>
        </p:txBody>
      </p:sp>
      <p:sp>
        <p:nvSpPr>
          <p:cNvPr id="31" name="TextBox 30">
            <a:extLst>
              <a:ext uri="{FF2B5EF4-FFF2-40B4-BE49-F238E27FC236}">
                <a16:creationId xmlns:a16="http://schemas.microsoft.com/office/drawing/2014/main" id="{58C70626-9039-1980-3FFB-A0D2DAEE97F1}"/>
              </a:ext>
            </a:extLst>
          </p:cNvPr>
          <p:cNvSpPr txBox="1"/>
          <p:nvPr/>
        </p:nvSpPr>
        <p:spPr>
          <a:xfrm>
            <a:off x="6360544" y="1270600"/>
            <a:ext cx="632737" cy="646331"/>
          </a:xfrm>
          <a:prstGeom prst="rect">
            <a:avLst/>
          </a:prstGeom>
          <a:noFill/>
        </p:spPr>
        <p:txBody>
          <a:bodyPr wrap="none" rtlCol="0">
            <a:spAutoFit/>
          </a:bodyPr>
          <a:lstStyle/>
          <a:p>
            <a:r>
              <a:rPr lang="en-US" sz="1200"/>
              <a:t>item 1 </a:t>
            </a:r>
          </a:p>
          <a:p>
            <a:r>
              <a:rPr lang="en-US" sz="1200"/>
              <a:t>Item 2 </a:t>
            </a:r>
          </a:p>
          <a:p>
            <a:r>
              <a:rPr lang="en-US" sz="1200"/>
              <a:t>…</a:t>
            </a:r>
          </a:p>
        </p:txBody>
      </p:sp>
      <p:sp>
        <p:nvSpPr>
          <p:cNvPr id="32" name="TextBox 31">
            <a:extLst>
              <a:ext uri="{FF2B5EF4-FFF2-40B4-BE49-F238E27FC236}">
                <a16:creationId xmlns:a16="http://schemas.microsoft.com/office/drawing/2014/main" id="{223BB968-C0FA-835E-1102-260B03166CDD}"/>
              </a:ext>
            </a:extLst>
          </p:cNvPr>
          <p:cNvSpPr txBox="1"/>
          <p:nvPr/>
        </p:nvSpPr>
        <p:spPr>
          <a:xfrm>
            <a:off x="6354927" y="3143031"/>
            <a:ext cx="632737" cy="646331"/>
          </a:xfrm>
          <a:prstGeom prst="rect">
            <a:avLst/>
          </a:prstGeom>
          <a:noFill/>
        </p:spPr>
        <p:txBody>
          <a:bodyPr wrap="none" rtlCol="0">
            <a:spAutoFit/>
          </a:bodyPr>
          <a:lstStyle/>
          <a:p>
            <a:r>
              <a:rPr lang="en-US" sz="1200"/>
              <a:t>item 1 </a:t>
            </a:r>
          </a:p>
          <a:p>
            <a:r>
              <a:rPr lang="en-US" sz="1200"/>
              <a:t>Item 2 </a:t>
            </a:r>
          </a:p>
          <a:p>
            <a:r>
              <a:rPr lang="en-US" sz="1200"/>
              <a:t>…</a:t>
            </a:r>
          </a:p>
        </p:txBody>
      </p:sp>
      <p:sp>
        <p:nvSpPr>
          <p:cNvPr id="33" name="Left Brace 32">
            <a:extLst>
              <a:ext uri="{FF2B5EF4-FFF2-40B4-BE49-F238E27FC236}">
                <a16:creationId xmlns:a16="http://schemas.microsoft.com/office/drawing/2014/main" id="{42209AEC-CD4A-D151-12E1-6C11EF288FA4}"/>
              </a:ext>
            </a:extLst>
          </p:cNvPr>
          <p:cNvSpPr/>
          <p:nvPr/>
        </p:nvSpPr>
        <p:spPr>
          <a:xfrm rot="5400000">
            <a:off x="2704255" y="2048566"/>
            <a:ext cx="277001" cy="4925570"/>
          </a:xfrm>
          <a:prstGeom prst="leftBrace">
            <a:avLst/>
          </a:prstGeom>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4" name="Left Brace 33">
            <a:extLst>
              <a:ext uri="{FF2B5EF4-FFF2-40B4-BE49-F238E27FC236}">
                <a16:creationId xmlns:a16="http://schemas.microsoft.com/office/drawing/2014/main" id="{D9224ED5-11E7-7A76-7CA3-2E254F6A78F9}"/>
              </a:ext>
            </a:extLst>
          </p:cNvPr>
          <p:cNvSpPr/>
          <p:nvPr/>
        </p:nvSpPr>
        <p:spPr>
          <a:xfrm rot="5400000">
            <a:off x="8624320" y="4072661"/>
            <a:ext cx="314739" cy="862642"/>
          </a:xfrm>
          <a:prstGeom prst="leftBrace">
            <a:avLst/>
          </a:prstGeom>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5" name="Left Brace 34">
            <a:extLst>
              <a:ext uri="{FF2B5EF4-FFF2-40B4-BE49-F238E27FC236}">
                <a16:creationId xmlns:a16="http://schemas.microsoft.com/office/drawing/2014/main" id="{70999344-7B55-B0D8-A804-383669AD3F29}"/>
              </a:ext>
            </a:extLst>
          </p:cNvPr>
          <p:cNvSpPr/>
          <p:nvPr/>
        </p:nvSpPr>
        <p:spPr>
          <a:xfrm rot="5400000">
            <a:off x="6638866" y="3603649"/>
            <a:ext cx="378177" cy="1808699"/>
          </a:xfrm>
          <a:prstGeom prst="leftBrace">
            <a:avLst/>
          </a:prstGeom>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6" name="Left Brace 35">
            <a:extLst>
              <a:ext uri="{FF2B5EF4-FFF2-40B4-BE49-F238E27FC236}">
                <a16:creationId xmlns:a16="http://schemas.microsoft.com/office/drawing/2014/main" id="{E16899A0-9C8E-687B-3ED2-21CAF5693D60}"/>
              </a:ext>
            </a:extLst>
          </p:cNvPr>
          <p:cNvSpPr/>
          <p:nvPr/>
        </p:nvSpPr>
        <p:spPr>
          <a:xfrm rot="5400000">
            <a:off x="10546336" y="3573664"/>
            <a:ext cx="378177" cy="1808699"/>
          </a:xfrm>
          <a:prstGeom prst="leftBrace">
            <a:avLst/>
          </a:prstGeom>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7" name="TextBox 36">
            <a:extLst>
              <a:ext uri="{FF2B5EF4-FFF2-40B4-BE49-F238E27FC236}">
                <a16:creationId xmlns:a16="http://schemas.microsoft.com/office/drawing/2014/main" id="{3C4D3356-946C-B057-2B74-CF93A9D97723}"/>
              </a:ext>
            </a:extLst>
          </p:cNvPr>
          <p:cNvSpPr txBox="1"/>
          <p:nvPr/>
        </p:nvSpPr>
        <p:spPr>
          <a:xfrm>
            <a:off x="2249341" y="4045262"/>
            <a:ext cx="1023037" cy="276999"/>
          </a:xfrm>
          <a:prstGeom prst="rect">
            <a:avLst/>
          </a:prstGeom>
          <a:noFill/>
        </p:spPr>
        <p:txBody>
          <a:bodyPr wrap="none" rtlCol="0">
            <a:spAutoFit/>
          </a:bodyPr>
          <a:lstStyle/>
          <a:p>
            <a:r>
              <a:rPr lang="en-US" sz="1200"/>
              <a:t>FI </a:t>
            </a:r>
            <a:r>
              <a:rPr lang="en-US" altLang="zh-CN" sz="1200"/>
              <a:t>document</a:t>
            </a:r>
            <a:endParaRPr lang="en-US" sz="1200"/>
          </a:p>
        </p:txBody>
      </p:sp>
      <p:sp>
        <p:nvSpPr>
          <p:cNvPr id="38" name="TextBox 37">
            <a:extLst>
              <a:ext uri="{FF2B5EF4-FFF2-40B4-BE49-F238E27FC236}">
                <a16:creationId xmlns:a16="http://schemas.microsoft.com/office/drawing/2014/main" id="{81A304ED-A682-F5AD-5D7C-C1B0EE2A977E}"/>
              </a:ext>
            </a:extLst>
          </p:cNvPr>
          <p:cNvSpPr txBox="1"/>
          <p:nvPr/>
        </p:nvSpPr>
        <p:spPr>
          <a:xfrm>
            <a:off x="8270171" y="4104724"/>
            <a:ext cx="1023037" cy="276999"/>
          </a:xfrm>
          <a:prstGeom prst="rect">
            <a:avLst/>
          </a:prstGeom>
          <a:noFill/>
        </p:spPr>
        <p:txBody>
          <a:bodyPr wrap="none" rtlCol="0">
            <a:spAutoFit/>
          </a:bodyPr>
          <a:lstStyle/>
          <a:p>
            <a:r>
              <a:rPr lang="en-US" sz="1200"/>
              <a:t>FI </a:t>
            </a:r>
            <a:r>
              <a:rPr lang="en-US" altLang="zh-CN" sz="1200"/>
              <a:t>document</a:t>
            </a:r>
            <a:endParaRPr lang="en-US" sz="1200"/>
          </a:p>
        </p:txBody>
      </p:sp>
      <p:sp>
        <p:nvSpPr>
          <p:cNvPr id="40" name="TextBox 39">
            <a:extLst>
              <a:ext uri="{FF2B5EF4-FFF2-40B4-BE49-F238E27FC236}">
                <a16:creationId xmlns:a16="http://schemas.microsoft.com/office/drawing/2014/main" id="{534C405B-2885-FD91-D46E-34D3CE0AB492}"/>
              </a:ext>
            </a:extLst>
          </p:cNvPr>
          <p:cNvSpPr txBox="1"/>
          <p:nvPr/>
        </p:nvSpPr>
        <p:spPr>
          <a:xfrm>
            <a:off x="6497895" y="4058111"/>
            <a:ext cx="660117" cy="276999"/>
          </a:xfrm>
          <a:prstGeom prst="rect">
            <a:avLst/>
          </a:prstGeom>
          <a:noFill/>
        </p:spPr>
        <p:txBody>
          <a:bodyPr wrap="none" rtlCol="0">
            <a:spAutoFit/>
          </a:bodyPr>
          <a:lstStyle/>
          <a:p>
            <a:r>
              <a:rPr lang="en-US" sz="1200"/>
              <a:t>I</a:t>
            </a:r>
            <a:r>
              <a:rPr lang="en-US" altLang="zh-CN" sz="1200"/>
              <a:t>nvoice</a:t>
            </a:r>
            <a:endParaRPr lang="en-US" sz="1200"/>
          </a:p>
        </p:txBody>
      </p:sp>
      <p:sp>
        <p:nvSpPr>
          <p:cNvPr id="41" name="TextBox 40">
            <a:extLst>
              <a:ext uri="{FF2B5EF4-FFF2-40B4-BE49-F238E27FC236}">
                <a16:creationId xmlns:a16="http://schemas.microsoft.com/office/drawing/2014/main" id="{768CDBE3-F0EE-6F58-433D-BBA88EB9BC80}"/>
              </a:ext>
            </a:extLst>
          </p:cNvPr>
          <p:cNvSpPr txBox="1"/>
          <p:nvPr/>
        </p:nvSpPr>
        <p:spPr>
          <a:xfrm>
            <a:off x="10460295" y="4056532"/>
            <a:ext cx="660117" cy="276999"/>
          </a:xfrm>
          <a:prstGeom prst="rect">
            <a:avLst/>
          </a:prstGeom>
          <a:noFill/>
        </p:spPr>
        <p:txBody>
          <a:bodyPr wrap="none" rtlCol="0">
            <a:spAutoFit/>
          </a:bodyPr>
          <a:lstStyle/>
          <a:p>
            <a:r>
              <a:rPr lang="en-US" sz="1200"/>
              <a:t>I</a:t>
            </a:r>
            <a:r>
              <a:rPr lang="en-US" altLang="zh-CN" sz="1200"/>
              <a:t>nvoice</a:t>
            </a:r>
            <a:endParaRPr lang="en-US" sz="1200"/>
          </a:p>
        </p:txBody>
      </p:sp>
      <p:sp>
        <p:nvSpPr>
          <p:cNvPr id="42" name="TextBox 41">
            <a:extLst>
              <a:ext uri="{FF2B5EF4-FFF2-40B4-BE49-F238E27FC236}">
                <a16:creationId xmlns:a16="http://schemas.microsoft.com/office/drawing/2014/main" id="{289C4D28-9752-0392-E8AA-83DB80DADDA1}"/>
              </a:ext>
            </a:extLst>
          </p:cNvPr>
          <p:cNvSpPr txBox="1"/>
          <p:nvPr/>
        </p:nvSpPr>
        <p:spPr>
          <a:xfrm>
            <a:off x="4218317" y="5219416"/>
            <a:ext cx="768159" cy="261610"/>
          </a:xfrm>
          <a:prstGeom prst="rect">
            <a:avLst/>
          </a:prstGeom>
          <a:noFill/>
        </p:spPr>
        <p:txBody>
          <a:bodyPr wrap="none" rtlCol="0">
            <a:spAutoFit/>
          </a:bodyPr>
          <a:lstStyle/>
          <a:p>
            <a:r>
              <a:rPr lang="en-US" sz="1100">
                <a:solidFill>
                  <a:srgbClr val="C00000"/>
                </a:solidFill>
              </a:rPr>
              <a:t>Amount </a:t>
            </a:r>
            <a:r>
              <a:rPr lang="en-US" altLang="zh-CN" sz="1100">
                <a:solidFill>
                  <a:srgbClr val="C00000"/>
                </a:solidFill>
              </a:rPr>
              <a:t>?</a:t>
            </a:r>
            <a:endParaRPr lang="en-US" sz="1100">
              <a:solidFill>
                <a:srgbClr val="C00000"/>
              </a:solidFill>
            </a:endParaRPr>
          </a:p>
        </p:txBody>
      </p:sp>
      <p:sp>
        <p:nvSpPr>
          <p:cNvPr id="43" name="TextBox 42">
            <a:extLst>
              <a:ext uri="{FF2B5EF4-FFF2-40B4-BE49-F238E27FC236}">
                <a16:creationId xmlns:a16="http://schemas.microsoft.com/office/drawing/2014/main" id="{82559D22-A9D6-055E-32B7-873B272F61BA}"/>
              </a:ext>
            </a:extLst>
          </p:cNvPr>
          <p:cNvSpPr txBox="1"/>
          <p:nvPr/>
        </p:nvSpPr>
        <p:spPr>
          <a:xfrm>
            <a:off x="10460295" y="6612844"/>
            <a:ext cx="1571264" cy="261610"/>
          </a:xfrm>
          <a:prstGeom prst="rect">
            <a:avLst/>
          </a:prstGeom>
          <a:noFill/>
        </p:spPr>
        <p:txBody>
          <a:bodyPr wrap="none" rtlCol="0">
            <a:spAutoFit/>
          </a:bodyPr>
          <a:lstStyle/>
          <a:p>
            <a:r>
              <a:rPr lang="zh-CN" altLang="en-US" sz="1100">
                <a:solidFill>
                  <a:srgbClr val="C00000"/>
                </a:solidFill>
              </a:rPr>
              <a:t>可以作为</a:t>
            </a:r>
            <a:r>
              <a:rPr lang="en-US" altLang="zh-CN" sz="1100">
                <a:solidFill>
                  <a:srgbClr val="C00000"/>
                </a:solidFill>
              </a:rPr>
              <a:t>double check</a:t>
            </a:r>
            <a:endParaRPr lang="en-US" sz="1100">
              <a:solidFill>
                <a:srgbClr val="C00000"/>
              </a:solidFill>
            </a:endParaRPr>
          </a:p>
        </p:txBody>
      </p:sp>
      <p:sp>
        <p:nvSpPr>
          <p:cNvPr id="44" name="TextBox 43">
            <a:extLst>
              <a:ext uri="{FF2B5EF4-FFF2-40B4-BE49-F238E27FC236}">
                <a16:creationId xmlns:a16="http://schemas.microsoft.com/office/drawing/2014/main" id="{2C6E26E3-796E-56B6-7D72-4C1BA774BA56}"/>
              </a:ext>
            </a:extLst>
          </p:cNvPr>
          <p:cNvSpPr txBox="1"/>
          <p:nvPr/>
        </p:nvSpPr>
        <p:spPr>
          <a:xfrm>
            <a:off x="8270171" y="542167"/>
            <a:ext cx="3407556" cy="1569660"/>
          </a:xfrm>
          <a:prstGeom prst="rect">
            <a:avLst/>
          </a:prstGeom>
          <a:noFill/>
        </p:spPr>
        <p:txBody>
          <a:bodyPr wrap="square" rtlCol="0">
            <a:spAutoFit/>
          </a:bodyPr>
          <a:lstStyle/>
          <a:p>
            <a:r>
              <a:rPr lang="en-US" sz="1200">
                <a:solidFill>
                  <a:srgbClr val="C00000"/>
                </a:solidFill>
              </a:rPr>
              <a:t>S</a:t>
            </a:r>
            <a:r>
              <a:rPr lang="en-US" altLang="zh-CN" sz="1200">
                <a:solidFill>
                  <a:srgbClr val="C00000"/>
                </a:solidFill>
              </a:rPr>
              <a:t>olution 2</a:t>
            </a:r>
            <a:r>
              <a:rPr lang="zh-CN" altLang="en-US" sz="1200">
                <a:solidFill>
                  <a:srgbClr val="C00000"/>
                </a:solidFill>
              </a:rPr>
              <a:t>：</a:t>
            </a:r>
            <a:endParaRPr lang="en-US" altLang="zh-CN" sz="1200">
              <a:solidFill>
                <a:srgbClr val="C00000"/>
              </a:solidFill>
            </a:endParaRPr>
          </a:p>
          <a:p>
            <a:r>
              <a:rPr lang="en-US" sz="1200">
                <a:solidFill>
                  <a:srgbClr val="C00000"/>
                </a:solidFill>
              </a:rPr>
              <a:t>FI </a:t>
            </a:r>
            <a:r>
              <a:rPr lang="en-US" altLang="zh-CN" sz="1200">
                <a:solidFill>
                  <a:srgbClr val="C00000"/>
                </a:solidFill>
              </a:rPr>
              <a:t>document – contract </a:t>
            </a:r>
            <a:r>
              <a:rPr lang="en-US" altLang="zh-CN" sz="1200" err="1">
                <a:solidFill>
                  <a:srgbClr val="C00000"/>
                </a:solidFill>
              </a:rPr>
              <a:t>no+item</a:t>
            </a:r>
            <a:endParaRPr lang="en-US" altLang="zh-CN" sz="1200">
              <a:solidFill>
                <a:srgbClr val="C00000"/>
              </a:solidFill>
            </a:endParaRPr>
          </a:p>
          <a:p>
            <a:r>
              <a:rPr lang="en-US" altLang="zh-CN" sz="1200">
                <a:solidFill>
                  <a:srgbClr val="C00000"/>
                </a:solidFill>
              </a:rPr>
              <a:t>Contact </a:t>
            </a:r>
            <a:r>
              <a:rPr lang="en-US" altLang="zh-CN" sz="1200" err="1">
                <a:solidFill>
                  <a:srgbClr val="C00000"/>
                </a:solidFill>
              </a:rPr>
              <a:t>no+item</a:t>
            </a:r>
            <a:r>
              <a:rPr lang="en-US" altLang="zh-CN" sz="1200">
                <a:solidFill>
                  <a:srgbClr val="C00000"/>
                </a:solidFill>
              </a:rPr>
              <a:t> </a:t>
            </a:r>
            <a:r>
              <a:rPr lang="zh-CN" altLang="en-US" sz="1200">
                <a:solidFill>
                  <a:srgbClr val="C00000"/>
                </a:solidFill>
              </a:rPr>
              <a:t>和 </a:t>
            </a:r>
            <a:r>
              <a:rPr lang="en-US" altLang="zh-CN" sz="1200">
                <a:solidFill>
                  <a:srgbClr val="C00000"/>
                </a:solidFill>
              </a:rPr>
              <a:t>OPP ID</a:t>
            </a:r>
            <a:r>
              <a:rPr lang="zh-CN" altLang="en-US" sz="1200">
                <a:solidFill>
                  <a:srgbClr val="C00000"/>
                </a:solidFill>
              </a:rPr>
              <a:t>对应关系</a:t>
            </a:r>
            <a:endParaRPr lang="en-US" altLang="zh-CN" sz="1200">
              <a:solidFill>
                <a:srgbClr val="C00000"/>
              </a:solidFill>
            </a:endParaRPr>
          </a:p>
          <a:p>
            <a:endParaRPr lang="en-US" sz="1200">
              <a:solidFill>
                <a:srgbClr val="C00000"/>
              </a:solidFill>
            </a:endParaRPr>
          </a:p>
          <a:p>
            <a:r>
              <a:rPr lang="zh-CN" altLang="en-US" sz="1200">
                <a:solidFill>
                  <a:srgbClr val="C00000"/>
                </a:solidFill>
              </a:rPr>
              <a:t>范围： </a:t>
            </a:r>
            <a:r>
              <a:rPr lang="en-US" altLang="zh-CN" sz="1200">
                <a:solidFill>
                  <a:srgbClr val="C00000"/>
                </a:solidFill>
              </a:rPr>
              <a:t>running IAAS</a:t>
            </a:r>
            <a:r>
              <a:rPr lang="zh-CN" altLang="en-US" sz="1200">
                <a:solidFill>
                  <a:srgbClr val="C00000"/>
                </a:solidFill>
              </a:rPr>
              <a:t>的</a:t>
            </a:r>
            <a:r>
              <a:rPr lang="en-US" altLang="zh-CN" sz="1200">
                <a:solidFill>
                  <a:srgbClr val="C00000"/>
                </a:solidFill>
              </a:rPr>
              <a:t>solution</a:t>
            </a:r>
            <a:r>
              <a:rPr lang="zh-CN" altLang="en-US" sz="1200">
                <a:solidFill>
                  <a:srgbClr val="C00000"/>
                </a:solidFill>
              </a:rPr>
              <a:t>，</a:t>
            </a:r>
            <a:r>
              <a:rPr lang="en-US" altLang="zh-CN" sz="1200" err="1">
                <a:solidFill>
                  <a:srgbClr val="C00000"/>
                </a:solidFill>
              </a:rPr>
              <a:t>Nexbill</a:t>
            </a:r>
            <a:r>
              <a:rPr lang="zh-CN" altLang="en-US" sz="1200">
                <a:solidFill>
                  <a:srgbClr val="C00000"/>
                </a:solidFill>
              </a:rPr>
              <a:t>如何</a:t>
            </a:r>
            <a:r>
              <a:rPr lang="en-US" altLang="zh-CN" sz="1200">
                <a:solidFill>
                  <a:srgbClr val="C00000"/>
                </a:solidFill>
              </a:rPr>
              <a:t>trigger invoice</a:t>
            </a:r>
          </a:p>
          <a:p>
            <a:endParaRPr lang="en-US" sz="1200">
              <a:solidFill>
                <a:srgbClr val="C00000"/>
              </a:solidFill>
            </a:endParaRPr>
          </a:p>
          <a:p>
            <a:r>
              <a:rPr lang="zh-CN" altLang="en-US" sz="1200">
                <a:solidFill>
                  <a:srgbClr val="C00000"/>
                </a:solidFill>
              </a:rPr>
              <a:t>报表需求：三月底之前</a:t>
            </a:r>
            <a:endParaRPr lang="en-US" sz="1200">
              <a:solidFill>
                <a:srgbClr val="C00000"/>
              </a:solidFill>
            </a:endParaRPr>
          </a:p>
        </p:txBody>
      </p:sp>
    </p:spTree>
    <p:extLst>
      <p:ext uri="{BB962C8B-B14F-4D97-AF65-F5344CB8AC3E}">
        <p14:creationId xmlns:p14="http://schemas.microsoft.com/office/powerpoint/2010/main" val="1250836904"/>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D741D962-71BC-3DD8-68FE-9E12D7F2B94C}"/>
              </a:ext>
            </a:extLst>
          </p:cNvPr>
          <p:cNvSpPr txBox="1"/>
          <p:nvPr/>
        </p:nvSpPr>
        <p:spPr>
          <a:xfrm>
            <a:off x="563591" y="1500995"/>
            <a:ext cx="11243096" cy="3139321"/>
          </a:xfrm>
          <a:prstGeom prst="rect">
            <a:avLst/>
          </a:prstGeom>
          <a:noFill/>
        </p:spPr>
        <p:txBody>
          <a:bodyPr wrap="square" rtlCol="0">
            <a:spAutoFit/>
          </a:bodyPr>
          <a:lstStyle/>
          <a:p>
            <a:pPr marL="342900" indent="-342900">
              <a:buAutoNum type="arabicPeriod"/>
            </a:pPr>
            <a:endParaRPr lang="en-US" altLang="zh-CN"/>
          </a:p>
          <a:p>
            <a:r>
              <a:rPr lang="en-US" altLang="zh-CN"/>
              <a:t>1. </a:t>
            </a:r>
            <a:r>
              <a:rPr lang="zh-CN" altLang="en-US"/>
              <a:t>如何找出</a:t>
            </a:r>
            <a:r>
              <a:rPr lang="en-US" altLang="zh-CN"/>
              <a:t>IAAS FI document </a:t>
            </a:r>
            <a:r>
              <a:rPr lang="zh-CN" altLang="en-US"/>
              <a:t>以及</a:t>
            </a:r>
            <a:r>
              <a:rPr lang="en-US" altLang="zh-CN"/>
              <a:t> Running IAAS FI document</a:t>
            </a:r>
          </a:p>
          <a:p>
            <a:pPr marL="342900" indent="-342900">
              <a:buAutoNum type="arabicPeriod"/>
            </a:pPr>
            <a:endParaRPr lang="en-US" altLang="zh-CN"/>
          </a:p>
          <a:p>
            <a:pPr marL="342900" indent="-342900">
              <a:buAutoNum type="arabicPeriod"/>
            </a:pPr>
            <a:endParaRPr lang="en-US"/>
          </a:p>
          <a:p>
            <a:r>
              <a:rPr lang="en-US" altLang="zh-CN"/>
              <a:t>2. </a:t>
            </a:r>
            <a:r>
              <a:rPr lang="zh-CN" altLang="en-US"/>
              <a:t>涉及到的科目集报表加科目筛选条件</a:t>
            </a:r>
            <a:r>
              <a:rPr lang="en-US" altLang="zh-CN"/>
              <a:t>-&gt; </a:t>
            </a:r>
            <a:r>
              <a:rPr lang="en-US" altLang="zh-CN" err="1"/>
              <a:t>Xiuping</a:t>
            </a:r>
            <a:r>
              <a:rPr lang="zh-CN" altLang="en-US"/>
              <a:t>确认</a:t>
            </a:r>
            <a:endParaRPr lang="en-US" altLang="zh-CN"/>
          </a:p>
          <a:p>
            <a:endParaRPr lang="en-US" altLang="zh-CN"/>
          </a:p>
          <a:p>
            <a:r>
              <a:rPr lang="en-US" altLang="zh-CN"/>
              <a:t>3. Contract no</a:t>
            </a:r>
            <a:r>
              <a:rPr lang="zh-CN" altLang="en-US"/>
              <a:t>和</a:t>
            </a:r>
            <a:r>
              <a:rPr lang="en-US" altLang="zh-CN"/>
              <a:t>Invoice item</a:t>
            </a:r>
            <a:r>
              <a:rPr lang="zh-CN" altLang="en-US"/>
              <a:t>的</a:t>
            </a:r>
            <a:r>
              <a:rPr lang="en-US" altLang="zh-CN"/>
              <a:t>join</a:t>
            </a:r>
            <a:r>
              <a:rPr lang="zh-CN" altLang="en-US"/>
              <a:t>关系（需要和</a:t>
            </a:r>
            <a:r>
              <a:rPr lang="en-US" altLang="zh-CN"/>
              <a:t>Eric</a:t>
            </a:r>
            <a:r>
              <a:rPr lang="zh-CN" altLang="en-US"/>
              <a:t>确认是否两种业务都把</a:t>
            </a:r>
            <a:r>
              <a:rPr lang="en-US" altLang="zh-CN"/>
              <a:t>OPP ID</a:t>
            </a:r>
            <a:r>
              <a:rPr lang="zh-CN" altLang="en-US"/>
              <a:t>放在</a:t>
            </a:r>
            <a:r>
              <a:rPr lang="en-US" altLang="zh-CN"/>
              <a:t>invoice item</a:t>
            </a:r>
            <a:r>
              <a:rPr lang="zh-CN" altLang="en-US"/>
              <a:t>上）</a:t>
            </a:r>
            <a:endParaRPr lang="en-US" altLang="zh-CN"/>
          </a:p>
          <a:p>
            <a:r>
              <a:rPr lang="en-US"/>
              <a:t>E</a:t>
            </a:r>
            <a:r>
              <a:rPr lang="en-US" altLang="zh-CN"/>
              <a:t>ric</a:t>
            </a:r>
            <a:r>
              <a:rPr lang="zh-CN" altLang="en-US"/>
              <a:t>确认</a:t>
            </a:r>
            <a:endParaRPr lang="en-US"/>
          </a:p>
          <a:p>
            <a:endParaRPr lang="en-US"/>
          </a:p>
          <a:p>
            <a:r>
              <a:rPr lang="en-US"/>
              <a:t>4. I</a:t>
            </a:r>
            <a:r>
              <a:rPr lang="en-US" altLang="zh-CN"/>
              <a:t>nvoice item </a:t>
            </a:r>
            <a:r>
              <a:rPr lang="zh-CN" altLang="en-US"/>
              <a:t>和 </a:t>
            </a:r>
            <a:r>
              <a:rPr lang="en-US" altLang="zh-CN"/>
              <a:t>FI document </a:t>
            </a:r>
            <a:r>
              <a:rPr lang="zh-CN" altLang="en-US"/>
              <a:t>的</a:t>
            </a:r>
            <a:r>
              <a:rPr lang="en-US" altLang="zh-CN"/>
              <a:t>join</a:t>
            </a:r>
            <a:r>
              <a:rPr lang="zh-CN" altLang="en-US"/>
              <a:t>关系</a:t>
            </a:r>
            <a:endParaRPr lang="en-US" altLang="zh-CN"/>
          </a:p>
          <a:p>
            <a:r>
              <a:rPr lang="en-US"/>
              <a:t>FI</a:t>
            </a:r>
            <a:r>
              <a:rPr lang="zh-CN" altLang="en-US"/>
              <a:t>已有</a:t>
            </a:r>
            <a:endParaRPr lang="en-US"/>
          </a:p>
        </p:txBody>
      </p:sp>
      <p:sp>
        <p:nvSpPr>
          <p:cNvPr id="5" name="TextBox 4">
            <a:extLst>
              <a:ext uri="{FF2B5EF4-FFF2-40B4-BE49-F238E27FC236}">
                <a16:creationId xmlns:a16="http://schemas.microsoft.com/office/drawing/2014/main" id="{5E83AC36-9273-7380-C63B-84088DFE925D}"/>
              </a:ext>
            </a:extLst>
          </p:cNvPr>
          <p:cNvSpPr txBox="1"/>
          <p:nvPr/>
        </p:nvSpPr>
        <p:spPr>
          <a:xfrm>
            <a:off x="563591" y="479091"/>
            <a:ext cx="10800273" cy="1200329"/>
          </a:xfrm>
          <a:prstGeom prst="rect">
            <a:avLst/>
          </a:prstGeom>
          <a:noFill/>
        </p:spPr>
        <p:txBody>
          <a:bodyPr wrap="square">
            <a:spAutoFit/>
          </a:bodyPr>
          <a:lstStyle/>
          <a:p>
            <a:r>
              <a:rPr lang="zh-CN" altLang="en-US" b="1"/>
              <a:t>思路：</a:t>
            </a:r>
            <a:endParaRPr lang="en-US" altLang="zh-CN" b="1"/>
          </a:p>
          <a:p>
            <a:r>
              <a:rPr lang="en-US" altLang="zh-CN"/>
              <a:t>1. </a:t>
            </a:r>
            <a:r>
              <a:rPr lang="zh-CN" altLang="en-US"/>
              <a:t>根据业务筛选条件</a:t>
            </a:r>
            <a:r>
              <a:rPr lang="en-US" altLang="zh-CN"/>
              <a:t>(</a:t>
            </a:r>
            <a:r>
              <a:rPr lang="zh-CN" altLang="en-US"/>
              <a:t>科目</a:t>
            </a:r>
            <a:r>
              <a:rPr lang="en-US" altLang="zh-CN"/>
              <a:t>/</a:t>
            </a:r>
            <a:r>
              <a:rPr lang="zh-CN" altLang="en-US"/>
              <a:t>标识</a:t>
            </a:r>
            <a:r>
              <a:rPr lang="en-US" altLang="zh-CN"/>
              <a:t>)</a:t>
            </a:r>
            <a:r>
              <a:rPr lang="zh-CN" altLang="en-US"/>
              <a:t>取凭证</a:t>
            </a:r>
            <a:r>
              <a:rPr lang="en-US" altLang="zh-CN"/>
              <a:t>item</a:t>
            </a:r>
            <a:r>
              <a:rPr lang="zh-CN" altLang="en-US"/>
              <a:t>，根据凭证</a:t>
            </a:r>
            <a:r>
              <a:rPr lang="en-US" altLang="zh-CN"/>
              <a:t>item</a:t>
            </a:r>
            <a:r>
              <a:rPr lang="zh-CN" altLang="en-US"/>
              <a:t>取</a:t>
            </a:r>
            <a:r>
              <a:rPr lang="en-US" altLang="zh-CN"/>
              <a:t>invoice item</a:t>
            </a:r>
            <a:r>
              <a:rPr lang="zh-CN" altLang="en-US"/>
              <a:t>，根据</a:t>
            </a:r>
            <a:r>
              <a:rPr lang="en-US" altLang="zh-CN"/>
              <a:t>invoice item</a:t>
            </a:r>
            <a:r>
              <a:rPr lang="zh-CN" altLang="en-US"/>
              <a:t>取</a:t>
            </a:r>
            <a:r>
              <a:rPr lang="en-US" altLang="zh-CN"/>
              <a:t>OPP ID</a:t>
            </a:r>
          </a:p>
          <a:p>
            <a:r>
              <a:rPr lang="en-US" altLang="zh-CN"/>
              <a:t>2. </a:t>
            </a:r>
            <a:r>
              <a:rPr lang="zh-CN" altLang="en-US">
                <a:solidFill>
                  <a:srgbClr val="C00000"/>
                </a:solidFill>
              </a:rPr>
              <a:t>通过</a:t>
            </a:r>
            <a:r>
              <a:rPr lang="en-US" altLang="zh-CN">
                <a:solidFill>
                  <a:srgbClr val="C00000"/>
                </a:solidFill>
              </a:rPr>
              <a:t>billing </a:t>
            </a:r>
            <a:r>
              <a:rPr lang="zh-CN" altLang="en-US">
                <a:solidFill>
                  <a:srgbClr val="C00000"/>
                </a:solidFill>
              </a:rPr>
              <a:t>找账，通过</a:t>
            </a:r>
            <a:r>
              <a:rPr lang="en-US" altLang="zh-CN">
                <a:solidFill>
                  <a:srgbClr val="C00000"/>
                </a:solidFill>
              </a:rPr>
              <a:t>billing type</a:t>
            </a:r>
            <a:r>
              <a:rPr lang="zh-CN" altLang="en-US">
                <a:solidFill>
                  <a:srgbClr val="C00000"/>
                </a:solidFill>
              </a:rPr>
              <a:t>筛选</a:t>
            </a:r>
            <a:r>
              <a:rPr lang="en-US" altLang="zh-CN">
                <a:solidFill>
                  <a:srgbClr val="C00000"/>
                </a:solidFill>
              </a:rPr>
              <a:t>IAAS</a:t>
            </a:r>
            <a:r>
              <a:rPr lang="zh-CN" altLang="en-US">
                <a:solidFill>
                  <a:srgbClr val="C00000"/>
                </a:solidFill>
              </a:rPr>
              <a:t>业务</a:t>
            </a:r>
            <a:endParaRPr lang="en-US" altLang="zh-CN">
              <a:solidFill>
                <a:srgbClr val="C00000"/>
              </a:solidFill>
            </a:endParaRPr>
          </a:p>
          <a:p>
            <a:endParaRPr lang="en-US" altLang="zh-CN"/>
          </a:p>
        </p:txBody>
      </p:sp>
    </p:spTree>
    <p:extLst>
      <p:ext uri="{BB962C8B-B14F-4D97-AF65-F5344CB8AC3E}">
        <p14:creationId xmlns:p14="http://schemas.microsoft.com/office/powerpoint/2010/main" val="3121830258"/>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53BA91-8DF6-5578-0373-BD3B888F07F3}"/>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0F8E7F80-6182-E8D4-1BB6-CDB9CC931A5B}"/>
              </a:ext>
            </a:extLst>
          </p:cNvPr>
          <p:cNvSpPr>
            <a:spLocks noGrp="1"/>
          </p:cNvSpPr>
          <p:nvPr>
            <p:ph type="title"/>
          </p:nvPr>
        </p:nvSpPr>
        <p:spPr/>
        <p:txBody>
          <a:bodyPr/>
          <a:lstStyle/>
          <a:p>
            <a:r>
              <a:rPr lang="en-US" sz="5800">
                <a:solidFill>
                  <a:prstClr val="white"/>
                </a:solidFill>
              </a:rPr>
              <a:t>Measurement Reporting</a:t>
            </a:r>
            <a:endParaRPr lang="en-US"/>
          </a:p>
        </p:txBody>
      </p:sp>
      <p:pic>
        <p:nvPicPr>
          <p:cNvPr id="4" name="Graphic 3" descr="Airplane with solid fill">
            <a:hlinkClick r:id="rId3" action="ppaction://hlinksldjump"/>
            <a:extLst>
              <a:ext uri="{FF2B5EF4-FFF2-40B4-BE49-F238E27FC236}">
                <a16:creationId xmlns:a16="http://schemas.microsoft.com/office/drawing/2014/main" id="{7C11D501-D774-AEB9-C37F-484C3BB1E86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1792035" y="-9529"/>
            <a:ext cx="457705" cy="457705"/>
          </a:xfrm>
          <a:prstGeom prst="rect">
            <a:avLst/>
          </a:prstGeom>
        </p:spPr>
      </p:pic>
    </p:spTree>
    <p:extLst>
      <p:ext uri="{BB962C8B-B14F-4D97-AF65-F5344CB8AC3E}">
        <p14:creationId xmlns:p14="http://schemas.microsoft.com/office/powerpoint/2010/main" val="793700865"/>
      </p:ext>
    </p:extLst>
  </p:cSld>
  <p:clrMapOvr>
    <a:masterClrMapping/>
  </p:clrMapOvr>
  <p:transition spd="med"/>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43828E-F1FD-0808-C252-72895CBB3D14}"/>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209B86A2-3734-272F-0966-50A17549B1A4}"/>
              </a:ext>
            </a:extLst>
          </p:cNvPr>
          <p:cNvGraphicFramePr>
            <a:graphicFrameLocks/>
          </p:cNvGraphicFramePr>
          <p:nvPr>
            <p:custDataLst>
              <p:tags r:id="rId1"/>
            </p:custDataLst>
          </p:nvPr>
        </p:nvGraphicFramePr>
        <p:xfrm>
          <a:off x="3176" y="1588"/>
          <a:ext cx="1588" cy="1588"/>
        </p:xfrm>
        <a:graphic>
          <a:graphicData uri="http://schemas.openxmlformats.org/presentationml/2006/ole">
            <mc:AlternateContent xmlns:mc="http://schemas.openxmlformats.org/markup-compatibility/2006">
              <mc:Choice xmlns:v="urn:schemas-microsoft-com:vml" Requires="v">
                <p:oleObj name="think-cell Slide" r:id="rId4" imgW="456" imgH="456" progId="TCLayout.ActiveDocument.1">
                  <p:embed/>
                </p:oleObj>
              </mc:Choice>
              <mc:Fallback>
                <p:oleObj name="think-cell Slide" r:id="rId4" imgW="456" imgH="456" progId="TCLayout.ActiveDocument.1">
                  <p:embed/>
                  <p:pic>
                    <p:nvPicPr>
                      <p:cNvPr id="7" name="think-cell data - do not delete" hidden="1">
                        <a:extLst>
                          <a:ext uri="{FF2B5EF4-FFF2-40B4-BE49-F238E27FC236}">
                            <a16:creationId xmlns:a16="http://schemas.microsoft.com/office/drawing/2014/main" id="{209B86A2-3734-272F-0966-50A17549B1A4}"/>
                          </a:ext>
                        </a:extLst>
                      </p:cNvPr>
                      <p:cNvPicPr/>
                      <p:nvPr/>
                    </p:nvPicPr>
                    <p:blipFill>
                      <a:blip r:embed="rId5"/>
                      <a:stretch>
                        <a:fillRect/>
                      </a:stretch>
                    </p:blipFill>
                    <p:spPr>
                      <a:xfrm>
                        <a:off x="3176" y="1588"/>
                        <a:ext cx="1588" cy="1588"/>
                      </a:xfrm>
                      <a:prstGeom prst="rect">
                        <a:avLst/>
                      </a:prstGeom>
                    </p:spPr>
                  </p:pic>
                </p:oleObj>
              </mc:Fallback>
            </mc:AlternateContent>
          </a:graphicData>
        </a:graphic>
      </p:graphicFrame>
      <p:sp>
        <p:nvSpPr>
          <p:cNvPr id="4" name="灯片编号占位符 3">
            <a:extLst>
              <a:ext uri="{FF2B5EF4-FFF2-40B4-BE49-F238E27FC236}">
                <a16:creationId xmlns:a16="http://schemas.microsoft.com/office/drawing/2014/main" id="{BFCCF919-9958-45BB-CB18-28E734D3989F}"/>
              </a:ext>
            </a:extLst>
          </p:cNvPr>
          <p:cNvSpPr>
            <a:spLocks noGrp="1"/>
          </p:cNvSpPr>
          <p:nvPr>
            <p:ph type="sldNum" sz="quarter" idx="10"/>
          </p:nvPr>
        </p:nvSpPr>
        <p:spPr/>
        <p: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178</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2. Slide Title">
            <a:extLst>
              <a:ext uri="{FF2B5EF4-FFF2-40B4-BE49-F238E27FC236}">
                <a16:creationId xmlns:a16="http://schemas.microsoft.com/office/drawing/2014/main" id="{C6A7A50A-1E39-24DE-C200-999F384AC805}"/>
              </a:ext>
            </a:extLst>
          </p:cNvPr>
          <p:cNvSpPr>
            <a:spLocks noGrp="1"/>
          </p:cNvSpPr>
          <p:nvPr>
            <p:ph type="title"/>
            <p:custDataLst>
              <p:tags r:id="rId2"/>
            </p:custDataLst>
          </p:nvPr>
        </p:nvSpPr>
        <p:spPr>
          <a:xfrm>
            <a:off x="450920" y="209627"/>
            <a:ext cx="6258070" cy="450933"/>
          </a:xfrm>
        </p:spPr>
        <p:txBody>
          <a:bodyPr vert="horz" wrap="square" lIns="0" tIns="0" rIns="0" bIns="0" rtlCol="0" anchor="t" anchorCtr="0">
            <a:noAutofit/>
          </a:bodyPr>
          <a:lstStyle/>
          <a:p>
            <a:pPr algn="l">
              <a:lnSpc>
                <a:spcPct val="85000"/>
              </a:lnSpc>
              <a:tabLst>
                <a:tab pos="1218255" algn="l"/>
              </a:tabLst>
            </a:pPr>
            <a:r>
              <a:rPr lang="en-US" altLang="zh-CN" sz="2750" b="1" cap="none" spc="-150">
                <a:solidFill>
                  <a:srgbClr val="000000"/>
                </a:solidFill>
                <a:latin typeface="Arial"/>
                <a:ea typeface="Microsoft YaHei"/>
                <a:cs typeface="Arial"/>
              </a:rPr>
              <a:t> </a:t>
            </a:r>
            <a:r>
              <a:rPr lang="en-US" sz="2800" b="1" cap="none" spc="-150">
                <a:solidFill>
                  <a:srgbClr val="000000"/>
                </a:solidFill>
                <a:latin typeface="Arial"/>
                <a:ea typeface="Microsoft YaHei"/>
                <a:cs typeface="Arial"/>
              </a:rPr>
              <a:t>Key Assumptions</a:t>
            </a:r>
            <a:endParaRPr lang="en-US" sz="2750" b="1" cap="none" spc="-150">
              <a:solidFill>
                <a:srgbClr val="000000"/>
              </a:solidFill>
              <a:latin typeface="Arial"/>
              <a:ea typeface="Microsoft YaHei"/>
              <a:cs typeface="Arial"/>
            </a:endParaRPr>
          </a:p>
        </p:txBody>
      </p:sp>
      <p:sp>
        <p:nvSpPr>
          <p:cNvPr id="3" name="TextBox 2">
            <a:extLst>
              <a:ext uri="{FF2B5EF4-FFF2-40B4-BE49-F238E27FC236}">
                <a16:creationId xmlns:a16="http://schemas.microsoft.com/office/drawing/2014/main" id="{3F5AE60E-D05A-23B8-23FF-F57125743D4D}"/>
              </a:ext>
            </a:extLst>
          </p:cNvPr>
          <p:cNvSpPr txBox="1"/>
          <p:nvPr/>
        </p:nvSpPr>
        <p:spPr>
          <a:xfrm>
            <a:off x="450920" y="780696"/>
            <a:ext cx="9894199" cy="3370666"/>
          </a:xfrm>
          <a:prstGeom prst="rect">
            <a:avLst/>
          </a:prstGeom>
          <a:noFill/>
        </p:spPr>
        <p:txBody>
          <a:bodyPr wrap="square" rtlCol="0">
            <a:spAutoFit/>
          </a:bodyPr>
          <a:lstStyle/>
          <a:p>
            <a:pPr marL="171450" marR="0" lvl="0" indent="-171450" algn="l" defTabSz="1218987"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Scope: PCSD/ISG HW and PCSD/ISG Service</a:t>
            </a:r>
          </a:p>
          <a:p>
            <a:pPr marL="171450" marR="0" lvl="0" indent="-171450" algn="l" defTabSz="1218987"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The information in the ledger generated by </a:t>
            </a:r>
            <a:r>
              <a:rPr kumimoji="0" lang="en-US" altLang="zh-CN" sz="1600" b="0" i="0"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is consistent with that of BRIM and still use the invoice number like 96*.</a:t>
            </a:r>
          </a:p>
          <a:p>
            <a:pPr marL="171450" marR="0" lvl="0" indent="-171450" algn="l" defTabSz="1218987"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The mapping table sent by </a:t>
            </a:r>
            <a:r>
              <a:rPr kumimoji="0" lang="en-US" altLang="zh-CN" sz="1600" b="0" i="0"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to PAPM is consistent with BRIM.</a:t>
            </a:r>
          </a:p>
          <a:p>
            <a:pPr marL="171450" marR="0" lvl="0" indent="-171450" algn="l" defTabSz="1218987"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Odessa is not affected and remains the same as it is now.</a:t>
            </a:r>
          </a:p>
          <a:p>
            <a:pPr marL="171450" marR="0" lvl="0" indent="-171450" algn="l" defTabSz="1218987"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For NA sensitive information, </a:t>
            </a:r>
            <a:r>
              <a:rPr kumimoji="0" lang="en-US" altLang="zh-CN" sz="1600" b="0" i="0"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directly sends the alternative ID.</a:t>
            </a:r>
          </a:p>
          <a:p>
            <a:pPr marL="171450" marR="0" lvl="0" indent="-171450" algn="l" defTabSz="1218987"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zh-CN" sz="16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Document type will keep the existing EA/EL as mush as possible. If there is any change, MR will make corresponding logical modifications.</a:t>
            </a:r>
          </a:p>
          <a:p>
            <a:pPr marL="171450" marR="0" lvl="0" indent="-171450" algn="l" defTabSz="1218987"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zh-CN" sz="16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The ledger </a:t>
            </a:r>
            <a:r>
              <a:rPr kumimoji="0" lang="en-US" altLang="zh-CN" sz="1600" b="1" i="0" u="none" strike="noStrike" kern="1200" cap="none" spc="0" normalizeH="0" baseline="0" noProof="0">
                <a:ln>
                  <a:noFill/>
                </a:ln>
                <a:solidFill>
                  <a:srgbClr val="000000"/>
                </a:solidFill>
                <a:effectLst/>
                <a:uLnTx/>
                <a:uFillTx/>
                <a:latin typeface="Arial"/>
                <a:ea typeface="黑体" panose="02010609060101010101" pitchFamily="49" charset="-122"/>
                <a:cs typeface="+mn-cs"/>
              </a:rPr>
              <a:t>User ID</a:t>
            </a:r>
            <a:r>
              <a:rPr kumimoji="0" lang="en-US" altLang="zh-CN" sz="16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 generated by </a:t>
            </a:r>
            <a:r>
              <a:rPr kumimoji="0" lang="en-US" altLang="zh-CN" sz="1600" b="0" i="0" u="none" strike="noStrike" kern="1200" cap="none" spc="0" normalizeH="0" baseline="0" noProof="0" err="1">
                <a:ln>
                  <a:noFill/>
                </a:ln>
                <a:solidFill>
                  <a:srgbClr val="000000"/>
                </a:solidFill>
                <a:effectLst/>
                <a:uLnTx/>
                <a:uFillTx/>
                <a:latin typeface="Arial"/>
                <a:ea typeface="黑体" panose="02010609060101010101" pitchFamily="49" charset="-122"/>
                <a:cs typeface="+mn-cs"/>
              </a:rPr>
              <a:t>Nextbill</a:t>
            </a:r>
            <a:r>
              <a:rPr kumimoji="0" lang="en-US" altLang="zh-CN" sz="1600" b="0" i="0" u="none" strike="noStrike" kern="1200" cap="none" spc="0" normalizeH="0" baseline="0" noProof="0">
                <a:ln>
                  <a:noFill/>
                </a:ln>
                <a:solidFill>
                  <a:srgbClr val="000000"/>
                </a:solidFill>
                <a:effectLst/>
                <a:uLnTx/>
                <a:uFillTx/>
                <a:latin typeface="Arial"/>
                <a:ea typeface="黑体" panose="02010609060101010101" pitchFamily="49" charset="-122"/>
                <a:cs typeface="+mn-cs"/>
              </a:rPr>
              <a:t> will change, and MR will make corresponding logical changes.</a:t>
            </a:r>
            <a:endPar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endParaRPr>
          </a:p>
        </p:txBody>
      </p:sp>
    </p:spTree>
    <p:extLst>
      <p:ext uri="{BB962C8B-B14F-4D97-AF65-F5344CB8AC3E}">
        <p14:creationId xmlns:p14="http://schemas.microsoft.com/office/powerpoint/2010/main" val="947562179"/>
      </p:ext>
    </p:extLst>
  </p:cSld>
  <p:clrMapOvr>
    <a:masterClrMapping/>
  </p:clrMapOvr>
  <p:transition spd="med"/>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0167BEF9-C984-47CA-AF37-C362358F3FE7}"/>
              </a:ext>
            </a:extLst>
          </p:cNvPr>
          <p:cNvSpPr>
            <a:spLocks noGrp="1"/>
          </p:cNvSpPr>
          <p:nvPr>
            <p:ph type="sldNum" sz="quarter" idx="10"/>
          </p:nvPr>
        </p:nvSpPr>
        <p:spPr>
          <a:xfrm>
            <a:off x="11639558" y="6473159"/>
            <a:ext cx="438912" cy="155408"/>
          </a:xfrm>
          <a:prstGeom prst="rect">
            <a:avLst/>
          </a:prstGeom>
        </p:spPr>
        <p:txBody>
          <a:bodyPr vert="horz" lIns="0" tIns="0" rIns="0" bIns="0" rtlCol="0" anchor="ctr"/>
          <a:lstStyle>
            <a:defPPr>
              <a:defRPr lang="en-US"/>
            </a:defPPr>
            <a:lvl1pPr marL="0" algn="ctr" defTabSz="914126" rtl="0" eaLnBrk="1" latinLnBrk="0" hangingPunct="1">
              <a:defRPr sz="1100" kern="1200">
                <a:solidFill>
                  <a:schemeClr val="tx1"/>
                </a:solidFill>
                <a:latin typeface="Arial" panose="020B0604020202020204" pitchFamily="34" charset="0"/>
                <a:ea typeface="+mn-ea"/>
                <a:cs typeface="Arial" panose="020B0604020202020204" pitchFamily="34" charset="0"/>
              </a:defRPr>
            </a:lvl1pPr>
            <a:lvl2pPr marL="457063" algn="l" defTabSz="914126" rtl="0" eaLnBrk="1" latinLnBrk="0" hangingPunct="1">
              <a:defRPr sz="1799" kern="1200">
                <a:solidFill>
                  <a:schemeClr val="tx1"/>
                </a:solidFill>
                <a:latin typeface="+mn-lt"/>
                <a:ea typeface="+mn-ea"/>
                <a:cs typeface="+mn-cs"/>
              </a:defRPr>
            </a:lvl2pPr>
            <a:lvl3pPr marL="914126" algn="l" defTabSz="914126" rtl="0" eaLnBrk="1" latinLnBrk="0" hangingPunct="1">
              <a:defRPr sz="1799" kern="1200">
                <a:solidFill>
                  <a:schemeClr val="tx1"/>
                </a:solidFill>
                <a:latin typeface="+mn-lt"/>
                <a:ea typeface="+mn-ea"/>
                <a:cs typeface="+mn-cs"/>
              </a:defRPr>
            </a:lvl3pPr>
            <a:lvl4pPr marL="1371189" algn="l" defTabSz="914126" rtl="0" eaLnBrk="1" latinLnBrk="0" hangingPunct="1">
              <a:defRPr sz="1799" kern="1200">
                <a:solidFill>
                  <a:schemeClr val="tx1"/>
                </a:solidFill>
                <a:latin typeface="+mn-lt"/>
                <a:ea typeface="+mn-ea"/>
                <a:cs typeface="+mn-cs"/>
              </a:defRPr>
            </a:lvl4pPr>
            <a:lvl5pPr marL="1828251" algn="l" defTabSz="914126" rtl="0" eaLnBrk="1" latinLnBrk="0" hangingPunct="1">
              <a:defRPr sz="1799" kern="1200">
                <a:solidFill>
                  <a:schemeClr val="tx1"/>
                </a:solidFill>
                <a:latin typeface="+mn-lt"/>
                <a:ea typeface="+mn-ea"/>
                <a:cs typeface="+mn-cs"/>
              </a:defRPr>
            </a:lvl5pPr>
            <a:lvl6pPr marL="2285314" algn="l" defTabSz="914126" rtl="0" eaLnBrk="1" latinLnBrk="0" hangingPunct="1">
              <a:defRPr sz="1799" kern="1200">
                <a:solidFill>
                  <a:schemeClr val="tx1"/>
                </a:solidFill>
                <a:latin typeface="+mn-lt"/>
                <a:ea typeface="+mn-ea"/>
                <a:cs typeface="+mn-cs"/>
              </a:defRPr>
            </a:lvl6pPr>
            <a:lvl7pPr marL="2742377" algn="l" defTabSz="914126" rtl="0" eaLnBrk="1" latinLnBrk="0" hangingPunct="1">
              <a:defRPr sz="1799" kern="1200">
                <a:solidFill>
                  <a:schemeClr val="tx1"/>
                </a:solidFill>
                <a:latin typeface="+mn-lt"/>
                <a:ea typeface="+mn-ea"/>
                <a:cs typeface="+mn-cs"/>
              </a:defRPr>
            </a:lvl7pPr>
            <a:lvl8pPr marL="3199440" algn="l" defTabSz="914126" rtl="0" eaLnBrk="1" latinLnBrk="0" hangingPunct="1">
              <a:defRPr sz="1799" kern="1200">
                <a:solidFill>
                  <a:schemeClr val="tx1"/>
                </a:solidFill>
                <a:latin typeface="+mn-lt"/>
                <a:ea typeface="+mn-ea"/>
                <a:cs typeface="+mn-cs"/>
              </a:defRPr>
            </a:lvl8pPr>
            <a:lvl9pPr marL="3656503" algn="l" defTabSz="914126" rtl="0" eaLnBrk="1" latinLnBrk="0" hangingPunct="1">
              <a:defRPr sz="1799" kern="1200">
                <a:solidFill>
                  <a:schemeClr val="tx1"/>
                </a:solidFill>
                <a:latin typeface="+mn-lt"/>
                <a:ea typeface="+mn-ea"/>
                <a:cs typeface="+mn-cs"/>
              </a:defRPr>
            </a:lvl9pPr>
          </a:lstStyle>
          <a:p>
            <a:pPr marL="0" marR="0" lvl="0" indent="0" algn="ctr" defTabSz="914126"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ctr" defTabSz="914126" rtl="0" eaLnBrk="1" fontAlgn="auto" latinLnBrk="0" hangingPunct="1">
                <a:lnSpc>
                  <a:spcPct val="100000"/>
                </a:lnSpc>
                <a:spcBef>
                  <a:spcPts val="0"/>
                </a:spcBef>
                <a:spcAft>
                  <a:spcPts val="0"/>
                </a:spcAft>
                <a:buClrTx/>
                <a:buSzTx/>
                <a:buFontTx/>
                <a:buNone/>
                <a:tabLst/>
                <a:defRPr/>
              </a:pPr>
              <a:t>179</a:t>
            </a:fld>
            <a:endPar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0CAC5D0F-1D66-D8CA-9175-69890571375E}"/>
              </a:ext>
            </a:extLst>
          </p:cNvPr>
          <p:cNvSpPr/>
          <p:nvPr/>
        </p:nvSpPr>
        <p:spPr>
          <a:xfrm>
            <a:off x="763267" y="3667092"/>
            <a:ext cx="8005248" cy="1710226"/>
          </a:xfrm>
          <a:prstGeom prst="rect">
            <a:avLst/>
          </a:prstGeom>
          <a:solidFill>
            <a:schemeClr val="accent4">
              <a:lumMod val="75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grpSp>
        <p:nvGrpSpPr>
          <p:cNvPr id="4" name="Group 3">
            <a:extLst>
              <a:ext uri="{FF2B5EF4-FFF2-40B4-BE49-F238E27FC236}">
                <a16:creationId xmlns:a16="http://schemas.microsoft.com/office/drawing/2014/main" id="{265CE421-8635-EEB4-B8AF-6D83F4CD510D}"/>
              </a:ext>
            </a:extLst>
          </p:cNvPr>
          <p:cNvGrpSpPr/>
          <p:nvPr/>
        </p:nvGrpSpPr>
        <p:grpSpPr>
          <a:xfrm>
            <a:off x="3335721" y="5643141"/>
            <a:ext cx="1433594" cy="493039"/>
            <a:chOff x="4546667" y="5687917"/>
            <a:chExt cx="2367869" cy="493167"/>
          </a:xfrm>
        </p:grpSpPr>
        <p:sp>
          <p:nvSpPr>
            <p:cNvPr id="5" name="Flowchart: Magnetic Disk 4">
              <a:extLst>
                <a:ext uri="{FF2B5EF4-FFF2-40B4-BE49-F238E27FC236}">
                  <a16:creationId xmlns:a16="http://schemas.microsoft.com/office/drawing/2014/main" id="{D697D1A2-1ED4-3F20-743F-83E66A9B9CF0}"/>
                </a:ext>
              </a:extLst>
            </p:cNvPr>
            <p:cNvSpPr/>
            <p:nvPr/>
          </p:nvSpPr>
          <p:spPr>
            <a:xfrm>
              <a:off x="4546667" y="5687917"/>
              <a:ext cx="2367869" cy="493167"/>
            </a:xfrm>
            <a:prstGeom prst="flowChartMagneticDisk">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srgbClr val="333F48">
                    <a:lumMod val="50000"/>
                  </a:srgbClr>
                </a:solidFill>
                <a:effectLst/>
                <a:uLnTx/>
                <a:uFillTx/>
                <a:latin typeface="Arial"/>
                <a:ea typeface="+mn-ea"/>
                <a:cs typeface="+mn-cs"/>
              </a:endParaRPr>
            </a:p>
          </p:txBody>
        </p:sp>
        <p:sp>
          <p:nvSpPr>
            <p:cNvPr id="6" name="TextBox 5">
              <a:extLst>
                <a:ext uri="{FF2B5EF4-FFF2-40B4-BE49-F238E27FC236}">
                  <a16:creationId xmlns:a16="http://schemas.microsoft.com/office/drawing/2014/main" id="{49991F7F-F43B-4B50-B26A-055E94E99A7F}"/>
                </a:ext>
              </a:extLst>
            </p:cNvPr>
            <p:cNvSpPr txBox="1"/>
            <p:nvPr/>
          </p:nvSpPr>
          <p:spPr>
            <a:xfrm>
              <a:off x="5391484" y="5873307"/>
              <a:ext cx="667573" cy="307777"/>
            </a:xfrm>
            <a:prstGeom prst="rect">
              <a:avLst/>
            </a:prstGeom>
            <a:noFill/>
            <a:ln>
              <a:noFill/>
            </a:ln>
          </p:spPr>
          <p:txBody>
            <a:bodyPr wrap="non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33F48">
                      <a:lumMod val="50000"/>
                    </a:srgbClr>
                  </a:solidFill>
                  <a:effectLst/>
                  <a:uLnTx/>
                  <a:uFillTx/>
                  <a:latin typeface="Arial" pitchFamily="34" charset="0"/>
                  <a:ea typeface="+mn-ea"/>
                  <a:cs typeface="Arial" pitchFamily="34" charset="0"/>
                </a:rPr>
                <a:t>S4</a:t>
              </a:r>
            </a:p>
          </p:txBody>
        </p:sp>
      </p:grpSp>
      <p:cxnSp>
        <p:nvCxnSpPr>
          <p:cNvPr id="8" name="Straight Arrow Connector 7">
            <a:extLst>
              <a:ext uri="{FF2B5EF4-FFF2-40B4-BE49-F238E27FC236}">
                <a16:creationId xmlns:a16="http://schemas.microsoft.com/office/drawing/2014/main" id="{6EDE070B-412F-20E8-DA45-35987CD7ABD0}"/>
              </a:ext>
            </a:extLst>
          </p:cNvPr>
          <p:cNvCxnSpPr>
            <a:cxnSpLocks/>
            <a:stCxn id="5" idx="1"/>
          </p:cNvCxnSpPr>
          <p:nvPr/>
        </p:nvCxnSpPr>
        <p:spPr>
          <a:xfrm flipH="1" flipV="1">
            <a:off x="4048380" y="5361658"/>
            <a:ext cx="4139" cy="281483"/>
          </a:xfrm>
          <a:prstGeom prst="straightConnector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C8BA0F44-6B43-709D-3341-B694E3C744D5}"/>
              </a:ext>
            </a:extLst>
          </p:cNvPr>
          <p:cNvSpPr/>
          <p:nvPr/>
        </p:nvSpPr>
        <p:spPr>
          <a:xfrm>
            <a:off x="1266308" y="4314930"/>
            <a:ext cx="1363893" cy="528004"/>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srgbClr val="3E8DDD">
                  <a:lumMod val="50000"/>
                </a:srgbClr>
              </a:solidFill>
              <a:effectLst/>
              <a:uLnTx/>
              <a:uFillTx/>
              <a:latin typeface="Arial"/>
              <a:ea typeface="+mn-ea"/>
              <a:cs typeface="+mn-cs"/>
            </a:endParaRPr>
          </a:p>
        </p:txBody>
      </p:sp>
      <p:sp>
        <p:nvSpPr>
          <p:cNvPr id="11" name="TextBox 10">
            <a:extLst>
              <a:ext uri="{FF2B5EF4-FFF2-40B4-BE49-F238E27FC236}">
                <a16:creationId xmlns:a16="http://schemas.microsoft.com/office/drawing/2014/main" id="{A48C6B5C-54B4-CD7B-0936-5EBAC6B3A848}"/>
              </a:ext>
            </a:extLst>
          </p:cNvPr>
          <p:cNvSpPr txBox="1"/>
          <p:nvPr/>
        </p:nvSpPr>
        <p:spPr>
          <a:xfrm>
            <a:off x="1229882" y="4387544"/>
            <a:ext cx="1360903" cy="400110"/>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ISG S</a:t>
            </a:r>
            <a:r>
              <a:rPr kumimoji="0" lang="en-US" altLang="zh-CN"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ervice </a:t>
            </a: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Booking and GAAP Report</a:t>
            </a:r>
          </a:p>
        </p:txBody>
      </p:sp>
      <p:grpSp>
        <p:nvGrpSpPr>
          <p:cNvPr id="12" name="Group 11">
            <a:extLst>
              <a:ext uri="{FF2B5EF4-FFF2-40B4-BE49-F238E27FC236}">
                <a16:creationId xmlns:a16="http://schemas.microsoft.com/office/drawing/2014/main" id="{9585C107-ACA5-A5B0-800D-5BC038DF7804}"/>
              </a:ext>
            </a:extLst>
          </p:cNvPr>
          <p:cNvGrpSpPr/>
          <p:nvPr/>
        </p:nvGrpSpPr>
        <p:grpSpPr>
          <a:xfrm>
            <a:off x="2784440" y="4296540"/>
            <a:ext cx="1769882" cy="528004"/>
            <a:chOff x="821610" y="5682485"/>
            <a:chExt cx="1191229" cy="354563"/>
          </a:xfrm>
        </p:grpSpPr>
        <p:sp>
          <p:nvSpPr>
            <p:cNvPr id="13" name="Rectangle 12">
              <a:extLst>
                <a:ext uri="{FF2B5EF4-FFF2-40B4-BE49-F238E27FC236}">
                  <a16:creationId xmlns:a16="http://schemas.microsoft.com/office/drawing/2014/main" id="{86D91669-78BC-27F6-73B5-5029D1BC3B65}"/>
                </a:ext>
              </a:extLst>
            </p:cNvPr>
            <p:cNvSpPr/>
            <p:nvPr/>
          </p:nvSpPr>
          <p:spPr>
            <a:xfrm>
              <a:off x="870092" y="5682485"/>
              <a:ext cx="1107233" cy="35456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14" name="TextBox 13">
              <a:extLst>
                <a:ext uri="{FF2B5EF4-FFF2-40B4-BE49-F238E27FC236}">
                  <a16:creationId xmlns:a16="http://schemas.microsoft.com/office/drawing/2014/main" id="{614D7B9E-AB50-3E86-CBC1-CA340D83A1FF}"/>
                </a:ext>
              </a:extLst>
            </p:cNvPr>
            <p:cNvSpPr txBox="1"/>
            <p:nvPr/>
          </p:nvSpPr>
          <p:spPr>
            <a:xfrm>
              <a:off x="821610" y="5722185"/>
              <a:ext cx="1191229" cy="268610"/>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PCSD S</a:t>
              </a:r>
              <a:r>
                <a:rPr kumimoji="0" lang="en-US" altLang="zh-CN"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ervice </a:t>
              </a: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Revenue and Cost Report</a:t>
              </a:r>
            </a:p>
          </p:txBody>
        </p:sp>
      </p:grpSp>
      <p:sp>
        <p:nvSpPr>
          <p:cNvPr id="15" name="TextBox 14">
            <a:extLst>
              <a:ext uri="{FF2B5EF4-FFF2-40B4-BE49-F238E27FC236}">
                <a16:creationId xmlns:a16="http://schemas.microsoft.com/office/drawing/2014/main" id="{BD251B49-AD9D-FB46-507F-2916566EFF06}"/>
              </a:ext>
            </a:extLst>
          </p:cNvPr>
          <p:cNvSpPr txBox="1"/>
          <p:nvPr/>
        </p:nvSpPr>
        <p:spPr>
          <a:xfrm>
            <a:off x="885120" y="3745582"/>
            <a:ext cx="916807" cy="276927"/>
          </a:xfrm>
          <a:prstGeom prst="rect">
            <a:avLst/>
          </a:prstGeom>
          <a:noFill/>
        </p:spPr>
        <p:txBody>
          <a:bodyPr wrap="non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rial" pitchFamily="34" charset="0"/>
                <a:ea typeface="+mn-ea"/>
                <a:cs typeface="Arial" pitchFamily="34" charset="0"/>
              </a:rPr>
              <a:t>BW/PAPM</a:t>
            </a:r>
          </a:p>
        </p:txBody>
      </p:sp>
      <p:sp>
        <p:nvSpPr>
          <p:cNvPr id="17" name="TextBox 16">
            <a:extLst>
              <a:ext uri="{FF2B5EF4-FFF2-40B4-BE49-F238E27FC236}">
                <a16:creationId xmlns:a16="http://schemas.microsoft.com/office/drawing/2014/main" id="{5DE7D89E-C25B-438C-97D0-D1D88BE47F29}"/>
              </a:ext>
            </a:extLst>
          </p:cNvPr>
          <p:cNvSpPr txBox="1"/>
          <p:nvPr/>
        </p:nvSpPr>
        <p:spPr>
          <a:xfrm rot="19672144">
            <a:off x="2746752" y="4191286"/>
            <a:ext cx="327334" cy="215444"/>
          </a:xfrm>
          <a:prstGeom prst="rect">
            <a:avLst/>
          </a:prstGeom>
          <a:noFill/>
        </p:spPr>
        <p:txBody>
          <a:bodyPr wrap="non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white"/>
                </a:solidFill>
                <a:effectLst/>
                <a:uLnTx/>
                <a:uFillTx/>
                <a:latin typeface="Arial" pitchFamily="34" charset="0"/>
                <a:ea typeface="+mn-ea"/>
                <a:cs typeface="Arial" pitchFamily="34" charset="0"/>
              </a:rPr>
              <a:t>AP</a:t>
            </a:r>
          </a:p>
        </p:txBody>
      </p:sp>
      <p:sp>
        <p:nvSpPr>
          <p:cNvPr id="21" name="Rectangle 20">
            <a:extLst>
              <a:ext uri="{FF2B5EF4-FFF2-40B4-BE49-F238E27FC236}">
                <a16:creationId xmlns:a16="http://schemas.microsoft.com/office/drawing/2014/main" id="{FE654E0D-2B48-0ABA-B425-90C1B3770BC0}"/>
              </a:ext>
            </a:extLst>
          </p:cNvPr>
          <p:cNvSpPr/>
          <p:nvPr/>
        </p:nvSpPr>
        <p:spPr>
          <a:xfrm>
            <a:off x="4890577" y="4013716"/>
            <a:ext cx="3809704" cy="913884"/>
          </a:xfrm>
          <a:prstGeom prst="rect">
            <a:avLst/>
          </a:prstGeom>
          <a:noFill/>
          <a:ln>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grpSp>
        <p:nvGrpSpPr>
          <p:cNvPr id="22" name="Group 21">
            <a:extLst>
              <a:ext uri="{FF2B5EF4-FFF2-40B4-BE49-F238E27FC236}">
                <a16:creationId xmlns:a16="http://schemas.microsoft.com/office/drawing/2014/main" id="{FB23D616-037B-3849-CCCA-C35582B20D27}"/>
              </a:ext>
            </a:extLst>
          </p:cNvPr>
          <p:cNvGrpSpPr/>
          <p:nvPr/>
        </p:nvGrpSpPr>
        <p:grpSpPr>
          <a:xfrm>
            <a:off x="4890577" y="4288898"/>
            <a:ext cx="2030272" cy="482136"/>
            <a:chOff x="751411" y="5682485"/>
            <a:chExt cx="1340379" cy="354563"/>
          </a:xfrm>
        </p:grpSpPr>
        <p:sp>
          <p:nvSpPr>
            <p:cNvPr id="23" name="Rectangle 22">
              <a:extLst>
                <a:ext uri="{FF2B5EF4-FFF2-40B4-BE49-F238E27FC236}">
                  <a16:creationId xmlns:a16="http://schemas.microsoft.com/office/drawing/2014/main" id="{8D93A528-BD49-F8E7-6F68-B8426F3D8114}"/>
                </a:ext>
              </a:extLst>
            </p:cNvPr>
            <p:cNvSpPr/>
            <p:nvPr/>
          </p:nvSpPr>
          <p:spPr>
            <a:xfrm>
              <a:off x="870092" y="5682485"/>
              <a:ext cx="1107233" cy="35456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srgbClr val="3E8DDD">
                    <a:lumMod val="50000"/>
                  </a:srgbClr>
                </a:solidFill>
                <a:effectLst/>
                <a:uLnTx/>
                <a:uFillTx/>
                <a:latin typeface="Arial"/>
                <a:ea typeface="+mn-ea"/>
                <a:cs typeface="+mn-cs"/>
              </a:endParaRPr>
            </a:p>
          </p:txBody>
        </p:sp>
        <p:sp>
          <p:nvSpPr>
            <p:cNvPr id="24" name="TextBox 23">
              <a:extLst>
                <a:ext uri="{FF2B5EF4-FFF2-40B4-BE49-F238E27FC236}">
                  <a16:creationId xmlns:a16="http://schemas.microsoft.com/office/drawing/2014/main" id="{46435DFA-36CF-9C0A-CBFE-233C038180D9}"/>
                </a:ext>
              </a:extLst>
            </p:cNvPr>
            <p:cNvSpPr txBox="1"/>
            <p:nvPr/>
          </p:nvSpPr>
          <p:spPr>
            <a:xfrm>
              <a:off x="751411" y="5719586"/>
              <a:ext cx="1340379" cy="294241"/>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ISG Revenue &amp; Cost Report</a:t>
              </a:r>
              <a:r>
                <a:rPr kumimoji="0" lang="zh-CN" altLang="en-US"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a:t>
              </a:r>
              <a:r>
                <a:rPr kumimoji="0" lang="en-US" altLang="zh-CN"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combined HW and service</a:t>
              </a:r>
              <a:r>
                <a:rPr kumimoji="0" lang="zh-CN" altLang="en-US"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a:t>
              </a:r>
              <a:endPar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endParaRPr>
            </a:p>
          </p:txBody>
        </p:sp>
      </p:grpSp>
      <p:grpSp>
        <p:nvGrpSpPr>
          <p:cNvPr id="25" name="Group 24">
            <a:extLst>
              <a:ext uri="{FF2B5EF4-FFF2-40B4-BE49-F238E27FC236}">
                <a16:creationId xmlns:a16="http://schemas.microsoft.com/office/drawing/2014/main" id="{202385A3-8C38-8B72-7F9B-7D9C6BD13CE7}"/>
              </a:ext>
            </a:extLst>
          </p:cNvPr>
          <p:cNvGrpSpPr/>
          <p:nvPr/>
        </p:nvGrpSpPr>
        <p:grpSpPr>
          <a:xfrm>
            <a:off x="6828924" y="4288892"/>
            <a:ext cx="1922506" cy="491661"/>
            <a:chOff x="817420" y="5682485"/>
            <a:chExt cx="1226811" cy="361568"/>
          </a:xfrm>
        </p:grpSpPr>
        <p:sp>
          <p:nvSpPr>
            <p:cNvPr id="26" name="Rectangle 25">
              <a:extLst>
                <a:ext uri="{FF2B5EF4-FFF2-40B4-BE49-F238E27FC236}">
                  <a16:creationId xmlns:a16="http://schemas.microsoft.com/office/drawing/2014/main" id="{28F5A6AF-E289-CD94-50E8-91ACF6077A11}"/>
                </a:ext>
              </a:extLst>
            </p:cNvPr>
            <p:cNvSpPr/>
            <p:nvPr/>
          </p:nvSpPr>
          <p:spPr>
            <a:xfrm>
              <a:off x="870092" y="5682485"/>
              <a:ext cx="1107233" cy="35456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27" name="TextBox 26">
              <a:extLst>
                <a:ext uri="{FF2B5EF4-FFF2-40B4-BE49-F238E27FC236}">
                  <a16:creationId xmlns:a16="http://schemas.microsoft.com/office/drawing/2014/main" id="{25A1E96F-7827-704D-CD29-DD972B4557AF}"/>
                </a:ext>
              </a:extLst>
            </p:cNvPr>
            <p:cNvSpPr txBox="1"/>
            <p:nvPr/>
          </p:nvSpPr>
          <p:spPr>
            <a:xfrm>
              <a:off x="817420" y="5749812"/>
              <a:ext cx="1226811" cy="294241"/>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PCSD Revenue &amp; Cost Report</a:t>
              </a:r>
              <a:r>
                <a:rPr kumimoji="0" lang="zh-CN" altLang="en-US"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a:t>
              </a:r>
              <a:r>
                <a:rPr kumimoji="0" lang="en-US" altLang="zh-CN"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combined HW and service</a:t>
              </a:r>
              <a:r>
                <a:rPr kumimoji="0" lang="zh-CN" altLang="en-US"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a:t>
              </a:r>
              <a:endPar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endParaRPr>
            </a:p>
          </p:txBody>
        </p:sp>
      </p:grpSp>
      <p:cxnSp>
        <p:nvCxnSpPr>
          <p:cNvPr id="33" name="Connector: Elbow 32">
            <a:extLst>
              <a:ext uri="{FF2B5EF4-FFF2-40B4-BE49-F238E27FC236}">
                <a16:creationId xmlns:a16="http://schemas.microsoft.com/office/drawing/2014/main" id="{C3D117E5-AA68-47FC-3716-9C7B985C1D33}"/>
              </a:ext>
            </a:extLst>
          </p:cNvPr>
          <p:cNvCxnSpPr>
            <a:cxnSpLocks/>
            <a:stCxn id="9" idx="2"/>
            <a:endCxn id="21" idx="2"/>
          </p:cNvCxnSpPr>
          <p:nvPr/>
        </p:nvCxnSpPr>
        <p:spPr>
          <a:xfrm rot="16200000" flipH="1">
            <a:off x="4329508" y="2461680"/>
            <a:ext cx="84666" cy="4847175"/>
          </a:xfrm>
          <a:prstGeom prst="bentConnector3">
            <a:avLst>
              <a:gd name="adj1" fmla="val 370002"/>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or: Elbow 33">
            <a:extLst>
              <a:ext uri="{FF2B5EF4-FFF2-40B4-BE49-F238E27FC236}">
                <a16:creationId xmlns:a16="http://schemas.microsoft.com/office/drawing/2014/main" id="{89AAD29D-70FD-A6EC-A470-97F4573D68FB}"/>
              </a:ext>
            </a:extLst>
          </p:cNvPr>
          <p:cNvCxnSpPr>
            <a:cxnSpLocks/>
            <a:stCxn id="13" idx="2"/>
            <a:endCxn id="21" idx="2"/>
          </p:cNvCxnSpPr>
          <p:nvPr/>
        </p:nvCxnSpPr>
        <p:spPr>
          <a:xfrm rot="16200000" flipH="1">
            <a:off x="5185694" y="3317865"/>
            <a:ext cx="103056" cy="3116414"/>
          </a:xfrm>
          <a:prstGeom prst="bentConnector3">
            <a:avLst>
              <a:gd name="adj1" fmla="val 32182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35" name="Rectangle 34">
            <a:extLst>
              <a:ext uri="{FF2B5EF4-FFF2-40B4-BE49-F238E27FC236}">
                <a16:creationId xmlns:a16="http://schemas.microsoft.com/office/drawing/2014/main" id="{47FA0026-62F1-E9CD-8DE6-E2D9910C6F7A}"/>
              </a:ext>
            </a:extLst>
          </p:cNvPr>
          <p:cNvSpPr/>
          <p:nvPr/>
        </p:nvSpPr>
        <p:spPr>
          <a:xfrm>
            <a:off x="6850206" y="2647738"/>
            <a:ext cx="4358686" cy="822173"/>
          </a:xfrm>
          <a:prstGeom prst="rect">
            <a:avLst/>
          </a:prstGeom>
          <a:solidFill>
            <a:schemeClr val="accent4">
              <a:lumMod val="75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36" name="Rectangle 35">
            <a:extLst>
              <a:ext uri="{FF2B5EF4-FFF2-40B4-BE49-F238E27FC236}">
                <a16:creationId xmlns:a16="http://schemas.microsoft.com/office/drawing/2014/main" id="{1A2BC051-0C9D-9253-E140-0F915692F395}"/>
              </a:ext>
            </a:extLst>
          </p:cNvPr>
          <p:cNvSpPr/>
          <p:nvPr/>
        </p:nvSpPr>
        <p:spPr>
          <a:xfrm>
            <a:off x="766494" y="2641015"/>
            <a:ext cx="5989691" cy="822173"/>
          </a:xfrm>
          <a:prstGeom prst="rect">
            <a:avLst/>
          </a:prstGeom>
          <a:solidFill>
            <a:schemeClr val="accent4">
              <a:lumMod val="75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grpSp>
        <p:nvGrpSpPr>
          <p:cNvPr id="37" name="Group 36">
            <a:extLst>
              <a:ext uri="{FF2B5EF4-FFF2-40B4-BE49-F238E27FC236}">
                <a16:creationId xmlns:a16="http://schemas.microsoft.com/office/drawing/2014/main" id="{FFBFE0E6-0B70-020D-C51A-597E77F846E3}"/>
              </a:ext>
            </a:extLst>
          </p:cNvPr>
          <p:cNvGrpSpPr/>
          <p:nvPr/>
        </p:nvGrpSpPr>
        <p:grpSpPr>
          <a:xfrm>
            <a:off x="9611663" y="2903133"/>
            <a:ext cx="1504012" cy="400110"/>
            <a:chOff x="823043" y="5663186"/>
            <a:chExt cx="1504404" cy="400215"/>
          </a:xfrm>
        </p:grpSpPr>
        <p:sp>
          <p:nvSpPr>
            <p:cNvPr id="38" name="Rectangle 37">
              <a:extLst>
                <a:ext uri="{FF2B5EF4-FFF2-40B4-BE49-F238E27FC236}">
                  <a16:creationId xmlns:a16="http://schemas.microsoft.com/office/drawing/2014/main" id="{D2729EA7-58DD-851A-A5B7-C9F8212EEBA3}"/>
                </a:ext>
              </a:extLst>
            </p:cNvPr>
            <p:cNvSpPr/>
            <p:nvPr/>
          </p:nvSpPr>
          <p:spPr>
            <a:xfrm>
              <a:off x="870092" y="5682485"/>
              <a:ext cx="1375646" cy="35456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srgbClr val="3E8DDD">
                    <a:lumMod val="50000"/>
                  </a:srgbClr>
                </a:solidFill>
                <a:effectLst/>
                <a:uLnTx/>
                <a:uFillTx/>
                <a:latin typeface="Arial"/>
                <a:ea typeface="+mn-ea"/>
                <a:cs typeface="+mn-cs"/>
              </a:endParaRPr>
            </a:p>
          </p:txBody>
        </p:sp>
        <p:sp>
          <p:nvSpPr>
            <p:cNvPr id="39" name="TextBox 38">
              <a:extLst>
                <a:ext uri="{FF2B5EF4-FFF2-40B4-BE49-F238E27FC236}">
                  <a16:creationId xmlns:a16="http://schemas.microsoft.com/office/drawing/2014/main" id="{2DF79F27-AA41-EE18-924A-F7DC1A226E42}"/>
                </a:ext>
              </a:extLst>
            </p:cNvPr>
            <p:cNvSpPr txBox="1"/>
            <p:nvPr/>
          </p:nvSpPr>
          <p:spPr>
            <a:xfrm>
              <a:off x="823043" y="5663186"/>
              <a:ext cx="1504404" cy="400215"/>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WWMEAS</a:t>
              </a:r>
            </a:p>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&lt;Actual&gt;</a:t>
              </a:r>
            </a:p>
          </p:txBody>
        </p:sp>
      </p:grpSp>
      <p:sp>
        <p:nvSpPr>
          <p:cNvPr id="40" name="TextBox 39">
            <a:extLst>
              <a:ext uri="{FF2B5EF4-FFF2-40B4-BE49-F238E27FC236}">
                <a16:creationId xmlns:a16="http://schemas.microsoft.com/office/drawing/2014/main" id="{642C6152-531E-0A40-5797-FC4BFEA02367}"/>
              </a:ext>
            </a:extLst>
          </p:cNvPr>
          <p:cNvSpPr txBox="1"/>
          <p:nvPr/>
        </p:nvSpPr>
        <p:spPr>
          <a:xfrm>
            <a:off x="885121" y="2638053"/>
            <a:ext cx="843281" cy="276927"/>
          </a:xfrm>
          <a:prstGeom prst="rect">
            <a:avLst/>
          </a:prstGeom>
          <a:noFill/>
        </p:spPr>
        <p:txBody>
          <a:bodyPr wrap="non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rial" pitchFamily="34" charset="0"/>
                <a:ea typeface="+mn-ea"/>
                <a:cs typeface="Arial" pitchFamily="34" charset="0"/>
              </a:rPr>
              <a:t>Magellan</a:t>
            </a:r>
          </a:p>
        </p:txBody>
      </p:sp>
      <p:grpSp>
        <p:nvGrpSpPr>
          <p:cNvPr id="41" name="Group 40">
            <a:extLst>
              <a:ext uri="{FF2B5EF4-FFF2-40B4-BE49-F238E27FC236}">
                <a16:creationId xmlns:a16="http://schemas.microsoft.com/office/drawing/2014/main" id="{35A7DB4D-9877-8072-5232-57FE447AD9DD}"/>
              </a:ext>
            </a:extLst>
          </p:cNvPr>
          <p:cNvGrpSpPr/>
          <p:nvPr/>
        </p:nvGrpSpPr>
        <p:grpSpPr>
          <a:xfrm>
            <a:off x="6977554" y="2901333"/>
            <a:ext cx="1281308" cy="400006"/>
            <a:chOff x="856899" y="5676145"/>
            <a:chExt cx="1146827" cy="400110"/>
          </a:xfrm>
        </p:grpSpPr>
        <p:sp>
          <p:nvSpPr>
            <p:cNvPr id="42" name="Rectangle 41">
              <a:extLst>
                <a:ext uri="{FF2B5EF4-FFF2-40B4-BE49-F238E27FC236}">
                  <a16:creationId xmlns:a16="http://schemas.microsoft.com/office/drawing/2014/main" id="{038C31B8-BE49-A683-B3BE-6D78E28C686D}"/>
                </a:ext>
              </a:extLst>
            </p:cNvPr>
            <p:cNvSpPr/>
            <p:nvPr/>
          </p:nvSpPr>
          <p:spPr>
            <a:xfrm>
              <a:off x="870092" y="5682485"/>
              <a:ext cx="1107233" cy="35456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43" name="TextBox 42">
              <a:extLst>
                <a:ext uri="{FF2B5EF4-FFF2-40B4-BE49-F238E27FC236}">
                  <a16:creationId xmlns:a16="http://schemas.microsoft.com/office/drawing/2014/main" id="{C89E53C8-BF42-F766-72B0-40C015B19136}"/>
                </a:ext>
              </a:extLst>
            </p:cNvPr>
            <p:cNvSpPr txBox="1"/>
            <p:nvPr/>
          </p:nvSpPr>
          <p:spPr>
            <a:xfrm>
              <a:off x="856899" y="5676145"/>
              <a:ext cx="1146827" cy="400110"/>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Service BPC</a:t>
              </a:r>
            </a:p>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a:t>
              </a:r>
              <a:r>
                <a:rPr kumimoji="0" lang="en-US" sz="1000" b="0" i="0" u="none" strike="noStrike" kern="1200" cap="none" spc="0" normalizeH="0" baseline="0" noProof="0" err="1">
                  <a:ln>
                    <a:noFill/>
                  </a:ln>
                  <a:solidFill>
                    <a:srgbClr val="3E8DDD">
                      <a:lumMod val="50000"/>
                    </a:srgbClr>
                  </a:solidFill>
                  <a:effectLst/>
                  <a:uLnTx/>
                  <a:uFillTx/>
                  <a:latin typeface="Arial" pitchFamily="34" charset="0"/>
                  <a:ea typeface="+mn-ea"/>
                  <a:cs typeface="Arial" pitchFamily="34" charset="0"/>
                </a:rPr>
                <a:t>pcsd</a:t>
              </a: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 only)</a:t>
              </a:r>
            </a:p>
          </p:txBody>
        </p:sp>
      </p:grpSp>
      <p:sp>
        <p:nvSpPr>
          <p:cNvPr id="44" name="TextBox 43">
            <a:extLst>
              <a:ext uri="{FF2B5EF4-FFF2-40B4-BE49-F238E27FC236}">
                <a16:creationId xmlns:a16="http://schemas.microsoft.com/office/drawing/2014/main" id="{D190DE1C-E2AA-6CA4-24E1-BB4AA76986FB}"/>
              </a:ext>
            </a:extLst>
          </p:cNvPr>
          <p:cNvSpPr txBox="1"/>
          <p:nvPr/>
        </p:nvSpPr>
        <p:spPr>
          <a:xfrm>
            <a:off x="8832438" y="2605417"/>
            <a:ext cx="826262" cy="276999"/>
          </a:xfrm>
          <a:prstGeom prst="rect">
            <a:avLst/>
          </a:prstGeom>
          <a:noFill/>
        </p:spPr>
        <p:txBody>
          <a:bodyPr wrap="squar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rial" pitchFamily="34" charset="0"/>
                <a:ea typeface="+mn-ea"/>
                <a:cs typeface="Arial" pitchFamily="34" charset="0"/>
              </a:rPr>
              <a:t>BPC-P</a:t>
            </a:r>
          </a:p>
        </p:txBody>
      </p:sp>
      <p:sp>
        <p:nvSpPr>
          <p:cNvPr id="45" name="TextBox 44">
            <a:extLst>
              <a:ext uri="{FF2B5EF4-FFF2-40B4-BE49-F238E27FC236}">
                <a16:creationId xmlns:a16="http://schemas.microsoft.com/office/drawing/2014/main" id="{820C9B77-1483-F9D0-AB97-3270EC863A8D}"/>
              </a:ext>
            </a:extLst>
          </p:cNvPr>
          <p:cNvSpPr txBox="1"/>
          <p:nvPr/>
        </p:nvSpPr>
        <p:spPr>
          <a:xfrm>
            <a:off x="8858674" y="4323227"/>
            <a:ext cx="1499128" cy="230832"/>
          </a:xfrm>
          <a:prstGeom prst="rect">
            <a:avLst/>
          </a:prstGeom>
          <a:noFill/>
        </p:spPr>
        <p:txBody>
          <a:bodyPr wrap="non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3588DB"/>
                </a:solidFill>
                <a:effectLst/>
                <a:uLnTx/>
                <a:uFillTx/>
                <a:latin typeface="Arial" pitchFamily="34" charset="0"/>
                <a:ea typeface="+mn-ea"/>
                <a:cs typeface="Arial" pitchFamily="34" charset="0"/>
              </a:rPr>
              <a:t>Flow actual data to BGL</a:t>
            </a:r>
          </a:p>
        </p:txBody>
      </p:sp>
      <p:sp>
        <p:nvSpPr>
          <p:cNvPr id="46" name="Rectangle 45">
            <a:extLst>
              <a:ext uri="{FF2B5EF4-FFF2-40B4-BE49-F238E27FC236}">
                <a16:creationId xmlns:a16="http://schemas.microsoft.com/office/drawing/2014/main" id="{8C20930C-1D8A-1A38-C33C-B6E3591D4A86}"/>
              </a:ext>
            </a:extLst>
          </p:cNvPr>
          <p:cNvSpPr/>
          <p:nvPr/>
        </p:nvSpPr>
        <p:spPr>
          <a:xfrm rot="19543566">
            <a:off x="9534771" y="2767213"/>
            <a:ext cx="389653" cy="14144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Arial"/>
              <a:ea typeface="+mn-ea"/>
              <a:cs typeface="+mn-cs"/>
            </a:endParaRPr>
          </a:p>
        </p:txBody>
      </p:sp>
      <p:sp>
        <p:nvSpPr>
          <p:cNvPr id="47" name="Rectangle 46">
            <a:extLst>
              <a:ext uri="{FF2B5EF4-FFF2-40B4-BE49-F238E27FC236}">
                <a16:creationId xmlns:a16="http://schemas.microsoft.com/office/drawing/2014/main" id="{2BBAC468-C74C-3A53-376C-52EAAEEA8FA0}"/>
              </a:ext>
            </a:extLst>
          </p:cNvPr>
          <p:cNvSpPr/>
          <p:nvPr/>
        </p:nvSpPr>
        <p:spPr>
          <a:xfrm rot="19543566">
            <a:off x="6882081" y="2836373"/>
            <a:ext cx="389653" cy="14144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Arial"/>
              <a:ea typeface="+mn-ea"/>
              <a:cs typeface="+mn-cs"/>
            </a:endParaRPr>
          </a:p>
        </p:txBody>
      </p:sp>
      <p:sp>
        <p:nvSpPr>
          <p:cNvPr id="48" name="TextBox 47">
            <a:extLst>
              <a:ext uri="{FF2B5EF4-FFF2-40B4-BE49-F238E27FC236}">
                <a16:creationId xmlns:a16="http://schemas.microsoft.com/office/drawing/2014/main" id="{AA30B124-6307-08F1-59ED-90BB2429A937}"/>
              </a:ext>
            </a:extLst>
          </p:cNvPr>
          <p:cNvSpPr txBox="1"/>
          <p:nvPr/>
        </p:nvSpPr>
        <p:spPr>
          <a:xfrm rot="19620971">
            <a:off x="9514342" y="2718228"/>
            <a:ext cx="423404" cy="215388"/>
          </a:xfrm>
          <a:prstGeom prst="rect">
            <a:avLst/>
          </a:prstGeom>
          <a:noFill/>
        </p:spPr>
        <p:txBody>
          <a:bodyPr wrap="non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white"/>
                </a:solidFill>
                <a:effectLst/>
                <a:uLnTx/>
                <a:uFillTx/>
                <a:latin typeface="Arial" pitchFamily="34" charset="0"/>
                <a:ea typeface="+mn-ea"/>
                <a:cs typeface="Arial" pitchFamily="34" charset="0"/>
              </a:rPr>
              <a:t>Corp</a:t>
            </a:r>
          </a:p>
        </p:txBody>
      </p:sp>
      <p:sp>
        <p:nvSpPr>
          <p:cNvPr id="49" name="TextBox 48">
            <a:extLst>
              <a:ext uri="{FF2B5EF4-FFF2-40B4-BE49-F238E27FC236}">
                <a16:creationId xmlns:a16="http://schemas.microsoft.com/office/drawing/2014/main" id="{48F7F1CB-E2E7-B58E-6CFC-DB8E5BB4491F}"/>
              </a:ext>
            </a:extLst>
          </p:cNvPr>
          <p:cNvSpPr txBox="1"/>
          <p:nvPr/>
        </p:nvSpPr>
        <p:spPr>
          <a:xfrm rot="19620971">
            <a:off x="6873911" y="2788056"/>
            <a:ext cx="423404" cy="215388"/>
          </a:xfrm>
          <a:prstGeom prst="rect">
            <a:avLst/>
          </a:prstGeom>
          <a:noFill/>
        </p:spPr>
        <p:txBody>
          <a:bodyPr wrap="non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white"/>
                </a:solidFill>
                <a:effectLst/>
                <a:uLnTx/>
                <a:uFillTx/>
                <a:latin typeface="Arial" pitchFamily="34" charset="0"/>
                <a:ea typeface="+mn-ea"/>
                <a:cs typeface="Arial" pitchFamily="34" charset="0"/>
              </a:rPr>
              <a:t>Corp</a:t>
            </a:r>
          </a:p>
        </p:txBody>
      </p:sp>
      <p:cxnSp>
        <p:nvCxnSpPr>
          <p:cNvPr id="50" name="Connector: Elbow 49">
            <a:extLst>
              <a:ext uri="{FF2B5EF4-FFF2-40B4-BE49-F238E27FC236}">
                <a16:creationId xmlns:a16="http://schemas.microsoft.com/office/drawing/2014/main" id="{9CF8F7E8-AA4C-3563-6CDD-6D81069CCBC4}"/>
              </a:ext>
            </a:extLst>
          </p:cNvPr>
          <p:cNvCxnSpPr>
            <a:cxnSpLocks/>
            <a:stCxn id="7" idx="3"/>
            <a:endCxn id="39" idx="2"/>
          </p:cNvCxnSpPr>
          <p:nvPr/>
        </p:nvCxnSpPr>
        <p:spPr>
          <a:xfrm flipV="1">
            <a:off x="8768515" y="3303243"/>
            <a:ext cx="1595154" cy="1218962"/>
          </a:xfrm>
          <a:prstGeom prst="bentConnector2">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51" name="Connector: Elbow 50">
            <a:extLst>
              <a:ext uri="{FF2B5EF4-FFF2-40B4-BE49-F238E27FC236}">
                <a16:creationId xmlns:a16="http://schemas.microsoft.com/office/drawing/2014/main" id="{F2B0FB8A-3787-CAE4-CD36-4DCD0F371FE0}"/>
              </a:ext>
            </a:extLst>
          </p:cNvPr>
          <p:cNvCxnSpPr>
            <a:cxnSpLocks/>
            <a:stCxn id="13" idx="0"/>
            <a:endCxn id="42" idx="2"/>
          </p:cNvCxnSpPr>
          <p:nvPr/>
        </p:nvCxnSpPr>
        <p:spPr>
          <a:xfrm rot="5400000" flipH="1" flipV="1">
            <a:off x="5127723" y="1813435"/>
            <a:ext cx="1034398" cy="3931815"/>
          </a:xfrm>
          <a:prstGeom prst="bentConnector3">
            <a:avLst>
              <a:gd name="adj1" fmla="val 50000"/>
            </a:avLst>
          </a:prstGeom>
          <a:ln w="19050">
            <a:solidFill>
              <a:srgbClr val="3E8DDD"/>
            </a:solidFill>
            <a:tailEnd type="triangle"/>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9542DF58-C005-2303-677E-C2A682697371}"/>
              </a:ext>
            </a:extLst>
          </p:cNvPr>
          <p:cNvGrpSpPr/>
          <p:nvPr/>
        </p:nvGrpSpPr>
        <p:grpSpPr>
          <a:xfrm>
            <a:off x="874270" y="2912150"/>
            <a:ext cx="1546990" cy="463488"/>
            <a:chOff x="2780088" y="2816280"/>
            <a:chExt cx="1546990" cy="529108"/>
          </a:xfrm>
        </p:grpSpPr>
        <p:sp>
          <p:nvSpPr>
            <p:cNvPr id="52" name="Rectangle 51">
              <a:extLst>
                <a:ext uri="{FF2B5EF4-FFF2-40B4-BE49-F238E27FC236}">
                  <a16:creationId xmlns:a16="http://schemas.microsoft.com/office/drawing/2014/main" id="{31269667-63E7-00F9-D33D-7ED06863E435}"/>
                </a:ext>
              </a:extLst>
            </p:cNvPr>
            <p:cNvSpPr/>
            <p:nvPr/>
          </p:nvSpPr>
          <p:spPr>
            <a:xfrm>
              <a:off x="2856474" y="2816280"/>
              <a:ext cx="1363893" cy="528004"/>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srgbClr val="3E8DDD">
                    <a:lumMod val="50000"/>
                  </a:srgbClr>
                </a:solidFill>
                <a:effectLst/>
                <a:uLnTx/>
                <a:uFillTx/>
                <a:latin typeface="Arial"/>
                <a:ea typeface="+mn-ea"/>
                <a:cs typeface="+mn-cs"/>
              </a:endParaRPr>
            </a:p>
          </p:txBody>
        </p:sp>
        <p:sp>
          <p:nvSpPr>
            <p:cNvPr id="53" name="TextBox 52">
              <a:extLst>
                <a:ext uri="{FF2B5EF4-FFF2-40B4-BE49-F238E27FC236}">
                  <a16:creationId xmlns:a16="http://schemas.microsoft.com/office/drawing/2014/main" id="{CECBF165-9C8E-1F30-A899-8A4ED7E5AFBD}"/>
                </a:ext>
              </a:extLst>
            </p:cNvPr>
            <p:cNvSpPr txBox="1"/>
            <p:nvPr/>
          </p:nvSpPr>
          <p:spPr>
            <a:xfrm>
              <a:off x="2780088" y="2888631"/>
              <a:ext cx="1546990" cy="456757"/>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ISG Revenue &amp; Cost Report</a:t>
              </a:r>
            </a:p>
          </p:txBody>
        </p:sp>
      </p:grpSp>
      <p:grpSp>
        <p:nvGrpSpPr>
          <p:cNvPr id="54" name="Group 53">
            <a:extLst>
              <a:ext uri="{FF2B5EF4-FFF2-40B4-BE49-F238E27FC236}">
                <a16:creationId xmlns:a16="http://schemas.microsoft.com/office/drawing/2014/main" id="{7F65D5BC-F1AB-FB6E-10DD-9D4025441E59}"/>
              </a:ext>
            </a:extLst>
          </p:cNvPr>
          <p:cNvGrpSpPr/>
          <p:nvPr/>
        </p:nvGrpSpPr>
        <p:grpSpPr>
          <a:xfrm>
            <a:off x="2353490" y="2929211"/>
            <a:ext cx="1428860" cy="454380"/>
            <a:chOff x="813717" y="5682485"/>
            <a:chExt cx="1191229" cy="368168"/>
          </a:xfrm>
        </p:grpSpPr>
        <p:sp>
          <p:nvSpPr>
            <p:cNvPr id="55" name="Rectangle 54">
              <a:extLst>
                <a:ext uri="{FF2B5EF4-FFF2-40B4-BE49-F238E27FC236}">
                  <a16:creationId xmlns:a16="http://schemas.microsoft.com/office/drawing/2014/main" id="{B31420BA-FDF2-A469-8749-8D174D64F536}"/>
                </a:ext>
              </a:extLst>
            </p:cNvPr>
            <p:cNvSpPr/>
            <p:nvPr/>
          </p:nvSpPr>
          <p:spPr>
            <a:xfrm>
              <a:off x="870092" y="5682485"/>
              <a:ext cx="1107233" cy="35456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56" name="TextBox 55">
              <a:extLst>
                <a:ext uri="{FF2B5EF4-FFF2-40B4-BE49-F238E27FC236}">
                  <a16:creationId xmlns:a16="http://schemas.microsoft.com/office/drawing/2014/main" id="{E838375D-57A4-6BE8-99FE-355C9039375C}"/>
                </a:ext>
              </a:extLst>
            </p:cNvPr>
            <p:cNvSpPr txBox="1"/>
            <p:nvPr/>
          </p:nvSpPr>
          <p:spPr>
            <a:xfrm>
              <a:off x="813717" y="5726458"/>
              <a:ext cx="1191229" cy="324195"/>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PCSD</a:t>
              </a:r>
              <a:r>
                <a:rPr kumimoji="0" lang="en-US" altLang="zh-CN"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 </a:t>
              </a: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Revenue &amp; Cost Report</a:t>
              </a:r>
            </a:p>
          </p:txBody>
        </p:sp>
      </p:grpSp>
      <p:sp>
        <p:nvSpPr>
          <p:cNvPr id="62" name="Rectangle 61">
            <a:extLst>
              <a:ext uri="{FF2B5EF4-FFF2-40B4-BE49-F238E27FC236}">
                <a16:creationId xmlns:a16="http://schemas.microsoft.com/office/drawing/2014/main" id="{485865D3-9AAC-0B45-5E2A-CC289CB49465}"/>
              </a:ext>
            </a:extLst>
          </p:cNvPr>
          <p:cNvSpPr/>
          <p:nvPr/>
        </p:nvSpPr>
        <p:spPr>
          <a:xfrm>
            <a:off x="753930" y="1161183"/>
            <a:ext cx="9077459" cy="1221593"/>
          </a:xfrm>
          <a:prstGeom prst="rect">
            <a:avLst/>
          </a:prstGeom>
          <a:solidFill>
            <a:schemeClr val="accent4">
              <a:lumMod val="75000"/>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Arial"/>
              <a:ea typeface="+mn-ea"/>
              <a:cs typeface="+mn-cs"/>
            </a:endParaRPr>
          </a:p>
        </p:txBody>
      </p:sp>
      <p:sp>
        <p:nvSpPr>
          <p:cNvPr id="63" name="TextBox 62">
            <a:extLst>
              <a:ext uri="{FF2B5EF4-FFF2-40B4-BE49-F238E27FC236}">
                <a16:creationId xmlns:a16="http://schemas.microsoft.com/office/drawing/2014/main" id="{848B9DF3-95D0-047F-3046-8040B7B82906}"/>
              </a:ext>
            </a:extLst>
          </p:cNvPr>
          <p:cNvSpPr txBox="1"/>
          <p:nvPr/>
        </p:nvSpPr>
        <p:spPr>
          <a:xfrm>
            <a:off x="874270" y="1419086"/>
            <a:ext cx="441031" cy="276927"/>
          </a:xfrm>
          <a:prstGeom prst="rect">
            <a:avLst/>
          </a:prstGeom>
          <a:noFill/>
        </p:spPr>
        <p:txBody>
          <a:bodyPr wrap="non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rial" pitchFamily="34" charset="0"/>
                <a:ea typeface="+mn-ea"/>
                <a:cs typeface="Arial" pitchFamily="34" charset="0"/>
              </a:rPr>
              <a:t>PBI</a:t>
            </a:r>
          </a:p>
        </p:txBody>
      </p:sp>
      <p:cxnSp>
        <p:nvCxnSpPr>
          <p:cNvPr id="74" name="Straight Arrow Connector 73">
            <a:extLst>
              <a:ext uri="{FF2B5EF4-FFF2-40B4-BE49-F238E27FC236}">
                <a16:creationId xmlns:a16="http://schemas.microsoft.com/office/drawing/2014/main" id="{11BA3766-8E0D-F2BE-A964-1EB58D49BFA8}"/>
              </a:ext>
            </a:extLst>
          </p:cNvPr>
          <p:cNvCxnSpPr>
            <a:cxnSpLocks/>
          </p:cNvCxnSpPr>
          <p:nvPr/>
        </p:nvCxnSpPr>
        <p:spPr>
          <a:xfrm flipH="1" flipV="1">
            <a:off x="4518663" y="3425186"/>
            <a:ext cx="4139" cy="281483"/>
          </a:xfrm>
          <a:prstGeom prst="straightConnector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0B436243-0F27-5DD4-1C9F-085C3B306860}"/>
              </a:ext>
            </a:extLst>
          </p:cNvPr>
          <p:cNvCxnSpPr>
            <a:cxnSpLocks/>
          </p:cNvCxnSpPr>
          <p:nvPr/>
        </p:nvCxnSpPr>
        <p:spPr>
          <a:xfrm flipH="1" flipV="1">
            <a:off x="4545868" y="2390429"/>
            <a:ext cx="4139" cy="281483"/>
          </a:xfrm>
          <a:prstGeom prst="straightConnector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AE6F6490-7A4A-EBCA-4F8B-425B3E40BA21}"/>
              </a:ext>
            </a:extLst>
          </p:cNvPr>
          <p:cNvGrpSpPr/>
          <p:nvPr/>
        </p:nvGrpSpPr>
        <p:grpSpPr>
          <a:xfrm>
            <a:off x="4903688" y="5627480"/>
            <a:ext cx="1433594" cy="527349"/>
            <a:chOff x="4546667" y="5687917"/>
            <a:chExt cx="2367869" cy="527486"/>
          </a:xfrm>
        </p:grpSpPr>
        <p:sp>
          <p:nvSpPr>
            <p:cNvPr id="77" name="Flowchart: Magnetic Disk 76">
              <a:extLst>
                <a:ext uri="{FF2B5EF4-FFF2-40B4-BE49-F238E27FC236}">
                  <a16:creationId xmlns:a16="http://schemas.microsoft.com/office/drawing/2014/main" id="{05258B69-FEC5-EB2E-C00B-4A8AF2F8B979}"/>
                </a:ext>
              </a:extLst>
            </p:cNvPr>
            <p:cNvSpPr/>
            <p:nvPr/>
          </p:nvSpPr>
          <p:spPr>
            <a:xfrm>
              <a:off x="4546667" y="5687917"/>
              <a:ext cx="2367869" cy="493167"/>
            </a:xfrm>
            <a:prstGeom prst="flowChartMagneticDisk">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srgbClr val="333F48">
                    <a:lumMod val="50000"/>
                  </a:srgbClr>
                </a:solidFill>
                <a:effectLst/>
                <a:uLnTx/>
                <a:uFillTx/>
                <a:latin typeface="Arial"/>
                <a:ea typeface="+mn-ea"/>
                <a:cs typeface="+mn-cs"/>
              </a:endParaRPr>
            </a:p>
          </p:txBody>
        </p:sp>
        <p:sp>
          <p:nvSpPr>
            <p:cNvPr id="78" name="TextBox 77">
              <a:extLst>
                <a:ext uri="{FF2B5EF4-FFF2-40B4-BE49-F238E27FC236}">
                  <a16:creationId xmlns:a16="http://schemas.microsoft.com/office/drawing/2014/main" id="{D1D6FE2E-8EBA-1EAD-A5D4-20CF3A23051E}"/>
                </a:ext>
              </a:extLst>
            </p:cNvPr>
            <p:cNvSpPr txBox="1"/>
            <p:nvPr/>
          </p:nvSpPr>
          <p:spPr>
            <a:xfrm>
              <a:off x="4819318" y="5784404"/>
              <a:ext cx="1808897" cy="430999"/>
            </a:xfrm>
            <a:prstGeom prst="rect">
              <a:avLst/>
            </a:prstGeom>
            <a:noFill/>
            <a:ln>
              <a:noFill/>
            </a:ln>
          </p:spPr>
          <p:txBody>
            <a:bodyPr wrap="non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33F48">
                      <a:lumMod val="50000"/>
                    </a:srgbClr>
                  </a:solidFill>
                  <a:effectLst/>
                  <a:uLnTx/>
                  <a:uFillTx/>
                  <a:latin typeface="Arial" pitchFamily="34" charset="0"/>
                  <a:ea typeface="+mn-ea"/>
                  <a:cs typeface="Arial" pitchFamily="34" charset="0"/>
                </a:rPr>
                <a:t>ECC</a:t>
              </a:r>
            </a:p>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333F48">
                      <a:lumMod val="50000"/>
                    </a:srgbClr>
                  </a:solidFill>
                  <a:effectLst/>
                  <a:uLnTx/>
                  <a:uFillTx/>
                  <a:latin typeface="Arial" pitchFamily="34" charset="0"/>
                  <a:ea typeface="+mn-ea"/>
                  <a:cs typeface="Arial" pitchFamily="34" charset="0"/>
                </a:rPr>
                <a:t>(w/ AP profit center)</a:t>
              </a:r>
            </a:p>
          </p:txBody>
        </p:sp>
      </p:grpSp>
      <p:cxnSp>
        <p:nvCxnSpPr>
          <p:cNvPr id="79" name="Straight Arrow Connector 78">
            <a:extLst>
              <a:ext uri="{FF2B5EF4-FFF2-40B4-BE49-F238E27FC236}">
                <a16:creationId xmlns:a16="http://schemas.microsoft.com/office/drawing/2014/main" id="{F31AB79D-4955-F08C-98F9-B808F707124F}"/>
              </a:ext>
            </a:extLst>
          </p:cNvPr>
          <p:cNvCxnSpPr>
            <a:cxnSpLocks/>
            <a:stCxn id="77" idx="1"/>
          </p:cNvCxnSpPr>
          <p:nvPr/>
        </p:nvCxnSpPr>
        <p:spPr>
          <a:xfrm flipH="1" flipV="1">
            <a:off x="5616348" y="5345998"/>
            <a:ext cx="4139" cy="281483"/>
          </a:xfrm>
          <a:prstGeom prst="straightConnector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80" name="Straight Arrow Connector 79">
            <a:extLst>
              <a:ext uri="{FF2B5EF4-FFF2-40B4-BE49-F238E27FC236}">
                <a16:creationId xmlns:a16="http://schemas.microsoft.com/office/drawing/2014/main" id="{7B2A4189-7C8C-1AEA-6981-FE51CD42B8A3}"/>
              </a:ext>
            </a:extLst>
          </p:cNvPr>
          <p:cNvCxnSpPr>
            <a:cxnSpLocks/>
            <a:stCxn id="43" idx="3"/>
            <a:endCxn id="39" idx="1"/>
          </p:cNvCxnSpPr>
          <p:nvPr/>
        </p:nvCxnSpPr>
        <p:spPr>
          <a:xfrm>
            <a:off x="8258863" y="3101336"/>
            <a:ext cx="1352801" cy="1852"/>
          </a:xfrm>
          <a:prstGeom prst="straightConnector1">
            <a:avLst/>
          </a:prstGeom>
          <a:ln w="19050">
            <a:solidFill>
              <a:srgbClr val="3E8DDD"/>
            </a:solidFill>
            <a:tailEnd type="triangle"/>
          </a:ln>
        </p:spPr>
        <p:style>
          <a:lnRef idx="1">
            <a:schemeClr val="accent1"/>
          </a:lnRef>
          <a:fillRef idx="0">
            <a:schemeClr val="accent1"/>
          </a:fillRef>
          <a:effectRef idx="0">
            <a:schemeClr val="accent1"/>
          </a:effectRef>
          <a:fontRef idx="minor">
            <a:schemeClr val="tx1"/>
          </a:fontRef>
        </p:style>
      </p:cxnSp>
      <p:sp>
        <p:nvSpPr>
          <p:cNvPr id="81" name="TextBox 80">
            <a:extLst>
              <a:ext uri="{FF2B5EF4-FFF2-40B4-BE49-F238E27FC236}">
                <a16:creationId xmlns:a16="http://schemas.microsoft.com/office/drawing/2014/main" id="{E65A0407-BCD4-3736-9DBB-FB9A2CE3D975}"/>
              </a:ext>
            </a:extLst>
          </p:cNvPr>
          <p:cNvSpPr txBox="1"/>
          <p:nvPr/>
        </p:nvSpPr>
        <p:spPr>
          <a:xfrm>
            <a:off x="8147008" y="3129976"/>
            <a:ext cx="1765083" cy="230832"/>
          </a:xfrm>
          <a:prstGeom prst="rect">
            <a:avLst/>
          </a:prstGeom>
          <a:noFill/>
        </p:spPr>
        <p:txBody>
          <a:bodyPr wrap="square" rtlCol="0">
            <a:spAutoFit/>
          </a:bodyPr>
          <a:lstStyle/>
          <a:p>
            <a:pPr marL="0" marR="0" lvl="0" indent="0" algn="l" defTabSz="1218621"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3588DB"/>
                </a:solidFill>
                <a:effectLst/>
                <a:uLnTx/>
                <a:uFillTx/>
                <a:latin typeface="Arial" pitchFamily="34" charset="0"/>
                <a:ea typeface="+mn-ea"/>
                <a:cs typeface="Arial" pitchFamily="34" charset="0"/>
              </a:rPr>
              <a:t>Flow actual data to SSGBG</a:t>
            </a:r>
          </a:p>
        </p:txBody>
      </p:sp>
      <p:sp>
        <p:nvSpPr>
          <p:cNvPr id="10" name="Title 1">
            <a:extLst>
              <a:ext uri="{FF2B5EF4-FFF2-40B4-BE49-F238E27FC236}">
                <a16:creationId xmlns:a16="http://schemas.microsoft.com/office/drawing/2014/main" id="{BAC2239D-4207-5521-84ED-F1A427EDBBA8}"/>
              </a:ext>
            </a:extLst>
          </p:cNvPr>
          <p:cNvSpPr txBox="1">
            <a:spLocks/>
          </p:cNvSpPr>
          <p:nvPr/>
        </p:nvSpPr>
        <p:spPr bwMode="gray">
          <a:xfrm>
            <a:off x="762002" y="442528"/>
            <a:ext cx="10668001" cy="418576"/>
          </a:xfrm>
          <a:prstGeom prst="rect">
            <a:avLst/>
          </a:prstGeom>
        </p:spPr>
        <p:txBody>
          <a:bodyPr vert="horz" wrap="square" lIns="0" tIns="0" rIns="0" bIns="0" anchor="t" anchorCtr="0">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pPr marL="0" marR="0" lvl="0" indent="0" algn="l" defTabSz="1218987" rtl="0" eaLnBrk="1" fontAlgn="auto" latinLnBrk="0" hangingPunct="1">
              <a:lnSpc>
                <a:spcPct val="85000"/>
              </a:lnSpc>
              <a:spcBef>
                <a:spcPct val="0"/>
              </a:spcBef>
              <a:spcAft>
                <a:spcPts val="0"/>
              </a:spcAft>
              <a:buClrTx/>
              <a:buSzTx/>
              <a:buFontTx/>
              <a:buNone/>
              <a:tabLst>
                <a:tab pos="1218987" algn="l"/>
              </a:tabLst>
              <a:defRPr/>
            </a:pPr>
            <a:r>
              <a:rPr kumimoji="0" lang="en-US" sz="3200" b="1" i="0" u="none" strike="noStrike" kern="1200" cap="none" spc="-150" normalizeH="0" baseline="0" noProof="0">
                <a:ln>
                  <a:noFill/>
                </a:ln>
                <a:solidFill>
                  <a:srgbClr val="000000"/>
                </a:solidFill>
                <a:effectLst/>
                <a:uLnTx/>
                <a:uFillTx/>
                <a:latin typeface="Arial" pitchFamily="34" charset="0"/>
                <a:ea typeface="+mn-ea"/>
                <a:cs typeface="Arial" pitchFamily="34" charset="0"/>
              </a:rPr>
              <a:t>MR High-level System Architecture</a:t>
            </a:r>
            <a:endParaRPr kumimoji="0" lang="en-US" sz="2800" b="1" i="0" u="none" strike="noStrike" kern="1200" cap="none" spc="-150" normalizeH="0" baseline="0" noProof="0">
              <a:ln>
                <a:noFill/>
              </a:ln>
              <a:solidFill>
                <a:srgbClr val="000000"/>
              </a:solidFill>
              <a:effectLst/>
              <a:uLnTx/>
              <a:uFillTx/>
              <a:latin typeface="Arial" pitchFamily="34" charset="0"/>
              <a:ea typeface="+mn-ea"/>
              <a:cs typeface="Arial" pitchFamily="34" charset="0"/>
            </a:endParaRPr>
          </a:p>
        </p:txBody>
      </p:sp>
      <p:grpSp>
        <p:nvGrpSpPr>
          <p:cNvPr id="99" name="Group 98">
            <a:extLst>
              <a:ext uri="{FF2B5EF4-FFF2-40B4-BE49-F238E27FC236}">
                <a16:creationId xmlns:a16="http://schemas.microsoft.com/office/drawing/2014/main" id="{29AD4581-82BF-E66D-4A3E-F544D423819D}"/>
              </a:ext>
            </a:extLst>
          </p:cNvPr>
          <p:cNvGrpSpPr/>
          <p:nvPr/>
        </p:nvGrpSpPr>
        <p:grpSpPr>
          <a:xfrm>
            <a:off x="5161744" y="2929207"/>
            <a:ext cx="1585447" cy="437589"/>
            <a:chOff x="813717" y="5682485"/>
            <a:chExt cx="1191229" cy="354563"/>
          </a:xfrm>
        </p:grpSpPr>
        <p:sp>
          <p:nvSpPr>
            <p:cNvPr id="100" name="Rectangle 99">
              <a:extLst>
                <a:ext uri="{FF2B5EF4-FFF2-40B4-BE49-F238E27FC236}">
                  <a16:creationId xmlns:a16="http://schemas.microsoft.com/office/drawing/2014/main" id="{EDDD14EC-AE2D-FA41-A9B3-272461AB69D2}"/>
                </a:ext>
              </a:extLst>
            </p:cNvPr>
            <p:cNvSpPr/>
            <p:nvPr/>
          </p:nvSpPr>
          <p:spPr>
            <a:xfrm>
              <a:off x="870092" y="5682485"/>
              <a:ext cx="1107233" cy="35456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101" name="TextBox 100">
              <a:extLst>
                <a:ext uri="{FF2B5EF4-FFF2-40B4-BE49-F238E27FC236}">
                  <a16:creationId xmlns:a16="http://schemas.microsoft.com/office/drawing/2014/main" id="{EC1F7CC1-F66F-1455-2C6E-1F18353C4659}"/>
                </a:ext>
              </a:extLst>
            </p:cNvPr>
            <p:cNvSpPr txBox="1"/>
            <p:nvPr/>
          </p:nvSpPr>
          <p:spPr>
            <a:xfrm>
              <a:off x="813717" y="5726458"/>
              <a:ext cx="1191229" cy="268610"/>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PCSD S</a:t>
              </a:r>
              <a:r>
                <a:rPr kumimoji="0" lang="en-US" altLang="zh-CN"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ervice </a:t>
              </a: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Revenue &amp; Cost Report</a:t>
              </a:r>
            </a:p>
          </p:txBody>
        </p:sp>
      </p:grpSp>
      <p:grpSp>
        <p:nvGrpSpPr>
          <p:cNvPr id="103" name="Group 102">
            <a:extLst>
              <a:ext uri="{FF2B5EF4-FFF2-40B4-BE49-F238E27FC236}">
                <a16:creationId xmlns:a16="http://schemas.microsoft.com/office/drawing/2014/main" id="{2A65183C-2120-04C4-133D-E81040307981}"/>
              </a:ext>
            </a:extLst>
          </p:cNvPr>
          <p:cNvGrpSpPr/>
          <p:nvPr/>
        </p:nvGrpSpPr>
        <p:grpSpPr>
          <a:xfrm>
            <a:off x="3745168" y="2919290"/>
            <a:ext cx="1546990" cy="617376"/>
            <a:chOff x="2780088" y="2816280"/>
            <a:chExt cx="1546990" cy="704783"/>
          </a:xfrm>
        </p:grpSpPr>
        <p:sp>
          <p:nvSpPr>
            <p:cNvPr id="104" name="Rectangle 103">
              <a:extLst>
                <a:ext uri="{FF2B5EF4-FFF2-40B4-BE49-F238E27FC236}">
                  <a16:creationId xmlns:a16="http://schemas.microsoft.com/office/drawing/2014/main" id="{A43F5378-E335-C4C0-B61B-0B871079087D}"/>
                </a:ext>
              </a:extLst>
            </p:cNvPr>
            <p:cNvSpPr/>
            <p:nvPr/>
          </p:nvSpPr>
          <p:spPr>
            <a:xfrm>
              <a:off x="2856474" y="2816280"/>
              <a:ext cx="1363893" cy="528004"/>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srgbClr val="3E8DDD">
                    <a:lumMod val="50000"/>
                  </a:srgbClr>
                </a:solidFill>
                <a:effectLst/>
                <a:uLnTx/>
                <a:uFillTx/>
                <a:latin typeface="Arial"/>
                <a:ea typeface="+mn-ea"/>
                <a:cs typeface="+mn-cs"/>
              </a:endParaRPr>
            </a:p>
          </p:txBody>
        </p:sp>
        <p:sp>
          <p:nvSpPr>
            <p:cNvPr id="105" name="TextBox 104">
              <a:extLst>
                <a:ext uri="{FF2B5EF4-FFF2-40B4-BE49-F238E27FC236}">
                  <a16:creationId xmlns:a16="http://schemas.microsoft.com/office/drawing/2014/main" id="{AC9794D9-8B3C-13C2-C217-F557FDFDB955}"/>
                </a:ext>
              </a:extLst>
            </p:cNvPr>
            <p:cNvSpPr txBox="1"/>
            <p:nvPr/>
          </p:nvSpPr>
          <p:spPr>
            <a:xfrm>
              <a:off x="2780088" y="2888631"/>
              <a:ext cx="1546990" cy="632432"/>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ISG Service Revenue &amp; Cost Report</a:t>
              </a:r>
            </a:p>
          </p:txBody>
        </p:sp>
      </p:grpSp>
      <p:grpSp>
        <p:nvGrpSpPr>
          <p:cNvPr id="106" name="Group 105">
            <a:extLst>
              <a:ext uri="{FF2B5EF4-FFF2-40B4-BE49-F238E27FC236}">
                <a16:creationId xmlns:a16="http://schemas.microsoft.com/office/drawing/2014/main" id="{F0A44562-5E04-316E-3117-6F2F6E9C114A}"/>
              </a:ext>
            </a:extLst>
          </p:cNvPr>
          <p:cNvGrpSpPr/>
          <p:nvPr/>
        </p:nvGrpSpPr>
        <p:grpSpPr>
          <a:xfrm>
            <a:off x="1351470" y="1657527"/>
            <a:ext cx="1546990" cy="466344"/>
            <a:chOff x="2780088" y="2816280"/>
            <a:chExt cx="1546990" cy="529108"/>
          </a:xfrm>
        </p:grpSpPr>
        <p:sp>
          <p:nvSpPr>
            <p:cNvPr id="107" name="Rectangle 106">
              <a:extLst>
                <a:ext uri="{FF2B5EF4-FFF2-40B4-BE49-F238E27FC236}">
                  <a16:creationId xmlns:a16="http://schemas.microsoft.com/office/drawing/2014/main" id="{F149B563-9FCE-266A-6C38-BC2BDF2E7BEB}"/>
                </a:ext>
              </a:extLst>
            </p:cNvPr>
            <p:cNvSpPr/>
            <p:nvPr/>
          </p:nvSpPr>
          <p:spPr>
            <a:xfrm>
              <a:off x="2856474" y="2816280"/>
              <a:ext cx="1363893" cy="528004"/>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srgbClr val="3E8DDD">
                    <a:lumMod val="50000"/>
                  </a:srgbClr>
                </a:solidFill>
                <a:effectLst/>
                <a:uLnTx/>
                <a:uFillTx/>
                <a:latin typeface="Arial"/>
                <a:ea typeface="+mn-ea"/>
                <a:cs typeface="+mn-cs"/>
              </a:endParaRPr>
            </a:p>
          </p:txBody>
        </p:sp>
        <p:sp>
          <p:nvSpPr>
            <p:cNvPr id="108" name="TextBox 107">
              <a:extLst>
                <a:ext uri="{FF2B5EF4-FFF2-40B4-BE49-F238E27FC236}">
                  <a16:creationId xmlns:a16="http://schemas.microsoft.com/office/drawing/2014/main" id="{5434949A-D29C-4011-E950-6B759D25BF84}"/>
                </a:ext>
              </a:extLst>
            </p:cNvPr>
            <p:cNvSpPr txBox="1"/>
            <p:nvPr/>
          </p:nvSpPr>
          <p:spPr>
            <a:xfrm>
              <a:off x="2780088" y="2888631"/>
              <a:ext cx="1546990" cy="456757"/>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ISG Revenue &amp; Cost Report</a:t>
              </a:r>
            </a:p>
          </p:txBody>
        </p:sp>
      </p:grpSp>
      <p:grpSp>
        <p:nvGrpSpPr>
          <p:cNvPr id="109" name="Group 108">
            <a:extLst>
              <a:ext uri="{FF2B5EF4-FFF2-40B4-BE49-F238E27FC236}">
                <a16:creationId xmlns:a16="http://schemas.microsoft.com/office/drawing/2014/main" id="{BEF87C78-1D25-D442-531C-AE3B30CF2054}"/>
              </a:ext>
            </a:extLst>
          </p:cNvPr>
          <p:cNvGrpSpPr/>
          <p:nvPr/>
        </p:nvGrpSpPr>
        <p:grpSpPr>
          <a:xfrm>
            <a:off x="3368469" y="1674588"/>
            <a:ext cx="1428860" cy="466344"/>
            <a:chOff x="813717" y="5682485"/>
            <a:chExt cx="1191229" cy="368168"/>
          </a:xfrm>
        </p:grpSpPr>
        <p:sp>
          <p:nvSpPr>
            <p:cNvPr id="110" name="Rectangle 109">
              <a:extLst>
                <a:ext uri="{FF2B5EF4-FFF2-40B4-BE49-F238E27FC236}">
                  <a16:creationId xmlns:a16="http://schemas.microsoft.com/office/drawing/2014/main" id="{A7652C8F-33A7-1A6D-5CB8-7A47C1684397}"/>
                </a:ext>
              </a:extLst>
            </p:cNvPr>
            <p:cNvSpPr/>
            <p:nvPr/>
          </p:nvSpPr>
          <p:spPr>
            <a:xfrm>
              <a:off x="870092" y="5682485"/>
              <a:ext cx="1107233" cy="35456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111" name="TextBox 110">
              <a:extLst>
                <a:ext uri="{FF2B5EF4-FFF2-40B4-BE49-F238E27FC236}">
                  <a16:creationId xmlns:a16="http://schemas.microsoft.com/office/drawing/2014/main" id="{13A45938-B5C5-1290-3BCE-DEB7F31314E7}"/>
                </a:ext>
              </a:extLst>
            </p:cNvPr>
            <p:cNvSpPr txBox="1"/>
            <p:nvPr/>
          </p:nvSpPr>
          <p:spPr>
            <a:xfrm>
              <a:off x="813717" y="5726458"/>
              <a:ext cx="1191229" cy="324195"/>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PCSD</a:t>
              </a:r>
              <a:r>
                <a:rPr kumimoji="0" lang="en-US" altLang="zh-CN" sz="1000" b="0" i="0" u="none" strike="noStrike" kern="1200" cap="none" spc="0" normalizeH="0" baseline="0" noProof="0">
                  <a:ln>
                    <a:noFill/>
                  </a:ln>
                  <a:solidFill>
                    <a:srgbClr val="3E8DDD">
                      <a:lumMod val="50000"/>
                    </a:srgbClr>
                  </a:solidFill>
                  <a:effectLst/>
                  <a:uLnTx/>
                  <a:uFillTx/>
                  <a:latin typeface="Arial" pitchFamily="34" charset="0"/>
                  <a:ea typeface="黑体" panose="02010609060101010101" pitchFamily="49" charset="-122"/>
                  <a:cs typeface="Arial" pitchFamily="34" charset="0"/>
                </a:rPr>
                <a:t> </a:t>
              </a: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Revenue &amp; Cost Report</a:t>
              </a:r>
            </a:p>
          </p:txBody>
        </p:sp>
      </p:grpSp>
      <p:grpSp>
        <p:nvGrpSpPr>
          <p:cNvPr id="112" name="Group 111">
            <a:extLst>
              <a:ext uri="{FF2B5EF4-FFF2-40B4-BE49-F238E27FC236}">
                <a16:creationId xmlns:a16="http://schemas.microsoft.com/office/drawing/2014/main" id="{C31ACDD9-BFB4-3C61-C5BB-523CBB0CE219}"/>
              </a:ext>
            </a:extLst>
          </p:cNvPr>
          <p:cNvGrpSpPr/>
          <p:nvPr/>
        </p:nvGrpSpPr>
        <p:grpSpPr>
          <a:xfrm>
            <a:off x="7610831" y="1657527"/>
            <a:ext cx="1828476" cy="466344"/>
            <a:chOff x="813717" y="5682485"/>
            <a:chExt cx="1191229" cy="368168"/>
          </a:xfrm>
        </p:grpSpPr>
        <p:sp>
          <p:nvSpPr>
            <p:cNvPr id="113" name="Rectangle 112">
              <a:extLst>
                <a:ext uri="{FF2B5EF4-FFF2-40B4-BE49-F238E27FC236}">
                  <a16:creationId xmlns:a16="http://schemas.microsoft.com/office/drawing/2014/main" id="{F21DE312-12DA-9050-0845-1809318B2380}"/>
                </a:ext>
              </a:extLst>
            </p:cNvPr>
            <p:cNvSpPr/>
            <p:nvPr/>
          </p:nvSpPr>
          <p:spPr>
            <a:xfrm>
              <a:off x="870092" y="5682485"/>
              <a:ext cx="1107233" cy="35456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114" name="TextBox 113">
              <a:extLst>
                <a:ext uri="{FF2B5EF4-FFF2-40B4-BE49-F238E27FC236}">
                  <a16:creationId xmlns:a16="http://schemas.microsoft.com/office/drawing/2014/main" id="{8DBF581F-1B6E-0BCC-83DB-87A427FDFBD3}"/>
                </a:ext>
              </a:extLst>
            </p:cNvPr>
            <p:cNvSpPr txBox="1"/>
            <p:nvPr/>
          </p:nvSpPr>
          <p:spPr>
            <a:xfrm>
              <a:off x="813717" y="5726458"/>
              <a:ext cx="1191229" cy="324195"/>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PCSD Fin Row Service Upsell Master Dataset</a:t>
              </a:r>
            </a:p>
          </p:txBody>
        </p:sp>
      </p:grpSp>
      <p:grpSp>
        <p:nvGrpSpPr>
          <p:cNvPr id="115" name="Group 114">
            <a:extLst>
              <a:ext uri="{FF2B5EF4-FFF2-40B4-BE49-F238E27FC236}">
                <a16:creationId xmlns:a16="http://schemas.microsoft.com/office/drawing/2014/main" id="{7965B3F1-E7B7-3762-7332-32FD1FDE2D4F}"/>
              </a:ext>
            </a:extLst>
          </p:cNvPr>
          <p:cNvGrpSpPr/>
          <p:nvPr/>
        </p:nvGrpSpPr>
        <p:grpSpPr>
          <a:xfrm>
            <a:off x="5267338" y="1670073"/>
            <a:ext cx="1873485" cy="466344"/>
            <a:chOff x="2780088" y="2816280"/>
            <a:chExt cx="1546990" cy="529108"/>
          </a:xfrm>
        </p:grpSpPr>
        <p:sp>
          <p:nvSpPr>
            <p:cNvPr id="116" name="Rectangle 115">
              <a:extLst>
                <a:ext uri="{FF2B5EF4-FFF2-40B4-BE49-F238E27FC236}">
                  <a16:creationId xmlns:a16="http://schemas.microsoft.com/office/drawing/2014/main" id="{17AB39E9-FF49-3F7E-FE73-F4A1BF44B2F6}"/>
                </a:ext>
              </a:extLst>
            </p:cNvPr>
            <p:cNvSpPr/>
            <p:nvPr/>
          </p:nvSpPr>
          <p:spPr>
            <a:xfrm>
              <a:off x="2856474" y="2816280"/>
              <a:ext cx="1363893" cy="528004"/>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82832" tIns="182832" rIns="182832" bIns="182832" rtlCol="0" anchor="t"/>
            <a:lstStyle/>
            <a:p>
              <a:pPr marL="0" marR="0" lvl="0" indent="0" algn="l" defTabSz="1218621"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srgbClr val="3E8DDD">
                    <a:lumMod val="50000"/>
                  </a:srgbClr>
                </a:solidFill>
                <a:effectLst/>
                <a:uLnTx/>
                <a:uFillTx/>
                <a:latin typeface="Arial"/>
                <a:ea typeface="+mn-ea"/>
                <a:cs typeface="+mn-cs"/>
              </a:endParaRPr>
            </a:p>
          </p:txBody>
        </p:sp>
        <p:sp>
          <p:nvSpPr>
            <p:cNvPr id="117" name="TextBox 116">
              <a:extLst>
                <a:ext uri="{FF2B5EF4-FFF2-40B4-BE49-F238E27FC236}">
                  <a16:creationId xmlns:a16="http://schemas.microsoft.com/office/drawing/2014/main" id="{8F3FCB24-2218-243F-3589-26412E30C55B}"/>
                </a:ext>
              </a:extLst>
            </p:cNvPr>
            <p:cNvSpPr txBox="1"/>
            <p:nvPr/>
          </p:nvSpPr>
          <p:spPr>
            <a:xfrm>
              <a:off x="2780088" y="2888631"/>
              <a:ext cx="1546990" cy="456757"/>
            </a:xfrm>
            <a:prstGeom prst="rect">
              <a:avLst/>
            </a:prstGeom>
            <a:noFill/>
          </p:spPr>
          <p:txBody>
            <a:bodyPr wrap="square" rtlCol="0">
              <a:spAutoFit/>
            </a:bodyPr>
            <a:lstStyle/>
            <a:p>
              <a:pPr marL="0" marR="0" lvl="0" indent="0" algn="ctr" defTabSz="1218621"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E8DDD">
                      <a:lumMod val="50000"/>
                    </a:srgbClr>
                  </a:solidFill>
                  <a:effectLst/>
                  <a:uLnTx/>
                  <a:uFillTx/>
                  <a:latin typeface="Arial" pitchFamily="34" charset="0"/>
                  <a:ea typeface="+mn-ea"/>
                  <a:cs typeface="Arial" pitchFamily="34" charset="0"/>
                </a:rPr>
                <a:t>ISG Service Booking and GAAP Report</a:t>
              </a:r>
            </a:p>
          </p:txBody>
        </p:sp>
      </p:grpSp>
    </p:spTree>
    <p:extLst>
      <p:ext uri="{BB962C8B-B14F-4D97-AF65-F5344CB8AC3E}">
        <p14:creationId xmlns:p14="http://schemas.microsoft.com/office/powerpoint/2010/main" val="3455046735"/>
      </p:ext>
    </p:extLst>
  </p:cSld>
  <p:clrMapOvr>
    <a:masterClrMapping/>
  </p:clrMapOvr>
  <p:transition spd="med"/>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CB5990-FDAB-226A-8255-BE66AD77901A}"/>
            </a:ext>
          </a:extLst>
        </p:cNvPr>
        <p:cNvGrpSpPr/>
        <p:nvPr/>
      </p:nvGrpSpPr>
      <p:grpSpPr>
        <a:xfrm>
          <a:off x="0" y="0"/>
          <a:ext cx="0" cy="0"/>
          <a:chOff x="0" y="0"/>
          <a:chExt cx="0" cy="0"/>
        </a:xfrm>
      </p:grpSpPr>
      <p:sp>
        <p:nvSpPr>
          <p:cNvPr id="19" name="TextBox 18">
            <a:extLst>
              <a:ext uri="{FF2B5EF4-FFF2-40B4-BE49-F238E27FC236}">
                <a16:creationId xmlns:a16="http://schemas.microsoft.com/office/drawing/2014/main" id="{E9920F34-82C3-45A6-B4DA-37A6198138E2}"/>
              </a:ext>
            </a:extLst>
          </p:cNvPr>
          <p:cNvSpPr txBox="1"/>
          <p:nvPr/>
        </p:nvSpPr>
        <p:spPr>
          <a:xfrm>
            <a:off x="631252" y="4134155"/>
            <a:ext cx="6647348" cy="2585323"/>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Soldto</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Get Sold to# from the </a:t>
            </a:r>
            <a:r>
              <a:rPr kumimoji="0" lang="en-US" altLang="zh-CN" sz="8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table for</a:t>
            </a:r>
            <a:r>
              <a:rPr kumimoji="0" lang="zh-CN" altLang="en-US"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96*</a:t>
            </a:r>
            <a:r>
              <a:rPr kumimoji="0" lang="zh-CN" altLang="en-US"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invoice number record. to connect ECC/S4 Ledgers &amp; the separate </a:t>
            </a:r>
            <a:r>
              <a:rPr kumimoji="0" lang="en-US" altLang="zh-CN" sz="8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table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8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when user name = </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TBD</a:t>
            </a:r>
          </a:p>
          <a:p>
            <a:pPr marL="628650" marR="0" lvl="1"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Priority1: get </a:t>
            </a:r>
            <a:r>
              <a:rPr kumimoji="0" lang="en-US" altLang="zh-CN" sz="800" b="1" i="1" u="none" strike="noStrike" kern="1200" cap="none" spc="0" normalizeH="0" baseline="0" noProof="0">
                <a:ln>
                  <a:noFill/>
                </a:ln>
                <a:solidFill>
                  <a:srgbClr val="0070C0"/>
                </a:solidFill>
                <a:effectLst/>
                <a:uLnTx/>
                <a:uFillTx/>
                <a:latin typeface="Arial" pitchFamily="34" charset="0"/>
                <a:ea typeface="黑体" panose="02010609060101010101" pitchFamily="49" charset="-122"/>
                <a:cs typeface="Arial" pitchFamily="34" charset="0"/>
              </a:rPr>
              <a:t>invoice number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from S4 CDSVIEW Reference (XBLNR)/ ECC GLPCA Reference (REFDOCNR) , by invoice number get Sold-to # from topic deliver to PAPM;</a:t>
            </a:r>
          </a:p>
          <a:p>
            <a:pPr marL="628650" marR="0" lvl="1"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Priority2: by </a:t>
            </a:r>
            <a:r>
              <a:rPr kumimoji="0" lang="en-US" altLang="zh-CN" sz="800" b="1" i="1" u="none" strike="noStrike" kern="1200" cap="none" spc="0" normalizeH="0" baseline="0" noProof="0">
                <a:ln>
                  <a:noFill/>
                </a:ln>
                <a:solidFill>
                  <a:srgbClr val="0070C0"/>
                </a:solidFill>
                <a:effectLst/>
                <a:uLnTx/>
                <a:uFillTx/>
                <a:latin typeface="Arial" pitchFamily="34" charset="0"/>
                <a:ea typeface="黑体" panose="02010609060101010101" pitchFamily="49" charset="-122"/>
                <a:cs typeface="Arial" pitchFamily="34" charset="0"/>
              </a:rPr>
              <a:t>tranche ID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from S4 CDSVIEW item text (SGTXT)/ ECC GLPCA Reference (REFDOCNR) to find Sold-to # from topic deliver to PAPM</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Odessa:</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when user name in (SYS-LMS, SYSB-LMS, LMS-SPLIT),  </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keep as is</a:t>
            </a:r>
          </a:p>
          <a:p>
            <a:pPr marL="628650" marR="0" lvl="1"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Get </a:t>
            </a:r>
            <a:r>
              <a:rPr kumimoji="0" lang="en-US" altLang="zh-CN" sz="800" b="1" i="1" u="none" strike="noStrike" kern="1200" cap="none" spc="0" normalizeH="0" baseline="0" noProof="0">
                <a:ln>
                  <a:noFill/>
                </a:ln>
                <a:solidFill>
                  <a:srgbClr val="0070C0"/>
                </a:solidFill>
                <a:effectLst/>
                <a:uLnTx/>
                <a:uFillTx/>
                <a:latin typeface="Arial" pitchFamily="34" charset="0"/>
                <a:ea typeface="黑体" panose="02010609060101010101" pitchFamily="49" charset="-122"/>
                <a:cs typeface="Arial" pitchFamily="34" charset="0"/>
              </a:rPr>
              <a:t>tranche ID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from CDSVIEW item text (SGTXT), to find Sold-to # from topic deliver to PAPM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Refreshed L3 DMU ID logic:</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 1: Get L3 DMU from the </a:t>
            </a:r>
            <a:r>
              <a:rPr kumimoji="0" lang="en-US" altLang="zh-CN" sz="8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table for</a:t>
            </a:r>
            <a:r>
              <a:rPr kumimoji="0" lang="zh-CN" altLang="en-US"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96*</a:t>
            </a:r>
            <a:r>
              <a:rPr kumimoji="0" lang="zh-CN" altLang="en-US"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invoice number record. to connect ECC/S4 Ledgers &amp; the separate </a:t>
            </a:r>
            <a:r>
              <a:rPr kumimoji="0" lang="en-US" altLang="zh-CN" sz="8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table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8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when user name = TBD</a:t>
            </a:r>
          </a:p>
          <a:p>
            <a:pPr marL="628650" marR="0" lvl="1"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Priority1: get </a:t>
            </a:r>
            <a:r>
              <a:rPr kumimoji="0" lang="en-US" altLang="zh-CN" sz="800" b="1" i="1" u="none" strike="noStrike" kern="1200" cap="none" spc="0" normalizeH="0" baseline="0" noProof="0">
                <a:ln>
                  <a:noFill/>
                </a:ln>
                <a:solidFill>
                  <a:srgbClr val="0070C0"/>
                </a:solidFill>
                <a:effectLst/>
                <a:uLnTx/>
                <a:uFillTx/>
                <a:latin typeface="Arial" pitchFamily="34" charset="0"/>
                <a:ea typeface="黑体" panose="02010609060101010101" pitchFamily="49" charset="-122"/>
                <a:cs typeface="Arial" pitchFamily="34" charset="0"/>
              </a:rPr>
              <a:t>invoice number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from S4 CDSVIEW Reference (XBLNR)/ ECC GLPCA Reference (REFDOCNR) , by invoice number get L3 DMU ID from topic deliver to PAPM;</a:t>
            </a:r>
          </a:p>
          <a:p>
            <a:pPr marL="628650" marR="0" lvl="1"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Priority2: by </a:t>
            </a:r>
            <a:r>
              <a:rPr kumimoji="0" lang="en-US" altLang="zh-CN" sz="800" b="1" i="1" u="none" strike="noStrike" kern="1200" cap="none" spc="0" normalizeH="0" baseline="0" noProof="0">
                <a:ln>
                  <a:noFill/>
                </a:ln>
                <a:solidFill>
                  <a:srgbClr val="0070C0"/>
                </a:solidFill>
                <a:effectLst/>
                <a:uLnTx/>
                <a:uFillTx/>
                <a:latin typeface="Arial" pitchFamily="34" charset="0"/>
                <a:ea typeface="黑体" panose="02010609060101010101" pitchFamily="49" charset="-122"/>
                <a:cs typeface="Arial" pitchFamily="34" charset="0"/>
              </a:rPr>
              <a:t>tranche ID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from S4 CDSVIEW item text (SGTXT)/ ECC GLPCA Reference (REFDOCNR) to find L3 DMU ID from topic deliver to PAPM</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Odessa:</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when user name in (SYS-LMS, SYSB-LMS, LMS-SPLIT),  </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keep as is</a:t>
            </a:r>
          </a:p>
          <a:p>
            <a:pPr marL="628650" marR="0" lvl="1"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Get </a:t>
            </a:r>
            <a:r>
              <a:rPr kumimoji="0" lang="en-US" altLang="zh-CN" sz="800" b="1" i="1" u="none" strike="noStrike" kern="1200" cap="none" spc="0" normalizeH="0" baseline="0" noProof="0">
                <a:ln>
                  <a:noFill/>
                </a:ln>
                <a:solidFill>
                  <a:srgbClr val="0070C0"/>
                </a:solidFill>
                <a:effectLst/>
                <a:uLnTx/>
                <a:uFillTx/>
                <a:latin typeface="Arial" pitchFamily="34" charset="0"/>
                <a:ea typeface="黑体" panose="02010609060101010101" pitchFamily="49" charset="-122"/>
                <a:cs typeface="Arial" pitchFamily="34" charset="0"/>
              </a:rPr>
              <a:t>tranche ID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from CDSVIEW item text (SGTXT), to find L3 DMU ID from topic deliver to PAPM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 2: Follow normal CSRE L3 DMU logic – keep as is</a:t>
            </a:r>
            <a:endParaRPr kumimoji="0" lang="en-US"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endParaRPr>
          </a:p>
        </p:txBody>
      </p:sp>
      <p:graphicFrame>
        <p:nvGraphicFramePr>
          <p:cNvPr id="6" name="表格 5">
            <a:extLst>
              <a:ext uri="{FF2B5EF4-FFF2-40B4-BE49-F238E27FC236}">
                <a16:creationId xmlns:a16="http://schemas.microsoft.com/office/drawing/2014/main" id="{EF4DF1DF-3856-0C49-EE94-E9792CC35E2B}"/>
              </a:ext>
            </a:extLst>
          </p:cNvPr>
          <p:cNvGraphicFramePr>
            <a:graphicFrameLocks noGrp="1"/>
          </p:cNvGraphicFramePr>
          <p:nvPr/>
        </p:nvGraphicFramePr>
        <p:xfrm>
          <a:off x="500766" y="1438516"/>
          <a:ext cx="10834732" cy="958899"/>
        </p:xfrm>
        <a:graphic>
          <a:graphicData uri="http://schemas.openxmlformats.org/drawingml/2006/table">
            <a:tbl>
              <a:tblPr/>
              <a:tblGrid>
                <a:gridCol w="961978">
                  <a:extLst>
                    <a:ext uri="{9D8B030D-6E8A-4147-A177-3AD203B41FA5}">
                      <a16:colId xmlns:a16="http://schemas.microsoft.com/office/drawing/2014/main" val="1951643897"/>
                    </a:ext>
                  </a:extLst>
                </a:gridCol>
                <a:gridCol w="706436">
                  <a:extLst>
                    <a:ext uri="{9D8B030D-6E8A-4147-A177-3AD203B41FA5}">
                      <a16:colId xmlns:a16="http://schemas.microsoft.com/office/drawing/2014/main" val="2753499370"/>
                    </a:ext>
                  </a:extLst>
                </a:gridCol>
                <a:gridCol w="657212">
                  <a:extLst>
                    <a:ext uri="{9D8B030D-6E8A-4147-A177-3AD203B41FA5}">
                      <a16:colId xmlns:a16="http://schemas.microsoft.com/office/drawing/2014/main" val="844666129"/>
                    </a:ext>
                  </a:extLst>
                </a:gridCol>
                <a:gridCol w="501971">
                  <a:extLst>
                    <a:ext uri="{9D8B030D-6E8A-4147-A177-3AD203B41FA5}">
                      <a16:colId xmlns:a16="http://schemas.microsoft.com/office/drawing/2014/main" val="1695784184"/>
                    </a:ext>
                  </a:extLst>
                </a:gridCol>
                <a:gridCol w="1378513">
                  <a:extLst>
                    <a:ext uri="{9D8B030D-6E8A-4147-A177-3AD203B41FA5}">
                      <a16:colId xmlns:a16="http://schemas.microsoft.com/office/drawing/2014/main" val="3219558111"/>
                    </a:ext>
                  </a:extLst>
                </a:gridCol>
                <a:gridCol w="1561805">
                  <a:extLst>
                    <a:ext uri="{9D8B030D-6E8A-4147-A177-3AD203B41FA5}">
                      <a16:colId xmlns:a16="http://schemas.microsoft.com/office/drawing/2014/main" val="374816131"/>
                    </a:ext>
                  </a:extLst>
                </a:gridCol>
                <a:gridCol w="827562">
                  <a:extLst>
                    <a:ext uri="{9D8B030D-6E8A-4147-A177-3AD203B41FA5}">
                      <a16:colId xmlns:a16="http://schemas.microsoft.com/office/drawing/2014/main" val="3558397836"/>
                    </a:ext>
                  </a:extLst>
                </a:gridCol>
                <a:gridCol w="848238">
                  <a:extLst>
                    <a:ext uri="{9D8B030D-6E8A-4147-A177-3AD203B41FA5}">
                      <a16:colId xmlns:a16="http://schemas.microsoft.com/office/drawing/2014/main" val="1836065162"/>
                    </a:ext>
                  </a:extLst>
                </a:gridCol>
                <a:gridCol w="484496">
                  <a:extLst>
                    <a:ext uri="{9D8B030D-6E8A-4147-A177-3AD203B41FA5}">
                      <a16:colId xmlns:a16="http://schemas.microsoft.com/office/drawing/2014/main" val="3464946339"/>
                    </a:ext>
                  </a:extLst>
                </a:gridCol>
                <a:gridCol w="577756">
                  <a:extLst>
                    <a:ext uri="{9D8B030D-6E8A-4147-A177-3AD203B41FA5}">
                      <a16:colId xmlns:a16="http://schemas.microsoft.com/office/drawing/2014/main" val="3086017461"/>
                    </a:ext>
                  </a:extLst>
                </a:gridCol>
                <a:gridCol w="555009">
                  <a:extLst>
                    <a:ext uri="{9D8B030D-6E8A-4147-A177-3AD203B41FA5}">
                      <a16:colId xmlns:a16="http://schemas.microsoft.com/office/drawing/2014/main" val="2825598781"/>
                    </a:ext>
                  </a:extLst>
                </a:gridCol>
                <a:gridCol w="691485">
                  <a:extLst>
                    <a:ext uri="{9D8B030D-6E8A-4147-A177-3AD203B41FA5}">
                      <a16:colId xmlns:a16="http://schemas.microsoft.com/office/drawing/2014/main" val="1941825054"/>
                    </a:ext>
                  </a:extLst>
                </a:gridCol>
                <a:gridCol w="511791">
                  <a:extLst>
                    <a:ext uri="{9D8B030D-6E8A-4147-A177-3AD203B41FA5}">
                      <a16:colId xmlns:a16="http://schemas.microsoft.com/office/drawing/2014/main" val="374956615"/>
                    </a:ext>
                  </a:extLst>
                </a:gridCol>
                <a:gridCol w="570480">
                  <a:extLst>
                    <a:ext uri="{9D8B030D-6E8A-4147-A177-3AD203B41FA5}">
                      <a16:colId xmlns:a16="http://schemas.microsoft.com/office/drawing/2014/main" val="2723609071"/>
                    </a:ext>
                  </a:extLst>
                </a:gridCol>
              </a:tblGrid>
              <a:tr h="358066">
                <a:tc>
                  <a:txBody>
                    <a:bodyPr/>
                    <a:lstStyle/>
                    <a:p>
                      <a:pPr algn="l" fontAlgn="t"/>
                      <a:r>
                        <a:rPr lang="en-US" sz="800" b="1" i="0" u="none" strike="noStrike">
                          <a:solidFill>
                            <a:schemeClr val="bg1"/>
                          </a:solidFill>
                          <a:effectLst/>
                          <a:latin typeface="Arial" panose="020B0604020202020204" pitchFamily="34" charset="0"/>
                        </a:rPr>
                        <a:t>INVOICE 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l" fontAlgn="t"/>
                      <a:r>
                        <a:rPr lang="en-US" sz="800" b="1" i="0" u="none" strike="noStrike">
                          <a:solidFill>
                            <a:schemeClr val="bg1"/>
                          </a:solidFill>
                          <a:effectLst/>
                          <a:latin typeface="Arial" panose="020B0604020202020204" pitchFamily="34" charset="0"/>
                        </a:rPr>
                        <a:t>ITEMNUMBER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COMPANYCODE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Period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SOURCEINVOICENUMBER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TRANCHE ID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l" fontAlgn="t"/>
                      <a:r>
                        <a:rPr lang="en-US" sz="800" b="0" i="0" u="none" strike="noStrike">
                          <a:solidFill>
                            <a:schemeClr val="bg1"/>
                          </a:solidFill>
                          <a:effectLst/>
                          <a:latin typeface="Arial" panose="020B0604020202020204" pitchFamily="34" charset="0"/>
                        </a:rPr>
                        <a:t>CUSTOMERPURCHASEORDER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0" i="0" u="none" strike="noStrike">
                          <a:solidFill>
                            <a:schemeClr val="bg1"/>
                          </a:solidFill>
                          <a:effectLst/>
                          <a:latin typeface="Arial" panose="020B0604020202020204" pitchFamily="34" charset="0"/>
                        </a:rPr>
                        <a:t>PRODUCT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L2MDMID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50"/>
                    </a:solidFill>
                  </a:tcPr>
                </a:tc>
                <a:tc>
                  <a:txBody>
                    <a:bodyPr/>
                    <a:lstStyle/>
                    <a:p>
                      <a:pPr algn="l" fontAlgn="t"/>
                      <a:r>
                        <a:rPr lang="en-US" sz="800" b="1" i="0" u="none" strike="noStrike">
                          <a:solidFill>
                            <a:schemeClr val="bg1"/>
                          </a:solidFill>
                          <a:effectLst/>
                          <a:latin typeface="Arial" panose="020B0604020202020204" pitchFamily="34" charset="0"/>
                        </a:rPr>
                        <a:t>L3DMUID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50"/>
                    </a:solidFill>
                  </a:tcPr>
                </a:tc>
                <a:tc>
                  <a:txBody>
                    <a:bodyPr/>
                    <a:lstStyle/>
                    <a:p>
                      <a:pPr algn="l" fontAlgn="t"/>
                      <a:r>
                        <a:rPr lang="en-US" sz="800" b="1" i="0" u="none" strike="noStrike">
                          <a:solidFill>
                            <a:schemeClr val="tx1"/>
                          </a:solidFill>
                          <a:effectLst/>
                          <a:latin typeface="Arial" panose="020B0604020202020204" pitchFamily="34" charset="0"/>
                        </a:rPr>
                        <a:t>Sold-to#</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92D050"/>
                    </a:solidFill>
                  </a:tcPr>
                </a:tc>
                <a:tc>
                  <a:txBody>
                    <a:bodyPr/>
                    <a:lstStyle/>
                    <a:p>
                      <a:pPr algn="ctr" fontAlgn="t"/>
                      <a:r>
                        <a:rPr lang="en-US" sz="800" b="1" i="0" u="none" strike="noStrike">
                          <a:solidFill>
                            <a:schemeClr val="tx1"/>
                          </a:solidFill>
                          <a:effectLst/>
                          <a:latin typeface="Arial" panose="020B0604020202020204" pitchFamily="34" charset="0"/>
                        </a:rPr>
                        <a:t>Distribution Channel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92D050"/>
                    </a:solidFill>
                  </a:tcPr>
                </a:tc>
                <a:tc>
                  <a:txBody>
                    <a:bodyPr/>
                    <a:lstStyle/>
                    <a:p>
                      <a:pPr algn="l" fontAlgn="t"/>
                      <a:r>
                        <a:rPr lang="en-US" sz="800" b="1" i="0" u="none" strike="noStrike">
                          <a:solidFill>
                            <a:schemeClr val="bg1"/>
                          </a:solidFill>
                          <a:effectLst/>
                          <a:latin typeface="Arial" panose="020B0604020202020204" pitchFamily="34" charset="0"/>
                        </a:rPr>
                        <a:t>Posting Date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Doc Date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extLst>
                  <a:ext uri="{0D108BD9-81ED-4DB2-BD59-A6C34878D82A}">
                    <a16:rowId xmlns:a16="http://schemas.microsoft.com/office/drawing/2014/main" val="1533790736"/>
                  </a:ext>
                </a:extLst>
              </a:tr>
              <a:tr h="173203">
                <a:tc>
                  <a:txBody>
                    <a:bodyPr/>
                    <a:lstStyle/>
                    <a:p>
                      <a:pPr algn="l" fontAlgn="t"/>
                      <a:r>
                        <a:rPr lang="en-US" sz="700" b="0" i="0" u="none" strike="noStrike">
                          <a:effectLst/>
                          <a:latin typeface="Arial" panose="020B0604020202020204" pitchFamily="34" charset="0"/>
                        </a:rPr>
                        <a:t>0100070695</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00000001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AU01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00000000000000000001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fr-FR" sz="700" b="0" i="0" u="none" strike="noStrike">
                          <a:effectLst/>
                          <a:latin typeface="Arial" panose="020B0604020202020204" pitchFamily="34" charset="0"/>
                        </a:rPr>
                        <a:t>1216232138_AU_202201_M_48_001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PU028067</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5MS1C33702_AAS</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ctr" fontAlgn="t"/>
                      <a:r>
                        <a:rPr lang="en-US" sz="700" b="0" i="0" u="none" strike="noStrike">
                          <a:effectLst/>
                          <a:latin typeface="Arial" panose="020B0604020202020204" pitchFamily="34" charset="0"/>
                        </a:rPr>
                        <a:t>21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extLst>
                  <a:ext uri="{0D108BD9-81ED-4DB2-BD59-A6C34878D82A}">
                    <a16:rowId xmlns:a16="http://schemas.microsoft.com/office/drawing/2014/main" val="391385724"/>
                  </a:ext>
                </a:extLst>
              </a:tr>
              <a:tr h="141036">
                <a:tc>
                  <a:txBody>
                    <a:bodyPr/>
                    <a:lstStyle/>
                    <a:p>
                      <a:pPr algn="l" fontAlgn="t"/>
                      <a:r>
                        <a:rPr lang="en-US" sz="700" b="0" i="0" u="none" strike="noStrike">
                          <a:effectLst/>
                          <a:latin typeface="Arial" panose="020B0604020202020204" pitchFamily="34" charset="0"/>
                        </a:rPr>
                        <a:t>0100070695</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00000002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AU01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00000000000000000002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fr-FR" sz="700" b="0" i="0" u="none" strike="noStrike">
                          <a:effectLst/>
                          <a:latin typeface="Arial" panose="020B0604020202020204" pitchFamily="34" charset="0"/>
                        </a:rPr>
                        <a:t>1216232138_AU_202201_M_48_001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PU028067</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5TS0Z42087_AAS</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ctr" fontAlgn="t"/>
                      <a:r>
                        <a:rPr lang="en-US" sz="700" b="0" i="0" u="none" strike="noStrike">
                          <a:effectLst/>
                          <a:latin typeface="Arial" panose="020B0604020202020204" pitchFamily="34" charset="0"/>
                        </a:rPr>
                        <a:t>21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extLst>
                  <a:ext uri="{0D108BD9-81ED-4DB2-BD59-A6C34878D82A}">
                    <a16:rowId xmlns:a16="http://schemas.microsoft.com/office/drawing/2014/main" val="246504053"/>
                  </a:ext>
                </a:extLst>
              </a:tr>
              <a:tr h="142394">
                <a:tc>
                  <a:txBody>
                    <a:bodyPr/>
                    <a:lstStyle/>
                    <a:p>
                      <a:pPr algn="l" fontAlgn="t"/>
                      <a:r>
                        <a:rPr lang="en-US" sz="700" b="0" i="0" u="none" strike="noStrike">
                          <a:effectLst/>
                          <a:latin typeface="Arial" panose="020B0604020202020204" pitchFamily="34" charset="0"/>
                        </a:rPr>
                        <a:t>0100070697</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00000018</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AU01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00000000000000000018</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1217506134_AU_202404_M_36_002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LPL_POAU03</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SUB1P14345</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t"/>
                      <a:r>
                        <a:rPr lang="en-US" sz="700" b="0" i="0" u="none" strike="noStrike">
                          <a:effectLst/>
                          <a:latin typeface="Arial" panose="020B0604020202020204" pitchFamily="34" charset="0"/>
                        </a:rPr>
                        <a:t>21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2678641005"/>
                  </a:ext>
                </a:extLst>
              </a:tr>
              <a:tr h="144200">
                <a:tc>
                  <a:txBody>
                    <a:bodyPr/>
                    <a:lstStyle/>
                    <a:p>
                      <a:pPr algn="l" fontAlgn="t"/>
                      <a:r>
                        <a:rPr lang="en-US" sz="700" b="0" i="0" u="none" strike="noStrike">
                          <a:effectLst/>
                          <a:latin typeface="Arial" panose="020B0604020202020204" pitchFamily="34" charset="0"/>
                        </a:rPr>
                        <a:t>0100070697</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00000019</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AU01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00000000000000000019</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1217506134_AU_202404_M_36_002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LPL_POAU03</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SUB1P14343</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t"/>
                      <a:r>
                        <a:rPr lang="en-US" sz="700" b="0" i="0" u="none" strike="noStrike">
                          <a:effectLst/>
                          <a:latin typeface="Arial" panose="020B0604020202020204" pitchFamily="34" charset="0"/>
                        </a:rPr>
                        <a:t>21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518761467"/>
                  </a:ext>
                </a:extLst>
              </a:tr>
            </a:tbl>
          </a:graphicData>
        </a:graphic>
      </p:graphicFrame>
      <p:sp>
        <p:nvSpPr>
          <p:cNvPr id="2" name="标题 1">
            <a:extLst>
              <a:ext uri="{FF2B5EF4-FFF2-40B4-BE49-F238E27FC236}">
                <a16:creationId xmlns:a16="http://schemas.microsoft.com/office/drawing/2014/main" id="{1E618D16-5F51-EAE7-ED9E-335FF3C5CE06}"/>
              </a:ext>
            </a:extLst>
          </p:cNvPr>
          <p:cNvSpPr>
            <a:spLocks noGrp="1"/>
          </p:cNvSpPr>
          <p:nvPr>
            <p:ph type="title"/>
          </p:nvPr>
        </p:nvSpPr>
        <p:spPr>
          <a:xfrm>
            <a:off x="561735" y="160324"/>
            <a:ext cx="11174839" cy="543910"/>
          </a:xfrm>
        </p:spPr>
        <p:txBody>
          <a:bodyPr wrap="square" lIns="0" tIns="0" rIns="0" bIns="0" anchor="ctr" anchorCtr="0">
            <a:noAutofit/>
          </a:bodyPr>
          <a:lstStyle/>
          <a:p>
            <a:r>
              <a:rPr lang="en-US" altLang="zh-CN" sz="2800"/>
              <a:t>L3 DMU &amp; </a:t>
            </a:r>
            <a:r>
              <a:rPr lang="en-US" altLang="zh-CN" sz="2800" err="1"/>
              <a:t>Soldto</a:t>
            </a:r>
            <a:r>
              <a:rPr lang="en-US" altLang="zh-CN" sz="2800"/>
              <a:t># &amp; Distribution Channel:</a:t>
            </a:r>
            <a:endParaRPr lang="en-US" sz="2800"/>
          </a:p>
        </p:txBody>
      </p:sp>
      <p:sp>
        <p:nvSpPr>
          <p:cNvPr id="4" name="灯片编号占位符 3">
            <a:extLst>
              <a:ext uri="{FF2B5EF4-FFF2-40B4-BE49-F238E27FC236}">
                <a16:creationId xmlns:a16="http://schemas.microsoft.com/office/drawing/2014/main" id="{54F5822C-A321-E615-65FC-7D132826362C}"/>
              </a:ext>
            </a:extLst>
          </p:cNvPr>
          <p:cNvSpPr>
            <a:spLocks noGrp="1"/>
          </p:cNvSpPr>
          <p:nvPr>
            <p:ph type="sldNum" sz="quarter" idx="4"/>
          </p:nvPr>
        </p:nvSpPr>
        <p:spPr>
          <a:xfrm>
            <a:off x="11749913" y="6473952"/>
            <a:ext cx="438912" cy="155448"/>
          </a:xfrm>
          <a:prstGeom prst="rect">
            <a:avLst/>
          </a:prstGeom>
        </p:spPr>
        <p:txBody>
          <a:bodyPr vert="horz" lIns="0" tIns="0" rIns="0" bIns="0" rtlCol="0" anchor="ctr"/>
          <a:lstStyle>
            <a:defPPr>
              <a:defRPr lang="en-US"/>
            </a:defPPr>
            <a:lvl1pPr marL="0" algn="ctr" defTabSz="1218987"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180</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6" name="TextBox 25">
            <a:extLst>
              <a:ext uri="{FF2B5EF4-FFF2-40B4-BE49-F238E27FC236}">
                <a16:creationId xmlns:a16="http://schemas.microsoft.com/office/drawing/2014/main" id="{8BF65778-C96B-6039-C612-ED4B56D49F2C}"/>
              </a:ext>
            </a:extLst>
          </p:cNvPr>
          <p:cNvSpPr txBox="1"/>
          <p:nvPr/>
        </p:nvSpPr>
        <p:spPr>
          <a:xfrm>
            <a:off x="502946" y="847303"/>
            <a:ext cx="10874536"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4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As is the Mapping Table with L3 DMU, </a:t>
            </a:r>
            <a:r>
              <a:rPr kumimoji="0" lang="en-US" altLang="zh-CN" sz="14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Soldto</a:t>
            </a:r>
            <a:r>
              <a:rPr kumimoji="0" lang="en-US" altLang="zh-CN" sz="14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&amp; Distribution Channel Information feeding from BRIM to BW-PAPM &lt;OPA40&gt;  will change to </a:t>
            </a:r>
            <a:r>
              <a:rPr kumimoji="0" lang="en-US" altLang="zh-CN" sz="14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14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but keep the information same:</a:t>
            </a:r>
            <a:endParaRPr kumimoji="0" lang="en-US" altLang="zh-CN" sz="1400" b="1" i="1" u="none" strike="noStrike" kern="1200" cap="none" spc="0" normalizeH="0" baseline="0" noProof="0">
              <a:ln>
                <a:noFill/>
              </a:ln>
              <a:solidFill>
                <a:srgbClr val="FF0000"/>
              </a:solidFill>
              <a:effectLst/>
              <a:uLnTx/>
              <a:uFillTx/>
              <a:latin typeface="Arial" pitchFamily="34" charset="0"/>
              <a:ea typeface="黑体" panose="02010609060101010101" pitchFamily="49" charset="-122"/>
              <a:cs typeface="Arial" pitchFamily="34" charset="0"/>
            </a:endParaRPr>
          </a:p>
        </p:txBody>
      </p:sp>
      <p:sp>
        <p:nvSpPr>
          <p:cNvPr id="51" name="Marvin tracker circle">
            <a:extLst>
              <a:ext uri="{FF2B5EF4-FFF2-40B4-BE49-F238E27FC236}">
                <a16:creationId xmlns:a16="http://schemas.microsoft.com/office/drawing/2014/main" id="{075BFFAA-A1B7-5D2B-7337-EEC33C0B9744}"/>
              </a:ext>
            </a:extLst>
          </p:cNvPr>
          <p:cNvSpPr>
            <a:spLocks/>
          </p:cNvSpPr>
          <p:nvPr/>
        </p:nvSpPr>
        <p:spPr>
          <a:xfrm>
            <a:off x="370756" y="4232509"/>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1</a:t>
            </a:r>
          </a:p>
        </p:txBody>
      </p:sp>
      <p:graphicFrame>
        <p:nvGraphicFramePr>
          <p:cNvPr id="10" name="表格 9">
            <a:extLst>
              <a:ext uri="{FF2B5EF4-FFF2-40B4-BE49-F238E27FC236}">
                <a16:creationId xmlns:a16="http://schemas.microsoft.com/office/drawing/2014/main" id="{AABE7153-E532-A7E4-C9B1-B814A8DD33E7}"/>
              </a:ext>
            </a:extLst>
          </p:cNvPr>
          <p:cNvGraphicFramePr>
            <a:graphicFrameLocks noGrp="1"/>
          </p:cNvGraphicFramePr>
          <p:nvPr/>
        </p:nvGraphicFramePr>
        <p:xfrm>
          <a:off x="500766" y="2651008"/>
          <a:ext cx="11038965" cy="1399123"/>
        </p:xfrm>
        <a:graphic>
          <a:graphicData uri="http://schemas.openxmlformats.org/drawingml/2006/table">
            <a:tbl>
              <a:tblPr/>
              <a:tblGrid>
                <a:gridCol w="755489">
                  <a:extLst>
                    <a:ext uri="{9D8B030D-6E8A-4147-A177-3AD203B41FA5}">
                      <a16:colId xmlns:a16="http://schemas.microsoft.com/office/drawing/2014/main" val="2422911670"/>
                    </a:ext>
                  </a:extLst>
                </a:gridCol>
                <a:gridCol w="817169">
                  <a:extLst>
                    <a:ext uri="{9D8B030D-6E8A-4147-A177-3AD203B41FA5}">
                      <a16:colId xmlns:a16="http://schemas.microsoft.com/office/drawing/2014/main" val="3794717218"/>
                    </a:ext>
                  </a:extLst>
                </a:gridCol>
                <a:gridCol w="817169">
                  <a:extLst>
                    <a:ext uri="{9D8B030D-6E8A-4147-A177-3AD203B41FA5}">
                      <a16:colId xmlns:a16="http://schemas.microsoft.com/office/drawing/2014/main" val="407649056"/>
                    </a:ext>
                  </a:extLst>
                </a:gridCol>
                <a:gridCol w="1154851">
                  <a:extLst>
                    <a:ext uri="{9D8B030D-6E8A-4147-A177-3AD203B41FA5}">
                      <a16:colId xmlns:a16="http://schemas.microsoft.com/office/drawing/2014/main" val="3742270617"/>
                    </a:ext>
                  </a:extLst>
                </a:gridCol>
                <a:gridCol w="1083605">
                  <a:extLst>
                    <a:ext uri="{9D8B030D-6E8A-4147-A177-3AD203B41FA5}">
                      <a16:colId xmlns:a16="http://schemas.microsoft.com/office/drawing/2014/main" val="4244360844"/>
                    </a:ext>
                  </a:extLst>
                </a:gridCol>
                <a:gridCol w="628491">
                  <a:extLst>
                    <a:ext uri="{9D8B030D-6E8A-4147-A177-3AD203B41FA5}">
                      <a16:colId xmlns:a16="http://schemas.microsoft.com/office/drawing/2014/main" val="3924974369"/>
                    </a:ext>
                  </a:extLst>
                </a:gridCol>
                <a:gridCol w="694077">
                  <a:extLst>
                    <a:ext uri="{9D8B030D-6E8A-4147-A177-3AD203B41FA5}">
                      <a16:colId xmlns:a16="http://schemas.microsoft.com/office/drawing/2014/main" val="529683453"/>
                    </a:ext>
                  </a:extLst>
                </a:gridCol>
                <a:gridCol w="695866">
                  <a:extLst>
                    <a:ext uri="{9D8B030D-6E8A-4147-A177-3AD203B41FA5}">
                      <a16:colId xmlns:a16="http://schemas.microsoft.com/office/drawing/2014/main" val="95821097"/>
                    </a:ext>
                  </a:extLst>
                </a:gridCol>
                <a:gridCol w="746291">
                  <a:extLst>
                    <a:ext uri="{9D8B030D-6E8A-4147-A177-3AD203B41FA5}">
                      <a16:colId xmlns:a16="http://schemas.microsoft.com/office/drawing/2014/main" val="2028553931"/>
                    </a:ext>
                  </a:extLst>
                </a:gridCol>
                <a:gridCol w="610146">
                  <a:extLst>
                    <a:ext uri="{9D8B030D-6E8A-4147-A177-3AD203B41FA5}">
                      <a16:colId xmlns:a16="http://schemas.microsoft.com/office/drawing/2014/main" val="228645159"/>
                    </a:ext>
                  </a:extLst>
                </a:gridCol>
                <a:gridCol w="709459">
                  <a:extLst>
                    <a:ext uri="{9D8B030D-6E8A-4147-A177-3AD203B41FA5}">
                      <a16:colId xmlns:a16="http://schemas.microsoft.com/office/drawing/2014/main" val="1687825814"/>
                    </a:ext>
                  </a:extLst>
                </a:gridCol>
                <a:gridCol w="698828">
                  <a:extLst>
                    <a:ext uri="{9D8B030D-6E8A-4147-A177-3AD203B41FA5}">
                      <a16:colId xmlns:a16="http://schemas.microsoft.com/office/drawing/2014/main" val="2791710820"/>
                    </a:ext>
                  </a:extLst>
                </a:gridCol>
                <a:gridCol w="530241">
                  <a:extLst>
                    <a:ext uri="{9D8B030D-6E8A-4147-A177-3AD203B41FA5}">
                      <a16:colId xmlns:a16="http://schemas.microsoft.com/office/drawing/2014/main" val="1063858079"/>
                    </a:ext>
                  </a:extLst>
                </a:gridCol>
                <a:gridCol w="509113">
                  <a:extLst>
                    <a:ext uri="{9D8B030D-6E8A-4147-A177-3AD203B41FA5}">
                      <a16:colId xmlns:a16="http://schemas.microsoft.com/office/drawing/2014/main" val="282416758"/>
                    </a:ext>
                  </a:extLst>
                </a:gridCol>
                <a:gridCol w="588170">
                  <a:extLst>
                    <a:ext uri="{9D8B030D-6E8A-4147-A177-3AD203B41FA5}">
                      <a16:colId xmlns:a16="http://schemas.microsoft.com/office/drawing/2014/main" val="1502682765"/>
                    </a:ext>
                  </a:extLst>
                </a:gridCol>
              </a:tblGrid>
              <a:tr h="131567">
                <a:tc gridSpan="5">
                  <a:txBody>
                    <a:bodyPr/>
                    <a:lstStyle/>
                    <a:p>
                      <a:pPr algn="l" rtl="0" fontAlgn="ctr"/>
                      <a:r>
                        <a:rPr lang="en-US" sz="1200" b="1" i="0" u="none" strike="noStrike">
                          <a:solidFill>
                            <a:srgbClr val="000000"/>
                          </a:solidFill>
                          <a:effectLst/>
                          <a:latin typeface="Arial" panose="020B0604020202020204" pitchFamily="34" charset="0"/>
                          <a:ea typeface="等线" panose="02010600030101010101" pitchFamily="2" charset="-122"/>
                        </a:rPr>
                        <a:t>Optimus Report</a:t>
                      </a:r>
                    </a:p>
                  </a:txBody>
                  <a:tcPr marL="9522" marR="9522" marT="9522"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zh-CN" altLang="en-US"/>
                    </a:p>
                  </a:txBody>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49508421"/>
                  </a:ext>
                </a:extLst>
              </a:tr>
              <a:tr h="461795">
                <a:tc>
                  <a:txBody>
                    <a:bodyPr/>
                    <a:lstStyle/>
                    <a:p>
                      <a:pPr algn="ctr" fontAlgn="ctr"/>
                      <a:r>
                        <a:rPr lang="en-US" sz="1100" b="0" i="0" u="none" strike="noStrike">
                          <a:solidFill>
                            <a:srgbClr val="FFFFFF"/>
                          </a:solidFill>
                          <a:effectLst/>
                          <a:latin typeface="Calibri" panose="020F0502020204030204" pitchFamily="34" charset="0"/>
                        </a:rPr>
                        <a:t>Fiscal Year Period</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Source ID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Billing 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Sales Doc 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Sales office Profit Center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Refreshed L3 DMU</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ctr" fontAlgn="ctr"/>
                      <a:r>
                        <a:rPr lang="en-US" sz="1100" b="0" i="0" u="none" strike="noStrike">
                          <a:solidFill>
                            <a:srgbClr val="FFFFFF"/>
                          </a:solidFill>
                          <a:effectLst/>
                          <a:latin typeface="Calibri" panose="020F0502020204030204" pitchFamily="34" charset="0"/>
                        </a:rPr>
                        <a:t>Sold-to</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1100" b="0" i="0" u="none" strike="noStrike">
                          <a:solidFill>
                            <a:srgbClr val="FFFFFF"/>
                          </a:solidFill>
                          <a:effectLst/>
                          <a:latin typeface="Calibri" panose="020F0502020204030204" pitchFamily="34" charset="0"/>
                        </a:rPr>
                        <a:t>Refreshed L2 </a:t>
                      </a:r>
                      <a:r>
                        <a:rPr lang="en-US" altLang="zh-CN" sz="1100" b="0" i="0" u="none" strike="noStrike">
                          <a:solidFill>
                            <a:srgbClr val="FFFFFF"/>
                          </a:solidFill>
                          <a:effectLst/>
                          <a:latin typeface="Calibri" panose="020F0502020204030204" pitchFamily="34" charset="0"/>
                        </a:rPr>
                        <a:t>ID</a:t>
                      </a:r>
                      <a:endParaRPr lang="en-US" sz="1100" b="0" i="0" u="none" strike="noStrike">
                        <a:solidFill>
                          <a:srgbClr val="FFFFFF"/>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ctr" fontAlgn="ctr"/>
                      <a:r>
                        <a:rPr lang="en-US" sz="1100" b="0" i="0" u="none" strike="noStrike">
                          <a:solidFill>
                            <a:srgbClr val="FFFFFF"/>
                          </a:solidFill>
                          <a:effectLst/>
                          <a:latin typeface="Calibri" panose="020F0502020204030204" pitchFamily="34" charset="0"/>
                        </a:rPr>
                        <a:t>End Customer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ctr" fontAlgn="ctr"/>
                      <a:r>
                        <a:rPr lang="en-US" sz="1100" b="0" i="0" u="none" strike="noStrike">
                          <a:solidFill>
                            <a:srgbClr val="FFFFFF"/>
                          </a:solidFill>
                          <a:effectLst/>
                          <a:latin typeface="Calibri" panose="020F0502020204030204" pitchFamily="34" charset="0"/>
                        </a:rPr>
                        <a:t>BPC Segment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70C0"/>
                    </a:solidFill>
                  </a:tcPr>
                </a:tc>
                <a:tc>
                  <a:txBody>
                    <a:bodyPr/>
                    <a:lstStyle/>
                    <a:p>
                      <a:pPr algn="ctr" fontAlgn="ctr"/>
                      <a:r>
                        <a:rPr lang="en-US" sz="1100" b="0" i="0" u="none" strike="noStrike">
                          <a:solidFill>
                            <a:srgbClr val="FFFFFF"/>
                          </a:solidFill>
                          <a:effectLst/>
                          <a:latin typeface="Calibri" panose="020F0502020204030204" pitchFamily="34" charset="0"/>
                        </a:rPr>
                        <a:t>Distribution Channel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ctr" fontAlgn="ctr"/>
                      <a:r>
                        <a:rPr lang="en-US" sz="1100" b="0" i="0" u="none" strike="noStrike">
                          <a:solidFill>
                            <a:srgbClr val="FFFFFF"/>
                          </a:solidFill>
                          <a:effectLst/>
                          <a:latin typeface="Calibri" panose="020F0502020204030204" pitchFamily="34" charset="0"/>
                        </a:rPr>
                        <a:t>RTM</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70C0"/>
                    </a:solidFill>
                  </a:tcPr>
                </a:tc>
                <a:tc>
                  <a:txBody>
                    <a:bodyPr/>
                    <a:lstStyle/>
                    <a:p>
                      <a:pPr algn="ctr" fontAlgn="ctr"/>
                      <a:r>
                        <a:rPr lang="en-US" sz="1100" b="0" i="0" u="none" strike="noStrike">
                          <a:solidFill>
                            <a:srgbClr val="FFFFFF"/>
                          </a:solidFill>
                          <a:effectLst/>
                          <a:latin typeface="Calibri" panose="020F0502020204030204" pitchFamily="34" charset="0"/>
                        </a:rPr>
                        <a:t>S&amp;D Revenue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Gross Cost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O</a:t>
                      </a:r>
                      <a:r>
                        <a:rPr lang="en-US" altLang="zh-CN" sz="1100" b="0" i="0" u="none" strike="noStrike">
                          <a:solidFill>
                            <a:srgbClr val="FFFFFF"/>
                          </a:solidFill>
                          <a:effectLst/>
                          <a:latin typeface="Calibri" panose="020F0502020204030204" pitchFamily="34" charset="0"/>
                        </a:rPr>
                        <a:t>ther bucket</a:t>
                      </a:r>
                      <a:endParaRPr lang="en-US" sz="1100" b="0" i="0" u="none" strike="noStrike">
                        <a:solidFill>
                          <a:srgbClr val="FFFFFF"/>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extLst>
                  <a:ext uri="{0D108BD9-81ED-4DB2-BD59-A6C34878D82A}">
                    <a16:rowId xmlns:a16="http://schemas.microsoft.com/office/drawing/2014/main" val="3918860133"/>
                  </a:ext>
                </a:extLst>
              </a:tr>
              <a:tr h="117892">
                <a:tc>
                  <a:txBody>
                    <a:bodyPr/>
                    <a:lstStyle/>
                    <a:p>
                      <a:pPr algn="ctr" fontAlgn="ct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EAAS-FL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1231858381</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4238022555</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L0US20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FF0000"/>
                          </a:solidFill>
                          <a:effectLst/>
                          <a:latin typeface="Calibri" panose="020F0502020204030204" pitchFamily="34" charset="0"/>
                        </a:rPr>
                        <a:t>PA*****</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900" b="0" i="0" u="none" strike="noStrike">
                        <a:solidFill>
                          <a:srgbClr val="FF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B0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21</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DIRECT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1100" b="0" i="0" u="none" strike="noStrike">
                          <a:solidFill>
                            <a:srgbClr val="000000"/>
                          </a:solidFill>
                          <a:effectLst/>
                          <a:latin typeface="Calibri" panose="020F0502020204030204" pitchFamily="34" charset="0"/>
                        </a:rPr>
                        <a:t>89.75</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1100" b="0" i="0" u="none" strike="noStrike">
                          <a:solidFill>
                            <a:srgbClr val="000000"/>
                          </a:solidFill>
                          <a:effectLst/>
                          <a:latin typeface="Calibri" panose="020F0502020204030204" pitchFamily="34" charset="0"/>
                        </a:rPr>
                        <a:t>77.50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11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1565794210"/>
                  </a:ext>
                </a:extLst>
              </a:tr>
              <a:tr h="190841">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NONALLO_EL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1231858382</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L0US20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B0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INDIRECT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1203206619"/>
                  </a:ext>
                </a:extLst>
              </a:tr>
              <a:tr h="190841">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NONALLO_EL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1231858383</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L0US20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GA</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INDIRECT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20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3481743662"/>
                  </a:ext>
                </a:extLst>
              </a:tr>
              <a:tr h="190841">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NONALLO_EL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1231858384</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L0US20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INDIRECT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30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3159258941"/>
                  </a:ext>
                </a:extLst>
              </a:tr>
            </a:tbl>
          </a:graphicData>
        </a:graphic>
      </p:graphicFrame>
      <p:sp>
        <p:nvSpPr>
          <p:cNvPr id="12" name="矩形 24">
            <a:extLst>
              <a:ext uri="{FF2B5EF4-FFF2-40B4-BE49-F238E27FC236}">
                <a16:creationId xmlns:a16="http://schemas.microsoft.com/office/drawing/2014/main" id="{487E2B2B-5045-C842-1D64-0EF1369083A6}"/>
              </a:ext>
            </a:extLst>
          </p:cNvPr>
          <p:cNvSpPr/>
          <p:nvPr/>
        </p:nvSpPr>
        <p:spPr>
          <a:xfrm>
            <a:off x="8460167" y="1415413"/>
            <a:ext cx="1175151" cy="1053217"/>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cxnSp>
        <p:nvCxnSpPr>
          <p:cNvPr id="14" name="Connector: Elbow 13">
            <a:extLst>
              <a:ext uri="{FF2B5EF4-FFF2-40B4-BE49-F238E27FC236}">
                <a16:creationId xmlns:a16="http://schemas.microsoft.com/office/drawing/2014/main" id="{FD45A445-D8B9-F951-7E88-C0BCB517F212}"/>
              </a:ext>
            </a:extLst>
          </p:cNvPr>
          <p:cNvCxnSpPr>
            <a:cxnSpLocks/>
            <a:stCxn id="12" idx="2"/>
            <a:endCxn id="15" idx="0"/>
          </p:cNvCxnSpPr>
          <p:nvPr/>
        </p:nvCxnSpPr>
        <p:spPr>
          <a:xfrm rot="5400000">
            <a:off x="7405563" y="1212224"/>
            <a:ext cx="385775" cy="2898587"/>
          </a:xfrm>
          <a:prstGeom prst="bentConnector3">
            <a:avLst>
              <a:gd name="adj1" fmla="val 50000"/>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5" name="矩形 24">
            <a:extLst>
              <a:ext uri="{FF2B5EF4-FFF2-40B4-BE49-F238E27FC236}">
                <a16:creationId xmlns:a16="http://schemas.microsoft.com/office/drawing/2014/main" id="{74B8872D-47BD-50FA-D845-D6E10103B40B}"/>
              </a:ext>
            </a:extLst>
          </p:cNvPr>
          <p:cNvSpPr/>
          <p:nvPr/>
        </p:nvSpPr>
        <p:spPr>
          <a:xfrm>
            <a:off x="5140191" y="2854405"/>
            <a:ext cx="2017929" cy="648001"/>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sp>
        <p:nvSpPr>
          <p:cNvPr id="41" name="Marvin tracker circle">
            <a:extLst>
              <a:ext uri="{FF2B5EF4-FFF2-40B4-BE49-F238E27FC236}">
                <a16:creationId xmlns:a16="http://schemas.microsoft.com/office/drawing/2014/main" id="{EA6200C7-D390-0E66-188E-3C19402ED69A}"/>
              </a:ext>
            </a:extLst>
          </p:cNvPr>
          <p:cNvSpPr>
            <a:spLocks/>
          </p:cNvSpPr>
          <p:nvPr/>
        </p:nvSpPr>
        <p:spPr>
          <a:xfrm>
            <a:off x="5239903" y="2725020"/>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2</a:t>
            </a:r>
          </a:p>
        </p:txBody>
      </p:sp>
      <p:sp>
        <p:nvSpPr>
          <p:cNvPr id="52" name="Marvin tracker circle">
            <a:extLst>
              <a:ext uri="{FF2B5EF4-FFF2-40B4-BE49-F238E27FC236}">
                <a16:creationId xmlns:a16="http://schemas.microsoft.com/office/drawing/2014/main" id="{93364B2A-3C5C-50F4-14C0-5D1535F7D4B8}"/>
              </a:ext>
            </a:extLst>
          </p:cNvPr>
          <p:cNvSpPr>
            <a:spLocks/>
          </p:cNvSpPr>
          <p:nvPr/>
        </p:nvSpPr>
        <p:spPr>
          <a:xfrm>
            <a:off x="5862593" y="2725020"/>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1</a:t>
            </a:r>
          </a:p>
        </p:txBody>
      </p:sp>
      <p:sp>
        <p:nvSpPr>
          <p:cNvPr id="53" name="矩形 24">
            <a:extLst>
              <a:ext uri="{FF2B5EF4-FFF2-40B4-BE49-F238E27FC236}">
                <a16:creationId xmlns:a16="http://schemas.microsoft.com/office/drawing/2014/main" id="{23460036-0CE1-99CD-A2E7-F71335FC926D}"/>
              </a:ext>
            </a:extLst>
          </p:cNvPr>
          <p:cNvSpPr/>
          <p:nvPr/>
        </p:nvSpPr>
        <p:spPr>
          <a:xfrm>
            <a:off x="9635318" y="1393187"/>
            <a:ext cx="703819" cy="1053217"/>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cxnSp>
        <p:nvCxnSpPr>
          <p:cNvPr id="56" name="Connector: Elbow 55">
            <a:extLst>
              <a:ext uri="{FF2B5EF4-FFF2-40B4-BE49-F238E27FC236}">
                <a16:creationId xmlns:a16="http://schemas.microsoft.com/office/drawing/2014/main" id="{ED100FD7-7229-449F-EBD8-43961C579FC7}"/>
              </a:ext>
            </a:extLst>
          </p:cNvPr>
          <p:cNvCxnSpPr>
            <a:cxnSpLocks/>
            <a:stCxn id="53" idx="2"/>
            <a:endCxn id="59" idx="0"/>
          </p:cNvCxnSpPr>
          <p:nvPr/>
        </p:nvCxnSpPr>
        <p:spPr>
          <a:xfrm rot="5400000">
            <a:off x="9242231" y="2094107"/>
            <a:ext cx="392701" cy="1097295"/>
          </a:xfrm>
          <a:prstGeom prst="bentConnector3">
            <a:avLst>
              <a:gd name="adj1" fmla="val 50000"/>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59" name="矩形 24">
            <a:extLst>
              <a:ext uri="{FF2B5EF4-FFF2-40B4-BE49-F238E27FC236}">
                <a16:creationId xmlns:a16="http://schemas.microsoft.com/office/drawing/2014/main" id="{27A7AE13-C935-7A39-181A-93F4D197AB2A}"/>
              </a:ext>
            </a:extLst>
          </p:cNvPr>
          <p:cNvSpPr/>
          <p:nvPr/>
        </p:nvSpPr>
        <p:spPr>
          <a:xfrm>
            <a:off x="8544425" y="2839105"/>
            <a:ext cx="691015" cy="648000"/>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sp>
        <p:nvSpPr>
          <p:cNvPr id="22" name="Marvin tracker circle">
            <a:extLst>
              <a:ext uri="{FF2B5EF4-FFF2-40B4-BE49-F238E27FC236}">
                <a16:creationId xmlns:a16="http://schemas.microsoft.com/office/drawing/2014/main" id="{5C67B679-F49C-C46C-C2F6-407A584669AC}"/>
              </a:ext>
            </a:extLst>
          </p:cNvPr>
          <p:cNvSpPr>
            <a:spLocks/>
          </p:cNvSpPr>
          <p:nvPr/>
        </p:nvSpPr>
        <p:spPr>
          <a:xfrm>
            <a:off x="7168060" y="4201598"/>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3</a:t>
            </a:r>
          </a:p>
        </p:txBody>
      </p:sp>
      <p:sp>
        <p:nvSpPr>
          <p:cNvPr id="23" name="TextBox 22">
            <a:extLst>
              <a:ext uri="{FF2B5EF4-FFF2-40B4-BE49-F238E27FC236}">
                <a16:creationId xmlns:a16="http://schemas.microsoft.com/office/drawing/2014/main" id="{04ED0E92-4D26-129A-54FD-CC3EF66E2399}"/>
              </a:ext>
            </a:extLst>
          </p:cNvPr>
          <p:cNvSpPr txBox="1"/>
          <p:nvPr/>
        </p:nvSpPr>
        <p:spPr>
          <a:xfrm>
            <a:off x="7348060" y="4166798"/>
            <a:ext cx="4029422" cy="55399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Refreshed L2 ID Logic: -- keep as is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Follow normal CSRE logic:  Determined and refreshed  based on Refreshed L3 DMU</a:t>
            </a:r>
          </a:p>
        </p:txBody>
      </p:sp>
      <p:sp>
        <p:nvSpPr>
          <p:cNvPr id="11" name="Marvin tracker circle">
            <a:extLst>
              <a:ext uri="{FF2B5EF4-FFF2-40B4-BE49-F238E27FC236}">
                <a16:creationId xmlns:a16="http://schemas.microsoft.com/office/drawing/2014/main" id="{F7B594C8-26BC-C5A4-264D-00C468480953}"/>
              </a:ext>
            </a:extLst>
          </p:cNvPr>
          <p:cNvSpPr>
            <a:spLocks/>
          </p:cNvSpPr>
          <p:nvPr/>
        </p:nvSpPr>
        <p:spPr>
          <a:xfrm>
            <a:off x="370756" y="5415485"/>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2</a:t>
            </a:r>
          </a:p>
        </p:txBody>
      </p:sp>
      <p:sp>
        <p:nvSpPr>
          <p:cNvPr id="16" name="Marvin tracker circle">
            <a:extLst>
              <a:ext uri="{FF2B5EF4-FFF2-40B4-BE49-F238E27FC236}">
                <a16:creationId xmlns:a16="http://schemas.microsoft.com/office/drawing/2014/main" id="{5D708CB5-7685-4DEE-3670-15A5453142E3}"/>
              </a:ext>
            </a:extLst>
          </p:cNvPr>
          <p:cNvSpPr>
            <a:spLocks/>
          </p:cNvSpPr>
          <p:nvPr/>
        </p:nvSpPr>
        <p:spPr>
          <a:xfrm>
            <a:off x="6628707" y="2754895"/>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3</a:t>
            </a:r>
          </a:p>
        </p:txBody>
      </p:sp>
      <p:sp>
        <p:nvSpPr>
          <p:cNvPr id="9" name="Marvin tracker circle">
            <a:extLst>
              <a:ext uri="{FF2B5EF4-FFF2-40B4-BE49-F238E27FC236}">
                <a16:creationId xmlns:a16="http://schemas.microsoft.com/office/drawing/2014/main" id="{EA2276B0-8F62-7F2B-3C14-C58097F25D36}"/>
              </a:ext>
            </a:extLst>
          </p:cNvPr>
          <p:cNvSpPr>
            <a:spLocks/>
          </p:cNvSpPr>
          <p:nvPr/>
        </p:nvSpPr>
        <p:spPr>
          <a:xfrm>
            <a:off x="8581515" y="2745771"/>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4</a:t>
            </a:r>
          </a:p>
        </p:txBody>
      </p:sp>
      <p:sp>
        <p:nvSpPr>
          <p:cNvPr id="17" name="TextBox 16">
            <a:extLst>
              <a:ext uri="{FF2B5EF4-FFF2-40B4-BE49-F238E27FC236}">
                <a16:creationId xmlns:a16="http://schemas.microsoft.com/office/drawing/2014/main" id="{57205FDF-84CB-CFFC-F04B-36972033701C}"/>
              </a:ext>
            </a:extLst>
          </p:cNvPr>
          <p:cNvSpPr txBox="1"/>
          <p:nvPr/>
        </p:nvSpPr>
        <p:spPr>
          <a:xfrm>
            <a:off x="7348060" y="4728961"/>
            <a:ext cx="4677096" cy="212365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Distribution Channel: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 1: Get Distribution Channel from the </a:t>
            </a:r>
            <a:r>
              <a:rPr kumimoji="0" lang="en-US" altLang="zh-CN" sz="10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table for</a:t>
            </a:r>
            <a:r>
              <a:rPr kumimoji="0" lang="zh-CN" altLang="en-US"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a:t>
            </a:r>
            <a:r>
              <a:rPr kumimoji="0" lang="en-US" altLang="zh-CN"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96*</a:t>
            </a:r>
            <a:r>
              <a:rPr kumimoji="0" lang="zh-CN" altLang="en-US"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a:t>
            </a:r>
            <a:r>
              <a:rPr kumimoji="0" lang="en-US" altLang="zh-CN"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invoice number record</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8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when user name = </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TBD</a:t>
            </a:r>
          </a:p>
          <a:p>
            <a:pPr marL="628650" marR="0" lvl="1"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Priority1: get </a:t>
            </a:r>
            <a:r>
              <a:rPr kumimoji="0" lang="en-US" altLang="zh-CN" sz="800" b="1" i="1" u="none" strike="noStrike" kern="1200" cap="none" spc="0" normalizeH="0" baseline="0" noProof="0">
                <a:ln>
                  <a:noFill/>
                </a:ln>
                <a:solidFill>
                  <a:srgbClr val="0070C0"/>
                </a:solidFill>
                <a:effectLst/>
                <a:uLnTx/>
                <a:uFillTx/>
                <a:latin typeface="Arial" pitchFamily="34" charset="0"/>
                <a:ea typeface="黑体" panose="02010609060101010101" pitchFamily="49" charset="-122"/>
                <a:cs typeface="Arial" pitchFamily="34" charset="0"/>
              </a:rPr>
              <a:t>invoice number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from S4 CDSVIEW Reference (XBLNR)/ ECC GLPCA Reference (REFDOCNR) , by invoice number get Distribution Channel from topic deliver to PAPM;</a:t>
            </a:r>
          </a:p>
          <a:p>
            <a:pPr marL="628650" marR="0" lvl="1"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Priority2: by </a:t>
            </a:r>
            <a:r>
              <a:rPr kumimoji="0" lang="en-US" altLang="zh-CN" sz="800" b="1" i="1" u="none" strike="noStrike" kern="1200" cap="none" spc="0" normalizeH="0" baseline="0" noProof="0">
                <a:ln>
                  <a:noFill/>
                </a:ln>
                <a:solidFill>
                  <a:srgbClr val="0070C0"/>
                </a:solidFill>
                <a:effectLst/>
                <a:uLnTx/>
                <a:uFillTx/>
                <a:latin typeface="Arial" pitchFamily="34" charset="0"/>
                <a:ea typeface="黑体" panose="02010609060101010101" pitchFamily="49" charset="-122"/>
                <a:cs typeface="Arial" pitchFamily="34" charset="0"/>
              </a:rPr>
              <a:t>tranche ID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from S4 CDSVIEW item text (SGTXT)/ ECC GLPCA Reference (REFDOCNR) to find Distribution Channel from topic deliver to PAPM</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Odessa: when user name in (SYS-LMS, SYSB-LMS, LMS-SPLIT),  </a:t>
            </a:r>
            <a:r>
              <a:rPr kumimoji="0" lang="en-US" altLang="zh-CN" sz="8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keep as is</a:t>
            </a:r>
          </a:p>
          <a:p>
            <a:pPr marL="628650" marR="0" lvl="1"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Get </a:t>
            </a:r>
            <a:r>
              <a:rPr kumimoji="0" lang="en-US" altLang="zh-CN" sz="800" b="1" i="1" u="none" strike="noStrike" kern="1200" cap="none" spc="0" normalizeH="0" baseline="0" noProof="0">
                <a:ln>
                  <a:noFill/>
                </a:ln>
                <a:solidFill>
                  <a:srgbClr val="0070C0"/>
                </a:solidFill>
                <a:effectLst/>
                <a:uLnTx/>
                <a:uFillTx/>
                <a:latin typeface="Arial" pitchFamily="34" charset="0"/>
                <a:ea typeface="黑体" panose="02010609060101010101" pitchFamily="49" charset="-122"/>
                <a:cs typeface="Arial" pitchFamily="34" charset="0"/>
              </a:rPr>
              <a:t>tranche ID </a:t>
            </a:r>
            <a:r>
              <a:rPr kumimoji="0" lang="en-US" altLang="zh-CN" sz="800" b="0"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from CDSVIEW item text (SGTXT), to find Distribution Channel from topic deliver to PAPM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 2: if there’s SO in ledger booked, get distribution channel for this sales order – keep as is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Priority 3: default as 21 – keep as is</a:t>
            </a:r>
          </a:p>
        </p:txBody>
      </p:sp>
      <p:sp>
        <p:nvSpPr>
          <p:cNvPr id="18" name="Marvin tracker circle">
            <a:extLst>
              <a:ext uri="{FF2B5EF4-FFF2-40B4-BE49-F238E27FC236}">
                <a16:creationId xmlns:a16="http://schemas.microsoft.com/office/drawing/2014/main" id="{BF2E8D56-BF2F-69E9-0875-780ED84DF0FF}"/>
              </a:ext>
            </a:extLst>
          </p:cNvPr>
          <p:cNvSpPr>
            <a:spLocks/>
          </p:cNvSpPr>
          <p:nvPr/>
        </p:nvSpPr>
        <p:spPr>
          <a:xfrm>
            <a:off x="7133330" y="4759304"/>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4</a:t>
            </a:r>
          </a:p>
        </p:txBody>
      </p:sp>
      <p:sp>
        <p:nvSpPr>
          <p:cNvPr id="3" name="Content Placeholder 5">
            <a:extLst>
              <a:ext uri="{FF2B5EF4-FFF2-40B4-BE49-F238E27FC236}">
                <a16:creationId xmlns:a16="http://schemas.microsoft.com/office/drawing/2014/main" id="{958CBB5C-A8A3-7B82-74B2-788D81B94B1A}"/>
              </a:ext>
            </a:extLst>
          </p:cNvPr>
          <p:cNvSpPr txBox="1">
            <a:spLocks/>
          </p:cNvSpPr>
          <p:nvPr/>
        </p:nvSpPr>
        <p:spPr bwMode="gray">
          <a:xfrm>
            <a:off x="10519458" y="257880"/>
            <a:ext cx="727662" cy="222279"/>
          </a:xfrm>
          <a:prstGeom prst="rect">
            <a:avLst/>
          </a:prstGeom>
          <a:noFill/>
          <a:ln w="28575">
            <a:solidFill>
              <a:srgbClr val="00B050"/>
            </a:solidFill>
            <a:prstDash val="sysDash"/>
          </a:ln>
        </p:spPr>
        <p:txBody>
          <a:bodyPr lIns="0" tIns="0" rIns="0" bIns="0" anchor="ctr"/>
          <a:lstStyle>
            <a:lvl1pPr marL="171348" indent="-171348" algn="l" defTabSz="1218255" rtl="0" eaLnBrk="1" latinLnBrk="0" hangingPunct="1">
              <a:lnSpc>
                <a:spcPct val="90000"/>
              </a:lnSpc>
              <a:spcBef>
                <a:spcPts val="1000"/>
              </a:spcBef>
              <a:buClrTx/>
              <a:buFont typeface="Arial" panose="020B0604020202020204" pitchFamily="34" charset="0"/>
              <a:buChar char="•"/>
              <a:defRPr sz="1998" kern="1200">
                <a:solidFill>
                  <a:schemeClr val="tx1"/>
                </a:solidFill>
                <a:latin typeface="Arial" pitchFamily="34" charset="0"/>
                <a:ea typeface="+mn-ea"/>
                <a:cs typeface="Arial" pitchFamily="34" charset="0"/>
              </a:defRPr>
            </a:lvl1pPr>
            <a:lvl2pPr marL="609127" indent="-228422" algn="l" defTabSz="1218255" rtl="0" eaLnBrk="1" latinLnBrk="0" hangingPunct="1">
              <a:lnSpc>
                <a:spcPct val="90000"/>
              </a:lnSpc>
              <a:spcBef>
                <a:spcPts val="500"/>
              </a:spcBef>
              <a:buClrTx/>
              <a:buFont typeface="Arial" pitchFamily="34" charset="0"/>
              <a:buChar char="–"/>
              <a:defRPr sz="1798" kern="1200">
                <a:solidFill>
                  <a:schemeClr val="tx1"/>
                </a:solidFill>
                <a:latin typeface="Arial" pitchFamily="34" charset="0"/>
                <a:ea typeface="+mn-ea"/>
                <a:cs typeface="Arial" pitchFamily="34" charset="0"/>
              </a:defRPr>
            </a:lvl2pPr>
            <a:lvl3pPr marL="835436"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3pPr>
            <a:lvl4pPr marL="1146345" indent="-156512"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4pPr>
            <a:lvl5pPr marL="1444564"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5pPr>
            <a:lvl6pPr marL="3350202"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6pPr>
            <a:lvl7pPr marL="3959330"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7pPr>
            <a:lvl8pPr marL="4568458"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8pPr>
            <a:lvl9pPr marL="5177585"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9pPr>
          </a:lstStyle>
          <a:p>
            <a:pPr marL="0" marR="0" lvl="0" indent="0" algn="ctr" defTabSz="1217525"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srgbClr val="000000"/>
              </a:solidFill>
              <a:effectLst/>
              <a:uLnTx/>
              <a:uFillTx/>
              <a:latin typeface="Arial"/>
              <a:ea typeface="+mn-ea"/>
              <a:cs typeface="Segoe UI" panose="020B0502040204020203" pitchFamily="34" charset="0"/>
            </a:endParaRPr>
          </a:p>
        </p:txBody>
      </p:sp>
      <p:sp>
        <p:nvSpPr>
          <p:cNvPr id="5" name="Content Placeholder 5">
            <a:extLst>
              <a:ext uri="{FF2B5EF4-FFF2-40B4-BE49-F238E27FC236}">
                <a16:creationId xmlns:a16="http://schemas.microsoft.com/office/drawing/2014/main" id="{18870ED7-0D00-ABD4-9E97-1213ACC05933}"/>
              </a:ext>
            </a:extLst>
          </p:cNvPr>
          <p:cNvSpPr txBox="1">
            <a:spLocks/>
          </p:cNvSpPr>
          <p:nvPr/>
        </p:nvSpPr>
        <p:spPr bwMode="gray">
          <a:xfrm>
            <a:off x="11325654" y="265322"/>
            <a:ext cx="727662" cy="222279"/>
          </a:xfrm>
          <a:prstGeom prst="rect">
            <a:avLst/>
          </a:prstGeom>
          <a:noFill/>
          <a:ln w="28575">
            <a:noFill/>
            <a:prstDash val="sysDash"/>
          </a:ln>
        </p:spPr>
        <p:txBody>
          <a:bodyPr lIns="0" tIns="0" rIns="0" bIns="0" anchor="ctr"/>
          <a:lstStyle>
            <a:lvl1pPr marL="171348" indent="-171348" algn="l" defTabSz="1218255" rtl="0" eaLnBrk="1" latinLnBrk="0" hangingPunct="1">
              <a:lnSpc>
                <a:spcPct val="90000"/>
              </a:lnSpc>
              <a:spcBef>
                <a:spcPts val="1000"/>
              </a:spcBef>
              <a:buClrTx/>
              <a:buFont typeface="Arial" panose="020B0604020202020204" pitchFamily="34" charset="0"/>
              <a:buChar char="•"/>
              <a:defRPr sz="1998" kern="1200">
                <a:solidFill>
                  <a:schemeClr val="tx1"/>
                </a:solidFill>
                <a:latin typeface="Arial" pitchFamily="34" charset="0"/>
                <a:ea typeface="+mn-ea"/>
                <a:cs typeface="Arial" pitchFamily="34" charset="0"/>
              </a:defRPr>
            </a:lvl1pPr>
            <a:lvl2pPr marL="609127" indent="-228422" algn="l" defTabSz="1218255" rtl="0" eaLnBrk="1" latinLnBrk="0" hangingPunct="1">
              <a:lnSpc>
                <a:spcPct val="90000"/>
              </a:lnSpc>
              <a:spcBef>
                <a:spcPts val="500"/>
              </a:spcBef>
              <a:buClrTx/>
              <a:buFont typeface="Arial" pitchFamily="34" charset="0"/>
              <a:buChar char="–"/>
              <a:defRPr sz="1798" kern="1200">
                <a:solidFill>
                  <a:schemeClr val="tx1"/>
                </a:solidFill>
                <a:latin typeface="Arial" pitchFamily="34" charset="0"/>
                <a:ea typeface="+mn-ea"/>
                <a:cs typeface="Arial" pitchFamily="34" charset="0"/>
              </a:defRPr>
            </a:lvl2pPr>
            <a:lvl3pPr marL="835436"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3pPr>
            <a:lvl4pPr marL="1146345" indent="-156512"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4pPr>
            <a:lvl5pPr marL="1444564"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5pPr>
            <a:lvl6pPr marL="3350202"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6pPr>
            <a:lvl7pPr marL="3959330"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7pPr>
            <a:lvl8pPr marL="4568458"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8pPr>
            <a:lvl9pPr marL="5177585"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9pPr>
          </a:lstStyle>
          <a:p>
            <a:pPr marL="0" marR="0" lvl="0" indent="0" algn="ctr" defTabSz="1217525"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000000"/>
                </a:solidFill>
                <a:effectLst/>
                <a:uLnTx/>
                <a:uFillTx/>
                <a:latin typeface="Arial"/>
                <a:ea typeface="+mn-ea"/>
                <a:cs typeface="Segoe UI" panose="020B0502040204020203" pitchFamily="34" charset="0"/>
              </a:rPr>
              <a:t>Change</a:t>
            </a:r>
          </a:p>
        </p:txBody>
      </p:sp>
      <p:sp>
        <p:nvSpPr>
          <p:cNvPr id="8" name="Content Placeholder 5">
            <a:extLst>
              <a:ext uri="{FF2B5EF4-FFF2-40B4-BE49-F238E27FC236}">
                <a16:creationId xmlns:a16="http://schemas.microsoft.com/office/drawing/2014/main" id="{04B1B8D5-7EFC-2C93-2C7A-87A83AE489C0}"/>
              </a:ext>
            </a:extLst>
          </p:cNvPr>
          <p:cNvSpPr txBox="1">
            <a:spLocks/>
          </p:cNvSpPr>
          <p:nvPr/>
        </p:nvSpPr>
        <p:spPr bwMode="gray">
          <a:xfrm>
            <a:off x="2082189" y="4449631"/>
            <a:ext cx="564318" cy="148185"/>
          </a:xfrm>
          <a:prstGeom prst="rect">
            <a:avLst/>
          </a:prstGeom>
          <a:noFill/>
          <a:ln w="28575">
            <a:solidFill>
              <a:srgbClr val="00B050"/>
            </a:solidFill>
            <a:prstDash val="sysDash"/>
          </a:ln>
        </p:spPr>
        <p:txBody>
          <a:bodyPr lIns="0" tIns="0" rIns="0" bIns="0" anchor="ctr"/>
          <a:lstStyle>
            <a:lvl1pPr marL="171348" indent="-171348" algn="l" defTabSz="1218255" rtl="0" eaLnBrk="1" latinLnBrk="0" hangingPunct="1">
              <a:lnSpc>
                <a:spcPct val="90000"/>
              </a:lnSpc>
              <a:spcBef>
                <a:spcPts val="1000"/>
              </a:spcBef>
              <a:buClrTx/>
              <a:buFont typeface="Arial" panose="020B0604020202020204" pitchFamily="34" charset="0"/>
              <a:buChar char="•"/>
              <a:defRPr sz="1998" kern="1200">
                <a:solidFill>
                  <a:schemeClr val="tx1"/>
                </a:solidFill>
                <a:latin typeface="Arial" pitchFamily="34" charset="0"/>
                <a:ea typeface="+mn-ea"/>
                <a:cs typeface="Arial" pitchFamily="34" charset="0"/>
              </a:defRPr>
            </a:lvl1pPr>
            <a:lvl2pPr marL="609127" indent="-228422" algn="l" defTabSz="1218255" rtl="0" eaLnBrk="1" latinLnBrk="0" hangingPunct="1">
              <a:lnSpc>
                <a:spcPct val="90000"/>
              </a:lnSpc>
              <a:spcBef>
                <a:spcPts val="500"/>
              </a:spcBef>
              <a:buClrTx/>
              <a:buFont typeface="Arial" pitchFamily="34" charset="0"/>
              <a:buChar char="–"/>
              <a:defRPr sz="1798" kern="1200">
                <a:solidFill>
                  <a:schemeClr val="tx1"/>
                </a:solidFill>
                <a:latin typeface="Arial" pitchFamily="34" charset="0"/>
                <a:ea typeface="+mn-ea"/>
                <a:cs typeface="Arial" pitchFamily="34" charset="0"/>
              </a:defRPr>
            </a:lvl2pPr>
            <a:lvl3pPr marL="835436"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3pPr>
            <a:lvl4pPr marL="1146345" indent="-156512"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4pPr>
            <a:lvl5pPr marL="1444564"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5pPr>
            <a:lvl6pPr marL="3350202"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6pPr>
            <a:lvl7pPr marL="3959330"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7pPr>
            <a:lvl8pPr marL="4568458"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8pPr>
            <a:lvl9pPr marL="5177585"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9pPr>
          </a:lstStyle>
          <a:p>
            <a:pPr marL="0" marR="0" lvl="0" indent="0" algn="ctr" defTabSz="1217525"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srgbClr val="000000"/>
              </a:solidFill>
              <a:effectLst/>
              <a:uLnTx/>
              <a:uFillTx/>
              <a:latin typeface="Arial"/>
              <a:ea typeface="+mn-ea"/>
              <a:cs typeface="Segoe UI" panose="020B0502040204020203" pitchFamily="34" charset="0"/>
            </a:endParaRPr>
          </a:p>
        </p:txBody>
      </p:sp>
      <p:sp>
        <p:nvSpPr>
          <p:cNvPr id="13" name="Content Placeholder 5">
            <a:extLst>
              <a:ext uri="{FF2B5EF4-FFF2-40B4-BE49-F238E27FC236}">
                <a16:creationId xmlns:a16="http://schemas.microsoft.com/office/drawing/2014/main" id="{D267606B-C4C8-D15B-2D59-7BC7782FE275}"/>
              </a:ext>
            </a:extLst>
          </p:cNvPr>
          <p:cNvSpPr txBox="1">
            <a:spLocks/>
          </p:cNvSpPr>
          <p:nvPr/>
        </p:nvSpPr>
        <p:spPr bwMode="gray">
          <a:xfrm>
            <a:off x="2061696" y="5661211"/>
            <a:ext cx="564318" cy="148185"/>
          </a:xfrm>
          <a:prstGeom prst="rect">
            <a:avLst/>
          </a:prstGeom>
          <a:noFill/>
          <a:ln w="28575">
            <a:solidFill>
              <a:srgbClr val="00B050"/>
            </a:solidFill>
            <a:prstDash val="sysDash"/>
          </a:ln>
        </p:spPr>
        <p:txBody>
          <a:bodyPr lIns="0" tIns="0" rIns="0" bIns="0" anchor="ctr"/>
          <a:lstStyle>
            <a:lvl1pPr marL="171348" indent="-171348" algn="l" defTabSz="1218255" rtl="0" eaLnBrk="1" latinLnBrk="0" hangingPunct="1">
              <a:lnSpc>
                <a:spcPct val="90000"/>
              </a:lnSpc>
              <a:spcBef>
                <a:spcPts val="1000"/>
              </a:spcBef>
              <a:buClrTx/>
              <a:buFont typeface="Arial" panose="020B0604020202020204" pitchFamily="34" charset="0"/>
              <a:buChar char="•"/>
              <a:defRPr sz="1998" kern="1200">
                <a:solidFill>
                  <a:schemeClr val="tx1"/>
                </a:solidFill>
                <a:latin typeface="Arial" pitchFamily="34" charset="0"/>
                <a:ea typeface="+mn-ea"/>
                <a:cs typeface="Arial" pitchFamily="34" charset="0"/>
              </a:defRPr>
            </a:lvl1pPr>
            <a:lvl2pPr marL="609127" indent="-228422" algn="l" defTabSz="1218255" rtl="0" eaLnBrk="1" latinLnBrk="0" hangingPunct="1">
              <a:lnSpc>
                <a:spcPct val="90000"/>
              </a:lnSpc>
              <a:spcBef>
                <a:spcPts val="500"/>
              </a:spcBef>
              <a:buClrTx/>
              <a:buFont typeface="Arial" pitchFamily="34" charset="0"/>
              <a:buChar char="–"/>
              <a:defRPr sz="1798" kern="1200">
                <a:solidFill>
                  <a:schemeClr val="tx1"/>
                </a:solidFill>
                <a:latin typeface="Arial" pitchFamily="34" charset="0"/>
                <a:ea typeface="+mn-ea"/>
                <a:cs typeface="Arial" pitchFamily="34" charset="0"/>
              </a:defRPr>
            </a:lvl2pPr>
            <a:lvl3pPr marL="835436"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3pPr>
            <a:lvl4pPr marL="1146345" indent="-156512"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4pPr>
            <a:lvl5pPr marL="1444564"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5pPr>
            <a:lvl6pPr marL="3350202"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6pPr>
            <a:lvl7pPr marL="3959330"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7pPr>
            <a:lvl8pPr marL="4568458"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8pPr>
            <a:lvl9pPr marL="5177585"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9pPr>
          </a:lstStyle>
          <a:p>
            <a:pPr marL="0" marR="0" lvl="0" indent="0" algn="ctr" defTabSz="1217525"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srgbClr val="000000"/>
              </a:solidFill>
              <a:effectLst/>
              <a:uLnTx/>
              <a:uFillTx/>
              <a:latin typeface="Arial"/>
              <a:ea typeface="+mn-ea"/>
              <a:cs typeface="Segoe UI" panose="020B0502040204020203" pitchFamily="34" charset="0"/>
            </a:endParaRPr>
          </a:p>
        </p:txBody>
      </p:sp>
      <p:sp>
        <p:nvSpPr>
          <p:cNvPr id="20" name="Content Placeholder 5">
            <a:extLst>
              <a:ext uri="{FF2B5EF4-FFF2-40B4-BE49-F238E27FC236}">
                <a16:creationId xmlns:a16="http://schemas.microsoft.com/office/drawing/2014/main" id="{360758DF-0C30-3550-2A49-243EEBCE1256}"/>
              </a:ext>
            </a:extLst>
          </p:cNvPr>
          <p:cNvSpPr txBox="1">
            <a:spLocks/>
          </p:cNvSpPr>
          <p:nvPr/>
        </p:nvSpPr>
        <p:spPr bwMode="gray">
          <a:xfrm>
            <a:off x="8798453" y="5219541"/>
            <a:ext cx="564318" cy="148185"/>
          </a:xfrm>
          <a:prstGeom prst="rect">
            <a:avLst/>
          </a:prstGeom>
          <a:noFill/>
          <a:ln w="28575">
            <a:solidFill>
              <a:srgbClr val="00B050"/>
            </a:solidFill>
            <a:prstDash val="sysDash"/>
          </a:ln>
        </p:spPr>
        <p:txBody>
          <a:bodyPr lIns="0" tIns="0" rIns="0" bIns="0" anchor="ctr"/>
          <a:lstStyle>
            <a:lvl1pPr marL="171348" indent="-171348" algn="l" defTabSz="1218255" rtl="0" eaLnBrk="1" latinLnBrk="0" hangingPunct="1">
              <a:lnSpc>
                <a:spcPct val="90000"/>
              </a:lnSpc>
              <a:spcBef>
                <a:spcPts val="1000"/>
              </a:spcBef>
              <a:buClrTx/>
              <a:buFont typeface="Arial" panose="020B0604020202020204" pitchFamily="34" charset="0"/>
              <a:buChar char="•"/>
              <a:defRPr sz="1998" kern="1200">
                <a:solidFill>
                  <a:schemeClr val="tx1"/>
                </a:solidFill>
                <a:latin typeface="Arial" pitchFamily="34" charset="0"/>
                <a:ea typeface="+mn-ea"/>
                <a:cs typeface="Arial" pitchFamily="34" charset="0"/>
              </a:defRPr>
            </a:lvl1pPr>
            <a:lvl2pPr marL="609127" indent="-228422" algn="l" defTabSz="1218255" rtl="0" eaLnBrk="1" latinLnBrk="0" hangingPunct="1">
              <a:lnSpc>
                <a:spcPct val="90000"/>
              </a:lnSpc>
              <a:spcBef>
                <a:spcPts val="500"/>
              </a:spcBef>
              <a:buClrTx/>
              <a:buFont typeface="Arial" pitchFamily="34" charset="0"/>
              <a:buChar char="–"/>
              <a:defRPr sz="1798" kern="1200">
                <a:solidFill>
                  <a:schemeClr val="tx1"/>
                </a:solidFill>
                <a:latin typeface="Arial" pitchFamily="34" charset="0"/>
                <a:ea typeface="+mn-ea"/>
                <a:cs typeface="Arial" pitchFamily="34" charset="0"/>
              </a:defRPr>
            </a:lvl2pPr>
            <a:lvl3pPr marL="835436"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3pPr>
            <a:lvl4pPr marL="1146345" indent="-156512"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4pPr>
            <a:lvl5pPr marL="1444564" indent="-150168" algn="l" defTabSz="1218255" rtl="0" eaLnBrk="1" latinLnBrk="0" hangingPunct="1">
              <a:lnSpc>
                <a:spcPct val="90000"/>
              </a:lnSpc>
              <a:spcBef>
                <a:spcPts val="500"/>
              </a:spcBef>
              <a:buClrTx/>
              <a:buFont typeface="Arial" panose="020B0604020202020204" pitchFamily="34" charset="0"/>
              <a:buChar char="-"/>
              <a:defRPr sz="1798" kern="1200">
                <a:solidFill>
                  <a:schemeClr val="tx1"/>
                </a:solidFill>
                <a:latin typeface="Arial" pitchFamily="34" charset="0"/>
                <a:ea typeface="+mn-ea"/>
                <a:cs typeface="Arial" pitchFamily="34" charset="0"/>
              </a:defRPr>
            </a:lvl5pPr>
            <a:lvl6pPr marL="3350202"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6pPr>
            <a:lvl7pPr marL="3959330"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7pPr>
            <a:lvl8pPr marL="4568458"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8pPr>
            <a:lvl9pPr marL="5177585" indent="-304565" algn="l" defTabSz="1218255" rtl="0" eaLnBrk="1" latinLnBrk="0" hangingPunct="1">
              <a:spcBef>
                <a:spcPct val="20000"/>
              </a:spcBef>
              <a:buFont typeface="Arial" pitchFamily="34" charset="0"/>
              <a:buChar char="•"/>
              <a:defRPr sz="2398" kern="1200">
                <a:solidFill>
                  <a:schemeClr val="tx1"/>
                </a:solidFill>
                <a:latin typeface="+mn-lt"/>
                <a:ea typeface="+mn-ea"/>
                <a:cs typeface="+mn-cs"/>
              </a:defRPr>
            </a:lvl9pPr>
          </a:lstStyle>
          <a:p>
            <a:pPr marL="0" marR="0" lvl="0" indent="0" algn="ctr" defTabSz="1217525"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srgbClr val="000000"/>
              </a:solidFill>
              <a:effectLst/>
              <a:uLnTx/>
              <a:uFillTx/>
              <a:latin typeface="Arial"/>
              <a:ea typeface="+mn-ea"/>
              <a:cs typeface="Segoe UI" panose="020B0502040204020203" pitchFamily="34" charset="0"/>
            </a:endParaRPr>
          </a:p>
        </p:txBody>
      </p:sp>
    </p:spTree>
    <p:extLst>
      <p:ext uri="{BB962C8B-B14F-4D97-AF65-F5344CB8AC3E}">
        <p14:creationId xmlns:p14="http://schemas.microsoft.com/office/powerpoint/2010/main" val="1177385268"/>
      </p:ext>
    </p:extLst>
  </p:cSld>
  <p:clrMapOvr>
    <a:masterClrMapping/>
  </p:clrMapOvr>
  <p:transition spd="med"/>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8CF305-CC7D-01F0-9A5B-1B8BD5043689}"/>
            </a:ext>
          </a:extLst>
        </p:cNvPr>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D9834C6E-1956-9C6C-E79C-07AA179FDCB7}"/>
              </a:ext>
            </a:extLst>
          </p:cNvPr>
          <p:cNvSpPr>
            <a:spLocks noGrp="1"/>
          </p:cNvSpPr>
          <p:nvPr>
            <p:ph type="sldNum" sz="quarter" idx="4"/>
          </p:nvPr>
        </p:nvSpPr>
        <p:spPr>
          <a:xfrm>
            <a:off x="11749913" y="6473952"/>
            <a:ext cx="438912" cy="155448"/>
          </a:xfrm>
          <a:prstGeom prst="rect">
            <a:avLst/>
          </a:prstGeom>
        </p:spPr>
        <p:txBody>
          <a:bodyPr vert="horz" lIns="0" tIns="0" rIns="0" bIns="0" rtlCol="0" anchor="ctr"/>
          <a:lstStyle>
            <a:defPPr>
              <a:defRPr lang="en-US"/>
            </a:defPPr>
            <a:lvl1pPr marL="0" algn="ctr" defTabSz="1218987"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181</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2" name="TextBox 41">
            <a:extLst>
              <a:ext uri="{FF2B5EF4-FFF2-40B4-BE49-F238E27FC236}">
                <a16:creationId xmlns:a16="http://schemas.microsoft.com/office/drawing/2014/main" id="{D6E41E39-6776-4112-C82F-823F967C0488}"/>
              </a:ext>
            </a:extLst>
          </p:cNvPr>
          <p:cNvSpPr txBox="1"/>
          <p:nvPr/>
        </p:nvSpPr>
        <p:spPr>
          <a:xfrm>
            <a:off x="1211373" y="4933319"/>
            <a:ext cx="11003337" cy="600164"/>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Sold to ID/Refreshed L3 DMU ID/Distributional Channel: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LGAP manual entry when document type = ‘EA’ and profit center ledger item text has tranche ID, Optimus report will get sold to ID, Refreshed L3 DMU ID and Distributional Channel information by tranche ID from the Mapping table </a:t>
            </a:r>
            <a:r>
              <a:rPr kumimoji="0" lang="en-US" altLang="zh-CN" sz="1100" b="1" i="1" u="none" strike="noStrike" kern="1200" cap="none" spc="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Nexbill</a:t>
            </a:r>
            <a:r>
              <a:rPr kumimoji="0" lang="en-US" altLang="zh-CN" sz="1100" b="1" i="1"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sent to PAPM.</a:t>
            </a:r>
          </a:p>
        </p:txBody>
      </p:sp>
      <p:sp>
        <p:nvSpPr>
          <p:cNvPr id="43" name="Marvin tracker circle">
            <a:extLst>
              <a:ext uri="{FF2B5EF4-FFF2-40B4-BE49-F238E27FC236}">
                <a16:creationId xmlns:a16="http://schemas.microsoft.com/office/drawing/2014/main" id="{257CADB1-CB45-C8AC-54FD-497075C6B161}"/>
              </a:ext>
            </a:extLst>
          </p:cNvPr>
          <p:cNvSpPr>
            <a:spLocks/>
          </p:cNvSpPr>
          <p:nvPr/>
        </p:nvSpPr>
        <p:spPr>
          <a:xfrm>
            <a:off x="756517" y="4964954"/>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2</a:t>
            </a:r>
          </a:p>
        </p:txBody>
      </p:sp>
      <p:sp>
        <p:nvSpPr>
          <p:cNvPr id="6" name="标题 1">
            <a:extLst>
              <a:ext uri="{FF2B5EF4-FFF2-40B4-BE49-F238E27FC236}">
                <a16:creationId xmlns:a16="http://schemas.microsoft.com/office/drawing/2014/main" id="{36A052E1-E219-6A19-924F-1B49734170EF}"/>
              </a:ext>
            </a:extLst>
          </p:cNvPr>
          <p:cNvSpPr txBox="1">
            <a:spLocks/>
          </p:cNvSpPr>
          <p:nvPr/>
        </p:nvSpPr>
        <p:spPr bwMode="gray">
          <a:xfrm>
            <a:off x="561735" y="160324"/>
            <a:ext cx="11174839" cy="543910"/>
          </a:xfrm>
          <a:prstGeom prst="rect">
            <a:avLst/>
          </a:prstGeom>
        </p:spPr>
        <p:txBody>
          <a:bodyPr wrap="square" lIns="0" tIns="0" rIns="0" bIns="0" anchor="ctr" anchorCtr="0">
            <a:noAutofit/>
          </a:bodyPr>
          <a:lstStyle>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pPr marL="0" marR="0" lvl="0" indent="0" algn="l" defTabSz="1218987" rtl="0" eaLnBrk="1" fontAlgn="auto" latinLnBrk="0" hangingPunct="1">
              <a:lnSpc>
                <a:spcPts val="3200"/>
              </a:lnSpc>
              <a:spcBef>
                <a:spcPct val="0"/>
              </a:spcBef>
              <a:spcAft>
                <a:spcPts val="0"/>
              </a:spcAft>
              <a:buClrTx/>
              <a:buSzTx/>
              <a:buFontTx/>
              <a:buNone/>
              <a:tabLst>
                <a:tab pos="1218987" algn="l"/>
              </a:tabLst>
              <a:defRPr/>
            </a:pPr>
            <a:r>
              <a:rPr kumimoji="0" lang="en-US" altLang="zh-CN" sz="2800" b="1" i="0" u="none" strike="noStrike" kern="1200" cap="none" spc="-15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LGAP Manual Entry:</a:t>
            </a:r>
            <a:endParaRPr kumimoji="0" lang="en-US" sz="2800" b="1" i="0" u="none" strike="noStrike" kern="1200" cap="none" spc="-150" normalizeH="0" baseline="0" noProof="0">
              <a:ln>
                <a:noFill/>
              </a:ln>
              <a:solidFill>
                <a:srgbClr val="000000"/>
              </a:solidFill>
              <a:effectLst/>
              <a:uLnTx/>
              <a:uFillTx/>
              <a:latin typeface="Arial" pitchFamily="34" charset="0"/>
              <a:ea typeface="+mn-ea"/>
              <a:cs typeface="Arial" pitchFamily="34" charset="0"/>
            </a:endParaRPr>
          </a:p>
        </p:txBody>
      </p:sp>
      <p:graphicFrame>
        <p:nvGraphicFramePr>
          <p:cNvPr id="7" name="表格 9">
            <a:extLst>
              <a:ext uri="{FF2B5EF4-FFF2-40B4-BE49-F238E27FC236}">
                <a16:creationId xmlns:a16="http://schemas.microsoft.com/office/drawing/2014/main" id="{A074F8D2-9C15-D59D-C38A-2E5E45037FE3}"/>
              </a:ext>
            </a:extLst>
          </p:cNvPr>
          <p:cNvGraphicFramePr>
            <a:graphicFrameLocks noGrp="1"/>
          </p:cNvGraphicFramePr>
          <p:nvPr/>
        </p:nvGraphicFramePr>
        <p:xfrm>
          <a:off x="521237" y="847757"/>
          <a:ext cx="10281545" cy="1046307"/>
        </p:xfrm>
        <a:graphic>
          <a:graphicData uri="http://schemas.openxmlformats.org/drawingml/2006/table">
            <a:tbl>
              <a:tblPr/>
              <a:tblGrid>
                <a:gridCol w="1324077">
                  <a:extLst>
                    <a:ext uri="{9D8B030D-6E8A-4147-A177-3AD203B41FA5}">
                      <a16:colId xmlns:a16="http://schemas.microsoft.com/office/drawing/2014/main" val="2422911670"/>
                    </a:ext>
                  </a:extLst>
                </a:gridCol>
                <a:gridCol w="1012186">
                  <a:extLst>
                    <a:ext uri="{9D8B030D-6E8A-4147-A177-3AD203B41FA5}">
                      <a16:colId xmlns:a16="http://schemas.microsoft.com/office/drawing/2014/main" val="3794717218"/>
                    </a:ext>
                  </a:extLst>
                </a:gridCol>
                <a:gridCol w="1424940">
                  <a:extLst>
                    <a:ext uri="{9D8B030D-6E8A-4147-A177-3AD203B41FA5}">
                      <a16:colId xmlns:a16="http://schemas.microsoft.com/office/drawing/2014/main" val="407649056"/>
                    </a:ext>
                  </a:extLst>
                </a:gridCol>
                <a:gridCol w="1226820">
                  <a:extLst>
                    <a:ext uri="{9D8B030D-6E8A-4147-A177-3AD203B41FA5}">
                      <a16:colId xmlns:a16="http://schemas.microsoft.com/office/drawing/2014/main" val="3742270617"/>
                    </a:ext>
                  </a:extLst>
                </a:gridCol>
                <a:gridCol w="967740">
                  <a:extLst>
                    <a:ext uri="{9D8B030D-6E8A-4147-A177-3AD203B41FA5}">
                      <a16:colId xmlns:a16="http://schemas.microsoft.com/office/drawing/2014/main" val="4244360844"/>
                    </a:ext>
                  </a:extLst>
                </a:gridCol>
                <a:gridCol w="3101011">
                  <a:extLst>
                    <a:ext uri="{9D8B030D-6E8A-4147-A177-3AD203B41FA5}">
                      <a16:colId xmlns:a16="http://schemas.microsoft.com/office/drawing/2014/main" val="1632511208"/>
                    </a:ext>
                  </a:extLst>
                </a:gridCol>
                <a:gridCol w="1224771">
                  <a:extLst>
                    <a:ext uri="{9D8B030D-6E8A-4147-A177-3AD203B41FA5}">
                      <a16:colId xmlns:a16="http://schemas.microsoft.com/office/drawing/2014/main" val="2791710820"/>
                    </a:ext>
                  </a:extLst>
                </a:gridCol>
              </a:tblGrid>
              <a:tr h="196313">
                <a:tc gridSpan="5">
                  <a:txBody>
                    <a:bodyPr/>
                    <a:lstStyle/>
                    <a:p>
                      <a:pPr algn="l" rtl="0" fontAlgn="ctr"/>
                      <a:r>
                        <a:rPr lang="en-US" sz="1200" b="1" i="0" u="none" strike="noStrike">
                          <a:solidFill>
                            <a:srgbClr val="000000"/>
                          </a:solidFill>
                          <a:effectLst/>
                          <a:latin typeface="Arial" panose="020B0604020202020204" pitchFamily="34" charset="0"/>
                          <a:ea typeface="等线" panose="02010600030101010101" pitchFamily="2" charset="-122"/>
                        </a:rPr>
                        <a:t>LGAP</a:t>
                      </a:r>
                    </a:p>
                  </a:txBody>
                  <a:tcPr marL="9522" marR="9522" marT="9522"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zh-CN" altLang="en-US"/>
                    </a:p>
                  </a:txBody>
                  <a:tcPr/>
                </a:tc>
                <a:tc>
                  <a:txBody>
                    <a:bodyPr/>
                    <a:lstStyle/>
                    <a:p>
                      <a:pPr algn="l" rtl="0" fontAlgn="ctr"/>
                      <a:endParaRPr lang="en-US" sz="1200" b="1" i="0" u="none" strike="noStrike">
                        <a:solidFill>
                          <a:srgbClr val="000000"/>
                        </a:solidFill>
                        <a:effectLst/>
                        <a:latin typeface="Arial" panose="020B0604020202020204" pitchFamily="34" charset="0"/>
                        <a:ea typeface="等线" panose="02010600030101010101" pitchFamily="2" charset="-122"/>
                      </a:endParaRPr>
                    </a:p>
                  </a:txBody>
                  <a:tcPr marL="9522" marR="9522" marT="9522"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49508421"/>
                  </a:ext>
                </a:extLst>
              </a:tr>
              <a:tr h="220850">
                <a:tc>
                  <a:txBody>
                    <a:bodyPr/>
                    <a:lstStyle/>
                    <a:p>
                      <a:pPr algn="ctr" fontAlgn="ctr"/>
                      <a:r>
                        <a:rPr lang="en-US" sz="1100" b="1" i="0" u="none" strike="noStrike">
                          <a:solidFill>
                            <a:srgbClr val="FFFFFF"/>
                          </a:solidFill>
                          <a:effectLst/>
                          <a:latin typeface="Calibri" panose="020F0502020204030204" pitchFamily="34" charset="0"/>
                        </a:rPr>
                        <a:t>Fiscal Year Period</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2060"/>
                    </a:solidFill>
                  </a:tcPr>
                </a:tc>
                <a:tc>
                  <a:txBody>
                    <a:bodyPr/>
                    <a:lstStyle/>
                    <a:p>
                      <a:pPr algn="ctr" fontAlgn="ctr"/>
                      <a:r>
                        <a:rPr lang="en-US" sz="1100" b="1" i="0" u="none" strike="noStrike">
                          <a:solidFill>
                            <a:srgbClr val="FFFFFF"/>
                          </a:solidFill>
                          <a:effectLst/>
                          <a:latin typeface="Calibri" panose="020F0502020204030204" pitchFamily="34" charset="0"/>
                        </a:rPr>
                        <a:t>Document Type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2060"/>
                    </a:solidFill>
                  </a:tcPr>
                </a:tc>
                <a:tc>
                  <a:txBody>
                    <a:bodyPr/>
                    <a:lstStyle/>
                    <a:p>
                      <a:pPr algn="ctr" fontAlgn="ctr"/>
                      <a:r>
                        <a:rPr lang="en-US" sz="1100" b="1" i="0" u="none" strike="noStrike">
                          <a:solidFill>
                            <a:srgbClr val="FFFFFF"/>
                          </a:solidFill>
                          <a:effectLst/>
                          <a:latin typeface="Calibri" panose="020F0502020204030204" pitchFamily="34" charset="0"/>
                        </a:rPr>
                        <a:t>Billing 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2060"/>
                    </a:solidFill>
                  </a:tcPr>
                </a:tc>
                <a:tc>
                  <a:txBody>
                    <a:bodyPr/>
                    <a:lstStyle/>
                    <a:p>
                      <a:pPr algn="ctr" fontAlgn="ctr"/>
                      <a:r>
                        <a:rPr lang="en-US" sz="1100" b="1" i="0" u="none" strike="noStrike">
                          <a:solidFill>
                            <a:srgbClr val="FFFFFF"/>
                          </a:solidFill>
                          <a:effectLst/>
                          <a:latin typeface="Calibri" panose="020F0502020204030204" pitchFamily="34" charset="0"/>
                        </a:rPr>
                        <a:t>Sales Doc 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2060"/>
                    </a:solidFill>
                  </a:tcPr>
                </a:tc>
                <a:tc>
                  <a:txBody>
                    <a:bodyPr/>
                    <a:lstStyle/>
                    <a:p>
                      <a:pPr algn="ctr" fontAlgn="ctr"/>
                      <a:r>
                        <a:rPr lang="en-US" sz="1100" b="1" i="0" u="none" strike="noStrike">
                          <a:solidFill>
                            <a:srgbClr val="FFFFFF"/>
                          </a:solidFill>
                          <a:effectLst/>
                          <a:latin typeface="Calibri" panose="020F0502020204030204" pitchFamily="34" charset="0"/>
                        </a:rPr>
                        <a:t>Profit Center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2060"/>
                    </a:solidFill>
                  </a:tcPr>
                </a:tc>
                <a:tc>
                  <a:txBody>
                    <a:bodyPr/>
                    <a:lstStyle/>
                    <a:p>
                      <a:pPr algn="ctr" fontAlgn="ctr"/>
                      <a:r>
                        <a:rPr lang="en-US" sz="1100" b="1" i="0" u="none" strike="noStrike">
                          <a:solidFill>
                            <a:srgbClr val="FFFFFF"/>
                          </a:solidFill>
                          <a:effectLst/>
                          <a:latin typeface="Calibri" panose="020F0502020204030204" pitchFamily="34" charset="0"/>
                        </a:rPr>
                        <a:t>Profit Center Document Ledger Item Text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2060"/>
                    </a:solidFill>
                  </a:tcPr>
                </a:tc>
                <a:tc>
                  <a:txBody>
                    <a:bodyPr/>
                    <a:lstStyle/>
                    <a:p>
                      <a:pPr algn="ctr" fontAlgn="ctr"/>
                      <a:r>
                        <a:rPr lang="en-US" sz="1100" b="1" i="0" u="none" strike="noStrike">
                          <a:solidFill>
                            <a:srgbClr val="FFFFFF"/>
                          </a:solidFill>
                          <a:effectLst/>
                          <a:latin typeface="Calibri" panose="020F0502020204030204" pitchFamily="34" charset="0"/>
                        </a:rPr>
                        <a:t>Amount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2060"/>
                    </a:solidFill>
                  </a:tcPr>
                </a:tc>
                <a:extLst>
                  <a:ext uri="{0D108BD9-81ED-4DB2-BD59-A6C34878D82A}">
                    <a16:rowId xmlns:a16="http://schemas.microsoft.com/office/drawing/2014/main" val="3918860133"/>
                  </a:ext>
                </a:extLst>
              </a:tr>
              <a:tr h="144808">
                <a:tc>
                  <a:txBody>
                    <a:bodyPr/>
                    <a:lstStyle/>
                    <a:p>
                      <a:pPr algn="ctr" fontAlgn="ct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EA</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1231858381</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4238022555</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L0US20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1216232138_AU_202201_M_48_001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70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1565794210"/>
                  </a:ext>
                </a:extLst>
              </a:tr>
              <a:tr h="144808">
                <a:tc>
                  <a:txBody>
                    <a:bodyPr/>
                    <a:lstStyle/>
                    <a:p>
                      <a:pPr algn="ctr" fontAlgn="ct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EA</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1231858382</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L0US30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1216232138_AU_202201_M_48_001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60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3950102445"/>
                  </a:ext>
                </a:extLst>
              </a:tr>
              <a:tr h="144808">
                <a:tc>
                  <a:txBody>
                    <a:bodyPr/>
                    <a:lstStyle/>
                    <a:p>
                      <a:pPr algn="ctr" fontAlgn="ct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EA</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1231858383</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L0USXG</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1217506134_AU_202404_M_36_002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30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72896396"/>
                  </a:ext>
                </a:extLst>
              </a:tr>
              <a:tr h="194720">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EA</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1231858384</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L0USX1</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1217506134_AU_202404_M_36_002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50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1203206619"/>
                  </a:ext>
                </a:extLst>
              </a:tr>
            </a:tbl>
          </a:graphicData>
        </a:graphic>
      </p:graphicFrame>
      <p:sp>
        <p:nvSpPr>
          <p:cNvPr id="12" name="TextBox 11">
            <a:extLst>
              <a:ext uri="{FF2B5EF4-FFF2-40B4-BE49-F238E27FC236}">
                <a16:creationId xmlns:a16="http://schemas.microsoft.com/office/drawing/2014/main" id="{90DB2C5D-A18C-63B4-D1F8-54A6394622E9}"/>
              </a:ext>
            </a:extLst>
          </p:cNvPr>
          <p:cNvSpPr txBox="1"/>
          <p:nvPr/>
        </p:nvSpPr>
        <p:spPr>
          <a:xfrm>
            <a:off x="464820" y="1915421"/>
            <a:ext cx="3329940" cy="276999"/>
          </a:xfrm>
          <a:prstGeom prst="rect">
            <a:avLst/>
          </a:prstGeom>
          <a:noFill/>
        </p:spPr>
        <p:txBody>
          <a:bodyPr wrap="square">
            <a:spAutoFit/>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err="1">
                <a:ln>
                  <a:noFill/>
                </a:ln>
                <a:solidFill>
                  <a:srgbClr val="000000"/>
                </a:solidFill>
                <a:effectLst/>
                <a:uLnTx/>
                <a:uFillTx/>
                <a:latin typeface="Arial" panose="020B0604020202020204" pitchFamily="34" charset="0"/>
                <a:ea typeface="等线" panose="02010600030101010101" pitchFamily="2" charset="-122"/>
                <a:cs typeface="+mn-cs"/>
              </a:rPr>
              <a:t>Nexbill</a:t>
            </a:r>
            <a:r>
              <a:rPr kumimoji="0" lang="en-US" sz="1200" b="1" i="0" u="none" strike="noStrike" kern="1200" cap="none" spc="0" normalizeH="0" baseline="0" noProof="0">
                <a:ln>
                  <a:noFill/>
                </a:ln>
                <a:solidFill>
                  <a:srgbClr val="000000"/>
                </a:solidFill>
                <a:effectLst/>
                <a:uLnTx/>
                <a:uFillTx/>
                <a:latin typeface="Arial" panose="020B0604020202020204" pitchFamily="34" charset="0"/>
                <a:ea typeface="等线" panose="02010600030101010101" pitchFamily="2" charset="-122"/>
                <a:cs typeface="+mn-cs"/>
              </a:rPr>
              <a:t> to PAPM Mapping Table</a:t>
            </a:r>
          </a:p>
        </p:txBody>
      </p:sp>
      <p:graphicFrame>
        <p:nvGraphicFramePr>
          <p:cNvPr id="14" name="表格 9">
            <a:extLst>
              <a:ext uri="{FF2B5EF4-FFF2-40B4-BE49-F238E27FC236}">
                <a16:creationId xmlns:a16="http://schemas.microsoft.com/office/drawing/2014/main" id="{DCF6C771-2C81-5F8F-A135-0C59D2779240}"/>
              </a:ext>
            </a:extLst>
          </p:cNvPr>
          <p:cNvGraphicFramePr>
            <a:graphicFrameLocks noGrp="1"/>
          </p:cNvGraphicFramePr>
          <p:nvPr/>
        </p:nvGraphicFramePr>
        <p:xfrm>
          <a:off x="576517" y="3382250"/>
          <a:ext cx="11038964" cy="1445011"/>
        </p:xfrm>
        <a:graphic>
          <a:graphicData uri="http://schemas.openxmlformats.org/drawingml/2006/table">
            <a:tbl>
              <a:tblPr/>
              <a:tblGrid>
                <a:gridCol w="687958">
                  <a:extLst>
                    <a:ext uri="{9D8B030D-6E8A-4147-A177-3AD203B41FA5}">
                      <a16:colId xmlns:a16="http://schemas.microsoft.com/office/drawing/2014/main" val="2422911670"/>
                    </a:ext>
                  </a:extLst>
                </a:gridCol>
                <a:gridCol w="744124">
                  <a:extLst>
                    <a:ext uri="{9D8B030D-6E8A-4147-A177-3AD203B41FA5}">
                      <a16:colId xmlns:a16="http://schemas.microsoft.com/office/drawing/2014/main" val="3794717218"/>
                    </a:ext>
                  </a:extLst>
                </a:gridCol>
                <a:gridCol w="744124">
                  <a:extLst>
                    <a:ext uri="{9D8B030D-6E8A-4147-A177-3AD203B41FA5}">
                      <a16:colId xmlns:a16="http://schemas.microsoft.com/office/drawing/2014/main" val="407649056"/>
                    </a:ext>
                  </a:extLst>
                </a:gridCol>
                <a:gridCol w="661037">
                  <a:extLst>
                    <a:ext uri="{9D8B030D-6E8A-4147-A177-3AD203B41FA5}">
                      <a16:colId xmlns:a16="http://schemas.microsoft.com/office/drawing/2014/main" val="3742270617"/>
                    </a:ext>
                  </a:extLst>
                </a:gridCol>
                <a:gridCol w="723900">
                  <a:extLst>
                    <a:ext uri="{9D8B030D-6E8A-4147-A177-3AD203B41FA5}">
                      <a16:colId xmlns:a16="http://schemas.microsoft.com/office/drawing/2014/main" val="4244360844"/>
                    </a:ext>
                  </a:extLst>
                </a:gridCol>
                <a:gridCol w="1640173">
                  <a:extLst>
                    <a:ext uri="{9D8B030D-6E8A-4147-A177-3AD203B41FA5}">
                      <a16:colId xmlns:a16="http://schemas.microsoft.com/office/drawing/2014/main" val="1518734766"/>
                    </a:ext>
                  </a:extLst>
                </a:gridCol>
                <a:gridCol w="572312">
                  <a:extLst>
                    <a:ext uri="{9D8B030D-6E8A-4147-A177-3AD203B41FA5}">
                      <a16:colId xmlns:a16="http://schemas.microsoft.com/office/drawing/2014/main" val="3924974369"/>
                    </a:ext>
                  </a:extLst>
                </a:gridCol>
                <a:gridCol w="632035">
                  <a:extLst>
                    <a:ext uri="{9D8B030D-6E8A-4147-A177-3AD203B41FA5}">
                      <a16:colId xmlns:a16="http://schemas.microsoft.com/office/drawing/2014/main" val="529683453"/>
                    </a:ext>
                  </a:extLst>
                </a:gridCol>
                <a:gridCol w="633664">
                  <a:extLst>
                    <a:ext uri="{9D8B030D-6E8A-4147-A177-3AD203B41FA5}">
                      <a16:colId xmlns:a16="http://schemas.microsoft.com/office/drawing/2014/main" val="95821097"/>
                    </a:ext>
                  </a:extLst>
                </a:gridCol>
                <a:gridCol w="679582">
                  <a:extLst>
                    <a:ext uri="{9D8B030D-6E8A-4147-A177-3AD203B41FA5}">
                      <a16:colId xmlns:a16="http://schemas.microsoft.com/office/drawing/2014/main" val="2028553931"/>
                    </a:ext>
                  </a:extLst>
                </a:gridCol>
                <a:gridCol w="555607">
                  <a:extLst>
                    <a:ext uri="{9D8B030D-6E8A-4147-A177-3AD203B41FA5}">
                      <a16:colId xmlns:a16="http://schemas.microsoft.com/office/drawing/2014/main" val="228645159"/>
                    </a:ext>
                  </a:extLst>
                </a:gridCol>
                <a:gridCol w="646042">
                  <a:extLst>
                    <a:ext uri="{9D8B030D-6E8A-4147-A177-3AD203B41FA5}">
                      <a16:colId xmlns:a16="http://schemas.microsoft.com/office/drawing/2014/main" val="1687825814"/>
                    </a:ext>
                  </a:extLst>
                </a:gridCol>
                <a:gridCol w="636362">
                  <a:extLst>
                    <a:ext uri="{9D8B030D-6E8A-4147-A177-3AD203B41FA5}">
                      <a16:colId xmlns:a16="http://schemas.microsoft.com/office/drawing/2014/main" val="2791710820"/>
                    </a:ext>
                  </a:extLst>
                </a:gridCol>
                <a:gridCol w="482844">
                  <a:extLst>
                    <a:ext uri="{9D8B030D-6E8A-4147-A177-3AD203B41FA5}">
                      <a16:colId xmlns:a16="http://schemas.microsoft.com/office/drawing/2014/main" val="1063858079"/>
                    </a:ext>
                  </a:extLst>
                </a:gridCol>
                <a:gridCol w="463605">
                  <a:extLst>
                    <a:ext uri="{9D8B030D-6E8A-4147-A177-3AD203B41FA5}">
                      <a16:colId xmlns:a16="http://schemas.microsoft.com/office/drawing/2014/main" val="282416758"/>
                    </a:ext>
                  </a:extLst>
                </a:gridCol>
                <a:gridCol w="535595">
                  <a:extLst>
                    <a:ext uri="{9D8B030D-6E8A-4147-A177-3AD203B41FA5}">
                      <a16:colId xmlns:a16="http://schemas.microsoft.com/office/drawing/2014/main" val="1502682765"/>
                    </a:ext>
                  </a:extLst>
                </a:gridCol>
              </a:tblGrid>
              <a:tr h="131567">
                <a:tc gridSpan="5">
                  <a:txBody>
                    <a:bodyPr/>
                    <a:lstStyle/>
                    <a:p>
                      <a:pPr algn="l" rtl="0" fontAlgn="ctr"/>
                      <a:r>
                        <a:rPr lang="en-US" sz="1200" b="1" i="0" u="none" strike="noStrike">
                          <a:solidFill>
                            <a:srgbClr val="000000"/>
                          </a:solidFill>
                          <a:effectLst/>
                          <a:latin typeface="Arial" panose="020B0604020202020204" pitchFamily="34" charset="0"/>
                          <a:ea typeface="等线" panose="02010600030101010101" pitchFamily="2" charset="-122"/>
                        </a:rPr>
                        <a:t>Optimus Report</a:t>
                      </a:r>
                    </a:p>
                  </a:txBody>
                  <a:tcPr marL="9522" marR="9522" marT="9522"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zh-CN" altLang="en-US"/>
                    </a:p>
                  </a:txBody>
                  <a:tcPr>
                    <a:lnL w="12700" cmpd="sng">
                      <a:noFill/>
                      <a:prstDash val="solid"/>
                    </a:lnL>
                  </a:tcPr>
                </a:tc>
                <a:tc>
                  <a:txBody>
                    <a:bodyPr/>
                    <a:lstStyle/>
                    <a:p>
                      <a:pPr algn="l" rtl="0" fontAlgn="ctr"/>
                      <a:endParaRPr lang="en-US" sz="1200" b="1" i="0" u="none" strike="noStrike">
                        <a:solidFill>
                          <a:srgbClr val="000000"/>
                        </a:solidFill>
                        <a:effectLst/>
                        <a:latin typeface="Arial" panose="020B0604020202020204" pitchFamily="34" charset="0"/>
                        <a:ea typeface="等线" panose="02010600030101010101" pitchFamily="2" charset="-122"/>
                      </a:endParaRPr>
                    </a:p>
                  </a:txBody>
                  <a:tcPr marL="9522" marR="9522" marT="9522" marB="0" anchor="ctr">
                    <a:lnL>
                      <a:noFill/>
                    </a:lnL>
                    <a:lnR>
                      <a:noFill/>
                    </a:lnR>
                    <a:lnT>
                      <a:noFill/>
                    </a:lnT>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zh-CN" altLang="en-US" sz="1200" b="0" i="0" u="none" strike="noStrike">
                        <a:solidFill>
                          <a:srgbClr val="000000"/>
                        </a:solidFill>
                        <a:effectLst/>
                        <a:latin typeface="等线" panose="02010600030101010101" pitchFamily="2" charset="-122"/>
                        <a:ea typeface="等线" panose="02010600030101010101" pitchFamily="2" charset="-122"/>
                      </a:endParaRPr>
                    </a:p>
                  </a:txBody>
                  <a:tcPr marL="9522" marR="9522" marT="9522" marB="0" anchor="b">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49508421"/>
                  </a:ext>
                </a:extLst>
              </a:tr>
              <a:tr h="461795">
                <a:tc>
                  <a:txBody>
                    <a:bodyPr/>
                    <a:lstStyle/>
                    <a:p>
                      <a:pPr algn="ctr" fontAlgn="ctr"/>
                      <a:r>
                        <a:rPr lang="en-US" sz="1100" b="0" i="0" u="none" strike="noStrike">
                          <a:solidFill>
                            <a:srgbClr val="FFFFFF"/>
                          </a:solidFill>
                          <a:effectLst/>
                          <a:latin typeface="Calibri" panose="020F0502020204030204" pitchFamily="34" charset="0"/>
                        </a:rPr>
                        <a:t>Fiscal Year Period</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Source ID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Billing 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Sales Doc 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Sales office Profit Center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B w="6350" cap="flat" cmpd="sng" algn="ctr">
                      <a:solidFill>
                        <a:srgbClr val="000000"/>
                      </a:solidFill>
                      <a:prstDash val="dot"/>
                      <a:round/>
                      <a:headEnd type="none" w="med" len="med"/>
                      <a:tailEnd type="none" w="med" len="med"/>
                    </a:lnB>
                    <a:solidFill>
                      <a:srgbClr val="5A5A5A"/>
                    </a:solidFill>
                  </a:tcPr>
                </a:tc>
                <a:tc>
                  <a:txBody>
                    <a:bodyPr/>
                    <a:lstStyle/>
                    <a:p>
                      <a:pPr marL="0" marR="0" lvl="0" indent="0" algn="ctr" defTabSz="1216430" rtl="0" eaLnBrk="1" fontAlgn="ctr" latinLnBrk="0" hangingPunct="1">
                        <a:lnSpc>
                          <a:spcPct val="100000"/>
                        </a:lnSpc>
                        <a:spcBef>
                          <a:spcPts val="0"/>
                        </a:spcBef>
                        <a:spcAft>
                          <a:spcPts val="0"/>
                        </a:spcAft>
                        <a:buClrTx/>
                        <a:buSzTx/>
                        <a:buFontTx/>
                        <a:buNone/>
                        <a:tabLst/>
                        <a:defRPr/>
                      </a:pPr>
                      <a:r>
                        <a:rPr lang="en-US" sz="1100" b="0" i="0" u="none" strike="noStrike">
                          <a:solidFill>
                            <a:srgbClr val="FFFFFF"/>
                          </a:solidFill>
                          <a:effectLst/>
                          <a:latin typeface="Calibri" panose="020F0502020204030204" pitchFamily="34" charset="0"/>
                        </a:rPr>
                        <a:t>Profit Center Document Ledger Item Text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Refreshed L3 DMU</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ctr" fontAlgn="ctr"/>
                      <a:r>
                        <a:rPr lang="en-US" sz="1100" b="0" i="0" u="none" strike="noStrike">
                          <a:solidFill>
                            <a:srgbClr val="FFFFFF"/>
                          </a:solidFill>
                          <a:effectLst/>
                          <a:latin typeface="Calibri" panose="020F0502020204030204" pitchFamily="34" charset="0"/>
                        </a:rPr>
                        <a:t>Sold-to</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1100" b="0" i="0" u="none" strike="noStrike">
                          <a:solidFill>
                            <a:srgbClr val="FFFFFF"/>
                          </a:solidFill>
                          <a:effectLst/>
                          <a:latin typeface="Calibri" panose="020F0502020204030204" pitchFamily="34" charset="0"/>
                        </a:rPr>
                        <a:t>Refreshed L2 </a:t>
                      </a:r>
                      <a:r>
                        <a:rPr lang="en-US" altLang="zh-CN" sz="1100" b="0" i="0" u="none" strike="noStrike">
                          <a:solidFill>
                            <a:srgbClr val="FFFFFF"/>
                          </a:solidFill>
                          <a:effectLst/>
                          <a:latin typeface="Calibri" panose="020F0502020204030204" pitchFamily="34" charset="0"/>
                        </a:rPr>
                        <a:t>ID</a:t>
                      </a:r>
                      <a:endParaRPr lang="en-US" sz="1100" b="0" i="0" u="none" strike="noStrike">
                        <a:solidFill>
                          <a:srgbClr val="FFFFFF"/>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ctr" fontAlgn="ctr"/>
                      <a:r>
                        <a:rPr lang="en-US" sz="1100" b="0" i="0" u="none" strike="noStrike">
                          <a:solidFill>
                            <a:srgbClr val="FFFFFF"/>
                          </a:solidFill>
                          <a:effectLst/>
                          <a:latin typeface="Calibri" panose="020F0502020204030204" pitchFamily="34" charset="0"/>
                        </a:rPr>
                        <a:t>End Customer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ctr" fontAlgn="ctr"/>
                      <a:r>
                        <a:rPr lang="en-US" sz="1100" b="0" i="0" u="none" strike="noStrike">
                          <a:solidFill>
                            <a:srgbClr val="FFFFFF"/>
                          </a:solidFill>
                          <a:effectLst/>
                          <a:latin typeface="Calibri" panose="020F0502020204030204" pitchFamily="34" charset="0"/>
                        </a:rPr>
                        <a:t>BPC Segment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70C0"/>
                    </a:solidFill>
                  </a:tcPr>
                </a:tc>
                <a:tc>
                  <a:txBody>
                    <a:bodyPr/>
                    <a:lstStyle/>
                    <a:p>
                      <a:pPr algn="ctr" fontAlgn="ctr"/>
                      <a:r>
                        <a:rPr lang="en-US" sz="1100" b="0" i="0" u="none" strike="noStrike">
                          <a:solidFill>
                            <a:srgbClr val="FFFFFF"/>
                          </a:solidFill>
                          <a:effectLst/>
                          <a:latin typeface="Calibri" panose="020F0502020204030204" pitchFamily="34" charset="0"/>
                        </a:rPr>
                        <a:t>Distribution Channel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ctr" fontAlgn="ctr"/>
                      <a:r>
                        <a:rPr lang="en-US" sz="1100" b="0" i="0" u="none" strike="noStrike">
                          <a:solidFill>
                            <a:srgbClr val="FFFFFF"/>
                          </a:solidFill>
                          <a:effectLst/>
                          <a:latin typeface="Calibri" panose="020F0502020204030204" pitchFamily="34" charset="0"/>
                        </a:rPr>
                        <a:t>RTM</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70C0"/>
                    </a:solidFill>
                  </a:tcPr>
                </a:tc>
                <a:tc>
                  <a:txBody>
                    <a:bodyPr/>
                    <a:lstStyle/>
                    <a:p>
                      <a:pPr algn="ctr" fontAlgn="ctr"/>
                      <a:r>
                        <a:rPr lang="en-US" sz="1100" b="0" i="0" u="none" strike="noStrike">
                          <a:solidFill>
                            <a:srgbClr val="FFFFFF"/>
                          </a:solidFill>
                          <a:effectLst/>
                          <a:latin typeface="Calibri" panose="020F0502020204030204" pitchFamily="34" charset="0"/>
                        </a:rPr>
                        <a:t>S&amp;D Revenue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Gross Cost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tc>
                  <a:txBody>
                    <a:bodyPr/>
                    <a:lstStyle/>
                    <a:p>
                      <a:pPr algn="ctr" fontAlgn="ctr"/>
                      <a:r>
                        <a:rPr lang="en-US" sz="1100" b="0" i="0" u="none" strike="noStrike">
                          <a:solidFill>
                            <a:srgbClr val="FFFFFF"/>
                          </a:solidFill>
                          <a:effectLst/>
                          <a:latin typeface="Calibri" panose="020F0502020204030204" pitchFamily="34" charset="0"/>
                        </a:rPr>
                        <a:t>O</a:t>
                      </a:r>
                      <a:r>
                        <a:rPr lang="en-US" altLang="zh-CN" sz="1100" b="0" i="0" u="none" strike="noStrike">
                          <a:solidFill>
                            <a:srgbClr val="FFFFFF"/>
                          </a:solidFill>
                          <a:effectLst/>
                          <a:latin typeface="Calibri" panose="020F0502020204030204" pitchFamily="34" charset="0"/>
                        </a:rPr>
                        <a:t>ther bucket</a:t>
                      </a:r>
                      <a:endParaRPr lang="en-US" sz="1100" b="0" i="0" u="none" strike="noStrike">
                        <a:solidFill>
                          <a:srgbClr val="FFFFFF"/>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5A5A5A"/>
                    </a:solidFill>
                  </a:tcPr>
                </a:tc>
                <a:extLst>
                  <a:ext uri="{0D108BD9-81ED-4DB2-BD59-A6C34878D82A}">
                    <a16:rowId xmlns:a16="http://schemas.microsoft.com/office/drawing/2014/main" val="3918860133"/>
                  </a:ext>
                </a:extLst>
              </a:tr>
              <a:tr h="117892">
                <a:tc>
                  <a:txBody>
                    <a:bodyPr/>
                    <a:lstStyle/>
                    <a:p>
                      <a:pPr algn="ctr" fontAlgn="ct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EAAS-FL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1231858381</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4238022555</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L0US20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1216232138_AU_202201_M_48_001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FF0000"/>
                          </a:solidFill>
                          <a:effectLst/>
                          <a:latin typeface="Calibri" panose="020F0502020204030204" pitchFamily="34" charset="0"/>
                        </a:rPr>
                        <a:t>PA*****</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900" b="0" i="0" u="none" strike="noStrike">
                        <a:solidFill>
                          <a:srgbClr val="FF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B0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21</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DIRECT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1100" b="0" i="0" u="none" strike="noStrike">
                          <a:solidFill>
                            <a:srgbClr val="000000"/>
                          </a:solidFill>
                          <a:effectLst/>
                          <a:latin typeface="Calibri" panose="020F0502020204030204" pitchFamily="34" charset="0"/>
                        </a:rPr>
                        <a:t>89.75</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1100" b="0" i="0" u="none" strike="noStrike">
                          <a:solidFill>
                            <a:srgbClr val="000000"/>
                          </a:solidFill>
                          <a:effectLst/>
                          <a:latin typeface="Calibri" panose="020F0502020204030204" pitchFamily="34" charset="0"/>
                        </a:rPr>
                        <a:t>77.50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11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1565794210"/>
                  </a:ext>
                </a:extLst>
              </a:tr>
              <a:tr h="190841">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NONALLO_EL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1231858382</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L0US30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1216232138_AU_202201_M_48_001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B0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INDIRECT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1203206619"/>
                  </a:ext>
                </a:extLst>
              </a:tr>
              <a:tr h="190841">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NONALLO_EL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1231858383</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L0USXG</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1217506134_AU_202404_M_36_002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GA</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INDIRECT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20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3481743662"/>
                  </a:ext>
                </a:extLst>
              </a:tr>
              <a:tr h="190841">
                <a:tc>
                  <a:txBody>
                    <a:bodyPr/>
                    <a:lstStyle/>
                    <a:p>
                      <a:pPr marL="0" marR="0" lvl="0" indent="0" algn="ctr" defTabSz="1218987" rtl="0" eaLnBrk="1" fontAlgn="ctr" latinLnBrk="0" hangingPunct="1">
                        <a:lnSpc>
                          <a:spcPct val="100000"/>
                        </a:lnSpc>
                        <a:spcBef>
                          <a:spcPts val="0"/>
                        </a:spcBef>
                        <a:spcAft>
                          <a:spcPts val="0"/>
                        </a:spcAft>
                        <a:buClrTx/>
                        <a:buSzTx/>
                        <a:buFontTx/>
                        <a:buNone/>
                        <a:tabLst/>
                        <a:defRPr/>
                      </a:pPr>
                      <a:r>
                        <a:rPr lang="en-US" sz="900" b="0" i="0" u="none" strike="noStrike">
                          <a:solidFill>
                            <a:srgbClr val="000000"/>
                          </a:solidFill>
                          <a:effectLst/>
                          <a:latin typeface="Calibri" panose="020F0502020204030204" pitchFamily="34" charset="0"/>
                        </a:rPr>
                        <a:t>2025003</a:t>
                      </a:r>
                    </a:p>
                  </a:txBody>
                  <a:tcPr marL="4763" marR="4763" marT="4763" marB="0" anchor="ctr">
                    <a:lnL w="12700" cap="flat" cmpd="sng" algn="ctr">
                      <a:solidFill>
                        <a:srgbClr val="000000"/>
                      </a:solidFill>
                      <a:prstDash val="solid"/>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NONALLO_EL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1231858384</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L0USX1</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1217506134_AU_202404_M_36_002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LE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INDIRECT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endParaRPr lang="en-US" sz="900" b="0" i="0" u="none" strike="noStrike">
                        <a:solidFill>
                          <a:srgbClr val="000000"/>
                        </a:solidFill>
                        <a:effectLst/>
                        <a:latin typeface="Calibri" panose="020F0502020204030204" pitchFamily="34" charset="0"/>
                      </a:endParaRP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ctr"/>
                      <a:r>
                        <a:rPr lang="en-US" sz="900" b="0" i="0" u="none" strike="noStrike">
                          <a:solidFill>
                            <a:srgbClr val="000000"/>
                          </a:solidFill>
                          <a:effectLst/>
                          <a:latin typeface="Calibri" panose="020F0502020204030204" pitchFamily="34" charset="0"/>
                        </a:rPr>
                        <a:t>30</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3159258941"/>
                  </a:ext>
                </a:extLst>
              </a:tr>
            </a:tbl>
          </a:graphicData>
        </a:graphic>
      </p:graphicFrame>
      <p:graphicFrame>
        <p:nvGraphicFramePr>
          <p:cNvPr id="13" name="表格 5">
            <a:extLst>
              <a:ext uri="{FF2B5EF4-FFF2-40B4-BE49-F238E27FC236}">
                <a16:creationId xmlns:a16="http://schemas.microsoft.com/office/drawing/2014/main" id="{0AB8347D-DAC5-4DFA-E1F1-1DF9336A96C0}"/>
              </a:ext>
            </a:extLst>
          </p:cNvPr>
          <p:cNvGraphicFramePr>
            <a:graphicFrameLocks noGrp="1"/>
          </p:cNvGraphicFramePr>
          <p:nvPr/>
        </p:nvGraphicFramePr>
        <p:xfrm>
          <a:off x="521237" y="2192420"/>
          <a:ext cx="10834732" cy="958899"/>
        </p:xfrm>
        <a:graphic>
          <a:graphicData uri="http://schemas.openxmlformats.org/drawingml/2006/table">
            <a:tbl>
              <a:tblPr/>
              <a:tblGrid>
                <a:gridCol w="961978">
                  <a:extLst>
                    <a:ext uri="{9D8B030D-6E8A-4147-A177-3AD203B41FA5}">
                      <a16:colId xmlns:a16="http://schemas.microsoft.com/office/drawing/2014/main" val="1951643897"/>
                    </a:ext>
                  </a:extLst>
                </a:gridCol>
                <a:gridCol w="706436">
                  <a:extLst>
                    <a:ext uri="{9D8B030D-6E8A-4147-A177-3AD203B41FA5}">
                      <a16:colId xmlns:a16="http://schemas.microsoft.com/office/drawing/2014/main" val="2753499370"/>
                    </a:ext>
                  </a:extLst>
                </a:gridCol>
                <a:gridCol w="657212">
                  <a:extLst>
                    <a:ext uri="{9D8B030D-6E8A-4147-A177-3AD203B41FA5}">
                      <a16:colId xmlns:a16="http://schemas.microsoft.com/office/drawing/2014/main" val="844666129"/>
                    </a:ext>
                  </a:extLst>
                </a:gridCol>
                <a:gridCol w="501971">
                  <a:extLst>
                    <a:ext uri="{9D8B030D-6E8A-4147-A177-3AD203B41FA5}">
                      <a16:colId xmlns:a16="http://schemas.microsoft.com/office/drawing/2014/main" val="1695784184"/>
                    </a:ext>
                  </a:extLst>
                </a:gridCol>
                <a:gridCol w="1378513">
                  <a:extLst>
                    <a:ext uri="{9D8B030D-6E8A-4147-A177-3AD203B41FA5}">
                      <a16:colId xmlns:a16="http://schemas.microsoft.com/office/drawing/2014/main" val="3219558111"/>
                    </a:ext>
                  </a:extLst>
                </a:gridCol>
                <a:gridCol w="1561805">
                  <a:extLst>
                    <a:ext uri="{9D8B030D-6E8A-4147-A177-3AD203B41FA5}">
                      <a16:colId xmlns:a16="http://schemas.microsoft.com/office/drawing/2014/main" val="374816131"/>
                    </a:ext>
                  </a:extLst>
                </a:gridCol>
                <a:gridCol w="827562">
                  <a:extLst>
                    <a:ext uri="{9D8B030D-6E8A-4147-A177-3AD203B41FA5}">
                      <a16:colId xmlns:a16="http://schemas.microsoft.com/office/drawing/2014/main" val="3558397836"/>
                    </a:ext>
                  </a:extLst>
                </a:gridCol>
                <a:gridCol w="848238">
                  <a:extLst>
                    <a:ext uri="{9D8B030D-6E8A-4147-A177-3AD203B41FA5}">
                      <a16:colId xmlns:a16="http://schemas.microsoft.com/office/drawing/2014/main" val="1836065162"/>
                    </a:ext>
                  </a:extLst>
                </a:gridCol>
                <a:gridCol w="484496">
                  <a:extLst>
                    <a:ext uri="{9D8B030D-6E8A-4147-A177-3AD203B41FA5}">
                      <a16:colId xmlns:a16="http://schemas.microsoft.com/office/drawing/2014/main" val="3464946339"/>
                    </a:ext>
                  </a:extLst>
                </a:gridCol>
                <a:gridCol w="577756">
                  <a:extLst>
                    <a:ext uri="{9D8B030D-6E8A-4147-A177-3AD203B41FA5}">
                      <a16:colId xmlns:a16="http://schemas.microsoft.com/office/drawing/2014/main" val="3086017461"/>
                    </a:ext>
                  </a:extLst>
                </a:gridCol>
                <a:gridCol w="555009">
                  <a:extLst>
                    <a:ext uri="{9D8B030D-6E8A-4147-A177-3AD203B41FA5}">
                      <a16:colId xmlns:a16="http://schemas.microsoft.com/office/drawing/2014/main" val="2825598781"/>
                    </a:ext>
                  </a:extLst>
                </a:gridCol>
                <a:gridCol w="691485">
                  <a:extLst>
                    <a:ext uri="{9D8B030D-6E8A-4147-A177-3AD203B41FA5}">
                      <a16:colId xmlns:a16="http://schemas.microsoft.com/office/drawing/2014/main" val="1941825054"/>
                    </a:ext>
                  </a:extLst>
                </a:gridCol>
                <a:gridCol w="511791">
                  <a:extLst>
                    <a:ext uri="{9D8B030D-6E8A-4147-A177-3AD203B41FA5}">
                      <a16:colId xmlns:a16="http://schemas.microsoft.com/office/drawing/2014/main" val="374956615"/>
                    </a:ext>
                  </a:extLst>
                </a:gridCol>
                <a:gridCol w="570480">
                  <a:extLst>
                    <a:ext uri="{9D8B030D-6E8A-4147-A177-3AD203B41FA5}">
                      <a16:colId xmlns:a16="http://schemas.microsoft.com/office/drawing/2014/main" val="2723609071"/>
                    </a:ext>
                  </a:extLst>
                </a:gridCol>
              </a:tblGrid>
              <a:tr h="358066">
                <a:tc>
                  <a:txBody>
                    <a:bodyPr/>
                    <a:lstStyle/>
                    <a:p>
                      <a:pPr algn="l" fontAlgn="t"/>
                      <a:r>
                        <a:rPr lang="en-US" sz="800" b="1" i="0" u="none" strike="noStrike">
                          <a:solidFill>
                            <a:schemeClr val="bg1"/>
                          </a:solidFill>
                          <a:effectLst/>
                          <a:latin typeface="Arial" panose="020B0604020202020204" pitchFamily="34" charset="0"/>
                        </a:rPr>
                        <a:t>INVOICE 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l" fontAlgn="t"/>
                      <a:r>
                        <a:rPr lang="en-US" sz="800" b="1" i="0" u="none" strike="noStrike">
                          <a:solidFill>
                            <a:schemeClr val="bg1"/>
                          </a:solidFill>
                          <a:effectLst/>
                          <a:latin typeface="Arial" panose="020B0604020202020204" pitchFamily="34" charset="0"/>
                        </a:rPr>
                        <a:t>ITEMNUMBER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COMPANYCODE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Period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SOURCEINVOICENUMBER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TRANCHE ID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F0"/>
                    </a:solidFill>
                  </a:tcPr>
                </a:tc>
                <a:tc>
                  <a:txBody>
                    <a:bodyPr/>
                    <a:lstStyle/>
                    <a:p>
                      <a:pPr algn="l" fontAlgn="t"/>
                      <a:r>
                        <a:rPr lang="en-US" sz="800" b="0" i="0" u="none" strike="noStrike">
                          <a:solidFill>
                            <a:schemeClr val="bg1"/>
                          </a:solidFill>
                          <a:effectLst/>
                          <a:latin typeface="Arial" panose="020B0604020202020204" pitchFamily="34" charset="0"/>
                        </a:rPr>
                        <a:t>CUSTOMERPURCHASEORDER</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0" i="0" u="none" strike="noStrike">
                          <a:solidFill>
                            <a:schemeClr val="bg1"/>
                          </a:solidFill>
                          <a:effectLst/>
                          <a:latin typeface="Arial" panose="020B0604020202020204" pitchFamily="34" charset="0"/>
                        </a:rPr>
                        <a:t>PRODUCT</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L2MDMID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50"/>
                    </a:solidFill>
                  </a:tcPr>
                </a:tc>
                <a:tc>
                  <a:txBody>
                    <a:bodyPr/>
                    <a:lstStyle/>
                    <a:p>
                      <a:pPr algn="l" fontAlgn="t"/>
                      <a:r>
                        <a:rPr lang="en-US" sz="800" b="1" i="0" u="none" strike="noStrike">
                          <a:solidFill>
                            <a:schemeClr val="bg1"/>
                          </a:solidFill>
                          <a:effectLst/>
                          <a:latin typeface="Arial" panose="020B0604020202020204" pitchFamily="34" charset="0"/>
                        </a:rPr>
                        <a:t>L3DMUID</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00B050"/>
                    </a:solidFill>
                  </a:tcPr>
                </a:tc>
                <a:tc>
                  <a:txBody>
                    <a:bodyPr/>
                    <a:lstStyle/>
                    <a:p>
                      <a:pPr algn="l" fontAlgn="t"/>
                      <a:r>
                        <a:rPr lang="en-US" sz="800" b="1" i="0" u="none" strike="noStrike">
                          <a:solidFill>
                            <a:schemeClr val="tx1"/>
                          </a:solidFill>
                          <a:effectLst/>
                          <a:latin typeface="Arial" panose="020B0604020202020204" pitchFamily="34" charset="0"/>
                        </a:rPr>
                        <a:t>Sold-to#</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92D050"/>
                    </a:solidFill>
                  </a:tcPr>
                </a:tc>
                <a:tc>
                  <a:txBody>
                    <a:bodyPr/>
                    <a:lstStyle/>
                    <a:p>
                      <a:pPr algn="ctr" fontAlgn="t"/>
                      <a:r>
                        <a:rPr lang="en-US" sz="800" b="1" i="0" u="none" strike="noStrike">
                          <a:solidFill>
                            <a:schemeClr val="tx1"/>
                          </a:solidFill>
                          <a:effectLst/>
                          <a:latin typeface="Arial" panose="020B0604020202020204" pitchFamily="34" charset="0"/>
                        </a:rPr>
                        <a:t>Distribution Channel</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92D050"/>
                    </a:solidFill>
                  </a:tcPr>
                </a:tc>
                <a:tc>
                  <a:txBody>
                    <a:bodyPr/>
                    <a:lstStyle/>
                    <a:p>
                      <a:pPr algn="l" fontAlgn="t"/>
                      <a:r>
                        <a:rPr lang="en-US" sz="800" b="1" i="0" u="none" strike="noStrike">
                          <a:solidFill>
                            <a:schemeClr val="bg1"/>
                          </a:solidFill>
                          <a:effectLst/>
                          <a:latin typeface="Arial" panose="020B0604020202020204" pitchFamily="34" charset="0"/>
                        </a:rPr>
                        <a:t>Posting Date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tc>
                  <a:txBody>
                    <a:bodyPr/>
                    <a:lstStyle/>
                    <a:p>
                      <a:pPr algn="l" fontAlgn="t"/>
                      <a:r>
                        <a:rPr lang="en-US" sz="800" b="1" i="0" u="none" strike="noStrike">
                          <a:solidFill>
                            <a:schemeClr val="bg1"/>
                          </a:solidFill>
                          <a:effectLst/>
                          <a:latin typeface="Arial" panose="020B0604020202020204" pitchFamily="34" charset="0"/>
                        </a:rPr>
                        <a:t>Doc Date</a:t>
                      </a:r>
                    </a:p>
                  </a:txBody>
                  <a:tcPr marL="4763" marR="4763" marT="4763"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dot"/>
                      <a:round/>
                      <a:headEnd type="none" w="med" len="med"/>
                      <a:tailEnd type="none" w="med" len="med"/>
                    </a:lnB>
                    <a:solidFill>
                      <a:srgbClr val="136677"/>
                    </a:solidFill>
                  </a:tcPr>
                </a:tc>
                <a:extLst>
                  <a:ext uri="{0D108BD9-81ED-4DB2-BD59-A6C34878D82A}">
                    <a16:rowId xmlns:a16="http://schemas.microsoft.com/office/drawing/2014/main" val="1533790736"/>
                  </a:ext>
                </a:extLst>
              </a:tr>
              <a:tr h="173203">
                <a:tc>
                  <a:txBody>
                    <a:bodyPr/>
                    <a:lstStyle/>
                    <a:p>
                      <a:pPr algn="l" fontAlgn="t"/>
                      <a:r>
                        <a:rPr lang="en-US" sz="700" b="0" i="0" u="none" strike="noStrike">
                          <a:effectLst/>
                          <a:latin typeface="Arial" panose="020B0604020202020204" pitchFamily="34" charset="0"/>
                        </a:rPr>
                        <a:t>0100070695</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00000001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AU01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00000000000000000001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fr-FR" sz="700" b="0" i="0" u="none" strike="noStrike">
                          <a:effectLst/>
                          <a:latin typeface="Arial" panose="020B0604020202020204" pitchFamily="34" charset="0"/>
                        </a:rPr>
                        <a:t>1216232138_AU_202201_M_48_001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PU028067</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5MS1C33702_AAS</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ctr" fontAlgn="t"/>
                      <a:r>
                        <a:rPr lang="en-US" sz="700" b="0" i="0" u="none" strike="noStrike">
                          <a:effectLst/>
                          <a:latin typeface="Arial" panose="020B0604020202020204" pitchFamily="34" charset="0"/>
                        </a:rPr>
                        <a:t>21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extLst>
                  <a:ext uri="{0D108BD9-81ED-4DB2-BD59-A6C34878D82A}">
                    <a16:rowId xmlns:a16="http://schemas.microsoft.com/office/drawing/2014/main" val="391385724"/>
                  </a:ext>
                </a:extLst>
              </a:tr>
              <a:tr h="141036">
                <a:tc>
                  <a:txBody>
                    <a:bodyPr/>
                    <a:lstStyle/>
                    <a:p>
                      <a:pPr algn="l" fontAlgn="t"/>
                      <a:r>
                        <a:rPr lang="en-US" sz="700" b="0" i="0" u="none" strike="noStrike">
                          <a:effectLst/>
                          <a:latin typeface="Arial" panose="020B0604020202020204" pitchFamily="34" charset="0"/>
                        </a:rPr>
                        <a:t>0100070695</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00000002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AU01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00000000000000000002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fr-FR" sz="700" b="0" i="0" u="none" strike="noStrike">
                          <a:effectLst/>
                          <a:latin typeface="Arial" panose="020B0604020202020204" pitchFamily="34" charset="0"/>
                        </a:rPr>
                        <a:t>1216232138_AU_202201_M_48_001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PU028067</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5TS0Z42087_AAS</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ctr" fontAlgn="t"/>
                      <a:r>
                        <a:rPr lang="en-US" sz="700" b="0" i="0" u="none" strike="noStrike">
                          <a:effectLst/>
                          <a:latin typeface="Arial" panose="020B0604020202020204" pitchFamily="34" charset="0"/>
                        </a:rPr>
                        <a:t>21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noFill/>
                  </a:tcPr>
                </a:tc>
                <a:extLst>
                  <a:ext uri="{0D108BD9-81ED-4DB2-BD59-A6C34878D82A}">
                    <a16:rowId xmlns:a16="http://schemas.microsoft.com/office/drawing/2014/main" val="246504053"/>
                  </a:ext>
                </a:extLst>
              </a:tr>
              <a:tr h="142394">
                <a:tc>
                  <a:txBody>
                    <a:bodyPr/>
                    <a:lstStyle/>
                    <a:p>
                      <a:pPr algn="l" fontAlgn="t"/>
                      <a:r>
                        <a:rPr lang="en-US" sz="700" b="0" i="0" u="none" strike="noStrike">
                          <a:effectLst/>
                          <a:latin typeface="Arial" panose="020B0604020202020204" pitchFamily="34" charset="0"/>
                        </a:rPr>
                        <a:t>0100070697</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00000018</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AU01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00000000000000000018</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1217506134_AU_202404_M_36_002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LPL_POAU03</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SUB1P14345</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t"/>
                      <a:r>
                        <a:rPr lang="en-US" sz="700" b="0" i="0" u="none" strike="noStrike">
                          <a:effectLst/>
                          <a:latin typeface="Arial" panose="020B0604020202020204" pitchFamily="34" charset="0"/>
                        </a:rPr>
                        <a:t>21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2678641005"/>
                  </a:ext>
                </a:extLst>
              </a:tr>
              <a:tr h="144200">
                <a:tc>
                  <a:txBody>
                    <a:bodyPr/>
                    <a:lstStyle/>
                    <a:p>
                      <a:pPr algn="l" fontAlgn="t"/>
                      <a:r>
                        <a:rPr lang="en-US" sz="700" b="0" i="0" u="none" strike="noStrike">
                          <a:effectLst/>
                          <a:latin typeface="Arial" panose="020B0604020202020204" pitchFamily="34" charset="0"/>
                        </a:rPr>
                        <a:t>0100070697</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00000019</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AU01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00000000000000000019</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fr-FR" sz="700" b="0" i="0" u="none" strike="noStrike">
                          <a:effectLst/>
                          <a:latin typeface="Arial" panose="020B0604020202020204" pitchFamily="34" charset="0"/>
                        </a:rPr>
                        <a:t>1217506134_AU_202404_M_36_002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LPL_POAU03</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SUB1P14343</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kumimoji="0" lang="en-US" sz="7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1215378359</a:t>
                      </a:r>
                      <a:endParaRPr lang="en-US" sz="700" b="0" i="0" u="none" strike="noStrike">
                        <a:effectLst/>
                        <a:latin typeface="Arial" panose="020B0604020202020204" pitchFamily="34" charset="0"/>
                      </a:endParaRP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ctr" fontAlgn="t"/>
                      <a:r>
                        <a:rPr lang="en-US" sz="700" b="0" i="0" u="none" strike="noStrike">
                          <a:effectLst/>
                          <a:latin typeface="Arial" panose="020B0604020202020204" pitchFamily="34" charset="0"/>
                        </a:rPr>
                        <a:t>21</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tc>
                  <a:txBody>
                    <a:bodyPr/>
                    <a:lstStyle/>
                    <a:p>
                      <a:pPr algn="l" fontAlgn="t"/>
                      <a:r>
                        <a:rPr lang="en-US" sz="700" b="0" i="0" u="none" strike="noStrike">
                          <a:effectLst/>
                          <a:latin typeface="Arial" panose="020B0604020202020204" pitchFamily="34" charset="0"/>
                        </a:rPr>
                        <a:t>20250102</a:t>
                      </a:r>
                    </a:p>
                  </a:txBody>
                  <a:tcPr marL="4763" marR="4763" marT="4763" marB="0">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w="6350" cap="flat" cmpd="sng" algn="ctr">
                      <a:solidFill>
                        <a:srgbClr val="000000"/>
                      </a:solidFill>
                      <a:prstDash val="dot"/>
                      <a:round/>
                      <a:headEnd type="none" w="med" len="med"/>
                      <a:tailEnd type="none" w="med" len="med"/>
                    </a:lnT>
                    <a:lnB w="6350" cap="flat" cmpd="sng" algn="ctr">
                      <a:solidFill>
                        <a:srgbClr val="000000"/>
                      </a:solidFill>
                      <a:prstDash val="dot"/>
                      <a:round/>
                      <a:headEnd type="none" w="med" len="med"/>
                      <a:tailEnd type="none" w="med" len="med"/>
                    </a:lnB>
                  </a:tcPr>
                </a:tc>
                <a:extLst>
                  <a:ext uri="{0D108BD9-81ED-4DB2-BD59-A6C34878D82A}">
                    <a16:rowId xmlns:a16="http://schemas.microsoft.com/office/drawing/2014/main" val="518761467"/>
                  </a:ext>
                </a:extLst>
              </a:tr>
            </a:tbl>
          </a:graphicData>
        </a:graphic>
      </p:graphicFrame>
      <p:sp>
        <p:nvSpPr>
          <p:cNvPr id="15" name="矩形 24">
            <a:extLst>
              <a:ext uri="{FF2B5EF4-FFF2-40B4-BE49-F238E27FC236}">
                <a16:creationId xmlns:a16="http://schemas.microsoft.com/office/drawing/2014/main" id="{3F6D92DF-0CF3-4984-413D-628F6AD11172}"/>
              </a:ext>
            </a:extLst>
          </p:cNvPr>
          <p:cNvSpPr/>
          <p:nvPr/>
        </p:nvSpPr>
        <p:spPr>
          <a:xfrm>
            <a:off x="8480638" y="2169317"/>
            <a:ext cx="1175151" cy="1053217"/>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cxnSp>
        <p:nvCxnSpPr>
          <p:cNvPr id="16" name="Connector: Elbow 15">
            <a:extLst>
              <a:ext uri="{FF2B5EF4-FFF2-40B4-BE49-F238E27FC236}">
                <a16:creationId xmlns:a16="http://schemas.microsoft.com/office/drawing/2014/main" id="{B2478F9C-A9E5-2075-B554-CFE1B767E71F}"/>
              </a:ext>
            </a:extLst>
          </p:cNvPr>
          <p:cNvCxnSpPr>
            <a:cxnSpLocks/>
            <a:stCxn id="15" idx="2"/>
            <a:endCxn id="17" idx="0"/>
          </p:cNvCxnSpPr>
          <p:nvPr/>
        </p:nvCxnSpPr>
        <p:spPr>
          <a:xfrm rot="5400000">
            <a:off x="7518478" y="2043272"/>
            <a:ext cx="370474" cy="2728998"/>
          </a:xfrm>
          <a:prstGeom prst="bentConnector3">
            <a:avLst>
              <a:gd name="adj1" fmla="val 50000"/>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7" name="矩形 24">
            <a:extLst>
              <a:ext uri="{FF2B5EF4-FFF2-40B4-BE49-F238E27FC236}">
                <a16:creationId xmlns:a16="http://schemas.microsoft.com/office/drawing/2014/main" id="{87DF7743-B07A-602F-23DE-07A895701AD1}"/>
              </a:ext>
            </a:extLst>
          </p:cNvPr>
          <p:cNvSpPr/>
          <p:nvPr/>
        </p:nvSpPr>
        <p:spPr>
          <a:xfrm>
            <a:off x="5675796" y="3593008"/>
            <a:ext cx="1326839" cy="648001"/>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sp>
        <p:nvSpPr>
          <p:cNvPr id="18" name="Marvin tracker circle">
            <a:extLst>
              <a:ext uri="{FF2B5EF4-FFF2-40B4-BE49-F238E27FC236}">
                <a16:creationId xmlns:a16="http://schemas.microsoft.com/office/drawing/2014/main" id="{D1FD4B26-5DE8-29D1-1D1A-76CA848CA116}"/>
              </a:ext>
            </a:extLst>
          </p:cNvPr>
          <p:cNvSpPr>
            <a:spLocks/>
          </p:cNvSpPr>
          <p:nvPr/>
        </p:nvSpPr>
        <p:spPr>
          <a:xfrm>
            <a:off x="5731401" y="3473191"/>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2</a:t>
            </a:r>
          </a:p>
        </p:txBody>
      </p:sp>
      <p:sp>
        <p:nvSpPr>
          <p:cNvPr id="19" name="Marvin tracker circle">
            <a:extLst>
              <a:ext uri="{FF2B5EF4-FFF2-40B4-BE49-F238E27FC236}">
                <a16:creationId xmlns:a16="http://schemas.microsoft.com/office/drawing/2014/main" id="{6A41A2E8-22EE-941F-3A1A-3B88C476C1CC}"/>
              </a:ext>
            </a:extLst>
          </p:cNvPr>
          <p:cNvSpPr>
            <a:spLocks/>
          </p:cNvSpPr>
          <p:nvPr/>
        </p:nvSpPr>
        <p:spPr>
          <a:xfrm>
            <a:off x="6440159" y="3478924"/>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1</a:t>
            </a:r>
          </a:p>
        </p:txBody>
      </p:sp>
      <p:sp>
        <p:nvSpPr>
          <p:cNvPr id="20" name="矩形 24">
            <a:extLst>
              <a:ext uri="{FF2B5EF4-FFF2-40B4-BE49-F238E27FC236}">
                <a16:creationId xmlns:a16="http://schemas.microsoft.com/office/drawing/2014/main" id="{122F4E62-2D57-706E-A11F-553AAD5A6BBD}"/>
              </a:ext>
            </a:extLst>
          </p:cNvPr>
          <p:cNvSpPr/>
          <p:nvPr/>
        </p:nvSpPr>
        <p:spPr>
          <a:xfrm>
            <a:off x="9655789" y="2147091"/>
            <a:ext cx="703819" cy="1053217"/>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cxnSp>
        <p:nvCxnSpPr>
          <p:cNvPr id="21" name="Connector: Elbow 20">
            <a:extLst>
              <a:ext uri="{FF2B5EF4-FFF2-40B4-BE49-F238E27FC236}">
                <a16:creationId xmlns:a16="http://schemas.microsoft.com/office/drawing/2014/main" id="{C1BE4832-291D-2ABF-3F7C-AF1688509547}"/>
              </a:ext>
            </a:extLst>
          </p:cNvPr>
          <p:cNvCxnSpPr>
            <a:cxnSpLocks/>
            <a:stCxn id="20" idx="2"/>
            <a:endCxn id="22" idx="0"/>
          </p:cNvCxnSpPr>
          <p:nvPr/>
        </p:nvCxnSpPr>
        <p:spPr>
          <a:xfrm rot="5400000">
            <a:off x="9398199" y="2952632"/>
            <a:ext cx="361825" cy="857177"/>
          </a:xfrm>
          <a:prstGeom prst="bentConnector3">
            <a:avLst>
              <a:gd name="adj1" fmla="val 50000"/>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22" name="矩形 24">
            <a:extLst>
              <a:ext uri="{FF2B5EF4-FFF2-40B4-BE49-F238E27FC236}">
                <a16:creationId xmlns:a16="http://schemas.microsoft.com/office/drawing/2014/main" id="{1F787632-BF76-DC1C-57B6-9D9B7E3B6D9F}"/>
              </a:ext>
            </a:extLst>
          </p:cNvPr>
          <p:cNvSpPr/>
          <p:nvPr/>
        </p:nvSpPr>
        <p:spPr>
          <a:xfrm>
            <a:off x="8805014" y="3562133"/>
            <a:ext cx="691015" cy="678875"/>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sp>
        <p:nvSpPr>
          <p:cNvPr id="24" name="Marvin tracker circle">
            <a:extLst>
              <a:ext uri="{FF2B5EF4-FFF2-40B4-BE49-F238E27FC236}">
                <a16:creationId xmlns:a16="http://schemas.microsoft.com/office/drawing/2014/main" id="{8EC0C075-01C6-887A-755A-BE5D37DB825F}"/>
              </a:ext>
            </a:extLst>
          </p:cNvPr>
          <p:cNvSpPr>
            <a:spLocks/>
          </p:cNvSpPr>
          <p:nvPr/>
        </p:nvSpPr>
        <p:spPr>
          <a:xfrm>
            <a:off x="9256608" y="3456075"/>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3</a:t>
            </a:r>
          </a:p>
        </p:txBody>
      </p:sp>
      <p:sp>
        <p:nvSpPr>
          <p:cNvPr id="25" name="矩形 24">
            <a:extLst>
              <a:ext uri="{FF2B5EF4-FFF2-40B4-BE49-F238E27FC236}">
                <a16:creationId xmlns:a16="http://schemas.microsoft.com/office/drawing/2014/main" id="{0B68F0C1-A611-A53D-B529-DD4F4C17AA03}"/>
              </a:ext>
            </a:extLst>
          </p:cNvPr>
          <p:cNvSpPr/>
          <p:nvPr/>
        </p:nvSpPr>
        <p:spPr>
          <a:xfrm>
            <a:off x="6443770" y="968692"/>
            <a:ext cx="2992838" cy="970135"/>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cxnSp>
        <p:nvCxnSpPr>
          <p:cNvPr id="26" name="Connector: Elbow 25">
            <a:extLst>
              <a:ext uri="{FF2B5EF4-FFF2-40B4-BE49-F238E27FC236}">
                <a16:creationId xmlns:a16="http://schemas.microsoft.com/office/drawing/2014/main" id="{08DAAD82-FD8D-617D-0C11-273E2B2821F2}"/>
              </a:ext>
            </a:extLst>
          </p:cNvPr>
          <p:cNvCxnSpPr>
            <a:cxnSpLocks/>
            <a:stCxn id="25" idx="2"/>
            <a:endCxn id="28" idx="0"/>
          </p:cNvCxnSpPr>
          <p:nvPr/>
        </p:nvCxnSpPr>
        <p:spPr>
          <a:xfrm rot="5400000">
            <a:off x="6597797" y="826925"/>
            <a:ext cx="230490" cy="2454295"/>
          </a:xfrm>
          <a:prstGeom prst="bentConnector3">
            <a:avLst>
              <a:gd name="adj1" fmla="val 50000"/>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28" name="矩形 24">
            <a:extLst>
              <a:ext uri="{FF2B5EF4-FFF2-40B4-BE49-F238E27FC236}">
                <a16:creationId xmlns:a16="http://schemas.microsoft.com/office/drawing/2014/main" id="{46E64874-FFDF-F00E-A1E3-E8511958D7C1}"/>
              </a:ext>
            </a:extLst>
          </p:cNvPr>
          <p:cNvSpPr/>
          <p:nvPr/>
        </p:nvSpPr>
        <p:spPr>
          <a:xfrm>
            <a:off x="4708148" y="2169317"/>
            <a:ext cx="1555492" cy="1005518"/>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a:ea typeface="黑体" panose="02010609060101010101" pitchFamily="49" charset="-122"/>
              <a:cs typeface="+mn-cs"/>
            </a:endParaRPr>
          </a:p>
        </p:txBody>
      </p:sp>
      <p:sp>
        <p:nvSpPr>
          <p:cNvPr id="34" name="Marvin tracker circle">
            <a:extLst>
              <a:ext uri="{FF2B5EF4-FFF2-40B4-BE49-F238E27FC236}">
                <a16:creationId xmlns:a16="http://schemas.microsoft.com/office/drawing/2014/main" id="{657C741A-905C-1726-6B6E-C2A682BA7612}"/>
              </a:ext>
            </a:extLst>
          </p:cNvPr>
          <p:cNvSpPr>
            <a:spLocks/>
          </p:cNvSpPr>
          <p:nvPr/>
        </p:nvSpPr>
        <p:spPr>
          <a:xfrm>
            <a:off x="576517" y="4964954"/>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1</a:t>
            </a:r>
          </a:p>
        </p:txBody>
      </p:sp>
      <p:sp>
        <p:nvSpPr>
          <p:cNvPr id="35" name="Marvin tracker circle">
            <a:extLst>
              <a:ext uri="{FF2B5EF4-FFF2-40B4-BE49-F238E27FC236}">
                <a16:creationId xmlns:a16="http://schemas.microsoft.com/office/drawing/2014/main" id="{71C177FB-1D7D-CE8A-4281-4653818BD405}"/>
              </a:ext>
            </a:extLst>
          </p:cNvPr>
          <p:cNvSpPr>
            <a:spLocks/>
          </p:cNvSpPr>
          <p:nvPr/>
        </p:nvSpPr>
        <p:spPr>
          <a:xfrm>
            <a:off x="936517" y="4964954"/>
            <a:ext cx="180000" cy="180000"/>
          </a:xfrm>
          <a:prstGeom prst="ellipse">
            <a:avLst/>
          </a:pr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ＭＳ Ｐゴシック"/>
                <a:cs typeface="+mn-cs"/>
              </a:rPr>
              <a:t>3</a:t>
            </a:r>
          </a:p>
        </p:txBody>
      </p:sp>
    </p:spTree>
    <p:extLst>
      <p:ext uri="{BB962C8B-B14F-4D97-AF65-F5344CB8AC3E}">
        <p14:creationId xmlns:p14="http://schemas.microsoft.com/office/powerpoint/2010/main" val="1037678625"/>
      </p:ext>
    </p:extLst>
  </p:cSld>
  <p:clrMapOvr>
    <a:masterClrMapping/>
  </p:clrMapOvr>
  <p:transition spd="med"/>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C40F37-E27E-B21D-4590-632434C652F0}"/>
            </a:ext>
          </a:extLst>
        </p:cNvPr>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FF112D23-A049-55D9-E53F-08523F3103E0}"/>
              </a:ext>
            </a:extLst>
          </p:cNvPr>
          <p:cNvSpPr>
            <a:spLocks noGrp="1"/>
          </p:cNvSpPr>
          <p:nvPr>
            <p:ph type="sldNum" sz="quarter" idx="4"/>
          </p:nvPr>
        </p:nvSpPr>
        <p:spPr>
          <a:xfrm>
            <a:off x="11749913" y="6473952"/>
            <a:ext cx="438912" cy="155448"/>
          </a:xfrm>
          <a:prstGeom prst="rect">
            <a:avLst/>
          </a:prstGeom>
        </p:spPr>
        <p:txBody>
          <a:bodyPr vert="horz" lIns="0" tIns="0" rIns="0" bIns="0" rtlCol="0" anchor="ctr"/>
          <a:lstStyle>
            <a:defPPr>
              <a:defRPr lang="en-US"/>
            </a:defPPr>
            <a:lvl1pPr marL="0" algn="ctr" defTabSz="1218987"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182</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标题 1">
            <a:extLst>
              <a:ext uri="{FF2B5EF4-FFF2-40B4-BE49-F238E27FC236}">
                <a16:creationId xmlns:a16="http://schemas.microsoft.com/office/drawing/2014/main" id="{5F4B8377-9ABA-752B-123E-A25A43CABCAD}"/>
              </a:ext>
            </a:extLst>
          </p:cNvPr>
          <p:cNvSpPr txBox="1">
            <a:spLocks/>
          </p:cNvSpPr>
          <p:nvPr/>
        </p:nvSpPr>
        <p:spPr bwMode="gray">
          <a:xfrm>
            <a:off x="561735" y="160324"/>
            <a:ext cx="11174839" cy="543910"/>
          </a:xfrm>
          <a:prstGeom prst="rect">
            <a:avLst/>
          </a:prstGeom>
        </p:spPr>
        <p:txBody>
          <a:bodyPr wrap="square" lIns="0" tIns="0" rIns="0" bIns="0" anchor="ctr" anchorCtr="0">
            <a:noAutofit/>
          </a:bodyPr>
          <a:lstStyle>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pPr marL="0" marR="0" lvl="0" indent="0" algn="l" defTabSz="1218987" rtl="0" eaLnBrk="1" fontAlgn="auto" latinLnBrk="0" hangingPunct="1">
              <a:lnSpc>
                <a:spcPts val="3200"/>
              </a:lnSpc>
              <a:spcBef>
                <a:spcPct val="0"/>
              </a:spcBef>
              <a:spcAft>
                <a:spcPts val="0"/>
              </a:spcAft>
              <a:buClrTx/>
              <a:buSzTx/>
              <a:buFontTx/>
              <a:buNone/>
              <a:tabLst>
                <a:tab pos="1218987" algn="l"/>
              </a:tabLst>
              <a:defRPr/>
            </a:pPr>
            <a:r>
              <a:rPr kumimoji="0" lang="en-US" altLang="zh-CN" sz="2800" b="1" i="0" u="none" strike="noStrike" kern="1200" cap="none" spc="-15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DaaS Booking and </a:t>
            </a:r>
            <a:r>
              <a:rPr kumimoji="0" lang="en-US" altLang="zh-CN" sz="2800" b="1" i="0" u="none" strike="noStrike" kern="1200" cap="none" spc="-150" normalizeH="0" baseline="0" noProof="0" err="1">
                <a:ln>
                  <a:noFill/>
                </a:ln>
                <a:solidFill>
                  <a:srgbClr val="000000"/>
                </a:solidFill>
                <a:effectLst/>
                <a:uLnTx/>
                <a:uFillTx/>
                <a:latin typeface="Arial" pitchFamily="34" charset="0"/>
                <a:ea typeface="黑体" panose="02010609060101010101" pitchFamily="49" charset="-122"/>
                <a:cs typeface="Arial" pitchFamily="34" charset="0"/>
              </a:rPr>
              <a:t>RoW</a:t>
            </a:r>
            <a:r>
              <a:rPr kumimoji="0" lang="en-US" altLang="zh-CN" sz="2800" b="1" i="0" u="none" strike="noStrike" kern="1200" cap="none" spc="-15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PSD:</a:t>
            </a:r>
            <a:endParaRPr kumimoji="0" lang="en-US" sz="2800" b="1" i="0" u="none" strike="noStrike" kern="1200" cap="none" spc="-150" normalizeH="0" baseline="0" noProof="0">
              <a:ln>
                <a:noFill/>
              </a:ln>
              <a:solidFill>
                <a:srgbClr val="000000"/>
              </a:solidFill>
              <a:effectLst/>
              <a:uLnTx/>
              <a:uFillTx/>
              <a:latin typeface="Arial" pitchFamily="34" charset="0"/>
              <a:ea typeface="+mn-ea"/>
              <a:cs typeface="Arial" pitchFamily="34" charset="0"/>
            </a:endParaRPr>
          </a:p>
        </p:txBody>
      </p:sp>
      <p:sp>
        <p:nvSpPr>
          <p:cNvPr id="3" name="TextBox 2">
            <a:extLst>
              <a:ext uri="{FF2B5EF4-FFF2-40B4-BE49-F238E27FC236}">
                <a16:creationId xmlns:a16="http://schemas.microsoft.com/office/drawing/2014/main" id="{7F49A068-E0DB-87C8-187F-F7BEDA45172F}"/>
              </a:ext>
            </a:extLst>
          </p:cNvPr>
          <p:cNvSpPr txBox="1"/>
          <p:nvPr/>
        </p:nvSpPr>
        <p:spPr>
          <a:xfrm>
            <a:off x="502024" y="1350565"/>
            <a:ext cx="5593976" cy="369332"/>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800" b="1" i="0" u="none" strike="noStrike" kern="1200" cap="none" spc="0" normalizeH="0" baseline="0" noProof="0">
                <a:ln>
                  <a:noFill/>
                </a:ln>
                <a:solidFill>
                  <a:srgbClr val="000000"/>
                </a:solidFill>
                <a:effectLst/>
                <a:uLnTx/>
                <a:uFillTx/>
                <a:latin typeface="Arial" pitchFamily="34" charset="0"/>
                <a:ea typeface="+mn-ea"/>
                <a:cs typeface="Arial" pitchFamily="34" charset="0"/>
              </a:rPr>
              <a:t>D</a:t>
            </a:r>
            <a:r>
              <a:rPr kumimoji="0" lang="en-US" altLang="zh-CN" sz="1800" b="1"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aaS booking EaaS Source FL&amp;OL Logic:</a:t>
            </a:r>
          </a:p>
        </p:txBody>
      </p:sp>
      <p:sp>
        <p:nvSpPr>
          <p:cNvPr id="5" name="TextBox 4">
            <a:extLst>
              <a:ext uri="{FF2B5EF4-FFF2-40B4-BE49-F238E27FC236}">
                <a16:creationId xmlns:a16="http://schemas.microsoft.com/office/drawing/2014/main" id="{5B970431-05F5-1D01-4B3E-DCB8447F1C78}"/>
              </a:ext>
            </a:extLst>
          </p:cNvPr>
          <p:cNvSpPr txBox="1"/>
          <p:nvPr/>
        </p:nvSpPr>
        <p:spPr>
          <a:xfrm>
            <a:off x="502024" y="3462317"/>
            <a:ext cx="9812504" cy="369332"/>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800" b="1" i="0" u="none" strike="noStrike" kern="1200" cap="none" spc="0" normalizeH="0" baseline="0" noProof="0" err="1">
                <a:ln>
                  <a:noFill/>
                </a:ln>
                <a:solidFill>
                  <a:srgbClr val="000000"/>
                </a:solidFill>
                <a:effectLst/>
                <a:uLnTx/>
                <a:uFillTx/>
                <a:latin typeface="Arial" pitchFamily="34" charset="0"/>
                <a:ea typeface="+mn-ea"/>
                <a:cs typeface="Arial" pitchFamily="34" charset="0"/>
              </a:rPr>
              <a:t>RoW</a:t>
            </a:r>
            <a:r>
              <a:rPr kumimoji="0" lang="en-US" sz="1800" b="1" i="0" u="none" strike="noStrike" kern="1200" cap="none" spc="0" normalizeH="0" baseline="0" noProof="0">
                <a:ln>
                  <a:noFill/>
                </a:ln>
                <a:solidFill>
                  <a:srgbClr val="000000"/>
                </a:solidFill>
                <a:effectLst/>
                <a:uLnTx/>
                <a:uFillTx/>
                <a:latin typeface="Arial" pitchFamily="34" charset="0"/>
                <a:ea typeface="+mn-ea"/>
                <a:cs typeface="Arial" pitchFamily="34" charset="0"/>
              </a:rPr>
              <a:t> PSD Basic reporting &amp; As sold as delivered, filter system posting logic</a:t>
            </a:r>
            <a:r>
              <a:rPr kumimoji="0" lang="en-US" altLang="zh-CN" sz="1800" b="1"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a:t>
            </a:r>
          </a:p>
        </p:txBody>
      </p:sp>
      <p:sp>
        <p:nvSpPr>
          <p:cNvPr id="8" name="TextBox 7">
            <a:extLst>
              <a:ext uri="{FF2B5EF4-FFF2-40B4-BE49-F238E27FC236}">
                <a16:creationId xmlns:a16="http://schemas.microsoft.com/office/drawing/2014/main" id="{0D05FF0D-84FE-0376-0601-5B3C12570CC9}"/>
              </a:ext>
            </a:extLst>
          </p:cNvPr>
          <p:cNvSpPr txBox="1"/>
          <p:nvPr/>
        </p:nvSpPr>
        <p:spPr>
          <a:xfrm>
            <a:off x="655397" y="1954144"/>
            <a:ext cx="5540822" cy="132343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AS-IS Logic:</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Capture the total USD amount from Ledger [Revenue]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 Account = 5010509(4000601000), 5010450(4000600000)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 Posting User Name = 'SYS-LMS','SYSB-LMS', 'BRIMFICA' ,‘LMS-SPLIT’ and sum up</a:t>
            </a:r>
          </a:p>
        </p:txBody>
      </p:sp>
      <p:sp>
        <p:nvSpPr>
          <p:cNvPr id="9" name="Arrow: Right 8">
            <a:extLst>
              <a:ext uri="{FF2B5EF4-FFF2-40B4-BE49-F238E27FC236}">
                <a16:creationId xmlns:a16="http://schemas.microsoft.com/office/drawing/2014/main" id="{AA5DBFD8-4667-41FE-9444-65130755AEE5}"/>
              </a:ext>
            </a:extLst>
          </p:cNvPr>
          <p:cNvSpPr/>
          <p:nvPr/>
        </p:nvSpPr>
        <p:spPr>
          <a:xfrm>
            <a:off x="6096000" y="2536199"/>
            <a:ext cx="571500" cy="295835"/>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10" name="TextBox 9">
            <a:extLst>
              <a:ext uri="{FF2B5EF4-FFF2-40B4-BE49-F238E27FC236}">
                <a16:creationId xmlns:a16="http://schemas.microsoft.com/office/drawing/2014/main" id="{E186506A-B170-4FF3-7193-6435CCB5A78F}"/>
              </a:ext>
            </a:extLst>
          </p:cNvPr>
          <p:cNvSpPr txBox="1"/>
          <p:nvPr/>
        </p:nvSpPr>
        <p:spPr>
          <a:xfrm>
            <a:off x="6767719" y="1954144"/>
            <a:ext cx="5540822" cy="132343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TO-BE Logic:</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Capture the total USD amount from Ledger [Revenue]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 Account = 5010509(4000601000), 5010450(4000600000)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 Posting User Name = 'SYS-LMS','SYSB-LMS’, </a:t>
            </a:r>
            <a:r>
              <a:rPr kumimoji="0" lang="en-US" sz="1600" b="0" i="0" u="none" strike="noStrike" kern="1200" cap="none" spc="0" normalizeH="0" baseline="0" noProof="0">
                <a:ln>
                  <a:noFill/>
                </a:ln>
                <a:solidFill>
                  <a:srgbClr val="FF0000"/>
                </a:solidFill>
                <a:effectLst/>
                <a:uLnTx/>
                <a:uFillTx/>
                <a:latin typeface="Calibri" panose="020F0502020204030204" pitchFamily="34" charset="0"/>
                <a:ea typeface="+mn-ea"/>
                <a:cs typeface="+mn-cs"/>
              </a:rPr>
              <a:t>‘</a:t>
            </a:r>
            <a:r>
              <a:rPr kumimoji="0" lang="en-US" sz="1600" b="1" i="0" u="none" strike="noStrike" kern="1200" cap="none" spc="0" normalizeH="0" baseline="0" noProof="0">
                <a:ln>
                  <a:noFill/>
                </a:ln>
                <a:solidFill>
                  <a:srgbClr val="FF0000"/>
                </a:solidFill>
                <a:effectLst/>
                <a:uLnTx/>
                <a:uFillTx/>
                <a:latin typeface="Calibri" panose="020F0502020204030204" pitchFamily="34" charset="0"/>
                <a:ea typeface="+mn-ea"/>
                <a:cs typeface="+mn-cs"/>
              </a:rPr>
              <a:t>TBD</a:t>
            </a:r>
            <a:r>
              <a:rPr kumimoji="0" lang="en-US" sz="1600" b="0" i="0" u="none" strike="noStrike" kern="1200" cap="none" spc="0" normalizeH="0" baseline="0" noProof="0">
                <a:ln>
                  <a:noFill/>
                </a:ln>
                <a:solidFill>
                  <a:srgbClr val="FF0000"/>
                </a:solidFill>
                <a:effectLst/>
                <a:uLnTx/>
                <a:uFillTx/>
                <a:latin typeface="Calibri" panose="020F0502020204030204" pitchFamily="34" charset="0"/>
                <a:ea typeface="+mn-ea"/>
                <a:cs typeface="+mn-cs"/>
              </a:rPr>
              <a:t>’ </a:t>
            </a: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,‘LMS-SPLIT’ and sum up</a:t>
            </a:r>
          </a:p>
        </p:txBody>
      </p:sp>
      <p:sp>
        <p:nvSpPr>
          <p:cNvPr id="11" name="TextBox 10">
            <a:extLst>
              <a:ext uri="{FF2B5EF4-FFF2-40B4-BE49-F238E27FC236}">
                <a16:creationId xmlns:a16="http://schemas.microsoft.com/office/drawing/2014/main" id="{81106AB1-9995-B4B8-5777-A76EDA057D30}"/>
              </a:ext>
            </a:extLst>
          </p:cNvPr>
          <p:cNvSpPr txBox="1"/>
          <p:nvPr/>
        </p:nvSpPr>
        <p:spPr>
          <a:xfrm>
            <a:off x="655397" y="3900424"/>
            <a:ext cx="5540822" cy="58477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AS-IS Logic:</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Filter system posting ledger by following Posting user name:</a:t>
            </a:r>
          </a:p>
        </p:txBody>
      </p:sp>
      <p:sp>
        <p:nvSpPr>
          <p:cNvPr id="12" name="Arrow: Right 11">
            <a:extLst>
              <a:ext uri="{FF2B5EF4-FFF2-40B4-BE49-F238E27FC236}">
                <a16:creationId xmlns:a16="http://schemas.microsoft.com/office/drawing/2014/main" id="{A8D77420-18CB-3850-A7D1-3B4D97044D5A}"/>
              </a:ext>
            </a:extLst>
          </p:cNvPr>
          <p:cNvSpPr/>
          <p:nvPr/>
        </p:nvSpPr>
        <p:spPr>
          <a:xfrm>
            <a:off x="6096000" y="4482479"/>
            <a:ext cx="571500" cy="295835"/>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13" name="TextBox 12">
            <a:extLst>
              <a:ext uri="{FF2B5EF4-FFF2-40B4-BE49-F238E27FC236}">
                <a16:creationId xmlns:a16="http://schemas.microsoft.com/office/drawing/2014/main" id="{8A75FB7B-9C12-9E35-1474-D690E95568CA}"/>
              </a:ext>
            </a:extLst>
          </p:cNvPr>
          <p:cNvSpPr txBox="1"/>
          <p:nvPr/>
        </p:nvSpPr>
        <p:spPr>
          <a:xfrm>
            <a:off x="6767719" y="3900424"/>
            <a:ext cx="5540822" cy="58477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TO-BE Logic:</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Filter system posting ledger by following Posting user name:</a:t>
            </a:r>
          </a:p>
        </p:txBody>
      </p:sp>
      <p:graphicFrame>
        <p:nvGraphicFramePr>
          <p:cNvPr id="14" name="Table 13">
            <a:extLst>
              <a:ext uri="{FF2B5EF4-FFF2-40B4-BE49-F238E27FC236}">
                <a16:creationId xmlns:a16="http://schemas.microsoft.com/office/drawing/2014/main" id="{8585CD67-1232-1BF6-0CE2-192233833D32}"/>
              </a:ext>
            </a:extLst>
          </p:cNvPr>
          <p:cNvGraphicFramePr>
            <a:graphicFrameLocks noGrp="1"/>
          </p:cNvGraphicFramePr>
          <p:nvPr/>
        </p:nvGraphicFramePr>
        <p:xfrm>
          <a:off x="1310025" y="4492540"/>
          <a:ext cx="1231470" cy="1330035"/>
        </p:xfrm>
        <a:graphic>
          <a:graphicData uri="http://schemas.openxmlformats.org/drawingml/2006/table">
            <a:tbl>
              <a:tblPr firstRow="1" bandRow="1">
                <a:tableStyleId>{5C22544A-7EE6-4342-B048-85BDC9FD1C3A}</a:tableStyleId>
              </a:tblPr>
              <a:tblGrid>
                <a:gridCol w="1231470">
                  <a:extLst>
                    <a:ext uri="{9D8B030D-6E8A-4147-A177-3AD203B41FA5}">
                      <a16:colId xmlns:a16="http://schemas.microsoft.com/office/drawing/2014/main" val="3918555463"/>
                    </a:ext>
                  </a:extLst>
                </a:gridCol>
              </a:tblGrid>
              <a:tr h="266007">
                <a:tc>
                  <a:txBody>
                    <a:bodyPr/>
                    <a:lstStyle/>
                    <a:p>
                      <a:r>
                        <a:rPr lang="en-US" sz="1000" b="0" i="0" kern="1200">
                          <a:solidFill>
                            <a:schemeClr val="tx1"/>
                          </a:solidFill>
                          <a:effectLst/>
                          <a:latin typeface="+mn-lt"/>
                          <a:ea typeface="+mn-ea"/>
                          <a:cs typeface="+mn-cs"/>
                        </a:rPr>
                        <a:t>MSPO-ROW</a:t>
                      </a:r>
                      <a:endParaRPr lang="en-US" sz="10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78840178"/>
                  </a:ext>
                </a:extLst>
              </a:tr>
              <a:tr h="266007">
                <a:tc>
                  <a:txBody>
                    <a:bodyPr/>
                    <a:lstStyle/>
                    <a:p>
                      <a:r>
                        <a:rPr lang="en-US" sz="1000" b="0" i="0" kern="1200">
                          <a:solidFill>
                            <a:schemeClr val="tx1"/>
                          </a:solidFill>
                          <a:effectLst/>
                          <a:latin typeface="+mn-lt"/>
                          <a:ea typeface="+mn-ea"/>
                          <a:cs typeface="+mn-cs"/>
                        </a:rPr>
                        <a:t>ARIBACIGTST</a:t>
                      </a:r>
                      <a:endParaRPr lang="en-US" sz="10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56134609"/>
                  </a:ext>
                </a:extLst>
              </a:tr>
              <a:tr h="266007">
                <a:tc>
                  <a:txBody>
                    <a:bodyPr/>
                    <a:lstStyle/>
                    <a:p>
                      <a:r>
                        <a:rPr lang="en-US" sz="1000" b="0" i="0" kern="1200">
                          <a:solidFill>
                            <a:schemeClr val="tx1"/>
                          </a:solidFill>
                          <a:effectLst/>
                          <a:latin typeface="+mn-lt"/>
                          <a:ea typeface="+mn-ea"/>
                          <a:cs typeface="+mn-cs"/>
                        </a:rPr>
                        <a:t>BRIMFICA</a:t>
                      </a:r>
                      <a:endParaRPr lang="en-US" sz="10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02397756"/>
                  </a:ext>
                </a:extLst>
              </a:tr>
              <a:tr h="266007">
                <a:tc>
                  <a:txBody>
                    <a:bodyPr/>
                    <a:lstStyle/>
                    <a:p>
                      <a:r>
                        <a:rPr lang="en-US" sz="1000" b="0" i="0" kern="1200">
                          <a:solidFill>
                            <a:schemeClr val="tx1"/>
                          </a:solidFill>
                          <a:effectLst/>
                          <a:latin typeface="+mn-lt"/>
                          <a:ea typeface="+mn-ea"/>
                          <a:cs typeface="+mn-cs"/>
                        </a:rPr>
                        <a:t>*SYS*</a:t>
                      </a:r>
                      <a:endParaRPr lang="en-US" sz="10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4939107"/>
                  </a:ext>
                </a:extLst>
              </a:tr>
              <a:tr h="266007">
                <a:tc>
                  <a:txBody>
                    <a:bodyPr/>
                    <a:lstStyle/>
                    <a:p>
                      <a:r>
                        <a:rPr lang="en-US" sz="1000" b="0" i="0" kern="1200">
                          <a:solidFill>
                            <a:schemeClr val="tx1"/>
                          </a:solidFill>
                          <a:effectLst/>
                          <a:latin typeface="+mn-lt"/>
                          <a:ea typeface="+mn-ea"/>
                          <a:cs typeface="+mn-cs"/>
                        </a:rPr>
                        <a:t>*BKJOB*</a:t>
                      </a:r>
                      <a:endParaRPr lang="en-US" sz="10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48700528"/>
                  </a:ext>
                </a:extLst>
              </a:tr>
            </a:tbl>
          </a:graphicData>
        </a:graphic>
      </p:graphicFrame>
      <p:graphicFrame>
        <p:nvGraphicFramePr>
          <p:cNvPr id="15" name="Table 14">
            <a:extLst>
              <a:ext uri="{FF2B5EF4-FFF2-40B4-BE49-F238E27FC236}">
                <a16:creationId xmlns:a16="http://schemas.microsoft.com/office/drawing/2014/main" id="{12667317-9C9E-307E-79A7-BE5B49CFE67A}"/>
              </a:ext>
            </a:extLst>
          </p:cNvPr>
          <p:cNvGraphicFramePr>
            <a:graphicFrameLocks noGrp="1"/>
          </p:cNvGraphicFramePr>
          <p:nvPr/>
        </p:nvGraphicFramePr>
        <p:xfrm>
          <a:off x="7366363" y="4482479"/>
          <a:ext cx="1231470" cy="1330035"/>
        </p:xfrm>
        <a:graphic>
          <a:graphicData uri="http://schemas.openxmlformats.org/drawingml/2006/table">
            <a:tbl>
              <a:tblPr firstRow="1" bandRow="1">
                <a:tableStyleId>{5C22544A-7EE6-4342-B048-85BDC9FD1C3A}</a:tableStyleId>
              </a:tblPr>
              <a:tblGrid>
                <a:gridCol w="1231470">
                  <a:extLst>
                    <a:ext uri="{9D8B030D-6E8A-4147-A177-3AD203B41FA5}">
                      <a16:colId xmlns:a16="http://schemas.microsoft.com/office/drawing/2014/main" val="3918555463"/>
                    </a:ext>
                  </a:extLst>
                </a:gridCol>
              </a:tblGrid>
              <a:tr h="266007">
                <a:tc>
                  <a:txBody>
                    <a:bodyPr/>
                    <a:lstStyle/>
                    <a:p>
                      <a:r>
                        <a:rPr lang="en-US" sz="1000" b="0" i="0" kern="1200">
                          <a:solidFill>
                            <a:schemeClr val="tx1"/>
                          </a:solidFill>
                          <a:effectLst/>
                          <a:latin typeface="+mn-lt"/>
                          <a:ea typeface="+mn-ea"/>
                          <a:cs typeface="+mn-cs"/>
                        </a:rPr>
                        <a:t>MSPO-ROW</a:t>
                      </a:r>
                      <a:endParaRPr lang="en-US" sz="10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78840178"/>
                  </a:ext>
                </a:extLst>
              </a:tr>
              <a:tr h="266007">
                <a:tc>
                  <a:txBody>
                    <a:bodyPr/>
                    <a:lstStyle/>
                    <a:p>
                      <a:r>
                        <a:rPr lang="en-US" sz="1000" b="0" i="0" kern="1200">
                          <a:solidFill>
                            <a:schemeClr val="tx1"/>
                          </a:solidFill>
                          <a:effectLst/>
                          <a:latin typeface="+mn-lt"/>
                          <a:ea typeface="+mn-ea"/>
                          <a:cs typeface="+mn-cs"/>
                        </a:rPr>
                        <a:t>ARIBACIGTST</a:t>
                      </a:r>
                      <a:endParaRPr lang="en-US" sz="10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56134609"/>
                  </a:ext>
                </a:extLst>
              </a:tr>
              <a:tr h="266007">
                <a:tc>
                  <a:txBody>
                    <a:bodyPr/>
                    <a:lstStyle/>
                    <a:p>
                      <a:r>
                        <a:rPr lang="en-US" sz="1000" b="1" i="0" kern="1200">
                          <a:solidFill>
                            <a:srgbClr val="FF0000"/>
                          </a:solidFill>
                          <a:effectLst/>
                          <a:latin typeface="+mn-lt"/>
                          <a:ea typeface="+mn-ea"/>
                          <a:cs typeface="+mn-cs"/>
                        </a:rPr>
                        <a:t>TBD</a:t>
                      </a:r>
                      <a:endParaRPr lang="en-US" sz="1000" b="1">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02397756"/>
                  </a:ext>
                </a:extLst>
              </a:tr>
              <a:tr h="266007">
                <a:tc>
                  <a:txBody>
                    <a:bodyPr/>
                    <a:lstStyle/>
                    <a:p>
                      <a:r>
                        <a:rPr lang="en-US" sz="1000" b="0" i="0" kern="1200">
                          <a:solidFill>
                            <a:schemeClr val="tx1"/>
                          </a:solidFill>
                          <a:effectLst/>
                          <a:latin typeface="+mn-lt"/>
                          <a:ea typeface="+mn-ea"/>
                          <a:cs typeface="+mn-cs"/>
                        </a:rPr>
                        <a:t>*SYS*</a:t>
                      </a:r>
                      <a:endParaRPr lang="en-US" sz="10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4939107"/>
                  </a:ext>
                </a:extLst>
              </a:tr>
              <a:tr h="266007">
                <a:tc>
                  <a:txBody>
                    <a:bodyPr/>
                    <a:lstStyle/>
                    <a:p>
                      <a:r>
                        <a:rPr lang="en-US" sz="1000" b="0" i="0" kern="1200">
                          <a:solidFill>
                            <a:schemeClr val="tx1"/>
                          </a:solidFill>
                          <a:effectLst/>
                          <a:latin typeface="+mn-lt"/>
                          <a:ea typeface="+mn-ea"/>
                          <a:cs typeface="+mn-cs"/>
                        </a:rPr>
                        <a:t>*BKJOB*</a:t>
                      </a:r>
                      <a:endParaRPr lang="en-US" sz="10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48700528"/>
                  </a:ext>
                </a:extLst>
              </a:tr>
            </a:tbl>
          </a:graphicData>
        </a:graphic>
      </p:graphicFrame>
      <p:sp>
        <p:nvSpPr>
          <p:cNvPr id="16" name="TextBox 15">
            <a:extLst>
              <a:ext uri="{FF2B5EF4-FFF2-40B4-BE49-F238E27FC236}">
                <a16:creationId xmlns:a16="http://schemas.microsoft.com/office/drawing/2014/main" id="{20B957D0-34F9-24F3-C18F-AECBA44FFA24}"/>
              </a:ext>
            </a:extLst>
          </p:cNvPr>
          <p:cNvSpPr txBox="1"/>
          <p:nvPr/>
        </p:nvSpPr>
        <p:spPr>
          <a:xfrm>
            <a:off x="502025" y="673261"/>
            <a:ext cx="1152995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pitchFamily="34" charset="0"/>
                <a:ea typeface="+mn-ea"/>
                <a:cs typeface="Arial" pitchFamily="34" charset="0"/>
              </a:rPr>
              <a:t>R</a:t>
            </a:r>
            <a:r>
              <a:rPr kumimoji="0" lang="en-US" altLang="zh-CN" sz="1600" b="0"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ight now, </a:t>
            </a:r>
            <a:r>
              <a:rPr kumimoji="0" lang="en-US" sz="1600" b="0" i="0" u="none" strike="noStrike" kern="1200" cap="none" spc="0" normalizeH="0" baseline="0" noProof="0">
                <a:ln>
                  <a:noFill/>
                </a:ln>
                <a:solidFill>
                  <a:srgbClr val="000000"/>
                </a:solidFill>
                <a:effectLst/>
                <a:uLnTx/>
                <a:uFillTx/>
                <a:latin typeface="Arial"/>
                <a:ea typeface="+mn-ea"/>
                <a:cs typeface="+mn-cs"/>
              </a:rPr>
              <a:t>the value of the posting user name to be posted from </a:t>
            </a:r>
            <a:r>
              <a:rPr kumimoji="0" lang="en-US" sz="1600" b="0" i="0" u="none" strike="noStrike" kern="1200" cap="none" spc="0" normalizeH="0" baseline="0" noProof="0" err="1">
                <a:ln>
                  <a:noFill/>
                </a:ln>
                <a:solidFill>
                  <a:srgbClr val="000000"/>
                </a:solidFill>
                <a:effectLst/>
                <a:uLnTx/>
                <a:uFillTx/>
                <a:latin typeface="Arial"/>
                <a:ea typeface="+mn-ea"/>
                <a:cs typeface="+mn-cs"/>
              </a:rPr>
              <a:t>Nexbill</a:t>
            </a:r>
            <a:r>
              <a:rPr kumimoji="0" lang="en-US" sz="1600" b="0" i="0" u="none" strike="noStrike" kern="1200" cap="none" spc="0" normalizeH="0" baseline="0" noProof="0">
                <a:ln>
                  <a:noFill/>
                </a:ln>
                <a:solidFill>
                  <a:srgbClr val="000000"/>
                </a:solidFill>
                <a:effectLst/>
                <a:uLnTx/>
                <a:uFillTx/>
                <a:latin typeface="Arial"/>
                <a:ea typeface="+mn-ea"/>
                <a:cs typeface="+mn-cs"/>
              </a:rPr>
              <a:t> is not confirmed, so we temporarily put </a:t>
            </a:r>
            <a:r>
              <a:rPr kumimoji="0" lang="en-US" sz="1600" b="1" i="0" u="none" strike="noStrike" kern="1200" cap="none" spc="0" normalizeH="0" baseline="0" noProof="0">
                <a:ln>
                  <a:noFill/>
                </a:ln>
                <a:solidFill>
                  <a:srgbClr val="FF0000"/>
                </a:solidFill>
                <a:effectLst/>
                <a:uLnTx/>
                <a:uFillTx/>
                <a:latin typeface="Arial"/>
                <a:ea typeface="+mn-ea"/>
                <a:cs typeface="+mn-cs"/>
              </a:rPr>
              <a:t>TBD</a:t>
            </a:r>
            <a:r>
              <a:rPr kumimoji="0" lang="en-US" sz="1600" b="0" i="0" u="none" strike="noStrike" kern="1200" cap="none" spc="0" normalizeH="0" baseline="0" noProof="0">
                <a:ln>
                  <a:noFill/>
                </a:ln>
                <a:solidFill>
                  <a:srgbClr val="000000"/>
                </a:solidFill>
                <a:effectLst/>
                <a:uLnTx/>
                <a:uFillTx/>
                <a:latin typeface="Arial"/>
                <a:ea typeface="+mn-ea"/>
                <a:cs typeface="+mn-cs"/>
              </a:rPr>
              <a:t> here.</a:t>
            </a:r>
            <a:endParaRPr kumimoji="0" lang="en-US" altLang="zh-CN" sz="1600" b="0" i="0" u="none" strike="noStrike" kern="1200" cap="none" spc="0" normalizeH="0" baseline="0" noProof="0">
              <a:ln>
                <a:noFill/>
              </a:ln>
              <a:solidFill>
                <a:srgbClr val="000000"/>
              </a:solidFill>
              <a:effectLst/>
              <a:uLnTx/>
              <a:uFillTx/>
              <a:latin typeface="Arial"/>
              <a:ea typeface="黑体" panose="02010609060101010101" pitchFamily="49"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965814134"/>
      </p:ext>
    </p:extLst>
  </p:cSld>
  <p:clrMapOvr>
    <a:masterClrMapping/>
  </p:clrMapOvr>
  <p:transition spd="med"/>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AB9D8C-E4A9-8CAC-47A8-FC4E96C2DD6F}"/>
            </a:ext>
          </a:extLst>
        </p:cNvPr>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BCF2C338-8CD5-1597-708E-4AF6276D4505}"/>
              </a:ext>
            </a:extLst>
          </p:cNvPr>
          <p:cNvSpPr>
            <a:spLocks noGrp="1"/>
          </p:cNvSpPr>
          <p:nvPr>
            <p:ph type="sldNum" sz="quarter" idx="4"/>
          </p:nvPr>
        </p:nvSpPr>
        <p:spPr>
          <a:xfrm>
            <a:off x="11297662" y="6364733"/>
            <a:ext cx="438912" cy="155448"/>
          </a:xfrm>
          <a:prstGeom prst="rect">
            <a:avLst/>
          </a:prstGeom>
        </p:spPr>
        <p:txBody>
          <a:bodyPr vert="horz" lIns="0" tIns="0" rIns="0" bIns="0" rtlCol="0" anchor="ctr"/>
          <a:lstStyle>
            <a:defPPr>
              <a:defRPr lang="en-US"/>
            </a:defPPr>
            <a:lvl1pPr marL="0" algn="ctr" defTabSz="1218987"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183</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标题 1">
            <a:extLst>
              <a:ext uri="{FF2B5EF4-FFF2-40B4-BE49-F238E27FC236}">
                <a16:creationId xmlns:a16="http://schemas.microsoft.com/office/drawing/2014/main" id="{786EDA4D-27B0-A499-E59A-AA0DB1F19625}"/>
              </a:ext>
            </a:extLst>
          </p:cNvPr>
          <p:cNvSpPr txBox="1">
            <a:spLocks/>
          </p:cNvSpPr>
          <p:nvPr/>
        </p:nvSpPr>
        <p:spPr bwMode="gray">
          <a:xfrm>
            <a:off x="561735" y="160324"/>
            <a:ext cx="11174839" cy="543910"/>
          </a:xfrm>
          <a:prstGeom prst="rect">
            <a:avLst/>
          </a:prstGeom>
        </p:spPr>
        <p:txBody>
          <a:bodyPr wrap="square" lIns="0" tIns="0" rIns="0" bIns="0" anchor="ctr" anchorCtr="0">
            <a:noAutofit/>
          </a:bodyPr>
          <a:lstStyle>
            <a:lvl1pPr marL="0" algn="l" defTabSz="1218987" rtl="0" eaLnBrk="1" latinLnBrk="0" hangingPunct="1">
              <a:lnSpc>
                <a:spcPts val="3200"/>
              </a:lnSpc>
              <a:spcBef>
                <a:spcPct val="0"/>
              </a:spcBef>
              <a:buNone/>
              <a:tabLst>
                <a:tab pos="1218987" algn="l"/>
              </a:tabLst>
              <a:defRPr lang="en-US" sz="3200" b="1" kern="1200" cap="none" spc="-150" baseline="0" dirty="0">
                <a:solidFill>
                  <a:schemeClr val="tx1"/>
                </a:solidFill>
                <a:latin typeface="Arial" pitchFamily="34" charset="0"/>
                <a:ea typeface="+mn-ea"/>
                <a:cs typeface="Arial" pitchFamily="34" charset="0"/>
              </a:defRPr>
            </a:lvl1pPr>
          </a:lstStyle>
          <a:p>
            <a:pPr marL="0" marR="0" lvl="0" indent="0" algn="l" defTabSz="1218987" rtl="0" eaLnBrk="1" fontAlgn="auto" latinLnBrk="0" hangingPunct="1">
              <a:lnSpc>
                <a:spcPts val="3200"/>
              </a:lnSpc>
              <a:spcBef>
                <a:spcPct val="0"/>
              </a:spcBef>
              <a:spcAft>
                <a:spcPts val="0"/>
              </a:spcAft>
              <a:buClrTx/>
              <a:buSzTx/>
              <a:buFontTx/>
              <a:buNone/>
              <a:tabLst>
                <a:tab pos="1218987" algn="l"/>
              </a:tabLst>
              <a:defRPr/>
            </a:pPr>
            <a:r>
              <a:rPr kumimoji="0" lang="en-US" altLang="zh-CN" sz="2800" b="1" i="0" u="none" strike="noStrike" kern="1200" cap="none" spc="-15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DaaS and IaaS leasing detail report,</a:t>
            </a:r>
            <a:r>
              <a:rPr kumimoji="0" lang="zh-CN" altLang="en-US" sz="2800" b="1" i="0" u="none" strike="noStrike" kern="1200" cap="none" spc="-15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 </a:t>
            </a:r>
            <a:r>
              <a:rPr kumimoji="0" lang="en-US" altLang="zh-CN" sz="2800" b="1" i="0" u="none" strike="noStrike" kern="1200" cap="none" spc="-15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source change:</a:t>
            </a:r>
            <a:endParaRPr kumimoji="0" lang="en-US" sz="2800" b="1" i="0" u="none" strike="noStrike" kern="1200" cap="none" spc="-150" normalizeH="0" baseline="0" noProof="0">
              <a:ln>
                <a:noFill/>
              </a:ln>
              <a:solidFill>
                <a:srgbClr val="000000"/>
              </a:solidFill>
              <a:effectLst/>
              <a:uLnTx/>
              <a:uFillTx/>
              <a:latin typeface="Arial" pitchFamily="34" charset="0"/>
              <a:ea typeface="+mn-ea"/>
              <a:cs typeface="Arial" pitchFamily="34" charset="0"/>
            </a:endParaRPr>
          </a:p>
        </p:txBody>
      </p:sp>
      <p:sp>
        <p:nvSpPr>
          <p:cNvPr id="8" name="TextBox 7">
            <a:extLst>
              <a:ext uri="{FF2B5EF4-FFF2-40B4-BE49-F238E27FC236}">
                <a16:creationId xmlns:a16="http://schemas.microsoft.com/office/drawing/2014/main" id="{E90663F2-96D1-74E5-D405-E055C5A041ED}"/>
              </a:ext>
            </a:extLst>
          </p:cNvPr>
          <p:cNvSpPr txBox="1"/>
          <p:nvPr/>
        </p:nvSpPr>
        <p:spPr>
          <a:xfrm>
            <a:off x="655397" y="1057161"/>
            <a:ext cx="554082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AS-IS source:</a:t>
            </a:r>
          </a:p>
        </p:txBody>
      </p:sp>
      <p:sp>
        <p:nvSpPr>
          <p:cNvPr id="9" name="Arrow: Right 8">
            <a:extLst>
              <a:ext uri="{FF2B5EF4-FFF2-40B4-BE49-F238E27FC236}">
                <a16:creationId xmlns:a16="http://schemas.microsoft.com/office/drawing/2014/main" id="{9C67B052-F5C3-B51A-B325-5C4FC8D9D244}"/>
              </a:ext>
            </a:extLst>
          </p:cNvPr>
          <p:cNvSpPr/>
          <p:nvPr/>
        </p:nvSpPr>
        <p:spPr>
          <a:xfrm rot="5400000">
            <a:off x="5523377" y="3716610"/>
            <a:ext cx="571500" cy="295835"/>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rial"/>
              <a:ea typeface="+mn-ea"/>
              <a:cs typeface="+mn-cs"/>
            </a:endParaRPr>
          </a:p>
        </p:txBody>
      </p:sp>
      <p:sp>
        <p:nvSpPr>
          <p:cNvPr id="10" name="TextBox 9">
            <a:extLst>
              <a:ext uri="{FF2B5EF4-FFF2-40B4-BE49-F238E27FC236}">
                <a16:creationId xmlns:a16="http://schemas.microsoft.com/office/drawing/2014/main" id="{D69219B4-F753-85A6-6891-70D55D8A9182}"/>
              </a:ext>
            </a:extLst>
          </p:cNvPr>
          <p:cNvSpPr txBox="1"/>
          <p:nvPr/>
        </p:nvSpPr>
        <p:spPr>
          <a:xfrm>
            <a:off x="810349" y="3610337"/>
            <a:ext cx="554082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TO-BE source change:</a:t>
            </a:r>
          </a:p>
        </p:txBody>
      </p:sp>
      <p:sp>
        <p:nvSpPr>
          <p:cNvPr id="2" name="Rectangle 1">
            <a:extLst>
              <a:ext uri="{FF2B5EF4-FFF2-40B4-BE49-F238E27FC236}">
                <a16:creationId xmlns:a16="http://schemas.microsoft.com/office/drawing/2014/main" id="{6B9E9FD1-B2B7-2FE4-8339-7160FCF4AEDF}"/>
              </a:ext>
            </a:extLst>
          </p:cNvPr>
          <p:cNvSpPr/>
          <p:nvPr/>
        </p:nvSpPr>
        <p:spPr>
          <a:xfrm>
            <a:off x="1836484" y="1529123"/>
            <a:ext cx="1744276" cy="45720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a:ea typeface="+mn-ea"/>
                <a:cs typeface="+mn-cs"/>
              </a:rPr>
              <a:t>Odessa</a:t>
            </a:r>
          </a:p>
        </p:txBody>
      </p:sp>
      <p:sp>
        <p:nvSpPr>
          <p:cNvPr id="7" name="Rectangle 6">
            <a:extLst>
              <a:ext uri="{FF2B5EF4-FFF2-40B4-BE49-F238E27FC236}">
                <a16:creationId xmlns:a16="http://schemas.microsoft.com/office/drawing/2014/main" id="{CBC2852C-8751-16B8-5159-299211C70738}"/>
              </a:ext>
            </a:extLst>
          </p:cNvPr>
          <p:cNvSpPr/>
          <p:nvPr/>
        </p:nvSpPr>
        <p:spPr>
          <a:xfrm>
            <a:off x="1836484" y="2779068"/>
            <a:ext cx="1744276" cy="45720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a:ea typeface="+mn-ea"/>
                <a:cs typeface="+mn-cs"/>
              </a:rPr>
              <a:t>Brim</a:t>
            </a:r>
          </a:p>
        </p:txBody>
      </p:sp>
      <p:cxnSp>
        <p:nvCxnSpPr>
          <p:cNvPr id="19" name="Straight Arrow Connector 18">
            <a:extLst>
              <a:ext uri="{FF2B5EF4-FFF2-40B4-BE49-F238E27FC236}">
                <a16:creationId xmlns:a16="http://schemas.microsoft.com/office/drawing/2014/main" id="{51486A88-A114-8BF3-F6B2-131DD8C804BE}"/>
              </a:ext>
            </a:extLst>
          </p:cNvPr>
          <p:cNvCxnSpPr/>
          <p:nvPr/>
        </p:nvCxnSpPr>
        <p:spPr>
          <a:xfrm>
            <a:off x="3726756" y="1805748"/>
            <a:ext cx="1936377" cy="491778"/>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BAA2D09F-555F-CEEB-182C-5618B08B7E31}"/>
              </a:ext>
            </a:extLst>
          </p:cNvPr>
          <p:cNvCxnSpPr>
            <a:cxnSpLocks/>
          </p:cNvCxnSpPr>
          <p:nvPr/>
        </p:nvCxnSpPr>
        <p:spPr>
          <a:xfrm flipV="1">
            <a:off x="3726756" y="2482008"/>
            <a:ext cx="1936377" cy="298485"/>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C4E8C9B-E727-2B8A-9D6B-0DBFE23C9DCB}"/>
              </a:ext>
            </a:extLst>
          </p:cNvPr>
          <p:cNvSpPr/>
          <p:nvPr/>
        </p:nvSpPr>
        <p:spPr>
          <a:xfrm>
            <a:off x="5809128" y="2042050"/>
            <a:ext cx="4546387" cy="67310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a:ea typeface="+mn-ea"/>
                <a:cs typeface="+mn-cs"/>
              </a:rPr>
              <a:t>DaaS and IaaS leasing detail report</a:t>
            </a:r>
          </a:p>
        </p:txBody>
      </p:sp>
      <p:sp>
        <p:nvSpPr>
          <p:cNvPr id="24" name="Rectangle 23">
            <a:extLst>
              <a:ext uri="{FF2B5EF4-FFF2-40B4-BE49-F238E27FC236}">
                <a16:creationId xmlns:a16="http://schemas.microsoft.com/office/drawing/2014/main" id="{F95D0E5B-EE97-CB22-B7C8-1A22C09E2FBF}"/>
              </a:ext>
            </a:extLst>
          </p:cNvPr>
          <p:cNvSpPr/>
          <p:nvPr/>
        </p:nvSpPr>
        <p:spPr>
          <a:xfrm>
            <a:off x="1836484" y="3986651"/>
            <a:ext cx="1744276" cy="45720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a:ea typeface="+mn-ea"/>
                <a:cs typeface="+mn-cs"/>
              </a:rPr>
              <a:t>Odessa</a:t>
            </a:r>
          </a:p>
        </p:txBody>
      </p:sp>
      <p:sp>
        <p:nvSpPr>
          <p:cNvPr id="25" name="Rectangle 24">
            <a:extLst>
              <a:ext uri="{FF2B5EF4-FFF2-40B4-BE49-F238E27FC236}">
                <a16:creationId xmlns:a16="http://schemas.microsoft.com/office/drawing/2014/main" id="{18F636F7-B580-87C9-2B03-EA9B3CC90DB4}"/>
              </a:ext>
            </a:extLst>
          </p:cNvPr>
          <p:cNvSpPr/>
          <p:nvPr/>
        </p:nvSpPr>
        <p:spPr>
          <a:xfrm>
            <a:off x="1836484" y="5614489"/>
            <a:ext cx="1744276" cy="45720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a:ea typeface="+mn-ea"/>
                <a:cs typeface="+mn-cs"/>
              </a:rPr>
              <a:t>Brim*</a:t>
            </a:r>
          </a:p>
        </p:txBody>
      </p:sp>
      <p:cxnSp>
        <p:nvCxnSpPr>
          <p:cNvPr id="26" name="Straight Arrow Connector 25">
            <a:extLst>
              <a:ext uri="{FF2B5EF4-FFF2-40B4-BE49-F238E27FC236}">
                <a16:creationId xmlns:a16="http://schemas.microsoft.com/office/drawing/2014/main" id="{9EC7EECB-4E53-8AA7-DB70-D21CBCCAE33D}"/>
              </a:ext>
            </a:extLst>
          </p:cNvPr>
          <p:cNvCxnSpPr>
            <a:cxnSpLocks/>
          </p:cNvCxnSpPr>
          <p:nvPr/>
        </p:nvCxnSpPr>
        <p:spPr>
          <a:xfrm>
            <a:off x="3573077" y="4177331"/>
            <a:ext cx="2228368" cy="602669"/>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1DA1C4C2-5E3A-7323-8B5C-06CEC892082D}"/>
              </a:ext>
            </a:extLst>
          </p:cNvPr>
          <p:cNvSpPr/>
          <p:nvPr/>
        </p:nvSpPr>
        <p:spPr>
          <a:xfrm>
            <a:off x="5809128" y="4481370"/>
            <a:ext cx="4546387" cy="67310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a:ea typeface="+mn-ea"/>
                <a:cs typeface="+mn-cs"/>
              </a:rPr>
              <a:t>DaaS and IaaS leasing detail report</a:t>
            </a:r>
          </a:p>
        </p:txBody>
      </p:sp>
      <p:sp>
        <p:nvSpPr>
          <p:cNvPr id="31" name="Rectangle 30">
            <a:extLst>
              <a:ext uri="{FF2B5EF4-FFF2-40B4-BE49-F238E27FC236}">
                <a16:creationId xmlns:a16="http://schemas.microsoft.com/office/drawing/2014/main" id="{414FA8ED-931F-D5AF-1A26-112F885FE136}"/>
              </a:ext>
            </a:extLst>
          </p:cNvPr>
          <p:cNvSpPr/>
          <p:nvPr/>
        </p:nvSpPr>
        <p:spPr>
          <a:xfrm>
            <a:off x="1836484" y="5071877"/>
            <a:ext cx="1744276" cy="45720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a:ea typeface="+mn-ea"/>
                <a:cs typeface="+mn-cs"/>
              </a:rPr>
              <a:t>Nexbill</a:t>
            </a:r>
          </a:p>
        </p:txBody>
      </p:sp>
      <p:cxnSp>
        <p:nvCxnSpPr>
          <p:cNvPr id="32" name="Straight Arrow Connector 31">
            <a:extLst>
              <a:ext uri="{FF2B5EF4-FFF2-40B4-BE49-F238E27FC236}">
                <a16:creationId xmlns:a16="http://schemas.microsoft.com/office/drawing/2014/main" id="{0CA831CD-AA11-0C66-A650-F26E4CAEAA82}"/>
              </a:ext>
            </a:extLst>
          </p:cNvPr>
          <p:cNvCxnSpPr>
            <a:cxnSpLocks/>
          </p:cNvCxnSpPr>
          <p:nvPr/>
        </p:nvCxnSpPr>
        <p:spPr>
          <a:xfrm flipV="1">
            <a:off x="3580760" y="4979029"/>
            <a:ext cx="2228368" cy="357389"/>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F993E4DB-2DB8-522A-4EE1-1EC2A69E5CAF}"/>
              </a:ext>
            </a:extLst>
          </p:cNvPr>
          <p:cNvSpPr txBox="1"/>
          <p:nvPr/>
        </p:nvSpPr>
        <p:spPr>
          <a:xfrm>
            <a:off x="9577360" y="5951039"/>
            <a:ext cx="215921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pitchFamily="34" charset="0"/>
                <a:ea typeface="+mn-ea"/>
                <a:cs typeface="Arial" pitchFamily="34" charset="0"/>
              </a:rPr>
              <a:t>*Sunset</a:t>
            </a:r>
          </a:p>
        </p:txBody>
      </p:sp>
      <p:sp>
        <p:nvSpPr>
          <p:cNvPr id="40" name="TextBox 39">
            <a:extLst>
              <a:ext uri="{FF2B5EF4-FFF2-40B4-BE49-F238E27FC236}">
                <a16:creationId xmlns:a16="http://schemas.microsoft.com/office/drawing/2014/main" id="{23184E34-23C6-0B47-5864-CE7F356264B9}"/>
              </a:ext>
            </a:extLst>
          </p:cNvPr>
          <p:cNvSpPr txBox="1"/>
          <p:nvPr/>
        </p:nvSpPr>
        <p:spPr>
          <a:xfrm>
            <a:off x="4011065" y="2968916"/>
            <a:ext cx="30275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pitchFamily="34" charset="0"/>
                <a:ea typeface="+mn-ea"/>
                <a:cs typeface="Arial" pitchFamily="34" charset="0"/>
              </a:rPr>
              <a:t>Invoice Document Number</a:t>
            </a:r>
          </a:p>
        </p:txBody>
      </p:sp>
      <p:sp>
        <p:nvSpPr>
          <p:cNvPr id="42" name="TextBox 41">
            <a:extLst>
              <a:ext uri="{FF2B5EF4-FFF2-40B4-BE49-F238E27FC236}">
                <a16:creationId xmlns:a16="http://schemas.microsoft.com/office/drawing/2014/main" id="{F9CAC50A-ACCD-859F-B9BC-93FA5FF783A2}"/>
              </a:ext>
            </a:extLst>
          </p:cNvPr>
          <p:cNvSpPr txBox="1"/>
          <p:nvPr/>
        </p:nvSpPr>
        <p:spPr>
          <a:xfrm>
            <a:off x="3987754" y="5300477"/>
            <a:ext cx="30275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pitchFamily="34" charset="0"/>
                <a:ea typeface="+mn-ea"/>
                <a:cs typeface="Arial" pitchFamily="34" charset="0"/>
              </a:rPr>
              <a:t>Invoice Document Number</a:t>
            </a:r>
          </a:p>
        </p:txBody>
      </p:sp>
      <p:sp>
        <p:nvSpPr>
          <p:cNvPr id="3" name="Rectangle 2">
            <a:extLst>
              <a:ext uri="{FF2B5EF4-FFF2-40B4-BE49-F238E27FC236}">
                <a16:creationId xmlns:a16="http://schemas.microsoft.com/office/drawing/2014/main" id="{75C49DAC-87C6-FCDE-2FB1-B7960830F9AD}"/>
              </a:ext>
            </a:extLst>
          </p:cNvPr>
          <p:cNvSpPr/>
          <p:nvPr/>
        </p:nvSpPr>
        <p:spPr>
          <a:xfrm>
            <a:off x="1836484" y="2154095"/>
            <a:ext cx="1744276" cy="45720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a:ea typeface="+mn-ea"/>
                <a:cs typeface="+mn-cs"/>
              </a:rPr>
              <a:t>Contract Center</a:t>
            </a:r>
          </a:p>
        </p:txBody>
      </p:sp>
      <p:cxnSp>
        <p:nvCxnSpPr>
          <p:cNvPr id="5" name="Straight Arrow Connector 4">
            <a:extLst>
              <a:ext uri="{FF2B5EF4-FFF2-40B4-BE49-F238E27FC236}">
                <a16:creationId xmlns:a16="http://schemas.microsoft.com/office/drawing/2014/main" id="{C558E90A-D587-FA76-4274-F4E34C2004B6}"/>
              </a:ext>
            </a:extLst>
          </p:cNvPr>
          <p:cNvCxnSpPr>
            <a:cxnSpLocks/>
          </p:cNvCxnSpPr>
          <p:nvPr/>
        </p:nvCxnSpPr>
        <p:spPr>
          <a:xfrm>
            <a:off x="3724832" y="2378490"/>
            <a:ext cx="1936377" cy="8842"/>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58B48244-7C66-4ECE-1AD6-0AA81C708322}"/>
              </a:ext>
            </a:extLst>
          </p:cNvPr>
          <p:cNvSpPr/>
          <p:nvPr/>
        </p:nvSpPr>
        <p:spPr>
          <a:xfrm>
            <a:off x="1836484" y="4529264"/>
            <a:ext cx="1744276" cy="45720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a:ea typeface="+mn-ea"/>
                <a:cs typeface="+mn-cs"/>
              </a:rPr>
              <a:t>Contract Center</a:t>
            </a:r>
          </a:p>
        </p:txBody>
      </p:sp>
      <p:cxnSp>
        <p:nvCxnSpPr>
          <p:cNvPr id="13" name="Straight Arrow Connector 12">
            <a:extLst>
              <a:ext uri="{FF2B5EF4-FFF2-40B4-BE49-F238E27FC236}">
                <a16:creationId xmlns:a16="http://schemas.microsoft.com/office/drawing/2014/main" id="{F0E639CA-874C-02B0-1B1E-6B226DE26DDB}"/>
              </a:ext>
            </a:extLst>
          </p:cNvPr>
          <p:cNvCxnSpPr>
            <a:cxnSpLocks/>
          </p:cNvCxnSpPr>
          <p:nvPr/>
        </p:nvCxnSpPr>
        <p:spPr>
          <a:xfrm>
            <a:off x="3588443" y="4805434"/>
            <a:ext cx="2220685" cy="44459"/>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0621169"/>
      </p:ext>
    </p:extLst>
  </p:cSld>
  <p:clrMapOvr>
    <a:masterClrMapping/>
  </p:clrMapOvr>
  <p:transition spd="med"/>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2D4C2D-CDA9-BFD2-14E9-199A0FED8CC7}"/>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42F5E15F-1A09-270B-DF5F-7EEBF54C1F48}"/>
              </a:ext>
            </a:extLst>
          </p:cNvPr>
          <p:cNvGraphicFramePr>
            <a:graphicFrameLocks/>
          </p:cNvGraphicFramePr>
          <p:nvPr>
            <p:custDataLst>
              <p:tags r:id="rId1"/>
            </p:custDataLst>
          </p:nvPr>
        </p:nvGraphicFramePr>
        <p:xfrm>
          <a:off x="3176" y="1588"/>
          <a:ext cx="1588" cy="1588"/>
        </p:xfrm>
        <a:graphic>
          <a:graphicData uri="http://schemas.openxmlformats.org/presentationml/2006/ole">
            <mc:AlternateContent xmlns:mc="http://schemas.openxmlformats.org/markup-compatibility/2006">
              <mc:Choice xmlns:v="urn:schemas-microsoft-com:vml" Requires="v">
                <p:oleObj name="think-cell Slide" r:id="rId4" imgW="456" imgH="456" progId="TCLayout.ActiveDocument.1">
                  <p:embed/>
                </p:oleObj>
              </mc:Choice>
              <mc:Fallback>
                <p:oleObj name="think-cell Slide" r:id="rId4" imgW="456" imgH="456" progId="TCLayout.ActiveDocument.1">
                  <p:embed/>
                  <p:pic>
                    <p:nvPicPr>
                      <p:cNvPr id="7" name="think-cell data - do not delete" hidden="1">
                        <a:extLst>
                          <a:ext uri="{FF2B5EF4-FFF2-40B4-BE49-F238E27FC236}">
                            <a16:creationId xmlns:a16="http://schemas.microsoft.com/office/drawing/2014/main" id="{42F5E15F-1A09-270B-DF5F-7EEBF54C1F48}"/>
                          </a:ext>
                        </a:extLst>
                      </p:cNvPr>
                      <p:cNvPicPr/>
                      <p:nvPr/>
                    </p:nvPicPr>
                    <p:blipFill>
                      <a:blip r:embed="rId5"/>
                      <a:stretch>
                        <a:fillRect/>
                      </a:stretch>
                    </p:blipFill>
                    <p:spPr>
                      <a:xfrm>
                        <a:off x="3176" y="1588"/>
                        <a:ext cx="1588" cy="1588"/>
                      </a:xfrm>
                      <a:prstGeom prst="rect">
                        <a:avLst/>
                      </a:prstGeom>
                    </p:spPr>
                  </p:pic>
                </p:oleObj>
              </mc:Fallback>
            </mc:AlternateContent>
          </a:graphicData>
        </a:graphic>
      </p:graphicFrame>
      <p:sp>
        <p:nvSpPr>
          <p:cNvPr id="4" name="灯片编号占位符 3">
            <a:extLst>
              <a:ext uri="{FF2B5EF4-FFF2-40B4-BE49-F238E27FC236}">
                <a16:creationId xmlns:a16="http://schemas.microsoft.com/office/drawing/2014/main" id="{AB0585B7-85F9-6441-E0FF-00CA6A386D7D}"/>
              </a:ext>
            </a:extLst>
          </p:cNvPr>
          <p:cNvSpPr>
            <a:spLocks noGrp="1"/>
          </p:cNvSpPr>
          <p:nvPr>
            <p:ph type="sldNum" sz="quarter" idx="10"/>
          </p:nvPr>
        </p:nvSpPr>
        <p:spPr/>
        <p: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184</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2. Slide Title">
            <a:extLst>
              <a:ext uri="{FF2B5EF4-FFF2-40B4-BE49-F238E27FC236}">
                <a16:creationId xmlns:a16="http://schemas.microsoft.com/office/drawing/2014/main" id="{FABCF690-7A6E-B164-3385-DF92940D5A25}"/>
              </a:ext>
            </a:extLst>
          </p:cNvPr>
          <p:cNvSpPr>
            <a:spLocks noGrp="1"/>
          </p:cNvSpPr>
          <p:nvPr>
            <p:ph type="title"/>
            <p:custDataLst>
              <p:tags r:id="rId2"/>
            </p:custDataLst>
          </p:nvPr>
        </p:nvSpPr>
        <p:spPr>
          <a:xfrm>
            <a:off x="450920" y="209627"/>
            <a:ext cx="6258070" cy="450933"/>
          </a:xfrm>
        </p:spPr>
        <p:txBody>
          <a:bodyPr vert="horz" wrap="square" lIns="0" tIns="0" rIns="0" bIns="0" rtlCol="0" anchor="t" anchorCtr="0">
            <a:noAutofit/>
          </a:bodyPr>
          <a:lstStyle/>
          <a:p>
            <a:pPr algn="l">
              <a:lnSpc>
                <a:spcPct val="85000"/>
              </a:lnSpc>
              <a:tabLst>
                <a:tab pos="1218255" algn="l"/>
              </a:tabLst>
            </a:pPr>
            <a:r>
              <a:rPr lang="en-US" altLang="zh-CN" sz="2750" b="1" cap="none" spc="-150">
                <a:solidFill>
                  <a:srgbClr val="000000"/>
                </a:solidFill>
                <a:latin typeface="Arial"/>
                <a:ea typeface="Microsoft YaHei"/>
                <a:cs typeface="Arial"/>
              </a:rPr>
              <a:t> </a:t>
            </a:r>
            <a:r>
              <a:rPr lang="en-US" sz="2800" b="1" cap="none" spc="-150">
                <a:solidFill>
                  <a:srgbClr val="000000"/>
                </a:solidFill>
                <a:latin typeface="Arial"/>
                <a:ea typeface="Microsoft YaHei"/>
                <a:cs typeface="Arial"/>
              </a:rPr>
              <a:t>I</a:t>
            </a:r>
            <a:r>
              <a:rPr lang="en-US" altLang="zh-CN" sz="2800" b="1" cap="none" spc="-150">
                <a:solidFill>
                  <a:srgbClr val="000000"/>
                </a:solidFill>
                <a:latin typeface="Arial"/>
                <a:ea typeface="Microsoft YaHei"/>
                <a:cs typeface="Arial"/>
              </a:rPr>
              <a:t>mpacted Reports</a:t>
            </a:r>
            <a:endParaRPr lang="en-US" sz="2750" b="1" cap="none" spc="-150">
              <a:solidFill>
                <a:srgbClr val="000000"/>
              </a:solidFill>
              <a:latin typeface="Arial"/>
              <a:ea typeface="Microsoft YaHei"/>
              <a:cs typeface="Arial"/>
            </a:endParaRPr>
          </a:p>
        </p:txBody>
      </p:sp>
      <p:sp>
        <p:nvSpPr>
          <p:cNvPr id="3" name="TextBox 2">
            <a:extLst>
              <a:ext uri="{FF2B5EF4-FFF2-40B4-BE49-F238E27FC236}">
                <a16:creationId xmlns:a16="http://schemas.microsoft.com/office/drawing/2014/main" id="{6D237EE6-463B-D711-D535-5B8A0458EA06}"/>
              </a:ext>
            </a:extLst>
          </p:cNvPr>
          <p:cNvSpPr txBox="1"/>
          <p:nvPr/>
        </p:nvSpPr>
        <p:spPr>
          <a:xfrm>
            <a:off x="572841" y="4772943"/>
            <a:ext cx="577402" cy="276999"/>
          </a:xfrm>
          <a:prstGeom prst="rect">
            <a:avLst/>
          </a:prstGeom>
          <a:noFill/>
        </p:spPr>
        <p:txBody>
          <a:bodyPr wrap="none" rtlCol="0">
            <a:sp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Note:</a:t>
            </a:r>
          </a:p>
        </p:txBody>
      </p:sp>
      <p:graphicFrame>
        <p:nvGraphicFramePr>
          <p:cNvPr id="8" name="Table 7">
            <a:extLst>
              <a:ext uri="{FF2B5EF4-FFF2-40B4-BE49-F238E27FC236}">
                <a16:creationId xmlns:a16="http://schemas.microsoft.com/office/drawing/2014/main" id="{71825623-10FE-08A4-F226-7A7FCC83DDDE}"/>
              </a:ext>
            </a:extLst>
          </p:cNvPr>
          <p:cNvGraphicFramePr>
            <a:graphicFrameLocks noGrp="1"/>
          </p:cNvGraphicFramePr>
          <p:nvPr/>
        </p:nvGraphicFramePr>
        <p:xfrm>
          <a:off x="572841" y="660560"/>
          <a:ext cx="9698918" cy="5879891"/>
        </p:xfrm>
        <a:graphic>
          <a:graphicData uri="http://schemas.openxmlformats.org/drawingml/2006/table">
            <a:tbl>
              <a:tblPr/>
              <a:tblGrid>
                <a:gridCol w="1339181">
                  <a:extLst>
                    <a:ext uri="{9D8B030D-6E8A-4147-A177-3AD203B41FA5}">
                      <a16:colId xmlns:a16="http://schemas.microsoft.com/office/drawing/2014/main" val="2680684737"/>
                    </a:ext>
                  </a:extLst>
                </a:gridCol>
                <a:gridCol w="2215736">
                  <a:extLst>
                    <a:ext uri="{9D8B030D-6E8A-4147-A177-3AD203B41FA5}">
                      <a16:colId xmlns:a16="http://schemas.microsoft.com/office/drawing/2014/main" val="1704099424"/>
                    </a:ext>
                  </a:extLst>
                </a:gridCol>
                <a:gridCol w="6144001">
                  <a:extLst>
                    <a:ext uri="{9D8B030D-6E8A-4147-A177-3AD203B41FA5}">
                      <a16:colId xmlns:a16="http://schemas.microsoft.com/office/drawing/2014/main" val="2523699969"/>
                    </a:ext>
                  </a:extLst>
                </a:gridCol>
              </a:tblGrid>
              <a:tr h="356755">
                <a:tc>
                  <a:txBody>
                    <a:bodyPr/>
                    <a:lstStyle/>
                    <a:p>
                      <a:pPr algn="l" fontAlgn="base">
                        <a:lnSpc>
                          <a:spcPts val="1575"/>
                        </a:lnSpc>
                        <a:buNone/>
                      </a:pPr>
                      <a:r>
                        <a:rPr lang="en-US" sz="1300" b="1" i="0">
                          <a:solidFill>
                            <a:srgbClr val="FFFFFF"/>
                          </a:solidFill>
                          <a:effectLst/>
                          <a:latin typeface="Calibri" panose="020F0502020204030204" pitchFamily="34" charset="0"/>
                        </a:rPr>
                        <a:t>NO.​</a:t>
                      </a:r>
                      <a:r>
                        <a:rPr lang="en-US" sz="1300" b="0" i="0">
                          <a:solidFill>
                            <a:srgbClr val="000000"/>
                          </a:solidFill>
                          <a:effectLst/>
                          <a:latin typeface="Calibri" panose="020F0502020204030204" pitchFamily="34" charset="0"/>
                        </a:rPr>
                        <a:t>​</a:t>
                      </a:r>
                      <a:endParaRPr lang="en-US"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l" fontAlgn="base">
                        <a:lnSpc>
                          <a:spcPts val="1575"/>
                        </a:lnSpc>
                        <a:buNone/>
                      </a:pPr>
                      <a:r>
                        <a:rPr lang="en-US" sz="1300" b="1" i="0">
                          <a:solidFill>
                            <a:srgbClr val="FFFFFF"/>
                          </a:solidFill>
                          <a:effectLst/>
                          <a:latin typeface="Calibri" panose="020F0502020204030204" pitchFamily="34" charset="0"/>
                        </a:rPr>
                        <a:t>BG</a:t>
                      </a:r>
                      <a:r>
                        <a:rPr lang="en-US" sz="1300" b="0" i="0">
                          <a:solidFill>
                            <a:srgbClr val="000000"/>
                          </a:solidFill>
                          <a:effectLst/>
                          <a:latin typeface="Calibri" panose="020F0502020204030204" pitchFamily="34" charset="0"/>
                        </a:rPr>
                        <a:t>​</a:t>
                      </a:r>
                      <a:endParaRPr lang="en-US"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l" fontAlgn="base">
                        <a:lnSpc>
                          <a:spcPts val="1575"/>
                        </a:lnSpc>
                        <a:buNone/>
                      </a:pPr>
                      <a:r>
                        <a:rPr lang="en-US" sz="1300" b="1" i="0">
                          <a:solidFill>
                            <a:srgbClr val="FFFFFF"/>
                          </a:solidFill>
                          <a:effectLst/>
                          <a:latin typeface="Calibri" panose="020F0502020204030204" pitchFamily="34" charset="0"/>
                        </a:rPr>
                        <a:t>Report Name​</a:t>
                      </a:r>
                      <a:r>
                        <a:rPr lang="en-US" sz="1300" b="0" i="0">
                          <a:solidFill>
                            <a:srgbClr val="000000"/>
                          </a:solidFill>
                          <a:effectLst/>
                          <a:latin typeface="Calibri" panose="020F0502020204030204" pitchFamily="34" charset="0"/>
                        </a:rPr>
                        <a:t>​</a:t>
                      </a:r>
                      <a:endParaRPr lang="en-US"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1388982762"/>
                  </a:ext>
                </a:extLst>
              </a:tr>
              <a:tr h="335695">
                <a:tc>
                  <a:txBody>
                    <a:bodyPr/>
                    <a:lstStyle/>
                    <a:p>
                      <a:pPr algn="l" fontAlgn="base">
                        <a:lnSpc>
                          <a:spcPts val="1425"/>
                        </a:lnSpc>
                        <a:buNone/>
                      </a:pPr>
                      <a:r>
                        <a:rPr lang="en-US" sz="1200" b="0" i="0">
                          <a:solidFill>
                            <a:srgbClr val="000000"/>
                          </a:solidFill>
                          <a:effectLst/>
                          <a:latin typeface="Arial" panose="020B0604020202020204" pitchFamily="34" charset="0"/>
                        </a:rPr>
                        <a:t>1​</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PCSD​</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PCSD ROW Fin Measurement Dataset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483986010"/>
                  </a:ext>
                </a:extLst>
              </a:tr>
              <a:tr h="335695">
                <a:tc>
                  <a:txBody>
                    <a:bodyPr/>
                    <a:lstStyle/>
                    <a:p>
                      <a:pPr algn="l" fontAlgn="base">
                        <a:lnSpc>
                          <a:spcPts val="1425"/>
                        </a:lnSpc>
                        <a:buNone/>
                      </a:pPr>
                      <a:r>
                        <a:rPr lang="en-US" sz="1200" b="0" i="0">
                          <a:solidFill>
                            <a:srgbClr val="000000"/>
                          </a:solidFill>
                          <a:effectLst/>
                          <a:latin typeface="Arial" panose="020B0604020202020204" pitchFamily="34" charset="0"/>
                        </a:rPr>
                        <a:t>2​</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PCSD​</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PCSR ROW Rev and Cost Report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766892213"/>
                  </a:ext>
                </a:extLst>
              </a:tr>
              <a:tr h="335695">
                <a:tc>
                  <a:txBody>
                    <a:bodyPr/>
                    <a:lstStyle/>
                    <a:p>
                      <a:pPr algn="l" fontAlgn="base">
                        <a:lnSpc>
                          <a:spcPts val="1425"/>
                        </a:lnSpc>
                        <a:buNone/>
                      </a:pPr>
                      <a:r>
                        <a:rPr lang="en-US" sz="1200" b="0" i="0">
                          <a:solidFill>
                            <a:srgbClr val="000000"/>
                          </a:solidFill>
                          <a:effectLst/>
                          <a:latin typeface="Arial" panose="020B0604020202020204" pitchFamily="34" charset="0"/>
                        </a:rPr>
                        <a:t>3​</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ISG</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ISG ROW Rev and Cost Report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28562673"/>
                  </a:ext>
                </a:extLst>
              </a:tr>
              <a:tr h="335695">
                <a:tc>
                  <a:txBody>
                    <a:bodyPr/>
                    <a:lstStyle/>
                    <a:p>
                      <a:pPr algn="l" fontAlgn="base">
                        <a:lnSpc>
                          <a:spcPts val="1425"/>
                        </a:lnSpc>
                        <a:buNone/>
                      </a:pPr>
                      <a:r>
                        <a:rPr lang="en-US" sz="1200" b="0" i="0">
                          <a:solidFill>
                            <a:srgbClr val="000000"/>
                          </a:solidFill>
                          <a:effectLst/>
                          <a:latin typeface="Arial" panose="020B0604020202020204" pitchFamily="34" charset="0"/>
                        </a:rPr>
                        <a:t>4​</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ISG</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ISG WW Fin Optimus with BPC Dataset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06338561"/>
                  </a:ext>
                </a:extLst>
              </a:tr>
              <a:tr h="348363">
                <a:tc>
                  <a:txBody>
                    <a:bodyPr/>
                    <a:lstStyle/>
                    <a:p>
                      <a:pPr algn="l" fontAlgn="base">
                        <a:lnSpc>
                          <a:spcPts val="1425"/>
                        </a:lnSpc>
                        <a:buNone/>
                      </a:pPr>
                      <a:r>
                        <a:rPr lang="en-US" sz="1200" b="0" i="0">
                          <a:solidFill>
                            <a:srgbClr val="000000"/>
                          </a:solidFill>
                          <a:effectLst/>
                          <a:latin typeface="Arial" panose="020B0604020202020204" pitchFamily="34" charset="0"/>
                        </a:rPr>
                        <a:t>5​</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PCSD​ Service</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PCSD Row Fin Service Upsell Service Master Dataset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670915850"/>
                  </a:ext>
                </a:extLst>
              </a:tr>
              <a:tr h="348363">
                <a:tc>
                  <a:txBody>
                    <a:bodyPr/>
                    <a:lstStyle/>
                    <a:p>
                      <a:pPr algn="l" fontAlgn="base">
                        <a:lnSpc>
                          <a:spcPts val="1425"/>
                        </a:lnSpc>
                        <a:buNone/>
                      </a:pPr>
                      <a:r>
                        <a:rPr lang="en-US" sz="1200" b="0" i="0">
                          <a:solidFill>
                            <a:srgbClr val="000000"/>
                          </a:solidFill>
                          <a:effectLst/>
                          <a:latin typeface="Arial" panose="020B0604020202020204" pitchFamily="34" charset="0"/>
                        </a:rPr>
                        <a:t>6​</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ISG Service</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ISG Service Booking Report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60829510"/>
                  </a:ext>
                </a:extLst>
              </a:tr>
              <a:tr h="348363">
                <a:tc>
                  <a:txBody>
                    <a:bodyPr/>
                    <a:lstStyle/>
                    <a:p>
                      <a:pPr algn="l" fontAlgn="base">
                        <a:lnSpc>
                          <a:spcPts val="1425"/>
                        </a:lnSpc>
                        <a:buNone/>
                      </a:pPr>
                      <a:r>
                        <a:rPr lang="en-US" sz="1200" b="0" i="0">
                          <a:solidFill>
                            <a:srgbClr val="000000"/>
                          </a:solidFill>
                          <a:effectLst/>
                          <a:latin typeface="Arial" panose="020B0604020202020204" pitchFamily="34" charset="0"/>
                        </a:rPr>
                        <a:t>7​</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ISG Service</a:t>
                      </a:r>
                      <a:endParaRPr lang="en-US" sz="1200"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ISG Service GAAP Report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08328896"/>
                  </a:ext>
                </a:extLst>
              </a:tr>
              <a:tr h="348363">
                <a:tc>
                  <a:txBody>
                    <a:bodyPr/>
                    <a:lstStyle/>
                    <a:p>
                      <a:pPr algn="l" fontAlgn="base">
                        <a:lnSpc>
                          <a:spcPts val="1425"/>
                        </a:lnSpc>
                        <a:buNone/>
                      </a:pPr>
                      <a:r>
                        <a:rPr lang="en-US" sz="1200" b="0" i="0">
                          <a:solidFill>
                            <a:srgbClr val="000000"/>
                          </a:solidFill>
                          <a:effectLst/>
                          <a:latin typeface="Arial" panose="020B0604020202020204" pitchFamily="34" charset="0"/>
                        </a:rPr>
                        <a:t>8​</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PCSD/ISG Service​</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SSG Service </a:t>
                      </a:r>
                      <a:r>
                        <a:rPr lang="en-US" sz="1200" b="0" i="0" kern="1200" err="1">
                          <a:solidFill>
                            <a:schemeClr val="tx1"/>
                          </a:solidFill>
                          <a:effectLst/>
                          <a:latin typeface="+mn-lt"/>
                          <a:ea typeface="+mn-ea"/>
                          <a:cs typeface="+mn-cs"/>
                        </a:rPr>
                        <a:t>PnL</a:t>
                      </a:r>
                      <a:r>
                        <a:rPr lang="en-US" sz="1200" b="0" i="0" kern="1200">
                          <a:solidFill>
                            <a:schemeClr val="tx1"/>
                          </a:solidFill>
                          <a:effectLst/>
                          <a:latin typeface="+mn-lt"/>
                          <a:ea typeface="+mn-ea"/>
                          <a:cs typeface="+mn-cs"/>
                        </a:rPr>
                        <a:t> Detail Report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81945149"/>
                  </a:ext>
                </a:extLst>
              </a:tr>
              <a:tr h="348363">
                <a:tc>
                  <a:txBody>
                    <a:bodyPr/>
                    <a:lstStyle/>
                    <a:p>
                      <a:pPr algn="l" fontAlgn="base">
                        <a:lnSpc>
                          <a:spcPts val="1425"/>
                        </a:lnSpc>
                        <a:buNone/>
                      </a:pPr>
                      <a:r>
                        <a:rPr lang="en-US" sz="1200" b="0" i="0">
                          <a:solidFill>
                            <a:srgbClr val="000000"/>
                          </a:solidFill>
                          <a:effectLst/>
                          <a:latin typeface="Arial" panose="020B0604020202020204" pitchFamily="34" charset="0"/>
                        </a:rPr>
                        <a:t>9​</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PCSD/ISG</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DaaS and IaaS Leasing Detail Report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814154044"/>
                  </a:ext>
                </a:extLst>
              </a:tr>
              <a:tr h="348363">
                <a:tc>
                  <a:txBody>
                    <a:bodyPr/>
                    <a:lstStyle/>
                    <a:p>
                      <a:pPr algn="l" fontAlgn="base">
                        <a:lnSpc>
                          <a:spcPts val="1425"/>
                        </a:lnSpc>
                        <a:buNone/>
                      </a:pPr>
                      <a:r>
                        <a:rPr lang="en-US" sz="1200" b="0" i="0">
                          <a:solidFill>
                            <a:srgbClr val="000000"/>
                          </a:solidFill>
                          <a:effectLst/>
                          <a:latin typeface="Arial" panose="020B0604020202020204" pitchFamily="34" charset="0"/>
                        </a:rPr>
                        <a:t>10​</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PCSD HW/PCSD S</a:t>
                      </a:r>
                      <a:r>
                        <a:rPr lang="en-US" altLang="zh-CN" sz="1200" b="0" i="0">
                          <a:solidFill>
                            <a:srgbClr val="000000"/>
                          </a:solidFill>
                          <a:effectLst/>
                          <a:latin typeface="Arial" panose="020B0604020202020204" pitchFamily="34" charset="0"/>
                        </a:rPr>
                        <a:t>ervice</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DaaS Bookings Final Dataset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151602330"/>
                  </a:ext>
                </a:extLst>
              </a:tr>
              <a:tr h="348363">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11</a:t>
                      </a:r>
                      <a:endParaRPr kumimoji="0" lang="en-US" sz="2393" b="0" i="0" u="none" strike="noStrike" kern="1200" cap="none" spc="0" normalizeH="0" baseline="0" noProof="0">
                        <a:ln>
                          <a:noFill/>
                        </a:ln>
                        <a:solidFill>
                          <a:srgbClr val="000000"/>
                        </a:solidFill>
                        <a:effectLst/>
                        <a:uLnTx/>
                        <a:uFillTx/>
                        <a:latin typeface="Arial"/>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ase">
                        <a:lnSpc>
                          <a:spcPts val="1425"/>
                        </a:lnSpc>
                        <a:buNone/>
                      </a:pPr>
                      <a:r>
                        <a:rPr lang="en-US" sz="1200" b="0" i="0">
                          <a:solidFill>
                            <a:srgbClr val="000000"/>
                          </a:solidFill>
                          <a:effectLst/>
                          <a:latin typeface="Arial" panose="020B0604020202020204" pitchFamily="34" charset="0"/>
                        </a:rPr>
                        <a:t>PCSD HW/PCSD S</a:t>
                      </a:r>
                      <a:r>
                        <a:rPr lang="en-US" altLang="zh-CN" sz="1200" b="0" i="0">
                          <a:solidFill>
                            <a:srgbClr val="000000"/>
                          </a:solidFill>
                          <a:effectLst/>
                          <a:latin typeface="Arial" panose="020B0604020202020204" pitchFamily="34" charset="0"/>
                        </a:rPr>
                        <a:t>ervice</a:t>
                      </a:r>
                      <a:endParaRPr lang="en-US" sz="1200"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DaaS Bookings Intermediate Dataset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90450740"/>
                  </a:ext>
                </a:extLst>
              </a:tr>
              <a:tr h="348363">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12​</a:t>
                      </a:r>
                      <a:endParaRPr kumimoji="0" lang="en-US" sz="2393" b="0" i="0" u="none" strike="noStrike" kern="1200" cap="none" spc="0" normalizeH="0" baseline="0" noProof="0">
                        <a:ln>
                          <a:noFill/>
                        </a:ln>
                        <a:solidFill>
                          <a:srgbClr val="000000"/>
                        </a:solidFill>
                        <a:effectLst/>
                        <a:uLnTx/>
                        <a:uFillTx/>
                        <a:latin typeface="Arial"/>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algn="l" defTabSz="1216430" rtl="0" eaLnBrk="1" fontAlgn="base" latinLnBrk="0" hangingPunct="1">
                        <a:lnSpc>
                          <a:spcPts val="1425"/>
                        </a:lnSpc>
                        <a:buNone/>
                      </a:pPr>
                      <a:r>
                        <a:rPr lang="en-US" sz="1200" b="0" i="0" kern="1200">
                          <a:solidFill>
                            <a:srgbClr val="000000"/>
                          </a:solidFill>
                          <a:effectLst/>
                          <a:latin typeface="Arial" panose="020B0604020202020204" pitchFamily="34" charset="0"/>
                          <a:ea typeface="+mn-ea"/>
                          <a:cs typeface="+mn-cs"/>
                        </a:rPr>
                        <a:t>PCSD Service/ISG Service</a:t>
                      </a: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Project P&amp;L Ad-hoc Detail Dataset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035849782"/>
                  </a:ext>
                </a:extLst>
              </a:tr>
              <a:tr h="348363">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13​</a:t>
                      </a:r>
                      <a:endParaRPr kumimoji="0" lang="en-US" sz="2393" b="0" i="0" u="none" strike="noStrike" kern="1200" cap="none" spc="0" normalizeH="0" baseline="0" noProof="0">
                        <a:ln>
                          <a:noFill/>
                        </a:ln>
                        <a:solidFill>
                          <a:srgbClr val="000000"/>
                        </a:solidFill>
                        <a:effectLst/>
                        <a:uLnTx/>
                        <a:uFillTx/>
                        <a:latin typeface="Arial"/>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rPr>
                        <a:t>PCSD Service/ISG Service</a:t>
                      </a: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REP001 Project P&amp;L</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669986645"/>
                  </a:ext>
                </a:extLst>
              </a:tr>
              <a:tr h="348363">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14​</a:t>
                      </a:r>
                      <a:endParaRPr kumimoji="0" lang="en-US" sz="2393" b="0" i="0" u="none" strike="noStrike" kern="1200" cap="none" spc="0" normalizeH="0" baseline="0" noProof="0">
                        <a:ln>
                          <a:noFill/>
                        </a:ln>
                        <a:solidFill>
                          <a:srgbClr val="000000"/>
                        </a:solidFill>
                        <a:effectLst/>
                        <a:uLnTx/>
                        <a:uFillTx/>
                        <a:latin typeface="Arial"/>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rPr>
                        <a:t>PCSD Service/ISG Service</a:t>
                      </a: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REP002 Project Budget vs Actual Report</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981614578"/>
                  </a:ext>
                </a:extLst>
              </a:tr>
              <a:tr h="348363">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15​</a:t>
                      </a:r>
                      <a:endParaRPr kumimoji="0" lang="en-US" sz="2393" b="0" i="0" u="none" strike="noStrike" kern="1200" cap="none" spc="0" normalizeH="0" baseline="0" noProof="0">
                        <a:ln>
                          <a:noFill/>
                        </a:ln>
                        <a:solidFill>
                          <a:srgbClr val="000000"/>
                        </a:solidFill>
                        <a:effectLst/>
                        <a:uLnTx/>
                        <a:uFillTx/>
                        <a:latin typeface="Arial"/>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algn="l" defTabSz="1216430" rtl="0" eaLnBrk="1" fontAlgn="base" latinLnBrk="0" hangingPunct="1">
                        <a:lnSpc>
                          <a:spcPts val="1425"/>
                        </a:lnSpc>
                        <a:buNone/>
                      </a:pPr>
                      <a:r>
                        <a:rPr lang="en-US" sz="1200" b="0" i="0" kern="1200">
                          <a:solidFill>
                            <a:srgbClr val="000000"/>
                          </a:solidFill>
                          <a:effectLst/>
                          <a:latin typeface="Arial" panose="020B0604020202020204" pitchFamily="34" charset="0"/>
                          <a:ea typeface="+mn-ea"/>
                          <a:cs typeface="+mn-cs"/>
                        </a:rPr>
                        <a:t>PCSD Service</a:t>
                      </a: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As Sold As Delivered Report for PCSD Service</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58581663"/>
                  </a:ext>
                </a:extLst>
              </a:tr>
              <a:tr h="348363">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rPr>
                        <a:t>16​</a:t>
                      </a:r>
                      <a:endParaRPr kumimoji="0" lang="en-US" sz="2393" b="0" i="0" u="none" strike="noStrike" kern="1200" cap="none" spc="0" normalizeH="0" baseline="0" noProof="0">
                        <a:ln>
                          <a:noFill/>
                        </a:ln>
                        <a:solidFill>
                          <a:srgbClr val="000000"/>
                        </a:solidFill>
                        <a:effectLst/>
                        <a:uLnTx/>
                        <a:uFillTx/>
                        <a:latin typeface="Arial"/>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algn="l" defTabSz="1216430" rtl="0" eaLnBrk="1" fontAlgn="base" latinLnBrk="0" hangingPunct="1">
                        <a:lnSpc>
                          <a:spcPts val="1425"/>
                        </a:lnSpc>
                        <a:buNone/>
                      </a:pPr>
                      <a:r>
                        <a:rPr lang="en-US" sz="1200" b="0" i="0" kern="1200">
                          <a:solidFill>
                            <a:srgbClr val="000000"/>
                          </a:solidFill>
                          <a:effectLst/>
                          <a:latin typeface="Arial" panose="020B0604020202020204" pitchFamily="34" charset="0"/>
                          <a:ea typeface="+mn-ea"/>
                          <a:cs typeface="+mn-cs"/>
                        </a:rPr>
                        <a:t>ISG Service</a:t>
                      </a: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As Sold As Delivered Report for ISG Service</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118008042"/>
                  </a:ext>
                </a:extLst>
              </a:tr>
            </a:tbl>
          </a:graphicData>
        </a:graphic>
      </p:graphicFrame>
      <p:sp>
        <p:nvSpPr>
          <p:cNvPr id="9" name="Rectangle 1">
            <a:extLst>
              <a:ext uri="{FF2B5EF4-FFF2-40B4-BE49-F238E27FC236}">
                <a16:creationId xmlns:a16="http://schemas.microsoft.com/office/drawing/2014/main" id="{A6A10CDD-5D8E-8733-D418-3BB7CEAA6C11}"/>
              </a:ext>
            </a:extLst>
          </p:cNvPr>
          <p:cNvSpPr>
            <a:spLocks noChangeArrowheads="1"/>
          </p:cNvSpPr>
          <p:nvPr/>
        </p:nvSpPr>
        <p:spPr bwMode="auto">
          <a:xfrm>
            <a:off x="2301875" y="2481263"/>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New Roman" panose="02020603050405020304" pitchFamily="18" charset="0"/>
                <a:ea typeface="+mn-ea"/>
                <a:cs typeface="Times New Roman" panose="02020603050405020304" pitchFamily="18" charset="0"/>
              </a:rPr>
              <a:t> </a:t>
            </a: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794209779"/>
      </p:ext>
    </p:extLst>
  </p:cSld>
  <p:clrMapOvr>
    <a:masterClrMapping/>
  </p:clrMapOvr>
  <p:transition spd="med"/>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50F475-7255-9842-93EC-0DD0117490A6}"/>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EB8FD33E-2AD8-5D82-5788-C70572F40294}"/>
              </a:ext>
            </a:extLst>
          </p:cNvPr>
          <p:cNvGraphicFramePr>
            <a:graphicFrameLocks/>
          </p:cNvGraphicFramePr>
          <p:nvPr>
            <p:custDataLst>
              <p:tags r:id="rId1"/>
            </p:custDataLst>
          </p:nvPr>
        </p:nvGraphicFramePr>
        <p:xfrm>
          <a:off x="3176" y="1588"/>
          <a:ext cx="1588" cy="1588"/>
        </p:xfrm>
        <a:graphic>
          <a:graphicData uri="http://schemas.openxmlformats.org/presentationml/2006/ole">
            <mc:AlternateContent xmlns:mc="http://schemas.openxmlformats.org/markup-compatibility/2006">
              <mc:Choice xmlns:v="urn:schemas-microsoft-com:vml" Requires="v">
                <p:oleObj name="think-cell Slide" r:id="rId4" imgW="456" imgH="456" progId="TCLayout.ActiveDocument.1">
                  <p:embed/>
                </p:oleObj>
              </mc:Choice>
              <mc:Fallback>
                <p:oleObj name="think-cell Slide" r:id="rId4" imgW="456" imgH="456" progId="TCLayout.ActiveDocument.1">
                  <p:embed/>
                  <p:pic>
                    <p:nvPicPr>
                      <p:cNvPr id="7" name="think-cell data - do not delete" hidden="1">
                        <a:extLst>
                          <a:ext uri="{FF2B5EF4-FFF2-40B4-BE49-F238E27FC236}">
                            <a16:creationId xmlns:a16="http://schemas.microsoft.com/office/drawing/2014/main" id="{EB8FD33E-2AD8-5D82-5788-C70572F40294}"/>
                          </a:ext>
                        </a:extLst>
                      </p:cNvPr>
                      <p:cNvPicPr/>
                      <p:nvPr/>
                    </p:nvPicPr>
                    <p:blipFill>
                      <a:blip r:embed="rId5"/>
                      <a:stretch>
                        <a:fillRect/>
                      </a:stretch>
                    </p:blipFill>
                    <p:spPr>
                      <a:xfrm>
                        <a:off x="3176" y="1588"/>
                        <a:ext cx="1588" cy="1588"/>
                      </a:xfrm>
                      <a:prstGeom prst="rect">
                        <a:avLst/>
                      </a:prstGeom>
                    </p:spPr>
                  </p:pic>
                </p:oleObj>
              </mc:Fallback>
            </mc:AlternateContent>
          </a:graphicData>
        </a:graphic>
      </p:graphicFrame>
      <p:sp>
        <p:nvSpPr>
          <p:cNvPr id="4" name="灯片编号占位符 3">
            <a:extLst>
              <a:ext uri="{FF2B5EF4-FFF2-40B4-BE49-F238E27FC236}">
                <a16:creationId xmlns:a16="http://schemas.microsoft.com/office/drawing/2014/main" id="{55D7E93A-F009-3479-9BA9-5A19E62104CA}"/>
              </a:ext>
            </a:extLst>
          </p:cNvPr>
          <p:cNvSpPr>
            <a:spLocks noGrp="1"/>
          </p:cNvSpPr>
          <p:nvPr>
            <p:ph type="sldNum" sz="quarter" idx="10"/>
          </p:nvPr>
        </p:nvSpPr>
        <p:spPr/>
        <p:txBody>
          <a:body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185</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2. Slide Title">
            <a:extLst>
              <a:ext uri="{FF2B5EF4-FFF2-40B4-BE49-F238E27FC236}">
                <a16:creationId xmlns:a16="http://schemas.microsoft.com/office/drawing/2014/main" id="{9CC218AA-1ACC-BED2-971B-E4A81011B868}"/>
              </a:ext>
            </a:extLst>
          </p:cNvPr>
          <p:cNvSpPr>
            <a:spLocks noGrp="1"/>
          </p:cNvSpPr>
          <p:nvPr>
            <p:ph type="title"/>
            <p:custDataLst>
              <p:tags r:id="rId2"/>
            </p:custDataLst>
          </p:nvPr>
        </p:nvSpPr>
        <p:spPr>
          <a:xfrm>
            <a:off x="450920" y="209627"/>
            <a:ext cx="6258070" cy="450933"/>
          </a:xfrm>
        </p:spPr>
        <p:txBody>
          <a:bodyPr vert="horz" wrap="square" lIns="0" tIns="0" rIns="0" bIns="0" rtlCol="0" anchor="t" anchorCtr="0">
            <a:noAutofit/>
          </a:bodyPr>
          <a:lstStyle/>
          <a:p>
            <a:pPr algn="l">
              <a:lnSpc>
                <a:spcPct val="85000"/>
              </a:lnSpc>
              <a:tabLst>
                <a:tab pos="1218255" algn="l"/>
              </a:tabLst>
            </a:pPr>
            <a:r>
              <a:rPr lang="en-US" altLang="zh-CN" sz="2750" b="1" cap="none" spc="-150">
                <a:solidFill>
                  <a:srgbClr val="000000"/>
                </a:solidFill>
                <a:latin typeface="Arial"/>
                <a:ea typeface="Microsoft YaHei"/>
                <a:cs typeface="Arial"/>
              </a:rPr>
              <a:t> </a:t>
            </a:r>
            <a:r>
              <a:rPr lang="en-US" sz="2800" b="1" cap="none" spc="-150">
                <a:solidFill>
                  <a:srgbClr val="000000"/>
                </a:solidFill>
                <a:latin typeface="Arial"/>
                <a:ea typeface="Microsoft YaHei"/>
                <a:cs typeface="Arial"/>
              </a:rPr>
              <a:t>Open Item</a:t>
            </a:r>
            <a:endParaRPr lang="en-US" sz="2750" b="1" cap="none" spc="-150">
              <a:solidFill>
                <a:srgbClr val="000000"/>
              </a:solidFill>
              <a:latin typeface="Arial"/>
              <a:ea typeface="Microsoft YaHei"/>
              <a:cs typeface="Arial"/>
            </a:endParaRPr>
          </a:p>
        </p:txBody>
      </p:sp>
      <p:sp>
        <p:nvSpPr>
          <p:cNvPr id="3" name="TextBox 2">
            <a:extLst>
              <a:ext uri="{FF2B5EF4-FFF2-40B4-BE49-F238E27FC236}">
                <a16:creationId xmlns:a16="http://schemas.microsoft.com/office/drawing/2014/main" id="{EBC31667-35A3-5DDE-AF65-3B1289003E72}"/>
              </a:ext>
            </a:extLst>
          </p:cNvPr>
          <p:cNvSpPr txBox="1"/>
          <p:nvPr/>
        </p:nvSpPr>
        <p:spPr>
          <a:xfrm>
            <a:off x="572841" y="4772943"/>
            <a:ext cx="577402" cy="276999"/>
          </a:xfrm>
          <a:prstGeom prst="rect">
            <a:avLst/>
          </a:prstGeom>
          <a:noFill/>
        </p:spPr>
        <p:txBody>
          <a:bodyPr wrap="none" rtlCol="0">
            <a:spAutoFit/>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kumimoji="0" lang="en-US" altLang="zh-CN" sz="1200" b="1" i="0" u="none" strike="noStrike" kern="1200" cap="none" spc="0" normalizeH="0" baseline="0" noProof="0">
                <a:ln>
                  <a:noFill/>
                </a:ln>
                <a:solidFill>
                  <a:srgbClr val="000000"/>
                </a:solidFill>
                <a:effectLst/>
                <a:uLnTx/>
                <a:uFillTx/>
                <a:latin typeface="Arial" pitchFamily="34" charset="0"/>
                <a:ea typeface="黑体" panose="02010609060101010101" pitchFamily="49" charset="-122"/>
                <a:cs typeface="Arial" pitchFamily="34" charset="0"/>
              </a:rPr>
              <a:t>Note:</a:t>
            </a:r>
          </a:p>
        </p:txBody>
      </p:sp>
      <p:graphicFrame>
        <p:nvGraphicFramePr>
          <p:cNvPr id="8" name="Table 7">
            <a:extLst>
              <a:ext uri="{FF2B5EF4-FFF2-40B4-BE49-F238E27FC236}">
                <a16:creationId xmlns:a16="http://schemas.microsoft.com/office/drawing/2014/main" id="{55CF2A90-C398-A344-36B0-0745C95E13FA}"/>
              </a:ext>
            </a:extLst>
          </p:cNvPr>
          <p:cNvGraphicFramePr>
            <a:graphicFrameLocks noGrp="1"/>
          </p:cNvGraphicFramePr>
          <p:nvPr/>
        </p:nvGraphicFramePr>
        <p:xfrm>
          <a:off x="572840" y="660561"/>
          <a:ext cx="8373039" cy="4593971"/>
        </p:xfrm>
        <a:graphic>
          <a:graphicData uri="http://schemas.openxmlformats.org/drawingml/2006/table">
            <a:tbl>
              <a:tblPr/>
              <a:tblGrid>
                <a:gridCol w="852100">
                  <a:extLst>
                    <a:ext uri="{9D8B030D-6E8A-4147-A177-3AD203B41FA5}">
                      <a16:colId xmlns:a16="http://schemas.microsoft.com/office/drawing/2014/main" val="2680684737"/>
                    </a:ext>
                  </a:extLst>
                </a:gridCol>
                <a:gridCol w="7520939">
                  <a:extLst>
                    <a:ext uri="{9D8B030D-6E8A-4147-A177-3AD203B41FA5}">
                      <a16:colId xmlns:a16="http://schemas.microsoft.com/office/drawing/2014/main" val="2523699969"/>
                    </a:ext>
                  </a:extLst>
                </a:gridCol>
              </a:tblGrid>
              <a:tr h="276699">
                <a:tc>
                  <a:txBody>
                    <a:bodyPr/>
                    <a:lstStyle/>
                    <a:p>
                      <a:pPr algn="l" fontAlgn="base">
                        <a:lnSpc>
                          <a:spcPts val="1575"/>
                        </a:lnSpc>
                        <a:buNone/>
                      </a:pPr>
                      <a:r>
                        <a:rPr lang="en-US" sz="1300" b="1" i="0">
                          <a:solidFill>
                            <a:srgbClr val="FFFFFF"/>
                          </a:solidFill>
                          <a:effectLst/>
                          <a:latin typeface="Calibri" panose="020F0502020204030204" pitchFamily="34" charset="0"/>
                        </a:rPr>
                        <a:t>NO.​</a:t>
                      </a:r>
                      <a:r>
                        <a:rPr lang="en-US" sz="1300" b="0" i="0">
                          <a:solidFill>
                            <a:srgbClr val="000000"/>
                          </a:solidFill>
                          <a:effectLst/>
                          <a:latin typeface="Calibri" panose="020F0502020204030204" pitchFamily="34" charset="0"/>
                        </a:rPr>
                        <a:t>​</a:t>
                      </a:r>
                      <a:endParaRPr lang="en-US"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l" fontAlgn="base">
                        <a:lnSpc>
                          <a:spcPts val="1575"/>
                        </a:lnSpc>
                        <a:buNone/>
                      </a:pPr>
                      <a:r>
                        <a:rPr lang="en-US" sz="1300" b="1" i="0">
                          <a:solidFill>
                            <a:srgbClr val="FFFFFF"/>
                          </a:solidFill>
                          <a:effectLst/>
                          <a:latin typeface="Calibri" panose="020F0502020204030204" pitchFamily="34" charset="0"/>
                        </a:rPr>
                        <a:t>Description</a:t>
                      </a:r>
                      <a:endParaRPr lang="en-US"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1388982762"/>
                  </a:ext>
                </a:extLst>
              </a:tr>
              <a:tr h="186334">
                <a:tc>
                  <a:txBody>
                    <a:bodyPr/>
                    <a:lstStyle/>
                    <a:p>
                      <a:pPr algn="l" fontAlgn="base">
                        <a:lnSpc>
                          <a:spcPts val="1425"/>
                        </a:lnSpc>
                        <a:buNone/>
                      </a:pPr>
                      <a:r>
                        <a:rPr lang="en-US" sz="1200" b="0" i="0">
                          <a:solidFill>
                            <a:srgbClr val="000000"/>
                          </a:solidFill>
                          <a:effectLst/>
                          <a:latin typeface="Arial" panose="020B0604020202020204" pitchFamily="34" charset="0"/>
                        </a:rPr>
                        <a:t>1​</a:t>
                      </a:r>
                      <a:endParaRPr lang="en-US" b="0" i="0">
                        <a:solidFill>
                          <a:srgbClr val="000000"/>
                        </a:solidFill>
                        <a:effectLst/>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The User ID of </a:t>
                      </a:r>
                      <a:r>
                        <a:rPr lang="en-US" sz="1200" b="0" i="0" kern="1200" err="1">
                          <a:solidFill>
                            <a:schemeClr val="tx1"/>
                          </a:solidFill>
                          <a:effectLst/>
                          <a:latin typeface="+mn-lt"/>
                          <a:ea typeface="+mn-ea"/>
                          <a:cs typeface="+mn-cs"/>
                        </a:rPr>
                        <a:t>Nexbill</a:t>
                      </a:r>
                      <a:r>
                        <a:rPr lang="en-US" sz="1200" b="0" i="0" kern="1200">
                          <a:solidFill>
                            <a:schemeClr val="tx1"/>
                          </a:solidFill>
                          <a:effectLst/>
                          <a:latin typeface="+mn-lt"/>
                          <a:ea typeface="+mn-ea"/>
                          <a:cs typeface="+mn-cs"/>
                        </a:rPr>
                        <a:t> generated ledger</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483986010"/>
                  </a:ext>
                </a:extLst>
              </a:tr>
              <a:tr h="186334">
                <a:tc>
                  <a:txBody>
                    <a:bodyPr/>
                    <a:lstStyle/>
                    <a:p>
                      <a:pPr marL="0" algn="l" defTabSz="1216430" rtl="0" eaLnBrk="1" fontAlgn="base" latinLnBrk="0" hangingPunct="1">
                        <a:lnSpc>
                          <a:spcPts val="1425"/>
                        </a:lnSpc>
                        <a:buNone/>
                      </a:pPr>
                      <a:r>
                        <a:rPr lang="en-US" sz="1200" b="0" i="0" kern="1200">
                          <a:solidFill>
                            <a:srgbClr val="000000"/>
                          </a:solidFill>
                          <a:effectLst/>
                          <a:latin typeface="Arial" panose="020B0604020202020204" pitchFamily="34" charset="0"/>
                          <a:ea typeface="+mn-ea"/>
                          <a:cs typeface="+mn-cs"/>
                        </a:rPr>
                        <a:t>2</a:t>
                      </a: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r>
                        <a:rPr lang="en-US" sz="1200" b="0" i="0" kern="1200">
                          <a:solidFill>
                            <a:srgbClr val="000000"/>
                          </a:solidFill>
                          <a:effectLst/>
                          <a:latin typeface="Arial" panose="020B0604020202020204" pitchFamily="34" charset="0"/>
                          <a:ea typeface="+mn-ea"/>
                          <a:cs typeface="+mn-cs"/>
                        </a:rPr>
                        <a:t>Cutover solution still need further discussion</a:t>
                      </a: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766892213"/>
                  </a:ext>
                </a:extLst>
              </a:tr>
              <a:tr h="186334">
                <a:tc>
                  <a:txBody>
                    <a:bodyPr/>
                    <a:lstStyle/>
                    <a:p>
                      <a:pPr marL="0" algn="l" defTabSz="1216430" rtl="0" eaLnBrk="1" fontAlgn="base" latinLnBrk="0" hangingPunct="1">
                        <a:lnSpc>
                          <a:spcPts val="1425"/>
                        </a:lnSpc>
                        <a:buNone/>
                      </a:pPr>
                      <a:endParaRPr lang="en-US" sz="1200" b="0" i="0" kern="120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28562673"/>
                  </a:ext>
                </a:extLst>
              </a:tr>
              <a:tr h="186334">
                <a:tc>
                  <a:txBody>
                    <a:bodyPr/>
                    <a:lstStyle/>
                    <a:p>
                      <a:pPr marL="0" algn="l" defTabSz="1216430" rtl="0" eaLnBrk="1" fontAlgn="base" latinLnBrk="0" hangingPunct="1">
                        <a:lnSpc>
                          <a:spcPts val="1425"/>
                        </a:lnSpc>
                        <a:buNone/>
                      </a:pPr>
                      <a:endParaRPr lang="en-US" sz="1200" b="0" i="0" kern="120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06338561"/>
                  </a:ext>
                </a:extLst>
              </a:tr>
              <a:tr h="193365">
                <a:tc>
                  <a:txBody>
                    <a:bodyPr/>
                    <a:lstStyle/>
                    <a:p>
                      <a:pPr marL="0" algn="l" defTabSz="1216430" rtl="0" eaLnBrk="1" fontAlgn="base" latinLnBrk="0" hangingPunct="1">
                        <a:lnSpc>
                          <a:spcPts val="1425"/>
                        </a:lnSpc>
                        <a:buNone/>
                      </a:pPr>
                      <a:endParaRPr lang="en-US" sz="1200" b="0" i="0" kern="120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670915850"/>
                  </a:ext>
                </a:extLst>
              </a:tr>
              <a:tr h="193365">
                <a:tc>
                  <a:txBody>
                    <a:bodyPr/>
                    <a:lstStyle/>
                    <a:p>
                      <a:pPr marL="0" algn="l" defTabSz="1216430" rtl="0" eaLnBrk="1" fontAlgn="base" latinLnBrk="0" hangingPunct="1">
                        <a:lnSpc>
                          <a:spcPts val="1425"/>
                        </a:lnSpc>
                        <a:buNone/>
                      </a:pPr>
                      <a:endParaRPr lang="en-US" sz="1200" b="0" i="0" kern="120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60829510"/>
                  </a:ext>
                </a:extLst>
              </a:tr>
              <a:tr h="193365">
                <a:tc>
                  <a:txBody>
                    <a:bodyPr/>
                    <a:lstStyle/>
                    <a:p>
                      <a:pPr marL="0" algn="l" defTabSz="1216430" rtl="0" eaLnBrk="1" fontAlgn="base" latinLnBrk="0" hangingPunct="1">
                        <a:lnSpc>
                          <a:spcPts val="1425"/>
                        </a:lnSpc>
                        <a:buNone/>
                      </a:pPr>
                      <a:endParaRPr lang="en-US" sz="1200" b="0" i="0" kern="120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08328896"/>
                  </a:ext>
                </a:extLst>
              </a:tr>
              <a:tr h="193365">
                <a:tc>
                  <a:txBody>
                    <a:bodyPr/>
                    <a:lstStyle/>
                    <a:p>
                      <a:pPr marL="0" algn="l" defTabSz="1216430" rtl="0" eaLnBrk="1" fontAlgn="base" latinLnBrk="0" hangingPunct="1">
                        <a:lnSpc>
                          <a:spcPts val="1425"/>
                        </a:lnSpc>
                        <a:buNone/>
                      </a:pPr>
                      <a:endParaRPr lang="en-US" sz="1200" b="0" i="0" kern="120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81945149"/>
                  </a:ext>
                </a:extLst>
              </a:tr>
              <a:tr h="193365">
                <a:tc>
                  <a:txBody>
                    <a:bodyPr/>
                    <a:lstStyle/>
                    <a:p>
                      <a:pPr marL="0" algn="l" defTabSz="1216430" rtl="0" eaLnBrk="1" fontAlgn="base" latinLnBrk="0" hangingPunct="1">
                        <a:lnSpc>
                          <a:spcPts val="1425"/>
                        </a:lnSpc>
                        <a:buNone/>
                      </a:pPr>
                      <a:endParaRPr lang="en-US" sz="1200" b="0" i="0" kern="120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814154044"/>
                  </a:ext>
                </a:extLst>
              </a:tr>
              <a:tr h="193365">
                <a:tc>
                  <a:txBody>
                    <a:bodyPr/>
                    <a:lstStyle/>
                    <a:p>
                      <a:pPr marL="0" algn="l" defTabSz="1216430" rtl="0" eaLnBrk="1" fontAlgn="base" latinLnBrk="0" hangingPunct="1">
                        <a:lnSpc>
                          <a:spcPts val="1425"/>
                        </a:lnSpc>
                        <a:buNone/>
                      </a:pPr>
                      <a:endParaRPr lang="en-US" sz="1200" b="0" i="0" kern="120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151602330"/>
                  </a:ext>
                </a:extLst>
              </a:tr>
              <a:tr h="193365">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noProof="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90450740"/>
                  </a:ext>
                </a:extLst>
              </a:tr>
              <a:tr h="193365">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noProof="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035849782"/>
                  </a:ext>
                </a:extLst>
              </a:tr>
              <a:tr h="193365">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noProof="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669986645"/>
                  </a:ext>
                </a:extLst>
              </a:tr>
              <a:tr h="193365">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noProof="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981614578"/>
                  </a:ext>
                </a:extLst>
              </a:tr>
              <a:tr h="193365">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noProof="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58581663"/>
                  </a:ext>
                </a:extLst>
              </a:tr>
              <a:tr h="193365">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noProof="0">
                        <a:solidFill>
                          <a:srgbClr val="000000"/>
                        </a:solidFill>
                        <a:effectLst/>
                        <a:latin typeface="Arial" panose="020B0604020202020204" pitchFamily="34" charset="0"/>
                        <a:ea typeface="+mn-ea"/>
                        <a:cs typeface="+mn-cs"/>
                      </a:endParaRPr>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0" marR="0" lvl="0" indent="0" algn="l" defTabSz="1216430" rtl="0" eaLnBrk="1" fontAlgn="base" latinLnBrk="0" hangingPunct="1">
                        <a:lnSpc>
                          <a:spcPts val="1425"/>
                        </a:lnSpc>
                        <a:spcBef>
                          <a:spcPts val="0"/>
                        </a:spcBef>
                        <a:spcAft>
                          <a:spcPts val="0"/>
                        </a:spcAft>
                        <a:buClrTx/>
                        <a:buSzTx/>
                        <a:buFontTx/>
                        <a:buNone/>
                        <a:tabLst/>
                        <a:defRPr/>
                      </a:pPr>
                      <a:endParaRPr lang="en-US" sz="1200" b="0" i="0" kern="1200">
                        <a:solidFill>
                          <a:srgbClr val="000000"/>
                        </a:solidFill>
                        <a:effectLst/>
                        <a:latin typeface="Arial" panose="020B0604020202020204" pitchFamily="34" charset="0"/>
                        <a:ea typeface="+mn-ea"/>
                        <a:cs typeface="+mn-cs"/>
                      </a:endParaRPr>
                    </a:p>
                  </a:txBody>
                  <a:tcPr marL="9525" marR="9525" marT="9525" marB="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118008042"/>
                  </a:ext>
                </a:extLst>
              </a:tr>
            </a:tbl>
          </a:graphicData>
        </a:graphic>
      </p:graphicFrame>
      <p:sp>
        <p:nvSpPr>
          <p:cNvPr id="9" name="Rectangle 1">
            <a:extLst>
              <a:ext uri="{FF2B5EF4-FFF2-40B4-BE49-F238E27FC236}">
                <a16:creationId xmlns:a16="http://schemas.microsoft.com/office/drawing/2014/main" id="{1AAA54CA-5CDE-459B-F810-5214DCA797FF}"/>
              </a:ext>
            </a:extLst>
          </p:cNvPr>
          <p:cNvSpPr>
            <a:spLocks noChangeArrowheads="1"/>
          </p:cNvSpPr>
          <p:nvPr/>
        </p:nvSpPr>
        <p:spPr bwMode="auto">
          <a:xfrm>
            <a:off x="2301875" y="2481263"/>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New Roman" panose="02020603050405020304" pitchFamily="18" charset="0"/>
                <a:ea typeface="+mn-ea"/>
                <a:cs typeface="Times New Roman" panose="02020603050405020304" pitchFamily="18" charset="0"/>
              </a:rPr>
              <a:t> </a:t>
            </a: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877869399"/>
      </p:ext>
    </p:extLst>
  </p:cSld>
  <p:clrMapOvr>
    <a:masterClrMapping/>
  </p:clrMapOvr>
  <p:transition spd="med"/>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hink-cell data - do not delete" hidden="1">
            <a:extLst>
              <a:ext uri="{FF2B5EF4-FFF2-40B4-BE49-F238E27FC236}">
                <a16:creationId xmlns:a16="http://schemas.microsoft.com/office/drawing/2014/main" id="{4224BE9E-AF12-706F-D4EB-183B0E2BC137}"/>
              </a:ext>
            </a:extLst>
          </p:cNvPr>
          <p:cNvGraphicFramePr>
            <a:graphicFrameLocks/>
          </p:cNvGraphicFramePr>
          <p:nvPr>
            <p:custDataLst>
              <p:tags r:id="rId1"/>
            </p:custDataLst>
          </p:nvPr>
        </p:nvGraphicFramePr>
        <p:xfrm>
          <a:off x="3176" y="1588"/>
          <a:ext cx="1588" cy="1588"/>
        </p:xfrm>
        <a:graphic>
          <a:graphicData uri="http://schemas.openxmlformats.org/presentationml/2006/ole">
            <mc:AlternateContent xmlns:mc="http://schemas.openxmlformats.org/markup-compatibility/2006">
              <mc:Choice xmlns:v="urn:schemas-microsoft-com:vml" Requires="v">
                <p:oleObj name="think-cell Slide" r:id="rId3" imgW="454" imgH="454" progId="TCLayout.ActiveDocument.1">
                  <p:embed/>
                </p:oleObj>
              </mc:Choice>
              <mc:Fallback>
                <p:oleObj name="think-cell Slide" r:id="rId3" imgW="454" imgH="454" progId="TCLayout.ActiveDocument.1">
                  <p:embed/>
                  <p:pic>
                    <p:nvPicPr>
                      <p:cNvPr id="6" name="think-cell data - do not delete" hidden="1">
                        <a:extLst>
                          <a:ext uri="{FF2B5EF4-FFF2-40B4-BE49-F238E27FC236}">
                            <a16:creationId xmlns:a16="http://schemas.microsoft.com/office/drawing/2014/main" id="{4224BE9E-AF12-706F-D4EB-183B0E2BC137}"/>
                          </a:ext>
                        </a:extLst>
                      </p:cNvPr>
                      <p:cNvPicPr/>
                      <p:nvPr/>
                    </p:nvPicPr>
                    <p:blipFill>
                      <a:blip r:embed="rId4"/>
                      <a:stretch>
                        <a:fillRect/>
                      </a:stretch>
                    </p:blipFill>
                    <p:spPr>
                      <a:xfrm>
                        <a:off x="3176" y="1588"/>
                        <a:ext cx="1588" cy="1588"/>
                      </a:xfrm>
                      <a:prstGeom prst="rect">
                        <a:avLst/>
                      </a:prstGeom>
                    </p:spPr>
                  </p:pic>
                </p:oleObj>
              </mc:Fallback>
            </mc:AlternateContent>
          </a:graphicData>
        </a:graphic>
      </p:graphicFrame>
      <p:sp>
        <p:nvSpPr>
          <p:cNvPr id="5" name="Slide Number Placeholder 4">
            <a:extLst>
              <a:ext uri="{FF2B5EF4-FFF2-40B4-BE49-F238E27FC236}">
                <a16:creationId xmlns:a16="http://schemas.microsoft.com/office/drawing/2014/main" id="{A53D312C-94EC-23CA-0FD1-37B2CF80753A}"/>
              </a:ext>
            </a:extLst>
          </p:cNvPr>
          <p:cNvSpPr>
            <a:spLocks noGrp="1"/>
          </p:cNvSpPr>
          <p:nvPr>
            <p:ph type="sldNum" sz="quarter" idx="4294967295"/>
          </p:nvPr>
        </p:nvSpPr>
        <p:spPr>
          <a:xfrm>
            <a:off x="11752263" y="6400801"/>
            <a:ext cx="438150" cy="155575"/>
          </a:xfrm>
        </p:spPr>
        <p:txBody>
          <a:bodyPr/>
          <a:lstStyle/>
          <a:p>
            <a:pPr defTabSz="1218987"/>
            <a:fld id="{6D22F896-40B5-4ADD-8801-0D06FADFA095}" type="slidenum">
              <a:rPr lang="en-US">
                <a:solidFill>
                  <a:srgbClr val="000000"/>
                </a:solidFill>
              </a:rPr>
              <a:pPr defTabSz="1218987"/>
              <a:t>186</a:t>
            </a:fld>
            <a:endParaRPr lang="en-US">
              <a:solidFill>
                <a:srgbClr val="000000"/>
              </a:solidFill>
            </a:endParaRPr>
          </a:p>
        </p:txBody>
      </p:sp>
    </p:spTree>
    <p:extLst>
      <p:ext uri="{BB962C8B-B14F-4D97-AF65-F5344CB8AC3E}">
        <p14:creationId xmlns:p14="http://schemas.microsoft.com/office/powerpoint/2010/main" val="93914078"/>
      </p:ext>
    </p:extLst>
  </p:cSld>
  <p:clrMapOvr>
    <a:masterClrMapping/>
  </p:clrMapOvr>
  <p:transition spd="med"/>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D1498-F9E8-B5FC-6302-1FF81D3644E7}"/>
            </a:ext>
          </a:extLst>
        </p:cNvPr>
        <p:cNvGrpSpPr/>
        <p:nvPr/>
      </p:nvGrpSpPr>
      <p:grpSpPr>
        <a:xfrm>
          <a:off x="0" y="0"/>
          <a:ext cx="0" cy="0"/>
          <a:chOff x="0" y="0"/>
          <a:chExt cx="0" cy="0"/>
        </a:xfrm>
      </p:grpSpPr>
      <p:sp>
        <p:nvSpPr>
          <p:cNvPr id="5" name="Title 1">
            <a:extLst>
              <a:ext uri="{FF2B5EF4-FFF2-40B4-BE49-F238E27FC236}">
                <a16:creationId xmlns:a16="http://schemas.microsoft.com/office/drawing/2014/main" id="{2559292C-FE12-33AD-561F-5AA92E8B4429}"/>
              </a:ext>
            </a:extLst>
          </p:cNvPr>
          <p:cNvSpPr txBox="1">
            <a:spLocks/>
          </p:cNvSpPr>
          <p:nvPr/>
        </p:nvSpPr>
        <p:spPr>
          <a:xfrm>
            <a:off x="174104" y="133355"/>
            <a:ext cx="9570719"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Aptos Display" panose="020F0302020204030204"/>
                <a:ea typeface="+mj-ea"/>
                <a:cs typeface="+mj-cs"/>
              </a:rPr>
              <a:t>Key Scope and Assumption in </a:t>
            </a:r>
            <a:r>
              <a:rPr kumimoji="0" lang="en-US" sz="2800" b="1" i="0" u="none" strike="noStrike" kern="1200" cap="none" spc="0" normalizeH="0" baseline="0" noProof="0" err="1">
                <a:ln>
                  <a:noFill/>
                </a:ln>
                <a:solidFill>
                  <a:prstClr val="black"/>
                </a:solidFill>
                <a:effectLst/>
                <a:uLnTx/>
                <a:uFillTx/>
                <a:latin typeface="Aptos Display" panose="020F0302020204030204"/>
                <a:ea typeface="+mj-ea"/>
                <a:cs typeface="+mj-cs"/>
              </a:rPr>
              <a:t>Nexbill</a:t>
            </a:r>
            <a:endParaRPr kumimoji="0" lang="en-US" sz="3600" b="1" i="0" u="none" strike="noStrike" kern="1200" cap="none" spc="0" normalizeH="0" baseline="0" noProof="0">
              <a:ln>
                <a:noFill/>
              </a:ln>
              <a:solidFill>
                <a:prstClr val="black"/>
              </a:solidFill>
              <a:effectLst/>
              <a:uLnTx/>
              <a:uFillTx/>
              <a:latin typeface="Aptos Display" panose="020F0302020204030204"/>
              <a:ea typeface="+mj-ea"/>
              <a:cs typeface="+mj-cs"/>
            </a:endParaRPr>
          </a:p>
        </p:txBody>
      </p:sp>
      <p:graphicFrame>
        <p:nvGraphicFramePr>
          <p:cNvPr id="6" name="Table 5">
            <a:extLst>
              <a:ext uri="{FF2B5EF4-FFF2-40B4-BE49-F238E27FC236}">
                <a16:creationId xmlns:a16="http://schemas.microsoft.com/office/drawing/2014/main" id="{7CB95913-A3BC-CE86-AACE-D8224D76FF82}"/>
              </a:ext>
            </a:extLst>
          </p:cNvPr>
          <p:cNvGraphicFramePr>
            <a:graphicFrameLocks noGrp="1"/>
          </p:cNvGraphicFramePr>
          <p:nvPr>
            <p:extLst>
              <p:ext uri="{D42A27DB-BD31-4B8C-83A1-F6EECF244321}">
                <p14:modId xmlns:p14="http://schemas.microsoft.com/office/powerpoint/2010/main" val="2507135586"/>
              </p:ext>
            </p:extLst>
          </p:nvPr>
        </p:nvGraphicFramePr>
        <p:xfrm>
          <a:off x="209236" y="920855"/>
          <a:ext cx="11773528" cy="3398520"/>
        </p:xfrm>
        <a:graphic>
          <a:graphicData uri="http://schemas.openxmlformats.org/drawingml/2006/table">
            <a:tbl>
              <a:tblPr firstRow="1" bandRow="1">
                <a:tableStyleId>{5C22544A-7EE6-4342-B048-85BDC9FD1C3A}</a:tableStyleId>
              </a:tblPr>
              <a:tblGrid>
                <a:gridCol w="524381">
                  <a:extLst>
                    <a:ext uri="{9D8B030D-6E8A-4147-A177-3AD203B41FA5}">
                      <a16:colId xmlns:a16="http://schemas.microsoft.com/office/drawing/2014/main" val="590487580"/>
                    </a:ext>
                  </a:extLst>
                </a:gridCol>
                <a:gridCol w="1160040">
                  <a:extLst>
                    <a:ext uri="{9D8B030D-6E8A-4147-A177-3AD203B41FA5}">
                      <a16:colId xmlns:a16="http://schemas.microsoft.com/office/drawing/2014/main" val="3195040165"/>
                    </a:ext>
                  </a:extLst>
                </a:gridCol>
                <a:gridCol w="10089107">
                  <a:extLst>
                    <a:ext uri="{9D8B030D-6E8A-4147-A177-3AD203B41FA5}">
                      <a16:colId xmlns:a16="http://schemas.microsoft.com/office/drawing/2014/main" val="3020975192"/>
                    </a:ext>
                  </a:extLst>
                </a:gridCol>
              </a:tblGrid>
              <a:tr h="370840">
                <a:tc>
                  <a:txBody>
                    <a:bodyPr/>
                    <a:lstStyle/>
                    <a:p>
                      <a:pPr algn="ctr"/>
                      <a:r>
                        <a:rPr lang="en-US" sz="1400"/>
                        <a:t>No</a:t>
                      </a:r>
                    </a:p>
                  </a:txBody>
                  <a:tcPr anchor="ctr"/>
                </a:tc>
                <a:tc>
                  <a:txBody>
                    <a:bodyPr/>
                    <a:lstStyle/>
                    <a:p>
                      <a:r>
                        <a:rPr lang="en-US" sz="1400"/>
                        <a:t>C</a:t>
                      </a:r>
                      <a:r>
                        <a:rPr lang="en-US" altLang="zh-CN" sz="1400"/>
                        <a:t>ategory</a:t>
                      </a:r>
                      <a:endParaRPr lang="en-US" sz="1400"/>
                    </a:p>
                  </a:txBody>
                  <a:tcPr anchor="ctr"/>
                </a:tc>
                <a:tc>
                  <a:txBody>
                    <a:bodyPr/>
                    <a:lstStyle/>
                    <a:p>
                      <a:r>
                        <a:rPr lang="en-US" sz="1400"/>
                        <a:t>Description</a:t>
                      </a:r>
                    </a:p>
                  </a:txBody>
                  <a:tcPr anchor="ctr"/>
                </a:tc>
                <a:extLst>
                  <a:ext uri="{0D108BD9-81ED-4DB2-BD59-A6C34878D82A}">
                    <a16:rowId xmlns:a16="http://schemas.microsoft.com/office/drawing/2014/main" val="3093137312"/>
                  </a:ext>
                </a:extLst>
              </a:tr>
              <a:tr h="370840">
                <a:tc>
                  <a:txBody>
                    <a:bodyPr/>
                    <a:lstStyle/>
                    <a:p>
                      <a:pPr algn="ctr"/>
                      <a:r>
                        <a:rPr lang="en-US" sz="1400"/>
                        <a:t>1</a:t>
                      </a:r>
                    </a:p>
                  </a:txBody>
                  <a:tcPr anchor="ctr"/>
                </a:tc>
                <a:tc>
                  <a:txBody>
                    <a:bodyPr/>
                    <a:lstStyle/>
                    <a:p>
                      <a:r>
                        <a:rPr lang="en-US" sz="1400"/>
                        <a:t>Scope</a:t>
                      </a:r>
                    </a:p>
                  </a:txBody>
                  <a:tcPr anchor="ctr"/>
                </a:tc>
                <a:tc>
                  <a:txBody>
                    <a:bodyPr/>
                    <a:lstStyle/>
                    <a:p>
                      <a:pPr marL="171450" indent="-171450">
                        <a:buFont typeface="Arial" panose="020B0604020202020204" pitchFamily="34" charset="0"/>
                        <a:buChar char="•"/>
                      </a:pPr>
                      <a:r>
                        <a:rPr lang="en-US" sz="1400"/>
                        <a:t>Countries: PRC</a:t>
                      </a:r>
                    </a:p>
                    <a:p>
                      <a:pPr marL="171450" indent="-171450">
                        <a:buFont typeface="Arial" panose="020B0604020202020204" pitchFamily="34" charset="0"/>
                        <a:buChar char="•"/>
                      </a:pPr>
                      <a:r>
                        <a:rPr lang="en-US" sz="1400"/>
                        <a:t>Model: </a:t>
                      </a:r>
                      <a:r>
                        <a:rPr lang="en-US" sz="1400" strike="noStrike" baseline="0"/>
                        <a:t>Central Billing</a:t>
                      </a:r>
                    </a:p>
                    <a:p>
                      <a:pPr marL="171450" indent="-171450">
                        <a:buFont typeface="Arial" panose="020B0604020202020204" pitchFamily="34" charset="0"/>
                        <a:buChar char="•"/>
                      </a:pPr>
                      <a:r>
                        <a:rPr lang="en-US" sz="1400"/>
                        <a:t>Offering: DaaS</a:t>
                      </a:r>
                    </a:p>
                  </a:txBody>
                  <a:tcPr anchor="ctr"/>
                </a:tc>
                <a:extLst>
                  <a:ext uri="{0D108BD9-81ED-4DB2-BD59-A6C34878D82A}">
                    <a16:rowId xmlns:a16="http://schemas.microsoft.com/office/drawing/2014/main" val="4079242787"/>
                  </a:ext>
                </a:extLst>
              </a:tr>
              <a:tr h="370840">
                <a:tc>
                  <a:txBody>
                    <a:bodyPr/>
                    <a:lstStyle/>
                    <a:p>
                      <a:pPr algn="ctr"/>
                      <a:r>
                        <a:rPr lang="en-US" sz="1400"/>
                        <a:t>2</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Scope</a:t>
                      </a:r>
                    </a:p>
                  </a:txBody>
                  <a:tcPr anchor="ct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altLang="zh-CN" sz="1400" b="0" i="0" u="none" strike="noStrike" kern="1200" cap="none" spc="0" normalizeH="0" baseline="0" noProof="0">
                          <a:ln>
                            <a:noFill/>
                          </a:ln>
                          <a:solidFill>
                            <a:prstClr val="black"/>
                          </a:solidFill>
                          <a:effectLst/>
                          <a:uLnTx/>
                          <a:uFillTx/>
                          <a:latin typeface="+mn-lt"/>
                          <a:ea typeface="+mn-ea"/>
                          <a:cs typeface="+mn-cs"/>
                        </a:rPr>
                        <a:t>Nexbill enable issuing customer invoices</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altLang="zh-CN" sz="1400" b="1" i="0" u="none" strike="noStrike" kern="1200" cap="none" spc="0" normalizeH="0" baseline="0">
                          <a:ln>
                            <a:noFill/>
                          </a:ln>
                          <a:solidFill>
                            <a:prstClr val="black"/>
                          </a:solidFill>
                          <a:effectLst/>
                          <a:uLnTx/>
                          <a:uFillTx/>
                          <a:latin typeface="+mn-lt"/>
                          <a:ea typeface="+mn-ea"/>
                          <a:cs typeface="+mn-cs"/>
                        </a:rPr>
                        <a:t>As-is in BRIM: </a:t>
                      </a:r>
                      <a:r>
                        <a:rPr kumimoji="0" lang="en-US" altLang="zh-CN" sz="1400" b="0" i="0" u="none" strike="noStrike" kern="1200" cap="none" spc="0" normalizeH="0" baseline="0">
                          <a:ln>
                            <a:noFill/>
                          </a:ln>
                          <a:solidFill>
                            <a:prstClr val="black"/>
                          </a:solidFill>
                          <a:effectLst/>
                          <a:uLnTx/>
                          <a:uFillTx/>
                          <a:latin typeface="+mn-lt"/>
                          <a:ea typeface="+mn-ea"/>
                          <a:cs typeface="+mn-cs"/>
                        </a:rPr>
                        <a:t>DaaS Recurring/ Early Termination / Damage Fund / SWAP</a:t>
                      </a:r>
                      <a:endParaRPr kumimoji="0" lang="en-US" sz="1400" b="1" i="0" u="none" strike="noStrike" kern="1200" cap="none" spc="0" normalizeH="0" baseline="0">
                        <a:ln>
                          <a:noFill/>
                        </a:ln>
                        <a:solidFill>
                          <a:prstClr val="black"/>
                        </a:solidFill>
                        <a:effectLst/>
                        <a:uLnTx/>
                        <a:uFillTx/>
                        <a:latin typeface="+mn-lt"/>
                        <a:ea typeface="+mn-ea"/>
                        <a:cs typeface="+mn-cs"/>
                      </a:endParaRPr>
                    </a:p>
                  </a:txBody>
                  <a:tcPr anchor="ctr"/>
                </a:tc>
                <a:extLst>
                  <a:ext uri="{0D108BD9-81ED-4DB2-BD59-A6C34878D82A}">
                    <a16:rowId xmlns:a16="http://schemas.microsoft.com/office/drawing/2014/main" val="276218728"/>
                  </a:ext>
                </a:extLst>
              </a:tr>
              <a:tr h="370840">
                <a:tc>
                  <a:txBody>
                    <a:bodyPr/>
                    <a:lstStyle/>
                    <a:p>
                      <a:pPr algn="ctr"/>
                      <a:r>
                        <a:rPr lang="en-US" sz="1400"/>
                        <a:t>3</a:t>
                      </a:r>
                    </a:p>
                  </a:txBody>
                  <a:tcPr anchor="ctr"/>
                </a:tc>
                <a:tc>
                  <a:txBody>
                    <a:bodyPr/>
                    <a:lstStyle/>
                    <a:p>
                      <a:r>
                        <a:rPr lang="en-US" sz="1400"/>
                        <a:t>Scope</a:t>
                      </a:r>
                    </a:p>
                  </a:txBody>
                  <a:tcPr anchor="ctr"/>
                </a:tc>
                <a:tc>
                  <a:txBody>
                    <a:bodyPr/>
                    <a:lstStyle/>
                    <a:p>
                      <a:r>
                        <a:rPr lang="en-US" altLang="zh-CN" sz="1400"/>
                        <a:t>As-is EAAS Scenarios and functionality will be default covered in </a:t>
                      </a:r>
                      <a:r>
                        <a:rPr lang="en-US" altLang="zh-CN" sz="1400" err="1"/>
                        <a:t>Nexbill</a:t>
                      </a:r>
                      <a:r>
                        <a:rPr lang="en-US" altLang="zh-CN" sz="1400"/>
                        <a:t> MVP scope. New To-be scenario will separately demonstrate in F&amp;A BSR, go-live timeline will follow E2E schedule</a:t>
                      </a:r>
                      <a:endParaRPr lang="en-US" sz="1400"/>
                    </a:p>
                  </a:txBody>
                  <a:tcPr anchor="ctr"/>
                </a:tc>
                <a:extLst>
                  <a:ext uri="{0D108BD9-81ED-4DB2-BD59-A6C34878D82A}">
                    <a16:rowId xmlns:a16="http://schemas.microsoft.com/office/drawing/2014/main" val="2835529470"/>
                  </a:ext>
                </a:extLst>
              </a:tr>
              <a:tr h="370840">
                <a:tc>
                  <a:txBody>
                    <a:bodyPr/>
                    <a:lstStyle/>
                    <a:p>
                      <a:pPr algn="ctr"/>
                      <a:r>
                        <a:rPr lang="en-US" sz="1400"/>
                        <a:t>4</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Assumption</a:t>
                      </a:r>
                    </a:p>
                  </a:txBody>
                  <a:tcPr anchor="ctr"/>
                </a:tc>
                <a:tc>
                  <a:txBody>
                    <a:bodyPr/>
                    <a:lstStyle/>
                    <a:p>
                      <a:r>
                        <a:rPr lang="en-US" sz="1400" err="1"/>
                        <a:t>Nexbill</a:t>
                      </a:r>
                      <a:r>
                        <a:rPr lang="en-US" sz="1400"/>
                        <a:t> will follow BRIM m</a:t>
                      </a:r>
                      <a:r>
                        <a:rPr lang="en-US" altLang="zh-CN" sz="1400"/>
                        <a:t>echanism generate accounting entry (Subledger) and post to ECC/S4 (General ledger), there is No Sales order in ECC/S4.</a:t>
                      </a:r>
                      <a:endParaRPr lang="en-US" sz="1400"/>
                    </a:p>
                  </a:txBody>
                  <a:tcPr anchor="ctr"/>
                </a:tc>
                <a:extLst>
                  <a:ext uri="{0D108BD9-81ED-4DB2-BD59-A6C34878D82A}">
                    <a16:rowId xmlns:a16="http://schemas.microsoft.com/office/drawing/2014/main" val="3200209679"/>
                  </a:ext>
                </a:extLst>
              </a:tr>
              <a:tr h="370840">
                <a:tc>
                  <a:txBody>
                    <a:bodyPr/>
                    <a:lstStyle/>
                    <a:p>
                      <a:pPr algn="ctr"/>
                      <a:r>
                        <a:rPr lang="en-US" sz="1400"/>
                        <a:t>5</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Assumption</a:t>
                      </a:r>
                    </a:p>
                  </a:txBody>
                  <a:tcPr anchor="ctr"/>
                </a:tc>
                <a:tc>
                  <a:txBody>
                    <a:bodyPr/>
                    <a:lstStyle/>
                    <a:p>
                      <a:r>
                        <a:rPr lang="en-US" sz="1400"/>
                        <a:t>The customer billing will firstly be generated; it will be the trigger to generate intercompany billings in Central billing model.</a:t>
                      </a:r>
                    </a:p>
                  </a:txBody>
                  <a:tcPr anchor="ctr"/>
                </a:tc>
                <a:extLst>
                  <a:ext uri="{0D108BD9-81ED-4DB2-BD59-A6C34878D82A}">
                    <a16:rowId xmlns:a16="http://schemas.microsoft.com/office/drawing/2014/main" val="215016291"/>
                  </a:ext>
                </a:extLst>
              </a:tr>
              <a:tr h="370840">
                <a:tc>
                  <a:txBody>
                    <a:bodyPr/>
                    <a:lstStyle/>
                    <a:p>
                      <a:pPr algn="ctr"/>
                      <a:r>
                        <a:rPr lang="en-US" sz="1400"/>
                        <a:t>7</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Assumption</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Only allows full amount credit note or cancelation</a:t>
                      </a:r>
                    </a:p>
                  </a:txBody>
                  <a:tcPr anchor="ctr"/>
                </a:tc>
                <a:extLst>
                  <a:ext uri="{0D108BD9-81ED-4DB2-BD59-A6C34878D82A}">
                    <a16:rowId xmlns:a16="http://schemas.microsoft.com/office/drawing/2014/main" val="2375810649"/>
                  </a:ext>
                </a:extLst>
              </a:tr>
            </a:tbl>
          </a:graphicData>
        </a:graphic>
      </p:graphicFrame>
    </p:spTree>
    <p:extLst>
      <p:ext uri="{BB962C8B-B14F-4D97-AF65-F5344CB8AC3E}">
        <p14:creationId xmlns:p14="http://schemas.microsoft.com/office/powerpoint/2010/main" val="673076441"/>
      </p:ext>
    </p:extLst>
  </p:cSld>
  <p:clrMapOvr>
    <a:masterClrMapping/>
  </p:clrMapOvr>
  <p:transition>
    <p:fade/>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B3314E-E541-9679-E7D8-583083902BD0}"/>
            </a:ext>
          </a:extLst>
        </p:cNvPr>
        <p:cNvGrpSpPr/>
        <p:nvPr/>
      </p:nvGrpSpPr>
      <p:grpSpPr>
        <a:xfrm>
          <a:off x="0" y="0"/>
          <a:ext cx="0" cy="0"/>
          <a:chOff x="0" y="0"/>
          <a:chExt cx="0" cy="0"/>
        </a:xfrm>
      </p:grpSpPr>
      <p:graphicFrame>
        <p:nvGraphicFramePr>
          <p:cNvPr id="3" name="表格 11">
            <a:extLst>
              <a:ext uri="{FF2B5EF4-FFF2-40B4-BE49-F238E27FC236}">
                <a16:creationId xmlns:a16="http://schemas.microsoft.com/office/drawing/2014/main" id="{E984D94D-85E5-325E-D924-6D02B9A3ACDC}"/>
              </a:ext>
            </a:extLst>
          </p:cNvPr>
          <p:cNvGraphicFramePr>
            <a:graphicFrameLocks noGrp="1"/>
          </p:cNvGraphicFramePr>
          <p:nvPr>
            <p:extLst>
              <p:ext uri="{D42A27DB-BD31-4B8C-83A1-F6EECF244321}">
                <p14:modId xmlns:p14="http://schemas.microsoft.com/office/powerpoint/2010/main" val="1710589365"/>
              </p:ext>
            </p:extLst>
          </p:nvPr>
        </p:nvGraphicFramePr>
        <p:xfrm>
          <a:off x="2794369" y="2420801"/>
          <a:ext cx="5930480" cy="1143743"/>
        </p:xfrm>
        <a:graphic>
          <a:graphicData uri="http://schemas.openxmlformats.org/drawingml/2006/table">
            <a:tbl>
              <a:tblPr/>
              <a:tblGrid>
                <a:gridCol w="415975">
                  <a:extLst>
                    <a:ext uri="{9D8B030D-6E8A-4147-A177-3AD203B41FA5}">
                      <a16:colId xmlns:a16="http://schemas.microsoft.com/office/drawing/2014/main" val="495084399"/>
                    </a:ext>
                  </a:extLst>
                </a:gridCol>
                <a:gridCol w="238415">
                  <a:extLst>
                    <a:ext uri="{9D8B030D-6E8A-4147-A177-3AD203B41FA5}">
                      <a16:colId xmlns:a16="http://schemas.microsoft.com/office/drawing/2014/main" val="3614210242"/>
                    </a:ext>
                  </a:extLst>
                </a:gridCol>
                <a:gridCol w="594047">
                  <a:extLst>
                    <a:ext uri="{9D8B030D-6E8A-4147-A177-3AD203B41FA5}">
                      <a16:colId xmlns:a16="http://schemas.microsoft.com/office/drawing/2014/main" val="1442124609"/>
                    </a:ext>
                  </a:extLst>
                </a:gridCol>
                <a:gridCol w="1871198">
                  <a:extLst>
                    <a:ext uri="{9D8B030D-6E8A-4147-A177-3AD203B41FA5}">
                      <a16:colId xmlns:a16="http://schemas.microsoft.com/office/drawing/2014/main" val="3603859997"/>
                    </a:ext>
                  </a:extLst>
                </a:gridCol>
                <a:gridCol w="355085">
                  <a:extLst>
                    <a:ext uri="{9D8B030D-6E8A-4147-A177-3AD203B41FA5}">
                      <a16:colId xmlns:a16="http://schemas.microsoft.com/office/drawing/2014/main" val="4076488391"/>
                    </a:ext>
                  </a:extLst>
                </a:gridCol>
                <a:gridCol w="373798">
                  <a:extLst>
                    <a:ext uri="{9D8B030D-6E8A-4147-A177-3AD203B41FA5}">
                      <a16:colId xmlns:a16="http://schemas.microsoft.com/office/drawing/2014/main" val="3254101706"/>
                    </a:ext>
                  </a:extLst>
                </a:gridCol>
                <a:gridCol w="348127">
                  <a:extLst>
                    <a:ext uri="{9D8B030D-6E8A-4147-A177-3AD203B41FA5}">
                      <a16:colId xmlns:a16="http://schemas.microsoft.com/office/drawing/2014/main" val="3712391277"/>
                    </a:ext>
                  </a:extLst>
                </a:gridCol>
                <a:gridCol w="262796">
                  <a:extLst>
                    <a:ext uri="{9D8B030D-6E8A-4147-A177-3AD203B41FA5}">
                      <a16:colId xmlns:a16="http://schemas.microsoft.com/office/drawing/2014/main" val="1461470061"/>
                    </a:ext>
                  </a:extLst>
                </a:gridCol>
                <a:gridCol w="262796">
                  <a:extLst>
                    <a:ext uri="{9D8B030D-6E8A-4147-A177-3AD203B41FA5}">
                      <a16:colId xmlns:a16="http://schemas.microsoft.com/office/drawing/2014/main" val="2527660299"/>
                    </a:ext>
                  </a:extLst>
                </a:gridCol>
                <a:gridCol w="378602">
                  <a:extLst>
                    <a:ext uri="{9D8B030D-6E8A-4147-A177-3AD203B41FA5}">
                      <a16:colId xmlns:a16="http://schemas.microsoft.com/office/drawing/2014/main" val="3641075278"/>
                    </a:ext>
                  </a:extLst>
                </a:gridCol>
                <a:gridCol w="829641">
                  <a:extLst>
                    <a:ext uri="{9D8B030D-6E8A-4147-A177-3AD203B41FA5}">
                      <a16:colId xmlns:a16="http://schemas.microsoft.com/office/drawing/2014/main" val="3618613915"/>
                    </a:ext>
                  </a:extLst>
                </a:gridCol>
              </a:tblGrid>
              <a:tr h="161739">
                <a:tc rowSpan="6">
                  <a:txBody>
                    <a:bodyPr/>
                    <a:lstStyle/>
                    <a:p>
                      <a:pPr algn="ctr" fontAlgn="base">
                        <a:lnSpc>
                          <a:spcPts val="1425"/>
                        </a:lnSpc>
                        <a:buNone/>
                      </a:pPr>
                      <a:r>
                        <a:rPr lang="en-US" sz="900" b="1" i="0" u="none" strike="noStrike">
                          <a:solidFill>
                            <a:srgbClr val="FFFFFF"/>
                          </a:solidFill>
                          <a:effectLst/>
                          <a:latin typeface="Arial" panose="020B0604020202020204" pitchFamily="34" charset="0"/>
                        </a:rPr>
                        <a:t>NL11</a:t>
                      </a:r>
                      <a:r>
                        <a:rPr lang="en-US" sz="900" b="1" i="0">
                          <a:solidFill>
                            <a:srgbClr val="FFFFFF"/>
                          </a:solidFill>
                          <a:effectLst/>
                          <a:latin typeface="Arial" panose="020B0604020202020204" pitchFamily="34" charset="0"/>
                        </a:rPr>
                        <a:t>​</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gridSpan="10">
                  <a:txBody>
                    <a:bodyPr/>
                    <a:lstStyle/>
                    <a:p>
                      <a:pPr algn="l" fontAlgn="base">
                        <a:lnSpc>
                          <a:spcPts val="1200"/>
                        </a:lnSpc>
                        <a:buNone/>
                      </a:pPr>
                      <a:r>
                        <a:rPr lang="en-US" sz="800" b="1" i="0" u="none" strike="noStrike">
                          <a:solidFill>
                            <a:srgbClr val="FFFFFF"/>
                          </a:solidFill>
                          <a:effectLst/>
                          <a:latin typeface="Arial" panose="020B0604020202020204" pitchFamily="34" charset="0"/>
                        </a:rPr>
                        <a:t>Monthly customer transaction</a:t>
                      </a:r>
                      <a:endParaRPr lang="en-US" sz="11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tc hMerge="1">
                  <a:txBody>
                    <a:bodyPr/>
                    <a:lstStyle/>
                    <a:p>
                      <a:pPr algn="l" fontAlgn="base">
                        <a:lnSpc>
                          <a:spcPts val="1200"/>
                        </a:lnSpc>
                        <a:buNone/>
                      </a:pPr>
                      <a:endParaRPr lang="en-US" sz="900" b="1" i="0">
                        <a:solidFill>
                          <a:srgbClr val="FFFFFF"/>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2060"/>
                    </a:solidFill>
                  </a:tcPr>
                </a:tc>
                <a:extLst>
                  <a:ext uri="{0D108BD9-81ED-4DB2-BD59-A6C34878D82A}">
                    <a16:rowId xmlns:a16="http://schemas.microsoft.com/office/drawing/2014/main" val="1737590273"/>
                  </a:ext>
                </a:extLst>
              </a:tr>
              <a:tr h="164614">
                <a:tc vMerge="1">
                  <a:txBody>
                    <a:bodyPr/>
                    <a:lstStyle/>
                    <a:p>
                      <a:endParaRPr lang="zh-CN" altLang="en-US"/>
                    </a:p>
                  </a:txBody>
                  <a:tcPr/>
                </a:tc>
                <a:tc gridSpan="10">
                  <a:txBody>
                    <a:bodyPr/>
                    <a:lstStyle/>
                    <a:p>
                      <a:pPr algn="ctr" fontAlgn="base">
                        <a:lnSpc>
                          <a:spcPts val="1200"/>
                        </a:lnSpc>
                        <a:buNone/>
                      </a:pPr>
                      <a:r>
                        <a:rPr lang="en-US" sz="900" b="1" i="0" u="none" strike="noStrike">
                          <a:solidFill>
                            <a:srgbClr val="000000"/>
                          </a:solidFill>
                          <a:effectLst/>
                          <a:latin typeface="Arial" panose="020B0604020202020204" pitchFamily="34" charset="0"/>
                        </a:rPr>
                        <a:t>Upon Monthly Billing</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hMerge="1">
                  <a:txBody>
                    <a:bodyPr/>
                    <a:lstStyle/>
                    <a:p>
                      <a:pPr algn="ctr" fontAlgn="base">
                        <a:lnSpc>
                          <a:spcPts val="1200"/>
                        </a:lnSpc>
                        <a:buNone/>
                      </a:pP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890540534"/>
                  </a:ext>
                </a:extLst>
              </a:tr>
              <a:tr h="164614">
                <a:tc vMerge="1">
                  <a:txBody>
                    <a:bodyPr/>
                    <a:lstStyle/>
                    <a:p>
                      <a:endParaRPr lang="zh-CN" altLang="en-US"/>
                    </a:p>
                  </a:txBody>
                  <a:tcPr/>
                </a:tc>
                <a:tc gridSpan="3">
                  <a:txBody>
                    <a:bodyPr/>
                    <a:lstStyle/>
                    <a:p>
                      <a:pPr algn="ctr" fontAlgn="base">
                        <a:lnSpc>
                          <a:spcPts val="1200"/>
                        </a:lnSpc>
                        <a:buNone/>
                      </a:pPr>
                      <a:r>
                        <a:rPr lang="en-US" sz="900" b="1" i="0" u="none" strike="noStrike">
                          <a:solidFill>
                            <a:srgbClr val="000000"/>
                          </a:solidFill>
                          <a:effectLst/>
                          <a:latin typeface="Arial" panose="020B0604020202020204" pitchFamily="34" charset="0"/>
                        </a:rPr>
                        <a:t>COA</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LV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PV</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base">
                        <a:lnSpc>
                          <a:spcPts val="1200"/>
                        </a:lnSpc>
                        <a:buNone/>
                      </a:pPr>
                      <a:r>
                        <a:rPr lang="en-US" sz="900" b="1" i="0" u="none" strike="noStrike">
                          <a:solidFill>
                            <a:srgbClr val="000000"/>
                          </a:solidFill>
                          <a:effectLst/>
                          <a:latin typeface="Arial" panose="020B0604020202020204" pitchFamily="34" charset="0"/>
                        </a:rPr>
                        <a:t>PC</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TP</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WBS</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marL="0" algn="ctr" defTabSz="914400" rtl="0" eaLnBrk="1" fontAlgn="base" latinLnBrk="0" hangingPunct="1">
                        <a:lnSpc>
                          <a:spcPts val="1200"/>
                        </a:lnSpc>
                        <a:buNone/>
                      </a:pPr>
                      <a:r>
                        <a:rPr lang="en-US" sz="900" b="1" i="0" u="none" strike="noStrike" kern="1200">
                          <a:solidFill>
                            <a:srgbClr val="000000"/>
                          </a:solidFill>
                          <a:effectLst/>
                          <a:latin typeface="Arial" panose="020B0604020202020204" pitchFamily="34" charset="0"/>
                          <a:ea typeface="+mn-ea"/>
                          <a:cs typeface="+mn-cs"/>
                        </a:rPr>
                        <a:t>PN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090736999"/>
                  </a:ext>
                </a:extLst>
              </a:tr>
              <a:tr h="164614">
                <a:tc vMerge="1">
                  <a:txBody>
                    <a:bodyPr/>
                    <a:lstStyle/>
                    <a:p>
                      <a:endParaRPr lang="zh-CN" altLang="en-US"/>
                    </a:p>
                  </a:txBody>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Dr</a:t>
                      </a:r>
                      <a:r>
                        <a:rPr lang="en-US" sz="900" b="0" i="0">
                          <a:solidFill>
                            <a:srgbClr val="000000"/>
                          </a:solidFill>
                          <a:effectLst/>
                          <a:latin typeface="Arial" panose="020B0604020202020204" pitchFamily="34" charset="0"/>
                        </a:rPr>
                        <a:t>​</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1130103</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Acc Receivable Operating Lease </a:t>
                      </a:r>
                    </a:p>
                  </a:txBody>
                  <a:tcPr marL="0"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1000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base">
                        <a:lnSpc>
                          <a:spcPts val="1200"/>
                        </a:lnSpc>
                        <a:buNone/>
                      </a:pPr>
                      <a:r>
                        <a:rPr lang="en-US" sz="900" b="0" i="0" u="none" strike="noStrike">
                          <a:solidFill>
                            <a:srgbClr val="000000"/>
                          </a:solidFill>
                          <a:effectLst/>
                          <a:latin typeface="Arial" panose="020B0604020202020204" pitchFamily="34" charset="0"/>
                        </a:rPr>
                        <a:t>1000</a:t>
                      </a:r>
                      <a:endParaRPr lang="en-US" sz="1200" b="0" i="0">
                        <a:solidFill>
                          <a:srgbClr val="000000"/>
                        </a:solidFill>
                        <a:effectLst/>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a:solidFill>
                            <a:srgbClr val="000000"/>
                          </a:solidFill>
                          <a:effectLst/>
                          <a:latin typeface="Arial" panose="020B0604020202020204" pitchFamily="34" charset="0"/>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endPar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algn="ctr" fontAlgn="auto">
                        <a:lnSpc>
                          <a:spcPts val="1200"/>
                        </a:lnSpc>
                        <a:buNone/>
                      </a:pPr>
                      <a:r>
                        <a:rPr lang="en-US" sz="900" b="0" i="0" u="none" strike="noStrike" kern="120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4038309671"/>
                  </a:ext>
                </a:extLst>
              </a:tr>
              <a:tr h="160871">
                <a:tc vMerge="1">
                  <a:txBody>
                    <a:bodyPr/>
                    <a:lstStyle/>
                    <a:p>
                      <a:endParaRPr lang="zh-CN" altLang="en-US"/>
                    </a:p>
                  </a:txBody>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sz="900" b="0" i="0" u="none" strike="noStrike" kern="1200" noProof="0">
                          <a:solidFill>
                            <a:srgbClr val="000000"/>
                          </a:solidFill>
                          <a:effectLst/>
                          <a:latin typeface="Arial" panose="020B0604020202020204" pitchFamily="34" charset="0"/>
                          <a:ea typeface="+mn-ea"/>
                          <a:cs typeface="+mn-cs"/>
                        </a:rPr>
                        <a:t>5010510</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l"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a:solidFill>
                            <a:srgbClr val="000000"/>
                          </a:solidFill>
                          <a:effectLst/>
                          <a:latin typeface="Arial" panose="020B0604020202020204" pitchFamily="34" charset="0"/>
                          <a:ea typeface="+mn-ea"/>
                          <a:cs typeface="+mn-cs"/>
                        </a:rPr>
                        <a:t>Agent Revenue - Rental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950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2781409342"/>
                  </a:ext>
                </a:extLst>
              </a:tr>
              <a:tr h="160871">
                <a:tc vMerge="1">
                  <a:txBody>
                    <a:bodyPr/>
                    <a:lstStyle/>
                    <a:p>
                      <a:endParaRPr lang="zh-CN" altLang="en-US"/>
                    </a:p>
                  </a:txBody>
                  <a:tcPr>
                    <a:lnT w="6350" cap="flat" cmpd="sng" algn="ctr">
                      <a:solidFill>
                        <a:srgbClr val="D9D9D9"/>
                      </a:solidFill>
                      <a:prstDash val="solid"/>
                      <a:round/>
                      <a:headEnd type="none" w="med" len="med"/>
                      <a:tailEnd type="none" w="med" len="med"/>
                    </a:lnT>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Cr</a:t>
                      </a:r>
                    </a:p>
                  </a:txBody>
                  <a:tcPr marL="47993" marR="47993" marT="23996" marB="23996" anchor="ctr">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5010510</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lvl="0" algn="l"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Agent Revenue - Admin charge</a:t>
                      </a:r>
                    </a:p>
                  </a:txBody>
                  <a:tcPr marL="0" marR="0" marT="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50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SVC</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altLang="zh-CN" sz="9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30</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N</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algn="ctr" defTabSz="914400" rtl="0" eaLnBrk="1" fontAlgn="base" latinLnBrk="0" hangingPunct="1">
                        <a:lnSpc>
                          <a:spcPts val="1200"/>
                        </a:lnSpc>
                        <a:buNone/>
                      </a:pPr>
                      <a:r>
                        <a:rPr lang="en-US" sz="900" b="0" i="0" u="none" strike="noStrike" kern="120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tc>
                  <a:txBody>
                    <a:bodyPr/>
                    <a:lstStyle/>
                    <a:p>
                      <a:pPr marL="0" marR="0" lvl="0" indent="0" algn="ctr" defTabSz="914400" rtl="0" eaLnBrk="1" fontAlgn="base" latinLnBrk="0" hangingPunct="1">
                        <a:lnSpc>
                          <a:spcPts val="1200"/>
                        </a:lnSpc>
                        <a:spcBef>
                          <a:spcPts val="0"/>
                        </a:spcBef>
                        <a:spcAft>
                          <a:spcPts val="0"/>
                        </a:spcAft>
                        <a:buClrTx/>
                        <a:buSzTx/>
                        <a:buFontTx/>
                        <a:buNone/>
                        <a:tabLst/>
                        <a:defRPr/>
                      </a:pPr>
                      <a:r>
                        <a:rPr lang="en-US" altLang="zh-CN" sz="900" b="0" i="0" u="none" strike="noStrike" kern="1200" noProof="0">
                          <a:solidFill>
                            <a:srgbClr val="000000"/>
                          </a:solidFill>
                          <a:effectLst/>
                          <a:latin typeface="Arial" panose="020B0604020202020204" pitchFamily="34" charset="0"/>
                          <a:ea typeface="+mn-ea"/>
                          <a:cs typeface="+mn-cs"/>
                        </a:rPr>
                        <a:t>Y</a:t>
                      </a:r>
                    </a:p>
                  </a:txBody>
                  <a:tcPr marL="47993" marR="47993" marT="23996" marB="23996"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8E8F8"/>
                    </a:solidFill>
                  </a:tcPr>
                </a:tc>
                <a:extLst>
                  <a:ext uri="{0D108BD9-81ED-4DB2-BD59-A6C34878D82A}">
                    <a16:rowId xmlns:a16="http://schemas.microsoft.com/office/drawing/2014/main" val="68931380"/>
                  </a:ext>
                </a:extLst>
              </a:tr>
            </a:tbl>
          </a:graphicData>
        </a:graphic>
      </p:graphicFrame>
      <p:graphicFrame>
        <p:nvGraphicFramePr>
          <p:cNvPr id="6" name="表格 5">
            <a:extLst>
              <a:ext uri="{FF2B5EF4-FFF2-40B4-BE49-F238E27FC236}">
                <a16:creationId xmlns:a16="http://schemas.microsoft.com/office/drawing/2014/main" id="{7A8BF331-B3EB-6209-38EA-4A80E7A85C60}"/>
              </a:ext>
            </a:extLst>
          </p:cNvPr>
          <p:cNvGraphicFramePr>
            <a:graphicFrameLocks noGrp="1"/>
          </p:cNvGraphicFramePr>
          <p:nvPr>
            <p:extLst>
              <p:ext uri="{D42A27DB-BD31-4B8C-83A1-F6EECF244321}">
                <p14:modId xmlns:p14="http://schemas.microsoft.com/office/powerpoint/2010/main" val="3806695916"/>
              </p:ext>
            </p:extLst>
          </p:nvPr>
        </p:nvGraphicFramePr>
        <p:xfrm>
          <a:off x="274862" y="709495"/>
          <a:ext cx="11350942" cy="1216264"/>
        </p:xfrm>
        <a:graphic>
          <a:graphicData uri="http://schemas.openxmlformats.org/drawingml/2006/table">
            <a:tbl>
              <a:tblPr firstRow="1" bandRow="1">
                <a:tableStyleId>{3C2FFA5D-87B4-456A-9821-1D502468CF0F}</a:tableStyleId>
              </a:tblPr>
              <a:tblGrid>
                <a:gridCol w="1573335">
                  <a:extLst>
                    <a:ext uri="{9D8B030D-6E8A-4147-A177-3AD203B41FA5}">
                      <a16:colId xmlns:a16="http://schemas.microsoft.com/office/drawing/2014/main" val="869603910"/>
                    </a:ext>
                  </a:extLst>
                </a:gridCol>
                <a:gridCol w="1189046">
                  <a:extLst>
                    <a:ext uri="{9D8B030D-6E8A-4147-A177-3AD203B41FA5}">
                      <a16:colId xmlns:a16="http://schemas.microsoft.com/office/drawing/2014/main" val="238663902"/>
                    </a:ext>
                  </a:extLst>
                </a:gridCol>
                <a:gridCol w="1547709">
                  <a:extLst>
                    <a:ext uri="{9D8B030D-6E8A-4147-A177-3AD203B41FA5}">
                      <a16:colId xmlns:a16="http://schemas.microsoft.com/office/drawing/2014/main" val="4114365151"/>
                    </a:ext>
                  </a:extLst>
                </a:gridCol>
                <a:gridCol w="1613322">
                  <a:extLst>
                    <a:ext uri="{9D8B030D-6E8A-4147-A177-3AD203B41FA5}">
                      <a16:colId xmlns:a16="http://schemas.microsoft.com/office/drawing/2014/main" val="4075178046"/>
                    </a:ext>
                  </a:extLst>
                </a:gridCol>
                <a:gridCol w="1668104">
                  <a:extLst>
                    <a:ext uri="{9D8B030D-6E8A-4147-A177-3AD203B41FA5}">
                      <a16:colId xmlns:a16="http://schemas.microsoft.com/office/drawing/2014/main" val="973533418"/>
                    </a:ext>
                  </a:extLst>
                </a:gridCol>
                <a:gridCol w="1540332">
                  <a:extLst>
                    <a:ext uri="{9D8B030D-6E8A-4147-A177-3AD203B41FA5}">
                      <a16:colId xmlns:a16="http://schemas.microsoft.com/office/drawing/2014/main" val="2377711782"/>
                    </a:ext>
                  </a:extLst>
                </a:gridCol>
                <a:gridCol w="2219094">
                  <a:extLst>
                    <a:ext uri="{9D8B030D-6E8A-4147-A177-3AD203B41FA5}">
                      <a16:colId xmlns:a16="http://schemas.microsoft.com/office/drawing/2014/main" val="221569069"/>
                    </a:ext>
                  </a:extLst>
                </a:gridCol>
              </a:tblGrid>
              <a:tr h="461884">
                <a:tc>
                  <a:txBody>
                    <a:bodyPr/>
                    <a:lstStyle/>
                    <a:p>
                      <a:r>
                        <a:rPr lang="en-US" altLang="zh-CN" sz="1050">
                          <a:solidFill>
                            <a:sysClr val="windowText" lastClr="000000"/>
                          </a:solidFill>
                        </a:rPr>
                        <a:t>4. Charge Model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5. RTM</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6. Lease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7. Billing Type</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8. Funding Model</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9. Product </a:t>
                      </a:r>
                      <a:endParaRPr lang="zh-CN" altLang="en-US" sz="1050">
                        <a:solidFill>
                          <a:sysClr val="windowText" lastClr="000000"/>
                        </a:solidFill>
                      </a:endParaRPr>
                    </a:p>
                    <a:p>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10. Changing </a:t>
                      </a:r>
                    </a:p>
                    <a:p>
                      <a:r>
                        <a:rPr lang="en-US" altLang="zh-CN" sz="1050">
                          <a:solidFill>
                            <a:sysClr val="windowText" lastClr="000000"/>
                          </a:solidFill>
                        </a:rPr>
                        <a:t>Events</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4996725"/>
                  </a:ext>
                </a:extLst>
              </a:tr>
              <a:tr h="203229">
                <a:tc rowSpan="3">
                  <a:txBody>
                    <a:bodyPr/>
                    <a:lstStyle/>
                    <a:p>
                      <a:r>
                        <a:rPr lang="en-US" altLang="zh-CN" sz="1050">
                          <a:solidFill>
                            <a:sysClr val="windowText" lastClr="000000"/>
                          </a:solidFill>
                        </a:rPr>
                        <a:t>Fixed</a:t>
                      </a:r>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r>
                        <a:rPr lang="en-US" altLang="zh-CN" sz="1050">
                          <a:solidFill>
                            <a:sysClr val="windowText" lastClr="000000"/>
                          </a:solidFill>
                        </a:rPr>
                        <a:t>Direct</a:t>
                      </a:r>
                    </a:p>
                    <a:p>
                      <a:r>
                        <a:rPr lang="en-US" altLang="zh-CN" sz="1050">
                          <a:solidFill>
                            <a:sysClr val="windowText" lastClr="000000"/>
                          </a:solidFill>
                        </a:rPr>
                        <a:t>/Indirect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r>
                        <a:rPr lang="en-US" altLang="zh-CN" sz="1050">
                          <a:solidFill>
                            <a:sysClr val="windowText" lastClr="000000"/>
                          </a:solidFill>
                        </a:rPr>
                        <a:t>Operating Lease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r>
                        <a:rPr lang="en-US" altLang="zh-CN" sz="1050">
                          <a:solidFill>
                            <a:sysClr val="windowText" lastClr="000000"/>
                          </a:solidFill>
                        </a:rPr>
                        <a:t>Monthly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Internal Funding</a:t>
                      </a:r>
                      <a:endParaRPr lang="zh-CN" altLang="en-US" sz="1050">
                        <a:solidFill>
                          <a:sysClr val="windowText" lastClr="000000"/>
                        </a:solidFill>
                      </a:endParaRPr>
                    </a:p>
                    <a:p>
                      <a:endParaRPr lang="en-US" altLang="zh-CN"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050">
                          <a:solidFill>
                            <a:sysClr val="windowText" lastClr="000000"/>
                          </a:solidFill>
                        </a:rPr>
                        <a:t>Lenovo HW</a:t>
                      </a:r>
                    </a:p>
                    <a:p>
                      <a:endParaRPr lang="zh-CN" altLang="en-US" sz="1050">
                        <a:solidFill>
                          <a:sysClr val="windowText" lastClr="00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Normal Pass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1976742"/>
                  </a:ext>
                </a:extLst>
              </a:tr>
              <a:tr h="203229">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lang="zh-CN" altLang="en-US" sz="1100">
                        <a:solidFill>
                          <a:sysClr val="windowText" lastClr="000000"/>
                        </a:solidFill>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Swap Stock</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62848896"/>
                  </a:ext>
                </a:extLst>
              </a:tr>
              <a:tr h="203229">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a:p>
                  </a:txBody>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lang="zh-CN" altLang="en-US" sz="110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050">
                          <a:solidFill>
                            <a:sysClr val="windowText" lastClr="000000"/>
                          </a:solidFill>
                        </a:rPr>
                        <a:t>Damage Fund</a:t>
                      </a:r>
                      <a:endParaRPr lang="zh-CN" altLang="en-US" sz="1050">
                        <a:solidFill>
                          <a:sysClr val="windowText" lastClr="00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11415915"/>
                  </a:ext>
                </a:extLst>
              </a:tr>
            </a:tbl>
          </a:graphicData>
        </a:graphic>
      </p:graphicFrame>
      <p:sp>
        <p:nvSpPr>
          <p:cNvPr id="14" name="TextBox 13">
            <a:extLst>
              <a:ext uri="{FF2B5EF4-FFF2-40B4-BE49-F238E27FC236}">
                <a16:creationId xmlns:a16="http://schemas.microsoft.com/office/drawing/2014/main" id="{D469E893-E1F6-0CB5-01EA-E85D786B3B27}"/>
              </a:ext>
            </a:extLst>
          </p:cNvPr>
          <p:cNvSpPr txBox="1"/>
          <p:nvPr/>
        </p:nvSpPr>
        <p:spPr>
          <a:xfrm>
            <a:off x="274862" y="149630"/>
            <a:ext cx="4218480" cy="369332"/>
          </a:xfrm>
          <a:prstGeom prst="rect">
            <a:avLst/>
          </a:prstGeom>
          <a:noFill/>
        </p:spPr>
        <p:txBody>
          <a:bodyPr wrap="square">
            <a:spAutoFit/>
          </a:bodyPr>
          <a:lstStyle/>
          <a:p>
            <a:r>
              <a:rPr lang="nl-NL" altLang="zh-CN" sz="1800" b="1"/>
              <a:t>DaaS_Central_MSA&amp;MLA</a:t>
            </a:r>
            <a:endParaRPr lang="zh-CN" altLang="en-US" sz="1800" b="1"/>
          </a:p>
        </p:txBody>
      </p:sp>
      <p:sp>
        <p:nvSpPr>
          <p:cNvPr id="2" name="Slide Number Placeholder 4">
            <a:extLst>
              <a:ext uri="{FF2B5EF4-FFF2-40B4-BE49-F238E27FC236}">
                <a16:creationId xmlns:a16="http://schemas.microsoft.com/office/drawing/2014/main" id="{710AE1B1-D5C1-DF6E-EC20-7CE62175378A}"/>
              </a:ext>
            </a:extLst>
          </p:cNvPr>
          <p:cNvSpPr txBox="1">
            <a:spLocks/>
          </p:cNvSpPr>
          <p:nvPr/>
        </p:nvSpPr>
        <p:spPr>
          <a:xfrm>
            <a:off x="11752263" y="6400801"/>
            <a:ext cx="438150" cy="15557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8987"/>
            <a:fld id="{6D22F896-40B5-4ADD-8801-0D06FADFA095}" type="slidenum">
              <a:rPr lang="en-US" smtClean="0">
                <a:solidFill>
                  <a:srgbClr val="000000"/>
                </a:solidFill>
              </a:rPr>
              <a:pPr defTabSz="1218987"/>
              <a:t>188</a:t>
            </a:fld>
            <a:endParaRPr lang="en-US">
              <a:solidFill>
                <a:srgbClr val="000000"/>
              </a:solidFill>
            </a:endParaRPr>
          </a:p>
        </p:txBody>
      </p:sp>
    </p:spTree>
    <p:extLst>
      <p:ext uri="{BB962C8B-B14F-4D97-AF65-F5344CB8AC3E}">
        <p14:creationId xmlns:p14="http://schemas.microsoft.com/office/powerpoint/2010/main" val="840695999"/>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1C8ED503-E22A-AC92-C01F-5032BB054AE2}"/>
              </a:ext>
            </a:extLst>
          </p:cNvPr>
          <p:cNvGraphicFramePr>
            <a:graphicFrameLocks noChangeAspect="1"/>
          </p:cNvGraphicFramePr>
          <p:nvPr>
            <p:custDataLst>
              <p:tags r:id="rId1"/>
            </p:custDataLst>
          </p:nvPr>
        </p:nvGraphicFramePr>
        <p:xfrm>
          <a:off x="3176" y="1588"/>
          <a:ext cx="1588" cy="1588"/>
        </p:xfrm>
        <a:graphic>
          <a:graphicData uri="http://schemas.openxmlformats.org/presentationml/2006/ole">
            <mc:AlternateContent xmlns:mc="http://schemas.openxmlformats.org/markup-compatibility/2006">
              <mc:Choice xmlns:v="urn:schemas-microsoft-com:vml" Requires="v">
                <p:oleObj name="think-cell Slide" r:id="rId3" imgW="454" imgH="454" progId="TCLayout.ActiveDocument.1">
                  <p:embed/>
                </p:oleObj>
              </mc:Choice>
              <mc:Fallback>
                <p:oleObj name="think-cell Slide" r:id="rId3" imgW="454" imgH="454" progId="TCLayout.ActiveDocument.1">
                  <p:embed/>
                  <p:pic>
                    <p:nvPicPr>
                      <p:cNvPr id="4" name="think-cell data - do not delete" hidden="1">
                        <a:extLst>
                          <a:ext uri="{FF2B5EF4-FFF2-40B4-BE49-F238E27FC236}">
                            <a16:creationId xmlns:a16="http://schemas.microsoft.com/office/drawing/2014/main" id="{1C8ED503-E22A-AC92-C01F-5032BB054AE2}"/>
                          </a:ext>
                        </a:extLst>
                      </p:cNvPr>
                      <p:cNvPicPr/>
                      <p:nvPr/>
                    </p:nvPicPr>
                    <p:blipFill>
                      <a:blip r:embed="rId4"/>
                      <a:stretch>
                        <a:fillRect/>
                      </a:stretch>
                    </p:blipFill>
                    <p:spPr>
                      <a:xfrm>
                        <a:off x="3176"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C915CE02-1962-4FDC-92A7-17E4D18DCF3F}"/>
              </a:ext>
            </a:extLst>
          </p:cNvPr>
          <p:cNvSpPr>
            <a:spLocks noGrp="1"/>
          </p:cNvSpPr>
          <p:nvPr>
            <p:ph type="title"/>
          </p:nvPr>
        </p:nvSpPr>
        <p:spPr/>
        <p:txBody>
          <a:bodyPr vert="horz"/>
          <a:lstStyle/>
          <a:p>
            <a:r>
              <a:rPr lang="en-US"/>
              <a:t>Appendix</a:t>
            </a:r>
          </a:p>
        </p:txBody>
      </p:sp>
      <p:sp>
        <p:nvSpPr>
          <p:cNvPr id="3" name="Text Placeholder 2">
            <a:extLst>
              <a:ext uri="{FF2B5EF4-FFF2-40B4-BE49-F238E27FC236}">
                <a16:creationId xmlns:a16="http://schemas.microsoft.com/office/drawing/2014/main" id="{637F3746-67D2-80A8-6EF8-21D04E125661}"/>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988745409"/>
      </p:ext>
    </p:extLst>
  </p:cSld>
  <p:clrMapOvr>
    <a:masterClrMapping/>
  </p:clrMapOvr>
  <p:transition spd="med"/>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73DF15-B19B-6B2B-0AB6-6352F9FDBC2E}"/>
            </a:ext>
          </a:extLst>
        </p:cNvPr>
        <p:cNvGrpSpPr/>
        <p:nvPr/>
      </p:nvGrpSpPr>
      <p:grpSpPr>
        <a:xfrm>
          <a:off x="0" y="0"/>
          <a:ext cx="0" cy="0"/>
          <a:chOff x="0" y="0"/>
          <a:chExt cx="0" cy="0"/>
        </a:xfrm>
      </p:grpSpPr>
      <p:graphicFrame>
        <p:nvGraphicFramePr>
          <p:cNvPr id="5" name="表格 4">
            <a:extLst>
              <a:ext uri="{FF2B5EF4-FFF2-40B4-BE49-F238E27FC236}">
                <a16:creationId xmlns:a16="http://schemas.microsoft.com/office/drawing/2014/main" id="{5A64295F-CA36-B270-DD5B-9BC9A28D5BD2}"/>
              </a:ext>
            </a:extLst>
          </p:cNvPr>
          <p:cNvGraphicFramePr>
            <a:graphicFrameLocks noGrp="1"/>
          </p:cNvGraphicFramePr>
          <p:nvPr/>
        </p:nvGraphicFramePr>
        <p:xfrm>
          <a:off x="33453" y="25994"/>
          <a:ext cx="12158547" cy="6736080"/>
        </p:xfrm>
        <a:graphic>
          <a:graphicData uri="http://schemas.openxmlformats.org/drawingml/2006/table">
            <a:tbl>
              <a:tblPr firstRow="1" bandRow="1">
                <a:tableStyleId>{5C22544A-7EE6-4342-B048-85BDC9FD1C3A}</a:tableStyleId>
              </a:tblPr>
              <a:tblGrid>
                <a:gridCol w="655259">
                  <a:extLst>
                    <a:ext uri="{9D8B030D-6E8A-4147-A177-3AD203B41FA5}">
                      <a16:colId xmlns:a16="http://schemas.microsoft.com/office/drawing/2014/main" val="2532326524"/>
                    </a:ext>
                  </a:extLst>
                </a:gridCol>
                <a:gridCol w="571376">
                  <a:extLst>
                    <a:ext uri="{9D8B030D-6E8A-4147-A177-3AD203B41FA5}">
                      <a16:colId xmlns:a16="http://schemas.microsoft.com/office/drawing/2014/main" val="437515465"/>
                    </a:ext>
                  </a:extLst>
                </a:gridCol>
                <a:gridCol w="4627756">
                  <a:extLst>
                    <a:ext uri="{9D8B030D-6E8A-4147-A177-3AD203B41FA5}">
                      <a16:colId xmlns:a16="http://schemas.microsoft.com/office/drawing/2014/main" val="2294950941"/>
                    </a:ext>
                  </a:extLst>
                </a:gridCol>
                <a:gridCol w="6304156">
                  <a:extLst>
                    <a:ext uri="{9D8B030D-6E8A-4147-A177-3AD203B41FA5}">
                      <a16:colId xmlns:a16="http://schemas.microsoft.com/office/drawing/2014/main" val="2903567884"/>
                    </a:ext>
                  </a:extLst>
                </a:gridCol>
              </a:tblGrid>
              <a:tr h="132404">
                <a:tc>
                  <a:txBody>
                    <a:bodyPr/>
                    <a:lstStyle/>
                    <a:p>
                      <a:pPr marL="0" algn="ctr" defTabSz="914400" rtl="0" eaLnBrk="1" latinLnBrk="0" hangingPunct="1"/>
                      <a:endParaRPr lang="en-US" altLang="zh-CN" sz="1600" b="0" i="0" kern="0" baseline="0">
                        <a:solidFill>
                          <a:schemeClr val="dk1"/>
                        </a:solidFill>
                        <a:latin typeface="Tenorite" pitchFamily="2" charset="0"/>
                        <a:ea typeface="+mj-ea"/>
                        <a:cs typeface="Arial Unicode MS" pitchFamily="34" charset="-128"/>
                      </a:endParaRPr>
                    </a:p>
                  </a:txBody>
                  <a:tcPr marL="9000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1200" b="0" i="0" kern="0" baseline="0">
                        <a:solidFill>
                          <a:schemeClr val="tx1"/>
                        </a:solidFill>
                        <a:latin typeface="Tenorite" pitchFamily="2" charset="0"/>
                        <a:ea typeface="+mj-ea"/>
                        <a:cs typeface="Arial Unicode MS" pitchFamily="34" charset="-128"/>
                      </a:endParaRPr>
                    </a:p>
                  </a:txBody>
                  <a:tcPr marL="9000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1218987" rtl="0" eaLnBrk="1" fontAlgn="base" latinLnBrk="0" hangingPunct="1">
                        <a:lnSpc>
                          <a:spcPct val="100000"/>
                        </a:lnSpc>
                        <a:spcBef>
                          <a:spcPts val="0"/>
                        </a:spcBef>
                        <a:spcAft>
                          <a:spcPts val="0"/>
                        </a:spcAft>
                        <a:buClr>
                          <a:schemeClr val="tx1"/>
                        </a:buClr>
                        <a:buSzPct val="80000"/>
                        <a:buFontTx/>
                        <a:buNone/>
                        <a:tabLst/>
                        <a:defRPr/>
                      </a:pPr>
                      <a:r>
                        <a:rPr lang="en-US" altLang="zh-CN" sz="1400" b="1" i="0" kern="0" noProof="0">
                          <a:solidFill>
                            <a:schemeClr val="tx1"/>
                          </a:solidFill>
                          <a:latin typeface="Tenorite" pitchFamily="2" charset="0"/>
                          <a:ea typeface="Arial Unicode MS" pitchFamily="34" charset="-128"/>
                          <a:cs typeface="Arial Unicode MS" pitchFamily="34" charset="-128"/>
                        </a:rPr>
                        <a:t>Direct Posting to FI-AR</a:t>
                      </a:r>
                      <a:r>
                        <a:rPr lang="en-US" altLang="zh-CN" sz="1400" b="1" i="0" kern="0" noProof="0">
                          <a:solidFill>
                            <a:schemeClr val="tx1"/>
                          </a:solidFill>
                          <a:latin typeface="+mn-ea"/>
                          <a:ea typeface="+mn-ea"/>
                          <a:cs typeface="Arial Unicode MS" pitchFamily="34" charset="-128"/>
                        </a:rPr>
                        <a:t>(</a:t>
                      </a:r>
                      <a:r>
                        <a:rPr lang="zh-CN" altLang="en-US" sz="1400" b="1" i="0" kern="0" noProof="0">
                          <a:solidFill>
                            <a:schemeClr val="tx1"/>
                          </a:solidFill>
                          <a:latin typeface="+mn-ea"/>
                          <a:ea typeface="+mn-ea"/>
                          <a:cs typeface="Arial Unicode MS" pitchFamily="34" charset="-128"/>
                        </a:rPr>
                        <a:t>直接抛账</a:t>
                      </a:r>
                      <a:r>
                        <a:rPr lang="en-US" altLang="zh-CN" sz="1400" b="1" i="0" kern="0" noProof="0">
                          <a:solidFill>
                            <a:schemeClr val="tx1"/>
                          </a:solidFill>
                          <a:latin typeface="+mn-ea"/>
                          <a:ea typeface="+mn-ea"/>
                          <a:cs typeface="Arial Unicode MS" pitchFamily="34" charset="-128"/>
                        </a:rPr>
                        <a:t>)</a:t>
                      </a:r>
                      <a:r>
                        <a:rPr lang="en-US" altLang="zh-CN" sz="1200" b="0" i="0" kern="0" noProof="0">
                          <a:solidFill>
                            <a:schemeClr val="tx1"/>
                          </a:solidFill>
                          <a:latin typeface="+mn-ea"/>
                          <a:ea typeface="+mn-ea"/>
                          <a:cs typeface="Arial Unicode MS" pitchFamily="34" charset="-128"/>
                        </a:rPr>
                        <a:t>(</a:t>
                      </a:r>
                      <a:r>
                        <a:rPr lang="en-US" altLang="zh-CN" sz="1200" b="0" i="0" kern="0" noProof="0">
                          <a:solidFill>
                            <a:schemeClr val="tx1"/>
                          </a:solidFill>
                          <a:latin typeface="Tenorite" pitchFamily="2" charset="0"/>
                          <a:ea typeface="Arial Unicode MS" pitchFamily="34" charset="-128"/>
                          <a:cs typeface="Arial Unicode MS" pitchFamily="34" charset="-128"/>
                        </a:rPr>
                        <a:t>NexBill-&gt;ECC/S4 FI-AR)</a:t>
                      </a:r>
                      <a:endParaRPr lang="en-US" altLang="zh-CN" sz="1300" b="0" i="0">
                        <a:solidFill>
                          <a:schemeClr val="tx1"/>
                        </a:solidFill>
                        <a:effectLst/>
                        <a:latin typeface="Tenorite" pitchFamily="2" charset="0"/>
                        <a:cs typeface="Aria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1218987" rtl="0" eaLnBrk="1" fontAlgn="base" latinLnBrk="0" hangingPunct="1">
                        <a:lnSpc>
                          <a:spcPct val="100000"/>
                        </a:lnSpc>
                        <a:spcBef>
                          <a:spcPts val="0"/>
                        </a:spcBef>
                        <a:spcAft>
                          <a:spcPts val="0"/>
                        </a:spcAft>
                        <a:buClr>
                          <a:schemeClr val="tx1"/>
                        </a:buClr>
                        <a:buSzPct val="80000"/>
                        <a:buFontTx/>
                        <a:buNone/>
                        <a:tabLst/>
                        <a:defRPr/>
                      </a:pPr>
                      <a:r>
                        <a:rPr lang="en-US" altLang="zh-CN" sz="1400" b="1" i="0" kern="0" noProof="0">
                          <a:solidFill>
                            <a:schemeClr val="tx1"/>
                          </a:solidFill>
                          <a:latin typeface="Tenorite" pitchFamily="2" charset="0"/>
                          <a:ea typeface="Arial Unicode MS" pitchFamily="34" charset="-128"/>
                          <a:cs typeface="Arial Unicode MS" pitchFamily="34" charset="-128"/>
                        </a:rPr>
                        <a:t>Via SO Solution</a:t>
                      </a:r>
                      <a:r>
                        <a:rPr lang="en-US" altLang="zh-CN" sz="1400" b="1" i="0" kern="0" noProof="0">
                          <a:solidFill>
                            <a:schemeClr val="tx1"/>
                          </a:solidFill>
                          <a:latin typeface="+mn-ea"/>
                          <a:ea typeface="+mn-ea"/>
                          <a:cs typeface="Arial Unicode MS" pitchFamily="34" charset="-128"/>
                        </a:rPr>
                        <a:t>(</a:t>
                      </a:r>
                      <a:r>
                        <a:rPr lang="zh-CN" altLang="en-US" sz="1400" b="1" i="0" kern="0" noProof="0">
                          <a:solidFill>
                            <a:schemeClr val="tx1"/>
                          </a:solidFill>
                          <a:latin typeface="+mn-ea"/>
                          <a:ea typeface="+mn-ea"/>
                          <a:cs typeface="Arial Unicode MS" pitchFamily="34" charset="-128"/>
                        </a:rPr>
                        <a:t>大票小票</a:t>
                      </a:r>
                      <a:r>
                        <a:rPr lang="en-US" altLang="zh-CN" sz="1400" b="1" i="0" kern="0" noProof="0">
                          <a:solidFill>
                            <a:schemeClr val="tx1"/>
                          </a:solidFill>
                          <a:latin typeface="+mn-ea"/>
                          <a:ea typeface="+mn-ea"/>
                          <a:cs typeface="Arial Unicode MS" pitchFamily="34" charset="-128"/>
                        </a:rPr>
                        <a:t>) </a:t>
                      </a:r>
                      <a:r>
                        <a:rPr lang="en-US" altLang="zh-CN" sz="1200" b="0" i="0" kern="0" noProof="0">
                          <a:solidFill>
                            <a:schemeClr val="tx1"/>
                          </a:solidFill>
                          <a:latin typeface="Tenorite" pitchFamily="2" charset="0"/>
                          <a:ea typeface="Arial Unicode MS" pitchFamily="34" charset="-128"/>
                          <a:cs typeface="Arial Unicode MS" pitchFamily="34" charset="-128"/>
                        </a:rPr>
                        <a:t>(NexBill-&gt;ECC/S4 SD-&gt;FI-AR)</a:t>
                      </a:r>
                      <a:endParaRPr lang="en-US" altLang="zh-CN" sz="1400" b="0" i="0">
                        <a:solidFill>
                          <a:schemeClr val="tx1"/>
                        </a:solidFill>
                        <a:effectLst/>
                        <a:latin typeface="Tenorite" pitchFamily="2" charset="0"/>
                        <a:cs typeface="Aria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02092667"/>
                  </a:ext>
                </a:extLst>
              </a:tr>
              <a:tr h="2088551">
                <a:tc rowSpan="2">
                  <a:txBody>
                    <a:bodyPr/>
                    <a:lstStyle/>
                    <a:p>
                      <a:pPr marL="0" algn="ctr" defTabSz="914400" rtl="0" eaLnBrk="1" latinLnBrk="0" hangingPunct="1"/>
                      <a:r>
                        <a:rPr lang="en-US" altLang="zh-CN" sz="1600" b="0" i="0" kern="0" baseline="0">
                          <a:solidFill>
                            <a:schemeClr val="dk1"/>
                          </a:solidFill>
                          <a:latin typeface="Tenorite" pitchFamily="2" charset="0"/>
                          <a:ea typeface="+mj-ea"/>
                          <a:cs typeface="Arial Unicode MS" pitchFamily="34" charset="-128"/>
                        </a:rPr>
                        <a:t>Biz View</a:t>
                      </a:r>
                    </a:p>
                  </a:txBody>
                  <a:tcPr marL="9000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altLang="zh-CN" sz="1200" b="0" i="0" kern="0" baseline="0">
                          <a:solidFill>
                            <a:schemeClr val="tx1"/>
                          </a:solidFill>
                          <a:latin typeface="Tenorite" pitchFamily="2" charset="0"/>
                          <a:ea typeface="+mj-ea"/>
                          <a:cs typeface="Arial Unicode MS" pitchFamily="34" charset="-128"/>
                        </a:rPr>
                        <a:t>Pros</a:t>
                      </a:r>
                    </a:p>
                    <a:p>
                      <a:r>
                        <a:rPr lang="zh-CN" altLang="en-US" sz="1200" b="0" i="0" kern="0" baseline="0">
                          <a:solidFill>
                            <a:schemeClr val="tx1"/>
                          </a:solidFill>
                          <a:latin typeface="Tenorite" pitchFamily="2" charset="0"/>
                          <a:ea typeface="+mj-ea"/>
                          <a:cs typeface="Arial Unicode MS" pitchFamily="34" charset="-128"/>
                        </a:rPr>
                        <a:t>优点</a:t>
                      </a:r>
                    </a:p>
                  </a:txBody>
                  <a:tcPr marL="9000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FFC399"/>
                          </a:highlight>
                          <a:latin typeface="Tenorite" pitchFamily="2" charset="0"/>
                          <a:ea typeface="Arial Unicode MS" pitchFamily="34" charset="-128"/>
                          <a:cs typeface="Arial Unicode MS" pitchFamily="34" charset="-128"/>
                        </a:rPr>
                        <a:t>Support future biz requirements more flexibly without direct dependence on S4 SD function extension.</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9E7E9"/>
                          </a:highlight>
                          <a:latin typeface="Tenorite" pitchFamily="2" charset="0"/>
                          <a:ea typeface="Arial Unicode MS" pitchFamily="34" charset="-128"/>
                          <a:cs typeface="Arial Unicode MS" pitchFamily="34" charset="-128"/>
                        </a:rPr>
                        <a:t>Dedicated EAAS IT support for error &amp; issue handling for accounting. Response can be quicker and more efficient</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9E7E9"/>
                          </a:highlight>
                          <a:latin typeface="Tenorite" pitchFamily="2" charset="0"/>
                          <a:ea typeface="Arial Unicode MS" pitchFamily="34" charset="-128"/>
                          <a:cs typeface="Arial Unicode MS" pitchFamily="34" charset="-128"/>
                        </a:rPr>
                        <a:t>A full set of E2E EAAS data view from contract to billing and accounting. all data in one single platform can be used to track / troubleshooting posting error more efficiently</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9E7E9"/>
                          </a:highlight>
                          <a:latin typeface="Tenorite" pitchFamily="2" charset="0"/>
                          <a:ea typeface="Arial Unicode MS" pitchFamily="34" charset="-128"/>
                          <a:cs typeface="Arial Unicode MS" pitchFamily="34" charset="-128"/>
                        </a:rPr>
                        <a:t>Posting delay or error can be monitored by finance user without interim DMR doc in between.</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No need to reconcile between Big SO (</a:t>
                      </a:r>
                      <a:r>
                        <a:rPr lang="zh-CN" altLang="en-US" sz="1100" b="0" i="0" kern="0">
                          <a:solidFill>
                            <a:schemeClr val="tx1"/>
                          </a:solidFill>
                          <a:highlight>
                            <a:srgbClr val="00FF00"/>
                          </a:highlight>
                          <a:latin typeface="Tenorite" pitchFamily="2" charset="0"/>
                          <a:ea typeface="Arial Unicode MS" pitchFamily="34" charset="-128"/>
                          <a:cs typeface="Arial Unicode MS" pitchFamily="34" charset="-128"/>
                        </a:rPr>
                        <a:t>大票</a:t>
                      </a: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DMR for AR posting) &amp; Small SO (</a:t>
                      </a:r>
                      <a:r>
                        <a:rPr lang="zh-CN" altLang="en-US" sz="1100" b="0" i="0" kern="0">
                          <a:solidFill>
                            <a:schemeClr val="tx1"/>
                          </a:solidFill>
                          <a:highlight>
                            <a:srgbClr val="00FF00"/>
                          </a:highlight>
                          <a:latin typeface="Tenorite" pitchFamily="2" charset="0"/>
                          <a:ea typeface="Arial Unicode MS" pitchFamily="34" charset="-128"/>
                          <a:cs typeface="Arial Unicode MS" pitchFamily="34" charset="-128"/>
                        </a:rPr>
                        <a:t>小票</a:t>
                      </a: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DMR for revenue &amp; tax postings) postings.</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No need to clear/ net off interim posting account (</a:t>
                      </a:r>
                      <a:r>
                        <a:rPr lang="zh-CN" altLang="en-US" sz="1100" b="0" i="0" kern="0">
                          <a:solidFill>
                            <a:schemeClr val="tx1"/>
                          </a:solidFill>
                          <a:highlight>
                            <a:srgbClr val="00FF00"/>
                          </a:highlight>
                          <a:latin typeface="Tenorite" pitchFamily="2" charset="0"/>
                          <a:ea typeface="Arial Unicode MS" pitchFamily="34" charset="-128"/>
                          <a:cs typeface="Arial Unicode MS" pitchFamily="34" charset="-128"/>
                        </a:rPr>
                        <a:t>中转过渡科目</a:t>
                      </a: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endParaRPr lang="zh-CN" altLang="en-US" sz="1100" b="0" i="0" kern="0">
                        <a:solidFill>
                          <a:schemeClr val="tx1"/>
                        </a:solidFill>
                        <a:latin typeface="Tenorite" pitchFamily="2" charset="0"/>
                        <a:ea typeface="Arial Unicode MS" pitchFamily="34" charset="-128"/>
                        <a:cs typeface="Arial Unicode MS" pitchFamily="34"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2949660"/>
                  </a:ext>
                </a:extLst>
              </a:tr>
              <a:tr h="1393928">
                <a:tc vMerge="1">
                  <a:txBody>
                    <a:bodyPr/>
                    <a:lstStyle/>
                    <a:p>
                      <a:endParaRPr lang="zh-CN" altLang="en-US"/>
                    </a:p>
                  </a:txBody>
                  <a:tcPr/>
                </a:tc>
                <a:tc>
                  <a:txBody>
                    <a:bodyPr/>
                    <a:lstStyle/>
                    <a:p>
                      <a:pPr marL="0" algn="l" defTabSz="1218987" rtl="0" eaLnBrk="1" latinLnBrk="0" hangingPunct="1"/>
                      <a:r>
                        <a:rPr lang="en-US" altLang="zh-CN" sz="1200" b="0" i="0" kern="0" baseline="0">
                          <a:solidFill>
                            <a:schemeClr val="tx1"/>
                          </a:solidFill>
                          <a:latin typeface="Tenorite" pitchFamily="2" charset="0"/>
                          <a:ea typeface="+mj-ea"/>
                          <a:cs typeface="Arial Unicode MS" pitchFamily="34" charset="-128"/>
                        </a:rPr>
                        <a:t>Cons</a:t>
                      </a:r>
                    </a:p>
                    <a:p>
                      <a:pPr marL="0" algn="l" defTabSz="1218987" rtl="0" eaLnBrk="1" latinLnBrk="0" hangingPunct="1"/>
                      <a:r>
                        <a:rPr lang="zh-CN" altLang="en-US" sz="1200" b="0" i="0" kern="0" baseline="0">
                          <a:solidFill>
                            <a:schemeClr val="tx1"/>
                          </a:solidFill>
                          <a:latin typeface="Tenorite" pitchFamily="2" charset="0"/>
                          <a:ea typeface="+mj-ea"/>
                          <a:cs typeface="Arial Unicode MS" pitchFamily="34" charset="-128"/>
                        </a:rPr>
                        <a:t>缺点</a:t>
                      </a:r>
                    </a:p>
                  </a:txBody>
                  <a:tcPr marL="9000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latin typeface="Tenorite" pitchFamily="2" charset="0"/>
                          <a:ea typeface="Arial Unicode MS" pitchFamily="34" charset="-128"/>
                          <a:cs typeface="Arial Unicode MS" pitchFamily="34" charset="-128"/>
                        </a:rPr>
                        <a:t>Need to build visible UI for error &amp; issue alert in NexBill</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endParaRPr lang="en-US" altLang="zh-CN" sz="1100" b="0" i="0" kern="0">
                        <a:solidFill>
                          <a:schemeClr val="tx1"/>
                        </a:solidFill>
                        <a:latin typeface="Tenorite" pitchFamily="2" charset="0"/>
                        <a:ea typeface="Arial Unicode MS" pitchFamily="34" charset="-128"/>
                        <a:cs typeface="Arial Unicode MS" pitchFamily="34"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FFC399"/>
                          </a:highlight>
                          <a:latin typeface="Tenorite" pitchFamily="2" charset="0"/>
                          <a:ea typeface="Arial Unicode MS" pitchFamily="34" charset="-128"/>
                          <a:cs typeface="Arial Unicode MS" pitchFamily="34" charset="-128"/>
                        </a:rPr>
                        <a:t>Take longer time to implement new biz case due to dependency on SD function extension.</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9E7E9"/>
                          </a:highlight>
                          <a:latin typeface="Tenorite" pitchFamily="2" charset="0"/>
                          <a:ea typeface="Arial Unicode MS" pitchFamily="34" charset="-128"/>
                          <a:cs typeface="Arial Unicode MS" pitchFamily="34" charset="-128"/>
                        </a:rPr>
                        <a:t>Issue &amp; error handling response can be slow due to centralized IT support pool.</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9E7E9"/>
                          </a:highlight>
                          <a:latin typeface="Tenorite" pitchFamily="2" charset="0"/>
                          <a:ea typeface="Arial Unicode MS" pitchFamily="34" charset="-128"/>
                          <a:cs typeface="Arial Unicode MS" pitchFamily="34" charset="-128"/>
                        </a:rPr>
                        <a:t>No visibility to biz user. Finance user is not aware of on DMR generation issue, as it’s pure interim technical document. Posting delay due to less attention.</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Difficult to find posting reconciliation between Big SO </a:t>
                      </a:r>
                      <a:r>
                        <a:rPr lang="zh-CN" altLang="en-US" sz="1100" b="0" i="0" kern="0">
                          <a:solidFill>
                            <a:schemeClr val="tx1"/>
                          </a:solidFill>
                          <a:highlight>
                            <a:srgbClr val="00FF00"/>
                          </a:highlight>
                          <a:latin typeface="Tenorite" pitchFamily="2" charset="0"/>
                          <a:ea typeface="Arial Unicode MS" pitchFamily="34" charset="-128"/>
                          <a:cs typeface="Arial Unicode MS" pitchFamily="34" charset="-128"/>
                        </a:rPr>
                        <a:t>大票</a:t>
                      </a: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 and Small SO </a:t>
                      </a:r>
                      <a:r>
                        <a:rPr lang="zh-CN" altLang="en-US" sz="1100" b="0" i="0" kern="0">
                          <a:solidFill>
                            <a:schemeClr val="tx1"/>
                          </a:solidFill>
                          <a:highlight>
                            <a:srgbClr val="00FF00"/>
                          </a:highlight>
                          <a:latin typeface="Tenorite" pitchFamily="2" charset="0"/>
                          <a:ea typeface="Arial Unicode MS" pitchFamily="34" charset="-128"/>
                          <a:cs typeface="Arial Unicode MS" pitchFamily="34" charset="-128"/>
                        </a:rPr>
                        <a:t>小票</a:t>
                      </a: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for one single big customer invoice. Hard to track missing small SO</a:t>
                      </a:r>
                      <a:r>
                        <a:rPr lang="zh-CN" altLang="en-US" sz="1100" b="0" i="0" kern="0">
                          <a:solidFill>
                            <a:schemeClr val="tx1"/>
                          </a:solidFill>
                          <a:highlight>
                            <a:srgbClr val="00FF00"/>
                          </a:highlight>
                          <a:latin typeface="Tenorite" pitchFamily="2" charset="0"/>
                          <a:ea typeface="Arial Unicode MS" pitchFamily="34" charset="-128"/>
                          <a:cs typeface="Arial Unicode MS" pitchFamily="34" charset="-128"/>
                        </a:rPr>
                        <a:t>小票</a:t>
                      </a:r>
                      <a:endPar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endParaRP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Hard to reconcile/ clear interim posting account (</a:t>
                      </a:r>
                      <a:r>
                        <a:rPr lang="zh-CN" altLang="en-US" sz="1100" b="0" i="0" kern="0">
                          <a:solidFill>
                            <a:schemeClr val="tx1"/>
                          </a:solidFill>
                          <a:highlight>
                            <a:srgbClr val="00FF00"/>
                          </a:highlight>
                          <a:latin typeface="Tenorite" pitchFamily="2" charset="0"/>
                          <a:ea typeface="Arial Unicode MS" pitchFamily="34" charset="-128"/>
                          <a:cs typeface="Arial Unicode MS" pitchFamily="34" charset="-128"/>
                        </a:rPr>
                        <a:t>中转过渡科目</a:t>
                      </a:r>
                      <a:r>
                        <a:rPr lang="en-US" altLang="zh-CN" sz="1100" b="0" i="0" kern="0">
                          <a:solidFill>
                            <a:schemeClr val="tx1"/>
                          </a:solidFill>
                          <a:highlight>
                            <a:srgbClr val="00FF00"/>
                          </a:highlight>
                          <a:latin typeface="Tenorite" pitchFamily="2" charset="0"/>
                          <a:ea typeface="Arial Unicode MS" pitchFamily="34" charset="-128"/>
                          <a:cs typeface="Arial Unicode MS" pitchFamily="34" charset="-128"/>
                        </a:rPr>
                        <a:t>) to get zero balance at month end closing. Discrepancy can exist &amp; accumulate to big amount, finally a big dustbin.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56772680"/>
                  </a:ext>
                </a:extLst>
              </a:tr>
              <a:tr h="1256158">
                <a:tc row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600" b="0" i="0" kern="0" baseline="0">
                          <a:solidFill>
                            <a:schemeClr val="dk1"/>
                          </a:solidFill>
                          <a:latin typeface="Tenorite" pitchFamily="2" charset="0"/>
                          <a:ea typeface="+mj-ea"/>
                          <a:cs typeface="Arial Unicode MS" pitchFamily="34" charset="-128"/>
                        </a:rPr>
                        <a:t>IT View</a:t>
                      </a:r>
                      <a:endParaRPr lang="en-CN" altLang="zh-CN" sz="1600" b="0" i="0" kern="0" baseline="0">
                        <a:solidFill>
                          <a:schemeClr val="dk1"/>
                        </a:solidFill>
                        <a:latin typeface="Tenorite" pitchFamily="2" charset="0"/>
                        <a:ea typeface="+mj-ea"/>
                        <a:cs typeface="Arial Unicode MS" pitchFamily="34" charset="-128"/>
                      </a:endParaRPr>
                    </a:p>
                  </a:txBody>
                  <a:tcPr marL="9000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altLang="zh-CN" sz="1200" b="0" i="0" kern="0" baseline="0">
                          <a:solidFill>
                            <a:schemeClr val="tx1"/>
                          </a:solidFill>
                          <a:latin typeface="Tenorite" pitchFamily="2" charset="0"/>
                          <a:ea typeface="+mj-ea"/>
                          <a:cs typeface="Arial Unicode MS" pitchFamily="34" charset="-128"/>
                        </a:rPr>
                        <a:t>Pros</a:t>
                      </a:r>
                    </a:p>
                    <a:p>
                      <a:pPr marL="0" marR="0" lvl="0" indent="0" algn="l" defTabSz="1218987" rtl="0" eaLnBrk="1" fontAlgn="auto" latinLnBrk="0" hangingPunct="1">
                        <a:lnSpc>
                          <a:spcPct val="100000"/>
                        </a:lnSpc>
                        <a:spcBef>
                          <a:spcPts val="0"/>
                        </a:spcBef>
                        <a:spcAft>
                          <a:spcPts val="0"/>
                        </a:spcAft>
                        <a:buClrTx/>
                        <a:buSzTx/>
                        <a:buFontTx/>
                        <a:buNone/>
                        <a:tabLst/>
                        <a:defRPr/>
                      </a:pPr>
                      <a:r>
                        <a:rPr lang="zh-CN" altLang="en-US" sz="1200" b="0" i="0" kern="0" baseline="0">
                          <a:solidFill>
                            <a:schemeClr val="tx1"/>
                          </a:solidFill>
                          <a:latin typeface="Tenorite" pitchFamily="2" charset="0"/>
                          <a:ea typeface="+mj-ea"/>
                          <a:cs typeface="Arial Unicode MS" pitchFamily="34" charset="-128"/>
                        </a:rPr>
                        <a:t>优点</a:t>
                      </a:r>
                    </a:p>
                    <a:p>
                      <a:endParaRPr lang="zh-CN" altLang="en-US" sz="1200" baseline="0">
                        <a:latin typeface="Tenorite" pitchFamily="2" charset="0"/>
                        <a:ea typeface="+mj-ea"/>
                      </a:endParaRPr>
                    </a:p>
                  </a:txBody>
                  <a:tcPr marL="9000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FFFF00"/>
                          </a:highlight>
                          <a:latin typeface="Tenorite" pitchFamily="2" charset="0"/>
                          <a:ea typeface="Arial Unicode MS" pitchFamily="34" charset="-128"/>
                          <a:cs typeface="Arial Unicode MS" pitchFamily="34" charset="-128"/>
                        </a:rPr>
                        <a:t>Less one set of documents (SD SO/Billing doc), save IT cost for expensive S4 data storage in the long term.</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FFE1CC"/>
                          </a:highlight>
                          <a:latin typeface="Tenorite" pitchFamily="2" charset="0"/>
                          <a:ea typeface="Arial Unicode MS" pitchFamily="34" charset="-128"/>
                          <a:cs typeface="Arial Unicode MS" pitchFamily="34" charset="-128"/>
                        </a:rPr>
                        <a:t>Less chance of getting stuck in posting interface, because feeding posting data to ECC is not urgent &amp; it can wait.</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noProof="0">
                          <a:solidFill>
                            <a:schemeClr val="tx1"/>
                          </a:solidFill>
                          <a:highlight>
                            <a:srgbClr val="E1F3DA"/>
                          </a:highlight>
                          <a:latin typeface="Tenorite" pitchFamily="2" charset="0"/>
                          <a:ea typeface="Arial Unicode MS" pitchFamily="34" charset="-128"/>
                          <a:cs typeface="Arial Unicode MS" pitchFamily="34" charset="-128"/>
                        </a:rPr>
                        <a:t>BRIM E2E posting design is very mature and its flexibility is already proved to support future extended business scenarios. Experience can be learnt and implemented by IT.</a:t>
                      </a:r>
                      <a:endPar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rPr>
                        <a:t>Reuse existing DMR posting enhancement</a:t>
                      </a:r>
                      <a:r>
                        <a:rPr lang="zh-CN" altLang="en-US" sz="1100" b="0" i="0" kern="0">
                          <a:solidFill>
                            <a:schemeClr val="tx1"/>
                          </a:solidFill>
                          <a:highlight>
                            <a:srgbClr val="E1F3DA"/>
                          </a:highlight>
                          <a:latin typeface="Tenorite" pitchFamily="2" charset="0"/>
                          <a:ea typeface="Arial Unicode MS" pitchFamily="34" charset="-128"/>
                          <a:cs typeface="Arial Unicode MS" pitchFamily="34" charset="-128"/>
                        </a:rPr>
                        <a:t> </a:t>
                      </a:r>
                      <a:r>
                        <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rPr>
                        <a:t>&amp;</a:t>
                      </a:r>
                      <a:r>
                        <a:rPr lang="zh-CN" altLang="en-US" sz="1100" b="0" i="0" kern="0">
                          <a:solidFill>
                            <a:schemeClr val="tx1"/>
                          </a:solidFill>
                          <a:highlight>
                            <a:srgbClr val="E1F3DA"/>
                          </a:highlight>
                          <a:latin typeface="Tenorite" pitchFamily="2" charset="0"/>
                          <a:ea typeface="Arial Unicode MS" pitchFamily="34" charset="-128"/>
                          <a:cs typeface="Arial Unicode MS" pitchFamily="34" charset="-128"/>
                        </a:rPr>
                        <a:t> </a:t>
                      </a:r>
                      <a:r>
                        <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rPr>
                        <a:t>customizations in SD/FI-AR</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rPr>
                        <a:t>Some posting determination can be configured in SD instead of customization. Configuration effort for GL account determination will be on the SD side.</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00FFFF"/>
                          </a:highlight>
                          <a:latin typeface="Tenorite" pitchFamily="2" charset="0"/>
                          <a:ea typeface="Arial Unicode MS" pitchFamily="34" charset="-128"/>
                          <a:cs typeface="Arial Unicode MS" pitchFamily="34" charset="-128"/>
                        </a:rPr>
                        <a:t>No extra FI configuration. Will use the existing central FI config.</a:t>
                      </a:r>
                      <a:r>
                        <a:rPr lang="en-US" altLang="zh-CN" sz="1100" b="0" i="0" kern="0">
                          <a:solidFill>
                            <a:schemeClr val="tx1"/>
                          </a:solidFill>
                          <a:latin typeface="Tenorite" pitchFamily="2" charset="0"/>
                          <a:ea typeface="Arial Unicode MS" pitchFamily="34" charset="-128"/>
                          <a:cs typeface="Arial Unicode MS" pitchFamily="34" charset="-128"/>
                        </a:rPr>
                        <a:t> </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latin typeface="Tenorite" pitchFamily="2" charset="0"/>
                          <a:ea typeface="Arial Unicode MS" pitchFamily="34" charset="-128"/>
                          <a:cs typeface="Arial Unicode MS" pitchFamily="34" charset="-128"/>
                        </a:rPr>
                        <a:t>More confidence in using already proved mature design for running DaaS &amp; M0 scenario.</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latin typeface="Tenorite" pitchFamily="2" charset="0"/>
                          <a:ea typeface="Arial Unicode MS" pitchFamily="34" charset="-128"/>
                          <a:cs typeface="Arial Unicode MS" pitchFamily="34" charset="-128"/>
                        </a:rPr>
                        <a:t>Finance IT already get used to existing troubleshooting, easy to identify SD error</a:t>
                      </a:r>
                      <a:endParaRPr lang="zh-CN" altLang="en-US" sz="1100" b="0" i="0" kern="0">
                        <a:solidFill>
                          <a:schemeClr val="tx1"/>
                        </a:solidFill>
                        <a:latin typeface="Tenorite" pitchFamily="2" charset="0"/>
                        <a:ea typeface="Arial Unicode MS" pitchFamily="34" charset="-128"/>
                        <a:cs typeface="Arial Unicode MS" pitchFamily="34" charset="-128"/>
                      </a:endParaRP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endParaRPr lang="en-US" altLang="zh-CN" sz="1100" b="0" i="0" kern="0">
                        <a:solidFill>
                          <a:schemeClr val="tx1"/>
                        </a:solidFill>
                        <a:latin typeface="Tenorite" pitchFamily="2" charset="0"/>
                        <a:ea typeface="Arial Unicode MS" pitchFamily="34" charset="-128"/>
                        <a:cs typeface="Arial Unicode MS" pitchFamily="34"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3396081"/>
                  </a:ext>
                </a:extLst>
              </a:tr>
              <a:tr h="1422636">
                <a:tc vMerge="1">
                  <a:txBody>
                    <a:bodyPr/>
                    <a:lstStyle/>
                    <a:p>
                      <a:endParaRPr lang="zh-CN" altLang="en-US"/>
                    </a:p>
                  </a:txBody>
                  <a:tcPr/>
                </a:tc>
                <a:tc>
                  <a:txBody>
                    <a:bodyPr/>
                    <a:lstStyle/>
                    <a:p>
                      <a:pPr marL="0" marR="0" lvl="0" indent="0" algn="l" defTabSz="1218987" rtl="0" eaLnBrk="1" fontAlgn="auto" latinLnBrk="0" hangingPunct="1">
                        <a:lnSpc>
                          <a:spcPct val="100000"/>
                        </a:lnSpc>
                        <a:spcBef>
                          <a:spcPts val="0"/>
                        </a:spcBef>
                        <a:spcAft>
                          <a:spcPts val="0"/>
                        </a:spcAft>
                        <a:buClrTx/>
                        <a:buSzTx/>
                        <a:buFontTx/>
                        <a:buNone/>
                        <a:tabLst/>
                        <a:defRPr/>
                      </a:pPr>
                      <a:r>
                        <a:rPr lang="en-US" altLang="zh-CN" sz="1200">
                          <a:latin typeface="Tenorite" pitchFamily="2" charset="0"/>
                        </a:rPr>
                        <a:t>Cons</a:t>
                      </a:r>
                    </a:p>
                    <a:p>
                      <a:pPr marL="0" marR="0" lvl="0" indent="0" algn="l" defTabSz="1218987" rtl="0" eaLnBrk="1" fontAlgn="auto" latinLnBrk="0" hangingPunct="1">
                        <a:lnSpc>
                          <a:spcPct val="100000"/>
                        </a:lnSpc>
                        <a:spcBef>
                          <a:spcPts val="0"/>
                        </a:spcBef>
                        <a:spcAft>
                          <a:spcPts val="0"/>
                        </a:spcAft>
                        <a:buClrTx/>
                        <a:buSzTx/>
                        <a:buFontTx/>
                        <a:buNone/>
                        <a:tabLst/>
                        <a:defRPr/>
                      </a:pPr>
                      <a:r>
                        <a:rPr lang="zh-CN" altLang="en-US" sz="1200">
                          <a:latin typeface="Tenorite" pitchFamily="2" charset="0"/>
                        </a:rPr>
                        <a:t>缺点</a:t>
                      </a:r>
                    </a:p>
                  </a:txBody>
                  <a:tcPr marL="9000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rPr>
                        <a:t>IT development to determine/derive all posting parameters (GL</a:t>
                      </a:r>
                      <a:r>
                        <a:rPr lang="zh-CN" altLang="en-US" sz="1100" b="0" i="0" kern="0">
                          <a:solidFill>
                            <a:schemeClr val="tx1"/>
                          </a:solidFill>
                          <a:highlight>
                            <a:srgbClr val="E1F3DA"/>
                          </a:highlight>
                          <a:latin typeface="Tenorite" pitchFamily="2" charset="0"/>
                          <a:ea typeface="Arial Unicode MS" pitchFamily="34" charset="-128"/>
                          <a:cs typeface="Arial Unicode MS" pitchFamily="34" charset="-128"/>
                        </a:rPr>
                        <a:t> </a:t>
                      </a:r>
                      <a:r>
                        <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rPr>
                        <a:t>account, profit center, tax, etc.) to call accounting posting BAPI</a:t>
                      </a:r>
                      <a:r>
                        <a:rPr lang="en-US" altLang="zh-CN" sz="1100" b="0" i="0" kern="0" noProof="0">
                          <a:solidFill>
                            <a:schemeClr val="tx1"/>
                          </a:solidFill>
                          <a:highlight>
                            <a:srgbClr val="E1F3DA"/>
                          </a:highlight>
                          <a:latin typeface="Tenorite" pitchFamily="2" charset="0"/>
                          <a:ea typeface="Arial Unicode MS" pitchFamily="34" charset="-128"/>
                          <a:cs typeface="Arial Unicode MS" pitchFamily="34" charset="-128"/>
                        </a:rPr>
                        <a:t>. </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00FFFF"/>
                          </a:highlight>
                          <a:latin typeface="Tenorite" pitchFamily="2" charset="0"/>
                          <a:ea typeface="Arial Unicode MS" pitchFamily="34" charset="-128"/>
                          <a:cs typeface="Arial Unicode MS" pitchFamily="34" charset="-128"/>
                        </a:rPr>
                        <a:t>Need to maintain GL account master data &amp; central FI configuration, e.g. company code, profit center, tax code &amp; tax posting, etc.</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latin typeface="Tenorite" pitchFamily="2" charset="0"/>
                          <a:ea typeface="Arial Unicode MS" pitchFamily="34" charset="-128"/>
                          <a:cs typeface="Arial Unicode MS" pitchFamily="34" charset="-128"/>
                        </a:rPr>
                        <a:t>Need to build monitoring UI to check error &amp; issue log.</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latin typeface="Tenorite" pitchFamily="2" charset="0"/>
                          <a:ea typeface="Arial Unicode MS" pitchFamily="34" charset="-128"/>
                          <a:cs typeface="Arial Unicode MS" pitchFamily="34" charset="-128"/>
                        </a:rPr>
                        <a:t>build PT SAF-T tax report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FFFF00"/>
                          </a:highlight>
                          <a:latin typeface="Tenorite" pitchFamily="2" charset="0"/>
                          <a:ea typeface="Arial Unicode MS" pitchFamily="34" charset="-128"/>
                          <a:cs typeface="Arial Unicode MS" pitchFamily="34" charset="-128"/>
                        </a:rPr>
                        <a:t>One more set of (SD SO/Billing doc), increase IT cost for S4 data storage in the long term</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FFE1CC"/>
                          </a:highlight>
                          <a:latin typeface="Tenorite" pitchFamily="2" charset="0"/>
                          <a:ea typeface="Arial Unicode MS" pitchFamily="34" charset="-128"/>
                          <a:cs typeface="Arial Unicode MS" pitchFamily="34" charset="-128"/>
                        </a:rPr>
                        <a:t>Need cross platform cooperation for posting issue tracking to pinpoint root cause. Root cause can be only in DMR doc/SD config or can come from upstream NexBill,</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rPr>
                        <a:t>Need to customize DMR to determine posting parameters. Need to estimate effort.</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latin typeface="Tenorite" pitchFamily="2" charset="0"/>
                          <a:ea typeface="Arial Unicode MS" pitchFamily="34" charset="-128"/>
                          <a:cs typeface="Arial Unicode MS" pitchFamily="34" charset="-128"/>
                        </a:rPr>
                        <a:t>Need huge IT staff manual effort  to solve DMR generation interface issue, same as running DaaS LSP data frequently get stuck.</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rPr>
                        <a:t>Difficult to fully implement ICO, e.g. AP posting, tax determination, hard to add 20+ new dummy plants to generate ICO Billing. </a:t>
                      </a:r>
                    </a:p>
                    <a:p>
                      <a:pPr marL="0" marR="0" lvl="0" indent="-228600" algn="l" defTabSz="1218987" rtl="0" eaLnBrk="1" fontAlgn="base" latinLnBrk="0" hangingPunct="1">
                        <a:lnSpc>
                          <a:spcPct val="100000"/>
                        </a:lnSpc>
                        <a:spcBef>
                          <a:spcPts val="0"/>
                        </a:spcBef>
                        <a:spcAft>
                          <a:spcPts val="0"/>
                        </a:spcAft>
                        <a:buClr>
                          <a:schemeClr val="tx1"/>
                        </a:buClr>
                        <a:buSzPct val="80000"/>
                        <a:buFont typeface="+mj-lt"/>
                        <a:buAutoNum type="arabicPeriod"/>
                        <a:tabLst/>
                        <a:defRPr/>
                      </a:pPr>
                      <a:r>
                        <a:rPr lang="en-US" altLang="zh-CN" sz="1100" b="0" i="0" kern="0">
                          <a:solidFill>
                            <a:schemeClr val="tx1"/>
                          </a:solidFill>
                          <a:highlight>
                            <a:srgbClr val="E1F3DA"/>
                          </a:highlight>
                          <a:latin typeface="Tenorite" pitchFamily="2" charset="0"/>
                          <a:ea typeface="Arial Unicode MS" pitchFamily="34" charset="-128"/>
                          <a:cs typeface="Arial Unicode MS" pitchFamily="34" charset="-128"/>
                        </a:rPr>
                        <a:t>Difficult solution design for Central Billing (AP related tax 21% &amp; -21% reverse charge)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41826192"/>
                  </a:ext>
                </a:extLst>
              </a:tr>
            </a:tbl>
          </a:graphicData>
        </a:graphic>
      </p:graphicFrame>
    </p:spTree>
    <p:extLst>
      <p:ext uri="{BB962C8B-B14F-4D97-AF65-F5344CB8AC3E}">
        <p14:creationId xmlns:p14="http://schemas.microsoft.com/office/powerpoint/2010/main" val="1377296070"/>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0" name="Rectangle 51">
            <a:extLst>
              <a:ext uri="{FF2B5EF4-FFF2-40B4-BE49-F238E27FC236}">
                <a16:creationId xmlns:a16="http://schemas.microsoft.com/office/drawing/2014/main" id="{B5BEBE35-C1AB-2749-B7F4-C141ED4F1E15}"/>
              </a:ext>
            </a:extLst>
          </p:cNvPr>
          <p:cNvSpPr/>
          <p:nvPr/>
        </p:nvSpPr>
        <p:spPr>
          <a:xfrm>
            <a:off x="2848764" y="766329"/>
            <a:ext cx="1272319" cy="4530266"/>
          </a:xfrm>
          <a:prstGeom prst="rect">
            <a:avLst/>
          </a:prstGeom>
          <a:solidFill>
            <a:schemeClr val="accent1">
              <a:lumMod val="20000"/>
              <a:lumOff val="80000"/>
            </a:schemeClr>
          </a:solidFill>
          <a:ln w="25400" cap="flat" cmpd="sng" algn="ctr">
            <a:solidFill>
              <a:schemeClr val="bg1"/>
            </a:solidFill>
            <a:prstDash val="solid"/>
          </a:ln>
          <a:effectLst/>
        </p:spPr>
        <p:txBody>
          <a:bodyPr anchor="t"/>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1000" b="0"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Service Now</a:t>
            </a:r>
            <a:endParaRPr kumimoji="0" lang="de-DE" altLang="zh-CN" sz="1000" b="0" i="0" u="none" strike="noStrike" kern="0" cap="none" spc="0" normalizeH="0" baseline="0" noProof="0">
              <a:ln>
                <a:noFill/>
              </a:ln>
              <a:solidFill>
                <a:srgbClr val="FFC000"/>
              </a:solidFill>
              <a:effectLst/>
              <a:uLnTx/>
              <a:uFillTx/>
              <a:latin typeface="72 Black" panose="020B0A04030603020204" pitchFamily="34" charset="0"/>
              <a:ea typeface="宋体" panose="02010600030101010101" pitchFamily="2" charset="-122"/>
              <a:cs typeface="72 Black" panose="020B0A04030603020204" pitchFamily="34" charset="0"/>
            </a:endParaRPr>
          </a:p>
        </p:txBody>
      </p:sp>
      <p:sp>
        <p:nvSpPr>
          <p:cNvPr id="5" name="Rectangle 51">
            <a:extLst>
              <a:ext uri="{FF2B5EF4-FFF2-40B4-BE49-F238E27FC236}">
                <a16:creationId xmlns:a16="http://schemas.microsoft.com/office/drawing/2014/main" id="{23303223-F78E-D8F5-E66E-DB5CBC9DD9B6}"/>
              </a:ext>
            </a:extLst>
          </p:cNvPr>
          <p:cNvSpPr/>
          <p:nvPr/>
        </p:nvSpPr>
        <p:spPr>
          <a:xfrm>
            <a:off x="91205" y="772064"/>
            <a:ext cx="2694328" cy="4530266"/>
          </a:xfrm>
          <a:prstGeom prst="rect">
            <a:avLst/>
          </a:prstGeom>
          <a:solidFill>
            <a:schemeClr val="accent1">
              <a:lumMod val="20000"/>
              <a:lumOff val="80000"/>
            </a:schemeClr>
          </a:solidFill>
          <a:ln w="25400" cap="flat" cmpd="sng" algn="ctr">
            <a:solidFill>
              <a:schemeClr val="bg1"/>
            </a:solidFill>
            <a:prstDash val="solid"/>
          </a:ln>
          <a:effectLst/>
        </p:spPr>
        <p:txBody>
          <a:bodyPr anchor="t"/>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1000" b="0"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Service Now</a:t>
            </a:r>
            <a:endParaRPr kumimoji="0" lang="de-DE" sz="1000" b="0" i="0" u="none" strike="noStrike" kern="0" cap="none" spc="0" normalizeH="0" baseline="0" noProof="0">
              <a:ln>
                <a:noFill/>
              </a:ln>
              <a:solidFill>
                <a:srgbClr val="FFC000"/>
              </a:solidFill>
              <a:effectLst/>
              <a:uLnTx/>
              <a:uFillTx/>
              <a:latin typeface="72 Black" panose="020B0A04030603020204" pitchFamily="34" charset="0"/>
              <a:ea typeface="+mn-ea"/>
              <a:cs typeface="72 Black" panose="020B0A04030603020204" pitchFamily="34" charset="0"/>
            </a:endParaRPr>
          </a:p>
        </p:txBody>
      </p:sp>
      <p:sp>
        <p:nvSpPr>
          <p:cNvPr id="19" name="Rectangle 2">
            <a:extLst>
              <a:ext uri="{FF2B5EF4-FFF2-40B4-BE49-F238E27FC236}">
                <a16:creationId xmlns:a16="http://schemas.microsoft.com/office/drawing/2014/main" id="{AC4F5490-363B-49F5-841B-5CA47661EB19}"/>
              </a:ext>
            </a:extLst>
          </p:cNvPr>
          <p:cNvSpPr txBox="1">
            <a:spLocks noChangeArrowheads="1"/>
          </p:cNvSpPr>
          <p:nvPr/>
        </p:nvSpPr>
        <p:spPr bwMode="auto">
          <a:xfrm>
            <a:off x="39606" y="7591"/>
            <a:ext cx="11745684" cy="423601"/>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marL="0" algn="l" defTabSz="1218987" rtl="0" eaLnBrk="1" latinLnBrk="0" hangingPunct="1">
              <a:lnSpc>
                <a:spcPct val="85000"/>
              </a:lnSpc>
              <a:spcBef>
                <a:spcPct val="0"/>
              </a:spcBef>
              <a:buNone/>
              <a:tabLst>
                <a:tab pos="1218987" algn="l"/>
              </a:tabLst>
              <a:defRPr lang="en-US" sz="3200" b="1" kern="1200" cap="none" spc="-150" baseline="0" dirty="0">
                <a:solidFill>
                  <a:schemeClr val="bg1"/>
                </a:solidFill>
                <a:latin typeface="Arial" pitchFamily="34" charset="0"/>
                <a:ea typeface="+mn-ea"/>
                <a:cs typeface="Arial" pitchFamily="34" charset="0"/>
              </a:defRPr>
            </a:lvl1pPr>
          </a:lstStyle>
          <a:p>
            <a:pPr marL="0" marR="0" lvl="0" indent="0" algn="l" defTabSz="1218987" rtl="0" eaLnBrk="1" fontAlgn="auto" latinLnBrk="0" hangingPunct="1">
              <a:lnSpc>
                <a:spcPct val="85000"/>
              </a:lnSpc>
              <a:spcBef>
                <a:spcPct val="0"/>
              </a:spcBef>
              <a:spcAft>
                <a:spcPts val="0"/>
              </a:spcAft>
              <a:buClrTx/>
              <a:buSzTx/>
              <a:buFontTx/>
              <a:buNone/>
              <a:tabLst>
                <a:tab pos="1218987" algn="l"/>
              </a:tabLst>
              <a:defRPr/>
            </a:pPr>
            <a:r>
              <a:rPr kumimoji="0" lang="en-US" sz="2800" b="1" i="0" u="none" strike="noStrike" kern="1200" cap="none" spc="0" normalizeH="0" baseline="0" noProof="0">
                <a:ln>
                  <a:noFill/>
                </a:ln>
                <a:solidFill>
                  <a:srgbClr val="4D144A"/>
                </a:solidFill>
                <a:effectLst/>
                <a:uLnTx/>
                <a:uFillTx/>
                <a:latin typeface="Calibri" panose="020F0502020204030204" pitchFamily="34" charset="0"/>
                <a:ea typeface="+mn-ea"/>
                <a:cs typeface="Calibri" panose="020F0502020204030204" pitchFamily="34" charset="0"/>
              </a:rPr>
              <a:t>DAAS Model Process (AFE)</a:t>
            </a:r>
            <a:endParaRPr kumimoji="0" lang="en-AU" sz="2800" b="1" i="0" u="none" strike="noStrike" kern="1200" cap="none" spc="-150" normalizeH="0" baseline="0" noProof="0">
              <a:ln>
                <a:noFill/>
              </a:ln>
              <a:solidFill>
                <a:srgbClr val="4D144A"/>
              </a:solidFill>
              <a:effectLst/>
              <a:uLnTx/>
              <a:uFillTx/>
              <a:latin typeface="Calibri" panose="020F0502020204030204" pitchFamily="34" charset="0"/>
              <a:ea typeface="+mn-ea"/>
              <a:cs typeface="Calibri" panose="020F0502020204030204" pitchFamily="34" charset="0"/>
            </a:endParaRPr>
          </a:p>
        </p:txBody>
      </p:sp>
      <p:sp>
        <p:nvSpPr>
          <p:cNvPr id="12" name="Rectangle 51">
            <a:extLst>
              <a:ext uri="{FF2B5EF4-FFF2-40B4-BE49-F238E27FC236}">
                <a16:creationId xmlns:a16="http://schemas.microsoft.com/office/drawing/2014/main" id="{E04C714C-BC88-4D50-9322-5C86E07A7D36}"/>
              </a:ext>
            </a:extLst>
          </p:cNvPr>
          <p:cNvSpPr/>
          <p:nvPr/>
        </p:nvSpPr>
        <p:spPr>
          <a:xfrm>
            <a:off x="5723936" y="763355"/>
            <a:ext cx="4619997" cy="4530266"/>
          </a:xfrm>
          <a:prstGeom prst="rect">
            <a:avLst/>
          </a:prstGeom>
          <a:solidFill>
            <a:schemeClr val="accent1">
              <a:lumMod val="20000"/>
              <a:lumOff val="80000"/>
            </a:schemeClr>
          </a:solidFill>
          <a:ln w="25400" cap="flat" cmpd="sng" algn="ctr">
            <a:solidFill>
              <a:schemeClr val="bg1"/>
            </a:solidFill>
            <a:prstDash val="solid"/>
          </a:ln>
          <a:effectLst/>
        </p:spPr>
        <p:txBody>
          <a:bodyPr anchor="t"/>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1100" b="1"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AFE(US22) Facing customer</a:t>
            </a:r>
            <a:endParaRPr kumimoji="0" lang="de-DE" sz="1100" b="1" i="0" u="none" strike="noStrike" kern="0" cap="none" spc="0" normalizeH="0" baseline="0" noProof="0">
              <a:ln>
                <a:noFill/>
              </a:ln>
              <a:solidFill>
                <a:srgbClr val="FFC000"/>
              </a:solidFill>
              <a:effectLst/>
              <a:uLnTx/>
              <a:uFillTx/>
              <a:latin typeface="72 Black" panose="020B0A04030603020204" pitchFamily="34" charset="0"/>
              <a:ea typeface="+mn-ea"/>
              <a:cs typeface="72 Black" panose="020B0A04030603020204" pitchFamily="34" charset="0"/>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rgbClr val="FFC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tab pos="715533" algn="l"/>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715533" algn="l" defTabSz="1088449" rtl="0" eaLnBrk="1" fontAlgn="auto" latinLnBrk="0" hangingPunct="1">
              <a:lnSpc>
                <a:spcPct val="100000"/>
              </a:lnSpc>
              <a:spcBef>
                <a:spcPts val="0"/>
              </a:spcBef>
              <a:spcAft>
                <a:spcPts val="0"/>
              </a:spcAft>
              <a:buClrTx/>
              <a:buSzTx/>
              <a:buFontTx/>
              <a:buNone/>
              <a:tabLst>
                <a:tab pos="715533" algn="l"/>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13" name="Rectangle 51">
            <a:extLst>
              <a:ext uri="{FF2B5EF4-FFF2-40B4-BE49-F238E27FC236}">
                <a16:creationId xmlns:a16="http://schemas.microsoft.com/office/drawing/2014/main" id="{E2F9D074-B489-45BC-8190-3A64F4D93D8C}"/>
              </a:ext>
            </a:extLst>
          </p:cNvPr>
          <p:cNvSpPr/>
          <p:nvPr/>
        </p:nvSpPr>
        <p:spPr>
          <a:xfrm>
            <a:off x="10406100" y="748542"/>
            <a:ext cx="1499331" cy="4542613"/>
          </a:xfrm>
          <a:prstGeom prst="rect">
            <a:avLst/>
          </a:prstGeom>
          <a:solidFill>
            <a:schemeClr val="accent1">
              <a:lumMod val="20000"/>
              <a:lumOff val="80000"/>
            </a:schemeClr>
          </a:solidFill>
          <a:ln w="25400" cap="flat" cmpd="sng" algn="ctr">
            <a:solidFill>
              <a:schemeClr val="bg1"/>
            </a:solidFill>
            <a:prstDash val="solid"/>
          </a:ln>
          <a:effectLst/>
        </p:spPr>
        <p:txBody>
          <a:bodyPr anchor="t"/>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1000" b="1"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S&amp;D</a:t>
            </a:r>
            <a:r>
              <a:rPr kumimoji="0" lang="zh-CN" altLang="en-US" sz="1000" b="1"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 </a:t>
            </a:r>
            <a:r>
              <a:rPr kumimoji="0" lang="en-US" altLang="zh-CN" sz="1000" b="1"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(US01)</a:t>
            </a: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a:p>
            <a:pPr marL="0" marR="0" lvl="0" indent="0" algn="l" defTabSz="1088449" rtl="0" eaLnBrk="1" fontAlgn="auto" latinLnBrk="0" hangingPunct="1">
              <a:lnSpc>
                <a:spcPct val="100000"/>
              </a:lnSpc>
              <a:spcBef>
                <a:spcPts val="0"/>
              </a:spcBef>
              <a:spcAft>
                <a:spcPts val="0"/>
              </a:spcAft>
              <a:buClrTx/>
              <a:buSzTx/>
              <a:buFontTx/>
              <a:buNone/>
              <a:tabLst/>
              <a:defRPr/>
            </a:pPr>
            <a:endParaRPr kumimoji="0" lang="de-DE" sz="1000" b="1"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15" name="Textfeld 95">
            <a:extLst>
              <a:ext uri="{FF2B5EF4-FFF2-40B4-BE49-F238E27FC236}">
                <a16:creationId xmlns:a16="http://schemas.microsoft.com/office/drawing/2014/main" id="{C45D1A9B-771E-4938-8087-BD3832D98E1A}"/>
              </a:ext>
            </a:extLst>
          </p:cNvPr>
          <p:cNvSpPr txBox="1"/>
          <p:nvPr/>
        </p:nvSpPr>
        <p:spPr>
          <a:xfrm>
            <a:off x="5723937" y="407348"/>
            <a:ext cx="6181494" cy="326303"/>
          </a:xfrm>
          <a:prstGeom prst="rect">
            <a:avLst/>
          </a:prstGeom>
          <a:solidFill>
            <a:schemeClr val="accent1">
              <a:lumMod val="40000"/>
              <a:lumOff val="60000"/>
            </a:schemeClr>
          </a:solidFill>
          <a:ln>
            <a:solidFill>
              <a:schemeClr val="bg1"/>
            </a:solidFill>
          </a:ln>
        </p:spPr>
        <p:txBody>
          <a:bodyPr wrap="square" lIns="0" tIns="0" rIns="0" bIns="0" rtlCol="0" anchor="ctr">
            <a:noAutofit/>
          </a:bodyPr>
          <a:lstStyle/>
          <a:p>
            <a:pPr marL="0" marR="0" lvl="0" indent="0" algn="ctr" defTabSz="1088449" rtl="0" eaLnBrk="1" fontAlgn="base" latinLnBrk="0" hangingPunct="1">
              <a:lnSpc>
                <a:spcPct val="100000"/>
              </a:lnSpc>
              <a:spcBef>
                <a:spcPct val="50000"/>
              </a:spcBef>
              <a:spcAft>
                <a:spcPct val="0"/>
              </a:spcAft>
              <a:buClr>
                <a:srgbClr val="F0AB00"/>
              </a:buClr>
              <a:buSzPct val="80000"/>
              <a:buFontTx/>
              <a:buNone/>
              <a:tabLst/>
              <a:defRPr/>
            </a:pPr>
            <a:r>
              <a:rPr kumimoji="0" lang="de-DE" sz="1050" b="1" i="0" u="none" strike="noStrike" kern="0" cap="none" spc="0" normalizeH="0" baseline="0" noProof="0">
                <a:ln>
                  <a:noFill/>
                </a:ln>
                <a:solidFill>
                  <a:srgbClr val="000000"/>
                </a:solidFill>
                <a:effectLst/>
                <a:uLnTx/>
                <a:uFillTx/>
                <a:latin typeface="Arial"/>
                <a:ea typeface="Arial Unicode MS" pitchFamily="34" charset="-128"/>
                <a:cs typeface="Arial Unicode MS" pitchFamily="34" charset="-128"/>
              </a:rPr>
              <a:t>N</a:t>
            </a:r>
            <a:r>
              <a:rPr kumimoji="0" lang="en-US" altLang="zh-CN" sz="1050" b="1" i="0" u="none" strike="noStrike" kern="0" cap="none" spc="0" normalizeH="0" baseline="0" noProof="0" err="1">
                <a:ln>
                  <a:noFill/>
                </a:ln>
                <a:solidFill>
                  <a:srgbClr val="000000"/>
                </a:solidFill>
                <a:effectLst/>
                <a:uLnTx/>
                <a:uFillTx/>
                <a:latin typeface="Arial"/>
                <a:ea typeface="Arial Unicode MS" pitchFamily="34" charset="-128"/>
                <a:cs typeface="Arial Unicode MS" pitchFamily="34" charset="-128"/>
              </a:rPr>
              <a:t>extBill</a:t>
            </a:r>
            <a:r>
              <a:rPr kumimoji="0" lang="de-DE" sz="1050" b="1" i="0" u="none" strike="noStrike" kern="0" cap="none" spc="0" normalizeH="0" baseline="0" noProof="0">
                <a:ln>
                  <a:noFill/>
                </a:ln>
                <a:solidFill>
                  <a:srgbClr val="000000"/>
                </a:solidFill>
                <a:effectLst/>
                <a:uLnTx/>
                <a:uFillTx/>
                <a:latin typeface="Arial"/>
                <a:ea typeface="Arial Unicode MS" pitchFamily="34" charset="-128"/>
                <a:cs typeface="Arial Unicode MS" pitchFamily="34" charset="-128"/>
              </a:rPr>
              <a:t> Billing in CI</a:t>
            </a:r>
          </a:p>
        </p:txBody>
      </p:sp>
      <p:sp>
        <p:nvSpPr>
          <p:cNvPr id="16" name="Rounded Rectangle 155">
            <a:extLst>
              <a:ext uri="{FF2B5EF4-FFF2-40B4-BE49-F238E27FC236}">
                <a16:creationId xmlns:a16="http://schemas.microsoft.com/office/drawing/2014/main" id="{24C46F0E-D89D-473C-9776-90F68A396261}"/>
              </a:ext>
            </a:extLst>
          </p:cNvPr>
          <p:cNvSpPr/>
          <p:nvPr/>
        </p:nvSpPr>
        <p:spPr bwMode="gray">
          <a:xfrm>
            <a:off x="4162508" y="420313"/>
            <a:ext cx="1528457" cy="312909"/>
          </a:xfrm>
          <a:prstGeom prst="rect">
            <a:avLst/>
          </a:prstGeom>
          <a:solidFill>
            <a:schemeClr val="accent1">
              <a:lumMod val="40000"/>
              <a:lumOff val="60000"/>
            </a:schemeClr>
          </a:solidFill>
          <a:ln w="3175" cap="flat" cmpd="sng" algn="ctr">
            <a:no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lIns="89954" tIns="35982" rIns="89954" bIns="71962" rtlCol="0" anchor="t" anchorCtr="0"/>
          <a:lstStyle/>
          <a:p>
            <a:pPr marL="0" marR="0" lvl="0" indent="0" algn="ctr" defTabSz="913852" rtl="0" eaLnBrk="1" fontAlgn="base" latinLnBrk="0" hangingPunct="1">
              <a:lnSpc>
                <a:spcPct val="100000"/>
              </a:lnSpc>
              <a:spcBef>
                <a:spcPts val="0"/>
              </a:spcBef>
              <a:spcAft>
                <a:spcPct val="0"/>
              </a:spcAft>
              <a:buClr>
                <a:srgbClr val="F0AB00"/>
              </a:buClr>
              <a:buSzPct val="80000"/>
              <a:buFontTx/>
              <a:buNone/>
              <a:tabLst/>
              <a:defRPr/>
            </a:pPr>
            <a:r>
              <a:rPr kumimoji="0" lang="en-US" altLang="zh-CN" sz="1000" b="1" i="0" u="none" strike="noStrike" kern="0" cap="none" spc="0" normalizeH="0" baseline="0" noProof="0" err="1">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NextBill</a:t>
            </a:r>
            <a:r>
              <a:rPr kumimoji="0" lang="en-US" altLang="zh-CN"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 Subscription</a:t>
            </a:r>
            <a:r>
              <a:rPr kumimoji="0" lang="zh-CN" altLang="en-US"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 </a:t>
            </a:r>
            <a:r>
              <a:rPr kumimoji="0" lang="en-US" altLang="zh-CN"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Contract</a:t>
            </a:r>
            <a:r>
              <a:rPr kumimoji="0" lang="zh-CN" altLang="en-US"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 </a:t>
            </a:r>
            <a:endParaRPr kumimoji="0" lang="en-US" altLang="zh-CN"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endParaRPr>
          </a:p>
          <a:p>
            <a:pPr marL="0" marR="0" lvl="0" indent="0" algn="ctr" defTabSz="913852" rtl="0" eaLnBrk="1" fontAlgn="base" latinLnBrk="0" hangingPunct="1">
              <a:lnSpc>
                <a:spcPct val="100000"/>
              </a:lnSpc>
              <a:spcBef>
                <a:spcPts val="0"/>
              </a:spcBef>
              <a:spcAft>
                <a:spcPct val="0"/>
              </a:spcAft>
              <a:buClr>
                <a:srgbClr val="F0AB00"/>
              </a:buClr>
              <a:buSzPct val="80000"/>
              <a:buFontTx/>
              <a:buNone/>
              <a:tabLst/>
              <a:defRPr/>
            </a:pPr>
            <a:r>
              <a:rPr kumimoji="0" lang="en-US" altLang="zh-CN"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in</a:t>
            </a:r>
            <a:r>
              <a:rPr kumimoji="0" lang="zh-CN" altLang="en-US"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 </a:t>
            </a:r>
            <a:r>
              <a:rPr kumimoji="0" lang="en-US" altLang="zh-CN"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SOM</a:t>
            </a:r>
            <a:endParaRPr kumimoji="0" lang="en-US"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endParaRPr>
          </a:p>
        </p:txBody>
      </p:sp>
      <p:sp>
        <p:nvSpPr>
          <p:cNvPr id="18" name="Rectangle 51">
            <a:extLst>
              <a:ext uri="{FF2B5EF4-FFF2-40B4-BE49-F238E27FC236}">
                <a16:creationId xmlns:a16="http://schemas.microsoft.com/office/drawing/2014/main" id="{57DA0369-95B0-494D-B65B-02DB0E4803A6}"/>
              </a:ext>
            </a:extLst>
          </p:cNvPr>
          <p:cNvSpPr/>
          <p:nvPr/>
        </p:nvSpPr>
        <p:spPr>
          <a:xfrm>
            <a:off x="4154054" y="764735"/>
            <a:ext cx="1536911" cy="4530266"/>
          </a:xfrm>
          <a:prstGeom prst="rect">
            <a:avLst/>
          </a:prstGeom>
          <a:solidFill>
            <a:schemeClr val="accent1">
              <a:lumMod val="20000"/>
              <a:lumOff val="80000"/>
            </a:schemeClr>
          </a:solidFill>
          <a:ln w="25400" cap="flat" cmpd="sng" algn="ctr">
            <a:solidFill>
              <a:schemeClr val="bg1"/>
            </a:solidFill>
            <a:prstDash val="solid"/>
          </a:ln>
          <a:effectLst/>
        </p:spPr>
        <p:txBody>
          <a:bodyPr anchor="t"/>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1000" b="0"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Sales</a:t>
            </a:r>
            <a:r>
              <a:rPr kumimoji="0" lang="zh-CN" altLang="en-US" sz="1000" b="0"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 </a:t>
            </a:r>
            <a:r>
              <a:rPr kumimoji="0" lang="en-US" altLang="zh-CN" sz="1000" b="0"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Org</a:t>
            </a:r>
            <a:r>
              <a:rPr kumimoji="0" lang="zh-CN" altLang="en-US" sz="1000" b="0"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 </a:t>
            </a:r>
            <a:r>
              <a:rPr kumimoji="0" lang="en-US" altLang="zh-CN" sz="1000" b="0" i="0" u="none" strike="noStrike" kern="0" cap="none" spc="0" normalizeH="0" baseline="0" noProof="0">
                <a:ln>
                  <a:noFill/>
                </a:ln>
                <a:solidFill>
                  <a:srgbClr val="FFC000"/>
                </a:solidFill>
                <a:effectLst/>
                <a:uLnTx/>
                <a:uFillTx/>
                <a:latin typeface="72 Black" panose="020B0A04030603020204" pitchFamily="34" charset="0"/>
                <a:ea typeface="黑体" panose="02010609060101010101" pitchFamily="49" charset="-122"/>
                <a:cs typeface="72 Black" panose="020B0A04030603020204" pitchFamily="34" charset="0"/>
              </a:rPr>
              <a:t>(AFE)</a:t>
            </a:r>
            <a:endParaRPr kumimoji="0" lang="de-DE" sz="1000" b="0" i="0" u="none" strike="noStrike" kern="0" cap="none" spc="0" normalizeH="0" baseline="0" noProof="0">
              <a:ln>
                <a:noFill/>
              </a:ln>
              <a:solidFill>
                <a:srgbClr val="FFC000"/>
              </a:solidFill>
              <a:effectLst/>
              <a:uLnTx/>
              <a:uFillTx/>
              <a:latin typeface="72 Black" panose="020B0A04030603020204" pitchFamily="34" charset="0"/>
              <a:ea typeface="+mn-ea"/>
              <a:cs typeface="72 Black" panose="020B0A04030603020204" pitchFamily="34" charset="0"/>
            </a:endParaRPr>
          </a:p>
        </p:txBody>
      </p:sp>
      <p:sp>
        <p:nvSpPr>
          <p:cNvPr id="22" name="Rounded Rectangle 54">
            <a:extLst>
              <a:ext uri="{FF2B5EF4-FFF2-40B4-BE49-F238E27FC236}">
                <a16:creationId xmlns:a16="http://schemas.microsoft.com/office/drawing/2014/main" id="{3F9176A6-AFDF-4CF9-B339-7B46F1DAA523}"/>
              </a:ext>
            </a:extLst>
          </p:cNvPr>
          <p:cNvSpPr/>
          <p:nvPr/>
        </p:nvSpPr>
        <p:spPr>
          <a:xfrm>
            <a:off x="7202906" y="1893162"/>
            <a:ext cx="863150" cy="535011"/>
          </a:xfrm>
          <a:prstGeom prst="roundRect">
            <a:avLst/>
          </a:prstGeom>
          <a:solidFill>
            <a:srgbClr val="FFFF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Convergent</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Billing</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NO.9601</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Ref.9601</a:t>
            </a:r>
          </a:p>
        </p:txBody>
      </p:sp>
      <p:sp>
        <p:nvSpPr>
          <p:cNvPr id="25" name="Rounded Rectangle 54">
            <a:extLst>
              <a:ext uri="{FF2B5EF4-FFF2-40B4-BE49-F238E27FC236}">
                <a16:creationId xmlns:a16="http://schemas.microsoft.com/office/drawing/2014/main" id="{DC107821-5D5B-4C9A-8E33-7831E4F342D0}"/>
              </a:ext>
            </a:extLst>
          </p:cNvPr>
          <p:cNvSpPr/>
          <p:nvPr/>
        </p:nvSpPr>
        <p:spPr>
          <a:xfrm>
            <a:off x="10829303" y="2257650"/>
            <a:ext cx="863150" cy="636256"/>
          </a:xfrm>
          <a:prstGeom prst="roundRect">
            <a:avLst/>
          </a:prstGeom>
          <a:solidFill>
            <a:srgbClr val="FFFF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91"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Detail</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Billing</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NO.0701</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Ref.1901</a:t>
            </a:r>
          </a:p>
        </p:txBody>
      </p:sp>
      <p:sp>
        <p:nvSpPr>
          <p:cNvPr id="27" name="Rounded Rectangle 54">
            <a:extLst>
              <a:ext uri="{FF2B5EF4-FFF2-40B4-BE49-F238E27FC236}">
                <a16:creationId xmlns:a16="http://schemas.microsoft.com/office/drawing/2014/main" id="{4B5F43F0-39C8-4600-9DEE-FE6EE0491AEA}"/>
              </a:ext>
            </a:extLst>
          </p:cNvPr>
          <p:cNvSpPr/>
          <p:nvPr/>
        </p:nvSpPr>
        <p:spPr>
          <a:xfrm>
            <a:off x="8297557" y="2797341"/>
            <a:ext cx="863150" cy="503225"/>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Invoicing</a:t>
            </a:r>
          </a:p>
        </p:txBody>
      </p:sp>
      <p:sp>
        <p:nvSpPr>
          <p:cNvPr id="28" name="Rounded Rectangle 54">
            <a:extLst>
              <a:ext uri="{FF2B5EF4-FFF2-40B4-BE49-F238E27FC236}">
                <a16:creationId xmlns:a16="http://schemas.microsoft.com/office/drawing/2014/main" id="{BA04A001-AE57-4484-9440-70FF2E33DE97}"/>
              </a:ext>
            </a:extLst>
          </p:cNvPr>
          <p:cNvSpPr/>
          <p:nvPr/>
        </p:nvSpPr>
        <p:spPr>
          <a:xfrm>
            <a:off x="10834138" y="3138917"/>
            <a:ext cx="863150" cy="506617"/>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91"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Invoicing</a:t>
            </a:r>
          </a:p>
        </p:txBody>
      </p:sp>
      <p:sp>
        <p:nvSpPr>
          <p:cNvPr id="29" name="Flowchart: Document 62">
            <a:extLst>
              <a:ext uri="{FF2B5EF4-FFF2-40B4-BE49-F238E27FC236}">
                <a16:creationId xmlns:a16="http://schemas.microsoft.com/office/drawing/2014/main" id="{79BB92CE-A93E-43BC-920A-35CE9598CB3B}"/>
              </a:ext>
            </a:extLst>
          </p:cNvPr>
          <p:cNvSpPr/>
          <p:nvPr/>
        </p:nvSpPr>
        <p:spPr>
          <a:xfrm>
            <a:off x="8301335" y="3703972"/>
            <a:ext cx="849890" cy="521647"/>
          </a:xfrm>
          <a:prstGeom prst="flowChartDocumen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Customer </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Invoice</a:t>
            </a:r>
          </a:p>
        </p:txBody>
      </p:sp>
      <p:cxnSp>
        <p:nvCxnSpPr>
          <p:cNvPr id="30" name="Straight Arrow Connector 58">
            <a:extLst>
              <a:ext uri="{FF2B5EF4-FFF2-40B4-BE49-F238E27FC236}">
                <a16:creationId xmlns:a16="http://schemas.microsoft.com/office/drawing/2014/main" id="{7358952A-460C-4ECF-85E4-9CA9F920D41D}"/>
              </a:ext>
            </a:extLst>
          </p:cNvPr>
          <p:cNvCxnSpPr>
            <a:cxnSpLocks noChangeShapeType="1"/>
            <a:stCxn id="36" idx="2"/>
            <a:endCxn id="22" idx="0"/>
          </p:cNvCxnSpPr>
          <p:nvPr/>
        </p:nvCxnSpPr>
        <p:spPr bwMode="auto">
          <a:xfrm flipH="1">
            <a:off x="7634481" y="1621268"/>
            <a:ext cx="341" cy="271894"/>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31" name="Straight Arrow Connector 58">
            <a:extLst>
              <a:ext uri="{FF2B5EF4-FFF2-40B4-BE49-F238E27FC236}">
                <a16:creationId xmlns:a16="http://schemas.microsoft.com/office/drawing/2014/main" id="{655C25D7-E872-4FED-91B5-04DC1EEB8E32}"/>
              </a:ext>
            </a:extLst>
          </p:cNvPr>
          <p:cNvCxnSpPr>
            <a:cxnSpLocks noChangeShapeType="1"/>
          </p:cNvCxnSpPr>
          <p:nvPr/>
        </p:nvCxnSpPr>
        <p:spPr bwMode="auto">
          <a:xfrm rot="5400000">
            <a:off x="11114200" y="3797569"/>
            <a:ext cx="294180" cy="824"/>
          </a:xfrm>
          <a:prstGeom prst="bentConnector3">
            <a:avLst>
              <a:gd name="adj1" fmla="val 50000"/>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33" name="Flowchart: Document 62">
            <a:extLst>
              <a:ext uri="{FF2B5EF4-FFF2-40B4-BE49-F238E27FC236}">
                <a16:creationId xmlns:a16="http://schemas.microsoft.com/office/drawing/2014/main" id="{7E875FF4-1D48-4175-B512-C550C42250CF}"/>
              </a:ext>
            </a:extLst>
          </p:cNvPr>
          <p:cNvSpPr/>
          <p:nvPr/>
        </p:nvSpPr>
        <p:spPr>
          <a:xfrm>
            <a:off x="10869447" y="4656564"/>
            <a:ext cx="863150" cy="503225"/>
          </a:xfrm>
          <a:prstGeom prst="flowChartDocumen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91"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900" b="0" i="0" u="none" strike="noStrike" kern="0" cap="none" spc="0" normalizeH="0" baseline="0" noProof="0">
                <a:ln>
                  <a:noFill/>
                </a:ln>
                <a:solidFill>
                  <a:sysClr val="windowText" lastClr="000000"/>
                </a:solidFill>
                <a:effectLst/>
                <a:uLnTx/>
                <a:uFillTx/>
                <a:latin typeface="Calibri"/>
                <a:ea typeface="宋体" panose="02010600030101010101" pitchFamily="2" charset="-122"/>
                <a:cs typeface="+mn-cs"/>
              </a:rPr>
              <a:t>FI-CA</a:t>
            </a:r>
            <a:r>
              <a:rPr kumimoji="0" lang="zh-CN" altLang="en-US" sz="900" b="0" i="0" u="none" strike="noStrike" kern="0" cap="none" spc="0" normalizeH="0" baseline="0" noProof="0">
                <a:ln>
                  <a:noFill/>
                </a:ln>
                <a:solidFill>
                  <a:sysClr val="windowText" lastClr="000000"/>
                </a:solidFill>
                <a:effectLst/>
                <a:uLnTx/>
                <a:uFillTx/>
                <a:latin typeface="Calibri"/>
                <a:ea typeface="宋体" panose="02010600030101010101" pitchFamily="2" charset="-122"/>
                <a:cs typeface="+mn-cs"/>
              </a:rPr>
              <a:t> </a:t>
            </a:r>
            <a:r>
              <a:rPr kumimoji="0" lang="de-DE" sz="900" b="0" i="0" u="none" strike="noStrike" kern="0" cap="none" spc="0" normalizeH="0" baseline="0" noProof="0">
                <a:ln>
                  <a:noFill/>
                </a:ln>
                <a:solidFill>
                  <a:sysClr val="windowText" lastClr="000000"/>
                </a:solidFill>
                <a:effectLst/>
                <a:uLnTx/>
                <a:uFillTx/>
                <a:latin typeface="Calibri"/>
                <a:ea typeface="+mn-ea"/>
                <a:cs typeface="+mn-cs"/>
              </a:rPr>
              <a:t>Posting </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Document2</a:t>
            </a:r>
          </a:p>
        </p:txBody>
      </p:sp>
      <p:sp>
        <p:nvSpPr>
          <p:cNvPr id="34" name="Flowchart: Document 62">
            <a:extLst>
              <a:ext uri="{FF2B5EF4-FFF2-40B4-BE49-F238E27FC236}">
                <a16:creationId xmlns:a16="http://schemas.microsoft.com/office/drawing/2014/main" id="{C618666A-2F47-47C4-BDCF-73463DED21E0}"/>
              </a:ext>
            </a:extLst>
          </p:cNvPr>
          <p:cNvSpPr/>
          <p:nvPr/>
        </p:nvSpPr>
        <p:spPr>
          <a:xfrm>
            <a:off x="10821986" y="3928691"/>
            <a:ext cx="863150" cy="503225"/>
          </a:xfrm>
          <a:prstGeom prst="flowChartDocumen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91"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Intercompany </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Invoice</a:t>
            </a:r>
          </a:p>
        </p:txBody>
      </p:sp>
      <p:cxnSp>
        <p:nvCxnSpPr>
          <p:cNvPr id="35" name="Straight Arrow Connector 58">
            <a:extLst>
              <a:ext uri="{FF2B5EF4-FFF2-40B4-BE49-F238E27FC236}">
                <a16:creationId xmlns:a16="http://schemas.microsoft.com/office/drawing/2014/main" id="{FD3410C7-3D4A-4DB9-A1E2-48DE9B5BB11F}"/>
              </a:ext>
            </a:extLst>
          </p:cNvPr>
          <p:cNvCxnSpPr>
            <a:cxnSpLocks noChangeShapeType="1"/>
            <a:stCxn id="27" idx="2"/>
            <a:endCxn id="29" idx="0"/>
          </p:cNvCxnSpPr>
          <p:nvPr/>
        </p:nvCxnSpPr>
        <p:spPr bwMode="auto">
          <a:xfrm flipH="1">
            <a:off x="8726280" y="3300566"/>
            <a:ext cx="2852" cy="403406"/>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36" name="Flowchart: Document 62">
            <a:extLst>
              <a:ext uri="{FF2B5EF4-FFF2-40B4-BE49-F238E27FC236}">
                <a16:creationId xmlns:a16="http://schemas.microsoft.com/office/drawing/2014/main" id="{FC8B2D6D-967E-4C2C-B0CB-597C558DE2B5}"/>
              </a:ext>
            </a:extLst>
          </p:cNvPr>
          <p:cNvSpPr/>
          <p:nvPr/>
        </p:nvSpPr>
        <p:spPr>
          <a:xfrm>
            <a:off x="7203247" y="1151312"/>
            <a:ext cx="863150" cy="503225"/>
          </a:xfrm>
          <a:prstGeom prst="flowChartDocument">
            <a:avLst/>
          </a:prstGeom>
          <a:solidFill>
            <a:schemeClr val="bg2">
              <a:lumMod val="20000"/>
              <a:lumOff val="80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Customer</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Billable Item</a:t>
            </a:r>
          </a:p>
        </p:txBody>
      </p:sp>
      <p:sp>
        <p:nvSpPr>
          <p:cNvPr id="37" name="Flowchart: Document 62">
            <a:extLst>
              <a:ext uri="{FF2B5EF4-FFF2-40B4-BE49-F238E27FC236}">
                <a16:creationId xmlns:a16="http://schemas.microsoft.com/office/drawing/2014/main" id="{C9D02AAE-9B93-4A45-BAFD-713F98906B0A}"/>
              </a:ext>
            </a:extLst>
          </p:cNvPr>
          <p:cNvSpPr/>
          <p:nvPr/>
        </p:nvSpPr>
        <p:spPr>
          <a:xfrm>
            <a:off x="10829303" y="1536082"/>
            <a:ext cx="863150" cy="503225"/>
          </a:xfrm>
          <a:prstGeom prst="flowChartDocumen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91"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ICO</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Billable Item2</a:t>
            </a:r>
          </a:p>
        </p:txBody>
      </p:sp>
      <p:cxnSp>
        <p:nvCxnSpPr>
          <p:cNvPr id="41" name="Straight Arrow Connector 58">
            <a:extLst>
              <a:ext uri="{FF2B5EF4-FFF2-40B4-BE49-F238E27FC236}">
                <a16:creationId xmlns:a16="http://schemas.microsoft.com/office/drawing/2014/main" id="{90904E24-202D-4D80-BCFE-1A88ED5B9446}"/>
              </a:ext>
            </a:extLst>
          </p:cNvPr>
          <p:cNvCxnSpPr>
            <a:cxnSpLocks noChangeShapeType="1"/>
            <a:stCxn id="37" idx="2"/>
            <a:endCxn id="25" idx="0"/>
          </p:cNvCxnSpPr>
          <p:nvPr/>
        </p:nvCxnSpPr>
        <p:spPr bwMode="auto">
          <a:xfrm>
            <a:off x="11260878" y="2006038"/>
            <a:ext cx="0" cy="251612"/>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42" name="TextBox 41">
            <a:extLst>
              <a:ext uri="{FF2B5EF4-FFF2-40B4-BE49-F238E27FC236}">
                <a16:creationId xmlns:a16="http://schemas.microsoft.com/office/drawing/2014/main" id="{AB566209-0C9F-4F15-B86E-51281439AB9B}"/>
              </a:ext>
            </a:extLst>
          </p:cNvPr>
          <p:cNvSpPr txBox="1"/>
          <p:nvPr/>
        </p:nvSpPr>
        <p:spPr>
          <a:xfrm>
            <a:off x="9511117" y="854342"/>
            <a:ext cx="1123411" cy="323081"/>
          </a:xfrm>
          <a:prstGeom prst="rect">
            <a:avLst/>
          </a:prstGeom>
          <a:noFill/>
        </p:spPr>
        <p:txBody>
          <a:bodyPr wrap="square" lIns="0" tIns="0" rIns="0" bIns="0" rtlCol="0">
            <a:spAutoFit/>
          </a:bodyPr>
          <a:lstStyle/>
          <a:p>
            <a:pPr marL="0" marR="0" lvl="0" indent="0" algn="l" defTabSz="1088449" rtl="0" eaLnBrk="1" fontAlgn="base" latinLnBrk="0" hangingPunct="1">
              <a:lnSpc>
                <a:spcPct val="100000"/>
              </a:lnSpc>
              <a:spcBef>
                <a:spcPct val="50000"/>
              </a:spcBef>
              <a:spcAft>
                <a:spcPct val="0"/>
              </a:spcAft>
              <a:buClr>
                <a:srgbClr val="F0AB00"/>
              </a:buClr>
              <a:buSzPct val="80000"/>
              <a:buFontTx/>
              <a:buNone/>
              <a:tabLst/>
              <a:defRPr/>
            </a:pPr>
            <a:r>
              <a:rPr kumimoji="0" lang="de-DE" sz="1050" b="0"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Primary/Secondary Relationship</a:t>
            </a:r>
          </a:p>
        </p:txBody>
      </p:sp>
      <p:sp>
        <p:nvSpPr>
          <p:cNvPr id="43" name="Flowchart: Document 62">
            <a:extLst>
              <a:ext uri="{FF2B5EF4-FFF2-40B4-BE49-F238E27FC236}">
                <a16:creationId xmlns:a16="http://schemas.microsoft.com/office/drawing/2014/main" id="{ECC8F581-A5BC-4A32-9986-821D34B5343C}"/>
              </a:ext>
            </a:extLst>
          </p:cNvPr>
          <p:cNvSpPr/>
          <p:nvPr/>
        </p:nvSpPr>
        <p:spPr>
          <a:xfrm>
            <a:off x="6042206" y="1151312"/>
            <a:ext cx="863150" cy="503225"/>
          </a:xfrm>
          <a:prstGeom prst="flowChartDocument">
            <a:avLst/>
          </a:prstGeom>
          <a:solidFill>
            <a:schemeClr val="bg2">
              <a:lumMod val="20000"/>
              <a:lumOff val="80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Provider</a:t>
            </a:r>
            <a:r>
              <a:rPr kumimoji="0" lang="zh-CN" altLang="en-US"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 </a:t>
            </a: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Contract</a:t>
            </a:r>
            <a:endParaRPr kumimoji="0" lang="de-DE" sz="9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44" name="Flowchart: Document 62">
            <a:extLst>
              <a:ext uri="{FF2B5EF4-FFF2-40B4-BE49-F238E27FC236}">
                <a16:creationId xmlns:a16="http://schemas.microsoft.com/office/drawing/2014/main" id="{3C09A8B1-A605-48EF-B54C-36E833A5695C}"/>
              </a:ext>
            </a:extLst>
          </p:cNvPr>
          <p:cNvSpPr/>
          <p:nvPr/>
        </p:nvSpPr>
        <p:spPr>
          <a:xfrm>
            <a:off x="6042205" y="1809433"/>
            <a:ext cx="863150" cy="503225"/>
          </a:xfrm>
          <a:prstGeom prst="flowChartDocument">
            <a:avLst/>
          </a:prstGeom>
          <a:solidFill>
            <a:schemeClr val="bg2">
              <a:lumMod val="20000"/>
              <a:lumOff val="80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Billing</a:t>
            </a:r>
            <a:r>
              <a:rPr kumimoji="0" lang="zh-CN" altLang="en-US"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 </a:t>
            </a: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Plan</a:t>
            </a:r>
            <a:endParaRPr kumimoji="0" lang="de-DE" sz="9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45" name="Rounded Rectangle 54">
            <a:extLst>
              <a:ext uri="{FF2B5EF4-FFF2-40B4-BE49-F238E27FC236}">
                <a16:creationId xmlns:a16="http://schemas.microsoft.com/office/drawing/2014/main" id="{6CE79CB4-54CB-43DF-84A1-DA73AE3617BC}"/>
              </a:ext>
            </a:extLst>
          </p:cNvPr>
          <p:cNvSpPr/>
          <p:nvPr/>
        </p:nvSpPr>
        <p:spPr>
          <a:xfrm>
            <a:off x="6041865" y="2459651"/>
            <a:ext cx="863150" cy="535011"/>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Request</a:t>
            </a:r>
            <a:r>
              <a:rPr kumimoji="0" lang="zh-CN" altLang="en-US"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 </a:t>
            </a:r>
            <a:r>
              <a:rPr kumimoji="0" lang="de-DE" sz="900" b="0" i="0" u="none" strike="noStrike" kern="0" cap="none" spc="0" normalizeH="0" baseline="0" noProof="0">
                <a:ln>
                  <a:noFill/>
                </a:ln>
                <a:solidFill>
                  <a:sysClr val="windowText" lastClr="000000"/>
                </a:solidFill>
                <a:effectLst/>
                <a:uLnTx/>
                <a:uFillTx/>
                <a:latin typeface="Calibri"/>
                <a:ea typeface="+mn-ea"/>
                <a:cs typeface="+mn-cs"/>
              </a:rPr>
              <a:t>Billing</a:t>
            </a:r>
            <a:r>
              <a:rPr kumimoji="0" lang="zh-CN" altLang="en-US"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 </a:t>
            </a: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Plan</a:t>
            </a:r>
            <a:r>
              <a:rPr kumimoji="0" lang="zh-CN" altLang="en-US"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 </a:t>
            </a: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Item</a:t>
            </a:r>
            <a:endParaRPr kumimoji="0" lang="de-DE" sz="900" b="0" i="0" u="none" strike="noStrike" kern="0" cap="none" spc="0" normalizeH="0" baseline="0" noProof="0">
              <a:ln>
                <a:noFill/>
              </a:ln>
              <a:solidFill>
                <a:sysClr val="windowText" lastClr="000000"/>
              </a:solidFill>
              <a:effectLst/>
              <a:uLnTx/>
              <a:uFillTx/>
              <a:latin typeface="Calibri"/>
              <a:ea typeface="+mn-ea"/>
              <a:cs typeface="+mn-cs"/>
            </a:endParaRPr>
          </a:p>
        </p:txBody>
      </p:sp>
      <p:cxnSp>
        <p:nvCxnSpPr>
          <p:cNvPr id="46" name="Straight Arrow Connector 58">
            <a:extLst>
              <a:ext uri="{FF2B5EF4-FFF2-40B4-BE49-F238E27FC236}">
                <a16:creationId xmlns:a16="http://schemas.microsoft.com/office/drawing/2014/main" id="{DA99B96A-B3EB-4793-8FDC-775514595D50}"/>
              </a:ext>
            </a:extLst>
          </p:cNvPr>
          <p:cNvCxnSpPr>
            <a:cxnSpLocks noChangeShapeType="1"/>
            <a:stCxn id="43" idx="2"/>
            <a:endCxn id="44" idx="0"/>
          </p:cNvCxnSpPr>
          <p:nvPr/>
        </p:nvCxnSpPr>
        <p:spPr bwMode="auto">
          <a:xfrm flipH="1">
            <a:off x="6473780" y="1621268"/>
            <a:ext cx="1" cy="188165"/>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47" name="Straight Arrow Connector 58">
            <a:extLst>
              <a:ext uri="{FF2B5EF4-FFF2-40B4-BE49-F238E27FC236}">
                <a16:creationId xmlns:a16="http://schemas.microsoft.com/office/drawing/2014/main" id="{89457803-7436-45A1-96E9-06C79935570F}"/>
              </a:ext>
            </a:extLst>
          </p:cNvPr>
          <p:cNvCxnSpPr>
            <a:cxnSpLocks noChangeShapeType="1"/>
            <a:stCxn id="44" idx="2"/>
            <a:endCxn id="45" idx="0"/>
          </p:cNvCxnSpPr>
          <p:nvPr/>
        </p:nvCxnSpPr>
        <p:spPr bwMode="auto">
          <a:xfrm flipH="1">
            <a:off x="6473440" y="2279389"/>
            <a:ext cx="340" cy="180262"/>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48" name="Straight Arrow Connector 58">
            <a:extLst>
              <a:ext uri="{FF2B5EF4-FFF2-40B4-BE49-F238E27FC236}">
                <a16:creationId xmlns:a16="http://schemas.microsoft.com/office/drawing/2014/main" id="{93C61BC1-8A99-48BE-BBF1-161C3C50E5DB}"/>
              </a:ext>
            </a:extLst>
          </p:cNvPr>
          <p:cNvCxnSpPr>
            <a:cxnSpLocks noChangeShapeType="1"/>
            <a:stCxn id="45" idx="3"/>
            <a:endCxn id="36" idx="1"/>
          </p:cNvCxnSpPr>
          <p:nvPr/>
        </p:nvCxnSpPr>
        <p:spPr bwMode="auto">
          <a:xfrm flipV="1">
            <a:off x="6905015" y="1402925"/>
            <a:ext cx="298232" cy="1324232"/>
          </a:xfrm>
          <a:prstGeom prst="bentConnector3">
            <a:avLst>
              <a:gd name="adj1" fmla="val 50000"/>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49" name="Flowchart: Document 62">
            <a:extLst>
              <a:ext uri="{FF2B5EF4-FFF2-40B4-BE49-F238E27FC236}">
                <a16:creationId xmlns:a16="http://schemas.microsoft.com/office/drawing/2014/main" id="{FB6E7E17-006F-48B6-92F8-6837D29B67BF}"/>
              </a:ext>
            </a:extLst>
          </p:cNvPr>
          <p:cNvSpPr/>
          <p:nvPr/>
        </p:nvSpPr>
        <p:spPr>
          <a:xfrm>
            <a:off x="4523627" y="1143044"/>
            <a:ext cx="863150" cy="503225"/>
          </a:xfrm>
          <a:prstGeom prst="flowChartDocument">
            <a:avLst/>
          </a:prstGeom>
          <a:solidFill>
            <a:schemeClr val="bg2">
              <a:lumMod val="20000"/>
              <a:lumOff val="80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Solution</a:t>
            </a:r>
            <a:r>
              <a:rPr kumimoji="0" lang="zh-CN" altLang="en-US"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 </a:t>
            </a: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Order</a:t>
            </a:r>
            <a:endParaRPr kumimoji="0" lang="de-DE" sz="9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50" name="Flowchart: Document 62">
            <a:extLst>
              <a:ext uri="{FF2B5EF4-FFF2-40B4-BE49-F238E27FC236}">
                <a16:creationId xmlns:a16="http://schemas.microsoft.com/office/drawing/2014/main" id="{452825AD-B526-4437-8D94-DF1317DB5E69}"/>
              </a:ext>
            </a:extLst>
          </p:cNvPr>
          <p:cNvSpPr/>
          <p:nvPr/>
        </p:nvSpPr>
        <p:spPr>
          <a:xfrm>
            <a:off x="4523626" y="1801165"/>
            <a:ext cx="863150" cy="503225"/>
          </a:xfrm>
          <a:prstGeom prst="flowChartDocument">
            <a:avLst/>
          </a:prstGeom>
          <a:solidFill>
            <a:schemeClr val="bg2">
              <a:lumMod val="20000"/>
              <a:lumOff val="80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Subscription</a:t>
            </a:r>
            <a:r>
              <a:rPr kumimoji="0" lang="zh-CN" altLang="en-US"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 </a:t>
            </a:r>
            <a:r>
              <a:rPr kumimoji="0" lang="en-US" altLang="zh-CN" sz="900" b="0"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Contract</a:t>
            </a:r>
            <a:endParaRPr kumimoji="0" lang="de-DE" sz="900" b="0" i="0" u="none" strike="noStrike" kern="0" cap="none" spc="0" normalizeH="0" baseline="0" noProof="0">
              <a:ln>
                <a:noFill/>
              </a:ln>
              <a:solidFill>
                <a:sysClr val="windowText" lastClr="000000"/>
              </a:solidFill>
              <a:effectLst/>
              <a:uLnTx/>
              <a:uFillTx/>
              <a:latin typeface="Calibri"/>
              <a:ea typeface="+mn-ea"/>
              <a:cs typeface="+mn-cs"/>
            </a:endParaRPr>
          </a:p>
        </p:txBody>
      </p:sp>
      <p:cxnSp>
        <p:nvCxnSpPr>
          <p:cNvPr id="51" name="Straight Arrow Connector 58">
            <a:extLst>
              <a:ext uri="{FF2B5EF4-FFF2-40B4-BE49-F238E27FC236}">
                <a16:creationId xmlns:a16="http://schemas.microsoft.com/office/drawing/2014/main" id="{482588D8-A5E8-477D-96DA-9161FBEE80DA}"/>
              </a:ext>
            </a:extLst>
          </p:cNvPr>
          <p:cNvCxnSpPr>
            <a:cxnSpLocks noChangeShapeType="1"/>
            <a:stCxn id="49" idx="2"/>
            <a:endCxn id="50" idx="0"/>
          </p:cNvCxnSpPr>
          <p:nvPr/>
        </p:nvCxnSpPr>
        <p:spPr bwMode="auto">
          <a:xfrm flipH="1">
            <a:off x="4955201" y="1613000"/>
            <a:ext cx="1" cy="188165"/>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52" name="Straight Arrow Connector 58">
            <a:extLst>
              <a:ext uri="{FF2B5EF4-FFF2-40B4-BE49-F238E27FC236}">
                <a16:creationId xmlns:a16="http://schemas.microsoft.com/office/drawing/2014/main" id="{B7D3D693-962E-4E10-8351-49D3BD5CC0C9}"/>
              </a:ext>
            </a:extLst>
          </p:cNvPr>
          <p:cNvCxnSpPr>
            <a:cxnSpLocks noChangeShapeType="1"/>
            <a:stCxn id="50" idx="3"/>
            <a:endCxn id="43" idx="1"/>
          </p:cNvCxnSpPr>
          <p:nvPr/>
        </p:nvCxnSpPr>
        <p:spPr bwMode="auto">
          <a:xfrm flipV="1">
            <a:off x="5386776" y="1402925"/>
            <a:ext cx="655430" cy="649853"/>
          </a:xfrm>
          <a:prstGeom prst="bentConnector3">
            <a:avLst>
              <a:gd name="adj1" fmla="val 50000"/>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53" name="Rounded Rectangle 54">
            <a:extLst>
              <a:ext uri="{FF2B5EF4-FFF2-40B4-BE49-F238E27FC236}">
                <a16:creationId xmlns:a16="http://schemas.microsoft.com/office/drawing/2014/main" id="{35298083-1CA4-4B3B-A6C4-9FEBC6507FDA}"/>
              </a:ext>
            </a:extLst>
          </p:cNvPr>
          <p:cNvSpPr/>
          <p:nvPr/>
        </p:nvSpPr>
        <p:spPr>
          <a:xfrm>
            <a:off x="9376232" y="2334578"/>
            <a:ext cx="863375" cy="611516"/>
          </a:xfrm>
          <a:prstGeom prst="roundRect">
            <a:avLst/>
          </a:prstGeom>
          <a:solidFill>
            <a:srgbClr val="FFFF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Detail</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Billing</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NO.2201</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Ref.1901</a:t>
            </a:r>
          </a:p>
        </p:txBody>
      </p:sp>
      <p:sp>
        <p:nvSpPr>
          <p:cNvPr id="54" name="Rounded Rectangle 54">
            <a:extLst>
              <a:ext uri="{FF2B5EF4-FFF2-40B4-BE49-F238E27FC236}">
                <a16:creationId xmlns:a16="http://schemas.microsoft.com/office/drawing/2014/main" id="{C05E49C8-D0D5-45FF-A6DB-BBCE53EC5094}"/>
              </a:ext>
            </a:extLst>
          </p:cNvPr>
          <p:cNvSpPr/>
          <p:nvPr/>
        </p:nvSpPr>
        <p:spPr>
          <a:xfrm>
            <a:off x="9372360" y="3163987"/>
            <a:ext cx="863375" cy="506749"/>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Invoicing</a:t>
            </a:r>
          </a:p>
        </p:txBody>
      </p:sp>
      <p:sp>
        <p:nvSpPr>
          <p:cNvPr id="56" name="Flowchart: Document 55">
            <a:extLst>
              <a:ext uri="{FF2B5EF4-FFF2-40B4-BE49-F238E27FC236}">
                <a16:creationId xmlns:a16="http://schemas.microsoft.com/office/drawing/2014/main" id="{82DBC688-66F3-4A8D-A44E-6C77832CBA34}"/>
              </a:ext>
            </a:extLst>
          </p:cNvPr>
          <p:cNvSpPr/>
          <p:nvPr/>
        </p:nvSpPr>
        <p:spPr>
          <a:xfrm>
            <a:off x="9367142" y="4677985"/>
            <a:ext cx="863375" cy="503356"/>
          </a:xfrm>
          <a:prstGeom prst="flowChartDocumen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91"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FI-CA Posting </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Document1</a:t>
            </a:r>
          </a:p>
        </p:txBody>
      </p:sp>
      <p:sp>
        <p:nvSpPr>
          <p:cNvPr id="57" name="Flowchart: Document 62">
            <a:extLst>
              <a:ext uri="{FF2B5EF4-FFF2-40B4-BE49-F238E27FC236}">
                <a16:creationId xmlns:a16="http://schemas.microsoft.com/office/drawing/2014/main" id="{2124FC0A-3E61-4EAA-9995-B624C68D0B2C}"/>
              </a:ext>
            </a:extLst>
          </p:cNvPr>
          <p:cNvSpPr/>
          <p:nvPr/>
        </p:nvSpPr>
        <p:spPr>
          <a:xfrm>
            <a:off x="9376231" y="1538091"/>
            <a:ext cx="868886" cy="491162"/>
          </a:xfrm>
          <a:prstGeom prst="flowChartDocumen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91"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ICO</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Billable Item1</a:t>
            </a:r>
          </a:p>
        </p:txBody>
      </p:sp>
      <p:cxnSp>
        <p:nvCxnSpPr>
          <p:cNvPr id="59" name="Straight Arrow Connector 58">
            <a:extLst>
              <a:ext uri="{FF2B5EF4-FFF2-40B4-BE49-F238E27FC236}">
                <a16:creationId xmlns:a16="http://schemas.microsoft.com/office/drawing/2014/main" id="{982CACA0-B04B-43CB-AFB1-6B96260B1E8D}"/>
              </a:ext>
            </a:extLst>
          </p:cNvPr>
          <p:cNvCxnSpPr>
            <a:cxnSpLocks noChangeShapeType="1"/>
            <a:stCxn id="57" idx="2"/>
            <a:endCxn id="53" idx="0"/>
          </p:cNvCxnSpPr>
          <p:nvPr/>
        </p:nvCxnSpPr>
        <p:spPr bwMode="auto">
          <a:xfrm flipH="1">
            <a:off x="9807920" y="1996782"/>
            <a:ext cx="2754" cy="337796"/>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61" name="Flowchart: Document 62">
            <a:extLst>
              <a:ext uri="{FF2B5EF4-FFF2-40B4-BE49-F238E27FC236}">
                <a16:creationId xmlns:a16="http://schemas.microsoft.com/office/drawing/2014/main" id="{03976AC1-A1A7-4658-A3FB-22CC656373A5}"/>
              </a:ext>
            </a:extLst>
          </p:cNvPr>
          <p:cNvSpPr/>
          <p:nvPr/>
        </p:nvSpPr>
        <p:spPr>
          <a:xfrm>
            <a:off x="9373102" y="3948618"/>
            <a:ext cx="863375" cy="503356"/>
          </a:xfrm>
          <a:prstGeom prst="flowChartDocumen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91"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Intercompany </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Invoice</a:t>
            </a:r>
          </a:p>
        </p:txBody>
      </p:sp>
      <p:cxnSp>
        <p:nvCxnSpPr>
          <p:cNvPr id="62" name="Straight Arrow Connector 61">
            <a:extLst>
              <a:ext uri="{FF2B5EF4-FFF2-40B4-BE49-F238E27FC236}">
                <a16:creationId xmlns:a16="http://schemas.microsoft.com/office/drawing/2014/main" id="{C83081AB-DA56-4F30-BBF5-8AC9D2CB2549}"/>
              </a:ext>
            </a:extLst>
          </p:cNvPr>
          <p:cNvCxnSpPr>
            <a:cxnSpLocks noChangeShapeType="1"/>
            <a:stCxn id="37" idx="1"/>
            <a:endCxn id="57" idx="3"/>
          </p:cNvCxnSpPr>
          <p:nvPr/>
        </p:nvCxnSpPr>
        <p:spPr bwMode="auto">
          <a:xfrm flipH="1" flipV="1">
            <a:off x="10245117" y="1783672"/>
            <a:ext cx="584186" cy="4023"/>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63" name="Straight Arrow Connector 58">
            <a:extLst>
              <a:ext uri="{FF2B5EF4-FFF2-40B4-BE49-F238E27FC236}">
                <a16:creationId xmlns:a16="http://schemas.microsoft.com/office/drawing/2014/main" id="{7536436A-0030-4EB6-B979-CD5DF9D0797A}"/>
              </a:ext>
            </a:extLst>
          </p:cNvPr>
          <p:cNvCxnSpPr>
            <a:cxnSpLocks noChangeShapeType="1"/>
            <a:stCxn id="28" idx="1"/>
            <a:endCxn id="33" idx="1"/>
          </p:cNvCxnSpPr>
          <p:nvPr/>
        </p:nvCxnSpPr>
        <p:spPr bwMode="auto">
          <a:xfrm rot="10800000" flipH="1" flipV="1">
            <a:off x="10834138" y="3392225"/>
            <a:ext cx="35309" cy="1515951"/>
          </a:xfrm>
          <a:prstGeom prst="bentConnector3">
            <a:avLst>
              <a:gd name="adj1" fmla="val -647262"/>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64" name="Rectangle 51">
            <a:extLst>
              <a:ext uri="{FF2B5EF4-FFF2-40B4-BE49-F238E27FC236}">
                <a16:creationId xmlns:a16="http://schemas.microsoft.com/office/drawing/2014/main" id="{51641133-FDE7-48B5-A705-6D43E60879AC}"/>
              </a:ext>
            </a:extLst>
          </p:cNvPr>
          <p:cNvSpPr/>
          <p:nvPr/>
        </p:nvSpPr>
        <p:spPr>
          <a:xfrm>
            <a:off x="91205" y="5346826"/>
            <a:ext cx="11814225" cy="765014"/>
          </a:xfrm>
          <a:prstGeom prst="rect">
            <a:avLst/>
          </a:prstGeom>
          <a:solidFill>
            <a:schemeClr val="accent3">
              <a:lumMod val="40000"/>
              <a:lumOff val="60000"/>
              <a:alpha val="45882"/>
            </a:schemeClr>
          </a:solidFill>
          <a:ln w="25400" cap="flat" cmpd="sng" algn="ctr">
            <a:solidFill>
              <a:schemeClr val="bg1"/>
            </a:solidFill>
            <a:prstDash val="solid"/>
          </a:ln>
          <a:effectLst/>
        </p:spPr>
        <p:txBody>
          <a:bodyPr anchor="t"/>
          <a:lstStyle/>
          <a:p>
            <a:pPr marL="0" marR="0" lvl="0" indent="0" algn="ctr" defTabSz="1088449" rtl="0" eaLnBrk="1" fontAlgn="auto" latinLnBrk="0" hangingPunct="1">
              <a:lnSpc>
                <a:spcPct val="100000"/>
              </a:lnSpc>
              <a:spcBef>
                <a:spcPts val="0"/>
              </a:spcBef>
              <a:spcAft>
                <a:spcPts val="0"/>
              </a:spcAft>
              <a:buClrTx/>
              <a:buSzTx/>
              <a:buFontTx/>
              <a:buNone/>
              <a:tabLst/>
              <a:defRPr/>
            </a:pPr>
            <a:endParaRPr kumimoji="0" lang="de-DE" sz="1000" b="0" i="0" u="none" strike="noStrike" kern="0" cap="none" spc="0" normalizeH="0" baseline="0" noProof="0">
              <a:ln>
                <a:noFill/>
              </a:ln>
              <a:solidFill>
                <a:srgbClr val="FFC000"/>
              </a:solidFill>
              <a:effectLst/>
              <a:uLnTx/>
              <a:uFillTx/>
              <a:latin typeface="72 Black" panose="020B0A04030603020204" pitchFamily="34" charset="0"/>
              <a:ea typeface="+mn-ea"/>
              <a:cs typeface="72 Black" panose="020B0A04030603020204" pitchFamily="34" charset="0"/>
            </a:endParaRPr>
          </a:p>
        </p:txBody>
      </p:sp>
      <p:sp>
        <p:nvSpPr>
          <p:cNvPr id="65" name="Rounded Rectangle 54">
            <a:extLst>
              <a:ext uri="{FF2B5EF4-FFF2-40B4-BE49-F238E27FC236}">
                <a16:creationId xmlns:a16="http://schemas.microsoft.com/office/drawing/2014/main" id="{E392BA37-FB1F-45C2-A570-4CAB19BA4ACE}"/>
              </a:ext>
            </a:extLst>
          </p:cNvPr>
          <p:cNvSpPr/>
          <p:nvPr/>
        </p:nvSpPr>
        <p:spPr>
          <a:xfrm>
            <a:off x="9385069" y="5448184"/>
            <a:ext cx="863375" cy="506749"/>
          </a:xfrm>
          <a:prstGeom prst="roundRect">
            <a:avLst/>
          </a:prstGeom>
          <a:solidFill>
            <a:schemeClr val="bg1">
              <a:lumMod val="85000"/>
            </a:schemeClr>
          </a:solidFill>
          <a:ln w="9525" cap="flat" cmpd="sng" algn="ctr">
            <a:no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FI-AR/FI-GL Posting</a:t>
            </a:r>
          </a:p>
        </p:txBody>
      </p:sp>
      <p:cxnSp>
        <p:nvCxnSpPr>
          <p:cNvPr id="67" name="Straight Arrow Connector 58">
            <a:extLst>
              <a:ext uri="{FF2B5EF4-FFF2-40B4-BE49-F238E27FC236}">
                <a16:creationId xmlns:a16="http://schemas.microsoft.com/office/drawing/2014/main" id="{1E4E7AC3-A523-40AC-BB87-9C42E624685B}"/>
              </a:ext>
            </a:extLst>
          </p:cNvPr>
          <p:cNvCxnSpPr>
            <a:cxnSpLocks noChangeShapeType="1"/>
            <a:stCxn id="56" idx="2"/>
          </p:cNvCxnSpPr>
          <p:nvPr/>
        </p:nvCxnSpPr>
        <p:spPr bwMode="auto">
          <a:xfrm rot="5400000">
            <a:off x="9650164" y="5295171"/>
            <a:ext cx="295772" cy="1558"/>
          </a:xfrm>
          <a:prstGeom prst="bentConnector3">
            <a:avLst>
              <a:gd name="adj1" fmla="val 50000"/>
            </a:avLst>
          </a:prstGeom>
          <a:noFill/>
          <a:ln w="19050" algn="ctr">
            <a:solidFill>
              <a:schemeClr val="tx1">
                <a:lumMod val="50000"/>
                <a:lumOff val="50000"/>
              </a:schemeClr>
            </a:solidFill>
            <a:round/>
            <a:headEnd/>
            <a:tailEnd type="arrow" w="med" len="med"/>
          </a:ln>
          <a:extLst>
            <a:ext uri="{909E8E84-426E-40DD-AFC4-6F175D3DCCD1}">
              <a14:hiddenFill xmlns:a14="http://schemas.microsoft.com/office/drawing/2010/main">
                <a:noFill/>
              </a14:hiddenFill>
            </a:ext>
          </a:extLst>
        </p:spPr>
      </p:cxnSp>
      <p:cxnSp>
        <p:nvCxnSpPr>
          <p:cNvPr id="68" name="Straight Arrow Connector 58">
            <a:extLst>
              <a:ext uri="{FF2B5EF4-FFF2-40B4-BE49-F238E27FC236}">
                <a16:creationId xmlns:a16="http://schemas.microsoft.com/office/drawing/2014/main" id="{C8EEB695-AABC-4ED8-8E14-0EAEDE06ADAD}"/>
              </a:ext>
            </a:extLst>
          </p:cNvPr>
          <p:cNvCxnSpPr>
            <a:cxnSpLocks noChangeShapeType="1"/>
            <a:stCxn id="33" idx="2"/>
            <a:endCxn id="65" idx="3"/>
          </p:cNvCxnSpPr>
          <p:nvPr/>
        </p:nvCxnSpPr>
        <p:spPr bwMode="auto">
          <a:xfrm rot="5400000">
            <a:off x="10487214" y="4887750"/>
            <a:ext cx="575039" cy="1052578"/>
          </a:xfrm>
          <a:prstGeom prst="bentConnector2">
            <a:avLst/>
          </a:prstGeom>
          <a:noFill/>
          <a:ln w="19050" algn="ctr">
            <a:solidFill>
              <a:schemeClr val="tx1">
                <a:lumMod val="50000"/>
                <a:lumOff val="50000"/>
              </a:schemeClr>
            </a:solidFill>
            <a:round/>
            <a:headEnd/>
            <a:tailEnd type="arrow" w="med" len="med"/>
          </a:ln>
          <a:extLst>
            <a:ext uri="{909E8E84-426E-40DD-AFC4-6F175D3DCCD1}">
              <a14:hiddenFill xmlns:a14="http://schemas.microsoft.com/office/drawing/2010/main">
                <a:noFill/>
              </a14:hiddenFill>
            </a:ext>
          </a:extLst>
        </p:spPr>
      </p:cxnSp>
      <p:sp>
        <p:nvSpPr>
          <p:cNvPr id="6" name="Rounded Rectangle 155">
            <a:extLst>
              <a:ext uri="{FF2B5EF4-FFF2-40B4-BE49-F238E27FC236}">
                <a16:creationId xmlns:a16="http://schemas.microsoft.com/office/drawing/2014/main" id="{D0454E7A-29A7-7A09-4A38-D5F25335EE00}"/>
              </a:ext>
            </a:extLst>
          </p:cNvPr>
          <p:cNvSpPr/>
          <p:nvPr/>
        </p:nvSpPr>
        <p:spPr bwMode="gray">
          <a:xfrm>
            <a:off x="95801" y="420313"/>
            <a:ext cx="2694328" cy="312909"/>
          </a:xfrm>
          <a:prstGeom prst="rect">
            <a:avLst/>
          </a:prstGeom>
          <a:solidFill>
            <a:schemeClr val="accent1">
              <a:lumMod val="40000"/>
              <a:lumOff val="60000"/>
            </a:schemeClr>
          </a:solidFill>
          <a:ln w="3175" cap="flat" cmpd="sng" algn="ctr">
            <a:no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lIns="89954" tIns="35982" rIns="89954" bIns="71962" rtlCol="0" anchor="t" anchorCtr="0"/>
          <a:lstStyle/>
          <a:p>
            <a:pPr marL="0" marR="0" lvl="0" indent="0" algn="ctr" defTabSz="913852" rtl="0" eaLnBrk="1" fontAlgn="base" latinLnBrk="0" hangingPunct="1">
              <a:lnSpc>
                <a:spcPct val="100000"/>
              </a:lnSpc>
              <a:spcBef>
                <a:spcPts val="0"/>
              </a:spcBef>
              <a:spcAft>
                <a:spcPct val="0"/>
              </a:spcAft>
              <a:buClr>
                <a:srgbClr val="F0AB00"/>
              </a:buClr>
              <a:buSzPct val="80000"/>
              <a:buFontTx/>
              <a:buNone/>
              <a:tabLst/>
              <a:defRPr/>
            </a:pPr>
            <a:r>
              <a:rPr kumimoji="0" lang="en-US"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C</a:t>
            </a:r>
            <a:r>
              <a:rPr kumimoji="0" lang="en-US" altLang="zh-CN"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ustomer</a:t>
            </a:r>
            <a:endParaRPr kumimoji="0" lang="en-US"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endParaRPr>
          </a:p>
        </p:txBody>
      </p:sp>
      <p:cxnSp>
        <p:nvCxnSpPr>
          <p:cNvPr id="10" name="Straight Arrow Connector 9">
            <a:extLst>
              <a:ext uri="{FF2B5EF4-FFF2-40B4-BE49-F238E27FC236}">
                <a16:creationId xmlns:a16="http://schemas.microsoft.com/office/drawing/2014/main" id="{E7D6210C-354E-E906-FA38-CFCD0D9B10DA}"/>
              </a:ext>
            </a:extLst>
          </p:cNvPr>
          <p:cNvCxnSpPr>
            <a:cxnSpLocks/>
          </p:cNvCxnSpPr>
          <p:nvPr/>
        </p:nvCxnSpPr>
        <p:spPr>
          <a:xfrm>
            <a:off x="91205" y="6304776"/>
            <a:ext cx="11814225" cy="15873"/>
          </a:xfrm>
          <a:prstGeom prst="straightConnector1">
            <a:avLst/>
          </a:prstGeom>
          <a:ln w="254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83" name="Rounded Rectangle 54">
            <a:extLst>
              <a:ext uri="{FF2B5EF4-FFF2-40B4-BE49-F238E27FC236}">
                <a16:creationId xmlns:a16="http://schemas.microsoft.com/office/drawing/2014/main" id="{60E050EB-1A1A-9AE9-9857-264F7D617BE0}"/>
              </a:ext>
            </a:extLst>
          </p:cNvPr>
          <p:cNvSpPr/>
          <p:nvPr/>
        </p:nvSpPr>
        <p:spPr>
          <a:xfrm>
            <a:off x="219561" y="1128193"/>
            <a:ext cx="863150" cy="535011"/>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900" b="1" i="0" u="none" strike="noStrike" kern="0" cap="none" spc="0" normalizeH="0" baseline="0" noProof="0">
                <a:ln>
                  <a:noFill/>
                </a:ln>
                <a:solidFill>
                  <a:sysClr val="windowText" lastClr="000000"/>
                </a:solidFill>
                <a:effectLst/>
                <a:uLnTx/>
                <a:uFillTx/>
                <a:latin typeface="Calibri"/>
                <a:ea typeface="黑体" panose="02010609060101010101" pitchFamily="49" charset="-122"/>
                <a:cs typeface="+mn-cs"/>
              </a:rPr>
              <a:t>START</a:t>
            </a:r>
            <a:endParaRPr kumimoji="0" lang="de-DE" sz="900" b="1"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84" name="Rounded Rectangle 54">
            <a:extLst>
              <a:ext uri="{FF2B5EF4-FFF2-40B4-BE49-F238E27FC236}">
                <a16:creationId xmlns:a16="http://schemas.microsoft.com/office/drawing/2014/main" id="{29CF2A9C-9904-3609-4B24-5F2C40AAF55E}"/>
              </a:ext>
            </a:extLst>
          </p:cNvPr>
          <p:cNvSpPr/>
          <p:nvPr/>
        </p:nvSpPr>
        <p:spPr>
          <a:xfrm>
            <a:off x="219561" y="1883030"/>
            <a:ext cx="863150" cy="503225"/>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1" i="0" u="none" strike="noStrike" kern="0" cap="none" spc="0" normalizeH="0" baseline="0" noProof="0">
                <a:ln>
                  <a:noFill/>
                </a:ln>
                <a:solidFill>
                  <a:sysClr val="windowText" lastClr="000000"/>
                </a:solidFill>
                <a:effectLst/>
                <a:uLnTx/>
                <a:uFillTx/>
                <a:latin typeface="Calibri"/>
                <a:ea typeface="+mn-ea"/>
                <a:cs typeface="+mn-cs"/>
              </a:rPr>
              <a:t>Customer</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1" i="0" u="none" strike="noStrike" kern="0" cap="none" spc="0" normalizeH="0" baseline="0" noProof="0">
                <a:ln>
                  <a:noFill/>
                </a:ln>
                <a:solidFill>
                  <a:sysClr val="windowText" lastClr="000000"/>
                </a:solidFill>
                <a:effectLst/>
                <a:uLnTx/>
                <a:uFillTx/>
                <a:latin typeface="Calibri"/>
                <a:ea typeface="+mn-ea"/>
                <a:cs typeface="+mn-cs"/>
              </a:rPr>
              <a:t>Acceptance</a:t>
            </a:r>
          </a:p>
        </p:txBody>
      </p:sp>
      <p:cxnSp>
        <p:nvCxnSpPr>
          <p:cNvPr id="85" name="Straight Arrow Connector 58">
            <a:extLst>
              <a:ext uri="{FF2B5EF4-FFF2-40B4-BE49-F238E27FC236}">
                <a16:creationId xmlns:a16="http://schemas.microsoft.com/office/drawing/2014/main" id="{D6203BFB-EF36-10C6-EC24-F8E558DFEACE}"/>
              </a:ext>
            </a:extLst>
          </p:cNvPr>
          <p:cNvCxnSpPr>
            <a:cxnSpLocks noChangeShapeType="1"/>
            <a:stCxn id="83" idx="2"/>
            <a:endCxn id="84" idx="0"/>
          </p:cNvCxnSpPr>
          <p:nvPr/>
        </p:nvCxnSpPr>
        <p:spPr bwMode="auto">
          <a:xfrm>
            <a:off x="651136" y="1663204"/>
            <a:ext cx="0" cy="219826"/>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86" name="Rounded Rectangle 54">
            <a:extLst>
              <a:ext uri="{FF2B5EF4-FFF2-40B4-BE49-F238E27FC236}">
                <a16:creationId xmlns:a16="http://schemas.microsoft.com/office/drawing/2014/main" id="{7394C97D-7169-691B-34CD-73C24A2AA47F}"/>
              </a:ext>
            </a:extLst>
          </p:cNvPr>
          <p:cNvSpPr/>
          <p:nvPr/>
        </p:nvSpPr>
        <p:spPr>
          <a:xfrm>
            <a:off x="3070938" y="2636029"/>
            <a:ext cx="880936" cy="549462"/>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1" i="0" u="none" strike="noStrike" kern="0" cap="none" spc="0" normalizeH="0" baseline="0" noProof="0">
                <a:ln>
                  <a:noFill/>
                </a:ln>
                <a:solidFill>
                  <a:sysClr val="windowText" lastClr="000000"/>
                </a:solidFill>
                <a:effectLst/>
                <a:uLnTx/>
                <a:uFillTx/>
                <a:latin typeface="Calibri"/>
                <a:ea typeface="+mn-ea"/>
                <a:cs typeface="+mn-cs"/>
              </a:rPr>
              <a:t>Suscription Payment Schedule</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1" i="0" u="none" strike="noStrike" kern="0" cap="none" spc="0" normalizeH="0" baseline="0" noProof="0">
                <a:ln>
                  <a:noFill/>
                </a:ln>
                <a:solidFill>
                  <a:sysClr val="windowText" lastClr="000000"/>
                </a:solidFill>
                <a:effectLst/>
                <a:uLnTx/>
                <a:uFillTx/>
                <a:latin typeface="Calibri"/>
                <a:ea typeface="+mn-ea"/>
                <a:cs typeface="+mn-cs"/>
              </a:rPr>
              <a:t>Sign off</a:t>
            </a:r>
          </a:p>
        </p:txBody>
      </p:sp>
      <p:sp>
        <p:nvSpPr>
          <p:cNvPr id="88" name="Rounded Rectangle 54">
            <a:extLst>
              <a:ext uri="{FF2B5EF4-FFF2-40B4-BE49-F238E27FC236}">
                <a16:creationId xmlns:a16="http://schemas.microsoft.com/office/drawing/2014/main" id="{41F4B9CD-BF0E-19CA-603B-C3FCD733B3F4}"/>
              </a:ext>
            </a:extLst>
          </p:cNvPr>
          <p:cNvSpPr/>
          <p:nvPr/>
        </p:nvSpPr>
        <p:spPr>
          <a:xfrm>
            <a:off x="3088724" y="3476775"/>
            <a:ext cx="863150" cy="503225"/>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1" i="0" u="none" strike="noStrike" kern="0" cap="none" spc="0" normalizeH="0" baseline="0" noProof="0">
                <a:ln>
                  <a:noFill/>
                </a:ln>
                <a:solidFill>
                  <a:sysClr val="windowText" lastClr="000000"/>
                </a:solidFill>
                <a:effectLst/>
                <a:uLnTx/>
                <a:uFillTx/>
                <a:latin typeface="Calibri"/>
                <a:ea typeface="+mn-ea"/>
                <a:cs typeface="+mn-cs"/>
              </a:rPr>
              <a:t>A</a:t>
            </a:r>
            <a:r>
              <a:rPr kumimoji="0" lang="en-US" altLang="zh-CN" sz="900" b="1" i="0" u="none" strike="noStrike" kern="0" cap="none" spc="0" normalizeH="0" baseline="0" noProof="0">
                <a:ln>
                  <a:noFill/>
                </a:ln>
                <a:solidFill>
                  <a:sysClr val="windowText" lastClr="000000"/>
                </a:solidFill>
                <a:effectLst/>
                <a:uLnTx/>
                <a:uFillTx/>
                <a:latin typeface="Calibri"/>
                <a:ea typeface="宋体" panose="02010600030101010101" pitchFamily="2" charset="-122"/>
                <a:cs typeface="+mn-cs"/>
              </a:rPr>
              <a:t>sset  Activation</a:t>
            </a:r>
            <a:endParaRPr kumimoji="0" lang="de-DE" sz="900" b="1" i="0" u="none" strike="noStrike" kern="0" cap="none" spc="0" normalizeH="0" baseline="0" noProof="0">
              <a:ln>
                <a:noFill/>
              </a:ln>
              <a:solidFill>
                <a:sysClr val="windowText" lastClr="000000"/>
              </a:solidFill>
              <a:effectLst/>
              <a:uLnTx/>
              <a:uFillTx/>
              <a:latin typeface="Calibri"/>
              <a:ea typeface="+mn-ea"/>
              <a:cs typeface="+mn-cs"/>
            </a:endParaRPr>
          </a:p>
        </p:txBody>
      </p:sp>
      <p:cxnSp>
        <p:nvCxnSpPr>
          <p:cNvPr id="91" name="直接箭头连接符 90">
            <a:extLst>
              <a:ext uri="{FF2B5EF4-FFF2-40B4-BE49-F238E27FC236}">
                <a16:creationId xmlns:a16="http://schemas.microsoft.com/office/drawing/2014/main" id="{B0E5CF66-E7A8-D2F1-A3EB-D862E4F1B34D}"/>
              </a:ext>
            </a:extLst>
          </p:cNvPr>
          <p:cNvCxnSpPr>
            <a:cxnSpLocks/>
            <a:stCxn id="88" idx="2"/>
            <a:endCxn id="96" idx="0"/>
          </p:cNvCxnSpPr>
          <p:nvPr/>
        </p:nvCxnSpPr>
        <p:spPr>
          <a:xfrm>
            <a:off x="3520299" y="3980000"/>
            <a:ext cx="0" cy="2358066"/>
          </a:xfrm>
          <a:prstGeom prst="straightConnector1">
            <a:avLst/>
          </a:prstGeom>
          <a:ln w="25400">
            <a:solidFill>
              <a:srgbClr val="FF0000"/>
            </a:solidFill>
            <a:round/>
            <a:headEnd type="oval"/>
            <a:tailEnd type="triangle"/>
          </a:ln>
        </p:spPr>
        <p:style>
          <a:lnRef idx="3">
            <a:schemeClr val="accent1"/>
          </a:lnRef>
          <a:fillRef idx="0">
            <a:schemeClr val="accent1"/>
          </a:fillRef>
          <a:effectRef idx="2">
            <a:schemeClr val="accent1"/>
          </a:effectRef>
          <a:fontRef idx="minor">
            <a:schemeClr val="tx1"/>
          </a:fontRef>
        </p:style>
      </p:cxnSp>
      <p:sp>
        <p:nvSpPr>
          <p:cNvPr id="95" name="TextBox 126">
            <a:extLst>
              <a:ext uri="{FF2B5EF4-FFF2-40B4-BE49-F238E27FC236}">
                <a16:creationId xmlns:a16="http://schemas.microsoft.com/office/drawing/2014/main" id="{03E2F4F8-FFE1-35F2-C39C-E71DBB6E287A}"/>
              </a:ext>
            </a:extLst>
          </p:cNvPr>
          <p:cNvSpPr txBox="1"/>
          <p:nvPr/>
        </p:nvSpPr>
        <p:spPr>
          <a:xfrm>
            <a:off x="-93882" y="6332193"/>
            <a:ext cx="1515979" cy="276999"/>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Mar 4</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-Mar 15</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sp>
        <p:nvSpPr>
          <p:cNvPr id="96" name="TextBox 126">
            <a:extLst>
              <a:ext uri="{FF2B5EF4-FFF2-40B4-BE49-F238E27FC236}">
                <a16:creationId xmlns:a16="http://schemas.microsoft.com/office/drawing/2014/main" id="{6553D59D-FD6F-90C3-87E7-29AEC60EE42F}"/>
              </a:ext>
            </a:extLst>
          </p:cNvPr>
          <p:cNvSpPr txBox="1"/>
          <p:nvPr/>
        </p:nvSpPr>
        <p:spPr>
          <a:xfrm>
            <a:off x="3033030" y="6338066"/>
            <a:ext cx="974538" cy="276999"/>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25</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Mar </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cxnSp>
        <p:nvCxnSpPr>
          <p:cNvPr id="97" name="Straight Arrow Connector 58">
            <a:extLst>
              <a:ext uri="{FF2B5EF4-FFF2-40B4-BE49-F238E27FC236}">
                <a16:creationId xmlns:a16="http://schemas.microsoft.com/office/drawing/2014/main" id="{AAA03F9E-6F2C-657A-34D4-F6AEBC12F0FB}"/>
              </a:ext>
            </a:extLst>
          </p:cNvPr>
          <p:cNvCxnSpPr>
            <a:cxnSpLocks noChangeShapeType="1"/>
            <a:stCxn id="84" idx="2"/>
            <a:endCxn id="106" idx="0"/>
          </p:cNvCxnSpPr>
          <p:nvPr/>
        </p:nvCxnSpPr>
        <p:spPr bwMode="auto">
          <a:xfrm flipH="1">
            <a:off x="649206" y="2386255"/>
            <a:ext cx="1930" cy="259839"/>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106" name="Rounded Rectangle 54">
            <a:extLst>
              <a:ext uri="{FF2B5EF4-FFF2-40B4-BE49-F238E27FC236}">
                <a16:creationId xmlns:a16="http://schemas.microsoft.com/office/drawing/2014/main" id="{963FDB9F-9B24-8533-0BAB-5ADED46E14DB}"/>
              </a:ext>
            </a:extLst>
          </p:cNvPr>
          <p:cNvSpPr/>
          <p:nvPr/>
        </p:nvSpPr>
        <p:spPr>
          <a:xfrm>
            <a:off x="217631" y="2646094"/>
            <a:ext cx="863150" cy="545343"/>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altLang="zh-CN" sz="900" b="1" i="0" u="none" strike="noStrike" kern="0" cap="none" spc="0" normalizeH="0" baseline="0" noProof="0">
                <a:ln>
                  <a:noFill/>
                </a:ln>
                <a:solidFill>
                  <a:sysClr val="windowText" lastClr="000000"/>
                </a:solidFill>
                <a:effectLst/>
                <a:uLnTx/>
                <a:uFillTx/>
                <a:latin typeface="Calibri"/>
                <a:ea typeface="宋体" panose="02010600030101010101" pitchFamily="2" charset="-122"/>
                <a:cs typeface="+mn-cs"/>
              </a:rPr>
              <a:t>Suscription Payment Schedule</a:t>
            </a:r>
          </a:p>
        </p:txBody>
      </p:sp>
      <p:cxnSp>
        <p:nvCxnSpPr>
          <p:cNvPr id="110" name="Straight Arrow Connector 58">
            <a:extLst>
              <a:ext uri="{FF2B5EF4-FFF2-40B4-BE49-F238E27FC236}">
                <a16:creationId xmlns:a16="http://schemas.microsoft.com/office/drawing/2014/main" id="{FF032D94-05A1-A8C1-CC1F-433E6709BA25}"/>
              </a:ext>
            </a:extLst>
          </p:cNvPr>
          <p:cNvCxnSpPr>
            <a:cxnSpLocks noChangeShapeType="1"/>
            <a:stCxn id="106" idx="3"/>
            <a:endCxn id="86" idx="1"/>
          </p:cNvCxnSpPr>
          <p:nvPr/>
        </p:nvCxnSpPr>
        <p:spPr bwMode="auto">
          <a:xfrm flipV="1">
            <a:off x="1080781" y="2910760"/>
            <a:ext cx="1990157" cy="8006"/>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117" name="Straight Arrow Connector 58">
            <a:extLst>
              <a:ext uri="{FF2B5EF4-FFF2-40B4-BE49-F238E27FC236}">
                <a16:creationId xmlns:a16="http://schemas.microsoft.com/office/drawing/2014/main" id="{E3A56135-FF81-BB5A-F277-5A9C6D2D513C}"/>
              </a:ext>
            </a:extLst>
          </p:cNvPr>
          <p:cNvCxnSpPr>
            <a:cxnSpLocks noChangeShapeType="1"/>
            <a:stCxn id="86" idx="2"/>
            <a:endCxn id="88" idx="0"/>
          </p:cNvCxnSpPr>
          <p:nvPr/>
        </p:nvCxnSpPr>
        <p:spPr bwMode="auto">
          <a:xfrm>
            <a:off x="3511406" y="3185491"/>
            <a:ext cx="8893" cy="291284"/>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90" name="直接箭头连接符 89">
            <a:extLst>
              <a:ext uri="{FF2B5EF4-FFF2-40B4-BE49-F238E27FC236}">
                <a16:creationId xmlns:a16="http://schemas.microsoft.com/office/drawing/2014/main" id="{5B2C0142-D3B4-574F-9AD7-1B5D8EFAC5F5}"/>
              </a:ext>
            </a:extLst>
          </p:cNvPr>
          <p:cNvCxnSpPr>
            <a:cxnSpLocks/>
            <a:stCxn id="106" idx="2"/>
            <a:endCxn id="95" idx="0"/>
          </p:cNvCxnSpPr>
          <p:nvPr/>
        </p:nvCxnSpPr>
        <p:spPr>
          <a:xfrm>
            <a:off x="649206" y="3191437"/>
            <a:ext cx="14902" cy="3140756"/>
          </a:xfrm>
          <a:prstGeom prst="straightConnector1">
            <a:avLst/>
          </a:prstGeom>
          <a:ln w="25400">
            <a:solidFill>
              <a:srgbClr val="FF0000"/>
            </a:solidFill>
            <a:headEnd type="oval"/>
            <a:tailEnd type="triangle"/>
          </a:ln>
        </p:spPr>
        <p:style>
          <a:lnRef idx="3">
            <a:schemeClr val="accent1"/>
          </a:lnRef>
          <a:fillRef idx="0">
            <a:schemeClr val="accent1"/>
          </a:fillRef>
          <a:effectRef idx="2">
            <a:schemeClr val="accent1"/>
          </a:effectRef>
          <a:fontRef idx="minor">
            <a:schemeClr val="tx1"/>
          </a:fontRef>
        </p:style>
      </p:cxnSp>
      <p:sp>
        <p:nvSpPr>
          <p:cNvPr id="129" name="Rounded Rectangle 155">
            <a:extLst>
              <a:ext uri="{FF2B5EF4-FFF2-40B4-BE49-F238E27FC236}">
                <a16:creationId xmlns:a16="http://schemas.microsoft.com/office/drawing/2014/main" id="{64F4822B-8BCE-133F-80C6-AD5CE0555F37}"/>
              </a:ext>
            </a:extLst>
          </p:cNvPr>
          <p:cNvSpPr/>
          <p:nvPr/>
        </p:nvSpPr>
        <p:spPr bwMode="gray">
          <a:xfrm>
            <a:off x="2840159" y="420313"/>
            <a:ext cx="1272319" cy="312909"/>
          </a:xfrm>
          <a:prstGeom prst="rect">
            <a:avLst/>
          </a:prstGeom>
          <a:solidFill>
            <a:schemeClr val="accent1">
              <a:lumMod val="40000"/>
              <a:lumOff val="60000"/>
            </a:schemeClr>
          </a:solidFill>
          <a:ln w="3175" cap="flat" cmpd="sng" algn="ctr">
            <a:no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lIns="89954" tIns="35982" rIns="89954" bIns="71962" rtlCol="0" anchor="t" anchorCtr="0"/>
          <a:lstStyle/>
          <a:p>
            <a:pPr marL="0" marR="0" lvl="0" indent="0" algn="ctr" defTabSz="913852" rtl="0" eaLnBrk="1" fontAlgn="base" latinLnBrk="0" hangingPunct="1">
              <a:lnSpc>
                <a:spcPct val="100000"/>
              </a:lnSpc>
              <a:spcBef>
                <a:spcPts val="0"/>
              </a:spcBef>
              <a:spcAft>
                <a:spcPct val="0"/>
              </a:spcAft>
              <a:buClr>
                <a:srgbClr val="F0AB00"/>
              </a:buClr>
              <a:buSzPct val="80000"/>
              <a:buFontTx/>
              <a:buNone/>
              <a:tabLst/>
              <a:defRPr/>
            </a:pPr>
            <a:r>
              <a:rPr kumimoji="0" lang="en-US"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C</a:t>
            </a:r>
            <a:r>
              <a:rPr kumimoji="0" lang="en-US" altLang="zh-CN"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rPr>
              <a:t>ustomer</a:t>
            </a:r>
            <a:endParaRPr kumimoji="0" lang="en-US" sz="1000" b="1" i="0" u="none" strike="noStrike" kern="0" cap="none" spc="0" normalizeH="0" baseline="0" noProof="0">
              <a:ln>
                <a:noFill/>
              </a:ln>
              <a:solidFill>
                <a:srgbClr val="000000"/>
              </a:solidFill>
              <a:effectLst/>
              <a:uLnTx/>
              <a:uFillTx/>
              <a:latin typeface="Calibri" panose="020F0502020204030204" pitchFamily="34" charset="0"/>
              <a:ea typeface="Arial Unicode MS" pitchFamily="34" charset="-128"/>
              <a:cs typeface="Calibri" panose="020F0502020204030204" pitchFamily="34" charset="0"/>
            </a:endParaRPr>
          </a:p>
        </p:txBody>
      </p:sp>
      <p:sp>
        <p:nvSpPr>
          <p:cNvPr id="131" name="Rounded Rectangle 54">
            <a:extLst>
              <a:ext uri="{FF2B5EF4-FFF2-40B4-BE49-F238E27FC236}">
                <a16:creationId xmlns:a16="http://schemas.microsoft.com/office/drawing/2014/main" id="{1B6F1C12-F3CE-57D7-9DCF-A422FB710C33}"/>
              </a:ext>
            </a:extLst>
          </p:cNvPr>
          <p:cNvSpPr/>
          <p:nvPr/>
        </p:nvSpPr>
        <p:spPr>
          <a:xfrm>
            <a:off x="1556790" y="1128194"/>
            <a:ext cx="880936" cy="549462"/>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1" i="0" u="none" strike="noStrike" kern="0" cap="none" spc="0" normalizeH="0" baseline="0" noProof="0">
                <a:ln>
                  <a:noFill/>
                </a:ln>
                <a:solidFill>
                  <a:sysClr val="windowText" lastClr="000000"/>
                </a:solidFill>
                <a:effectLst/>
                <a:uLnTx/>
                <a:uFillTx/>
                <a:latin typeface="Calibri"/>
                <a:ea typeface="+mn-ea"/>
                <a:cs typeface="+mn-cs"/>
              </a:rPr>
              <a:t>Service Request</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1" i="0" u="none" strike="noStrike" kern="0" cap="none" spc="0" normalizeH="0" baseline="0" noProof="0">
                <a:ln>
                  <a:noFill/>
                </a:ln>
                <a:solidFill>
                  <a:sysClr val="windowText" lastClr="000000"/>
                </a:solidFill>
                <a:effectLst/>
                <a:uLnTx/>
                <a:uFillTx/>
                <a:latin typeface="Calibri"/>
                <a:ea typeface="+mn-ea"/>
                <a:cs typeface="+mn-cs"/>
              </a:rPr>
              <a:t>(e.g.early termination)</a:t>
            </a:r>
          </a:p>
        </p:txBody>
      </p:sp>
      <p:cxnSp>
        <p:nvCxnSpPr>
          <p:cNvPr id="132" name="Straight Arrow Connector 58">
            <a:extLst>
              <a:ext uri="{FF2B5EF4-FFF2-40B4-BE49-F238E27FC236}">
                <a16:creationId xmlns:a16="http://schemas.microsoft.com/office/drawing/2014/main" id="{4B03C1BE-114F-F61B-0AA7-82F4902F9EEA}"/>
              </a:ext>
            </a:extLst>
          </p:cNvPr>
          <p:cNvCxnSpPr>
            <a:cxnSpLocks noChangeShapeType="1"/>
            <a:stCxn id="131" idx="2"/>
            <a:endCxn id="135" idx="0"/>
          </p:cNvCxnSpPr>
          <p:nvPr/>
        </p:nvCxnSpPr>
        <p:spPr bwMode="auto">
          <a:xfrm>
            <a:off x="1997258" y="1677656"/>
            <a:ext cx="0" cy="217933"/>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135" name="Rounded Rectangle 54">
            <a:extLst>
              <a:ext uri="{FF2B5EF4-FFF2-40B4-BE49-F238E27FC236}">
                <a16:creationId xmlns:a16="http://schemas.microsoft.com/office/drawing/2014/main" id="{017F739A-C2C3-EEC7-1FB5-A58D66F03859}"/>
              </a:ext>
            </a:extLst>
          </p:cNvPr>
          <p:cNvSpPr/>
          <p:nvPr/>
        </p:nvSpPr>
        <p:spPr>
          <a:xfrm>
            <a:off x="1565683" y="1895589"/>
            <a:ext cx="863150" cy="503225"/>
          </a:xfrm>
          <a:prstGeom prst="roundRec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1" i="0" u="none" strike="noStrike" kern="0" cap="none" spc="0" normalizeH="0" baseline="0" noProof="0">
                <a:ln>
                  <a:noFill/>
                </a:ln>
                <a:solidFill>
                  <a:sysClr val="windowText" lastClr="000000"/>
                </a:solidFill>
                <a:effectLst/>
                <a:uLnTx/>
                <a:uFillTx/>
                <a:latin typeface="Calibri"/>
                <a:ea typeface="+mn-ea"/>
                <a:cs typeface="+mn-cs"/>
              </a:rPr>
              <a:t>A</a:t>
            </a:r>
            <a:r>
              <a:rPr kumimoji="0" lang="en-US" altLang="zh-CN" sz="900" b="1" i="0" u="none" strike="noStrike" kern="0" cap="none" spc="0" normalizeH="0" baseline="0" noProof="0">
                <a:ln>
                  <a:noFill/>
                </a:ln>
                <a:solidFill>
                  <a:sysClr val="windowText" lastClr="000000"/>
                </a:solidFill>
                <a:effectLst/>
                <a:uLnTx/>
                <a:uFillTx/>
                <a:latin typeface="Calibri"/>
                <a:ea typeface="宋体" panose="02010600030101010101" pitchFamily="2" charset="-122"/>
                <a:cs typeface="+mn-cs"/>
              </a:rPr>
              <a:t>sset  Changes</a:t>
            </a:r>
            <a:endParaRPr kumimoji="0" lang="de-DE" sz="900" b="1" i="0" u="none" strike="noStrike" kern="0" cap="none" spc="0" normalizeH="0" baseline="0" noProof="0">
              <a:ln>
                <a:noFill/>
              </a:ln>
              <a:solidFill>
                <a:sysClr val="windowText" lastClr="000000"/>
              </a:solidFill>
              <a:effectLst/>
              <a:uLnTx/>
              <a:uFillTx/>
              <a:latin typeface="Calibri"/>
              <a:ea typeface="+mn-ea"/>
              <a:cs typeface="+mn-cs"/>
            </a:endParaRPr>
          </a:p>
        </p:txBody>
      </p:sp>
      <p:cxnSp>
        <p:nvCxnSpPr>
          <p:cNvPr id="140" name="Straight Arrow Connector 58">
            <a:extLst>
              <a:ext uri="{FF2B5EF4-FFF2-40B4-BE49-F238E27FC236}">
                <a16:creationId xmlns:a16="http://schemas.microsoft.com/office/drawing/2014/main" id="{ED1966B1-CCD8-0168-A608-00E3B247B111}"/>
              </a:ext>
            </a:extLst>
          </p:cNvPr>
          <p:cNvCxnSpPr>
            <a:cxnSpLocks noChangeShapeType="1"/>
            <a:stCxn id="135" idx="3"/>
            <a:endCxn id="49" idx="1"/>
          </p:cNvCxnSpPr>
          <p:nvPr/>
        </p:nvCxnSpPr>
        <p:spPr bwMode="auto">
          <a:xfrm flipV="1">
            <a:off x="2428833" y="1394657"/>
            <a:ext cx="2094794" cy="752545"/>
          </a:xfrm>
          <a:prstGeom prst="bentConnector3">
            <a:avLst>
              <a:gd name="adj1" fmla="val 50000"/>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157" name="TextBox 126">
            <a:extLst>
              <a:ext uri="{FF2B5EF4-FFF2-40B4-BE49-F238E27FC236}">
                <a16:creationId xmlns:a16="http://schemas.microsoft.com/office/drawing/2014/main" id="{0C228C31-4014-0E70-CB45-36669B052A57}"/>
              </a:ext>
            </a:extLst>
          </p:cNvPr>
          <p:cNvSpPr txBox="1"/>
          <p:nvPr/>
        </p:nvSpPr>
        <p:spPr>
          <a:xfrm>
            <a:off x="1506776" y="6332146"/>
            <a:ext cx="974538" cy="276999"/>
          </a:xfrm>
          <a:prstGeom prst="rect">
            <a:avLst/>
          </a:prstGeom>
          <a:noFill/>
        </p:spPr>
        <p:txBody>
          <a:bodyPr wrap="square" rtlCol="0">
            <a:spAutoFit/>
          </a:bodyPr>
          <a:lstStyle/>
          <a:p>
            <a:pPr marL="0" marR="0" lvl="0" indent="0" algn="ctr" defTabSz="1218565"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20</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Mar </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cxnSp>
        <p:nvCxnSpPr>
          <p:cNvPr id="158" name="直接箭头连接符 157">
            <a:extLst>
              <a:ext uri="{FF2B5EF4-FFF2-40B4-BE49-F238E27FC236}">
                <a16:creationId xmlns:a16="http://schemas.microsoft.com/office/drawing/2014/main" id="{8DABE06E-C37A-8209-BE32-57F29675B109}"/>
              </a:ext>
            </a:extLst>
          </p:cNvPr>
          <p:cNvCxnSpPr>
            <a:cxnSpLocks/>
            <a:stCxn id="135" idx="2"/>
            <a:endCxn id="157" idx="0"/>
          </p:cNvCxnSpPr>
          <p:nvPr/>
        </p:nvCxnSpPr>
        <p:spPr>
          <a:xfrm flipH="1">
            <a:off x="1994045" y="2398814"/>
            <a:ext cx="3213" cy="3933332"/>
          </a:xfrm>
          <a:prstGeom prst="straightConnector1">
            <a:avLst/>
          </a:prstGeom>
          <a:ln w="25400">
            <a:solidFill>
              <a:srgbClr val="FF0000"/>
            </a:solidFill>
            <a:round/>
            <a:headEnd type="oval"/>
            <a:tailEnd type="triangle"/>
          </a:ln>
        </p:spPr>
        <p:style>
          <a:lnRef idx="3">
            <a:schemeClr val="accent1"/>
          </a:lnRef>
          <a:fillRef idx="0">
            <a:schemeClr val="accent1"/>
          </a:fillRef>
          <a:effectRef idx="2">
            <a:schemeClr val="accent1"/>
          </a:effectRef>
          <a:fontRef idx="minor">
            <a:schemeClr val="tx1"/>
          </a:fontRef>
        </p:style>
      </p:cxnSp>
      <p:sp>
        <p:nvSpPr>
          <p:cNvPr id="168" name="TextBox 126">
            <a:extLst>
              <a:ext uri="{FF2B5EF4-FFF2-40B4-BE49-F238E27FC236}">
                <a16:creationId xmlns:a16="http://schemas.microsoft.com/office/drawing/2014/main" id="{A159EE3A-CCF5-7386-1848-D8B5B9573D91}"/>
              </a:ext>
            </a:extLst>
          </p:cNvPr>
          <p:cNvSpPr txBox="1"/>
          <p:nvPr/>
        </p:nvSpPr>
        <p:spPr>
          <a:xfrm>
            <a:off x="7186406" y="6342307"/>
            <a:ext cx="1309555" cy="276999"/>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1</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st</a:t>
            </a: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–5</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cxnSp>
        <p:nvCxnSpPr>
          <p:cNvPr id="169" name="Straight Arrow Connector 58">
            <a:extLst>
              <a:ext uri="{FF2B5EF4-FFF2-40B4-BE49-F238E27FC236}">
                <a16:creationId xmlns:a16="http://schemas.microsoft.com/office/drawing/2014/main" id="{031B7D97-3CFA-BE74-0745-5F2FB4C13535}"/>
              </a:ext>
            </a:extLst>
          </p:cNvPr>
          <p:cNvCxnSpPr>
            <a:cxnSpLocks noChangeShapeType="1"/>
            <a:stCxn id="88" idx="3"/>
            <a:endCxn id="49" idx="1"/>
          </p:cNvCxnSpPr>
          <p:nvPr/>
        </p:nvCxnSpPr>
        <p:spPr bwMode="auto">
          <a:xfrm flipV="1">
            <a:off x="3951874" y="1394657"/>
            <a:ext cx="571753" cy="2333731"/>
          </a:xfrm>
          <a:prstGeom prst="bentConnector3">
            <a:avLst>
              <a:gd name="adj1" fmla="val 50000"/>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184" name="Flowchart: Document 62">
            <a:extLst>
              <a:ext uri="{FF2B5EF4-FFF2-40B4-BE49-F238E27FC236}">
                <a16:creationId xmlns:a16="http://schemas.microsoft.com/office/drawing/2014/main" id="{E7CF2FEF-3D75-6D50-87E9-B139317D0CA3}"/>
              </a:ext>
            </a:extLst>
          </p:cNvPr>
          <p:cNvSpPr/>
          <p:nvPr/>
        </p:nvSpPr>
        <p:spPr>
          <a:xfrm>
            <a:off x="8301927" y="4684967"/>
            <a:ext cx="863150" cy="503225"/>
          </a:xfrm>
          <a:prstGeom prst="flowChartDocument">
            <a:avLst/>
          </a:prstGeom>
          <a:solidFill>
            <a:schemeClr val="bg1">
              <a:lumMod val="95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lIns="0" tIns="35982" rIns="0" bIns="0" anchor="ctr" anchorCtr="0"/>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en-US" altLang="zh-CN" sz="900" b="0" i="0" u="none" strike="noStrike" kern="0" cap="none" spc="0" normalizeH="0" baseline="0" noProof="0">
                <a:ln>
                  <a:noFill/>
                </a:ln>
                <a:solidFill>
                  <a:sysClr val="windowText" lastClr="000000"/>
                </a:solidFill>
                <a:effectLst/>
                <a:uLnTx/>
                <a:uFillTx/>
                <a:latin typeface="Calibri"/>
                <a:ea typeface="宋体" panose="02010600030101010101" pitchFamily="2" charset="-122"/>
                <a:cs typeface="+mn-cs"/>
              </a:rPr>
              <a:t>FI-CA</a:t>
            </a:r>
            <a:r>
              <a:rPr kumimoji="0" lang="zh-CN" altLang="en-US" sz="900" b="0" i="0" u="none" strike="noStrike" kern="0" cap="none" spc="0" normalizeH="0" baseline="0" noProof="0">
                <a:ln>
                  <a:noFill/>
                </a:ln>
                <a:solidFill>
                  <a:sysClr val="windowText" lastClr="000000"/>
                </a:solidFill>
                <a:effectLst/>
                <a:uLnTx/>
                <a:uFillTx/>
                <a:latin typeface="Calibri"/>
                <a:ea typeface="宋体" panose="02010600030101010101" pitchFamily="2" charset="-122"/>
                <a:cs typeface="+mn-cs"/>
              </a:rPr>
              <a:t> </a:t>
            </a:r>
            <a:r>
              <a:rPr kumimoji="0" lang="de-DE" sz="900" b="0" i="0" u="none" strike="noStrike" kern="0" cap="none" spc="0" normalizeH="0" baseline="0" noProof="0">
                <a:ln>
                  <a:noFill/>
                </a:ln>
                <a:solidFill>
                  <a:sysClr val="windowText" lastClr="000000"/>
                </a:solidFill>
                <a:effectLst/>
                <a:uLnTx/>
                <a:uFillTx/>
                <a:latin typeface="Calibri"/>
                <a:ea typeface="+mn-ea"/>
                <a:cs typeface="+mn-cs"/>
              </a:rPr>
              <a:t>Posting </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Document</a:t>
            </a:r>
          </a:p>
        </p:txBody>
      </p:sp>
      <p:cxnSp>
        <p:nvCxnSpPr>
          <p:cNvPr id="185" name="Straight Arrow Connector 58">
            <a:extLst>
              <a:ext uri="{FF2B5EF4-FFF2-40B4-BE49-F238E27FC236}">
                <a16:creationId xmlns:a16="http://schemas.microsoft.com/office/drawing/2014/main" id="{FEB1CBD7-5986-B38C-B663-D3F036A3D64C}"/>
              </a:ext>
            </a:extLst>
          </p:cNvPr>
          <p:cNvCxnSpPr>
            <a:cxnSpLocks noChangeShapeType="1"/>
            <a:stCxn id="29" idx="2"/>
            <a:endCxn id="184" idx="0"/>
          </p:cNvCxnSpPr>
          <p:nvPr/>
        </p:nvCxnSpPr>
        <p:spPr bwMode="auto">
          <a:xfrm>
            <a:off x="8726280" y="4191132"/>
            <a:ext cx="7222" cy="493835"/>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190" name="Straight Arrow Connector 58">
            <a:extLst>
              <a:ext uri="{FF2B5EF4-FFF2-40B4-BE49-F238E27FC236}">
                <a16:creationId xmlns:a16="http://schemas.microsoft.com/office/drawing/2014/main" id="{08CCF733-32B8-C5D6-237C-58B48E997C64}"/>
              </a:ext>
            </a:extLst>
          </p:cNvPr>
          <p:cNvCxnSpPr>
            <a:cxnSpLocks noChangeShapeType="1"/>
            <a:stCxn id="184" idx="2"/>
            <a:endCxn id="65" idx="1"/>
          </p:cNvCxnSpPr>
          <p:nvPr/>
        </p:nvCxnSpPr>
        <p:spPr bwMode="auto">
          <a:xfrm rot="16200000" flipH="1">
            <a:off x="8785967" y="5102457"/>
            <a:ext cx="546636" cy="651567"/>
          </a:xfrm>
          <a:prstGeom prst="bentConnector2">
            <a:avLst/>
          </a:prstGeom>
          <a:noFill/>
          <a:ln w="19050" algn="ctr">
            <a:solidFill>
              <a:schemeClr val="tx1">
                <a:lumMod val="50000"/>
                <a:lumOff val="50000"/>
              </a:schemeClr>
            </a:solidFill>
            <a:round/>
            <a:headEnd/>
            <a:tailEnd type="arrow" w="med" len="med"/>
          </a:ln>
          <a:extLst>
            <a:ext uri="{909E8E84-426E-40DD-AFC4-6F175D3DCCD1}">
              <a14:hiddenFill xmlns:a14="http://schemas.microsoft.com/office/drawing/2010/main">
                <a:noFill/>
              </a14:hiddenFill>
            </a:ext>
          </a:extLst>
        </p:spPr>
      </p:cxnSp>
      <p:cxnSp>
        <p:nvCxnSpPr>
          <p:cNvPr id="227" name="Straight Arrow Connector 58">
            <a:extLst>
              <a:ext uri="{FF2B5EF4-FFF2-40B4-BE49-F238E27FC236}">
                <a16:creationId xmlns:a16="http://schemas.microsoft.com/office/drawing/2014/main" id="{F47A0706-55AF-01A1-74A2-6B583DCCD94E}"/>
              </a:ext>
            </a:extLst>
          </p:cNvPr>
          <p:cNvCxnSpPr>
            <a:cxnSpLocks noChangeShapeType="1"/>
            <a:stCxn id="54" idx="2"/>
            <a:endCxn id="61" idx="0"/>
          </p:cNvCxnSpPr>
          <p:nvPr/>
        </p:nvCxnSpPr>
        <p:spPr bwMode="auto">
          <a:xfrm>
            <a:off x="9804048" y="3670736"/>
            <a:ext cx="742" cy="277882"/>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229" name="Straight Arrow Connector 58">
            <a:extLst>
              <a:ext uri="{FF2B5EF4-FFF2-40B4-BE49-F238E27FC236}">
                <a16:creationId xmlns:a16="http://schemas.microsoft.com/office/drawing/2014/main" id="{22CFB83B-4B9D-F443-9FA9-D9EF92F275B1}"/>
              </a:ext>
            </a:extLst>
          </p:cNvPr>
          <p:cNvCxnSpPr>
            <a:cxnSpLocks noChangeShapeType="1"/>
            <a:stCxn id="61" idx="2"/>
            <a:endCxn id="56" idx="0"/>
          </p:cNvCxnSpPr>
          <p:nvPr/>
        </p:nvCxnSpPr>
        <p:spPr bwMode="auto">
          <a:xfrm flipH="1">
            <a:off x="9798830" y="4418697"/>
            <a:ext cx="5960" cy="259288"/>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232" name="Straight Arrow Connector 58">
            <a:extLst>
              <a:ext uri="{FF2B5EF4-FFF2-40B4-BE49-F238E27FC236}">
                <a16:creationId xmlns:a16="http://schemas.microsoft.com/office/drawing/2014/main" id="{7F08CA45-41EF-6276-0743-FEF98182E578}"/>
              </a:ext>
            </a:extLst>
          </p:cNvPr>
          <p:cNvCxnSpPr>
            <a:cxnSpLocks noChangeShapeType="1"/>
            <a:stCxn id="53" idx="2"/>
            <a:endCxn id="54" idx="0"/>
          </p:cNvCxnSpPr>
          <p:nvPr/>
        </p:nvCxnSpPr>
        <p:spPr bwMode="auto">
          <a:xfrm flipH="1">
            <a:off x="9804048" y="2946094"/>
            <a:ext cx="3872" cy="217893"/>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249" name="Straight Arrow Connector 58">
            <a:extLst>
              <a:ext uri="{FF2B5EF4-FFF2-40B4-BE49-F238E27FC236}">
                <a16:creationId xmlns:a16="http://schemas.microsoft.com/office/drawing/2014/main" id="{EC29A5EF-5AA3-B242-3E3F-313DC475DA71}"/>
              </a:ext>
            </a:extLst>
          </p:cNvPr>
          <p:cNvCxnSpPr>
            <a:cxnSpLocks noChangeShapeType="1"/>
            <a:stCxn id="264" idx="2"/>
            <a:endCxn id="27" idx="0"/>
          </p:cNvCxnSpPr>
          <p:nvPr/>
        </p:nvCxnSpPr>
        <p:spPr bwMode="auto">
          <a:xfrm>
            <a:off x="8728812" y="2433185"/>
            <a:ext cx="320" cy="364156"/>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257" name="Straight Arrow Connector 58">
            <a:extLst>
              <a:ext uri="{FF2B5EF4-FFF2-40B4-BE49-F238E27FC236}">
                <a16:creationId xmlns:a16="http://schemas.microsoft.com/office/drawing/2014/main" id="{B1F74773-37F1-A645-15E5-C40F550292F5}"/>
              </a:ext>
            </a:extLst>
          </p:cNvPr>
          <p:cNvCxnSpPr>
            <a:cxnSpLocks noChangeShapeType="1"/>
            <a:stCxn id="36" idx="3"/>
            <a:endCxn id="57" idx="0"/>
          </p:cNvCxnSpPr>
          <p:nvPr/>
        </p:nvCxnSpPr>
        <p:spPr bwMode="auto">
          <a:xfrm>
            <a:off x="8066397" y="1402925"/>
            <a:ext cx="1744277" cy="135166"/>
          </a:xfrm>
          <a:prstGeom prst="bentConnector2">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
        <p:nvSpPr>
          <p:cNvPr id="264" name="Rounded Rectangle 54">
            <a:extLst>
              <a:ext uri="{FF2B5EF4-FFF2-40B4-BE49-F238E27FC236}">
                <a16:creationId xmlns:a16="http://schemas.microsoft.com/office/drawing/2014/main" id="{A161B580-3095-952F-3A55-4F1A1223F010}"/>
              </a:ext>
            </a:extLst>
          </p:cNvPr>
          <p:cNvSpPr/>
          <p:nvPr/>
        </p:nvSpPr>
        <p:spPr>
          <a:xfrm>
            <a:off x="8297237" y="1898174"/>
            <a:ext cx="863150" cy="535011"/>
          </a:xfrm>
          <a:prstGeom prst="roundRect">
            <a:avLst/>
          </a:prstGeom>
          <a:solidFill>
            <a:srgbClr val="FFFF00"/>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anchor="ctr"/>
          <a:lstStyle/>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Detail</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Billing</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NO.1901</a:t>
            </a:r>
          </a:p>
          <a:p>
            <a:pPr marL="0" marR="0" lvl="0" indent="0" algn="ctr" defTabSz="1088449" rtl="0" eaLnBrk="1" fontAlgn="auto" latinLnBrk="0" hangingPunct="1">
              <a:lnSpc>
                <a:spcPct val="100000"/>
              </a:lnSpc>
              <a:spcBef>
                <a:spcPts val="0"/>
              </a:spcBef>
              <a:spcAft>
                <a:spcPts val="0"/>
              </a:spcAft>
              <a:buClrTx/>
              <a:buSzTx/>
              <a:buFontTx/>
              <a:buNone/>
              <a:tabLst/>
              <a:defRPr/>
            </a:pPr>
            <a:r>
              <a:rPr kumimoji="0" lang="de-DE" sz="900" b="0" i="0" u="none" strike="noStrike" kern="0" cap="none" spc="0" normalizeH="0" baseline="0" noProof="0">
                <a:ln>
                  <a:noFill/>
                </a:ln>
                <a:solidFill>
                  <a:sysClr val="windowText" lastClr="000000"/>
                </a:solidFill>
                <a:effectLst/>
                <a:uLnTx/>
                <a:uFillTx/>
                <a:latin typeface="Calibri"/>
                <a:ea typeface="+mn-ea"/>
                <a:cs typeface="+mn-cs"/>
              </a:rPr>
              <a:t>Ref.9601</a:t>
            </a:r>
          </a:p>
        </p:txBody>
      </p:sp>
      <p:cxnSp>
        <p:nvCxnSpPr>
          <p:cNvPr id="272" name="Straight Arrow Connector 61">
            <a:extLst>
              <a:ext uri="{FF2B5EF4-FFF2-40B4-BE49-F238E27FC236}">
                <a16:creationId xmlns:a16="http://schemas.microsoft.com/office/drawing/2014/main" id="{EE085545-0614-CF56-C0ED-2E3B6B8A35A4}"/>
              </a:ext>
            </a:extLst>
          </p:cNvPr>
          <p:cNvCxnSpPr>
            <a:cxnSpLocks noChangeShapeType="1"/>
            <a:stCxn id="22" idx="3"/>
            <a:endCxn id="264" idx="1"/>
          </p:cNvCxnSpPr>
          <p:nvPr/>
        </p:nvCxnSpPr>
        <p:spPr bwMode="auto">
          <a:xfrm>
            <a:off x="8066056" y="2160668"/>
            <a:ext cx="231181" cy="5012"/>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cxnSp>
        <p:nvCxnSpPr>
          <p:cNvPr id="279" name="直接箭头连接符 278">
            <a:extLst>
              <a:ext uri="{FF2B5EF4-FFF2-40B4-BE49-F238E27FC236}">
                <a16:creationId xmlns:a16="http://schemas.microsoft.com/office/drawing/2014/main" id="{5945BE19-1C37-E65C-3812-869639BE61CC}"/>
              </a:ext>
            </a:extLst>
          </p:cNvPr>
          <p:cNvCxnSpPr>
            <a:cxnSpLocks/>
          </p:cNvCxnSpPr>
          <p:nvPr/>
        </p:nvCxnSpPr>
        <p:spPr>
          <a:xfrm>
            <a:off x="7634481" y="2459651"/>
            <a:ext cx="0" cy="3882656"/>
          </a:xfrm>
          <a:prstGeom prst="straightConnector1">
            <a:avLst/>
          </a:prstGeom>
          <a:ln w="25400">
            <a:solidFill>
              <a:srgbClr val="FF0000"/>
            </a:solidFill>
            <a:round/>
            <a:headEnd type="oval"/>
            <a:tailEnd type="triangle"/>
          </a:ln>
        </p:spPr>
        <p:style>
          <a:lnRef idx="3">
            <a:schemeClr val="accent1"/>
          </a:lnRef>
          <a:fillRef idx="0">
            <a:schemeClr val="accent1"/>
          </a:fillRef>
          <a:effectRef idx="2">
            <a:schemeClr val="accent1"/>
          </a:effectRef>
          <a:fontRef idx="minor">
            <a:schemeClr val="tx1"/>
          </a:fontRef>
        </p:style>
      </p:cxnSp>
      <p:sp>
        <p:nvSpPr>
          <p:cNvPr id="281" name="TextBox 126">
            <a:extLst>
              <a:ext uri="{FF2B5EF4-FFF2-40B4-BE49-F238E27FC236}">
                <a16:creationId xmlns:a16="http://schemas.microsoft.com/office/drawing/2014/main" id="{A9640E85-55F1-FF6A-97FA-D76E3D53781B}"/>
              </a:ext>
            </a:extLst>
          </p:cNvPr>
          <p:cNvSpPr txBox="1"/>
          <p:nvPr/>
        </p:nvSpPr>
        <p:spPr>
          <a:xfrm>
            <a:off x="8245623" y="6346015"/>
            <a:ext cx="974539" cy="276999"/>
          </a:xfrm>
          <a:prstGeom prst="rect">
            <a:avLst/>
          </a:prstGeom>
          <a:noFill/>
        </p:spPr>
        <p:txBody>
          <a:bodyPr wrap="square" rtlCol="0">
            <a:spAutoFit/>
          </a:bodyPr>
          <a:lstStyle/>
          <a:p>
            <a:pPr marL="0" marR="0" lvl="0" indent="0" algn="l" defTabSz="1218565"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Apr 5</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–25</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th</a:t>
            </a:r>
            <a:r>
              <a:rPr kumimoji="0" lang="en-US" altLang="zh-CN" sz="1200" b="0" i="0" u="none" strike="noStrike" kern="1200" cap="none" spc="0" normalizeH="0" baseline="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r>
              <a:rPr kumimoji="0" lang="en-US" altLang="zh-CN" sz="1200" b="0" i="0" u="none" strike="noStrike" kern="1200" cap="none" spc="0" normalizeH="0" baseline="30000" noProof="0">
                <a:ln>
                  <a:noFill/>
                </a:ln>
                <a:solidFill>
                  <a:srgbClr val="000000"/>
                </a:solidFill>
                <a:effectLst/>
                <a:uLnTx/>
                <a:uFillTx/>
                <a:latin typeface="Tenorite" panose="00000500000000000000" pitchFamily="2" charset="0"/>
                <a:ea typeface="黑体" panose="02010609060101010101" pitchFamily="49" charset="-122"/>
                <a:cs typeface="Arial" panose="020B0604020202020204" pitchFamily="34" charset="0"/>
              </a:rPr>
              <a:t> </a:t>
            </a:r>
          </a:p>
        </p:txBody>
      </p:sp>
      <p:cxnSp>
        <p:nvCxnSpPr>
          <p:cNvPr id="282" name="直接箭头连接符 281">
            <a:extLst>
              <a:ext uri="{FF2B5EF4-FFF2-40B4-BE49-F238E27FC236}">
                <a16:creationId xmlns:a16="http://schemas.microsoft.com/office/drawing/2014/main" id="{1FF254C3-22EA-858F-6C77-A772CC21DEB5}"/>
              </a:ext>
            </a:extLst>
          </p:cNvPr>
          <p:cNvCxnSpPr>
            <a:cxnSpLocks/>
            <a:stCxn id="184" idx="2"/>
          </p:cNvCxnSpPr>
          <p:nvPr/>
        </p:nvCxnSpPr>
        <p:spPr>
          <a:xfrm>
            <a:off x="8733502" y="5154923"/>
            <a:ext cx="0" cy="1177223"/>
          </a:xfrm>
          <a:prstGeom prst="straightConnector1">
            <a:avLst/>
          </a:prstGeom>
          <a:ln w="25400">
            <a:solidFill>
              <a:srgbClr val="FF0000"/>
            </a:solidFill>
            <a:round/>
            <a:headEnd type="oval"/>
            <a:tailEnd type="triangle"/>
          </a:ln>
        </p:spPr>
        <p:style>
          <a:lnRef idx="3">
            <a:schemeClr val="accent1"/>
          </a:lnRef>
          <a:fillRef idx="0">
            <a:schemeClr val="accent1"/>
          </a:fillRef>
          <a:effectRef idx="2">
            <a:schemeClr val="accent1"/>
          </a:effectRef>
          <a:fontRef idx="minor">
            <a:schemeClr val="tx1"/>
          </a:fontRef>
        </p:style>
      </p:cxnSp>
      <p:cxnSp>
        <p:nvCxnSpPr>
          <p:cNvPr id="298" name="Straight Arrow Connector 58">
            <a:extLst>
              <a:ext uri="{FF2B5EF4-FFF2-40B4-BE49-F238E27FC236}">
                <a16:creationId xmlns:a16="http://schemas.microsoft.com/office/drawing/2014/main" id="{BCF08539-F4C3-BA1C-313B-C42CB5269725}"/>
              </a:ext>
            </a:extLst>
          </p:cNvPr>
          <p:cNvCxnSpPr>
            <a:cxnSpLocks noChangeShapeType="1"/>
            <a:stCxn id="25" idx="2"/>
            <a:endCxn id="28" idx="0"/>
          </p:cNvCxnSpPr>
          <p:nvPr/>
        </p:nvCxnSpPr>
        <p:spPr bwMode="auto">
          <a:xfrm>
            <a:off x="11260878" y="2893906"/>
            <a:ext cx="4835" cy="245011"/>
          </a:xfrm>
          <a:prstGeom prst="straightConnector1">
            <a:avLst/>
          </a:prstGeom>
          <a:noFill/>
          <a:ln w="19050" algn="ctr">
            <a:solidFill>
              <a:srgbClr val="4A7EBB"/>
            </a:solidFill>
            <a:round/>
            <a:headEnd/>
            <a:tailEnd type="arrow" w="med" len="med"/>
          </a:ln>
          <a:extLst>
            <a:ext uri="{909E8E84-426E-40DD-AFC4-6F175D3DCCD1}">
              <a14:hiddenFill xmlns:a14="http://schemas.microsoft.com/office/drawing/2010/main">
                <a:noFill/>
              </a14:hiddenFill>
            </a:ext>
          </a:extLst>
        </p:spPr>
      </p:cxnSp>
    </p:spTree>
    <p:custDataLst>
      <p:tags r:id="rId1"/>
    </p:custDataLst>
    <p:extLst>
      <p:ext uri="{BB962C8B-B14F-4D97-AF65-F5344CB8AC3E}">
        <p14:creationId xmlns:p14="http://schemas.microsoft.com/office/powerpoint/2010/main" val="3687712132"/>
      </p:ext>
    </p:extLst>
  </p:cSld>
  <p:clrMapOvr>
    <a:masterClrMapping/>
  </p:clrMapOvr>
  <p:transition spd="med"/>
</p:sld>
</file>

<file path=ppt/slides/slide1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B27310-FF68-4D64-9D90-091E4490A32A}"/>
              </a:ext>
            </a:extLst>
          </p:cNvPr>
          <p:cNvSpPr>
            <a:spLocks noGrp="1"/>
          </p:cNvSpPr>
          <p:nvPr>
            <p:ph type="title"/>
          </p:nvPr>
        </p:nvSpPr>
        <p:spPr/>
        <p:txBody>
          <a:bodyPr>
            <a:normAutofit fontScale="90000"/>
          </a:bodyPr>
          <a:lstStyle/>
          <a:p>
            <a:endParaRPr lang="en-US"/>
          </a:p>
        </p:txBody>
      </p:sp>
      <p:pic>
        <p:nvPicPr>
          <p:cNvPr id="4" name="Picture 3" descr="A picture containing electronics&#10;&#10;Description automatically generated">
            <a:extLst>
              <a:ext uri="{FF2B5EF4-FFF2-40B4-BE49-F238E27FC236}">
                <a16:creationId xmlns:a16="http://schemas.microsoft.com/office/drawing/2014/main" id="{7333BF24-70FB-421A-B463-D31625AA9F38}"/>
              </a:ext>
            </a:extLst>
          </p:cNvPr>
          <p:cNvPicPr>
            <a:picLocks noChangeAspect="1"/>
          </p:cNvPicPr>
          <p:nvPr/>
        </p:nvPicPr>
        <p:blipFill>
          <a:blip r:embed="rId2"/>
          <a:stretch>
            <a:fillRect/>
          </a:stretch>
        </p:blipFill>
        <p:spPr>
          <a:xfrm>
            <a:off x="69990" y="-6851"/>
            <a:ext cx="12052022" cy="943205"/>
          </a:xfrm>
          <a:prstGeom prst="rect">
            <a:avLst/>
          </a:prstGeom>
        </p:spPr>
      </p:pic>
      <p:sp>
        <p:nvSpPr>
          <p:cNvPr id="5" name="Title 2">
            <a:extLst>
              <a:ext uri="{FF2B5EF4-FFF2-40B4-BE49-F238E27FC236}">
                <a16:creationId xmlns:a16="http://schemas.microsoft.com/office/drawing/2014/main" id="{05D9D5E2-8109-4CFF-9262-0AC5C049BB4F}"/>
              </a:ext>
            </a:extLst>
          </p:cNvPr>
          <p:cNvSpPr txBox="1">
            <a:spLocks/>
          </p:cNvSpPr>
          <p:nvPr/>
        </p:nvSpPr>
        <p:spPr bwMode="gray">
          <a:xfrm>
            <a:off x="259408" y="275460"/>
            <a:ext cx="11667782" cy="520564"/>
          </a:xfrm>
          <a:prstGeom prst="rect">
            <a:avLst/>
          </a:prstGeom>
        </p:spPr>
        <p:txBody>
          <a:bodyPr wrap="square" lIns="0" tIns="0" rIns="0" bIns="0" anchor="ctr" anchorCtr="0"/>
          <a:lstStyle>
            <a:lvl1pPr marL="0" algn="l" defTabSz="1218621" rtl="0" eaLnBrk="1" latinLnBrk="0" hangingPunct="1">
              <a:lnSpc>
                <a:spcPct val="100000"/>
              </a:lnSpc>
              <a:spcBef>
                <a:spcPct val="0"/>
              </a:spcBef>
              <a:buNone/>
              <a:tabLst>
                <a:tab pos="1218621" algn="l"/>
              </a:tabLst>
              <a:defRPr lang="en-US" sz="3599" kern="1200" cap="none" spc="0" baseline="0" dirty="0">
                <a:solidFill>
                  <a:schemeClr val="tx1"/>
                </a:solidFill>
                <a:latin typeface="Arial" pitchFamily="34" charset="0"/>
                <a:ea typeface="+mn-ea"/>
                <a:cs typeface="Arial" pitchFamily="34" charset="0"/>
              </a:defRPr>
            </a:lvl1pPr>
          </a:lstStyle>
          <a:p>
            <a:pPr marL="0" marR="0" lvl="0" indent="0" algn="l" defTabSz="1218621" rtl="0" eaLnBrk="1" fontAlgn="auto" latinLnBrk="0" hangingPunct="1">
              <a:lnSpc>
                <a:spcPct val="100000"/>
              </a:lnSpc>
              <a:spcBef>
                <a:spcPct val="0"/>
              </a:spcBef>
              <a:spcAft>
                <a:spcPts val="0"/>
              </a:spcAft>
              <a:buClrTx/>
              <a:buSzTx/>
              <a:buFontTx/>
              <a:buNone/>
              <a:tabLst>
                <a:tab pos="1218621" algn="l"/>
              </a:tabLst>
              <a:defRPr/>
            </a:pPr>
            <a:r>
              <a:rPr kumimoji="0" lang="en-US" sz="3599" b="1" i="0" u="none" strike="noStrike" kern="1200" cap="none" spc="0" normalizeH="0" baseline="0" noProof="0">
                <a:ln>
                  <a:noFill/>
                </a:ln>
                <a:solidFill>
                  <a:srgbClr val="4D144A"/>
                </a:solidFill>
                <a:effectLst/>
                <a:uLnTx/>
                <a:uFillTx/>
                <a:latin typeface="Calibri"/>
                <a:ea typeface="+mn-ea"/>
                <a:cs typeface="Calibri"/>
              </a:rPr>
              <a:t>Lessor Accounting Entries and Posting Schedule - DaaS</a:t>
            </a:r>
          </a:p>
        </p:txBody>
      </p:sp>
      <p:sp>
        <p:nvSpPr>
          <p:cNvPr id="3" name="Slide Number Placeholder 2">
            <a:extLst>
              <a:ext uri="{FF2B5EF4-FFF2-40B4-BE49-F238E27FC236}">
                <a16:creationId xmlns:a16="http://schemas.microsoft.com/office/drawing/2014/main" id="{F9ADF21F-3C0B-A960-2D24-1759758DA68D}"/>
              </a:ext>
            </a:extLst>
          </p:cNvPr>
          <p:cNvSpPr txBox="1">
            <a:spLocks/>
          </p:cNvSpPr>
          <p:nvPr/>
        </p:nvSpPr>
        <p:spPr>
          <a:xfrm>
            <a:off x="11751501" y="6473952"/>
            <a:ext cx="438912" cy="155448"/>
          </a:xfrm>
          <a:prstGeom prst="rect">
            <a:avLst/>
          </a:prstGeom>
        </p:spPr>
        <p:txBody>
          <a:bodyPr vert="horz" lIns="0" tIns="0" rIns="0" bIns="0" rtlCol="0" anchor="ctr"/>
          <a:lstStyle>
            <a:defPPr>
              <a:defRPr lang="en-US"/>
            </a:defPPr>
            <a:lvl1pPr marL="0" algn="ctr" defTabSz="1218987"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192</a:t>
            </a:fld>
            <a:endParaRPr kumimoji="0" lang="en-US" sz="1000" b="0" i="0" u="none" strike="noStrike" kern="1200" cap="none" spc="0" normalizeH="0" baseline="0" noProof="0">
              <a:ln>
                <a:noFill/>
              </a:ln>
              <a:solidFill>
                <a:prstClr val="black"/>
              </a:solidFill>
              <a:effectLst/>
              <a:uLnTx/>
              <a:uFillTx/>
              <a:latin typeface="Maison Neue Book (Body)"/>
              <a:ea typeface="+mn-ea"/>
              <a:cs typeface="Arial" panose="020B0604020202020204" pitchFamily="34" charset="0"/>
            </a:endParaRPr>
          </a:p>
        </p:txBody>
      </p:sp>
      <p:sp>
        <p:nvSpPr>
          <p:cNvPr id="6" name="Rectangle 5">
            <a:extLst>
              <a:ext uri="{FF2B5EF4-FFF2-40B4-BE49-F238E27FC236}">
                <a16:creationId xmlns:a16="http://schemas.microsoft.com/office/drawing/2014/main" id="{5EF20FC1-AAB9-04E4-0567-992976605C4F}"/>
              </a:ext>
            </a:extLst>
          </p:cNvPr>
          <p:cNvSpPr/>
          <p:nvPr/>
        </p:nvSpPr>
        <p:spPr>
          <a:xfrm>
            <a:off x="273121" y="3712966"/>
            <a:ext cx="11648934" cy="2685549"/>
          </a:xfrm>
          <a:prstGeom prst="rect">
            <a:avLst/>
          </a:prstGeom>
          <a:solidFill>
            <a:srgbClr val="46C8E1">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7" name="Rectangle 6">
            <a:extLst>
              <a:ext uri="{FF2B5EF4-FFF2-40B4-BE49-F238E27FC236}">
                <a16:creationId xmlns:a16="http://schemas.microsoft.com/office/drawing/2014/main" id="{7419A32F-D223-3DCB-1BE1-C79B5EBE6AC2}"/>
              </a:ext>
            </a:extLst>
          </p:cNvPr>
          <p:cNvSpPr/>
          <p:nvPr/>
        </p:nvSpPr>
        <p:spPr>
          <a:xfrm>
            <a:off x="273121" y="1131068"/>
            <a:ext cx="11648934" cy="1816149"/>
          </a:xfrm>
          <a:prstGeom prst="rect">
            <a:avLst/>
          </a:prstGeom>
          <a:solidFill>
            <a:srgbClr val="C1ECF5"/>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8" name="Arrow: Right 7">
            <a:extLst>
              <a:ext uri="{FF2B5EF4-FFF2-40B4-BE49-F238E27FC236}">
                <a16:creationId xmlns:a16="http://schemas.microsoft.com/office/drawing/2014/main" id="{935535AB-0AE8-B2E1-55A2-E2D6FC201A52}"/>
              </a:ext>
            </a:extLst>
          </p:cNvPr>
          <p:cNvSpPr/>
          <p:nvPr/>
        </p:nvSpPr>
        <p:spPr>
          <a:xfrm>
            <a:off x="375499" y="3074969"/>
            <a:ext cx="11407638" cy="58757"/>
          </a:xfrm>
          <a:prstGeom prst="rightArrow">
            <a:avLst/>
          </a:prstGeom>
          <a:solidFill>
            <a:srgbClr val="333F48"/>
          </a:solidFill>
          <a:ln w="25400" cap="flat" cmpd="sng" algn="ctr">
            <a:solidFill>
              <a:srgbClr val="333F48"/>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9" name="Oval 8">
            <a:extLst>
              <a:ext uri="{FF2B5EF4-FFF2-40B4-BE49-F238E27FC236}">
                <a16:creationId xmlns:a16="http://schemas.microsoft.com/office/drawing/2014/main" id="{3CEC6C85-7A06-4E9E-5918-EA411D815C6A}"/>
              </a:ext>
            </a:extLst>
          </p:cNvPr>
          <p:cNvSpPr/>
          <p:nvPr/>
        </p:nvSpPr>
        <p:spPr>
          <a:xfrm>
            <a:off x="2154238" y="3009900"/>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10" name="TextBox 9">
            <a:extLst>
              <a:ext uri="{FF2B5EF4-FFF2-40B4-BE49-F238E27FC236}">
                <a16:creationId xmlns:a16="http://schemas.microsoft.com/office/drawing/2014/main" id="{E37A8C05-1391-782F-79CB-796B29F3E9CC}"/>
              </a:ext>
            </a:extLst>
          </p:cNvPr>
          <p:cNvSpPr txBox="1"/>
          <p:nvPr/>
        </p:nvSpPr>
        <p:spPr>
          <a:xfrm>
            <a:off x="1090104" y="3184608"/>
            <a:ext cx="230566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May 1</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ST</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Lease Commencement Date</a:t>
            </a:r>
            <a:endParaRPr kumimoji="0" lang="en-US" sz="1400" b="1" i="0" u="none" strike="noStrike" kern="1200" cap="none" spc="0" normalizeH="0" baseline="0" noProof="0">
              <a:ln>
                <a:noFill/>
              </a:ln>
              <a:solidFill>
                <a:srgbClr val="000000"/>
              </a:solidFill>
              <a:effectLst/>
              <a:highlight>
                <a:srgbClr val="8CDCEC"/>
              </a:highlight>
              <a:uLnTx/>
              <a:uFillTx/>
              <a:latin typeface="Calibri" panose="020F0502020204030204" pitchFamily="34" charset="0"/>
              <a:ea typeface="+mn-ea"/>
              <a:cs typeface="Calibri" panose="020F0502020204030204" pitchFamily="34" charset="0"/>
            </a:endParaRPr>
          </a:p>
        </p:txBody>
      </p:sp>
      <p:sp>
        <p:nvSpPr>
          <p:cNvPr id="11" name="Oval 10">
            <a:extLst>
              <a:ext uri="{FF2B5EF4-FFF2-40B4-BE49-F238E27FC236}">
                <a16:creationId xmlns:a16="http://schemas.microsoft.com/office/drawing/2014/main" id="{AED11F26-E5FF-FF6A-EB09-39598ACE7310}"/>
              </a:ext>
            </a:extLst>
          </p:cNvPr>
          <p:cNvSpPr/>
          <p:nvPr/>
        </p:nvSpPr>
        <p:spPr>
          <a:xfrm>
            <a:off x="5602288" y="301466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12" name="Oval 11">
            <a:extLst>
              <a:ext uri="{FF2B5EF4-FFF2-40B4-BE49-F238E27FC236}">
                <a16:creationId xmlns:a16="http://schemas.microsoft.com/office/drawing/2014/main" id="{4787B2A3-4CF5-815D-5A94-157274805867}"/>
              </a:ext>
            </a:extLst>
          </p:cNvPr>
          <p:cNvSpPr/>
          <p:nvPr/>
        </p:nvSpPr>
        <p:spPr>
          <a:xfrm>
            <a:off x="8895348" y="301466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13" name="TextBox 12">
            <a:extLst>
              <a:ext uri="{FF2B5EF4-FFF2-40B4-BE49-F238E27FC236}">
                <a16:creationId xmlns:a16="http://schemas.microsoft.com/office/drawing/2014/main" id="{DC1962EE-28A2-1640-A2BB-07BFFA7601A2}"/>
              </a:ext>
            </a:extLst>
          </p:cNvPr>
          <p:cNvSpPr txBox="1"/>
          <p:nvPr/>
        </p:nvSpPr>
        <p:spPr>
          <a:xfrm>
            <a:off x="5050016" y="3208318"/>
            <a:ext cx="1268169" cy="7386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May 31</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Term End Date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sp>
        <p:nvSpPr>
          <p:cNvPr id="14" name="TextBox 13">
            <a:extLst>
              <a:ext uri="{FF2B5EF4-FFF2-40B4-BE49-F238E27FC236}">
                <a16:creationId xmlns:a16="http://schemas.microsoft.com/office/drawing/2014/main" id="{0B298C4E-F9BF-7C0C-100F-CF259C433502}"/>
              </a:ext>
            </a:extLst>
          </p:cNvPr>
          <p:cNvSpPr txBox="1"/>
          <p:nvPr/>
        </p:nvSpPr>
        <p:spPr>
          <a:xfrm>
            <a:off x="8588049" y="3208319"/>
            <a:ext cx="78604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June 1</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st</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sp>
        <p:nvSpPr>
          <p:cNvPr id="15" name="TextBox 14">
            <a:extLst>
              <a:ext uri="{FF2B5EF4-FFF2-40B4-BE49-F238E27FC236}">
                <a16:creationId xmlns:a16="http://schemas.microsoft.com/office/drawing/2014/main" id="{8142CD78-AE28-6F6A-E637-867FA15521B0}"/>
              </a:ext>
            </a:extLst>
          </p:cNvPr>
          <p:cNvSpPr txBox="1"/>
          <p:nvPr/>
        </p:nvSpPr>
        <p:spPr>
          <a:xfrm>
            <a:off x="337628" y="1767720"/>
            <a:ext cx="46679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B8EA5"/>
                </a:solidFill>
                <a:effectLst/>
                <a:uLnTx/>
                <a:uFillTx/>
                <a:latin typeface="Calibri" panose="020F0502020204030204" pitchFamily="34" charset="0"/>
                <a:ea typeface="+mn-ea"/>
                <a:cs typeface="Calibri" panose="020F0502020204030204" pitchFamily="34" charset="0"/>
              </a:rPr>
              <a:t>OL</a:t>
            </a:r>
          </a:p>
        </p:txBody>
      </p:sp>
      <p:sp>
        <p:nvSpPr>
          <p:cNvPr id="16" name="TextBox 15">
            <a:extLst>
              <a:ext uri="{FF2B5EF4-FFF2-40B4-BE49-F238E27FC236}">
                <a16:creationId xmlns:a16="http://schemas.microsoft.com/office/drawing/2014/main" id="{AAC5A00C-87FB-A473-34E6-F361B0A43978}"/>
              </a:ext>
            </a:extLst>
          </p:cNvPr>
          <p:cNvSpPr txBox="1"/>
          <p:nvPr/>
        </p:nvSpPr>
        <p:spPr>
          <a:xfrm>
            <a:off x="346925" y="4876112"/>
            <a:ext cx="437941"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B8EA5"/>
                </a:solidFill>
                <a:effectLst/>
                <a:uLnTx/>
                <a:uFillTx/>
                <a:latin typeface="Calibri" panose="020F0502020204030204" pitchFamily="34" charset="0"/>
                <a:ea typeface="+mn-ea"/>
                <a:cs typeface="Calibri" panose="020F0502020204030204" pitchFamily="34" charset="0"/>
              </a:rPr>
              <a:t>FL</a:t>
            </a:r>
          </a:p>
        </p:txBody>
      </p:sp>
      <p:grpSp>
        <p:nvGrpSpPr>
          <p:cNvPr id="17" name="Group 16">
            <a:extLst>
              <a:ext uri="{FF2B5EF4-FFF2-40B4-BE49-F238E27FC236}">
                <a16:creationId xmlns:a16="http://schemas.microsoft.com/office/drawing/2014/main" id="{7101D227-9536-3DF7-B999-B17FFC0BB9BF}"/>
              </a:ext>
            </a:extLst>
          </p:cNvPr>
          <p:cNvGrpSpPr/>
          <p:nvPr/>
        </p:nvGrpSpPr>
        <p:grpSpPr>
          <a:xfrm>
            <a:off x="5007827" y="1267487"/>
            <a:ext cx="1518387" cy="1487855"/>
            <a:chOff x="4743452" y="1598665"/>
            <a:chExt cx="1518387" cy="1487855"/>
          </a:xfrm>
          <a:effectLst>
            <a:outerShdw blurRad="50800" dist="38100" dir="2700000" algn="tl" rotWithShape="0">
              <a:prstClr val="black">
                <a:alpha val="40000"/>
              </a:prstClr>
            </a:outerShdw>
          </a:effectLst>
        </p:grpSpPr>
        <p:sp>
          <p:nvSpPr>
            <p:cNvPr id="18" name="Rectangle: Folded Corner 17">
              <a:extLst>
                <a:ext uri="{FF2B5EF4-FFF2-40B4-BE49-F238E27FC236}">
                  <a16:creationId xmlns:a16="http://schemas.microsoft.com/office/drawing/2014/main" id="{AAAB767B-6A35-97CC-B009-15D796C6BA97}"/>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19" name="TextBox 18">
              <a:extLst>
                <a:ext uri="{FF2B5EF4-FFF2-40B4-BE49-F238E27FC236}">
                  <a16:creationId xmlns:a16="http://schemas.microsoft.com/office/drawing/2014/main" id="{9F79A5A6-4890-0BFE-E934-581CD5B60B08}"/>
                </a:ext>
              </a:extLst>
            </p:cNvPr>
            <p:cNvSpPr txBox="1"/>
            <p:nvPr/>
          </p:nvSpPr>
          <p:spPr>
            <a:xfrm>
              <a:off x="4957729" y="2021409"/>
              <a:ext cx="1304110" cy="7309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depreciation </a:t>
              </a: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0" name="Group 19">
            <a:extLst>
              <a:ext uri="{FF2B5EF4-FFF2-40B4-BE49-F238E27FC236}">
                <a16:creationId xmlns:a16="http://schemas.microsoft.com/office/drawing/2014/main" id="{AD5FE339-10DF-6F79-71EE-7B241CF30734}"/>
              </a:ext>
            </a:extLst>
          </p:cNvPr>
          <p:cNvGrpSpPr/>
          <p:nvPr/>
        </p:nvGrpSpPr>
        <p:grpSpPr>
          <a:xfrm>
            <a:off x="1573214" y="1303391"/>
            <a:ext cx="1352548" cy="1487855"/>
            <a:chOff x="4743452" y="1598665"/>
            <a:chExt cx="1352548" cy="1487855"/>
          </a:xfrm>
          <a:effectLst>
            <a:outerShdw blurRad="50800" dist="38100" dir="2700000" algn="tl" rotWithShape="0">
              <a:prstClr val="black">
                <a:alpha val="40000"/>
              </a:prstClr>
            </a:outerShdw>
          </a:effectLst>
        </p:grpSpPr>
        <p:sp>
          <p:nvSpPr>
            <p:cNvPr id="21" name="Rectangle: Folded Corner 20">
              <a:extLst>
                <a:ext uri="{FF2B5EF4-FFF2-40B4-BE49-F238E27FC236}">
                  <a16:creationId xmlns:a16="http://schemas.microsoft.com/office/drawing/2014/main" id="{64B90D81-1AEA-05C5-5E4D-A0D6EA790814}"/>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2" name="TextBox 21">
              <a:extLst>
                <a:ext uri="{FF2B5EF4-FFF2-40B4-BE49-F238E27FC236}">
                  <a16:creationId xmlns:a16="http://schemas.microsoft.com/office/drawing/2014/main" id="{237D0A5D-A82A-DD3A-FF57-76B3CC26C7DF}"/>
                </a:ext>
              </a:extLst>
            </p:cNvPr>
            <p:cNvSpPr txBox="1"/>
            <p:nvPr/>
          </p:nvSpPr>
          <p:spPr>
            <a:xfrm>
              <a:off x="4782807" y="1821351"/>
              <a:ext cx="1304110" cy="79252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rPr>
                <a:t>M0 entry</a:t>
              </a:r>
              <a:endParaRPr kumimoji="0" lang="en-US" sz="16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3" name="Group 22">
            <a:extLst>
              <a:ext uri="{FF2B5EF4-FFF2-40B4-BE49-F238E27FC236}">
                <a16:creationId xmlns:a16="http://schemas.microsoft.com/office/drawing/2014/main" id="{AA4834BF-AAD5-5FED-AA47-F065E12637E1}"/>
              </a:ext>
            </a:extLst>
          </p:cNvPr>
          <p:cNvGrpSpPr/>
          <p:nvPr/>
        </p:nvGrpSpPr>
        <p:grpSpPr>
          <a:xfrm>
            <a:off x="1564131" y="3707828"/>
            <a:ext cx="1352548" cy="2269852"/>
            <a:chOff x="4743452" y="1476523"/>
            <a:chExt cx="1352548" cy="2269852"/>
          </a:xfrm>
          <a:effectLst>
            <a:outerShdw blurRad="50800" dist="38100" dir="2700000" algn="tl" rotWithShape="0">
              <a:prstClr val="black">
                <a:alpha val="40000"/>
              </a:prstClr>
            </a:outerShdw>
          </a:effectLst>
        </p:grpSpPr>
        <p:sp>
          <p:nvSpPr>
            <p:cNvPr id="24" name="Rectangle: Folded Corner 23">
              <a:extLst>
                <a:ext uri="{FF2B5EF4-FFF2-40B4-BE49-F238E27FC236}">
                  <a16:creationId xmlns:a16="http://schemas.microsoft.com/office/drawing/2014/main" id="{31169F89-CD54-FE7A-8A01-0985A46E6013}"/>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5" name="TextBox 24">
              <a:extLst>
                <a:ext uri="{FF2B5EF4-FFF2-40B4-BE49-F238E27FC236}">
                  <a16:creationId xmlns:a16="http://schemas.microsoft.com/office/drawing/2014/main" id="{E61008E2-2EDE-D7B9-0D14-DFD036D4EF39}"/>
                </a:ext>
              </a:extLst>
            </p:cNvPr>
            <p:cNvSpPr txBox="1"/>
            <p:nvPr/>
          </p:nvSpPr>
          <p:spPr>
            <a:xfrm>
              <a:off x="4767229" y="1476523"/>
              <a:ext cx="1304110" cy="2269852"/>
            </a:xfrm>
            <a:prstGeom prst="rect">
              <a:avLst/>
            </a:prstGeom>
            <a:noFill/>
          </p:spPr>
          <p:txBody>
            <a:bodyPr wrap="square" rtlCol="0">
              <a:spAutoFit/>
            </a:bodyP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rPr>
                <a:t>M0 entry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600" b="0" i="0" u="none" strike="noStrike" kern="0" cap="none" spc="0" normalizeH="0" baseline="0" noProof="0">
                  <a:ln>
                    <a:noFill/>
                  </a:ln>
                  <a:solidFill>
                    <a:srgbClr val="000000"/>
                  </a:solidFill>
                  <a:effectLst/>
                  <a:uLnTx/>
                  <a:uFillTx/>
                  <a:latin typeface="Calibri" panose="020F0502020204030204" pitchFamily="34" charset="0"/>
                  <a:ea typeface="宋体" panose="02010600030101010101" pitchFamily="2" charset="-122"/>
                  <a:cs typeface="+mn-cs"/>
                </a:rPr>
                <a:t>Monthly rental AR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zh-CN" sz="1600" b="0" i="0" u="none" strike="noStrike" kern="0" cap="none" spc="0" normalizeH="0" baseline="0" noProof="0">
                  <a:ln>
                    <a:noFill/>
                  </a:ln>
                  <a:solidFill>
                    <a:srgbClr val="000000"/>
                  </a:solidFill>
                  <a:effectLst/>
                  <a:uLnTx/>
                  <a:uFillTx/>
                  <a:latin typeface="Calibri" panose="020F0502020204030204" pitchFamily="34" charset="0"/>
                  <a:ea typeface="宋体" panose="02010600030101010101" pitchFamily="2" charset="-122"/>
                  <a:cs typeface="+mn-cs"/>
                </a:rPr>
                <a:t>Monthly rental reclass</a:t>
              </a: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600" b="0" i="0" u="none" strike="noStrike" kern="0" cap="none" spc="0" normalizeH="0" baseline="0" noProof="0">
                <a:ln>
                  <a:noFill/>
                </a:ln>
                <a:solidFill>
                  <a:srgbClr val="000000"/>
                </a:solidFill>
                <a:effectLst/>
                <a:uLnTx/>
                <a:uFillTx/>
                <a:latin typeface="Aptos" panose="020B0004020202020204"/>
                <a:ea typeface="+mn-ea"/>
                <a:cs typeface="+mn-cs"/>
              </a:endParaRP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7" name="Group 26">
            <a:extLst>
              <a:ext uri="{FF2B5EF4-FFF2-40B4-BE49-F238E27FC236}">
                <a16:creationId xmlns:a16="http://schemas.microsoft.com/office/drawing/2014/main" id="{570288B2-6516-5B4D-AE7D-1B7F22B2110C}"/>
              </a:ext>
            </a:extLst>
          </p:cNvPr>
          <p:cNvGrpSpPr/>
          <p:nvPr/>
        </p:nvGrpSpPr>
        <p:grpSpPr>
          <a:xfrm>
            <a:off x="8112123" y="3829911"/>
            <a:ext cx="1736387" cy="1599986"/>
            <a:chOff x="4743452" y="1598665"/>
            <a:chExt cx="1352548" cy="1599986"/>
          </a:xfrm>
          <a:effectLst>
            <a:outerShdw blurRad="50800" dist="38100" dir="2700000" algn="tl" rotWithShape="0">
              <a:prstClr val="black">
                <a:alpha val="40000"/>
              </a:prstClr>
            </a:outerShdw>
          </a:effectLst>
        </p:grpSpPr>
        <p:sp>
          <p:nvSpPr>
            <p:cNvPr id="30" name="Rectangle: Folded Corner 29">
              <a:extLst>
                <a:ext uri="{FF2B5EF4-FFF2-40B4-BE49-F238E27FC236}">
                  <a16:creationId xmlns:a16="http://schemas.microsoft.com/office/drawing/2014/main" id="{A147A76D-208D-3496-4FA5-FAD4FEECD6AA}"/>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32" name="TextBox 31">
              <a:extLst>
                <a:ext uri="{FF2B5EF4-FFF2-40B4-BE49-F238E27FC236}">
                  <a16:creationId xmlns:a16="http://schemas.microsoft.com/office/drawing/2014/main" id="{518F2C77-581F-2665-C413-AABB966FB634}"/>
                </a:ext>
              </a:extLst>
            </p:cNvPr>
            <p:cNvSpPr txBox="1"/>
            <p:nvPr/>
          </p:nvSpPr>
          <p:spPr>
            <a:xfrm>
              <a:off x="4905376" y="1821351"/>
              <a:ext cx="1190623" cy="1377300"/>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Rental reclass reversal</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Interest reclass reversal</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33" name="TextBox 32">
            <a:extLst>
              <a:ext uri="{FF2B5EF4-FFF2-40B4-BE49-F238E27FC236}">
                <a16:creationId xmlns:a16="http://schemas.microsoft.com/office/drawing/2014/main" id="{A0547681-3FF3-B981-1AB0-9E6A87CC64D6}"/>
              </a:ext>
            </a:extLst>
          </p:cNvPr>
          <p:cNvSpPr txBox="1"/>
          <p:nvPr/>
        </p:nvSpPr>
        <p:spPr>
          <a:xfrm>
            <a:off x="10823361" y="3139233"/>
            <a:ext cx="1123321"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Posting Date</a:t>
            </a:r>
          </a:p>
        </p:txBody>
      </p:sp>
      <p:grpSp>
        <p:nvGrpSpPr>
          <p:cNvPr id="37" name="Group 36">
            <a:extLst>
              <a:ext uri="{FF2B5EF4-FFF2-40B4-BE49-F238E27FC236}">
                <a16:creationId xmlns:a16="http://schemas.microsoft.com/office/drawing/2014/main" id="{BE319B69-1664-CC90-0BAC-CBA2B072EC9B}"/>
              </a:ext>
            </a:extLst>
          </p:cNvPr>
          <p:cNvGrpSpPr/>
          <p:nvPr/>
        </p:nvGrpSpPr>
        <p:grpSpPr>
          <a:xfrm>
            <a:off x="4763553" y="3829911"/>
            <a:ext cx="1804562" cy="2239074"/>
            <a:chOff x="4617956" y="1598665"/>
            <a:chExt cx="1478044" cy="2239074"/>
          </a:xfrm>
          <a:effectLst>
            <a:outerShdw blurRad="50800" dist="38100" dir="2700000" algn="tl" rotWithShape="0">
              <a:prstClr val="black">
                <a:alpha val="40000"/>
              </a:prstClr>
            </a:outerShdw>
          </a:effectLst>
        </p:grpSpPr>
        <p:sp>
          <p:nvSpPr>
            <p:cNvPr id="41" name="Rectangle: Folded Corner 40">
              <a:extLst>
                <a:ext uri="{FF2B5EF4-FFF2-40B4-BE49-F238E27FC236}">
                  <a16:creationId xmlns:a16="http://schemas.microsoft.com/office/drawing/2014/main" id="{071FA791-D196-A52B-49E1-CBB512D4C340}"/>
                </a:ext>
              </a:extLst>
            </p:cNvPr>
            <p:cNvSpPr/>
            <p:nvPr/>
          </p:nvSpPr>
          <p:spPr>
            <a:xfrm>
              <a:off x="4617956" y="1598665"/>
              <a:ext cx="1478044" cy="2239074"/>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42" name="TextBox 41">
              <a:extLst>
                <a:ext uri="{FF2B5EF4-FFF2-40B4-BE49-F238E27FC236}">
                  <a16:creationId xmlns:a16="http://schemas.microsoft.com/office/drawing/2014/main" id="{722A2B5A-F72D-9C37-8638-65CF7159D927}"/>
                </a:ext>
              </a:extLst>
            </p:cNvPr>
            <p:cNvSpPr txBox="1"/>
            <p:nvPr/>
          </p:nvSpPr>
          <p:spPr>
            <a:xfrm>
              <a:off x="4701595" y="1737942"/>
              <a:ext cx="1304110" cy="1592744"/>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Lease interest income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interest reclass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Tree>
    <p:extLst>
      <p:ext uri="{BB962C8B-B14F-4D97-AF65-F5344CB8AC3E}">
        <p14:creationId xmlns:p14="http://schemas.microsoft.com/office/powerpoint/2010/main" val="3935555366"/>
      </p:ext>
    </p:extLst>
  </p:cSld>
  <p:clrMapOvr>
    <a:masterClrMapping/>
  </p:clrMapOvr>
  <p:transition spd="med"/>
</p:sld>
</file>

<file path=ppt/slides/slide1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B27310-FF68-4D64-9D90-091E4490A32A}"/>
              </a:ext>
            </a:extLst>
          </p:cNvPr>
          <p:cNvSpPr>
            <a:spLocks noGrp="1"/>
          </p:cNvSpPr>
          <p:nvPr>
            <p:ph type="title"/>
          </p:nvPr>
        </p:nvSpPr>
        <p:spPr/>
        <p:txBody>
          <a:bodyPr>
            <a:normAutofit fontScale="90000"/>
          </a:bodyPr>
          <a:lstStyle/>
          <a:p>
            <a:endParaRPr lang="en-US"/>
          </a:p>
        </p:txBody>
      </p:sp>
      <p:pic>
        <p:nvPicPr>
          <p:cNvPr id="4" name="Picture 3" descr="A picture containing electronics&#10;&#10;Description automatically generated">
            <a:extLst>
              <a:ext uri="{FF2B5EF4-FFF2-40B4-BE49-F238E27FC236}">
                <a16:creationId xmlns:a16="http://schemas.microsoft.com/office/drawing/2014/main" id="{7333BF24-70FB-421A-B463-D31625AA9F38}"/>
              </a:ext>
            </a:extLst>
          </p:cNvPr>
          <p:cNvPicPr>
            <a:picLocks noChangeAspect="1"/>
          </p:cNvPicPr>
          <p:nvPr/>
        </p:nvPicPr>
        <p:blipFill>
          <a:blip r:embed="rId2"/>
          <a:stretch>
            <a:fillRect/>
          </a:stretch>
        </p:blipFill>
        <p:spPr>
          <a:xfrm>
            <a:off x="69990" y="-6851"/>
            <a:ext cx="12052022" cy="943205"/>
          </a:xfrm>
          <a:prstGeom prst="rect">
            <a:avLst/>
          </a:prstGeom>
        </p:spPr>
      </p:pic>
      <p:sp>
        <p:nvSpPr>
          <p:cNvPr id="3" name="Slide Number Placeholder 2">
            <a:extLst>
              <a:ext uri="{FF2B5EF4-FFF2-40B4-BE49-F238E27FC236}">
                <a16:creationId xmlns:a16="http://schemas.microsoft.com/office/drawing/2014/main" id="{0957CEF3-5884-AE92-78EF-10DA16006A9A}"/>
              </a:ext>
            </a:extLst>
          </p:cNvPr>
          <p:cNvSpPr txBox="1">
            <a:spLocks/>
          </p:cNvSpPr>
          <p:nvPr/>
        </p:nvSpPr>
        <p:spPr>
          <a:xfrm>
            <a:off x="11751501" y="6473952"/>
            <a:ext cx="438912" cy="155448"/>
          </a:xfrm>
          <a:prstGeom prst="rect">
            <a:avLst/>
          </a:prstGeom>
        </p:spPr>
        <p:txBody>
          <a:bodyPr vert="horz" lIns="0" tIns="0" rIns="0" bIns="0" rtlCol="0" anchor="ctr"/>
          <a:lstStyle>
            <a:defPPr>
              <a:defRPr lang="en-US"/>
            </a:defPPr>
            <a:lvl1pPr marL="0" algn="ctr" defTabSz="1218987"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193</a:t>
            </a:fld>
            <a:endParaRPr kumimoji="0" lang="en-US" sz="1000" b="0" i="0" u="none" strike="noStrike" kern="1200" cap="none" spc="0" normalizeH="0" baseline="0" noProof="0">
              <a:ln>
                <a:noFill/>
              </a:ln>
              <a:solidFill>
                <a:prstClr val="black"/>
              </a:solidFill>
              <a:effectLst/>
              <a:uLnTx/>
              <a:uFillTx/>
              <a:latin typeface="Maison Neue Book (Body)"/>
              <a:ea typeface="+mn-ea"/>
              <a:cs typeface="Arial" panose="020B0604020202020204" pitchFamily="34" charset="0"/>
            </a:endParaRPr>
          </a:p>
        </p:txBody>
      </p:sp>
      <p:sp>
        <p:nvSpPr>
          <p:cNvPr id="6" name="Rectangle 5">
            <a:extLst>
              <a:ext uri="{FF2B5EF4-FFF2-40B4-BE49-F238E27FC236}">
                <a16:creationId xmlns:a16="http://schemas.microsoft.com/office/drawing/2014/main" id="{C210D31B-4BFD-EEB1-D1D3-A50A86910443}"/>
              </a:ext>
            </a:extLst>
          </p:cNvPr>
          <p:cNvSpPr/>
          <p:nvPr/>
        </p:nvSpPr>
        <p:spPr>
          <a:xfrm>
            <a:off x="187396" y="3767944"/>
            <a:ext cx="11834742" cy="2507424"/>
          </a:xfrm>
          <a:prstGeom prst="rect">
            <a:avLst/>
          </a:prstGeom>
          <a:solidFill>
            <a:srgbClr val="46C8E1">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7" name="Rectangle 6">
            <a:extLst>
              <a:ext uri="{FF2B5EF4-FFF2-40B4-BE49-F238E27FC236}">
                <a16:creationId xmlns:a16="http://schemas.microsoft.com/office/drawing/2014/main" id="{83019181-8F8F-EBB6-7198-D20DEA406087}"/>
              </a:ext>
            </a:extLst>
          </p:cNvPr>
          <p:cNvSpPr/>
          <p:nvPr/>
        </p:nvSpPr>
        <p:spPr>
          <a:xfrm>
            <a:off x="273121" y="1131068"/>
            <a:ext cx="11749017" cy="1816149"/>
          </a:xfrm>
          <a:prstGeom prst="rect">
            <a:avLst/>
          </a:prstGeom>
          <a:solidFill>
            <a:srgbClr val="C1ECF5"/>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8" name="Arrow: Right 7">
            <a:extLst>
              <a:ext uri="{FF2B5EF4-FFF2-40B4-BE49-F238E27FC236}">
                <a16:creationId xmlns:a16="http://schemas.microsoft.com/office/drawing/2014/main" id="{FC3FBD19-7E56-453A-DCF9-76BDEE15E42A}"/>
              </a:ext>
            </a:extLst>
          </p:cNvPr>
          <p:cNvSpPr/>
          <p:nvPr/>
        </p:nvSpPr>
        <p:spPr>
          <a:xfrm>
            <a:off x="375499" y="3074969"/>
            <a:ext cx="11646638" cy="45719"/>
          </a:xfrm>
          <a:prstGeom prst="rightArrow">
            <a:avLst/>
          </a:prstGeom>
          <a:solidFill>
            <a:srgbClr val="333F48"/>
          </a:solidFill>
          <a:ln w="25400" cap="flat" cmpd="sng" algn="ctr">
            <a:solidFill>
              <a:srgbClr val="333F48"/>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9" name="Oval 8">
            <a:extLst>
              <a:ext uri="{FF2B5EF4-FFF2-40B4-BE49-F238E27FC236}">
                <a16:creationId xmlns:a16="http://schemas.microsoft.com/office/drawing/2014/main" id="{6BD2FC37-7D24-21C5-BB71-9EBDA38C0D06}"/>
              </a:ext>
            </a:extLst>
          </p:cNvPr>
          <p:cNvSpPr/>
          <p:nvPr/>
        </p:nvSpPr>
        <p:spPr>
          <a:xfrm>
            <a:off x="1373188" y="3009900"/>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10" name="TextBox 9">
            <a:extLst>
              <a:ext uri="{FF2B5EF4-FFF2-40B4-BE49-F238E27FC236}">
                <a16:creationId xmlns:a16="http://schemas.microsoft.com/office/drawing/2014/main" id="{15052A8B-365B-44EB-E57E-D964C11828C8}"/>
              </a:ext>
            </a:extLst>
          </p:cNvPr>
          <p:cNvSpPr txBox="1"/>
          <p:nvPr/>
        </p:nvSpPr>
        <p:spPr>
          <a:xfrm>
            <a:off x="220357" y="3176587"/>
            <a:ext cx="230566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May 15</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th</a:t>
            </a:r>
            <a:endPar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Lease Commencement Date</a:t>
            </a:r>
            <a:endParaRPr kumimoji="0" lang="en-US" sz="1400" b="1" i="0" u="none" strike="noStrike" kern="1200" cap="none" spc="0" normalizeH="0" baseline="0" noProof="0">
              <a:ln>
                <a:noFill/>
              </a:ln>
              <a:solidFill>
                <a:srgbClr val="000000"/>
              </a:solidFill>
              <a:effectLst/>
              <a:highlight>
                <a:srgbClr val="8CDCEC"/>
              </a:highlight>
              <a:uLnTx/>
              <a:uFillTx/>
              <a:latin typeface="Calibri" panose="020F0502020204030204" pitchFamily="34" charset="0"/>
              <a:ea typeface="+mn-ea"/>
              <a:cs typeface="Calibri" panose="020F0502020204030204" pitchFamily="34" charset="0"/>
            </a:endParaRPr>
          </a:p>
        </p:txBody>
      </p:sp>
      <p:sp>
        <p:nvSpPr>
          <p:cNvPr id="11" name="Oval 10">
            <a:extLst>
              <a:ext uri="{FF2B5EF4-FFF2-40B4-BE49-F238E27FC236}">
                <a16:creationId xmlns:a16="http://schemas.microsoft.com/office/drawing/2014/main" id="{17AFD81D-3BDA-5677-FC71-E13362033E16}"/>
              </a:ext>
            </a:extLst>
          </p:cNvPr>
          <p:cNvSpPr/>
          <p:nvPr/>
        </p:nvSpPr>
        <p:spPr>
          <a:xfrm>
            <a:off x="3021013" y="301466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12" name="Oval 11">
            <a:extLst>
              <a:ext uri="{FF2B5EF4-FFF2-40B4-BE49-F238E27FC236}">
                <a16:creationId xmlns:a16="http://schemas.microsoft.com/office/drawing/2014/main" id="{C18FF6E7-E874-1DBE-8F19-5B8B10A0E3F2}"/>
              </a:ext>
            </a:extLst>
          </p:cNvPr>
          <p:cNvSpPr/>
          <p:nvPr/>
        </p:nvSpPr>
        <p:spPr>
          <a:xfrm>
            <a:off x="6030913" y="301466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13" name="Oval 12">
            <a:extLst>
              <a:ext uri="{FF2B5EF4-FFF2-40B4-BE49-F238E27FC236}">
                <a16:creationId xmlns:a16="http://schemas.microsoft.com/office/drawing/2014/main" id="{8FE4B3F1-1FBD-722E-D92E-2B8B60FBD643}"/>
              </a:ext>
            </a:extLst>
          </p:cNvPr>
          <p:cNvSpPr/>
          <p:nvPr/>
        </p:nvSpPr>
        <p:spPr>
          <a:xfrm>
            <a:off x="4494798" y="301466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14" name="TextBox 13">
            <a:extLst>
              <a:ext uri="{FF2B5EF4-FFF2-40B4-BE49-F238E27FC236}">
                <a16:creationId xmlns:a16="http://schemas.microsoft.com/office/drawing/2014/main" id="{D5D55F98-FFE6-30EB-C2D0-7F921A7D92F9}"/>
              </a:ext>
            </a:extLst>
          </p:cNvPr>
          <p:cNvSpPr txBox="1"/>
          <p:nvPr/>
        </p:nvSpPr>
        <p:spPr>
          <a:xfrm>
            <a:off x="2730454" y="3195244"/>
            <a:ext cx="86292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May 31</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st</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sp>
        <p:nvSpPr>
          <p:cNvPr id="15" name="TextBox 14">
            <a:extLst>
              <a:ext uri="{FF2B5EF4-FFF2-40B4-BE49-F238E27FC236}">
                <a16:creationId xmlns:a16="http://schemas.microsoft.com/office/drawing/2014/main" id="{13C062AC-1D68-E765-05C5-0791487C95D7}"/>
              </a:ext>
            </a:extLst>
          </p:cNvPr>
          <p:cNvSpPr txBox="1"/>
          <p:nvPr/>
        </p:nvSpPr>
        <p:spPr>
          <a:xfrm>
            <a:off x="5497735" y="3188824"/>
            <a:ext cx="1268169" cy="7386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June 14</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th</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Term End Date</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endParaRPr>
          </a:p>
        </p:txBody>
      </p:sp>
      <p:sp>
        <p:nvSpPr>
          <p:cNvPr id="16" name="TextBox 15">
            <a:extLst>
              <a:ext uri="{FF2B5EF4-FFF2-40B4-BE49-F238E27FC236}">
                <a16:creationId xmlns:a16="http://schemas.microsoft.com/office/drawing/2014/main" id="{B4905EAF-11E5-9BC6-FD00-8D51B6F25807}"/>
              </a:ext>
            </a:extLst>
          </p:cNvPr>
          <p:cNvSpPr txBox="1"/>
          <p:nvPr/>
        </p:nvSpPr>
        <p:spPr>
          <a:xfrm>
            <a:off x="4193207" y="3198927"/>
            <a:ext cx="78604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June 1</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st</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sp>
        <p:nvSpPr>
          <p:cNvPr id="17" name="TextBox 16">
            <a:extLst>
              <a:ext uri="{FF2B5EF4-FFF2-40B4-BE49-F238E27FC236}">
                <a16:creationId xmlns:a16="http://schemas.microsoft.com/office/drawing/2014/main" id="{C61ECD89-A98F-9DA8-1EFA-8A55BE29C002}"/>
              </a:ext>
            </a:extLst>
          </p:cNvPr>
          <p:cNvSpPr txBox="1"/>
          <p:nvPr/>
        </p:nvSpPr>
        <p:spPr>
          <a:xfrm>
            <a:off x="337628" y="1786770"/>
            <a:ext cx="46679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B8EA5"/>
                </a:solidFill>
                <a:effectLst/>
                <a:uLnTx/>
                <a:uFillTx/>
                <a:latin typeface="Calibri" panose="020F0502020204030204" pitchFamily="34" charset="0"/>
                <a:ea typeface="+mn-ea"/>
                <a:cs typeface="Calibri" panose="020F0502020204030204" pitchFamily="34" charset="0"/>
              </a:rPr>
              <a:t>OL</a:t>
            </a:r>
          </a:p>
        </p:txBody>
      </p:sp>
      <p:sp>
        <p:nvSpPr>
          <p:cNvPr id="18" name="TextBox 17">
            <a:extLst>
              <a:ext uri="{FF2B5EF4-FFF2-40B4-BE49-F238E27FC236}">
                <a16:creationId xmlns:a16="http://schemas.microsoft.com/office/drawing/2014/main" id="{19ACF9E4-8422-69CF-C345-99E87E771DFD}"/>
              </a:ext>
            </a:extLst>
          </p:cNvPr>
          <p:cNvSpPr txBox="1"/>
          <p:nvPr/>
        </p:nvSpPr>
        <p:spPr>
          <a:xfrm>
            <a:off x="261200" y="4799912"/>
            <a:ext cx="437941"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B8EA5"/>
                </a:solidFill>
                <a:effectLst/>
                <a:uLnTx/>
                <a:uFillTx/>
                <a:latin typeface="Calibri" panose="020F0502020204030204" pitchFamily="34" charset="0"/>
                <a:ea typeface="+mn-ea"/>
                <a:cs typeface="Calibri" panose="020F0502020204030204" pitchFamily="34" charset="0"/>
              </a:rPr>
              <a:t>FL</a:t>
            </a:r>
          </a:p>
        </p:txBody>
      </p:sp>
      <p:grpSp>
        <p:nvGrpSpPr>
          <p:cNvPr id="19" name="Group 18">
            <a:extLst>
              <a:ext uri="{FF2B5EF4-FFF2-40B4-BE49-F238E27FC236}">
                <a16:creationId xmlns:a16="http://schemas.microsoft.com/office/drawing/2014/main" id="{05C323A5-AAB5-8920-43A9-9A1334038DF0}"/>
              </a:ext>
            </a:extLst>
          </p:cNvPr>
          <p:cNvGrpSpPr/>
          <p:nvPr/>
        </p:nvGrpSpPr>
        <p:grpSpPr>
          <a:xfrm>
            <a:off x="2401889" y="1303391"/>
            <a:ext cx="1352548" cy="1487855"/>
            <a:chOff x="4743452" y="1598665"/>
            <a:chExt cx="1352548" cy="1487855"/>
          </a:xfrm>
          <a:effectLst>
            <a:outerShdw blurRad="50800" dist="38100" dir="2700000" algn="tl" rotWithShape="0">
              <a:prstClr val="black">
                <a:alpha val="40000"/>
              </a:prstClr>
            </a:outerShdw>
          </a:effectLst>
        </p:grpSpPr>
        <p:sp>
          <p:nvSpPr>
            <p:cNvPr id="20" name="Rectangle: Folded Corner 19">
              <a:extLst>
                <a:ext uri="{FF2B5EF4-FFF2-40B4-BE49-F238E27FC236}">
                  <a16:creationId xmlns:a16="http://schemas.microsoft.com/office/drawing/2014/main" id="{EA8DF01F-648D-5EC5-311B-4125349A30E2}"/>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1" name="TextBox 20">
              <a:extLst>
                <a:ext uri="{FF2B5EF4-FFF2-40B4-BE49-F238E27FC236}">
                  <a16:creationId xmlns:a16="http://schemas.microsoft.com/office/drawing/2014/main" id="{55E07885-633F-3254-1414-1BFB19E177BA}"/>
                </a:ext>
              </a:extLst>
            </p:cNvPr>
            <p:cNvSpPr txBox="1"/>
            <p:nvPr/>
          </p:nvSpPr>
          <p:spPr>
            <a:xfrm>
              <a:off x="4782807" y="1821351"/>
              <a:ext cx="1304110" cy="116185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monthly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depreciation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(from May 15</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to May 31</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st </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2" name="Group 21">
            <a:extLst>
              <a:ext uri="{FF2B5EF4-FFF2-40B4-BE49-F238E27FC236}">
                <a16:creationId xmlns:a16="http://schemas.microsoft.com/office/drawing/2014/main" id="{EEF16694-816E-ED35-A481-F0911917AE80}"/>
              </a:ext>
            </a:extLst>
          </p:cNvPr>
          <p:cNvGrpSpPr/>
          <p:nvPr/>
        </p:nvGrpSpPr>
        <p:grpSpPr>
          <a:xfrm>
            <a:off x="773114" y="1303391"/>
            <a:ext cx="1352548" cy="1487855"/>
            <a:chOff x="4743452" y="1598665"/>
            <a:chExt cx="1352548" cy="1487855"/>
          </a:xfrm>
          <a:effectLst>
            <a:outerShdw blurRad="50800" dist="38100" dir="2700000" algn="tl" rotWithShape="0">
              <a:prstClr val="black">
                <a:alpha val="40000"/>
              </a:prstClr>
            </a:outerShdw>
          </a:effectLst>
        </p:grpSpPr>
        <p:sp>
          <p:nvSpPr>
            <p:cNvPr id="23" name="Rectangle: Folded Corner 22">
              <a:extLst>
                <a:ext uri="{FF2B5EF4-FFF2-40B4-BE49-F238E27FC236}">
                  <a16:creationId xmlns:a16="http://schemas.microsoft.com/office/drawing/2014/main" id="{E89DD06C-FB13-3E8D-97B1-C183B42BF7B0}"/>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4" name="TextBox 23">
              <a:extLst>
                <a:ext uri="{FF2B5EF4-FFF2-40B4-BE49-F238E27FC236}">
                  <a16:creationId xmlns:a16="http://schemas.microsoft.com/office/drawing/2014/main" id="{E5F06D93-4859-80A6-E5E0-7A73BB17C823}"/>
                </a:ext>
              </a:extLst>
            </p:cNvPr>
            <p:cNvSpPr txBox="1"/>
            <p:nvPr/>
          </p:nvSpPr>
          <p:spPr>
            <a:xfrm>
              <a:off x="4782807" y="1821351"/>
              <a:ext cx="1304110" cy="79252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rPr>
                <a:t>M0 entry</a:t>
              </a:r>
              <a:endParaRPr kumimoji="0" lang="en-US" sz="16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5" name="Group 24">
            <a:extLst>
              <a:ext uri="{FF2B5EF4-FFF2-40B4-BE49-F238E27FC236}">
                <a16:creationId xmlns:a16="http://schemas.microsoft.com/office/drawing/2014/main" id="{F2465266-BC46-4863-6523-ACB1FF00E7F2}"/>
              </a:ext>
            </a:extLst>
          </p:cNvPr>
          <p:cNvGrpSpPr/>
          <p:nvPr/>
        </p:nvGrpSpPr>
        <p:grpSpPr>
          <a:xfrm>
            <a:off x="5398394" y="1293641"/>
            <a:ext cx="1352548" cy="1487855"/>
            <a:chOff x="4743452" y="1598665"/>
            <a:chExt cx="1352548" cy="1487855"/>
          </a:xfrm>
          <a:effectLst>
            <a:outerShdw blurRad="50800" dist="38100" dir="2700000" algn="tl" rotWithShape="0">
              <a:prstClr val="black">
                <a:alpha val="40000"/>
              </a:prstClr>
            </a:outerShdw>
          </a:effectLst>
        </p:grpSpPr>
        <p:sp>
          <p:nvSpPr>
            <p:cNvPr id="26" name="Rectangle: Folded Corner 25">
              <a:extLst>
                <a:ext uri="{FF2B5EF4-FFF2-40B4-BE49-F238E27FC236}">
                  <a16:creationId xmlns:a16="http://schemas.microsoft.com/office/drawing/2014/main" id="{631B54D7-FCCC-6119-415F-4DDA85E6399F}"/>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7" name="TextBox 26">
              <a:extLst>
                <a:ext uri="{FF2B5EF4-FFF2-40B4-BE49-F238E27FC236}">
                  <a16:creationId xmlns:a16="http://schemas.microsoft.com/office/drawing/2014/main" id="{0769124A-A816-4398-DDB8-3E1CC0BD23C4}"/>
                </a:ext>
              </a:extLst>
            </p:cNvPr>
            <p:cNvSpPr txBox="1"/>
            <p:nvPr/>
          </p:nvSpPr>
          <p:spPr>
            <a:xfrm>
              <a:off x="4782807" y="1821351"/>
              <a:ext cx="1304110" cy="116185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monthly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depreciation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(from June 1</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st</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to June 14</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 </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8" name="Group 27">
            <a:extLst>
              <a:ext uri="{FF2B5EF4-FFF2-40B4-BE49-F238E27FC236}">
                <a16:creationId xmlns:a16="http://schemas.microsoft.com/office/drawing/2014/main" id="{6BE2F535-6D2F-918D-1E96-B145D614818E}"/>
              </a:ext>
            </a:extLst>
          </p:cNvPr>
          <p:cNvGrpSpPr/>
          <p:nvPr/>
        </p:nvGrpSpPr>
        <p:grpSpPr>
          <a:xfrm>
            <a:off x="647384" y="3961501"/>
            <a:ext cx="1352548" cy="1487855"/>
            <a:chOff x="4743452" y="1598665"/>
            <a:chExt cx="1352548" cy="1487855"/>
          </a:xfrm>
          <a:effectLst>
            <a:outerShdw blurRad="50800" dist="38100" dir="2700000" algn="tl" rotWithShape="0">
              <a:prstClr val="black">
                <a:alpha val="40000"/>
              </a:prstClr>
            </a:outerShdw>
          </a:effectLst>
        </p:grpSpPr>
        <p:sp>
          <p:nvSpPr>
            <p:cNvPr id="29" name="Rectangle: Folded Corner 28">
              <a:extLst>
                <a:ext uri="{FF2B5EF4-FFF2-40B4-BE49-F238E27FC236}">
                  <a16:creationId xmlns:a16="http://schemas.microsoft.com/office/drawing/2014/main" id="{65F03848-3ABD-7DBA-65B2-8C0015306053}"/>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30" name="TextBox 29">
              <a:extLst>
                <a:ext uri="{FF2B5EF4-FFF2-40B4-BE49-F238E27FC236}">
                  <a16:creationId xmlns:a16="http://schemas.microsoft.com/office/drawing/2014/main" id="{2E473F8D-EF24-623C-3A62-70255E92E95F}"/>
                </a:ext>
              </a:extLst>
            </p:cNvPr>
            <p:cNvSpPr txBox="1"/>
            <p:nvPr/>
          </p:nvSpPr>
          <p:spPr>
            <a:xfrm>
              <a:off x="4782807" y="1821351"/>
              <a:ext cx="1304110" cy="79252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rPr>
                <a:t>M0 entry</a:t>
              </a:r>
              <a:endParaRPr kumimoji="0" lang="en-US" sz="16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31" name="Group 30">
            <a:extLst>
              <a:ext uri="{FF2B5EF4-FFF2-40B4-BE49-F238E27FC236}">
                <a16:creationId xmlns:a16="http://schemas.microsoft.com/office/drawing/2014/main" id="{BC9A1F89-14F8-97A6-9DAA-4BD36AF718E7}"/>
              </a:ext>
            </a:extLst>
          </p:cNvPr>
          <p:cNvGrpSpPr/>
          <p:nvPr/>
        </p:nvGrpSpPr>
        <p:grpSpPr>
          <a:xfrm>
            <a:off x="3953133" y="3961501"/>
            <a:ext cx="1352548" cy="1487855"/>
            <a:chOff x="4743452" y="1598665"/>
            <a:chExt cx="1352548" cy="1487855"/>
          </a:xfrm>
          <a:effectLst>
            <a:outerShdw blurRad="50800" dist="38100" dir="2700000" algn="tl" rotWithShape="0">
              <a:prstClr val="black">
                <a:alpha val="40000"/>
              </a:prstClr>
            </a:outerShdw>
          </a:effectLst>
        </p:grpSpPr>
        <p:sp>
          <p:nvSpPr>
            <p:cNvPr id="32" name="Rectangle: Folded Corner 31">
              <a:extLst>
                <a:ext uri="{FF2B5EF4-FFF2-40B4-BE49-F238E27FC236}">
                  <a16:creationId xmlns:a16="http://schemas.microsoft.com/office/drawing/2014/main" id="{E580F8BF-DE74-75BE-52B2-D25EBE958193}"/>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33" name="TextBox 32">
              <a:extLst>
                <a:ext uri="{FF2B5EF4-FFF2-40B4-BE49-F238E27FC236}">
                  <a16:creationId xmlns:a16="http://schemas.microsoft.com/office/drawing/2014/main" id="{4626CBE2-544A-1046-70D3-56A20A0E564C}"/>
                </a:ext>
              </a:extLst>
            </p:cNvPr>
            <p:cNvSpPr txBox="1"/>
            <p:nvPr/>
          </p:nvSpPr>
          <p:spPr>
            <a:xfrm>
              <a:off x="4905376" y="1821351"/>
              <a:ext cx="1190623" cy="116185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Interest reclass reversal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34" name="TextBox 33">
            <a:extLst>
              <a:ext uri="{FF2B5EF4-FFF2-40B4-BE49-F238E27FC236}">
                <a16:creationId xmlns:a16="http://schemas.microsoft.com/office/drawing/2014/main" id="{798796D1-6AC7-D376-12DF-CA0E61B990DA}"/>
              </a:ext>
            </a:extLst>
          </p:cNvPr>
          <p:cNvSpPr txBox="1"/>
          <p:nvPr/>
        </p:nvSpPr>
        <p:spPr>
          <a:xfrm>
            <a:off x="11473052" y="3133833"/>
            <a:ext cx="772904"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Posting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Date</a:t>
            </a:r>
          </a:p>
        </p:txBody>
      </p:sp>
      <p:sp>
        <p:nvSpPr>
          <p:cNvPr id="35" name="Oval 34">
            <a:extLst>
              <a:ext uri="{FF2B5EF4-FFF2-40B4-BE49-F238E27FC236}">
                <a16:creationId xmlns:a16="http://schemas.microsoft.com/office/drawing/2014/main" id="{1A8AE699-C1CB-9F45-8499-A9930AD7738E}"/>
              </a:ext>
            </a:extLst>
          </p:cNvPr>
          <p:cNvSpPr/>
          <p:nvPr/>
        </p:nvSpPr>
        <p:spPr>
          <a:xfrm>
            <a:off x="7612063" y="3005137"/>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36" name="TextBox 35">
            <a:extLst>
              <a:ext uri="{FF2B5EF4-FFF2-40B4-BE49-F238E27FC236}">
                <a16:creationId xmlns:a16="http://schemas.microsoft.com/office/drawing/2014/main" id="{1D572F8D-017F-5111-9C34-883C51BE1D05}"/>
              </a:ext>
            </a:extLst>
          </p:cNvPr>
          <p:cNvSpPr txBox="1"/>
          <p:nvPr/>
        </p:nvSpPr>
        <p:spPr>
          <a:xfrm>
            <a:off x="7258928" y="3203557"/>
            <a:ext cx="934871"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June 15</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th</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grpSp>
        <p:nvGrpSpPr>
          <p:cNvPr id="37" name="Group 36">
            <a:extLst>
              <a:ext uri="{FF2B5EF4-FFF2-40B4-BE49-F238E27FC236}">
                <a16:creationId xmlns:a16="http://schemas.microsoft.com/office/drawing/2014/main" id="{708BD652-024B-CBA5-37E3-F9FE3A9CE5B3}"/>
              </a:ext>
            </a:extLst>
          </p:cNvPr>
          <p:cNvGrpSpPr/>
          <p:nvPr/>
        </p:nvGrpSpPr>
        <p:grpSpPr>
          <a:xfrm>
            <a:off x="5465411" y="3967034"/>
            <a:ext cx="1352548" cy="1531506"/>
            <a:chOff x="4743452" y="1598665"/>
            <a:chExt cx="1352548" cy="1531506"/>
          </a:xfrm>
          <a:effectLst>
            <a:outerShdw blurRad="50800" dist="38100" dir="2700000" algn="tl" rotWithShape="0">
              <a:prstClr val="black">
                <a:alpha val="40000"/>
              </a:prstClr>
            </a:outerShdw>
          </a:effectLst>
        </p:grpSpPr>
        <p:sp>
          <p:nvSpPr>
            <p:cNvPr id="38" name="Rectangle: Folded Corner 37">
              <a:extLst>
                <a:ext uri="{FF2B5EF4-FFF2-40B4-BE49-F238E27FC236}">
                  <a16:creationId xmlns:a16="http://schemas.microsoft.com/office/drawing/2014/main" id="{9F697E20-88B6-0C91-D551-F5059C9853C6}"/>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39" name="TextBox 38">
              <a:extLst>
                <a:ext uri="{FF2B5EF4-FFF2-40B4-BE49-F238E27FC236}">
                  <a16:creationId xmlns:a16="http://schemas.microsoft.com/office/drawing/2014/main" id="{03413873-185B-BC44-EF46-B0AFB59624AE}"/>
                </a:ext>
              </a:extLst>
            </p:cNvPr>
            <p:cNvSpPr txBox="1"/>
            <p:nvPr/>
          </p:nvSpPr>
          <p:spPr>
            <a:xfrm>
              <a:off x="4871147" y="1752871"/>
              <a:ext cx="1190623" cy="13773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the lease income (from June 1st to June 14th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40" name="Group 39">
            <a:extLst>
              <a:ext uri="{FF2B5EF4-FFF2-40B4-BE49-F238E27FC236}">
                <a16:creationId xmlns:a16="http://schemas.microsoft.com/office/drawing/2014/main" id="{7F0A1A39-D1FC-3C0C-B4D4-EBC2E0F4C94D}"/>
              </a:ext>
            </a:extLst>
          </p:cNvPr>
          <p:cNvGrpSpPr/>
          <p:nvPr/>
        </p:nvGrpSpPr>
        <p:grpSpPr>
          <a:xfrm>
            <a:off x="2160351" y="3961501"/>
            <a:ext cx="1720801" cy="1995858"/>
            <a:chOff x="3047162" y="3770874"/>
            <a:chExt cx="1898246" cy="2368242"/>
          </a:xfrm>
        </p:grpSpPr>
        <p:grpSp>
          <p:nvGrpSpPr>
            <p:cNvPr id="41" name="Group 40">
              <a:extLst>
                <a:ext uri="{FF2B5EF4-FFF2-40B4-BE49-F238E27FC236}">
                  <a16:creationId xmlns:a16="http://schemas.microsoft.com/office/drawing/2014/main" id="{08B7A1F2-88F8-6E8E-BBF0-EE10EDD30B81}"/>
                </a:ext>
              </a:extLst>
            </p:cNvPr>
            <p:cNvGrpSpPr/>
            <p:nvPr/>
          </p:nvGrpSpPr>
          <p:grpSpPr>
            <a:xfrm>
              <a:off x="3047162" y="3770874"/>
              <a:ext cx="1898246" cy="2368242"/>
              <a:chOff x="4617956" y="1598665"/>
              <a:chExt cx="1554777" cy="2368242"/>
            </a:xfrm>
            <a:effectLst>
              <a:outerShdw blurRad="50800" dist="38100" dir="2700000" algn="tl" rotWithShape="0">
                <a:prstClr val="black">
                  <a:alpha val="40000"/>
                </a:prstClr>
              </a:outerShdw>
            </a:effectLst>
          </p:grpSpPr>
          <p:sp>
            <p:nvSpPr>
              <p:cNvPr id="44" name="Rectangle: Folded Corner 43">
                <a:extLst>
                  <a:ext uri="{FF2B5EF4-FFF2-40B4-BE49-F238E27FC236}">
                    <a16:creationId xmlns:a16="http://schemas.microsoft.com/office/drawing/2014/main" id="{CDDD917C-4772-3544-0145-63D2517DEF63}"/>
                  </a:ext>
                </a:extLst>
              </p:cNvPr>
              <p:cNvSpPr/>
              <p:nvPr/>
            </p:nvSpPr>
            <p:spPr>
              <a:xfrm>
                <a:off x="4617956" y="1598665"/>
                <a:ext cx="1478044" cy="2239074"/>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45" name="TextBox 44">
                <a:extLst>
                  <a:ext uri="{FF2B5EF4-FFF2-40B4-BE49-F238E27FC236}">
                    <a16:creationId xmlns:a16="http://schemas.microsoft.com/office/drawing/2014/main" id="{F43E3CA3-BCB6-F128-7E82-0187CAD7CBDF}"/>
                  </a:ext>
                </a:extLst>
              </p:cNvPr>
              <p:cNvSpPr txBox="1"/>
              <p:nvPr/>
            </p:nvSpPr>
            <p:spPr>
              <a:xfrm>
                <a:off x="4868623" y="1821351"/>
                <a:ext cx="1304110" cy="21455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the lease income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(from May 15</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to May 31</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st </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interest reclass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42" name="Oval 41">
              <a:extLst>
                <a:ext uri="{FF2B5EF4-FFF2-40B4-BE49-F238E27FC236}">
                  <a16:creationId xmlns:a16="http://schemas.microsoft.com/office/drawing/2014/main" id="{8CB2BCAC-78F4-24C6-3F0B-49890A590109}"/>
                </a:ext>
              </a:extLst>
            </p:cNvPr>
            <p:cNvSpPr/>
            <p:nvPr/>
          </p:nvSpPr>
          <p:spPr>
            <a:xfrm>
              <a:off x="3263814" y="4107003"/>
              <a:ext cx="85728" cy="8572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43" name="Oval 42">
              <a:extLst>
                <a:ext uri="{FF2B5EF4-FFF2-40B4-BE49-F238E27FC236}">
                  <a16:creationId xmlns:a16="http://schemas.microsoft.com/office/drawing/2014/main" id="{927961A0-07B9-53E3-F2E3-092FE584948B}"/>
                </a:ext>
              </a:extLst>
            </p:cNvPr>
            <p:cNvSpPr/>
            <p:nvPr/>
          </p:nvSpPr>
          <p:spPr>
            <a:xfrm>
              <a:off x="3274322" y="5146865"/>
              <a:ext cx="85728" cy="8572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grpSp>
      <p:sp>
        <p:nvSpPr>
          <p:cNvPr id="46" name="TextBox 45">
            <a:extLst>
              <a:ext uri="{FF2B5EF4-FFF2-40B4-BE49-F238E27FC236}">
                <a16:creationId xmlns:a16="http://schemas.microsoft.com/office/drawing/2014/main" id="{1B505158-DEAD-C1E1-D88B-B6307F5F9F98}"/>
              </a:ext>
            </a:extLst>
          </p:cNvPr>
          <p:cNvSpPr txBox="1"/>
          <p:nvPr/>
        </p:nvSpPr>
        <p:spPr>
          <a:xfrm>
            <a:off x="9157058" y="3194032"/>
            <a:ext cx="934871"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June 30</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th</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sp>
        <p:nvSpPr>
          <p:cNvPr id="47" name="Oval 46">
            <a:extLst>
              <a:ext uri="{FF2B5EF4-FFF2-40B4-BE49-F238E27FC236}">
                <a16:creationId xmlns:a16="http://schemas.microsoft.com/office/drawing/2014/main" id="{ED56FAB3-2073-A0ED-18C6-EDD7334D19E0}"/>
              </a:ext>
            </a:extLst>
          </p:cNvPr>
          <p:cNvSpPr/>
          <p:nvPr/>
        </p:nvSpPr>
        <p:spPr>
          <a:xfrm>
            <a:off x="9519717" y="3023267"/>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48" name="TextBox 47">
            <a:extLst>
              <a:ext uri="{FF2B5EF4-FFF2-40B4-BE49-F238E27FC236}">
                <a16:creationId xmlns:a16="http://schemas.microsoft.com/office/drawing/2014/main" id="{08F5E0A3-8024-807D-32ED-644C6B1A2093}"/>
              </a:ext>
            </a:extLst>
          </p:cNvPr>
          <p:cNvSpPr txBox="1"/>
          <p:nvPr/>
        </p:nvSpPr>
        <p:spPr>
          <a:xfrm>
            <a:off x="10869213" y="3208722"/>
            <a:ext cx="810094"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July 1</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st</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grpSp>
        <p:nvGrpSpPr>
          <p:cNvPr id="49" name="Group 48">
            <a:extLst>
              <a:ext uri="{FF2B5EF4-FFF2-40B4-BE49-F238E27FC236}">
                <a16:creationId xmlns:a16="http://schemas.microsoft.com/office/drawing/2014/main" id="{8728CDC1-4BB2-A72F-4433-A731D4AF509D}"/>
              </a:ext>
            </a:extLst>
          </p:cNvPr>
          <p:cNvGrpSpPr/>
          <p:nvPr/>
        </p:nvGrpSpPr>
        <p:grpSpPr>
          <a:xfrm>
            <a:off x="6987216" y="3961501"/>
            <a:ext cx="1688762" cy="2640203"/>
            <a:chOff x="4733537" y="1635666"/>
            <a:chExt cx="1460328" cy="2640203"/>
          </a:xfrm>
          <a:effectLst>
            <a:outerShdw blurRad="50800" dist="38100" dir="2700000" algn="tl" rotWithShape="0">
              <a:prstClr val="black">
                <a:alpha val="40000"/>
              </a:prstClr>
            </a:outerShdw>
          </a:effectLst>
        </p:grpSpPr>
        <p:sp>
          <p:nvSpPr>
            <p:cNvPr id="50" name="Rectangle: Folded Corner 49">
              <a:extLst>
                <a:ext uri="{FF2B5EF4-FFF2-40B4-BE49-F238E27FC236}">
                  <a16:creationId xmlns:a16="http://schemas.microsoft.com/office/drawing/2014/main" id="{258DFB0E-9C40-CCA6-0F96-0092243D3CD3}"/>
                </a:ext>
              </a:extLst>
            </p:cNvPr>
            <p:cNvSpPr/>
            <p:nvPr/>
          </p:nvSpPr>
          <p:spPr>
            <a:xfrm>
              <a:off x="4733537" y="1635666"/>
              <a:ext cx="1447277" cy="1887000"/>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51" name="TextBox 50">
              <a:extLst>
                <a:ext uri="{FF2B5EF4-FFF2-40B4-BE49-F238E27FC236}">
                  <a16:creationId xmlns:a16="http://schemas.microsoft.com/office/drawing/2014/main" id="{8ADC2644-38A0-D91C-E43F-1E40BF669352}"/>
                </a:ext>
              </a:extLst>
            </p:cNvPr>
            <p:cNvSpPr txBox="1"/>
            <p:nvPr/>
          </p:nvSpPr>
          <p:spPr>
            <a:xfrm>
              <a:off x="4889755" y="1821351"/>
              <a:ext cx="1304110" cy="24545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prstClr val="black"/>
                  </a:solidFill>
                  <a:effectLst/>
                  <a:uLnTx/>
                  <a:uFillTx/>
                  <a:latin typeface="Calibri" panose="020F0502020204030204" pitchFamily="34" charset="0"/>
                  <a:ea typeface="+mn-ea"/>
                  <a:cs typeface="+mn-cs"/>
                </a:rPr>
                <a:t>Monthly rental 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prstClr val="black"/>
                  </a:solidFill>
                  <a:effectLst/>
                  <a:uLnTx/>
                  <a:uFillTx/>
                  <a:latin typeface="Calibri" panose="020F0502020204030204" pitchFamily="34" charset="0"/>
                  <a:ea typeface="+mn-ea"/>
                  <a:cs typeface="+mn-cs"/>
                </a:rPr>
                <a:t>Monthly on-going service 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prstClr val="black"/>
                  </a:solidFill>
                  <a:effectLst/>
                  <a:uLnTx/>
                  <a:uFillTx/>
                  <a:latin typeface="Calibri" panose="020F0502020204030204" pitchFamily="34" charset="0"/>
                  <a:ea typeface="+mn-ea"/>
                  <a:cs typeface="+mn-cs"/>
                </a:rPr>
                <a:t>Monthly Upfront service 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rental reclass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52" name="Rectangle: Folded Corner 51">
            <a:extLst>
              <a:ext uri="{FF2B5EF4-FFF2-40B4-BE49-F238E27FC236}">
                <a16:creationId xmlns:a16="http://schemas.microsoft.com/office/drawing/2014/main" id="{7F236C5E-9D36-E95D-51D7-5BFACB3A7F82}"/>
              </a:ext>
            </a:extLst>
          </p:cNvPr>
          <p:cNvSpPr/>
          <p:nvPr/>
        </p:nvSpPr>
        <p:spPr>
          <a:xfrm>
            <a:off x="10552707" y="3961500"/>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p:txBody>
      </p:sp>
      <p:grpSp>
        <p:nvGrpSpPr>
          <p:cNvPr id="53" name="Group 52">
            <a:extLst>
              <a:ext uri="{FF2B5EF4-FFF2-40B4-BE49-F238E27FC236}">
                <a16:creationId xmlns:a16="http://schemas.microsoft.com/office/drawing/2014/main" id="{505B3743-4997-D0CD-997E-0802B8E93BA3}"/>
              </a:ext>
            </a:extLst>
          </p:cNvPr>
          <p:cNvGrpSpPr/>
          <p:nvPr/>
        </p:nvGrpSpPr>
        <p:grpSpPr>
          <a:xfrm>
            <a:off x="8820766" y="3961501"/>
            <a:ext cx="1593009" cy="1866851"/>
            <a:chOff x="4743452" y="1598665"/>
            <a:chExt cx="1352548" cy="2222331"/>
          </a:xfrm>
          <a:effectLst>
            <a:outerShdw blurRad="50800" dist="38100" dir="2700000" algn="tl" rotWithShape="0">
              <a:prstClr val="black">
                <a:alpha val="40000"/>
              </a:prstClr>
            </a:outerShdw>
          </a:effectLst>
        </p:grpSpPr>
        <p:sp>
          <p:nvSpPr>
            <p:cNvPr id="54" name="Rectangle: Folded Corner 53">
              <a:extLst>
                <a:ext uri="{FF2B5EF4-FFF2-40B4-BE49-F238E27FC236}">
                  <a16:creationId xmlns:a16="http://schemas.microsoft.com/office/drawing/2014/main" id="{23D0551F-973F-F409-2CC7-F9260156F3F2}"/>
                </a:ext>
              </a:extLst>
            </p:cNvPr>
            <p:cNvSpPr/>
            <p:nvPr/>
          </p:nvSpPr>
          <p:spPr>
            <a:xfrm>
              <a:off x="4743452" y="1598665"/>
              <a:ext cx="1352548" cy="2222331"/>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55" name="TextBox 54">
              <a:extLst>
                <a:ext uri="{FF2B5EF4-FFF2-40B4-BE49-F238E27FC236}">
                  <a16:creationId xmlns:a16="http://schemas.microsoft.com/office/drawing/2014/main" id="{801DD205-3528-313B-EFE9-F95F579E9E0F}"/>
                </a:ext>
              </a:extLst>
            </p:cNvPr>
            <p:cNvSpPr txBox="1"/>
            <p:nvPr/>
          </p:nvSpPr>
          <p:spPr>
            <a:xfrm>
              <a:off x="4905376" y="1821352"/>
              <a:ext cx="1190623" cy="18960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the lease income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(from Jun 15</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to Jun 30</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 </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interest reclass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56" name="Oval 55">
            <a:extLst>
              <a:ext uri="{FF2B5EF4-FFF2-40B4-BE49-F238E27FC236}">
                <a16:creationId xmlns:a16="http://schemas.microsoft.com/office/drawing/2014/main" id="{218786EE-F1C6-6318-FB5B-D362A688BE0D}"/>
              </a:ext>
            </a:extLst>
          </p:cNvPr>
          <p:cNvSpPr/>
          <p:nvPr/>
        </p:nvSpPr>
        <p:spPr>
          <a:xfrm>
            <a:off x="11119917" y="303279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57" name="TextBox 56">
            <a:extLst>
              <a:ext uri="{FF2B5EF4-FFF2-40B4-BE49-F238E27FC236}">
                <a16:creationId xmlns:a16="http://schemas.microsoft.com/office/drawing/2014/main" id="{D878E96B-3240-0A24-4A69-49131178ABC2}"/>
              </a:ext>
            </a:extLst>
          </p:cNvPr>
          <p:cNvSpPr txBox="1"/>
          <p:nvPr/>
        </p:nvSpPr>
        <p:spPr>
          <a:xfrm>
            <a:off x="10662306" y="4129657"/>
            <a:ext cx="1402296" cy="116185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rental reclass reversal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Interest reclass reversal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8" name="Oval 57">
            <a:extLst>
              <a:ext uri="{FF2B5EF4-FFF2-40B4-BE49-F238E27FC236}">
                <a16:creationId xmlns:a16="http://schemas.microsoft.com/office/drawing/2014/main" id="{BA30E514-D9EF-181E-67A2-F5E6D4B3DD62}"/>
              </a:ext>
            </a:extLst>
          </p:cNvPr>
          <p:cNvSpPr/>
          <p:nvPr/>
        </p:nvSpPr>
        <p:spPr>
          <a:xfrm>
            <a:off x="10643500" y="423525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59" name="Oval 58">
            <a:extLst>
              <a:ext uri="{FF2B5EF4-FFF2-40B4-BE49-F238E27FC236}">
                <a16:creationId xmlns:a16="http://schemas.microsoft.com/office/drawing/2014/main" id="{47D0A0AA-CB4F-3481-9DAA-FA7B8BE332B0}"/>
              </a:ext>
            </a:extLst>
          </p:cNvPr>
          <p:cNvSpPr/>
          <p:nvPr/>
        </p:nvSpPr>
        <p:spPr>
          <a:xfrm>
            <a:off x="10643500" y="467340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60" name="Oval 59">
            <a:extLst>
              <a:ext uri="{FF2B5EF4-FFF2-40B4-BE49-F238E27FC236}">
                <a16:creationId xmlns:a16="http://schemas.microsoft.com/office/drawing/2014/main" id="{6389BC4E-8172-91E0-932F-406A21637632}"/>
              </a:ext>
            </a:extLst>
          </p:cNvPr>
          <p:cNvSpPr/>
          <p:nvPr/>
        </p:nvSpPr>
        <p:spPr>
          <a:xfrm>
            <a:off x="7090675" y="425430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61" name="Oval 60">
            <a:extLst>
              <a:ext uri="{FF2B5EF4-FFF2-40B4-BE49-F238E27FC236}">
                <a16:creationId xmlns:a16="http://schemas.microsoft.com/office/drawing/2014/main" id="{032D1C95-9ED1-B22B-D9DF-333622846DE6}"/>
              </a:ext>
            </a:extLst>
          </p:cNvPr>
          <p:cNvSpPr/>
          <p:nvPr/>
        </p:nvSpPr>
        <p:spPr>
          <a:xfrm>
            <a:off x="7090675" y="4473376"/>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62" name="Oval 61">
            <a:extLst>
              <a:ext uri="{FF2B5EF4-FFF2-40B4-BE49-F238E27FC236}">
                <a16:creationId xmlns:a16="http://schemas.microsoft.com/office/drawing/2014/main" id="{39ACBF21-F5F3-6DC6-3F63-4F1C41F189B7}"/>
              </a:ext>
            </a:extLst>
          </p:cNvPr>
          <p:cNvSpPr/>
          <p:nvPr/>
        </p:nvSpPr>
        <p:spPr>
          <a:xfrm>
            <a:off x="7090675" y="4911526"/>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63" name="Oval 62">
            <a:extLst>
              <a:ext uri="{FF2B5EF4-FFF2-40B4-BE49-F238E27FC236}">
                <a16:creationId xmlns:a16="http://schemas.microsoft.com/office/drawing/2014/main" id="{DF1AE9CB-8056-22AE-1633-9677B9F80673}"/>
              </a:ext>
            </a:extLst>
          </p:cNvPr>
          <p:cNvSpPr/>
          <p:nvPr/>
        </p:nvSpPr>
        <p:spPr>
          <a:xfrm>
            <a:off x="7090675" y="534015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64" name="Oval 63">
            <a:extLst>
              <a:ext uri="{FF2B5EF4-FFF2-40B4-BE49-F238E27FC236}">
                <a16:creationId xmlns:a16="http://schemas.microsoft.com/office/drawing/2014/main" id="{95C63F78-2303-9476-4561-7B4DBCD60C49}"/>
              </a:ext>
            </a:extLst>
          </p:cNvPr>
          <p:cNvSpPr/>
          <p:nvPr/>
        </p:nvSpPr>
        <p:spPr>
          <a:xfrm>
            <a:off x="8967100" y="425430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65" name="Oval 64">
            <a:extLst>
              <a:ext uri="{FF2B5EF4-FFF2-40B4-BE49-F238E27FC236}">
                <a16:creationId xmlns:a16="http://schemas.microsoft.com/office/drawing/2014/main" id="{794EDA0E-7C50-4D3B-22D7-88D749F68B62}"/>
              </a:ext>
            </a:extLst>
          </p:cNvPr>
          <p:cNvSpPr/>
          <p:nvPr/>
        </p:nvSpPr>
        <p:spPr>
          <a:xfrm>
            <a:off x="8967100" y="5121076"/>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grpSp>
        <p:nvGrpSpPr>
          <p:cNvPr id="66" name="Group 65">
            <a:extLst>
              <a:ext uri="{FF2B5EF4-FFF2-40B4-BE49-F238E27FC236}">
                <a16:creationId xmlns:a16="http://schemas.microsoft.com/office/drawing/2014/main" id="{4B10C1BE-8C14-2334-D54E-FA797CF3650A}"/>
              </a:ext>
            </a:extLst>
          </p:cNvPr>
          <p:cNvGrpSpPr/>
          <p:nvPr/>
        </p:nvGrpSpPr>
        <p:grpSpPr>
          <a:xfrm>
            <a:off x="7050088" y="1293640"/>
            <a:ext cx="1352548" cy="1487855"/>
            <a:chOff x="4743452" y="1598665"/>
            <a:chExt cx="1352548" cy="1487855"/>
          </a:xfrm>
          <a:effectLst>
            <a:outerShdw blurRad="50800" dist="38100" dir="2700000" algn="tl" rotWithShape="0">
              <a:prstClr val="black">
                <a:alpha val="40000"/>
              </a:prstClr>
            </a:outerShdw>
          </a:effectLst>
        </p:grpSpPr>
        <p:sp>
          <p:nvSpPr>
            <p:cNvPr id="67" name="Rectangle: Folded Corner 66">
              <a:extLst>
                <a:ext uri="{FF2B5EF4-FFF2-40B4-BE49-F238E27FC236}">
                  <a16:creationId xmlns:a16="http://schemas.microsoft.com/office/drawing/2014/main" id="{0828ACFA-3E16-FAFD-A5EC-7D680223AA48}"/>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68" name="TextBox 67">
              <a:extLst>
                <a:ext uri="{FF2B5EF4-FFF2-40B4-BE49-F238E27FC236}">
                  <a16:creationId xmlns:a16="http://schemas.microsoft.com/office/drawing/2014/main" id="{7D9E9451-751D-D553-169E-1AB77AD3ADE9}"/>
                </a:ext>
              </a:extLst>
            </p:cNvPr>
            <p:cNvSpPr txBox="1"/>
            <p:nvPr/>
          </p:nvSpPr>
          <p:spPr>
            <a:xfrm>
              <a:off x="4782807" y="1821351"/>
              <a:ext cx="1304110" cy="94641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Lease revenue and unbilled AR</a:t>
              </a: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69" name="Title 2">
            <a:extLst>
              <a:ext uri="{FF2B5EF4-FFF2-40B4-BE49-F238E27FC236}">
                <a16:creationId xmlns:a16="http://schemas.microsoft.com/office/drawing/2014/main" id="{4AE67110-AFA2-C1D6-392D-CBB35FED6D44}"/>
              </a:ext>
            </a:extLst>
          </p:cNvPr>
          <p:cNvSpPr txBox="1">
            <a:spLocks/>
          </p:cNvSpPr>
          <p:nvPr/>
        </p:nvSpPr>
        <p:spPr bwMode="gray">
          <a:xfrm>
            <a:off x="259408" y="275460"/>
            <a:ext cx="11667782" cy="520564"/>
          </a:xfrm>
          <a:prstGeom prst="rect">
            <a:avLst/>
          </a:prstGeom>
        </p:spPr>
        <p:txBody>
          <a:bodyPr wrap="square" lIns="0" tIns="0" rIns="0" bIns="0" anchor="ctr" anchorCtr="0"/>
          <a:lstStyle>
            <a:lvl1pPr marL="0" algn="l" defTabSz="1218621" rtl="0" eaLnBrk="1" latinLnBrk="0" hangingPunct="1">
              <a:lnSpc>
                <a:spcPct val="100000"/>
              </a:lnSpc>
              <a:spcBef>
                <a:spcPct val="0"/>
              </a:spcBef>
              <a:buNone/>
              <a:tabLst>
                <a:tab pos="1218621" algn="l"/>
              </a:tabLst>
              <a:defRPr lang="en-US" sz="3599" kern="1200" cap="none" spc="0" baseline="0" dirty="0">
                <a:solidFill>
                  <a:schemeClr val="tx1"/>
                </a:solidFill>
                <a:latin typeface="Arial" pitchFamily="34" charset="0"/>
                <a:ea typeface="+mn-ea"/>
                <a:cs typeface="Arial" pitchFamily="34" charset="0"/>
              </a:defRPr>
            </a:lvl1pPr>
          </a:lstStyle>
          <a:p>
            <a:pPr marL="0" marR="0" lvl="0" indent="0" algn="l" defTabSz="1218621" rtl="0" eaLnBrk="1" fontAlgn="auto" latinLnBrk="0" hangingPunct="1">
              <a:lnSpc>
                <a:spcPct val="100000"/>
              </a:lnSpc>
              <a:spcBef>
                <a:spcPct val="0"/>
              </a:spcBef>
              <a:spcAft>
                <a:spcPts val="0"/>
              </a:spcAft>
              <a:buClrTx/>
              <a:buSzTx/>
              <a:buFontTx/>
              <a:buNone/>
              <a:tabLst>
                <a:tab pos="1218621" algn="l"/>
              </a:tabLst>
              <a:defRPr/>
            </a:pPr>
            <a:r>
              <a:rPr kumimoji="0" lang="en-US" sz="3200" b="1" i="0" u="none" strike="noStrike" kern="1200" cap="none" spc="0" normalizeH="0" baseline="0" noProof="0">
                <a:ln>
                  <a:noFill/>
                </a:ln>
                <a:solidFill>
                  <a:srgbClr val="4D144A"/>
                </a:solidFill>
                <a:effectLst/>
                <a:uLnTx/>
                <a:uFillTx/>
                <a:latin typeface="Calibri"/>
                <a:ea typeface="+mn-ea"/>
                <a:cs typeface="Calibri"/>
              </a:rPr>
              <a:t>Lessor Accounting Entries and Posting Schedule – IaaS Arrear Lease</a:t>
            </a:r>
          </a:p>
        </p:txBody>
      </p:sp>
    </p:spTree>
    <p:extLst>
      <p:ext uri="{BB962C8B-B14F-4D97-AF65-F5344CB8AC3E}">
        <p14:creationId xmlns:p14="http://schemas.microsoft.com/office/powerpoint/2010/main" val="1948960667"/>
      </p:ext>
    </p:extLst>
  </p:cSld>
  <p:clrMapOvr>
    <a:masterClrMapping/>
  </p:clrMapOvr>
  <p:transition spd="med"/>
</p:sld>
</file>

<file path=ppt/slides/slide1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B27310-FF68-4D64-9D90-091E4490A32A}"/>
              </a:ext>
            </a:extLst>
          </p:cNvPr>
          <p:cNvSpPr>
            <a:spLocks noGrp="1"/>
          </p:cNvSpPr>
          <p:nvPr>
            <p:ph type="title"/>
          </p:nvPr>
        </p:nvSpPr>
        <p:spPr/>
        <p:txBody>
          <a:bodyPr>
            <a:normAutofit fontScale="90000"/>
          </a:bodyPr>
          <a:lstStyle/>
          <a:p>
            <a:endParaRPr lang="en-US"/>
          </a:p>
        </p:txBody>
      </p:sp>
      <p:pic>
        <p:nvPicPr>
          <p:cNvPr id="4" name="Picture 3" descr="A picture containing electronics&#10;&#10;Description automatically generated">
            <a:extLst>
              <a:ext uri="{FF2B5EF4-FFF2-40B4-BE49-F238E27FC236}">
                <a16:creationId xmlns:a16="http://schemas.microsoft.com/office/drawing/2014/main" id="{7333BF24-70FB-421A-B463-D31625AA9F38}"/>
              </a:ext>
            </a:extLst>
          </p:cNvPr>
          <p:cNvPicPr>
            <a:picLocks noChangeAspect="1"/>
          </p:cNvPicPr>
          <p:nvPr/>
        </p:nvPicPr>
        <p:blipFill>
          <a:blip r:embed="rId2"/>
          <a:stretch>
            <a:fillRect/>
          </a:stretch>
        </p:blipFill>
        <p:spPr>
          <a:xfrm>
            <a:off x="69990" y="-6851"/>
            <a:ext cx="12052022" cy="943205"/>
          </a:xfrm>
          <a:prstGeom prst="rect">
            <a:avLst/>
          </a:prstGeom>
        </p:spPr>
      </p:pic>
      <p:sp>
        <p:nvSpPr>
          <p:cNvPr id="3" name="Slide Number Placeholder 2">
            <a:extLst>
              <a:ext uri="{FF2B5EF4-FFF2-40B4-BE49-F238E27FC236}">
                <a16:creationId xmlns:a16="http://schemas.microsoft.com/office/drawing/2014/main" id="{0957CEF3-5884-AE92-78EF-10DA16006A9A}"/>
              </a:ext>
            </a:extLst>
          </p:cNvPr>
          <p:cNvSpPr txBox="1">
            <a:spLocks/>
          </p:cNvSpPr>
          <p:nvPr/>
        </p:nvSpPr>
        <p:spPr>
          <a:xfrm>
            <a:off x="11751501" y="6473952"/>
            <a:ext cx="438912" cy="155448"/>
          </a:xfrm>
          <a:prstGeom prst="rect">
            <a:avLst/>
          </a:prstGeom>
        </p:spPr>
        <p:txBody>
          <a:bodyPr vert="horz" lIns="0" tIns="0" rIns="0" bIns="0" rtlCol="0" anchor="ctr"/>
          <a:lstStyle>
            <a:defPPr>
              <a:defRPr lang="en-US"/>
            </a:defPPr>
            <a:lvl1pPr marL="0" algn="ctr" defTabSz="1218987"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609493" algn="l" defTabSz="1218987" rtl="0" eaLnBrk="1" latinLnBrk="0" hangingPunct="1">
              <a:defRPr sz="2400" kern="1200">
                <a:solidFill>
                  <a:schemeClr val="tx1"/>
                </a:solidFill>
                <a:latin typeface="+mn-lt"/>
                <a:ea typeface="+mn-ea"/>
                <a:cs typeface="+mn-cs"/>
              </a:defRPr>
            </a:lvl2pPr>
            <a:lvl3pPr marL="1218987" algn="l" defTabSz="1218987" rtl="0" eaLnBrk="1" latinLnBrk="0" hangingPunct="1">
              <a:defRPr sz="2400" kern="1200">
                <a:solidFill>
                  <a:schemeClr val="tx1"/>
                </a:solidFill>
                <a:latin typeface="+mn-lt"/>
                <a:ea typeface="+mn-ea"/>
                <a:cs typeface="+mn-cs"/>
              </a:defRPr>
            </a:lvl3pPr>
            <a:lvl4pPr marL="1828480" algn="l" defTabSz="1218987" rtl="0" eaLnBrk="1" latinLnBrk="0" hangingPunct="1">
              <a:defRPr sz="2400" kern="1200">
                <a:solidFill>
                  <a:schemeClr val="tx1"/>
                </a:solidFill>
                <a:latin typeface="+mn-lt"/>
                <a:ea typeface="+mn-ea"/>
                <a:cs typeface="+mn-cs"/>
              </a:defRPr>
            </a:lvl4pPr>
            <a:lvl5pPr marL="2437973" algn="l" defTabSz="1218987" rtl="0" eaLnBrk="1" latinLnBrk="0" hangingPunct="1">
              <a:defRPr sz="2400" kern="1200">
                <a:solidFill>
                  <a:schemeClr val="tx1"/>
                </a:solidFill>
                <a:latin typeface="+mn-lt"/>
                <a:ea typeface="+mn-ea"/>
                <a:cs typeface="+mn-cs"/>
              </a:defRPr>
            </a:lvl5pPr>
            <a:lvl6pPr marL="3047467" algn="l" defTabSz="1218987" rtl="0" eaLnBrk="1" latinLnBrk="0" hangingPunct="1">
              <a:defRPr sz="2400" kern="1200">
                <a:solidFill>
                  <a:schemeClr val="tx1"/>
                </a:solidFill>
                <a:latin typeface="+mn-lt"/>
                <a:ea typeface="+mn-ea"/>
                <a:cs typeface="+mn-cs"/>
              </a:defRPr>
            </a:lvl6pPr>
            <a:lvl7pPr marL="3656960" algn="l" defTabSz="1218987" rtl="0" eaLnBrk="1" latinLnBrk="0" hangingPunct="1">
              <a:defRPr sz="2400" kern="1200">
                <a:solidFill>
                  <a:schemeClr val="tx1"/>
                </a:solidFill>
                <a:latin typeface="+mn-lt"/>
                <a:ea typeface="+mn-ea"/>
                <a:cs typeface="+mn-cs"/>
              </a:defRPr>
            </a:lvl7pPr>
            <a:lvl8pPr marL="4266453" algn="l" defTabSz="1218987" rtl="0" eaLnBrk="1" latinLnBrk="0" hangingPunct="1">
              <a:defRPr sz="2400" kern="1200">
                <a:solidFill>
                  <a:schemeClr val="tx1"/>
                </a:solidFill>
                <a:latin typeface="+mn-lt"/>
                <a:ea typeface="+mn-ea"/>
                <a:cs typeface="+mn-cs"/>
              </a:defRPr>
            </a:lvl8pPr>
            <a:lvl9pPr marL="4875947" algn="l" defTabSz="1218987" rtl="0" eaLnBrk="1" latinLnBrk="0" hangingPunct="1">
              <a:defRPr sz="2400" kern="1200">
                <a:solidFill>
                  <a:schemeClr val="tx1"/>
                </a:solidFill>
                <a:latin typeface="+mn-lt"/>
                <a:ea typeface="+mn-ea"/>
                <a:cs typeface="+mn-cs"/>
              </a:defRPr>
            </a:lvl9pPr>
          </a:lstStyle>
          <a:p>
            <a:pPr marL="0" marR="0" lvl="0" indent="0" algn="ctr" defTabSz="1218987" rtl="0" eaLnBrk="1" fontAlgn="auto" latinLnBrk="0" hangingPunct="1">
              <a:lnSpc>
                <a:spcPct val="100000"/>
              </a:lnSpc>
              <a:spcBef>
                <a:spcPts val="0"/>
              </a:spcBef>
              <a:spcAft>
                <a:spcPts val="0"/>
              </a:spcAft>
              <a:buClrTx/>
              <a:buSzTx/>
              <a:buFontTx/>
              <a:buNone/>
              <a:tabLst/>
              <a:defRPr/>
            </a:pPr>
            <a:fld id="{6D22F896-40B5-4ADD-8801-0D06FADFA095}" type="slidenum">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ctr" defTabSz="1218987" rtl="0" eaLnBrk="1" fontAlgn="auto" latinLnBrk="0" hangingPunct="1">
                <a:lnSpc>
                  <a:spcPct val="100000"/>
                </a:lnSpc>
                <a:spcBef>
                  <a:spcPts val="0"/>
                </a:spcBef>
                <a:spcAft>
                  <a:spcPts val="0"/>
                </a:spcAft>
                <a:buClrTx/>
                <a:buSzTx/>
                <a:buFontTx/>
                <a:buNone/>
                <a:tabLst/>
                <a:defRPr/>
              </a:pPr>
              <a:t>194</a:t>
            </a:fld>
            <a:endParaRPr kumimoji="0" lang="en-US" sz="1000" b="0" i="0" u="none" strike="noStrike" kern="1200" cap="none" spc="0" normalizeH="0" baseline="0" noProof="0">
              <a:ln>
                <a:noFill/>
              </a:ln>
              <a:solidFill>
                <a:prstClr val="black"/>
              </a:solidFill>
              <a:effectLst/>
              <a:uLnTx/>
              <a:uFillTx/>
              <a:latin typeface="Maison Neue Book (Body)"/>
              <a:ea typeface="+mn-ea"/>
              <a:cs typeface="Arial" panose="020B0604020202020204" pitchFamily="34" charset="0"/>
            </a:endParaRPr>
          </a:p>
        </p:txBody>
      </p:sp>
      <p:sp>
        <p:nvSpPr>
          <p:cNvPr id="69" name="Title 2">
            <a:extLst>
              <a:ext uri="{FF2B5EF4-FFF2-40B4-BE49-F238E27FC236}">
                <a16:creationId xmlns:a16="http://schemas.microsoft.com/office/drawing/2014/main" id="{4AE67110-AFA2-C1D6-392D-CBB35FED6D44}"/>
              </a:ext>
            </a:extLst>
          </p:cNvPr>
          <p:cNvSpPr txBox="1">
            <a:spLocks/>
          </p:cNvSpPr>
          <p:nvPr/>
        </p:nvSpPr>
        <p:spPr bwMode="gray">
          <a:xfrm>
            <a:off x="259408" y="275460"/>
            <a:ext cx="11667782" cy="520564"/>
          </a:xfrm>
          <a:prstGeom prst="rect">
            <a:avLst/>
          </a:prstGeom>
        </p:spPr>
        <p:txBody>
          <a:bodyPr wrap="square" lIns="0" tIns="0" rIns="0" bIns="0" anchor="ctr" anchorCtr="0"/>
          <a:lstStyle>
            <a:lvl1pPr marL="0" algn="l" defTabSz="1218621" rtl="0" eaLnBrk="1" latinLnBrk="0" hangingPunct="1">
              <a:lnSpc>
                <a:spcPct val="100000"/>
              </a:lnSpc>
              <a:spcBef>
                <a:spcPct val="0"/>
              </a:spcBef>
              <a:buNone/>
              <a:tabLst>
                <a:tab pos="1218621" algn="l"/>
              </a:tabLst>
              <a:defRPr lang="en-US" sz="3599" kern="1200" cap="none" spc="0" baseline="0" dirty="0">
                <a:solidFill>
                  <a:schemeClr val="tx1"/>
                </a:solidFill>
                <a:latin typeface="Arial" pitchFamily="34" charset="0"/>
                <a:ea typeface="+mn-ea"/>
                <a:cs typeface="Arial" pitchFamily="34" charset="0"/>
              </a:defRPr>
            </a:lvl1pPr>
          </a:lstStyle>
          <a:p>
            <a:pPr marL="0" marR="0" lvl="0" indent="0" algn="l" defTabSz="1218621" rtl="0" eaLnBrk="1" fontAlgn="auto" latinLnBrk="0" hangingPunct="1">
              <a:lnSpc>
                <a:spcPct val="100000"/>
              </a:lnSpc>
              <a:spcBef>
                <a:spcPct val="0"/>
              </a:spcBef>
              <a:spcAft>
                <a:spcPts val="0"/>
              </a:spcAft>
              <a:buClrTx/>
              <a:buSzTx/>
              <a:buFontTx/>
              <a:buNone/>
              <a:tabLst>
                <a:tab pos="1218621" algn="l"/>
              </a:tabLst>
              <a:defRPr/>
            </a:pPr>
            <a:r>
              <a:rPr kumimoji="0" lang="en-US" sz="3200" b="1" i="0" u="none" strike="noStrike" kern="1200" cap="none" spc="0" normalizeH="0" baseline="0" noProof="0">
                <a:ln>
                  <a:noFill/>
                </a:ln>
                <a:solidFill>
                  <a:srgbClr val="4D144A"/>
                </a:solidFill>
                <a:effectLst/>
                <a:uLnTx/>
                <a:uFillTx/>
                <a:latin typeface="Calibri"/>
                <a:ea typeface="+mn-ea"/>
                <a:cs typeface="Calibri"/>
              </a:rPr>
              <a:t>Lessor Accounting Entries and Posting Schedule – IaaS Advance Lease</a:t>
            </a:r>
          </a:p>
        </p:txBody>
      </p:sp>
      <p:sp>
        <p:nvSpPr>
          <p:cNvPr id="197" name="Rectangle 196">
            <a:extLst>
              <a:ext uri="{FF2B5EF4-FFF2-40B4-BE49-F238E27FC236}">
                <a16:creationId xmlns:a16="http://schemas.microsoft.com/office/drawing/2014/main" id="{24AE5C57-9C0D-B142-27D8-16749531D129}"/>
              </a:ext>
            </a:extLst>
          </p:cNvPr>
          <p:cNvSpPr/>
          <p:nvPr/>
        </p:nvSpPr>
        <p:spPr>
          <a:xfrm>
            <a:off x="127849" y="3767944"/>
            <a:ext cx="11941914" cy="2507424"/>
          </a:xfrm>
          <a:prstGeom prst="rect">
            <a:avLst/>
          </a:prstGeom>
          <a:solidFill>
            <a:srgbClr val="46C8E1">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198" name="Rectangle 197">
            <a:extLst>
              <a:ext uri="{FF2B5EF4-FFF2-40B4-BE49-F238E27FC236}">
                <a16:creationId xmlns:a16="http://schemas.microsoft.com/office/drawing/2014/main" id="{6D36855B-F298-646F-5967-8EEA12B6839A}"/>
              </a:ext>
            </a:extLst>
          </p:cNvPr>
          <p:cNvSpPr/>
          <p:nvPr/>
        </p:nvSpPr>
        <p:spPr>
          <a:xfrm>
            <a:off x="127849" y="1131068"/>
            <a:ext cx="11941914" cy="1816149"/>
          </a:xfrm>
          <a:prstGeom prst="rect">
            <a:avLst/>
          </a:prstGeom>
          <a:solidFill>
            <a:srgbClr val="C1ECF5"/>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199" name="Arrow: Right 198">
            <a:extLst>
              <a:ext uri="{FF2B5EF4-FFF2-40B4-BE49-F238E27FC236}">
                <a16:creationId xmlns:a16="http://schemas.microsoft.com/office/drawing/2014/main" id="{2F3D441B-B2F5-DA14-880E-6EB2CAA4342A}"/>
              </a:ext>
            </a:extLst>
          </p:cNvPr>
          <p:cNvSpPr/>
          <p:nvPr/>
        </p:nvSpPr>
        <p:spPr>
          <a:xfrm>
            <a:off x="423124" y="3074969"/>
            <a:ext cx="11646638" cy="45719"/>
          </a:xfrm>
          <a:prstGeom prst="rightArrow">
            <a:avLst/>
          </a:prstGeom>
          <a:solidFill>
            <a:srgbClr val="333F48"/>
          </a:solidFill>
          <a:ln w="25400" cap="flat" cmpd="sng" algn="ctr">
            <a:solidFill>
              <a:srgbClr val="333F48"/>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00" name="Oval 199">
            <a:extLst>
              <a:ext uri="{FF2B5EF4-FFF2-40B4-BE49-F238E27FC236}">
                <a16:creationId xmlns:a16="http://schemas.microsoft.com/office/drawing/2014/main" id="{07FD0049-E84C-45D9-5E16-C02CA1B62252}"/>
              </a:ext>
            </a:extLst>
          </p:cNvPr>
          <p:cNvSpPr/>
          <p:nvPr/>
        </p:nvSpPr>
        <p:spPr>
          <a:xfrm>
            <a:off x="1420813" y="3009900"/>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01" name="TextBox 200">
            <a:extLst>
              <a:ext uri="{FF2B5EF4-FFF2-40B4-BE49-F238E27FC236}">
                <a16:creationId xmlns:a16="http://schemas.microsoft.com/office/drawing/2014/main" id="{4DA4BBBA-9D12-E1B0-7348-A99388DA4511}"/>
              </a:ext>
            </a:extLst>
          </p:cNvPr>
          <p:cNvSpPr txBox="1"/>
          <p:nvPr/>
        </p:nvSpPr>
        <p:spPr>
          <a:xfrm>
            <a:off x="267982" y="3176587"/>
            <a:ext cx="230566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May 15</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th</a:t>
            </a:r>
            <a:endPar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Lease Commencement Date</a:t>
            </a:r>
            <a:endParaRPr kumimoji="0" lang="en-US" sz="1400" b="1" i="0" u="none" strike="noStrike" kern="1200" cap="none" spc="0" normalizeH="0" baseline="0" noProof="0">
              <a:ln>
                <a:noFill/>
              </a:ln>
              <a:solidFill>
                <a:srgbClr val="000000"/>
              </a:solidFill>
              <a:effectLst/>
              <a:highlight>
                <a:srgbClr val="8CDCEC"/>
              </a:highlight>
              <a:uLnTx/>
              <a:uFillTx/>
              <a:latin typeface="Calibri" panose="020F0502020204030204" pitchFamily="34" charset="0"/>
              <a:ea typeface="+mn-ea"/>
              <a:cs typeface="Calibri" panose="020F0502020204030204" pitchFamily="34" charset="0"/>
            </a:endParaRPr>
          </a:p>
        </p:txBody>
      </p:sp>
      <p:sp>
        <p:nvSpPr>
          <p:cNvPr id="202" name="Oval 201">
            <a:extLst>
              <a:ext uri="{FF2B5EF4-FFF2-40B4-BE49-F238E27FC236}">
                <a16:creationId xmlns:a16="http://schemas.microsoft.com/office/drawing/2014/main" id="{E4E3723A-F90E-6CF4-5761-9252F07C30B6}"/>
              </a:ext>
            </a:extLst>
          </p:cNvPr>
          <p:cNvSpPr/>
          <p:nvPr/>
        </p:nvSpPr>
        <p:spPr>
          <a:xfrm>
            <a:off x="3068638" y="301466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03" name="Oval 202">
            <a:extLst>
              <a:ext uri="{FF2B5EF4-FFF2-40B4-BE49-F238E27FC236}">
                <a16:creationId xmlns:a16="http://schemas.microsoft.com/office/drawing/2014/main" id="{175C0B7B-B5C1-75FF-B797-2557917067D5}"/>
              </a:ext>
            </a:extLst>
          </p:cNvPr>
          <p:cNvSpPr/>
          <p:nvPr/>
        </p:nvSpPr>
        <p:spPr>
          <a:xfrm>
            <a:off x="6078538" y="301466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04" name="Oval 203">
            <a:extLst>
              <a:ext uri="{FF2B5EF4-FFF2-40B4-BE49-F238E27FC236}">
                <a16:creationId xmlns:a16="http://schemas.microsoft.com/office/drawing/2014/main" id="{26827913-6594-8C28-0A0E-6924C0EE31AE}"/>
              </a:ext>
            </a:extLst>
          </p:cNvPr>
          <p:cNvSpPr/>
          <p:nvPr/>
        </p:nvSpPr>
        <p:spPr>
          <a:xfrm>
            <a:off x="4542423" y="301466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05" name="TextBox 204">
            <a:extLst>
              <a:ext uri="{FF2B5EF4-FFF2-40B4-BE49-F238E27FC236}">
                <a16:creationId xmlns:a16="http://schemas.microsoft.com/office/drawing/2014/main" id="{493B7070-9713-F65D-3B8C-2705512EDC9B}"/>
              </a:ext>
            </a:extLst>
          </p:cNvPr>
          <p:cNvSpPr txBox="1"/>
          <p:nvPr/>
        </p:nvSpPr>
        <p:spPr>
          <a:xfrm>
            <a:off x="2778079" y="3195244"/>
            <a:ext cx="86292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May 31</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st</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sp>
        <p:nvSpPr>
          <p:cNvPr id="206" name="TextBox 205">
            <a:extLst>
              <a:ext uri="{FF2B5EF4-FFF2-40B4-BE49-F238E27FC236}">
                <a16:creationId xmlns:a16="http://schemas.microsoft.com/office/drawing/2014/main" id="{062777CD-58F9-8E44-3FEE-ABC6C535B516}"/>
              </a:ext>
            </a:extLst>
          </p:cNvPr>
          <p:cNvSpPr txBox="1"/>
          <p:nvPr/>
        </p:nvSpPr>
        <p:spPr>
          <a:xfrm>
            <a:off x="5545360" y="3188824"/>
            <a:ext cx="1268169" cy="7386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June 14</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th</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Term End Date</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endParaRPr>
          </a:p>
        </p:txBody>
      </p:sp>
      <p:sp>
        <p:nvSpPr>
          <p:cNvPr id="207" name="TextBox 206">
            <a:extLst>
              <a:ext uri="{FF2B5EF4-FFF2-40B4-BE49-F238E27FC236}">
                <a16:creationId xmlns:a16="http://schemas.microsoft.com/office/drawing/2014/main" id="{83885630-DCFE-DF3F-85AF-F11C1AD020E7}"/>
              </a:ext>
            </a:extLst>
          </p:cNvPr>
          <p:cNvSpPr txBox="1"/>
          <p:nvPr/>
        </p:nvSpPr>
        <p:spPr>
          <a:xfrm>
            <a:off x="4240832" y="3198927"/>
            <a:ext cx="78604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June 1</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st</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sp>
        <p:nvSpPr>
          <p:cNvPr id="208" name="TextBox 207">
            <a:extLst>
              <a:ext uri="{FF2B5EF4-FFF2-40B4-BE49-F238E27FC236}">
                <a16:creationId xmlns:a16="http://schemas.microsoft.com/office/drawing/2014/main" id="{3B4A2C7C-37F7-F875-CD02-FD86F84421D2}"/>
              </a:ext>
            </a:extLst>
          </p:cNvPr>
          <p:cNvSpPr txBox="1"/>
          <p:nvPr/>
        </p:nvSpPr>
        <p:spPr>
          <a:xfrm>
            <a:off x="204372" y="1789476"/>
            <a:ext cx="466794"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B8EA5"/>
                </a:solidFill>
                <a:effectLst/>
                <a:uLnTx/>
                <a:uFillTx/>
                <a:latin typeface="Calibri" panose="020F0502020204030204" pitchFamily="34" charset="0"/>
                <a:ea typeface="+mn-ea"/>
                <a:cs typeface="Calibri" panose="020F0502020204030204" pitchFamily="34" charset="0"/>
              </a:rPr>
              <a:t>OL</a:t>
            </a:r>
          </a:p>
        </p:txBody>
      </p:sp>
      <p:sp>
        <p:nvSpPr>
          <p:cNvPr id="209" name="TextBox 208">
            <a:extLst>
              <a:ext uri="{FF2B5EF4-FFF2-40B4-BE49-F238E27FC236}">
                <a16:creationId xmlns:a16="http://schemas.microsoft.com/office/drawing/2014/main" id="{278FB225-089A-A959-8985-ADD9ECE57384}"/>
              </a:ext>
            </a:extLst>
          </p:cNvPr>
          <p:cNvSpPr txBox="1"/>
          <p:nvPr/>
        </p:nvSpPr>
        <p:spPr>
          <a:xfrm>
            <a:off x="127850" y="4799912"/>
            <a:ext cx="437941"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B8EA5"/>
                </a:solidFill>
                <a:effectLst/>
                <a:uLnTx/>
                <a:uFillTx/>
                <a:latin typeface="Calibri" panose="020F0502020204030204" pitchFamily="34" charset="0"/>
                <a:ea typeface="+mn-ea"/>
                <a:cs typeface="Calibri" panose="020F0502020204030204" pitchFamily="34" charset="0"/>
              </a:rPr>
              <a:t>FL</a:t>
            </a:r>
          </a:p>
        </p:txBody>
      </p:sp>
      <p:grpSp>
        <p:nvGrpSpPr>
          <p:cNvPr id="210" name="Group 209">
            <a:extLst>
              <a:ext uri="{FF2B5EF4-FFF2-40B4-BE49-F238E27FC236}">
                <a16:creationId xmlns:a16="http://schemas.microsoft.com/office/drawing/2014/main" id="{36941797-132E-8A60-FB92-2D275C13DA1E}"/>
              </a:ext>
            </a:extLst>
          </p:cNvPr>
          <p:cNvGrpSpPr/>
          <p:nvPr/>
        </p:nvGrpSpPr>
        <p:grpSpPr>
          <a:xfrm>
            <a:off x="2449514" y="1303391"/>
            <a:ext cx="1352548" cy="1487855"/>
            <a:chOff x="4743452" y="1598665"/>
            <a:chExt cx="1352548" cy="1487855"/>
          </a:xfrm>
          <a:effectLst>
            <a:outerShdw blurRad="50800" dist="38100" dir="2700000" algn="tl" rotWithShape="0">
              <a:prstClr val="black">
                <a:alpha val="40000"/>
              </a:prstClr>
            </a:outerShdw>
          </a:effectLst>
        </p:grpSpPr>
        <p:sp>
          <p:nvSpPr>
            <p:cNvPr id="211" name="Rectangle: Folded Corner 210">
              <a:extLst>
                <a:ext uri="{FF2B5EF4-FFF2-40B4-BE49-F238E27FC236}">
                  <a16:creationId xmlns:a16="http://schemas.microsoft.com/office/drawing/2014/main" id="{E3C2F845-DDA1-1A1D-F334-A2C421ACE3F8}"/>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12" name="TextBox 211">
              <a:extLst>
                <a:ext uri="{FF2B5EF4-FFF2-40B4-BE49-F238E27FC236}">
                  <a16:creationId xmlns:a16="http://schemas.microsoft.com/office/drawing/2014/main" id="{26BB5C0C-A62D-F52D-5D9A-1006A4961BFB}"/>
                </a:ext>
              </a:extLst>
            </p:cNvPr>
            <p:cNvSpPr txBox="1"/>
            <p:nvPr/>
          </p:nvSpPr>
          <p:spPr>
            <a:xfrm>
              <a:off x="4782807" y="1821351"/>
              <a:ext cx="1304110" cy="116185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monthly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depreciation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(from May 15</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to May 31</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st </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13" name="Group 212">
            <a:extLst>
              <a:ext uri="{FF2B5EF4-FFF2-40B4-BE49-F238E27FC236}">
                <a16:creationId xmlns:a16="http://schemas.microsoft.com/office/drawing/2014/main" id="{6C44CD4B-4658-B50B-55BF-BA3E0BA81C6B}"/>
              </a:ext>
            </a:extLst>
          </p:cNvPr>
          <p:cNvGrpSpPr/>
          <p:nvPr/>
        </p:nvGrpSpPr>
        <p:grpSpPr>
          <a:xfrm>
            <a:off x="820739" y="1078536"/>
            <a:ext cx="1352548" cy="1777410"/>
            <a:chOff x="4743452" y="1373811"/>
            <a:chExt cx="1352548" cy="1777410"/>
          </a:xfrm>
          <a:effectLst>
            <a:outerShdw blurRad="50800" dist="38100" dir="2700000" algn="tl" rotWithShape="0">
              <a:prstClr val="black">
                <a:alpha val="40000"/>
              </a:prstClr>
            </a:outerShdw>
          </a:effectLst>
        </p:grpSpPr>
        <p:sp>
          <p:nvSpPr>
            <p:cNvPr id="214" name="Rectangle: Folded Corner 213">
              <a:extLst>
                <a:ext uri="{FF2B5EF4-FFF2-40B4-BE49-F238E27FC236}">
                  <a16:creationId xmlns:a16="http://schemas.microsoft.com/office/drawing/2014/main" id="{AE971A41-7827-65DC-A417-4E7015D81FD6}"/>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15" name="TextBox 214">
              <a:extLst>
                <a:ext uri="{FF2B5EF4-FFF2-40B4-BE49-F238E27FC236}">
                  <a16:creationId xmlns:a16="http://schemas.microsoft.com/office/drawing/2014/main" id="{9A95FAC1-7357-8EFB-C3CD-E39DE16AF5FC}"/>
                </a:ext>
              </a:extLst>
            </p:cNvPr>
            <p:cNvSpPr txBox="1"/>
            <p:nvPr/>
          </p:nvSpPr>
          <p:spPr>
            <a:xfrm>
              <a:off x="4743452" y="1373811"/>
              <a:ext cx="1304110" cy="17774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rPr>
                <a:t>M0 entry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0" cap="none" spc="0" normalizeH="0" baseline="0" noProof="0">
                  <a:ln>
                    <a:noFill/>
                  </a:ln>
                  <a:solidFill>
                    <a:srgbClr val="000000"/>
                  </a:solidFill>
                  <a:effectLst/>
                  <a:uLnTx/>
                  <a:uFillTx/>
                  <a:latin typeface="Calibri" panose="020F0502020204030204" pitchFamily="34" charset="0"/>
                  <a:ea typeface="宋体" panose="02010600030101010101" pitchFamily="2" charset="-122"/>
                  <a:cs typeface="+mn-cs"/>
                </a:rPr>
                <a:t>Lease revenue and unbilled AR</a:t>
              </a:r>
              <a:endParaRPr kumimoji="0" lang="en-US" altLang="zh-CN" sz="1600" b="0" i="0" u="none" strike="noStrike" kern="0" cap="none" spc="0" normalizeH="0" baseline="0" noProof="0">
                <a:ln>
                  <a:noFill/>
                </a:ln>
                <a:solidFill>
                  <a:srgbClr val="000000"/>
                </a:solidFill>
                <a:effectLst/>
                <a:uLnTx/>
                <a:uFillTx/>
                <a:latin typeface="Aptos" panose="020B0004020202020204"/>
                <a:ea typeface="宋体" panose="02010600030101010101" pitchFamily="2" charset="-122"/>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Calibri" panose="020F0502020204030204" pitchFamily="34" charset="0"/>
                  <a:ea typeface="+mn-ea"/>
                  <a:cs typeface="+mn-cs"/>
                </a:rPr>
                <a:t>-1</a:t>
              </a:r>
              <a:r>
                <a:rPr kumimoji="0" lang="en-US" sz="16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st</a:t>
              </a:r>
              <a:endParaRPr kumimoji="0" lang="en-US" sz="16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16" name="Group 215">
            <a:extLst>
              <a:ext uri="{FF2B5EF4-FFF2-40B4-BE49-F238E27FC236}">
                <a16:creationId xmlns:a16="http://schemas.microsoft.com/office/drawing/2014/main" id="{66D97F29-F4CB-04FE-0DC9-B13EDC779C22}"/>
              </a:ext>
            </a:extLst>
          </p:cNvPr>
          <p:cNvGrpSpPr/>
          <p:nvPr/>
        </p:nvGrpSpPr>
        <p:grpSpPr>
          <a:xfrm>
            <a:off x="5446019" y="1293641"/>
            <a:ext cx="1352548" cy="1487855"/>
            <a:chOff x="4743452" y="1598665"/>
            <a:chExt cx="1352548" cy="1487855"/>
          </a:xfrm>
          <a:effectLst>
            <a:outerShdw blurRad="50800" dist="38100" dir="2700000" algn="tl" rotWithShape="0">
              <a:prstClr val="black">
                <a:alpha val="40000"/>
              </a:prstClr>
            </a:outerShdw>
          </a:effectLst>
        </p:grpSpPr>
        <p:sp>
          <p:nvSpPr>
            <p:cNvPr id="217" name="Rectangle: Folded Corner 216">
              <a:extLst>
                <a:ext uri="{FF2B5EF4-FFF2-40B4-BE49-F238E27FC236}">
                  <a16:creationId xmlns:a16="http://schemas.microsoft.com/office/drawing/2014/main" id="{C12E06A1-4A50-A015-2BC1-8346F9E5F0C6}"/>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18" name="TextBox 217">
              <a:extLst>
                <a:ext uri="{FF2B5EF4-FFF2-40B4-BE49-F238E27FC236}">
                  <a16:creationId xmlns:a16="http://schemas.microsoft.com/office/drawing/2014/main" id="{B3883DCC-0643-13F9-0A26-369CAE5FE995}"/>
                </a:ext>
              </a:extLst>
            </p:cNvPr>
            <p:cNvSpPr txBox="1"/>
            <p:nvPr/>
          </p:nvSpPr>
          <p:spPr>
            <a:xfrm>
              <a:off x="4782807" y="1821351"/>
              <a:ext cx="1304110" cy="116185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monthly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depreciation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(from June 1</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st</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to June 14</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 </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219" name="Rectangle: Folded Corner 218">
            <a:extLst>
              <a:ext uri="{FF2B5EF4-FFF2-40B4-BE49-F238E27FC236}">
                <a16:creationId xmlns:a16="http://schemas.microsoft.com/office/drawing/2014/main" id="{9CF2DDB0-79F6-30C9-F089-D94422F29B5A}"/>
              </a:ext>
            </a:extLst>
          </p:cNvPr>
          <p:cNvSpPr/>
          <p:nvPr/>
        </p:nvSpPr>
        <p:spPr>
          <a:xfrm>
            <a:off x="511586" y="3961500"/>
            <a:ext cx="1595160" cy="1887000"/>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20" name="Rectangle: Folded Corner 219">
            <a:extLst>
              <a:ext uri="{FF2B5EF4-FFF2-40B4-BE49-F238E27FC236}">
                <a16:creationId xmlns:a16="http://schemas.microsoft.com/office/drawing/2014/main" id="{6A96CFAF-6208-7F58-F2F7-31E7645BCEF0}"/>
              </a:ext>
            </a:extLst>
          </p:cNvPr>
          <p:cNvSpPr/>
          <p:nvPr/>
        </p:nvSpPr>
        <p:spPr>
          <a:xfrm>
            <a:off x="3888038" y="3961501"/>
            <a:ext cx="1523230"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21" name="TextBox 220">
            <a:extLst>
              <a:ext uri="{FF2B5EF4-FFF2-40B4-BE49-F238E27FC236}">
                <a16:creationId xmlns:a16="http://schemas.microsoft.com/office/drawing/2014/main" id="{3EF64EE4-072D-1D8B-2FEB-50C1149BBD11}"/>
              </a:ext>
            </a:extLst>
          </p:cNvPr>
          <p:cNvSpPr txBox="1"/>
          <p:nvPr/>
        </p:nvSpPr>
        <p:spPr>
          <a:xfrm>
            <a:off x="11520677" y="3133833"/>
            <a:ext cx="772904"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Posting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Date</a:t>
            </a:r>
          </a:p>
        </p:txBody>
      </p:sp>
      <p:sp>
        <p:nvSpPr>
          <p:cNvPr id="222" name="Oval 221">
            <a:extLst>
              <a:ext uri="{FF2B5EF4-FFF2-40B4-BE49-F238E27FC236}">
                <a16:creationId xmlns:a16="http://schemas.microsoft.com/office/drawing/2014/main" id="{A1927C60-B93F-1996-87DD-9466749CB46D}"/>
              </a:ext>
            </a:extLst>
          </p:cNvPr>
          <p:cNvSpPr/>
          <p:nvPr/>
        </p:nvSpPr>
        <p:spPr>
          <a:xfrm>
            <a:off x="7659688" y="3005137"/>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23" name="TextBox 222">
            <a:extLst>
              <a:ext uri="{FF2B5EF4-FFF2-40B4-BE49-F238E27FC236}">
                <a16:creationId xmlns:a16="http://schemas.microsoft.com/office/drawing/2014/main" id="{5E2417A5-2067-CDA5-F471-6C0BD213A78B}"/>
              </a:ext>
            </a:extLst>
          </p:cNvPr>
          <p:cNvSpPr txBox="1"/>
          <p:nvPr/>
        </p:nvSpPr>
        <p:spPr>
          <a:xfrm>
            <a:off x="7306553" y="3203557"/>
            <a:ext cx="934871"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June 15</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th</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grpSp>
        <p:nvGrpSpPr>
          <p:cNvPr id="224" name="Group 223">
            <a:extLst>
              <a:ext uri="{FF2B5EF4-FFF2-40B4-BE49-F238E27FC236}">
                <a16:creationId xmlns:a16="http://schemas.microsoft.com/office/drawing/2014/main" id="{13730A7F-8652-C786-1592-CC9816D0D5A3}"/>
              </a:ext>
            </a:extLst>
          </p:cNvPr>
          <p:cNvGrpSpPr/>
          <p:nvPr/>
        </p:nvGrpSpPr>
        <p:grpSpPr>
          <a:xfrm>
            <a:off x="5513036" y="3967034"/>
            <a:ext cx="1352548" cy="1531506"/>
            <a:chOff x="4743452" y="1598665"/>
            <a:chExt cx="1352548" cy="1531506"/>
          </a:xfrm>
          <a:effectLst>
            <a:outerShdw blurRad="50800" dist="38100" dir="2700000" algn="tl" rotWithShape="0">
              <a:prstClr val="black">
                <a:alpha val="40000"/>
              </a:prstClr>
            </a:outerShdw>
          </a:effectLst>
        </p:grpSpPr>
        <p:sp>
          <p:nvSpPr>
            <p:cNvPr id="225" name="Rectangle: Folded Corner 224">
              <a:extLst>
                <a:ext uri="{FF2B5EF4-FFF2-40B4-BE49-F238E27FC236}">
                  <a16:creationId xmlns:a16="http://schemas.microsoft.com/office/drawing/2014/main" id="{91DAC744-FDC1-9458-0185-B7FC8DFC0677}"/>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26" name="TextBox 225">
              <a:extLst>
                <a:ext uri="{FF2B5EF4-FFF2-40B4-BE49-F238E27FC236}">
                  <a16:creationId xmlns:a16="http://schemas.microsoft.com/office/drawing/2014/main" id="{E96FB79D-F75D-1B26-D787-1C1C04E06E4F}"/>
                </a:ext>
              </a:extLst>
            </p:cNvPr>
            <p:cNvSpPr txBox="1"/>
            <p:nvPr/>
          </p:nvSpPr>
          <p:spPr>
            <a:xfrm>
              <a:off x="4871147" y="1752871"/>
              <a:ext cx="1190623" cy="13773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the lease income (from June 1st to June 14th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27" name="Group 226">
            <a:extLst>
              <a:ext uri="{FF2B5EF4-FFF2-40B4-BE49-F238E27FC236}">
                <a16:creationId xmlns:a16="http://schemas.microsoft.com/office/drawing/2014/main" id="{004795CF-2996-C721-AE7C-155FCE7F61EE}"/>
              </a:ext>
            </a:extLst>
          </p:cNvPr>
          <p:cNvGrpSpPr/>
          <p:nvPr/>
        </p:nvGrpSpPr>
        <p:grpSpPr>
          <a:xfrm>
            <a:off x="2228212" y="3961501"/>
            <a:ext cx="1592064" cy="1995858"/>
            <a:chOff x="3047162" y="3770874"/>
            <a:chExt cx="1898246" cy="2368242"/>
          </a:xfrm>
        </p:grpSpPr>
        <p:grpSp>
          <p:nvGrpSpPr>
            <p:cNvPr id="228" name="Group 227">
              <a:extLst>
                <a:ext uri="{FF2B5EF4-FFF2-40B4-BE49-F238E27FC236}">
                  <a16:creationId xmlns:a16="http://schemas.microsoft.com/office/drawing/2014/main" id="{FA0E631C-7683-376E-9439-9C38405DB96C}"/>
                </a:ext>
              </a:extLst>
            </p:cNvPr>
            <p:cNvGrpSpPr/>
            <p:nvPr/>
          </p:nvGrpSpPr>
          <p:grpSpPr>
            <a:xfrm>
              <a:off x="3047162" y="3770874"/>
              <a:ext cx="1898246" cy="2368242"/>
              <a:chOff x="4617956" y="1598665"/>
              <a:chExt cx="1554777" cy="2368242"/>
            </a:xfrm>
            <a:effectLst>
              <a:outerShdw blurRad="50800" dist="38100" dir="2700000" algn="tl" rotWithShape="0">
                <a:prstClr val="black">
                  <a:alpha val="40000"/>
                </a:prstClr>
              </a:outerShdw>
            </a:effectLst>
          </p:grpSpPr>
          <p:sp>
            <p:nvSpPr>
              <p:cNvPr id="231" name="Rectangle: Folded Corner 230">
                <a:extLst>
                  <a:ext uri="{FF2B5EF4-FFF2-40B4-BE49-F238E27FC236}">
                    <a16:creationId xmlns:a16="http://schemas.microsoft.com/office/drawing/2014/main" id="{A4477C0F-B66F-99B6-BD3C-53B38BA96E68}"/>
                  </a:ext>
                </a:extLst>
              </p:cNvPr>
              <p:cNvSpPr/>
              <p:nvPr/>
            </p:nvSpPr>
            <p:spPr>
              <a:xfrm>
                <a:off x="4617956" y="1598665"/>
                <a:ext cx="1478044" cy="2239074"/>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32" name="TextBox 231">
                <a:extLst>
                  <a:ext uri="{FF2B5EF4-FFF2-40B4-BE49-F238E27FC236}">
                    <a16:creationId xmlns:a16="http://schemas.microsoft.com/office/drawing/2014/main" id="{9DC2351C-0253-00E8-4673-0123B27FDC75}"/>
                  </a:ext>
                </a:extLst>
              </p:cNvPr>
              <p:cNvSpPr txBox="1"/>
              <p:nvPr/>
            </p:nvSpPr>
            <p:spPr>
              <a:xfrm>
                <a:off x="4868623" y="1821351"/>
                <a:ext cx="1304110" cy="21455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the lease income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(from May 15</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to May 31</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st </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interest reclass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229" name="Oval 228">
              <a:extLst>
                <a:ext uri="{FF2B5EF4-FFF2-40B4-BE49-F238E27FC236}">
                  <a16:creationId xmlns:a16="http://schemas.microsoft.com/office/drawing/2014/main" id="{206B9600-52FD-B6C0-2EDC-DC7245C0D3DC}"/>
                </a:ext>
              </a:extLst>
            </p:cNvPr>
            <p:cNvSpPr/>
            <p:nvPr/>
          </p:nvSpPr>
          <p:spPr>
            <a:xfrm>
              <a:off x="3263814" y="4107003"/>
              <a:ext cx="85728" cy="8572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30" name="Oval 229">
              <a:extLst>
                <a:ext uri="{FF2B5EF4-FFF2-40B4-BE49-F238E27FC236}">
                  <a16:creationId xmlns:a16="http://schemas.microsoft.com/office/drawing/2014/main" id="{DC775C0D-1937-421A-4457-779D239F7894}"/>
                </a:ext>
              </a:extLst>
            </p:cNvPr>
            <p:cNvSpPr/>
            <p:nvPr/>
          </p:nvSpPr>
          <p:spPr>
            <a:xfrm>
              <a:off x="3274322" y="5146865"/>
              <a:ext cx="85728" cy="8572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grpSp>
      <p:sp>
        <p:nvSpPr>
          <p:cNvPr id="233" name="TextBox 232">
            <a:extLst>
              <a:ext uri="{FF2B5EF4-FFF2-40B4-BE49-F238E27FC236}">
                <a16:creationId xmlns:a16="http://schemas.microsoft.com/office/drawing/2014/main" id="{B58693A6-FECE-0F7D-4E98-646D429B73BC}"/>
              </a:ext>
            </a:extLst>
          </p:cNvPr>
          <p:cNvSpPr txBox="1"/>
          <p:nvPr/>
        </p:nvSpPr>
        <p:spPr>
          <a:xfrm>
            <a:off x="9204683" y="3194032"/>
            <a:ext cx="934871"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June 30</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th</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sp>
        <p:nvSpPr>
          <p:cNvPr id="234" name="Oval 233">
            <a:extLst>
              <a:ext uri="{FF2B5EF4-FFF2-40B4-BE49-F238E27FC236}">
                <a16:creationId xmlns:a16="http://schemas.microsoft.com/office/drawing/2014/main" id="{CF56591A-9514-4D62-6996-3B6DA86ED3B5}"/>
              </a:ext>
            </a:extLst>
          </p:cNvPr>
          <p:cNvSpPr/>
          <p:nvPr/>
        </p:nvSpPr>
        <p:spPr>
          <a:xfrm>
            <a:off x="9567342" y="3023267"/>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35" name="TextBox 234">
            <a:extLst>
              <a:ext uri="{FF2B5EF4-FFF2-40B4-BE49-F238E27FC236}">
                <a16:creationId xmlns:a16="http://schemas.microsoft.com/office/drawing/2014/main" id="{346383B5-01F5-72F4-EFE4-994EE6DFCDA9}"/>
              </a:ext>
            </a:extLst>
          </p:cNvPr>
          <p:cNvSpPr txBox="1"/>
          <p:nvPr/>
        </p:nvSpPr>
        <p:spPr>
          <a:xfrm>
            <a:off x="10916838" y="3208722"/>
            <a:ext cx="810094"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July 1</a:t>
            </a:r>
            <a:r>
              <a:rPr kumimoji="0" lang="en-US" sz="1400" b="1" i="0" u="none" strike="noStrike" kern="1200" cap="none" spc="0" normalizeH="0" baseline="3000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st</a:t>
            </a:r>
            <a:r>
              <a:rPr kumimoji="0" lang="en-US" sz="1400" b="1" i="0" u="none" strike="noStrike" kern="1200" cap="none" spc="0" normalizeH="0" baseline="0" noProof="0">
                <a:ln>
                  <a:noFill/>
                </a:ln>
                <a:solidFill>
                  <a:prstClr val="white"/>
                </a:solidFill>
                <a:effectLst/>
                <a:highlight>
                  <a:srgbClr val="0099CC"/>
                </a:highlight>
                <a:uLnTx/>
                <a:uFillTx/>
                <a:latin typeface="Calibri" panose="020F0502020204030204" pitchFamily="34" charset="0"/>
                <a:ea typeface="+mn-ea"/>
                <a:cs typeface="Calibri" panose="020F0502020204030204" pitchFamily="34" charset="0"/>
              </a:rPr>
              <a:t>   </a:t>
            </a:r>
          </a:p>
        </p:txBody>
      </p:sp>
      <p:grpSp>
        <p:nvGrpSpPr>
          <p:cNvPr id="236" name="Group 235">
            <a:extLst>
              <a:ext uri="{FF2B5EF4-FFF2-40B4-BE49-F238E27FC236}">
                <a16:creationId xmlns:a16="http://schemas.microsoft.com/office/drawing/2014/main" id="{EAE618B4-53E5-CEB6-0E5F-3B78521F23A9}"/>
              </a:ext>
            </a:extLst>
          </p:cNvPr>
          <p:cNvGrpSpPr/>
          <p:nvPr/>
        </p:nvGrpSpPr>
        <p:grpSpPr>
          <a:xfrm>
            <a:off x="7034841" y="3961501"/>
            <a:ext cx="1688762" cy="2640203"/>
            <a:chOff x="4733537" y="1635666"/>
            <a:chExt cx="1460328" cy="2640203"/>
          </a:xfrm>
          <a:effectLst>
            <a:outerShdw blurRad="50800" dist="38100" dir="2700000" algn="tl" rotWithShape="0">
              <a:prstClr val="black">
                <a:alpha val="40000"/>
              </a:prstClr>
            </a:outerShdw>
          </a:effectLst>
        </p:grpSpPr>
        <p:sp>
          <p:nvSpPr>
            <p:cNvPr id="237" name="Rectangle: Folded Corner 236">
              <a:extLst>
                <a:ext uri="{FF2B5EF4-FFF2-40B4-BE49-F238E27FC236}">
                  <a16:creationId xmlns:a16="http://schemas.microsoft.com/office/drawing/2014/main" id="{A94AC8F6-3313-101E-E8EE-6664147F7234}"/>
                </a:ext>
              </a:extLst>
            </p:cNvPr>
            <p:cNvSpPr/>
            <p:nvPr/>
          </p:nvSpPr>
          <p:spPr>
            <a:xfrm>
              <a:off x="4733537" y="1635666"/>
              <a:ext cx="1447277" cy="1887000"/>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38" name="TextBox 237">
              <a:extLst>
                <a:ext uri="{FF2B5EF4-FFF2-40B4-BE49-F238E27FC236}">
                  <a16:creationId xmlns:a16="http://schemas.microsoft.com/office/drawing/2014/main" id="{26127F7B-B716-EA3D-D925-DD9A6EE33551}"/>
                </a:ext>
              </a:extLst>
            </p:cNvPr>
            <p:cNvSpPr txBox="1"/>
            <p:nvPr/>
          </p:nvSpPr>
          <p:spPr>
            <a:xfrm>
              <a:off x="4889755" y="1821351"/>
              <a:ext cx="1304110" cy="24545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rental 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on-going service 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Upfront service 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rental reclass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239" name="Rectangle: Folded Corner 238">
            <a:extLst>
              <a:ext uri="{FF2B5EF4-FFF2-40B4-BE49-F238E27FC236}">
                <a16:creationId xmlns:a16="http://schemas.microsoft.com/office/drawing/2014/main" id="{45920A04-E09C-1C65-23C6-C0CB7D71EC59}"/>
              </a:ext>
            </a:extLst>
          </p:cNvPr>
          <p:cNvSpPr/>
          <p:nvPr/>
        </p:nvSpPr>
        <p:spPr>
          <a:xfrm>
            <a:off x="10600332" y="3961500"/>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000000"/>
              </a:solidFill>
              <a:effectLst/>
              <a:uLnTx/>
              <a:uFillTx/>
              <a:latin typeface="Calibri" panose="020F0502020204030204" pitchFamily="34" charset="0"/>
              <a:ea typeface="+mn-ea"/>
              <a:cs typeface="+mn-cs"/>
            </a:endParaRPr>
          </a:p>
        </p:txBody>
      </p:sp>
      <p:grpSp>
        <p:nvGrpSpPr>
          <p:cNvPr id="240" name="Group 239">
            <a:extLst>
              <a:ext uri="{FF2B5EF4-FFF2-40B4-BE49-F238E27FC236}">
                <a16:creationId xmlns:a16="http://schemas.microsoft.com/office/drawing/2014/main" id="{C6C8CA6B-A44C-FC28-2549-785C95E27A8F}"/>
              </a:ext>
            </a:extLst>
          </p:cNvPr>
          <p:cNvGrpSpPr/>
          <p:nvPr/>
        </p:nvGrpSpPr>
        <p:grpSpPr>
          <a:xfrm>
            <a:off x="8868391" y="3961501"/>
            <a:ext cx="1593009" cy="1866851"/>
            <a:chOff x="4743452" y="1598665"/>
            <a:chExt cx="1352548" cy="2222331"/>
          </a:xfrm>
          <a:effectLst>
            <a:outerShdw blurRad="50800" dist="38100" dir="2700000" algn="tl" rotWithShape="0">
              <a:prstClr val="black">
                <a:alpha val="40000"/>
              </a:prstClr>
            </a:outerShdw>
          </a:effectLst>
        </p:grpSpPr>
        <p:sp>
          <p:nvSpPr>
            <p:cNvPr id="241" name="Rectangle: Folded Corner 240">
              <a:extLst>
                <a:ext uri="{FF2B5EF4-FFF2-40B4-BE49-F238E27FC236}">
                  <a16:creationId xmlns:a16="http://schemas.microsoft.com/office/drawing/2014/main" id="{D78CE907-3797-4EAC-667B-E8172CC6B260}"/>
                </a:ext>
              </a:extLst>
            </p:cNvPr>
            <p:cNvSpPr/>
            <p:nvPr/>
          </p:nvSpPr>
          <p:spPr>
            <a:xfrm>
              <a:off x="4743452" y="1598665"/>
              <a:ext cx="1352548" cy="2222331"/>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42" name="TextBox 241">
              <a:extLst>
                <a:ext uri="{FF2B5EF4-FFF2-40B4-BE49-F238E27FC236}">
                  <a16:creationId xmlns:a16="http://schemas.microsoft.com/office/drawing/2014/main" id="{CCDB7873-76BF-C85B-52C7-C901F7D6F2AF}"/>
                </a:ext>
              </a:extLst>
            </p:cNvPr>
            <p:cNvSpPr txBox="1"/>
            <p:nvPr/>
          </p:nvSpPr>
          <p:spPr>
            <a:xfrm>
              <a:off x="4905376" y="1821352"/>
              <a:ext cx="1190623" cy="18960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1/2 of the lease income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(from Jun 15</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to Jun 30</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th </a:t>
              </a: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Monthly interest reclass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243" name="Oval 242">
            <a:extLst>
              <a:ext uri="{FF2B5EF4-FFF2-40B4-BE49-F238E27FC236}">
                <a16:creationId xmlns:a16="http://schemas.microsoft.com/office/drawing/2014/main" id="{2982C457-3321-3A8D-A4C4-0FDF7704A420}"/>
              </a:ext>
            </a:extLst>
          </p:cNvPr>
          <p:cNvSpPr/>
          <p:nvPr/>
        </p:nvSpPr>
        <p:spPr>
          <a:xfrm>
            <a:off x="11167542" y="3032792"/>
            <a:ext cx="171450" cy="171450"/>
          </a:xfrm>
          <a:prstGeom prst="ellipse">
            <a:avLst/>
          </a:prstGeom>
          <a:solidFill>
            <a:srgbClr val="C00000"/>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44" name="TextBox 243">
            <a:extLst>
              <a:ext uri="{FF2B5EF4-FFF2-40B4-BE49-F238E27FC236}">
                <a16:creationId xmlns:a16="http://schemas.microsoft.com/office/drawing/2014/main" id="{786971F0-2C88-579B-FEB4-18C9CAC71BC1}"/>
              </a:ext>
            </a:extLst>
          </p:cNvPr>
          <p:cNvSpPr txBox="1"/>
          <p:nvPr/>
        </p:nvSpPr>
        <p:spPr>
          <a:xfrm>
            <a:off x="10709931" y="4129657"/>
            <a:ext cx="1402296" cy="116185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rental reclass reversal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Interest reclass reversal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45" name="Oval 244">
            <a:extLst>
              <a:ext uri="{FF2B5EF4-FFF2-40B4-BE49-F238E27FC236}">
                <a16:creationId xmlns:a16="http://schemas.microsoft.com/office/drawing/2014/main" id="{D073B139-E0FB-A040-B905-28DC73728974}"/>
              </a:ext>
            </a:extLst>
          </p:cNvPr>
          <p:cNvSpPr/>
          <p:nvPr/>
        </p:nvSpPr>
        <p:spPr>
          <a:xfrm>
            <a:off x="10691125" y="423525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46" name="Oval 245">
            <a:extLst>
              <a:ext uri="{FF2B5EF4-FFF2-40B4-BE49-F238E27FC236}">
                <a16:creationId xmlns:a16="http://schemas.microsoft.com/office/drawing/2014/main" id="{85AC4BA6-7FEC-16CB-E645-0DCBDC74E97B}"/>
              </a:ext>
            </a:extLst>
          </p:cNvPr>
          <p:cNvSpPr/>
          <p:nvPr/>
        </p:nvSpPr>
        <p:spPr>
          <a:xfrm>
            <a:off x="10691125" y="467340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47" name="Oval 246">
            <a:extLst>
              <a:ext uri="{FF2B5EF4-FFF2-40B4-BE49-F238E27FC236}">
                <a16:creationId xmlns:a16="http://schemas.microsoft.com/office/drawing/2014/main" id="{CA37AAC5-5267-CF34-B6E9-BF8526DA2381}"/>
              </a:ext>
            </a:extLst>
          </p:cNvPr>
          <p:cNvSpPr/>
          <p:nvPr/>
        </p:nvSpPr>
        <p:spPr>
          <a:xfrm>
            <a:off x="7138300" y="425430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48" name="Oval 247">
            <a:extLst>
              <a:ext uri="{FF2B5EF4-FFF2-40B4-BE49-F238E27FC236}">
                <a16:creationId xmlns:a16="http://schemas.microsoft.com/office/drawing/2014/main" id="{4398157E-11CC-EE41-2719-3526C5E6F3DF}"/>
              </a:ext>
            </a:extLst>
          </p:cNvPr>
          <p:cNvSpPr/>
          <p:nvPr/>
        </p:nvSpPr>
        <p:spPr>
          <a:xfrm>
            <a:off x="7138300" y="4473376"/>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49" name="Oval 248">
            <a:extLst>
              <a:ext uri="{FF2B5EF4-FFF2-40B4-BE49-F238E27FC236}">
                <a16:creationId xmlns:a16="http://schemas.microsoft.com/office/drawing/2014/main" id="{8818CACA-93E7-D498-881D-E55EFFDC5708}"/>
              </a:ext>
            </a:extLst>
          </p:cNvPr>
          <p:cNvSpPr/>
          <p:nvPr/>
        </p:nvSpPr>
        <p:spPr>
          <a:xfrm>
            <a:off x="7138300" y="4911526"/>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50" name="Oval 249">
            <a:extLst>
              <a:ext uri="{FF2B5EF4-FFF2-40B4-BE49-F238E27FC236}">
                <a16:creationId xmlns:a16="http://schemas.microsoft.com/office/drawing/2014/main" id="{A77B83BE-9A94-DD50-0FF1-EBE56F818640}"/>
              </a:ext>
            </a:extLst>
          </p:cNvPr>
          <p:cNvSpPr/>
          <p:nvPr/>
        </p:nvSpPr>
        <p:spPr>
          <a:xfrm>
            <a:off x="7138300" y="534015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51" name="Oval 250">
            <a:extLst>
              <a:ext uri="{FF2B5EF4-FFF2-40B4-BE49-F238E27FC236}">
                <a16:creationId xmlns:a16="http://schemas.microsoft.com/office/drawing/2014/main" id="{9FA8E6E3-2205-5D24-5387-2875FE39B254}"/>
              </a:ext>
            </a:extLst>
          </p:cNvPr>
          <p:cNvSpPr/>
          <p:nvPr/>
        </p:nvSpPr>
        <p:spPr>
          <a:xfrm>
            <a:off x="4052200" y="425430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52" name="Oval 251">
            <a:extLst>
              <a:ext uri="{FF2B5EF4-FFF2-40B4-BE49-F238E27FC236}">
                <a16:creationId xmlns:a16="http://schemas.microsoft.com/office/drawing/2014/main" id="{C4742705-69A2-4963-4FB0-2D194EA2E4A7}"/>
              </a:ext>
            </a:extLst>
          </p:cNvPr>
          <p:cNvSpPr/>
          <p:nvPr/>
        </p:nvSpPr>
        <p:spPr>
          <a:xfrm>
            <a:off x="9014725" y="5121076"/>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grpSp>
        <p:nvGrpSpPr>
          <p:cNvPr id="253" name="Group 252">
            <a:extLst>
              <a:ext uri="{FF2B5EF4-FFF2-40B4-BE49-F238E27FC236}">
                <a16:creationId xmlns:a16="http://schemas.microsoft.com/office/drawing/2014/main" id="{B96E3305-CC7B-047B-36BF-74FAC86A8104}"/>
              </a:ext>
            </a:extLst>
          </p:cNvPr>
          <p:cNvGrpSpPr/>
          <p:nvPr/>
        </p:nvGrpSpPr>
        <p:grpSpPr>
          <a:xfrm>
            <a:off x="7097713" y="1293640"/>
            <a:ext cx="1352548" cy="1487855"/>
            <a:chOff x="4743452" y="1598665"/>
            <a:chExt cx="1352548" cy="1487855"/>
          </a:xfrm>
          <a:effectLst>
            <a:outerShdw blurRad="50800" dist="38100" dir="2700000" algn="tl" rotWithShape="0">
              <a:prstClr val="black">
                <a:alpha val="40000"/>
              </a:prstClr>
            </a:outerShdw>
          </a:effectLst>
        </p:grpSpPr>
        <p:sp>
          <p:nvSpPr>
            <p:cNvPr id="254" name="Rectangle: Folded Corner 253">
              <a:extLst>
                <a:ext uri="{FF2B5EF4-FFF2-40B4-BE49-F238E27FC236}">
                  <a16:creationId xmlns:a16="http://schemas.microsoft.com/office/drawing/2014/main" id="{7AEF19CA-9D78-F1AE-D143-E48F5C1234CB}"/>
                </a:ext>
              </a:extLst>
            </p:cNvPr>
            <p:cNvSpPr/>
            <p:nvPr/>
          </p:nvSpPr>
          <p:spPr>
            <a:xfrm>
              <a:off x="4743452" y="1598665"/>
              <a:ext cx="1352548" cy="1487855"/>
            </a:xfrm>
            <a:prstGeom prst="foldedCorner">
              <a:avLst/>
            </a:prstGeom>
            <a:solidFill>
              <a:sysClr val="window" lastClr="FFFFFF"/>
            </a:solidFill>
            <a:ln w="25400" cap="flat" cmpd="sng" algn="ctr">
              <a:solidFill>
                <a:srgbClr val="000000"/>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Arial"/>
                <a:ea typeface="+mn-ea"/>
                <a:cs typeface="+mn-cs"/>
              </a:endParaRPr>
            </a:p>
          </p:txBody>
        </p:sp>
        <p:sp>
          <p:nvSpPr>
            <p:cNvPr id="255" name="TextBox 254">
              <a:extLst>
                <a:ext uri="{FF2B5EF4-FFF2-40B4-BE49-F238E27FC236}">
                  <a16:creationId xmlns:a16="http://schemas.microsoft.com/office/drawing/2014/main" id="{9B197AE7-5952-0E23-CE1E-42489687FB5A}"/>
                </a:ext>
              </a:extLst>
            </p:cNvPr>
            <p:cNvSpPr txBox="1"/>
            <p:nvPr/>
          </p:nvSpPr>
          <p:spPr>
            <a:xfrm>
              <a:off x="4782807" y="1821351"/>
              <a:ext cx="1304110" cy="94641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mn-cs"/>
                </a:rPr>
                <a:t>Lease revenue and unbilled AR-2</a:t>
              </a:r>
              <a:r>
                <a:rPr kumimoji="0" lang="en-US" sz="1400" b="0" i="0" u="none" strike="noStrike" kern="0" cap="none" spc="0" normalizeH="0" baseline="30000" noProof="0">
                  <a:ln>
                    <a:noFill/>
                  </a:ln>
                  <a:solidFill>
                    <a:srgbClr val="000000"/>
                  </a:solidFill>
                  <a:effectLst/>
                  <a:uLnTx/>
                  <a:uFillTx/>
                  <a:latin typeface="Calibri" panose="020F0502020204030204" pitchFamily="34" charset="0"/>
                  <a:ea typeface="+mn-ea"/>
                  <a:cs typeface="+mn-cs"/>
                </a:rPr>
                <a:t>nd</a:t>
              </a:r>
              <a:endParaRPr kumimoji="0" lang="en-US" sz="1400" b="0" i="0" u="none" strike="noStrike" kern="0" cap="none" spc="0" normalizeH="0" baseline="0" noProof="0">
                <a:ln>
                  <a:noFill/>
                </a:ln>
                <a:solidFill>
                  <a:srgbClr val="000000"/>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256" name="TextBox 67">
            <a:extLst>
              <a:ext uri="{FF2B5EF4-FFF2-40B4-BE49-F238E27FC236}">
                <a16:creationId xmlns:a16="http://schemas.microsoft.com/office/drawing/2014/main" id="{EE199646-4E5B-31F5-2B71-6E6E5AFA6AC5}"/>
              </a:ext>
            </a:extLst>
          </p:cNvPr>
          <p:cNvSpPr txBox="1"/>
          <p:nvPr/>
        </p:nvSpPr>
        <p:spPr>
          <a:xfrm>
            <a:off x="4132263" y="4114116"/>
            <a:ext cx="1294215" cy="13773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rental reclass reversal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Interest reclass reversal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7" name="Oval 256">
            <a:extLst>
              <a:ext uri="{FF2B5EF4-FFF2-40B4-BE49-F238E27FC236}">
                <a16:creationId xmlns:a16="http://schemas.microsoft.com/office/drawing/2014/main" id="{9EE52F66-EB3C-BFEB-1684-502144B5D383}"/>
              </a:ext>
            </a:extLst>
          </p:cNvPr>
          <p:cNvSpPr/>
          <p:nvPr/>
        </p:nvSpPr>
        <p:spPr>
          <a:xfrm>
            <a:off x="9014725" y="425430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58" name="Oval 257">
            <a:extLst>
              <a:ext uri="{FF2B5EF4-FFF2-40B4-BE49-F238E27FC236}">
                <a16:creationId xmlns:a16="http://schemas.microsoft.com/office/drawing/2014/main" id="{B7819EE3-F414-F778-0922-946D03B0080E}"/>
              </a:ext>
            </a:extLst>
          </p:cNvPr>
          <p:cNvSpPr/>
          <p:nvPr/>
        </p:nvSpPr>
        <p:spPr>
          <a:xfrm>
            <a:off x="4042675" y="4654351"/>
            <a:ext cx="77714"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59" name="TextBox 67">
            <a:extLst>
              <a:ext uri="{FF2B5EF4-FFF2-40B4-BE49-F238E27FC236}">
                <a16:creationId xmlns:a16="http://schemas.microsoft.com/office/drawing/2014/main" id="{780FF54C-8376-EB83-EEC5-DDDC1B88160F}"/>
              </a:ext>
            </a:extLst>
          </p:cNvPr>
          <p:cNvSpPr txBox="1"/>
          <p:nvPr/>
        </p:nvSpPr>
        <p:spPr>
          <a:xfrm>
            <a:off x="671466" y="4004845"/>
            <a:ext cx="1612759" cy="20236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M0 entry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rental 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on-going service 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Upfront service 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Monthly rental reclass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60" name="Oval 259">
            <a:extLst>
              <a:ext uri="{FF2B5EF4-FFF2-40B4-BE49-F238E27FC236}">
                <a16:creationId xmlns:a16="http://schemas.microsoft.com/office/drawing/2014/main" id="{2F443D3B-FE38-A398-2ABB-3A8C1C1617B3}"/>
              </a:ext>
            </a:extLst>
          </p:cNvPr>
          <p:cNvSpPr/>
          <p:nvPr/>
        </p:nvSpPr>
        <p:spPr>
          <a:xfrm>
            <a:off x="600169" y="4111426"/>
            <a:ext cx="71900"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61" name="Oval 260">
            <a:extLst>
              <a:ext uri="{FF2B5EF4-FFF2-40B4-BE49-F238E27FC236}">
                <a16:creationId xmlns:a16="http://schemas.microsoft.com/office/drawing/2014/main" id="{D5B09A29-B527-A210-1274-395D3D9858A6}"/>
              </a:ext>
            </a:extLst>
          </p:cNvPr>
          <p:cNvSpPr/>
          <p:nvPr/>
        </p:nvSpPr>
        <p:spPr>
          <a:xfrm>
            <a:off x="600169" y="4340026"/>
            <a:ext cx="71900"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62" name="Oval 261">
            <a:extLst>
              <a:ext uri="{FF2B5EF4-FFF2-40B4-BE49-F238E27FC236}">
                <a16:creationId xmlns:a16="http://schemas.microsoft.com/office/drawing/2014/main" id="{5600ECEC-FC80-90AE-21F8-3769E702862E}"/>
              </a:ext>
            </a:extLst>
          </p:cNvPr>
          <p:cNvSpPr/>
          <p:nvPr/>
        </p:nvSpPr>
        <p:spPr>
          <a:xfrm>
            <a:off x="600169" y="4559101"/>
            <a:ext cx="71900"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63" name="Oval 262">
            <a:extLst>
              <a:ext uri="{FF2B5EF4-FFF2-40B4-BE49-F238E27FC236}">
                <a16:creationId xmlns:a16="http://schemas.microsoft.com/office/drawing/2014/main" id="{6C793276-A08B-4987-4192-EA85032FF93C}"/>
              </a:ext>
            </a:extLst>
          </p:cNvPr>
          <p:cNvSpPr/>
          <p:nvPr/>
        </p:nvSpPr>
        <p:spPr>
          <a:xfrm>
            <a:off x="600169" y="4978201"/>
            <a:ext cx="71900"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
        <p:nvSpPr>
          <p:cNvPr id="264" name="Oval 263">
            <a:extLst>
              <a:ext uri="{FF2B5EF4-FFF2-40B4-BE49-F238E27FC236}">
                <a16:creationId xmlns:a16="http://schemas.microsoft.com/office/drawing/2014/main" id="{B89FB8BA-DD70-D285-F53F-8DB72DDE7974}"/>
              </a:ext>
            </a:extLst>
          </p:cNvPr>
          <p:cNvSpPr/>
          <p:nvPr/>
        </p:nvSpPr>
        <p:spPr>
          <a:xfrm>
            <a:off x="600169" y="5387776"/>
            <a:ext cx="71900" cy="72246"/>
          </a:xfrm>
          <a:prstGeom prst="ellipse">
            <a:avLst/>
          </a:prstGeom>
          <a:solidFill>
            <a:srgbClr val="3E8DDD"/>
          </a:solidFill>
          <a:ln w="25400" cap="flat" cmpd="sng" algn="ctr">
            <a:solidFill>
              <a:srgbClr val="3E8DD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Arial"/>
              <a:ea typeface="+mn-ea"/>
              <a:cs typeface="+mn-cs"/>
            </a:endParaRPr>
          </a:p>
        </p:txBody>
      </p:sp>
    </p:spTree>
    <p:extLst>
      <p:ext uri="{BB962C8B-B14F-4D97-AF65-F5344CB8AC3E}">
        <p14:creationId xmlns:p14="http://schemas.microsoft.com/office/powerpoint/2010/main" val="4162587516"/>
      </p:ext>
    </p:extLst>
  </p:cSld>
  <p:clrMapOvr>
    <a:masterClrMapping/>
  </p:clrMapOvr>
  <p:transition spd="med"/>
</p:sld>
</file>

<file path=ppt/slides/slide195.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86EADEF8-CFE5-3773-42E3-679AE9BFB084}"/>
            </a:ext>
          </a:extLst>
        </p:cNvPr>
        <p:cNvGrpSpPr/>
        <p:nvPr/>
      </p:nvGrpSpPr>
      <p:grpSpPr>
        <a:xfrm>
          <a:off x="0" y="0"/>
          <a:ext cx="0" cy="0"/>
          <a:chOff x="0" y="0"/>
          <a:chExt cx="0" cy="0"/>
        </a:xfrm>
      </p:grpSpPr>
      <p:sp>
        <p:nvSpPr>
          <p:cNvPr id="3" name="Subtitle 2">
            <a:extLst>
              <a:ext uri="{FF2B5EF4-FFF2-40B4-BE49-F238E27FC236}">
                <a16:creationId xmlns:a16="http://schemas.microsoft.com/office/drawing/2014/main" id="{EA820D5E-600C-E2AB-D697-F4A69E8A14A7}"/>
              </a:ext>
            </a:extLst>
          </p:cNvPr>
          <p:cNvSpPr>
            <a:spLocks noGrp="1"/>
          </p:cNvSpPr>
          <p:nvPr>
            <p:ph type="subTitle" idx="1"/>
          </p:nvPr>
        </p:nvSpPr>
        <p:spPr>
          <a:xfrm>
            <a:off x="734826" y="699711"/>
            <a:ext cx="7437979" cy="3352617"/>
          </a:xfrm>
        </p:spPr>
        <p:txBody>
          <a:bodyPr>
            <a:noAutofit/>
          </a:bodyPr>
          <a:lstStyle/>
          <a:p>
            <a:pPr algn="l"/>
            <a:r>
              <a:rPr lang="en-US" sz="1400" b="1"/>
              <a:t>S&amp;D Model</a:t>
            </a:r>
          </a:p>
          <a:p>
            <a:pPr marL="342900" indent="-342900" algn="l">
              <a:buFont typeface="+mj-lt"/>
              <a:buAutoNum type="arabicPeriod"/>
            </a:pPr>
            <a:r>
              <a:rPr lang="en-US" sz="1400"/>
              <a:t>[SD] Convergent billing A No: 9601 , Ref: 9601</a:t>
            </a:r>
          </a:p>
          <a:p>
            <a:pPr marL="342900" indent="-342900" algn="l">
              <a:buFont typeface="+mj-lt"/>
              <a:buAutoNum type="arabicPeriod"/>
            </a:pPr>
            <a:r>
              <a:rPr lang="en-US" sz="1400"/>
              <a:t>[AFE] Detailed Billing A1 No: 1901, Ref: 9601 / 1902, Ref: 9601</a:t>
            </a:r>
          </a:p>
          <a:p>
            <a:pPr algn="l"/>
            <a:endParaRPr lang="en-US" sz="1400" b="1"/>
          </a:p>
          <a:p>
            <a:pPr algn="l"/>
            <a:r>
              <a:rPr lang="en-US" sz="1400" b="1"/>
              <a:t>Local AFE/AFE Hub model </a:t>
            </a:r>
          </a:p>
          <a:p>
            <a:pPr marL="342900" indent="-342900" algn="l">
              <a:buFont typeface="+mj-lt"/>
              <a:buAutoNum type="arabicPeriod"/>
            </a:pPr>
            <a:r>
              <a:rPr lang="en-US" sz="1400"/>
              <a:t>[AFE] Convergent billing  A (AFE AR) No: 9601 , Ref: 9601</a:t>
            </a:r>
          </a:p>
          <a:p>
            <a:pPr marL="342900" indent="-342900" algn="l">
              <a:buFont typeface="+mj-lt"/>
              <a:buAutoNum type="arabicPeriod"/>
            </a:pPr>
            <a:r>
              <a:rPr lang="en-US" sz="1400"/>
              <a:t>[AFE] Detailed Billing  A1 (AFE AR) No: </a:t>
            </a:r>
            <a:r>
              <a:rPr lang="en-US" sz="1400">
                <a:highlight>
                  <a:srgbClr val="FFFF00"/>
                </a:highlight>
              </a:rPr>
              <a:t>1901</a:t>
            </a:r>
            <a:r>
              <a:rPr lang="en-US" sz="1400"/>
              <a:t>, Ref: 9601 / </a:t>
            </a:r>
            <a:r>
              <a:rPr lang="en-US" sz="1400">
                <a:highlight>
                  <a:srgbClr val="FFFF00"/>
                </a:highlight>
              </a:rPr>
              <a:t>1902</a:t>
            </a:r>
            <a:r>
              <a:rPr lang="en-US" sz="1400"/>
              <a:t>, Ref: 9601</a:t>
            </a:r>
          </a:p>
          <a:p>
            <a:pPr marL="342900" indent="-342900" algn="l">
              <a:buFont typeface="+mj-lt"/>
              <a:buAutoNum type="arabicPeriod"/>
            </a:pPr>
            <a:r>
              <a:rPr lang="en-US" sz="1400"/>
              <a:t>[AFE] Detailed Billing  B (SD ICOAR) No: </a:t>
            </a:r>
            <a:r>
              <a:rPr lang="en-US" sz="1400">
                <a:highlight>
                  <a:srgbClr val="FFFF00"/>
                </a:highlight>
              </a:rPr>
              <a:t>2201</a:t>
            </a:r>
            <a:r>
              <a:rPr lang="en-US" sz="1400"/>
              <a:t>, Ref: 1901 / </a:t>
            </a:r>
            <a:r>
              <a:rPr lang="en-US" sz="1400">
                <a:highlight>
                  <a:srgbClr val="FFFF00"/>
                </a:highlight>
              </a:rPr>
              <a:t>2202</a:t>
            </a:r>
            <a:r>
              <a:rPr lang="en-US" sz="1400"/>
              <a:t>, Ref: 1902</a:t>
            </a:r>
          </a:p>
          <a:p>
            <a:pPr marL="342900" indent="-342900" algn="l">
              <a:buFont typeface="+mj-lt"/>
              <a:buAutoNum type="arabicPeriod"/>
            </a:pPr>
            <a:r>
              <a:rPr lang="en-US" sz="1400"/>
              <a:t>[SD] Detailed Billing  C (AFE ICOAP) No: </a:t>
            </a:r>
            <a:r>
              <a:rPr lang="en-US" sz="1400">
                <a:highlight>
                  <a:srgbClr val="FFFF00"/>
                </a:highlight>
              </a:rPr>
              <a:t>0701</a:t>
            </a:r>
            <a:r>
              <a:rPr lang="en-US" sz="1400"/>
              <a:t>, Ref: 1901 / </a:t>
            </a:r>
            <a:r>
              <a:rPr lang="en-US" sz="1400">
                <a:highlight>
                  <a:srgbClr val="FFFF00"/>
                </a:highlight>
              </a:rPr>
              <a:t>0702</a:t>
            </a:r>
            <a:r>
              <a:rPr lang="en-US" sz="1400"/>
              <a:t>, Ref: 1902</a:t>
            </a:r>
          </a:p>
          <a:p>
            <a:pPr algn="l"/>
            <a:endParaRPr lang="en-US" sz="1400"/>
          </a:p>
          <a:p>
            <a:pPr algn="l"/>
            <a:endParaRPr lang="en-US" sz="1400"/>
          </a:p>
          <a:p>
            <a:pPr marL="285750" indent="-285750" algn="l">
              <a:buFont typeface="Arial" panose="020B0604020202020204" pitchFamily="34" charset="0"/>
              <a:buChar char="•"/>
            </a:pPr>
            <a:endParaRPr lang="en-US" sz="1400"/>
          </a:p>
        </p:txBody>
      </p:sp>
      <p:sp>
        <p:nvSpPr>
          <p:cNvPr id="8" name="Title 1">
            <a:extLst>
              <a:ext uri="{FF2B5EF4-FFF2-40B4-BE49-F238E27FC236}">
                <a16:creationId xmlns:a16="http://schemas.microsoft.com/office/drawing/2014/main" id="{12A3D303-B12F-E4AA-71F0-E93C93796683}"/>
              </a:ext>
            </a:extLst>
          </p:cNvPr>
          <p:cNvSpPr txBox="1">
            <a:spLocks/>
          </p:cNvSpPr>
          <p:nvPr/>
        </p:nvSpPr>
        <p:spPr>
          <a:xfrm>
            <a:off x="159793" y="69669"/>
            <a:ext cx="11574060"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r>
              <a:rPr lang="en-US" sz="2800" b="1"/>
              <a:t>Accounting document number and reference requirement</a:t>
            </a:r>
            <a:endParaRPr lang="en-US" sz="3600" b="1"/>
          </a:p>
        </p:txBody>
      </p:sp>
      <p:sp>
        <p:nvSpPr>
          <p:cNvPr id="9" name="Subtitle 2">
            <a:extLst>
              <a:ext uri="{FF2B5EF4-FFF2-40B4-BE49-F238E27FC236}">
                <a16:creationId xmlns:a16="http://schemas.microsoft.com/office/drawing/2014/main" id="{415364BA-735D-0B62-4915-9371DF4E4106}"/>
              </a:ext>
            </a:extLst>
          </p:cNvPr>
          <p:cNvSpPr txBox="1">
            <a:spLocks/>
          </p:cNvSpPr>
          <p:nvPr/>
        </p:nvSpPr>
        <p:spPr>
          <a:xfrm>
            <a:off x="734826" y="3769195"/>
            <a:ext cx="8937369" cy="2586445"/>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r>
              <a:rPr lang="en-US" sz="1400" b="1"/>
              <a:t>Central Billing model </a:t>
            </a:r>
          </a:p>
          <a:p>
            <a:pPr marL="342900" indent="-342900" algn="l">
              <a:buFont typeface="+mj-lt"/>
              <a:buAutoNum type="arabicPeriod"/>
            </a:pPr>
            <a:r>
              <a:rPr lang="en-US" sz="1400"/>
              <a:t>[AFE] Convergent billing  A (AFE ICOAR) No: 9601 , Ref: 9601</a:t>
            </a:r>
          </a:p>
          <a:p>
            <a:pPr marL="342900" indent="-342900" algn="l">
              <a:buFont typeface="+mj-lt"/>
              <a:buAutoNum type="arabicPeriod"/>
            </a:pPr>
            <a:r>
              <a:rPr lang="en-US" sz="1400"/>
              <a:t>[AFE] Detailed billing  A1 (AFE ICOAR) No: </a:t>
            </a:r>
            <a:r>
              <a:rPr lang="en-US" sz="1400">
                <a:highlight>
                  <a:srgbClr val="FFFF00"/>
                </a:highlight>
              </a:rPr>
              <a:t>1901</a:t>
            </a:r>
            <a:r>
              <a:rPr lang="en-US" sz="1400"/>
              <a:t> , Ref: 9601/ </a:t>
            </a:r>
            <a:r>
              <a:rPr lang="en-US" sz="1400">
                <a:highlight>
                  <a:srgbClr val="FFFF00"/>
                </a:highlight>
              </a:rPr>
              <a:t>1902</a:t>
            </a:r>
            <a:r>
              <a:rPr lang="en-US" sz="1400"/>
              <a:t>, Ref: 9601</a:t>
            </a:r>
          </a:p>
          <a:p>
            <a:pPr marL="342900" indent="-342900" algn="l">
              <a:buFont typeface="+mj-lt"/>
              <a:buAutoNum type="arabicPeriod"/>
            </a:pPr>
            <a:r>
              <a:rPr lang="en-US" sz="1400"/>
              <a:t>[NL11] Convergent billing  B (NL11 AR) No: 9602 , Ref: 9602</a:t>
            </a:r>
          </a:p>
          <a:p>
            <a:pPr marL="342900" indent="-342900" algn="l">
              <a:buFont typeface="+mj-lt"/>
              <a:buAutoNum type="arabicPeriod"/>
            </a:pPr>
            <a:r>
              <a:rPr lang="en-US" sz="1400"/>
              <a:t>[NL11] Detailed Billing  B1 (NL11 AR) No: </a:t>
            </a:r>
            <a:r>
              <a:rPr lang="en-US" sz="1400">
                <a:highlight>
                  <a:srgbClr val="FFFF00"/>
                </a:highlight>
              </a:rPr>
              <a:t>1903</a:t>
            </a:r>
            <a:r>
              <a:rPr lang="en-US" sz="1400"/>
              <a:t>, Ref: </a:t>
            </a:r>
            <a:r>
              <a:rPr lang="en-US" sz="1400">
                <a:solidFill>
                  <a:srgbClr val="FF0000"/>
                </a:solidFill>
              </a:rPr>
              <a:t>1901 (9602) </a:t>
            </a:r>
            <a:r>
              <a:rPr lang="en-US" sz="1400"/>
              <a:t>/ </a:t>
            </a:r>
            <a:r>
              <a:rPr lang="en-US" sz="1400">
                <a:highlight>
                  <a:srgbClr val="FFFF00"/>
                </a:highlight>
              </a:rPr>
              <a:t>1904</a:t>
            </a:r>
            <a:r>
              <a:rPr lang="en-US" sz="1400"/>
              <a:t>, Ref: </a:t>
            </a:r>
            <a:r>
              <a:rPr lang="en-US" sz="1400">
                <a:solidFill>
                  <a:srgbClr val="FF0000"/>
                </a:solidFill>
              </a:rPr>
              <a:t>1902 (9602)</a:t>
            </a:r>
          </a:p>
          <a:p>
            <a:pPr marL="342900" indent="-342900" algn="l">
              <a:buFont typeface="+mj-lt"/>
              <a:buAutoNum type="arabicPeriod"/>
            </a:pPr>
            <a:r>
              <a:rPr lang="en-US" sz="1400"/>
              <a:t>[NL11] Convergent billing  C (NL11 ICOAP) No: </a:t>
            </a:r>
            <a:r>
              <a:rPr lang="en-US" sz="1400">
                <a:highlight>
                  <a:srgbClr val="FFFF00"/>
                </a:highlight>
              </a:rPr>
              <a:t>0701</a:t>
            </a:r>
            <a:r>
              <a:rPr lang="en-US" sz="1400"/>
              <a:t> , Ref: 9601</a:t>
            </a:r>
          </a:p>
          <a:p>
            <a:pPr marL="342900" indent="-342900" algn="l">
              <a:buFont typeface="+mj-lt"/>
              <a:buAutoNum type="arabicPeriod"/>
            </a:pPr>
            <a:r>
              <a:rPr lang="en-US" sz="1400"/>
              <a:t>[NL11] Detailed Billing  C1 (NL11 ICOAP) No: </a:t>
            </a:r>
            <a:r>
              <a:rPr lang="en-US" sz="1400">
                <a:highlight>
                  <a:srgbClr val="FFFF00"/>
                </a:highlight>
              </a:rPr>
              <a:t>1905</a:t>
            </a:r>
            <a:r>
              <a:rPr lang="en-US" sz="1400"/>
              <a:t>, Ref: 1901 / </a:t>
            </a:r>
            <a:r>
              <a:rPr lang="en-US" sz="1400">
                <a:highlight>
                  <a:srgbClr val="FFFF00"/>
                </a:highlight>
              </a:rPr>
              <a:t>1906</a:t>
            </a:r>
            <a:r>
              <a:rPr lang="en-US" sz="1400"/>
              <a:t>, Ref: 1902</a:t>
            </a:r>
          </a:p>
          <a:p>
            <a:pPr marL="342900" indent="-342900" algn="l">
              <a:buFont typeface="+mj-lt"/>
              <a:buAutoNum type="arabicPeriod"/>
            </a:pPr>
            <a:r>
              <a:rPr lang="en-US" sz="1400"/>
              <a:t>[SD] Detailed Billing  D (SD ICOAR) No: </a:t>
            </a:r>
            <a:r>
              <a:rPr lang="en-US" sz="1400">
                <a:highlight>
                  <a:srgbClr val="FFFF00"/>
                </a:highlight>
              </a:rPr>
              <a:t>2201</a:t>
            </a:r>
            <a:r>
              <a:rPr lang="en-US" sz="1400"/>
              <a:t>, Ref: 1901 / </a:t>
            </a:r>
            <a:r>
              <a:rPr lang="en-US" sz="1400">
                <a:highlight>
                  <a:srgbClr val="FFFF00"/>
                </a:highlight>
              </a:rPr>
              <a:t>2202</a:t>
            </a:r>
            <a:r>
              <a:rPr lang="en-US" sz="1400"/>
              <a:t>, Ref: 1902</a:t>
            </a:r>
          </a:p>
          <a:p>
            <a:pPr marL="342900" indent="-342900" algn="l">
              <a:buFont typeface="+mj-lt"/>
              <a:buAutoNum type="arabicPeriod"/>
            </a:pPr>
            <a:r>
              <a:rPr lang="en-US" sz="1400"/>
              <a:t>[AFE] Detailed Billing  F (AFE ICOAP) No: </a:t>
            </a:r>
            <a:r>
              <a:rPr lang="en-US" sz="1400">
                <a:highlight>
                  <a:srgbClr val="FFFF00"/>
                </a:highlight>
              </a:rPr>
              <a:t>0702</a:t>
            </a:r>
            <a:r>
              <a:rPr lang="en-US" sz="1400"/>
              <a:t>, Ref: 1901 / </a:t>
            </a:r>
            <a:r>
              <a:rPr lang="en-US" sz="1400">
                <a:highlight>
                  <a:srgbClr val="FFFF00"/>
                </a:highlight>
              </a:rPr>
              <a:t>0703</a:t>
            </a:r>
            <a:r>
              <a:rPr lang="en-US" sz="1400"/>
              <a:t>, Ref: 1902</a:t>
            </a:r>
          </a:p>
          <a:p>
            <a:pPr marL="285750" indent="-285750" algn="l">
              <a:buFont typeface="Arial" panose="020B0604020202020204" pitchFamily="34" charset="0"/>
              <a:buChar char="•"/>
            </a:pPr>
            <a:endParaRPr lang="en-US" sz="1400"/>
          </a:p>
        </p:txBody>
      </p:sp>
    </p:spTree>
    <p:extLst>
      <p:ext uri="{BB962C8B-B14F-4D97-AF65-F5344CB8AC3E}">
        <p14:creationId xmlns:p14="http://schemas.microsoft.com/office/powerpoint/2010/main" val="366407730"/>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49FB495-8FF0-5618-559E-746528620F30}"/>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189EDE8B-3307-12A3-115C-40E4C0A5D2C0}"/>
              </a:ext>
            </a:extLst>
          </p:cNvPr>
          <p:cNvSpPr/>
          <p:nvPr/>
        </p:nvSpPr>
        <p:spPr>
          <a:xfrm>
            <a:off x="0" y="846529"/>
            <a:ext cx="12192000" cy="283464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68EA38E6-AC22-52F6-C610-4CC1FE7CF1B8}"/>
              </a:ext>
            </a:extLst>
          </p:cNvPr>
          <p:cNvSpPr/>
          <p:nvPr/>
        </p:nvSpPr>
        <p:spPr>
          <a:xfrm>
            <a:off x="0" y="3690767"/>
            <a:ext cx="12192000" cy="3166305"/>
          </a:xfrm>
          <a:prstGeom prst="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itle 1">
            <a:extLst>
              <a:ext uri="{FF2B5EF4-FFF2-40B4-BE49-F238E27FC236}">
                <a16:creationId xmlns:a16="http://schemas.microsoft.com/office/drawing/2014/main" id="{5BF290CE-4F91-52D6-97C1-62E4AB90B467}"/>
              </a:ext>
            </a:extLst>
          </p:cNvPr>
          <p:cNvSpPr txBox="1">
            <a:spLocks/>
          </p:cNvSpPr>
          <p:nvPr/>
        </p:nvSpPr>
        <p:spPr>
          <a:xfrm>
            <a:off x="159793" y="69669"/>
            <a:ext cx="11574060"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r>
              <a:rPr lang="en-US" sz="2800" b="1"/>
              <a:t>Accounting document number and reference requirement</a:t>
            </a:r>
            <a:endParaRPr lang="en-US" sz="3600" b="1"/>
          </a:p>
        </p:txBody>
      </p:sp>
      <p:graphicFrame>
        <p:nvGraphicFramePr>
          <p:cNvPr id="5" name="Table 4">
            <a:extLst>
              <a:ext uri="{FF2B5EF4-FFF2-40B4-BE49-F238E27FC236}">
                <a16:creationId xmlns:a16="http://schemas.microsoft.com/office/drawing/2014/main" id="{7D832152-8DA1-C17D-82D1-5A8CB0809A76}"/>
              </a:ext>
            </a:extLst>
          </p:cNvPr>
          <p:cNvGraphicFramePr>
            <a:graphicFrameLocks noGrp="1"/>
          </p:cNvGraphicFramePr>
          <p:nvPr/>
        </p:nvGraphicFramePr>
        <p:xfrm>
          <a:off x="1426818" y="1549799"/>
          <a:ext cx="9338364" cy="1198880"/>
        </p:xfrm>
        <a:graphic>
          <a:graphicData uri="http://schemas.openxmlformats.org/drawingml/2006/table">
            <a:tbl>
              <a:tblPr firstRow="1" bandRow="1">
                <a:tableStyleId>{5C22544A-7EE6-4342-B048-85BDC9FD1C3A}</a:tableStyleId>
              </a:tblPr>
              <a:tblGrid>
                <a:gridCol w="538543">
                  <a:extLst>
                    <a:ext uri="{9D8B030D-6E8A-4147-A177-3AD203B41FA5}">
                      <a16:colId xmlns:a16="http://schemas.microsoft.com/office/drawing/2014/main" val="1622664016"/>
                    </a:ext>
                  </a:extLst>
                </a:gridCol>
                <a:gridCol w="731520">
                  <a:extLst>
                    <a:ext uri="{9D8B030D-6E8A-4147-A177-3AD203B41FA5}">
                      <a16:colId xmlns:a16="http://schemas.microsoft.com/office/drawing/2014/main" val="3317262248"/>
                    </a:ext>
                  </a:extLst>
                </a:gridCol>
                <a:gridCol w="2528515">
                  <a:extLst>
                    <a:ext uri="{9D8B030D-6E8A-4147-A177-3AD203B41FA5}">
                      <a16:colId xmlns:a16="http://schemas.microsoft.com/office/drawing/2014/main" val="4143243308"/>
                    </a:ext>
                  </a:extLst>
                </a:gridCol>
                <a:gridCol w="1876508">
                  <a:extLst>
                    <a:ext uri="{9D8B030D-6E8A-4147-A177-3AD203B41FA5}">
                      <a16:colId xmlns:a16="http://schemas.microsoft.com/office/drawing/2014/main" val="233147058"/>
                    </a:ext>
                  </a:extLst>
                </a:gridCol>
                <a:gridCol w="2050634">
                  <a:extLst>
                    <a:ext uri="{9D8B030D-6E8A-4147-A177-3AD203B41FA5}">
                      <a16:colId xmlns:a16="http://schemas.microsoft.com/office/drawing/2014/main" val="2130631822"/>
                    </a:ext>
                  </a:extLst>
                </a:gridCol>
                <a:gridCol w="1612644">
                  <a:extLst>
                    <a:ext uri="{9D8B030D-6E8A-4147-A177-3AD203B41FA5}">
                      <a16:colId xmlns:a16="http://schemas.microsoft.com/office/drawing/2014/main" val="2889967345"/>
                    </a:ext>
                  </a:extLst>
                </a:gridCol>
              </a:tblGrid>
              <a:tr h="370840">
                <a:tc>
                  <a:txBody>
                    <a:bodyPr/>
                    <a:lstStyle/>
                    <a:p>
                      <a:r>
                        <a:rPr lang="en-US" sz="1200"/>
                        <a:t>No.</a:t>
                      </a:r>
                    </a:p>
                  </a:txBody>
                  <a:tcPr/>
                </a:tc>
                <a:tc>
                  <a:txBody>
                    <a:bodyPr/>
                    <a:lstStyle/>
                    <a:p>
                      <a:r>
                        <a:rPr lang="en-US" sz="1200"/>
                        <a:t>Entity</a:t>
                      </a:r>
                    </a:p>
                  </a:txBody>
                  <a:tcPr/>
                </a:tc>
                <a:tc>
                  <a:txBody>
                    <a:bodyPr/>
                    <a:lstStyle/>
                    <a:p>
                      <a:r>
                        <a:rPr lang="en-US" sz="1200"/>
                        <a:t>B</a:t>
                      </a:r>
                      <a:r>
                        <a:rPr lang="en-US" altLang="zh-CN" sz="1200"/>
                        <a:t>illing Type</a:t>
                      </a:r>
                      <a:endParaRPr lang="en-US" sz="1200"/>
                    </a:p>
                  </a:txBody>
                  <a:tcPr/>
                </a:tc>
                <a:tc>
                  <a:txBody>
                    <a:bodyPr/>
                    <a:lstStyle/>
                    <a:p>
                      <a:r>
                        <a:rPr lang="en-US" sz="1200"/>
                        <a:t>D</a:t>
                      </a:r>
                      <a:r>
                        <a:rPr lang="en-US" altLang="zh-CN" sz="1200"/>
                        <a:t>ocument No.</a:t>
                      </a:r>
                      <a:endParaRPr lang="en-US" sz="1200"/>
                    </a:p>
                  </a:txBody>
                  <a:tcPr/>
                </a:tc>
                <a:tc>
                  <a:txBody>
                    <a:bodyPr/>
                    <a:lstStyle/>
                    <a:p>
                      <a:r>
                        <a:rPr lang="en-US" sz="1200"/>
                        <a:t>Ref No.</a:t>
                      </a:r>
                    </a:p>
                  </a:txBody>
                  <a:tcPr/>
                </a:tc>
                <a:tc>
                  <a:txBody>
                    <a:bodyPr/>
                    <a:lstStyle/>
                    <a:p>
                      <a:r>
                        <a:rPr lang="en-US" sz="1200"/>
                        <a:t>Comments</a:t>
                      </a:r>
                    </a:p>
                  </a:txBody>
                  <a:tcPr/>
                </a:tc>
                <a:extLst>
                  <a:ext uri="{0D108BD9-81ED-4DB2-BD59-A6C34878D82A}">
                    <a16:rowId xmlns:a16="http://schemas.microsoft.com/office/drawing/2014/main" val="3361155311"/>
                  </a:ext>
                </a:extLst>
              </a:tr>
              <a:tr h="370840">
                <a:tc>
                  <a:txBody>
                    <a:bodyPr/>
                    <a:lstStyle/>
                    <a:p>
                      <a:r>
                        <a:rPr lang="en-US" sz="1200"/>
                        <a:t>1</a:t>
                      </a:r>
                    </a:p>
                  </a:txBody>
                  <a:tcPr/>
                </a:tc>
                <a:tc>
                  <a:txBody>
                    <a:bodyPr/>
                    <a:lstStyle/>
                    <a:p>
                      <a:r>
                        <a:rPr lang="en-US" sz="1200"/>
                        <a:t>SD</a:t>
                      </a:r>
                    </a:p>
                  </a:txBody>
                  <a:tcPr/>
                </a:tc>
                <a:tc>
                  <a:txBody>
                    <a:bodyPr/>
                    <a:lstStyle/>
                    <a:p>
                      <a:r>
                        <a:rPr lang="en-US" sz="1200"/>
                        <a:t>Convergent billing A </a:t>
                      </a:r>
                    </a:p>
                  </a:txBody>
                  <a:tcPr/>
                </a:tc>
                <a:tc>
                  <a:txBody>
                    <a:bodyPr/>
                    <a:lstStyle/>
                    <a:p>
                      <a:r>
                        <a:rPr lang="en-US" sz="1200"/>
                        <a:t>96*01</a:t>
                      </a:r>
                    </a:p>
                  </a:txBody>
                  <a:tcPr/>
                </a:tc>
                <a:tc>
                  <a:txBody>
                    <a:bodyPr/>
                    <a:lstStyle/>
                    <a:p>
                      <a:r>
                        <a:rPr lang="en-US" sz="1200"/>
                        <a:t>96*01</a:t>
                      </a:r>
                    </a:p>
                  </a:txBody>
                  <a:tcPr/>
                </a:tc>
                <a:tc>
                  <a:txBody>
                    <a:bodyPr/>
                    <a:lstStyle/>
                    <a:p>
                      <a:endParaRPr lang="en-US" sz="1200"/>
                    </a:p>
                  </a:txBody>
                  <a:tcPr/>
                </a:tc>
                <a:extLst>
                  <a:ext uri="{0D108BD9-81ED-4DB2-BD59-A6C34878D82A}">
                    <a16:rowId xmlns:a16="http://schemas.microsoft.com/office/drawing/2014/main" val="2229114868"/>
                  </a:ext>
                </a:extLst>
              </a:tr>
              <a:tr h="370840">
                <a:tc>
                  <a:txBody>
                    <a:bodyPr/>
                    <a:lstStyle/>
                    <a:p>
                      <a:r>
                        <a:rPr lang="en-US" sz="1200"/>
                        <a:t>2</a:t>
                      </a:r>
                    </a:p>
                  </a:txBody>
                  <a:tcPr/>
                </a:tc>
                <a:tc>
                  <a:txBody>
                    <a:bodyPr/>
                    <a:lstStyle/>
                    <a:p>
                      <a:r>
                        <a:rPr lang="en-US" sz="1200"/>
                        <a:t>AFE</a:t>
                      </a:r>
                    </a:p>
                  </a:txBody>
                  <a:tcPr/>
                </a:tc>
                <a:tc>
                  <a:txBody>
                    <a:bodyPr/>
                    <a:lstStyle/>
                    <a:p>
                      <a:r>
                        <a:rPr lang="en-US" sz="1200"/>
                        <a:t>Detailed Billing A1 </a:t>
                      </a:r>
                    </a:p>
                  </a:txBody>
                  <a:tcPr/>
                </a:tc>
                <a:tc>
                  <a:txBody>
                    <a:bodyPr/>
                    <a:lstStyle/>
                    <a:p>
                      <a:r>
                        <a:rPr lang="en-US" sz="1200"/>
                        <a:t>19*01</a:t>
                      </a:r>
                    </a:p>
                    <a:p>
                      <a:r>
                        <a:rPr lang="en-US" sz="1200"/>
                        <a:t>19*02 (more than 999)</a:t>
                      </a:r>
                    </a:p>
                  </a:txBody>
                  <a:tcPr/>
                </a:tc>
                <a:tc>
                  <a:txBody>
                    <a:bodyPr/>
                    <a:lstStyle/>
                    <a:p>
                      <a:r>
                        <a:rPr lang="en-US" sz="1200"/>
                        <a:t>96*01</a:t>
                      </a:r>
                    </a:p>
                    <a:p>
                      <a:r>
                        <a:rPr lang="en-US" sz="1200"/>
                        <a:t>96*01</a:t>
                      </a:r>
                    </a:p>
                  </a:txBody>
                  <a:tcPr/>
                </a:tc>
                <a:tc>
                  <a:txBody>
                    <a:bodyPr/>
                    <a:lstStyle/>
                    <a:p>
                      <a:endParaRPr lang="en-US" sz="1200"/>
                    </a:p>
                  </a:txBody>
                  <a:tcPr/>
                </a:tc>
                <a:extLst>
                  <a:ext uri="{0D108BD9-81ED-4DB2-BD59-A6C34878D82A}">
                    <a16:rowId xmlns:a16="http://schemas.microsoft.com/office/drawing/2014/main" val="2778326128"/>
                  </a:ext>
                </a:extLst>
              </a:tr>
            </a:tbl>
          </a:graphicData>
        </a:graphic>
      </p:graphicFrame>
      <p:graphicFrame>
        <p:nvGraphicFramePr>
          <p:cNvPr id="6" name="Table 5">
            <a:extLst>
              <a:ext uri="{FF2B5EF4-FFF2-40B4-BE49-F238E27FC236}">
                <a16:creationId xmlns:a16="http://schemas.microsoft.com/office/drawing/2014/main" id="{2CBE5608-47DB-CDCD-D6D8-67A41EFEBC99}"/>
              </a:ext>
            </a:extLst>
          </p:cNvPr>
          <p:cNvGraphicFramePr>
            <a:graphicFrameLocks noGrp="1"/>
          </p:cNvGraphicFramePr>
          <p:nvPr/>
        </p:nvGraphicFramePr>
        <p:xfrm>
          <a:off x="1426817" y="4489451"/>
          <a:ext cx="9338365" cy="2113280"/>
        </p:xfrm>
        <a:graphic>
          <a:graphicData uri="http://schemas.openxmlformats.org/drawingml/2006/table">
            <a:tbl>
              <a:tblPr firstRow="1" bandRow="1">
                <a:tableStyleId>{5C22544A-7EE6-4342-B048-85BDC9FD1C3A}</a:tableStyleId>
              </a:tblPr>
              <a:tblGrid>
                <a:gridCol w="594203">
                  <a:extLst>
                    <a:ext uri="{9D8B030D-6E8A-4147-A177-3AD203B41FA5}">
                      <a16:colId xmlns:a16="http://schemas.microsoft.com/office/drawing/2014/main" val="2322613917"/>
                    </a:ext>
                  </a:extLst>
                </a:gridCol>
                <a:gridCol w="723569">
                  <a:extLst>
                    <a:ext uri="{9D8B030D-6E8A-4147-A177-3AD203B41FA5}">
                      <a16:colId xmlns:a16="http://schemas.microsoft.com/office/drawing/2014/main" val="3317262248"/>
                    </a:ext>
                  </a:extLst>
                </a:gridCol>
                <a:gridCol w="2488757">
                  <a:extLst>
                    <a:ext uri="{9D8B030D-6E8A-4147-A177-3AD203B41FA5}">
                      <a16:colId xmlns:a16="http://schemas.microsoft.com/office/drawing/2014/main" val="4143243308"/>
                    </a:ext>
                  </a:extLst>
                </a:gridCol>
                <a:gridCol w="1924216">
                  <a:extLst>
                    <a:ext uri="{9D8B030D-6E8A-4147-A177-3AD203B41FA5}">
                      <a16:colId xmlns:a16="http://schemas.microsoft.com/office/drawing/2014/main" val="233147058"/>
                    </a:ext>
                  </a:extLst>
                </a:gridCol>
                <a:gridCol w="1994976">
                  <a:extLst>
                    <a:ext uri="{9D8B030D-6E8A-4147-A177-3AD203B41FA5}">
                      <a16:colId xmlns:a16="http://schemas.microsoft.com/office/drawing/2014/main" val="2130631822"/>
                    </a:ext>
                  </a:extLst>
                </a:gridCol>
                <a:gridCol w="1612644">
                  <a:extLst>
                    <a:ext uri="{9D8B030D-6E8A-4147-A177-3AD203B41FA5}">
                      <a16:colId xmlns:a16="http://schemas.microsoft.com/office/drawing/2014/main" val="2889967345"/>
                    </a:ext>
                  </a:extLst>
                </a:gridCol>
              </a:tblGrid>
              <a:tr h="370840">
                <a:tc>
                  <a:txBody>
                    <a:bodyPr/>
                    <a:lstStyle/>
                    <a:p>
                      <a:pPr algn="l"/>
                      <a:r>
                        <a:rPr lang="en-US" sz="1200" b="1"/>
                        <a:t>No.</a:t>
                      </a:r>
                    </a:p>
                  </a:txBody>
                  <a:tcPr/>
                </a:tc>
                <a:tc>
                  <a:txBody>
                    <a:bodyPr/>
                    <a:lstStyle/>
                    <a:p>
                      <a:pPr algn="l"/>
                      <a:r>
                        <a:rPr lang="en-US" sz="1200" b="1"/>
                        <a:t>Entity</a:t>
                      </a:r>
                    </a:p>
                  </a:txBody>
                  <a:tcPr/>
                </a:tc>
                <a:tc>
                  <a:txBody>
                    <a:bodyPr/>
                    <a:lstStyle/>
                    <a:p>
                      <a:r>
                        <a:rPr lang="en-US" sz="1200"/>
                        <a:t>B</a:t>
                      </a:r>
                      <a:r>
                        <a:rPr lang="en-US" altLang="zh-CN" sz="1200"/>
                        <a:t>illing Type</a:t>
                      </a:r>
                      <a:endParaRPr lang="en-US" sz="1200"/>
                    </a:p>
                  </a:txBody>
                  <a:tcPr/>
                </a:tc>
                <a:tc>
                  <a:txBody>
                    <a:bodyPr/>
                    <a:lstStyle/>
                    <a:p>
                      <a:r>
                        <a:rPr lang="en-US" sz="1200"/>
                        <a:t>D</a:t>
                      </a:r>
                      <a:r>
                        <a:rPr lang="en-US" altLang="zh-CN" sz="1200"/>
                        <a:t>ocument No.</a:t>
                      </a:r>
                      <a:endParaRPr lang="en-US" sz="1200"/>
                    </a:p>
                  </a:txBody>
                  <a:tcPr/>
                </a:tc>
                <a:tc>
                  <a:txBody>
                    <a:bodyPr/>
                    <a:lstStyle/>
                    <a:p>
                      <a:r>
                        <a:rPr lang="en-US" sz="1200"/>
                        <a:t>Ref No.</a:t>
                      </a:r>
                    </a:p>
                  </a:txBody>
                  <a:tcPr/>
                </a:tc>
                <a:tc>
                  <a:txBody>
                    <a:bodyPr/>
                    <a:lstStyle/>
                    <a:p>
                      <a:r>
                        <a:rPr lang="en-US" sz="1200"/>
                        <a:t>Comments</a:t>
                      </a:r>
                    </a:p>
                  </a:txBody>
                  <a:tcPr/>
                </a:tc>
                <a:extLst>
                  <a:ext uri="{0D108BD9-81ED-4DB2-BD59-A6C34878D82A}">
                    <a16:rowId xmlns:a16="http://schemas.microsoft.com/office/drawing/2014/main" val="3361155311"/>
                  </a:ext>
                </a:extLst>
              </a:tr>
              <a:tr h="370840">
                <a:tc>
                  <a:txBody>
                    <a:bodyPr/>
                    <a:lstStyle/>
                    <a:p>
                      <a:r>
                        <a:rPr lang="en-US" sz="1200"/>
                        <a:t>1</a:t>
                      </a:r>
                    </a:p>
                  </a:txBody>
                  <a:tcPr/>
                </a:tc>
                <a:tc>
                  <a:txBody>
                    <a:bodyPr/>
                    <a:lstStyle/>
                    <a:p>
                      <a:r>
                        <a:rPr lang="en-US" sz="1200"/>
                        <a:t>AFE</a:t>
                      </a:r>
                    </a:p>
                  </a:txBody>
                  <a:tcPr/>
                </a:tc>
                <a:tc>
                  <a:txBody>
                    <a:bodyPr/>
                    <a:lstStyle/>
                    <a:p>
                      <a:r>
                        <a:rPr lang="en-US" sz="1200"/>
                        <a:t>Convergent billing  A (AFE AR) </a:t>
                      </a:r>
                    </a:p>
                  </a:txBody>
                  <a:tcPr/>
                </a:tc>
                <a:tc>
                  <a:txBody>
                    <a:bodyPr/>
                    <a:lstStyle/>
                    <a:p>
                      <a:r>
                        <a:rPr lang="en-US" sz="1200"/>
                        <a:t>96*01</a:t>
                      </a:r>
                    </a:p>
                  </a:txBody>
                  <a:tcPr/>
                </a:tc>
                <a:tc>
                  <a:txBody>
                    <a:bodyPr/>
                    <a:lstStyle/>
                    <a:p>
                      <a:r>
                        <a:rPr lang="en-US" sz="1200"/>
                        <a:t>96*01</a:t>
                      </a:r>
                    </a:p>
                  </a:txBody>
                  <a:tcPr/>
                </a:tc>
                <a:tc>
                  <a:txBody>
                    <a:bodyPr/>
                    <a:lstStyle/>
                    <a:p>
                      <a:endParaRPr lang="en-US" sz="1200"/>
                    </a:p>
                  </a:txBody>
                  <a:tcPr/>
                </a:tc>
                <a:extLst>
                  <a:ext uri="{0D108BD9-81ED-4DB2-BD59-A6C34878D82A}">
                    <a16:rowId xmlns:a16="http://schemas.microsoft.com/office/drawing/2014/main" val="2778326128"/>
                  </a:ext>
                </a:extLst>
              </a:tr>
              <a:tr h="370840">
                <a:tc>
                  <a:txBody>
                    <a:bodyPr/>
                    <a:lstStyle/>
                    <a:p>
                      <a:r>
                        <a:rPr lang="en-US" sz="1200"/>
                        <a:t>2</a:t>
                      </a:r>
                    </a:p>
                  </a:txBody>
                  <a:tcPr/>
                </a:tc>
                <a:tc>
                  <a:txBody>
                    <a:bodyPr/>
                    <a:lstStyle/>
                    <a:p>
                      <a:r>
                        <a:rPr lang="en-US" sz="1200"/>
                        <a:t>AFE</a:t>
                      </a:r>
                    </a:p>
                  </a:txBody>
                  <a:tcPr/>
                </a:tc>
                <a:tc>
                  <a:txBody>
                    <a:bodyPr/>
                    <a:lstStyle/>
                    <a:p>
                      <a:r>
                        <a:rPr lang="en-US" sz="1200"/>
                        <a:t>Detailed Billing  A1 (AFE AR) </a:t>
                      </a:r>
                    </a:p>
                  </a:txBody>
                  <a:tcPr/>
                </a:tc>
                <a:tc>
                  <a:txBody>
                    <a:bodyPr/>
                    <a:lstStyle/>
                    <a:p>
                      <a:r>
                        <a:rPr lang="en-US" sz="1200">
                          <a:highlight>
                            <a:srgbClr val="FFFF00"/>
                          </a:highlight>
                        </a:rPr>
                        <a:t>19*01</a:t>
                      </a:r>
                    </a:p>
                    <a:p>
                      <a:r>
                        <a:rPr lang="en-US" sz="1200">
                          <a:highlight>
                            <a:srgbClr val="FFFF00"/>
                          </a:highlight>
                        </a:rPr>
                        <a:t>19*02 (more than 999)</a:t>
                      </a:r>
                    </a:p>
                  </a:txBody>
                  <a:tcPr/>
                </a:tc>
                <a:tc>
                  <a:txBody>
                    <a:bodyPr/>
                    <a:lstStyle/>
                    <a:p>
                      <a:r>
                        <a:rPr lang="en-US" sz="1200"/>
                        <a:t>96*01</a:t>
                      </a:r>
                    </a:p>
                    <a:p>
                      <a:r>
                        <a:rPr lang="en-US" sz="1200"/>
                        <a:t>96*01</a:t>
                      </a:r>
                    </a:p>
                  </a:txBody>
                  <a:tcPr/>
                </a:tc>
                <a:tc>
                  <a:txBody>
                    <a:bodyPr/>
                    <a:lstStyle/>
                    <a:p>
                      <a:endParaRPr lang="en-US" sz="1200"/>
                    </a:p>
                  </a:txBody>
                  <a:tcPr/>
                </a:tc>
                <a:extLst>
                  <a:ext uri="{0D108BD9-81ED-4DB2-BD59-A6C34878D82A}">
                    <a16:rowId xmlns:a16="http://schemas.microsoft.com/office/drawing/2014/main" val="698959425"/>
                  </a:ext>
                </a:extLst>
              </a:tr>
              <a:tr h="370840">
                <a:tc>
                  <a:txBody>
                    <a:bodyPr/>
                    <a:lstStyle/>
                    <a:p>
                      <a:r>
                        <a:rPr lang="en-US" sz="1200"/>
                        <a:t>3</a:t>
                      </a:r>
                    </a:p>
                  </a:txBody>
                  <a:tcPr/>
                </a:tc>
                <a:tc>
                  <a:txBody>
                    <a:bodyPr/>
                    <a:lstStyle/>
                    <a:p>
                      <a:r>
                        <a:rPr lang="en-US" sz="1200"/>
                        <a:t>AFE</a:t>
                      </a:r>
                    </a:p>
                  </a:txBody>
                  <a:tcPr/>
                </a:tc>
                <a:tc>
                  <a:txBody>
                    <a:bodyPr/>
                    <a:lstStyle/>
                    <a:p>
                      <a:r>
                        <a:rPr lang="en-US" sz="1200"/>
                        <a:t>Detailed Billing  B (SD ICOAR) </a:t>
                      </a:r>
                    </a:p>
                  </a:txBody>
                  <a:tcPr/>
                </a:tc>
                <a:tc>
                  <a:txBody>
                    <a:bodyPr/>
                    <a:lstStyle/>
                    <a:p>
                      <a:r>
                        <a:rPr lang="en-US" sz="1200">
                          <a:highlight>
                            <a:srgbClr val="FFFF00"/>
                          </a:highlight>
                        </a:rPr>
                        <a:t>22*01</a:t>
                      </a:r>
                    </a:p>
                    <a:p>
                      <a:r>
                        <a:rPr lang="en-US" sz="1200">
                          <a:highlight>
                            <a:srgbClr val="FFFF00"/>
                          </a:highlight>
                        </a:rPr>
                        <a:t>22*02 (more than 999)</a:t>
                      </a:r>
                    </a:p>
                  </a:txBody>
                  <a:tcPr/>
                </a:tc>
                <a:tc>
                  <a:txBody>
                    <a:bodyPr/>
                    <a:lstStyle/>
                    <a:p>
                      <a:r>
                        <a:rPr lang="en-US" sz="1200"/>
                        <a:t>19*01</a:t>
                      </a:r>
                    </a:p>
                    <a:p>
                      <a:r>
                        <a:rPr lang="en-US" sz="1200"/>
                        <a:t>19*02</a:t>
                      </a:r>
                    </a:p>
                  </a:txBody>
                  <a:tcPr/>
                </a:tc>
                <a:tc>
                  <a:txBody>
                    <a:bodyPr/>
                    <a:lstStyle/>
                    <a:p>
                      <a:endParaRPr lang="en-US" sz="1200"/>
                    </a:p>
                  </a:txBody>
                  <a:tcPr/>
                </a:tc>
                <a:extLst>
                  <a:ext uri="{0D108BD9-81ED-4DB2-BD59-A6C34878D82A}">
                    <a16:rowId xmlns:a16="http://schemas.microsoft.com/office/drawing/2014/main" val="548945205"/>
                  </a:ext>
                </a:extLst>
              </a:tr>
              <a:tr h="370840">
                <a:tc>
                  <a:txBody>
                    <a:bodyPr/>
                    <a:lstStyle/>
                    <a:p>
                      <a:r>
                        <a:rPr lang="en-US" sz="1200"/>
                        <a:t>4</a:t>
                      </a:r>
                    </a:p>
                  </a:txBody>
                  <a:tcPr/>
                </a:tc>
                <a:tc>
                  <a:txBody>
                    <a:bodyPr/>
                    <a:lstStyle/>
                    <a:p>
                      <a:r>
                        <a:rPr lang="en-US" sz="1200"/>
                        <a:t>SD</a:t>
                      </a:r>
                    </a:p>
                  </a:txBody>
                  <a:tcPr/>
                </a:tc>
                <a:tc>
                  <a:txBody>
                    <a:bodyPr/>
                    <a:lstStyle/>
                    <a:p>
                      <a:r>
                        <a:rPr lang="en-US" sz="1200"/>
                        <a:t>Detailed Billing  C (AFE ICOAP) </a:t>
                      </a:r>
                    </a:p>
                  </a:txBody>
                  <a:tcPr/>
                </a:tc>
                <a:tc>
                  <a:txBody>
                    <a:bodyPr/>
                    <a:lstStyle/>
                    <a:p>
                      <a:r>
                        <a:rPr lang="en-US" sz="1200">
                          <a:highlight>
                            <a:srgbClr val="FFFF00"/>
                          </a:highlight>
                        </a:rPr>
                        <a:t>07*01</a:t>
                      </a:r>
                    </a:p>
                    <a:p>
                      <a:r>
                        <a:rPr lang="en-US" sz="1200">
                          <a:highlight>
                            <a:srgbClr val="FFFF00"/>
                          </a:highlight>
                        </a:rPr>
                        <a:t>07*02 (more than 999)</a:t>
                      </a:r>
                    </a:p>
                  </a:txBody>
                  <a:tcPr/>
                </a:tc>
                <a:tc>
                  <a:txBody>
                    <a:bodyPr/>
                    <a:lstStyle/>
                    <a:p>
                      <a:r>
                        <a:rPr lang="en-US" sz="1200"/>
                        <a:t>19*01</a:t>
                      </a:r>
                    </a:p>
                    <a:p>
                      <a:r>
                        <a:rPr lang="en-US" sz="1200"/>
                        <a:t>19*02</a:t>
                      </a:r>
                    </a:p>
                  </a:txBody>
                  <a:tcPr/>
                </a:tc>
                <a:tc>
                  <a:txBody>
                    <a:bodyPr/>
                    <a:lstStyle/>
                    <a:p>
                      <a:endParaRPr lang="en-US" sz="1200"/>
                    </a:p>
                  </a:txBody>
                  <a:tcPr/>
                </a:tc>
                <a:extLst>
                  <a:ext uri="{0D108BD9-81ED-4DB2-BD59-A6C34878D82A}">
                    <a16:rowId xmlns:a16="http://schemas.microsoft.com/office/drawing/2014/main" val="3011769054"/>
                  </a:ext>
                </a:extLst>
              </a:tr>
            </a:tbl>
          </a:graphicData>
        </a:graphic>
      </p:graphicFrame>
      <p:sp>
        <p:nvSpPr>
          <p:cNvPr id="12" name="TextBox 11">
            <a:extLst>
              <a:ext uri="{FF2B5EF4-FFF2-40B4-BE49-F238E27FC236}">
                <a16:creationId xmlns:a16="http://schemas.microsoft.com/office/drawing/2014/main" id="{DC82896A-685E-72AF-E294-04EAF216180E}"/>
              </a:ext>
            </a:extLst>
          </p:cNvPr>
          <p:cNvSpPr txBox="1"/>
          <p:nvPr/>
        </p:nvSpPr>
        <p:spPr>
          <a:xfrm>
            <a:off x="159793" y="967213"/>
            <a:ext cx="6094674" cy="369332"/>
          </a:xfrm>
          <a:prstGeom prst="rect">
            <a:avLst/>
          </a:prstGeom>
          <a:noFill/>
        </p:spPr>
        <p:txBody>
          <a:bodyPr wrap="square">
            <a:spAutoFit/>
          </a:bodyPr>
          <a:lstStyle/>
          <a:p>
            <a:pPr algn="l"/>
            <a:r>
              <a:rPr lang="en-US" sz="1800" b="1"/>
              <a:t>S&amp;D Model</a:t>
            </a:r>
          </a:p>
        </p:txBody>
      </p:sp>
      <p:sp>
        <p:nvSpPr>
          <p:cNvPr id="14" name="TextBox 13">
            <a:extLst>
              <a:ext uri="{FF2B5EF4-FFF2-40B4-BE49-F238E27FC236}">
                <a16:creationId xmlns:a16="http://schemas.microsoft.com/office/drawing/2014/main" id="{5A82E0D1-E81E-C5B1-35BC-408854ABFA8E}"/>
              </a:ext>
            </a:extLst>
          </p:cNvPr>
          <p:cNvSpPr txBox="1"/>
          <p:nvPr/>
        </p:nvSpPr>
        <p:spPr>
          <a:xfrm>
            <a:off x="97404" y="3905443"/>
            <a:ext cx="6157063" cy="369332"/>
          </a:xfrm>
          <a:prstGeom prst="rect">
            <a:avLst/>
          </a:prstGeom>
          <a:noFill/>
        </p:spPr>
        <p:txBody>
          <a:bodyPr wrap="square">
            <a:spAutoFit/>
          </a:bodyPr>
          <a:lstStyle/>
          <a:p>
            <a:r>
              <a:rPr lang="en-US" b="1"/>
              <a:t>Local AFE/AFE Hub model </a:t>
            </a:r>
          </a:p>
        </p:txBody>
      </p:sp>
    </p:spTree>
    <p:extLst>
      <p:ext uri="{BB962C8B-B14F-4D97-AF65-F5344CB8AC3E}">
        <p14:creationId xmlns:p14="http://schemas.microsoft.com/office/powerpoint/2010/main" val="183441342"/>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77451F0E-E535-F553-1242-95C78A17ED35}"/>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FF4FE983-D85D-A425-959C-F2AA9FAEFC8A}"/>
              </a:ext>
            </a:extLst>
          </p:cNvPr>
          <p:cNvSpPr/>
          <p:nvPr/>
        </p:nvSpPr>
        <p:spPr>
          <a:xfrm>
            <a:off x="0" y="846528"/>
            <a:ext cx="12192000" cy="6011471"/>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itle 1">
            <a:extLst>
              <a:ext uri="{FF2B5EF4-FFF2-40B4-BE49-F238E27FC236}">
                <a16:creationId xmlns:a16="http://schemas.microsoft.com/office/drawing/2014/main" id="{E55F9F0B-C886-12A5-2113-33090BC13E72}"/>
              </a:ext>
            </a:extLst>
          </p:cNvPr>
          <p:cNvSpPr txBox="1">
            <a:spLocks/>
          </p:cNvSpPr>
          <p:nvPr/>
        </p:nvSpPr>
        <p:spPr>
          <a:xfrm>
            <a:off x="159793" y="69669"/>
            <a:ext cx="11574060" cy="681446"/>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r>
              <a:rPr lang="en-US" sz="2800" b="1"/>
              <a:t>Accounting document number and reference requirement</a:t>
            </a:r>
            <a:endParaRPr lang="en-US" sz="3600" b="1"/>
          </a:p>
        </p:txBody>
      </p:sp>
      <p:graphicFrame>
        <p:nvGraphicFramePr>
          <p:cNvPr id="6" name="Table 5">
            <a:extLst>
              <a:ext uri="{FF2B5EF4-FFF2-40B4-BE49-F238E27FC236}">
                <a16:creationId xmlns:a16="http://schemas.microsoft.com/office/drawing/2014/main" id="{840B8995-D907-1972-6090-893C06ED1766}"/>
              </a:ext>
            </a:extLst>
          </p:cNvPr>
          <p:cNvGraphicFramePr>
            <a:graphicFrameLocks noGrp="1"/>
          </p:cNvGraphicFramePr>
          <p:nvPr/>
        </p:nvGraphicFramePr>
        <p:xfrm>
          <a:off x="1336826" y="1881223"/>
          <a:ext cx="9338365" cy="3942080"/>
        </p:xfrm>
        <a:graphic>
          <a:graphicData uri="http://schemas.openxmlformats.org/drawingml/2006/table">
            <a:tbl>
              <a:tblPr firstRow="1" bandRow="1">
                <a:tableStyleId>{5C22544A-7EE6-4342-B048-85BDC9FD1C3A}</a:tableStyleId>
              </a:tblPr>
              <a:tblGrid>
                <a:gridCol w="1326860">
                  <a:extLst>
                    <a:ext uri="{9D8B030D-6E8A-4147-A177-3AD203B41FA5}">
                      <a16:colId xmlns:a16="http://schemas.microsoft.com/office/drawing/2014/main" val="3317262248"/>
                    </a:ext>
                  </a:extLst>
                </a:gridCol>
                <a:gridCol w="2584174">
                  <a:extLst>
                    <a:ext uri="{9D8B030D-6E8A-4147-A177-3AD203B41FA5}">
                      <a16:colId xmlns:a16="http://schemas.microsoft.com/office/drawing/2014/main" val="4143243308"/>
                    </a:ext>
                  </a:extLst>
                </a:gridCol>
                <a:gridCol w="1916264">
                  <a:extLst>
                    <a:ext uri="{9D8B030D-6E8A-4147-A177-3AD203B41FA5}">
                      <a16:colId xmlns:a16="http://schemas.microsoft.com/office/drawing/2014/main" val="233147058"/>
                    </a:ext>
                  </a:extLst>
                </a:gridCol>
                <a:gridCol w="1280160">
                  <a:extLst>
                    <a:ext uri="{9D8B030D-6E8A-4147-A177-3AD203B41FA5}">
                      <a16:colId xmlns:a16="http://schemas.microsoft.com/office/drawing/2014/main" val="2130631822"/>
                    </a:ext>
                  </a:extLst>
                </a:gridCol>
                <a:gridCol w="2230907">
                  <a:extLst>
                    <a:ext uri="{9D8B030D-6E8A-4147-A177-3AD203B41FA5}">
                      <a16:colId xmlns:a16="http://schemas.microsoft.com/office/drawing/2014/main" val="2889967345"/>
                    </a:ext>
                  </a:extLst>
                </a:gridCol>
              </a:tblGrid>
              <a:tr h="332272">
                <a:tc>
                  <a:txBody>
                    <a:bodyPr/>
                    <a:lstStyle/>
                    <a:p>
                      <a:pPr algn="l"/>
                      <a:r>
                        <a:rPr lang="en-US" sz="1200" b="1"/>
                        <a:t>Central Billing Model </a:t>
                      </a:r>
                    </a:p>
                  </a:txBody>
                  <a:tcPr/>
                </a:tc>
                <a:tc>
                  <a:txBody>
                    <a:bodyPr/>
                    <a:lstStyle/>
                    <a:p>
                      <a:r>
                        <a:rPr lang="en-US" sz="1200"/>
                        <a:t>B</a:t>
                      </a:r>
                      <a:r>
                        <a:rPr lang="en-US" altLang="zh-CN" sz="1200"/>
                        <a:t>illing Type</a:t>
                      </a:r>
                      <a:endParaRPr lang="en-US" sz="1200"/>
                    </a:p>
                  </a:txBody>
                  <a:tcPr/>
                </a:tc>
                <a:tc>
                  <a:txBody>
                    <a:bodyPr/>
                    <a:lstStyle/>
                    <a:p>
                      <a:r>
                        <a:rPr lang="en-US" sz="1200"/>
                        <a:t>D</a:t>
                      </a:r>
                      <a:r>
                        <a:rPr lang="en-US" altLang="zh-CN" sz="1200"/>
                        <a:t>ocument No.</a:t>
                      </a:r>
                      <a:endParaRPr lang="en-US" sz="1200"/>
                    </a:p>
                  </a:txBody>
                  <a:tcPr/>
                </a:tc>
                <a:tc>
                  <a:txBody>
                    <a:bodyPr/>
                    <a:lstStyle/>
                    <a:p>
                      <a:r>
                        <a:rPr lang="en-US" sz="1200"/>
                        <a:t>Ref No.</a:t>
                      </a:r>
                    </a:p>
                  </a:txBody>
                  <a:tcPr/>
                </a:tc>
                <a:tc>
                  <a:txBody>
                    <a:bodyPr/>
                    <a:lstStyle/>
                    <a:p>
                      <a:r>
                        <a:rPr lang="en-US" sz="1200"/>
                        <a:t>Comments</a:t>
                      </a:r>
                    </a:p>
                  </a:txBody>
                  <a:tcPr/>
                </a:tc>
                <a:extLst>
                  <a:ext uri="{0D108BD9-81ED-4DB2-BD59-A6C34878D82A}">
                    <a16:rowId xmlns:a16="http://schemas.microsoft.com/office/drawing/2014/main" val="3361155311"/>
                  </a:ext>
                </a:extLst>
              </a:tr>
              <a:tr h="370840">
                <a:tc>
                  <a:txBody>
                    <a:bodyPr/>
                    <a:lstStyle/>
                    <a:p>
                      <a:r>
                        <a:rPr lang="en-US" sz="1200"/>
                        <a:t>AFE</a:t>
                      </a:r>
                    </a:p>
                  </a:txBody>
                  <a:tcPr/>
                </a:tc>
                <a:tc>
                  <a:txBody>
                    <a:bodyPr/>
                    <a:lstStyle/>
                    <a:p>
                      <a:r>
                        <a:rPr lang="en-US" sz="1200"/>
                        <a:t>Convergent billing  A (AFE ICOAR) </a:t>
                      </a:r>
                    </a:p>
                  </a:txBody>
                  <a:tcPr/>
                </a:tc>
                <a:tc>
                  <a:txBody>
                    <a:bodyPr/>
                    <a:lstStyle/>
                    <a:p>
                      <a:r>
                        <a:rPr lang="en-US" sz="1200"/>
                        <a:t>96*01</a:t>
                      </a:r>
                    </a:p>
                  </a:txBody>
                  <a:tcPr/>
                </a:tc>
                <a:tc>
                  <a:txBody>
                    <a:bodyPr/>
                    <a:lstStyle/>
                    <a:p>
                      <a:r>
                        <a:rPr lang="en-US" sz="1200"/>
                        <a:t>96*01</a:t>
                      </a:r>
                    </a:p>
                  </a:txBody>
                  <a:tcPr/>
                </a:tc>
                <a:tc>
                  <a:txBody>
                    <a:bodyPr/>
                    <a:lstStyle/>
                    <a:p>
                      <a:endParaRPr lang="en-US" sz="1200"/>
                    </a:p>
                  </a:txBody>
                  <a:tcPr/>
                </a:tc>
                <a:extLst>
                  <a:ext uri="{0D108BD9-81ED-4DB2-BD59-A6C34878D82A}">
                    <a16:rowId xmlns:a16="http://schemas.microsoft.com/office/drawing/2014/main" val="2778326128"/>
                  </a:ext>
                </a:extLst>
              </a:tr>
              <a:tr h="370840">
                <a:tc>
                  <a:txBody>
                    <a:bodyPr/>
                    <a:lstStyle/>
                    <a:p>
                      <a:r>
                        <a:rPr lang="en-US" sz="1200"/>
                        <a:t>AFE</a:t>
                      </a:r>
                    </a:p>
                  </a:txBody>
                  <a:tcPr/>
                </a:tc>
                <a:tc>
                  <a:txBody>
                    <a:bodyPr/>
                    <a:lstStyle/>
                    <a:p>
                      <a:r>
                        <a:rPr lang="en-US" sz="1200"/>
                        <a:t>Detailed billing  A1 (AFE ICOAR) </a:t>
                      </a:r>
                    </a:p>
                  </a:txBody>
                  <a:tcPr/>
                </a:tc>
                <a:tc>
                  <a:txBody>
                    <a:bodyPr/>
                    <a:lstStyle/>
                    <a:p>
                      <a:r>
                        <a:rPr lang="en-US" sz="1200">
                          <a:highlight>
                            <a:srgbClr val="FFFF00"/>
                          </a:highlight>
                        </a:rPr>
                        <a:t>19*01</a:t>
                      </a:r>
                    </a:p>
                    <a:p>
                      <a:r>
                        <a:rPr lang="en-US" sz="1200">
                          <a:highlight>
                            <a:srgbClr val="FFFF00"/>
                          </a:highlight>
                        </a:rPr>
                        <a:t>19*02 (more than 999)</a:t>
                      </a:r>
                    </a:p>
                  </a:txBody>
                  <a:tcPr/>
                </a:tc>
                <a:tc>
                  <a:txBody>
                    <a:bodyPr/>
                    <a:lstStyle/>
                    <a:p>
                      <a:r>
                        <a:rPr lang="en-US" sz="1200"/>
                        <a:t>96*01</a:t>
                      </a:r>
                    </a:p>
                    <a:p>
                      <a:r>
                        <a:rPr lang="en-US" sz="1200"/>
                        <a:t>96*01</a:t>
                      </a:r>
                    </a:p>
                  </a:txBody>
                  <a:tcPr/>
                </a:tc>
                <a:tc>
                  <a:txBody>
                    <a:bodyPr/>
                    <a:lstStyle/>
                    <a:p>
                      <a:endParaRPr lang="en-US" sz="1200"/>
                    </a:p>
                  </a:txBody>
                  <a:tcPr/>
                </a:tc>
                <a:extLst>
                  <a:ext uri="{0D108BD9-81ED-4DB2-BD59-A6C34878D82A}">
                    <a16:rowId xmlns:a16="http://schemas.microsoft.com/office/drawing/2014/main" val="1958015326"/>
                  </a:ext>
                </a:extLst>
              </a:tr>
              <a:tr h="370840">
                <a:tc>
                  <a:txBody>
                    <a:bodyPr/>
                    <a:lstStyle/>
                    <a:p>
                      <a:r>
                        <a:rPr lang="en-US" sz="1200"/>
                        <a:t>NL11</a:t>
                      </a:r>
                    </a:p>
                  </a:txBody>
                  <a:tcPr/>
                </a:tc>
                <a:tc>
                  <a:txBody>
                    <a:bodyPr/>
                    <a:lstStyle/>
                    <a:p>
                      <a:r>
                        <a:rPr lang="en-US" sz="1200"/>
                        <a:t>Convergent billing  B (NL11 AR) </a:t>
                      </a:r>
                    </a:p>
                  </a:txBody>
                  <a:tcPr/>
                </a:tc>
                <a:tc>
                  <a:txBody>
                    <a:bodyPr/>
                    <a:lstStyle/>
                    <a:p>
                      <a:r>
                        <a:rPr lang="en-US" sz="1200"/>
                        <a:t>96*02</a:t>
                      </a:r>
                    </a:p>
                  </a:txBody>
                  <a:tcPr/>
                </a:tc>
                <a:tc>
                  <a:txBody>
                    <a:bodyPr/>
                    <a:lstStyle/>
                    <a:p>
                      <a:r>
                        <a:rPr lang="en-US" sz="1200"/>
                        <a:t>96*02</a:t>
                      </a:r>
                    </a:p>
                  </a:txBody>
                  <a:tcPr/>
                </a:tc>
                <a:tc>
                  <a:txBody>
                    <a:bodyPr/>
                    <a:lstStyle/>
                    <a:p>
                      <a:endParaRPr lang="en-US" sz="1200"/>
                    </a:p>
                  </a:txBody>
                  <a:tcPr/>
                </a:tc>
                <a:extLst>
                  <a:ext uri="{0D108BD9-81ED-4DB2-BD59-A6C34878D82A}">
                    <a16:rowId xmlns:a16="http://schemas.microsoft.com/office/drawing/2014/main" val="1710127859"/>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NL11</a:t>
                      </a:r>
                    </a:p>
                    <a:p>
                      <a:endParaRPr lang="en-US" sz="1200"/>
                    </a:p>
                  </a:txBody>
                  <a:tcPr/>
                </a:tc>
                <a:tc>
                  <a:txBody>
                    <a:bodyPr/>
                    <a:lstStyle/>
                    <a:p>
                      <a:r>
                        <a:rPr lang="en-US" sz="1200"/>
                        <a:t>Detailed Billing  B1 (NL11 AR) </a:t>
                      </a:r>
                    </a:p>
                  </a:txBody>
                  <a:tcPr/>
                </a:tc>
                <a:tc>
                  <a:txBody>
                    <a:bodyPr/>
                    <a:lstStyle/>
                    <a:p>
                      <a:r>
                        <a:rPr lang="en-US" sz="1200">
                          <a:highlight>
                            <a:srgbClr val="FFFF00"/>
                          </a:highlight>
                        </a:rPr>
                        <a:t>19*03</a:t>
                      </a:r>
                    </a:p>
                    <a:p>
                      <a:r>
                        <a:rPr lang="en-US" sz="1200">
                          <a:highlight>
                            <a:srgbClr val="FFFF00"/>
                          </a:highlight>
                        </a:rPr>
                        <a:t>19*04 (more than 999)</a:t>
                      </a:r>
                    </a:p>
                  </a:txBody>
                  <a:tcPr/>
                </a:tc>
                <a:tc>
                  <a:txBody>
                    <a:bodyPr/>
                    <a:lstStyle/>
                    <a:p>
                      <a:r>
                        <a:rPr lang="en-US" sz="1200">
                          <a:solidFill>
                            <a:srgbClr val="FF0000"/>
                          </a:solidFill>
                        </a:rPr>
                        <a:t>19*01/96*02</a:t>
                      </a:r>
                    </a:p>
                    <a:p>
                      <a:r>
                        <a:rPr lang="en-US" sz="1200">
                          <a:solidFill>
                            <a:srgbClr val="FF0000"/>
                          </a:solidFill>
                        </a:rPr>
                        <a:t>19*02/96*02</a:t>
                      </a:r>
                    </a:p>
                  </a:txBody>
                  <a:tcPr/>
                </a:tc>
                <a:tc>
                  <a:txBody>
                    <a:bodyPr/>
                    <a:lstStyle/>
                    <a:p>
                      <a:endParaRPr lang="en-US" sz="1200"/>
                    </a:p>
                  </a:txBody>
                  <a:tcPr/>
                </a:tc>
                <a:extLst>
                  <a:ext uri="{0D108BD9-81ED-4DB2-BD59-A6C34878D82A}">
                    <a16:rowId xmlns:a16="http://schemas.microsoft.com/office/drawing/2014/main" val="2498059939"/>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NL11</a:t>
                      </a:r>
                    </a:p>
                    <a:p>
                      <a:endParaRPr lang="en-US" sz="1200"/>
                    </a:p>
                  </a:txBody>
                  <a:tcPr/>
                </a:tc>
                <a:tc>
                  <a:txBody>
                    <a:bodyPr/>
                    <a:lstStyle/>
                    <a:p>
                      <a:r>
                        <a:rPr lang="en-US" sz="1200"/>
                        <a:t>Convergent billing  C (NL11 ICOAP) </a:t>
                      </a:r>
                    </a:p>
                  </a:txBody>
                  <a:tcPr/>
                </a:tc>
                <a:tc>
                  <a:txBody>
                    <a:bodyPr/>
                    <a:lstStyle/>
                    <a:p>
                      <a:r>
                        <a:rPr lang="en-US" sz="1200">
                          <a:highlight>
                            <a:srgbClr val="FFFF00"/>
                          </a:highlight>
                        </a:rPr>
                        <a:t>07*01</a:t>
                      </a:r>
                    </a:p>
                  </a:txBody>
                  <a:tcPr/>
                </a:tc>
                <a:tc>
                  <a:txBody>
                    <a:bodyPr/>
                    <a:lstStyle/>
                    <a:p>
                      <a:r>
                        <a:rPr lang="en-US" sz="1200"/>
                        <a:t>96*01</a:t>
                      </a:r>
                    </a:p>
                  </a:txBody>
                  <a:tcPr/>
                </a:tc>
                <a:tc>
                  <a:txBody>
                    <a:bodyPr/>
                    <a:lstStyle/>
                    <a:p>
                      <a:endParaRPr lang="en-US" sz="1200"/>
                    </a:p>
                  </a:txBody>
                  <a:tcPr/>
                </a:tc>
                <a:extLst>
                  <a:ext uri="{0D108BD9-81ED-4DB2-BD59-A6C34878D82A}">
                    <a16:rowId xmlns:a16="http://schemas.microsoft.com/office/drawing/2014/main" val="1444782689"/>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NL11</a:t>
                      </a:r>
                    </a:p>
                  </a:txBody>
                  <a:tcPr/>
                </a:tc>
                <a:tc>
                  <a:txBody>
                    <a:bodyPr/>
                    <a:lstStyle/>
                    <a:p>
                      <a:r>
                        <a:rPr lang="en-US" sz="1200"/>
                        <a:t>Detailed Billing  C1 (NL11 ICOAP) </a:t>
                      </a:r>
                    </a:p>
                  </a:txBody>
                  <a:tcPr/>
                </a:tc>
                <a:tc>
                  <a:txBody>
                    <a:bodyPr/>
                    <a:lstStyle/>
                    <a:p>
                      <a:r>
                        <a:rPr lang="en-US" sz="1200">
                          <a:highlight>
                            <a:srgbClr val="FFFF00"/>
                          </a:highlight>
                        </a:rPr>
                        <a:t>19*05</a:t>
                      </a:r>
                    </a:p>
                    <a:p>
                      <a:r>
                        <a:rPr lang="en-US" sz="1200">
                          <a:highlight>
                            <a:srgbClr val="FFFF00"/>
                          </a:highlight>
                        </a:rPr>
                        <a:t>19*06 (more than 999)</a:t>
                      </a:r>
                    </a:p>
                  </a:txBody>
                  <a:tcPr/>
                </a:tc>
                <a:tc>
                  <a:txBody>
                    <a:bodyPr/>
                    <a:lstStyle/>
                    <a:p>
                      <a:r>
                        <a:rPr lang="en-US" sz="1200"/>
                        <a:t>19*01</a:t>
                      </a:r>
                    </a:p>
                    <a:p>
                      <a:r>
                        <a:rPr lang="en-US" sz="1200"/>
                        <a:t>19*02</a:t>
                      </a:r>
                    </a:p>
                  </a:txBody>
                  <a:tcPr/>
                </a:tc>
                <a:tc>
                  <a:txBody>
                    <a:bodyPr/>
                    <a:lstStyle/>
                    <a:p>
                      <a:endParaRPr lang="en-US" sz="1200"/>
                    </a:p>
                  </a:txBody>
                  <a:tcPr/>
                </a:tc>
                <a:extLst>
                  <a:ext uri="{0D108BD9-81ED-4DB2-BD59-A6C34878D82A}">
                    <a16:rowId xmlns:a16="http://schemas.microsoft.com/office/drawing/2014/main" val="698959425"/>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SD</a:t>
                      </a:r>
                    </a:p>
                    <a:p>
                      <a:endParaRPr lang="en-US" sz="1200"/>
                    </a:p>
                  </a:txBody>
                  <a:tcPr/>
                </a:tc>
                <a:tc>
                  <a:txBody>
                    <a:bodyPr/>
                    <a:lstStyle/>
                    <a:p>
                      <a:r>
                        <a:rPr lang="en-US" sz="1200"/>
                        <a:t>Detailed Billing  D (SD ICOAR)</a:t>
                      </a:r>
                    </a:p>
                  </a:txBody>
                  <a:tcPr/>
                </a:tc>
                <a:tc>
                  <a:txBody>
                    <a:bodyPr/>
                    <a:lstStyle/>
                    <a:p>
                      <a:r>
                        <a:rPr lang="en-US" sz="1200">
                          <a:highlight>
                            <a:srgbClr val="FFFF00"/>
                          </a:highlight>
                        </a:rPr>
                        <a:t>22*01</a:t>
                      </a:r>
                    </a:p>
                    <a:p>
                      <a:r>
                        <a:rPr lang="en-US" sz="1200">
                          <a:highlight>
                            <a:srgbClr val="FFFF00"/>
                          </a:highlight>
                        </a:rPr>
                        <a:t>22*02 (more than 999)</a:t>
                      </a:r>
                    </a:p>
                  </a:txBody>
                  <a:tcPr/>
                </a:tc>
                <a:tc>
                  <a:txBody>
                    <a:bodyPr/>
                    <a:lstStyle/>
                    <a:p>
                      <a:r>
                        <a:rPr lang="en-US" sz="1200"/>
                        <a:t>19*01</a:t>
                      </a:r>
                    </a:p>
                    <a:p>
                      <a:r>
                        <a:rPr lang="en-US" sz="1200"/>
                        <a:t>19*02</a:t>
                      </a:r>
                    </a:p>
                  </a:txBody>
                  <a:tcPr/>
                </a:tc>
                <a:tc>
                  <a:txBody>
                    <a:bodyPr/>
                    <a:lstStyle/>
                    <a:p>
                      <a:endParaRPr lang="en-US" sz="1200"/>
                    </a:p>
                  </a:txBody>
                  <a:tcPr/>
                </a:tc>
                <a:extLst>
                  <a:ext uri="{0D108BD9-81ED-4DB2-BD59-A6C34878D82A}">
                    <a16:rowId xmlns:a16="http://schemas.microsoft.com/office/drawing/2014/main" val="548945205"/>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AFE</a:t>
                      </a:r>
                    </a:p>
                  </a:txBody>
                  <a:tcPr/>
                </a:tc>
                <a:tc>
                  <a:txBody>
                    <a:bodyPr/>
                    <a:lstStyle/>
                    <a:p>
                      <a:r>
                        <a:rPr lang="en-US" sz="1200"/>
                        <a:t>Detailed Billing  F (AFE ICOAP) </a:t>
                      </a:r>
                    </a:p>
                  </a:txBody>
                  <a:tcPr/>
                </a:tc>
                <a:tc>
                  <a:txBody>
                    <a:bodyPr/>
                    <a:lstStyle/>
                    <a:p>
                      <a:r>
                        <a:rPr lang="en-US" sz="1200">
                          <a:highlight>
                            <a:srgbClr val="FFFF00"/>
                          </a:highlight>
                        </a:rPr>
                        <a:t>07*02</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a:highlight>
                            <a:srgbClr val="FFFF00"/>
                          </a:highlight>
                        </a:rPr>
                        <a:t>07*03(more than 999)</a:t>
                      </a:r>
                    </a:p>
                  </a:txBody>
                  <a:tcPr/>
                </a:tc>
                <a:tc>
                  <a:txBody>
                    <a:bodyPr/>
                    <a:lstStyle/>
                    <a:p>
                      <a:r>
                        <a:rPr lang="en-US" sz="1200"/>
                        <a:t>19*01</a:t>
                      </a:r>
                    </a:p>
                    <a:p>
                      <a:r>
                        <a:rPr lang="en-US" sz="1200"/>
                        <a:t>19*02</a:t>
                      </a:r>
                    </a:p>
                  </a:txBody>
                  <a:tcPr/>
                </a:tc>
                <a:tc>
                  <a:txBody>
                    <a:bodyPr/>
                    <a:lstStyle/>
                    <a:p>
                      <a:endParaRPr lang="en-US" sz="1200"/>
                    </a:p>
                  </a:txBody>
                  <a:tcPr/>
                </a:tc>
                <a:extLst>
                  <a:ext uri="{0D108BD9-81ED-4DB2-BD59-A6C34878D82A}">
                    <a16:rowId xmlns:a16="http://schemas.microsoft.com/office/drawing/2014/main" val="3011769054"/>
                  </a:ext>
                </a:extLst>
              </a:tr>
            </a:tbl>
          </a:graphicData>
        </a:graphic>
      </p:graphicFrame>
      <p:sp>
        <p:nvSpPr>
          <p:cNvPr id="3" name="TextBox 2">
            <a:extLst>
              <a:ext uri="{FF2B5EF4-FFF2-40B4-BE49-F238E27FC236}">
                <a16:creationId xmlns:a16="http://schemas.microsoft.com/office/drawing/2014/main" id="{BEC03D35-4740-F145-E7E6-61DF77B7286D}"/>
              </a:ext>
            </a:extLst>
          </p:cNvPr>
          <p:cNvSpPr txBox="1"/>
          <p:nvPr/>
        </p:nvSpPr>
        <p:spPr>
          <a:xfrm>
            <a:off x="159793" y="1117031"/>
            <a:ext cx="6094674" cy="369332"/>
          </a:xfrm>
          <a:prstGeom prst="rect">
            <a:avLst/>
          </a:prstGeom>
          <a:noFill/>
        </p:spPr>
        <p:txBody>
          <a:bodyPr wrap="square">
            <a:spAutoFit/>
          </a:bodyPr>
          <a:lstStyle/>
          <a:p>
            <a:r>
              <a:rPr lang="en-US" b="1"/>
              <a:t>Central Billing Model </a:t>
            </a:r>
          </a:p>
        </p:txBody>
      </p:sp>
    </p:spTree>
    <p:extLst>
      <p:ext uri="{BB962C8B-B14F-4D97-AF65-F5344CB8AC3E}">
        <p14:creationId xmlns:p14="http://schemas.microsoft.com/office/powerpoint/2010/main" val="630460485"/>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EXTBOX" val="需求和假设页"/>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8.xml><?xml version="1.0" encoding="utf-8"?>
<p:tagLst xmlns:a="http://schemas.openxmlformats.org/drawingml/2006/main" xmlns:r="http://schemas.openxmlformats.org/officeDocument/2006/relationships" xmlns:p="http://schemas.openxmlformats.org/presentationml/2006/main">
  <p:tag name="SHAPENAME" val="3. Subtitle"/>
</p:tagLst>
</file>

<file path=ppt/tags/tag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2.xml><?xml version="1.0" encoding="utf-8"?>
<p:tagLst xmlns:a="http://schemas.openxmlformats.org/drawingml/2006/main" xmlns:r="http://schemas.openxmlformats.org/officeDocument/2006/relationships" xmlns:p="http://schemas.openxmlformats.org/presentationml/2006/main">
  <p:tag name="SHAPENAME" val="5. Sourc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GP.o_6CXRS.86lYs6.R8vw"/>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18.xml><?xml version="1.0" encoding="utf-8"?>
<p:tagLst xmlns:a="http://schemas.openxmlformats.org/drawingml/2006/main" xmlns:r="http://schemas.openxmlformats.org/officeDocument/2006/relationships" xmlns:p="http://schemas.openxmlformats.org/presentationml/2006/main">
  <p:tag name="SHAPENAME" val="3. Subtitle"/>
</p:tagLst>
</file>

<file path=ppt/tags/tag1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2.xml><?xml version="1.0" encoding="utf-8"?>
<p:tagLst xmlns:a="http://schemas.openxmlformats.org/drawingml/2006/main" xmlns:r="http://schemas.openxmlformats.org/officeDocument/2006/relationships" xmlns:p="http://schemas.openxmlformats.org/presentationml/2006/main">
  <p:tag name="SHAPENAME" val="5. Sourc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GP.o_6CXRS.86lYs6.R8vw"/>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29.xml><?xml version="1.0" encoding="utf-8"?>
<p:tagLst xmlns:a="http://schemas.openxmlformats.org/drawingml/2006/main" xmlns:r="http://schemas.openxmlformats.org/officeDocument/2006/relationships" xmlns:p="http://schemas.openxmlformats.org/presentationml/2006/main">
  <p:tag name="SHAPENAME" val="3. Subtitle"/>
</p:tagLst>
</file>

<file path=ppt/tags/tag3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2.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33.xml><?xml version="1.0" encoding="utf-8"?>
<p:tagLst xmlns:a="http://schemas.openxmlformats.org/drawingml/2006/main" xmlns:r="http://schemas.openxmlformats.org/officeDocument/2006/relationships" xmlns:p="http://schemas.openxmlformats.org/presentationml/2006/main">
  <p:tag name="SHAPENAME" val="5. Sourc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GP.o_6CXRS.86lYs6.R8vw"/>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41.xml><?xml version="1.0" encoding="utf-8"?>
<p:tagLst xmlns:a="http://schemas.openxmlformats.org/drawingml/2006/main" xmlns:r="http://schemas.openxmlformats.org/officeDocument/2006/relationships" xmlns:p="http://schemas.openxmlformats.org/presentationml/2006/main">
  <p:tag name="SHAPENAME" val="3. Subtitle"/>
</p:tagLst>
</file>

<file path=ppt/tags/tag4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4.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5.xml><?xml version="1.0" encoding="utf-8"?>
<p:tagLst xmlns:a="http://schemas.openxmlformats.org/drawingml/2006/main" xmlns:r="http://schemas.openxmlformats.org/officeDocument/2006/relationships" xmlns:p="http://schemas.openxmlformats.org/presentationml/2006/main">
  <p:tag name="SHAPENAME" val="5. Sourc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48.xml><?xml version="1.0" encoding="utf-8"?>
<p:tagLst xmlns:a="http://schemas.openxmlformats.org/drawingml/2006/main" xmlns:r="http://schemas.openxmlformats.org/officeDocument/2006/relationships" xmlns:p="http://schemas.openxmlformats.org/presentationml/2006/main">
  <p:tag name="SHAPENAME" val="3. Subtitle"/>
</p:tagLst>
</file>

<file path=ppt/tags/tag4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52.xml><?xml version="1.0" encoding="utf-8"?>
<p:tagLst xmlns:a="http://schemas.openxmlformats.org/drawingml/2006/main" xmlns:r="http://schemas.openxmlformats.org/officeDocument/2006/relationships" xmlns:p="http://schemas.openxmlformats.org/presentationml/2006/main">
  <p:tag name="SHAPENAME" val="5. Sourc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b.LPKMvtUTEo3nr_3icLIg"/>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KfPJvDET.oaMDk72eFbAiQ"/>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d5CohoIHlMK4MmfY4j0HEQ"/>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z_KSoEtK0ZC4kAVtm9kYyg"/>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ki.wBFvCYtog9TOpFq61Uw"/>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ovFsy9XpgKUh6YYvRxHzfQ"/>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E0oQTG63Kpu89yIcuMJHLw"/>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dLcAaEP1VLwks02h_EYVpQ"/>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nYJ4GAv5wdJZVeO5lGQWxA"/>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1T3uKbt0kPwYmxNaSFZNu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nYJ4GAv5wdJZVeO5lGQWxA"/>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1T3uKbt0kPwYmxNaSFZNuQ"/>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nYJ4GAv5wdJZVeO5lGQWxA"/>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b.LPKMvtUTEo3nr_3icLIg"/>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1T3uKbt0kPwYmxNaSFZNuQ"/>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1T3uKbt0kPwYmxNaSFZNuQ"/>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nYJ4GAv5wdJZVeO5lGQWxA"/>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1T3uKbt0kPwYmxNaSFZNuQ"/>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nYJ4GAv5wdJZVeO5lGQWxA"/>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1T3uKbt0kPwYmxNaSFZNuQ"/>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nYJ4GAv5wdJZVeO5lGQWxA"/>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1T3uKbt0kPwYmxNaSFZNuQ"/>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nYJ4GAv5wdJZVeO5lGQWxA"/>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kewjNxd9y1_xWtSiyiqvew"/>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1T3uKbt0kPwYmxNaSFZNuQ"/>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nYJ4GAv5wdJZVeO5lGQWxA"/>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lumMod val="20000"/>
            <a:lumOff val="80000"/>
          </a:schemeClr>
        </a:soli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a:spPr>
      <a:bodyPr lIns="0" tIns="35982" rIns="0" bIns="0" anchor="ctr" anchorCtr="0"/>
      <a:lstStyle>
        <a:defPPr algn="ctr" defTabSz="1088449">
          <a:defRPr sz="900" kern="0">
            <a:solidFill>
              <a:sysClr val="windowText" lastClr="000000"/>
            </a:solidFill>
            <a:latin typeface="Calibri"/>
          </a:defRPr>
        </a:defPPr>
      </a:lst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Lenovo Master">
  <a:themeElements>
    <a:clrScheme name="Custom 2">
      <a:dk1>
        <a:srgbClr val="000000"/>
      </a:dk1>
      <a:lt1>
        <a:sysClr val="window" lastClr="FFFFFF"/>
      </a:lt1>
      <a:dk2>
        <a:srgbClr val="F26A52"/>
      </a:dk2>
      <a:lt2>
        <a:srgbClr val="4E444E"/>
      </a:lt2>
      <a:accent1>
        <a:srgbClr val="E1251B"/>
      </a:accent1>
      <a:accent2>
        <a:srgbClr val="871C23"/>
      </a:accent2>
      <a:accent3>
        <a:srgbClr val="D9C1D8"/>
      </a:accent3>
      <a:accent4>
        <a:srgbClr val="4D144A"/>
      </a:accent4>
      <a:accent5>
        <a:srgbClr val="C9D0F0"/>
      </a:accent5>
      <a:accent6>
        <a:srgbClr val="11184F"/>
      </a:accent6>
      <a:hlink>
        <a:srgbClr val="3046AD"/>
      </a:hlink>
      <a:folHlink>
        <a:srgbClr val="3046AD"/>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B8252E"/>
        </a:solidFill>
        <a:ln>
          <a:noFill/>
        </a:ln>
      </a:spPr>
      <a:bodyPr lIns="182880" tIns="182880" rIns="182880" bIns="182880" rtlCol="0" anchor="t"/>
      <a:lstStyle>
        <a:defPPr algn="l">
          <a:defRPr sz="1600" dirty="0" err="1">
            <a:solidFill>
              <a:prstClr val="white"/>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miter lim="800000"/>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l">
          <a:defRPr sz="1800" dirty="0" err="1" smtClean="0">
            <a:latin typeface="Arial" pitchFamily="34" charset="0"/>
            <a:cs typeface="Arial" pitchFamily="34" charset="0"/>
          </a:defRPr>
        </a:defPPr>
      </a:lstStyle>
    </a:txDef>
  </a:objectDefaults>
  <a:extraClrSchemeLst/>
  <a:extLst>
    <a:ext uri="{05A4C25C-085E-4340-85A3-A5531E510DB2}">
      <thm15:themeFamily xmlns:thm15="http://schemas.microsoft.com/office/thememl/2012/main" name="Lenovo-16x9_Standard_Jan2024" id="{2068B328-63AF-479B-913B-60329C5EDB89}" vid="{77E312C1-CD06-4797-928F-CC71059D2AF4}"/>
    </a:ext>
  </a:extLst>
</a:theme>
</file>

<file path=ppt/theme/theme3.xml><?xml version="1.0" encoding="utf-8"?>
<a:theme xmlns:a="http://schemas.openxmlformats.org/drawingml/2006/main" name="2_Lenovo Master">
  <a:themeElements>
    <a:clrScheme name="OneLenovo">
      <a:dk1>
        <a:srgbClr val="000000"/>
      </a:dk1>
      <a:lt1>
        <a:sysClr val="window" lastClr="FFFFFF"/>
      </a:lt1>
      <a:dk2>
        <a:srgbClr val="F26A52"/>
      </a:dk2>
      <a:lt2>
        <a:srgbClr val="4E444E"/>
      </a:lt2>
      <a:accent1>
        <a:srgbClr val="E1251B"/>
      </a:accent1>
      <a:accent2>
        <a:srgbClr val="871C23"/>
      </a:accent2>
      <a:accent3>
        <a:srgbClr val="D9C1D8"/>
      </a:accent3>
      <a:accent4>
        <a:srgbClr val="4D144A"/>
      </a:accent4>
      <a:accent5>
        <a:srgbClr val="C9D0F0"/>
      </a:accent5>
      <a:accent6>
        <a:srgbClr val="11184F"/>
      </a:accent6>
      <a:hlink>
        <a:srgbClr val="3046AD"/>
      </a:hlink>
      <a:folHlink>
        <a:srgbClr val="3046AD"/>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B8252E"/>
        </a:solidFill>
        <a:ln>
          <a:noFill/>
        </a:ln>
      </a:spPr>
      <a:bodyPr lIns="182880" tIns="182880" rIns="182880" bIns="182880" rtlCol="0" anchor="t"/>
      <a:lstStyle>
        <a:defPPr algn="l">
          <a:defRPr sz="1600" dirty="0" err="1">
            <a:solidFill>
              <a:prstClr val="white"/>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miter lim="800000"/>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l">
          <a:defRPr sz="1800" dirty="0" err="1" smtClean="0">
            <a:latin typeface="Arial" pitchFamily="34" charset="0"/>
            <a:cs typeface="Arial" pitchFamily="34" charset="0"/>
          </a:defRPr>
        </a:defPPr>
      </a:lstStyle>
    </a:txDef>
  </a:objectDefaults>
  <a:extraClrSchemeLst/>
  <a:extLst>
    <a:ext uri="{05A4C25C-085E-4340-85A3-A5531E510DB2}">
      <thm15:themeFamily xmlns:thm15="http://schemas.microsoft.com/office/thememl/2012/main" name="Lenovo_Starter-Template.pptx  -  Last saved by user" id="{B83FDAB1-C4AB-4437-A4D0-D6D6435A7100}" vid="{3A8F05A5-30BE-4439-845D-6FA15E0B7307}"/>
    </a:ext>
  </a:extLst>
</a:theme>
</file>

<file path=ppt/theme/theme4.xml><?xml version="1.0" encoding="utf-8"?>
<a:theme xmlns:a="http://schemas.openxmlformats.org/drawingml/2006/main" name="9_Lenovo Master">
  <a:themeElements>
    <a:clrScheme name="Lenovo Colors">
      <a:dk1>
        <a:srgbClr val="000000"/>
      </a:dk1>
      <a:lt1>
        <a:sysClr val="window" lastClr="FFFFFF"/>
      </a:lt1>
      <a:dk2>
        <a:srgbClr val="8246AF"/>
      </a:dk2>
      <a:lt2>
        <a:srgbClr val="333F48"/>
      </a:lt2>
      <a:accent1>
        <a:srgbClr val="E1140A"/>
      </a:accent1>
      <a:accent2>
        <a:srgbClr val="FF6A00"/>
      </a:accent2>
      <a:accent3>
        <a:srgbClr val="F04187"/>
      </a:accent3>
      <a:accent4>
        <a:srgbClr val="3E8DDD"/>
      </a:accent4>
      <a:accent5>
        <a:srgbClr val="46C8E1"/>
      </a:accent5>
      <a:accent6>
        <a:srgbClr val="6AC346"/>
      </a:accent6>
      <a:hlink>
        <a:srgbClr val="4AC0E0"/>
      </a:hlink>
      <a:folHlink>
        <a:srgbClr val="4AC0E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lumMod val="20000"/>
            <a:lumOff val="80000"/>
          </a:schemeClr>
        </a:solidFill>
        <a:ln w="6350">
          <a:solidFill>
            <a:schemeClr val="tx1"/>
          </a:solidFill>
        </a:ln>
      </a:spPr>
      <a:bodyPr lIns="0" tIns="0" rIns="0" bIns="0" rtlCol="0" anchor="ctr"/>
      <a:lstStyle>
        <a:defPPr algn="ctr">
          <a:defRPr sz="1200" b="1" dirty="0" smtClean="0">
            <a:solidFill>
              <a:schemeClr val="tx1"/>
            </a:solidFill>
            <a:latin typeface="Tenorite" panose="00000500000000000000" pitchFamily="2" charset="0"/>
          </a:defRPr>
        </a:defPPr>
      </a:lstStyle>
      <a:style>
        <a:lnRef idx="0">
          <a:scrgbClr r="0" g="0" b="0"/>
        </a:lnRef>
        <a:fillRef idx="0">
          <a:scrgbClr r="0" g="0" b="0"/>
        </a:fillRef>
        <a:effectRef idx="0">
          <a:scrgbClr r="0" g="0" b="0"/>
        </a:effectRef>
        <a:fontRef idx="minor">
          <a:schemeClr val="lt1"/>
        </a:fontRef>
      </a:style>
    </a:spDef>
    <a:lnDef>
      <a:spPr>
        <a:ln w="3175">
          <a:solidFill>
            <a:schemeClr val="bg1">
              <a:lumMod val="65000"/>
            </a:schemeClr>
          </a:solidFill>
          <a:prstDash val="solid"/>
          <a:tailEnd type="triangle"/>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lgn="l">
          <a:defRPr sz="1000" dirty="0" smtClean="0">
            <a:latin typeface="Tenorite" panose="00000500000000000000" pitchFamily="2" charset="0"/>
            <a:cs typeface="Arial" pitchFamily="34" charset="0"/>
          </a:defRPr>
        </a:defPPr>
      </a:lstStyle>
    </a:txDef>
  </a:objectDefaults>
  <a:extraClrSchemeLst/>
</a:theme>
</file>

<file path=ppt/theme/theme5.xml><?xml version="1.0" encoding="utf-8"?>
<a:theme xmlns:a="http://schemas.openxmlformats.org/drawingml/2006/main" name="4_Lenovo Master">
  <a:themeElements>
    <a:clrScheme name="OneLenovo">
      <a:dk1>
        <a:srgbClr val="000000"/>
      </a:dk1>
      <a:lt1>
        <a:sysClr val="window" lastClr="FFFFFF"/>
      </a:lt1>
      <a:dk2>
        <a:srgbClr val="F26A52"/>
      </a:dk2>
      <a:lt2>
        <a:srgbClr val="4E444E"/>
      </a:lt2>
      <a:accent1>
        <a:srgbClr val="E1251B"/>
      </a:accent1>
      <a:accent2>
        <a:srgbClr val="871C23"/>
      </a:accent2>
      <a:accent3>
        <a:srgbClr val="D9C1D8"/>
      </a:accent3>
      <a:accent4>
        <a:srgbClr val="4D144A"/>
      </a:accent4>
      <a:accent5>
        <a:srgbClr val="C9D0F0"/>
      </a:accent5>
      <a:accent6>
        <a:srgbClr val="11184F"/>
      </a:accent6>
      <a:hlink>
        <a:srgbClr val="3046AD"/>
      </a:hlink>
      <a:folHlink>
        <a:srgbClr val="3046AD"/>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B8252E"/>
        </a:solidFill>
        <a:ln>
          <a:noFill/>
        </a:ln>
      </a:spPr>
      <a:bodyPr lIns="182880" tIns="182880" rIns="182880" bIns="182880" rtlCol="0" anchor="t"/>
      <a:lstStyle>
        <a:defPPr algn="l">
          <a:defRPr sz="1600" dirty="0" err="1">
            <a:solidFill>
              <a:prstClr val="white"/>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miter lim="800000"/>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l">
          <a:defRPr sz="1800" dirty="0" err="1" smtClean="0">
            <a:latin typeface="Arial" pitchFamily="34" charset="0"/>
            <a:cs typeface="Arial" pitchFamily="34" charset="0"/>
          </a:defRPr>
        </a:defPPr>
      </a:lstStyle>
    </a:txDef>
  </a:objectDefaults>
  <a:extraClrSchemeLst/>
  <a:extLst>
    <a:ext uri="{05A4C25C-085E-4340-85A3-A5531E510DB2}">
      <thm15:themeFamily xmlns:thm15="http://schemas.microsoft.com/office/thememl/2012/main" name="Lenovo_Starter-Template" id="{6A2082A2-FE84-4608-BDCC-08742051B72C}" vid="{23E3704B-C111-4048-A2E6-32AD687A2D51}"/>
    </a:ext>
  </a:extLst>
</a:theme>
</file>

<file path=ppt/theme/theme6.xml><?xml version="1.0" encoding="utf-8"?>
<a:theme xmlns:a="http://schemas.openxmlformats.org/drawingml/2006/main" name="10_Lenovo Master">
  <a:themeElements>
    <a:clrScheme name="Lenovo Colors">
      <a:dk1>
        <a:srgbClr val="000000"/>
      </a:dk1>
      <a:lt1>
        <a:sysClr val="window" lastClr="FFFFFF"/>
      </a:lt1>
      <a:dk2>
        <a:srgbClr val="8246AF"/>
      </a:dk2>
      <a:lt2>
        <a:srgbClr val="333F48"/>
      </a:lt2>
      <a:accent1>
        <a:srgbClr val="E1140A"/>
      </a:accent1>
      <a:accent2>
        <a:srgbClr val="FF6A00"/>
      </a:accent2>
      <a:accent3>
        <a:srgbClr val="F04187"/>
      </a:accent3>
      <a:accent4>
        <a:srgbClr val="3E8DDD"/>
      </a:accent4>
      <a:accent5>
        <a:srgbClr val="46C8E1"/>
      </a:accent5>
      <a:accent6>
        <a:srgbClr val="6AC346"/>
      </a:accent6>
      <a:hlink>
        <a:srgbClr val="4AC0E0"/>
      </a:hlink>
      <a:folHlink>
        <a:srgbClr val="4AC0E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lumMod val="20000"/>
            <a:lumOff val="80000"/>
          </a:schemeClr>
        </a:solidFill>
        <a:ln w="6350">
          <a:solidFill>
            <a:schemeClr val="tx1"/>
          </a:solidFill>
        </a:ln>
      </a:spPr>
      <a:bodyPr lIns="0" tIns="0" rIns="0" bIns="0" rtlCol="0" anchor="ctr"/>
      <a:lstStyle>
        <a:defPPr algn="ctr">
          <a:defRPr sz="1200" b="1" dirty="0" smtClean="0">
            <a:solidFill>
              <a:schemeClr val="tx1"/>
            </a:solidFill>
            <a:latin typeface="Tenorite" panose="00000500000000000000" pitchFamily="2" charset="0"/>
          </a:defRPr>
        </a:defPPr>
      </a:lstStyle>
      <a:style>
        <a:lnRef idx="0">
          <a:scrgbClr r="0" g="0" b="0"/>
        </a:lnRef>
        <a:fillRef idx="0">
          <a:scrgbClr r="0" g="0" b="0"/>
        </a:fillRef>
        <a:effectRef idx="0">
          <a:scrgbClr r="0" g="0" b="0"/>
        </a:effectRef>
        <a:fontRef idx="minor">
          <a:schemeClr val="lt1"/>
        </a:fontRef>
      </a:style>
    </a:spDef>
    <a:lnDef>
      <a:spPr>
        <a:ln w="3175">
          <a:solidFill>
            <a:schemeClr val="bg1">
              <a:lumMod val="85000"/>
            </a:schemeClr>
          </a:solidFill>
          <a:prstDash val="solid"/>
          <a:tailEnd type="triangle"/>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lgn="l">
          <a:defRPr sz="1000" dirty="0" smtClean="0">
            <a:latin typeface="Tenorite" panose="00000500000000000000" pitchFamily="2" charset="0"/>
            <a:cs typeface="Arial" pitchFamily="34" charset="0"/>
          </a:defRPr>
        </a:defPPr>
      </a:lstStyle>
    </a:txDef>
  </a:objectDefaults>
  <a:extraClrSchemeLst/>
</a:theme>
</file>

<file path=ppt/theme/theme7.xml><?xml version="1.0" encoding="utf-8"?>
<a:theme xmlns:a="http://schemas.openxmlformats.org/drawingml/2006/main" name="32_Lenovo Master">
  <a:themeElements>
    <a:clrScheme name="Custom 2">
      <a:dk1>
        <a:srgbClr val="000000"/>
      </a:dk1>
      <a:lt1>
        <a:sysClr val="window" lastClr="FFFFFF"/>
      </a:lt1>
      <a:dk2>
        <a:srgbClr val="F26A52"/>
      </a:dk2>
      <a:lt2>
        <a:srgbClr val="4E444E"/>
      </a:lt2>
      <a:accent1>
        <a:srgbClr val="E1251B"/>
      </a:accent1>
      <a:accent2>
        <a:srgbClr val="871C23"/>
      </a:accent2>
      <a:accent3>
        <a:srgbClr val="D9C1D8"/>
      </a:accent3>
      <a:accent4>
        <a:srgbClr val="4D144A"/>
      </a:accent4>
      <a:accent5>
        <a:srgbClr val="C9D0F0"/>
      </a:accent5>
      <a:accent6>
        <a:srgbClr val="11184F"/>
      </a:accent6>
      <a:hlink>
        <a:srgbClr val="3046AD"/>
      </a:hlink>
      <a:folHlink>
        <a:srgbClr val="3046AD"/>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B8252E"/>
        </a:solidFill>
        <a:ln>
          <a:noFill/>
        </a:ln>
      </a:spPr>
      <a:bodyPr lIns="182880" tIns="182880" rIns="182880" bIns="182880" rtlCol="0" anchor="t"/>
      <a:lstStyle>
        <a:defPPr algn="l">
          <a:defRPr sz="1600" dirty="0" err="1">
            <a:solidFill>
              <a:prstClr val="white"/>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miter lim="800000"/>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l">
          <a:defRPr sz="1800" dirty="0" err="1" smtClean="0">
            <a:latin typeface="Arial" pitchFamily="34" charset="0"/>
            <a:cs typeface="Arial" pitchFamily="34" charset="0"/>
          </a:defRPr>
        </a:defPPr>
      </a:lstStyle>
    </a:txDef>
  </a:objectDefaults>
  <a:extraClrSchemeLst/>
  <a:extLst>
    <a:ext uri="{05A4C25C-085E-4340-85A3-A5531E510DB2}">
      <thm15:themeFamily xmlns:thm15="http://schemas.microsoft.com/office/thememl/2012/main" name="Lenovo-16x9_Library" id="{8729E4F4-8837-47F1-B210-80AD2A34CB03}" vid="{8DDE4451-AED4-4EB7-8E8F-43FDC327E3DD}"/>
    </a:ext>
  </a:extLst>
</a:theme>
</file>

<file path=ppt/theme/theme8.xml><?xml version="1.0" encoding="utf-8"?>
<a:theme xmlns:a="http://schemas.openxmlformats.org/drawingml/2006/main" name="1_OneLenovo DT">
  <a:themeElements>
    <a:clrScheme name="One Lenovo DT">
      <a:dk1>
        <a:srgbClr val="000000"/>
      </a:dk1>
      <a:lt1>
        <a:sysClr val="window" lastClr="FFFFFF"/>
      </a:lt1>
      <a:dk2>
        <a:srgbClr val="F26A52"/>
      </a:dk2>
      <a:lt2>
        <a:srgbClr val="4E444E"/>
      </a:lt2>
      <a:accent1>
        <a:srgbClr val="E1251B"/>
      </a:accent1>
      <a:accent2>
        <a:srgbClr val="871C23"/>
      </a:accent2>
      <a:accent3>
        <a:srgbClr val="D9C1D8"/>
      </a:accent3>
      <a:accent4>
        <a:srgbClr val="4D144A"/>
      </a:accent4>
      <a:accent5>
        <a:srgbClr val="C9D0F0"/>
      </a:accent5>
      <a:accent6>
        <a:srgbClr val="11184F"/>
      </a:accent6>
      <a:hlink>
        <a:srgbClr val="3046AD"/>
      </a:hlink>
      <a:folHlink>
        <a:srgbClr val="3046AD"/>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B8252E"/>
        </a:solidFill>
        <a:ln>
          <a:noFill/>
        </a:ln>
      </a:spPr>
      <a:bodyPr lIns="182880" tIns="182880" rIns="182880" bIns="182880" rtlCol="0" anchor="t"/>
      <a:lstStyle>
        <a:defPPr algn="l">
          <a:defRPr sz="1600" dirty="0" err="1">
            <a:solidFill>
              <a:prstClr val="white"/>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miter lim="800000"/>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l">
          <a:defRPr sz="1800" dirty="0" err="1" smtClean="0">
            <a:latin typeface="Arial" pitchFamily="34" charset="0"/>
            <a:cs typeface="Arial" pitchFamily="34" charset="0"/>
          </a:defRPr>
        </a:defPPr>
      </a:lstStyle>
    </a:txDef>
  </a:objectDefaults>
  <a:extraClrSchemeLst/>
  <a:extLst>
    <a:ext uri="{05A4C25C-085E-4340-85A3-A5531E510DB2}">
      <thm15:themeFamily xmlns:thm15="http://schemas.microsoft.com/office/thememl/2012/main" name="20230216 - AllSpark DTIT internal executive bi-weekly review" id="{EF035888-6845-4B2A-A9A6-9157F221B226}" vid="{103D1443-C9EC-440E-9F9E-2DE129373FAF}"/>
    </a:ext>
  </a:extLst>
</a:theme>
</file>

<file path=ppt/theme/theme9.xml><?xml version="1.0" encoding="utf-8"?>
<a:theme xmlns:a="http://schemas.openxmlformats.org/drawingml/2006/main" name="11_Lenovo Master">
  <a:themeElements>
    <a:clrScheme name="Lenovo Colors">
      <a:dk1>
        <a:srgbClr val="000000"/>
      </a:dk1>
      <a:lt1>
        <a:sysClr val="window" lastClr="FFFFFF"/>
      </a:lt1>
      <a:dk2>
        <a:srgbClr val="8246AF"/>
      </a:dk2>
      <a:lt2>
        <a:srgbClr val="333F48"/>
      </a:lt2>
      <a:accent1>
        <a:srgbClr val="E1140A"/>
      </a:accent1>
      <a:accent2>
        <a:srgbClr val="FF6A00"/>
      </a:accent2>
      <a:accent3>
        <a:srgbClr val="F04187"/>
      </a:accent3>
      <a:accent4>
        <a:srgbClr val="3E8DDD"/>
      </a:accent4>
      <a:accent5>
        <a:srgbClr val="46C8E1"/>
      </a:accent5>
      <a:accent6>
        <a:srgbClr val="6AC346"/>
      </a:accent6>
      <a:hlink>
        <a:srgbClr val="4AC0E0"/>
      </a:hlink>
      <a:folHlink>
        <a:srgbClr val="4AC0E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lumMod val="20000"/>
            <a:lumOff val="80000"/>
          </a:schemeClr>
        </a:solidFill>
        <a:ln w="6350">
          <a:solidFill>
            <a:schemeClr val="tx1"/>
          </a:solidFill>
        </a:ln>
      </a:spPr>
      <a:bodyPr lIns="0" tIns="0" rIns="0" bIns="0" rtlCol="0" anchor="ctr"/>
      <a:lstStyle>
        <a:defPPr algn="ctr">
          <a:defRPr sz="1200" b="1" dirty="0" smtClean="0">
            <a:solidFill>
              <a:schemeClr val="tx1"/>
            </a:solidFill>
            <a:latin typeface="Tenorite" panose="00000500000000000000" pitchFamily="2" charset="0"/>
          </a:defRPr>
        </a:defPPr>
      </a:lstStyle>
      <a:style>
        <a:lnRef idx="0">
          <a:scrgbClr r="0" g="0" b="0"/>
        </a:lnRef>
        <a:fillRef idx="0">
          <a:scrgbClr r="0" g="0" b="0"/>
        </a:fillRef>
        <a:effectRef idx="0">
          <a:scrgbClr r="0" g="0" b="0"/>
        </a:effectRef>
        <a:fontRef idx="minor">
          <a:schemeClr val="lt1"/>
        </a:fontRef>
      </a:style>
    </a:spDef>
    <a:lnDef>
      <a:spPr>
        <a:ln w="3175">
          <a:solidFill>
            <a:schemeClr val="bg1">
              <a:lumMod val="65000"/>
            </a:schemeClr>
          </a:solidFill>
          <a:prstDash val="solid"/>
          <a:tailEnd type="triangle"/>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lgn="l">
          <a:defRPr sz="1000" dirty="0" smtClean="0">
            <a:latin typeface="Tenorite" panose="00000500000000000000" pitchFamily="2" charset="0"/>
            <a:cs typeface="Arial" pitchFamily="34" charset="0"/>
          </a:defRPr>
        </a:defPPr>
      </a:lstStyle>
    </a:txDef>
  </a:objectDefaults>
  <a:extraClrSchemeLst/>
</a:theme>
</file>

<file path=ppt/theme/theme10.xml><?xml version="1.0" encoding="utf-8"?>
<a:theme xmlns:a="http://schemas.openxmlformats.org/drawingml/2006/main" name="23_Lenovo Master">
  <a:themeElements>
    <a:clrScheme name="Custom 2">
      <a:dk1>
        <a:srgbClr val="000000"/>
      </a:dk1>
      <a:lt1>
        <a:sysClr val="window" lastClr="FFFFFF"/>
      </a:lt1>
      <a:dk2>
        <a:srgbClr val="F26A52"/>
      </a:dk2>
      <a:lt2>
        <a:srgbClr val="4E444E"/>
      </a:lt2>
      <a:accent1>
        <a:srgbClr val="E1251B"/>
      </a:accent1>
      <a:accent2>
        <a:srgbClr val="871C23"/>
      </a:accent2>
      <a:accent3>
        <a:srgbClr val="D9C1D8"/>
      </a:accent3>
      <a:accent4>
        <a:srgbClr val="4D144A"/>
      </a:accent4>
      <a:accent5>
        <a:srgbClr val="C9D0F0"/>
      </a:accent5>
      <a:accent6>
        <a:srgbClr val="11184F"/>
      </a:accent6>
      <a:hlink>
        <a:srgbClr val="3046AD"/>
      </a:hlink>
      <a:folHlink>
        <a:srgbClr val="3046AD"/>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B8252E"/>
        </a:solidFill>
        <a:ln>
          <a:noFill/>
        </a:ln>
      </a:spPr>
      <a:bodyPr lIns="182880" tIns="182880" rIns="182880" bIns="182880" rtlCol="0" anchor="t"/>
      <a:lstStyle>
        <a:defPPr algn="l">
          <a:defRPr sz="1600" dirty="0" err="1">
            <a:solidFill>
              <a:prstClr val="white"/>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miter lim="800000"/>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l">
          <a:defRPr sz="1800" dirty="0" err="1" smtClean="0">
            <a:latin typeface="Arial" pitchFamily="34" charset="0"/>
            <a:cs typeface="Arial" pitchFamily="34" charset="0"/>
          </a:defRPr>
        </a:defPPr>
      </a:lstStyle>
    </a:txDef>
  </a:objectDefaults>
  <a:extraClrSchemeLst/>
  <a:extLst>
    <a:ext uri="{05A4C25C-085E-4340-85A3-A5531E510DB2}">
      <thm15:themeFamily xmlns:thm15="http://schemas.microsoft.com/office/thememl/2012/main" name="Lenovo-16x9_Expanded" id="{07E13A56-8CC1-4C2E-83AB-4E54B2D2A6F4}" vid="{F09CE074-5AE5-43F9-946B-1FC01CCB8A54}"/>
    </a:ext>
  </a:extLst>
</a:theme>
</file>

<file path=ppt/theme/theme11.xml><?xml version="1.0" encoding="utf-8"?>
<a:theme xmlns:a="http://schemas.openxmlformats.org/drawingml/2006/main" name="OneLenovo DT">
  <a:themeElements>
    <a:clrScheme name="自定义 1">
      <a:dk1>
        <a:srgbClr val="000000"/>
      </a:dk1>
      <a:lt1>
        <a:sysClr val="window" lastClr="FFFFFF"/>
      </a:lt1>
      <a:dk2>
        <a:srgbClr val="8246AF"/>
      </a:dk2>
      <a:lt2>
        <a:srgbClr val="333F48"/>
      </a:lt2>
      <a:accent1>
        <a:srgbClr val="E1140A"/>
      </a:accent1>
      <a:accent2>
        <a:srgbClr val="FF6A00"/>
      </a:accent2>
      <a:accent3>
        <a:srgbClr val="F04187"/>
      </a:accent3>
      <a:accent4>
        <a:srgbClr val="3E8DDD"/>
      </a:accent4>
      <a:accent5>
        <a:srgbClr val="46C8E1"/>
      </a:accent5>
      <a:accent6>
        <a:srgbClr val="6AC346"/>
      </a:accent6>
      <a:hlink>
        <a:srgbClr val="4AC0E0"/>
      </a:hlink>
      <a:folHlink>
        <a:srgbClr val="4AC0E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B8252E"/>
        </a:solidFill>
        <a:ln>
          <a:noFill/>
        </a:ln>
      </a:spPr>
      <a:bodyPr lIns="182880" tIns="182880" rIns="182880" bIns="182880" rtlCol="0" anchor="t"/>
      <a:lstStyle>
        <a:defPPr algn="l">
          <a:defRPr sz="1600" dirty="0" err="1">
            <a:solidFill>
              <a:prstClr val="white"/>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miter lim="800000"/>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l">
          <a:defRPr sz="1800" dirty="0" err="1" smtClean="0">
            <a:latin typeface="Arial" pitchFamily="34" charset="0"/>
            <a:cs typeface="Arial" pitchFamily="34" charset="0"/>
          </a:defRPr>
        </a:defPPr>
      </a:lstStyle>
    </a:txDef>
  </a:objectDefaults>
  <a:extraClrSchemeLst/>
  <a:extLst>
    <a:ext uri="{05A4C25C-085E-4340-85A3-A5531E510DB2}">
      <thm15:themeFamily xmlns:thm15="http://schemas.microsoft.com/office/thememl/2012/main" name="20230216 - AllSpark DTIT internal executive bi-weekly review  -  Read-Only" id="{6A948AC6-34FA-468D-9DD2-F5771F3E9C84}" vid="{E4326388-2B89-49BE-8EBE-4D78827D2EB8}"/>
    </a:ext>
  </a:extLst>
</a:theme>
</file>

<file path=ppt/theme/theme1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TaxCatchAll xmlns="dd214103-31cb-4302-969e-b68d6fb4449d" xsi:nil="true"/>
    <lcf76f155ced4ddcb4097134ff3c332f xmlns="57aed405-eecf-41f2-b4e2-de015a850245">
      <Terms xmlns="http://schemas.microsoft.com/office/infopath/2007/PartnerControls"/>
    </lcf76f155ced4ddcb4097134ff3c332f>
    <_Flow_SignoffStatus xmlns="57aed405-eecf-41f2-b4e2-de015a850245" xsi:nil="true"/>
    <_ip_UnifiedCompliancePolicyProperties xmlns="http://schemas.microsoft.com/sharepoint/v3"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4EA1B190F63729409E2409D2B6224AD5" ma:contentTypeVersion="21" ma:contentTypeDescription="Create a new document." ma:contentTypeScope="" ma:versionID="561d371bf3fe5811c3af5f1b46d9d3b6">
  <xsd:schema xmlns:xsd="http://www.w3.org/2001/XMLSchema" xmlns:xs="http://www.w3.org/2001/XMLSchema" xmlns:p="http://schemas.microsoft.com/office/2006/metadata/properties" xmlns:ns1="http://schemas.microsoft.com/sharepoint/v3" xmlns:ns2="57aed405-eecf-41f2-b4e2-de015a850245" xmlns:ns3="dd214103-31cb-4302-969e-b68d6fb4449d" targetNamespace="http://schemas.microsoft.com/office/2006/metadata/properties" ma:root="true" ma:fieldsID="eae0fd40e5302f476d24f6bc021bd120" ns1:_="" ns2:_="" ns3:_="">
    <xsd:import namespace="http://schemas.microsoft.com/sharepoint/v3"/>
    <xsd:import namespace="57aed405-eecf-41f2-b4e2-de015a850245"/>
    <xsd:import namespace="dd214103-31cb-4302-969e-b68d6fb4449d"/>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GenerationTime" minOccurs="0"/>
                <xsd:element ref="ns2:MediaServiceEventHashCode" minOccurs="0"/>
                <xsd:element ref="ns3:SharedWithUsers" minOccurs="0"/>
                <xsd:element ref="ns3:SharedWithDetails" minOccurs="0"/>
                <xsd:element ref="ns2:MediaServiceAutoKeyPoints" minOccurs="0"/>
                <xsd:element ref="ns2:MediaServiceKeyPoints" minOccurs="0"/>
                <xsd:element ref="ns2:MediaServiceDateTaken" minOccurs="0"/>
                <xsd:element ref="ns2:MediaLengthInSeconds" minOccurs="0"/>
                <xsd:element ref="ns2:MediaServiceOCR" minOccurs="0"/>
                <xsd:element ref="ns1:_ip_UnifiedCompliancePolicyProperties" minOccurs="0"/>
                <xsd:element ref="ns1:_ip_UnifiedCompliancePolicyUIAction" minOccurs="0"/>
                <xsd:element ref="ns2:lcf76f155ced4ddcb4097134ff3c332f" minOccurs="0"/>
                <xsd:element ref="ns3:TaxCatchAll" minOccurs="0"/>
                <xsd:element ref="ns2:MediaServiceObjectDetectorVersions" minOccurs="0"/>
                <xsd:element ref="ns2:MediaServiceSearchProperties" minOccurs="0"/>
                <xsd:element ref="ns2:_Flow_SignoffStatus"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57aed405-eecf-41f2-b4e2-de015a85024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GenerationTime" ma:index="11" nillable="true" ma:displayName="MediaServiceGenerationTime" ma:hidden="true" ma:internalName="MediaServiceGenerationTime"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AutoKeyPoints" ma:index="15" nillable="true" ma:displayName="MediaServiceAutoKeyPoints" ma:hidden="true" ma:internalName="MediaServiceAutoKeyPoints" ma:readOnly="true">
      <xsd:simpleType>
        <xsd:restriction base="dms:Note"/>
      </xsd:simpleType>
    </xsd:element>
    <xsd:element name="MediaServiceKeyPoints" ma:index="16" nillable="true" ma:displayName="KeyPoints" ma:internalName="MediaServiceKeyPoints" ma:readOnly="true">
      <xsd:simpleType>
        <xsd:restriction base="dms:Note">
          <xsd:maxLength value="255"/>
        </xsd:restriction>
      </xsd:simpleType>
    </xsd:element>
    <xsd:element name="MediaServiceDateTaken" ma:index="17" nillable="true" ma:displayName="MediaServiceDateTaken" ma:hidden="true" ma:internalName="MediaServiceDateTaken" ma:readOnly="true">
      <xsd:simpleType>
        <xsd:restriction base="dms:Text"/>
      </xsd:simpleType>
    </xsd:element>
    <xsd:element name="MediaLengthInSeconds" ma:index="18" nillable="true" ma:displayName="Length (seconds)" ma:internalName="MediaLengthInSeconds" ma:readOnly="true">
      <xsd:simpleType>
        <xsd:restriction base="dms:Unknown"/>
      </xsd:simpleType>
    </xsd:element>
    <xsd:element name="MediaServiceOCR" ma:index="19" nillable="true" ma:displayName="Extracted Text" ma:internalName="MediaServiceOCR" ma:readOnly="true">
      <xsd:simpleType>
        <xsd:restriction base="dms:Note">
          <xsd:maxLength value="255"/>
        </xsd:restriction>
      </xsd:simpleType>
    </xsd:element>
    <xsd:element name="lcf76f155ced4ddcb4097134ff3c332f" ma:index="23" nillable="true" ma:taxonomy="true" ma:internalName="lcf76f155ced4ddcb4097134ff3c332f" ma:taxonomyFieldName="MediaServiceImageTags" ma:displayName="Image Tags" ma:readOnly="false" ma:fieldId="{5cf76f15-5ced-4ddc-b409-7134ff3c332f}" ma:taxonomyMulti="true" ma:sspId="10b2ab70-381d-4de1-873d-678182fc5963"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5" nillable="true" ma:displayName="MediaServiceObjectDetectorVersions" ma:description="" ma:hidden="true" ma:indexed="true" ma:internalName="MediaServiceObjectDetectorVersions" ma:readOnly="true">
      <xsd:simpleType>
        <xsd:restriction base="dms:Text"/>
      </xsd:simpleType>
    </xsd:element>
    <xsd:element name="MediaServiceSearchProperties" ma:index="26" nillable="true" ma:displayName="MediaServiceSearchProperties" ma:hidden="true" ma:internalName="MediaServiceSearchProperties" ma:readOnly="true">
      <xsd:simpleType>
        <xsd:restriction base="dms:Note"/>
      </xsd:simpleType>
    </xsd:element>
    <xsd:element name="_Flow_SignoffStatus" ma:index="27" nillable="true" ma:displayName="Sign-off status" ma:internalName="Sign_x002d_off_x0020_status">
      <xsd:simpleType>
        <xsd:restriction base="dms:Text"/>
      </xsd:simpleType>
    </xsd:element>
    <xsd:element name="MediaServiceBillingMetadata" ma:index="28"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dd214103-31cb-4302-969e-b68d6fb4449d" elementFormDefault="qualified">
    <xsd:import namespace="http://schemas.microsoft.com/office/2006/documentManagement/types"/>
    <xsd:import namespace="http://schemas.microsoft.com/office/infopath/2007/PartnerControls"/>
    <xsd:element name="SharedWithUsers" ma:index="13"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4" nillable="true" ma:displayName="Shared With Details" ma:internalName="SharedWithDetails" ma:readOnly="true">
      <xsd:simpleType>
        <xsd:restriction base="dms:Note">
          <xsd:maxLength value="255"/>
        </xsd:restriction>
      </xsd:simpleType>
    </xsd:element>
    <xsd:element name="TaxCatchAll" ma:index="24" nillable="true" ma:displayName="Taxonomy Catch All Column" ma:hidden="true" ma:list="{c833d1e3-76d5-4887-9e5b-7887898a603c}" ma:internalName="TaxCatchAll" ma:showField="CatchAllData" ma:web="dd214103-31cb-4302-969e-b68d6fb4449d">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D0659C51-E925-4D93-8C31-5B9C5FBC9274}">
  <ds:schemaRefs>
    <ds:schemaRef ds:uri="http://schemas.microsoft.com/sharepoint/v3/contenttype/forms"/>
  </ds:schemaRefs>
</ds:datastoreItem>
</file>

<file path=customXml/itemProps2.xml><?xml version="1.0" encoding="utf-8"?>
<ds:datastoreItem xmlns:ds="http://schemas.openxmlformats.org/officeDocument/2006/customXml" ds:itemID="{4574ACF4-4C94-4F58-BE99-2A51DFB7C2B9}">
  <ds:schemaRefs>
    <ds:schemaRef ds:uri="57aed405-eecf-41f2-b4e2-de015a850245"/>
    <ds:schemaRef ds:uri="dd214103-31cb-4302-969e-b68d6fb4449d"/>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microsoft.com/sharepoint/v3"/>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6FA0A28C-6747-4955-8C9B-6C0E153754D5}">
  <ds:schemaRefs>
    <ds:schemaRef ds:uri="57aed405-eecf-41f2-b4e2-de015a850245"/>
    <ds:schemaRef ds:uri="dd214103-31cb-4302-969e-b68d6fb4449d"/>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docProps/app.xml><?xml version="1.0" encoding="utf-8"?>
<Properties xmlns="http://schemas.openxmlformats.org/officeDocument/2006/extended-properties" xmlns:vt="http://schemas.openxmlformats.org/officeDocument/2006/docPropsVTypes">
  <Template>office theme</Template>
  <Application>Microsoft Office PowerPoint</Application>
  <PresentationFormat>Widescreen</PresentationFormat>
  <Slides>197</Slides>
  <Notes>151</Notes>
  <HiddenSlides>33</HiddenSlides>
  <ScaleCrop>false</ScaleCrop>
  <HeadingPairs>
    <vt:vector size="4" baseType="variant">
      <vt:variant>
        <vt:lpstr>Theme</vt:lpstr>
      </vt:variant>
      <vt:variant>
        <vt:i4>11</vt:i4>
      </vt:variant>
      <vt:variant>
        <vt:lpstr>Slide Titles</vt:lpstr>
      </vt:variant>
      <vt:variant>
        <vt:i4>197</vt:i4>
      </vt:variant>
    </vt:vector>
  </HeadingPairs>
  <TitlesOfParts>
    <vt:vector size="208" baseType="lpstr">
      <vt:lpstr>office theme</vt:lpstr>
      <vt:lpstr>Lenovo Master</vt:lpstr>
      <vt:lpstr>2_Lenovo Master</vt:lpstr>
      <vt:lpstr>9_Lenovo Master</vt:lpstr>
      <vt:lpstr>4_Lenovo Master</vt:lpstr>
      <vt:lpstr>10_Lenovo Master</vt:lpstr>
      <vt:lpstr>32_Lenovo Master</vt:lpstr>
      <vt:lpstr>1_OneLenovo DT</vt:lpstr>
      <vt:lpstr>11_Lenovo Master</vt:lpstr>
      <vt:lpstr>23_Lenovo Master</vt:lpstr>
      <vt:lpstr>OneLenovo DT</vt:lpstr>
      <vt:lpstr>Nexbill F&amp;A BSR</vt:lpstr>
      <vt:lpstr>NexBill Project Wave I &amp; II Roadmap</vt:lpstr>
      <vt:lpstr>NexBill Project Plan – NA, EMEA, AP All Together </vt:lpstr>
      <vt:lpstr>PowerPoint Presentation</vt:lpstr>
      <vt:lpstr>NexBill Application Architecture</vt:lpstr>
      <vt:lpstr>PowerPoint Presentation</vt:lpstr>
      <vt:lpstr>PowerPoint Presentation</vt:lpstr>
      <vt:lpstr>PowerPoint Presentation</vt:lpstr>
      <vt:lpstr>PowerPoint Presentation</vt:lpstr>
      <vt:lpstr>Posting Dimension Requirement for monthly entry in BRIM</vt:lpstr>
      <vt:lpstr>Profit Center requirement</vt:lpstr>
      <vt:lpstr>Offering Characters From Accounting Perspective</vt:lpstr>
      <vt:lpstr>PowerPoint Presentation</vt:lpstr>
      <vt:lpstr>PowerPoint Presentation</vt:lpstr>
      <vt:lpstr>Existing EaaS Scenarios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F&amp;A BSR for 95 New Biz Requirements</vt:lpstr>
      <vt:lpstr>PowerPoint Presentation</vt:lpstr>
      <vt:lpstr>PowerPoint Presentation</vt:lpstr>
      <vt:lpstr>Issue track update on 9/4</vt:lpstr>
      <vt:lpstr>CRs change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S&amp;D: Operating Lease ———— Operating Lease </vt:lpstr>
      <vt:lpstr>AFE: Operating Lease ———— Operating Lease </vt:lpstr>
      <vt:lpstr>AFE: Operating Lease ———— Operating Lease </vt:lpstr>
      <vt:lpstr>S&amp;D: Finance Lease ———— Finance Lease </vt:lpstr>
      <vt:lpstr>S&amp;D: Finance Lease ———— Finance Lease </vt:lpstr>
      <vt:lpstr>AFE: Finance Lease ———— Finance Lease </vt:lpstr>
      <vt:lpstr>AFE: Finance Lease ———— Finance Lease </vt:lpstr>
      <vt:lpstr>S&amp;D: Operating Lease ———— Finance Lease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NexBill – Manual Recurring Billing for IaaS</vt:lpstr>
      <vt:lpstr>PowerPoint Presentation</vt:lpstr>
      <vt:lpstr>PowerPoint Presentation</vt:lpstr>
      <vt:lpstr>Measurement Reporting</vt:lpstr>
      <vt:lpstr> Key Assumptions</vt:lpstr>
      <vt:lpstr>PowerPoint Presentation</vt:lpstr>
      <vt:lpstr>L3 DMU &amp; Soldto# &amp; Distribution Channel:</vt:lpstr>
      <vt:lpstr>PowerPoint Presentation</vt:lpstr>
      <vt:lpstr>PowerPoint Presentation</vt:lpstr>
      <vt:lpstr>PowerPoint Presentation</vt:lpstr>
      <vt:lpstr> Impacted Reports</vt:lpstr>
      <vt:lpstr> Open Item</vt:lpstr>
      <vt:lpstr>PowerPoint Presentation</vt:lpstr>
      <vt:lpstr>PowerPoint Presentation</vt:lpstr>
      <vt:lpstr>PowerPoint Presentation</vt:lpstr>
      <vt:lpstr>Appendix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revision>1</cp:revision>
  <dcterms:created xsi:type="dcterms:W3CDTF">2025-12-08T05:49:03Z</dcterms:created>
  <dcterms:modified xsi:type="dcterms:W3CDTF">2026-09-21T03:04:24Z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0x0101004EA1B190F63729409E2409D2B6224AD5</vt:lpwstr>
  </property>
  <property fmtid="{D5CDD505-2E9C-101B-9397-08002B2CF9AE}" pid="3" name="MediaServiceImageTags">
    <vt:lpwstr/>
  </property>
</Properties>
</file>